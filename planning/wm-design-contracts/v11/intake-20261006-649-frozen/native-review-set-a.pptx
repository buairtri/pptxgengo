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charts/chart1.xml" ContentType="application/vnd.openxmlformats-officedocument.drawingml.chart+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charts/chart2.xml" ContentType="application/vnd.openxmlformats-officedocument.drawingml.chart+xml"/>
  <Override PartName="/ppt/slides/slide207.xml" ContentType="application/vnd.openxmlformats-officedocument.presentationml.slide+xml"/>
  <Override PartName="/ppt/charts/chart3.xml" ContentType="application/vnd.openxmlformats-officedocument.drawingml.chart+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charts/chart4.xml" ContentType="application/vnd.openxmlformats-officedocument.drawingml.chart+xml"/>
  <Override PartName="/ppt/slides/slide223.xml" ContentType="application/vnd.openxmlformats-officedocument.presentationml.slide+xml"/>
  <Override PartName="/ppt/slides/slide224.xml" ContentType="application/vnd.openxmlformats-officedocument.presentationml.slide+xml"/>
  <Override PartName="/ppt/charts/chart5.xml" ContentType="application/vnd.openxmlformats-officedocument.drawingml.chart+xml"/>
  <Override PartName="/ppt/slides/slide225.xml" ContentType="application/vnd.openxmlformats-officedocument.presentationml.slide+xml"/>
  <Override PartName="/ppt/charts/chart6.xml" ContentType="application/vnd.openxmlformats-officedocument.drawingml.chart+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charts/chart7.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notesMaster" Target="notesMasters/notesMaster1.xml"/><Relationship Id="rId233" Type="http://schemas.openxmlformats.org/officeDocument/2006/relationships/presProps" Target="presProps.xml"/><Relationship Id="rId234" Type="http://schemas.openxmlformats.org/officeDocument/2006/relationships/viewProps" Target="viewProps.xml"/><Relationship Id="rId235" Type="http://schemas.openxmlformats.org/officeDocument/2006/relationships/theme" Target="theme/theme1.xml"/><Relationship Id="rId2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7246376811594203"/>
          <c:y val="0"/>
          <c:w val="0.6666666666666666"/>
          <c:h val="0.8461538461538461"/>
        </c:manualLayout>
      </c:layout>
      <c:lineChart>
        <c:grouping val="standard"/>
        <c:varyColors val="0"/>
        <c:ser>
          <c:idx val="0"/>
          <c:order val="0"/>
          <c:tx>
            <c:strRef>
              <c:f>Sheet1!$B$1</c:f>
              <c:strCache>
                <c:ptCount val="1"/>
                <c:pt idx="0">
                  <c:v>West Monroe effort</c:v>
                </c:pt>
              </c:strCache>
            </c:strRef>
          </c:tx>
          <c:spPr>
            <a:solidFill>
              <a:srgbClr val="F900D3"/>
            </a:solidFill>
            <a:ln w="28575" cap="flat">
              <a:solidFill>
                <a:srgbClr val="F900D3"/>
              </a:solidFill>
              <a:prstDash val="solid"/>
              <a:round/>
            </a:ln>
            <a:effectLst/>
          </c:spPr>
          <c:marker>
            <c:symbol val="square"/>
            <c:size val="7"/>
            <c:spPr>
              <a:solidFill>
                <a:srgbClr val="F900D3"/>
              </a:solidFill>
              <a:ln w="1" cap="flat">
                <a:solidFill>
                  <a:srgbClr val="070154"/>
                </a:solidFill>
                <a:prstDash val="solid"/>
                <a:round/>
              </a:ln>
              <a:effectLst/>
            </c:spPr>
          </c:marker>
          <c:dLbls>
            <c:numFmt formatCode="#,##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cat>
            <c:multiLvlStrRef>
              <c:f>Sheet1!$A$2:$A$6</c:f>
              <c:multiLvlStrCache>
                <c:ptCount val="5"/>
                <c:lvl>
                  <c:pt idx="0">
                    <c:v>WK 1</c:v>
                  </c:pt>
                  <c:pt idx="1">
                    <c:v>WK 14</c:v>
                  </c:pt>
                  <c:pt idx="2">
                    <c:v>WK 28</c:v>
                  </c:pt>
                  <c:pt idx="3">
                    <c:v>WK 35</c:v>
                  </c:pt>
                  <c:pt idx="4">
                    <c:v>WK 42</c:v>
                  </c:pt>
                </c:lvl>
              </c:multiLvlStrCache>
            </c:multiLvlStrRef>
          </c:cat>
          <c:val>
            <c:numRef>
              <c:f>Sheet1!$B$2:$B$6</c:f>
              <c:numCache>
                <c:formatCode>General</c:formatCode>
                <c:ptCount val="5"/>
                <c:pt idx="0">
                  <c:v>2</c:v>
                </c:pt>
                <c:pt idx="1">
                  <c:v>6</c:v>
                </c:pt>
                <c:pt idx="2">
                  <c:v>7</c:v>
                </c:pt>
                <c:pt idx="3">
                  <c:v>4</c:v>
                </c:pt>
                <c:pt idx="4">
                  <c:v>2</c:v>
                </c:pt>
              </c:numCache>
            </c:numRef>
          </c:val>
          <c:smooth val="0"/>
        </c:ser>
        <c:dLbls>
          <c:numFmt formatCode="#,##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marker val="1"/>
        <c:axId val="2094734554"/>
        <c:axId val="2094734552"/>
      </c:lineChart>
      <c:lineChart>
        <c:grouping val="standard"/>
        <c:varyColors val="0"/>
        <c:ser>
          <c:idx val="1"/>
          <c:order val="1"/>
          <c:tx>
            <c:strRef>
              <c:f>Sheet1!$C$1</c:f>
              <c:strCache>
                <c:ptCount val="1"/>
                <c:pt idx="0">
                  <c:v>Northfield effort</c:v>
                </c:pt>
              </c:strCache>
            </c:strRef>
          </c:tx>
          <c:spPr>
            <a:solidFill>
              <a:srgbClr val="97A4BA"/>
            </a:solidFill>
            <a:ln w="28575" cap="flat">
              <a:solidFill>
                <a:srgbClr val="97A4BA"/>
              </a:solidFill>
              <a:prstDash val="dash"/>
              <a:round/>
            </a:ln>
            <a:effectLst/>
          </c:spPr>
          <c:marker>
            <c:symbol val="square"/>
            <c:size val="7"/>
            <c:spPr>
              <a:solidFill>
                <a:srgbClr val="97A4BA"/>
              </a:solidFill>
              <a:ln w="1" cap="flat">
                <a:solidFill>
                  <a:srgbClr val="070154"/>
                </a:solidFill>
                <a:prstDash val="solid"/>
                <a:round/>
              </a:ln>
              <a:effectLst/>
            </c:spPr>
          </c:marker>
          <c:dLbls>
            <c:numFmt formatCode="#,##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cat>
            <c:multiLvlStrRef>
              <c:f>Sheet1!$A$2:$A$6</c:f>
              <c:multiLvlStrCache>
                <c:ptCount val="5"/>
                <c:lvl>
                  <c:pt idx="0">
                    <c:v>WK 1</c:v>
                  </c:pt>
                  <c:pt idx="1">
                    <c:v>WK 14</c:v>
                  </c:pt>
                  <c:pt idx="2">
                    <c:v>WK 28</c:v>
                  </c:pt>
                  <c:pt idx="3">
                    <c:v>WK 35</c:v>
                  </c:pt>
                  <c:pt idx="4">
                    <c:v>WK 42</c:v>
                  </c:pt>
                </c:lvl>
              </c:multiLvlStrCache>
            </c:multiLvlStrRef>
          </c:cat>
          <c:val>
            <c:numRef>
              <c:f>Sheet1!$C$2:$C$6</c:f>
              <c:numCache>
                <c:formatCode>General</c:formatCode>
                <c:ptCount val="5"/>
                <c:pt idx="0">
                  <c:v>1</c:v>
                </c:pt>
                <c:pt idx="1">
                  <c:v>3</c:v>
                </c:pt>
                <c:pt idx="2">
                  <c:v>5</c:v>
                </c:pt>
                <c:pt idx="3">
                  <c:v>6</c:v>
                </c:pt>
                <c:pt idx="4">
                  <c:v>7</c:v>
                </c:pt>
              </c:numCache>
            </c:numRef>
          </c:val>
          <c:smooth val="0"/>
        </c:ser>
        <c:dLbls>
          <c:numFmt formatCode="#,##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9525" cap="flat">
              <a:solidFill>
                <a:srgbClr val="E8EEF8"/>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majorUnit val="2"/>
      </c:valAx>
      <c:spPr>
        <a:noFill/>
        <a:ln>
          <a:noFill/>
        </a:ln>
        <a:effectLst/>
      </c:spPr>
    </c:plotArea>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
          <c:y val="0.057971014492753624"/>
          <c:w val="1"/>
          <c:h val="0.8768115942028986"/>
        </c:manualLayout>
      </c:layout>
      <c:barChart>
        <c:barDir val="col"/>
        <c:grouping val="clustered"/>
        <c:varyColors val="0"/>
        <c:ser>
          <c:idx val="0"/>
          <c:order val="0"/>
          <c:tx>
            <c:strRef>
              <c:f>Sheet1!$B$1</c:f>
              <c:strCache>
                <c:ptCount val="1"/>
                <c:pt idx="0">
                  <c:v>Team run-rate</c:v>
                </c:pt>
              </c:strCache>
            </c:strRef>
          </c:tx>
          <c:spPr>
            <a:solidFill>
              <a:srgbClr val="CED7E6"/>
            </a:solidFill>
            <a:ln w="12700" cap="flat">
              <a:solidFill>
                <a:srgbClr val="070154"/>
              </a:solidFill>
              <a:prstDash val="solid"/>
              <a:round/>
            </a:ln>
            <a:effectLst/>
          </c:spPr>
          <c:invertIfNegative val="0"/>
          <c:dPt>
            <c:idx val="0"/>
            <c:invertIfNegative val="0"/>
            <c:bubble3D val="0"/>
            <c:spPr>
              <a:solidFill>
                <a:srgbClr val="CED7E6"/>
              </a:solidFill>
              <a:effectLst/>
            </c:spPr>
          </c:dPt>
          <c:dPt>
            <c:idx val="1"/>
            <c:invertIfNegative val="0"/>
            <c:bubble3D val="0"/>
            <c:spPr>
              <a:solidFill>
                <a:srgbClr val="CED7E6"/>
              </a:solidFill>
              <a:effectLst/>
            </c:spPr>
          </c:dPt>
          <c:dPt>
            <c:idx val="2"/>
            <c:invertIfNegative val="0"/>
            <c:bubble3D val="0"/>
            <c:spPr>
              <a:solidFill>
                <a:srgbClr val="F900D3"/>
              </a:solidFill>
              <a:effectLst/>
            </c:spPr>
          </c:dPt>
          <c:dPt>
            <c:idx val="3"/>
            <c:invertIfNegative val="0"/>
            <c:bubble3D val="0"/>
            <c:spPr>
              <a:solidFill>
                <a:srgbClr val="F900D3"/>
              </a:solidFill>
              <a:effectLst/>
            </c:spPr>
          </c:dPt>
          <c:dPt>
            <c:idx val="4"/>
            <c:invertIfNegative val="0"/>
            <c:bubble3D val="0"/>
            <c:spPr>
              <a:solidFill>
                <a:srgbClr val="F900D3"/>
              </a:solidFill>
              <a:effectLst/>
            </c:spPr>
          </c:dPt>
          <c:dPt>
            <c:idx val="5"/>
            <c:invertIfNegative val="0"/>
            <c:bubble3D val="0"/>
            <c:spPr>
              <a:solidFill>
                <a:srgbClr val="F900D3"/>
              </a:solidFill>
              <a:effectLst/>
            </c:spPr>
          </c:dPt>
          <c:dPt>
            <c:idx val="6"/>
            <c:invertIfNegative val="0"/>
            <c:bubble3D val="0"/>
            <c:spPr>
              <a:solidFill>
                <a:srgbClr val="CED7E6"/>
              </a:solidFill>
              <a:effectLst/>
            </c:spPr>
          </c:dPt>
          <c:dPt>
            <c:idx val="7"/>
            <c:invertIfNegative val="0"/>
            <c:bubble3D val="0"/>
            <c:spPr>
              <a:solidFill>
                <a:srgbClr val="CED7E6"/>
              </a:solidFill>
              <a:effectLst/>
            </c:spPr>
          </c:dPt>
          <c:dLbls>
            <c:numFmt formatCode="[&gt;=1000000]&quot;$&quot;0.0,,&quot;M&quot;;[&gt;=1000]&quot;$&quot;#,##0,&quot;K&quot;;&quot;$&quot;#,##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cat>
            <c:multiLvlStrRef>
              <c:f>Sheet1!$A$2:$A$9</c:f>
              <c:multiLvlStrCache>
                <c:ptCount val="8"/>
                <c:lvl>
                  <c:pt idx="0">
                    <c:v>M1</c:v>
                  </c:pt>
                  <c:pt idx="1">
                    <c:v>M2</c:v>
                  </c:pt>
                  <c:pt idx="2">
                    <c:v>M3</c:v>
                  </c:pt>
                  <c:pt idx="3">
                    <c:v>M4</c:v>
                  </c:pt>
                  <c:pt idx="4">
                    <c:v>M5</c:v>
                  </c:pt>
                  <c:pt idx="5">
                    <c:v>M6</c:v>
                  </c:pt>
                  <c:pt idx="6">
                    <c:v>M7</c:v>
                  </c:pt>
                  <c:pt idx="7">
                    <c:v>M8</c:v>
                  </c:pt>
                </c:lvl>
              </c:multiLvlStrCache>
            </c:multiLvlStrRef>
          </c:cat>
          <c:val>
            <c:numRef>
              <c:f>Sheet1!$B$2:$B$9</c:f>
              <c:numCache>
                <c:formatCode>General</c:formatCode>
                <c:ptCount val="8"/>
                <c:pt idx="0">
                  <c:v>90000</c:v>
                </c:pt>
                <c:pt idx="1">
                  <c:v>150000</c:v>
                </c:pt>
                <c:pt idx="2">
                  <c:v>210000</c:v>
                </c:pt>
                <c:pt idx="3">
                  <c:v>210000</c:v>
                </c:pt>
                <c:pt idx="4">
                  <c:v>210000</c:v>
                </c:pt>
                <c:pt idx="5">
                  <c:v>210000</c:v>
                </c:pt>
                <c:pt idx="6">
                  <c:v>150000</c:v>
                </c:pt>
                <c:pt idx="7">
                  <c:v>90000</c:v>
                </c:pt>
              </c:numCache>
            </c:numRef>
          </c:val>
        </c:ser>
        <c:dLbls>
          <c:numFmt formatCode="[&gt;=1000000]&quot;$&quot;0.0,,&quot;M&quot;;[&gt;=1000]&quot;$&quot;#,##0,&quot;K&quot;;&quot;$&quot;#,##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gapWidth val="56"/>
        <c:overlap val="0"/>
        <c:axId val="2094734554"/>
        <c:axId val="2094734552"/>
      </c:bar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250000"/>
          <c:min val="0"/>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53763440860215055"/>
          <c:y val="0"/>
          <c:w val="0.7526881720430108"/>
          <c:h val="0.88"/>
        </c:manualLayout>
      </c:layout>
      <c:lineChart>
        <c:grouping val="standard"/>
        <c:varyColors val="0"/>
        <c:ser>
          <c:idx val="0"/>
          <c:order val="0"/>
          <c:tx>
            <c:strRef>
              <c:f>Sheet1!$B$1</c:f>
              <c:strCache>
                <c:ptCount val="1"/>
                <c:pt idx="0">
                  <c:v>Net value</c:v>
                </c:pt>
              </c:strCache>
            </c:strRef>
          </c:tx>
          <c:spPr>
            <a:solidFill>
              <a:srgbClr val="F900D3"/>
            </a:solidFill>
            <a:ln w="28575" cap="flat">
              <a:solidFill>
                <a:srgbClr val="F900D3"/>
              </a:solidFill>
              <a:prstDash val="solid"/>
              <a:round/>
            </a:ln>
            <a:effectLst/>
          </c:spPr>
          <c:marker>
            <c:symbol val="square"/>
            <c:size val="7"/>
            <c:spPr>
              <a:solidFill>
                <a:srgbClr val="F900D3"/>
              </a:solidFill>
              <a:ln w="1" cap="flat">
                <a:solidFill>
                  <a:srgbClr val="070154"/>
                </a:solidFill>
                <a:prstDash val="solid"/>
                <a:round/>
              </a:ln>
              <a:effectLst/>
            </c:spPr>
          </c:marker>
          <c:dLbls>
            <c:numFmt formatCode="#,##0.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cat>
            <c:multiLvlStrRef>
              <c:f>Sheet1!$A$2:$A$13</c:f>
              <c:multiLvlStrCache>
                <c:ptCount val="12"/>
                <c:lvl>
                  <c:pt idx="0">
                    <c:v>Q1</c:v>
                  </c:pt>
                  <c:pt idx="1">
                    <c:v>Q2</c:v>
                  </c:pt>
                  <c:pt idx="2">
                    <c:v>Q3</c:v>
                  </c:pt>
                  <c:pt idx="3">
                    <c:v>Q4</c:v>
                  </c:pt>
                  <c:pt idx="4">
                    <c:v>Q5</c:v>
                  </c:pt>
                  <c:pt idx="5">
                    <c:v>Q6</c:v>
                  </c:pt>
                  <c:pt idx="6">
                    <c:v>Q7</c:v>
                  </c:pt>
                  <c:pt idx="7">
                    <c:v>Q8</c:v>
                  </c:pt>
                  <c:pt idx="8">
                    <c:v>Q9</c:v>
                  </c:pt>
                  <c:pt idx="9">
                    <c:v>Q10</c:v>
                  </c:pt>
                  <c:pt idx="10">
                    <c:v>Q11</c:v>
                  </c:pt>
                  <c:pt idx="11">
                    <c:v>Q12</c:v>
                  </c:pt>
                </c:lvl>
              </c:multiLvlStrCache>
            </c:multiLvlStrRef>
          </c:cat>
          <c:val>
            <c:numRef>
              <c:f>Sheet1!$B$2:$B$13</c:f>
              <c:numCache>
                <c:formatCode>General</c:formatCode>
                <c:ptCount val="12"/>
                <c:pt idx="0">
                  <c:v>-0.6</c:v>
                </c:pt>
                <c:pt idx="1">
                  <c:v>-1.2</c:v>
                </c:pt>
                <c:pt idx="2">
                  <c:v>-1.4</c:v>
                </c:pt>
                <c:pt idx="3">
                  <c:v>-0.7</c:v>
                </c:pt>
                <c:pt idx="4">
                  <c:v>0.1</c:v>
                </c:pt>
                <c:pt idx="5">
                  <c:v>0.9</c:v>
                </c:pt>
                <c:pt idx="6">
                  <c:v>1.7</c:v>
                </c:pt>
                <c:pt idx="7">
                  <c:v>2.6</c:v>
                </c:pt>
                <c:pt idx="8">
                  <c:v>3.4</c:v>
                </c:pt>
                <c:pt idx="9">
                  <c:v>4.3</c:v>
                </c:pt>
                <c:pt idx="10">
                  <c:v>5.1</c:v>
                </c:pt>
                <c:pt idx="11">
                  <c:v>6</c:v>
                </c:pt>
              </c:numCache>
            </c:numRef>
          </c:val>
          <c:smooth val="0"/>
        </c:ser>
        <c:dLbls>
          <c:numFmt formatCode="#,##0.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6"/>
          <c:min val="-2"/>
        </c:scaling>
        <c:delete val="0"/>
        <c:axPos val="l"/>
        <c:majorGridlines>
          <c:spPr>
            <a:ln w="9525" cap="flat">
              <a:solidFill>
                <a:srgbClr val="E8EEF8"/>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majorUnit val="2"/>
      </c:valAx>
      <c:spPr>
        <a:noFill/>
        <a:ln>
          <a:noFill/>
        </a:ln>
        <a:effectLst/>
      </c:spPr>
    </c:plotArea>
    <c:plotVisOnly val="1"/>
    <c:dispBlanksAs val="gap"/>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53763440860215055"/>
          <c:y val="0"/>
          <c:w val="0.7526881720430108"/>
          <c:h val="0.9482758620689655"/>
        </c:manualLayout>
      </c:layout>
      <c:lineChart>
        <c:grouping val="standard"/>
        <c:varyColors val="0"/>
        <c:ser>
          <c:idx val="0"/>
          <c:order val="0"/>
          <c:tx>
            <c:strRef>
              <c:f>Sheet1!$B$1</c:f>
              <c:strCache>
                <c:ptCount val="1"/>
                <c:pt idx="0">
                  <c:v>Cost</c:v>
                </c:pt>
              </c:strCache>
            </c:strRef>
          </c:tx>
          <c:spPr>
            <a:solidFill>
              <a:srgbClr val="97A4BA"/>
            </a:solidFill>
            <a:ln w="28575" cap="flat">
              <a:solidFill>
                <a:srgbClr val="97A4BA"/>
              </a:solidFill>
              <a:prstDash val="dash"/>
              <a:round/>
            </a:ln>
            <a:effectLst/>
          </c:spPr>
          <c:marker>
            <c:symbol val="square"/>
            <c:size val="7"/>
            <c:spPr>
              <a:solidFill>
                <a:srgbClr val="97A4BA"/>
              </a:solidFill>
              <a:ln w="1" cap="flat">
                <a:solidFill>
                  <a:srgbClr val="070154"/>
                </a:solidFill>
                <a:prstDash val="solid"/>
                <a:round/>
              </a:ln>
              <a:effectLst/>
            </c:spPr>
          </c:marker>
          <c:dLbls>
            <c:numFmt formatCode="#,##0.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cat>
            <c:multiLvlStrRef>
              <c:f>Sheet1!$A$2:$A$21</c:f>
              <c:multiLvlStrCache>
                <c:ptCount val="20"/>
                <c:lvl>
                  <c:pt idx="0">
                    <c:v>Y1</c:v>
                  </c:pt>
                  <c:pt idx="1">
                    <c:v/>
                  </c:pt>
                  <c:pt idx="2">
                    <c:v/>
                  </c:pt>
                  <c:pt idx="3">
                    <c:v/>
                  </c:pt>
                  <c:pt idx="4">
                    <c:v>Y2</c:v>
                  </c:pt>
                  <c:pt idx="5">
                    <c:v/>
                  </c:pt>
                  <c:pt idx="6">
                    <c:v/>
                  </c:pt>
                  <c:pt idx="7">
                    <c:v/>
                  </c:pt>
                  <c:pt idx="8">
                    <c:v>Y3</c:v>
                  </c:pt>
                  <c:pt idx="9">
                    <c:v/>
                  </c:pt>
                  <c:pt idx="10">
                    <c:v/>
                  </c:pt>
                  <c:pt idx="11">
                    <c:v/>
                  </c:pt>
                  <c:pt idx="12">
                    <c:v>Y4</c:v>
                  </c:pt>
                  <c:pt idx="13">
                    <c:v/>
                  </c:pt>
                  <c:pt idx="14">
                    <c:v/>
                  </c:pt>
                  <c:pt idx="15">
                    <c:v/>
                  </c:pt>
                  <c:pt idx="16">
                    <c:v>Y5</c:v>
                  </c:pt>
                  <c:pt idx="17">
                    <c:v/>
                  </c:pt>
                  <c:pt idx="18">
                    <c:v/>
                  </c:pt>
                  <c:pt idx="19">
                    <c:v/>
                  </c:pt>
                </c:lvl>
              </c:multiLvlStrCache>
            </c:multiLvlStrRef>
          </c:cat>
          <c:val>
            <c:numRef>
              <c:f>Sheet1!$B$2:$B$21</c:f>
              <c:numCache>
                <c:formatCode>General</c:formatCode>
                <c:ptCount val="20"/>
                <c:pt idx="0">
                  <c:v>0.6</c:v>
                </c:pt>
                <c:pt idx="1">
                  <c:v>1.2</c:v>
                </c:pt>
                <c:pt idx="2">
                  <c:v>1.8</c:v>
                </c:pt>
                <c:pt idx="3">
                  <c:v>2.4</c:v>
                </c:pt>
                <c:pt idx="4">
                  <c:v>2.73</c:v>
                </c:pt>
                <c:pt idx="5">
                  <c:v>3.05</c:v>
                </c:pt>
                <c:pt idx="6">
                  <c:v>3.38</c:v>
                </c:pt>
                <c:pt idx="7">
                  <c:v>3.7</c:v>
                </c:pt>
                <c:pt idx="8">
                  <c:v>3.83</c:v>
                </c:pt>
                <c:pt idx="9">
                  <c:v>3.95</c:v>
                </c:pt>
                <c:pt idx="10">
                  <c:v>4.08</c:v>
                </c:pt>
                <c:pt idx="11">
                  <c:v>4.2</c:v>
                </c:pt>
                <c:pt idx="12">
                  <c:v>4.2</c:v>
                </c:pt>
                <c:pt idx="13">
                  <c:v>4.2</c:v>
                </c:pt>
                <c:pt idx="14">
                  <c:v>4.2</c:v>
                </c:pt>
                <c:pt idx="15">
                  <c:v>4.2</c:v>
                </c:pt>
                <c:pt idx="16">
                  <c:v>4.2</c:v>
                </c:pt>
                <c:pt idx="17">
                  <c:v>4.2</c:v>
                </c:pt>
                <c:pt idx="18">
                  <c:v>4.2</c:v>
                </c:pt>
                <c:pt idx="19">
                  <c:v>4.2</c:v>
                </c:pt>
              </c:numCache>
            </c:numRef>
          </c:val>
          <c:smooth val="0"/>
        </c:ser>
        <c:dLbls>
          <c:numFmt formatCode="#,##0.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marker val="1"/>
        <c:axId val="2094734554"/>
        <c:axId val="2094734552"/>
      </c:lineChart>
      <c:lineChart>
        <c:grouping val="standard"/>
        <c:varyColors val="0"/>
        <c:ser>
          <c:idx val="1"/>
          <c:order val="1"/>
          <c:tx>
            <c:strRef>
              <c:f>Sheet1!$C$1</c:f>
              <c:strCache>
                <c:ptCount val="1"/>
                <c:pt idx="0">
                  <c:v>Value</c:v>
                </c:pt>
              </c:strCache>
            </c:strRef>
          </c:tx>
          <c:spPr>
            <a:solidFill>
              <a:srgbClr val="F900D3"/>
            </a:solidFill>
            <a:ln w="28575" cap="flat">
              <a:solidFill>
                <a:srgbClr val="F900D3"/>
              </a:solidFill>
              <a:prstDash val="solid"/>
              <a:round/>
            </a:ln>
            <a:effectLst/>
          </c:spPr>
          <c:marker>
            <c:symbol val="square"/>
            <c:size val="7"/>
            <c:spPr>
              <a:solidFill>
                <a:srgbClr val="F900D3"/>
              </a:solidFill>
              <a:ln w="1" cap="flat">
                <a:solidFill>
                  <a:srgbClr val="070154"/>
                </a:solidFill>
                <a:prstDash val="solid"/>
                <a:round/>
              </a:ln>
              <a:effectLst/>
            </c:spPr>
          </c:marker>
          <c:dLbls>
            <c:numFmt formatCode="#,##0.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cat>
            <c:multiLvlStrRef>
              <c:f>Sheet1!$A$2:$A$21</c:f>
              <c:multiLvlStrCache>
                <c:ptCount val="20"/>
                <c:lvl>
                  <c:pt idx="0">
                    <c:v>Y1</c:v>
                  </c:pt>
                  <c:pt idx="1">
                    <c:v/>
                  </c:pt>
                  <c:pt idx="2">
                    <c:v/>
                  </c:pt>
                  <c:pt idx="3">
                    <c:v/>
                  </c:pt>
                  <c:pt idx="4">
                    <c:v>Y2</c:v>
                  </c:pt>
                  <c:pt idx="5">
                    <c:v/>
                  </c:pt>
                  <c:pt idx="6">
                    <c:v/>
                  </c:pt>
                  <c:pt idx="7">
                    <c:v/>
                  </c:pt>
                  <c:pt idx="8">
                    <c:v>Y3</c:v>
                  </c:pt>
                  <c:pt idx="9">
                    <c:v/>
                  </c:pt>
                  <c:pt idx="10">
                    <c:v/>
                  </c:pt>
                  <c:pt idx="11">
                    <c:v/>
                  </c:pt>
                  <c:pt idx="12">
                    <c:v>Y4</c:v>
                  </c:pt>
                  <c:pt idx="13">
                    <c:v/>
                  </c:pt>
                  <c:pt idx="14">
                    <c:v/>
                  </c:pt>
                  <c:pt idx="15">
                    <c:v/>
                  </c:pt>
                  <c:pt idx="16">
                    <c:v>Y5</c:v>
                  </c:pt>
                  <c:pt idx="17">
                    <c:v/>
                  </c:pt>
                  <c:pt idx="18">
                    <c:v/>
                  </c:pt>
                  <c:pt idx="19">
                    <c:v/>
                  </c:pt>
                </c:lvl>
              </c:multiLvlStrCache>
            </c:multiLvlStrRef>
          </c:cat>
          <c:val>
            <c:numRef>
              <c:f>Sheet1!$C$2:$C$21</c:f>
              <c:numCache>
                <c:formatCode>General</c:formatCode>
                <c:ptCount val="20"/>
                <c:pt idx="0">
                  <c:v>0</c:v>
                </c:pt>
                <c:pt idx="1">
                  <c:v>0.1</c:v>
                </c:pt>
                <c:pt idx="2">
                  <c:v>0.3</c:v>
                </c:pt>
                <c:pt idx="3">
                  <c:v>0.6</c:v>
                </c:pt>
                <c:pt idx="4">
                  <c:v>0.9</c:v>
                </c:pt>
                <c:pt idx="5">
                  <c:v>1.3</c:v>
                </c:pt>
                <c:pt idx="6">
                  <c:v>1.8</c:v>
                </c:pt>
                <c:pt idx="7">
                  <c:v>2.4</c:v>
                </c:pt>
                <c:pt idx="8">
                  <c:v>3.05</c:v>
                </c:pt>
                <c:pt idx="9">
                  <c:v>3.7</c:v>
                </c:pt>
                <c:pt idx="10">
                  <c:v>4.35</c:v>
                </c:pt>
                <c:pt idx="11">
                  <c:v>5</c:v>
                </c:pt>
                <c:pt idx="12">
                  <c:v>5.65</c:v>
                </c:pt>
                <c:pt idx="13">
                  <c:v>6.3</c:v>
                </c:pt>
                <c:pt idx="14">
                  <c:v>6.95</c:v>
                </c:pt>
                <c:pt idx="15">
                  <c:v>7.6</c:v>
                </c:pt>
                <c:pt idx="16">
                  <c:v>8.25</c:v>
                </c:pt>
                <c:pt idx="17">
                  <c:v>8.9</c:v>
                </c:pt>
                <c:pt idx="18">
                  <c:v>9.55</c:v>
                </c:pt>
                <c:pt idx="19">
                  <c:v>10.2</c:v>
                </c:pt>
              </c:numCache>
            </c:numRef>
          </c:val>
          <c:smooth val="0"/>
        </c:ser>
        <c:dLbls>
          <c:numFmt formatCode="#,##0.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8EEF8"/>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majorUnit val="3"/>
      </c:valAx>
      <c:spPr>
        <a:noFill/>
        <a:ln>
          <a:noFill/>
        </a:ln>
        <a:effectLst/>
      </c:spPr>
    </c:plotArea>
    <c:plotVisOnly val="1"/>
    <c:dispBlanksAs val="gap"/>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Value</c:v>
                </c:pt>
              </c:strCache>
            </c:strRef>
          </c:tx>
          <c:spPr>
            <a:solidFill>
              <a:schemeClr val="accent1"/>
            </a:solidFill>
            <a:ln w="9525" cap="flat">
              <a:solidFill>
                <a:srgbClr val="F9F9F9"/>
              </a:solidFill>
              <a:prstDash val="solid"/>
              <a:round/>
            </a:ln>
            <a:effectLst/>
          </c:spPr>
          <c:dPt>
            <c:idx val="0"/>
            <c:bubble3D val="0"/>
            <c:spPr>
              <a:solidFill>
                <a:srgbClr val="F900D3"/>
              </a:solidFill>
              <a:ln w="12700" cap="flat">
                <a:solidFill>
                  <a:srgbClr val="070154"/>
                </a:solidFill>
                <a:prstDash val="solid"/>
                <a:round/>
              </a:ln>
              <a:effectLst/>
            </c:spPr>
          </c:dPt>
          <c:dPt>
            <c:idx val="1"/>
            <c:bubble3D val="0"/>
            <c:spPr>
              <a:solidFill>
                <a:srgbClr val="00E8FA"/>
              </a:solidFill>
              <a:ln w="12700" cap="flat">
                <a:solidFill>
                  <a:srgbClr val="070154"/>
                </a:solidFill>
                <a:prstDash val="solid"/>
                <a:round/>
              </a:ln>
              <a:effectLst/>
            </c:spPr>
          </c:dPt>
          <c:dPt>
            <c:idx val="2"/>
            <c:bubble3D val="0"/>
            <c:spPr>
              <a:solidFill>
                <a:srgbClr val="1DD566"/>
              </a:solidFill>
              <a:ln w="12700" cap="flat">
                <a:solidFill>
                  <a:srgbClr val="070154"/>
                </a:solidFill>
                <a:prstDash val="solid"/>
                <a:round/>
              </a:ln>
              <a:effectLst/>
            </c:spPr>
          </c:dPt>
          <c:dLbls>
            <c:dLbl>
              <c:idx val="0"/>
              <c:numFmt formatCode="[&gt;=1000000]&quot;$&quot;0.0,,&quot;M&quot;;[&gt;=1000]&quot;$&quot;#,##0,&quot;K&quot;;&quot;$&quot;#,##0" sourceLinked="0"/>
              <c:spPr/>
              <c:txPr>
                <a:bodyPr/>
                <a:lstStyle/>
                <a:p>
                  <a:pPr>
                    <a:defRPr sz="1000" b="1" i="0" u="none" strike="noStrike">
                      <a:solidFill>
                        <a:srgbClr val="070154"/>
                      </a:solidFill>
                      <a:latin typeface="IBM Plex Mono SemiBold"/>
                    </a:defRPr>
                  </a:pPr>
                </a:p>
              </c:txPr>
              <c:showLegendKey val="0"/>
              <c:showVal val="1"/>
              <c:showCatName val="1"/>
              <c:showSerName val="0"/>
              <c:showPercent val="0"/>
              <c:showBubbleSize val="0"/>
            </c:dLbl>
            <c:dLbl>
              <c:idx val="1"/>
              <c:numFmt formatCode="[&gt;=1000000]&quot;$&quot;0.0,,&quot;M&quot;;[&gt;=1000]&quot;$&quot;#,##0,&quot;K&quot;;&quot;$&quot;#,##0" sourceLinked="0"/>
              <c:spPr/>
              <c:txPr>
                <a:bodyPr/>
                <a:lstStyle/>
                <a:p>
                  <a:pPr>
                    <a:defRPr sz="1000" b="1" i="0" u="none" strike="noStrike">
                      <a:solidFill>
                        <a:srgbClr val="070154"/>
                      </a:solidFill>
                      <a:latin typeface="IBM Plex Mono SemiBold"/>
                    </a:defRPr>
                  </a:pPr>
                </a:p>
              </c:txPr>
              <c:showLegendKey val="0"/>
              <c:showVal val="1"/>
              <c:showCatName val="1"/>
              <c:showSerName val="0"/>
              <c:showPercent val="0"/>
              <c:showBubbleSize val="0"/>
            </c:dLbl>
            <c:dLbl>
              <c:idx val="2"/>
              <c:numFmt formatCode="[&gt;=1000000]&quot;$&quot;0.0,,&quot;M&quot;;[&gt;=1000]&quot;$&quot;#,##0,&quot;K&quot;;&quot;$&quot;#,##0" sourceLinked="0"/>
              <c:spPr/>
              <c:txPr>
                <a:bodyPr/>
                <a:lstStyle/>
                <a:p>
                  <a:pPr>
                    <a:defRPr sz="1000" b="1" i="0" u="none" strike="noStrike">
                      <a:solidFill>
                        <a:srgbClr val="070154"/>
                      </a:solidFill>
                      <a:latin typeface="IBM Plex Mono SemiBold"/>
                    </a:defRPr>
                  </a:pPr>
                </a:p>
              </c:txPr>
              <c:showLegendKey val="0"/>
              <c:showVal val="1"/>
              <c:showCatName val="1"/>
              <c:showSerName val="0"/>
              <c:showPercent val="0"/>
              <c:showBubbleSize val="0"/>
            </c:dLbl>
            <c:numFmt formatCode="[&gt;=1000000]&quot;$&quot;0.0,,&quot;M&quot;;[&gt;=1000]&quot;$&quot;#,##0,&quot;K&quot;;&quot;$&quot;#,##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1"/>
          </c:dLbls>
          <c:cat>
            <c:strRef>
              <c:f>Sheet1!$A$2:$A$4</c:f>
              <c:strCache>
                <c:ptCount val="3"/>
                <c:pt idx="0">
                  <c:v>Hard</c:v>
                </c:pt>
                <c:pt idx="1">
                  <c:v>Capacity</c:v>
                </c:pt>
                <c:pt idx="2">
                  <c:v>Risk</c:v>
                </c:pt>
              </c:strCache>
            </c:strRef>
          </c:cat>
          <c:val>
            <c:numRef>
              <c:f>Sheet1!$B$2:$B$4</c:f>
              <c:numCache>
                <c:ptCount val="3"/>
                <c:pt idx="0">
                  <c:v>1500000</c:v>
                </c:pt>
                <c:pt idx="1">
                  <c:v>1000000</c:v>
                </c:pt>
                <c:pt idx="2">
                  <c:v>100000</c:v>
                </c:pt>
              </c:numCache>
            </c:numRef>
          </c:val>
        </c:ser>
        <c:firstSliceAng val="0"/>
        <c:holeSize val="50"/>
      </c:doughnutChart>
      <c:spPr>
        <a:noFill/>
        <a:ln>
          <a:noFill/>
        </a:ln>
        <a:effectLst/>
      </c:spPr>
    </c:plotArea>
    <c:plotVisOnly val="1"/>
    <c:dispBlanksAs val="gap"/>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
          <c:y val="0.18137254901960784"/>
          <c:w val="1"/>
          <c:h val="0.7303921568627451"/>
        </c:manualLayout>
      </c:layout>
      <c:barChart>
        <c:barDir val="col"/>
        <c:grouping val="clustered"/>
        <c:varyColors val="0"/>
        <c:ser>
          <c:idx val="0"/>
          <c:order val="0"/>
          <c:tx>
            <c:strRef>
              <c:f>Sheet1!$B$1</c:f>
              <c:strCache>
                <c:ptCount val="1"/>
                <c:pt idx="0">
                  <c:v>Status quo</c:v>
                </c:pt>
              </c:strCache>
            </c:strRef>
          </c:tx>
          <c:spPr>
            <a:solidFill>
              <a:srgbClr val="97A4BA"/>
            </a:solidFill>
            <a:ln w="12700" cap="flat">
              <a:solidFill>
                <a:srgbClr val="070154"/>
              </a:solidFill>
              <a:prstDash val="solid"/>
              <a:round/>
            </a:ln>
            <a:effectLst/>
          </c:spPr>
          <c:invertIfNegative val="0"/>
          <c:dLbls>
            <c:numFmt formatCode="#,##0.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Sheet1!$B$2:$B$6</c:f>
              <c:numCache>
                <c:formatCode>General</c:formatCode>
                <c:ptCount val="5"/>
                <c:pt idx="0">
                  <c:v>3.1</c:v>
                </c:pt>
                <c:pt idx="1">
                  <c:v>3.3</c:v>
                </c:pt>
                <c:pt idx="2">
                  <c:v>3.5</c:v>
                </c:pt>
                <c:pt idx="3">
                  <c:v>3.7</c:v>
                </c:pt>
                <c:pt idx="4">
                  <c:v>3.9</c:v>
                </c:pt>
              </c:numCache>
            </c:numRef>
          </c:val>
        </c:ser>
        <c:ser>
          <c:idx val="1"/>
          <c:order val="1"/>
          <c:tx>
            <c:strRef>
              <c:f>Sheet1!$C$1</c:f>
              <c:strCache>
                <c:ptCount val="1"/>
                <c:pt idx="0">
                  <c:v>With program</c:v>
                </c:pt>
              </c:strCache>
            </c:strRef>
          </c:tx>
          <c:spPr>
            <a:solidFill>
              <a:srgbClr val="F900D3"/>
            </a:solidFill>
            <a:ln w="12700" cap="flat">
              <a:solidFill>
                <a:srgbClr val="070154"/>
              </a:solidFill>
              <a:prstDash val="solid"/>
              <a:round/>
            </a:ln>
            <a:effectLst/>
          </c:spPr>
          <c:invertIfNegative val="0"/>
          <c:dLbls>
            <c:numFmt formatCode="#,##0.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Sheet1!$C$2:$C$6</c:f>
              <c:numCache>
                <c:formatCode>General</c:formatCode>
                <c:ptCount val="5"/>
                <c:pt idx="0">
                  <c:v>2.5</c:v>
                </c:pt>
                <c:pt idx="1">
                  <c:v>1.5</c:v>
                </c:pt>
                <c:pt idx="2">
                  <c:v>0.9</c:v>
                </c:pt>
                <c:pt idx="3">
                  <c:v>1.1</c:v>
                </c:pt>
                <c:pt idx="4">
                  <c:v>1.3</c:v>
                </c:pt>
              </c:numCache>
            </c:numRef>
          </c:val>
        </c:ser>
        <c:dLbls>
          <c:numFmt formatCode="#,##0.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gapWidth val="113"/>
        <c:overlap val="0"/>
        <c:axId val="2094734554"/>
        <c:axId val="2094734552"/>
      </c:bar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4"/>
          <c:min val="0"/>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070154"/>
              </a:solidFill>
              <a:latin typeface="IBM Plex Sans"/>
              <a:cs typeface="IBM Plex Sans"/>
            </a:defRPr>
          </a:pPr>
          <a:endParaRPr lang="en-US"/>
        </a:p>
      </c:txPr>
    </c:legend>
    <c:plotVisOnly val="1"/>
    <c:dispBlanksAs val="gap"/>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
          <c:y val="0.2803030303030303"/>
          <c:w val="1"/>
          <c:h val="0.5833333333333334"/>
        </c:manualLayout>
      </c:layout>
      <c:barChart>
        <c:barDir val="col"/>
        <c:grouping val="clustered"/>
        <c:varyColors val="0"/>
        <c:ser>
          <c:idx val="0"/>
          <c:order val="0"/>
          <c:tx>
            <c:strRef>
              <c:f>Sheet1!$B$1</c:f>
              <c:strCache>
                <c:ptCount val="1"/>
                <c:pt idx="0">
                  <c:v>Before</c:v>
                </c:pt>
              </c:strCache>
            </c:strRef>
          </c:tx>
          <c:spPr>
            <a:solidFill>
              <a:srgbClr val="97A4BA"/>
            </a:solidFill>
            <a:ln w="12700" cap="flat">
              <a:solidFill>
                <a:srgbClr val="070154"/>
              </a:solidFill>
              <a:prstDash val="solid"/>
              <a:round/>
            </a:ln>
            <a:effectLst/>
          </c:spPr>
          <c:invertIfNegative val="0"/>
          <c:dLbls>
            <c:numFmt formatCode="#,##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cat>
            <c:multiLvlStrRef>
              <c:f>Sheet1!$A$2:$A$5</c:f>
              <c:multiLvlStrCache>
                <c:ptCount val="4"/>
                <c:lvl>
                  <c:pt idx="0">
                    <c:v>HOSPITALS</c:v>
                  </c:pt>
                  <c:pt idx="1">
                    <c:v>CLINICS</c:v>
                  </c:pt>
                  <c:pt idx="2">
                    <c:v>LABS</c:v>
                  </c:pt>
                  <c:pt idx="3">
                    <c:v>PHARMACY</c:v>
                  </c:pt>
                </c:lvl>
              </c:multiLvlStrCache>
            </c:multiLvlStrRef>
          </c:cat>
          <c:val>
            <c:numRef>
              <c:f>Sheet1!$B$2:$B$5</c:f>
              <c:numCache>
                <c:formatCode>General</c:formatCode>
                <c:ptCount val="4"/>
                <c:pt idx="0">
                  <c:v>15</c:v>
                </c:pt>
                <c:pt idx="1">
                  <c:v>12</c:v>
                </c:pt>
                <c:pt idx="2">
                  <c:v>13</c:v>
                </c:pt>
                <c:pt idx="3">
                  <c:v>11</c:v>
                </c:pt>
              </c:numCache>
            </c:numRef>
          </c:val>
        </c:ser>
        <c:ser>
          <c:idx val="1"/>
          <c:order val="1"/>
          <c:tx>
            <c:strRef>
              <c:f>Sheet1!$C$1</c:f>
              <c:strCache>
                <c:ptCount val="1"/>
                <c:pt idx="0">
                  <c:v>After</c:v>
                </c:pt>
              </c:strCache>
            </c:strRef>
          </c:tx>
          <c:spPr>
            <a:solidFill>
              <a:srgbClr val="F900D3"/>
            </a:solidFill>
            <a:ln w="12700" cap="flat">
              <a:solidFill>
                <a:srgbClr val="070154"/>
              </a:solidFill>
              <a:prstDash val="solid"/>
              <a:round/>
            </a:ln>
            <a:effectLst/>
          </c:spPr>
          <c:invertIfNegative val="0"/>
          <c:dLbls>
            <c:numFmt formatCode="#,##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cat>
            <c:multiLvlStrRef>
              <c:f>Sheet1!$A$2:$A$5</c:f>
              <c:multiLvlStrCache>
                <c:ptCount val="4"/>
                <c:lvl>
                  <c:pt idx="0">
                    <c:v>HOSPITALS</c:v>
                  </c:pt>
                  <c:pt idx="1">
                    <c:v>CLINICS</c:v>
                  </c:pt>
                  <c:pt idx="2">
                    <c:v>LABS</c:v>
                  </c:pt>
                  <c:pt idx="3">
                    <c:v>PHARMACY</c:v>
                  </c:pt>
                </c:lvl>
              </c:multiLvlStrCache>
            </c:multiLvlStrRef>
          </c:cat>
          <c:val>
            <c:numRef>
              <c:f>Sheet1!$C$2:$C$5</c:f>
              <c:numCache>
                <c:formatCode>General</c:formatCode>
                <c:ptCount val="4"/>
                <c:pt idx="0">
                  <c:v>6</c:v>
                </c:pt>
                <c:pt idx="1">
                  <c:v>5</c:v>
                </c:pt>
                <c:pt idx="2">
                  <c:v>6</c:v>
                </c:pt>
                <c:pt idx="3">
                  <c:v>5</c:v>
                </c:pt>
              </c:numCache>
            </c:numRef>
          </c:val>
        </c:ser>
        <c:dLbls>
          <c:numFmt formatCode="#,##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gapWidth val="113"/>
        <c:overlap val="0"/>
        <c:axId val="2094734554"/>
        <c:axId val="2094734552"/>
      </c:bar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15"/>
          <c:min val="0"/>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070154"/>
              </a:solidFill>
              <a:latin typeface="IBM Plex Sans"/>
              <a:cs typeface="IBM Plex Sans"/>
            </a:defRPr>
          </a:pPr>
          <a:endParaRPr lang="en-US"/>
        </a:p>
      </c:txPr>
    </c:legend>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image-1010-2.sv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image-1010-2.svg"/><Relationship Id="rId3"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image-1010-2.svg"/><Relationship Id="rId3"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image-1010-2.svg"/><Relationship Id="rId3"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image-1010-2.svg"/><Relationship Id="rId3"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image-1010-2.svg"/><Relationship Id="rId3"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image-1010-2.sv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mds.frame.553c346042c23db17db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mds.frame.405fa4e8dcd2cdcd4e74">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rule"/>
          <p:cNvSpPr/>
          <p:nvPr/>
        </p:nvSpPr>
        <p:spPr>
          <a:xfrm>
            <a:off x="723900" y="6057900"/>
            <a:ext cx="70866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mds.frame.19a61bd512103ea93be2">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mds.frame.d747c8ffff6eaccff3c4">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wmds.frame.d22b580fca2e2b74637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3924300" y="228600"/>
            <a:ext cx="38100" cy="38100"/>
          </a:xfrm>
          <a:prstGeom prst="rect">
            <a:avLst/>
          </a:prstGeom>
          <a:solidFill>
            <a:srgbClr val="CED7E6"/>
          </a:solidFill>
          <a:ln>
            <a:noFill/>
          </a:ln>
        </p:spPr>
      </p:sp>
      <p:sp>
        <p:nvSpPr>
          <p:cNvPr id="4" name="wm.whiteboard.0.18"/>
          <p:cNvSpPr/>
          <p:nvPr/>
        </p:nvSpPr>
        <p:spPr>
          <a:xfrm>
            <a:off x="3924300" y="457200"/>
            <a:ext cx="38100" cy="38100"/>
          </a:xfrm>
          <a:prstGeom prst="rect">
            <a:avLst/>
          </a:prstGeom>
          <a:solidFill>
            <a:srgbClr val="CED7E6"/>
          </a:solidFill>
          <a:ln>
            <a:noFill/>
          </a:ln>
        </p:spPr>
      </p:sp>
      <p:sp>
        <p:nvSpPr>
          <p:cNvPr id="5" name="wm.whiteboard.0.36"/>
          <p:cNvSpPr/>
          <p:nvPr/>
        </p:nvSpPr>
        <p:spPr>
          <a:xfrm>
            <a:off x="3924300" y="685800"/>
            <a:ext cx="38100" cy="38100"/>
          </a:xfrm>
          <a:prstGeom prst="rect">
            <a:avLst/>
          </a:prstGeom>
          <a:solidFill>
            <a:srgbClr val="CED7E6"/>
          </a:solidFill>
          <a:ln>
            <a:noFill/>
          </a:ln>
        </p:spPr>
      </p:sp>
      <p:sp>
        <p:nvSpPr>
          <p:cNvPr id="6" name="wm.whiteboard.0.54"/>
          <p:cNvSpPr/>
          <p:nvPr/>
        </p:nvSpPr>
        <p:spPr>
          <a:xfrm>
            <a:off x="3924300" y="914400"/>
            <a:ext cx="38100" cy="38100"/>
          </a:xfrm>
          <a:prstGeom prst="rect">
            <a:avLst/>
          </a:prstGeom>
          <a:solidFill>
            <a:srgbClr val="CED7E6"/>
          </a:solidFill>
          <a:ln>
            <a:noFill/>
          </a:ln>
        </p:spPr>
      </p:sp>
      <p:sp>
        <p:nvSpPr>
          <p:cNvPr id="7" name="wm.whiteboard.0.72"/>
          <p:cNvSpPr/>
          <p:nvPr/>
        </p:nvSpPr>
        <p:spPr>
          <a:xfrm>
            <a:off x="3924300" y="1143000"/>
            <a:ext cx="38100" cy="38100"/>
          </a:xfrm>
          <a:prstGeom prst="rect">
            <a:avLst/>
          </a:prstGeom>
          <a:solidFill>
            <a:srgbClr val="CED7E6">
              <a:alpha val="85305"/>
            </a:srgbClr>
          </a:solidFill>
          <a:ln>
            <a:noFill/>
          </a:ln>
        </p:spPr>
      </p:sp>
      <p:sp>
        <p:nvSpPr>
          <p:cNvPr id="8" name="wm.whiteboard.0.90"/>
          <p:cNvSpPr/>
          <p:nvPr/>
        </p:nvSpPr>
        <p:spPr>
          <a:xfrm>
            <a:off x="3924300" y="1371600"/>
            <a:ext cx="38100" cy="38100"/>
          </a:xfrm>
          <a:prstGeom prst="rect">
            <a:avLst/>
          </a:prstGeom>
          <a:solidFill>
            <a:srgbClr val="CED7E6">
              <a:alpha val="68524"/>
            </a:srgbClr>
          </a:solidFill>
          <a:ln>
            <a:noFill/>
          </a:ln>
        </p:spPr>
      </p:sp>
      <p:sp>
        <p:nvSpPr>
          <p:cNvPr id="9" name="wm.whiteboard.0.108"/>
          <p:cNvSpPr/>
          <p:nvPr/>
        </p:nvSpPr>
        <p:spPr>
          <a:xfrm>
            <a:off x="3924300" y="1600200"/>
            <a:ext cx="38100" cy="38100"/>
          </a:xfrm>
          <a:prstGeom prst="rect">
            <a:avLst/>
          </a:prstGeom>
          <a:solidFill>
            <a:srgbClr val="CED7E6">
              <a:alpha val="51742"/>
            </a:srgbClr>
          </a:solidFill>
          <a:ln>
            <a:noFill/>
          </a:ln>
        </p:spPr>
      </p:sp>
      <p:sp>
        <p:nvSpPr>
          <p:cNvPr id="10" name="wm.whiteboard.0.126"/>
          <p:cNvSpPr/>
          <p:nvPr/>
        </p:nvSpPr>
        <p:spPr>
          <a:xfrm>
            <a:off x="3924300" y="1828800"/>
            <a:ext cx="38100" cy="38100"/>
          </a:xfrm>
          <a:prstGeom prst="rect">
            <a:avLst/>
          </a:prstGeom>
          <a:solidFill>
            <a:srgbClr val="CED7E6">
              <a:alpha val="34959"/>
            </a:srgbClr>
          </a:solidFill>
          <a:ln>
            <a:noFill/>
          </a:ln>
        </p:spPr>
      </p:sp>
      <p:sp>
        <p:nvSpPr>
          <p:cNvPr id="11" name="wm.whiteboard.0.144"/>
          <p:cNvSpPr/>
          <p:nvPr/>
        </p:nvSpPr>
        <p:spPr>
          <a:xfrm>
            <a:off x="3924300" y="2057400"/>
            <a:ext cx="38100" cy="38100"/>
          </a:xfrm>
          <a:prstGeom prst="rect">
            <a:avLst/>
          </a:prstGeom>
          <a:solidFill>
            <a:srgbClr val="CED7E6">
              <a:alpha val="18177"/>
            </a:srgbClr>
          </a:solidFill>
          <a:ln>
            <a:noFill/>
          </a:ln>
        </p:spPr>
      </p:sp>
      <p:sp>
        <p:nvSpPr>
          <p:cNvPr id="12" name="wm.whiteboard.0.162"/>
          <p:cNvSpPr/>
          <p:nvPr/>
        </p:nvSpPr>
        <p:spPr>
          <a:xfrm>
            <a:off x="3924300" y="2286000"/>
            <a:ext cx="38100" cy="38100"/>
          </a:xfrm>
          <a:prstGeom prst="rect">
            <a:avLst/>
          </a:prstGeom>
          <a:solidFill>
            <a:srgbClr val="CED7E6">
              <a:alpha val="1394"/>
            </a:srgbClr>
          </a:solidFill>
          <a:ln>
            <a:noFill/>
          </a:ln>
        </p:spPr>
      </p:sp>
      <p:sp>
        <p:nvSpPr>
          <p:cNvPr id="13" name="wm.whiteboard.18.0"/>
          <p:cNvSpPr/>
          <p:nvPr/>
        </p:nvSpPr>
        <p:spPr>
          <a:xfrm>
            <a:off x="4152900" y="228600"/>
            <a:ext cx="38100" cy="38100"/>
          </a:xfrm>
          <a:prstGeom prst="rect">
            <a:avLst/>
          </a:prstGeom>
          <a:solidFill>
            <a:srgbClr val="CED7E6"/>
          </a:solidFill>
          <a:ln>
            <a:noFill/>
          </a:ln>
        </p:spPr>
      </p:sp>
      <p:sp>
        <p:nvSpPr>
          <p:cNvPr id="14" name="wm.whiteboard.18.18"/>
          <p:cNvSpPr/>
          <p:nvPr/>
        </p:nvSpPr>
        <p:spPr>
          <a:xfrm>
            <a:off x="4152900" y="457200"/>
            <a:ext cx="38100" cy="38100"/>
          </a:xfrm>
          <a:prstGeom prst="rect">
            <a:avLst/>
          </a:prstGeom>
          <a:solidFill>
            <a:srgbClr val="CED7E6"/>
          </a:solidFill>
          <a:ln>
            <a:noFill/>
          </a:ln>
        </p:spPr>
      </p:sp>
      <p:sp>
        <p:nvSpPr>
          <p:cNvPr id="15" name="wm.whiteboard.18.36"/>
          <p:cNvSpPr/>
          <p:nvPr/>
        </p:nvSpPr>
        <p:spPr>
          <a:xfrm>
            <a:off x="4152900" y="685800"/>
            <a:ext cx="38100" cy="38100"/>
          </a:xfrm>
          <a:prstGeom prst="rect">
            <a:avLst/>
          </a:prstGeom>
          <a:solidFill>
            <a:srgbClr val="CED7E6"/>
          </a:solidFill>
          <a:ln>
            <a:noFill/>
          </a:ln>
        </p:spPr>
      </p:sp>
      <p:sp>
        <p:nvSpPr>
          <p:cNvPr id="16" name="wm.whiteboard.18.54"/>
          <p:cNvSpPr/>
          <p:nvPr/>
        </p:nvSpPr>
        <p:spPr>
          <a:xfrm>
            <a:off x="4152900" y="914400"/>
            <a:ext cx="38100" cy="38100"/>
          </a:xfrm>
          <a:prstGeom prst="rect">
            <a:avLst/>
          </a:prstGeom>
          <a:solidFill>
            <a:srgbClr val="CED7E6">
              <a:alpha val="99988"/>
            </a:srgbClr>
          </a:solidFill>
          <a:ln>
            <a:noFill/>
          </a:ln>
        </p:spPr>
      </p:sp>
      <p:sp>
        <p:nvSpPr>
          <p:cNvPr id="17" name="wm.whiteboard.18.72"/>
          <p:cNvSpPr/>
          <p:nvPr/>
        </p:nvSpPr>
        <p:spPr>
          <a:xfrm>
            <a:off x="4152900" y="1143000"/>
            <a:ext cx="38100" cy="38100"/>
          </a:xfrm>
          <a:prstGeom prst="rect">
            <a:avLst/>
          </a:prstGeom>
          <a:solidFill>
            <a:srgbClr val="CED7E6">
              <a:alpha val="83708"/>
            </a:srgbClr>
          </a:solidFill>
          <a:ln>
            <a:noFill/>
          </a:ln>
        </p:spPr>
      </p:sp>
      <p:sp>
        <p:nvSpPr>
          <p:cNvPr id="18" name="wm.whiteboard.18.90"/>
          <p:cNvSpPr/>
          <p:nvPr/>
        </p:nvSpPr>
        <p:spPr>
          <a:xfrm>
            <a:off x="4152900" y="1371600"/>
            <a:ext cx="38100" cy="38100"/>
          </a:xfrm>
          <a:prstGeom prst="rect">
            <a:avLst/>
          </a:prstGeom>
          <a:solidFill>
            <a:srgbClr val="CED7E6">
              <a:alpha val="67236"/>
            </a:srgbClr>
          </a:solidFill>
          <a:ln>
            <a:noFill/>
          </a:ln>
        </p:spPr>
      </p:sp>
      <p:sp>
        <p:nvSpPr>
          <p:cNvPr id="19" name="wm.whiteboard.18.108"/>
          <p:cNvSpPr/>
          <p:nvPr/>
        </p:nvSpPr>
        <p:spPr>
          <a:xfrm>
            <a:off x="4152900" y="1600200"/>
            <a:ext cx="38100" cy="38100"/>
          </a:xfrm>
          <a:prstGeom prst="rect">
            <a:avLst/>
          </a:prstGeom>
          <a:solidFill>
            <a:srgbClr val="CED7E6">
              <a:alpha val="50663"/>
            </a:srgbClr>
          </a:solidFill>
          <a:ln>
            <a:noFill/>
          </a:ln>
        </p:spPr>
      </p:sp>
      <p:sp>
        <p:nvSpPr>
          <p:cNvPr id="20" name="wm.whiteboard.18.126"/>
          <p:cNvSpPr/>
          <p:nvPr/>
        </p:nvSpPr>
        <p:spPr>
          <a:xfrm>
            <a:off x="4152900" y="1828800"/>
            <a:ext cx="38100" cy="38100"/>
          </a:xfrm>
          <a:prstGeom prst="rect">
            <a:avLst/>
          </a:prstGeom>
          <a:solidFill>
            <a:srgbClr val="CED7E6">
              <a:alpha val="34032"/>
            </a:srgbClr>
          </a:solidFill>
          <a:ln>
            <a:noFill/>
          </a:ln>
        </p:spPr>
      </p:sp>
      <p:sp>
        <p:nvSpPr>
          <p:cNvPr id="21" name="wm.whiteboard.18.144"/>
          <p:cNvSpPr/>
          <p:nvPr/>
        </p:nvSpPr>
        <p:spPr>
          <a:xfrm>
            <a:off x="4152900" y="2057400"/>
            <a:ext cx="38100" cy="38100"/>
          </a:xfrm>
          <a:prstGeom prst="rect">
            <a:avLst/>
          </a:prstGeom>
          <a:solidFill>
            <a:srgbClr val="CED7E6">
              <a:alpha val="17363"/>
            </a:srgbClr>
          </a:solidFill>
          <a:ln>
            <a:noFill/>
          </a:ln>
        </p:spPr>
      </p:sp>
      <p:sp>
        <p:nvSpPr>
          <p:cNvPr id="22" name="wm.whiteboard.18.162"/>
          <p:cNvSpPr/>
          <p:nvPr/>
        </p:nvSpPr>
        <p:spPr>
          <a:xfrm>
            <a:off x="4152900" y="2286000"/>
            <a:ext cx="38100" cy="38100"/>
          </a:xfrm>
          <a:prstGeom prst="rect">
            <a:avLst/>
          </a:prstGeom>
          <a:solidFill>
            <a:srgbClr val="CED7E6">
              <a:alpha val="670"/>
            </a:srgbClr>
          </a:solidFill>
          <a:ln>
            <a:noFill/>
          </a:ln>
        </p:spPr>
      </p:sp>
      <p:sp>
        <p:nvSpPr>
          <p:cNvPr id="23" name="wm.whiteboard.36.0"/>
          <p:cNvSpPr/>
          <p:nvPr/>
        </p:nvSpPr>
        <p:spPr>
          <a:xfrm>
            <a:off x="4381500" y="228600"/>
            <a:ext cx="38100" cy="38100"/>
          </a:xfrm>
          <a:prstGeom prst="rect">
            <a:avLst/>
          </a:prstGeom>
          <a:solidFill>
            <a:srgbClr val="CED7E6"/>
          </a:solidFill>
          <a:ln>
            <a:noFill/>
          </a:ln>
        </p:spPr>
      </p:sp>
      <p:sp>
        <p:nvSpPr>
          <p:cNvPr id="24" name="wm.whiteboard.36.18"/>
          <p:cNvSpPr/>
          <p:nvPr/>
        </p:nvSpPr>
        <p:spPr>
          <a:xfrm>
            <a:off x="4381500" y="457200"/>
            <a:ext cx="38100" cy="38100"/>
          </a:xfrm>
          <a:prstGeom prst="rect">
            <a:avLst/>
          </a:prstGeom>
          <a:solidFill>
            <a:srgbClr val="CED7E6"/>
          </a:solidFill>
          <a:ln>
            <a:noFill/>
          </a:ln>
        </p:spPr>
      </p:sp>
      <p:sp>
        <p:nvSpPr>
          <p:cNvPr id="25" name="wm.whiteboard.36.36"/>
          <p:cNvSpPr/>
          <p:nvPr/>
        </p:nvSpPr>
        <p:spPr>
          <a:xfrm>
            <a:off x="4381500" y="685800"/>
            <a:ext cx="38100" cy="38100"/>
          </a:xfrm>
          <a:prstGeom prst="rect">
            <a:avLst/>
          </a:prstGeom>
          <a:solidFill>
            <a:srgbClr val="CED7E6"/>
          </a:solidFill>
          <a:ln>
            <a:noFill/>
          </a:ln>
        </p:spPr>
      </p:sp>
      <p:sp>
        <p:nvSpPr>
          <p:cNvPr id="26" name="wm.whiteboard.36.54"/>
          <p:cNvSpPr/>
          <p:nvPr/>
        </p:nvSpPr>
        <p:spPr>
          <a:xfrm>
            <a:off x="4381500" y="914400"/>
            <a:ext cx="38100" cy="38100"/>
          </a:xfrm>
          <a:prstGeom prst="rect">
            <a:avLst/>
          </a:prstGeom>
          <a:solidFill>
            <a:srgbClr val="CED7E6">
              <a:alpha val="94671"/>
            </a:srgbClr>
          </a:solidFill>
          <a:ln>
            <a:noFill/>
          </a:ln>
        </p:spPr>
      </p:sp>
      <p:sp>
        <p:nvSpPr>
          <p:cNvPr id="27" name="wm.whiteboard.36.72"/>
          <p:cNvSpPr/>
          <p:nvPr/>
        </p:nvSpPr>
        <p:spPr>
          <a:xfrm>
            <a:off x="4381500" y="1143000"/>
            <a:ext cx="38100" cy="38100"/>
          </a:xfrm>
          <a:prstGeom prst="rect">
            <a:avLst/>
          </a:prstGeom>
          <a:solidFill>
            <a:srgbClr val="CED7E6">
              <a:alpha val="79547"/>
            </a:srgbClr>
          </a:solidFill>
          <a:ln>
            <a:noFill/>
          </a:ln>
        </p:spPr>
      </p:sp>
      <p:sp>
        <p:nvSpPr>
          <p:cNvPr id="28" name="wm.whiteboard.36.90"/>
          <p:cNvSpPr/>
          <p:nvPr/>
        </p:nvSpPr>
        <p:spPr>
          <a:xfrm>
            <a:off x="4381500" y="1371600"/>
            <a:ext cx="38100" cy="38100"/>
          </a:xfrm>
          <a:prstGeom prst="rect">
            <a:avLst/>
          </a:prstGeom>
          <a:solidFill>
            <a:srgbClr val="CED7E6">
              <a:alpha val="63833"/>
            </a:srgbClr>
          </a:solidFill>
          <a:ln>
            <a:noFill/>
          </a:ln>
        </p:spPr>
      </p:sp>
      <p:sp>
        <p:nvSpPr>
          <p:cNvPr id="29" name="wm.whiteboard.36.108"/>
          <p:cNvSpPr/>
          <p:nvPr/>
        </p:nvSpPr>
        <p:spPr>
          <a:xfrm>
            <a:off x="4381500" y="1600200"/>
            <a:ext cx="38100" cy="38100"/>
          </a:xfrm>
          <a:prstGeom prst="rect">
            <a:avLst/>
          </a:prstGeom>
          <a:solidFill>
            <a:srgbClr val="CED7E6">
              <a:alpha val="47790"/>
            </a:srgbClr>
          </a:solidFill>
          <a:ln>
            <a:noFill/>
          </a:ln>
        </p:spPr>
      </p:sp>
      <p:sp>
        <p:nvSpPr>
          <p:cNvPr id="30" name="wm.whiteboard.36.126"/>
          <p:cNvSpPr/>
          <p:nvPr/>
        </p:nvSpPr>
        <p:spPr>
          <a:xfrm>
            <a:off x="4381500" y="1828800"/>
            <a:ext cx="38100" cy="38100"/>
          </a:xfrm>
          <a:prstGeom prst="rect">
            <a:avLst/>
          </a:prstGeom>
          <a:solidFill>
            <a:srgbClr val="CED7E6">
              <a:alpha val="31549"/>
            </a:srgbClr>
          </a:solidFill>
          <a:ln>
            <a:noFill/>
          </a:ln>
        </p:spPr>
      </p:sp>
      <p:sp>
        <p:nvSpPr>
          <p:cNvPr id="31" name="wm.whiteboard.36.144"/>
          <p:cNvSpPr/>
          <p:nvPr/>
        </p:nvSpPr>
        <p:spPr>
          <a:xfrm>
            <a:off x="4381500" y="2057400"/>
            <a:ext cx="38100" cy="38100"/>
          </a:xfrm>
          <a:prstGeom prst="rect">
            <a:avLst/>
          </a:prstGeom>
          <a:solidFill>
            <a:srgbClr val="CED7E6">
              <a:alpha val="15179"/>
            </a:srgbClr>
          </a:solidFill>
          <a:ln>
            <a:noFill/>
          </a:ln>
        </p:spPr>
      </p:sp>
      <p:sp>
        <p:nvSpPr>
          <p:cNvPr id="32" name="wm.whiteboard.54.0"/>
          <p:cNvSpPr/>
          <p:nvPr/>
        </p:nvSpPr>
        <p:spPr>
          <a:xfrm>
            <a:off x="4610100" y="228600"/>
            <a:ext cx="38100" cy="38100"/>
          </a:xfrm>
          <a:prstGeom prst="rect">
            <a:avLst/>
          </a:prstGeom>
          <a:solidFill>
            <a:srgbClr val="CED7E6"/>
          </a:solidFill>
          <a:ln>
            <a:noFill/>
          </a:ln>
        </p:spPr>
      </p:sp>
      <p:sp>
        <p:nvSpPr>
          <p:cNvPr id="33" name="wm.whiteboard.54.18"/>
          <p:cNvSpPr/>
          <p:nvPr/>
        </p:nvSpPr>
        <p:spPr>
          <a:xfrm>
            <a:off x="4610100" y="457200"/>
            <a:ext cx="38100" cy="38100"/>
          </a:xfrm>
          <a:prstGeom prst="rect">
            <a:avLst/>
          </a:prstGeom>
          <a:solidFill>
            <a:srgbClr val="CED7E6"/>
          </a:solidFill>
          <a:ln>
            <a:noFill/>
          </a:ln>
        </p:spPr>
      </p:sp>
      <p:sp>
        <p:nvSpPr>
          <p:cNvPr id="34" name="wm.whiteboard.54.36"/>
          <p:cNvSpPr/>
          <p:nvPr/>
        </p:nvSpPr>
        <p:spPr>
          <a:xfrm>
            <a:off x="4610100" y="685800"/>
            <a:ext cx="38100" cy="38100"/>
          </a:xfrm>
          <a:prstGeom prst="rect">
            <a:avLst/>
          </a:prstGeom>
          <a:solidFill>
            <a:srgbClr val="CED7E6">
              <a:alpha val="98827"/>
            </a:srgbClr>
          </a:solidFill>
          <a:ln>
            <a:noFill/>
          </a:ln>
        </p:spPr>
      </p:sp>
      <p:sp>
        <p:nvSpPr>
          <p:cNvPr id="35" name="wm.whiteboard.54.54"/>
          <p:cNvSpPr/>
          <p:nvPr/>
        </p:nvSpPr>
        <p:spPr>
          <a:xfrm>
            <a:off x="4610100" y="914400"/>
            <a:ext cx="38100" cy="38100"/>
          </a:xfrm>
          <a:prstGeom prst="rect">
            <a:avLst/>
          </a:prstGeom>
          <a:solidFill>
            <a:srgbClr val="CED7E6">
              <a:alpha val="86895"/>
            </a:srgbClr>
          </a:solidFill>
          <a:ln>
            <a:noFill/>
          </a:ln>
        </p:spPr>
      </p:sp>
      <p:sp>
        <p:nvSpPr>
          <p:cNvPr id="36" name="wm.whiteboard.54.72"/>
          <p:cNvSpPr/>
          <p:nvPr/>
        </p:nvSpPr>
        <p:spPr>
          <a:xfrm>
            <a:off x="4610100" y="1143000"/>
            <a:ext cx="38100" cy="38100"/>
          </a:xfrm>
          <a:prstGeom prst="rect">
            <a:avLst/>
          </a:prstGeom>
          <a:solidFill>
            <a:srgbClr val="CED7E6">
              <a:alpha val="73217"/>
            </a:srgbClr>
          </a:solidFill>
          <a:ln>
            <a:noFill/>
          </a:ln>
        </p:spPr>
      </p:sp>
      <p:sp>
        <p:nvSpPr>
          <p:cNvPr id="37" name="wm.whiteboard.54.90"/>
          <p:cNvSpPr/>
          <p:nvPr/>
        </p:nvSpPr>
        <p:spPr>
          <a:xfrm>
            <a:off x="4610100" y="1371600"/>
            <a:ext cx="38100" cy="38100"/>
          </a:xfrm>
          <a:prstGeom prst="rect">
            <a:avLst/>
          </a:prstGeom>
          <a:solidFill>
            <a:srgbClr val="CED7E6">
              <a:alpha val="58541"/>
            </a:srgbClr>
          </a:solidFill>
          <a:ln>
            <a:noFill/>
          </a:ln>
        </p:spPr>
      </p:sp>
      <p:sp>
        <p:nvSpPr>
          <p:cNvPr id="38" name="wm.whiteboard.54.108"/>
          <p:cNvSpPr/>
          <p:nvPr/>
        </p:nvSpPr>
        <p:spPr>
          <a:xfrm>
            <a:off x="4610100" y="1600200"/>
            <a:ext cx="38100" cy="38100"/>
          </a:xfrm>
          <a:prstGeom prst="rect">
            <a:avLst/>
          </a:prstGeom>
          <a:solidFill>
            <a:srgbClr val="CED7E6">
              <a:alpha val="43263"/>
            </a:srgbClr>
          </a:solidFill>
          <a:ln>
            <a:noFill/>
          </a:ln>
        </p:spPr>
      </p:sp>
      <p:sp>
        <p:nvSpPr>
          <p:cNvPr id="39" name="wm.whiteboard.54.126"/>
          <p:cNvSpPr/>
          <p:nvPr/>
        </p:nvSpPr>
        <p:spPr>
          <a:xfrm>
            <a:off x="4610100" y="1828800"/>
            <a:ext cx="38100" cy="38100"/>
          </a:xfrm>
          <a:prstGeom prst="rect">
            <a:avLst/>
          </a:prstGeom>
          <a:solidFill>
            <a:srgbClr val="CED7E6">
              <a:alpha val="27603"/>
            </a:srgbClr>
          </a:solidFill>
          <a:ln>
            <a:noFill/>
          </a:ln>
        </p:spPr>
      </p:sp>
      <p:sp>
        <p:nvSpPr>
          <p:cNvPr id="40" name="wm.whiteboard.54.144"/>
          <p:cNvSpPr/>
          <p:nvPr/>
        </p:nvSpPr>
        <p:spPr>
          <a:xfrm>
            <a:off x="4610100" y="2057400"/>
            <a:ext cx="38100" cy="38100"/>
          </a:xfrm>
          <a:prstGeom prst="rect">
            <a:avLst/>
          </a:prstGeom>
          <a:solidFill>
            <a:srgbClr val="CED7E6">
              <a:alpha val="11687"/>
            </a:srgbClr>
          </a:solidFill>
          <a:ln>
            <a:noFill/>
          </a:ln>
        </p:spPr>
      </p:sp>
      <p:sp>
        <p:nvSpPr>
          <p:cNvPr id="41" name="wm.whiteboard.72.0"/>
          <p:cNvSpPr/>
          <p:nvPr/>
        </p:nvSpPr>
        <p:spPr>
          <a:xfrm>
            <a:off x="4838700" y="228600"/>
            <a:ext cx="38100" cy="38100"/>
          </a:xfrm>
          <a:prstGeom prst="rect">
            <a:avLst/>
          </a:prstGeom>
          <a:solidFill>
            <a:srgbClr val="CED7E6">
              <a:alpha val="97572"/>
            </a:srgbClr>
          </a:solidFill>
          <a:ln>
            <a:noFill/>
          </a:ln>
        </p:spPr>
      </p:sp>
      <p:sp>
        <p:nvSpPr>
          <p:cNvPr id="42" name="wm.whiteboard.72.18"/>
          <p:cNvSpPr/>
          <p:nvPr/>
        </p:nvSpPr>
        <p:spPr>
          <a:xfrm>
            <a:off x="4838700" y="457200"/>
            <a:ext cx="38100" cy="38100"/>
          </a:xfrm>
          <a:prstGeom prst="rect">
            <a:avLst/>
          </a:prstGeom>
          <a:solidFill>
            <a:srgbClr val="CED7E6">
              <a:alpha val="94724"/>
            </a:srgbClr>
          </a:solidFill>
          <a:ln>
            <a:noFill/>
          </a:ln>
        </p:spPr>
      </p:sp>
      <p:sp>
        <p:nvSpPr>
          <p:cNvPr id="43" name="wm.whiteboard.72.36"/>
          <p:cNvSpPr/>
          <p:nvPr/>
        </p:nvSpPr>
        <p:spPr>
          <a:xfrm>
            <a:off x="4838700" y="685800"/>
            <a:ext cx="38100" cy="38100"/>
          </a:xfrm>
          <a:prstGeom prst="rect">
            <a:avLst/>
          </a:prstGeom>
          <a:solidFill>
            <a:srgbClr val="CED7E6">
              <a:alpha val="87609"/>
            </a:srgbClr>
          </a:solidFill>
          <a:ln>
            <a:noFill/>
          </a:ln>
        </p:spPr>
      </p:sp>
      <p:sp>
        <p:nvSpPr>
          <p:cNvPr id="44" name="wm.whiteboard.72.54"/>
          <p:cNvSpPr/>
          <p:nvPr/>
        </p:nvSpPr>
        <p:spPr>
          <a:xfrm>
            <a:off x="4838700" y="914400"/>
            <a:ext cx="38100" cy="38100"/>
          </a:xfrm>
          <a:prstGeom prst="rect">
            <a:avLst/>
          </a:prstGeom>
          <a:solidFill>
            <a:srgbClr val="CED7E6">
              <a:alpha val="77408"/>
            </a:srgbClr>
          </a:solidFill>
          <a:ln>
            <a:noFill/>
          </a:ln>
        </p:spPr>
      </p:sp>
      <p:sp>
        <p:nvSpPr>
          <p:cNvPr id="45" name="wm.whiteboard.72.72"/>
          <p:cNvSpPr/>
          <p:nvPr/>
        </p:nvSpPr>
        <p:spPr>
          <a:xfrm>
            <a:off x="4838700" y="1143000"/>
            <a:ext cx="38100" cy="38100"/>
          </a:xfrm>
          <a:prstGeom prst="rect">
            <a:avLst/>
          </a:prstGeom>
          <a:solidFill>
            <a:srgbClr val="CED7E6">
              <a:alpha val="65181"/>
            </a:srgbClr>
          </a:solidFill>
          <a:ln>
            <a:noFill/>
          </a:ln>
        </p:spPr>
      </p:sp>
      <p:sp>
        <p:nvSpPr>
          <p:cNvPr id="46" name="wm.whiteboard.72.90"/>
          <p:cNvSpPr/>
          <p:nvPr/>
        </p:nvSpPr>
        <p:spPr>
          <a:xfrm>
            <a:off x="4838700" y="1371600"/>
            <a:ext cx="38100" cy="38100"/>
          </a:xfrm>
          <a:prstGeom prst="rect">
            <a:avLst/>
          </a:prstGeom>
          <a:solidFill>
            <a:srgbClr val="CED7E6">
              <a:alpha val="51653"/>
            </a:srgbClr>
          </a:solidFill>
          <a:ln>
            <a:noFill/>
          </a:ln>
        </p:spPr>
      </p:sp>
      <p:sp>
        <p:nvSpPr>
          <p:cNvPr id="47" name="wm.whiteboard.72.108"/>
          <p:cNvSpPr/>
          <p:nvPr/>
        </p:nvSpPr>
        <p:spPr>
          <a:xfrm>
            <a:off x="4838700" y="1600200"/>
            <a:ext cx="38100" cy="38100"/>
          </a:xfrm>
          <a:prstGeom prst="rect">
            <a:avLst/>
          </a:prstGeom>
          <a:solidFill>
            <a:srgbClr val="CED7E6">
              <a:alpha val="37275"/>
            </a:srgbClr>
          </a:solidFill>
          <a:ln>
            <a:noFill/>
          </a:ln>
        </p:spPr>
      </p:sp>
      <p:sp>
        <p:nvSpPr>
          <p:cNvPr id="48" name="wm.whiteboard.72.126"/>
          <p:cNvSpPr/>
          <p:nvPr/>
        </p:nvSpPr>
        <p:spPr>
          <a:xfrm>
            <a:off x="4838700" y="1828800"/>
            <a:ext cx="38100" cy="38100"/>
          </a:xfrm>
          <a:prstGeom prst="rect">
            <a:avLst/>
          </a:prstGeom>
          <a:solidFill>
            <a:srgbClr val="CED7E6">
              <a:alpha val="22326"/>
            </a:srgbClr>
          </a:solidFill>
          <a:ln>
            <a:noFill/>
          </a:ln>
        </p:spPr>
      </p:sp>
      <p:sp>
        <p:nvSpPr>
          <p:cNvPr id="49" name="wm.whiteboard.72.144"/>
          <p:cNvSpPr/>
          <p:nvPr/>
        </p:nvSpPr>
        <p:spPr>
          <a:xfrm>
            <a:off x="4838700" y="2057400"/>
            <a:ext cx="38100" cy="38100"/>
          </a:xfrm>
          <a:prstGeom prst="rect">
            <a:avLst/>
          </a:prstGeom>
          <a:solidFill>
            <a:srgbClr val="CED7E6">
              <a:alpha val="6980"/>
            </a:srgbClr>
          </a:solidFill>
          <a:ln>
            <a:noFill/>
          </a:ln>
        </p:spPr>
      </p:sp>
      <p:sp>
        <p:nvSpPr>
          <p:cNvPr id="50" name="wm.whiteboard.90.0"/>
          <p:cNvSpPr/>
          <p:nvPr/>
        </p:nvSpPr>
        <p:spPr>
          <a:xfrm>
            <a:off x="5067300" y="228600"/>
            <a:ext cx="38100" cy="38100"/>
          </a:xfrm>
          <a:prstGeom prst="rect">
            <a:avLst/>
          </a:prstGeom>
          <a:solidFill>
            <a:srgbClr val="CED7E6">
              <a:alpha val="83798"/>
            </a:srgbClr>
          </a:solidFill>
          <a:ln>
            <a:noFill/>
          </a:ln>
        </p:spPr>
      </p:sp>
      <p:sp>
        <p:nvSpPr>
          <p:cNvPr id="51" name="wm.whiteboard.90.18"/>
          <p:cNvSpPr/>
          <p:nvPr/>
        </p:nvSpPr>
        <p:spPr>
          <a:xfrm>
            <a:off x="5067300" y="457200"/>
            <a:ext cx="38100" cy="38100"/>
          </a:xfrm>
          <a:prstGeom prst="rect">
            <a:avLst/>
          </a:prstGeom>
          <a:solidFill>
            <a:srgbClr val="CED7E6">
              <a:alpha val="81490"/>
            </a:srgbClr>
          </a:solidFill>
          <a:ln>
            <a:noFill/>
          </a:ln>
        </p:spPr>
      </p:sp>
      <p:sp>
        <p:nvSpPr>
          <p:cNvPr id="52" name="wm.whiteboard.90.36"/>
          <p:cNvSpPr/>
          <p:nvPr/>
        </p:nvSpPr>
        <p:spPr>
          <a:xfrm>
            <a:off x="5067300" y="685800"/>
            <a:ext cx="38100" cy="38100"/>
          </a:xfrm>
          <a:prstGeom prst="rect">
            <a:avLst/>
          </a:prstGeom>
          <a:solidFill>
            <a:srgbClr val="CED7E6">
              <a:alpha val="75569"/>
            </a:srgbClr>
          </a:solidFill>
          <a:ln>
            <a:noFill/>
          </a:ln>
        </p:spPr>
      </p:sp>
      <p:sp>
        <p:nvSpPr>
          <p:cNvPr id="53" name="wm.whiteboard.90.54"/>
          <p:cNvSpPr/>
          <p:nvPr/>
        </p:nvSpPr>
        <p:spPr>
          <a:xfrm>
            <a:off x="5067300" y="914400"/>
            <a:ext cx="38100" cy="38100"/>
          </a:xfrm>
          <a:prstGeom prst="rect">
            <a:avLst/>
          </a:prstGeom>
          <a:solidFill>
            <a:srgbClr val="CED7E6">
              <a:alpha val="66767"/>
            </a:srgbClr>
          </a:solidFill>
          <a:ln>
            <a:noFill/>
          </a:ln>
        </p:spPr>
      </p:sp>
      <p:sp>
        <p:nvSpPr>
          <p:cNvPr id="54" name="wm.whiteboard.90.72"/>
          <p:cNvSpPr/>
          <p:nvPr/>
        </p:nvSpPr>
        <p:spPr>
          <a:xfrm>
            <a:off x="5067300" y="1143000"/>
            <a:ext cx="38100" cy="38100"/>
          </a:xfrm>
          <a:prstGeom prst="rect">
            <a:avLst/>
          </a:prstGeom>
          <a:solidFill>
            <a:srgbClr val="CED7E6">
              <a:alpha val="55859"/>
            </a:srgbClr>
          </a:solidFill>
          <a:ln>
            <a:noFill/>
          </a:ln>
        </p:spPr>
      </p:sp>
      <p:sp>
        <p:nvSpPr>
          <p:cNvPr id="55" name="wm.whiteboard.90.90"/>
          <p:cNvSpPr/>
          <p:nvPr/>
        </p:nvSpPr>
        <p:spPr>
          <a:xfrm>
            <a:off x="5067300" y="1371600"/>
            <a:ext cx="38100" cy="38100"/>
          </a:xfrm>
          <a:prstGeom prst="rect">
            <a:avLst/>
          </a:prstGeom>
          <a:solidFill>
            <a:srgbClr val="CED7E6">
              <a:alpha val="43468"/>
            </a:srgbClr>
          </a:solidFill>
          <a:ln>
            <a:noFill/>
          </a:ln>
        </p:spPr>
      </p:sp>
      <p:sp>
        <p:nvSpPr>
          <p:cNvPr id="56" name="wm.whiteboard.90.108"/>
          <p:cNvSpPr/>
          <p:nvPr/>
        </p:nvSpPr>
        <p:spPr>
          <a:xfrm>
            <a:off x="5067300" y="1600200"/>
            <a:ext cx="38100" cy="38100"/>
          </a:xfrm>
          <a:prstGeom prst="rect">
            <a:avLst/>
          </a:prstGeom>
          <a:solidFill>
            <a:srgbClr val="CED7E6">
              <a:alpha val="30037"/>
            </a:srgbClr>
          </a:solidFill>
          <a:ln>
            <a:noFill/>
          </a:ln>
        </p:spPr>
      </p:sp>
      <p:sp>
        <p:nvSpPr>
          <p:cNvPr id="57" name="wm.whiteboard.90.126"/>
          <p:cNvSpPr/>
          <p:nvPr/>
        </p:nvSpPr>
        <p:spPr>
          <a:xfrm>
            <a:off x="5067300" y="1828800"/>
            <a:ext cx="38100" cy="38100"/>
          </a:xfrm>
          <a:prstGeom prst="rect">
            <a:avLst/>
          </a:prstGeom>
          <a:solidFill>
            <a:srgbClr val="CED7E6">
              <a:alpha val="15870"/>
            </a:srgbClr>
          </a:solidFill>
          <a:ln>
            <a:noFill/>
          </a:ln>
        </p:spPr>
      </p:sp>
      <p:sp>
        <p:nvSpPr>
          <p:cNvPr id="58" name="wm.whiteboard.90.144"/>
          <p:cNvSpPr/>
          <p:nvPr/>
        </p:nvSpPr>
        <p:spPr>
          <a:xfrm>
            <a:off x="5067300" y="2057400"/>
            <a:ext cx="38100" cy="38100"/>
          </a:xfrm>
          <a:prstGeom prst="rect">
            <a:avLst/>
          </a:prstGeom>
          <a:solidFill>
            <a:srgbClr val="CED7E6">
              <a:alpha val="1171"/>
            </a:srgbClr>
          </a:solidFill>
          <a:ln>
            <a:noFill/>
          </a:ln>
        </p:spPr>
      </p:sp>
      <p:sp>
        <p:nvSpPr>
          <p:cNvPr id="59" name="wm.whiteboard.108.0"/>
          <p:cNvSpPr/>
          <p:nvPr/>
        </p:nvSpPr>
        <p:spPr>
          <a:xfrm>
            <a:off x="5295900" y="228600"/>
            <a:ext cx="38100" cy="38100"/>
          </a:xfrm>
          <a:prstGeom prst="rect">
            <a:avLst/>
          </a:prstGeom>
          <a:solidFill>
            <a:srgbClr val="CED7E6">
              <a:alpha val="70023"/>
            </a:srgbClr>
          </a:solidFill>
          <a:ln>
            <a:noFill/>
          </a:ln>
        </p:spPr>
      </p:sp>
      <p:sp>
        <p:nvSpPr>
          <p:cNvPr id="60" name="wm.whiteboard.108.18"/>
          <p:cNvSpPr/>
          <p:nvPr/>
        </p:nvSpPr>
        <p:spPr>
          <a:xfrm>
            <a:off x="5295900" y="457200"/>
            <a:ext cx="38100" cy="38100"/>
          </a:xfrm>
          <a:prstGeom prst="rect">
            <a:avLst/>
          </a:prstGeom>
          <a:solidFill>
            <a:srgbClr val="CED7E6">
              <a:alpha val="68085"/>
            </a:srgbClr>
          </a:solidFill>
          <a:ln>
            <a:noFill/>
          </a:ln>
        </p:spPr>
      </p:sp>
      <p:sp>
        <p:nvSpPr>
          <p:cNvPr id="61" name="wm.whiteboard.108.36"/>
          <p:cNvSpPr/>
          <p:nvPr/>
        </p:nvSpPr>
        <p:spPr>
          <a:xfrm>
            <a:off x="5295900" y="685800"/>
            <a:ext cx="38100" cy="38100"/>
          </a:xfrm>
          <a:prstGeom prst="rect">
            <a:avLst/>
          </a:prstGeom>
          <a:solidFill>
            <a:srgbClr val="CED7E6">
              <a:alpha val="63033"/>
            </a:srgbClr>
          </a:solidFill>
          <a:ln>
            <a:noFill/>
          </a:ln>
        </p:spPr>
      </p:sp>
      <p:sp>
        <p:nvSpPr>
          <p:cNvPr id="62" name="wm.whiteboard.108.54"/>
          <p:cNvSpPr/>
          <p:nvPr/>
        </p:nvSpPr>
        <p:spPr>
          <a:xfrm>
            <a:off x="5295900" y="914400"/>
            <a:ext cx="38100" cy="38100"/>
          </a:xfrm>
          <a:prstGeom prst="rect">
            <a:avLst/>
          </a:prstGeom>
          <a:solidFill>
            <a:srgbClr val="CED7E6">
              <a:alpha val="55346"/>
            </a:srgbClr>
          </a:solidFill>
          <a:ln>
            <a:noFill/>
          </a:ln>
        </p:spPr>
      </p:sp>
      <p:sp>
        <p:nvSpPr>
          <p:cNvPr id="63" name="wm.whiteboard.108.72"/>
          <p:cNvSpPr/>
          <p:nvPr/>
        </p:nvSpPr>
        <p:spPr>
          <a:xfrm>
            <a:off x="5295900" y="1143000"/>
            <a:ext cx="38100" cy="38100"/>
          </a:xfrm>
          <a:prstGeom prst="rect">
            <a:avLst/>
          </a:prstGeom>
          <a:solidFill>
            <a:srgbClr val="CED7E6">
              <a:alpha val="45583"/>
            </a:srgbClr>
          </a:solidFill>
          <a:ln>
            <a:noFill/>
          </a:ln>
        </p:spPr>
      </p:sp>
      <p:sp>
        <p:nvSpPr>
          <p:cNvPr id="64" name="wm.whiteboard.108.90"/>
          <p:cNvSpPr/>
          <p:nvPr/>
        </p:nvSpPr>
        <p:spPr>
          <a:xfrm>
            <a:off x="5295900" y="1371600"/>
            <a:ext cx="38100" cy="38100"/>
          </a:xfrm>
          <a:prstGeom prst="rect">
            <a:avLst/>
          </a:prstGeom>
          <a:solidFill>
            <a:srgbClr val="CED7E6">
              <a:alpha val="34251"/>
            </a:srgbClr>
          </a:solidFill>
          <a:ln>
            <a:noFill/>
          </a:ln>
        </p:spPr>
      </p:sp>
      <p:sp>
        <p:nvSpPr>
          <p:cNvPr id="65" name="wm.whiteboard.108.108"/>
          <p:cNvSpPr/>
          <p:nvPr/>
        </p:nvSpPr>
        <p:spPr>
          <a:xfrm>
            <a:off x="5295900" y="1600200"/>
            <a:ext cx="38100" cy="38100"/>
          </a:xfrm>
          <a:prstGeom prst="rect">
            <a:avLst/>
          </a:prstGeom>
          <a:solidFill>
            <a:srgbClr val="CED7E6">
              <a:alpha val="21754"/>
            </a:srgbClr>
          </a:solidFill>
          <a:ln>
            <a:noFill/>
          </a:ln>
        </p:spPr>
      </p:sp>
      <p:sp>
        <p:nvSpPr>
          <p:cNvPr id="66" name="wm.whiteboard.108.126"/>
          <p:cNvSpPr/>
          <p:nvPr/>
        </p:nvSpPr>
        <p:spPr>
          <a:xfrm>
            <a:off x="5295900" y="1828800"/>
            <a:ext cx="38100" cy="38100"/>
          </a:xfrm>
          <a:prstGeom prst="rect">
            <a:avLst/>
          </a:prstGeom>
          <a:solidFill>
            <a:srgbClr val="CED7E6">
              <a:alpha val="8391"/>
            </a:srgbClr>
          </a:solidFill>
          <a:ln>
            <a:noFill/>
          </a:ln>
        </p:spPr>
      </p:sp>
      <p:sp>
        <p:nvSpPr>
          <p:cNvPr id="67" name="wm.whiteboard.126.0"/>
          <p:cNvSpPr/>
          <p:nvPr/>
        </p:nvSpPr>
        <p:spPr>
          <a:xfrm>
            <a:off x="5524500" y="228600"/>
            <a:ext cx="38100" cy="38100"/>
          </a:xfrm>
          <a:prstGeom prst="rect">
            <a:avLst/>
          </a:prstGeom>
          <a:solidFill>
            <a:srgbClr val="CED7E6">
              <a:alpha val="56247"/>
            </a:srgbClr>
          </a:solidFill>
          <a:ln>
            <a:noFill/>
          </a:ln>
        </p:spPr>
      </p:sp>
      <p:sp>
        <p:nvSpPr>
          <p:cNvPr id="68" name="wm.whiteboard.126.18"/>
          <p:cNvSpPr/>
          <p:nvPr/>
        </p:nvSpPr>
        <p:spPr>
          <a:xfrm>
            <a:off x="5524500" y="457200"/>
            <a:ext cx="38100" cy="38100"/>
          </a:xfrm>
          <a:prstGeom prst="rect">
            <a:avLst/>
          </a:prstGeom>
          <a:solidFill>
            <a:srgbClr val="CED7E6">
              <a:alpha val="54578"/>
            </a:srgbClr>
          </a:solidFill>
          <a:ln>
            <a:noFill/>
          </a:ln>
        </p:spPr>
      </p:sp>
      <p:sp>
        <p:nvSpPr>
          <p:cNvPr id="69" name="wm.whiteboard.126.36"/>
          <p:cNvSpPr/>
          <p:nvPr/>
        </p:nvSpPr>
        <p:spPr>
          <a:xfrm>
            <a:off x="5524500" y="685800"/>
            <a:ext cx="38100" cy="38100"/>
          </a:xfrm>
          <a:prstGeom prst="rect">
            <a:avLst/>
          </a:prstGeom>
          <a:solidFill>
            <a:srgbClr val="CED7E6">
              <a:alpha val="50182"/>
            </a:srgbClr>
          </a:solidFill>
          <a:ln>
            <a:noFill/>
          </a:ln>
        </p:spPr>
      </p:sp>
      <p:sp>
        <p:nvSpPr>
          <p:cNvPr id="70" name="wm.whiteboard.126.54"/>
          <p:cNvSpPr/>
          <p:nvPr/>
        </p:nvSpPr>
        <p:spPr>
          <a:xfrm>
            <a:off x="5524500" y="914400"/>
            <a:ext cx="38100" cy="38100"/>
          </a:xfrm>
          <a:prstGeom prst="rect">
            <a:avLst/>
          </a:prstGeom>
          <a:solidFill>
            <a:srgbClr val="CED7E6">
              <a:alpha val="43386"/>
            </a:srgbClr>
          </a:solidFill>
          <a:ln>
            <a:noFill/>
          </a:ln>
        </p:spPr>
      </p:sp>
      <p:sp>
        <p:nvSpPr>
          <p:cNvPr id="71" name="wm.whiteboard.126.72"/>
          <p:cNvSpPr/>
          <p:nvPr/>
        </p:nvSpPr>
        <p:spPr>
          <a:xfrm>
            <a:off x="5524500" y="1143000"/>
            <a:ext cx="38100" cy="38100"/>
          </a:xfrm>
          <a:prstGeom prst="rect">
            <a:avLst/>
          </a:prstGeom>
          <a:solidFill>
            <a:srgbClr val="CED7E6">
              <a:alpha val="34598"/>
            </a:srgbClr>
          </a:solidFill>
          <a:ln>
            <a:noFill/>
          </a:ln>
        </p:spPr>
      </p:sp>
      <p:sp>
        <p:nvSpPr>
          <p:cNvPr id="72" name="wm.whiteboard.126.90"/>
          <p:cNvSpPr/>
          <p:nvPr/>
        </p:nvSpPr>
        <p:spPr>
          <a:xfrm>
            <a:off x="5524500" y="1371600"/>
            <a:ext cx="38100" cy="38100"/>
          </a:xfrm>
          <a:prstGeom prst="rect">
            <a:avLst/>
          </a:prstGeom>
          <a:solidFill>
            <a:srgbClr val="CED7E6">
              <a:alpha val="24223"/>
            </a:srgbClr>
          </a:solidFill>
          <a:ln>
            <a:noFill/>
          </a:ln>
        </p:spPr>
      </p:sp>
      <p:sp>
        <p:nvSpPr>
          <p:cNvPr id="73" name="wm.whiteboard.126.108"/>
          <p:cNvSpPr/>
          <p:nvPr/>
        </p:nvSpPr>
        <p:spPr>
          <a:xfrm>
            <a:off x="5524500" y="1600200"/>
            <a:ext cx="38100" cy="38100"/>
          </a:xfrm>
          <a:prstGeom prst="rect">
            <a:avLst/>
          </a:prstGeom>
          <a:solidFill>
            <a:srgbClr val="CED7E6">
              <a:alpha val="12610"/>
            </a:srgbClr>
          </a:solidFill>
          <a:ln>
            <a:noFill/>
          </a:ln>
        </p:spPr>
      </p:sp>
      <p:sp>
        <p:nvSpPr>
          <p:cNvPr id="74" name="wm.whiteboard.126.126"/>
          <p:cNvSpPr/>
          <p:nvPr/>
        </p:nvSpPr>
        <p:spPr>
          <a:xfrm>
            <a:off x="5524500" y="1828800"/>
            <a:ext cx="38100" cy="38100"/>
          </a:xfrm>
          <a:prstGeom prst="rect">
            <a:avLst/>
          </a:prstGeom>
          <a:solidFill>
            <a:srgbClr val="CED7E6">
              <a:alpha val="40"/>
            </a:srgbClr>
          </a:solidFill>
          <a:ln>
            <a:noFill/>
          </a:ln>
        </p:spPr>
      </p:sp>
      <p:sp>
        <p:nvSpPr>
          <p:cNvPr id="75" name="wm.whiteboard.144.0"/>
          <p:cNvSpPr/>
          <p:nvPr/>
        </p:nvSpPr>
        <p:spPr>
          <a:xfrm>
            <a:off x="5753100" y="228600"/>
            <a:ext cx="38100" cy="38100"/>
          </a:xfrm>
          <a:prstGeom prst="rect">
            <a:avLst/>
          </a:prstGeom>
          <a:solidFill>
            <a:srgbClr val="CED7E6">
              <a:alpha val="42471"/>
            </a:srgbClr>
          </a:solidFill>
          <a:ln>
            <a:noFill/>
          </a:ln>
        </p:spPr>
      </p:sp>
      <p:sp>
        <p:nvSpPr>
          <p:cNvPr id="76" name="wm.whiteboard.144.18"/>
          <p:cNvSpPr/>
          <p:nvPr/>
        </p:nvSpPr>
        <p:spPr>
          <a:xfrm>
            <a:off x="5753100" y="457200"/>
            <a:ext cx="38100" cy="38100"/>
          </a:xfrm>
          <a:prstGeom prst="rect">
            <a:avLst/>
          </a:prstGeom>
          <a:solidFill>
            <a:srgbClr val="CED7E6">
              <a:alpha val="41005"/>
            </a:srgbClr>
          </a:solidFill>
          <a:ln>
            <a:noFill/>
          </a:ln>
        </p:spPr>
      </p:sp>
      <p:sp>
        <p:nvSpPr>
          <p:cNvPr id="77" name="wm.whiteboard.144.36"/>
          <p:cNvSpPr/>
          <p:nvPr/>
        </p:nvSpPr>
        <p:spPr>
          <a:xfrm>
            <a:off x="5753100" y="685800"/>
            <a:ext cx="38100" cy="38100"/>
          </a:xfrm>
          <a:prstGeom prst="rect">
            <a:avLst/>
          </a:prstGeom>
          <a:solidFill>
            <a:srgbClr val="CED7E6">
              <a:alpha val="37120"/>
            </a:srgbClr>
          </a:solidFill>
          <a:ln>
            <a:noFill/>
          </a:ln>
        </p:spPr>
      </p:sp>
      <p:sp>
        <p:nvSpPr>
          <p:cNvPr id="78" name="wm.whiteboard.144.54"/>
          <p:cNvSpPr/>
          <p:nvPr/>
        </p:nvSpPr>
        <p:spPr>
          <a:xfrm>
            <a:off x="5753100" y="914400"/>
            <a:ext cx="38100" cy="38100"/>
          </a:xfrm>
          <a:prstGeom prst="rect">
            <a:avLst/>
          </a:prstGeom>
          <a:solidFill>
            <a:srgbClr val="CED7E6">
              <a:alpha val="31044"/>
            </a:srgbClr>
          </a:solidFill>
          <a:ln>
            <a:noFill/>
          </a:ln>
        </p:spPr>
      </p:sp>
      <p:sp>
        <p:nvSpPr>
          <p:cNvPr id="79" name="wm.whiteboard.144.72"/>
          <p:cNvSpPr/>
          <p:nvPr/>
        </p:nvSpPr>
        <p:spPr>
          <a:xfrm>
            <a:off x="5753100" y="1143000"/>
            <a:ext cx="38100" cy="38100"/>
          </a:xfrm>
          <a:prstGeom prst="rect">
            <a:avLst/>
          </a:prstGeom>
          <a:solidFill>
            <a:srgbClr val="CED7E6">
              <a:alpha val="23083"/>
            </a:srgbClr>
          </a:solidFill>
          <a:ln>
            <a:noFill/>
          </a:ln>
        </p:spPr>
      </p:sp>
      <p:sp>
        <p:nvSpPr>
          <p:cNvPr id="80" name="wm.whiteboard.144.90"/>
          <p:cNvSpPr/>
          <p:nvPr/>
        </p:nvSpPr>
        <p:spPr>
          <a:xfrm>
            <a:off x="5753100" y="1371600"/>
            <a:ext cx="38100" cy="38100"/>
          </a:xfrm>
          <a:prstGeom prst="rect">
            <a:avLst/>
          </a:prstGeom>
          <a:solidFill>
            <a:srgbClr val="CED7E6">
              <a:alpha val="13557"/>
            </a:srgbClr>
          </a:solidFill>
          <a:ln>
            <a:noFill/>
          </a:ln>
        </p:spPr>
      </p:sp>
      <p:sp>
        <p:nvSpPr>
          <p:cNvPr id="81" name="wm.whiteboard.144.108"/>
          <p:cNvSpPr/>
          <p:nvPr/>
        </p:nvSpPr>
        <p:spPr>
          <a:xfrm>
            <a:off x="5753100" y="1600200"/>
            <a:ext cx="38100" cy="38100"/>
          </a:xfrm>
          <a:prstGeom prst="rect">
            <a:avLst/>
          </a:prstGeom>
          <a:solidFill>
            <a:srgbClr val="CED7E6">
              <a:alpha val="2762"/>
            </a:srgbClr>
          </a:solidFill>
          <a:ln>
            <a:noFill/>
          </a:ln>
        </p:spPr>
      </p:sp>
      <p:sp>
        <p:nvSpPr>
          <p:cNvPr id="82" name="wm.whiteboard.162.0"/>
          <p:cNvSpPr/>
          <p:nvPr/>
        </p:nvSpPr>
        <p:spPr>
          <a:xfrm>
            <a:off x="5981700" y="228600"/>
            <a:ext cx="38100" cy="38100"/>
          </a:xfrm>
          <a:prstGeom prst="rect">
            <a:avLst/>
          </a:prstGeom>
          <a:solidFill>
            <a:srgbClr val="CED7E6">
              <a:alpha val="28695"/>
            </a:srgbClr>
          </a:solidFill>
          <a:ln>
            <a:noFill/>
          </a:ln>
        </p:spPr>
      </p:sp>
      <p:sp>
        <p:nvSpPr>
          <p:cNvPr id="83" name="wm.whiteboard.162.18"/>
          <p:cNvSpPr/>
          <p:nvPr/>
        </p:nvSpPr>
        <p:spPr>
          <a:xfrm>
            <a:off x="5981700" y="457200"/>
            <a:ext cx="38100" cy="38100"/>
          </a:xfrm>
          <a:prstGeom prst="rect">
            <a:avLst/>
          </a:prstGeom>
          <a:solidFill>
            <a:srgbClr val="CED7E6">
              <a:alpha val="27389"/>
            </a:srgbClr>
          </a:solidFill>
          <a:ln>
            <a:noFill/>
          </a:ln>
        </p:spPr>
      </p:sp>
      <p:sp>
        <p:nvSpPr>
          <p:cNvPr id="84" name="wm.whiteboard.162.36"/>
          <p:cNvSpPr/>
          <p:nvPr/>
        </p:nvSpPr>
        <p:spPr>
          <a:xfrm>
            <a:off x="5981700" y="685800"/>
            <a:ext cx="38100" cy="38100"/>
          </a:xfrm>
          <a:prstGeom prst="rect">
            <a:avLst/>
          </a:prstGeom>
          <a:solidFill>
            <a:srgbClr val="CED7E6">
              <a:alpha val="23910"/>
            </a:srgbClr>
          </a:solidFill>
          <a:ln>
            <a:noFill/>
          </a:ln>
        </p:spPr>
      </p:sp>
      <p:sp>
        <p:nvSpPr>
          <p:cNvPr id="85" name="wm.whiteboard.162.54"/>
          <p:cNvSpPr/>
          <p:nvPr/>
        </p:nvSpPr>
        <p:spPr>
          <a:xfrm>
            <a:off x="5981700" y="914400"/>
            <a:ext cx="38100" cy="38100"/>
          </a:xfrm>
          <a:prstGeom prst="rect">
            <a:avLst/>
          </a:prstGeom>
          <a:solidFill>
            <a:srgbClr val="CED7E6">
              <a:alpha val="18425"/>
            </a:srgbClr>
          </a:solidFill>
          <a:ln>
            <a:noFill/>
          </a:ln>
        </p:spPr>
      </p:sp>
      <p:sp>
        <p:nvSpPr>
          <p:cNvPr id="86" name="wm.whiteboard.162.72"/>
          <p:cNvSpPr/>
          <p:nvPr/>
        </p:nvSpPr>
        <p:spPr>
          <a:xfrm>
            <a:off x="5981700" y="1143000"/>
            <a:ext cx="38100" cy="38100"/>
          </a:xfrm>
          <a:prstGeom prst="rect">
            <a:avLst/>
          </a:prstGeom>
          <a:solidFill>
            <a:srgbClr val="CED7E6">
              <a:alpha val="11167"/>
            </a:srgbClr>
          </a:solidFill>
          <a:ln>
            <a:noFill/>
          </a:ln>
        </p:spPr>
      </p:sp>
      <p:sp>
        <p:nvSpPr>
          <p:cNvPr id="87" name="wm.whiteboard.162.90"/>
          <p:cNvSpPr/>
          <p:nvPr/>
        </p:nvSpPr>
        <p:spPr>
          <a:xfrm>
            <a:off x="5981700" y="1371600"/>
            <a:ext cx="38100" cy="38100"/>
          </a:xfrm>
          <a:prstGeom prst="rect">
            <a:avLst/>
          </a:prstGeom>
          <a:solidFill>
            <a:srgbClr val="CED7E6">
              <a:alpha val="2388"/>
            </a:srgbClr>
          </a:solidFill>
          <a:ln>
            <a:noFill/>
          </a:ln>
        </p:spPr>
      </p:sp>
      <p:sp>
        <p:nvSpPr>
          <p:cNvPr id="88" name="wm.whiteboard.180.0"/>
          <p:cNvSpPr/>
          <p:nvPr/>
        </p:nvSpPr>
        <p:spPr>
          <a:xfrm>
            <a:off x="6210300" y="228600"/>
            <a:ext cx="38100" cy="38100"/>
          </a:xfrm>
          <a:prstGeom prst="rect">
            <a:avLst/>
          </a:prstGeom>
          <a:solidFill>
            <a:srgbClr val="CED7E6">
              <a:alpha val="14918"/>
            </a:srgbClr>
          </a:solidFill>
          <a:ln>
            <a:noFill/>
          </a:ln>
        </p:spPr>
      </p:sp>
      <p:sp>
        <p:nvSpPr>
          <p:cNvPr id="89" name="wm.whiteboard.180.18"/>
          <p:cNvSpPr/>
          <p:nvPr/>
        </p:nvSpPr>
        <p:spPr>
          <a:xfrm>
            <a:off x="6210300" y="457200"/>
            <a:ext cx="38100" cy="38100"/>
          </a:xfrm>
          <a:prstGeom prst="rect">
            <a:avLst/>
          </a:prstGeom>
          <a:solidFill>
            <a:srgbClr val="CED7E6">
              <a:alpha val="13741"/>
            </a:srgbClr>
          </a:solidFill>
          <a:ln>
            <a:noFill/>
          </a:ln>
        </p:spPr>
      </p:sp>
      <p:sp>
        <p:nvSpPr>
          <p:cNvPr id="90" name="wm.whiteboard.180.36"/>
          <p:cNvSpPr/>
          <p:nvPr/>
        </p:nvSpPr>
        <p:spPr>
          <a:xfrm>
            <a:off x="6210300" y="685800"/>
            <a:ext cx="38100" cy="38100"/>
          </a:xfrm>
          <a:prstGeom prst="rect">
            <a:avLst/>
          </a:prstGeom>
          <a:solidFill>
            <a:srgbClr val="CED7E6">
              <a:alpha val="10593"/>
            </a:srgbClr>
          </a:solidFill>
          <a:ln>
            <a:noFill/>
          </a:ln>
        </p:spPr>
      </p:sp>
      <p:sp>
        <p:nvSpPr>
          <p:cNvPr id="91" name="wm.whiteboard.180.54"/>
          <p:cNvSpPr/>
          <p:nvPr/>
        </p:nvSpPr>
        <p:spPr>
          <a:xfrm>
            <a:off x="6210300" y="914400"/>
            <a:ext cx="38100" cy="38100"/>
          </a:xfrm>
          <a:prstGeom prst="rect">
            <a:avLst/>
          </a:prstGeom>
          <a:solidFill>
            <a:srgbClr val="CED7E6">
              <a:alpha val="5600"/>
            </a:srgbClr>
          </a:solidFill>
          <a:ln>
            <a:noFill/>
          </a:ln>
        </p:spPr>
      </p:sp>
      <p:sp>
        <p:nvSpPr>
          <p:cNvPr id="92" name="wm.whiteboard.198.0"/>
          <p:cNvSpPr/>
          <p:nvPr/>
        </p:nvSpPr>
        <p:spPr>
          <a:xfrm>
            <a:off x="6438900" y="228600"/>
            <a:ext cx="38100" cy="38100"/>
          </a:xfrm>
          <a:prstGeom prst="rect">
            <a:avLst/>
          </a:prstGeom>
          <a:solidFill>
            <a:srgbClr val="CED7E6">
              <a:alpha val="1142"/>
            </a:srgbClr>
          </a:solidFill>
          <a:ln>
            <a:noFill/>
          </a:ln>
        </p:spPr>
      </p:sp>
      <p:sp>
        <p:nvSpPr>
          <p:cNvPr id="93" name="wm.whiteboard.198.18"/>
          <p:cNvSpPr/>
          <p:nvPr/>
        </p:nvSpPr>
        <p:spPr>
          <a:xfrm>
            <a:off x="6438900" y="457200"/>
            <a:ext cx="38100" cy="38100"/>
          </a:xfrm>
          <a:prstGeom prst="rect">
            <a:avLst/>
          </a:prstGeom>
          <a:solidFill>
            <a:srgbClr val="CED7E6">
              <a:alpha val="69"/>
            </a:srgbClr>
          </a:solidFill>
          <a:ln>
            <a:noFill/>
          </a:ln>
        </p:spPr>
      </p:sp>
      <p:sp>
        <p:nvSpPr>
          <p:cNvPr id="94" name="wm.header.rule"/>
          <p:cNvSpPr/>
          <p:nvPr/>
        </p:nvSpPr>
        <p:spPr>
          <a:xfrm>
            <a:off x="4381500" y="13716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wmds.frame.565fa27430157ff1bff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wmds.frame.18d901d1753b9c83f901">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rule"/>
          <p:cNvSpPr/>
          <p:nvPr/>
        </p:nvSpPr>
        <p:spPr>
          <a:xfrm>
            <a:off x="723900" y="6057900"/>
            <a:ext cx="70866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wmds.frame.f3f788c0b63ea64c3024">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mds.frame.83916a8bae2ec07ee127">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sp>
        <p:nvSpPr>
          <p:cNvPr id="95" name="wm.header.rule"/>
          <p:cNvSpPr/>
          <p:nvPr/>
        </p:nvSpPr>
        <p:spPr>
          <a:xfrm>
            <a:off x="4381500" y="18288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wmds.frame.353fa72a79c66aca8fe6">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wmds.frame.6d0283f5686f2906b435">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3924300" y="228600"/>
            <a:ext cx="38100" cy="38100"/>
          </a:xfrm>
          <a:prstGeom prst="rect">
            <a:avLst/>
          </a:prstGeom>
          <a:solidFill>
            <a:srgbClr val="CED7E6"/>
          </a:solidFill>
          <a:ln>
            <a:noFill/>
          </a:ln>
        </p:spPr>
      </p:sp>
      <p:sp>
        <p:nvSpPr>
          <p:cNvPr id="4" name="wm.whiteboard.0.18"/>
          <p:cNvSpPr/>
          <p:nvPr/>
        </p:nvSpPr>
        <p:spPr>
          <a:xfrm>
            <a:off x="3924300" y="457200"/>
            <a:ext cx="38100" cy="38100"/>
          </a:xfrm>
          <a:prstGeom prst="rect">
            <a:avLst/>
          </a:prstGeom>
          <a:solidFill>
            <a:srgbClr val="CED7E6"/>
          </a:solidFill>
          <a:ln>
            <a:noFill/>
          </a:ln>
        </p:spPr>
      </p:sp>
      <p:sp>
        <p:nvSpPr>
          <p:cNvPr id="5" name="wm.whiteboard.0.36"/>
          <p:cNvSpPr/>
          <p:nvPr/>
        </p:nvSpPr>
        <p:spPr>
          <a:xfrm>
            <a:off x="3924300" y="685800"/>
            <a:ext cx="38100" cy="38100"/>
          </a:xfrm>
          <a:prstGeom prst="rect">
            <a:avLst/>
          </a:prstGeom>
          <a:solidFill>
            <a:srgbClr val="CED7E6"/>
          </a:solidFill>
          <a:ln>
            <a:noFill/>
          </a:ln>
        </p:spPr>
      </p:sp>
      <p:sp>
        <p:nvSpPr>
          <p:cNvPr id="6" name="wm.whiteboard.0.54"/>
          <p:cNvSpPr/>
          <p:nvPr/>
        </p:nvSpPr>
        <p:spPr>
          <a:xfrm>
            <a:off x="3924300" y="914400"/>
            <a:ext cx="38100" cy="38100"/>
          </a:xfrm>
          <a:prstGeom prst="rect">
            <a:avLst/>
          </a:prstGeom>
          <a:solidFill>
            <a:srgbClr val="CED7E6"/>
          </a:solidFill>
          <a:ln>
            <a:noFill/>
          </a:ln>
        </p:spPr>
      </p:sp>
      <p:sp>
        <p:nvSpPr>
          <p:cNvPr id="7" name="wm.whiteboard.0.72"/>
          <p:cNvSpPr/>
          <p:nvPr/>
        </p:nvSpPr>
        <p:spPr>
          <a:xfrm>
            <a:off x="3924300" y="1143000"/>
            <a:ext cx="38100" cy="38100"/>
          </a:xfrm>
          <a:prstGeom prst="rect">
            <a:avLst/>
          </a:prstGeom>
          <a:solidFill>
            <a:srgbClr val="CED7E6">
              <a:alpha val="85305"/>
            </a:srgbClr>
          </a:solidFill>
          <a:ln>
            <a:noFill/>
          </a:ln>
        </p:spPr>
      </p:sp>
      <p:sp>
        <p:nvSpPr>
          <p:cNvPr id="8" name="wm.whiteboard.0.90"/>
          <p:cNvSpPr/>
          <p:nvPr/>
        </p:nvSpPr>
        <p:spPr>
          <a:xfrm>
            <a:off x="3924300" y="1371600"/>
            <a:ext cx="38100" cy="38100"/>
          </a:xfrm>
          <a:prstGeom prst="rect">
            <a:avLst/>
          </a:prstGeom>
          <a:solidFill>
            <a:srgbClr val="CED7E6">
              <a:alpha val="68524"/>
            </a:srgbClr>
          </a:solidFill>
          <a:ln>
            <a:noFill/>
          </a:ln>
        </p:spPr>
      </p:sp>
      <p:sp>
        <p:nvSpPr>
          <p:cNvPr id="9" name="wm.whiteboard.0.108"/>
          <p:cNvSpPr/>
          <p:nvPr/>
        </p:nvSpPr>
        <p:spPr>
          <a:xfrm>
            <a:off x="3924300" y="1600200"/>
            <a:ext cx="38100" cy="38100"/>
          </a:xfrm>
          <a:prstGeom prst="rect">
            <a:avLst/>
          </a:prstGeom>
          <a:solidFill>
            <a:srgbClr val="CED7E6">
              <a:alpha val="51742"/>
            </a:srgbClr>
          </a:solidFill>
          <a:ln>
            <a:noFill/>
          </a:ln>
        </p:spPr>
      </p:sp>
      <p:sp>
        <p:nvSpPr>
          <p:cNvPr id="10" name="wm.whiteboard.0.126"/>
          <p:cNvSpPr/>
          <p:nvPr/>
        </p:nvSpPr>
        <p:spPr>
          <a:xfrm>
            <a:off x="3924300" y="1828800"/>
            <a:ext cx="38100" cy="38100"/>
          </a:xfrm>
          <a:prstGeom prst="rect">
            <a:avLst/>
          </a:prstGeom>
          <a:solidFill>
            <a:srgbClr val="CED7E6">
              <a:alpha val="34959"/>
            </a:srgbClr>
          </a:solidFill>
          <a:ln>
            <a:noFill/>
          </a:ln>
        </p:spPr>
      </p:sp>
      <p:sp>
        <p:nvSpPr>
          <p:cNvPr id="11" name="wm.whiteboard.0.144"/>
          <p:cNvSpPr/>
          <p:nvPr/>
        </p:nvSpPr>
        <p:spPr>
          <a:xfrm>
            <a:off x="3924300" y="2057400"/>
            <a:ext cx="38100" cy="38100"/>
          </a:xfrm>
          <a:prstGeom prst="rect">
            <a:avLst/>
          </a:prstGeom>
          <a:solidFill>
            <a:srgbClr val="CED7E6">
              <a:alpha val="18177"/>
            </a:srgbClr>
          </a:solidFill>
          <a:ln>
            <a:noFill/>
          </a:ln>
        </p:spPr>
      </p:sp>
      <p:sp>
        <p:nvSpPr>
          <p:cNvPr id="12" name="wm.whiteboard.0.162"/>
          <p:cNvSpPr/>
          <p:nvPr/>
        </p:nvSpPr>
        <p:spPr>
          <a:xfrm>
            <a:off x="3924300" y="2286000"/>
            <a:ext cx="38100" cy="38100"/>
          </a:xfrm>
          <a:prstGeom prst="rect">
            <a:avLst/>
          </a:prstGeom>
          <a:solidFill>
            <a:srgbClr val="CED7E6">
              <a:alpha val="1394"/>
            </a:srgbClr>
          </a:solidFill>
          <a:ln>
            <a:noFill/>
          </a:ln>
        </p:spPr>
      </p:sp>
      <p:sp>
        <p:nvSpPr>
          <p:cNvPr id="13" name="wm.whiteboard.18.0"/>
          <p:cNvSpPr/>
          <p:nvPr/>
        </p:nvSpPr>
        <p:spPr>
          <a:xfrm>
            <a:off x="4152900" y="228600"/>
            <a:ext cx="38100" cy="38100"/>
          </a:xfrm>
          <a:prstGeom prst="rect">
            <a:avLst/>
          </a:prstGeom>
          <a:solidFill>
            <a:srgbClr val="CED7E6"/>
          </a:solidFill>
          <a:ln>
            <a:noFill/>
          </a:ln>
        </p:spPr>
      </p:sp>
      <p:sp>
        <p:nvSpPr>
          <p:cNvPr id="14" name="wm.whiteboard.18.18"/>
          <p:cNvSpPr/>
          <p:nvPr/>
        </p:nvSpPr>
        <p:spPr>
          <a:xfrm>
            <a:off x="4152900" y="457200"/>
            <a:ext cx="38100" cy="38100"/>
          </a:xfrm>
          <a:prstGeom prst="rect">
            <a:avLst/>
          </a:prstGeom>
          <a:solidFill>
            <a:srgbClr val="CED7E6"/>
          </a:solidFill>
          <a:ln>
            <a:noFill/>
          </a:ln>
        </p:spPr>
      </p:sp>
      <p:sp>
        <p:nvSpPr>
          <p:cNvPr id="15" name="wm.whiteboard.18.36"/>
          <p:cNvSpPr/>
          <p:nvPr/>
        </p:nvSpPr>
        <p:spPr>
          <a:xfrm>
            <a:off x="4152900" y="685800"/>
            <a:ext cx="38100" cy="38100"/>
          </a:xfrm>
          <a:prstGeom prst="rect">
            <a:avLst/>
          </a:prstGeom>
          <a:solidFill>
            <a:srgbClr val="CED7E6"/>
          </a:solidFill>
          <a:ln>
            <a:noFill/>
          </a:ln>
        </p:spPr>
      </p:sp>
      <p:sp>
        <p:nvSpPr>
          <p:cNvPr id="16" name="wm.whiteboard.18.54"/>
          <p:cNvSpPr/>
          <p:nvPr/>
        </p:nvSpPr>
        <p:spPr>
          <a:xfrm>
            <a:off x="4152900" y="914400"/>
            <a:ext cx="38100" cy="38100"/>
          </a:xfrm>
          <a:prstGeom prst="rect">
            <a:avLst/>
          </a:prstGeom>
          <a:solidFill>
            <a:srgbClr val="CED7E6">
              <a:alpha val="99988"/>
            </a:srgbClr>
          </a:solidFill>
          <a:ln>
            <a:noFill/>
          </a:ln>
        </p:spPr>
      </p:sp>
      <p:sp>
        <p:nvSpPr>
          <p:cNvPr id="17" name="wm.whiteboard.18.72"/>
          <p:cNvSpPr/>
          <p:nvPr/>
        </p:nvSpPr>
        <p:spPr>
          <a:xfrm>
            <a:off x="4152900" y="1143000"/>
            <a:ext cx="38100" cy="38100"/>
          </a:xfrm>
          <a:prstGeom prst="rect">
            <a:avLst/>
          </a:prstGeom>
          <a:solidFill>
            <a:srgbClr val="CED7E6">
              <a:alpha val="83708"/>
            </a:srgbClr>
          </a:solidFill>
          <a:ln>
            <a:noFill/>
          </a:ln>
        </p:spPr>
      </p:sp>
      <p:sp>
        <p:nvSpPr>
          <p:cNvPr id="18" name="wm.whiteboard.18.90"/>
          <p:cNvSpPr/>
          <p:nvPr/>
        </p:nvSpPr>
        <p:spPr>
          <a:xfrm>
            <a:off x="4152900" y="1371600"/>
            <a:ext cx="38100" cy="38100"/>
          </a:xfrm>
          <a:prstGeom prst="rect">
            <a:avLst/>
          </a:prstGeom>
          <a:solidFill>
            <a:srgbClr val="CED7E6">
              <a:alpha val="67236"/>
            </a:srgbClr>
          </a:solidFill>
          <a:ln>
            <a:noFill/>
          </a:ln>
        </p:spPr>
      </p:sp>
      <p:sp>
        <p:nvSpPr>
          <p:cNvPr id="19" name="wm.whiteboard.18.108"/>
          <p:cNvSpPr/>
          <p:nvPr/>
        </p:nvSpPr>
        <p:spPr>
          <a:xfrm>
            <a:off x="4152900" y="1600200"/>
            <a:ext cx="38100" cy="38100"/>
          </a:xfrm>
          <a:prstGeom prst="rect">
            <a:avLst/>
          </a:prstGeom>
          <a:solidFill>
            <a:srgbClr val="CED7E6">
              <a:alpha val="50663"/>
            </a:srgbClr>
          </a:solidFill>
          <a:ln>
            <a:noFill/>
          </a:ln>
        </p:spPr>
      </p:sp>
      <p:sp>
        <p:nvSpPr>
          <p:cNvPr id="20" name="wm.whiteboard.18.126"/>
          <p:cNvSpPr/>
          <p:nvPr/>
        </p:nvSpPr>
        <p:spPr>
          <a:xfrm>
            <a:off x="4152900" y="1828800"/>
            <a:ext cx="38100" cy="38100"/>
          </a:xfrm>
          <a:prstGeom prst="rect">
            <a:avLst/>
          </a:prstGeom>
          <a:solidFill>
            <a:srgbClr val="CED7E6">
              <a:alpha val="34032"/>
            </a:srgbClr>
          </a:solidFill>
          <a:ln>
            <a:noFill/>
          </a:ln>
        </p:spPr>
      </p:sp>
      <p:sp>
        <p:nvSpPr>
          <p:cNvPr id="21" name="wm.whiteboard.18.144"/>
          <p:cNvSpPr/>
          <p:nvPr/>
        </p:nvSpPr>
        <p:spPr>
          <a:xfrm>
            <a:off x="4152900" y="2057400"/>
            <a:ext cx="38100" cy="38100"/>
          </a:xfrm>
          <a:prstGeom prst="rect">
            <a:avLst/>
          </a:prstGeom>
          <a:solidFill>
            <a:srgbClr val="CED7E6">
              <a:alpha val="17363"/>
            </a:srgbClr>
          </a:solidFill>
          <a:ln>
            <a:noFill/>
          </a:ln>
        </p:spPr>
      </p:sp>
      <p:sp>
        <p:nvSpPr>
          <p:cNvPr id="22" name="wm.whiteboard.18.162"/>
          <p:cNvSpPr/>
          <p:nvPr/>
        </p:nvSpPr>
        <p:spPr>
          <a:xfrm>
            <a:off x="4152900" y="2286000"/>
            <a:ext cx="38100" cy="38100"/>
          </a:xfrm>
          <a:prstGeom prst="rect">
            <a:avLst/>
          </a:prstGeom>
          <a:solidFill>
            <a:srgbClr val="CED7E6">
              <a:alpha val="670"/>
            </a:srgbClr>
          </a:solidFill>
          <a:ln>
            <a:noFill/>
          </a:ln>
        </p:spPr>
      </p:sp>
      <p:sp>
        <p:nvSpPr>
          <p:cNvPr id="23" name="wm.whiteboard.36.0"/>
          <p:cNvSpPr/>
          <p:nvPr/>
        </p:nvSpPr>
        <p:spPr>
          <a:xfrm>
            <a:off x="4381500" y="228600"/>
            <a:ext cx="38100" cy="38100"/>
          </a:xfrm>
          <a:prstGeom prst="rect">
            <a:avLst/>
          </a:prstGeom>
          <a:solidFill>
            <a:srgbClr val="CED7E6"/>
          </a:solidFill>
          <a:ln>
            <a:noFill/>
          </a:ln>
        </p:spPr>
      </p:sp>
      <p:sp>
        <p:nvSpPr>
          <p:cNvPr id="24" name="wm.whiteboard.36.18"/>
          <p:cNvSpPr/>
          <p:nvPr/>
        </p:nvSpPr>
        <p:spPr>
          <a:xfrm>
            <a:off x="4381500" y="457200"/>
            <a:ext cx="38100" cy="38100"/>
          </a:xfrm>
          <a:prstGeom prst="rect">
            <a:avLst/>
          </a:prstGeom>
          <a:solidFill>
            <a:srgbClr val="CED7E6"/>
          </a:solidFill>
          <a:ln>
            <a:noFill/>
          </a:ln>
        </p:spPr>
      </p:sp>
      <p:sp>
        <p:nvSpPr>
          <p:cNvPr id="25" name="wm.whiteboard.36.36"/>
          <p:cNvSpPr/>
          <p:nvPr/>
        </p:nvSpPr>
        <p:spPr>
          <a:xfrm>
            <a:off x="4381500" y="685800"/>
            <a:ext cx="38100" cy="38100"/>
          </a:xfrm>
          <a:prstGeom prst="rect">
            <a:avLst/>
          </a:prstGeom>
          <a:solidFill>
            <a:srgbClr val="CED7E6"/>
          </a:solidFill>
          <a:ln>
            <a:noFill/>
          </a:ln>
        </p:spPr>
      </p:sp>
      <p:sp>
        <p:nvSpPr>
          <p:cNvPr id="26" name="wm.whiteboard.36.54"/>
          <p:cNvSpPr/>
          <p:nvPr/>
        </p:nvSpPr>
        <p:spPr>
          <a:xfrm>
            <a:off x="4381500" y="914400"/>
            <a:ext cx="38100" cy="38100"/>
          </a:xfrm>
          <a:prstGeom prst="rect">
            <a:avLst/>
          </a:prstGeom>
          <a:solidFill>
            <a:srgbClr val="CED7E6">
              <a:alpha val="94671"/>
            </a:srgbClr>
          </a:solidFill>
          <a:ln>
            <a:noFill/>
          </a:ln>
        </p:spPr>
      </p:sp>
      <p:sp>
        <p:nvSpPr>
          <p:cNvPr id="27" name="wm.whiteboard.36.72"/>
          <p:cNvSpPr/>
          <p:nvPr/>
        </p:nvSpPr>
        <p:spPr>
          <a:xfrm>
            <a:off x="4381500" y="1143000"/>
            <a:ext cx="38100" cy="38100"/>
          </a:xfrm>
          <a:prstGeom prst="rect">
            <a:avLst/>
          </a:prstGeom>
          <a:solidFill>
            <a:srgbClr val="CED7E6">
              <a:alpha val="79547"/>
            </a:srgbClr>
          </a:solidFill>
          <a:ln>
            <a:noFill/>
          </a:ln>
        </p:spPr>
      </p:sp>
      <p:sp>
        <p:nvSpPr>
          <p:cNvPr id="28" name="wm.whiteboard.36.90"/>
          <p:cNvSpPr/>
          <p:nvPr/>
        </p:nvSpPr>
        <p:spPr>
          <a:xfrm>
            <a:off x="4381500" y="1371600"/>
            <a:ext cx="38100" cy="38100"/>
          </a:xfrm>
          <a:prstGeom prst="rect">
            <a:avLst/>
          </a:prstGeom>
          <a:solidFill>
            <a:srgbClr val="CED7E6">
              <a:alpha val="63833"/>
            </a:srgbClr>
          </a:solidFill>
          <a:ln>
            <a:noFill/>
          </a:ln>
        </p:spPr>
      </p:sp>
      <p:sp>
        <p:nvSpPr>
          <p:cNvPr id="29" name="wm.whiteboard.36.108"/>
          <p:cNvSpPr/>
          <p:nvPr/>
        </p:nvSpPr>
        <p:spPr>
          <a:xfrm>
            <a:off x="4381500" y="1600200"/>
            <a:ext cx="38100" cy="38100"/>
          </a:xfrm>
          <a:prstGeom prst="rect">
            <a:avLst/>
          </a:prstGeom>
          <a:solidFill>
            <a:srgbClr val="CED7E6">
              <a:alpha val="47790"/>
            </a:srgbClr>
          </a:solidFill>
          <a:ln>
            <a:noFill/>
          </a:ln>
        </p:spPr>
      </p:sp>
      <p:sp>
        <p:nvSpPr>
          <p:cNvPr id="30" name="wm.whiteboard.36.126"/>
          <p:cNvSpPr/>
          <p:nvPr/>
        </p:nvSpPr>
        <p:spPr>
          <a:xfrm>
            <a:off x="4381500" y="1828800"/>
            <a:ext cx="38100" cy="38100"/>
          </a:xfrm>
          <a:prstGeom prst="rect">
            <a:avLst/>
          </a:prstGeom>
          <a:solidFill>
            <a:srgbClr val="CED7E6">
              <a:alpha val="31549"/>
            </a:srgbClr>
          </a:solidFill>
          <a:ln>
            <a:noFill/>
          </a:ln>
        </p:spPr>
      </p:sp>
      <p:sp>
        <p:nvSpPr>
          <p:cNvPr id="31" name="wm.whiteboard.36.144"/>
          <p:cNvSpPr/>
          <p:nvPr/>
        </p:nvSpPr>
        <p:spPr>
          <a:xfrm>
            <a:off x="4381500" y="2057400"/>
            <a:ext cx="38100" cy="38100"/>
          </a:xfrm>
          <a:prstGeom prst="rect">
            <a:avLst/>
          </a:prstGeom>
          <a:solidFill>
            <a:srgbClr val="CED7E6">
              <a:alpha val="15179"/>
            </a:srgbClr>
          </a:solidFill>
          <a:ln>
            <a:noFill/>
          </a:ln>
        </p:spPr>
      </p:sp>
      <p:sp>
        <p:nvSpPr>
          <p:cNvPr id="32" name="wm.whiteboard.54.0"/>
          <p:cNvSpPr/>
          <p:nvPr/>
        </p:nvSpPr>
        <p:spPr>
          <a:xfrm>
            <a:off x="4610100" y="228600"/>
            <a:ext cx="38100" cy="38100"/>
          </a:xfrm>
          <a:prstGeom prst="rect">
            <a:avLst/>
          </a:prstGeom>
          <a:solidFill>
            <a:srgbClr val="CED7E6"/>
          </a:solidFill>
          <a:ln>
            <a:noFill/>
          </a:ln>
        </p:spPr>
      </p:sp>
      <p:sp>
        <p:nvSpPr>
          <p:cNvPr id="33" name="wm.whiteboard.54.18"/>
          <p:cNvSpPr/>
          <p:nvPr/>
        </p:nvSpPr>
        <p:spPr>
          <a:xfrm>
            <a:off x="4610100" y="457200"/>
            <a:ext cx="38100" cy="38100"/>
          </a:xfrm>
          <a:prstGeom prst="rect">
            <a:avLst/>
          </a:prstGeom>
          <a:solidFill>
            <a:srgbClr val="CED7E6"/>
          </a:solidFill>
          <a:ln>
            <a:noFill/>
          </a:ln>
        </p:spPr>
      </p:sp>
      <p:sp>
        <p:nvSpPr>
          <p:cNvPr id="34" name="wm.whiteboard.54.36"/>
          <p:cNvSpPr/>
          <p:nvPr/>
        </p:nvSpPr>
        <p:spPr>
          <a:xfrm>
            <a:off x="4610100" y="685800"/>
            <a:ext cx="38100" cy="38100"/>
          </a:xfrm>
          <a:prstGeom prst="rect">
            <a:avLst/>
          </a:prstGeom>
          <a:solidFill>
            <a:srgbClr val="CED7E6">
              <a:alpha val="98827"/>
            </a:srgbClr>
          </a:solidFill>
          <a:ln>
            <a:noFill/>
          </a:ln>
        </p:spPr>
      </p:sp>
      <p:sp>
        <p:nvSpPr>
          <p:cNvPr id="35" name="wm.whiteboard.54.54"/>
          <p:cNvSpPr/>
          <p:nvPr/>
        </p:nvSpPr>
        <p:spPr>
          <a:xfrm>
            <a:off x="4610100" y="914400"/>
            <a:ext cx="38100" cy="38100"/>
          </a:xfrm>
          <a:prstGeom prst="rect">
            <a:avLst/>
          </a:prstGeom>
          <a:solidFill>
            <a:srgbClr val="CED7E6">
              <a:alpha val="86895"/>
            </a:srgbClr>
          </a:solidFill>
          <a:ln>
            <a:noFill/>
          </a:ln>
        </p:spPr>
      </p:sp>
      <p:sp>
        <p:nvSpPr>
          <p:cNvPr id="36" name="wm.whiteboard.54.72"/>
          <p:cNvSpPr/>
          <p:nvPr/>
        </p:nvSpPr>
        <p:spPr>
          <a:xfrm>
            <a:off x="4610100" y="1143000"/>
            <a:ext cx="38100" cy="38100"/>
          </a:xfrm>
          <a:prstGeom prst="rect">
            <a:avLst/>
          </a:prstGeom>
          <a:solidFill>
            <a:srgbClr val="CED7E6">
              <a:alpha val="73217"/>
            </a:srgbClr>
          </a:solidFill>
          <a:ln>
            <a:noFill/>
          </a:ln>
        </p:spPr>
      </p:sp>
      <p:sp>
        <p:nvSpPr>
          <p:cNvPr id="37" name="wm.whiteboard.54.90"/>
          <p:cNvSpPr/>
          <p:nvPr/>
        </p:nvSpPr>
        <p:spPr>
          <a:xfrm>
            <a:off x="4610100" y="1371600"/>
            <a:ext cx="38100" cy="38100"/>
          </a:xfrm>
          <a:prstGeom prst="rect">
            <a:avLst/>
          </a:prstGeom>
          <a:solidFill>
            <a:srgbClr val="CED7E6">
              <a:alpha val="58541"/>
            </a:srgbClr>
          </a:solidFill>
          <a:ln>
            <a:noFill/>
          </a:ln>
        </p:spPr>
      </p:sp>
      <p:sp>
        <p:nvSpPr>
          <p:cNvPr id="38" name="wm.whiteboard.54.108"/>
          <p:cNvSpPr/>
          <p:nvPr/>
        </p:nvSpPr>
        <p:spPr>
          <a:xfrm>
            <a:off x="4610100" y="1600200"/>
            <a:ext cx="38100" cy="38100"/>
          </a:xfrm>
          <a:prstGeom prst="rect">
            <a:avLst/>
          </a:prstGeom>
          <a:solidFill>
            <a:srgbClr val="CED7E6">
              <a:alpha val="43263"/>
            </a:srgbClr>
          </a:solidFill>
          <a:ln>
            <a:noFill/>
          </a:ln>
        </p:spPr>
      </p:sp>
      <p:sp>
        <p:nvSpPr>
          <p:cNvPr id="39" name="wm.whiteboard.54.126"/>
          <p:cNvSpPr/>
          <p:nvPr/>
        </p:nvSpPr>
        <p:spPr>
          <a:xfrm>
            <a:off x="4610100" y="1828800"/>
            <a:ext cx="38100" cy="38100"/>
          </a:xfrm>
          <a:prstGeom prst="rect">
            <a:avLst/>
          </a:prstGeom>
          <a:solidFill>
            <a:srgbClr val="CED7E6">
              <a:alpha val="27603"/>
            </a:srgbClr>
          </a:solidFill>
          <a:ln>
            <a:noFill/>
          </a:ln>
        </p:spPr>
      </p:sp>
      <p:sp>
        <p:nvSpPr>
          <p:cNvPr id="40" name="wm.whiteboard.54.144"/>
          <p:cNvSpPr/>
          <p:nvPr/>
        </p:nvSpPr>
        <p:spPr>
          <a:xfrm>
            <a:off x="4610100" y="2057400"/>
            <a:ext cx="38100" cy="38100"/>
          </a:xfrm>
          <a:prstGeom prst="rect">
            <a:avLst/>
          </a:prstGeom>
          <a:solidFill>
            <a:srgbClr val="CED7E6">
              <a:alpha val="11687"/>
            </a:srgbClr>
          </a:solidFill>
          <a:ln>
            <a:noFill/>
          </a:ln>
        </p:spPr>
      </p:sp>
      <p:sp>
        <p:nvSpPr>
          <p:cNvPr id="41" name="wm.whiteboard.72.0"/>
          <p:cNvSpPr/>
          <p:nvPr/>
        </p:nvSpPr>
        <p:spPr>
          <a:xfrm>
            <a:off x="4838700" y="228600"/>
            <a:ext cx="38100" cy="38100"/>
          </a:xfrm>
          <a:prstGeom prst="rect">
            <a:avLst/>
          </a:prstGeom>
          <a:solidFill>
            <a:srgbClr val="CED7E6">
              <a:alpha val="97572"/>
            </a:srgbClr>
          </a:solidFill>
          <a:ln>
            <a:noFill/>
          </a:ln>
        </p:spPr>
      </p:sp>
      <p:sp>
        <p:nvSpPr>
          <p:cNvPr id="42" name="wm.whiteboard.72.18"/>
          <p:cNvSpPr/>
          <p:nvPr/>
        </p:nvSpPr>
        <p:spPr>
          <a:xfrm>
            <a:off x="4838700" y="457200"/>
            <a:ext cx="38100" cy="38100"/>
          </a:xfrm>
          <a:prstGeom prst="rect">
            <a:avLst/>
          </a:prstGeom>
          <a:solidFill>
            <a:srgbClr val="CED7E6">
              <a:alpha val="94724"/>
            </a:srgbClr>
          </a:solidFill>
          <a:ln>
            <a:noFill/>
          </a:ln>
        </p:spPr>
      </p:sp>
      <p:sp>
        <p:nvSpPr>
          <p:cNvPr id="43" name="wm.whiteboard.72.36"/>
          <p:cNvSpPr/>
          <p:nvPr/>
        </p:nvSpPr>
        <p:spPr>
          <a:xfrm>
            <a:off x="4838700" y="685800"/>
            <a:ext cx="38100" cy="38100"/>
          </a:xfrm>
          <a:prstGeom prst="rect">
            <a:avLst/>
          </a:prstGeom>
          <a:solidFill>
            <a:srgbClr val="CED7E6">
              <a:alpha val="87609"/>
            </a:srgbClr>
          </a:solidFill>
          <a:ln>
            <a:noFill/>
          </a:ln>
        </p:spPr>
      </p:sp>
      <p:sp>
        <p:nvSpPr>
          <p:cNvPr id="44" name="wm.whiteboard.72.54"/>
          <p:cNvSpPr/>
          <p:nvPr/>
        </p:nvSpPr>
        <p:spPr>
          <a:xfrm>
            <a:off x="4838700" y="914400"/>
            <a:ext cx="38100" cy="38100"/>
          </a:xfrm>
          <a:prstGeom prst="rect">
            <a:avLst/>
          </a:prstGeom>
          <a:solidFill>
            <a:srgbClr val="CED7E6">
              <a:alpha val="77408"/>
            </a:srgbClr>
          </a:solidFill>
          <a:ln>
            <a:noFill/>
          </a:ln>
        </p:spPr>
      </p:sp>
      <p:sp>
        <p:nvSpPr>
          <p:cNvPr id="45" name="wm.whiteboard.72.72"/>
          <p:cNvSpPr/>
          <p:nvPr/>
        </p:nvSpPr>
        <p:spPr>
          <a:xfrm>
            <a:off x="4838700" y="1143000"/>
            <a:ext cx="38100" cy="38100"/>
          </a:xfrm>
          <a:prstGeom prst="rect">
            <a:avLst/>
          </a:prstGeom>
          <a:solidFill>
            <a:srgbClr val="CED7E6">
              <a:alpha val="65181"/>
            </a:srgbClr>
          </a:solidFill>
          <a:ln>
            <a:noFill/>
          </a:ln>
        </p:spPr>
      </p:sp>
      <p:sp>
        <p:nvSpPr>
          <p:cNvPr id="46" name="wm.whiteboard.72.90"/>
          <p:cNvSpPr/>
          <p:nvPr/>
        </p:nvSpPr>
        <p:spPr>
          <a:xfrm>
            <a:off x="4838700" y="1371600"/>
            <a:ext cx="38100" cy="38100"/>
          </a:xfrm>
          <a:prstGeom prst="rect">
            <a:avLst/>
          </a:prstGeom>
          <a:solidFill>
            <a:srgbClr val="CED7E6">
              <a:alpha val="51653"/>
            </a:srgbClr>
          </a:solidFill>
          <a:ln>
            <a:noFill/>
          </a:ln>
        </p:spPr>
      </p:sp>
      <p:sp>
        <p:nvSpPr>
          <p:cNvPr id="47" name="wm.whiteboard.72.108"/>
          <p:cNvSpPr/>
          <p:nvPr/>
        </p:nvSpPr>
        <p:spPr>
          <a:xfrm>
            <a:off x="4838700" y="1600200"/>
            <a:ext cx="38100" cy="38100"/>
          </a:xfrm>
          <a:prstGeom prst="rect">
            <a:avLst/>
          </a:prstGeom>
          <a:solidFill>
            <a:srgbClr val="CED7E6">
              <a:alpha val="37275"/>
            </a:srgbClr>
          </a:solidFill>
          <a:ln>
            <a:noFill/>
          </a:ln>
        </p:spPr>
      </p:sp>
      <p:sp>
        <p:nvSpPr>
          <p:cNvPr id="48" name="wm.whiteboard.72.126"/>
          <p:cNvSpPr/>
          <p:nvPr/>
        </p:nvSpPr>
        <p:spPr>
          <a:xfrm>
            <a:off x="4838700" y="1828800"/>
            <a:ext cx="38100" cy="38100"/>
          </a:xfrm>
          <a:prstGeom prst="rect">
            <a:avLst/>
          </a:prstGeom>
          <a:solidFill>
            <a:srgbClr val="CED7E6">
              <a:alpha val="22326"/>
            </a:srgbClr>
          </a:solidFill>
          <a:ln>
            <a:noFill/>
          </a:ln>
        </p:spPr>
      </p:sp>
      <p:sp>
        <p:nvSpPr>
          <p:cNvPr id="49" name="wm.whiteboard.72.144"/>
          <p:cNvSpPr/>
          <p:nvPr/>
        </p:nvSpPr>
        <p:spPr>
          <a:xfrm>
            <a:off x="4838700" y="2057400"/>
            <a:ext cx="38100" cy="38100"/>
          </a:xfrm>
          <a:prstGeom prst="rect">
            <a:avLst/>
          </a:prstGeom>
          <a:solidFill>
            <a:srgbClr val="CED7E6">
              <a:alpha val="6980"/>
            </a:srgbClr>
          </a:solidFill>
          <a:ln>
            <a:noFill/>
          </a:ln>
        </p:spPr>
      </p:sp>
      <p:sp>
        <p:nvSpPr>
          <p:cNvPr id="50" name="wm.whiteboard.90.0"/>
          <p:cNvSpPr/>
          <p:nvPr/>
        </p:nvSpPr>
        <p:spPr>
          <a:xfrm>
            <a:off x="5067300" y="228600"/>
            <a:ext cx="38100" cy="38100"/>
          </a:xfrm>
          <a:prstGeom prst="rect">
            <a:avLst/>
          </a:prstGeom>
          <a:solidFill>
            <a:srgbClr val="CED7E6">
              <a:alpha val="83798"/>
            </a:srgbClr>
          </a:solidFill>
          <a:ln>
            <a:noFill/>
          </a:ln>
        </p:spPr>
      </p:sp>
      <p:sp>
        <p:nvSpPr>
          <p:cNvPr id="51" name="wm.whiteboard.90.18"/>
          <p:cNvSpPr/>
          <p:nvPr/>
        </p:nvSpPr>
        <p:spPr>
          <a:xfrm>
            <a:off x="5067300" y="457200"/>
            <a:ext cx="38100" cy="38100"/>
          </a:xfrm>
          <a:prstGeom prst="rect">
            <a:avLst/>
          </a:prstGeom>
          <a:solidFill>
            <a:srgbClr val="CED7E6">
              <a:alpha val="81490"/>
            </a:srgbClr>
          </a:solidFill>
          <a:ln>
            <a:noFill/>
          </a:ln>
        </p:spPr>
      </p:sp>
      <p:sp>
        <p:nvSpPr>
          <p:cNvPr id="52" name="wm.whiteboard.90.36"/>
          <p:cNvSpPr/>
          <p:nvPr/>
        </p:nvSpPr>
        <p:spPr>
          <a:xfrm>
            <a:off x="5067300" y="685800"/>
            <a:ext cx="38100" cy="38100"/>
          </a:xfrm>
          <a:prstGeom prst="rect">
            <a:avLst/>
          </a:prstGeom>
          <a:solidFill>
            <a:srgbClr val="CED7E6">
              <a:alpha val="75569"/>
            </a:srgbClr>
          </a:solidFill>
          <a:ln>
            <a:noFill/>
          </a:ln>
        </p:spPr>
      </p:sp>
      <p:sp>
        <p:nvSpPr>
          <p:cNvPr id="53" name="wm.whiteboard.90.54"/>
          <p:cNvSpPr/>
          <p:nvPr/>
        </p:nvSpPr>
        <p:spPr>
          <a:xfrm>
            <a:off x="5067300" y="914400"/>
            <a:ext cx="38100" cy="38100"/>
          </a:xfrm>
          <a:prstGeom prst="rect">
            <a:avLst/>
          </a:prstGeom>
          <a:solidFill>
            <a:srgbClr val="CED7E6">
              <a:alpha val="66767"/>
            </a:srgbClr>
          </a:solidFill>
          <a:ln>
            <a:noFill/>
          </a:ln>
        </p:spPr>
      </p:sp>
      <p:sp>
        <p:nvSpPr>
          <p:cNvPr id="54" name="wm.whiteboard.90.72"/>
          <p:cNvSpPr/>
          <p:nvPr/>
        </p:nvSpPr>
        <p:spPr>
          <a:xfrm>
            <a:off x="5067300" y="1143000"/>
            <a:ext cx="38100" cy="38100"/>
          </a:xfrm>
          <a:prstGeom prst="rect">
            <a:avLst/>
          </a:prstGeom>
          <a:solidFill>
            <a:srgbClr val="CED7E6">
              <a:alpha val="55859"/>
            </a:srgbClr>
          </a:solidFill>
          <a:ln>
            <a:noFill/>
          </a:ln>
        </p:spPr>
      </p:sp>
      <p:sp>
        <p:nvSpPr>
          <p:cNvPr id="55" name="wm.whiteboard.90.90"/>
          <p:cNvSpPr/>
          <p:nvPr/>
        </p:nvSpPr>
        <p:spPr>
          <a:xfrm>
            <a:off x="5067300" y="1371600"/>
            <a:ext cx="38100" cy="38100"/>
          </a:xfrm>
          <a:prstGeom prst="rect">
            <a:avLst/>
          </a:prstGeom>
          <a:solidFill>
            <a:srgbClr val="CED7E6">
              <a:alpha val="43468"/>
            </a:srgbClr>
          </a:solidFill>
          <a:ln>
            <a:noFill/>
          </a:ln>
        </p:spPr>
      </p:sp>
      <p:sp>
        <p:nvSpPr>
          <p:cNvPr id="56" name="wm.whiteboard.90.108"/>
          <p:cNvSpPr/>
          <p:nvPr/>
        </p:nvSpPr>
        <p:spPr>
          <a:xfrm>
            <a:off x="5067300" y="1600200"/>
            <a:ext cx="38100" cy="38100"/>
          </a:xfrm>
          <a:prstGeom prst="rect">
            <a:avLst/>
          </a:prstGeom>
          <a:solidFill>
            <a:srgbClr val="CED7E6">
              <a:alpha val="30037"/>
            </a:srgbClr>
          </a:solidFill>
          <a:ln>
            <a:noFill/>
          </a:ln>
        </p:spPr>
      </p:sp>
      <p:sp>
        <p:nvSpPr>
          <p:cNvPr id="57" name="wm.whiteboard.90.126"/>
          <p:cNvSpPr/>
          <p:nvPr/>
        </p:nvSpPr>
        <p:spPr>
          <a:xfrm>
            <a:off x="5067300" y="1828800"/>
            <a:ext cx="38100" cy="38100"/>
          </a:xfrm>
          <a:prstGeom prst="rect">
            <a:avLst/>
          </a:prstGeom>
          <a:solidFill>
            <a:srgbClr val="CED7E6">
              <a:alpha val="15870"/>
            </a:srgbClr>
          </a:solidFill>
          <a:ln>
            <a:noFill/>
          </a:ln>
        </p:spPr>
      </p:sp>
      <p:sp>
        <p:nvSpPr>
          <p:cNvPr id="58" name="wm.whiteboard.90.144"/>
          <p:cNvSpPr/>
          <p:nvPr/>
        </p:nvSpPr>
        <p:spPr>
          <a:xfrm>
            <a:off x="5067300" y="2057400"/>
            <a:ext cx="38100" cy="38100"/>
          </a:xfrm>
          <a:prstGeom prst="rect">
            <a:avLst/>
          </a:prstGeom>
          <a:solidFill>
            <a:srgbClr val="CED7E6">
              <a:alpha val="1171"/>
            </a:srgbClr>
          </a:solidFill>
          <a:ln>
            <a:noFill/>
          </a:ln>
        </p:spPr>
      </p:sp>
      <p:sp>
        <p:nvSpPr>
          <p:cNvPr id="59" name="wm.whiteboard.108.0"/>
          <p:cNvSpPr/>
          <p:nvPr/>
        </p:nvSpPr>
        <p:spPr>
          <a:xfrm>
            <a:off x="5295900" y="228600"/>
            <a:ext cx="38100" cy="38100"/>
          </a:xfrm>
          <a:prstGeom prst="rect">
            <a:avLst/>
          </a:prstGeom>
          <a:solidFill>
            <a:srgbClr val="CED7E6">
              <a:alpha val="70023"/>
            </a:srgbClr>
          </a:solidFill>
          <a:ln>
            <a:noFill/>
          </a:ln>
        </p:spPr>
      </p:sp>
      <p:sp>
        <p:nvSpPr>
          <p:cNvPr id="60" name="wm.whiteboard.108.18"/>
          <p:cNvSpPr/>
          <p:nvPr/>
        </p:nvSpPr>
        <p:spPr>
          <a:xfrm>
            <a:off x="5295900" y="457200"/>
            <a:ext cx="38100" cy="38100"/>
          </a:xfrm>
          <a:prstGeom prst="rect">
            <a:avLst/>
          </a:prstGeom>
          <a:solidFill>
            <a:srgbClr val="CED7E6">
              <a:alpha val="68085"/>
            </a:srgbClr>
          </a:solidFill>
          <a:ln>
            <a:noFill/>
          </a:ln>
        </p:spPr>
      </p:sp>
      <p:sp>
        <p:nvSpPr>
          <p:cNvPr id="61" name="wm.whiteboard.108.36"/>
          <p:cNvSpPr/>
          <p:nvPr/>
        </p:nvSpPr>
        <p:spPr>
          <a:xfrm>
            <a:off x="5295900" y="685800"/>
            <a:ext cx="38100" cy="38100"/>
          </a:xfrm>
          <a:prstGeom prst="rect">
            <a:avLst/>
          </a:prstGeom>
          <a:solidFill>
            <a:srgbClr val="CED7E6">
              <a:alpha val="63033"/>
            </a:srgbClr>
          </a:solidFill>
          <a:ln>
            <a:noFill/>
          </a:ln>
        </p:spPr>
      </p:sp>
      <p:sp>
        <p:nvSpPr>
          <p:cNvPr id="62" name="wm.whiteboard.108.54"/>
          <p:cNvSpPr/>
          <p:nvPr/>
        </p:nvSpPr>
        <p:spPr>
          <a:xfrm>
            <a:off x="5295900" y="914400"/>
            <a:ext cx="38100" cy="38100"/>
          </a:xfrm>
          <a:prstGeom prst="rect">
            <a:avLst/>
          </a:prstGeom>
          <a:solidFill>
            <a:srgbClr val="CED7E6">
              <a:alpha val="55346"/>
            </a:srgbClr>
          </a:solidFill>
          <a:ln>
            <a:noFill/>
          </a:ln>
        </p:spPr>
      </p:sp>
      <p:sp>
        <p:nvSpPr>
          <p:cNvPr id="63" name="wm.whiteboard.108.72"/>
          <p:cNvSpPr/>
          <p:nvPr/>
        </p:nvSpPr>
        <p:spPr>
          <a:xfrm>
            <a:off x="5295900" y="1143000"/>
            <a:ext cx="38100" cy="38100"/>
          </a:xfrm>
          <a:prstGeom prst="rect">
            <a:avLst/>
          </a:prstGeom>
          <a:solidFill>
            <a:srgbClr val="CED7E6">
              <a:alpha val="45583"/>
            </a:srgbClr>
          </a:solidFill>
          <a:ln>
            <a:noFill/>
          </a:ln>
        </p:spPr>
      </p:sp>
      <p:sp>
        <p:nvSpPr>
          <p:cNvPr id="64" name="wm.whiteboard.108.90"/>
          <p:cNvSpPr/>
          <p:nvPr/>
        </p:nvSpPr>
        <p:spPr>
          <a:xfrm>
            <a:off x="5295900" y="1371600"/>
            <a:ext cx="38100" cy="38100"/>
          </a:xfrm>
          <a:prstGeom prst="rect">
            <a:avLst/>
          </a:prstGeom>
          <a:solidFill>
            <a:srgbClr val="CED7E6">
              <a:alpha val="34251"/>
            </a:srgbClr>
          </a:solidFill>
          <a:ln>
            <a:noFill/>
          </a:ln>
        </p:spPr>
      </p:sp>
      <p:sp>
        <p:nvSpPr>
          <p:cNvPr id="65" name="wm.whiteboard.108.108"/>
          <p:cNvSpPr/>
          <p:nvPr/>
        </p:nvSpPr>
        <p:spPr>
          <a:xfrm>
            <a:off x="5295900" y="1600200"/>
            <a:ext cx="38100" cy="38100"/>
          </a:xfrm>
          <a:prstGeom prst="rect">
            <a:avLst/>
          </a:prstGeom>
          <a:solidFill>
            <a:srgbClr val="CED7E6">
              <a:alpha val="21754"/>
            </a:srgbClr>
          </a:solidFill>
          <a:ln>
            <a:noFill/>
          </a:ln>
        </p:spPr>
      </p:sp>
      <p:sp>
        <p:nvSpPr>
          <p:cNvPr id="66" name="wm.whiteboard.108.126"/>
          <p:cNvSpPr/>
          <p:nvPr/>
        </p:nvSpPr>
        <p:spPr>
          <a:xfrm>
            <a:off x="5295900" y="1828800"/>
            <a:ext cx="38100" cy="38100"/>
          </a:xfrm>
          <a:prstGeom prst="rect">
            <a:avLst/>
          </a:prstGeom>
          <a:solidFill>
            <a:srgbClr val="CED7E6">
              <a:alpha val="8391"/>
            </a:srgbClr>
          </a:solidFill>
          <a:ln>
            <a:noFill/>
          </a:ln>
        </p:spPr>
      </p:sp>
      <p:sp>
        <p:nvSpPr>
          <p:cNvPr id="67" name="wm.whiteboard.126.0"/>
          <p:cNvSpPr/>
          <p:nvPr/>
        </p:nvSpPr>
        <p:spPr>
          <a:xfrm>
            <a:off x="5524500" y="228600"/>
            <a:ext cx="38100" cy="38100"/>
          </a:xfrm>
          <a:prstGeom prst="rect">
            <a:avLst/>
          </a:prstGeom>
          <a:solidFill>
            <a:srgbClr val="CED7E6">
              <a:alpha val="56247"/>
            </a:srgbClr>
          </a:solidFill>
          <a:ln>
            <a:noFill/>
          </a:ln>
        </p:spPr>
      </p:sp>
      <p:sp>
        <p:nvSpPr>
          <p:cNvPr id="68" name="wm.whiteboard.126.18"/>
          <p:cNvSpPr/>
          <p:nvPr/>
        </p:nvSpPr>
        <p:spPr>
          <a:xfrm>
            <a:off x="5524500" y="457200"/>
            <a:ext cx="38100" cy="38100"/>
          </a:xfrm>
          <a:prstGeom prst="rect">
            <a:avLst/>
          </a:prstGeom>
          <a:solidFill>
            <a:srgbClr val="CED7E6">
              <a:alpha val="54578"/>
            </a:srgbClr>
          </a:solidFill>
          <a:ln>
            <a:noFill/>
          </a:ln>
        </p:spPr>
      </p:sp>
      <p:sp>
        <p:nvSpPr>
          <p:cNvPr id="69" name="wm.whiteboard.126.36"/>
          <p:cNvSpPr/>
          <p:nvPr/>
        </p:nvSpPr>
        <p:spPr>
          <a:xfrm>
            <a:off x="5524500" y="685800"/>
            <a:ext cx="38100" cy="38100"/>
          </a:xfrm>
          <a:prstGeom prst="rect">
            <a:avLst/>
          </a:prstGeom>
          <a:solidFill>
            <a:srgbClr val="CED7E6">
              <a:alpha val="50182"/>
            </a:srgbClr>
          </a:solidFill>
          <a:ln>
            <a:noFill/>
          </a:ln>
        </p:spPr>
      </p:sp>
      <p:sp>
        <p:nvSpPr>
          <p:cNvPr id="70" name="wm.whiteboard.126.54"/>
          <p:cNvSpPr/>
          <p:nvPr/>
        </p:nvSpPr>
        <p:spPr>
          <a:xfrm>
            <a:off x="5524500" y="914400"/>
            <a:ext cx="38100" cy="38100"/>
          </a:xfrm>
          <a:prstGeom prst="rect">
            <a:avLst/>
          </a:prstGeom>
          <a:solidFill>
            <a:srgbClr val="CED7E6">
              <a:alpha val="43386"/>
            </a:srgbClr>
          </a:solidFill>
          <a:ln>
            <a:noFill/>
          </a:ln>
        </p:spPr>
      </p:sp>
      <p:sp>
        <p:nvSpPr>
          <p:cNvPr id="71" name="wm.whiteboard.126.72"/>
          <p:cNvSpPr/>
          <p:nvPr/>
        </p:nvSpPr>
        <p:spPr>
          <a:xfrm>
            <a:off x="5524500" y="1143000"/>
            <a:ext cx="38100" cy="38100"/>
          </a:xfrm>
          <a:prstGeom prst="rect">
            <a:avLst/>
          </a:prstGeom>
          <a:solidFill>
            <a:srgbClr val="CED7E6">
              <a:alpha val="34598"/>
            </a:srgbClr>
          </a:solidFill>
          <a:ln>
            <a:noFill/>
          </a:ln>
        </p:spPr>
      </p:sp>
      <p:sp>
        <p:nvSpPr>
          <p:cNvPr id="72" name="wm.whiteboard.126.90"/>
          <p:cNvSpPr/>
          <p:nvPr/>
        </p:nvSpPr>
        <p:spPr>
          <a:xfrm>
            <a:off x="5524500" y="1371600"/>
            <a:ext cx="38100" cy="38100"/>
          </a:xfrm>
          <a:prstGeom prst="rect">
            <a:avLst/>
          </a:prstGeom>
          <a:solidFill>
            <a:srgbClr val="CED7E6">
              <a:alpha val="24223"/>
            </a:srgbClr>
          </a:solidFill>
          <a:ln>
            <a:noFill/>
          </a:ln>
        </p:spPr>
      </p:sp>
      <p:sp>
        <p:nvSpPr>
          <p:cNvPr id="73" name="wm.whiteboard.126.108"/>
          <p:cNvSpPr/>
          <p:nvPr/>
        </p:nvSpPr>
        <p:spPr>
          <a:xfrm>
            <a:off x="5524500" y="1600200"/>
            <a:ext cx="38100" cy="38100"/>
          </a:xfrm>
          <a:prstGeom prst="rect">
            <a:avLst/>
          </a:prstGeom>
          <a:solidFill>
            <a:srgbClr val="CED7E6">
              <a:alpha val="12610"/>
            </a:srgbClr>
          </a:solidFill>
          <a:ln>
            <a:noFill/>
          </a:ln>
        </p:spPr>
      </p:sp>
      <p:sp>
        <p:nvSpPr>
          <p:cNvPr id="74" name="wm.whiteboard.126.126"/>
          <p:cNvSpPr/>
          <p:nvPr/>
        </p:nvSpPr>
        <p:spPr>
          <a:xfrm>
            <a:off x="5524500" y="1828800"/>
            <a:ext cx="38100" cy="38100"/>
          </a:xfrm>
          <a:prstGeom prst="rect">
            <a:avLst/>
          </a:prstGeom>
          <a:solidFill>
            <a:srgbClr val="CED7E6">
              <a:alpha val="40"/>
            </a:srgbClr>
          </a:solidFill>
          <a:ln>
            <a:noFill/>
          </a:ln>
        </p:spPr>
      </p:sp>
      <p:sp>
        <p:nvSpPr>
          <p:cNvPr id="75" name="wm.whiteboard.144.0"/>
          <p:cNvSpPr/>
          <p:nvPr/>
        </p:nvSpPr>
        <p:spPr>
          <a:xfrm>
            <a:off x="5753100" y="228600"/>
            <a:ext cx="38100" cy="38100"/>
          </a:xfrm>
          <a:prstGeom prst="rect">
            <a:avLst/>
          </a:prstGeom>
          <a:solidFill>
            <a:srgbClr val="CED7E6">
              <a:alpha val="42471"/>
            </a:srgbClr>
          </a:solidFill>
          <a:ln>
            <a:noFill/>
          </a:ln>
        </p:spPr>
      </p:sp>
      <p:sp>
        <p:nvSpPr>
          <p:cNvPr id="76" name="wm.whiteboard.144.18"/>
          <p:cNvSpPr/>
          <p:nvPr/>
        </p:nvSpPr>
        <p:spPr>
          <a:xfrm>
            <a:off x="5753100" y="457200"/>
            <a:ext cx="38100" cy="38100"/>
          </a:xfrm>
          <a:prstGeom prst="rect">
            <a:avLst/>
          </a:prstGeom>
          <a:solidFill>
            <a:srgbClr val="CED7E6">
              <a:alpha val="41005"/>
            </a:srgbClr>
          </a:solidFill>
          <a:ln>
            <a:noFill/>
          </a:ln>
        </p:spPr>
      </p:sp>
      <p:sp>
        <p:nvSpPr>
          <p:cNvPr id="77" name="wm.whiteboard.144.36"/>
          <p:cNvSpPr/>
          <p:nvPr/>
        </p:nvSpPr>
        <p:spPr>
          <a:xfrm>
            <a:off x="5753100" y="685800"/>
            <a:ext cx="38100" cy="38100"/>
          </a:xfrm>
          <a:prstGeom prst="rect">
            <a:avLst/>
          </a:prstGeom>
          <a:solidFill>
            <a:srgbClr val="CED7E6">
              <a:alpha val="37120"/>
            </a:srgbClr>
          </a:solidFill>
          <a:ln>
            <a:noFill/>
          </a:ln>
        </p:spPr>
      </p:sp>
      <p:sp>
        <p:nvSpPr>
          <p:cNvPr id="78" name="wm.whiteboard.144.54"/>
          <p:cNvSpPr/>
          <p:nvPr/>
        </p:nvSpPr>
        <p:spPr>
          <a:xfrm>
            <a:off x="5753100" y="914400"/>
            <a:ext cx="38100" cy="38100"/>
          </a:xfrm>
          <a:prstGeom prst="rect">
            <a:avLst/>
          </a:prstGeom>
          <a:solidFill>
            <a:srgbClr val="CED7E6">
              <a:alpha val="31044"/>
            </a:srgbClr>
          </a:solidFill>
          <a:ln>
            <a:noFill/>
          </a:ln>
        </p:spPr>
      </p:sp>
      <p:sp>
        <p:nvSpPr>
          <p:cNvPr id="79" name="wm.whiteboard.144.72"/>
          <p:cNvSpPr/>
          <p:nvPr/>
        </p:nvSpPr>
        <p:spPr>
          <a:xfrm>
            <a:off x="5753100" y="1143000"/>
            <a:ext cx="38100" cy="38100"/>
          </a:xfrm>
          <a:prstGeom prst="rect">
            <a:avLst/>
          </a:prstGeom>
          <a:solidFill>
            <a:srgbClr val="CED7E6">
              <a:alpha val="23083"/>
            </a:srgbClr>
          </a:solidFill>
          <a:ln>
            <a:noFill/>
          </a:ln>
        </p:spPr>
      </p:sp>
      <p:sp>
        <p:nvSpPr>
          <p:cNvPr id="80" name="wm.whiteboard.144.90"/>
          <p:cNvSpPr/>
          <p:nvPr/>
        </p:nvSpPr>
        <p:spPr>
          <a:xfrm>
            <a:off x="5753100" y="1371600"/>
            <a:ext cx="38100" cy="38100"/>
          </a:xfrm>
          <a:prstGeom prst="rect">
            <a:avLst/>
          </a:prstGeom>
          <a:solidFill>
            <a:srgbClr val="CED7E6">
              <a:alpha val="13557"/>
            </a:srgbClr>
          </a:solidFill>
          <a:ln>
            <a:noFill/>
          </a:ln>
        </p:spPr>
      </p:sp>
      <p:sp>
        <p:nvSpPr>
          <p:cNvPr id="81" name="wm.whiteboard.144.108"/>
          <p:cNvSpPr/>
          <p:nvPr/>
        </p:nvSpPr>
        <p:spPr>
          <a:xfrm>
            <a:off x="5753100" y="1600200"/>
            <a:ext cx="38100" cy="38100"/>
          </a:xfrm>
          <a:prstGeom prst="rect">
            <a:avLst/>
          </a:prstGeom>
          <a:solidFill>
            <a:srgbClr val="CED7E6">
              <a:alpha val="2762"/>
            </a:srgbClr>
          </a:solidFill>
          <a:ln>
            <a:noFill/>
          </a:ln>
        </p:spPr>
      </p:sp>
      <p:sp>
        <p:nvSpPr>
          <p:cNvPr id="82" name="wm.whiteboard.162.0"/>
          <p:cNvSpPr/>
          <p:nvPr/>
        </p:nvSpPr>
        <p:spPr>
          <a:xfrm>
            <a:off x="5981700" y="228600"/>
            <a:ext cx="38100" cy="38100"/>
          </a:xfrm>
          <a:prstGeom prst="rect">
            <a:avLst/>
          </a:prstGeom>
          <a:solidFill>
            <a:srgbClr val="CED7E6">
              <a:alpha val="28695"/>
            </a:srgbClr>
          </a:solidFill>
          <a:ln>
            <a:noFill/>
          </a:ln>
        </p:spPr>
      </p:sp>
      <p:sp>
        <p:nvSpPr>
          <p:cNvPr id="83" name="wm.whiteboard.162.18"/>
          <p:cNvSpPr/>
          <p:nvPr/>
        </p:nvSpPr>
        <p:spPr>
          <a:xfrm>
            <a:off x="5981700" y="457200"/>
            <a:ext cx="38100" cy="38100"/>
          </a:xfrm>
          <a:prstGeom prst="rect">
            <a:avLst/>
          </a:prstGeom>
          <a:solidFill>
            <a:srgbClr val="CED7E6">
              <a:alpha val="27389"/>
            </a:srgbClr>
          </a:solidFill>
          <a:ln>
            <a:noFill/>
          </a:ln>
        </p:spPr>
      </p:sp>
      <p:sp>
        <p:nvSpPr>
          <p:cNvPr id="84" name="wm.whiteboard.162.36"/>
          <p:cNvSpPr/>
          <p:nvPr/>
        </p:nvSpPr>
        <p:spPr>
          <a:xfrm>
            <a:off x="5981700" y="685800"/>
            <a:ext cx="38100" cy="38100"/>
          </a:xfrm>
          <a:prstGeom prst="rect">
            <a:avLst/>
          </a:prstGeom>
          <a:solidFill>
            <a:srgbClr val="CED7E6">
              <a:alpha val="23910"/>
            </a:srgbClr>
          </a:solidFill>
          <a:ln>
            <a:noFill/>
          </a:ln>
        </p:spPr>
      </p:sp>
      <p:sp>
        <p:nvSpPr>
          <p:cNvPr id="85" name="wm.whiteboard.162.54"/>
          <p:cNvSpPr/>
          <p:nvPr/>
        </p:nvSpPr>
        <p:spPr>
          <a:xfrm>
            <a:off x="5981700" y="914400"/>
            <a:ext cx="38100" cy="38100"/>
          </a:xfrm>
          <a:prstGeom prst="rect">
            <a:avLst/>
          </a:prstGeom>
          <a:solidFill>
            <a:srgbClr val="CED7E6">
              <a:alpha val="18425"/>
            </a:srgbClr>
          </a:solidFill>
          <a:ln>
            <a:noFill/>
          </a:ln>
        </p:spPr>
      </p:sp>
      <p:sp>
        <p:nvSpPr>
          <p:cNvPr id="86" name="wm.whiteboard.162.72"/>
          <p:cNvSpPr/>
          <p:nvPr/>
        </p:nvSpPr>
        <p:spPr>
          <a:xfrm>
            <a:off x="5981700" y="1143000"/>
            <a:ext cx="38100" cy="38100"/>
          </a:xfrm>
          <a:prstGeom prst="rect">
            <a:avLst/>
          </a:prstGeom>
          <a:solidFill>
            <a:srgbClr val="CED7E6">
              <a:alpha val="11167"/>
            </a:srgbClr>
          </a:solidFill>
          <a:ln>
            <a:noFill/>
          </a:ln>
        </p:spPr>
      </p:sp>
      <p:sp>
        <p:nvSpPr>
          <p:cNvPr id="87" name="wm.whiteboard.162.90"/>
          <p:cNvSpPr/>
          <p:nvPr/>
        </p:nvSpPr>
        <p:spPr>
          <a:xfrm>
            <a:off x="5981700" y="1371600"/>
            <a:ext cx="38100" cy="38100"/>
          </a:xfrm>
          <a:prstGeom prst="rect">
            <a:avLst/>
          </a:prstGeom>
          <a:solidFill>
            <a:srgbClr val="CED7E6">
              <a:alpha val="2388"/>
            </a:srgbClr>
          </a:solidFill>
          <a:ln>
            <a:noFill/>
          </a:ln>
        </p:spPr>
      </p:sp>
      <p:sp>
        <p:nvSpPr>
          <p:cNvPr id="88" name="wm.whiteboard.180.0"/>
          <p:cNvSpPr/>
          <p:nvPr/>
        </p:nvSpPr>
        <p:spPr>
          <a:xfrm>
            <a:off x="6210300" y="228600"/>
            <a:ext cx="38100" cy="38100"/>
          </a:xfrm>
          <a:prstGeom prst="rect">
            <a:avLst/>
          </a:prstGeom>
          <a:solidFill>
            <a:srgbClr val="CED7E6">
              <a:alpha val="14918"/>
            </a:srgbClr>
          </a:solidFill>
          <a:ln>
            <a:noFill/>
          </a:ln>
        </p:spPr>
      </p:sp>
      <p:sp>
        <p:nvSpPr>
          <p:cNvPr id="89" name="wm.whiteboard.180.18"/>
          <p:cNvSpPr/>
          <p:nvPr/>
        </p:nvSpPr>
        <p:spPr>
          <a:xfrm>
            <a:off x="6210300" y="457200"/>
            <a:ext cx="38100" cy="38100"/>
          </a:xfrm>
          <a:prstGeom prst="rect">
            <a:avLst/>
          </a:prstGeom>
          <a:solidFill>
            <a:srgbClr val="CED7E6">
              <a:alpha val="13741"/>
            </a:srgbClr>
          </a:solidFill>
          <a:ln>
            <a:noFill/>
          </a:ln>
        </p:spPr>
      </p:sp>
      <p:sp>
        <p:nvSpPr>
          <p:cNvPr id="90" name="wm.whiteboard.180.36"/>
          <p:cNvSpPr/>
          <p:nvPr/>
        </p:nvSpPr>
        <p:spPr>
          <a:xfrm>
            <a:off x="6210300" y="685800"/>
            <a:ext cx="38100" cy="38100"/>
          </a:xfrm>
          <a:prstGeom prst="rect">
            <a:avLst/>
          </a:prstGeom>
          <a:solidFill>
            <a:srgbClr val="CED7E6">
              <a:alpha val="10593"/>
            </a:srgbClr>
          </a:solidFill>
          <a:ln>
            <a:noFill/>
          </a:ln>
        </p:spPr>
      </p:sp>
      <p:sp>
        <p:nvSpPr>
          <p:cNvPr id="91" name="wm.whiteboard.180.54"/>
          <p:cNvSpPr/>
          <p:nvPr/>
        </p:nvSpPr>
        <p:spPr>
          <a:xfrm>
            <a:off x="6210300" y="914400"/>
            <a:ext cx="38100" cy="38100"/>
          </a:xfrm>
          <a:prstGeom prst="rect">
            <a:avLst/>
          </a:prstGeom>
          <a:solidFill>
            <a:srgbClr val="CED7E6">
              <a:alpha val="5600"/>
            </a:srgbClr>
          </a:solidFill>
          <a:ln>
            <a:noFill/>
          </a:ln>
        </p:spPr>
      </p:sp>
      <p:sp>
        <p:nvSpPr>
          <p:cNvPr id="92" name="wm.whiteboard.198.0"/>
          <p:cNvSpPr/>
          <p:nvPr/>
        </p:nvSpPr>
        <p:spPr>
          <a:xfrm>
            <a:off x="6438900" y="228600"/>
            <a:ext cx="38100" cy="38100"/>
          </a:xfrm>
          <a:prstGeom prst="rect">
            <a:avLst/>
          </a:prstGeom>
          <a:solidFill>
            <a:srgbClr val="CED7E6">
              <a:alpha val="1142"/>
            </a:srgbClr>
          </a:solidFill>
          <a:ln>
            <a:noFill/>
          </a:ln>
        </p:spPr>
      </p:sp>
      <p:sp>
        <p:nvSpPr>
          <p:cNvPr id="93" name="wm.whiteboard.198.18"/>
          <p:cNvSpPr/>
          <p:nvPr/>
        </p:nvSpPr>
        <p:spPr>
          <a:xfrm>
            <a:off x="6438900" y="457200"/>
            <a:ext cx="38100" cy="38100"/>
          </a:xfrm>
          <a:prstGeom prst="rect">
            <a:avLst/>
          </a:prstGeom>
          <a:solidFill>
            <a:srgbClr val="CED7E6">
              <a:alpha val="69"/>
            </a:srgbClr>
          </a:solidFill>
          <a:ln>
            <a:noFill/>
          </a:ln>
        </p:spPr>
      </p:sp>
      <p:sp>
        <p:nvSpPr>
          <p:cNvPr id="94" name="wm.header.rule"/>
          <p:cNvSpPr/>
          <p:nvPr/>
        </p:nvSpPr>
        <p:spPr>
          <a:xfrm>
            <a:off x="4381500" y="18288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wmds.frame.592f39e1ac4fbb3a592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wmds.frame.cfd50940dcc715534324">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wmds.frame.7a57b1feae2e91b1900f">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wmds.frame.d51e7c395b982bc2b8ee">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8288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wmds.frame.495c9d01d3dcb665064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wmds.frame.d2e087a720e70dd502ed">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wmds.frame.708f542bbe0b6615882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wmds.frame.bc8dc65b84715bf43f70">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pic>
        <p:nvPicPr>
          <p:cNvPr id="4"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5"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wmds.frame.692319499296f1674430">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2865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6" name="wm.legal"/>
          <p:cNvSpPr/>
          <p:nvPr/>
        </p:nvSpPr>
        <p:spPr>
          <a:xfrm>
            <a:off x="2171700" y="6419850"/>
            <a:ext cx="8915400" cy="1143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wmds.frame.36729c3c09d4ab875fae">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2865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6" name="wm.legal"/>
          <p:cNvSpPr/>
          <p:nvPr/>
        </p:nvSpPr>
        <p:spPr>
          <a:xfrm>
            <a:off x="2171700" y="6419850"/>
            <a:ext cx="8915400" cy="1143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wmds.frame.35f4ac6a035d68d48d30">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wmds.frame.4f047a8330c1be2128bc">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wmds.frame.33634671705f8a2761c7">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sp>
        <p:nvSpPr>
          <p:cNvPr id="95" name="wm.header.rule"/>
          <p:cNvSpPr/>
          <p:nvPr/>
        </p:nvSpPr>
        <p:spPr>
          <a:xfrm>
            <a:off x="43815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wmds.frame.03f2044367179651ea3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wmds.frame.b38837d6f3b2841c974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3924300" y="228600"/>
            <a:ext cx="38100" cy="38100"/>
          </a:xfrm>
          <a:prstGeom prst="rect">
            <a:avLst/>
          </a:prstGeom>
          <a:solidFill>
            <a:srgbClr val="CED7E6"/>
          </a:solidFill>
          <a:ln>
            <a:noFill/>
          </a:ln>
        </p:spPr>
      </p:sp>
      <p:sp>
        <p:nvSpPr>
          <p:cNvPr id="4" name="wm.whiteboard.0.18"/>
          <p:cNvSpPr/>
          <p:nvPr/>
        </p:nvSpPr>
        <p:spPr>
          <a:xfrm>
            <a:off x="3924300" y="457200"/>
            <a:ext cx="38100" cy="38100"/>
          </a:xfrm>
          <a:prstGeom prst="rect">
            <a:avLst/>
          </a:prstGeom>
          <a:solidFill>
            <a:srgbClr val="CED7E6"/>
          </a:solidFill>
          <a:ln>
            <a:noFill/>
          </a:ln>
        </p:spPr>
      </p:sp>
      <p:sp>
        <p:nvSpPr>
          <p:cNvPr id="5" name="wm.whiteboard.0.36"/>
          <p:cNvSpPr/>
          <p:nvPr/>
        </p:nvSpPr>
        <p:spPr>
          <a:xfrm>
            <a:off x="3924300" y="685800"/>
            <a:ext cx="38100" cy="38100"/>
          </a:xfrm>
          <a:prstGeom prst="rect">
            <a:avLst/>
          </a:prstGeom>
          <a:solidFill>
            <a:srgbClr val="CED7E6"/>
          </a:solidFill>
          <a:ln>
            <a:noFill/>
          </a:ln>
        </p:spPr>
      </p:sp>
      <p:sp>
        <p:nvSpPr>
          <p:cNvPr id="6" name="wm.whiteboard.0.54"/>
          <p:cNvSpPr/>
          <p:nvPr/>
        </p:nvSpPr>
        <p:spPr>
          <a:xfrm>
            <a:off x="3924300" y="914400"/>
            <a:ext cx="38100" cy="38100"/>
          </a:xfrm>
          <a:prstGeom prst="rect">
            <a:avLst/>
          </a:prstGeom>
          <a:solidFill>
            <a:srgbClr val="CED7E6"/>
          </a:solidFill>
          <a:ln>
            <a:noFill/>
          </a:ln>
        </p:spPr>
      </p:sp>
      <p:sp>
        <p:nvSpPr>
          <p:cNvPr id="7" name="wm.whiteboard.0.72"/>
          <p:cNvSpPr/>
          <p:nvPr/>
        </p:nvSpPr>
        <p:spPr>
          <a:xfrm>
            <a:off x="3924300" y="1143000"/>
            <a:ext cx="38100" cy="38100"/>
          </a:xfrm>
          <a:prstGeom prst="rect">
            <a:avLst/>
          </a:prstGeom>
          <a:solidFill>
            <a:srgbClr val="CED7E6">
              <a:alpha val="85305"/>
            </a:srgbClr>
          </a:solidFill>
          <a:ln>
            <a:noFill/>
          </a:ln>
        </p:spPr>
      </p:sp>
      <p:sp>
        <p:nvSpPr>
          <p:cNvPr id="8" name="wm.whiteboard.0.90"/>
          <p:cNvSpPr/>
          <p:nvPr/>
        </p:nvSpPr>
        <p:spPr>
          <a:xfrm>
            <a:off x="3924300" y="1371600"/>
            <a:ext cx="38100" cy="38100"/>
          </a:xfrm>
          <a:prstGeom prst="rect">
            <a:avLst/>
          </a:prstGeom>
          <a:solidFill>
            <a:srgbClr val="CED7E6">
              <a:alpha val="68524"/>
            </a:srgbClr>
          </a:solidFill>
          <a:ln>
            <a:noFill/>
          </a:ln>
        </p:spPr>
      </p:sp>
      <p:sp>
        <p:nvSpPr>
          <p:cNvPr id="9" name="wm.whiteboard.0.108"/>
          <p:cNvSpPr/>
          <p:nvPr/>
        </p:nvSpPr>
        <p:spPr>
          <a:xfrm>
            <a:off x="3924300" y="1600200"/>
            <a:ext cx="38100" cy="38100"/>
          </a:xfrm>
          <a:prstGeom prst="rect">
            <a:avLst/>
          </a:prstGeom>
          <a:solidFill>
            <a:srgbClr val="CED7E6">
              <a:alpha val="51742"/>
            </a:srgbClr>
          </a:solidFill>
          <a:ln>
            <a:noFill/>
          </a:ln>
        </p:spPr>
      </p:sp>
      <p:sp>
        <p:nvSpPr>
          <p:cNvPr id="10" name="wm.whiteboard.0.126"/>
          <p:cNvSpPr/>
          <p:nvPr/>
        </p:nvSpPr>
        <p:spPr>
          <a:xfrm>
            <a:off x="3924300" y="1828800"/>
            <a:ext cx="38100" cy="38100"/>
          </a:xfrm>
          <a:prstGeom prst="rect">
            <a:avLst/>
          </a:prstGeom>
          <a:solidFill>
            <a:srgbClr val="CED7E6">
              <a:alpha val="34959"/>
            </a:srgbClr>
          </a:solidFill>
          <a:ln>
            <a:noFill/>
          </a:ln>
        </p:spPr>
      </p:sp>
      <p:sp>
        <p:nvSpPr>
          <p:cNvPr id="11" name="wm.whiteboard.0.144"/>
          <p:cNvSpPr/>
          <p:nvPr/>
        </p:nvSpPr>
        <p:spPr>
          <a:xfrm>
            <a:off x="3924300" y="2057400"/>
            <a:ext cx="38100" cy="38100"/>
          </a:xfrm>
          <a:prstGeom prst="rect">
            <a:avLst/>
          </a:prstGeom>
          <a:solidFill>
            <a:srgbClr val="CED7E6">
              <a:alpha val="18177"/>
            </a:srgbClr>
          </a:solidFill>
          <a:ln>
            <a:noFill/>
          </a:ln>
        </p:spPr>
      </p:sp>
      <p:sp>
        <p:nvSpPr>
          <p:cNvPr id="12" name="wm.whiteboard.0.162"/>
          <p:cNvSpPr/>
          <p:nvPr/>
        </p:nvSpPr>
        <p:spPr>
          <a:xfrm>
            <a:off x="3924300" y="2286000"/>
            <a:ext cx="38100" cy="38100"/>
          </a:xfrm>
          <a:prstGeom prst="rect">
            <a:avLst/>
          </a:prstGeom>
          <a:solidFill>
            <a:srgbClr val="CED7E6">
              <a:alpha val="1394"/>
            </a:srgbClr>
          </a:solidFill>
          <a:ln>
            <a:noFill/>
          </a:ln>
        </p:spPr>
      </p:sp>
      <p:sp>
        <p:nvSpPr>
          <p:cNvPr id="13" name="wm.whiteboard.18.0"/>
          <p:cNvSpPr/>
          <p:nvPr/>
        </p:nvSpPr>
        <p:spPr>
          <a:xfrm>
            <a:off x="4152900" y="228600"/>
            <a:ext cx="38100" cy="38100"/>
          </a:xfrm>
          <a:prstGeom prst="rect">
            <a:avLst/>
          </a:prstGeom>
          <a:solidFill>
            <a:srgbClr val="CED7E6"/>
          </a:solidFill>
          <a:ln>
            <a:noFill/>
          </a:ln>
        </p:spPr>
      </p:sp>
      <p:sp>
        <p:nvSpPr>
          <p:cNvPr id="14" name="wm.whiteboard.18.18"/>
          <p:cNvSpPr/>
          <p:nvPr/>
        </p:nvSpPr>
        <p:spPr>
          <a:xfrm>
            <a:off x="4152900" y="457200"/>
            <a:ext cx="38100" cy="38100"/>
          </a:xfrm>
          <a:prstGeom prst="rect">
            <a:avLst/>
          </a:prstGeom>
          <a:solidFill>
            <a:srgbClr val="CED7E6"/>
          </a:solidFill>
          <a:ln>
            <a:noFill/>
          </a:ln>
        </p:spPr>
      </p:sp>
      <p:sp>
        <p:nvSpPr>
          <p:cNvPr id="15" name="wm.whiteboard.18.36"/>
          <p:cNvSpPr/>
          <p:nvPr/>
        </p:nvSpPr>
        <p:spPr>
          <a:xfrm>
            <a:off x="4152900" y="685800"/>
            <a:ext cx="38100" cy="38100"/>
          </a:xfrm>
          <a:prstGeom prst="rect">
            <a:avLst/>
          </a:prstGeom>
          <a:solidFill>
            <a:srgbClr val="CED7E6"/>
          </a:solidFill>
          <a:ln>
            <a:noFill/>
          </a:ln>
        </p:spPr>
      </p:sp>
      <p:sp>
        <p:nvSpPr>
          <p:cNvPr id="16" name="wm.whiteboard.18.54"/>
          <p:cNvSpPr/>
          <p:nvPr/>
        </p:nvSpPr>
        <p:spPr>
          <a:xfrm>
            <a:off x="4152900" y="914400"/>
            <a:ext cx="38100" cy="38100"/>
          </a:xfrm>
          <a:prstGeom prst="rect">
            <a:avLst/>
          </a:prstGeom>
          <a:solidFill>
            <a:srgbClr val="CED7E6">
              <a:alpha val="99988"/>
            </a:srgbClr>
          </a:solidFill>
          <a:ln>
            <a:noFill/>
          </a:ln>
        </p:spPr>
      </p:sp>
      <p:sp>
        <p:nvSpPr>
          <p:cNvPr id="17" name="wm.whiteboard.18.72"/>
          <p:cNvSpPr/>
          <p:nvPr/>
        </p:nvSpPr>
        <p:spPr>
          <a:xfrm>
            <a:off x="4152900" y="1143000"/>
            <a:ext cx="38100" cy="38100"/>
          </a:xfrm>
          <a:prstGeom prst="rect">
            <a:avLst/>
          </a:prstGeom>
          <a:solidFill>
            <a:srgbClr val="CED7E6">
              <a:alpha val="83708"/>
            </a:srgbClr>
          </a:solidFill>
          <a:ln>
            <a:noFill/>
          </a:ln>
        </p:spPr>
      </p:sp>
      <p:sp>
        <p:nvSpPr>
          <p:cNvPr id="18" name="wm.whiteboard.18.90"/>
          <p:cNvSpPr/>
          <p:nvPr/>
        </p:nvSpPr>
        <p:spPr>
          <a:xfrm>
            <a:off x="4152900" y="1371600"/>
            <a:ext cx="38100" cy="38100"/>
          </a:xfrm>
          <a:prstGeom prst="rect">
            <a:avLst/>
          </a:prstGeom>
          <a:solidFill>
            <a:srgbClr val="CED7E6">
              <a:alpha val="67236"/>
            </a:srgbClr>
          </a:solidFill>
          <a:ln>
            <a:noFill/>
          </a:ln>
        </p:spPr>
      </p:sp>
      <p:sp>
        <p:nvSpPr>
          <p:cNvPr id="19" name="wm.whiteboard.18.108"/>
          <p:cNvSpPr/>
          <p:nvPr/>
        </p:nvSpPr>
        <p:spPr>
          <a:xfrm>
            <a:off x="4152900" y="1600200"/>
            <a:ext cx="38100" cy="38100"/>
          </a:xfrm>
          <a:prstGeom prst="rect">
            <a:avLst/>
          </a:prstGeom>
          <a:solidFill>
            <a:srgbClr val="CED7E6">
              <a:alpha val="50663"/>
            </a:srgbClr>
          </a:solidFill>
          <a:ln>
            <a:noFill/>
          </a:ln>
        </p:spPr>
      </p:sp>
      <p:sp>
        <p:nvSpPr>
          <p:cNvPr id="20" name="wm.whiteboard.18.126"/>
          <p:cNvSpPr/>
          <p:nvPr/>
        </p:nvSpPr>
        <p:spPr>
          <a:xfrm>
            <a:off x="4152900" y="1828800"/>
            <a:ext cx="38100" cy="38100"/>
          </a:xfrm>
          <a:prstGeom prst="rect">
            <a:avLst/>
          </a:prstGeom>
          <a:solidFill>
            <a:srgbClr val="CED7E6">
              <a:alpha val="34032"/>
            </a:srgbClr>
          </a:solidFill>
          <a:ln>
            <a:noFill/>
          </a:ln>
        </p:spPr>
      </p:sp>
      <p:sp>
        <p:nvSpPr>
          <p:cNvPr id="21" name="wm.whiteboard.18.144"/>
          <p:cNvSpPr/>
          <p:nvPr/>
        </p:nvSpPr>
        <p:spPr>
          <a:xfrm>
            <a:off x="4152900" y="2057400"/>
            <a:ext cx="38100" cy="38100"/>
          </a:xfrm>
          <a:prstGeom prst="rect">
            <a:avLst/>
          </a:prstGeom>
          <a:solidFill>
            <a:srgbClr val="CED7E6">
              <a:alpha val="17363"/>
            </a:srgbClr>
          </a:solidFill>
          <a:ln>
            <a:noFill/>
          </a:ln>
        </p:spPr>
      </p:sp>
      <p:sp>
        <p:nvSpPr>
          <p:cNvPr id="22" name="wm.whiteboard.18.162"/>
          <p:cNvSpPr/>
          <p:nvPr/>
        </p:nvSpPr>
        <p:spPr>
          <a:xfrm>
            <a:off x="4152900" y="2286000"/>
            <a:ext cx="38100" cy="38100"/>
          </a:xfrm>
          <a:prstGeom prst="rect">
            <a:avLst/>
          </a:prstGeom>
          <a:solidFill>
            <a:srgbClr val="CED7E6">
              <a:alpha val="670"/>
            </a:srgbClr>
          </a:solidFill>
          <a:ln>
            <a:noFill/>
          </a:ln>
        </p:spPr>
      </p:sp>
      <p:sp>
        <p:nvSpPr>
          <p:cNvPr id="23" name="wm.whiteboard.36.0"/>
          <p:cNvSpPr/>
          <p:nvPr/>
        </p:nvSpPr>
        <p:spPr>
          <a:xfrm>
            <a:off x="4381500" y="228600"/>
            <a:ext cx="38100" cy="38100"/>
          </a:xfrm>
          <a:prstGeom prst="rect">
            <a:avLst/>
          </a:prstGeom>
          <a:solidFill>
            <a:srgbClr val="CED7E6"/>
          </a:solidFill>
          <a:ln>
            <a:noFill/>
          </a:ln>
        </p:spPr>
      </p:sp>
      <p:sp>
        <p:nvSpPr>
          <p:cNvPr id="24" name="wm.whiteboard.36.18"/>
          <p:cNvSpPr/>
          <p:nvPr/>
        </p:nvSpPr>
        <p:spPr>
          <a:xfrm>
            <a:off x="4381500" y="457200"/>
            <a:ext cx="38100" cy="38100"/>
          </a:xfrm>
          <a:prstGeom prst="rect">
            <a:avLst/>
          </a:prstGeom>
          <a:solidFill>
            <a:srgbClr val="CED7E6"/>
          </a:solidFill>
          <a:ln>
            <a:noFill/>
          </a:ln>
        </p:spPr>
      </p:sp>
      <p:sp>
        <p:nvSpPr>
          <p:cNvPr id="25" name="wm.whiteboard.36.36"/>
          <p:cNvSpPr/>
          <p:nvPr/>
        </p:nvSpPr>
        <p:spPr>
          <a:xfrm>
            <a:off x="4381500" y="685800"/>
            <a:ext cx="38100" cy="38100"/>
          </a:xfrm>
          <a:prstGeom prst="rect">
            <a:avLst/>
          </a:prstGeom>
          <a:solidFill>
            <a:srgbClr val="CED7E6"/>
          </a:solidFill>
          <a:ln>
            <a:noFill/>
          </a:ln>
        </p:spPr>
      </p:sp>
      <p:sp>
        <p:nvSpPr>
          <p:cNvPr id="26" name="wm.whiteboard.36.54"/>
          <p:cNvSpPr/>
          <p:nvPr/>
        </p:nvSpPr>
        <p:spPr>
          <a:xfrm>
            <a:off x="4381500" y="914400"/>
            <a:ext cx="38100" cy="38100"/>
          </a:xfrm>
          <a:prstGeom prst="rect">
            <a:avLst/>
          </a:prstGeom>
          <a:solidFill>
            <a:srgbClr val="CED7E6">
              <a:alpha val="94671"/>
            </a:srgbClr>
          </a:solidFill>
          <a:ln>
            <a:noFill/>
          </a:ln>
        </p:spPr>
      </p:sp>
      <p:sp>
        <p:nvSpPr>
          <p:cNvPr id="27" name="wm.whiteboard.36.72"/>
          <p:cNvSpPr/>
          <p:nvPr/>
        </p:nvSpPr>
        <p:spPr>
          <a:xfrm>
            <a:off x="4381500" y="1143000"/>
            <a:ext cx="38100" cy="38100"/>
          </a:xfrm>
          <a:prstGeom prst="rect">
            <a:avLst/>
          </a:prstGeom>
          <a:solidFill>
            <a:srgbClr val="CED7E6">
              <a:alpha val="79547"/>
            </a:srgbClr>
          </a:solidFill>
          <a:ln>
            <a:noFill/>
          </a:ln>
        </p:spPr>
      </p:sp>
      <p:sp>
        <p:nvSpPr>
          <p:cNvPr id="28" name="wm.whiteboard.36.90"/>
          <p:cNvSpPr/>
          <p:nvPr/>
        </p:nvSpPr>
        <p:spPr>
          <a:xfrm>
            <a:off x="4381500" y="1371600"/>
            <a:ext cx="38100" cy="38100"/>
          </a:xfrm>
          <a:prstGeom prst="rect">
            <a:avLst/>
          </a:prstGeom>
          <a:solidFill>
            <a:srgbClr val="CED7E6">
              <a:alpha val="63833"/>
            </a:srgbClr>
          </a:solidFill>
          <a:ln>
            <a:noFill/>
          </a:ln>
        </p:spPr>
      </p:sp>
      <p:sp>
        <p:nvSpPr>
          <p:cNvPr id="29" name="wm.whiteboard.36.108"/>
          <p:cNvSpPr/>
          <p:nvPr/>
        </p:nvSpPr>
        <p:spPr>
          <a:xfrm>
            <a:off x="4381500" y="1600200"/>
            <a:ext cx="38100" cy="38100"/>
          </a:xfrm>
          <a:prstGeom prst="rect">
            <a:avLst/>
          </a:prstGeom>
          <a:solidFill>
            <a:srgbClr val="CED7E6">
              <a:alpha val="47790"/>
            </a:srgbClr>
          </a:solidFill>
          <a:ln>
            <a:noFill/>
          </a:ln>
        </p:spPr>
      </p:sp>
      <p:sp>
        <p:nvSpPr>
          <p:cNvPr id="30" name="wm.whiteboard.36.126"/>
          <p:cNvSpPr/>
          <p:nvPr/>
        </p:nvSpPr>
        <p:spPr>
          <a:xfrm>
            <a:off x="4381500" y="1828800"/>
            <a:ext cx="38100" cy="38100"/>
          </a:xfrm>
          <a:prstGeom prst="rect">
            <a:avLst/>
          </a:prstGeom>
          <a:solidFill>
            <a:srgbClr val="CED7E6">
              <a:alpha val="31549"/>
            </a:srgbClr>
          </a:solidFill>
          <a:ln>
            <a:noFill/>
          </a:ln>
        </p:spPr>
      </p:sp>
      <p:sp>
        <p:nvSpPr>
          <p:cNvPr id="31" name="wm.whiteboard.36.144"/>
          <p:cNvSpPr/>
          <p:nvPr/>
        </p:nvSpPr>
        <p:spPr>
          <a:xfrm>
            <a:off x="4381500" y="2057400"/>
            <a:ext cx="38100" cy="38100"/>
          </a:xfrm>
          <a:prstGeom prst="rect">
            <a:avLst/>
          </a:prstGeom>
          <a:solidFill>
            <a:srgbClr val="CED7E6">
              <a:alpha val="15179"/>
            </a:srgbClr>
          </a:solidFill>
          <a:ln>
            <a:noFill/>
          </a:ln>
        </p:spPr>
      </p:sp>
      <p:sp>
        <p:nvSpPr>
          <p:cNvPr id="32" name="wm.whiteboard.54.0"/>
          <p:cNvSpPr/>
          <p:nvPr/>
        </p:nvSpPr>
        <p:spPr>
          <a:xfrm>
            <a:off x="4610100" y="228600"/>
            <a:ext cx="38100" cy="38100"/>
          </a:xfrm>
          <a:prstGeom prst="rect">
            <a:avLst/>
          </a:prstGeom>
          <a:solidFill>
            <a:srgbClr val="CED7E6"/>
          </a:solidFill>
          <a:ln>
            <a:noFill/>
          </a:ln>
        </p:spPr>
      </p:sp>
      <p:sp>
        <p:nvSpPr>
          <p:cNvPr id="33" name="wm.whiteboard.54.18"/>
          <p:cNvSpPr/>
          <p:nvPr/>
        </p:nvSpPr>
        <p:spPr>
          <a:xfrm>
            <a:off x="4610100" y="457200"/>
            <a:ext cx="38100" cy="38100"/>
          </a:xfrm>
          <a:prstGeom prst="rect">
            <a:avLst/>
          </a:prstGeom>
          <a:solidFill>
            <a:srgbClr val="CED7E6"/>
          </a:solidFill>
          <a:ln>
            <a:noFill/>
          </a:ln>
        </p:spPr>
      </p:sp>
      <p:sp>
        <p:nvSpPr>
          <p:cNvPr id="34" name="wm.whiteboard.54.36"/>
          <p:cNvSpPr/>
          <p:nvPr/>
        </p:nvSpPr>
        <p:spPr>
          <a:xfrm>
            <a:off x="4610100" y="685800"/>
            <a:ext cx="38100" cy="38100"/>
          </a:xfrm>
          <a:prstGeom prst="rect">
            <a:avLst/>
          </a:prstGeom>
          <a:solidFill>
            <a:srgbClr val="CED7E6">
              <a:alpha val="98827"/>
            </a:srgbClr>
          </a:solidFill>
          <a:ln>
            <a:noFill/>
          </a:ln>
        </p:spPr>
      </p:sp>
      <p:sp>
        <p:nvSpPr>
          <p:cNvPr id="35" name="wm.whiteboard.54.54"/>
          <p:cNvSpPr/>
          <p:nvPr/>
        </p:nvSpPr>
        <p:spPr>
          <a:xfrm>
            <a:off x="4610100" y="914400"/>
            <a:ext cx="38100" cy="38100"/>
          </a:xfrm>
          <a:prstGeom prst="rect">
            <a:avLst/>
          </a:prstGeom>
          <a:solidFill>
            <a:srgbClr val="CED7E6">
              <a:alpha val="86895"/>
            </a:srgbClr>
          </a:solidFill>
          <a:ln>
            <a:noFill/>
          </a:ln>
        </p:spPr>
      </p:sp>
      <p:sp>
        <p:nvSpPr>
          <p:cNvPr id="36" name="wm.whiteboard.54.72"/>
          <p:cNvSpPr/>
          <p:nvPr/>
        </p:nvSpPr>
        <p:spPr>
          <a:xfrm>
            <a:off x="4610100" y="1143000"/>
            <a:ext cx="38100" cy="38100"/>
          </a:xfrm>
          <a:prstGeom prst="rect">
            <a:avLst/>
          </a:prstGeom>
          <a:solidFill>
            <a:srgbClr val="CED7E6">
              <a:alpha val="73217"/>
            </a:srgbClr>
          </a:solidFill>
          <a:ln>
            <a:noFill/>
          </a:ln>
        </p:spPr>
      </p:sp>
      <p:sp>
        <p:nvSpPr>
          <p:cNvPr id="37" name="wm.whiteboard.54.90"/>
          <p:cNvSpPr/>
          <p:nvPr/>
        </p:nvSpPr>
        <p:spPr>
          <a:xfrm>
            <a:off x="4610100" y="1371600"/>
            <a:ext cx="38100" cy="38100"/>
          </a:xfrm>
          <a:prstGeom prst="rect">
            <a:avLst/>
          </a:prstGeom>
          <a:solidFill>
            <a:srgbClr val="CED7E6">
              <a:alpha val="58541"/>
            </a:srgbClr>
          </a:solidFill>
          <a:ln>
            <a:noFill/>
          </a:ln>
        </p:spPr>
      </p:sp>
      <p:sp>
        <p:nvSpPr>
          <p:cNvPr id="38" name="wm.whiteboard.54.108"/>
          <p:cNvSpPr/>
          <p:nvPr/>
        </p:nvSpPr>
        <p:spPr>
          <a:xfrm>
            <a:off x="4610100" y="1600200"/>
            <a:ext cx="38100" cy="38100"/>
          </a:xfrm>
          <a:prstGeom prst="rect">
            <a:avLst/>
          </a:prstGeom>
          <a:solidFill>
            <a:srgbClr val="CED7E6">
              <a:alpha val="43263"/>
            </a:srgbClr>
          </a:solidFill>
          <a:ln>
            <a:noFill/>
          </a:ln>
        </p:spPr>
      </p:sp>
      <p:sp>
        <p:nvSpPr>
          <p:cNvPr id="39" name="wm.whiteboard.54.126"/>
          <p:cNvSpPr/>
          <p:nvPr/>
        </p:nvSpPr>
        <p:spPr>
          <a:xfrm>
            <a:off x="4610100" y="1828800"/>
            <a:ext cx="38100" cy="38100"/>
          </a:xfrm>
          <a:prstGeom prst="rect">
            <a:avLst/>
          </a:prstGeom>
          <a:solidFill>
            <a:srgbClr val="CED7E6">
              <a:alpha val="27603"/>
            </a:srgbClr>
          </a:solidFill>
          <a:ln>
            <a:noFill/>
          </a:ln>
        </p:spPr>
      </p:sp>
      <p:sp>
        <p:nvSpPr>
          <p:cNvPr id="40" name="wm.whiteboard.54.144"/>
          <p:cNvSpPr/>
          <p:nvPr/>
        </p:nvSpPr>
        <p:spPr>
          <a:xfrm>
            <a:off x="4610100" y="2057400"/>
            <a:ext cx="38100" cy="38100"/>
          </a:xfrm>
          <a:prstGeom prst="rect">
            <a:avLst/>
          </a:prstGeom>
          <a:solidFill>
            <a:srgbClr val="CED7E6">
              <a:alpha val="11687"/>
            </a:srgbClr>
          </a:solidFill>
          <a:ln>
            <a:noFill/>
          </a:ln>
        </p:spPr>
      </p:sp>
      <p:sp>
        <p:nvSpPr>
          <p:cNvPr id="41" name="wm.whiteboard.72.0"/>
          <p:cNvSpPr/>
          <p:nvPr/>
        </p:nvSpPr>
        <p:spPr>
          <a:xfrm>
            <a:off x="4838700" y="228600"/>
            <a:ext cx="38100" cy="38100"/>
          </a:xfrm>
          <a:prstGeom prst="rect">
            <a:avLst/>
          </a:prstGeom>
          <a:solidFill>
            <a:srgbClr val="CED7E6">
              <a:alpha val="97572"/>
            </a:srgbClr>
          </a:solidFill>
          <a:ln>
            <a:noFill/>
          </a:ln>
        </p:spPr>
      </p:sp>
      <p:sp>
        <p:nvSpPr>
          <p:cNvPr id="42" name="wm.whiteboard.72.18"/>
          <p:cNvSpPr/>
          <p:nvPr/>
        </p:nvSpPr>
        <p:spPr>
          <a:xfrm>
            <a:off x="4838700" y="457200"/>
            <a:ext cx="38100" cy="38100"/>
          </a:xfrm>
          <a:prstGeom prst="rect">
            <a:avLst/>
          </a:prstGeom>
          <a:solidFill>
            <a:srgbClr val="CED7E6">
              <a:alpha val="94724"/>
            </a:srgbClr>
          </a:solidFill>
          <a:ln>
            <a:noFill/>
          </a:ln>
        </p:spPr>
      </p:sp>
      <p:sp>
        <p:nvSpPr>
          <p:cNvPr id="43" name="wm.whiteboard.72.36"/>
          <p:cNvSpPr/>
          <p:nvPr/>
        </p:nvSpPr>
        <p:spPr>
          <a:xfrm>
            <a:off x="4838700" y="685800"/>
            <a:ext cx="38100" cy="38100"/>
          </a:xfrm>
          <a:prstGeom prst="rect">
            <a:avLst/>
          </a:prstGeom>
          <a:solidFill>
            <a:srgbClr val="CED7E6">
              <a:alpha val="87609"/>
            </a:srgbClr>
          </a:solidFill>
          <a:ln>
            <a:noFill/>
          </a:ln>
        </p:spPr>
      </p:sp>
      <p:sp>
        <p:nvSpPr>
          <p:cNvPr id="44" name="wm.whiteboard.72.54"/>
          <p:cNvSpPr/>
          <p:nvPr/>
        </p:nvSpPr>
        <p:spPr>
          <a:xfrm>
            <a:off x="4838700" y="914400"/>
            <a:ext cx="38100" cy="38100"/>
          </a:xfrm>
          <a:prstGeom prst="rect">
            <a:avLst/>
          </a:prstGeom>
          <a:solidFill>
            <a:srgbClr val="CED7E6">
              <a:alpha val="77408"/>
            </a:srgbClr>
          </a:solidFill>
          <a:ln>
            <a:noFill/>
          </a:ln>
        </p:spPr>
      </p:sp>
      <p:sp>
        <p:nvSpPr>
          <p:cNvPr id="45" name="wm.whiteboard.72.72"/>
          <p:cNvSpPr/>
          <p:nvPr/>
        </p:nvSpPr>
        <p:spPr>
          <a:xfrm>
            <a:off x="4838700" y="1143000"/>
            <a:ext cx="38100" cy="38100"/>
          </a:xfrm>
          <a:prstGeom prst="rect">
            <a:avLst/>
          </a:prstGeom>
          <a:solidFill>
            <a:srgbClr val="CED7E6">
              <a:alpha val="65181"/>
            </a:srgbClr>
          </a:solidFill>
          <a:ln>
            <a:noFill/>
          </a:ln>
        </p:spPr>
      </p:sp>
      <p:sp>
        <p:nvSpPr>
          <p:cNvPr id="46" name="wm.whiteboard.72.90"/>
          <p:cNvSpPr/>
          <p:nvPr/>
        </p:nvSpPr>
        <p:spPr>
          <a:xfrm>
            <a:off x="4838700" y="1371600"/>
            <a:ext cx="38100" cy="38100"/>
          </a:xfrm>
          <a:prstGeom prst="rect">
            <a:avLst/>
          </a:prstGeom>
          <a:solidFill>
            <a:srgbClr val="CED7E6">
              <a:alpha val="51653"/>
            </a:srgbClr>
          </a:solidFill>
          <a:ln>
            <a:noFill/>
          </a:ln>
        </p:spPr>
      </p:sp>
      <p:sp>
        <p:nvSpPr>
          <p:cNvPr id="47" name="wm.whiteboard.72.108"/>
          <p:cNvSpPr/>
          <p:nvPr/>
        </p:nvSpPr>
        <p:spPr>
          <a:xfrm>
            <a:off x="4838700" y="1600200"/>
            <a:ext cx="38100" cy="38100"/>
          </a:xfrm>
          <a:prstGeom prst="rect">
            <a:avLst/>
          </a:prstGeom>
          <a:solidFill>
            <a:srgbClr val="CED7E6">
              <a:alpha val="37275"/>
            </a:srgbClr>
          </a:solidFill>
          <a:ln>
            <a:noFill/>
          </a:ln>
        </p:spPr>
      </p:sp>
      <p:sp>
        <p:nvSpPr>
          <p:cNvPr id="48" name="wm.whiteboard.72.126"/>
          <p:cNvSpPr/>
          <p:nvPr/>
        </p:nvSpPr>
        <p:spPr>
          <a:xfrm>
            <a:off x="4838700" y="1828800"/>
            <a:ext cx="38100" cy="38100"/>
          </a:xfrm>
          <a:prstGeom prst="rect">
            <a:avLst/>
          </a:prstGeom>
          <a:solidFill>
            <a:srgbClr val="CED7E6">
              <a:alpha val="22326"/>
            </a:srgbClr>
          </a:solidFill>
          <a:ln>
            <a:noFill/>
          </a:ln>
        </p:spPr>
      </p:sp>
      <p:sp>
        <p:nvSpPr>
          <p:cNvPr id="49" name="wm.whiteboard.72.144"/>
          <p:cNvSpPr/>
          <p:nvPr/>
        </p:nvSpPr>
        <p:spPr>
          <a:xfrm>
            <a:off x="4838700" y="2057400"/>
            <a:ext cx="38100" cy="38100"/>
          </a:xfrm>
          <a:prstGeom prst="rect">
            <a:avLst/>
          </a:prstGeom>
          <a:solidFill>
            <a:srgbClr val="CED7E6">
              <a:alpha val="6980"/>
            </a:srgbClr>
          </a:solidFill>
          <a:ln>
            <a:noFill/>
          </a:ln>
        </p:spPr>
      </p:sp>
      <p:sp>
        <p:nvSpPr>
          <p:cNvPr id="50" name="wm.whiteboard.90.0"/>
          <p:cNvSpPr/>
          <p:nvPr/>
        </p:nvSpPr>
        <p:spPr>
          <a:xfrm>
            <a:off x="5067300" y="228600"/>
            <a:ext cx="38100" cy="38100"/>
          </a:xfrm>
          <a:prstGeom prst="rect">
            <a:avLst/>
          </a:prstGeom>
          <a:solidFill>
            <a:srgbClr val="CED7E6">
              <a:alpha val="83798"/>
            </a:srgbClr>
          </a:solidFill>
          <a:ln>
            <a:noFill/>
          </a:ln>
        </p:spPr>
      </p:sp>
      <p:sp>
        <p:nvSpPr>
          <p:cNvPr id="51" name="wm.whiteboard.90.18"/>
          <p:cNvSpPr/>
          <p:nvPr/>
        </p:nvSpPr>
        <p:spPr>
          <a:xfrm>
            <a:off x="5067300" y="457200"/>
            <a:ext cx="38100" cy="38100"/>
          </a:xfrm>
          <a:prstGeom prst="rect">
            <a:avLst/>
          </a:prstGeom>
          <a:solidFill>
            <a:srgbClr val="CED7E6">
              <a:alpha val="81490"/>
            </a:srgbClr>
          </a:solidFill>
          <a:ln>
            <a:noFill/>
          </a:ln>
        </p:spPr>
      </p:sp>
      <p:sp>
        <p:nvSpPr>
          <p:cNvPr id="52" name="wm.whiteboard.90.36"/>
          <p:cNvSpPr/>
          <p:nvPr/>
        </p:nvSpPr>
        <p:spPr>
          <a:xfrm>
            <a:off x="5067300" y="685800"/>
            <a:ext cx="38100" cy="38100"/>
          </a:xfrm>
          <a:prstGeom prst="rect">
            <a:avLst/>
          </a:prstGeom>
          <a:solidFill>
            <a:srgbClr val="CED7E6">
              <a:alpha val="75569"/>
            </a:srgbClr>
          </a:solidFill>
          <a:ln>
            <a:noFill/>
          </a:ln>
        </p:spPr>
      </p:sp>
      <p:sp>
        <p:nvSpPr>
          <p:cNvPr id="53" name="wm.whiteboard.90.54"/>
          <p:cNvSpPr/>
          <p:nvPr/>
        </p:nvSpPr>
        <p:spPr>
          <a:xfrm>
            <a:off x="5067300" y="914400"/>
            <a:ext cx="38100" cy="38100"/>
          </a:xfrm>
          <a:prstGeom prst="rect">
            <a:avLst/>
          </a:prstGeom>
          <a:solidFill>
            <a:srgbClr val="CED7E6">
              <a:alpha val="66767"/>
            </a:srgbClr>
          </a:solidFill>
          <a:ln>
            <a:noFill/>
          </a:ln>
        </p:spPr>
      </p:sp>
      <p:sp>
        <p:nvSpPr>
          <p:cNvPr id="54" name="wm.whiteboard.90.72"/>
          <p:cNvSpPr/>
          <p:nvPr/>
        </p:nvSpPr>
        <p:spPr>
          <a:xfrm>
            <a:off x="5067300" y="1143000"/>
            <a:ext cx="38100" cy="38100"/>
          </a:xfrm>
          <a:prstGeom prst="rect">
            <a:avLst/>
          </a:prstGeom>
          <a:solidFill>
            <a:srgbClr val="CED7E6">
              <a:alpha val="55859"/>
            </a:srgbClr>
          </a:solidFill>
          <a:ln>
            <a:noFill/>
          </a:ln>
        </p:spPr>
      </p:sp>
      <p:sp>
        <p:nvSpPr>
          <p:cNvPr id="55" name="wm.whiteboard.90.90"/>
          <p:cNvSpPr/>
          <p:nvPr/>
        </p:nvSpPr>
        <p:spPr>
          <a:xfrm>
            <a:off x="5067300" y="1371600"/>
            <a:ext cx="38100" cy="38100"/>
          </a:xfrm>
          <a:prstGeom prst="rect">
            <a:avLst/>
          </a:prstGeom>
          <a:solidFill>
            <a:srgbClr val="CED7E6">
              <a:alpha val="43468"/>
            </a:srgbClr>
          </a:solidFill>
          <a:ln>
            <a:noFill/>
          </a:ln>
        </p:spPr>
      </p:sp>
      <p:sp>
        <p:nvSpPr>
          <p:cNvPr id="56" name="wm.whiteboard.90.108"/>
          <p:cNvSpPr/>
          <p:nvPr/>
        </p:nvSpPr>
        <p:spPr>
          <a:xfrm>
            <a:off x="5067300" y="1600200"/>
            <a:ext cx="38100" cy="38100"/>
          </a:xfrm>
          <a:prstGeom prst="rect">
            <a:avLst/>
          </a:prstGeom>
          <a:solidFill>
            <a:srgbClr val="CED7E6">
              <a:alpha val="30037"/>
            </a:srgbClr>
          </a:solidFill>
          <a:ln>
            <a:noFill/>
          </a:ln>
        </p:spPr>
      </p:sp>
      <p:sp>
        <p:nvSpPr>
          <p:cNvPr id="57" name="wm.whiteboard.90.126"/>
          <p:cNvSpPr/>
          <p:nvPr/>
        </p:nvSpPr>
        <p:spPr>
          <a:xfrm>
            <a:off x="5067300" y="1828800"/>
            <a:ext cx="38100" cy="38100"/>
          </a:xfrm>
          <a:prstGeom prst="rect">
            <a:avLst/>
          </a:prstGeom>
          <a:solidFill>
            <a:srgbClr val="CED7E6">
              <a:alpha val="15870"/>
            </a:srgbClr>
          </a:solidFill>
          <a:ln>
            <a:noFill/>
          </a:ln>
        </p:spPr>
      </p:sp>
      <p:sp>
        <p:nvSpPr>
          <p:cNvPr id="58" name="wm.whiteboard.90.144"/>
          <p:cNvSpPr/>
          <p:nvPr/>
        </p:nvSpPr>
        <p:spPr>
          <a:xfrm>
            <a:off x="5067300" y="2057400"/>
            <a:ext cx="38100" cy="38100"/>
          </a:xfrm>
          <a:prstGeom prst="rect">
            <a:avLst/>
          </a:prstGeom>
          <a:solidFill>
            <a:srgbClr val="CED7E6">
              <a:alpha val="1171"/>
            </a:srgbClr>
          </a:solidFill>
          <a:ln>
            <a:noFill/>
          </a:ln>
        </p:spPr>
      </p:sp>
      <p:sp>
        <p:nvSpPr>
          <p:cNvPr id="59" name="wm.whiteboard.108.0"/>
          <p:cNvSpPr/>
          <p:nvPr/>
        </p:nvSpPr>
        <p:spPr>
          <a:xfrm>
            <a:off x="5295900" y="228600"/>
            <a:ext cx="38100" cy="38100"/>
          </a:xfrm>
          <a:prstGeom prst="rect">
            <a:avLst/>
          </a:prstGeom>
          <a:solidFill>
            <a:srgbClr val="CED7E6">
              <a:alpha val="70023"/>
            </a:srgbClr>
          </a:solidFill>
          <a:ln>
            <a:noFill/>
          </a:ln>
        </p:spPr>
      </p:sp>
      <p:sp>
        <p:nvSpPr>
          <p:cNvPr id="60" name="wm.whiteboard.108.18"/>
          <p:cNvSpPr/>
          <p:nvPr/>
        </p:nvSpPr>
        <p:spPr>
          <a:xfrm>
            <a:off x="5295900" y="457200"/>
            <a:ext cx="38100" cy="38100"/>
          </a:xfrm>
          <a:prstGeom prst="rect">
            <a:avLst/>
          </a:prstGeom>
          <a:solidFill>
            <a:srgbClr val="CED7E6">
              <a:alpha val="68085"/>
            </a:srgbClr>
          </a:solidFill>
          <a:ln>
            <a:noFill/>
          </a:ln>
        </p:spPr>
      </p:sp>
      <p:sp>
        <p:nvSpPr>
          <p:cNvPr id="61" name="wm.whiteboard.108.36"/>
          <p:cNvSpPr/>
          <p:nvPr/>
        </p:nvSpPr>
        <p:spPr>
          <a:xfrm>
            <a:off x="5295900" y="685800"/>
            <a:ext cx="38100" cy="38100"/>
          </a:xfrm>
          <a:prstGeom prst="rect">
            <a:avLst/>
          </a:prstGeom>
          <a:solidFill>
            <a:srgbClr val="CED7E6">
              <a:alpha val="63033"/>
            </a:srgbClr>
          </a:solidFill>
          <a:ln>
            <a:noFill/>
          </a:ln>
        </p:spPr>
      </p:sp>
      <p:sp>
        <p:nvSpPr>
          <p:cNvPr id="62" name="wm.whiteboard.108.54"/>
          <p:cNvSpPr/>
          <p:nvPr/>
        </p:nvSpPr>
        <p:spPr>
          <a:xfrm>
            <a:off x="5295900" y="914400"/>
            <a:ext cx="38100" cy="38100"/>
          </a:xfrm>
          <a:prstGeom prst="rect">
            <a:avLst/>
          </a:prstGeom>
          <a:solidFill>
            <a:srgbClr val="CED7E6">
              <a:alpha val="55346"/>
            </a:srgbClr>
          </a:solidFill>
          <a:ln>
            <a:noFill/>
          </a:ln>
        </p:spPr>
      </p:sp>
      <p:sp>
        <p:nvSpPr>
          <p:cNvPr id="63" name="wm.whiteboard.108.72"/>
          <p:cNvSpPr/>
          <p:nvPr/>
        </p:nvSpPr>
        <p:spPr>
          <a:xfrm>
            <a:off x="5295900" y="1143000"/>
            <a:ext cx="38100" cy="38100"/>
          </a:xfrm>
          <a:prstGeom prst="rect">
            <a:avLst/>
          </a:prstGeom>
          <a:solidFill>
            <a:srgbClr val="CED7E6">
              <a:alpha val="45583"/>
            </a:srgbClr>
          </a:solidFill>
          <a:ln>
            <a:noFill/>
          </a:ln>
        </p:spPr>
      </p:sp>
      <p:sp>
        <p:nvSpPr>
          <p:cNvPr id="64" name="wm.whiteboard.108.90"/>
          <p:cNvSpPr/>
          <p:nvPr/>
        </p:nvSpPr>
        <p:spPr>
          <a:xfrm>
            <a:off x="5295900" y="1371600"/>
            <a:ext cx="38100" cy="38100"/>
          </a:xfrm>
          <a:prstGeom prst="rect">
            <a:avLst/>
          </a:prstGeom>
          <a:solidFill>
            <a:srgbClr val="CED7E6">
              <a:alpha val="34251"/>
            </a:srgbClr>
          </a:solidFill>
          <a:ln>
            <a:noFill/>
          </a:ln>
        </p:spPr>
      </p:sp>
      <p:sp>
        <p:nvSpPr>
          <p:cNvPr id="65" name="wm.whiteboard.108.108"/>
          <p:cNvSpPr/>
          <p:nvPr/>
        </p:nvSpPr>
        <p:spPr>
          <a:xfrm>
            <a:off x="5295900" y="1600200"/>
            <a:ext cx="38100" cy="38100"/>
          </a:xfrm>
          <a:prstGeom prst="rect">
            <a:avLst/>
          </a:prstGeom>
          <a:solidFill>
            <a:srgbClr val="CED7E6">
              <a:alpha val="21754"/>
            </a:srgbClr>
          </a:solidFill>
          <a:ln>
            <a:noFill/>
          </a:ln>
        </p:spPr>
      </p:sp>
      <p:sp>
        <p:nvSpPr>
          <p:cNvPr id="66" name="wm.whiteboard.108.126"/>
          <p:cNvSpPr/>
          <p:nvPr/>
        </p:nvSpPr>
        <p:spPr>
          <a:xfrm>
            <a:off x="5295900" y="1828800"/>
            <a:ext cx="38100" cy="38100"/>
          </a:xfrm>
          <a:prstGeom prst="rect">
            <a:avLst/>
          </a:prstGeom>
          <a:solidFill>
            <a:srgbClr val="CED7E6">
              <a:alpha val="8391"/>
            </a:srgbClr>
          </a:solidFill>
          <a:ln>
            <a:noFill/>
          </a:ln>
        </p:spPr>
      </p:sp>
      <p:sp>
        <p:nvSpPr>
          <p:cNvPr id="67" name="wm.whiteboard.126.0"/>
          <p:cNvSpPr/>
          <p:nvPr/>
        </p:nvSpPr>
        <p:spPr>
          <a:xfrm>
            <a:off x="5524500" y="228600"/>
            <a:ext cx="38100" cy="38100"/>
          </a:xfrm>
          <a:prstGeom prst="rect">
            <a:avLst/>
          </a:prstGeom>
          <a:solidFill>
            <a:srgbClr val="CED7E6">
              <a:alpha val="56247"/>
            </a:srgbClr>
          </a:solidFill>
          <a:ln>
            <a:noFill/>
          </a:ln>
        </p:spPr>
      </p:sp>
      <p:sp>
        <p:nvSpPr>
          <p:cNvPr id="68" name="wm.whiteboard.126.18"/>
          <p:cNvSpPr/>
          <p:nvPr/>
        </p:nvSpPr>
        <p:spPr>
          <a:xfrm>
            <a:off x="5524500" y="457200"/>
            <a:ext cx="38100" cy="38100"/>
          </a:xfrm>
          <a:prstGeom prst="rect">
            <a:avLst/>
          </a:prstGeom>
          <a:solidFill>
            <a:srgbClr val="CED7E6">
              <a:alpha val="54578"/>
            </a:srgbClr>
          </a:solidFill>
          <a:ln>
            <a:noFill/>
          </a:ln>
        </p:spPr>
      </p:sp>
      <p:sp>
        <p:nvSpPr>
          <p:cNvPr id="69" name="wm.whiteboard.126.36"/>
          <p:cNvSpPr/>
          <p:nvPr/>
        </p:nvSpPr>
        <p:spPr>
          <a:xfrm>
            <a:off x="5524500" y="685800"/>
            <a:ext cx="38100" cy="38100"/>
          </a:xfrm>
          <a:prstGeom prst="rect">
            <a:avLst/>
          </a:prstGeom>
          <a:solidFill>
            <a:srgbClr val="CED7E6">
              <a:alpha val="50182"/>
            </a:srgbClr>
          </a:solidFill>
          <a:ln>
            <a:noFill/>
          </a:ln>
        </p:spPr>
      </p:sp>
      <p:sp>
        <p:nvSpPr>
          <p:cNvPr id="70" name="wm.whiteboard.126.54"/>
          <p:cNvSpPr/>
          <p:nvPr/>
        </p:nvSpPr>
        <p:spPr>
          <a:xfrm>
            <a:off x="5524500" y="914400"/>
            <a:ext cx="38100" cy="38100"/>
          </a:xfrm>
          <a:prstGeom prst="rect">
            <a:avLst/>
          </a:prstGeom>
          <a:solidFill>
            <a:srgbClr val="CED7E6">
              <a:alpha val="43386"/>
            </a:srgbClr>
          </a:solidFill>
          <a:ln>
            <a:noFill/>
          </a:ln>
        </p:spPr>
      </p:sp>
      <p:sp>
        <p:nvSpPr>
          <p:cNvPr id="71" name="wm.whiteboard.126.72"/>
          <p:cNvSpPr/>
          <p:nvPr/>
        </p:nvSpPr>
        <p:spPr>
          <a:xfrm>
            <a:off x="5524500" y="1143000"/>
            <a:ext cx="38100" cy="38100"/>
          </a:xfrm>
          <a:prstGeom prst="rect">
            <a:avLst/>
          </a:prstGeom>
          <a:solidFill>
            <a:srgbClr val="CED7E6">
              <a:alpha val="34598"/>
            </a:srgbClr>
          </a:solidFill>
          <a:ln>
            <a:noFill/>
          </a:ln>
        </p:spPr>
      </p:sp>
      <p:sp>
        <p:nvSpPr>
          <p:cNvPr id="72" name="wm.whiteboard.126.90"/>
          <p:cNvSpPr/>
          <p:nvPr/>
        </p:nvSpPr>
        <p:spPr>
          <a:xfrm>
            <a:off x="5524500" y="1371600"/>
            <a:ext cx="38100" cy="38100"/>
          </a:xfrm>
          <a:prstGeom prst="rect">
            <a:avLst/>
          </a:prstGeom>
          <a:solidFill>
            <a:srgbClr val="CED7E6">
              <a:alpha val="24223"/>
            </a:srgbClr>
          </a:solidFill>
          <a:ln>
            <a:noFill/>
          </a:ln>
        </p:spPr>
      </p:sp>
      <p:sp>
        <p:nvSpPr>
          <p:cNvPr id="73" name="wm.whiteboard.126.108"/>
          <p:cNvSpPr/>
          <p:nvPr/>
        </p:nvSpPr>
        <p:spPr>
          <a:xfrm>
            <a:off x="5524500" y="1600200"/>
            <a:ext cx="38100" cy="38100"/>
          </a:xfrm>
          <a:prstGeom prst="rect">
            <a:avLst/>
          </a:prstGeom>
          <a:solidFill>
            <a:srgbClr val="CED7E6">
              <a:alpha val="12610"/>
            </a:srgbClr>
          </a:solidFill>
          <a:ln>
            <a:noFill/>
          </a:ln>
        </p:spPr>
      </p:sp>
      <p:sp>
        <p:nvSpPr>
          <p:cNvPr id="74" name="wm.whiteboard.126.126"/>
          <p:cNvSpPr/>
          <p:nvPr/>
        </p:nvSpPr>
        <p:spPr>
          <a:xfrm>
            <a:off x="5524500" y="1828800"/>
            <a:ext cx="38100" cy="38100"/>
          </a:xfrm>
          <a:prstGeom prst="rect">
            <a:avLst/>
          </a:prstGeom>
          <a:solidFill>
            <a:srgbClr val="CED7E6">
              <a:alpha val="40"/>
            </a:srgbClr>
          </a:solidFill>
          <a:ln>
            <a:noFill/>
          </a:ln>
        </p:spPr>
      </p:sp>
      <p:sp>
        <p:nvSpPr>
          <p:cNvPr id="75" name="wm.whiteboard.144.0"/>
          <p:cNvSpPr/>
          <p:nvPr/>
        </p:nvSpPr>
        <p:spPr>
          <a:xfrm>
            <a:off x="5753100" y="228600"/>
            <a:ext cx="38100" cy="38100"/>
          </a:xfrm>
          <a:prstGeom prst="rect">
            <a:avLst/>
          </a:prstGeom>
          <a:solidFill>
            <a:srgbClr val="CED7E6">
              <a:alpha val="42471"/>
            </a:srgbClr>
          </a:solidFill>
          <a:ln>
            <a:noFill/>
          </a:ln>
        </p:spPr>
      </p:sp>
      <p:sp>
        <p:nvSpPr>
          <p:cNvPr id="76" name="wm.whiteboard.144.18"/>
          <p:cNvSpPr/>
          <p:nvPr/>
        </p:nvSpPr>
        <p:spPr>
          <a:xfrm>
            <a:off x="5753100" y="457200"/>
            <a:ext cx="38100" cy="38100"/>
          </a:xfrm>
          <a:prstGeom prst="rect">
            <a:avLst/>
          </a:prstGeom>
          <a:solidFill>
            <a:srgbClr val="CED7E6">
              <a:alpha val="41005"/>
            </a:srgbClr>
          </a:solidFill>
          <a:ln>
            <a:noFill/>
          </a:ln>
        </p:spPr>
      </p:sp>
      <p:sp>
        <p:nvSpPr>
          <p:cNvPr id="77" name="wm.whiteboard.144.36"/>
          <p:cNvSpPr/>
          <p:nvPr/>
        </p:nvSpPr>
        <p:spPr>
          <a:xfrm>
            <a:off x="5753100" y="685800"/>
            <a:ext cx="38100" cy="38100"/>
          </a:xfrm>
          <a:prstGeom prst="rect">
            <a:avLst/>
          </a:prstGeom>
          <a:solidFill>
            <a:srgbClr val="CED7E6">
              <a:alpha val="37120"/>
            </a:srgbClr>
          </a:solidFill>
          <a:ln>
            <a:noFill/>
          </a:ln>
        </p:spPr>
      </p:sp>
      <p:sp>
        <p:nvSpPr>
          <p:cNvPr id="78" name="wm.whiteboard.144.54"/>
          <p:cNvSpPr/>
          <p:nvPr/>
        </p:nvSpPr>
        <p:spPr>
          <a:xfrm>
            <a:off x="5753100" y="914400"/>
            <a:ext cx="38100" cy="38100"/>
          </a:xfrm>
          <a:prstGeom prst="rect">
            <a:avLst/>
          </a:prstGeom>
          <a:solidFill>
            <a:srgbClr val="CED7E6">
              <a:alpha val="31044"/>
            </a:srgbClr>
          </a:solidFill>
          <a:ln>
            <a:noFill/>
          </a:ln>
        </p:spPr>
      </p:sp>
      <p:sp>
        <p:nvSpPr>
          <p:cNvPr id="79" name="wm.whiteboard.144.72"/>
          <p:cNvSpPr/>
          <p:nvPr/>
        </p:nvSpPr>
        <p:spPr>
          <a:xfrm>
            <a:off x="5753100" y="1143000"/>
            <a:ext cx="38100" cy="38100"/>
          </a:xfrm>
          <a:prstGeom prst="rect">
            <a:avLst/>
          </a:prstGeom>
          <a:solidFill>
            <a:srgbClr val="CED7E6">
              <a:alpha val="23083"/>
            </a:srgbClr>
          </a:solidFill>
          <a:ln>
            <a:noFill/>
          </a:ln>
        </p:spPr>
      </p:sp>
      <p:sp>
        <p:nvSpPr>
          <p:cNvPr id="80" name="wm.whiteboard.144.90"/>
          <p:cNvSpPr/>
          <p:nvPr/>
        </p:nvSpPr>
        <p:spPr>
          <a:xfrm>
            <a:off x="5753100" y="1371600"/>
            <a:ext cx="38100" cy="38100"/>
          </a:xfrm>
          <a:prstGeom prst="rect">
            <a:avLst/>
          </a:prstGeom>
          <a:solidFill>
            <a:srgbClr val="CED7E6">
              <a:alpha val="13557"/>
            </a:srgbClr>
          </a:solidFill>
          <a:ln>
            <a:noFill/>
          </a:ln>
        </p:spPr>
      </p:sp>
      <p:sp>
        <p:nvSpPr>
          <p:cNvPr id="81" name="wm.whiteboard.144.108"/>
          <p:cNvSpPr/>
          <p:nvPr/>
        </p:nvSpPr>
        <p:spPr>
          <a:xfrm>
            <a:off x="5753100" y="1600200"/>
            <a:ext cx="38100" cy="38100"/>
          </a:xfrm>
          <a:prstGeom prst="rect">
            <a:avLst/>
          </a:prstGeom>
          <a:solidFill>
            <a:srgbClr val="CED7E6">
              <a:alpha val="2762"/>
            </a:srgbClr>
          </a:solidFill>
          <a:ln>
            <a:noFill/>
          </a:ln>
        </p:spPr>
      </p:sp>
      <p:sp>
        <p:nvSpPr>
          <p:cNvPr id="82" name="wm.whiteboard.162.0"/>
          <p:cNvSpPr/>
          <p:nvPr/>
        </p:nvSpPr>
        <p:spPr>
          <a:xfrm>
            <a:off x="5981700" y="228600"/>
            <a:ext cx="38100" cy="38100"/>
          </a:xfrm>
          <a:prstGeom prst="rect">
            <a:avLst/>
          </a:prstGeom>
          <a:solidFill>
            <a:srgbClr val="CED7E6">
              <a:alpha val="28695"/>
            </a:srgbClr>
          </a:solidFill>
          <a:ln>
            <a:noFill/>
          </a:ln>
        </p:spPr>
      </p:sp>
      <p:sp>
        <p:nvSpPr>
          <p:cNvPr id="83" name="wm.whiteboard.162.18"/>
          <p:cNvSpPr/>
          <p:nvPr/>
        </p:nvSpPr>
        <p:spPr>
          <a:xfrm>
            <a:off x="5981700" y="457200"/>
            <a:ext cx="38100" cy="38100"/>
          </a:xfrm>
          <a:prstGeom prst="rect">
            <a:avLst/>
          </a:prstGeom>
          <a:solidFill>
            <a:srgbClr val="CED7E6">
              <a:alpha val="27389"/>
            </a:srgbClr>
          </a:solidFill>
          <a:ln>
            <a:noFill/>
          </a:ln>
        </p:spPr>
      </p:sp>
      <p:sp>
        <p:nvSpPr>
          <p:cNvPr id="84" name="wm.whiteboard.162.36"/>
          <p:cNvSpPr/>
          <p:nvPr/>
        </p:nvSpPr>
        <p:spPr>
          <a:xfrm>
            <a:off x="5981700" y="685800"/>
            <a:ext cx="38100" cy="38100"/>
          </a:xfrm>
          <a:prstGeom prst="rect">
            <a:avLst/>
          </a:prstGeom>
          <a:solidFill>
            <a:srgbClr val="CED7E6">
              <a:alpha val="23910"/>
            </a:srgbClr>
          </a:solidFill>
          <a:ln>
            <a:noFill/>
          </a:ln>
        </p:spPr>
      </p:sp>
      <p:sp>
        <p:nvSpPr>
          <p:cNvPr id="85" name="wm.whiteboard.162.54"/>
          <p:cNvSpPr/>
          <p:nvPr/>
        </p:nvSpPr>
        <p:spPr>
          <a:xfrm>
            <a:off x="5981700" y="914400"/>
            <a:ext cx="38100" cy="38100"/>
          </a:xfrm>
          <a:prstGeom prst="rect">
            <a:avLst/>
          </a:prstGeom>
          <a:solidFill>
            <a:srgbClr val="CED7E6">
              <a:alpha val="18425"/>
            </a:srgbClr>
          </a:solidFill>
          <a:ln>
            <a:noFill/>
          </a:ln>
        </p:spPr>
      </p:sp>
      <p:sp>
        <p:nvSpPr>
          <p:cNvPr id="86" name="wm.whiteboard.162.72"/>
          <p:cNvSpPr/>
          <p:nvPr/>
        </p:nvSpPr>
        <p:spPr>
          <a:xfrm>
            <a:off x="5981700" y="1143000"/>
            <a:ext cx="38100" cy="38100"/>
          </a:xfrm>
          <a:prstGeom prst="rect">
            <a:avLst/>
          </a:prstGeom>
          <a:solidFill>
            <a:srgbClr val="CED7E6">
              <a:alpha val="11167"/>
            </a:srgbClr>
          </a:solidFill>
          <a:ln>
            <a:noFill/>
          </a:ln>
        </p:spPr>
      </p:sp>
      <p:sp>
        <p:nvSpPr>
          <p:cNvPr id="87" name="wm.whiteboard.162.90"/>
          <p:cNvSpPr/>
          <p:nvPr/>
        </p:nvSpPr>
        <p:spPr>
          <a:xfrm>
            <a:off x="5981700" y="1371600"/>
            <a:ext cx="38100" cy="38100"/>
          </a:xfrm>
          <a:prstGeom prst="rect">
            <a:avLst/>
          </a:prstGeom>
          <a:solidFill>
            <a:srgbClr val="CED7E6">
              <a:alpha val="2388"/>
            </a:srgbClr>
          </a:solidFill>
          <a:ln>
            <a:noFill/>
          </a:ln>
        </p:spPr>
      </p:sp>
      <p:sp>
        <p:nvSpPr>
          <p:cNvPr id="88" name="wm.whiteboard.180.0"/>
          <p:cNvSpPr/>
          <p:nvPr/>
        </p:nvSpPr>
        <p:spPr>
          <a:xfrm>
            <a:off x="6210300" y="228600"/>
            <a:ext cx="38100" cy="38100"/>
          </a:xfrm>
          <a:prstGeom prst="rect">
            <a:avLst/>
          </a:prstGeom>
          <a:solidFill>
            <a:srgbClr val="CED7E6">
              <a:alpha val="14918"/>
            </a:srgbClr>
          </a:solidFill>
          <a:ln>
            <a:noFill/>
          </a:ln>
        </p:spPr>
      </p:sp>
      <p:sp>
        <p:nvSpPr>
          <p:cNvPr id="89" name="wm.whiteboard.180.18"/>
          <p:cNvSpPr/>
          <p:nvPr/>
        </p:nvSpPr>
        <p:spPr>
          <a:xfrm>
            <a:off x="6210300" y="457200"/>
            <a:ext cx="38100" cy="38100"/>
          </a:xfrm>
          <a:prstGeom prst="rect">
            <a:avLst/>
          </a:prstGeom>
          <a:solidFill>
            <a:srgbClr val="CED7E6">
              <a:alpha val="13741"/>
            </a:srgbClr>
          </a:solidFill>
          <a:ln>
            <a:noFill/>
          </a:ln>
        </p:spPr>
      </p:sp>
      <p:sp>
        <p:nvSpPr>
          <p:cNvPr id="90" name="wm.whiteboard.180.36"/>
          <p:cNvSpPr/>
          <p:nvPr/>
        </p:nvSpPr>
        <p:spPr>
          <a:xfrm>
            <a:off x="6210300" y="685800"/>
            <a:ext cx="38100" cy="38100"/>
          </a:xfrm>
          <a:prstGeom prst="rect">
            <a:avLst/>
          </a:prstGeom>
          <a:solidFill>
            <a:srgbClr val="CED7E6">
              <a:alpha val="10593"/>
            </a:srgbClr>
          </a:solidFill>
          <a:ln>
            <a:noFill/>
          </a:ln>
        </p:spPr>
      </p:sp>
      <p:sp>
        <p:nvSpPr>
          <p:cNvPr id="91" name="wm.whiteboard.180.54"/>
          <p:cNvSpPr/>
          <p:nvPr/>
        </p:nvSpPr>
        <p:spPr>
          <a:xfrm>
            <a:off x="6210300" y="914400"/>
            <a:ext cx="38100" cy="38100"/>
          </a:xfrm>
          <a:prstGeom prst="rect">
            <a:avLst/>
          </a:prstGeom>
          <a:solidFill>
            <a:srgbClr val="CED7E6">
              <a:alpha val="5600"/>
            </a:srgbClr>
          </a:solidFill>
          <a:ln>
            <a:noFill/>
          </a:ln>
        </p:spPr>
      </p:sp>
      <p:sp>
        <p:nvSpPr>
          <p:cNvPr id="92" name="wm.whiteboard.198.0"/>
          <p:cNvSpPr/>
          <p:nvPr/>
        </p:nvSpPr>
        <p:spPr>
          <a:xfrm>
            <a:off x="6438900" y="228600"/>
            <a:ext cx="38100" cy="38100"/>
          </a:xfrm>
          <a:prstGeom prst="rect">
            <a:avLst/>
          </a:prstGeom>
          <a:solidFill>
            <a:srgbClr val="CED7E6">
              <a:alpha val="1142"/>
            </a:srgbClr>
          </a:solidFill>
          <a:ln>
            <a:noFill/>
          </a:ln>
        </p:spPr>
      </p:sp>
      <p:sp>
        <p:nvSpPr>
          <p:cNvPr id="93" name="wm.whiteboard.198.18"/>
          <p:cNvSpPr/>
          <p:nvPr/>
        </p:nvSpPr>
        <p:spPr>
          <a:xfrm>
            <a:off x="6438900" y="457200"/>
            <a:ext cx="38100" cy="38100"/>
          </a:xfrm>
          <a:prstGeom prst="rect">
            <a:avLst/>
          </a:prstGeom>
          <a:solidFill>
            <a:srgbClr val="CED7E6">
              <a:alpha val="69"/>
            </a:srgbClr>
          </a:solidFill>
          <a:ln>
            <a:noFill/>
          </a:ln>
        </p:spPr>
      </p:sp>
      <p:sp>
        <p:nvSpPr>
          <p:cNvPr id="94" name="wm.header.rule"/>
          <p:cNvSpPr/>
          <p:nvPr/>
        </p:nvSpPr>
        <p:spPr>
          <a:xfrm>
            <a:off x="4381500" y="13716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wmds.frame.a631285ec7b758b6ca11">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wmds.frame.466d7d554085fe9f3d1c">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wmds.frame.059d74af9b4f6525a24e">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wmds.frame.7d6f1a8810e384dd54fc">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wmds.frame.78677fb235580748422b">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wmds.frame.6b3c5f48f7c0f186d001">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sp>
        <p:nvSpPr>
          <p:cNvPr id="95" name="wm.header.rule"/>
          <p:cNvSpPr/>
          <p:nvPr/>
        </p:nvSpPr>
        <p:spPr>
          <a:xfrm>
            <a:off x="4381500" y="18288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wmds.frame.84e5511600c47f485715">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wmds.frame.46f9419afd4d082fa33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mds.frame.c71e298a1f769e5406ea">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wmds.frame.7882cf158b4c90ffe0fd">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8288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wmds.frame.7c73e94ddf913d9b3a8d">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wmds.frame.352f8546916d358478de">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3924300" y="228600"/>
            <a:ext cx="38100" cy="38100"/>
          </a:xfrm>
          <a:prstGeom prst="rect">
            <a:avLst/>
          </a:prstGeom>
          <a:solidFill>
            <a:srgbClr val="CED7E6"/>
          </a:solidFill>
          <a:ln>
            <a:noFill/>
          </a:ln>
        </p:spPr>
      </p:sp>
      <p:sp>
        <p:nvSpPr>
          <p:cNvPr id="4" name="wm.whiteboard.0.18"/>
          <p:cNvSpPr/>
          <p:nvPr/>
        </p:nvSpPr>
        <p:spPr>
          <a:xfrm>
            <a:off x="3924300" y="457200"/>
            <a:ext cx="38100" cy="38100"/>
          </a:xfrm>
          <a:prstGeom prst="rect">
            <a:avLst/>
          </a:prstGeom>
          <a:solidFill>
            <a:srgbClr val="CED7E6"/>
          </a:solidFill>
          <a:ln>
            <a:noFill/>
          </a:ln>
        </p:spPr>
      </p:sp>
      <p:sp>
        <p:nvSpPr>
          <p:cNvPr id="5" name="wm.whiteboard.0.36"/>
          <p:cNvSpPr/>
          <p:nvPr/>
        </p:nvSpPr>
        <p:spPr>
          <a:xfrm>
            <a:off x="3924300" y="685800"/>
            <a:ext cx="38100" cy="38100"/>
          </a:xfrm>
          <a:prstGeom prst="rect">
            <a:avLst/>
          </a:prstGeom>
          <a:solidFill>
            <a:srgbClr val="CED7E6"/>
          </a:solidFill>
          <a:ln>
            <a:noFill/>
          </a:ln>
        </p:spPr>
      </p:sp>
      <p:sp>
        <p:nvSpPr>
          <p:cNvPr id="6" name="wm.whiteboard.0.54"/>
          <p:cNvSpPr/>
          <p:nvPr/>
        </p:nvSpPr>
        <p:spPr>
          <a:xfrm>
            <a:off x="3924300" y="914400"/>
            <a:ext cx="38100" cy="38100"/>
          </a:xfrm>
          <a:prstGeom prst="rect">
            <a:avLst/>
          </a:prstGeom>
          <a:solidFill>
            <a:srgbClr val="CED7E6"/>
          </a:solidFill>
          <a:ln>
            <a:noFill/>
          </a:ln>
        </p:spPr>
      </p:sp>
      <p:sp>
        <p:nvSpPr>
          <p:cNvPr id="7" name="wm.whiteboard.0.72"/>
          <p:cNvSpPr/>
          <p:nvPr/>
        </p:nvSpPr>
        <p:spPr>
          <a:xfrm>
            <a:off x="3924300" y="1143000"/>
            <a:ext cx="38100" cy="38100"/>
          </a:xfrm>
          <a:prstGeom prst="rect">
            <a:avLst/>
          </a:prstGeom>
          <a:solidFill>
            <a:srgbClr val="CED7E6">
              <a:alpha val="85305"/>
            </a:srgbClr>
          </a:solidFill>
          <a:ln>
            <a:noFill/>
          </a:ln>
        </p:spPr>
      </p:sp>
      <p:sp>
        <p:nvSpPr>
          <p:cNvPr id="8" name="wm.whiteboard.0.90"/>
          <p:cNvSpPr/>
          <p:nvPr/>
        </p:nvSpPr>
        <p:spPr>
          <a:xfrm>
            <a:off x="3924300" y="1371600"/>
            <a:ext cx="38100" cy="38100"/>
          </a:xfrm>
          <a:prstGeom prst="rect">
            <a:avLst/>
          </a:prstGeom>
          <a:solidFill>
            <a:srgbClr val="CED7E6">
              <a:alpha val="68524"/>
            </a:srgbClr>
          </a:solidFill>
          <a:ln>
            <a:noFill/>
          </a:ln>
        </p:spPr>
      </p:sp>
      <p:sp>
        <p:nvSpPr>
          <p:cNvPr id="9" name="wm.whiteboard.0.108"/>
          <p:cNvSpPr/>
          <p:nvPr/>
        </p:nvSpPr>
        <p:spPr>
          <a:xfrm>
            <a:off x="3924300" y="1600200"/>
            <a:ext cx="38100" cy="38100"/>
          </a:xfrm>
          <a:prstGeom prst="rect">
            <a:avLst/>
          </a:prstGeom>
          <a:solidFill>
            <a:srgbClr val="CED7E6">
              <a:alpha val="51742"/>
            </a:srgbClr>
          </a:solidFill>
          <a:ln>
            <a:noFill/>
          </a:ln>
        </p:spPr>
      </p:sp>
      <p:sp>
        <p:nvSpPr>
          <p:cNvPr id="10" name="wm.whiteboard.0.126"/>
          <p:cNvSpPr/>
          <p:nvPr/>
        </p:nvSpPr>
        <p:spPr>
          <a:xfrm>
            <a:off x="3924300" y="1828800"/>
            <a:ext cx="38100" cy="38100"/>
          </a:xfrm>
          <a:prstGeom prst="rect">
            <a:avLst/>
          </a:prstGeom>
          <a:solidFill>
            <a:srgbClr val="CED7E6">
              <a:alpha val="34959"/>
            </a:srgbClr>
          </a:solidFill>
          <a:ln>
            <a:noFill/>
          </a:ln>
        </p:spPr>
      </p:sp>
      <p:sp>
        <p:nvSpPr>
          <p:cNvPr id="11" name="wm.whiteboard.0.144"/>
          <p:cNvSpPr/>
          <p:nvPr/>
        </p:nvSpPr>
        <p:spPr>
          <a:xfrm>
            <a:off x="3924300" y="2057400"/>
            <a:ext cx="38100" cy="38100"/>
          </a:xfrm>
          <a:prstGeom prst="rect">
            <a:avLst/>
          </a:prstGeom>
          <a:solidFill>
            <a:srgbClr val="CED7E6">
              <a:alpha val="18177"/>
            </a:srgbClr>
          </a:solidFill>
          <a:ln>
            <a:noFill/>
          </a:ln>
        </p:spPr>
      </p:sp>
      <p:sp>
        <p:nvSpPr>
          <p:cNvPr id="12" name="wm.whiteboard.0.162"/>
          <p:cNvSpPr/>
          <p:nvPr/>
        </p:nvSpPr>
        <p:spPr>
          <a:xfrm>
            <a:off x="3924300" y="2286000"/>
            <a:ext cx="38100" cy="38100"/>
          </a:xfrm>
          <a:prstGeom prst="rect">
            <a:avLst/>
          </a:prstGeom>
          <a:solidFill>
            <a:srgbClr val="CED7E6">
              <a:alpha val="1394"/>
            </a:srgbClr>
          </a:solidFill>
          <a:ln>
            <a:noFill/>
          </a:ln>
        </p:spPr>
      </p:sp>
      <p:sp>
        <p:nvSpPr>
          <p:cNvPr id="13" name="wm.whiteboard.18.0"/>
          <p:cNvSpPr/>
          <p:nvPr/>
        </p:nvSpPr>
        <p:spPr>
          <a:xfrm>
            <a:off x="4152900" y="228600"/>
            <a:ext cx="38100" cy="38100"/>
          </a:xfrm>
          <a:prstGeom prst="rect">
            <a:avLst/>
          </a:prstGeom>
          <a:solidFill>
            <a:srgbClr val="CED7E6"/>
          </a:solidFill>
          <a:ln>
            <a:noFill/>
          </a:ln>
        </p:spPr>
      </p:sp>
      <p:sp>
        <p:nvSpPr>
          <p:cNvPr id="14" name="wm.whiteboard.18.18"/>
          <p:cNvSpPr/>
          <p:nvPr/>
        </p:nvSpPr>
        <p:spPr>
          <a:xfrm>
            <a:off x="4152900" y="457200"/>
            <a:ext cx="38100" cy="38100"/>
          </a:xfrm>
          <a:prstGeom prst="rect">
            <a:avLst/>
          </a:prstGeom>
          <a:solidFill>
            <a:srgbClr val="CED7E6"/>
          </a:solidFill>
          <a:ln>
            <a:noFill/>
          </a:ln>
        </p:spPr>
      </p:sp>
      <p:sp>
        <p:nvSpPr>
          <p:cNvPr id="15" name="wm.whiteboard.18.36"/>
          <p:cNvSpPr/>
          <p:nvPr/>
        </p:nvSpPr>
        <p:spPr>
          <a:xfrm>
            <a:off x="4152900" y="685800"/>
            <a:ext cx="38100" cy="38100"/>
          </a:xfrm>
          <a:prstGeom prst="rect">
            <a:avLst/>
          </a:prstGeom>
          <a:solidFill>
            <a:srgbClr val="CED7E6"/>
          </a:solidFill>
          <a:ln>
            <a:noFill/>
          </a:ln>
        </p:spPr>
      </p:sp>
      <p:sp>
        <p:nvSpPr>
          <p:cNvPr id="16" name="wm.whiteboard.18.54"/>
          <p:cNvSpPr/>
          <p:nvPr/>
        </p:nvSpPr>
        <p:spPr>
          <a:xfrm>
            <a:off x="4152900" y="914400"/>
            <a:ext cx="38100" cy="38100"/>
          </a:xfrm>
          <a:prstGeom prst="rect">
            <a:avLst/>
          </a:prstGeom>
          <a:solidFill>
            <a:srgbClr val="CED7E6">
              <a:alpha val="99988"/>
            </a:srgbClr>
          </a:solidFill>
          <a:ln>
            <a:noFill/>
          </a:ln>
        </p:spPr>
      </p:sp>
      <p:sp>
        <p:nvSpPr>
          <p:cNvPr id="17" name="wm.whiteboard.18.72"/>
          <p:cNvSpPr/>
          <p:nvPr/>
        </p:nvSpPr>
        <p:spPr>
          <a:xfrm>
            <a:off x="4152900" y="1143000"/>
            <a:ext cx="38100" cy="38100"/>
          </a:xfrm>
          <a:prstGeom prst="rect">
            <a:avLst/>
          </a:prstGeom>
          <a:solidFill>
            <a:srgbClr val="CED7E6">
              <a:alpha val="83708"/>
            </a:srgbClr>
          </a:solidFill>
          <a:ln>
            <a:noFill/>
          </a:ln>
        </p:spPr>
      </p:sp>
      <p:sp>
        <p:nvSpPr>
          <p:cNvPr id="18" name="wm.whiteboard.18.90"/>
          <p:cNvSpPr/>
          <p:nvPr/>
        </p:nvSpPr>
        <p:spPr>
          <a:xfrm>
            <a:off x="4152900" y="1371600"/>
            <a:ext cx="38100" cy="38100"/>
          </a:xfrm>
          <a:prstGeom prst="rect">
            <a:avLst/>
          </a:prstGeom>
          <a:solidFill>
            <a:srgbClr val="CED7E6">
              <a:alpha val="67236"/>
            </a:srgbClr>
          </a:solidFill>
          <a:ln>
            <a:noFill/>
          </a:ln>
        </p:spPr>
      </p:sp>
      <p:sp>
        <p:nvSpPr>
          <p:cNvPr id="19" name="wm.whiteboard.18.108"/>
          <p:cNvSpPr/>
          <p:nvPr/>
        </p:nvSpPr>
        <p:spPr>
          <a:xfrm>
            <a:off x="4152900" y="1600200"/>
            <a:ext cx="38100" cy="38100"/>
          </a:xfrm>
          <a:prstGeom prst="rect">
            <a:avLst/>
          </a:prstGeom>
          <a:solidFill>
            <a:srgbClr val="CED7E6">
              <a:alpha val="50663"/>
            </a:srgbClr>
          </a:solidFill>
          <a:ln>
            <a:noFill/>
          </a:ln>
        </p:spPr>
      </p:sp>
      <p:sp>
        <p:nvSpPr>
          <p:cNvPr id="20" name="wm.whiteboard.18.126"/>
          <p:cNvSpPr/>
          <p:nvPr/>
        </p:nvSpPr>
        <p:spPr>
          <a:xfrm>
            <a:off x="4152900" y="1828800"/>
            <a:ext cx="38100" cy="38100"/>
          </a:xfrm>
          <a:prstGeom prst="rect">
            <a:avLst/>
          </a:prstGeom>
          <a:solidFill>
            <a:srgbClr val="CED7E6">
              <a:alpha val="34032"/>
            </a:srgbClr>
          </a:solidFill>
          <a:ln>
            <a:noFill/>
          </a:ln>
        </p:spPr>
      </p:sp>
      <p:sp>
        <p:nvSpPr>
          <p:cNvPr id="21" name="wm.whiteboard.18.144"/>
          <p:cNvSpPr/>
          <p:nvPr/>
        </p:nvSpPr>
        <p:spPr>
          <a:xfrm>
            <a:off x="4152900" y="2057400"/>
            <a:ext cx="38100" cy="38100"/>
          </a:xfrm>
          <a:prstGeom prst="rect">
            <a:avLst/>
          </a:prstGeom>
          <a:solidFill>
            <a:srgbClr val="CED7E6">
              <a:alpha val="17363"/>
            </a:srgbClr>
          </a:solidFill>
          <a:ln>
            <a:noFill/>
          </a:ln>
        </p:spPr>
      </p:sp>
      <p:sp>
        <p:nvSpPr>
          <p:cNvPr id="22" name="wm.whiteboard.18.162"/>
          <p:cNvSpPr/>
          <p:nvPr/>
        </p:nvSpPr>
        <p:spPr>
          <a:xfrm>
            <a:off x="4152900" y="2286000"/>
            <a:ext cx="38100" cy="38100"/>
          </a:xfrm>
          <a:prstGeom prst="rect">
            <a:avLst/>
          </a:prstGeom>
          <a:solidFill>
            <a:srgbClr val="CED7E6">
              <a:alpha val="670"/>
            </a:srgbClr>
          </a:solidFill>
          <a:ln>
            <a:noFill/>
          </a:ln>
        </p:spPr>
      </p:sp>
      <p:sp>
        <p:nvSpPr>
          <p:cNvPr id="23" name="wm.whiteboard.36.0"/>
          <p:cNvSpPr/>
          <p:nvPr/>
        </p:nvSpPr>
        <p:spPr>
          <a:xfrm>
            <a:off x="4381500" y="228600"/>
            <a:ext cx="38100" cy="38100"/>
          </a:xfrm>
          <a:prstGeom prst="rect">
            <a:avLst/>
          </a:prstGeom>
          <a:solidFill>
            <a:srgbClr val="CED7E6"/>
          </a:solidFill>
          <a:ln>
            <a:noFill/>
          </a:ln>
        </p:spPr>
      </p:sp>
      <p:sp>
        <p:nvSpPr>
          <p:cNvPr id="24" name="wm.whiteboard.36.18"/>
          <p:cNvSpPr/>
          <p:nvPr/>
        </p:nvSpPr>
        <p:spPr>
          <a:xfrm>
            <a:off x="4381500" y="457200"/>
            <a:ext cx="38100" cy="38100"/>
          </a:xfrm>
          <a:prstGeom prst="rect">
            <a:avLst/>
          </a:prstGeom>
          <a:solidFill>
            <a:srgbClr val="CED7E6"/>
          </a:solidFill>
          <a:ln>
            <a:noFill/>
          </a:ln>
        </p:spPr>
      </p:sp>
      <p:sp>
        <p:nvSpPr>
          <p:cNvPr id="25" name="wm.whiteboard.36.36"/>
          <p:cNvSpPr/>
          <p:nvPr/>
        </p:nvSpPr>
        <p:spPr>
          <a:xfrm>
            <a:off x="4381500" y="685800"/>
            <a:ext cx="38100" cy="38100"/>
          </a:xfrm>
          <a:prstGeom prst="rect">
            <a:avLst/>
          </a:prstGeom>
          <a:solidFill>
            <a:srgbClr val="CED7E6"/>
          </a:solidFill>
          <a:ln>
            <a:noFill/>
          </a:ln>
        </p:spPr>
      </p:sp>
      <p:sp>
        <p:nvSpPr>
          <p:cNvPr id="26" name="wm.whiteboard.36.54"/>
          <p:cNvSpPr/>
          <p:nvPr/>
        </p:nvSpPr>
        <p:spPr>
          <a:xfrm>
            <a:off x="4381500" y="914400"/>
            <a:ext cx="38100" cy="38100"/>
          </a:xfrm>
          <a:prstGeom prst="rect">
            <a:avLst/>
          </a:prstGeom>
          <a:solidFill>
            <a:srgbClr val="CED7E6">
              <a:alpha val="94671"/>
            </a:srgbClr>
          </a:solidFill>
          <a:ln>
            <a:noFill/>
          </a:ln>
        </p:spPr>
      </p:sp>
      <p:sp>
        <p:nvSpPr>
          <p:cNvPr id="27" name="wm.whiteboard.36.72"/>
          <p:cNvSpPr/>
          <p:nvPr/>
        </p:nvSpPr>
        <p:spPr>
          <a:xfrm>
            <a:off x="4381500" y="1143000"/>
            <a:ext cx="38100" cy="38100"/>
          </a:xfrm>
          <a:prstGeom prst="rect">
            <a:avLst/>
          </a:prstGeom>
          <a:solidFill>
            <a:srgbClr val="CED7E6">
              <a:alpha val="79547"/>
            </a:srgbClr>
          </a:solidFill>
          <a:ln>
            <a:noFill/>
          </a:ln>
        </p:spPr>
      </p:sp>
      <p:sp>
        <p:nvSpPr>
          <p:cNvPr id="28" name="wm.whiteboard.36.90"/>
          <p:cNvSpPr/>
          <p:nvPr/>
        </p:nvSpPr>
        <p:spPr>
          <a:xfrm>
            <a:off x="4381500" y="1371600"/>
            <a:ext cx="38100" cy="38100"/>
          </a:xfrm>
          <a:prstGeom prst="rect">
            <a:avLst/>
          </a:prstGeom>
          <a:solidFill>
            <a:srgbClr val="CED7E6">
              <a:alpha val="63833"/>
            </a:srgbClr>
          </a:solidFill>
          <a:ln>
            <a:noFill/>
          </a:ln>
        </p:spPr>
      </p:sp>
      <p:sp>
        <p:nvSpPr>
          <p:cNvPr id="29" name="wm.whiteboard.36.108"/>
          <p:cNvSpPr/>
          <p:nvPr/>
        </p:nvSpPr>
        <p:spPr>
          <a:xfrm>
            <a:off x="4381500" y="1600200"/>
            <a:ext cx="38100" cy="38100"/>
          </a:xfrm>
          <a:prstGeom prst="rect">
            <a:avLst/>
          </a:prstGeom>
          <a:solidFill>
            <a:srgbClr val="CED7E6">
              <a:alpha val="47790"/>
            </a:srgbClr>
          </a:solidFill>
          <a:ln>
            <a:noFill/>
          </a:ln>
        </p:spPr>
      </p:sp>
      <p:sp>
        <p:nvSpPr>
          <p:cNvPr id="30" name="wm.whiteboard.36.126"/>
          <p:cNvSpPr/>
          <p:nvPr/>
        </p:nvSpPr>
        <p:spPr>
          <a:xfrm>
            <a:off x="4381500" y="1828800"/>
            <a:ext cx="38100" cy="38100"/>
          </a:xfrm>
          <a:prstGeom prst="rect">
            <a:avLst/>
          </a:prstGeom>
          <a:solidFill>
            <a:srgbClr val="CED7E6">
              <a:alpha val="31549"/>
            </a:srgbClr>
          </a:solidFill>
          <a:ln>
            <a:noFill/>
          </a:ln>
        </p:spPr>
      </p:sp>
      <p:sp>
        <p:nvSpPr>
          <p:cNvPr id="31" name="wm.whiteboard.36.144"/>
          <p:cNvSpPr/>
          <p:nvPr/>
        </p:nvSpPr>
        <p:spPr>
          <a:xfrm>
            <a:off x="4381500" y="2057400"/>
            <a:ext cx="38100" cy="38100"/>
          </a:xfrm>
          <a:prstGeom prst="rect">
            <a:avLst/>
          </a:prstGeom>
          <a:solidFill>
            <a:srgbClr val="CED7E6">
              <a:alpha val="15179"/>
            </a:srgbClr>
          </a:solidFill>
          <a:ln>
            <a:noFill/>
          </a:ln>
        </p:spPr>
      </p:sp>
      <p:sp>
        <p:nvSpPr>
          <p:cNvPr id="32" name="wm.whiteboard.54.0"/>
          <p:cNvSpPr/>
          <p:nvPr/>
        </p:nvSpPr>
        <p:spPr>
          <a:xfrm>
            <a:off x="4610100" y="228600"/>
            <a:ext cx="38100" cy="38100"/>
          </a:xfrm>
          <a:prstGeom prst="rect">
            <a:avLst/>
          </a:prstGeom>
          <a:solidFill>
            <a:srgbClr val="CED7E6"/>
          </a:solidFill>
          <a:ln>
            <a:noFill/>
          </a:ln>
        </p:spPr>
      </p:sp>
      <p:sp>
        <p:nvSpPr>
          <p:cNvPr id="33" name="wm.whiteboard.54.18"/>
          <p:cNvSpPr/>
          <p:nvPr/>
        </p:nvSpPr>
        <p:spPr>
          <a:xfrm>
            <a:off x="4610100" y="457200"/>
            <a:ext cx="38100" cy="38100"/>
          </a:xfrm>
          <a:prstGeom prst="rect">
            <a:avLst/>
          </a:prstGeom>
          <a:solidFill>
            <a:srgbClr val="CED7E6"/>
          </a:solidFill>
          <a:ln>
            <a:noFill/>
          </a:ln>
        </p:spPr>
      </p:sp>
      <p:sp>
        <p:nvSpPr>
          <p:cNvPr id="34" name="wm.whiteboard.54.36"/>
          <p:cNvSpPr/>
          <p:nvPr/>
        </p:nvSpPr>
        <p:spPr>
          <a:xfrm>
            <a:off x="4610100" y="685800"/>
            <a:ext cx="38100" cy="38100"/>
          </a:xfrm>
          <a:prstGeom prst="rect">
            <a:avLst/>
          </a:prstGeom>
          <a:solidFill>
            <a:srgbClr val="CED7E6">
              <a:alpha val="98827"/>
            </a:srgbClr>
          </a:solidFill>
          <a:ln>
            <a:noFill/>
          </a:ln>
        </p:spPr>
      </p:sp>
      <p:sp>
        <p:nvSpPr>
          <p:cNvPr id="35" name="wm.whiteboard.54.54"/>
          <p:cNvSpPr/>
          <p:nvPr/>
        </p:nvSpPr>
        <p:spPr>
          <a:xfrm>
            <a:off x="4610100" y="914400"/>
            <a:ext cx="38100" cy="38100"/>
          </a:xfrm>
          <a:prstGeom prst="rect">
            <a:avLst/>
          </a:prstGeom>
          <a:solidFill>
            <a:srgbClr val="CED7E6">
              <a:alpha val="86895"/>
            </a:srgbClr>
          </a:solidFill>
          <a:ln>
            <a:noFill/>
          </a:ln>
        </p:spPr>
      </p:sp>
      <p:sp>
        <p:nvSpPr>
          <p:cNvPr id="36" name="wm.whiteboard.54.72"/>
          <p:cNvSpPr/>
          <p:nvPr/>
        </p:nvSpPr>
        <p:spPr>
          <a:xfrm>
            <a:off x="4610100" y="1143000"/>
            <a:ext cx="38100" cy="38100"/>
          </a:xfrm>
          <a:prstGeom prst="rect">
            <a:avLst/>
          </a:prstGeom>
          <a:solidFill>
            <a:srgbClr val="CED7E6">
              <a:alpha val="73217"/>
            </a:srgbClr>
          </a:solidFill>
          <a:ln>
            <a:noFill/>
          </a:ln>
        </p:spPr>
      </p:sp>
      <p:sp>
        <p:nvSpPr>
          <p:cNvPr id="37" name="wm.whiteboard.54.90"/>
          <p:cNvSpPr/>
          <p:nvPr/>
        </p:nvSpPr>
        <p:spPr>
          <a:xfrm>
            <a:off x="4610100" y="1371600"/>
            <a:ext cx="38100" cy="38100"/>
          </a:xfrm>
          <a:prstGeom prst="rect">
            <a:avLst/>
          </a:prstGeom>
          <a:solidFill>
            <a:srgbClr val="CED7E6">
              <a:alpha val="58541"/>
            </a:srgbClr>
          </a:solidFill>
          <a:ln>
            <a:noFill/>
          </a:ln>
        </p:spPr>
      </p:sp>
      <p:sp>
        <p:nvSpPr>
          <p:cNvPr id="38" name="wm.whiteboard.54.108"/>
          <p:cNvSpPr/>
          <p:nvPr/>
        </p:nvSpPr>
        <p:spPr>
          <a:xfrm>
            <a:off x="4610100" y="1600200"/>
            <a:ext cx="38100" cy="38100"/>
          </a:xfrm>
          <a:prstGeom prst="rect">
            <a:avLst/>
          </a:prstGeom>
          <a:solidFill>
            <a:srgbClr val="CED7E6">
              <a:alpha val="43263"/>
            </a:srgbClr>
          </a:solidFill>
          <a:ln>
            <a:noFill/>
          </a:ln>
        </p:spPr>
      </p:sp>
      <p:sp>
        <p:nvSpPr>
          <p:cNvPr id="39" name="wm.whiteboard.54.126"/>
          <p:cNvSpPr/>
          <p:nvPr/>
        </p:nvSpPr>
        <p:spPr>
          <a:xfrm>
            <a:off x="4610100" y="1828800"/>
            <a:ext cx="38100" cy="38100"/>
          </a:xfrm>
          <a:prstGeom prst="rect">
            <a:avLst/>
          </a:prstGeom>
          <a:solidFill>
            <a:srgbClr val="CED7E6">
              <a:alpha val="27603"/>
            </a:srgbClr>
          </a:solidFill>
          <a:ln>
            <a:noFill/>
          </a:ln>
        </p:spPr>
      </p:sp>
      <p:sp>
        <p:nvSpPr>
          <p:cNvPr id="40" name="wm.whiteboard.54.144"/>
          <p:cNvSpPr/>
          <p:nvPr/>
        </p:nvSpPr>
        <p:spPr>
          <a:xfrm>
            <a:off x="4610100" y="2057400"/>
            <a:ext cx="38100" cy="38100"/>
          </a:xfrm>
          <a:prstGeom prst="rect">
            <a:avLst/>
          </a:prstGeom>
          <a:solidFill>
            <a:srgbClr val="CED7E6">
              <a:alpha val="11687"/>
            </a:srgbClr>
          </a:solidFill>
          <a:ln>
            <a:noFill/>
          </a:ln>
        </p:spPr>
      </p:sp>
      <p:sp>
        <p:nvSpPr>
          <p:cNvPr id="41" name="wm.whiteboard.72.0"/>
          <p:cNvSpPr/>
          <p:nvPr/>
        </p:nvSpPr>
        <p:spPr>
          <a:xfrm>
            <a:off x="4838700" y="228600"/>
            <a:ext cx="38100" cy="38100"/>
          </a:xfrm>
          <a:prstGeom prst="rect">
            <a:avLst/>
          </a:prstGeom>
          <a:solidFill>
            <a:srgbClr val="CED7E6">
              <a:alpha val="97572"/>
            </a:srgbClr>
          </a:solidFill>
          <a:ln>
            <a:noFill/>
          </a:ln>
        </p:spPr>
      </p:sp>
      <p:sp>
        <p:nvSpPr>
          <p:cNvPr id="42" name="wm.whiteboard.72.18"/>
          <p:cNvSpPr/>
          <p:nvPr/>
        </p:nvSpPr>
        <p:spPr>
          <a:xfrm>
            <a:off x="4838700" y="457200"/>
            <a:ext cx="38100" cy="38100"/>
          </a:xfrm>
          <a:prstGeom prst="rect">
            <a:avLst/>
          </a:prstGeom>
          <a:solidFill>
            <a:srgbClr val="CED7E6">
              <a:alpha val="94724"/>
            </a:srgbClr>
          </a:solidFill>
          <a:ln>
            <a:noFill/>
          </a:ln>
        </p:spPr>
      </p:sp>
      <p:sp>
        <p:nvSpPr>
          <p:cNvPr id="43" name="wm.whiteboard.72.36"/>
          <p:cNvSpPr/>
          <p:nvPr/>
        </p:nvSpPr>
        <p:spPr>
          <a:xfrm>
            <a:off x="4838700" y="685800"/>
            <a:ext cx="38100" cy="38100"/>
          </a:xfrm>
          <a:prstGeom prst="rect">
            <a:avLst/>
          </a:prstGeom>
          <a:solidFill>
            <a:srgbClr val="CED7E6">
              <a:alpha val="87609"/>
            </a:srgbClr>
          </a:solidFill>
          <a:ln>
            <a:noFill/>
          </a:ln>
        </p:spPr>
      </p:sp>
      <p:sp>
        <p:nvSpPr>
          <p:cNvPr id="44" name="wm.whiteboard.72.54"/>
          <p:cNvSpPr/>
          <p:nvPr/>
        </p:nvSpPr>
        <p:spPr>
          <a:xfrm>
            <a:off x="4838700" y="914400"/>
            <a:ext cx="38100" cy="38100"/>
          </a:xfrm>
          <a:prstGeom prst="rect">
            <a:avLst/>
          </a:prstGeom>
          <a:solidFill>
            <a:srgbClr val="CED7E6">
              <a:alpha val="77408"/>
            </a:srgbClr>
          </a:solidFill>
          <a:ln>
            <a:noFill/>
          </a:ln>
        </p:spPr>
      </p:sp>
      <p:sp>
        <p:nvSpPr>
          <p:cNvPr id="45" name="wm.whiteboard.72.72"/>
          <p:cNvSpPr/>
          <p:nvPr/>
        </p:nvSpPr>
        <p:spPr>
          <a:xfrm>
            <a:off x="4838700" y="1143000"/>
            <a:ext cx="38100" cy="38100"/>
          </a:xfrm>
          <a:prstGeom prst="rect">
            <a:avLst/>
          </a:prstGeom>
          <a:solidFill>
            <a:srgbClr val="CED7E6">
              <a:alpha val="65181"/>
            </a:srgbClr>
          </a:solidFill>
          <a:ln>
            <a:noFill/>
          </a:ln>
        </p:spPr>
      </p:sp>
      <p:sp>
        <p:nvSpPr>
          <p:cNvPr id="46" name="wm.whiteboard.72.90"/>
          <p:cNvSpPr/>
          <p:nvPr/>
        </p:nvSpPr>
        <p:spPr>
          <a:xfrm>
            <a:off x="4838700" y="1371600"/>
            <a:ext cx="38100" cy="38100"/>
          </a:xfrm>
          <a:prstGeom prst="rect">
            <a:avLst/>
          </a:prstGeom>
          <a:solidFill>
            <a:srgbClr val="CED7E6">
              <a:alpha val="51653"/>
            </a:srgbClr>
          </a:solidFill>
          <a:ln>
            <a:noFill/>
          </a:ln>
        </p:spPr>
      </p:sp>
      <p:sp>
        <p:nvSpPr>
          <p:cNvPr id="47" name="wm.whiteboard.72.108"/>
          <p:cNvSpPr/>
          <p:nvPr/>
        </p:nvSpPr>
        <p:spPr>
          <a:xfrm>
            <a:off x="4838700" y="1600200"/>
            <a:ext cx="38100" cy="38100"/>
          </a:xfrm>
          <a:prstGeom prst="rect">
            <a:avLst/>
          </a:prstGeom>
          <a:solidFill>
            <a:srgbClr val="CED7E6">
              <a:alpha val="37275"/>
            </a:srgbClr>
          </a:solidFill>
          <a:ln>
            <a:noFill/>
          </a:ln>
        </p:spPr>
      </p:sp>
      <p:sp>
        <p:nvSpPr>
          <p:cNvPr id="48" name="wm.whiteboard.72.126"/>
          <p:cNvSpPr/>
          <p:nvPr/>
        </p:nvSpPr>
        <p:spPr>
          <a:xfrm>
            <a:off x="4838700" y="1828800"/>
            <a:ext cx="38100" cy="38100"/>
          </a:xfrm>
          <a:prstGeom prst="rect">
            <a:avLst/>
          </a:prstGeom>
          <a:solidFill>
            <a:srgbClr val="CED7E6">
              <a:alpha val="22326"/>
            </a:srgbClr>
          </a:solidFill>
          <a:ln>
            <a:noFill/>
          </a:ln>
        </p:spPr>
      </p:sp>
      <p:sp>
        <p:nvSpPr>
          <p:cNvPr id="49" name="wm.whiteboard.72.144"/>
          <p:cNvSpPr/>
          <p:nvPr/>
        </p:nvSpPr>
        <p:spPr>
          <a:xfrm>
            <a:off x="4838700" y="2057400"/>
            <a:ext cx="38100" cy="38100"/>
          </a:xfrm>
          <a:prstGeom prst="rect">
            <a:avLst/>
          </a:prstGeom>
          <a:solidFill>
            <a:srgbClr val="CED7E6">
              <a:alpha val="6980"/>
            </a:srgbClr>
          </a:solidFill>
          <a:ln>
            <a:noFill/>
          </a:ln>
        </p:spPr>
      </p:sp>
      <p:sp>
        <p:nvSpPr>
          <p:cNvPr id="50" name="wm.whiteboard.90.0"/>
          <p:cNvSpPr/>
          <p:nvPr/>
        </p:nvSpPr>
        <p:spPr>
          <a:xfrm>
            <a:off x="5067300" y="228600"/>
            <a:ext cx="38100" cy="38100"/>
          </a:xfrm>
          <a:prstGeom prst="rect">
            <a:avLst/>
          </a:prstGeom>
          <a:solidFill>
            <a:srgbClr val="CED7E6">
              <a:alpha val="83798"/>
            </a:srgbClr>
          </a:solidFill>
          <a:ln>
            <a:noFill/>
          </a:ln>
        </p:spPr>
      </p:sp>
      <p:sp>
        <p:nvSpPr>
          <p:cNvPr id="51" name="wm.whiteboard.90.18"/>
          <p:cNvSpPr/>
          <p:nvPr/>
        </p:nvSpPr>
        <p:spPr>
          <a:xfrm>
            <a:off x="5067300" y="457200"/>
            <a:ext cx="38100" cy="38100"/>
          </a:xfrm>
          <a:prstGeom prst="rect">
            <a:avLst/>
          </a:prstGeom>
          <a:solidFill>
            <a:srgbClr val="CED7E6">
              <a:alpha val="81490"/>
            </a:srgbClr>
          </a:solidFill>
          <a:ln>
            <a:noFill/>
          </a:ln>
        </p:spPr>
      </p:sp>
      <p:sp>
        <p:nvSpPr>
          <p:cNvPr id="52" name="wm.whiteboard.90.36"/>
          <p:cNvSpPr/>
          <p:nvPr/>
        </p:nvSpPr>
        <p:spPr>
          <a:xfrm>
            <a:off x="5067300" y="685800"/>
            <a:ext cx="38100" cy="38100"/>
          </a:xfrm>
          <a:prstGeom prst="rect">
            <a:avLst/>
          </a:prstGeom>
          <a:solidFill>
            <a:srgbClr val="CED7E6">
              <a:alpha val="75569"/>
            </a:srgbClr>
          </a:solidFill>
          <a:ln>
            <a:noFill/>
          </a:ln>
        </p:spPr>
      </p:sp>
      <p:sp>
        <p:nvSpPr>
          <p:cNvPr id="53" name="wm.whiteboard.90.54"/>
          <p:cNvSpPr/>
          <p:nvPr/>
        </p:nvSpPr>
        <p:spPr>
          <a:xfrm>
            <a:off x="5067300" y="914400"/>
            <a:ext cx="38100" cy="38100"/>
          </a:xfrm>
          <a:prstGeom prst="rect">
            <a:avLst/>
          </a:prstGeom>
          <a:solidFill>
            <a:srgbClr val="CED7E6">
              <a:alpha val="66767"/>
            </a:srgbClr>
          </a:solidFill>
          <a:ln>
            <a:noFill/>
          </a:ln>
        </p:spPr>
      </p:sp>
      <p:sp>
        <p:nvSpPr>
          <p:cNvPr id="54" name="wm.whiteboard.90.72"/>
          <p:cNvSpPr/>
          <p:nvPr/>
        </p:nvSpPr>
        <p:spPr>
          <a:xfrm>
            <a:off x="5067300" y="1143000"/>
            <a:ext cx="38100" cy="38100"/>
          </a:xfrm>
          <a:prstGeom prst="rect">
            <a:avLst/>
          </a:prstGeom>
          <a:solidFill>
            <a:srgbClr val="CED7E6">
              <a:alpha val="55859"/>
            </a:srgbClr>
          </a:solidFill>
          <a:ln>
            <a:noFill/>
          </a:ln>
        </p:spPr>
      </p:sp>
      <p:sp>
        <p:nvSpPr>
          <p:cNvPr id="55" name="wm.whiteboard.90.90"/>
          <p:cNvSpPr/>
          <p:nvPr/>
        </p:nvSpPr>
        <p:spPr>
          <a:xfrm>
            <a:off x="5067300" y="1371600"/>
            <a:ext cx="38100" cy="38100"/>
          </a:xfrm>
          <a:prstGeom prst="rect">
            <a:avLst/>
          </a:prstGeom>
          <a:solidFill>
            <a:srgbClr val="CED7E6">
              <a:alpha val="43468"/>
            </a:srgbClr>
          </a:solidFill>
          <a:ln>
            <a:noFill/>
          </a:ln>
        </p:spPr>
      </p:sp>
      <p:sp>
        <p:nvSpPr>
          <p:cNvPr id="56" name="wm.whiteboard.90.108"/>
          <p:cNvSpPr/>
          <p:nvPr/>
        </p:nvSpPr>
        <p:spPr>
          <a:xfrm>
            <a:off x="5067300" y="1600200"/>
            <a:ext cx="38100" cy="38100"/>
          </a:xfrm>
          <a:prstGeom prst="rect">
            <a:avLst/>
          </a:prstGeom>
          <a:solidFill>
            <a:srgbClr val="CED7E6">
              <a:alpha val="30037"/>
            </a:srgbClr>
          </a:solidFill>
          <a:ln>
            <a:noFill/>
          </a:ln>
        </p:spPr>
      </p:sp>
      <p:sp>
        <p:nvSpPr>
          <p:cNvPr id="57" name="wm.whiteboard.90.126"/>
          <p:cNvSpPr/>
          <p:nvPr/>
        </p:nvSpPr>
        <p:spPr>
          <a:xfrm>
            <a:off x="5067300" y="1828800"/>
            <a:ext cx="38100" cy="38100"/>
          </a:xfrm>
          <a:prstGeom prst="rect">
            <a:avLst/>
          </a:prstGeom>
          <a:solidFill>
            <a:srgbClr val="CED7E6">
              <a:alpha val="15870"/>
            </a:srgbClr>
          </a:solidFill>
          <a:ln>
            <a:noFill/>
          </a:ln>
        </p:spPr>
      </p:sp>
      <p:sp>
        <p:nvSpPr>
          <p:cNvPr id="58" name="wm.whiteboard.90.144"/>
          <p:cNvSpPr/>
          <p:nvPr/>
        </p:nvSpPr>
        <p:spPr>
          <a:xfrm>
            <a:off x="5067300" y="2057400"/>
            <a:ext cx="38100" cy="38100"/>
          </a:xfrm>
          <a:prstGeom prst="rect">
            <a:avLst/>
          </a:prstGeom>
          <a:solidFill>
            <a:srgbClr val="CED7E6">
              <a:alpha val="1171"/>
            </a:srgbClr>
          </a:solidFill>
          <a:ln>
            <a:noFill/>
          </a:ln>
        </p:spPr>
      </p:sp>
      <p:sp>
        <p:nvSpPr>
          <p:cNvPr id="59" name="wm.whiteboard.108.0"/>
          <p:cNvSpPr/>
          <p:nvPr/>
        </p:nvSpPr>
        <p:spPr>
          <a:xfrm>
            <a:off x="5295900" y="228600"/>
            <a:ext cx="38100" cy="38100"/>
          </a:xfrm>
          <a:prstGeom prst="rect">
            <a:avLst/>
          </a:prstGeom>
          <a:solidFill>
            <a:srgbClr val="CED7E6">
              <a:alpha val="70023"/>
            </a:srgbClr>
          </a:solidFill>
          <a:ln>
            <a:noFill/>
          </a:ln>
        </p:spPr>
      </p:sp>
      <p:sp>
        <p:nvSpPr>
          <p:cNvPr id="60" name="wm.whiteboard.108.18"/>
          <p:cNvSpPr/>
          <p:nvPr/>
        </p:nvSpPr>
        <p:spPr>
          <a:xfrm>
            <a:off x="5295900" y="457200"/>
            <a:ext cx="38100" cy="38100"/>
          </a:xfrm>
          <a:prstGeom prst="rect">
            <a:avLst/>
          </a:prstGeom>
          <a:solidFill>
            <a:srgbClr val="CED7E6">
              <a:alpha val="68085"/>
            </a:srgbClr>
          </a:solidFill>
          <a:ln>
            <a:noFill/>
          </a:ln>
        </p:spPr>
      </p:sp>
      <p:sp>
        <p:nvSpPr>
          <p:cNvPr id="61" name="wm.whiteboard.108.36"/>
          <p:cNvSpPr/>
          <p:nvPr/>
        </p:nvSpPr>
        <p:spPr>
          <a:xfrm>
            <a:off x="5295900" y="685800"/>
            <a:ext cx="38100" cy="38100"/>
          </a:xfrm>
          <a:prstGeom prst="rect">
            <a:avLst/>
          </a:prstGeom>
          <a:solidFill>
            <a:srgbClr val="CED7E6">
              <a:alpha val="63033"/>
            </a:srgbClr>
          </a:solidFill>
          <a:ln>
            <a:noFill/>
          </a:ln>
        </p:spPr>
      </p:sp>
      <p:sp>
        <p:nvSpPr>
          <p:cNvPr id="62" name="wm.whiteboard.108.54"/>
          <p:cNvSpPr/>
          <p:nvPr/>
        </p:nvSpPr>
        <p:spPr>
          <a:xfrm>
            <a:off x="5295900" y="914400"/>
            <a:ext cx="38100" cy="38100"/>
          </a:xfrm>
          <a:prstGeom prst="rect">
            <a:avLst/>
          </a:prstGeom>
          <a:solidFill>
            <a:srgbClr val="CED7E6">
              <a:alpha val="55346"/>
            </a:srgbClr>
          </a:solidFill>
          <a:ln>
            <a:noFill/>
          </a:ln>
        </p:spPr>
      </p:sp>
      <p:sp>
        <p:nvSpPr>
          <p:cNvPr id="63" name="wm.whiteboard.108.72"/>
          <p:cNvSpPr/>
          <p:nvPr/>
        </p:nvSpPr>
        <p:spPr>
          <a:xfrm>
            <a:off x="5295900" y="1143000"/>
            <a:ext cx="38100" cy="38100"/>
          </a:xfrm>
          <a:prstGeom prst="rect">
            <a:avLst/>
          </a:prstGeom>
          <a:solidFill>
            <a:srgbClr val="CED7E6">
              <a:alpha val="45583"/>
            </a:srgbClr>
          </a:solidFill>
          <a:ln>
            <a:noFill/>
          </a:ln>
        </p:spPr>
      </p:sp>
      <p:sp>
        <p:nvSpPr>
          <p:cNvPr id="64" name="wm.whiteboard.108.90"/>
          <p:cNvSpPr/>
          <p:nvPr/>
        </p:nvSpPr>
        <p:spPr>
          <a:xfrm>
            <a:off x="5295900" y="1371600"/>
            <a:ext cx="38100" cy="38100"/>
          </a:xfrm>
          <a:prstGeom prst="rect">
            <a:avLst/>
          </a:prstGeom>
          <a:solidFill>
            <a:srgbClr val="CED7E6">
              <a:alpha val="34251"/>
            </a:srgbClr>
          </a:solidFill>
          <a:ln>
            <a:noFill/>
          </a:ln>
        </p:spPr>
      </p:sp>
      <p:sp>
        <p:nvSpPr>
          <p:cNvPr id="65" name="wm.whiteboard.108.108"/>
          <p:cNvSpPr/>
          <p:nvPr/>
        </p:nvSpPr>
        <p:spPr>
          <a:xfrm>
            <a:off x="5295900" y="1600200"/>
            <a:ext cx="38100" cy="38100"/>
          </a:xfrm>
          <a:prstGeom prst="rect">
            <a:avLst/>
          </a:prstGeom>
          <a:solidFill>
            <a:srgbClr val="CED7E6">
              <a:alpha val="21754"/>
            </a:srgbClr>
          </a:solidFill>
          <a:ln>
            <a:noFill/>
          </a:ln>
        </p:spPr>
      </p:sp>
      <p:sp>
        <p:nvSpPr>
          <p:cNvPr id="66" name="wm.whiteboard.108.126"/>
          <p:cNvSpPr/>
          <p:nvPr/>
        </p:nvSpPr>
        <p:spPr>
          <a:xfrm>
            <a:off x="5295900" y="1828800"/>
            <a:ext cx="38100" cy="38100"/>
          </a:xfrm>
          <a:prstGeom prst="rect">
            <a:avLst/>
          </a:prstGeom>
          <a:solidFill>
            <a:srgbClr val="CED7E6">
              <a:alpha val="8391"/>
            </a:srgbClr>
          </a:solidFill>
          <a:ln>
            <a:noFill/>
          </a:ln>
        </p:spPr>
      </p:sp>
      <p:sp>
        <p:nvSpPr>
          <p:cNvPr id="67" name="wm.whiteboard.126.0"/>
          <p:cNvSpPr/>
          <p:nvPr/>
        </p:nvSpPr>
        <p:spPr>
          <a:xfrm>
            <a:off x="5524500" y="228600"/>
            <a:ext cx="38100" cy="38100"/>
          </a:xfrm>
          <a:prstGeom prst="rect">
            <a:avLst/>
          </a:prstGeom>
          <a:solidFill>
            <a:srgbClr val="CED7E6">
              <a:alpha val="56247"/>
            </a:srgbClr>
          </a:solidFill>
          <a:ln>
            <a:noFill/>
          </a:ln>
        </p:spPr>
      </p:sp>
      <p:sp>
        <p:nvSpPr>
          <p:cNvPr id="68" name="wm.whiteboard.126.18"/>
          <p:cNvSpPr/>
          <p:nvPr/>
        </p:nvSpPr>
        <p:spPr>
          <a:xfrm>
            <a:off x="5524500" y="457200"/>
            <a:ext cx="38100" cy="38100"/>
          </a:xfrm>
          <a:prstGeom prst="rect">
            <a:avLst/>
          </a:prstGeom>
          <a:solidFill>
            <a:srgbClr val="CED7E6">
              <a:alpha val="54578"/>
            </a:srgbClr>
          </a:solidFill>
          <a:ln>
            <a:noFill/>
          </a:ln>
        </p:spPr>
      </p:sp>
      <p:sp>
        <p:nvSpPr>
          <p:cNvPr id="69" name="wm.whiteboard.126.36"/>
          <p:cNvSpPr/>
          <p:nvPr/>
        </p:nvSpPr>
        <p:spPr>
          <a:xfrm>
            <a:off x="5524500" y="685800"/>
            <a:ext cx="38100" cy="38100"/>
          </a:xfrm>
          <a:prstGeom prst="rect">
            <a:avLst/>
          </a:prstGeom>
          <a:solidFill>
            <a:srgbClr val="CED7E6">
              <a:alpha val="50182"/>
            </a:srgbClr>
          </a:solidFill>
          <a:ln>
            <a:noFill/>
          </a:ln>
        </p:spPr>
      </p:sp>
      <p:sp>
        <p:nvSpPr>
          <p:cNvPr id="70" name="wm.whiteboard.126.54"/>
          <p:cNvSpPr/>
          <p:nvPr/>
        </p:nvSpPr>
        <p:spPr>
          <a:xfrm>
            <a:off x="5524500" y="914400"/>
            <a:ext cx="38100" cy="38100"/>
          </a:xfrm>
          <a:prstGeom prst="rect">
            <a:avLst/>
          </a:prstGeom>
          <a:solidFill>
            <a:srgbClr val="CED7E6">
              <a:alpha val="43386"/>
            </a:srgbClr>
          </a:solidFill>
          <a:ln>
            <a:noFill/>
          </a:ln>
        </p:spPr>
      </p:sp>
      <p:sp>
        <p:nvSpPr>
          <p:cNvPr id="71" name="wm.whiteboard.126.72"/>
          <p:cNvSpPr/>
          <p:nvPr/>
        </p:nvSpPr>
        <p:spPr>
          <a:xfrm>
            <a:off x="5524500" y="1143000"/>
            <a:ext cx="38100" cy="38100"/>
          </a:xfrm>
          <a:prstGeom prst="rect">
            <a:avLst/>
          </a:prstGeom>
          <a:solidFill>
            <a:srgbClr val="CED7E6">
              <a:alpha val="34598"/>
            </a:srgbClr>
          </a:solidFill>
          <a:ln>
            <a:noFill/>
          </a:ln>
        </p:spPr>
      </p:sp>
      <p:sp>
        <p:nvSpPr>
          <p:cNvPr id="72" name="wm.whiteboard.126.90"/>
          <p:cNvSpPr/>
          <p:nvPr/>
        </p:nvSpPr>
        <p:spPr>
          <a:xfrm>
            <a:off x="5524500" y="1371600"/>
            <a:ext cx="38100" cy="38100"/>
          </a:xfrm>
          <a:prstGeom prst="rect">
            <a:avLst/>
          </a:prstGeom>
          <a:solidFill>
            <a:srgbClr val="CED7E6">
              <a:alpha val="24223"/>
            </a:srgbClr>
          </a:solidFill>
          <a:ln>
            <a:noFill/>
          </a:ln>
        </p:spPr>
      </p:sp>
      <p:sp>
        <p:nvSpPr>
          <p:cNvPr id="73" name="wm.whiteboard.126.108"/>
          <p:cNvSpPr/>
          <p:nvPr/>
        </p:nvSpPr>
        <p:spPr>
          <a:xfrm>
            <a:off x="5524500" y="1600200"/>
            <a:ext cx="38100" cy="38100"/>
          </a:xfrm>
          <a:prstGeom prst="rect">
            <a:avLst/>
          </a:prstGeom>
          <a:solidFill>
            <a:srgbClr val="CED7E6">
              <a:alpha val="12610"/>
            </a:srgbClr>
          </a:solidFill>
          <a:ln>
            <a:noFill/>
          </a:ln>
        </p:spPr>
      </p:sp>
      <p:sp>
        <p:nvSpPr>
          <p:cNvPr id="74" name="wm.whiteboard.126.126"/>
          <p:cNvSpPr/>
          <p:nvPr/>
        </p:nvSpPr>
        <p:spPr>
          <a:xfrm>
            <a:off x="5524500" y="1828800"/>
            <a:ext cx="38100" cy="38100"/>
          </a:xfrm>
          <a:prstGeom prst="rect">
            <a:avLst/>
          </a:prstGeom>
          <a:solidFill>
            <a:srgbClr val="CED7E6">
              <a:alpha val="40"/>
            </a:srgbClr>
          </a:solidFill>
          <a:ln>
            <a:noFill/>
          </a:ln>
        </p:spPr>
      </p:sp>
      <p:sp>
        <p:nvSpPr>
          <p:cNvPr id="75" name="wm.whiteboard.144.0"/>
          <p:cNvSpPr/>
          <p:nvPr/>
        </p:nvSpPr>
        <p:spPr>
          <a:xfrm>
            <a:off x="5753100" y="228600"/>
            <a:ext cx="38100" cy="38100"/>
          </a:xfrm>
          <a:prstGeom prst="rect">
            <a:avLst/>
          </a:prstGeom>
          <a:solidFill>
            <a:srgbClr val="CED7E6">
              <a:alpha val="42471"/>
            </a:srgbClr>
          </a:solidFill>
          <a:ln>
            <a:noFill/>
          </a:ln>
        </p:spPr>
      </p:sp>
      <p:sp>
        <p:nvSpPr>
          <p:cNvPr id="76" name="wm.whiteboard.144.18"/>
          <p:cNvSpPr/>
          <p:nvPr/>
        </p:nvSpPr>
        <p:spPr>
          <a:xfrm>
            <a:off x="5753100" y="457200"/>
            <a:ext cx="38100" cy="38100"/>
          </a:xfrm>
          <a:prstGeom prst="rect">
            <a:avLst/>
          </a:prstGeom>
          <a:solidFill>
            <a:srgbClr val="CED7E6">
              <a:alpha val="41005"/>
            </a:srgbClr>
          </a:solidFill>
          <a:ln>
            <a:noFill/>
          </a:ln>
        </p:spPr>
      </p:sp>
      <p:sp>
        <p:nvSpPr>
          <p:cNvPr id="77" name="wm.whiteboard.144.36"/>
          <p:cNvSpPr/>
          <p:nvPr/>
        </p:nvSpPr>
        <p:spPr>
          <a:xfrm>
            <a:off x="5753100" y="685800"/>
            <a:ext cx="38100" cy="38100"/>
          </a:xfrm>
          <a:prstGeom prst="rect">
            <a:avLst/>
          </a:prstGeom>
          <a:solidFill>
            <a:srgbClr val="CED7E6">
              <a:alpha val="37120"/>
            </a:srgbClr>
          </a:solidFill>
          <a:ln>
            <a:noFill/>
          </a:ln>
        </p:spPr>
      </p:sp>
      <p:sp>
        <p:nvSpPr>
          <p:cNvPr id="78" name="wm.whiteboard.144.54"/>
          <p:cNvSpPr/>
          <p:nvPr/>
        </p:nvSpPr>
        <p:spPr>
          <a:xfrm>
            <a:off x="5753100" y="914400"/>
            <a:ext cx="38100" cy="38100"/>
          </a:xfrm>
          <a:prstGeom prst="rect">
            <a:avLst/>
          </a:prstGeom>
          <a:solidFill>
            <a:srgbClr val="CED7E6">
              <a:alpha val="31044"/>
            </a:srgbClr>
          </a:solidFill>
          <a:ln>
            <a:noFill/>
          </a:ln>
        </p:spPr>
      </p:sp>
      <p:sp>
        <p:nvSpPr>
          <p:cNvPr id="79" name="wm.whiteboard.144.72"/>
          <p:cNvSpPr/>
          <p:nvPr/>
        </p:nvSpPr>
        <p:spPr>
          <a:xfrm>
            <a:off x="5753100" y="1143000"/>
            <a:ext cx="38100" cy="38100"/>
          </a:xfrm>
          <a:prstGeom prst="rect">
            <a:avLst/>
          </a:prstGeom>
          <a:solidFill>
            <a:srgbClr val="CED7E6">
              <a:alpha val="23083"/>
            </a:srgbClr>
          </a:solidFill>
          <a:ln>
            <a:noFill/>
          </a:ln>
        </p:spPr>
      </p:sp>
      <p:sp>
        <p:nvSpPr>
          <p:cNvPr id="80" name="wm.whiteboard.144.90"/>
          <p:cNvSpPr/>
          <p:nvPr/>
        </p:nvSpPr>
        <p:spPr>
          <a:xfrm>
            <a:off x="5753100" y="1371600"/>
            <a:ext cx="38100" cy="38100"/>
          </a:xfrm>
          <a:prstGeom prst="rect">
            <a:avLst/>
          </a:prstGeom>
          <a:solidFill>
            <a:srgbClr val="CED7E6">
              <a:alpha val="13557"/>
            </a:srgbClr>
          </a:solidFill>
          <a:ln>
            <a:noFill/>
          </a:ln>
        </p:spPr>
      </p:sp>
      <p:sp>
        <p:nvSpPr>
          <p:cNvPr id="81" name="wm.whiteboard.144.108"/>
          <p:cNvSpPr/>
          <p:nvPr/>
        </p:nvSpPr>
        <p:spPr>
          <a:xfrm>
            <a:off x="5753100" y="1600200"/>
            <a:ext cx="38100" cy="38100"/>
          </a:xfrm>
          <a:prstGeom prst="rect">
            <a:avLst/>
          </a:prstGeom>
          <a:solidFill>
            <a:srgbClr val="CED7E6">
              <a:alpha val="2762"/>
            </a:srgbClr>
          </a:solidFill>
          <a:ln>
            <a:noFill/>
          </a:ln>
        </p:spPr>
      </p:sp>
      <p:sp>
        <p:nvSpPr>
          <p:cNvPr id="82" name="wm.whiteboard.162.0"/>
          <p:cNvSpPr/>
          <p:nvPr/>
        </p:nvSpPr>
        <p:spPr>
          <a:xfrm>
            <a:off x="5981700" y="228600"/>
            <a:ext cx="38100" cy="38100"/>
          </a:xfrm>
          <a:prstGeom prst="rect">
            <a:avLst/>
          </a:prstGeom>
          <a:solidFill>
            <a:srgbClr val="CED7E6">
              <a:alpha val="28695"/>
            </a:srgbClr>
          </a:solidFill>
          <a:ln>
            <a:noFill/>
          </a:ln>
        </p:spPr>
      </p:sp>
      <p:sp>
        <p:nvSpPr>
          <p:cNvPr id="83" name="wm.whiteboard.162.18"/>
          <p:cNvSpPr/>
          <p:nvPr/>
        </p:nvSpPr>
        <p:spPr>
          <a:xfrm>
            <a:off x="5981700" y="457200"/>
            <a:ext cx="38100" cy="38100"/>
          </a:xfrm>
          <a:prstGeom prst="rect">
            <a:avLst/>
          </a:prstGeom>
          <a:solidFill>
            <a:srgbClr val="CED7E6">
              <a:alpha val="27389"/>
            </a:srgbClr>
          </a:solidFill>
          <a:ln>
            <a:noFill/>
          </a:ln>
        </p:spPr>
      </p:sp>
      <p:sp>
        <p:nvSpPr>
          <p:cNvPr id="84" name="wm.whiteboard.162.36"/>
          <p:cNvSpPr/>
          <p:nvPr/>
        </p:nvSpPr>
        <p:spPr>
          <a:xfrm>
            <a:off x="5981700" y="685800"/>
            <a:ext cx="38100" cy="38100"/>
          </a:xfrm>
          <a:prstGeom prst="rect">
            <a:avLst/>
          </a:prstGeom>
          <a:solidFill>
            <a:srgbClr val="CED7E6">
              <a:alpha val="23910"/>
            </a:srgbClr>
          </a:solidFill>
          <a:ln>
            <a:noFill/>
          </a:ln>
        </p:spPr>
      </p:sp>
      <p:sp>
        <p:nvSpPr>
          <p:cNvPr id="85" name="wm.whiteboard.162.54"/>
          <p:cNvSpPr/>
          <p:nvPr/>
        </p:nvSpPr>
        <p:spPr>
          <a:xfrm>
            <a:off x="5981700" y="914400"/>
            <a:ext cx="38100" cy="38100"/>
          </a:xfrm>
          <a:prstGeom prst="rect">
            <a:avLst/>
          </a:prstGeom>
          <a:solidFill>
            <a:srgbClr val="CED7E6">
              <a:alpha val="18425"/>
            </a:srgbClr>
          </a:solidFill>
          <a:ln>
            <a:noFill/>
          </a:ln>
        </p:spPr>
      </p:sp>
      <p:sp>
        <p:nvSpPr>
          <p:cNvPr id="86" name="wm.whiteboard.162.72"/>
          <p:cNvSpPr/>
          <p:nvPr/>
        </p:nvSpPr>
        <p:spPr>
          <a:xfrm>
            <a:off x="5981700" y="1143000"/>
            <a:ext cx="38100" cy="38100"/>
          </a:xfrm>
          <a:prstGeom prst="rect">
            <a:avLst/>
          </a:prstGeom>
          <a:solidFill>
            <a:srgbClr val="CED7E6">
              <a:alpha val="11167"/>
            </a:srgbClr>
          </a:solidFill>
          <a:ln>
            <a:noFill/>
          </a:ln>
        </p:spPr>
      </p:sp>
      <p:sp>
        <p:nvSpPr>
          <p:cNvPr id="87" name="wm.whiteboard.162.90"/>
          <p:cNvSpPr/>
          <p:nvPr/>
        </p:nvSpPr>
        <p:spPr>
          <a:xfrm>
            <a:off x="5981700" y="1371600"/>
            <a:ext cx="38100" cy="38100"/>
          </a:xfrm>
          <a:prstGeom prst="rect">
            <a:avLst/>
          </a:prstGeom>
          <a:solidFill>
            <a:srgbClr val="CED7E6">
              <a:alpha val="2388"/>
            </a:srgbClr>
          </a:solidFill>
          <a:ln>
            <a:noFill/>
          </a:ln>
        </p:spPr>
      </p:sp>
      <p:sp>
        <p:nvSpPr>
          <p:cNvPr id="88" name="wm.whiteboard.180.0"/>
          <p:cNvSpPr/>
          <p:nvPr/>
        </p:nvSpPr>
        <p:spPr>
          <a:xfrm>
            <a:off x="6210300" y="228600"/>
            <a:ext cx="38100" cy="38100"/>
          </a:xfrm>
          <a:prstGeom prst="rect">
            <a:avLst/>
          </a:prstGeom>
          <a:solidFill>
            <a:srgbClr val="CED7E6">
              <a:alpha val="14918"/>
            </a:srgbClr>
          </a:solidFill>
          <a:ln>
            <a:noFill/>
          </a:ln>
        </p:spPr>
      </p:sp>
      <p:sp>
        <p:nvSpPr>
          <p:cNvPr id="89" name="wm.whiteboard.180.18"/>
          <p:cNvSpPr/>
          <p:nvPr/>
        </p:nvSpPr>
        <p:spPr>
          <a:xfrm>
            <a:off x="6210300" y="457200"/>
            <a:ext cx="38100" cy="38100"/>
          </a:xfrm>
          <a:prstGeom prst="rect">
            <a:avLst/>
          </a:prstGeom>
          <a:solidFill>
            <a:srgbClr val="CED7E6">
              <a:alpha val="13741"/>
            </a:srgbClr>
          </a:solidFill>
          <a:ln>
            <a:noFill/>
          </a:ln>
        </p:spPr>
      </p:sp>
      <p:sp>
        <p:nvSpPr>
          <p:cNvPr id="90" name="wm.whiteboard.180.36"/>
          <p:cNvSpPr/>
          <p:nvPr/>
        </p:nvSpPr>
        <p:spPr>
          <a:xfrm>
            <a:off x="6210300" y="685800"/>
            <a:ext cx="38100" cy="38100"/>
          </a:xfrm>
          <a:prstGeom prst="rect">
            <a:avLst/>
          </a:prstGeom>
          <a:solidFill>
            <a:srgbClr val="CED7E6">
              <a:alpha val="10593"/>
            </a:srgbClr>
          </a:solidFill>
          <a:ln>
            <a:noFill/>
          </a:ln>
        </p:spPr>
      </p:sp>
      <p:sp>
        <p:nvSpPr>
          <p:cNvPr id="91" name="wm.whiteboard.180.54"/>
          <p:cNvSpPr/>
          <p:nvPr/>
        </p:nvSpPr>
        <p:spPr>
          <a:xfrm>
            <a:off x="6210300" y="914400"/>
            <a:ext cx="38100" cy="38100"/>
          </a:xfrm>
          <a:prstGeom prst="rect">
            <a:avLst/>
          </a:prstGeom>
          <a:solidFill>
            <a:srgbClr val="CED7E6">
              <a:alpha val="5600"/>
            </a:srgbClr>
          </a:solidFill>
          <a:ln>
            <a:noFill/>
          </a:ln>
        </p:spPr>
      </p:sp>
      <p:sp>
        <p:nvSpPr>
          <p:cNvPr id="92" name="wm.whiteboard.198.0"/>
          <p:cNvSpPr/>
          <p:nvPr/>
        </p:nvSpPr>
        <p:spPr>
          <a:xfrm>
            <a:off x="6438900" y="228600"/>
            <a:ext cx="38100" cy="38100"/>
          </a:xfrm>
          <a:prstGeom prst="rect">
            <a:avLst/>
          </a:prstGeom>
          <a:solidFill>
            <a:srgbClr val="CED7E6">
              <a:alpha val="1142"/>
            </a:srgbClr>
          </a:solidFill>
          <a:ln>
            <a:noFill/>
          </a:ln>
        </p:spPr>
      </p:sp>
      <p:sp>
        <p:nvSpPr>
          <p:cNvPr id="93" name="wm.whiteboard.198.18"/>
          <p:cNvSpPr/>
          <p:nvPr/>
        </p:nvSpPr>
        <p:spPr>
          <a:xfrm>
            <a:off x="6438900" y="457200"/>
            <a:ext cx="38100" cy="38100"/>
          </a:xfrm>
          <a:prstGeom prst="rect">
            <a:avLst/>
          </a:prstGeom>
          <a:solidFill>
            <a:srgbClr val="CED7E6">
              <a:alpha val="69"/>
            </a:srgbClr>
          </a:solidFill>
          <a:ln>
            <a:noFill/>
          </a:ln>
        </p:spPr>
      </p:sp>
      <p:sp>
        <p:nvSpPr>
          <p:cNvPr id="94" name="wm.header.rule"/>
          <p:cNvSpPr/>
          <p:nvPr/>
        </p:nvSpPr>
        <p:spPr>
          <a:xfrm>
            <a:off x="4381500" y="18288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wmds.frame.0572b774625c13a59086">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wmds.frame.dd5aea566f1027c5fff0">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rule"/>
          <p:cNvSpPr/>
          <p:nvPr/>
        </p:nvSpPr>
        <p:spPr>
          <a:xfrm>
            <a:off x="723900" y="6057900"/>
            <a:ext cx="70866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8288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wmds.frame.00748f160d66bb27453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wmds.frame.d30880dcfd75d549064d">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wmds.frame.ad6910ea27b9db5aa061">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wmds.frame.0ede602603f628a34219">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wmds.frame.7575343a5c84c636b1ec">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wmds.frame.a0999517128e333220e9">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wmds.frame.22f012b31fe33558fd46">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wmds.frame.8cc3f3314974340f30a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wmds.frame.7af10fa5063581789a42">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band"/>
          <p:cNvSpPr/>
          <p:nvPr/>
        </p:nvSpPr>
        <p:spPr>
          <a:xfrm>
            <a:off x="0" y="6172200"/>
            <a:ext cx="8724900" cy="685800"/>
          </a:xfrm>
          <a:prstGeom prst="rect">
            <a:avLst/>
          </a:prstGeom>
          <a:solidFill>
            <a:srgbClr val="E8EEF8"/>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7" name="wm.legal"/>
          <p:cNvSpPr/>
          <p:nvPr/>
        </p:nvSpPr>
        <p:spPr>
          <a:xfrm>
            <a:off x="2171700" y="64008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wmds.frame.104a88725a6d9afa396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wmds.frame.6331a214939e9bf35644">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2865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6" name="wm.legal"/>
          <p:cNvSpPr/>
          <p:nvPr/>
        </p:nvSpPr>
        <p:spPr>
          <a:xfrm>
            <a:off x="2171700" y="6419850"/>
            <a:ext cx="8915400" cy="1143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wmds.frame.c2669cbcdf22c91fddde">
    <p:bg>
      <p:bgPr>
        <a:solidFill>
          <a:srgbClr val="070154"/>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50658E"/>
          </a:solidFill>
          <a:ln>
            <a:noFill/>
          </a:ln>
        </p:spPr>
      </p:sp>
      <p:sp>
        <p:nvSpPr>
          <p:cNvPr id="3" name="wm.whiteboard.0.0"/>
          <p:cNvSpPr/>
          <p:nvPr/>
        </p:nvSpPr>
        <p:spPr>
          <a:xfrm>
            <a:off x="266700" y="228600"/>
            <a:ext cx="38100" cy="38100"/>
          </a:xfrm>
          <a:prstGeom prst="rect">
            <a:avLst/>
          </a:prstGeom>
          <a:solidFill>
            <a:srgbClr val="50658E"/>
          </a:solidFill>
          <a:ln>
            <a:noFill/>
          </a:ln>
        </p:spPr>
      </p:sp>
      <p:sp>
        <p:nvSpPr>
          <p:cNvPr id="4" name="wm.whiteboard.0.18"/>
          <p:cNvSpPr/>
          <p:nvPr/>
        </p:nvSpPr>
        <p:spPr>
          <a:xfrm>
            <a:off x="266700" y="457200"/>
            <a:ext cx="38100" cy="38100"/>
          </a:xfrm>
          <a:prstGeom prst="rect">
            <a:avLst/>
          </a:prstGeom>
          <a:solidFill>
            <a:srgbClr val="50658E"/>
          </a:solidFill>
          <a:ln>
            <a:noFill/>
          </a:ln>
        </p:spPr>
      </p:sp>
      <p:sp>
        <p:nvSpPr>
          <p:cNvPr id="5" name="wm.whiteboard.0.36"/>
          <p:cNvSpPr/>
          <p:nvPr/>
        </p:nvSpPr>
        <p:spPr>
          <a:xfrm>
            <a:off x="266700" y="685800"/>
            <a:ext cx="38100" cy="38100"/>
          </a:xfrm>
          <a:prstGeom prst="rect">
            <a:avLst/>
          </a:prstGeom>
          <a:solidFill>
            <a:srgbClr val="50658E"/>
          </a:solidFill>
          <a:ln>
            <a:noFill/>
          </a:ln>
        </p:spPr>
      </p:sp>
      <p:sp>
        <p:nvSpPr>
          <p:cNvPr id="6" name="wm.whiteboard.0.54"/>
          <p:cNvSpPr/>
          <p:nvPr/>
        </p:nvSpPr>
        <p:spPr>
          <a:xfrm>
            <a:off x="266700" y="914400"/>
            <a:ext cx="38100" cy="38100"/>
          </a:xfrm>
          <a:prstGeom prst="rect">
            <a:avLst/>
          </a:prstGeom>
          <a:solidFill>
            <a:srgbClr val="50658E"/>
          </a:solidFill>
          <a:ln>
            <a:noFill/>
          </a:ln>
        </p:spPr>
      </p:sp>
      <p:sp>
        <p:nvSpPr>
          <p:cNvPr id="7" name="wm.whiteboard.0.72"/>
          <p:cNvSpPr/>
          <p:nvPr/>
        </p:nvSpPr>
        <p:spPr>
          <a:xfrm>
            <a:off x="266700" y="1143000"/>
            <a:ext cx="38100" cy="38100"/>
          </a:xfrm>
          <a:prstGeom prst="rect">
            <a:avLst/>
          </a:prstGeom>
          <a:solidFill>
            <a:srgbClr val="50658E">
              <a:alpha val="85305"/>
            </a:srgbClr>
          </a:solidFill>
          <a:ln>
            <a:noFill/>
          </a:ln>
        </p:spPr>
      </p:sp>
      <p:sp>
        <p:nvSpPr>
          <p:cNvPr id="8" name="wm.whiteboard.0.90"/>
          <p:cNvSpPr/>
          <p:nvPr/>
        </p:nvSpPr>
        <p:spPr>
          <a:xfrm>
            <a:off x="266700" y="1371600"/>
            <a:ext cx="38100" cy="38100"/>
          </a:xfrm>
          <a:prstGeom prst="rect">
            <a:avLst/>
          </a:prstGeom>
          <a:solidFill>
            <a:srgbClr val="50658E">
              <a:alpha val="68524"/>
            </a:srgbClr>
          </a:solidFill>
          <a:ln>
            <a:noFill/>
          </a:ln>
        </p:spPr>
      </p:sp>
      <p:sp>
        <p:nvSpPr>
          <p:cNvPr id="9" name="wm.whiteboard.0.108"/>
          <p:cNvSpPr/>
          <p:nvPr/>
        </p:nvSpPr>
        <p:spPr>
          <a:xfrm>
            <a:off x="266700" y="1600200"/>
            <a:ext cx="38100" cy="38100"/>
          </a:xfrm>
          <a:prstGeom prst="rect">
            <a:avLst/>
          </a:prstGeom>
          <a:solidFill>
            <a:srgbClr val="50658E">
              <a:alpha val="51742"/>
            </a:srgbClr>
          </a:solidFill>
          <a:ln>
            <a:noFill/>
          </a:ln>
        </p:spPr>
      </p:sp>
      <p:sp>
        <p:nvSpPr>
          <p:cNvPr id="10" name="wm.whiteboard.0.126"/>
          <p:cNvSpPr/>
          <p:nvPr/>
        </p:nvSpPr>
        <p:spPr>
          <a:xfrm>
            <a:off x="266700" y="1828800"/>
            <a:ext cx="38100" cy="38100"/>
          </a:xfrm>
          <a:prstGeom prst="rect">
            <a:avLst/>
          </a:prstGeom>
          <a:solidFill>
            <a:srgbClr val="50658E">
              <a:alpha val="34959"/>
            </a:srgbClr>
          </a:solidFill>
          <a:ln>
            <a:noFill/>
          </a:ln>
        </p:spPr>
      </p:sp>
      <p:sp>
        <p:nvSpPr>
          <p:cNvPr id="11" name="wm.whiteboard.0.144"/>
          <p:cNvSpPr/>
          <p:nvPr/>
        </p:nvSpPr>
        <p:spPr>
          <a:xfrm>
            <a:off x="266700" y="2057400"/>
            <a:ext cx="38100" cy="38100"/>
          </a:xfrm>
          <a:prstGeom prst="rect">
            <a:avLst/>
          </a:prstGeom>
          <a:solidFill>
            <a:srgbClr val="50658E">
              <a:alpha val="18177"/>
            </a:srgbClr>
          </a:solidFill>
          <a:ln>
            <a:noFill/>
          </a:ln>
        </p:spPr>
      </p:sp>
      <p:sp>
        <p:nvSpPr>
          <p:cNvPr id="12" name="wm.whiteboard.0.162"/>
          <p:cNvSpPr/>
          <p:nvPr/>
        </p:nvSpPr>
        <p:spPr>
          <a:xfrm>
            <a:off x="266700" y="2286000"/>
            <a:ext cx="38100" cy="38100"/>
          </a:xfrm>
          <a:prstGeom prst="rect">
            <a:avLst/>
          </a:prstGeom>
          <a:solidFill>
            <a:srgbClr val="50658E">
              <a:alpha val="1394"/>
            </a:srgbClr>
          </a:solidFill>
          <a:ln>
            <a:noFill/>
          </a:ln>
        </p:spPr>
      </p:sp>
      <p:sp>
        <p:nvSpPr>
          <p:cNvPr id="13" name="wm.whiteboard.18.0"/>
          <p:cNvSpPr/>
          <p:nvPr/>
        </p:nvSpPr>
        <p:spPr>
          <a:xfrm>
            <a:off x="495300" y="228600"/>
            <a:ext cx="38100" cy="38100"/>
          </a:xfrm>
          <a:prstGeom prst="rect">
            <a:avLst/>
          </a:prstGeom>
          <a:solidFill>
            <a:srgbClr val="50658E"/>
          </a:solidFill>
          <a:ln>
            <a:noFill/>
          </a:ln>
        </p:spPr>
      </p:sp>
      <p:sp>
        <p:nvSpPr>
          <p:cNvPr id="14" name="wm.whiteboard.18.18"/>
          <p:cNvSpPr/>
          <p:nvPr/>
        </p:nvSpPr>
        <p:spPr>
          <a:xfrm>
            <a:off x="495300" y="457200"/>
            <a:ext cx="38100" cy="38100"/>
          </a:xfrm>
          <a:prstGeom prst="rect">
            <a:avLst/>
          </a:prstGeom>
          <a:solidFill>
            <a:srgbClr val="50658E"/>
          </a:solidFill>
          <a:ln>
            <a:noFill/>
          </a:ln>
        </p:spPr>
      </p:sp>
      <p:sp>
        <p:nvSpPr>
          <p:cNvPr id="15" name="wm.whiteboard.18.36"/>
          <p:cNvSpPr/>
          <p:nvPr/>
        </p:nvSpPr>
        <p:spPr>
          <a:xfrm>
            <a:off x="495300" y="685800"/>
            <a:ext cx="38100" cy="38100"/>
          </a:xfrm>
          <a:prstGeom prst="rect">
            <a:avLst/>
          </a:prstGeom>
          <a:solidFill>
            <a:srgbClr val="50658E"/>
          </a:solidFill>
          <a:ln>
            <a:noFill/>
          </a:ln>
        </p:spPr>
      </p:sp>
      <p:sp>
        <p:nvSpPr>
          <p:cNvPr id="16" name="wm.whiteboard.18.54"/>
          <p:cNvSpPr/>
          <p:nvPr/>
        </p:nvSpPr>
        <p:spPr>
          <a:xfrm>
            <a:off x="495300" y="914400"/>
            <a:ext cx="38100" cy="38100"/>
          </a:xfrm>
          <a:prstGeom prst="rect">
            <a:avLst/>
          </a:prstGeom>
          <a:solidFill>
            <a:srgbClr val="50658E">
              <a:alpha val="99988"/>
            </a:srgbClr>
          </a:solidFill>
          <a:ln>
            <a:noFill/>
          </a:ln>
        </p:spPr>
      </p:sp>
      <p:sp>
        <p:nvSpPr>
          <p:cNvPr id="17" name="wm.whiteboard.18.72"/>
          <p:cNvSpPr/>
          <p:nvPr/>
        </p:nvSpPr>
        <p:spPr>
          <a:xfrm>
            <a:off x="495300" y="1143000"/>
            <a:ext cx="38100" cy="38100"/>
          </a:xfrm>
          <a:prstGeom prst="rect">
            <a:avLst/>
          </a:prstGeom>
          <a:solidFill>
            <a:srgbClr val="50658E">
              <a:alpha val="83708"/>
            </a:srgbClr>
          </a:solidFill>
          <a:ln>
            <a:noFill/>
          </a:ln>
        </p:spPr>
      </p:sp>
      <p:sp>
        <p:nvSpPr>
          <p:cNvPr id="18" name="wm.whiteboard.18.90"/>
          <p:cNvSpPr/>
          <p:nvPr/>
        </p:nvSpPr>
        <p:spPr>
          <a:xfrm>
            <a:off x="495300" y="1371600"/>
            <a:ext cx="38100" cy="38100"/>
          </a:xfrm>
          <a:prstGeom prst="rect">
            <a:avLst/>
          </a:prstGeom>
          <a:solidFill>
            <a:srgbClr val="50658E">
              <a:alpha val="67236"/>
            </a:srgbClr>
          </a:solidFill>
          <a:ln>
            <a:noFill/>
          </a:ln>
        </p:spPr>
      </p:sp>
      <p:sp>
        <p:nvSpPr>
          <p:cNvPr id="19" name="wm.whiteboard.18.108"/>
          <p:cNvSpPr/>
          <p:nvPr/>
        </p:nvSpPr>
        <p:spPr>
          <a:xfrm>
            <a:off x="495300" y="1600200"/>
            <a:ext cx="38100" cy="38100"/>
          </a:xfrm>
          <a:prstGeom prst="rect">
            <a:avLst/>
          </a:prstGeom>
          <a:solidFill>
            <a:srgbClr val="50658E">
              <a:alpha val="50663"/>
            </a:srgbClr>
          </a:solidFill>
          <a:ln>
            <a:noFill/>
          </a:ln>
        </p:spPr>
      </p:sp>
      <p:sp>
        <p:nvSpPr>
          <p:cNvPr id="20" name="wm.whiteboard.18.126"/>
          <p:cNvSpPr/>
          <p:nvPr/>
        </p:nvSpPr>
        <p:spPr>
          <a:xfrm>
            <a:off x="495300" y="1828800"/>
            <a:ext cx="38100" cy="38100"/>
          </a:xfrm>
          <a:prstGeom prst="rect">
            <a:avLst/>
          </a:prstGeom>
          <a:solidFill>
            <a:srgbClr val="50658E">
              <a:alpha val="34032"/>
            </a:srgbClr>
          </a:solidFill>
          <a:ln>
            <a:noFill/>
          </a:ln>
        </p:spPr>
      </p:sp>
      <p:sp>
        <p:nvSpPr>
          <p:cNvPr id="21" name="wm.whiteboard.18.144"/>
          <p:cNvSpPr/>
          <p:nvPr/>
        </p:nvSpPr>
        <p:spPr>
          <a:xfrm>
            <a:off x="495300" y="2057400"/>
            <a:ext cx="38100" cy="38100"/>
          </a:xfrm>
          <a:prstGeom prst="rect">
            <a:avLst/>
          </a:prstGeom>
          <a:solidFill>
            <a:srgbClr val="50658E">
              <a:alpha val="17363"/>
            </a:srgbClr>
          </a:solidFill>
          <a:ln>
            <a:noFill/>
          </a:ln>
        </p:spPr>
      </p:sp>
      <p:sp>
        <p:nvSpPr>
          <p:cNvPr id="22" name="wm.whiteboard.18.162"/>
          <p:cNvSpPr/>
          <p:nvPr/>
        </p:nvSpPr>
        <p:spPr>
          <a:xfrm>
            <a:off x="495300" y="2286000"/>
            <a:ext cx="38100" cy="38100"/>
          </a:xfrm>
          <a:prstGeom prst="rect">
            <a:avLst/>
          </a:prstGeom>
          <a:solidFill>
            <a:srgbClr val="50658E">
              <a:alpha val="670"/>
            </a:srgbClr>
          </a:solidFill>
          <a:ln>
            <a:noFill/>
          </a:ln>
        </p:spPr>
      </p:sp>
      <p:sp>
        <p:nvSpPr>
          <p:cNvPr id="23" name="wm.whiteboard.36.0"/>
          <p:cNvSpPr/>
          <p:nvPr/>
        </p:nvSpPr>
        <p:spPr>
          <a:xfrm>
            <a:off x="723900" y="228600"/>
            <a:ext cx="38100" cy="38100"/>
          </a:xfrm>
          <a:prstGeom prst="rect">
            <a:avLst/>
          </a:prstGeom>
          <a:solidFill>
            <a:srgbClr val="50658E"/>
          </a:solidFill>
          <a:ln>
            <a:noFill/>
          </a:ln>
        </p:spPr>
      </p:sp>
      <p:sp>
        <p:nvSpPr>
          <p:cNvPr id="24" name="wm.whiteboard.36.18"/>
          <p:cNvSpPr/>
          <p:nvPr/>
        </p:nvSpPr>
        <p:spPr>
          <a:xfrm>
            <a:off x="723900" y="457200"/>
            <a:ext cx="38100" cy="38100"/>
          </a:xfrm>
          <a:prstGeom prst="rect">
            <a:avLst/>
          </a:prstGeom>
          <a:solidFill>
            <a:srgbClr val="50658E"/>
          </a:solidFill>
          <a:ln>
            <a:noFill/>
          </a:ln>
        </p:spPr>
      </p:sp>
      <p:sp>
        <p:nvSpPr>
          <p:cNvPr id="25" name="wm.whiteboard.36.36"/>
          <p:cNvSpPr/>
          <p:nvPr/>
        </p:nvSpPr>
        <p:spPr>
          <a:xfrm>
            <a:off x="723900" y="685800"/>
            <a:ext cx="38100" cy="38100"/>
          </a:xfrm>
          <a:prstGeom prst="rect">
            <a:avLst/>
          </a:prstGeom>
          <a:solidFill>
            <a:srgbClr val="50658E"/>
          </a:solidFill>
          <a:ln>
            <a:noFill/>
          </a:ln>
        </p:spPr>
      </p:sp>
      <p:sp>
        <p:nvSpPr>
          <p:cNvPr id="26" name="wm.whiteboard.36.54"/>
          <p:cNvSpPr/>
          <p:nvPr/>
        </p:nvSpPr>
        <p:spPr>
          <a:xfrm>
            <a:off x="723900" y="914400"/>
            <a:ext cx="38100" cy="38100"/>
          </a:xfrm>
          <a:prstGeom prst="rect">
            <a:avLst/>
          </a:prstGeom>
          <a:solidFill>
            <a:srgbClr val="50658E">
              <a:alpha val="94671"/>
            </a:srgbClr>
          </a:solidFill>
          <a:ln>
            <a:noFill/>
          </a:ln>
        </p:spPr>
      </p:sp>
      <p:sp>
        <p:nvSpPr>
          <p:cNvPr id="27" name="wm.whiteboard.36.72"/>
          <p:cNvSpPr/>
          <p:nvPr/>
        </p:nvSpPr>
        <p:spPr>
          <a:xfrm>
            <a:off x="723900" y="1143000"/>
            <a:ext cx="38100" cy="38100"/>
          </a:xfrm>
          <a:prstGeom prst="rect">
            <a:avLst/>
          </a:prstGeom>
          <a:solidFill>
            <a:srgbClr val="50658E">
              <a:alpha val="79547"/>
            </a:srgbClr>
          </a:solidFill>
          <a:ln>
            <a:noFill/>
          </a:ln>
        </p:spPr>
      </p:sp>
      <p:sp>
        <p:nvSpPr>
          <p:cNvPr id="28" name="wm.whiteboard.36.90"/>
          <p:cNvSpPr/>
          <p:nvPr/>
        </p:nvSpPr>
        <p:spPr>
          <a:xfrm>
            <a:off x="723900" y="1371600"/>
            <a:ext cx="38100" cy="38100"/>
          </a:xfrm>
          <a:prstGeom prst="rect">
            <a:avLst/>
          </a:prstGeom>
          <a:solidFill>
            <a:srgbClr val="50658E">
              <a:alpha val="63833"/>
            </a:srgbClr>
          </a:solidFill>
          <a:ln>
            <a:noFill/>
          </a:ln>
        </p:spPr>
      </p:sp>
      <p:sp>
        <p:nvSpPr>
          <p:cNvPr id="29" name="wm.whiteboard.36.108"/>
          <p:cNvSpPr/>
          <p:nvPr/>
        </p:nvSpPr>
        <p:spPr>
          <a:xfrm>
            <a:off x="723900" y="1600200"/>
            <a:ext cx="38100" cy="38100"/>
          </a:xfrm>
          <a:prstGeom prst="rect">
            <a:avLst/>
          </a:prstGeom>
          <a:solidFill>
            <a:srgbClr val="50658E">
              <a:alpha val="47790"/>
            </a:srgbClr>
          </a:solidFill>
          <a:ln>
            <a:noFill/>
          </a:ln>
        </p:spPr>
      </p:sp>
      <p:sp>
        <p:nvSpPr>
          <p:cNvPr id="30" name="wm.whiteboard.36.126"/>
          <p:cNvSpPr/>
          <p:nvPr/>
        </p:nvSpPr>
        <p:spPr>
          <a:xfrm>
            <a:off x="723900" y="1828800"/>
            <a:ext cx="38100" cy="38100"/>
          </a:xfrm>
          <a:prstGeom prst="rect">
            <a:avLst/>
          </a:prstGeom>
          <a:solidFill>
            <a:srgbClr val="50658E">
              <a:alpha val="31549"/>
            </a:srgbClr>
          </a:solidFill>
          <a:ln>
            <a:noFill/>
          </a:ln>
        </p:spPr>
      </p:sp>
      <p:sp>
        <p:nvSpPr>
          <p:cNvPr id="31" name="wm.whiteboard.36.144"/>
          <p:cNvSpPr/>
          <p:nvPr/>
        </p:nvSpPr>
        <p:spPr>
          <a:xfrm>
            <a:off x="723900" y="2057400"/>
            <a:ext cx="38100" cy="38100"/>
          </a:xfrm>
          <a:prstGeom prst="rect">
            <a:avLst/>
          </a:prstGeom>
          <a:solidFill>
            <a:srgbClr val="50658E">
              <a:alpha val="15179"/>
            </a:srgbClr>
          </a:solidFill>
          <a:ln>
            <a:noFill/>
          </a:ln>
        </p:spPr>
      </p:sp>
      <p:sp>
        <p:nvSpPr>
          <p:cNvPr id="32" name="wm.whiteboard.54.0"/>
          <p:cNvSpPr/>
          <p:nvPr/>
        </p:nvSpPr>
        <p:spPr>
          <a:xfrm>
            <a:off x="952500" y="228600"/>
            <a:ext cx="38100" cy="38100"/>
          </a:xfrm>
          <a:prstGeom prst="rect">
            <a:avLst/>
          </a:prstGeom>
          <a:solidFill>
            <a:srgbClr val="50658E"/>
          </a:solidFill>
          <a:ln>
            <a:noFill/>
          </a:ln>
        </p:spPr>
      </p:sp>
      <p:sp>
        <p:nvSpPr>
          <p:cNvPr id="33" name="wm.whiteboard.54.18"/>
          <p:cNvSpPr/>
          <p:nvPr/>
        </p:nvSpPr>
        <p:spPr>
          <a:xfrm>
            <a:off x="952500" y="457200"/>
            <a:ext cx="38100" cy="38100"/>
          </a:xfrm>
          <a:prstGeom prst="rect">
            <a:avLst/>
          </a:prstGeom>
          <a:solidFill>
            <a:srgbClr val="50658E"/>
          </a:solidFill>
          <a:ln>
            <a:noFill/>
          </a:ln>
        </p:spPr>
      </p:sp>
      <p:sp>
        <p:nvSpPr>
          <p:cNvPr id="34" name="wm.whiteboard.54.36"/>
          <p:cNvSpPr/>
          <p:nvPr/>
        </p:nvSpPr>
        <p:spPr>
          <a:xfrm>
            <a:off x="952500" y="685800"/>
            <a:ext cx="38100" cy="38100"/>
          </a:xfrm>
          <a:prstGeom prst="rect">
            <a:avLst/>
          </a:prstGeom>
          <a:solidFill>
            <a:srgbClr val="50658E">
              <a:alpha val="98827"/>
            </a:srgbClr>
          </a:solidFill>
          <a:ln>
            <a:noFill/>
          </a:ln>
        </p:spPr>
      </p:sp>
      <p:sp>
        <p:nvSpPr>
          <p:cNvPr id="35" name="wm.whiteboard.54.54"/>
          <p:cNvSpPr/>
          <p:nvPr/>
        </p:nvSpPr>
        <p:spPr>
          <a:xfrm>
            <a:off x="952500" y="914400"/>
            <a:ext cx="38100" cy="38100"/>
          </a:xfrm>
          <a:prstGeom prst="rect">
            <a:avLst/>
          </a:prstGeom>
          <a:solidFill>
            <a:srgbClr val="50658E">
              <a:alpha val="86895"/>
            </a:srgbClr>
          </a:solidFill>
          <a:ln>
            <a:noFill/>
          </a:ln>
        </p:spPr>
      </p:sp>
      <p:sp>
        <p:nvSpPr>
          <p:cNvPr id="36" name="wm.whiteboard.54.72"/>
          <p:cNvSpPr/>
          <p:nvPr/>
        </p:nvSpPr>
        <p:spPr>
          <a:xfrm>
            <a:off x="952500" y="1143000"/>
            <a:ext cx="38100" cy="38100"/>
          </a:xfrm>
          <a:prstGeom prst="rect">
            <a:avLst/>
          </a:prstGeom>
          <a:solidFill>
            <a:srgbClr val="50658E">
              <a:alpha val="73217"/>
            </a:srgbClr>
          </a:solidFill>
          <a:ln>
            <a:noFill/>
          </a:ln>
        </p:spPr>
      </p:sp>
      <p:sp>
        <p:nvSpPr>
          <p:cNvPr id="37" name="wm.whiteboard.54.90"/>
          <p:cNvSpPr/>
          <p:nvPr/>
        </p:nvSpPr>
        <p:spPr>
          <a:xfrm>
            <a:off x="952500" y="1371600"/>
            <a:ext cx="38100" cy="38100"/>
          </a:xfrm>
          <a:prstGeom prst="rect">
            <a:avLst/>
          </a:prstGeom>
          <a:solidFill>
            <a:srgbClr val="50658E">
              <a:alpha val="58541"/>
            </a:srgbClr>
          </a:solidFill>
          <a:ln>
            <a:noFill/>
          </a:ln>
        </p:spPr>
      </p:sp>
      <p:sp>
        <p:nvSpPr>
          <p:cNvPr id="38" name="wm.whiteboard.54.108"/>
          <p:cNvSpPr/>
          <p:nvPr/>
        </p:nvSpPr>
        <p:spPr>
          <a:xfrm>
            <a:off x="952500" y="1600200"/>
            <a:ext cx="38100" cy="38100"/>
          </a:xfrm>
          <a:prstGeom prst="rect">
            <a:avLst/>
          </a:prstGeom>
          <a:solidFill>
            <a:srgbClr val="50658E">
              <a:alpha val="43263"/>
            </a:srgbClr>
          </a:solidFill>
          <a:ln>
            <a:noFill/>
          </a:ln>
        </p:spPr>
      </p:sp>
      <p:sp>
        <p:nvSpPr>
          <p:cNvPr id="39" name="wm.whiteboard.54.126"/>
          <p:cNvSpPr/>
          <p:nvPr/>
        </p:nvSpPr>
        <p:spPr>
          <a:xfrm>
            <a:off x="952500" y="1828800"/>
            <a:ext cx="38100" cy="38100"/>
          </a:xfrm>
          <a:prstGeom prst="rect">
            <a:avLst/>
          </a:prstGeom>
          <a:solidFill>
            <a:srgbClr val="50658E">
              <a:alpha val="27603"/>
            </a:srgbClr>
          </a:solidFill>
          <a:ln>
            <a:noFill/>
          </a:ln>
        </p:spPr>
      </p:sp>
      <p:sp>
        <p:nvSpPr>
          <p:cNvPr id="40" name="wm.whiteboard.54.144"/>
          <p:cNvSpPr/>
          <p:nvPr/>
        </p:nvSpPr>
        <p:spPr>
          <a:xfrm>
            <a:off x="952500" y="2057400"/>
            <a:ext cx="38100" cy="38100"/>
          </a:xfrm>
          <a:prstGeom prst="rect">
            <a:avLst/>
          </a:prstGeom>
          <a:solidFill>
            <a:srgbClr val="50658E">
              <a:alpha val="11687"/>
            </a:srgbClr>
          </a:solidFill>
          <a:ln>
            <a:noFill/>
          </a:ln>
        </p:spPr>
      </p:sp>
      <p:sp>
        <p:nvSpPr>
          <p:cNvPr id="41" name="wm.whiteboard.72.0"/>
          <p:cNvSpPr/>
          <p:nvPr/>
        </p:nvSpPr>
        <p:spPr>
          <a:xfrm>
            <a:off x="1181100" y="228600"/>
            <a:ext cx="38100" cy="38100"/>
          </a:xfrm>
          <a:prstGeom prst="rect">
            <a:avLst/>
          </a:prstGeom>
          <a:solidFill>
            <a:srgbClr val="50658E">
              <a:alpha val="97572"/>
            </a:srgbClr>
          </a:solidFill>
          <a:ln>
            <a:noFill/>
          </a:ln>
        </p:spPr>
      </p:sp>
      <p:sp>
        <p:nvSpPr>
          <p:cNvPr id="42" name="wm.whiteboard.72.18"/>
          <p:cNvSpPr/>
          <p:nvPr/>
        </p:nvSpPr>
        <p:spPr>
          <a:xfrm>
            <a:off x="1181100" y="457200"/>
            <a:ext cx="38100" cy="38100"/>
          </a:xfrm>
          <a:prstGeom prst="rect">
            <a:avLst/>
          </a:prstGeom>
          <a:solidFill>
            <a:srgbClr val="50658E">
              <a:alpha val="94724"/>
            </a:srgbClr>
          </a:solidFill>
          <a:ln>
            <a:noFill/>
          </a:ln>
        </p:spPr>
      </p:sp>
      <p:sp>
        <p:nvSpPr>
          <p:cNvPr id="43" name="wm.whiteboard.72.36"/>
          <p:cNvSpPr/>
          <p:nvPr/>
        </p:nvSpPr>
        <p:spPr>
          <a:xfrm>
            <a:off x="1181100" y="685800"/>
            <a:ext cx="38100" cy="38100"/>
          </a:xfrm>
          <a:prstGeom prst="rect">
            <a:avLst/>
          </a:prstGeom>
          <a:solidFill>
            <a:srgbClr val="50658E">
              <a:alpha val="87609"/>
            </a:srgbClr>
          </a:solidFill>
          <a:ln>
            <a:noFill/>
          </a:ln>
        </p:spPr>
      </p:sp>
      <p:sp>
        <p:nvSpPr>
          <p:cNvPr id="44" name="wm.whiteboard.72.54"/>
          <p:cNvSpPr/>
          <p:nvPr/>
        </p:nvSpPr>
        <p:spPr>
          <a:xfrm>
            <a:off x="1181100" y="914400"/>
            <a:ext cx="38100" cy="38100"/>
          </a:xfrm>
          <a:prstGeom prst="rect">
            <a:avLst/>
          </a:prstGeom>
          <a:solidFill>
            <a:srgbClr val="50658E">
              <a:alpha val="77408"/>
            </a:srgbClr>
          </a:solidFill>
          <a:ln>
            <a:noFill/>
          </a:ln>
        </p:spPr>
      </p:sp>
      <p:sp>
        <p:nvSpPr>
          <p:cNvPr id="45" name="wm.whiteboard.72.72"/>
          <p:cNvSpPr/>
          <p:nvPr/>
        </p:nvSpPr>
        <p:spPr>
          <a:xfrm>
            <a:off x="1181100" y="1143000"/>
            <a:ext cx="38100" cy="38100"/>
          </a:xfrm>
          <a:prstGeom prst="rect">
            <a:avLst/>
          </a:prstGeom>
          <a:solidFill>
            <a:srgbClr val="50658E">
              <a:alpha val="65181"/>
            </a:srgbClr>
          </a:solidFill>
          <a:ln>
            <a:noFill/>
          </a:ln>
        </p:spPr>
      </p:sp>
      <p:sp>
        <p:nvSpPr>
          <p:cNvPr id="46" name="wm.whiteboard.72.90"/>
          <p:cNvSpPr/>
          <p:nvPr/>
        </p:nvSpPr>
        <p:spPr>
          <a:xfrm>
            <a:off x="1181100" y="1371600"/>
            <a:ext cx="38100" cy="38100"/>
          </a:xfrm>
          <a:prstGeom prst="rect">
            <a:avLst/>
          </a:prstGeom>
          <a:solidFill>
            <a:srgbClr val="50658E">
              <a:alpha val="51653"/>
            </a:srgbClr>
          </a:solidFill>
          <a:ln>
            <a:noFill/>
          </a:ln>
        </p:spPr>
      </p:sp>
      <p:sp>
        <p:nvSpPr>
          <p:cNvPr id="47" name="wm.whiteboard.72.108"/>
          <p:cNvSpPr/>
          <p:nvPr/>
        </p:nvSpPr>
        <p:spPr>
          <a:xfrm>
            <a:off x="1181100" y="1600200"/>
            <a:ext cx="38100" cy="38100"/>
          </a:xfrm>
          <a:prstGeom prst="rect">
            <a:avLst/>
          </a:prstGeom>
          <a:solidFill>
            <a:srgbClr val="50658E">
              <a:alpha val="37275"/>
            </a:srgbClr>
          </a:solidFill>
          <a:ln>
            <a:noFill/>
          </a:ln>
        </p:spPr>
      </p:sp>
      <p:sp>
        <p:nvSpPr>
          <p:cNvPr id="48" name="wm.whiteboard.72.126"/>
          <p:cNvSpPr/>
          <p:nvPr/>
        </p:nvSpPr>
        <p:spPr>
          <a:xfrm>
            <a:off x="1181100" y="1828800"/>
            <a:ext cx="38100" cy="38100"/>
          </a:xfrm>
          <a:prstGeom prst="rect">
            <a:avLst/>
          </a:prstGeom>
          <a:solidFill>
            <a:srgbClr val="50658E">
              <a:alpha val="22326"/>
            </a:srgbClr>
          </a:solidFill>
          <a:ln>
            <a:noFill/>
          </a:ln>
        </p:spPr>
      </p:sp>
      <p:sp>
        <p:nvSpPr>
          <p:cNvPr id="49" name="wm.whiteboard.72.144"/>
          <p:cNvSpPr/>
          <p:nvPr/>
        </p:nvSpPr>
        <p:spPr>
          <a:xfrm>
            <a:off x="1181100" y="2057400"/>
            <a:ext cx="38100" cy="38100"/>
          </a:xfrm>
          <a:prstGeom prst="rect">
            <a:avLst/>
          </a:prstGeom>
          <a:solidFill>
            <a:srgbClr val="50658E">
              <a:alpha val="6980"/>
            </a:srgbClr>
          </a:solidFill>
          <a:ln>
            <a:noFill/>
          </a:ln>
        </p:spPr>
      </p:sp>
      <p:sp>
        <p:nvSpPr>
          <p:cNvPr id="50" name="wm.whiteboard.90.0"/>
          <p:cNvSpPr/>
          <p:nvPr/>
        </p:nvSpPr>
        <p:spPr>
          <a:xfrm>
            <a:off x="1409700" y="228600"/>
            <a:ext cx="38100" cy="38100"/>
          </a:xfrm>
          <a:prstGeom prst="rect">
            <a:avLst/>
          </a:prstGeom>
          <a:solidFill>
            <a:srgbClr val="50658E">
              <a:alpha val="83798"/>
            </a:srgbClr>
          </a:solidFill>
          <a:ln>
            <a:noFill/>
          </a:ln>
        </p:spPr>
      </p:sp>
      <p:sp>
        <p:nvSpPr>
          <p:cNvPr id="51" name="wm.whiteboard.90.18"/>
          <p:cNvSpPr/>
          <p:nvPr/>
        </p:nvSpPr>
        <p:spPr>
          <a:xfrm>
            <a:off x="1409700" y="457200"/>
            <a:ext cx="38100" cy="38100"/>
          </a:xfrm>
          <a:prstGeom prst="rect">
            <a:avLst/>
          </a:prstGeom>
          <a:solidFill>
            <a:srgbClr val="50658E">
              <a:alpha val="81490"/>
            </a:srgbClr>
          </a:solidFill>
          <a:ln>
            <a:noFill/>
          </a:ln>
        </p:spPr>
      </p:sp>
      <p:sp>
        <p:nvSpPr>
          <p:cNvPr id="52" name="wm.whiteboard.90.36"/>
          <p:cNvSpPr/>
          <p:nvPr/>
        </p:nvSpPr>
        <p:spPr>
          <a:xfrm>
            <a:off x="1409700" y="685800"/>
            <a:ext cx="38100" cy="38100"/>
          </a:xfrm>
          <a:prstGeom prst="rect">
            <a:avLst/>
          </a:prstGeom>
          <a:solidFill>
            <a:srgbClr val="50658E">
              <a:alpha val="75569"/>
            </a:srgbClr>
          </a:solidFill>
          <a:ln>
            <a:noFill/>
          </a:ln>
        </p:spPr>
      </p:sp>
      <p:sp>
        <p:nvSpPr>
          <p:cNvPr id="53" name="wm.whiteboard.90.54"/>
          <p:cNvSpPr/>
          <p:nvPr/>
        </p:nvSpPr>
        <p:spPr>
          <a:xfrm>
            <a:off x="1409700" y="914400"/>
            <a:ext cx="38100" cy="38100"/>
          </a:xfrm>
          <a:prstGeom prst="rect">
            <a:avLst/>
          </a:prstGeom>
          <a:solidFill>
            <a:srgbClr val="50658E">
              <a:alpha val="66767"/>
            </a:srgbClr>
          </a:solidFill>
          <a:ln>
            <a:noFill/>
          </a:ln>
        </p:spPr>
      </p:sp>
      <p:sp>
        <p:nvSpPr>
          <p:cNvPr id="54" name="wm.whiteboard.90.72"/>
          <p:cNvSpPr/>
          <p:nvPr/>
        </p:nvSpPr>
        <p:spPr>
          <a:xfrm>
            <a:off x="1409700" y="1143000"/>
            <a:ext cx="38100" cy="38100"/>
          </a:xfrm>
          <a:prstGeom prst="rect">
            <a:avLst/>
          </a:prstGeom>
          <a:solidFill>
            <a:srgbClr val="50658E">
              <a:alpha val="55859"/>
            </a:srgbClr>
          </a:solidFill>
          <a:ln>
            <a:noFill/>
          </a:ln>
        </p:spPr>
      </p:sp>
      <p:sp>
        <p:nvSpPr>
          <p:cNvPr id="55" name="wm.whiteboard.90.90"/>
          <p:cNvSpPr/>
          <p:nvPr/>
        </p:nvSpPr>
        <p:spPr>
          <a:xfrm>
            <a:off x="1409700" y="1371600"/>
            <a:ext cx="38100" cy="38100"/>
          </a:xfrm>
          <a:prstGeom prst="rect">
            <a:avLst/>
          </a:prstGeom>
          <a:solidFill>
            <a:srgbClr val="50658E">
              <a:alpha val="43468"/>
            </a:srgbClr>
          </a:solidFill>
          <a:ln>
            <a:noFill/>
          </a:ln>
        </p:spPr>
      </p:sp>
      <p:sp>
        <p:nvSpPr>
          <p:cNvPr id="56" name="wm.whiteboard.90.108"/>
          <p:cNvSpPr/>
          <p:nvPr/>
        </p:nvSpPr>
        <p:spPr>
          <a:xfrm>
            <a:off x="1409700" y="1600200"/>
            <a:ext cx="38100" cy="38100"/>
          </a:xfrm>
          <a:prstGeom prst="rect">
            <a:avLst/>
          </a:prstGeom>
          <a:solidFill>
            <a:srgbClr val="50658E">
              <a:alpha val="30037"/>
            </a:srgbClr>
          </a:solidFill>
          <a:ln>
            <a:noFill/>
          </a:ln>
        </p:spPr>
      </p:sp>
      <p:sp>
        <p:nvSpPr>
          <p:cNvPr id="57" name="wm.whiteboard.90.126"/>
          <p:cNvSpPr/>
          <p:nvPr/>
        </p:nvSpPr>
        <p:spPr>
          <a:xfrm>
            <a:off x="1409700" y="1828800"/>
            <a:ext cx="38100" cy="38100"/>
          </a:xfrm>
          <a:prstGeom prst="rect">
            <a:avLst/>
          </a:prstGeom>
          <a:solidFill>
            <a:srgbClr val="50658E">
              <a:alpha val="15870"/>
            </a:srgbClr>
          </a:solidFill>
          <a:ln>
            <a:noFill/>
          </a:ln>
        </p:spPr>
      </p:sp>
      <p:sp>
        <p:nvSpPr>
          <p:cNvPr id="58" name="wm.whiteboard.90.144"/>
          <p:cNvSpPr/>
          <p:nvPr/>
        </p:nvSpPr>
        <p:spPr>
          <a:xfrm>
            <a:off x="1409700" y="2057400"/>
            <a:ext cx="38100" cy="38100"/>
          </a:xfrm>
          <a:prstGeom prst="rect">
            <a:avLst/>
          </a:prstGeom>
          <a:solidFill>
            <a:srgbClr val="50658E">
              <a:alpha val="1171"/>
            </a:srgbClr>
          </a:solidFill>
          <a:ln>
            <a:noFill/>
          </a:ln>
        </p:spPr>
      </p:sp>
      <p:sp>
        <p:nvSpPr>
          <p:cNvPr id="59" name="wm.whiteboard.108.0"/>
          <p:cNvSpPr/>
          <p:nvPr/>
        </p:nvSpPr>
        <p:spPr>
          <a:xfrm>
            <a:off x="1638300" y="228600"/>
            <a:ext cx="38100" cy="38100"/>
          </a:xfrm>
          <a:prstGeom prst="rect">
            <a:avLst/>
          </a:prstGeom>
          <a:solidFill>
            <a:srgbClr val="50658E">
              <a:alpha val="70023"/>
            </a:srgbClr>
          </a:solidFill>
          <a:ln>
            <a:noFill/>
          </a:ln>
        </p:spPr>
      </p:sp>
      <p:sp>
        <p:nvSpPr>
          <p:cNvPr id="60" name="wm.whiteboard.108.18"/>
          <p:cNvSpPr/>
          <p:nvPr/>
        </p:nvSpPr>
        <p:spPr>
          <a:xfrm>
            <a:off x="1638300" y="457200"/>
            <a:ext cx="38100" cy="38100"/>
          </a:xfrm>
          <a:prstGeom prst="rect">
            <a:avLst/>
          </a:prstGeom>
          <a:solidFill>
            <a:srgbClr val="50658E">
              <a:alpha val="68085"/>
            </a:srgbClr>
          </a:solidFill>
          <a:ln>
            <a:noFill/>
          </a:ln>
        </p:spPr>
      </p:sp>
      <p:sp>
        <p:nvSpPr>
          <p:cNvPr id="61" name="wm.whiteboard.108.36"/>
          <p:cNvSpPr/>
          <p:nvPr/>
        </p:nvSpPr>
        <p:spPr>
          <a:xfrm>
            <a:off x="1638300" y="685800"/>
            <a:ext cx="38100" cy="38100"/>
          </a:xfrm>
          <a:prstGeom prst="rect">
            <a:avLst/>
          </a:prstGeom>
          <a:solidFill>
            <a:srgbClr val="50658E">
              <a:alpha val="63033"/>
            </a:srgbClr>
          </a:solidFill>
          <a:ln>
            <a:noFill/>
          </a:ln>
        </p:spPr>
      </p:sp>
      <p:sp>
        <p:nvSpPr>
          <p:cNvPr id="62" name="wm.whiteboard.108.54"/>
          <p:cNvSpPr/>
          <p:nvPr/>
        </p:nvSpPr>
        <p:spPr>
          <a:xfrm>
            <a:off x="1638300" y="914400"/>
            <a:ext cx="38100" cy="38100"/>
          </a:xfrm>
          <a:prstGeom prst="rect">
            <a:avLst/>
          </a:prstGeom>
          <a:solidFill>
            <a:srgbClr val="50658E">
              <a:alpha val="55346"/>
            </a:srgbClr>
          </a:solidFill>
          <a:ln>
            <a:noFill/>
          </a:ln>
        </p:spPr>
      </p:sp>
      <p:sp>
        <p:nvSpPr>
          <p:cNvPr id="63" name="wm.whiteboard.108.72"/>
          <p:cNvSpPr/>
          <p:nvPr/>
        </p:nvSpPr>
        <p:spPr>
          <a:xfrm>
            <a:off x="1638300" y="1143000"/>
            <a:ext cx="38100" cy="38100"/>
          </a:xfrm>
          <a:prstGeom prst="rect">
            <a:avLst/>
          </a:prstGeom>
          <a:solidFill>
            <a:srgbClr val="50658E">
              <a:alpha val="45583"/>
            </a:srgbClr>
          </a:solidFill>
          <a:ln>
            <a:noFill/>
          </a:ln>
        </p:spPr>
      </p:sp>
      <p:sp>
        <p:nvSpPr>
          <p:cNvPr id="64" name="wm.whiteboard.108.90"/>
          <p:cNvSpPr/>
          <p:nvPr/>
        </p:nvSpPr>
        <p:spPr>
          <a:xfrm>
            <a:off x="1638300" y="1371600"/>
            <a:ext cx="38100" cy="38100"/>
          </a:xfrm>
          <a:prstGeom prst="rect">
            <a:avLst/>
          </a:prstGeom>
          <a:solidFill>
            <a:srgbClr val="50658E">
              <a:alpha val="34251"/>
            </a:srgbClr>
          </a:solidFill>
          <a:ln>
            <a:noFill/>
          </a:ln>
        </p:spPr>
      </p:sp>
      <p:sp>
        <p:nvSpPr>
          <p:cNvPr id="65" name="wm.whiteboard.108.108"/>
          <p:cNvSpPr/>
          <p:nvPr/>
        </p:nvSpPr>
        <p:spPr>
          <a:xfrm>
            <a:off x="1638300" y="1600200"/>
            <a:ext cx="38100" cy="38100"/>
          </a:xfrm>
          <a:prstGeom prst="rect">
            <a:avLst/>
          </a:prstGeom>
          <a:solidFill>
            <a:srgbClr val="50658E">
              <a:alpha val="21754"/>
            </a:srgbClr>
          </a:solidFill>
          <a:ln>
            <a:noFill/>
          </a:ln>
        </p:spPr>
      </p:sp>
      <p:sp>
        <p:nvSpPr>
          <p:cNvPr id="66" name="wm.whiteboard.108.126"/>
          <p:cNvSpPr/>
          <p:nvPr/>
        </p:nvSpPr>
        <p:spPr>
          <a:xfrm>
            <a:off x="1638300" y="1828800"/>
            <a:ext cx="38100" cy="38100"/>
          </a:xfrm>
          <a:prstGeom prst="rect">
            <a:avLst/>
          </a:prstGeom>
          <a:solidFill>
            <a:srgbClr val="50658E">
              <a:alpha val="8391"/>
            </a:srgbClr>
          </a:solidFill>
          <a:ln>
            <a:noFill/>
          </a:ln>
        </p:spPr>
      </p:sp>
      <p:sp>
        <p:nvSpPr>
          <p:cNvPr id="67" name="wm.whiteboard.126.0"/>
          <p:cNvSpPr/>
          <p:nvPr/>
        </p:nvSpPr>
        <p:spPr>
          <a:xfrm>
            <a:off x="1866900" y="228600"/>
            <a:ext cx="38100" cy="38100"/>
          </a:xfrm>
          <a:prstGeom prst="rect">
            <a:avLst/>
          </a:prstGeom>
          <a:solidFill>
            <a:srgbClr val="50658E">
              <a:alpha val="56247"/>
            </a:srgbClr>
          </a:solidFill>
          <a:ln>
            <a:noFill/>
          </a:ln>
        </p:spPr>
      </p:sp>
      <p:sp>
        <p:nvSpPr>
          <p:cNvPr id="68" name="wm.whiteboard.126.18"/>
          <p:cNvSpPr/>
          <p:nvPr/>
        </p:nvSpPr>
        <p:spPr>
          <a:xfrm>
            <a:off x="1866900" y="457200"/>
            <a:ext cx="38100" cy="38100"/>
          </a:xfrm>
          <a:prstGeom prst="rect">
            <a:avLst/>
          </a:prstGeom>
          <a:solidFill>
            <a:srgbClr val="50658E">
              <a:alpha val="54578"/>
            </a:srgbClr>
          </a:solidFill>
          <a:ln>
            <a:noFill/>
          </a:ln>
        </p:spPr>
      </p:sp>
      <p:sp>
        <p:nvSpPr>
          <p:cNvPr id="69" name="wm.whiteboard.126.36"/>
          <p:cNvSpPr/>
          <p:nvPr/>
        </p:nvSpPr>
        <p:spPr>
          <a:xfrm>
            <a:off x="1866900" y="685800"/>
            <a:ext cx="38100" cy="38100"/>
          </a:xfrm>
          <a:prstGeom prst="rect">
            <a:avLst/>
          </a:prstGeom>
          <a:solidFill>
            <a:srgbClr val="50658E">
              <a:alpha val="50182"/>
            </a:srgbClr>
          </a:solidFill>
          <a:ln>
            <a:noFill/>
          </a:ln>
        </p:spPr>
      </p:sp>
      <p:sp>
        <p:nvSpPr>
          <p:cNvPr id="70" name="wm.whiteboard.126.54"/>
          <p:cNvSpPr/>
          <p:nvPr/>
        </p:nvSpPr>
        <p:spPr>
          <a:xfrm>
            <a:off x="1866900" y="914400"/>
            <a:ext cx="38100" cy="38100"/>
          </a:xfrm>
          <a:prstGeom prst="rect">
            <a:avLst/>
          </a:prstGeom>
          <a:solidFill>
            <a:srgbClr val="50658E">
              <a:alpha val="43386"/>
            </a:srgbClr>
          </a:solidFill>
          <a:ln>
            <a:noFill/>
          </a:ln>
        </p:spPr>
      </p:sp>
      <p:sp>
        <p:nvSpPr>
          <p:cNvPr id="71" name="wm.whiteboard.126.72"/>
          <p:cNvSpPr/>
          <p:nvPr/>
        </p:nvSpPr>
        <p:spPr>
          <a:xfrm>
            <a:off x="1866900" y="1143000"/>
            <a:ext cx="38100" cy="38100"/>
          </a:xfrm>
          <a:prstGeom prst="rect">
            <a:avLst/>
          </a:prstGeom>
          <a:solidFill>
            <a:srgbClr val="50658E">
              <a:alpha val="34598"/>
            </a:srgbClr>
          </a:solidFill>
          <a:ln>
            <a:noFill/>
          </a:ln>
        </p:spPr>
      </p:sp>
      <p:sp>
        <p:nvSpPr>
          <p:cNvPr id="72" name="wm.whiteboard.126.90"/>
          <p:cNvSpPr/>
          <p:nvPr/>
        </p:nvSpPr>
        <p:spPr>
          <a:xfrm>
            <a:off x="1866900" y="1371600"/>
            <a:ext cx="38100" cy="38100"/>
          </a:xfrm>
          <a:prstGeom prst="rect">
            <a:avLst/>
          </a:prstGeom>
          <a:solidFill>
            <a:srgbClr val="50658E">
              <a:alpha val="24223"/>
            </a:srgbClr>
          </a:solidFill>
          <a:ln>
            <a:noFill/>
          </a:ln>
        </p:spPr>
      </p:sp>
      <p:sp>
        <p:nvSpPr>
          <p:cNvPr id="73" name="wm.whiteboard.126.108"/>
          <p:cNvSpPr/>
          <p:nvPr/>
        </p:nvSpPr>
        <p:spPr>
          <a:xfrm>
            <a:off x="1866900" y="1600200"/>
            <a:ext cx="38100" cy="38100"/>
          </a:xfrm>
          <a:prstGeom prst="rect">
            <a:avLst/>
          </a:prstGeom>
          <a:solidFill>
            <a:srgbClr val="50658E">
              <a:alpha val="12610"/>
            </a:srgbClr>
          </a:solidFill>
          <a:ln>
            <a:noFill/>
          </a:ln>
        </p:spPr>
      </p:sp>
      <p:sp>
        <p:nvSpPr>
          <p:cNvPr id="74" name="wm.whiteboard.126.126"/>
          <p:cNvSpPr/>
          <p:nvPr/>
        </p:nvSpPr>
        <p:spPr>
          <a:xfrm>
            <a:off x="1866900" y="1828800"/>
            <a:ext cx="38100" cy="38100"/>
          </a:xfrm>
          <a:prstGeom prst="rect">
            <a:avLst/>
          </a:prstGeom>
          <a:solidFill>
            <a:srgbClr val="50658E">
              <a:alpha val="40"/>
            </a:srgbClr>
          </a:solidFill>
          <a:ln>
            <a:noFill/>
          </a:ln>
        </p:spPr>
      </p:sp>
      <p:sp>
        <p:nvSpPr>
          <p:cNvPr id="75" name="wm.whiteboard.144.0"/>
          <p:cNvSpPr/>
          <p:nvPr/>
        </p:nvSpPr>
        <p:spPr>
          <a:xfrm>
            <a:off x="2095500" y="228600"/>
            <a:ext cx="38100" cy="38100"/>
          </a:xfrm>
          <a:prstGeom prst="rect">
            <a:avLst/>
          </a:prstGeom>
          <a:solidFill>
            <a:srgbClr val="50658E">
              <a:alpha val="42471"/>
            </a:srgbClr>
          </a:solidFill>
          <a:ln>
            <a:noFill/>
          </a:ln>
        </p:spPr>
      </p:sp>
      <p:sp>
        <p:nvSpPr>
          <p:cNvPr id="76" name="wm.whiteboard.144.18"/>
          <p:cNvSpPr/>
          <p:nvPr/>
        </p:nvSpPr>
        <p:spPr>
          <a:xfrm>
            <a:off x="2095500" y="457200"/>
            <a:ext cx="38100" cy="38100"/>
          </a:xfrm>
          <a:prstGeom prst="rect">
            <a:avLst/>
          </a:prstGeom>
          <a:solidFill>
            <a:srgbClr val="50658E">
              <a:alpha val="41005"/>
            </a:srgbClr>
          </a:solidFill>
          <a:ln>
            <a:noFill/>
          </a:ln>
        </p:spPr>
      </p:sp>
      <p:sp>
        <p:nvSpPr>
          <p:cNvPr id="77" name="wm.whiteboard.144.36"/>
          <p:cNvSpPr/>
          <p:nvPr/>
        </p:nvSpPr>
        <p:spPr>
          <a:xfrm>
            <a:off x="2095500" y="685800"/>
            <a:ext cx="38100" cy="38100"/>
          </a:xfrm>
          <a:prstGeom prst="rect">
            <a:avLst/>
          </a:prstGeom>
          <a:solidFill>
            <a:srgbClr val="50658E">
              <a:alpha val="37120"/>
            </a:srgbClr>
          </a:solidFill>
          <a:ln>
            <a:noFill/>
          </a:ln>
        </p:spPr>
      </p:sp>
      <p:sp>
        <p:nvSpPr>
          <p:cNvPr id="78" name="wm.whiteboard.144.54"/>
          <p:cNvSpPr/>
          <p:nvPr/>
        </p:nvSpPr>
        <p:spPr>
          <a:xfrm>
            <a:off x="2095500" y="914400"/>
            <a:ext cx="38100" cy="38100"/>
          </a:xfrm>
          <a:prstGeom prst="rect">
            <a:avLst/>
          </a:prstGeom>
          <a:solidFill>
            <a:srgbClr val="50658E">
              <a:alpha val="31044"/>
            </a:srgbClr>
          </a:solidFill>
          <a:ln>
            <a:noFill/>
          </a:ln>
        </p:spPr>
      </p:sp>
      <p:sp>
        <p:nvSpPr>
          <p:cNvPr id="79" name="wm.whiteboard.144.72"/>
          <p:cNvSpPr/>
          <p:nvPr/>
        </p:nvSpPr>
        <p:spPr>
          <a:xfrm>
            <a:off x="2095500" y="1143000"/>
            <a:ext cx="38100" cy="38100"/>
          </a:xfrm>
          <a:prstGeom prst="rect">
            <a:avLst/>
          </a:prstGeom>
          <a:solidFill>
            <a:srgbClr val="50658E">
              <a:alpha val="23083"/>
            </a:srgbClr>
          </a:solidFill>
          <a:ln>
            <a:noFill/>
          </a:ln>
        </p:spPr>
      </p:sp>
      <p:sp>
        <p:nvSpPr>
          <p:cNvPr id="80" name="wm.whiteboard.144.90"/>
          <p:cNvSpPr/>
          <p:nvPr/>
        </p:nvSpPr>
        <p:spPr>
          <a:xfrm>
            <a:off x="2095500" y="1371600"/>
            <a:ext cx="38100" cy="38100"/>
          </a:xfrm>
          <a:prstGeom prst="rect">
            <a:avLst/>
          </a:prstGeom>
          <a:solidFill>
            <a:srgbClr val="50658E">
              <a:alpha val="13557"/>
            </a:srgbClr>
          </a:solidFill>
          <a:ln>
            <a:noFill/>
          </a:ln>
        </p:spPr>
      </p:sp>
      <p:sp>
        <p:nvSpPr>
          <p:cNvPr id="81" name="wm.whiteboard.144.108"/>
          <p:cNvSpPr/>
          <p:nvPr/>
        </p:nvSpPr>
        <p:spPr>
          <a:xfrm>
            <a:off x="2095500" y="1600200"/>
            <a:ext cx="38100" cy="38100"/>
          </a:xfrm>
          <a:prstGeom prst="rect">
            <a:avLst/>
          </a:prstGeom>
          <a:solidFill>
            <a:srgbClr val="50658E">
              <a:alpha val="2762"/>
            </a:srgbClr>
          </a:solidFill>
          <a:ln>
            <a:noFill/>
          </a:ln>
        </p:spPr>
      </p:sp>
      <p:sp>
        <p:nvSpPr>
          <p:cNvPr id="82" name="wm.whiteboard.162.0"/>
          <p:cNvSpPr/>
          <p:nvPr/>
        </p:nvSpPr>
        <p:spPr>
          <a:xfrm>
            <a:off x="2324100" y="228600"/>
            <a:ext cx="38100" cy="38100"/>
          </a:xfrm>
          <a:prstGeom prst="rect">
            <a:avLst/>
          </a:prstGeom>
          <a:solidFill>
            <a:srgbClr val="50658E">
              <a:alpha val="28695"/>
            </a:srgbClr>
          </a:solidFill>
          <a:ln>
            <a:noFill/>
          </a:ln>
        </p:spPr>
      </p:sp>
      <p:sp>
        <p:nvSpPr>
          <p:cNvPr id="83" name="wm.whiteboard.162.18"/>
          <p:cNvSpPr/>
          <p:nvPr/>
        </p:nvSpPr>
        <p:spPr>
          <a:xfrm>
            <a:off x="2324100" y="457200"/>
            <a:ext cx="38100" cy="38100"/>
          </a:xfrm>
          <a:prstGeom prst="rect">
            <a:avLst/>
          </a:prstGeom>
          <a:solidFill>
            <a:srgbClr val="50658E">
              <a:alpha val="27389"/>
            </a:srgbClr>
          </a:solidFill>
          <a:ln>
            <a:noFill/>
          </a:ln>
        </p:spPr>
      </p:sp>
      <p:sp>
        <p:nvSpPr>
          <p:cNvPr id="84" name="wm.whiteboard.162.36"/>
          <p:cNvSpPr/>
          <p:nvPr/>
        </p:nvSpPr>
        <p:spPr>
          <a:xfrm>
            <a:off x="2324100" y="685800"/>
            <a:ext cx="38100" cy="38100"/>
          </a:xfrm>
          <a:prstGeom prst="rect">
            <a:avLst/>
          </a:prstGeom>
          <a:solidFill>
            <a:srgbClr val="50658E">
              <a:alpha val="23910"/>
            </a:srgbClr>
          </a:solidFill>
          <a:ln>
            <a:noFill/>
          </a:ln>
        </p:spPr>
      </p:sp>
      <p:sp>
        <p:nvSpPr>
          <p:cNvPr id="85" name="wm.whiteboard.162.54"/>
          <p:cNvSpPr/>
          <p:nvPr/>
        </p:nvSpPr>
        <p:spPr>
          <a:xfrm>
            <a:off x="2324100" y="914400"/>
            <a:ext cx="38100" cy="38100"/>
          </a:xfrm>
          <a:prstGeom prst="rect">
            <a:avLst/>
          </a:prstGeom>
          <a:solidFill>
            <a:srgbClr val="50658E">
              <a:alpha val="18425"/>
            </a:srgbClr>
          </a:solidFill>
          <a:ln>
            <a:noFill/>
          </a:ln>
        </p:spPr>
      </p:sp>
      <p:sp>
        <p:nvSpPr>
          <p:cNvPr id="86" name="wm.whiteboard.162.72"/>
          <p:cNvSpPr/>
          <p:nvPr/>
        </p:nvSpPr>
        <p:spPr>
          <a:xfrm>
            <a:off x="2324100" y="1143000"/>
            <a:ext cx="38100" cy="38100"/>
          </a:xfrm>
          <a:prstGeom prst="rect">
            <a:avLst/>
          </a:prstGeom>
          <a:solidFill>
            <a:srgbClr val="50658E">
              <a:alpha val="11167"/>
            </a:srgbClr>
          </a:solidFill>
          <a:ln>
            <a:noFill/>
          </a:ln>
        </p:spPr>
      </p:sp>
      <p:sp>
        <p:nvSpPr>
          <p:cNvPr id="87" name="wm.whiteboard.162.90"/>
          <p:cNvSpPr/>
          <p:nvPr/>
        </p:nvSpPr>
        <p:spPr>
          <a:xfrm>
            <a:off x="2324100" y="1371600"/>
            <a:ext cx="38100" cy="38100"/>
          </a:xfrm>
          <a:prstGeom prst="rect">
            <a:avLst/>
          </a:prstGeom>
          <a:solidFill>
            <a:srgbClr val="50658E">
              <a:alpha val="2388"/>
            </a:srgbClr>
          </a:solidFill>
          <a:ln>
            <a:noFill/>
          </a:ln>
        </p:spPr>
      </p:sp>
      <p:sp>
        <p:nvSpPr>
          <p:cNvPr id="88" name="wm.whiteboard.180.0"/>
          <p:cNvSpPr/>
          <p:nvPr/>
        </p:nvSpPr>
        <p:spPr>
          <a:xfrm>
            <a:off x="2552700" y="228600"/>
            <a:ext cx="38100" cy="38100"/>
          </a:xfrm>
          <a:prstGeom prst="rect">
            <a:avLst/>
          </a:prstGeom>
          <a:solidFill>
            <a:srgbClr val="50658E">
              <a:alpha val="14918"/>
            </a:srgbClr>
          </a:solidFill>
          <a:ln>
            <a:noFill/>
          </a:ln>
        </p:spPr>
      </p:sp>
      <p:sp>
        <p:nvSpPr>
          <p:cNvPr id="89" name="wm.whiteboard.180.18"/>
          <p:cNvSpPr/>
          <p:nvPr/>
        </p:nvSpPr>
        <p:spPr>
          <a:xfrm>
            <a:off x="2552700" y="457200"/>
            <a:ext cx="38100" cy="38100"/>
          </a:xfrm>
          <a:prstGeom prst="rect">
            <a:avLst/>
          </a:prstGeom>
          <a:solidFill>
            <a:srgbClr val="50658E">
              <a:alpha val="13741"/>
            </a:srgbClr>
          </a:solidFill>
          <a:ln>
            <a:noFill/>
          </a:ln>
        </p:spPr>
      </p:sp>
      <p:sp>
        <p:nvSpPr>
          <p:cNvPr id="90" name="wm.whiteboard.180.36"/>
          <p:cNvSpPr/>
          <p:nvPr/>
        </p:nvSpPr>
        <p:spPr>
          <a:xfrm>
            <a:off x="2552700" y="685800"/>
            <a:ext cx="38100" cy="38100"/>
          </a:xfrm>
          <a:prstGeom prst="rect">
            <a:avLst/>
          </a:prstGeom>
          <a:solidFill>
            <a:srgbClr val="50658E">
              <a:alpha val="10593"/>
            </a:srgbClr>
          </a:solidFill>
          <a:ln>
            <a:noFill/>
          </a:ln>
        </p:spPr>
      </p:sp>
      <p:sp>
        <p:nvSpPr>
          <p:cNvPr id="91" name="wm.whiteboard.180.54"/>
          <p:cNvSpPr/>
          <p:nvPr/>
        </p:nvSpPr>
        <p:spPr>
          <a:xfrm>
            <a:off x="2552700" y="914400"/>
            <a:ext cx="38100" cy="38100"/>
          </a:xfrm>
          <a:prstGeom prst="rect">
            <a:avLst/>
          </a:prstGeom>
          <a:solidFill>
            <a:srgbClr val="50658E">
              <a:alpha val="5600"/>
            </a:srgbClr>
          </a:solidFill>
          <a:ln>
            <a:noFill/>
          </a:ln>
        </p:spPr>
      </p:sp>
      <p:sp>
        <p:nvSpPr>
          <p:cNvPr id="92" name="wm.whiteboard.198.0"/>
          <p:cNvSpPr/>
          <p:nvPr/>
        </p:nvSpPr>
        <p:spPr>
          <a:xfrm>
            <a:off x="2781300" y="228600"/>
            <a:ext cx="38100" cy="38100"/>
          </a:xfrm>
          <a:prstGeom prst="rect">
            <a:avLst/>
          </a:prstGeom>
          <a:solidFill>
            <a:srgbClr val="50658E">
              <a:alpha val="1142"/>
            </a:srgbClr>
          </a:solidFill>
          <a:ln>
            <a:noFill/>
          </a:ln>
        </p:spPr>
      </p:sp>
      <p:sp>
        <p:nvSpPr>
          <p:cNvPr id="93" name="wm.whiteboard.198.18"/>
          <p:cNvSpPr/>
          <p:nvPr/>
        </p:nvSpPr>
        <p:spPr>
          <a:xfrm>
            <a:off x="2781300" y="457200"/>
            <a:ext cx="38100" cy="38100"/>
          </a:xfrm>
          <a:prstGeom prst="rect">
            <a:avLst/>
          </a:prstGeom>
          <a:solidFill>
            <a:srgbClr val="50658E">
              <a:alpha val="69"/>
            </a:srgbClr>
          </a:solidFill>
          <a:ln>
            <a:noFill/>
          </a:ln>
        </p:spPr>
      </p:sp>
      <p:sp>
        <p:nvSpPr>
          <p:cNvPr id="94" name="wm.header.rule"/>
          <p:cNvSpPr/>
          <p:nvPr/>
        </p:nvSpPr>
        <p:spPr>
          <a:xfrm>
            <a:off x="723900" y="1371600"/>
            <a:ext cx="10744200" cy="9525"/>
          </a:xfrm>
          <a:prstGeom prst="rect">
            <a:avLst/>
          </a:prstGeom>
          <a:solidFill>
            <a:srgbClr val="50658E"/>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CED7E6"/>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CED7E6"/>
              </a:solidFill>
              <a:latin typeface="IBM Plex Mono"/>
              <a:ea typeface="IBM Plex Mono"/>
              <a:cs typeface="IBM Plex Mono"/>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wmds.frame.d21000607c5421a633f8">
    <p:bg>
      <p:bgPr>
        <a:solidFill>
          <a:srgbClr val="FFFFFF"/>
        </a:solidFill>
      </p:bgPr>
    </p:bg>
    <p:spTree>
      <p:nvGrpSpPr>
        <p:cNvPr id="1" name=""/>
        <p:cNvGrpSpPr/>
        <p:nvPr/>
      </p:nvGrpSpPr>
      <p:grpSpPr>
        <a:xfrm>
          <a:off x="0" y="0"/>
          <a:ext cx="0" cy="0"/>
          <a:chOff x="0" y="0"/>
          <a:chExt cx="0" cy="0"/>
        </a:xfrm>
      </p:grpSpPr>
      <p:sp>
        <p:nvSpPr>
          <p:cNvPr id="2" name="wm.tint.01"/>
          <p:cNvSpPr/>
          <p:nvPr/>
        </p:nvSpPr>
        <p:spPr>
          <a:xfrm>
            <a:off x="8724900" y="0"/>
            <a:ext cx="3467100" cy="6858000"/>
          </a:xfrm>
          <a:prstGeom prst="rect">
            <a:avLst/>
          </a:prstGeom>
          <a:solidFill>
            <a:srgbClr val="E8EEF8"/>
          </a:solidFill>
          <a:ln>
            <a:noFill/>
          </a:ln>
        </p:spPr>
      </p:sp>
      <p:sp>
        <p:nvSpPr>
          <p:cNvPr id="3" name="wm.footer.rule"/>
          <p:cNvSpPr/>
          <p:nvPr/>
        </p:nvSpPr>
        <p:spPr>
          <a:xfrm>
            <a:off x="723900" y="6057900"/>
            <a:ext cx="107442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371600"/>
            <a:ext cx="107442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wmds.frame.f3fbc78b3ea476191ebf">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2865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6" name="wm.legal"/>
          <p:cNvSpPr/>
          <p:nvPr/>
        </p:nvSpPr>
        <p:spPr>
          <a:xfrm>
            <a:off x="2171700" y="6419850"/>
            <a:ext cx="8915400" cy="1143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wmds.frame.79d108b15b5b0536b9e6">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2865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6" name="wm.legal"/>
          <p:cNvSpPr/>
          <p:nvPr/>
        </p:nvSpPr>
        <p:spPr>
          <a:xfrm>
            <a:off x="2171700" y="6419850"/>
            <a:ext cx="8915400" cy="1143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wmds.frame.172189e3d572d139d050">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wmds.frame.15d0f612804654f79f21">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wmds.frame.7e3405850516957645c1">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sp>
        <p:nvSpPr>
          <p:cNvPr id="95" name="wm.header.rule"/>
          <p:cNvSpPr/>
          <p:nvPr/>
        </p:nvSpPr>
        <p:spPr>
          <a:xfrm>
            <a:off x="43815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10.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8-2.png"/><Relationship Id="rId3" Type="http://schemas.openxmlformats.org/officeDocument/2006/relationships/image" Target="../media/image-18-3.svg"/><Relationship Id="rId4" Type="http://schemas.openxmlformats.org/officeDocument/2006/relationships/image" Target="../media/image-18-4.png"/><Relationship Id="rId5" Type="http://schemas.openxmlformats.org/officeDocument/2006/relationships/image" Target="../media/image-18-5.svg"/><Relationship Id="rId6" Type="http://schemas.openxmlformats.org/officeDocument/2006/relationships/image" Target="../media/image-18-6.png"/><Relationship Id="rId7" Type="http://schemas.openxmlformats.org/officeDocument/2006/relationships/image" Target="../media/image-18-7.svg"/><Relationship Id="rId8" Type="http://schemas.openxmlformats.org/officeDocument/2006/relationships/image" Target="../media/image-18-8.png"/><Relationship Id="rId9" Type="http://schemas.openxmlformats.org/officeDocument/2006/relationships/image" Target="../media/image-18-9.svg"/><Relationship Id="rId10" Type="http://schemas.openxmlformats.org/officeDocument/2006/relationships/slideLayout" Target="../slideLayouts/slideLayout13.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6.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3.png"/><Relationship Id="rId4" Type="http://schemas.openxmlformats.org/officeDocument/2006/relationships/image" Target="../media/image-29-4.svg"/><Relationship Id="rId5" Type="http://schemas.openxmlformats.org/officeDocument/2006/relationships/image" Target="../media/image-29-5.png"/><Relationship Id="rId6" Type="http://schemas.openxmlformats.org/officeDocument/2006/relationships/image" Target="../media/image-29-6.svg"/><Relationship Id="rId7" Type="http://schemas.openxmlformats.org/officeDocument/2006/relationships/image" Target="../media/image-29-7.png"/><Relationship Id="rId8" Type="http://schemas.openxmlformats.org/officeDocument/2006/relationships/image" Target="../media/image-29-8.svg"/><Relationship Id="rId9" Type="http://schemas.openxmlformats.org/officeDocument/2006/relationships/image" Target="../media/image-29-9.png"/><Relationship Id="rId10" Type="http://schemas.openxmlformats.org/officeDocument/2006/relationships/image" Target="../media/image-29-10.svg"/><Relationship Id="rId11" Type="http://schemas.openxmlformats.org/officeDocument/2006/relationships/image" Target="../media/image-29-9.png"/><Relationship Id="rId12" Type="http://schemas.openxmlformats.org/officeDocument/2006/relationships/image" Target="../media/image-29-10.svg"/><Relationship Id="rId13" Type="http://schemas.openxmlformats.org/officeDocument/2006/relationships/image" Target="../media/image-29-9.png"/><Relationship Id="rId14" Type="http://schemas.openxmlformats.org/officeDocument/2006/relationships/image" Target="../media/image-29-10.svg"/><Relationship Id="rId15" Type="http://schemas.openxmlformats.org/officeDocument/2006/relationships/image" Target="../media/image-29-9.png"/><Relationship Id="rId16" Type="http://schemas.openxmlformats.org/officeDocument/2006/relationships/image" Target="../media/image-29-10.svg"/><Relationship Id="rId17" Type="http://schemas.openxmlformats.org/officeDocument/2006/relationships/slideLayout" Target="../slideLayouts/slideLayout2.xml"/><Relationship Id="rId1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3.png"/><Relationship Id="rId4" Type="http://schemas.openxmlformats.org/officeDocument/2006/relationships/image" Target="../media/image-29-4.svg"/><Relationship Id="rId5" Type="http://schemas.openxmlformats.org/officeDocument/2006/relationships/image" Target="../media/image-29-5.png"/><Relationship Id="rId6" Type="http://schemas.openxmlformats.org/officeDocument/2006/relationships/image" Target="../media/image-29-6.svg"/><Relationship Id="rId7" Type="http://schemas.openxmlformats.org/officeDocument/2006/relationships/image" Target="../media/image-29-7.png"/><Relationship Id="rId8" Type="http://schemas.openxmlformats.org/officeDocument/2006/relationships/image" Target="../media/image-29-8.svg"/><Relationship Id="rId9" Type="http://schemas.openxmlformats.org/officeDocument/2006/relationships/image" Target="../media/image-29-9.png"/><Relationship Id="rId10" Type="http://schemas.openxmlformats.org/officeDocument/2006/relationships/image" Target="../media/image-29-10.svg"/><Relationship Id="rId11" Type="http://schemas.openxmlformats.org/officeDocument/2006/relationships/image" Target="../media/image-29-9.png"/><Relationship Id="rId12" Type="http://schemas.openxmlformats.org/officeDocument/2006/relationships/image" Target="../media/image-29-10.svg"/><Relationship Id="rId13" Type="http://schemas.openxmlformats.org/officeDocument/2006/relationships/image" Target="../media/image-29-9.png"/><Relationship Id="rId14" Type="http://schemas.openxmlformats.org/officeDocument/2006/relationships/image" Target="../media/image-29-10.svg"/><Relationship Id="rId15" Type="http://schemas.openxmlformats.org/officeDocument/2006/relationships/image" Target="../media/image-29-9.png"/><Relationship Id="rId16" Type="http://schemas.openxmlformats.org/officeDocument/2006/relationships/image" Target="../media/image-29-10.svg"/><Relationship Id="rId17" Type="http://schemas.openxmlformats.org/officeDocument/2006/relationships/slideLayout" Target="../slideLayouts/slideLayout18.xml"/><Relationship Id="rId1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image" Target="../media/image-42-3.png"/><Relationship Id="rId4" Type="http://schemas.openxmlformats.org/officeDocument/2006/relationships/image" Target="../media/image-42-4.svg"/><Relationship Id="rId5" Type="http://schemas.openxmlformats.org/officeDocument/2006/relationships/image" Target="../media/image-42-5.png"/><Relationship Id="rId6" Type="http://schemas.openxmlformats.org/officeDocument/2006/relationships/image" Target="../media/image-29-8.svg"/><Relationship Id="rId7" Type="http://schemas.openxmlformats.org/officeDocument/2006/relationships/image" Target="../media/image-42-7.png"/><Relationship Id="rId8" Type="http://schemas.openxmlformats.org/officeDocument/2006/relationships/image" Target="../media/image-42-8.svg"/><Relationship Id="rId9" Type="http://schemas.openxmlformats.org/officeDocument/2006/relationships/image" Target="../media/image-42-9.png"/><Relationship Id="rId10" Type="http://schemas.openxmlformats.org/officeDocument/2006/relationships/image" Target="../media/image-29-2.svg"/><Relationship Id="rId11" Type="http://schemas.openxmlformats.org/officeDocument/2006/relationships/image" Target="../media/image-42-11.png"/><Relationship Id="rId12" Type="http://schemas.openxmlformats.org/officeDocument/2006/relationships/image" Target="../media/image-42-12.svg"/><Relationship Id="rId13" Type="http://schemas.openxmlformats.org/officeDocument/2006/relationships/image" Target="../media/image-42-13.png"/><Relationship Id="rId14" Type="http://schemas.openxmlformats.org/officeDocument/2006/relationships/image" Target="../media/image-42-14.svg"/><Relationship Id="rId15" Type="http://schemas.openxmlformats.org/officeDocument/2006/relationships/slideLayout" Target="../slideLayouts/slideLayout2.xml"/><Relationship Id="rId1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image" Target="../media/image-42-3.png"/><Relationship Id="rId4" Type="http://schemas.openxmlformats.org/officeDocument/2006/relationships/image" Target="../media/image-42-4.svg"/><Relationship Id="rId5" Type="http://schemas.openxmlformats.org/officeDocument/2006/relationships/image" Target="../media/image-42-5.png"/><Relationship Id="rId6" Type="http://schemas.openxmlformats.org/officeDocument/2006/relationships/image" Target="../media/image-29-8.svg"/><Relationship Id="rId7" Type="http://schemas.openxmlformats.org/officeDocument/2006/relationships/image" Target="../media/image-42-7.png"/><Relationship Id="rId8" Type="http://schemas.openxmlformats.org/officeDocument/2006/relationships/image" Target="../media/image-42-8.svg"/><Relationship Id="rId9" Type="http://schemas.openxmlformats.org/officeDocument/2006/relationships/image" Target="../media/image-42-9.png"/><Relationship Id="rId10" Type="http://schemas.openxmlformats.org/officeDocument/2006/relationships/image" Target="../media/image-29-2.svg"/><Relationship Id="rId11" Type="http://schemas.openxmlformats.org/officeDocument/2006/relationships/slideLayout" Target="../slideLayouts/slideLayout2.xml"/><Relationship Id="rId1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2-3.png"/><Relationship Id="rId2" Type="http://schemas.openxmlformats.org/officeDocument/2006/relationships/image" Target="../media/image-42-4.svg"/><Relationship Id="rId3" Type="http://schemas.openxmlformats.org/officeDocument/2006/relationships/image" Target="../media/image-42-5.png"/><Relationship Id="rId4" Type="http://schemas.openxmlformats.org/officeDocument/2006/relationships/image" Target="../media/image-29-8.svg"/><Relationship Id="rId5" Type="http://schemas.openxmlformats.org/officeDocument/2006/relationships/image" Target="../media/image-42-7.png"/><Relationship Id="rId6" Type="http://schemas.openxmlformats.org/officeDocument/2006/relationships/image" Target="../media/image-42-8.svg"/><Relationship Id="rId7" Type="http://schemas.openxmlformats.org/officeDocument/2006/relationships/image" Target="../media/image-42-9.png"/><Relationship Id="rId8" Type="http://schemas.openxmlformats.org/officeDocument/2006/relationships/image" Target="../media/image-29-2.svg"/><Relationship Id="rId9" Type="http://schemas.openxmlformats.org/officeDocument/2006/relationships/slideLayout" Target="../slideLayouts/slideLayout20.xml"/><Relationship Id="rId10"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svg"/><Relationship Id="rId3" Type="http://schemas.openxmlformats.org/officeDocument/2006/relationships/slideLayout" Target="../slideLayouts/slideLayout7.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3.png"/><Relationship Id="rId4" Type="http://schemas.openxmlformats.org/officeDocument/2006/relationships/image" Target="../media/image-29-4.svg"/><Relationship Id="rId5" Type="http://schemas.openxmlformats.org/officeDocument/2006/relationships/image" Target="../media/image-29-5.png"/><Relationship Id="rId6" Type="http://schemas.openxmlformats.org/officeDocument/2006/relationships/image" Target="../media/image-29-6.svg"/><Relationship Id="rId7" Type="http://schemas.openxmlformats.org/officeDocument/2006/relationships/image" Target="../media/image-29-9.png"/><Relationship Id="rId8" Type="http://schemas.openxmlformats.org/officeDocument/2006/relationships/image" Target="../media/image-29-10.svg"/><Relationship Id="rId9" Type="http://schemas.openxmlformats.org/officeDocument/2006/relationships/image" Target="../media/image-29-9.png"/><Relationship Id="rId10" Type="http://schemas.openxmlformats.org/officeDocument/2006/relationships/image" Target="../media/image-29-10.svg"/><Relationship Id="rId11" Type="http://schemas.openxmlformats.org/officeDocument/2006/relationships/image" Target="../media/image-29-9.png"/><Relationship Id="rId12" Type="http://schemas.openxmlformats.org/officeDocument/2006/relationships/image" Target="../media/image-29-10.svg"/><Relationship Id="rId13" Type="http://schemas.openxmlformats.org/officeDocument/2006/relationships/slideLayout" Target="../slideLayouts/slideLayout21.xml"/><Relationship Id="rId1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3.png"/><Relationship Id="rId4" Type="http://schemas.openxmlformats.org/officeDocument/2006/relationships/image" Target="../media/image-29-4.svg"/><Relationship Id="rId5" Type="http://schemas.openxmlformats.org/officeDocument/2006/relationships/image" Target="../media/image-29-5.png"/><Relationship Id="rId6" Type="http://schemas.openxmlformats.org/officeDocument/2006/relationships/image" Target="../media/image-29-6.svg"/><Relationship Id="rId7" Type="http://schemas.openxmlformats.org/officeDocument/2006/relationships/image" Target="../media/image-29-7.png"/><Relationship Id="rId8" Type="http://schemas.openxmlformats.org/officeDocument/2006/relationships/image" Target="../media/image-29-8.svg"/><Relationship Id="rId9" Type="http://schemas.openxmlformats.org/officeDocument/2006/relationships/image" Target="../media/image-52-9.png"/><Relationship Id="rId10" Type="http://schemas.openxmlformats.org/officeDocument/2006/relationships/image" Target="../media/image-29-10.svg"/><Relationship Id="rId11" Type="http://schemas.openxmlformats.org/officeDocument/2006/relationships/image" Target="../media/image-52-9.png"/><Relationship Id="rId12" Type="http://schemas.openxmlformats.org/officeDocument/2006/relationships/image" Target="../media/image-29-10.svg"/><Relationship Id="rId13" Type="http://schemas.openxmlformats.org/officeDocument/2006/relationships/image" Target="../media/image-52-9.png"/><Relationship Id="rId14" Type="http://schemas.openxmlformats.org/officeDocument/2006/relationships/image" Target="../media/image-29-10.svg"/><Relationship Id="rId15" Type="http://schemas.openxmlformats.org/officeDocument/2006/relationships/image" Target="../media/image-52-9.png"/><Relationship Id="rId16" Type="http://schemas.openxmlformats.org/officeDocument/2006/relationships/image" Target="../media/image-29-10.svg"/><Relationship Id="rId17" Type="http://schemas.openxmlformats.org/officeDocument/2006/relationships/slideLayout" Target="../slideLayouts/slideLayout21.xml"/><Relationship Id="rId18"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9.png"/><Relationship Id="rId4" Type="http://schemas.openxmlformats.org/officeDocument/2006/relationships/image" Target="../media/image-29-10.svg"/><Relationship Id="rId5" Type="http://schemas.openxmlformats.org/officeDocument/2006/relationships/image" Target="../media/image-29-3.png"/><Relationship Id="rId6" Type="http://schemas.openxmlformats.org/officeDocument/2006/relationships/image" Target="../media/image-29-4.svg"/><Relationship Id="rId7" Type="http://schemas.openxmlformats.org/officeDocument/2006/relationships/image" Target="../media/image-29-9.png"/><Relationship Id="rId8" Type="http://schemas.openxmlformats.org/officeDocument/2006/relationships/image" Target="../media/image-29-10.svg"/><Relationship Id="rId9" Type="http://schemas.openxmlformats.org/officeDocument/2006/relationships/image" Target="../media/image-29-5.png"/><Relationship Id="rId10" Type="http://schemas.openxmlformats.org/officeDocument/2006/relationships/image" Target="../media/image-29-6.svg"/><Relationship Id="rId11" Type="http://schemas.openxmlformats.org/officeDocument/2006/relationships/image" Target="../media/image-29-9.png"/><Relationship Id="rId12" Type="http://schemas.openxmlformats.org/officeDocument/2006/relationships/image" Target="../media/image-29-10.svg"/><Relationship Id="rId13" Type="http://schemas.openxmlformats.org/officeDocument/2006/relationships/slideLayout" Target="../slideLayouts/slideLayout21.xml"/><Relationship Id="rId1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3.png"/><Relationship Id="rId4" Type="http://schemas.openxmlformats.org/officeDocument/2006/relationships/image" Target="../media/image-29-4.svg"/><Relationship Id="rId5" Type="http://schemas.openxmlformats.org/officeDocument/2006/relationships/image" Target="../media/image-29-5.png"/><Relationship Id="rId6" Type="http://schemas.openxmlformats.org/officeDocument/2006/relationships/image" Target="../media/image-29-6.svg"/><Relationship Id="rId7" Type="http://schemas.openxmlformats.org/officeDocument/2006/relationships/image" Target="../media/image-29-9.png"/><Relationship Id="rId8" Type="http://schemas.openxmlformats.org/officeDocument/2006/relationships/image" Target="../media/image-29-10.svg"/><Relationship Id="rId9" Type="http://schemas.openxmlformats.org/officeDocument/2006/relationships/image" Target="../media/image-29-9.png"/><Relationship Id="rId10" Type="http://schemas.openxmlformats.org/officeDocument/2006/relationships/image" Target="../media/image-29-10.svg"/><Relationship Id="rId11" Type="http://schemas.openxmlformats.org/officeDocument/2006/relationships/image" Target="../media/image-29-9.png"/><Relationship Id="rId12" Type="http://schemas.openxmlformats.org/officeDocument/2006/relationships/image" Target="../media/image-29-10.svg"/><Relationship Id="rId13" Type="http://schemas.openxmlformats.org/officeDocument/2006/relationships/slideLayout" Target="../slideLayouts/slideLayout21.xml"/><Relationship Id="rId1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3.png"/><Relationship Id="rId4" Type="http://schemas.openxmlformats.org/officeDocument/2006/relationships/image" Target="../media/image-29-4.svg"/><Relationship Id="rId5" Type="http://schemas.openxmlformats.org/officeDocument/2006/relationships/image" Target="../media/image-29-5.png"/><Relationship Id="rId6" Type="http://schemas.openxmlformats.org/officeDocument/2006/relationships/image" Target="../media/image-29-6.svg"/><Relationship Id="rId7" Type="http://schemas.openxmlformats.org/officeDocument/2006/relationships/image" Target="../media/image-29-9.png"/><Relationship Id="rId8" Type="http://schemas.openxmlformats.org/officeDocument/2006/relationships/image" Target="../media/image-29-10.svg"/><Relationship Id="rId9" Type="http://schemas.openxmlformats.org/officeDocument/2006/relationships/image" Target="../media/image-29-9.png"/><Relationship Id="rId10" Type="http://schemas.openxmlformats.org/officeDocument/2006/relationships/image" Target="../media/image-29-10.svg"/><Relationship Id="rId11" Type="http://schemas.openxmlformats.org/officeDocument/2006/relationships/image" Target="../media/image-29-9.png"/><Relationship Id="rId12" Type="http://schemas.openxmlformats.org/officeDocument/2006/relationships/image" Target="../media/image-29-10.svg"/><Relationship Id="rId13" Type="http://schemas.openxmlformats.org/officeDocument/2006/relationships/slideLayout" Target="../slideLayouts/slideLayout22.xml"/><Relationship Id="rId1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42-2.svg"/><Relationship Id="rId3" Type="http://schemas.openxmlformats.org/officeDocument/2006/relationships/image" Target="../media/image-61-3.png"/><Relationship Id="rId4" Type="http://schemas.openxmlformats.org/officeDocument/2006/relationships/image" Target="../media/image-27-2.svg"/><Relationship Id="rId5" Type="http://schemas.openxmlformats.org/officeDocument/2006/relationships/slideLayout" Target="../slideLayouts/slideLayout7.xm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svg"/><Relationship Id="rId3" Type="http://schemas.openxmlformats.org/officeDocument/2006/relationships/image" Target="../media/image-63-3.png"/><Relationship Id="rId4" Type="http://schemas.openxmlformats.org/officeDocument/2006/relationships/image" Target="../media/image-27-2.svg"/><Relationship Id="rId5" Type="http://schemas.openxmlformats.org/officeDocument/2006/relationships/slideLayout" Target="../slideLayouts/slideLayout7.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svg"/><Relationship Id="rId3" Type="http://schemas.openxmlformats.org/officeDocument/2006/relationships/image" Target="../media/image-91-3.png"/><Relationship Id="rId4" Type="http://schemas.openxmlformats.org/officeDocument/2006/relationships/image" Target="../media/image-91-4.svg"/><Relationship Id="rId5" Type="http://schemas.openxmlformats.org/officeDocument/2006/relationships/image" Target="../media/image-91-5.png"/><Relationship Id="rId6" Type="http://schemas.openxmlformats.org/officeDocument/2006/relationships/image" Target="../media/image-91-6.svg"/><Relationship Id="rId7" Type="http://schemas.openxmlformats.org/officeDocument/2006/relationships/image" Target="../media/image-91-7.png"/><Relationship Id="rId8" Type="http://schemas.openxmlformats.org/officeDocument/2006/relationships/image" Target="../media/image-91-8.svg"/><Relationship Id="rId9" Type="http://schemas.openxmlformats.org/officeDocument/2006/relationships/image" Target="../media/image-91-9.png"/><Relationship Id="rId10" Type="http://schemas.openxmlformats.org/officeDocument/2006/relationships/image" Target="../media/image-91-10.svg"/><Relationship Id="rId11" Type="http://schemas.openxmlformats.org/officeDocument/2006/relationships/image" Target="../media/image-91-11.png"/><Relationship Id="rId12" Type="http://schemas.openxmlformats.org/officeDocument/2006/relationships/image" Target="../media/image-91-12.svg"/><Relationship Id="rId13" Type="http://schemas.openxmlformats.org/officeDocument/2006/relationships/slideLayout" Target="../slideLayouts/slideLayout7.xml"/><Relationship Id="rId1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31.xml"/><Relationship Id="rId4"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image" Target="../media/image-42-2.svg"/><Relationship Id="rId3" Type="http://schemas.openxmlformats.org/officeDocument/2006/relationships/slideLayout" Target="../slideLayouts/slideLayout2.xml"/><Relationship Id="rId4"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image" Target="../media/image-42-2.svg"/><Relationship Id="rId3" Type="http://schemas.openxmlformats.org/officeDocument/2006/relationships/slideLayout" Target="../slideLayouts/slideLayout2.xml"/><Relationship Id="rId4"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image" Target="../media/image-27-2.svg"/><Relationship Id="rId3" Type="http://schemas.openxmlformats.org/officeDocument/2006/relationships/slideLayout" Target="../slideLayouts/slideLayout2.xml"/><Relationship Id="rId4"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5.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7.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8.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image-160-1.png"/><Relationship Id="rId2" Type="http://schemas.openxmlformats.org/officeDocument/2006/relationships/slideLayout" Target="../slideLayouts/slideLayout7.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image-160-1.png"/><Relationship Id="rId2" Type="http://schemas.openxmlformats.org/officeDocument/2006/relationships/slideLayout" Target="../slideLayouts/slideLayout27.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image" Target="../media/image-162-1.png"/><Relationship Id="rId2" Type="http://schemas.openxmlformats.org/officeDocument/2006/relationships/slideLayout" Target="../slideLayouts/slideLayout7.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8.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image" Target="../media/image-186-1.png"/><Relationship Id="rId2" Type="http://schemas.openxmlformats.org/officeDocument/2006/relationships/image" Target="../media/image-42-2.svg"/><Relationship Id="rId3" Type="http://schemas.openxmlformats.org/officeDocument/2006/relationships/slideLayout" Target="../slideLayouts/slideLayout2.xml"/><Relationship Id="rId4"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image" Target="../media/image-187-1.png"/><Relationship Id="rId2" Type="http://schemas.openxmlformats.org/officeDocument/2006/relationships/image" Target="../media/image-42-2.svg"/><Relationship Id="rId3" Type="http://schemas.openxmlformats.org/officeDocument/2006/relationships/slideLayout" Target="../slideLayouts/slideLayout2.xml"/><Relationship Id="rId4"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image" Target="../media/image-188-1.png"/><Relationship Id="rId2" Type="http://schemas.openxmlformats.org/officeDocument/2006/relationships/image" Target="../media/image-42-2.svg"/><Relationship Id="rId3" Type="http://schemas.openxmlformats.org/officeDocument/2006/relationships/slideLayout" Target="../slideLayouts/slideLayout2.xml"/><Relationship Id="rId4"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image" Target="../media/image-189-1.png"/><Relationship Id="rId2" Type="http://schemas.openxmlformats.org/officeDocument/2006/relationships/image" Target="../media/image-42-2.svg"/><Relationship Id="rId3" Type="http://schemas.openxmlformats.org/officeDocument/2006/relationships/slideLayout" Target="../slideLayouts/slideLayout2.xml"/><Relationship Id="rId4"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image" Target="../media/image-191-1.png"/><Relationship Id="rId2" Type="http://schemas.openxmlformats.org/officeDocument/2006/relationships/image" Target="../media/image-27-2.svg"/><Relationship Id="rId3" Type="http://schemas.openxmlformats.org/officeDocument/2006/relationships/image" Target="../media/image-191-1.png"/><Relationship Id="rId4" Type="http://schemas.openxmlformats.org/officeDocument/2006/relationships/image" Target="../media/image-27-2.svg"/><Relationship Id="rId5" Type="http://schemas.openxmlformats.org/officeDocument/2006/relationships/image" Target="../media/image-191-1.png"/><Relationship Id="rId6" Type="http://schemas.openxmlformats.org/officeDocument/2006/relationships/image" Target="../media/image-27-2.svg"/><Relationship Id="rId7" Type="http://schemas.openxmlformats.org/officeDocument/2006/relationships/slideLayout" Target="../slideLayouts/slideLayout31.xml"/><Relationship Id="rId8"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image" Target="../media/image-192-1.png"/><Relationship Id="rId2" Type="http://schemas.openxmlformats.org/officeDocument/2006/relationships/image" Target="../media/image-42-2.svg"/><Relationship Id="rId3" Type="http://schemas.openxmlformats.org/officeDocument/2006/relationships/slideLayout" Target="../slideLayouts/slideLayout31.xml"/><Relationship Id="rId4"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image" Target="../media/image-187-1.png"/><Relationship Id="rId2" Type="http://schemas.openxmlformats.org/officeDocument/2006/relationships/image" Target="../media/image-42-2.svg"/><Relationship Id="rId3" Type="http://schemas.openxmlformats.org/officeDocument/2006/relationships/slideLayout" Target="../slideLayouts/slideLayout33.xml"/><Relationship Id="rId4"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7.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image" Target="../media/image-211-1.png"/><Relationship Id="rId2" Type="http://schemas.openxmlformats.org/officeDocument/2006/relationships/image" Target="../media/image-211-2.svg"/><Relationship Id="rId3" Type="http://schemas.openxmlformats.org/officeDocument/2006/relationships/image" Target="../media/image-211-3.png"/><Relationship Id="rId4" Type="http://schemas.openxmlformats.org/officeDocument/2006/relationships/image" Target="../media/image-211-4.svg"/><Relationship Id="rId5" Type="http://schemas.openxmlformats.org/officeDocument/2006/relationships/image" Target="../media/image-211-5.png"/><Relationship Id="rId6" Type="http://schemas.openxmlformats.org/officeDocument/2006/relationships/image" Target="../media/image-211-6.svg"/><Relationship Id="rId7" Type="http://schemas.openxmlformats.org/officeDocument/2006/relationships/slideLayout" Target="../slideLayouts/slideLayout7.xml"/><Relationship Id="rId8"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image" Target="../media/image-212-1.png"/><Relationship Id="rId2" Type="http://schemas.openxmlformats.org/officeDocument/2006/relationships/image" Target="../media/image-212-2.svg"/><Relationship Id="rId3" Type="http://schemas.openxmlformats.org/officeDocument/2006/relationships/image" Target="../media/image-211-1.png"/><Relationship Id="rId4" Type="http://schemas.openxmlformats.org/officeDocument/2006/relationships/image" Target="../media/image-211-2.svg"/><Relationship Id="rId5" Type="http://schemas.openxmlformats.org/officeDocument/2006/relationships/image" Target="../media/image-212-5.png"/><Relationship Id="rId6" Type="http://schemas.openxmlformats.org/officeDocument/2006/relationships/image" Target="../media/image-212-6.svg"/><Relationship Id="rId7" Type="http://schemas.openxmlformats.org/officeDocument/2006/relationships/slideLayout" Target="../slideLayouts/slideLayout52.xml"/><Relationship Id="rId8"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3.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8.xml"/><Relationship Id="rId3"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7.xml"/><Relationship Id="rId3"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image" Target="../media/image-226-1.png"/><Relationship Id="rId2" Type="http://schemas.openxmlformats.org/officeDocument/2006/relationships/slideLayout" Target="../slideLayouts/slideLayout2.xml"/><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image" Target="../media/image-226-1.png"/><Relationship Id="rId2" Type="http://schemas.openxmlformats.org/officeDocument/2006/relationships/slideLayout" Target="../slideLayouts/slideLayout17.xml"/><Relationship Id="rId3"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image" Target="../media/image-226-1.png"/><Relationship Id="rId2" Type="http://schemas.openxmlformats.org/officeDocument/2006/relationships/slideLayout" Target="../slideLayouts/slideLayout58.xml"/><Relationship Id="rId3"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59.xml"/><Relationship Id="rId3" Type="http://schemas.openxmlformats.org/officeDocument/2006/relationships/notesSlide" Target="../notesSlides/notesSlide230.xml"/></Relationships>
</file>

<file path=ppt/slides/slide1.xml><?xml version="1.0" encoding="utf-8"?>
<p:sld xmlns:a="http://schemas.openxmlformats.org/drawingml/2006/main" xmlns:r="http://schemas.openxmlformats.org/officeDocument/2006/relationships" xmlns:p="http://schemas.openxmlformats.org/presentationml/2006/main">
  <p:cSld name="source-02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 NORTHFIELD HEALTH SYSTEM</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Close redesign working session</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a:t>
            </a:fld>
            <a:endParaRPr lang="en-US" sz="700" spc="0" kern="0" b="0" i="0" dirty="0">
              <a:solidFill>
                <a:srgbClr val="070154"/>
              </a:solidFill>
              <a:latin typeface="IBM Plex Mono SemiBold"/>
              <a:ea typeface="IBM Plex Mono SemiBold"/>
              <a:cs typeface="IBM Plex Mono SemiBold"/>
            </a:endParaRPr>
          </a:p>
        </p:txBody>
      </p:sp>
      <p:grpSp>
        <p:nvGrpSpPr>
          <p:cNvPr id="20" name="node01"/>
          <p:cNvGrpSpPr/>
          <p:nvPr/>
        </p:nvGrpSpPr>
        <p:grpSpPr>
          <a:xfrm>
            <a:off x="723900" y="1828800"/>
            <a:ext cx="5257800" cy="2286000"/>
            <a:chOff x="723900" y="1828800"/>
            <a:chExt cx="5257800" cy="2286000"/>
          </a:xfrm>
        </p:grpSpPr>
        <p:sp>
          <p:nvSpPr>
            <p:cNvPr id="6" name="node01.source-001.key"/>
            <p:cNvSpPr/>
            <p:nvPr/>
          </p:nvSpPr>
          <p:spPr>
            <a:xfrm>
              <a:off x="723900" y="18288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9:00–9:30</a:t>
              </a:r>
              <a:endParaRPr lang="en-US" sz="1400" spc="0" kern="0" b="1" i="0" dirty="0">
                <a:solidFill>
                  <a:srgbClr val="F900D3"/>
                </a:solidFill>
                <a:latin typeface="IBM Plex Sans"/>
                <a:ea typeface="IBM Plex Sans"/>
                <a:cs typeface="IBM Plex Sans"/>
              </a:endParaRPr>
            </a:p>
          </p:txBody>
        </p:sp>
        <p:sp>
          <p:nvSpPr>
            <p:cNvPr id="7" name="node01.source-001.text"/>
            <p:cNvSpPr/>
            <p:nvPr/>
          </p:nvSpPr>
          <p:spPr>
            <a:xfrm>
              <a:off x="2781300" y="18310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Welcome and goals</a:t>
              </a:r>
              <a:endParaRPr lang="en-US" sz="1400" spc="0" kern="0" b="0" i="0" dirty="0">
                <a:solidFill>
                  <a:srgbClr val="070154"/>
                </a:solidFill>
                <a:latin typeface="IBM Plex Sans SemiBold"/>
                <a:ea typeface="IBM Plex Sans SemiBold"/>
                <a:cs typeface="IBM Plex Sans SemiBold"/>
              </a:endParaRPr>
            </a:p>
          </p:txBody>
        </p:sp>
        <p:sp>
          <p:nvSpPr>
            <p:cNvPr id="8" name="node01.source-002.key"/>
            <p:cNvSpPr/>
            <p:nvPr/>
          </p:nvSpPr>
          <p:spPr>
            <a:xfrm>
              <a:off x="723900" y="22860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9:30–10:30</a:t>
              </a:r>
              <a:endParaRPr lang="en-US" sz="1400" spc="0" kern="0" b="1" i="0" dirty="0">
                <a:solidFill>
                  <a:srgbClr val="F900D3"/>
                </a:solidFill>
                <a:latin typeface="IBM Plex Sans"/>
                <a:ea typeface="IBM Plex Sans"/>
                <a:cs typeface="IBM Plex Sans"/>
              </a:endParaRPr>
            </a:p>
          </p:txBody>
        </p:sp>
        <p:sp>
          <p:nvSpPr>
            <p:cNvPr id="9" name="node01.source-002.text"/>
            <p:cNvSpPr/>
            <p:nvPr/>
          </p:nvSpPr>
          <p:spPr>
            <a:xfrm>
              <a:off x="2781300" y="22882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Where the close loses time</a:t>
              </a:r>
              <a:endParaRPr lang="en-US" sz="1400" spc="0" kern="0" b="0" i="0" dirty="0">
                <a:solidFill>
                  <a:srgbClr val="070154"/>
                </a:solidFill>
                <a:latin typeface="IBM Plex Sans SemiBold"/>
                <a:ea typeface="IBM Plex Sans SemiBold"/>
                <a:cs typeface="IBM Plex Sans SemiBold"/>
              </a:endParaRPr>
            </a:p>
          </p:txBody>
        </p:sp>
        <p:sp>
          <p:nvSpPr>
            <p:cNvPr id="10" name="node01.source-003.key"/>
            <p:cNvSpPr/>
            <p:nvPr/>
          </p:nvSpPr>
          <p:spPr>
            <a:xfrm>
              <a:off x="723900" y="27432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10:30–11:30</a:t>
              </a:r>
              <a:endParaRPr lang="en-US" sz="1400" spc="0" kern="0" b="1" i="0" dirty="0">
                <a:solidFill>
                  <a:srgbClr val="F900D3"/>
                </a:solidFill>
                <a:latin typeface="IBM Plex Sans"/>
                <a:ea typeface="IBM Plex Sans"/>
                <a:cs typeface="IBM Plex Sans"/>
              </a:endParaRPr>
            </a:p>
          </p:txBody>
        </p:sp>
        <p:sp>
          <p:nvSpPr>
            <p:cNvPr id="11" name="node01.source-003.text"/>
            <p:cNvSpPr/>
            <p:nvPr/>
          </p:nvSpPr>
          <p:spPr>
            <a:xfrm>
              <a:off x="2781300" y="27454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Target operating model</a:t>
              </a:r>
              <a:endParaRPr lang="en-US" sz="1400" spc="0" kern="0" b="0" i="0" dirty="0">
                <a:solidFill>
                  <a:srgbClr val="070154"/>
                </a:solidFill>
                <a:latin typeface="IBM Plex Sans SemiBold"/>
                <a:ea typeface="IBM Plex Sans SemiBold"/>
                <a:cs typeface="IBM Plex Sans SemiBold"/>
              </a:endParaRPr>
            </a:p>
          </p:txBody>
        </p:sp>
        <p:sp>
          <p:nvSpPr>
            <p:cNvPr id="12" name="node01.source-004.key"/>
            <p:cNvSpPr/>
            <p:nvPr/>
          </p:nvSpPr>
          <p:spPr>
            <a:xfrm>
              <a:off x="723900" y="32004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11:30–12:15</a:t>
              </a:r>
              <a:endParaRPr lang="en-US" sz="1400" spc="0" kern="0" b="1" i="0" dirty="0">
                <a:solidFill>
                  <a:srgbClr val="F900D3"/>
                </a:solidFill>
                <a:latin typeface="IBM Plex Sans"/>
                <a:ea typeface="IBM Plex Sans"/>
                <a:cs typeface="IBM Plex Sans"/>
              </a:endParaRPr>
            </a:p>
          </p:txBody>
        </p:sp>
        <p:sp>
          <p:nvSpPr>
            <p:cNvPr id="13" name="node01.source-004.text"/>
            <p:cNvSpPr/>
            <p:nvPr/>
          </p:nvSpPr>
          <p:spPr>
            <a:xfrm>
              <a:off x="2781300" y="32026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Wave plan and owners</a:t>
              </a:r>
              <a:endParaRPr lang="en-US" sz="1400" spc="0" kern="0" b="0" i="0" dirty="0">
                <a:solidFill>
                  <a:srgbClr val="070154"/>
                </a:solidFill>
                <a:latin typeface="IBM Plex Sans SemiBold"/>
                <a:ea typeface="IBM Plex Sans SemiBold"/>
                <a:cs typeface="IBM Plex Sans SemiBold"/>
              </a:endParaRPr>
            </a:p>
          </p:txBody>
        </p:sp>
        <p:sp>
          <p:nvSpPr>
            <p:cNvPr id="14" name="node01.source-005.key"/>
            <p:cNvSpPr/>
            <p:nvPr/>
          </p:nvSpPr>
          <p:spPr>
            <a:xfrm>
              <a:off x="723900" y="36576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12:15–1:00</a:t>
              </a:r>
              <a:endParaRPr lang="en-US" sz="1400" spc="0" kern="0" b="1" i="0" dirty="0">
                <a:solidFill>
                  <a:srgbClr val="F900D3"/>
                </a:solidFill>
                <a:latin typeface="IBM Plex Sans"/>
                <a:ea typeface="IBM Plex Sans"/>
                <a:cs typeface="IBM Plex Sans"/>
              </a:endParaRPr>
            </a:p>
          </p:txBody>
        </p:sp>
        <p:sp>
          <p:nvSpPr>
            <p:cNvPr id="15" name="node01.source-005.text"/>
            <p:cNvSpPr/>
            <p:nvPr/>
          </p:nvSpPr>
          <p:spPr>
            <a:xfrm>
              <a:off x="2781300" y="36598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Decisions and next steps</a:t>
              </a:r>
              <a:endParaRPr lang="en-US" sz="1400" spc="0" kern="0" b="0" i="0" dirty="0">
                <a:solidFill>
                  <a:srgbClr val="070154"/>
                </a:solidFill>
                <a:latin typeface="IBM Plex Sans SemiBold"/>
                <a:ea typeface="IBM Plex Sans SemiBold"/>
                <a:cs typeface="IBM Plex Sans SemiBold"/>
              </a:endParaRPr>
            </a:p>
          </p:txBody>
        </p:sp>
      </p:grpSp>
      <p:grpSp>
        <p:nvGrpSpPr>
          <p:cNvPr id="21" name="node02"/>
          <p:cNvGrpSpPr/>
          <p:nvPr/>
        </p:nvGrpSpPr>
        <p:grpSpPr>
          <a:xfrm>
            <a:off x="6438900" y="1828800"/>
            <a:ext cx="5029200" cy="495300"/>
            <a:chOff x="6438900" y="1828800"/>
            <a:chExt cx="5029200" cy="495300"/>
          </a:xfrm>
        </p:grpSpPr>
        <p:sp>
          <p:nvSpPr>
            <p:cNvPr id="16" name="node02.label"/>
            <p:cNvSpPr/>
            <p:nvPr/>
          </p:nvSpPr>
          <p:spPr>
            <a:xfrm>
              <a:off x="6438900" y="1828800"/>
              <a:ext cx="502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OUTCOME</a:t>
              </a:r>
              <a:endParaRPr lang="en-US" sz="900" spc="54" kern="0" b="0" i="0" dirty="0">
                <a:solidFill>
                  <a:srgbClr val="0047FF"/>
                </a:solidFill>
                <a:latin typeface="IBM Plex Mono Medium"/>
                <a:ea typeface="IBM Plex Mono Medium"/>
                <a:cs typeface="IBM Plex Mono Medium"/>
              </a:endParaRPr>
            </a:p>
          </p:txBody>
        </p:sp>
        <p:sp>
          <p:nvSpPr>
            <p:cNvPr id="17" name="node02.body"/>
            <p:cNvSpPr/>
            <p:nvPr/>
          </p:nvSpPr>
          <p:spPr>
            <a:xfrm>
              <a:off x="6438900" y="2057400"/>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One agreed wave 1 scope and a named owner for each entity.</a:t>
              </a:r>
              <a:endParaRPr lang="en-US" sz="1400" spc="0" kern="0" b="0" i="0" dirty="0">
                <a:solidFill>
                  <a:srgbClr val="50658E"/>
                </a:solidFill>
                <a:latin typeface="IBM Plex Sans"/>
                <a:ea typeface="IBM Plex Sans"/>
                <a:cs typeface="IBM Plex Sans"/>
              </a:endParaRPr>
            </a:p>
          </p:txBody>
        </p:sp>
      </p:grpSp>
      <p:grpSp>
        <p:nvGrpSpPr>
          <p:cNvPr id="22" name="node03"/>
          <p:cNvGrpSpPr/>
          <p:nvPr/>
        </p:nvGrpSpPr>
        <p:grpSpPr>
          <a:xfrm>
            <a:off x="6438900" y="2743200"/>
            <a:ext cx="4800600" cy="3200400"/>
            <a:chOff x="6438900" y="2743200"/>
            <a:chExt cx="4800600" cy="3200400"/>
          </a:xfrm>
        </p:grpSpPr>
        <p:sp>
          <p:nvSpPr>
            <p:cNvPr id="18" name="node03.surface"/>
            <p:cNvSpPr/>
            <p:nvPr/>
          </p:nvSpPr>
          <p:spPr>
            <a:xfrm>
              <a:off x="6438900" y="2743200"/>
              <a:ext cx="4800600" cy="3200400"/>
            </a:xfrm>
            <a:prstGeom prst="rect">
              <a:avLst/>
            </a:prstGeom>
            <a:solidFill>
              <a:srgbClr val="070154"/>
            </a:solidFill>
            <a:ln>
              <a:noFill/>
            </a:ln>
          </p:spPr>
        </p:sp>
      </p:grpSp>
      <p:grpSp>
        <p:nvGrpSpPr>
          <p:cNvPr id="23" name="node04"/>
          <p:cNvGrpSpPr/>
          <p:nvPr/>
        </p:nvGrpSpPr>
        <p:grpSpPr>
          <a:xfrm>
            <a:off x="6667500" y="2514600"/>
            <a:ext cx="4800600" cy="3200400"/>
            <a:chOff x="6667500" y="2514600"/>
            <a:chExt cx="4800600" cy="3200400"/>
          </a:xfrm>
        </p:grpSpPr>
        <p:pic>
          <p:nvPicPr>
            <p:cNvPr id="19" name="node04.image" descr="photo-working-session; canonical SHA256=f25eea9ebc335d07c158bb508fa02b26d745530e58073ce62d884c773d006e8a">    </p:cNvPr>
            <p:cNvPicPr>
              <a:picLocks noChangeAspect="1"/>
            </p:cNvPicPr>
            <p:nvPr/>
          </p:nvPicPr>
          <p:blipFill>
            <a:blip r:embed="rId1"/>
            <a:srcRect l="0" r="0" t="20" b="30"/>
            <a:stretch/>
          </p:blipFill>
          <p:spPr>
            <a:xfrm>
              <a:off x="6667500" y="2514600"/>
              <a:ext cx="4800600" cy="320040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ource-022">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 NORTHFIELD HEALTH SYSTEM</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Close redesign working session</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2</a:t>
            </a:fld>
            <a:endParaRPr lang="en-US" sz="700" spc="0" kern="0" b="0" i="0" dirty="0">
              <a:solidFill>
                <a:srgbClr val="FFFFFF"/>
              </a:solidFill>
              <a:latin typeface="IBM Plex Mono SemiBold"/>
              <a:ea typeface="IBM Plex Mono SemiBold"/>
              <a:cs typeface="IBM Plex Mono SemiBold"/>
            </a:endParaRPr>
          </a:p>
        </p:txBody>
      </p:sp>
      <p:grpSp>
        <p:nvGrpSpPr>
          <p:cNvPr id="19" name="node01"/>
          <p:cNvGrpSpPr/>
          <p:nvPr/>
        </p:nvGrpSpPr>
        <p:grpSpPr>
          <a:xfrm>
            <a:off x="723900" y="1828800"/>
            <a:ext cx="7086600" cy="3429000"/>
            <a:chOff x="723900" y="1828800"/>
            <a:chExt cx="7086600" cy="3429000"/>
          </a:xfrm>
        </p:grpSpPr>
        <p:sp>
          <p:nvSpPr>
            <p:cNvPr id="6" name="node01.source-001.key"/>
            <p:cNvSpPr/>
            <p:nvPr/>
          </p:nvSpPr>
          <p:spPr>
            <a:xfrm>
              <a:off x="723900" y="18288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9:00–9:30</a:t>
              </a:r>
              <a:endParaRPr lang="en-US" sz="1400" spc="0" kern="0" b="1" i="0" dirty="0">
                <a:solidFill>
                  <a:srgbClr val="F900D3"/>
                </a:solidFill>
                <a:latin typeface="IBM Plex Sans"/>
                <a:ea typeface="IBM Plex Sans"/>
                <a:cs typeface="IBM Plex Sans"/>
              </a:endParaRPr>
            </a:p>
          </p:txBody>
        </p:sp>
        <p:sp>
          <p:nvSpPr>
            <p:cNvPr id="7" name="node01.source-001.text"/>
            <p:cNvSpPr/>
            <p:nvPr/>
          </p:nvSpPr>
          <p:spPr>
            <a:xfrm>
              <a:off x="2781300" y="1831086"/>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Welcome and goals</a:t>
              </a:r>
              <a:endParaRPr lang="en-US" sz="1400" spc="0" kern="0" b="0" i="0" dirty="0">
                <a:solidFill>
                  <a:srgbClr val="070154"/>
                </a:solidFill>
                <a:latin typeface="IBM Plex Sans SemiBold"/>
                <a:ea typeface="IBM Plex Sans SemiBold"/>
                <a:cs typeface="IBM Plex Sans SemiBold"/>
              </a:endParaRPr>
            </a:p>
          </p:txBody>
        </p:sp>
        <p:sp>
          <p:nvSpPr>
            <p:cNvPr id="8" name="node01.source-002.key"/>
            <p:cNvSpPr/>
            <p:nvPr/>
          </p:nvSpPr>
          <p:spPr>
            <a:xfrm>
              <a:off x="723900" y="25146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9:30–10:30</a:t>
              </a:r>
              <a:endParaRPr lang="en-US" sz="1400" spc="0" kern="0" b="1" i="0" dirty="0">
                <a:solidFill>
                  <a:srgbClr val="F900D3"/>
                </a:solidFill>
                <a:latin typeface="IBM Plex Sans"/>
                <a:ea typeface="IBM Plex Sans"/>
                <a:cs typeface="IBM Plex Sans"/>
              </a:endParaRPr>
            </a:p>
          </p:txBody>
        </p:sp>
        <p:sp>
          <p:nvSpPr>
            <p:cNvPr id="9" name="node01.source-002.text"/>
            <p:cNvSpPr/>
            <p:nvPr/>
          </p:nvSpPr>
          <p:spPr>
            <a:xfrm>
              <a:off x="2781300" y="2516886"/>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Where the close loses time</a:t>
              </a:r>
              <a:endParaRPr lang="en-US" sz="1400" spc="0" kern="0" b="0" i="0" dirty="0">
                <a:solidFill>
                  <a:srgbClr val="070154"/>
                </a:solidFill>
                <a:latin typeface="IBM Plex Sans SemiBold"/>
                <a:ea typeface="IBM Plex Sans SemiBold"/>
                <a:cs typeface="IBM Plex Sans SemiBold"/>
              </a:endParaRPr>
            </a:p>
          </p:txBody>
        </p:sp>
        <p:sp>
          <p:nvSpPr>
            <p:cNvPr id="10" name="node01.source-003.key"/>
            <p:cNvSpPr/>
            <p:nvPr/>
          </p:nvSpPr>
          <p:spPr>
            <a:xfrm>
              <a:off x="723900" y="32004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10:30–11:30</a:t>
              </a:r>
              <a:endParaRPr lang="en-US" sz="1400" spc="0" kern="0" b="1" i="0" dirty="0">
                <a:solidFill>
                  <a:srgbClr val="F900D3"/>
                </a:solidFill>
                <a:latin typeface="IBM Plex Sans"/>
                <a:ea typeface="IBM Plex Sans"/>
                <a:cs typeface="IBM Plex Sans"/>
              </a:endParaRPr>
            </a:p>
          </p:txBody>
        </p:sp>
        <p:sp>
          <p:nvSpPr>
            <p:cNvPr id="11" name="node01.source-003.text"/>
            <p:cNvSpPr/>
            <p:nvPr/>
          </p:nvSpPr>
          <p:spPr>
            <a:xfrm>
              <a:off x="2781300" y="3202686"/>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Target operating model</a:t>
              </a:r>
              <a:endParaRPr lang="en-US" sz="1400" spc="0" kern="0" b="0" i="0" dirty="0">
                <a:solidFill>
                  <a:srgbClr val="070154"/>
                </a:solidFill>
                <a:latin typeface="IBM Plex Sans SemiBold"/>
                <a:ea typeface="IBM Plex Sans SemiBold"/>
                <a:cs typeface="IBM Plex Sans SemiBold"/>
              </a:endParaRPr>
            </a:p>
          </p:txBody>
        </p:sp>
        <p:sp>
          <p:nvSpPr>
            <p:cNvPr id="12" name="node01.source-004.key"/>
            <p:cNvSpPr/>
            <p:nvPr/>
          </p:nvSpPr>
          <p:spPr>
            <a:xfrm>
              <a:off x="723900" y="38862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11:30–12:15</a:t>
              </a:r>
              <a:endParaRPr lang="en-US" sz="1400" spc="0" kern="0" b="1" i="0" dirty="0">
                <a:solidFill>
                  <a:srgbClr val="F900D3"/>
                </a:solidFill>
                <a:latin typeface="IBM Plex Sans"/>
                <a:ea typeface="IBM Plex Sans"/>
                <a:cs typeface="IBM Plex Sans"/>
              </a:endParaRPr>
            </a:p>
          </p:txBody>
        </p:sp>
        <p:sp>
          <p:nvSpPr>
            <p:cNvPr id="13" name="node01.source-004.text"/>
            <p:cNvSpPr/>
            <p:nvPr/>
          </p:nvSpPr>
          <p:spPr>
            <a:xfrm>
              <a:off x="2781300" y="3888486"/>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Wave plan and owners</a:t>
              </a:r>
              <a:endParaRPr lang="en-US" sz="1400" spc="0" kern="0" b="0" i="0" dirty="0">
                <a:solidFill>
                  <a:srgbClr val="070154"/>
                </a:solidFill>
                <a:latin typeface="IBM Plex Sans SemiBold"/>
                <a:ea typeface="IBM Plex Sans SemiBold"/>
                <a:cs typeface="IBM Plex Sans SemiBold"/>
              </a:endParaRPr>
            </a:p>
          </p:txBody>
        </p:sp>
        <p:sp>
          <p:nvSpPr>
            <p:cNvPr id="14" name="node01.source-005.key"/>
            <p:cNvSpPr/>
            <p:nvPr/>
          </p:nvSpPr>
          <p:spPr>
            <a:xfrm>
              <a:off x="723900" y="45720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12:15–1:00</a:t>
              </a:r>
              <a:endParaRPr lang="en-US" sz="1400" spc="0" kern="0" b="1" i="0" dirty="0">
                <a:solidFill>
                  <a:srgbClr val="F900D3"/>
                </a:solidFill>
                <a:latin typeface="IBM Plex Sans"/>
                <a:ea typeface="IBM Plex Sans"/>
                <a:cs typeface="IBM Plex Sans"/>
              </a:endParaRPr>
            </a:p>
          </p:txBody>
        </p:sp>
        <p:sp>
          <p:nvSpPr>
            <p:cNvPr id="15" name="node01.source-005.text"/>
            <p:cNvSpPr/>
            <p:nvPr/>
          </p:nvSpPr>
          <p:spPr>
            <a:xfrm>
              <a:off x="2781300" y="4574286"/>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Decisions and next steps</a:t>
              </a:r>
              <a:endParaRPr lang="en-US" sz="1400" spc="0" kern="0" b="0" i="0" dirty="0">
                <a:solidFill>
                  <a:srgbClr val="070154"/>
                </a:solidFill>
                <a:latin typeface="IBM Plex Sans SemiBold"/>
                <a:ea typeface="IBM Plex Sans SemiBold"/>
                <a:cs typeface="IBM Plex Sans SemiBold"/>
              </a:endParaRPr>
            </a:p>
          </p:txBody>
        </p:sp>
      </p:grpSp>
      <p:grpSp>
        <p:nvGrpSpPr>
          <p:cNvPr id="20" name="node02"/>
          <p:cNvGrpSpPr/>
          <p:nvPr/>
        </p:nvGrpSpPr>
        <p:grpSpPr>
          <a:xfrm>
            <a:off x="8953500" y="1600200"/>
            <a:ext cx="2514600" cy="152400"/>
            <a:chOff x="8953500" y="1600200"/>
            <a:chExt cx="2514600" cy="152400"/>
          </a:xfrm>
        </p:grpSpPr>
        <p:sp>
          <p:nvSpPr>
            <p:cNvPr id="16" name="node02.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OUTCOME</a:t>
              </a:r>
              <a:endParaRPr lang="en-US" sz="1000" spc="80" kern="0" b="0" i="0" dirty="0">
                <a:solidFill>
                  <a:srgbClr val="F900D3"/>
                </a:solidFill>
                <a:latin typeface="IBM Plex Mono SemiBold"/>
                <a:ea typeface="IBM Plex Mono SemiBold"/>
                <a:cs typeface="IBM Plex Mono SemiBold"/>
              </a:endParaRPr>
            </a:p>
          </p:txBody>
        </p:sp>
      </p:grpSp>
      <p:grpSp>
        <p:nvGrpSpPr>
          <p:cNvPr id="21" name="node03"/>
          <p:cNvGrpSpPr/>
          <p:nvPr/>
        </p:nvGrpSpPr>
        <p:grpSpPr>
          <a:xfrm>
            <a:off x="8953500" y="1828800"/>
            <a:ext cx="2514600" cy="1524000"/>
            <a:chOff x="8953500" y="1828800"/>
            <a:chExt cx="2514600" cy="1524000"/>
          </a:xfrm>
        </p:grpSpPr>
        <p:sp>
          <p:nvSpPr>
            <p:cNvPr id="17" name="node03.text"/>
            <p:cNvSpPr/>
            <p:nvPr/>
          </p:nvSpPr>
          <p:spPr>
            <a:xfrm>
              <a:off x="8953500" y="1828800"/>
              <a:ext cx="2514600" cy="1524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One agreed wave 1 scope and a named owner for each entity.</a:t>
              </a:r>
              <a:endParaRPr lang="en-US" sz="2400" spc="-36" kern="0" b="0" i="0" dirty="0">
                <a:solidFill>
                  <a:srgbClr val="FFFFFF"/>
                </a:solidFill>
                <a:latin typeface="IBM Plex Sans SemiBold"/>
                <a:ea typeface="IBM Plex Sans SemiBold"/>
                <a:cs typeface="IBM Plex Sans SemiBold"/>
              </a:endParaRPr>
            </a:p>
          </p:txBody>
        </p:sp>
      </p:grpSp>
      <p:grpSp>
        <p:nvGrpSpPr>
          <p:cNvPr id="22" name="node04"/>
          <p:cNvGrpSpPr/>
          <p:nvPr/>
        </p:nvGrpSpPr>
        <p:grpSpPr>
          <a:xfrm>
            <a:off x="8953500" y="3886200"/>
            <a:ext cx="2514600" cy="2057400"/>
            <a:chOff x="8953500" y="3886200"/>
            <a:chExt cx="2514600" cy="2057400"/>
          </a:xfrm>
        </p:grpSpPr>
        <p:pic>
          <p:nvPicPr>
            <p:cNvPr id="18" name="node04.image" descr="photo-working-session; canonical SHA256=f25eea9ebc335d07c158bb508fa02b26d745530e58073ce62d884c773d006e8a">    </p:cNvPr>
            <p:cNvPicPr>
              <a:picLocks noChangeAspect="1"/>
            </p:cNvPicPr>
            <p:nvPr/>
          </p:nvPicPr>
          <p:blipFill>
            <a:blip r:embed="rId1"/>
            <a:srcRect l="9239" r="9239" t="0" b="0"/>
            <a:stretch/>
          </p:blipFill>
          <p:spPr>
            <a:xfrm>
              <a:off x="8953500" y="3886200"/>
              <a:ext cx="2514600" cy="2057400"/>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ource-02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 NORTHFIELD HEALTH SYSTEM</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Close redesign working session</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a:t>
            </a:fld>
            <a:endParaRPr lang="en-US" sz="700" spc="0" kern="0" b="0" i="0" dirty="0">
              <a:solidFill>
                <a:srgbClr val="070154"/>
              </a:solidFill>
              <a:latin typeface="IBM Plex Mono SemiBold"/>
              <a:ea typeface="IBM Plex Mono SemiBold"/>
              <a:cs typeface="IBM Plex Mono SemiBold"/>
            </a:endParaRPr>
          </a:p>
        </p:txBody>
      </p:sp>
      <p:grpSp>
        <p:nvGrpSpPr>
          <p:cNvPr id="20" name="node01"/>
          <p:cNvGrpSpPr/>
          <p:nvPr/>
        </p:nvGrpSpPr>
        <p:grpSpPr>
          <a:xfrm>
            <a:off x="723900" y="1828800"/>
            <a:ext cx="5257800" cy="2286000"/>
            <a:chOff x="723900" y="1828800"/>
            <a:chExt cx="5257800" cy="2286000"/>
          </a:xfrm>
        </p:grpSpPr>
        <p:sp>
          <p:nvSpPr>
            <p:cNvPr id="6" name="node01.source-001.key"/>
            <p:cNvSpPr/>
            <p:nvPr/>
          </p:nvSpPr>
          <p:spPr>
            <a:xfrm>
              <a:off x="723900" y="18288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9:00–9:30</a:t>
              </a:r>
              <a:endParaRPr lang="en-US" sz="1400" spc="0" kern="0" b="1" i="0" dirty="0">
                <a:solidFill>
                  <a:srgbClr val="F900D3"/>
                </a:solidFill>
                <a:latin typeface="IBM Plex Sans"/>
                <a:ea typeface="IBM Plex Sans"/>
                <a:cs typeface="IBM Plex Sans"/>
              </a:endParaRPr>
            </a:p>
          </p:txBody>
        </p:sp>
        <p:sp>
          <p:nvSpPr>
            <p:cNvPr id="7" name="node01.source-001.text"/>
            <p:cNvSpPr/>
            <p:nvPr/>
          </p:nvSpPr>
          <p:spPr>
            <a:xfrm>
              <a:off x="2781300" y="18310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Welcome and goals</a:t>
              </a:r>
              <a:endParaRPr lang="en-US" sz="1400" spc="0" kern="0" b="0" i="0" dirty="0">
                <a:solidFill>
                  <a:srgbClr val="070154"/>
                </a:solidFill>
                <a:latin typeface="IBM Plex Sans SemiBold"/>
                <a:ea typeface="IBM Plex Sans SemiBold"/>
                <a:cs typeface="IBM Plex Sans SemiBold"/>
              </a:endParaRPr>
            </a:p>
          </p:txBody>
        </p:sp>
        <p:sp>
          <p:nvSpPr>
            <p:cNvPr id="8" name="node01.source-002.key"/>
            <p:cNvSpPr/>
            <p:nvPr/>
          </p:nvSpPr>
          <p:spPr>
            <a:xfrm>
              <a:off x="723900" y="22860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9:30–10:30</a:t>
              </a:r>
              <a:endParaRPr lang="en-US" sz="1400" spc="0" kern="0" b="1" i="0" dirty="0">
                <a:solidFill>
                  <a:srgbClr val="F900D3"/>
                </a:solidFill>
                <a:latin typeface="IBM Plex Sans"/>
                <a:ea typeface="IBM Plex Sans"/>
                <a:cs typeface="IBM Plex Sans"/>
              </a:endParaRPr>
            </a:p>
          </p:txBody>
        </p:sp>
        <p:sp>
          <p:nvSpPr>
            <p:cNvPr id="9" name="node01.source-002.text"/>
            <p:cNvSpPr/>
            <p:nvPr/>
          </p:nvSpPr>
          <p:spPr>
            <a:xfrm>
              <a:off x="2781300" y="22882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Where the close loses time</a:t>
              </a:r>
              <a:endParaRPr lang="en-US" sz="1400" spc="0" kern="0" b="0" i="0" dirty="0">
                <a:solidFill>
                  <a:srgbClr val="070154"/>
                </a:solidFill>
                <a:latin typeface="IBM Plex Sans SemiBold"/>
                <a:ea typeface="IBM Plex Sans SemiBold"/>
                <a:cs typeface="IBM Plex Sans SemiBold"/>
              </a:endParaRPr>
            </a:p>
          </p:txBody>
        </p:sp>
        <p:sp>
          <p:nvSpPr>
            <p:cNvPr id="10" name="node01.source-003.key"/>
            <p:cNvSpPr/>
            <p:nvPr/>
          </p:nvSpPr>
          <p:spPr>
            <a:xfrm>
              <a:off x="723900" y="27432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10:30–11:30</a:t>
              </a:r>
              <a:endParaRPr lang="en-US" sz="1400" spc="0" kern="0" b="1" i="0" dirty="0">
                <a:solidFill>
                  <a:srgbClr val="F900D3"/>
                </a:solidFill>
                <a:latin typeface="IBM Plex Sans"/>
                <a:ea typeface="IBM Plex Sans"/>
                <a:cs typeface="IBM Plex Sans"/>
              </a:endParaRPr>
            </a:p>
          </p:txBody>
        </p:sp>
        <p:sp>
          <p:nvSpPr>
            <p:cNvPr id="11" name="node01.source-003.text"/>
            <p:cNvSpPr/>
            <p:nvPr/>
          </p:nvSpPr>
          <p:spPr>
            <a:xfrm>
              <a:off x="2781300" y="27454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Target operating model</a:t>
              </a:r>
              <a:endParaRPr lang="en-US" sz="1400" spc="0" kern="0" b="0" i="0" dirty="0">
                <a:solidFill>
                  <a:srgbClr val="070154"/>
                </a:solidFill>
                <a:latin typeface="IBM Plex Sans SemiBold"/>
                <a:ea typeface="IBM Plex Sans SemiBold"/>
                <a:cs typeface="IBM Plex Sans SemiBold"/>
              </a:endParaRPr>
            </a:p>
          </p:txBody>
        </p:sp>
        <p:sp>
          <p:nvSpPr>
            <p:cNvPr id="12" name="node01.source-004.key"/>
            <p:cNvSpPr/>
            <p:nvPr/>
          </p:nvSpPr>
          <p:spPr>
            <a:xfrm>
              <a:off x="723900" y="32004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11:30–12:15</a:t>
              </a:r>
              <a:endParaRPr lang="en-US" sz="1400" spc="0" kern="0" b="1" i="0" dirty="0">
                <a:solidFill>
                  <a:srgbClr val="F900D3"/>
                </a:solidFill>
                <a:latin typeface="IBM Plex Sans"/>
                <a:ea typeface="IBM Plex Sans"/>
                <a:cs typeface="IBM Plex Sans"/>
              </a:endParaRPr>
            </a:p>
          </p:txBody>
        </p:sp>
        <p:sp>
          <p:nvSpPr>
            <p:cNvPr id="13" name="node01.source-004.text"/>
            <p:cNvSpPr/>
            <p:nvPr/>
          </p:nvSpPr>
          <p:spPr>
            <a:xfrm>
              <a:off x="2781300" y="32026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Wave plan and owners</a:t>
              </a:r>
              <a:endParaRPr lang="en-US" sz="1400" spc="0" kern="0" b="0" i="0" dirty="0">
                <a:solidFill>
                  <a:srgbClr val="070154"/>
                </a:solidFill>
                <a:latin typeface="IBM Plex Sans SemiBold"/>
                <a:ea typeface="IBM Plex Sans SemiBold"/>
                <a:cs typeface="IBM Plex Sans SemiBold"/>
              </a:endParaRPr>
            </a:p>
          </p:txBody>
        </p:sp>
        <p:sp>
          <p:nvSpPr>
            <p:cNvPr id="14" name="node01.source-005.key"/>
            <p:cNvSpPr/>
            <p:nvPr/>
          </p:nvSpPr>
          <p:spPr>
            <a:xfrm>
              <a:off x="723900" y="36576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12:15–1:00</a:t>
              </a:r>
              <a:endParaRPr lang="en-US" sz="1400" spc="0" kern="0" b="1" i="0" dirty="0">
                <a:solidFill>
                  <a:srgbClr val="F900D3"/>
                </a:solidFill>
                <a:latin typeface="IBM Plex Sans"/>
                <a:ea typeface="IBM Plex Sans"/>
                <a:cs typeface="IBM Plex Sans"/>
              </a:endParaRPr>
            </a:p>
          </p:txBody>
        </p:sp>
        <p:sp>
          <p:nvSpPr>
            <p:cNvPr id="15" name="node01.source-005.text"/>
            <p:cNvSpPr/>
            <p:nvPr/>
          </p:nvSpPr>
          <p:spPr>
            <a:xfrm>
              <a:off x="2781300" y="36598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Decisions and next steps</a:t>
              </a:r>
              <a:endParaRPr lang="en-US" sz="1400" spc="0" kern="0" b="0" i="0" dirty="0">
                <a:solidFill>
                  <a:srgbClr val="070154"/>
                </a:solidFill>
                <a:latin typeface="IBM Plex Sans SemiBold"/>
                <a:ea typeface="IBM Plex Sans SemiBold"/>
                <a:cs typeface="IBM Plex Sans SemiBold"/>
              </a:endParaRPr>
            </a:p>
          </p:txBody>
        </p:sp>
      </p:grpSp>
      <p:grpSp>
        <p:nvGrpSpPr>
          <p:cNvPr id="21" name="node02"/>
          <p:cNvGrpSpPr/>
          <p:nvPr/>
        </p:nvGrpSpPr>
        <p:grpSpPr>
          <a:xfrm>
            <a:off x="6438900" y="1828800"/>
            <a:ext cx="5029200" cy="495300"/>
            <a:chOff x="6438900" y="1828800"/>
            <a:chExt cx="5029200" cy="495300"/>
          </a:xfrm>
        </p:grpSpPr>
        <p:sp>
          <p:nvSpPr>
            <p:cNvPr id="16" name="node02.label"/>
            <p:cNvSpPr/>
            <p:nvPr/>
          </p:nvSpPr>
          <p:spPr>
            <a:xfrm>
              <a:off x="6438900" y="1828800"/>
              <a:ext cx="502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OUTCOME</a:t>
              </a:r>
              <a:endParaRPr lang="en-US" sz="900" spc="54" kern="0" b="0" i="0" dirty="0">
                <a:solidFill>
                  <a:srgbClr val="0047FF"/>
                </a:solidFill>
                <a:latin typeface="IBM Plex Mono Medium"/>
                <a:ea typeface="IBM Plex Mono Medium"/>
                <a:cs typeface="IBM Plex Mono Medium"/>
              </a:endParaRPr>
            </a:p>
          </p:txBody>
        </p:sp>
        <p:sp>
          <p:nvSpPr>
            <p:cNvPr id="17" name="node02.body"/>
            <p:cNvSpPr/>
            <p:nvPr/>
          </p:nvSpPr>
          <p:spPr>
            <a:xfrm>
              <a:off x="6438900" y="2057400"/>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One agreed wave 1 scope and a named owner for each entity.</a:t>
              </a:r>
              <a:endParaRPr lang="en-US" sz="1400" spc="0" kern="0" b="0" i="0" dirty="0">
                <a:solidFill>
                  <a:srgbClr val="50658E"/>
                </a:solidFill>
                <a:latin typeface="IBM Plex Sans"/>
                <a:ea typeface="IBM Plex Sans"/>
                <a:cs typeface="IBM Plex Sans"/>
              </a:endParaRPr>
            </a:p>
          </p:txBody>
        </p:sp>
      </p:grpSp>
      <p:grpSp>
        <p:nvGrpSpPr>
          <p:cNvPr id="22" name="node03"/>
          <p:cNvGrpSpPr/>
          <p:nvPr/>
        </p:nvGrpSpPr>
        <p:grpSpPr>
          <a:xfrm>
            <a:off x="6438900" y="2743200"/>
            <a:ext cx="4800600" cy="2971800"/>
            <a:chOff x="6438900" y="2743200"/>
            <a:chExt cx="4800600" cy="2971800"/>
          </a:xfrm>
        </p:grpSpPr>
        <p:sp>
          <p:nvSpPr>
            <p:cNvPr id="18" name="node03.surface"/>
            <p:cNvSpPr/>
            <p:nvPr/>
          </p:nvSpPr>
          <p:spPr>
            <a:xfrm>
              <a:off x="6438900" y="2743200"/>
              <a:ext cx="4800600" cy="2971800"/>
            </a:xfrm>
            <a:prstGeom prst="rect">
              <a:avLst/>
            </a:prstGeom>
            <a:solidFill>
              <a:srgbClr val="070154"/>
            </a:solidFill>
            <a:ln>
              <a:noFill/>
            </a:ln>
          </p:spPr>
        </p:sp>
      </p:grpSp>
      <p:grpSp>
        <p:nvGrpSpPr>
          <p:cNvPr id="23" name="node04"/>
          <p:cNvGrpSpPr/>
          <p:nvPr/>
        </p:nvGrpSpPr>
        <p:grpSpPr>
          <a:xfrm>
            <a:off x="6667500" y="2514600"/>
            <a:ext cx="4800600" cy="2971800"/>
            <a:chOff x="6667500" y="2514600"/>
            <a:chExt cx="4800600" cy="2971800"/>
          </a:xfrm>
        </p:grpSpPr>
        <p:pic>
          <p:nvPicPr>
            <p:cNvPr id="19" name="node04.image" descr="photo-working-session; canonical SHA256=f25eea9ebc335d07c158bb508fa02b26d745530e58073ce62d884c773d006e8a">    </p:cNvPr>
            <p:cNvPicPr>
              <a:picLocks noChangeAspect="1"/>
            </p:cNvPicPr>
            <p:nvPr/>
          </p:nvPicPr>
          <p:blipFill>
            <a:blip r:embed="rId1"/>
            <a:srcRect l="0" r="0" t="2876" b="4314"/>
            <a:stretch/>
          </p:blipFill>
          <p:spPr>
            <a:xfrm>
              <a:off x="6667500" y="2514600"/>
              <a:ext cx="4800600" cy="2971800"/>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ource-02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 NORTHFIELD HEALTH SYSTEM</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Close redesign working session</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036320"/>
          </a:xfrm>
          <a:prstGeom prst="rect">
            <a:avLst/>
          </a:prstGeom>
          <a:solidFill>
            <a:srgbClr val="070154"/>
          </a:solidFill>
          <a:ln>
            <a:noFill/>
          </a:ln>
        </p:spPr>
      </p:sp>
      <p:sp>
        <p:nvSpPr>
          <p:cNvPr id="6"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CONTEXT</a:t>
            </a:r>
            <a:endParaRPr lang="en-US" sz="800" spc="80" kern="0" b="0" i="0" dirty="0">
              <a:solidFill>
                <a:srgbClr val="FFFFFF"/>
              </a:solidFill>
              <a:latin typeface="IBM Plex Mono SemiBold"/>
              <a:ea typeface="IBM Plex Mono SemiBold"/>
              <a:cs typeface="IBM Plex Mono SemiBold"/>
            </a:endParaRPr>
          </a:p>
        </p:txBody>
      </p:sp>
      <p:sp>
        <p:nvSpPr>
          <p:cNvPr id="7" name="nav.section-02"/>
          <p:cNvSpPr/>
          <p:nvPr/>
        </p:nvSpPr>
        <p:spPr>
          <a:xfrm>
            <a:off x="266700" y="1569720"/>
            <a:ext cx="228600" cy="1036320"/>
          </a:xfrm>
          <a:prstGeom prst="rect">
            <a:avLst/>
          </a:prstGeom>
          <a:solidFill>
            <a:srgbClr val="E8EEF8"/>
          </a:solidFill>
          <a:ln>
            <a:noFill/>
          </a:ln>
        </p:spPr>
      </p:sp>
      <p:sp>
        <p:nvSpPr>
          <p:cNvPr id="8"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9" name="nav.section-03"/>
          <p:cNvSpPr/>
          <p:nvPr/>
        </p:nvSpPr>
        <p:spPr>
          <a:xfrm>
            <a:off x="266700" y="2682240"/>
            <a:ext cx="228600" cy="1036320"/>
          </a:xfrm>
          <a:prstGeom prst="rect">
            <a:avLst/>
          </a:prstGeom>
          <a:solidFill>
            <a:srgbClr val="E8EEF8"/>
          </a:solidFill>
          <a:ln>
            <a:noFill/>
          </a:ln>
        </p:spPr>
      </p:sp>
      <p:sp>
        <p:nvSpPr>
          <p:cNvPr id="10"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3794760"/>
            <a:ext cx="228600" cy="1036320"/>
          </a:xfrm>
          <a:prstGeom prst="rect">
            <a:avLst/>
          </a:prstGeom>
          <a:solidFill>
            <a:srgbClr val="E8EEF8"/>
          </a:solidFill>
          <a:ln>
            <a:noFill/>
          </a:ln>
        </p:spPr>
      </p:sp>
      <p:sp>
        <p:nvSpPr>
          <p:cNvPr id="12"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3" name="nav.section-05"/>
          <p:cNvSpPr/>
          <p:nvPr/>
        </p:nvSpPr>
        <p:spPr>
          <a:xfrm>
            <a:off x="266700" y="4907280"/>
            <a:ext cx="228600" cy="1036320"/>
          </a:xfrm>
          <a:prstGeom prst="rect">
            <a:avLst/>
          </a:prstGeom>
          <a:solidFill>
            <a:srgbClr val="E8EEF8"/>
          </a:solidFill>
          <a:ln>
            <a:noFill/>
          </a:ln>
        </p:spPr>
      </p:sp>
      <p:sp>
        <p:nvSpPr>
          <p:cNvPr id="14"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NEXT STEPS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a:t>
            </a:fld>
            <a:endParaRPr lang="en-US" sz="700" spc="0" kern="0" b="0" i="0" dirty="0">
              <a:solidFill>
                <a:srgbClr val="070154"/>
              </a:solidFill>
              <a:latin typeface="IBM Plex Mono SemiBold"/>
              <a:ea typeface="IBM Plex Mono SemiBold"/>
              <a:cs typeface="IBM Plex Mono SemiBold"/>
            </a:endParaRPr>
          </a:p>
        </p:txBody>
      </p:sp>
      <p:grpSp>
        <p:nvGrpSpPr>
          <p:cNvPr id="30" name="node01"/>
          <p:cNvGrpSpPr/>
          <p:nvPr/>
        </p:nvGrpSpPr>
        <p:grpSpPr>
          <a:xfrm>
            <a:off x="723900" y="1828800"/>
            <a:ext cx="5257800" cy="2286000"/>
            <a:chOff x="723900" y="1828800"/>
            <a:chExt cx="5257800" cy="2286000"/>
          </a:xfrm>
        </p:grpSpPr>
        <p:sp>
          <p:nvSpPr>
            <p:cNvPr id="16" name="node01.source-001.key"/>
            <p:cNvSpPr/>
            <p:nvPr/>
          </p:nvSpPr>
          <p:spPr>
            <a:xfrm>
              <a:off x="723900" y="18288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9:00–9:30</a:t>
              </a:r>
              <a:endParaRPr lang="en-US" sz="1400" spc="0" kern="0" b="1" i="0" dirty="0">
                <a:solidFill>
                  <a:srgbClr val="F900D3"/>
                </a:solidFill>
                <a:latin typeface="IBM Plex Sans"/>
                <a:ea typeface="IBM Plex Sans"/>
                <a:cs typeface="IBM Plex Sans"/>
              </a:endParaRPr>
            </a:p>
          </p:txBody>
        </p:sp>
        <p:sp>
          <p:nvSpPr>
            <p:cNvPr id="17" name="node01.source-001.text"/>
            <p:cNvSpPr/>
            <p:nvPr/>
          </p:nvSpPr>
          <p:spPr>
            <a:xfrm>
              <a:off x="2781300" y="18310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Welcome and goals</a:t>
              </a:r>
              <a:endParaRPr lang="en-US" sz="1400" spc="0" kern="0" b="0" i="0" dirty="0">
                <a:solidFill>
                  <a:srgbClr val="070154"/>
                </a:solidFill>
                <a:latin typeface="IBM Plex Sans SemiBold"/>
                <a:ea typeface="IBM Plex Sans SemiBold"/>
                <a:cs typeface="IBM Plex Sans SemiBold"/>
              </a:endParaRPr>
            </a:p>
          </p:txBody>
        </p:sp>
        <p:sp>
          <p:nvSpPr>
            <p:cNvPr id="18" name="node01.source-002.key"/>
            <p:cNvSpPr/>
            <p:nvPr/>
          </p:nvSpPr>
          <p:spPr>
            <a:xfrm>
              <a:off x="723900" y="22860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9:30–10:30</a:t>
              </a:r>
              <a:endParaRPr lang="en-US" sz="1400" spc="0" kern="0" b="1" i="0" dirty="0">
                <a:solidFill>
                  <a:srgbClr val="F900D3"/>
                </a:solidFill>
                <a:latin typeface="IBM Plex Sans"/>
                <a:ea typeface="IBM Plex Sans"/>
                <a:cs typeface="IBM Plex Sans"/>
              </a:endParaRPr>
            </a:p>
          </p:txBody>
        </p:sp>
        <p:sp>
          <p:nvSpPr>
            <p:cNvPr id="19" name="node01.source-002.text"/>
            <p:cNvSpPr/>
            <p:nvPr/>
          </p:nvSpPr>
          <p:spPr>
            <a:xfrm>
              <a:off x="2781300" y="22882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Where the close loses time</a:t>
              </a:r>
              <a:endParaRPr lang="en-US" sz="1400" spc="0" kern="0" b="0" i="0" dirty="0">
                <a:solidFill>
                  <a:srgbClr val="070154"/>
                </a:solidFill>
                <a:latin typeface="IBM Plex Sans SemiBold"/>
                <a:ea typeface="IBM Plex Sans SemiBold"/>
                <a:cs typeface="IBM Plex Sans SemiBold"/>
              </a:endParaRPr>
            </a:p>
          </p:txBody>
        </p:sp>
        <p:sp>
          <p:nvSpPr>
            <p:cNvPr id="20" name="node01.source-003.key"/>
            <p:cNvSpPr/>
            <p:nvPr/>
          </p:nvSpPr>
          <p:spPr>
            <a:xfrm>
              <a:off x="723900" y="27432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10:30–11:30</a:t>
              </a:r>
              <a:endParaRPr lang="en-US" sz="1400" spc="0" kern="0" b="1" i="0" dirty="0">
                <a:solidFill>
                  <a:srgbClr val="F900D3"/>
                </a:solidFill>
                <a:latin typeface="IBM Plex Sans"/>
                <a:ea typeface="IBM Plex Sans"/>
                <a:cs typeface="IBM Plex Sans"/>
              </a:endParaRPr>
            </a:p>
          </p:txBody>
        </p:sp>
        <p:sp>
          <p:nvSpPr>
            <p:cNvPr id="21" name="node01.source-003.text"/>
            <p:cNvSpPr/>
            <p:nvPr/>
          </p:nvSpPr>
          <p:spPr>
            <a:xfrm>
              <a:off x="2781300" y="27454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Target operating model</a:t>
              </a:r>
              <a:endParaRPr lang="en-US" sz="1400" spc="0" kern="0" b="0" i="0" dirty="0">
                <a:solidFill>
                  <a:srgbClr val="070154"/>
                </a:solidFill>
                <a:latin typeface="IBM Plex Sans SemiBold"/>
                <a:ea typeface="IBM Plex Sans SemiBold"/>
                <a:cs typeface="IBM Plex Sans SemiBold"/>
              </a:endParaRPr>
            </a:p>
          </p:txBody>
        </p:sp>
        <p:sp>
          <p:nvSpPr>
            <p:cNvPr id="22" name="node01.source-004.key"/>
            <p:cNvSpPr/>
            <p:nvPr/>
          </p:nvSpPr>
          <p:spPr>
            <a:xfrm>
              <a:off x="723900" y="32004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11:30–12:15</a:t>
              </a:r>
              <a:endParaRPr lang="en-US" sz="1400" spc="0" kern="0" b="1" i="0" dirty="0">
                <a:solidFill>
                  <a:srgbClr val="F900D3"/>
                </a:solidFill>
                <a:latin typeface="IBM Plex Sans"/>
                <a:ea typeface="IBM Plex Sans"/>
                <a:cs typeface="IBM Plex Sans"/>
              </a:endParaRPr>
            </a:p>
          </p:txBody>
        </p:sp>
        <p:sp>
          <p:nvSpPr>
            <p:cNvPr id="23" name="node01.source-004.text"/>
            <p:cNvSpPr/>
            <p:nvPr/>
          </p:nvSpPr>
          <p:spPr>
            <a:xfrm>
              <a:off x="2781300" y="32026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Wave plan and owners</a:t>
              </a:r>
              <a:endParaRPr lang="en-US" sz="1400" spc="0" kern="0" b="0" i="0" dirty="0">
                <a:solidFill>
                  <a:srgbClr val="070154"/>
                </a:solidFill>
                <a:latin typeface="IBM Plex Sans SemiBold"/>
                <a:ea typeface="IBM Plex Sans SemiBold"/>
                <a:cs typeface="IBM Plex Sans SemiBold"/>
              </a:endParaRPr>
            </a:p>
          </p:txBody>
        </p:sp>
        <p:sp>
          <p:nvSpPr>
            <p:cNvPr id="24" name="node01.source-005.key"/>
            <p:cNvSpPr/>
            <p:nvPr/>
          </p:nvSpPr>
          <p:spPr>
            <a:xfrm>
              <a:off x="723900" y="36576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12:15–1:00</a:t>
              </a:r>
              <a:endParaRPr lang="en-US" sz="1400" spc="0" kern="0" b="1" i="0" dirty="0">
                <a:solidFill>
                  <a:srgbClr val="F900D3"/>
                </a:solidFill>
                <a:latin typeface="IBM Plex Sans"/>
                <a:ea typeface="IBM Plex Sans"/>
                <a:cs typeface="IBM Plex Sans"/>
              </a:endParaRPr>
            </a:p>
          </p:txBody>
        </p:sp>
        <p:sp>
          <p:nvSpPr>
            <p:cNvPr id="25" name="node01.source-005.text"/>
            <p:cNvSpPr/>
            <p:nvPr/>
          </p:nvSpPr>
          <p:spPr>
            <a:xfrm>
              <a:off x="2781300" y="3659886"/>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Decisions and next steps</a:t>
              </a:r>
              <a:endParaRPr lang="en-US" sz="1400" spc="0" kern="0" b="0" i="0" dirty="0">
                <a:solidFill>
                  <a:srgbClr val="070154"/>
                </a:solidFill>
                <a:latin typeface="IBM Plex Sans SemiBold"/>
                <a:ea typeface="IBM Plex Sans SemiBold"/>
                <a:cs typeface="IBM Plex Sans SemiBold"/>
              </a:endParaRPr>
            </a:p>
          </p:txBody>
        </p:sp>
      </p:grpSp>
      <p:grpSp>
        <p:nvGrpSpPr>
          <p:cNvPr id="31" name="node02"/>
          <p:cNvGrpSpPr/>
          <p:nvPr/>
        </p:nvGrpSpPr>
        <p:grpSpPr>
          <a:xfrm>
            <a:off x="6438900" y="1828800"/>
            <a:ext cx="5029200" cy="495300"/>
            <a:chOff x="6438900" y="1828800"/>
            <a:chExt cx="5029200" cy="495300"/>
          </a:xfrm>
        </p:grpSpPr>
        <p:sp>
          <p:nvSpPr>
            <p:cNvPr id="26" name="node02.label"/>
            <p:cNvSpPr/>
            <p:nvPr/>
          </p:nvSpPr>
          <p:spPr>
            <a:xfrm>
              <a:off x="6438900" y="1828800"/>
              <a:ext cx="502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OUTCOME</a:t>
              </a:r>
              <a:endParaRPr lang="en-US" sz="900" spc="54" kern="0" b="0" i="0" dirty="0">
                <a:solidFill>
                  <a:srgbClr val="0047FF"/>
                </a:solidFill>
                <a:latin typeface="IBM Plex Mono Medium"/>
                <a:ea typeface="IBM Plex Mono Medium"/>
                <a:cs typeface="IBM Plex Mono Medium"/>
              </a:endParaRPr>
            </a:p>
          </p:txBody>
        </p:sp>
        <p:sp>
          <p:nvSpPr>
            <p:cNvPr id="27" name="node02.body"/>
            <p:cNvSpPr/>
            <p:nvPr/>
          </p:nvSpPr>
          <p:spPr>
            <a:xfrm>
              <a:off x="6438900" y="2057400"/>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One agreed wave 1 scope and a named owner for each entity.</a:t>
              </a:r>
              <a:endParaRPr lang="en-US" sz="1400" spc="0" kern="0" b="0" i="0" dirty="0">
                <a:solidFill>
                  <a:srgbClr val="50658E"/>
                </a:solidFill>
                <a:latin typeface="IBM Plex Sans"/>
                <a:ea typeface="IBM Plex Sans"/>
                <a:cs typeface="IBM Plex Sans"/>
              </a:endParaRPr>
            </a:p>
          </p:txBody>
        </p:sp>
      </p:grpSp>
      <p:grpSp>
        <p:nvGrpSpPr>
          <p:cNvPr id="32" name="node03"/>
          <p:cNvGrpSpPr/>
          <p:nvPr/>
        </p:nvGrpSpPr>
        <p:grpSpPr>
          <a:xfrm>
            <a:off x="6438900" y="2743200"/>
            <a:ext cx="4800600" cy="3200400"/>
            <a:chOff x="6438900" y="2743200"/>
            <a:chExt cx="4800600" cy="3200400"/>
          </a:xfrm>
        </p:grpSpPr>
        <p:sp>
          <p:nvSpPr>
            <p:cNvPr id="28" name="node03.surface"/>
            <p:cNvSpPr/>
            <p:nvPr/>
          </p:nvSpPr>
          <p:spPr>
            <a:xfrm>
              <a:off x="6438900" y="2743200"/>
              <a:ext cx="4800600" cy="3200400"/>
            </a:xfrm>
            <a:prstGeom prst="rect">
              <a:avLst/>
            </a:prstGeom>
            <a:solidFill>
              <a:srgbClr val="070154"/>
            </a:solidFill>
            <a:ln>
              <a:noFill/>
            </a:ln>
          </p:spPr>
        </p:sp>
      </p:grpSp>
      <p:grpSp>
        <p:nvGrpSpPr>
          <p:cNvPr id="33" name="node04"/>
          <p:cNvGrpSpPr/>
          <p:nvPr/>
        </p:nvGrpSpPr>
        <p:grpSpPr>
          <a:xfrm>
            <a:off x="6667500" y="2514600"/>
            <a:ext cx="4800600" cy="3200400"/>
            <a:chOff x="6667500" y="2514600"/>
            <a:chExt cx="4800600" cy="3200400"/>
          </a:xfrm>
        </p:grpSpPr>
        <p:pic>
          <p:nvPicPr>
            <p:cNvPr id="29" name="node04.image" descr="photo-working-session; canonical SHA256=f25eea9ebc335d07c158bb508fa02b26d745530e58073ce62d884c773d006e8a">    </p:cNvPr>
            <p:cNvPicPr>
              <a:picLocks noChangeAspect="1"/>
            </p:cNvPicPr>
            <p:nvPr/>
          </p:nvPicPr>
          <p:blipFill>
            <a:blip r:embed="rId1"/>
            <a:srcRect l="0" r="0" t="20" b="30"/>
            <a:stretch/>
          </p:blipFill>
          <p:spPr>
            <a:xfrm>
              <a:off x="6667500" y="2514600"/>
              <a:ext cx="4800600" cy="3200400"/>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ource-023">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 NORTHFIELD HEALTH SYSTEM</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Close redesign working session</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a:t>
            </a:fld>
            <a:endParaRPr lang="en-US" sz="700" spc="0" kern="0" b="0" i="0" dirty="0">
              <a:solidFill>
                <a:srgbClr val="070154"/>
              </a:solidFill>
              <a:latin typeface="IBM Plex Mono SemiBold"/>
              <a:ea typeface="IBM Plex Mono SemiBold"/>
              <a:cs typeface="IBM Plex Mono SemiBold"/>
            </a:endParaRPr>
          </a:p>
        </p:txBody>
      </p:sp>
      <p:grpSp>
        <p:nvGrpSpPr>
          <p:cNvPr id="19" name="node01"/>
          <p:cNvGrpSpPr/>
          <p:nvPr/>
        </p:nvGrpSpPr>
        <p:grpSpPr>
          <a:xfrm>
            <a:off x="723900" y="457200"/>
            <a:ext cx="3429000" cy="5486400"/>
            <a:chOff x="723900" y="457200"/>
            <a:chExt cx="3429000" cy="5486400"/>
          </a:xfrm>
        </p:grpSpPr>
        <p:pic>
          <p:nvPicPr>
            <p:cNvPr id="6" name="node01.image" descr="photo-working-session; canonical SHA256=f25eea9ebc335d07c158bb508fa02b26d745530e58073ce62d884c773d006e8a">    </p:cNvPr>
            <p:cNvPicPr>
              <a:picLocks noChangeAspect="1"/>
            </p:cNvPicPr>
            <p:nvPr/>
          </p:nvPicPr>
          <p:blipFill>
            <a:blip r:embed="rId1"/>
            <a:srcRect l="29156" r="29156" t="0" b="0"/>
            <a:stretch/>
          </p:blipFill>
          <p:spPr>
            <a:xfrm>
              <a:off x="723900" y="457200"/>
              <a:ext cx="3429000" cy="5486400"/>
            </a:xfrm>
            <a:prstGeom prst="rect">
              <a:avLst/>
            </a:prstGeom>
          </p:spPr>
        </p:pic>
      </p:grpSp>
      <p:grpSp>
        <p:nvGrpSpPr>
          <p:cNvPr id="20" name="node02"/>
          <p:cNvGrpSpPr/>
          <p:nvPr/>
        </p:nvGrpSpPr>
        <p:grpSpPr>
          <a:xfrm>
            <a:off x="4381500" y="1600200"/>
            <a:ext cx="7086600" cy="2857500"/>
            <a:chOff x="4381500" y="1600200"/>
            <a:chExt cx="7086600" cy="2857500"/>
          </a:xfrm>
        </p:grpSpPr>
        <p:sp>
          <p:nvSpPr>
            <p:cNvPr id="7" name="node02.source-001.key"/>
            <p:cNvSpPr/>
            <p:nvPr/>
          </p:nvSpPr>
          <p:spPr>
            <a:xfrm>
              <a:off x="4381500" y="16002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9:00–9:30</a:t>
              </a:r>
              <a:endParaRPr lang="en-US" sz="1400" spc="0" kern="0" b="1" i="0" dirty="0">
                <a:solidFill>
                  <a:srgbClr val="F900D3"/>
                </a:solidFill>
                <a:latin typeface="IBM Plex Sans"/>
                <a:ea typeface="IBM Plex Sans"/>
                <a:cs typeface="IBM Plex Sans"/>
              </a:endParaRPr>
            </a:p>
          </p:txBody>
        </p:sp>
        <p:sp>
          <p:nvSpPr>
            <p:cNvPr id="8" name="node02.source-001.text"/>
            <p:cNvSpPr/>
            <p:nvPr/>
          </p:nvSpPr>
          <p:spPr>
            <a:xfrm>
              <a:off x="6438900" y="1602486"/>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Welcome and goals</a:t>
              </a:r>
              <a:endParaRPr lang="en-US" sz="1400" spc="0" kern="0" b="0" i="0" dirty="0">
                <a:solidFill>
                  <a:srgbClr val="070154"/>
                </a:solidFill>
                <a:latin typeface="IBM Plex Sans SemiBold"/>
                <a:ea typeface="IBM Plex Sans SemiBold"/>
                <a:cs typeface="IBM Plex Sans SemiBold"/>
              </a:endParaRPr>
            </a:p>
          </p:txBody>
        </p:sp>
        <p:sp>
          <p:nvSpPr>
            <p:cNvPr id="9" name="node02.source-002.key"/>
            <p:cNvSpPr/>
            <p:nvPr/>
          </p:nvSpPr>
          <p:spPr>
            <a:xfrm>
              <a:off x="4381500" y="21717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9:30–10:30</a:t>
              </a:r>
              <a:endParaRPr lang="en-US" sz="1400" spc="0" kern="0" b="1" i="0" dirty="0">
                <a:solidFill>
                  <a:srgbClr val="F900D3"/>
                </a:solidFill>
                <a:latin typeface="IBM Plex Sans"/>
                <a:ea typeface="IBM Plex Sans"/>
                <a:cs typeface="IBM Plex Sans"/>
              </a:endParaRPr>
            </a:p>
          </p:txBody>
        </p:sp>
        <p:sp>
          <p:nvSpPr>
            <p:cNvPr id="10" name="node02.source-002.text"/>
            <p:cNvSpPr/>
            <p:nvPr/>
          </p:nvSpPr>
          <p:spPr>
            <a:xfrm>
              <a:off x="6438900" y="2173986"/>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Where the close loses time</a:t>
              </a:r>
              <a:endParaRPr lang="en-US" sz="1400" spc="0" kern="0" b="0" i="0" dirty="0">
                <a:solidFill>
                  <a:srgbClr val="070154"/>
                </a:solidFill>
                <a:latin typeface="IBM Plex Sans SemiBold"/>
                <a:ea typeface="IBM Plex Sans SemiBold"/>
                <a:cs typeface="IBM Plex Sans SemiBold"/>
              </a:endParaRPr>
            </a:p>
          </p:txBody>
        </p:sp>
        <p:sp>
          <p:nvSpPr>
            <p:cNvPr id="11" name="node02.source-003.key"/>
            <p:cNvSpPr/>
            <p:nvPr/>
          </p:nvSpPr>
          <p:spPr>
            <a:xfrm>
              <a:off x="4381500" y="27432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10:30–11:30</a:t>
              </a:r>
              <a:endParaRPr lang="en-US" sz="1400" spc="0" kern="0" b="1" i="0" dirty="0">
                <a:solidFill>
                  <a:srgbClr val="F900D3"/>
                </a:solidFill>
                <a:latin typeface="IBM Plex Sans"/>
                <a:ea typeface="IBM Plex Sans"/>
                <a:cs typeface="IBM Plex Sans"/>
              </a:endParaRPr>
            </a:p>
          </p:txBody>
        </p:sp>
        <p:sp>
          <p:nvSpPr>
            <p:cNvPr id="12" name="node02.source-003.text"/>
            <p:cNvSpPr/>
            <p:nvPr/>
          </p:nvSpPr>
          <p:spPr>
            <a:xfrm>
              <a:off x="6438900" y="2745486"/>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Target operating model</a:t>
              </a:r>
              <a:endParaRPr lang="en-US" sz="1400" spc="0" kern="0" b="0" i="0" dirty="0">
                <a:solidFill>
                  <a:srgbClr val="070154"/>
                </a:solidFill>
                <a:latin typeface="IBM Plex Sans SemiBold"/>
                <a:ea typeface="IBM Plex Sans SemiBold"/>
                <a:cs typeface="IBM Plex Sans SemiBold"/>
              </a:endParaRPr>
            </a:p>
          </p:txBody>
        </p:sp>
        <p:sp>
          <p:nvSpPr>
            <p:cNvPr id="13" name="node02.source-004.key"/>
            <p:cNvSpPr/>
            <p:nvPr/>
          </p:nvSpPr>
          <p:spPr>
            <a:xfrm>
              <a:off x="4381500" y="33147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11:30–12:15</a:t>
              </a:r>
              <a:endParaRPr lang="en-US" sz="1400" spc="0" kern="0" b="1" i="0" dirty="0">
                <a:solidFill>
                  <a:srgbClr val="F900D3"/>
                </a:solidFill>
                <a:latin typeface="IBM Plex Sans"/>
                <a:ea typeface="IBM Plex Sans"/>
                <a:cs typeface="IBM Plex Sans"/>
              </a:endParaRPr>
            </a:p>
          </p:txBody>
        </p:sp>
        <p:sp>
          <p:nvSpPr>
            <p:cNvPr id="14" name="node02.source-004.text"/>
            <p:cNvSpPr/>
            <p:nvPr/>
          </p:nvSpPr>
          <p:spPr>
            <a:xfrm>
              <a:off x="6438900" y="3316986"/>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Wave plan and owners</a:t>
              </a:r>
              <a:endParaRPr lang="en-US" sz="1400" spc="0" kern="0" b="0" i="0" dirty="0">
                <a:solidFill>
                  <a:srgbClr val="070154"/>
                </a:solidFill>
                <a:latin typeface="IBM Plex Sans SemiBold"/>
                <a:ea typeface="IBM Plex Sans SemiBold"/>
                <a:cs typeface="IBM Plex Sans SemiBold"/>
              </a:endParaRPr>
            </a:p>
          </p:txBody>
        </p:sp>
        <p:sp>
          <p:nvSpPr>
            <p:cNvPr id="15" name="node02.source-005.key"/>
            <p:cNvSpPr/>
            <p:nvPr/>
          </p:nvSpPr>
          <p:spPr>
            <a:xfrm>
              <a:off x="4381500" y="3886200"/>
              <a:ext cx="1828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F900D3"/>
                  </a:solidFill>
                  <a:latin typeface="IBM Plex Sans"/>
                  <a:ea typeface="IBM Plex Sans"/>
                  <a:cs typeface="IBM Plex Sans"/>
                </a:rPr>
                <a:t>12:15–1:00</a:t>
              </a:r>
              <a:endParaRPr lang="en-US" sz="1400" spc="0" kern="0" b="1" i="0" dirty="0">
                <a:solidFill>
                  <a:srgbClr val="F900D3"/>
                </a:solidFill>
                <a:latin typeface="IBM Plex Sans"/>
                <a:ea typeface="IBM Plex Sans"/>
                <a:cs typeface="IBM Plex Sans"/>
              </a:endParaRPr>
            </a:p>
          </p:txBody>
        </p:sp>
        <p:sp>
          <p:nvSpPr>
            <p:cNvPr id="16" name="node02.source-005.text"/>
            <p:cNvSpPr/>
            <p:nvPr/>
          </p:nvSpPr>
          <p:spPr>
            <a:xfrm>
              <a:off x="6438900" y="3888486"/>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Decisions and next steps</a:t>
              </a:r>
              <a:endParaRPr lang="en-US" sz="1400" spc="0" kern="0" b="0" i="0" dirty="0">
                <a:solidFill>
                  <a:srgbClr val="070154"/>
                </a:solidFill>
                <a:latin typeface="IBM Plex Sans SemiBold"/>
                <a:ea typeface="IBM Plex Sans SemiBold"/>
                <a:cs typeface="IBM Plex Sans SemiBold"/>
              </a:endParaRPr>
            </a:p>
          </p:txBody>
        </p:sp>
      </p:grpSp>
      <p:grpSp>
        <p:nvGrpSpPr>
          <p:cNvPr id="21" name="node03"/>
          <p:cNvGrpSpPr/>
          <p:nvPr/>
        </p:nvGrpSpPr>
        <p:grpSpPr>
          <a:xfrm>
            <a:off x="4381500" y="4800600"/>
            <a:ext cx="7086600" cy="495300"/>
            <a:chOff x="4381500" y="4800600"/>
            <a:chExt cx="7086600" cy="495300"/>
          </a:xfrm>
        </p:grpSpPr>
        <p:sp>
          <p:nvSpPr>
            <p:cNvPr id="17" name="node03.label"/>
            <p:cNvSpPr/>
            <p:nvPr/>
          </p:nvSpPr>
          <p:spPr>
            <a:xfrm>
              <a:off x="4381500" y="4800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OUTCOME</a:t>
              </a:r>
              <a:endParaRPr lang="en-US" sz="900" spc="54" kern="0" b="0" i="0" dirty="0">
                <a:solidFill>
                  <a:srgbClr val="0047FF"/>
                </a:solidFill>
                <a:latin typeface="IBM Plex Mono Medium"/>
                <a:ea typeface="IBM Plex Mono Medium"/>
                <a:cs typeface="IBM Plex Mono Medium"/>
              </a:endParaRPr>
            </a:p>
          </p:txBody>
        </p:sp>
        <p:sp>
          <p:nvSpPr>
            <p:cNvPr id="18" name="node03.body"/>
            <p:cNvSpPr/>
            <p:nvPr/>
          </p:nvSpPr>
          <p:spPr>
            <a:xfrm>
              <a:off x="4381500" y="5029200"/>
              <a:ext cx="708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One agreed wave 1 scope and a named owner for each entity.</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ource-02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WORKING SESSION · NORTHFIELD HEALTH SYSTEM</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Agenda for the design-sprint day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723900" y="1600200"/>
            <a:ext cx="1371600" cy="139700"/>
            <a:chOff x="723900" y="1600200"/>
            <a:chExt cx="1371600" cy="139700"/>
          </a:xfrm>
        </p:grpSpPr>
        <p:sp>
          <p:nvSpPr>
            <p:cNvPr id="6" name="node01.text"/>
            <p:cNvSpPr/>
            <p:nvPr/>
          </p:nvSpPr>
          <p:spPr>
            <a:xfrm>
              <a:off x="723900" y="1600200"/>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TIME</a:t>
              </a:r>
              <a:endParaRPr lang="en-US" sz="800" spc="48" kern="0" b="0" i="0" dirty="0">
                <a:solidFill>
                  <a:srgbClr val="0047FF"/>
                </a:solidFill>
                <a:latin typeface="IBM Plex Mono Medium"/>
                <a:ea typeface="IBM Plex Mono Medium"/>
                <a:cs typeface="IBM Plex Mono Medium"/>
              </a:endParaRPr>
            </a:p>
          </p:txBody>
        </p:sp>
      </p:grpSp>
      <p:grpSp>
        <p:nvGrpSpPr>
          <p:cNvPr id="58" name="node02"/>
          <p:cNvGrpSpPr/>
          <p:nvPr/>
        </p:nvGrpSpPr>
        <p:grpSpPr>
          <a:xfrm>
            <a:off x="2324100" y="1600200"/>
            <a:ext cx="2057400" cy="139700"/>
            <a:chOff x="2324100" y="1600200"/>
            <a:chExt cx="2057400" cy="139700"/>
          </a:xfrm>
        </p:grpSpPr>
        <p:sp>
          <p:nvSpPr>
            <p:cNvPr id="7" name="node02.text"/>
            <p:cNvSpPr/>
            <p:nvPr/>
          </p:nvSpPr>
          <p:spPr>
            <a:xfrm>
              <a:off x="2324100" y="16002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SESSION</a:t>
              </a:r>
              <a:endParaRPr lang="en-US" sz="800" spc="48" kern="0" b="0" i="0" dirty="0">
                <a:solidFill>
                  <a:srgbClr val="0047FF"/>
                </a:solidFill>
                <a:latin typeface="IBM Plex Mono Medium"/>
                <a:ea typeface="IBM Plex Mono Medium"/>
                <a:cs typeface="IBM Plex Mono Medium"/>
              </a:endParaRPr>
            </a:p>
          </p:txBody>
        </p:sp>
      </p:grpSp>
      <p:grpSp>
        <p:nvGrpSpPr>
          <p:cNvPr id="59" name="node03"/>
          <p:cNvGrpSpPr/>
          <p:nvPr/>
        </p:nvGrpSpPr>
        <p:grpSpPr>
          <a:xfrm>
            <a:off x="4610100" y="1600200"/>
            <a:ext cx="4343400" cy="139700"/>
            <a:chOff x="4610100" y="1600200"/>
            <a:chExt cx="4343400" cy="139700"/>
          </a:xfrm>
        </p:grpSpPr>
        <p:sp>
          <p:nvSpPr>
            <p:cNvPr id="8" name="node03.text"/>
            <p:cNvSpPr/>
            <p:nvPr/>
          </p:nvSpPr>
          <p:spPr>
            <a:xfrm>
              <a:off x="4610100" y="1600200"/>
              <a:ext cx="4343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FINANCE AND DATA CONTRIBUTION</a:t>
              </a:r>
              <a:endParaRPr lang="en-US" sz="800" spc="48" kern="0" b="0" i="0" dirty="0">
                <a:solidFill>
                  <a:srgbClr val="0047FF"/>
                </a:solidFill>
                <a:latin typeface="IBM Plex Mono Medium"/>
                <a:ea typeface="IBM Plex Mono Medium"/>
                <a:cs typeface="IBM Plex Mono Medium"/>
              </a:endParaRPr>
            </a:p>
          </p:txBody>
        </p:sp>
      </p:grpSp>
      <p:grpSp>
        <p:nvGrpSpPr>
          <p:cNvPr id="60" name="node04"/>
          <p:cNvGrpSpPr/>
          <p:nvPr/>
        </p:nvGrpSpPr>
        <p:grpSpPr>
          <a:xfrm>
            <a:off x="9182100" y="1600200"/>
            <a:ext cx="2286000" cy="139700"/>
            <a:chOff x="9182100" y="1600200"/>
            <a:chExt cx="2286000" cy="139700"/>
          </a:xfrm>
        </p:grpSpPr>
        <p:sp>
          <p:nvSpPr>
            <p:cNvPr id="9" name="node04.text"/>
            <p:cNvSpPr/>
            <p:nvPr/>
          </p:nvSpPr>
          <p:spPr>
            <a:xfrm>
              <a:off x="9182100" y="16002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SHARED RESULT</a:t>
              </a:r>
              <a:endParaRPr lang="en-US" sz="800" spc="48" kern="0" b="0" i="0" dirty="0">
                <a:solidFill>
                  <a:srgbClr val="0047FF"/>
                </a:solidFill>
                <a:latin typeface="IBM Plex Mono Medium"/>
                <a:ea typeface="IBM Plex Mono Medium"/>
                <a:cs typeface="IBM Plex Mono Medium"/>
              </a:endParaRPr>
            </a:p>
          </p:txBody>
        </p:sp>
      </p:grpSp>
      <p:grpSp>
        <p:nvGrpSpPr>
          <p:cNvPr id="61" name="node05"/>
          <p:cNvGrpSpPr/>
          <p:nvPr/>
        </p:nvGrpSpPr>
        <p:grpSpPr>
          <a:xfrm>
            <a:off x="723900" y="1828800"/>
            <a:ext cx="1371600" cy="457200"/>
            <a:chOff x="723900" y="1828800"/>
            <a:chExt cx="1371600" cy="457200"/>
          </a:xfrm>
        </p:grpSpPr>
        <p:sp>
          <p:nvSpPr>
            <p:cNvPr id="10" name="node05.surface"/>
            <p:cNvSpPr/>
            <p:nvPr/>
          </p:nvSpPr>
          <p:spPr>
            <a:xfrm>
              <a:off x="723900" y="1828800"/>
              <a:ext cx="1371600" cy="457200"/>
            </a:xfrm>
            <a:prstGeom prst="rect">
              <a:avLst/>
            </a:prstGeom>
            <a:solidFill>
              <a:srgbClr val="070154"/>
            </a:solidFill>
            <a:ln>
              <a:noFill/>
            </a:ln>
          </p:spPr>
        </p:sp>
        <p:sp>
          <p:nvSpPr>
            <p:cNvPr id="11" name="node05.text"/>
            <p:cNvSpPr/>
            <p:nvPr/>
          </p:nvSpPr>
          <p:spPr>
            <a:xfrm>
              <a:off x="876300" y="1962150"/>
              <a:ext cx="1066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8:30–9:30</a:t>
              </a:r>
              <a:endParaRPr lang="en-US" sz="1100" spc="0" kern="0" b="0" i="0" dirty="0">
                <a:solidFill>
                  <a:srgbClr val="FFFFFF"/>
                </a:solidFill>
                <a:latin typeface="IBM Plex Sans"/>
                <a:ea typeface="IBM Plex Sans"/>
                <a:cs typeface="IBM Plex Sans"/>
              </a:endParaRPr>
            </a:p>
          </p:txBody>
        </p:sp>
      </p:grpSp>
      <p:grpSp>
        <p:nvGrpSpPr>
          <p:cNvPr id="62" name="node06"/>
          <p:cNvGrpSpPr/>
          <p:nvPr/>
        </p:nvGrpSpPr>
        <p:grpSpPr>
          <a:xfrm>
            <a:off x="2324100" y="1828800"/>
            <a:ext cx="2057400" cy="190500"/>
            <a:chOff x="2324100" y="1828800"/>
            <a:chExt cx="2057400" cy="190500"/>
          </a:xfrm>
        </p:grpSpPr>
        <p:sp>
          <p:nvSpPr>
            <p:cNvPr id="12" name="node06.text"/>
            <p:cNvSpPr/>
            <p:nvPr/>
          </p:nvSpPr>
          <p:spPr>
            <a:xfrm>
              <a:off x="2324100" y="1828800"/>
              <a:ext cx="2057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Joint framing</a:t>
              </a:r>
              <a:endParaRPr lang="en-US" sz="1100" spc="0" kern="0" b="0" i="0" dirty="0">
                <a:solidFill>
                  <a:srgbClr val="070154"/>
                </a:solidFill>
                <a:latin typeface="IBM Plex Sans"/>
                <a:ea typeface="IBM Plex Sans"/>
                <a:cs typeface="IBM Plex Sans"/>
              </a:endParaRPr>
            </a:p>
          </p:txBody>
        </p:sp>
      </p:grpSp>
      <p:grpSp>
        <p:nvGrpSpPr>
          <p:cNvPr id="63" name="node07"/>
          <p:cNvGrpSpPr/>
          <p:nvPr/>
        </p:nvGrpSpPr>
        <p:grpSpPr>
          <a:xfrm>
            <a:off x="4610100" y="1828800"/>
            <a:ext cx="4343400" cy="469900"/>
            <a:chOff x="4610100" y="1828800"/>
            <a:chExt cx="4343400" cy="469900"/>
          </a:xfrm>
        </p:grpSpPr>
        <p:sp>
          <p:nvSpPr>
            <p:cNvPr id="13" name="node07.source-001.bullet"/>
            <p:cNvSpPr/>
            <p:nvPr/>
          </p:nvSpPr>
          <p:spPr>
            <a:xfrm>
              <a:off x="4610100" y="1917700"/>
              <a:ext cx="38100" cy="38100"/>
            </a:xfrm>
            <a:prstGeom prst="rect">
              <a:avLst/>
            </a:prstGeom>
            <a:solidFill>
              <a:srgbClr val="070154"/>
            </a:solidFill>
            <a:ln>
              <a:noFill/>
            </a:ln>
          </p:spPr>
        </p:sp>
        <p:sp>
          <p:nvSpPr>
            <p:cNvPr id="14" name="node07.source-001.text"/>
            <p:cNvSpPr/>
            <p:nvPr/>
          </p:nvSpPr>
          <p:spPr>
            <a:xfrm>
              <a:off x="4762500" y="18288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Finance: bring close calendar and pain points</a:t>
              </a:r>
              <a:endParaRPr lang="en-US" sz="1200" spc="0" kern="0" b="0" i="0" dirty="0">
                <a:solidFill>
                  <a:srgbClr val="070154"/>
                </a:solidFill>
                <a:latin typeface="IBM Plex Sans"/>
                <a:ea typeface="IBM Plex Sans"/>
                <a:cs typeface="IBM Plex Sans"/>
              </a:endParaRPr>
            </a:p>
          </p:txBody>
        </p:sp>
        <p:sp>
          <p:nvSpPr>
            <p:cNvPr id="15" name="node07.source-002.bullet"/>
            <p:cNvSpPr/>
            <p:nvPr/>
          </p:nvSpPr>
          <p:spPr>
            <a:xfrm>
              <a:off x="4610100" y="2171700"/>
              <a:ext cx="38100" cy="38100"/>
            </a:xfrm>
            <a:prstGeom prst="rect">
              <a:avLst/>
            </a:prstGeom>
            <a:solidFill>
              <a:srgbClr val="070154"/>
            </a:solidFill>
            <a:ln>
              <a:noFill/>
            </a:ln>
          </p:spPr>
        </p:sp>
        <p:sp>
          <p:nvSpPr>
            <p:cNvPr id="16" name="node07.source-002.text"/>
            <p:cNvSpPr/>
            <p:nvPr/>
          </p:nvSpPr>
          <p:spPr>
            <a:xfrm>
              <a:off x="4762500" y="20828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test feasibility and source availability</a:t>
              </a:r>
              <a:endParaRPr lang="en-US" sz="1200" spc="0" kern="0" b="0" i="0" dirty="0">
                <a:solidFill>
                  <a:srgbClr val="070154"/>
                </a:solidFill>
                <a:latin typeface="IBM Plex Sans"/>
                <a:ea typeface="IBM Plex Sans"/>
                <a:cs typeface="IBM Plex Sans"/>
              </a:endParaRPr>
            </a:p>
          </p:txBody>
        </p:sp>
      </p:grpSp>
      <p:grpSp>
        <p:nvGrpSpPr>
          <p:cNvPr id="64" name="node08"/>
          <p:cNvGrpSpPr/>
          <p:nvPr/>
        </p:nvGrpSpPr>
        <p:grpSpPr>
          <a:xfrm>
            <a:off x="9182100" y="1828800"/>
            <a:ext cx="2286000" cy="457200"/>
            <a:chOff x="9182100" y="1828800"/>
            <a:chExt cx="2286000" cy="457200"/>
          </a:xfrm>
        </p:grpSpPr>
        <p:sp>
          <p:nvSpPr>
            <p:cNvPr id="17" name="node08.surface"/>
            <p:cNvSpPr/>
            <p:nvPr/>
          </p:nvSpPr>
          <p:spPr>
            <a:xfrm>
              <a:off x="9182100" y="1828800"/>
              <a:ext cx="2286000" cy="457200"/>
            </a:xfrm>
            <a:prstGeom prst="rect">
              <a:avLst/>
            </a:prstGeom>
            <a:solidFill>
              <a:srgbClr val="E8EEF8"/>
            </a:solidFill>
            <a:ln>
              <a:noFill/>
            </a:ln>
          </p:spPr>
        </p:sp>
        <p:sp>
          <p:nvSpPr>
            <p:cNvPr id="18" name="node08.text"/>
            <p:cNvSpPr/>
            <p:nvPr/>
          </p:nvSpPr>
          <p:spPr>
            <a:xfrm>
              <a:off x="9334500" y="1866900"/>
              <a:ext cx="1981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One scoped opportunity with a visible path</a:t>
              </a:r>
              <a:endParaRPr lang="en-US" sz="1100" spc="0" kern="0" b="0" i="0" dirty="0">
                <a:solidFill>
                  <a:srgbClr val="070154"/>
                </a:solidFill>
                <a:latin typeface="IBM Plex Sans"/>
                <a:ea typeface="IBM Plex Sans"/>
                <a:cs typeface="IBM Plex Sans"/>
              </a:endParaRPr>
            </a:p>
          </p:txBody>
        </p:sp>
      </p:grpSp>
      <p:grpSp>
        <p:nvGrpSpPr>
          <p:cNvPr id="65" name="node09"/>
          <p:cNvGrpSpPr/>
          <p:nvPr/>
        </p:nvGrpSpPr>
        <p:grpSpPr>
          <a:xfrm>
            <a:off x="723900" y="2514600"/>
            <a:ext cx="1371600" cy="457200"/>
            <a:chOff x="723900" y="2514600"/>
            <a:chExt cx="1371600" cy="457200"/>
          </a:xfrm>
        </p:grpSpPr>
        <p:sp>
          <p:nvSpPr>
            <p:cNvPr id="19" name="node09.surface"/>
            <p:cNvSpPr/>
            <p:nvPr/>
          </p:nvSpPr>
          <p:spPr>
            <a:xfrm>
              <a:off x="723900" y="2514600"/>
              <a:ext cx="1371600" cy="457200"/>
            </a:xfrm>
            <a:prstGeom prst="rect">
              <a:avLst/>
            </a:prstGeom>
            <a:solidFill>
              <a:srgbClr val="070154"/>
            </a:solidFill>
            <a:ln>
              <a:noFill/>
            </a:ln>
          </p:spPr>
        </p:sp>
        <p:sp>
          <p:nvSpPr>
            <p:cNvPr id="20" name="node09.text"/>
            <p:cNvSpPr/>
            <p:nvPr/>
          </p:nvSpPr>
          <p:spPr>
            <a:xfrm>
              <a:off x="876300" y="2647950"/>
              <a:ext cx="1066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9:35–11:30</a:t>
              </a:r>
              <a:endParaRPr lang="en-US" sz="1100" spc="0" kern="0" b="0" i="0" dirty="0">
                <a:solidFill>
                  <a:srgbClr val="FFFFFF"/>
                </a:solidFill>
                <a:latin typeface="IBM Plex Sans"/>
                <a:ea typeface="IBM Plex Sans"/>
                <a:cs typeface="IBM Plex Sans"/>
              </a:endParaRPr>
            </a:p>
          </p:txBody>
        </p:sp>
      </p:grpSp>
      <p:grpSp>
        <p:nvGrpSpPr>
          <p:cNvPr id="66" name="node10"/>
          <p:cNvGrpSpPr/>
          <p:nvPr/>
        </p:nvGrpSpPr>
        <p:grpSpPr>
          <a:xfrm>
            <a:off x="2324100" y="2514600"/>
            <a:ext cx="2057400" cy="190500"/>
            <a:chOff x="2324100" y="2514600"/>
            <a:chExt cx="2057400" cy="190500"/>
          </a:xfrm>
        </p:grpSpPr>
        <p:sp>
          <p:nvSpPr>
            <p:cNvPr id="21" name="node10.text"/>
            <p:cNvSpPr/>
            <p:nvPr/>
          </p:nvSpPr>
          <p:spPr>
            <a:xfrm>
              <a:off x="2324100" y="2514600"/>
              <a:ext cx="2057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 Parallel definition</a:t>
              </a:r>
              <a:endParaRPr lang="en-US" sz="1100" spc="0" kern="0" b="0" i="0" dirty="0">
                <a:solidFill>
                  <a:srgbClr val="070154"/>
                </a:solidFill>
                <a:latin typeface="IBM Plex Sans"/>
                <a:ea typeface="IBM Plex Sans"/>
                <a:cs typeface="IBM Plex Sans"/>
              </a:endParaRPr>
            </a:p>
          </p:txBody>
        </p:sp>
      </p:grpSp>
      <p:grpSp>
        <p:nvGrpSpPr>
          <p:cNvPr id="67" name="node11"/>
          <p:cNvGrpSpPr/>
          <p:nvPr/>
        </p:nvGrpSpPr>
        <p:grpSpPr>
          <a:xfrm>
            <a:off x="4610100" y="2514600"/>
            <a:ext cx="4343400" cy="469900"/>
            <a:chOff x="4610100" y="2514600"/>
            <a:chExt cx="4343400" cy="469900"/>
          </a:xfrm>
        </p:grpSpPr>
        <p:sp>
          <p:nvSpPr>
            <p:cNvPr id="22" name="node11.source-001.bullet"/>
            <p:cNvSpPr/>
            <p:nvPr/>
          </p:nvSpPr>
          <p:spPr>
            <a:xfrm>
              <a:off x="4610100" y="2603500"/>
              <a:ext cx="38100" cy="38100"/>
            </a:xfrm>
            <a:prstGeom prst="rect">
              <a:avLst/>
            </a:prstGeom>
            <a:solidFill>
              <a:srgbClr val="070154"/>
            </a:solidFill>
            <a:ln>
              <a:noFill/>
            </a:ln>
          </p:spPr>
        </p:sp>
        <p:sp>
          <p:nvSpPr>
            <p:cNvPr id="23" name="node11.source-001.text"/>
            <p:cNvSpPr/>
            <p:nvPr/>
          </p:nvSpPr>
          <p:spPr>
            <a:xfrm>
              <a:off x="4762500" y="25146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Finance: define rules, controls, acceptance</a:t>
              </a:r>
              <a:endParaRPr lang="en-US" sz="1200" spc="0" kern="0" b="0" i="0" dirty="0">
                <a:solidFill>
                  <a:srgbClr val="070154"/>
                </a:solidFill>
                <a:latin typeface="IBM Plex Sans"/>
                <a:ea typeface="IBM Plex Sans"/>
                <a:cs typeface="IBM Plex Sans"/>
              </a:endParaRPr>
            </a:p>
          </p:txBody>
        </p:sp>
        <p:sp>
          <p:nvSpPr>
            <p:cNvPr id="24" name="node11.source-002.bullet"/>
            <p:cNvSpPr/>
            <p:nvPr/>
          </p:nvSpPr>
          <p:spPr>
            <a:xfrm>
              <a:off x="4610100" y="2857500"/>
              <a:ext cx="38100" cy="38100"/>
            </a:xfrm>
            <a:prstGeom prst="rect">
              <a:avLst/>
            </a:prstGeom>
            <a:solidFill>
              <a:srgbClr val="070154"/>
            </a:solidFill>
            <a:ln>
              <a:noFill/>
            </a:ln>
          </p:spPr>
        </p:sp>
        <p:sp>
          <p:nvSpPr>
            <p:cNvPr id="25" name="node11.source-002.text"/>
            <p:cNvSpPr/>
            <p:nvPr/>
          </p:nvSpPr>
          <p:spPr>
            <a:xfrm>
              <a:off x="4762500" y="27686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profile sources and prove the data flow</a:t>
              </a:r>
              <a:endParaRPr lang="en-US" sz="1200" spc="0" kern="0" b="0" i="0" dirty="0">
                <a:solidFill>
                  <a:srgbClr val="070154"/>
                </a:solidFill>
                <a:latin typeface="IBM Plex Sans"/>
                <a:ea typeface="IBM Plex Sans"/>
                <a:cs typeface="IBM Plex Sans"/>
              </a:endParaRPr>
            </a:p>
          </p:txBody>
        </p:sp>
      </p:grpSp>
      <p:grpSp>
        <p:nvGrpSpPr>
          <p:cNvPr id="68" name="node12"/>
          <p:cNvGrpSpPr/>
          <p:nvPr/>
        </p:nvGrpSpPr>
        <p:grpSpPr>
          <a:xfrm>
            <a:off x="9182100" y="2514600"/>
            <a:ext cx="2286000" cy="457200"/>
            <a:chOff x="9182100" y="2514600"/>
            <a:chExt cx="2286000" cy="457200"/>
          </a:xfrm>
        </p:grpSpPr>
        <p:sp>
          <p:nvSpPr>
            <p:cNvPr id="26" name="node12.surface"/>
            <p:cNvSpPr/>
            <p:nvPr/>
          </p:nvSpPr>
          <p:spPr>
            <a:xfrm>
              <a:off x="9182100" y="2514600"/>
              <a:ext cx="2286000" cy="457200"/>
            </a:xfrm>
            <a:prstGeom prst="rect">
              <a:avLst/>
            </a:prstGeom>
            <a:solidFill>
              <a:srgbClr val="E8EEF8"/>
            </a:solidFill>
            <a:ln>
              <a:noFill/>
            </a:ln>
          </p:spPr>
        </p:sp>
        <p:sp>
          <p:nvSpPr>
            <p:cNvPr id="27" name="node12.text"/>
            <p:cNvSpPr/>
            <p:nvPr/>
          </p:nvSpPr>
          <p:spPr>
            <a:xfrm>
              <a:off x="9334500" y="2552700"/>
              <a:ext cx="1981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Agreed rules and a working data sample</a:t>
              </a:r>
              <a:endParaRPr lang="en-US" sz="1100" spc="0" kern="0" b="0" i="0" dirty="0">
                <a:solidFill>
                  <a:srgbClr val="070154"/>
                </a:solidFill>
                <a:latin typeface="IBM Plex Sans"/>
                <a:ea typeface="IBM Plex Sans"/>
                <a:cs typeface="IBM Plex Sans"/>
              </a:endParaRPr>
            </a:p>
          </p:txBody>
        </p:sp>
      </p:grpSp>
      <p:grpSp>
        <p:nvGrpSpPr>
          <p:cNvPr id="69" name="node13"/>
          <p:cNvGrpSpPr/>
          <p:nvPr/>
        </p:nvGrpSpPr>
        <p:grpSpPr>
          <a:xfrm>
            <a:off x="723900" y="3200400"/>
            <a:ext cx="1371600" cy="457200"/>
            <a:chOff x="723900" y="3200400"/>
            <a:chExt cx="1371600" cy="457200"/>
          </a:xfrm>
        </p:grpSpPr>
        <p:sp>
          <p:nvSpPr>
            <p:cNvPr id="28" name="node13.surface"/>
            <p:cNvSpPr/>
            <p:nvPr/>
          </p:nvSpPr>
          <p:spPr>
            <a:xfrm>
              <a:off x="723900" y="3200400"/>
              <a:ext cx="1371600" cy="457200"/>
            </a:xfrm>
            <a:prstGeom prst="rect">
              <a:avLst/>
            </a:prstGeom>
            <a:solidFill>
              <a:srgbClr val="070154"/>
            </a:solidFill>
            <a:ln>
              <a:noFill/>
            </a:ln>
          </p:spPr>
        </p:sp>
        <p:sp>
          <p:nvSpPr>
            <p:cNvPr id="29" name="node13.text"/>
            <p:cNvSpPr/>
            <p:nvPr/>
          </p:nvSpPr>
          <p:spPr>
            <a:xfrm>
              <a:off x="876300" y="3333750"/>
              <a:ext cx="1066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12:15–1:00</a:t>
              </a:r>
              <a:endParaRPr lang="en-US" sz="1100" spc="0" kern="0" b="0" i="0" dirty="0">
                <a:solidFill>
                  <a:srgbClr val="FFFFFF"/>
                </a:solidFill>
                <a:latin typeface="IBM Plex Sans"/>
                <a:ea typeface="IBM Plex Sans"/>
                <a:cs typeface="IBM Plex Sans"/>
              </a:endParaRPr>
            </a:p>
          </p:txBody>
        </p:sp>
      </p:grpSp>
      <p:grpSp>
        <p:nvGrpSpPr>
          <p:cNvPr id="70" name="node14"/>
          <p:cNvGrpSpPr/>
          <p:nvPr/>
        </p:nvGrpSpPr>
        <p:grpSpPr>
          <a:xfrm>
            <a:off x="2324100" y="3200400"/>
            <a:ext cx="2057400" cy="190500"/>
            <a:chOff x="2324100" y="3200400"/>
            <a:chExt cx="2057400" cy="190500"/>
          </a:xfrm>
        </p:grpSpPr>
        <p:sp>
          <p:nvSpPr>
            <p:cNvPr id="30" name="node14.text"/>
            <p:cNvSpPr/>
            <p:nvPr/>
          </p:nvSpPr>
          <p:spPr>
            <a:xfrm>
              <a:off x="2324100" y="3200400"/>
              <a:ext cx="2057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 Handoff</a:t>
              </a:r>
              <a:endParaRPr lang="en-US" sz="1100" spc="0" kern="0" b="0" i="0" dirty="0">
                <a:solidFill>
                  <a:srgbClr val="070154"/>
                </a:solidFill>
                <a:latin typeface="IBM Plex Sans"/>
                <a:ea typeface="IBM Plex Sans"/>
                <a:cs typeface="IBM Plex Sans"/>
              </a:endParaRPr>
            </a:p>
          </p:txBody>
        </p:sp>
      </p:grpSp>
      <p:grpSp>
        <p:nvGrpSpPr>
          <p:cNvPr id="71" name="node15"/>
          <p:cNvGrpSpPr/>
          <p:nvPr/>
        </p:nvGrpSpPr>
        <p:grpSpPr>
          <a:xfrm>
            <a:off x="4610100" y="3200400"/>
            <a:ext cx="4343400" cy="469900"/>
            <a:chOff x="4610100" y="3200400"/>
            <a:chExt cx="4343400" cy="469900"/>
          </a:xfrm>
        </p:grpSpPr>
        <p:sp>
          <p:nvSpPr>
            <p:cNvPr id="31" name="node15.source-001.bullet"/>
            <p:cNvSpPr/>
            <p:nvPr/>
          </p:nvSpPr>
          <p:spPr>
            <a:xfrm>
              <a:off x="4610100" y="3289300"/>
              <a:ext cx="38100" cy="38100"/>
            </a:xfrm>
            <a:prstGeom prst="rect">
              <a:avLst/>
            </a:prstGeom>
            <a:solidFill>
              <a:srgbClr val="070154"/>
            </a:solidFill>
            <a:ln>
              <a:noFill/>
            </a:ln>
          </p:spPr>
        </p:sp>
        <p:sp>
          <p:nvSpPr>
            <p:cNvPr id="32" name="node15.source-001.text"/>
            <p:cNvSpPr/>
            <p:nvPr/>
          </p:nvSpPr>
          <p:spPr>
            <a:xfrm>
              <a:off x="4762500" y="32004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Finance: explain intent and open questions</a:t>
              </a:r>
              <a:endParaRPr lang="en-US" sz="1200" spc="0" kern="0" b="0" i="0" dirty="0">
                <a:solidFill>
                  <a:srgbClr val="070154"/>
                </a:solidFill>
                <a:latin typeface="IBM Plex Sans"/>
                <a:ea typeface="IBM Plex Sans"/>
                <a:cs typeface="IBM Plex Sans"/>
              </a:endParaRPr>
            </a:p>
          </p:txBody>
        </p:sp>
        <p:sp>
          <p:nvSpPr>
            <p:cNvPr id="33" name="node15.source-002.bullet"/>
            <p:cNvSpPr/>
            <p:nvPr/>
          </p:nvSpPr>
          <p:spPr>
            <a:xfrm>
              <a:off x="4610100" y="3543300"/>
              <a:ext cx="38100" cy="38100"/>
            </a:xfrm>
            <a:prstGeom prst="rect">
              <a:avLst/>
            </a:prstGeom>
            <a:solidFill>
              <a:srgbClr val="070154"/>
            </a:solidFill>
            <a:ln>
              <a:noFill/>
            </a:ln>
          </p:spPr>
        </p:sp>
        <p:sp>
          <p:nvSpPr>
            <p:cNvPr id="34" name="node15.source-002.text"/>
            <p:cNvSpPr/>
            <p:nvPr/>
          </p:nvSpPr>
          <p:spPr>
            <a:xfrm>
              <a:off x="4762500" y="34544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challenge ambiguity; propose a slice</a:t>
              </a:r>
              <a:endParaRPr lang="en-US" sz="1200" spc="0" kern="0" b="0" i="0" dirty="0">
                <a:solidFill>
                  <a:srgbClr val="070154"/>
                </a:solidFill>
                <a:latin typeface="IBM Plex Sans"/>
                <a:ea typeface="IBM Plex Sans"/>
                <a:cs typeface="IBM Plex Sans"/>
              </a:endParaRPr>
            </a:p>
          </p:txBody>
        </p:sp>
      </p:grpSp>
      <p:grpSp>
        <p:nvGrpSpPr>
          <p:cNvPr id="72" name="node16"/>
          <p:cNvGrpSpPr/>
          <p:nvPr/>
        </p:nvGrpSpPr>
        <p:grpSpPr>
          <a:xfrm>
            <a:off x="9182100" y="3200400"/>
            <a:ext cx="2286000" cy="457200"/>
            <a:chOff x="9182100" y="3200400"/>
            <a:chExt cx="2286000" cy="457200"/>
          </a:xfrm>
        </p:grpSpPr>
        <p:sp>
          <p:nvSpPr>
            <p:cNvPr id="35" name="node16.surface"/>
            <p:cNvSpPr/>
            <p:nvPr/>
          </p:nvSpPr>
          <p:spPr>
            <a:xfrm>
              <a:off x="9182100" y="3200400"/>
              <a:ext cx="2286000" cy="457200"/>
            </a:xfrm>
            <a:prstGeom prst="rect">
              <a:avLst/>
            </a:prstGeom>
            <a:solidFill>
              <a:srgbClr val="E8EEF8"/>
            </a:solidFill>
            <a:ln>
              <a:noFill/>
            </a:ln>
          </p:spPr>
        </p:sp>
        <p:sp>
          <p:nvSpPr>
            <p:cNvPr id="36" name="node16.text"/>
            <p:cNvSpPr/>
            <p:nvPr/>
          </p:nvSpPr>
          <p:spPr>
            <a:xfrm>
              <a:off x="9334500" y="3238500"/>
              <a:ext cx="1981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Agreed interface, scope and demo slice</a:t>
              </a:r>
              <a:endParaRPr lang="en-US" sz="1100" spc="0" kern="0" b="0" i="0" dirty="0">
                <a:solidFill>
                  <a:srgbClr val="070154"/>
                </a:solidFill>
                <a:latin typeface="IBM Plex Sans"/>
                <a:ea typeface="IBM Plex Sans"/>
                <a:cs typeface="IBM Plex Sans"/>
              </a:endParaRPr>
            </a:p>
          </p:txBody>
        </p:sp>
      </p:grpSp>
      <p:grpSp>
        <p:nvGrpSpPr>
          <p:cNvPr id="73" name="node17"/>
          <p:cNvGrpSpPr/>
          <p:nvPr/>
        </p:nvGrpSpPr>
        <p:grpSpPr>
          <a:xfrm>
            <a:off x="723900" y="3886200"/>
            <a:ext cx="1371600" cy="457200"/>
            <a:chOff x="723900" y="3886200"/>
            <a:chExt cx="1371600" cy="457200"/>
          </a:xfrm>
        </p:grpSpPr>
        <p:sp>
          <p:nvSpPr>
            <p:cNvPr id="37" name="node17.surface"/>
            <p:cNvSpPr/>
            <p:nvPr/>
          </p:nvSpPr>
          <p:spPr>
            <a:xfrm>
              <a:off x="723900" y="3886200"/>
              <a:ext cx="1371600" cy="457200"/>
            </a:xfrm>
            <a:prstGeom prst="rect">
              <a:avLst/>
            </a:prstGeom>
            <a:solidFill>
              <a:srgbClr val="070154"/>
            </a:solidFill>
            <a:ln>
              <a:noFill/>
            </a:ln>
          </p:spPr>
        </p:sp>
        <p:sp>
          <p:nvSpPr>
            <p:cNvPr id="38" name="node17.text"/>
            <p:cNvSpPr/>
            <p:nvPr/>
          </p:nvSpPr>
          <p:spPr>
            <a:xfrm>
              <a:off x="876300" y="4019550"/>
              <a:ext cx="1066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1:00–3:15</a:t>
              </a:r>
              <a:endParaRPr lang="en-US" sz="1100" spc="0" kern="0" b="0" i="0" dirty="0">
                <a:solidFill>
                  <a:srgbClr val="FFFFFF"/>
                </a:solidFill>
                <a:latin typeface="IBM Plex Sans"/>
                <a:ea typeface="IBM Plex Sans"/>
                <a:cs typeface="IBM Plex Sans"/>
              </a:endParaRPr>
            </a:p>
          </p:txBody>
        </p:sp>
      </p:grpSp>
      <p:grpSp>
        <p:nvGrpSpPr>
          <p:cNvPr id="74" name="node18"/>
          <p:cNvGrpSpPr/>
          <p:nvPr/>
        </p:nvGrpSpPr>
        <p:grpSpPr>
          <a:xfrm>
            <a:off x="2324100" y="3886200"/>
            <a:ext cx="2057400" cy="190500"/>
            <a:chOff x="2324100" y="3886200"/>
            <a:chExt cx="2057400" cy="190500"/>
          </a:xfrm>
        </p:grpSpPr>
        <p:sp>
          <p:nvSpPr>
            <p:cNvPr id="39" name="node18.text"/>
            <p:cNvSpPr/>
            <p:nvPr/>
          </p:nvSpPr>
          <p:spPr>
            <a:xfrm>
              <a:off x="2324100" y="3886200"/>
              <a:ext cx="2057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4. Build and review</a:t>
              </a:r>
              <a:endParaRPr lang="en-US" sz="1100" spc="0" kern="0" b="0" i="0" dirty="0">
                <a:solidFill>
                  <a:srgbClr val="070154"/>
                </a:solidFill>
                <a:latin typeface="IBM Plex Sans"/>
                <a:ea typeface="IBM Plex Sans"/>
                <a:cs typeface="IBM Plex Sans"/>
              </a:endParaRPr>
            </a:p>
          </p:txBody>
        </p:sp>
      </p:grpSp>
      <p:grpSp>
        <p:nvGrpSpPr>
          <p:cNvPr id="75" name="node19"/>
          <p:cNvGrpSpPr/>
          <p:nvPr/>
        </p:nvGrpSpPr>
        <p:grpSpPr>
          <a:xfrm>
            <a:off x="4610100" y="3886200"/>
            <a:ext cx="4343400" cy="469900"/>
            <a:chOff x="4610100" y="3886200"/>
            <a:chExt cx="4343400" cy="469900"/>
          </a:xfrm>
        </p:grpSpPr>
        <p:sp>
          <p:nvSpPr>
            <p:cNvPr id="40" name="node19.source-001.bullet"/>
            <p:cNvSpPr/>
            <p:nvPr/>
          </p:nvSpPr>
          <p:spPr>
            <a:xfrm>
              <a:off x="4610100" y="3975100"/>
              <a:ext cx="38100" cy="38100"/>
            </a:xfrm>
            <a:prstGeom prst="rect">
              <a:avLst/>
            </a:prstGeom>
            <a:solidFill>
              <a:srgbClr val="070154"/>
            </a:solidFill>
            <a:ln>
              <a:noFill/>
            </a:ln>
          </p:spPr>
        </p:sp>
        <p:sp>
          <p:nvSpPr>
            <p:cNvPr id="41" name="node19.source-001.text"/>
            <p:cNvSpPr/>
            <p:nvPr/>
          </p:nvSpPr>
          <p:spPr>
            <a:xfrm>
              <a:off x="4762500" y="38862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Finance: review each increment against rules</a:t>
              </a:r>
              <a:endParaRPr lang="en-US" sz="1200" spc="0" kern="0" b="0" i="0" dirty="0">
                <a:solidFill>
                  <a:srgbClr val="070154"/>
                </a:solidFill>
                <a:latin typeface="IBM Plex Sans"/>
                <a:ea typeface="IBM Plex Sans"/>
                <a:cs typeface="IBM Plex Sans"/>
              </a:endParaRPr>
            </a:p>
          </p:txBody>
        </p:sp>
        <p:sp>
          <p:nvSpPr>
            <p:cNvPr id="42" name="node19.source-002.bullet"/>
            <p:cNvSpPr/>
            <p:nvPr/>
          </p:nvSpPr>
          <p:spPr>
            <a:xfrm>
              <a:off x="4610100" y="4229100"/>
              <a:ext cx="38100" cy="38100"/>
            </a:xfrm>
            <a:prstGeom prst="rect">
              <a:avLst/>
            </a:prstGeom>
            <a:solidFill>
              <a:srgbClr val="070154"/>
            </a:solidFill>
            <a:ln>
              <a:noFill/>
            </a:ln>
          </p:spPr>
        </p:sp>
        <p:sp>
          <p:nvSpPr>
            <p:cNvPr id="43" name="node19.source-002.text"/>
            <p:cNvSpPr/>
            <p:nvPr/>
          </p:nvSpPr>
          <p:spPr>
            <a:xfrm>
              <a:off x="4762500" y="41402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convert feedback into bounded changes</a:t>
              </a:r>
              <a:endParaRPr lang="en-US" sz="1200" spc="0" kern="0" b="0" i="0" dirty="0">
                <a:solidFill>
                  <a:srgbClr val="070154"/>
                </a:solidFill>
                <a:latin typeface="IBM Plex Sans"/>
                <a:ea typeface="IBM Plex Sans"/>
                <a:cs typeface="IBM Plex Sans"/>
              </a:endParaRPr>
            </a:p>
          </p:txBody>
        </p:sp>
      </p:grpSp>
      <p:grpSp>
        <p:nvGrpSpPr>
          <p:cNvPr id="76" name="node20"/>
          <p:cNvGrpSpPr/>
          <p:nvPr/>
        </p:nvGrpSpPr>
        <p:grpSpPr>
          <a:xfrm>
            <a:off x="9182100" y="3886200"/>
            <a:ext cx="2286000" cy="457200"/>
            <a:chOff x="9182100" y="3886200"/>
            <a:chExt cx="2286000" cy="457200"/>
          </a:xfrm>
        </p:grpSpPr>
        <p:sp>
          <p:nvSpPr>
            <p:cNvPr id="44" name="node20.surface"/>
            <p:cNvSpPr/>
            <p:nvPr/>
          </p:nvSpPr>
          <p:spPr>
            <a:xfrm>
              <a:off x="9182100" y="3886200"/>
              <a:ext cx="2286000" cy="457200"/>
            </a:xfrm>
            <a:prstGeom prst="rect">
              <a:avLst/>
            </a:prstGeom>
            <a:solidFill>
              <a:srgbClr val="E8EEF8"/>
            </a:solidFill>
            <a:ln>
              <a:noFill/>
            </a:ln>
          </p:spPr>
        </p:sp>
        <p:sp>
          <p:nvSpPr>
            <p:cNvPr id="45" name="node20.text"/>
            <p:cNvSpPr/>
            <p:nvPr/>
          </p:nvSpPr>
          <p:spPr>
            <a:xfrm>
              <a:off x="9334500" y="3924300"/>
              <a:ext cx="1981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Traceable feedback and acceptance evidence</a:t>
              </a:r>
              <a:endParaRPr lang="en-US" sz="1100" spc="0" kern="0" b="0" i="0" dirty="0">
                <a:solidFill>
                  <a:srgbClr val="070154"/>
                </a:solidFill>
                <a:latin typeface="IBM Plex Sans"/>
                <a:ea typeface="IBM Plex Sans"/>
                <a:cs typeface="IBM Plex Sans"/>
              </a:endParaRPr>
            </a:p>
          </p:txBody>
        </p:sp>
      </p:grpSp>
      <p:grpSp>
        <p:nvGrpSpPr>
          <p:cNvPr id="77" name="node21"/>
          <p:cNvGrpSpPr/>
          <p:nvPr/>
        </p:nvGrpSpPr>
        <p:grpSpPr>
          <a:xfrm>
            <a:off x="723900" y="4572000"/>
            <a:ext cx="1371600" cy="457200"/>
            <a:chOff x="723900" y="4572000"/>
            <a:chExt cx="1371600" cy="457200"/>
          </a:xfrm>
        </p:grpSpPr>
        <p:sp>
          <p:nvSpPr>
            <p:cNvPr id="46" name="node21.surface"/>
            <p:cNvSpPr/>
            <p:nvPr/>
          </p:nvSpPr>
          <p:spPr>
            <a:xfrm>
              <a:off x="723900" y="4572000"/>
              <a:ext cx="1371600" cy="457200"/>
            </a:xfrm>
            <a:prstGeom prst="rect">
              <a:avLst/>
            </a:prstGeom>
            <a:solidFill>
              <a:srgbClr val="070154"/>
            </a:solidFill>
            <a:ln>
              <a:noFill/>
            </a:ln>
          </p:spPr>
        </p:sp>
        <p:sp>
          <p:nvSpPr>
            <p:cNvPr id="47" name="node21.text"/>
            <p:cNvSpPr/>
            <p:nvPr/>
          </p:nvSpPr>
          <p:spPr>
            <a:xfrm>
              <a:off x="876300" y="4705350"/>
              <a:ext cx="1066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3:15–4:30</a:t>
              </a:r>
              <a:endParaRPr lang="en-US" sz="1100" spc="0" kern="0" b="0" i="0" dirty="0">
                <a:solidFill>
                  <a:srgbClr val="FFFFFF"/>
                </a:solidFill>
                <a:latin typeface="IBM Plex Sans"/>
                <a:ea typeface="IBM Plex Sans"/>
                <a:cs typeface="IBM Plex Sans"/>
              </a:endParaRPr>
            </a:p>
          </p:txBody>
        </p:sp>
      </p:grpSp>
      <p:grpSp>
        <p:nvGrpSpPr>
          <p:cNvPr id="78" name="node22"/>
          <p:cNvGrpSpPr/>
          <p:nvPr/>
        </p:nvGrpSpPr>
        <p:grpSpPr>
          <a:xfrm>
            <a:off x="2324100" y="4572000"/>
            <a:ext cx="2057400" cy="190500"/>
            <a:chOff x="2324100" y="4572000"/>
            <a:chExt cx="2057400" cy="190500"/>
          </a:xfrm>
        </p:grpSpPr>
        <p:sp>
          <p:nvSpPr>
            <p:cNvPr id="48" name="node22.text"/>
            <p:cNvSpPr/>
            <p:nvPr/>
          </p:nvSpPr>
          <p:spPr>
            <a:xfrm>
              <a:off x="2324100" y="4572000"/>
              <a:ext cx="2057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Scale-up</a:t>
              </a:r>
              <a:endParaRPr lang="en-US" sz="1100" spc="0" kern="0" b="0" i="0" dirty="0">
                <a:solidFill>
                  <a:srgbClr val="070154"/>
                </a:solidFill>
                <a:latin typeface="IBM Plex Sans"/>
                <a:ea typeface="IBM Plex Sans"/>
                <a:cs typeface="IBM Plex Sans"/>
              </a:endParaRPr>
            </a:p>
          </p:txBody>
        </p:sp>
      </p:grpSp>
      <p:grpSp>
        <p:nvGrpSpPr>
          <p:cNvPr id="79" name="node23"/>
          <p:cNvGrpSpPr/>
          <p:nvPr/>
        </p:nvGrpSpPr>
        <p:grpSpPr>
          <a:xfrm>
            <a:off x="4610100" y="4572000"/>
            <a:ext cx="4343400" cy="469900"/>
            <a:chOff x="4610100" y="4572000"/>
            <a:chExt cx="4343400" cy="469900"/>
          </a:xfrm>
        </p:grpSpPr>
        <p:sp>
          <p:nvSpPr>
            <p:cNvPr id="49" name="node23.source-001.bullet"/>
            <p:cNvSpPr/>
            <p:nvPr/>
          </p:nvSpPr>
          <p:spPr>
            <a:xfrm>
              <a:off x="4610100" y="4660900"/>
              <a:ext cx="38100" cy="38100"/>
            </a:xfrm>
            <a:prstGeom prst="rect">
              <a:avLst/>
            </a:prstGeom>
            <a:solidFill>
              <a:srgbClr val="070154"/>
            </a:solidFill>
            <a:ln>
              <a:noFill/>
            </a:ln>
          </p:spPr>
        </p:sp>
        <p:sp>
          <p:nvSpPr>
            <p:cNvPr id="50" name="node23.source-001.text"/>
            <p:cNvSpPr/>
            <p:nvPr/>
          </p:nvSpPr>
          <p:spPr>
            <a:xfrm>
              <a:off x="4762500" y="45720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Finance: name operating-model implications</a:t>
              </a:r>
              <a:endParaRPr lang="en-US" sz="1200" spc="0" kern="0" b="0" i="0" dirty="0">
                <a:solidFill>
                  <a:srgbClr val="070154"/>
                </a:solidFill>
                <a:latin typeface="IBM Plex Sans"/>
                <a:ea typeface="IBM Plex Sans"/>
                <a:cs typeface="IBM Plex Sans"/>
              </a:endParaRPr>
            </a:p>
          </p:txBody>
        </p:sp>
        <p:sp>
          <p:nvSpPr>
            <p:cNvPr id="51" name="node23.source-002.bullet"/>
            <p:cNvSpPr/>
            <p:nvPr/>
          </p:nvSpPr>
          <p:spPr>
            <a:xfrm>
              <a:off x="4610100" y="4914900"/>
              <a:ext cx="38100" cy="38100"/>
            </a:xfrm>
            <a:prstGeom prst="rect">
              <a:avLst/>
            </a:prstGeom>
            <a:solidFill>
              <a:srgbClr val="070154"/>
            </a:solidFill>
            <a:ln>
              <a:noFill/>
            </a:ln>
          </p:spPr>
        </p:sp>
        <p:sp>
          <p:nvSpPr>
            <p:cNvPr id="52" name="node23.source-002.text"/>
            <p:cNvSpPr/>
            <p:nvPr/>
          </p:nvSpPr>
          <p:spPr>
            <a:xfrm>
              <a:off x="4762500" y="48260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name platform and ownership implications</a:t>
              </a:r>
              <a:endParaRPr lang="en-US" sz="1200" spc="0" kern="0" b="0" i="0" dirty="0">
                <a:solidFill>
                  <a:srgbClr val="070154"/>
                </a:solidFill>
                <a:latin typeface="IBM Plex Sans"/>
                <a:ea typeface="IBM Plex Sans"/>
                <a:cs typeface="IBM Plex Sans"/>
              </a:endParaRPr>
            </a:p>
          </p:txBody>
        </p:sp>
      </p:grpSp>
      <p:grpSp>
        <p:nvGrpSpPr>
          <p:cNvPr id="80" name="node24"/>
          <p:cNvGrpSpPr/>
          <p:nvPr/>
        </p:nvGrpSpPr>
        <p:grpSpPr>
          <a:xfrm>
            <a:off x="9182100" y="4572000"/>
            <a:ext cx="2286000" cy="457200"/>
            <a:chOff x="9182100" y="4572000"/>
            <a:chExt cx="2286000" cy="457200"/>
          </a:xfrm>
        </p:grpSpPr>
        <p:sp>
          <p:nvSpPr>
            <p:cNvPr id="53" name="node24.surface"/>
            <p:cNvSpPr/>
            <p:nvPr/>
          </p:nvSpPr>
          <p:spPr>
            <a:xfrm>
              <a:off x="9182100" y="4572000"/>
              <a:ext cx="2286000" cy="457200"/>
            </a:xfrm>
            <a:prstGeom prst="rect">
              <a:avLst/>
            </a:prstGeom>
            <a:solidFill>
              <a:srgbClr val="E8EEF8"/>
            </a:solidFill>
            <a:ln>
              <a:noFill/>
            </a:ln>
          </p:spPr>
        </p:sp>
        <p:sp>
          <p:nvSpPr>
            <p:cNvPr id="54" name="node24.text"/>
            <p:cNvSpPr/>
            <p:nvPr/>
          </p:nvSpPr>
          <p:spPr>
            <a:xfrm>
              <a:off x="9334500" y="4610100"/>
              <a:ext cx="1981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Next actions and a reusable learning record</a:t>
              </a:r>
              <a:endParaRPr lang="en-US" sz="1100" spc="0" kern="0" b="0" i="0" dirty="0">
                <a:solidFill>
                  <a:srgbClr val="070154"/>
                </a:solidFill>
                <a:latin typeface="IBM Plex Sans"/>
                <a:ea typeface="IBM Plex Sans"/>
                <a:cs typeface="IBM Plex Sans"/>
              </a:endParaRPr>
            </a:p>
          </p:txBody>
        </p:sp>
      </p:grpSp>
      <p:grpSp>
        <p:nvGrpSpPr>
          <p:cNvPr id="81" name="node25"/>
          <p:cNvGrpSpPr/>
          <p:nvPr/>
        </p:nvGrpSpPr>
        <p:grpSpPr>
          <a:xfrm>
            <a:off x="723900" y="5257800"/>
            <a:ext cx="10744200" cy="457200"/>
            <a:chOff x="723900" y="5257800"/>
            <a:chExt cx="10744200" cy="457200"/>
          </a:xfrm>
        </p:grpSpPr>
        <p:sp>
          <p:nvSpPr>
            <p:cNvPr id="55" name="node25.surface"/>
            <p:cNvSpPr/>
            <p:nvPr/>
          </p:nvSpPr>
          <p:spPr>
            <a:xfrm>
              <a:off x="723900" y="5257800"/>
              <a:ext cx="10744200" cy="457200"/>
            </a:xfrm>
            <a:prstGeom prst="rect">
              <a:avLst/>
            </a:prstGeom>
            <a:solidFill>
              <a:srgbClr val="E8EEF8"/>
            </a:solidFill>
            <a:ln>
              <a:noFill/>
            </a:ln>
          </p:spPr>
        </p:sp>
        <p:sp>
          <p:nvSpPr>
            <p:cNvPr id="56" name="node25.text"/>
            <p:cNvSpPr/>
            <p:nvPr/>
          </p:nvSpPr>
          <p:spPr>
            <a:xfrm>
              <a:off x="876300" y="5391150"/>
              <a:ext cx="1043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Outcome of the day: one agreed wave 1 scope, a tested data slice and a named owner for each decision.</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ource-197">
    <p:spTree>
      <p:nvGrpSpPr>
        <p:cNvPr id="1" name=""/>
        <p:cNvGrpSpPr/>
        <p:nvPr/>
      </p:nvGrpSpPr>
      <p:grpSpPr>
        <a:xfrm>
          <a:off x="0" y="0"/>
          <a:ext cx="0" cy="0"/>
          <a:chOff x="0" y="0"/>
          <a:chExt cx="0" cy="0"/>
        </a:xfrm>
      </p:grpSpPr>
      <p:sp>
        <p:nvSpPr>
          <p:cNvPr id="3" name="eyebrow"/>
          <p:cNvSpPr/>
          <p:nvPr/>
        </p:nvSpPr>
        <p:spPr>
          <a:xfrm>
            <a:off x="723900" y="457200"/>
            <a:ext cx="8458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DECK GUIDE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How to use this deck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a:t>
            </a:fld>
            <a:endParaRPr lang="en-US" sz="700" spc="0" kern="0" b="0" i="0" dirty="0">
              <a:solidFill>
                <a:srgbClr val="070154"/>
              </a:solidFill>
              <a:latin typeface="IBM Plex Mono SemiBold"/>
              <a:ea typeface="IBM Plex Mono SemiBold"/>
              <a:cs typeface="IBM Plex Mono SemiBold"/>
            </a:endParaRPr>
          </a:p>
        </p:txBody>
      </p:sp>
      <p:grpSp>
        <p:nvGrpSpPr>
          <p:cNvPr id="37" name="node01"/>
          <p:cNvGrpSpPr/>
          <p:nvPr/>
        </p:nvGrpSpPr>
        <p:grpSpPr>
          <a:xfrm>
            <a:off x="723900" y="1600200"/>
            <a:ext cx="3429000" cy="152400"/>
            <a:chOff x="723900" y="1600200"/>
            <a:chExt cx="3429000" cy="152400"/>
          </a:xfrm>
        </p:grpSpPr>
        <p:sp>
          <p:nvSpPr>
            <p:cNvPr id="6"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NARRATIVE</a:t>
              </a:r>
              <a:endParaRPr lang="en-US" sz="1000" spc="80" kern="0" b="0" i="0" dirty="0">
                <a:solidFill>
                  <a:srgbClr val="0047FF"/>
                </a:solidFill>
                <a:latin typeface="IBM Plex Mono SemiBold"/>
                <a:ea typeface="IBM Plex Mono SemiBold"/>
                <a:cs typeface="IBM Plex Mono SemiBold"/>
              </a:endParaRPr>
            </a:p>
          </p:txBody>
        </p:sp>
      </p:grpSp>
      <p:grpSp>
        <p:nvGrpSpPr>
          <p:cNvPr id="38" name="node02"/>
          <p:cNvGrpSpPr/>
          <p:nvPr/>
        </p:nvGrpSpPr>
        <p:grpSpPr>
          <a:xfrm>
            <a:off x="723900" y="1905000"/>
            <a:ext cx="3429000" cy="1600200"/>
            <a:chOff x="723900" y="1905000"/>
            <a:chExt cx="3429000" cy="1600200"/>
          </a:xfrm>
        </p:grpSpPr>
        <p:sp>
          <p:nvSpPr>
            <p:cNvPr id="7" name="node02.text"/>
            <p:cNvSpPr/>
            <p:nvPr/>
          </p:nvSpPr>
          <p:spPr>
            <a:xfrm>
              <a:off x="723900" y="1905000"/>
              <a:ext cx="3429000" cy="16002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This deck is a library, not a story told start to finish. Each section answers one buyer question for Northfield Health System, from why change now to what happens next. Pull only the slides that fit the buyer and the moment.</a:t>
              </a:r>
              <a:endParaRPr lang="en-US" sz="1400" spc="0" kern="0" b="0" i="0" dirty="0">
                <a:solidFill>
                  <a:srgbClr val="070154"/>
                </a:solidFill>
                <a:latin typeface="IBM Plex Sans"/>
                <a:ea typeface="IBM Plex Sans"/>
                <a:cs typeface="IBM Plex Sans"/>
              </a:endParaRPr>
            </a:p>
          </p:txBody>
        </p:sp>
      </p:grpSp>
      <p:grpSp>
        <p:nvGrpSpPr>
          <p:cNvPr id="39" name="node03"/>
          <p:cNvGrpSpPr/>
          <p:nvPr/>
        </p:nvGrpSpPr>
        <p:grpSpPr>
          <a:xfrm>
            <a:off x="4381500" y="1600200"/>
            <a:ext cx="3429000" cy="152400"/>
            <a:chOff x="4381500" y="1600200"/>
            <a:chExt cx="3429000" cy="152400"/>
          </a:xfrm>
        </p:grpSpPr>
        <p:sp>
          <p:nvSpPr>
            <p:cNvPr id="8" name="node03.text"/>
            <p:cNvSpPr/>
            <p:nvPr/>
          </p:nvSpPr>
          <p:spPr>
            <a:xfrm>
              <a:off x="43815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IT IS ORGANIZED</a:t>
              </a:r>
              <a:endParaRPr lang="en-US" sz="1000" spc="80" kern="0" b="0" i="0" dirty="0">
                <a:solidFill>
                  <a:srgbClr val="0047FF"/>
                </a:solidFill>
                <a:latin typeface="IBM Plex Mono SemiBold"/>
                <a:ea typeface="IBM Plex Mono SemiBold"/>
                <a:cs typeface="IBM Plex Mono SemiBold"/>
              </a:endParaRPr>
            </a:p>
          </p:txBody>
        </p:sp>
      </p:grpSp>
      <p:grpSp>
        <p:nvGrpSpPr>
          <p:cNvPr id="40" name="node04"/>
          <p:cNvGrpSpPr/>
          <p:nvPr/>
        </p:nvGrpSpPr>
        <p:grpSpPr>
          <a:xfrm>
            <a:off x="4381500" y="1905000"/>
            <a:ext cx="381000" cy="304800"/>
            <a:chOff x="4381500" y="1905000"/>
            <a:chExt cx="381000" cy="304800"/>
          </a:xfrm>
        </p:grpSpPr>
        <p:sp>
          <p:nvSpPr>
            <p:cNvPr id="9" name="node04.text"/>
            <p:cNvSpPr/>
            <p:nvPr/>
          </p:nvSpPr>
          <p:spPr>
            <a:xfrm>
              <a:off x="4381500" y="19050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grpSp>
      <p:grpSp>
        <p:nvGrpSpPr>
          <p:cNvPr id="41" name="node05"/>
          <p:cNvGrpSpPr/>
          <p:nvPr/>
        </p:nvGrpSpPr>
        <p:grpSpPr>
          <a:xfrm>
            <a:off x="4838700" y="1905000"/>
            <a:ext cx="2971800" cy="304800"/>
            <a:chOff x="4838700" y="1905000"/>
            <a:chExt cx="2971800" cy="304800"/>
          </a:xfrm>
        </p:grpSpPr>
        <p:sp>
          <p:nvSpPr>
            <p:cNvPr id="10" name="node05.text"/>
            <p:cNvSpPr/>
            <p:nvPr/>
          </p:nvSpPr>
          <p:spPr>
            <a:xfrm>
              <a:off x="4838700" y="19050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Context</a:t>
              </a:r>
              <a:endParaRPr lang="en-US" sz="1800" spc="-18" kern="0" b="0" i="0" dirty="0">
                <a:solidFill>
                  <a:srgbClr val="070154"/>
                </a:solidFill>
                <a:latin typeface="IBM Plex Sans SemiBold"/>
                <a:ea typeface="IBM Plex Sans SemiBold"/>
                <a:cs typeface="IBM Plex Sans SemiBold"/>
              </a:endParaRPr>
            </a:p>
          </p:txBody>
        </p:sp>
      </p:grpSp>
      <p:grpSp>
        <p:nvGrpSpPr>
          <p:cNvPr id="42" name="node06"/>
          <p:cNvGrpSpPr/>
          <p:nvPr/>
        </p:nvGrpSpPr>
        <p:grpSpPr>
          <a:xfrm>
            <a:off x="4838700" y="2171700"/>
            <a:ext cx="2971800" cy="228600"/>
            <a:chOff x="4838700" y="2171700"/>
            <a:chExt cx="2971800" cy="228600"/>
          </a:xfrm>
        </p:grpSpPr>
        <p:sp>
          <p:nvSpPr>
            <p:cNvPr id="11" name="node06.text"/>
            <p:cNvSpPr/>
            <p:nvPr/>
          </p:nvSpPr>
          <p:spPr>
            <a:xfrm>
              <a:off x="4838700" y="2171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Why the buyer acts now</a:t>
              </a:r>
              <a:endParaRPr lang="en-US" sz="1200" spc="0" kern="0" b="0" i="0" dirty="0">
                <a:solidFill>
                  <a:srgbClr val="50658E"/>
                </a:solidFill>
                <a:latin typeface="IBM Plex Sans"/>
                <a:ea typeface="IBM Plex Sans"/>
                <a:cs typeface="IBM Plex Sans"/>
              </a:endParaRPr>
            </a:p>
          </p:txBody>
        </p:sp>
      </p:grpSp>
      <p:grpSp>
        <p:nvGrpSpPr>
          <p:cNvPr id="43" name="node07"/>
          <p:cNvGrpSpPr/>
          <p:nvPr/>
        </p:nvGrpSpPr>
        <p:grpSpPr>
          <a:xfrm>
            <a:off x="4381500" y="2565400"/>
            <a:ext cx="381000" cy="304800"/>
            <a:chOff x="4381500" y="2565400"/>
            <a:chExt cx="381000" cy="304800"/>
          </a:xfrm>
        </p:grpSpPr>
        <p:sp>
          <p:nvSpPr>
            <p:cNvPr id="12" name="node07.text"/>
            <p:cNvSpPr/>
            <p:nvPr/>
          </p:nvSpPr>
          <p:spPr>
            <a:xfrm>
              <a:off x="4381500" y="25654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grpSp>
      <p:grpSp>
        <p:nvGrpSpPr>
          <p:cNvPr id="44" name="node08"/>
          <p:cNvGrpSpPr/>
          <p:nvPr/>
        </p:nvGrpSpPr>
        <p:grpSpPr>
          <a:xfrm>
            <a:off x="4838700" y="2565400"/>
            <a:ext cx="2971800" cy="304800"/>
            <a:chOff x="4838700" y="2565400"/>
            <a:chExt cx="2971800" cy="304800"/>
          </a:xfrm>
        </p:grpSpPr>
        <p:sp>
          <p:nvSpPr>
            <p:cNvPr id="13" name="node08.text"/>
            <p:cNvSpPr/>
            <p:nvPr/>
          </p:nvSpPr>
          <p:spPr>
            <a:xfrm>
              <a:off x="4838700" y="2565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Economics</a:t>
              </a:r>
              <a:endParaRPr lang="en-US" sz="1800" spc="-18" kern="0" b="0" i="0" dirty="0">
                <a:solidFill>
                  <a:srgbClr val="070154"/>
                </a:solidFill>
                <a:latin typeface="IBM Plex Sans SemiBold"/>
                <a:ea typeface="IBM Plex Sans SemiBold"/>
                <a:cs typeface="IBM Plex Sans SemiBold"/>
              </a:endParaRPr>
            </a:p>
          </p:txBody>
        </p:sp>
      </p:grpSp>
      <p:grpSp>
        <p:nvGrpSpPr>
          <p:cNvPr id="45" name="node09"/>
          <p:cNvGrpSpPr/>
          <p:nvPr/>
        </p:nvGrpSpPr>
        <p:grpSpPr>
          <a:xfrm>
            <a:off x="4838700" y="2832100"/>
            <a:ext cx="2971800" cy="228600"/>
            <a:chOff x="4838700" y="2832100"/>
            <a:chExt cx="2971800" cy="228600"/>
          </a:xfrm>
        </p:grpSpPr>
        <p:sp>
          <p:nvSpPr>
            <p:cNvPr id="14" name="node09.text"/>
            <p:cNvSpPr/>
            <p:nvPr/>
          </p:nvSpPr>
          <p:spPr>
            <a:xfrm>
              <a:off x="4838700" y="2832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What modernization costs and returns</a:t>
              </a:r>
              <a:endParaRPr lang="en-US" sz="1200" spc="0" kern="0" b="0" i="0" dirty="0">
                <a:solidFill>
                  <a:srgbClr val="50658E"/>
                </a:solidFill>
                <a:latin typeface="IBM Plex Sans"/>
                <a:ea typeface="IBM Plex Sans"/>
                <a:cs typeface="IBM Plex Sans"/>
              </a:endParaRPr>
            </a:p>
          </p:txBody>
        </p:sp>
      </p:grpSp>
      <p:grpSp>
        <p:nvGrpSpPr>
          <p:cNvPr id="46" name="node10"/>
          <p:cNvGrpSpPr/>
          <p:nvPr/>
        </p:nvGrpSpPr>
        <p:grpSpPr>
          <a:xfrm>
            <a:off x="4381500" y="3225800"/>
            <a:ext cx="381000" cy="304800"/>
            <a:chOff x="4381500" y="3225800"/>
            <a:chExt cx="381000" cy="304800"/>
          </a:xfrm>
        </p:grpSpPr>
        <p:sp>
          <p:nvSpPr>
            <p:cNvPr id="15" name="node10.text"/>
            <p:cNvSpPr/>
            <p:nvPr/>
          </p:nvSpPr>
          <p:spPr>
            <a:xfrm>
              <a:off x="4381500" y="32258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grpSp>
      <p:grpSp>
        <p:nvGrpSpPr>
          <p:cNvPr id="47" name="node11"/>
          <p:cNvGrpSpPr/>
          <p:nvPr/>
        </p:nvGrpSpPr>
        <p:grpSpPr>
          <a:xfrm>
            <a:off x="4838700" y="3225800"/>
            <a:ext cx="2971800" cy="304800"/>
            <a:chOff x="4838700" y="3225800"/>
            <a:chExt cx="2971800" cy="304800"/>
          </a:xfrm>
        </p:grpSpPr>
        <p:sp>
          <p:nvSpPr>
            <p:cNvPr id="16" name="node11.text"/>
            <p:cNvSpPr/>
            <p:nvPr/>
          </p:nvSpPr>
          <p:spPr>
            <a:xfrm>
              <a:off x="4838700" y="32258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Approach</a:t>
              </a:r>
              <a:endParaRPr lang="en-US" sz="1800" spc="-18" kern="0" b="0" i="0" dirty="0">
                <a:solidFill>
                  <a:srgbClr val="070154"/>
                </a:solidFill>
                <a:latin typeface="IBM Plex Sans SemiBold"/>
                <a:ea typeface="IBM Plex Sans SemiBold"/>
                <a:cs typeface="IBM Plex Sans SemiBold"/>
              </a:endParaRPr>
            </a:p>
          </p:txBody>
        </p:sp>
      </p:grpSp>
      <p:grpSp>
        <p:nvGrpSpPr>
          <p:cNvPr id="48" name="node12"/>
          <p:cNvGrpSpPr/>
          <p:nvPr/>
        </p:nvGrpSpPr>
        <p:grpSpPr>
          <a:xfrm>
            <a:off x="4838700" y="3492500"/>
            <a:ext cx="2971800" cy="228600"/>
            <a:chOff x="4838700" y="3492500"/>
            <a:chExt cx="2971800" cy="228600"/>
          </a:xfrm>
        </p:grpSpPr>
        <p:sp>
          <p:nvSpPr>
            <p:cNvPr id="17" name="node12.text"/>
            <p:cNvSpPr/>
            <p:nvPr/>
          </p:nvSpPr>
          <p:spPr>
            <a:xfrm>
              <a:off x="4838700" y="3492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How the work gets delivered</a:t>
              </a:r>
              <a:endParaRPr lang="en-US" sz="1200" spc="0" kern="0" b="0" i="0" dirty="0">
                <a:solidFill>
                  <a:srgbClr val="50658E"/>
                </a:solidFill>
                <a:latin typeface="IBM Plex Sans"/>
                <a:ea typeface="IBM Plex Sans"/>
                <a:cs typeface="IBM Plex Sans"/>
              </a:endParaRPr>
            </a:p>
          </p:txBody>
        </p:sp>
      </p:grpSp>
      <p:grpSp>
        <p:nvGrpSpPr>
          <p:cNvPr id="49" name="node13"/>
          <p:cNvGrpSpPr/>
          <p:nvPr/>
        </p:nvGrpSpPr>
        <p:grpSpPr>
          <a:xfrm>
            <a:off x="4381500" y="3886200"/>
            <a:ext cx="381000" cy="304800"/>
            <a:chOff x="4381500" y="3886200"/>
            <a:chExt cx="381000" cy="304800"/>
          </a:xfrm>
        </p:grpSpPr>
        <p:sp>
          <p:nvSpPr>
            <p:cNvPr id="18" name="node13.text"/>
            <p:cNvSpPr/>
            <p:nvPr/>
          </p:nvSpPr>
          <p:spPr>
            <a:xfrm>
              <a:off x="4381500" y="38862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grpSp>
      <p:grpSp>
        <p:nvGrpSpPr>
          <p:cNvPr id="50" name="node14"/>
          <p:cNvGrpSpPr/>
          <p:nvPr/>
        </p:nvGrpSpPr>
        <p:grpSpPr>
          <a:xfrm>
            <a:off x="4838700" y="3886200"/>
            <a:ext cx="2971800" cy="304800"/>
            <a:chOff x="4838700" y="3886200"/>
            <a:chExt cx="2971800" cy="304800"/>
          </a:xfrm>
        </p:grpSpPr>
        <p:sp>
          <p:nvSpPr>
            <p:cNvPr id="19" name="node14.text"/>
            <p:cNvSpPr/>
            <p:nvPr/>
          </p:nvSpPr>
          <p:spPr>
            <a:xfrm>
              <a:off x="4838700" y="38862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Proof</a:t>
              </a:r>
              <a:endParaRPr lang="en-US" sz="1800" spc="-18" kern="0" b="0" i="0" dirty="0">
                <a:solidFill>
                  <a:srgbClr val="070154"/>
                </a:solidFill>
                <a:latin typeface="IBM Plex Sans SemiBold"/>
                <a:ea typeface="IBM Plex Sans SemiBold"/>
                <a:cs typeface="IBM Plex Sans SemiBold"/>
              </a:endParaRPr>
            </a:p>
          </p:txBody>
        </p:sp>
      </p:grpSp>
      <p:grpSp>
        <p:nvGrpSpPr>
          <p:cNvPr id="51" name="node15"/>
          <p:cNvGrpSpPr/>
          <p:nvPr/>
        </p:nvGrpSpPr>
        <p:grpSpPr>
          <a:xfrm>
            <a:off x="4838700" y="4152900"/>
            <a:ext cx="2971800" cy="228600"/>
            <a:chOff x="4838700" y="4152900"/>
            <a:chExt cx="2971800" cy="228600"/>
          </a:xfrm>
        </p:grpSpPr>
        <p:sp>
          <p:nvSpPr>
            <p:cNvPr id="20" name="node15.text"/>
            <p:cNvSpPr/>
            <p:nvPr/>
          </p:nvSpPr>
          <p:spPr>
            <a:xfrm>
              <a:off x="4838700" y="4152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Results from comparable programs</a:t>
              </a:r>
              <a:endParaRPr lang="en-US" sz="1200" spc="0" kern="0" b="0" i="0" dirty="0">
                <a:solidFill>
                  <a:srgbClr val="50658E"/>
                </a:solidFill>
                <a:latin typeface="IBM Plex Sans"/>
                <a:ea typeface="IBM Plex Sans"/>
                <a:cs typeface="IBM Plex Sans"/>
              </a:endParaRPr>
            </a:p>
          </p:txBody>
        </p:sp>
      </p:grpSp>
      <p:grpSp>
        <p:nvGrpSpPr>
          <p:cNvPr id="52" name="node16"/>
          <p:cNvGrpSpPr/>
          <p:nvPr/>
        </p:nvGrpSpPr>
        <p:grpSpPr>
          <a:xfrm>
            <a:off x="4381500" y="4546600"/>
            <a:ext cx="381000" cy="304800"/>
            <a:chOff x="4381500" y="4546600"/>
            <a:chExt cx="381000" cy="304800"/>
          </a:xfrm>
        </p:grpSpPr>
        <p:sp>
          <p:nvSpPr>
            <p:cNvPr id="21" name="node16.text"/>
            <p:cNvSpPr/>
            <p:nvPr/>
          </p:nvSpPr>
          <p:spPr>
            <a:xfrm>
              <a:off x="4381500" y="45466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grpSp>
      <p:grpSp>
        <p:nvGrpSpPr>
          <p:cNvPr id="53" name="node17"/>
          <p:cNvGrpSpPr/>
          <p:nvPr/>
        </p:nvGrpSpPr>
        <p:grpSpPr>
          <a:xfrm>
            <a:off x="4838700" y="4546600"/>
            <a:ext cx="2971800" cy="304800"/>
            <a:chOff x="4838700" y="4546600"/>
            <a:chExt cx="2971800" cy="304800"/>
          </a:xfrm>
        </p:grpSpPr>
        <p:sp>
          <p:nvSpPr>
            <p:cNvPr id="22" name="node17.text"/>
            <p:cNvSpPr/>
            <p:nvPr/>
          </p:nvSpPr>
          <p:spPr>
            <a:xfrm>
              <a:off x="4838700" y="45466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Next steps</a:t>
              </a:r>
              <a:endParaRPr lang="en-US" sz="1800" spc="-18" kern="0" b="0" i="0" dirty="0">
                <a:solidFill>
                  <a:srgbClr val="070154"/>
                </a:solidFill>
                <a:latin typeface="IBM Plex Sans SemiBold"/>
                <a:ea typeface="IBM Plex Sans SemiBold"/>
                <a:cs typeface="IBM Plex Sans SemiBold"/>
              </a:endParaRPr>
            </a:p>
          </p:txBody>
        </p:sp>
      </p:grpSp>
      <p:grpSp>
        <p:nvGrpSpPr>
          <p:cNvPr id="54" name="node18"/>
          <p:cNvGrpSpPr/>
          <p:nvPr/>
        </p:nvGrpSpPr>
        <p:grpSpPr>
          <a:xfrm>
            <a:off x="4838700" y="4813300"/>
            <a:ext cx="2971800" cy="228600"/>
            <a:chOff x="4838700" y="4813300"/>
            <a:chExt cx="2971800" cy="228600"/>
          </a:xfrm>
        </p:grpSpPr>
        <p:sp>
          <p:nvSpPr>
            <p:cNvPr id="23" name="node18.text"/>
            <p:cNvSpPr/>
            <p:nvPr/>
          </p:nvSpPr>
          <p:spPr>
            <a:xfrm>
              <a:off x="4838700" y="4813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Decisions and first steps</a:t>
              </a:r>
              <a:endParaRPr lang="en-US" sz="1200" spc="0" kern="0" b="0" i="0" dirty="0">
                <a:solidFill>
                  <a:srgbClr val="50658E"/>
                </a:solidFill>
                <a:latin typeface="IBM Plex Sans"/>
                <a:ea typeface="IBM Plex Sans"/>
                <a:cs typeface="IBM Plex Sans"/>
              </a:endParaRPr>
            </a:p>
          </p:txBody>
        </p:sp>
      </p:grpSp>
      <p:grpSp>
        <p:nvGrpSpPr>
          <p:cNvPr id="55" name="node19"/>
          <p:cNvGrpSpPr/>
          <p:nvPr/>
        </p:nvGrpSpPr>
        <p:grpSpPr>
          <a:xfrm>
            <a:off x="8039100" y="1600200"/>
            <a:ext cx="3429000" cy="152400"/>
            <a:chOff x="8039100" y="1600200"/>
            <a:chExt cx="3429000" cy="152400"/>
          </a:xfrm>
        </p:grpSpPr>
        <p:sp>
          <p:nvSpPr>
            <p:cNvPr id="24" name="node19.text"/>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USE IT</a:t>
              </a:r>
              <a:endParaRPr lang="en-US" sz="1000" spc="80" kern="0" b="0" i="0" dirty="0">
                <a:solidFill>
                  <a:srgbClr val="0047FF"/>
                </a:solidFill>
                <a:latin typeface="IBM Plex Mono SemiBold"/>
                <a:ea typeface="IBM Plex Mono SemiBold"/>
                <a:cs typeface="IBM Plex Mono SemiBold"/>
              </a:endParaRPr>
            </a:p>
          </p:txBody>
        </p:sp>
      </p:grpSp>
      <p:grpSp>
        <p:nvGrpSpPr>
          <p:cNvPr id="56" name="node20"/>
          <p:cNvGrpSpPr/>
          <p:nvPr/>
        </p:nvGrpSpPr>
        <p:grpSpPr>
          <a:xfrm>
            <a:off x="8039100" y="1905000"/>
            <a:ext cx="3429000" cy="2095500"/>
            <a:chOff x="8039100" y="1905000"/>
            <a:chExt cx="3429000" cy="2095500"/>
          </a:xfrm>
        </p:grpSpPr>
        <p:sp>
          <p:nvSpPr>
            <p:cNvPr id="25" name="node20.source-001.number"/>
            <p:cNvSpPr/>
            <p:nvPr/>
          </p:nvSpPr>
          <p:spPr>
            <a:xfrm>
              <a:off x="8039100" y="1905000"/>
              <a:ext cx="228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1.</a:t>
              </a:r>
              <a:endParaRPr lang="en-US" sz="1400" spc="0" kern="0" b="0" i="0" dirty="0">
                <a:solidFill>
                  <a:srgbClr val="070154"/>
                </a:solidFill>
                <a:latin typeface="IBM Plex Sans"/>
                <a:ea typeface="IBM Plex Sans"/>
                <a:cs typeface="IBM Plex Sans"/>
              </a:endParaRPr>
            </a:p>
          </p:txBody>
        </p:sp>
        <p:sp>
          <p:nvSpPr>
            <p:cNvPr id="26" name="node20.source-001.text"/>
            <p:cNvSpPr/>
            <p:nvPr/>
          </p:nvSpPr>
          <p:spPr>
            <a:xfrm>
              <a:off x="8267700" y="1905000"/>
              <a:ext cx="3200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Start with the buyer and the reason to act.</a:t>
              </a:r>
              <a:endParaRPr lang="en-US" sz="1400" spc="0" kern="0" b="0" i="0" dirty="0">
                <a:solidFill>
                  <a:srgbClr val="070154"/>
                </a:solidFill>
                <a:latin typeface="IBM Plex Sans"/>
                <a:ea typeface="IBM Plex Sans"/>
                <a:cs typeface="IBM Plex Sans"/>
              </a:endParaRPr>
            </a:p>
          </p:txBody>
        </p:sp>
        <p:sp>
          <p:nvSpPr>
            <p:cNvPr id="27" name="node20.source-002.number"/>
            <p:cNvSpPr/>
            <p:nvPr/>
          </p:nvSpPr>
          <p:spPr>
            <a:xfrm>
              <a:off x="8039100" y="2514600"/>
              <a:ext cx="228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2.</a:t>
              </a:r>
              <a:endParaRPr lang="en-US" sz="1400" spc="0" kern="0" b="0" i="0" dirty="0">
                <a:solidFill>
                  <a:srgbClr val="070154"/>
                </a:solidFill>
                <a:latin typeface="IBM Plex Sans"/>
                <a:ea typeface="IBM Plex Sans"/>
                <a:cs typeface="IBM Plex Sans"/>
              </a:endParaRPr>
            </a:p>
          </p:txBody>
        </p:sp>
        <p:sp>
          <p:nvSpPr>
            <p:cNvPr id="28" name="node20.source-002.text"/>
            <p:cNvSpPr/>
            <p:nvPr/>
          </p:nvSpPr>
          <p:spPr>
            <a:xfrm>
              <a:off x="8267700" y="2514600"/>
              <a:ext cx="3200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Pick the sections that match the conversation.</a:t>
              </a:r>
              <a:endParaRPr lang="en-US" sz="1400" spc="0" kern="0" b="0" i="0" dirty="0">
                <a:solidFill>
                  <a:srgbClr val="070154"/>
                </a:solidFill>
                <a:latin typeface="IBM Plex Sans"/>
                <a:ea typeface="IBM Plex Sans"/>
                <a:cs typeface="IBM Plex Sans"/>
              </a:endParaRPr>
            </a:p>
          </p:txBody>
        </p:sp>
        <p:sp>
          <p:nvSpPr>
            <p:cNvPr id="29" name="node20.source-003.number"/>
            <p:cNvSpPr/>
            <p:nvPr/>
          </p:nvSpPr>
          <p:spPr>
            <a:xfrm>
              <a:off x="8039100" y="3124200"/>
              <a:ext cx="228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3.</a:t>
              </a:r>
              <a:endParaRPr lang="en-US" sz="1400" spc="0" kern="0" b="0" i="0" dirty="0">
                <a:solidFill>
                  <a:srgbClr val="070154"/>
                </a:solidFill>
                <a:latin typeface="IBM Plex Sans"/>
                <a:ea typeface="IBM Plex Sans"/>
                <a:cs typeface="IBM Plex Sans"/>
              </a:endParaRPr>
            </a:p>
          </p:txBody>
        </p:sp>
        <p:sp>
          <p:nvSpPr>
            <p:cNvPr id="30" name="node20.source-003.text"/>
            <p:cNvSpPr/>
            <p:nvPr/>
          </p:nvSpPr>
          <p:spPr>
            <a:xfrm>
              <a:off x="8267700" y="31242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Choose depth: one slide, or the full set.</a:t>
              </a:r>
              <a:endParaRPr lang="en-US" sz="1400" spc="0" kern="0" b="0" i="0" dirty="0">
                <a:solidFill>
                  <a:srgbClr val="070154"/>
                </a:solidFill>
                <a:latin typeface="IBM Plex Sans"/>
                <a:ea typeface="IBM Plex Sans"/>
                <a:cs typeface="IBM Plex Sans"/>
              </a:endParaRPr>
            </a:p>
          </p:txBody>
        </p:sp>
        <p:sp>
          <p:nvSpPr>
            <p:cNvPr id="31" name="node20.source-004.number"/>
            <p:cNvSpPr/>
            <p:nvPr/>
          </p:nvSpPr>
          <p:spPr>
            <a:xfrm>
              <a:off x="8039100" y="3467100"/>
              <a:ext cx="228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4.</a:t>
              </a:r>
              <a:endParaRPr lang="en-US" sz="1400" spc="0" kern="0" b="0" i="0" dirty="0">
                <a:solidFill>
                  <a:srgbClr val="070154"/>
                </a:solidFill>
                <a:latin typeface="IBM Plex Sans"/>
                <a:ea typeface="IBM Plex Sans"/>
                <a:cs typeface="IBM Plex Sans"/>
              </a:endParaRPr>
            </a:p>
          </p:txBody>
        </p:sp>
        <p:sp>
          <p:nvSpPr>
            <p:cNvPr id="32" name="node20.source-004.text"/>
            <p:cNvSpPr/>
            <p:nvPr/>
          </p:nvSpPr>
          <p:spPr>
            <a:xfrm>
              <a:off x="8267700" y="3467100"/>
              <a:ext cx="3200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with proof and one clear next step.</a:t>
              </a:r>
              <a:endParaRPr lang="en-US" sz="1400" spc="0" kern="0" b="0" i="0" dirty="0">
                <a:solidFill>
                  <a:srgbClr val="070154"/>
                </a:solidFill>
                <a:latin typeface="IBM Plex Sans"/>
                <a:ea typeface="IBM Plex Sans"/>
                <a:cs typeface="IBM Plex Sans"/>
              </a:endParaRPr>
            </a:p>
          </p:txBody>
        </p:sp>
      </p:grpSp>
      <p:grpSp>
        <p:nvGrpSpPr>
          <p:cNvPr id="57" name="node21"/>
          <p:cNvGrpSpPr/>
          <p:nvPr/>
        </p:nvGrpSpPr>
        <p:grpSpPr>
          <a:xfrm>
            <a:off x="723900" y="5257800"/>
            <a:ext cx="10744200" cy="457200"/>
            <a:chOff x="723900" y="5257800"/>
            <a:chExt cx="10744200" cy="457200"/>
          </a:xfrm>
        </p:grpSpPr>
        <p:sp>
          <p:nvSpPr>
            <p:cNvPr id="33" name="node21.surface"/>
            <p:cNvSpPr/>
            <p:nvPr/>
          </p:nvSpPr>
          <p:spPr>
            <a:xfrm>
              <a:off x="723900" y="5257800"/>
              <a:ext cx="10744200" cy="457200"/>
            </a:xfrm>
            <a:prstGeom prst="rect">
              <a:avLst/>
            </a:prstGeom>
            <a:solidFill>
              <a:srgbClr val="E8EEF8"/>
            </a:solidFill>
            <a:ln>
              <a:noFill/>
            </a:ln>
          </p:spPr>
        </p:sp>
        <p:sp>
          <p:nvSpPr>
            <p:cNvPr id="34" name="node21.text"/>
            <p:cNvSpPr/>
            <p:nvPr/>
          </p:nvSpPr>
          <p:spPr>
            <a:xfrm>
              <a:off x="876300" y="5410200"/>
              <a:ext cx="1043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INTERNAL USE ONLY: REMOVE THIS GUIDE AND EVERY SECTION GUIDE BEFORE SHARING THE DECK EXTERNALLY.</a:t>
              </a:r>
              <a:endParaRPr lang="en-US" sz="900" spc="54" kern="0" b="0" i="0" dirty="0">
                <a:solidFill>
                  <a:srgbClr val="070154"/>
                </a:solidFill>
                <a:latin typeface="IBM Plex Mono Medium"/>
                <a:ea typeface="IBM Plex Mono Medium"/>
                <a:cs typeface="IBM Plex Mono Medium"/>
              </a:endParaRPr>
            </a:p>
          </p:txBody>
        </p:sp>
      </p:grpSp>
      <p:grpSp>
        <p:nvGrpSpPr>
          <p:cNvPr id="58" name="wm.library-stamp"/>
          <p:cNvGrpSpPr/>
          <p:nvPr/>
        </p:nvGrpSpPr>
        <p:grpSpPr>
          <a:xfrm>
            <a:off x="10195074" y="419100"/>
            <a:ext cx="1273026" cy="228600"/>
            <a:chOff x="10195074" y="419100"/>
            <a:chExt cx="1273026" cy="228600"/>
          </a:xfrm>
        </p:grpSpPr>
        <p:sp>
          <p:nvSpPr>
            <p:cNvPr id="35" name="wm.library-stamp.outline"/>
            <p:cNvSpPr/>
            <p:nvPr/>
          </p:nvSpPr>
          <p:spPr>
            <a:xfrm>
              <a:off x="10195074" y="419100"/>
              <a:ext cx="1273026" cy="228600"/>
            </a:xfrm>
            <a:prstGeom prst="rect">
              <a:avLst/>
            </a:prstGeom>
            <a:ln w="9525">
              <a:solidFill>
                <a:srgbClr val="070154"/>
              </a:solidFill>
              <a:prstDash val="solid"/>
            </a:ln>
          </p:spPr>
        </p:sp>
        <p:sp>
          <p:nvSpPr>
            <p:cNvPr id="36" name="wm.library-stamp.text"/>
            <p:cNvSpPr/>
            <p:nvPr/>
          </p:nvSpPr>
          <p:spPr>
            <a:xfrm>
              <a:off x="10271274" y="457200"/>
              <a:ext cx="1120626" cy="152400"/>
            </a:xfrm>
            <a:prstGeom prst="rect">
              <a:avLst/>
            </a:prstGeom>
            <a:noFill/>
            <a:ln/>
          </p:spPr>
          <p:txBody>
            <a:bodyPr wrap="square" lIns="0" tIns="0" rIns="0" bIns="0" rtlCol="0" anchor="t"/>
            <a:lstStyle/>
            <a:p>
              <a:pPr algn="l" indent="0" marL="0">
                <a:lnSpc>
                  <a:spcPts val="1200"/>
                </a:lnSpc>
                <a:buNone/>
              </a:pPr>
              <a:r>
                <a:rPr lang="en-US" sz="800" spc="64" kern="0" b="0" i="0" dirty="0">
                  <a:solidFill>
                    <a:srgbClr val="070154"/>
                  </a:solidFill>
                  <a:latin typeface="IBM Plex Mono SemiBold"/>
                  <a:ea typeface="IBM Plex Mono SemiBold"/>
                  <a:cs typeface="IBM Plex Mono SemiBold"/>
                </a:rPr>
                <a:t>FOR INTERNAL USE</a:t>
              </a:r>
              <a:endParaRPr lang="en-US" sz="800" spc="64" kern="0" b="0" i="0" dirty="0">
                <a:solidFill>
                  <a:srgbClr val="070154"/>
                </a:solidFill>
                <a:latin typeface="IBM Plex Mono SemiBold"/>
                <a:ea typeface="IBM Plex Mono SemiBold"/>
                <a:cs typeface="IBM Plex Mono SemiBold"/>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ource-56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constraints decide how we answer the ask</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content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1600200"/>
            <a:ext cx="3429000" cy="1828800"/>
            <a:chOff x="723900" y="1600200"/>
            <a:chExt cx="3429000" cy="1828800"/>
          </a:xfrm>
        </p:grpSpPr>
        <p:sp>
          <p:nvSpPr>
            <p:cNvPr id="7" name="node01.container"/>
            <p:cNvSpPr/>
            <p:nvPr/>
          </p:nvSpPr>
          <p:spPr>
            <a:xfrm>
              <a:off x="723900" y="1600200"/>
              <a:ext cx="3429000" cy="1828800"/>
            </a:xfrm>
            <a:prstGeom prst="rect">
              <a:avLst/>
            </a:prstGeom>
            <a:solidFill>
              <a:srgbClr val="E8EEF8"/>
            </a:solidFill>
            <a:ln>
              <a:noFill/>
            </a:ln>
          </p:spPr>
        </p:sp>
        <p:sp>
          <p:nvSpPr>
            <p:cNvPr id="8" name="node01.label"/>
            <p:cNvSpPr/>
            <p:nvPr/>
          </p:nvSpPr>
          <p:spPr>
            <a:xfrm>
              <a:off x="8763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TIMELINE</a:t>
              </a:r>
              <a:endParaRPr lang="en-US" sz="800" spc="48" kern="0" b="0" i="0" dirty="0">
                <a:solidFill>
                  <a:srgbClr val="0047FF"/>
                </a:solidFill>
                <a:latin typeface="IBM Plex Mono Medium"/>
                <a:ea typeface="IBM Plex Mono Medium"/>
                <a:cs typeface="IBM Plex Mono Medium"/>
              </a:endParaRPr>
            </a:p>
          </p:txBody>
        </p:sp>
        <p:sp>
          <p:nvSpPr>
            <p:cNvPr id="9" name="node01.title"/>
            <p:cNvSpPr/>
            <p:nvPr/>
          </p:nvSpPr>
          <p:spPr>
            <a:xfrm>
              <a:off x="876300" y="19685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EHR go-live in Q3</a:t>
              </a:r>
              <a:endParaRPr lang="en-US" sz="1600" spc="-16" kern="0" b="0" i="0" dirty="0">
                <a:solidFill>
                  <a:srgbClr val="070154"/>
                </a:solidFill>
                <a:latin typeface="IBM Plex Sans SemiBold"/>
                <a:ea typeface="IBM Plex Sans SemiBold"/>
                <a:cs typeface="IBM Plex Sans SemiBold"/>
              </a:endParaRPr>
            </a:p>
          </p:txBody>
        </p:sp>
        <p:sp>
          <p:nvSpPr>
            <p:cNvPr id="10" name="node01.body.item-001.paragraph"/>
            <p:cNvSpPr/>
            <p:nvPr/>
          </p:nvSpPr>
          <p:spPr>
            <a:xfrm>
              <a:off x="876300" y="2387600"/>
              <a:ext cx="31242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Access workflows must be ready for cutover, which leaves about nine months to design and train.</a:t>
              </a:r>
              <a:endParaRPr lang="en-US" sz="1200" spc="0" kern="0" b="0" i="0" dirty="0">
                <a:solidFill>
                  <a:srgbClr val="50658E"/>
                </a:solidFill>
                <a:latin typeface="IBM Plex Sans"/>
                <a:ea typeface="IBM Plex Sans"/>
                <a:cs typeface="IBM Plex Sans"/>
              </a:endParaRPr>
            </a:p>
          </p:txBody>
        </p:sp>
      </p:grpSp>
      <p:grpSp>
        <p:nvGrpSpPr>
          <p:cNvPr id="34" name="node02"/>
          <p:cNvGrpSpPr/>
          <p:nvPr/>
        </p:nvGrpSpPr>
        <p:grpSpPr>
          <a:xfrm>
            <a:off x="723900" y="3657600"/>
            <a:ext cx="3429000" cy="1828800"/>
            <a:chOff x="723900" y="3657600"/>
            <a:chExt cx="3429000" cy="1828800"/>
          </a:xfrm>
        </p:grpSpPr>
        <p:sp>
          <p:nvSpPr>
            <p:cNvPr id="11" name="node02.container"/>
            <p:cNvSpPr/>
            <p:nvPr/>
          </p:nvSpPr>
          <p:spPr>
            <a:xfrm>
              <a:off x="723900" y="3657600"/>
              <a:ext cx="3429000" cy="1828800"/>
            </a:xfrm>
            <a:prstGeom prst="rect">
              <a:avLst/>
            </a:prstGeom>
            <a:solidFill>
              <a:srgbClr val="E8EEF8"/>
            </a:solidFill>
            <a:ln>
              <a:noFill/>
            </a:ln>
          </p:spPr>
        </p:sp>
        <p:sp>
          <p:nvSpPr>
            <p:cNvPr id="12" name="node02.label"/>
            <p:cNvSpPr/>
            <p:nvPr/>
          </p:nvSpPr>
          <p:spPr>
            <a:xfrm>
              <a:off x="876300" y="38100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BUDGET</a:t>
              </a:r>
              <a:endParaRPr lang="en-US" sz="800" spc="48" kern="0" b="0" i="0" dirty="0">
                <a:solidFill>
                  <a:srgbClr val="0047FF"/>
                </a:solidFill>
                <a:latin typeface="IBM Plex Mono Medium"/>
                <a:ea typeface="IBM Plex Mono Medium"/>
                <a:cs typeface="IBM Plex Mono Medium"/>
              </a:endParaRPr>
            </a:p>
          </p:txBody>
        </p:sp>
        <p:sp>
          <p:nvSpPr>
            <p:cNvPr id="13" name="node02.title"/>
            <p:cNvSpPr/>
            <p:nvPr/>
          </p:nvSpPr>
          <p:spPr>
            <a:xfrm>
              <a:off x="876300" y="40259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Funded in two phases</a:t>
              </a:r>
              <a:endParaRPr lang="en-US" sz="1600" spc="-16" kern="0" b="0" i="0" dirty="0">
                <a:solidFill>
                  <a:srgbClr val="070154"/>
                </a:solidFill>
                <a:latin typeface="IBM Plex Sans SemiBold"/>
                <a:ea typeface="IBM Plex Sans SemiBold"/>
                <a:cs typeface="IBM Plex Sans SemiBold"/>
              </a:endParaRPr>
            </a:p>
          </p:txBody>
        </p:sp>
        <p:sp>
          <p:nvSpPr>
            <p:cNvPr id="14" name="node02.body.item-001.paragraph"/>
            <p:cNvSpPr/>
            <p:nvPr/>
          </p:nvSpPr>
          <p:spPr>
            <a:xfrm>
              <a:off x="876300" y="44450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Phase one is capped at the FY27 capital line; phase two depends on measured results.</a:t>
              </a:r>
              <a:endParaRPr lang="en-US" sz="1200" spc="0" kern="0" b="0" i="0" dirty="0">
                <a:solidFill>
                  <a:srgbClr val="50658E"/>
                </a:solidFill>
                <a:latin typeface="IBM Plex Sans"/>
                <a:ea typeface="IBM Plex Sans"/>
                <a:cs typeface="IBM Plex Sans"/>
              </a:endParaRPr>
            </a:p>
          </p:txBody>
        </p:sp>
      </p:grpSp>
      <p:grpSp>
        <p:nvGrpSpPr>
          <p:cNvPr id="35" name="node03"/>
          <p:cNvGrpSpPr/>
          <p:nvPr/>
        </p:nvGrpSpPr>
        <p:grpSpPr>
          <a:xfrm>
            <a:off x="4381500" y="1600200"/>
            <a:ext cx="3429000" cy="3886200"/>
            <a:chOff x="4381500" y="1600200"/>
            <a:chExt cx="3429000" cy="3886200"/>
          </a:xfrm>
        </p:grpSpPr>
        <p:sp>
          <p:nvSpPr>
            <p:cNvPr id="15" name="node03.container"/>
            <p:cNvSpPr/>
            <p:nvPr/>
          </p:nvSpPr>
          <p:spPr>
            <a:xfrm>
              <a:off x="4381500" y="1600200"/>
              <a:ext cx="3429000" cy="3886200"/>
            </a:xfrm>
            <a:prstGeom prst="rect">
              <a:avLst/>
            </a:prstGeom>
            <a:solidFill>
              <a:srgbClr val="070154"/>
            </a:solidFill>
            <a:ln>
              <a:noFill/>
            </a:ln>
          </p:spPr>
        </p:sp>
        <p:sp>
          <p:nvSpPr>
            <p:cNvPr id="16" name="node03.label"/>
            <p:cNvSpPr/>
            <p:nvPr/>
          </p:nvSpPr>
          <p:spPr>
            <a:xfrm>
              <a:off x="4610100" y="18288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THE ASK</a:t>
              </a:r>
              <a:endParaRPr lang="en-US" sz="800" spc="48" kern="0" b="0" i="0" dirty="0">
                <a:solidFill>
                  <a:srgbClr val="F900D3"/>
                </a:solidFill>
                <a:latin typeface="IBM Plex Mono Medium"/>
                <a:ea typeface="IBM Plex Mono Medium"/>
                <a:cs typeface="IBM Plex Mono Medium"/>
              </a:endParaRPr>
            </a:p>
          </p:txBody>
        </p:sp>
        <p:sp>
          <p:nvSpPr>
            <p:cNvPr id="17" name="node03.title"/>
            <p:cNvSpPr/>
            <p:nvPr/>
          </p:nvSpPr>
          <p:spPr>
            <a:xfrm>
              <a:off x="4610100" y="2044700"/>
              <a:ext cx="29718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One access and revenue cycle design</a:t>
              </a:r>
              <a:endParaRPr lang="en-US" sz="1600" spc="-16" kern="0" b="0" i="0" dirty="0">
                <a:solidFill>
                  <a:srgbClr val="FFFFFF"/>
                </a:solidFill>
                <a:latin typeface="IBM Plex Sans SemiBold"/>
                <a:ea typeface="IBM Plex Sans SemiBold"/>
                <a:cs typeface="IBM Plex Sans SemiBold"/>
              </a:endParaRPr>
            </a:p>
          </p:txBody>
        </p:sp>
        <p:sp>
          <p:nvSpPr>
            <p:cNvPr id="18" name="node03.body.item-001.paragraph"/>
            <p:cNvSpPr/>
            <p:nvPr/>
          </p:nvSpPr>
          <p:spPr>
            <a:xfrm>
              <a:off x="4610100" y="2730500"/>
              <a:ext cx="29718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Join scheduling, registration, estimates, claims and denials into one design that Northfield can run, measure and extend.</a:t>
              </a:r>
              <a:endParaRPr lang="en-US" sz="1200" spc="0" kern="0" b="0" i="0" dirty="0">
                <a:solidFill>
                  <a:srgbClr val="CED7E6"/>
                </a:solidFill>
                <a:latin typeface="IBM Plex Sans"/>
                <a:ea typeface="IBM Plex Sans"/>
                <a:cs typeface="IBM Plex Sans"/>
              </a:endParaRPr>
            </a:p>
          </p:txBody>
        </p:sp>
        <p:sp>
          <p:nvSpPr>
            <p:cNvPr id="19" name="node03.body.item-002.bullets.item-001.marker"/>
            <p:cNvSpPr/>
            <p:nvPr/>
          </p:nvSpPr>
          <p:spPr>
            <a:xfrm>
              <a:off x="4610100" y="3543300"/>
              <a:ext cx="38100" cy="38100"/>
            </a:xfrm>
            <a:prstGeom prst="rect">
              <a:avLst/>
            </a:prstGeom>
            <a:solidFill>
              <a:srgbClr val="FFFFFF"/>
            </a:solidFill>
            <a:ln>
              <a:noFill/>
            </a:ln>
          </p:spPr>
        </p:sp>
        <p:sp>
          <p:nvSpPr>
            <p:cNvPr id="20" name="node03.body.item-002.bullets.item-001.text"/>
            <p:cNvSpPr/>
            <p:nvPr/>
          </p:nvSpPr>
          <p:spPr>
            <a:xfrm>
              <a:off x="4762500" y="34544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Seven hospitals</a:t>
              </a:r>
              <a:endParaRPr lang="en-US" sz="1200" spc="0" kern="0" b="0" i="0" dirty="0">
                <a:solidFill>
                  <a:srgbClr val="FFFFFF"/>
                </a:solidFill>
                <a:latin typeface="IBM Plex Sans"/>
                <a:ea typeface="IBM Plex Sans"/>
                <a:cs typeface="IBM Plex Sans"/>
              </a:endParaRPr>
            </a:p>
          </p:txBody>
        </p:sp>
        <p:sp>
          <p:nvSpPr>
            <p:cNvPr id="21" name="node03.body.item-002.bullets.item-002.marker"/>
            <p:cNvSpPr/>
            <p:nvPr/>
          </p:nvSpPr>
          <p:spPr>
            <a:xfrm>
              <a:off x="4610100" y="3797300"/>
              <a:ext cx="38100" cy="38100"/>
            </a:xfrm>
            <a:prstGeom prst="rect">
              <a:avLst/>
            </a:prstGeom>
            <a:solidFill>
              <a:srgbClr val="FFFFFF"/>
            </a:solidFill>
            <a:ln>
              <a:noFill/>
            </a:ln>
          </p:spPr>
        </p:sp>
        <p:sp>
          <p:nvSpPr>
            <p:cNvPr id="22" name="node03.body.item-002.bullets.item-002.text"/>
            <p:cNvSpPr/>
            <p:nvPr/>
          </p:nvSpPr>
          <p:spPr>
            <a:xfrm>
              <a:off x="4762500" y="37084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64 clinics</a:t>
              </a:r>
              <a:endParaRPr lang="en-US" sz="1200" spc="0" kern="0" b="0" i="0" dirty="0">
                <a:solidFill>
                  <a:srgbClr val="FFFFFF"/>
                </a:solidFill>
                <a:latin typeface="IBM Plex Sans"/>
                <a:ea typeface="IBM Plex Sans"/>
                <a:cs typeface="IBM Plex Sans"/>
              </a:endParaRPr>
            </a:p>
          </p:txBody>
        </p:sp>
        <p:sp>
          <p:nvSpPr>
            <p:cNvPr id="23" name="node03.body.item-002.bullets.item-003.marker"/>
            <p:cNvSpPr/>
            <p:nvPr/>
          </p:nvSpPr>
          <p:spPr>
            <a:xfrm>
              <a:off x="4610100" y="4051300"/>
              <a:ext cx="38100" cy="38100"/>
            </a:xfrm>
            <a:prstGeom prst="rect">
              <a:avLst/>
            </a:prstGeom>
            <a:solidFill>
              <a:srgbClr val="FFFFFF"/>
            </a:solidFill>
            <a:ln>
              <a:noFill/>
            </a:ln>
          </p:spPr>
        </p:sp>
        <p:sp>
          <p:nvSpPr>
            <p:cNvPr id="24" name="node03.body.item-002.bullets.item-003.text"/>
            <p:cNvSpPr/>
            <p:nvPr/>
          </p:nvSpPr>
          <p:spPr>
            <a:xfrm>
              <a:off x="4762500" y="39624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Three scheduling tools</a:t>
              </a:r>
              <a:endParaRPr lang="en-US" sz="1200" spc="0" kern="0" b="0" i="0" dirty="0">
                <a:solidFill>
                  <a:srgbClr val="FFFFFF"/>
                </a:solidFill>
                <a:latin typeface="IBM Plex Sans"/>
                <a:ea typeface="IBM Plex Sans"/>
                <a:cs typeface="IBM Plex Sans"/>
              </a:endParaRPr>
            </a:p>
          </p:txBody>
        </p:sp>
      </p:grpSp>
      <p:grpSp>
        <p:nvGrpSpPr>
          <p:cNvPr id="36" name="node04"/>
          <p:cNvGrpSpPr/>
          <p:nvPr/>
        </p:nvGrpSpPr>
        <p:grpSpPr>
          <a:xfrm>
            <a:off x="8039100" y="1600200"/>
            <a:ext cx="3429000" cy="1828800"/>
            <a:chOff x="8039100" y="1600200"/>
            <a:chExt cx="3429000" cy="1828800"/>
          </a:xfrm>
        </p:grpSpPr>
        <p:sp>
          <p:nvSpPr>
            <p:cNvPr id="25" name="node04.container"/>
            <p:cNvSpPr/>
            <p:nvPr/>
          </p:nvSpPr>
          <p:spPr>
            <a:xfrm>
              <a:off x="8039100" y="1600200"/>
              <a:ext cx="3429000" cy="1828800"/>
            </a:xfrm>
            <a:prstGeom prst="rect">
              <a:avLst/>
            </a:prstGeom>
            <a:solidFill>
              <a:srgbClr val="E8EEF8"/>
            </a:solidFill>
            <a:ln>
              <a:noFill/>
            </a:ln>
          </p:spPr>
        </p:sp>
        <p:sp>
          <p:nvSpPr>
            <p:cNvPr id="26" name="node04.label"/>
            <p:cNvSpPr/>
            <p:nvPr/>
          </p:nvSpPr>
          <p:spPr>
            <a:xfrm>
              <a:off x="81915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REGULATORY</a:t>
              </a:r>
              <a:endParaRPr lang="en-US" sz="800" spc="48" kern="0" b="0" i="0" dirty="0">
                <a:solidFill>
                  <a:srgbClr val="0047FF"/>
                </a:solidFill>
                <a:latin typeface="IBM Plex Mono Medium"/>
                <a:ea typeface="IBM Plex Mono Medium"/>
                <a:cs typeface="IBM Plex Mono Medium"/>
              </a:endParaRPr>
            </a:p>
          </p:txBody>
        </p:sp>
        <p:sp>
          <p:nvSpPr>
            <p:cNvPr id="27" name="node04.title"/>
            <p:cNvSpPr/>
            <p:nvPr/>
          </p:nvSpPr>
          <p:spPr>
            <a:xfrm>
              <a:off x="8191500" y="19685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No Surprises Act, HIPAA</a:t>
              </a:r>
              <a:endParaRPr lang="en-US" sz="1600" spc="-16" kern="0" b="0" i="0" dirty="0">
                <a:solidFill>
                  <a:srgbClr val="070154"/>
                </a:solidFill>
                <a:latin typeface="IBM Plex Sans SemiBold"/>
                <a:ea typeface="IBM Plex Sans SemiBold"/>
                <a:cs typeface="IBM Plex Sans SemiBold"/>
              </a:endParaRPr>
            </a:p>
          </p:txBody>
        </p:sp>
        <p:sp>
          <p:nvSpPr>
            <p:cNvPr id="28" name="node04.body.item-001.paragraph"/>
            <p:cNvSpPr/>
            <p:nvPr/>
          </p:nvSpPr>
          <p:spPr>
            <a:xfrm>
              <a:off x="8191500" y="23876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Good faith estimates and consent must work in the new flow from the first day.</a:t>
              </a:r>
              <a:endParaRPr lang="en-US" sz="1200" spc="0" kern="0" b="0" i="0" dirty="0">
                <a:solidFill>
                  <a:srgbClr val="50658E"/>
                </a:solidFill>
                <a:latin typeface="IBM Plex Sans"/>
                <a:ea typeface="IBM Plex Sans"/>
                <a:cs typeface="IBM Plex Sans"/>
              </a:endParaRPr>
            </a:p>
          </p:txBody>
        </p:sp>
      </p:grpSp>
      <p:grpSp>
        <p:nvGrpSpPr>
          <p:cNvPr id="37" name="node05"/>
          <p:cNvGrpSpPr/>
          <p:nvPr/>
        </p:nvGrpSpPr>
        <p:grpSpPr>
          <a:xfrm>
            <a:off x="8039100" y="3657600"/>
            <a:ext cx="3429000" cy="1828800"/>
            <a:chOff x="8039100" y="3657600"/>
            <a:chExt cx="3429000" cy="1828800"/>
          </a:xfrm>
        </p:grpSpPr>
        <p:sp>
          <p:nvSpPr>
            <p:cNvPr id="29" name="node05.container"/>
            <p:cNvSpPr/>
            <p:nvPr/>
          </p:nvSpPr>
          <p:spPr>
            <a:xfrm>
              <a:off x="8039100" y="3657600"/>
              <a:ext cx="3429000" cy="1828800"/>
            </a:xfrm>
            <a:prstGeom prst="rect">
              <a:avLst/>
            </a:prstGeom>
            <a:solidFill>
              <a:srgbClr val="E8EEF8"/>
            </a:solidFill>
            <a:ln>
              <a:noFill/>
            </a:ln>
          </p:spPr>
        </p:sp>
        <p:sp>
          <p:nvSpPr>
            <p:cNvPr id="30" name="node05.label"/>
            <p:cNvSpPr/>
            <p:nvPr/>
          </p:nvSpPr>
          <p:spPr>
            <a:xfrm>
              <a:off x="8191500" y="38100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SYSTEMS</a:t>
              </a:r>
              <a:endParaRPr lang="en-US" sz="800" spc="48" kern="0" b="0" i="0" dirty="0">
                <a:solidFill>
                  <a:srgbClr val="0047FF"/>
                </a:solidFill>
                <a:latin typeface="IBM Plex Mono Medium"/>
                <a:ea typeface="IBM Plex Mono Medium"/>
                <a:cs typeface="IBM Plex Mono Medium"/>
              </a:endParaRPr>
            </a:p>
          </p:txBody>
        </p:sp>
        <p:sp>
          <p:nvSpPr>
            <p:cNvPr id="31" name="node05.title"/>
            <p:cNvSpPr/>
            <p:nvPr/>
          </p:nvSpPr>
          <p:spPr>
            <a:xfrm>
              <a:off x="8191500" y="40259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Three tools, one EHR</a:t>
              </a:r>
              <a:endParaRPr lang="en-US" sz="1600" spc="-16" kern="0" b="0" i="0" dirty="0">
                <a:solidFill>
                  <a:srgbClr val="070154"/>
                </a:solidFill>
                <a:latin typeface="IBM Plex Sans SemiBold"/>
                <a:ea typeface="IBM Plex Sans SemiBold"/>
                <a:cs typeface="IBM Plex Sans SemiBold"/>
              </a:endParaRPr>
            </a:p>
          </p:txBody>
        </p:sp>
        <p:sp>
          <p:nvSpPr>
            <p:cNvPr id="32" name="node05.body.item-001.paragraph"/>
            <p:cNvSpPr/>
            <p:nvPr/>
          </p:nvSpPr>
          <p:spPr>
            <a:xfrm>
              <a:off x="8191500" y="44450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Two legacy schedulers retire; interfaces to the clearinghouse and EHR stay stable.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ource-562">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Our understanding on one page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and figures for layout only; replace with engagement stakeholders and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9</a:t>
            </a:fld>
            <a:endParaRPr lang="en-US" sz="700" spc="0" kern="0" b="0" i="0" dirty="0">
              <a:solidFill>
                <a:srgbClr val="FFFFFF"/>
              </a:solidFill>
              <a:latin typeface="IBM Plex Mono SemiBold"/>
              <a:ea typeface="IBM Plex Mono SemiBold"/>
              <a:cs typeface="IBM Plex Mono SemiBold"/>
            </a:endParaRPr>
          </a:p>
        </p:txBody>
      </p:sp>
      <p:grpSp>
        <p:nvGrpSpPr>
          <p:cNvPr id="82" name="node01"/>
          <p:cNvGrpSpPr/>
          <p:nvPr/>
        </p:nvGrpSpPr>
        <p:grpSpPr>
          <a:xfrm>
            <a:off x="723900" y="1600200"/>
            <a:ext cx="3429000" cy="228600"/>
            <a:chOff x="723900" y="1600200"/>
            <a:chExt cx="3429000" cy="228600"/>
          </a:xfrm>
        </p:grpSpPr>
        <p:sp>
          <p:nvSpPr>
            <p:cNvPr id="7" name="node01.label"/>
            <p:cNvSpPr/>
            <p:nvPr/>
          </p:nvSpPr>
          <p:spPr>
            <a:xfrm>
              <a:off x="723900" y="1600200"/>
              <a:ext cx="490345"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CONTEXT</a:t>
              </a:r>
              <a:endParaRPr lang="en-US" sz="800" spc="48" kern="0" b="0" i="0" dirty="0">
                <a:solidFill>
                  <a:srgbClr val="50658E"/>
                </a:solidFill>
                <a:latin typeface="IBM Plex Mono Medium"/>
                <a:ea typeface="IBM Plex Mono Medium"/>
                <a:cs typeface="IBM Plex Mono Medium"/>
              </a:endParaRPr>
            </a:p>
          </p:txBody>
        </p:sp>
        <p:sp>
          <p:nvSpPr>
            <p:cNvPr id="8" name="node01.rule"/>
            <p:cNvSpPr/>
            <p:nvPr/>
          </p:nvSpPr>
          <p:spPr>
            <a:xfrm>
              <a:off x="1341245" y="1709738"/>
              <a:ext cx="2811655" cy="9525"/>
            </a:xfrm>
            <a:prstGeom prst="rect">
              <a:avLst/>
            </a:prstGeom>
            <a:solidFill>
              <a:srgbClr val="CED7E6"/>
            </a:solidFill>
            <a:ln>
              <a:noFill/>
            </a:ln>
          </p:spPr>
        </p:sp>
      </p:grpSp>
      <p:sp>
        <p:nvSpPr>
          <p:cNvPr id="9" name="node02"/>
          <p:cNvSpPr/>
          <p:nvPr/>
        </p:nvSpPr>
        <p:spPr>
          <a:xfrm>
            <a:off x="723900" y="1828800"/>
            <a:ext cx="3429000" cy="9525"/>
          </a:xfrm>
          <a:prstGeom prst="rect">
            <a:avLst/>
          </a:prstGeom>
          <a:solidFill>
            <a:srgbClr val="CED7E6"/>
          </a:solidFill>
          <a:ln>
            <a:noFill/>
          </a:ln>
        </p:spPr>
      </p:sp>
      <p:grpSp>
        <p:nvGrpSpPr>
          <p:cNvPr id="83" name="node03"/>
          <p:cNvGrpSpPr/>
          <p:nvPr/>
        </p:nvGrpSpPr>
        <p:grpSpPr>
          <a:xfrm>
            <a:off x="723900" y="1981200"/>
            <a:ext cx="3429000" cy="1231900"/>
            <a:chOff x="723900" y="1981200"/>
            <a:chExt cx="3429000" cy="1231900"/>
          </a:xfrm>
        </p:grpSpPr>
        <p:sp>
          <p:nvSpPr>
            <p:cNvPr id="10" name="node03.source-001.bullet"/>
            <p:cNvSpPr/>
            <p:nvPr/>
          </p:nvSpPr>
          <p:spPr>
            <a:xfrm>
              <a:off x="723900" y="2070100"/>
              <a:ext cx="38100" cy="38100"/>
            </a:xfrm>
            <a:prstGeom prst="rect">
              <a:avLst/>
            </a:prstGeom>
            <a:solidFill>
              <a:srgbClr val="070154"/>
            </a:solidFill>
            <a:ln>
              <a:noFill/>
            </a:ln>
          </p:spPr>
        </p:sp>
        <p:sp>
          <p:nvSpPr>
            <p:cNvPr id="11" name="node03.source-001.text"/>
            <p:cNvSpPr/>
            <p:nvPr/>
          </p:nvSpPr>
          <p:spPr>
            <a:xfrm>
              <a:off x="876300" y="1981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Seven hospitals, 64 clinics, three schedulers</a:t>
              </a:r>
              <a:endParaRPr lang="en-US" sz="1200" spc="0" kern="0" b="0" i="0" dirty="0">
                <a:solidFill>
                  <a:srgbClr val="070154"/>
                </a:solidFill>
                <a:latin typeface="IBM Plex Sans"/>
                <a:ea typeface="IBM Plex Sans"/>
                <a:cs typeface="IBM Plex Sans"/>
              </a:endParaRPr>
            </a:p>
          </p:txBody>
        </p:sp>
        <p:sp>
          <p:nvSpPr>
            <p:cNvPr id="12" name="node03.source-002.bullet"/>
            <p:cNvSpPr/>
            <p:nvPr/>
          </p:nvSpPr>
          <p:spPr>
            <a:xfrm>
              <a:off x="723900" y="2324100"/>
              <a:ext cx="38100" cy="38100"/>
            </a:xfrm>
            <a:prstGeom prst="rect">
              <a:avLst/>
            </a:prstGeom>
            <a:solidFill>
              <a:srgbClr val="070154"/>
            </a:solidFill>
            <a:ln>
              <a:noFill/>
            </a:ln>
          </p:spPr>
        </p:sp>
        <p:sp>
          <p:nvSpPr>
            <p:cNvPr id="13" name="node03.source-002.text"/>
            <p:cNvSpPr/>
            <p:nvPr/>
          </p:nvSpPr>
          <p:spPr>
            <a:xfrm>
              <a:off x="876300" y="2235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Three acquisitions in four years</a:t>
              </a:r>
              <a:endParaRPr lang="en-US" sz="1200" spc="0" kern="0" b="0" i="0" dirty="0">
                <a:solidFill>
                  <a:srgbClr val="070154"/>
                </a:solidFill>
                <a:latin typeface="IBM Plex Sans"/>
                <a:ea typeface="IBM Plex Sans"/>
                <a:cs typeface="IBM Plex Sans"/>
              </a:endParaRPr>
            </a:p>
          </p:txBody>
        </p:sp>
        <p:sp>
          <p:nvSpPr>
            <p:cNvPr id="14" name="node03.source-003.bullet"/>
            <p:cNvSpPr/>
            <p:nvPr/>
          </p:nvSpPr>
          <p:spPr>
            <a:xfrm>
              <a:off x="723900" y="2578100"/>
              <a:ext cx="38100" cy="38100"/>
            </a:xfrm>
            <a:prstGeom prst="rect">
              <a:avLst/>
            </a:prstGeom>
            <a:solidFill>
              <a:srgbClr val="070154"/>
            </a:solidFill>
            <a:ln>
              <a:noFill/>
            </a:ln>
          </p:spPr>
        </p:sp>
        <p:sp>
          <p:nvSpPr>
            <p:cNvPr id="15" name="node03.source-003.text"/>
            <p:cNvSpPr/>
            <p:nvPr/>
          </p:nvSpPr>
          <p:spPr>
            <a:xfrm>
              <a:off x="876300" y="2489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EHR go-live in Q3 next year</a:t>
              </a:r>
              <a:endParaRPr lang="en-US" sz="1200" spc="0" kern="0" b="0" i="0" dirty="0">
                <a:solidFill>
                  <a:srgbClr val="070154"/>
                </a:solidFill>
                <a:latin typeface="IBM Plex Sans"/>
                <a:ea typeface="IBM Plex Sans"/>
                <a:cs typeface="IBM Plex Sans"/>
              </a:endParaRPr>
            </a:p>
          </p:txBody>
        </p:sp>
        <p:sp>
          <p:nvSpPr>
            <p:cNvPr id="16" name="node03.source-004.bullet"/>
            <p:cNvSpPr/>
            <p:nvPr/>
          </p:nvSpPr>
          <p:spPr>
            <a:xfrm>
              <a:off x="723900" y="2832100"/>
              <a:ext cx="38100" cy="38100"/>
            </a:xfrm>
            <a:prstGeom prst="rect">
              <a:avLst/>
            </a:prstGeom>
            <a:solidFill>
              <a:srgbClr val="070154"/>
            </a:solidFill>
            <a:ln>
              <a:noFill/>
            </a:ln>
          </p:spPr>
        </p:sp>
        <p:sp>
          <p:nvSpPr>
            <p:cNvPr id="17" name="node03.source-004.text"/>
            <p:cNvSpPr/>
            <p:nvPr/>
          </p:nvSpPr>
          <p:spPr>
            <a:xfrm>
              <a:off x="876300" y="2743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11% of denials start at registration</a:t>
              </a:r>
              <a:endParaRPr lang="en-US" sz="1200" spc="0" kern="0" b="0" i="0" dirty="0">
                <a:solidFill>
                  <a:srgbClr val="070154"/>
                </a:solidFill>
                <a:latin typeface="IBM Plex Sans"/>
                <a:ea typeface="IBM Plex Sans"/>
                <a:cs typeface="IBM Plex Sans"/>
              </a:endParaRPr>
            </a:p>
          </p:txBody>
        </p:sp>
        <p:sp>
          <p:nvSpPr>
            <p:cNvPr id="18" name="node03.source-005.bullet"/>
            <p:cNvSpPr/>
            <p:nvPr/>
          </p:nvSpPr>
          <p:spPr>
            <a:xfrm>
              <a:off x="723900" y="3086100"/>
              <a:ext cx="38100" cy="38100"/>
            </a:xfrm>
            <a:prstGeom prst="rect">
              <a:avLst/>
            </a:prstGeom>
            <a:solidFill>
              <a:srgbClr val="070154"/>
            </a:solidFill>
            <a:ln>
              <a:noFill/>
            </a:ln>
          </p:spPr>
        </p:sp>
        <p:sp>
          <p:nvSpPr>
            <p:cNvPr id="19" name="node03.source-005.text"/>
            <p:cNvSpPr/>
            <p:nvPr/>
          </p:nvSpPr>
          <p:spPr>
            <a:xfrm>
              <a:off x="876300" y="2997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Days in A/R run above peers</a:t>
              </a:r>
              <a:endParaRPr lang="en-US" sz="1200" spc="0" kern="0" b="0" i="0" dirty="0">
                <a:solidFill>
                  <a:srgbClr val="070154"/>
                </a:solidFill>
                <a:latin typeface="IBM Plex Sans"/>
                <a:ea typeface="IBM Plex Sans"/>
                <a:cs typeface="IBM Plex Sans"/>
              </a:endParaRPr>
            </a:p>
          </p:txBody>
        </p:sp>
      </p:grpSp>
      <p:grpSp>
        <p:nvGrpSpPr>
          <p:cNvPr id="84" name="node04"/>
          <p:cNvGrpSpPr/>
          <p:nvPr/>
        </p:nvGrpSpPr>
        <p:grpSpPr>
          <a:xfrm>
            <a:off x="4381500" y="1600200"/>
            <a:ext cx="3429000" cy="228600"/>
            <a:chOff x="4381500" y="1600200"/>
            <a:chExt cx="3429000" cy="228600"/>
          </a:xfrm>
        </p:grpSpPr>
        <p:sp>
          <p:nvSpPr>
            <p:cNvPr id="20" name="node04.label"/>
            <p:cNvSpPr/>
            <p:nvPr/>
          </p:nvSpPr>
          <p:spPr>
            <a:xfrm>
              <a:off x="4381500" y="1600200"/>
              <a:ext cx="689608"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OBJECTIVES</a:t>
              </a:r>
              <a:endParaRPr lang="en-US" sz="800" spc="48" kern="0" b="0" i="0" dirty="0">
                <a:solidFill>
                  <a:srgbClr val="50658E"/>
                </a:solidFill>
                <a:latin typeface="IBM Plex Mono Medium"/>
                <a:ea typeface="IBM Plex Mono Medium"/>
                <a:cs typeface="IBM Plex Mono Medium"/>
              </a:endParaRPr>
            </a:p>
          </p:txBody>
        </p:sp>
        <p:sp>
          <p:nvSpPr>
            <p:cNvPr id="21" name="node04.rule"/>
            <p:cNvSpPr/>
            <p:nvPr/>
          </p:nvSpPr>
          <p:spPr>
            <a:xfrm>
              <a:off x="5198108" y="1709738"/>
              <a:ext cx="2612392" cy="9525"/>
            </a:xfrm>
            <a:prstGeom prst="rect">
              <a:avLst/>
            </a:prstGeom>
            <a:solidFill>
              <a:srgbClr val="CED7E6"/>
            </a:solidFill>
            <a:ln>
              <a:noFill/>
            </a:ln>
          </p:spPr>
        </p:sp>
      </p:grpSp>
      <p:sp>
        <p:nvSpPr>
          <p:cNvPr id="22" name="node05"/>
          <p:cNvSpPr/>
          <p:nvPr/>
        </p:nvSpPr>
        <p:spPr>
          <a:xfrm>
            <a:off x="4381500" y="1828800"/>
            <a:ext cx="3429000" cy="9525"/>
          </a:xfrm>
          <a:prstGeom prst="rect">
            <a:avLst/>
          </a:prstGeom>
          <a:solidFill>
            <a:srgbClr val="CED7E6"/>
          </a:solidFill>
          <a:ln>
            <a:noFill/>
          </a:ln>
        </p:spPr>
      </p:sp>
      <p:grpSp>
        <p:nvGrpSpPr>
          <p:cNvPr id="85" name="node06"/>
          <p:cNvGrpSpPr/>
          <p:nvPr/>
        </p:nvGrpSpPr>
        <p:grpSpPr>
          <a:xfrm>
            <a:off x="4381500" y="1981200"/>
            <a:ext cx="3429000" cy="1231900"/>
            <a:chOff x="4381500" y="1981200"/>
            <a:chExt cx="3429000" cy="1231900"/>
          </a:xfrm>
        </p:grpSpPr>
        <p:sp>
          <p:nvSpPr>
            <p:cNvPr id="23" name="node06.source-001.bullet"/>
            <p:cNvSpPr/>
            <p:nvPr/>
          </p:nvSpPr>
          <p:spPr>
            <a:xfrm>
              <a:off x="4381500" y="2070100"/>
              <a:ext cx="38100" cy="38100"/>
            </a:xfrm>
            <a:prstGeom prst="rect">
              <a:avLst/>
            </a:prstGeom>
            <a:solidFill>
              <a:srgbClr val="070154"/>
            </a:solidFill>
            <a:ln>
              <a:noFill/>
            </a:ln>
          </p:spPr>
        </p:sp>
        <p:sp>
          <p:nvSpPr>
            <p:cNvPr id="24" name="node06.source-001.text"/>
            <p:cNvSpPr/>
            <p:nvPr/>
          </p:nvSpPr>
          <p:spPr>
            <a:xfrm>
              <a:off x="4533900" y="1981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access experience at every site</a:t>
              </a:r>
              <a:endParaRPr lang="en-US" sz="1200" spc="0" kern="0" b="0" i="0" dirty="0">
                <a:solidFill>
                  <a:srgbClr val="070154"/>
                </a:solidFill>
                <a:latin typeface="IBM Plex Sans"/>
                <a:ea typeface="IBM Plex Sans"/>
                <a:cs typeface="IBM Plex Sans"/>
              </a:endParaRPr>
            </a:p>
          </p:txBody>
        </p:sp>
        <p:sp>
          <p:nvSpPr>
            <p:cNvPr id="25" name="node06.source-002.bullet"/>
            <p:cNvSpPr/>
            <p:nvPr/>
          </p:nvSpPr>
          <p:spPr>
            <a:xfrm>
              <a:off x="4381500" y="2324100"/>
              <a:ext cx="38100" cy="38100"/>
            </a:xfrm>
            <a:prstGeom prst="rect">
              <a:avLst/>
            </a:prstGeom>
            <a:solidFill>
              <a:srgbClr val="070154"/>
            </a:solidFill>
            <a:ln>
              <a:noFill/>
            </a:ln>
          </p:spPr>
        </p:sp>
        <p:sp>
          <p:nvSpPr>
            <p:cNvPr id="26" name="node06.source-002.text"/>
            <p:cNvSpPr/>
            <p:nvPr/>
          </p:nvSpPr>
          <p:spPr>
            <a:xfrm>
              <a:off x="4533900" y="2235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Fewer denials, faster cash</a:t>
              </a:r>
              <a:endParaRPr lang="en-US" sz="1200" spc="0" kern="0" b="0" i="0" dirty="0">
                <a:solidFill>
                  <a:srgbClr val="070154"/>
                </a:solidFill>
                <a:latin typeface="IBM Plex Sans"/>
                <a:ea typeface="IBM Plex Sans"/>
                <a:cs typeface="IBM Plex Sans"/>
              </a:endParaRPr>
            </a:p>
          </p:txBody>
        </p:sp>
        <p:sp>
          <p:nvSpPr>
            <p:cNvPr id="27" name="node06.source-003.bullet"/>
            <p:cNvSpPr/>
            <p:nvPr/>
          </p:nvSpPr>
          <p:spPr>
            <a:xfrm>
              <a:off x="4381500" y="2578100"/>
              <a:ext cx="38100" cy="38100"/>
            </a:xfrm>
            <a:prstGeom prst="rect">
              <a:avLst/>
            </a:prstGeom>
            <a:solidFill>
              <a:srgbClr val="070154"/>
            </a:solidFill>
            <a:ln>
              <a:noFill/>
            </a:ln>
          </p:spPr>
        </p:sp>
        <p:sp>
          <p:nvSpPr>
            <p:cNvPr id="28" name="node06.source-003.text"/>
            <p:cNvSpPr/>
            <p:nvPr/>
          </p:nvSpPr>
          <p:spPr>
            <a:xfrm>
              <a:off x="4533900" y="2489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Cleaner registration data</a:t>
              </a:r>
              <a:endParaRPr lang="en-US" sz="1200" spc="0" kern="0" b="0" i="0" dirty="0">
                <a:solidFill>
                  <a:srgbClr val="070154"/>
                </a:solidFill>
                <a:latin typeface="IBM Plex Sans"/>
                <a:ea typeface="IBM Plex Sans"/>
                <a:cs typeface="IBM Plex Sans"/>
              </a:endParaRPr>
            </a:p>
          </p:txBody>
        </p:sp>
        <p:sp>
          <p:nvSpPr>
            <p:cNvPr id="29" name="node06.source-004.bullet"/>
            <p:cNvSpPr/>
            <p:nvPr/>
          </p:nvSpPr>
          <p:spPr>
            <a:xfrm>
              <a:off x="4381500" y="2832100"/>
              <a:ext cx="38100" cy="38100"/>
            </a:xfrm>
            <a:prstGeom prst="rect">
              <a:avLst/>
            </a:prstGeom>
            <a:solidFill>
              <a:srgbClr val="070154"/>
            </a:solidFill>
            <a:ln>
              <a:noFill/>
            </a:ln>
          </p:spPr>
        </p:sp>
        <p:sp>
          <p:nvSpPr>
            <p:cNvPr id="30" name="node06.source-004.text"/>
            <p:cNvSpPr/>
            <p:nvPr/>
          </p:nvSpPr>
          <p:spPr>
            <a:xfrm>
              <a:off x="4533900" y="2743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Lower cost to collect</a:t>
              </a:r>
              <a:endParaRPr lang="en-US" sz="1200" spc="0" kern="0" b="0" i="0" dirty="0">
                <a:solidFill>
                  <a:srgbClr val="070154"/>
                </a:solidFill>
                <a:latin typeface="IBM Plex Sans"/>
                <a:ea typeface="IBM Plex Sans"/>
                <a:cs typeface="IBM Plex Sans"/>
              </a:endParaRPr>
            </a:p>
          </p:txBody>
        </p:sp>
        <p:sp>
          <p:nvSpPr>
            <p:cNvPr id="31" name="node06.source-005.bullet"/>
            <p:cNvSpPr/>
            <p:nvPr/>
          </p:nvSpPr>
          <p:spPr>
            <a:xfrm>
              <a:off x="4381500" y="3086100"/>
              <a:ext cx="38100" cy="38100"/>
            </a:xfrm>
            <a:prstGeom prst="rect">
              <a:avLst/>
            </a:prstGeom>
            <a:solidFill>
              <a:srgbClr val="070154"/>
            </a:solidFill>
            <a:ln>
              <a:noFill/>
            </a:ln>
          </p:spPr>
        </p:sp>
        <p:sp>
          <p:nvSpPr>
            <p:cNvPr id="32" name="node06.source-005.text"/>
            <p:cNvSpPr/>
            <p:nvPr/>
          </p:nvSpPr>
          <p:spPr>
            <a:xfrm>
              <a:off x="4533900" y="2997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 sustained benefits model</a:t>
              </a:r>
              <a:endParaRPr lang="en-US" sz="1200" spc="0" kern="0" b="0" i="0" dirty="0">
                <a:solidFill>
                  <a:srgbClr val="070154"/>
                </a:solidFill>
                <a:latin typeface="IBM Plex Sans"/>
                <a:ea typeface="IBM Plex Sans"/>
                <a:cs typeface="IBM Plex Sans"/>
              </a:endParaRPr>
            </a:p>
          </p:txBody>
        </p:sp>
      </p:grpSp>
      <p:grpSp>
        <p:nvGrpSpPr>
          <p:cNvPr id="86" name="node07"/>
          <p:cNvGrpSpPr/>
          <p:nvPr/>
        </p:nvGrpSpPr>
        <p:grpSpPr>
          <a:xfrm>
            <a:off x="723900" y="3657600"/>
            <a:ext cx="3429000" cy="228600"/>
            <a:chOff x="723900" y="3657600"/>
            <a:chExt cx="3429000" cy="228600"/>
          </a:xfrm>
        </p:grpSpPr>
        <p:sp>
          <p:nvSpPr>
            <p:cNvPr id="33" name="node07.label"/>
            <p:cNvSpPr/>
            <p:nvPr/>
          </p:nvSpPr>
          <p:spPr>
            <a:xfrm>
              <a:off x="723900" y="3657600"/>
              <a:ext cx="357504"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SCOPE</a:t>
              </a:r>
              <a:endParaRPr lang="en-US" sz="800" spc="48" kern="0" b="0" i="0" dirty="0">
                <a:solidFill>
                  <a:srgbClr val="50658E"/>
                </a:solidFill>
                <a:latin typeface="IBM Plex Mono Medium"/>
                <a:ea typeface="IBM Plex Mono Medium"/>
                <a:cs typeface="IBM Plex Mono Medium"/>
              </a:endParaRPr>
            </a:p>
          </p:txBody>
        </p:sp>
        <p:sp>
          <p:nvSpPr>
            <p:cNvPr id="34" name="node07.rule"/>
            <p:cNvSpPr/>
            <p:nvPr/>
          </p:nvSpPr>
          <p:spPr>
            <a:xfrm>
              <a:off x="1208404" y="3767138"/>
              <a:ext cx="2944496" cy="9525"/>
            </a:xfrm>
            <a:prstGeom prst="rect">
              <a:avLst/>
            </a:prstGeom>
            <a:solidFill>
              <a:srgbClr val="CED7E6"/>
            </a:solidFill>
            <a:ln>
              <a:noFill/>
            </a:ln>
          </p:spPr>
        </p:sp>
      </p:grpSp>
      <p:sp>
        <p:nvSpPr>
          <p:cNvPr id="35" name="node08"/>
          <p:cNvSpPr/>
          <p:nvPr/>
        </p:nvSpPr>
        <p:spPr>
          <a:xfrm>
            <a:off x="723900" y="3886200"/>
            <a:ext cx="3429000" cy="9525"/>
          </a:xfrm>
          <a:prstGeom prst="rect">
            <a:avLst/>
          </a:prstGeom>
          <a:solidFill>
            <a:srgbClr val="CED7E6"/>
          </a:solidFill>
          <a:ln>
            <a:noFill/>
          </a:ln>
        </p:spPr>
      </p:sp>
      <p:grpSp>
        <p:nvGrpSpPr>
          <p:cNvPr id="87" name="node09"/>
          <p:cNvGrpSpPr/>
          <p:nvPr/>
        </p:nvGrpSpPr>
        <p:grpSpPr>
          <a:xfrm>
            <a:off x="723900" y="4038600"/>
            <a:ext cx="3429000" cy="1231900"/>
            <a:chOff x="723900" y="4038600"/>
            <a:chExt cx="3429000" cy="1231900"/>
          </a:xfrm>
        </p:grpSpPr>
        <p:sp>
          <p:nvSpPr>
            <p:cNvPr id="36" name="node09.source-001.bullet"/>
            <p:cNvSpPr/>
            <p:nvPr/>
          </p:nvSpPr>
          <p:spPr>
            <a:xfrm>
              <a:off x="723900" y="4127500"/>
              <a:ext cx="38100" cy="38100"/>
            </a:xfrm>
            <a:prstGeom prst="rect">
              <a:avLst/>
            </a:prstGeom>
            <a:solidFill>
              <a:srgbClr val="070154"/>
            </a:solidFill>
            <a:ln>
              <a:noFill/>
            </a:ln>
          </p:spPr>
        </p:sp>
        <p:sp>
          <p:nvSpPr>
            <p:cNvPr id="37" name="node09.source-001.text"/>
            <p:cNvSpPr/>
            <p:nvPr/>
          </p:nvSpPr>
          <p:spPr>
            <a:xfrm>
              <a:off x="876300" y="4038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 scheduling, registration, estimates</a:t>
              </a:r>
              <a:endParaRPr lang="en-US" sz="1200" spc="0" kern="0" b="0" i="0" dirty="0">
                <a:solidFill>
                  <a:srgbClr val="070154"/>
                </a:solidFill>
                <a:latin typeface="IBM Plex Sans"/>
                <a:ea typeface="IBM Plex Sans"/>
                <a:cs typeface="IBM Plex Sans"/>
              </a:endParaRPr>
            </a:p>
          </p:txBody>
        </p:sp>
        <p:sp>
          <p:nvSpPr>
            <p:cNvPr id="38" name="node09.source-002.bullet"/>
            <p:cNvSpPr/>
            <p:nvPr/>
          </p:nvSpPr>
          <p:spPr>
            <a:xfrm>
              <a:off x="723900" y="4381500"/>
              <a:ext cx="38100" cy="38100"/>
            </a:xfrm>
            <a:prstGeom prst="rect">
              <a:avLst/>
            </a:prstGeom>
            <a:solidFill>
              <a:srgbClr val="070154"/>
            </a:solidFill>
            <a:ln>
              <a:noFill/>
            </a:ln>
          </p:spPr>
        </p:sp>
        <p:sp>
          <p:nvSpPr>
            <p:cNvPr id="39" name="node09.source-002.text"/>
            <p:cNvSpPr/>
            <p:nvPr/>
          </p:nvSpPr>
          <p:spPr>
            <a:xfrm>
              <a:off x="876300" y="4292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 edits, claims, denial work queues</a:t>
              </a:r>
              <a:endParaRPr lang="en-US" sz="1200" spc="0" kern="0" b="0" i="0" dirty="0">
                <a:solidFill>
                  <a:srgbClr val="070154"/>
                </a:solidFill>
                <a:latin typeface="IBM Plex Sans"/>
                <a:ea typeface="IBM Plex Sans"/>
                <a:cs typeface="IBM Plex Sans"/>
              </a:endParaRPr>
            </a:p>
          </p:txBody>
        </p:sp>
        <p:sp>
          <p:nvSpPr>
            <p:cNvPr id="40" name="node09.source-003.bullet"/>
            <p:cNvSpPr/>
            <p:nvPr/>
          </p:nvSpPr>
          <p:spPr>
            <a:xfrm>
              <a:off x="723900" y="4635500"/>
              <a:ext cx="38100" cy="38100"/>
            </a:xfrm>
            <a:prstGeom prst="rect">
              <a:avLst/>
            </a:prstGeom>
            <a:solidFill>
              <a:srgbClr val="070154"/>
            </a:solidFill>
            <a:ln>
              <a:noFill/>
            </a:ln>
          </p:spPr>
        </p:sp>
        <p:sp>
          <p:nvSpPr>
            <p:cNvPr id="41" name="node09.source-003.text"/>
            <p:cNvSpPr/>
            <p:nvPr/>
          </p:nvSpPr>
          <p:spPr>
            <a:xfrm>
              <a:off x="876300" y="4546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 EHR interface design, training</a:t>
              </a:r>
              <a:endParaRPr lang="en-US" sz="1200" spc="0" kern="0" b="0" i="0" dirty="0">
                <a:solidFill>
                  <a:srgbClr val="070154"/>
                </a:solidFill>
                <a:latin typeface="IBM Plex Sans"/>
                <a:ea typeface="IBM Plex Sans"/>
                <a:cs typeface="IBM Plex Sans"/>
              </a:endParaRPr>
            </a:p>
          </p:txBody>
        </p:sp>
        <p:sp>
          <p:nvSpPr>
            <p:cNvPr id="42" name="node09.source-004.bullet"/>
            <p:cNvSpPr/>
            <p:nvPr/>
          </p:nvSpPr>
          <p:spPr>
            <a:xfrm>
              <a:off x="723900" y="4889500"/>
              <a:ext cx="38100" cy="38100"/>
            </a:xfrm>
            <a:prstGeom prst="rect">
              <a:avLst/>
            </a:prstGeom>
            <a:solidFill>
              <a:srgbClr val="070154"/>
            </a:solidFill>
            <a:ln>
              <a:noFill/>
            </a:ln>
          </p:spPr>
        </p:sp>
        <p:sp>
          <p:nvSpPr>
            <p:cNvPr id="43" name="node09.source-004.text"/>
            <p:cNvSpPr/>
            <p:nvPr/>
          </p:nvSpPr>
          <p:spPr>
            <a:xfrm>
              <a:off x="876300" y="4800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Out: EHR build, documentation redesign</a:t>
              </a:r>
              <a:endParaRPr lang="en-US" sz="1200" spc="0" kern="0" b="0" i="0" dirty="0">
                <a:solidFill>
                  <a:srgbClr val="070154"/>
                </a:solidFill>
                <a:latin typeface="IBM Plex Sans"/>
                <a:ea typeface="IBM Plex Sans"/>
                <a:cs typeface="IBM Plex Sans"/>
              </a:endParaRPr>
            </a:p>
          </p:txBody>
        </p:sp>
        <p:sp>
          <p:nvSpPr>
            <p:cNvPr id="44" name="node09.source-005.bullet"/>
            <p:cNvSpPr/>
            <p:nvPr/>
          </p:nvSpPr>
          <p:spPr>
            <a:xfrm>
              <a:off x="723900" y="5143500"/>
              <a:ext cx="38100" cy="38100"/>
            </a:xfrm>
            <a:prstGeom prst="rect">
              <a:avLst/>
            </a:prstGeom>
            <a:solidFill>
              <a:srgbClr val="070154"/>
            </a:solidFill>
            <a:ln>
              <a:noFill/>
            </a:ln>
          </p:spPr>
        </p:sp>
        <p:sp>
          <p:nvSpPr>
            <p:cNvPr id="45" name="node09.source-005.text"/>
            <p:cNvSpPr/>
            <p:nvPr/>
          </p:nvSpPr>
          <p:spPr>
            <a:xfrm>
              <a:off x="876300" y="505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To confirm: wave one, data access</a:t>
              </a:r>
              <a:endParaRPr lang="en-US" sz="1200" spc="0" kern="0" b="0" i="0" dirty="0">
                <a:solidFill>
                  <a:srgbClr val="070154"/>
                </a:solidFill>
                <a:latin typeface="IBM Plex Sans"/>
                <a:ea typeface="IBM Plex Sans"/>
                <a:cs typeface="IBM Plex Sans"/>
              </a:endParaRPr>
            </a:p>
          </p:txBody>
        </p:sp>
      </p:grpSp>
      <p:grpSp>
        <p:nvGrpSpPr>
          <p:cNvPr id="88" name="node10"/>
          <p:cNvGrpSpPr/>
          <p:nvPr/>
        </p:nvGrpSpPr>
        <p:grpSpPr>
          <a:xfrm>
            <a:off x="4381500" y="3657600"/>
            <a:ext cx="3429000" cy="228600"/>
            <a:chOff x="4381500" y="3657600"/>
            <a:chExt cx="3429000" cy="228600"/>
          </a:xfrm>
        </p:grpSpPr>
        <p:sp>
          <p:nvSpPr>
            <p:cNvPr id="46" name="node10.label"/>
            <p:cNvSpPr/>
            <p:nvPr/>
          </p:nvSpPr>
          <p:spPr>
            <a:xfrm>
              <a:off x="4381500" y="3657600"/>
              <a:ext cx="756028"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CONSTRAINTS</a:t>
              </a:r>
              <a:endParaRPr lang="en-US" sz="800" spc="48" kern="0" b="0" i="0" dirty="0">
                <a:solidFill>
                  <a:srgbClr val="50658E"/>
                </a:solidFill>
                <a:latin typeface="IBM Plex Mono Medium"/>
                <a:ea typeface="IBM Plex Mono Medium"/>
                <a:cs typeface="IBM Plex Mono Medium"/>
              </a:endParaRPr>
            </a:p>
          </p:txBody>
        </p:sp>
        <p:sp>
          <p:nvSpPr>
            <p:cNvPr id="47" name="node10.rule"/>
            <p:cNvSpPr/>
            <p:nvPr/>
          </p:nvSpPr>
          <p:spPr>
            <a:xfrm>
              <a:off x="5264528" y="3767138"/>
              <a:ext cx="2545972" cy="9525"/>
            </a:xfrm>
            <a:prstGeom prst="rect">
              <a:avLst/>
            </a:prstGeom>
            <a:solidFill>
              <a:srgbClr val="CED7E6"/>
            </a:solidFill>
            <a:ln>
              <a:noFill/>
            </a:ln>
          </p:spPr>
        </p:sp>
      </p:grpSp>
      <p:sp>
        <p:nvSpPr>
          <p:cNvPr id="48" name="node11"/>
          <p:cNvSpPr/>
          <p:nvPr/>
        </p:nvSpPr>
        <p:spPr>
          <a:xfrm>
            <a:off x="4381500" y="3886200"/>
            <a:ext cx="3429000" cy="9525"/>
          </a:xfrm>
          <a:prstGeom prst="rect">
            <a:avLst/>
          </a:prstGeom>
          <a:solidFill>
            <a:srgbClr val="CED7E6"/>
          </a:solidFill>
          <a:ln>
            <a:noFill/>
          </a:ln>
        </p:spPr>
      </p:sp>
      <p:grpSp>
        <p:nvGrpSpPr>
          <p:cNvPr id="89" name="node12"/>
          <p:cNvGrpSpPr/>
          <p:nvPr/>
        </p:nvGrpSpPr>
        <p:grpSpPr>
          <a:xfrm>
            <a:off x="4381500" y="4038600"/>
            <a:ext cx="3429000" cy="1231900"/>
            <a:chOff x="4381500" y="4038600"/>
            <a:chExt cx="3429000" cy="1231900"/>
          </a:xfrm>
        </p:grpSpPr>
        <p:sp>
          <p:nvSpPr>
            <p:cNvPr id="49" name="node12.source-001.bullet"/>
            <p:cNvSpPr/>
            <p:nvPr/>
          </p:nvSpPr>
          <p:spPr>
            <a:xfrm>
              <a:off x="4381500" y="4127500"/>
              <a:ext cx="38100" cy="38100"/>
            </a:xfrm>
            <a:prstGeom prst="rect">
              <a:avLst/>
            </a:prstGeom>
            <a:solidFill>
              <a:srgbClr val="070154"/>
            </a:solidFill>
            <a:ln>
              <a:noFill/>
            </a:ln>
          </p:spPr>
        </p:sp>
        <p:sp>
          <p:nvSpPr>
            <p:cNvPr id="50" name="node12.source-001.text"/>
            <p:cNvSpPr/>
            <p:nvPr/>
          </p:nvSpPr>
          <p:spPr>
            <a:xfrm>
              <a:off x="4533900" y="4038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EHR cutover date is fixed</a:t>
              </a:r>
              <a:endParaRPr lang="en-US" sz="1200" spc="0" kern="0" b="0" i="0" dirty="0">
                <a:solidFill>
                  <a:srgbClr val="070154"/>
                </a:solidFill>
                <a:latin typeface="IBM Plex Sans"/>
                <a:ea typeface="IBM Plex Sans"/>
                <a:cs typeface="IBM Plex Sans"/>
              </a:endParaRPr>
            </a:p>
          </p:txBody>
        </p:sp>
        <p:sp>
          <p:nvSpPr>
            <p:cNvPr id="51" name="node12.source-002.bullet"/>
            <p:cNvSpPr/>
            <p:nvPr/>
          </p:nvSpPr>
          <p:spPr>
            <a:xfrm>
              <a:off x="4381500" y="4381500"/>
              <a:ext cx="38100" cy="38100"/>
            </a:xfrm>
            <a:prstGeom prst="rect">
              <a:avLst/>
            </a:prstGeom>
            <a:solidFill>
              <a:srgbClr val="070154"/>
            </a:solidFill>
            <a:ln>
              <a:noFill/>
            </a:ln>
          </p:spPr>
        </p:sp>
        <p:sp>
          <p:nvSpPr>
            <p:cNvPr id="52" name="node12.source-002.text"/>
            <p:cNvSpPr/>
            <p:nvPr/>
          </p:nvSpPr>
          <p:spPr>
            <a:xfrm>
              <a:off x="4533900" y="4292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Phase one capped at FY27 capital</a:t>
              </a:r>
              <a:endParaRPr lang="en-US" sz="1200" spc="0" kern="0" b="0" i="0" dirty="0">
                <a:solidFill>
                  <a:srgbClr val="070154"/>
                </a:solidFill>
                <a:latin typeface="IBM Plex Sans"/>
                <a:ea typeface="IBM Plex Sans"/>
                <a:cs typeface="IBM Plex Sans"/>
              </a:endParaRPr>
            </a:p>
          </p:txBody>
        </p:sp>
        <p:sp>
          <p:nvSpPr>
            <p:cNvPr id="53" name="node12.source-003.bullet"/>
            <p:cNvSpPr/>
            <p:nvPr/>
          </p:nvSpPr>
          <p:spPr>
            <a:xfrm>
              <a:off x="4381500" y="4635500"/>
              <a:ext cx="38100" cy="38100"/>
            </a:xfrm>
            <a:prstGeom prst="rect">
              <a:avLst/>
            </a:prstGeom>
            <a:solidFill>
              <a:srgbClr val="070154"/>
            </a:solidFill>
            <a:ln>
              <a:noFill/>
            </a:ln>
          </p:spPr>
        </p:sp>
        <p:sp>
          <p:nvSpPr>
            <p:cNvPr id="54" name="node12.source-003.text"/>
            <p:cNvSpPr/>
            <p:nvPr/>
          </p:nvSpPr>
          <p:spPr>
            <a:xfrm>
              <a:off x="4533900" y="4546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Estimates and consent rules apply</a:t>
              </a:r>
              <a:endParaRPr lang="en-US" sz="1200" spc="0" kern="0" b="0" i="0" dirty="0">
                <a:solidFill>
                  <a:srgbClr val="070154"/>
                </a:solidFill>
                <a:latin typeface="IBM Plex Sans"/>
                <a:ea typeface="IBM Plex Sans"/>
                <a:cs typeface="IBM Plex Sans"/>
              </a:endParaRPr>
            </a:p>
          </p:txBody>
        </p:sp>
        <p:sp>
          <p:nvSpPr>
            <p:cNvPr id="55" name="node12.source-004.bullet"/>
            <p:cNvSpPr/>
            <p:nvPr/>
          </p:nvSpPr>
          <p:spPr>
            <a:xfrm>
              <a:off x="4381500" y="4889500"/>
              <a:ext cx="38100" cy="38100"/>
            </a:xfrm>
            <a:prstGeom prst="rect">
              <a:avLst/>
            </a:prstGeom>
            <a:solidFill>
              <a:srgbClr val="070154"/>
            </a:solidFill>
            <a:ln>
              <a:noFill/>
            </a:ln>
          </p:spPr>
        </p:sp>
        <p:sp>
          <p:nvSpPr>
            <p:cNvPr id="56" name="node12.source-004.text"/>
            <p:cNvSpPr/>
            <p:nvPr/>
          </p:nvSpPr>
          <p:spPr>
            <a:xfrm>
              <a:off x="4533900" y="4800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Two legacy schedulers retire</a:t>
              </a:r>
              <a:endParaRPr lang="en-US" sz="1200" spc="0" kern="0" b="0" i="0" dirty="0">
                <a:solidFill>
                  <a:srgbClr val="070154"/>
                </a:solidFill>
                <a:latin typeface="IBM Plex Sans"/>
                <a:ea typeface="IBM Plex Sans"/>
                <a:cs typeface="IBM Plex Sans"/>
              </a:endParaRPr>
            </a:p>
          </p:txBody>
        </p:sp>
        <p:sp>
          <p:nvSpPr>
            <p:cNvPr id="57" name="node12.source-005.bullet"/>
            <p:cNvSpPr/>
            <p:nvPr/>
          </p:nvSpPr>
          <p:spPr>
            <a:xfrm>
              <a:off x="4381500" y="5143500"/>
              <a:ext cx="38100" cy="38100"/>
            </a:xfrm>
            <a:prstGeom prst="rect">
              <a:avLst/>
            </a:prstGeom>
            <a:solidFill>
              <a:srgbClr val="070154"/>
            </a:solidFill>
            <a:ln>
              <a:noFill/>
            </a:ln>
          </p:spPr>
        </p:sp>
        <p:sp>
          <p:nvSpPr>
            <p:cNvPr id="58" name="node12.source-005.text"/>
            <p:cNvSpPr/>
            <p:nvPr/>
          </p:nvSpPr>
          <p:spPr>
            <a:xfrm>
              <a:off x="4533900" y="505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Access and billing decide separately</a:t>
              </a:r>
              <a:endParaRPr lang="en-US" sz="1200" spc="0" kern="0" b="0" i="0" dirty="0">
                <a:solidFill>
                  <a:srgbClr val="070154"/>
                </a:solidFill>
                <a:latin typeface="IBM Plex Sans"/>
                <a:ea typeface="IBM Plex Sans"/>
                <a:cs typeface="IBM Plex Sans"/>
              </a:endParaRPr>
            </a:p>
          </p:txBody>
        </p:sp>
      </p:grpSp>
      <p:grpSp>
        <p:nvGrpSpPr>
          <p:cNvPr id="90" name="node13"/>
          <p:cNvGrpSpPr/>
          <p:nvPr/>
        </p:nvGrpSpPr>
        <p:grpSpPr>
          <a:xfrm>
            <a:off x="8953500" y="1600200"/>
            <a:ext cx="2514600" cy="139700"/>
            <a:chOff x="8953500" y="1600200"/>
            <a:chExt cx="2514600" cy="139700"/>
          </a:xfrm>
        </p:grpSpPr>
        <p:sp>
          <p:nvSpPr>
            <p:cNvPr id="59" name="node13.text"/>
            <p:cNvSpPr/>
            <p:nvPr/>
          </p:nvSpPr>
          <p:spPr>
            <a:xfrm>
              <a:off x="89535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STAKEHOLDERS</a:t>
              </a:r>
              <a:endParaRPr lang="en-US" sz="800" spc="48" kern="0" b="0" i="0" dirty="0">
                <a:solidFill>
                  <a:srgbClr val="CED7E6"/>
                </a:solidFill>
                <a:latin typeface="IBM Plex Mono Medium"/>
                <a:ea typeface="IBM Plex Mono Medium"/>
                <a:cs typeface="IBM Plex Mono Medium"/>
              </a:endParaRPr>
            </a:p>
          </p:txBody>
        </p:sp>
      </p:grpSp>
      <p:grpSp>
        <p:nvGrpSpPr>
          <p:cNvPr id="91" name="node14"/>
          <p:cNvGrpSpPr/>
          <p:nvPr/>
        </p:nvGrpSpPr>
        <p:grpSpPr>
          <a:xfrm>
            <a:off x="8953500" y="1905000"/>
            <a:ext cx="2514600" cy="1231900"/>
            <a:chOff x="8953500" y="1905000"/>
            <a:chExt cx="2514600" cy="1231900"/>
          </a:xfrm>
        </p:grpSpPr>
        <p:sp>
          <p:nvSpPr>
            <p:cNvPr id="60" name="node14.source-001.bullet"/>
            <p:cNvSpPr/>
            <p:nvPr/>
          </p:nvSpPr>
          <p:spPr>
            <a:xfrm>
              <a:off x="8953500" y="1993900"/>
              <a:ext cx="38100" cy="38100"/>
            </a:xfrm>
            <a:prstGeom prst="rect">
              <a:avLst/>
            </a:prstGeom>
            <a:solidFill>
              <a:srgbClr val="FFFFFF"/>
            </a:solidFill>
            <a:ln>
              <a:noFill/>
            </a:ln>
          </p:spPr>
        </p:sp>
        <p:sp>
          <p:nvSpPr>
            <p:cNvPr id="61" name="node14.source-001.text"/>
            <p:cNvSpPr/>
            <p:nvPr/>
          </p:nvSpPr>
          <p:spPr>
            <a:xfrm>
              <a:off x="9105900" y="1905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J. Alvarez, VP Revenue Cycle</a:t>
              </a:r>
              <a:endParaRPr lang="en-US" sz="1200" spc="0" kern="0" b="0" i="0" dirty="0">
                <a:solidFill>
                  <a:srgbClr val="FFFFFF"/>
                </a:solidFill>
                <a:latin typeface="IBM Plex Sans"/>
                <a:ea typeface="IBM Plex Sans"/>
                <a:cs typeface="IBM Plex Sans"/>
              </a:endParaRPr>
            </a:p>
          </p:txBody>
        </p:sp>
        <p:sp>
          <p:nvSpPr>
            <p:cNvPr id="62" name="node14.source-002.bullet"/>
            <p:cNvSpPr/>
            <p:nvPr/>
          </p:nvSpPr>
          <p:spPr>
            <a:xfrm>
              <a:off x="8953500" y="2247900"/>
              <a:ext cx="38100" cy="38100"/>
            </a:xfrm>
            <a:prstGeom prst="rect">
              <a:avLst/>
            </a:prstGeom>
            <a:solidFill>
              <a:srgbClr val="FFFFFF"/>
            </a:solidFill>
            <a:ln>
              <a:noFill/>
            </a:ln>
          </p:spPr>
        </p:sp>
        <p:sp>
          <p:nvSpPr>
            <p:cNvPr id="63" name="node14.source-002.text"/>
            <p:cNvSpPr/>
            <p:nvPr/>
          </p:nvSpPr>
          <p:spPr>
            <a:xfrm>
              <a:off x="9105900" y="2159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R. Chen, Patient Access</a:t>
              </a:r>
              <a:endParaRPr lang="en-US" sz="1200" spc="0" kern="0" b="0" i="0" dirty="0">
                <a:solidFill>
                  <a:srgbClr val="FFFFFF"/>
                </a:solidFill>
                <a:latin typeface="IBM Plex Sans"/>
                <a:ea typeface="IBM Plex Sans"/>
                <a:cs typeface="IBM Plex Sans"/>
              </a:endParaRPr>
            </a:p>
          </p:txBody>
        </p:sp>
        <p:sp>
          <p:nvSpPr>
            <p:cNvPr id="64" name="node14.source-003.bullet"/>
            <p:cNvSpPr/>
            <p:nvPr/>
          </p:nvSpPr>
          <p:spPr>
            <a:xfrm>
              <a:off x="8953500" y="2501900"/>
              <a:ext cx="38100" cy="38100"/>
            </a:xfrm>
            <a:prstGeom prst="rect">
              <a:avLst/>
            </a:prstGeom>
            <a:solidFill>
              <a:srgbClr val="FFFFFF"/>
            </a:solidFill>
            <a:ln>
              <a:noFill/>
            </a:ln>
          </p:spPr>
        </p:sp>
        <p:sp>
          <p:nvSpPr>
            <p:cNvPr id="65" name="node14.source-003.text"/>
            <p:cNvSpPr/>
            <p:nvPr/>
          </p:nvSpPr>
          <p:spPr>
            <a:xfrm>
              <a:off x="9105900" y="2413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EHR program lead</a:t>
              </a:r>
              <a:endParaRPr lang="en-US" sz="1200" spc="0" kern="0" b="0" i="0" dirty="0">
                <a:solidFill>
                  <a:srgbClr val="FFFFFF"/>
                </a:solidFill>
                <a:latin typeface="IBM Plex Sans"/>
                <a:ea typeface="IBM Plex Sans"/>
                <a:cs typeface="IBM Plex Sans"/>
              </a:endParaRPr>
            </a:p>
          </p:txBody>
        </p:sp>
        <p:sp>
          <p:nvSpPr>
            <p:cNvPr id="66" name="node14.source-004.bullet"/>
            <p:cNvSpPr/>
            <p:nvPr/>
          </p:nvSpPr>
          <p:spPr>
            <a:xfrm>
              <a:off x="8953500" y="2755900"/>
              <a:ext cx="38100" cy="38100"/>
            </a:xfrm>
            <a:prstGeom prst="rect">
              <a:avLst/>
            </a:prstGeom>
            <a:solidFill>
              <a:srgbClr val="FFFFFF"/>
            </a:solidFill>
            <a:ln>
              <a:noFill/>
            </a:ln>
          </p:spPr>
        </p:sp>
        <p:sp>
          <p:nvSpPr>
            <p:cNvPr id="67" name="node14.source-004.text"/>
            <p:cNvSpPr/>
            <p:nvPr/>
          </p:nvSpPr>
          <p:spPr>
            <a:xfrm>
              <a:off x="9105900" y="2667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Compliance and privacy</a:t>
              </a:r>
              <a:endParaRPr lang="en-US" sz="1200" spc="0" kern="0" b="0" i="0" dirty="0">
                <a:solidFill>
                  <a:srgbClr val="FFFFFF"/>
                </a:solidFill>
                <a:latin typeface="IBM Plex Sans"/>
                <a:ea typeface="IBM Plex Sans"/>
                <a:cs typeface="IBM Plex Sans"/>
              </a:endParaRPr>
            </a:p>
          </p:txBody>
        </p:sp>
        <p:sp>
          <p:nvSpPr>
            <p:cNvPr id="68" name="node14.source-005.bullet"/>
            <p:cNvSpPr/>
            <p:nvPr/>
          </p:nvSpPr>
          <p:spPr>
            <a:xfrm>
              <a:off x="8953500" y="3009900"/>
              <a:ext cx="38100" cy="38100"/>
            </a:xfrm>
            <a:prstGeom prst="rect">
              <a:avLst/>
            </a:prstGeom>
            <a:solidFill>
              <a:srgbClr val="FFFFFF"/>
            </a:solidFill>
            <a:ln>
              <a:noFill/>
            </a:ln>
          </p:spPr>
        </p:sp>
        <p:sp>
          <p:nvSpPr>
            <p:cNvPr id="69" name="node14.source-005.text"/>
            <p:cNvSpPr/>
            <p:nvPr/>
          </p:nvSpPr>
          <p:spPr>
            <a:xfrm>
              <a:off x="9105900" y="2921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Finance, capital planning</a:t>
              </a:r>
              <a:endParaRPr lang="en-US" sz="1200" spc="0" kern="0" b="0" i="0" dirty="0">
                <a:solidFill>
                  <a:srgbClr val="FFFFFF"/>
                </a:solidFill>
                <a:latin typeface="IBM Plex Sans"/>
                <a:ea typeface="IBM Plex Sans"/>
                <a:cs typeface="IBM Plex Sans"/>
              </a:endParaRPr>
            </a:p>
          </p:txBody>
        </p:sp>
      </p:grpSp>
      <p:sp>
        <p:nvSpPr>
          <p:cNvPr id="70" name="node15"/>
          <p:cNvSpPr/>
          <p:nvPr/>
        </p:nvSpPr>
        <p:spPr>
          <a:xfrm>
            <a:off x="8953500" y="3657600"/>
            <a:ext cx="2514600" cy="9525"/>
          </a:xfrm>
          <a:prstGeom prst="rect">
            <a:avLst/>
          </a:prstGeom>
          <a:solidFill>
            <a:srgbClr val="50658E"/>
          </a:solidFill>
          <a:ln>
            <a:noFill/>
          </a:ln>
        </p:spPr>
      </p:sp>
      <p:grpSp>
        <p:nvGrpSpPr>
          <p:cNvPr id="92" name="node16"/>
          <p:cNvGrpSpPr/>
          <p:nvPr/>
        </p:nvGrpSpPr>
        <p:grpSpPr>
          <a:xfrm>
            <a:off x="8953500" y="3886200"/>
            <a:ext cx="2514600" cy="139700"/>
            <a:chOff x="8953500" y="3886200"/>
            <a:chExt cx="2514600" cy="139700"/>
          </a:xfrm>
        </p:grpSpPr>
        <p:sp>
          <p:nvSpPr>
            <p:cNvPr id="71" name="node16.text"/>
            <p:cNvSpPr/>
            <p:nvPr/>
          </p:nvSpPr>
          <p:spPr>
            <a:xfrm>
              <a:off x="8953500" y="3886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SUCCESS MEASURES</a:t>
              </a:r>
              <a:endParaRPr lang="en-US" sz="800" spc="48" kern="0" b="0" i="0" dirty="0">
                <a:solidFill>
                  <a:srgbClr val="CED7E6"/>
                </a:solidFill>
                <a:latin typeface="IBM Plex Mono Medium"/>
                <a:ea typeface="IBM Plex Mono Medium"/>
                <a:cs typeface="IBM Plex Mono Medium"/>
              </a:endParaRPr>
            </a:p>
          </p:txBody>
        </p:sp>
      </p:grpSp>
      <p:grpSp>
        <p:nvGrpSpPr>
          <p:cNvPr id="93" name="node17"/>
          <p:cNvGrpSpPr/>
          <p:nvPr/>
        </p:nvGrpSpPr>
        <p:grpSpPr>
          <a:xfrm>
            <a:off x="8953500" y="4191000"/>
            <a:ext cx="2514600" cy="1231900"/>
            <a:chOff x="8953500" y="4191000"/>
            <a:chExt cx="2514600" cy="1231900"/>
          </a:xfrm>
        </p:grpSpPr>
        <p:sp>
          <p:nvSpPr>
            <p:cNvPr id="72" name="node17.source-001.bullet"/>
            <p:cNvSpPr/>
            <p:nvPr/>
          </p:nvSpPr>
          <p:spPr>
            <a:xfrm>
              <a:off x="8953500" y="4279900"/>
              <a:ext cx="38100" cy="38100"/>
            </a:xfrm>
            <a:prstGeom prst="rect">
              <a:avLst/>
            </a:prstGeom>
            <a:solidFill>
              <a:srgbClr val="FFFFFF"/>
            </a:solidFill>
            <a:ln>
              <a:noFill/>
            </a:ln>
          </p:spPr>
        </p:sp>
        <p:sp>
          <p:nvSpPr>
            <p:cNvPr id="73" name="node17.source-001.text"/>
            <p:cNvSpPr/>
            <p:nvPr/>
          </p:nvSpPr>
          <p:spPr>
            <a:xfrm>
              <a:off x="9105900" y="4191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Days in A/R: 52 to 44</a:t>
              </a:r>
              <a:endParaRPr lang="en-US" sz="1200" spc="0" kern="0" b="0" i="0" dirty="0">
                <a:solidFill>
                  <a:srgbClr val="FFFFFF"/>
                </a:solidFill>
                <a:latin typeface="IBM Plex Sans"/>
                <a:ea typeface="IBM Plex Sans"/>
                <a:cs typeface="IBM Plex Sans"/>
              </a:endParaRPr>
            </a:p>
          </p:txBody>
        </p:sp>
        <p:sp>
          <p:nvSpPr>
            <p:cNvPr id="74" name="node17.source-002.bullet"/>
            <p:cNvSpPr/>
            <p:nvPr/>
          </p:nvSpPr>
          <p:spPr>
            <a:xfrm>
              <a:off x="8953500" y="4533900"/>
              <a:ext cx="38100" cy="38100"/>
            </a:xfrm>
            <a:prstGeom prst="rect">
              <a:avLst/>
            </a:prstGeom>
            <a:solidFill>
              <a:srgbClr val="FFFFFF"/>
            </a:solidFill>
            <a:ln>
              <a:noFill/>
            </a:ln>
          </p:spPr>
        </p:sp>
        <p:sp>
          <p:nvSpPr>
            <p:cNvPr id="75" name="node17.source-002.text"/>
            <p:cNvSpPr/>
            <p:nvPr/>
          </p:nvSpPr>
          <p:spPr>
            <a:xfrm>
              <a:off x="9105900" y="4445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Denial rate: 9.4% to 6.0%</a:t>
              </a:r>
              <a:endParaRPr lang="en-US" sz="1200" spc="0" kern="0" b="0" i="0" dirty="0">
                <a:solidFill>
                  <a:srgbClr val="FFFFFF"/>
                </a:solidFill>
                <a:latin typeface="IBM Plex Sans"/>
                <a:ea typeface="IBM Plex Sans"/>
                <a:cs typeface="IBM Plex Sans"/>
              </a:endParaRPr>
            </a:p>
          </p:txBody>
        </p:sp>
        <p:sp>
          <p:nvSpPr>
            <p:cNvPr id="76" name="node17.source-003.bullet"/>
            <p:cNvSpPr/>
            <p:nvPr/>
          </p:nvSpPr>
          <p:spPr>
            <a:xfrm>
              <a:off x="8953500" y="4787900"/>
              <a:ext cx="38100" cy="38100"/>
            </a:xfrm>
            <a:prstGeom prst="rect">
              <a:avLst/>
            </a:prstGeom>
            <a:solidFill>
              <a:srgbClr val="FFFFFF"/>
            </a:solidFill>
            <a:ln>
              <a:noFill/>
            </a:ln>
          </p:spPr>
        </p:sp>
        <p:sp>
          <p:nvSpPr>
            <p:cNvPr id="77" name="node17.source-003.text"/>
            <p:cNvSpPr/>
            <p:nvPr/>
          </p:nvSpPr>
          <p:spPr>
            <a:xfrm>
              <a:off x="9105900" y="4699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Access score: 68 to 80</a:t>
              </a:r>
              <a:endParaRPr lang="en-US" sz="1200" spc="0" kern="0" b="0" i="0" dirty="0">
                <a:solidFill>
                  <a:srgbClr val="FFFFFF"/>
                </a:solidFill>
                <a:latin typeface="IBM Plex Sans"/>
                <a:ea typeface="IBM Plex Sans"/>
                <a:cs typeface="IBM Plex Sans"/>
              </a:endParaRPr>
            </a:p>
          </p:txBody>
        </p:sp>
        <p:sp>
          <p:nvSpPr>
            <p:cNvPr id="78" name="node17.source-004.bullet"/>
            <p:cNvSpPr/>
            <p:nvPr/>
          </p:nvSpPr>
          <p:spPr>
            <a:xfrm>
              <a:off x="8953500" y="5041900"/>
              <a:ext cx="38100" cy="38100"/>
            </a:xfrm>
            <a:prstGeom prst="rect">
              <a:avLst/>
            </a:prstGeom>
            <a:solidFill>
              <a:srgbClr val="FFFFFF"/>
            </a:solidFill>
            <a:ln>
              <a:noFill/>
            </a:ln>
          </p:spPr>
        </p:sp>
        <p:sp>
          <p:nvSpPr>
            <p:cNvPr id="79" name="node17.source-004.text"/>
            <p:cNvSpPr/>
            <p:nvPr/>
          </p:nvSpPr>
          <p:spPr>
            <a:xfrm>
              <a:off x="9105900" y="4953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Cost to collect: 3.4% to 2.8%</a:t>
              </a:r>
              <a:endParaRPr lang="en-US" sz="1200" spc="0" kern="0" b="0" i="0" dirty="0">
                <a:solidFill>
                  <a:srgbClr val="FFFFFF"/>
                </a:solidFill>
                <a:latin typeface="IBM Plex Sans"/>
                <a:ea typeface="IBM Plex Sans"/>
                <a:cs typeface="IBM Plex Sans"/>
              </a:endParaRPr>
            </a:p>
          </p:txBody>
        </p:sp>
        <p:sp>
          <p:nvSpPr>
            <p:cNvPr id="80" name="node17.source-005.bullet"/>
            <p:cNvSpPr/>
            <p:nvPr/>
          </p:nvSpPr>
          <p:spPr>
            <a:xfrm>
              <a:off x="8953500" y="5295900"/>
              <a:ext cx="38100" cy="38100"/>
            </a:xfrm>
            <a:prstGeom prst="rect">
              <a:avLst/>
            </a:prstGeom>
            <a:solidFill>
              <a:srgbClr val="FFFFFF"/>
            </a:solidFill>
            <a:ln>
              <a:noFill/>
            </a:ln>
          </p:spPr>
        </p:sp>
        <p:sp>
          <p:nvSpPr>
            <p:cNvPr id="81" name="node17.source-005.text"/>
            <p:cNvSpPr/>
            <p:nvPr/>
          </p:nvSpPr>
          <p:spPr>
            <a:xfrm>
              <a:off x="9105900" y="5207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Adoption: 90% at six months</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ource-569">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We read the scope as the front end through to denials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content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a:t>
            </a:fld>
            <a:endParaRPr lang="en-US" sz="700" spc="0" kern="0" b="0" i="0" dirty="0">
              <a:solidFill>
                <a:srgbClr val="070154"/>
              </a:solidFill>
              <a:latin typeface="IBM Plex Mono SemiBold"/>
              <a:ea typeface="IBM Plex Mono SemiBold"/>
              <a:cs typeface="IBM Plex Mono SemiBold"/>
            </a:endParaRPr>
          </a:p>
        </p:txBody>
      </p:sp>
      <p:grpSp>
        <p:nvGrpSpPr>
          <p:cNvPr id="48" name="node01"/>
          <p:cNvGrpSpPr/>
          <p:nvPr/>
        </p:nvGrpSpPr>
        <p:grpSpPr>
          <a:xfrm>
            <a:off x="723900" y="2057400"/>
            <a:ext cx="3429000" cy="558800"/>
            <a:chOff x="723900" y="2057400"/>
            <a:chExt cx="3429000" cy="558800"/>
          </a:xfrm>
        </p:grpSpPr>
        <p:sp>
          <p:nvSpPr>
            <p:cNvPr id="7" name="node01.rule"/>
            <p:cNvSpPr/>
            <p:nvPr/>
          </p:nvSpPr>
          <p:spPr>
            <a:xfrm>
              <a:off x="723900" y="2057400"/>
              <a:ext cx="3429000" cy="38100"/>
            </a:xfrm>
            <a:prstGeom prst="rect">
              <a:avLst/>
            </a:prstGeom>
            <a:solidFill>
              <a:srgbClr val="070154"/>
            </a:solidFill>
            <a:ln>
              <a:noFill/>
            </a:ln>
          </p:spPr>
        </p:sp>
        <p:sp>
          <p:nvSpPr>
            <p:cNvPr id="8" name="node01.label"/>
            <p:cNvSpPr/>
            <p:nvPr/>
          </p:nvSpPr>
          <p:spPr>
            <a:xfrm>
              <a:off x="723900" y="22098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IN SCOPE</a:t>
              </a:r>
              <a:endParaRPr lang="en-US" sz="800" spc="48" kern="0" b="0" i="0" dirty="0">
                <a:solidFill>
                  <a:srgbClr val="0047FF"/>
                </a:solidFill>
                <a:latin typeface="IBM Plex Mono Medium"/>
                <a:ea typeface="IBM Plex Mono Medium"/>
                <a:cs typeface="IBM Plex Mono Medium"/>
              </a:endParaRPr>
            </a:p>
          </p:txBody>
        </p:sp>
        <p:sp>
          <p:nvSpPr>
            <p:cNvPr id="9" name="node01.title"/>
            <p:cNvSpPr/>
            <p:nvPr/>
          </p:nvSpPr>
          <p:spPr>
            <a:xfrm>
              <a:off x="723900" y="23495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What we will deliver</a:t>
              </a:r>
              <a:endParaRPr lang="en-US" sz="1600" spc="-16" kern="0" b="0" i="0" dirty="0">
                <a:solidFill>
                  <a:srgbClr val="070154"/>
                </a:solidFill>
                <a:latin typeface="IBM Plex Sans SemiBold"/>
                <a:ea typeface="IBM Plex Sans SemiBold"/>
                <a:cs typeface="IBM Plex Sans SemiBold"/>
              </a:endParaRPr>
            </a:p>
          </p:txBody>
        </p:sp>
      </p:grpSp>
      <p:grpSp>
        <p:nvGrpSpPr>
          <p:cNvPr id="49" name="node02"/>
          <p:cNvGrpSpPr/>
          <p:nvPr/>
        </p:nvGrpSpPr>
        <p:grpSpPr>
          <a:xfrm>
            <a:off x="723900" y="2971800"/>
            <a:ext cx="3429000" cy="1231900"/>
            <a:chOff x="723900" y="2971800"/>
            <a:chExt cx="3429000" cy="1231900"/>
          </a:xfrm>
        </p:grpSpPr>
        <p:sp>
          <p:nvSpPr>
            <p:cNvPr id="10" name="node02.source-001.bullet"/>
            <p:cNvSpPr/>
            <p:nvPr/>
          </p:nvSpPr>
          <p:spPr>
            <a:xfrm>
              <a:off x="723900" y="3060700"/>
              <a:ext cx="38100" cy="38100"/>
            </a:xfrm>
            <a:prstGeom prst="rect">
              <a:avLst/>
            </a:prstGeom>
            <a:solidFill>
              <a:srgbClr val="070154"/>
            </a:solidFill>
            <a:ln>
              <a:noFill/>
            </a:ln>
          </p:spPr>
        </p:sp>
        <p:sp>
          <p:nvSpPr>
            <p:cNvPr id="11" name="node02.source-001.text"/>
            <p:cNvSpPr/>
            <p:nvPr/>
          </p:nvSpPr>
          <p:spPr>
            <a:xfrm>
              <a:off x="876300" y="2971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Scheduling, registration, estimates</a:t>
              </a:r>
              <a:endParaRPr lang="en-US" sz="1200" spc="0" kern="0" b="0" i="0" dirty="0">
                <a:solidFill>
                  <a:srgbClr val="070154"/>
                </a:solidFill>
                <a:latin typeface="IBM Plex Sans"/>
                <a:ea typeface="IBM Plex Sans"/>
                <a:cs typeface="IBM Plex Sans"/>
              </a:endParaRPr>
            </a:p>
          </p:txBody>
        </p:sp>
        <p:sp>
          <p:nvSpPr>
            <p:cNvPr id="12" name="node02.source-002.bullet"/>
            <p:cNvSpPr/>
            <p:nvPr/>
          </p:nvSpPr>
          <p:spPr>
            <a:xfrm>
              <a:off x="723900" y="3314700"/>
              <a:ext cx="38100" cy="38100"/>
            </a:xfrm>
            <a:prstGeom prst="rect">
              <a:avLst/>
            </a:prstGeom>
            <a:solidFill>
              <a:srgbClr val="070154"/>
            </a:solidFill>
            <a:ln>
              <a:noFill/>
            </a:ln>
          </p:spPr>
        </p:sp>
        <p:sp>
          <p:nvSpPr>
            <p:cNvPr id="13" name="node02.source-002.text"/>
            <p:cNvSpPr/>
            <p:nvPr/>
          </p:nvSpPr>
          <p:spPr>
            <a:xfrm>
              <a:off x="876300" y="3225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Front-end edits and claims</a:t>
              </a:r>
              <a:endParaRPr lang="en-US" sz="1200" spc="0" kern="0" b="0" i="0" dirty="0">
                <a:solidFill>
                  <a:srgbClr val="070154"/>
                </a:solidFill>
                <a:latin typeface="IBM Plex Sans"/>
                <a:ea typeface="IBM Plex Sans"/>
                <a:cs typeface="IBM Plex Sans"/>
              </a:endParaRPr>
            </a:p>
          </p:txBody>
        </p:sp>
        <p:sp>
          <p:nvSpPr>
            <p:cNvPr id="14" name="node02.source-003.bullet"/>
            <p:cNvSpPr/>
            <p:nvPr/>
          </p:nvSpPr>
          <p:spPr>
            <a:xfrm>
              <a:off x="723900" y="3568700"/>
              <a:ext cx="38100" cy="38100"/>
            </a:xfrm>
            <a:prstGeom prst="rect">
              <a:avLst/>
            </a:prstGeom>
            <a:solidFill>
              <a:srgbClr val="070154"/>
            </a:solidFill>
            <a:ln>
              <a:noFill/>
            </a:ln>
          </p:spPr>
        </p:sp>
        <p:sp>
          <p:nvSpPr>
            <p:cNvPr id="15" name="node02.source-003.text"/>
            <p:cNvSpPr/>
            <p:nvPr/>
          </p:nvSpPr>
          <p:spPr>
            <a:xfrm>
              <a:off x="876300" y="3479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Denial work queues</a:t>
              </a:r>
              <a:endParaRPr lang="en-US" sz="1200" spc="0" kern="0" b="0" i="0" dirty="0">
                <a:solidFill>
                  <a:srgbClr val="070154"/>
                </a:solidFill>
                <a:latin typeface="IBM Plex Sans"/>
                <a:ea typeface="IBM Plex Sans"/>
                <a:cs typeface="IBM Plex Sans"/>
              </a:endParaRPr>
            </a:p>
          </p:txBody>
        </p:sp>
        <p:sp>
          <p:nvSpPr>
            <p:cNvPr id="16" name="node02.source-004.bullet"/>
            <p:cNvSpPr/>
            <p:nvPr/>
          </p:nvSpPr>
          <p:spPr>
            <a:xfrm>
              <a:off x="723900" y="3822700"/>
              <a:ext cx="38100" cy="38100"/>
            </a:xfrm>
            <a:prstGeom prst="rect">
              <a:avLst/>
            </a:prstGeom>
            <a:solidFill>
              <a:srgbClr val="070154"/>
            </a:solidFill>
            <a:ln>
              <a:noFill/>
            </a:ln>
          </p:spPr>
        </p:sp>
        <p:sp>
          <p:nvSpPr>
            <p:cNvPr id="17" name="node02.source-004.text"/>
            <p:cNvSpPr/>
            <p:nvPr/>
          </p:nvSpPr>
          <p:spPr>
            <a:xfrm>
              <a:off x="876300" y="3733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EHR interface design</a:t>
              </a:r>
              <a:endParaRPr lang="en-US" sz="1200" spc="0" kern="0" b="0" i="0" dirty="0">
                <a:solidFill>
                  <a:srgbClr val="070154"/>
                </a:solidFill>
                <a:latin typeface="IBM Plex Sans"/>
                <a:ea typeface="IBM Plex Sans"/>
                <a:cs typeface="IBM Plex Sans"/>
              </a:endParaRPr>
            </a:p>
          </p:txBody>
        </p:sp>
        <p:sp>
          <p:nvSpPr>
            <p:cNvPr id="18" name="node02.source-005.bullet"/>
            <p:cNvSpPr/>
            <p:nvPr/>
          </p:nvSpPr>
          <p:spPr>
            <a:xfrm>
              <a:off x="723900" y="4076700"/>
              <a:ext cx="38100" cy="38100"/>
            </a:xfrm>
            <a:prstGeom prst="rect">
              <a:avLst/>
            </a:prstGeom>
            <a:solidFill>
              <a:srgbClr val="070154"/>
            </a:solidFill>
            <a:ln>
              <a:noFill/>
            </a:ln>
          </p:spPr>
        </p:sp>
        <p:sp>
          <p:nvSpPr>
            <p:cNvPr id="19" name="node02.source-005.text"/>
            <p:cNvSpPr/>
            <p:nvPr/>
          </p:nvSpPr>
          <p:spPr>
            <a:xfrm>
              <a:off x="876300" y="3987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Training and adoption</a:t>
              </a:r>
              <a:endParaRPr lang="en-US" sz="1200" spc="0" kern="0" b="0" i="0" dirty="0">
                <a:solidFill>
                  <a:srgbClr val="070154"/>
                </a:solidFill>
                <a:latin typeface="IBM Plex Sans"/>
                <a:ea typeface="IBM Plex Sans"/>
                <a:cs typeface="IBM Plex Sans"/>
              </a:endParaRPr>
            </a:p>
          </p:txBody>
        </p:sp>
      </p:grpSp>
      <p:grpSp>
        <p:nvGrpSpPr>
          <p:cNvPr id="50" name="node03"/>
          <p:cNvGrpSpPr/>
          <p:nvPr/>
        </p:nvGrpSpPr>
        <p:grpSpPr>
          <a:xfrm>
            <a:off x="4381500" y="2057400"/>
            <a:ext cx="3429000" cy="558800"/>
            <a:chOff x="4381500" y="2057400"/>
            <a:chExt cx="3429000" cy="558800"/>
          </a:xfrm>
        </p:grpSpPr>
        <p:sp>
          <p:nvSpPr>
            <p:cNvPr id="20" name="node03.rule"/>
            <p:cNvSpPr/>
            <p:nvPr/>
          </p:nvSpPr>
          <p:spPr>
            <a:xfrm>
              <a:off x="4381500" y="2057400"/>
              <a:ext cx="3429000" cy="38100"/>
            </a:xfrm>
            <a:prstGeom prst="rect">
              <a:avLst/>
            </a:prstGeom>
            <a:solidFill>
              <a:srgbClr val="070154"/>
            </a:solidFill>
            <a:ln>
              <a:noFill/>
            </a:ln>
          </p:spPr>
        </p:sp>
        <p:sp>
          <p:nvSpPr>
            <p:cNvPr id="21" name="node03.label"/>
            <p:cNvSpPr/>
            <p:nvPr/>
          </p:nvSpPr>
          <p:spPr>
            <a:xfrm>
              <a:off x="4381500" y="22098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OUT OF SCOPE</a:t>
              </a:r>
              <a:endParaRPr lang="en-US" sz="800" spc="48" kern="0" b="0" i="0" dirty="0">
                <a:solidFill>
                  <a:srgbClr val="0047FF"/>
                </a:solidFill>
                <a:latin typeface="IBM Plex Mono Medium"/>
                <a:ea typeface="IBM Plex Mono Medium"/>
                <a:cs typeface="IBM Plex Mono Medium"/>
              </a:endParaRPr>
            </a:p>
          </p:txBody>
        </p:sp>
        <p:sp>
          <p:nvSpPr>
            <p:cNvPr id="22" name="node03.title"/>
            <p:cNvSpPr/>
            <p:nvPr/>
          </p:nvSpPr>
          <p:spPr>
            <a:xfrm>
              <a:off x="4381500" y="23495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What stays with others</a:t>
              </a:r>
              <a:endParaRPr lang="en-US" sz="1600" spc="-16" kern="0" b="0" i="0" dirty="0">
                <a:solidFill>
                  <a:srgbClr val="070154"/>
                </a:solidFill>
                <a:latin typeface="IBM Plex Sans SemiBold"/>
                <a:ea typeface="IBM Plex Sans SemiBold"/>
                <a:cs typeface="IBM Plex Sans SemiBold"/>
              </a:endParaRPr>
            </a:p>
          </p:txBody>
        </p:sp>
      </p:grpSp>
      <p:grpSp>
        <p:nvGrpSpPr>
          <p:cNvPr id="51" name="node04"/>
          <p:cNvGrpSpPr/>
          <p:nvPr/>
        </p:nvGrpSpPr>
        <p:grpSpPr>
          <a:xfrm>
            <a:off x="4381500" y="2971800"/>
            <a:ext cx="3429000" cy="977900"/>
            <a:chOff x="4381500" y="2971800"/>
            <a:chExt cx="3429000" cy="977900"/>
          </a:xfrm>
        </p:grpSpPr>
        <p:sp>
          <p:nvSpPr>
            <p:cNvPr id="23" name="node04.source-001.bullet"/>
            <p:cNvSpPr/>
            <p:nvPr/>
          </p:nvSpPr>
          <p:spPr>
            <a:xfrm>
              <a:off x="4381500" y="3060700"/>
              <a:ext cx="38100" cy="38100"/>
            </a:xfrm>
            <a:prstGeom prst="rect">
              <a:avLst/>
            </a:prstGeom>
            <a:solidFill>
              <a:srgbClr val="070154"/>
            </a:solidFill>
            <a:ln>
              <a:noFill/>
            </a:ln>
          </p:spPr>
        </p:sp>
        <p:sp>
          <p:nvSpPr>
            <p:cNvPr id="24" name="node04.source-001.text"/>
            <p:cNvSpPr/>
            <p:nvPr/>
          </p:nvSpPr>
          <p:spPr>
            <a:xfrm>
              <a:off x="4533900" y="2971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EHR configuration and build</a:t>
              </a:r>
              <a:endParaRPr lang="en-US" sz="1200" spc="0" kern="0" b="0" i="0" dirty="0">
                <a:solidFill>
                  <a:srgbClr val="070154"/>
                </a:solidFill>
                <a:latin typeface="IBM Plex Sans"/>
                <a:ea typeface="IBM Plex Sans"/>
                <a:cs typeface="IBM Plex Sans"/>
              </a:endParaRPr>
            </a:p>
          </p:txBody>
        </p:sp>
        <p:sp>
          <p:nvSpPr>
            <p:cNvPr id="25" name="node04.source-002.bullet"/>
            <p:cNvSpPr/>
            <p:nvPr/>
          </p:nvSpPr>
          <p:spPr>
            <a:xfrm>
              <a:off x="4381500" y="3314700"/>
              <a:ext cx="38100" cy="38100"/>
            </a:xfrm>
            <a:prstGeom prst="rect">
              <a:avLst/>
            </a:prstGeom>
            <a:solidFill>
              <a:srgbClr val="070154"/>
            </a:solidFill>
            <a:ln>
              <a:noFill/>
            </a:ln>
          </p:spPr>
        </p:sp>
        <p:sp>
          <p:nvSpPr>
            <p:cNvPr id="26" name="node04.source-002.text"/>
            <p:cNvSpPr/>
            <p:nvPr/>
          </p:nvSpPr>
          <p:spPr>
            <a:xfrm>
              <a:off x="4533900" y="3225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Clinical documentation redesign</a:t>
              </a:r>
              <a:endParaRPr lang="en-US" sz="1200" spc="0" kern="0" b="0" i="0" dirty="0">
                <a:solidFill>
                  <a:srgbClr val="070154"/>
                </a:solidFill>
                <a:latin typeface="IBM Plex Sans"/>
                <a:ea typeface="IBM Plex Sans"/>
                <a:cs typeface="IBM Plex Sans"/>
              </a:endParaRPr>
            </a:p>
          </p:txBody>
        </p:sp>
        <p:sp>
          <p:nvSpPr>
            <p:cNvPr id="27" name="node04.source-003.bullet"/>
            <p:cNvSpPr/>
            <p:nvPr/>
          </p:nvSpPr>
          <p:spPr>
            <a:xfrm>
              <a:off x="4381500" y="3568700"/>
              <a:ext cx="38100" cy="38100"/>
            </a:xfrm>
            <a:prstGeom prst="rect">
              <a:avLst/>
            </a:prstGeom>
            <a:solidFill>
              <a:srgbClr val="070154"/>
            </a:solidFill>
            <a:ln>
              <a:noFill/>
            </a:ln>
          </p:spPr>
        </p:sp>
        <p:sp>
          <p:nvSpPr>
            <p:cNvPr id="28" name="node04.source-003.text"/>
            <p:cNvSpPr/>
            <p:nvPr/>
          </p:nvSpPr>
          <p:spPr>
            <a:xfrm>
              <a:off x="4533900" y="3479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Payer contract negotiation</a:t>
              </a:r>
              <a:endParaRPr lang="en-US" sz="1200" spc="0" kern="0" b="0" i="0" dirty="0">
                <a:solidFill>
                  <a:srgbClr val="070154"/>
                </a:solidFill>
                <a:latin typeface="IBM Plex Sans"/>
                <a:ea typeface="IBM Plex Sans"/>
                <a:cs typeface="IBM Plex Sans"/>
              </a:endParaRPr>
            </a:p>
          </p:txBody>
        </p:sp>
        <p:sp>
          <p:nvSpPr>
            <p:cNvPr id="29" name="node04.source-004.bullet"/>
            <p:cNvSpPr/>
            <p:nvPr/>
          </p:nvSpPr>
          <p:spPr>
            <a:xfrm>
              <a:off x="4381500" y="3822700"/>
              <a:ext cx="38100" cy="38100"/>
            </a:xfrm>
            <a:prstGeom prst="rect">
              <a:avLst/>
            </a:prstGeom>
            <a:solidFill>
              <a:srgbClr val="070154"/>
            </a:solidFill>
            <a:ln>
              <a:noFill/>
            </a:ln>
          </p:spPr>
        </p:sp>
        <p:sp>
          <p:nvSpPr>
            <p:cNvPr id="30" name="node04.source-004.text"/>
            <p:cNvSpPr/>
            <p:nvPr/>
          </p:nvSpPr>
          <p:spPr>
            <a:xfrm>
              <a:off x="4533900" y="3733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Network and hardware refresh</a:t>
              </a:r>
              <a:endParaRPr lang="en-US" sz="1200" spc="0" kern="0" b="0" i="0" dirty="0">
                <a:solidFill>
                  <a:srgbClr val="070154"/>
                </a:solidFill>
                <a:latin typeface="IBM Plex Sans"/>
                <a:ea typeface="IBM Plex Sans"/>
                <a:cs typeface="IBM Plex Sans"/>
              </a:endParaRPr>
            </a:p>
          </p:txBody>
        </p:sp>
      </p:grpSp>
      <p:grpSp>
        <p:nvGrpSpPr>
          <p:cNvPr id="52" name="node05"/>
          <p:cNvGrpSpPr/>
          <p:nvPr/>
        </p:nvGrpSpPr>
        <p:grpSpPr>
          <a:xfrm>
            <a:off x="723900" y="5029200"/>
            <a:ext cx="7086600" cy="685800"/>
            <a:chOff x="723900" y="5029200"/>
            <a:chExt cx="7086600" cy="685800"/>
          </a:xfrm>
        </p:grpSpPr>
        <p:sp>
          <p:nvSpPr>
            <p:cNvPr id="31" name="node05.surface"/>
            <p:cNvSpPr/>
            <p:nvPr/>
          </p:nvSpPr>
          <p:spPr>
            <a:xfrm>
              <a:off x="723900" y="5029200"/>
              <a:ext cx="7086600" cy="685800"/>
            </a:xfrm>
            <a:prstGeom prst="rect">
              <a:avLst/>
            </a:prstGeom>
            <a:solidFill>
              <a:srgbClr val="070154"/>
            </a:solidFill>
            <a:ln>
              <a:noFill/>
            </a:ln>
          </p:spPr>
        </p:sp>
        <p:sp>
          <p:nvSpPr>
            <p:cNvPr id="32" name="node05.text"/>
            <p:cNvSpPr/>
            <p:nvPr/>
          </p:nvSpPr>
          <p:spPr>
            <a:xfrm>
              <a:off x="876300" y="5264150"/>
              <a:ext cx="6781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Boundary rule: any change to the EHR build is a change request.</a:t>
              </a:r>
              <a:endParaRPr lang="en-US" sz="1200" spc="0" kern="0" b="0" i="0" dirty="0">
                <a:solidFill>
                  <a:srgbClr val="FFFFFF"/>
                </a:solidFill>
                <a:latin typeface="IBM Plex Sans"/>
                <a:ea typeface="IBM Plex Sans"/>
                <a:cs typeface="IBM Plex Sans"/>
              </a:endParaRPr>
            </a:p>
          </p:txBody>
        </p:sp>
      </p:grpSp>
      <p:grpSp>
        <p:nvGrpSpPr>
          <p:cNvPr id="53" name="node06"/>
          <p:cNvGrpSpPr/>
          <p:nvPr/>
        </p:nvGrpSpPr>
        <p:grpSpPr>
          <a:xfrm>
            <a:off x="8039100" y="457200"/>
            <a:ext cx="3429000" cy="5257800"/>
            <a:chOff x="8039100" y="457200"/>
            <a:chExt cx="3429000" cy="5257800"/>
          </a:xfrm>
        </p:grpSpPr>
        <p:sp>
          <p:nvSpPr>
            <p:cNvPr id="33" name="node06.container"/>
            <p:cNvSpPr/>
            <p:nvPr/>
          </p:nvSpPr>
          <p:spPr>
            <a:xfrm>
              <a:off x="8039100" y="457200"/>
              <a:ext cx="3429000" cy="5257800"/>
            </a:xfrm>
            <a:prstGeom prst="rect">
              <a:avLst/>
            </a:prstGeom>
            <a:solidFill>
              <a:srgbClr val="E8EEF8"/>
            </a:solidFill>
            <a:ln>
              <a:noFill/>
            </a:ln>
          </p:spPr>
        </p:sp>
        <p:sp>
          <p:nvSpPr>
            <p:cNvPr id="34" name="node06.label"/>
            <p:cNvSpPr/>
            <p:nvPr/>
          </p:nvSpPr>
          <p:spPr>
            <a:xfrm>
              <a:off x="8267700" y="6858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TO CONFIRM</a:t>
              </a:r>
              <a:endParaRPr lang="en-US" sz="800" spc="48" kern="0" b="0" i="0" dirty="0">
                <a:solidFill>
                  <a:srgbClr val="0047FF"/>
                </a:solidFill>
                <a:latin typeface="IBM Plex Mono Medium"/>
                <a:ea typeface="IBM Plex Mono Medium"/>
                <a:cs typeface="IBM Plex Mono Medium"/>
              </a:endParaRPr>
            </a:p>
          </p:txBody>
        </p:sp>
        <p:sp>
          <p:nvSpPr>
            <p:cNvPr id="35" name="node06.title"/>
            <p:cNvSpPr/>
            <p:nvPr/>
          </p:nvSpPr>
          <p:spPr>
            <a:xfrm>
              <a:off x="8267700" y="9017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Assumptions</a:t>
              </a:r>
              <a:endParaRPr lang="en-US" sz="1600" spc="-16" kern="0" b="0" i="0" dirty="0">
                <a:solidFill>
                  <a:srgbClr val="070154"/>
                </a:solidFill>
                <a:latin typeface="IBM Plex Sans SemiBold"/>
                <a:ea typeface="IBM Plex Sans SemiBold"/>
                <a:cs typeface="IBM Plex Sans SemiBold"/>
              </a:endParaRPr>
            </a:p>
          </p:txBody>
        </p:sp>
        <p:sp>
          <p:nvSpPr>
            <p:cNvPr id="36" name="node06.body.item-001.bullets.item-001.marker"/>
            <p:cNvSpPr/>
            <p:nvPr/>
          </p:nvSpPr>
          <p:spPr>
            <a:xfrm>
              <a:off x="8267700" y="1409700"/>
              <a:ext cx="38100" cy="38100"/>
            </a:xfrm>
            <a:prstGeom prst="rect">
              <a:avLst/>
            </a:prstGeom>
            <a:solidFill>
              <a:srgbClr val="070154"/>
            </a:solidFill>
            <a:ln>
              <a:noFill/>
            </a:ln>
          </p:spPr>
        </p:sp>
        <p:sp>
          <p:nvSpPr>
            <p:cNvPr id="37" name="node06.body.item-001.bullets.item-001.text"/>
            <p:cNvSpPr/>
            <p:nvPr/>
          </p:nvSpPr>
          <p:spPr>
            <a:xfrm>
              <a:off x="8420100" y="1320800"/>
              <a:ext cx="2819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Wave one covers four hospitals and 20 clinics</a:t>
              </a:r>
              <a:endParaRPr lang="en-US" sz="1200" spc="0" kern="0" b="0" i="0" dirty="0">
                <a:solidFill>
                  <a:srgbClr val="070154"/>
                </a:solidFill>
                <a:latin typeface="IBM Plex Sans"/>
                <a:ea typeface="IBM Plex Sans"/>
                <a:cs typeface="IBM Plex Sans"/>
              </a:endParaRPr>
            </a:p>
          </p:txBody>
        </p:sp>
        <p:sp>
          <p:nvSpPr>
            <p:cNvPr id="38" name="node06.body.item-001.bullets.item-002.marker"/>
            <p:cNvSpPr/>
            <p:nvPr/>
          </p:nvSpPr>
          <p:spPr>
            <a:xfrm>
              <a:off x="8267700" y="1879600"/>
              <a:ext cx="38100" cy="38100"/>
            </a:xfrm>
            <a:prstGeom prst="rect">
              <a:avLst/>
            </a:prstGeom>
            <a:solidFill>
              <a:srgbClr val="070154"/>
            </a:solidFill>
            <a:ln>
              <a:noFill/>
            </a:ln>
          </p:spPr>
        </p:sp>
        <p:sp>
          <p:nvSpPr>
            <p:cNvPr id="39" name="node06.body.item-001.bullets.item-002.text"/>
            <p:cNvSpPr/>
            <p:nvPr/>
          </p:nvSpPr>
          <p:spPr>
            <a:xfrm>
              <a:off x="8420100" y="1790700"/>
              <a:ext cx="2819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 receive read access to all three schedulers</a:t>
              </a:r>
              <a:endParaRPr lang="en-US" sz="1200" spc="0" kern="0" b="0" i="0" dirty="0">
                <a:solidFill>
                  <a:srgbClr val="070154"/>
                </a:solidFill>
                <a:latin typeface="IBM Plex Sans"/>
                <a:ea typeface="IBM Plex Sans"/>
                <a:cs typeface="IBM Plex Sans"/>
              </a:endParaRPr>
            </a:p>
          </p:txBody>
        </p:sp>
        <p:sp>
          <p:nvSpPr>
            <p:cNvPr id="40" name="node06.body.item-001.bullets.item-003.marker"/>
            <p:cNvSpPr/>
            <p:nvPr/>
          </p:nvSpPr>
          <p:spPr>
            <a:xfrm>
              <a:off x="8267700" y="2349500"/>
              <a:ext cx="38100" cy="38100"/>
            </a:xfrm>
            <a:prstGeom prst="rect">
              <a:avLst/>
            </a:prstGeom>
            <a:solidFill>
              <a:srgbClr val="070154"/>
            </a:solidFill>
            <a:ln>
              <a:noFill/>
            </a:ln>
          </p:spPr>
        </p:sp>
        <p:sp>
          <p:nvSpPr>
            <p:cNvPr id="41" name="node06.body.item-001.bullets.item-003.text"/>
            <p:cNvSpPr/>
            <p:nvPr/>
          </p:nvSpPr>
          <p:spPr>
            <a:xfrm>
              <a:off x="8420100" y="2260600"/>
              <a:ext cx="2819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leader owns access and billing decisions</a:t>
              </a:r>
              <a:endParaRPr lang="en-US" sz="1200" spc="0" kern="0" b="0" i="0" dirty="0">
                <a:solidFill>
                  <a:srgbClr val="070154"/>
                </a:solidFill>
                <a:latin typeface="IBM Plex Sans"/>
                <a:ea typeface="IBM Plex Sans"/>
                <a:cs typeface="IBM Plex Sans"/>
              </a:endParaRPr>
            </a:p>
          </p:txBody>
        </p:sp>
        <p:sp>
          <p:nvSpPr>
            <p:cNvPr id="42" name="node06.body.item-001.bullets.item-004.marker"/>
            <p:cNvSpPr/>
            <p:nvPr/>
          </p:nvSpPr>
          <p:spPr>
            <a:xfrm>
              <a:off x="8267700" y="2819400"/>
              <a:ext cx="38100" cy="38100"/>
            </a:xfrm>
            <a:prstGeom prst="rect">
              <a:avLst/>
            </a:prstGeom>
            <a:solidFill>
              <a:srgbClr val="070154"/>
            </a:solidFill>
            <a:ln>
              <a:noFill/>
            </a:ln>
          </p:spPr>
        </p:sp>
        <p:sp>
          <p:nvSpPr>
            <p:cNvPr id="43" name="node06.body.item-001.bullets.item-004.text"/>
            <p:cNvSpPr/>
            <p:nvPr/>
          </p:nvSpPr>
          <p:spPr>
            <a:xfrm>
              <a:off x="8420100" y="27305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The Q3 go-live date is fixed</a:t>
              </a:r>
              <a:endParaRPr lang="en-US" sz="1200" spc="0" kern="0" b="0" i="0" dirty="0">
                <a:solidFill>
                  <a:srgbClr val="070154"/>
                </a:solidFill>
                <a:latin typeface="IBM Plex Sans"/>
                <a:ea typeface="IBM Plex Sans"/>
                <a:cs typeface="IBM Plex Sans"/>
              </a:endParaRPr>
            </a:p>
          </p:txBody>
        </p:sp>
        <p:sp>
          <p:nvSpPr>
            <p:cNvPr id="44" name="node06.body.item-001.bullets.item-005.marker"/>
            <p:cNvSpPr/>
            <p:nvPr/>
          </p:nvSpPr>
          <p:spPr>
            <a:xfrm>
              <a:off x="8267700" y="3073400"/>
              <a:ext cx="38100" cy="38100"/>
            </a:xfrm>
            <a:prstGeom prst="rect">
              <a:avLst/>
            </a:prstGeom>
            <a:solidFill>
              <a:srgbClr val="070154"/>
            </a:solidFill>
            <a:ln>
              <a:noFill/>
            </a:ln>
          </p:spPr>
        </p:sp>
        <p:sp>
          <p:nvSpPr>
            <p:cNvPr id="45" name="node06.body.item-001.bullets.item-005.text"/>
            <p:cNvSpPr/>
            <p:nvPr/>
          </p:nvSpPr>
          <p:spPr>
            <a:xfrm>
              <a:off x="8420100" y="29845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Phase one funding is approved</a:t>
              </a:r>
              <a:endParaRPr lang="en-US" sz="1200" spc="0" kern="0" b="0" i="0" dirty="0">
                <a:solidFill>
                  <a:srgbClr val="070154"/>
                </a:solidFill>
                <a:latin typeface="IBM Plex Sans"/>
                <a:ea typeface="IBM Plex Sans"/>
                <a:cs typeface="IBM Plex Sans"/>
              </a:endParaRPr>
            </a:p>
          </p:txBody>
        </p:sp>
        <p:sp>
          <p:nvSpPr>
            <p:cNvPr id="46" name="node06.body.item-001.bullets.item-006.marker"/>
            <p:cNvSpPr/>
            <p:nvPr/>
          </p:nvSpPr>
          <p:spPr>
            <a:xfrm>
              <a:off x="8267700" y="3327400"/>
              <a:ext cx="38100" cy="38100"/>
            </a:xfrm>
            <a:prstGeom prst="rect">
              <a:avLst/>
            </a:prstGeom>
            <a:solidFill>
              <a:srgbClr val="070154"/>
            </a:solidFill>
            <a:ln>
              <a:noFill/>
            </a:ln>
          </p:spPr>
        </p:sp>
        <p:sp>
          <p:nvSpPr>
            <p:cNvPr id="47" name="node06.body.item-001.bullets.item-006.text"/>
            <p:cNvSpPr/>
            <p:nvPr/>
          </p:nvSpPr>
          <p:spPr>
            <a:xfrm>
              <a:off x="8420100" y="32385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Northfield names one executive sponsor</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ource-577">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7271534" y="733532"/>
            <a:ext cx="3416261" cy="374904"/>
          </a:xfrm>
          <a:prstGeom prst="rect">
            <a:avLst/>
          </a:prstGeom>
        </p:spPr>
      </p:pic>
      <p:pic>
        <p:nvPicPr>
          <p:cNvPr id="5" name="title.mark-002-002" descr="highlight-1; canonical SHA256=b0048aa39744978d339a9910f5cc1482814a8a0eae4c5a63e1f80d6a2885b314">    </p:cNvPr>
          <p:cNvPicPr>
            <a:picLocks noChangeAspect="1"/>
          </p:cNvPicPr>
          <p:nvPr/>
        </p:nvPicPr>
        <p:blipFill>
          <a:blip r:embed="rId2"/>
          <a:stretch>
            <a:fillRect/>
          </a:stretch>
        </p:blipFill>
        <p:spPr>
          <a:xfrm>
            <a:off x="4340860" y="1190732"/>
            <a:ext cx="1308870" cy="374904"/>
          </a:xfrm>
          <a:prstGeom prst="rect">
            <a:avLst/>
          </a:prstGeom>
        </p:spPr>
      </p:pic>
      <p:sp>
        <p:nvSpPr>
          <p:cNvPr id="6"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You asked us to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modernize patient </a:t>
            </a:r>
            <a:br>
              <a:rPr lang="en-US" sz="3200" spc="-64" kern="0" b="0" i="0" dirty="0">
                <a:solidFill>
                  <a:srgbClr val="070154"/>
                </a:solidFill>
                <a:latin typeface="IBM Plex Sans SemiBold"/>
                <a:ea typeface="IBM Plex Sans SemiBold"/>
                <a:cs typeface="IBM Plex Sans SemiBold"/>
              </a:rPr>
            </a:br>
            <a:r>
              <a:rPr lang="en-US" sz="3200" spc="-64" kern="0" b="0" i="0" dirty="0">
                <a:solidFill>
                  <a:srgbClr val="070154"/>
                </a:solidFill>
                <a:latin typeface="IBM Plex Sans SemiBold"/>
                <a:ea typeface="IBM Plex Sans SemiBold"/>
                <a:cs typeface="IBM Plex Sans SemiBold"/>
              </a:rPr>
              <a:t xml:space="preserve">access</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and the revenue cycle</a:t>
            </a:r>
            <a:endParaRPr lang="en-US" sz="3200" spc="-64" kern="0" b="0" i="0" dirty="0">
              <a:solidFill>
                <a:srgbClr val="070154"/>
              </a:solidFill>
              <a:latin typeface="IBM Plex Sans SemiBold"/>
              <a:ea typeface="IBM Plex Sans SemiBold"/>
              <a:cs typeface="IBM Plex Sans SemiBold"/>
            </a:endParaRPr>
          </a:p>
        </p:txBody>
      </p:sp>
      <p:sp>
        <p:nvSpPr>
          <p:cNvPr id="7"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RFP language and figures for layout only; replace before use.</a:t>
            </a:r>
            <a:endParaRPr lang="en-US" sz="900" spc="0" kern="0" b="0" i="0" dirty="0">
              <a:solidFill>
                <a:srgbClr val="50658E"/>
              </a:solidFill>
              <a:latin typeface="IBM Plex Sans"/>
              <a:ea typeface="IBM Plex Sans"/>
              <a:cs typeface="IBM Plex Sans"/>
            </a:endParaRPr>
          </a:p>
        </p:txBody>
      </p:sp>
      <p:sp>
        <p:nvSpPr>
          <p:cNvPr id="8"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1600200"/>
            <a:ext cx="2514600" cy="139700"/>
            <a:chOff x="723900" y="1600200"/>
            <a:chExt cx="2514600" cy="139700"/>
          </a:xfrm>
        </p:grpSpPr>
        <p:sp>
          <p:nvSpPr>
            <p:cNvPr id="9" name="node01.text"/>
            <p:cNvSpPr/>
            <p:nvPr/>
          </p:nvSpPr>
          <p:spPr>
            <a:xfrm>
              <a:off x="7239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RFP SECTION 1.2</a:t>
              </a:r>
              <a:endParaRPr lang="en-US" sz="800" spc="48" kern="0" b="0" i="0" dirty="0">
                <a:solidFill>
                  <a:srgbClr val="CED7E6"/>
                </a:solidFill>
                <a:latin typeface="IBM Plex Mono Medium"/>
                <a:ea typeface="IBM Plex Mono Medium"/>
                <a:cs typeface="IBM Plex Mono Medium"/>
              </a:endParaRPr>
            </a:p>
          </p:txBody>
        </p:sp>
      </p:grpSp>
      <p:grpSp>
        <p:nvGrpSpPr>
          <p:cNvPr id="34" name="node02"/>
          <p:cNvGrpSpPr/>
          <p:nvPr/>
        </p:nvGrpSpPr>
        <p:grpSpPr>
          <a:xfrm>
            <a:off x="723900" y="1905000"/>
            <a:ext cx="2514600" cy="800100"/>
            <a:chOff x="723900" y="1905000"/>
            <a:chExt cx="2514600" cy="800100"/>
          </a:xfrm>
        </p:grpSpPr>
        <p:sp>
          <p:nvSpPr>
            <p:cNvPr id="10" name="node02.text"/>
            <p:cNvSpPr/>
            <p:nvPr/>
          </p:nvSpPr>
          <p:spPr>
            <a:xfrm>
              <a:off x="723900" y="1905000"/>
              <a:ext cx="2514600" cy="8001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“We want a partner who owns the outcome, not the work plan.”</a:t>
              </a:r>
              <a:endParaRPr lang="en-US" sz="1600" spc="-16" kern="0" b="0" i="0" dirty="0">
                <a:solidFill>
                  <a:srgbClr val="FFFFFF"/>
                </a:solidFill>
                <a:latin typeface="IBM Plex Sans SemiBold"/>
                <a:ea typeface="IBM Plex Sans SemiBold"/>
                <a:cs typeface="IBM Plex Sans SemiBold"/>
              </a:endParaRPr>
            </a:p>
          </p:txBody>
        </p:sp>
      </p:grpSp>
      <p:sp>
        <p:nvSpPr>
          <p:cNvPr id="11" name="node03"/>
          <p:cNvSpPr/>
          <p:nvPr/>
        </p:nvSpPr>
        <p:spPr>
          <a:xfrm>
            <a:off x="723900" y="3657600"/>
            <a:ext cx="2514600" cy="9525"/>
          </a:xfrm>
          <a:prstGeom prst="rect">
            <a:avLst/>
          </a:prstGeom>
          <a:solidFill>
            <a:srgbClr val="50658E"/>
          </a:solidFill>
          <a:ln>
            <a:noFill/>
          </a:ln>
        </p:spPr>
      </p:sp>
      <p:grpSp>
        <p:nvGrpSpPr>
          <p:cNvPr id="35" name="node04"/>
          <p:cNvGrpSpPr/>
          <p:nvPr/>
        </p:nvGrpSpPr>
        <p:grpSpPr>
          <a:xfrm>
            <a:off x="723900" y="3886200"/>
            <a:ext cx="2514600" cy="139700"/>
            <a:chOff x="723900" y="3886200"/>
            <a:chExt cx="2514600" cy="139700"/>
          </a:xfrm>
        </p:grpSpPr>
        <p:sp>
          <p:nvSpPr>
            <p:cNvPr id="12" name="node04.text"/>
            <p:cNvSpPr/>
            <p:nvPr/>
          </p:nvSpPr>
          <p:spPr>
            <a:xfrm>
              <a:off x="723900" y="3886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NORTHFIELD TODAY</a:t>
              </a:r>
              <a:endParaRPr lang="en-US" sz="800" spc="48" kern="0" b="0" i="0" dirty="0">
                <a:solidFill>
                  <a:srgbClr val="CED7E6"/>
                </a:solidFill>
                <a:latin typeface="IBM Plex Mono Medium"/>
                <a:ea typeface="IBM Plex Mono Medium"/>
                <a:cs typeface="IBM Plex Mono Medium"/>
              </a:endParaRPr>
            </a:p>
          </p:txBody>
        </p:sp>
      </p:grpSp>
      <p:grpSp>
        <p:nvGrpSpPr>
          <p:cNvPr id="36" name="node05"/>
          <p:cNvGrpSpPr/>
          <p:nvPr/>
        </p:nvGrpSpPr>
        <p:grpSpPr>
          <a:xfrm>
            <a:off x="723900" y="4191000"/>
            <a:ext cx="2514600" cy="1193800"/>
            <a:chOff x="723900" y="4191000"/>
            <a:chExt cx="2514600" cy="1193800"/>
          </a:xfrm>
        </p:grpSpPr>
        <p:sp>
          <p:nvSpPr>
            <p:cNvPr id="13" name="node05.source-001.bullet"/>
            <p:cNvSpPr/>
            <p:nvPr/>
          </p:nvSpPr>
          <p:spPr>
            <a:xfrm>
              <a:off x="723900" y="4279900"/>
              <a:ext cx="38100" cy="38100"/>
            </a:xfrm>
            <a:prstGeom prst="rect">
              <a:avLst/>
            </a:prstGeom>
            <a:solidFill>
              <a:srgbClr val="FFFFFF"/>
            </a:solidFill>
            <a:ln>
              <a:noFill/>
            </a:ln>
          </p:spPr>
        </p:sp>
        <p:sp>
          <p:nvSpPr>
            <p:cNvPr id="14" name="node05.source-001.text"/>
            <p:cNvSpPr/>
            <p:nvPr/>
          </p:nvSpPr>
          <p:spPr>
            <a:xfrm>
              <a:off x="876300" y="4191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Seven hospitals, 64 clinics</a:t>
              </a:r>
              <a:endParaRPr lang="en-US" sz="1200" spc="0" kern="0" b="0" i="0" dirty="0">
                <a:solidFill>
                  <a:srgbClr val="FFFFFF"/>
                </a:solidFill>
                <a:latin typeface="IBM Plex Sans"/>
                <a:ea typeface="IBM Plex Sans"/>
                <a:cs typeface="IBM Plex Sans"/>
              </a:endParaRPr>
            </a:p>
          </p:txBody>
        </p:sp>
        <p:sp>
          <p:nvSpPr>
            <p:cNvPr id="15" name="node05.source-002.bullet"/>
            <p:cNvSpPr/>
            <p:nvPr/>
          </p:nvSpPr>
          <p:spPr>
            <a:xfrm>
              <a:off x="723900" y="4533900"/>
              <a:ext cx="38100" cy="38100"/>
            </a:xfrm>
            <a:prstGeom prst="rect">
              <a:avLst/>
            </a:prstGeom>
            <a:solidFill>
              <a:srgbClr val="FFFFFF"/>
            </a:solidFill>
            <a:ln>
              <a:noFill/>
            </a:ln>
          </p:spPr>
        </p:sp>
        <p:sp>
          <p:nvSpPr>
            <p:cNvPr id="16" name="node05.source-002.text"/>
            <p:cNvSpPr/>
            <p:nvPr/>
          </p:nvSpPr>
          <p:spPr>
            <a:xfrm>
              <a:off x="876300" y="4445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Three scheduling tools</a:t>
              </a:r>
              <a:endParaRPr lang="en-US" sz="1200" spc="0" kern="0" b="0" i="0" dirty="0">
                <a:solidFill>
                  <a:srgbClr val="FFFFFF"/>
                </a:solidFill>
                <a:latin typeface="IBM Plex Sans"/>
                <a:ea typeface="IBM Plex Sans"/>
                <a:cs typeface="IBM Plex Sans"/>
              </a:endParaRPr>
            </a:p>
          </p:txBody>
        </p:sp>
        <p:sp>
          <p:nvSpPr>
            <p:cNvPr id="17" name="node05.source-003.bullet"/>
            <p:cNvSpPr/>
            <p:nvPr/>
          </p:nvSpPr>
          <p:spPr>
            <a:xfrm>
              <a:off x="723900" y="4787900"/>
              <a:ext cx="38100" cy="38100"/>
            </a:xfrm>
            <a:prstGeom prst="rect">
              <a:avLst/>
            </a:prstGeom>
            <a:solidFill>
              <a:srgbClr val="FFFFFF"/>
            </a:solidFill>
            <a:ln>
              <a:noFill/>
            </a:ln>
          </p:spPr>
        </p:sp>
        <p:sp>
          <p:nvSpPr>
            <p:cNvPr id="18" name="node05.source-003.text"/>
            <p:cNvSpPr/>
            <p:nvPr/>
          </p:nvSpPr>
          <p:spPr>
            <a:xfrm>
              <a:off x="876300" y="46990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11% of denials start at registration</a:t>
              </a:r>
              <a:endParaRPr lang="en-US" sz="1200" spc="0" kern="0" b="0" i="0" dirty="0">
                <a:solidFill>
                  <a:srgbClr val="FFFFFF"/>
                </a:solidFill>
                <a:latin typeface="IBM Plex Sans"/>
                <a:ea typeface="IBM Plex Sans"/>
                <a:cs typeface="IBM Plex Sans"/>
              </a:endParaRPr>
            </a:p>
          </p:txBody>
        </p:sp>
        <p:sp>
          <p:nvSpPr>
            <p:cNvPr id="19" name="node05.source-004.bullet"/>
            <p:cNvSpPr/>
            <p:nvPr/>
          </p:nvSpPr>
          <p:spPr>
            <a:xfrm>
              <a:off x="723900" y="5257800"/>
              <a:ext cx="38100" cy="38100"/>
            </a:xfrm>
            <a:prstGeom prst="rect">
              <a:avLst/>
            </a:prstGeom>
            <a:solidFill>
              <a:srgbClr val="FFFFFF"/>
            </a:solidFill>
            <a:ln>
              <a:noFill/>
            </a:ln>
          </p:spPr>
        </p:sp>
        <p:sp>
          <p:nvSpPr>
            <p:cNvPr id="20" name="node05.source-004.text"/>
            <p:cNvSpPr/>
            <p:nvPr/>
          </p:nvSpPr>
          <p:spPr>
            <a:xfrm>
              <a:off x="876300" y="5168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EHR go-live in Q3 next year</a:t>
              </a:r>
              <a:endParaRPr lang="en-US" sz="1200" spc="0" kern="0" b="0" i="0" dirty="0">
                <a:solidFill>
                  <a:srgbClr val="FFFFFF"/>
                </a:solidFill>
                <a:latin typeface="IBM Plex Sans"/>
                <a:ea typeface="IBM Plex Sans"/>
                <a:cs typeface="IBM Plex Sans"/>
              </a:endParaRPr>
            </a:p>
          </p:txBody>
        </p:sp>
      </p:grpSp>
      <p:grpSp>
        <p:nvGrpSpPr>
          <p:cNvPr id="37" name="node06"/>
          <p:cNvGrpSpPr/>
          <p:nvPr/>
        </p:nvGrpSpPr>
        <p:grpSpPr>
          <a:xfrm>
            <a:off x="4381500" y="2057400"/>
            <a:ext cx="7086600" cy="508000"/>
            <a:chOff x="4381500" y="2057400"/>
            <a:chExt cx="7086600" cy="508000"/>
          </a:xfrm>
        </p:grpSpPr>
        <p:sp>
          <p:nvSpPr>
            <p:cNvPr id="21" name="node06.text"/>
            <p:cNvSpPr/>
            <p:nvPr/>
          </p:nvSpPr>
          <p:spPr>
            <a:xfrm>
              <a:off x="4381500" y="2057400"/>
              <a:ext cx="7086600" cy="508000"/>
            </a:xfrm>
            <a:prstGeom prst="rect">
              <a:avLst/>
            </a:prstGeom>
            <a:noFill/>
            <a:ln/>
          </p:spPr>
          <p:txBody>
            <a:bodyPr wrap="square" lIns="0" tIns="0" rIns="0" bIns="0" rtlCol="0" anchor="t"/>
            <a:lstStyle/>
            <a:p>
              <a:pPr algn="l" indent="0" marL="0">
                <a:lnSpc>
                  <a:spcPts val="2000"/>
                </a:lnSpc>
                <a:buNone/>
              </a:pPr>
              <a:r>
                <a:rPr lang="en-US" sz="1400" spc="0" kern="0" b="0" i="0" dirty="0">
                  <a:solidFill>
                    <a:srgbClr val="50658E"/>
                  </a:solidFill>
                  <a:latin typeface="IBM Plex Sans"/>
                  <a:ea typeface="IBM Plex Sans"/>
                  <a:cs typeface="IBM Plex Sans"/>
                </a:rPr>
                <a:t>Northfield wants one partner to redesign how patients are scheduled, registered and billed, and to own the result.</a:t>
              </a:r>
              <a:endParaRPr lang="en-US" sz="1400" spc="0" kern="0" b="0" i="0" dirty="0">
                <a:solidFill>
                  <a:srgbClr val="50658E"/>
                </a:solidFill>
                <a:latin typeface="IBM Plex Sans"/>
                <a:ea typeface="IBM Plex Sans"/>
                <a:cs typeface="IBM Plex Sans"/>
              </a:endParaRPr>
            </a:p>
          </p:txBody>
        </p:sp>
      </p:grpSp>
      <p:grpSp>
        <p:nvGrpSpPr>
          <p:cNvPr id="38" name="node07"/>
          <p:cNvGrpSpPr/>
          <p:nvPr/>
        </p:nvGrpSpPr>
        <p:grpSpPr>
          <a:xfrm>
            <a:off x="4381500" y="3048000"/>
            <a:ext cx="2971800" cy="330200"/>
            <a:chOff x="4381500" y="3048000"/>
            <a:chExt cx="2971800" cy="330200"/>
          </a:xfrm>
        </p:grpSpPr>
        <p:sp>
          <p:nvSpPr>
            <p:cNvPr id="22" name="node07.number"/>
            <p:cNvSpPr/>
            <p:nvPr/>
          </p:nvSpPr>
          <p:spPr>
            <a:xfrm>
              <a:off x="4381500" y="3097784"/>
              <a:ext cx="24574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23" name="node07.text"/>
            <p:cNvSpPr/>
            <p:nvPr/>
          </p:nvSpPr>
          <p:spPr>
            <a:xfrm>
              <a:off x="4740275" y="3048000"/>
              <a:ext cx="2613025"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One front door</a:t>
              </a:r>
              <a:endParaRPr lang="en-US" sz="2100" spc="-32" kern="0" b="0" i="0" dirty="0">
                <a:solidFill>
                  <a:srgbClr val="070154"/>
                </a:solidFill>
                <a:latin typeface="IBM Plex Sans SemiBold"/>
                <a:ea typeface="IBM Plex Sans SemiBold"/>
                <a:cs typeface="IBM Plex Sans SemiBold"/>
              </a:endParaRPr>
            </a:p>
          </p:txBody>
        </p:sp>
      </p:grpSp>
      <p:grpSp>
        <p:nvGrpSpPr>
          <p:cNvPr id="39" name="node08"/>
          <p:cNvGrpSpPr/>
          <p:nvPr/>
        </p:nvGrpSpPr>
        <p:grpSpPr>
          <a:xfrm>
            <a:off x="7581900" y="3048000"/>
            <a:ext cx="3886200" cy="431800"/>
            <a:chOff x="7581900" y="3048000"/>
            <a:chExt cx="3886200" cy="431800"/>
          </a:xfrm>
        </p:grpSpPr>
        <p:sp>
          <p:nvSpPr>
            <p:cNvPr id="24" name="node08.body"/>
            <p:cNvSpPr/>
            <p:nvPr/>
          </p:nvSpPr>
          <p:spPr>
            <a:xfrm>
              <a:off x="7581900" y="3048000"/>
              <a:ext cx="3886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 single scheduling and registration experience across all seven hospitals and 64 clinics.</a:t>
              </a:r>
              <a:endParaRPr lang="en-US" sz="1200" spc="0" kern="0" b="0" i="0" dirty="0">
                <a:solidFill>
                  <a:srgbClr val="50658E"/>
                </a:solidFill>
                <a:latin typeface="IBM Plex Sans"/>
                <a:ea typeface="IBM Plex Sans"/>
                <a:cs typeface="IBM Plex Sans"/>
              </a:endParaRPr>
            </a:p>
          </p:txBody>
        </p:sp>
      </p:grpSp>
      <p:sp>
        <p:nvSpPr>
          <p:cNvPr id="25" name="node09"/>
          <p:cNvSpPr/>
          <p:nvPr/>
        </p:nvSpPr>
        <p:spPr>
          <a:xfrm>
            <a:off x="4381500" y="3886200"/>
            <a:ext cx="7086600" cy="9525"/>
          </a:xfrm>
          <a:prstGeom prst="rect">
            <a:avLst/>
          </a:prstGeom>
          <a:solidFill>
            <a:srgbClr val="CED7E6"/>
          </a:solidFill>
          <a:ln>
            <a:noFill/>
          </a:ln>
        </p:spPr>
      </p:sp>
      <p:grpSp>
        <p:nvGrpSpPr>
          <p:cNvPr id="40" name="node10"/>
          <p:cNvGrpSpPr/>
          <p:nvPr/>
        </p:nvGrpSpPr>
        <p:grpSpPr>
          <a:xfrm>
            <a:off x="4381500" y="4038600"/>
            <a:ext cx="2971800" cy="330200"/>
            <a:chOff x="4381500" y="4038600"/>
            <a:chExt cx="2971800" cy="330200"/>
          </a:xfrm>
        </p:grpSpPr>
        <p:sp>
          <p:nvSpPr>
            <p:cNvPr id="26" name="node10.number"/>
            <p:cNvSpPr/>
            <p:nvPr/>
          </p:nvSpPr>
          <p:spPr>
            <a:xfrm>
              <a:off x="4381500" y="4088384"/>
              <a:ext cx="24574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27" name="node10.text"/>
            <p:cNvSpPr/>
            <p:nvPr/>
          </p:nvSpPr>
          <p:spPr>
            <a:xfrm>
              <a:off x="4740275" y="4038600"/>
              <a:ext cx="2613025"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One revenue cycle</a:t>
              </a:r>
              <a:endParaRPr lang="en-US" sz="2100" spc="-32" kern="0" b="0" i="0" dirty="0">
                <a:solidFill>
                  <a:srgbClr val="070154"/>
                </a:solidFill>
                <a:latin typeface="IBM Plex Sans SemiBold"/>
                <a:ea typeface="IBM Plex Sans SemiBold"/>
                <a:cs typeface="IBM Plex Sans SemiBold"/>
              </a:endParaRPr>
            </a:p>
          </p:txBody>
        </p:sp>
      </p:grpSp>
      <p:grpSp>
        <p:nvGrpSpPr>
          <p:cNvPr id="41" name="node11"/>
          <p:cNvGrpSpPr/>
          <p:nvPr/>
        </p:nvGrpSpPr>
        <p:grpSpPr>
          <a:xfrm>
            <a:off x="7581900" y="4038600"/>
            <a:ext cx="3886200" cy="431800"/>
            <a:chOff x="7581900" y="4038600"/>
            <a:chExt cx="3886200" cy="431800"/>
          </a:xfrm>
        </p:grpSpPr>
        <p:sp>
          <p:nvSpPr>
            <p:cNvPr id="28" name="node11.body"/>
            <p:cNvSpPr/>
            <p:nvPr/>
          </p:nvSpPr>
          <p:spPr>
            <a:xfrm>
              <a:off x="7581900" y="4038600"/>
              <a:ext cx="3886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Common front-end, claims and denial processes that cut days in A/R and rework.</a:t>
              </a:r>
              <a:endParaRPr lang="en-US" sz="1200" spc="0" kern="0" b="0" i="0" dirty="0">
                <a:solidFill>
                  <a:srgbClr val="50658E"/>
                </a:solidFill>
                <a:latin typeface="IBM Plex Sans"/>
                <a:ea typeface="IBM Plex Sans"/>
                <a:cs typeface="IBM Plex Sans"/>
              </a:endParaRPr>
            </a:p>
          </p:txBody>
        </p:sp>
      </p:grpSp>
      <p:sp>
        <p:nvSpPr>
          <p:cNvPr id="29" name="node12"/>
          <p:cNvSpPr/>
          <p:nvPr/>
        </p:nvSpPr>
        <p:spPr>
          <a:xfrm>
            <a:off x="4381500" y="4876800"/>
            <a:ext cx="7086600" cy="9525"/>
          </a:xfrm>
          <a:prstGeom prst="rect">
            <a:avLst/>
          </a:prstGeom>
          <a:solidFill>
            <a:srgbClr val="CED7E6"/>
          </a:solidFill>
          <a:ln>
            <a:noFill/>
          </a:ln>
        </p:spPr>
      </p:sp>
      <p:grpSp>
        <p:nvGrpSpPr>
          <p:cNvPr id="42" name="node13"/>
          <p:cNvGrpSpPr/>
          <p:nvPr/>
        </p:nvGrpSpPr>
        <p:grpSpPr>
          <a:xfrm>
            <a:off x="4381500" y="5029200"/>
            <a:ext cx="2971800" cy="330200"/>
            <a:chOff x="4381500" y="5029200"/>
            <a:chExt cx="2971800" cy="330200"/>
          </a:xfrm>
        </p:grpSpPr>
        <p:sp>
          <p:nvSpPr>
            <p:cNvPr id="30" name="node13.number"/>
            <p:cNvSpPr/>
            <p:nvPr/>
          </p:nvSpPr>
          <p:spPr>
            <a:xfrm>
              <a:off x="4381500" y="5078984"/>
              <a:ext cx="24574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31" name="node13.text"/>
            <p:cNvSpPr/>
            <p:nvPr/>
          </p:nvSpPr>
          <p:spPr>
            <a:xfrm>
              <a:off x="4740275" y="5029200"/>
              <a:ext cx="2613025"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One owner</a:t>
              </a:r>
              <a:endParaRPr lang="en-US" sz="2100" spc="-32" kern="0" b="0" i="0" dirty="0">
                <a:solidFill>
                  <a:srgbClr val="070154"/>
                </a:solidFill>
                <a:latin typeface="IBM Plex Sans SemiBold"/>
                <a:ea typeface="IBM Plex Sans SemiBold"/>
                <a:cs typeface="IBM Plex Sans SemiBold"/>
              </a:endParaRPr>
            </a:p>
          </p:txBody>
        </p:sp>
      </p:grpSp>
      <p:grpSp>
        <p:nvGrpSpPr>
          <p:cNvPr id="43" name="node14"/>
          <p:cNvGrpSpPr/>
          <p:nvPr/>
        </p:nvGrpSpPr>
        <p:grpSpPr>
          <a:xfrm>
            <a:off x="7581900" y="5029200"/>
            <a:ext cx="3886200" cy="215900"/>
            <a:chOff x="7581900" y="5029200"/>
            <a:chExt cx="3886200" cy="215900"/>
          </a:xfrm>
        </p:grpSpPr>
        <p:sp>
          <p:nvSpPr>
            <p:cNvPr id="32" name="node14.body"/>
            <p:cNvSpPr/>
            <p:nvPr/>
          </p:nvSpPr>
          <p:spPr>
            <a:xfrm>
              <a:off x="7581900" y="5029200"/>
              <a:ext cx="3886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 partner accountable from design through adoption.</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ource-57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scheduling tools and one EHR date shape the ask</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a:t>
            </a:fld>
            <a:endParaRPr lang="en-US" sz="700" spc="0" kern="0" b="0" i="0" dirty="0">
              <a:solidFill>
                <a:srgbClr val="070154"/>
              </a:solidFill>
              <a:latin typeface="IBM Plex Mono SemiBold"/>
              <a:ea typeface="IBM Plex Mono SemiBold"/>
              <a:cs typeface="IBM Plex Mono SemiBold"/>
            </a:endParaRPr>
          </a:p>
        </p:txBody>
      </p:sp>
      <p:grpSp>
        <p:nvGrpSpPr>
          <p:cNvPr id="51" name="node01"/>
          <p:cNvGrpSpPr/>
          <p:nvPr/>
        </p:nvGrpSpPr>
        <p:grpSpPr>
          <a:xfrm>
            <a:off x="723900" y="1600200"/>
            <a:ext cx="3429000" cy="558800"/>
            <a:chOff x="723900" y="1600200"/>
            <a:chExt cx="3429000" cy="558800"/>
          </a:xfrm>
        </p:grpSpPr>
        <p:sp>
          <p:nvSpPr>
            <p:cNvPr id="7" name="node01.rule"/>
            <p:cNvSpPr/>
            <p:nvPr/>
          </p:nvSpPr>
          <p:spPr>
            <a:xfrm>
              <a:off x="723900" y="1600200"/>
              <a:ext cx="3429000" cy="38100"/>
            </a:xfrm>
            <a:prstGeom prst="rect">
              <a:avLst/>
            </a:prstGeom>
            <a:solidFill>
              <a:srgbClr val="070154"/>
            </a:solidFill>
            <a:ln>
              <a:noFill/>
            </a:ln>
          </p:spPr>
        </p:sp>
        <p:sp>
          <p:nvSpPr>
            <p:cNvPr id="8" name="node01.label"/>
            <p:cNvSpPr/>
            <p:nvPr/>
          </p:nvSpPr>
          <p:spPr>
            <a:xfrm>
              <a:off x="723900" y="17526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SITUATION</a:t>
              </a:r>
              <a:endParaRPr lang="en-US" sz="800" spc="48" kern="0" b="0" i="0" dirty="0">
                <a:solidFill>
                  <a:srgbClr val="0047FF"/>
                </a:solidFill>
                <a:latin typeface="IBM Plex Mono Medium"/>
                <a:ea typeface="IBM Plex Mono Medium"/>
                <a:cs typeface="IBM Plex Mono Medium"/>
              </a:endParaRPr>
            </a:p>
          </p:txBody>
        </p:sp>
        <p:sp>
          <p:nvSpPr>
            <p:cNvPr id="9" name="node01.title"/>
            <p:cNvSpPr/>
            <p:nvPr/>
          </p:nvSpPr>
          <p:spPr>
            <a:xfrm>
              <a:off x="723900" y="18923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Where Northfield stands</a:t>
              </a:r>
              <a:endParaRPr lang="en-US" sz="1600" spc="-16" kern="0" b="0" i="0" dirty="0">
                <a:solidFill>
                  <a:srgbClr val="070154"/>
                </a:solidFill>
                <a:latin typeface="IBM Plex Sans SemiBold"/>
                <a:ea typeface="IBM Plex Sans SemiBold"/>
                <a:cs typeface="IBM Plex Sans SemiBold"/>
              </a:endParaRPr>
            </a:p>
          </p:txBody>
        </p:sp>
      </p:grpSp>
      <p:grpSp>
        <p:nvGrpSpPr>
          <p:cNvPr id="52" name="node02"/>
          <p:cNvGrpSpPr/>
          <p:nvPr/>
        </p:nvGrpSpPr>
        <p:grpSpPr>
          <a:xfrm>
            <a:off x="723900" y="2514600"/>
            <a:ext cx="3429000" cy="939800"/>
            <a:chOff x="723900" y="2514600"/>
            <a:chExt cx="3429000" cy="939800"/>
          </a:xfrm>
        </p:grpSpPr>
        <p:sp>
          <p:nvSpPr>
            <p:cNvPr id="10" name="node02.source-001.bullet"/>
            <p:cNvSpPr/>
            <p:nvPr/>
          </p:nvSpPr>
          <p:spPr>
            <a:xfrm>
              <a:off x="723900" y="2603500"/>
              <a:ext cx="38100" cy="38100"/>
            </a:xfrm>
            <a:prstGeom prst="rect">
              <a:avLst/>
            </a:prstGeom>
            <a:solidFill>
              <a:srgbClr val="070154"/>
            </a:solidFill>
            <a:ln>
              <a:noFill/>
            </a:ln>
          </p:spPr>
        </p:sp>
        <p:sp>
          <p:nvSpPr>
            <p:cNvPr id="11" name="node02.source-001.text"/>
            <p:cNvSpPr/>
            <p:nvPr/>
          </p:nvSpPr>
          <p:spPr>
            <a:xfrm>
              <a:off x="876300" y="25146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Seven hospitals and 64 clinics run three scheduling tools</a:t>
              </a:r>
              <a:endParaRPr lang="en-US" sz="1200" spc="0" kern="0" b="0" i="0" dirty="0">
                <a:solidFill>
                  <a:srgbClr val="070154"/>
                </a:solidFill>
                <a:latin typeface="IBM Plex Sans"/>
                <a:ea typeface="IBM Plex Sans"/>
                <a:cs typeface="IBM Plex Sans"/>
              </a:endParaRPr>
            </a:p>
          </p:txBody>
        </p:sp>
        <p:sp>
          <p:nvSpPr>
            <p:cNvPr id="12" name="node02.source-002.bullet"/>
            <p:cNvSpPr/>
            <p:nvPr/>
          </p:nvSpPr>
          <p:spPr>
            <a:xfrm>
              <a:off x="723900" y="3073400"/>
              <a:ext cx="38100" cy="38100"/>
            </a:xfrm>
            <a:prstGeom prst="rect">
              <a:avLst/>
            </a:prstGeom>
            <a:solidFill>
              <a:srgbClr val="070154"/>
            </a:solidFill>
            <a:ln>
              <a:noFill/>
            </a:ln>
          </p:spPr>
        </p:sp>
        <p:sp>
          <p:nvSpPr>
            <p:cNvPr id="13" name="node02.source-002.text"/>
            <p:cNvSpPr/>
            <p:nvPr/>
          </p:nvSpPr>
          <p:spPr>
            <a:xfrm>
              <a:off x="876300" y="29845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quality varies by site</a:t>
              </a:r>
              <a:endParaRPr lang="en-US" sz="1200" spc="0" kern="0" b="0" i="0" dirty="0">
                <a:solidFill>
                  <a:srgbClr val="070154"/>
                </a:solidFill>
                <a:latin typeface="IBM Plex Sans"/>
                <a:ea typeface="IBM Plex Sans"/>
                <a:cs typeface="IBM Plex Sans"/>
              </a:endParaRPr>
            </a:p>
          </p:txBody>
        </p:sp>
        <p:sp>
          <p:nvSpPr>
            <p:cNvPr id="14" name="node02.source-003.bullet"/>
            <p:cNvSpPr/>
            <p:nvPr/>
          </p:nvSpPr>
          <p:spPr>
            <a:xfrm>
              <a:off x="723900" y="3327400"/>
              <a:ext cx="38100" cy="38100"/>
            </a:xfrm>
            <a:prstGeom prst="rect">
              <a:avLst/>
            </a:prstGeom>
            <a:solidFill>
              <a:srgbClr val="070154"/>
            </a:solidFill>
            <a:ln>
              <a:noFill/>
            </a:ln>
          </p:spPr>
        </p:sp>
        <p:sp>
          <p:nvSpPr>
            <p:cNvPr id="15" name="node02.source-003.text"/>
            <p:cNvSpPr/>
            <p:nvPr/>
          </p:nvSpPr>
          <p:spPr>
            <a:xfrm>
              <a:off x="876300" y="32385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Three acquisitions in four years</a:t>
              </a:r>
              <a:endParaRPr lang="en-US" sz="1200" spc="0" kern="0" b="0" i="0" dirty="0">
                <a:solidFill>
                  <a:srgbClr val="070154"/>
                </a:solidFill>
                <a:latin typeface="IBM Plex Sans"/>
                <a:ea typeface="IBM Plex Sans"/>
                <a:cs typeface="IBM Plex Sans"/>
              </a:endParaRPr>
            </a:p>
          </p:txBody>
        </p:sp>
      </p:grpSp>
      <p:sp>
        <p:nvSpPr>
          <p:cNvPr id="16" name="node03"/>
          <p:cNvSpPr/>
          <p:nvPr/>
        </p:nvSpPr>
        <p:spPr>
          <a:xfrm>
            <a:off x="723900" y="3657600"/>
            <a:ext cx="3429000" cy="9525"/>
          </a:xfrm>
          <a:prstGeom prst="rect">
            <a:avLst/>
          </a:prstGeom>
          <a:solidFill>
            <a:srgbClr val="CED7E6"/>
          </a:solidFill>
          <a:ln>
            <a:noFill/>
          </a:ln>
        </p:spPr>
      </p:sp>
      <p:grpSp>
        <p:nvGrpSpPr>
          <p:cNvPr id="53" name="node04"/>
          <p:cNvGrpSpPr/>
          <p:nvPr/>
        </p:nvGrpSpPr>
        <p:grpSpPr>
          <a:xfrm>
            <a:off x="723900" y="3810000"/>
            <a:ext cx="1600200" cy="802069"/>
            <a:chOff x="723900" y="3810000"/>
            <a:chExt cx="1600200" cy="802069"/>
          </a:xfrm>
        </p:grpSpPr>
        <p:sp>
          <p:nvSpPr>
            <p:cNvPr id="17" name="node04.value"/>
            <p:cNvSpPr/>
            <p:nvPr/>
          </p:nvSpPr>
          <p:spPr>
            <a:xfrm>
              <a:off x="723900" y="38100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3</a:t>
              </a:r>
              <a:endParaRPr lang="en-US" sz="4000" spc="-80" kern="0" b="0" i="0" dirty="0">
                <a:solidFill>
                  <a:srgbClr val="070154"/>
                </a:solidFill>
                <a:latin typeface="IBM Plex Mono SemiBold"/>
                <a:ea typeface="IBM Plex Mono SemiBold"/>
                <a:cs typeface="IBM Plex Mono SemiBold"/>
              </a:endParaRPr>
            </a:p>
          </p:txBody>
        </p:sp>
        <p:sp>
          <p:nvSpPr>
            <p:cNvPr id="18" name="node04.label"/>
            <p:cNvSpPr/>
            <p:nvPr/>
          </p:nvSpPr>
          <p:spPr>
            <a:xfrm>
              <a:off x="723900" y="43961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scheduling tools</a:t>
              </a:r>
              <a:endParaRPr lang="en-US" sz="1200" spc="0" kern="0" b="0" i="0" dirty="0">
                <a:solidFill>
                  <a:srgbClr val="50658E"/>
                </a:solidFill>
                <a:latin typeface="IBM Plex Sans"/>
                <a:ea typeface="IBM Plex Sans"/>
                <a:cs typeface="IBM Plex Sans"/>
              </a:endParaRPr>
            </a:p>
          </p:txBody>
        </p:sp>
      </p:grpSp>
      <p:grpSp>
        <p:nvGrpSpPr>
          <p:cNvPr id="54" name="node05"/>
          <p:cNvGrpSpPr/>
          <p:nvPr/>
        </p:nvGrpSpPr>
        <p:grpSpPr>
          <a:xfrm>
            <a:off x="2552700" y="3810000"/>
            <a:ext cx="1600200" cy="802069"/>
            <a:chOff x="2552700" y="3810000"/>
            <a:chExt cx="1600200" cy="802069"/>
          </a:xfrm>
        </p:grpSpPr>
        <p:sp>
          <p:nvSpPr>
            <p:cNvPr id="19" name="node05.value"/>
            <p:cNvSpPr/>
            <p:nvPr/>
          </p:nvSpPr>
          <p:spPr>
            <a:xfrm>
              <a:off x="2552700" y="38100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71</a:t>
              </a:r>
              <a:endParaRPr lang="en-US" sz="4000" spc="-80" kern="0" b="0" i="0" dirty="0">
                <a:solidFill>
                  <a:srgbClr val="070154"/>
                </a:solidFill>
                <a:latin typeface="IBM Plex Mono SemiBold"/>
                <a:ea typeface="IBM Plex Mono SemiBold"/>
                <a:cs typeface="IBM Plex Mono SemiBold"/>
              </a:endParaRPr>
            </a:p>
          </p:txBody>
        </p:sp>
        <p:sp>
          <p:nvSpPr>
            <p:cNvPr id="20" name="node05.label"/>
            <p:cNvSpPr/>
            <p:nvPr/>
          </p:nvSpPr>
          <p:spPr>
            <a:xfrm>
              <a:off x="2552700" y="43961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sites to align</a:t>
              </a:r>
              <a:endParaRPr lang="en-US" sz="1200" spc="0" kern="0" b="0" i="0" dirty="0">
                <a:solidFill>
                  <a:srgbClr val="50658E"/>
                </a:solidFill>
                <a:latin typeface="IBM Plex Sans"/>
                <a:ea typeface="IBM Plex Sans"/>
                <a:cs typeface="IBM Plex Sans"/>
              </a:endParaRPr>
            </a:p>
          </p:txBody>
        </p:sp>
      </p:grpSp>
      <p:grpSp>
        <p:nvGrpSpPr>
          <p:cNvPr id="55" name="node06"/>
          <p:cNvGrpSpPr/>
          <p:nvPr/>
        </p:nvGrpSpPr>
        <p:grpSpPr>
          <a:xfrm>
            <a:off x="4381500" y="1600200"/>
            <a:ext cx="3429000" cy="558800"/>
            <a:chOff x="4381500" y="1600200"/>
            <a:chExt cx="3429000" cy="558800"/>
          </a:xfrm>
        </p:grpSpPr>
        <p:sp>
          <p:nvSpPr>
            <p:cNvPr id="21" name="node06.rule"/>
            <p:cNvSpPr/>
            <p:nvPr/>
          </p:nvSpPr>
          <p:spPr>
            <a:xfrm>
              <a:off x="4381500" y="1600200"/>
              <a:ext cx="3429000" cy="38100"/>
            </a:xfrm>
            <a:prstGeom prst="rect">
              <a:avLst/>
            </a:prstGeom>
            <a:solidFill>
              <a:srgbClr val="070154"/>
            </a:solidFill>
            <a:ln>
              <a:noFill/>
            </a:ln>
          </p:spPr>
        </p:sp>
        <p:sp>
          <p:nvSpPr>
            <p:cNvPr id="22" name="node06.label"/>
            <p:cNvSpPr/>
            <p:nvPr/>
          </p:nvSpPr>
          <p:spPr>
            <a:xfrm>
              <a:off x="4381500" y="17526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COMPLICATION</a:t>
              </a:r>
              <a:endParaRPr lang="en-US" sz="800" spc="48" kern="0" b="0" i="0" dirty="0">
                <a:solidFill>
                  <a:srgbClr val="0047FF"/>
                </a:solidFill>
                <a:latin typeface="IBM Plex Mono Medium"/>
                <a:ea typeface="IBM Plex Mono Medium"/>
                <a:cs typeface="IBM Plex Mono Medium"/>
              </a:endParaRPr>
            </a:p>
          </p:txBody>
        </p:sp>
        <p:sp>
          <p:nvSpPr>
            <p:cNvPr id="23" name="node06.title"/>
            <p:cNvSpPr/>
            <p:nvPr/>
          </p:nvSpPr>
          <p:spPr>
            <a:xfrm>
              <a:off x="4381500" y="18923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What is getting in the way</a:t>
              </a:r>
              <a:endParaRPr lang="en-US" sz="1600" spc="-16" kern="0" b="0" i="0" dirty="0">
                <a:solidFill>
                  <a:srgbClr val="070154"/>
                </a:solidFill>
                <a:latin typeface="IBM Plex Sans SemiBold"/>
                <a:ea typeface="IBM Plex Sans SemiBold"/>
                <a:cs typeface="IBM Plex Sans SemiBold"/>
              </a:endParaRPr>
            </a:p>
          </p:txBody>
        </p:sp>
      </p:grpSp>
      <p:grpSp>
        <p:nvGrpSpPr>
          <p:cNvPr id="56" name="node07"/>
          <p:cNvGrpSpPr/>
          <p:nvPr/>
        </p:nvGrpSpPr>
        <p:grpSpPr>
          <a:xfrm>
            <a:off x="4381500" y="2514600"/>
            <a:ext cx="3429000" cy="723900"/>
            <a:chOff x="4381500" y="2514600"/>
            <a:chExt cx="3429000" cy="723900"/>
          </a:xfrm>
        </p:grpSpPr>
        <p:sp>
          <p:nvSpPr>
            <p:cNvPr id="24" name="node07.source-001.bullet"/>
            <p:cNvSpPr/>
            <p:nvPr/>
          </p:nvSpPr>
          <p:spPr>
            <a:xfrm>
              <a:off x="4381500" y="2603500"/>
              <a:ext cx="38100" cy="38100"/>
            </a:xfrm>
            <a:prstGeom prst="rect">
              <a:avLst/>
            </a:prstGeom>
            <a:solidFill>
              <a:srgbClr val="070154"/>
            </a:solidFill>
            <a:ln>
              <a:noFill/>
            </a:ln>
          </p:spPr>
        </p:sp>
        <p:sp>
          <p:nvSpPr>
            <p:cNvPr id="25" name="node07.source-001.text"/>
            <p:cNvSpPr/>
            <p:nvPr/>
          </p:nvSpPr>
          <p:spPr>
            <a:xfrm>
              <a:off x="4533900" y="251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Front-end errors reach the claim</a:t>
              </a:r>
              <a:endParaRPr lang="en-US" sz="1200" spc="0" kern="0" b="0" i="0" dirty="0">
                <a:solidFill>
                  <a:srgbClr val="070154"/>
                </a:solidFill>
                <a:latin typeface="IBM Plex Sans"/>
                <a:ea typeface="IBM Plex Sans"/>
                <a:cs typeface="IBM Plex Sans"/>
              </a:endParaRPr>
            </a:p>
          </p:txBody>
        </p:sp>
        <p:sp>
          <p:nvSpPr>
            <p:cNvPr id="26" name="node07.source-002.bullet"/>
            <p:cNvSpPr/>
            <p:nvPr/>
          </p:nvSpPr>
          <p:spPr>
            <a:xfrm>
              <a:off x="4381500" y="2857500"/>
              <a:ext cx="38100" cy="38100"/>
            </a:xfrm>
            <a:prstGeom prst="rect">
              <a:avLst/>
            </a:prstGeom>
            <a:solidFill>
              <a:srgbClr val="070154"/>
            </a:solidFill>
            <a:ln>
              <a:noFill/>
            </a:ln>
          </p:spPr>
        </p:sp>
        <p:sp>
          <p:nvSpPr>
            <p:cNvPr id="27" name="node07.source-002.text"/>
            <p:cNvSpPr/>
            <p:nvPr/>
          </p:nvSpPr>
          <p:spPr>
            <a:xfrm>
              <a:off x="4533900" y="2768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Patients repeat the same details at each step</a:t>
              </a:r>
              <a:endParaRPr lang="en-US" sz="1200" spc="0" kern="0" b="0" i="0" dirty="0">
                <a:solidFill>
                  <a:srgbClr val="070154"/>
                </a:solidFill>
                <a:latin typeface="IBM Plex Sans"/>
                <a:ea typeface="IBM Plex Sans"/>
                <a:cs typeface="IBM Plex Sans"/>
              </a:endParaRPr>
            </a:p>
          </p:txBody>
        </p:sp>
        <p:sp>
          <p:nvSpPr>
            <p:cNvPr id="28" name="node07.source-003.bullet"/>
            <p:cNvSpPr/>
            <p:nvPr/>
          </p:nvSpPr>
          <p:spPr>
            <a:xfrm>
              <a:off x="4381500" y="3111500"/>
              <a:ext cx="38100" cy="38100"/>
            </a:xfrm>
            <a:prstGeom prst="rect">
              <a:avLst/>
            </a:prstGeom>
            <a:solidFill>
              <a:srgbClr val="070154"/>
            </a:solidFill>
            <a:ln>
              <a:noFill/>
            </a:ln>
          </p:spPr>
        </p:sp>
        <p:sp>
          <p:nvSpPr>
            <p:cNvPr id="29" name="node07.source-003.text"/>
            <p:cNvSpPr/>
            <p:nvPr/>
          </p:nvSpPr>
          <p:spPr>
            <a:xfrm>
              <a:off x="4533900" y="3022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Access and billing answer to different leaders</a:t>
              </a:r>
              <a:endParaRPr lang="en-US" sz="1200" spc="0" kern="0" b="0" i="0" dirty="0">
                <a:solidFill>
                  <a:srgbClr val="070154"/>
                </a:solidFill>
                <a:latin typeface="IBM Plex Sans"/>
                <a:ea typeface="IBM Plex Sans"/>
                <a:cs typeface="IBM Plex Sans"/>
              </a:endParaRPr>
            </a:p>
          </p:txBody>
        </p:sp>
      </p:grpSp>
      <p:sp>
        <p:nvSpPr>
          <p:cNvPr id="30" name="node08"/>
          <p:cNvSpPr/>
          <p:nvPr/>
        </p:nvSpPr>
        <p:spPr>
          <a:xfrm>
            <a:off x="4381500" y="3657600"/>
            <a:ext cx="3429000" cy="9525"/>
          </a:xfrm>
          <a:prstGeom prst="rect">
            <a:avLst/>
          </a:prstGeom>
          <a:solidFill>
            <a:srgbClr val="CED7E6"/>
          </a:solidFill>
          <a:ln>
            <a:noFill/>
          </a:ln>
        </p:spPr>
      </p:sp>
      <p:grpSp>
        <p:nvGrpSpPr>
          <p:cNvPr id="57" name="node09"/>
          <p:cNvGrpSpPr/>
          <p:nvPr/>
        </p:nvGrpSpPr>
        <p:grpSpPr>
          <a:xfrm>
            <a:off x="4381500" y="3810000"/>
            <a:ext cx="1600200" cy="802069"/>
            <a:chOff x="4381500" y="3810000"/>
            <a:chExt cx="1600200" cy="802069"/>
          </a:xfrm>
        </p:grpSpPr>
        <p:sp>
          <p:nvSpPr>
            <p:cNvPr id="31" name="node09.value"/>
            <p:cNvSpPr/>
            <p:nvPr/>
          </p:nvSpPr>
          <p:spPr>
            <a:xfrm>
              <a:off x="4381500" y="38100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11%</a:t>
              </a:r>
              <a:endParaRPr lang="en-US" sz="4000" spc="-80" kern="0" b="0" i="0" dirty="0">
                <a:solidFill>
                  <a:srgbClr val="070154"/>
                </a:solidFill>
                <a:latin typeface="IBM Plex Mono SemiBold"/>
                <a:ea typeface="IBM Plex Mono SemiBold"/>
                <a:cs typeface="IBM Plex Mono SemiBold"/>
              </a:endParaRPr>
            </a:p>
          </p:txBody>
        </p:sp>
        <p:sp>
          <p:nvSpPr>
            <p:cNvPr id="32" name="node09.label"/>
            <p:cNvSpPr/>
            <p:nvPr/>
          </p:nvSpPr>
          <p:spPr>
            <a:xfrm>
              <a:off x="4381500" y="43961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denials at intake</a:t>
              </a:r>
              <a:endParaRPr lang="en-US" sz="1200" spc="0" kern="0" b="0" i="0" dirty="0">
                <a:solidFill>
                  <a:srgbClr val="50658E"/>
                </a:solidFill>
                <a:latin typeface="IBM Plex Sans"/>
                <a:ea typeface="IBM Plex Sans"/>
                <a:cs typeface="IBM Plex Sans"/>
              </a:endParaRPr>
            </a:p>
          </p:txBody>
        </p:sp>
      </p:grpSp>
      <p:grpSp>
        <p:nvGrpSpPr>
          <p:cNvPr id="58" name="node10"/>
          <p:cNvGrpSpPr/>
          <p:nvPr/>
        </p:nvGrpSpPr>
        <p:grpSpPr>
          <a:xfrm>
            <a:off x="6210300" y="3810000"/>
            <a:ext cx="1600200" cy="802069"/>
            <a:chOff x="6210300" y="3810000"/>
            <a:chExt cx="1600200" cy="802069"/>
          </a:xfrm>
        </p:grpSpPr>
        <p:sp>
          <p:nvSpPr>
            <p:cNvPr id="33" name="node10.value"/>
            <p:cNvSpPr/>
            <p:nvPr/>
          </p:nvSpPr>
          <p:spPr>
            <a:xfrm>
              <a:off x="6210300" y="38100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52</a:t>
              </a:r>
              <a:endParaRPr lang="en-US" sz="4000" spc="-80" kern="0" b="0" i="0" dirty="0">
                <a:solidFill>
                  <a:srgbClr val="070154"/>
                </a:solidFill>
                <a:latin typeface="IBM Plex Mono SemiBold"/>
                <a:ea typeface="IBM Plex Mono SemiBold"/>
                <a:cs typeface="IBM Plex Mono SemiBold"/>
              </a:endParaRPr>
            </a:p>
          </p:txBody>
        </p:sp>
        <p:sp>
          <p:nvSpPr>
            <p:cNvPr id="34" name="node10.label"/>
            <p:cNvSpPr/>
            <p:nvPr/>
          </p:nvSpPr>
          <p:spPr>
            <a:xfrm>
              <a:off x="6210300" y="43961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days in A/R</a:t>
              </a:r>
              <a:endParaRPr lang="en-US" sz="1200" spc="0" kern="0" b="0" i="0" dirty="0">
                <a:solidFill>
                  <a:srgbClr val="50658E"/>
                </a:solidFill>
                <a:latin typeface="IBM Plex Sans"/>
                <a:ea typeface="IBM Plex Sans"/>
                <a:cs typeface="IBM Plex Sans"/>
              </a:endParaRPr>
            </a:p>
          </p:txBody>
        </p:sp>
      </p:grpSp>
      <p:grpSp>
        <p:nvGrpSpPr>
          <p:cNvPr id="59" name="node11"/>
          <p:cNvGrpSpPr/>
          <p:nvPr/>
        </p:nvGrpSpPr>
        <p:grpSpPr>
          <a:xfrm>
            <a:off x="8039100" y="1600200"/>
            <a:ext cx="3429000" cy="558800"/>
            <a:chOff x="8039100" y="1600200"/>
            <a:chExt cx="3429000" cy="558800"/>
          </a:xfrm>
        </p:grpSpPr>
        <p:sp>
          <p:nvSpPr>
            <p:cNvPr id="35" name="node11.rule"/>
            <p:cNvSpPr/>
            <p:nvPr/>
          </p:nvSpPr>
          <p:spPr>
            <a:xfrm>
              <a:off x="8039100" y="1600200"/>
              <a:ext cx="3429000" cy="38100"/>
            </a:xfrm>
            <a:prstGeom prst="rect">
              <a:avLst/>
            </a:prstGeom>
            <a:solidFill>
              <a:srgbClr val="070154"/>
            </a:solidFill>
            <a:ln>
              <a:noFill/>
            </a:ln>
          </p:spPr>
        </p:sp>
        <p:sp>
          <p:nvSpPr>
            <p:cNvPr id="36" name="node11.label"/>
            <p:cNvSpPr/>
            <p:nvPr/>
          </p:nvSpPr>
          <p:spPr>
            <a:xfrm>
              <a:off x="8039100" y="17526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YOU ASKED FOR</a:t>
              </a:r>
              <a:endParaRPr lang="en-US" sz="800" spc="48" kern="0" b="0" i="0" dirty="0">
                <a:solidFill>
                  <a:srgbClr val="0047FF"/>
                </a:solidFill>
                <a:latin typeface="IBM Plex Mono Medium"/>
                <a:ea typeface="IBM Plex Mono Medium"/>
                <a:cs typeface="IBM Plex Mono Medium"/>
              </a:endParaRPr>
            </a:p>
          </p:txBody>
        </p:sp>
        <p:sp>
          <p:nvSpPr>
            <p:cNvPr id="37" name="node11.title"/>
            <p:cNvSpPr/>
            <p:nvPr/>
          </p:nvSpPr>
          <p:spPr>
            <a:xfrm>
              <a:off x="8039100" y="18923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What the RFP requires</a:t>
              </a:r>
              <a:endParaRPr lang="en-US" sz="1600" spc="-16" kern="0" b="0" i="0" dirty="0">
                <a:solidFill>
                  <a:srgbClr val="070154"/>
                </a:solidFill>
                <a:latin typeface="IBM Plex Sans SemiBold"/>
                <a:ea typeface="IBM Plex Sans SemiBold"/>
                <a:cs typeface="IBM Plex Sans SemiBold"/>
              </a:endParaRPr>
            </a:p>
          </p:txBody>
        </p:sp>
      </p:grpSp>
      <p:grpSp>
        <p:nvGrpSpPr>
          <p:cNvPr id="60" name="node12"/>
          <p:cNvGrpSpPr/>
          <p:nvPr/>
        </p:nvGrpSpPr>
        <p:grpSpPr>
          <a:xfrm>
            <a:off x="8039100" y="2514600"/>
            <a:ext cx="3429000" cy="723900"/>
            <a:chOff x="8039100" y="2514600"/>
            <a:chExt cx="3429000" cy="723900"/>
          </a:xfrm>
        </p:grpSpPr>
        <p:sp>
          <p:nvSpPr>
            <p:cNvPr id="38" name="node12.source-001.bullet"/>
            <p:cNvSpPr/>
            <p:nvPr/>
          </p:nvSpPr>
          <p:spPr>
            <a:xfrm>
              <a:off x="8039100" y="2603500"/>
              <a:ext cx="38100" cy="38100"/>
            </a:xfrm>
            <a:prstGeom prst="rect">
              <a:avLst/>
            </a:prstGeom>
            <a:solidFill>
              <a:srgbClr val="070154"/>
            </a:solidFill>
            <a:ln>
              <a:noFill/>
            </a:ln>
          </p:spPr>
        </p:sp>
        <p:sp>
          <p:nvSpPr>
            <p:cNvPr id="39" name="node12.source-001.text"/>
            <p:cNvSpPr/>
            <p:nvPr/>
          </p:nvSpPr>
          <p:spPr>
            <a:xfrm>
              <a:off x="8191500" y="251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 unified access and revenue cycle design</a:t>
              </a:r>
              <a:endParaRPr lang="en-US" sz="1200" spc="0" kern="0" b="0" i="0" dirty="0">
                <a:solidFill>
                  <a:srgbClr val="070154"/>
                </a:solidFill>
                <a:latin typeface="IBM Plex Sans"/>
                <a:ea typeface="IBM Plex Sans"/>
                <a:cs typeface="IBM Plex Sans"/>
              </a:endParaRPr>
            </a:p>
          </p:txBody>
        </p:sp>
        <p:sp>
          <p:nvSpPr>
            <p:cNvPr id="40" name="node12.source-002.bullet"/>
            <p:cNvSpPr/>
            <p:nvPr/>
          </p:nvSpPr>
          <p:spPr>
            <a:xfrm>
              <a:off x="8039100" y="2857500"/>
              <a:ext cx="38100" cy="38100"/>
            </a:xfrm>
            <a:prstGeom prst="rect">
              <a:avLst/>
            </a:prstGeom>
            <a:solidFill>
              <a:srgbClr val="070154"/>
            </a:solidFill>
            <a:ln>
              <a:noFill/>
            </a:ln>
          </p:spPr>
        </p:sp>
        <p:sp>
          <p:nvSpPr>
            <p:cNvPr id="41" name="node12.source-002.text"/>
            <p:cNvSpPr/>
            <p:nvPr/>
          </p:nvSpPr>
          <p:spPr>
            <a:xfrm>
              <a:off x="8191500" y="2768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 phased roadmap that fits the EHR date</a:t>
              </a:r>
              <a:endParaRPr lang="en-US" sz="1200" spc="0" kern="0" b="0" i="0" dirty="0">
                <a:solidFill>
                  <a:srgbClr val="070154"/>
                </a:solidFill>
                <a:latin typeface="IBM Plex Sans"/>
                <a:ea typeface="IBM Plex Sans"/>
                <a:cs typeface="IBM Plex Sans"/>
              </a:endParaRPr>
            </a:p>
          </p:txBody>
        </p:sp>
        <p:sp>
          <p:nvSpPr>
            <p:cNvPr id="42" name="node12.source-003.bullet"/>
            <p:cNvSpPr/>
            <p:nvPr/>
          </p:nvSpPr>
          <p:spPr>
            <a:xfrm>
              <a:off x="8039100" y="3111500"/>
              <a:ext cx="38100" cy="38100"/>
            </a:xfrm>
            <a:prstGeom prst="rect">
              <a:avLst/>
            </a:prstGeom>
            <a:solidFill>
              <a:srgbClr val="070154"/>
            </a:solidFill>
            <a:ln>
              <a:noFill/>
            </a:ln>
          </p:spPr>
        </p:sp>
        <p:sp>
          <p:nvSpPr>
            <p:cNvPr id="43" name="node12.source-003.text"/>
            <p:cNvSpPr/>
            <p:nvPr/>
          </p:nvSpPr>
          <p:spPr>
            <a:xfrm>
              <a:off x="8191500" y="3022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Named owners and measures for each benefit</a:t>
              </a:r>
              <a:endParaRPr lang="en-US" sz="1200" spc="0" kern="0" b="0" i="0" dirty="0">
                <a:solidFill>
                  <a:srgbClr val="070154"/>
                </a:solidFill>
                <a:latin typeface="IBM Plex Sans"/>
                <a:ea typeface="IBM Plex Sans"/>
                <a:cs typeface="IBM Plex Sans"/>
              </a:endParaRPr>
            </a:p>
          </p:txBody>
        </p:sp>
      </p:grpSp>
      <p:sp>
        <p:nvSpPr>
          <p:cNvPr id="44" name="node13"/>
          <p:cNvSpPr/>
          <p:nvPr/>
        </p:nvSpPr>
        <p:spPr>
          <a:xfrm>
            <a:off x="8039100" y="3657600"/>
            <a:ext cx="3429000" cy="9525"/>
          </a:xfrm>
          <a:prstGeom prst="rect">
            <a:avLst/>
          </a:prstGeom>
          <a:solidFill>
            <a:srgbClr val="CED7E6"/>
          </a:solidFill>
          <a:ln>
            <a:noFill/>
          </a:ln>
        </p:spPr>
      </p:sp>
      <p:grpSp>
        <p:nvGrpSpPr>
          <p:cNvPr id="61" name="node14"/>
          <p:cNvGrpSpPr/>
          <p:nvPr/>
        </p:nvGrpSpPr>
        <p:grpSpPr>
          <a:xfrm>
            <a:off x="8039100" y="3810000"/>
            <a:ext cx="1600200" cy="802069"/>
            <a:chOff x="8039100" y="3810000"/>
            <a:chExt cx="1600200" cy="802069"/>
          </a:xfrm>
        </p:grpSpPr>
        <p:sp>
          <p:nvSpPr>
            <p:cNvPr id="45" name="node14.value"/>
            <p:cNvSpPr/>
            <p:nvPr/>
          </p:nvSpPr>
          <p:spPr>
            <a:xfrm>
              <a:off x="8039100" y="38100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7</a:t>
              </a:r>
              <a:endParaRPr lang="en-US" sz="4000" spc="-80" kern="0" b="0" i="0" dirty="0">
                <a:solidFill>
                  <a:srgbClr val="070154"/>
                </a:solidFill>
                <a:latin typeface="IBM Plex Mono SemiBold"/>
                <a:ea typeface="IBM Plex Mono SemiBold"/>
                <a:cs typeface="IBM Plex Mono SemiBold"/>
              </a:endParaRPr>
            </a:p>
          </p:txBody>
        </p:sp>
        <p:sp>
          <p:nvSpPr>
            <p:cNvPr id="46" name="node14.label"/>
            <p:cNvSpPr/>
            <p:nvPr/>
          </p:nvSpPr>
          <p:spPr>
            <a:xfrm>
              <a:off x="8039100" y="43961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measures to track</a:t>
              </a:r>
              <a:endParaRPr lang="en-US" sz="1200" spc="0" kern="0" b="0" i="0" dirty="0">
                <a:solidFill>
                  <a:srgbClr val="50658E"/>
                </a:solidFill>
                <a:latin typeface="IBM Plex Sans"/>
                <a:ea typeface="IBM Plex Sans"/>
                <a:cs typeface="IBM Plex Sans"/>
              </a:endParaRPr>
            </a:p>
          </p:txBody>
        </p:sp>
      </p:grpSp>
      <p:grpSp>
        <p:nvGrpSpPr>
          <p:cNvPr id="62" name="node15"/>
          <p:cNvGrpSpPr/>
          <p:nvPr/>
        </p:nvGrpSpPr>
        <p:grpSpPr>
          <a:xfrm>
            <a:off x="9867900" y="3810000"/>
            <a:ext cx="1600200" cy="802069"/>
            <a:chOff x="9867900" y="3810000"/>
            <a:chExt cx="1600200" cy="802069"/>
          </a:xfrm>
        </p:grpSpPr>
        <p:sp>
          <p:nvSpPr>
            <p:cNvPr id="47" name="node15.value"/>
            <p:cNvSpPr/>
            <p:nvPr/>
          </p:nvSpPr>
          <p:spPr>
            <a:xfrm>
              <a:off x="9867900" y="38100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Q3</a:t>
              </a:r>
              <a:endParaRPr lang="en-US" sz="4000" spc="-80" kern="0" b="0" i="0" dirty="0">
                <a:solidFill>
                  <a:srgbClr val="070154"/>
                </a:solidFill>
                <a:latin typeface="IBM Plex Mono SemiBold"/>
                <a:ea typeface="IBM Plex Mono SemiBold"/>
                <a:cs typeface="IBM Plex Mono SemiBold"/>
              </a:endParaRPr>
            </a:p>
          </p:txBody>
        </p:sp>
        <p:sp>
          <p:nvSpPr>
            <p:cNvPr id="48" name="node15.label"/>
            <p:cNvSpPr/>
            <p:nvPr/>
          </p:nvSpPr>
          <p:spPr>
            <a:xfrm>
              <a:off x="9867900" y="43961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EHR go-live</a:t>
              </a:r>
              <a:endParaRPr lang="en-US" sz="1200" spc="0" kern="0" b="0" i="0" dirty="0">
                <a:solidFill>
                  <a:srgbClr val="50658E"/>
                </a:solidFill>
                <a:latin typeface="IBM Plex Sans"/>
                <a:ea typeface="IBM Plex Sans"/>
                <a:cs typeface="IBM Plex Sans"/>
              </a:endParaRPr>
            </a:p>
          </p:txBody>
        </p:sp>
      </p:grpSp>
      <p:grpSp>
        <p:nvGrpSpPr>
          <p:cNvPr id="63" name="node16"/>
          <p:cNvGrpSpPr/>
          <p:nvPr/>
        </p:nvGrpSpPr>
        <p:grpSpPr>
          <a:xfrm>
            <a:off x="723900" y="5029200"/>
            <a:ext cx="10744200" cy="685800"/>
            <a:chOff x="723900" y="5029200"/>
            <a:chExt cx="10744200" cy="685800"/>
          </a:xfrm>
        </p:grpSpPr>
        <p:sp>
          <p:nvSpPr>
            <p:cNvPr id="49" name="node16.surface"/>
            <p:cNvSpPr/>
            <p:nvPr/>
          </p:nvSpPr>
          <p:spPr>
            <a:xfrm>
              <a:off x="723900" y="5029200"/>
              <a:ext cx="10744200" cy="685800"/>
            </a:xfrm>
            <a:prstGeom prst="rect">
              <a:avLst/>
            </a:prstGeom>
            <a:solidFill>
              <a:srgbClr val="070154"/>
            </a:solidFill>
            <a:ln>
              <a:noFill/>
            </a:ln>
          </p:spPr>
        </p:sp>
        <p:sp>
          <p:nvSpPr>
            <p:cNvPr id="50" name="node16.text"/>
            <p:cNvSpPr/>
            <p:nvPr/>
          </p:nvSpPr>
          <p:spPr>
            <a:xfrm>
              <a:off x="876300" y="5264150"/>
              <a:ext cx="104394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Our reading: the complication is organizational as much as technical, so the answer has to join access, billing and the EHR plan.</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ource-574">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Situation, complication and ask in one reading</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6769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a:t>
            </a:fld>
            <a:endParaRPr lang="en-US" sz="700" spc="0" kern="0" b="0" i="0" dirty="0">
              <a:solidFill>
                <a:srgbClr val="070154"/>
              </a:solidFill>
              <a:latin typeface="IBM Plex Mono SemiBold"/>
              <a:ea typeface="IBM Plex Mono SemiBold"/>
              <a:cs typeface="IBM Plex Mono SemiBold"/>
            </a:endParaRPr>
          </a:p>
        </p:txBody>
      </p:sp>
      <p:grpSp>
        <p:nvGrpSpPr>
          <p:cNvPr id="46" name="node01"/>
          <p:cNvGrpSpPr/>
          <p:nvPr/>
        </p:nvGrpSpPr>
        <p:grpSpPr>
          <a:xfrm>
            <a:off x="723900" y="2286000"/>
            <a:ext cx="3429000" cy="990600"/>
            <a:chOff x="723900" y="2286000"/>
            <a:chExt cx="3429000" cy="990600"/>
          </a:xfrm>
        </p:grpSpPr>
        <p:sp>
          <p:nvSpPr>
            <p:cNvPr id="7" name="node01.title"/>
            <p:cNvSpPr/>
            <p:nvPr/>
          </p:nvSpPr>
          <p:spPr>
            <a:xfrm>
              <a:off x="723900" y="22860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How we read it</a:t>
              </a:r>
              <a:endParaRPr lang="en-US" sz="1600" spc="-16" kern="0" b="0" i="0" dirty="0">
                <a:solidFill>
                  <a:srgbClr val="070154"/>
                </a:solidFill>
                <a:latin typeface="IBM Plex Sans SemiBold"/>
                <a:ea typeface="IBM Plex Sans SemiBold"/>
                <a:cs typeface="IBM Plex Sans SemiBold"/>
              </a:endParaRPr>
            </a:p>
          </p:txBody>
        </p:sp>
        <p:sp>
          <p:nvSpPr>
            <p:cNvPr id="8" name="node01.body"/>
            <p:cNvSpPr/>
            <p:nvPr/>
          </p:nvSpPr>
          <p:spPr>
            <a:xfrm>
              <a:off x="723900" y="2628900"/>
              <a:ext cx="3429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The complication is organizational as much as technical, so the ask has to join access, billing and the EHR plan.</a:t>
              </a:r>
              <a:endParaRPr lang="en-US" sz="1200" spc="0" kern="0" b="0" i="0" dirty="0">
                <a:solidFill>
                  <a:srgbClr val="50658E"/>
                </a:solidFill>
                <a:latin typeface="IBM Plex Sans"/>
                <a:ea typeface="IBM Plex Sans"/>
                <a:cs typeface="IBM Plex Sans"/>
              </a:endParaRPr>
            </a:p>
          </p:txBody>
        </p:sp>
      </p:grpSp>
      <p:grpSp>
        <p:nvGrpSpPr>
          <p:cNvPr id="47" name="node02"/>
          <p:cNvGrpSpPr/>
          <p:nvPr/>
        </p:nvGrpSpPr>
        <p:grpSpPr>
          <a:xfrm>
            <a:off x="723900" y="3543300"/>
            <a:ext cx="3429000" cy="1691069"/>
            <a:chOff x="723900" y="3543300"/>
            <a:chExt cx="3429000" cy="1691069"/>
          </a:xfrm>
        </p:grpSpPr>
        <p:sp>
          <p:nvSpPr>
            <p:cNvPr id="9" name="node02.container"/>
            <p:cNvSpPr/>
            <p:nvPr/>
          </p:nvSpPr>
          <p:spPr>
            <a:xfrm>
              <a:off x="723900" y="3543300"/>
              <a:ext cx="3429000" cy="1691069"/>
            </a:xfrm>
            <a:prstGeom prst="rect">
              <a:avLst/>
            </a:prstGeom>
            <a:solidFill>
              <a:srgbClr val="F900D3"/>
            </a:solidFill>
            <a:ln>
              <a:noFill/>
            </a:ln>
          </p:spPr>
        </p:sp>
        <p:sp>
          <p:nvSpPr>
            <p:cNvPr id="10" name="node02.eyebrow"/>
            <p:cNvSpPr/>
            <p:nvPr/>
          </p:nvSpPr>
          <p:spPr>
            <a:xfrm>
              <a:off x="952500" y="3771900"/>
              <a:ext cx="29718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70154"/>
                  </a:solidFill>
                  <a:latin typeface="IBM Plex Mono SemiBold"/>
                  <a:ea typeface="IBM Plex Mono SemiBold"/>
                  <a:cs typeface="IBM Plex Mono SemiBold"/>
                </a:rPr>
                <a:t>WHERE CASH WAITS</a:t>
              </a:r>
              <a:endParaRPr lang="en-US" sz="900" spc="72" kern="0" b="0" i="0" dirty="0">
                <a:solidFill>
                  <a:srgbClr val="070154"/>
                </a:solidFill>
                <a:latin typeface="IBM Plex Mono SemiBold"/>
                <a:ea typeface="IBM Plex Mono SemiBold"/>
                <a:cs typeface="IBM Plex Mono SemiBold"/>
              </a:endParaRPr>
            </a:p>
          </p:txBody>
        </p:sp>
        <p:sp>
          <p:nvSpPr>
            <p:cNvPr id="11" name="node02.metric.value"/>
            <p:cNvSpPr/>
            <p:nvPr/>
          </p:nvSpPr>
          <p:spPr>
            <a:xfrm>
              <a:off x="952500" y="3987800"/>
              <a:ext cx="29718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FFFFFF"/>
                  </a:solidFill>
                  <a:latin typeface="IBM Plex Mono SemiBold"/>
                  <a:ea typeface="IBM Plex Mono SemiBold"/>
                  <a:cs typeface="IBM Plex Mono SemiBold"/>
                </a:rPr>
                <a:t>52 days</a:t>
              </a:r>
              <a:endParaRPr lang="en-US" sz="4000" spc="-80" kern="0" b="0" i="0" dirty="0">
                <a:solidFill>
                  <a:srgbClr val="FFFFFF"/>
                </a:solidFill>
                <a:latin typeface="IBM Plex Mono SemiBold"/>
                <a:ea typeface="IBM Plex Mono SemiBold"/>
                <a:cs typeface="IBM Plex Mono SemiBold"/>
              </a:endParaRPr>
            </a:p>
          </p:txBody>
        </p:sp>
        <p:sp>
          <p:nvSpPr>
            <p:cNvPr id="12" name="node02.metric.label"/>
            <p:cNvSpPr/>
            <p:nvPr/>
          </p:nvSpPr>
          <p:spPr>
            <a:xfrm>
              <a:off x="952500" y="4573969"/>
              <a:ext cx="2971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 A/R, above peers, is the cost of the front-end gap</a:t>
              </a:r>
              <a:endParaRPr lang="en-US" sz="1200" spc="0" kern="0" b="0" i="0" dirty="0">
                <a:solidFill>
                  <a:srgbClr val="070154"/>
                </a:solidFill>
                <a:latin typeface="IBM Plex Sans"/>
                <a:ea typeface="IBM Plex Sans"/>
                <a:cs typeface="IBM Plex Sans"/>
              </a:endParaRPr>
            </a:p>
          </p:txBody>
        </p:sp>
      </p:grpSp>
      <p:grpSp>
        <p:nvGrpSpPr>
          <p:cNvPr id="48" name="node03"/>
          <p:cNvGrpSpPr/>
          <p:nvPr/>
        </p:nvGrpSpPr>
        <p:grpSpPr>
          <a:xfrm>
            <a:off x="4381500" y="457200"/>
            <a:ext cx="7086600" cy="1600200"/>
            <a:chOff x="4381500" y="457200"/>
            <a:chExt cx="7086600" cy="1600200"/>
          </a:xfrm>
        </p:grpSpPr>
        <p:sp>
          <p:nvSpPr>
            <p:cNvPr id="13" name="node03.surface"/>
            <p:cNvSpPr/>
            <p:nvPr/>
          </p:nvSpPr>
          <p:spPr>
            <a:xfrm>
              <a:off x="4381500" y="457200"/>
              <a:ext cx="7086600" cy="1600200"/>
            </a:xfrm>
            <a:prstGeom prst="rect">
              <a:avLst/>
            </a:prstGeom>
            <a:solidFill>
              <a:srgbClr val="E8EEF8"/>
            </a:solidFill>
            <a:ln>
              <a:noFill/>
            </a:ln>
          </p:spPr>
        </p:sp>
      </p:grpSp>
      <p:grpSp>
        <p:nvGrpSpPr>
          <p:cNvPr id="49" name="node04"/>
          <p:cNvGrpSpPr/>
          <p:nvPr/>
        </p:nvGrpSpPr>
        <p:grpSpPr>
          <a:xfrm>
            <a:off x="4610100" y="685800"/>
            <a:ext cx="1905000" cy="139700"/>
            <a:chOff x="4610100" y="685800"/>
            <a:chExt cx="1905000" cy="139700"/>
          </a:xfrm>
        </p:grpSpPr>
        <p:sp>
          <p:nvSpPr>
            <p:cNvPr id="14" name="node04.text"/>
            <p:cNvSpPr/>
            <p:nvPr/>
          </p:nvSpPr>
          <p:spPr>
            <a:xfrm>
              <a:off x="4610100" y="685800"/>
              <a:ext cx="1905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SITUATION</a:t>
              </a:r>
              <a:endParaRPr lang="en-US" sz="800" spc="48" kern="0" b="0" i="0" dirty="0">
                <a:solidFill>
                  <a:srgbClr val="50658E"/>
                </a:solidFill>
                <a:latin typeface="IBM Plex Mono Medium"/>
                <a:ea typeface="IBM Plex Mono Medium"/>
                <a:cs typeface="IBM Plex Mono Medium"/>
              </a:endParaRPr>
            </a:p>
          </p:txBody>
        </p:sp>
      </p:grpSp>
      <p:grpSp>
        <p:nvGrpSpPr>
          <p:cNvPr id="50" name="node05"/>
          <p:cNvGrpSpPr/>
          <p:nvPr/>
        </p:nvGrpSpPr>
        <p:grpSpPr>
          <a:xfrm>
            <a:off x="4610100" y="990600"/>
            <a:ext cx="1905000" cy="330200"/>
            <a:chOff x="4610100" y="990600"/>
            <a:chExt cx="1905000" cy="330200"/>
          </a:xfrm>
        </p:grpSpPr>
        <p:sp>
          <p:nvSpPr>
            <p:cNvPr id="15" name="node05.text"/>
            <p:cNvSpPr/>
            <p:nvPr/>
          </p:nvSpPr>
          <p:spPr>
            <a:xfrm>
              <a:off x="4610100" y="990600"/>
              <a:ext cx="19050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Where we start</a:t>
              </a:r>
              <a:endParaRPr lang="en-US" sz="2100" spc="-32" kern="0" b="0" i="0" dirty="0">
                <a:solidFill>
                  <a:srgbClr val="070154"/>
                </a:solidFill>
                <a:latin typeface="IBM Plex Sans SemiBold"/>
                <a:ea typeface="IBM Plex Sans SemiBold"/>
                <a:cs typeface="IBM Plex Sans SemiBold"/>
              </a:endParaRPr>
            </a:p>
          </p:txBody>
        </p:sp>
      </p:grpSp>
      <p:grpSp>
        <p:nvGrpSpPr>
          <p:cNvPr id="51" name="node06"/>
          <p:cNvGrpSpPr/>
          <p:nvPr/>
        </p:nvGrpSpPr>
        <p:grpSpPr>
          <a:xfrm>
            <a:off x="6743700" y="685800"/>
            <a:ext cx="2743200" cy="939800"/>
            <a:chOff x="6743700" y="685800"/>
            <a:chExt cx="2743200" cy="939800"/>
          </a:xfrm>
        </p:grpSpPr>
        <p:sp>
          <p:nvSpPr>
            <p:cNvPr id="16" name="node06.source-001.bullet"/>
            <p:cNvSpPr/>
            <p:nvPr/>
          </p:nvSpPr>
          <p:spPr>
            <a:xfrm>
              <a:off x="6743700" y="774700"/>
              <a:ext cx="38100" cy="38100"/>
            </a:xfrm>
            <a:prstGeom prst="rect">
              <a:avLst/>
            </a:prstGeom>
            <a:solidFill>
              <a:srgbClr val="070154"/>
            </a:solidFill>
            <a:ln>
              <a:noFill/>
            </a:ln>
          </p:spPr>
        </p:sp>
        <p:sp>
          <p:nvSpPr>
            <p:cNvPr id="17" name="node06.source-001.text"/>
            <p:cNvSpPr/>
            <p:nvPr/>
          </p:nvSpPr>
          <p:spPr>
            <a:xfrm>
              <a:off x="6896100" y="6858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Seven hospitals, 64 clinics, three scheduling tools</a:t>
              </a:r>
              <a:endParaRPr lang="en-US" sz="1200" spc="0" kern="0" b="0" i="0" dirty="0">
                <a:solidFill>
                  <a:srgbClr val="070154"/>
                </a:solidFill>
                <a:latin typeface="IBM Plex Sans"/>
                <a:ea typeface="IBM Plex Sans"/>
                <a:cs typeface="IBM Plex Sans"/>
              </a:endParaRPr>
            </a:p>
          </p:txBody>
        </p:sp>
        <p:sp>
          <p:nvSpPr>
            <p:cNvPr id="18" name="node06.source-002.bullet"/>
            <p:cNvSpPr/>
            <p:nvPr/>
          </p:nvSpPr>
          <p:spPr>
            <a:xfrm>
              <a:off x="6743700" y="1244600"/>
              <a:ext cx="38100" cy="38100"/>
            </a:xfrm>
            <a:prstGeom prst="rect">
              <a:avLst/>
            </a:prstGeom>
            <a:solidFill>
              <a:srgbClr val="070154"/>
            </a:solidFill>
            <a:ln>
              <a:noFill/>
            </a:ln>
          </p:spPr>
        </p:sp>
        <p:sp>
          <p:nvSpPr>
            <p:cNvPr id="19" name="node06.source-002.text"/>
            <p:cNvSpPr/>
            <p:nvPr/>
          </p:nvSpPr>
          <p:spPr>
            <a:xfrm>
              <a:off x="6896100" y="11557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varies by site</a:t>
              </a:r>
              <a:endParaRPr lang="en-US" sz="1200" spc="0" kern="0" b="0" i="0" dirty="0">
                <a:solidFill>
                  <a:srgbClr val="070154"/>
                </a:solidFill>
                <a:latin typeface="IBM Plex Sans"/>
                <a:ea typeface="IBM Plex Sans"/>
                <a:cs typeface="IBM Plex Sans"/>
              </a:endParaRPr>
            </a:p>
          </p:txBody>
        </p:sp>
        <p:sp>
          <p:nvSpPr>
            <p:cNvPr id="20" name="node06.source-003.bullet"/>
            <p:cNvSpPr/>
            <p:nvPr/>
          </p:nvSpPr>
          <p:spPr>
            <a:xfrm>
              <a:off x="6743700" y="1498600"/>
              <a:ext cx="38100" cy="38100"/>
            </a:xfrm>
            <a:prstGeom prst="rect">
              <a:avLst/>
            </a:prstGeom>
            <a:solidFill>
              <a:srgbClr val="070154"/>
            </a:solidFill>
            <a:ln>
              <a:noFill/>
            </a:ln>
          </p:spPr>
        </p:sp>
        <p:sp>
          <p:nvSpPr>
            <p:cNvPr id="21" name="node06.source-003.text"/>
            <p:cNvSpPr/>
            <p:nvPr/>
          </p:nvSpPr>
          <p:spPr>
            <a:xfrm>
              <a:off x="6896100" y="14097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Three acquisitions in four years</a:t>
              </a:r>
              <a:endParaRPr lang="en-US" sz="1200" spc="0" kern="0" b="0" i="0" dirty="0">
                <a:solidFill>
                  <a:srgbClr val="070154"/>
                </a:solidFill>
                <a:latin typeface="IBM Plex Sans"/>
                <a:ea typeface="IBM Plex Sans"/>
                <a:cs typeface="IBM Plex Sans"/>
              </a:endParaRPr>
            </a:p>
          </p:txBody>
        </p:sp>
      </p:grpSp>
      <p:grpSp>
        <p:nvGrpSpPr>
          <p:cNvPr id="52" name="node07"/>
          <p:cNvGrpSpPr/>
          <p:nvPr/>
        </p:nvGrpSpPr>
        <p:grpSpPr>
          <a:xfrm>
            <a:off x="9715500" y="685800"/>
            <a:ext cx="1524000" cy="802069"/>
            <a:chOff x="9715500" y="685800"/>
            <a:chExt cx="1524000" cy="802069"/>
          </a:xfrm>
        </p:grpSpPr>
        <p:sp>
          <p:nvSpPr>
            <p:cNvPr id="22" name="node07.value"/>
            <p:cNvSpPr/>
            <p:nvPr/>
          </p:nvSpPr>
          <p:spPr>
            <a:xfrm>
              <a:off x="9715500" y="685800"/>
              <a:ext cx="15240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3</a:t>
              </a:r>
              <a:endParaRPr lang="en-US" sz="4000" spc="-80" kern="0" b="0" i="0" dirty="0">
                <a:solidFill>
                  <a:srgbClr val="070154"/>
                </a:solidFill>
                <a:latin typeface="IBM Plex Mono SemiBold"/>
                <a:ea typeface="IBM Plex Mono SemiBold"/>
                <a:cs typeface="IBM Plex Mono SemiBold"/>
              </a:endParaRPr>
            </a:p>
          </p:txBody>
        </p:sp>
        <p:sp>
          <p:nvSpPr>
            <p:cNvPr id="23" name="node07.label"/>
            <p:cNvSpPr/>
            <p:nvPr/>
          </p:nvSpPr>
          <p:spPr>
            <a:xfrm>
              <a:off x="9715500" y="1271969"/>
              <a:ext cx="1524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scheduling tools</a:t>
              </a:r>
              <a:endParaRPr lang="en-US" sz="1200" spc="0" kern="0" b="0" i="0" dirty="0">
                <a:solidFill>
                  <a:srgbClr val="50658E"/>
                </a:solidFill>
                <a:latin typeface="IBM Plex Sans"/>
                <a:ea typeface="IBM Plex Sans"/>
                <a:cs typeface="IBM Plex Sans"/>
              </a:endParaRPr>
            </a:p>
          </p:txBody>
        </p:sp>
      </p:grpSp>
      <p:grpSp>
        <p:nvGrpSpPr>
          <p:cNvPr id="53" name="node08"/>
          <p:cNvGrpSpPr/>
          <p:nvPr/>
        </p:nvGrpSpPr>
        <p:grpSpPr>
          <a:xfrm>
            <a:off x="4381500" y="2286000"/>
            <a:ext cx="7086600" cy="1600200"/>
            <a:chOff x="4381500" y="2286000"/>
            <a:chExt cx="7086600" cy="1600200"/>
          </a:xfrm>
        </p:grpSpPr>
        <p:sp>
          <p:nvSpPr>
            <p:cNvPr id="24" name="node08.surface"/>
            <p:cNvSpPr/>
            <p:nvPr/>
          </p:nvSpPr>
          <p:spPr>
            <a:xfrm>
              <a:off x="4381500" y="2286000"/>
              <a:ext cx="7086600" cy="1600200"/>
            </a:xfrm>
            <a:prstGeom prst="rect">
              <a:avLst/>
            </a:prstGeom>
            <a:solidFill>
              <a:srgbClr val="E8EEF8"/>
            </a:solidFill>
            <a:ln>
              <a:noFill/>
            </a:ln>
          </p:spPr>
        </p:sp>
      </p:grpSp>
      <p:grpSp>
        <p:nvGrpSpPr>
          <p:cNvPr id="54" name="node09"/>
          <p:cNvGrpSpPr/>
          <p:nvPr/>
        </p:nvGrpSpPr>
        <p:grpSpPr>
          <a:xfrm>
            <a:off x="4610100" y="2514600"/>
            <a:ext cx="1905000" cy="139700"/>
            <a:chOff x="4610100" y="2514600"/>
            <a:chExt cx="1905000" cy="139700"/>
          </a:xfrm>
        </p:grpSpPr>
        <p:sp>
          <p:nvSpPr>
            <p:cNvPr id="25" name="node09.text"/>
            <p:cNvSpPr/>
            <p:nvPr/>
          </p:nvSpPr>
          <p:spPr>
            <a:xfrm>
              <a:off x="4610100" y="2514600"/>
              <a:ext cx="1905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COMPLICATION</a:t>
              </a:r>
              <a:endParaRPr lang="en-US" sz="800" spc="48" kern="0" b="0" i="0" dirty="0">
                <a:solidFill>
                  <a:srgbClr val="50658E"/>
                </a:solidFill>
                <a:latin typeface="IBM Plex Mono Medium"/>
                <a:ea typeface="IBM Plex Mono Medium"/>
                <a:cs typeface="IBM Plex Mono Medium"/>
              </a:endParaRPr>
            </a:p>
          </p:txBody>
        </p:sp>
      </p:grpSp>
      <p:grpSp>
        <p:nvGrpSpPr>
          <p:cNvPr id="55" name="node10"/>
          <p:cNvGrpSpPr/>
          <p:nvPr/>
        </p:nvGrpSpPr>
        <p:grpSpPr>
          <a:xfrm>
            <a:off x="4610100" y="2819400"/>
            <a:ext cx="1905000" cy="330200"/>
            <a:chOff x="4610100" y="2819400"/>
            <a:chExt cx="1905000" cy="330200"/>
          </a:xfrm>
        </p:grpSpPr>
        <p:sp>
          <p:nvSpPr>
            <p:cNvPr id="26" name="node10.text"/>
            <p:cNvSpPr/>
            <p:nvPr/>
          </p:nvSpPr>
          <p:spPr>
            <a:xfrm>
              <a:off x="4610100" y="2819400"/>
              <a:ext cx="19050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In the way</a:t>
              </a:r>
              <a:endParaRPr lang="en-US" sz="2100" spc="-32" kern="0" b="0" i="0" dirty="0">
                <a:solidFill>
                  <a:srgbClr val="070154"/>
                </a:solidFill>
                <a:latin typeface="IBM Plex Sans SemiBold"/>
                <a:ea typeface="IBM Plex Sans SemiBold"/>
                <a:cs typeface="IBM Plex Sans SemiBold"/>
              </a:endParaRPr>
            </a:p>
          </p:txBody>
        </p:sp>
      </p:grpSp>
      <p:grpSp>
        <p:nvGrpSpPr>
          <p:cNvPr id="56" name="node11"/>
          <p:cNvGrpSpPr/>
          <p:nvPr/>
        </p:nvGrpSpPr>
        <p:grpSpPr>
          <a:xfrm>
            <a:off x="6743700" y="2514600"/>
            <a:ext cx="2743200" cy="723900"/>
            <a:chOff x="6743700" y="2514600"/>
            <a:chExt cx="2743200" cy="723900"/>
          </a:xfrm>
        </p:grpSpPr>
        <p:sp>
          <p:nvSpPr>
            <p:cNvPr id="27" name="node11.source-001.bullet"/>
            <p:cNvSpPr/>
            <p:nvPr/>
          </p:nvSpPr>
          <p:spPr>
            <a:xfrm>
              <a:off x="6743700" y="2603500"/>
              <a:ext cx="38100" cy="38100"/>
            </a:xfrm>
            <a:prstGeom prst="rect">
              <a:avLst/>
            </a:prstGeom>
            <a:solidFill>
              <a:srgbClr val="070154"/>
            </a:solidFill>
            <a:ln>
              <a:noFill/>
            </a:ln>
          </p:spPr>
        </p:sp>
        <p:sp>
          <p:nvSpPr>
            <p:cNvPr id="28" name="node11.source-001.text"/>
            <p:cNvSpPr/>
            <p:nvPr/>
          </p:nvSpPr>
          <p:spPr>
            <a:xfrm>
              <a:off x="6896100" y="2514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Front-end errors reach the claim</a:t>
              </a:r>
              <a:endParaRPr lang="en-US" sz="1200" spc="0" kern="0" b="0" i="0" dirty="0">
                <a:solidFill>
                  <a:srgbClr val="070154"/>
                </a:solidFill>
                <a:latin typeface="IBM Plex Sans"/>
                <a:ea typeface="IBM Plex Sans"/>
                <a:cs typeface="IBM Plex Sans"/>
              </a:endParaRPr>
            </a:p>
          </p:txBody>
        </p:sp>
        <p:sp>
          <p:nvSpPr>
            <p:cNvPr id="29" name="node11.source-002.bullet"/>
            <p:cNvSpPr/>
            <p:nvPr/>
          </p:nvSpPr>
          <p:spPr>
            <a:xfrm>
              <a:off x="6743700" y="2857500"/>
              <a:ext cx="38100" cy="38100"/>
            </a:xfrm>
            <a:prstGeom prst="rect">
              <a:avLst/>
            </a:prstGeom>
            <a:solidFill>
              <a:srgbClr val="070154"/>
            </a:solidFill>
            <a:ln>
              <a:noFill/>
            </a:ln>
          </p:spPr>
        </p:sp>
        <p:sp>
          <p:nvSpPr>
            <p:cNvPr id="30" name="node11.source-002.text"/>
            <p:cNvSpPr/>
            <p:nvPr/>
          </p:nvSpPr>
          <p:spPr>
            <a:xfrm>
              <a:off x="6896100" y="2768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Patients repeat the same details</a:t>
              </a:r>
              <a:endParaRPr lang="en-US" sz="1200" spc="0" kern="0" b="0" i="0" dirty="0">
                <a:solidFill>
                  <a:srgbClr val="070154"/>
                </a:solidFill>
                <a:latin typeface="IBM Plex Sans"/>
                <a:ea typeface="IBM Plex Sans"/>
                <a:cs typeface="IBM Plex Sans"/>
              </a:endParaRPr>
            </a:p>
          </p:txBody>
        </p:sp>
        <p:sp>
          <p:nvSpPr>
            <p:cNvPr id="31" name="node11.source-003.bullet"/>
            <p:cNvSpPr/>
            <p:nvPr/>
          </p:nvSpPr>
          <p:spPr>
            <a:xfrm>
              <a:off x="6743700" y="3111500"/>
              <a:ext cx="38100" cy="38100"/>
            </a:xfrm>
            <a:prstGeom prst="rect">
              <a:avLst/>
            </a:prstGeom>
            <a:solidFill>
              <a:srgbClr val="070154"/>
            </a:solidFill>
            <a:ln>
              <a:noFill/>
            </a:ln>
          </p:spPr>
        </p:sp>
        <p:sp>
          <p:nvSpPr>
            <p:cNvPr id="32" name="node11.source-003.text"/>
            <p:cNvSpPr/>
            <p:nvPr/>
          </p:nvSpPr>
          <p:spPr>
            <a:xfrm>
              <a:off x="6896100" y="3022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Access and billing split by leader</a:t>
              </a:r>
              <a:endParaRPr lang="en-US" sz="1200" spc="0" kern="0" b="0" i="0" dirty="0">
                <a:solidFill>
                  <a:srgbClr val="070154"/>
                </a:solidFill>
                <a:latin typeface="IBM Plex Sans"/>
                <a:ea typeface="IBM Plex Sans"/>
                <a:cs typeface="IBM Plex Sans"/>
              </a:endParaRPr>
            </a:p>
          </p:txBody>
        </p:sp>
      </p:grpSp>
      <p:grpSp>
        <p:nvGrpSpPr>
          <p:cNvPr id="57" name="node12"/>
          <p:cNvGrpSpPr/>
          <p:nvPr/>
        </p:nvGrpSpPr>
        <p:grpSpPr>
          <a:xfrm>
            <a:off x="9715500" y="2514600"/>
            <a:ext cx="1524000" cy="1017969"/>
            <a:chOff x="9715500" y="2514600"/>
            <a:chExt cx="1524000" cy="1017969"/>
          </a:xfrm>
        </p:grpSpPr>
        <p:sp>
          <p:nvSpPr>
            <p:cNvPr id="33" name="node12.value"/>
            <p:cNvSpPr/>
            <p:nvPr/>
          </p:nvSpPr>
          <p:spPr>
            <a:xfrm>
              <a:off x="9715500" y="2514600"/>
              <a:ext cx="15240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11%</a:t>
              </a:r>
              <a:endParaRPr lang="en-US" sz="4000" spc="-80" kern="0" b="0" i="0" dirty="0">
                <a:solidFill>
                  <a:srgbClr val="070154"/>
                </a:solidFill>
                <a:latin typeface="IBM Plex Mono SemiBold"/>
                <a:ea typeface="IBM Plex Mono SemiBold"/>
                <a:cs typeface="IBM Plex Mono SemiBold"/>
              </a:endParaRPr>
            </a:p>
          </p:txBody>
        </p:sp>
        <p:sp>
          <p:nvSpPr>
            <p:cNvPr id="34" name="node12.label"/>
            <p:cNvSpPr/>
            <p:nvPr/>
          </p:nvSpPr>
          <p:spPr>
            <a:xfrm>
              <a:off x="9715500" y="3100769"/>
              <a:ext cx="1524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of denials start at registration</a:t>
              </a:r>
              <a:endParaRPr lang="en-US" sz="1200" spc="0" kern="0" b="0" i="0" dirty="0">
                <a:solidFill>
                  <a:srgbClr val="50658E"/>
                </a:solidFill>
                <a:latin typeface="IBM Plex Sans"/>
                <a:ea typeface="IBM Plex Sans"/>
                <a:cs typeface="IBM Plex Sans"/>
              </a:endParaRPr>
            </a:p>
          </p:txBody>
        </p:sp>
      </p:grpSp>
      <p:grpSp>
        <p:nvGrpSpPr>
          <p:cNvPr id="58" name="node13"/>
          <p:cNvGrpSpPr/>
          <p:nvPr/>
        </p:nvGrpSpPr>
        <p:grpSpPr>
          <a:xfrm>
            <a:off x="4381500" y="3886200"/>
            <a:ext cx="7086600" cy="1600200"/>
            <a:chOff x="4381500" y="3886200"/>
            <a:chExt cx="7086600" cy="1600200"/>
          </a:xfrm>
        </p:grpSpPr>
        <p:sp>
          <p:nvSpPr>
            <p:cNvPr id="35" name="node13.surface"/>
            <p:cNvSpPr/>
            <p:nvPr/>
          </p:nvSpPr>
          <p:spPr>
            <a:xfrm>
              <a:off x="4381500" y="3886200"/>
              <a:ext cx="7086600" cy="1600200"/>
            </a:xfrm>
            <a:prstGeom prst="rect">
              <a:avLst/>
            </a:prstGeom>
            <a:solidFill>
              <a:srgbClr val="070154"/>
            </a:solidFill>
            <a:ln>
              <a:noFill/>
            </a:ln>
          </p:spPr>
        </p:sp>
      </p:grpSp>
      <p:grpSp>
        <p:nvGrpSpPr>
          <p:cNvPr id="59" name="node14"/>
          <p:cNvGrpSpPr/>
          <p:nvPr/>
        </p:nvGrpSpPr>
        <p:grpSpPr>
          <a:xfrm>
            <a:off x="4610100" y="4114800"/>
            <a:ext cx="1905000" cy="139700"/>
            <a:chOff x="4610100" y="4114800"/>
            <a:chExt cx="1905000" cy="139700"/>
          </a:xfrm>
        </p:grpSpPr>
        <p:sp>
          <p:nvSpPr>
            <p:cNvPr id="36" name="node14.text"/>
            <p:cNvSpPr/>
            <p:nvPr/>
          </p:nvSpPr>
          <p:spPr>
            <a:xfrm>
              <a:off x="4610100" y="4114800"/>
              <a:ext cx="1905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THE ASK</a:t>
              </a:r>
              <a:endParaRPr lang="en-US" sz="800" spc="48" kern="0" b="0" i="0" dirty="0">
                <a:solidFill>
                  <a:srgbClr val="CED7E6"/>
                </a:solidFill>
                <a:latin typeface="IBM Plex Mono Medium"/>
                <a:ea typeface="IBM Plex Mono Medium"/>
                <a:cs typeface="IBM Plex Mono Medium"/>
              </a:endParaRPr>
            </a:p>
          </p:txBody>
        </p:sp>
      </p:grpSp>
      <p:grpSp>
        <p:nvGrpSpPr>
          <p:cNvPr id="60" name="node15"/>
          <p:cNvGrpSpPr/>
          <p:nvPr/>
        </p:nvGrpSpPr>
        <p:grpSpPr>
          <a:xfrm>
            <a:off x="4610100" y="4419600"/>
            <a:ext cx="1905000" cy="330200"/>
            <a:chOff x="4610100" y="4419600"/>
            <a:chExt cx="1905000" cy="330200"/>
          </a:xfrm>
        </p:grpSpPr>
        <p:sp>
          <p:nvSpPr>
            <p:cNvPr id="37" name="node15.text"/>
            <p:cNvSpPr/>
            <p:nvPr/>
          </p:nvSpPr>
          <p:spPr>
            <a:xfrm>
              <a:off x="4610100" y="4419600"/>
              <a:ext cx="19050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FFFFF"/>
                  </a:solidFill>
                  <a:latin typeface="IBM Plex Sans SemiBold"/>
                  <a:ea typeface="IBM Plex Sans SemiBold"/>
                  <a:cs typeface="IBM Plex Sans SemiBold"/>
                </a:rPr>
                <a:t>What you need</a:t>
              </a:r>
              <a:endParaRPr lang="en-US" sz="2100" spc="-32" kern="0" b="0" i="0" dirty="0">
                <a:solidFill>
                  <a:srgbClr val="FFFFFF"/>
                </a:solidFill>
                <a:latin typeface="IBM Plex Sans SemiBold"/>
                <a:ea typeface="IBM Plex Sans SemiBold"/>
                <a:cs typeface="IBM Plex Sans SemiBold"/>
              </a:endParaRPr>
            </a:p>
          </p:txBody>
        </p:sp>
      </p:grpSp>
      <p:grpSp>
        <p:nvGrpSpPr>
          <p:cNvPr id="61" name="node16"/>
          <p:cNvGrpSpPr/>
          <p:nvPr/>
        </p:nvGrpSpPr>
        <p:grpSpPr>
          <a:xfrm>
            <a:off x="6743700" y="4114800"/>
            <a:ext cx="2743200" cy="723900"/>
            <a:chOff x="6743700" y="4114800"/>
            <a:chExt cx="2743200" cy="723900"/>
          </a:xfrm>
        </p:grpSpPr>
        <p:sp>
          <p:nvSpPr>
            <p:cNvPr id="38" name="node16.source-001.bullet"/>
            <p:cNvSpPr/>
            <p:nvPr/>
          </p:nvSpPr>
          <p:spPr>
            <a:xfrm>
              <a:off x="6743700" y="4203700"/>
              <a:ext cx="38100" cy="38100"/>
            </a:xfrm>
            <a:prstGeom prst="rect">
              <a:avLst/>
            </a:prstGeom>
            <a:solidFill>
              <a:srgbClr val="FFFFFF"/>
            </a:solidFill>
            <a:ln>
              <a:noFill/>
            </a:ln>
          </p:spPr>
        </p:sp>
        <p:sp>
          <p:nvSpPr>
            <p:cNvPr id="39" name="node16.source-001.text"/>
            <p:cNvSpPr/>
            <p:nvPr/>
          </p:nvSpPr>
          <p:spPr>
            <a:xfrm>
              <a:off x="6896100" y="41148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One access and revenue cycle design</a:t>
              </a:r>
              <a:endParaRPr lang="en-US" sz="1200" spc="0" kern="0" b="0" i="0" dirty="0">
                <a:solidFill>
                  <a:srgbClr val="FFFFFF"/>
                </a:solidFill>
                <a:latin typeface="IBM Plex Sans"/>
                <a:ea typeface="IBM Plex Sans"/>
                <a:cs typeface="IBM Plex Sans"/>
              </a:endParaRPr>
            </a:p>
          </p:txBody>
        </p:sp>
        <p:sp>
          <p:nvSpPr>
            <p:cNvPr id="40" name="node16.source-002.bullet"/>
            <p:cNvSpPr/>
            <p:nvPr/>
          </p:nvSpPr>
          <p:spPr>
            <a:xfrm>
              <a:off x="6743700" y="4457700"/>
              <a:ext cx="38100" cy="38100"/>
            </a:xfrm>
            <a:prstGeom prst="rect">
              <a:avLst/>
            </a:prstGeom>
            <a:solidFill>
              <a:srgbClr val="FFFFFF"/>
            </a:solidFill>
            <a:ln>
              <a:noFill/>
            </a:ln>
          </p:spPr>
        </p:sp>
        <p:sp>
          <p:nvSpPr>
            <p:cNvPr id="41" name="node16.source-002.text"/>
            <p:cNvSpPr/>
            <p:nvPr/>
          </p:nvSpPr>
          <p:spPr>
            <a:xfrm>
              <a:off x="6896100" y="43688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 roadmap that fits the EHR date</a:t>
              </a:r>
              <a:endParaRPr lang="en-US" sz="1200" spc="0" kern="0" b="0" i="0" dirty="0">
                <a:solidFill>
                  <a:srgbClr val="FFFFFF"/>
                </a:solidFill>
                <a:latin typeface="IBM Plex Sans"/>
                <a:ea typeface="IBM Plex Sans"/>
                <a:cs typeface="IBM Plex Sans"/>
              </a:endParaRPr>
            </a:p>
          </p:txBody>
        </p:sp>
        <p:sp>
          <p:nvSpPr>
            <p:cNvPr id="42" name="node16.source-003.bullet"/>
            <p:cNvSpPr/>
            <p:nvPr/>
          </p:nvSpPr>
          <p:spPr>
            <a:xfrm>
              <a:off x="6743700" y="4711700"/>
              <a:ext cx="38100" cy="38100"/>
            </a:xfrm>
            <a:prstGeom prst="rect">
              <a:avLst/>
            </a:prstGeom>
            <a:solidFill>
              <a:srgbClr val="FFFFFF"/>
            </a:solidFill>
            <a:ln>
              <a:noFill/>
            </a:ln>
          </p:spPr>
        </p:sp>
        <p:sp>
          <p:nvSpPr>
            <p:cNvPr id="43" name="node16.source-003.text"/>
            <p:cNvSpPr/>
            <p:nvPr/>
          </p:nvSpPr>
          <p:spPr>
            <a:xfrm>
              <a:off x="6896100" y="46228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Named owners and measures</a:t>
              </a:r>
              <a:endParaRPr lang="en-US" sz="1200" spc="0" kern="0" b="0" i="0" dirty="0">
                <a:solidFill>
                  <a:srgbClr val="FFFFFF"/>
                </a:solidFill>
                <a:latin typeface="IBM Plex Sans"/>
                <a:ea typeface="IBM Plex Sans"/>
                <a:cs typeface="IBM Plex Sans"/>
              </a:endParaRPr>
            </a:p>
          </p:txBody>
        </p:sp>
      </p:grpSp>
      <p:grpSp>
        <p:nvGrpSpPr>
          <p:cNvPr id="62" name="node17"/>
          <p:cNvGrpSpPr/>
          <p:nvPr/>
        </p:nvGrpSpPr>
        <p:grpSpPr>
          <a:xfrm>
            <a:off x="9715500" y="4114800"/>
            <a:ext cx="1524000" cy="802069"/>
            <a:chOff x="9715500" y="4114800"/>
            <a:chExt cx="1524000" cy="802069"/>
          </a:xfrm>
        </p:grpSpPr>
        <p:sp>
          <p:nvSpPr>
            <p:cNvPr id="44" name="node17.value"/>
            <p:cNvSpPr/>
            <p:nvPr/>
          </p:nvSpPr>
          <p:spPr>
            <a:xfrm>
              <a:off x="9715500" y="4114800"/>
              <a:ext cx="15240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FFFFFF"/>
                  </a:solidFill>
                  <a:latin typeface="IBM Plex Mono SemiBold"/>
                  <a:ea typeface="IBM Plex Mono SemiBold"/>
                  <a:cs typeface="IBM Plex Mono SemiBold"/>
                </a:rPr>
                <a:t>7</a:t>
              </a:r>
              <a:endParaRPr lang="en-US" sz="4000" spc="-80" kern="0" b="0" i="0" dirty="0">
                <a:solidFill>
                  <a:srgbClr val="FFFFFF"/>
                </a:solidFill>
                <a:latin typeface="IBM Plex Mono SemiBold"/>
                <a:ea typeface="IBM Plex Mono SemiBold"/>
                <a:cs typeface="IBM Plex Mono SemiBold"/>
              </a:endParaRPr>
            </a:p>
          </p:txBody>
        </p:sp>
        <p:sp>
          <p:nvSpPr>
            <p:cNvPr id="45" name="node17.label"/>
            <p:cNvSpPr/>
            <p:nvPr/>
          </p:nvSpPr>
          <p:spPr>
            <a:xfrm>
              <a:off x="9715500" y="4700969"/>
              <a:ext cx="1524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measures to baseline</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ource-573">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What sits behind the ask</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14</a:t>
            </a:fld>
            <a:endParaRPr lang="en-US" sz="700" spc="0" kern="0" b="0" i="0" dirty="0">
              <a:solidFill>
                <a:srgbClr val="FFFFFF"/>
              </a:solidFill>
              <a:latin typeface="IBM Plex Mono SemiBold"/>
              <a:ea typeface="IBM Plex Mono SemiBold"/>
              <a:cs typeface="IBM Plex Mono SemiBold"/>
            </a:endParaRPr>
          </a:p>
        </p:txBody>
      </p:sp>
      <p:grpSp>
        <p:nvGrpSpPr>
          <p:cNvPr id="48" name="node01"/>
          <p:cNvGrpSpPr/>
          <p:nvPr/>
        </p:nvGrpSpPr>
        <p:grpSpPr>
          <a:xfrm>
            <a:off x="723900" y="1600200"/>
            <a:ext cx="3429000" cy="558800"/>
            <a:chOff x="723900" y="1600200"/>
            <a:chExt cx="3429000" cy="558800"/>
          </a:xfrm>
        </p:grpSpPr>
        <p:sp>
          <p:nvSpPr>
            <p:cNvPr id="7" name="node01.rule"/>
            <p:cNvSpPr/>
            <p:nvPr/>
          </p:nvSpPr>
          <p:spPr>
            <a:xfrm>
              <a:off x="723900" y="1600200"/>
              <a:ext cx="3429000" cy="38100"/>
            </a:xfrm>
            <a:prstGeom prst="rect">
              <a:avLst/>
            </a:prstGeom>
            <a:solidFill>
              <a:srgbClr val="070154"/>
            </a:solidFill>
            <a:ln>
              <a:noFill/>
            </a:ln>
          </p:spPr>
        </p:sp>
        <p:sp>
          <p:nvSpPr>
            <p:cNvPr id="8" name="node01.label"/>
            <p:cNvSpPr/>
            <p:nvPr/>
          </p:nvSpPr>
          <p:spPr>
            <a:xfrm>
              <a:off x="723900" y="17526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SITUATION</a:t>
              </a:r>
              <a:endParaRPr lang="en-US" sz="800" spc="48" kern="0" b="0" i="0" dirty="0">
                <a:solidFill>
                  <a:srgbClr val="0047FF"/>
                </a:solidFill>
                <a:latin typeface="IBM Plex Mono Medium"/>
                <a:ea typeface="IBM Plex Mono Medium"/>
                <a:cs typeface="IBM Plex Mono Medium"/>
              </a:endParaRPr>
            </a:p>
          </p:txBody>
        </p:sp>
        <p:sp>
          <p:nvSpPr>
            <p:cNvPr id="9" name="node01.title"/>
            <p:cNvSpPr/>
            <p:nvPr/>
          </p:nvSpPr>
          <p:spPr>
            <a:xfrm>
              <a:off x="723900" y="18923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Where Northfield stands</a:t>
              </a:r>
              <a:endParaRPr lang="en-US" sz="1600" spc="-16" kern="0" b="0" i="0" dirty="0">
                <a:solidFill>
                  <a:srgbClr val="070154"/>
                </a:solidFill>
                <a:latin typeface="IBM Plex Sans SemiBold"/>
                <a:ea typeface="IBM Plex Sans SemiBold"/>
                <a:cs typeface="IBM Plex Sans SemiBold"/>
              </a:endParaRPr>
            </a:p>
          </p:txBody>
        </p:sp>
      </p:grpSp>
      <p:grpSp>
        <p:nvGrpSpPr>
          <p:cNvPr id="49" name="node02"/>
          <p:cNvGrpSpPr/>
          <p:nvPr/>
        </p:nvGrpSpPr>
        <p:grpSpPr>
          <a:xfrm>
            <a:off x="723900" y="2514600"/>
            <a:ext cx="3429000" cy="939800"/>
            <a:chOff x="723900" y="2514600"/>
            <a:chExt cx="3429000" cy="939800"/>
          </a:xfrm>
        </p:grpSpPr>
        <p:sp>
          <p:nvSpPr>
            <p:cNvPr id="10" name="node02.source-001.bullet"/>
            <p:cNvSpPr/>
            <p:nvPr/>
          </p:nvSpPr>
          <p:spPr>
            <a:xfrm>
              <a:off x="723900" y="2603500"/>
              <a:ext cx="38100" cy="38100"/>
            </a:xfrm>
            <a:prstGeom prst="rect">
              <a:avLst/>
            </a:prstGeom>
            <a:solidFill>
              <a:srgbClr val="070154"/>
            </a:solidFill>
            <a:ln>
              <a:noFill/>
            </a:ln>
          </p:spPr>
        </p:sp>
        <p:sp>
          <p:nvSpPr>
            <p:cNvPr id="11" name="node02.source-001.text"/>
            <p:cNvSpPr/>
            <p:nvPr/>
          </p:nvSpPr>
          <p:spPr>
            <a:xfrm>
              <a:off x="876300" y="25146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Seven hospitals and 64 clinics run three scheduling tools</a:t>
              </a:r>
              <a:endParaRPr lang="en-US" sz="1200" spc="0" kern="0" b="0" i="0" dirty="0">
                <a:solidFill>
                  <a:srgbClr val="070154"/>
                </a:solidFill>
                <a:latin typeface="IBM Plex Sans"/>
                <a:ea typeface="IBM Plex Sans"/>
                <a:cs typeface="IBM Plex Sans"/>
              </a:endParaRPr>
            </a:p>
          </p:txBody>
        </p:sp>
        <p:sp>
          <p:nvSpPr>
            <p:cNvPr id="12" name="node02.source-002.bullet"/>
            <p:cNvSpPr/>
            <p:nvPr/>
          </p:nvSpPr>
          <p:spPr>
            <a:xfrm>
              <a:off x="723900" y="3073400"/>
              <a:ext cx="38100" cy="38100"/>
            </a:xfrm>
            <a:prstGeom prst="rect">
              <a:avLst/>
            </a:prstGeom>
            <a:solidFill>
              <a:srgbClr val="070154"/>
            </a:solidFill>
            <a:ln>
              <a:noFill/>
            </a:ln>
          </p:spPr>
        </p:sp>
        <p:sp>
          <p:nvSpPr>
            <p:cNvPr id="13" name="node02.source-002.text"/>
            <p:cNvSpPr/>
            <p:nvPr/>
          </p:nvSpPr>
          <p:spPr>
            <a:xfrm>
              <a:off x="876300" y="29845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quality varies by site</a:t>
              </a:r>
              <a:endParaRPr lang="en-US" sz="1200" spc="0" kern="0" b="0" i="0" dirty="0">
                <a:solidFill>
                  <a:srgbClr val="070154"/>
                </a:solidFill>
                <a:latin typeface="IBM Plex Sans"/>
                <a:ea typeface="IBM Plex Sans"/>
                <a:cs typeface="IBM Plex Sans"/>
              </a:endParaRPr>
            </a:p>
          </p:txBody>
        </p:sp>
        <p:sp>
          <p:nvSpPr>
            <p:cNvPr id="14" name="node02.source-003.bullet"/>
            <p:cNvSpPr/>
            <p:nvPr/>
          </p:nvSpPr>
          <p:spPr>
            <a:xfrm>
              <a:off x="723900" y="3327400"/>
              <a:ext cx="38100" cy="38100"/>
            </a:xfrm>
            <a:prstGeom prst="rect">
              <a:avLst/>
            </a:prstGeom>
            <a:solidFill>
              <a:srgbClr val="070154"/>
            </a:solidFill>
            <a:ln>
              <a:noFill/>
            </a:ln>
          </p:spPr>
        </p:sp>
        <p:sp>
          <p:nvSpPr>
            <p:cNvPr id="15" name="node02.source-003.text"/>
            <p:cNvSpPr/>
            <p:nvPr/>
          </p:nvSpPr>
          <p:spPr>
            <a:xfrm>
              <a:off x="876300" y="32385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Three acquisitions in four years</a:t>
              </a:r>
              <a:endParaRPr lang="en-US" sz="1200" spc="0" kern="0" b="0" i="0" dirty="0">
                <a:solidFill>
                  <a:srgbClr val="070154"/>
                </a:solidFill>
                <a:latin typeface="IBM Plex Sans"/>
                <a:ea typeface="IBM Plex Sans"/>
                <a:cs typeface="IBM Plex Sans"/>
              </a:endParaRPr>
            </a:p>
          </p:txBody>
        </p:sp>
      </p:grpSp>
      <p:grpSp>
        <p:nvGrpSpPr>
          <p:cNvPr id="50" name="node03"/>
          <p:cNvGrpSpPr/>
          <p:nvPr/>
        </p:nvGrpSpPr>
        <p:grpSpPr>
          <a:xfrm>
            <a:off x="4381500" y="1600200"/>
            <a:ext cx="3429000" cy="558800"/>
            <a:chOff x="4381500" y="1600200"/>
            <a:chExt cx="3429000" cy="558800"/>
          </a:xfrm>
        </p:grpSpPr>
        <p:sp>
          <p:nvSpPr>
            <p:cNvPr id="16" name="node03.rule"/>
            <p:cNvSpPr/>
            <p:nvPr/>
          </p:nvSpPr>
          <p:spPr>
            <a:xfrm>
              <a:off x="4381500" y="1600200"/>
              <a:ext cx="3429000" cy="38100"/>
            </a:xfrm>
            <a:prstGeom prst="rect">
              <a:avLst/>
            </a:prstGeom>
            <a:solidFill>
              <a:srgbClr val="070154"/>
            </a:solidFill>
            <a:ln>
              <a:noFill/>
            </a:ln>
          </p:spPr>
        </p:sp>
        <p:sp>
          <p:nvSpPr>
            <p:cNvPr id="17" name="node03.label"/>
            <p:cNvSpPr/>
            <p:nvPr/>
          </p:nvSpPr>
          <p:spPr>
            <a:xfrm>
              <a:off x="4381500" y="17526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COMPLICATION</a:t>
              </a:r>
              <a:endParaRPr lang="en-US" sz="800" spc="48" kern="0" b="0" i="0" dirty="0">
                <a:solidFill>
                  <a:srgbClr val="0047FF"/>
                </a:solidFill>
                <a:latin typeface="IBM Plex Mono Medium"/>
                <a:ea typeface="IBM Plex Mono Medium"/>
                <a:cs typeface="IBM Plex Mono Medium"/>
              </a:endParaRPr>
            </a:p>
          </p:txBody>
        </p:sp>
        <p:sp>
          <p:nvSpPr>
            <p:cNvPr id="18" name="node03.title"/>
            <p:cNvSpPr/>
            <p:nvPr/>
          </p:nvSpPr>
          <p:spPr>
            <a:xfrm>
              <a:off x="4381500" y="18923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What is in the way</a:t>
              </a:r>
              <a:endParaRPr lang="en-US" sz="1600" spc="-16" kern="0" b="0" i="0" dirty="0">
                <a:solidFill>
                  <a:srgbClr val="070154"/>
                </a:solidFill>
                <a:latin typeface="IBM Plex Sans SemiBold"/>
                <a:ea typeface="IBM Plex Sans SemiBold"/>
                <a:cs typeface="IBM Plex Sans SemiBold"/>
              </a:endParaRPr>
            </a:p>
          </p:txBody>
        </p:sp>
      </p:grpSp>
      <p:grpSp>
        <p:nvGrpSpPr>
          <p:cNvPr id="51" name="node04"/>
          <p:cNvGrpSpPr/>
          <p:nvPr/>
        </p:nvGrpSpPr>
        <p:grpSpPr>
          <a:xfrm>
            <a:off x="4381500" y="2514600"/>
            <a:ext cx="3429000" cy="723900"/>
            <a:chOff x="4381500" y="2514600"/>
            <a:chExt cx="3429000" cy="723900"/>
          </a:xfrm>
        </p:grpSpPr>
        <p:sp>
          <p:nvSpPr>
            <p:cNvPr id="19" name="node04.source-001.bullet"/>
            <p:cNvSpPr/>
            <p:nvPr/>
          </p:nvSpPr>
          <p:spPr>
            <a:xfrm>
              <a:off x="4381500" y="2603500"/>
              <a:ext cx="38100" cy="38100"/>
            </a:xfrm>
            <a:prstGeom prst="rect">
              <a:avLst/>
            </a:prstGeom>
            <a:solidFill>
              <a:srgbClr val="070154"/>
            </a:solidFill>
            <a:ln>
              <a:noFill/>
            </a:ln>
          </p:spPr>
        </p:sp>
        <p:sp>
          <p:nvSpPr>
            <p:cNvPr id="20" name="node04.source-001.text"/>
            <p:cNvSpPr/>
            <p:nvPr/>
          </p:nvSpPr>
          <p:spPr>
            <a:xfrm>
              <a:off x="4533900" y="251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Front-end errors reach the claim</a:t>
              </a:r>
              <a:endParaRPr lang="en-US" sz="1200" spc="0" kern="0" b="0" i="0" dirty="0">
                <a:solidFill>
                  <a:srgbClr val="070154"/>
                </a:solidFill>
                <a:latin typeface="IBM Plex Sans"/>
                <a:ea typeface="IBM Plex Sans"/>
                <a:cs typeface="IBM Plex Sans"/>
              </a:endParaRPr>
            </a:p>
          </p:txBody>
        </p:sp>
        <p:sp>
          <p:nvSpPr>
            <p:cNvPr id="21" name="node04.source-002.bullet"/>
            <p:cNvSpPr/>
            <p:nvPr/>
          </p:nvSpPr>
          <p:spPr>
            <a:xfrm>
              <a:off x="4381500" y="2857500"/>
              <a:ext cx="38100" cy="38100"/>
            </a:xfrm>
            <a:prstGeom prst="rect">
              <a:avLst/>
            </a:prstGeom>
            <a:solidFill>
              <a:srgbClr val="070154"/>
            </a:solidFill>
            <a:ln>
              <a:noFill/>
            </a:ln>
          </p:spPr>
        </p:sp>
        <p:sp>
          <p:nvSpPr>
            <p:cNvPr id="22" name="node04.source-002.text"/>
            <p:cNvSpPr/>
            <p:nvPr/>
          </p:nvSpPr>
          <p:spPr>
            <a:xfrm>
              <a:off x="4533900" y="2768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Patients repeat the same details at each step</a:t>
              </a:r>
              <a:endParaRPr lang="en-US" sz="1200" spc="0" kern="0" b="0" i="0" dirty="0">
                <a:solidFill>
                  <a:srgbClr val="070154"/>
                </a:solidFill>
                <a:latin typeface="IBM Plex Sans"/>
                <a:ea typeface="IBM Plex Sans"/>
                <a:cs typeface="IBM Plex Sans"/>
              </a:endParaRPr>
            </a:p>
          </p:txBody>
        </p:sp>
        <p:sp>
          <p:nvSpPr>
            <p:cNvPr id="23" name="node04.source-003.bullet"/>
            <p:cNvSpPr/>
            <p:nvPr/>
          </p:nvSpPr>
          <p:spPr>
            <a:xfrm>
              <a:off x="4381500" y="3111500"/>
              <a:ext cx="38100" cy="38100"/>
            </a:xfrm>
            <a:prstGeom prst="rect">
              <a:avLst/>
            </a:prstGeom>
            <a:solidFill>
              <a:srgbClr val="070154"/>
            </a:solidFill>
            <a:ln>
              <a:noFill/>
            </a:ln>
          </p:spPr>
        </p:sp>
        <p:sp>
          <p:nvSpPr>
            <p:cNvPr id="24" name="node04.source-003.text"/>
            <p:cNvSpPr/>
            <p:nvPr/>
          </p:nvSpPr>
          <p:spPr>
            <a:xfrm>
              <a:off x="4533900" y="3022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Access and billing answer to different leaders</a:t>
              </a:r>
              <a:endParaRPr lang="en-US" sz="1200" spc="0" kern="0" b="0" i="0" dirty="0">
                <a:solidFill>
                  <a:srgbClr val="070154"/>
                </a:solidFill>
                <a:latin typeface="IBM Plex Sans"/>
                <a:ea typeface="IBM Plex Sans"/>
                <a:cs typeface="IBM Plex Sans"/>
              </a:endParaRPr>
            </a:p>
          </p:txBody>
        </p:sp>
      </p:grpSp>
      <p:sp>
        <p:nvSpPr>
          <p:cNvPr id="25" name="node05"/>
          <p:cNvSpPr/>
          <p:nvPr/>
        </p:nvSpPr>
        <p:spPr>
          <a:xfrm>
            <a:off x="723900" y="3886200"/>
            <a:ext cx="7086600" cy="9525"/>
          </a:xfrm>
          <a:prstGeom prst="rect">
            <a:avLst/>
          </a:prstGeom>
          <a:solidFill>
            <a:srgbClr val="CED7E6"/>
          </a:solidFill>
          <a:ln>
            <a:noFill/>
          </a:ln>
        </p:spPr>
      </p:sp>
      <p:grpSp>
        <p:nvGrpSpPr>
          <p:cNvPr id="52" name="node06"/>
          <p:cNvGrpSpPr/>
          <p:nvPr/>
        </p:nvGrpSpPr>
        <p:grpSpPr>
          <a:xfrm>
            <a:off x="723900" y="4038600"/>
            <a:ext cx="1600200" cy="802069"/>
            <a:chOff x="723900" y="4038600"/>
            <a:chExt cx="1600200" cy="802069"/>
          </a:xfrm>
        </p:grpSpPr>
        <p:sp>
          <p:nvSpPr>
            <p:cNvPr id="26" name="node06.value"/>
            <p:cNvSpPr/>
            <p:nvPr/>
          </p:nvSpPr>
          <p:spPr>
            <a:xfrm>
              <a:off x="723900" y="40386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3</a:t>
              </a:r>
              <a:endParaRPr lang="en-US" sz="4000" spc="-80" kern="0" b="0" i="0" dirty="0">
                <a:solidFill>
                  <a:srgbClr val="070154"/>
                </a:solidFill>
                <a:latin typeface="IBM Plex Mono SemiBold"/>
                <a:ea typeface="IBM Plex Mono SemiBold"/>
                <a:cs typeface="IBM Plex Mono SemiBold"/>
              </a:endParaRPr>
            </a:p>
          </p:txBody>
        </p:sp>
        <p:sp>
          <p:nvSpPr>
            <p:cNvPr id="27" name="node06.label"/>
            <p:cNvSpPr/>
            <p:nvPr/>
          </p:nvSpPr>
          <p:spPr>
            <a:xfrm>
              <a:off x="723900" y="46247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scheduling tools</a:t>
              </a:r>
              <a:endParaRPr lang="en-US" sz="1200" spc="0" kern="0" b="0" i="0" dirty="0">
                <a:solidFill>
                  <a:srgbClr val="50658E"/>
                </a:solidFill>
                <a:latin typeface="IBM Plex Sans"/>
                <a:ea typeface="IBM Plex Sans"/>
                <a:cs typeface="IBM Plex Sans"/>
              </a:endParaRPr>
            </a:p>
          </p:txBody>
        </p:sp>
      </p:grpSp>
      <p:grpSp>
        <p:nvGrpSpPr>
          <p:cNvPr id="53" name="node07"/>
          <p:cNvGrpSpPr/>
          <p:nvPr/>
        </p:nvGrpSpPr>
        <p:grpSpPr>
          <a:xfrm>
            <a:off x="2552700" y="4038600"/>
            <a:ext cx="1600200" cy="802069"/>
            <a:chOff x="2552700" y="4038600"/>
            <a:chExt cx="1600200" cy="802069"/>
          </a:xfrm>
        </p:grpSpPr>
        <p:sp>
          <p:nvSpPr>
            <p:cNvPr id="28" name="node07.value"/>
            <p:cNvSpPr/>
            <p:nvPr/>
          </p:nvSpPr>
          <p:spPr>
            <a:xfrm>
              <a:off x="2552700" y="40386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71</a:t>
              </a:r>
              <a:endParaRPr lang="en-US" sz="4000" spc="-80" kern="0" b="0" i="0" dirty="0">
                <a:solidFill>
                  <a:srgbClr val="070154"/>
                </a:solidFill>
                <a:latin typeface="IBM Plex Mono SemiBold"/>
                <a:ea typeface="IBM Plex Mono SemiBold"/>
                <a:cs typeface="IBM Plex Mono SemiBold"/>
              </a:endParaRPr>
            </a:p>
          </p:txBody>
        </p:sp>
        <p:sp>
          <p:nvSpPr>
            <p:cNvPr id="29" name="node07.label"/>
            <p:cNvSpPr/>
            <p:nvPr/>
          </p:nvSpPr>
          <p:spPr>
            <a:xfrm>
              <a:off x="2552700" y="46247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sites to align</a:t>
              </a:r>
              <a:endParaRPr lang="en-US" sz="1200" spc="0" kern="0" b="0" i="0" dirty="0">
                <a:solidFill>
                  <a:srgbClr val="50658E"/>
                </a:solidFill>
                <a:latin typeface="IBM Plex Sans"/>
                <a:ea typeface="IBM Plex Sans"/>
                <a:cs typeface="IBM Plex Sans"/>
              </a:endParaRPr>
            </a:p>
          </p:txBody>
        </p:sp>
      </p:grpSp>
      <p:grpSp>
        <p:nvGrpSpPr>
          <p:cNvPr id="54" name="node08"/>
          <p:cNvGrpSpPr/>
          <p:nvPr/>
        </p:nvGrpSpPr>
        <p:grpSpPr>
          <a:xfrm>
            <a:off x="4381500" y="4038600"/>
            <a:ext cx="1600200" cy="802069"/>
            <a:chOff x="4381500" y="4038600"/>
            <a:chExt cx="1600200" cy="802069"/>
          </a:xfrm>
        </p:grpSpPr>
        <p:sp>
          <p:nvSpPr>
            <p:cNvPr id="30" name="node08.value"/>
            <p:cNvSpPr/>
            <p:nvPr/>
          </p:nvSpPr>
          <p:spPr>
            <a:xfrm>
              <a:off x="4381500" y="40386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11%</a:t>
              </a:r>
              <a:endParaRPr lang="en-US" sz="4000" spc="-80" kern="0" b="0" i="0" dirty="0">
                <a:solidFill>
                  <a:srgbClr val="070154"/>
                </a:solidFill>
                <a:latin typeface="IBM Plex Mono SemiBold"/>
                <a:ea typeface="IBM Plex Mono SemiBold"/>
                <a:cs typeface="IBM Plex Mono SemiBold"/>
              </a:endParaRPr>
            </a:p>
          </p:txBody>
        </p:sp>
        <p:sp>
          <p:nvSpPr>
            <p:cNvPr id="31" name="node08.label"/>
            <p:cNvSpPr/>
            <p:nvPr/>
          </p:nvSpPr>
          <p:spPr>
            <a:xfrm>
              <a:off x="4381500" y="46247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denials at intake</a:t>
              </a:r>
              <a:endParaRPr lang="en-US" sz="1200" spc="0" kern="0" b="0" i="0" dirty="0">
                <a:solidFill>
                  <a:srgbClr val="50658E"/>
                </a:solidFill>
                <a:latin typeface="IBM Plex Sans"/>
                <a:ea typeface="IBM Plex Sans"/>
                <a:cs typeface="IBM Plex Sans"/>
              </a:endParaRPr>
            </a:p>
          </p:txBody>
        </p:sp>
      </p:grpSp>
      <p:grpSp>
        <p:nvGrpSpPr>
          <p:cNvPr id="55" name="node09"/>
          <p:cNvGrpSpPr/>
          <p:nvPr/>
        </p:nvGrpSpPr>
        <p:grpSpPr>
          <a:xfrm>
            <a:off x="6210300" y="4038600"/>
            <a:ext cx="1600200" cy="802069"/>
            <a:chOff x="6210300" y="4038600"/>
            <a:chExt cx="1600200" cy="802069"/>
          </a:xfrm>
        </p:grpSpPr>
        <p:sp>
          <p:nvSpPr>
            <p:cNvPr id="32" name="node09.value"/>
            <p:cNvSpPr/>
            <p:nvPr/>
          </p:nvSpPr>
          <p:spPr>
            <a:xfrm>
              <a:off x="6210300" y="40386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52</a:t>
              </a:r>
              <a:endParaRPr lang="en-US" sz="4000" spc="-80" kern="0" b="0" i="0" dirty="0">
                <a:solidFill>
                  <a:srgbClr val="070154"/>
                </a:solidFill>
                <a:latin typeface="IBM Plex Mono SemiBold"/>
                <a:ea typeface="IBM Plex Mono SemiBold"/>
                <a:cs typeface="IBM Plex Mono SemiBold"/>
              </a:endParaRPr>
            </a:p>
          </p:txBody>
        </p:sp>
        <p:sp>
          <p:nvSpPr>
            <p:cNvPr id="33" name="node09.label"/>
            <p:cNvSpPr/>
            <p:nvPr/>
          </p:nvSpPr>
          <p:spPr>
            <a:xfrm>
              <a:off x="6210300" y="46247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days in A/R</a:t>
              </a:r>
              <a:endParaRPr lang="en-US" sz="1200" spc="0" kern="0" b="0" i="0" dirty="0">
                <a:solidFill>
                  <a:srgbClr val="50658E"/>
                </a:solidFill>
                <a:latin typeface="IBM Plex Sans"/>
                <a:ea typeface="IBM Plex Sans"/>
                <a:cs typeface="IBM Plex Sans"/>
              </a:endParaRPr>
            </a:p>
          </p:txBody>
        </p:sp>
      </p:grpSp>
      <p:grpSp>
        <p:nvGrpSpPr>
          <p:cNvPr id="56" name="node10"/>
          <p:cNvGrpSpPr/>
          <p:nvPr/>
        </p:nvGrpSpPr>
        <p:grpSpPr>
          <a:xfrm>
            <a:off x="723900" y="5257800"/>
            <a:ext cx="7086600" cy="215900"/>
            <a:chOff x="723900" y="5257800"/>
            <a:chExt cx="7086600" cy="215900"/>
          </a:xfrm>
        </p:grpSpPr>
        <p:sp>
          <p:nvSpPr>
            <p:cNvPr id="34" name="node10.text"/>
            <p:cNvSpPr/>
            <p:nvPr/>
          </p:nvSpPr>
          <p:spPr>
            <a:xfrm>
              <a:off x="723900" y="5257800"/>
              <a:ext cx="708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Our reading: the complication is organizational as much as technical.</a:t>
              </a:r>
              <a:endParaRPr lang="en-US" sz="1200" spc="0" kern="0" b="0" i="0" dirty="0">
                <a:solidFill>
                  <a:srgbClr val="070154"/>
                </a:solidFill>
                <a:latin typeface="IBM Plex Sans"/>
                <a:ea typeface="IBM Plex Sans"/>
                <a:cs typeface="IBM Plex Sans"/>
              </a:endParaRPr>
            </a:p>
          </p:txBody>
        </p:sp>
      </p:grpSp>
      <p:grpSp>
        <p:nvGrpSpPr>
          <p:cNvPr id="57" name="node11"/>
          <p:cNvGrpSpPr/>
          <p:nvPr/>
        </p:nvGrpSpPr>
        <p:grpSpPr>
          <a:xfrm>
            <a:off x="8953500" y="1600200"/>
            <a:ext cx="2514600" cy="139700"/>
            <a:chOff x="8953500" y="1600200"/>
            <a:chExt cx="2514600" cy="139700"/>
          </a:xfrm>
        </p:grpSpPr>
        <p:sp>
          <p:nvSpPr>
            <p:cNvPr id="35" name="node11.text"/>
            <p:cNvSpPr/>
            <p:nvPr/>
          </p:nvSpPr>
          <p:spPr>
            <a:xfrm>
              <a:off x="89535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WHAT YOU ASKED FOR</a:t>
              </a:r>
              <a:endParaRPr lang="en-US" sz="800" spc="48" kern="0" b="0" i="0" dirty="0">
                <a:solidFill>
                  <a:srgbClr val="CED7E6"/>
                </a:solidFill>
                <a:latin typeface="IBM Plex Mono Medium"/>
                <a:ea typeface="IBM Plex Mono Medium"/>
                <a:cs typeface="IBM Plex Mono Medium"/>
              </a:endParaRPr>
            </a:p>
          </p:txBody>
        </p:sp>
      </p:grpSp>
      <p:grpSp>
        <p:nvGrpSpPr>
          <p:cNvPr id="58" name="node12"/>
          <p:cNvGrpSpPr/>
          <p:nvPr/>
        </p:nvGrpSpPr>
        <p:grpSpPr>
          <a:xfrm>
            <a:off x="8953500" y="1905000"/>
            <a:ext cx="2514600" cy="660400"/>
            <a:chOff x="8953500" y="1905000"/>
            <a:chExt cx="2514600" cy="660400"/>
          </a:xfrm>
        </p:grpSpPr>
        <p:sp>
          <p:nvSpPr>
            <p:cNvPr id="36" name="node12.text"/>
            <p:cNvSpPr/>
            <p:nvPr/>
          </p:nvSpPr>
          <p:spPr>
            <a:xfrm>
              <a:off x="8953500" y="1905000"/>
              <a:ext cx="25146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FFFFF"/>
                  </a:solidFill>
                  <a:latin typeface="IBM Plex Sans SemiBold"/>
                  <a:ea typeface="IBM Plex Sans SemiBold"/>
                  <a:cs typeface="IBM Plex Sans SemiBold"/>
                </a:rPr>
                <a:t>One joined-up design</a:t>
              </a:r>
              <a:endParaRPr lang="en-US" sz="2100" spc="-32" kern="0" b="0" i="0" dirty="0">
                <a:solidFill>
                  <a:srgbClr val="FFFFFF"/>
                </a:solidFill>
                <a:latin typeface="IBM Plex Sans SemiBold"/>
                <a:ea typeface="IBM Plex Sans SemiBold"/>
                <a:cs typeface="IBM Plex Sans SemiBold"/>
              </a:endParaRPr>
            </a:p>
          </p:txBody>
        </p:sp>
      </p:grpSp>
      <p:grpSp>
        <p:nvGrpSpPr>
          <p:cNvPr id="59" name="node13"/>
          <p:cNvGrpSpPr/>
          <p:nvPr/>
        </p:nvGrpSpPr>
        <p:grpSpPr>
          <a:xfrm>
            <a:off x="8953500" y="2819400"/>
            <a:ext cx="2514600" cy="1409700"/>
            <a:chOff x="8953500" y="2819400"/>
            <a:chExt cx="2514600" cy="1409700"/>
          </a:xfrm>
        </p:grpSpPr>
        <p:sp>
          <p:nvSpPr>
            <p:cNvPr id="37" name="node13.source-001.bullet"/>
            <p:cNvSpPr/>
            <p:nvPr/>
          </p:nvSpPr>
          <p:spPr>
            <a:xfrm>
              <a:off x="8953500" y="2908300"/>
              <a:ext cx="38100" cy="38100"/>
            </a:xfrm>
            <a:prstGeom prst="rect">
              <a:avLst/>
            </a:prstGeom>
            <a:solidFill>
              <a:srgbClr val="FFFFFF"/>
            </a:solidFill>
            <a:ln>
              <a:noFill/>
            </a:ln>
          </p:spPr>
        </p:sp>
        <p:sp>
          <p:nvSpPr>
            <p:cNvPr id="38" name="node13.source-001.text"/>
            <p:cNvSpPr/>
            <p:nvPr/>
          </p:nvSpPr>
          <p:spPr>
            <a:xfrm>
              <a:off x="9105900" y="28194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 unified access and revenue cycle design</a:t>
              </a:r>
              <a:endParaRPr lang="en-US" sz="1200" spc="0" kern="0" b="0" i="0" dirty="0">
                <a:solidFill>
                  <a:srgbClr val="FFFFFF"/>
                </a:solidFill>
                <a:latin typeface="IBM Plex Sans"/>
                <a:ea typeface="IBM Plex Sans"/>
                <a:cs typeface="IBM Plex Sans"/>
              </a:endParaRPr>
            </a:p>
          </p:txBody>
        </p:sp>
        <p:sp>
          <p:nvSpPr>
            <p:cNvPr id="39" name="node13.source-002.bullet"/>
            <p:cNvSpPr/>
            <p:nvPr/>
          </p:nvSpPr>
          <p:spPr>
            <a:xfrm>
              <a:off x="8953500" y="3378200"/>
              <a:ext cx="38100" cy="38100"/>
            </a:xfrm>
            <a:prstGeom prst="rect">
              <a:avLst/>
            </a:prstGeom>
            <a:solidFill>
              <a:srgbClr val="FFFFFF"/>
            </a:solidFill>
            <a:ln>
              <a:noFill/>
            </a:ln>
          </p:spPr>
        </p:sp>
        <p:sp>
          <p:nvSpPr>
            <p:cNvPr id="40" name="node13.source-002.text"/>
            <p:cNvSpPr/>
            <p:nvPr/>
          </p:nvSpPr>
          <p:spPr>
            <a:xfrm>
              <a:off x="9105900" y="32893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 roadmap that fits the EHR date</a:t>
              </a:r>
              <a:endParaRPr lang="en-US" sz="1200" spc="0" kern="0" b="0" i="0" dirty="0">
                <a:solidFill>
                  <a:srgbClr val="FFFFFF"/>
                </a:solidFill>
                <a:latin typeface="IBM Plex Sans"/>
                <a:ea typeface="IBM Plex Sans"/>
                <a:cs typeface="IBM Plex Sans"/>
              </a:endParaRPr>
            </a:p>
          </p:txBody>
        </p:sp>
        <p:sp>
          <p:nvSpPr>
            <p:cNvPr id="41" name="node13.source-003.bullet"/>
            <p:cNvSpPr/>
            <p:nvPr/>
          </p:nvSpPr>
          <p:spPr>
            <a:xfrm>
              <a:off x="8953500" y="3632200"/>
              <a:ext cx="38100" cy="38100"/>
            </a:xfrm>
            <a:prstGeom prst="rect">
              <a:avLst/>
            </a:prstGeom>
            <a:solidFill>
              <a:srgbClr val="FFFFFF"/>
            </a:solidFill>
            <a:ln>
              <a:noFill/>
            </a:ln>
          </p:spPr>
        </p:sp>
        <p:sp>
          <p:nvSpPr>
            <p:cNvPr id="42" name="node13.source-003.text"/>
            <p:cNvSpPr/>
            <p:nvPr/>
          </p:nvSpPr>
          <p:spPr>
            <a:xfrm>
              <a:off x="9105900" y="35433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Named owners and measures</a:t>
              </a:r>
              <a:endParaRPr lang="en-US" sz="1200" spc="0" kern="0" b="0" i="0" dirty="0">
                <a:solidFill>
                  <a:srgbClr val="FFFFFF"/>
                </a:solidFill>
                <a:latin typeface="IBM Plex Sans"/>
                <a:ea typeface="IBM Plex Sans"/>
                <a:cs typeface="IBM Plex Sans"/>
              </a:endParaRPr>
            </a:p>
          </p:txBody>
        </p:sp>
        <p:sp>
          <p:nvSpPr>
            <p:cNvPr id="43" name="node13.source-004.bullet"/>
            <p:cNvSpPr/>
            <p:nvPr/>
          </p:nvSpPr>
          <p:spPr>
            <a:xfrm>
              <a:off x="8953500" y="3886200"/>
              <a:ext cx="38100" cy="38100"/>
            </a:xfrm>
            <a:prstGeom prst="rect">
              <a:avLst/>
            </a:prstGeom>
            <a:solidFill>
              <a:srgbClr val="FFFFFF"/>
            </a:solidFill>
            <a:ln>
              <a:noFill/>
            </a:ln>
          </p:spPr>
        </p:sp>
        <p:sp>
          <p:nvSpPr>
            <p:cNvPr id="44" name="node13.source-004.text"/>
            <p:cNvSpPr/>
            <p:nvPr/>
          </p:nvSpPr>
          <p:spPr>
            <a:xfrm>
              <a:off x="9105900" y="37973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Seven measures baselined in two weeks</a:t>
              </a:r>
              <a:endParaRPr lang="en-US" sz="1200" spc="0" kern="0" b="0" i="0" dirty="0">
                <a:solidFill>
                  <a:srgbClr val="FFFFFF"/>
                </a:solidFill>
                <a:latin typeface="IBM Plex Sans"/>
                <a:ea typeface="IBM Plex Sans"/>
                <a:cs typeface="IBM Plex Sans"/>
              </a:endParaRPr>
            </a:p>
          </p:txBody>
        </p:sp>
      </p:grpSp>
      <p:sp>
        <p:nvSpPr>
          <p:cNvPr id="45" name="node14"/>
          <p:cNvSpPr/>
          <p:nvPr/>
        </p:nvSpPr>
        <p:spPr>
          <a:xfrm>
            <a:off x="8953500" y="4914900"/>
            <a:ext cx="2514600" cy="9525"/>
          </a:xfrm>
          <a:prstGeom prst="rect">
            <a:avLst/>
          </a:prstGeom>
          <a:solidFill>
            <a:srgbClr val="50658E"/>
          </a:solidFill>
          <a:ln>
            <a:noFill/>
          </a:ln>
        </p:spPr>
      </p:sp>
      <p:grpSp>
        <p:nvGrpSpPr>
          <p:cNvPr id="60" name="node15"/>
          <p:cNvGrpSpPr/>
          <p:nvPr/>
        </p:nvGrpSpPr>
        <p:grpSpPr>
          <a:xfrm>
            <a:off x="8953500" y="5143500"/>
            <a:ext cx="2514600" cy="139700"/>
            <a:chOff x="8953500" y="5143500"/>
            <a:chExt cx="2514600" cy="139700"/>
          </a:xfrm>
        </p:grpSpPr>
        <p:sp>
          <p:nvSpPr>
            <p:cNvPr id="46" name="node15.text"/>
            <p:cNvSpPr/>
            <p:nvPr/>
          </p:nvSpPr>
          <p:spPr>
            <a:xfrm>
              <a:off x="8953500" y="51435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FIXED POINT</a:t>
              </a:r>
              <a:endParaRPr lang="en-US" sz="800" spc="48" kern="0" b="0" i="0" dirty="0">
                <a:solidFill>
                  <a:srgbClr val="CED7E6"/>
                </a:solidFill>
                <a:latin typeface="IBM Plex Mono Medium"/>
                <a:ea typeface="IBM Plex Mono Medium"/>
                <a:cs typeface="IBM Plex Mono Medium"/>
              </a:endParaRPr>
            </a:p>
          </p:txBody>
        </p:sp>
      </p:grpSp>
      <p:grpSp>
        <p:nvGrpSpPr>
          <p:cNvPr id="61" name="node16"/>
          <p:cNvGrpSpPr/>
          <p:nvPr/>
        </p:nvGrpSpPr>
        <p:grpSpPr>
          <a:xfrm>
            <a:off x="8953500" y="5372100"/>
            <a:ext cx="2514600" cy="215900"/>
            <a:chOff x="8953500" y="5372100"/>
            <a:chExt cx="2514600" cy="215900"/>
          </a:xfrm>
        </p:grpSpPr>
        <p:sp>
          <p:nvSpPr>
            <p:cNvPr id="47" name="node16.text"/>
            <p:cNvSpPr/>
            <p:nvPr/>
          </p:nvSpPr>
          <p:spPr>
            <a:xfrm>
              <a:off x="8953500" y="53721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EHR go-live in Q3</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ource-56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constraints, and what each means for the answer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content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1600200"/>
            <a:ext cx="10744200" cy="685800"/>
            <a:chOff x="723900" y="1600200"/>
            <a:chExt cx="10744200" cy="685800"/>
          </a:xfrm>
        </p:grpSpPr>
        <p:sp>
          <p:nvSpPr>
            <p:cNvPr id="7" name="node01.surface"/>
            <p:cNvSpPr/>
            <p:nvPr/>
          </p:nvSpPr>
          <p:spPr>
            <a:xfrm>
              <a:off x="723900" y="1600200"/>
              <a:ext cx="10744200" cy="685800"/>
            </a:xfrm>
            <a:prstGeom prst="rect">
              <a:avLst/>
            </a:prstGeom>
            <a:solidFill>
              <a:srgbClr val="070154"/>
            </a:solidFill>
            <a:ln>
              <a:noFill/>
            </a:ln>
          </p:spPr>
        </p:sp>
        <p:sp>
          <p:nvSpPr>
            <p:cNvPr id="8" name="node01.text"/>
            <p:cNvSpPr/>
            <p:nvPr/>
          </p:nvSpPr>
          <p:spPr>
            <a:xfrm>
              <a:off x="876300" y="1835150"/>
              <a:ext cx="104394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The ask: one access and revenue cycle design that Northfield can run, measure and extend across seven hospitals and 64 clinics.</a:t>
              </a:r>
              <a:endParaRPr lang="en-US" sz="1200" spc="0" kern="0" b="0" i="0" dirty="0">
                <a:solidFill>
                  <a:srgbClr val="FFFFFF"/>
                </a:solidFill>
                <a:latin typeface="IBM Plex Sans"/>
                <a:ea typeface="IBM Plex Sans"/>
                <a:cs typeface="IBM Plex Sans"/>
              </a:endParaRPr>
            </a:p>
          </p:txBody>
        </p:sp>
      </p:grpSp>
      <p:grpSp>
        <p:nvGrpSpPr>
          <p:cNvPr id="50" name="node02"/>
          <p:cNvGrpSpPr/>
          <p:nvPr/>
        </p:nvGrpSpPr>
        <p:grpSpPr>
          <a:xfrm>
            <a:off x="723900" y="2514600"/>
            <a:ext cx="2514600" cy="558800"/>
            <a:chOff x="723900" y="2514600"/>
            <a:chExt cx="2514600" cy="558800"/>
          </a:xfrm>
        </p:grpSpPr>
        <p:sp>
          <p:nvSpPr>
            <p:cNvPr id="9" name="node02.rule"/>
            <p:cNvSpPr/>
            <p:nvPr/>
          </p:nvSpPr>
          <p:spPr>
            <a:xfrm>
              <a:off x="723900" y="2514600"/>
              <a:ext cx="2514600" cy="38100"/>
            </a:xfrm>
            <a:prstGeom prst="rect">
              <a:avLst/>
            </a:prstGeom>
            <a:solidFill>
              <a:srgbClr val="070154"/>
            </a:solidFill>
            <a:ln>
              <a:noFill/>
            </a:ln>
          </p:spPr>
        </p:sp>
        <p:sp>
          <p:nvSpPr>
            <p:cNvPr id="10" name="node02.label"/>
            <p:cNvSpPr/>
            <p:nvPr/>
          </p:nvSpPr>
          <p:spPr>
            <a:xfrm>
              <a:off x="723900" y="26670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TIMELINE</a:t>
              </a:r>
              <a:endParaRPr lang="en-US" sz="800" spc="48" kern="0" b="0" i="0" dirty="0">
                <a:solidFill>
                  <a:srgbClr val="0047FF"/>
                </a:solidFill>
                <a:latin typeface="IBM Plex Mono Medium"/>
                <a:ea typeface="IBM Plex Mono Medium"/>
                <a:cs typeface="IBM Plex Mono Medium"/>
              </a:endParaRPr>
            </a:p>
          </p:txBody>
        </p:sp>
        <p:sp>
          <p:nvSpPr>
            <p:cNvPr id="11" name="node02.title"/>
            <p:cNvSpPr/>
            <p:nvPr/>
          </p:nvSpPr>
          <p:spPr>
            <a:xfrm>
              <a:off x="723900" y="28067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EHR go-live in Q3</a:t>
              </a:r>
              <a:endParaRPr lang="en-US" sz="1600" spc="-16" kern="0" b="0" i="0" dirty="0">
                <a:solidFill>
                  <a:srgbClr val="070154"/>
                </a:solidFill>
                <a:latin typeface="IBM Plex Sans SemiBold"/>
                <a:ea typeface="IBM Plex Sans SemiBold"/>
                <a:cs typeface="IBM Plex Sans SemiBold"/>
              </a:endParaRPr>
            </a:p>
          </p:txBody>
        </p:sp>
      </p:grpSp>
      <p:grpSp>
        <p:nvGrpSpPr>
          <p:cNvPr id="51" name="node03"/>
          <p:cNvGrpSpPr/>
          <p:nvPr/>
        </p:nvGrpSpPr>
        <p:grpSpPr>
          <a:xfrm>
            <a:off x="723900" y="3429000"/>
            <a:ext cx="2514600" cy="685800"/>
            <a:chOff x="723900" y="3429000"/>
            <a:chExt cx="2514600" cy="685800"/>
          </a:xfrm>
        </p:grpSpPr>
        <p:sp>
          <p:nvSpPr>
            <p:cNvPr id="12" name="node03.source-001.bullet"/>
            <p:cNvSpPr/>
            <p:nvPr/>
          </p:nvSpPr>
          <p:spPr>
            <a:xfrm>
              <a:off x="723900" y="3517900"/>
              <a:ext cx="38100" cy="38100"/>
            </a:xfrm>
            <a:prstGeom prst="rect">
              <a:avLst/>
            </a:prstGeom>
            <a:solidFill>
              <a:srgbClr val="070154"/>
            </a:solidFill>
            <a:ln>
              <a:noFill/>
            </a:ln>
          </p:spPr>
        </p:sp>
        <p:sp>
          <p:nvSpPr>
            <p:cNvPr id="13" name="node03.source-001.text"/>
            <p:cNvSpPr/>
            <p:nvPr/>
          </p:nvSpPr>
          <p:spPr>
            <a:xfrm>
              <a:off x="876300" y="34290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About nine months to design and train</a:t>
              </a:r>
              <a:endParaRPr lang="en-US" sz="1200" spc="0" kern="0" b="0" i="0" dirty="0">
                <a:solidFill>
                  <a:srgbClr val="070154"/>
                </a:solidFill>
                <a:latin typeface="IBM Plex Sans"/>
                <a:ea typeface="IBM Plex Sans"/>
                <a:cs typeface="IBM Plex Sans"/>
              </a:endParaRPr>
            </a:p>
          </p:txBody>
        </p:sp>
        <p:sp>
          <p:nvSpPr>
            <p:cNvPr id="14" name="node03.source-002.bullet"/>
            <p:cNvSpPr/>
            <p:nvPr/>
          </p:nvSpPr>
          <p:spPr>
            <a:xfrm>
              <a:off x="723900" y="3987800"/>
              <a:ext cx="38100" cy="38100"/>
            </a:xfrm>
            <a:prstGeom prst="rect">
              <a:avLst/>
            </a:prstGeom>
            <a:solidFill>
              <a:srgbClr val="070154"/>
            </a:solidFill>
            <a:ln>
              <a:noFill/>
            </a:ln>
          </p:spPr>
        </p:sp>
        <p:sp>
          <p:nvSpPr>
            <p:cNvPr id="15" name="node03.source-002.text"/>
            <p:cNvSpPr/>
            <p:nvPr/>
          </p:nvSpPr>
          <p:spPr>
            <a:xfrm>
              <a:off x="876300" y="3898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Sites go live in waves</a:t>
              </a:r>
              <a:endParaRPr lang="en-US" sz="1200" spc="0" kern="0" b="0" i="0" dirty="0">
                <a:solidFill>
                  <a:srgbClr val="070154"/>
                </a:solidFill>
                <a:latin typeface="IBM Plex Sans"/>
                <a:ea typeface="IBM Plex Sans"/>
                <a:cs typeface="IBM Plex Sans"/>
              </a:endParaRPr>
            </a:p>
          </p:txBody>
        </p:sp>
      </p:grpSp>
      <p:grpSp>
        <p:nvGrpSpPr>
          <p:cNvPr id="52" name="node04"/>
          <p:cNvGrpSpPr/>
          <p:nvPr/>
        </p:nvGrpSpPr>
        <p:grpSpPr>
          <a:xfrm>
            <a:off x="723900" y="4572000"/>
            <a:ext cx="2514600" cy="1143000"/>
            <a:chOff x="723900" y="4572000"/>
            <a:chExt cx="2514600" cy="1143000"/>
          </a:xfrm>
        </p:grpSpPr>
        <p:sp>
          <p:nvSpPr>
            <p:cNvPr id="16" name="node04.surface"/>
            <p:cNvSpPr/>
            <p:nvPr/>
          </p:nvSpPr>
          <p:spPr>
            <a:xfrm>
              <a:off x="723900" y="4572000"/>
              <a:ext cx="2514600" cy="1143000"/>
            </a:xfrm>
            <a:prstGeom prst="rect">
              <a:avLst/>
            </a:prstGeom>
            <a:solidFill>
              <a:srgbClr val="E8EEF8"/>
            </a:solidFill>
            <a:ln>
              <a:noFill/>
            </a:ln>
          </p:spPr>
        </p:sp>
      </p:grpSp>
      <p:grpSp>
        <p:nvGrpSpPr>
          <p:cNvPr id="53" name="node05"/>
          <p:cNvGrpSpPr/>
          <p:nvPr/>
        </p:nvGrpSpPr>
        <p:grpSpPr>
          <a:xfrm>
            <a:off x="876300" y="4724400"/>
            <a:ext cx="2209800" cy="139700"/>
            <a:chOff x="876300" y="4724400"/>
            <a:chExt cx="2209800" cy="139700"/>
          </a:xfrm>
        </p:grpSpPr>
        <p:sp>
          <p:nvSpPr>
            <p:cNvPr id="17" name="node05.text"/>
            <p:cNvSpPr/>
            <p:nvPr/>
          </p:nvSpPr>
          <p:spPr>
            <a:xfrm>
              <a:off x="876300" y="47244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IMPLICATION</a:t>
              </a:r>
              <a:endParaRPr lang="en-US" sz="800" spc="48" kern="0" b="0" i="0" dirty="0">
                <a:solidFill>
                  <a:srgbClr val="50658E"/>
                </a:solidFill>
                <a:latin typeface="IBM Plex Mono Medium"/>
                <a:ea typeface="IBM Plex Mono Medium"/>
                <a:cs typeface="IBM Plex Mono Medium"/>
              </a:endParaRPr>
            </a:p>
          </p:txBody>
        </p:sp>
      </p:grpSp>
      <p:grpSp>
        <p:nvGrpSpPr>
          <p:cNvPr id="54" name="node06"/>
          <p:cNvGrpSpPr/>
          <p:nvPr/>
        </p:nvGrpSpPr>
        <p:grpSpPr>
          <a:xfrm>
            <a:off x="876300" y="4953000"/>
            <a:ext cx="2209800" cy="190500"/>
            <a:chOff x="876300" y="4953000"/>
            <a:chExt cx="2209800" cy="190500"/>
          </a:xfrm>
        </p:grpSpPr>
        <p:sp>
          <p:nvSpPr>
            <p:cNvPr id="18" name="node06.text"/>
            <p:cNvSpPr/>
            <p:nvPr/>
          </p:nvSpPr>
          <p:spPr>
            <a:xfrm>
              <a:off x="876300" y="4953000"/>
              <a:ext cx="2209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Sequence waves around cutover.</a:t>
              </a:r>
              <a:endParaRPr lang="en-US" sz="1100" spc="0" kern="0" b="0" i="0" dirty="0">
                <a:solidFill>
                  <a:srgbClr val="070154"/>
                </a:solidFill>
                <a:latin typeface="IBM Plex Sans"/>
                <a:ea typeface="IBM Plex Sans"/>
                <a:cs typeface="IBM Plex Sans"/>
              </a:endParaRPr>
            </a:p>
          </p:txBody>
        </p:sp>
      </p:grpSp>
      <p:grpSp>
        <p:nvGrpSpPr>
          <p:cNvPr id="55" name="node07"/>
          <p:cNvGrpSpPr/>
          <p:nvPr/>
        </p:nvGrpSpPr>
        <p:grpSpPr>
          <a:xfrm>
            <a:off x="3467100" y="2514600"/>
            <a:ext cx="2514600" cy="558800"/>
            <a:chOff x="3467100" y="2514600"/>
            <a:chExt cx="2514600" cy="558800"/>
          </a:xfrm>
        </p:grpSpPr>
        <p:sp>
          <p:nvSpPr>
            <p:cNvPr id="19" name="node07.rule"/>
            <p:cNvSpPr/>
            <p:nvPr/>
          </p:nvSpPr>
          <p:spPr>
            <a:xfrm>
              <a:off x="3467100" y="2514600"/>
              <a:ext cx="2514600" cy="38100"/>
            </a:xfrm>
            <a:prstGeom prst="rect">
              <a:avLst/>
            </a:prstGeom>
            <a:solidFill>
              <a:srgbClr val="070154"/>
            </a:solidFill>
            <a:ln>
              <a:noFill/>
            </a:ln>
          </p:spPr>
        </p:sp>
        <p:sp>
          <p:nvSpPr>
            <p:cNvPr id="20" name="node07.label"/>
            <p:cNvSpPr/>
            <p:nvPr/>
          </p:nvSpPr>
          <p:spPr>
            <a:xfrm>
              <a:off x="3467100" y="26670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BUDGET</a:t>
              </a:r>
              <a:endParaRPr lang="en-US" sz="800" spc="48" kern="0" b="0" i="0" dirty="0">
                <a:solidFill>
                  <a:srgbClr val="0047FF"/>
                </a:solidFill>
                <a:latin typeface="IBM Plex Mono Medium"/>
                <a:ea typeface="IBM Plex Mono Medium"/>
                <a:cs typeface="IBM Plex Mono Medium"/>
              </a:endParaRPr>
            </a:p>
          </p:txBody>
        </p:sp>
        <p:sp>
          <p:nvSpPr>
            <p:cNvPr id="21" name="node07.title"/>
            <p:cNvSpPr/>
            <p:nvPr/>
          </p:nvSpPr>
          <p:spPr>
            <a:xfrm>
              <a:off x="3467100" y="28067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Funded in two phases</a:t>
              </a:r>
              <a:endParaRPr lang="en-US" sz="1600" spc="-16" kern="0" b="0" i="0" dirty="0">
                <a:solidFill>
                  <a:srgbClr val="070154"/>
                </a:solidFill>
                <a:latin typeface="IBM Plex Sans SemiBold"/>
                <a:ea typeface="IBM Plex Sans SemiBold"/>
                <a:cs typeface="IBM Plex Sans SemiBold"/>
              </a:endParaRPr>
            </a:p>
          </p:txBody>
        </p:sp>
      </p:grpSp>
      <p:grpSp>
        <p:nvGrpSpPr>
          <p:cNvPr id="56" name="node08"/>
          <p:cNvGrpSpPr/>
          <p:nvPr/>
        </p:nvGrpSpPr>
        <p:grpSpPr>
          <a:xfrm>
            <a:off x="3467100" y="3429000"/>
            <a:ext cx="2514600" cy="685800"/>
            <a:chOff x="3467100" y="3429000"/>
            <a:chExt cx="2514600" cy="685800"/>
          </a:xfrm>
        </p:grpSpPr>
        <p:sp>
          <p:nvSpPr>
            <p:cNvPr id="22" name="node08.source-001.bullet"/>
            <p:cNvSpPr/>
            <p:nvPr/>
          </p:nvSpPr>
          <p:spPr>
            <a:xfrm>
              <a:off x="3467100" y="3517900"/>
              <a:ext cx="38100" cy="38100"/>
            </a:xfrm>
            <a:prstGeom prst="rect">
              <a:avLst/>
            </a:prstGeom>
            <a:solidFill>
              <a:srgbClr val="070154"/>
            </a:solidFill>
            <a:ln>
              <a:noFill/>
            </a:ln>
          </p:spPr>
        </p:sp>
        <p:sp>
          <p:nvSpPr>
            <p:cNvPr id="23" name="node08.source-001.text"/>
            <p:cNvSpPr/>
            <p:nvPr/>
          </p:nvSpPr>
          <p:spPr>
            <a:xfrm>
              <a:off x="3619500" y="34290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Phase one capped at the FY27 capital line</a:t>
              </a:r>
              <a:endParaRPr lang="en-US" sz="1200" spc="0" kern="0" b="0" i="0" dirty="0">
                <a:solidFill>
                  <a:srgbClr val="070154"/>
                </a:solidFill>
                <a:latin typeface="IBM Plex Sans"/>
                <a:ea typeface="IBM Plex Sans"/>
                <a:cs typeface="IBM Plex Sans"/>
              </a:endParaRPr>
            </a:p>
          </p:txBody>
        </p:sp>
        <p:sp>
          <p:nvSpPr>
            <p:cNvPr id="24" name="node08.source-002.bullet"/>
            <p:cNvSpPr/>
            <p:nvPr/>
          </p:nvSpPr>
          <p:spPr>
            <a:xfrm>
              <a:off x="3467100" y="3987800"/>
              <a:ext cx="38100" cy="38100"/>
            </a:xfrm>
            <a:prstGeom prst="rect">
              <a:avLst/>
            </a:prstGeom>
            <a:solidFill>
              <a:srgbClr val="070154"/>
            </a:solidFill>
            <a:ln>
              <a:noFill/>
            </a:ln>
          </p:spPr>
        </p:sp>
        <p:sp>
          <p:nvSpPr>
            <p:cNvPr id="25" name="node08.source-002.text"/>
            <p:cNvSpPr/>
            <p:nvPr/>
          </p:nvSpPr>
          <p:spPr>
            <a:xfrm>
              <a:off x="3619500" y="3898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Phase two depends on results</a:t>
              </a:r>
              <a:endParaRPr lang="en-US" sz="1200" spc="0" kern="0" b="0" i="0" dirty="0">
                <a:solidFill>
                  <a:srgbClr val="070154"/>
                </a:solidFill>
                <a:latin typeface="IBM Plex Sans"/>
                <a:ea typeface="IBM Plex Sans"/>
                <a:cs typeface="IBM Plex Sans"/>
              </a:endParaRPr>
            </a:p>
          </p:txBody>
        </p:sp>
      </p:grpSp>
      <p:grpSp>
        <p:nvGrpSpPr>
          <p:cNvPr id="57" name="node09"/>
          <p:cNvGrpSpPr/>
          <p:nvPr/>
        </p:nvGrpSpPr>
        <p:grpSpPr>
          <a:xfrm>
            <a:off x="3467100" y="4572000"/>
            <a:ext cx="2514600" cy="1143000"/>
            <a:chOff x="3467100" y="4572000"/>
            <a:chExt cx="2514600" cy="1143000"/>
          </a:xfrm>
        </p:grpSpPr>
        <p:sp>
          <p:nvSpPr>
            <p:cNvPr id="26" name="node09.surface"/>
            <p:cNvSpPr/>
            <p:nvPr/>
          </p:nvSpPr>
          <p:spPr>
            <a:xfrm>
              <a:off x="3467100" y="4572000"/>
              <a:ext cx="2514600" cy="1143000"/>
            </a:xfrm>
            <a:prstGeom prst="rect">
              <a:avLst/>
            </a:prstGeom>
            <a:solidFill>
              <a:srgbClr val="E8EEF8"/>
            </a:solidFill>
            <a:ln>
              <a:noFill/>
            </a:ln>
          </p:spPr>
        </p:sp>
      </p:grpSp>
      <p:grpSp>
        <p:nvGrpSpPr>
          <p:cNvPr id="58" name="node10"/>
          <p:cNvGrpSpPr/>
          <p:nvPr/>
        </p:nvGrpSpPr>
        <p:grpSpPr>
          <a:xfrm>
            <a:off x="3619500" y="4724400"/>
            <a:ext cx="2209800" cy="139700"/>
            <a:chOff x="3619500" y="4724400"/>
            <a:chExt cx="2209800" cy="139700"/>
          </a:xfrm>
        </p:grpSpPr>
        <p:sp>
          <p:nvSpPr>
            <p:cNvPr id="27" name="node10.text"/>
            <p:cNvSpPr/>
            <p:nvPr/>
          </p:nvSpPr>
          <p:spPr>
            <a:xfrm>
              <a:off x="3619500" y="47244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IMPLICATION</a:t>
              </a:r>
              <a:endParaRPr lang="en-US" sz="800" spc="48" kern="0" b="0" i="0" dirty="0">
                <a:solidFill>
                  <a:srgbClr val="50658E"/>
                </a:solidFill>
                <a:latin typeface="IBM Plex Mono Medium"/>
                <a:ea typeface="IBM Plex Mono Medium"/>
                <a:cs typeface="IBM Plex Mono Medium"/>
              </a:endParaRPr>
            </a:p>
          </p:txBody>
        </p:sp>
      </p:grpSp>
      <p:grpSp>
        <p:nvGrpSpPr>
          <p:cNvPr id="59" name="node11"/>
          <p:cNvGrpSpPr/>
          <p:nvPr/>
        </p:nvGrpSpPr>
        <p:grpSpPr>
          <a:xfrm>
            <a:off x="3619500" y="4953000"/>
            <a:ext cx="2209800" cy="190500"/>
            <a:chOff x="3619500" y="4953000"/>
            <a:chExt cx="2209800" cy="190500"/>
          </a:xfrm>
        </p:grpSpPr>
        <p:sp>
          <p:nvSpPr>
            <p:cNvPr id="28" name="node11.text"/>
            <p:cNvSpPr/>
            <p:nvPr/>
          </p:nvSpPr>
          <p:spPr>
            <a:xfrm>
              <a:off x="3619500" y="4953000"/>
              <a:ext cx="2209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Prove value in phase one.</a:t>
              </a:r>
              <a:endParaRPr lang="en-US" sz="1100" spc="0" kern="0" b="0" i="0" dirty="0">
                <a:solidFill>
                  <a:srgbClr val="070154"/>
                </a:solidFill>
                <a:latin typeface="IBM Plex Sans"/>
                <a:ea typeface="IBM Plex Sans"/>
                <a:cs typeface="IBM Plex Sans"/>
              </a:endParaRPr>
            </a:p>
          </p:txBody>
        </p:sp>
      </p:grpSp>
      <p:grpSp>
        <p:nvGrpSpPr>
          <p:cNvPr id="60" name="node12"/>
          <p:cNvGrpSpPr/>
          <p:nvPr/>
        </p:nvGrpSpPr>
        <p:grpSpPr>
          <a:xfrm>
            <a:off x="6210300" y="2514600"/>
            <a:ext cx="2514600" cy="558800"/>
            <a:chOff x="6210300" y="2514600"/>
            <a:chExt cx="2514600" cy="558800"/>
          </a:xfrm>
        </p:grpSpPr>
        <p:sp>
          <p:nvSpPr>
            <p:cNvPr id="29" name="node12.rule"/>
            <p:cNvSpPr/>
            <p:nvPr/>
          </p:nvSpPr>
          <p:spPr>
            <a:xfrm>
              <a:off x="6210300" y="2514600"/>
              <a:ext cx="2514600" cy="38100"/>
            </a:xfrm>
            <a:prstGeom prst="rect">
              <a:avLst/>
            </a:prstGeom>
            <a:solidFill>
              <a:srgbClr val="070154"/>
            </a:solidFill>
            <a:ln>
              <a:noFill/>
            </a:ln>
          </p:spPr>
        </p:sp>
        <p:sp>
          <p:nvSpPr>
            <p:cNvPr id="30" name="node12.label"/>
            <p:cNvSpPr/>
            <p:nvPr/>
          </p:nvSpPr>
          <p:spPr>
            <a:xfrm>
              <a:off x="6210300" y="26670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REGULATORY</a:t>
              </a:r>
              <a:endParaRPr lang="en-US" sz="800" spc="48" kern="0" b="0" i="0" dirty="0">
                <a:solidFill>
                  <a:srgbClr val="0047FF"/>
                </a:solidFill>
                <a:latin typeface="IBM Plex Mono Medium"/>
                <a:ea typeface="IBM Plex Mono Medium"/>
                <a:cs typeface="IBM Plex Mono Medium"/>
              </a:endParaRPr>
            </a:p>
          </p:txBody>
        </p:sp>
        <p:sp>
          <p:nvSpPr>
            <p:cNvPr id="31" name="node12.title"/>
            <p:cNvSpPr/>
            <p:nvPr/>
          </p:nvSpPr>
          <p:spPr>
            <a:xfrm>
              <a:off x="6210300" y="28067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Estimates and consent</a:t>
              </a:r>
              <a:endParaRPr lang="en-US" sz="1600" spc="-16" kern="0" b="0" i="0" dirty="0">
                <a:solidFill>
                  <a:srgbClr val="070154"/>
                </a:solidFill>
                <a:latin typeface="IBM Plex Sans SemiBold"/>
                <a:ea typeface="IBM Plex Sans SemiBold"/>
                <a:cs typeface="IBM Plex Sans SemiBold"/>
              </a:endParaRPr>
            </a:p>
          </p:txBody>
        </p:sp>
      </p:grpSp>
      <p:grpSp>
        <p:nvGrpSpPr>
          <p:cNvPr id="61" name="node13"/>
          <p:cNvGrpSpPr/>
          <p:nvPr/>
        </p:nvGrpSpPr>
        <p:grpSpPr>
          <a:xfrm>
            <a:off x="6210300" y="3429000"/>
            <a:ext cx="2514600" cy="685800"/>
            <a:chOff x="6210300" y="3429000"/>
            <a:chExt cx="2514600" cy="685800"/>
          </a:xfrm>
        </p:grpSpPr>
        <p:sp>
          <p:nvSpPr>
            <p:cNvPr id="32" name="node13.source-001.bullet"/>
            <p:cNvSpPr/>
            <p:nvPr/>
          </p:nvSpPr>
          <p:spPr>
            <a:xfrm>
              <a:off x="6210300" y="3517900"/>
              <a:ext cx="38100" cy="38100"/>
            </a:xfrm>
            <a:prstGeom prst="rect">
              <a:avLst/>
            </a:prstGeom>
            <a:solidFill>
              <a:srgbClr val="070154"/>
            </a:solidFill>
            <a:ln>
              <a:noFill/>
            </a:ln>
          </p:spPr>
        </p:sp>
        <p:sp>
          <p:nvSpPr>
            <p:cNvPr id="33" name="node13.source-001.text"/>
            <p:cNvSpPr/>
            <p:nvPr/>
          </p:nvSpPr>
          <p:spPr>
            <a:xfrm>
              <a:off x="6362700" y="3429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 Surprises Act and HIPAA apply</a:t>
              </a:r>
              <a:endParaRPr lang="en-US" sz="1200" spc="0" kern="0" b="0" i="0" dirty="0">
                <a:solidFill>
                  <a:srgbClr val="070154"/>
                </a:solidFill>
                <a:latin typeface="IBM Plex Sans"/>
                <a:ea typeface="IBM Plex Sans"/>
                <a:cs typeface="IBM Plex Sans"/>
              </a:endParaRPr>
            </a:p>
          </p:txBody>
        </p:sp>
        <p:sp>
          <p:nvSpPr>
            <p:cNvPr id="34" name="node13.source-002.bullet"/>
            <p:cNvSpPr/>
            <p:nvPr/>
          </p:nvSpPr>
          <p:spPr>
            <a:xfrm>
              <a:off x="6210300" y="3771900"/>
              <a:ext cx="38100" cy="38100"/>
            </a:xfrm>
            <a:prstGeom prst="rect">
              <a:avLst/>
            </a:prstGeom>
            <a:solidFill>
              <a:srgbClr val="070154"/>
            </a:solidFill>
            <a:ln>
              <a:noFill/>
            </a:ln>
          </p:spPr>
        </p:sp>
        <p:sp>
          <p:nvSpPr>
            <p:cNvPr id="35" name="node13.source-002.text"/>
            <p:cNvSpPr/>
            <p:nvPr/>
          </p:nvSpPr>
          <p:spPr>
            <a:xfrm>
              <a:off x="6362700" y="36830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Good faith estimates from day one</a:t>
              </a:r>
              <a:endParaRPr lang="en-US" sz="1200" spc="0" kern="0" b="0" i="0" dirty="0">
                <a:solidFill>
                  <a:srgbClr val="070154"/>
                </a:solidFill>
                <a:latin typeface="IBM Plex Sans"/>
                <a:ea typeface="IBM Plex Sans"/>
                <a:cs typeface="IBM Plex Sans"/>
              </a:endParaRPr>
            </a:p>
          </p:txBody>
        </p:sp>
      </p:grpSp>
      <p:grpSp>
        <p:nvGrpSpPr>
          <p:cNvPr id="62" name="node14"/>
          <p:cNvGrpSpPr/>
          <p:nvPr/>
        </p:nvGrpSpPr>
        <p:grpSpPr>
          <a:xfrm>
            <a:off x="6210300" y="4572000"/>
            <a:ext cx="2514600" cy="1143000"/>
            <a:chOff x="6210300" y="4572000"/>
            <a:chExt cx="2514600" cy="1143000"/>
          </a:xfrm>
        </p:grpSpPr>
        <p:sp>
          <p:nvSpPr>
            <p:cNvPr id="36" name="node14.surface"/>
            <p:cNvSpPr/>
            <p:nvPr/>
          </p:nvSpPr>
          <p:spPr>
            <a:xfrm>
              <a:off x="6210300" y="4572000"/>
              <a:ext cx="2514600" cy="1143000"/>
            </a:xfrm>
            <a:prstGeom prst="rect">
              <a:avLst/>
            </a:prstGeom>
            <a:solidFill>
              <a:srgbClr val="E8EEF8"/>
            </a:solidFill>
            <a:ln>
              <a:noFill/>
            </a:ln>
          </p:spPr>
        </p:sp>
      </p:grpSp>
      <p:grpSp>
        <p:nvGrpSpPr>
          <p:cNvPr id="63" name="node15"/>
          <p:cNvGrpSpPr/>
          <p:nvPr/>
        </p:nvGrpSpPr>
        <p:grpSpPr>
          <a:xfrm>
            <a:off x="6362700" y="4724400"/>
            <a:ext cx="2209800" cy="139700"/>
            <a:chOff x="6362700" y="4724400"/>
            <a:chExt cx="2209800" cy="139700"/>
          </a:xfrm>
        </p:grpSpPr>
        <p:sp>
          <p:nvSpPr>
            <p:cNvPr id="37" name="node15.text"/>
            <p:cNvSpPr/>
            <p:nvPr/>
          </p:nvSpPr>
          <p:spPr>
            <a:xfrm>
              <a:off x="6362700" y="47244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IMPLICATION</a:t>
              </a:r>
              <a:endParaRPr lang="en-US" sz="800" spc="48" kern="0" b="0" i="0" dirty="0">
                <a:solidFill>
                  <a:srgbClr val="50658E"/>
                </a:solidFill>
                <a:latin typeface="IBM Plex Mono Medium"/>
                <a:ea typeface="IBM Plex Mono Medium"/>
                <a:cs typeface="IBM Plex Mono Medium"/>
              </a:endParaRPr>
            </a:p>
          </p:txBody>
        </p:sp>
      </p:grpSp>
      <p:grpSp>
        <p:nvGrpSpPr>
          <p:cNvPr id="64" name="node16"/>
          <p:cNvGrpSpPr/>
          <p:nvPr/>
        </p:nvGrpSpPr>
        <p:grpSpPr>
          <a:xfrm>
            <a:off x="6362700" y="4953000"/>
            <a:ext cx="2209800" cy="190500"/>
            <a:chOff x="6362700" y="4953000"/>
            <a:chExt cx="2209800" cy="190500"/>
          </a:xfrm>
        </p:grpSpPr>
        <p:sp>
          <p:nvSpPr>
            <p:cNvPr id="38" name="node16.text"/>
            <p:cNvSpPr/>
            <p:nvPr/>
          </p:nvSpPr>
          <p:spPr>
            <a:xfrm>
              <a:off x="6362700" y="4953000"/>
              <a:ext cx="2209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Build compliance into the flow.</a:t>
              </a:r>
              <a:endParaRPr lang="en-US" sz="1100" spc="0" kern="0" b="0" i="0" dirty="0">
                <a:solidFill>
                  <a:srgbClr val="070154"/>
                </a:solidFill>
                <a:latin typeface="IBM Plex Sans"/>
                <a:ea typeface="IBM Plex Sans"/>
                <a:cs typeface="IBM Plex Sans"/>
              </a:endParaRPr>
            </a:p>
          </p:txBody>
        </p:sp>
      </p:grpSp>
      <p:grpSp>
        <p:nvGrpSpPr>
          <p:cNvPr id="65" name="node17"/>
          <p:cNvGrpSpPr/>
          <p:nvPr/>
        </p:nvGrpSpPr>
        <p:grpSpPr>
          <a:xfrm>
            <a:off x="8953500" y="2514600"/>
            <a:ext cx="2514600" cy="558800"/>
            <a:chOff x="8953500" y="2514600"/>
            <a:chExt cx="2514600" cy="558800"/>
          </a:xfrm>
        </p:grpSpPr>
        <p:sp>
          <p:nvSpPr>
            <p:cNvPr id="39" name="node17.rule"/>
            <p:cNvSpPr/>
            <p:nvPr/>
          </p:nvSpPr>
          <p:spPr>
            <a:xfrm>
              <a:off x="8953500" y="2514600"/>
              <a:ext cx="2514600" cy="38100"/>
            </a:xfrm>
            <a:prstGeom prst="rect">
              <a:avLst/>
            </a:prstGeom>
            <a:solidFill>
              <a:srgbClr val="070154"/>
            </a:solidFill>
            <a:ln>
              <a:noFill/>
            </a:ln>
          </p:spPr>
        </p:sp>
        <p:sp>
          <p:nvSpPr>
            <p:cNvPr id="40" name="node17.label"/>
            <p:cNvSpPr/>
            <p:nvPr/>
          </p:nvSpPr>
          <p:spPr>
            <a:xfrm>
              <a:off x="8953500" y="26670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SYSTEMS</a:t>
              </a:r>
              <a:endParaRPr lang="en-US" sz="800" spc="48" kern="0" b="0" i="0" dirty="0">
                <a:solidFill>
                  <a:srgbClr val="0047FF"/>
                </a:solidFill>
                <a:latin typeface="IBM Plex Mono Medium"/>
                <a:ea typeface="IBM Plex Mono Medium"/>
                <a:cs typeface="IBM Plex Mono Medium"/>
              </a:endParaRPr>
            </a:p>
          </p:txBody>
        </p:sp>
        <p:sp>
          <p:nvSpPr>
            <p:cNvPr id="41" name="node17.title"/>
            <p:cNvSpPr/>
            <p:nvPr/>
          </p:nvSpPr>
          <p:spPr>
            <a:xfrm>
              <a:off x="8953500" y="28067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Three tools, one EHR</a:t>
              </a:r>
              <a:endParaRPr lang="en-US" sz="1600" spc="-16" kern="0" b="0" i="0" dirty="0">
                <a:solidFill>
                  <a:srgbClr val="070154"/>
                </a:solidFill>
                <a:latin typeface="IBM Plex Sans SemiBold"/>
                <a:ea typeface="IBM Plex Sans SemiBold"/>
                <a:cs typeface="IBM Plex Sans SemiBold"/>
              </a:endParaRPr>
            </a:p>
          </p:txBody>
        </p:sp>
      </p:grpSp>
      <p:grpSp>
        <p:nvGrpSpPr>
          <p:cNvPr id="66" name="node18"/>
          <p:cNvGrpSpPr/>
          <p:nvPr/>
        </p:nvGrpSpPr>
        <p:grpSpPr>
          <a:xfrm>
            <a:off x="8953500" y="3429000"/>
            <a:ext cx="2514600" cy="685800"/>
            <a:chOff x="8953500" y="3429000"/>
            <a:chExt cx="2514600" cy="685800"/>
          </a:xfrm>
        </p:grpSpPr>
        <p:sp>
          <p:nvSpPr>
            <p:cNvPr id="42" name="node18.source-001.bullet"/>
            <p:cNvSpPr/>
            <p:nvPr/>
          </p:nvSpPr>
          <p:spPr>
            <a:xfrm>
              <a:off x="8953500" y="3517900"/>
              <a:ext cx="38100" cy="38100"/>
            </a:xfrm>
            <a:prstGeom prst="rect">
              <a:avLst/>
            </a:prstGeom>
            <a:solidFill>
              <a:srgbClr val="070154"/>
            </a:solidFill>
            <a:ln>
              <a:noFill/>
            </a:ln>
          </p:spPr>
        </p:sp>
        <p:sp>
          <p:nvSpPr>
            <p:cNvPr id="43" name="node18.source-001.text"/>
            <p:cNvSpPr/>
            <p:nvPr/>
          </p:nvSpPr>
          <p:spPr>
            <a:xfrm>
              <a:off x="9105900" y="3429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Two legacy schedulers retire</a:t>
              </a:r>
              <a:endParaRPr lang="en-US" sz="1200" spc="0" kern="0" b="0" i="0" dirty="0">
                <a:solidFill>
                  <a:srgbClr val="070154"/>
                </a:solidFill>
                <a:latin typeface="IBM Plex Sans"/>
                <a:ea typeface="IBM Plex Sans"/>
                <a:cs typeface="IBM Plex Sans"/>
              </a:endParaRPr>
            </a:p>
          </p:txBody>
        </p:sp>
        <p:sp>
          <p:nvSpPr>
            <p:cNvPr id="44" name="node18.source-002.bullet"/>
            <p:cNvSpPr/>
            <p:nvPr/>
          </p:nvSpPr>
          <p:spPr>
            <a:xfrm>
              <a:off x="8953500" y="3771900"/>
              <a:ext cx="38100" cy="38100"/>
            </a:xfrm>
            <a:prstGeom prst="rect">
              <a:avLst/>
            </a:prstGeom>
            <a:solidFill>
              <a:srgbClr val="070154"/>
            </a:solidFill>
            <a:ln>
              <a:noFill/>
            </a:ln>
          </p:spPr>
        </p:sp>
        <p:sp>
          <p:nvSpPr>
            <p:cNvPr id="45" name="node18.source-002.text"/>
            <p:cNvSpPr/>
            <p:nvPr/>
          </p:nvSpPr>
          <p:spPr>
            <a:xfrm>
              <a:off x="9105900" y="36830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Clearinghouse interfaces stay stable</a:t>
              </a:r>
              <a:endParaRPr lang="en-US" sz="1200" spc="0" kern="0" b="0" i="0" dirty="0">
                <a:solidFill>
                  <a:srgbClr val="070154"/>
                </a:solidFill>
                <a:latin typeface="IBM Plex Sans"/>
                <a:ea typeface="IBM Plex Sans"/>
                <a:cs typeface="IBM Plex Sans"/>
              </a:endParaRPr>
            </a:p>
          </p:txBody>
        </p:sp>
      </p:grpSp>
      <p:grpSp>
        <p:nvGrpSpPr>
          <p:cNvPr id="67" name="node19"/>
          <p:cNvGrpSpPr/>
          <p:nvPr/>
        </p:nvGrpSpPr>
        <p:grpSpPr>
          <a:xfrm>
            <a:off x="8953500" y="4572000"/>
            <a:ext cx="2514600" cy="1143000"/>
            <a:chOff x="8953500" y="4572000"/>
            <a:chExt cx="2514600" cy="1143000"/>
          </a:xfrm>
        </p:grpSpPr>
        <p:sp>
          <p:nvSpPr>
            <p:cNvPr id="46" name="node19.surface"/>
            <p:cNvSpPr/>
            <p:nvPr/>
          </p:nvSpPr>
          <p:spPr>
            <a:xfrm>
              <a:off x="8953500" y="4572000"/>
              <a:ext cx="2514600" cy="1143000"/>
            </a:xfrm>
            <a:prstGeom prst="rect">
              <a:avLst/>
            </a:prstGeom>
            <a:solidFill>
              <a:srgbClr val="E8EEF8"/>
            </a:solidFill>
            <a:ln>
              <a:noFill/>
            </a:ln>
          </p:spPr>
        </p:sp>
      </p:grpSp>
      <p:grpSp>
        <p:nvGrpSpPr>
          <p:cNvPr id="68" name="node20"/>
          <p:cNvGrpSpPr/>
          <p:nvPr/>
        </p:nvGrpSpPr>
        <p:grpSpPr>
          <a:xfrm>
            <a:off x="9105900" y="4724400"/>
            <a:ext cx="2209800" cy="139700"/>
            <a:chOff x="9105900" y="4724400"/>
            <a:chExt cx="2209800" cy="139700"/>
          </a:xfrm>
        </p:grpSpPr>
        <p:sp>
          <p:nvSpPr>
            <p:cNvPr id="47" name="node20.text"/>
            <p:cNvSpPr/>
            <p:nvPr/>
          </p:nvSpPr>
          <p:spPr>
            <a:xfrm>
              <a:off x="9105900" y="47244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IMPLICATION</a:t>
              </a:r>
              <a:endParaRPr lang="en-US" sz="800" spc="48" kern="0" b="0" i="0" dirty="0">
                <a:solidFill>
                  <a:srgbClr val="50658E"/>
                </a:solidFill>
                <a:latin typeface="IBM Plex Mono Medium"/>
                <a:ea typeface="IBM Plex Mono Medium"/>
                <a:cs typeface="IBM Plex Mono Medium"/>
              </a:endParaRPr>
            </a:p>
          </p:txBody>
        </p:sp>
      </p:grpSp>
      <p:grpSp>
        <p:nvGrpSpPr>
          <p:cNvPr id="69" name="node21"/>
          <p:cNvGrpSpPr/>
          <p:nvPr/>
        </p:nvGrpSpPr>
        <p:grpSpPr>
          <a:xfrm>
            <a:off x="9105900" y="4953000"/>
            <a:ext cx="2209800" cy="381000"/>
            <a:chOff x="9105900" y="4953000"/>
            <a:chExt cx="2209800" cy="381000"/>
          </a:xfrm>
        </p:grpSpPr>
        <p:sp>
          <p:nvSpPr>
            <p:cNvPr id="48" name="node21.text"/>
            <p:cNvSpPr/>
            <p:nvPr/>
          </p:nvSpPr>
          <p:spPr>
            <a:xfrm>
              <a:off x="9105900" y="4953000"/>
              <a:ext cx="2209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Retire tools without breaking claims.</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ource-565">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constraints decide how we answer the ask</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content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nav.section-01"/>
          <p:cNvSpPr/>
          <p:nvPr/>
        </p:nvSpPr>
        <p:spPr>
          <a:xfrm>
            <a:off x="266700" y="457200"/>
            <a:ext cx="228600" cy="1036320"/>
          </a:xfrm>
          <a:prstGeom prst="rect">
            <a:avLst/>
          </a:prstGeom>
          <a:solidFill>
            <a:srgbClr val="E8EEF8"/>
          </a:solidFill>
          <a:ln>
            <a:noFill/>
          </a:ln>
        </p:spPr>
      </p:sp>
      <p:sp>
        <p:nvSpPr>
          <p:cNvPr id="7"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569720"/>
            <a:ext cx="228600" cy="1036320"/>
          </a:xfrm>
          <a:prstGeom prst="rect">
            <a:avLst/>
          </a:prstGeom>
          <a:solidFill>
            <a:srgbClr val="070154"/>
          </a:solidFill>
          <a:ln>
            <a:noFill/>
          </a:ln>
        </p:spPr>
      </p:sp>
      <p:sp>
        <p:nvSpPr>
          <p:cNvPr id="9"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UNDERSTANDING</a:t>
            </a:r>
            <a:endParaRPr lang="en-US" sz="800" spc="80" kern="0" b="0" i="0" dirty="0">
              <a:solidFill>
                <a:srgbClr val="FFFFFF"/>
              </a:solidFill>
              <a:latin typeface="IBM Plex Mono SemiBold"/>
              <a:ea typeface="IBM Plex Mono SemiBold"/>
              <a:cs typeface="IBM Plex Mono SemiBold"/>
            </a:endParaRPr>
          </a:p>
        </p:txBody>
      </p:sp>
      <p:sp>
        <p:nvSpPr>
          <p:cNvPr id="10" name="nav.section-03"/>
          <p:cNvSpPr/>
          <p:nvPr/>
        </p:nvSpPr>
        <p:spPr>
          <a:xfrm>
            <a:off x="266700" y="2682240"/>
            <a:ext cx="228600" cy="1036320"/>
          </a:xfrm>
          <a:prstGeom prst="rect">
            <a:avLst/>
          </a:prstGeom>
          <a:solidFill>
            <a:srgbClr val="E8EEF8"/>
          </a:solidFill>
          <a:ln>
            <a:noFill/>
          </a:ln>
        </p:spPr>
      </p:sp>
      <p:sp>
        <p:nvSpPr>
          <p:cNvPr id="11"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12" name="nav.section-04"/>
          <p:cNvSpPr/>
          <p:nvPr/>
        </p:nvSpPr>
        <p:spPr>
          <a:xfrm>
            <a:off x="266700" y="3794760"/>
            <a:ext cx="228600" cy="1036320"/>
          </a:xfrm>
          <a:prstGeom prst="rect">
            <a:avLst/>
          </a:prstGeom>
          <a:solidFill>
            <a:srgbClr val="E8EEF8"/>
          </a:solidFill>
          <a:ln>
            <a:noFill/>
          </a:ln>
        </p:spPr>
      </p:sp>
      <p:sp>
        <p:nvSpPr>
          <p:cNvPr id="13"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4" name="nav.section-05"/>
          <p:cNvSpPr/>
          <p:nvPr/>
        </p:nvSpPr>
        <p:spPr>
          <a:xfrm>
            <a:off x="266700" y="4907280"/>
            <a:ext cx="228600" cy="1036320"/>
          </a:xfrm>
          <a:prstGeom prst="rect">
            <a:avLst/>
          </a:prstGeom>
          <a:solidFill>
            <a:srgbClr val="E8EEF8"/>
          </a:solidFill>
          <a:ln>
            <a:noFill/>
          </a:ln>
        </p:spPr>
      </p:sp>
      <p:sp>
        <p:nvSpPr>
          <p:cNvPr id="15"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FEES</a:t>
            </a:r>
            <a:endParaRPr lang="en-US" sz="800" spc="80" kern="0" b="0" i="0" dirty="0">
              <a:solidFill>
                <a:srgbClr val="50658E"/>
              </a:solidFill>
              <a:latin typeface="IBM Plex Mono SemiBold"/>
              <a:ea typeface="IBM Plex Mono SemiBold"/>
              <a:cs typeface="IBM Plex Mono SemiBold"/>
            </a:endParaRPr>
          </a:p>
        </p:txBody>
      </p:sp>
      <p:sp>
        <p:nvSpPr>
          <p:cNvPr id="1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a:t>
            </a:fld>
            <a:endParaRPr lang="en-US" sz="700" spc="0" kern="0" b="0" i="0" dirty="0">
              <a:solidFill>
                <a:srgbClr val="070154"/>
              </a:solidFill>
              <a:latin typeface="IBM Plex Mono SemiBold"/>
              <a:ea typeface="IBM Plex Mono SemiBold"/>
              <a:cs typeface="IBM Plex Mono SemiBold"/>
            </a:endParaRPr>
          </a:p>
        </p:txBody>
      </p:sp>
      <p:grpSp>
        <p:nvGrpSpPr>
          <p:cNvPr id="50" name="node01"/>
          <p:cNvGrpSpPr/>
          <p:nvPr/>
        </p:nvGrpSpPr>
        <p:grpSpPr>
          <a:xfrm>
            <a:off x="723900" y="457200"/>
            <a:ext cx="3429000" cy="5257800"/>
            <a:chOff x="723900" y="457200"/>
            <a:chExt cx="3429000" cy="5257800"/>
          </a:xfrm>
        </p:grpSpPr>
        <p:sp>
          <p:nvSpPr>
            <p:cNvPr id="17" name="node01.container"/>
            <p:cNvSpPr/>
            <p:nvPr/>
          </p:nvSpPr>
          <p:spPr>
            <a:xfrm>
              <a:off x="723900" y="457200"/>
              <a:ext cx="3429000" cy="5257800"/>
            </a:xfrm>
            <a:prstGeom prst="rect">
              <a:avLst/>
            </a:prstGeom>
            <a:solidFill>
              <a:srgbClr val="070154"/>
            </a:solidFill>
            <a:ln>
              <a:noFill/>
            </a:ln>
          </p:spPr>
        </p:sp>
        <p:sp>
          <p:nvSpPr>
            <p:cNvPr id="18" name="node01.label"/>
            <p:cNvSpPr/>
            <p:nvPr/>
          </p:nvSpPr>
          <p:spPr>
            <a:xfrm>
              <a:off x="952500" y="6858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THE ASK</a:t>
              </a:r>
              <a:endParaRPr lang="en-US" sz="800" spc="48" kern="0" b="0" i="0" dirty="0">
                <a:solidFill>
                  <a:srgbClr val="F900D3"/>
                </a:solidFill>
                <a:latin typeface="IBM Plex Mono Medium"/>
                <a:ea typeface="IBM Plex Mono Medium"/>
                <a:cs typeface="IBM Plex Mono Medium"/>
              </a:endParaRPr>
            </a:p>
          </p:txBody>
        </p:sp>
        <p:sp>
          <p:nvSpPr>
            <p:cNvPr id="19" name="node01.title"/>
            <p:cNvSpPr/>
            <p:nvPr/>
          </p:nvSpPr>
          <p:spPr>
            <a:xfrm>
              <a:off x="952500" y="901700"/>
              <a:ext cx="29718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One access and revenue cycle design</a:t>
              </a:r>
              <a:endParaRPr lang="en-US" sz="1600" spc="-16" kern="0" b="0" i="0" dirty="0">
                <a:solidFill>
                  <a:srgbClr val="FFFFFF"/>
                </a:solidFill>
                <a:latin typeface="IBM Plex Sans SemiBold"/>
                <a:ea typeface="IBM Plex Sans SemiBold"/>
                <a:cs typeface="IBM Plex Sans SemiBold"/>
              </a:endParaRPr>
            </a:p>
          </p:txBody>
        </p:sp>
        <p:sp>
          <p:nvSpPr>
            <p:cNvPr id="20" name="node01.body.item-001.paragraph"/>
            <p:cNvSpPr/>
            <p:nvPr/>
          </p:nvSpPr>
          <p:spPr>
            <a:xfrm>
              <a:off x="952500" y="1587500"/>
              <a:ext cx="29718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Join scheduling, registration, estimates, claims and denials into one design that Northfield can run, measure and extend.</a:t>
              </a:r>
              <a:endParaRPr lang="en-US" sz="1200" spc="0" kern="0" b="0" i="0" dirty="0">
                <a:solidFill>
                  <a:srgbClr val="CED7E6"/>
                </a:solidFill>
                <a:latin typeface="IBM Plex Sans"/>
                <a:ea typeface="IBM Plex Sans"/>
                <a:cs typeface="IBM Plex Sans"/>
              </a:endParaRPr>
            </a:p>
          </p:txBody>
        </p:sp>
        <p:sp>
          <p:nvSpPr>
            <p:cNvPr id="21" name="node01.body.item-002.bullets.item-001.marker"/>
            <p:cNvSpPr/>
            <p:nvPr/>
          </p:nvSpPr>
          <p:spPr>
            <a:xfrm>
              <a:off x="952500" y="2400300"/>
              <a:ext cx="38100" cy="38100"/>
            </a:xfrm>
            <a:prstGeom prst="rect">
              <a:avLst/>
            </a:prstGeom>
            <a:solidFill>
              <a:srgbClr val="FFFFFF"/>
            </a:solidFill>
            <a:ln>
              <a:noFill/>
            </a:ln>
          </p:spPr>
        </p:sp>
        <p:sp>
          <p:nvSpPr>
            <p:cNvPr id="22" name="node01.body.item-002.bullets.item-001.text"/>
            <p:cNvSpPr/>
            <p:nvPr/>
          </p:nvSpPr>
          <p:spPr>
            <a:xfrm>
              <a:off x="1104900" y="23114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Seven hospitals</a:t>
              </a:r>
              <a:endParaRPr lang="en-US" sz="1200" spc="0" kern="0" b="0" i="0" dirty="0">
                <a:solidFill>
                  <a:srgbClr val="FFFFFF"/>
                </a:solidFill>
                <a:latin typeface="IBM Plex Sans"/>
                <a:ea typeface="IBM Plex Sans"/>
                <a:cs typeface="IBM Plex Sans"/>
              </a:endParaRPr>
            </a:p>
          </p:txBody>
        </p:sp>
        <p:sp>
          <p:nvSpPr>
            <p:cNvPr id="23" name="node01.body.item-002.bullets.item-002.marker"/>
            <p:cNvSpPr/>
            <p:nvPr/>
          </p:nvSpPr>
          <p:spPr>
            <a:xfrm>
              <a:off x="952500" y="2654300"/>
              <a:ext cx="38100" cy="38100"/>
            </a:xfrm>
            <a:prstGeom prst="rect">
              <a:avLst/>
            </a:prstGeom>
            <a:solidFill>
              <a:srgbClr val="FFFFFF"/>
            </a:solidFill>
            <a:ln>
              <a:noFill/>
            </a:ln>
          </p:spPr>
        </p:sp>
        <p:sp>
          <p:nvSpPr>
            <p:cNvPr id="24" name="node01.body.item-002.bullets.item-002.text"/>
            <p:cNvSpPr/>
            <p:nvPr/>
          </p:nvSpPr>
          <p:spPr>
            <a:xfrm>
              <a:off x="1104900" y="25654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64 clinics</a:t>
              </a:r>
              <a:endParaRPr lang="en-US" sz="1200" spc="0" kern="0" b="0" i="0" dirty="0">
                <a:solidFill>
                  <a:srgbClr val="FFFFFF"/>
                </a:solidFill>
                <a:latin typeface="IBM Plex Sans"/>
                <a:ea typeface="IBM Plex Sans"/>
                <a:cs typeface="IBM Plex Sans"/>
              </a:endParaRPr>
            </a:p>
          </p:txBody>
        </p:sp>
        <p:sp>
          <p:nvSpPr>
            <p:cNvPr id="25" name="node01.body.item-002.bullets.item-003.marker"/>
            <p:cNvSpPr/>
            <p:nvPr/>
          </p:nvSpPr>
          <p:spPr>
            <a:xfrm>
              <a:off x="952500" y="2908300"/>
              <a:ext cx="38100" cy="38100"/>
            </a:xfrm>
            <a:prstGeom prst="rect">
              <a:avLst/>
            </a:prstGeom>
            <a:solidFill>
              <a:srgbClr val="FFFFFF"/>
            </a:solidFill>
            <a:ln>
              <a:noFill/>
            </a:ln>
          </p:spPr>
        </p:sp>
        <p:sp>
          <p:nvSpPr>
            <p:cNvPr id="26" name="node01.body.item-002.bullets.item-003.text"/>
            <p:cNvSpPr/>
            <p:nvPr/>
          </p:nvSpPr>
          <p:spPr>
            <a:xfrm>
              <a:off x="1104900" y="28194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Three scheduling tools</a:t>
              </a:r>
              <a:endParaRPr lang="en-US" sz="1200" spc="0" kern="0" b="0" i="0" dirty="0">
                <a:solidFill>
                  <a:srgbClr val="FFFFFF"/>
                </a:solidFill>
                <a:latin typeface="IBM Plex Sans"/>
                <a:ea typeface="IBM Plex Sans"/>
                <a:cs typeface="IBM Plex Sans"/>
              </a:endParaRPr>
            </a:p>
          </p:txBody>
        </p:sp>
        <p:sp>
          <p:nvSpPr>
            <p:cNvPr id="27" name="node01.body.item-003.paragraph"/>
            <p:cNvSpPr/>
            <p:nvPr/>
          </p:nvSpPr>
          <p:spPr>
            <a:xfrm>
              <a:off x="952500" y="3111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It must deliver</a:t>
              </a:r>
              <a:endParaRPr lang="en-US" sz="1200" spc="0" kern="0" b="0" i="0" dirty="0">
                <a:solidFill>
                  <a:srgbClr val="CED7E6"/>
                </a:solidFill>
                <a:latin typeface="IBM Plex Sans"/>
                <a:ea typeface="IBM Plex Sans"/>
                <a:cs typeface="IBM Plex Sans"/>
              </a:endParaRPr>
            </a:p>
          </p:txBody>
        </p:sp>
        <p:sp>
          <p:nvSpPr>
            <p:cNvPr id="28" name="node01.body.item-004.bullets.item-001.marker"/>
            <p:cNvSpPr/>
            <p:nvPr/>
          </p:nvSpPr>
          <p:spPr>
            <a:xfrm>
              <a:off x="952500" y="3492500"/>
              <a:ext cx="38100" cy="38100"/>
            </a:xfrm>
            <a:prstGeom prst="rect">
              <a:avLst/>
            </a:prstGeom>
            <a:solidFill>
              <a:srgbClr val="FFFFFF"/>
            </a:solidFill>
            <a:ln>
              <a:noFill/>
            </a:ln>
          </p:spPr>
        </p:sp>
        <p:sp>
          <p:nvSpPr>
            <p:cNvPr id="29" name="node01.body.item-004.bullets.item-001.text"/>
            <p:cNvSpPr/>
            <p:nvPr/>
          </p:nvSpPr>
          <p:spPr>
            <a:xfrm>
              <a:off x="1104900" y="3403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One front door at every site</a:t>
              </a:r>
              <a:endParaRPr lang="en-US" sz="1200" spc="0" kern="0" b="0" i="0" dirty="0">
                <a:solidFill>
                  <a:srgbClr val="FFFFFF"/>
                </a:solidFill>
                <a:latin typeface="IBM Plex Sans"/>
                <a:ea typeface="IBM Plex Sans"/>
                <a:cs typeface="IBM Plex Sans"/>
              </a:endParaRPr>
            </a:p>
          </p:txBody>
        </p:sp>
        <p:sp>
          <p:nvSpPr>
            <p:cNvPr id="30" name="node01.body.item-004.bullets.item-002.marker"/>
            <p:cNvSpPr/>
            <p:nvPr/>
          </p:nvSpPr>
          <p:spPr>
            <a:xfrm>
              <a:off x="952500" y="3746500"/>
              <a:ext cx="38100" cy="38100"/>
            </a:xfrm>
            <a:prstGeom prst="rect">
              <a:avLst/>
            </a:prstGeom>
            <a:solidFill>
              <a:srgbClr val="FFFFFF"/>
            </a:solidFill>
            <a:ln>
              <a:noFill/>
            </a:ln>
          </p:spPr>
        </p:sp>
        <p:sp>
          <p:nvSpPr>
            <p:cNvPr id="31" name="node01.body.item-004.bullets.item-002.text"/>
            <p:cNvSpPr/>
            <p:nvPr/>
          </p:nvSpPr>
          <p:spPr>
            <a:xfrm>
              <a:off x="1104900" y="3657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Fewer front-end denials</a:t>
              </a:r>
              <a:endParaRPr lang="en-US" sz="1200" spc="0" kern="0" b="0" i="0" dirty="0">
                <a:solidFill>
                  <a:srgbClr val="FFFFFF"/>
                </a:solidFill>
                <a:latin typeface="IBM Plex Sans"/>
                <a:ea typeface="IBM Plex Sans"/>
                <a:cs typeface="IBM Plex Sans"/>
              </a:endParaRPr>
            </a:p>
          </p:txBody>
        </p:sp>
        <p:sp>
          <p:nvSpPr>
            <p:cNvPr id="32" name="node01.body.item-004.bullets.item-003.marker"/>
            <p:cNvSpPr/>
            <p:nvPr/>
          </p:nvSpPr>
          <p:spPr>
            <a:xfrm>
              <a:off x="952500" y="4000500"/>
              <a:ext cx="38100" cy="38100"/>
            </a:xfrm>
            <a:prstGeom prst="rect">
              <a:avLst/>
            </a:prstGeom>
            <a:solidFill>
              <a:srgbClr val="FFFFFF"/>
            </a:solidFill>
            <a:ln>
              <a:noFill/>
            </a:ln>
          </p:spPr>
        </p:sp>
        <p:sp>
          <p:nvSpPr>
            <p:cNvPr id="33" name="node01.body.item-004.bullets.item-003.text"/>
            <p:cNvSpPr/>
            <p:nvPr/>
          </p:nvSpPr>
          <p:spPr>
            <a:xfrm>
              <a:off x="1104900" y="3911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Faster cash</a:t>
              </a:r>
              <a:endParaRPr lang="en-US" sz="1200" spc="0" kern="0" b="0" i="0" dirty="0">
                <a:solidFill>
                  <a:srgbClr val="FFFFFF"/>
                </a:solidFill>
                <a:latin typeface="IBM Plex Sans"/>
                <a:ea typeface="IBM Plex Sans"/>
                <a:cs typeface="IBM Plex Sans"/>
              </a:endParaRPr>
            </a:p>
          </p:txBody>
        </p:sp>
      </p:grpSp>
      <p:grpSp>
        <p:nvGrpSpPr>
          <p:cNvPr id="51" name="node02"/>
          <p:cNvGrpSpPr/>
          <p:nvPr/>
        </p:nvGrpSpPr>
        <p:grpSpPr>
          <a:xfrm>
            <a:off x="4381500" y="2057400"/>
            <a:ext cx="3429000" cy="1600200"/>
            <a:chOff x="4381500" y="2057400"/>
            <a:chExt cx="3429000" cy="1600200"/>
          </a:xfrm>
        </p:grpSpPr>
        <p:sp>
          <p:nvSpPr>
            <p:cNvPr id="34" name="node02.container"/>
            <p:cNvSpPr/>
            <p:nvPr/>
          </p:nvSpPr>
          <p:spPr>
            <a:xfrm>
              <a:off x="4381500" y="2057400"/>
              <a:ext cx="3429000" cy="1600200"/>
            </a:xfrm>
            <a:prstGeom prst="rect">
              <a:avLst/>
            </a:prstGeom>
            <a:solidFill>
              <a:srgbClr val="E8EEF8"/>
            </a:solidFill>
            <a:ln>
              <a:noFill/>
            </a:ln>
          </p:spPr>
        </p:sp>
        <p:sp>
          <p:nvSpPr>
            <p:cNvPr id="35" name="node02.label"/>
            <p:cNvSpPr/>
            <p:nvPr/>
          </p:nvSpPr>
          <p:spPr>
            <a:xfrm>
              <a:off x="4533900" y="2209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TIMELINE</a:t>
              </a:r>
              <a:endParaRPr lang="en-US" sz="800" spc="48" kern="0" b="0" i="0" dirty="0">
                <a:solidFill>
                  <a:srgbClr val="0047FF"/>
                </a:solidFill>
                <a:latin typeface="IBM Plex Mono Medium"/>
                <a:ea typeface="IBM Plex Mono Medium"/>
                <a:cs typeface="IBM Plex Mono Medium"/>
              </a:endParaRPr>
            </a:p>
          </p:txBody>
        </p:sp>
        <p:sp>
          <p:nvSpPr>
            <p:cNvPr id="36" name="node02.title"/>
            <p:cNvSpPr/>
            <p:nvPr/>
          </p:nvSpPr>
          <p:spPr>
            <a:xfrm>
              <a:off x="4533900" y="24257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EHR go-live in Q3</a:t>
              </a:r>
              <a:endParaRPr lang="en-US" sz="1600" spc="-16" kern="0" b="0" i="0" dirty="0">
                <a:solidFill>
                  <a:srgbClr val="070154"/>
                </a:solidFill>
                <a:latin typeface="IBM Plex Sans SemiBold"/>
                <a:ea typeface="IBM Plex Sans SemiBold"/>
                <a:cs typeface="IBM Plex Sans SemiBold"/>
              </a:endParaRPr>
            </a:p>
          </p:txBody>
        </p:sp>
        <p:sp>
          <p:nvSpPr>
            <p:cNvPr id="37" name="node02.body.item-001.paragraph"/>
            <p:cNvSpPr/>
            <p:nvPr/>
          </p:nvSpPr>
          <p:spPr>
            <a:xfrm>
              <a:off x="4533900" y="28448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About nine months to design and train before cutover.</a:t>
              </a:r>
              <a:endParaRPr lang="en-US" sz="1200" spc="0" kern="0" b="0" i="0" dirty="0">
                <a:solidFill>
                  <a:srgbClr val="50658E"/>
                </a:solidFill>
                <a:latin typeface="IBM Plex Sans"/>
                <a:ea typeface="IBM Plex Sans"/>
                <a:cs typeface="IBM Plex Sans"/>
              </a:endParaRPr>
            </a:p>
          </p:txBody>
        </p:sp>
      </p:grpSp>
      <p:grpSp>
        <p:nvGrpSpPr>
          <p:cNvPr id="52" name="node03"/>
          <p:cNvGrpSpPr/>
          <p:nvPr/>
        </p:nvGrpSpPr>
        <p:grpSpPr>
          <a:xfrm>
            <a:off x="8039100" y="2057400"/>
            <a:ext cx="3429000" cy="1600200"/>
            <a:chOff x="8039100" y="2057400"/>
            <a:chExt cx="3429000" cy="1600200"/>
          </a:xfrm>
        </p:grpSpPr>
        <p:sp>
          <p:nvSpPr>
            <p:cNvPr id="38" name="node03.container"/>
            <p:cNvSpPr/>
            <p:nvPr/>
          </p:nvSpPr>
          <p:spPr>
            <a:xfrm>
              <a:off x="8039100" y="2057400"/>
              <a:ext cx="3429000" cy="1600200"/>
            </a:xfrm>
            <a:prstGeom prst="rect">
              <a:avLst/>
            </a:prstGeom>
            <a:solidFill>
              <a:srgbClr val="E8EEF8"/>
            </a:solidFill>
            <a:ln>
              <a:noFill/>
            </a:ln>
          </p:spPr>
        </p:sp>
        <p:sp>
          <p:nvSpPr>
            <p:cNvPr id="39" name="node03.label"/>
            <p:cNvSpPr/>
            <p:nvPr/>
          </p:nvSpPr>
          <p:spPr>
            <a:xfrm>
              <a:off x="8191500" y="2209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BUDGET</a:t>
              </a:r>
              <a:endParaRPr lang="en-US" sz="800" spc="48" kern="0" b="0" i="0" dirty="0">
                <a:solidFill>
                  <a:srgbClr val="0047FF"/>
                </a:solidFill>
                <a:latin typeface="IBM Plex Mono Medium"/>
                <a:ea typeface="IBM Plex Mono Medium"/>
                <a:cs typeface="IBM Plex Mono Medium"/>
              </a:endParaRPr>
            </a:p>
          </p:txBody>
        </p:sp>
        <p:sp>
          <p:nvSpPr>
            <p:cNvPr id="40" name="node03.title"/>
            <p:cNvSpPr/>
            <p:nvPr/>
          </p:nvSpPr>
          <p:spPr>
            <a:xfrm>
              <a:off x="8191500" y="24257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Funded in two phases</a:t>
              </a:r>
              <a:endParaRPr lang="en-US" sz="1600" spc="-16" kern="0" b="0" i="0" dirty="0">
                <a:solidFill>
                  <a:srgbClr val="070154"/>
                </a:solidFill>
                <a:latin typeface="IBM Plex Sans SemiBold"/>
                <a:ea typeface="IBM Plex Sans SemiBold"/>
                <a:cs typeface="IBM Plex Sans SemiBold"/>
              </a:endParaRPr>
            </a:p>
          </p:txBody>
        </p:sp>
        <p:sp>
          <p:nvSpPr>
            <p:cNvPr id="41" name="node03.body.item-001.paragraph"/>
            <p:cNvSpPr/>
            <p:nvPr/>
          </p:nvSpPr>
          <p:spPr>
            <a:xfrm>
              <a:off x="8191500" y="2844800"/>
              <a:ext cx="312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Phase one is capped at the FY27 capital line.</a:t>
              </a:r>
              <a:endParaRPr lang="en-US" sz="1200" spc="0" kern="0" b="0" i="0" dirty="0">
                <a:solidFill>
                  <a:srgbClr val="50658E"/>
                </a:solidFill>
                <a:latin typeface="IBM Plex Sans"/>
                <a:ea typeface="IBM Plex Sans"/>
                <a:cs typeface="IBM Plex Sans"/>
              </a:endParaRPr>
            </a:p>
          </p:txBody>
        </p:sp>
      </p:grpSp>
      <p:grpSp>
        <p:nvGrpSpPr>
          <p:cNvPr id="53" name="node04"/>
          <p:cNvGrpSpPr/>
          <p:nvPr/>
        </p:nvGrpSpPr>
        <p:grpSpPr>
          <a:xfrm>
            <a:off x="4381500" y="3886200"/>
            <a:ext cx="3429000" cy="1600200"/>
            <a:chOff x="4381500" y="3886200"/>
            <a:chExt cx="3429000" cy="1600200"/>
          </a:xfrm>
        </p:grpSpPr>
        <p:sp>
          <p:nvSpPr>
            <p:cNvPr id="42" name="node04.container"/>
            <p:cNvSpPr/>
            <p:nvPr/>
          </p:nvSpPr>
          <p:spPr>
            <a:xfrm>
              <a:off x="4381500" y="3886200"/>
              <a:ext cx="3429000" cy="1600200"/>
            </a:xfrm>
            <a:prstGeom prst="rect">
              <a:avLst/>
            </a:prstGeom>
            <a:solidFill>
              <a:srgbClr val="E8EEF8"/>
            </a:solidFill>
            <a:ln>
              <a:noFill/>
            </a:ln>
          </p:spPr>
        </p:sp>
        <p:sp>
          <p:nvSpPr>
            <p:cNvPr id="43" name="node04.label"/>
            <p:cNvSpPr/>
            <p:nvPr/>
          </p:nvSpPr>
          <p:spPr>
            <a:xfrm>
              <a:off x="4533900" y="4038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REGULATORY</a:t>
              </a:r>
              <a:endParaRPr lang="en-US" sz="800" spc="48" kern="0" b="0" i="0" dirty="0">
                <a:solidFill>
                  <a:srgbClr val="0047FF"/>
                </a:solidFill>
                <a:latin typeface="IBM Plex Mono Medium"/>
                <a:ea typeface="IBM Plex Mono Medium"/>
                <a:cs typeface="IBM Plex Mono Medium"/>
              </a:endParaRPr>
            </a:p>
          </p:txBody>
        </p:sp>
        <p:sp>
          <p:nvSpPr>
            <p:cNvPr id="44" name="node04.title"/>
            <p:cNvSpPr/>
            <p:nvPr/>
          </p:nvSpPr>
          <p:spPr>
            <a:xfrm>
              <a:off x="4533900" y="42545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Estimates and consent</a:t>
              </a:r>
              <a:endParaRPr lang="en-US" sz="1600" spc="-16" kern="0" b="0" i="0" dirty="0">
                <a:solidFill>
                  <a:srgbClr val="070154"/>
                </a:solidFill>
                <a:latin typeface="IBM Plex Sans SemiBold"/>
                <a:ea typeface="IBM Plex Sans SemiBold"/>
                <a:cs typeface="IBM Plex Sans SemiBold"/>
              </a:endParaRPr>
            </a:p>
          </p:txBody>
        </p:sp>
        <p:sp>
          <p:nvSpPr>
            <p:cNvPr id="45" name="node04.body.item-001.paragraph"/>
            <p:cNvSpPr/>
            <p:nvPr/>
          </p:nvSpPr>
          <p:spPr>
            <a:xfrm>
              <a:off x="4533900" y="46736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No Surprises Act and HIPAA rules apply from day one.</a:t>
              </a:r>
              <a:endParaRPr lang="en-US" sz="1200" spc="0" kern="0" b="0" i="0" dirty="0">
                <a:solidFill>
                  <a:srgbClr val="50658E"/>
                </a:solidFill>
                <a:latin typeface="IBM Plex Sans"/>
                <a:ea typeface="IBM Plex Sans"/>
                <a:cs typeface="IBM Plex Sans"/>
              </a:endParaRPr>
            </a:p>
          </p:txBody>
        </p:sp>
      </p:grpSp>
      <p:grpSp>
        <p:nvGrpSpPr>
          <p:cNvPr id="54" name="node05"/>
          <p:cNvGrpSpPr/>
          <p:nvPr/>
        </p:nvGrpSpPr>
        <p:grpSpPr>
          <a:xfrm>
            <a:off x="8039100" y="3886200"/>
            <a:ext cx="3429000" cy="1600200"/>
            <a:chOff x="8039100" y="3886200"/>
            <a:chExt cx="3429000" cy="1600200"/>
          </a:xfrm>
        </p:grpSpPr>
        <p:sp>
          <p:nvSpPr>
            <p:cNvPr id="46" name="node05.container"/>
            <p:cNvSpPr/>
            <p:nvPr/>
          </p:nvSpPr>
          <p:spPr>
            <a:xfrm>
              <a:off x="8039100" y="3886200"/>
              <a:ext cx="3429000" cy="1600200"/>
            </a:xfrm>
            <a:prstGeom prst="rect">
              <a:avLst/>
            </a:prstGeom>
            <a:solidFill>
              <a:srgbClr val="E8EEF8"/>
            </a:solidFill>
            <a:ln>
              <a:noFill/>
            </a:ln>
          </p:spPr>
        </p:sp>
        <p:sp>
          <p:nvSpPr>
            <p:cNvPr id="47" name="node05.label"/>
            <p:cNvSpPr/>
            <p:nvPr/>
          </p:nvSpPr>
          <p:spPr>
            <a:xfrm>
              <a:off x="8191500" y="4038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SYSTEMS</a:t>
              </a:r>
              <a:endParaRPr lang="en-US" sz="800" spc="48" kern="0" b="0" i="0" dirty="0">
                <a:solidFill>
                  <a:srgbClr val="0047FF"/>
                </a:solidFill>
                <a:latin typeface="IBM Plex Mono Medium"/>
                <a:ea typeface="IBM Plex Mono Medium"/>
                <a:cs typeface="IBM Plex Mono Medium"/>
              </a:endParaRPr>
            </a:p>
          </p:txBody>
        </p:sp>
        <p:sp>
          <p:nvSpPr>
            <p:cNvPr id="48" name="node05.title"/>
            <p:cNvSpPr/>
            <p:nvPr/>
          </p:nvSpPr>
          <p:spPr>
            <a:xfrm>
              <a:off x="8191500" y="42545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Three tools, one EHR</a:t>
              </a:r>
              <a:endParaRPr lang="en-US" sz="1600" spc="-16" kern="0" b="0" i="0" dirty="0">
                <a:solidFill>
                  <a:srgbClr val="070154"/>
                </a:solidFill>
                <a:latin typeface="IBM Plex Sans SemiBold"/>
                <a:ea typeface="IBM Plex Sans SemiBold"/>
                <a:cs typeface="IBM Plex Sans SemiBold"/>
              </a:endParaRPr>
            </a:p>
          </p:txBody>
        </p:sp>
        <p:sp>
          <p:nvSpPr>
            <p:cNvPr id="49" name="node05.body.item-001.paragraph"/>
            <p:cNvSpPr/>
            <p:nvPr/>
          </p:nvSpPr>
          <p:spPr>
            <a:xfrm>
              <a:off x="8191500" y="46736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Two legacy schedulers retire; interfaces stay stable.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ource-26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ECONOMICS</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3298210" y="733532"/>
            <a:ext cx="1378215" cy="374904"/>
          </a:xfrm>
          <a:prstGeom prst="rect">
            <a:avLst/>
          </a:prstGeom>
        </p:spPr>
      </p:pic>
      <p:sp>
        <p:nvSpPr>
          <p:cNvPr id="5"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The script has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flipped</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on how companies approach </a:t>
            </a:r>
            <a:br>
              <a:rPr lang="en-US" sz="3200" spc="-64" kern="0" b="0" i="0" dirty="0">
                <a:solidFill>
                  <a:srgbClr val="070154"/>
                </a:solidFill>
                <a:latin typeface="IBM Plex Sans SemiBold"/>
                <a:ea typeface="IBM Plex Sans SemiBold"/>
                <a:cs typeface="IBM Plex Sans SemiBold"/>
              </a:rPr>
            </a:br>
            <a:r>
              <a:rPr lang="en-US" sz="3200" spc="-64" kern="0" b="0" i="0" dirty="0">
                <a:solidFill>
                  <a:srgbClr val="070154"/>
                </a:solidFill>
                <a:latin typeface="IBM Plex Sans SemiBold"/>
                <a:ea typeface="IBM Plex Sans SemiBold"/>
                <a:cs typeface="IBM Plex Sans SemiBold"/>
              </a:rPr>
              <a:t xml:space="preserve">application modernization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a:t>
            </a:fld>
            <a:endParaRPr lang="en-US" sz="700" spc="0" kern="0" b="0" i="0" dirty="0">
              <a:solidFill>
                <a:srgbClr val="070154"/>
              </a:solidFill>
              <a:latin typeface="IBM Plex Mono SemiBold"/>
              <a:ea typeface="IBM Plex Mono SemiBold"/>
              <a:cs typeface="IBM Plex Mono SemiBold"/>
            </a:endParaRPr>
          </a:p>
        </p:txBody>
      </p:sp>
      <p:grpSp>
        <p:nvGrpSpPr>
          <p:cNvPr id="22" name="node01"/>
          <p:cNvGrpSpPr/>
          <p:nvPr/>
        </p:nvGrpSpPr>
        <p:grpSpPr>
          <a:xfrm>
            <a:off x="723900" y="2057400"/>
            <a:ext cx="8915400" cy="609600"/>
            <a:chOff x="723900" y="2057400"/>
            <a:chExt cx="8915400" cy="609600"/>
          </a:xfrm>
        </p:grpSpPr>
        <p:sp>
          <p:nvSpPr>
            <p:cNvPr id="7" name="node01.text"/>
            <p:cNvSpPr/>
            <p:nvPr/>
          </p:nvSpPr>
          <p:spPr>
            <a:xfrm>
              <a:off x="723900" y="2057400"/>
              <a:ext cx="8915400" cy="6096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AI is cutting the time and cost of complex modernization by changing how teams analyze, design, build and test.</a:t>
              </a:r>
              <a:endParaRPr lang="en-US" sz="1600" spc="0" kern="0" b="0" i="0" dirty="0">
                <a:solidFill>
                  <a:srgbClr val="070154"/>
                </a:solidFill>
                <a:latin typeface="IBM Plex Sans"/>
                <a:ea typeface="IBM Plex Sans"/>
                <a:cs typeface="IBM Plex Sans"/>
              </a:endParaRPr>
            </a:p>
          </p:txBody>
        </p:sp>
      </p:grpSp>
      <p:grpSp>
        <p:nvGrpSpPr>
          <p:cNvPr id="23" name="node02"/>
          <p:cNvGrpSpPr/>
          <p:nvPr/>
        </p:nvGrpSpPr>
        <p:grpSpPr>
          <a:xfrm>
            <a:off x="723900" y="2895600"/>
            <a:ext cx="8915400" cy="304800"/>
            <a:chOff x="723900" y="2895600"/>
            <a:chExt cx="8915400" cy="304800"/>
          </a:xfrm>
        </p:grpSpPr>
        <p:sp>
          <p:nvSpPr>
            <p:cNvPr id="8" name="node02.text"/>
            <p:cNvSpPr/>
            <p:nvPr/>
          </p:nvSpPr>
          <p:spPr>
            <a:xfrm>
              <a:off x="723900" y="2895600"/>
              <a:ext cx="891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900D3"/>
                  </a:solidFill>
                  <a:latin typeface="IBM Plex Sans SemiBold"/>
                  <a:ea typeface="IBM Plex Sans SemiBold"/>
                  <a:cs typeface="IBM Plex Sans SemiBold"/>
                </a:rPr>
                <a:t>How are legacy systems holding your business back?</a:t>
              </a:r>
              <a:endParaRPr lang="en-US" sz="1800" spc="-18" kern="0" b="0" i="0" dirty="0">
                <a:solidFill>
                  <a:srgbClr val="F900D3"/>
                </a:solidFill>
                <a:latin typeface="IBM Plex Sans SemiBold"/>
                <a:ea typeface="IBM Plex Sans SemiBold"/>
                <a:cs typeface="IBM Plex Sans SemiBold"/>
              </a:endParaRPr>
            </a:p>
          </p:txBody>
        </p:sp>
      </p:grpSp>
      <p:grpSp>
        <p:nvGrpSpPr>
          <p:cNvPr id="24" name="node03"/>
          <p:cNvGrpSpPr/>
          <p:nvPr/>
        </p:nvGrpSpPr>
        <p:grpSpPr>
          <a:xfrm>
            <a:off x="723900" y="3276600"/>
            <a:ext cx="9829800" cy="762000"/>
            <a:chOff x="723900" y="3276600"/>
            <a:chExt cx="9829800" cy="762000"/>
          </a:xfrm>
        </p:grpSpPr>
        <p:sp>
          <p:nvSpPr>
            <p:cNvPr id="9" name="node03.text"/>
            <p:cNvSpPr/>
            <p:nvPr/>
          </p:nvSpPr>
          <p:spPr>
            <a:xfrm>
              <a:off x="723900" y="3276600"/>
              <a:ext cx="98298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If modernizing legacy software cost one-tenth of what you expect, what would that unlock?</a:t>
              </a:r>
              <a:endParaRPr lang="en-US" sz="2400" spc="-36" kern="0" b="0" i="0" dirty="0">
                <a:solidFill>
                  <a:srgbClr val="070154"/>
                </a:solidFill>
                <a:latin typeface="IBM Plex Sans SemiBold"/>
                <a:ea typeface="IBM Plex Sans SemiBold"/>
                <a:cs typeface="IBM Plex Sans SemiBold"/>
              </a:endParaRPr>
            </a:p>
          </p:txBody>
        </p:sp>
      </p:grpSp>
      <p:grpSp>
        <p:nvGrpSpPr>
          <p:cNvPr id="25" name="node04"/>
          <p:cNvGrpSpPr/>
          <p:nvPr/>
        </p:nvGrpSpPr>
        <p:grpSpPr>
          <a:xfrm>
            <a:off x="723900" y="4343400"/>
            <a:ext cx="2514600" cy="1600200"/>
            <a:chOff x="723900" y="4343400"/>
            <a:chExt cx="2514600" cy="1600200"/>
          </a:xfrm>
        </p:grpSpPr>
        <p:sp>
          <p:nvSpPr>
            <p:cNvPr id="10" name="node04.container"/>
            <p:cNvSpPr/>
            <p:nvPr/>
          </p:nvSpPr>
          <p:spPr>
            <a:xfrm>
              <a:off x="723900" y="4343400"/>
              <a:ext cx="2514600" cy="1600200"/>
            </a:xfrm>
            <a:prstGeom prst="rect">
              <a:avLst/>
            </a:prstGeom>
            <a:solidFill>
              <a:srgbClr val="E8EEF8"/>
            </a:solidFill>
            <a:ln>
              <a:noFill/>
            </a:ln>
          </p:spPr>
        </p:sp>
        <p:sp>
          <p:nvSpPr>
            <p:cNvPr id="11" name="node04.label"/>
            <p:cNvSpPr/>
            <p:nvPr/>
          </p:nvSpPr>
          <p:spPr>
            <a:xfrm>
              <a:off x="952500" y="45720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AI-NATIVE READINESS</a:t>
              </a:r>
              <a:endParaRPr lang="en-US" sz="900" spc="54" kern="0" b="0" i="0" dirty="0">
                <a:solidFill>
                  <a:srgbClr val="0047FF"/>
                </a:solidFill>
                <a:latin typeface="IBM Plex Mono Medium"/>
                <a:ea typeface="IBM Plex Mono Medium"/>
                <a:cs typeface="IBM Plex Mono Medium"/>
              </a:endParaRPr>
            </a:p>
          </p:txBody>
        </p:sp>
        <p:sp>
          <p:nvSpPr>
            <p:cNvPr id="12" name="node04.title"/>
            <p:cNvSpPr/>
            <p:nvPr/>
          </p:nvSpPr>
          <p:spPr>
            <a:xfrm>
              <a:off x="952500" y="4800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How can you get your business ready to run on AI?</a:t>
              </a:r>
              <a:endParaRPr lang="en-US" sz="1400" spc="0" kern="0" b="0" i="0" dirty="0">
                <a:solidFill>
                  <a:srgbClr val="070154"/>
                </a:solidFill>
                <a:latin typeface="IBM Plex Sans"/>
                <a:ea typeface="IBM Plex Sans"/>
                <a:cs typeface="IBM Plex Sans"/>
              </a:endParaRPr>
            </a:p>
          </p:txBody>
        </p:sp>
      </p:grpSp>
      <p:grpSp>
        <p:nvGrpSpPr>
          <p:cNvPr id="26" name="node05"/>
          <p:cNvGrpSpPr/>
          <p:nvPr/>
        </p:nvGrpSpPr>
        <p:grpSpPr>
          <a:xfrm>
            <a:off x="3467100" y="4343400"/>
            <a:ext cx="2514600" cy="1600200"/>
            <a:chOff x="3467100" y="4343400"/>
            <a:chExt cx="2514600" cy="1600200"/>
          </a:xfrm>
        </p:grpSpPr>
        <p:sp>
          <p:nvSpPr>
            <p:cNvPr id="13" name="node05.container"/>
            <p:cNvSpPr/>
            <p:nvPr/>
          </p:nvSpPr>
          <p:spPr>
            <a:xfrm>
              <a:off x="3467100" y="4343400"/>
              <a:ext cx="2514600" cy="1600200"/>
            </a:xfrm>
            <a:prstGeom prst="rect">
              <a:avLst/>
            </a:prstGeom>
            <a:solidFill>
              <a:srgbClr val="070154"/>
            </a:solidFill>
            <a:ln>
              <a:noFill/>
            </a:ln>
          </p:spPr>
        </p:sp>
        <p:sp>
          <p:nvSpPr>
            <p:cNvPr id="14" name="node05.label"/>
            <p:cNvSpPr/>
            <p:nvPr/>
          </p:nvSpPr>
          <p:spPr>
            <a:xfrm>
              <a:off x="3695700" y="45720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GROWTH VELOCITY</a:t>
              </a:r>
              <a:endParaRPr lang="en-US" sz="900" spc="54" kern="0" b="0" i="0" dirty="0">
                <a:solidFill>
                  <a:srgbClr val="F900D3"/>
                </a:solidFill>
                <a:latin typeface="IBM Plex Mono Medium"/>
                <a:ea typeface="IBM Plex Mono Medium"/>
                <a:cs typeface="IBM Plex Mono Medium"/>
              </a:endParaRPr>
            </a:p>
          </p:txBody>
        </p:sp>
        <p:sp>
          <p:nvSpPr>
            <p:cNvPr id="15" name="node05.title"/>
            <p:cNvSpPr/>
            <p:nvPr/>
          </p:nvSpPr>
          <p:spPr>
            <a:xfrm>
              <a:off x="3695700" y="4800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What products could you launch without release-cycle delays?</a:t>
              </a:r>
              <a:endParaRPr lang="en-US" sz="1400" spc="0" kern="0" b="0" i="0" dirty="0">
                <a:solidFill>
                  <a:srgbClr val="FFFFFF"/>
                </a:solidFill>
                <a:latin typeface="IBM Plex Sans"/>
                <a:ea typeface="IBM Plex Sans"/>
                <a:cs typeface="IBM Plex Sans"/>
              </a:endParaRPr>
            </a:p>
          </p:txBody>
        </p:sp>
      </p:grpSp>
      <p:grpSp>
        <p:nvGrpSpPr>
          <p:cNvPr id="27" name="node06"/>
          <p:cNvGrpSpPr/>
          <p:nvPr/>
        </p:nvGrpSpPr>
        <p:grpSpPr>
          <a:xfrm>
            <a:off x="6210300" y="4343400"/>
            <a:ext cx="2514600" cy="1600200"/>
            <a:chOff x="6210300" y="4343400"/>
            <a:chExt cx="2514600" cy="1600200"/>
          </a:xfrm>
        </p:grpSpPr>
        <p:sp>
          <p:nvSpPr>
            <p:cNvPr id="16" name="node06.container"/>
            <p:cNvSpPr/>
            <p:nvPr/>
          </p:nvSpPr>
          <p:spPr>
            <a:xfrm>
              <a:off x="6210300" y="4343400"/>
              <a:ext cx="2514600" cy="1600200"/>
            </a:xfrm>
            <a:prstGeom prst="rect">
              <a:avLst/>
            </a:prstGeom>
            <a:solidFill>
              <a:srgbClr val="E8EEF8"/>
            </a:solidFill>
            <a:ln>
              <a:noFill/>
            </a:ln>
          </p:spPr>
        </p:sp>
        <p:sp>
          <p:nvSpPr>
            <p:cNvPr id="17" name="node06.label"/>
            <p:cNvSpPr/>
            <p:nvPr/>
          </p:nvSpPr>
          <p:spPr>
            <a:xfrm>
              <a:off x="6438900" y="45720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COST EFFICIENCY</a:t>
              </a:r>
              <a:endParaRPr lang="en-US" sz="900" spc="54" kern="0" b="0" i="0" dirty="0">
                <a:solidFill>
                  <a:srgbClr val="0047FF"/>
                </a:solidFill>
                <a:latin typeface="IBM Plex Mono Medium"/>
                <a:ea typeface="IBM Plex Mono Medium"/>
                <a:cs typeface="IBM Plex Mono Medium"/>
              </a:endParaRPr>
            </a:p>
          </p:txBody>
        </p:sp>
        <p:sp>
          <p:nvSpPr>
            <p:cNvPr id="18" name="node06.title"/>
            <p:cNvSpPr/>
            <p:nvPr/>
          </p:nvSpPr>
          <p:spPr>
            <a:xfrm>
              <a:off x="6438900" y="4800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Where would fewer handoffs unlock efficiency?</a:t>
              </a:r>
              <a:endParaRPr lang="en-US" sz="1400" spc="0" kern="0" b="0" i="0" dirty="0">
                <a:solidFill>
                  <a:srgbClr val="070154"/>
                </a:solidFill>
                <a:latin typeface="IBM Plex Sans"/>
                <a:ea typeface="IBM Plex Sans"/>
                <a:cs typeface="IBM Plex Sans"/>
              </a:endParaRPr>
            </a:p>
          </p:txBody>
        </p:sp>
      </p:grpSp>
      <p:grpSp>
        <p:nvGrpSpPr>
          <p:cNvPr id="28" name="node07"/>
          <p:cNvGrpSpPr/>
          <p:nvPr/>
        </p:nvGrpSpPr>
        <p:grpSpPr>
          <a:xfrm>
            <a:off x="8953500" y="4343400"/>
            <a:ext cx="2514600" cy="1600200"/>
            <a:chOff x="8953500" y="4343400"/>
            <a:chExt cx="2514600" cy="1600200"/>
          </a:xfrm>
        </p:grpSpPr>
        <p:sp>
          <p:nvSpPr>
            <p:cNvPr id="19" name="node07.container"/>
            <p:cNvSpPr/>
            <p:nvPr/>
          </p:nvSpPr>
          <p:spPr>
            <a:xfrm>
              <a:off x="8953500" y="4343400"/>
              <a:ext cx="2514600" cy="1600200"/>
            </a:xfrm>
            <a:prstGeom prst="rect">
              <a:avLst/>
            </a:prstGeom>
            <a:solidFill>
              <a:srgbClr val="070154"/>
            </a:solidFill>
            <a:ln>
              <a:noFill/>
            </a:ln>
          </p:spPr>
        </p:sp>
        <p:sp>
          <p:nvSpPr>
            <p:cNvPr id="20" name="node07.label"/>
            <p:cNvSpPr/>
            <p:nvPr/>
          </p:nvSpPr>
          <p:spPr>
            <a:xfrm>
              <a:off x="9182100" y="45720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CUSTOMER MOAT</a:t>
              </a:r>
              <a:endParaRPr lang="en-US" sz="900" spc="54" kern="0" b="0" i="0" dirty="0">
                <a:solidFill>
                  <a:srgbClr val="F900D3"/>
                </a:solidFill>
                <a:latin typeface="IBM Plex Mono Medium"/>
                <a:ea typeface="IBM Plex Mono Medium"/>
                <a:cs typeface="IBM Plex Mono Medium"/>
              </a:endParaRPr>
            </a:p>
          </p:txBody>
        </p:sp>
        <p:sp>
          <p:nvSpPr>
            <p:cNvPr id="21" name="node07.title"/>
            <p:cNvSpPr/>
            <p:nvPr/>
          </p:nvSpPr>
          <p:spPr>
            <a:xfrm>
              <a:off x="9182100" y="4800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How could a connected experience deepen loyalty?</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ource-26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ECONOMICS</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3298210" y="733532"/>
            <a:ext cx="1378215" cy="374904"/>
          </a:xfrm>
          <a:prstGeom prst="rect">
            <a:avLst/>
          </a:prstGeom>
        </p:spPr>
      </p:pic>
      <p:sp>
        <p:nvSpPr>
          <p:cNvPr id="5"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The script has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flipped</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on how companies approach </a:t>
            </a:r>
            <a:br>
              <a:rPr lang="en-US" sz="3200" spc="-64" kern="0" b="0" i="0" dirty="0">
                <a:solidFill>
                  <a:srgbClr val="070154"/>
                </a:solidFill>
                <a:latin typeface="IBM Plex Sans SemiBold"/>
                <a:ea typeface="IBM Plex Sans SemiBold"/>
                <a:cs typeface="IBM Plex Sans SemiBold"/>
              </a:rPr>
            </a:br>
            <a:r>
              <a:rPr lang="en-US" sz="3200" spc="-64" kern="0" b="0" i="0" dirty="0">
                <a:solidFill>
                  <a:srgbClr val="070154"/>
                </a:solidFill>
                <a:latin typeface="IBM Plex Sans SemiBold"/>
                <a:ea typeface="IBM Plex Sans SemiBold"/>
                <a:cs typeface="IBM Plex Sans SemiBold"/>
              </a:rPr>
              <a:t xml:space="preserve">application modernization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a:t>
            </a:fld>
            <a:endParaRPr lang="en-US" sz="700" spc="0" kern="0" b="0" i="0" dirty="0">
              <a:solidFill>
                <a:srgbClr val="070154"/>
              </a:solidFill>
              <a:latin typeface="IBM Plex Mono SemiBold"/>
              <a:ea typeface="IBM Plex Mono SemiBold"/>
              <a:cs typeface="IBM Plex Mono SemiBold"/>
            </a:endParaRPr>
          </a:p>
        </p:txBody>
      </p:sp>
      <p:grpSp>
        <p:nvGrpSpPr>
          <p:cNvPr id="26" name="node01"/>
          <p:cNvGrpSpPr/>
          <p:nvPr/>
        </p:nvGrpSpPr>
        <p:grpSpPr>
          <a:xfrm>
            <a:off x="723900" y="2057400"/>
            <a:ext cx="10744200" cy="304800"/>
            <a:chOff x="723900" y="2057400"/>
            <a:chExt cx="10744200" cy="304800"/>
          </a:xfrm>
        </p:grpSpPr>
        <p:sp>
          <p:nvSpPr>
            <p:cNvPr id="7" name="node01.text"/>
            <p:cNvSpPr/>
            <p:nvPr/>
          </p:nvSpPr>
          <p:spPr>
            <a:xfrm>
              <a:off x="723900" y="20574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AI is cutting the time and cost of complex modernization by changing how teams analyze, design, build and test.</a:t>
              </a:r>
              <a:endParaRPr lang="en-US" sz="1600" spc="0" kern="0" b="0" i="0" dirty="0">
                <a:solidFill>
                  <a:srgbClr val="070154"/>
                </a:solidFill>
                <a:latin typeface="IBM Plex Sans"/>
                <a:ea typeface="IBM Plex Sans"/>
                <a:cs typeface="IBM Plex Sans"/>
              </a:endParaRPr>
            </a:p>
          </p:txBody>
        </p:sp>
      </p:grpSp>
      <p:grpSp>
        <p:nvGrpSpPr>
          <p:cNvPr id="27" name="node02"/>
          <p:cNvGrpSpPr/>
          <p:nvPr/>
        </p:nvGrpSpPr>
        <p:grpSpPr>
          <a:xfrm>
            <a:off x="723900" y="2514600"/>
            <a:ext cx="8915400" cy="304800"/>
            <a:chOff x="723900" y="2514600"/>
            <a:chExt cx="8915400" cy="304800"/>
          </a:xfrm>
        </p:grpSpPr>
        <p:sp>
          <p:nvSpPr>
            <p:cNvPr id="8" name="node02.text"/>
            <p:cNvSpPr/>
            <p:nvPr/>
          </p:nvSpPr>
          <p:spPr>
            <a:xfrm>
              <a:off x="723900" y="2514600"/>
              <a:ext cx="891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900D3"/>
                  </a:solidFill>
                  <a:latin typeface="IBM Plex Sans SemiBold"/>
                  <a:ea typeface="IBM Plex Sans SemiBold"/>
                  <a:cs typeface="IBM Plex Sans SemiBold"/>
                </a:rPr>
                <a:t>How are legacy systems holding your business back?</a:t>
              </a:r>
              <a:endParaRPr lang="en-US" sz="1800" spc="-18" kern="0" b="0" i="0" dirty="0">
                <a:solidFill>
                  <a:srgbClr val="F900D3"/>
                </a:solidFill>
                <a:latin typeface="IBM Plex Sans SemiBold"/>
                <a:ea typeface="IBM Plex Sans SemiBold"/>
                <a:cs typeface="IBM Plex Sans SemiBold"/>
              </a:endParaRPr>
            </a:p>
          </p:txBody>
        </p:sp>
      </p:grpSp>
      <p:grpSp>
        <p:nvGrpSpPr>
          <p:cNvPr id="28" name="node03"/>
          <p:cNvGrpSpPr/>
          <p:nvPr/>
        </p:nvGrpSpPr>
        <p:grpSpPr>
          <a:xfrm>
            <a:off x="723900" y="2895600"/>
            <a:ext cx="9829800" cy="762000"/>
            <a:chOff x="723900" y="2895600"/>
            <a:chExt cx="9829800" cy="762000"/>
          </a:xfrm>
        </p:grpSpPr>
        <p:sp>
          <p:nvSpPr>
            <p:cNvPr id="9" name="node03.text"/>
            <p:cNvSpPr/>
            <p:nvPr/>
          </p:nvSpPr>
          <p:spPr>
            <a:xfrm>
              <a:off x="723900" y="2895600"/>
              <a:ext cx="98298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If modernizing legacy software cost one-tenth of what you expect, what would that unlock?</a:t>
              </a:r>
              <a:endParaRPr lang="en-US" sz="2400" spc="-36" kern="0" b="0" i="0" dirty="0">
                <a:solidFill>
                  <a:srgbClr val="070154"/>
                </a:solidFill>
                <a:latin typeface="IBM Plex Sans SemiBold"/>
                <a:ea typeface="IBM Plex Sans SemiBold"/>
                <a:cs typeface="IBM Plex Sans SemiBold"/>
              </a:endParaRPr>
            </a:p>
          </p:txBody>
        </p:sp>
      </p:grpSp>
      <p:grpSp>
        <p:nvGrpSpPr>
          <p:cNvPr id="30" name="node04"/>
          <p:cNvGrpSpPr/>
          <p:nvPr/>
        </p:nvGrpSpPr>
        <p:grpSpPr>
          <a:xfrm>
            <a:off x="723900" y="3886200"/>
            <a:ext cx="2514600" cy="2057400"/>
            <a:chOff x="723900" y="3886200"/>
            <a:chExt cx="2514600" cy="2057400"/>
          </a:xfrm>
        </p:grpSpPr>
        <p:sp>
          <p:nvSpPr>
            <p:cNvPr id="10" name="node04.container"/>
            <p:cNvSpPr/>
            <p:nvPr/>
          </p:nvSpPr>
          <p:spPr>
            <a:xfrm>
              <a:off x="723900" y="3886200"/>
              <a:ext cx="2514600" cy="2057400"/>
            </a:xfrm>
            <a:prstGeom prst="rect">
              <a:avLst/>
            </a:prstGeom>
            <a:solidFill>
              <a:srgbClr val="E8EEF8"/>
            </a:solidFill>
            <a:ln>
              <a:noFill/>
            </a:ln>
          </p:spPr>
        </p:sp>
        <p:grpSp>
          <p:nvGrpSpPr>
            <p:cNvPr id="29" name="node04.icon"/>
            <p:cNvGrpSpPr/>
            <p:nvPr/>
          </p:nvGrpSpPr>
          <p:grpSpPr>
            <a:xfrm>
              <a:off x="952500" y="4114800"/>
              <a:ext cx="381000" cy="381000"/>
              <a:chOff x="952500" y="4114800"/>
              <a:chExt cx="381000" cy="381000"/>
            </a:xfrm>
          </p:grpSpPr>
          <p:pic>
            <p:nvPicPr>
              <p:cNvPr id="11" name="node04.icon.image" descr="icon/ai-brain/navy; canonical SHA256=69096832af2f6a9f73c26d6ced03733cb4227362a9985847dbdb7180f31cbfc8">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2500" y="4114800"/>
                <a:ext cx="381000" cy="381000"/>
              </a:xfrm>
              <a:prstGeom prst="rect">
                <a:avLst/>
              </a:prstGeom>
            </p:spPr>
          </p:pic>
        </p:grpSp>
        <p:sp>
          <p:nvSpPr>
            <p:cNvPr id="12" name="node04.label"/>
            <p:cNvSpPr/>
            <p:nvPr/>
          </p:nvSpPr>
          <p:spPr>
            <a:xfrm>
              <a:off x="952500" y="46482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AI-NATIVE READINESS</a:t>
              </a:r>
              <a:endParaRPr lang="en-US" sz="900" spc="54" kern="0" b="0" i="0" dirty="0">
                <a:solidFill>
                  <a:srgbClr val="0047FF"/>
                </a:solidFill>
                <a:latin typeface="IBM Plex Mono Medium"/>
                <a:ea typeface="IBM Plex Mono Medium"/>
                <a:cs typeface="IBM Plex Mono Medium"/>
              </a:endParaRPr>
            </a:p>
          </p:txBody>
        </p:sp>
        <p:sp>
          <p:nvSpPr>
            <p:cNvPr id="13" name="node04.title"/>
            <p:cNvSpPr/>
            <p:nvPr/>
          </p:nvSpPr>
          <p:spPr>
            <a:xfrm>
              <a:off x="952500" y="48768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How can you get your business ready to run on AI?</a:t>
              </a:r>
              <a:endParaRPr lang="en-US" sz="1400" spc="0" kern="0" b="0" i="0" dirty="0">
                <a:solidFill>
                  <a:srgbClr val="070154"/>
                </a:solidFill>
                <a:latin typeface="IBM Plex Sans"/>
                <a:ea typeface="IBM Plex Sans"/>
                <a:cs typeface="IBM Plex Sans"/>
              </a:endParaRPr>
            </a:p>
          </p:txBody>
        </p:sp>
      </p:grpSp>
      <p:grpSp>
        <p:nvGrpSpPr>
          <p:cNvPr id="32" name="node05"/>
          <p:cNvGrpSpPr/>
          <p:nvPr/>
        </p:nvGrpSpPr>
        <p:grpSpPr>
          <a:xfrm>
            <a:off x="3467100" y="3886200"/>
            <a:ext cx="2514600" cy="2057400"/>
            <a:chOff x="3467100" y="3886200"/>
            <a:chExt cx="2514600" cy="2057400"/>
          </a:xfrm>
        </p:grpSpPr>
        <p:sp>
          <p:nvSpPr>
            <p:cNvPr id="14" name="node05.container"/>
            <p:cNvSpPr/>
            <p:nvPr/>
          </p:nvSpPr>
          <p:spPr>
            <a:xfrm>
              <a:off x="3467100" y="3886200"/>
              <a:ext cx="2514600" cy="2057400"/>
            </a:xfrm>
            <a:prstGeom prst="rect">
              <a:avLst/>
            </a:prstGeom>
            <a:solidFill>
              <a:srgbClr val="070154"/>
            </a:solidFill>
            <a:ln>
              <a:noFill/>
            </a:ln>
          </p:spPr>
        </p:sp>
        <p:grpSp>
          <p:nvGrpSpPr>
            <p:cNvPr id="31" name="node05.icon"/>
            <p:cNvGrpSpPr/>
            <p:nvPr/>
          </p:nvGrpSpPr>
          <p:grpSpPr>
            <a:xfrm>
              <a:off x="3695700" y="4114800"/>
              <a:ext cx="381000" cy="381000"/>
              <a:chOff x="3695700" y="4114800"/>
              <a:chExt cx="381000" cy="381000"/>
            </a:xfrm>
          </p:grpSpPr>
          <p:pic>
            <p:nvPicPr>
              <p:cNvPr id="15" name="node05.icon.image" descr="icon/rocket/white; canonical SHA256=944826284d0bcc1caee3d244674fdd7858afe5458358d5327846a87b6b4da3a2">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95700" y="4114800"/>
                <a:ext cx="381000" cy="381000"/>
              </a:xfrm>
              <a:prstGeom prst="rect">
                <a:avLst/>
              </a:prstGeom>
            </p:spPr>
          </p:pic>
        </p:grpSp>
        <p:sp>
          <p:nvSpPr>
            <p:cNvPr id="16" name="node05.label"/>
            <p:cNvSpPr/>
            <p:nvPr/>
          </p:nvSpPr>
          <p:spPr>
            <a:xfrm>
              <a:off x="3695700" y="46482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GROWTH VELOCITY</a:t>
              </a:r>
              <a:endParaRPr lang="en-US" sz="900" spc="54" kern="0" b="0" i="0" dirty="0">
                <a:solidFill>
                  <a:srgbClr val="F900D3"/>
                </a:solidFill>
                <a:latin typeface="IBM Plex Mono Medium"/>
                <a:ea typeface="IBM Plex Mono Medium"/>
                <a:cs typeface="IBM Plex Mono Medium"/>
              </a:endParaRPr>
            </a:p>
          </p:txBody>
        </p:sp>
        <p:sp>
          <p:nvSpPr>
            <p:cNvPr id="17" name="node05.title"/>
            <p:cNvSpPr/>
            <p:nvPr/>
          </p:nvSpPr>
          <p:spPr>
            <a:xfrm>
              <a:off x="3695700" y="48768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What products could you launch without release-cycle delays?</a:t>
              </a:r>
              <a:endParaRPr lang="en-US" sz="1400" spc="0" kern="0" b="0" i="0" dirty="0">
                <a:solidFill>
                  <a:srgbClr val="FFFFFF"/>
                </a:solidFill>
                <a:latin typeface="IBM Plex Sans"/>
                <a:ea typeface="IBM Plex Sans"/>
                <a:cs typeface="IBM Plex Sans"/>
              </a:endParaRPr>
            </a:p>
          </p:txBody>
        </p:sp>
      </p:grpSp>
      <p:grpSp>
        <p:nvGrpSpPr>
          <p:cNvPr id="34" name="node06"/>
          <p:cNvGrpSpPr/>
          <p:nvPr/>
        </p:nvGrpSpPr>
        <p:grpSpPr>
          <a:xfrm>
            <a:off x="6210300" y="3886200"/>
            <a:ext cx="2514600" cy="2057400"/>
            <a:chOff x="6210300" y="3886200"/>
            <a:chExt cx="2514600" cy="2057400"/>
          </a:xfrm>
        </p:grpSpPr>
        <p:sp>
          <p:nvSpPr>
            <p:cNvPr id="18" name="node06.container"/>
            <p:cNvSpPr/>
            <p:nvPr/>
          </p:nvSpPr>
          <p:spPr>
            <a:xfrm>
              <a:off x="6210300" y="3886200"/>
              <a:ext cx="2514600" cy="2057400"/>
            </a:xfrm>
            <a:prstGeom prst="rect">
              <a:avLst/>
            </a:prstGeom>
            <a:solidFill>
              <a:srgbClr val="E8EEF8"/>
            </a:solidFill>
            <a:ln>
              <a:noFill/>
            </a:ln>
          </p:spPr>
        </p:sp>
        <p:grpSp>
          <p:nvGrpSpPr>
            <p:cNvPr id="33" name="node06.icon"/>
            <p:cNvGrpSpPr/>
            <p:nvPr/>
          </p:nvGrpSpPr>
          <p:grpSpPr>
            <a:xfrm>
              <a:off x="6438900" y="4114800"/>
              <a:ext cx="381000" cy="381000"/>
              <a:chOff x="6438900" y="4114800"/>
              <a:chExt cx="381000" cy="381000"/>
            </a:xfrm>
          </p:grpSpPr>
          <p:pic>
            <p:nvPicPr>
              <p:cNvPr id="19" name="node06.icon.image" descr="icon/piggy-bank/navy; canonical SHA256=668707a0125fd86497f8a0561ee06f7914898b1362520a06c15b8f7dc713851c">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38900" y="4114800"/>
                <a:ext cx="381000" cy="381000"/>
              </a:xfrm>
              <a:prstGeom prst="rect">
                <a:avLst/>
              </a:prstGeom>
            </p:spPr>
          </p:pic>
        </p:grpSp>
        <p:sp>
          <p:nvSpPr>
            <p:cNvPr id="20" name="node06.label"/>
            <p:cNvSpPr/>
            <p:nvPr/>
          </p:nvSpPr>
          <p:spPr>
            <a:xfrm>
              <a:off x="6438900" y="46482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COST EFFICIENCY</a:t>
              </a:r>
              <a:endParaRPr lang="en-US" sz="900" spc="54" kern="0" b="0" i="0" dirty="0">
                <a:solidFill>
                  <a:srgbClr val="0047FF"/>
                </a:solidFill>
                <a:latin typeface="IBM Plex Mono Medium"/>
                <a:ea typeface="IBM Plex Mono Medium"/>
                <a:cs typeface="IBM Plex Mono Medium"/>
              </a:endParaRPr>
            </a:p>
          </p:txBody>
        </p:sp>
        <p:sp>
          <p:nvSpPr>
            <p:cNvPr id="21" name="node06.title"/>
            <p:cNvSpPr/>
            <p:nvPr/>
          </p:nvSpPr>
          <p:spPr>
            <a:xfrm>
              <a:off x="6438900" y="48768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Where would fewer handoffs unlock efficiency?</a:t>
              </a:r>
              <a:endParaRPr lang="en-US" sz="1400" spc="0" kern="0" b="0" i="0" dirty="0">
                <a:solidFill>
                  <a:srgbClr val="070154"/>
                </a:solidFill>
                <a:latin typeface="IBM Plex Sans"/>
                <a:ea typeface="IBM Plex Sans"/>
                <a:cs typeface="IBM Plex Sans"/>
              </a:endParaRPr>
            </a:p>
          </p:txBody>
        </p:sp>
      </p:grpSp>
      <p:grpSp>
        <p:nvGrpSpPr>
          <p:cNvPr id="36" name="node07"/>
          <p:cNvGrpSpPr/>
          <p:nvPr/>
        </p:nvGrpSpPr>
        <p:grpSpPr>
          <a:xfrm>
            <a:off x="8953500" y="3886200"/>
            <a:ext cx="2514600" cy="2057400"/>
            <a:chOff x="8953500" y="3886200"/>
            <a:chExt cx="2514600" cy="2057400"/>
          </a:xfrm>
        </p:grpSpPr>
        <p:sp>
          <p:nvSpPr>
            <p:cNvPr id="22" name="node07.container"/>
            <p:cNvSpPr/>
            <p:nvPr/>
          </p:nvSpPr>
          <p:spPr>
            <a:xfrm>
              <a:off x="8953500" y="3886200"/>
              <a:ext cx="2514600" cy="2057400"/>
            </a:xfrm>
            <a:prstGeom prst="rect">
              <a:avLst/>
            </a:prstGeom>
            <a:solidFill>
              <a:srgbClr val="070154"/>
            </a:solidFill>
            <a:ln>
              <a:noFill/>
            </a:ln>
          </p:spPr>
        </p:sp>
        <p:grpSp>
          <p:nvGrpSpPr>
            <p:cNvPr id="35" name="node07.icon"/>
            <p:cNvGrpSpPr/>
            <p:nvPr/>
          </p:nvGrpSpPr>
          <p:grpSpPr>
            <a:xfrm>
              <a:off x="9182100" y="4114800"/>
              <a:ext cx="381000" cy="381000"/>
              <a:chOff x="9182100" y="4114800"/>
              <a:chExt cx="381000" cy="381000"/>
            </a:xfrm>
          </p:grpSpPr>
          <p:pic>
            <p:nvPicPr>
              <p:cNvPr id="23" name="node07.icon.image" descr="icon/shield/white; canonical SHA256=0eb1ba00f10e298e66500ab2747f6239e30db696426e9714a05f41cb74862e9d">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82100" y="4114800"/>
                <a:ext cx="381000" cy="381000"/>
              </a:xfrm>
              <a:prstGeom prst="rect">
                <a:avLst/>
              </a:prstGeom>
            </p:spPr>
          </p:pic>
        </p:grpSp>
        <p:sp>
          <p:nvSpPr>
            <p:cNvPr id="24" name="node07.label"/>
            <p:cNvSpPr/>
            <p:nvPr/>
          </p:nvSpPr>
          <p:spPr>
            <a:xfrm>
              <a:off x="9182100" y="46482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CUSTOMER MOAT</a:t>
              </a:r>
              <a:endParaRPr lang="en-US" sz="900" spc="54" kern="0" b="0" i="0" dirty="0">
                <a:solidFill>
                  <a:srgbClr val="F900D3"/>
                </a:solidFill>
                <a:latin typeface="IBM Plex Mono Medium"/>
                <a:ea typeface="IBM Plex Mono Medium"/>
                <a:cs typeface="IBM Plex Mono Medium"/>
              </a:endParaRPr>
            </a:p>
          </p:txBody>
        </p:sp>
        <p:sp>
          <p:nvSpPr>
            <p:cNvPr id="25" name="node07.title"/>
            <p:cNvSpPr/>
            <p:nvPr/>
          </p:nvSpPr>
          <p:spPr>
            <a:xfrm>
              <a:off x="9182100" y="48768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How could a connected experience deepen loyalty?</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ource-11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FUTURE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workstreams deliver the five-day close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9055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close calendar analysis, FY26, 14 business units.</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723900" y="1600200"/>
            <a:ext cx="2514600" cy="139700"/>
            <a:chOff x="723900" y="1600200"/>
            <a:chExt cx="2514600" cy="139700"/>
          </a:xfrm>
        </p:grpSpPr>
        <p:sp>
          <p:nvSpPr>
            <p:cNvPr id="7" name="node01.text"/>
            <p:cNvSpPr/>
            <p:nvPr/>
          </p:nvSpPr>
          <p:spPr>
            <a:xfrm>
              <a:off x="723900" y="1600200"/>
              <a:ext cx="25146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WHY IT MATTERS</a:t>
              </a:r>
              <a:endParaRPr lang="en-US" sz="900" spc="72" kern="0" b="0" i="0" dirty="0">
                <a:solidFill>
                  <a:srgbClr val="0047FF"/>
                </a:solidFill>
                <a:latin typeface="IBM Plex Mono SemiBold"/>
                <a:ea typeface="IBM Plex Mono SemiBold"/>
                <a:cs typeface="IBM Plex Mono SemiBold"/>
              </a:endParaRPr>
            </a:p>
          </p:txBody>
        </p:sp>
      </p:grpSp>
      <p:grpSp>
        <p:nvGrpSpPr>
          <p:cNvPr id="35" name="node02"/>
          <p:cNvGrpSpPr/>
          <p:nvPr/>
        </p:nvGrpSpPr>
        <p:grpSpPr>
          <a:xfrm>
            <a:off x="723900" y="1828800"/>
            <a:ext cx="2514600" cy="685800"/>
            <a:chOff x="723900" y="1828800"/>
            <a:chExt cx="2514600" cy="685800"/>
          </a:xfrm>
        </p:grpSpPr>
        <p:sp>
          <p:nvSpPr>
            <p:cNvPr id="8" name="node02.text"/>
            <p:cNvSpPr/>
            <p:nvPr/>
          </p:nvSpPr>
          <p:spPr>
            <a:xfrm>
              <a:off x="723900" y="1828800"/>
              <a:ext cx="2514600" cy="6858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 close that runs on rules</a:t>
              </a:r>
              <a:endParaRPr lang="en-US" sz="1600" spc="-16" kern="0" b="0" i="0" dirty="0">
                <a:solidFill>
                  <a:srgbClr val="070154"/>
                </a:solidFill>
                <a:latin typeface="IBM Plex Sans SemiBold"/>
                <a:ea typeface="IBM Plex Sans SemiBold"/>
                <a:cs typeface="IBM Plex Sans SemiBold"/>
              </a:endParaRPr>
            </a:p>
          </p:txBody>
        </p:sp>
      </p:grpSp>
      <p:grpSp>
        <p:nvGrpSpPr>
          <p:cNvPr id="36" name="node03"/>
          <p:cNvGrpSpPr/>
          <p:nvPr/>
        </p:nvGrpSpPr>
        <p:grpSpPr>
          <a:xfrm>
            <a:off x="723900" y="2743200"/>
            <a:ext cx="2514600" cy="647700"/>
            <a:chOff x="723900" y="2743200"/>
            <a:chExt cx="2514600" cy="647700"/>
          </a:xfrm>
        </p:grpSpPr>
        <p:sp>
          <p:nvSpPr>
            <p:cNvPr id="9" name="node03.text"/>
            <p:cNvSpPr/>
            <p:nvPr/>
          </p:nvSpPr>
          <p:spPr>
            <a:xfrm>
              <a:off x="723900" y="2743200"/>
              <a:ext cx="25146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takes 12 days because work waits for people. We resequence it so entries are checked as they post.</a:t>
              </a:r>
              <a:endParaRPr lang="en-US" sz="1200" spc="0" kern="0" b="0" i="0" dirty="0">
                <a:solidFill>
                  <a:srgbClr val="070154"/>
                </a:solidFill>
                <a:latin typeface="IBM Plex Sans"/>
                <a:ea typeface="IBM Plex Sans"/>
                <a:cs typeface="IBM Plex Sans"/>
              </a:endParaRPr>
            </a:p>
          </p:txBody>
        </p:sp>
      </p:grpSp>
      <p:grpSp>
        <p:nvGrpSpPr>
          <p:cNvPr id="37" name="node04"/>
          <p:cNvGrpSpPr/>
          <p:nvPr/>
        </p:nvGrpSpPr>
        <p:grpSpPr>
          <a:xfrm>
            <a:off x="3467100" y="1600200"/>
            <a:ext cx="2514600" cy="1828800"/>
            <a:chOff x="3467100" y="1600200"/>
            <a:chExt cx="2514600" cy="1828800"/>
          </a:xfrm>
        </p:grpSpPr>
        <p:sp>
          <p:nvSpPr>
            <p:cNvPr id="10" name="node04.container"/>
            <p:cNvSpPr/>
            <p:nvPr/>
          </p:nvSpPr>
          <p:spPr>
            <a:xfrm>
              <a:off x="3467100" y="1600200"/>
              <a:ext cx="2514600" cy="1828800"/>
            </a:xfrm>
            <a:prstGeom prst="rect">
              <a:avLst/>
            </a:prstGeom>
            <a:solidFill>
              <a:srgbClr val="E8EEF8"/>
            </a:solidFill>
            <a:ln>
              <a:noFill/>
            </a:ln>
          </p:spPr>
        </p:sp>
        <p:sp>
          <p:nvSpPr>
            <p:cNvPr id="11" name="node04.number"/>
            <p:cNvSpPr/>
            <p:nvPr/>
          </p:nvSpPr>
          <p:spPr>
            <a:xfrm>
              <a:off x="3695700" y="1828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12" name="node04.title"/>
            <p:cNvSpPr/>
            <p:nvPr/>
          </p:nvSpPr>
          <p:spPr>
            <a:xfrm>
              <a:off x="4067175" y="1828546"/>
              <a:ext cx="16859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Close calendar</a:t>
              </a:r>
              <a:endParaRPr lang="en-US" sz="1600" spc="-16" kern="0" b="0" i="0" dirty="0">
                <a:solidFill>
                  <a:srgbClr val="070154"/>
                </a:solidFill>
                <a:latin typeface="IBM Plex Sans SemiBold"/>
                <a:ea typeface="IBM Plex Sans SemiBold"/>
                <a:cs typeface="IBM Plex Sans SemiBold"/>
              </a:endParaRPr>
            </a:p>
          </p:txBody>
        </p:sp>
        <p:sp>
          <p:nvSpPr>
            <p:cNvPr id="13" name="node04.body.item-001.paragraph"/>
            <p:cNvSpPr/>
            <p:nvPr/>
          </p:nvSpPr>
          <p:spPr>
            <a:xfrm>
              <a:off x="3695700" y="2247900"/>
              <a:ext cx="20574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calendar for 14 business units, built backward from day five.</a:t>
              </a:r>
              <a:endParaRPr lang="en-US" sz="1200" spc="0" kern="0" b="0" i="0" dirty="0">
                <a:solidFill>
                  <a:srgbClr val="50658E"/>
                </a:solidFill>
                <a:latin typeface="IBM Plex Sans"/>
                <a:ea typeface="IBM Plex Sans"/>
                <a:cs typeface="IBM Plex Sans"/>
              </a:endParaRPr>
            </a:p>
          </p:txBody>
        </p:sp>
      </p:grpSp>
      <p:grpSp>
        <p:nvGrpSpPr>
          <p:cNvPr id="38" name="node05"/>
          <p:cNvGrpSpPr/>
          <p:nvPr/>
        </p:nvGrpSpPr>
        <p:grpSpPr>
          <a:xfrm>
            <a:off x="6210300" y="1600200"/>
            <a:ext cx="2514600" cy="1828800"/>
            <a:chOff x="6210300" y="1600200"/>
            <a:chExt cx="2514600" cy="1828800"/>
          </a:xfrm>
        </p:grpSpPr>
        <p:sp>
          <p:nvSpPr>
            <p:cNvPr id="14" name="node05.container"/>
            <p:cNvSpPr/>
            <p:nvPr/>
          </p:nvSpPr>
          <p:spPr>
            <a:xfrm>
              <a:off x="6210300" y="1600200"/>
              <a:ext cx="2514600" cy="1828800"/>
            </a:xfrm>
            <a:prstGeom prst="rect">
              <a:avLst/>
            </a:prstGeom>
            <a:solidFill>
              <a:srgbClr val="E8EEF8"/>
            </a:solidFill>
            <a:ln>
              <a:noFill/>
            </a:ln>
          </p:spPr>
        </p:sp>
        <p:sp>
          <p:nvSpPr>
            <p:cNvPr id="15" name="node05.number"/>
            <p:cNvSpPr/>
            <p:nvPr/>
          </p:nvSpPr>
          <p:spPr>
            <a:xfrm>
              <a:off x="6438900" y="1828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16" name="node05.title"/>
            <p:cNvSpPr/>
            <p:nvPr/>
          </p:nvSpPr>
          <p:spPr>
            <a:xfrm>
              <a:off x="6810375" y="1828546"/>
              <a:ext cx="16859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Reconciliations</a:t>
              </a:r>
              <a:endParaRPr lang="en-US" sz="1600" spc="-16" kern="0" b="0" i="0" dirty="0">
                <a:solidFill>
                  <a:srgbClr val="070154"/>
                </a:solidFill>
                <a:latin typeface="IBM Plex Sans SemiBold"/>
                <a:ea typeface="IBM Plex Sans SemiBold"/>
                <a:cs typeface="IBM Plex Sans SemiBold"/>
              </a:endParaRPr>
            </a:p>
          </p:txBody>
        </p:sp>
        <p:sp>
          <p:nvSpPr>
            <p:cNvPr id="17" name="node05.body.item-001.paragraph"/>
            <p:cNvSpPr/>
            <p:nvPr/>
          </p:nvSpPr>
          <p:spPr>
            <a:xfrm>
              <a:off x="6438900" y="2247900"/>
              <a:ext cx="20574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Accounts reconciled during the month, with exceptions routed on day one.</a:t>
              </a:r>
              <a:endParaRPr lang="en-US" sz="1200" spc="0" kern="0" b="0" i="0" dirty="0">
                <a:solidFill>
                  <a:srgbClr val="50658E"/>
                </a:solidFill>
                <a:latin typeface="IBM Plex Sans"/>
                <a:ea typeface="IBM Plex Sans"/>
                <a:cs typeface="IBM Plex Sans"/>
              </a:endParaRPr>
            </a:p>
          </p:txBody>
        </p:sp>
      </p:grpSp>
      <p:grpSp>
        <p:nvGrpSpPr>
          <p:cNvPr id="39" name="node06"/>
          <p:cNvGrpSpPr/>
          <p:nvPr/>
        </p:nvGrpSpPr>
        <p:grpSpPr>
          <a:xfrm>
            <a:off x="8953500" y="1600200"/>
            <a:ext cx="2514600" cy="1828800"/>
            <a:chOff x="8953500" y="1600200"/>
            <a:chExt cx="2514600" cy="1828800"/>
          </a:xfrm>
        </p:grpSpPr>
        <p:sp>
          <p:nvSpPr>
            <p:cNvPr id="18" name="node06.container"/>
            <p:cNvSpPr/>
            <p:nvPr/>
          </p:nvSpPr>
          <p:spPr>
            <a:xfrm>
              <a:off x="8953500" y="1600200"/>
              <a:ext cx="2514600" cy="1828800"/>
            </a:xfrm>
            <a:prstGeom prst="rect">
              <a:avLst/>
            </a:prstGeom>
            <a:solidFill>
              <a:srgbClr val="E8EEF8"/>
            </a:solidFill>
            <a:ln>
              <a:noFill/>
            </a:ln>
          </p:spPr>
        </p:sp>
        <p:sp>
          <p:nvSpPr>
            <p:cNvPr id="19" name="node06.number"/>
            <p:cNvSpPr/>
            <p:nvPr/>
          </p:nvSpPr>
          <p:spPr>
            <a:xfrm>
              <a:off x="9182100" y="1828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20" name="node06.title"/>
            <p:cNvSpPr/>
            <p:nvPr/>
          </p:nvSpPr>
          <p:spPr>
            <a:xfrm>
              <a:off x="9553575" y="1828546"/>
              <a:ext cx="16859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Intercompany</a:t>
              </a:r>
              <a:endParaRPr lang="en-US" sz="1600" spc="-16" kern="0" b="0" i="0" dirty="0">
                <a:solidFill>
                  <a:srgbClr val="070154"/>
                </a:solidFill>
                <a:latin typeface="IBM Plex Sans SemiBold"/>
                <a:ea typeface="IBM Plex Sans SemiBold"/>
                <a:cs typeface="IBM Plex Sans SemiBold"/>
              </a:endParaRPr>
            </a:p>
          </p:txBody>
        </p:sp>
        <p:sp>
          <p:nvSpPr>
            <p:cNvPr id="21" name="node06.body.item-001.paragraph"/>
            <p:cNvSpPr/>
            <p:nvPr/>
          </p:nvSpPr>
          <p:spPr>
            <a:xfrm>
              <a:off x="9182100" y="2247900"/>
              <a:ext cx="20574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Overnight matching replaces email and spreadsheets across eleven entities.</a:t>
              </a:r>
              <a:endParaRPr lang="en-US" sz="1200" spc="0" kern="0" b="0" i="0" dirty="0">
                <a:solidFill>
                  <a:srgbClr val="50658E"/>
                </a:solidFill>
                <a:latin typeface="IBM Plex Sans"/>
                <a:ea typeface="IBM Plex Sans"/>
                <a:cs typeface="IBM Plex Sans"/>
              </a:endParaRPr>
            </a:p>
          </p:txBody>
        </p:sp>
      </p:grpSp>
      <p:grpSp>
        <p:nvGrpSpPr>
          <p:cNvPr id="40" name="node07"/>
          <p:cNvGrpSpPr/>
          <p:nvPr/>
        </p:nvGrpSpPr>
        <p:grpSpPr>
          <a:xfrm>
            <a:off x="3467100" y="3657600"/>
            <a:ext cx="2514600" cy="1828800"/>
            <a:chOff x="3467100" y="3657600"/>
            <a:chExt cx="2514600" cy="1828800"/>
          </a:xfrm>
        </p:grpSpPr>
        <p:sp>
          <p:nvSpPr>
            <p:cNvPr id="22" name="node07.container"/>
            <p:cNvSpPr/>
            <p:nvPr/>
          </p:nvSpPr>
          <p:spPr>
            <a:xfrm>
              <a:off x="3467100" y="3657600"/>
              <a:ext cx="2514600" cy="1828800"/>
            </a:xfrm>
            <a:prstGeom prst="rect">
              <a:avLst/>
            </a:prstGeom>
            <a:solidFill>
              <a:srgbClr val="E8EEF8"/>
            </a:solidFill>
            <a:ln>
              <a:noFill/>
            </a:ln>
          </p:spPr>
        </p:sp>
        <p:sp>
          <p:nvSpPr>
            <p:cNvPr id="23" name="node07.number"/>
            <p:cNvSpPr/>
            <p:nvPr/>
          </p:nvSpPr>
          <p:spPr>
            <a:xfrm>
              <a:off x="3695700" y="3886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04</a:t>
              </a:r>
              <a:endParaRPr lang="en-US" sz="1600" spc="0" kern="0" b="0" i="0" dirty="0">
                <a:solidFill>
                  <a:srgbClr val="0047FF"/>
                </a:solidFill>
                <a:latin typeface="IBM Plex Mono SemiBold"/>
                <a:ea typeface="IBM Plex Mono SemiBold"/>
                <a:cs typeface="IBM Plex Mono SemiBold"/>
              </a:endParaRPr>
            </a:p>
          </p:txBody>
        </p:sp>
        <p:sp>
          <p:nvSpPr>
            <p:cNvPr id="24" name="node07.title"/>
            <p:cNvSpPr/>
            <p:nvPr/>
          </p:nvSpPr>
          <p:spPr>
            <a:xfrm>
              <a:off x="4067175" y="3885946"/>
              <a:ext cx="16859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Review</a:t>
              </a:r>
              <a:endParaRPr lang="en-US" sz="1600" spc="-16" kern="0" b="0" i="0" dirty="0">
                <a:solidFill>
                  <a:srgbClr val="070154"/>
                </a:solidFill>
                <a:latin typeface="IBM Plex Sans SemiBold"/>
                <a:ea typeface="IBM Plex Sans SemiBold"/>
                <a:cs typeface="IBM Plex Sans SemiBold"/>
              </a:endParaRPr>
            </a:p>
          </p:txBody>
        </p:sp>
        <p:sp>
          <p:nvSpPr>
            <p:cNvPr id="25" name="node07.body.item-001.paragraph"/>
            <p:cNvSpPr/>
            <p:nvPr/>
          </p:nvSpPr>
          <p:spPr>
            <a:xfrm>
              <a:off x="3695700" y="4305300"/>
              <a:ext cx="20574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Rules check entries as they post; controllers see only the exceptions.</a:t>
              </a:r>
              <a:endParaRPr lang="en-US" sz="1200" spc="0" kern="0" b="0" i="0" dirty="0">
                <a:solidFill>
                  <a:srgbClr val="50658E"/>
                </a:solidFill>
                <a:latin typeface="IBM Plex Sans"/>
                <a:ea typeface="IBM Plex Sans"/>
                <a:cs typeface="IBM Plex Sans"/>
              </a:endParaRPr>
            </a:p>
          </p:txBody>
        </p:sp>
      </p:grpSp>
      <p:grpSp>
        <p:nvGrpSpPr>
          <p:cNvPr id="41" name="node08"/>
          <p:cNvGrpSpPr/>
          <p:nvPr/>
        </p:nvGrpSpPr>
        <p:grpSpPr>
          <a:xfrm>
            <a:off x="6210300" y="3657600"/>
            <a:ext cx="2514600" cy="1828800"/>
            <a:chOff x="6210300" y="3657600"/>
            <a:chExt cx="2514600" cy="1828800"/>
          </a:xfrm>
        </p:grpSpPr>
        <p:sp>
          <p:nvSpPr>
            <p:cNvPr id="26" name="node08.container"/>
            <p:cNvSpPr/>
            <p:nvPr/>
          </p:nvSpPr>
          <p:spPr>
            <a:xfrm>
              <a:off x="6210300" y="3657600"/>
              <a:ext cx="2514600" cy="1828800"/>
            </a:xfrm>
            <a:prstGeom prst="rect">
              <a:avLst/>
            </a:prstGeom>
            <a:solidFill>
              <a:srgbClr val="E8EEF8"/>
            </a:solidFill>
            <a:ln>
              <a:noFill/>
            </a:ln>
          </p:spPr>
        </p:sp>
        <p:sp>
          <p:nvSpPr>
            <p:cNvPr id="27" name="node08.number"/>
            <p:cNvSpPr/>
            <p:nvPr/>
          </p:nvSpPr>
          <p:spPr>
            <a:xfrm>
              <a:off x="6438900" y="3886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05</a:t>
              </a:r>
              <a:endParaRPr lang="en-US" sz="1600" spc="0" kern="0" b="0" i="0" dirty="0">
                <a:solidFill>
                  <a:srgbClr val="0047FF"/>
                </a:solidFill>
                <a:latin typeface="IBM Plex Mono SemiBold"/>
                <a:ea typeface="IBM Plex Mono SemiBold"/>
                <a:cs typeface="IBM Plex Mono SemiBold"/>
              </a:endParaRPr>
            </a:p>
          </p:txBody>
        </p:sp>
        <p:sp>
          <p:nvSpPr>
            <p:cNvPr id="28" name="node08.title"/>
            <p:cNvSpPr/>
            <p:nvPr/>
          </p:nvSpPr>
          <p:spPr>
            <a:xfrm>
              <a:off x="6810375" y="3885946"/>
              <a:ext cx="16859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Reporting</a:t>
              </a:r>
              <a:endParaRPr lang="en-US" sz="1600" spc="-16" kern="0" b="0" i="0" dirty="0">
                <a:solidFill>
                  <a:srgbClr val="070154"/>
                </a:solidFill>
                <a:latin typeface="IBM Plex Sans SemiBold"/>
                <a:ea typeface="IBM Plex Sans SemiBold"/>
                <a:cs typeface="IBM Plex Sans SemiBold"/>
              </a:endParaRPr>
            </a:p>
          </p:txBody>
        </p:sp>
        <p:sp>
          <p:nvSpPr>
            <p:cNvPr id="29" name="node08.body.item-001.paragraph"/>
            <p:cNvSpPr/>
            <p:nvPr/>
          </p:nvSpPr>
          <p:spPr>
            <a:xfrm>
              <a:off x="6438900" y="4305300"/>
              <a:ext cx="20574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Flash results ready on day three, the full package on day five.</a:t>
              </a:r>
              <a:endParaRPr lang="en-US" sz="1200" spc="0" kern="0" b="0" i="0" dirty="0">
                <a:solidFill>
                  <a:srgbClr val="50658E"/>
                </a:solidFill>
                <a:latin typeface="IBM Plex Sans"/>
                <a:ea typeface="IBM Plex Sans"/>
                <a:cs typeface="IBM Plex Sans"/>
              </a:endParaRPr>
            </a:p>
          </p:txBody>
        </p:sp>
      </p:grpSp>
      <p:grpSp>
        <p:nvGrpSpPr>
          <p:cNvPr id="42" name="node09"/>
          <p:cNvGrpSpPr/>
          <p:nvPr/>
        </p:nvGrpSpPr>
        <p:grpSpPr>
          <a:xfrm>
            <a:off x="8953500" y="3657600"/>
            <a:ext cx="2514600" cy="1828800"/>
            <a:chOff x="8953500" y="3657600"/>
            <a:chExt cx="2514600" cy="1828800"/>
          </a:xfrm>
        </p:grpSpPr>
        <p:sp>
          <p:nvSpPr>
            <p:cNvPr id="30" name="node09.container"/>
            <p:cNvSpPr/>
            <p:nvPr/>
          </p:nvSpPr>
          <p:spPr>
            <a:xfrm>
              <a:off x="8953500" y="3657600"/>
              <a:ext cx="2514600" cy="1828800"/>
            </a:xfrm>
            <a:prstGeom prst="rect">
              <a:avLst/>
            </a:prstGeom>
            <a:solidFill>
              <a:srgbClr val="E8EEF8"/>
            </a:solidFill>
            <a:ln>
              <a:noFill/>
            </a:ln>
          </p:spPr>
        </p:sp>
        <p:sp>
          <p:nvSpPr>
            <p:cNvPr id="31" name="node09.number"/>
            <p:cNvSpPr/>
            <p:nvPr/>
          </p:nvSpPr>
          <p:spPr>
            <a:xfrm>
              <a:off x="9182100" y="3886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06</a:t>
              </a:r>
              <a:endParaRPr lang="en-US" sz="1600" spc="0" kern="0" b="0" i="0" dirty="0">
                <a:solidFill>
                  <a:srgbClr val="0047FF"/>
                </a:solidFill>
                <a:latin typeface="IBM Plex Mono SemiBold"/>
                <a:ea typeface="IBM Plex Mono SemiBold"/>
                <a:cs typeface="IBM Plex Mono SemiBold"/>
              </a:endParaRPr>
            </a:p>
          </p:txBody>
        </p:sp>
        <p:sp>
          <p:nvSpPr>
            <p:cNvPr id="32" name="node09.title"/>
            <p:cNvSpPr/>
            <p:nvPr/>
          </p:nvSpPr>
          <p:spPr>
            <a:xfrm>
              <a:off x="9553575" y="3885946"/>
              <a:ext cx="16859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Controls</a:t>
              </a:r>
              <a:endParaRPr lang="en-US" sz="1600" spc="-16" kern="0" b="0" i="0" dirty="0">
                <a:solidFill>
                  <a:srgbClr val="070154"/>
                </a:solidFill>
                <a:latin typeface="IBM Plex Sans SemiBold"/>
                <a:ea typeface="IBM Plex Sans SemiBold"/>
                <a:cs typeface="IBM Plex Sans SemiBold"/>
              </a:endParaRPr>
            </a:p>
          </p:txBody>
        </p:sp>
        <p:sp>
          <p:nvSpPr>
            <p:cNvPr id="33" name="node09.body.item-001.paragraph"/>
            <p:cNvSpPr/>
            <p:nvPr/>
          </p:nvSpPr>
          <p:spPr>
            <a:xfrm>
              <a:off x="9182100" y="4305300"/>
              <a:ext cx="20574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Evidence is captured as work happens, so audit asks stop reopening the close.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ource-11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FUTURE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Eight changes deliver the five-day close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a:t>
            </a:fld>
            <a:endParaRPr lang="en-US" sz="700" spc="0" kern="0" b="0" i="0" dirty="0">
              <a:solidFill>
                <a:srgbClr val="070154"/>
              </a:solidFill>
              <a:latin typeface="IBM Plex Mono SemiBold"/>
              <a:ea typeface="IBM Plex Mono SemiBold"/>
              <a:cs typeface="IBM Plex Mono SemiBold"/>
            </a:endParaRPr>
          </a:p>
        </p:txBody>
      </p:sp>
      <p:grpSp>
        <p:nvGrpSpPr>
          <p:cNvPr id="41" name="node01"/>
          <p:cNvGrpSpPr/>
          <p:nvPr/>
        </p:nvGrpSpPr>
        <p:grpSpPr>
          <a:xfrm>
            <a:off x="723900" y="1600200"/>
            <a:ext cx="2514600" cy="139700"/>
            <a:chOff x="723900" y="1600200"/>
            <a:chExt cx="2514600" cy="139700"/>
          </a:xfrm>
        </p:grpSpPr>
        <p:sp>
          <p:nvSpPr>
            <p:cNvPr id="6" name="node01.text"/>
            <p:cNvSpPr/>
            <p:nvPr/>
          </p:nvSpPr>
          <p:spPr>
            <a:xfrm>
              <a:off x="723900" y="1600200"/>
              <a:ext cx="25146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WHY IT MATTERS</a:t>
              </a:r>
              <a:endParaRPr lang="en-US" sz="900" spc="72" kern="0" b="0" i="0" dirty="0">
                <a:solidFill>
                  <a:srgbClr val="0047FF"/>
                </a:solidFill>
                <a:latin typeface="IBM Plex Mono SemiBold"/>
                <a:ea typeface="IBM Plex Mono SemiBold"/>
                <a:cs typeface="IBM Plex Mono SemiBold"/>
              </a:endParaRPr>
            </a:p>
          </p:txBody>
        </p:sp>
      </p:grpSp>
      <p:grpSp>
        <p:nvGrpSpPr>
          <p:cNvPr id="42" name="node02"/>
          <p:cNvGrpSpPr/>
          <p:nvPr/>
        </p:nvGrpSpPr>
        <p:grpSpPr>
          <a:xfrm>
            <a:off x="723900" y="1828800"/>
            <a:ext cx="2514600" cy="685800"/>
            <a:chOff x="723900" y="1828800"/>
            <a:chExt cx="2514600" cy="685800"/>
          </a:xfrm>
        </p:grpSpPr>
        <p:sp>
          <p:nvSpPr>
            <p:cNvPr id="7" name="node02.text"/>
            <p:cNvSpPr/>
            <p:nvPr/>
          </p:nvSpPr>
          <p:spPr>
            <a:xfrm>
              <a:off x="723900" y="1828800"/>
              <a:ext cx="2514600" cy="6858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 close that runs on rules</a:t>
              </a:r>
              <a:endParaRPr lang="en-US" sz="1600" spc="-16" kern="0" b="0" i="0" dirty="0">
                <a:solidFill>
                  <a:srgbClr val="070154"/>
                </a:solidFill>
                <a:latin typeface="IBM Plex Sans SemiBold"/>
                <a:ea typeface="IBM Plex Sans SemiBold"/>
                <a:cs typeface="IBM Plex Sans SemiBold"/>
              </a:endParaRPr>
            </a:p>
          </p:txBody>
        </p:sp>
      </p:grpSp>
      <p:grpSp>
        <p:nvGrpSpPr>
          <p:cNvPr id="43" name="node03"/>
          <p:cNvGrpSpPr/>
          <p:nvPr/>
        </p:nvGrpSpPr>
        <p:grpSpPr>
          <a:xfrm>
            <a:off x="723900" y="2743200"/>
            <a:ext cx="2514600" cy="647700"/>
            <a:chOff x="723900" y="2743200"/>
            <a:chExt cx="2514600" cy="647700"/>
          </a:xfrm>
        </p:grpSpPr>
        <p:sp>
          <p:nvSpPr>
            <p:cNvPr id="8" name="node03.text"/>
            <p:cNvSpPr/>
            <p:nvPr/>
          </p:nvSpPr>
          <p:spPr>
            <a:xfrm>
              <a:off x="723900" y="2743200"/>
              <a:ext cx="25146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takes 12 days because work waits for people. We resequence it so entries are checked as they post.</a:t>
              </a:r>
              <a:endParaRPr lang="en-US" sz="1200" spc="0" kern="0" b="0" i="0" dirty="0">
                <a:solidFill>
                  <a:srgbClr val="070154"/>
                </a:solidFill>
                <a:latin typeface="IBM Plex Sans"/>
                <a:ea typeface="IBM Plex Sans"/>
                <a:cs typeface="IBM Plex Sans"/>
              </a:endParaRPr>
            </a:p>
          </p:txBody>
        </p:sp>
      </p:grpSp>
      <p:grpSp>
        <p:nvGrpSpPr>
          <p:cNvPr id="44" name="node04"/>
          <p:cNvGrpSpPr/>
          <p:nvPr/>
        </p:nvGrpSpPr>
        <p:grpSpPr>
          <a:xfrm>
            <a:off x="3467100" y="1600200"/>
            <a:ext cx="1828800" cy="2057400"/>
            <a:chOff x="3467100" y="1600200"/>
            <a:chExt cx="1828800" cy="2057400"/>
          </a:xfrm>
        </p:grpSpPr>
        <p:sp>
          <p:nvSpPr>
            <p:cNvPr id="9" name="node04.container"/>
            <p:cNvSpPr/>
            <p:nvPr/>
          </p:nvSpPr>
          <p:spPr>
            <a:xfrm>
              <a:off x="3467100" y="1600200"/>
              <a:ext cx="1828800" cy="2057400"/>
            </a:xfrm>
            <a:prstGeom prst="rect">
              <a:avLst/>
            </a:prstGeom>
            <a:solidFill>
              <a:srgbClr val="E8EEF8"/>
            </a:solidFill>
            <a:ln>
              <a:noFill/>
            </a:ln>
          </p:spPr>
        </p:sp>
        <p:sp>
          <p:nvSpPr>
            <p:cNvPr id="10" name="node04.number"/>
            <p:cNvSpPr/>
            <p:nvPr/>
          </p:nvSpPr>
          <p:spPr>
            <a:xfrm>
              <a:off x="36195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11" name="node04.title"/>
            <p:cNvSpPr/>
            <p:nvPr/>
          </p:nvSpPr>
          <p:spPr>
            <a:xfrm>
              <a:off x="3990975" y="1790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Reconcile</a:t>
              </a:r>
              <a:endParaRPr lang="en-US" sz="1200" spc="0" kern="0" b="0" i="0" dirty="0">
                <a:solidFill>
                  <a:srgbClr val="070154"/>
                </a:solidFill>
                <a:latin typeface="IBM Plex Sans"/>
                <a:ea typeface="IBM Plex Sans"/>
                <a:cs typeface="IBM Plex Sans"/>
              </a:endParaRPr>
            </a:p>
          </p:txBody>
        </p:sp>
        <p:sp>
          <p:nvSpPr>
            <p:cNvPr id="12" name="node04.body.item-001.paragraph"/>
            <p:cNvSpPr/>
            <p:nvPr/>
          </p:nvSpPr>
          <p:spPr>
            <a:xfrm>
              <a:off x="3619500" y="2171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template and owner for every balance-sheet account.</a:t>
              </a:r>
              <a:endParaRPr lang="en-US" sz="1200" spc="0" kern="0" b="0" i="0" dirty="0">
                <a:solidFill>
                  <a:srgbClr val="50658E"/>
                </a:solidFill>
                <a:latin typeface="IBM Plex Sans"/>
                <a:ea typeface="IBM Plex Sans"/>
                <a:cs typeface="IBM Plex Sans"/>
              </a:endParaRPr>
            </a:p>
          </p:txBody>
        </p:sp>
      </p:grpSp>
      <p:grpSp>
        <p:nvGrpSpPr>
          <p:cNvPr id="45" name="node05"/>
          <p:cNvGrpSpPr/>
          <p:nvPr/>
        </p:nvGrpSpPr>
        <p:grpSpPr>
          <a:xfrm>
            <a:off x="5524500" y="1600200"/>
            <a:ext cx="1828800" cy="2057400"/>
            <a:chOff x="5524500" y="1600200"/>
            <a:chExt cx="1828800" cy="2057400"/>
          </a:xfrm>
        </p:grpSpPr>
        <p:sp>
          <p:nvSpPr>
            <p:cNvPr id="13" name="node05.container"/>
            <p:cNvSpPr/>
            <p:nvPr/>
          </p:nvSpPr>
          <p:spPr>
            <a:xfrm>
              <a:off x="5524500" y="1600200"/>
              <a:ext cx="1828800" cy="2057400"/>
            </a:xfrm>
            <a:prstGeom prst="rect">
              <a:avLst/>
            </a:prstGeom>
            <a:solidFill>
              <a:srgbClr val="E8EEF8"/>
            </a:solidFill>
            <a:ln>
              <a:noFill/>
            </a:ln>
          </p:spPr>
        </p:sp>
        <p:sp>
          <p:nvSpPr>
            <p:cNvPr id="14" name="node05.number"/>
            <p:cNvSpPr/>
            <p:nvPr/>
          </p:nvSpPr>
          <p:spPr>
            <a:xfrm>
              <a:off x="56769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15" name="node05.title"/>
            <p:cNvSpPr/>
            <p:nvPr/>
          </p:nvSpPr>
          <p:spPr>
            <a:xfrm>
              <a:off x="6048375" y="1790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Matching</a:t>
              </a:r>
              <a:endParaRPr lang="en-US" sz="1200" spc="0" kern="0" b="0" i="0" dirty="0">
                <a:solidFill>
                  <a:srgbClr val="070154"/>
                </a:solidFill>
                <a:latin typeface="IBM Plex Sans"/>
                <a:ea typeface="IBM Plex Sans"/>
                <a:cs typeface="IBM Plex Sans"/>
              </a:endParaRPr>
            </a:p>
          </p:txBody>
        </p:sp>
        <p:sp>
          <p:nvSpPr>
            <p:cNvPr id="16" name="node05.body.item-001.paragraph"/>
            <p:cNvSpPr/>
            <p:nvPr/>
          </p:nvSpPr>
          <p:spPr>
            <a:xfrm>
              <a:off x="5676900" y="2171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Intercompany balances match overnight across eleven entities.</a:t>
              </a:r>
              <a:endParaRPr lang="en-US" sz="1200" spc="0" kern="0" b="0" i="0" dirty="0">
                <a:solidFill>
                  <a:srgbClr val="50658E"/>
                </a:solidFill>
                <a:latin typeface="IBM Plex Sans"/>
                <a:ea typeface="IBM Plex Sans"/>
                <a:cs typeface="IBM Plex Sans"/>
              </a:endParaRPr>
            </a:p>
          </p:txBody>
        </p:sp>
      </p:grpSp>
      <p:grpSp>
        <p:nvGrpSpPr>
          <p:cNvPr id="46" name="node06"/>
          <p:cNvGrpSpPr/>
          <p:nvPr/>
        </p:nvGrpSpPr>
        <p:grpSpPr>
          <a:xfrm>
            <a:off x="7581900" y="1600200"/>
            <a:ext cx="1828800" cy="2057400"/>
            <a:chOff x="7581900" y="1600200"/>
            <a:chExt cx="1828800" cy="2057400"/>
          </a:xfrm>
        </p:grpSpPr>
        <p:sp>
          <p:nvSpPr>
            <p:cNvPr id="17" name="node06.container"/>
            <p:cNvSpPr/>
            <p:nvPr/>
          </p:nvSpPr>
          <p:spPr>
            <a:xfrm>
              <a:off x="7581900" y="1600200"/>
              <a:ext cx="1828800" cy="2057400"/>
            </a:xfrm>
            <a:prstGeom prst="rect">
              <a:avLst/>
            </a:prstGeom>
            <a:solidFill>
              <a:srgbClr val="E8EEF8"/>
            </a:solidFill>
            <a:ln>
              <a:noFill/>
            </a:ln>
          </p:spPr>
        </p:sp>
        <p:sp>
          <p:nvSpPr>
            <p:cNvPr id="18" name="node06.number"/>
            <p:cNvSpPr/>
            <p:nvPr/>
          </p:nvSpPr>
          <p:spPr>
            <a:xfrm>
              <a:off x="77343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19" name="node06.title"/>
            <p:cNvSpPr/>
            <p:nvPr/>
          </p:nvSpPr>
          <p:spPr>
            <a:xfrm>
              <a:off x="8105775" y="1790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Early review</a:t>
              </a:r>
              <a:endParaRPr lang="en-US" sz="1200" spc="0" kern="0" b="0" i="0" dirty="0">
                <a:solidFill>
                  <a:srgbClr val="070154"/>
                </a:solidFill>
                <a:latin typeface="IBM Plex Sans"/>
                <a:ea typeface="IBM Plex Sans"/>
                <a:cs typeface="IBM Plex Sans"/>
              </a:endParaRPr>
            </a:p>
          </p:txBody>
        </p:sp>
        <p:sp>
          <p:nvSpPr>
            <p:cNvPr id="20" name="node06.body.item-001.paragraph"/>
            <p:cNvSpPr/>
            <p:nvPr/>
          </p:nvSpPr>
          <p:spPr>
            <a:xfrm>
              <a:off x="7734300" y="2171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Controllers review entries as they post, not in one push on day nine.</a:t>
              </a:r>
              <a:endParaRPr lang="en-US" sz="1200" spc="0" kern="0" b="0" i="0" dirty="0">
                <a:solidFill>
                  <a:srgbClr val="50658E"/>
                </a:solidFill>
                <a:latin typeface="IBM Plex Sans"/>
                <a:ea typeface="IBM Plex Sans"/>
                <a:cs typeface="IBM Plex Sans"/>
              </a:endParaRPr>
            </a:p>
          </p:txBody>
        </p:sp>
      </p:grpSp>
      <p:grpSp>
        <p:nvGrpSpPr>
          <p:cNvPr id="47" name="node07"/>
          <p:cNvGrpSpPr/>
          <p:nvPr/>
        </p:nvGrpSpPr>
        <p:grpSpPr>
          <a:xfrm>
            <a:off x="9639300" y="1600200"/>
            <a:ext cx="1828800" cy="2057400"/>
            <a:chOff x="9639300" y="1600200"/>
            <a:chExt cx="1828800" cy="2057400"/>
          </a:xfrm>
        </p:grpSpPr>
        <p:sp>
          <p:nvSpPr>
            <p:cNvPr id="21" name="node07.container"/>
            <p:cNvSpPr/>
            <p:nvPr/>
          </p:nvSpPr>
          <p:spPr>
            <a:xfrm>
              <a:off x="9639300" y="1600200"/>
              <a:ext cx="1828800" cy="2057400"/>
            </a:xfrm>
            <a:prstGeom prst="rect">
              <a:avLst/>
            </a:prstGeom>
            <a:solidFill>
              <a:srgbClr val="E8EEF8"/>
            </a:solidFill>
            <a:ln>
              <a:noFill/>
            </a:ln>
          </p:spPr>
        </p:sp>
        <p:sp>
          <p:nvSpPr>
            <p:cNvPr id="22" name="node07.number"/>
            <p:cNvSpPr/>
            <p:nvPr/>
          </p:nvSpPr>
          <p:spPr>
            <a:xfrm>
              <a:off x="97917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04</a:t>
              </a:r>
              <a:endParaRPr lang="en-US" sz="1600" spc="0" kern="0" b="0" i="0" dirty="0">
                <a:solidFill>
                  <a:srgbClr val="0047FF"/>
                </a:solidFill>
                <a:latin typeface="IBM Plex Mono SemiBold"/>
                <a:ea typeface="IBM Plex Mono SemiBold"/>
                <a:cs typeface="IBM Plex Mono SemiBold"/>
              </a:endParaRPr>
            </a:p>
          </p:txBody>
        </p:sp>
        <p:sp>
          <p:nvSpPr>
            <p:cNvPr id="23" name="node07.title"/>
            <p:cNvSpPr/>
            <p:nvPr/>
          </p:nvSpPr>
          <p:spPr>
            <a:xfrm>
              <a:off x="10163175" y="1790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Ownership</a:t>
              </a:r>
              <a:endParaRPr lang="en-US" sz="1200" spc="0" kern="0" b="0" i="0" dirty="0">
                <a:solidFill>
                  <a:srgbClr val="070154"/>
                </a:solidFill>
                <a:latin typeface="IBM Plex Sans"/>
                <a:ea typeface="IBM Plex Sans"/>
                <a:cs typeface="IBM Plex Sans"/>
              </a:endParaRPr>
            </a:p>
          </p:txBody>
        </p:sp>
        <p:sp>
          <p:nvSpPr>
            <p:cNvPr id="24" name="node07.body.item-001.paragraph"/>
            <p:cNvSpPr/>
            <p:nvPr/>
          </p:nvSpPr>
          <p:spPr>
            <a:xfrm>
              <a:off x="9791700" y="2171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Every close task has a named owner, a due time and an escalation path.</a:t>
              </a:r>
              <a:endParaRPr lang="en-US" sz="1200" spc="0" kern="0" b="0" i="0" dirty="0">
                <a:solidFill>
                  <a:srgbClr val="50658E"/>
                </a:solidFill>
                <a:latin typeface="IBM Plex Sans"/>
                <a:ea typeface="IBM Plex Sans"/>
                <a:cs typeface="IBM Plex Sans"/>
              </a:endParaRPr>
            </a:p>
          </p:txBody>
        </p:sp>
      </p:grpSp>
      <p:grpSp>
        <p:nvGrpSpPr>
          <p:cNvPr id="48" name="node08"/>
          <p:cNvGrpSpPr/>
          <p:nvPr/>
        </p:nvGrpSpPr>
        <p:grpSpPr>
          <a:xfrm>
            <a:off x="3467100" y="3886200"/>
            <a:ext cx="1828800" cy="2057400"/>
            <a:chOff x="3467100" y="3886200"/>
            <a:chExt cx="1828800" cy="2057400"/>
          </a:xfrm>
        </p:grpSpPr>
        <p:sp>
          <p:nvSpPr>
            <p:cNvPr id="25" name="node08.container"/>
            <p:cNvSpPr/>
            <p:nvPr/>
          </p:nvSpPr>
          <p:spPr>
            <a:xfrm>
              <a:off x="3467100" y="3886200"/>
              <a:ext cx="1828800" cy="2057400"/>
            </a:xfrm>
            <a:prstGeom prst="rect">
              <a:avLst/>
            </a:prstGeom>
            <a:solidFill>
              <a:srgbClr val="E8EEF8"/>
            </a:solidFill>
            <a:ln>
              <a:noFill/>
            </a:ln>
          </p:spPr>
        </p:sp>
        <p:sp>
          <p:nvSpPr>
            <p:cNvPr id="26" name="node08.number"/>
            <p:cNvSpPr/>
            <p:nvPr/>
          </p:nvSpPr>
          <p:spPr>
            <a:xfrm>
              <a:off x="3619500" y="4038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05</a:t>
              </a:r>
              <a:endParaRPr lang="en-US" sz="1600" spc="0" kern="0" b="0" i="0" dirty="0">
                <a:solidFill>
                  <a:srgbClr val="0047FF"/>
                </a:solidFill>
                <a:latin typeface="IBM Plex Mono SemiBold"/>
                <a:ea typeface="IBM Plex Mono SemiBold"/>
                <a:cs typeface="IBM Plex Mono SemiBold"/>
              </a:endParaRPr>
            </a:p>
          </p:txBody>
        </p:sp>
        <p:sp>
          <p:nvSpPr>
            <p:cNvPr id="27" name="node08.title"/>
            <p:cNvSpPr/>
            <p:nvPr/>
          </p:nvSpPr>
          <p:spPr>
            <a:xfrm>
              <a:off x="3990975" y="4076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Flash report</a:t>
              </a:r>
              <a:endParaRPr lang="en-US" sz="1200" spc="0" kern="0" b="0" i="0" dirty="0">
                <a:solidFill>
                  <a:srgbClr val="070154"/>
                </a:solidFill>
                <a:latin typeface="IBM Plex Sans"/>
                <a:ea typeface="IBM Plex Sans"/>
                <a:cs typeface="IBM Plex Sans"/>
              </a:endParaRPr>
            </a:p>
          </p:txBody>
        </p:sp>
        <p:sp>
          <p:nvSpPr>
            <p:cNvPr id="28" name="node08.body.item-001.paragraph"/>
            <p:cNvSpPr/>
            <p:nvPr/>
          </p:nvSpPr>
          <p:spPr>
            <a:xfrm>
              <a:off x="3619500" y="4457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Flash results are ready on day three and the full package on day five.</a:t>
              </a:r>
              <a:endParaRPr lang="en-US" sz="1200" spc="0" kern="0" b="0" i="0" dirty="0">
                <a:solidFill>
                  <a:srgbClr val="50658E"/>
                </a:solidFill>
                <a:latin typeface="IBM Plex Sans"/>
                <a:ea typeface="IBM Plex Sans"/>
                <a:cs typeface="IBM Plex Sans"/>
              </a:endParaRPr>
            </a:p>
          </p:txBody>
        </p:sp>
      </p:grpSp>
      <p:grpSp>
        <p:nvGrpSpPr>
          <p:cNvPr id="49" name="node09"/>
          <p:cNvGrpSpPr/>
          <p:nvPr/>
        </p:nvGrpSpPr>
        <p:grpSpPr>
          <a:xfrm>
            <a:off x="5524500" y="3886200"/>
            <a:ext cx="1828800" cy="2057400"/>
            <a:chOff x="5524500" y="3886200"/>
            <a:chExt cx="1828800" cy="2057400"/>
          </a:xfrm>
        </p:grpSpPr>
        <p:sp>
          <p:nvSpPr>
            <p:cNvPr id="29" name="node09.container"/>
            <p:cNvSpPr/>
            <p:nvPr/>
          </p:nvSpPr>
          <p:spPr>
            <a:xfrm>
              <a:off x="5524500" y="3886200"/>
              <a:ext cx="1828800" cy="2057400"/>
            </a:xfrm>
            <a:prstGeom prst="rect">
              <a:avLst/>
            </a:prstGeom>
            <a:solidFill>
              <a:srgbClr val="E8EEF8"/>
            </a:solidFill>
            <a:ln>
              <a:noFill/>
            </a:ln>
          </p:spPr>
        </p:sp>
        <p:sp>
          <p:nvSpPr>
            <p:cNvPr id="30" name="node09.number"/>
            <p:cNvSpPr/>
            <p:nvPr/>
          </p:nvSpPr>
          <p:spPr>
            <a:xfrm>
              <a:off x="5676900" y="4038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06</a:t>
              </a:r>
              <a:endParaRPr lang="en-US" sz="1600" spc="0" kern="0" b="0" i="0" dirty="0">
                <a:solidFill>
                  <a:srgbClr val="0047FF"/>
                </a:solidFill>
                <a:latin typeface="IBM Plex Mono SemiBold"/>
                <a:ea typeface="IBM Plex Mono SemiBold"/>
                <a:cs typeface="IBM Plex Mono SemiBold"/>
              </a:endParaRPr>
            </a:p>
          </p:txBody>
        </p:sp>
        <p:sp>
          <p:nvSpPr>
            <p:cNvPr id="31" name="node09.title"/>
            <p:cNvSpPr/>
            <p:nvPr/>
          </p:nvSpPr>
          <p:spPr>
            <a:xfrm>
              <a:off x="6048375" y="4076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Controls</a:t>
              </a:r>
              <a:endParaRPr lang="en-US" sz="1200" spc="0" kern="0" b="0" i="0" dirty="0">
                <a:solidFill>
                  <a:srgbClr val="070154"/>
                </a:solidFill>
                <a:latin typeface="IBM Plex Sans"/>
                <a:ea typeface="IBM Plex Sans"/>
                <a:cs typeface="IBM Plex Sans"/>
              </a:endParaRPr>
            </a:p>
          </p:txBody>
        </p:sp>
        <p:sp>
          <p:nvSpPr>
            <p:cNvPr id="32" name="node09.body.item-001.paragraph"/>
            <p:cNvSpPr/>
            <p:nvPr/>
          </p:nvSpPr>
          <p:spPr>
            <a:xfrm>
              <a:off x="5676900" y="4457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Evidence is captured as work happens, so audit requests stop reopening the close.</a:t>
              </a:r>
              <a:endParaRPr lang="en-US" sz="1200" spc="0" kern="0" b="0" i="0" dirty="0">
                <a:solidFill>
                  <a:srgbClr val="50658E"/>
                </a:solidFill>
                <a:latin typeface="IBM Plex Sans"/>
                <a:ea typeface="IBM Plex Sans"/>
                <a:cs typeface="IBM Plex Sans"/>
              </a:endParaRPr>
            </a:p>
          </p:txBody>
        </p:sp>
      </p:grpSp>
      <p:grpSp>
        <p:nvGrpSpPr>
          <p:cNvPr id="50" name="node10"/>
          <p:cNvGrpSpPr/>
          <p:nvPr/>
        </p:nvGrpSpPr>
        <p:grpSpPr>
          <a:xfrm>
            <a:off x="7581900" y="3886200"/>
            <a:ext cx="1828800" cy="2057400"/>
            <a:chOff x="7581900" y="3886200"/>
            <a:chExt cx="1828800" cy="2057400"/>
          </a:xfrm>
        </p:grpSpPr>
        <p:sp>
          <p:nvSpPr>
            <p:cNvPr id="33" name="node10.container"/>
            <p:cNvSpPr/>
            <p:nvPr/>
          </p:nvSpPr>
          <p:spPr>
            <a:xfrm>
              <a:off x="7581900" y="3886200"/>
              <a:ext cx="1828800" cy="2057400"/>
            </a:xfrm>
            <a:prstGeom prst="rect">
              <a:avLst/>
            </a:prstGeom>
            <a:solidFill>
              <a:srgbClr val="E8EEF8"/>
            </a:solidFill>
            <a:ln>
              <a:noFill/>
            </a:ln>
          </p:spPr>
        </p:sp>
        <p:sp>
          <p:nvSpPr>
            <p:cNvPr id="34" name="node10.number"/>
            <p:cNvSpPr/>
            <p:nvPr/>
          </p:nvSpPr>
          <p:spPr>
            <a:xfrm>
              <a:off x="7734300" y="4038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07</a:t>
              </a:r>
              <a:endParaRPr lang="en-US" sz="1600" spc="0" kern="0" b="0" i="0" dirty="0">
                <a:solidFill>
                  <a:srgbClr val="0047FF"/>
                </a:solidFill>
                <a:latin typeface="IBM Plex Mono SemiBold"/>
                <a:ea typeface="IBM Plex Mono SemiBold"/>
                <a:cs typeface="IBM Plex Mono SemiBold"/>
              </a:endParaRPr>
            </a:p>
          </p:txBody>
        </p:sp>
        <p:sp>
          <p:nvSpPr>
            <p:cNvPr id="35" name="node10.title"/>
            <p:cNvSpPr/>
            <p:nvPr/>
          </p:nvSpPr>
          <p:spPr>
            <a:xfrm>
              <a:off x="8105775" y="4076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Calendar</a:t>
              </a:r>
              <a:endParaRPr lang="en-US" sz="1200" spc="0" kern="0" b="0" i="0" dirty="0">
                <a:solidFill>
                  <a:srgbClr val="070154"/>
                </a:solidFill>
                <a:latin typeface="IBM Plex Sans"/>
                <a:ea typeface="IBM Plex Sans"/>
                <a:cs typeface="IBM Plex Sans"/>
              </a:endParaRPr>
            </a:p>
          </p:txBody>
        </p:sp>
        <p:sp>
          <p:nvSpPr>
            <p:cNvPr id="36" name="node10.body.item-001.paragraph"/>
            <p:cNvSpPr/>
            <p:nvPr/>
          </p:nvSpPr>
          <p:spPr>
            <a:xfrm>
              <a:off x="7734300" y="4457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calendar for 14 business units, built backward from the day-five target.</a:t>
              </a:r>
              <a:endParaRPr lang="en-US" sz="1200" spc="0" kern="0" b="0" i="0" dirty="0">
                <a:solidFill>
                  <a:srgbClr val="50658E"/>
                </a:solidFill>
                <a:latin typeface="IBM Plex Sans"/>
                <a:ea typeface="IBM Plex Sans"/>
                <a:cs typeface="IBM Plex Sans"/>
              </a:endParaRPr>
            </a:p>
          </p:txBody>
        </p:sp>
      </p:grpSp>
      <p:grpSp>
        <p:nvGrpSpPr>
          <p:cNvPr id="51" name="node11"/>
          <p:cNvGrpSpPr/>
          <p:nvPr/>
        </p:nvGrpSpPr>
        <p:grpSpPr>
          <a:xfrm>
            <a:off x="9639300" y="3886200"/>
            <a:ext cx="1828800" cy="2057400"/>
            <a:chOff x="9639300" y="3886200"/>
            <a:chExt cx="1828800" cy="2057400"/>
          </a:xfrm>
        </p:grpSpPr>
        <p:sp>
          <p:nvSpPr>
            <p:cNvPr id="37" name="node11.container"/>
            <p:cNvSpPr/>
            <p:nvPr/>
          </p:nvSpPr>
          <p:spPr>
            <a:xfrm>
              <a:off x="9639300" y="3886200"/>
              <a:ext cx="1828800" cy="2057400"/>
            </a:xfrm>
            <a:prstGeom prst="rect">
              <a:avLst/>
            </a:prstGeom>
            <a:solidFill>
              <a:srgbClr val="E8EEF8"/>
            </a:solidFill>
            <a:ln>
              <a:noFill/>
            </a:ln>
          </p:spPr>
        </p:sp>
        <p:sp>
          <p:nvSpPr>
            <p:cNvPr id="38" name="node11.number"/>
            <p:cNvSpPr/>
            <p:nvPr/>
          </p:nvSpPr>
          <p:spPr>
            <a:xfrm>
              <a:off x="9791700" y="4038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08</a:t>
              </a:r>
              <a:endParaRPr lang="en-US" sz="1600" spc="0" kern="0" b="0" i="0" dirty="0">
                <a:solidFill>
                  <a:srgbClr val="0047FF"/>
                </a:solidFill>
                <a:latin typeface="IBM Plex Mono SemiBold"/>
                <a:ea typeface="IBM Plex Mono SemiBold"/>
                <a:cs typeface="IBM Plex Mono SemiBold"/>
              </a:endParaRPr>
            </a:p>
          </p:txBody>
        </p:sp>
        <p:sp>
          <p:nvSpPr>
            <p:cNvPr id="39" name="node11.title"/>
            <p:cNvSpPr/>
            <p:nvPr/>
          </p:nvSpPr>
          <p:spPr>
            <a:xfrm>
              <a:off x="10163175" y="4076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Exceptions</a:t>
              </a:r>
              <a:endParaRPr lang="en-US" sz="1200" spc="0" kern="0" b="0" i="0" dirty="0">
                <a:solidFill>
                  <a:srgbClr val="070154"/>
                </a:solidFill>
                <a:latin typeface="IBM Plex Sans"/>
                <a:ea typeface="IBM Plex Sans"/>
                <a:cs typeface="IBM Plex Sans"/>
              </a:endParaRPr>
            </a:p>
          </p:txBody>
        </p:sp>
        <p:sp>
          <p:nvSpPr>
            <p:cNvPr id="40" name="node11.body.item-001.paragraph"/>
            <p:cNvSpPr/>
            <p:nvPr/>
          </p:nvSpPr>
          <p:spPr>
            <a:xfrm>
              <a:off x="9791700" y="4457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Breaks reach the right owner the same day, with the supporting evidence attached.</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ource-11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FUTURE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Eight changes deliver the five-day close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a:t>
            </a:fld>
            <a:endParaRPr lang="en-US" sz="700" spc="0" kern="0" b="0" i="0" dirty="0">
              <a:solidFill>
                <a:srgbClr val="070154"/>
              </a:solidFill>
              <a:latin typeface="IBM Plex Mono SemiBold"/>
              <a:ea typeface="IBM Plex Mono SemiBold"/>
              <a:cs typeface="IBM Plex Mono SemiBold"/>
            </a:endParaRPr>
          </a:p>
        </p:txBody>
      </p:sp>
      <p:grpSp>
        <p:nvGrpSpPr>
          <p:cNvPr id="43" name="node01"/>
          <p:cNvGrpSpPr/>
          <p:nvPr/>
        </p:nvGrpSpPr>
        <p:grpSpPr>
          <a:xfrm>
            <a:off x="723900" y="1600200"/>
            <a:ext cx="2514600" cy="139700"/>
            <a:chOff x="723900" y="1600200"/>
            <a:chExt cx="2514600" cy="139700"/>
          </a:xfrm>
        </p:grpSpPr>
        <p:sp>
          <p:nvSpPr>
            <p:cNvPr id="6" name="node01.text"/>
            <p:cNvSpPr/>
            <p:nvPr/>
          </p:nvSpPr>
          <p:spPr>
            <a:xfrm>
              <a:off x="723900" y="1600200"/>
              <a:ext cx="25146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WHY IT MATTERS</a:t>
              </a:r>
              <a:endParaRPr lang="en-US" sz="900" spc="72" kern="0" b="0" i="0" dirty="0">
                <a:solidFill>
                  <a:srgbClr val="0047FF"/>
                </a:solidFill>
                <a:latin typeface="IBM Plex Mono SemiBold"/>
                <a:ea typeface="IBM Plex Mono SemiBold"/>
                <a:cs typeface="IBM Plex Mono SemiBold"/>
              </a:endParaRPr>
            </a:p>
          </p:txBody>
        </p:sp>
      </p:grpSp>
      <p:grpSp>
        <p:nvGrpSpPr>
          <p:cNvPr id="44" name="node02"/>
          <p:cNvGrpSpPr/>
          <p:nvPr/>
        </p:nvGrpSpPr>
        <p:grpSpPr>
          <a:xfrm>
            <a:off x="723900" y="1828800"/>
            <a:ext cx="2514600" cy="685800"/>
            <a:chOff x="723900" y="1828800"/>
            <a:chExt cx="2514600" cy="685800"/>
          </a:xfrm>
        </p:grpSpPr>
        <p:sp>
          <p:nvSpPr>
            <p:cNvPr id="7" name="node02.text"/>
            <p:cNvSpPr/>
            <p:nvPr/>
          </p:nvSpPr>
          <p:spPr>
            <a:xfrm>
              <a:off x="723900" y="1828800"/>
              <a:ext cx="2514600" cy="6858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 close that runs on rules</a:t>
              </a:r>
              <a:endParaRPr lang="en-US" sz="1600" spc="-16" kern="0" b="0" i="0" dirty="0">
                <a:solidFill>
                  <a:srgbClr val="070154"/>
                </a:solidFill>
                <a:latin typeface="IBM Plex Sans SemiBold"/>
                <a:ea typeface="IBM Plex Sans SemiBold"/>
                <a:cs typeface="IBM Plex Sans SemiBold"/>
              </a:endParaRPr>
            </a:p>
          </p:txBody>
        </p:sp>
      </p:grpSp>
      <p:grpSp>
        <p:nvGrpSpPr>
          <p:cNvPr id="45" name="node03"/>
          <p:cNvGrpSpPr/>
          <p:nvPr/>
        </p:nvGrpSpPr>
        <p:grpSpPr>
          <a:xfrm>
            <a:off x="723900" y="2743200"/>
            <a:ext cx="2514600" cy="647700"/>
            <a:chOff x="723900" y="2743200"/>
            <a:chExt cx="2514600" cy="647700"/>
          </a:xfrm>
        </p:grpSpPr>
        <p:sp>
          <p:nvSpPr>
            <p:cNvPr id="8" name="node03.text"/>
            <p:cNvSpPr/>
            <p:nvPr/>
          </p:nvSpPr>
          <p:spPr>
            <a:xfrm>
              <a:off x="723900" y="2743200"/>
              <a:ext cx="25146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takes 12 days because work waits for people. We resequence it so entries are checked as they post.</a:t>
              </a:r>
              <a:endParaRPr lang="en-US" sz="1200" spc="0" kern="0" b="0" i="0" dirty="0">
                <a:solidFill>
                  <a:srgbClr val="070154"/>
                </a:solidFill>
                <a:latin typeface="IBM Plex Sans"/>
                <a:ea typeface="IBM Plex Sans"/>
                <a:cs typeface="IBM Plex Sans"/>
              </a:endParaRPr>
            </a:p>
          </p:txBody>
        </p:sp>
      </p:grpSp>
      <p:grpSp>
        <p:nvGrpSpPr>
          <p:cNvPr id="46" name="node04"/>
          <p:cNvGrpSpPr/>
          <p:nvPr/>
        </p:nvGrpSpPr>
        <p:grpSpPr>
          <a:xfrm>
            <a:off x="3467100" y="1600200"/>
            <a:ext cx="8001000" cy="139700"/>
            <a:chOff x="3467100" y="1600200"/>
            <a:chExt cx="8001000" cy="139700"/>
          </a:xfrm>
        </p:grpSpPr>
        <p:sp>
          <p:nvSpPr>
            <p:cNvPr id="9" name="node04.text"/>
            <p:cNvSpPr/>
            <p:nvPr/>
          </p:nvSpPr>
          <p:spPr>
            <a:xfrm>
              <a:off x="3467100" y="1600200"/>
              <a:ext cx="80010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PROCESS</a:t>
              </a:r>
              <a:endParaRPr lang="en-US" sz="900" spc="72" kern="0" b="0" i="0" dirty="0">
                <a:solidFill>
                  <a:srgbClr val="0047FF"/>
                </a:solidFill>
                <a:latin typeface="IBM Plex Mono SemiBold"/>
                <a:ea typeface="IBM Plex Mono SemiBold"/>
                <a:cs typeface="IBM Plex Mono SemiBold"/>
              </a:endParaRPr>
            </a:p>
          </p:txBody>
        </p:sp>
      </p:grpSp>
      <p:grpSp>
        <p:nvGrpSpPr>
          <p:cNvPr id="47" name="node05"/>
          <p:cNvGrpSpPr/>
          <p:nvPr/>
        </p:nvGrpSpPr>
        <p:grpSpPr>
          <a:xfrm>
            <a:off x="3467100" y="3886200"/>
            <a:ext cx="8001000" cy="139700"/>
            <a:chOff x="3467100" y="3886200"/>
            <a:chExt cx="8001000" cy="139700"/>
          </a:xfrm>
        </p:grpSpPr>
        <p:sp>
          <p:nvSpPr>
            <p:cNvPr id="10" name="node05.text"/>
            <p:cNvSpPr/>
            <p:nvPr/>
          </p:nvSpPr>
          <p:spPr>
            <a:xfrm>
              <a:off x="3467100" y="3886200"/>
              <a:ext cx="80010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PEOPLE AND GOVERNANCE</a:t>
              </a:r>
              <a:endParaRPr lang="en-US" sz="900" spc="72" kern="0" b="0" i="0" dirty="0">
                <a:solidFill>
                  <a:srgbClr val="0047FF"/>
                </a:solidFill>
                <a:latin typeface="IBM Plex Mono SemiBold"/>
                <a:ea typeface="IBM Plex Mono SemiBold"/>
                <a:cs typeface="IBM Plex Mono SemiBold"/>
              </a:endParaRPr>
            </a:p>
          </p:txBody>
        </p:sp>
      </p:grpSp>
      <p:grpSp>
        <p:nvGrpSpPr>
          <p:cNvPr id="48" name="node06"/>
          <p:cNvGrpSpPr/>
          <p:nvPr/>
        </p:nvGrpSpPr>
        <p:grpSpPr>
          <a:xfrm>
            <a:off x="3467100" y="1828800"/>
            <a:ext cx="1828800" cy="1828800"/>
            <a:chOff x="3467100" y="1828800"/>
            <a:chExt cx="1828800" cy="1828800"/>
          </a:xfrm>
        </p:grpSpPr>
        <p:sp>
          <p:nvSpPr>
            <p:cNvPr id="11" name="node06.container"/>
            <p:cNvSpPr/>
            <p:nvPr/>
          </p:nvSpPr>
          <p:spPr>
            <a:xfrm>
              <a:off x="3467100" y="1828800"/>
              <a:ext cx="1828800" cy="1828800"/>
            </a:xfrm>
            <a:prstGeom prst="rect">
              <a:avLst/>
            </a:prstGeom>
            <a:solidFill>
              <a:srgbClr val="E8EEF8"/>
            </a:solidFill>
            <a:ln>
              <a:noFill/>
            </a:ln>
          </p:spPr>
        </p:sp>
        <p:sp>
          <p:nvSpPr>
            <p:cNvPr id="12" name="node06.number"/>
            <p:cNvSpPr/>
            <p:nvPr/>
          </p:nvSpPr>
          <p:spPr>
            <a:xfrm>
              <a:off x="3619500" y="1981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13" name="node06.title"/>
            <p:cNvSpPr/>
            <p:nvPr/>
          </p:nvSpPr>
          <p:spPr>
            <a:xfrm>
              <a:off x="3990975" y="20195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Reconcile</a:t>
              </a:r>
              <a:endParaRPr lang="en-US" sz="1200" spc="0" kern="0" b="0" i="0" dirty="0">
                <a:solidFill>
                  <a:srgbClr val="070154"/>
                </a:solidFill>
                <a:latin typeface="IBM Plex Sans"/>
                <a:ea typeface="IBM Plex Sans"/>
                <a:cs typeface="IBM Plex Sans"/>
              </a:endParaRPr>
            </a:p>
          </p:txBody>
        </p:sp>
        <p:sp>
          <p:nvSpPr>
            <p:cNvPr id="14" name="node06.body.item-001.paragraph"/>
            <p:cNvSpPr/>
            <p:nvPr/>
          </p:nvSpPr>
          <p:spPr>
            <a:xfrm>
              <a:off x="3619500" y="24003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template and owner for every balance-sheet account.</a:t>
              </a:r>
              <a:endParaRPr lang="en-US" sz="1200" spc="0" kern="0" b="0" i="0" dirty="0">
                <a:solidFill>
                  <a:srgbClr val="50658E"/>
                </a:solidFill>
                <a:latin typeface="IBM Plex Sans"/>
                <a:ea typeface="IBM Plex Sans"/>
                <a:cs typeface="IBM Plex Sans"/>
              </a:endParaRPr>
            </a:p>
          </p:txBody>
        </p:sp>
      </p:grpSp>
      <p:grpSp>
        <p:nvGrpSpPr>
          <p:cNvPr id="49" name="node07"/>
          <p:cNvGrpSpPr/>
          <p:nvPr/>
        </p:nvGrpSpPr>
        <p:grpSpPr>
          <a:xfrm>
            <a:off x="5524500" y="1828800"/>
            <a:ext cx="1828800" cy="1828800"/>
            <a:chOff x="5524500" y="1828800"/>
            <a:chExt cx="1828800" cy="1828800"/>
          </a:xfrm>
        </p:grpSpPr>
        <p:sp>
          <p:nvSpPr>
            <p:cNvPr id="15" name="node07.container"/>
            <p:cNvSpPr/>
            <p:nvPr/>
          </p:nvSpPr>
          <p:spPr>
            <a:xfrm>
              <a:off x="5524500" y="1828800"/>
              <a:ext cx="1828800" cy="1828800"/>
            </a:xfrm>
            <a:prstGeom prst="rect">
              <a:avLst/>
            </a:prstGeom>
            <a:solidFill>
              <a:srgbClr val="E8EEF8"/>
            </a:solidFill>
            <a:ln>
              <a:noFill/>
            </a:ln>
          </p:spPr>
        </p:sp>
        <p:sp>
          <p:nvSpPr>
            <p:cNvPr id="16" name="node07.number"/>
            <p:cNvSpPr/>
            <p:nvPr/>
          </p:nvSpPr>
          <p:spPr>
            <a:xfrm>
              <a:off x="5676900" y="1981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17" name="node07.title"/>
            <p:cNvSpPr/>
            <p:nvPr/>
          </p:nvSpPr>
          <p:spPr>
            <a:xfrm>
              <a:off x="6048375" y="20195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Matching</a:t>
              </a:r>
              <a:endParaRPr lang="en-US" sz="1200" spc="0" kern="0" b="0" i="0" dirty="0">
                <a:solidFill>
                  <a:srgbClr val="070154"/>
                </a:solidFill>
                <a:latin typeface="IBM Plex Sans"/>
                <a:ea typeface="IBM Plex Sans"/>
                <a:cs typeface="IBM Plex Sans"/>
              </a:endParaRPr>
            </a:p>
          </p:txBody>
        </p:sp>
        <p:sp>
          <p:nvSpPr>
            <p:cNvPr id="18" name="node07.body.item-001.paragraph"/>
            <p:cNvSpPr/>
            <p:nvPr/>
          </p:nvSpPr>
          <p:spPr>
            <a:xfrm>
              <a:off x="5676900" y="24003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Intercompany balances match overnight across eleven entities.</a:t>
              </a:r>
              <a:endParaRPr lang="en-US" sz="1200" spc="0" kern="0" b="0" i="0" dirty="0">
                <a:solidFill>
                  <a:srgbClr val="50658E"/>
                </a:solidFill>
                <a:latin typeface="IBM Plex Sans"/>
                <a:ea typeface="IBM Plex Sans"/>
                <a:cs typeface="IBM Plex Sans"/>
              </a:endParaRPr>
            </a:p>
          </p:txBody>
        </p:sp>
      </p:grpSp>
      <p:grpSp>
        <p:nvGrpSpPr>
          <p:cNvPr id="50" name="node08"/>
          <p:cNvGrpSpPr/>
          <p:nvPr/>
        </p:nvGrpSpPr>
        <p:grpSpPr>
          <a:xfrm>
            <a:off x="7581900" y="1828800"/>
            <a:ext cx="1828800" cy="1828800"/>
            <a:chOff x="7581900" y="1828800"/>
            <a:chExt cx="1828800" cy="1828800"/>
          </a:xfrm>
        </p:grpSpPr>
        <p:sp>
          <p:nvSpPr>
            <p:cNvPr id="19" name="node08.container"/>
            <p:cNvSpPr/>
            <p:nvPr/>
          </p:nvSpPr>
          <p:spPr>
            <a:xfrm>
              <a:off x="7581900" y="1828800"/>
              <a:ext cx="1828800" cy="1828800"/>
            </a:xfrm>
            <a:prstGeom prst="rect">
              <a:avLst/>
            </a:prstGeom>
            <a:solidFill>
              <a:srgbClr val="E8EEF8"/>
            </a:solidFill>
            <a:ln>
              <a:noFill/>
            </a:ln>
          </p:spPr>
        </p:sp>
        <p:sp>
          <p:nvSpPr>
            <p:cNvPr id="20" name="node08.number"/>
            <p:cNvSpPr/>
            <p:nvPr/>
          </p:nvSpPr>
          <p:spPr>
            <a:xfrm>
              <a:off x="7734300" y="1981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07</a:t>
              </a:r>
              <a:endParaRPr lang="en-US" sz="1600" spc="0" kern="0" b="0" i="0" dirty="0">
                <a:solidFill>
                  <a:srgbClr val="0047FF"/>
                </a:solidFill>
                <a:latin typeface="IBM Plex Mono SemiBold"/>
                <a:ea typeface="IBM Plex Mono SemiBold"/>
                <a:cs typeface="IBM Plex Mono SemiBold"/>
              </a:endParaRPr>
            </a:p>
          </p:txBody>
        </p:sp>
        <p:sp>
          <p:nvSpPr>
            <p:cNvPr id="21" name="node08.title"/>
            <p:cNvSpPr/>
            <p:nvPr/>
          </p:nvSpPr>
          <p:spPr>
            <a:xfrm>
              <a:off x="8105775" y="20195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Calendar</a:t>
              </a:r>
              <a:endParaRPr lang="en-US" sz="1200" spc="0" kern="0" b="0" i="0" dirty="0">
                <a:solidFill>
                  <a:srgbClr val="070154"/>
                </a:solidFill>
                <a:latin typeface="IBM Plex Sans"/>
                <a:ea typeface="IBM Plex Sans"/>
                <a:cs typeface="IBM Plex Sans"/>
              </a:endParaRPr>
            </a:p>
          </p:txBody>
        </p:sp>
        <p:sp>
          <p:nvSpPr>
            <p:cNvPr id="22" name="node08.body.item-001.paragraph"/>
            <p:cNvSpPr/>
            <p:nvPr/>
          </p:nvSpPr>
          <p:spPr>
            <a:xfrm>
              <a:off x="7734300" y="24003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calendar for 14 business units, built backward from the day-five target.</a:t>
              </a:r>
              <a:endParaRPr lang="en-US" sz="1200" spc="0" kern="0" b="0" i="0" dirty="0">
                <a:solidFill>
                  <a:srgbClr val="50658E"/>
                </a:solidFill>
                <a:latin typeface="IBM Plex Sans"/>
                <a:ea typeface="IBM Plex Sans"/>
                <a:cs typeface="IBM Plex Sans"/>
              </a:endParaRPr>
            </a:p>
          </p:txBody>
        </p:sp>
      </p:grpSp>
      <p:grpSp>
        <p:nvGrpSpPr>
          <p:cNvPr id="51" name="node09"/>
          <p:cNvGrpSpPr/>
          <p:nvPr/>
        </p:nvGrpSpPr>
        <p:grpSpPr>
          <a:xfrm>
            <a:off x="9639300" y="1828800"/>
            <a:ext cx="1828800" cy="1828800"/>
            <a:chOff x="9639300" y="1828800"/>
            <a:chExt cx="1828800" cy="1828800"/>
          </a:xfrm>
        </p:grpSpPr>
        <p:sp>
          <p:nvSpPr>
            <p:cNvPr id="23" name="node09.container"/>
            <p:cNvSpPr/>
            <p:nvPr/>
          </p:nvSpPr>
          <p:spPr>
            <a:xfrm>
              <a:off x="9639300" y="1828800"/>
              <a:ext cx="1828800" cy="1828800"/>
            </a:xfrm>
            <a:prstGeom prst="rect">
              <a:avLst/>
            </a:prstGeom>
            <a:solidFill>
              <a:srgbClr val="E8EEF8"/>
            </a:solidFill>
            <a:ln>
              <a:noFill/>
            </a:ln>
          </p:spPr>
        </p:sp>
        <p:sp>
          <p:nvSpPr>
            <p:cNvPr id="24" name="node09.number"/>
            <p:cNvSpPr/>
            <p:nvPr/>
          </p:nvSpPr>
          <p:spPr>
            <a:xfrm>
              <a:off x="9791700" y="1981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08</a:t>
              </a:r>
              <a:endParaRPr lang="en-US" sz="1600" spc="0" kern="0" b="0" i="0" dirty="0">
                <a:solidFill>
                  <a:srgbClr val="0047FF"/>
                </a:solidFill>
                <a:latin typeface="IBM Plex Mono SemiBold"/>
                <a:ea typeface="IBM Plex Mono SemiBold"/>
                <a:cs typeface="IBM Plex Mono SemiBold"/>
              </a:endParaRPr>
            </a:p>
          </p:txBody>
        </p:sp>
        <p:sp>
          <p:nvSpPr>
            <p:cNvPr id="25" name="node09.title"/>
            <p:cNvSpPr/>
            <p:nvPr/>
          </p:nvSpPr>
          <p:spPr>
            <a:xfrm>
              <a:off x="10163175" y="20195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Exceptions</a:t>
              </a:r>
              <a:endParaRPr lang="en-US" sz="1200" spc="0" kern="0" b="0" i="0" dirty="0">
                <a:solidFill>
                  <a:srgbClr val="070154"/>
                </a:solidFill>
                <a:latin typeface="IBM Plex Sans"/>
                <a:ea typeface="IBM Plex Sans"/>
                <a:cs typeface="IBM Plex Sans"/>
              </a:endParaRPr>
            </a:p>
          </p:txBody>
        </p:sp>
        <p:sp>
          <p:nvSpPr>
            <p:cNvPr id="26" name="node09.body.item-001.paragraph"/>
            <p:cNvSpPr/>
            <p:nvPr/>
          </p:nvSpPr>
          <p:spPr>
            <a:xfrm>
              <a:off x="9791700" y="24003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Breaks reach the right owner the same day, with the supporting evidence attached.</a:t>
              </a:r>
              <a:endParaRPr lang="en-US" sz="1200" spc="0" kern="0" b="0" i="0" dirty="0">
                <a:solidFill>
                  <a:srgbClr val="50658E"/>
                </a:solidFill>
                <a:latin typeface="IBM Plex Sans"/>
                <a:ea typeface="IBM Plex Sans"/>
                <a:cs typeface="IBM Plex Sans"/>
              </a:endParaRPr>
            </a:p>
          </p:txBody>
        </p:sp>
      </p:grpSp>
      <p:grpSp>
        <p:nvGrpSpPr>
          <p:cNvPr id="52" name="node10"/>
          <p:cNvGrpSpPr/>
          <p:nvPr/>
        </p:nvGrpSpPr>
        <p:grpSpPr>
          <a:xfrm>
            <a:off x="3467100" y="4114800"/>
            <a:ext cx="1828800" cy="1828800"/>
            <a:chOff x="3467100" y="4114800"/>
            <a:chExt cx="1828800" cy="1828800"/>
          </a:xfrm>
        </p:grpSpPr>
        <p:sp>
          <p:nvSpPr>
            <p:cNvPr id="27" name="node10.container"/>
            <p:cNvSpPr/>
            <p:nvPr/>
          </p:nvSpPr>
          <p:spPr>
            <a:xfrm>
              <a:off x="3467100" y="4114800"/>
              <a:ext cx="1828800" cy="1828800"/>
            </a:xfrm>
            <a:prstGeom prst="rect">
              <a:avLst/>
            </a:prstGeom>
            <a:solidFill>
              <a:srgbClr val="E8EEF8"/>
            </a:solidFill>
            <a:ln>
              <a:noFill/>
            </a:ln>
          </p:spPr>
        </p:sp>
        <p:sp>
          <p:nvSpPr>
            <p:cNvPr id="28" name="node10.number"/>
            <p:cNvSpPr/>
            <p:nvPr/>
          </p:nvSpPr>
          <p:spPr>
            <a:xfrm>
              <a:off x="3619500" y="4267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29" name="node10.title"/>
            <p:cNvSpPr/>
            <p:nvPr/>
          </p:nvSpPr>
          <p:spPr>
            <a:xfrm>
              <a:off x="3990975" y="43055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Early review</a:t>
              </a:r>
              <a:endParaRPr lang="en-US" sz="1200" spc="0" kern="0" b="0" i="0" dirty="0">
                <a:solidFill>
                  <a:srgbClr val="070154"/>
                </a:solidFill>
                <a:latin typeface="IBM Plex Sans"/>
                <a:ea typeface="IBM Plex Sans"/>
                <a:cs typeface="IBM Plex Sans"/>
              </a:endParaRPr>
            </a:p>
          </p:txBody>
        </p:sp>
        <p:sp>
          <p:nvSpPr>
            <p:cNvPr id="30" name="node10.body.item-001.paragraph"/>
            <p:cNvSpPr/>
            <p:nvPr/>
          </p:nvSpPr>
          <p:spPr>
            <a:xfrm>
              <a:off x="3619500" y="46863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Controllers review entries as they post, not in one push on day nine.</a:t>
              </a:r>
              <a:endParaRPr lang="en-US" sz="1200" spc="0" kern="0" b="0" i="0" dirty="0">
                <a:solidFill>
                  <a:srgbClr val="50658E"/>
                </a:solidFill>
                <a:latin typeface="IBM Plex Sans"/>
                <a:ea typeface="IBM Plex Sans"/>
                <a:cs typeface="IBM Plex Sans"/>
              </a:endParaRPr>
            </a:p>
          </p:txBody>
        </p:sp>
      </p:grpSp>
      <p:grpSp>
        <p:nvGrpSpPr>
          <p:cNvPr id="53" name="node11"/>
          <p:cNvGrpSpPr/>
          <p:nvPr/>
        </p:nvGrpSpPr>
        <p:grpSpPr>
          <a:xfrm>
            <a:off x="5524500" y="4114800"/>
            <a:ext cx="1828800" cy="1828800"/>
            <a:chOff x="5524500" y="4114800"/>
            <a:chExt cx="1828800" cy="1828800"/>
          </a:xfrm>
        </p:grpSpPr>
        <p:sp>
          <p:nvSpPr>
            <p:cNvPr id="31" name="node11.container"/>
            <p:cNvSpPr/>
            <p:nvPr/>
          </p:nvSpPr>
          <p:spPr>
            <a:xfrm>
              <a:off x="5524500" y="4114800"/>
              <a:ext cx="1828800" cy="1828800"/>
            </a:xfrm>
            <a:prstGeom prst="rect">
              <a:avLst/>
            </a:prstGeom>
            <a:solidFill>
              <a:srgbClr val="E8EEF8"/>
            </a:solidFill>
            <a:ln>
              <a:noFill/>
            </a:ln>
          </p:spPr>
        </p:sp>
        <p:sp>
          <p:nvSpPr>
            <p:cNvPr id="32" name="node11.number"/>
            <p:cNvSpPr/>
            <p:nvPr/>
          </p:nvSpPr>
          <p:spPr>
            <a:xfrm>
              <a:off x="5676900" y="4267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04</a:t>
              </a:r>
              <a:endParaRPr lang="en-US" sz="1600" spc="0" kern="0" b="0" i="0" dirty="0">
                <a:solidFill>
                  <a:srgbClr val="0047FF"/>
                </a:solidFill>
                <a:latin typeface="IBM Plex Mono SemiBold"/>
                <a:ea typeface="IBM Plex Mono SemiBold"/>
                <a:cs typeface="IBM Plex Mono SemiBold"/>
              </a:endParaRPr>
            </a:p>
          </p:txBody>
        </p:sp>
        <p:sp>
          <p:nvSpPr>
            <p:cNvPr id="33" name="node11.title"/>
            <p:cNvSpPr/>
            <p:nvPr/>
          </p:nvSpPr>
          <p:spPr>
            <a:xfrm>
              <a:off x="6048375" y="43055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Ownership</a:t>
              </a:r>
              <a:endParaRPr lang="en-US" sz="1200" spc="0" kern="0" b="0" i="0" dirty="0">
                <a:solidFill>
                  <a:srgbClr val="070154"/>
                </a:solidFill>
                <a:latin typeface="IBM Plex Sans"/>
                <a:ea typeface="IBM Plex Sans"/>
                <a:cs typeface="IBM Plex Sans"/>
              </a:endParaRPr>
            </a:p>
          </p:txBody>
        </p:sp>
        <p:sp>
          <p:nvSpPr>
            <p:cNvPr id="34" name="node11.body.item-001.paragraph"/>
            <p:cNvSpPr/>
            <p:nvPr/>
          </p:nvSpPr>
          <p:spPr>
            <a:xfrm>
              <a:off x="5676900" y="46863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Every close task has a named owner, a due time and an escalation path.</a:t>
              </a:r>
              <a:endParaRPr lang="en-US" sz="1200" spc="0" kern="0" b="0" i="0" dirty="0">
                <a:solidFill>
                  <a:srgbClr val="50658E"/>
                </a:solidFill>
                <a:latin typeface="IBM Plex Sans"/>
                <a:ea typeface="IBM Plex Sans"/>
                <a:cs typeface="IBM Plex Sans"/>
              </a:endParaRPr>
            </a:p>
          </p:txBody>
        </p:sp>
      </p:grpSp>
      <p:grpSp>
        <p:nvGrpSpPr>
          <p:cNvPr id="54" name="node12"/>
          <p:cNvGrpSpPr/>
          <p:nvPr/>
        </p:nvGrpSpPr>
        <p:grpSpPr>
          <a:xfrm>
            <a:off x="7581900" y="4114800"/>
            <a:ext cx="1828800" cy="1828800"/>
            <a:chOff x="7581900" y="4114800"/>
            <a:chExt cx="1828800" cy="1828800"/>
          </a:xfrm>
        </p:grpSpPr>
        <p:sp>
          <p:nvSpPr>
            <p:cNvPr id="35" name="node12.container"/>
            <p:cNvSpPr/>
            <p:nvPr/>
          </p:nvSpPr>
          <p:spPr>
            <a:xfrm>
              <a:off x="7581900" y="4114800"/>
              <a:ext cx="1828800" cy="1828800"/>
            </a:xfrm>
            <a:prstGeom prst="rect">
              <a:avLst/>
            </a:prstGeom>
            <a:solidFill>
              <a:srgbClr val="E8EEF8"/>
            </a:solidFill>
            <a:ln>
              <a:noFill/>
            </a:ln>
          </p:spPr>
        </p:sp>
        <p:sp>
          <p:nvSpPr>
            <p:cNvPr id="36" name="node12.number"/>
            <p:cNvSpPr/>
            <p:nvPr/>
          </p:nvSpPr>
          <p:spPr>
            <a:xfrm>
              <a:off x="7734300" y="4267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05</a:t>
              </a:r>
              <a:endParaRPr lang="en-US" sz="1600" spc="0" kern="0" b="0" i="0" dirty="0">
                <a:solidFill>
                  <a:srgbClr val="0047FF"/>
                </a:solidFill>
                <a:latin typeface="IBM Plex Mono SemiBold"/>
                <a:ea typeface="IBM Plex Mono SemiBold"/>
                <a:cs typeface="IBM Plex Mono SemiBold"/>
              </a:endParaRPr>
            </a:p>
          </p:txBody>
        </p:sp>
        <p:sp>
          <p:nvSpPr>
            <p:cNvPr id="37" name="node12.title"/>
            <p:cNvSpPr/>
            <p:nvPr/>
          </p:nvSpPr>
          <p:spPr>
            <a:xfrm>
              <a:off x="8105775" y="43055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Flash report</a:t>
              </a:r>
              <a:endParaRPr lang="en-US" sz="1200" spc="0" kern="0" b="0" i="0" dirty="0">
                <a:solidFill>
                  <a:srgbClr val="070154"/>
                </a:solidFill>
                <a:latin typeface="IBM Plex Sans"/>
                <a:ea typeface="IBM Plex Sans"/>
                <a:cs typeface="IBM Plex Sans"/>
              </a:endParaRPr>
            </a:p>
          </p:txBody>
        </p:sp>
        <p:sp>
          <p:nvSpPr>
            <p:cNvPr id="38" name="node12.body.item-001.paragraph"/>
            <p:cNvSpPr/>
            <p:nvPr/>
          </p:nvSpPr>
          <p:spPr>
            <a:xfrm>
              <a:off x="7734300" y="46863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Flash results are ready on day three and the full package on day five.</a:t>
              </a:r>
              <a:endParaRPr lang="en-US" sz="1200" spc="0" kern="0" b="0" i="0" dirty="0">
                <a:solidFill>
                  <a:srgbClr val="50658E"/>
                </a:solidFill>
                <a:latin typeface="IBM Plex Sans"/>
                <a:ea typeface="IBM Plex Sans"/>
                <a:cs typeface="IBM Plex Sans"/>
              </a:endParaRPr>
            </a:p>
          </p:txBody>
        </p:sp>
      </p:grpSp>
      <p:grpSp>
        <p:nvGrpSpPr>
          <p:cNvPr id="55" name="node13"/>
          <p:cNvGrpSpPr/>
          <p:nvPr/>
        </p:nvGrpSpPr>
        <p:grpSpPr>
          <a:xfrm>
            <a:off x="9639300" y="4114800"/>
            <a:ext cx="1828800" cy="1828800"/>
            <a:chOff x="9639300" y="4114800"/>
            <a:chExt cx="1828800" cy="1828800"/>
          </a:xfrm>
        </p:grpSpPr>
        <p:sp>
          <p:nvSpPr>
            <p:cNvPr id="39" name="node13.container"/>
            <p:cNvSpPr/>
            <p:nvPr/>
          </p:nvSpPr>
          <p:spPr>
            <a:xfrm>
              <a:off x="9639300" y="4114800"/>
              <a:ext cx="1828800" cy="1828800"/>
            </a:xfrm>
            <a:prstGeom prst="rect">
              <a:avLst/>
            </a:prstGeom>
            <a:solidFill>
              <a:srgbClr val="E8EEF8"/>
            </a:solidFill>
            <a:ln>
              <a:noFill/>
            </a:ln>
          </p:spPr>
        </p:sp>
        <p:sp>
          <p:nvSpPr>
            <p:cNvPr id="40" name="node13.number"/>
            <p:cNvSpPr/>
            <p:nvPr/>
          </p:nvSpPr>
          <p:spPr>
            <a:xfrm>
              <a:off x="9791700" y="4267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06</a:t>
              </a:r>
              <a:endParaRPr lang="en-US" sz="1600" spc="0" kern="0" b="0" i="0" dirty="0">
                <a:solidFill>
                  <a:srgbClr val="0047FF"/>
                </a:solidFill>
                <a:latin typeface="IBM Plex Mono SemiBold"/>
                <a:ea typeface="IBM Plex Mono SemiBold"/>
                <a:cs typeface="IBM Plex Mono SemiBold"/>
              </a:endParaRPr>
            </a:p>
          </p:txBody>
        </p:sp>
        <p:sp>
          <p:nvSpPr>
            <p:cNvPr id="41" name="node13.title"/>
            <p:cNvSpPr/>
            <p:nvPr/>
          </p:nvSpPr>
          <p:spPr>
            <a:xfrm>
              <a:off x="10163175" y="43055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Controls</a:t>
              </a:r>
              <a:endParaRPr lang="en-US" sz="1200" spc="0" kern="0" b="0" i="0" dirty="0">
                <a:solidFill>
                  <a:srgbClr val="070154"/>
                </a:solidFill>
                <a:latin typeface="IBM Plex Sans"/>
                <a:ea typeface="IBM Plex Sans"/>
                <a:cs typeface="IBM Plex Sans"/>
              </a:endParaRPr>
            </a:p>
          </p:txBody>
        </p:sp>
        <p:sp>
          <p:nvSpPr>
            <p:cNvPr id="42" name="node13.body.item-001.paragraph"/>
            <p:cNvSpPr/>
            <p:nvPr/>
          </p:nvSpPr>
          <p:spPr>
            <a:xfrm>
              <a:off x="9791700" y="46863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Evidence is captured as work happens, so audit requests stop reopening the close.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ource-11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FUTURE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groups of change deliver the five-day close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1600200"/>
            <a:ext cx="2286000" cy="139700"/>
            <a:chOff x="723900" y="1600200"/>
            <a:chExt cx="2286000" cy="139700"/>
          </a:xfrm>
        </p:grpSpPr>
        <p:sp>
          <p:nvSpPr>
            <p:cNvPr id="6" name="node01.text"/>
            <p:cNvSpPr/>
            <p:nvPr/>
          </p:nvSpPr>
          <p:spPr>
            <a:xfrm>
              <a:off x="723900" y="1600200"/>
              <a:ext cx="22860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WHY IT MATTERS</a:t>
              </a:r>
              <a:endParaRPr lang="en-US" sz="900" spc="72" kern="0" b="0" i="0" dirty="0">
                <a:solidFill>
                  <a:srgbClr val="0047FF"/>
                </a:solidFill>
                <a:latin typeface="IBM Plex Mono SemiBold"/>
                <a:ea typeface="IBM Plex Mono SemiBold"/>
                <a:cs typeface="IBM Plex Mono SemiBold"/>
              </a:endParaRPr>
            </a:p>
          </p:txBody>
        </p:sp>
      </p:grpSp>
      <p:grpSp>
        <p:nvGrpSpPr>
          <p:cNvPr id="50" name="node02"/>
          <p:cNvGrpSpPr/>
          <p:nvPr/>
        </p:nvGrpSpPr>
        <p:grpSpPr>
          <a:xfrm>
            <a:off x="723900" y="1828800"/>
            <a:ext cx="2286000" cy="685800"/>
            <a:chOff x="723900" y="1828800"/>
            <a:chExt cx="2286000" cy="685800"/>
          </a:xfrm>
        </p:grpSpPr>
        <p:sp>
          <p:nvSpPr>
            <p:cNvPr id="7" name="node02.text"/>
            <p:cNvSpPr/>
            <p:nvPr/>
          </p:nvSpPr>
          <p:spPr>
            <a:xfrm>
              <a:off x="723900" y="1828800"/>
              <a:ext cx="2286000" cy="6858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 close that runs on rules</a:t>
              </a:r>
              <a:endParaRPr lang="en-US" sz="1600" spc="-16" kern="0" b="0" i="0" dirty="0">
                <a:solidFill>
                  <a:srgbClr val="070154"/>
                </a:solidFill>
                <a:latin typeface="IBM Plex Sans SemiBold"/>
                <a:ea typeface="IBM Plex Sans SemiBold"/>
                <a:cs typeface="IBM Plex Sans SemiBold"/>
              </a:endParaRPr>
            </a:p>
          </p:txBody>
        </p:sp>
      </p:grpSp>
      <p:grpSp>
        <p:nvGrpSpPr>
          <p:cNvPr id="51" name="node03"/>
          <p:cNvGrpSpPr/>
          <p:nvPr/>
        </p:nvGrpSpPr>
        <p:grpSpPr>
          <a:xfrm>
            <a:off x="723900" y="2743200"/>
            <a:ext cx="2286000" cy="863600"/>
            <a:chOff x="723900" y="2743200"/>
            <a:chExt cx="2286000" cy="863600"/>
          </a:xfrm>
        </p:grpSpPr>
        <p:sp>
          <p:nvSpPr>
            <p:cNvPr id="8" name="node03.text"/>
            <p:cNvSpPr/>
            <p:nvPr/>
          </p:nvSpPr>
          <p:spPr>
            <a:xfrm>
              <a:off x="723900" y="2743200"/>
              <a:ext cx="2286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takes 12 days because work waits for people. We resequence it so entries are checked as they post.</a:t>
              </a:r>
              <a:endParaRPr lang="en-US" sz="1200" spc="0" kern="0" b="0" i="0" dirty="0">
                <a:solidFill>
                  <a:srgbClr val="070154"/>
                </a:solidFill>
                <a:latin typeface="IBM Plex Sans"/>
                <a:ea typeface="IBM Plex Sans"/>
                <a:cs typeface="IBM Plex Sans"/>
              </a:endParaRPr>
            </a:p>
          </p:txBody>
        </p:sp>
      </p:grpSp>
      <p:grpSp>
        <p:nvGrpSpPr>
          <p:cNvPr id="52" name="node04"/>
          <p:cNvGrpSpPr/>
          <p:nvPr/>
        </p:nvGrpSpPr>
        <p:grpSpPr>
          <a:xfrm>
            <a:off x="3238500" y="1600200"/>
            <a:ext cx="3886200" cy="139700"/>
            <a:chOff x="3238500" y="1600200"/>
            <a:chExt cx="3886200" cy="139700"/>
          </a:xfrm>
        </p:grpSpPr>
        <p:sp>
          <p:nvSpPr>
            <p:cNvPr id="9" name="node04.text"/>
            <p:cNvSpPr/>
            <p:nvPr/>
          </p:nvSpPr>
          <p:spPr>
            <a:xfrm>
              <a:off x="3238500" y="1600200"/>
              <a:ext cx="38862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CALENDAR</a:t>
              </a:r>
              <a:endParaRPr lang="en-US" sz="900" spc="72" kern="0" b="0" i="0" dirty="0">
                <a:solidFill>
                  <a:srgbClr val="0047FF"/>
                </a:solidFill>
                <a:latin typeface="IBM Plex Mono SemiBold"/>
                <a:ea typeface="IBM Plex Mono SemiBold"/>
                <a:cs typeface="IBM Plex Mono SemiBold"/>
              </a:endParaRPr>
            </a:p>
          </p:txBody>
        </p:sp>
      </p:grpSp>
      <p:sp>
        <p:nvSpPr>
          <p:cNvPr id="10" name="node05"/>
          <p:cNvSpPr/>
          <p:nvPr/>
        </p:nvSpPr>
        <p:spPr>
          <a:xfrm>
            <a:off x="3238500" y="1828800"/>
            <a:ext cx="3886200" cy="9525"/>
          </a:xfrm>
          <a:prstGeom prst="rect">
            <a:avLst/>
          </a:prstGeom>
          <a:solidFill>
            <a:srgbClr val="070154"/>
          </a:solidFill>
          <a:ln>
            <a:noFill/>
          </a:ln>
        </p:spPr>
      </p:sp>
      <p:grpSp>
        <p:nvGrpSpPr>
          <p:cNvPr id="53" name="node06"/>
          <p:cNvGrpSpPr/>
          <p:nvPr/>
        </p:nvGrpSpPr>
        <p:grpSpPr>
          <a:xfrm>
            <a:off x="3238500" y="2057400"/>
            <a:ext cx="1828800" cy="1600200"/>
            <a:chOff x="3238500" y="2057400"/>
            <a:chExt cx="1828800" cy="1600200"/>
          </a:xfrm>
        </p:grpSpPr>
        <p:sp>
          <p:nvSpPr>
            <p:cNvPr id="11" name="node06.container"/>
            <p:cNvSpPr/>
            <p:nvPr/>
          </p:nvSpPr>
          <p:spPr>
            <a:xfrm>
              <a:off x="3238500" y="2057400"/>
              <a:ext cx="1828800" cy="1600200"/>
            </a:xfrm>
            <a:prstGeom prst="rect">
              <a:avLst/>
            </a:prstGeom>
            <a:solidFill>
              <a:srgbClr val="E8EEF8"/>
            </a:solidFill>
            <a:ln>
              <a:noFill/>
            </a:ln>
          </p:spPr>
        </p:sp>
        <p:sp>
          <p:nvSpPr>
            <p:cNvPr id="12" name="node06.number"/>
            <p:cNvSpPr/>
            <p:nvPr/>
          </p:nvSpPr>
          <p:spPr>
            <a:xfrm>
              <a:off x="3390900" y="2209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13" name="node06.title"/>
            <p:cNvSpPr/>
            <p:nvPr/>
          </p:nvSpPr>
          <p:spPr>
            <a:xfrm>
              <a:off x="3762375" y="22481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Calendar</a:t>
              </a:r>
              <a:endParaRPr lang="en-US" sz="1200" spc="0" kern="0" b="0" i="0" dirty="0">
                <a:solidFill>
                  <a:srgbClr val="070154"/>
                </a:solidFill>
                <a:latin typeface="IBM Plex Sans"/>
                <a:ea typeface="IBM Plex Sans"/>
                <a:cs typeface="IBM Plex Sans"/>
              </a:endParaRPr>
            </a:p>
          </p:txBody>
        </p:sp>
        <p:sp>
          <p:nvSpPr>
            <p:cNvPr id="14" name="node06.body.item-001.paragraph"/>
            <p:cNvSpPr/>
            <p:nvPr/>
          </p:nvSpPr>
          <p:spPr>
            <a:xfrm>
              <a:off x="3390900" y="2628900"/>
              <a:ext cx="1524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calendar, built back from day five.</a:t>
              </a:r>
              <a:endParaRPr lang="en-US" sz="1200" spc="0" kern="0" b="0" i="0" dirty="0">
                <a:solidFill>
                  <a:srgbClr val="50658E"/>
                </a:solidFill>
                <a:latin typeface="IBM Plex Sans"/>
                <a:ea typeface="IBM Plex Sans"/>
                <a:cs typeface="IBM Plex Sans"/>
              </a:endParaRPr>
            </a:p>
          </p:txBody>
        </p:sp>
      </p:grpSp>
      <p:grpSp>
        <p:nvGrpSpPr>
          <p:cNvPr id="54" name="node07"/>
          <p:cNvGrpSpPr/>
          <p:nvPr/>
        </p:nvGrpSpPr>
        <p:grpSpPr>
          <a:xfrm>
            <a:off x="5295900" y="2057400"/>
            <a:ext cx="1828800" cy="1600200"/>
            <a:chOff x="5295900" y="2057400"/>
            <a:chExt cx="1828800" cy="1600200"/>
          </a:xfrm>
        </p:grpSpPr>
        <p:sp>
          <p:nvSpPr>
            <p:cNvPr id="15" name="node07.container"/>
            <p:cNvSpPr/>
            <p:nvPr/>
          </p:nvSpPr>
          <p:spPr>
            <a:xfrm>
              <a:off x="5295900" y="2057400"/>
              <a:ext cx="1828800" cy="1600200"/>
            </a:xfrm>
            <a:prstGeom prst="rect">
              <a:avLst/>
            </a:prstGeom>
            <a:solidFill>
              <a:srgbClr val="E8EEF8"/>
            </a:solidFill>
            <a:ln>
              <a:noFill/>
            </a:ln>
          </p:spPr>
        </p:sp>
        <p:sp>
          <p:nvSpPr>
            <p:cNvPr id="16" name="node07.number"/>
            <p:cNvSpPr/>
            <p:nvPr/>
          </p:nvSpPr>
          <p:spPr>
            <a:xfrm>
              <a:off x="5448300" y="2209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17" name="node07.title"/>
            <p:cNvSpPr/>
            <p:nvPr/>
          </p:nvSpPr>
          <p:spPr>
            <a:xfrm>
              <a:off x="5819775" y="22481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Exceptions</a:t>
              </a:r>
              <a:endParaRPr lang="en-US" sz="1200" spc="0" kern="0" b="0" i="0" dirty="0">
                <a:solidFill>
                  <a:srgbClr val="070154"/>
                </a:solidFill>
                <a:latin typeface="IBM Plex Sans"/>
                <a:ea typeface="IBM Plex Sans"/>
                <a:cs typeface="IBM Plex Sans"/>
              </a:endParaRPr>
            </a:p>
          </p:txBody>
        </p:sp>
        <p:sp>
          <p:nvSpPr>
            <p:cNvPr id="18" name="node07.body.item-001.paragraph"/>
            <p:cNvSpPr/>
            <p:nvPr/>
          </p:nvSpPr>
          <p:spPr>
            <a:xfrm>
              <a:off x="5448300" y="2628900"/>
              <a:ext cx="1524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Breaks reach an owner the same day.</a:t>
              </a:r>
              <a:endParaRPr lang="en-US" sz="1200" spc="0" kern="0" b="0" i="0" dirty="0">
                <a:solidFill>
                  <a:srgbClr val="50658E"/>
                </a:solidFill>
                <a:latin typeface="IBM Plex Sans"/>
                <a:ea typeface="IBM Plex Sans"/>
                <a:cs typeface="IBM Plex Sans"/>
              </a:endParaRPr>
            </a:p>
          </p:txBody>
        </p:sp>
      </p:grpSp>
      <p:grpSp>
        <p:nvGrpSpPr>
          <p:cNvPr id="55" name="node08"/>
          <p:cNvGrpSpPr/>
          <p:nvPr/>
        </p:nvGrpSpPr>
        <p:grpSpPr>
          <a:xfrm>
            <a:off x="7581900" y="1600200"/>
            <a:ext cx="3886200" cy="139700"/>
            <a:chOff x="7581900" y="1600200"/>
            <a:chExt cx="3886200" cy="139700"/>
          </a:xfrm>
        </p:grpSpPr>
        <p:sp>
          <p:nvSpPr>
            <p:cNvPr id="19" name="node08.text"/>
            <p:cNvSpPr/>
            <p:nvPr/>
          </p:nvSpPr>
          <p:spPr>
            <a:xfrm>
              <a:off x="7581900" y="1600200"/>
              <a:ext cx="38862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RECONCILIATION</a:t>
              </a:r>
              <a:endParaRPr lang="en-US" sz="900" spc="72" kern="0" b="0" i="0" dirty="0">
                <a:solidFill>
                  <a:srgbClr val="0047FF"/>
                </a:solidFill>
                <a:latin typeface="IBM Plex Mono SemiBold"/>
                <a:ea typeface="IBM Plex Mono SemiBold"/>
                <a:cs typeface="IBM Plex Mono SemiBold"/>
              </a:endParaRPr>
            </a:p>
          </p:txBody>
        </p:sp>
      </p:grpSp>
      <p:sp>
        <p:nvSpPr>
          <p:cNvPr id="20" name="node09"/>
          <p:cNvSpPr/>
          <p:nvPr/>
        </p:nvSpPr>
        <p:spPr>
          <a:xfrm>
            <a:off x="7581900" y="1828800"/>
            <a:ext cx="3886200" cy="9525"/>
          </a:xfrm>
          <a:prstGeom prst="rect">
            <a:avLst/>
          </a:prstGeom>
          <a:solidFill>
            <a:srgbClr val="070154"/>
          </a:solidFill>
          <a:ln>
            <a:noFill/>
          </a:ln>
        </p:spPr>
      </p:sp>
      <p:grpSp>
        <p:nvGrpSpPr>
          <p:cNvPr id="56" name="node10"/>
          <p:cNvGrpSpPr/>
          <p:nvPr/>
        </p:nvGrpSpPr>
        <p:grpSpPr>
          <a:xfrm>
            <a:off x="7581900" y="2057400"/>
            <a:ext cx="1828800" cy="1600200"/>
            <a:chOff x="7581900" y="2057400"/>
            <a:chExt cx="1828800" cy="1600200"/>
          </a:xfrm>
        </p:grpSpPr>
        <p:sp>
          <p:nvSpPr>
            <p:cNvPr id="21" name="node10.container"/>
            <p:cNvSpPr/>
            <p:nvPr/>
          </p:nvSpPr>
          <p:spPr>
            <a:xfrm>
              <a:off x="7581900" y="2057400"/>
              <a:ext cx="1828800" cy="1600200"/>
            </a:xfrm>
            <a:prstGeom prst="rect">
              <a:avLst/>
            </a:prstGeom>
            <a:solidFill>
              <a:srgbClr val="E8EEF8"/>
            </a:solidFill>
            <a:ln>
              <a:noFill/>
            </a:ln>
          </p:spPr>
        </p:sp>
        <p:sp>
          <p:nvSpPr>
            <p:cNvPr id="22" name="node10.number"/>
            <p:cNvSpPr/>
            <p:nvPr/>
          </p:nvSpPr>
          <p:spPr>
            <a:xfrm>
              <a:off x="7734300" y="2209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23" name="node10.title"/>
            <p:cNvSpPr/>
            <p:nvPr/>
          </p:nvSpPr>
          <p:spPr>
            <a:xfrm>
              <a:off x="8105775" y="22481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Reconcile</a:t>
              </a:r>
              <a:endParaRPr lang="en-US" sz="1200" spc="0" kern="0" b="0" i="0" dirty="0">
                <a:solidFill>
                  <a:srgbClr val="070154"/>
                </a:solidFill>
                <a:latin typeface="IBM Plex Sans"/>
                <a:ea typeface="IBM Plex Sans"/>
                <a:cs typeface="IBM Plex Sans"/>
              </a:endParaRPr>
            </a:p>
          </p:txBody>
        </p:sp>
        <p:sp>
          <p:nvSpPr>
            <p:cNvPr id="24" name="node10.body.item-001.paragraph"/>
            <p:cNvSpPr/>
            <p:nvPr/>
          </p:nvSpPr>
          <p:spPr>
            <a:xfrm>
              <a:off x="7734300" y="2628900"/>
              <a:ext cx="1524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template and owner per account.</a:t>
              </a:r>
              <a:endParaRPr lang="en-US" sz="1200" spc="0" kern="0" b="0" i="0" dirty="0">
                <a:solidFill>
                  <a:srgbClr val="50658E"/>
                </a:solidFill>
                <a:latin typeface="IBM Plex Sans"/>
                <a:ea typeface="IBM Plex Sans"/>
                <a:cs typeface="IBM Plex Sans"/>
              </a:endParaRPr>
            </a:p>
          </p:txBody>
        </p:sp>
      </p:grpSp>
      <p:grpSp>
        <p:nvGrpSpPr>
          <p:cNvPr id="57" name="node11"/>
          <p:cNvGrpSpPr/>
          <p:nvPr/>
        </p:nvGrpSpPr>
        <p:grpSpPr>
          <a:xfrm>
            <a:off x="9639300" y="2057400"/>
            <a:ext cx="1828800" cy="1600200"/>
            <a:chOff x="9639300" y="2057400"/>
            <a:chExt cx="1828800" cy="1600200"/>
          </a:xfrm>
        </p:grpSpPr>
        <p:sp>
          <p:nvSpPr>
            <p:cNvPr id="25" name="node11.container"/>
            <p:cNvSpPr/>
            <p:nvPr/>
          </p:nvSpPr>
          <p:spPr>
            <a:xfrm>
              <a:off x="9639300" y="2057400"/>
              <a:ext cx="1828800" cy="1600200"/>
            </a:xfrm>
            <a:prstGeom prst="rect">
              <a:avLst/>
            </a:prstGeom>
            <a:solidFill>
              <a:srgbClr val="E8EEF8"/>
            </a:solidFill>
            <a:ln>
              <a:noFill/>
            </a:ln>
          </p:spPr>
        </p:sp>
        <p:sp>
          <p:nvSpPr>
            <p:cNvPr id="26" name="node11.number"/>
            <p:cNvSpPr/>
            <p:nvPr/>
          </p:nvSpPr>
          <p:spPr>
            <a:xfrm>
              <a:off x="9791700" y="2209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04</a:t>
              </a:r>
              <a:endParaRPr lang="en-US" sz="1600" spc="0" kern="0" b="0" i="0" dirty="0">
                <a:solidFill>
                  <a:srgbClr val="0047FF"/>
                </a:solidFill>
                <a:latin typeface="IBM Plex Mono SemiBold"/>
                <a:ea typeface="IBM Plex Mono SemiBold"/>
                <a:cs typeface="IBM Plex Mono SemiBold"/>
              </a:endParaRPr>
            </a:p>
          </p:txBody>
        </p:sp>
        <p:sp>
          <p:nvSpPr>
            <p:cNvPr id="27" name="node11.title"/>
            <p:cNvSpPr/>
            <p:nvPr/>
          </p:nvSpPr>
          <p:spPr>
            <a:xfrm>
              <a:off x="10163175" y="22481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Matching</a:t>
              </a:r>
              <a:endParaRPr lang="en-US" sz="1200" spc="0" kern="0" b="0" i="0" dirty="0">
                <a:solidFill>
                  <a:srgbClr val="070154"/>
                </a:solidFill>
                <a:latin typeface="IBM Plex Sans"/>
                <a:ea typeface="IBM Plex Sans"/>
                <a:cs typeface="IBM Plex Sans"/>
              </a:endParaRPr>
            </a:p>
          </p:txBody>
        </p:sp>
        <p:sp>
          <p:nvSpPr>
            <p:cNvPr id="28" name="node11.body.item-001.paragraph"/>
            <p:cNvSpPr/>
            <p:nvPr/>
          </p:nvSpPr>
          <p:spPr>
            <a:xfrm>
              <a:off x="9791700" y="2628900"/>
              <a:ext cx="1524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Intercompany balances match overnight.</a:t>
              </a:r>
              <a:endParaRPr lang="en-US" sz="1200" spc="0" kern="0" b="0" i="0" dirty="0">
                <a:solidFill>
                  <a:srgbClr val="50658E"/>
                </a:solidFill>
                <a:latin typeface="IBM Plex Sans"/>
                <a:ea typeface="IBM Plex Sans"/>
                <a:cs typeface="IBM Plex Sans"/>
              </a:endParaRPr>
            </a:p>
          </p:txBody>
        </p:sp>
      </p:grpSp>
      <p:grpSp>
        <p:nvGrpSpPr>
          <p:cNvPr id="58" name="node12"/>
          <p:cNvGrpSpPr/>
          <p:nvPr/>
        </p:nvGrpSpPr>
        <p:grpSpPr>
          <a:xfrm>
            <a:off x="3238500" y="3886200"/>
            <a:ext cx="3886200" cy="139700"/>
            <a:chOff x="3238500" y="3886200"/>
            <a:chExt cx="3886200" cy="139700"/>
          </a:xfrm>
        </p:grpSpPr>
        <p:sp>
          <p:nvSpPr>
            <p:cNvPr id="29" name="node12.text"/>
            <p:cNvSpPr/>
            <p:nvPr/>
          </p:nvSpPr>
          <p:spPr>
            <a:xfrm>
              <a:off x="3238500" y="3886200"/>
              <a:ext cx="38862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REVIEW</a:t>
              </a:r>
              <a:endParaRPr lang="en-US" sz="900" spc="72" kern="0" b="0" i="0" dirty="0">
                <a:solidFill>
                  <a:srgbClr val="0047FF"/>
                </a:solidFill>
                <a:latin typeface="IBM Plex Mono SemiBold"/>
                <a:ea typeface="IBM Plex Mono SemiBold"/>
                <a:cs typeface="IBM Plex Mono SemiBold"/>
              </a:endParaRPr>
            </a:p>
          </p:txBody>
        </p:sp>
      </p:grpSp>
      <p:sp>
        <p:nvSpPr>
          <p:cNvPr id="30" name="node13"/>
          <p:cNvSpPr/>
          <p:nvPr/>
        </p:nvSpPr>
        <p:spPr>
          <a:xfrm>
            <a:off x="3238500" y="4114800"/>
            <a:ext cx="3886200" cy="9525"/>
          </a:xfrm>
          <a:prstGeom prst="rect">
            <a:avLst/>
          </a:prstGeom>
          <a:solidFill>
            <a:srgbClr val="070154"/>
          </a:solidFill>
          <a:ln>
            <a:noFill/>
          </a:ln>
        </p:spPr>
      </p:sp>
      <p:grpSp>
        <p:nvGrpSpPr>
          <p:cNvPr id="59" name="node14"/>
          <p:cNvGrpSpPr/>
          <p:nvPr/>
        </p:nvGrpSpPr>
        <p:grpSpPr>
          <a:xfrm>
            <a:off x="3238500" y="4343400"/>
            <a:ext cx="1828800" cy="1600200"/>
            <a:chOff x="3238500" y="4343400"/>
            <a:chExt cx="1828800" cy="1600200"/>
          </a:xfrm>
        </p:grpSpPr>
        <p:sp>
          <p:nvSpPr>
            <p:cNvPr id="31" name="node14.container"/>
            <p:cNvSpPr/>
            <p:nvPr/>
          </p:nvSpPr>
          <p:spPr>
            <a:xfrm>
              <a:off x="3238500" y="4343400"/>
              <a:ext cx="1828800" cy="1600200"/>
            </a:xfrm>
            <a:prstGeom prst="rect">
              <a:avLst/>
            </a:prstGeom>
            <a:solidFill>
              <a:srgbClr val="E8EEF8"/>
            </a:solidFill>
            <a:ln>
              <a:noFill/>
            </a:ln>
          </p:spPr>
        </p:sp>
        <p:sp>
          <p:nvSpPr>
            <p:cNvPr id="32" name="node14.number"/>
            <p:cNvSpPr/>
            <p:nvPr/>
          </p:nvSpPr>
          <p:spPr>
            <a:xfrm>
              <a:off x="3390900" y="4495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05</a:t>
              </a:r>
              <a:endParaRPr lang="en-US" sz="1600" spc="0" kern="0" b="0" i="0" dirty="0">
                <a:solidFill>
                  <a:srgbClr val="0047FF"/>
                </a:solidFill>
                <a:latin typeface="IBM Plex Mono SemiBold"/>
                <a:ea typeface="IBM Plex Mono SemiBold"/>
                <a:cs typeface="IBM Plex Mono SemiBold"/>
              </a:endParaRPr>
            </a:p>
          </p:txBody>
        </p:sp>
        <p:sp>
          <p:nvSpPr>
            <p:cNvPr id="33" name="node14.title"/>
            <p:cNvSpPr/>
            <p:nvPr/>
          </p:nvSpPr>
          <p:spPr>
            <a:xfrm>
              <a:off x="3762375" y="45341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Early review</a:t>
              </a:r>
              <a:endParaRPr lang="en-US" sz="1200" spc="0" kern="0" b="0" i="0" dirty="0">
                <a:solidFill>
                  <a:srgbClr val="070154"/>
                </a:solidFill>
                <a:latin typeface="IBM Plex Sans"/>
                <a:ea typeface="IBM Plex Sans"/>
                <a:cs typeface="IBM Plex Sans"/>
              </a:endParaRPr>
            </a:p>
          </p:txBody>
        </p:sp>
        <p:sp>
          <p:nvSpPr>
            <p:cNvPr id="34" name="node14.body.item-001.paragraph"/>
            <p:cNvSpPr/>
            <p:nvPr/>
          </p:nvSpPr>
          <p:spPr>
            <a:xfrm>
              <a:off x="3390900" y="4914900"/>
              <a:ext cx="1524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Entries are reviewed as they post.</a:t>
              </a:r>
              <a:endParaRPr lang="en-US" sz="1200" spc="0" kern="0" b="0" i="0" dirty="0">
                <a:solidFill>
                  <a:srgbClr val="50658E"/>
                </a:solidFill>
                <a:latin typeface="IBM Plex Sans"/>
                <a:ea typeface="IBM Plex Sans"/>
                <a:cs typeface="IBM Plex Sans"/>
              </a:endParaRPr>
            </a:p>
          </p:txBody>
        </p:sp>
      </p:grpSp>
      <p:grpSp>
        <p:nvGrpSpPr>
          <p:cNvPr id="60" name="node15"/>
          <p:cNvGrpSpPr/>
          <p:nvPr/>
        </p:nvGrpSpPr>
        <p:grpSpPr>
          <a:xfrm>
            <a:off x="5295900" y="4343400"/>
            <a:ext cx="1828800" cy="1600200"/>
            <a:chOff x="5295900" y="4343400"/>
            <a:chExt cx="1828800" cy="1600200"/>
          </a:xfrm>
        </p:grpSpPr>
        <p:sp>
          <p:nvSpPr>
            <p:cNvPr id="35" name="node15.container"/>
            <p:cNvSpPr/>
            <p:nvPr/>
          </p:nvSpPr>
          <p:spPr>
            <a:xfrm>
              <a:off x="5295900" y="4343400"/>
              <a:ext cx="1828800" cy="1600200"/>
            </a:xfrm>
            <a:prstGeom prst="rect">
              <a:avLst/>
            </a:prstGeom>
            <a:solidFill>
              <a:srgbClr val="E8EEF8"/>
            </a:solidFill>
            <a:ln>
              <a:noFill/>
            </a:ln>
          </p:spPr>
        </p:sp>
        <p:sp>
          <p:nvSpPr>
            <p:cNvPr id="36" name="node15.number"/>
            <p:cNvSpPr/>
            <p:nvPr/>
          </p:nvSpPr>
          <p:spPr>
            <a:xfrm>
              <a:off x="5448300" y="4495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06</a:t>
              </a:r>
              <a:endParaRPr lang="en-US" sz="1600" spc="0" kern="0" b="0" i="0" dirty="0">
                <a:solidFill>
                  <a:srgbClr val="0047FF"/>
                </a:solidFill>
                <a:latin typeface="IBM Plex Mono SemiBold"/>
                <a:ea typeface="IBM Plex Mono SemiBold"/>
                <a:cs typeface="IBM Plex Mono SemiBold"/>
              </a:endParaRPr>
            </a:p>
          </p:txBody>
        </p:sp>
        <p:sp>
          <p:nvSpPr>
            <p:cNvPr id="37" name="node15.title"/>
            <p:cNvSpPr/>
            <p:nvPr/>
          </p:nvSpPr>
          <p:spPr>
            <a:xfrm>
              <a:off x="5819775" y="45341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Ownership</a:t>
              </a:r>
              <a:endParaRPr lang="en-US" sz="1200" spc="0" kern="0" b="0" i="0" dirty="0">
                <a:solidFill>
                  <a:srgbClr val="070154"/>
                </a:solidFill>
                <a:latin typeface="IBM Plex Sans"/>
                <a:ea typeface="IBM Plex Sans"/>
                <a:cs typeface="IBM Plex Sans"/>
              </a:endParaRPr>
            </a:p>
          </p:txBody>
        </p:sp>
        <p:sp>
          <p:nvSpPr>
            <p:cNvPr id="38" name="node15.body.item-001.paragraph"/>
            <p:cNvSpPr/>
            <p:nvPr/>
          </p:nvSpPr>
          <p:spPr>
            <a:xfrm>
              <a:off x="5448300" y="4914900"/>
              <a:ext cx="1524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Every task has an owner and a due time.</a:t>
              </a:r>
              <a:endParaRPr lang="en-US" sz="1200" spc="0" kern="0" b="0" i="0" dirty="0">
                <a:solidFill>
                  <a:srgbClr val="50658E"/>
                </a:solidFill>
                <a:latin typeface="IBM Plex Sans"/>
                <a:ea typeface="IBM Plex Sans"/>
                <a:cs typeface="IBM Plex Sans"/>
              </a:endParaRPr>
            </a:p>
          </p:txBody>
        </p:sp>
      </p:grpSp>
      <p:grpSp>
        <p:nvGrpSpPr>
          <p:cNvPr id="61" name="node16"/>
          <p:cNvGrpSpPr/>
          <p:nvPr/>
        </p:nvGrpSpPr>
        <p:grpSpPr>
          <a:xfrm>
            <a:off x="7581900" y="3886200"/>
            <a:ext cx="3886200" cy="139700"/>
            <a:chOff x="7581900" y="3886200"/>
            <a:chExt cx="3886200" cy="139700"/>
          </a:xfrm>
        </p:grpSpPr>
        <p:sp>
          <p:nvSpPr>
            <p:cNvPr id="39" name="node16.text"/>
            <p:cNvSpPr/>
            <p:nvPr/>
          </p:nvSpPr>
          <p:spPr>
            <a:xfrm>
              <a:off x="7581900" y="3886200"/>
              <a:ext cx="38862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REPORTING</a:t>
              </a:r>
              <a:endParaRPr lang="en-US" sz="900" spc="72" kern="0" b="0" i="0" dirty="0">
                <a:solidFill>
                  <a:srgbClr val="0047FF"/>
                </a:solidFill>
                <a:latin typeface="IBM Plex Mono SemiBold"/>
                <a:ea typeface="IBM Plex Mono SemiBold"/>
                <a:cs typeface="IBM Plex Mono SemiBold"/>
              </a:endParaRPr>
            </a:p>
          </p:txBody>
        </p:sp>
      </p:grpSp>
      <p:sp>
        <p:nvSpPr>
          <p:cNvPr id="40" name="node17"/>
          <p:cNvSpPr/>
          <p:nvPr/>
        </p:nvSpPr>
        <p:spPr>
          <a:xfrm>
            <a:off x="7581900" y="4114800"/>
            <a:ext cx="3886200" cy="9525"/>
          </a:xfrm>
          <a:prstGeom prst="rect">
            <a:avLst/>
          </a:prstGeom>
          <a:solidFill>
            <a:srgbClr val="070154"/>
          </a:solidFill>
          <a:ln>
            <a:noFill/>
          </a:ln>
        </p:spPr>
      </p:sp>
      <p:grpSp>
        <p:nvGrpSpPr>
          <p:cNvPr id="62" name="node18"/>
          <p:cNvGrpSpPr/>
          <p:nvPr/>
        </p:nvGrpSpPr>
        <p:grpSpPr>
          <a:xfrm>
            <a:off x="7581900" y="4343400"/>
            <a:ext cx="1828800" cy="1600200"/>
            <a:chOff x="7581900" y="4343400"/>
            <a:chExt cx="1828800" cy="1600200"/>
          </a:xfrm>
        </p:grpSpPr>
        <p:sp>
          <p:nvSpPr>
            <p:cNvPr id="41" name="node18.container"/>
            <p:cNvSpPr/>
            <p:nvPr/>
          </p:nvSpPr>
          <p:spPr>
            <a:xfrm>
              <a:off x="7581900" y="4343400"/>
              <a:ext cx="1828800" cy="1600200"/>
            </a:xfrm>
            <a:prstGeom prst="rect">
              <a:avLst/>
            </a:prstGeom>
            <a:solidFill>
              <a:srgbClr val="E8EEF8"/>
            </a:solidFill>
            <a:ln>
              <a:noFill/>
            </a:ln>
          </p:spPr>
        </p:sp>
        <p:sp>
          <p:nvSpPr>
            <p:cNvPr id="42" name="node18.number"/>
            <p:cNvSpPr/>
            <p:nvPr/>
          </p:nvSpPr>
          <p:spPr>
            <a:xfrm>
              <a:off x="7734300" y="4495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07</a:t>
              </a:r>
              <a:endParaRPr lang="en-US" sz="1600" spc="0" kern="0" b="0" i="0" dirty="0">
                <a:solidFill>
                  <a:srgbClr val="0047FF"/>
                </a:solidFill>
                <a:latin typeface="IBM Plex Mono SemiBold"/>
                <a:ea typeface="IBM Plex Mono SemiBold"/>
                <a:cs typeface="IBM Plex Mono SemiBold"/>
              </a:endParaRPr>
            </a:p>
          </p:txBody>
        </p:sp>
        <p:sp>
          <p:nvSpPr>
            <p:cNvPr id="43" name="node18.title"/>
            <p:cNvSpPr/>
            <p:nvPr/>
          </p:nvSpPr>
          <p:spPr>
            <a:xfrm>
              <a:off x="8105775" y="45341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Flash report</a:t>
              </a:r>
              <a:endParaRPr lang="en-US" sz="1200" spc="0" kern="0" b="0" i="0" dirty="0">
                <a:solidFill>
                  <a:srgbClr val="070154"/>
                </a:solidFill>
                <a:latin typeface="IBM Plex Sans"/>
                <a:ea typeface="IBM Plex Sans"/>
                <a:cs typeface="IBM Plex Sans"/>
              </a:endParaRPr>
            </a:p>
          </p:txBody>
        </p:sp>
        <p:sp>
          <p:nvSpPr>
            <p:cNvPr id="44" name="node18.body.item-001.paragraph"/>
            <p:cNvSpPr/>
            <p:nvPr/>
          </p:nvSpPr>
          <p:spPr>
            <a:xfrm>
              <a:off x="7734300" y="4914900"/>
              <a:ext cx="1524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Flash on day three, full pack on day five.</a:t>
              </a:r>
              <a:endParaRPr lang="en-US" sz="1200" spc="0" kern="0" b="0" i="0" dirty="0">
                <a:solidFill>
                  <a:srgbClr val="50658E"/>
                </a:solidFill>
                <a:latin typeface="IBM Plex Sans"/>
                <a:ea typeface="IBM Plex Sans"/>
                <a:cs typeface="IBM Plex Sans"/>
              </a:endParaRPr>
            </a:p>
          </p:txBody>
        </p:sp>
      </p:grpSp>
      <p:grpSp>
        <p:nvGrpSpPr>
          <p:cNvPr id="63" name="node19"/>
          <p:cNvGrpSpPr/>
          <p:nvPr/>
        </p:nvGrpSpPr>
        <p:grpSpPr>
          <a:xfrm>
            <a:off x="9639300" y="4343400"/>
            <a:ext cx="1828800" cy="1600200"/>
            <a:chOff x="9639300" y="4343400"/>
            <a:chExt cx="1828800" cy="1600200"/>
          </a:xfrm>
        </p:grpSpPr>
        <p:sp>
          <p:nvSpPr>
            <p:cNvPr id="45" name="node19.container"/>
            <p:cNvSpPr/>
            <p:nvPr/>
          </p:nvSpPr>
          <p:spPr>
            <a:xfrm>
              <a:off x="9639300" y="4343400"/>
              <a:ext cx="1828800" cy="1600200"/>
            </a:xfrm>
            <a:prstGeom prst="rect">
              <a:avLst/>
            </a:prstGeom>
            <a:solidFill>
              <a:srgbClr val="E8EEF8"/>
            </a:solidFill>
            <a:ln>
              <a:noFill/>
            </a:ln>
          </p:spPr>
        </p:sp>
        <p:sp>
          <p:nvSpPr>
            <p:cNvPr id="46" name="node19.number"/>
            <p:cNvSpPr/>
            <p:nvPr/>
          </p:nvSpPr>
          <p:spPr>
            <a:xfrm>
              <a:off x="9791700" y="4495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08</a:t>
              </a:r>
              <a:endParaRPr lang="en-US" sz="1600" spc="0" kern="0" b="0" i="0" dirty="0">
                <a:solidFill>
                  <a:srgbClr val="0047FF"/>
                </a:solidFill>
                <a:latin typeface="IBM Plex Mono SemiBold"/>
                <a:ea typeface="IBM Plex Mono SemiBold"/>
                <a:cs typeface="IBM Plex Mono SemiBold"/>
              </a:endParaRPr>
            </a:p>
          </p:txBody>
        </p:sp>
        <p:sp>
          <p:nvSpPr>
            <p:cNvPr id="47" name="node19.title"/>
            <p:cNvSpPr/>
            <p:nvPr/>
          </p:nvSpPr>
          <p:spPr>
            <a:xfrm>
              <a:off x="10163175" y="45341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Controls</a:t>
              </a:r>
              <a:endParaRPr lang="en-US" sz="1200" spc="0" kern="0" b="0" i="0" dirty="0">
                <a:solidFill>
                  <a:srgbClr val="070154"/>
                </a:solidFill>
                <a:latin typeface="IBM Plex Sans"/>
                <a:ea typeface="IBM Plex Sans"/>
                <a:cs typeface="IBM Plex Sans"/>
              </a:endParaRPr>
            </a:p>
          </p:txBody>
        </p:sp>
        <p:sp>
          <p:nvSpPr>
            <p:cNvPr id="48" name="node19.body.item-001.paragraph"/>
            <p:cNvSpPr/>
            <p:nvPr/>
          </p:nvSpPr>
          <p:spPr>
            <a:xfrm>
              <a:off x="9791700" y="4914900"/>
              <a:ext cx="1524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Evidence is captured as work happens.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ource-266">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ECONOMICS</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2674282" y="725576"/>
            <a:ext cx="1041074" cy="312420"/>
          </a:xfrm>
          <a:prstGeom prst="rect">
            <a:avLst/>
          </a:prstGeom>
        </p:spPr>
      </p:pic>
      <p:sp>
        <p:nvSpPr>
          <p:cNvPr id="5"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 xml:space="preserve">The script has </a:t>
            </a:r>
            <a:r>
              <a:rPr lang="en-US" sz="2400" spc="-443" kern="0" b="0" i="0" dirty="0">
                <a:solidFill>
                  <a:srgbClr val="070154"/>
                </a:solidFill>
                <a:latin typeface="IBM Plex Sans SemiBold"/>
                <a:ea typeface="IBM Plex Sans SemiBold"/>
                <a:cs typeface="IBM Plex Sans SemiBold"/>
              </a:rPr>
              <a:t xml:space="preserve"> </a:t>
            </a:r>
            <a:r>
              <a:rPr lang="en-US" sz="2400" spc="-36" kern="0" b="0" i="0" dirty="0">
                <a:solidFill>
                  <a:srgbClr val="070154"/>
                </a:solidFill>
                <a:latin typeface="IBM Plex Sans SemiBold"/>
                <a:ea typeface="IBM Plex Sans SemiBold"/>
                <a:cs typeface="IBM Plex Sans SemiBold"/>
              </a:rPr>
              <a:t xml:space="preserve">flipped</a:t>
            </a:r>
            <a:r>
              <a:rPr lang="en-US" sz="2400" spc="-443" kern="0" b="0" i="0" dirty="0">
                <a:solidFill>
                  <a:srgbClr val="070154"/>
                </a:solidFill>
                <a:latin typeface="IBM Plex Sans SemiBold"/>
                <a:ea typeface="IBM Plex Sans SemiBold"/>
                <a:cs typeface="IBM Plex Sans SemiBold"/>
              </a:rPr>
              <a:t xml:space="preserve"> </a:t>
            </a:r>
            <a:r>
              <a:rPr lang="en-US" sz="2400" spc="-36" kern="0" b="0" i="0" dirty="0">
                <a:solidFill>
                  <a:srgbClr val="070154"/>
                </a:solidFill>
                <a:latin typeface="IBM Plex Sans SemiBold"/>
                <a:ea typeface="IBM Plex Sans SemiBold"/>
                <a:cs typeface="IBM Plex Sans SemiBold"/>
              </a:rPr>
              <a:t xml:space="preserve"> on </a:t>
            </a:r>
            <a:br>
              <a:rPr lang="en-US" sz="2400" spc="-36" kern="0" b="0" i="0" dirty="0">
                <a:solidFill>
                  <a:srgbClr val="070154"/>
                </a:solidFill>
                <a:latin typeface="IBM Plex Sans SemiBold"/>
                <a:ea typeface="IBM Plex Sans SemiBold"/>
                <a:cs typeface="IBM Plex Sans SemiBold"/>
              </a:rPr>
            </a:br>
            <a:r>
              <a:rPr lang="en-US" sz="2400" spc="-36" kern="0" b="0" i="0" dirty="0">
                <a:solidFill>
                  <a:srgbClr val="070154"/>
                </a:solidFill>
                <a:latin typeface="IBM Plex Sans SemiBold"/>
                <a:ea typeface="IBM Plex Sans SemiBold"/>
                <a:cs typeface="IBM Plex Sans SemiBold"/>
              </a:rPr>
              <a:t xml:space="preserve">legacy systems</a:t>
            </a:r>
            <a:endParaRPr lang="en-US" sz="2400" spc="-36"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23</a:t>
            </a:fld>
            <a:endParaRPr lang="en-US" sz="700" spc="0" kern="0" b="0" i="0" dirty="0">
              <a:solidFill>
                <a:srgbClr val="070154"/>
              </a:solidFill>
              <a:latin typeface="IBM Plex Mono SemiBold"/>
              <a:ea typeface="IBM Plex Mono SemiBold"/>
              <a:cs typeface="IBM Plex Mono SemiBold"/>
            </a:endParaRPr>
          </a:p>
        </p:txBody>
      </p:sp>
      <p:grpSp>
        <p:nvGrpSpPr>
          <p:cNvPr id="26" name="node01"/>
          <p:cNvGrpSpPr/>
          <p:nvPr/>
        </p:nvGrpSpPr>
        <p:grpSpPr>
          <a:xfrm>
            <a:off x="723900" y="1828800"/>
            <a:ext cx="3429000" cy="800100"/>
            <a:chOff x="723900" y="1828800"/>
            <a:chExt cx="3429000" cy="800100"/>
          </a:xfrm>
        </p:grpSpPr>
        <p:sp>
          <p:nvSpPr>
            <p:cNvPr id="7" name="node01.text"/>
            <p:cNvSpPr/>
            <p:nvPr/>
          </p:nvSpPr>
          <p:spPr>
            <a:xfrm>
              <a:off x="723900" y="18288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AI is cutting the time and cost of complex modernization by changing how teams analyze, design, build and test.</a:t>
              </a:r>
              <a:endParaRPr lang="en-US" sz="1400" spc="0" kern="0" b="0" i="0" dirty="0">
                <a:solidFill>
                  <a:srgbClr val="070154"/>
                </a:solidFill>
                <a:latin typeface="IBM Plex Sans"/>
                <a:ea typeface="IBM Plex Sans"/>
                <a:cs typeface="IBM Plex Sans"/>
              </a:endParaRPr>
            </a:p>
          </p:txBody>
        </p:sp>
      </p:grpSp>
      <p:grpSp>
        <p:nvGrpSpPr>
          <p:cNvPr id="27" name="node02"/>
          <p:cNvGrpSpPr/>
          <p:nvPr/>
        </p:nvGrpSpPr>
        <p:grpSpPr>
          <a:xfrm>
            <a:off x="723900" y="3657600"/>
            <a:ext cx="3429000" cy="609600"/>
            <a:chOff x="723900" y="3657600"/>
            <a:chExt cx="3429000" cy="609600"/>
          </a:xfrm>
        </p:grpSpPr>
        <p:sp>
          <p:nvSpPr>
            <p:cNvPr id="8" name="node02.text"/>
            <p:cNvSpPr/>
            <p:nvPr/>
          </p:nvSpPr>
          <p:spPr>
            <a:xfrm>
              <a:off x="723900" y="3657600"/>
              <a:ext cx="34290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900D3"/>
                  </a:solidFill>
                  <a:latin typeface="IBM Plex Sans SemiBold"/>
                  <a:ea typeface="IBM Plex Sans SemiBold"/>
                  <a:cs typeface="IBM Plex Sans SemiBold"/>
                </a:rPr>
                <a:t>How are legacy systems holding your business back?</a:t>
              </a:r>
              <a:endParaRPr lang="en-US" sz="1800" spc="-18" kern="0" b="0" i="0" dirty="0">
                <a:solidFill>
                  <a:srgbClr val="F900D3"/>
                </a:solidFill>
                <a:latin typeface="IBM Plex Sans SemiBold"/>
                <a:ea typeface="IBM Plex Sans SemiBold"/>
                <a:cs typeface="IBM Plex Sans SemiBold"/>
              </a:endParaRPr>
            </a:p>
          </p:txBody>
        </p:sp>
      </p:grpSp>
      <p:grpSp>
        <p:nvGrpSpPr>
          <p:cNvPr id="28" name="node03"/>
          <p:cNvGrpSpPr/>
          <p:nvPr/>
        </p:nvGrpSpPr>
        <p:grpSpPr>
          <a:xfrm>
            <a:off x="723900" y="4800600"/>
            <a:ext cx="3429000" cy="533400"/>
            <a:chOff x="723900" y="4800600"/>
            <a:chExt cx="3429000" cy="533400"/>
          </a:xfrm>
        </p:grpSpPr>
        <p:sp>
          <p:nvSpPr>
            <p:cNvPr id="9" name="node03.text"/>
            <p:cNvSpPr/>
            <p:nvPr/>
          </p:nvSpPr>
          <p:spPr>
            <a:xfrm>
              <a:off x="723900" y="48006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If it cost one-tenth of what you expect, what would that unlock?</a:t>
              </a:r>
              <a:endParaRPr lang="en-US" sz="1400" spc="0" kern="0" b="0" i="0" dirty="0">
                <a:solidFill>
                  <a:srgbClr val="50658E"/>
                </a:solidFill>
                <a:latin typeface="IBM Plex Sans"/>
                <a:ea typeface="IBM Plex Sans"/>
                <a:cs typeface="IBM Plex Sans"/>
              </a:endParaRPr>
            </a:p>
          </p:txBody>
        </p:sp>
      </p:grpSp>
      <p:grpSp>
        <p:nvGrpSpPr>
          <p:cNvPr id="29" name="node04"/>
          <p:cNvGrpSpPr/>
          <p:nvPr/>
        </p:nvGrpSpPr>
        <p:grpSpPr>
          <a:xfrm>
            <a:off x="4381500" y="457200"/>
            <a:ext cx="3429000" cy="2514600"/>
            <a:chOff x="4381500" y="457200"/>
            <a:chExt cx="3429000" cy="2514600"/>
          </a:xfrm>
        </p:grpSpPr>
        <p:sp>
          <p:nvSpPr>
            <p:cNvPr id="10" name="node04.container"/>
            <p:cNvSpPr/>
            <p:nvPr/>
          </p:nvSpPr>
          <p:spPr>
            <a:xfrm>
              <a:off x="4381500" y="457200"/>
              <a:ext cx="3429000" cy="2514600"/>
            </a:xfrm>
            <a:prstGeom prst="rect">
              <a:avLst/>
            </a:prstGeom>
            <a:solidFill>
              <a:srgbClr val="E8EEF8"/>
            </a:solidFill>
            <a:ln>
              <a:noFill/>
            </a:ln>
          </p:spPr>
        </p:sp>
        <p:sp>
          <p:nvSpPr>
            <p:cNvPr id="11" name="node04.label"/>
            <p:cNvSpPr/>
            <p:nvPr/>
          </p:nvSpPr>
          <p:spPr>
            <a:xfrm>
              <a:off x="4610100" y="685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AI-NATIVE READINESS</a:t>
              </a:r>
              <a:endParaRPr lang="en-US" sz="900" spc="54" kern="0" b="0" i="0" dirty="0">
                <a:solidFill>
                  <a:srgbClr val="0047FF"/>
                </a:solidFill>
                <a:latin typeface="IBM Plex Mono Medium"/>
                <a:ea typeface="IBM Plex Mono Medium"/>
                <a:cs typeface="IBM Plex Mono Medium"/>
              </a:endParaRPr>
            </a:p>
          </p:txBody>
        </p:sp>
        <p:sp>
          <p:nvSpPr>
            <p:cNvPr id="12" name="node04.title"/>
            <p:cNvSpPr/>
            <p:nvPr/>
          </p:nvSpPr>
          <p:spPr>
            <a:xfrm>
              <a:off x="4610100" y="9144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How can you get your business ready to run on AI?</a:t>
              </a:r>
              <a:endParaRPr lang="en-US" sz="1400" spc="0" kern="0" b="0" i="0" dirty="0">
                <a:solidFill>
                  <a:srgbClr val="070154"/>
                </a:solidFill>
                <a:latin typeface="IBM Plex Sans"/>
                <a:ea typeface="IBM Plex Sans"/>
                <a:cs typeface="IBM Plex Sans"/>
              </a:endParaRPr>
            </a:p>
          </p:txBody>
        </p:sp>
        <p:sp>
          <p:nvSpPr>
            <p:cNvPr id="13" name="node04.body.item-001.paragraph"/>
            <p:cNvSpPr/>
            <p:nvPr/>
          </p:nvSpPr>
          <p:spPr>
            <a:xfrm>
              <a:off x="4610100" y="16002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Map data, interfaces and controls to see which systems block AI-enabled work.</a:t>
              </a:r>
              <a:endParaRPr lang="en-US" sz="1400" spc="0" kern="0" b="0" i="0" dirty="0">
                <a:solidFill>
                  <a:srgbClr val="50658E"/>
                </a:solidFill>
                <a:latin typeface="IBM Plex Sans"/>
                <a:ea typeface="IBM Plex Sans"/>
                <a:cs typeface="IBM Plex Sans"/>
              </a:endParaRPr>
            </a:p>
          </p:txBody>
        </p:sp>
      </p:grpSp>
      <p:grpSp>
        <p:nvGrpSpPr>
          <p:cNvPr id="30" name="node05"/>
          <p:cNvGrpSpPr/>
          <p:nvPr/>
        </p:nvGrpSpPr>
        <p:grpSpPr>
          <a:xfrm>
            <a:off x="8039100" y="457200"/>
            <a:ext cx="3429000" cy="2514600"/>
            <a:chOff x="8039100" y="457200"/>
            <a:chExt cx="3429000" cy="2514600"/>
          </a:xfrm>
        </p:grpSpPr>
        <p:sp>
          <p:nvSpPr>
            <p:cNvPr id="14" name="node05.container"/>
            <p:cNvSpPr/>
            <p:nvPr/>
          </p:nvSpPr>
          <p:spPr>
            <a:xfrm>
              <a:off x="8039100" y="457200"/>
              <a:ext cx="3429000" cy="2514600"/>
            </a:xfrm>
            <a:prstGeom prst="rect">
              <a:avLst/>
            </a:prstGeom>
            <a:solidFill>
              <a:srgbClr val="070154"/>
            </a:solidFill>
            <a:ln>
              <a:noFill/>
            </a:ln>
          </p:spPr>
        </p:sp>
        <p:sp>
          <p:nvSpPr>
            <p:cNvPr id="15" name="node05.label"/>
            <p:cNvSpPr/>
            <p:nvPr/>
          </p:nvSpPr>
          <p:spPr>
            <a:xfrm>
              <a:off x="8267700" y="685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GROWTH VELOCITY</a:t>
              </a:r>
              <a:endParaRPr lang="en-US" sz="900" spc="54" kern="0" b="0" i="0" dirty="0">
                <a:solidFill>
                  <a:srgbClr val="F900D3"/>
                </a:solidFill>
                <a:latin typeface="IBM Plex Mono Medium"/>
                <a:ea typeface="IBM Plex Mono Medium"/>
                <a:cs typeface="IBM Plex Mono Medium"/>
              </a:endParaRPr>
            </a:p>
          </p:txBody>
        </p:sp>
        <p:sp>
          <p:nvSpPr>
            <p:cNvPr id="16" name="node05.title"/>
            <p:cNvSpPr/>
            <p:nvPr/>
          </p:nvSpPr>
          <p:spPr>
            <a:xfrm>
              <a:off x="8267700" y="9144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What products could you launch without release-cycle delays?</a:t>
              </a:r>
              <a:endParaRPr lang="en-US" sz="1400" spc="0" kern="0" b="0" i="0" dirty="0">
                <a:solidFill>
                  <a:srgbClr val="FFFFFF"/>
                </a:solidFill>
                <a:latin typeface="IBM Plex Sans"/>
                <a:ea typeface="IBM Plex Sans"/>
                <a:cs typeface="IBM Plex Sans"/>
              </a:endParaRPr>
            </a:p>
          </p:txBody>
        </p:sp>
        <p:sp>
          <p:nvSpPr>
            <p:cNvPr id="17" name="node05.body.item-001.paragraph"/>
            <p:cNvSpPr/>
            <p:nvPr/>
          </p:nvSpPr>
          <p:spPr>
            <a:xfrm>
              <a:off x="8267700" y="16002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Modular platforms let teams ship weekly instead of waiting on quarterly releases.</a:t>
              </a:r>
              <a:endParaRPr lang="en-US" sz="1400" spc="0" kern="0" b="0" i="0" dirty="0">
                <a:solidFill>
                  <a:srgbClr val="CED7E6"/>
                </a:solidFill>
                <a:latin typeface="IBM Plex Sans"/>
                <a:ea typeface="IBM Plex Sans"/>
                <a:cs typeface="IBM Plex Sans"/>
              </a:endParaRPr>
            </a:p>
          </p:txBody>
        </p:sp>
      </p:grpSp>
      <p:grpSp>
        <p:nvGrpSpPr>
          <p:cNvPr id="31" name="node06"/>
          <p:cNvGrpSpPr/>
          <p:nvPr/>
        </p:nvGrpSpPr>
        <p:grpSpPr>
          <a:xfrm>
            <a:off x="4381500" y="3200400"/>
            <a:ext cx="3429000" cy="2514600"/>
            <a:chOff x="4381500" y="3200400"/>
            <a:chExt cx="3429000" cy="2514600"/>
          </a:xfrm>
        </p:grpSpPr>
        <p:sp>
          <p:nvSpPr>
            <p:cNvPr id="18" name="node06.container"/>
            <p:cNvSpPr/>
            <p:nvPr/>
          </p:nvSpPr>
          <p:spPr>
            <a:xfrm>
              <a:off x="4381500" y="3200400"/>
              <a:ext cx="3429000" cy="2514600"/>
            </a:xfrm>
            <a:prstGeom prst="rect">
              <a:avLst/>
            </a:prstGeom>
            <a:solidFill>
              <a:srgbClr val="E8EEF8"/>
            </a:solidFill>
            <a:ln>
              <a:noFill/>
            </a:ln>
          </p:spPr>
        </p:sp>
        <p:sp>
          <p:nvSpPr>
            <p:cNvPr id="19" name="node06.label"/>
            <p:cNvSpPr/>
            <p:nvPr/>
          </p:nvSpPr>
          <p:spPr>
            <a:xfrm>
              <a:off x="4610100" y="3429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COST EFFICIENCY</a:t>
              </a:r>
              <a:endParaRPr lang="en-US" sz="900" spc="54" kern="0" b="0" i="0" dirty="0">
                <a:solidFill>
                  <a:srgbClr val="0047FF"/>
                </a:solidFill>
                <a:latin typeface="IBM Plex Mono Medium"/>
                <a:ea typeface="IBM Plex Mono Medium"/>
                <a:cs typeface="IBM Plex Mono Medium"/>
              </a:endParaRPr>
            </a:p>
          </p:txBody>
        </p:sp>
        <p:sp>
          <p:nvSpPr>
            <p:cNvPr id="20" name="node06.title"/>
            <p:cNvSpPr/>
            <p:nvPr/>
          </p:nvSpPr>
          <p:spPr>
            <a:xfrm>
              <a:off x="4610100" y="36576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Where would fewer handoffs unlock efficiency?</a:t>
              </a:r>
              <a:endParaRPr lang="en-US" sz="1400" spc="0" kern="0" b="0" i="0" dirty="0">
                <a:solidFill>
                  <a:srgbClr val="070154"/>
                </a:solidFill>
                <a:latin typeface="IBM Plex Sans"/>
                <a:ea typeface="IBM Plex Sans"/>
                <a:cs typeface="IBM Plex Sans"/>
              </a:endParaRPr>
            </a:p>
          </p:txBody>
        </p:sp>
        <p:sp>
          <p:nvSpPr>
            <p:cNvPr id="21" name="node06.body.item-001.paragraph"/>
            <p:cNvSpPr/>
            <p:nvPr/>
          </p:nvSpPr>
          <p:spPr>
            <a:xfrm>
              <a:off x="4610100" y="43434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Fewer handoffs and less rework free capacity that today goes to keeping old systems running.</a:t>
              </a:r>
              <a:endParaRPr lang="en-US" sz="1400" spc="0" kern="0" b="0" i="0" dirty="0">
                <a:solidFill>
                  <a:srgbClr val="50658E"/>
                </a:solidFill>
                <a:latin typeface="IBM Plex Sans"/>
                <a:ea typeface="IBM Plex Sans"/>
                <a:cs typeface="IBM Plex Sans"/>
              </a:endParaRPr>
            </a:p>
          </p:txBody>
        </p:sp>
      </p:grpSp>
      <p:grpSp>
        <p:nvGrpSpPr>
          <p:cNvPr id="32" name="node07"/>
          <p:cNvGrpSpPr/>
          <p:nvPr/>
        </p:nvGrpSpPr>
        <p:grpSpPr>
          <a:xfrm>
            <a:off x="8039100" y="3200400"/>
            <a:ext cx="3429000" cy="2514600"/>
            <a:chOff x="8039100" y="3200400"/>
            <a:chExt cx="3429000" cy="2514600"/>
          </a:xfrm>
        </p:grpSpPr>
        <p:sp>
          <p:nvSpPr>
            <p:cNvPr id="22" name="node07.container"/>
            <p:cNvSpPr/>
            <p:nvPr/>
          </p:nvSpPr>
          <p:spPr>
            <a:xfrm>
              <a:off x="8039100" y="3200400"/>
              <a:ext cx="3429000" cy="2514600"/>
            </a:xfrm>
            <a:prstGeom prst="rect">
              <a:avLst/>
            </a:prstGeom>
            <a:solidFill>
              <a:srgbClr val="070154"/>
            </a:solidFill>
            <a:ln>
              <a:noFill/>
            </a:ln>
          </p:spPr>
        </p:sp>
        <p:sp>
          <p:nvSpPr>
            <p:cNvPr id="23" name="node07.label"/>
            <p:cNvSpPr/>
            <p:nvPr/>
          </p:nvSpPr>
          <p:spPr>
            <a:xfrm>
              <a:off x="8267700" y="3429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CUSTOMER MOAT</a:t>
              </a:r>
              <a:endParaRPr lang="en-US" sz="900" spc="54" kern="0" b="0" i="0" dirty="0">
                <a:solidFill>
                  <a:srgbClr val="F900D3"/>
                </a:solidFill>
                <a:latin typeface="IBM Plex Mono Medium"/>
                <a:ea typeface="IBM Plex Mono Medium"/>
                <a:cs typeface="IBM Plex Mono Medium"/>
              </a:endParaRPr>
            </a:p>
          </p:txBody>
        </p:sp>
        <p:sp>
          <p:nvSpPr>
            <p:cNvPr id="24" name="node07.title"/>
            <p:cNvSpPr/>
            <p:nvPr/>
          </p:nvSpPr>
          <p:spPr>
            <a:xfrm>
              <a:off x="8267700" y="36576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How could a connected experience deepen loyalty?</a:t>
              </a:r>
              <a:endParaRPr lang="en-US" sz="1400" spc="0" kern="0" b="0" i="0" dirty="0">
                <a:solidFill>
                  <a:srgbClr val="FFFFFF"/>
                </a:solidFill>
                <a:latin typeface="IBM Plex Sans"/>
                <a:ea typeface="IBM Plex Sans"/>
                <a:cs typeface="IBM Plex Sans"/>
              </a:endParaRPr>
            </a:p>
          </p:txBody>
        </p:sp>
        <p:sp>
          <p:nvSpPr>
            <p:cNvPr id="25" name="node07.body.item-001.paragraph"/>
            <p:cNvSpPr/>
            <p:nvPr/>
          </p:nvSpPr>
          <p:spPr>
            <a:xfrm>
              <a:off x="8267700" y="43434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One connected experience across channels gives customers fewer reasons to leave.</a:t>
              </a:r>
              <a:endParaRPr lang="en-US" sz="1400" spc="0" kern="0" b="0" i="0" dirty="0">
                <a:solidFill>
                  <a:srgbClr val="CED7E6"/>
                </a:solidFill>
                <a:latin typeface="IBM Plex Sans"/>
                <a:ea typeface="IBM Plex Sans"/>
                <a:cs typeface="IBM Plex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ource-26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ECONOMICS</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3298210" y="733532"/>
            <a:ext cx="1378215" cy="374904"/>
          </a:xfrm>
          <a:prstGeom prst="rect">
            <a:avLst/>
          </a:prstGeom>
        </p:spPr>
      </p:pic>
      <p:sp>
        <p:nvSpPr>
          <p:cNvPr id="5"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The script has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flipped</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on how companies approach </a:t>
            </a:r>
            <a:br>
              <a:rPr lang="en-US" sz="3200" spc="-64" kern="0" b="0" i="0" dirty="0">
                <a:solidFill>
                  <a:srgbClr val="070154"/>
                </a:solidFill>
                <a:latin typeface="IBM Plex Sans SemiBold"/>
                <a:ea typeface="IBM Plex Sans SemiBold"/>
                <a:cs typeface="IBM Plex Sans SemiBold"/>
              </a:rPr>
            </a:br>
            <a:r>
              <a:rPr lang="en-US" sz="3200" spc="-64" kern="0" b="0" i="0" dirty="0">
                <a:solidFill>
                  <a:srgbClr val="070154"/>
                </a:solidFill>
                <a:latin typeface="IBM Plex Sans SemiBold"/>
                <a:ea typeface="IBM Plex Sans SemiBold"/>
                <a:cs typeface="IBM Plex Sans SemiBold"/>
              </a:rPr>
              <a:t xml:space="preserve">modernization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24</a:t>
            </a:fld>
            <a:endParaRPr lang="en-US" sz="700" spc="0" kern="0" b="0" i="0" dirty="0">
              <a:solidFill>
                <a:srgbClr val="070154"/>
              </a:solidFill>
              <a:latin typeface="IBM Plex Mono SemiBold"/>
              <a:ea typeface="IBM Plex Mono SemiBold"/>
              <a:cs typeface="IBM Plex Mono SemiBold"/>
            </a:endParaRPr>
          </a:p>
        </p:txBody>
      </p:sp>
      <p:grpSp>
        <p:nvGrpSpPr>
          <p:cNvPr id="17" name="node01"/>
          <p:cNvGrpSpPr/>
          <p:nvPr/>
        </p:nvGrpSpPr>
        <p:grpSpPr>
          <a:xfrm>
            <a:off x="723900" y="2057400"/>
            <a:ext cx="8915400" cy="609600"/>
            <a:chOff x="723900" y="2057400"/>
            <a:chExt cx="8915400" cy="609600"/>
          </a:xfrm>
        </p:grpSpPr>
        <p:sp>
          <p:nvSpPr>
            <p:cNvPr id="7" name="node01.text"/>
            <p:cNvSpPr/>
            <p:nvPr/>
          </p:nvSpPr>
          <p:spPr>
            <a:xfrm>
              <a:off x="723900" y="2057400"/>
              <a:ext cx="8915400" cy="6096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AI is cutting the time and cost of complex modernization by changing how teams analyze, design, build and test.</a:t>
              </a:r>
              <a:endParaRPr lang="en-US" sz="1600" spc="0" kern="0" b="0" i="0" dirty="0">
                <a:solidFill>
                  <a:srgbClr val="070154"/>
                </a:solidFill>
                <a:latin typeface="IBM Plex Sans"/>
                <a:ea typeface="IBM Plex Sans"/>
                <a:cs typeface="IBM Plex Sans"/>
              </a:endParaRPr>
            </a:p>
          </p:txBody>
        </p:sp>
      </p:grpSp>
      <p:grpSp>
        <p:nvGrpSpPr>
          <p:cNvPr id="18" name="node02"/>
          <p:cNvGrpSpPr/>
          <p:nvPr/>
        </p:nvGrpSpPr>
        <p:grpSpPr>
          <a:xfrm>
            <a:off x="723900" y="2819400"/>
            <a:ext cx="8915400" cy="304800"/>
            <a:chOff x="723900" y="2819400"/>
            <a:chExt cx="8915400" cy="304800"/>
          </a:xfrm>
        </p:grpSpPr>
        <p:sp>
          <p:nvSpPr>
            <p:cNvPr id="8" name="node02.text"/>
            <p:cNvSpPr/>
            <p:nvPr/>
          </p:nvSpPr>
          <p:spPr>
            <a:xfrm>
              <a:off x="723900" y="2819400"/>
              <a:ext cx="891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900D3"/>
                  </a:solidFill>
                  <a:latin typeface="IBM Plex Sans SemiBold"/>
                  <a:ea typeface="IBM Plex Sans SemiBold"/>
                  <a:cs typeface="IBM Plex Sans SemiBold"/>
                </a:rPr>
                <a:t>How are legacy systems holding your business back?</a:t>
              </a:r>
              <a:endParaRPr lang="en-US" sz="1800" spc="-18" kern="0" b="0" i="0" dirty="0">
                <a:solidFill>
                  <a:srgbClr val="F900D3"/>
                </a:solidFill>
                <a:latin typeface="IBM Plex Sans SemiBold"/>
                <a:ea typeface="IBM Plex Sans SemiBold"/>
                <a:cs typeface="IBM Plex Sans SemiBold"/>
              </a:endParaRPr>
            </a:p>
          </p:txBody>
        </p:sp>
      </p:grpSp>
      <p:grpSp>
        <p:nvGrpSpPr>
          <p:cNvPr id="19" name="node03"/>
          <p:cNvGrpSpPr/>
          <p:nvPr/>
        </p:nvGrpSpPr>
        <p:grpSpPr>
          <a:xfrm>
            <a:off x="723900" y="3429000"/>
            <a:ext cx="5257800" cy="2514600"/>
            <a:chOff x="723900" y="3429000"/>
            <a:chExt cx="5257800" cy="2514600"/>
          </a:xfrm>
        </p:grpSpPr>
        <p:sp>
          <p:nvSpPr>
            <p:cNvPr id="9" name="node03.container"/>
            <p:cNvSpPr/>
            <p:nvPr/>
          </p:nvSpPr>
          <p:spPr>
            <a:xfrm>
              <a:off x="723900" y="3429000"/>
              <a:ext cx="5257800" cy="2514600"/>
            </a:xfrm>
            <a:prstGeom prst="rect">
              <a:avLst/>
            </a:prstGeom>
            <a:solidFill>
              <a:srgbClr val="E8EEF8"/>
            </a:solidFill>
            <a:ln>
              <a:noFill/>
            </a:ln>
          </p:spPr>
        </p:sp>
        <p:sp>
          <p:nvSpPr>
            <p:cNvPr id="10" name="node03.label"/>
            <p:cNvSpPr/>
            <p:nvPr/>
          </p:nvSpPr>
          <p:spPr>
            <a:xfrm>
              <a:off x="952500" y="36576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AI-NATIVE READINESS</a:t>
              </a:r>
              <a:endParaRPr lang="en-US" sz="900" spc="54" kern="0" b="0" i="0" dirty="0">
                <a:solidFill>
                  <a:srgbClr val="0047FF"/>
                </a:solidFill>
                <a:latin typeface="IBM Plex Mono Medium"/>
                <a:ea typeface="IBM Plex Mono Medium"/>
                <a:cs typeface="IBM Plex Mono Medium"/>
              </a:endParaRPr>
            </a:p>
          </p:txBody>
        </p:sp>
        <p:sp>
          <p:nvSpPr>
            <p:cNvPr id="11" name="node03.title"/>
            <p:cNvSpPr/>
            <p:nvPr/>
          </p:nvSpPr>
          <p:spPr>
            <a:xfrm>
              <a:off x="952500" y="3886200"/>
              <a:ext cx="4800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How can you get your business ready to run on AI?</a:t>
              </a:r>
              <a:endParaRPr lang="en-US" sz="1400" spc="0" kern="0" b="0" i="0" dirty="0">
                <a:solidFill>
                  <a:srgbClr val="070154"/>
                </a:solidFill>
                <a:latin typeface="IBM Plex Sans"/>
                <a:ea typeface="IBM Plex Sans"/>
                <a:cs typeface="IBM Plex Sans"/>
              </a:endParaRPr>
            </a:p>
          </p:txBody>
        </p:sp>
        <p:sp>
          <p:nvSpPr>
            <p:cNvPr id="12" name="node03.body.item-001.paragraph"/>
            <p:cNvSpPr/>
            <p:nvPr/>
          </p:nvSpPr>
          <p:spPr>
            <a:xfrm>
              <a:off x="952500" y="4305300"/>
              <a:ext cx="48006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Most legacy estates were built before AI. Mapping data, interfaces and controls first shows which systems block AI-enabled workflows and which are ready now.</a:t>
              </a:r>
              <a:endParaRPr lang="en-US" sz="1400" spc="0" kern="0" b="0" i="0" dirty="0">
                <a:solidFill>
                  <a:srgbClr val="50658E"/>
                </a:solidFill>
                <a:latin typeface="IBM Plex Sans"/>
                <a:ea typeface="IBM Plex Sans"/>
                <a:cs typeface="IBM Plex Sans"/>
              </a:endParaRPr>
            </a:p>
          </p:txBody>
        </p:sp>
      </p:grpSp>
      <p:grpSp>
        <p:nvGrpSpPr>
          <p:cNvPr id="20" name="node04"/>
          <p:cNvGrpSpPr/>
          <p:nvPr/>
        </p:nvGrpSpPr>
        <p:grpSpPr>
          <a:xfrm>
            <a:off x="6210300" y="3429000"/>
            <a:ext cx="5257800" cy="2514600"/>
            <a:chOff x="6210300" y="3429000"/>
            <a:chExt cx="5257800" cy="2514600"/>
          </a:xfrm>
        </p:grpSpPr>
        <p:sp>
          <p:nvSpPr>
            <p:cNvPr id="13" name="node04.container"/>
            <p:cNvSpPr/>
            <p:nvPr/>
          </p:nvSpPr>
          <p:spPr>
            <a:xfrm>
              <a:off x="6210300" y="3429000"/>
              <a:ext cx="5257800" cy="2514600"/>
            </a:xfrm>
            <a:prstGeom prst="rect">
              <a:avLst/>
            </a:prstGeom>
            <a:solidFill>
              <a:srgbClr val="070154"/>
            </a:solidFill>
            <a:ln>
              <a:noFill/>
            </a:ln>
          </p:spPr>
        </p:sp>
        <p:sp>
          <p:nvSpPr>
            <p:cNvPr id="14" name="node04.label"/>
            <p:cNvSpPr/>
            <p:nvPr/>
          </p:nvSpPr>
          <p:spPr>
            <a:xfrm>
              <a:off x="6438900" y="36576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GROWTH VELOCITY</a:t>
              </a:r>
              <a:endParaRPr lang="en-US" sz="900" spc="54" kern="0" b="0" i="0" dirty="0">
                <a:solidFill>
                  <a:srgbClr val="F900D3"/>
                </a:solidFill>
                <a:latin typeface="IBM Plex Mono Medium"/>
                <a:ea typeface="IBM Plex Mono Medium"/>
                <a:cs typeface="IBM Plex Mono Medium"/>
              </a:endParaRPr>
            </a:p>
          </p:txBody>
        </p:sp>
        <p:sp>
          <p:nvSpPr>
            <p:cNvPr id="15" name="node04.title"/>
            <p:cNvSpPr/>
            <p:nvPr/>
          </p:nvSpPr>
          <p:spPr>
            <a:xfrm>
              <a:off x="6438900" y="3886200"/>
              <a:ext cx="4800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What products could you launch without release-cycle delays?</a:t>
              </a:r>
              <a:endParaRPr lang="en-US" sz="1400" spc="0" kern="0" b="0" i="0" dirty="0">
                <a:solidFill>
                  <a:srgbClr val="FFFFFF"/>
                </a:solidFill>
                <a:latin typeface="IBM Plex Sans"/>
                <a:ea typeface="IBM Plex Sans"/>
                <a:cs typeface="IBM Plex Sans"/>
              </a:endParaRPr>
            </a:p>
          </p:txBody>
        </p:sp>
        <p:sp>
          <p:nvSpPr>
            <p:cNvPr id="16" name="node04.body.item-001.paragraph"/>
            <p:cNvSpPr/>
            <p:nvPr/>
          </p:nvSpPr>
          <p:spPr>
            <a:xfrm>
              <a:off x="6438900" y="4572000"/>
              <a:ext cx="48006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Quarterly release trains slow every new idea. Modern, modular platforms let teams ship weekly, so a good idea reaches customers while it still matters.</a:t>
              </a:r>
              <a:endParaRPr lang="en-US" sz="1400" spc="0" kern="0" b="0" i="0" dirty="0">
                <a:solidFill>
                  <a:srgbClr val="CED7E6"/>
                </a:solidFill>
                <a:latin typeface="IBM Plex Sans"/>
                <a:ea typeface="IBM Plex Sans"/>
                <a:cs typeface="IBM Plex Sans"/>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ource-26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ECONOMICS</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3298210" y="733532"/>
            <a:ext cx="1378215" cy="374904"/>
          </a:xfrm>
          <a:prstGeom prst="rect">
            <a:avLst/>
          </a:prstGeom>
        </p:spPr>
      </p:pic>
      <p:sp>
        <p:nvSpPr>
          <p:cNvPr id="5"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The script has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flipped</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on how companies approach </a:t>
            </a:r>
            <a:br>
              <a:rPr lang="en-US" sz="3200" spc="-64" kern="0" b="0" i="0" dirty="0">
                <a:solidFill>
                  <a:srgbClr val="070154"/>
                </a:solidFill>
                <a:latin typeface="IBM Plex Sans SemiBold"/>
                <a:ea typeface="IBM Plex Sans SemiBold"/>
                <a:cs typeface="IBM Plex Sans SemiBold"/>
              </a:rPr>
            </a:br>
            <a:r>
              <a:rPr lang="en-US" sz="3200" spc="-64" kern="0" b="0" i="0" dirty="0">
                <a:solidFill>
                  <a:srgbClr val="070154"/>
                </a:solidFill>
                <a:latin typeface="IBM Plex Sans SemiBold"/>
                <a:ea typeface="IBM Plex Sans SemiBold"/>
                <a:cs typeface="IBM Plex Sans SemiBold"/>
              </a:rPr>
              <a:t xml:space="preserve">application modernization</a:t>
            </a:r>
            <a:endParaRPr lang="en-US" sz="3200" spc="-64" kern="0" b="0" i="0" dirty="0">
              <a:solidFill>
                <a:srgbClr val="070154"/>
              </a:solidFill>
              <a:latin typeface="IBM Plex Sans SemiBold"/>
              <a:ea typeface="IBM Plex Sans SemiBold"/>
              <a:cs typeface="IBM Plex Sans SemiBold"/>
            </a:endParaRPr>
          </a:p>
        </p:txBody>
      </p:sp>
      <p:sp>
        <p:nvSpPr>
          <p:cNvPr id="6" name="nav.section-01"/>
          <p:cNvSpPr/>
          <p:nvPr/>
        </p:nvSpPr>
        <p:spPr>
          <a:xfrm>
            <a:off x="266700" y="457200"/>
            <a:ext cx="228600" cy="1036320"/>
          </a:xfrm>
          <a:prstGeom prst="rect">
            <a:avLst/>
          </a:prstGeom>
          <a:solidFill>
            <a:srgbClr val="E8EEF8"/>
          </a:solidFill>
          <a:ln>
            <a:noFill/>
          </a:ln>
        </p:spPr>
      </p:sp>
      <p:sp>
        <p:nvSpPr>
          <p:cNvPr id="7"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569720"/>
            <a:ext cx="228600" cy="1036320"/>
          </a:xfrm>
          <a:prstGeom prst="rect">
            <a:avLst/>
          </a:prstGeom>
          <a:solidFill>
            <a:srgbClr val="070154"/>
          </a:solidFill>
          <a:ln>
            <a:noFill/>
          </a:ln>
        </p:spPr>
      </p:sp>
      <p:sp>
        <p:nvSpPr>
          <p:cNvPr id="9"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APPROACH</a:t>
            </a:r>
            <a:endParaRPr lang="en-US" sz="800" spc="80" kern="0" b="0" i="0" dirty="0">
              <a:solidFill>
                <a:srgbClr val="FFFFFF"/>
              </a:solidFill>
              <a:latin typeface="IBM Plex Mono SemiBold"/>
              <a:ea typeface="IBM Plex Mono SemiBold"/>
              <a:cs typeface="IBM Plex Mono SemiBold"/>
            </a:endParaRPr>
          </a:p>
        </p:txBody>
      </p:sp>
      <p:sp>
        <p:nvSpPr>
          <p:cNvPr id="10" name="nav.section-03"/>
          <p:cNvSpPr/>
          <p:nvPr/>
        </p:nvSpPr>
        <p:spPr>
          <a:xfrm>
            <a:off x="266700" y="2682240"/>
            <a:ext cx="228600" cy="1036320"/>
          </a:xfrm>
          <a:prstGeom prst="rect">
            <a:avLst/>
          </a:prstGeom>
          <a:solidFill>
            <a:srgbClr val="E8EEF8"/>
          </a:solidFill>
          <a:ln>
            <a:noFill/>
          </a:ln>
        </p:spPr>
      </p:sp>
      <p:sp>
        <p:nvSpPr>
          <p:cNvPr id="11"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2" name="nav.section-04"/>
          <p:cNvSpPr/>
          <p:nvPr/>
        </p:nvSpPr>
        <p:spPr>
          <a:xfrm>
            <a:off x="266700" y="3794760"/>
            <a:ext cx="228600" cy="1036320"/>
          </a:xfrm>
          <a:prstGeom prst="rect">
            <a:avLst/>
          </a:prstGeom>
          <a:solidFill>
            <a:srgbClr val="E8EEF8"/>
          </a:solidFill>
          <a:ln>
            <a:noFill/>
          </a:ln>
        </p:spPr>
      </p:sp>
      <p:sp>
        <p:nvSpPr>
          <p:cNvPr id="13"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4" name="nav.section-05"/>
          <p:cNvSpPr/>
          <p:nvPr/>
        </p:nvSpPr>
        <p:spPr>
          <a:xfrm>
            <a:off x="266700" y="4907280"/>
            <a:ext cx="228600" cy="1036320"/>
          </a:xfrm>
          <a:prstGeom prst="rect">
            <a:avLst/>
          </a:prstGeom>
          <a:solidFill>
            <a:srgbClr val="E8EEF8"/>
          </a:solidFill>
          <a:ln>
            <a:noFill/>
          </a:ln>
        </p:spPr>
      </p:sp>
      <p:sp>
        <p:nvSpPr>
          <p:cNvPr id="15"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NEXT STEPS</a:t>
            </a:r>
            <a:endParaRPr lang="en-US" sz="800" spc="80" kern="0" b="0" i="0" dirty="0">
              <a:solidFill>
                <a:srgbClr val="50658E"/>
              </a:solidFill>
              <a:latin typeface="IBM Plex Mono SemiBold"/>
              <a:ea typeface="IBM Plex Mono SemiBold"/>
              <a:cs typeface="IBM Plex Mono SemiBold"/>
            </a:endParaRPr>
          </a:p>
        </p:txBody>
      </p:sp>
      <p:sp>
        <p:nvSpPr>
          <p:cNvPr id="1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25</a:t>
            </a:fld>
            <a:endParaRPr lang="en-US" sz="700" spc="0" kern="0" b="0" i="0" dirty="0">
              <a:solidFill>
                <a:srgbClr val="070154"/>
              </a:solidFill>
              <a:latin typeface="IBM Plex Mono SemiBold"/>
              <a:ea typeface="IBM Plex Mono SemiBold"/>
              <a:cs typeface="IBM Plex Mono SemiBold"/>
            </a:endParaRPr>
          </a:p>
        </p:txBody>
      </p:sp>
      <p:grpSp>
        <p:nvGrpSpPr>
          <p:cNvPr id="32" name="node01"/>
          <p:cNvGrpSpPr/>
          <p:nvPr/>
        </p:nvGrpSpPr>
        <p:grpSpPr>
          <a:xfrm>
            <a:off x="723900" y="2057400"/>
            <a:ext cx="8915400" cy="609600"/>
            <a:chOff x="723900" y="2057400"/>
            <a:chExt cx="8915400" cy="609600"/>
          </a:xfrm>
        </p:grpSpPr>
        <p:sp>
          <p:nvSpPr>
            <p:cNvPr id="17" name="node01.text"/>
            <p:cNvSpPr/>
            <p:nvPr/>
          </p:nvSpPr>
          <p:spPr>
            <a:xfrm>
              <a:off x="723900" y="2057400"/>
              <a:ext cx="8915400" cy="6096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AI is cutting the time and cost of complex modernization by changing how teams analyze, design, build and test.</a:t>
              </a:r>
              <a:endParaRPr lang="en-US" sz="1600" spc="0" kern="0" b="0" i="0" dirty="0">
                <a:solidFill>
                  <a:srgbClr val="070154"/>
                </a:solidFill>
                <a:latin typeface="IBM Plex Sans"/>
                <a:ea typeface="IBM Plex Sans"/>
                <a:cs typeface="IBM Plex Sans"/>
              </a:endParaRPr>
            </a:p>
          </p:txBody>
        </p:sp>
      </p:grpSp>
      <p:grpSp>
        <p:nvGrpSpPr>
          <p:cNvPr id="33" name="node02"/>
          <p:cNvGrpSpPr/>
          <p:nvPr/>
        </p:nvGrpSpPr>
        <p:grpSpPr>
          <a:xfrm>
            <a:off x="723900" y="2895600"/>
            <a:ext cx="8915400" cy="304800"/>
            <a:chOff x="723900" y="2895600"/>
            <a:chExt cx="8915400" cy="304800"/>
          </a:xfrm>
        </p:grpSpPr>
        <p:sp>
          <p:nvSpPr>
            <p:cNvPr id="18" name="node02.text"/>
            <p:cNvSpPr/>
            <p:nvPr/>
          </p:nvSpPr>
          <p:spPr>
            <a:xfrm>
              <a:off x="723900" y="2895600"/>
              <a:ext cx="891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900D3"/>
                  </a:solidFill>
                  <a:latin typeface="IBM Plex Sans SemiBold"/>
                  <a:ea typeface="IBM Plex Sans SemiBold"/>
                  <a:cs typeface="IBM Plex Sans SemiBold"/>
                </a:rPr>
                <a:t>How are legacy systems holding your business back?</a:t>
              </a:r>
              <a:endParaRPr lang="en-US" sz="1800" spc="-18" kern="0" b="0" i="0" dirty="0">
                <a:solidFill>
                  <a:srgbClr val="F900D3"/>
                </a:solidFill>
                <a:latin typeface="IBM Plex Sans SemiBold"/>
                <a:ea typeface="IBM Plex Sans SemiBold"/>
                <a:cs typeface="IBM Plex Sans SemiBold"/>
              </a:endParaRPr>
            </a:p>
          </p:txBody>
        </p:sp>
      </p:grpSp>
      <p:grpSp>
        <p:nvGrpSpPr>
          <p:cNvPr id="34" name="node03"/>
          <p:cNvGrpSpPr/>
          <p:nvPr/>
        </p:nvGrpSpPr>
        <p:grpSpPr>
          <a:xfrm>
            <a:off x="723900" y="3276600"/>
            <a:ext cx="9829800" cy="762000"/>
            <a:chOff x="723900" y="3276600"/>
            <a:chExt cx="9829800" cy="762000"/>
          </a:xfrm>
        </p:grpSpPr>
        <p:sp>
          <p:nvSpPr>
            <p:cNvPr id="19" name="node03.text"/>
            <p:cNvSpPr/>
            <p:nvPr/>
          </p:nvSpPr>
          <p:spPr>
            <a:xfrm>
              <a:off x="723900" y="3276600"/>
              <a:ext cx="98298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If modernizing legacy software cost one-tenth of what you expect, what would that unlock?</a:t>
              </a:r>
              <a:endParaRPr lang="en-US" sz="2400" spc="-36" kern="0" b="0" i="0" dirty="0">
                <a:solidFill>
                  <a:srgbClr val="070154"/>
                </a:solidFill>
                <a:latin typeface="IBM Plex Sans SemiBold"/>
                <a:ea typeface="IBM Plex Sans SemiBold"/>
                <a:cs typeface="IBM Plex Sans SemiBold"/>
              </a:endParaRPr>
            </a:p>
          </p:txBody>
        </p:sp>
      </p:grpSp>
      <p:grpSp>
        <p:nvGrpSpPr>
          <p:cNvPr id="35" name="node04"/>
          <p:cNvGrpSpPr/>
          <p:nvPr/>
        </p:nvGrpSpPr>
        <p:grpSpPr>
          <a:xfrm>
            <a:off x="723900" y="4343400"/>
            <a:ext cx="2514600" cy="1600200"/>
            <a:chOff x="723900" y="4343400"/>
            <a:chExt cx="2514600" cy="1600200"/>
          </a:xfrm>
        </p:grpSpPr>
        <p:sp>
          <p:nvSpPr>
            <p:cNvPr id="20" name="node04.container"/>
            <p:cNvSpPr/>
            <p:nvPr/>
          </p:nvSpPr>
          <p:spPr>
            <a:xfrm>
              <a:off x="723900" y="4343400"/>
              <a:ext cx="2514600" cy="1600200"/>
            </a:xfrm>
            <a:prstGeom prst="rect">
              <a:avLst/>
            </a:prstGeom>
            <a:solidFill>
              <a:srgbClr val="E8EEF8"/>
            </a:solidFill>
            <a:ln>
              <a:noFill/>
            </a:ln>
          </p:spPr>
        </p:sp>
        <p:sp>
          <p:nvSpPr>
            <p:cNvPr id="21" name="node04.label"/>
            <p:cNvSpPr/>
            <p:nvPr/>
          </p:nvSpPr>
          <p:spPr>
            <a:xfrm>
              <a:off x="952500" y="45720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AI-NATIVE READINESS</a:t>
              </a:r>
              <a:endParaRPr lang="en-US" sz="900" spc="54" kern="0" b="0" i="0" dirty="0">
                <a:solidFill>
                  <a:srgbClr val="0047FF"/>
                </a:solidFill>
                <a:latin typeface="IBM Plex Mono Medium"/>
                <a:ea typeface="IBM Plex Mono Medium"/>
                <a:cs typeface="IBM Plex Mono Medium"/>
              </a:endParaRPr>
            </a:p>
          </p:txBody>
        </p:sp>
        <p:sp>
          <p:nvSpPr>
            <p:cNvPr id="22" name="node04.title"/>
            <p:cNvSpPr/>
            <p:nvPr/>
          </p:nvSpPr>
          <p:spPr>
            <a:xfrm>
              <a:off x="952500" y="4800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How can you get your business ready to run on AI?</a:t>
              </a:r>
              <a:endParaRPr lang="en-US" sz="1400" spc="0" kern="0" b="0" i="0" dirty="0">
                <a:solidFill>
                  <a:srgbClr val="070154"/>
                </a:solidFill>
                <a:latin typeface="IBM Plex Sans"/>
                <a:ea typeface="IBM Plex Sans"/>
                <a:cs typeface="IBM Plex Sans"/>
              </a:endParaRPr>
            </a:p>
          </p:txBody>
        </p:sp>
      </p:grpSp>
      <p:grpSp>
        <p:nvGrpSpPr>
          <p:cNvPr id="36" name="node05"/>
          <p:cNvGrpSpPr/>
          <p:nvPr/>
        </p:nvGrpSpPr>
        <p:grpSpPr>
          <a:xfrm>
            <a:off x="3467100" y="4343400"/>
            <a:ext cx="2514600" cy="1600200"/>
            <a:chOff x="3467100" y="4343400"/>
            <a:chExt cx="2514600" cy="1600200"/>
          </a:xfrm>
        </p:grpSpPr>
        <p:sp>
          <p:nvSpPr>
            <p:cNvPr id="23" name="node05.container"/>
            <p:cNvSpPr/>
            <p:nvPr/>
          </p:nvSpPr>
          <p:spPr>
            <a:xfrm>
              <a:off x="3467100" y="4343400"/>
              <a:ext cx="2514600" cy="1600200"/>
            </a:xfrm>
            <a:prstGeom prst="rect">
              <a:avLst/>
            </a:prstGeom>
            <a:solidFill>
              <a:srgbClr val="070154"/>
            </a:solidFill>
            <a:ln>
              <a:noFill/>
            </a:ln>
          </p:spPr>
        </p:sp>
        <p:sp>
          <p:nvSpPr>
            <p:cNvPr id="24" name="node05.label"/>
            <p:cNvSpPr/>
            <p:nvPr/>
          </p:nvSpPr>
          <p:spPr>
            <a:xfrm>
              <a:off x="3695700" y="45720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GROWTH VELOCITY</a:t>
              </a:r>
              <a:endParaRPr lang="en-US" sz="900" spc="54" kern="0" b="0" i="0" dirty="0">
                <a:solidFill>
                  <a:srgbClr val="F900D3"/>
                </a:solidFill>
                <a:latin typeface="IBM Plex Mono Medium"/>
                <a:ea typeface="IBM Plex Mono Medium"/>
                <a:cs typeface="IBM Plex Mono Medium"/>
              </a:endParaRPr>
            </a:p>
          </p:txBody>
        </p:sp>
        <p:sp>
          <p:nvSpPr>
            <p:cNvPr id="25" name="node05.title"/>
            <p:cNvSpPr/>
            <p:nvPr/>
          </p:nvSpPr>
          <p:spPr>
            <a:xfrm>
              <a:off x="3695700" y="4800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What products could you launch without release-cycle delays?</a:t>
              </a:r>
              <a:endParaRPr lang="en-US" sz="1400" spc="0" kern="0" b="0" i="0" dirty="0">
                <a:solidFill>
                  <a:srgbClr val="FFFFFF"/>
                </a:solidFill>
                <a:latin typeface="IBM Plex Sans"/>
                <a:ea typeface="IBM Plex Sans"/>
                <a:cs typeface="IBM Plex Sans"/>
              </a:endParaRPr>
            </a:p>
          </p:txBody>
        </p:sp>
      </p:grpSp>
      <p:grpSp>
        <p:nvGrpSpPr>
          <p:cNvPr id="37" name="node06"/>
          <p:cNvGrpSpPr/>
          <p:nvPr/>
        </p:nvGrpSpPr>
        <p:grpSpPr>
          <a:xfrm>
            <a:off x="6210300" y="4343400"/>
            <a:ext cx="2514600" cy="1600200"/>
            <a:chOff x="6210300" y="4343400"/>
            <a:chExt cx="2514600" cy="1600200"/>
          </a:xfrm>
        </p:grpSpPr>
        <p:sp>
          <p:nvSpPr>
            <p:cNvPr id="26" name="node06.container"/>
            <p:cNvSpPr/>
            <p:nvPr/>
          </p:nvSpPr>
          <p:spPr>
            <a:xfrm>
              <a:off x="6210300" y="4343400"/>
              <a:ext cx="2514600" cy="1600200"/>
            </a:xfrm>
            <a:prstGeom prst="rect">
              <a:avLst/>
            </a:prstGeom>
            <a:solidFill>
              <a:srgbClr val="E8EEF8"/>
            </a:solidFill>
            <a:ln>
              <a:noFill/>
            </a:ln>
          </p:spPr>
        </p:sp>
        <p:sp>
          <p:nvSpPr>
            <p:cNvPr id="27" name="node06.label"/>
            <p:cNvSpPr/>
            <p:nvPr/>
          </p:nvSpPr>
          <p:spPr>
            <a:xfrm>
              <a:off x="6438900" y="45720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COST EFFICIENCY</a:t>
              </a:r>
              <a:endParaRPr lang="en-US" sz="900" spc="54" kern="0" b="0" i="0" dirty="0">
                <a:solidFill>
                  <a:srgbClr val="0047FF"/>
                </a:solidFill>
                <a:latin typeface="IBM Plex Mono Medium"/>
                <a:ea typeface="IBM Plex Mono Medium"/>
                <a:cs typeface="IBM Plex Mono Medium"/>
              </a:endParaRPr>
            </a:p>
          </p:txBody>
        </p:sp>
        <p:sp>
          <p:nvSpPr>
            <p:cNvPr id="28" name="node06.title"/>
            <p:cNvSpPr/>
            <p:nvPr/>
          </p:nvSpPr>
          <p:spPr>
            <a:xfrm>
              <a:off x="6438900" y="4800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Where would fewer handoffs unlock efficiency?</a:t>
              </a:r>
              <a:endParaRPr lang="en-US" sz="1400" spc="0" kern="0" b="0" i="0" dirty="0">
                <a:solidFill>
                  <a:srgbClr val="070154"/>
                </a:solidFill>
                <a:latin typeface="IBM Plex Sans"/>
                <a:ea typeface="IBM Plex Sans"/>
                <a:cs typeface="IBM Plex Sans"/>
              </a:endParaRPr>
            </a:p>
          </p:txBody>
        </p:sp>
      </p:grpSp>
      <p:grpSp>
        <p:nvGrpSpPr>
          <p:cNvPr id="38" name="node07"/>
          <p:cNvGrpSpPr/>
          <p:nvPr/>
        </p:nvGrpSpPr>
        <p:grpSpPr>
          <a:xfrm>
            <a:off x="8953500" y="4343400"/>
            <a:ext cx="2514600" cy="1600200"/>
            <a:chOff x="8953500" y="4343400"/>
            <a:chExt cx="2514600" cy="1600200"/>
          </a:xfrm>
        </p:grpSpPr>
        <p:sp>
          <p:nvSpPr>
            <p:cNvPr id="29" name="node07.container"/>
            <p:cNvSpPr/>
            <p:nvPr/>
          </p:nvSpPr>
          <p:spPr>
            <a:xfrm>
              <a:off x="8953500" y="4343400"/>
              <a:ext cx="2514600" cy="1600200"/>
            </a:xfrm>
            <a:prstGeom prst="rect">
              <a:avLst/>
            </a:prstGeom>
            <a:solidFill>
              <a:srgbClr val="070154"/>
            </a:solidFill>
            <a:ln>
              <a:noFill/>
            </a:ln>
          </p:spPr>
        </p:sp>
        <p:sp>
          <p:nvSpPr>
            <p:cNvPr id="30" name="node07.label"/>
            <p:cNvSpPr/>
            <p:nvPr/>
          </p:nvSpPr>
          <p:spPr>
            <a:xfrm>
              <a:off x="9182100" y="45720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CUSTOMER MOAT</a:t>
              </a:r>
              <a:endParaRPr lang="en-US" sz="900" spc="54" kern="0" b="0" i="0" dirty="0">
                <a:solidFill>
                  <a:srgbClr val="F900D3"/>
                </a:solidFill>
                <a:latin typeface="IBM Plex Mono Medium"/>
                <a:ea typeface="IBM Plex Mono Medium"/>
                <a:cs typeface="IBM Plex Mono Medium"/>
              </a:endParaRPr>
            </a:p>
          </p:txBody>
        </p:sp>
        <p:sp>
          <p:nvSpPr>
            <p:cNvPr id="31" name="node07.title"/>
            <p:cNvSpPr/>
            <p:nvPr/>
          </p:nvSpPr>
          <p:spPr>
            <a:xfrm>
              <a:off x="9182100" y="4800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How could a connected experience deepen loyalty?</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ource-11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FUTURE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Eight changes deliver the five-day close</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036320"/>
          </a:xfrm>
          <a:prstGeom prst="rect">
            <a:avLst/>
          </a:prstGeom>
          <a:solidFill>
            <a:srgbClr val="E8EEF8"/>
          </a:solidFill>
          <a:ln>
            <a:noFill/>
          </a:ln>
        </p:spPr>
      </p:sp>
      <p:sp>
        <p:nvSpPr>
          <p:cNvPr id="6"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569720"/>
            <a:ext cx="228600" cy="1036320"/>
          </a:xfrm>
          <a:prstGeom prst="rect">
            <a:avLst/>
          </a:prstGeom>
          <a:solidFill>
            <a:srgbClr val="E8EEF8"/>
          </a:solidFill>
          <a:ln>
            <a:noFill/>
          </a:ln>
        </p:spPr>
      </p:sp>
      <p:sp>
        <p:nvSpPr>
          <p:cNvPr id="8"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9" name="nav.section-03"/>
          <p:cNvSpPr/>
          <p:nvPr/>
        </p:nvSpPr>
        <p:spPr>
          <a:xfrm>
            <a:off x="266700" y="2682240"/>
            <a:ext cx="228600" cy="1036320"/>
          </a:xfrm>
          <a:prstGeom prst="rect">
            <a:avLst/>
          </a:prstGeom>
          <a:solidFill>
            <a:srgbClr val="070154"/>
          </a:solidFill>
          <a:ln>
            <a:noFill/>
          </a:ln>
        </p:spPr>
      </p:sp>
      <p:sp>
        <p:nvSpPr>
          <p:cNvPr id="10"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TEAM</a:t>
            </a:r>
            <a:endParaRPr lang="en-US" sz="800" spc="80" kern="0" b="0" i="0" dirty="0">
              <a:solidFill>
                <a:srgbClr val="FFFFFF"/>
              </a:solidFill>
              <a:latin typeface="IBM Plex Mono SemiBold"/>
              <a:ea typeface="IBM Plex Mono SemiBold"/>
              <a:cs typeface="IBM Plex Mono SemiBold"/>
            </a:endParaRPr>
          </a:p>
        </p:txBody>
      </p:sp>
      <p:sp>
        <p:nvSpPr>
          <p:cNvPr id="11" name="nav.section-04"/>
          <p:cNvSpPr/>
          <p:nvPr/>
        </p:nvSpPr>
        <p:spPr>
          <a:xfrm>
            <a:off x="266700" y="3794760"/>
            <a:ext cx="228600" cy="1036320"/>
          </a:xfrm>
          <a:prstGeom prst="rect">
            <a:avLst/>
          </a:prstGeom>
          <a:solidFill>
            <a:srgbClr val="E8EEF8"/>
          </a:solidFill>
          <a:ln>
            <a:noFill/>
          </a:ln>
        </p:spPr>
      </p:sp>
      <p:sp>
        <p:nvSpPr>
          <p:cNvPr id="12"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3" name="nav.section-05"/>
          <p:cNvSpPr/>
          <p:nvPr/>
        </p:nvSpPr>
        <p:spPr>
          <a:xfrm>
            <a:off x="266700" y="4907280"/>
            <a:ext cx="228600" cy="1036320"/>
          </a:xfrm>
          <a:prstGeom prst="rect">
            <a:avLst/>
          </a:prstGeom>
          <a:solidFill>
            <a:srgbClr val="E8EEF8"/>
          </a:solidFill>
          <a:ln>
            <a:noFill/>
          </a:ln>
        </p:spPr>
      </p:sp>
      <p:sp>
        <p:nvSpPr>
          <p:cNvPr id="14"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NEXT STEPS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26</a:t>
            </a:fld>
            <a:endParaRPr lang="en-US" sz="700" spc="0" kern="0" b="0" i="0" dirty="0">
              <a:solidFill>
                <a:srgbClr val="070154"/>
              </a:solidFill>
              <a:latin typeface="IBM Plex Mono SemiBold"/>
              <a:ea typeface="IBM Plex Mono SemiBold"/>
              <a:cs typeface="IBM Plex Mono SemiBold"/>
            </a:endParaRPr>
          </a:p>
        </p:txBody>
      </p:sp>
      <p:grpSp>
        <p:nvGrpSpPr>
          <p:cNvPr id="51" name="node01"/>
          <p:cNvGrpSpPr/>
          <p:nvPr/>
        </p:nvGrpSpPr>
        <p:grpSpPr>
          <a:xfrm>
            <a:off x="723900" y="1600200"/>
            <a:ext cx="2514600" cy="139700"/>
            <a:chOff x="723900" y="1600200"/>
            <a:chExt cx="2514600" cy="139700"/>
          </a:xfrm>
        </p:grpSpPr>
        <p:sp>
          <p:nvSpPr>
            <p:cNvPr id="16" name="node01.text"/>
            <p:cNvSpPr/>
            <p:nvPr/>
          </p:nvSpPr>
          <p:spPr>
            <a:xfrm>
              <a:off x="723900" y="1600200"/>
              <a:ext cx="25146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WHY IT MATTERS</a:t>
              </a:r>
              <a:endParaRPr lang="en-US" sz="900" spc="72" kern="0" b="0" i="0" dirty="0">
                <a:solidFill>
                  <a:srgbClr val="0047FF"/>
                </a:solidFill>
                <a:latin typeface="IBM Plex Mono SemiBold"/>
                <a:ea typeface="IBM Plex Mono SemiBold"/>
                <a:cs typeface="IBM Plex Mono SemiBold"/>
              </a:endParaRPr>
            </a:p>
          </p:txBody>
        </p:sp>
      </p:grpSp>
      <p:grpSp>
        <p:nvGrpSpPr>
          <p:cNvPr id="52" name="node02"/>
          <p:cNvGrpSpPr/>
          <p:nvPr/>
        </p:nvGrpSpPr>
        <p:grpSpPr>
          <a:xfrm>
            <a:off x="723900" y="1828800"/>
            <a:ext cx="2514600" cy="685800"/>
            <a:chOff x="723900" y="1828800"/>
            <a:chExt cx="2514600" cy="685800"/>
          </a:xfrm>
        </p:grpSpPr>
        <p:sp>
          <p:nvSpPr>
            <p:cNvPr id="17" name="node02.text"/>
            <p:cNvSpPr/>
            <p:nvPr/>
          </p:nvSpPr>
          <p:spPr>
            <a:xfrm>
              <a:off x="723900" y="1828800"/>
              <a:ext cx="2514600" cy="6858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 close that runs on rules</a:t>
              </a:r>
              <a:endParaRPr lang="en-US" sz="1600" spc="-16" kern="0" b="0" i="0" dirty="0">
                <a:solidFill>
                  <a:srgbClr val="070154"/>
                </a:solidFill>
                <a:latin typeface="IBM Plex Sans SemiBold"/>
                <a:ea typeface="IBM Plex Sans SemiBold"/>
                <a:cs typeface="IBM Plex Sans SemiBold"/>
              </a:endParaRPr>
            </a:p>
          </p:txBody>
        </p:sp>
      </p:grpSp>
      <p:grpSp>
        <p:nvGrpSpPr>
          <p:cNvPr id="53" name="node03"/>
          <p:cNvGrpSpPr/>
          <p:nvPr/>
        </p:nvGrpSpPr>
        <p:grpSpPr>
          <a:xfrm>
            <a:off x="723900" y="2743200"/>
            <a:ext cx="2514600" cy="647700"/>
            <a:chOff x="723900" y="2743200"/>
            <a:chExt cx="2514600" cy="647700"/>
          </a:xfrm>
        </p:grpSpPr>
        <p:sp>
          <p:nvSpPr>
            <p:cNvPr id="18" name="node03.text"/>
            <p:cNvSpPr/>
            <p:nvPr/>
          </p:nvSpPr>
          <p:spPr>
            <a:xfrm>
              <a:off x="723900" y="2743200"/>
              <a:ext cx="25146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takes 12 days because work waits for people. We resequence it so entries are checked as they post.</a:t>
              </a:r>
              <a:endParaRPr lang="en-US" sz="1200" spc="0" kern="0" b="0" i="0" dirty="0">
                <a:solidFill>
                  <a:srgbClr val="070154"/>
                </a:solidFill>
                <a:latin typeface="IBM Plex Sans"/>
                <a:ea typeface="IBM Plex Sans"/>
                <a:cs typeface="IBM Plex Sans"/>
              </a:endParaRPr>
            </a:p>
          </p:txBody>
        </p:sp>
      </p:grpSp>
      <p:grpSp>
        <p:nvGrpSpPr>
          <p:cNvPr id="54" name="node04"/>
          <p:cNvGrpSpPr/>
          <p:nvPr/>
        </p:nvGrpSpPr>
        <p:grpSpPr>
          <a:xfrm>
            <a:off x="3467100" y="1600200"/>
            <a:ext cx="1828800" cy="2057400"/>
            <a:chOff x="3467100" y="1600200"/>
            <a:chExt cx="1828800" cy="2057400"/>
          </a:xfrm>
        </p:grpSpPr>
        <p:sp>
          <p:nvSpPr>
            <p:cNvPr id="19" name="node04.container"/>
            <p:cNvSpPr/>
            <p:nvPr/>
          </p:nvSpPr>
          <p:spPr>
            <a:xfrm>
              <a:off x="3467100" y="1600200"/>
              <a:ext cx="1828800" cy="2057400"/>
            </a:xfrm>
            <a:prstGeom prst="rect">
              <a:avLst/>
            </a:prstGeom>
            <a:solidFill>
              <a:srgbClr val="E8EEF8"/>
            </a:solidFill>
            <a:ln>
              <a:noFill/>
            </a:ln>
          </p:spPr>
        </p:sp>
        <p:sp>
          <p:nvSpPr>
            <p:cNvPr id="20" name="node04.number"/>
            <p:cNvSpPr/>
            <p:nvPr/>
          </p:nvSpPr>
          <p:spPr>
            <a:xfrm>
              <a:off x="36195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21" name="node04.title"/>
            <p:cNvSpPr/>
            <p:nvPr/>
          </p:nvSpPr>
          <p:spPr>
            <a:xfrm>
              <a:off x="3990975" y="1790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Reconcile</a:t>
              </a:r>
              <a:endParaRPr lang="en-US" sz="1200" spc="0" kern="0" b="0" i="0" dirty="0">
                <a:solidFill>
                  <a:srgbClr val="070154"/>
                </a:solidFill>
                <a:latin typeface="IBM Plex Sans"/>
                <a:ea typeface="IBM Plex Sans"/>
                <a:cs typeface="IBM Plex Sans"/>
              </a:endParaRPr>
            </a:p>
          </p:txBody>
        </p:sp>
        <p:sp>
          <p:nvSpPr>
            <p:cNvPr id="22" name="node04.body.item-001.paragraph"/>
            <p:cNvSpPr/>
            <p:nvPr/>
          </p:nvSpPr>
          <p:spPr>
            <a:xfrm>
              <a:off x="3619500" y="2171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template and owner for every balance-sheet account.</a:t>
              </a:r>
              <a:endParaRPr lang="en-US" sz="1200" spc="0" kern="0" b="0" i="0" dirty="0">
                <a:solidFill>
                  <a:srgbClr val="50658E"/>
                </a:solidFill>
                <a:latin typeface="IBM Plex Sans"/>
                <a:ea typeface="IBM Plex Sans"/>
                <a:cs typeface="IBM Plex Sans"/>
              </a:endParaRPr>
            </a:p>
          </p:txBody>
        </p:sp>
      </p:grpSp>
      <p:grpSp>
        <p:nvGrpSpPr>
          <p:cNvPr id="55" name="node05"/>
          <p:cNvGrpSpPr/>
          <p:nvPr/>
        </p:nvGrpSpPr>
        <p:grpSpPr>
          <a:xfrm>
            <a:off x="5524500" y="1600200"/>
            <a:ext cx="1828800" cy="2057400"/>
            <a:chOff x="5524500" y="1600200"/>
            <a:chExt cx="1828800" cy="2057400"/>
          </a:xfrm>
        </p:grpSpPr>
        <p:sp>
          <p:nvSpPr>
            <p:cNvPr id="23" name="node05.container"/>
            <p:cNvSpPr/>
            <p:nvPr/>
          </p:nvSpPr>
          <p:spPr>
            <a:xfrm>
              <a:off x="5524500" y="1600200"/>
              <a:ext cx="1828800" cy="2057400"/>
            </a:xfrm>
            <a:prstGeom prst="rect">
              <a:avLst/>
            </a:prstGeom>
            <a:solidFill>
              <a:srgbClr val="E8EEF8"/>
            </a:solidFill>
            <a:ln>
              <a:noFill/>
            </a:ln>
          </p:spPr>
        </p:sp>
        <p:sp>
          <p:nvSpPr>
            <p:cNvPr id="24" name="node05.number"/>
            <p:cNvSpPr/>
            <p:nvPr/>
          </p:nvSpPr>
          <p:spPr>
            <a:xfrm>
              <a:off x="56769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25" name="node05.title"/>
            <p:cNvSpPr/>
            <p:nvPr/>
          </p:nvSpPr>
          <p:spPr>
            <a:xfrm>
              <a:off x="6048375" y="1790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Matching</a:t>
              </a:r>
              <a:endParaRPr lang="en-US" sz="1200" spc="0" kern="0" b="0" i="0" dirty="0">
                <a:solidFill>
                  <a:srgbClr val="070154"/>
                </a:solidFill>
                <a:latin typeface="IBM Plex Sans"/>
                <a:ea typeface="IBM Plex Sans"/>
                <a:cs typeface="IBM Plex Sans"/>
              </a:endParaRPr>
            </a:p>
          </p:txBody>
        </p:sp>
        <p:sp>
          <p:nvSpPr>
            <p:cNvPr id="26" name="node05.body.item-001.paragraph"/>
            <p:cNvSpPr/>
            <p:nvPr/>
          </p:nvSpPr>
          <p:spPr>
            <a:xfrm>
              <a:off x="5676900" y="2171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Intercompany balances match overnight across eleven entities.</a:t>
              </a:r>
              <a:endParaRPr lang="en-US" sz="1200" spc="0" kern="0" b="0" i="0" dirty="0">
                <a:solidFill>
                  <a:srgbClr val="50658E"/>
                </a:solidFill>
                <a:latin typeface="IBM Plex Sans"/>
                <a:ea typeface="IBM Plex Sans"/>
                <a:cs typeface="IBM Plex Sans"/>
              </a:endParaRPr>
            </a:p>
          </p:txBody>
        </p:sp>
      </p:grpSp>
      <p:grpSp>
        <p:nvGrpSpPr>
          <p:cNvPr id="56" name="node06"/>
          <p:cNvGrpSpPr/>
          <p:nvPr/>
        </p:nvGrpSpPr>
        <p:grpSpPr>
          <a:xfrm>
            <a:off x="7581900" y="1600200"/>
            <a:ext cx="1828800" cy="2057400"/>
            <a:chOff x="7581900" y="1600200"/>
            <a:chExt cx="1828800" cy="2057400"/>
          </a:xfrm>
        </p:grpSpPr>
        <p:sp>
          <p:nvSpPr>
            <p:cNvPr id="27" name="node06.container"/>
            <p:cNvSpPr/>
            <p:nvPr/>
          </p:nvSpPr>
          <p:spPr>
            <a:xfrm>
              <a:off x="7581900" y="1600200"/>
              <a:ext cx="1828800" cy="2057400"/>
            </a:xfrm>
            <a:prstGeom prst="rect">
              <a:avLst/>
            </a:prstGeom>
            <a:solidFill>
              <a:srgbClr val="E8EEF8"/>
            </a:solidFill>
            <a:ln>
              <a:noFill/>
            </a:ln>
          </p:spPr>
        </p:sp>
        <p:sp>
          <p:nvSpPr>
            <p:cNvPr id="28" name="node06.number"/>
            <p:cNvSpPr/>
            <p:nvPr/>
          </p:nvSpPr>
          <p:spPr>
            <a:xfrm>
              <a:off x="77343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29" name="node06.title"/>
            <p:cNvSpPr/>
            <p:nvPr/>
          </p:nvSpPr>
          <p:spPr>
            <a:xfrm>
              <a:off x="8105775" y="1790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Early review</a:t>
              </a:r>
              <a:endParaRPr lang="en-US" sz="1200" spc="0" kern="0" b="0" i="0" dirty="0">
                <a:solidFill>
                  <a:srgbClr val="070154"/>
                </a:solidFill>
                <a:latin typeface="IBM Plex Sans"/>
                <a:ea typeface="IBM Plex Sans"/>
                <a:cs typeface="IBM Plex Sans"/>
              </a:endParaRPr>
            </a:p>
          </p:txBody>
        </p:sp>
        <p:sp>
          <p:nvSpPr>
            <p:cNvPr id="30" name="node06.body.item-001.paragraph"/>
            <p:cNvSpPr/>
            <p:nvPr/>
          </p:nvSpPr>
          <p:spPr>
            <a:xfrm>
              <a:off x="7734300" y="2171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Controllers review entries as they post, not in one push on day nine.</a:t>
              </a:r>
              <a:endParaRPr lang="en-US" sz="1200" spc="0" kern="0" b="0" i="0" dirty="0">
                <a:solidFill>
                  <a:srgbClr val="50658E"/>
                </a:solidFill>
                <a:latin typeface="IBM Plex Sans"/>
                <a:ea typeface="IBM Plex Sans"/>
                <a:cs typeface="IBM Plex Sans"/>
              </a:endParaRPr>
            </a:p>
          </p:txBody>
        </p:sp>
      </p:grpSp>
      <p:grpSp>
        <p:nvGrpSpPr>
          <p:cNvPr id="57" name="node07"/>
          <p:cNvGrpSpPr/>
          <p:nvPr/>
        </p:nvGrpSpPr>
        <p:grpSpPr>
          <a:xfrm>
            <a:off x="9639300" y="1600200"/>
            <a:ext cx="1828800" cy="2057400"/>
            <a:chOff x="9639300" y="1600200"/>
            <a:chExt cx="1828800" cy="2057400"/>
          </a:xfrm>
        </p:grpSpPr>
        <p:sp>
          <p:nvSpPr>
            <p:cNvPr id="31" name="node07.container"/>
            <p:cNvSpPr/>
            <p:nvPr/>
          </p:nvSpPr>
          <p:spPr>
            <a:xfrm>
              <a:off x="9639300" y="1600200"/>
              <a:ext cx="1828800" cy="2057400"/>
            </a:xfrm>
            <a:prstGeom prst="rect">
              <a:avLst/>
            </a:prstGeom>
            <a:solidFill>
              <a:srgbClr val="E8EEF8"/>
            </a:solidFill>
            <a:ln>
              <a:noFill/>
            </a:ln>
          </p:spPr>
        </p:sp>
        <p:sp>
          <p:nvSpPr>
            <p:cNvPr id="32" name="node07.number"/>
            <p:cNvSpPr/>
            <p:nvPr/>
          </p:nvSpPr>
          <p:spPr>
            <a:xfrm>
              <a:off x="97917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04</a:t>
              </a:r>
              <a:endParaRPr lang="en-US" sz="1600" spc="0" kern="0" b="0" i="0" dirty="0">
                <a:solidFill>
                  <a:srgbClr val="0047FF"/>
                </a:solidFill>
                <a:latin typeface="IBM Plex Mono SemiBold"/>
                <a:ea typeface="IBM Plex Mono SemiBold"/>
                <a:cs typeface="IBM Plex Mono SemiBold"/>
              </a:endParaRPr>
            </a:p>
          </p:txBody>
        </p:sp>
        <p:sp>
          <p:nvSpPr>
            <p:cNvPr id="33" name="node07.title"/>
            <p:cNvSpPr/>
            <p:nvPr/>
          </p:nvSpPr>
          <p:spPr>
            <a:xfrm>
              <a:off x="10163175" y="1790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Ownership</a:t>
              </a:r>
              <a:endParaRPr lang="en-US" sz="1200" spc="0" kern="0" b="0" i="0" dirty="0">
                <a:solidFill>
                  <a:srgbClr val="070154"/>
                </a:solidFill>
                <a:latin typeface="IBM Plex Sans"/>
                <a:ea typeface="IBM Plex Sans"/>
                <a:cs typeface="IBM Plex Sans"/>
              </a:endParaRPr>
            </a:p>
          </p:txBody>
        </p:sp>
        <p:sp>
          <p:nvSpPr>
            <p:cNvPr id="34" name="node07.body.item-001.paragraph"/>
            <p:cNvSpPr/>
            <p:nvPr/>
          </p:nvSpPr>
          <p:spPr>
            <a:xfrm>
              <a:off x="9791700" y="2171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Every close task has a named owner, a due time and an escalation path.</a:t>
              </a:r>
              <a:endParaRPr lang="en-US" sz="1200" spc="0" kern="0" b="0" i="0" dirty="0">
                <a:solidFill>
                  <a:srgbClr val="50658E"/>
                </a:solidFill>
                <a:latin typeface="IBM Plex Sans"/>
                <a:ea typeface="IBM Plex Sans"/>
                <a:cs typeface="IBM Plex Sans"/>
              </a:endParaRPr>
            </a:p>
          </p:txBody>
        </p:sp>
      </p:grpSp>
      <p:grpSp>
        <p:nvGrpSpPr>
          <p:cNvPr id="58" name="node08"/>
          <p:cNvGrpSpPr/>
          <p:nvPr/>
        </p:nvGrpSpPr>
        <p:grpSpPr>
          <a:xfrm>
            <a:off x="3467100" y="3886200"/>
            <a:ext cx="1828800" cy="2057400"/>
            <a:chOff x="3467100" y="3886200"/>
            <a:chExt cx="1828800" cy="2057400"/>
          </a:xfrm>
        </p:grpSpPr>
        <p:sp>
          <p:nvSpPr>
            <p:cNvPr id="35" name="node08.container"/>
            <p:cNvSpPr/>
            <p:nvPr/>
          </p:nvSpPr>
          <p:spPr>
            <a:xfrm>
              <a:off x="3467100" y="3886200"/>
              <a:ext cx="1828800" cy="2057400"/>
            </a:xfrm>
            <a:prstGeom prst="rect">
              <a:avLst/>
            </a:prstGeom>
            <a:solidFill>
              <a:srgbClr val="E8EEF8"/>
            </a:solidFill>
            <a:ln>
              <a:noFill/>
            </a:ln>
          </p:spPr>
        </p:sp>
        <p:sp>
          <p:nvSpPr>
            <p:cNvPr id="36" name="node08.number"/>
            <p:cNvSpPr/>
            <p:nvPr/>
          </p:nvSpPr>
          <p:spPr>
            <a:xfrm>
              <a:off x="3619500" y="4038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05</a:t>
              </a:r>
              <a:endParaRPr lang="en-US" sz="1600" spc="0" kern="0" b="0" i="0" dirty="0">
                <a:solidFill>
                  <a:srgbClr val="0047FF"/>
                </a:solidFill>
                <a:latin typeface="IBM Plex Mono SemiBold"/>
                <a:ea typeface="IBM Plex Mono SemiBold"/>
                <a:cs typeface="IBM Plex Mono SemiBold"/>
              </a:endParaRPr>
            </a:p>
          </p:txBody>
        </p:sp>
        <p:sp>
          <p:nvSpPr>
            <p:cNvPr id="37" name="node08.title"/>
            <p:cNvSpPr/>
            <p:nvPr/>
          </p:nvSpPr>
          <p:spPr>
            <a:xfrm>
              <a:off x="3990975" y="4076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Flash report</a:t>
              </a:r>
              <a:endParaRPr lang="en-US" sz="1200" spc="0" kern="0" b="0" i="0" dirty="0">
                <a:solidFill>
                  <a:srgbClr val="070154"/>
                </a:solidFill>
                <a:latin typeface="IBM Plex Sans"/>
                <a:ea typeface="IBM Plex Sans"/>
                <a:cs typeface="IBM Plex Sans"/>
              </a:endParaRPr>
            </a:p>
          </p:txBody>
        </p:sp>
        <p:sp>
          <p:nvSpPr>
            <p:cNvPr id="38" name="node08.body.item-001.paragraph"/>
            <p:cNvSpPr/>
            <p:nvPr/>
          </p:nvSpPr>
          <p:spPr>
            <a:xfrm>
              <a:off x="3619500" y="4457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Flash results are ready on day three and the full package on day five.</a:t>
              </a:r>
              <a:endParaRPr lang="en-US" sz="1200" spc="0" kern="0" b="0" i="0" dirty="0">
                <a:solidFill>
                  <a:srgbClr val="50658E"/>
                </a:solidFill>
                <a:latin typeface="IBM Plex Sans"/>
                <a:ea typeface="IBM Plex Sans"/>
                <a:cs typeface="IBM Plex Sans"/>
              </a:endParaRPr>
            </a:p>
          </p:txBody>
        </p:sp>
      </p:grpSp>
      <p:grpSp>
        <p:nvGrpSpPr>
          <p:cNvPr id="59" name="node09"/>
          <p:cNvGrpSpPr/>
          <p:nvPr/>
        </p:nvGrpSpPr>
        <p:grpSpPr>
          <a:xfrm>
            <a:off x="5524500" y="3886200"/>
            <a:ext cx="1828800" cy="2057400"/>
            <a:chOff x="5524500" y="3886200"/>
            <a:chExt cx="1828800" cy="2057400"/>
          </a:xfrm>
        </p:grpSpPr>
        <p:sp>
          <p:nvSpPr>
            <p:cNvPr id="39" name="node09.container"/>
            <p:cNvSpPr/>
            <p:nvPr/>
          </p:nvSpPr>
          <p:spPr>
            <a:xfrm>
              <a:off x="5524500" y="3886200"/>
              <a:ext cx="1828800" cy="2057400"/>
            </a:xfrm>
            <a:prstGeom prst="rect">
              <a:avLst/>
            </a:prstGeom>
            <a:solidFill>
              <a:srgbClr val="E8EEF8"/>
            </a:solidFill>
            <a:ln>
              <a:noFill/>
            </a:ln>
          </p:spPr>
        </p:sp>
        <p:sp>
          <p:nvSpPr>
            <p:cNvPr id="40" name="node09.number"/>
            <p:cNvSpPr/>
            <p:nvPr/>
          </p:nvSpPr>
          <p:spPr>
            <a:xfrm>
              <a:off x="5676900" y="4038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06</a:t>
              </a:r>
              <a:endParaRPr lang="en-US" sz="1600" spc="0" kern="0" b="0" i="0" dirty="0">
                <a:solidFill>
                  <a:srgbClr val="0047FF"/>
                </a:solidFill>
                <a:latin typeface="IBM Plex Mono SemiBold"/>
                <a:ea typeface="IBM Plex Mono SemiBold"/>
                <a:cs typeface="IBM Plex Mono SemiBold"/>
              </a:endParaRPr>
            </a:p>
          </p:txBody>
        </p:sp>
        <p:sp>
          <p:nvSpPr>
            <p:cNvPr id="41" name="node09.title"/>
            <p:cNvSpPr/>
            <p:nvPr/>
          </p:nvSpPr>
          <p:spPr>
            <a:xfrm>
              <a:off x="6048375" y="4076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Controls</a:t>
              </a:r>
              <a:endParaRPr lang="en-US" sz="1200" spc="0" kern="0" b="0" i="0" dirty="0">
                <a:solidFill>
                  <a:srgbClr val="070154"/>
                </a:solidFill>
                <a:latin typeface="IBM Plex Sans"/>
                <a:ea typeface="IBM Plex Sans"/>
                <a:cs typeface="IBM Plex Sans"/>
              </a:endParaRPr>
            </a:p>
          </p:txBody>
        </p:sp>
        <p:sp>
          <p:nvSpPr>
            <p:cNvPr id="42" name="node09.body.item-001.paragraph"/>
            <p:cNvSpPr/>
            <p:nvPr/>
          </p:nvSpPr>
          <p:spPr>
            <a:xfrm>
              <a:off x="5676900" y="4457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Evidence is captured as work happens, so audit requests stop reopening the close.</a:t>
              </a:r>
              <a:endParaRPr lang="en-US" sz="1200" spc="0" kern="0" b="0" i="0" dirty="0">
                <a:solidFill>
                  <a:srgbClr val="50658E"/>
                </a:solidFill>
                <a:latin typeface="IBM Plex Sans"/>
                <a:ea typeface="IBM Plex Sans"/>
                <a:cs typeface="IBM Plex Sans"/>
              </a:endParaRPr>
            </a:p>
          </p:txBody>
        </p:sp>
      </p:grpSp>
      <p:grpSp>
        <p:nvGrpSpPr>
          <p:cNvPr id="60" name="node10"/>
          <p:cNvGrpSpPr/>
          <p:nvPr/>
        </p:nvGrpSpPr>
        <p:grpSpPr>
          <a:xfrm>
            <a:off x="7581900" y="3886200"/>
            <a:ext cx="1828800" cy="2057400"/>
            <a:chOff x="7581900" y="3886200"/>
            <a:chExt cx="1828800" cy="2057400"/>
          </a:xfrm>
        </p:grpSpPr>
        <p:sp>
          <p:nvSpPr>
            <p:cNvPr id="43" name="node10.container"/>
            <p:cNvSpPr/>
            <p:nvPr/>
          </p:nvSpPr>
          <p:spPr>
            <a:xfrm>
              <a:off x="7581900" y="3886200"/>
              <a:ext cx="1828800" cy="2057400"/>
            </a:xfrm>
            <a:prstGeom prst="rect">
              <a:avLst/>
            </a:prstGeom>
            <a:solidFill>
              <a:srgbClr val="E8EEF8"/>
            </a:solidFill>
            <a:ln>
              <a:noFill/>
            </a:ln>
          </p:spPr>
        </p:sp>
        <p:sp>
          <p:nvSpPr>
            <p:cNvPr id="44" name="node10.number"/>
            <p:cNvSpPr/>
            <p:nvPr/>
          </p:nvSpPr>
          <p:spPr>
            <a:xfrm>
              <a:off x="7734300" y="4038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07</a:t>
              </a:r>
              <a:endParaRPr lang="en-US" sz="1600" spc="0" kern="0" b="0" i="0" dirty="0">
                <a:solidFill>
                  <a:srgbClr val="0047FF"/>
                </a:solidFill>
                <a:latin typeface="IBM Plex Mono SemiBold"/>
                <a:ea typeface="IBM Plex Mono SemiBold"/>
                <a:cs typeface="IBM Plex Mono SemiBold"/>
              </a:endParaRPr>
            </a:p>
          </p:txBody>
        </p:sp>
        <p:sp>
          <p:nvSpPr>
            <p:cNvPr id="45" name="node10.title"/>
            <p:cNvSpPr/>
            <p:nvPr/>
          </p:nvSpPr>
          <p:spPr>
            <a:xfrm>
              <a:off x="8105775" y="4076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Calendar</a:t>
              </a:r>
              <a:endParaRPr lang="en-US" sz="1200" spc="0" kern="0" b="0" i="0" dirty="0">
                <a:solidFill>
                  <a:srgbClr val="070154"/>
                </a:solidFill>
                <a:latin typeface="IBM Plex Sans"/>
                <a:ea typeface="IBM Plex Sans"/>
                <a:cs typeface="IBM Plex Sans"/>
              </a:endParaRPr>
            </a:p>
          </p:txBody>
        </p:sp>
        <p:sp>
          <p:nvSpPr>
            <p:cNvPr id="46" name="node10.body.item-001.paragraph"/>
            <p:cNvSpPr/>
            <p:nvPr/>
          </p:nvSpPr>
          <p:spPr>
            <a:xfrm>
              <a:off x="7734300" y="4457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calendar for 14 business units, built backward from the day-five target.</a:t>
              </a:r>
              <a:endParaRPr lang="en-US" sz="1200" spc="0" kern="0" b="0" i="0" dirty="0">
                <a:solidFill>
                  <a:srgbClr val="50658E"/>
                </a:solidFill>
                <a:latin typeface="IBM Plex Sans"/>
                <a:ea typeface="IBM Plex Sans"/>
                <a:cs typeface="IBM Plex Sans"/>
              </a:endParaRPr>
            </a:p>
          </p:txBody>
        </p:sp>
      </p:grpSp>
      <p:grpSp>
        <p:nvGrpSpPr>
          <p:cNvPr id="61" name="node11"/>
          <p:cNvGrpSpPr/>
          <p:nvPr/>
        </p:nvGrpSpPr>
        <p:grpSpPr>
          <a:xfrm>
            <a:off x="9639300" y="3886200"/>
            <a:ext cx="1828800" cy="2057400"/>
            <a:chOff x="9639300" y="3886200"/>
            <a:chExt cx="1828800" cy="2057400"/>
          </a:xfrm>
        </p:grpSpPr>
        <p:sp>
          <p:nvSpPr>
            <p:cNvPr id="47" name="node11.container"/>
            <p:cNvSpPr/>
            <p:nvPr/>
          </p:nvSpPr>
          <p:spPr>
            <a:xfrm>
              <a:off x="9639300" y="3886200"/>
              <a:ext cx="1828800" cy="2057400"/>
            </a:xfrm>
            <a:prstGeom prst="rect">
              <a:avLst/>
            </a:prstGeom>
            <a:solidFill>
              <a:srgbClr val="E8EEF8"/>
            </a:solidFill>
            <a:ln>
              <a:noFill/>
            </a:ln>
          </p:spPr>
        </p:sp>
        <p:sp>
          <p:nvSpPr>
            <p:cNvPr id="48" name="node11.number"/>
            <p:cNvSpPr/>
            <p:nvPr/>
          </p:nvSpPr>
          <p:spPr>
            <a:xfrm>
              <a:off x="9791700" y="4038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08</a:t>
              </a:r>
              <a:endParaRPr lang="en-US" sz="1600" spc="0" kern="0" b="0" i="0" dirty="0">
                <a:solidFill>
                  <a:srgbClr val="0047FF"/>
                </a:solidFill>
                <a:latin typeface="IBM Plex Mono SemiBold"/>
                <a:ea typeface="IBM Plex Mono SemiBold"/>
                <a:cs typeface="IBM Plex Mono SemiBold"/>
              </a:endParaRPr>
            </a:p>
          </p:txBody>
        </p:sp>
        <p:sp>
          <p:nvSpPr>
            <p:cNvPr id="49" name="node11.title"/>
            <p:cNvSpPr/>
            <p:nvPr/>
          </p:nvSpPr>
          <p:spPr>
            <a:xfrm>
              <a:off x="10163175" y="4076954"/>
              <a:ext cx="11525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Exceptions</a:t>
              </a:r>
              <a:endParaRPr lang="en-US" sz="1200" spc="0" kern="0" b="0" i="0" dirty="0">
                <a:solidFill>
                  <a:srgbClr val="070154"/>
                </a:solidFill>
                <a:latin typeface="IBM Plex Sans"/>
                <a:ea typeface="IBM Plex Sans"/>
                <a:cs typeface="IBM Plex Sans"/>
              </a:endParaRPr>
            </a:p>
          </p:txBody>
        </p:sp>
        <p:sp>
          <p:nvSpPr>
            <p:cNvPr id="50" name="node11.body.item-001.paragraph"/>
            <p:cNvSpPr/>
            <p:nvPr/>
          </p:nvSpPr>
          <p:spPr>
            <a:xfrm>
              <a:off x="9791700" y="4457700"/>
              <a:ext cx="1524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Breaks reach the right owner the same day, with the supporting evidence attached.</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ource-18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CUSTOM SOFTWARE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Custom software scales what makes you unique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27</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723900" y="1600200"/>
            <a:ext cx="4343400" cy="3429000"/>
            <a:chOff x="723900" y="1600200"/>
            <a:chExt cx="4343400" cy="3429000"/>
          </a:xfrm>
        </p:grpSpPr>
        <p:sp>
          <p:nvSpPr>
            <p:cNvPr id="6" name="node01.container"/>
            <p:cNvSpPr/>
            <p:nvPr/>
          </p:nvSpPr>
          <p:spPr>
            <a:xfrm>
              <a:off x="723900" y="1600200"/>
              <a:ext cx="4343400" cy="3429000"/>
            </a:xfrm>
            <a:prstGeom prst="rect">
              <a:avLst/>
            </a:prstGeom>
            <a:solidFill>
              <a:srgbClr val="E8EEF8"/>
            </a:solidFill>
            <a:ln>
              <a:noFill/>
            </a:ln>
          </p:spPr>
        </p:sp>
        <p:sp>
          <p:nvSpPr>
            <p:cNvPr id="7" name="node01.edge"/>
            <p:cNvSpPr/>
            <p:nvPr/>
          </p:nvSpPr>
          <p:spPr>
            <a:xfrm>
              <a:off x="723900" y="1600200"/>
              <a:ext cx="4343400" cy="76200"/>
            </a:xfrm>
            <a:prstGeom prst="rect">
              <a:avLst/>
            </a:prstGeom>
            <a:solidFill>
              <a:srgbClr val="0047FF"/>
            </a:solidFill>
            <a:ln>
              <a:noFill/>
            </a:ln>
          </p:spPr>
        </p:sp>
        <p:sp>
          <p:nvSpPr>
            <p:cNvPr id="8" name="node01.label"/>
            <p:cNvSpPr/>
            <p:nvPr/>
          </p:nvSpPr>
          <p:spPr>
            <a:xfrm>
              <a:off x="952500" y="1905000"/>
              <a:ext cx="3886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WHY BUILD</a:t>
              </a:r>
              <a:endParaRPr lang="en-US" sz="800" spc="48" kern="0" b="0" i="0" dirty="0">
                <a:solidFill>
                  <a:srgbClr val="0047FF"/>
                </a:solidFill>
                <a:latin typeface="IBM Plex Mono Medium"/>
                <a:ea typeface="IBM Plex Mono Medium"/>
                <a:cs typeface="IBM Plex Mono Medium"/>
              </a:endParaRPr>
            </a:p>
          </p:txBody>
        </p:sp>
        <p:sp>
          <p:nvSpPr>
            <p:cNvPr id="9" name="node01.title"/>
            <p:cNvSpPr/>
            <p:nvPr/>
          </p:nvSpPr>
          <p:spPr>
            <a:xfrm>
              <a:off x="952500" y="2120900"/>
              <a:ext cx="3886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Make software conform to the business</a:t>
              </a:r>
              <a:endParaRPr lang="en-US" sz="1600" spc="-16" kern="0" b="0" i="0" dirty="0">
                <a:solidFill>
                  <a:srgbClr val="070154"/>
                </a:solidFill>
                <a:latin typeface="IBM Plex Sans SemiBold"/>
                <a:ea typeface="IBM Plex Sans SemiBold"/>
                <a:cs typeface="IBM Plex Sans SemiBold"/>
              </a:endParaRPr>
            </a:p>
          </p:txBody>
        </p:sp>
      </p:grpSp>
      <p:grpSp>
        <p:nvGrpSpPr>
          <p:cNvPr id="35" name="node02"/>
          <p:cNvGrpSpPr/>
          <p:nvPr/>
        </p:nvGrpSpPr>
        <p:grpSpPr>
          <a:xfrm>
            <a:off x="952500" y="2895600"/>
            <a:ext cx="3886200" cy="1600200"/>
            <a:chOff x="952500" y="2895600"/>
            <a:chExt cx="3886200" cy="1600200"/>
          </a:xfrm>
        </p:grpSpPr>
        <p:sp>
          <p:nvSpPr>
            <p:cNvPr id="10" name="node02.source-001.number"/>
            <p:cNvSpPr/>
            <p:nvPr/>
          </p:nvSpPr>
          <p:spPr>
            <a:xfrm>
              <a:off x="952500" y="28956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11" name="node02.source-001.title"/>
            <p:cNvSpPr/>
            <p:nvPr/>
          </p:nvSpPr>
          <p:spPr>
            <a:xfrm>
              <a:off x="1485900" y="2895600"/>
              <a:ext cx="3352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Unique processes</a:t>
              </a:r>
              <a:endParaRPr lang="en-US" sz="1200" spc="0" kern="0" b="0" i="0" dirty="0">
                <a:solidFill>
                  <a:srgbClr val="070154"/>
                </a:solidFill>
                <a:latin typeface="IBM Plex Sans SemiBold"/>
                <a:ea typeface="IBM Plex Sans SemiBold"/>
                <a:cs typeface="IBM Plex Sans SemiBold"/>
              </a:endParaRPr>
            </a:p>
          </p:txBody>
        </p:sp>
        <p:sp>
          <p:nvSpPr>
            <p:cNvPr id="12" name="node02.source-001.text"/>
            <p:cNvSpPr/>
            <p:nvPr/>
          </p:nvSpPr>
          <p:spPr>
            <a:xfrm>
              <a:off x="1485900" y="3111500"/>
              <a:ext cx="3352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Encode the workflows that set you apart.</a:t>
              </a:r>
              <a:endParaRPr lang="en-US" sz="1200" spc="0" kern="0" b="0" i="0" dirty="0">
                <a:solidFill>
                  <a:srgbClr val="50658E"/>
                </a:solidFill>
                <a:latin typeface="IBM Plex Sans"/>
                <a:ea typeface="IBM Plex Sans"/>
                <a:cs typeface="IBM Plex Sans"/>
              </a:endParaRPr>
            </a:p>
          </p:txBody>
        </p:sp>
        <p:sp>
          <p:nvSpPr>
            <p:cNvPr id="13" name="node02.source-002.number"/>
            <p:cNvSpPr/>
            <p:nvPr/>
          </p:nvSpPr>
          <p:spPr>
            <a:xfrm>
              <a:off x="952500" y="34798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14" name="node02.source-002.title"/>
            <p:cNvSpPr/>
            <p:nvPr/>
          </p:nvSpPr>
          <p:spPr>
            <a:xfrm>
              <a:off x="1485900" y="3479800"/>
              <a:ext cx="3352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Familiar language</a:t>
              </a:r>
              <a:endParaRPr lang="en-US" sz="1200" spc="0" kern="0" b="0" i="0" dirty="0">
                <a:solidFill>
                  <a:srgbClr val="070154"/>
                </a:solidFill>
                <a:latin typeface="IBM Plex Sans SemiBold"/>
                <a:ea typeface="IBM Plex Sans SemiBold"/>
                <a:cs typeface="IBM Plex Sans SemiBold"/>
              </a:endParaRPr>
            </a:p>
          </p:txBody>
        </p:sp>
        <p:sp>
          <p:nvSpPr>
            <p:cNvPr id="15" name="node02.source-002.text"/>
            <p:cNvSpPr/>
            <p:nvPr/>
          </p:nvSpPr>
          <p:spPr>
            <a:xfrm>
              <a:off x="1485900" y="3695700"/>
              <a:ext cx="3352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Keep the vocabulary your people use.</a:t>
              </a:r>
              <a:endParaRPr lang="en-US" sz="1200" spc="0" kern="0" b="0" i="0" dirty="0">
                <a:solidFill>
                  <a:srgbClr val="50658E"/>
                </a:solidFill>
                <a:latin typeface="IBM Plex Sans"/>
                <a:ea typeface="IBM Plex Sans"/>
                <a:cs typeface="IBM Plex Sans"/>
              </a:endParaRPr>
            </a:p>
          </p:txBody>
        </p:sp>
        <p:sp>
          <p:nvSpPr>
            <p:cNvPr id="16" name="node02.source-003.number"/>
            <p:cNvSpPr/>
            <p:nvPr/>
          </p:nvSpPr>
          <p:spPr>
            <a:xfrm>
              <a:off x="952500" y="40640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17" name="node02.source-003.title"/>
            <p:cNvSpPr/>
            <p:nvPr/>
          </p:nvSpPr>
          <p:spPr>
            <a:xfrm>
              <a:off x="1485900" y="4064000"/>
              <a:ext cx="3352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Selective change</a:t>
              </a:r>
              <a:endParaRPr lang="en-US" sz="1200" spc="0" kern="0" b="0" i="0" dirty="0">
                <a:solidFill>
                  <a:srgbClr val="070154"/>
                </a:solidFill>
                <a:latin typeface="IBM Plex Sans SemiBold"/>
                <a:ea typeface="IBM Plex Sans SemiBold"/>
                <a:cs typeface="IBM Plex Sans SemiBold"/>
              </a:endParaRPr>
            </a:p>
          </p:txBody>
        </p:sp>
        <p:sp>
          <p:nvSpPr>
            <p:cNvPr id="18" name="node02.source-003.text"/>
            <p:cNvSpPr/>
            <p:nvPr/>
          </p:nvSpPr>
          <p:spPr>
            <a:xfrm>
              <a:off x="1485900" y="4279900"/>
              <a:ext cx="3352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Modernize only what needs to change.</a:t>
              </a:r>
              <a:endParaRPr lang="en-US" sz="1200" spc="0" kern="0" b="0" i="0" dirty="0">
                <a:solidFill>
                  <a:srgbClr val="50658E"/>
                </a:solidFill>
                <a:latin typeface="IBM Plex Sans"/>
                <a:ea typeface="IBM Plex Sans"/>
                <a:cs typeface="IBM Plex Sans"/>
              </a:endParaRPr>
            </a:p>
          </p:txBody>
        </p:sp>
      </p:grpSp>
      <p:grpSp>
        <p:nvGrpSpPr>
          <p:cNvPr id="36" name="node03"/>
          <p:cNvGrpSpPr/>
          <p:nvPr/>
        </p:nvGrpSpPr>
        <p:grpSpPr>
          <a:xfrm>
            <a:off x="7124700" y="1600200"/>
            <a:ext cx="4343400" cy="1600200"/>
            <a:chOff x="7124700" y="1600200"/>
            <a:chExt cx="4343400" cy="1600200"/>
          </a:xfrm>
        </p:grpSpPr>
        <p:sp>
          <p:nvSpPr>
            <p:cNvPr id="19" name="node03.container"/>
            <p:cNvSpPr/>
            <p:nvPr/>
          </p:nvSpPr>
          <p:spPr>
            <a:xfrm>
              <a:off x="7124700" y="1600200"/>
              <a:ext cx="4343400" cy="1600200"/>
            </a:xfrm>
            <a:prstGeom prst="rect">
              <a:avLst/>
            </a:prstGeom>
            <a:solidFill>
              <a:srgbClr val="E8EEF8"/>
            </a:solidFill>
            <a:ln>
              <a:noFill/>
            </a:ln>
          </p:spPr>
        </p:sp>
        <p:sp>
          <p:nvSpPr>
            <p:cNvPr id="20" name="node03.edge"/>
            <p:cNvSpPr/>
            <p:nvPr/>
          </p:nvSpPr>
          <p:spPr>
            <a:xfrm>
              <a:off x="7124700" y="1600200"/>
              <a:ext cx="76200" cy="1600200"/>
            </a:xfrm>
            <a:prstGeom prst="rect">
              <a:avLst/>
            </a:prstGeom>
            <a:solidFill>
              <a:srgbClr val="F900D3"/>
            </a:solidFill>
            <a:ln>
              <a:noFill/>
            </a:ln>
          </p:spPr>
        </p:sp>
        <p:sp>
          <p:nvSpPr>
            <p:cNvPr id="21" name="node03.label"/>
            <p:cNvSpPr/>
            <p:nvPr/>
          </p:nvSpPr>
          <p:spPr>
            <a:xfrm>
              <a:off x="7429500" y="1828800"/>
              <a:ext cx="3810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ADVANTAGE 01</a:t>
              </a:r>
              <a:endParaRPr lang="en-US" sz="800" spc="48" kern="0" b="0" i="0" dirty="0">
                <a:solidFill>
                  <a:srgbClr val="0047FF"/>
                </a:solidFill>
                <a:latin typeface="IBM Plex Mono Medium"/>
                <a:ea typeface="IBM Plex Mono Medium"/>
                <a:cs typeface="IBM Plex Mono Medium"/>
              </a:endParaRPr>
            </a:p>
          </p:txBody>
        </p:sp>
        <p:sp>
          <p:nvSpPr>
            <p:cNvPr id="22" name="node03.title"/>
            <p:cNvSpPr/>
            <p:nvPr/>
          </p:nvSpPr>
          <p:spPr>
            <a:xfrm>
              <a:off x="7429500" y="2044700"/>
              <a:ext cx="3810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Scale what makes you unique</a:t>
              </a:r>
              <a:endParaRPr lang="en-US" sz="1600" spc="-16" kern="0" b="0" i="0" dirty="0">
                <a:solidFill>
                  <a:srgbClr val="070154"/>
                </a:solidFill>
                <a:latin typeface="IBM Plex Sans SemiBold"/>
                <a:ea typeface="IBM Plex Sans SemiBold"/>
                <a:cs typeface="IBM Plex Sans SemiBold"/>
              </a:endParaRPr>
            </a:p>
          </p:txBody>
        </p:sp>
        <p:sp>
          <p:nvSpPr>
            <p:cNvPr id="23" name="node03.body.item-001.paragraph"/>
            <p:cNvSpPr/>
            <p:nvPr/>
          </p:nvSpPr>
          <p:spPr>
            <a:xfrm>
              <a:off x="7429500" y="2463800"/>
              <a:ext cx="3810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Turn distinctive processes into repeatable operations.</a:t>
              </a:r>
              <a:endParaRPr lang="en-US" sz="1200" spc="0" kern="0" b="0" i="0" dirty="0">
                <a:solidFill>
                  <a:srgbClr val="50658E"/>
                </a:solidFill>
                <a:latin typeface="IBM Plex Sans"/>
                <a:ea typeface="IBM Plex Sans"/>
                <a:cs typeface="IBM Plex Sans"/>
              </a:endParaRPr>
            </a:p>
          </p:txBody>
        </p:sp>
      </p:grpSp>
      <p:grpSp>
        <p:nvGrpSpPr>
          <p:cNvPr id="37" name="node04"/>
          <p:cNvGrpSpPr/>
          <p:nvPr/>
        </p:nvGrpSpPr>
        <p:grpSpPr>
          <a:xfrm>
            <a:off x="7124700" y="3429000"/>
            <a:ext cx="4343400" cy="1600200"/>
            <a:chOff x="7124700" y="3429000"/>
            <a:chExt cx="4343400" cy="1600200"/>
          </a:xfrm>
        </p:grpSpPr>
        <p:sp>
          <p:nvSpPr>
            <p:cNvPr id="24" name="node04.container"/>
            <p:cNvSpPr/>
            <p:nvPr/>
          </p:nvSpPr>
          <p:spPr>
            <a:xfrm>
              <a:off x="7124700" y="3429000"/>
              <a:ext cx="4343400" cy="1600200"/>
            </a:xfrm>
            <a:prstGeom prst="rect">
              <a:avLst/>
            </a:prstGeom>
            <a:solidFill>
              <a:srgbClr val="E8EEF8"/>
            </a:solidFill>
            <a:ln>
              <a:noFill/>
            </a:ln>
          </p:spPr>
        </p:sp>
        <p:sp>
          <p:nvSpPr>
            <p:cNvPr id="25" name="node04.edge"/>
            <p:cNvSpPr/>
            <p:nvPr/>
          </p:nvSpPr>
          <p:spPr>
            <a:xfrm>
              <a:off x="7124700" y="3429000"/>
              <a:ext cx="76200" cy="1600200"/>
            </a:xfrm>
            <a:prstGeom prst="rect">
              <a:avLst/>
            </a:prstGeom>
            <a:solidFill>
              <a:srgbClr val="0047FF"/>
            </a:solidFill>
            <a:ln>
              <a:noFill/>
            </a:ln>
          </p:spPr>
        </p:sp>
        <p:sp>
          <p:nvSpPr>
            <p:cNvPr id="26" name="node04.label"/>
            <p:cNvSpPr/>
            <p:nvPr/>
          </p:nvSpPr>
          <p:spPr>
            <a:xfrm>
              <a:off x="7429500" y="3657600"/>
              <a:ext cx="3810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ADVANTAGE 02</a:t>
              </a:r>
              <a:endParaRPr lang="en-US" sz="800" spc="48" kern="0" b="0" i="0" dirty="0">
                <a:solidFill>
                  <a:srgbClr val="0047FF"/>
                </a:solidFill>
                <a:latin typeface="IBM Plex Mono Medium"/>
                <a:ea typeface="IBM Plex Mono Medium"/>
                <a:cs typeface="IBM Plex Mono Medium"/>
              </a:endParaRPr>
            </a:p>
          </p:txBody>
        </p:sp>
        <p:sp>
          <p:nvSpPr>
            <p:cNvPr id="27" name="node04.title"/>
            <p:cNvSpPr/>
            <p:nvPr/>
          </p:nvSpPr>
          <p:spPr>
            <a:xfrm>
              <a:off x="7429500" y="3873500"/>
              <a:ext cx="3810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Modernize without upheaval</a:t>
              </a:r>
              <a:endParaRPr lang="en-US" sz="1600" spc="-16" kern="0" b="0" i="0" dirty="0">
                <a:solidFill>
                  <a:srgbClr val="070154"/>
                </a:solidFill>
                <a:latin typeface="IBM Plex Sans SemiBold"/>
                <a:ea typeface="IBM Plex Sans SemiBold"/>
                <a:cs typeface="IBM Plex Sans SemiBold"/>
              </a:endParaRPr>
            </a:p>
          </p:txBody>
        </p:sp>
        <p:sp>
          <p:nvSpPr>
            <p:cNvPr id="28" name="node04.body.item-001.paragraph"/>
            <p:cNvSpPr/>
            <p:nvPr/>
          </p:nvSpPr>
          <p:spPr>
            <a:xfrm>
              <a:off x="7429500" y="4292600"/>
              <a:ext cx="3810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Keep familiar roles and vocabulary.</a:t>
              </a:r>
              <a:endParaRPr lang="en-US" sz="1200" spc="0" kern="0" b="0" i="0" dirty="0">
                <a:solidFill>
                  <a:srgbClr val="50658E"/>
                </a:solidFill>
                <a:latin typeface="IBM Plex Sans"/>
                <a:ea typeface="IBM Plex Sans"/>
                <a:cs typeface="IBM Plex Sans"/>
              </a:endParaRPr>
            </a:p>
          </p:txBody>
        </p:sp>
      </p:grpSp>
      <p:grpSp>
        <p:nvGrpSpPr>
          <p:cNvPr id="38" name="node05"/>
          <p:cNvGrpSpPr/>
          <p:nvPr/>
        </p:nvGrpSpPr>
        <p:grpSpPr>
          <a:xfrm>
            <a:off x="5524500" y="3429000"/>
            <a:ext cx="1143000" cy="216123"/>
            <a:chOff x="5524500" y="3429000"/>
            <a:chExt cx="1143000" cy="216123"/>
          </a:xfrm>
        </p:grpSpPr>
        <p:pic>
          <p:nvPicPr>
            <p:cNvPr id="29" name="node05.mark" descr="arrow-straight; canonical SHA256=115a8f5079b158c346e9f9ca6c6eeecb7567bbab70f4cd058c365f09ed10290e;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24500" y="3429000"/>
              <a:ext cx="1143000" cy="216123"/>
            </a:xfrm>
            <a:prstGeom prst="rect">
              <a:avLst/>
            </a:prstGeom>
          </p:spPr>
        </p:pic>
      </p:grpSp>
      <p:grpSp>
        <p:nvGrpSpPr>
          <p:cNvPr id="39" name="node06"/>
          <p:cNvGrpSpPr/>
          <p:nvPr/>
        </p:nvGrpSpPr>
        <p:grpSpPr>
          <a:xfrm>
            <a:off x="5295900" y="2286000"/>
            <a:ext cx="1600200" cy="139700"/>
            <a:chOff x="5295900" y="2286000"/>
            <a:chExt cx="1600200" cy="139700"/>
          </a:xfrm>
        </p:grpSpPr>
        <p:sp>
          <p:nvSpPr>
            <p:cNvPr id="30" name="node06.text"/>
            <p:cNvSpPr/>
            <p:nvPr/>
          </p:nvSpPr>
          <p:spPr>
            <a:xfrm>
              <a:off x="5295900" y="2286000"/>
              <a:ext cx="1600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CHANGE ON YOUR TERMS</a:t>
              </a:r>
              <a:endParaRPr lang="en-US" sz="800" spc="48" kern="0" b="0" i="0" dirty="0">
                <a:solidFill>
                  <a:srgbClr val="0047FF"/>
                </a:solidFill>
                <a:latin typeface="IBM Plex Mono Medium"/>
                <a:ea typeface="IBM Plex Mono Medium"/>
                <a:cs typeface="IBM Plex Mono Medium"/>
              </a:endParaRPr>
            </a:p>
          </p:txBody>
        </p:sp>
      </p:grpSp>
      <p:grpSp>
        <p:nvGrpSpPr>
          <p:cNvPr id="40" name="node07"/>
          <p:cNvGrpSpPr/>
          <p:nvPr/>
        </p:nvGrpSpPr>
        <p:grpSpPr>
          <a:xfrm>
            <a:off x="5295900" y="2514600"/>
            <a:ext cx="1600200" cy="381000"/>
            <a:chOff x="5295900" y="2514600"/>
            <a:chExt cx="1600200" cy="381000"/>
          </a:xfrm>
        </p:grpSpPr>
        <p:sp>
          <p:nvSpPr>
            <p:cNvPr id="31" name="node07.text"/>
            <p:cNvSpPr/>
            <p:nvPr/>
          </p:nvSpPr>
          <p:spPr>
            <a:xfrm>
              <a:off x="5295900" y="2514600"/>
              <a:ext cx="1600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Less translation, less retraining.</a:t>
              </a:r>
              <a:endParaRPr lang="en-US" sz="1100" spc="0" kern="0" b="0" i="0" dirty="0">
                <a:solidFill>
                  <a:srgbClr val="50658E"/>
                </a:solidFill>
                <a:latin typeface="IBM Plex Sans"/>
                <a:ea typeface="IBM Plex Sans"/>
                <a:cs typeface="IBM Plex Sans"/>
              </a:endParaRPr>
            </a:p>
          </p:txBody>
        </p:sp>
      </p:grpSp>
      <p:grpSp>
        <p:nvGrpSpPr>
          <p:cNvPr id="41" name="node08"/>
          <p:cNvGrpSpPr/>
          <p:nvPr/>
        </p:nvGrpSpPr>
        <p:grpSpPr>
          <a:xfrm>
            <a:off x="723900" y="5257800"/>
            <a:ext cx="10744200" cy="457200"/>
            <a:chOff x="723900" y="5257800"/>
            <a:chExt cx="10744200" cy="457200"/>
          </a:xfrm>
        </p:grpSpPr>
        <p:sp>
          <p:nvSpPr>
            <p:cNvPr id="32" name="node08.surface"/>
            <p:cNvSpPr/>
            <p:nvPr/>
          </p:nvSpPr>
          <p:spPr>
            <a:xfrm>
              <a:off x="723900" y="5257800"/>
              <a:ext cx="10744200" cy="457200"/>
            </a:xfrm>
            <a:prstGeom prst="rect">
              <a:avLst/>
            </a:prstGeom>
            <a:solidFill>
              <a:srgbClr val="070154"/>
            </a:solidFill>
            <a:ln>
              <a:noFill/>
            </a:ln>
          </p:spPr>
        </p:sp>
        <p:sp>
          <p:nvSpPr>
            <p:cNvPr id="33" name="node08.text"/>
            <p:cNvSpPr/>
            <p:nvPr/>
          </p:nvSpPr>
          <p:spPr>
            <a:xfrm>
              <a:off x="876300" y="5391150"/>
              <a:ext cx="10439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Build when differentiation matters and you want to choose where the business changes.</a:t>
              </a:r>
              <a:endParaRPr lang="en-US" sz="1100" spc="0" kern="0" b="0" i="0" dirty="0">
                <a:solidFill>
                  <a:srgbClr val="FFFFFF"/>
                </a:solidFill>
                <a:latin typeface="IBM Plex Sans"/>
                <a:ea typeface="IBM Plex Sans"/>
                <a:cs typeface="IBM Plex San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ource-30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METHOD OVERVIEW</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method finds and ranks how work should change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28</a:t>
            </a:fld>
            <a:endParaRPr lang="en-US" sz="700" spc="0" kern="0" b="0" i="0" dirty="0">
              <a:solidFill>
                <a:srgbClr val="070154"/>
              </a:solidFill>
              <a:latin typeface="IBM Plex Mono SemiBold"/>
              <a:ea typeface="IBM Plex Mono SemiBold"/>
              <a:cs typeface="IBM Plex Mono SemiBold"/>
            </a:endParaRPr>
          </a:p>
        </p:txBody>
      </p:sp>
      <p:grpSp>
        <p:nvGrpSpPr>
          <p:cNvPr id="30" name="node01"/>
          <p:cNvGrpSpPr/>
          <p:nvPr/>
        </p:nvGrpSpPr>
        <p:grpSpPr>
          <a:xfrm>
            <a:off x="723900" y="1600200"/>
            <a:ext cx="5257800" cy="4343400"/>
            <a:chOff x="723900" y="1600200"/>
            <a:chExt cx="5257800" cy="4343400"/>
          </a:xfrm>
        </p:grpSpPr>
        <p:sp>
          <p:nvSpPr>
            <p:cNvPr id="6" name="node01.container"/>
            <p:cNvSpPr/>
            <p:nvPr/>
          </p:nvSpPr>
          <p:spPr>
            <a:xfrm>
              <a:off x="723900" y="1600200"/>
              <a:ext cx="5257800" cy="4343400"/>
            </a:xfrm>
            <a:prstGeom prst="rect">
              <a:avLst/>
            </a:prstGeom>
            <a:solidFill>
              <a:srgbClr val="E8EEF8"/>
            </a:solidFill>
            <a:ln>
              <a:noFill/>
            </a:ln>
          </p:spPr>
        </p:sp>
        <p:sp>
          <p:nvSpPr>
            <p:cNvPr id="7" name="node01.label"/>
            <p:cNvSpPr/>
            <p:nvPr/>
          </p:nvSpPr>
          <p:spPr>
            <a:xfrm>
              <a:off x="952500" y="1828800"/>
              <a:ext cx="4800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PROCESS ANALYSIS ACCELERATOR</a:t>
              </a:r>
              <a:endParaRPr lang="en-US" sz="800" spc="48" kern="0" b="0" i="0" dirty="0">
                <a:solidFill>
                  <a:srgbClr val="0047FF"/>
                </a:solidFill>
                <a:latin typeface="IBM Plex Mono Medium"/>
                <a:ea typeface="IBM Plex Mono Medium"/>
                <a:cs typeface="IBM Plex Mono Medium"/>
              </a:endParaRPr>
            </a:p>
          </p:txBody>
        </p:sp>
        <p:sp>
          <p:nvSpPr>
            <p:cNvPr id="8" name="node01.title"/>
            <p:cNvSpPr/>
            <p:nvPr/>
          </p:nvSpPr>
          <p:spPr>
            <a:xfrm>
              <a:off x="952500" y="2044700"/>
              <a:ext cx="4800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What it is, what you get, why it works</a:t>
              </a:r>
              <a:endParaRPr lang="en-US" sz="1600" spc="-16" kern="0" b="0" i="0" dirty="0">
                <a:solidFill>
                  <a:srgbClr val="070154"/>
                </a:solidFill>
                <a:latin typeface="IBM Plex Sans SemiBold"/>
                <a:ea typeface="IBM Plex Sans SemiBold"/>
                <a:cs typeface="IBM Plex Sans SemiBold"/>
              </a:endParaRPr>
            </a:p>
          </p:txBody>
        </p:sp>
        <p:sp>
          <p:nvSpPr>
            <p:cNvPr id="9" name="node01.body.item-001.label"/>
            <p:cNvSpPr/>
            <p:nvPr/>
          </p:nvSpPr>
          <p:spPr>
            <a:xfrm>
              <a:off x="952500" y="2463800"/>
              <a:ext cx="4800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IT IS</a:t>
              </a:r>
              <a:endParaRPr lang="en-US" sz="800" spc="48" kern="0" b="0" i="0" dirty="0">
                <a:solidFill>
                  <a:srgbClr val="0047FF"/>
                </a:solidFill>
                <a:latin typeface="IBM Plex Mono Medium"/>
                <a:ea typeface="IBM Plex Mono Medium"/>
                <a:cs typeface="IBM Plex Mono Medium"/>
              </a:endParaRPr>
            </a:p>
          </p:txBody>
        </p:sp>
        <p:sp>
          <p:nvSpPr>
            <p:cNvPr id="10" name="node01.body.item-002.paragraph"/>
            <p:cNvSpPr/>
            <p:nvPr/>
          </p:nvSpPr>
          <p:spPr>
            <a:xfrm>
              <a:off x="952500" y="2679700"/>
              <a:ext cx="4800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 repeatable method that combines process artifacts, operating data, interviews and observation to decide how work should change.</a:t>
              </a:r>
              <a:endParaRPr lang="en-US" sz="1200" spc="0" kern="0" b="0" i="0" dirty="0">
                <a:solidFill>
                  <a:srgbClr val="50658E"/>
                </a:solidFill>
                <a:latin typeface="IBM Plex Sans"/>
                <a:ea typeface="IBM Plex Sans"/>
                <a:cs typeface="IBM Plex Sans"/>
              </a:endParaRPr>
            </a:p>
          </p:txBody>
        </p:sp>
        <p:sp>
          <p:nvSpPr>
            <p:cNvPr id="11" name="node01.body.item-003.label"/>
            <p:cNvSpPr/>
            <p:nvPr/>
          </p:nvSpPr>
          <p:spPr>
            <a:xfrm>
              <a:off x="952500" y="3187700"/>
              <a:ext cx="4800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YOU GET</a:t>
              </a:r>
              <a:endParaRPr lang="en-US" sz="800" spc="48" kern="0" b="0" i="0" dirty="0">
                <a:solidFill>
                  <a:srgbClr val="0047FF"/>
                </a:solidFill>
                <a:latin typeface="IBM Plex Mono Medium"/>
                <a:ea typeface="IBM Plex Mono Medium"/>
                <a:cs typeface="IBM Plex Mono Medium"/>
              </a:endParaRPr>
            </a:p>
          </p:txBody>
        </p:sp>
        <p:sp>
          <p:nvSpPr>
            <p:cNvPr id="12" name="node01.body.item-004.bullets.item-001.marker"/>
            <p:cNvSpPr/>
            <p:nvPr/>
          </p:nvSpPr>
          <p:spPr>
            <a:xfrm>
              <a:off x="952500" y="3492500"/>
              <a:ext cx="38100" cy="38100"/>
            </a:xfrm>
            <a:prstGeom prst="rect">
              <a:avLst/>
            </a:prstGeom>
            <a:solidFill>
              <a:srgbClr val="070154"/>
            </a:solidFill>
            <a:ln>
              <a:noFill/>
            </a:ln>
          </p:spPr>
        </p:sp>
        <p:sp>
          <p:nvSpPr>
            <p:cNvPr id="13" name="node01.body.item-004.bullets.item-001.text"/>
            <p:cNvSpPr/>
            <p:nvPr/>
          </p:nvSpPr>
          <p:spPr>
            <a:xfrm>
              <a:off x="1104900" y="34036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Evidence-based view of workflows, handoffs and exceptions</a:t>
              </a:r>
              <a:endParaRPr lang="en-US" sz="1200" spc="0" kern="0" b="0" i="0" dirty="0">
                <a:solidFill>
                  <a:srgbClr val="070154"/>
                </a:solidFill>
                <a:latin typeface="IBM Plex Sans"/>
                <a:ea typeface="IBM Plex Sans"/>
                <a:cs typeface="IBM Plex Sans"/>
              </a:endParaRPr>
            </a:p>
          </p:txBody>
        </p:sp>
        <p:sp>
          <p:nvSpPr>
            <p:cNvPr id="14" name="node01.body.item-004.bullets.item-002.marker"/>
            <p:cNvSpPr/>
            <p:nvPr/>
          </p:nvSpPr>
          <p:spPr>
            <a:xfrm>
              <a:off x="952500" y="3746500"/>
              <a:ext cx="38100" cy="38100"/>
            </a:xfrm>
            <a:prstGeom prst="rect">
              <a:avLst/>
            </a:prstGeom>
            <a:solidFill>
              <a:srgbClr val="070154"/>
            </a:solidFill>
            <a:ln>
              <a:noFill/>
            </a:ln>
          </p:spPr>
        </p:sp>
        <p:sp>
          <p:nvSpPr>
            <p:cNvPr id="15" name="node01.body.item-004.bullets.item-002.text"/>
            <p:cNvSpPr/>
            <p:nvPr/>
          </p:nvSpPr>
          <p:spPr>
            <a:xfrm>
              <a:off x="1104900" y="36576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Prioritized moves to simplify or automate work</a:t>
              </a:r>
              <a:endParaRPr lang="en-US" sz="1200" spc="0" kern="0" b="0" i="0" dirty="0">
                <a:solidFill>
                  <a:srgbClr val="070154"/>
                </a:solidFill>
                <a:latin typeface="IBM Plex Sans"/>
                <a:ea typeface="IBM Plex Sans"/>
                <a:cs typeface="IBM Plex Sans"/>
              </a:endParaRPr>
            </a:p>
          </p:txBody>
        </p:sp>
        <p:sp>
          <p:nvSpPr>
            <p:cNvPr id="16" name="node01.body.item-004.bullets.item-003.marker"/>
            <p:cNvSpPr/>
            <p:nvPr/>
          </p:nvSpPr>
          <p:spPr>
            <a:xfrm>
              <a:off x="952500" y="4000500"/>
              <a:ext cx="38100" cy="38100"/>
            </a:xfrm>
            <a:prstGeom prst="rect">
              <a:avLst/>
            </a:prstGeom>
            <a:solidFill>
              <a:srgbClr val="070154"/>
            </a:solidFill>
            <a:ln>
              <a:noFill/>
            </a:ln>
          </p:spPr>
        </p:sp>
        <p:sp>
          <p:nvSpPr>
            <p:cNvPr id="17" name="node01.body.item-004.bullets.item-003.text"/>
            <p:cNvSpPr/>
            <p:nvPr/>
          </p:nvSpPr>
          <p:spPr>
            <a:xfrm>
              <a:off x="1104900" y="39116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Quantified capacity and value, with assumptions</a:t>
              </a:r>
              <a:endParaRPr lang="en-US" sz="1200" spc="0" kern="0" b="0" i="0" dirty="0">
                <a:solidFill>
                  <a:srgbClr val="070154"/>
                </a:solidFill>
                <a:latin typeface="IBM Plex Sans"/>
                <a:ea typeface="IBM Plex Sans"/>
                <a:cs typeface="IBM Plex Sans"/>
              </a:endParaRPr>
            </a:p>
          </p:txBody>
        </p:sp>
        <p:sp>
          <p:nvSpPr>
            <p:cNvPr id="18" name="node01.body.item-004.bullets.item-004.marker"/>
            <p:cNvSpPr/>
            <p:nvPr/>
          </p:nvSpPr>
          <p:spPr>
            <a:xfrm>
              <a:off x="952500" y="4254500"/>
              <a:ext cx="38100" cy="38100"/>
            </a:xfrm>
            <a:prstGeom prst="rect">
              <a:avLst/>
            </a:prstGeom>
            <a:solidFill>
              <a:srgbClr val="070154"/>
            </a:solidFill>
            <a:ln>
              <a:noFill/>
            </a:ln>
          </p:spPr>
        </p:sp>
        <p:sp>
          <p:nvSpPr>
            <p:cNvPr id="19" name="node01.body.item-004.bullets.item-004.text"/>
            <p:cNvSpPr/>
            <p:nvPr/>
          </p:nvSpPr>
          <p:spPr>
            <a:xfrm>
              <a:off x="1104900" y="41656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Future-state workflows with roles and measures</a:t>
              </a:r>
              <a:endParaRPr lang="en-US" sz="1200" spc="0" kern="0" b="0" i="0" dirty="0">
                <a:solidFill>
                  <a:srgbClr val="070154"/>
                </a:solidFill>
                <a:latin typeface="IBM Plex Sans"/>
                <a:ea typeface="IBM Plex Sans"/>
                <a:cs typeface="IBM Plex Sans"/>
              </a:endParaRPr>
            </a:p>
          </p:txBody>
        </p:sp>
        <p:sp>
          <p:nvSpPr>
            <p:cNvPr id="20" name="node01.body.item-005.label"/>
            <p:cNvSpPr/>
            <p:nvPr/>
          </p:nvSpPr>
          <p:spPr>
            <a:xfrm>
              <a:off x="952500" y="4457700"/>
              <a:ext cx="4800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WHY IT WORKS</a:t>
              </a:r>
              <a:endParaRPr lang="en-US" sz="800" spc="48" kern="0" b="0" i="0" dirty="0">
                <a:solidFill>
                  <a:srgbClr val="0047FF"/>
                </a:solidFill>
                <a:latin typeface="IBM Plex Mono Medium"/>
                <a:ea typeface="IBM Plex Mono Medium"/>
                <a:cs typeface="IBM Plex Mono Medium"/>
              </a:endParaRPr>
            </a:p>
          </p:txBody>
        </p:sp>
        <p:sp>
          <p:nvSpPr>
            <p:cNvPr id="21" name="node01.body.item-006.bullets.item-001.marker"/>
            <p:cNvSpPr/>
            <p:nvPr/>
          </p:nvSpPr>
          <p:spPr>
            <a:xfrm>
              <a:off x="952500" y="4762500"/>
              <a:ext cx="38100" cy="38100"/>
            </a:xfrm>
            <a:prstGeom prst="rect">
              <a:avLst/>
            </a:prstGeom>
            <a:solidFill>
              <a:srgbClr val="070154"/>
            </a:solidFill>
            <a:ln>
              <a:noFill/>
            </a:ln>
          </p:spPr>
        </p:sp>
        <p:sp>
          <p:nvSpPr>
            <p:cNvPr id="22" name="node01.body.item-006.bullets.item-001.text"/>
            <p:cNvSpPr/>
            <p:nvPr/>
          </p:nvSpPr>
          <p:spPr>
            <a:xfrm>
              <a:off x="1104900" y="46736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Every recommendation grounded in standards</a:t>
              </a:r>
              <a:endParaRPr lang="en-US" sz="1200" spc="0" kern="0" b="0" i="0" dirty="0">
                <a:solidFill>
                  <a:srgbClr val="070154"/>
                </a:solidFill>
                <a:latin typeface="IBM Plex Sans"/>
                <a:ea typeface="IBM Plex Sans"/>
                <a:cs typeface="IBM Plex Sans"/>
              </a:endParaRPr>
            </a:p>
          </p:txBody>
        </p:sp>
        <p:sp>
          <p:nvSpPr>
            <p:cNvPr id="23" name="node01.body.item-006.bullets.item-002.marker"/>
            <p:cNvSpPr/>
            <p:nvPr/>
          </p:nvSpPr>
          <p:spPr>
            <a:xfrm>
              <a:off x="952500" y="5016500"/>
              <a:ext cx="38100" cy="38100"/>
            </a:xfrm>
            <a:prstGeom prst="rect">
              <a:avLst/>
            </a:prstGeom>
            <a:solidFill>
              <a:srgbClr val="070154"/>
            </a:solidFill>
            <a:ln>
              <a:noFill/>
            </a:ln>
          </p:spPr>
        </p:sp>
        <p:sp>
          <p:nvSpPr>
            <p:cNvPr id="24" name="node01.body.item-006.bullets.item-002.text"/>
            <p:cNvSpPr/>
            <p:nvPr/>
          </p:nvSpPr>
          <p:spPr>
            <a:xfrm>
              <a:off x="1104900" y="49276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Faster discovery through a repeatable method</a:t>
              </a:r>
              <a:endParaRPr lang="en-US" sz="1200" spc="0" kern="0" b="0" i="0" dirty="0">
                <a:solidFill>
                  <a:srgbClr val="070154"/>
                </a:solidFill>
                <a:latin typeface="IBM Plex Sans"/>
                <a:ea typeface="IBM Plex Sans"/>
                <a:cs typeface="IBM Plex Sans"/>
              </a:endParaRPr>
            </a:p>
          </p:txBody>
        </p:sp>
        <p:sp>
          <p:nvSpPr>
            <p:cNvPr id="25" name="node01.body.item-006.bullets.item-003.marker"/>
            <p:cNvSpPr/>
            <p:nvPr/>
          </p:nvSpPr>
          <p:spPr>
            <a:xfrm>
              <a:off x="952500" y="5270500"/>
              <a:ext cx="38100" cy="38100"/>
            </a:xfrm>
            <a:prstGeom prst="rect">
              <a:avLst/>
            </a:prstGeom>
            <a:solidFill>
              <a:srgbClr val="070154"/>
            </a:solidFill>
            <a:ln>
              <a:noFill/>
            </a:ln>
          </p:spPr>
        </p:sp>
        <p:sp>
          <p:nvSpPr>
            <p:cNvPr id="26" name="node01.body.item-006.bullets.item-003.text"/>
            <p:cNvSpPr/>
            <p:nvPr/>
          </p:nvSpPr>
          <p:spPr>
            <a:xfrm>
              <a:off x="1104900" y="51816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Initiatives linked to adoption and Finance</a:t>
              </a:r>
              <a:endParaRPr lang="en-US" sz="1200" spc="0" kern="0" b="0" i="0" dirty="0">
                <a:solidFill>
                  <a:srgbClr val="070154"/>
                </a:solidFill>
                <a:latin typeface="IBM Plex Sans"/>
                <a:ea typeface="IBM Plex Sans"/>
                <a:cs typeface="IBM Plex Sans"/>
              </a:endParaRPr>
            </a:p>
          </p:txBody>
        </p:sp>
        <p:sp>
          <p:nvSpPr>
            <p:cNvPr id="27" name="node01.body.item-006.bullets.item-004.marker"/>
            <p:cNvSpPr/>
            <p:nvPr/>
          </p:nvSpPr>
          <p:spPr>
            <a:xfrm>
              <a:off x="952500" y="5524500"/>
              <a:ext cx="38100" cy="38100"/>
            </a:xfrm>
            <a:prstGeom prst="rect">
              <a:avLst/>
            </a:prstGeom>
            <a:solidFill>
              <a:srgbClr val="070154"/>
            </a:solidFill>
            <a:ln>
              <a:noFill/>
            </a:ln>
          </p:spPr>
        </p:sp>
        <p:sp>
          <p:nvSpPr>
            <p:cNvPr id="28" name="node01.body.item-006.bullets.item-004.text"/>
            <p:cNvSpPr/>
            <p:nvPr/>
          </p:nvSpPr>
          <p:spPr>
            <a:xfrm>
              <a:off x="1104900" y="54356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Outputs trace back to source evidence</a:t>
              </a:r>
              <a:endParaRPr lang="en-US" sz="1200" spc="0" kern="0" b="0" i="0" dirty="0">
                <a:solidFill>
                  <a:srgbClr val="070154"/>
                </a:solidFill>
                <a:latin typeface="IBM Plex Sans"/>
                <a:ea typeface="IBM Plex Sans"/>
                <a:cs typeface="IBM Plex Sans"/>
              </a:endParaRPr>
            </a:p>
          </p:txBody>
        </p:sp>
      </p:grpSp>
      <p:grpSp>
        <p:nvGrpSpPr>
          <p:cNvPr id="31" name="node02"/>
          <p:cNvGrpSpPr/>
          <p:nvPr/>
        </p:nvGrpSpPr>
        <p:grpSpPr>
          <a:xfrm>
            <a:off x="6210300" y="1600200"/>
            <a:ext cx="5257800" cy="4089400"/>
            <a:chOff x="6210300" y="1600200"/>
            <a:chExt cx="5257800" cy="4089400"/>
          </a:xfrm>
        </p:grpSpPr>
        <p:graphicFrame>
          <p:nvGraphicFramePr>
            <p:cNvPr id="29" name="node02.native"/>
            <p:cNvGraphicFramePr>
              <a:graphicFrameLocks noGrp="1"/>
            </p:cNvGraphicFramePr>
            <p:nvPr>
              <p:extLst>
                <p:ext uri="{D42A27DB-BD31-4B8C-83A1-F6EECF244321}">
                  <p14:modId xmlns:p14="http://schemas.microsoft.com/office/powerpoint/2010/main" val="1579011935"/>
                </p:ext>
              </p:extLst>
            </p:nvPr>
          </p:nvGraphicFramePr>
          <p:xfrm>
            <a:off x="6210300" y="1600200"/>
            <a:ext cx="5257800" cy="4089400"/>
          </p:xfrm>
          <a:graphic>
            <a:graphicData uri="http://schemas.openxmlformats.org/drawingml/2006/table">
              <a:tbl>
                <a:tblPr/>
                <a:tblGrid>
                  <a:gridCol w="609600"/>
                  <a:gridCol w="1752600"/>
                  <a:gridCol w="28956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STEP</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WHAT HAPPENS</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33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01</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Intake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Scans and registers every available document.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02</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Process discovery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Maps the operation into areas and processes.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03</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Current-state analysis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Builds process maps and characteristics.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04</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Pain points and waste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Finds what optimization and AI can address.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05</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Redesign options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Options to eliminate, simplify or automate.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06</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Quantify and prioritize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Scores value, capacity, feasibility and risk.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07</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Transformation waves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Packages priorities into sequenced initiatives.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ource-36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29</a:t>
            </a:fld>
            <a:endParaRPr lang="en-US" sz="700" spc="0" kern="0" b="0" i="0" dirty="0">
              <a:solidFill>
                <a:srgbClr val="070154"/>
              </a:solidFill>
              <a:latin typeface="IBM Plex Mono SemiBold"/>
              <a:ea typeface="IBM Plex Mono SemiBold"/>
              <a:cs typeface="IBM Plex Mono SemiBold"/>
            </a:endParaRPr>
          </a:p>
        </p:txBody>
      </p:sp>
      <p:grpSp>
        <p:nvGrpSpPr>
          <p:cNvPr id="59" name="node01"/>
          <p:cNvGrpSpPr/>
          <p:nvPr/>
        </p:nvGrpSpPr>
        <p:grpSpPr>
          <a:xfrm>
            <a:off x="723900" y="1600200"/>
            <a:ext cx="2514600" cy="2286000"/>
            <a:chOff x="723900" y="1600200"/>
            <a:chExt cx="2514600" cy="2286000"/>
          </a:xfrm>
        </p:grpSpPr>
        <p:sp>
          <p:nvSpPr>
            <p:cNvPr id="6" name="node01.container"/>
            <p:cNvSpPr/>
            <p:nvPr/>
          </p:nvSpPr>
          <p:spPr>
            <a:xfrm>
              <a:off x="723900" y="1600200"/>
              <a:ext cx="2514600" cy="2286000"/>
            </a:xfrm>
            <a:prstGeom prst="rect">
              <a:avLst/>
            </a:prstGeom>
            <a:solidFill>
              <a:srgbClr val="E8EEF8"/>
            </a:solidFill>
            <a:ln>
              <a:noFill/>
            </a:ln>
          </p:spPr>
        </p:sp>
        <p:grpSp>
          <p:nvGrpSpPr>
            <p:cNvPr id="58" name="node01.icon"/>
            <p:cNvGrpSpPr/>
            <p:nvPr/>
          </p:nvGrpSpPr>
          <p:grpSpPr>
            <a:xfrm>
              <a:off x="876300" y="1752600"/>
              <a:ext cx="457200" cy="457200"/>
              <a:chOff x="876300" y="1752600"/>
              <a:chExt cx="457200" cy="457200"/>
            </a:xfrm>
          </p:grpSpPr>
          <p:pic>
            <p:nvPicPr>
              <p:cNvPr id="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6300" y="1752600"/>
                <a:ext cx="457200" cy="457200"/>
              </a:xfrm>
              <a:prstGeom prst="rect">
                <a:avLst/>
              </a:prstGeom>
            </p:spPr>
          </p:pic>
        </p:grpSp>
        <p:sp>
          <p:nvSpPr>
            <p:cNvPr id="8" name="node01.title"/>
            <p:cNvSpPr/>
            <p:nvPr/>
          </p:nvSpPr>
          <p:spPr>
            <a:xfrm>
              <a:off x="1485900" y="17526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Value first</a:t>
              </a:r>
              <a:endParaRPr lang="en-US" sz="1600" spc="-16" kern="0" b="0" i="0" dirty="0">
                <a:solidFill>
                  <a:srgbClr val="0047FF"/>
                </a:solidFill>
                <a:latin typeface="IBM Plex Sans SemiBold"/>
                <a:ea typeface="IBM Plex Sans SemiBold"/>
                <a:cs typeface="IBM Plex Sans SemiBold"/>
              </a:endParaRPr>
            </a:p>
          </p:txBody>
        </p:sp>
        <p:sp>
          <p:nvSpPr>
            <p:cNvPr id="9" name="node01.body.item-001.bullets.item-001.marker"/>
            <p:cNvSpPr/>
            <p:nvPr/>
          </p:nvSpPr>
          <p:spPr>
            <a:xfrm>
              <a:off x="876300" y="2451100"/>
              <a:ext cx="38100" cy="38100"/>
            </a:xfrm>
            <a:prstGeom prst="rect">
              <a:avLst/>
            </a:prstGeom>
            <a:solidFill>
              <a:srgbClr val="070154"/>
            </a:solidFill>
            <a:ln>
              <a:noFill/>
            </a:ln>
          </p:spPr>
        </p:sp>
        <p:sp>
          <p:nvSpPr>
            <p:cNvPr id="10" name="node01.body.item-001.bullets.item-001.text"/>
            <p:cNvSpPr/>
            <p:nvPr/>
          </p:nvSpPr>
          <p:spPr>
            <a:xfrm>
              <a:off x="1028700" y="23622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 rank work by business value, not technical elegance.</a:t>
              </a:r>
              <a:endParaRPr lang="en-US" sz="1200" spc="0" kern="0" b="0" i="0" dirty="0">
                <a:solidFill>
                  <a:srgbClr val="070154"/>
                </a:solidFill>
                <a:latin typeface="IBM Plex Sans"/>
                <a:ea typeface="IBM Plex Sans"/>
                <a:cs typeface="IBM Plex Sans"/>
              </a:endParaRPr>
            </a:p>
          </p:txBody>
        </p:sp>
        <p:sp>
          <p:nvSpPr>
            <p:cNvPr id="11" name="node01.body.item-001.bullets.item-002.marker"/>
            <p:cNvSpPr/>
            <p:nvPr/>
          </p:nvSpPr>
          <p:spPr>
            <a:xfrm>
              <a:off x="876300" y="2921000"/>
              <a:ext cx="38100" cy="38100"/>
            </a:xfrm>
            <a:prstGeom prst="rect">
              <a:avLst/>
            </a:prstGeom>
            <a:solidFill>
              <a:srgbClr val="070154"/>
            </a:solidFill>
            <a:ln>
              <a:noFill/>
            </a:ln>
          </p:spPr>
        </p:sp>
        <p:sp>
          <p:nvSpPr>
            <p:cNvPr id="12" name="node01.body.item-001.bullets.item-002.text"/>
            <p:cNvSpPr/>
            <p:nvPr/>
          </p:nvSpPr>
          <p:spPr>
            <a:xfrm>
              <a:off x="1028700" y="28321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Every decision weighs complexity.</a:t>
              </a:r>
              <a:endParaRPr lang="en-US" sz="1200" spc="0" kern="0" b="0" i="0" dirty="0">
                <a:solidFill>
                  <a:srgbClr val="070154"/>
                </a:solidFill>
                <a:latin typeface="IBM Plex Sans"/>
                <a:ea typeface="IBM Plex Sans"/>
                <a:cs typeface="IBM Plex Sans"/>
              </a:endParaRPr>
            </a:p>
          </p:txBody>
        </p:sp>
        <p:sp>
          <p:nvSpPr>
            <p:cNvPr id="13" name="node01.body.item-001.bullets.item-003.marker"/>
            <p:cNvSpPr/>
            <p:nvPr/>
          </p:nvSpPr>
          <p:spPr>
            <a:xfrm>
              <a:off x="876300" y="3390900"/>
              <a:ext cx="38100" cy="38100"/>
            </a:xfrm>
            <a:prstGeom prst="rect">
              <a:avLst/>
            </a:prstGeom>
            <a:solidFill>
              <a:srgbClr val="070154"/>
            </a:solidFill>
            <a:ln>
              <a:noFill/>
            </a:ln>
          </p:spPr>
        </p:sp>
        <p:sp>
          <p:nvSpPr>
            <p:cNvPr id="14" name="node01.body.item-001.bullets.item-003.text"/>
            <p:cNvSpPr/>
            <p:nvPr/>
          </p:nvSpPr>
          <p:spPr>
            <a:xfrm>
              <a:off x="1028700" y="33020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Return comes first.</a:t>
              </a:r>
              <a:endParaRPr lang="en-US" sz="1200" spc="0" kern="0" b="0" i="0" dirty="0">
                <a:solidFill>
                  <a:srgbClr val="070154"/>
                </a:solidFill>
                <a:latin typeface="IBM Plex Sans"/>
                <a:ea typeface="IBM Plex Sans"/>
                <a:cs typeface="IBM Plex Sans"/>
              </a:endParaRPr>
            </a:p>
          </p:txBody>
        </p:sp>
      </p:grpSp>
      <p:grpSp>
        <p:nvGrpSpPr>
          <p:cNvPr id="60" name="node02"/>
          <p:cNvGrpSpPr/>
          <p:nvPr/>
        </p:nvGrpSpPr>
        <p:grpSpPr>
          <a:xfrm>
            <a:off x="1638300" y="4114800"/>
            <a:ext cx="1600200" cy="1828800"/>
            <a:chOff x="1638300" y="4114800"/>
            <a:chExt cx="1600200" cy="1828800"/>
          </a:xfrm>
        </p:grpSpPr>
        <p:sp>
          <p:nvSpPr>
            <p:cNvPr id="15" name="node02.surface"/>
            <p:cNvSpPr/>
            <p:nvPr/>
          </p:nvSpPr>
          <p:spPr>
            <a:xfrm>
              <a:off x="1638300" y="4114800"/>
              <a:ext cx="1600200" cy="1828800"/>
            </a:xfrm>
            <a:prstGeom prst="rect">
              <a:avLst/>
            </a:prstGeom>
            <a:solidFill>
              <a:srgbClr val="070154"/>
            </a:solidFill>
            <a:ln>
              <a:noFill/>
            </a:ln>
          </p:spPr>
        </p:sp>
      </p:grpSp>
      <p:grpSp>
        <p:nvGrpSpPr>
          <p:cNvPr id="61" name="node03"/>
          <p:cNvGrpSpPr/>
          <p:nvPr/>
        </p:nvGrpSpPr>
        <p:grpSpPr>
          <a:xfrm>
            <a:off x="1790700" y="4267200"/>
            <a:ext cx="1295400" cy="139700"/>
            <a:chOff x="1790700" y="4267200"/>
            <a:chExt cx="1295400" cy="139700"/>
          </a:xfrm>
        </p:grpSpPr>
        <p:sp>
          <p:nvSpPr>
            <p:cNvPr id="16" name="node03.text"/>
            <p:cNvSpPr/>
            <p:nvPr/>
          </p:nvSpPr>
          <p:spPr>
            <a:xfrm>
              <a:off x="1790700" y="4267200"/>
              <a:ext cx="1295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62" name="node04"/>
          <p:cNvGrpSpPr/>
          <p:nvPr/>
        </p:nvGrpSpPr>
        <p:grpSpPr>
          <a:xfrm>
            <a:off x="1790700" y="4495800"/>
            <a:ext cx="1295400" cy="762000"/>
            <a:chOff x="1790700" y="4495800"/>
            <a:chExt cx="1295400" cy="762000"/>
          </a:xfrm>
        </p:grpSpPr>
        <p:sp>
          <p:nvSpPr>
            <p:cNvPr id="17" name="node04.text"/>
            <p:cNvSpPr/>
            <p:nvPr/>
          </p:nvSpPr>
          <p:spPr>
            <a:xfrm>
              <a:off x="1790700" y="4495800"/>
              <a:ext cx="1295400" cy="762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Effort goes where return is highest, so promised value actually lands.</a:t>
              </a:r>
              <a:endParaRPr lang="en-US" sz="1100" spc="0" kern="0" b="0" i="0" dirty="0">
                <a:solidFill>
                  <a:srgbClr val="FFFFFF"/>
                </a:solidFill>
                <a:latin typeface="IBM Plex Sans"/>
                <a:ea typeface="IBM Plex Sans"/>
                <a:cs typeface="IBM Plex Sans"/>
              </a:endParaRPr>
            </a:p>
          </p:txBody>
        </p:sp>
      </p:grpSp>
      <p:grpSp>
        <p:nvGrpSpPr>
          <p:cNvPr id="64" name="node05"/>
          <p:cNvGrpSpPr/>
          <p:nvPr/>
        </p:nvGrpSpPr>
        <p:grpSpPr>
          <a:xfrm>
            <a:off x="3467100" y="1600200"/>
            <a:ext cx="2514600" cy="2286000"/>
            <a:chOff x="3467100" y="1600200"/>
            <a:chExt cx="2514600" cy="2286000"/>
          </a:xfrm>
        </p:grpSpPr>
        <p:sp>
          <p:nvSpPr>
            <p:cNvPr id="18" name="node05.container"/>
            <p:cNvSpPr/>
            <p:nvPr/>
          </p:nvSpPr>
          <p:spPr>
            <a:xfrm>
              <a:off x="3467100" y="1600200"/>
              <a:ext cx="2514600" cy="2286000"/>
            </a:xfrm>
            <a:prstGeom prst="rect">
              <a:avLst/>
            </a:prstGeom>
            <a:solidFill>
              <a:srgbClr val="E8EEF8"/>
            </a:solidFill>
            <a:ln>
              <a:noFill/>
            </a:ln>
          </p:spPr>
        </p:sp>
        <p:grpSp>
          <p:nvGrpSpPr>
            <p:cNvPr id="63" name="node05.icon"/>
            <p:cNvGrpSpPr/>
            <p:nvPr/>
          </p:nvGrpSpPr>
          <p:grpSpPr>
            <a:xfrm>
              <a:off x="3619500" y="1752600"/>
              <a:ext cx="457200" cy="457200"/>
              <a:chOff x="3619500" y="1752600"/>
              <a:chExt cx="457200" cy="457200"/>
            </a:xfrm>
          </p:grpSpPr>
          <p:pic>
            <p:nvPicPr>
              <p:cNvPr id="19" name="node05.icon.image" descr="icon/strategy-route/navy; canonical SHA256=763a15166fefc06f84edb42452bdf8fbb13cc97295a2599a2fc99a950f7f95d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9500" y="1752600"/>
                <a:ext cx="457200" cy="457200"/>
              </a:xfrm>
              <a:prstGeom prst="rect">
                <a:avLst/>
              </a:prstGeom>
            </p:spPr>
          </p:pic>
        </p:grpSp>
        <p:sp>
          <p:nvSpPr>
            <p:cNvPr id="20" name="node05.title"/>
            <p:cNvSpPr/>
            <p:nvPr/>
          </p:nvSpPr>
          <p:spPr>
            <a:xfrm>
              <a:off x="4229100" y="17526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Purpose built</a:t>
              </a:r>
              <a:endParaRPr lang="en-US" sz="1600" spc="-16" kern="0" b="0" i="0" dirty="0">
                <a:solidFill>
                  <a:srgbClr val="0047FF"/>
                </a:solidFill>
                <a:latin typeface="IBM Plex Sans SemiBold"/>
                <a:ea typeface="IBM Plex Sans SemiBold"/>
                <a:cs typeface="IBM Plex Sans SemiBold"/>
              </a:endParaRPr>
            </a:p>
          </p:txBody>
        </p:sp>
        <p:sp>
          <p:nvSpPr>
            <p:cNvPr id="21" name="node05.body.item-001.bullets.item-001.marker"/>
            <p:cNvSpPr/>
            <p:nvPr/>
          </p:nvSpPr>
          <p:spPr>
            <a:xfrm>
              <a:off x="3619500" y="2451100"/>
              <a:ext cx="38100" cy="38100"/>
            </a:xfrm>
            <a:prstGeom prst="rect">
              <a:avLst/>
            </a:prstGeom>
            <a:solidFill>
              <a:srgbClr val="070154"/>
            </a:solidFill>
            <a:ln>
              <a:noFill/>
            </a:ln>
          </p:spPr>
        </p:sp>
        <p:sp>
          <p:nvSpPr>
            <p:cNvPr id="22" name="node05.body.item-001.bullets.item-001.text"/>
            <p:cNvSpPr/>
            <p:nvPr/>
          </p:nvSpPr>
          <p:spPr>
            <a:xfrm>
              <a:off x="3771900" y="23622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 choose retain, replatform, rewrite or retire per system.</a:t>
              </a:r>
              <a:endParaRPr lang="en-US" sz="1200" spc="0" kern="0" b="0" i="0" dirty="0">
                <a:solidFill>
                  <a:srgbClr val="070154"/>
                </a:solidFill>
                <a:latin typeface="IBM Plex Sans"/>
                <a:ea typeface="IBM Plex Sans"/>
                <a:cs typeface="IBM Plex Sans"/>
              </a:endParaRPr>
            </a:p>
          </p:txBody>
        </p:sp>
        <p:sp>
          <p:nvSpPr>
            <p:cNvPr id="23" name="node05.body.item-001.bullets.item-002.marker"/>
            <p:cNvSpPr/>
            <p:nvPr/>
          </p:nvSpPr>
          <p:spPr>
            <a:xfrm>
              <a:off x="3619500" y="2921000"/>
              <a:ext cx="38100" cy="38100"/>
            </a:xfrm>
            <a:prstGeom prst="rect">
              <a:avLst/>
            </a:prstGeom>
            <a:solidFill>
              <a:srgbClr val="070154"/>
            </a:solidFill>
            <a:ln>
              <a:noFill/>
            </a:ln>
          </p:spPr>
        </p:sp>
        <p:sp>
          <p:nvSpPr>
            <p:cNvPr id="24" name="node05.body.item-001.bullets.item-002.text"/>
            <p:cNvSpPr/>
            <p:nvPr/>
          </p:nvSpPr>
          <p:spPr>
            <a:xfrm>
              <a:off x="3771900" y="28321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Stable components stay in place.</a:t>
              </a:r>
              <a:endParaRPr lang="en-US" sz="1200" spc="0" kern="0" b="0" i="0" dirty="0">
                <a:solidFill>
                  <a:srgbClr val="070154"/>
                </a:solidFill>
                <a:latin typeface="IBM Plex Sans"/>
                <a:ea typeface="IBM Plex Sans"/>
                <a:cs typeface="IBM Plex Sans"/>
              </a:endParaRPr>
            </a:p>
          </p:txBody>
        </p:sp>
        <p:sp>
          <p:nvSpPr>
            <p:cNvPr id="25" name="node05.body.item-001.bullets.item-003.marker"/>
            <p:cNvSpPr/>
            <p:nvPr/>
          </p:nvSpPr>
          <p:spPr>
            <a:xfrm>
              <a:off x="3619500" y="3390900"/>
              <a:ext cx="38100" cy="38100"/>
            </a:xfrm>
            <a:prstGeom prst="rect">
              <a:avLst/>
            </a:prstGeom>
            <a:solidFill>
              <a:srgbClr val="070154"/>
            </a:solidFill>
            <a:ln>
              <a:noFill/>
            </a:ln>
          </p:spPr>
        </p:sp>
        <p:sp>
          <p:nvSpPr>
            <p:cNvPr id="26" name="node05.body.item-001.bullets.item-003.text"/>
            <p:cNvSpPr/>
            <p:nvPr/>
          </p:nvSpPr>
          <p:spPr>
            <a:xfrm>
              <a:off x="3771900" y="33020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Nothing is rebuilt for show.</a:t>
              </a:r>
              <a:endParaRPr lang="en-US" sz="1200" spc="0" kern="0" b="0" i="0" dirty="0">
                <a:solidFill>
                  <a:srgbClr val="070154"/>
                </a:solidFill>
                <a:latin typeface="IBM Plex Sans"/>
                <a:ea typeface="IBM Plex Sans"/>
                <a:cs typeface="IBM Plex Sans"/>
              </a:endParaRPr>
            </a:p>
          </p:txBody>
        </p:sp>
      </p:grpSp>
      <p:grpSp>
        <p:nvGrpSpPr>
          <p:cNvPr id="65" name="node06"/>
          <p:cNvGrpSpPr/>
          <p:nvPr/>
        </p:nvGrpSpPr>
        <p:grpSpPr>
          <a:xfrm>
            <a:off x="4381500" y="4114800"/>
            <a:ext cx="1600200" cy="1828800"/>
            <a:chOff x="4381500" y="4114800"/>
            <a:chExt cx="1600200" cy="1828800"/>
          </a:xfrm>
        </p:grpSpPr>
        <p:sp>
          <p:nvSpPr>
            <p:cNvPr id="27" name="node06.surface"/>
            <p:cNvSpPr/>
            <p:nvPr/>
          </p:nvSpPr>
          <p:spPr>
            <a:xfrm>
              <a:off x="4381500" y="4114800"/>
              <a:ext cx="1600200" cy="1828800"/>
            </a:xfrm>
            <a:prstGeom prst="rect">
              <a:avLst/>
            </a:prstGeom>
            <a:solidFill>
              <a:srgbClr val="070154"/>
            </a:solidFill>
            <a:ln>
              <a:noFill/>
            </a:ln>
          </p:spPr>
        </p:sp>
      </p:grpSp>
      <p:grpSp>
        <p:nvGrpSpPr>
          <p:cNvPr id="66" name="node07"/>
          <p:cNvGrpSpPr/>
          <p:nvPr/>
        </p:nvGrpSpPr>
        <p:grpSpPr>
          <a:xfrm>
            <a:off x="4533900" y="4267200"/>
            <a:ext cx="1295400" cy="139700"/>
            <a:chOff x="4533900" y="4267200"/>
            <a:chExt cx="1295400" cy="139700"/>
          </a:xfrm>
        </p:grpSpPr>
        <p:sp>
          <p:nvSpPr>
            <p:cNvPr id="28" name="node07.text"/>
            <p:cNvSpPr/>
            <p:nvPr/>
          </p:nvSpPr>
          <p:spPr>
            <a:xfrm>
              <a:off x="4533900" y="4267200"/>
              <a:ext cx="1295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67" name="node08"/>
          <p:cNvGrpSpPr/>
          <p:nvPr/>
        </p:nvGrpSpPr>
        <p:grpSpPr>
          <a:xfrm>
            <a:off x="4533900" y="4495800"/>
            <a:ext cx="1295400" cy="952500"/>
            <a:chOff x="4533900" y="4495800"/>
            <a:chExt cx="1295400" cy="952500"/>
          </a:xfrm>
        </p:grpSpPr>
        <p:sp>
          <p:nvSpPr>
            <p:cNvPr id="29" name="node08.text"/>
            <p:cNvSpPr/>
            <p:nvPr/>
          </p:nvSpPr>
          <p:spPr>
            <a:xfrm>
              <a:off x="4533900" y="4495800"/>
              <a:ext cx="1295400" cy="952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We design around your portfolio, keeping what works and replacing only what drives value.</a:t>
              </a:r>
              <a:endParaRPr lang="en-US" sz="1100" spc="0" kern="0" b="0" i="0" dirty="0">
                <a:solidFill>
                  <a:srgbClr val="FFFFFF"/>
                </a:solidFill>
                <a:latin typeface="IBM Plex Sans"/>
                <a:ea typeface="IBM Plex Sans"/>
                <a:cs typeface="IBM Plex Sans"/>
              </a:endParaRPr>
            </a:p>
          </p:txBody>
        </p:sp>
      </p:grpSp>
      <p:grpSp>
        <p:nvGrpSpPr>
          <p:cNvPr id="69" name="node09"/>
          <p:cNvGrpSpPr/>
          <p:nvPr/>
        </p:nvGrpSpPr>
        <p:grpSpPr>
          <a:xfrm>
            <a:off x="6210300" y="1600200"/>
            <a:ext cx="2514600" cy="2286000"/>
            <a:chOff x="6210300" y="1600200"/>
            <a:chExt cx="2514600" cy="2286000"/>
          </a:xfrm>
        </p:grpSpPr>
        <p:sp>
          <p:nvSpPr>
            <p:cNvPr id="30" name="node09.container"/>
            <p:cNvSpPr/>
            <p:nvPr/>
          </p:nvSpPr>
          <p:spPr>
            <a:xfrm>
              <a:off x="6210300" y="1600200"/>
              <a:ext cx="2514600" cy="2286000"/>
            </a:xfrm>
            <a:prstGeom prst="rect">
              <a:avLst/>
            </a:prstGeom>
            <a:solidFill>
              <a:srgbClr val="E8EEF8"/>
            </a:solidFill>
            <a:ln>
              <a:noFill/>
            </a:ln>
          </p:spPr>
        </p:sp>
        <p:grpSp>
          <p:nvGrpSpPr>
            <p:cNvPr id="68" name="node09.icon"/>
            <p:cNvGrpSpPr/>
            <p:nvPr/>
          </p:nvGrpSpPr>
          <p:grpSpPr>
            <a:xfrm>
              <a:off x="6362700" y="1752600"/>
              <a:ext cx="457200" cy="457200"/>
              <a:chOff x="6362700" y="1752600"/>
              <a:chExt cx="457200" cy="457200"/>
            </a:xfrm>
          </p:grpSpPr>
          <p:pic>
            <p:nvPicPr>
              <p:cNvPr id="31" name="node09.icon.image" descr="icon/ai-chip-orbit/navy; canonical SHA256=14a43f66d8a5b8ac5942dde8e905dedb2ae681de3a803ebf66fb1cacc34ccd3a">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2700" y="1752600"/>
                <a:ext cx="457200" cy="457200"/>
              </a:xfrm>
              <a:prstGeom prst="rect">
                <a:avLst/>
              </a:prstGeom>
            </p:spPr>
          </p:pic>
        </p:grpSp>
        <p:sp>
          <p:nvSpPr>
            <p:cNvPr id="32" name="node09.title"/>
            <p:cNvSpPr/>
            <p:nvPr/>
          </p:nvSpPr>
          <p:spPr>
            <a:xfrm>
              <a:off x="6972300" y="17526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AI accelerated</a:t>
              </a:r>
              <a:endParaRPr lang="en-US" sz="1600" spc="-16" kern="0" b="0" i="0" dirty="0">
                <a:solidFill>
                  <a:srgbClr val="0047FF"/>
                </a:solidFill>
                <a:latin typeface="IBM Plex Sans SemiBold"/>
                <a:ea typeface="IBM Plex Sans SemiBold"/>
                <a:cs typeface="IBM Plex Sans SemiBold"/>
              </a:endParaRPr>
            </a:p>
          </p:txBody>
        </p:sp>
        <p:sp>
          <p:nvSpPr>
            <p:cNvPr id="33" name="node09.body.item-001.bullets.item-001.marker"/>
            <p:cNvSpPr/>
            <p:nvPr/>
          </p:nvSpPr>
          <p:spPr>
            <a:xfrm>
              <a:off x="6362700" y="2451100"/>
              <a:ext cx="38100" cy="38100"/>
            </a:xfrm>
            <a:prstGeom prst="rect">
              <a:avLst/>
            </a:prstGeom>
            <a:solidFill>
              <a:srgbClr val="070154"/>
            </a:solidFill>
            <a:ln>
              <a:noFill/>
            </a:ln>
          </p:spPr>
        </p:sp>
        <p:sp>
          <p:nvSpPr>
            <p:cNvPr id="34" name="node09.body.item-001.bullets.item-001.text"/>
            <p:cNvSpPr/>
            <p:nvPr/>
          </p:nvSpPr>
          <p:spPr>
            <a:xfrm>
              <a:off x="6515100" y="23622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Agents scan and map codebases at scale.</a:t>
              </a:r>
              <a:endParaRPr lang="en-US" sz="1200" spc="0" kern="0" b="0" i="0" dirty="0">
                <a:solidFill>
                  <a:srgbClr val="070154"/>
                </a:solidFill>
                <a:latin typeface="IBM Plex Sans"/>
                <a:ea typeface="IBM Plex Sans"/>
                <a:cs typeface="IBM Plex Sans"/>
              </a:endParaRPr>
            </a:p>
          </p:txBody>
        </p:sp>
        <p:sp>
          <p:nvSpPr>
            <p:cNvPr id="35" name="node09.body.item-001.bullets.item-002.marker"/>
            <p:cNvSpPr/>
            <p:nvPr/>
          </p:nvSpPr>
          <p:spPr>
            <a:xfrm>
              <a:off x="6362700" y="2921000"/>
              <a:ext cx="38100" cy="38100"/>
            </a:xfrm>
            <a:prstGeom prst="rect">
              <a:avLst/>
            </a:prstGeom>
            <a:solidFill>
              <a:srgbClr val="070154"/>
            </a:solidFill>
            <a:ln>
              <a:noFill/>
            </a:ln>
          </p:spPr>
        </p:sp>
        <p:sp>
          <p:nvSpPr>
            <p:cNvPr id="36" name="node09.body.item-001.bullets.item-002.text"/>
            <p:cNvSpPr/>
            <p:nvPr/>
          </p:nvSpPr>
          <p:spPr>
            <a:xfrm>
              <a:off x="6515100" y="28321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Evidence, planning and tooling stay connected.</a:t>
              </a:r>
              <a:endParaRPr lang="en-US" sz="1200" spc="0" kern="0" b="0" i="0" dirty="0">
                <a:solidFill>
                  <a:srgbClr val="070154"/>
                </a:solidFill>
                <a:latin typeface="IBM Plex Sans"/>
                <a:ea typeface="IBM Plex Sans"/>
                <a:cs typeface="IBM Plex Sans"/>
              </a:endParaRPr>
            </a:p>
          </p:txBody>
        </p:sp>
        <p:sp>
          <p:nvSpPr>
            <p:cNvPr id="37" name="node09.body.item-001.bullets.item-003.marker"/>
            <p:cNvSpPr/>
            <p:nvPr/>
          </p:nvSpPr>
          <p:spPr>
            <a:xfrm>
              <a:off x="6362700" y="3390900"/>
              <a:ext cx="38100" cy="38100"/>
            </a:xfrm>
            <a:prstGeom prst="rect">
              <a:avLst/>
            </a:prstGeom>
            <a:solidFill>
              <a:srgbClr val="070154"/>
            </a:solidFill>
            <a:ln>
              <a:noFill/>
            </a:ln>
          </p:spPr>
        </p:sp>
        <p:sp>
          <p:nvSpPr>
            <p:cNvPr id="38" name="node09.body.item-001.bullets.item-003.text"/>
            <p:cNvSpPr/>
            <p:nvPr/>
          </p:nvSpPr>
          <p:spPr>
            <a:xfrm>
              <a:off x="6515100" y="33020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Months of analysis take days.</a:t>
              </a:r>
              <a:endParaRPr lang="en-US" sz="1200" spc="0" kern="0" b="0" i="0" dirty="0">
                <a:solidFill>
                  <a:srgbClr val="070154"/>
                </a:solidFill>
                <a:latin typeface="IBM Plex Sans"/>
                <a:ea typeface="IBM Plex Sans"/>
                <a:cs typeface="IBM Plex Sans"/>
              </a:endParaRPr>
            </a:p>
          </p:txBody>
        </p:sp>
      </p:grpSp>
      <p:grpSp>
        <p:nvGrpSpPr>
          <p:cNvPr id="70" name="node10"/>
          <p:cNvGrpSpPr/>
          <p:nvPr/>
        </p:nvGrpSpPr>
        <p:grpSpPr>
          <a:xfrm>
            <a:off x="7124700" y="4114800"/>
            <a:ext cx="1600200" cy="1828800"/>
            <a:chOff x="7124700" y="4114800"/>
            <a:chExt cx="1600200" cy="1828800"/>
          </a:xfrm>
        </p:grpSpPr>
        <p:sp>
          <p:nvSpPr>
            <p:cNvPr id="39" name="node10.surface"/>
            <p:cNvSpPr/>
            <p:nvPr/>
          </p:nvSpPr>
          <p:spPr>
            <a:xfrm>
              <a:off x="7124700" y="4114800"/>
              <a:ext cx="1600200" cy="1828800"/>
            </a:xfrm>
            <a:prstGeom prst="rect">
              <a:avLst/>
            </a:prstGeom>
            <a:solidFill>
              <a:srgbClr val="070154"/>
            </a:solidFill>
            <a:ln>
              <a:noFill/>
            </a:ln>
          </p:spPr>
        </p:sp>
      </p:grpSp>
      <p:grpSp>
        <p:nvGrpSpPr>
          <p:cNvPr id="71" name="node11"/>
          <p:cNvGrpSpPr/>
          <p:nvPr/>
        </p:nvGrpSpPr>
        <p:grpSpPr>
          <a:xfrm>
            <a:off x="7277100" y="4267200"/>
            <a:ext cx="1295400" cy="139700"/>
            <a:chOff x="7277100" y="4267200"/>
            <a:chExt cx="1295400" cy="139700"/>
          </a:xfrm>
        </p:grpSpPr>
        <p:sp>
          <p:nvSpPr>
            <p:cNvPr id="40" name="node11.text"/>
            <p:cNvSpPr/>
            <p:nvPr/>
          </p:nvSpPr>
          <p:spPr>
            <a:xfrm>
              <a:off x="7277100" y="4267200"/>
              <a:ext cx="1295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72" name="node12"/>
          <p:cNvGrpSpPr/>
          <p:nvPr/>
        </p:nvGrpSpPr>
        <p:grpSpPr>
          <a:xfrm>
            <a:off x="7277100" y="4495800"/>
            <a:ext cx="1295400" cy="952500"/>
            <a:chOff x="7277100" y="4495800"/>
            <a:chExt cx="1295400" cy="952500"/>
          </a:xfrm>
        </p:grpSpPr>
        <p:sp>
          <p:nvSpPr>
            <p:cNvPr id="41" name="node12.text"/>
            <p:cNvSpPr/>
            <p:nvPr/>
          </p:nvSpPr>
          <p:spPr>
            <a:xfrm>
              <a:off x="7277100" y="4495800"/>
              <a:ext cx="1295400" cy="952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Analysis that takes months is done in days, with less reliance on tribal knowledge.</a:t>
              </a:r>
              <a:endParaRPr lang="en-US" sz="1100" spc="0" kern="0" b="0" i="0" dirty="0">
                <a:solidFill>
                  <a:srgbClr val="FFFFFF"/>
                </a:solidFill>
                <a:latin typeface="IBM Plex Sans"/>
                <a:ea typeface="IBM Plex Sans"/>
                <a:cs typeface="IBM Plex Sans"/>
              </a:endParaRPr>
            </a:p>
          </p:txBody>
        </p:sp>
      </p:grpSp>
      <p:grpSp>
        <p:nvGrpSpPr>
          <p:cNvPr id="74" name="node13"/>
          <p:cNvGrpSpPr/>
          <p:nvPr/>
        </p:nvGrpSpPr>
        <p:grpSpPr>
          <a:xfrm>
            <a:off x="8953500" y="1600200"/>
            <a:ext cx="2514600" cy="2286000"/>
            <a:chOff x="8953500" y="1600200"/>
            <a:chExt cx="2514600" cy="2286000"/>
          </a:xfrm>
        </p:grpSpPr>
        <p:sp>
          <p:nvSpPr>
            <p:cNvPr id="42" name="node13.container"/>
            <p:cNvSpPr/>
            <p:nvPr/>
          </p:nvSpPr>
          <p:spPr>
            <a:xfrm>
              <a:off x="8953500" y="1600200"/>
              <a:ext cx="2514600" cy="2286000"/>
            </a:xfrm>
            <a:prstGeom prst="rect">
              <a:avLst/>
            </a:prstGeom>
            <a:solidFill>
              <a:srgbClr val="E8EEF8"/>
            </a:solidFill>
            <a:ln>
              <a:noFill/>
            </a:ln>
          </p:spPr>
        </p:sp>
        <p:grpSp>
          <p:nvGrpSpPr>
            <p:cNvPr id="73" name="node13.icon"/>
            <p:cNvGrpSpPr/>
            <p:nvPr/>
          </p:nvGrpSpPr>
          <p:grpSpPr>
            <a:xfrm>
              <a:off x="9105900" y="1752600"/>
              <a:ext cx="457200" cy="457200"/>
              <a:chOff x="9105900" y="1752600"/>
              <a:chExt cx="457200" cy="457200"/>
            </a:xfrm>
          </p:grpSpPr>
          <p:pic>
            <p:nvPicPr>
              <p:cNvPr id="43" name="node13.icon.image" descr="icon/team-huddle/navy; canonical SHA256=0810b0327bab4c67b9ad5494cd579ab1166b6cab738efd10be95638de3481f2f">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05900" y="1752600"/>
                <a:ext cx="457200" cy="457200"/>
              </a:xfrm>
              <a:prstGeom prst="rect">
                <a:avLst/>
              </a:prstGeom>
            </p:spPr>
          </p:pic>
        </p:grpSp>
        <p:sp>
          <p:nvSpPr>
            <p:cNvPr id="44" name="node13.title"/>
            <p:cNvSpPr/>
            <p:nvPr/>
          </p:nvSpPr>
          <p:spPr>
            <a:xfrm>
              <a:off x="9715500" y="1752600"/>
              <a:ext cx="16002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Co-build and scale</a:t>
              </a:r>
              <a:endParaRPr lang="en-US" sz="1600" spc="-16" kern="0" b="0" i="0" dirty="0">
                <a:solidFill>
                  <a:srgbClr val="0047FF"/>
                </a:solidFill>
                <a:latin typeface="IBM Plex Sans SemiBold"/>
                <a:ea typeface="IBM Plex Sans SemiBold"/>
                <a:cs typeface="IBM Plex Sans SemiBold"/>
              </a:endParaRPr>
            </a:p>
          </p:txBody>
        </p:sp>
        <p:sp>
          <p:nvSpPr>
            <p:cNvPr id="45" name="node13.body.item-001.bullets.item-001.marker"/>
            <p:cNvSpPr/>
            <p:nvPr/>
          </p:nvSpPr>
          <p:spPr>
            <a:xfrm>
              <a:off x="9105900" y="2527300"/>
              <a:ext cx="38100" cy="38100"/>
            </a:xfrm>
            <a:prstGeom prst="rect">
              <a:avLst/>
            </a:prstGeom>
            <a:solidFill>
              <a:srgbClr val="070154"/>
            </a:solidFill>
            <a:ln>
              <a:noFill/>
            </a:ln>
          </p:spPr>
        </p:sp>
        <p:sp>
          <p:nvSpPr>
            <p:cNvPr id="46" name="node13.body.item-001.bullets.item-001.text"/>
            <p:cNvSpPr/>
            <p:nvPr/>
          </p:nvSpPr>
          <p:spPr>
            <a:xfrm>
              <a:off x="9258300" y="24384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Co-sourced teams sit with your stakeholders.</a:t>
              </a:r>
              <a:endParaRPr lang="en-US" sz="1200" spc="0" kern="0" b="0" i="0" dirty="0">
                <a:solidFill>
                  <a:srgbClr val="070154"/>
                </a:solidFill>
                <a:latin typeface="IBM Plex Sans"/>
                <a:ea typeface="IBM Plex Sans"/>
                <a:cs typeface="IBM Plex Sans"/>
              </a:endParaRPr>
            </a:p>
          </p:txBody>
        </p:sp>
        <p:sp>
          <p:nvSpPr>
            <p:cNvPr id="47" name="node13.body.item-001.bullets.item-002.marker"/>
            <p:cNvSpPr/>
            <p:nvPr/>
          </p:nvSpPr>
          <p:spPr>
            <a:xfrm>
              <a:off x="9105900" y="2997200"/>
              <a:ext cx="38100" cy="38100"/>
            </a:xfrm>
            <a:prstGeom prst="rect">
              <a:avLst/>
            </a:prstGeom>
            <a:solidFill>
              <a:srgbClr val="070154"/>
            </a:solidFill>
            <a:ln>
              <a:noFill/>
            </a:ln>
          </p:spPr>
        </p:sp>
        <p:sp>
          <p:nvSpPr>
            <p:cNvPr id="48" name="node13.body.item-001.bullets.item-002.text"/>
            <p:cNvSpPr/>
            <p:nvPr/>
          </p:nvSpPr>
          <p:spPr>
            <a:xfrm>
              <a:off x="9258300" y="29083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Onshore and nearshore flex with demand.</a:t>
              </a:r>
              <a:endParaRPr lang="en-US" sz="1200" spc="0" kern="0" b="0" i="0" dirty="0">
                <a:solidFill>
                  <a:srgbClr val="070154"/>
                </a:solidFill>
                <a:latin typeface="IBM Plex Sans"/>
                <a:ea typeface="IBM Plex Sans"/>
                <a:cs typeface="IBM Plex Sans"/>
              </a:endParaRPr>
            </a:p>
          </p:txBody>
        </p:sp>
        <p:sp>
          <p:nvSpPr>
            <p:cNvPr id="49" name="node13.body.item-001.bullets.item-003.marker"/>
            <p:cNvSpPr/>
            <p:nvPr/>
          </p:nvSpPr>
          <p:spPr>
            <a:xfrm>
              <a:off x="9105900" y="3467100"/>
              <a:ext cx="38100" cy="38100"/>
            </a:xfrm>
            <a:prstGeom prst="rect">
              <a:avLst/>
            </a:prstGeom>
            <a:solidFill>
              <a:srgbClr val="070154"/>
            </a:solidFill>
            <a:ln>
              <a:noFill/>
            </a:ln>
          </p:spPr>
        </p:sp>
        <p:sp>
          <p:nvSpPr>
            <p:cNvPr id="50" name="node13.body.item-001.bullets.item-003.text"/>
            <p:cNvSpPr/>
            <p:nvPr/>
          </p:nvSpPr>
          <p:spPr>
            <a:xfrm>
              <a:off x="9258300" y="33782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Knowledge transfer is built in.</a:t>
              </a:r>
              <a:endParaRPr lang="en-US" sz="1200" spc="0" kern="0" b="0" i="0" dirty="0">
                <a:solidFill>
                  <a:srgbClr val="070154"/>
                </a:solidFill>
                <a:latin typeface="IBM Plex Sans"/>
                <a:ea typeface="IBM Plex Sans"/>
                <a:cs typeface="IBM Plex Sans"/>
              </a:endParaRPr>
            </a:p>
          </p:txBody>
        </p:sp>
      </p:grpSp>
      <p:grpSp>
        <p:nvGrpSpPr>
          <p:cNvPr id="75" name="node14"/>
          <p:cNvGrpSpPr/>
          <p:nvPr/>
        </p:nvGrpSpPr>
        <p:grpSpPr>
          <a:xfrm>
            <a:off x="9867900" y="4114800"/>
            <a:ext cx="1600200" cy="1828800"/>
            <a:chOff x="9867900" y="4114800"/>
            <a:chExt cx="1600200" cy="1828800"/>
          </a:xfrm>
        </p:grpSpPr>
        <p:sp>
          <p:nvSpPr>
            <p:cNvPr id="51" name="node14.surface"/>
            <p:cNvSpPr/>
            <p:nvPr/>
          </p:nvSpPr>
          <p:spPr>
            <a:xfrm>
              <a:off x="9867900" y="4114800"/>
              <a:ext cx="1600200" cy="1828800"/>
            </a:xfrm>
            <a:prstGeom prst="rect">
              <a:avLst/>
            </a:prstGeom>
            <a:solidFill>
              <a:srgbClr val="070154"/>
            </a:solidFill>
            <a:ln>
              <a:noFill/>
            </a:ln>
          </p:spPr>
        </p:sp>
      </p:grpSp>
      <p:grpSp>
        <p:nvGrpSpPr>
          <p:cNvPr id="76" name="node15"/>
          <p:cNvGrpSpPr/>
          <p:nvPr/>
        </p:nvGrpSpPr>
        <p:grpSpPr>
          <a:xfrm>
            <a:off x="10020300" y="4267200"/>
            <a:ext cx="1295400" cy="139700"/>
            <a:chOff x="10020300" y="4267200"/>
            <a:chExt cx="1295400" cy="139700"/>
          </a:xfrm>
        </p:grpSpPr>
        <p:sp>
          <p:nvSpPr>
            <p:cNvPr id="52" name="node15.text"/>
            <p:cNvSpPr/>
            <p:nvPr/>
          </p:nvSpPr>
          <p:spPr>
            <a:xfrm>
              <a:off x="10020300" y="4267200"/>
              <a:ext cx="1295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77" name="node16"/>
          <p:cNvGrpSpPr/>
          <p:nvPr/>
        </p:nvGrpSpPr>
        <p:grpSpPr>
          <a:xfrm>
            <a:off x="10020300" y="4495800"/>
            <a:ext cx="1295400" cy="952500"/>
            <a:chOff x="10020300" y="4495800"/>
            <a:chExt cx="1295400" cy="952500"/>
          </a:xfrm>
        </p:grpSpPr>
        <p:sp>
          <p:nvSpPr>
            <p:cNvPr id="53" name="node16.text"/>
            <p:cNvSpPr/>
            <p:nvPr/>
          </p:nvSpPr>
          <p:spPr>
            <a:xfrm>
              <a:off x="10020300" y="4495800"/>
              <a:ext cx="1295400" cy="952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You get capacity without disruption, and a team that can run the result on its own.</a:t>
              </a:r>
              <a:endParaRPr lang="en-US" sz="1100" spc="0" kern="0" b="0" i="0" dirty="0">
                <a:solidFill>
                  <a:srgbClr val="FFFFFF"/>
                </a:solidFill>
                <a:latin typeface="IBM Plex Sans"/>
                <a:ea typeface="IBM Plex Sans"/>
                <a:cs typeface="IBM Plex Sans"/>
              </a:endParaRPr>
            </a:p>
          </p:txBody>
        </p:sp>
      </p:grpSp>
      <p:grpSp>
        <p:nvGrpSpPr>
          <p:cNvPr id="78" name="node17"/>
          <p:cNvGrpSpPr/>
          <p:nvPr/>
        </p:nvGrpSpPr>
        <p:grpSpPr>
          <a:xfrm>
            <a:off x="838200" y="3911600"/>
            <a:ext cx="685800" cy="842827"/>
            <a:chOff x="838200" y="3911600"/>
            <a:chExt cx="685800" cy="842827"/>
          </a:xfrm>
        </p:grpSpPr>
        <p:pic>
          <p:nvPicPr>
            <p:cNvPr id="54" name="node17.mark" descr="arrow-right-angle; canonical SHA256=40758c6ab857749af6c80f96e495dbdf2a4d76e38bc96cc28fa877b01fcb9c03; resolved ink=070154">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8200" y="3911600"/>
              <a:ext cx="685800" cy="842827"/>
            </a:xfrm>
            <a:prstGeom prst="rect">
              <a:avLst/>
            </a:prstGeom>
          </p:spPr>
        </p:pic>
      </p:grpSp>
      <p:grpSp>
        <p:nvGrpSpPr>
          <p:cNvPr id="79" name="node18"/>
          <p:cNvGrpSpPr/>
          <p:nvPr/>
        </p:nvGrpSpPr>
        <p:grpSpPr>
          <a:xfrm>
            <a:off x="3581400" y="3911600"/>
            <a:ext cx="685800" cy="842827"/>
            <a:chOff x="3581400" y="3911600"/>
            <a:chExt cx="685800" cy="842827"/>
          </a:xfrm>
        </p:grpSpPr>
        <p:pic>
          <p:nvPicPr>
            <p:cNvPr id="55" name="node18.mark" descr="arrow-right-angle; canonical SHA256=40758c6ab857749af6c80f96e495dbdf2a4d76e38bc96cc28fa877b01fcb9c03; resolved ink=070154">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81400" y="3911600"/>
              <a:ext cx="685800" cy="842827"/>
            </a:xfrm>
            <a:prstGeom prst="rect">
              <a:avLst/>
            </a:prstGeom>
          </p:spPr>
        </p:pic>
      </p:grpSp>
      <p:grpSp>
        <p:nvGrpSpPr>
          <p:cNvPr id="80" name="node19"/>
          <p:cNvGrpSpPr/>
          <p:nvPr/>
        </p:nvGrpSpPr>
        <p:grpSpPr>
          <a:xfrm>
            <a:off x="6324600" y="3911600"/>
            <a:ext cx="685800" cy="842827"/>
            <a:chOff x="6324600" y="3911600"/>
            <a:chExt cx="685800" cy="842827"/>
          </a:xfrm>
        </p:grpSpPr>
        <p:pic>
          <p:nvPicPr>
            <p:cNvPr id="56" name="node19.mark" descr="arrow-right-angle; canonical SHA256=40758c6ab857749af6c80f96e495dbdf2a4d76e38bc96cc28fa877b01fcb9c03; resolved ink=070154">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24600" y="3911600"/>
              <a:ext cx="685800" cy="842827"/>
            </a:xfrm>
            <a:prstGeom prst="rect">
              <a:avLst/>
            </a:prstGeom>
          </p:spPr>
        </p:pic>
      </p:grpSp>
      <p:grpSp>
        <p:nvGrpSpPr>
          <p:cNvPr id="81" name="node20"/>
          <p:cNvGrpSpPr/>
          <p:nvPr/>
        </p:nvGrpSpPr>
        <p:grpSpPr>
          <a:xfrm>
            <a:off x="9067800" y="3911600"/>
            <a:ext cx="685800" cy="842827"/>
            <a:chOff x="9067800" y="3911600"/>
            <a:chExt cx="685800" cy="842827"/>
          </a:xfrm>
        </p:grpSpPr>
        <p:pic>
          <p:nvPicPr>
            <p:cNvPr id="57" name="node20.mark" descr="arrow-right-angle; canonical SHA256=40758c6ab857749af6c80f96e495dbdf2a4d76e38bc96cc28fa877b01fcb9c03; resolved ink=070154">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067800" y="3911600"/>
              <a:ext cx="685800" cy="842827"/>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ource-36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990600"/>
          </a:xfrm>
          <a:prstGeom prst="rect">
            <a:avLst/>
          </a:prstGeom>
          <a:solidFill>
            <a:srgbClr val="E8EEF8"/>
          </a:solidFill>
          <a:ln>
            <a:noFill/>
          </a:ln>
        </p:spPr>
      </p:sp>
      <p:sp>
        <p:nvSpPr>
          <p:cNvPr id="6" name="nav.label.section-01"/>
          <p:cNvSpPr/>
          <p:nvPr/>
        </p:nvSpPr>
        <p:spPr>
          <a:xfrm>
            <a:off x="266700" y="4572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524000"/>
            <a:ext cx="228600" cy="990600"/>
          </a:xfrm>
          <a:prstGeom prst="rect">
            <a:avLst/>
          </a:prstGeom>
          <a:solidFill>
            <a:srgbClr val="070154"/>
          </a:solidFill>
          <a:ln>
            <a:noFill/>
          </a:ln>
        </p:spPr>
      </p:sp>
      <p:sp>
        <p:nvSpPr>
          <p:cNvPr id="8" name="nav.label.section-02"/>
          <p:cNvSpPr/>
          <p:nvPr/>
        </p:nvSpPr>
        <p:spPr>
          <a:xfrm>
            <a:off x="266700" y="15240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APPROACH</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2590800"/>
            <a:ext cx="228600" cy="990600"/>
          </a:xfrm>
          <a:prstGeom prst="rect">
            <a:avLst/>
          </a:prstGeom>
          <a:solidFill>
            <a:srgbClr val="E8EEF8"/>
          </a:solidFill>
          <a:ln>
            <a:noFill/>
          </a:ln>
        </p:spPr>
      </p:sp>
      <p:sp>
        <p:nvSpPr>
          <p:cNvPr id="10" name="nav.label.section-03"/>
          <p:cNvSpPr/>
          <p:nvPr/>
        </p:nvSpPr>
        <p:spPr>
          <a:xfrm>
            <a:off x="266700" y="25908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3657600"/>
            <a:ext cx="228600" cy="990600"/>
          </a:xfrm>
          <a:prstGeom prst="rect">
            <a:avLst/>
          </a:prstGeom>
          <a:solidFill>
            <a:srgbClr val="E8EEF8"/>
          </a:solidFill>
          <a:ln>
            <a:noFill/>
          </a:ln>
        </p:spPr>
      </p:sp>
      <p:sp>
        <p:nvSpPr>
          <p:cNvPr id="12" name="nav.label.section-04"/>
          <p:cNvSpPr/>
          <p:nvPr/>
        </p:nvSpPr>
        <p:spPr>
          <a:xfrm>
            <a:off x="266700" y="36576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3" name="nav.section-05"/>
          <p:cNvSpPr/>
          <p:nvPr/>
        </p:nvSpPr>
        <p:spPr>
          <a:xfrm>
            <a:off x="266700" y="4724400"/>
            <a:ext cx="228600" cy="990600"/>
          </a:xfrm>
          <a:prstGeom prst="rect">
            <a:avLst/>
          </a:prstGeom>
          <a:solidFill>
            <a:srgbClr val="E8EEF8"/>
          </a:solidFill>
          <a:ln>
            <a:noFill/>
          </a:ln>
        </p:spPr>
      </p:sp>
      <p:sp>
        <p:nvSpPr>
          <p:cNvPr id="14" name="nav.label.section-05"/>
          <p:cNvSpPr/>
          <p:nvPr/>
        </p:nvSpPr>
        <p:spPr>
          <a:xfrm>
            <a:off x="266700" y="47244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NEXT STEPS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30</a:t>
            </a:fld>
            <a:endParaRPr lang="en-US" sz="700" spc="0" kern="0" b="0" i="0" dirty="0">
              <a:solidFill>
                <a:srgbClr val="070154"/>
              </a:solidFill>
              <a:latin typeface="IBM Plex Mono SemiBold"/>
              <a:ea typeface="IBM Plex Mono SemiBold"/>
              <a:cs typeface="IBM Plex Mono SemiBold"/>
            </a:endParaRPr>
          </a:p>
        </p:txBody>
      </p:sp>
      <p:grpSp>
        <p:nvGrpSpPr>
          <p:cNvPr id="61" name="node01"/>
          <p:cNvGrpSpPr/>
          <p:nvPr/>
        </p:nvGrpSpPr>
        <p:grpSpPr>
          <a:xfrm>
            <a:off x="723900" y="1600200"/>
            <a:ext cx="2514600" cy="2057400"/>
            <a:chOff x="723900" y="1600200"/>
            <a:chExt cx="2514600" cy="2057400"/>
          </a:xfrm>
        </p:grpSpPr>
        <p:sp>
          <p:nvSpPr>
            <p:cNvPr id="16" name="node01.container"/>
            <p:cNvSpPr/>
            <p:nvPr/>
          </p:nvSpPr>
          <p:spPr>
            <a:xfrm>
              <a:off x="723900" y="1600200"/>
              <a:ext cx="2514600" cy="2057400"/>
            </a:xfrm>
            <a:prstGeom prst="rect">
              <a:avLst/>
            </a:prstGeom>
            <a:solidFill>
              <a:srgbClr val="E8EEF8"/>
            </a:solidFill>
            <a:ln>
              <a:noFill/>
            </a:ln>
          </p:spPr>
        </p:sp>
        <p:grpSp>
          <p:nvGrpSpPr>
            <p:cNvPr id="60" name="node01.icon"/>
            <p:cNvGrpSpPr/>
            <p:nvPr/>
          </p:nvGrpSpPr>
          <p:grpSpPr>
            <a:xfrm>
              <a:off x="876300" y="1752600"/>
              <a:ext cx="457200" cy="457200"/>
              <a:chOff x="876300" y="1752600"/>
              <a:chExt cx="457200" cy="457200"/>
            </a:xfrm>
          </p:grpSpPr>
          <p:pic>
            <p:nvPicPr>
              <p:cNvPr id="1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6300" y="1752600"/>
                <a:ext cx="457200" cy="457200"/>
              </a:xfrm>
              <a:prstGeom prst="rect">
                <a:avLst/>
              </a:prstGeom>
            </p:spPr>
          </p:pic>
        </p:grpSp>
        <p:sp>
          <p:nvSpPr>
            <p:cNvPr id="18" name="node01.title"/>
            <p:cNvSpPr/>
            <p:nvPr/>
          </p:nvSpPr>
          <p:spPr>
            <a:xfrm>
              <a:off x="1485900" y="17526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Value first</a:t>
              </a:r>
              <a:endParaRPr lang="en-US" sz="1600" spc="-16" kern="0" b="0" i="0" dirty="0">
                <a:solidFill>
                  <a:srgbClr val="0047FF"/>
                </a:solidFill>
                <a:latin typeface="IBM Plex Sans SemiBold"/>
                <a:ea typeface="IBM Plex Sans SemiBold"/>
                <a:cs typeface="IBM Plex Sans SemiBold"/>
              </a:endParaRPr>
            </a:p>
          </p:txBody>
        </p:sp>
        <p:sp>
          <p:nvSpPr>
            <p:cNvPr id="19" name="node01.body.item-001.bullets.item-001.marker"/>
            <p:cNvSpPr/>
            <p:nvPr/>
          </p:nvSpPr>
          <p:spPr>
            <a:xfrm>
              <a:off x="876300" y="2451100"/>
              <a:ext cx="38100" cy="38100"/>
            </a:xfrm>
            <a:prstGeom prst="rect">
              <a:avLst/>
            </a:prstGeom>
            <a:solidFill>
              <a:srgbClr val="070154"/>
            </a:solidFill>
            <a:ln>
              <a:noFill/>
            </a:ln>
          </p:spPr>
        </p:sp>
        <p:sp>
          <p:nvSpPr>
            <p:cNvPr id="20" name="node01.body.item-001.bullets.item-001.text"/>
            <p:cNvSpPr/>
            <p:nvPr/>
          </p:nvSpPr>
          <p:spPr>
            <a:xfrm>
              <a:off x="1028700" y="23622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 rank work by business value, not technical elegance.</a:t>
              </a:r>
              <a:endParaRPr lang="en-US" sz="1200" spc="0" kern="0" b="0" i="0" dirty="0">
                <a:solidFill>
                  <a:srgbClr val="070154"/>
                </a:solidFill>
                <a:latin typeface="IBM Plex Sans"/>
                <a:ea typeface="IBM Plex Sans"/>
                <a:cs typeface="IBM Plex Sans"/>
              </a:endParaRPr>
            </a:p>
          </p:txBody>
        </p:sp>
        <p:sp>
          <p:nvSpPr>
            <p:cNvPr id="21" name="node01.body.item-001.bullets.item-002.marker"/>
            <p:cNvSpPr/>
            <p:nvPr/>
          </p:nvSpPr>
          <p:spPr>
            <a:xfrm>
              <a:off x="876300" y="2921000"/>
              <a:ext cx="38100" cy="38100"/>
            </a:xfrm>
            <a:prstGeom prst="rect">
              <a:avLst/>
            </a:prstGeom>
            <a:solidFill>
              <a:srgbClr val="070154"/>
            </a:solidFill>
            <a:ln>
              <a:noFill/>
            </a:ln>
          </p:spPr>
        </p:sp>
        <p:sp>
          <p:nvSpPr>
            <p:cNvPr id="22" name="node01.body.item-001.bullets.item-002.text"/>
            <p:cNvSpPr/>
            <p:nvPr/>
          </p:nvSpPr>
          <p:spPr>
            <a:xfrm>
              <a:off x="1028700" y="28321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Every decision weighs complexity.</a:t>
              </a:r>
              <a:endParaRPr lang="en-US" sz="1200" spc="0" kern="0" b="0" i="0" dirty="0">
                <a:solidFill>
                  <a:srgbClr val="070154"/>
                </a:solidFill>
                <a:latin typeface="IBM Plex Sans"/>
                <a:ea typeface="IBM Plex Sans"/>
                <a:cs typeface="IBM Plex Sans"/>
              </a:endParaRPr>
            </a:p>
          </p:txBody>
        </p:sp>
      </p:grpSp>
      <p:grpSp>
        <p:nvGrpSpPr>
          <p:cNvPr id="62" name="node02"/>
          <p:cNvGrpSpPr/>
          <p:nvPr/>
        </p:nvGrpSpPr>
        <p:grpSpPr>
          <a:xfrm>
            <a:off x="1638300" y="3886200"/>
            <a:ext cx="1600200" cy="1828800"/>
            <a:chOff x="1638300" y="3886200"/>
            <a:chExt cx="1600200" cy="1828800"/>
          </a:xfrm>
        </p:grpSpPr>
        <p:sp>
          <p:nvSpPr>
            <p:cNvPr id="23" name="node02.surface"/>
            <p:cNvSpPr/>
            <p:nvPr/>
          </p:nvSpPr>
          <p:spPr>
            <a:xfrm>
              <a:off x="1638300" y="3886200"/>
              <a:ext cx="1600200" cy="1828800"/>
            </a:xfrm>
            <a:prstGeom prst="rect">
              <a:avLst/>
            </a:prstGeom>
            <a:solidFill>
              <a:srgbClr val="070154"/>
            </a:solidFill>
            <a:ln>
              <a:noFill/>
            </a:ln>
          </p:spPr>
        </p:sp>
      </p:grpSp>
      <p:grpSp>
        <p:nvGrpSpPr>
          <p:cNvPr id="63" name="node03"/>
          <p:cNvGrpSpPr/>
          <p:nvPr/>
        </p:nvGrpSpPr>
        <p:grpSpPr>
          <a:xfrm>
            <a:off x="1790700" y="4038600"/>
            <a:ext cx="1295400" cy="139700"/>
            <a:chOff x="1790700" y="4038600"/>
            <a:chExt cx="1295400" cy="139700"/>
          </a:xfrm>
        </p:grpSpPr>
        <p:sp>
          <p:nvSpPr>
            <p:cNvPr id="24" name="node03.text"/>
            <p:cNvSpPr/>
            <p:nvPr/>
          </p:nvSpPr>
          <p:spPr>
            <a:xfrm>
              <a:off x="1790700" y="4038600"/>
              <a:ext cx="1295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64" name="node04"/>
          <p:cNvGrpSpPr/>
          <p:nvPr/>
        </p:nvGrpSpPr>
        <p:grpSpPr>
          <a:xfrm>
            <a:off x="1790700" y="4267200"/>
            <a:ext cx="1295400" cy="762000"/>
            <a:chOff x="1790700" y="4267200"/>
            <a:chExt cx="1295400" cy="762000"/>
          </a:xfrm>
        </p:grpSpPr>
        <p:sp>
          <p:nvSpPr>
            <p:cNvPr id="25" name="node04.text"/>
            <p:cNvSpPr/>
            <p:nvPr/>
          </p:nvSpPr>
          <p:spPr>
            <a:xfrm>
              <a:off x="1790700" y="4267200"/>
              <a:ext cx="1295400" cy="762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Effort goes where return is highest, so promised value actually lands.</a:t>
              </a:r>
              <a:endParaRPr lang="en-US" sz="1100" spc="0" kern="0" b="0" i="0" dirty="0">
                <a:solidFill>
                  <a:srgbClr val="FFFFFF"/>
                </a:solidFill>
                <a:latin typeface="IBM Plex Sans"/>
                <a:ea typeface="IBM Plex Sans"/>
                <a:cs typeface="IBM Plex Sans"/>
              </a:endParaRPr>
            </a:p>
          </p:txBody>
        </p:sp>
      </p:grpSp>
      <p:grpSp>
        <p:nvGrpSpPr>
          <p:cNvPr id="66" name="node05"/>
          <p:cNvGrpSpPr/>
          <p:nvPr/>
        </p:nvGrpSpPr>
        <p:grpSpPr>
          <a:xfrm>
            <a:off x="3467100" y="1600200"/>
            <a:ext cx="2514600" cy="2057400"/>
            <a:chOff x="3467100" y="1600200"/>
            <a:chExt cx="2514600" cy="2057400"/>
          </a:xfrm>
        </p:grpSpPr>
        <p:sp>
          <p:nvSpPr>
            <p:cNvPr id="26" name="node05.container"/>
            <p:cNvSpPr/>
            <p:nvPr/>
          </p:nvSpPr>
          <p:spPr>
            <a:xfrm>
              <a:off x="3467100" y="1600200"/>
              <a:ext cx="2514600" cy="2057400"/>
            </a:xfrm>
            <a:prstGeom prst="rect">
              <a:avLst/>
            </a:prstGeom>
            <a:solidFill>
              <a:srgbClr val="E8EEF8"/>
            </a:solidFill>
            <a:ln>
              <a:noFill/>
            </a:ln>
          </p:spPr>
        </p:sp>
        <p:grpSp>
          <p:nvGrpSpPr>
            <p:cNvPr id="65" name="node05.icon"/>
            <p:cNvGrpSpPr/>
            <p:nvPr/>
          </p:nvGrpSpPr>
          <p:grpSpPr>
            <a:xfrm>
              <a:off x="3619500" y="1752600"/>
              <a:ext cx="457200" cy="457200"/>
              <a:chOff x="3619500" y="1752600"/>
              <a:chExt cx="457200" cy="457200"/>
            </a:xfrm>
          </p:grpSpPr>
          <p:pic>
            <p:nvPicPr>
              <p:cNvPr id="27" name="node05.icon.image" descr="icon/strategy-route/navy; canonical SHA256=763a15166fefc06f84edb42452bdf8fbb13cc97295a2599a2fc99a950f7f95d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9500" y="1752600"/>
                <a:ext cx="457200" cy="457200"/>
              </a:xfrm>
              <a:prstGeom prst="rect">
                <a:avLst/>
              </a:prstGeom>
            </p:spPr>
          </p:pic>
        </p:grpSp>
        <p:sp>
          <p:nvSpPr>
            <p:cNvPr id="28" name="node05.title"/>
            <p:cNvSpPr/>
            <p:nvPr/>
          </p:nvSpPr>
          <p:spPr>
            <a:xfrm>
              <a:off x="4229100" y="17526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Purpose built</a:t>
              </a:r>
              <a:endParaRPr lang="en-US" sz="1600" spc="-16" kern="0" b="0" i="0" dirty="0">
                <a:solidFill>
                  <a:srgbClr val="0047FF"/>
                </a:solidFill>
                <a:latin typeface="IBM Plex Sans SemiBold"/>
                <a:ea typeface="IBM Plex Sans SemiBold"/>
                <a:cs typeface="IBM Plex Sans SemiBold"/>
              </a:endParaRPr>
            </a:p>
          </p:txBody>
        </p:sp>
        <p:sp>
          <p:nvSpPr>
            <p:cNvPr id="29" name="node05.body.item-001.bullets.item-001.marker"/>
            <p:cNvSpPr/>
            <p:nvPr/>
          </p:nvSpPr>
          <p:spPr>
            <a:xfrm>
              <a:off x="3619500" y="2451100"/>
              <a:ext cx="38100" cy="38100"/>
            </a:xfrm>
            <a:prstGeom prst="rect">
              <a:avLst/>
            </a:prstGeom>
            <a:solidFill>
              <a:srgbClr val="070154"/>
            </a:solidFill>
            <a:ln>
              <a:noFill/>
            </a:ln>
          </p:spPr>
        </p:sp>
        <p:sp>
          <p:nvSpPr>
            <p:cNvPr id="30" name="node05.body.item-001.bullets.item-001.text"/>
            <p:cNvSpPr/>
            <p:nvPr/>
          </p:nvSpPr>
          <p:spPr>
            <a:xfrm>
              <a:off x="3771900" y="23622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 choose retain, replatform, rewrite or retire per system.</a:t>
              </a:r>
              <a:endParaRPr lang="en-US" sz="1200" spc="0" kern="0" b="0" i="0" dirty="0">
                <a:solidFill>
                  <a:srgbClr val="070154"/>
                </a:solidFill>
                <a:latin typeface="IBM Plex Sans"/>
                <a:ea typeface="IBM Plex Sans"/>
                <a:cs typeface="IBM Plex Sans"/>
              </a:endParaRPr>
            </a:p>
          </p:txBody>
        </p:sp>
        <p:sp>
          <p:nvSpPr>
            <p:cNvPr id="31" name="node05.body.item-001.bullets.item-002.marker"/>
            <p:cNvSpPr/>
            <p:nvPr/>
          </p:nvSpPr>
          <p:spPr>
            <a:xfrm>
              <a:off x="3619500" y="2921000"/>
              <a:ext cx="38100" cy="38100"/>
            </a:xfrm>
            <a:prstGeom prst="rect">
              <a:avLst/>
            </a:prstGeom>
            <a:solidFill>
              <a:srgbClr val="070154"/>
            </a:solidFill>
            <a:ln>
              <a:noFill/>
            </a:ln>
          </p:spPr>
        </p:sp>
        <p:sp>
          <p:nvSpPr>
            <p:cNvPr id="32" name="node05.body.item-001.bullets.item-002.text"/>
            <p:cNvSpPr/>
            <p:nvPr/>
          </p:nvSpPr>
          <p:spPr>
            <a:xfrm>
              <a:off x="3771900" y="28321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Stable components stay in place.</a:t>
              </a:r>
              <a:endParaRPr lang="en-US" sz="1200" spc="0" kern="0" b="0" i="0" dirty="0">
                <a:solidFill>
                  <a:srgbClr val="070154"/>
                </a:solidFill>
                <a:latin typeface="IBM Plex Sans"/>
                <a:ea typeface="IBM Plex Sans"/>
                <a:cs typeface="IBM Plex Sans"/>
              </a:endParaRPr>
            </a:p>
          </p:txBody>
        </p:sp>
      </p:grpSp>
      <p:grpSp>
        <p:nvGrpSpPr>
          <p:cNvPr id="67" name="node06"/>
          <p:cNvGrpSpPr/>
          <p:nvPr/>
        </p:nvGrpSpPr>
        <p:grpSpPr>
          <a:xfrm>
            <a:off x="4381500" y="3886200"/>
            <a:ext cx="1600200" cy="1828800"/>
            <a:chOff x="4381500" y="3886200"/>
            <a:chExt cx="1600200" cy="1828800"/>
          </a:xfrm>
        </p:grpSpPr>
        <p:sp>
          <p:nvSpPr>
            <p:cNvPr id="33" name="node06.surface"/>
            <p:cNvSpPr/>
            <p:nvPr/>
          </p:nvSpPr>
          <p:spPr>
            <a:xfrm>
              <a:off x="4381500" y="3886200"/>
              <a:ext cx="1600200" cy="1828800"/>
            </a:xfrm>
            <a:prstGeom prst="rect">
              <a:avLst/>
            </a:prstGeom>
            <a:solidFill>
              <a:srgbClr val="070154"/>
            </a:solidFill>
            <a:ln>
              <a:noFill/>
            </a:ln>
          </p:spPr>
        </p:sp>
      </p:grpSp>
      <p:grpSp>
        <p:nvGrpSpPr>
          <p:cNvPr id="68" name="node07"/>
          <p:cNvGrpSpPr/>
          <p:nvPr/>
        </p:nvGrpSpPr>
        <p:grpSpPr>
          <a:xfrm>
            <a:off x="4533900" y="4038600"/>
            <a:ext cx="1295400" cy="139700"/>
            <a:chOff x="4533900" y="4038600"/>
            <a:chExt cx="1295400" cy="139700"/>
          </a:xfrm>
        </p:grpSpPr>
        <p:sp>
          <p:nvSpPr>
            <p:cNvPr id="34" name="node07.text"/>
            <p:cNvSpPr/>
            <p:nvPr/>
          </p:nvSpPr>
          <p:spPr>
            <a:xfrm>
              <a:off x="4533900" y="4038600"/>
              <a:ext cx="1295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69" name="node08"/>
          <p:cNvGrpSpPr/>
          <p:nvPr/>
        </p:nvGrpSpPr>
        <p:grpSpPr>
          <a:xfrm>
            <a:off x="4533900" y="4267200"/>
            <a:ext cx="1295400" cy="952500"/>
            <a:chOff x="4533900" y="4267200"/>
            <a:chExt cx="1295400" cy="952500"/>
          </a:xfrm>
        </p:grpSpPr>
        <p:sp>
          <p:nvSpPr>
            <p:cNvPr id="35" name="node08.text"/>
            <p:cNvSpPr/>
            <p:nvPr/>
          </p:nvSpPr>
          <p:spPr>
            <a:xfrm>
              <a:off x="4533900" y="4267200"/>
              <a:ext cx="1295400" cy="952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We design around your portfolio, keeping what works and replacing only what drives value.</a:t>
              </a:r>
              <a:endParaRPr lang="en-US" sz="1100" spc="0" kern="0" b="0" i="0" dirty="0">
                <a:solidFill>
                  <a:srgbClr val="FFFFFF"/>
                </a:solidFill>
                <a:latin typeface="IBM Plex Sans"/>
                <a:ea typeface="IBM Plex Sans"/>
                <a:cs typeface="IBM Plex Sans"/>
              </a:endParaRPr>
            </a:p>
          </p:txBody>
        </p:sp>
      </p:grpSp>
      <p:grpSp>
        <p:nvGrpSpPr>
          <p:cNvPr id="71" name="node09"/>
          <p:cNvGrpSpPr/>
          <p:nvPr/>
        </p:nvGrpSpPr>
        <p:grpSpPr>
          <a:xfrm>
            <a:off x="6210300" y="1600200"/>
            <a:ext cx="2514600" cy="2057400"/>
            <a:chOff x="6210300" y="1600200"/>
            <a:chExt cx="2514600" cy="2057400"/>
          </a:xfrm>
        </p:grpSpPr>
        <p:sp>
          <p:nvSpPr>
            <p:cNvPr id="36" name="node09.container"/>
            <p:cNvSpPr/>
            <p:nvPr/>
          </p:nvSpPr>
          <p:spPr>
            <a:xfrm>
              <a:off x="6210300" y="1600200"/>
              <a:ext cx="2514600" cy="2057400"/>
            </a:xfrm>
            <a:prstGeom prst="rect">
              <a:avLst/>
            </a:prstGeom>
            <a:solidFill>
              <a:srgbClr val="E8EEF8"/>
            </a:solidFill>
            <a:ln>
              <a:noFill/>
            </a:ln>
          </p:spPr>
        </p:sp>
        <p:grpSp>
          <p:nvGrpSpPr>
            <p:cNvPr id="70" name="node09.icon"/>
            <p:cNvGrpSpPr/>
            <p:nvPr/>
          </p:nvGrpSpPr>
          <p:grpSpPr>
            <a:xfrm>
              <a:off x="6362700" y="1752600"/>
              <a:ext cx="457200" cy="457200"/>
              <a:chOff x="6362700" y="1752600"/>
              <a:chExt cx="457200" cy="457200"/>
            </a:xfrm>
          </p:grpSpPr>
          <p:pic>
            <p:nvPicPr>
              <p:cNvPr id="37" name="node09.icon.image" descr="icon/ai-chip-orbit/navy; canonical SHA256=14a43f66d8a5b8ac5942dde8e905dedb2ae681de3a803ebf66fb1cacc34ccd3a">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2700" y="1752600"/>
                <a:ext cx="457200" cy="457200"/>
              </a:xfrm>
              <a:prstGeom prst="rect">
                <a:avLst/>
              </a:prstGeom>
            </p:spPr>
          </p:pic>
        </p:grpSp>
        <p:sp>
          <p:nvSpPr>
            <p:cNvPr id="38" name="node09.title"/>
            <p:cNvSpPr/>
            <p:nvPr/>
          </p:nvSpPr>
          <p:spPr>
            <a:xfrm>
              <a:off x="6972300" y="17526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AI accelerated</a:t>
              </a:r>
              <a:endParaRPr lang="en-US" sz="1600" spc="-16" kern="0" b="0" i="0" dirty="0">
                <a:solidFill>
                  <a:srgbClr val="0047FF"/>
                </a:solidFill>
                <a:latin typeface="IBM Plex Sans SemiBold"/>
                <a:ea typeface="IBM Plex Sans SemiBold"/>
                <a:cs typeface="IBM Plex Sans SemiBold"/>
              </a:endParaRPr>
            </a:p>
          </p:txBody>
        </p:sp>
        <p:sp>
          <p:nvSpPr>
            <p:cNvPr id="39" name="node09.body.item-001.bullets.item-001.marker"/>
            <p:cNvSpPr/>
            <p:nvPr/>
          </p:nvSpPr>
          <p:spPr>
            <a:xfrm>
              <a:off x="6362700" y="2451100"/>
              <a:ext cx="38100" cy="38100"/>
            </a:xfrm>
            <a:prstGeom prst="rect">
              <a:avLst/>
            </a:prstGeom>
            <a:solidFill>
              <a:srgbClr val="070154"/>
            </a:solidFill>
            <a:ln>
              <a:noFill/>
            </a:ln>
          </p:spPr>
        </p:sp>
        <p:sp>
          <p:nvSpPr>
            <p:cNvPr id="40" name="node09.body.item-001.bullets.item-001.text"/>
            <p:cNvSpPr/>
            <p:nvPr/>
          </p:nvSpPr>
          <p:spPr>
            <a:xfrm>
              <a:off x="6515100" y="23622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Agents scan and map codebases at scale.</a:t>
              </a:r>
              <a:endParaRPr lang="en-US" sz="1200" spc="0" kern="0" b="0" i="0" dirty="0">
                <a:solidFill>
                  <a:srgbClr val="070154"/>
                </a:solidFill>
                <a:latin typeface="IBM Plex Sans"/>
                <a:ea typeface="IBM Plex Sans"/>
                <a:cs typeface="IBM Plex Sans"/>
              </a:endParaRPr>
            </a:p>
          </p:txBody>
        </p:sp>
        <p:sp>
          <p:nvSpPr>
            <p:cNvPr id="41" name="node09.body.item-001.bullets.item-002.marker"/>
            <p:cNvSpPr/>
            <p:nvPr/>
          </p:nvSpPr>
          <p:spPr>
            <a:xfrm>
              <a:off x="6362700" y="2921000"/>
              <a:ext cx="38100" cy="38100"/>
            </a:xfrm>
            <a:prstGeom prst="rect">
              <a:avLst/>
            </a:prstGeom>
            <a:solidFill>
              <a:srgbClr val="070154"/>
            </a:solidFill>
            <a:ln>
              <a:noFill/>
            </a:ln>
          </p:spPr>
        </p:sp>
        <p:sp>
          <p:nvSpPr>
            <p:cNvPr id="42" name="node09.body.item-001.bullets.item-002.text"/>
            <p:cNvSpPr/>
            <p:nvPr/>
          </p:nvSpPr>
          <p:spPr>
            <a:xfrm>
              <a:off x="6515100" y="28321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Evidence, planning and tooling stay connected.</a:t>
              </a:r>
              <a:endParaRPr lang="en-US" sz="1200" spc="0" kern="0" b="0" i="0" dirty="0">
                <a:solidFill>
                  <a:srgbClr val="070154"/>
                </a:solidFill>
                <a:latin typeface="IBM Plex Sans"/>
                <a:ea typeface="IBM Plex Sans"/>
                <a:cs typeface="IBM Plex Sans"/>
              </a:endParaRPr>
            </a:p>
          </p:txBody>
        </p:sp>
      </p:grpSp>
      <p:grpSp>
        <p:nvGrpSpPr>
          <p:cNvPr id="72" name="node10"/>
          <p:cNvGrpSpPr/>
          <p:nvPr/>
        </p:nvGrpSpPr>
        <p:grpSpPr>
          <a:xfrm>
            <a:off x="7124700" y="3886200"/>
            <a:ext cx="1600200" cy="1828800"/>
            <a:chOff x="7124700" y="3886200"/>
            <a:chExt cx="1600200" cy="1828800"/>
          </a:xfrm>
        </p:grpSpPr>
        <p:sp>
          <p:nvSpPr>
            <p:cNvPr id="43" name="node10.surface"/>
            <p:cNvSpPr/>
            <p:nvPr/>
          </p:nvSpPr>
          <p:spPr>
            <a:xfrm>
              <a:off x="7124700" y="3886200"/>
              <a:ext cx="1600200" cy="1828800"/>
            </a:xfrm>
            <a:prstGeom prst="rect">
              <a:avLst/>
            </a:prstGeom>
            <a:solidFill>
              <a:srgbClr val="070154"/>
            </a:solidFill>
            <a:ln>
              <a:noFill/>
            </a:ln>
          </p:spPr>
        </p:sp>
      </p:grpSp>
      <p:grpSp>
        <p:nvGrpSpPr>
          <p:cNvPr id="73" name="node11"/>
          <p:cNvGrpSpPr/>
          <p:nvPr/>
        </p:nvGrpSpPr>
        <p:grpSpPr>
          <a:xfrm>
            <a:off x="7277100" y="4038600"/>
            <a:ext cx="1295400" cy="139700"/>
            <a:chOff x="7277100" y="4038600"/>
            <a:chExt cx="1295400" cy="139700"/>
          </a:xfrm>
        </p:grpSpPr>
        <p:sp>
          <p:nvSpPr>
            <p:cNvPr id="44" name="node11.text"/>
            <p:cNvSpPr/>
            <p:nvPr/>
          </p:nvSpPr>
          <p:spPr>
            <a:xfrm>
              <a:off x="7277100" y="4038600"/>
              <a:ext cx="1295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74" name="node12"/>
          <p:cNvGrpSpPr/>
          <p:nvPr/>
        </p:nvGrpSpPr>
        <p:grpSpPr>
          <a:xfrm>
            <a:off x="7277100" y="4267200"/>
            <a:ext cx="1295400" cy="952500"/>
            <a:chOff x="7277100" y="4267200"/>
            <a:chExt cx="1295400" cy="952500"/>
          </a:xfrm>
        </p:grpSpPr>
        <p:sp>
          <p:nvSpPr>
            <p:cNvPr id="45" name="node12.text"/>
            <p:cNvSpPr/>
            <p:nvPr/>
          </p:nvSpPr>
          <p:spPr>
            <a:xfrm>
              <a:off x="7277100" y="4267200"/>
              <a:ext cx="1295400" cy="952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Analysis that takes months is done in days, with less reliance on tribal knowledge.</a:t>
              </a:r>
              <a:endParaRPr lang="en-US" sz="1100" spc="0" kern="0" b="0" i="0" dirty="0">
                <a:solidFill>
                  <a:srgbClr val="FFFFFF"/>
                </a:solidFill>
                <a:latin typeface="IBM Plex Sans"/>
                <a:ea typeface="IBM Plex Sans"/>
                <a:cs typeface="IBM Plex Sans"/>
              </a:endParaRPr>
            </a:p>
          </p:txBody>
        </p:sp>
      </p:grpSp>
      <p:grpSp>
        <p:nvGrpSpPr>
          <p:cNvPr id="76" name="node13"/>
          <p:cNvGrpSpPr/>
          <p:nvPr/>
        </p:nvGrpSpPr>
        <p:grpSpPr>
          <a:xfrm>
            <a:off x="8953500" y="1600200"/>
            <a:ext cx="2514600" cy="2057400"/>
            <a:chOff x="8953500" y="1600200"/>
            <a:chExt cx="2514600" cy="2057400"/>
          </a:xfrm>
        </p:grpSpPr>
        <p:sp>
          <p:nvSpPr>
            <p:cNvPr id="46" name="node13.container"/>
            <p:cNvSpPr/>
            <p:nvPr/>
          </p:nvSpPr>
          <p:spPr>
            <a:xfrm>
              <a:off x="8953500" y="1600200"/>
              <a:ext cx="2514600" cy="2057400"/>
            </a:xfrm>
            <a:prstGeom prst="rect">
              <a:avLst/>
            </a:prstGeom>
            <a:solidFill>
              <a:srgbClr val="E8EEF8"/>
            </a:solidFill>
            <a:ln>
              <a:noFill/>
            </a:ln>
          </p:spPr>
        </p:sp>
        <p:grpSp>
          <p:nvGrpSpPr>
            <p:cNvPr id="75" name="node13.icon"/>
            <p:cNvGrpSpPr/>
            <p:nvPr/>
          </p:nvGrpSpPr>
          <p:grpSpPr>
            <a:xfrm>
              <a:off x="9105900" y="1752600"/>
              <a:ext cx="457200" cy="457200"/>
              <a:chOff x="9105900" y="1752600"/>
              <a:chExt cx="457200" cy="457200"/>
            </a:xfrm>
          </p:grpSpPr>
          <p:pic>
            <p:nvPicPr>
              <p:cNvPr id="47" name="node13.icon.image" descr="icon/team-huddle/navy; canonical SHA256=0810b0327bab4c67b9ad5494cd579ab1166b6cab738efd10be95638de3481f2f">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05900" y="1752600"/>
                <a:ext cx="457200" cy="457200"/>
              </a:xfrm>
              <a:prstGeom prst="rect">
                <a:avLst/>
              </a:prstGeom>
            </p:spPr>
          </p:pic>
        </p:grpSp>
        <p:sp>
          <p:nvSpPr>
            <p:cNvPr id="48" name="node13.title"/>
            <p:cNvSpPr/>
            <p:nvPr/>
          </p:nvSpPr>
          <p:spPr>
            <a:xfrm>
              <a:off x="9715500" y="1752600"/>
              <a:ext cx="16002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Co-build and scale</a:t>
              </a:r>
              <a:endParaRPr lang="en-US" sz="1600" spc="-16" kern="0" b="0" i="0" dirty="0">
                <a:solidFill>
                  <a:srgbClr val="0047FF"/>
                </a:solidFill>
                <a:latin typeface="IBM Plex Sans SemiBold"/>
                <a:ea typeface="IBM Plex Sans SemiBold"/>
                <a:cs typeface="IBM Plex Sans SemiBold"/>
              </a:endParaRPr>
            </a:p>
          </p:txBody>
        </p:sp>
        <p:sp>
          <p:nvSpPr>
            <p:cNvPr id="49" name="node13.body.item-001.bullets.item-001.marker"/>
            <p:cNvSpPr/>
            <p:nvPr/>
          </p:nvSpPr>
          <p:spPr>
            <a:xfrm>
              <a:off x="9105900" y="2527300"/>
              <a:ext cx="38100" cy="38100"/>
            </a:xfrm>
            <a:prstGeom prst="rect">
              <a:avLst/>
            </a:prstGeom>
            <a:solidFill>
              <a:srgbClr val="070154"/>
            </a:solidFill>
            <a:ln>
              <a:noFill/>
            </a:ln>
          </p:spPr>
        </p:sp>
        <p:sp>
          <p:nvSpPr>
            <p:cNvPr id="50" name="node13.body.item-001.bullets.item-001.text"/>
            <p:cNvSpPr/>
            <p:nvPr/>
          </p:nvSpPr>
          <p:spPr>
            <a:xfrm>
              <a:off x="9258300" y="24384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Co-sourced teams sit with your stakeholders.</a:t>
              </a:r>
              <a:endParaRPr lang="en-US" sz="1200" spc="0" kern="0" b="0" i="0" dirty="0">
                <a:solidFill>
                  <a:srgbClr val="070154"/>
                </a:solidFill>
                <a:latin typeface="IBM Plex Sans"/>
                <a:ea typeface="IBM Plex Sans"/>
                <a:cs typeface="IBM Plex Sans"/>
              </a:endParaRPr>
            </a:p>
          </p:txBody>
        </p:sp>
        <p:sp>
          <p:nvSpPr>
            <p:cNvPr id="51" name="node13.body.item-001.bullets.item-002.marker"/>
            <p:cNvSpPr/>
            <p:nvPr/>
          </p:nvSpPr>
          <p:spPr>
            <a:xfrm>
              <a:off x="9105900" y="2997200"/>
              <a:ext cx="38100" cy="38100"/>
            </a:xfrm>
            <a:prstGeom prst="rect">
              <a:avLst/>
            </a:prstGeom>
            <a:solidFill>
              <a:srgbClr val="070154"/>
            </a:solidFill>
            <a:ln>
              <a:noFill/>
            </a:ln>
          </p:spPr>
        </p:sp>
        <p:sp>
          <p:nvSpPr>
            <p:cNvPr id="52" name="node13.body.item-001.bullets.item-002.text"/>
            <p:cNvSpPr/>
            <p:nvPr/>
          </p:nvSpPr>
          <p:spPr>
            <a:xfrm>
              <a:off x="9258300" y="29083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Onshore and nearshore flex with demand.</a:t>
              </a:r>
              <a:endParaRPr lang="en-US" sz="1200" spc="0" kern="0" b="0" i="0" dirty="0">
                <a:solidFill>
                  <a:srgbClr val="070154"/>
                </a:solidFill>
                <a:latin typeface="IBM Plex Sans"/>
                <a:ea typeface="IBM Plex Sans"/>
                <a:cs typeface="IBM Plex Sans"/>
              </a:endParaRPr>
            </a:p>
          </p:txBody>
        </p:sp>
      </p:grpSp>
      <p:grpSp>
        <p:nvGrpSpPr>
          <p:cNvPr id="77" name="node14"/>
          <p:cNvGrpSpPr/>
          <p:nvPr/>
        </p:nvGrpSpPr>
        <p:grpSpPr>
          <a:xfrm>
            <a:off x="9867900" y="3886200"/>
            <a:ext cx="1600200" cy="1828800"/>
            <a:chOff x="9867900" y="3886200"/>
            <a:chExt cx="1600200" cy="1828800"/>
          </a:xfrm>
        </p:grpSpPr>
        <p:sp>
          <p:nvSpPr>
            <p:cNvPr id="53" name="node14.surface"/>
            <p:cNvSpPr/>
            <p:nvPr/>
          </p:nvSpPr>
          <p:spPr>
            <a:xfrm>
              <a:off x="9867900" y="3886200"/>
              <a:ext cx="1600200" cy="1828800"/>
            </a:xfrm>
            <a:prstGeom prst="rect">
              <a:avLst/>
            </a:prstGeom>
            <a:solidFill>
              <a:srgbClr val="070154"/>
            </a:solidFill>
            <a:ln>
              <a:noFill/>
            </a:ln>
          </p:spPr>
        </p:sp>
      </p:grpSp>
      <p:grpSp>
        <p:nvGrpSpPr>
          <p:cNvPr id="78" name="node15"/>
          <p:cNvGrpSpPr/>
          <p:nvPr/>
        </p:nvGrpSpPr>
        <p:grpSpPr>
          <a:xfrm>
            <a:off x="10020300" y="4038600"/>
            <a:ext cx="1295400" cy="139700"/>
            <a:chOff x="10020300" y="4038600"/>
            <a:chExt cx="1295400" cy="139700"/>
          </a:xfrm>
        </p:grpSpPr>
        <p:sp>
          <p:nvSpPr>
            <p:cNvPr id="54" name="node15.text"/>
            <p:cNvSpPr/>
            <p:nvPr/>
          </p:nvSpPr>
          <p:spPr>
            <a:xfrm>
              <a:off x="10020300" y="4038600"/>
              <a:ext cx="1295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79" name="node16"/>
          <p:cNvGrpSpPr/>
          <p:nvPr/>
        </p:nvGrpSpPr>
        <p:grpSpPr>
          <a:xfrm>
            <a:off x="10020300" y="4267200"/>
            <a:ext cx="1295400" cy="952500"/>
            <a:chOff x="10020300" y="4267200"/>
            <a:chExt cx="1295400" cy="952500"/>
          </a:xfrm>
        </p:grpSpPr>
        <p:sp>
          <p:nvSpPr>
            <p:cNvPr id="55" name="node16.text"/>
            <p:cNvSpPr/>
            <p:nvPr/>
          </p:nvSpPr>
          <p:spPr>
            <a:xfrm>
              <a:off x="10020300" y="4267200"/>
              <a:ext cx="1295400" cy="952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You get capacity without disruption, and a team that can run the result on its own.</a:t>
              </a:r>
              <a:endParaRPr lang="en-US" sz="1100" spc="0" kern="0" b="0" i="0" dirty="0">
                <a:solidFill>
                  <a:srgbClr val="FFFFFF"/>
                </a:solidFill>
                <a:latin typeface="IBM Plex Sans"/>
                <a:ea typeface="IBM Plex Sans"/>
                <a:cs typeface="IBM Plex Sans"/>
              </a:endParaRPr>
            </a:p>
          </p:txBody>
        </p:sp>
      </p:grpSp>
      <p:grpSp>
        <p:nvGrpSpPr>
          <p:cNvPr id="80" name="node17"/>
          <p:cNvGrpSpPr/>
          <p:nvPr/>
        </p:nvGrpSpPr>
        <p:grpSpPr>
          <a:xfrm>
            <a:off x="838200" y="3683000"/>
            <a:ext cx="685800" cy="842827"/>
            <a:chOff x="838200" y="3683000"/>
            <a:chExt cx="685800" cy="842827"/>
          </a:xfrm>
        </p:grpSpPr>
        <p:pic>
          <p:nvPicPr>
            <p:cNvPr id="56" name="node17.mark" descr="arrow-right-angle; canonical SHA256=40758c6ab857749af6c80f96e495dbdf2a4d76e38bc96cc28fa877b01fcb9c03; resolved ink=070154">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8200" y="3683000"/>
              <a:ext cx="685800" cy="842827"/>
            </a:xfrm>
            <a:prstGeom prst="rect">
              <a:avLst/>
            </a:prstGeom>
          </p:spPr>
        </p:pic>
      </p:grpSp>
      <p:grpSp>
        <p:nvGrpSpPr>
          <p:cNvPr id="81" name="node18"/>
          <p:cNvGrpSpPr/>
          <p:nvPr/>
        </p:nvGrpSpPr>
        <p:grpSpPr>
          <a:xfrm>
            <a:off x="3581400" y="3683000"/>
            <a:ext cx="685800" cy="842827"/>
            <a:chOff x="3581400" y="3683000"/>
            <a:chExt cx="685800" cy="842827"/>
          </a:xfrm>
        </p:grpSpPr>
        <p:pic>
          <p:nvPicPr>
            <p:cNvPr id="57" name="node18.mark" descr="arrow-right-angle; canonical SHA256=40758c6ab857749af6c80f96e495dbdf2a4d76e38bc96cc28fa877b01fcb9c03; resolved ink=070154">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81400" y="3683000"/>
              <a:ext cx="685800" cy="842827"/>
            </a:xfrm>
            <a:prstGeom prst="rect">
              <a:avLst/>
            </a:prstGeom>
          </p:spPr>
        </p:pic>
      </p:grpSp>
      <p:grpSp>
        <p:nvGrpSpPr>
          <p:cNvPr id="82" name="node19"/>
          <p:cNvGrpSpPr/>
          <p:nvPr/>
        </p:nvGrpSpPr>
        <p:grpSpPr>
          <a:xfrm>
            <a:off x="6324600" y="3683000"/>
            <a:ext cx="685800" cy="842827"/>
            <a:chOff x="6324600" y="3683000"/>
            <a:chExt cx="685800" cy="842827"/>
          </a:xfrm>
        </p:grpSpPr>
        <p:pic>
          <p:nvPicPr>
            <p:cNvPr id="58" name="node19.mark" descr="arrow-right-angle; canonical SHA256=40758c6ab857749af6c80f96e495dbdf2a4d76e38bc96cc28fa877b01fcb9c03; resolved ink=070154">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24600" y="3683000"/>
              <a:ext cx="685800" cy="842827"/>
            </a:xfrm>
            <a:prstGeom prst="rect">
              <a:avLst/>
            </a:prstGeom>
          </p:spPr>
        </p:pic>
      </p:grpSp>
      <p:grpSp>
        <p:nvGrpSpPr>
          <p:cNvPr id="83" name="node20"/>
          <p:cNvGrpSpPr/>
          <p:nvPr/>
        </p:nvGrpSpPr>
        <p:grpSpPr>
          <a:xfrm>
            <a:off x="9067800" y="3683000"/>
            <a:ext cx="685800" cy="842827"/>
            <a:chOff x="9067800" y="3683000"/>
            <a:chExt cx="685800" cy="842827"/>
          </a:xfrm>
        </p:grpSpPr>
        <p:pic>
          <p:nvPicPr>
            <p:cNvPr id="59" name="node20.mark" descr="arrow-right-angle; canonical SHA256=40758c6ab857749af6c80f96e495dbdf2a4d76e38bc96cc28fa877b01fcb9c03; resolved ink=070154">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067800" y="3683000"/>
              <a:ext cx="685800" cy="842827"/>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ource-37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IS HARD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Why modernization has been slow and costly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31</a:t>
            </a:fld>
            <a:endParaRPr lang="en-US" sz="700" spc="0" kern="0" b="0" i="0" dirty="0">
              <a:solidFill>
                <a:srgbClr val="070154"/>
              </a:solidFill>
              <a:latin typeface="IBM Plex Mono SemiBold"/>
              <a:ea typeface="IBM Plex Mono SemiBold"/>
              <a:cs typeface="IBM Plex Mono SemiBold"/>
            </a:endParaRPr>
          </a:p>
        </p:txBody>
      </p:sp>
      <p:grpSp>
        <p:nvGrpSpPr>
          <p:cNvPr id="39" name="node01"/>
          <p:cNvGrpSpPr/>
          <p:nvPr/>
        </p:nvGrpSpPr>
        <p:grpSpPr>
          <a:xfrm>
            <a:off x="723900" y="1600200"/>
            <a:ext cx="10744200" cy="215900"/>
            <a:chOff x="723900" y="1600200"/>
            <a:chExt cx="10744200" cy="215900"/>
          </a:xfrm>
        </p:grpSpPr>
        <p:sp>
          <p:nvSpPr>
            <p:cNvPr id="6" name="node01.text"/>
            <p:cNvSpPr/>
            <p:nvPr/>
          </p:nvSpPr>
          <p:spPr>
            <a:xfrm>
              <a:off x="723900" y="1600200"/>
              <a:ext cx="1074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Coding is only one part. The harder work is rediscovering, deciding and cutting over safely.</a:t>
              </a:r>
              <a:endParaRPr lang="en-US" sz="1200" spc="0" kern="0" b="0" i="0" dirty="0">
                <a:solidFill>
                  <a:srgbClr val="070154"/>
                </a:solidFill>
                <a:latin typeface="IBM Plex Sans"/>
                <a:ea typeface="IBM Plex Sans"/>
                <a:cs typeface="IBM Plex Sans"/>
              </a:endParaRPr>
            </a:p>
          </p:txBody>
        </p:sp>
      </p:grpSp>
      <p:grpSp>
        <p:nvGrpSpPr>
          <p:cNvPr id="40" name="node02"/>
          <p:cNvGrpSpPr/>
          <p:nvPr/>
        </p:nvGrpSpPr>
        <p:grpSpPr>
          <a:xfrm>
            <a:off x="723900" y="2514600"/>
            <a:ext cx="5029200" cy="127000"/>
            <a:chOff x="723900" y="2514600"/>
            <a:chExt cx="5029200" cy="127000"/>
          </a:xfrm>
        </p:grpSpPr>
        <p:sp>
          <p:nvSpPr>
            <p:cNvPr id="7" name="node02.text"/>
            <p:cNvSpPr/>
            <p:nvPr/>
          </p:nvSpPr>
          <p:spPr>
            <a:xfrm>
              <a:off x="723900" y="2514600"/>
              <a:ext cx="5029200" cy="127000"/>
            </a:xfrm>
            <a:prstGeom prst="rect">
              <a:avLst/>
            </a:prstGeom>
            <a:noFill/>
            <a:ln/>
          </p:spPr>
          <p:txBody>
            <a:bodyPr wrap="square" lIns="0" tIns="0" rIns="0" bIns="0" rtlCol="0" anchor="t"/>
            <a:lstStyle/>
            <a:p>
              <a:pPr algn="l" indent="0" marL="0">
                <a:lnSpc>
                  <a:spcPts val="1000"/>
                </a:lnSpc>
                <a:buNone/>
              </a:pPr>
              <a:r>
                <a:rPr lang="en-US" sz="800" spc="64" kern="0" b="0" i="0" dirty="0">
                  <a:solidFill>
                    <a:srgbClr val="0047FF"/>
                  </a:solidFill>
                  <a:latin typeface="IBM Plex Mono SemiBold"/>
                  <a:ea typeface="IBM Plex Mono SemiBold"/>
                  <a:cs typeface="IBM Plex Mono SemiBold"/>
                </a:rPr>
                <a:t>DISCOVER AND DEFINE</a:t>
              </a:r>
              <a:endParaRPr lang="en-US" sz="800" spc="64" kern="0" b="0" i="0" dirty="0">
                <a:solidFill>
                  <a:srgbClr val="0047FF"/>
                </a:solidFill>
                <a:latin typeface="IBM Plex Mono SemiBold"/>
                <a:ea typeface="IBM Plex Mono SemiBold"/>
                <a:cs typeface="IBM Plex Mono SemiBold"/>
              </a:endParaRPr>
            </a:p>
          </p:txBody>
        </p:sp>
      </p:grpSp>
      <p:grpSp>
        <p:nvGrpSpPr>
          <p:cNvPr id="41" name="node03"/>
          <p:cNvGrpSpPr/>
          <p:nvPr/>
        </p:nvGrpSpPr>
        <p:grpSpPr>
          <a:xfrm>
            <a:off x="6438900" y="2514600"/>
            <a:ext cx="5029200" cy="127000"/>
            <a:chOff x="6438900" y="2514600"/>
            <a:chExt cx="5029200" cy="127000"/>
          </a:xfrm>
        </p:grpSpPr>
        <p:sp>
          <p:nvSpPr>
            <p:cNvPr id="8" name="node03.text"/>
            <p:cNvSpPr/>
            <p:nvPr/>
          </p:nvSpPr>
          <p:spPr>
            <a:xfrm>
              <a:off x="6438900" y="2514600"/>
              <a:ext cx="5029200" cy="127000"/>
            </a:xfrm>
            <a:prstGeom prst="rect">
              <a:avLst/>
            </a:prstGeom>
            <a:noFill/>
            <a:ln/>
          </p:spPr>
          <p:txBody>
            <a:bodyPr wrap="square" lIns="0" tIns="0" rIns="0" bIns="0" rtlCol="0" anchor="t"/>
            <a:lstStyle/>
            <a:p>
              <a:pPr algn="l" indent="0" marL="0">
                <a:lnSpc>
                  <a:spcPts val="1000"/>
                </a:lnSpc>
                <a:buNone/>
              </a:pPr>
              <a:r>
                <a:rPr lang="en-US" sz="800" spc="64" kern="0" b="0" i="0" dirty="0">
                  <a:solidFill>
                    <a:srgbClr val="0047FF"/>
                  </a:solidFill>
                  <a:latin typeface="IBM Plex Mono SemiBold"/>
                  <a:ea typeface="IBM Plex Mono SemiBold"/>
                  <a:cs typeface="IBM Plex Mono SemiBold"/>
                </a:rPr>
                <a:t>DELIVER AND TRANSITION</a:t>
              </a:r>
              <a:endParaRPr lang="en-US" sz="800" spc="64" kern="0" b="0" i="0" dirty="0">
                <a:solidFill>
                  <a:srgbClr val="0047FF"/>
                </a:solidFill>
                <a:latin typeface="IBM Plex Mono SemiBold"/>
                <a:ea typeface="IBM Plex Mono SemiBold"/>
                <a:cs typeface="IBM Plex Mono SemiBold"/>
              </a:endParaRPr>
            </a:p>
          </p:txBody>
        </p:sp>
      </p:grpSp>
      <p:grpSp>
        <p:nvGrpSpPr>
          <p:cNvPr id="42" name="node04"/>
          <p:cNvGrpSpPr/>
          <p:nvPr/>
        </p:nvGrpSpPr>
        <p:grpSpPr>
          <a:xfrm>
            <a:off x="723900" y="2743200"/>
            <a:ext cx="5029200" cy="914400"/>
            <a:chOff x="723900" y="2743200"/>
            <a:chExt cx="5029200" cy="914400"/>
          </a:xfrm>
        </p:grpSpPr>
        <p:sp>
          <p:nvSpPr>
            <p:cNvPr id="9" name="node04.container"/>
            <p:cNvSpPr/>
            <p:nvPr/>
          </p:nvSpPr>
          <p:spPr>
            <a:xfrm>
              <a:off x="723900" y="2743200"/>
              <a:ext cx="5029200" cy="914400"/>
            </a:xfrm>
            <a:prstGeom prst="rect">
              <a:avLst/>
            </a:prstGeom>
            <a:solidFill>
              <a:srgbClr val="E8EEF8"/>
            </a:solidFill>
            <a:ln>
              <a:noFill/>
            </a:ln>
          </p:spPr>
        </p:sp>
        <p:sp>
          <p:nvSpPr>
            <p:cNvPr id="10" name="node04.edge"/>
            <p:cNvSpPr/>
            <p:nvPr/>
          </p:nvSpPr>
          <p:spPr>
            <a:xfrm>
              <a:off x="723900" y="2743200"/>
              <a:ext cx="38100" cy="914400"/>
            </a:xfrm>
            <a:prstGeom prst="rect">
              <a:avLst/>
            </a:prstGeom>
            <a:solidFill>
              <a:srgbClr val="0047FF"/>
            </a:solidFill>
            <a:ln>
              <a:noFill/>
            </a:ln>
          </p:spPr>
        </p:sp>
        <p:sp>
          <p:nvSpPr>
            <p:cNvPr id="11" name="node04.number"/>
            <p:cNvSpPr/>
            <p:nvPr/>
          </p:nvSpPr>
          <p:spPr>
            <a:xfrm>
              <a:off x="914400" y="2895600"/>
              <a:ext cx="225425" cy="228600"/>
            </a:xfrm>
            <a:prstGeom prst="rect">
              <a:avLst/>
            </a:prstGeom>
            <a:noFill/>
            <a:ln/>
          </p:spPr>
          <p:txBody>
            <a:bodyPr wrap="square" lIns="0" tIns="0" rIns="0" bIns="0" rtlCol="0" anchor="t"/>
            <a:lstStyle/>
            <a:p>
              <a:pPr algn="l" indent="0" marL="0">
                <a:lnSpc>
                  <a:spcPts val="1800"/>
                </a:lnSpc>
                <a:buNone/>
              </a:pPr>
              <a:r>
                <a:rPr lang="en-US" sz="1400" spc="0" kern="0" b="0" i="0" dirty="0">
                  <a:solidFill>
                    <a:srgbClr val="0047FF"/>
                  </a:solidFill>
                  <a:latin typeface="IBM Plex Mono SemiBold"/>
                  <a:ea typeface="IBM Plex Mono SemiBold"/>
                  <a:cs typeface="IBM Plex Mono SemiBold"/>
                </a:rPr>
                <a:t>01</a:t>
              </a:r>
              <a:endParaRPr lang="en-US" sz="1400" spc="0" kern="0" b="0" i="0" dirty="0">
                <a:solidFill>
                  <a:srgbClr val="0047FF"/>
                </a:solidFill>
                <a:latin typeface="IBM Plex Mono SemiBold"/>
                <a:ea typeface="IBM Plex Mono SemiBold"/>
                <a:cs typeface="IBM Plex Mono SemiBold"/>
              </a:endParaRPr>
            </a:p>
          </p:txBody>
        </p:sp>
        <p:sp>
          <p:nvSpPr>
            <p:cNvPr id="12" name="node04.title"/>
            <p:cNvSpPr/>
            <p:nvPr/>
          </p:nvSpPr>
          <p:spPr>
            <a:xfrm>
              <a:off x="1254125" y="2931795"/>
              <a:ext cx="43465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Reconstruct business behavior</a:t>
              </a:r>
              <a:endParaRPr lang="en-US" sz="1100" spc="0" kern="0" b="0" i="0" dirty="0">
                <a:solidFill>
                  <a:srgbClr val="070154"/>
                </a:solidFill>
                <a:latin typeface="IBM Plex Sans"/>
                <a:ea typeface="IBM Plex Sans"/>
                <a:cs typeface="IBM Plex Sans"/>
              </a:endParaRPr>
            </a:p>
          </p:txBody>
        </p:sp>
        <p:sp>
          <p:nvSpPr>
            <p:cNvPr id="13" name="node04.body.item-001.paragraph"/>
            <p:cNvSpPr/>
            <p:nvPr/>
          </p:nvSpPr>
          <p:spPr>
            <a:xfrm>
              <a:off x="914400" y="3276600"/>
              <a:ext cx="46863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Document current processes, rules and workarounds.</a:t>
              </a:r>
              <a:endParaRPr lang="en-US" sz="1100" spc="0" kern="0" b="0" i="0" dirty="0">
                <a:solidFill>
                  <a:srgbClr val="50658E"/>
                </a:solidFill>
                <a:latin typeface="IBM Plex Sans"/>
                <a:ea typeface="IBM Plex Sans"/>
                <a:cs typeface="IBM Plex Sans"/>
              </a:endParaRPr>
            </a:p>
          </p:txBody>
        </p:sp>
      </p:grpSp>
      <p:grpSp>
        <p:nvGrpSpPr>
          <p:cNvPr id="43" name="node05"/>
          <p:cNvGrpSpPr/>
          <p:nvPr/>
        </p:nvGrpSpPr>
        <p:grpSpPr>
          <a:xfrm>
            <a:off x="723900" y="3886200"/>
            <a:ext cx="5029200" cy="914400"/>
            <a:chOff x="723900" y="3886200"/>
            <a:chExt cx="5029200" cy="914400"/>
          </a:xfrm>
        </p:grpSpPr>
        <p:sp>
          <p:nvSpPr>
            <p:cNvPr id="14" name="node05.container"/>
            <p:cNvSpPr/>
            <p:nvPr/>
          </p:nvSpPr>
          <p:spPr>
            <a:xfrm>
              <a:off x="723900" y="3886200"/>
              <a:ext cx="5029200" cy="914400"/>
            </a:xfrm>
            <a:prstGeom prst="rect">
              <a:avLst/>
            </a:prstGeom>
            <a:solidFill>
              <a:srgbClr val="E8EEF8"/>
            </a:solidFill>
            <a:ln>
              <a:noFill/>
            </a:ln>
          </p:spPr>
        </p:sp>
        <p:sp>
          <p:nvSpPr>
            <p:cNvPr id="15" name="node05.edge"/>
            <p:cNvSpPr/>
            <p:nvPr/>
          </p:nvSpPr>
          <p:spPr>
            <a:xfrm>
              <a:off x="723900" y="3886200"/>
              <a:ext cx="38100" cy="914400"/>
            </a:xfrm>
            <a:prstGeom prst="rect">
              <a:avLst/>
            </a:prstGeom>
            <a:solidFill>
              <a:srgbClr val="0047FF"/>
            </a:solidFill>
            <a:ln>
              <a:noFill/>
            </a:ln>
          </p:spPr>
        </p:sp>
        <p:sp>
          <p:nvSpPr>
            <p:cNvPr id="16" name="node05.number"/>
            <p:cNvSpPr/>
            <p:nvPr/>
          </p:nvSpPr>
          <p:spPr>
            <a:xfrm>
              <a:off x="914400" y="4038600"/>
              <a:ext cx="225425" cy="228600"/>
            </a:xfrm>
            <a:prstGeom prst="rect">
              <a:avLst/>
            </a:prstGeom>
            <a:noFill/>
            <a:ln/>
          </p:spPr>
          <p:txBody>
            <a:bodyPr wrap="square" lIns="0" tIns="0" rIns="0" bIns="0" rtlCol="0" anchor="t"/>
            <a:lstStyle/>
            <a:p>
              <a:pPr algn="l" indent="0" marL="0">
                <a:lnSpc>
                  <a:spcPts val="1800"/>
                </a:lnSpc>
                <a:buNone/>
              </a:pPr>
              <a:r>
                <a:rPr lang="en-US" sz="1400" spc="0" kern="0" b="0" i="0" dirty="0">
                  <a:solidFill>
                    <a:srgbClr val="0047FF"/>
                  </a:solidFill>
                  <a:latin typeface="IBM Plex Mono SemiBold"/>
                  <a:ea typeface="IBM Plex Mono SemiBold"/>
                  <a:cs typeface="IBM Plex Mono SemiBold"/>
                </a:rPr>
                <a:t>02</a:t>
              </a:r>
              <a:endParaRPr lang="en-US" sz="1400" spc="0" kern="0" b="0" i="0" dirty="0">
                <a:solidFill>
                  <a:srgbClr val="0047FF"/>
                </a:solidFill>
                <a:latin typeface="IBM Plex Mono SemiBold"/>
                <a:ea typeface="IBM Plex Mono SemiBold"/>
                <a:cs typeface="IBM Plex Mono SemiBold"/>
              </a:endParaRPr>
            </a:p>
          </p:txBody>
        </p:sp>
        <p:sp>
          <p:nvSpPr>
            <p:cNvPr id="17" name="node05.title"/>
            <p:cNvSpPr/>
            <p:nvPr/>
          </p:nvSpPr>
          <p:spPr>
            <a:xfrm>
              <a:off x="1254125" y="4074795"/>
              <a:ext cx="43465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Decide what to retain</a:t>
              </a:r>
              <a:endParaRPr lang="en-US" sz="1100" spc="0" kern="0" b="0" i="0" dirty="0">
                <a:solidFill>
                  <a:srgbClr val="070154"/>
                </a:solidFill>
                <a:latin typeface="IBM Plex Sans"/>
                <a:ea typeface="IBM Plex Sans"/>
                <a:cs typeface="IBM Plex Sans"/>
              </a:endParaRPr>
            </a:p>
          </p:txBody>
        </p:sp>
        <p:sp>
          <p:nvSpPr>
            <p:cNvPr id="18" name="node05.body.item-001.paragraph"/>
            <p:cNvSpPr/>
            <p:nvPr/>
          </p:nvSpPr>
          <p:spPr>
            <a:xfrm>
              <a:off x="914400" y="4419600"/>
              <a:ext cx="46863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Separate essential controls from obsolete features.</a:t>
              </a:r>
              <a:endParaRPr lang="en-US" sz="1100" spc="0" kern="0" b="0" i="0" dirty="0">
                <a:solidFill>
                  <a:srgbClr val="50658E"/>
                </a:solidFill>
                <a:latin typeface="IBM Plex Sans"/>
                <a:ea typeface="IBM Plex Sans"/>
                <a:cs typeface="IBM Plex Sans"/>
              </a:endParaRPr>
            </a:p>
          </p:txBody>
        </p:sp>
      </p:grpSp>
      <p:grpSp>
        <p:nvGrpSpPr>
          <p:cNvPr id="44" name="node06"/>
          <p:cNvGrpSpPr/>
          <p:nvPr/>
        </p:nvGrpSpPr>
        <p:grpSpPr>
          <a:xfrm>
            <a:off x="723900" y="5029200"/>
            <a:ext cx="5029200" cy="914400"/>
            <a:chOff x="723900" y="5029200"/>
            <a:chExt cx="5029200" cy="914400"/>
          </a:xfrm>
        </p:grpSpPr>
        <p:sp>
          <p:nvSpPr>
            <p:cNvPr id="19" name="node06.container"/>
            <p:cNvSpPr/>
            <p:nvPr/>
          </p:nvSpPr>
          <p:spPr>
            <a:xfrm>
              <a:off x="723900" y="5029200"/>
              <a:ext cx="5029200" cy="914400"/>
            </a:xfrm>
            <a:prstGeom prst="rect">
              <a:avLst/>
            </a:prstGeom>
            <a:solidFill>
              <a:srgbClr val="E8EEF8"/>
            </a:solidFill>
            <a:ln>
              <a:noFill/>
            </a:ln>
          </p:spPr>
        </p:sp>
        <p:sp>
          <p:nvSpPr>
            <p:cNvPr id="20" name="node06.edge"/>
            <p:cNvSpPr/>
            <p:nvPr/>
          </p:nvSpPr>
          <p:spPr>
            <a:xfrm>
              <a:off x="723900" y="5029200"/>
              <a:ext cx="38100" cy="914400"/>
            </a:xfrm>
            <a:prstGeom prst="rect">
              <a:avLst/>
            </a:prstGeom>
            <a:solidFill>
              <a:srgbClr val="0047FF"/>
            </a:solidFill>
            <a:ln>
              <a:noFill/>
            </a:ln>
          </p:spPr>
        </p:sp>
        <p:sp>
          <p:nvSpPr>
            <p:cNvPr id="21" name="node06.number"/>
            <p:cNvSpPr/>
            <p:nvPr/>
          </p:nvSpPr>
          <p:spPr>
            <a:xfrm>
              <a:off x="914400" y="5181600"/>
              <a:ext cx="225425" cy="228600"/>
            </a:xfrm>
            <a:prstGeom prst="rect">
              <a:avLst/>
            </a:prstGeom>
            <a:noFill/>
            <a:ln/>
          </p:spPr>
          <p:txBody>
            <a:bodyPr wrap="square" lIns="0" tIns="0" rIns="0" bIns="0" rtlCol="0" anchor="t"/>
            <a:lstStyle/>
            <a:p>
              <a:pPr algn="l" indent="0" marL="0">
                <a:lnSpc>
                  <a:spcPts val="1800"/>
                </a:lnSpc>
                <a:buNone/>
              </a:pPr>
              <a:r>
                <a:rPr lang="en-US" sz="1400" spc="0" kern="0" b="0" i="0" dirty="0">
                  <a:solidFill>
                    <a:srgbClr val="0047FF"/>
                  </a:solidFill>
                  <a:latin typeface="IBM Plex Mono SemiBold"/>
                  <a:ea typeface="IBM Plex Mono SemiBold"/>
                  <a:cs typeface="IBM Plex Mono SemiBold"/>
                </a:rPr>
                <a:t>03</a:t>
              </a:r>
              <a:endParaRPr lang="en-US" sz="1400" spc="0" kern="0" b="0" i="0" dirty="0">
                <a:solidFill>
                  <a:srgbClr val="0047FF"/>
                </a:solidFill>
                <a:latin typeface="IBM Plex Mono SemiBold"/>
                <a:ea typeface="IBM Plex Mono SemiBold"/>
                <a:cs typeface="IBM Plex Mono SemiBold"/>
              </a:endParaRPr>
            </a:p>
          </p:txBody>
        </p:sp>
        <p:sp>
          <p:nvSpPr>
            <p:cNvPr id="22" name="node06.title"/>
            <p:cNvSpPr/>
            <p:nvPr/>
          </p:nvSpPr>
          <p:spPr>
            <a:xfrm>
              <a:off x="1254125" y="5217795"/>
              <a:ext cx="43465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Align business and technology</a:t>
              </a:r>
              <a:endParaRPr lang="en-US" sz="1100" spc="0" kern="0" b="0" i="0" dirty="0">
                <a:solidFill>
                  <a:srgbClr val="070154"/>
                </a:solidFill>
                <a:latin typeface="IBM Plex Sans"/>
                <a:ea typeface="IBM Plex Sans"/>
                <a:cs typeface="IBM Plex Sans"/>
              </a:endParaRPr>
            </a:p>
          </p:txBody>
        </p:sp>
        <p:sp>
          <p:nvSpPr>
            <p:cNvPr id="23" name="node06.body.item-001.paragraph"/>
            <p:cNvSpPr/>
            <p:nvPr/>
          </p:nvSpPr>
          <p:spPr>
            <a:xfrm>
              <a:off x="914400" y="5562600"/>
              <a:ext cx="46863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Turn operator intent into shared designs and tests.</a:t>
              </a:r>
              <a:endParaRPr lang="en-US" sz="1100" spc="0" kern="0" b="0" i="0" dirty="0">
                <a:solidFill>
                  <a:srgbClr val="50658E"/>
                </a:solidFill>
                <a:latin typeface="IBM Plex Sans"/>
                <a:ea typeface="IBM Plex Sans"/>
                <a:cs typeface="IBM Plex Sans"/>
              </a:endParaRPr>
            </a:p>
          </p:txBody>
        </p:sp>
      </p:grpSp>
      <p:grpSp>
        <p:nvGrpSpPr>
          <p:cNvPr id="45" name="node07"/>
          <p:cNvGrpSpPr/>
          <p:nvPr/>
        </p:nvGrpSpPr>
        <p:grpSpPr>
          <a:xfrm>
            <a:off x="6438900" y="2743200"/>
            <a:ext cx="5029200" cy="914400"/>
            <a:chOff x="6438900" y="2743200"/>
            <a:chExt cx="5029200" cy="914400"/>
          </a:xfrm>
        </p:grpSpPr>
        <p:sp>
          <p:nvSpPr>
            <p:cNvPr id="24" name="node07.container"/>
            <p:cNvSpPr/>
            <p:nvPr/>
          </p:nvSpPr>
          <p:spPr>
            <a:xfrm>
              <a:off x="6438900" y="2743200"/>
              <a:ext cx="5029200" cy="914400"/>
            </a:xfrm>
            <a:prstGeom prst="rect">
              <a:avLst/>
            </a:prstGeom>
            <a:solidFill>
              <a:srgbClr val="E8EEF8"/>
            </a:solidFill>
            <a:ln>
              <a:noFill/>
            </a:ln>
          </p:spPr>
        </p:sp>
        <p:sp>
          <p:nvSpPr>
            <p:cNvPr id="25" name="node07.edge"/>
            <p:cNvSpPr/>
            <p:nvPr/>
          </p:nvSpPr>
          <p:spPr>
            <a:xfrm>
              <a:off x="6438900" y="2743200"/>
              <a:ext cx="38100" cy="914400"/>
            </a:xfrm>
            <a:prstGeom prst="rect">
              <a:avLst/>
            </a:prstGeom>
            <a:solidFill>
              <a:srgbClr val="0047FF"/>
            </a:solidFill>
            <a:ln>
              <a:noFill/>
            </a:ln>
          </p:spPr>
        </p:sp>
        <p:sp>
          <p:nvSpPr>
            <p:cNvPr id="26" name="node07.number"/>
            <p:cNvSpPr/>
            <p:nvPr/>
          </p:nvSpPr>
          <p:spPr>
            <a:xfrm>
              <a:off x="6629400" y="2895600"/>
              <a:ext cx="225425" cy="228600"/>
            </a:xfrm>
            <a:prstGeom prst="rect">
              <a:avLst/>
            </a:prstGeom>
            <a:noFill/>
            <a:ln/>
          </p:spPr>
          <p:txBody>
            <a:bodyPr wrap="square" lIns="0" tIns="0" rIns="0" bIns="0" rtlCol="0" anchor="t"/>
            <a:lstStyle/>
            <a:p>
              <a:pPr algn="l" indent="0" marL="0">
                <a:lnSpc>
                  <a:spcPts val="1800"/>
                </a:lnSpc>
                <a:buNone/>
              </a:pPr>
              <a:r>
                <a:rPr lang="en-US" sz="1400" spc="0" kern="0" b="0" i="0" dirty="0">
                  <a:solidFill>
                    <a:srgbClr val="0047FF"/>
                  </a:solidFill>
                  <a:latin typeface="IBM Plex Mono SemiBold"/>
                  <a:ea typeface="IBM Plex Mono SemiBold"/>
                  <a:cs typeface="IBM Plex Mono SemiBold"/>
                </a:rPr>
                <a:t>04</a:t>
              </a:r>
              <a:endParaRPr lang="en-US" sz="1400" spc="0" kern="0" b="0" i="0" dirty="0">
                <a:solidFill>
                  <a:srgbClr val="0047FF"/>
                </a:solidFill>
                <a:latin typeface="IBM Plex Mono SemiBold"/>
                <a:ea typeface="IBM Plex Mono SemiBold"/>
                <a:cs typeface="IBM Plex Mono SemiBold"/>
              </a:endParaRPr>
            </a:p>
          </p:txBody>
        </p:sp>
        <p:sp>
          <p:nvSpPr>
            <p:cNvPr id="27" name="node07.title"/>
            <p:cNvSpPr/>
            <p:nvPr/>
          </p:nvSpPr>
          <p:spPr>
            <a:xfrm>
              <a:off x="6969125" y="2931795"/>
              <a:ext cx="43465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Untangle dependencies</a:t>
              </a:r>
              <a:endParaRPr lang="en-US" sz="1100" spc="0" kern="0" b="0" i="0" dirty="0">
                <a:solidFill>
                  <a:srgbClr val="070154"/>
                </a:solidFill>
                <a:latin typeface="IBM Plex Sans"/>
                <a:ea typeface="IBM Plex Sans"/>
                <a:cs typeface="IBM Plex Sans"/>
              </a:endParaRPr>
            </a:p>
          </p:txBody>
        </p:sp>
        <p:sp>
          <p:nvSpPr>
            <p:cNvPr id="28" name="node07.body.item-001.paragraph"/>
            <p:cNvSpPr/>
            <p:nvPr/>
          </p:nvSpPr>
          <p:spPr>
            <a:xfrm>
              <a:off x="6629400" y="3276600"/>
              <a:ext cx="46863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Map integrations, then clean duplicate and incomplete data.</a:t>
              </a:r>
              <a:endParaRPr lang="en-US" sz="1100" spc="0" kern="0" b="0" i="0" dirty="0">
                <a:solidFill>
                  <a:srgbClr val="50658E"/>
                </a:solidFill>
                <a:latin typeface="IBM Plex Sans"/>
                <a:ea typeface="IBM Plex Sans"/>
                <a:cs typeface="IBM Plex Sans"/>
              </a:endParaRPr>
            </a:p>
          </p:txBody>
        </p:sp>
      </p:grpSp>
      <p:grpSp>
        <p:nvGrpSpPr>
          <p:cNvPr id="46" name="node08"/>
          <p:cNvGrpSpPr/>
          <p:nvPr/>
        </p:nvGrpSpPr>
        <p:grpSpPr>
          <a:xfrm>
            <a:off x="6438900" y="3886200"/>
            <a:ext cx="5029200" cy="914400"/>
            <a:chOff x="6438900" y="3886200"/>
            <a:chExt cx="5029200" cy="914400"/>
          </a:xfrm>
        </p:grpSpPr>
        <p:sp>
          <p:nvSpPr>
            <p:cNvPr id="29" name="node08.container"/>
            <p:cNvSpPr/>
            <p:nvPr/>
          </p:nvSpPr>
          <p:spPr>
            <a:xfrm>
              <a:off x="6438900" y="3886200"/>
              <a:ext cx="5029200" cy="914400"/>
            </a:xfrm>
            <a:prstGeom prst="rect">
              <a:avLst/>
            </a:prstGeom>
            <a:solidFill>
              <a:srgbClr val="E8EEF8"/>
            </a:solidFill>
            <a:ln>
              <a:noFill/>
            </a:ln>
          </p:spPr>
        </p:sp>
        <p:sp>
          <p:nvSpPr>
            <p:cNvPr id="30" name="node08.edge"/>
            <p:cNvSpPr/>
            <p:nvPr/>
          </p:nvSpPr>
          <p:spPr>
            <a:xfrm>
              <a:off x="6438900" y="3886200"/>
              <a:ext cx="38100" cy="914400"/>
            </a:xfrm>
            <a:prstGeom prst="rect">
              <a:avLst/>
            </a:prstGeom>
            <a:solidFill>
              <a:srgbClr val="0047FF"/>
            </a:solidFill>
            <a:ln>
              <a:noFill/>
            </a:ln>
          </p:spPr>
        </p:sp>
        <p:sp>
          <p:nvSpPr>
            <p:cNvPr id="31" name="node08.number"/>
            <p:cNvSpPr/>
            <p:nvPr/>
          </p:nvSpPr>
          <p:spPr>
            <a:xfrm>
              <a:off x="6629400" y="4038600"/>
              <a:ext cx="225425" cy="228600"/>
            </a:xfrm>
            <a:prstGeom prst="rect">
              <a:avLst/>
            </a:prstGeom>
            <a:noFill/>
            <a:ln/>
          </p:spPr>
          <p:txBody>
            <a:bodyPr wrap="square" lIns="0" tIns="0" rIns="0" bIns="0" rtlCol="0" anchor="t"/>
            <a:lstStyle/>
            <a:p>
              <a:pPr algn="l" indent="0" marL="0">
                <a:lnSpc>
                  <a:spcPts val="1800"/>
                </a:lnSpc>
                <a:buNone/>
              </a:pPr>
              <a:r>
                <a:rPr lang="en-US" sz="1400" spc="0" kern="0" b="0" i="0" dirty="0">
                  <a:solidFill>
                    <a:srgbClr val="0047FF"/>
                  </a:solidFill>
                  <a:latin typeface="IBM Plex Mono SemiBold"/>
                  <a:ea typeface="IBM Plex Mono SemiBold"/>
                  <a:cs typeface="IBM Plex Mono SemiBold"/>
                </a:rPr>
                <a:t>05</a:t>
              </a:r>
              <a:endParaRPr lang="en-US" sz="1400" spc="0" kern="0" b="0" i="0" dirty="0">
                <a:solidFill>
                  <a:srgbClr val="0047FF"/>
                </a:solidFill>
                <a:latin typeface="IBM Plex Mono SemiBold"/>
                <a:ea typeface="IBM Plex Mono SemiBold"/>
                <a:cs typeface="IBM Plex Mono SemiBold"/>
              </a:endParaRPr>
            </a:p>
          </p:txBody>
        </p:sp>
        <p:sp>
          <p:nvSpPr>
            <p:cNvPr id="32" name="node08.title"/>
            <p:cNvSpPr/>
            <p:nvPr/>
          </p:nvSpPr>
          <p:spPr>
            <a:xfrm>
              <a:off x="6969125" y="4074795"/>
              <a:ext cx="43465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Validate during cutover</a:t>
              </a:r>
              <a:endParaRPr lang="en-US" sz="1100" spc="0" kern="0" b="0" i="0" dirty="0">
                <a:solidFill>
                  <a:srgbClr val="070154"/>
                </a:solidFill>
                <a:latin typeface="IBM Plex Sans"/>
                <a:ea typeface="IBM Plex Sans"/>
                <a:cs typeface="IBM Plex Sans"/>
              </a:endParaRPr>
            </a:p>
          </p:txBody>
        </p:sp>
        <p:sp>
          <p:nvSpPr>
            <p:cNvPr id="33" name="node08.body.item-001.paragraph"/>
            <p:cNvSpPr/>
            <p:nvPr/>
          </p:nvSpPr>
          <p:spPr>
            <a:xfrm>
              <a:off x="6629400" y="4419600"/>
              <a:ext cx="46863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Run acceptance tests while old and new systems coexist.</a:t>
              </a:r>
              <a:endParaRPr lang="en-US" sz="1100" spc="0" kern="0" b="0" i="0" dirty="0">
                <a:solidFill>
                  <a:srgbClr val="50658E"/>
                </a:solidFill>
                <a:latin typeface="IBM Plex Sans"/>
                <a:ea typeface="IBM Plex Sans"/>
                <a:cs typeface="IBM Plex Sans"/>
              </a:endParaRPr>
            </a:p>
          </p:txBody>
        </p:sp>
      </p:grpSp>
      <p:grpSp>
        <p:nvGrpSpPr>
          <p:cNvPr id="47" name="node09"/>
          <p:cNvGrpSpPr/>
          <p:nvPr/>
        </p:nvGrpSpPr>
        <p:grpSpPr>
          <a:xfrm>
            <a:off x="6438900" y="5029200"/>
            <a:ext cx="5029200" cy="914400"/>
            <a:chOff x="6438900" y="5029200"/>
            <a:chExt cx="5029200" cy="914400"/>
          </a:xfrm>
        </p:grpSpPr>
        <p:sp>
          <p:nvSpPr>
            <p:cNvPr id="34" name="node09.container"/>
            <p:cNvSpPr/>
            <p:nvPr/>
          </p:nvSpPr>
          <p:spPr>
            <a:xfrm>
              <a:off x="6438900" y="5029200"/>
              <a:ext cx="5029200" cy="914400"/>
            </a:xfrm>
            <a:prstGeom prst="rect">
              <a:avLst/>
            </a:prstGeom>
            <a:solidFill>
              <a:srgbClr val="E8EEF8"/>
            </a:solidFill>
            <a:ln>
              <a:noFill/>
            </a:ln>
          </p:spPr>
        </p:sp>
        <p:sp>
          <p:nvSpPr>
            <p:cNvPr id="35" name="node09.edge"/>
            <p:cNvSpPr/>
            <p:nvPr/>
          </p:nvSpPr>
          <p:spPr>
            <a:xfrm>
              <a:off x="6438900" y="5029200"/>
              <a:ext cx="38100" cy="914400"/>
            </a:xfrm>
            <a:prstGeom prst="rect">
              <a:avLst/>
            </a:prstGeom>
            <a:solidFill>
              <a:srgbClr val="0047FF"/>
            </a:solidFill>
            <a:ln>
              <a:noFill/>
            </a:ln>
          </p:spPr>
        </p:sp>
        <p:sp>
          <p:nvSpPr>
            <p:cNvPr id="36" name="node09.number"/>
            <p:cNvSpPr/>
            <p:nvPr/>
          </p:nvSpPr>
          <p:spPr>
            <a:xfrm>
              <a:off x="6629400" y="5181600"/>
              <a:ext cx="225425" cy="228600"/>
            </a:xfrm>
            <a:prstGeom prst="rect">
              <a:avLst/>
            </a:prstGeom>
            <a:noFill/>
            <a:ln/>
          </p:spPr>
          <p:txBody>
            <a:bodyPr wrap="square" lIns="0" tIns="0" rIns="0" bIns="0" rtlCol="0" anchor="t"/>
            <a:lstStyle/>
            <a:p>
              <a:pPr algn="l" indent="0" marL="0">
                <a:lnSpc>
                  <a:spcPts val="1800"/>
                </a:lnSpc>
                <a:buNone/>
              </a:pPr>
              <a:r>
                <a:rPr lang="en-US" sz="1400" spc="0" kern="0" b="0" i="0" dirty="0">
                  <a:solidFill>
                    <a:srgbClr val="0047FF"/>
                  </a:solidFill>
                  <a:latin typeface="IBM Plex Mono SemiBold"/>
                  <a:ea typeface="IBM Plex Mono SemiBold"/>
                  <a:cs typeface="IBM Plex Mono SemiBold"/>
                </a:rPr>
                <a:t>06</a:t>
              </a:r>
              <a:endParaRPr lang="en-US" sz="1400" spc="0" kern="0" b="0" i="0" dirty="0">
                <a:solidFill>
                  <a:srgbClr val="0047FF"/>
                </a:solidFill>
                <a:latin typeface="IBM Plex Mono SemiBold"/>
                <a:ea typeface="IBM Plex Mono SemiBold"/>
                <a:cs typeface="IBM Plex Mono SemiBold"/>
              </a:endParaRPr>
            </a:p>
          </p:txBody>
        </p:sp>
        <p:sp>
          <p:nvSpPr>
            <p:cNvPr id="37" name="node09.title"/>
            <p:cNvSpPr/>
            <p:nvPr/>
          </p:nvSpPr>
          <p:spPr>
            <a:xfrm>
              <a:off x="6969125" y="5217795"/>
              <a:ext cx="43465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Execute a safe cutover</a:t>
              </a:r>
              <a:endParaRPr lang="en-US" sz="1100" spc="0" kern="0" b="0" i="0" dirty="0">
                <a:solidFill>
                  <a:srgbClr val="070154"/>
                </a:solidFill>
                <a:latin typeface="IBM Plex Sans"/>
                <a:ea typeface="IBM Plex Sans"/>
                <a:cs typeface="IBM Plex Sans"/>
              </a:endParaRPr>
            </a:p>
          </p:txBody>
        </p:sp>
        <p:sp>
          <p:nvSpPr>
            <p:cNvPr id="38" name="node09.body.item-001.paragraph"/>
            <p:cNvSpPr/>
            <p:nvPr/>
          </p:nvSpPr>
          <p:spPr>
            <a:xfrm>
              <a:off x="6629400" y="5562600"/>
              <a:ext cx="46863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Sequence migration, rollback and controls to protect operations.</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ource-37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IS HARD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Why modernization has been slow and costly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32</a:t>
            </a:fld>
            <a:endParaRPr lang="en-US" sz="700" spc="0" kern="0" b="0" i="0" dirty="0">
              <a:solidFill>
                <a:srgbClr val="070154"/>
              </a:solidFill>
              <a:latin typeface="IBM Plex Mono SemiBold"/>
              <a:ea typeface="IBM Plex Mono SemiBold"/>
              <a:cs typeface="IBM Plex Mono SemiBold"/>
            </a:endParaRPr>
          </a:p>
        </p:txBody>
      </p:sp>
      <p:grpSp>
        <p:nvGrpSpPr>
          <p:cNvPr id="39" name="node01"/>
          <p:cNvGrpSpPr/>
          <p:nvPr/>
        </p:nvGrpSpPr>
        <p:grpSpPr>
          <a:xfrm>
            <a:off x="723900" y="1600200"/>
            <a:ext cx="10744200" cy="254000"/>
            <a:chOff x="723900" y="1600200"/>
            <a:chExt cx="10744200" cy="254000"/>
          </a:xfrm>
        </p:grpSpPr>
        <p:sp>
          <p:nvSpPr>
            <p:cNvPr id="6" name="node01.text"/>
            <p:cNvSpPr/>
            <p:nvPr/>
          </p:nvSpPr>
          <p:spPr>
            <a:xfrm>
              <a:off x="723900" y="1600200"/>
              <a:ext cx="10744200" cy="254000"/>
            </a:xfrm>
            <a:prstGeom prst="rect">
              <a:avLst/>
            </a:prstGeom>
            <a:noFill/>
            <a:ln/>
          </p:spPr>
          <p:txBody>
            <a:bodyPr wrap="square" lIns="0" tIns="0" rIns="0" bIns="0" rtlCol="0" anchor="t"/>
            <a:lstStyle/>
            <a:p>
              <a:pPr algn="l" indent="0" marL="0">
                <a:lnSpc>
                  <a:spcPts val="2000"/>
                </a:lnSpc>
                <a:buNone/>
              </a:pPr>
              <a:r>
                <a:rPr lang="en-US" sz="1400" spc="0" kern="0" b="0" i="0" dirty="0">
                  <a:solidFill>
                    <a:srgbClr val="070154"/>
                  </a:solidFill>
                  <a:latin typeface="IBM Plex Sans"/>
                  <a:ea typeface="IBM Plex Sans"/>
                  <a:cs typeface="IBM Plex Sans"/>
                </a:rPr>
                <a:t>Coding is only one part. The harder work is rediscovering, deciding and cutting over safely.</a:t>
              </a:r>
              <a:endParaRPr lang="en-US" sz="1400" spc="0" kern="0" b="0" i="0" dirty="0">
                <a:solidFill>
                  <a:srgbClr val="070154"/>
                </a:solidFill>
                <a:latin typeface="IBM Plex Sans"/>
                <a:ea typeface="IBM Plex Sans"/>
                <a:cs typeface="IBM Plex Sans"/>
              </a:endParaRPr>
            </a:p>
          </p:txBody>
        </p:sp>
      </p:grpSp>
      <p:grpSp>
        <p:nvGrpSpPr>
          <p:cNvPr id="40" name="node02"/>
          <p:cNvGrpSpPr/>
          <p:nvPr/>
        </p:nvGrpSpPr>
        <p:grpSpPr>
          <a:xfrm>
            <a:off x="723900" y="2286000"/>
            <a:ext cx="10744200" cy="139700"/>
            <a:chOff x="723900" y="2286000"/>
            <a:chExt cx="10744200" cy="139700"/>
          </a:xfrm>
        </p:grpSpPr>
        <p:sp>
          <p:nvSpPr>
            <p:cNvPr id="7" name="node02.text"/>
            <p:cNvSpPr/>
            <p:nvPr/>
          </p:nvSpPr>
          <p:spPr>
            <a:xfrm>
              <a:off x="723900" y="2286000"/>
              <a:ext cx="107442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DISCOVER AND DEFINE</a:t>
              </a:r>
              <a:endParaRPr lang="en-US" sz="900" spc="72" kern="0" b="0" i="0" dirty="0">
                <a:solidFill>
                  <a:srgbClr val="0047FF"/>
                </a:solidFill>
                <a:latin typeface="IBM Plex Mono SemiBold"/>
                <a:ea typeface="IBM Plex Mono SemiBold"/>
                <a:cs typeface="IBM Plex Mono SemiBold"/>
              </a:endParaRPr>
            </a:p>
          </p:txBody>
        </p:sp>
      </p:grpSp>
      <p:grpSp>
        <p:nvGrpSpPr>
          <p:cNvPr id="41" name="node03"/>
          <p:cNvGrpSpPr/>
          <p:nvPr/>
        </p:nvGrpSpPr>
        <p:grpSpPr>
          <a:xfrm>
            <a:off x="723900" y="2514600"/>
            <a:ext cx="3429000" cy="1371600"/>
            <a:chOff x="723900" y="2514600"/>
            <a:chExt cx="3429000" cy="1371600"/>
          </a:xfrm>
        </p:grpSpPr>
        <p:sp>
          <p:nvSpPr>
            <p:cNvPr id="8" name="node03.container"/>
            <p:cNvSpPr/>
            <p:nvPr/>
          </p:nvSpPr>
          <p:spPr>
            <a:xfrm>
              <a:off x="723900" y="2514600"/>
              <a:ext cx="3429000" cy="1371600"/>
            </a:xfrm>
            <a:prstGeom prst="rect">
              <a:avLst/>
            </a:prstGeom>
            <a:solidFill>
              <a:srgbClr val="E8EEF8"/>
            </a:solidFill>
            <a:ln>
              <a:noFill/>
            </a:ln>
          </p:spPr>
        </p:sp>
        <p:sp>
          <p:nvSpPr>
            <p:cNvPr id="9" name="node03.edge"/>
            <p:cNvSpPr/>
            <p:nvPr/>
          </p:nvSpPr>
          <p:spPr>
            <a:xfrm>
              <a:off x="723900" y="2514600"/>
              <a:ext cx="38100" cy="1371600"/>
            </a:xfrm>
            <a:prstGeom prst="rect">
              <a:avLst/>
            </a:prstGeom>
            <a:solidFill>
              <a:srgbClr val="0047FF"/>
            </a:solidFill>
            <a:ln>
              <a:noFill/>
            </a:ln>
          </p:spPr>
        </p:sp>
        <p:sp>
          <p:nvSpPr>
            <p:cNvPr id="10" name="node03.number"/>
            <p:cNvSpPr/>
            <p:nvPr/>
          </p:nvSpPr>
          <p:spPr>
            <a:xfrm>
              <a:off x="990600" y="2743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11" name="node03.title"/>
            <p:cNvSpPr/>
            <p:nvPr/>
          </p:nvSpPr>
          <p:spPr>
            <a:xfrm>
              <a:off x="1362075" y="2781554"/>
              <a:ext cx="25622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Reconstruct business behavior</a:t>
              </a:r>
              <a:endParaRPr lang="en-US" sz="1200" spc="0" kern="0" b="0" i="0" dirty="0">
                <a:solidFill>
                  <a:srgbClr val="070154"/>
                </a:solidFill>
                <a:latin typeface="IBM Plex Sans"/>
                <a:ea typeface="IBM Plex Sans"/>
                <a:cs typeface="IBM Plex Sans"/>
              </a:endParaRPr>
            </a:p>
          </p:txBody>
        </p:sp>
        <p:sp>
          <p:nvSpPr>
            <p:cNvPr id="12" name="node03.body.item-001.paragraph"/>
            <p:cNvSpPr/>
            <p:nvPr/>
          </p:nvSpPr>
          <p:spPr>
            <a:xfrm>
              <a:off x="990600" y="3162300"/>
              <a:ext cx="29337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Document current processes, rules and workarounds.</a:t>
              </a:r>
              <a:endParaRPr lang="en-US" sz="1200" spc="0" kern="0" b="0" i="0" dirty="0">
                <a:solidFill>
                  <a:srgbClr val="50658E"/>
                </a:solidFill>
                <a:latin typeface="IBM Plex Sans"/>
                <a:ea typeface="IBM Plex Sans"/>
                <a:cs typeface="IBM Plex Sans"/>
              </a:endParaRPr>
            </a:p>
          </p:txBody>
        </p:sp>
      </p:grpSp>
      <p:grpSp>
        <p:nvGrpSpPr>
          <p:cNvPr id="42" name="node04"/>
          <p:cNvGrpSpPr/>
          <p:nvPr/>
        </p:nvGrpSpPr>
        <p:grpSpPr>
          <a:xfrm>
            <a:off x="4381500" y="2514600"/>
            <a:ext cx="3429000" cy="1371600"/>
            <a:chOff x="4381500" y="2514600"/>
            <a:chExt cx="3429000" cy="1371600"/>
          </a:xfrm>
        </p:grpSpPr>
        <p:sp>
          <p:nvSpPr>
            <p:cNvPr id="13" name="node04.container"/>
            <p:cNvSpPr/>
            <p:nvPr/>
          </p:nvSpPr>
          <p:spPr>
            <a:xfrm>
              <a:off x="4381500" y="2514600"/>
              <a:ext cx="3429000" cy="1371600"/>
            </a:xfrm>
            <a:prstGeom prst="rect">
              <a:avLst/>
            </a:prstGeom>
            <a:solidFill>
              <a:srgbClr val="E8EEF8"/>
            </a:solidFill>
            <a:ln>
              <a:noFill/>
            </a:ln>
          </p:spPr>
        </p:sp>
        <p:sp>
          <p:nvSpPr>
            <p:cNvPr id="14" name="node04.edge"/>
            <p:cNvSpPr/>
            <p:nvPr/>
          </p:nvSpPr>
          <p:spPr>
            <a:xfrm>
              <a:off x="4381500" y="2514600"/>
              <a:ext cx="38100" cy="1371600"/>
            </a:xfrm>
            <a:prstGeom prst="rect">
              <a:avLst/>
            </a:prstGeom>
            <a:solidFill>
              <a:srgbClr val="0047FF"/>
            </a:solidFill>
            <a:ln>
              <a:noFill/>
            </a:ln>
          </p:spPr>
        </p:sp>
        <p:sp>
          <p:nvSpPr>
            <p:cNvPr id="15" name="node04.number"/>
            <p:cNvSpPr/>
            <p:nvPr/>
          </p:nvSpPr>
          <p:spPr>
            <a:xfrm>
              <a:off x="4648200" y="2743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16" name="node04.title"/>
            <p:cNvSpPr/>
            <p:nvPr/>
          </p:nvSpPr>
          <p:spPr>
            <a:xfrm>
              <a:off x="5019675" y="2781554"/>
              <a:ext cx="25622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Decide what to retain</a:t>
              </a:r>
              <a:endParaRPr lang="en-US" sz="1200" spc="0" kern="0" b="0" i="0" dirty="0">
                <a:solidFill>
                  <a:srgbClr val="070154"/>
                </a:solidFill>
                <a:latin typeface="IBM Plex Sans"/>
                <a:ea typeface="IBM Plex Sans"/>
                <a:cs typeface="IBM Plex Sans"/>
              </a:endParaRPr>
            </a:p>
          </p:txBody>
        </p:sp>
        <p:sp>
          <p:nvSpPr>
            <p:cNvPr id="17" name="node04.body.item-001.paragraph"/>
            <p:cNvSpPr/>
            <p:nvPr/>
          </p:nvSpPr>
          <p:spPr>
            <a:xfrm>
              <a:off x="4648200" y="3162300"/>
              <a:ext cx="29337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Separate essential controls from obsolete features.</a:t>
              </a:r>
              <a:endParaRPr lang="en-US" sz="1200" spc="0" kern="0" b="0" i="0" dirty="0">
                <a:solidFill>
                  <a:srgbClr val="50658E"/>
                </a:solidFill>
                <a:latin typeface="IBM Plex Sans"/>
                <a:ea typeface="IBM Plex Sans"/>
                <a:cs typeface="IBM Plex Sans"/>
              </a:endParaRPr>
            </a:p>
          </p:txBody>
        </p:sp>
      </p:grpSp>
      <p:grpSp>
        <p:nvGrpSpPr>
          <p:cNvPr id="43" name="node05"/>
          <p:cNvGrpSpPr/>
          <p:nvPr/>
        </p:nvGrpSpPr>
        <p:grpSpPr>
          <a:xfrm>
            <a:off x="8039100" y="2514600"/>
            <a:ext cx="3429000" cy="1371600"/>
            <a:chOff x="8039100" y="2514600"/>
            <a:chExt cx="3429000" cy="1371600"/>
          </a:xfrm>
        </p:grpSpPr>
        <p:sp>
          <p:nvSpPr>
            <p:cNvPr id="18" name="node05.container"/>
            <p:cNvSpPr/>
            <p:nvPr/>
          </p:nvSpPr>
          <p:spPr>
            <a:xfrm>
              <a:off x="8039100" y="2514600"/>
              <a:ext cx="3429000" cy="1371600"/>
            </a:xfrm>
            <a:prstGeom prst="rect">
              <a:avLst/>
            </a:prstGeom>
            <a:solidFill>
              <a:srgbClr val="E8EEF8"/>
            </a:solidFill>
            <a:ln>
              <a:noFill/>
            </a:ln>
          </p:spPr>
        </p:sp>
        <p:sp>
          <p:nvSpPr>
            <p:cNvPr id="19" name="node05.edge"/>
            <p:cNvSpPr/>
            <p:nvPr/>
          </p:nvSpPr>
          <p:spPr>
            <a:xfrm>
              <a:off x="8039100" y="2514600"/>
              <a:ext cx="38100" cy="1371600"/>
            </a:xfrm>
            <a:prstGeom prst="rect">
              <a:avLst/>
            </a:prstGeom>
            <a:solidFill>
              <a:srgbClr val="0047FF"/>
            </a:solidFill>
            <a:ln>
              <a:noFill/>
            </a:ln>
          </p:spPr>
        </p:sp>
        <p:sp>
          <p:nvSpPr>
            <p:cNvPr id="20" name="node05.number"/>
            <p:cNvSpPr/>
            <p:nvPr/>
          </p:nvSpPr>
          <p:spPr>
            <a:xfrm>
              <a:off x="8305800" y="2743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21" name="node05.title"/>
            <p:cNvSpPr/>
            <p:nvPr/>
          </p:nvSpPr>
          <p:spPr>
            <a:xfrm>
              <a:off x="8677275" y="2781554"/>
              <a:ext cx="25622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Align business and technology</a:t>
              </a:r>
              <a:endParaRPr lang="en-US" sz="1200" spc="0" kern="0" b="0" i="0" dirty="0">
                <a:solidFill>
                  <a:srgbClr val="070154"/>
                </a:solidFill>
                <a:latin typeface="IBM Plex Sans"/>
                <a:ea typeface="IBM Plex Sans"/>
                <a:cs typeface="IBM Plex Sans"/>
              </a:endParaRPr>
            </a:p>
          </p:txBody>
        </p:sp>
        <p:sp>
          <p:nvSpPr>
            <p:cNvPr id="22" name="node05.body.item-001.paragraph"/>
            <p:cNvSpPr/>
            <p:nvPr/>
          </p:nvSpPr>
          <p:spPr>
            <a:xfrm>
              <a:off x="8305800" y="3162300"/>
              <a:ext cx="29337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Turn operator intent into shared designs and tests.</a:t>
              </a:r>
              <a:endParaRPr lang="en-US" sz="1200" spc="0" kern="0" b="0" i="0" dirty="0">
                <a:solidFill>
                  <a:srgbClr val="50658E"/>
                </a:solidFill>
                <a:latin typeface="IBM Plex Sans"/>
                <a:ea typeface="IBM Plex Sans"/>
                <a:cs typeface="IBM Plex Sans"/>
              </a:endParaRPr>
            </a:p>
          </p:txBody>
        </p:sp>
      </p:grpSp>
      <p:grpSp>
        <p:nvGrpSpPr>
          <p:cNvPr id="44" name="node06"/>
          <p:cNvGrpSpPr/>
          <p:nvPr/>
        </p:nvGrpSpPr>
        <p:grpSpPr>
          <a:xfrm>
            <a:off x="723900" y="4114800"/>
            <a:ext cx="10744200" cy="139700"/>
            <a:chOff x="723900" y="4114800"/>
            <a:chExt cx="10744200" cy="139700"/>
          </a:xfrm>
        </p:grpSpPr>
        <p:sp>
          <p:nvSpPr>
            <p:cNvPr id="23" name="node06.text"/>
            <p:cNvSpPr/>
            <p:nvPr/>
          </p:nvSpPr>
          <p:spPr>
            <a:xfrm>
              <a:off x="723900" y="4114800"/>
              <a:ext cx="107442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DELIVER AND TRANSITION</a:t>
              </a:r>
              <a:endParaRPr lang="en-US" sz="900" spc="72" kern="0" b="0" i="0" dirty="0">
                <a:solidFill>
                  <a:srgbClr val="0047FF"/>
                </a:solidFill>
                <a:latin typeface="IBM Plex Mono SemiBold"/>
                <a:ea typeface="IBM Plex Mono SemiBold"/>
                <a:cs typeface="IBM Plex Mono SemiBold"/>
              </a:endParaRPr>
            </a:p>
          </p:txBody>
        </p:sp>
      </p:grpSp>
      <p:grpSp>
        <p:nvGrpSpPr>
          <p:cNvPr id="45" name="node07"/>
          <p:cNvGrpSpPr/>
          <p:nvPr/>
        </p:nvGrpSpPr>
        <p:grpSpPr>
          <a:xfrm>
            <a:off x="723900" y="4343400"/>
            <a:ext cx="3429000" cy="1371600"/>
            <a:chOff x="723900" y="4343400"/>
            <a:chExt cx="3429000" cy="1371600"/>
          </a:xfrm>
        </p:grpSpPr>
        <p:sp>
          <p:nvSpPr>
            <p:cNvPr id="24" name="node07.container"/>
            <p:cNvSpPr/>
            <p:nvPr/>
          </p:nvSpPr>
          <p:spPr>
            <a:xfrm>
              <a:off x="723900" y="4343400"/>
              <a:ext cx="3429000" cy="1371600"/>
            </a:xfrm>
            <a:prstGeom prst="rect">
              <a:avLst/>
            </a:prstGeom>
            <a:solidFill>
              <a:srgbClr val="E8EEF8"/>
            </a:solidFill>
            <a:ln>
              <a:noFill/>
            </a:ln>
          </p:spPr>
        </p:sp>
        <p:sp>
          <p:nvSpPr>
            <p:cNvPr id="25" name="node07.edge"/>
            <p:cNvSpPr/>
            <p:nvPr/>
          </p:nvSpPr>
          <p:spPr>
            <a:xfrm>
              <a:off x="723900" y="4343400"/>
              <a:ext cx="38100" cy="1371600"/>
            </a:xfrm>
            <a:prstGeom prst="rect">
              <a:avLst/>
            </a:prstGeom>
            <a:solidFill>
              <a:srgbClr val="0047FF"/>
            </a:solidFill>
            <a:ln>
              <a:noFill/>
            </a:ln>
          </p:spPr>
        </p:sp>
        <p:sp>
          <p:nvSpPr>
            <p:cNvPr id="26" name="node07.number"/>
            <p:cNvSpPr/>
            <p:nvPr/>
          </p:nvSpPr>
          <p:spPr>
            <a:xfrm>
              <a:off x="990600" y="45720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04</a:t>
              </a:r>
              <a:endParaRPr lang="en-US" sz="1600" spc="0" kern="0" b="0" i="0" dirty="0">
                <a:solidFill>
                  <a:srgbClr val="0047FF"/>
                </a:solidFill>
                <a:latin typeface="IBM Plex Mono SemiBold"/>
                <a:ea typeface="IBM Plex Mono SemiBold"/>
                <a:cs typeface="IBM Plex Mono SemiBold"/>
              </a:endParaRPr>
            </a:p>
          </p:txBody>
        </p:sp>
        <p:sp>
          <p:nvSpPr>
            <p:cNvPr id="27" name="node07.title"/>
            <p:cNvSpPr/>
            <p:nvPr/>
          </p:nvSpPr>
          <p:spPr>
            <a:xfrm>
              <a:off x="1362075" y="4610354"/>
              <a:ext cx="25622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Untangle dependencies</a:t>
              </a:r>
              <a:endParaRPr lang="en-US" sz="1200" spc="0" kern="0" b="0" i="0" dirty="0">
                <a:solidFill>
                  <a:srgbClr val="070154"/>
                </a:solidFill>
                <a:latin typeface="IBM Plex Sans"/>
                <a:ea typeface="IBM Plex Sans"/>
                <a:cs typeface="IBM Plex Sans"/>
              </a:endParaRPr>
            </a:p>
          </p:txBody>
        </p:sp>
        <p:sp>
          <p:nvSpPr>
            <p:cNvPr id="28" name="node07.body.item-001.paragraph"/>
            <p:cNvSpPr/>
            <p:nvPr/>
          </p:nvSpPr>
          <p:spPr>
            <a:xfrm>
              <a:off x="990600" y="4991100"/>
              <a:ext cx="29337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Map integrations, then clean duplicate and incomplete data.</a:t>
              </a:r>
              <a:endParaRPr lang="en-US" sz="1200" spc="0" kern="0" b="0" i="0" dirty="0">
                <a:solidFill>
                  <a:srgbClr val="50658E"/>
                </a:solidFill>
                <a:latin typeface="IBM Plex Sans"/>
                <a:ea typeface="IBM Plex Sans"/>
                <a:cs typeface="IBM Plex Sans"/>
              </a:endParaRPr>
            </a:p>
          </p:txBody>
        </p:sp>
      </p:grpSp>
      <p:grpSp>
        <p:nvGrpSpPr>
          <p:cNvPr id="46" name="node08"/>
          <p:cNvGrpSpPr/>
          <p:nvPr/>
        </p:nvGrpSpPr>
        <p:grpSpPr>
          <a:xfrm>
            <a:off x="4381500" y="4343400"/>
            <a:ext cx="3429000" cy="1371600"/>
            <a:chOff x="4381500" y="4343400"/>
            <a:chExt cx="3429000" cy="1371600"/>
          </a:xfrm>
        </p:grpSpPr>
        <p:sp>
          <p:nvSpPr>
            <p:cNvPr id="29" name="node08.container"/>
            <p:cNvSpPr/>
            <p:nvPr/>
          </p:nvSpPr>
          <p:spPr>
            <a:xfrm>
              <a:off x="4381500" y="4343400"/>
              <a:ext cx="3429000" cy="1371600"/>
            </a:xfrm>
            <a:prstGeom prst="rect">
              <a:avLst/>
            </a:prstGeom>
            <a:solidFill>
              <a:srgbClr val="E8EEF8"/>
            </a:solidFill>
            <a:ln>
              <a:noFill/>
            </a:ln>
          </p:spPr>
        </p:sp>
        <p:sp>
          <p:nvSpPr>
            <p:cNvPr id="30" name="node08.edge"/>
            <p:cNvSpPr/>
            <p:nvPr/>
          </p:nvSpPr>
          <p:spPr>
            <a:xfrm>
              <a:off x="4381500" y="4343400"/>
              <a:ext cx="38100" cy="1371600"/>
            </a:xfrm>
            <a:prstGeom prst="rect">
              <a:avLst/>
            </a:prstGeom>
            <a:solidFill>
              <a:srgbClr val="0047FF"/>
            </a:solidFill>
            <a:ln>
              <a:noFill/>
            </a:ln>
          </p:spPr>
        </p:sp>
        <p:sp>
          <p:nvSpPr>
            <p:cNvPr id="31" name="node08.number"/>
            <p:cNvSpPr/>
            <p:nvPr/>
          </p:nvSpPr>
          <p:spPr>
            <a:xfrm>
              <a:off x="4648200" y="45720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05</a:t>
              </a:r>
              <a:endParaRPr lang="en-US" sz="1600" spc="0" kern="0" b="0" i="0" dirty="0">
                <a:solidFill>
                  <a:srgbClr val="0047FF"/>
                </a:solidFill>
                <a:latin typeface="IBM Plex Mono SemiBold"/>
                <a:ea typeface="IBM Plex Mono SemiBold"/>
                <a:cs typeface="IBM Plex Mono SemiBold"/>
              </a:endParaRPr>
            </a:p>
          </p:txBody>
        </p:sp>
        <p:sp>
          <p:nvSpPr>
            <p:cNvPr id="32" name="node08.title"/>
            <p:cNvSpPr/>
            <p:nvPr/>
          </p:nvSpPr>
          <p:spPr>
            <a:xfrm>
              <a:off x="5019675" y="4610354"/>
              <a:ext cx="25622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Validate during cutover</a:t>
              </a:r>
              <a:endParaRPr lang="en-US" sz="1200" spc="0" kern="0" b="0" i="0" dirty="0">
                <a:solidFill>
                  <a:srgbClr val="070154"/>
                </a:solidFill>
                <a:latin typeface="IBM Plex Sans"/>
                <a:ea typeface="IBM Plex Sans"/>
                <a:cs typeface="IBM Plex Sans"/>
              </a:endParaRPr>
            </a:p>
          </p:txBody>
        </p:sp>
        <p:sp>
          <p:nvSpPr>
            <p:cNvPr id="33" name="node08.body.item-001.paragraph"/>
            <p:cNvSpPr/>
            <p:nvPr/>
          </p:nvSpPr>
          <p:spPr>
            <a:xfrm>
              <a:off x="4648200" y="4991100"/>
              <a:ext cx="29337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Run acceptance tests while old and new systems coexist.</a:t>
              </a:r>
              <a:endParaRPr lang="en-US" sz="1200" spc="0" kern="0" b="0" i="0" dirty="0">
                <a:solidFill>
                  <a:srgbClr val="50658E"/>
                </a:solidFill>
                <a:latin typeface="IBM Plex Sans"/>
                <a:ea typeface="IBM Plex Sans"/>
                <a:cs typeface="IBM Plex Sans"/>
              </a:endParaRPr>
            </a:p>
          </p:txBody>
        </p:sp>
      </p:grpSp>
      <p:grpSp>
        <p:nvGrpSpPr>
          <p:cNvPr id="47" name="node09"/>
          <p:cNvGrpSpPr/>
          <p:nvPr/>
        </p:nvGrpSpPr>
        <p:grpSpPr>
          <a:xfrm>
            <a:off x="8039100" y="4343400"/>
            <a:ext cx="3429000" cy="1371600"/>
            <a:chOff x="8039100" y="4343400"/>
            <a:chExt cx="3429000" cy="1371600"/>
          </a:xfrm>
        </p:grpSpPr>
        <p:sp>
          <p:nvSpPr>
            <p:cNvPr id="34" name="node09.container"/>
            <p:cNvSpPr/>
            <p:nvPr/>
          </p:nvSpPr>
          <p:spPr>
            <a:xfrm>
              <a:off x="8039100" y="4343400"/>
              <a:ext cx="3429000" cy="1371600"/>
            </a:xfrm>
            <a:prstGeom prst="rect">
              <a:avLst/>
            </a:prstGeom>
            <a:solidFill>
              <a:srgbClr val="E8EEF8"/>
            </a:solidFill>
            <a:ln>
              <a:noFill/>
            </a:ln>
          </p:spPr>
        </p:sp>
        <p:sp>
          <p:nvSpPr>
            <p:cNvPr id="35" name="node09.edge"/>
            <p:cNvSpPr/>
            <p:nvPr/>
          </p:nvSpPr>
          <p:spPr>
            <a:xfrm>
              <a:off x="8039100" y="4343400"/>
              <a:ext cx="38100" cy="1371600"/>
            </a:xfrm>
            <a:prstGeom prst="rect">
              <a:avLst/>
            </a:prstGeom>
            <a:solidFill>
              <a:srgbClr val="0047FF"/>
            </a:solidFill>
            <a:ln>
              <a:noFill/>
            </a:ln>
          </p:spPr>
        </p:sp>
        <p:sp>
          <p:nvSpPr>
            <p:cNvPr id="36" name="node09.number"/>
            <p:cNvSpPr/>
            <p:nvPr/>
          </p:nvSpPr>
          <p:spPr>
            <a:xfrm>
              <a:off x="8305800" y="45720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06</a:t>
              </a:r>
              <a:endParaRPr lang="en-US" sz="1600" spc="0" kern="0" b="0" i="0" dirty="0">
                <a:solidFill>
                  <a:srgbClr val="0047FF"/>
                </a:solidFill>
                <a:latin typeface="IBM Plex Mono SemiBold"/>
                <a:ea typeface="IBM Plex Mono SemiBold"/>
                <a:cs typeface="IBM Plex Mono SemiBold"/>
              </a:endParaRPr>
            </a:p>
          </p:txBody>
        </p:sp>
        <p:sp>
          <p:nvSpPr>
            <p:cNvPr id="37" name="node09.title"/>
            <p:cNvSpPr/>
            <p:nvPr/>
          </p:nvSpPr>
          <p:spPr>
            <a:xfrm>
              <a:off x="8677275" y="4610354"/>
              <a:ext cx="25622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Execute a safe cutover</a:t>
              </a:r>
              <a:endParaRPr lang="en-US" sz="1200" spc="0" kern="0" b="0" i="0" dirty="0">
                <a:solidFill>
                  <a:srgbClr val="070154"/>
                </a:solidFill>
                <a:latin typeface="IBM Plex Sans"/>
                <a:ea typeface="IBM Plex Sans"/>
                <a:cs typeface="IBM Plex Sans"/>
              </a:endParaRPr>
            </a:p>
          </p:txBody>
        </p:sp>
        <p:sp>
          <p:nvSpPr>
            <p:cNvPr id="38" name="node09.body.item-001.paragraph"/>
            <p:cNvSpPr/>
            <p:nvPr/>
          </p:nvSpPr>
          <p:spPr>
            <a:xfrm>
              <a:off x="8305800" y="4991100"/>
              <a:ext cx="29337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Sequence migration, rollback and controls to protect operations.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ource-08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REVENUE CYCLE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model connects customers, capabilities and value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33</a:t>
            </a:fld>
            <a:endParaRPr lang="en-US" sz="700" spc="0" kern="0" b="0" i="0" dirty="0">
              <a:solidFill>
                <a:srgbClr val="070154"/>
              </a:solidFill>
              <a:latin typeface="IBM Plex Mono SemiBold"/>
              <a:ea typeface="IBM Plex Mono SemiBold"/>
              <a:cs typeface="IBM Plex Mono SemiBold"/>
            </a:endParaRPr>
          </a:p>
        </p:txBody>
      </p:sp>
      <p:grpSp>
        <p:nvGrpSpPr>
          <p:cNvPr id="114" name="node01"/>
          <p:cNvGrpSpPr/>
          <p:nvPr/>
        </p:nvGrpSpPr>
        <p:grpSpPr>
          <a:xfrm>
            <a:off x="723900" y="1600200"/>
            <a:ext cx="1219200" cy="215900"/>
            <a:chOff x="723900" y="1600200"/>
            <a:chExt cx="1219200" cy="215900"/>
          </a:xfrm>
        </p:grpSpPr>
        <p:sp>
          <p:nvSpPr>
            <p:cNvPr id="6" name="node01.text"/>
            <p:cNvSpPr/>
            <p:nvPr/>
          </p:nvSpPr>
          <p:spPr>
            <a:xfrm>
              <a:off x="723900" y="1600200"/>
              <a:ext cx="1219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Customer</a:t>
              </a:r>
              <a:endParaRPr lang="en-US" sz="1200" spc="0" kern="0" b="0" i="0" dirty="0">
                <a:solidFill>
                  <a:srgbClr val="070154"/>
                </a:solidFill>
                <a:latin typeface="IBM Plex Sans"/>
                <a:ea typeface="IBM Plex Sans"/>
                <a:cs typeface="IBM Plex Sans"/>
              </a:endParaRPr>
            </a:p>
          </p:txBody>
        </p:sp>
      </p:grpSp>
      <p:sp>
        <p:nvSpPr>
          <p:cNvPr id="7" name="node02"/>
          <p:cNvSpPr/>
          <p:nvPr/>
        </p:nvSpPr>
        <p:spPr>
          <a:xfrm>
            <a:off x="723900" y="2171700"/>
            <a:ext cx="10744200" cy="9525"/>
          </a:xfrm>
          <a:prstGeom prst="rect">
            <a:avLst/>
          </a:prstGeom>
          <a:solidFill>
            <a:srgbClr val="CED7E6"/>
          </a:solidFill>
          <a:ln>
            <a:noFill/>
          </a:ln>
        </p:spPr>
      </p:sp>
      <p:grpSp>
        <p:nvGrpSpPr>
          <p:cNvPr id="115" name="node03"/>
          <p:cNvGrpSpPr/>
          <p:nvPr/>
        </p:nvGrpSpPr>
        <p:grpSpPr>
          <a:xfrm>
            <a:off x="723900" y="2286000"/>
            <a:ext cx="1219200" cy="215900"/>
            <a:chOff x="723900" y="2286000"/>
            <a:chExt cx="1219200" cy="215900"/>
          </a:xfrm>
        </p:grpSpPr>
        <p:sp>
          <p:nvSpPr>
            <p:cNvPr id="8" name="node03.text"/>
            <p:cNvSpPr/>
            <p:nvPr/>
          </p:nvSpPr>
          <p:spPr>
            <a:xfrm>
              <a:off x="723900" y="2286000"/>
              <a:ext cx="1219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Channels</a:t>
              </a:r>
              <a:endParaRPr lang="en-US" sz="1200" spc="0" kern="0" b="0" i="0" dirty="0">
                <a:solidFill>
                  <a:srgbClr val="070154"/>
                </a:solidFill>
                <a:latin typeface="IBM Plex Sans"/>
                <a:ea typeface="IBM Plex Sans"/>
                <a:cs typeface="IBM Plex Sans"/>
              </a:endParaRPr>
            </a:p>
          </p:txBody>
        </p:sp>
      </p:grpSp>
      <p:sp>
        <p:nvSpPr>
          <p:cNvPr id="9" name="node04"/>
          <p:cNvSpPr/>
          <p:nvPr/>
        </p:nvSpPr>
        <p:spPr>
          <a:xfrm>
            <a:off x="723900" y="2628900"/>
            <a:ext cx="10744200" cy="9525"/>
          </a:xfrm>
          <a:prstGeom prst="rect">
            <a:avLst/>
          </a:prstGeom>
          <a:solidFill>
            <a:srgbClr val="CED7E6"/>
          </a:solidFill>
          <a:ln>
            <a:noFill/>
          </a:ln>
        </p:spPr>
      </p:sp>
      <p:grpSp>
        <p:nvGrpSpPr>
          <p:cNvPr id="116" name="node05"/>
          <p:cNvGrpSpPr/>
          <p:nvPr/>
        </p:nvGrpSpPr>
        <p:grpSpPr>
          <a:xfrm>
            <a:off x="723900" y="2743200"/>
            <a:ext cx="1219200" cy="431800"/>
            <a:chOff x="723900" y="2743200"/>
            <a:chExt cx="1219200" cy="431800"/>
          </a:xfrm>
        </p:grpSpPr>
        <p:sp>
          <p:nvSpPr>
            <p:cNvPr id="10" name="node05.text"/>
            <p:cNvSpPr/>
            <p:nvPr/>
          </p:nvSpPr>
          <p:spPr>
            <a:xfrm>
              <a:off x="723900" y="2743200"/>
              <a:ext cx="1219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Enabling capabilities</a:t>
              </a:r>
              <a:endParaRPr lang="en-US" sz="1200" spc="0" kern="0" b="0" i="0" dirty="0">
                <a:solidFill>
                  <a:srgbClr val="070154"/>
                </a:solidFill>
                <a:latin typeface="IBM Plex Sans"/>
                <a:ea typeface="IBM Plex Sans"/>
                <a:cs typeface="IBM Plex Sans"/>
              </a:endParaRPr>
            </a:p>
          </p:txBody>
        </p:sp>
      </p:grpSp>
      <p:sp>
        <p:nvSpPr>
          <p:cNvPr id="11" name="node06"/>
          <p:cNvSpPr/>
          <p:nvPr/>
        </p:nvSpPr>
        <p:spPr>
          <a:xfrm>
            <a:off x="723900" y="3543300"/>
            <a:ext cx="10744200" cy="9525"/>
          </a:xfrm>
          <a:prstGeom prst="rect">
            <a:avLst/>
          </a:prstGeom>
          <a:solidFill>
            <a:srgbClr val="CED7E6"/>
          </a:solidFill>
          <a:ln>
            <a:noFill/>
          </a:ln>
        </p:spPr>
      </p:sp>
      <p:grpSp>
        <p:nvGrpSpPr>
          <p:cNvPr id="117" name="node07"/>
          <p:cNvGrpSpPr/>
          <p:nvPr/>
        </p:nvGrpSpPr>
        <p:grpSpPr>
          <a:xfrm>
            <a:off x="723900" y="3657600"/>
            <a:ext cx="1219200" cy="215900"/>
            <a:chOff x="723900" y="3657600"/>
            <a:chExt cx="1219200" cy="215900"/>
          </a:xfrm>
        </p:grpSpPr>
        <p:sp>
          <p:nvSpPr>
            <p:cNvPr id="12" name="node07.text"/>
            <p:cNvSpPr/>
            <p:nvPr/>
          </p:nvSpPr>
          <p:spPr>
            <a:xfrm>
              <a:off x="723900" y="3657600"/>
              <a:ext cx="1219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Content and data</a:t>
              </a:r>
              <a:endParaRPr lang="en-US" sz="1200" spc="0" kern="0" b="0" i="0" dirty="0">
                <a:solidFill>
                  <a:srgbClr val="070154"/>
                </a:solidFill>
                <a:latin typeface="IBM Plex Sans"/>
                <a:ea typeface="IBM Plex Sans"/>
                <a:cs typeface="IBM Plex Sans"/>
              </a:endParaRPr>
            </a:p>
          </p:txBody>
        </p:sp>
      </p:grpSp>
      <p:sp>
        <p:nvSpPr>
          <p:cNvPr id="13" name="node08"/>
          <p:cNvSpPr/>
          <p:nvPr/>
        </p:nvSpPr>
        <p:spPr>
          <a:xfrm>
            <a:off x="723900" y="4229100"/>
            <a:ext cx="10744200" cy="9525"/>
          </a:xfrm>
          <a:prstGeom prst="rect">
            <a:avLst/>
          </a:prstGeom>
          <a:solidFill>
            <a:srgbClr val="CED7E6"/>
          </a:solidFill>
          <a:ln>
            <a:noFill/>
          </a:ln>
        </p:spPr>
      </p:sp>
      <p:grpSp>
        <p:nvGrpSpPr>
          <p:cNvPr id="118" name="node09"/>
          <p:cNvGrpSpPr/>
          <p:nvPr/>
        </p:nvGrpSpPr>
        <p:grpSpPr>
          <a:xfrm>
            <a:off x="723900" y="4343400"/>
            <a:ext cx="1219200" cy="215900"/>
            <a:chOff x="723900" y="4343400"/>
            <a:chExt cx="1219200" cy="215900"/>
          </a:xfrm>
        </p:grpSpPr>
        <p:sp>
          <p:nvSpPr>
            <p:cNvPr id="14" name="node09.text"/>
            <p:cNvSpPr/>
            <p:nvPr/>
          </p:nvSpPr>
          <p:spPr>
            <a:xfrm>
              <a:off x="723900" y="4343400"/>
              <a:ext cx="1219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Operating model</a:t>
              </a:r>
              <a:endParaRPr lang="en-US" sz="1200" spc="0" kern="0" b="0" i="0" dirty="0">
                <a:solidFill>
                  <a:srgbClr val="070154"/>
                </a:solidFill>
                <a:latin typeface="IBM Plex Sans"/>
                <a:ea typeface="IBM Plex Sans"/>
                <a:cs typeface="IBM Plex Sans"/>
              </a:endParaRPr>
            </a:p>
          </p:txBody>
        </p:sp>
      </p:grpSp>
      <p:sp>
        <p:nvSpPr>
          <p:cNvPr id="15" name="node10"/>
          <p:cNvSpPr/>
          <p:nvPr/>
        </p:nvSpPr>
        <p:spPr>
          <a:xfrm>
            <a:off x="723900" y="4914900"/>
            <a:ext cx="10744200" cy="9525"/>
          </a:xfrm>
          <a:prstGeom prst="rect">
            <a:avLst/>
          </a:prstGeom>
          <a:solidFill>
            <a:srgbClr val="CED7E6"/>
          </a:solidFill>
          <a:ln>
            <a:noFill/>
          </a:ln>
        </p:spPr>
      </p:sp>
      <p:grpSp>
        <p:nvGrpSpPr>
          <p:cNvPr id="119" name="node11"/>
          <p:cNvGrpSpPr/>
          <p:nvPr/>
        </p:nvGrpSpPr>
        <p:grpSpPr>
          <a:xfrm>
            <a:off x="723900" y="5029200"/>
            <a:ext cx="1219200" cy="215900"/>
            <a:chOff x="723900" y="5029200"/>
            <a:chExt cx="1219200" cy="215900"/>
          </a:xfrm>
        </p:grpSpPr>
        <p:sp>
          <p:nvSpPr>
            <p:cNvPr id="16" name="node11.text"/>
            <p:cNvSpPr/>
            <p:nvPr/>
          </p:nvSpPr>
          <p:spPr>
            <a:xfrm>
              <a:off x="723900" y="5029200"/>
              <a:ext cx="1219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Value drivers</a:t>
              </a:r>
              <a:endParaRPr lang="en-US" sz="1200" spc="0" kern="0" b="0" i="0" dirty="0">
                <a:solidFill>
                  <a:srgbClr val="070154"/>
                </a:solidFill>
                <a:latin typeface="IBM Plex Sans"/>
                <a:ea typeface="IBM Plex Sans"/>
                <a:cs typeface="IBM Plex Sans"/>
              </a:endParaRPr>
            </a:p>
          </p:txBody>
        </p:sp>
      </p:grpSp>
      <p:grpSp>
        <p:nvGrpSpPr>
          <p:cNvPr id="120" name="node12"/>
          <p:cNvGrpSpPr/>
          <p:nvPr/>
        </p:nvGrpSpPr>
        <p:grpSpPr>
          <a:xfrm>
            <a:off x="2247900" y="5067300"/>
            <a:ext cx="2667000" cy="190500"/>
            <a:chOff x="2247900" y="5067300"/>
            <a:chExt cx="2667000" cy="190500"/>
          </a:xfrm>
        </p:grpSpPr>
        <p:sp>
          <p:nvSpPr>
            <p:cNvPr id="17" name="node12.text"/>
            <p:cNvSpPr/>
            <p:nvPr/>
          </p:nvSpPr>
          <p:spPr>
            <a:xfrm>
              <a:off x="2247900" y="5067300"/>
              <a:ext cx="2667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Cash acceleration</a:t>
              </a:r>
              <a:endParaRPr lang="en-US" sz="1100" spc="0" kern="0" b="0" i="0" dirty="0">
                <a:solidFill>
                  <a:srgbClr val="070154"/>
                </a:solidFill>
                <a:latin typeface="IBM Plex Sans"/>
                <a:ea typeface="IBM Plex Sans"/>
                <a:cs typeface="IBM Plex Sans"/>
              </a:endParaRPr>
            </a:p>
          </p:txBody>
        </p:sp>
      </p:grpSp>
      <p:grpSp>
        <p:nvGrpSpPr>
          <p:cNvPr id="121" name="node13"/>
          <p:cNvGrpSpPr/>
          <p:nvPr/>
        </p:nvGrpSpPr>
        <p:grpSpPr>
          <a:xfrm>
            <a:off x="2247900" y="5295900"/>
            <a:ext cx="2667000" cy="190500"/>
            <a:chOff x="2247900" y="5295900"/>
            <a:chExt cx="2667000" cy="190500"/>
          </a:xfrm>
        </p:grpSpPr>
        <p:sp>
          <p:nvSpPr>
            <p:cNvPr id="18" name="node13.text"/>
            <p:cNvSpPr/>
            <p:nvPr/>
          </p:nvSpPr>
          <p:spPr>
            <a:xfrm>
              <a:off x="2247900" y="5295900"/>
              <a:ext cx="2667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 Days in A/R</a:t>
              </a:r>
              <a:endParaRPr lang="en-US" sz="1100" spc="0" kern="0" b="0" i="0" dirty="0">
                <a:solidFill>
                  <a:srgbClr val="070154"/>
                </a:solidFill>
                <a:latin typeface="IBM Plex Sans"/>
                <a:ea typeface="IBM Plex Sans"/>
                <a:cs typeface="IBM Plex Sans"/>
              </a:endParaRPr>
            </a:p>
          </p:txBody>
        </p:sp>
      </p:grpSp>
      <p:grpSp>
        <p:nvGrpSpPr>
          <p:cNvPr id="122" name="node14"/>
          <p:cNvGrpSpPr/>
          <p:nvPr/>
        </p:nvGrpSpPr>
        <p:grpSpPr>
          <a:xfrm>
            <a:off x="2247900" y="5524500"/>
            <a:ext cx="2667000" cy="190500"/>
            <a:chOff x="2247900" y="5524500"/>
            <a:chExt cx="2667000" cy="190500"/>
          </a:xfrm>
        </p:grpSpPr>
        <p:sp>
          <p:nvSpPr>
            <p:cNvPr id="19" name="node14.text"/>
            <p:cNvSpPr/>
            <p:nvPr/>
          </p:nvSpPr>
          <p:spPr>
            <a:xfrm>
              <a:off x="2247900" y="5524500"/>
              <a:ext cx="2667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 Clean-claim rate</a:t>
              </a:r>
              <a:endParaRPr lang="en-US" sz="1100" spc="0" kern="0" b="0" i="0" dirty="0">
                <a:solidFill>
                  <a:srgbClr val="070154"/>
                </a:solidFill>
                <a:latin typeface="IBM Plex Sans"/>
                <a:ea typeface="IBM Plex Sans"/>
                <a:cs typeface="IBM Plex Sans"/>
              </a:endParaRPr>
            </a:p>
          </p:txBody>
        </p:sp>
      </p:grpSp>
      <p:grpSp>
        <p:nvGrpSpPr>
          <p:cNvPr id="123" name="node15"/>
          <p:cNvGrpSpPr/>
          <p:nvPr/>
        </p:nvGrpSpPr>
        <p:grpSpPr>
          <a:xfrm>
            <a:off x="5448300" y="5067300"/>
            <a:ext cx="2667000" cy="190500"/>
            <a:chOff x="5448300" y="5067300"/>
            <a:chExt cx="2667000" cy="190500"/>
          </a:xfrm>
        </p:grpSpPr>
        <p:sp>
          <p:nvSpPr>
            <p:cNvPr id="20" name="node15.text"/>
            <p:cNvSpPr/>
            <p:nvPr/>
          </p:nvSpPr>
          <p:spPr>
            <a:xfrm>
              <a:off x="5448300" y="5067300"/>
              <a:ext cx="2667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Cost to collect</a:t>
              </a:r>
              <a:endParaRPr lang="en-US" sz="1100" spc="0" kern="0" b="0" i="0" dirty="0">
                <a:solidFill>
                  <a:srgbClr val="070154"/>
                </a:solidFill>
                <a:latin typeface="IBM Plex Sans"/>
                <a:ea typeface="IBM Plex Sans"/>
                <a:cs typeface="IBM Plex Sans"/>
              </a:endParaRPr>
            </a:p>
          </p:txBody>
        </p:sp>
      </p:grpSp>
      <p:grpSp>
        <p:nvGrpSpPr>
          <p:cNvPr id="124" name="node16"/>
          <p:cNvGrpSpPr/>
          <p:nvPr/>
        </p:nvGrpSpPr>
        <p:grpSpPr>
          <a:xfrm>
            <a:off x="5448300" y="5295900"/>
            <a:ext cx="2667000" cy="190500"/>
            <a:chOff x="5448300" y="5295900"/>
            <a:chExt cx="2667000" cy="190500"/>
          </a:xfrm>
        </p:grpSpPr>
        <p:sp>
          <p:nvSpPr>
            <p:cNvPr id="21" name="node16.text"/>
            <p:cNvSpPr/>
            <p:nvPr/>
          </p:nvSpPr>
          <p:spPr>
            <a:xfrm>
              <a:off x="5448300" y="5295900"/>
              <a:ext cx="2667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 Touches per account</a:t>
              </a:r>
              <a:endParaRPr lang="en-US" sz="1100" spc="0" kern="0" b="0" i="0" dirty="0">
                <a:solidFill>
                  <a:srgbClr val="070154"/>
                </a:solidFill>
                <a:latin typeface="IBM Plex Sans"/>
                <a:ea typeface="IBM Plex Sans"/>
                <a:cs typeface="IBM Plex Sans"/>
              </a:endParaRPr>
            </a:p>
          </p:txBody>
        </p:sp>
      </p:grpSp>
      <p:grpSp>
        <p:nvGrpSpPr>
          <p:cNvPr id="125" name="node17"/>
          <p:cNvGrpSpPr/>
          <p:nvPr/>
        </p:nvGrpSpPr>
        <p:grpSpPr>
          <a:xfrm>
            <a:off x="5448300" y="5524500"/>
            <a:ext cx="2667000" cy="190500"/>
            <a:chOff x="5448300" y="5524500"/>
            <a:chExt cx="2667000" cy="190500"/>
          </a:xfrm>
        </p:grpSpPr>
        <p:sp>
          <p:nvSpPr>
            <p:cNvPr id="22" name="node17.text"/>
            <p:cNvSpPr/>
            <p:nvPr/>
          </p:nvSpPr>
          <p:spPr>
            <a:xfrm>
              <a:off x="5448300" y="5524500"/>
              <a:ext cx="2667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 Rework volume</a:t>
              </a:r>
              <a:endParaRPr lang="en-US" sz="1100" spc="0" kern="0" b="0" i="0" dirty="0">
                <a:solidFill>
                  <a:srgbClr val="070154"/>
                </a:solidFill>
                <a:latin typeface="IBM Plex Sans"/>
                <a:ea typeface="IBM Plex Sans"/>
                <a:cs typeface="IBM Plex Sans"/>
              </a:endParaRPr>
            </a:p>
          </p:txBody>
        </p:sp>
      </p:grpSp>
      <p:grpSp>
        <p:nvGrpSpPr>
          <p:cNvPr id="126" name="node18"/>
          <p:cNvGrpSpPr/>
          <p:nvPr/>
        </p:nvGrpSpPr>
        <p:grpSpPr>
          <a:xfrm>
            <a:off x="8648700" y="5067300"/>
            <a:ext cx="2667000" cy="190500"/>
            <a:chOff x="8648700" y="5067300"/>
            <a:chExt cx="2667000" cy="190500"/>
          </a:xfrm>
        </p:grpSpPr>
        <p:sp>
          <p:nvSpPr>
            <p:cNvPr id="23" name="node18.text"/>
            <p:cNvSpPr/>
            <p:nvPr/>
          </p:nvSpPr>
          <p:spPr>
            <a:xfrm>
              <a:off x="8648700" y="5067300"/>
              <a:ext cx="2667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Patient experience</a:t>
              </a:r>
              <a:endParaRPr lang="en-US" sz="1100" spc="0" kern="0" b="0" i="0" dirty="0">
                <a:solidFill>
                  <a:srgbClr val="070154"/>
                </a:solidFill>
                <a:latin typeface="IBM Plex Sans"/>
                <a:ea typeface="IBM Plex Sans"/>
                <a:cs typeface="IBM Plex Sans"/>
              </a:endParaRPr>
            </a:p>
          </p:txBody>
        </p:sp>
      </p:grpSp>
      <p:grpSp>
        <p:nvGrpSpPr>
          <p:cNvPr id="127" name="node19"/>
          <p:cNvGrpSpPr/>
          <p:nvPr/>
        </p:nvGrpSpPr>
        <p:grpSpPr>
          <a:xfrm>
            <a:off x="8648700" y="5295900"/>
            <a:ext cx="2667000" cy="190500"/>
            <a:chOff x="8648700" y="5295900"/>
            <a:chExt cx="2667000" cy="190500"/>
          </a:xfrm>
        </p:grpSpPr>
        <p:sp>
          <p:nvSpPr>
            <p:cNvPr id="24" name="node19.text"/>
            <p:cNvSpPr/>
            <p:nvPr/>
          </p:nvSpPr>
          <p:spPr>
            <a:xfrm>
              <a:off x="8648700" y="5295900"/>
              <a:ext cx="2667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 Billing clarity</a:t>
              </a:r>
              <a:endParaRPr lang="en-US" sz="1100" spc="0" kern="0" b="0" i="0" dirty="0">
                <a:solidFill>
                  <a:srgbClr val="070154"/>
                </a:solidFill>
                <a:latin typeface="IBM Plex Sans"/>
                <a:ea typeface="IBM Plex Sans"/>
                <a:cs typeface="IBM Plex Sans"/>
              </a:endParaRPr>
            </a:p>
          </p:txBody>
        </p:sp>
      </p:grpSp>
      <p:grpSp>
        <p:nvGrpSpPr>
          <p:cNvPr id="128" name="node20"/>
          <p:cNvGrpSpPr/>
          <p:nvPr/>
        </p:nvGrpSpPr>
        <p:grpSpPr>
          <a:xfrm>
            <a:off x="8648700" y="5524500"/>
            <a:ext cx="2667000" cy="190500"/>
            <a:chOff x="8648700" y="5524500"/>
            <a:chExt cx="2667000" cy="190500"/>
          </a:xfrm>
        </p:grpSpPr>
        <p:sp>
          <p:nvSpPr>
            <p:cNvPr id="25" name="node20.text"/>
            <p:cNvSpPr/>
            <p:nvPr/>
          </p:nvSpPr>
          <p:spPr>
            <a:xfrm>
              <a:off x="8648700" y="5524500"/>
              <a:ext cx="2667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 Pay-by-text uptake</a:t>
              </a:r>
              <a:endParaRPr lang="en-US" sz="1100" spc="0" kern="0" b="0" i="0" dirty="0">
                <a:solidFill>
                  <a:srgbClr val="070154"/>
                </a:solidFill>
                <a:latin typeface="IBM Plex Sans"/>
                <a:ea typeface="IBM Plex Sans"/>
                <a:cs typeface="IBM Plex Sans"/>
              </a:endParaRPr>
            </a:p>
          </p:txBody>
        </p:sp>
      </p:grpSp>
      <p:grpSp>
        <p:nvGrpSpPr>
          <p:cNvPr id="129" name="node21"/>
          <p:cNvGrpSpPr/>
          <p:nvPr/>
        </p:nvGrpSpPr>
        <p:grpSpPr>
          <a:xfrm>
            <a:off x="2095500" y="1600200"/>
            <a:ext cx="9372600" cy="419100"/>
            <a:chOff x="2095500" y="1600200"/>
            <a:chExt cx="9372600" cy="419100"/>
          </a:xfrm>
        </p:grpSpPr>
        <p:sp>
          <p:nvSpPr>
            <p:cNvPr id="26" name="node21.rows.slot-001.cells.slot-001.surface"/>
            <p:cNvSpPr/>
            <p:nvPr/>
          </p:nvSpPr>
          <p:spPr>
            <a:xfrm>
              <a:off x="2095500" y="1600200"/>
              <a:ext cx="3098800" cy="190500"/>
            </a:xfrm>
            <a:prstGeom prst="rect">
              <a:avLst/>
            </a:prstGeom>
            <a:solidFill>
              <a:srgbClr val="070154"/>
            </a:solidFill>
            <a:ln>
              <a:noFill/>
            </a:ln>
          </p:spPr>
        </p:sp>
        <p:sp>
          <p:nvSpPr>
            <p:cNvPr id="27" name="node21.rows.slot-001.cells.slot-001.text"/>
            <p:cNvSpPr/>
            <p:nvPr/>
          </p:nvSpPr>
          <p:spPr>
            <a:xfrm>
              <a:off x="2146300" y="16002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Patients</a:t>
              </a:r>
              <a:endParaRPr lang="en-US" sz="1100" spc="0" kern="0" b="0" i="0" dirty="0">
                <a:solidFill>
                  <a:srgbClr val="FFFFFF"/>
                </a:solidFill>
                <a:latin typeface="IBM Plex Sans"/>
                <a:ea typeface="IBM Plex Sans"/>
                <a:cs typeface="IBM Plex Sans"/>
              </a:endParaRPr>
            </a:p>
          </p:txBody>
        </p:sp>
        <p:sp>
          <p:nvSpPr>
            <p:cNvPr id="28" name="node21.rows.slot-001.cells.slot-002.surface"/>
            <p:cNvSpPr/>
            <p:nvPr/>
          </p:nvSpPr>
          <p:spPr>
            <a:xfrm>
              <a:off x="5232400" y="1600200"/>
              <a:ext cx="3098800" cy="190500"/>
            </a:xfrm>
            <a:prstGeom prst="rect">
              <a:avLst/>
            </a:prstGeom>
            <a:solidFill>
              <a:srgbClr val="070154"/>
            </a:solidFill>
            <a:ln>
              <a:noFill/>
            </a:ln>
          </p:spPr>
        </p:sp>
        <p:sp>
          <p:nvSpPr>
            <p:cNvPr id="29" name="node21.rows.slot-001.cells.slot-002.text"/>
            <p:cNvSpPr/>
            <p:nvPr/>
          </p:nvSpPr>
          <p:spPr>
            <a:xfrm>
              <a:off x="5283200" y="16002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Payers</a:t>
              </a:r>
              <a:endParaRPr lang="en-US" sz="1100" spc="0" kern="0" b="0" i="0" dirty="0">
                <a:solidFill>
                  <a:srgbClr val="FFFFFF"/>
                </a:solidFill>
                <a:latin typeface="IBM Plex Sans"/>
                <a:ea typeface="IBM Plex Sans"/>
                <a:cs typeface="IBM Plex Sans"/>
              </a:endParaRPr>
            </a:p>
          </p:txBody>
        </p:sp>
        <p:sp>
          <p:nvSpPr>
            <p:cNvPr id="30" name="node21.rows.slot-001.cells.slot-003.surface"/>
            <p:cNvSpPr/>
            <p:nvPr/>
          </p:nvSpPr>
          <p:spPr>
            <a:xfrm>
              <a:off x="8369300" y="1600200"/>
              <a:ext cx="3098800" cy="190500"/>
            </a:xfrm>
            <a:prstGeom prst="rect">
              <a:avLst/>
            </a:prstGeom>
            <a:solidFill>
              <a:srgbClr val="070154"/>
            </a:solidFill>
            <a:ln>
              <a:noFill/>
            </a:ln>
          </p:spPr>
        </p:sp>
        <p:sp>
          <p:nvSpPr>
            <p:cNvPr id="31" name="node21.rows.slot-001.cells.slot-003.text"/>
            <p:cNvSpPr/>
            <p:nvPr/>
          </p:nvSpPr>
          <p:spPr>
            <a:xfrm>
              <a:off x="8420100" y="16002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Employers</a:t>
              </a:r>
              <a:endParaRPr lang="en-US" sz="1100" spc="0" kern="0" b="0" i="0" dirty="0">
                <a:solidFill>
                  <a:srgbClr val="FFFFFF"/>
                </a:solidFill>
                <a:latin typeface="IBM Plex Sans"/>
                <a:ea typeface="IBM Plex Sans"/>
                <a:cs typeface="IBM Plex Sans"/>
              </a:endParaRPr>
            </a:p>
          </p:txBody>
        </p:sp>
        <p:sp>
          <p:nvSpPr>
            <p:cNvPr id="32" name="node21.rows.slot-002.cells.slot-001.surface"/>
            <p:cNvSpPr/>
            <p:nvPr/>
          </p:nvSpPr>
          <p:spPr>
            <a:xfrm>
              <a:off x="2095500" y="1828800"/>
              <a:ext cx="3098800" cy="190500"/>
            </a:xfrm>
            <a:prstGeom prst="rect">
              <a:avLst/>
            </a:prstGeom>
            <a:solidFill>
              <a:srgbClr val="CED7E6"/>
            </a:solidFill>
            <a:ln>
              <a:noFill/>
            </a:ln>
          </p:spPr>
        </p:sp>
        <p:sp>
          <p:nvSpPr>
            <p:cNvPr id="33" name="node21.rows.slot-002.cells.slot-001.text"/>
            <p:cNvSpPr/>
            <p:nvPr/>
          </p:nvSpPr>
          <p:spPr>
            <a:xfrm>
              <a:off x="2146300" y="18288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Self-pay · small balance</a:t>
              </a:r>
              <a:endParaRPr lang="en-US" sz="1100" spc="0" kern="0" b="0" i="0" dirty="0">
                <a:solidFill>
                  <a:srgbClr val="070154"/>
                </a:solidFill>
                <a:latin typeface="IBM Plex Sans"/>
                <a:ea typeface="IBM Plex Sans"/>
                <a:cs typeface="IBM Plex Sans"/>
              </a:endParaRPr>
            </a:p>
          </p:txBody>
        </p:sp>
        <p:sp>
          <p:nvSpPr>
            <p:cNvPr id="34" name="node21.rows.slot-002.cells.slot-002.surface"/>
            <p:cNvSpPr/>
            <p:nvPr/>
          </p:nvSpPr>
          <p:spPr>
            <a:xfrm>
              <a:off x="5232400" y="1828800"/>
              <a:ext cx="3098800" cy="190500"/>
            </a:xfrm>
            <a:prstGeom prst="rect">
              <a:avLst/>
            </a:prstGeom>
            <a:solidFill>
              <a:srgbClr val="CED7E6"/>
            </a:solidFill>
            <a:ln>
              <a:noFill/>
            </a:ln>
          </p:spPr>
        </p:sp>
        <p:sp>
          <p:nvSpPr>
            <p:cNvPr id="35" name="node21.rows.slot-002.cells.slot-002.text"/>
            <p:cNvSpPr/>
            <p:nvPr/>
          </p:nvSpPr>
          <p:spPr>
            <a:xfrm>
              <a:off x="5283200" y="18288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Commercial · large</a:t>
              </a:r>
              <a:endParaRPr lang="en-US" sz="1100" spc="0" kern="0" b="0" i="0" dirty="0">
                <a:solidFill>
                  <a:srgbClr val="070154"/>
                </a:solidFill>
                <a:latin typeface="IBM Plex Sans"/>
                <a:ea typeface="IBM Plex Sans"/>
                <a:cs typeface="IBM Plex Sans"/>
              </a:endParaRPr>
            </a:p>
          </p:txBody>
        </p:sp>
        <p:sp>
          <p:nvSpPr>
            <p:cNvPr id="36" name="node21.rows.slot-002.cells.slot-003.surface"/>
            <p:cNvSpPr/>
            <p:nvPr/>
          </p:nvSpPr>
          <p:spPr>
            <a:xfrm>
              <a:off x="8369300" y="1828800"/>
              <a:ext cx="3098800" cy="190500"/>
            </a:xfrm>
            <a:prstGeom prst="rect">
              <a:avLst/>
            </a:prstGeom>
            <a:solidFill>
              <a:srgbClr val="CED7E6"/>
            </a:solidFill>
            <a:ln>
              <a:noFill/>
            </a:ln>
          </p:spPr>
        </p:sp>
        <p:sp>
          <p:nvSpPr>
            <p:cNvPr id="37" name="node21.rows.slot-002.cells.slot-003.text"/>
            <p:cNvSpPr/>
            <p:nvPr/>
          </p:nvSpPr>
          <p:spPr>
            <a:xfrm>
              <a:off x="8420100" y="18288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Government · largest</a:t>
              </a:r>
              <a:endParaRPr lang="en-US" sz="1100" spc="0" kern="0" b="0" i="0" dirty="0">
                <a:solidFill>
                  <a:srgbClr val="070154"/>
                </a:solidFill>
                <a:latin typeface="IBM Plex Sans"/>
                <a:ea typeface="IBM Plex Sans"/>
                <a:cs typeface="IBM Plex Sans"/>
              </a:endParaRPr>
            </a:p>
          </p:txBody>
        </p:sp>
      </p:grpSp>
      <p:grpSp>
        <p:nvGrpSpPr>
          <p:cNvPr id="130" name="node22"/>
          <p:cNvGrpSpPr/>
          <p:nvPr/>
        </p:nvGrpSpPr>
        <p:grpSpPr>
          <a:xfrm>
            <a:off x="2095500" y="2286000"/>
            <a:ext cx="9372600" cy="228600"/>
            <a:chOff x="2095500" y="2286000"/>
            <a:chExt cx="9372600" cy="228600"/>
          </a:xfrm>
        </p:grpSpPr>
        <p:sp>
          <p:nvSpPr>
            <p:cNvPr id="38" name="node22.rows.slot-001.cells.slot-001.surface"/>
            <p:cNvSpPr/>
            <p:nvPr/>
          </p:nvSpPr>
          <p:spPr>
            <a:xfrm>
              <a:off x="2101850" y="2292350"/>
              <a:ext cx="1293586" cy="215900"/>
            </a:xfrm>
            <a:prstGeom prst="rect">
              <a:avLst/>
            </a:prstGeom>
            <a:solidFill>
              <a:srgbClr val="FFFFFF"/>
            </a:solidFill>
            <a:ln w="12700">
              <a:solidFill>
                <a:srgbClr val="CED7E6"/>
              </a:solidFill>
              <a:prstDash val="solid"/>
            </a:ln>
          </p:spPr>
        </p:sp>
        <p:sp>
          <p:nvSpPr>
            <p:cNvPr id="39" name="node22.rows.slot-001.cells.slot-001.text"/>
            <p:cNvSpPr/>
            <p:nvPr/>
          </p:nvSpPr>
          <p:spPr>
            <a:xfrm>
              <a:off x="2146300" y="230505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Portal</a:t>
              </a:r>
              <a:endParaRPr lang="en-US" sz="1100" spc="0" kern="0" b="0" i="0" dirty="0">
                <a:solidFill>
                  <a:srgbClr val="070154"/>
                </a:solidFill>
                <a:latin typeface="IBM Plex Sans"/>
                <a:ea typeface="IBM Plex Sans"/>
                <a:cs typeface="IBM Plex Sans"/>
              </a:endParaRPr>
            </a:p>
          </p:txBody>
        </p:sp>
        <p:sp>
          <p:nvSpPr>
            <p:cNvPr id="40" name="node22.rows.slot-001.cells.slot-002.surface"/>
            <p:cNvSpPr/>
            <p:nvPr/>
          </p:nvSpPr>
          <p:spPr>
            <a:xfrm>
              <a:off x="3446236" y="2292350"/>
              <a:ext cx="1293586" cy="215900"/>
            </a:xfrm>
            <a:prstGeom prst="rect">
              <a:avLst/>
            </a:prstGeom>
            <a:solidFill>
              <a:srgbClr val="FFFFFF"/>
            </a:solidFill>
            <a:ln w="12700">
              <a:solidFill>
                <a:srgbClr val="CED7E6"/>
              </a:solidFill>
              <a:prstDash val="solid"/>
            </a:ln>
          </p:spPr>
        </p:sp>
        <p:sp>
          <p:nvSpPr>
            <p:cNvPr id="41" name="node22.rows.slot-001.cells.slot-002.text"/>
            <p:cNvSpPr/>
            <p:nvPr/>
          </p:nvSpPr>
          <p:spPr>
            <a:xfrm>
              <a:off x="3490686" y="230505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Phone</a:t>
              </a:r>
              <a:endParaRPr lang="en-US" sz="1100" spc="0" kern="0" b="0" i="0" dirty="0">
                <a:solidFill>
                  <a:srgbClr val="070154"/>
                </a:solidFill>
                <a:latin typeface="IBM Plex Sans"/>
                <a:ea typeface="IBM Plex Sans"/>
                <a:cs typeface="IBM Plex Sans"/>
              </a:endParaRPr>
            </a:p>
          </p:txBody>
        </p:sp>
        <p:sp>
          <p:nvSpPr>
            <p:cNvPr id="42" name="node22.rows.slot-001.cells.slot-003.surface"/>
            <p:cNvSpPr/>
            <p:nvPr/>
          </p:nvSpPr>
          <p:spPr>
            <a:xfrm>
              <a:off x="4790621" y="2292350"/>
              <a:ext cx="1293586" cy="215900"/>
            </a:xfrm>
            <a:prstGeom prst="rect">
              <a:avLst/>
            </a:prstGeom>
            <a:solidFill>
              <a:srgbClr val="FFFFFF"/>
            </a:solidFill>
            <a:ln w="12700">
              <a:solidFill>
                <a:srgbClr val="CED7E6"/>
              </a:solidFill>
              <a:prstDash val="solid"/>
            </a:ln>
          </p:spPr>
        </p:sp>
        <p:sp>
          <p:nvSpPr>
            <p:cNvPr id="43" name="node22.rows.slot-001.cells.slot-003.text"/>
            <p:cNvSpPr/>
            <p:nvPr/>
          </p:nvSpPr>
          <p:spPr>
            <a:xfrm>
              <a:off x="4835071" y="230505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Text</a:t>
              </a:r>
              <a:endParaRPr lang="en-US" sz="1100" spc="0" kern="0" b="0" i="0" dirty="0">
                <a:solidFill>
                  <a:srgbClr val="070154"/>
                </a:solidFill>
                <a:latin typeface="IBM Plex Sans"/>
                <a:ea typeface="IBM Plex Sans"/>
                <a:cs typeface="IBM Plex Sans"/>
              </a:endParaRPr>
            </a:p>
          </p:txBody>
        </p:sp>
        <p:sp>
          <p:nvSpPr>
            <p:cNvPr id="44" name="node22.rows.slot-001.cells.slot-004.surface"/>
            <p:cNvSpPr/>
            <p:nvPr/>
          </p:nvSpPr>
          <p:spPr>
            <a:xfrm>
              <a:off x="6135007" y="2292350"/>
              <a:ext cx="1293586" cy="215900"/>
            </a:xfrm>
            <a:prstGeom prst="rect">
              <a:avLst/>
            </a:prstGeom>
            <a:solidFill>
              <a:srgbClr val="FFFFFF"/>
            </a:solidFill>
            <a:ln w="12700">
              <a:solidFill>
                <a:srgbClr val="CED7E6"/>
              </a:solidFill>
              <a:prstDash val="solid"/>
            </a:ln>
          </p:spPr>
        </p:sp>
        <p:sp>
          <p:nvSpPr>
            <p:cNvPr id="45" name="node22.rows.slot-001.cells.slot-004.text"/>
            <p:cNvSpPr/>
            <p:nvPr/>
          </p:nvSpPr>
          <p:spPr>
            <a:xfrm>
              <a:off x="6179457" y="230505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Email</a:t>
              </a:r>
              <a:endParaRPr lang="en-US" sz="1100" spc="0" kern="0" b="0" i="0" dirty="0">
                <a:solidFill>
                  <a:srgbClr val="070154"/>
                </a:solidFill>
                <a:latin typeface="IBM Plex Sans"/>
                <a:ea typeface="IBM Plex Sans"/>
                <a:cs typeface="IBM Plex Sans"/>
              </a:endParaRPr>
            </a:p>
          </p:txBody>
        </p:sp>
        <p:sp>
          <p:nvSpPr>
            <p:cNvPr id="46" name="node22.rows.slot-001.cells.slot-005.surface"/>
            <p:cNvSpPr/>
            <p:nvPr/>
          </p:nvSpPr>
          <p:spPr>
            <a:xfrm>
              <a:off x="7479393" y="2292350"/>
              <a:ext cx="1293586" cy="215900"/>
            </a:xfrm>
            <a:prstGeom prst="rect">
              <a:avLst/>
            </a:prstGeom>
            <a:solidFill>
              <a:srgbClr val="FFFFFF"/>
            </a:solidFill>
            <a:ln w="12700">
              <a:solidFill>
                <a:srgbClr val="CED7E6"/>
              </a:solidFill>
              <a:prstDash val="solid"/>
            </a:ln>
          </p:spPr>
        </p:sp>
        <p:sp>
          <p:nvSpPr>
            <p:cNvPr id="47" name="node22.rows.slot-001.cells.slot-005.text"/>
            <p:cNvSpPr/>
            <p:nvPr/>
          </p:nvSpPr>
          <p:spPr>
            <a:xfrm>
              <a:off x="7523843" y="230505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Mail</a:t>
              </a:r>
              <a:endParaRPr lang="en-US" sz="1100" spc="0" kern="0" b="0" i="0" dirty="0">
                <a:solidFill>
                  <a:srgbClr val="070154"/>
                </a:solidFill>
                <a:latin typeface="IBM Plex Sans"/>
                <a:ea typeface="IBM Plex Sans"/>
                <a:cs typeface="IBM Plex Sans"/>
              </a:endParaRPr>
            </a:p>
          </p:txBody>
        </p:sp>
        <p:sp>
          <p:nvSpPr>
            <p:cNvPr id="48" name="node22.rows.slot-001.cells.slot-006.surface"/>
            <p:cNvSpPr/>
            <p:nvPr/>
          </p:nvSpPr>
          <p:spPr>
            <a:xfrm>
              <a:off x="8823779" y="2292350"/>
              <a:ext cx="1293586" cy="215900"/>
            </a:xfrm>
            <a:prstGeom prst="rect">
              <a:avLst/>
            </a:prstGeom>
            <a:solidFill>
              <a:srgbClr val="FFFFFF"/>
            </a:solidFill>
            <a:ln w="12700">
              <a:solidFill>
                <a:srgbClr val="CED7E6"/>
              </a:solidFill>
              <a:prstDash val="solid"/>
            </a:ln>
          </p:spPr>
        </p:sp>
        <p:sp>
          <p:nvSpPr>
            <p:cNvPr id="49" name="node22.rows.slot-001.cells.slot-006.text"/>
            <p:cNvSpPr/>
            <p:nvPr/>
          </p:nvSpPr>
          <p:spPr>
            <a:xfrm>
              <a:off x="8868229" y="230505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Kiosk</a:t>
              </a:r>
              <a:endParaRPr lang="en-US" sz="1100" spc="0" kern="0" b="0" i="0" dirty="0">
                <a:solidFill>
                  <a:srgbClr val="070154"/>
                </a:solidFill>
                <a:latin typeface="IBM Plex Sans"/>
                <a:ea typeface="IBM Plex Sans"/>
                <a:cs typeface="IBM Plex Sans"/>
              </a:endParaRPr>
            </a:p>
          </p:txBody>
        </p:sp>
        <p:sp>
          <p:nvSpPr>
            <p:cNvPr id="50" name="node22.rows.slot-001.cells.slot-007.surface"/>
            <p:cNvSpPr/>
            <p:nvPr/>
          </p:nvSpPr>
          <p:spPr>
            <a:xfrm>
              <a:off x="10168164" y="2292350"/>
              <a:ext cx="1293586" cy="215900"/>
            </a:xfrm>
            <a:prstGeom prst="rect">
              <a:avLst/>
            </a:prstGeom>
            <a:solidFill>
              <a:srgbClr val="FFFFFF"/>
            </a:solidFill>
            <a:ln w="12700">
              <a:solidFill>
                <a:srgbClr val="CED7E6"/>
              </a:solidFill>
              <a:prstDash val="solid"/>
            </a:ln>
          </p:spPr>
        </p:sp>
        <p:sp>
          <p:nvSpPr>
            <p:cNvPr id="51" name="node22.rows.slot-001.cells.slot-007.text"/>
            <p:cNvSpPr/>
            <p:nvPr/>
          </p:nvSpPr>
          <p:spPr>
            <a:xfrm>
              <a:off x="10212614" y="230505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In person</a:t>
              </a:r>
              <a:endParaRPr lang="en-US" sz="1100" spc="0" kern="0" b="0" i="0" dirty="0">
                <a:solidFill>
                  <a:srgbClr val="070154"/>
                </a:solidFill>
                <a:latin typeface="IBM Plex Sans"/>
                <a:ea typeface="IBM Plex Sans"/>
                <a:cs typeface="IBM Plex Sans"/>
              </a:endParaRPr>
            </a:p>
          </p:txBody>
        </p:sp>
      </p:grpSp>
      <p:grpSp>
        <p:nvGrpSpPr>
          <p:cNvPr id="131" name="node23"/>
          <p:cNvGrpSpPr/>
          <p:nvPr/>
        </p:nvGrpSpPr>
        <p:grpSpPr>
          <a:xfrm>
            <a:off x="2095500" y="2743200"/>
            <a:ext cx="9372600" cy="647700"/>
            <a:chOff x="2095500" y="2743200"/>
            <a:chExt cx="9372600" cy="647700"/>
          </a:xfrm>
        </p:grpSpPr>
        <p:sp>
          <p:nvSpPr>
            <p:cNvPr id="52" name="node23.rows.slot-001.cells.slot-001.surface"/>
            <p:cNvSpPr/>
            <p:nvPr/>
          </p:nvSpPr>
          <p:spPr>
            <a:xfrm>
              <a:off x="2095500" y="2743200"/>
              <a:ext cx="3098800" cy="190500"/>
            </a:xfrm>
            <a:prstGeom prst="rect">
              <a:avLst/>
            </a:prstGeom>
            <a:solidFill>
              <a:srgbClr val="CED7E6"/>
            </a:solidFill>
            <a:ln>
              <a:noFill/>
            </a:ln>
          </p:spPr>
        </p:sp>
        <p:sp>
          <p:nvSpPr>
            <p:cNvPr id="53" name="node23.rows.slot-001.cells.slot-001.text"/>
            <p:cNvSpPr/>
            <p:nvPr/>
          </p:nvSpPr>
          <p:spPr>
            <a:xfrm>
              <a:off x="2146300" y="27432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Eligibility and intake</a:t>
              </a:r>
              <a:endParaRPr lang="en-US" sz="1100" spc="0" kern="0" b="0" i="0" dirty="0">
                <a:solidFill>
                  <a:srgbClr val="070154"/>
                </a:solidFill>
                <a:latin typeface="IBM Plex Sans"/>
                <a:ea typeface="IBM Plex Sans"/>
                <a:cs typeface="IBM Plex Sans"/>
              </a:endParaRPr>
            </a:p>
          </p:txBody>
        </p:sp>
        <p:sp>
          <p:nvSpPr>
            <p:cNvPr id="54" name="node23.rows.slot-001.cells.slot-002.surface"/>
            <p:cNvSpPr/>
            <p:nvPr/>
          </p:nvSpPr>
          <p:spPr>
            <a:xfrm>
              <a:off x="5232400" y="2743200"/>
              <a:ext cx="3098800" cy="190500"/>
            </a:xfrm>
            <a:prstGeom prst="rect">
              <a:avLst/>
            </a:prstGeom>
            <a:solidFill>
              <a:srgbClr val="CED7E6"/>
            </a:solidFill>
            <a:ln>
              <a:noFill/>
            </a:ln>
          </p:spPr>
        </p:sp>
        <p:sp>
          <p:nvSpPr>
            <p:cNvPr id="55" name="node23.rows.slot-001.cells.slot-002.text"/>
            <p:cNvSpPr/>
            <p:nvPr/>
          </p:nvSpPr>
          <p:spPr>
            <a:xfrm>
              <a:off x="5283200" y="27432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Charge capture</a:t>
              </a:r>
              <a:endParaRPr lang="en-US" sz="1100" spc="0" kern="0" b="0" i="0" dirty="0">
                <a:solidFill>
                  <a:srgbClr val="070154"/>
                </a:solidFill>
                <a:latin typeface="IBM Plex Sans"/>
                <a:ea typeface="IBM Plex Sans"/>
                <a:cs typeface="IBM Plex Sans"/>
              </a:endParaRPr>
            </a:p>
          </p:txBody>
        </p:sp>
        <p:sp>
          <p:nvSpPr>
            <p:cNvPr id="56" name="node23.rows.slot-001.cells.slot-003.surface"/>
            <p:cNvSpPr/>
            <p:nvPr/>
          </p:nvSpPr>
          <p:spPr>
            <a:xfrm>
              <a:off x="8369300" y="2743200"/>
              <a:ext cx="3098800" cy="190500"/>
            </a:xfrm>
            <a:prstGeom prst="rect">
              <a:avLst/>
            </a:prstGeom>
            <a:solidFill>
              <a:srgbClr val="CED7E6"/>
            </a:solidFill>
            <a:ln>
              <a:noFill/>
            </a:ln>
          </p:spPr>
        </p:sp>
        <p:sp>
          <p:nvSpPr>
            <p:cNvPr id="57" name="node23.rows.slot-001.cells.slot-003.text"/>
            <p:cNvSpPr/>
            <p:nvPr/>
          </p:nvSpPr>
          <p:spPr>
            <a:xfrm>
              <a:off x="8420100" y="27432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Claim status tracking</a:t>
              </a:r>
              <a:endParaRPr lang="en-US" sz="1100" spc="0" kern="0" b="0" i="0" dirty="0">
                <a:solidFill>
                  <a:srgbClr val="070154"/>
                </a:solidFill>
                <a:latin typeface="IBM Plex Sans"/>
                <a:ea typeface="IBM Plex Sans"/>
                <a:cs typeface="IBM Plex Sans"/>
              </a:endParaRPr>
            </a:p>
          </p:txBody>
        </p:sp>
        <p:sp>
          <p:nvSpPr>
            <p:cNvPr id="58" name="node23.rows.slot-002.cells.slot-001.surface"/>
            <p:cNvSpPr/>
            <p:nvPr/>
          </p:nvSpPr>
          <p:spPr>
            <a:xfrm>
              <a:off x="2095500" y="2971800"/>
              <a:ext cx="3098800" cy="190500"/>
            </a:xfrm>
            <a:prstGeom prst="rect">
              <a:avLst/>
            </a:prstGeom>
            <a:solidFill>
              <a:srgbClr val="E8EEF8"/>
            </a:solidFill>
            <a:ln>
              <a:noFill/>
            </a:ln>
          </p:spPr>
        </p:sp>
        <p:sp>
          <p:nvSpPr>
            <p:cNvPr id="59" name="node23.rows.slot-002.cells.slot-001.text"/>
            <p:cNvSpPr/>
            <p:nvPr/>
          </p:nvSpPr>
          <p:spPr>
            <a:xfrm>
              <a:off x="2146300" y="29718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Registration and scheduling</a:t>
              </a:r>
              <a:endParaRPr lang="en-US" sz="1100" spc="0" kern="0" b="0" i="0" dirty="0">
                <a:solidFill>
                  <a:srgbClr val="070154"/>
                </a:solidFill>
                <a:latin typeface="IBM Plex Sans"/>
                <a:ea typeface="IBM Plex Sans"/>
                <a:cs typeface="IBM Plex Sans"/>
              </a:endParaRPr>
            </a:p>
          </p:txBody>
        </p:sp>
        <p:sp>
          <p:nvSpPr>
            <p:cNvPr id="60" name="node23.rows.slot-002.cells.slot-002.surface"/>
            <p:cNvSpPr/>
            <p:nvPr/>
          </p:nvSpPr>
          <p:spPr>
            <a:xfrm>
              <a:off x="5232400" y="2971800"/>
              <a:ext cx="3098800" cy="190500"/>
            </a:xfrm>
            <a:prstGeom prst="rect">
              <a:avLst/>
            </a:prstGeom>
            <a:solidFill>
              <a:srgbClr val="E8EEF8"/>
            </a:solidFill>
            <a:ln>
              <a:noFill/>
            </a:ln>
          </p:spPr>
        </p:sp>
        <p:sp>
          <p:nvSpPr>
            <p:cNvPr id="61" name="node23.rows.slot-002.cells.slot-002.text"/>
            <p:cNvSpPr/>
            <p:nvPr/>
          </p:nvSpPr>
          <p:spPr>
            <a:xfrm>
              <a:off x="5283200" y="29718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Coding and edits</a:t>
              </a:r>
              <a:endParaRPr lang="en-US" sz="1100" spc="0" kern="0" b="0" i="0" dirty="0">
                <a:solidFill>
                  <a:srgbClr val="070154"/>
                </a:solidFill>
                <a:latin typeface="IBM Plex Sans"/>
                <a:ea typeface="IBM Plex Sans"/>
                <a:cs typeface="IBM Plex Sans"/>
              </a:endParaRPr>
            </a:p>
          </p:txBody>
        </p:sp>
        <p:sp>
          <p:nvSpPr>
            <p:cNvPr id="62" name="node23.rows.slot-002.cells.slot-003.surface"/>
            <p:cNvSpPr/>
            <p:nvPr/>
          </p:nvSpPr>
          <p:spPr>
            <a:xfrm>
              <a:off x="8369300" y="2971800"/>
              <a:ext cx="3098800" cy="190500"/>
            </a:xfrm>
            <a:prstGeom prst="rect">
              <a:avLst/>
            </a:prstGeom>
            <a:solidFill>
              <a:srgbClr val="E8EEF8"/>
            </a:solidFill>
            <a:ln>
              <a:noFill/>
            </a:ln>
          </p:spPr>
        </p:sp>
        <p:sp>
          <p:nvSpPr>
            <p:cNvPr id="63" name="node23.rows.slot-002.cells.slot-003.text"/>
            <p:cNvSpPr/>
            <p:nvPr/>
          </p:nvSpPr>
          <p:spPr>
            <a:xfrm>
              <a:off x="8420100" y="29718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Denial workflow</a:t>
              </a:r>
              <a:endParaRPr lang="en-US" sz="1100" spc="0" kern="0" b="0" i="0" dirty="0">
                <a:solidFill>
                  <a:srgbClr val="070154"/>
                </a:solidFill>
                <a:latin typeface="IBM Plex Sans"/>
                <a:ea typeface="IBM Plex Sans"/>
                <a:cs typeface="IBM Plex Sans"/>
              </a:endParaRPr>
            </a:p>
          </p:txBody>
        </p:sp>
        <p:sp>
          <p:nvSpPr>
            <p:cNvPr id="64" name="node23.rows.slot-003.cells.slot-001.surface"/>
            <p:cNvSpPr/>
            <p:nvPr/>
          </p:nvSpPr>
          <p:spPr>
            <a:xfrm>
              <a:off x="2095500" y="3200400"/>
              <a:ext cx="9372600" cy="190500"/>
            </a:xfrm>
            <a:prstGeom prst="rect">
              <a:avLst/>
            </a:prstGeom>
            <a:solidFill>
              <a:srgbClr val="070154"/>
            </a:solidFill>
            <a:ln>
              <a:noFill/>
            </a:ln>
          </p:spPr>
        </p:sp>
        <p:sp>
          <p:nvSpPr>
            <p:cNvPr id="65" name="node23.rows.slot-003.cells.slot-001.text"/>
            <p:cNvSpPr/>
            <p:nvPr/>
          </p:nvSpPr>
          <p:spPr>
            <a:xfrm>
              <a:off x="2146300" y="3200400"/>
              <a:ext cx="9271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Patient accounting platform</a:t>
              </a:r>
              <a:endParaRPr lang="en-US" sz="1100" spc="0" kern="0" b="0" i="0" dirty="0">
                <a:solidFill>
                  <a:srgbClr val="FFFFFF"/>
                </a:solidFill>
                <a:latin typeface="IBM Plex Sans"/>
                <a:ea typeface="IBM Plex Sans"/>
                <a:cs typeface="IBM Plex Sans"/>
              </a:endParaRPr>
            </a:p>
          </p:txBody>
        </p:sp>
      </p:grpSp>
      <p:grpSp>
        <p:nvGrpSpPr>
          <p:cNvPr id="132" name="node24"/>
          <p:cNvGrpSpPr/>
          <p:nvPr/>
        </p:nvGrpSpPr>
        <p:grpSpPr>
          <a:xfrm>
            <a:off x="2095500" y="3657600"/>
            <a:ext cx="9372600" cy="419100"/>
            <a:chOff x="2095500" y="3657600"/>
            <a:chExt cx="9372600" cy="419100"/>
          </a:xfrm>
        </p:grpSpPr>
        <p:sp>
          <p:nvSpPr>
            <p:cNvPr id="66" name="node24.rows.slot-001.cells.slot-001.surface"/>
            <p:cNvSpPr/>
            <p:nvPr/>
          </p:nvSpPr>
          <p:spPr>
            <a:xfrm>
              <a:off x="2095500" y="3657600"/>
              <a:ext cx="4667250" cy="190500"/>
            </a:xfrm>
            <a:prstGeom prst="rect">
              <a:avLst/>
            </a:prstGeom>
            <a:solidFill>
              <a:srgbClr val="E8EEF8"/>
            </a:solidFill>
            <a:ln>
              <a:noFill/>
            </a:ln>
          </p:spPr>
        </p:sp>
        <p:sp>
          <p:nvSpPr>
            <p:cNvPr id="67" name="node24.rows.slot-001.cells.slot-001.text"/>
            <p:cNvSpPr/>
            <p:nvPr/>
          </p:nvSpPr>
          <p:spPr>
            <a:xfrm>
              <a:off x="2146300" y="3657600"/>
              <a:ext cx="456565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Enterprise data platform</a:t>
              </a:r>
              <a:endParaRPr lang="en-US" sz="1100" spc="0" kern="0" b="0" i="0" dirty="0">
                <a:solidFill>
                  <a:srgbClr val="070154"/>
                </a:solidFill>
                <a:latin typeface="IBM Plex Sans"/>
                <a:ea typeface="IBM Plex Sans"/>
                <a:cs typeface="IBM Plex Sans"/>
              </a:endParaRPr>
            </a:p>
          </p:txBody>
        </p:sp>
        <p:sp>
          <p:nvSpPr>
            <p:cNvPr id="68" name="node24.rows.slot-001.cells.slot-002.surface"/>
            <p:cNvSpPr/>
            <p:nvPr/>
          </p:nvSpPr>
          <p:spPr>
            <a:xfrm>
              <a:off x="6800850" y="3657600"/>
              <a:ext cx="4667250" cy="190500"/>
            </a:xfrm>
            <a:prstGeom prst="rect">
              <a:avLst/>
            </a:prstGeom>
            <a:solidFill>
              <a:srgbClr val="E8EEF8"/>
            </a:solidFill>
            <a:ln>
              <a:noFill/>
            </a:ln>
          </p:spPr>
        </p:sp>
        <p:sp>
          <p:nvSpPr>
            <p:cNvPr id="69" name="node24.rows.slot-001.cells.slot-002.text"/>
            <p:cNvSpPr/>
            <p:nvPr/>
          </p:nvSpPr>
          <p:spPr>
            <a:xfrm>
              <a:off x="6851650" y="3657600"/>
              <a:ext cx="456565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Revenue analytics</a:t>
              </a:r>
              <a:endParaRPr lang="en-US" sz="1100" spc="0" kern="0" b="0" i="0" dirty="0">
                <a:solidFill>
                  <a:srgbClr val="070154"/>
                </a:solidFill>
                <a:latin typeface="IBM Plex Sans"/>
                <a:ea typeface="IBM Plex Sans"/>
                <a:cs typeface="IBM Plex Sans"/>
              </a:endParaRPr>
            </a:p>
          </p:txBody>
        </p:sp>
        <p:sp>
          <p:nvSpPr>
            <p:cNvPr id="70" name="node24.rows.slot-002.cells.slot-001.surface"/>
            <p:cNvSpPr/>
            <p:nvPr/>
          </p:nvSpPr>
          <p:spPr>
            <a:xfrm>
              <a:off x="2101850" y="3892550"/>
              <a:ext cx="1293586" cy="177800"/>
            </a:xfrm>
            <a:prstGeom prst="rect">
              <a:avLst/>
            </a:prstGeom>
            <a:solidFill>
              <a:srgbClr val="FFFFFF"/>
            </a:solidFill>
            <a:ln w="12700">
              <a:solidFill>
                <a:srgbClr val="CED7E6"/>
              </a:solidFill>
              <a:prstDash val="solid"/>
            </a:ln>
          </p:spPr>
        </p:sp>
        <p:sp>
          <p:nvSpPr>
            <p:cNvPr id="71" name="node24.rows.slot-002.cells.slot-001.text"/>
            <p:cNvSpPr/>
            <p:nvPr/>
          </p:nvSpPr>
          <p:spPr>
            <a:xfrm>
              <a:off x="2146300" y="388620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Patient</a:t>
              </a:r>
              <a:endParaRPr lang="en-US" sz="1100" spc="0" kern="0" b="0" i="0" dirty="0">
                <a:solidFill>
                  <a:srgbClr val="070154"/>
                </a:solidFill>
                <a:latin typeface="IBM Plex Sans"/>
                <a:ea typeface="IBM Plex Sans"/>
                <a:cs typeface="IBM Plex Sans"/>
              </a:endParaRPr>
            </a:p>
          </p:txBody>
        </p:sp>
        <p:sp>
          <p:nvSpPr>
            <p:cNvPr id="72" name="node24.rows.slot-002.cells.slot-002.surface"/>
            <p:cNvSpPr/>
            <p:nvPr/>
          </p:nvSpPr>
          <p:spPr>
            <a:xfrm>
              <a:off x="3446236" y="3892550"/>
              <a:ext cx="1293586" cy="177800"/>
            </a:xfrm>
            <a:prstGeom prst="rect">
              <a:avLst/>
            </a:prstGeom>
            <a:solidFill>
              <a:srgbClr val="FFFFFF"/>
            </a:solidFill>
            <a:ln w="12700">
              <a:solidFill>
                <a:srgbClr val="CED7E6"/>
              </a:solidFill>
              <a:prstDash val="solid"/>
            </a:ln>
          </p:spPr>
        </p:sp>
        <p:sp>
          <p:nvSpPr>
            <p:cNvPr id="73" name="node24.rows.slot-002.cells.slot-002.text"/>
            <p:cNvSpPr/>
            <p:nvPr/>
          </p:nvSpPr>
          <p:spPr>
            <a:xfrm>
              <a:off x="3490686" y="388620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Charge</a:t>
              </a:r>
              <a:endParaRPr lang="en-US" sz="1100" spc="0" kern="0" b="0" i="0" dirty="0">
                <a:solidFill>
                  <a:srgbClr val="070154"/>
                </a:solidFill>
                <a:latin typeface="IBM Plex Sans"/>
                <a:ea typeface="IBM Plex Sans"/>
                <a:cs typeface="IBM Plex Sans"/>
              </a:endParaRPr>
            </a:p>
          </p:txBody>
        </p:sp>
        <p:sp>
          <p:nvSpPr>
            <p:cNvPr id="74" name="node24.rows.slot-002.cells.slot-003.surface"/>
            <p:cNvSpPr/>
            <p:nvPr/>
          </p:nvSpPr>
          <p:spPr>
            <a:xfrm>
              <a:off x="4790621" y="3892550"/>
              <a:ext cx="1293586" cy="177800"/>
            </a:xfrm>
            <a:prstGeom prst="rect">
              <a:avLst/>
            </a:prstGeom>
            <a:solidFill>
              <a:srgbClr val="FFFFFF"/>
            </a:solidFill>
            <a:ln w="12700">
              <a:solidFill>
                <a:srgbClr val="CED7E6"/>
              </a:solidFill>
              <a:prstDash val="solid"/>
            </a:ln>
          </p:spPr>
        </p:sp>
        <p:sp>
          <p:nvSpPr>
            <p:cNvPr id="75" name="node24.rows.slot-002.cells.slot-003.text"/>
            <p:cNvSpPr/>
            <p:nvPr/>
          </p:nvSpPr>
          <p:spPr>
            <a:xfrm>
              <a:off x="4835071" y="388620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Contract</a:t>
              </a:r>
              <a:endParaRPr lang="en-US" sz="1100" spc="0" kern="0" b="0" i="0" dirty="0">
                <a:solidFill>
                  <a:srgbClr val="070154"/>
                </a:solidFill>
                <a:latin typeface="IBM Plex Sans"/>
                <a:ea typeface="IBM Plex Sans"/>
                <a:cs typeface="IBM Plex Sans"/>
              </a:endParaRPr>
            </a:p>
          </p:txBody>
        </p:sp>
        <p:sp>
          <p:nvSpPr>
            <p:cNvPr id="76" name="node24.rows.slot-002.cells.slot-004.surface"/>
            <p:cNvSpPr/>
            <p:nvPr/>
          </p:nvSpPr>
          <p:spPr>
            <a:xfrm>
              <a:off x="6135007" y="3892550"/>
              <a:ext cx="1293586" cy="177800"/>
            </a:xfrm>
            <a:prstGeom prst="rect">
              <a:avLst/>
            </a:prstGeom>
            <a:solidFill>
              <a:srgbClr val="FFFFFF"/>
            </a:solidFill>
            <a:ln w="12700">
              <a:solidFill>
                <a:srgbClr val="CED7E6"/>
              </a:solidFill>
              <a:prstDash val="solid"/>
            </a:ln>
          </p:spPr>
        </p:sp>
        <p:sp>
          <p:nvSpPr>
            <p:cNvPr id="77" name="node24.rows.slot-002.cells.slot-004.text"/>
            <p:cNvSpPr/>
            <p:nvPr/>
          </p:nvSpPr>
          <p:spPr>
            <a:xfrm>
              <a:off x="6179457" y="388620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Remit</a:t>
              </a:r>
              <a:endParaRPr lang="en-US" sz="1100" spc="0" kern="0" b="0" i="0" dirty="0">
                <a:solidFill>
                  <a:srgbClr val="070154"/>
                </a:solidFill>
                <a:latin typeface="IBM Plex Sans"/>
                <a:ea typeface="IBM Plex Sans"/>
                <a:cs typeface="IBM Plex Sans"/>
              </a:endParaRPr>
            </a:p>
          </p:txBody>
        </p:sp>
        <p:sp>
          <p:nvSpPr>
            <p:cNvPr id="78" name="node24.rows.slot-002.cells.slot-005.surface"/>
            <p:cNvSpPr/>
            <p:nvPr/>
          </p:nvSpPr>
          <p:spPr>
            <a:xfrm>
              <a:off x="7479393" y="3892550"/>
              <a:ext cx="1293586" cy="177800"/>
            </a:xfrm>
            <a:prstGeom prst="rect">
              <a:avLst/>
            </a:prstGeom>
            <a:solidFill>
              <a:srgbClr val="FFFFFF"/>
            </a:solidFill>
            <a:ln w="12700">
              <a:solidFill>
                <a:srgbClr val="CED7E6"/>
              </a:solidFill>
              <a:prstDash val="solid"/>
            </a:ln>
          </p:spPr>
        </p:sp>
        <p:sp>
          <p:nvSpPr>
            <p:cNvPr id="79" name="node24.rows.slot-002.cells.slot-005.text"/>
            <p:cNvSpPr/>
            <p:nvPr/>
          </p:nvSpPr>
          <p:spPr>
            <a:xfrm>
              <a:off x="7523843" y="388620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Statement</a:t>
              </a:r>
              <a:endParaRPr lang="en-US" sz="1100" spc="0" kern="0" b="0" i="0" dirty="0">
                <a:solidFill>
                  <a:srgbClr val="070154"/>
                </a:solidFill>
                <a:latin typeface="IBM Plex Sans"/>
                <a:ea typeface="IBM Plex Sans"/>
                <a:cs typeface="IBM Plex Sans"/>
              </a:endParaRPr>
            </a:p>
          </p:txBody>
        </p:sp>
        <p:sp>
          <p:nvSpPr>
            <p:cNvPr id="80" name="node24.rows.slot-002.cells.slot-006.surface"/>
            <p:cNvSpPr/>
            <p:nvPr/>
          </p:nvSpPr>
          <p:spPr>
            <a:xfrm>
              <a:off x="8823779" y="3892550"/>
              <a:ext cx="1293586" cy="177800"/>
            </a:xfrm>
            <a:prstGeom prst="rect">
              <a:avLst/>
            </a:prstGeom>
            <a:solidFill>
              <a:srgbClr val="FFFFFF"/>
            </a:solidFill>
            <a:ln w="12700">
              <a:solidFill>
                <a:srgbClr val="CED7E6"/>
              </a:solidFill>
              <a:prstDash val="solid"/>
            </a:ln>
          </p:spPr>
        </p:sp>
        <p:sp>
          <p:nvSpPr>
            <p:cNvPr id="81" name="node24.rows.slot-002.cells.slot-006.text"/>
            <p:cNvSpPr/>
            <p:nvPr/>
          </p:nvSpPr>
          <p:spPr>
            <a:xfrm>
              <a:off x="8868229" y="388620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Payroll</a:t>
              </a:r>
              <a:endParaRPr lang="en-US" sz="1100" spc="0" kern="0" b="0" i="0" dirty="0">
                <a:solidFill>
                  <a:srgbClr val="070154"/>
                </a:solidFill>
                <a:latin typeface="IBM Plex Sans"/>
                <a:ea typeface="IBM Plex Sans"/>
                <a:cs typeface="IBM Plex Sans"/>
              </a:endParaRPr>
            </a:p>
          </p:txBody>
        </p:sp>
        <p:sp>
          <p:nvSpPr>
            <p:cNvPr id="82" name="node24.rows.slot-002.cells.slot-007.surface"/>
            <p:cNvSpPr/>
            <p:nvPr/>
          </p:nvSpPr>
          <p:spPr>
            <a:xfrm>
              <a:off x="10168164" y="3892550"/>
              <a:ext cx="1293586" cy="177800"/>
            </a:xfrm>
            <a:prstGeom prst="rect">
              <a:avLst/>
            </a:prstGeom>
            <a:solidFill>
              <a:srgbClr val="FFFFFF"/>
            </a:solidFill>
            <a:ln w="12700">
              <a:solidFill>
                <a:srgbClr val="CED7E6"/>
              </a:solidFill>
              <a:prstDash val="solid"/>
            </a:ln>
          </p:spPr>
        </p:sp>
        <p:sp>
          <p:nvSpPr>
            <p:cNvPr id="83" name="node24.rows.slot-002.cells.slot-007.text"/>
            <p:cNvSpPr/>
            <p:nvPr/>
          </p:nvSpPr>
          <p:spPr>
            <a:xfrm>
              <a:off x="10212614" y="3886200"/>
              <a:ext cx="1204686"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Ledger</a:t>
              </a:r>
              <a:endParaRPr lang="en-US" sz="1100" spc="0" kern="0" b="0" i="0" dirty="0">
                <a:solidFill>
                  <a:srgbClr val="070154"/>
                </a:solidFill>
                <a:latin typeface="IBM Plex Sans"/>
                <a:ea typeface="IBM Plex Sans"/>
                <a:cs typeface="IBM Plex Sans"/>
              </a:endParaRPr>
            </a:p>
          </p:txBody>
        </p:sp>
      </p:grpSp>
      <p:grpSp>
        <p:nvGrpSpPr>
          <p:cNvPr id="133" name="node25"/>
          <p:cNvGrpSpPr/>
          <p:nvPr/>
        </p:nvGrpSpPr>
        <p:grpSpPr>
          <a:xfrm>
            <a:off x="2095500" y="4343400"/>
            <a:ext cx="9372600" cy="419100"/>
            <a:chOff x="2095500" y="4343400"/>
            <a:chExt cx="9372600" cy="419100"/>
          </a:xfrm>
        </p:grpSpPr>
        <p:sp>
          <p:nvSpPr>
            <p:cNvPr id="84" name="node25.rows.slot-001.cells.slot-001.surface"/>
            <p:cNvSpPr/>
            <p:nvPr/>
          </p:nvSpPr>
          <p:spPr>
            <a:xfrm>
              <a:off x="2101850" y="4349750"/>
              <a:ext cx="3086100" cy="177800"/>
            </a:xfrm>
            <a:prstGeom prst="rect">
              <a:avLst/>
            </a:prstGeom>
            <a:solidFill>
              <a:srgbClr val="FFFFFF"/>
            </a:solidFill>
            <a:ln w="12700">
              <a:solidFill>
                <a:srgbClr val="CED7E6"/>
              </a:solidFill>
              <a:prstDash val="solid"/>
            </a:ln>
          </p:spPr>
        </p:sp>
        <p:sp>
          <p:nvSpPr>
            <p:cNvPr id="85" name="node25.rows.slot-001.cells.slot-001.text"/>
            <p:cNvSpPr/>
            <p:nvPr/>
          </p:nvSpPr>
          <p:spPr>
            <a:xfrm>
              <a:off x="2146300" y="43434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Integrated channels</a:t>
              </a:r>
              <a:endParaRPr lang="en-US" sz="1100" spc="0" kern="0" b="0" i="0" dirty="0">
                <a:solidFill>
                  <a:srgbClr val="070154"/>
                </a:solidFill>
                <a:latin typeface="IBM Plex Sans"/>
                <a:ea typeface="IBM Plex Sans"/>
                <a:cs typeface="IBM Plex Sans"/>
              </a:endParaRPr>
            </a:p>
          </p:txBody>
        </p:sp>
        <p:sp>
          <p:nvSpPr>
            <p:cNvPr id="86" name="node25.rows.slot-001.cells.slot-002.surface"/>
            <p:cNvSpPr/>
            <p:nvPr/>
          </p:nvSpPr>
          <p:spPr>
            <a:xfrm>
              <a:off x="5238750" y="4349750"/>
              <a:ext cx="3086100" cy="177800"/>
            </a:xfrm>
            <a:prstGeom prst="rect">
              <a:avLst/>
            </a:prstGeom>
            <a:solidFill>
              <a:srgbClr val="FFFFFF"/>
            </a:solidFill>
            <a:ln w="12700">
              <a:solidFill>
                <a:srgbClr val="CED7E6"/>
              </a:solidFill>
              <a:prstDash val="solid"/>
            </a:ln>
          </p:spPr>
        </p:sp>
        <p:sp>
          <p:nvSpPr>
            <p:cNvPr id="87" name="node25.rows.slot-001.cells.slot-002.text"/>
            <p:cNvSpPr/>
            <p:nvPr/>
          </p:nvSpPr>
          <p:spPr>
            <a:xfrm>
              <a:off x="5283200" y="43434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Revenue management</a:t>
              </a:r>
              <a:endParaRPr lang="en-US" sz="1100" spc="0" kern="0" b="0" i="0" dirty="0">
                <a:solidFill>
                  <a:srgbClr val="070154"/>
                </a:solidFill>
                <a:latin typeface="IBM Plex Sans"/>
                <a:ea typeface="IBM Plex Sans"/>
                <a:cs typeface="IBM Plex Sans"/>
              </a:endParaRPr>
            </a:p>
          </p:txBody>
        </p:sp>
        <p:sp>
          <p:nvSpPr>
            <p:cNvPr id="88" name="node25.rows.slot-001.cells.slot-003.surface"/>
            <p:cNvSpPr/>
            <p:nvPr/>
          </p:nvSpPr>
          <p:spPr>
            <a:xfrm>
              <a:off x="8375650" y="4349750"/>
              <a:ext cx="3086100" cy="177800"/>
            </a:xfrm>
            <a:prstGeom prst="rect">
              <a:avLst/>
            </a:prstGeom>
            <a:solidFill>
              <a:srgbClr val="FFFFFF"/>
            </a:solidFill>
            <a:ln w="12700">
              <a:solidFill>
                <a:srgbClr val="CED7E6"/>
              </a:solidFill>
              <a:prstDash val="solid"/>
            </a:ln>
          </p:spPr>
        </p:sp>
        <p:sp>
          <p:nvSpPr>
            <p:cNvPr id="89" name="node25.rows.slot-001.cells.slot-003.text"/>
            <p:cNvSpPr/>
            <p:nvPr/>
          </p:nvSpPr>
          <p:spPr>
            <a:xfrm>
              <a:off x="8420100" y="43434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Organizational agility</a:t>
              </a:r>
              <a:endParaRPr lang="en-US" sz="1100" spc="0" kern="0" b="0" i="0" dirty="0">
                <a:solidFill>
                  <a:srgbClr val="070154"/>
                </a:solidFill>
                <a:latin typeface="IBM Plex Sans"/>
                <a:ea typeface="IBM Plex Sans"/>
                <a:cs typeface="IBM Plex Sans"/>
              </a:endParaRPr>
            </a:p>
          </p:txBody>
        </p:sp>
        <p:sp>
          <p:nvSpPr>
            <p:cNvPr id="90" name="node25.rows.slot-002.cells.slot-001.surface"/>
            <p:cNvSpPr/>
            <p:nvPr/>
          </p:nvSpPr>
          <p:spPr>
            <a:xfrm>
              <a:off x="2101850" y="4578350"/>
              <a:ext cx="3086100" cy="177800"/>
            </a:xfrm>
            <a:prstGeom prst="rect">
              <a:avLst/>
            </a:prstGeom>
            <a:solidFill>
              <a:srgbClr val="FFFFFF"/>
            </a:solidFill>
            <a:ln w="12700">
              <a:solidFill>
                <a:srgbClr val="CED7E6"/>
              </a:solidFill>
              <a:prstDash val="solid"/>
            </a:ln>
          </p:spPr>
        </p:sp>
        <p:sp>
          <p:nvSpPr>
            <p:cNvPr id="91" name="node25.rows.slot-002.cells.slot-001.text"/>
            <p:cNvSpPr/>
            <p:nvPr/>
          </p:nvSpPr>
          <p:spPr>
            <a:xfrm>
              <a:off x="2146300" y="45720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Integrated technology</a:t>
              </a:r>
              <a:endParaRPr lang="en-US" sz="1100" spc="0" kern="0" b="0" i="0" dirty="0">
                <a:solidFill>
                  <a:srgbClr val="070154"/>
                </a:solidFill>
                <a:latin typeface="IBM Plex Sans"/>
                <a:ea typeface="IBM Plex Sans"/>
                <a:cs typeface="IBM Plex Sans"/>
              </a:endParaRPr>
            </a:p>
          </p:txBody>
        </p:sp>
        <p:sp>
          <p:nvSpPr>
            <p:cNvPr id="92" name="node25.rows.slot-002.cells.slot-002.surface"/>
            <p:cNvSpPr/>
            <p:nvPr/>
          </p:nvSpPr>
          <p:spPr>
            <a:xfrm>
              <a:off x="5238750" y="4578350"/>
              <a:ext cx="3086100" cy="177800"/>
            </a:xfrm>
            <a:prstGeom prst="rect">
              <a:avLst/>
            </a:prstGeom>
            <a:solidFill>
              <a:srgbClr val="FFFFFF"/>
            </a:solidFill>
            <a:ln w="12700">
              <a:solidFill>
                <a:srgbClr val="CED7E6"/>
              </a:solidFill>
              <a:prstDash val="solid"/>
            </a:ln>
          </p:spPr>
        </p:sp>
        <p:sp>
          <p:nvSpPr>
            <p:cNvPr id="93" name="node25.rows.slot-002.cells.slot-002.text"/>
            <p:cNvSpPr/>
            <p:nvPr/>
          </p:nvSpPr>
          <p:spPr>
            <a:xfrm>
              <a:off x="5283200" y="45720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Message personalization</a:t>
              </a:r>
              <a:endParaRPr lang="en-US" sz="1100" spc="0" kern="0" b="0" i="0" dirty="0">
                <a:solidFill>
                  <a:srgbClr val="070154"/>
                </a:solidFill>
                <a:latin typeface="IBM Plex Sans"/>
                <a:ea typeface="IBM Plex Sans"/>
                <a:cs typeface="IBM Plex Sans"/>
              </a:endParaRPr>
            </a:p>
          </p:txBody>
        </p:sp>
        <p:sp>
          <p:nvSpPr>
            <p:cNvPr id="94" name="node25.rows.slot-002.cells.slot-003.surface"/>
            <p:cNvSpPr/>
            <p:nvPr/>
          </p:nvSpPr>
          <p:spPr>
            <a:xfrm>
              <a:off x="8375650" y="4578350"/>
              <a:ext cx="3086100" cy="177800"/>
            </a:xfrm>
            <a:prstGeom prst="rect">
              <a:avLst/>
            </a:prstGeom>
            <a:solidFill>
              <a:srgbClr val="FFFFFF"/>
            </a:solidFill>
            <a:ln w="12700">
              <a:solidFill>
                <a:srgbClr val="CED7E6"/>
              </a:solidFill>
              <a:prstDash val="solid"/>
            </a:ln>
          </p:spPr>
        </p:sp>
        <p:sp>
          <p:nvSpPr>
            <p:cNvPr id="95" name="node25.rows.slot-002.cells.slot-003.text"/>
            <p:cNvSpPr/>
            <p:nvPr/>
          </p:nvSpPr>
          <p:spPr>
            <a:xfrm>
              <a:off x="8420100" y="4572000"/>
              <a:ext cx="2997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Process innovation</a:t>
              </a:r>
              <a:endParaRPr lang="en-US" sz="1100" spc="0" kern="0" b="0" i="0" dirty="0">
                <a:solidFill>
                  <a:srgbClr val="070154"/>
                </a:solidFill>
                <a:latin typeface="IBM Plex Sans"/>
                <a:ea typeface="IBM Plex Sans"/>
                <a:cs typeface="IBM Plex Sans"/>
              </a:endParaRPr>
            </a:p>
          </p:txBody>
        </p:sp>
      </p:grpSp>
      <p:grpSp>
        <p:nvGrpSpPr>
          <p:cNvPr id="134" name="node26"/>
          <p:cNvGrpSpPr/>
          <p:nvPr/>
        </p:nvGrpSpPr>
        <p:grpSpPr>
          <a:xfrm>
            <a:off x="2095500" y="5029200"/>
            <a:ext cx="2971800" cy="914400"/>
            <a:chOff x="2095500" y="5029200"/>
            <a:chExt cx="2971800" cy="914400"/>
          </a:xfrm>
        </p:grpSpPr>
        <p:sp>
          <p:nvSpPr>
            <p:cNvPr id="96" name="node26.container"/>
            <p:cNvSpPr/>
            <p:nvPr/>
          </p:nvSpPr>
          <p:spPr>
            <a:xfrm>
              <a:off x="2095500" y="5029200"/>
              <a:ext cx="2971800" cy="914400"/>
            </a:xfrm>
            <a:prstGeom prst="rect">
              <a:avLst/>
            </a:prstGeom>
            <a:solidFill>
              <a:srgbClr val="E8EEF8"/>
            </a:solidFill>
            <a:ln>
              <a:noFill/>
            </a:ln>
          </p:spPr>
        </p:sp>
        <p:sp>
          <p:nvSpPr>
            <p:cNvPr id="97" name="node26.label"/>
            <p:cNvSpPr/>
            <p:nvPr/>
          </p:nvSpPr>
          <p:spPr>
            <a:xfrm>
              <a:off x="2209800" y="5143500"/>
              <a:ext cx="2743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CASH ACCELERATION</a:t>
              </a:r>
              <a:endParaRPr lang="en-US" sz="800" spc="48" kern="0" b="0" i="0" dirty="0">
                <a:solidFill>
                  <a:srgbClr val="0047FF"/>
                </a:solidFill>
                <a:latin typeface="IBM Plex Mono Medium"/>
                <a:ea typeface="IBM Plex Mono Medium"/>
                <a:cs typeface="IBM Plex Mono Medium"/>
              </a:endParaRPr>
            </a:p>
          </p:txBody>
        </p:sp>
        <p:sp>
          <p:nvSpPr>
            <p:cNvPr id="98" name="node26.body.item-001.bullets.item-001.marker"/>
            <p:cNvSpPr/>
            <p:nvPr/>
          </p:nvSpPr>
          <p:spPr>
            <a:xfrm>
              <a:off x="2209800" y="5448300"/>
              <a:ext cx="38100" cy="38100"/>
            </a:xfrm>
            <a:prstGeom prst="rect">
              <a:avLst/>
            </a:prstGeom>
            <a:solidFill>
              <a:srgbClr val="070154"/>
            </a:solidFill>
            <a:ln>
              <a:noFill/>
            </a:ln>
          </p:spPr>
        </p:sp>
        <p:sp>
          <p:nvSpPr>
            <p:cNvPr id="99" name="node26.body.item-001.bullets.item-001.text"/>
            <p:cNvSpPr/>
            <p:nvPr/>
          </p:nvSpPr>
          <p:spPr>
            <a:xfrm>
              <a:off x="2362200" y="5359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Days in A/R</a:t>
              </a:r>
              <a:endParaRPr lang="en-US" sz="1200" spc="0" kern="0" b="0" i="0" dirty="0">
                <a:solidFill>
                  <a:srgbClr val="070154"/>
                </a:solidFill>
                <a:latin typeface="IBM Plex Sans"/>
                <a:ea typeface="IBM Plex Sans"/>
                <a:cs typeface="IBM Plex Sans"/>
              </a:endParaRPr>
            </a:p>
          </p:txBody>
        </p:sp>
        <p:sp>
          <p:nvSpPr>
            <p:cNvPr id="100" name="node26.body.item-001.bullets.item-002.marker"/>
            <p:cNvSpPr/>
            <p:nvPr/>
          </p:nvSpPr>
          <p:spPr>
            <a:xfrm>
              <a:off x="2209800" y="5702300"/>
              <a:ext cx="38100" cy="38100"/>
            </a:xfrm>
            <a:prstGeom prst="rect">
              <a:avLst/>
            </a:prstGeom>
            <a:solidFill>
              <a:srgbClr val="070154"/>
            </a:solidFill>
            <a:ln>
              <a:noFill/>
            </a:ln>
          </p:spPr>
        </p:sp>
        <p:sp>
          <p:nvSpPr>
            <p:cNvPr id="101" name="node26.body.item-001.bullets.item-002.text"/>
            <p:cNvSpPr/>
            <p:nvPr/>
          </p:nvSpPr>
          <p:spPr>
            <a:xfrm>
              <a:off x="2362200" y="5613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Clean-claim rate</a:t>
              </a:r>
              <a:endParaRPr lang="en-US" sz="1200" spc="0" kern="0" b="0" i="0" dirty="0">
                <a:solidFill>
                  <a:srgbClr val="070154"/>
                </a:solidFill>
                <a:latin typeface="IBM Plex Sans"/>
                <a:ea typeface="IBM Plex Sans"/>
                <a:cs typeface="IBM Plex Sans"/>
              </a:endParaRPr>
            </a:p>
          </p:txBody>
        </p:sp>
      </p:grpSp>
      <p:grpSp>
        <p:nvGrpSpPr>
          <p:cNvPr id="135" name="node27"/>
          <p:cNvGrpSpPr/>
          <p:nvPr/>
        </p:nvGrpSpPr>
        <p:grpSpPr>
          <a:xfrm>
            <a:off x="5295900" y="5029200"/>
            <a:ext cx="2971800" cy="914400"/>
            <a:chOff x="5295900" y="5029200"/>
            <a:chExt cx="2971800" cy="914400"/>
          </a:xfrm>
        </p:grpSpPr>
        <p:sp>
          <p:nvSpPr>
            <p:cNvPr id="102" name="node27.container"/>
            <p:cNvSpPr/>
            <p:nvPr/>
          </p:nvSpPr>
          <p:spPr>
            <a:xfrm>
              <a:off x="5295900" y="5029200"/>
              <a:ext cx="2971800" cy="914400"/>
            </a:xfrm>
            <a:prstGeom prst="rect">
              <a:avLst/>
            </a:prstGeom>
            <a:solidFill>
              <a:srgbClr val="E8EEF8"/>
            </a:solidFill>
            <a:ln>
              <a:noFill/>
            </a:ln>
          </p:spPr>
        </p:sp>
        <p:sp>
          <p:nvSpPr>
            <p:cNvPr id="103" name="node27.label"/>
            <p:cNvSpPr/>
            <p:nvPr/>
          </p:nvSpPr>
          <p:spPr>
            <a:xfrm>
              <a:off x="5410200" y="5143500"/>
              <a:ext cx="2743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COST TO COLLECT</a:t>
              </a:r>
              <a:endParaRPr lang="en-US" sz="800" spc="48" kern="0" b="0" i="0" dirty="0">
                <a:solidFill>
                  <a:srgbClr val="0047FF"/>
                </a:solidFill>
                <a:latin typeface="IBM Plex Mono Medium"/>
                <a:ea typeface="IBM Plex Mono Medium"/>
                <a:cs typeface="IBM Plex Mono Medium"/>
              </a:endParaRPr>
            </a:p>
          </p:txBody>
        </p:sp>
        <p:sp>
          <p:nvSpPr>
            <p:cNvPr id="104" name="node27.body.item-001.bullets.item-001.marker"/>
            <p:cNvSpPr/>
            <p:nvPr/>
          </p:nvSpPr>
          <p:spPr>
            <a:xfrm>
              <a:off x="5410200" y="5448300"/>
              <a:ext cx="38100" cy="38100"/>
            </a:xfrm>
            <a:prstGeom prst="rect">
              <a:avLst/>
            </a:prstGeom>
            <a:solidFill>
              <a:srgbClr val="070154"/>
            </a:solidFill>
            <a:ln>
              <a:noFill/>
            </a:ln>
          </p:spPr>
        </p:sp>
        <p:sp>
          <p:nvSpPr>
            <p:cNvPr id="105" name="node27.body.item-001.bullets.item-001.text"/>
            <p:cNvSpPr/>
            <p:nvPr/>
          </p:nvSpPr>
          <p:spPr>
            <a:xfrm>
              <a:off x="5562600" y="5359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Touches per account</a:t>
              </a:r>
              <a:endParaRPr lang="en-US" sz="1200" spc="0" kern="0" b="0" i="0" dirty="0">
                <a:solidFill>
                  <a:srgbClr val="070154"/>
                </a:solidFill>
                <a:latin typeface="IBM Plex Sans"/>
                <a:ea typeface="IBM Plex Sans"/>
                <a:cs typeface="IBM Plex Sans"/>
              </a:endParaRPr>
            </a:p>
          </p:txBody>
        </p:sp>
        <p:sp>
          <p:nvSpPr>
            <p:cNvPr id="106" name="node27.body.item-001.bullets.item-002.marker"/>
            <p:cNvSpPr/>
            <p:nvPr/>
          </p:nvSpPr>
          <p:spPr>
            <a:xfrm>
              <a:off x="5410200" y="5702300"/>
              <a:ext cx="38100" cy="38100"/>
            </a:xfrm>
            <a:prstGeom prst="rect">
              <a:avLst/>
            </a:prstGeom>
            <a:solidFill>
              <a:srgbClr val="070154"/>
            </a:solidFill>
            <a:ln>
              <a:noFill/>
            </a:ln>
          </p:spPr>
        </p:sp>
        <p:sp>
          <p:nvSpPr>
            <p:cNvPr id="107" name="node27.body.item-001.bullets.item-002.text"/>
            <p:cNvSpPr/>
            <p:nvPr/>
          </p:nvSpPr>
          <p:spPr>
            <a:xfrm>
              <a:off x="5562600" y="5613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Rework volume</a:t>
              </a:r>
              <a:endParaRPr lang="en-US" sz="1200" spc="0" kern="0" b="0" i="0" dirty="0">
                <a:solidFill>
                  <a:srgbClr val="070154"/>
                </a:solidFill>
                <a:latin typeface="IBM Plex Sans"/>
                <a:ea typeface="IBM Plex Sans"/>
                <a:cs typeface="IBM Plex Sans"/>
              </a:endParaRPr>
            </a:p>
          </p:txBody>
        </p:sp>
      </p:grpSp>
      <p:grpSp>
        <p:nvGrpSpPr>
          <p:cNvPr id="136" name="node28"/>
          <p:cNvGrpSpPr/>
          <p:nvPr/>
        </p:nvGrpSpPr>
        <p:grpSpPr>
          <a:xfrm>
            <a:off x="8496300" y="5029200"/>
            <a:ext cx="2971800" cy="914400"/>
            <a:chOff x="8496300" y="5029200"/>
            <a:chExt cx="2971800" cy="914400"/>
          </a:xfrm>
        </p:grpSpPr>
        <p:sp>
          <p:nvSpPr>
            <p:cNvPr id="108" name="node28.container"/>
            <p:cNvSpPr/>
            <p:nvPr/>
          </p:nvSpPr>
          <p:spPr>
            <a:xfrm>
              <a:off x="8496300" y="5029200"/>
              <a:ext cx="2971800" cy="914400"/>
            </a:xfrm>
            <a:prstGeom prst="rect">
              <a:avLst/>
            </a:prstGeom>
            <a:solidFill>
              <a:srgbClr val="E8EEF8"/>
            </a:solidFill>
            <a:ln>
              <a:noFill/>
            </a:ln>
          </p:spPr>
        </p:sp>
        <p:sp>
          <p:nvSpPr>
            <p:cNvPr id="109" name="node28.label"/>
            <p:cNvSpPr/>
            <p:nvPr/>
          </p:nvSpPr>
          <p:spPr>
            <a:xfrm>
              <a:off x="8610600" y="5143500"/>
              <a:ext cx="2743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PATIENT EXPERIENCE</a:t>
              </a:r>
              <a:endParaRPr lang="en-US" sz="800" spc="48" kern="0" b="0" i="0" dirty="0">
                <a:solidFill>
                  <a:srgbClr val="0047FF"/>
                </a:solidFill>
                <a:latin typeface="IBM Plex Mono Medium"/>
                <a:ea typeface="IBM Plex Mono Medium"/>
                <a:cs typeface="IBM Plex Mono Medium"/>
              </a:endParaRPr>
            </a:p>
          </p:txBody>
        </p:sp>
        <p:sp>
          <p:nvSpPr>
            <p:cNvPr id="110" name="node28.body.item-001.bullets.item-001.marker"/>
            <p:cNvSpPr/>
            <p:nvPr/>
          </p:nvSpPr>
          <p:spPr>
            <a:xfrm>
              <a:off x="8610600" y="5448300"/>
              <a:ext cx="38100" cy="38100"/>
            </a:xfrm>
            <a:prstGeom prst="rect">
              <a:avLst/>
            </a:prstGeom>
            <a:solidFill>
              <a:srgbClr val="070154"/>
            </a:solidFill>
            <a:ln>
              <a:noFill/>
            </a:ln>
          </p:spPr>
        </p:sp>
        <p:sp>
          <p:nvSpPr>
            <p:cNvPr id="111" name="node28.body.item-001.bullets.item-001.text"/>
            <p:cNvSpPr/>
            <p:nvPr/>
          </p:nvSpPr>
          <p:spPr>
            <a:xfrm>
              <a:off x="8763000" y="5359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Billing clarity</a:t>
              </a:r>
              <a:endParaRPr lang="en-US" sz="1200" spc="0" kern="0" b="0" i="0" dirty="0">
                <a:solidFill>
                  <a:srgbClr val="070154"/>
                </a:solidFill>
                <a:latin typeface="IBM Plex Sans"/>
                <a:ea typeface="IBM Plex Sans"/>
                <a:cs typeface="IBM Plex Sans"/>
              </a:endParaRPr>
            </a:p>
          </p:txBody>
        </p:sp>
        <p:sp>
          <p:nvSpPr>
            <p:cNvPr id="112" name="node28.body.item-001.bullets.item-002.marker"/>
            <p:cNvSpPr/>
            <p:nvPr/>
          </p:nvSpPr>
          <p:spPr>
            <a:xfrm>
              <a:off x="8610600" y="5702300"/>
              <a:ext cx="38100" cy="38100"/>
            </a:xfrm>
            <a:prstGeom prst="rect">
              <a:avLst/>
            </a:prstGeom>
            <a:solidFill>
              <a:srgbClr val="070154"/>
            </a:solidFill>
            <a:ln>
              <a:noFill/>
            </a:ln>
          </p:spPr>
        </p:sp>
        <p:sp>
          <p:nvSpPr>
            <p:cNvPr id="113" name="node28.body.item-001.bullets.item-002.text"/>
            <p:cNvSpPr/>
            <p:nvPr/>
          </p:nvSpPr>
          <p:spPr>
            <a:xfrm>
              <a:off x="8763000" y="5613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Pay-by-text uptake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ource-18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From revenue-cycle challenges to measurable outcomes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34</a:t>
            </a:fld>
            <a:endParaRPr lang="en-US" sz="700" spc="0" kern="0" b="0" i="0" dirty="0">
              <a:solidFill>
                <a:srgbClr val="070154"/>
              </a:solidFill>
              <a:latin typeface="IBM Plex Mono SemiBold"/>
              <a:ea typeface="IBM Plex Mono SemiBold"/>
              <a:cs typeface="IBM Plex Mono SemiBold"/>
            </a:endParaRPr>
          </a:p>
        </p:txBody>
      </p:sp>
      <p:grpSp>
        <p:nvGrpSpPr>
          <p:cNvPr id="66" name="node01"/>
          <p:cNvGrpSpPr/>
          <p:nvPr/>
        </p:nvGrpSpPr>
        <p:grpSpPr>
          <a:xfrm>
            <a:off x="723900" y="1600200"/>
            <a:ext cx="2057400" cy="3886200"/>
            <a:chOff x="723900" y="1600200"/>
            <a:chExt cx="2057400" cy="3886200"/>
          </a:xfrm>
        </p:grpSpPr>
        <p:sp>
          <p:nvSpPr>
            <p:cNvPr id="6" name="node01.surface"/>
            <p:cNvSpPr/>
            <p:nvPr/>
          </p:nvSpPr>
          <p:spPr>
            <a:xfrm>
              <a:off x="723900" y="1600200"/>
              <a:ext cx="2057400" cy="3886200"/>
            </a:xfrm>
            <a:prstGeom prst="rect">
              <a:avLst/>
            </a:prstGeom>
            <a:solidFill>
              <a:srgbClr val="070154"/>
            </a:solidFill>
            <a:ln>
              <a:noFill/>
            </a:ln>
          </p:spPr>
        </p:sp>
      </p:grpSp>
      <p:grpSp>
        <p:nvGrpSpPr>
          <p:cNvPr id="67" name="node02"/>
          <p:cNvGrpSpPr/>
          <p:nvPr/>
        </p:nvGrpSpPr>
        <p:grpSpPr>
          <a:xfrm>
            <a:off x="952500" y="1828800"/>
            <a:ext cx="1600200" cy="266700"/>
            <a:chOff x="952500" y="1828800"/>
            <a:chExt cx="1600200" cy="266700"/>
          </a:xfrm>
        </p:grpSpPr>
        <p:sp>
          <p:nvSpPr>
            <p:cNvPr id="7" name="node02.text"/>
            <p:cNvSpPr/>
            <p:nvPr/>
          </p:nvSpPr>
          <p:spPr>
            <a:xfrm>
              <a:off x="952500" y="18288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Challenges</a:t>
              </a:r>
              <a:endParaRPr lang="en-US" sz="1600" spc="-16" kern="0" b="0" i="0" dirty="0">
                <a:solidFill>
                  <a:srgbClr val="FFFFFF"/>
                </a:solidFill>
                <a:latin typeface="IBM Plex Sans SemiBold"/>
                <a:ea typeface="IBM Plex Sans SemiBold"/>
                <a:cs typeface="IBM Plex Sans SemiBold"/>
              </a:endParaRPr>
            </a:p>
          </p:txBody>
        </p:sp>
      </p:grpSp>
      <p:grpSp>
        <p:nvGrpSpPr>
          <p:cNvPr id="68" name="node03"/>
          <p:cNvGrpSpPr/>
          <p:nvPr/>
        </p:nvGrpSpPr>
        <p:grpSpPr>
          <a:xfrm>
            <a:off x="952500" y="2286000"/>
            <a:ext cx="1651000" cy="1447800"/>
            <a:chOff x="952500" y="2286000"/>
            <a:chExt cx="1651000" cy="1447800"/>
          </a:xfrm>
        </p:grpSpPr>
        <p:sp>
          <p:nvSpPr>
            <p:cNvPr id="8" name="node03.source-001.bullet"/>
            <p:cNvSpPr/>
            <p:nvPr/>
          </p:nvSpPr>
          <p:spPr>
            <a:xfrm>
              <a:off x="952500" y="2374900"/>
              <a:ext cx="38100" cy="38100"/>
            </a:xfrm>
            <a:prstGeom prst="rect">
              <a:avLst/>
            </a:prstGeom>
            <a:solidFill>
              <a:srgbClr val="FFFFFF"/>
            </a:solidFill>
            <a:ln>
              <a:noFill/>
            </a:ln>
          </p:spPr>
        </p:sp>
        <p:sp>
          <p:nvSpPr>
            <p:cNvPr id="9" name="node03.source-001.text"/>
            <p:cNvSpPr/>
            <p:nvPr/>
          </p:nvSpPr>
          <p:spPr>
            <a:xfrm>
              <a:off x="1104900" y="2286000"/>
              <a:ext cx="1498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Slow cash posting</a:t>
              </a:r>
              <a:endParaRPr lang="en-US" sz="1200" spc="0" kern="0" b="0" i="0" dirty="0">
                <a:solidFill>
                  <a:srgbClr val="FFFFFF"/>
                </a:solidFill>
                <a:latin typeface="IBM Plex Sans"/>
                <a:ea typeface="IBM Plex Sans"/>
                <a:cs typeface="IBM Plex Sans"/>
              </a:endParaRPr>
            </a:p>
          </p:txBody>
        </p:sp>
        <p:sp>
          <p:nvSpPr>
            <p:cNvPr id="10" name="node03.source-002.bullet"/>
            <p:cNvSpPr/>
            <p:nvPr/>
          </p:nvSpPr>
          <p:spPr>
            <a:xfrm>
              <a:off x="952500" y="2628900"/>
              <a:ext cx="38100" cy="38100"/>
            </a:xfrm>
            <a:prstGeom prst="rect">
              <a:avLst/>
            </a:prstGeom>
            <a:solidFill>
              <a:srgbClr val="FFFFFF"/>
            </a:solidFill>
            <a:ln>
              <a:noFill/>
            </a:ln>
          </p:spPr>
        </p:sp>
        <p:sp>
          <p:nvSpPr>
            <p:cNvPr id="11" name="node03.source-002.text"/>
            <p:cNvSpPr/>
            <p:nvPr/>
          </p:nvSpPr>
          <p:spPr>
            <a:xfrm>
              <a:off x="1104900" y="2540000"/>
              <a:ext cx="1498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Rising denials</a:t>
              </a:r>
              <a:endParaRPr lang="en-US" sz="1200" spc="0" kern="0" b="0" i="0" dirty="0">
                <a:solidFill>
                  <a:srgbClr val="FFFFFF"/>
                </a:solidFill>
                <a:latin typeface="IBM Plex Sans"/>
                <a:ea typeface="IBM Plex Sans"/>
                <a:cs typeface="IBM Plex Sans"/>
              </a:endParaRPr>
            </a:p>
          </p:txBody>
        </p:sp>
        <p:sp>
          <p:nvSpPr>
            <p:cNvPr id="12" name="node03.source-003.bullet"/>
            <p:cNvSpPr/>
            <p:nvPr/>
          </p:nvSpPr>
          <p:spPr>
            <a:xfrm>
              <a:off x="952500" y="2882900"/>
              <a:ext cx="38100" cy="38100"/>
            </a:xfrm>
            <a:prstGeom prst="rect">
              <a:avLst/>
            </a:prstGeom>
            <a:solidFill>
              <a:srgbClr val="FFFFFF"/>
            </a:solidFill>
            <a:ln>
              <a:noFill/>
            </a:ln>
          </p:spPr>
        </p:sp>
        <p:sp>
          <p:nvSpPr>
            <p:cNvPr id="13" name="node03.source-003.text"/>
            <p:cNvSpPr/>
            <p:nvPr/>
          </p:nvSpPr>
          <p:spPr>
            <a:xfrm>
              <a:off x="1104900" y="2794000"/>
              <a:ext cx="1498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Fragmented billing</a:t>
              </a:r>
              <a:endParaRPr lang="en-US" sz="1200" spc="0" kern="0" b="0" i="0" dirty="0">
                <a:solidFill>
                  <a:srgbClr val="FFFFFF"/>
                </a:solidFill>
                <a:latin typeface="IBM Plex Sans"/>
                <a:ea typeface="IBM Plex Sans"/>
                <a:cs typeface="IBM Plex Sans"/>
              </a:endParaRPr>
            </a:p>
          </p:txBody>
        </p:sp>
        <p:sp>
          <p:nvSpPr>
            <p:cNvPr id="14" name="node03.source-004.bullet"/>
            <p:cNvSpPr/>
            <p:nvPr/>
          </p:nvSpPr>
          <p:spPr>
            <a:xfrm>
              <a:off x="952500" y="3136900"/>
              <a:ext cx="38100" cy="38100"/>
            </a:xfrm>
            <a:prstGeom prst="rect">
              <a:avLst/>
            </a:prstGeom>
            <a:solidFill>
              <a:srgbClr val="FFFFFF"/>
            </a:solidFill>
            <a:ln>
              <a:noFill/>
            </a:ln>
          </p:spPr>
        </p:sp>
        <p:sp>
          <p:nvSpPr>
            <p:cNvPr id="15" name="node03.source-004.text"/>
            <p:cNvSpPr/>
            <p:nvPr/>
          </p:nvSpPr>
          <p:spPr>
            <a:xfrm>
              <a:off x="1104900" y="3048000"/>
              <a:ext cx="1498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Late patient payments</a:t>
              </a:r>
              <a:endParaRPr lang="en-US" sz="1200" spc="0" kern="0" b="0" i="0" dirty="0">
                <a:solidFill>
                  <a:srgbClr val="FFFFFF"/>
                </a:solidFill>
                <a:latin typeface="IBM Plex Sans"/>
                <a:ea typeface="IBM Plex Sans"/>
                <a:cs typeface="IBM Plex Sans"/>
              </a:endParaRPr>
            </a:p>
          </p:txBody>
        </p:sp>
        <p:sp>
          <p:nvSpPr>
            <p:cNvPr id="16" name="node03.source-005.bullet"/>
            <p:cNvSpPr/>
            <p:nvPr/>
          </p:nvSpPr>
          <p:spPr>
            <a:xfrm>
              <a:off x="952500" y="3606800"/>
              <a:ext cx="38100" cy="38100"/>
            </a:xfrm>
            <a:prstGeom prst="rect">
              <a:avLst/>
            </a:prstGeom>
            <a:solidFill>
              <a:srgbClr val="FFFFFF"/>
            </a:solidFill>
            <a:ln>
              <a:noFill/>
            </a:ln>
          </p:spPr>
        </p:sp>
        <p:sp>
          <p:nvSpPr>
            <p:cNvPr id="17" name="node03.source-005.text"/>
            <p:cNvSpPr/>
            <p:nvPr/>
          </p:nvSpPr>
          <p:spPr>
            <a:xfrm>
              <a:off x="1104900" y="3517900"/>
              <a:ext cx="1498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Manual denial rework</a:t>
              </a:r>
              <a:endParaRPr lang="en-US" sz="1200" spc="0" kern="0" b="0" i="0" dirty="0">
                <a:solidFill>
                  <a:srgbClr val="FFFFFF"/>
                </a:solidFill>
                <a:latin typeface="IBM Plex Sans"/>
                <a:ea typeface="IBM Plex Sans"/>
                <a:cs typeface="IBM Plex Sans"/>
              </a:endParaRPr>
            </a:p>
          </p:txBody>
        </p:sp>
      </p:grpSp>
      <p:grpSp>
        <p:nvGrpSpPr>
          <p:cNvPr id="69" name="node04"/>
          <p:cNvGrpSpPr/>
          <p:nvPr/>
        </p:nvGrpSpPr>
        <p:grpSpPr>
          <a:xfrm>
            <a:off x="952500" y="4495800"/>
            <a:ext cx="1600200" cy="266700"/>
            <a:chOff x="952500" y="4495800"/>
            <a:chExt cx="1600200" cy="266700"/>
          </a:xfrm>
        </p:grpSpPr>
        <p:sp>
          <p:nvSpPr>
            <p:cNvPr id="18" name="node04.text"/>
            <p:cNvSpPr/>
            <p:nvPr/>
          </p:nvSpPr>
          <p:spPr>
            <a:xfrm>
              <a:off x="952500" y="4495800"/>
              <a:ext cx="16002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41 days</a:t>
              </a:r>
              <a:endParaRPr lang="en-US" sz="1600" spc="0" kern="0" b="0" i="0" dirty="0">
                <a:solidFill>
                  <a:srgbClr val="F900D3"/>
                </a:solidFill>
                <a:latin typeface="IBM Plex Mono SemiBold"/>
                <a:ea typeface="IBM Plex Mono SemiBold"/>
                <a:cs typeface="IBM Plex Mono SemiBold"/>
              </a:endParaRPr>
            </a:p>
          </p:txBody>
        </p:sp>
      </p:grpSp>
      <p:grpSp>
        <p:nvGrpSpPr>
          <p:cNvPr id="70" name="node05"/>
          <p:cNvGrpSpPr/>
          <p:nvPr/>
        </p:nvGrpSpPr>
        <p:grpSpPr>
          <a:xfrm>
            <a:off x="952500" y="4800600"/>
            <a:ext cx="1600200" cy="381000"/>
            <a:chOff x="952500" y="4800600"/>
            <a:chExt cx="1600200" cy="381000"/>
          </a:xfrm>
        </p:grpSpPr>
        <p:sp>
          <p:nvSpPr>
            <p:cNvPr id="19" name="node05.text"/>
            <p:cNvSpPr/>
            <p:nvPr/>
          </p:nvSpPr>
          <p:spPr>
            <a:xfrm>
              <a:off x="952500" y="4800600"/>
              <a:ext cx="1600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average time from discharge to cash</a:t>
              </a:r>
              <a:endParaRPr lang="en-US" sz="1100" spc="0" kern="0" b="0" i="0" dirty="0">
                <a:solidFill>
                  <a:srgbClr val="FFFFFF"/>
                </a:solidFill>
                <a:latin typeface="IBM Plex Sans"/>
                <a:ea typeface="IBM Plex Sans"/>
                <a:cs typeface="IBM Plex Sans"/>
              </a:endParaRPr>
            </a:p>
          </p:txBody>
        </p:sp>
      </p:grpSp>
      <p:grpSp>
        <p:nvGrpSpPr>
          <p:cNvPr id="71" name="node06"/>
          <p:cNvGrpSpPr/>
          <p:nvPr/>
        </p:nvGrpSpPr>
        <p:grpSpPr>
          <a:xfrm>
            <a:off x="3238500" y="1600200"/>
            <a:ext cx="2743200" cy="3886200"/>
            <a:chOff x="3238500" y="1600200"/>
            <a:chExt cx="2743200" cy="3886200"/>
          </a:xfrm>
        </p:grpSpPr>
        <p:sp>
          <p:nvSpPr>
            <p:cNvPr id="20" name="node06.surface"/>
            <p:cNvSpPr/>
            <p:nvPr/>
          </p:nvSpPr>
          <p:spPr>
            <a:xfrm>
              <a:off x="3238500" y="1600200"/>
              <a:ext cx="2743200" cy="3886200"/>
            </a:xfrm>
            <a:prstGeom prst="rect">
              <a:avLst/>
            </a:prstGeom>
            <a:solidFill>
              <a:srgbClr val="E8EEF8"/>
            </a:solidFill>
            <a:ln>
              <a:noFill/>
            </a:ln>
          </p:spPr>
        </p:sp>
        <p:sp>
          <p:nvSpPr>
            <p:cNvPr id="21" name="node06.tab"/>
            <p:cNvSpPr/>
            <p:nvPr/>
          </p:nvSpPr>
          <p:spPr>
            <a:xfrm>
              <a:off x="3238500" y="1600200"/>
              <a:ext cx="709166" cy="228600"/>
            </a:xfrm>
            <a:prstGeom prst="rect">
              <a:avLst/>
            </a:prstGeom>
            <a:solidFill>
              <a:srgbClr val="070154"/>
            </a:solidFill>
            <a:ln>
              <a:noFill/>
            </a:ln>
          </p:spPr>
        </p:sp>
        <p:sp>
          <p:nvSpPr>
            <p:cNvPr id="22" name="node06.label"/>
            <p:cNvSpPr/>
            <p:nvPr/>
          </p:nvSpPr>
          <p:spPr>
            <a:xfrm>
              <a:off x="3314700" y="1644650"/>
              <a:ext cx="556766"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PRODUCTS</a:t>
              </a:r>
              <a:endParaRPr lang="en-US" sz="800" spc="48" kern="0" b="0" i="0" dirty="0">
                <a:solidFill>
                  <a:srgbClr val="FFFFFF"/>
                </a:solidFill>
                <a:latin typeface="IBM Plex Mono SemiBold"/>
                <a:ea typeface="IBM Plex Mono SemiBold"/>
                <a:cs typeface="IBM Plex Mono SemiBold"/>
              </a:endParaRPr>
            </a:p>
          </p:txBody>
        </p:sp>
      </p:grpSp>
      <p:grpSp>
        <p:nvGrpSpPr>
          <p:cNvPr id="72" name="node07"/>
          <p:cNvGrpSpPr/>
          <p:nvPr/>
        </p:nvGrpSpPr>
        <p:grpSpPr>
          <a:xfrm>
            <a:off x="3467100" y="2057400"/>
            <a:ext cx="2286000" cy="990600"/>
            <a:chOff x="3467100" y="2057400"/>
            <a:chExt cx="2286000" cy="990600"/>
          </a:xfrm>
        </p:grpSpPr>
        <p:sp>
          <p:nvSpPr>
            <p:cNvPr id="23" name="node07.container"/>
            <p:cNvSpPr/>
            <p:nvPr/>
          </p:nvSpPr>
          <p:spPr>
            <a:xfrm>
              <a:off x="3473450" y="2063750"/>
              <a:ext cx="2273300" cy="977900"/>
            </a:xfrm>
            <a:prstGeom prst="rect">
              <a:avLst/>
            </a:prstGeom>
            <a:solidFill>
              <a:srgbClr val="FFFFFF"/>
            </a:solidFill>
            <a:ln w="12700">
              <a:solidFill>
                <a:srgbClr val="CED7E6"/>
              </a:solidFill>
              <a:prstDash val="solid"/>
            </a:ln>
          </p:spPr>
        </p:sp>
        <p:sp>
          <p:nvSpPr>
            <p:cNvPr id="24" name="node07.title"/>
            <p:cNvSpPr/>
            <p:nvPr/>
          </p:nvSpPr>
          <p:spPr>
            <a:xfrm>
              <a:off x="3581400" y="21717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Remittance posting</a:t>
              </a:r>
              <a:endParaRPr lang="en-US" sz="1200" spc="0" kern="0" b="0" i="0" dirty="0">
                <a:solidFill>
                  <a:srgbClr val="070154"/>
                </a:solidFill>
                <a:latin typeface="IBM Plex Sans"/>
                <a:ea typeface="IBM Plex Sans"/>
                <a:cs typeface="IBM Plex Sans"/>
              </a:endParaRPr>
            </a:p>
          </p:txBody>
        </p:sp>
        <p:sp>
          <p:nvSpPr>
            <p:cNvPr id="25" name="node07.body.item-001.paragraph"/>
            <p:cNvSpPr/>
            <p:nvPr/>
          </p:nvSpPr>
          <p:spPr>
            <a:xfrm>
              <a:off x="3581400" y="25400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Posts cash at receipt</a:t>
              </a:r>
              <a:endParaRPr lang="en-US" sz="1200" spc="0" kern="0" b="0" i="0" dirty="0">
                <a:solidFill>
                  <a:srgbClr val="50658E"/>
                </a:solidFill>
                <a:latin typeface="IBM Plex Sans"/>
                <a:ea typeface="IBM Plex Sans"/>
                <a:cs typeface="IBM Plex Sans"/>
              </a:endParaRPr>
            </a:p>
          </p:txBody>
        </p:sp>
      </p:grpSp>
      <p:grpSp>
        <p:nvGrpSpPr>
          <p:cNvPr id="73" name="node08"/>
          <p:cNvGrpSpPr/>
          <p:nvPr/>
        </p:nvGrpSpPr>
        <p:grpSpPr>
          <a:xfrm>
            <a:off x="3467100" y="3200400"/>
            <a:ext cx="2286000" cy="990600"/>
            <a:chOff x="3467100" y="3200400"/>
            <a:chExt cx="2286000" cy="990600"/>
          </a:xfrm>
        </p:grpSpPr>
        <p:sp>
          <p:nvSpPr>
            <p:cNvPr id="26" name="node08.container"/>
            <p:cNvSpPr/>
            <p:nvPr/>
          </p:nvSpPr>
          <p:spPr>
            <a:xfrm>
              <a:off x="3473450" y="3206750"/>
              <a:ext cx="2273300" cy="977900"/>
            </a:xfrm>
            <a:prstGeom prst="rect">
              <a:avLst/>
            </a:prstGeom>
            <a:solidFill>
              <a:srgbClr val="FFFFFF"/>
            </a:solidFill>
            <a:ln w="12700">
              <a:solidFill>
                <a:srgbClr val="CED7E6"/>
              </a:solidFill>
              <a:prstDash val="solid"/>
            </a:ln>
          </p:spPr>
        </p:sp>
        <p:sp>
          <p:nvSpPr>
            <p:cNvPr id="27" name="node08.title"/>
            <p:cNvSpPr/>
            <p:nvPr/>
          </p:nvSpPr>
          <p:spPr>
            <a:xfrm>
              <a:off x="3581400" y="33147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Denial prevention</a:t>
              </a:r>
              <a:endParaRPr lang="en-US" sz="1200" spc="0" kern="0" b="0" i="0" dirty="0">
                <a:solidFill>
                  <a:srgbClr val="070154"/>
                </a:solidFill>
                <a:latin typeface="IBM Plex Sans"/>
                <a:ea typeface="IBM Plex Sans"/>
                <a:cs typeface="IBM Plex Sans"/>
              </a:endParaRPr>
            </a:p>
          </p:txBody>
        </p:sp>
        <p:sp>
          <p:nvSpPr>
            <p:cNvPr id="28" name="node08.body.item-001.paragraph"/>
            <p:cNvSpPr/>
            <p:nvPr/>
          </p:nvSpPr>
          <p:spPr>
            <a:xfrm>
              <a:off x="3581400" y="36830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Catches errors early</a:t>
              </a:r>
              <a:endParaRPr lang="en-US" sz="1200" spc="0" kern="0" b="0" i="0" dirty="0">
                <a:solidFill>
                  <a:srgbClr val="50658E"/>
                </a:solidFill>
                <a:latin typeface="IBM Plex Sans"/>
                <a:ea typeface="IBM Plex Sans"/>
                <a:cs typeface="IBM Plex Sans"/>
              </a:endParaRPr>
            </a:p>
          </p:txBody>
        </p:sp>
      </p:grpSp>
      <p:grpSp>
        <p:nvGrpSpPr>
          <p:cNvPr id="74" name="node09"/>
          <p:cNvGrpSpPr/>
          <p:nvPr/>
        </p:nvGrpSpPr>
        <p:grpSpPr>
          <a:xfrm>
            <a:off x="3467100" y="4343400"/>
            <a:ext cx="2286000" cy="990600"/>
            <a:chOff x="3467100" y="4343400"/>
            <a:chExt cx="2286000" cy="990600"/>
          </a:xfrm>
        </p:grpSpPr>
        <p:sp>
          <p:nvSpPr>
            <p:cNvPr id="29" name="node09.container"/>
            <p:cNvSpPr/>
            <p:nvPr/>
          </p:nvSpPr>
          <p:spPr>
            <a:xfrm>
              <a:off x="3473450" y="4349750"/>
              <a:ext cx="2273300" cy="977900"/>
            </a:xfrm>
            <a:prstGeom prst="rect">
              <a:avLst/>
            </a:prstGeom>
            <a:solidFill>
              <a:srgbClr val="FFFFFF"/>
            </a:solidFill>
            <a:ln w="12700">
              <a:solidFill>
                <a:srgbClr val="CED7E6"/>
              </a:solidFill>
              <a:prstDash val="solid"/>
            </a:ln>
          </p:spPr>
        </p:sp>
        <p:sp>
          <p:nvSpPr>
            <p:cNvPr id="30" name="node09.title"/>
            <p:cNvSpPr/>
            <p:nvPr/>
          </p:nvSpPr>
          <p:spPr>
            <a:xfrm>
              <a:off x="3581400" y="44577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Patient billing suite</a:t>
              </a:r>
              <a:endParaRPr lang="en-US" sz="1200" spc="0" kern="0" b="0" i="0" dirty="0">
                <a:solidFill>
                  <a:srgbClr val="070154"/>
                </a:solidFill>
                <a:latin typeface="IBM Plex Sans"/>
                <a:ea typeface="IBM Plex Sans"/>
                <a:cs typeface="IBM Plex Sans"/>
              </a:endParaRPr>
            </a:p>
          </p:txBody>
        </p:sp>
        <p:sp>
          <p:nvSpPr>
            <p:cNvPr id="31" name="node09.body.item-001.paragraph"/>
            <p:cNvSpPr/>
            <p:nvPr/>
          </p:nvSpPr>
          <p:spPr>
            <a:xfrm>
              <a:off x="3581400" y="48260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clear statement</a:t>
              </a:r>
              <a:endParaRPr lang="en-US" sz="1200" spc="0" kern="0" b="0" i="0" dirty="0">
                <a:solidFill>
                  <a:srgbClr val="50658E"/>
                </a:solidFill>
                <a:latin typeface="IBM Plex Sans"/>
                <a:ea typeface="IBM Plex Sans"/>
                <a:cs typeface="IBM Plex Sans"/>
              </a:endParaRPr>
            </a:p>
          </p:txBody>
        </p:sp>
      </p:grpSp>
      <p:grpSp>
        <p:nvGrpSpPr>
          <p:cNvPr id="75" name="node10"/>
          <p:cNvGrpSpPr/>
          <p:nvPr/>
        </p:nvGrpSpPr>
        <p:grpSpPr>
          <a:xfrm>
            <a:off x="6438900" y="1600200"/>
            <a:ext cx="2743200" cy="3886200"/>
            <a:chOff x="6438900" y="1600200"/>
            <a:chExt cx="2743200" cy="3886200"/>
          </a:xfrm>
        </p:grpSpPr>
        <p:sp>
          <p:nvSpPr>
            <p:cNvPr id="32" name="node10.surface"/>
            <p:cNvSpPr/>
            <p:nvPr/>
          </p:nvSpPr>
          <p:spPr>
            <a:xfrm>
              <a:off x="6438900" y="1600200"/>
              <a:ext cx="2743200" cy="3886200"/>
            </a:xfrm>
            <a:prstGeom prst="rect">
              <a:avLst/>
            </a:prstGeom>
            <a:solidFill>
              <a:srgbClr val="E8EEF8"/>
            </a:solidFill>
            <a:ln>
              <a:noFill/>
            </a:ln>
          </p:spPr>
        </p:sp>
        <p:sp>
          <p:nvSpPr>
            <p:cNvPr id="33" name="node10.tab"/>
            <p:cNvSpPr/>
            <p:nvPr/>
          </p:nvSpPr>
          <p:spPr>
            <a:xfrm>
              <a:off x="6438900" y="1600200"/>
              <a:ext cx="775587" cy="228600"/>
            </a:xfrm>
            <a:prstGeom prst="rect">
              <a:avLst/>
            </a:prstGeom>
            <a:solidFill>
              <a:srgbClr val="070154"/>
            </a:solidFill>
            <a:ln>
              <a:noFill/>
            </a:ln>
          </p:spPr>
        </p:sp>
        <p:sp>
          <p:nvSpPr>
            <p:cNvPr id="34" name="node10.label"/>
            <p:cNvSpPr/>
            <p:nvPr/>
          </p:nvSpPr>
          <p:spPr>
            <a:xfrm>
              <a:off x="6515100" y="1644650"/>
              <a:ext cx="623187"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USE CASES</a:t>
              </a:r>
              <a:endParaRPr lang="en-US" sz="800" spc="48" kern="0" b="0" i="0" dirty="0">
                <a:solidFill>
                  <a:srgbClr val="FFFFFF"/>
                </a:solidFill>
                <a:latin typeface="IBM Plex Mono SemiBold"/>
                <a:ea typeface="IBM Plex Mono SemiBold"/>
                <a:cs typeface="IBM Plex Mono SemiBold"/>
              </a:endParaRPr>
            </a:p>
          </p:txBody>
        </p:sp>
      </p:grpSp>
      <p:grpSp>
        <p:nvGrpSpPr>
          <p:cNvPr id="76" name="node11"/>
          <p:cNvGrpSpPr/>
          <p:nvPr/>
        </p:nvGrpSpPr>
        <p:grpSpPr>
          <a:xfrm>
            <a:off x="6667500" y="2057400"/>
            <a:ext cx="2286000" cy="1371600"/>
            <a:chOff x="6667500" y="2057400"/>
            <a:chExt cx="2286000" cy="1371600"/>
          </a:xfrm>
        </p:grpSpPr>
        <p:sp>
          <p:nvSpPr>
            <p:cNvPr id="35" name="node11.container"/>
            <p:cNvSpPr/>
            <p:nvPr/>
          </p:nvSpPr>
          <p:spPr>
            <a:xfrm>
              <a:off x="6667500" y="2057400"/>
              <a:ext cx="2286000" cy="1371600"/>
            </a:xfrm>
            <a:prstGeom prst="rect">
              <a:avLst/>
            </a:prstGeom>
            <a:solidFill>
              <a:srgbClr val="CED7E6"/>
            </a:solidFill>
            <a:ln>
              <a:noFill/>
            </a:ln>
          </p:spPr>
        </p:sp>
        <p:sp>
          <p:nvSpPr>
            <p:cNvPr id="36" name="node11.title"/>
            <p:cNvSpPr/>
            <p:nvPr/>
          </p:nvSpPr>
          <p:spPr>
            <a:xfrm>
              <a:off x="6819900" y="2209800"/>
              <a:ext cx="1981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Propensity scoring</a:t>
              </a:r>
              <a:endParaRPr lang="en-US" sz="1200" spc="0" kern="0" b="0" i="0" dirty="0">
                <a:solidFill>
                  <a:srgbClr val="070154"/>
                </a:solidFill>
                <a:latin typeface="IBM Plex Sans"/>
                <a:ea typeface="IBM Plex Sans"/>
                <a:cs typeface="IBM Plex Sans"/>
              </a:endParaRPr>
            </a:p>
          </p:txBody>
        </p:sp>
        <p:sp>
          <p:nvSpPr>
            <p:cNvPr id="37" name="node11.body.item-001.bullets.item-001.marker"/>
            <p:cNvSpPr/>
            <p:nvPr/>
          </p:nvSpPr>
          <p:spPr>
            <a:xfrm>
              <a:off x="6819900" y="2667000"/>
              <a:ext cx="38100" cy="38100"/>
            </a:xfrm>
            <a:prstGeom prst="rect">
              <a:avLst/>
            </a:prstGeom>
            <a:solidFill>
              <a:srgbClr val="070154"/>
            </a:solidFill>
            <a:ln>
              <a:noFill/>
            </a:ln>
          </p:spPr>
        </p:sp>
        <p:sp>
          <p:nvSpPr>
            <p:cNvPr id="38" name="node11.body.item-001.bullets.item-001.text"/>
            <p:cNvSpPr/>
            <p:nvPr/>
          </p:nvSpPr>
          <p:spPr>
            <a:xfrm>
              <a:off x="6972300" y="2578100"/>
              <a:ext cx="1828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Ranks accounts by likelihood to pay</a:t>
              </a:r>
              <a:endParaRPr lang="en-US" sz="1200" spc="0" kern="0" b="0" i="0" dirty="0">
                <a:solidFill>
                  <a:srgbClr val="070154"/>
                </a:solidFill>
                <a:latin typeface="IBM Plex Sans"/>
                <a:ea typeface="IBM Plex Sans"/>
                <a:cs typeface="IBM Plex Sans"/>
              </a:endParaRPr>
            </a:p>
          </p:txBody>
        </p:sp>
        <p:sp>
          <p:nvSpPr>
            <p:cNvPr id="39" name="node11.body.item-001.bullets.item-002.marker"/>
            <p:cNvSpPr/>
            <p:nvPr/>
          </p:nvSpPr>
          <p:spPr>
            <a:xfrm>
              <a:off x="6819900" y="3136900"/>
              <a:ext cx="38100" cy="38100"/>
            </a:xfrm>
            <a:prstGeom prst="rect">
              <a:avLst/>
            </a:prstGeom>
            <a:solidFill>
              <a:srgbClr val="070154"/>
            </a:solidFill>
            <a:ln>
              <a:noFill/>
            </a:ln>
          </p:spPr>
        </p:sp>
        <p:sp>
          <p:nvSpPr>
            <p:cNvPr id="40" name="node11.body.item-001.bullets.item-002.text"/>
            <p:cNvSpPr/>
            <p:nvPr/>
          </p:nvSpPr>
          <p:spPr>
            <a:xfrm>
              <a:off x="6972300" y="3048000"/>
              <a:ext cx="1828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Sets the daily work queue</a:t>
              </a:r>
              <a:endParaRPr lang="en-US" sz="1200" spc="0" kern="0" b="0" i="0" dirty="0">
                <a:solidFill>
                  <a:srgbClr val="070154"/>
                </a:solidFill>
                <a:latin typeface="IBM Plex Sans"/>
                <a:ea typeface="IBM Plex Sans"/>
                <a:cs typeface="IBM Plex Sans"/>
              </a:endParaRPr>
            </a:p>
          </p:txBody>
        </p:sp>
      </p:grpSp>
      <p:grpSp>
        <p:nvGrpSpPr>
          <p:cNvPr id="77" name="node12"/>
          <p:cNvGrpSpPr/>
          <p:nvPr/>
        </p:nvGrpSpPr>
        <p:grpSpPr>
          <a:xfrm>
            <a:off x="6667500" y="3657600"/>
            <a:ext cx="2286000" cy="1371600"/>
            <a:chOff x="6667500" y="3657600"/>
            <a:chExt cx="2286000" cy="1371600"/>
          </a:xfrm>
        </p:grpSpPr>
        <p:sp>
          <p:nvSpPr>
            <p:cNvPr id="41" name="node12.container"/>
            <p:cNvSpPr/>
            <p:nvPr/>
          </p:nvSpPr>
          <p:spPr>
            <a:xfrm>
              <a:off x="6667500" y="3657600"/>
              <a:ext cx="2286000" cy="1371600"/>
            </a:xfrm>
            <a:prstGeom prst="rect">
              <a:avLst/>
            </a:prstGeom>
            <a:solidFill>
              <a:srgbClr val="CED7E6"/>
            </a:solidFill>
            <a:ln>
              <a:noFill/>
            </a:ln>
          </p:spPr>
        </p:sp>
        <p:sp>
          <p:nvSpPr>
            <p:cNvPr id="42" name="node12.title"/>
            <p:cNvSpPr/>
            <p:nvPr/>
          </p:nvSpPr>
          <p:spPr>
            <a:xfrm>
              <a:off x="6819900" y="3810000"/>
              <a:ext cx="1981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Next-best action</a:t>
              </a:r>
              <a:endParaRPr lang="en-US" sz="1200" spc="0" kern="0" b="0" i="0" dirty="0">
                <a:solidFill>
                  <a:srgbClr val="070154"/>
                </a:solidFill>
                <a:latin typeface="IBM Plex Sans"/>
                <a:ea typeface="IBM Plex Sans"/>
                <a:cs typeface="IBM Plex Sans"/>
              </a:endParaRPr>
            </a:p>
          </p:txBody>
        </p:sp>
        <p:sp>
          <p:nvSpPr>
            <p:cNvPr id="43" name="node12.body.item-001.bullets.item-001.marker"/>
            <p:cNvSpPr/>
            <p:nvPr/>
          </p:nvSpPr>
          <p:spPr>
            <a:xfrm>
              <a:off x="6819900" y="4267200"/>
              <a:ext cx="38100" cy="38100"/>
            </a:xfrm>
            <a:prstGeom prst="rect">
              <a:avLst/>
            </a:prstGeom>
            <a:solidFill>
              <a:srgbClr val="070154"/>
            </a:solidFill>
            <a:ln>
              <a:noFill/>
            </a:ln>
          </p:spPr>
        </p:sp>
        <p:sp>
          <p:nvSpPr>
            <p:cNvPr id="44" name="node12.body.item-001.bullets.item-001.text"/>
            <p:cNvSpPr/>
            <p:nvPr/>
          </p:nvSpPr>
          <p:spPr>
            <a:xfrm>
              <a:off x="6972300" y="4178300"/>
              <a:ext cx="1828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Chooses the call, text or plan</a:t>
              </a:r>
              <a:endParaRPr lang="en-US" sz="1200" spc="0" kern="0" b="0" i="0" dirty="0">
                <a:solidFill>
                  <a:srgbClr val="070154"/>
                </a:solidFill>
                <a:latin typeface="IBM Plex Sans"/>
                <a:ea typeface="IBM Plex Sans"/>
                <a:cs typeface="IBM Plex Sans"/>
              </a:endParaRPr>
            </a:p>
          </p:txBody>
        </p:sp>
        <p:sp>
          <p:nvSpPr>
            <p:cNvPr id="45" name="node12.body.item-001.bullets.item-002.marker"/>
            <p:cNvSpPr/>
            <p:nvPr/>
          </p:nvSpPr>
          <p:spPr>
            <a:xfrm>
              <a:off x="6819900" y="4737100"/>
              <a:ext cx="38100" cy="38100"/>
            </a:xfrm>
            <a:prstGeom prst="rect">
              <a:avLst/>
            </a:prstGeom>
            <a:solidFill>
              <a:srgbClr val="070154"/>
            </a:solidFill>
            <a:ln>
              <a:noFill/>
            </a:ln>
          </p:spPr>
        </p:sp>
        <p:sp>
          <p:nvSpPr>
            <p:cNvPr id="46" name="node12.body.item-001.bullets.item-002.text"/>
            <p:cNvSpPr/>
            <p:nvPr/>
          </p:nvSpPr>
          <p:spPr>
            <a:xfrm>
              <a:off x="6972300" y="4648200"/>
              <a:ext cx="1828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Adapts to each account</a:t>
              </a:r>
              <a:endParaRPr lang="en-US" sz="1200" spc="0" kern="0" b="0" i="0" dirty="0">
                <a:solidFill>
                  <a:srgbClr val="070154"/>
                </a:solidFill>
                <a:latin typeface="IBM Plex Sans"/>
                <a:ea typeface="IBM Plex Sans"/>
                <a:cs typeface="IBM Plex Sans"/>
              </a:endParaRPr>
            </a:p>
          </p:txBody>
        </p:sp>
      </p:grpSp>
      <p:grpSp>
        <p:nvGrpSpPr>
          <p:cNvPr id="78" name="node13"/>
          <p:cNvGrpSpPr/>
          <p:nvPr/>
        </p:nvGrpSpPr>
        <p:grpSpPr>
          <a:xfrm>
            <a:off x="9639300" y="1600200"/>
            <a:ext cx="1828800" cy="3886200"/>
            <a:chOff x="9639300" y="1600200"/>
            <a:chExt cx="1828800" cy="3886200"/>
          </a:xfrm>
        </p:grpSpPr>
        <p:sp>
          <p:nvSpPr>
            <p:cNvPr id="47" name="node13.surface"/>
            <p:cNvSpPr/>
            <p:nvPr/>
          </p:nvSpPr>
          <p:spPr>
            <a:xfrm>
              <a:off x="9639300" y="1600200"/>
              <a:ext cx="1828800" cy="3886200"/>
            </a:xfrm>
            <a:prstGeom prst="rect">
              <a:avLst/>
            </a:prstGeom>
            <a:solidFill>
              <a:srgbClr val="E8EEF8"/>
            </a:solidFill>
            <a:ln>
              <a:noFill/>
            </a:ln>
          </p:spPr>
        </p:sp>
        <p:sp>
          <p:nvSpPr>
            <p:cNvPr id="48" name="node13.tab"/>
            <p:cNvSpPr/>
            <p:nvPr/>
          </p:nvSpPr>
          <p:spPr>
            <a:xfrm>
              <a:off x="9639300" y="1600200"/>
              <a:ext cx="709166" cy="228600"/>
            </a:xfrm>
            <a:prstGeom prst="rect">
              <a:avLst/>
            </a:prstGeom>
            <a:solidFill>
              <a:srgbClr val="070154"/>
            </a:solidFill>
            <a:ln>
              <a:noFill/>
            </a:ln>
          </p:spPr>
        </p:sp>
        <p:sp>
          <p:nvSpPr>
            <p:cNvPr id="49" name="node13.label"/>
            <p:cNvSpPr/>
            <p:nvPr/>
          </p:nvSpPr>
          <p:spPr>
            <a:xfrm>
              <a:off x="9715500" y="1644650"/>
              <a:ext cx="556766"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OUTCOMES</a:t>
              </a:r>
              <a:endParaRPr lang="en-US" sz="800" spc="48" kern="0" b="0" i="0" dirty="0">
                <a:solidFill>
                  <a:srgbClr val="FFFFFF"/>
                </a:solidFill>
                <a:latin typeface="IBM Plex Mono SemiBold"/>
                <a:ea typeface="IBM Plex Mono SemiBold"/>
                <a:cs typeface="IBM Plex Mono SemiBold"/>
              </a:endParaRPr>
            </a:p>
          </p:txBody>
        </p:sp>
      </p:grpSp>
      <p:grpSp>
        <p:nvGrpSpPr>
          <p:cNvPr id="79" name="node14"/>
          <p:cNvGrpSpPr/>
          <p:nvPr/>
        </p:nvGrpSpPr>
        <p:grpSpPr>
          <a:xfrm>
            <a:off x="9867900" y="2057400"/>
            <a:ext cx="1371600" cy="914400"/>
            <a:chOff x="9867900" y="2057400"/>
            <a:chExt cx="1371600" cy="914400"/>
          </a:xfrm>
        </p:grpSpPr>
        <p:sp>
          <p:nvSpPr>
            <p:cNvPr id="50" name="node14.surface"/>
            <p:cNvSpPr/>
            <p:nvPr/>
          </p:nvSpPr>
          <p:spPr>
            <a:xfrm>
              <a:off x="9867900" y="2057400"/>
              <a:ext cx="1371600" cy="914400"/>
            </a:xfrm>
            <a:prstGeom prst="rect">
              <a:avLst/>
            </a:prstGeom>
            <a:solidFill>
              <a:srgbClr val="070154"/>
            </a:solidFill>
            <a:ln>
              <a:noFill/>
            </a:ln>
          </p:spPr>
        </p:sp>
        <p:sp>
          <p:nvSpPr>
            <p:cNvPr id="51" name="node14.text"/>
            <p:cNvSpPr/>
            <p:nvPr/>
          </p:nvSpPr>
          <p:spPr>
            <a:xfrm>
              <a:off x="10020300" y="24066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Faster cash</a:t>
              </a:r>
              <a:endParaRPr lang="en-US" sz="1200" spc="0" kern="0" b="0" i="0" dirty="0">
                <a:solidFill>
                  <a:srgbClr val="FFFFFF"/>
                </a:solidFill>
                <a:latin typeface="IBM Plex Sans"/>
                <a:ea typeface="IBM Plex Sans"/>
                <a:cs typeface="IBM Plex Sans"/>
              </a:endParaRPr>
            </a:p>
          </p:txBody>
        </p:sp>
      </p:grpSp>
      <p:grpSp>
        <p:nvGrpSpPr>
          <p:cNvPr id="80" name="node15"/>
          <p:cNvGrpSpPr/>
          <p:nvPr/>
        </p:nvGrpSpPr>
        <p:grpSpPr>
          <a:xfrm>
            <a:off x="9867900" y="3200400"/>
            <a:ext cx="1371600" cy="914400"/>
            <a:chOff x="9867900" y="3200400"/>
            <a:chExt cx="1371600" cy="914400"/>
          </a:xfrm>
        </p:grpSpPr>
        <p:sp>
          <p:nvSpPr>
            <p:cNvPr id="52" name="node15.surface"/>
            <p:cNvSpPr/>
            <p:nvPr/>
          </p:nvSpPr>
          <p:spPr>
            <a:xfrm>
              <a:off x="9867900" y="3200400"/>
              <a:ext cx="1371600" cy="914400"/>
            </a:xfrm>
            <a:prstGeom prst="rect">
              <a:avLst/>
            </a:prstGeom>
            <a:solidFill>
              <a:srgbClr val="070154"/>
            </a:solidFill>
            <a:ln>
              <a:noFill/>
            </a:ln>
          </p:spPr>
        </p:sp>
        <p:sp>
          <p:nvSpPr>
            <p:cNvPr id="53" name="node15.text"/>
            <p:cNvSpPr/>
            <p:nvPr/>
          </p:nvSpPr>
          <p:spPr>
            <a:xfrm>
              <a:off x="10020300" y="35496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Fewer touches</a:t>
              </a:r>
              <a:endParaRPr lang="en-US" sz="1200" spc="0" kern="0" b="0" i="0" dirty="0">
                <a:solidFill>
                  <a:srgbClr val="FFFFFF"/>
                </a:solidFill>
                <a:latin typeface="IBM Plex Sans"/>
                <a:ea typeface="IBM Plex Sans"/>
                <a:cs typeface="IBM Plex Sans"/>
              </a:endParaRPr>
            </a:p>
          </p:txBody>
        </p:sp>
      </p:grpSp>
      <p:grpSp>
        <p:nvGrpSpPr>
          <p:cNvPr id="81" name="node16"/>
          <p:cNvGrpSpPr/>
          <p:nvPr/>
        </p:nvGrpSpPr>
        <p:grpSpPr>
          <a:xfrm>
            <a:off x="9867900" y="4343400"/>
            <a:ext cx="1371600" cy="914400"/>
            <a:chOff x="9867900" y="4343400"/>
            <a:chExt cx="1371600" cy="914400"/>
          </a:xfrm>
        </p:grpSpPr>
        <p:sp>
          <p:nvSpPr>
            <p:cNvPr id="54" name="node16.surface"/>
            <p:cNvSpPr/>
            <p:nvPr/>
          </p:nvSpPr>
          <p:spPr>
            <a:xfrm>
              <a:off x="9867900" y="4343400"/>
              <a:ext cx="1371600" cy="914400"/>
            </a:xfrm>
            <a:prstGeom prst="rect">
              <a:avLst/>
            </a:prstGeom>
            <a:solidFill>
              <a:srgbClr val="070154"/>
            </a:solidFill>
            <a:ln>
              <a:noFill/>
            </a:ln>
          </p:spPr>
        </p:sp>
        <p:sp>
          <p:nvSpPr>
            <p:cNvPr id="55" name="node16.text"/>
            <p:cNvSpPr/>
            <p:nvPr/>
          </p:nvSpPr>
          <p:spPr>
            <a:xfrm>
              <a:off x="10020300" y="46926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Clearer bills</a:t>
              </a:r>
              <a:endParaRPr lang="en-US" sz="1200" spc="0" kern="0" b="0" i="0" dirty="0">
                <a:solidFill>
                  <a:srgbClr val="FFFFFF"/>
                </a:solidFill>
                <a:latin typeface="IBM Plex Sans"/>
                <a:ea typeface="IBM Plex Sans"/>
                <a:cs typeface="IBM Plex Sans"/>
              </a:endParaRPr>
            </a:p>
          </p:txBody>
        </p:sp>
      </p:grpSp>
      <p:grpSp>
        <p:nvGrpSpPr>
          <p:cNvPr id="82" name="node17"/>
          <p:cNvGrpSpPr/>
          <p:nvPr/>
        </p:nvGrpSpPr>
        <p:grpSpPr>
          <a:xfrm>
            <a:off x="2781300" y="3500679"/>
            <a:ext cx="457200" cy="85242"/>
            <a:chOff x="2781300" y="3500679"/>
            <a:chExt cx="457200" cy="85242"/>
          </a:xfrm>
        </p:grpSpPr>
        <p:sp>
          <p:nvSpPr>
            <p:cNvPr id="56" name="node17.segment-1"/>
            <p:cNvSpPr/>
            <p:nvPr/>
          </p:nvSpPr>
          <p:spPr>
            <a:xfrm>
              <a:off x="2781300" y="35433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57" name="node17.head-end.0"/>
            <p:cNvSpPr/>
            <p:nvPr/>
          </p:nvSpPr>
          <p:spPr>
            <a:xfrm>
              <a:off x="31604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8" name="node17.head-end.1"/>
            <p:cNvSpPr/>
            <p:nvPr/>
          </p:nvSpPr>
          <p:spPr>
            <a:xfrm>
              <a:off x="31604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3" name="node18"/>
          <p:cNvGrpSpPr/>
          <p:nvPr/>
        </p:nvGrpSpPr>
        <p:grpSpPr>
          <a:xfrm>
            <a:off x="5981700" y="3500679"/>
            <a:ext cx="457200" cy="85242"/>
            <a:chOff x="5981700" y="3500679"/>
            <a:chExt cx="457200" cy="85242"/>
          </a:xfrm>
        </p:grpSpPr>
        <p:sp>
          <p:nvSpPr>
            <p:cNvPr id="59" name="node18.segment-1"/>
            <p:cNvSpPr/>
            <p:nvPr/>
          </p:nvSpPr>
          <p:spPr>
            <a:xfrm>
              <a:off x="5981700" y="35433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60" name="node18.head-end.0"/>
            <p:cNvSpPr/>
            <p:nvPr/>
          </p:nvSpPr>
          <p:spPr>
            <a:xfrm>
              <a:off x="63608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1" name="node18.head-end.1"/>
            <p:cNvSpPr/>
            <p:nvPr/>
          </p:nvSpPr>
          <p:spPr>
            <a:xfrm>
              <a:off x="63608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4" name="node19"/>
          <p:cNvGrpSpPr/>
          <p:nvPr/>
        </p:nvGrpSpPr>
        <p:grpSpPr>
          <a:xfrm>
            <a:off x="9182100" y="3500679"/>
            <a:ext cx="457200" cy="85242"/>
            <a:chOff x="9182100" y="3500679"/>
            <a:chExt cx="457200" cy="85242"/>
          </a:xfrm>
        </p:grpSpPr>
        <p:sp>
          <p:nvSpPr>
            <p:cNvPr id="62" name="node19.segment-1"/>
            <p:cNvSpPr/>
            <p:nvPr/>
          </p:nvSpPr>
          <p:spPr>
            <a:xfrm>
              <a:off x="9182100" y="35433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63" name="node19.head-end.0"/>
            <p:cNvSpPr/>
            <p:nvPr/>
          </p:nvSpPr>
          <p:spPr>
            <a:xfrm>
              <a:off x="95612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4" name="node19.head-end.1"/>
            <p:cNvSpPr/>
            <p:nvPr/>
          </p:nvSpPr>
          <p:spPr>
            <a:xfrm>
              <a:off x="95612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5" name="node20"/>
          <p:cNvGrpSpPr/>
          <p:nvPr/>
        </p:nvGrpSpPr>
        <p:grpSpPr>
          <a:xfrm>
            <a:off x="723900" y="5600700"/>
            <a:ext cx="10744200" cy="215900"/>
            <a:chOff x="723900" y="5600700"/>
            <a:chExt cx="10744200" cy="215900"/>
          </a:xfrm>
        </p:grpSpPr>
        <p:sp>
          <p:nvSpPr>
            <p:cNvPr id="65" name="node20.text"/>
            <p:cNvSpPr/>
            <p:nvPr/>
          </p:nvSpPr>
          <p:spPr>
            <a:xfrm>
              <a:off x="723900" y="5600700"/>
              <a:ext cx="1074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Start from the challenge, not the tool: each product pays off when a use case makes it a repeatable action.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ource-16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BUY VERSUS BUILD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shifts buy versus build toward strategic fit</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35</a:t>
            </a:fld>
            <a:endParaRPr lang="en-US" sz="700" spc="0" kern="0" b="0" i="0" dirty="0">
              <a:solidFill>
                <a:srgbClr val="070154"/>
              </a:solidFill>
              <a:latin typeface="IBM Plex Mono SemiBold"/>
              <a:ea typeface="IBM Plex Mono SemiBold"/>
              <a:cs typeface="IBM Plex Mono SemiBold"/>
            </a:endParaRPr>
          </a:p>
        </p:txBody>
      </p:sp>
      <p:grpSp>
        <p:nvGrpSpPr>
          <p:cNvPr id="59" name="node01"/>
          <p:cNvGrpSpPr/>
          <p:nvPr/>
        </p:nvGrpSpPr>
        <p:grpSpPr>
          <a:xfrm>
            <a:off x="723900" y="1600200"/>
            <a:ext cx="2971800" cy="3657600"/>
            <a:chOff x="723900" y="1600200"/>
            <a:chExt cx="2971800" cy="3657600"/>
          </a:xfrm>
        </p:grpSpPr>
        <p:sp>
          <p:nvSpPr>
            <p:cNvPr id="6" name="node01.container"/>
            <p:cNvSpPr/>
            <p:nvPr/>
          </p:nvSpPr>
          <p:spPr>
            <a:xfrm>
              <a:off x="723900" y="1600200"/>
              <a:ext cx="2971800" cy="3657600"/>
            </a:xfrm>
            <a:prstGeom prst="rect">
              <a:avLst/>
            </a:prstGeom>
            <a:solidFill>
              <a:srgbClr val="E8EEF8"/>
            </a:solidFill>
            <a:ln>
              <a:noFill/>
            </a:ln>
          </p:spPr>
        </p:sp>
        <p:sp>
          <p:nvSpPr>
            <p:cNvPr id="7" name="node01.edge"/>
            <p:cNvSpPr/>
            <p:nvPr/>
          </p:nvSpPr>
          <p:spPr>
            <a:xfrm>
              <a:off x="723900" y="1600200"/>
              <a:ext cx="2971800" cy="76200"/>
            </a:xfrm>
            <a:prstGeom prst="rect">
              <a:avLst/>
            </a:prstGeom>
            <a:solidFill>
              <a:srgbClr val="070154"/>
            </a:solidFill>
            <a:ln>
              <a:noFill/>
            </a:ln>
          </p:spPr>
        </p:sp>
        <p:sp>
          <p:nvSpPr>
            <p:cNvPr id="8" name="node01.label"/>
            <p:cNvSpPr/>
            <p:nvPr/>
          </p:nvSpPr>
          <p:spPr>
            <a:xfrm>
              <a:off x="952500" y="19050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BUY</a:t>
              </a:r>
              <a:endParaRPr lang="en-US" sz="800" spc="48" kern="0" b="0" i="0" dirty="0">
                <a:solidFill>
                  <a:srgbClr val="0047FF"/>
                </a:solidFill>
                <a:latin typeface="IBM Plex Mono Medium"/>
                <a:ea typeface="IBM Plex Mono Medium"/>
                <a:cs typeface="IBM Plex Mono Medium"/>
              </a:endParaRPr>
            </a:p>
          </p:txBody>
        </p:sp>
        <p:sp>
          <p:nvSpPr>
            <p:cNvPr id="9" name="node01.title"/>
            <p:cNvSpPr/>
            <p:nvPr/>
          </p:nvSpPr>
          <p:spPr>
            <a:xfrm>
              <a:off x="952500" y="2120900"/>
              <a:ext cx="25146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Accelerate standard capabilities</a:t>
              </a:r>
              <a:endParaRPr lang="en-US" sz="1600" spc="-16" kern="0" b="0" i="0" dirty="0">
                <a:solidFill>
                  <a:srgbClr val="070154"/>
                </a:solidFill>
                <a:latin typeface="IBM Plex Sans SemiBold"/>
                <a:ea typeface="IBM Plex Sans SemiBold"/>
                <a:cs typeface="IBM Plex Sans SemiBold"/>
              </a:endParaRPr>
            </a:p>
          </p:txBody>
        </p:sp>
      </p:grpSp>
      <p:grpSp>
        <p:nvGrpSpPr>
          <p:cNvPr id="60" name="node02"/>
          <p:cNvGrpSpPr/>
          <p:nvPr/>
        </p:nvGrpSpPr>
        <p:grpSpPr>
          <a:xfrm>
            <a:off x="3924300" y="1600200"/>
            <a:ext cx="2971800" cy="3657600"/>
            <a:chOff x="3924300" y="1600200"/>
            <a:chExt cx="2971800" cy="3657600"/>
          </a:xfrm>
        </p:grpSpPr>
        <p:sp>
          <p:nvSpPr>
            <p:cNvPr id="10" name="node02.container"/>
            <p:cNvSpPr/>
            <p:nvPr/>
          </p:nvSpPr>
          <p:spPr>
            <a:xfrm>
              <a:off x="3924300" y="1600200"/>
              <a:ext cx="2971800" cy="3657600"/>
            </a:xfrm>
            <a:prstGeom prst="rect">
              <a:avLst/>
            </a:prstGeom>
            <a:solidFill>
              <a:srgbClr val="E8EEF8"/>
            </a:solidFill>
            <a:ln>
              <a:noFill/>
            </a:ln>
          </p:spPr>
        </p:sp>
        <p:sp>
          <p:nvSpPr>
            <p:cNvPr id="11" name="node02.edge"/>
            <p:cNvSpPr/>
            <p:nvPr/>
          </p:nvSpPr>
          <p:spPr>
            <a:xfrm>
              <a:off x="3924300" y="1600200"/>
              <a:ext cx="2971800" cy="76200"/>
            </a:xfrm>
            <a:prstGeom prst="rect">
              <a:avLst/>
            </a:prstGeom>
            <a:solidFill>
              <a:srgbClr val="0047FF"/>
            </a:solidFill>
            <a:ln>
              <a:noFill/>
            </a:ln>
          </p:spPr>
        </p:sp>
        <p:sp>
          <p:nvSpPr>
            <p:cNvPr id="12" name="node02.label"/>
            <p:cNvSpPr/>
            <p:nvPr/>
          </p:nvSpPr>
          <p:spPr>
            <a:xfrm>
              <a:off x="4152900" y="19050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BUILD</a:t>
              </a:r>
              <a:endParaRPr lang="en-US" sz="800" spc="48" kern="0" b="0" i="0" dirty="0">
                <a:solidFill>
                  <a:srgbClr val="0047FF"/>
                </a:solidFill>
                <a:latin typeface="IBM Plex Mono Medium"/>
                <a:ea typeface="IBM Plex Mono Medium"/>
                <a:cs typeface="IBM Plex Mono Medium"/>
              </a:endParaRPr>
            </a:p>
          </p:txBody>
        </p:sp>
        <p:sp>
          <p:nvSpPr>
            <p:cNvPr id="13" name="node02.title"/>
            <p:cNvSpPr/>
            <p:nvPr/>
          </p:nvSpPr>
          <p:spPr>
            <a:xfrm>
              <a:off x="4152900" y="2120900"/>
              <a:ext cx="25146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Own differentiated capabilities</a:t>
              </a:r>
              <a:endParaRPr lang="en-US" sz="1600" spc="-16" kern="0" b="0" i="0" dirty="0">
                <a:solidFill>
                  <a:srgbClr val="070154"/>
                </a:solidFill>
                <a:latin typeface="IBM Plex Sans SemiBold"/>
                <a:ea typeface="IBM Plex Sans SemiBold"/>
                <a:cs typeface="IBM Plex Sans SemiBold"/>
              </a:endParaRPr>
            </a:p>
          </p:txBody>
        </p:sp>
      </p:grpSp>
      <p:grpSp>
        <p:nvGrpSpPr>
          <p:cNvPr id="61" name="node03"/>
          <p:cNvGrpSpPr/>
          <p:nvPr/>
        </p:nvGrpSpPr>
        <p:grpSpPr>
          <a:xfrm>
            <a:off x="952500" y="2971800"/>
            <a:ext cx="2514600" cy="139700"/>
            <a:chOff x="952500" y="2971800"/>
            <a:chExt cx="2514600" cy="139700"/>
          </a:xfrm>
        </p:grpSpPr>
        <p:sp>
          <p:nvSpPr>
            <p:cNvPr id="14" name="node03.text"/>
            <p:cNvSpPr/>
            <p:nvPr/>
          </p:nvSpPr>
          <p:spPr>
            <a:xfrm>
              <a:off x="952500" y="29718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BEST WHEN</a:t>
              </a:r>
              <a:endParaRPr lang="en-US" sz="800" spc="48" kern="0" b="0" i="0" dirty="0">
                <a:solidFill>
                  <a:srgbClr val="0047FF"/>
                </a:solidFill>
                <a:latin typeface="IBM Plex Mono Medium"/>
                <a:ea typeface="IBM Plex Mono Medium"/>
                <a:cs typeface="IBM Plex Mono Medium"/>
              </a:endParaRPr>
            </a:p>
          </p:txBody>
        </p:sp>
      </p:grpSp>
      <p:grpSp>
        <p:nvGrpSpPr>
          <p:cNvPr id="62" name="node04"/>
          <p:cNvGrpSpPr/>
          <p:nvPr/>
        </p:nvGrpSpPr>
        <p:grpSpPr>
          <a:xfrm>
            <a:off x="952500" y="3200400"/>
            <a:ext cx="2514600" cy="723900"/>
            <a:chOff x="952500" y="3200400"/>
            <a:chExt cx="2514600" cy="723900"/>
          </a:xfrm>
        </p:grpSpPr>
        <p:sp>
          <p:nvSpPr>
            <p:cNvPr id="15" name="node04.source-001.bullet"/>
            <p:cNvSpPr/>
            <p:nvPr/>
          </p:nvSpPr>
          <p:spPr>
            <a:xfrm>
              <a:off x="952500" y="3289300"/>
              <a:ext cx="38100" cy="38100"/>
            </a:xfrm>
            <a:prstGeom prst="rect">
              <a:avLst/>
            </a:prstGeom>
            <a:solidFill>
              <a:srgbClr val="070154"/>
            </a:solidFill>
            <a:ln>
              <a:noFill/>
            </a:ln>
          </p:spPr>
        </p:sp>
        <p:sp>
          <p:nvSpPr>
            <p:cNvPr id="16" name="node04.source-001.text"/>
            <p:cNvSpPr/>
            <p:nvPr/>
          </p:nvSpPr>
          <p:spPr>
            <a:xfrm>
              <a:off x="1104900" y="3200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Needs are common</a:t>
              </a:r>
              <a:endParaRPr lang="en-US" sz="1200" spc="0" kern="0" b="0" i="0" dirty="0">
                <a:solidFill>
                  <a:srgbClr val="070154"/>
                </a:solidFill>
                <a:latin typeface="IBM Plex Sans"/>
                <a:ea typeface="IBM Plex Sans"/>
                <a:cs typeface="IBM Plex Sans"/>
              </a:endParaRPr>
            </a:p>
          </p:txBody>
        </p:sp>
        <p:sp>
          <p:nvSpPr>
            <p:cNvPr id="17" name="node04.source-002.bullet"/>
            <p:cNvSpPr/>
            <p:nvPr/>
          </p:nvSpPr>
          <p:spPr>
            <a:xfrm>
              <a:off x="952500" y="3543300"/>
              <a:ext cx="38100" cy="38100"/>
            </a:xfrm>
            <a:prstGeom prst="rect">
              <a:avLst/>
            </a:prstGeom>
            <a:solidFill>
              <a:srgbClr val="070154"/>
            </a:solidFill>
            <a:ln>
              <a:noFill/>
            </a:ln>
          </p:spPr>
        </p:sp>
        <p:sp>
          <p:nvSpPr>
            <p:cNvPr id="18" name="node04.source-002.text"/>
            <p:cNvSpPr/>
            <p:nvPr/>
          </p:nvSpPr>
          <p:spPr>
            <a:xfrm>
              <a:off x="1104900" y="3454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Speed beats customization</a:t>
              </a:r>
              <a:endParaRPr lang="en-US" sz="1200" spc="0" kern="0" b="0" i="0" dirty="0">
                <a:solidFill>
                  <a:srgbClr val="070154"/>
                </a:solidFill>
                <a:latin typeface="IBM Plex Sans"/>
                <a:ea typeface="IBM Plex Sans"/>
                <a:cs typeface="IBM Plex Sans"/>
              </a:endParaRPr>
            </a:p>
          </p:txBody>
        </p:sp>
        <p:sp>
          <p:nvSpPr>
            <p:cNvPr id="19" name="node04.source-003.bullet"/>
            <p:cNvSpPr/>
            <p:nvPr/>
          </p:nvSpPr>
          <p:spPr>
            <a:xfrm>
              <a:off x="952500" y="3797300"/>
              <a:ext cx="38100" cy="38100"/>
            </a:xfrm>
            <a:prstGeom prst="rect">
              <a:avLst/>
            </a:prstGeom>
            <a:solidFill>
              <a:srgbClr val="070154"/>
            </a:solidFill>
            <a:ln>
              <a:noFill/>
            </a:ln>
          </p:spPr>
        </p:sp>
        <p:sp>
          <p:nvSpPr>
            <p:cNvPr id="20" name="node04.source-003.text"/>
            <p:cNvSpPr/>
            <p:nvPr/>
          </p:nvSpPr>
          <p:spPr>
            <a:xfrm>
              <a:off x="1104900" y="3708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Vendors carry the roadmap</a:t>
              </a:r>
              <a:endParaRPr lang="en-US" sz="1200" spc="0" kern="0" b="0" i="0" dirty="0">
                <a:solidFill>
                  <a:srgbClr val="070154"/>
                </a:solidFill>
                <a:latin typeface="IBM Plex Sans"/>
                <a:ea typeface="IBM Plex Sans"/>
                <a:cs typeface="IBM Plex Sans"/>
              </a:endParaRPr>
            </a:p>
          </p:txBody>
        </p:sp>
      </p:grpSp>
      <p:grpSp>
        <p:nvGrpSpPr>
          <p:cNvPr id="63" name="node05"/>
          <p:cNvGrpSpPr/>
          <p:nvPr/>
        </p:nvGrpSpPr>
        <p:grpSpPr>
          <a:xfrm>
            <a:off x="952500" y="4114800"/>
            <a:ext cx="2514600" cy="139700"/>
            <a:chOff x="952500" y="4114800"/>
            <a:chExt cx="2514600" cy="139700"/>
          </a:xfrm>
        </p:grpSpPr>
        <p:sp>
          <p:nvSpPr>
            <p:cNvPr id="21" name="node05.text"/>
            <p:cNvSpPr/>
            <p:nvPr/>
          </p:nvSpPr>
          <p:spPr>
            <a:xfrm>
              <a:off x="952500" y="41148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TRADE-OFFS</a:t>
              </a:r>
              <a:endParaRPr lang="en-US" sz="800" spc="48" kern="0" b="0" i="0" dirty="0">
                <a:solidFill>
                  <a:srgbClr val="0047FF"/>
                </a:solidFill>
                <a:latin typeface="IBM Plex Mono Medium"/>
                <a:ea typeface="IBM Plex Mono Medium"/>
                <a:cs typeface="IBM Plex Mono Medium"/>
              </a:endParaRPr>
            </a:p>
          </p:txBody>
        </p:sp>
      </p:grpSp>
      <p:grpSp>
        <p:nvGrpSpPr>
          <p:cNvPr id="64" name="node06"/>
          <p:cNvGrpSpPr/>
          <p:nvPr/>
        </p:nvGrpSpPr>
        <p:grpSpPr>
          <a:xfrm>
            <a:off x="952500" y="4343400"/>
            <a:ext cx="2514600" cy="723900"/>
            <a:chOff x="952500" y="4343400"/>
            <a:chExt cx="2514600" cy="723900"/>
          </a:xfrm>
        </p:grpSpPr>
        <p:sp>
          <p:nvSpPr>
            <p:cNvPr id="22" name="node06.source-001.bullet"/>
            <p:cNvSpPr/>
            <p:nvPr/>
          </p:nvSpPr>
          <p:spPr>
            <a:xfrm>
              <a:off x="952500" y="4432300"/>
              <a:ext cx="38100" cy="38100"/>
            </a:xfrm>
            <a:prstGeom prst="rect">
              <a:avLst/>
            </a:prstGeom>
            <a:solidFill>
              <a:srgbClr val="070154"/>
            </a:solidFill>
            <a:ln>
              <a:noFill/>
            </a:ln>
          </p:spPr>
        </p:sp>
        <p:sp>
          <p:nvSpPr>
            <p:cNvPr id="23" name="node06.source-001.text"/>
            <p:cNvSpPr/>
            <p:nvPr/>
          </p:nvSpPr>
          <p:spPr>
            <a:xfrm>
              <a:off x="1104900" y="4343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Fit gaps force compromise</a:t>
              </a:r>
              <a:endParaRPr lang="en-US" sz="1200" spc="0" kern="0" b="0" i="0" dirty="0">
                <a:solidFill>
                  <a:srgbClr val="070154"/>
                </a:solidFill>
                <a:latin typeface="IBM Plex Sans"/>
                <a:ea typeface="IBM Plex Sans"/>
                <a:cs typeface="IBM Plex Sans"/>
              </a:endParaRPr>
            </a:p>
          </p:txBody>
        </p:sp>
        <p:sp>
          <p:nvSpPr>
            <p:cNvPr id="24" name="node06.source-002.bullet"/>
            <p:cNvSpPr/>
            <p:nvPr/>
          </p:nvSpPr>
          <p:spPr>
            <a:xfrm>
              <a:off x="952500" y="4686300"/>
              <a:ext cx="38100" cy="38100"/>
            </a:xfrm>
            <a:prstGeom prst="rect">
              <a:avLst/>
            </a:prstGeom>
            <a:solidFill>
              <a:srgbClr val="070154"/>
            </a:solidFill>
            <a:ln>
              <a:noFill/>
            </a:ln>
          </p:spPr>
        </p:sp>
        <p:sp>
          <p:nvSpPr>
            <p:cNvPr id="25" name="node06.source-002.text"/>
            <p:cNvSpPr/>
            <p:nvPr/>
          </p:nvSpPr>
          <p:spPr>
            <a:xfrm>
              <a:off x="1104900" y="4597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Roadmaps constrain change</a:t>
              </a:r>
              <a:endParaRPr lang="en-US" sz="1200" spc="0" kern="0" b="0" i="0" dirty="0">
                <a:solidFill>
                  <a:srgbClr val="070154"/>
                </a:solidFill>
                <a:latin typeface="IBM Plex Sans"/>
                <a:ea typeface="IBM Plex Sans"/>
                <a:cs typeface="IBM Plex Sans"/>
              </a:endParaRPr>
            </a:p>
          </p:txBody>
        </p:sp>
        <p:sp>
          <p:nvSpPr>
            <p:cNvPr id="26" name="node06.source-003.bullet"/>
            <p:cNvSpPr/>
            <p:nvPr/>
          </p:nvSpPr>
          <p:spPr>
            <a:xfrm>
              <a:off x="952500" y="4940300"/>
              <a:ext cx="38100" cy="38100"/>
            </a:xfrm>
            <a:prstGeom prst="rect">
              <a:avLst/>
            </a:prstGeom>
            <a:solidFill>
              <a:srgbClr val="070154"/>
            </a:solidFill>
            <a:ln>
              <a:noFill/>
            </a:ln>
          </p:spPr>
        </p:sp>
        <p:sp>
          <p:nvSpPr>
            <p:cNvPr id="27" name="node06.source-003.text"/>
            <p:cNvSpPr/>
            <p:nvPr/>
          </p:nvSpPr>
          <p:spPr>
            <a:xfrm>
              <a:off x="1104900" y="4851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Switching costs build up</a:t>
              </a:r>
              <a:endParaRPr lang="en-US" sz="1200" spc="0" kern="0" b="0" i="0" dirty="0">
                <a:solidFill>
                  <a:srgbClr val="070154"/>
                </a:solidFill>
                <a:latin typeface="IBM Plex Sans"/>
                <a:ea typeface="IBM Plex Sans"/>
                <a:cs typeface="IBM Plex Sans"/>
              </a:endParaRPr>
            </a:p>
          </p:txBody>
        </p:sp>
      </p:grpSp>
      <p:grpSp>
        <p:nvGrpSpPr>
          <p:cNvPr id="65" name="node07"/>
          <p:cNvGrpSpPr/>
          <p:nvPr/>
        </p:nvGrpSpPr>
        <p:grpSpPr>
          <a:xfrm>
            <a:off x="4152900" y="2971800"/>
            <a:ext cx="2514600" cy="139700"/>
            <a:chOff x="4152900" y="2971800"/>
            <a:chExt cx="2514600" cy="139700"/>
          </a:xfrm>
        </p:grpSpPr>
        <p:sp>
          <p:nvSpPr>
            <p:cNvPr id="28" name="node07.text"/>
            <p:cNvSpPr/>
            <p:nvPr/>
          </p:nvSpPr>
          <p:spPr>
            <a:xfrm>
              <a:off x="4152900" y="29718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BEST WHEN</a:t>
              </a:r>
              <a:endParaRPr lang="en-US" sz="800" spc="48" kern="0" b="0" i="0" dirty="0">
                <a:solidFill>
                  <a:srgbClr val="0047FF"/>
                </a:solidFill>
                <a:latin typeface="IBM Plex Mono Medium"/>
                <a:ea typeface="IBM Plex Mono Medium"/>
                <a:cs typeface="IBM Plex Mono Medium"/>
              </a:endParaRPr>
            </a:p>
          </p:txBody>
        </p:sp>
      </p:grpSp>
      <p:grpSp>
        <p:nvGrpSpPr>
          <p:cNvPr id="66" name="node08"/>
          <p:cNvGrpSpPr/>
          <p:nvPr/>
        </p:nvGrpSpPr>
        <p:grpSpPr>
          <a:xfrm>
            <a:off x="4152900" y="3200400"/>
            <a:ext cx="2514600" cy="723900"/>
            <a:chOff x="4152900" y="3200400"/>
            <a:chExt cx="2514600" cy="723900"/>
          </a:xfrm>
        </p:grpSpPr>
        <p:sp>
          <p:nvSpPr>
            <p:cNvPr id="29" name="node08.source-001.bullet"/>
            <p:cNvSpPr/>
            <p:nvPr/>
          </p:nvSpPr>
          <p:spPr>
            <a:xfrm>
              <a:off x="4152900" y="3289300"/>
              <a:ext cx="38100" cy="38100"/>
            </a:xfrm>
            <a:prstGeom prst="rect">
              <a:avLst/>
            </a:prstGeom>
            <a:solidFill>
              <a:srgbClr val="070154"/>
            </a:solidFill>
            <a:ln>
              <a:noFill/>
            </a:ln>
          </p:spPr>
        </p:sp>
        <p:sp>
          <p:nvSpPr>
            <p:cNvPr id="30" name="node08.source-001.text"/>
            <p:cNvSpPr/>
            <p:nvPr/>
          </p:nvSpPr>
          <p:spPr>
            <a:xfrm>
              <a:off x="4305300" y="3200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Workflows give an edge</a:t>
              </a:r>
              <a:endParaRPr lang="en-US" sz="1200" spc="0" kern="0" b="0" i="0" dirty="0">
                <a:solidFill>
                  <a:srgbClr val="070154"/>
                </a:solidFill>
                <a:latin typeface="IBM Plex Sans"/>
                <a:ea typeface="IBM Plex Sans"/>
                <a:cs typeface="IBM Plex Sans"/>
              </a:endParaRPr>
            </a:p>
          </p:txBody>
        </p:sp>
        <p:sp>
          <p:nvSpPr>
            <p:cNvPr id="31" name="node08.source-002.bullet"/>
            <p:cNvSpPr/>
            <p:nvPr/>
          </p:nvSpPr>
          <p:spPr>
            <a:xfrm>
              <a:off x="4152900" y="3543300"/>
              <a:ext cx="38100" cy="38100"/>
            </a:xfrm>
            <a:prstGeom prst="rect">
              <a:avLst/>
            </a:prstGeom>
            <a:solidFill>
              <a:srgbClr val="070154"/>
            </a:solidFill>
            <a:ln>
              <a:noFill/>
            </a:ln>
          </p:spPr>
        </p:sp>
        <p:sp>
          <p:nvSpPr>
            <p:cNvPr id="32" name="node08.source-002.text"/>
            <p:cNvSpPr/>
            <p:nvPr/>
          </p:nvSpPr>
          <p:spPr>
            <a:xfrm>
              <a:off x="4305300" y="3454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and roadmap control</a:t>
              </a:r>
              <a:endParaRPr lang="en-US" sz="1200" spc="0" kern="0" b="0" i="0" dirty="0">
                <a:solidFill>
                  <a:srgbClr val="070154"/>
                </a:solidFill>
                <a:latin typeface="IBM Plex Sans"/>
                <a:ea typeface="IBM Plex Sans"/>
                <a:cs typeface="IBM Plex Sans"/>
              </a:endParaRPr>
            </a:p>
          </p:txBody>
        </p:sp>
        <p:sp>
          <p:nvSpPr>
            <p:cNvPr id="33" name="node08.source-003.bullet"/>
            <p:cNvSpPr/>
            <p:nvPr/>
          </p:nvSpPr>
          <p:spPr>
            <a:xfrm>
              <a:off x="4152900" y="3797300"/>
              <a:ext cx="38100" cy="38100"/>
            </a:xfrm>
            <a:prstGeom prst="rect">
              <a:avLst/>
            </a:prstGeom>
            <a:solidFill>
              <a:srgbClr val="070154"/>
            </a:solidFill>
            <a:ln>
              <a:noFill/>
            </a:ln>
          </p:spPr>
        </p:sp>
        <p:sp>
          <p:nvSpPr>
            <p:cNvPr id="34" name="node08.source-003.text"/>
            <p:cNvSpPr/>
            <p:nvPr/>
          </p:nvSpPr>
          <p:spPr>
            <a:xfrm>
              <a:off x="4305300" y="3708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Talent is already in place</a:t>
              </a:r>
              <a:endParaRPr lang="en-US" sz="1200" spc="0" kern="0" b="0" i="0" dirty="0">
                <a:solidFill>
                  <a:srgbClr val="070154"/>
                </a:solidFill>
                <a:latin typeface="IBM Plex Sans"/>
                <a:ea typeface="IBM Plex Sans"/>
                <a:cs typeface="IBM Plex Sans"/>
              </a:endParaRPr>
            </a:p>
          </p:txBody>
        </p:sp>
      </p:grpSp>
      <p:grpSp>
        <p:nvGrpSpPr>
          <p:cNvPr id="67" name="node09"/>
          <p:cNvGrpSpPr/>
          <p:nvPr/>
        </p:nvGrpSpPr>
        <p:grpSpPr>
          <a:xfrm>
            <a:off x="4152900" y="4114800"/>
            <a:ext cx="2514600" cy="139700"/>
            <a:chOff x="4152900" y="4114800"/>
            <a:chExt cx="2514600" cy="139700"/>
          </a:xfrm>
        </p:grpSpPr>
        <p:sp>
          <p:nvSpPr>
            <p:cNvPr id="35" name="node09.text"/>
            <p:cNvSpPr/>
            <p:nvPr/>
          </p:nvSpPr>
          <p:spPr>
            <a:xfrm>
              <a:off x="4152900" y="41148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TRADE-OFFS</a:t>
              </a:r>
              <a:endParaRPr lang="en-US" sz="800" spc="48" kern="0" b="0" i="0" dirty="0">
                <a:solidFill>
                  <a:srgbClr val="0047FF"/>
                </a:solidFill>
                <a:latin typeface="IBM Plex Mono Medium"/>
                <a:ea typeface="IBM Plex Mono Medium"/>
                <a:cs typeface="IBM Plex Mono Medium"/>
              </a:endParaRPr>
            </a:p>
          </p:txBody>
        </p:sp>
      </p:grpSp>
      <p:grpSp>
        <p:nvGrpSpPr>
          <p:cNvPr id="68" name="node10"/>
          <p:cNvGrpSpPr/>
          <p:nvPr/>
        </p:nvGrpSpPr>
        <p:grpSpPr>
          <a:xfrm>
            <a:off x="4152900" y="4343400"/>
            <a:ext cx="2514600" cy="723900"/>
            <a:chOff x="4152900" y="4343400"/>
            <a:chExt cx="2514600" cy="723900"/>
          </a:xfrm>
        </p:grpSpPr>
        <p:sp>
          <p:nvSpPr>
            <p:cNvPr id="36" name="node10.source-001.bullet"/>
            <p:cNvSpPr/>
            <p:nvPr/>
          </p:nvSpPr>
          <p:spPr>
            <a:xfrm>
              <a:off x="4152900" y="4432300"/>
              <a:ext cx="38100" cy="38100"/>
            </a:xfrm>
            <a:prstGeom prst="rect">
              <a:avLst/>
            </a:prstGeom>
            <a:solidFill>
              <a:srgbClr val="070154"/>
            </a:solidFill>
            <a:ln>
              <a:noFill/>
            </a:ln>
          </p:spPr>
        </p:sp>
        <p:sp>
          <p:nvSpPr>
            <p:cNvPr id="37" name="node10.source-001.text"/>
            <p:cNvSpPr/>
            <p:nvPr/>
          </p:nvSpPr>
          <p:spPr>
            <a:xfrm>
              <a:off x="4305300" y="4343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Needs durable capability</a:t>
              </a:r>
              <a:endParaRPr lang="en-US" sz="1200" spc="0" kern="0" b="0" i="0" dirty="0">
                <a:solidFill>
                  <a:srgbClr val="070154"/>
                </a:solidFill>
                <a:latin typeface="IBM Plex Sans"/>
                <a:ea typeface="IBM Plex Sans"/>
                <a:cs typeface="IBM Plex Sans"/>
              </a:endParaRPr>
            </a:p>
          </p:txBody>
        </p:sp>
        <p:sp>
          <p:nvSpPr>
            <p:cNvPr id="38" name="node10.source-002.bullet"/>
            <p:cNvSpPr/>
            <p:nvPr/>
          </p:nvSpPr>
          <p:spPr>
            <a:xfrm>
              <a:off x="4152900" y="4686300"/>
              <a:ext cx="38100" cy="38100"/>
            </a:xfrm>
            <a:prstGeom prst="rect">
              <a:avLst/>
            </a:prstGeom>
            <a:solidFill>
              <a:srgbClr val="070154"/>
            </a:solidFill>
            <a:ln>
              <a:noFill/>
            </a:ln>
          </p:spPr>
        </p:sp>
        <p:sp>
          <p:nvSpPr>
            <p:cNvPr id="39" name="node10.source-002.text"/>
            <p:cNvSpPr/>
            <p:nvPr/>
          </p:nvSpPr>
          <p:spPr>
            <a:xfrm>
              <a:off x="4305300" y="4597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You own maintenance</a:t>
              </a:r>
              <a:endParaRPr lang="en-US" sz="1200" spc="0" kern="0" b="0" i="0" dirty="0">
                <a:solidFill>
                  <a:srgbClr val="070154"/>
                </a:solidFill>
                <a:latin typeface="IBM Plex Sans"/>
                <a:ea typeface="IBM Plex Sans"/>
                <a:cs typeface="IBM Plex Sans"/>
              </a:endParaRPr>
            </a:p>
          </p:txBody>
        </p:sp>
        <p:sp>
          <p:nvSpPr>
            <p:cNvPr id="40" name="node10.source-003.bullet"/>
            <p:cNvSpPr/>
            <p:nvPr/>
          </p:nvSpPr>
          <p:spPr>
            <a:xfrm>
              <a:off x="4152900" y="4940300"/>
              <a:ext cx="38100" cy="38100"/>
            </a:xfrm>
            <a:prstGeom prst="rect">
              <a:avLst/>
            </a:prstGeom>
            <a:solidFill>
              <a:srgbClr val="070154"/>
            </a:solidFill>
            <a:ln>
              <a:noFill/>
            </a:ln>
          </p:spPr>
        </p:sp>
        <p:sp>
          <p:nvSpPr>
            <p:cNvPr id="41" name="node10.source-003.text"/>
            <p:cNvSpPr/>
            <p:nvPr/>
          </p:nvSpPr>
          <p:spPr>
            <a:xfrm>
              <a:off x="4305300" y="4851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Hiring takes time</a:t>
              </a:r>
              <a:endParaRPr lang="en-US" sz="1200" spc="0" kern="0" b="0" i="0" dirty="0">
                <a:solidFill>
                  <a:srgbClr val="070154"/>
                </a:solidFill>
                <a:latin typeface="IBM Plex Sans"/>
                <a:ea typeface="IBM Plex Sans"/>
                <a:cs typeface="IBM Plex Sans"/>
              </a:endParaRPr>
            </a:p>
          </p:txBody>
        </p:sp>
      </p:grpSp>
      <p:grpSp>
        <p:nvGrpSpPr>
          <p:cNvPr id="69" name="node11"/>
          <p:cNvGrpSpPr/>
          <p:nvPr/>
        </p:nvGrpSpPr>
        <p:grpSpPr>
          <a:xfrm>
            <a:off x="7124700" y="1600200"/>
            <a:ext cx="4343400" cy="3657600"/>
            <a:chOff x="7124700" y="1600200"/>
            <a:chExt cx="4343400" cy="3657600"/>
          </a:xfrm>
        </p:grpSpPr>
        <p:sp>
          <p:nvSpPr>
            <p:cNvPr id="42" name="node11.container"/>
            <p:cNvSpPr/>
            <p:nvPr/>
          </p:nvSpPr>
          <p:spPr>
            <a:xfrm>
              <a:off x="7124700" y="1600200"/>
              <a:ext cx="4343400" cy="3657600"/>
            </a:xfrm>
            <a:prstGeom prst="rect">
              <a:avLst/>
            </a:prstGeom>
            <a:solidFill>
              <a:srgbClr val="E8EEF8"/>
            </a:solidFill>
            <a:ln>
              <a:noFill/>
            </a:ln>
          </p:spPr>
        </p:sp>
        <p:sp>
          <p:nvSpPr>
            <p:cNvPr id="43" name="node11.edge"/>
            <p:cNvSpPr/>
            <p:nvPr/>
          </p:nvSpPr>
          <p:spPr>
            <a:xfrm>
              <a:off x="7124700" y="1600200"/>
              <a:ext cx="4343400" cy="76200"/>
            </a:xfrm>
            <a:prstGeom prst="rect">
              <a:avLst/>
            </a:prstGeom>
            <a:solidFill>
              <a:srgbClr val="F900D3"/>
            </a:solidFill>
            <a:ln>
              <a:noFill/>
            </a:ln>
          </p:spPr>
        </p:sp>
        <p:sp>
          <p:nvSpPr>
            <p:cNvPr id="44" name="node11.label"/>
            <p:cNvSpPr/>
            <p:nvPr/>
          </p:nvSpPr>
          <p:spPr>
            <a:xfrm>
              <a:off x="7353300" y="1905000"/>
              <a:ext cx="3886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MODERNIZATION ECONOMICS</a:t>
              </a:r>
              <a:endParaRPr lang="en-US" sz="800" spc="48" kern="0" b="0" i="0" dirty="0">
                <a:solidFill>
                  <a:srgbClr val="0047FF"/>
                </a:solidFill>
                <a:latin typeface="IBM Plex Mono Medium"/>
                <a:ea typeface="IBM Plex Mono Medium"/>
                <a:cs typeface="IBM Plex Mono Medium"/>
              </a:endParaRPr>
            </a:p>
          </p:txBody>
        </p:sp>
        <p:sp>
          <p:nvSpPr>
            <p:cNvPr id="45" name="node11.title"/>
            <p:cNvSpPr/>
            <p:nvPr/>
          </p:nvSpPr>
          <p:spPr>
            <a:xfrm>
              <a:off x="7353300" y="2120900"/>
              <a:ext cx="3886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AI lowers cost at every stage</a:t>
              </a:r>
              <a:endParaRPr lang="en-US" sz="1600" spc="-16" kern="0" b="0" i="0" dirty="0">
                <a:solidFill>
                  <a:srgbClr val="070154"/>
                </a:solidFill>
                <a:latin typeface="IBM Plex Sans SemiBold"/>
                <a:ea typeface="IBM Plex Sans SemiBold"/>
                <a:cs typeface="IBM Plex Sans SemiBold"/>
              </a:endParaRPr>
            </a:p>
          </p:txBody>
        </p:sp>
      </p:grpSp>
      <p:grpSp>
        <p:nvGrpSpPr>
          <p:cNvPr id="70" name="node12"/>
          <p:cNvGrpSpPr/>
          <p:nvPr/>
        </p:nvGrpSpPr>
        <p:grpSpPr>
          <a:xfrm>
            <a:off x="7353300" y="2514600"/>
            <a:ext cx="3886200" cy="139700"/>
            <a:chOff x="7353300" y="2514600"/>
            <a:chExt cx="3886200" cy="139700"/>
          </a:xfrm>
        </p:grpSpPr>
        <p:sp>
          <p:nvSpPr>
            <p:cNvPr id="46" name="node12.text"/>
            <p:cNvSpPr/>
            <p:nvPr/>
          </p:nvSpPr>
          <p:spPr>
            <a:xfrm>
              <a:off x="7353300" y="2514600"/>
              <a:ext cx="3886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PLAN AND UNDERSTAND</a:t>
              </a:r>
              <a:endParaRPr lang="en-US" sz="800" spc="48" kern="0" b="0" i="0" dirty="0">
                <a:solidFill>
                  <a:srgbClr val="0047FF"/>
                </a:solidFill>
                <a:latin typeface="IBM Plex Mono Medium"/>
                <a:ea typeface="IBM Plex Mono Medium"/>
                <a:cs typeface="IBM Plex Mono Medium"/>
              </a:endParaRPr>
            </a:p>
          </p:txBody>
        </p:sp>
      </p:grpSp>
      <p:grpSp>
        <p:nvGrpSpPr>
          <p:cNvPr id="71" name="node13"/>
          <p:cNvGrpSpPr/>
          <p:nvPr/>
        </p:nvGrpSpPr>
        <p:grpSpPr>
          <a:xfrm>
            <a:off x="7353300" y="2717800"/>
            <a:ext cx="3886200" cy="215900"/>
            <a:chOff x="7353300" y="2717800"/>
            <a:chExt cx="3886200" cy="215900"/>
          </a:xfrm>
        </p:grpSpPr>
        <p:sp>
          <p:nvSpPr>
            <p:cNvPr id="47" name="node13.text"/>
            <p:cNvSpPr/>
            <p:nvPr/>
          </p:nvSpPr>
          <p:spPr>
            <a:xfrm>
              <a:off x="7353300" y="2717800"/>
              <a:ext cx="3886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Faster discovery, mapping and requirements</a:t>
              </a:r>
              <a:endParaRPr lang="en-US" sz="1200" spc="0" kern="0" b="0" i="0" dirty="0">
                <a:solidFill>
                  <a:srgbClr val="070154"/>
                </a:solidFill>
                <a:latin typeface="IBM Plex Sans"/>
                <a:ea typeface="IBM Plex Sans"/>
                <a:cs typeface="IBM Plex Sans"/>
              </a:endParaRPr>
            </a:p>
          </p:txBody>
        </p:sp>
      </p:grpSp>
      <p:grpSp>
        <p:nvGrpSpPr>
          <p:cNvPr id="72" name="node14"/>
          <p:cNvGrpSpPr/>
          <p:nvPr/>
        </p:nvGrpSpPr>
        <p:grpSpPr>
          <a:xfrm>
            <a:off x="7353300" y="3009900"/>
            <a:ext cx="3886200" cy="190500"/>
            <a:chOff x="7353300" y="3009900"/>
            <a:chExt cx="3886200" cy="190500"/>
          </a:xfrm>
        </p:grpSpPr>
        <p:sp>
          <p:nvSpPr>
            <p:cNvPr id="48" name="node14.text"/>
            <p:cNvSpPr/>
            <p:nvPr/>
          </p:nvSpPr>
          <p:spPr>
            <a:xfrm>
              <a:off x="7353300" y="3009900"/>
              <a:ext cx="3886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Weeks of analysis become days.</a:t>
              </a:r>
              <a:endParaRPr lang="en-US" sz="1100" spc="0" kern="0" b="0" i="0" dirty="0">
                <a:solidFill>
                  <a:srgbClr val="50658E"/>
                </a:solidFill>
                <a:latin typeface="IBM Plex Sans"/>
                <a:ea typeface="IBM Plex Sans"/>
                <a:cs typeface="IBM Plex Sans"/>
              </a:endParaRPr>
            </a:p>
          </p:txBody>
        </p:sp>
      </p:grpSp>
      <p:sp>
        <p:nvSpPr>
          <p:cNvPr id="49" name="node15"/>
          <p:cNvSpPr/>
          <p:nvPr/>
        </p:nvSpPr>
        <p:spPr>
          <a:xfrm>
            <a:off x="7353300" y="3314700"/>
            <a:ext cx="3886200" cy="9525"/>
          </a:xfrm>
          <a:prstGeom prst="rect">
            <a:avLst/>
          </a:prstGeom>
          <a:solidFill>
            <a:srgbClr val="CED7E6"/>
          </a:solidFill>
          <a:ln>
            <a:noFill/>
          </a:ln>
        </p:spPr>
      </p:sp>
      <p:grpSp>
        <p:nvGrpSpPr>
          <p:cNvPr id="73" name="node16"/>
          <p:cNvGrpSpPr/>
          <p:nvPr/>
        </p:nvGrpSpPr>
        <p:grpSpPr>
          <a:xfrm>
            <a:off x="7353300" y="3429000"/>
            <a:ext cx="3886200" cy="139700"/>
            <a:chOff x="7353300" y="3429000"/>
            <a:chExt cx="3886200" cy="139700"/>
          </a:xfrm>
        </p:grpSpPr>
        <p:sp>
          <p:nvSpPr>
            <p:cNvPr id="50" name="node16.text"/>
            <p:cNvSpPr/>
            <p:nvPr/>
          </p:nvSpPr>
          <p:spPr>
            <a:xfrm>
              <a:off x="7353300" y="3429000"/>
              <a:ext cx="3886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IMPLEMENT AND BUILD</a:t>
              </a:r>
              <a:endParaRPr lang="en-US" sz="800" spc="48" kern="0" b="0" i="0" dirty="0">
                <a:solidFill>
                  <a:srgbClr val="0047FF"/>
                </a:solidFill>
                <a:latin typeface="IBM Plex Mono Medium"/>
                <a:ea typeface="IBM Plex Mono Medium"/>
                <a:cs typeface="IBM Plex Mono Medium"/>
              </a:endParaRPr>
            </a:p>
          </p:txBody>
        </p:sp>
      </p:grpSp>
      <p:grpSp>
        <p:nvGrpSpPr>
          <p:cNvPr id="74" name="node17"/>
          <p:cNvGrpSpPr/>
          <p:nvPr/>
        </p:nvGrpSpPr>
        <p:grpSpPr>
          <a:xfrm>
            <a:off x="7353300" y="3632200"/>
            <a:ext cx="3886200" cy="215900"/>
            <a:chOff x="7353300" y="3632200"/>
            <a:chExt cx="3886200" cy="215900"/>
          </a:xfrm>
        </p:grpSpPr>
        <p:sp>
          <p:nvSpPr>
            <p:cNvPr id="51" name="node17.text"/>
            <p:cNvSpPr/>
            <p:nvPr/>
          </p:nvSpPr>
          <p:spPr>
            <a:xfrm>
              <a:off x="7353300" y="3632200"/>
              <a:ext cx="3886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Accelerate coding, testing and migration</a:t>
              </a:r>
              <a:endParaRPr lang="en-US" sz="1200" spc="0" kern="0" b="0" i="0" dirty="0">
                <a:solidFill>
                  <a:srgbClr val="070154"/>
                </a:solidFill>
                <a:latin typeface="IBM Plex Sans"/>
                <a:ea typeface="IBM Plex Sans"/>
                <a:cs typeface="IBM Plex Sans"/>
              </a:endParaRPr>
            </a:p>
          </p:txBody>
        </p:sp>
      </p:grpSp>
      <p:grpSp>
        <p:nvGrpSpPr>
          <p:cNvPr id="75" name="node18"/>
          <p:cNvGrpSpPr/>
          <p:nvPr/>
        </p:nvGrpSpPr>
        <p:grpSpPr>
          <a:xfrm>
            <a:off x="7353300" y="3924300"/>
            <a:ext cx="3886200" cy="190500"/>
            <a:chOff x="7353300" y="3924300"/>
            <a:chExt cx="3886200" cy="190500"/>
          </a:xfrm>
        </p:grpSpPr>
        <p:sp>
          <p:nvSpPr>
            <p:cNvPr id="52" name="node18.text"/>
            <p:cNvSpPr/>
            <p:nvPr/>
          </p:nvSpPr>
          <p:spPr>
            <a:xfrm>
              <a:off x="7353300" y="3924300"/>
              <a:ext cx="3886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Agents draft, people review.</a:t>
              </a:r>
              <a:endParaRPr lang="en-US" sz="1100" spc="0" kern="0" b="0" i="0" dirty="0">
                <a:solidFill>
                  <a:srgbClr val="50658E"/>
                </a:solidFill>
                <a:latin typeface="IBM Plex Sans"/>
                <a:ea typeface="IBM Plex Sans"/>
                <a:cs typeface="IBM Plex Sans"/>
              </a:endParaRPr>
            </a:p>
          </p:txBody>
        </p:sp>
      </p:grpSp>
      <p:sp>
        <p:nvSpPr>
          <p:cNvPr id="53" name="node19"/>
          <p:cNvSpPr/>
          <p:nvPr/>
        </p:nvSpPr>
        <p:spPr>
          <a:xfrm>
            <a:off x="7353300" y="4229100"/>
            <a:ext cx="3886200" cy="9525"/>
          </a:xfrm>
          <a:prstGeom prst="rect">
            <a:avLst/>
          </a:prstGeom>
          <a:solidFill>
            <a:srgbClr val="CED7E6"/>
          </a:solidFill>
          <a:ln>
            <a:noFill/>
          </a:ln>
        </p:spPr>
      </p:sp>
      <p:grpSp>
        <p:nvGrpSpPr>
          <p:cNvPr id="76" name="node20"/>
          <p:cNvGrpSpPr/>
          <p:nvPr/>
        </p:nvGrpSpPr>
        <p:grpSpPr>
          <a:xfrm>
            <a:off x="7353300" y="4343400"/>
            <a:ext cx="3886200" cy="139700"/>
            <a:chOff x="7353300" y="4343400"/>
            <a:chExt cx="3886200" cy="139700"/>
          </a:xfrm>
        </p:grpSpPr>
        <p:sp>
          <p:nvSpPr>
            <p:cNvPr id="54" name="node20.text"/>
            <p:cNvSpPr/>
            <p:nvPr/>
          </p:nvSpPr>
          <p:spPr>
            <a:xfrm>
              <a:off x="7353300" y="4343400"/>
              <a:ext cx="3886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MAINTAIN LEGACY</a:t>
              </a:r>
              <a:endParaRPr lang="en-US" sz="800" spc="48" kern="0" b="0" i="0" dirty="0">
                <a:solidFill>
                  <a:srgbClr val="0047FF"/>
                </a:solidFill>
                <a:latin typeface="IBM Plex Mono Medium"/>
                <a:ea typeface="IBM Plex Mono Medium"/>
                <a:cs typeface="IBM Plex Mono Medium"/>
              </a:endParaRPr>
            </a:p>
          </p:txBody>
        </p:sp>
      </p:grpSp>
      <p:grpSp>
        <p:nvGrpSpPr>
          <p:cNvPr id="77" name="node21"/>
          <p:cNvGrpSpPr/>
          <p:nvPr/>
        </p:nvGrpSpPr>
        <p:grpSpPr>
          <a:xfrm>
            <a:off x="7353300" y="4546600"/>
            <a:ext cx="3886200" cy="215900"/>
            <a:chOff x="7353300" y="4546600"/>
            <a:chExt cx="3886200" cy="215900"/>
          </a:xfrm>
        </p:grpSpPr>
        <p:sp>
          <p:nvSpPr>
            <p:cNvPr id="55" name="node21.text"/>
            <p:cNvSpPr/>
            <p:nvPr/>
          </p:nvSpPr>
          <p:spPr>
            <a:xfrm>
              <a:off x="7353300" y="4546600"/>
              <a:ext cx="3886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Cut run cost and reliance on scarce skills</a:t>
              </a:r>
              <a:endParaRPr lang="en-US" sz="1200" spc="0" kern="0" b="0" i="0" dirty="0">
                <a:solidFill>
                  <a:srgbClr val="070154"/>
                </a:solidFill>
                <a:latin typeface="IBM Plex Sans"/>
                <a:ea typeface="IBM Plex Sans"/>
                <a:cs typeface="IBM Plex Sans"/>
              </a:endParaRPr>
            </a:p>
          </p:txBody>
        </p:sp>
      </p:grpSp>
      <p:grpSp>
        <p:nvGrpSpPr>
          <p:cNvPr id="78" name="node22"/>
          <p:cNvGrpSpPr/>
          <p:nvPr/>
        </p:nvGrpSpPr>
        <p:grpSpPr>
          <a:xfrm>
            <a:off x="7353300" y="4838700"/>
            <a:ext cx="3886200" cy="190500"/>
            <a:chOff x="7353300" y="4838700"/>
            <a:chExt cx="3886200" cy="190500"/>
          </a:xfrm>
        </p:grpSpPr>
        <p:sp>
          <p:nvSpPr>
            <p:cNvPr id="56" name="node22.text"/>
            <p:cNvSpPr/>
            <p:nvPr/>
          </p:nvSpPr>
          <p:spPr>
            <a:xfrm>
              <a:off x="7353300" y="4838700"/>
              <a:ext cx="3886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Fewer specialists on call.</a:t>
              </a:r>
              <a:endParaRPr lang="en-US" sz="1100" spc="0" kern="0" b="0" i="0" dirty="0">
                <a:solidFill>
                  <a:srgbClr val="50658E"/>
                </a:solidFill>
                <a:latin typeface="IBM Plex Sans"/>
                <a:ea typeface="IBM Plex Sans"/>
                <a:cs typeface="IBM Plex Sans"/>
              </a:endParaRPr>
            </a:p>
          </p:txBody>
        </p:sp>
      </p:grpSp>
      <p:grpSp>
        <p:nvGrpSpPr>
          <p:cNvPr id="79" name="node23"/>
          <p:cNvGrpSpPr/>
          <p:nvPr/>
        </p:nvGrpSpPr>
        <p:grpSpPr>
          <a:xfrm>
            <a:off x="723900" y="5486400"/>
            <a:ext cx="10744200" cy="457200"/>
            <a:chOff x="723900" y="5486400"/>
            <a:chExt cx="10744200" cy="457200"/>
          </a:xfrm>
        </p:grpSpPr>
        <p:sp>
          <p:nvSpPr>
            <p:cNvPr id="57" name="node23.surface"/>
            <p:cNvSpPr/>
            <p:nvPr/>
          </p:nvSpPr>
          <p:spPr>
            <a:xfrm>
              <a:off x="723900" y="5486400"/>
              <a:ext cx="10744200" cy="457200"/>
            </a:xfrm>
            <a:prstGeom prst="rect">
              <a:avLst/>
            </a:prstGeom>
            <a:solidFill>
              <a:srgbClr val="070154"/>
            </a:solidFill>
            <a:ln>
              <a:noFill/>
            </a:ln>
          </p:spPr>
        </p:sp>
        <p:sp>
          <p:nvSpPr>
            <p:cNvPr id="58" name="node23.text"/>
            <p:cNvSpPr/>
            <p:nvPr/>
          </p:nvSpPr>
          <p:spPr>
            <a:xfrm>
              <a:off x="876300" y="5619750"/>
              <a:ext cx="10439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As AI lowers planning, build and run costs, choose by strategic fit, differentiation and ownership.</a:t>
              </a:r>
              <a:endParaRPr lang="en-US" sz="1100" spc="0" kern="0" b="0" i="0" dirty="0">
                <a:solidFill>
                  <a:srgbClr val="FFFFFF"/>
                </a:solidFill>
                <a:latin typeface="IBM Plex Sans"/>
                <a:ea typeface="IBM Plex Sans"/>
                <a:cs typeface="IBM Plex Sans"/>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ource-31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THIS MATTERS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changes how product and engineering operate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36</a:t>
            </a:fld>
            <a:endParaRPr lang="en-US" sz="700" spc="0" kern="0" b="0" i="0" dirty="0">
              <a:solidFill>
                <a:srgbClr val="070154"/>
              </a:solidFill>
              <a:latin typeface="IBM Plex Mono SemiBold"/>
              <a:ea typeface="IBM Plex Mono SemiBold"/>
              <a:cs typeface="IBM Plex Mono SemiBold"/>
            </a:endParaRPr>
          </a:p>
        </p:txBody>
      </p:sp>
      <p:grpSp>
        <p:nvGrpSpPr>
          <p:cNvPr id="43" name="node01"/>
          <p:cNvGrpSpPr/>
          <p:nvPr/>
        </p:nvGrpSpPr>
        <p:grpSpPr>
          <a:xfrm>
            <a:off x="723900" y="1600200"/>
            <a:ext cx="4343400" cy="139700"/>
            <a:chOff x="723900" y="1600200"/>
            <a:chExt cx="4343400" cy="139700"/>
          </a:xfrm>
        </p:grpSpPr>
        <p:sp>
          <p:nvSpPr>
            <p:cNvPr id="6" name="node01.text"/>
            <p:cNvSpPr/>
            <p:nvPr/>
          </p:nvSpPr>
          <p:spPr>
            <a:xfrm>
              <a:off x="723900" y="1600200"/>
              <a:ext cx="4343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WHY AI CHANGES THE OPERATING MODEL</a:t>
              </a:r>
              <a:endParaRPr lang="en-US" sz="800" spc="48" kern="0" b="0" i="0" dirty="0">
                <a:solidFill>
                  <a:srgbClr val="50658E"/>
                </a:solidFill>
                <a:latin typeface="IBM Plex Mono Medium"/>
                <a:ea typeface="IBM Plex Mono Medium"/>
                <a:cs typeface="IBM Plex Mono Medium"/>
              </a:endParaRPr>
            </a:p>
          </p:txBody>
        </p:sp>
      </p:grpSp>
      <p:grpSp>
        <p:nvGrpSpPr>
          <p:cNvPr id="44" name="node02"/>
          <p:cNvGrpSpPr/>
          <p:nvPr/>
        </p:nvGrpSpPr>
        <p:grpSpPr>
          <a:xfrm>
            <a:off x="723900" y="2057400"/>
            <a:ext cx="4343400" cy="2463800"/>
            <a:chOff x="723900" y="2057400"/>
            <a:chExt cx="4343400" cy="2463800"/>
          </a:xfrm>
        </p:grpSpPr>
        <p:sp>
          <p:nvSpPr>
            <p:cNvPr id="7" name="node02.source-001.number"/>
            <p:cNvSpPr/>
            <p:nvPr/>
          </p:nvSpPr>
          <p:spPr>
            <a:xfrm>
              <a:off x="723900" y="2057400"/>
              <a:ext cx="685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900D3"/>
                  </a:solidFill>
                  <a:latin typeface="IBM Plex Mono SemiBold"/>
                  <a:ea typeface="IBM Plex Mono SemiBold"/>
                  <a:cs typeface="IBM Plex Mono SemiBold"/>
                </a:rPr>
                <a:t>01</a:t>
              </a:r>
              <a:endParaRPr lang="en-US" sz="3000" spc="-60" kern="0" b="0" i="0" dirty="0">
                <a:solidFill>
                  <a:srgbClr val="F900D3"/>
                </a:solidFill>
                <a:latin typeface="IBM Plex Mono SemiBold"/>
                <a:ea typeface="IBM Plex Mono SemiBold"/>
                <a:cs typeface="IBM Plex Mono SemiBold"/>
              </a:endParaRPr>
            </a:p>
          </p:txBody>
        </p:sp>
        <p:sp>
          <p:nvSpPr>
            <p:cNvPr id="8" name="node02.source-001.title"/>
            <p:cNvSpPr/>
            <p:nvPr/>
          </p:nvSpPr>
          <p:spPr>
            <a:xfrm>
              <a:off x="1562100" y="2057400"/>
              <a:ext cx="3505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Speed changes the unit of work</a:t>
              </a:r>
              <a:endParaRPr lang="en-US" sz="1200" spc="0" kern="0" b="0" i="0" dirty="0">
                <a:solidFill>
                  <a:srgbClr val="070154"/>
                </a:solidFill>
                <a:latin typeface="IBM Plex Sans SemiBold"/>
                <a:ea typeface="IBM Plex Sans SemiBold"/>
                <a:cs typeface="IBM Plex Sans SemiBold"/>
              </a:endParaRPr>
            </a:p>
          </p:txBody>
        </p:sp>
        <p:sp>
          <p:nvSpPr>
            <p:cNvPr id="9" name="node02.source-001.text"/>
            <p:cNvSpPr/>
            <p:nvPr/>
          </p:nvSpPr>
          <p:spPr>
            <a:xfrm>
              <a:off x="1562100" y="2273300"/>
              <a:ext cx="35052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Drafting, coding, testing and prototyping move faster, so teams can work in smaller, testable slices.</a:t>
              </a:r>
              <a:endParaRPr lang="en-US" sz="1200" spc="0" kern="0" b="0" i="0" dirty="0">
                <a:solidFill>
                  <a:srgbClr val="50658E"/>
                </a:solidFill>
                <a:latin typeface="IBM Plex Sans"/>
                <a:ea typeface="IBM Plex Sans"/>
                <a:cs typeface="IBM Plex Sans"/>
              </a:endParaRPr>
            </a:p>
          </p:txBody>
        </p:sp>
        <p:sp>
          <p:nvSpPr>
            <p:cNvPr id="10" name="node02.source-002.number"/>
            <p:cNvSpPr/>
            <p:nvPr/>
          </p:nvSpPr>
          <p:spPr>
            <a:xfrm>
              <a:off x="723900" y="3073400"/>
              <a:ext cx="685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900D3"/>
                  </a:solidFill>
                  <a:latin typeface="IBM Plex Mono SemiBold"/>
                  <a:ea typeface="IBM Plex Mono SemiBold"/>
                  <a:cs typeface="IBM Plex Mono SemiBold"/>
                </a:rPr>
                <a:t>02</a:t>
              </a:r>
              <a:endParaRPr lang="en-US" sz="3000" spc="-60" kern="0" b="0" i="0" dirty="0">
                <a:solidFill>
                  <a:srgbClr val="F900D3"/>
                </a:solidFill>
                <a:latin typeface="IBM Plex Mono SemiBold"/>
                <a:ea typeface="IBM Plex Mono SemiBold"/>
                <a:cs typeface="IBM Plex Mono SemiBold"/>
              </a:endParaRPr>
            </a:p>
          </p:txBody>
        </p:sp>
        <p:sp>
          <p:nvSpPr>
            <p:cNvPr id="11" name="node02.source-002.title"/>
            <p:cNvSpPr/>
            <p:nvPr/>
          </p:nvSpPr>
          <p:spPr>
            <a:xfrm>
              <a:off x="1562100" y="3073400"/>
              <a:ext cx="3505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Ambiguity becomes the bottleneck</a:t>
              </a:r>
              <a:endParaRPr lang="en-US" sz="1200" spc="0" kern="0" b="0" i="0" dirty="0">
                <a:solidFill>
                  <a:srgbClr val="070154"/>
                </a:solidFill>
                <a:latin typeface="IBM Plex Sans SemiBold"/>
                <a:ea typeface="IBM Plex Sans SemiBold"/>
                <a:cs typeface="IBM Plex Sans SemiBold"/>
              </a:endParaRPr>
            </a:p>
          </p:txBody>
        </p:sp>
        <p:sp>
          <p:nvSpPr>
            <p:cNvPr id="12" name="node02.source-002.text"/>
            <p:cNvSpPr/>
            <p:nvPr/>
          </p:nvSpPr>
          <p:spPr>
            <a:xfrm>
              <a:off x="1562100" y="3289300"/>
              <a:ext cx="3505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Unclear evidence, intent and acceptance criteria spread through delivery just as quickly.</a:t>
              </a:r>
              <a:endParaRPr lang="en-US" sz="1200" spc="0" kern="0" b="0" i="0" dirty="0">
                <a:solidFill>
                  <a:srgbClr val="50658E"/>
                </a:solidFill>
                <a:latin typeface="IBM Plex Sans"/>
                <a:ea typeface="IBM Plex Sans"/>
                <a:cs typeface="IBM Plex Sans"/>
              </a:endParaRPr>
            </a:p>
          </p:txBody>
        </p:sp>
        <p:sp>
          <p:nvSpPr>
            <p:cNvPr id="13" name="node02.source-003.number"/>
            <p:cNvSpPr/>
            <p:nvPr/>
          </p:nvSpPr>
          <p:spPr>
            <a:xfrm>
              <a:off x="723900" y="3873500"/>
              <a:ext cx="685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900D3"/>
                  </a:solidFill>
                  <a:latin typeface="IBM Plex Mono SemiBold"/>
                  <a:ea typeface="IBM Plex Mono SemiBold"/>
                  <a:cs typeface="IBM Plex Mono SemiBold"/>
                </a:rPr>
                <a:t>03</a:t>
              </a:r>
              <a:endParaRPr lang="en-US" sz="3000" spc="-60" kern="0" b="0" i="0" dirty="0">
                <a:solidFill>
                  <a:srgbClr val="F900D3"/>
                </a:solidFill>
                <a:latin typeface="IBM Plex Mono SemiBold"/>
                <a:ea typeface="IBM Plex Mono SemiBold"/>
                <a:cs typeface="IBM Plex Mono SemiBold"/>
              </a:endParaRPr>
            </a:p>
          </p:txBody>
        </p:sp>
        <p:sp>
          <p:nvSpPr>
            <p:cNvPr id="14" name="node02.source-003.title"/>
            <p:cNvSpPr/>
            <p:nvPr/>
          </p:nvSpPr>
          <p:spPr>
            <a:xfrm>
              <a:off x="1562100" y="3873500"/>
              <a:ext cx="3505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The product interface is the advantage</a:t>
              </a:r>
              <a:endParaRPr lang="en-US" sz="1200" spc="0" kern="0" b="0" i="0" dirty="0">
                <a:solidFill>
                  <a:srgbClr val="070154"/>
                </a:solidFill>
                <a:latin typeface="IBM Plex Sans SemiBold"/>
                <a:ea typeface="IBM Plex Sans SemiBold"/>
                <a:cs typeface="IBM Plex Sans SemiBold"/>
              </a:endParaRPr>
            </a:p>
          </p:txBody>
        </p:sp>
        <p:sp>
          <p:nvSpPr>
            <p:cNvPr id="15" name="node02.source-003.text"/>
            <p:cNvSpPr/>
            <p:nvPr/>
          </p:nvSpPr>
          <p:spPr>
            <a:xfrm>
              <a:off x="1562100" y="4089400"/>
              <a:ext cx="3505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Shared evidence, review and governance turn isolated gains into repeatable team performance.</a:t>
              </a:r>
              <a:endParaRPr lang="en-US" sz="1200" spc="0" kern="0" b="0" i="0" dirty="0">
                <a:solidFill>
                  <a:srgbClr val="50658E"/>
                </a:solidFill>
                <a:latin typeface="IBM Plex Sans"/>
                <a:ea typeface="IBM Plex Sans"/>
                <a:cs typeface="IBM Plex Sans"/>
              </a:endParaRPr>
            </a:p>
          </p:txBody>
        </p:sp>
      </p:grpSp>
      <p:grpSp>
        <p:nvGrpSpPr>
          <p:cNvPr id="45" name="node03"/>
          <p:cNvGrpSpPr/>
          <p:nvPr/>
        </p:nvGrpSpPr>
        <p:grpSpPr>
          <a:xfrm>
            <a:off x="5295900" y="1600200"/>
            <a:ext cx="6172200" cy="4343400"/>
            <a:chOff x="5295900" y="1600200"/>
            <a:chExt cx="6172200" cy="4343400"/>
          </a:xfrm>
        </p:grpSpPr>
        <p:sp>
          <p:nvSpPr>
            <p:cNvPr id="16" name="node03.surface"/>
            <p:cNvSpPr/>
            <p:nvPr/>
          </p:nvSpPr>
          <p:spPr>
            <a:xfrm>
              <a:off x="5295900" y="1600200"/>
              <a:ext cx="6172200" cy="4343400"/>
            </a:xfrm>
            <a:prstGeom prst="rect">
              <a:avLst/>
            </a:prstGeom>
            <a:solidFill>
              <a:srgbClr val="070154"/>
            </a:solidFill>
            <a:ln>
              <a:noFill/>
            </a:ln>
          </p:spPr>
        </p:sp>
      </p:grpSp>
      <p:grpSp>
        <p:nvGrpSpPr>
          <p:cNvPr id="46" name="node04"/>
          <p:cNvGrpSpPr/>
          <p:nvPr/>
        </p:nvGrpSpPr>
        <p:grpSpPr>
          <a:xfrm>
            <a:off x="5524500" y="1828800"/>
            <a:ext cx="5715000" cy="139700"/>
            <a:chOff x="5524500" y="1828800"/>
            <a:chExt cx="5715000" cy="139700"/>
          </a:xfrm>
        </p:grpSpPr>
        <p:sp>
          <p:nvSpPr>
            <p:cNvPr id="17" name="node04.text"/>
            <p:cNvSpPr/>
            <p:nvPr/>
          </p:nvSpPr>
          <p:spPr>
            <a:xfrm>
              <a:off x="5524500" y="1828800"/>
              <a:ext cx="5715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WHAT PARTICIPANTS WILL UNDERSTAND</a:t>
              </a:r>
              <a:endParaRPr lang="en-US" sz="800" spc="48" kern="0" b="0" i="0" dirty="0">
                <a:solidFill>
                  <a:srgbClr val="F900D3"/>
                </a:solidFill>
                <a:latin typeface="IBM Plex Mono Medium"/>
                <a:ea typeface="IBM Plex Mono Medium"/>
                <a:cs typeface="IBM Plex Mono Medium"/>
              </a:endParaRPr>
            </a:p>
          </p:txBody>
        </p:sp>
      </p:grpSp>
      <p:grpSp>
        <p:nvGrpSpPr>
          <p:cNvPr id="47" name="node05"/>
          <p:cNvGrpSpPr/>
          <p:nvPr/>
        </p:nvGrpSpPr>
        <p:grpSpPr>
          <a:xfrm>
            <a:off x="5524500" y="2057400"/>
            <a:ext cx="5715000" cy="330200"/>
            <a:chOff x="5524500" y="2057400"/>
            <a:chExt cx="5715000" cy="330200"/>
          </a:xfrm>
        </p:grpSpPr>
        <p:sp>
          <p:nvSpPr>
            <p:cNvPr id="18" name="node05.text"/>
            <p:cNvSpPr/>
            <p:nvPr/>
          </p:nvSpPr>
          <p:spPr>
            <a:xfrm>
              <a:off x="5524500" y="2057400"/>
              <a:ext cx="57150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FFFFF"/>
                  </a:solidFill>
                  <a:latin typeface="IBM Plex Sans SemiBold"/>
                  <a:ea typeface="IBM Plex Sans SemiBold"/>
                  <a:cs typeface="IBM Plex Sans SemiBold"/>
                </a:rPr>
                <a:t>Six outcomes define the workshop</a:t>
              </a:r>
              <a:endParaRPr lang="en-US" sz="2100" spc="-32" kern="0" b="0" i="0" dirty="0">
                <a:solidFill>
                  <a:srgbClr val="FFFFFF"/>
                </a:solidFill>
                <a:latin typeface="IBM Plex Sans SemiBold"/>
                <a:ea typeface="IBM Plex Sans SemiBold"/>
                <a:cs typeface="IBM Plex Sans SemiBold"/>
              </a:endParaRPr>
            </a:p>
          </p:txBody>
        </p:sp>
      </p:grpSp>
      <p:grpSp>
        <p:nvGrpSpPr>
          <p:cNvPr id="48" name="node06"/>
          <p:cNvGrpSpPr/>
          <p:nvPr/>
        </p:nvGrpSpPr>
        <p:grpSpPr>
          <a:xfrm>
            <a:off x="5524500" y="2514600"/>
            <a:ext cx="2743200" cy="990600"/>
            <a:chOff x="5524500" y="2514600"/>
            <a:chExt cx="2743200" cy="990600"/>
          </a:xfrm>
        </p:grpSpPr>
        <p:sp>
          <p:nvSpPr>
            <p:cNvPr id="19" name="node06.container"/>
            <p:cNvSpPr/>
            <p:nvPr/>
          </p:nvSpPr>
          <p:spPr>
            <a:xfrm>
              <a:off x="5524500" y="2514600"/>
              <a:ext cx="2743200" cy="990600"/>
            </a:xfrm>
            <a:prstGeom prst="rect">
              <a:avLst/>
            </a:prstGeom>
            <a:solidFill>
              <a:srgbClr val="05013F"/>
            </a:solidFill>
            <a:ln>
              <a:noFill/>
            </a:ln>
          </p:spPr>
        </p:sp>
        <p:sp>
          <p:nvSpPr>
            <p:cNvPr id="20" name="node06.edge"/>
            <p:cNvSpPr/>
            <p:nvPr/>
          </p:nvSpPr>
          <p:spPr>
            <a:xfrm>
              <a:off x="5524500" y="2514600"/>
              <a:ext cx="38100" cy="990600"/>
            </a:xfrm>
            <a:prstGeom prst="rect">
              <a:avLst/>
            </a:prstGeom>
            <a:solidFill>
              <a:srgbClr val="F900D3"/>
            </a:solidFill>
            <a:ln>
              <a:noFill/>
            </a:ln>
          </p:spPr>
        </p:sp>
        <p:sp>
          <p:nvSpPr>
            <p:cNvPr id="21" name="node06.title"/>
            <p:cNvSpPr/>
            <p:nvPr/>
          </p:nvSpPr>
          <p:spPr>
            <a:xfrm>
              <a:off x="5676900" y="26289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Frame the right opportunity</a:t>
              </a:r>
              <a:endParaRPr lang="en-US" sz="1200" spc="0" kern="0" b="0" i="0" dirty="0">
                <a:solidFill>
                  <a:srgbClr val="FFFFFF"/>
                </a:solidFill>
                <a:latin typeface="IBM Plex Sans"/>
                <a:ea typeface="IBM Plex Sans"/>
                <a:cs typeface="IBM Plex Sans"/>
              </a:endParaRPr>
            </a:p>
          </p:txBody>
        </p:sp>
        <p:sp>
          <p:nvSpPr>
            <p:cNvPr id="22" name="node06.body.item-001.paragraph"/>
            <p:cNvSpPr/>
            <p:nvPr/>
          </p:nvSpPr>
          <p:spPr>
            <a:xfrm>
              <a:off x="5676900" y="2997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Pick a feasible problem</a:t>
              </a:r>
              <a:endParaRPr lang="en-US" sz="1200" spc="0" kern="0" b="0" i="0" dirty="0">
                <a:solidFill>
                  <a:srgbClr val="CED7E6"/>
                </a:solidFill>
                <a:latin typeface="IBM Plex Sans"/>
                <a:ea typeface="IBM Plex Sans"/>
                <a:cs typeface="IBM Plex Sans"/>
              </a:endParaRPr>
            </a:p>
          </p:txBody>
        </p:sp>
      </p:grpSp>
      <p:grpSp>
        <p:nvGrpSpPr>
          <p:cNvPr id="49" name="node07"/>
          <p:cNvGrpSpPr/>
          <p:nvPr/>
        </p:nvGrpSpPr>
        <p:grpSpPr>
          <a:xfrm>
            <a:off x="8496300" y="2514600"/>
            <a:ext cx="2743200" cy="990600"/>
            <a:chOff x="8496300" y="2514600"/>
            <a:chExt cx="2743200" cy="990600"/>
          </a:xfrm>
        </p:grpSpPr>
        <p:sp>
          <p:nvSpPr>
            <p:cNvPr id="23" name="node07.container"/>
            <p:cNvSpPr/>
            <p:nvPr/>
          </p:nvSpPr>
          <p:spPr>
            <a:xfrm>
              <a:off x="8496300" y="2514600"/>
              <a:ext cx="2743200" cy="990600"/>
            </a:xfrm>
            <a:prstGeom prst="rect">
              <a:avLst/>
            </a:prstGeom>
            <a:solidFill>
              <a:srgbClr val="05013F"/>
            </a:solidFill>
            <a:ln>
              <a:noFill/>
            </a:ln>
          </p:spPr>
        </p:sp>
        <p:sp>
          <p:nvSpPr>
            <p:cNvPr id="24" name="node07.edge"/>
            <p:cNvSpPr/>
            <p:nvPr/>
          </p:nvSpPr>
          <p:spPr>
            <a:xfrm>
              <a:off x="8496300" y="2514600"/>
              <a:ext cx="38100" cy="990600"/>
            </a:xfrm>
            <a:prstGeom prst="rect">
              <a:avLst/>
            </a:prstGeom>
            <a:solidFill>
              <a:srgbClr val="F900D3"/>
            </a:solidFill>
            <a:ln>
              <a:noFill/>
            </a:ln>
          </p:spPr>
        </p:sp>
        <p:sp>
          <p:nvSpPr>
            <p:cNvPr id="25" name="node07.title"/>
            <p:cNvSpPr/>
            <p:nvPr/>
          </p:nvSpPr>
          <p:spPr>
            <a:xfrm>
              <a:off x="8648700" y="26289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Turn evidence into intent</a:t>
              </a:r>
              <a:endParaRPr lang="en-US" sz="1200" spc="0" kern="0" b="0" i="0" dirty="0">
                <a:solidFill>
                  <a:srgbClr val="FFFFFF"/>
                </a:solidFill>
                <a:latin typeface="IBM Plex Sans"/>
                <a:ea typeface="IBM Plex Sans"/>
                <a:cs typeface="IBM Plex Sans"/>
              </a:endParaRPr>
            </a:p>
          </p:txBody>
        </p:sp>
        <p:sp>
          <p:nvSpPr>
            <p:cNvPr id="26" name="node07.body.item-001.paragraph"/>
            <p:cNvSpPr/>
            <p:nvPr/>
          </p:nvSpPr>
          <p:spPr>
            <a:xfrm>
              <a:off x="8648700" y="2997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Stories and criteria</a:t>
              </a:r>
              <a:endParaRPr lang="en-US" sz="1200" spc="0" kern="0" b="0" i="0" dirty="0">
                <a:solidFill>
                  <a:srgbClr val="CED7E6"/>
                </a:solidFill>
                <a:latin typeface="IBM Plex Sans"/>
                <a:ea typeface="IBM Plex Sans"/>
                <a:cs typeface="IBM Plex Sans"/>
              </a:endParaRPr>
            </a:p>
          </p:txBody>
        </p:sp>
      </p:grpSp>
      <p:grpSp>
        <p:nvGrpSpPr>
          <p:cNvPr id="50" name="node08"/>
          <p:cNvGrpSpPr/>
          <p:nvPr/>
        </p:nvGrpSpPr>
        <p:grpSpPr>
          <a:xfrm>
            <a:off x="5524500" y="3657600"/>
            <a:ext cx="2743200" cy="990600"/>
            <a:chOff x="5524500" y="3657600"/>
            <a:chExt cx="2743200" cy="990600"/>
          </a:xfrm>
        </p:grpSpPr>
        <p:sp>
          <p:nvSpPr>
            <p:cNvPr id="27" name="node08.container"/>
            <p:cNvSpPr/>
            <p:nvPr/>
          </p:nvSpPr>
          <p:spPr>
            <a:xfrm>
              <a:off x="5524500" y="3657600"/>
              <a:ext cx="2743200" cy="990600"/>
            </a:xfrm>
            <a:prstGeom prst="rect">
              <a:avLst/>
            </a:prstGeom>
            <a:solidFill>
              <a:srgbClr val="05013F"/>
            </a:solidFill>
            <a:ln>
              <a:noFill/>
            </a:ln>
          </p:spPr>
        </p:sp>
        <p:sp>
          <p:nvSpPr>
            <p:cNvPr id="28" name="node08.edge"/>
            <p:cNvSpPr/>
            <p:nvPr/>
          </p:nvSpPr>
          <p:spPr>
            <a:xfrm>
              <a:off x="5524500" y="3657600"/>
              <a:ext cx="38100" cy="990600"/>
            </a:xfrm>
            <a:prstGeom prst="rect">
              <a:avLst/>
            </a:prstGeom>
            <a:solidFill>
              <a:srgbClr val="F900D3"/>
            </a:solidFill>
            <a:ln>
              <a:noFill/>
            </a:ln>
          </p:spPr>
        </p:sp>
        <p:sp>
          <p:nvSpPr>
            <p:cNvPr id="29" name="node08.title"/>
            <p:cNvSpPr/>
            <p:nvPr/>
          </p:nvSpPr>
          <p:spPr>
            <a:xfrm>
              <a:off x="5676900" y="37719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Agents across the SDLC</a:t>
              </a:r>
              <a:endParaRPr lang="en-US" sz="1200" spc="0" kern="0" b="0" i="0" dirty="0">
                <a:solidFill>
                  <a:srgbClr val="FFFFFF"/>
                </a:solidFill>
                <a:latin typeface="IBM Plex Sans"/>
                <a:ea typeface="IBM Plex Sans"/>
                <a:cs typeface="IBM Plex Sans"/>
              </a:endParaRPr>
            </a:p>
          </p:txBody>
        </p:sp>
        <p:sp>
          <p:nvSpPr>
            <p:cNvPr id="30" name="node08.body.item-001.paragraph"/>
            <p:cNvSpPr/>
            <p:nvPr/>
          </p:nvSpPr>
          <p:spPr>
            <a:xfrm>
              <a:off x="5676900" y="4140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Plan, code, test, release</a:t>
              </a:r>
              <a:endParaRPr lang="en-US" sz="1200" spc="0" kern="0" b="0" i="0" dirty="0">
                <a:solidFill>
                  <a:srgbClr val="CED7E6"/>
                </a:solidFill>
                <a:latin typeface="IBM Plex Sans"/>
                <a:ea typeface="IBM Plex Sans"/>
                <a:cs typeface="IBM Plex Sans"/>
              </a:endParaRPr>
            </a:p>
          </p:txBody>
        </p:sp>
      </p:grpSp>
      <p:grpSp>
        <p:nvGrpSpPr>
          <p:cNvPr id="51" name="node09"/>
          <p:cNvGrpSpPr/>
          <p:nvPr/>
        </p:nvGrpSpPr>
        <p:grpSpPr>
          <a:xfrm>
            <a:off x="8496300" y="3657600"/>
            <a:ext cx="2743200" cy="990600"/>
            <a:chOff x="8496300" y="3657600"/>
            <a:chExt cx="2743200" cy="990600"/>
          </a:xfrm>
        </p:grpSpPr>
        <p:sp>
          <p:nvSpPr>
            <p:cNvPr id="31" name="node09.container"/>
            <p:cNvSpPr/>
            <p:nvPr/>
          </p:nvSpPr>
          <p:spPr>
            <a:xfrm>
              <a:off x="8496300" y="3657600"/>
              <a:ext cx="2743200" cy="990600"/>
            </a:xfrm>
            <a:prstGeom prst="rect">
              <a:avLst/>
            </a:prstGeom>
            <a:solidFill>
              <a:srgbClr val="05013F"/>
            </a:solidFill>
            <a:ln>
              <a:noFill/>
            </a:ln>
          </p:spPr>
        </p:sp>
        <p:sp>
          <p:nvSpPr>
            <p:cNvPr id="32" name="node09.edge"/>
            <p:cNvSpPr/>
            <p:nvPr/>
          </p:nvSpPr>
          <p:spPr>
            <a:xfrm>
              <a:off x="8496300" y="3657600"/>
              <a:ext cx="38100" cy="990600"/>
            </a:xfrm>
            <a:prstGeom prst="rect">
              <a:avLst/>
            </a:prstGeom>
            <a:solidFill>
              <a:srgbClr val="F900D3"/>
            </a:solidFill>
            <a:ln>
              <a:noFill/>
            </a:ln>
          </p:spPr>
        </p:sp>
        <p:sp>
          <p:nvSpPr>
            <p:cNvPr id="33" name="node09.title"/>
            <p:cNvSpPr/>
            <p:nvPr/>
          </p:nvSpPr>
          <p:spPr>
            <a:xfrm>
              <a:off x="8648700" y="37719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Product-to-R&amp;D interface</a:t>
              </a:r>
              <a:endParaRPr lang="en-US" sz="1200" spc="0" kern="0" b="0" i="0" dirty="0">
                <a:solidFill>
                  <a:srgbClr val="FFFFFF"/>
                </a:solidFill>
                <a:latin typeface="IBM Plex Sans"/>
                <a:ea typeface="IBM Plex Sans"/>
                <a:cs typeface="IBM Plex Sans"/>
              </a:endParaRPr>
            </a:p>
          </p:txBody>
        </p:sp>
        <p:sp>
          <p:nvSpPr>
            <p:cNvPr id="34" name="node09.body.item-001.paragraph"/>
            <p:cNvSpPr/>
            <p:nvPr/>
          </p:nvSpPr>
          <p:spPr>
            <a:xfrm>
              <a:off x="8648700" y="4140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Agree a demonstrable slice</a:t>
              </a:r>
              <a:endParaRPr lang="en-US" sz="1200" spc="0" kern="0" b="0" i="0" dirty="0">
                <a:solidFill>
                  <a:srgbClr val="CED7E6"/>
                </a:solidFill>
                <a:latin typeface="IBM Plex Sans"/>
                <a:ea typeface="IBM Plex Sans"/>
                <a:cs typeface="IBM Plex Sans"/>
              </a:endParaRPr>
            </a:p>
          </p:txBody>
        </p:sp>
      </p:grpSp>
      <p:grpSp>
        <p:nvGrpSpPr>
          <p:cNvPr id="52" name="node10"/>
          <p:cNvGrpSpPr/>
          <p:nvPr/>
        </p:nvGrpSpPr>
        <p:grpSpPr>
          <a:xfrm>
            <a:off x="5524500" y="4800600"/>
            <a:ext cx="2743200" cy="990600"/>
            <a:chOff x="5524500" y="4800600"/>
            <a:chExt cx="2743200" cy="990600"/>
          </a:xfrm>
        </p:grpSpPr>
        <p:sp>
          <p:nvSpPr>
            <p:cNvPr id="35" name="node10.container"/>
            <p:cNvSpPr/>
            <p:nvPr/>
          </p:nvSpPr>
          <p:spPr>
            <a:xfrm>
              <a:off x="5524500" y="4800600"/>
              <a:ext cx="2743200" cy="990600"/>
            </a:xfrm>
            <a:prstGeom prst="rect">
              <a:avLst/>
            </a:prstGeom>
            <a:solidFill>
              <a:srgbClr val="05013F"/>
            </a:solidFill>
            <a:ln>
              <a:noFill/>
            </a:ln>
          </p:spPr>
        </p:sp>
        <p:sp>
          <p:nvSpPr>
            <p:cNvPr id="36" name="node10.edge"/>
            <p:cNvSpPr/>
            <p:nvPr/>
          </p:nvSpPr>
          <p:spPr>
            <a:xfrm>
              <a:off x="5524500" y="4800600"/>
              <a:ext cx="38100" cy="990600"/>
            </a:xfrm>
            <a:prstGeom prst="rect">
              <a:avLst/>
            </a:prstGeom>
            <a:solidFill>
              <a:srgbClr val="F900D3"/>
            </a:solidFill>
            <a:ln>
              <a:noFill/>
            </a:ln>
          </p:spPr>
        </p:sp>
        <p:sp>
          <p:nvSpPr>
            <p:cNvPr id="37" name="node10.title"/>
            <p:cNvSpPr/>
            <p:nvPr/>
          </p:nvSpPr>
          <p:spPr>
            <a:xfrm>
              <a:off x="5676900" y="49149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Compress feedback loops</a:t>
              </a:r>
              <a:endParaRPr lang="en-US" sz="1200" spc="0" kern="0" b="0" i="0" dirty="0">
                <a:solidFill>
                  <a:srgbClr val="FFFFFF"/>
                </a:solidFill>
                <a:latin typeface="IBM Plex Sans"/>
                <a:ea typeface="IBM Plex Sans"/>
                <a:cs typeface="IBM Plex Sans"/>
              </a:endParaRPr>
            </a:p>
          </p:txBody>
        </p:sp>
        <p:sp>
          <p:nvSpPr>
            <p:cNvPr id="38" name="node10.body.item-001.paragraph"/>
            <p:cNvSpPr/>
            <p:nvPr/>
          </p:nvSpPr>
          <p:spPr>
            <a:xfrm>
              <a:off x="5676900" y="5283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Prototype in parallel</a:t>
              </a:r>
              <a:endParaRPr lang="en-US" sz="1200" spc="0" kern="0" b="0" i="0" dirty="0">
                <a:solidFill>
                  <a:srgbClr val="CED7E6"/>
                </a:solidFill>
                <a:latin typeface="IBM Plex Sans"/>
                <a:ea typeface="IBM Plex Sans"/>
                <a:cs typeface="IBM Plex Sans"/>
              </a:endParaRPr>
            </a:p>
          </p:txBody>
        </p:sp>
      </p:grpSp>
      <p:grpSp>
        <p:nvGrpSpPr>
          <p:cNvPr id="53" name="node11"/>
          <p:cNvGrpSpPr/>
          <p:nvPr/>
        </p:nvGrpSpPr>
        <p:grpSpPr>
          <a:xfrm>
            <a:off x="8496300" y="4800600"/>
            <a:ext cx="2743200" cy="990600"/>
            <a:chOff x="8496300" y="4800600"/>
            <a:chExt cx="2743200" cy="990600"/>
          </a:xfrm>
        </p:grpSpPr>
        <p:sp>
          <p:nvSpPr>
            <p:cNvPr id="39" name="node11.container"/>
            <p:cNvSpPr/>
            <p:nvPr/>
          </p:nvSpPr>
          <p:spPr>
            <a:xfrm>
              <a:off x="8496300" y="4800600"/>
              <a:ext cx="2743200" cy="990600"/>
            </a:xfrm>
            <a:prstGeom prst="rect">
              <a:avLst/>
            </a:prstGeom>
            <a:solidFill>
              <a:srgbClr val="05013F"/>
            </a:solidFill>
            <a:ln>
              <a:noFill/>
            </a:ln>
          </p:spPr>
        </p:sp>
        <p:sp>
          <p:nvSpPr>
            <p:cNvPr id="40" name="node11.edge"/>
            <p:cNvSpPr/>
            <p:nvPr/>
          </p:nvSpPr>
          <p:spPr>
            <a:xfrm>
              <a:off x="8496300" y="4800600"/>
              <a:ext cx="38100" cy="990600"/>
            </a:xfrm>
            <a:prstGeom prst="rect">
              <a:avLst/>
            </a:prstGeom>
            <a:solidFill>
              <a:srgbClr val="F900D3"/>
            </a:solidFill>
            <a:ln>
              <a:noFill/>
            </a:ln>
          </p:spPr>
        </p:sp>
        <p:sp>
          <p:nvSpPr>
            <p:cNvPr id="41" name="node11.title"/>
            <p:cNvSpPr/>
            <p:nvPr/>
          </p:nvSpPr>
          <p:spPr>
            <a:xfrm>
              <a:off x="8648700" y="49149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Scale AI-enabled delivery</a:t>
              </a:r>
              <a:endParaRPr lang="en-US" sz="1200" spc="0" kern="0" b="0" i="0" dirty="0">
                <a:solidFill>
                  <a:srgbClr val="FFFFFF"/>
                </a:solidFill>
                <a:latin typeface="IBM Plex Sans"/>
                <a:ea typeface="IBM Plex Sans"/>
                <a:cs typeface="IBM Plex Sans"/>
              </a:endParaRPr>
            </a:p>
          </p:txBody>
        </p:sp>
        <p:sp>
          <p:nvSpPr>
            <p:cNvPr id="42" name="node11.body.item-001.paragraph"/>
            <p:cNvSpPr/>
            <p:nvPr/>
          </p:nvSpPr>
          <p:spPr>
            <a:xfrm>
              <a:off x="8648700" y="5283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Adoption and governance</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ource-31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THIS MATTERS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changes how product and engineering operate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37</a:t>
            </a:fld>
            <a:endParaRPr lang="en-US" sz="700" spc="0" kern="0" b="0" i="0" dirty="0">
              <a:solidFill>
                <a:srgbClr val="070154"/>
              </a:solidFill>
              <a:latin typeface="IBM Plex Mono SemiBold"/>
              <a:ea typeface="IBM Plex Mono SemiBold"/>
              <a:cs typeface="IBM Plex Mono SemiBold"/>
            </a:endParaRPr>
          </a:p>
        </p:txBody>
      </p:sp>
      <p:grpSp>
        <p:nvGrpSpPr>
          <p:cNvPr id="32" name="node01"/>
          <p:cNvGrpSpPr/>
          <p:nvPr/>
        </p:nvGrpSpPr>
        <p:grpSpPr>
          <a:xfrm>
            <a:off x="723900" y="1600200"/>
            <a:ext cx="7086600" cy="139700"/>
            <a:chOff x="723900" y="1600200"/>
            <a:chExt cx="7086600" cy="139700"/>
          </a:xfrm>
        </p:grpSpPr>
        <p:sp>
          <p:nvSpPr>
            <p:cNvPr id="6" name="node01.text"/>
            <p:cNvSpPr/>
            <p:nvPr/>
          </p:nvSpPr>
          <p:spPr>
            <a:xfrm>
              <a:off x="723900" y="16002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WHY AI CHANGES THE OPERATING MODEL</a:t>
              </a:r>
              <a:endParaRPr lang="en-US" sz="800" spc="48" kern="0" b="0" i="0" dirty="0">
                <a:solidFill>
                  <a:srgbClr val="50658E"/>
                </a:solidFill>
                <a:latin typeface="IBM Plex Mono Medium"/>
                <a:ea typeface="IBM Plex Mono Medium"/>
                <a:cs typeface="IBM Plex Mono Medium"/>
              </a:endParaRPr>
            </a:p>
          </p:txBody>
        </p:sp>
      </p:grpSp>
      <p:grpSp>
        <p:nvGrpSpPr>
          <p:cNvPr id="33" name="node02"/>
          <p:cNvGrpSpPr/>
          <p:nvPr/>
        </p:nvGrpSpPr>
        <p:grpSpPr>
          <a:xfrm>
            <a:off x="723900" y="2057400"/>
            <a:ext cx="7086600" cy="2032000"/>
            <a:chOff x="723900" y="2057400"/>
            <a:chExt cx="7086600" cy="2032000"/>
          </a:xfrm>
        </p:grpSpPr>
        <p:sp>
          <p:nvSpPr>
            <p:cNvPr id="7" name="node02.source-001.number"/>
            <p:cNvSpPr/>
            <p:nvPr/>
          </p:nvSpPr>
          <p:spPr>
            <a:xfrm>
              <a:off x="723900" y="2057400"/>
              <a:ext cx="685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900D3"/>
                  </a:solidFill>
                  <a:latin typeface="IBM Plex Mono SemiBold"/>
                  <a:ea typeface="IBM Plex Mono SemiBold"/>
                  <a:cs typeface="IBM Plex Mono SemiBold"/>
                </a:rPr>
                <a:t>01</a:t>
              </a:r>
              <a:endParaRPr lang="en-US" sz="3000" spc="-60" kern="0" b="0" i="0" dirty="0">
                <a:solidFill>
                  <a:srgbClr val="F900D3"/>
                </a:solidFill>
                <a:latin typeface="IBM Plex Mono SemiBold"/>
                <a:ea typeface="IBM Plex Mono SemiBold"/>
                <a:cs typeface="IBM Plex Mono SemiBold"/>
              </a:endParaRPr>
            </a:p>
          </p:txBody>
        </p:sp>
        <p:sp>
          <p:nvSpPr>
            <p:cNvPr id="8" name="node02.source-001.title"/>
            <p:cNvSpPr/>
            <p:nvPr/>
          </p:nvSpPr>
          <p:spPr>
            <a:xfrm>
              <a:off x="1562100" y="2057400"/>
              <a:ext cx="6248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Speed changes the unit of work</a:t>
              </a:r>
              <a:endParaRPr lang="en-US" sz="1200" spc="0" kern="0" b="0" i="0" dirty="0">
                <a:solidFill>
                  <a:srgbClr val="070154"/>
                </a:solidFill>
                <a:latin typeface="IBM Plex Sans SemiBold"/>
                <a:ea typeface="IBM Plex Sans SemiBold"/>
                <a:cs typeface="IBM Plex Sans SemiBold"/>
              </a:endParaRPr>
            </a:p>
          </p:txBody>
        </p:sp>
        <p:sp>
          <p:nvSpPr>
            <p:cNvPr id="9" name="node02.source-001.text"/>
            <p:cNvSpPr/>
            <p:nvPr/>
          </p:nvSpPr>
          <p:spPr>
            <a:xfrm>
              <a:off x="1562100" y="2273300"/>
              <a:ext cx="6248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Drafting, coding, testing and prototyping move faster, so teams can work in smaller, testable slices.</a:t>
              </a:r>
              <a:endParaRPr lang="en-US" sz="1200" spc="0" kern="0" b="0" i="0" dirty="0">
                <a:solidFill>
                  <a:srgbClr val="50658E"/>
                </a:solidFill>
                <a:latin typeface="IBM Plex Sans"/>
                <a:ea typeface="IBM Plex Sans"/>
                <a:cs typeface="IBM Plex Sans"/>
              </a:endParaRPr>
            </a:p>
          </p:txBody>
        </p:sp>
        <p:sp>
          <p:nvSpPr>
            <p:cNvPr id="10" name="node02.source-002.number"/>
            <p:cNvSpPr/>
            <p:nvPr/>
          </p:nvSpPr>
          <p:spPr>
            <a:xfrm>
              <a:off x="723900" y="2857500"/>
              <a:ext cx="685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900D3"/>
                  </a:solidFill>
                  <a:latin typeface="IBM Plex Mono SemiBold"/>
                  <a:ea typeface="IBM Plex Mono SemiBold"/>
                  <a:cs typeface="IBM Plex Mono SemiBold"/>
                </a:rPr>
                <a:t>02</a:t>
              </a:r>
              <a:endParaRPr lang="en-US" sz="3000" spc="-60" kern="0" b="0" i="0" dirty="0">
                <a:solidFill>
                  <a:srgbClr val="F900D3"/>
                </a:solidFill>
                <a:latin typeface="IBM Plex Mono SemiBold"/>
                <a:ea typeface="IBM Plex Mono SemiBold"/>
                <a:cs typeface="IBM Plex Mono SemiBold"/>
              </a:endParaRPr>
            </a:p>
          </p:txBody>
        </p:sp>
        <p:sp>
          <p:nvSpPr>
            <p:cNvPr id="11" name="node02.source-002.title"/>
            <p:cNvSpPr/>
            <p:nvPr/>
          </p:nvSpPr>
          <p:spPr>
            <a:xfrm>
              <a:off x="1562100" y="2857500"/>
              <a:ext cx="6248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Ambiguity becomes the bottleneck</a:t>
              </a:r>
              <a:endParaRPr lang="en-US" sz="1200" spc="0" kern="0" b="0" i="0" dirty="0">
                <a:solidFill>
                  <a:srgbClr val="070154"/>
                </a:solidFill>
                <a:latin typeface="IBM Plex Sans SemiBold"/>
                <a:ea typeface="IBM Plex Sans SemiBold"/>
                <a:cs typeface="IBM Plex Sans SemiBold"/>
              </a:endParaRPr>
            </a:p>
          </p:txBody>
        </p:sp>
        <p:sp>
          <p:nvSpPr>
            <p:cNvPr id="12" name="node02.source-002.text"/>
            <p:cNvSpPr/>
            <p:nvPr/>
          </p:nvSpPr>
          <p:spPr>
            <a:xfrm>
              <a:off x="1562100" y="3073400"/>
              <a:ext cx="6248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Unclear evidence, intent and acceptance criteria spread through delivery just as quickly.</a:t>
              </a:r>
              <a:endParaRPr lang="en-US" sz="1200" spc="0" kern="0" b="0" i="0" dirty="0">
                <a:solidFill>
                  <a:srgbClr val="50658E"/>
                </a:solidFill>
                <a:latin typeface="IBM Plex Sans"/>
                <a:ea typeface="IBM Plex Sans"/>
                <a:cs typeface="IBM Plex Sans"/>
              </a:endParaRPr>
            </a:p>
          </p:txBody>
        </p:sp>
        <p:sp>
          <p:nvSpPr>
            <p:cNvPr id="13" name="node02.source-003.number"/>
            <p:cNvSpPr/>
            <p:nvPr/>
          </p:nvSpPr>
          <p:spPr>
            <a:xfrm>
              <a:off x="723900" y="3441700"/>
              <a:ext cx="685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900D3"/>
                  </a:solidFill>
                  <a:latin typeface="IBM Plex Mono SemiBold"/>
                  <a:ea typeface="IBM Plex Mono SemiBold"/>
                  <a:cs typeface="IBM Plex Mono SemiBold"/>
                </a:rPr>
                <a:t>03</a:t>
              </a:r>
              <a:endParaRPr lang="en-US" sz="3000" spc="-60" kern="0" b="0" i="0" dirty="0">
                <a:solidFill>
                  <a:srgbClr val="F900D3"/>
                </a:solidFill>
                <a:latin typeface="IBM Plex Mono SemiBold"/>
                <a:ea typeface="IBM Plex Mono SemiBold"/>
                <a:cs typeface="IBM Plex Mono SemiBold"/>
              </a:endParaRPr>
            </a:p>
          </p:txBody>
        </p:sp>
        <p:sp>
          <p:nvSpPr>
            <p:cNvPr id="14" name="node02.source-003.title"/>
            <p:cNvSpPr/>
            <p:nvPr/>
          </p:nvSpPr>
          <p:spPr>
            <a:xfrm>
              <a:off x="1562100" y="3441700"/>
              <a:ext cx="6248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The product interface is the advantage</a:t>
              </a:r>
              <a:endParaRPr lang="en-US" sz="1200" spc="0" kern="0" b="0" i="0" dirty="0">
                <a:solidFill>
                  <a:srgbClr val="070154"/>
                </a:solidFill>
                <a:latin typeface="IBM Plex Sans SemiBold"/>
                <a:ea typeface="IBM Plex Sans SemiBold"/>
                <a:cs typeface="IBM Plex Sans SemiBold"/>
              </a:endParaRPr>
            </a:p>
          </p:txBody>
        </p:sp>
        <p:sp>
          <p:nvSpPr>
            <p:cNvPr id="15" name="node02.source-003.text"/>
            <p:cNvSpPr/>
            <p:nvPr/>
          </p:nvSpPr>
          <p:spPr>
            <a:xfrm>
              <a:off x="1562100" y="3657600"/>
              <a:ext cx="6248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Shared evidence, review and governance turn isolated gains into repeatable team performance.</a:t>
              </a:r>
              <a:endParaRPr lang="en-US" sz="1200" spc="0" kern="0" b="0" i="0" dirty="0">
                <a:solidFill>
                  <a:srgbClr val="50658E"/>
                </a:solidFill>
                <a:latin typeface="IBM Plex Sans"/>
                <a:ea typeface="IBM Plex Sans"/>
                <a:cs typeface="IBM Plex Sans"/>
              </a:endParaRPr>
            </a:p>
          </p:txBody>
        </p:sp>
      </p:grpSp>
      <p:grpSp>
        <p:nvGrpSpPr>
          <p:cNvPr id="34" name="node03"/>
          <p:cNvGrpSpPr/>
          <p:nvPr/>
        </p:nvGrpSpPr>
        <p:grpSpPr>
          <a:xfrm>
            <a:off x="8039100" y="1600200"/>
            <a:ext cx="3429000" cy="3886200"/>
            <a:chOff x="8039100" y="1600200"/>
            <a:chExt cx="3429000" cy="3886200"/>
          </a:xfrm>
        </p:grpSpPr>
        <p:sp>
          <p:nvSpPr>
            <p:cNvPr id="16" name="node03.container"/>
            <p:cNvSpPr/>
            <p:nvPr/>
          </p:nvSpPr>
          <p:spPr>
            <a:xfrm>
              <a:off x="8039100" y="1600200"/>
              <a:ext cx="3429000" cy="3886200"/>
            </a:xfrm>
            <a:prstGeom prst="rect">
              <a:avLst/>
            </a:prstGeom>
            <a:solidFill>
              <a:srgbClr val="070154"/>
            </a:solidFill>
            <a:ln>
              <a:noFill/>
            </a:ln>
          </p:spPr>
        </p:sp>
        <p:sp>
          <p:nvSpPr>
            <p:cNvPr id="17" name="node03.edge"/>
            <p:cNvSpPr/>
            <p:nvPr/>
          </p:nvSpPr>
          <p:spPr>
            <a:xfrm>
              <a:off x="8039100" y="1600200"/>
              <a:ext cx="3429000" cy="76200"/>
            </a:xfrm>
            <a:prstGeom prst="rect">
              <a:avLst/>
            </a:prstGeom>
            <a:solidFill>
              <a:srgbClr val="F900D3"/>
            </a:solidFill>
            <a:ln>
              <a:noFill/>
            </a:ln>
          </p:spPr>
        </p:sp>
        <p:sp>
          <p:nvSpPr>
            <p:cNvPr id="18" name="node03.label"/>
            <p:cNvSpPr/>
            <p:nvPr/>
          </p:nvSpPr>
          <p:spPr>
            <a:xfrm>
              <a:off x="8267700" y="19050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HOW WE WILL RUN IT</a:t>
              </a:r>
              <a:endParaRPr lang="en-US" sz="800" spc="48" kern="0" b="0" i="0" dirty="0">
                <a:solidFill>
                  <a:srgbClr val="F900D3"/>
                </a:solidFill>
                <a:latin typeface="IBM Plex Mono Medium"/>
                <a:ea typeface="IBM Plex Mono Medium"/>
                <a:cs typeface="IBM Plex Mono Medium"/>
              </a:endParaRPr>
            </a:p>
          </p:txBody>
        </p:sp>
        <p:sp>
          <p:nvSpPr>
            <p:cNvPr id="19" name="node03.title"/>
            <p:cNvSpPr/>
            <p:nvPr/>
          </p:nvSpPr>
          <p:spPr>
            <a:xfrm>
              <a:off x="8267700" y="2120900"/>
              <a:ext cx="29718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Guide the process without taking over the work</a:t>
              </a:r>
              <a:endParaRPr lang="en-US" sz="1600" spc="-16" kern="0" b="0" i="0" dirty="0">
                <a:solidFill>
                  <a:srgbClr val="FFFFFF"/>
                </a:solidFill>
                <a:latin typeface="IBM Plex Sans SemiBold"/>
                <a:ea typeface="IBM Plex Sans SemiBold"/>
                <a:cs typeface="IBM Plex Sans SemiBold"/>
              </a:endParaRPr>
            </a:p>
          </p:txBody>
        </p:sp>
        <p:sp>
          <p:nvSpPr>
            <p:cNvPr id="20" name="node03.body.item-001.bullets.item-001.marker"/>
            <p:cNvSpPr/>
            <p:nvPr/>
          </p:nvSpPr>
          <p:spPr>
            <a:xfrm>
              <a:off x="8267700" y="2895600"/>
              <a:ext cx="38100" cy="38100"/>
            </a:xfrm>
            <a:prstGeom prst="rect">
              <a:avLst/>
            </a:prstGeom>
            <a:solidFill>
              <a:srgbClr val="FFFFFF"/>
            </a:solidFill>
            <a:ln>
              <a:noFill/>
            </a:ln>
          </p:spPr>
        </p:sp>
        <p:sp>
          <p:nvSpPr>
            <p:cNvPr id="21" name="node03.body.item-001.bullets.item-001.text"/>
            <p:cNvSpPr/>
            <p:nvPr/>
          </p:nvSpPr>
          <p:spPr>
            <a:xfrm>
              <a:off x="8420100" y="2806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Short prompts, then participant work</a:t>
              </a:r>
              <a:endParaRPr lang="en-US" sz="1200" spc="0" kern="0" b="0" i="0" dirty="0">
                <a:solidFill>
                  <a:srgbClr val="FFFFFF"/>
                </a:solidFill>
                <a:latin typeface="IBM Plex Sans"/>
                <a:ea typeface="IBM Plex Sans"/>
                <a:cs typeface="IBM Plex Sans"/>
              </a:endParaRPr>
            </a:p>
          </p:txBody>
        </p:sp>
        <p:sp>
          <p:nvSpPr>
            <p:cNvPr id="22" name="node03.body.item-001.bullets.item-002.marker"/>
            <p:cNvSpPr/>
            <p:nvPr/>
          </p:nvSpPr>
          <p:spPr>
            <a:xfrm>
              <a:off x="8267700" y="3149600"/>
              <a:ext cx="38100" cy="38100"/>
            </a:xfrm>
            <a:prstGeom prst="rect">
              <a:avLst/>
            </a:prstGeom>
            <a:solidFill>
              <a:srgbClr val="FFFFFF"/>
            </a:solidFill>
            <a:ln>
              <a:noFill/>
            </a:ln>
          </p:spPr>
        </p:sp>
        <p:sp>
          <p:nvSpPr>
            <p:cNvPr id="23" name="node03.body.item-001.bullets.item-002.text"/>
            <p:cNvSpPr/>
            <p:nvPr/>
          </p:nvSpPr>
          <p:spPr>
            <a:xfrm>
              <a:off x="8420100" y="3060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Named checkpoints and timeboxes</a:t>
              </a:r>
              <a:endParaRPr lang="en-US" sz="1200" spc="0" kern="0" b="0" i="0" dirty="0">
                <a:solidFill>
                  <a:srgbClr val="FFFFFF"/>
                </a:solidFill>
                <a:latin typeface="IBM Plex Sans"/>
                <a:ea typeface="IBM Plex Sans"/>
                <a:cs typeface="IBM Plex Sans"/>
              </a:endParaRPr>
            </a:p>
          </p:txBody>
        </p:sp>
        <p:sp>
          <p:nvSpPr>
            <p:cNvPr id="24" name="node03.body.item-001.bullets.item-003.marker"/>
            <p:cNvSpPr/>
            <p:nvPr/>
          </p:nvSpPr>
          <p:spPr>
            <a:xfrm>
              <a:off x="8267700" y="3403600"/>
              <a:ext cx="38100" cy="38100"/>
            </a:xfrm>
            <a:prstGeom prst="rect">
              <a:avLst/>
            </a:prstGeom>
            <a:solidFill>
              <a:srgbClr val="FFFFFF"/>
            </a:solidFill>
            <a:ln>
              <a:noFill/>
            </a:ln>
          </p:spPr>
        </p:sp>
        <p:sp>
          <p:nvSpPr>
            <p:cNvPr id="25" name="node03.body.item-001.bullets.item-003.text"/>
            <p:cNvSpPr/>
            <p:nvPr/>
          </p:nvSpPr>
          <p:spPr>
            <a:xfrm>
              <a:off x="8420100" y="3314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Active coaching and unblocking</a:t>
              </a:r>
              <a:endParaRPr lang="en-US" sz="1200" spc="0" kern="0" b="0" i="0" dirty="0">
                <a:solidFill>
                  <a:srgbClr val="FFFFFF"/>
                </a:solidFill>
                <a:latin typeface="IBM Plex Sans"/>
                <a:ea typeface="IBM Plex Sans"/>
                <a:cs typeface="IBM Plex Sans"/>
              </a:endParaRPr>
            </a:p>
          </p:txBody>
        </p:sp>
        <p:sp>
          <p:nvSpPr>
            <p:cNvPr id="26" name="node03.body.item-001.bullets.item-004.marker"/>
            <p:cNvSpPr/>
            <p:nvPr/>
          </p:nvSpPr>
          <p:spPr>
            <a:xfrm>
              <a:off x="8267700" y="3657600"/>
              <a:ext cx="38100" cy="38100"/>
            </a:xfrm>
            <a:prstGeom prst="rect">
              <a:avLst/>
            </a:prstGeom>
            <a:solidFill>
              <a:srgbClr val="FFFFFF"/>
            </a:solidFill>
            <a:ln>
              <a:noFill/>
            </a:ln>
          </p:spPr>
        </p:sp>
        <p:sp>
          <p:nvSpPr>
            <p:cNvPr id="27" name="node03.body.item-001.bullets.item-004.text"/>
            <p:cNvSpPr/>
            <p:nvPr/>
          </p:nvSpPr>
          <p:spPr>
            <a:xfrm>
              <a:off x="8420100" y="3568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Human approval at every gate</a:t>
              </a:r>
              <a:endParaRPr lang="en-US" sz="1200" spc="0" kern="0" b="0" i="0" dirty="0">
                <a:solidFill>
                  <a:srgbClr val="FFFFFF"/>
                </a:solidFill>
                <a:latin typeface="IBM Plex Sans"/>
                <a:ea typeface="IBM Plex Sans"/>
                <a:cs typeface="IBM Plex Sans"/>
              </a:endParaRPr>
            </a:p>
          </p:txBody>
        </p:sp>
        <p:sp>
          <p:nvSpPr>
            <p:cNvPr id="28" name="node03.body.item-001.bullets.item-005.marker"/>
            <p:cNvSpPr/>
            <p:nvPr/>
          </p:nvSpPr>
          <p:spPr>
            <a:xfrm>
              <a:off x="8267700" y="3911600"/>
              <a:ext cx="38100" cy="38100"/>
            </a:xfrm>
            <a:prstGeom prst="rect">
              <a:avLst/>
            </a:prstGeom>
            <a:solidFill>
              <a:srgbClr val="FFFFFF"/>
            </a:solidFill>
            <a:ln>
              <a:noFill/>
            </a:ln>
          </p:spPr>
        </p:sp>
        <p:sp>
          <p:nvSpPr>
            <p:cNvPr id="29" name="node03.body.item-001.bullets.item-005.text"/>
            <p:cNvSpPr/>
            <p:nvPr/>
          </p:nvSpPr>
          <p:spPr>
            <a:xfrm>
              <a:off x="8420100" y="3822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Shared notes captured live</a:t>
              </a:r>
              <a:endParaRPr lang="en-US" sz="1200" spc="0" kern="0" b="0" i="0" dirty="0">
                <a:solidFill>
                  <a:srgbClr val="FFFFFF"/>
                </a:solidFill>
                <a:latin typeface="IBM Plex Sans"/>
                <a:ea typeface="IBM Plex Sans"/>
                <a:cs typeface="IBM Plex Sans"/>
              </a:endParaRPr>
            </a:p>
          </p:txBody>
        </p:sp>
        <p:sp>
          <p:nvSpPr>
            <p:cNvPr id="30" name="node03.body.item-001.bullets.item-006.marker"/>
            <p:cNvSpPr/>
            <p:nvPr/>
          </p:nvSpPr>
          <p:spPr>
            <a:xfrm>
              <a:off x="8267700" y="4165600"/>
              <a:ext cx="38100" cy="38100"/>
            </a:xfrm>
            <a:prstGeom prst="rect">
              <a:avLst/>
            </a:prstGeom>
            <a:solidFill>
              <a:srgbClr val="FFFFFF"/>
            </a:solidFill>
            <a:ln>
              <a:noFill/>
            </a:ln>
          </p:spPr>
        </p:sp>
        <p:sp>
          <p:nvSpPr>
            <p:cNvPr id="31" name="node03.body.item-001.bullets.item-006.text"/>
            <p:cNvSpPr/>
            <p:nvPr/>
          </p:nvSpPr>
          <p:spPr>
            <a:xfrm>
              <a:off x="8420100" y="4076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Open risks logged for follow-up</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ource-313">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THIS MATTERS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changes how product and engineering operate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38</a:t>
            </a:fld>
            <a:endParaRPr lang="en-US" sz="700" spc="0" kern="0" b="0" i="0" dirty="0">
              <a:solidFill>
                <a:srgbClr val="070154"/>
              </a:solidFill>
              <a:latin typeface="IBM Plex Mono SemiBold"/>
              <a:ea typeface="IBM Plex Mono SemiBold"/>
              <a:cs typeface="IBM Plex Mono SemiBold"/>
            </a:endParaRPr>
          </a:p>
        </p:txBody>
      </p:sp>
      <p:grpSp>
        <p:nvGrpSpPr>
          <p:cNvPr id="32" name="node01"/>
          <p:cNvGrpSpPr/>
          <p:nvPr/>
        </p:nvGrpSpPr>
        <p:grpSpPr>
          <a:xfrm>
            <a:off x="723900" y="2057400"/>
            <a:ext cx="7086600" cy="139700"/>
            <a:chOff x="723900" y="2057400"/>
            <a:chExt cx="7086600" cy="139700"/>
          </a:xfrm>
        </p:grpSpPr>
        <p:sp>
          <p:nvSpPr>
            <p:cNvPr id="6" name="node01.text"/>
            <p:cNvSpPr/>
            <p:nvPr/>
          </p:nvSpPr>
          <p:spPr>
            <a:xfrm>
              <a:off x="723900" y="20574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WHY AI CHANGES THE OPERATING MODEL</a:t>
              </a:r>
              <a:endParaRPr lang="en-US" sz="800" spc="48" kern="0" b="0" i="0" dirty="0">
                <a:solidFill>
                  <a:srgbClr val="50658E"/>
                </a:solidFill>
                <a:latin typeface="IBM Plex Mono Medium"/>
                <a:ea typeface="IBM Plex Mono Medium"/>
                <a:cs typeface="IBM Plex Mono Medium"/>
              </a:endParaRPr>
            </a:p>
          </p:txBody>
        </p:sp>
      </p:grpSp>
      <p:grpSp>
        <p:nvGrpSpPr>
          <p:cNvPr id="33" name="node02"/>
          <p:cNvGrpSpPr/>
          <p:nvPr/>
        </p:nvGrpSpPr>
        <p:grpSpPr>
          <a:xfrm>
            <a:off x="723900" y="2514600"/>
            <a:ext cx="7086600" cy="2032000"/>
            <a:chOff x="723900" y="2514600"/>
            <a:chExt cx="7086600" cy="2032000"/>
          </a:xfrm>
        </p:grpSpPr>
        <p:sp>
          <p:nvSpPr>
            <p:cNvPr id="7" name="node02.source-001.number"/>
            <p:cNvSpPr/>
            <p:nvPr/>
          </p:nvSpPr>
          <p:spPr>
            <a:xfrm>
              <a:off x="723900" y="2514600"/>
              <a:ext cx="685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900D3"/>
                  </a:solidFill>
                  <a:latin typeface="IBM Plex Mono SemiBold"/>
                  <a:ea typeface="IBM Plex Mono SemiBold"/>
                  <a:cs typeface="IBM Plex Mono SemiBold"/>
                </a:rPr>
                <a:t>01</a:t>
              </a:r>
              <a:endParaRPr lang="en-US" sz="3000" spc="-60" kern="0" b="0" i="0" dirty="0">
                <a:solidFill>
                  <a:srgbClr val="F900D3"/>
                </a:solidFill>
                <a:latin typeface="IBM Plex Mono SemiBold"/>
                <a:ea typeface="IBM Plex Mono SemiBold"/>
                <a:cs typeface="IBM Plex Mono SemiBold"/>
              </a:endParaRPr>
            </a:p>
          </p:txBody>
        </p:sp>
        <p:sp>
          <p:nvSpPr>
            <p:cNvPr id="8" name="node02.source-001.title"/>
            <p:cNvSpPr/>
            <p:nvPr/>
          </p:nvSpPr>
          <p:spPr>
            <a:xfrm>
              <a:off x="1562100" y="2514600"/>
              <a:ext cx="6248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Speed changes the unit of work</a:t>
              </a:r>
              <a:endParaRPr lang="en-US" sz="1200" spc="0" kern="0" b="0" i="0" dirty="0">
                <a:solidFill>
                  <a:srgbClr val="070154"/>
                </a:solidFill>
                <a:latin typeface="IBM Plex Sans SemiBold"/>
                <a:ea typeface="IBM Plex Sans SemiBold"/>
                <a:cs typeface="IBM Plex Sans SemiBold"/>
              </a:endParaRPr>
            </a:p>
          </p:txBody>
        </p:sp>
        <p:sp>
          <p:nvSpPr>
            <p:cNvPr id="9" name="node02.source-001.text"/>
            <p:cNvSpPr/>
            <p:nvPr/>
          </p:nvSpPr>
          <p:spPr>
            <a:xfrm>
              <a:off x="1562100" y="2730500"/>
              <a:ext cx="6248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Drafting, coding, testing and prototyping move faster, so teams can work in smaller, testable slices.</a:t>
              </a:r>
              <a:endParaRPr lang="en-US" sz="1200" spc="0" kern="0" b="0" i="0" dirty="0">
                <a:solidFill>
                  <a:srgbClr val="50658E"/>
                </a:solidFill>
                <a:latin typeface="IBM Plex Sans"/>
                <a:ea typeface="IBM Plex Sans"/>
                <a:cs typeface="IBM Plex Sans"/>
              </a:endParaRPr>
            </a:p>
          </p:txBody>
        </p:sp>
        <p:sp>
          <p:nvSpPr>
            <p:cNvPr id="10" name="node02.source-002.number"/>
            <p:cNvSpPr/>
            <p:nvPr/>
          </p:nvSpPr>
          <p:spPr>
            <a:xfrm>
              <a:off x="723900" y="3314700"/>
              <a:ext cx="685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900D3"/>
                  </a:solidFill>
                  <a:latin typeface="IBM Plex Mono SemiBold"/>
                  <a:ea typeface="IBM Plex Mono SemiBold"/>
                  <a:cs typeface="IBM Plex Mono SemiBold"/>
                </a:rPr>
                <a:t>02</a:t>
              </a:r>
              <a:endParaRPr lang="en-US" sz="3000" spc="-60" kern="0" b="0" i="0" dirty="0">
                <a:solidFill>
                  <a:srgbClr val="F900D3"/>
                </a:solidFill>
                <a:latin typeface="IBM Plex Mono SemiBold"/>
                <a:ea typeface="IBM Plex Mono SemiBold"/>
                <a:cs typeface="IBM Plex Mono SemiBold"/>
              </a:endParaRPr>
            </a:p>
          </p:txBody>
        </p:sp>
        <p:sp>
          <p:nvSpPr>
            <p:cNvPr id="11" name="node02.source-002.title"/>
            <p:cNvSpPr/>
            <p:nvPr/>
          </p:nvSpPr>
          <p:spPr>
            <a:xfrm>
              <a:off x="1562100" y="3314700"/>
              <a:ext cx="6248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Ambiguity becomes the bottleneck</a:t>
              </a:r>
              <a:endParaRPr lang="en-US" sz="1200" spc="0" kern="0" b="0" i="0" dirty="0">
                <a:solidFill>
                  <a:srgbClr val="070154"/>
                </a:solidFill>
                <a:latin typeface="IBM Plex Sans SemiBold"/>
                <a:ea typeface="IBM Plex Sans SemiBold"/>
                <a:cs typeface="IBM Plex Sans SemiBold"/>
              </a:endParaRPr>
            </a:p>
          </p:txBody>
        </p:sp>
        <p:sp>
          <p:nvSpPr>
            <p:cNvPr id="12" name="node02.source-002.text"/>
            <p:cNvSpPr/>
            <p:nvPr/>
          </p:nvSpPr>
          <p:spPr>
            <a:xfrm>
              <a:off x="1562100" y="3530600"/>
              <a:ext cx="6248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Unclear evidence, intent and acceptance criteria spread through delivery just as quickly.</a:t>
              </a:r>
              <a:endParaRPr lang="en-US" sz="1200" spc="0" kern="0" b="0" i="0" dirty="0">
                <a:solidFill>
                  <a:srgbClr val="50658E"/>
                </a:solidFill>
                <a:latin typeface="IBM Plex Sans"/>
                <a:ea typeface="IBM Plex Sans"/>
                <a:cs typeface="IBM Plex Sans"/>
              </a:endParaRPr>
            </a:p>
          </p:txBody>
        </p:sp>
        <p:sp>
          <p:nvSpPr>
            <p:cNvPr id="13" name="node02.source-003.number"/>
            <p:cNvSpPr/>
            <p:nvPr/>
          </p:nvSpPr>
          <p:spPr>
            <a:xfrm>
              <a:off x="723900" y="3898900"/>
              <a:ext cx="685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900D3"/>
                  </a:solidFill>
                  <a:latin typeface="IBM Plex Mono SemiBold"/>
                  <a:ea typeface="IBM Plex Mono SemiBold"/>
                  <a:cs typeface="IBM Plex Mono SemiBold"/>
                </a:rPr>
                <a:t>03</a:t>
              </a:r>
              <a:endParaRPr lang="en-US" sz="3000" spc="-60" kern="0" b="0" i="0" dirty="0">
                <a:solidFill>
                  <a:srgbClr val="F900D3"/>
                </a:solidFill>
                <a:latin typeface="IBM Plex Mono SemiBold"/>
                <a:ea typeface="IBM Plex Mono SemiBold"/>
                <a:cs typeface="IBM Plex Mono SemiBold"/>
              </a:endParaRPr>
            </a:p>
          </p:txBody>
        </p:sp>
        <p:sp>
          <p:nvSpPr>
            <p:cNvPr id="14" name="node02.source-003.title"/>
            <p:cNvSpPr/>
            <p:nvPr/>
          </p:nvSpPr>
          <p:spPr>
            <a:xfrm>
              <a:off x="1562100" y="3898900"/>
              <a:ext cx="6248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The product interface is the advantage</a:t>
              </a:r>
              <a:endParaRPr lang="en-US" sz="1200" spc="0" kern="0" b="0" i="0" dirty="0">
                <a:solidFill>
                  <a:srgbClr val="070154"/>
                </a:solidFill>
                <a:latin typeface="IBM Plex Sans SemiBold"/>
                <a:ea typeface="IBM Plex Sans SemiBold"/>
                <a:cs typeface="IBM Plex Sans SemiBold"/>
              </a:endParaRPr>
            </a:p>
          </p:txBody>
        </p:sp>
        <p:sp>
          <p:nvSpPr>
            <p:cNvPr id="15" name="node02.source-003.text"/>
            <p:cNvSpPr/>
            <p:nvPr/>
          </p:nvSpPr>
          <p:spPr>
            <a:xfrm>
              <a:off x="1562100" y="4114800"/>
              <a:ext cx="6248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Shared evidence, review and governance turn isolated gains into repeatable team performance.</a:t>
              </a:r>
              <a:endParaRPr lang="en-US" sz="1200" spc="0" kern="0" b="0" i="0" dirty="0">
                <a:solidFill>
                  <a:srgbClr val="50658E"/>
                </a:solidFill>
                <a:latin typeface="IBM Plex Sans"/>
                <a:ea typeface="IBM Plex Sans"/>
                <a:cs typeface="IBM Plex Sans"/>
              </a:endParaRPr>
            </a:p>
          </p:txBody>
        </p:sp>
      </p:grpSp>
      <p:grpSp>
        <p:nvGrpSpPr>
          <p:cNvPr id="34" name="node03"/>
          <p:cNvGrpSpPr/>
          <p:nvPr/>
        </p:nvGrpSpPr>
        <p:grpSpPr>
          <a:xfrm>
            <a:off x="8039100" y="457200"/>
            <a:ext cx="3429000" cy="3429000"/>
            <a:chOff x="8039100" y="457200"/>
            <a:chExt cx="3429000" cy="3429000"/>
          </a:xfrm>
        </p:grpSpPr>
        <p:sp>
          <p:nvSpPr>
            <p:cNvPr id="16" name="node03.container"/>
            <p:cNvSpPr/>
            <p:nvPr/>
          </p:nvSpPr>
          <p:spPr>
            <a:xfrm>
              <a:off x="8039100" y="457200"/>
              <a:ext cx="3429000" cy="3429000"/>
            </a:xfrm>
            <a:prstGeom prst="rect">
              <a:avLst/>
            </a:prstGeom>
            <a:solidFill>
              <a:srgbClr val="070154"/>
            </a:solidFill>
            <a:ln>
              <a:noFill/>
            </a:ln>
          </p:spPr>
        </p:sp>
        <p:sp>
          <p:nvSpPr>
            <p:cNvPr id="17" name="node03.edge"/>
            <p:cNvSpPr/>
            <p:nvPr/>
          </p:nvSpPr>
          <p:spPr>
            <a:xfrm>
              <a:off x="8039100" y="457200"/>
              <a:ext cx="3429000" cy="76200"/>
            </a:xfrm>
            <a:prstGeom prst="rect">
              <a:avLst/>
            </a:prstGeom>
            <a:solidFill>
              <a:srgbClr val="F900D3"/>
            </a:solidFill>
            <a:ln>
              <a:noFill/>
            </a:ln>
          </p:spPr>
        </p:sp>
        <p:sp>
          <p:nvSpPr>
            <p:cNvPr id="18" name="node03.label"/>
            <p:cNvSpPr/>
            <p:nvPr/>
          </p:nvSpPr>
          <p:spPr>
            <a:xfrm>
              <a:off x="8267700" y="7620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HOW WE WILL RUN IT</a:t>
              </a:r>
              <a:endParaRPr lang="en-US" sz="800" spc="48" kern="0" b="0" i="0" dirty="0">
                <a:solidFill>
                  <a:srgbClr val="F900D3"/>
                </a:solidFill>
                <a:latin typeface="IBM Plex Mono Medium"/>
                <a:ea typeface="IBM Plex Mono Medium"/>
                <a:cs typeface="IBM Plex Mono Medium"/>
              </a:endParaRPr>
            </a:p>
          </p:txBody>
        </p:sp>
        <p:sp>
          <p:nvSpPr>
            <p:cNvPr id="19" name="node03.title"/>
            <p:cNvSpPr/>
            <p:nvPr/>
          </p:nvSpPr>
          <p:spPr>
            <a:xfrm>
              <a:off x="8267700" y="977900"/>
              <a:ext cx="29718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Guide the process without taking over the work</a:t>
              </a:r>
              <a:endParaRPr lang="en-US" sz="1600" spc="-16" kern="0" b="0" i="0" dirty="0">
                <a:solidFill>
                  <a:srgbClr val="FFFFFF"/>
                </a:solidFill>
                <a:latin typeface="IBM Plex Sans SemiBold"/>
                <a:ea typeface="IBM Plex Sans SemiBold"/>
                <a:cs typeface="IBM Plex Sans SemiBold"/>
              </a:endParaRPr>
            </a:p>
          </p:txBody>
        </p:sp>
        <p:sp>
          <p:nvSpPr>
            <p:cNvPr id="20" name="node03.body.item-001.bullets.item-001.marker"/>
            <p:cNvSpPr/>
            <p:nvPr/>
          </p:nvSpPr>
          <p:spPr>
            <a:xfrm>
              <a:off x="8267700" y="1752600"/>
              <a:ext cx="38100" cy="38100"/>
            </a:xfrm>
            <a:prstGeom prst="rect">
              <a:avLst/>
            </a:prstGeom>
            <a:solidFill>
              <a:srgbClr val="FFFFFF"/>
            </a:solidFill>
            <a:ln>
              <a:noFill/>
            </a:ln>
          </p:spPr>
        </p:sp>
        <p:sp>
          <p:nvSpPr>
            <p:cNvPr id="21" name="node03.body.item-001.bullets.item-001.text"/>
            <p:cNvSpPr/>
            <p:nvPr/>
          </p:nvSpPr>
          <p:spPr>
            <a:xfrm>
              <a:off x="8420100" y="1663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Short prompts, then participant work</a:t>
              </a:r>
              <a:endParaRPr lang="en-US" sz="1200" spc="0" kern="0" b="0" i="0" dirty="0">
                <a:solidFill>
                  <a:srgbClr val="FFFFFF"/>
                </a:solidFill>
                <a:latin typeface="IBM Plex Sans"/>
                <a:ea typeface="IBM Plex Sans"/>
                <a:cs typeface="IBM Plex Sans"/>
              </a:endParaRPr>
            </a:p>
          </p:txBody>
        </p:sp>
        <p:sp>
          <p:nvSpPr>
            <p:cNvPr id="22" name="node03.body.item-001.bullets.item-002.marker"/>
            <p:cNvSpPr/>
            <p:nvPr/>
          </p:nvSpPr>
          <p:spPr>
            <a:xfrm>
              <a:off x="8267700" y="2006600"/>
              <a:ext cx="38100" cy="38100"/>
            </a:xfrm>
            <a:prstGeom prst="rect">
              <a:avLst/>
            </a:prstGeom>
            <a:solidFill>
              <a:srgbClr val="FFFFFF"/>
            </a:solidFill>
            <a:ln>
              <a:noFill/>
            </a:ln>
          </p:spPr>
        </p:sp>
        <p:sp>
          <p:nvSpPr>
            <p:cNvPr id="23" name="node03.body.item-001.bullets.item-002.text"/>
            <p:cNvSpPr/>
            <p:nvPr/>
          </p:nvSpPr>
          <p:spPr>
            <a:xfrm>
              <a:off x="8420100" y="1917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Named checkpoints and timeboxes</a:t>
              </a:r>
              <a:endParaRPr lang="en-US" sz="1200" spc="0" kern="0" b="0" i="0" dirty="0">
                <a:solidFill>
                  <a:srgbClr val="FFFFFF"/>
                </a:solidFill>
                <a:latin typeface="IBM Plex Sans"/>
                <a:ea typeface="IBM Plex Sans"/>
                <a:cs typeface="IBM Plex Sans"/>
              </a:endParaRPr>
            </a:p>
          </p:txBody>
        </p:sp>
        <p:sp>
          <p:nvSpPr>
            <p:cNvPr id="24" name="node03.body.item-001.bullets.item-003.marker"/>
            <p:cNvSpPr/>
            <p:nvPr/>
          </p:nvSpPr>
          <p:spPr>
            <a:xfrm>
              <a:off x="8267700" y="2260600"/>
              <a:ext cx="38100" cy="38100"/>
            </a:xfrm>
            <a:prstGeom prst="rect">
              <a:avLst/>
            </a:prstGeom>
            <a:solidFill>
              <a:srgbClr val="FFFFFF"/>
            </a:solidFill>
            <a:ln>
              <a:noFill/>
            </a:ln>
          </p:spPr>
        </p:sp>
        <p:sp>
          <p:nvSpPr>
            <p:cNvPr id="25" name="node03.body.item-001.bullets.item-003.text"/>
            <p:cNvSpPr/>
            <p:nvPr/>
          </p:nvSpPr>
          <p:spPr>
            <a:xfrm>
              <a:off x="8420100" y="2171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Active coaching and unblocking</a:t>
              </a:r>
              <a:endParaRPr lang="en-US" sz="1200" spc="0" kern="0" b="0" i="0" dirty="0">
                <a:solidFill>
                  <a:srgbClr val="FFFFFF"/>
                </a:solidFill>
                <a:latin typeface="IBM Plex Sans"/>
                <a:ea typeface="IBM Plex Sans"/>
                <a:cs typeface="IBM Plex Sans"/>
              </a:endParaRPr>
            </a:p>
          </p:txBody>
        </p:sp>
        <p:sp>
          <p:nvSpPr>
            <p:cNvPr id="26" name="node03.body.item-001.bullets.item-004.marker"/>
            <p:cNvSpPr/>
            <p:nvPr/>
          </p:nvSpPr>
          <p:spPr>
            <a:xfrm>
              <a:off x="8267700" y="2514600"/>
              <a:ext cx="38100" cy="38100"/>
            </a:xfrm>
            <a:prstGeom prst="rect">
              <a:avLst/>
            </a:prstGeom>
            <a:solidFill>
              <a:srgbClr val="FFFFFF"/>
            </a:solidFill>
            <a:ln>
              <a:noFill/>
            </a:ln>
          </p:spPr>
        </p:sp>
        <p:sp>
          <p:nvSpPr>
            <p:cNvPr id="27" name="node03.body.item-001.bullets.item-004.text"/>
            <p:cNvSpPr/>
            <p:nvPr/>
          </p:nvSpPr>
          <p:spPr>
            <a:xfrm>
              <a:off x="8420100" y="2425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Human approval at every gate</a:t>
              </a:r>
              <a:endParaRPr lang="en-US" sz="1200" spc="0" kern="0" b="0" i="0" dirty="0">
                <a:solidFill>
                  <a:srgbClr val="FFFFFF"/>
                </a:solidFill>
                <a:latin typeface="IBM Plex Sans"/>
                <a:ea typeface="IBM Plex Sans"/>
                <a:cs typeface="IBM Plex Sans"/>
              </a:endParaRPr>
            </a:p>
          </p:txBody>
        </p:sp>
        <p:sp>
          <p:nvSpPr>
            <p:cNvPr id="28" name="node03.body.item-001.bullets.item-005.marker"/>
            <p:cNvSpPr/>
            <p:nvPr/>
          </p:nvSpPr>
          <p:spPr>
            <a:xfrm>
              <a:off x="8267700" y="2768600"/>
              <a:ext cx="38100" cy="38100"/>
            </a:xfrm>
            <a:prstGeom prst="rect">
              <a:avLst/>
            </a:prstGeom>
            <a:solidFill>
              <a:srgbClr val="FFFFFF"/>
            </a:solidFill>
            <a:ln>
              <a:noFill/>
            </a:ln>
          </p:spPr>
        </p:sp>
        <p:sp>
          <p:nvSpPr>
            <p:cNvPr id="29" name="node03.body.item-001.bullets.item-005.text"/>
            <p:cNvSpPr/>
            <p:nvPr/>
          </p:nvSpPr>
          <p:spPr>
            <a:xfrm>
              <a:off x="8420100" y="2679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Shared notes captured live</a:t>
              </a:r>
              <a:endParaRPr lang="en-US" sz="1200" spc="0" kern="0" b="0" i="0" dirty="0">
                <a:solidFill>
                  <a:srgbClr val="FFFFFF"/>
                </a:solidFill>
                <a:latin typeface="IBM Plex Sans"/>
                <a:ea typeface="IBM Plex Sans"/>
                <a:cs typeface="IBM Plex Sans"/>
              </a:endParaRPr>
            </a:p>
          </p:txBody>
        </p:sp>
        <p:sp>
          <p:nvSpPr>
            <p:cNvPr id="30" name="node03.body.item-001.bullets.item-006.marker"/>
            <p:cNvSpPr/>
            <p:nvPr/>
          </p:nvSpPr>
          <p:spPr>
            <a:xfrm>
              <a:off x="8267700" y="3022600"/>
              <a:ext cx="38100" cy="38100"/>
            </a:xfrm>
            <a:prstGeom prst="rect">
              <a:avLst/>
            </a:prstGeom>
            <a:solidFill>
              <a:srgbClr val="FFFFFF"/>
            </a:solidFill>
            <a:ln>
              <a:noFill/>
            </a:ln>
          </p:spPr>
        </p:sp>
        <p:sp>
          <p:nvSpPr>
            <p:cNvPr id="31" name="node03.body.item-001.bullets.item-006.text"/>
            <p:cNvSpPr/>
            <p:nvPr/>
          </p:nvSpPr>
          <p:spPr>
            <a:xfrm>
              <a:off x="8420100" y="2933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Open risks logged for follow-up</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ource-50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SESSION EXPERIENCE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Expect a facilitated build, not a passive demo</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39</a:t>
            </a:fld>
            <a:endParaRPr lang="en-US" sz="700" spc="0" kern="0" b="0" i="0" dirty="0">
              <a:solidFill>
                <a:srgbClr val="070154"/>
              </a:solidFill>
              <a:latin typeface="IBM Plex Mono SemiBold"/>
              <a:ea typeface="IBM Plex Mono SemiBold"/>
              <a:cs typeface="IBM Plex Mono SemiBold"/>
            </a:endParaRPr>
          </a:p>
        </p:txBody>
      </p:sp>
      <p:grpSp>
        <p:nvGrpSpPr>
          <p:cNvPr id="42" name="node01"/>
          <p:cNvGrpSpPr/>
          <p:nvPr/>
        </p:nvGrpSpPr>
        <p:grpSpPr>
          <a:xfrm>
            <a:off x="723900" y="1600200"/>
            <a:ext cx="7086600" cy="139700"/>
            <a:chOff x="723900" y="1600200"/>
            <a:chExt cx="7086600" cy="139700"/>
          </a:xfrm>
        </p:grpSpPr>
        <p:sp>
          <p:nvSpPr>
            <p:cNvPr id="6" name="node01.text"/>
            <p:cNvSpPr/>
            <p:nvPr/>
          </p:nvSpPr>
          <p:spPr>
            <a:xfrm>
              <a:off x="723900" y="16002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HOW THE SESSION RUNS</a:t>
              </a:r>
              <a:endParaRPr lang="en-US" sz="800" spc="48" kern="0" b="0" i="0" dirty="0">
                <a:solidFill>
                  <a:srgbClr val="50658E"/>
                </a:solidFill>
                <a:latin typeface="IBM Plex Mono Medium"/>
                <a:ea typeface="IBM Plex Mono Medium"/>
                <a:cs typeface="IBM Plex Mono Medium"/>
              </a:endParaRPr>
            </a:p>
          </p:txBody>
        </p:sp>
      </p:grpSp>
      <p:grpSp>
        <p:nvGrpSpPr>
          <p:cNvPr id="43" name="node02"/>
          <p:cNvGrpSpPr/>
          <p:nvPr/>
        </p:nvGrpSpPr>
        <p:grpSpPr>
          <a:xfrm>
            <a:off x="723900" y="1943100"/>
            <a:ext cx="7086600" cy="2959100"/>
            <a:chOff x="723900" y="1943100"/>
            <a:chExt cx="7086600" cy="2959100"/>
          </a:xfrm>
        </p:grpSpPr>
        <p:sp>
          <p:nvSpPr>
            <p:cNvPr id="7" name="node02.base"/>
            <p:cNvSpPr/>
            <p:nvPr/>
          </p:nvSpPr>
          <p:spPr>
            <a:xfrm>
              <a:off x="838200" y="2057400"/>
              <a:ext cx="0" cy="2514600"/>
            </a:xfrm>
            <a:custGeom>
              <a:avLst/>
              <a:gdLst/>
              <a:ahLst/>
              <a:cxnLst/>
              <a:rect l="l" t="t" r="r" b="b"/>
              <a:pathLst>
                <a:path h="2514600">
                  <a:moveTo>
                    <a:pt x="0" y="0"/>
                  </a:moveTo>
                  <a:lnTo>
                    <a:pt x="0" y="2514600"/>
                  </a:lnTo>
                </a:path>
              </a:pathLst>
            </a:custGeom>
            <a:ln w="25400">
              <a:solidFill>
                <a:srgbClr val="CED7E6"/>
              </a:solidFill>
              <a:prstDash val="solid"/>
            </a:ln>
          </p:spPr>
        </p:sp>
        <p:sp>
          <p:nvSpPr>
            <p:cNvPr id="8" name="node02.done"/>
            <p:cNvSpPr/>
            <p:nvPr/>
          </p:nvSpPr>
          <p:spPr>
            <a:xfrm>
              <a:off x="838200" y="2057400"/>
              <a:ext cx="0" cy="1676400"/>
            </a:xfrm>
            <a:custGeom>
              <a:avLst/>
              <a:gdLst/>
              <a:ahLst/>
              <a:cxnLst/>
              <a:rect l="l" t="t" r="r" b="b"/>
              <a:pathLst>
                <a:path h="1676400">
                  <a:moveTo>
                    <a:pt x="0" y="0"/>
                  </a:moveTo>
                  <a:lnTo>
                    <a:pt x="0" y="1676400"/>
                  </a:lnTo>
                </a:path>
              </a:pathLst>
            </a:custGeom>
            <a:ln w="25400">
              <a:solidFill>
                <a:srgbClr val="070154"/>
              </a:solidFill>
              <a:prstDash val="solid"/>
            </a:ln>
          </p:spPr>
        </p:sp>
        <p:sp>
          <p:nvSpPr>
            <p:cNvPr id="9" name="node02.steps.slot-001.marker"/>
            <p:cNvSpPr/>
            <p:nvPr/>
          </p:nvSpPr>
          <p:spPr>
            <a:xfrm>
              <a:off x="762000" y="1981200"/>
              <a:ext cx="152400" cy="152400"/>
            </a:xfrm>
            <a:prstGeom prst="rect">
              <a:avLst/>
            </a:prstGeom>
            <a:solidFill>
              <a:srgbClr val="070154"/>
            </a:solidFill>
            <a:ln>
              <a:noFill/>
            </a:ln>
          </p:spPr>
        </p:sp>
        <p:sp>
          <p:nvSpPr>
            <p:cNvPr id="10" name="node02.steps.slot-001.title"/>
            <p:cNvSpPr/>
            <p:nvPr/>
          </p:nvSpPr>
          <p:spPr>
            <a:xfrm>
              <a:off x="1181100" y="1943100"/>
              <a:ext cx="1144588"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Frame together</a:t>
              </a:r>
              <a:endParaRPr lang="en-US" sz="1200" spc="0" kern="0" b="0" i="0" dirty="0">
                <a:solidFill>
                  <a:srgbClr val="070154"/>
                </a:solidFill>
                <a:latin typeface="IBM Plex Sans SemiBold"/>
                <a:ea typeface="IBM Plex Sans SemiBold"/>
                <a:cs typeface="IBM Plex Sans SemiBold"/>
              </a:endParaRPr>
            </a:p>
          </p:txBody>
        </p:sp>
        <p:sp>
          <p:nvSpPr>
            <p:cNvPr id="11" name="node02.steps.slot-001.label"/>
            <p:cNvSpPr/>
            <p:nvPr/>
          </p:nvSpPr>
          <p:spPr>
            <a:xfrm>
              <a:off x="2478088" y="20076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15 MIN</a:t>
              </a:r>
              <a:endParaRPr lang="en-US" sz="800" spc="48" kern="0" b="0" i="0" dirty="0">
                <a:solidFill>
                  <a:srgbClr val="0047FF"/>
                </a:solidFill>
                <a:latin typeface="IBM Plex Mono Medium"/>
                <a:ea typeface="IBM Plex Mono Medium"/>
                <a:cs typeface="IBM Plex Mono Medium"/>
              </a:endParaRPr>
            </a:p>
          </p:txBody>
        </p:sp>
        <p:sp>
          <p:nvSpPr>
            <p:cNvPr id="12" name="node02.steps.slot-001.description.part-0"/>
            <p:cNvSpPr/>
            <p:nvPr/>
          </p:nvSpPr>
          <p:spPr>
            <a:xfrm>
              <a:off x="1181100" y="2197100"/>
              <a:ext cx="662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Facilitators set the objective and decision criteria; teams bring their own context and constraints.</a:t>
              </a:r>
              <a:endParaRPr lang="en-US" sz="1100" spc="0" kern="0" b="0" i="0" dirty="0">
                <a:solidFill>
                  <a:srgbClr val="50658E"/>
                </a:solidFill>
                <a:latin typeface="IBM Plex Sans"/>
                <a:ea typeface="IBM Plex Sans"/>
                <a:cs typeface="IBM Plex Sans"/>
              </a:endParaRPr>
            </a:p>
          </p:txBody>
        </p:sp>
        <p:sp>
          <p:nvSpPr>
            <p:cNvPr id="13" name="node02.steps.slot-002.marker"/>
            <p:cNvSpPr/>
            <p:nvPr/>
          </p:nvSpPr>
          <p:spPr>
            <a:xfrm>
              <a:off x="762000" y="2819400"/>
              <a:ext cx="152400" cy="152400"/>
            </a:xfrm>
            <a:prstGeom prst="rect">
              <a:avLst/>
            </a:prstGeom>
            <a:solidFill>
              <a:srgbClr val="070154"/>
            </a:solidFill>
            <a:ln>
              <a:noFill/>
            </a:ln>
          </p:spPr>
        </p:sp>
        <p:sp>
          <p:nvSpPr>
            <p:cNvPr id="14" name="node02.steps.slot-002.title"/>
            <p:cNvSpPr/>
            <p:nvPr/>
          </p:nvSpPr>
          <p:spPr>
            <a:xfrm>
              <a:off x="1181100" y="2781300"/>
              <a:ext cx="906463"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Work in role</a:t>
              </a:r>
              <a:endParaRPr lang="en-US" sz="1200" spc="0" kern="0" b="0" i="0" dirty="0">
                <a:solidFill>
                  <a:srgbClr val="070154"/>
                </a:solidFill>
                <a:latin typeface="IBM Plex Sans SemiBold"/>
                <a:ea typeface="IBM Plex Sans SemiBold"/>
                <a:cs typeface="IBM Plex Sans SemiBold"/>
              </a:endParaRPr>
            </a:p>
          </p:txBody>
        </p:sp>
        <p:sp>
          <p:nvSpPr>
            <p:cNvPr id="15" name="node02.steps.slot-002.label"/>
            <p:cNvSpPr/>
            <p:nvPr/>
          </p:nvSpPr>
          <p:spPr>
            <a:xfrm>
              <a:off x="2239963" y="28458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30 MIN</a:t>
              </a:r>
              <a:endParaRPr lang="en-US" sz="800" spc="48" kern="0" b="0" i="0" dirty="0">
                <a:solidFill>
                  <a:srgbClr val="0047FF"/>
                </a:solidFill>
                <a:latin typeface="IBM Plex Mono Medium"/>
                <a:ea typeface="IBM Plex Mono Medium"/>
                <a:cs typeface="IBM Plex Mono Medium"/>
              </a:endParaRPr>
            </a:p>
          </p:txBody>
        </p:sp>
        <p:sp>
          <p:nvSpPr>
            <p:cNvPr id="16" name="node02.steps.slot-002.description.part-0"/>
            <p:cNvSpPr/>
            <p:nvPr/>
          </p:nvSpPr>
          <p:spPr>
            <a:xfrm>
              <a:off x="1181100" y="3035300"/>
              <a:ext cx="662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Product and engineering build in focused tracks; facilitators keep time.</a:t>
              </a:r>
              <a:endParaRPr lang="en-US" sz="1100" spc="0" kern="0" b="0" i="0" dirty="0">
                <a:solidFill>
                  <a:srgbClr val="50658E"/>
                </a:solidFill>
                <a:latin typeface="IBM Plex Sans"/>
                <a:ea typeface="IBM Plex Sans"/>
                <a:cs typeface="IBM Plex Sans"/>
              </a:endParaRPr>
            </a:p>
          </p:txBody>
        </p:sp>
        <p:sp>
          <p:nvSpPr>
            <p:cNvPr id="17" name="node02.steps.slot-003.marker"/>
            <p:cNvSpPr/>
            <p:nvPr/>
          </p:nvSpPr>
          <p:spPr>
            <a:xfrm>
              <a:off x="723900" y="3619500"/>
              <a:ext cx="228600" cy="228600"/>
            </a:xfrm>
            <a:prstGeom prst="rect">
              <a:avLst/>
            </a:prstGeom>
            <a:solidFill>
              <a:srgbClr val="F900D3"/>
            </a:solidFill>
            <a:ln>
              <a:noFill/>
            </a:ln>
          </p:spPr>
        </p:sp>
        <p:sp>
          <p:nvSpPr>
            <p:cNvPr id="18" name="node02.steps.slot-003.title"/>
            <p:cNvSpPr/>
            <p:nvPr/>
          </p:nvSpPr>
          <p:spPr>
            <a:xfrm>
              <a:off x="1181100" y="3619500"/>
              <a:ext cx="140335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Reconnect at gates</a:t>
              </a:r>
              <a:endParaRPr lang="en-US" sz="1200" spc="0" kern="0" b="0" i="0" dirty="0">
                <a:solidFill>
                  <a:srgbClr val="070154"/>
                </a:solidFill>
                <a:latin typeface="IBM Plex Sans SemiBold"/>
                <a:ea typeface="IBM Plex Sans SemiBold"/>
                <a:cs typeface="IBM Plex Sans SemiBold"/>
              </a:endParaRPr>
            </a:p>
          </p:txBody>
        </p:sp>
        <p:sp>
          <p:nvSpPr>
            <p:cNvPr id="19" name="node02.steps.slot-003.label"/>
            <p:cNvSpPr/>
            <p:nvPr/>
          </p:nvSpPr>
          <p:spPr>
            <a:xfrm>
              <a:off x="2736850" y="36840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30 MIN</a:t>
              </a:r>
              <a:endParaRPr lang="en-US" sz="800" spc="48" kern="0" b="0" i="0" dirty="0">
                <a:solidFill>
                  <a:srgbClr val="0047FF"/>
                </a:solidFill>
                <a:latin typeface="IBM Plex Mono Medium"/>
                <a:ea typeface="IBM Plex Mono Medium"/>
                <a:cs typeface="IBM Plex Mono Medium"/>
              </a:endParaRPr>
            </a:p>
          </p:txBody>
        </p:sp>
        <p:sp>
          <p:nvSpPr>
            <p:cNvPr id="20" name="node02.steps.slot-003.description.part-0"/>
            <p:cNvSpPr/>
            <p:nvPr/>
          </p:nvSpPr>
          <p:spPr>
            <a:xfrm>
              <a:off x="1181100" y="3873500"/>
              <a:ext cx="662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Teams share artifacts, challenge ambiguity and agree what is ready before the next block.</a:t>
              </a:r>
              <a:endParaRPr lang="en-US" sz="1100" spc="0" kern="0" b="0" i="0" dirty="0">
                <a:solidFill>
                  <a:srgbClr val="50658E"/>
                </a:solidFill>
                <a:latin typeface="IBM Plex Sans"/>
                <a:ea typeface="IBM Plex Sans"/>
                <a:cs typeface="IBM Plex Sans"/>
              </a:endParaRPr>
            </a:p>
          </p:txBody>
        </p:sp>
        <p:sp>
          <p:nvSpPr>
            <p:cNvPr id="21" name="node02.steps.slot-004.marker"/>
            <p:cNvSpPr/>
            <p:nvPr/>
          </p:nvSpPr>
          <p:spPr>
            <a:xfrm>
              <a:off x="762000" y="4495800"/>
              <a:ext cx="152400" cy="152400"/>
            </a:xfrm>
            <a:prstGeom prst="rect">
              <a:avLst/>
            </a:prstGeom>
            <a:solidFill>
              <a:srgbClr val="FFFFFF"/>
            </a:solidFill>
            <a:ln w="12700">
              <a:solidFill>
                <a:srgbClr val="070154"/>
              </a:solidFill>
              <a:prstDash val="solid"/>
            </a:ln>
          </p:spPr>
        </p:sp>
        <p:sp>
          <p:nvSpPr>
            <p:cNvPr id="22" name="node02.steps.slot-004.title"/>
            <p:cNvSpPr/>
            <p:nvPr/>
          </p:nvSpPr>
          <p:spPr>
            <a:xfrm>
              <a:off x="1181100" y="4457700"/>
              <a:ext cx="12573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Iterate and close</a:t>
              </a:r>
              <a:endParaRPr lang="en-US" sz="1200" spc="0" kern="0" b="0" i="0" dirty="0">
                <a:solidFill>
                  <a:srgbClr val="070154"/>
                </a:solidFill>
                <a:latin typeface="IBM Plex Sans SemiBold"/>
                <a:ea typeface="IBM Plex Sans SemiBold"/>
                <a:cs typeface="IBM Plex Sans SemiBold"/>
              </a:endParaRPr>
            </a:p>
          </p:txBody>
        </p:sp>
        <p:sp>
          <p:nvSpPr>
            <p:cNvPr id="23" name="node02.steps.slot-004.label"/>
            <p:cNvSpPr/>
            <p:nvPr/>
          </p:nvSpPr>
          <p:spPr>
            <a:xfrm>
              <a:off x="2590800" y="45222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15 MIN</a:t>
              </a:r>
              <a:endParaRPr lang="en-US" sz="800" spc="48" kern="0" b="0" i="0" dirty="0">
                <a:solidFill>
                  <a:srgbClr val="0047FF"/>
                </a:solidFill>
                <a:latin typeface="IBM Plex Mono Medium"/>
                <a:ea typeface="IBM Plex Mono Medium"/>
                <a:cs typeface="IBM Plex Mono Medium"/>
              </a:endParaRPr>
            </a:p>
          </p:txBody>
        </p:sp>
        <p:sp>
          <p:nvSpPr>
            <p:cNvPr id="24" name="node02.steps.slot-004.description.part-0"/>
            <p:cNvSpPr/>
            <p:nvPr/>
          </p:nvSpPr>
          <p:spPr>
            <a:xfrm>
              <a:off x="1181100" y="4711700"/>
              <a:ext cx="662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The group reviews evidence, records limits and turns learning into owned next actions.</a:t>
              </a:r>
              <a:endParaRPr lang="en-US" sz="1100" spc="0" kern="0" b="0" i="0" dirty="0">
                <a:solidFill>
                  <a:srgbClr val="50658E"/>
                </a:solidFill>
                <a:latin typeface="IBM Plex Sans"/>
                <a:ea typeface="IBM Plex Sans"/>
                <a:cs typeface="IBM Plex Sans"/>
              </a:endParaRPr>
            </a:p>
          </p:txBody>
        </p:sp>
      </p:grpSp>
      <p:grpSp>
        <p:nvGrpSpPr>
          <p:cNvPr id="44" name="node03"/>
          <p:cNvGrpSpPr/>
          <p:nvPr/>
        </p:nvGrpSpPr>
        <p:grpSpPr>
          <a:xfrm>
            <a:off x="8039100" y="1600200"/>
            <a:ext cx="3429000" cy="3657600"/>
            <a:chOff x="8039100" y="1600200"/>
            <a:chExt cx="3429000" cy="3657600"/>
          </a:xfrm>
        </p:grpSpPr>
        <p:sp>
          <p:nvSpPr>
            <p:cNvPr id="25" name="node03.container"/>
            <p:cNvSpPr/>
            <p:nvPr/>
          </p:nvSpPr>
          <p:spPr>
            <a:xfrm>
              <a:off x="8039100" y="1600200"/>
              <a:ext cx="3429000" cy="3657600"/>
            </a:xfrm>
            <a:prstGeom prst="rect">
              <a:avLst/>
            </a:prstGeom>
            <a:solidFill>
              <a:srgbClr val="070154"/>
            </a:solidFill>
            <a:ln>
              <a:noFill/>
            </a:ln>
          </p:spPr>
        </p:sp>
        <p:sp>
          <p:nvSpPr>
            <p:cNvPr id="26" name="node03.edge"/>
            <p:cNvSpPr/>
            <p:nvPr/>
          </p:nvSpPr>
          <p:spPr>
            <a:xfrm>
              <a:off x="8039100" y="1600200"/>
              <a:ext cx="3429000" cy="76200"/>
            </a:xfrm>
            <a:prstGeom prst="rect">
              <a:avLst/>
            </a:prstGeom>
            <a:solidFill>
              <a:srgbClr val="F900D3"/>
            </a:solidFill>
            <a:ln>
              <a:noFill/>
            </a:ln>
          </p:spPr>
        </p:sp>
        <p:sp>
          <p:nvSpPr>
            <p:cNvPr id="27" name="node03.label"/>
            <p:cNvSpPr/>
            <p:nvPr/>
          </p:nvSpPr>
          <p:spPr>
            <a:xfrm>
              <a:off x="8267700" y="19050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HOW FACILITATION WORKS</a:t>
              </a:r>
              <a:endParaRPr lang="en-US" sz="800" spc="48" kern="0" b="0" i="0" dirty="0">
                <a:solidFill>
                  <a:srgbClr val="F900D3"/>
                </a:solidFill>
                <a:latin typeface="IBM Plex Mono Medium"/>
                <a:ea typeface="IBM Plex Mono Medium"/>
                <a:cs typeface="IBM Plex Mono Medium"/>
              </a:endParaRPr>
            </a:p>
          </p:txBody>
        </p:sp>
        <p:sp>
          <p:nvSpPr>
            <p:cNvPr id="28" name="node03.title"/>
            <p:cNvSpPr/>
            <p:nvPr/>
          </p:nvSpPr>
          <p:spPr>
            <a:xfrm>
              <a:off x="8267700" y="2120900"/>
              <a:ext cx="29718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Guide the process without taking over the work</a:t>
              </a:r>
              <a:endParaRPr lang="en-US" sz="1600" spc="-16" kern="0" b="0" i="0" dirty="0">
                <a:solidFill>
                  <a:srgbClr val="FFFFFF"/>
                </a:solidFill>
                <a:latin typeface="IBM Plex Sans SemiBold"/>
                <a:ea typeface="IBM Plex Sans SemiBold"/>
                <a:cs typeface="IBM Plex Sans SemiBold"/>
              </a:endParaRPr>
            </a:p>
          </p:txBody>
        </p:sp>
        <p:sp>
          <p:nvSpPr>
            <p:cNvPr id="29" name="node03.body.item-001.bullets.item-001.marker"/>
            <p:cNvSpPr/>
            <p:nvPr/>
          </p:nvSpPr>
          <p:spPr>
            <a:xfrm>
              <a:off x="8267700" y="2895600"/>
              <a:ext cx="38100" cy="38100"/>
            </a:xfrm>
            <a:prstGeom prst="rect">
              <a:avLst/>
            </a:prstGeom>
            <a:solidFill>
              <a:srgbClr val="FFFFFF"/>
            </a:solidFill>
            <a:ln>
              <a:noFill/>
            </a:ln>
          </p:spPr>
        </p:sp>
        <p:sp>
          <p:nvSpPr>
            <p:cNvPr id="30" name="node03.body.item-001.bullets.item-001.text"/>
            <p:cNvSpPr/>
            <p:nvPr/>
          </p:nvSpPr>
          <p:spPr>
            <a:xfrm>
              <a:off x="8420100" y="2806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Short prompts, then participant work</a:t>
              </a:r>
              <a:endParaRPr lang="en-US" sz="1200" spc="0" kern="0" b="0" i="0" dirty="0">
                <a:solidFill>
                  <a:srgbClr val="FFFFFF"/>
                </a:solidFill>
                <a:latin typeface="IBM Plex Sans"/>
                <a:ea typeface="IBM Plex Sans"/>
                <a:cs typeface="IBM Plex Sans"/>
              </a:endParaRPr>
            </a:p>
          </p:txBody>
        </p:sp>
        <p:sp>
          <p:nvSpPr>
            <p:cNvPr id="31" name="node03.body.item-001.bullets.item-002.marker"/>
            <p:cNvSpPr/>
            <p:nvPr/>
          </p:nvSpPr>
          <p:spPr>
            <a:xfrm>
              <a:off x="8267700" y="3149600"/>
              <a:ext cx="38100" cy="38100"/>
            </a:xfrm>
            <a:prstGeom prst="rect">
              <a:avLst/>
            </a:prstGeom>
            <a:solidFill>
              <a:srgbClr val="FFFFFF"/>
            </a:solidFill>
            <a:ln>
              <a:noFill/>
            </a:ln>
          </p:spPr>
        </p:sp>
        <p:sp>
          <p:nvSpPr>
            <p:cNvPr id="32" name="node03.body.item-001.bullets.item-002.text"/>
            <p:cNvSpPr/>
            <p:nvPr/>
          </p:nvSpPr>
          <p:spPr>
            <a:xfrm>
              <a:off x="8420100" y="3060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Named checkpoints and timeboxes</a:t>
              </a:r>
              <a:endParaRPr lang="en-US" sz="1200" spc="0" kern="0" b="0" i="0" dirty="0">
                <a:solidFill>
                  <a:srgbClr val="FFFFFF"/>
                </a:solidFill>
                <a:latin typeface="IBM Plex Sans"/>
                <a:ea typeface="IBM Plex Sans"/>
                <a:cs typeface="IBM Plex Sans"/>
              </a:endParaRPr>
            </a:p>
          </p:txBody>
        </p:sp>
        <p:sp>
          <p:nvSpPr>
            <p:cNvPr id="33" name="node03.body.item-001.bullets.item-003.marker"/>
            <p:cNvSpPr/>
            <p:nvPr/>
          </p:nvSpPr>
          <p:spPr>
            <a:xfrm>
              <a:off x="8267700" y="3403600"/>
              <a:ext cx="38100" cy="38100"/>
            </a:xfrm>
            <a:prstGeom prst="rect">
              <a:avLst/>
            </a:prstGeom>
            <a:solidFill>
              <a:srgbClr val="FFFFFF"/>
            </a:solidFill>
            <a:ln>
              <a:noFill/>
            </a:ln>
          </p:spPr>
        </p:sp>
        <p:sp>
          <p:nvSpPr>
            <p:cNvPr id="34" name="node03.body.item-001.bullets.item-003.text"/>
            <p:cNvSpPr/>
            <p:nvPr/>
          </p:nvSpPr>
          <p:spPr>
            <a:xfrm>
              <a:off x="8420100" y="3314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Active coaching and unblocking</a:t>
              </a:r>
              <a:endParaRPr lang="en-US" sz="1200" spc="0" kern="0" b="0" i="0" dirty="0">
                <a:solidFill>
                  <a:srgbClr val="FFFFFF"/>
                </a:solidFill>
                <a:latin typeface="IBM Plex Sans"/>
                <a:ea typeface="IBM Plex Sans"/>
                <a:cs typeface="IBM Plex Sans"/>
              </a:endParaRPr>
            </a:p>
          </p:txBody>
        </p:sp>
        <p:sp>
          <p:nvSpPr>
            <p:cNvPr id="35" name="node03.body.item-001.bullets.item-004.marker"/>
            <p:cNvSpPr/>
            <p:nvPr/>
          </p:nvSpPr>
          <p:spPr>
            <a:xfrm>
              <a:off x="8267700" y="3657600"/>
              <a:ext cx="38100" cy="38100"/>
            </a:xfrm>
            <a:prstGeom prst="rect">
              <a:avLst/>
            </a:prstGeom>
            <a:solidFill>
              <a:srgbClr val="FFFFFF"/>
            </a:solidFill>
            <a:ln>
              <a:noFill/>
            </a:ln>
          </p:spPr>
        </p:sp>
        <p:sp>
          <p:nvSpPr>
            <p:cNvPr id="36" name="node03.body.item-001.bullets.item-004.text"/>
            <p:cNvSpPr/>
            <p:nvPr/>
          </p:nvSpPr>
          <p:spPr>
            <a:xfrm>
              <a:off x="8420100" y="3568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Human approval at every gate</a:t>
              </a:r>
              <a:endParaRPr lang="en-US" sz="1200" spc="0" kern="0" b="0" i="0" dirty="0">
                <a:solidFill>
                  <a:srgbClr val="FFFFFF"/>
                </a:solidFill>
                <a:latin typeface="IBM Plex Sans"/>
                <a:ea typeface="IBM Plex Sans"/>
                <a:cs typeface="IBM Plex Sans"/>
              </a:endParaRPr>
            </a:p>
          </p:txBody>
        </p:sp>
        <p:sp>
          <p:nvSpPr>
            <p:cNvPr id="37" name="node03.body.item-001.bullets.item-005.marker"/>
            <p:cNvSpPr/>
            <p:nvPr/>
          </p:nvSpPr>
          <p:spPr>
            <a:xfrm>
              <a:off x="8267700" y="3911600"/>
              <a:ext cx="38100" cy="38100"/>
            </a:xfrm>
            <a:prstGeom prst="rect">
              <a:avLst/>
            </a:prstGeom>
            <a:solidFill>
              <a:srgbClr val="FFFFFF"/>
            </a:solidFill>
            <a:ln>
              <a:noFill/>
            </a:ln>
          </p:spPr>
        </p:sp>
        <p:sp>
          <p:nvSpPr>
            <p:cNvPr id="38" name="node03.body.item-001.bullets.item-005.text"/>
            <p:cNvSpPr/>
            <p:nvPr/>
          </p:nvSpPr>
          <p:spPr>
            <a:xfrm>
              <a:off x="8420100" y="3822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Shared notes captured live</a:t>
              </a:r>
              <a:endParaRPr lang="en-US" sz="1200" spc="0" kern="0" b="0" i="0" dirty="0">
                <a:solidFill>
                  <a:srgbClr val="FFFFFF"/>
                </a:solidFill>
                <a:latin typeface="IBM Plex Sans"/>
                <a:ea typeface="IBM Plex Sans"/>
                <a:cs typeface="IBM Plex Sans"/>
              </a:endParaRPr>
            </a:p>
          </p:txBody>
        </p:sp>
        <p:sp>
          <p:nvSpPr>
            <p:cNvPr id="39" name="node03.body.item-001.bullets.item-006.marker"/>
            <p:cNvSpPr/>
            <p:nvPr/>
          </p:nvSpPr>
          <p:spPr>
            <a:xfrm>
              <a:off x="8267700" y="4165600"/>
              <a:ext cx="38100" cy="38100"/>
            </a:xfrm>
            <a:prstGeom prst="rect">
              <a:avLst/>
            </a:prstGeom>
            <a:solidFill>
              <a:srgbClr val="FFFFFF"/>
            </a:solidFill>
            <a:ln>
              <a:noFill/>
            </a:ln>
          </p:spPr>
        </p:sp>
        <p:sp>
          <p:nvSpPr>
            <p:cNvPr id="40" name="node03.body.item-001.bullets.item-006.text"/>
            <p:cNvSpPr/>
            <p:nvPr/>
          </p:nvSpPr>
          <p:spPr>
            <a:xfrm>
              <a:off x="8420100" y="4076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Open risks logged for follow-up</a:t>
              </a:r>
              <a:endParaRPr lang="en-US" sz="1200" spc="0" kern="0" b="0" i="0" dirty="0">
                <a:solidFill>
                  <a:srgbClr val="FFFFFF"/>
                </a:solidFill>
                <a:latin typeface="IBM Plex Sans"/>
                <a:ea typeface="IBM Plex Sans"/>
                <a:cs typeface="IBM Plex Sans"/>
              </a:endParaRPr>
            </a:p>
          </p:txBody>
        </p:sp>
      </p:grpSp>
      <p:grpSp>
        <p:nvGrpSpPr>
          <p:cNvPr id="45" name="node04"/>
          <p:cNvGrpSpPr/>
          <p:nvPr/>
        </p:nvGrpSpPr>
        <p:grpSpPr>
          <a:xfrm>
            <a:off x="723900" y="5638800"/>
            <a:ext cx="10744200" cy="215900"/>
            <a:chOff x="723900" y="5638800"/>
            <a:chExt cx="10744200" cy="215900"/>
          </a:xfrm>
        </p:grpSpPr>
        <p:sp>
          <p:nvSpPr>
            <p:cNvPr id="41" name="node04.text"/>
            <p:cNvSpPr/>
            <p:nvPr/>
          </p:nvSpPr>
          <p:spPr>
            <a:xfrm>
              <a:off x="723900" y="5638800"/>
              <a:ext cx="1074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What we need from participants: real context, active decisions, work in progress shared and candor about constraints.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ource-502">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SESSION EXPERIENCE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Expect a facilitated build, not a passive demo</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40</a:t>
            </a:fld>
            <a:endParaRPr lang="en-US" sz="700" spc="0" kern="0" b="0" i="0" dirty="0">
              <a:solidFill>
                <a:srgbClr val="070154"/>
              </a:solidFill>
              <a:latin typeface="IBM Plex Mono SemiBold"/>
              <a:ea typeface="IBM Plex Mono SemiBold"/>
              <a:cs typeface="IBM Plex Mono SemiBold"/>
            </a:endParaRPr>
          </a:p>
        </p:txBody>
      </p:sp>
      <p:grpSp>
        <p:nvGrpSpPr>
          <p:cNvPr id="42" name="node01"/>
          <p:cNvGrpSpPr/>
          <p:nvPr/>
        </p:nvGrpSpPr>
        <p:grpSpPr>
          <a:xfrm>
            <a:off x="723900" y="2057400"/>
            <a:ext cx="7086600" cy="139700"/>
            <a:chOff x="723900" y="2057400"/>
            <a:chExt cx="7086600" cy="139700"/>
          </a:xfrm>
        </p:grpSpPr>
        <p:sp>
          <p:nvSpPr>
            <p:cNvPr id="6" name="node01.text"/>
            <p:cNvSpPr/>
            <p:nvPr/>
          </p:nvSpPr>
          <p:spPr>
            <a:xfrm>
              <a:off x="723900" y="20574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HOW THE SESSION RUNS</a:t>
              </a:r>
              <a:endParaRPr lang="en-US" sz="800" spc="48" kern="0" b="0" i="0" dirty="0">
                <a:solidFill>
                  <a:srgbClr val="50658E"/>
                </a:solidFill>
                <a:latin typeface="IBM Plex Mono Medium"/>
                <a:ea typeface="IBM Plex Mono Medium"/>
                <a:cs typeface="IBM Plex Mono Medium"/>
              </a:endParaRPr>
            </a:p>
          </p:txBody>
        </p:sp>
      </p:grpSp>
      <p:grpSp>
        <p:nvGrpSpPr>
          <p:cNvPr id="43" name="node02"/>
          <p:cNvGrpSpPr/>
          <p:nvPr/>
        </p:nvGrpSpPr>
        <p:grpSpPr>
          <a:xfrm>
            <a:off x="723900" y="2400300"/>
            <a:ext cx="7086600" cy="2959100"/>
            <a:chOff x="723900" y="2400300"/>
            <a:chExt cx="7086600" cy="2959100"/>
          </a:xfrm>
        </p:grpSpPr>
        <p:sp>
          <p:nvSpPr>
            <p:cNvPr id="7" name="node02.base"/>
            <p:cNvSpPr/>
            <p:nvPr/>
          </p:nvSpPr>
          <p:spPr>
            <a:xfrm>
              <a:off x="838200" y="2514600"/>
              <a:ext cx="0" cy="2514600"/>
            </a:xfrm>
            <a:custGeom>
              <a:avLst/>
              <a:gdLst/>
              <a:ahLst/>
              <a:cxnLst/>
              <a:rect l="l" t="t" r="r" b="b"/>
              <a:pathLst>
                <a:path h="2514600">
                  <a:moveTo>
                    <a:pt x="0" y="0"/>
                  </a:moveTo>
                  <a:lnTo>
                    <a:pt x="0" y="2514600"/>
                  </a:lnTo>
                </a:path>
              </a:pathLst>
            </a:custGeom>
            <a:ln w="25400">
              <a:solidFill>
                <a:srgbClr val="CED7E6"/>
              </a:solidFill>
              <a:prstDash val="solid"/>
            </a:ln>
          </p:spPr>
        </p:sp>
        <p:sp>
          <p:nvSpPr>
            <p:cNvPr id="8" name="node02.done"/>
            <p:cNvSpPr/>
            <p:nvPr/>
          </p:nvSpPr>
          <p:spPr>
            <a:xfrm>
              <a:off x="838200" y="2514600"/>
              <a:ext cx="0" cy="1676400"/>
            </a:xfrm>
            <a:custGeom>
              <a:avLst/>
              <a:gdLst/>
              <a:ahLst/>
              <a:cxnLst/>
              <a:rect l="l" t="t" r="r" b="b"/>
              <a:pathLst>
                <a:path h="1676400">
                  <a:moveTo>
                    <a:pt x="0" y="0"/>
                  </a:moveTo>
                  <a:lnTo>
                    <a:pt x="0" y="1676400"/>
                  </a:lnTo>
                </a:path>
              </a:pathLst>
            </a:custGeom>
            <a:ln w="25400">
              <a:solidFill>
                <a:srgbClr val="070154"/>
              </a:solidFill>
              <a:prstDash val="solid"/>
            </a:ln>
          </p:spPr>
        </p:sp>
        <p:sp>
          <p:nvSpPr>
            <p:cNvPr id="9" name="node02.steps.slot-001.marker"/>
            <p:cNvSpPr/>
            <p:nvPr/>
          </p:nvSpPr>
          <p:spPr>
            <a:xfrm>
              <a:off x="762000" y="2438400"/>
              <a:ext cx="152400" cy="152400"/>
            </a:xfrm>
            <a:prstGeom prst="rect">
              <a:avLst/>
            </a:prstGeom>
            <a:solidFill>
              <a:srgbClr val="070154"/>
            </a:solidFill>
            <a:ln>
              <a:noFill/>
            </a:ln>
          </p:spPr>
        </p:sp>
        <p:sp>
          <p:nvSpPr>
            <p:cNvPr id="10" name="node02.steps.slot-001.title"/>
            <p:cNvSpPr/>
            <p:nvPr/>
          </p:nvSpPr>
          <p:spPr>
            <a:xfrm>
              <a:off x="1181100" y="2400300"/>
              <a:ext cx="1144588"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Frame together</a:t>
              </a:r>
              <a:endParaRPr lang="en-US" sz="1200" spc="0" kern="0" b="0" i="0" dirty="0">
                <a:solidFill>
                  <a:srgbClr val="070154"/>
                </a:solidFill>
                <a:latin typeface="IBM Plex Sans SemiBold"/>
                <a:ea typeface="IBM Plex Sans SemiBold"/>
                <a:cs typeface="IBM Plex Sans SemiBold"/>
              </a:endParaRPr>
            </a:p>
          </p:txBody>
        </p:sp>
        <p:sp>
          <p:nvSpPr>
            <p:cNvPr id="11" name="node02.steps.slot-001.label"/>
            <p:cNvSpPr/>
            <p:nvPr/>
          </p:nvSpPr>
          <p:spPr>
            <a:xfrm>
              <a:off x="2478088" y="24648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15 MIN</a:t>
              </a:r>
              <a:endParaRPr lang="en-US" sz="800" spc="48" kern="0" b="0" i="0" dirty="0">
                <a:solidFill>
                  <a:srgbClr val="0047FF"/>
                </a:solidFill>
                <a:latin typeface="IBM Plex Mono Medium"/>
                <a:ea typeface="IBM Plex Mono Medium"/>
                <a:cs typeface="IBM Plex Mono Medium"/>
              </a:endParaRPr>
            </a:p>
          </p:txBody>
        </p:sp>
        <p:sp>
          <p:nvSpPr>
            <p:cNvPr id="12" name="node02.steps.slot-001.description.part-0"/>
            <p:cNvSpPr/>
            <p:nvPr/>
          </p:nvSpPr>
          <p:spPr>
            <a:xfrm>
              <a:off x="1181100" y="2654300"/>
              <a:ext cx="662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Facilitators set the objective and decision criteria; teams bring their own context and constraints.</a:t>
              </a:r>
              <a:endParaRPr lang="en-US" sz="1100" spc="0" kern="0" b="0" i="0" dirty="0">
                <a:solidFill>
                  <a:srgbClr val="50658E"/>
                </a:solidFill>
                <a:latin typeface="IBM Plex Sans"/>
                <a:ea typeface="IBM Plex Sans"/>
                <a:cs typeface="IBM Plex Sans"/>
              </a:endParaRPr>
            </a:p>
          </p:txBody>
        </p:sp>
        <p:sp>
          <p:nvSpPr>
            <p:cNvPr id="13" name="node02.steps.slot-002.marker"/>
            <p:cNvSpPr/>
            <p:nvPr/>
          </p:nvSpPr>
          <p:spPr>
            <a:xfrm>
              <a:off x="762000" y="3276600"/>
              <a:ext cx="152400" cy="152400"/>
            </a:xfrm>
            <a:prstGeom prst="rect">
              <a:avLst/>
            </a:prstGeom>
            <a:solidFill>
              <a:srgbClr val="070154"/>
            </a:solidFill>
            <a:ln>
              <a:noFill/>
            </a:ln>
          </p:spPr>
        </p:sp>
        <p:sp>
          <p:nvSpPr>
            <p:cNvPr id="14" name="node02.steps.slot-002.title"/>
            <p:cNvSpPr/>
            <p:nvPr/>
          </p:nvSpPr>
          <p:spPr>
            <a:xfrm>
              <a:off x="1181100" y="3238500"/>
              <a:ext cx="906463"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Work in role</a:t>
              </a:r>
              <a:endParaRPr lang="en-US" sz="1200" spc="0" kern="0" b="0" i="0" dirty="0">
                <a:solidFill>
                  <a:srgbClr val="070154"/>
                </a:solidFill>
                <a:latin typeface="IBM Plex Sans SemiBold"/>
                <a:ea typeface="IBM Plex Sans SemiBold"/>
                <a:cs typeface="IBM Plex Sans SemiBold"/>
              </a:endParaRPr>
            </a:p>
          </p:txBody>
        </p:sp>
        <p:sp>
          <p:nvSpPr>
            <p:cNvPr id="15" name="node02.steps.slot-002.label"/>
            <p:cNvSpPr/>
            <p:nvPr/>
          </p:nvSpPr>
          <p:spPr>
            <a:xfrm>
              <a:off x="2239963" y="33030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30 MIN</a:t>
              </a:r>
              <a:endParaRPr lang="en-US" sz="800" spc="48" kern="0" b="0" i="0" dirty="0">
                <a:solidFill>
                  <a:srgbClr val="0047FF"/>
                </a:solidFill>
                <a:latin typeface="IBM Plex Mono Medium"/>
                <a:ea typeface="IBM Plex Mono Medium"/>
                <a:cs typeface="IBM Plex Mono Medium"/>
              </a:endParaRPr>
            </a:p>
          </p:txBody>
        </p:sp>
        <p:sp>
          <p:nvSpPr>
            <p:cNvPr id="16" name="node02.steps.slot-002.description.part-0"/>
            <p:cNvSpPr/>
            <p:nvPr/>
          </p:nvSpPr>
          <p:spPr>
            <a:xfrm>
              <a:off x="1181100" y="3492500"/>
              <a:ext cx="662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Product and engineering build in focused tracks; facilitators keep time.</a:t>
              </a:r>
              <a:endParaRPr lang="en-US" sz="1100" spc="0" kern="0" b="0" i="0" dirty="0">
                <a:solidFill>
                  <a:srgbClr val="50658E"/>
                </a:solidFill>
                <a:latin typeface="IBM Plex Sans"/>
                <a:ea typeface="IBM Plex Sans"/>
                <a:cs typeface="IBM Plex Sans"/>
              </a:endParaRPr>
            </a:p>
          </p:txBody>
        </p:sp>
        <p:sp>
          <p:nvSpPr>
            <p:cNvPr id="17" name="node02.steps.slot-003.marker"/>
            <p:cNvSpPr/>
            <p:nvPr/>
          </p:nvSpPr>
          <p:spPr>
            <a:xfrm>
              <a:off x="723900" y="4076700"/>
              <a:ext cx="228600" cy="228600"/>
            </a:xfrm>
            <a:prstGeom prst="rect">
              <a:avLst/>
            </a:prstGeom>
            <a:solidFill>
              <a:srgbClr val="F900D3"/>
            </a:solidFill>
            <a:ln>
              <a:noFill/>
            </a:ln>
          </p:spPr>
        </p:sp>
        <p:sp>
          <p:nvSpPr>
            <p:cNvPr id="18" name="node02.steps.slot-003.title"/>
            <p:cNvSpPr/>
            <p:nvPr/>
          </p:nvSpPr>
          <p:spPr>
            <a:xfrm>
              <a:off x="1181100" y="4076700"/>
              <a:ext cx="140335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Reconnect at gates</a:t>
              </a:r>
              <a:endParaRPr lang="en-US" sz="1200" spc="0" kern="0" b="0" i="0" dirty="0">
                <a:solidFill>
                  <a:srgbClr val="070154"/>
                </a:solidFill>
                <a:latin typeface="IBM Plex Sans SemiBold"/>
                <a:ea typeface="IBM Plex Sans SemiBold"/>
                <a:cs typeface="IBM Plex Sans SemiBold"/>
              </a:endParaRPr>
            </a:p>
          </p:txBody>
        </p:sp>
        <p:sp>
          <p:nvSpPr>
            <p:cNvPr id="19" name="node02.steps.slot-003.label"/>
            <p:cNvSpPr/>
            <p:nvPr/>
          </p:nvSpPr>
          <p:spPr>
            <a:xfrm>
              <a:off x="2736850" y="41412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30 MIN</a:t>
              </a:r>
              <a:endParaRPr lang="en-US" sz="800" spc="48" kern="0" b="0" i="0" dirty="0">
                <a:solidFill>
                  <a:srgbClr val="0047FF"/>
                </a:solidFill>
                <a:latin typeface="IBM Plex Mono Medium"/>
                <a:ea typeface="IBM Plex Mono Medium"/>
                <a:cs typeface="IBM Plex Mono Medium"/>
              </a:endParaRPr>
            </a:p>
          </p:txBody>
        </p:sp>
        <p:sp>
          <p:nvSpPr>
            <p:cNvPr id="20" name="node02.steps.slot-003.description.part-0"/>
            <p:cNvSpPr/>
            <p:nvPr/>
          </p:nvSpPr>
          <p:spPr>
            <a:xfrm>
              <a:off x="1181100" y="4330700"/>
              <a:ext cx="662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Teams share artifacts, challenge ambiguity and agree what is ready before the next block.</a:t>
              </a:r>
              <a:endParaRPr lang="en-US" sz="1100" spc="0" kern="0" b="0" i="0" dirty="0">
                <a:solidFill>
                  <a:srgbClr val="50658E"/>
                </a:solidFill>
                <a:latin typeface="IBM Plex Sans"/>
                <a:ea typeface="IBM Plex Sans"/>
                <a:cs typeface="IBM Plex Sans"/>
              </a:endParaRPr>
            </a:p>
          </p:txBody>
        </p:sp>
        <p:sp>
          <p:nvSpPr>
            <p:cNvPr id="21" name="node02.steps.slot-004.marker"/>
            <p:cNvSpPr/>
            <p:nvPr/>
          </p:nvSpPr>
          <p:spPr>
            <a:xfrm>
              <a:off x="762000" y="4953000"/>
              <a:ext cx="152400" cy="152400"/>
            </a:xfrm>
            <a:prstGeom prst="rect">
              <a:avLst/>
            </a:prstGeom>
            <a:solidFill>
              <a:srgbClr val="FFFFFF"/>
            </a:solidFill>
            <a:ln w="12700">
              <a:solidFill>
                <a:srgbClr val="070154"/>
              </a:solidFill>
              <a:prstDash val="solid"/>
            </a:ln>
          </p:spPr>
        </p:sp>
        <p:sp>
          <p:nvSpPr>
            <p:cNvPr id="22" name="node02.steps.slot-004.title"/>
            <p:cNvSpPr/>
            <p:nvPr/>
          </p:nvSpPr>
          <p:spPr>
            <a:xfrm>
              <a:off x="1181100" y="4914900"/>
              <a:ext cx="12573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Iterate and close</a:t>
              </a:r>
              <a:endParaRPr lang="en-US" sz="1200" spc="0" kern="0" b="0" i="0" dirty="0">
                <a:solidFill>
                  <a:srgbClr val="070154"/>
                </a:solidFill>
                <a:latin typeface="IBM Plex Sans SemiBold"/>
                <a:ea typeface="IBM Plex Sans SemiBold"/>
                <a:cs typeface="IBM Plex Sans SemiBold"/>
              </a:endParaRPr>
            </a:p>
          </p:txBody>
        </p:sp>
        <p:sp>
          <p:nvSpPr>
            <p:cNvPr id="23" name="node02.steps.slot-004.label"/>
            <p:cNvSpPr/>
            <p:nvPr/>
          </p:nvSpPr>
          <p:spPr>
            <a:xfrm>
              <a:off x="2590800" y="49794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15 MIN</a:t>
              </a:r>
              <a:endParaRPr lang="en-US" sz="800" spc="48" kern="0" b="0" i="0" dirty="0">
                <a:solidFill>
                  <a:srgbClr val="0047FF"/>
                </a:solidFill>
                <a:latin typeface="IBM Plex Mono Medium"/>
                <a:ea typeface="IBM Plex Mono Medium"/>
                <a:cs typeface="IBM Plex Mono Medium"/>
              </a:endParaRPr>
            </a:p>
          </p:txBody>
        </p:sp>
        <p:sp>
          <p:nvSpPr>
            <p:cNvPr id="24" name="node02.steps.slot-004.description.part-0"/>
            <p:cNvSpPr/>
            <p:nvPr/>
          </p:nvSpPr>
          <p:spPr>
            <a:xfrm>
              <a:off x="1181100" y="5168900"/>
              <a:ext cx="662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The group reviews evidence, records limits and turns learning into owned next actions.</a:t>
              </a:r>
              <a:endParaRPr lang="en-US" sz="1100" spc="0" kern="0" b="0" i="0" dirty="0">
                <a:solidFill>
                  <a:srgbClr val="50658E"/>
                </a:solidFill>
                <a:latin typeface="IBM Plex Sans"/>
                <a:ea typeface="IBM Plex Sans"/>
                <a:cs typeface="IBM Plex Sans"/>
              </a:endParaRPr>
            </a:p>
          </p:txBody>
        </p:sp>
      </p:grpSp>
      <p:grpSp>
        <p:nvGrpSpPr>
          <p:cNvPr id="44" name="node03"/>
          <p:cNvGrpSpPr/>
          <p:nvPr/>
        </p:nvGrpSpPr>
        <p:grpSpPr>
          <a:xfrm>
            <a:off x="8039100" y="457200"/>
            <a:ext cx="3429000" cy="3429000"/>
            <a:chOff x="8039100" y="457200"/>
            <a:chExt cx="3429000" cy="3429000"/>
          </a:xfrm>
        </p:grpSpPr>
        <p:sp>
          <p:nvSpPr>
            <p:cNvPr id="25" name="node03.container"/>
            <p:cNvSpPr/>
            <p:nvPr/>
          </p:nvSpPr>
          <p:spPr>
            <a:xfrm>
              <a:off x="8039100" y="457200"/>
              <a:ext cx="3429000" cy="3429000"/>
            </a:xfrm>
            <a:prstGeom prst="rect">
              <a:avLst/>
            </a:prstGeom>
            <a:solidFill>
              <a:srgbClr val="070154"/>
            </a:solidFill>
            <a:ln>
              <a:noFill/>
            </a:ln>
          </p:spPr>
        </p:sp>
        <p:sp>
          <p:nvSpPr>
            <p:cNvPr id="26" name="node03.edge"/>
            <p:cNvSpPr/>
            <p:nvPr/>
          </p:nvSpPr>
          <p:spPr>
            <a:xfrm>
              <a:off x="8039100" y="457200"/>
              <a:ext cx="3429000" cy="76200"/>
            </a:xfrm>
            <a:prstGeom prst="rect">
              <a:avLst/>
            </a:prstGeom>
            <a:solidFill>
              <a:srgbClr val="F900D3"/>
            </a:solidFill>
            <a:ln>
              <a:noFill/>
            </a:ln>
          </p:spPr>
        </p:sp>
        <p:sp>
          <p:nvSpPr>
            <p:cNvPr id="27" name="node03.label"/>
            <p:cNvSpPr/>
            <p:nvPr/>
          </p:nvSpPr>
          <p:spPr>
            <a:xfrm>
              <a:off x="8267700" y="7620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HOW FACILITATION WORKS</a:t>
              </a:r>
              <a:endParaRPr lang="en-US" sz="800" spc="48" kern="0" b="0" i="0" dirty="0">
                <a:solidFill>
                  <a:srgbClr val="F900D3"/>
                </a:solidFill>
                <a:latin typeface="IBM Plex Mono Medium"/>
                <a:ea typeface="IBM Plex Mono Medium"/>
                <a:cs typeface="IBM Plex Mono Medium"/>
              </a:endParaRPr>
            </a:p>
          </p:txBody>
        </p:sp>
        <p:sp>
          <p:nvSpPr>
            <p:cNvPr id="28" name="node03.title"/>
            <p:cNvSpPr/>
            <p:nvPr/>
          </p:nvSpPr>
          <p:spPr>
            <a:xfrm>
              <a:off x="8267700" y="977900"/>
              <a:ext cx="29718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Guide the process without taking over the work</a:t>
              </a:r>
              <a:endParaRPr lang="en-US" sz="1600" spc="-16" kern="0" b="0" i="0" dirty="0">
                <a:solidFill>
                  <a:srgbClr val="FFFFFF"/>
                </a:solidFill>
                <a:latin typeface="IBM Plex Sans SemiBold"/>
                <a:ea typeface="IBM Plex Sans SemiBold"/>
                <a:cs typeface="IBM Plex Sans SemiBold"/>
              </a:endParaRPr>
            </a:p>
          </p:txBody>
        </p:sp>
        <p:sp>
          <p:nvSpPr>
            <p:cNvPr id="29" name="node03.body.item-001.bullets.item-001.marker"/>
            <p:cNvSpPr/>
            <p:nvPr/>
          </p:nvSpPr>
          <p:spPr>
            <a:xfrm>
              <a:off x="8267700" y="1752600"/>
              <a:ext cx="38100" cy="38100"/>
            </a:xfrm>
            <a:prstGeom prst="rect">
              <a:avLst/>
            </a:prstGeom>
            <a:solidFill>
              <a:srgbClr val="FFFFFF"/>
            </a:solidFill>
            <a:ln>
              <a:noFill/>
            </a:ln>
          </p:spPr>
        </p:sp>
        <p:sp>
          <p:nvSpPr>
            <p:cNvPr id="30" name="node03.body.item-001.bullets.item-001.text"/>
            <p:cNvSpPr/>
            <p:nvPr/>
          </p:nvSpPr>
          <p:spPr>
            <a:xfrm>
              <a:off x="8420100" y="1663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Short prompts, then participant work</a:t>
              </a:r>
              <a:endParaRPr lang="en-US" sz="1200" spc="0" kern="0" b="0" i="0" dirty="0">
                <a:solidFill>
                  <a:srgbClr val="FFFFFF"/>
                </a:solidFill>
                <a:latin typeface="IBM Plex Sans"/>
                <a:ea typeface="IBM Plex Sans"/>
                <a:cs typeface="IBM Plex Sans"/>
              </a:endParaRPr>
            </a:p>
          </p:txBody>
        </p:sp>
        <p:sp>
          <p:nvSpPr>
            <p:cNvPr id="31" name="node03.body.item-001.bullets.item-002.marker"/>
            <p:cNvSpPr/>
            <p:nvPr/>
          </p:nvSpPr>
          <p:spPr>
            <a:xfrm>
              <a:off x="8267700" y="2006600"/>
              <a:ext cx="38100" cy="38100"/>
            </a:xfrm>
            <a:prstGeom prst="rect">
              <a:avLst/>
            </a:prstGeom>
            <a:solidFill>
              <a:srgbClr val="FFFFFF"/>
            </a:solidFill>
            <a:ln>
              <a:noFill/>
            </a:ln>
          </p:spPr>
        </p:sp>
        <p:sp>
          <p:nvSpPr>
            <p:cNvPr id="32" name="node03.body.item-001.bullets.item-002.text"/>
            <p:cNvSpPr/>
            <p:nvPr/>
          </p:nvSpPr>
          <p:spPr>
            <a:xfrm>
              <a:off x="8420100" y="1917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Named checkpoints and timeboxes</a:t>
              </a:r>
              <a:endParaRPr lang="en-US" sz="1200" spc="0" kern="0" b="0" i="0" dirty="0">
                <a:solidFill>
                  <a:srgbClr val="FFFFFF"/>
                </a:solidFill>
                <a:latin typeface="IBM Plex Sans"/>
                <a:ea typeface="IBM Plex Sans"/>
                <a:cs typeface="IBM Plex Sans"/>
              </a:endParaRPr>
            </a:p>
          </p:txBody>
        </p:sp>
        <p:sp>
          <p:nvSpPr>
            <p:cNvPr id="33" name="node03.body.item-001.bullets.item-003.marker"/>
            <p:cNvSpPr/>
            <p:nvPr/>
          </p:nvSpPr>
          <p:spPr>
            <a:xfrm>
              <a:off x="8267700" y="2260600"/>
              <a:ext cx="38100" cy="38100"/>
            </a:xfrm>
            <a:prstGeom prst="rect">
              <a:avLst/>
            </a:prstGeom>
            <a:solidFill>
              <a:srgbClr val="FFFFFF"/>
            </a:solidFill>
            <a:ln>
              <a:noFill/>
            </a:ln>
          </p:spPr>
        </p:sp>
        <p:sp>
          <p:nvSpPr>
            <p:cNvPr id="34" name="node03.body.item-001.bullets.item-003.text"/>
            <p:cNvSpPr/>
            <p:nvPr/>
          </p:nvSpPr>
          <p:spPr>
            <a:xfrm>
              <a:off x="8420100" y="2171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Active coaching and unblocking</a:t>
              </a:r>
              <a:endParaRPr lang="en-US" sz="1200" spc="0" kern="0" b="0" i="0" dirty="0">
                <a:solidFill>
                  <a:srgbClr val="FFFFFF"/>
                </a:solidFill>
                <a:latin typeface="IBM Plex Sans"/>
                <a:ea typeface="IBM Plex Sans"/>
                <a:cs typeface="IBM Plex Sans"/>
              </a:endParaRPr>
            </a:p>
          </p:txBody>
        </p:sp>
        <p:sp>
          <p:nvSpPr>
            <p:cNvPr id="35" name="node03.body.item-001.bullets.item-004.marker"/>
            <p:cNvSpPr/>
            <p:nvPr/>
          </p:nvSpPr>
          <p:spPr>
            <a:xfrm>
              <a:off x="8267700" y="2514600"/>
              <a:ext cx="38100" cy="38100"/>
            </a:xfrm>
            <a:prstGeom prst="rect">
              <a:avLst/>
            </a:prstGeom>
            <a:solidFill>
              <a:srgbClr val="FFFFFF"/>
            </a:solidFill>
            <a:ln>
              <a:noFill/>
            </a:ln>
          </p:spPr>
        </p:sp>
        <p:sp>
          <p:nvSpPr>
            <p:cNvPr id="36" name="node03.body.item-001.bullets.item-004.text"/>
            <p:cNvSpPr/>
            <p:nvPr/>
          </p:nvSpPr>
          <p:spPr>
            <a:xfrm>
              <a:off x="8420100" y="2425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Human approval at every gate</a:t>
              </a:r>
              <a:endParaRPr lang="en-US" sz="1200" spc="0" kern="0" b="0" i="0" dirty="0">
                <a:solidFill>
                  <a:srgbClr val="FFFFFF"/>
                </a:solidFill>
                <a:latin typeface="IBM Plex Sans"/>
                <a:ea typeface="IBM Plex Sans"/>
                <a:cs typeface="IBM Plex Sans"/>
              </a:endParaRPr>
            </a:p>
          </p:txBody>
        </p:sp>
        <p:sp>
          <p:nvSpPr>
            <p:cNvPr id="37" name="node03.body.item-001.bullets.item-005.marker"/>
            <p:cNvSpPr/>
            <p:nvPr/>
          </p:nvSpPr>
          <p:spPr>
            <a:xfrm>
              <a:off x="8267700" y="2768600"/>
              <a:ext cx="38100" cy="38100"/>
            </a:xfrm>
            <a:prstGeom prst="rect">
              <a:avLst/>
            </a:prstGeom>
            <a:solidFill>
              <a:srgbClr val="FFFFFF"/>
            </a:solidFill>
            <a:ln>
              <a:noFill/>
            </a:ln>
          </p:spPr>
        </p:sp>
        <p:sp>
          <p:nvSpPr>
            <p:cNvPr id="38" name="node03.body.item-001.bullets.item-005.text"/>
            <p:cNvSpPr/>
            <p:nvPr/>
          </p:nvSpPr>
          <p:spPr>
            <a:xfrm>
              <a:off x="8420100" y="2679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Shared notes captured live</a:t>
              </a:r>
              <a:endParaRPr lang="en-US" sz="1200" spc="0" kern="0" b="0" i="0" dirty="0">
                <a:solidFill>
                  <a:srgbClr val="FFFFFF"/>
                </a:solidFill>
                <a:latin typeface="IBM Plex Sans"/>
                <a:ea typeface="IBM Plex Sans"/>
                <a:cs typeface="IBM Plex Sans"/>
              </a:endParaRPr>
            </a:p>
          </p:txBody>
        </p:sp>
        <p:sp>
          <p:nvSpPr>
            <p:cNvPr id="39" name="node03.body.item-001.bullets.item-006.marker"/>
            <p:cNvSpPr/>
            <p:nvPr/>
          </p:nvSpPr>
          <p:spPr>
            <a:xfrm>
              <a:off x="8267700" y="3022600"/>
              <a:ext cx="38100" cy="38100"/>
            </a:xfrm>
            <a:prstGeom prst="rect">
              <a:avLst/>
            </a:prstGeom>
            <a:solidFill>
              <a:srgbClr val="FFFFFF"/>
            </a:solidFill>
            <a:ln>
              <a:noFill/>
            </a:ln>
          </p:spPr>
        </p:sp>
        <p:sp>
          <p:nvSpPr>
            <p:cNvPr id="40" name="node03.body.item-001.bullets.item-006.text"/>
            <p:cNvSpPr/>
            <p:nvPr/>
          </p:nvSpPr>
          <p:spPr>
            <a:xfrm>
              <a:off x="8420100" y="2933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Open risks logged for follow-up</a:t>
              </a:r>
              <a:endParaRPr lang="en-US" sz="1200" spc="0" kern="0" b="0" i="0" dirty="0">
                <a:solidFill>
                  <a:srgbClr val="FFFFFF"/>
                </a:solidFill>
                <a:latin typeface="IBM Plex Sans"/>
                <a:ea typeface="IBM Plex Sans"/>
                <a:cs typeface="IBM Plex Sans"/>
              </a:endParaRPr>
            </a:p>
          </p:txBody>
        </p:sp>
      </p:grpSp>
      <p:grpSp>
        <p:nvGrpSpPr>
          <p:cNvPr id="45" name="node04"/>
          <p:cNvGrpSpPr/>
          <p:nvPr/>
        </p:nvGrpSpPr>
        <p:grpSpPr>
          <a:xfrm>
            <a:off x="8039100" y="4114800"/>
            <a:ext cx="3429000" cy="647700"/>
            <a:chOff x="8039100" y="4114800"/>
            <a:chExt cx="3429000" cy="647700"/>
          </a:xfrm>
        </p:grpSpPr>
        <p:sp>
          <p:nvSpPr>
            <p:cNvPr id="41" name="node04.text"/>
            <p:cNvSpPr/>
            <p:nvPr/>
          </p:nvSpPr>
          <p:spPr>
            <a:xfrm>
              <a:off x="8039100" y="4114800"/>
              <a:ext cx="3429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What we need from participants: real context, active decisions, work in progress shared and candor about constraints.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ource-50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SESSION EXPERIENCE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Expect a facilitated build, not a passive demo</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41</a:t>
            </a:fld>
            <a:endParaRPr lang="en-US" sz="700" spc="0" kern="0" b="0" i="0" dirty="0">
              <a:solidFill>
                <a:srgbClr val="070154"/>
              </a:solidFill>
              <a:latin typeface="IBM Plex Mono SemiBold"/>
              <a:ea typeface="IBM Plex Mono SemiBold"/>
              <a:cs typeface="IBM Plex Mono SemiBold"/>
            </a:endParaRPr>
          </a:p>
        </p:txBody>
      </p:sp>
      <p:grpSp>
        <p:nvGrpSpPr>
          <p:cNvPr id="53" name="node01"/>
          <p:cNvGrpSpPr/>
          <p:nvPr/>
        </p:nvGrpSpPr>
        <p:grpSpPr>
          <a:xfrm>
            <a:off x="723900" y="1600200"/>
            <a:ext cx="4343400" cy="139700"/>
            <a:chOff x="723900" y="1600200"/>
            <a:chExt cx="4343400" cy="139700"/>
          </a:xfrm>
        </p:grpSpPr>
        <p:sp>
          <p:nvSpPr>
            <p:cNvPr id="6" name="node01.text"/>
            <p:cNvSpPr/>
            <p:nvPr/>
          </p:nvSpPr>
          <p:spPr>
            <a:xfrm>
              <a:off x="723900" y="1600200"/>
              <a:ext cx="4343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HOW THE SESSION RUNS</a:t>
              </a:r>
              <a:endParaRPr lang="en-US" sz="800" spc="48" kern="0" b="0" i="0" dirty="0">
                <a:solidFill>
                  <a:srgbClr val="50658E"/>
                </a:solidFill>
                <a:latin typeface="IBM Plex Mono Medium"/>
                <a:ea typeface="IBM Plex Mono Medium"/>
                <a:cs typeface="IBM Plex Mono Medium"/>
              </a:endParaRPr>
            </a:p>
          </p:txBody>
        </p:sp>
      </p:grpSp>
      <p:grpSp>
        <p:nvGrpSpPr>
          <p:cNvPr id="54" name="node02"/>
          <p:cNvGrpSpPr/>
          <p:nvPr/>
        </p:nvGrpSpPr>
        <p:grpSpPr>
          <a:xfrm>
            <a:off x="723900" y="1943100"/>
            <a:ext cx="4343400" cy="2959100"/>
            <a:chOff x="723900" y="1943100"/>
            <a:chExt cx="4343400" cy="2959100"/>
          </a:xfrm>
        </p:grpSpPr>
        <p:sp>
          <p:nvSpPr>
            <p:cNvPr id="7" name="node02.base"/>
            <p:cNvSpPr/>
            <p:nvPr/>
          </p:nvSpPr>
          <p:spPr>
            <a:xfrm>
              <a:off x="838200" y="2057400"/>
              <a:ext cx="0" cy="2514600"/>
            </a:xfrm>
            <a:custGeom>
              <a:avLst/>
              <a:gdLst/>
              <a:ahLst/>
              <a:cxnLst/>
              <a:rect l="l" t="t" r="r" b="b"/>
              <a:pathLst>
                <a:path h="2514600">
                  <a:moveTo>
                    <a:pt x="0" y="0"/>
                  </a:moveTo>
                  <a:lnTo>
                    <a:pt x="0" y="2514600"/>
                  </a:lnTo>
                </a:path>
              </a:pathLst>
            </a:custGeom>
            <a:ln w="25400">
              <a:solidFill>
                <a:srgbClr val="CED7E6"/>
              </a:solidFill>
              <a:prstDash val="solid"/>
            </a:ln>
          </p:spPr>
        </p:sp>
        <p:sp>
          <p:nvSpPr>
            <p:cNvPr id="8" name="node02.done"/>
            <p:cNvSpPr/>
            <p:nvPr/>
          </p:nvSpPr>
          <p:spPr>
            <a:xfrm>
              <a:off x="838200" y="2057400"/>
              <a:ext cx="0" cy="1676400"/>
            </a:xfrm>
            <a:custGeom>
              <a:avLst/>
              <a:gdLst/>
              <a:ahLst/>
              <a:cxnLst/>
              <a:rect l="l" t="t" r="r" b="b"/>
              <a:pathLst>
                <a:path h="1676400">
                  <a:moveTo>
                    <a:pt x="0" y="0"/>
                  </a:moveTo>
                  <a:lnTo>
                    <a:pt x="0" y="1676400"/>
                  </a:lnTo>
                </a:path>
              </a:pathLst>
            </a:custGeom>
            <a:ln w="25400">
              <a:solidFill>
                <a:srgbClr val="070154"/>
              </a:solidFill>
              <a:prstDash val="solid"/>
            </a:ln>
          </p:spPr>
        </p:sp>
        <p:sp>
          <p:nvSpPr>
            <p:cNvPr id="9" name="node02.steps.slot-001.marker"/>
            <p:cNvSpPr/>
            <p:nvPr/>
          </p:nvSpPr>
          <p:spPr>
            <a:xfrm>
              <a:off x="762000" y="1981200"/>
              <a:ext cx="152400" cy="152400"/>
            </a:xfrm>
            <a:prstGeom prst="rect">
              <a:avLst/>
            </a:prstGeom>
            <a:solidFill>
              <a:srgbClr val="070154"/>
            </a:solidFill>
            <a:ln>
              <a:noFill/>
            </a:ln>
          </p:spPr>
        </p:sp>
        <p:sp>
          <p:nvSpPr>
            <p:cNvPr id="10" name="node02.steps.slot-001.title"/>
            <p:cNvSpPr/>
            <p:nvPr/>
          </p:nvSpPr>
          <p:spPr>
            <a:xfrm>
              <a:off x="1181100" y="1943100"/>
              <a:ext cx="1144588"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Frame together</a:t>
              </a:r>
              <a:endParaRPr lang="en-US" sz="1200" spc="0" kern="0" b="0" i="0" dirty="0">
                <a:solidFill>
                  <a:srgbClr val="070154"/>
                </a:solidFill>
                <a:latin typeface="IBM Plex Sans SemiBold"/>
                <a:ea typeface="IBM Plex Sans SemiBold"/>
                <a:cs typeface="IBM Plex Sans SemiBold"/>
              </a:endParaRPr>
            </a:p>
          </p:txBody>
        </p:sp>
        <p:sp>
          <p:nvSpPr>
            <p:cNvPr id="11" name="node02.steps.slot-001.label"/>
            <p:cNvSpPr/>
            <p:nvPr/>
          </p:nvSpPr>
          <p:spPr>
            <a:xfrm>
              <a:off x="2478088" y="20076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15 MIN</a:t>
              </a:r>
              <a:endParaRPr lang="en-US" sz="800" spc="48" kern="0" b="0" i="0" dirty="0">
                <a:solidFill>
                  <a:srgbClr val="0047FF"/>
                </a:solidFill>
                <a:latin typeface="IBM Plex Mono Medium"/>
                <a:ea typeface="IBM Plex Mono Medium"/>
                <a:cs typeface="IBM Plex Mono Medium"/>
              </a:endParaRPr>
            </a:p>
          </p:txBody>
        </p:sp>
        <p:sp>
          <p:nvSpPr>
            <p:cNvPr id="12" name="node02.steps.slot-001.description.part-0"/>
            <p:cNvSpPr/>
            <p:nvPr/>
          </p:nvSpPr>
          <p:spPr>
            <a:xfrm>
              <a:off x="1181100" y="2197100"/>
              <a:ext cx="3886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Set the objective and criteria; teams bring context.</a:t>
              </a:r>
              <a:endParaRPr lang="en-US" sz="1100" spc="0" kern="0" b="0" i="0" dirty="0">
                <a:solidFill>
                  <a:srgbClr val="50658E"/>
                </a:solidFill>
                <a:latin typeface="IBM Plex Sans"/>
                <a:ea typeface="IBM Plex Sans"/>
                <a:cs typeface="IBM Plex Sans"/>
              </a:endParaRPr>
            </a:p>
          </p:txBody>
        </p:sp>
        <p:sp>
          <p:nvSpPr>
            <p:cNvPr id="13" name="node02.steps.slot-002.marker"/>
            <p:cNvSpPr/>
            <p:nvPr/>
          </p:nvSpPr>
          <p:spPr>
            <a:xfrm>
              <a:off x="762000" y="2819400"/>
              <a:ext cx="152400" cy="152400"/>
            </a:xfrm>
            <a:prstGeom prst="rect">
              <a:avLst/>
            </a:prstGeom>
            <a:solidFill>
              <a:srgbClr val="070154"/>
            </a:solidFill>
            <a:ln>
              <a:noFill/>
            </a:ln>
          </p:spPr>
        </p:sp>
        <p:sp>
          <p:nvSpPr>
            <p:cNvPr id="14" name="node02.steps.slot-002.title"/>
            <p:cNvSpPr/>
            <p:nvPr/>
          </p:nvSpPr>
          <p:spPr>
            <a:xfrm>
              <a:off x="1181100" y="2781300"/>
              <a:ext cx="906463"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Work in role</a:t>
              </a:r>
              <a:endParaRPr lang="en-US" sz="1200" spc="0" kern="0" b="0" i="0" dirty="0">
                <a:solidFill>
                  <a:srgbClr val="070154"/>
                </a:solidFill>
                <a:latin typeface="IBM Plex Sans SemiBold"/>
                <a:ea typeface="IBM Plex Sans SemiBold"/>
                <a:cs typeface="IBM Plex Sans SemiBold"/>
              </a:endParaRPr>
            </a:p>
          </p:txBody>
        </p:sp>
        <p:sp>
          <p:nvSpPr>
            <p:cNvPr id="15" name="node02.steps.slot-002.label"/>
            <p:cNvSpPr/>
            <p:nvPr/>
          </p:nvSpPr>
          <p:spPr>
            <a:xfrm>
              <a:off x="2239963" y="28458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30 MIN</a:t>
              </a:r>
              <a:endParaRPr lang="en-US" sz="800" spc="48" kern="0" b="0" i="0" dirty="0">
                <a:solidFill>
                  <a:srgbClr val="0047FF"/>
                </a:solidFill>
                <a:latin typeface="IBM Plex Mono Medium"/>
                <a:ea typeface="IBM Plex Mono Medium"/>
                <a:cs typeface="IBM Plex Mono Medium"/>
              </a:endParaRPr>
            </a:p>
          </p:txBody>
        </p:sp>
        <p:sp>
          <p:nvSpPr>
            <p:cNvPr id="16" name="node02.steps.slot-002.description.part-0"/>
            <p:cNvSpPr/>
            <p:nvPr/>
          </p:nvSpPr>
          <p:spPr>
            <a:xfrm>
              <a:off x="1181100" y="3035300"/>
              <a:ext cx="3886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Product and engineering build in focused tracks.</a:t>
              </a:r>
              <a:endParaRPr lang="en-US" sz="1100" spc="0" kern="0" b="0" i="0" dirty="0">
                <a:solidFill>
                  <a:srgbClr val="50658E"/>
                </a:solidFill>
                <a:latin typeface="IBM Plex Sans"/>
                <a:ea typeface="IBM Plex Sans"/>
                <a:cs typeface="IBM Plex Sans"/>
              </a:endParaRPr>
            </a:p>
          </p:txBody>
        </p:sp>
        <p:sp>
          <p:nvSpPr>
            <p:cNvPr id="17" name="node02.steps.slot-003.marker"/>
            <p:cNvSpPr/>
            <p:nvPr/>
          </p:nvSpPr>
          <p:spPr>
            <a:xfrm>
              <a:off x="723900" y="3619500"/>
              <a:ext cx="228600" cy="228600"/>
            </a:xfrm>
            <a:prstGeom prst="rect">
              <a:avLst/>
            </a:prstGeom>
            <a:solidFill>
              <a:srgbClr val="F900D3"/>
            </a:solidFill>
            <a:ln>
              <a:noFill/>
            </a:ln>
          </p:spPr>
        </p:sp>
        <p:sp>
          <p:nvSpPr>
            <p:cNvPr id="18" name="node02.steps.slot-003.title"/>
            <p:cNvSpPr/>
            <p:nvPr/>
          </p:nvSpPr>
          <p:spPr>
            <a:xfrm>
              <a:off x="1181100" y="3619500"/>
              <a:ext cx="140335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Reconnect at gates</a:t>
              </a:r>
              <a:endParaRPr lang="en-US" sz="1200" spc="0" kern="0" b="0" i="0" dirty="0">
                <a:solidFill>
                  <a:srgbClr val="070154"/>
                </a:solidFill>
                <a:latin typeface="IBM Plex Sans SemiBold"/>
                <a:ea typeface="IBM Plex Sans SemiBold"/>
                <a:cs typeface="IBM Plex Sans SemiBold"/>
              </a:endParaRPr>
            </a:p>
          </p:txBody>
        </p:sp>
        <p:sp>
          <p:nvSpPr>
            <p:cNvPr id="19" name="node02.steps.slot-003.label"/>
            <p:cNvSpPr/>
            <p:nvPr/>
          </p:nvSpPr>
          <p:spPr>
            <a:xfrm>
              <a:off x="2736850" y="36840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30 MIN</a:t>
              </a:r>
              <a:endParaRPr lang="en-US" sz="800" spc="48" kern="0" b="0" i="0" dirty="0">
                <a:solidFill>
                  <a:srgbClr val="0047FF"/>
                </a:solidFill>
                <a:latin typeface="IBM Plex Mono Medium"/>
                <a:ea typeface="IBM Plex Mono Medium"/>
                <a:cs typeface="IBM Plex Mono Medium"/>
              </a:endParaRPr>
            </a:p>
          </p:txBody>
        </p:sp>
        <p:sp>
          <p:nvSpPr>
            <p:cNvPr id="20" name="node02.steps.slot-003.description.part-0"/>
            <p:cNvSpPr/>
            <p:nvPr/>
          </p:nvSpPr>
          <p:spPr>
            <a:xfrm>
              <a:off x="1181100" y="3873500"/>
              <a:ext cx="3886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Share artifacts, challenge ambiguity, agree what is ready.</a:t>
              </a:r>
              <a:endParaRPr lang="en-US" sz="1100" spc="0" kern="0" b="0" i="0" dirty="0">
                <a:solidFill>
                  <a:srgbClr val="50658E"/>
                </a:solidFill>
                <a:latin typeface="IBM Plex Sans"/>
                <a:ea typeface="IBM Plex Sans"/>
                <a:cs typeface="IBM Plex Sans"/>
              </a:endParaRPr>
            </a:p>
          </p:txBody>
        </p:sp>
        <p:sp>
          <p:nvSpPr>
            <p:cNvPr id="21" name="node02.steps.slot-004.marker"/>
            <p:cNvSpPr/>
            <p:nvPr/>
          </p:nvSpPr>
          <p:spPr>
            <a:xfrm>
              <a:off x="762000" y="4495800"/>
              <a:ext cx="152400" cy="152400"/>
            </a:xfrm>
            <a:prstGeom prst="rect">
              <a:avLst/>
            </a:prstGeom>
            <a:solidFill>
              <a:srgbClr val="FFFFFF"/>
            </a:solidFill>
            <a:ln w="12700">
              <a:solidFill>
                <a:srgbClr val="070154"/>
              </a:solidFill>
              <a:prstDash val="solid"/>
            </a:ln>
          </p:spPr>
        </p:sp>
        <p:sp>
          <p:nvSpPr>
            <p:cNvPr id="22" name="node02.steps.slot-004.title"/>
            <p:cNvSpPr/>
            <p:nvPr/>
          </p:nvSpPr>
          <p:spPr>
            <a:xfrm>
              <a:off x="1181100" y="4457700"/>
              <a:ext cx="12573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Iterate and close</a:t>
              </a:r>
              <a:endParaRPr lang="en-US" sz="1200" spc="0" kern="0" b="0" i="0" dirty="0">
                <a:solidFill>
                  <a:srgbClr val="070154"/>
                </a:solidFill>
                <a:latin typeface="IBM Plex Sans SemiBold"/>
                <a:ea typeface="IBM Plex Sans SemiBold"/>
                <a:cs typeface="IBM Plex Sans SemiBold"/>
              </a:endParaRPr>
            </a:p>
          </p:txBody>
        </p:sp>
        <p:sp>
          <p:nvSpPr>
            <p:cNvPr id="23" name="node02.steps.slot-004.label"/>
            <p:cNvSpPr/>
            <p:nvPr/>
          </p:nvSpPr>
          <p:spPr>
            <a:xfrm>
              <a:off x="2590800" y="45222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15 MIN</a:t>
              </a:r>
              <a:endParaRPr lang="en-US" sz="800" spc="48" kern="0" b="0" i="0" dirty="0">
                <a:solidFill>
                  <a:srgbClr val="0047FF"/>
                </a:solidFill>
                <a:latin typeface="IBM Plex Mono Medium"/>
                <a:ea typeface="IBM Plex Mono Medium"/>
                <a:cs typeface="IBM Plex Mono Medium"/>
              </a:endParaRPr>
            </a:p>
          </p:txBody>
        </p:sp>
        <p:sp>
          <p:nvSpPr>
            <p:cNvPr id="24" name="node02.steps.slot-004.description.part-0"/>
            <p:cNvSpPr/>
            <p:nvPr/>
          </p:nvSpPr>
          <p:spPr>
            <a:xfrm>
              <a:off x="1181100" y="4711700"/>
              <a:ext cx="3886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Review evidence and turn learning into owned actions.</a:t>
              </a:r>
              <a:endParaRPr lang="en-US" sz="1100" spc="0" kern="0" b="0" i="0" dirty="0">
                <a:solidFill>
                  <a:srgbClr val="50658E"/>
                </a:solidFill>
                <a:latin typeface="IBM Plex Sans"/>
                <a:ea typeface="IBM Plex Sans"/>
                <a:cs typeface="IBM Plex Sans"/>
              </a:endParaRPr>
            </a:p>
          </p:txBody>
        </p:sp>
      </p:grpSp>
      <p:grpSp>
        <p:nvGrpSpPr>
          <p:cNvPr id="55" name="node03"/>
          <p:cNvGrpSpPr/>
          <p:nvPr/>
        </p:nvGrpSpPr>
        <p:grpSpPr>
          <a:xfrm>
            <a:off x="723900" y="5410200"/>
            <a:ext cx="4343400" cy="215900"/>
            <a:chOff x="723900" y="5410200"/>
            <a:chExt cx="4343400" cy="215900"/>
          </a:xfrm>
        </p:grpSpPr>
        <p:sp>
          <p:nvSpPr>
            <p:cNvPr id="25" name="node03.text"/>
            <p:cNvSpPr/>
            <p:nvPr/>
          </p:nvSpPr>
          <p:spPr>
            <a:xfrm>
              <a:off x="723900" y="5410200"/>
              <a:ext cx="4343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Bring real context and share work in progress.</a:t>
              </a:r>
              <a:endParaRPr lang="en-US" sz="1200" spc="0" kern="0" b="0" i="0" dirty="0">
                <a:solidFill>
                  <a:srgbClr val="070154"/>
                </a:solidFill>
                <a:latin typeface="IBM Plex Sans"/>
                <a:ea typeface="IBM Plex Sans"/>
                <a:cs typeface="IBM Plex Sans"/>
              </a:endParaRPr>
            </a:p>
          </p:txBody>
        </p:sp>
      </p:grpSp>
      <p:grpSp>
        <p:nvGrpSpPr>
          <p:cNvPr id="56" name="node04"/>
          <p:cNvGrpSpPr/>
          <p:nvPr/>
        </p:nvGrpSpPr>
        <p:grpSpPr>
          <a:xfrm>
            <a:off x="5295900" y="1600200"/>
            <a:ext cx="6172200" cy="4343400"/>
            <a:chOff x="5295900" y="1600200"/>
            <a:chExt cx="6172200" cy="4343400"/>
          </a:xfrm>
        </p:grpSpPr>
        <p:sp>
          <p:nvSpPr>
            <p:cNvPr id="26" name="node04.surface"/>
            <p:cNvSpPr/>
            <p:nvPr/>
          </p:nvSpPr>
          <p:spPr>
            <a:xfrm>
              <a:off x="5295900" y="1600200"/>
              <a:ext cx="6172200" cy="4343400"/>
            </a:xfrm>
            <a:prstGeom prst="rect">
              <a:avLst/>
            </a:prstGeom>
            <a:solidFill>
              <a:srgbClr val="070154"/>
            </a:solidFill>
            <a:ln>
              <a:noFill/>
            </a:ln>
          </p:spPr>
        </p:sp>
      </p:grpSp>
      <p:grpSp>
        <p:nvGrpSpPr>
          <p:cNvPr id="57" name="node05"/>
          <p:cNvGrpSpPr/>
          <p:nvPr/>
        </p:nvGrpSpPr>
        <p:grpSpPr>
          <a:xfrm>
            <a:off x="5524500" y="1828800"/>
            <a:ext cx="5715000" cy="139700"/>
            <a:chOff x="5524500" y="1828800"/>
            <a:chExt cx="5715000" cy="139700"/>
          </a:xfrm>
        </p:grpSpPr>
        <p:sp>
          <p:nvSpPr>
            <p:cNvPr id="27" name="node05.text"/>
            <p:cNvSpPr/>
            <p:nvPr/>
          </p:nvSpPr>
          <p:spPr>
            <a:xfrm>
              <a:off x="5524500" y="1828800"/>
              <a:ext cx="5715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WHAT PARTICIPANTS WILL LEAVE WITH</a:t>
              </a:r>
              <a:endParaRPr lang="en-US" sz="800" spc="48" kern="0" b="0" i="0" dirty="0">
                <a:solidFill>
                  <a:srgbClr val="F900D3"/>
                </a:solidFill>
                <a:latin typeface="IBM Plex Mono Medium"/>
                <a:ea typeface="IBM Plex Mono Medium"/>
                <a:cs typeface="IBM Plex Mono Medium"/>
              </a:endParaRPr>
            </a:p>
          </p:txBody>
        </p:sp>
      </p:grpSp>
      <p:grpSp>
        <p:nvGrpSpPr>
          <p:cNvPr id="58" name="node06"/>
          <p:cNvGrpSpPr/>
          <p:nvPr/>
        </p:nvGrpSpPr>
        <p:grpSpPr>
          <a:xfrm>
            <a:off x="5524500" y="2057400"/>
            <a:ext cx="5715000" cy="330200"/>
            <a:chOff x="5524500" y="2057400"/>
            <a:chExt cx="5715000" cy="330200"/>
          </a:xfrm>
        </p:grpSpPr>
        <p:sp>
          <p:nvSpPr>
            <p:cNvPr id="28" name="node06.text"/>
            <p:cNvSpPr/>
            <p:nvPr/>
          </p:nvSpPr>
          <p:spPr>
            <a:xfrm>
              <a:off x="5524500" y="2057400"/>
              <a:ext cx="57150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FFFFF"/>
                  </a:solidFill>
                  <a:latin typeface="IBM Plex Sans SemiBold"/>
                  <a:ea typeface="IBM Plex Sans SemiBold"/>
                  <a:cs typeface="IBM Plex Sans SemiBold"/>
                </a:rPr>
                <a:t>Six outcomes define the session</a:t>
              </a:r>
              <a:endParaRPr lang="en-US" sz="2100" spc="-32" kern="0" b="0" i="0" dirty="0">
                <a:solidFill>
                  <a:srgbClr val="FFFFFF"/>
                </a:solidFill>
                <a:latin typeface="IBM Plex Sans SemiBold"/>
                <a:ea typeface="IBM Plex Sans SemiBold"/>
                <a:cs typeface="IBM Plex Sans SemiBold"/>
              </a:endParaRPr>
            </a:p>
          </p:txBody>
        </p:sp>
      </p:grpSp>
      <p:grpSp>
        <p:nvGrpSpPr>
          <p:cNvPr id="59" name="node07"/>
          <p:cNvGrpSpPr/>
          <p:nvPr/>
        </p:nvGrpSpPr>
        <p:grpSpPr>
          <a:xfrm>
            <a:off x="5524500" y="2514600"/>
            <a:ext cx="2743200" cy="990600"/>
            <a:chOff x="5524500" y="2514600"/>
            <a:chExt cx="2743200" cy="990600"/>
          </a:xfrm>
        </p:grpSpPr>
        <p:sp>
          <p:nvSpPr>
            <p:cNvPr id="29" name="node07.container"/>
            <p:cNvSpPr/>
            <p:nvPr/>
          </p:nvSpPr>
          <p:spPr>
            <a:xfrm>
              <a:off x="5524500" y="2514600"/>
              <a:ext cx="2743200" cy="990600"/>
            </a:xfrm>
            <a:prstGeom prst="rect">
              <a:avLst/>
            </a:prstGeom>
            <a:solidFill>
              <a:srgbClr val="05013F"/>
            </a:solidFill>
            <a:ln>
              <a:noFill/>
            </a:ln>
          </p:spPr>
        </p:sp>
        <p:sp>
          <p:nvSpPr>
            <p:cNvPr id="30" name="node07.edge"/>
            <p:cNvSpPr/>
            <p:nvPr/>
          </p:nvSpPr>
          <p:spPr>
            <a:xfrm>
              <a:off x="5524500" y="2514600"/>
              <a:ext cx="38100" cy="990600"/>
            </a:xfrm>
            <a:prstGeom prst="rect">
              <a:avLst/>
            </a:prstGeom>
            <a:solidFill>
              <a:srgbClr val="F900D3"/>
            </a:solidFill>
            <a:ln>
              <a:noFill/>
            </a:ln>
          </p:spPr>
        </p:sp>
        <p:sp>
          <p:nvSpPr>
            <p:cNvPr id="31" name="node07.title"/>
            <p:cNvSpPr/>
            <p:nvPr/>
          </p:nvSpPr>
          <p:spPr>
            <a:xfrm>
              <a:off x="5676900" y="26289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Frame the right opportunity</a:t>
              </a:r>
              <a:endParaRPr lang="en-US" sz="1200" spc="0" kern="0" b="0" i="0" dirty="0">
                <a:solidFill>
                  <a:srgbClr val="FFFFFF"/>
                </a:solidFill>
                <a:latin typeface="IBM Plex Sans"/>
                <a:ea typeface="IBM Plex Sans"/>
                <a:cs typeface="IBM Plex Sans"/>
              </a:endParaRPr>
            </a:p>
          </p:txBody>
        </p:sp>
        <p:sp>
          <p:nvSpPr>
            <p:cNvPr id="32" name="node07.body.item-001.paragraph"/>
            <p:cNvSpPr/>
            <p:nvPr/>
          </p:nvSpPr>
          <p:spPr>
            <a:xfrm>
              <a:off x="5676900" y="2997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Pick a feasible problem</a:t>
              </a:r>
              <a:endParaRPr lang="en-US" sz="1200" spc="0" kern="0" b="0" i="0" dirty="0">
                <a:solidFill>
                  <a:srgbClr val="CED7E6"/>
                </a:solidFill>
                <a:latin typeface="IBM Plex Sans"/>
                <a:ea typeface="IBM Plex Sans"/>
                <a:cs typeface="IBM Plex Sans"/>
              </a:endParaRPr>
            </a:p>
          </p:txBody>
        </p:sp>
      </p:grpSp>
      <p:grpSp>
        <p:nvGrpSpPr>
          <p:cNvPr id="60" name="node08"/>
          <p:cNvGrpSpPr/>
          <p:nvPr/>
        </p:nvGrpSpPr>
        <p:grpSpPr>
          <a:xfrm>
            <a:off x="8496300" y="2514600"/>
            <a:ext cx="2743200" cy="990600"/>
            <a:chOff x="8496300" y="2514600"/>
            <a:chExt cx="2743200" cy="990600"/>
          </a:xfrm>
        </p:grpSpPr>
        <p:sp>
          <p:nvSpPr>
            <p:cNvPr id="33" name="node08.container"/>
            <p:cNvSpPr/>
            <p:nvPr/>
          </p:nvSpPr>
          <p:spPr>
            <a:xfrm>
              <a:off x="8496300" y="2514600"/>
              <a:ext cx="2743200" cy="990600"/>
            </a:xfrm>
            <a:prstGeom prst="rect">
              <a:avLst/>
            </a:prstGeom>
            <a:solidFill>
              <a:srgbClr val="05013F"/>
            </a:solidFill>
            <a:ln>
              <a:noFill/>
            </a:ln>
          </p:spPr>
        </p:sp>
        <p:sp>
          <p:nvSpPr>
            <p:cNvPr id="34" name="node08.edge"/>
            <p:cNvSpPr/>
            <p:nvPr/>
          </p:nvSpPr>
          <p:spPr>
            <a:xfrm>
              <a:off x="8496300" y="2514600"/>
              <a:ext cx="38100" cy="990600"/>
            </a:xfrm>
            <a:prstGeom prst="rect">
              <a:avLst/>
            </a:prstGeom>
            <a:solidFill>
              <a:srgbClr val="F900D3"/>
            </a:solidFill>
            <a:ln>
              <a:noFill/>
            </a:ln>
          </p:spPr>
        </p:sp>
        <p:sp>
          <p:nvSpPr>
            <p:cNvPr id="35" name="node08.title"/>
            <p:cNvSpPr/>
            <p:nvPr/>
          </p:nvSpPr>
          <p:spPr>
            <a:xfrm>
              <a:off x="8648700" y="26289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Turn evidence into intent</a:t>
              </a:r>
              <a:endParaRPr lang="en-US" sz="1200" spc="0" kern="0" b="0" i="0" dirty="0">
                <a:solidFill>
                  <a:srgbClr val="FFFFFF"/>
                </a:solidFill>
                <a:latin typeface="IBM Plex Sans"/>
                <a:ea typeface="IBM Plex Sans"/>
                <a:cs typeface="IBM Plex Sans"/>
              </a:endParaRPr>
            </a:p>
          </p:txBody>
        </p:sp>
        <p:sp>
          <p:nvSpPr>
            <p:cNvPr id="36" name="node08.body.item-001.paragraph"/>
            <p:cNvSpPr/>
            <p:nvPr/>
          </p:nvSpPr>
          <p:spPr>
            <a:xfrm>
              <a:off x="8648700" y="2997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Stories and criteria</a:t>
              </a:r>
              <a:endParaRPr lang="en-US" sz="1200" spc="0" kern="0" b="0" i="0" dirty="0">
                <a:solidFill>
                  <a:srgbClr val="CED7E6"/>
                </a:solidFill>
                <a:latin typeface="IBM Plex Sans"/>
                <a:ea typeface="IBM Plex Sans"/>
                <a:cs typeface="IBM Plex Sans"/>
              </a:endParaRPr>
            </a:p>
          </p:txBody>
        </p:sp>
      </p:grpSp>
      <p:grpSp>
        <p:nvGrpSpPr>
          <p:cNvPr id="61" name="node09"/>
          <p:cNvGrpSpPr/>
          <p:nvPr/>
        </p:nvGrpSpPr>
        <p:grpSpPr>
          <a:xfrm>
            <a:off x="5524500" y="3657600"/>
            <a:ext cx="2743200" cy="990600"/>
            <a:chOff x="5524500" y="3657600"/>
            <a:chExt cx="2743200" cy="990600"/>
          </a:xfrm>
        </p:grpSpPr>
        <p:sp>
          <p:nvSpPr>
            <p:cNvPr id="37" name="node09.container"/>
            <p:cNvSpPr/>
            <p:nvPr/>
          </p:nvSpPr>
          <p:spPr>
            <a:xfrm>
              <a:off x="5524500" y="3657600"/>
              <a:ext cx="2743200" cy="990600"/>
            </a:xfrm>
            <a:prstGeom prst="rect">
              <a:avLst/>
            </a:prstGeom>
            <a:solidFill>
              <a:srgbClr val="05013F"/>
            </a:solidFill>
            <a:ln>
              <a:noFill/>
            </a:ln>
          </p:spPr>
        </p:sp>
        <p:sp>
          <p:nvSpPr>
            <p:cNvPr id="38" name="node09.edge"/>
            <p:cNvSpPr/>
            <p:nvPr/>
          </p:nvSpPr>
          <p:spPr>
            <a:xfrm>
              <a:off x="5524500" y="3657600"/>
              <a:ext cx="38100" cy="990600"/>
            </a:xfrm>
            <a:prstGeom prst="rect">
              <a:avLst/>
            </a:prstGeom>
            <a:solidFill>
              <a:srgbClr val="F900D3"/>
            </a:solidFill>
            <a:ln>
              <a:noFill/>
            </a:ln>
          </p:spPr>
        </p:sp>
        <p:sp>
          <p:nvSpPr>
            <p:cNvPr id="39" name="node09.title"/>
            <p:cNvSpPr/>
            <p:nvPr/>
          </p:nvSpPr>
          <p:spPr>
            <a:xfrm>
              <a:off x="5676900" y="37719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Agents across the SDLC</a:t>
              </a:r>
              <a:endParaRPr lang="en-US" sz="1200" spc="0" kern="0" b="0" i="0" dirty="0">
                <a:solidFill>
                  <a:srgbClr val="FFFFFF"/>
                </a:solidFill>
                <a:latin typeface="IBM Plex Sans"/>
                <a:ea typeface="IBM Plex Sans"/>
                <a:cs typeface="IBM Plex Sans"/>
              </a:endParaRPr>
            </a:p>
          </p:txBody>
        </p:sp>
        <p:sp>
          <p:nvSpPr>
            <p:cNvPr id="40" name="node09.body.item-001.paragraph"/>
            <p:cNvSpPr/>
            <p:nvPr/>
          </p:nvSpPr>
          <p:spPr>
            <a:xfrm>
              <a:off x="5676900" y="4140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Plan, code, test, release</a:t>
              </a:r>
              <a:endParaRPr lang="en-US" sz="1200" spc="0" kern="0" b="0" i="0" dirty="0">
                <a:solidFill>
                  <a:srgbClr val="CED7E6"/>
                </a:solidFill>
                <a:latin typeface="IBM Plex Sans"/>
                <a:ea typeface="IBM Plex Sans"/>
                <a:cs typeface="IBM Plex Sans"/>
              </a:endParaRPr>
            </a:p>
          </p:txBody>
        </p:sp>
      </p:grpSp>
      <p:grpSp>
        <p:nvGrpSpPr>
          <p:cNvPr id="62" name="node10"/>
          <p:cNvGrpSpPr/>
          <p:nvPr/>
        </p:nvGrpSpPr>
        <p:grpSpPr>
          <a:xfrm>
            <a:off x="8496300" y="3657600"/>
            <a:ext cx="2743200" cy="990600"/>
            <a:chOff x="8496300" y="3657600"/>
            <a:chExt cx="2743200" cy="990600"/>
          </a:xfrm>
        </p:grpSpPr>
        <p:sp>
          <p:nvSpPr>
            <p:cNvPr id="41" name="node10.container"/>
            <p:cNvSpPr/>
            <p:nvPr/>
          </p:nvSpPr>
          <p:spPr>
            <a:xfrm>
              <a:off x="8496300" y="3657600"/>
              <a:ext cx="2743200" cy="990600"/>
            </a:xfrm>
            <a:prstGeom prst="rect">
              <a:avLst/>
            </a:prstGeom>
            <a:solidFill>
              <a:srgbClr val="05013F"/>
            </a:solidFill>
            <a:ln>
              <a:noFill/>
            </a:ln>
          </p:spPr>
        </p:sp>
        <p:sp>
          <p:nvSpPr>
            <p:cNvPr id="42" name="node10.edge"/>
            <p:cNvSpPr/>
            <p:nvPr/>
          </p:nvSpPr>
          <p:spPr>
            <a:xfrm>
              <a:off x="8496300" y="3657600"/>
              <a:ext cx="38100" cy="990600"/>
            </a:xfrm>
            <a:prstGeom prst="rect">
              <a:avLst/>
            </a:prstGeom>
            <a:solidFill>
              <a:srgbClr val="F900D3"/>
            </a:solidFill>
            <a:ln>
              <a:noFill/>
            </a:ln>
          </p:spPr>
        </p:sp>
        <p:sp>
          <p:nvSpPr>
            <p:cNvPr id="43" name="node10.title"/>
            <p:cNvSpPr/>
            <p:nvPr/>
          </p:nvSpPr>
          <p:spPr>
            <a:xfrm>
              <a:off x="8648700" y="37719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Product-to-R&amp;D interface</a:t>
              </a:r>
              <a:endParaRPr lang="en-US" sz="1200" spc="0" kern="0" b="0" i="0" dirty="0">
                <a:solidFill>
                  <a:srgbClr val="FFFFFF"/>
                </a:solidFill>
                <a:latin typeface="IBM Plex Sans"/>
                <a:ea typeface="IBM Plex Sans"/>
                <a:cs typeface="IBM Plex Sans"/>
              </a:endParaRPr>
            </a:p>
          </p:txBody>
        </p:sp>
        <p:sp>
          <p:nvSpPr>
            <p:cNvPr id="44" name="node10.body.item-001.paragraph"/>
            <p:cNvSpPr/>
            <p:nvPr/>
          </p:nvSpPr>
          <p:spPr>
            <a:xfrm>
              <a:off x="8648700" y="4140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Agree a demonstrable slice</a:t>
              </a:r>
              <a:endParaRPr lang="en-US" sz="1200" spc="0" kern="0" b="0" i="0" dirty="0">
                <a:solidFill>
                  <a:srgbClr val="CED7E6"/>
                </a:solidFill>
                <a:latin typeface="IBM Plex Sans"/>
                <a:ea typeface="IBM Plex Sans"/>
                <a:cs typeface="IBM Plex Sans"/>
              </a:endParaRPr>
            </a:p>
          </p:txBody>
        </p:sp>
      </p:grpSp>
      <p:grpSp>
        <p:nvGrpSpPr>
          <p:cNvPr id="63" name="node11"/>
          <p:cNvGrpSpPr/>
          <p:nvPr/>
        </p:nvGrpSpPr>
        <p:grpSpPr>
          <a:xfrm>
            <a:off x="5524500" y="4800600"/>
            <a:ext cx="2743200" cy="990600"/>
            <a:chOff x="5524500" y="4800600"/>
            <a:chExt cx="2743200" cy="990600"/>
          </a:xfrm>
        </p:grpSpPr>
        <p:sp>
          <p:nvSpPr>
            <p:cNvPr id="45" name="node11.container"/>
            <p:cNvSpPr/>
            <p:nvPr/>
          </p:nvSpPr>
          <p:spPr>
            <a:xfrm>
              <a:off x="5524500" y="4800600"/>
              <a:ext cx="2743200" cy="990600"/>
            </a:xfrm>
            <a:prstGeom prst="rect">
              <a:avLst/>
            </a:prstGeom>
            <a:solidFill>
              <a:srgbClr val="05013F"/>
            </a:solidFill>
            <a:ln>
              <a:noFill/>
            </a:ln>
          </p:spPr>
        </p:sp>
        <p:sp>
          <p:nvSpPr>
            <p:cNvPr id="46" name="node11.edge"/>
            <p:cNvSpPr/>
            <p:nvPr/>
          </p:nvSpPr>
          <p:spPr>
            <a:xfrm>
              <a:off x="5524500" y="4800600"/>
              <a:ext cx="38100" cy="990600"/>
            </a:xfrm>
            <a:prstGeom prst="rect">
              <a:avLst/>
            </a:prstGeom>
            <a:solidFill>
              <a:srgbClr val="F900D3"/>
            </a:solidFill>
            <a:ln>
              <a:noFill/>
            </a:ln>
          </p:spPr>
        </p:sp>
        <p:sp>
          <p:nvSpPr>
            <p:cNvPr id="47" name="node11.title"/>
            <p:cNvSpPr/>
            <p:nvPr/>
          </p:nvSpPr>
          <p:spPr>
            <a:xfrm>
              <a:off x="5676900" y="49149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Compress feedback loops</a:t>
              </a:r>
              <a:endParaRPr lang="en-US" sz="1200" spc="0" kern="0" b="0" i="0" dirty="0">
                <a:solidFill>
                  <a:srgbClr val="FFFFFF"/>
                </a:solidFill>
                <a:latin typeface="IBM Plex Sans"/>
                <a:ea typeface="IBM Plex Sans"/>
                <a:cs typeface="IBM Plex Sans"/>
              </a:endParaRPr>
            </a:p>
          </p:txBody>
        </p:sp>
        <p:sp>
          <p:nvSpPr>
            <p:cNvPr id="48" name="node11.body.item-001.paragraph"/>
            <p:cNvSpPr/>
            <p:nvPr/>
          </p:nvSpPr>
          <p:spPr>
            <a:xfrm>
              <a:off x="5676900" y="5283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Prototype in parallel</a:t>
              </a:r>
              <a:endParaRPr lang="en-US" sz="1200" spc="0" kern="0" b="0" i="0" dirty="0">
                <a:solidFill>
                  <a:srgbClr val="CED7E6"/>
                </a:solidFill>
                <a:latin typeface="IBM Plex Sans"/>
                <a:ea typeface="IBM Plex Sans"/>
                <a:cs typeface="IBM Plex Sans"/>
              </a:endParaRPr>
            </a:p>
          </p:txBody>
        </p:sp>
      </p:grpSp>
      <p:grpSp>
        <p:nvGrpSpPr>
          <p:cNvPr id="64" name="node12"/>
          <p:cNvGrpSpPr/>
          <p:nvPr/>
        </p:nvGrpSpPr>
        <p:grpSpPr>
          <a:xfrm>
            <a:off x="8496300" y="4800600"/>
            <a:ext cx="2743200" cy="990600"/>
            <a:chOff x="8496300" y="4800600"/>
            <a:chExt cx="2743200" cy="990600"/>
          </a:xfrm>
        </p:grpSpPr>
        <p:sp>
          <p:nvSpPr>
            <p:cNvPr id="49" name="node12.container"/>
            <p:cNvSpPr/>
            <p:nvPr/>
          </p:nvSpPr>
          <p:spPr>
            <a:xfrm>
              <a:off x="8496300" y="4800600"/>
              <a:ext cx="2743200" cy="990600"/>
            </a:xfrm>
            <a:prstGeom prst="rect">
              <a:avLst/>
            </a:prstGeom>
            <a:solidFill>
              <a:srgbClr val="05013F"/>
            </a:solidFill>
            <a:ln>
              <a:noFill/>
            </a:ln>
          </p:spPr>
        </p:sp>
        <p:sp>
          <p:nvSpPr>
            <p:cNvPr id="50" name="node12.edge"/>
            <p:cNvSpPr/>
            <p:nvPr/>
          </p:nvSpPr>
          <p:spPr>
            <a:xfrm>
              <a:off x="8496300" y="4800600"/>
              <a:ext cx="38100" cy="990600"/>
            </a:xfrm>
            <a:prstGeom prst="rect">
              <a:avLst/>
            </a:prstGeom>
            <a:solidFill>
              <a:srgbClr val="F900D3"/>
            </a:solidFill>
            <a:ln>
              <a:noFill/>
            </a:ln>
          </p:spPr>
        </p:sp>
        <p:sp>
          <p:nvSpPr>
            <p:cNvPr id="51" name="node12.title"/>
            <p:cNvSpPr/>
            <p:nvPr/>
          </p:nvSpPr>
          <p:spPr>
            <a:xfrm>
              <a:off x="8648700" y="49149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Scale AI-enabled delivery</a:t>
              </a:r>
              <a:endParaRPr lang="en-US" sz="1200" spc="0" kern="0" b="0" i="0" dirty="0">
                <a:solidFill>
                  <a:srgbClr val="FFFFFF"/>
                </a:solidFill>
                <a:latin typeface="IBM Plex Sans"/>
                <a:ea typeface="IBM Plex Sans"/>
                <a:cs typeface="IBM Plex Sans"/>
              </a:endParaRPr>
            </a:p>
          </p:txBody>
        </p:sp>
        <p:sp>
          <p:nvSpPr>
            <p:cNvPr id="52" name="node12.body.item-001.paragraph"/>
            <p:cNvSpPr/>
            <p:nvPr/>
          </p:nvSpPr>
          <p:spPr>
            <a:xfrm>
              <a:off x="8648700" y="5283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Adoption and governance</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ource-14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DIFFERENCE</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46347" y="1078992"/>
            <a:ext cx="1960082" cy="176833"/>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You will feel the </a:t>
            </a:r>
            <a:r>
              <a:rPr lang="en-US" sz="3200" spc="-64" kern="0" b="0" i="0" dirty="0">
                <a:solidFill>
                  <a:srgbClr val="070154"/>
                </a:solidFill>
                <a:latin typeface="IBM Plex Sans SemiBold"/>
                <a:ea typeface="IBM Plex Sans SemiBold"/>
                <a:cs typeface="IBM Plex Sans SemiBold"/>
              </a:rPr>
              <a:t xml:space="preserve">difference</a:t>
            </a:r>
            <a:r>
              <a:rPr lang="en-US" sz="3200" spc="-64" kern="0" b="0" i="0" dirty="0">
                <a:solidFill>
                  <a:srgbClr val="070154"/>
                </a:solidFill>
                <a:latin typeface="IBM Plex Sans SemiBold"/>
                <a:ea typeface="IBM Plex Sans SemiBold"/>
                <a:cs typeface="IBM Plex Sans SemiBold"/>
              </a:rPr>
              <a:t xml:space="preserve"> in how we work</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42</a:t>
            </a:fld>
            <a:endParaRPr lang="en-US" sz="700" spc="0" kern="0" b="0" i="0" dirty="0">
              <a:solidFill>
                <a:srgbClr val="070154"/>
              </a:solidFill>
              <a:latin typeface="IBM Plex Mono SemiBold"/>
              <a:ea typeface="IBM Plex Mono SemiBold"/>
              <a:cs typeface="IBM Plex Mono SemiBold"/>
            </a:endParaRPr>
          </a:p>
        </p:txBody>
      </p:sp>
      <p:grpSp>
        <p:nvGrpSpPr>
          <p:cNvPr id="59" name="node01"/>
          <p:cNvGrpSpPr/>
          <p:nvPr/>
        </p:nvGrpSpPr>
        <p:grpSpPr>
          <a:xfrm>
            <a:off x="723900" y="1600200"/>
            <a:ext cx="3429000" cy="1016000"/>
            <a:chOff x="723900" y="1600200"/>
            <a:chExt cx="3429000" cy="1016000"/>
          </a:xfrm>
        </p:grpSpPr>
        <p:sp>
          <p:nvSpPr>
            <p:cNvPr id="7" name="node01.text"/>
            <p:cNvSpPr/>
            <p:nvPr/>
          </p:nvSpPr>
          <p:spPr>
            <a:xfrm>
              <a:off x="723900" y="1600200"/>
              <a:ext cx="3429000" cy="1016000"/>
            </a:xfrm>
            <a:prstGeom prst="rect">
              <a:avLst/>
            </a:prstGeom>
            <a:noFill/>
            <a:ln/>
          </p:spPr>
          <p:txBody>
            <a:bodyPr wrap="square" lIns="0" tIns="0" rIns="0" bIns="0" rtlCol="0" anchor="t"/>
            <a:lstStyle/>
            <a:p>
              <a:pPr algn="l" indent="0" marL="0">
                <a:lnSpc>
                  <a:spcPts val="2000"/>
                </a:lnSpc>
                <a:buNone/>
              </a:pPr>
              <a:r>
                <a:rPr lang="en-US" sz="1400" spc="0" kern="0" b="0" i="0" dirty="0">
                  <a:solidFill>
                    <a:srgbClr val="070154"/>
                  </a:solidFill>
                  <a:latin typeface="IBM Plex Sans"/>
                  <a:ea typeface="IBM Plex Sans"/>
                  <a:cs typeface="IBM Plex Sans"/>
                </a:rPr>
                <a:t>Our cross-functional teams combine hands-on finance, data and change experience with the technical depth to solve the whole problem.</a:t>
              </a:r>
              <a:endParaRPr lang="en-US" sz="1400" spc="0" kern="0" b="0" i="0" dirty="0">
                <a:solidFill>
                  <a:srgbClr val="070154"/>
                </a:solidFill>
                <a:latin typeface="IBM Plex Sans"/>
                <a:ea typeface="IBM Plex Sans"/>
                <a:cs typeface="IBM Plex Sans"/>
              </a:endParaRPr>
            </a:p>
          </p:txBody>
        </p:sp>
      </p:grpSp>
      <p:grpSp>
        <p:nvGrpSpPr>
          <p:cNvPr id="60" name="node02"/>
          <p:cNvGrpSpPr/>
          <p:nvPr/>
        </p:nvGrpSpPr>
        <p:grpSpPr>
          <a:xfrm>
            <a:off x="723900" y="2971800"/>
            <a:ext cx="3429000" cy="647700"/>
            <a:chOff x="723900" y="2971800"/>
            <a:chExt cx="3429000" cy="647700"/>
          </a:xfrm>
        </p:grpSpPr>
        <p:sp>
          <p:nvSpPr>
            <p:cNvPr id="8" name="node02.text"/>
            <p:cNvSpPr/>
            <p:nvPr/>
          </p:nvSpPr>
          <p:spPr>
            <a:xfrm>
              <a:off x="723900" y="2971800"/>
              <a:ext cx="3429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We work alongside your team as player-coaches, moving from architecture and guardrails through engineering and operations to go-live.</a:t>
              </a:r>
              <a:endParaRPr lang="en-US" sz="1200" spc="0" kern="0" b="0" i="0" dirty="0">
                <a:solidFill>
                  <a:srgbClr val="50658E"/>
                </a:solidFill>
                <a:latin typeface="IBM Plex Sans"/>
                <a:ea typeface="IBM Plex Sans"/>
                <a:cs typeface="IBM Plex Sans"/>
              </a:endParaRPr>
            </a:p>
          </p:txBody>
        </p:sp>
      </p:grpSp>
      <p:grpSp>
        <p:nvGrpSpPr>
          <p:cNvPr id="61" name="node03"/>
          <p:cNvGrpSpPr/>
          <p:nvPr/>
        </p:nvGrpSpPr>
        <p:grpSpPr>
          <a:xfrm>
            <a:off x="723900" y="4114800"/>
            <a:ext cx="3429000" cy="1828800"/>
            <a:chOff x="723900" y="4114800"/>
            <a:chExt cx="3429000" cy="1828800"/>
          </a:xfrm>
        </p:grpSpPr>
        <p:sp>
          <p:nvSpPr>
            <p:cNvPr id="9" name="node03.container"/>
            <p:cNvSpPr/>
            <p:nvPr/>
          </p:nvSpPr>
          <p:spPr>
            <a:xfrm>
              <a:off x="723900" y="4114800"/>
              <a:ext cx="3429000" cy="1828800"/>
            </a:xfrm>
            <a:prstGeom prst="rect">
              <a:avLst/>
            </a:prstGeom>
            <a:solidFill>
              <a:srgbClr val="E8EEF8"/>
            </a:solidFill>
            <a:ln>
              <a:noFill/>
            </a:ln>
          </p:spPr>
        </p:sp>
        <p:sp>
          <p:nvSpPr>
            <p:cNvPr id="10" name="node03.label"/>
            <p:cNvSpPr/>
            <p:nvPr/>
          </p:nvSpPr>
          <p:spPr>
            <a:xfrm>
              <a:off x="952500" y="43434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HANDOVER TARGET</a:t>
              </a:r>
              <a:endParaRPr lang="en-US" sz="800" spc="48" kern="0" b="0" i="0" dirty="0">
                <a:solidFill>
                  <a:srgbClr val="0047FF"/>
                </a:solidFill>
                <a:latin typeface="IBM Plex Mono Medium"/>
                <a:ea typeface="IBM Plex Mono Medium"/>
                <a:cs typeface="IBM Plex Mono Medium"/>
              </a:endParaRPr>
            </a:p>
          </p:txBody>
        </p:sp>
        <p:sp>
          <p:nvSpPr>
            <p:cNvPr id="11" name="node03.metric.value"/>
            <p:cNvSpPr/>
            <p:nvPr/>
          </p:nvSpPr>
          <p:spPr>
            <a:xfrm>
              <a:off x="952500" y="4559300"/>
              <a:ext cx="29718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Day 90</a:t>
              </a:r>
              <a:endParaRPr lang="en-US" sz="4000" spc="-80" kern="0" b="0" i="0" dirty="0">
                <a:solidFill>
                  <a:srgbClr val="070154"/>
                </a:solidFill>
                <a:latin typeface="IBM Plex Mono SemiBold"/>
                <a:ea typeface="IBM Plex Mono SemiBold"/>
                <a:cs typeface="IBM Plex Mono SemiBold"/>
              </a:endParaRPr>
            </a:p>
          </p:txBody>
        </p:sp>
        <p:sp>
          <p:nvSpPr>
            <p:cNvPr id="12" name="node03.metric.label"/>
            <p:cNvSpPr/>
            <p:nvPr/>
          </p:nvSpPr>
          <p:spPr>
            <a:xfrm>
              <a:off x="952500" y="5145469"/>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Your team runs the platform.</a:t>
              </a:r>
              <a:endParaRPr lang="en-US" sz="1200" spc="0" kern="0" b="0" i="0" dirty="0">
                <a:solidFill>
                  <a:srgbClr val="50658E"/>
                </a:solidFill>
                <a:latin typeface="IBM Plex Sans"/>
                <a:ea typeface="IBM Plex Sans"/>
                <a:cs typeface="IBM Plex Sans"/>
              </a:endParaRPr>
            </a:p>
          </p:txBody>
        </p:sp>
      </p:grpSp>
      <p:grpSp>
        <p:nvGrpSpPr>
          <p:cNvPr id="62" name="node04"/>
          <p:cNvGrpSpPr/>
          <p:nvPr/>
        </p:nvGrpSpPr>
        <p:grpSpPr>
          <a:xfrm>
            <a:off x="4381500" y="1600200"/>
            <a:ext cx="3429000" cy="1828800"/>
            <a:chOff x="4381500" y="1600200"/>
            <a:chExt cx="3429000" cy="1828800"/>
          </a:xfrm>
        </p:grpSpPr>
        <p:sp>
          <p:nvSpPr>
            <p:cNvPr id="13" name="node04.container"/>
            <p:cNvSpPr/>
            <p:nvPr/>
          </p:nvSpPr>
          <p:spPr>
            <a:xfrm>
              <a:off x="4381500" y="1600200"/>
              <a:ext cx="3429000" cy="1828800"/>
            </a:xfrm>
            <a:prstGeom prst="rect">
              <a:avLst/>
            </a:prstGeom>
            <a:solidFill>
              <a:srgbClr val="E8EEF8"/>
            </a:solidFill>
            <a:ln>
              <a:noFill/>
            </a:ln>
          </p:spPr>
        </p:sp>
        <p:sp>
          <p:nvSpPr>
            <p:cNvPr id="14" name="node04.label"/>
            <p:cNvSpPr/>
            <p:nvPr/>
          </p:nvSpPr>
          <p:spPr>
            <a:xfrm>
              <a:off x="45339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OTHER FIRMS</a:t>
              </a:r>
              <a:endParaRPr lang="en-US" sz="800" spc="48" kern="0" b="0" i="0" dirty="0">
                <a:solidFill>
                  <a:srgbClr val="0047FF"/>
                </a:solidFill>
                <a:latin typeface="IBM Plex Mono Medium"/>
                <a:ea typeface="IBM Plex Mono Medium"/>
                <a:cs typeface="IBM Plex Mono Medium"/>
              </a:endParaRPr>
            </a:p>
          </p:txBody>
        </p:sp>
        <p:sp>
          <p:nvSpPr>
            <p:cNvPr id="15" name="node04.body.item-001.bullets.item-001.marker"/>
            <p:cNvSpPr/>
            <p:nvPr/>
          </p:nvSpPr>
          <p:spPr>
            <a:xfrm>
              <a:off x="4533900" y="2057400"/>
              <a:ext cx="38100" cy="38100"/>
            </a:xfrm>
            <a:prstGeom prst="rect">
              <a:avLst/>
            </a:prstGeom>
            <a:solidFill>
              <a:srgbClr val="070154"/>
            </a:solidFill>
            <a:ln>
              <a:noFill/>
            </a:ln>
          </p:spPr>
        </p:sp>
        <p:sp>
          <p:nvSpPr>
            <p:cNvPr id="16" name="node04.body.item-001.bullets.item-001.text"/>
            <p:cNvSpPr/>
            <p:nvPr/>
          </p:nvSpPr>
          <p:spPr>
            <a:xfrm>
              <a:off x="4686300" y="1968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One-time benefit capture</a:t>
              </a:r>
              <a:endParaRPr lang="en-US" sz="1200" spc="0" kern="0" b="0" i="0" dirty="0">
                <a:solidFill>
                  <a:srgbClr val="070154"/>
                </a:solidFill>
                <a:latin typeface="IBM Plex Sans"/>
                <a:ea typeface="IBM Plex Sans"/>
                <a:cs typeface="IBM Plex Sans"/>
              </a:endParaRPr>
            </a:p>
          </p:txBody>
        </p:sp>
        <p:sp>
          <p:nvSpPr>
            <p:cNvPr id="17" name="node04.body.item-001.bullets.item-002.marker"/>
            <p:cNvSpPr/>
            <p:nvPr/>
          </p:nvSpPr>
          <p:spPr>
            <a:xfrm>
              <a:off x="4533900" y="2311400"/>
              <a:ext cx="38100" cy="38100"/>
            </a:xfrm>
            <a:prstGeom prst="rect">
              <a:avLst/>
            </a:prstGeom>
            <a:solidFill>
              <a:srgbClr val="070154"/>
            </a:solidFill>
            <a:ln>
              <a:noFill/>
            </a:ln>
          </p:spPr>
        </p:sp>
        <p:sp>
          <p:nvSpPr>
            <p:cNvPr id="18" name="node04.body.item-001.bullets.item-002.text"/>
            <p:cNvSpPr/>
            <p:nvPr/>
          </p:nvSpPr>
          <p:spPr>
            <a:xfrm>
              <a:off x="4686300" y="2222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Technology-focused</a:t>
              </a:r>
              <a:endParaRPr lang="en-US" sz="1200" spc="0" kern="0" b="0" i="0" dirty="0">
                <a:solidFill>
                  <a:srgbClr val="070154"/>
                </a:solidFill>
                <a:latin typeface="IBM Plex Sans"/>
                <a:ea typeface="IBM Plex Sans"/>
                <a:cs typeface="IBM Plex Sans"/>
              </a:endParaRPr>
            </a:p>
          </p:txBody>
        </p:sp>
        <p:sp>
          <p:nvSpPr>
            <p:cNvPr id="19" name="node04.body.item-001.bullets.item-003.marker"/>
            <p:cNvSpPr/>
            <p:nvPr/>
          </p:nvSpPr>
          <p:spPr>
            <a:xfrm>
              <a:off x="4533900" y="2565400"/>
              <a:ext cx="38100" cy="38100"/>
            </a:xfrm>
            <a:prstGeom prst="rect">
              <a:avLst/>
            </a:prstGeom>
            <a:solidFill>
              <a:srgbClr val="070154"/>
            </a:solidFill>
            <a:ln>
              <a:noFill/>
            </a:ln>
          </p:spPr>
        </p:sp>
        <p:sp>
          <p:nvSpPr>
            <p:cNvPr id="20" name="node04.body.item-001.bullets.item-003.text"/>
            <p:cNvSpPr/>
            <p:nvPr/>
          </p:nvSpPr>
          <p:spPr>
            <a:xfrm>
              <a:off x="4686300" y="2476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Generic blueprint</a:t>
              </a:r>
              <a:endParaRPr lang="en-US" sz="1200" spc="0" kern="0" b="0" i="0" dirty="0">
                <a:solidFill>
                  <a:srgbClr val="070154"/>
                </a:solidFill>
                <a:latin typeface="IBM Plex Sans"/>
                <a:ea typeface="IBM Plex Sans"/>
                <a:cs typeface="IBM Plex Sans"/>
              </a:endParaRPr>
            </a:p>
          </p:txBody>
        </p:sp>
        <p:sp>
          <p:nvSpPr>
            <p:cNvPr id="21" name="node04.body.item-001.bullets.item-004.marker"/>
            <p:cNvSpPr/>
            <p:nvPr/>
          </p:nvSpPr>
          <p:spPr>
            <a:xfrm>
              <a:off x="4533900" y="2819400"/>
              <a:ext cx="38100" cy="38100"/>
            </a:xfrm>
            <a:prstGeom prst="rect">
              <a:avLst/>
            </a:prstGeom>
            <a:solidFill>
              <a:srgbClr val="070154"/>
            </a:solidFill>
            <a:ln>
              <a:noFill/>
            </a:ln>
          </p:spPr>
        </p:sp>
        <p:sp>
          <p:nvSpPr>
            <p:cNvPr id="22" name="node04.body.item-001.bullets.item-004.text"/>
            <p:cNvSpPr/>
            <p:nvPr/>
          </p:nvSpPr>
          <p:spPr>
            <a:xfrm>
              <a:off x="4686300" y="2730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Siloed workstreams</a:t>
              </a:r>
              <a:endParaRPr lang="en-US" sz="1200" spc="0" kern="0" b="0" i="0" dirty="0">
                <a:solidFill>
                  <a:srgbClr val="070154"/>
                </a:solidFill>
                <a:latin typeface="IBM Plex Sans"/>
                <a:ea typeface="IBM Plex Sans"/>
                <a:cs typeface="IBM Plex Sans"/>
              </a:endParaRPr>
            </a:p>
          </p:txBody>
        </p:sp>
        <p:sp>
          <p:nvSpPr>
            <p:cNvPr id="23" name="node04.body.item-001.bullets.item-005.marker"/>
            <p:cNvSpPr/>
            <p:nvPr/>
          </p:nvSpPr>
          <p:spPr>
            <a:xfrm>
              <a:off x="4533900" y="3073400"/>
              <a:ext cx="38100" cy="38100"/>
            </a:xfrm>
            <a:prstGeom prst="rect">
              <a:avLst/>
            </a:prstGeom>
            <a:solidFill>
              <a:srgbClr val="070154"/>
            </a:solidFill>
            <a:ln>
              <a:noFill/>
            </a:ln>
          </p:spPr>
        </p:sp>
        <p:sp>
          <p:nvSpPr>
            <p:cNvPr id="24" name="node04.body.item-001.bullets.item-005.text"/>
            <p:cNvSpPr/>
            <p:nvPr/>
          </p:nvSpPr>
          <p:spPr>
            <a:xfrm>
              <a:off x="4686300" y="2984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Vendor-led delivery</a:t>
              </a:r>
              <a:endParaRPr lang="en-US" sz="1200" spc="0" kern="0" b="0" i="0" dirty="0">
                <a:solidFill>
                  <a:srgbClr val="070154"/>
                </a:solidFill>
                <a:latin typeface="IBM Plex Sans"/>
                <a:ea typeface="IBM Plex Sans"/>
                <a:cs typeface="IBM Plex Sans"/>
              </a:endParaRPr>
            </a:p>
          </p:txBody>
        </p:sp>
      </p:grpSp>
      <p:grpSp>
        <p:nvGrpSpPr>
          <p:cNvPr id="63" name="node05"/>
          <p:cNvGrpSpPr/>
          <p:nvPr/>
        </p:nvGrpSpPr>
        <p:grpSpPr>
          <a:xfrm>
            <a:off x="8039100" y="1600200"/>
            <a:ext cx="3429000" cy="1828800"/>
            <a:chOff x="8039100" y="1600200"/>
            <a:chExt cx="3429000" cy="1828800"/>
          </a:xfrm>
        </p:grpSpPr>
        <p:sp>
          <p:nvSpPr>
            <p:cNvPr id="25" name="node05.container"/>
            <p:cNvSpPr/>
            <p:nvPr/>
          </p:nvSpPr>
          <p:spPr>
            <a:xfrm>
              <a:off x="8039100" y="1600200"/>
              <a:ext cx="3429000" cy="1828800"/>
            </a:xfrm>
            <a:prstGeom prst="rect">
              <a:avLst/>
            </a:prstGeom>
            <a:solidFill>
              <a:srgbClr val="070154"/>
            </a:solidFill>
            <a:ln>
              <a:noFill/>
            </a:ln>
          </p:spPr>
        </p:sp>
        <p:sp>
          <p:nvSpPr>
            <p:cNvPr id="26" name="node05.label"/>
            <p:cNvSpPr/>
            <p:nvPr/>
          </p:nvSpPr>
          <p:spPr>
            <a:xfrm>
              <a:off x="81915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HOW WE WORK</a:t>
              </a:r>
              <a:endParaRPr lang="en-US" sz="800" spc="48" kern="0" b="0" i="0" dirty="0">
                <a:solidFill>
                  <a:srgbClr val="F900D3"/>
                </a:solidFill>
                <a:latin typeface="IBM Plex Mono Medium"/>
                <a:ea typeface="IBM Plex Mono Medium"/>
                <a:cs typeface="IBM Plex Mono Medium"/>
              </a:endParaRPr>
            </a:p>
          </p:txBody>
        </p:sp>
        <p:sp>
          <p:nvSpPr>
            <p:cNvPr id="27" name="node05.body.item-001.bullets.item-001.marker"/>
            <p:cNvSpPr/>
            <p:nvPr/>
          </p:nvSpPr>
          <p:spPr>
            <a:xfrm>
              <a:off x="8191500" y="2057400"/>
              <a:ext cx="38100" cy="38100"/>
            </a:xfrm>
            <a:prstGeom prst="rect">
              <a:avLst/>
            </a:prstGeom>
            <a:solidFill>
              <a:srgbClr val="FFFFFF"/>
            </a:solidFill>
            <a:ln>
              <a:noFill/>
            </a:ln>
          </p:spPr>
        </p:sp>
        <p:sp>
          <p:nvSpPr>
            <p:cNvPr id="28" name="node05.body.item-001.bullets.item-001.text"/>
            <p:cNvSpPr/>
            <p:nvPr/>
          </p:nvSpPr>
          <p:spPr>
            <a:xfrm>
              <a:off x="8343900" y="1968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Iterative path to go-live</a:t>
              </a:r>
              <a:endParaRPr lang="en-US" sz="1200" spc="0" kern="0" b="0" i="0" dirty="0">
                <a:solidFill>
                  <a:srgbClr val="FFFFFF"/>
                </a:solidFill>
                <a:latin typeface="IBM Plex Sans"/>
                <a:ea typeface="IBM Plex Sans"/>
                <a:cs typeface="IBM Plex Sans"/>
              </a:endParaRPr>
            </a:p>
          </p:txBody>
        </p:sp>
        <p:sp>
          <p:nvSpPr>
            <p:cNvPr id="29" name="node05.body.item-001.bullets.item-002.marker"/>
            <p:cNvSpPr/>
            <p:nvPr/>
          </p:nvSpPr>
          <p:spPr>
            <a:xfrm>
              <a:off x="8191500" y="2311400"/>
              <a:ext cx="38100" cy="38100"/>
            </a:xfrm>
            <a:prstGeom prst="rect">
              <a:avLst/>
            </a:prstGeom>
            <a:solidFill>
              <a:srgbClr val="FFFFFF"/>
            </a:solidFill>
            <a:ln>
              <a:noFill/>
            </a:ln>
          </p:spPr>
        </p:sp>
        <p:sp>
          <p:nvSpPr>
            <p:cNvPr id="30" name="node05.body.item-001.bullets.item-002.text"/>
            <p:cNvSpPr/>
            <p:nvPr/>
          </p:nvSpPr>
          <p:spPr>
            <a:xfrm>
              <a:off x="8343900" y="2222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Platform-product focus</a:t>
              </a:r>
              <a:endParaRPr lang="en-US" sz="1200" spc="0" kern="0" b="0" i="0" dirty="0">
                <a:solidFill>
                  <a:srgbClr val="FFFFFF"/>
                </a:solidFill>
                <a:latin typeface="IBM Plex Sans"/>
                <a:ea typeface="IBM Plex Sans"/>
                <a:cs typeface="IBM Plex Sans"/>
              </a:endParaRPr>
            </a:p>
          </p:txBody>
        </p:sp>
        <p:sp>
          <p:nvSpPr>
            <p:cNvPr id="31" name="node05.body.item-001.bullets.item-003.marker"/>
            <p:cNvSpPr/>
            <p:nvPr/>
          </p:nvSpPr>
          <p:spPr>
            <a:xfrm>
              <a:off x="8191500" y="2565400"/>
              <a:ext cx="38100" cy="38100"/>
            </a:xfrm>
            <a:prstGeom prst="rect">
              <a:avLst/>
            </a:prstGeom>
            <a:solidFill>
              <a:srgbClr val="FFFFFF"/>
            </a:solidFill>
            <a:ln>
              <a:noFill/>
            </a:ln>
          </p:spPr>
        </p:sp>
        <p:sp>
          <p:nvSpPr>
            <p:cNvPr id="32" name="node05.body.item-001.bullets.item-003.text"/>
            <p:cNvSpPr/>
            <p:nvPr/>
          </p:nvSpPr>
          <p:spPr>
            <a:xfrm>
              <a:off x="8343900" y="2476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Integrated architecture</a:t>
              </a:r>
              <a:endParaRPr lang="en-US" sz="1200" spc="0" kern="0" b="0" i="0" dirty="0">
                <a:solidFill>
                  <a:srgbClr val="FFFFFF"/>
                </a:solidFill>
                <a:latin typeface="IBM Plex Sans"/>
                <a:ea typeface="IBM Plex Sans"/>
                <a:cs typeface="IBM Plex Sans"/>
              </a:endParaRPr>
            </a:p>
          </p:txBody>
        </p:sp>
        <p:sp>
          <p:nvSpPr>
            <p:cNvPr id="33" name="node05.body.item-001.bullets.item-004.marker"/>
            <p:cNvSpPr/>
            <p:nvPr/>
          </p:nvSpPr>
          <p:spPr>
            <a:xfrm>
              <a:off x="8191500" y="2819400"/>
              <a:ext cx="38100" cy="38100"/>
            </a:xfrm>
            <a:prstGeom prst="rect">
              <a:avLst/>
            </a:prstGeom>
            <a:solidFill>
              <a:srgbClr val="FFFFFF"/>
            </a:solidFill>
            <a:ln>
              <a:noFill/>
            </a:ln>
          </p:spPr>
        </p:sp>
        <p:sp>
          <p:nvSpPr>
            <p:cNvPr id="34" name="node05.body.item-001.bullets.item-004.text"/>
            <p:cNvSpPr/>
            <p:nvPr/>
          </p:nvSpPr>
          <p:spPr>
            <a:xfrm>
              <a:off x="8343900" y="2730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Player-coach partnership</a:t>
              </a:r>
              <a:endParaRPr lang="en-US" sz="1200" spc="0" kern="0" b="0" i="0" dirty="0">
                <a:solidFill>
                  <a:srgbClr val="FFFFFF"/>
                </a:solidFill>
                <a:latin typeface="IBM Plex Sans"/>
                <a:ea typeface="IBM Plex Sans"/>
                <a:cs typeface="IBM Plex Sans"/>
              </a:endParaRPr>
            </a:p>
          </p:txBody>
        </p:sp>
        <p:sp>
          <p:nvSpPr>
            <p:cNvPr id="35" name="node05.body.item-001.bullets.item-005.marker"/>
            <p:cNvSpPr/>
            <p:nvPr/>
          </p:nvSpPr>
          <p:spPr>
            <a:xfrm>
              <a:off x="8191500" y="3073400"/>
              <a:ext cx="38100" cy="38100"/>
            </a:xfrm>
            <a:prstGeom prst="rect">
              <a:avLst/>
            </a:prstGeom>
            <a:solidFill>
              <a:srgbClr val="FFFFFF"/>
            </a:solidFill>
            <a:ln>
              <a:noFill/>
            </a:ln>
          </p:spPr>
        </p:sp>
        <p:sp>
          <p:nvSpPr>
            <p:cNvPr id="36" name="node05.body.item-001.bullets.item-005.text"/>
            <p:cNvSpPr/>
            <p:nvPr/>
          </p:nvSpPr>
          <p:spPr>
            <a:xfrm>
              <a:off x="8343900" y="2984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Cross-discipline teams</a:t>
              </a:r>
              <a:endParaRPr lang="en-US" sz="1200" spc="0" kern="0" b="0" i="0" dirty="0">
                <a:solidFill>
                  <a:srgbClr val="FFFFFF"/>
                </a:solidFill>
                <a:latin typeface="IBM Plex Sans"/>
                <a:ea typeface="IBM Plex Sans"/>
                <a:cs typeface="IBM Plex Sans"/>
              </a:endParaRPr>
            </a:p>
          </p:txBody>
        </p:sp>
      </p:grpSp>
      <p:grpSp>
        <p:nvGrpSpPr>
          <p:cNvPr id="64" name="node06"/>
          <p:cNvGrpSpPr/>
          <p:nvPr/>
        </p:nvGrpSpPr>
        <p:grpSpPr>
          <a:xfrm>
            <a:off x="7810500" y="2471979"/>
            <a:ext cx="228600" cy="85242"/>
            <a:chOff x="7810500" y="2471979"/>
            <a:chExt cx="228600" cy="85242"/>
          </a:xfrm>
        </p:grpSpPr>
        <p:sp>
          <p:nvSpPr>
            <p:cNvPr id="37" name="node06.segment-1"/>
            <p:cNvSpPr/>
            <p:nvPr/>
          </p:nvSpPr>
          <p:spPr>
            <a:xfrm>
              <a:off x="7810500" y="25146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38" name="node06.head-end.0"/>
            <p:cNvSpPr/>
            <p:nvPr/>
          </p:nvSpPr>
          <p:spPr>
            <a:xfrm>
              <a:off x="7961083" y="25146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9" name="node06.head-end.1"/>
            <p:cNvSpPr/>
            <p:nvPr/>
          </p:nvSpPr>
          <p:spPr>
            <a:xfrm>
              <a:off x="7961083" y="24719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65" name="node07"/>
          <p:cNvGrpSpPr/>
          <p:nvPr/>
        </p:nvGrpSpPr>
        <p:grpSpPr>
          <a:xfrm>
            <a:off x="4381500" y="3657600"/>
            <a:ext cx="7086600" cy="139700"/>
            <a:chOff x="4381500" y="3657600"/>
            <a:chExt cx="7086600" cy="139700"/>
          </a:xfrm>
        </p:grpSpPr>
        <p:sp>
          <p:nvSpPr>
            <p:cNvPr id="40" name="node07.text"/>
            <p:cNvSpPr/>
            <p:nvPr/>
          </p:nvSpPr>
          <p:spPr>
            <a:xfrm>
              <a:off x="4381500" y="36576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THAT MEANS FOR YOU</a:t>
              </a:r>
              <a:endParaRPr lang="en-US" sz="800" spc="48" kern="0" b="0" i="0" dirty="0">
                <a:solidFill>
                  <a:srgbClr val="0047FF"/>
                </a:solidFill>
                <a:latin typeface="IBM Plex Mono Medium"/>
                <a:ea typeface="IBM Plex Mono Medium"/>
                <a:cs typeface="IBM Plex Mono Medium"/>
              </a:endParaRPr>
            </a:p>
          </p:txBody>
        </p:sp>
      </p:grpSp>
      <p:grpSp>
        <p:nvGrpSpPr>
          <p:cNvPr id="67" name="node08"/>
          <p:cNvGrpSpPr/>
          <p:nvPr/>
        </p:nvGrpSpPr>
        <p:grpSpPr>
          <a:xfrm>
            <a:off x="4381500" y="3886200"/>
            <a:ext cx="685800" cy="685800"/>
            <a:chOff x="4381500" y="3886200"/>
            <a:chExt cx="685800" cy="685800"/>
          </a:xfrm>
        </p:grpSpPr>
        <p:sp>
          <p:nvSpPr>
            <p:cNvPr id="41" name="node08.surface"/>
            <p:cNvSpPr/>
            <p:nvPr/>
          </p:nvSpPr>
          <p:spPr>
            <a:xfrm>
              <a:off x="4381500" y="3886200"/>
              <a:ext cx="685800" cy="685800"/>
            </a:xfrm>
            <a:prstGeom prst="rect">
              <a:avLst/>
            </a:prstGeom>
            <a:solidFill>
              <a:srgbClr val="E8EEF8"/>
            </a:solidFill>
            <a:ln>
              <a:noFill/>
            </a:ln>
          </p:spPr>
        </p:sp>
        <p:grpSp>
          <p:nvGrpSpPr>
            <p:cNvPr id="66" name="node08.icon"/>
            <p:cNvGrpSpPr/>
            <p:nvPr/>
          </p:nvGrpSpPr>
          <p:grpSpPr>
            <a:xfrm>
              <a:off x="4533900" y="4038600"/>
              <a:ext cx="381000" cy="381000"/>
              <a:chOff x="4533900" y="4038600"/>
              <a:chExt cx="381000" cy="381000"/>
            </a:xfrm>
          </p:grpSpPr>
          <p:pic>
            <p:nvPicPr>
              <p:cNvPr id="42" name="node08.icon.image" descr="icon/growth-person/navy; canonical SHA256=f4af7b2abdb5c2b1b0dd313eabe94e5f6f21fb8ecb2da4579d3bef4ce735d546">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33900" y="4038600"/>
                <a:ext cx="381000" cy="381000"/>
              </a:xfrm>
              <a:prstGeom prst="rect">
                <a:avLst/>
              </a:prstGeom>
            </p:spPr>
          </p:pic>
        </p:grpSp>
      </p:grpSp>
      <p:grpSp>
        <p:nvGrpSpPr>
          <p:cNvPr id="68" name="node09"/>
          <p:cNvGrpSpPr/>
          <p:nvPr/>
        </p:nvGrpSpPr>
        <p:grpSpPr>
          <a:xfrm>
            <a:off x="5219700" y="3886200"/>
            <a:ext cx="2590800" cy="685800"/>
            <a:chOff x="5219700" y="3886200"/>
            <a:chExt cx="2590800" cy="685800"/>
          </a:xfrm>
        </p:grpSpPr>
        <p:sp>
          <p:nvSpPr>
            <p:cNvPr id="43" name="node09.text"/>
            <p:cNvSpPr/>
            <p:nvPr/>
          </p:nvSpPr>
          <p:spPr>
            <a:xfrm>
              <a:off x="5219700" y="4038600"/>
              <a:ext cx="2590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We build the capability to own, run and evolve the platform.</a:t>
              </a:r>
              <a:endParaRPr lang="en-US" sz="1100" spc="0" kern="0" b="0" i="0" dirty="0">
                <a:solidFill>
                  <a:srgbClr val="070154"/>
                </a:solidFill>
                <a:latin typeface="IBM Plex Sans"/>
                <a:ea typeface="IBM Plex Sans"/>
                <a:cs typeface="IBM Plex Sans"/>
              </a:endParaRPr>
            </a:p>
          </p:txBody>
        </p:sp>
      </p:grpSp>
      <p:grpSp>
        <p:nvGrpSpPr>
          <p:cNvPr id="70" name="node10"/>
          <p:cNvGrpSpPr/>
          <p:nvPr/>
        </p:nvGrpSpPr>
        <p:grpSpPr>
          <a:xfrm>
            <a:off x="8039100" y="3886200"/>
            <a:ext cx="685800" cy="685800"/>
            <a:chOff x="8039100" y="3886200"/>
            <a:chExt cx="685800" cy="685800"/>
          </a:xfrm>
        </p:grpSpPr>
        <p:sp>
          <p:nvSpPr>
            <p:cNvPr id="44" name="node10.surface"/>
            <p:cNvSpPr/>
            <p:nvPr/>
          </p:nvSpPr>
          <p:spPr>
            <a:xfrm>
              <a:off x="8039100" y="3886200"/>
              <a:ext cx="685800" cy="685800"/>
            </a:xfrm>
            <a:prstGeom prst="rect">
              <a:avLst/>
            </a:prstGeom>
            <a:solidFill>
              <a:srgbClr val="E8EEF8"/>
            </a:solidFill>
            <a:ln>
              <a:noFill/>
            </a:ln>
          </p:spPr>
        </p:sp>
        <p:grpSp>
          <p:nvGrpSpPr>
            <p:cNvPr id="69" name="node10.icon"/>
            <p:cNvGrpSpPr/>
            <p:nvPr/>
          </p:nvGrpSpPr>
          <p:grpSpPr>
            <a:xfrm>
              <a:off x="8191500" y="4038600"/>
              <a:ext cx="381000" cy="381000"/>
              <a:chOff x="8191500" y="4038600"/>
              <a:chExt cx="381000" cy="381000"/>
            </a:xfrm>
          </p:grpSpPr>
          <p:pic>
            <p:nvPicPr>
              <p:cNvPr id="45" name="node10.icon.image" descr="icon/team-huddle/navy; canonical SHA256=0810b0327bab4c67b9ad5494cd579ab1166b6cab738efd10be95638de3481f2f">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1500" y="4038600"/>
                <a:ext cx="381000" cy="381000"/>
              </a:xfrm>
              <a:prstGeom prst="rect">
                <a:avLst/>
              </a:prstGeom>
            </p:spPr>
          </p:pic>
        </p:grpSp>
      </p:grpSp>
      <p:grpSp>
        <p:nvGrpSpPr>
          <p:cNvPr id="71" name="node11"/>
          <p:cNvGrpSpPr/>
          <p:nvPr/>
        </p:nvGrpSpPr>
        <p:grpSpPr>
          <a:xfrm>
            <a:off x="8877300" y="3886200"/>
            <a:ext cx="2590800" cy="685800"/>
            <a:chOff x="8877300" y="3886200"/>
            <a:chExt cx="2590800" cy="685800"/>
          </a:xfrm>
        </p:grpSpPr>
        <p:sp>
          <p:nvSpPr>
            <p:cNvPr id="46" name="node11.text"/>
            <p:cNvSpPr/>
            <p:nvPr/>
          </p:nvSpPr>
          <p:spPr>
            <a:xfrm>
              <a:off x="8877300" y="4038600"/>
              <a:ext cx="2590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Cross-functional teams work together through delivery.</a:t>
              </a:r>
              <a:endParaRPr lang="en-US" sz="1100" spc="0" kern="0" b="0" i="0" dirty="0">
                <a:solidFill>
                  <a:srgbClr val="070154"/>
                </a:solidFill>
                <a:latin typeface="IBM Plex Sans"/>
                <a:ea typeface="IBM Plex Sans"/>
                <a:cs typeface="IBM Plex Sans"/>
              </a:endParaRPr>
            </a:p>
          </p:txBody>
        </p:sp>
      </p:grpSp>
      <p:grpSp>
        <p:nvGrpSpPr>
          <p:cNvPr id="73" name="node12"/>
          <p:cNvGrpSpPr/>
          <p:nvPr/>
        </p:nvGrpSpPr>
        <p:grpSpPr>
          <a:xfrm>
            <a:off x="4381500" y="4572000"/>
            <a:ext cx="685800" cy="685800"/>
            <a:chOff x="4381500" y="4572000"/>
            <a:chExt cx="685800" cy="685800"/>
          </a:xfrm>
        </p:grpSpPr>
        <p:sp>
          <p:nvSpPr>
            <p:cNvPr id="47" name="node12.surface"/>
            <p:cNvSpPr/>
            <p:nvPr/>
          </p:nvSpPr>
          <p:spPr>
            <a:xfrm>
              <a:off x="4381500" y="4572000"/>
              <a:ext cx="685800" cy="685800"/>
            </a:xfrm>
            <a:prstGeom prst="rect">
              <a:avLst/>
            </a:prstGeom>
            <a:solidFill>
              <a:srgbClr val="E8EEF8"/>
            </a:solidFill>
            <a:ln>
              <a:noFill/>
            </a:ln>
          </p:spPr>
        </p:sp>
        <p:grpSp>
          <p:nvGrpSpPr>
            <p:cNvPr id="72" name="node12.icon"/>
            <p:cNvGrpSpPr/>
            <p:nvPr/>
          </p:nvGrpSpPr>
          <p:grpSpPr>
            <a:xfrm>
              <a:off x="4533900" y="4724400"/>
              <a:ext cx="381000" cy="381000"/>
              <a:chOff x="4533900" y="4724400"/>
              <a:chExt cx="381000" cy="381000"/>
            </a:xfrm>
          </p:grpSpPr>
          <p:pic>
            <p:nvPicPr>
              <p:cNvPr id="48" name="node12.icon.image" descr="icon/circuit-layers/navy; canonical SHA256=2ce3a8535eb05461000a5746d05993417b90c0a0d12821ebfa41597a7ffad94f">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33900" y="4724400"/>
                <a:ext cx="381000" cy="381000"/>
              </a:xfrm>
              <a:prstGeom prst="rect">
                <a:avLst/>
              </a:prstGeom>
            </p:spPr>
          </p:pic>
        </p:grpSp>
      </p:grpSp>
      <p:grpSp>
        <p:nvGrpSpPr>
          <p:cNvPr id="74" name="node13"/>
          <p:cNvGrpSpPr/>
          <p:nvPr/>
        </p:nvGrpSpPr>
        <p:grpSpPr>
          <a:xfrm>
            <a:off x="5219700" y="4572000"/>
            <a:ext cx="2590800" cy="685800"/>
            <a:chOff x="5219700" y="4572000"/>
            <a:chExt cx="2590800" cy="685800"/>
          </a:xfrm>
        </p:grpSpPr>
        <p:sp>
          <p:nvSpPr>
            <p:cNvPr id="49" name="node13.text"/>
            <p:cNvSpPr/>
            <p:nvPr/>
          </p:nvSpPr>
          <p:spPr>
            <a:xfrm>
              <a:off x="5219700" y="4724400"/>
              <a:ext cx="2590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We apply data, cloud, security and change expertise.</a:t>
              </a:r>
              <a:endParaRPr lang="en-US" sz="1100" spc="0" kern="0" b="0" i="0" dirty="0">
                <a:solidFill>
                  <a:srgbClr val="070154"/>
                </a:solidFill>
                <a:latin typeface="IBM Plex Sans"/>
                <a:ea typeface="IBM Plex Sans"/>
                <a:cs typeface="IBM Plex Sans"/>
              </a:endParaRPr>
            </a:p>
          </p:txBody>
        </p:sp>
      </p:grpSp>
      <p:grpSp>
        <p:nvGrpSpPr>
          <p:cNvPr id="76" name="node14"/>
          <p:cNvGrpSpPr/>
          <p:nvPr/>
        </p:nvGrpSpPr>
        <p:grpSpPr>
          <a:xfrm>
            <a:off x="8039100" y="4572000"/>
            <a:ext cx="685800" cy="685800"/>
            <a:chOff x="8039100" y="4572000"/>
            <a:chExt cx="685800" cy="685800"/>
          </a:xfrm>
        </p:grpSpPr>
        <p:sp>
          <p:nvSpPr>
            <p:cNvPr id="50" name="node14.surface"/>
            <p:cNvSpPr/>
            <p:nvPr/>
          </p:nvSpPr>
          <p:spPr>
            <a:xfrm>
              <a:off x="8039100" y="4572000"/>
              <a:ext cx="685800" cy="685800"/>
            </a:xfrm>
            <a:prstGeom prst="rect">
              <a:avLst/>
            </a:prstGeom>
            <a:solidFill>
              <a:srgbClr val="E8EEF8"/>
            </a:solidFill>
            <a:ln>
              <a:noFill/>
            </a:ln>
          </p:spPr>
        </p:sp>
        <p:grpSp>
          <p:nvGrpSpPr>
            <p:cNvPr id="75" name="node14.icon"/>
            <p:cNvGrpSpPr/>
            <p:nvPr/>
          </p:nvGrpSpPr>
          <p:grpSpPr>
            <a:xfrm>
              <a:off x="8191500" y="4724400"/>
              <a:ext cx="381000" cy="381000"/>
              <a:chOff x="8191500" y="4724400"/>
              <a:chExt cx="381000" cy="381000"/>
            </a:xfrm>
          </p:grpSpPr>
          <p:pic>
            <p:nvPicPr>
              <p:cNvPr id="51" name="node14.icon.image" descr="icon/target-arrow/navy; canonical SHA256=d7be3489d4c720d338cad319f07d0f5d4613e221b5ae04fe7e8f497c9849348f">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91500" y="4724400"/>
                <a:ext cx="381000" cy="381000"/>
              </a:xfrm>
              <a:prstGeom prst="rect">
                <a:avLst/>
              </a:prstGeom>
            </p:spPr>
          </p:pic>
        </p:grpSp>
      </p:grpSp>
      <p:grpSp>
        <p:nvGrpSpPr>
          <p:cNvPr id="77" name="node15"/>
          <p:cNvGrpSpPr/>
          <p:nvPr/>
        </p:nvGrpSpPr>
        <p:grpSpPr>
          <a:xfrm>
            <a:off x="8877300" y="4572000"/>
            <a:ext cx="2590800" cy="685800"/>
            <a:chOff x="8877300" y="4572000"/>
            <a:chExt cx="2590800" cy="685800"/>
          </a:xfrm>
        </p:grpSpPr>
        <p:sp>
          <p:nvSpPr>
            <p:cNvPr id="52" name="node15.text"/>
            <p:cNvSpPr/>
            <p:nvPr/>
          </p:nvSpPr>
          <p:spPr>
            <a:xfrm>
              <a:off x="8877300" y="4724400"/>
              <a:ext cx="2590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We target go-live outcomes, not only fixed scope.</a:t>
              </a:r>
              <a:endParaRPr lang="en-US" sz="1100" spc="0" kern="0" b="0" i="0" dirty="0">
                <a:solidFill>
                  <a:srgbClr val="070154"/>
                </a:solidFill>
                <a:latin typeface="IBM Plex Sans"/>
                <a:ea typeface="IBM Plex Sans"/>
                <a:cs typeface="IBM Plex Sans"/>
              </a:endParaRPr>
            </a:p>
          </p:txBody>
        </p:sp>
      </p:grpSp>
      <p:grpSp>
        <p:nvGrpSpPr>
          <p:cNvPr id="79" name="node16"/>
          <p:cNvGrpSpPr/>
          <p:nvPr/>
        </p:nvGrpSpPr>
        <p:grpSpPr>
          <a:xfrm>
            <a:off x="4381500" y="5257800"/>
            <a:ext cx="685800" cy="685800"/>
            <a:chOff x="4381500" y="5257800"/>
            <a:chExt cx="685800" cy="685800"/>
          </a:xfrm>
        </p:grpSpPr>
        <p:sp>
          <p:nvSpPr>
            <p:cNvPr id="53" name="node16.surface"/>
            <p:cNvSpPr/>
            <p:nvPr/>
          </p:nvSpPr>
          <p:spPr>
            <a:xfrm>
              <a:off x="4381500" y="5257800"/>
              <a:ext cx="685800" cy="685800"/>
            </a:xfrm>
            <a:prstGeom prst="rect">
              <a:avLst/>
            </a:prstGeom>
            <a:solidFill>
              <a:srgbClr val="E8EEF8"/>
            </a:solidFill>
            <a:ln>
              <a:noFill/>
            </a:ln>
          </p:spPr>
        </p:sp>
        <p:grpSp>
          <p:nvGrpSpPr>
            <p:cNvPr id="78" name="node16.icon"/>
            <p:cNvGrpSpPr/>
            <p:nvPr/>
          </p:nvGrpSpPr>
          <p:grpSpPr>
            <a:xfrm>
              <a:off x="4533900" y="5410200"/>
              <a:ext cx="381000" cy="381000"/>
              <a:chOff x="4533900" y="5410200"/>
              <a:chExt cx="381000" cy="381000"/>
            </a:xfrm>
          </p:grpSpPr>
          <p:pic>
            <p:nvPicPr>
              <p:cNvPr id="54" name="node16.icon.image" descr="icon/speedometer/navy; canonical SHA256=fc4158e90ea43816ead96895edd63564c5d434f4c1c6b6180c60644a3fd5aa83">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533900" y="5410200"/>
                <a:ext cx="381000" cy="381000"/>
              </a:xfrm>
              <a:prstGeom prst="rect">
                <a:avLst/>
              </a:prstGeom>
            </p:spPr>
          </p:pic>
        </p:grpSp>
      </p:grpSp>
      <p:grpSp>
        <p:nvGrpSpPr>
          <p:cNvPr id="80" name="node17"/>
          <p:cNvGrpSpPr/>
          <p:nvPr/>
        </p:nvGrpSpPr>
        <p:grpSpPr>
          <a:xfrm>
            <a:off x="5219700" y="5257800"/>
            <a:ext cx="2590800" cy="685800"/>
            <a:chOff x="5219700" y="5257800"/>
            <a:chExt cx="2590800" cy="685800"/>
          </a:xfrm>
        </p:grpSpPr>
        <p:sp>
          <p:nvSpPr>
            <p:cNvPr id="55" name="node17.text"/>
            <p:cNvSpPr/>
            <p:nvPr/>
          </p:nvSpPr>
          <p:spPr>
            <a:xfrm>
              <a:off x="5219700" y="5410200"/>
              <a:ext cx="2590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We set measurable goals for speed, adoption and cost.</a:t>
              </a:r>
              <a:endParaRPr lang="en-US" sz="1100" spc="0" kern="0" b="0" i="0" dirty="0">
                <a:solidFill>
                  <a:srgbClr val="070154"/>
                </a:solidFill>
                <a:latin typeface="IBM Plex Sans"/>
                <a:ea typeface="IBM Plex Sans"/>
                <a:cs typeface="IBM Plex Sans"/>
              </a:endParaRPr>
            </a:p>
          </p:txBody>
        </p:sp>
      </p:grpSp>
      <p:grpSp>
        <p:nvGrpSpPr>
          <p:cNvPr id="82" name="node18"/>
          <p:cNvGrpSpPr/>
          <p:nvPr/>
        </p:nvGrpSpPr>
        <p:grpSpPr>
          <a:xfrm>
            <a:off x="8039100" y="5257800"/>
            <a:ext cx="685800" cy="685800"/>
            <a:chOff x="8039100" y="5257800"/>
            <a:chExt cx="685800" cy="685800"/>
          </a:xfrm>
        </p:grpSpPr>
        <p:sp>
          <p:nvSpPr>
            <p:cNvPr id="56" name="node18.surface"/>
            <p:cNvSpPr/>
            <p:nvPr/>
          </p:nvSpPr>
          <p:spPr>
            <a:xfrm>
              <a:off x="8039100" y="5257800"/>
              <a:ext cx="685800" cy="685800"/>
            </a:xfrm>
            <a:prstGeom prst="rect">
              <a:avLst/>
            </a:prstGeom>
            <a:solidFill>
              <a:srgbClr val="E8EEF8"/>
            </a:solidFill>
            <a:ln>
              <a:noFill/>
            </a:ln>
          </p:spPr>
        </p:sp>
        <p:grpSp>
          <p:nvGrpSpPr>
            <p:cNvPr id="81" name="node18.icon"/>
            <p:cNvGrpSpPr/>
            <p:nvPr/>
          </p:nvGrpSpPr>
          <p:grpSpPr>
            <a:xfrm>
              <a:off x="8191500" y="5410200"/>
              <a:ext cx="381000" cy="381000"/>
              <a:chOff x="8191500" y="5410200"/>
              <a:chExt cx="381000" cy="381000"/>
            </a:xfrm>
          </p:grpSpPr>
          <p:pic>
            <p:nvPicPr>
              <p:cNvPr id="57" name="node18.icon.image" descr="icon/heartbeat-heart/navy; canonical SHA256=fd5ff8de8295ce456e4e8ec4e57b477b41a27937b5337142de96d77ddf0bfbe4">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191500" y="5410200"/>
                <a:ext cx="381000" cy="381000"/>
              </a:xfrm>
              <a:prstGeom prst="rect">
                <a:avLst/>
              </a:prstGeom>
            </p:spPr>
          </p:pic>
        </p:grpSp>
      </p:grpSp>
      <p:grpSp>
        <p:nvGrpSpPr>
          <p:cNvPr id="83" name="node19"/>
          <p:cNvGrpSpPr/>
          <p:nvPr/>
        </p:nvGrpSpPr>
        <p:grpSpPr>
          <a:xfrm>
            <a:off x="8877300" y="5257800"/>
            <a:ext cx="2590800" cy="685800"/>
            <a:chOff x="8877300" y="5257800"/>
            <a:chExt cx="2590800" cy="685800"/>
          </a:xfrm>
        </p:grpSpPr>
        <p:sp>
          <p:nvSpPr>
            <p:cNvPr id="58" name="node19.text"/>
            <p:cNvSpPr/>
            <p:nvPr/>
          </p:nvSpPr>
          <p:spPr>
            <a:xfrm>
              <a:off x="8877300" y="5410200"/>
              <a:ext cx="2590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Healthcare payer and platform experience shapes decisions.</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ource-14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DIFFERENCE</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46347" y="1078992"/>
            <a:ext cx="1960082" cy="176833"/>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You will feel the </a:t>
            </a:r>
            <a:r>
              <a:rPr lang="en-US" sz="3200" spc="-64" kern="0" b="0" i="0" dirty="0">
                <a:solidFill>
                  <a:srgbClr val="070154"/>
                </a:solidFill>
                <a:latin typeface="IBM Plex Sans SemiBold"/>
                <a:ea typeface="IBM Plex Sans SemiBold"/>
                <a:cs typeface="IBM Plex Sans SemiBold"/>
              </a:rPr>
              <a:t xml:space="preserve">difference</a:t>
            </a:r>
            <a:r>
              <a:rPr lang="en-US" sz="3200" spc="-64" kern="0" b="0" i="0" dirty="0">
                <a:solidFill>
                  <a:srgbClr val="070154"/>
                </a:solidFill>
                <a:latin typeface="IBM Plex Sans SemiBold"/>
                <a:ea typeface="IBM Plex Sans SemiBold"/>
                <a:cs typeface="IBM Plex Sans SemiBold"/>
              </a:rPr>
              <a:t xml:space="preserve"> in how we work</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43</a:t>
            </a:fld>
            <a:endParaRPr lang="en-US" sz="700" spc="0" kern="0" b="0" i="0" dirty="0">
              <a:solidFill>
                <a:srgbClr val="070154"/>
              </a:solidFill>
              <a:latin typeface="IBM Plex Mono SemiBold"/>
              <a:ea typeface="IBM Plex Mono SemiBold"/>
              <a:cs typeface="IBM Plex Mono SemiBold"/>
            </a:endParaRPr>
          </a:p>
        </p:txBody>
      </p:sp>
      <p:grpSp>
        <p:nvGrpSpPr>
          <p:cNvPr id="53" name="node01"/>
          <p:cNvGrpSpPr/>
          <p:nvPr/>
        </p:nvGrpSpPr>
        <p:grpSpPr>
          <a:xfrm>
            <a:off x="723900" y="1600200"/>
            <a:ext cx="3429000" cy="1016000"/>
            <a:chOff x="723900" y="1600200"/>
            <a:chExt cx="3429000" cy="1016000"/>
          </a:xfrm>
        </p:grpSpPr>
        <p:sp>
          <p:nvSpPr>
            <p:cNvPr id="7" name="node01.text"/>
            <p:cNvSpPr/>
            <p:nvPr/>
          </p:nvSpPr>
          <p:spPr>
            <a:xfrm>
              <a:off x="723900" y="1600200"/>
              <a:ext cx="3429000" cy="1016000"/>
            </a:xfrm>
            <a:prstGeom prst="rect">
              <a:avLst/>
            </a:prstGeom>
            <a:noFill/>
            <a:ln/>
          </p:spPr>
          <p:txBody>
            <a:bodyPr wrap="square" lIns="0" tIns="0" rIns="0" bIns="0" rtlCol="0" anchor="t"/>
            <a:lstStyle/>
            <a:p>
              <a:pPr algn="l" indent="0" marL="0">
                <a:lnSpc>
                  <a:spcPts val="2000"/>
                </a:lnSpc>
                <a:buNone/>
              </a:pPr>
              <a:r>
                <a:rPr lang="en-US" sz="1400" spc="0" kern="0" b="0" i="0" dirty="0">
                  <a:solidFill>
                    <a:srgbClr val="070154"/>
                  </a:solidFill>
                  <a:latin typeface="IBM Plex Sans"/>
                  <a:ea typeface="IBM Plex Sans"/>
                  <a:cs typeface="IBM Plex Sans"/>
                </a:rPr>
                <a:t>Our cross-functional teams combine hands-on finance, data and change experience with the technical depth to solve the whole problem.</a:t>
              </a:r>
              <a:endParaRPr lang="en-US" sz="1400" spc="0" kern="0" b="0" i="0" dirty="0">
                <a:solidFill>
                  <a:srgbClr val="070154"/>
                </a:solidFill>
                <a:latin typeface="IBM Plex Sans"/>
                <a:ea typeface="IBM Plex Sans"/>
                <a:cs typeface="IBM Plex Sans"/>
              </a:endParaRPr>
            </a:p>
          </p:txBody>
        </p:sp>
      </p:grpSp>
      <p:grpSp>
        <p:nvGrpSpPr>
          <p:cNvPr id="54" name="node02"/>
          <p:cNvGrpSpPr/>
          <p:nvPr/>
        </p:nvGrpSpPr>
        <p:grpSpPr>
          <a:xfrm>
            <a:off x="723900" y="2971800"/>
            <a:ext cx="3429000" cy="647700"/>
            <a:chOff x="723900" y="2971800"/>
            <a:chExt cx="3429000" cy="647700"/>
          </a:xfrm>
        </p:grpSpPr>
        <p:sp>
          <p:nvSpPr>
            <p:cNvPr id="8" name="node02.text"/>
            <p:cNvSpPr/>
            <p:nvPr/>
          </p:nvSpPr>
          <p:spPr>
            <a:xfrm>
              <a:off x="723900" y="2971800"/>
              <a:ext cx="3429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We work alongside your team as player-coaches, moving from architecture and guardrails through engineering and operations to go-live.</a:t>
              </a:r>
              <a:endParaRPr lang="en-US" sz="1200" spc="0" kern="0" b="0" i="0" dirty="0">
                <a:solidFill>
                  <a:srgbClr val="50658E"/>
                </a:solidFill>
                <a:latin typeface="IBM Plex Sans"/>
                <a:ea typeface="IBM Plex Sans"/>
                <a:cs typeface="IBM Plex Sans"/>
              </a:endParaRPr>
            </a:p>
          </p:txBody>
        </p:sp>
      </p:grpSp>
      <p:grpSp>
        <p:nvGrpSpPr>
          <p:cNvPr id="55" name="node03"/>
          <p:cNvGrpSpPr/>
          <p:nvPr/>
        </p:nvGrpSpPr>
        <p:grpSpPr>
          <a:xfrm>
            <a:off x="723900" y="4114800"/>
            <a:ext cx="3429000" cy="1828800"/>
            <a:chOff x="723900" y="4114800"/>
            <a:chExt cx="3429000" cy="1828800"/>
          </a:xfrm>
        </p:grpSpPr>
        <p:sp>
          <p:nvSpPr>
            <p:cNvPr id="9" name="node03.container"/>
            <p:cNvSpPr/>
            <p:nvPr/>
          </p:nvSpPr>
          <p:spPr>
            <a:xfrm>
              <a:off x="723900" y="4114800"/>
              <a:ext cx="3429000" cy="1828800"/>
            </a:xfrm>
            <a:prstGeom prst="rect">
              <a:avLst/>
            </a:prstGeom>
            <a:solidFill>
              <a:srgbClr val="E8EEF8"/>
            </a:solidFill>
            <a:ln>
              <a:noFill/>
            </a:ln>
          </p:spPr>
        </p:sp>
        <p:sp>
          <p:nvSpPr>
            <p:cNvPr id="10" name="node03.label"/>
            <p:cNvSpPr/>
            <p:nvPr/>
          </p:nvSpPr>
          <p:spPr>
            <a:xfrm>
              <a:off x="952500" y="43434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HANDOVER TARGET</a:t>
              </a:r>
              <a:endParaRPr lang="en-US" sz="800" spc="48" kern="0" b="0" i="0" dirty="0">
                <a:solidFill>
                  <a:srgbClr val="0047FF"/>
                </a:solidFill>
                <a:latin typeface="IBM Plex Mono Medium"/>
                <a:ea typeface="IBM Plex Mono Medium"/>
                <a:cs typeface="IBM Plex Mono Medium"/>
              </a:endParaRPr>
            </a:p>
          </p:txBody>
        </p:sp>
        <p:sp>
          <p:nvSpPr>
            <p:cNvPr id="11" name="node03.metric.value"/>
            <p:cNvSpPr/>
            <p:nvPr/>
          </p:nvSpPr>
          <p:spPr>
            <a:xfrm>
              <a:off x="952500" y="4559300"/>
              <a:ext cx="29718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Day 90</a:t>
              </a:r>
              <a:endParaRPr lang="en-US" sz="4000" spc="-80" kern="0" b="0" i="0" dirty="0">
                <a:solidFill>
                  <a:srgbClr val="070154"/>
                </a:solidFill>
                <a:latin typeface="IBM Plex Mono SemiBold"/>
                <a:ea typeface="IBM Plex Mono SemiBold"/>
                <a:cs typeface="IBM Plex Mono SemiBold"/>
              </a:endParaRPr>
            </a:p>
          </p:txBody>
        </p:sp>
        <p:sp>
          <p:nvSpPr>
            <p:cNvPr id="12" name="node03.metric.label"/>
            <p:cNvSpPr/>
            <p:nvPr/>
          </p:nvSpPr>
          <p:spPr>
            <a:xfrm>
              <a:off x="952500" y="5145469"/>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Your team runs the platform.</a:t>
              </a:r>
              <a:endParaRPr lang="en-US" sz="1200" spc="0" kern="0" b="0" i="0" dirty="0">
                <a:solidFill>
                  <a:srgbClr val="50658E"/>
                </a:solidFill>
                <a:latin typeface="IBM Plex Sans"/>
                <a:ea typeface="IBM Plex Sans"/>
                <a:cs typeface="IBM Plex Sans"/>
              </a:endParaRPr>
            </a:p>
          </p:txBody>
        </p:sp>
      </p:grpSp>
      <p:grpSp>
        <p:nvGrpSpPr>
          <p:cNvPr id="56" name="node04"/>
          <p:cNvGrpSpPr/>
          <p:nvPr/>
        </p:nvGrpSpPr>
        <p:grpSpPr>
          <a:xfrm>
            <a:off x="4381500" y="1600200"/>
            <a:ext cx="3429000" cy="1828800"/>
            <a:chOff x="4381500" y="1600200"/>
            <a:chExt cx="3429000" cy="1828800"/>
          </a:xfrm>
        </p:grpSpPr>
        <p:sp>
          <p:nvSpPr>
            <p:cNvPr id="13" name="node04.container"/>
            <p:cNvSpPr/>
            <p:nvPr/>
          </p:nvSpPr>
          <p:spPr>
            <a:xfrm>
              <a:off x="4381500" y="1600200"/>
              <a:ext cx="3429000" cy="1828800"/>
            </a:xfrm>
            <a:prstGeom prst="rect">
              <a:avLst/>
            </a:prstGeom>
            <a:solidFill>
              <a:srgbClr val="E8EEF8"/>
            </a:solidFill>
            <a:ln>
              <a:noFill/>
            </a:ln>
          </p:spPr>
        </p:sp>
        <p:sp>
          <p:nvSpPr>
            <p:cNvPr id="14" name="node04.label"/>
            <p:cNvSpPr/>
            <p:nvPr/>
          </p:nvSpPr>
          <p:spPr>
            <a:xfrm>
              <a:off x="45339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OTHER FIRMS</a:t>
              </a:r>
              <a:endParaRPr lang="en-US" sz="800" spc="48" kern="0" b="0" i="0" dirty="0">
                <a:solidFill>
                  <a:srgbClr val="0047FF"/>
                </a:solidFill>
                <a:latin typeface="IBM Plex Mono Medium"/>
                <a:ea typeface="IBM Plex Mono Medium"/>
                <a:cs typeface="IBM Plex Mono Medium"/>
              </a:endParaRPr>
            </a:p>
          </p:txBody>
        </p:sp>
        <p:sp>
          <p:nvSpPr>
            <p:cNvPr id="15" name="node04.body.item-001.bullets.item-001.marker"/>
            <p:cNvSpPr/>
            <p:nvPr/>
          </p:nvSpPr>
          <p:spPr>
            <a:xfrm>
              <a:off x="4533900" y="2057400"/>
              <a:ext cx="38100" cy="38100"/>
            </a:xfrm>
            <a:prstGeom prst="rect">
              <a:avLst/>
            </a:prstGeom>
            <a:solidFill>
              <a:srgbClr val="070154"/>
            </a:solidFill>
            <a:ln>
              <a:noFill/>
            </a:ln>
          </p:spPr>
        </p:sp>
        <p:sp>
          <p:nvSpPr>
            <p:cNvPr id="16" name="node04.body.item-001.bullets.item-001.text"/>
            <p:cNvSpPr/>
            <p:nvPr/>
          </p:nvSpPr>
          <p:spPr>
            <a:xfrm>
              <a:off x="4686300" y="1968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One-time benefit capture</a:t>
              </a:r>
              <a:endParaRPr lang="en-US" sz="1200" spc="0" kern="0" b="0" i="0" dirty="0">
                <a:solidFill>
                  <a:srgbClr val="070154"/>
                </a:solidFill>
                <a:latin typeface="IBM Plex Sans"/>
                <a:ea typeface="IBM Plex Sans"/>
                <a:cs typeface="IBM Plex Sans"/>
              </a:endParaRPr>
            </a:p>
          </p:txBody>
        </p:sp>
        <p:sp>
          <p:nvSpPr>
            <p:cNvPr id="17" name="node04.body.item-001.bullets.item-002.marker"/>
            <p:cNvSpPr/>
            <p:nvPr/>
          </p:nvSpPr>
          <p:spPr>
            <a:xfrm>
              <a:off x="4533900" y="2311400"/>
              <a:ext cx="38100" cy="38100"/>
            </a:xfrm>
            <a:prstGeom prst="rect">
              <a:avLst/>
            </a:prstGeom>
            <a:solidFill>
              <a:srgbClr val="070154"/>
            </a:solidFill>
            <a:ln>
              <a:noFill/>
            </a:ln>
          </p:spPr>
        </p:sp>
        <p:sp>
          <p:nvSpPr>
            <p:cNvPr id="18" name="node04.body.item-001.bullets.item-002.text"/>
            <p:cNvSpPr/>
            <p:nvPr/>
          </p:nvSpPr>
          <p:spPr>
            <a:xfrm>
              <a:off x="4686300" y="2222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Technology-focused</a:t>
              </a:r>
              <a:endParaRPr lang="en-US" sz="1200" spc="0" kern="0" b="0" i="0" dirty="0">
                <a:solidFill>
                  <a:srgbClr val="070154"/>
                </a:solidFill>
                <a:latin typeface="IBM Plex Sans"/>
                <a:ea typeface="IBM Plex Sans"/>
                <a:cs typeface="IBM Plex Sans"/>
              </a:endParaRPr>
            </a:p>
          </p:txBody>
        </p:sp>
        <p:sp>
          <p:nvSpPr>
            <p:cNvPr id="19" name="node04.body.item-001.bullets.item-003.marker"/>
            <p:cNvSpPr/>
            <p:nvPr/>
          </p:nvSpPr>
          <p:spPr>
            <a:xfrm>
              <a:off x="4533900" y="2565400"/>
              <a:ext cx="38100" cy="38100"/>
            </a:xfrm>
            <a:prstGeom prst="rect">
              <a:avLst/>
            </a:prstGeom>
            <a:solidFill>
              <a:srgbClr val="070154"/>
            </a:solidFill>
            <a:ln>
              <a:noFill/>
            </a:ln>
          </p:spPr>
        </p:sp>
        <p:sp>
          <p:nvSpPr>
            <p:cNvPr id="20" name="node04.body.item-001.bullets.item-003.text"/>
            <p:cNvSpPr/>
            <p:nvPr/>
          </p:nvSpPr>
          <p:spPr>
            <a:xfrm>
              <a:off x="4686300" y="2476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Generic blueprint</a:t>
              </a:r>
              <a:endParaRPr lang="en-US" sz="1200" spc="0" kern="0" b="0" i="0" dirty="0">
                <a:solidFill>
                  <a:srgbClr val="070154"/>
                </a:solidFill>
                <a:latin typeface="IBM Plex Sans"/>
                <a:ea typeface="IBM Plex Sans"/>
                <a:cs typeface="IBM Plex Sans"/>
              </a:endParaRPr>
            </a:p>
          </p:txBody>
        </p:sp>
        <p:sp>
          <p:nvSpPr>
            <p:cNvPr id="21" name="node04.body.item-001.bullets.item-004.marker"/>
            <p:cNvSpPr/>
            <p:nvPr/>
          </p:nvSpPr>
          <p:spPr>
            <a:xfrm>
              <a:off x="4533900" y="2819400"/>
              <a:ext cx="38100" cy="38100"/>
            </a:xfrm>
            <a:prstGeom prst="rect">
              <a:avLst/>
            </a:prstGeom>
            <a:solidFill>
              <a:srgbClr val="070154"/>
            </a:solidFill>
            <a:ln>
              <a:noFill/>
            </a:ln>
          </p:spPr>
        </p:sp>
        <p:sp>
          <p:nvSpPr>
            <p:cNvPr id="22" name="node04.body.item-001.bullets.item-004.text"/>
            <p:cNvSpPr/>
            <p:nvPr/>
          </p:nvSpPr>
          <p:spPr>
            <a:xfrm>
              <a:off x="4686300" y="2730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Siloed workstreams</a:t>
              </a:r>
              <a:endParaRPr lang="en-US" sz="1200" spc="0" kern="0" b="0" i="0" dirty="0">
                <a:solidFill>
                  <a:srgbClr val="070154"/>
                </a:solidFill>
                <a:latin typeface="IBM Plex Sans"/>
                <a:ea typeface="IBM Plex Sans"/>
                <a:cs typeface="IBM Plex Sans"/>
              </a:endParaRPr>
            </a:p>
          </p:txBody>
        </p:sp>
        <p:sp>
          <p:nvSpPr>
            <p:cNvPr id="23" name="node04.body.item-001.bullets.item-005.marker"/>
            <p:cNvSpPr/>
            <p:nvPr/>
          </p:nvSpPr>
          <p:spPr>
            <a:xfrm>
              <a:off x="4533900" y="3073400"/>
              <a:ext cx="38100" cy="38100"/>
            </a:xfrm>
            <a:prstGeom prst="rect">
              <a:avLst/>
            </a:prstGeom>
            <a:solidFill>
              <a:srgbClr val="070154"/>
            </a:solidFill>
            <a:ln>
              <a:noFill/>
            </a:ln>
          </p:spPr>
        </p:sp>
        <p:sp>
          <p:nvSpPr>
            <p:cNvPr id="24" name="node04.body.item-001.bullets.item-005.text"/>
            <p:cNvSpPr/>
            <p:nvPr/>
          </p:nvSpPr>
          <p:spPr>
            <a:xfrm>
              <a:off x="4686300" y="2984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Vendor-led delivery</a:t>
              </a:r>
              <a:endParaRPr lang="en-US" sz="1200" spc="0" kern="0" b="0" i="0" dirty="0">
                <a:solidFill>
                  <a:srgbClr val="070154"/>
                </a:solidFill>
                <a:latin typeface="IBM Plex Sans"/>
                <a:ea typeface="IBM Plex Sans"/>
                <a:cs typeface="IBM Plex Sans"/>
              </a:endParaRPr>
            </a:p>
          </p:txBody>
        </p:sp>
      </p:grpSp>
      <p:grpSp>
        <p:nvGrpSpPr>
          <p:cNvPr id="57" name="node05"/>
          <p:cNvGrpSpPr/>
          <p:nvPr/>
        </p:nvGrpSpPr>
        <p:grpSpPr>
          <a:xfrm>
            <a:off x="8039100" y="1600200"/>
            <a:ext cx="3429000" cy="1828800"/>
            <a:chOff x="8039100" y="1600200"/>
            <a:chExt cx="3429000" cy="1828800"/>
          </a:xfrm>
        </p:grpSpPr>
        <p:sp>
          <p:nvSpPr>
            <p:cNvPr id="25" name="node05.container"/>
            <p:cNvSpPr/>
            <p:nvPr/>
          </p:nvSpPr>
          <p:spPr>
            <a:xfrm>
              <a:off x="8039100" y="1600200"/>
              <a:ext cx="3429000" cy="1828800"/>
            </a:xfrm>
            <a:prstGeom prst="rect">
              <a:avLst/>
            </a:prstGeom>
            <a:solidFill>
              <a:srgbClr val="070154"/>
            </a:solidFill>
            <a:ln>
              <a:noFill/>
            </a:ln>
          </p:spPr>
        </p:sp>
        <p:sp>
          <p:nvSpPr>
            <p:cNvPr id="26" name="node05.label"/>
            <p:cNvSpPr/>
            <p:nvPr/>
          </p:nvSpPr>
          <p:spPr>
            <a:xfrm>
              <a:off x="81915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HOW WE WORK</a:t>
              </a:r>
              <a:endParaRPr lang="en-US" sz="800" spc="48" kern="0" b="0" i="0" dirty="0">
                <a:solidFill>
                  <a:srgbClr val="F900D3"/>
                </a:solidFill>
                <a:latin typeface="IBM Plex Mono Medium"/>
                <a:ea typeface="IBM Plex Mono Medium"/>
                <a:cs typeface="IBM Plex Mono Medium"/>
              </a:endParaRPr>
            </a:p>
          </p:txBody>
        </p:sp>
        <p:sp>
          <p:nvSpPr>
            <p:cNvPr id="27" name="node05.body.item-001.bullets.item-001.marker"/>
            <p:cNvSpPr/>
            <p:nvPr/>
          </p:nvSpPr>
          <p:spPr>
            <a:xfrm>
              <a:off x="8191500" y="2057400"/>
              <a:ext cx="38100" cy="38100"/>
            </a:xfrm>
            <a:prstGeom prst="rect">
              <a:avLst/>
            </a:prstGeom>
            <a:solidFill>
              <a:srgbClr val="FFFFFF"/>
            </a:solidFill>
            <a:ln>
              <a:noFill/>
            </a:ln>
          </p:spPr>
        </p:sp>
        <p:sp>
          <p:nvSpPr>
            <p:cNvPr id="28" name="node05.body.item-001.bullets.item-001.text"/>
            <p:cNvSpPr/>
            <p:nvPr/>
          </p:nvSpPr>
          <p:spPr>
            <a:xfrm>
              <a:off x="8343900" y="1968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Iterative path to go-live</a:t>
              </a:r>
              <a:endParaRPr lang="en-US" sz="1200" spc="0" kern="0" b="0" i="0" dirty="0">
                <a:solidFill>
                  <a:srgbClr val="FFFFFF"/>
                </a:solidFill>
                <a:latin typeface="IBM Plex Sans"/>
                <a:ea typeface="IBM Plex Sans"/>
                <a:cs typeface="IBM Plex Sans"/>
              </a:endParaRPr>
            </a:p>
          </p:txBody>
        </p:sp>
        <p:sp>
          <p:nvSpPr>
            <p:cNvPr id="29" name="node05.body.item-001.bullets.item-002.marker"/>
            <p:cNvSpPr/>
            <p:nvPr/>
          </p:nvSpPr>
          <p:spPr>
            <a:xfrm>
              <a:off x="8191500" y="2311400"/>
              <a:ext cx="38100" cy="38100"/>
            </a:xfrm>
            <a:prstGeom prst="rect">
              <a:avLst/>
            </a:prstGeom>
            <a:solidFill>
              <a:srgbClr val="FFFFFF"/>
            </a:solidFill>
            <a:ln>
              <a:noFill/>
            </a:ln>
          </p:spPr>
        </p:sp>
        <p:sp>
          <p:nvSpPr>
            <p:cNvPr id="30" name="node05.body.item-001.bullets.item-002.text"/>
            <p:cNvSpPr/>
            <p:nvPr/>
          </p:nvSpPr>
          <p:spPr>
            <a:xfrm>
              <a:off x="8343900" y="2222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Platform-product focus</a:t>
              </a:r>
              <a:endParaRPr lang="en-US" sz="1200" spc="0" kern="0" b="0" i="0" dirty="0">
                <a:solidFill>
                  <a:srgbClr val="FFFFFF"/>
                </a:solidFill>
                <a:latin typeface="IBM Plex Sans"/>
                <a:ea typeface="IBM Plex Sans"/>
                <a:cs typeface="IBM Plex Sans"/>
              </a:endParaRPr>
            </a:p>
          </p:txBody>
        </p:sp>
        <p:sp>
          <p:nvSpPr>
            <p:cNvPr id="31" name="node05.body.item-001.bullets.item-003.marker"/>
            <p:cNvSpPr/>
            <p:nvPr/>
          </p:nvSpPr>
          <p:spPr>
            <a:xfrm>
              <a:off x="8191500" y="2565400"/>
              <a:ext cx="38100" cy="38100"/>
            </a:xfrm>
            <a:prstGeom prst="rect">
              <a:avLst/>
            </a:prstGeom>
            <a:solidFill>
              <a:srgbClr val="FFFFFF"/>
            </a:solidFill>
            <a:ln>
              <a:noFill/>
            </a:ln>
          </p:spPr>
        </p:sp>
        <p:sp>
          <p:nvSpPr>
            <p:cNvPr id="32" name="node05.body.item-001.bullets.item-003.text"/>
            <p:cNvSpPr/>
            <p:nvPr/>
          </p:nvSpPr>
          <p:spPr>
            <a:xfrm>
              <a:off x="8343900" y="2476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Integrated architecture</a:t>
              </a:r>
              <a:endParaRPr lang="en-US" sz="1200" spc="0" kern="0" b="0" i="0" dirty="0">
                <a:solidFill>
                  <a:srgbClr val="FFFFFF"/>
                </a:solidFill>
                <a:latin typeface="IBM Plex Sans"/>
                <a:ea typeface="IBM Plex Sans"/>
                <a:cs typeface="IBM Plex Sans"/>
              </a:endParaRPr>
            </a:p>
          </p:txBody>
        </p:sp>
        <p:sp>
          <p:nvSpPr>
            <p:cNvPr id="33" name="node05.body.item-001.bullets.item-004.marker"/>
            <p:cNvSpPr/>
            <p:nvPr/>
          </p:nvSpPr>
          <p:spPr>
            <a:xfrm>
              <a:off x="8191500" y="2819400"/>
              <a:ext cx="38100" cy="38100"/>
            </a:xfrm>
            <a:prstGeom prst="rect">
              <a:avLst/>
            </a:prstGeom>
            <a:solidFill>
              <a:srgbClr val="FFFFFF"/>
            </a:solidFill>
            <a:ln>
              <a:noFill/>
            </a:ln>
          </p:spPr>
        </p:sp>
        <p:sp>
          <p:nvSpPr>
            <p:cNvPr id="34" name="node05.body.item-001.bullets.item-004.text"/>
            <p:cNvSpPr/>
            <p:nvPr/>
          </p:nvSpPr>
          <p:spPr>
            <a:xfrm>
              <a:off x="8343900" y="2730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Player-coach partnership</a:t>
              </a:r>
              <a:endParaRPr lang="en-US" sz="1200" spc="0" kern="0" b="0" i="0" dirty="0">
                <a:solidFill>
                  <a:srgbClr val="FFFFFF"/>
                </a:solidFill>
                <a:latin typeface="IBM Plex Sans"/>
                <a:ea typeface="IBM Plex Sans"/>
                <a:cs typeface="IBM Plex Sans"/>
              </a:endParaRPr>
            </a:p>
          </p:txBody>
        </p:sp>
        <p:sp>
          <p:nvSpPr>
            <p:cNvPr id="35" name="node05.body.item-001.bullets.item-005.marker"/>
            <p:cNvSpPr/>
            <p:nvPr/>
          </p:nvSpPr>
          <p:spPr>
            <a:xfrm>
              <a:off x="8191500" y="3073400"/>
              <a:ext cx="38100" cy="38100"/>
            </a:xfrm>
            <a:prstGeom prst="rect">
              <a:avLst/>
            </a:prstGeom>
            <a:solidFill>
              <a:srgbClr val="FFFFFF"/>
            </a:solidFill>
            <a:ln>
              <a:noFill/>
            </a:ln>
          </p:spPr>
        </p:sp>
        <p:sp>
          <p:nvSpPr>
            <p:cNvPr id="36" name="node05.body.item-001.bullets.item-005.text"/>
            <p:cNvSpPr/>
            <p:nvPr/>
          </p:nvSpPr>
          <p:spPr>
            <a:xfrm>
              <a:off x="8343900" y="2984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Cross-discipline teams</a:t>
              </a:r>
              <a:endParaRPr lang="en-US" sz="1200" spc="0" kern="0" b="0" i="0" dirty="0">
                <a:solidFill>
                  <a:srgbClr val="FFFFFF"/>
                </a:solidFill>
                <a:latin typeface="IBM Plex Sans"/>
                <a:ea typeface="IBM Plex Sans"/>
                <a:cs typeface="IBM Plex Sans"/>
              </a:endParaRPr>
            </a:p>
          </p:txBody>
        </p:sp>
      </p:grpSp>
      <p:grpSp>
        <p:nvGrpSpPr>
          <p:cNvPr id="58" name="node06"/>
          <p:cNvGrpSpPr/>
          <p:nvPr/>
        </p:nvGrpSpPr>
        <p:grpSpPr>
          <a:xfrm>
            <a:off x="7810500" y="2471979"/>
            <a:ext cx="228600" cy="85242"/>
            <a:chOff x="7810500" y="2471979"/>
            <a:chExt cx="228600" cy="85242"/>
          </a:xfrm>
        </p:grpSpPr>
        <p:sp>
          <p:nvSpPr>
            <p:cNvPr id="37" name="node06.segment-1"/>
            <p:cNvSpPr/>
            <p:nvPr/>
          </p:nvSpPr>
          <p:spPr>
            <a:xfrm>
              <a:off x="7810500" y="25146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38" name="node06.head-end.0"/>
            <p:cNvSpPr/>
            <p:nvPr/>
          </p:nvSpPr>
          <p:spPr>
            <a:xfrm>
              <a:off x="7961083" y="25146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9" name="node06.head-end.1"/>
            <p:cNvSpPr/>
            <p:nvPr/>
          </p:nvSpPr>
          <p:spPr>
            <a:xfrm>
              <a:off x="7961083" y="24719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59" name="node07"/>
          <p:cNvGrpSpPr/>
          <p:nvPr/>
        </p:nvGrpSpPr>
        <p:grpSpPr>
          <a:xfrm>
            <a:off x="4381500" y="3657600"/>
            <a:ext cx="7086600" cy="139700"/>
            <a:chOff x="4381500" y="3657600"/>
            <a:chExt cx="7086600" cy="139700"/>
          </a:xfrm>
        </p:grpSpPr>
        <p:sp>
          <p:nvSpPr>
            <p:cNvPr id="40" name="node07.text"/>
            <p:cNvSpPr/>
            <p:nvPr/>
          </p:nvSpPr>
          <p:spPr>
            <a:xfrm>
              <a:off x="4381500" y="36576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THAT MEANS FOR YOU</a:t>
              </a:r>
              <a:endParaRPr lang="en-US" sz="800" spc="48" kern="0" b="0" i="0" dirty="0">
                <a:solidFill>
                  <a:srgbClr val="0047FF"/>
                </a:solidFill>
                <a:latin typeface="IBM Plex Mono Medium"/>
                <a:ea typeface="IBM Plex Mono Medium"/>
                <a:cs typeface="IBM Plex Mono Medium"/>
              </a:endParaRPr>
            </a:p>
          </p:txBody>
        </p:sp>
      </p:grpSp>
      <p:grpSp>
        <p:nvGrpSpPr>
          <p:cNvPr id="61" name="node08"/>
          <p:cNvGrpSpPr/>
          <p:nvPr/>
        </p:nvGrpSpPr>
        <p:grpSpPr>
          <a:xfrm>
            <a:off x="4381500" y="3886200"/>
            <a:ext cx="685800" cy="685800"/>
            <a:chOff x="4381500" y="3886200"/>
            <a:chExt cx="685800" cy="685800"/>
          </a:xfrm>
        </p:grpSpPr>
        <p:sp>
          <p:nvSpPr>
            <p:cNvPr id="41" name="node08.surface"/>
            <p:cNvSpPr/>
            <p:nvPr/>
          </p:nvSpPr>
          <p:spPr>
            <a:xfrm>
              <a:off x="4381500" y="3886200"/>
              <a:ext cx="685800" cy="685800"/>
            </a:xfrm>
            <a:prstGeom prst="rect">
              <a:avLst/>
            </a:prstGeom>
            <a:solidFill>
              <a:srgbClr val="E8EEF8"/>
            </a:solidFill>
            <a:ln>
              <a:noFill/>
            </a:ln>
          </p:spPr>
        </p:sp>
        <p:grpSp>
          <p:nvGrpSpPr>
            <p:cNvPr id="60" name="node08.icon"/>
            <p:cNvGrpSpPr/>
            <p:nvPr/>
          </p:nvGrpSpPr>
          <p:grpSpPr>
            <a:xfrm>
              <a:off x="4533900" y="4038600"/>
              <a:ext cx="381000" cy="381000"/>
              <a:chOff x="4533900" y="4038600"/>
              <a:chExt cx="381000" cy="381000"/>
            </a:xfrm>
          </p:grpSpPr>
          <p:pic>
            <p:nvPicPr>
              <p:cNvPr id="42" name="node08.icon.image" descr="icon/growth-person/navy; canonical SHA256=f4af7b2abdb5c2b1b0dd313eabe94e5f6f21fb8ecb2da4579d3bef4ce735d546">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33900" y="4038600"/>
                <a:ext cx="381000" cy="381000"/>
              </a:xfrm>
              <a:prstGeom prst="rect">
                <a:avLst/>
              </a:prstGeom>
            </p:spPr>
          </p:pic>
        </p:grpSp>
      </p:grpSp>
      <p:grpSp>
        <p:nvGrpSpPr>
          <p:cNvPr id="62" name="node09"/>
          <p:cNvGrpSpPr/>
          <p:nvPr/>
        </p:nvGrpSpPr>
        <p:grpSpPr>
          <a:xfrm>
            <a:off x="5219700" y="3886200"/>
            <a:ext cx="2590800" cy="685800"/>
            <a:chOff x="5219700" y="3886200"/>
            <a:chExt cx="2590800" cy="685800"/>
          </a:xfrm>
        </p:grpSpPr>
        <p:sp>
          <p:nvSpPr>
            <p:cNvPr id="43" name="node09.text"/>
            <p:cNvSpPr/>
            <p:nvPr/>
          </p:nvSpPr>
          <p:spPr>
            <a:xfrm>
              <a:off x="5219700" y="40132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 build the capability to own, run and evolve the platform.</a:t>
              </a:r>
              <a:endParaRPr lang="en-US" sz="1200" spc="0" kern="0" b="0" i="0" dirty="0">
                <a:solidFill>
                  <a:srgbClr val="070154"/>
                </a:solidFill>
                <a:latin typeface="IBM Plex Sans"/>
                <a:ea typeface="IBM Plex Sans"/>
                <a:cs typeface="IBM Plex Sans"/>
              </a:endParaRPr>
            </a:p>
          </p:txBody>
        </p:sp>
      </p:grpSp>
      <p:grpSp>
        <p:nvGrpSpPr>
          <p:cNvPr id="64" name="node10"/>
          <p:cNvGrpSpPr/>
          <p:nvPr/>
        </p:nvGrpSpPr>
        <p:grpSpPr>
          <a:xfrm>
            <a:off x="8039100" y="3886200"/>
            <a:ext cx="685800" cy="685800"/>
            <a:chOff x="8039100" y="3886200"/>
            <a:chExt cx="685800" cy="685800"/>
          </a:xfrm>
        </p:grpSpPr>
        <p:sp>
          <p:nvSpPr>
            <p:cNvPr id="44" name="node10.surface"/>
            <p:cNvSpPr/>
            <p:nvPr/>
          </p:nvSpPr>
          <p:spPr>
            <a:xfrm>
              <a:off x="8039100" y="3886200"/>
              <a:ext cx="685800" cy="685800"/>
            </a:xfrm>
            <a:prstGeom prst="rect">
              <a:avLst/>
            </a:prstGeom>
            <a:solidFill>
              <a:srgbClr val="E8EEF8"/>
            </a:solidFill>
            <a:ln>
              <a:noFill/>
            </a:ln>
          </p:spPr>
        </p:sp>
        <p:grpSp>
          <p:nvGrpSpPr>
            <p:cNvPr id="63" name="node10.icon"/>
            <p:cNvGrpSpPr/>
            <p:nvPr/>
          </p:nvGrpSpPr>
          <p:grpSpPr>
            <a:xfrm>
              <a:off x="8191500" y="4038600"/>
              <a:ext cx="381000" cy="381000"/>
              <a:chOff x="8191500" y="4038600"/>
              <a:chExt cx="381000" cy="381000"/>
            </a:xfrm>
          </p:grpSpPr>
          <p:pic>
            <p:nvPicPr>
              <p:cNvPr id="45" name="node10.icon.image" descr="icon/team-huddle/navy; canonical SHA256=0810b0327bab4c67b9ad5494cd579ab1166b6cab738efd10be95638de3481f2f">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1500" y="4038600"/>
                <a:ext cx="381000" cy="381000"/>
              </a:xfrm>
              <a:prstGeom prst="rect">
                <a:avLst/>
              </a:prstGeom>
            </p:spPr>
          </p:pic>
        </p:grpSp>
      </p:grpSp>
      <p:grpSp>
        <p:nvGrpSpPr>
          <p:cNvPr id="65" name="node11"/>
          <p:cNvGrpSpPr/>
          <p:nvPr/>
        </p:nvGrpSpPr>
        <p:grpSpPr>
          <a:xfrm>
            <a:off x="8877300" y="3886200"/>
            <a:ext cx="2590800" cy="685800"/>
            <a:chOff x="8877300" y="3886200"/>
            <a:chExt cx="2590800" cy="685800"/>
          </a:xfrm>
        </p:grpSpPr>
        <p:sp>
          <p:nvSpPr>
            <p:cNvPr id="46" name="node11.text"/>
            <p:cNvSpPr/>
            <p:nvPr/>
          </p:nvSpPr>
          <p:spPr>
            <a:xfrm>
              <a:off x="8877300" y="40132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Cross-functional teams work together through delivery.</a:t>
              </a:r>
              <a:endParaRPr lang="en-US" sz="1200" spc="0" kern="0" b="0" i="0" dirty="0">
                <a:solidFill>
                  <a:srgbClr val="070154"/>
                </a:solidFill>
                <a:latin typeface="IBM Plex Sans"/>
                <a:ea typeface="IBM Plex Sans"/>
                <a:cs typeface="IBM Plex Sans"/>
              </a:endParaRPr>
            </a:p>
          </p:txBody>
        </p:sp>
      </p:grpSp>
      <p:grpSp>
        <p:nvGrpSpPr>
          <p:cNvPr id="67" name="node12"/>
          <p:cNvGrpSpPr/>
          <p:nvPr/>
        </p:nvGrpSpPr>
        <p:grpSpPr>
          <a:xfrm>
            <a:off x="4381500" y="5029200"/>
            <a:ext cx="685800" cy="685800"/>
            <a:chOff x="4381500" y="5029200"/>
            <a:chExt cx="685800" cy="685800"/>
          </a:xfrm>
        </p:grpSpPr>
        <p:sp>
          <p:nvSpPr>
            <p:cNvPr id="47" name="node12.surface"/>
            <p:cNvSpPr/>
            <p:nvPr/>
          </p:nvSpPr>
          <p:spPr>
            <a:xfrm>
              <a:off x="4381500" y="5029200"/>
              <a:ext cx="685800" cy="685800"/>
            </a:xfrm>
            <a:prstGeom prst="rect">
              <a:avLst/>
            </a:prstGeom>
            <a:solidFill>
              <a:srgbClr val="E8EEF8"/>
            </a:solidFill>
            <a:ln>
              <a:noFill/>
            </a:ln>
          </p:spPr>
        </p:sp>
        <p:grpSp>
          <p:nvGrpSpPr>
            <p:cNvPr id="66" name="node12.icon"/>
            <p:cNvGrpSpPr/>
            <p:nvPr/>
          </p:nvGrpSpPr>
          <p:grpSpPr>
            <a:xfrm>
              <a:off x="4533900" y="5181600"/>
              <a:ext cx="381000" cy="381000"/>
              <a:chOff x="4533900" y="5181600"/>
              <a:chExt cx="381000" cy="381000"/>
            </a:xfrm>
          </p:grpSpPr>
          <p:pic>
            <p:nvPicPr>
              <p:cNvPr id="48" name="node12.icon.image" descr="icon/circuit-layers/navy; canonical SHA256=2ce3a8535eb05461000a5746d05993417b90c0a0d12821ebfa41597a7ffad94f">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33900" y="5181600"/>
                <a:ext cx="381000" cy="381000"/>
              </a:xfrm>
              <a:prstGeom prst="rect">
                <a:avLst/>
              </a:prstGeom>
            </p:spPr>
          </p:pic>
        </p:grpSp>
      </p:grpSp>
      <p:grpSp>
        <p:nvGrpSpPr>
          <p:cNvPr id="68" name="node13"/>
          <p:cNvGrpSpPr/>
          <p:nvPr/>
        </p:nvGrpSpPr>
        <p:grpSpPr>
          <a:xfrm>
            <a:off x="5219700" y="5029200"/>
            <a:ext cx="2590800" cy="685800"/>
            <a:chOff x="5219700" y="5029200"/>
            <a:chExt cx="2590800" cy="685800"/>
          </a:xfrm>
        </p:grpSpPr>
        <p:sp>
          <p:nvSpPr>
            <p:cNvPr id="49" name="node13.text"/>
            <p:cNvSpPr/>
            <p:nvPr/>
          </p:nvSpPr>
          <p:spPr>
            <a:xfrm>
              <a:off x="5219700" y="51562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 apply data, cloud, security and change expertise.</a:t>
              </a:r>
              <a:endParaRPr lang="en-US" sz="1200" spc="0" kern="0" b="0" i="0" dirty="0">
                <a:solidFill>
                  <a:srgbClr val="070154"/>
                </a:solidFill>
                <a:latin typeface="IBM Plex Sans"/>
                <a:ea typeface="IBM Plex Sans"/>
                <a:cs typeface="IBM Plex Sans"/>
              </a:endParaRPr>
            </a:p>
          </p:txBody>
        </p:sp>
      </p:grpSp>
      <p:grpSp>
        <p:nvGrpSpPr>
          <p:cNvPr id="70" name="node14"/>
          <p:cNvGrpSpPr/>
          <p:nvPr/>
        </p:nvGrpSpPr>
        <p:grpSpPr>
          <a:xfrm>
            <a:off x="8039100" y="5029200"/>
            <a:ext cx="685800" cy="685800"/>
            <a:chOff x="8039100" y="5029200"/>
            <a:chExt cx="685800" cy="685800"/>
          </a:xfrm>
        </p:grpSpPr>
        <p:sp>
          <p:nvSpPr>
            <p:cNvPr id="50" name="node14.surface"/>
            <p:cNvSpPr/>
            <p:nvPr/>
          </p:nvSpPr>
          <p:spPr>
            <a:xfrm>
              <a:off x="8039100" y="5029200"/>
              <a:ext cx="685800" cy="685800"/>
            </a:xfrm>
            <a:prstGeom prst="rect">
              <a:avLst/>
            </a:prstGeom>
            <a:solidFill>
              <a:srgbClr val="E8EEF8"/>
            </a:solidFill>
            <a:ln>
              <a:noFill/>
            </a:ln>
          </p:spPr>
        </p:sp>
        <p:grpSp>
          <p:nvGrpSpPr>
            <p:cNvPr id="69" name="node14.icon"/>
            <p:cNvGrpSpPr/>
            <p:nvPr/>
          </p:nvGrpSpPr>
          <p:grpSpPr>
            <a:xfrm>
              <a:off x="8191500" y="5181600"/>
              <a:ext cx="381000" cy="381000"/>
              <a:chOff x="8191500" y="5181600"/>
              <a:chExt cx="381000" cy="381000"/>
            </a:xfrm>
          </p:grpSpPr>
          <p:pic>
            <p:nvPicPr>
              <p:cNvPr id="51" name="node14.icon.image" descr="icon/target-arrow/navy; canonical SHA256=d7be3489d4c720d338cad319f07d0f5d4613e221b5ae04fe7e8f497c9849348f">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91500" y="5181600"/>
                <a:ext cx="381000" cy="381000"/>
              </a:xfrm>
              <a:prstGeom prst="rect">
                <a:avLst/>
              </a:prstGeom>
            </p:spPr>
          </p:pic>
        </p:grpSp>
      </p:grpSp>
      <p:grpSp>
        <p:nvGrpSpPr>
          <p:cNvPr id="71" name="node15"/>
          <p:cNvGrpSpPr/>
          <p:nvPr/>
        </p:nvGrpSpPr>
        <p:grpSpPr>
          <a:xfrm>
            <a:off x="8877300" y="5029200"/>
            <a:ext cx="2590800" cy="685800"/>
            <a:chOff x="8877300" y="5029200"/>
            <a:chExt cx="2590800" cy="685800"/>
          </a:xfrm>
        </p:grpSpPr>
        <p:sp>
          <p:nvSpPr>
            <p:cNvPr id="52" name="node15.text"/>
            <p:cNvSpPr/>
            <p:nvPr/>
          </p:nvSpPr>
          <p:spPr>
            <a:xfrm>
              <a:off x="8877300" y="51562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 set measurable goals for speed, adoption and cost.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ource-148">
    <p:spTree>
      <p:nvGrpSpPr>
        <p:cNvPr id="1" name=""/>
        <p:cNvGrpSpPr/>
        <p:nvPr/>
      </p:nvGrpSpPr>
      <p:grpSpPr>
        <a:xfrm>
          <a:off x="0" y="0"/>
          <a:ext cx="0" cy="0"/>
          <a:chOff x="0" y="0"/>
          <a:chExt cx="0" cy="0"/>
        </a:xfrm>
      </p:grpSpPr>
      <p:sp>
        <p:nvSpPr>
          <p:cNvPr id="2" name="wm.library-whiteboard.001.001.001"/>
          <p:cNvSpPr/>
          <p:nvPr/>
        </p:nvSpPr>
        <p:spPr>
          <a:xfrm>
            <a:off x="3695700" y="228600"/>
            <a:ext cx="38100" cy="38100"/>
          </a:xfrm>
          <a:prstGeom prst="rect">
            <a:avLst/>
          </a:prstGeom>
          <a:solidFill>
            <a:srgbClr val="CED7E6"/>
          </a:solidFill>
          <a:ln>
            <a:noFill/>
          </a:ln>
        </p:spPr>
      </p:sp>
      <p:sp>
        <p:nvSpPr>
          <p:cNvPr id="3" name="wm.library-whiteboard.001.001.002"/>
          <p:cNvSpPr/>
          <p:nvPr/>
        </p:nvSpPr>
        <p:spPr>
          <a:xfrm>
            <a:off x="3695700" y="457200"/>
            <a:ext cx="38100" cy="38100"/>
          </a:xfrm>
          <a:prstGeom prst="rect">
            <a:avLst/>
          </a:prstGeom>
          <a:solidFill>
            <a:srgbClr val="CED7E6"/>
          </a:solidFill>
          <a:ln>
            <a:noFill/>
          </a:ln>
        </p:spPr>
      </p:sp>
      <p:sp>
        <p:nvSpPr>
          <p:cNvPr id="4" name="wm.library-whiteboard.001.001.003"/>
          <p:cNvSpPr/>
          <p:nvPr/>
        </p:nvSpPr>
        <p:spPr>
          <a:xfrm>
            <a:off x="3695700" y="685800"/>
            <a:ext cx="38100" cy="38100"/>
          </a:xfrm>
          <a:prstGeom prst="rect">
            <a:avLst/>
          </a:prstGeom>
          <a:solidFill>
            <a:srgbClr val="CED7E6"/>
          </a:solidFill>
          <a:ln>
            <a:noFill/>
          </a:ln>
        </p:spPr>
      </p:sp>
      <p:sp>
        <p:nvSpPr>
          <p:cNvPr id="5" name="wm.library-whiteboard.001.001.004"/>
          <p:cNvSpPr/>
          <p:nvPr/>
        </p:nvSpPr>
        <p:spPr>
          <a:xfrm>
            <a:off x="3695700" y="914400"/>
            <a:ext cx="38100" cy="38100"/>
          </a:xfrm>
          <a:prstGeom prst="rect">
            <a:avLst/>
          </a:prstGeom>
          <a:solidFill>
            <a:srgbClr val="CED7E6"/>
          </a:solidFill>
          <a:ln>
            <a:noFill/>
          </a:ln>
        </p:spPr>
      </p:sp>
      <p:sp>
        <p:nvSpPr>
          <p:cNvPr id="6" name="wm.library-whiteboard.001.001.005"/>
          <p:cNvSpPr/>
          <p:nvPr/>
        </p:nvSpPr>
        <p:spPr>
          <a:xfrm>
            <a:off x="3695700" y="1143000"/>
            <a:ext cx="38100" cy="38100"/>
          </a:xfrm>
          <a:prstGeom prst="rect">
            <a:avLst/>
          </a:prstGeom>
          <a:solidFill>
            <a:srgbClr val="CED7E6"/>
          </a:solidFill>
          <a:ln>
            <a:noFill/>
          </a:ln>
        </p:spPr>
      </p:sp>
      <p:sp>
        <p:nvSpPr>
          <p:cNvPr id="7" name="wm.library-whiteboard.001.001.006"/>
          <p:cNvSpPr/>
          <p:nvPr/>
        </p:nvSpPr>
        <p:spPr>
          <a:xfrm>
            <a:off x="3695700" y="1371600"/>
            <a:ext cx="38100" cy="38100"/>
          </a:xfrm>
          <a:prstGeom prst="rect">
            <a:avLst/>
          </a:prstGeom>
          <a:solidFill>
            <a:srgbClr val="CED7E6"/>
          </a:solidFill>
          <a:ln>
            <a:noFill/>
          </a:ln>
        </p:spPr>
      </p:sp>
      <p:sp>
        <p:nvSpPr>
          <p:cNvPr id="8" name="wm.library-whiteboard.001.001.007"/>
          <p:cNvSpPr/>
          <p:nvPr/>
        </p:nvSpPr>
        <p:spPr>
          <a:xfrm>
            <a:off x="3695700" y="1600200"/>
            <a:ext cx="38100" cy="38100"/>
          </a:xfrm>
          <a:prstGeom prst="rect">
            <a:avLst/>
          </a:prstGeom>
          <a:solidFill>
            <a:srgbClr val="CED7E6">
              <a:alpha val="89662"/>
            </a:srgbClr>
          </a:solidFill>
          <a:ln>
            <a:noFill/>
          </a:ln>
        </p:spPr>
      </p:sp>
      <p:sp>
        <p:nvSpPr>
          <p:cNvPr id="9" name="wm.library-whiteboard.001.001.008"/>
          <p:cNvSpPr/>
          <p:nvPr/>
        </p:nvSpPr>
        <p:spPr>
          <a:xfrm>
            <a:off x="3695700" y="1828800"/>
            <a:ext cx="38100" cy="38100"/>
          </a:xfrm>
          <a:prstGeom prst="rect">
            <a:avLst/>
          </a:prstGeom>
          <a:solidFill>
            <a:srgbClr val="CED7E6">
              <a:alpha val="77004"/>
            </a:srgbClr>
          </a:solidFill>
          <a:ln>
            <a:noFill/>
          </a:ln>
        </p:spPr>
      </p:sp>
      <p:sp>
        <p:nvSpPr>
          <p:cNvPr id="10" name="wm.library-whiteboard.001.001.009"/>
          <p:cNvSpPr/>
          <p:nvPr/>
        </p:nvSpPr>
        <p:spPr>
          <a:xfrm>
            <a:off x="3695700" y="2057400"/>
            <a:ext cx="38100" cy="38100"/>
          </a:xfrm>
          <a:prstGeom prst="rect">
            <a:avLst/>
          </a:prstGeom>
          <a:solidFill>
            <a:srgbClr val="CED7E6">
              <a:alpha val="64346"/>
            </a:srgbClr>
          </a:solidFill>
          <a:ln>
            <a:noFill/>
          </a:ln>
        </p:spPr>
      </p:sp>
      <p:sp>
        <p:nvSpPr>
          <p:cNvPr id="11" name="wm.library-whiteboard.001.001.010"/>
          <p:cNvSpPr/>
          <p:nvPr/>
        </p:nvSpPr>
        <p:spPr>
          <a:xfrm>
            <a:off x="3695700" y="2286000"/>
            <a:ext cx="38100" cy="38100"/>
          </a:xfrm>
          <a:prstGeom prst="rect">
            <a:avLst/>
          </a:prstGeom>
          <a:solidFill>
            <a:srgbClr val="CED7E6">
              <a:alpha val="51688"/>
            </a:srgbClr>
          </a:solidFill>
          <a:ln>
            <a:noFill/>
          </a:ln>
        </p:spPr>
      </p:sp>
      <p:sp>
        <p:nvSpPr>
          <p:cNvPr id="12" name="wm.library-whiteboard.001.001.011"/>
          <p:cNvSpPr/>
          <p:nvPr/>
        </p:nvSpPr>
        <p:spPr>
          <a:xfrm>
            <a:off x="3695700" y="2514600"/>
            <a:ext cx="38100" cy="38100"/>
          </a:xfrm>
          <a:prstGeom prst="rect">
            <a:avLst/>
          </a:prstGeom>
          <a:solidFill>
            <a:srgbClr val="CED7E6">
              <a:alpha val="39030"/>
            </a:srgbClr>
          </a:solidFill>
          <a:ln>
            <a:noFill/>
          </a:ln>
        </p:spPr>
      </p:sp>
      <p:sp>
        <p:nvSpPr>
          <p:cNvPr id="13" name="wm.library-whiteboard.001.001.012"/>
          <p:cNvSpPr/>
          <p:nvPr/>
        </p:nvSpPr>
        <p:spPr>
          <a:xfrm>
            <a:off x="3695700" y="2743200"/>
            <a:ext cx="38100" cy="38100"/>
          </a:xfrm>
          <a:prstGeom prst="rect">
            <a:avLst/>
          </a:prstGeom>
          <a:solidFill>
            <a:srgbClr val="CED7E6">
              <a:alpha val="26371"/>
            </a:srgbClr>
          </a:solidFill>
          <a:ln>
            <a:noFill/>
          </a:ln>
        </p:spPr>
      </p:sp>
      <p:sp>
        <p:nvSpPr>
          <p:cNvPr id="14" name="wm.library-whiteboard.001.001.013"/>
          <p:cNvSpPr/>
          <p:nvPr/>
        </p:nvSpPr>
        <p:spPr>
          <a:xfrm>
            <a:off x="3695700" y="2971800"/>
            <a:ext cx="38100" cy="38100"/>
          </a:xfrm>
          <a:prstGeom prst="rect">
            <a:avLst/>
          </a:prstGeom>
          <a:solidFill>
            <a:srgbClr val="CED7E6">
              <a:alpha val="13713"/>
            </a:srgbClr>
          </a:solidFill>
          <a:ln>
            <a:noFill/>
          </a:ln>
        </p:spPr>
      </p:sp>
      <p:sp>
        <p:nvSpPr>
          <p:cNvPr id="15" name="wm.library-whiteboard.001.001.014"/>
          <p:cNvSpPr/>
          <p:nvPr/>
        </p:nvSpPr>
        <p:spPr>
          <a:xfrm>
            <a:off x="3695700" y="3200400"/>
            <a:ext cx="38100" cy="38100"/>
          </a:xfrm>
          <a:prstGeom prst="rect">
            <a:avLst/>
          </a:prstGeom>
          <a:solidFill>
            <a:srgbClr val="CED7E6">
              <a:alpha val="1055"/>
            </a:srgbClr>
          </a:solidFill>
          <a:ln>
            <a:noFill/>
          </a:ln>
        </p:spPr>
      </p:sp>
      <p:sp>
        <p:nvSpPr>
          <p:cNvPr id="16" name="wm.library-whiteboard.001.002.001"/>
          <p:cNvSpPr/>
          <p:nvPr/>
        </p:nvSpPr>
        <p:spPr>
          <a:xfrm>
            <a:off x="3924300" y="228600"/>
            <a:ext cx="38100" cy="38100"/>
          </a:xfrm>
          <a:prstGeom prst="rect">
            <a:avLst/>
          </a:prstGeom>
          <a:solidFill>
            <a:srgbClr val="CED7E6"/>
          </a:solidFill>
          <a:ln>
            <a:noFill/>
          </a:ln>
        </p:spPr>
      </p:sp>
      <p:sp>
        <p:nvSpPr>
          <p:cNvPr id="17" name="wm.library-whiteboard.001.002.002"/>
          <p:cNvSpPr/>
          <p:nvPr/>
        </p:nvSpPr>
        <p:spPr>
          <a:xfrm>
            <a:off x="3924300" y="457200"/>
            <a:ext cx="38100" cy="38100"/>
          </a:xfrm>
          <a:prstGeom prst="rect">
            <a:avLst/>
          </a:prstGeom>
          <a:solidFill>
            <a:srgbClr val="CED7E6"/>
          </a:solidFill>
          <a:ln>
            <a:noFill/>
          </a:ln>
        </p:spPr>
      </p:sp>
      <p:sp>
        <p:nvSpPr>
          <p:cNvPr id="18" name="wm.library-whiteboard.001.002.003"/>
          <p:cNvSpPr/>
          <p:nvPr/>
        </p:nvSpPr>
        <p:spPr>
          <a:xfrm>
            <a:off x="3924300" y="685800"/>
            <a:ext cx="38100" cy="38100"/>
          </a:xfrm>
          <a:prstGeom prst="rect">
            <a:avLst/>
          </a:prstGeom>
          <a:solidFill>
            <a:srgbClr val="CED7E6"/>
          </a:solidFill>
          <a:ln>
            <a:noFill/>
          </a:ln>
        </p:spPr>
      </p:sp>
      <p:sp>
        <p:nvSpPr>
          <p:cNvPr id="19" name="wm.library-whiteboard.001.002.004"/>
          <p:cNvSpPr/>
          <p:nvPr/>
        </p:nvSpPr>
        <p:spPr>
          <a:xfrm>
            <a:off x="3924300" y="914400"/>
            <a:ext cx="38100" cy="38100"/>
          </a:xfrm>
          <a:prstGeom prst="rect">
            <a:avLst/>
          </a:prstGeom>
          <a:solidFill>
            <a:srgbClr val="CED7E6"/>
          </a:solidFill>
          <a:ln>
            <a:noFill/>
          </a:ln>
        </p:spPr>
      </p:sp>
      <p:sp>
        <p:nvSpPr>
          <p:cNvPr id="20" name="wm.library-whiteboard.001.002.005"/>
          <p:cNvSpPr/>
          <p:nvPr/>
        </p:nvSpPr>
        <p:spPr>
          <a:xfrm>
            <a:off x="3924300" y="1143000"/>
            <a:ext cx="38100" cy="38100"/>
          </a:xfrm>
          <a:prstGeom prst="rect">
            <a:avLst/>
          </a:prstGeom>
          <a:solidFill>
            <a:srgbClr val="CED7E6"/>
          </a:solidFill>
          <a:ln>
            <a:noFill/>
          </a:ln>
        </p:spPr>
      </p:sp>
      <p:sp>
        <p:nvSpPr>
          <p:cNvPr id="21" name="wm.library-whiteboard.001.002.006"/>
          <p:cNvSpPr/>
          <p:nvPr/>
        </p:nvSpPr>
        <p:spPr>
          <a:xfrm>
            <a:off x="3924300" y="1371600"/>
            <a:ext cx="38100" cy="38100"/>
          </a:xfrm>
          <a:prstGeom prst="rect">
            <a:avLst/>
          </a:prstGeom>
          <a:solidFill>
            <a:srgbClr val="CED7E6"/>
          </a:solidFill>
          <a:ln>
            <a:noFill/>
          </a:ln>
        </p:spPr>
      </p:sp>
      <p:sp>
        <p:nvSpPr>
          <p:cNvPr id="22" name="wm.library-whiteboard.001.002.007"/>
          <p:cNvSpPr/>
          <p:nvPr/>
        </p:nvSpPr>
        <p:spPr>
          <a:xfrm>
            <a:off x="3924300" y="1600200"/>
            <a:ext cx="38100" cy="38100"/>
          </a:xfrm>
          <a:prstGeom prst="rect">
            <a:avLst/>
          </a:prstGeom>
          <a:solidFill>
            <a:srgbClr val="CED7E6">
              <a:alpha val="89662"/>
            </a:srgbClr>
          </a:solidFill>
          <a:ln>
            <a:noFill/>
          </a:ln>
        </p:spPr>
      </p:sp>
      <p:sp>
        <p:nvSpPr>
          <p:cNvPr id="23" name="wm.library-whiteboard.001.002.008"/>
          <p:cNvSpPr/>
          <p:nvPr/>
        </p:nvSpPr>
        <p:spPr>
          <a:xfrm>
            <a:off x="3924300" y="1828800"/>
            <a:ext cx="38100" cy="38100"/>
          </a:xfrm>
          <a:prstGeom prst="rect">
            <a:avLst/>
          </a:prstGeom>
          <a:solidFill>
            <a:srgbClr val="CED7E6">
              <a:alpha val="77004"/>
            </a:srgbClr>
          </a:solidFill>
          <a:ln>
            <a:noFill/>
          </a:ln>
        </p:spPr>
      </p:sp>
      <p:sp>
        <p:nvSpPr>
          <p:cNvPr id="24" name="wm.library-whiteboard.001.002.009"/>
          <p:cNvSpPr/>
          <p:nvPr/>
        </p:nvSpPr>
        <p:spPr>
          <a:xfrm>
            <a:off x="3924300" y="2057400"/>
            <a:ext cx="38100" cy="38100"/>
          </a:xfrm>
          <a:prstGeom prst="rect">
            <a:avLst/>
          </a:prstGeom>
          <a:solidFill>
            <a:srgbClr val="CED7E6">
              <a:alpha val="64346"/>
            </a:srgbClr>
          </a:solidFill>
          <a:ln>
            <a:noFill/>
          </a:ln>
        </p:spPr>
      </p:sp>
      <p:sp>
        <p:nvSpPr>
          <p:cNvPr id="25" name="wm.library-whiteboard.001.002.010"/>
          <p:cNvSpPr/>
          <p:nvPr/>
        </p:nvSpPr>
        <p:spPr>
          <a:xfrm>
            <a:off x="3924300" y="2286000"/>
            <a:ext cx="38100" cy="38100"/>
          </a:xfrm>
          <a:prstGeom prst="rect">
            <a:avLst/>
          </a:prstGeom>
          <a:solidFill>
            <a:srgbClr val="CED7E6">
              <a:alpha val="51688"/>
            </a:srgbClr>
          </a:solidFill>
          <a:ln>
            <a:noFill/>
          </a:ln>
        </p:spPr>
      </p:sp>
      <p:sp>
        <p:nvSpPr>
          <p:cNvPr id="26" name="wm.library-whiteboard.001.002.011"/>
          <p:cNvSpPr/>
          <p:nvPr/>
        </p:nvSpPr>
        <p:spPr>
          <a:xfrm>
            <a:off x="3924300" y="2514600"/>
            <a:ext cx="38100" cy="38100"/>
          </a:xfrm>
          <a:prstGeom prst="rect">
            <a:avLst/>
          </a:prstGeom>
          <a:solidFill>
            <a:srgbClr val="CED7E6">
              <a:alpha val="39030"/>
            </a:srgbClr>
          </a:solidFill>
          <a:ln>
            <a:noFill/>
          </a:ln>
        </p:spPr>
      </p:sp>
      <p:sp>
        <p:nvSpPr>
          <p:cNvPr id="27" name="wm.library-whiteboard.001.002.012"/>
          <p:cNvSpPr/>
          <p:nvPr/>
        </p:nvSpPr>
        <p:spPr>
          <a:xfrm>
            <a:off x="3924300" y="2743200"/>
            <a:ext cx="38100" cy="38100"/>
          </a:xfrm>
          <a:prstGeom prst="rect">
            <a:avLst/>
          </a:prstGeom>
          <a:solidFill>
            <a:srgbClr val="CED7E6">
              <a:alpha val="26371"/>
            </a:srgbClr>
          </a:solidFill>
          <a:ln>
            <a:noFill/>
          </a:ln>
        </p:spPr>
      </p:sp>
      <p:sp>
        <p:nvSpPr>
          <p:cNvPr id="28" name="wm.library-whiteboard.001.002.013"/>
          <p:cNvSpPr/>
          <p:nvPr/>
        </p:nvSpPr>
        <p:spPr>
          <a:xfrm>
            <a:off x="3924300" y="2971800"/>
            <a:ext cx="38100" cy="38100"/>
          </a:xfrm>
          <a:prstGeom prst="rect">
            <a:avLst/>
          </a:prstGeom>
          <a:solidFill>
            <a:srgbClr val="CED7E6">
              <a:alpha val="13713"/>
            </a:srgbClr>
          </a:solidFill>
          <a:ln>
            <a:noFill/>
          </a:ln>
        </p:spPr>
      </p:sp>
      <p:sp>
        <p:nvSpPr>
          <p:cNvPr id="29" name="wm.library-whiteboard.001.002.014"/>
          <p:cNvSpPr/>
          <p:nvPr/>
        </p:nvSpPr>
        <p:spPr>
          <a:xfrm>
            <a:off x="3924300" y="3200400"/>
            <a:ext cx="38100" cy="38100"/>
          </a:xfrm>
          <a:prstGeom prst="rect">
            <a:avLst/>
          </a:prstGeom>
          <a:solidFill>
            <a:srgbClr val="CED7E6">
              <a:alpha val="1055"/>
            </a:srgbClr>
          </a:solidFill>
          <a:ln>
            <a:noFill/>
          </a:ln>
        </p:spPr>
      </p:sp>
      <p:sp>
        <p:nvSpPr>
          <p:cNvPr id="30" name="wm.library-whiteboard.001.003.001"/>
          <p:cNvSpPr/>
          <p:nvPr/>
        </p:nvSpPr>
        <p:spPr>
          <a:xfrm>
            <a:off x="4152900" y="228600"/>
            <a:ext cx="38100" cy="38100"/>
          </a:xfrm>
          <a:prstGeom prst="rect">
            <a:avLst/>
          </a:prstGeom>
          <a:solidFill>
            <a:srgbClr val="CED7E6"/>
          </a:solidFill>
          <a:ln>
            <a:noFill/>
          </a:ln>
        </p:spPr>
      </p:sp>
      <p:sp>
        <p:nvSpPr>
          <p:cNvPr id="31" name="wm.library-whiteboard.001.003.002"/>
          <p:cNvSpPr/>
          <p:nvPr/>
        </p:nvSpPr>
        <p:spPr>
          <a:xfrm>
            <a:off x="4152900" y="457200"/>
            <a:ext cx="38100" cy="38100"/>
          </a:xfrm>
          <a:prstGeom prst="rect">
            <a:avLst/>
          </a:prstGeom>
          <a:solidFill>
            <a:srgbClr val="CED7E6"/>
          </a:solidFill>
          <a:ln>
            <a:noFill/>
          </a:ln>
        </p:spPr>
      </p:sp>
      <p:sp>
        <p:nvSpPr>
          <p:cNvPr id="32" name="wm.library-whiteboard.001.003.003"/>
          <p:cNvSpPr/>
          <p:nvPr/>
        </p:nvSpPr>
        <p:spPr>
          <a:xfrm>
            <a:off x="4152900" y="685800"/>
            <a:ext cx="38100" cy="38100"/>
          </a:xfrm>
          <a:prstGeom prst="rect">
            <a:avLst/>
          </a:prstGeom>
          <a:solidFill>
            <a:srgbClr val="CED7E6"/>
          </a:solidFill>
          <a:ln>
            <a:noFill/>
          </a:ln>
        </p:spPr>
      </p:sp>
      <p:sp>
        <p:nvSpPr>
          <p:cNvPr id="33" name="wm.library-whiteboard.001.003.004"/>
          <p:cNvSpPr/>
          <p:nvPr/>
        </p:nvSpPr>
        <p:spPr>
          <a:xfrm>
            <a:off x="4152900" y="914400"/>
            <a:ext cx="38100" cy="38100"/>
          </a:xfrm>
          <a:prstGeom prst="rect">
            <a:avLst/>
          </a:prstGeom>
          <a:solidFill>
            <a:srgbClr val="CED7E6"/>
          </a:solidFill>
          <a:ln>
            <a:noFill/>
          </a:ln>
        </p:spPr>
      </p:sp>
      <p:sp>
        <p:nvSpPr>
          <p:cNvPr id="34" name="wm.library-whiteboard.001.003.005"/>
          <p:cNvSpPr/>
          <p:nvPr/>
        </p:nvSpPr>
        <p:spPr>
          <a:xfrm>
            <a:off x="4152900" y="1143000"/>
            <a:ext cx="38100" cy="38100"/>
          </a:xfrm>
          <a:prstGeom prst="rect">
            <a:avLst/>
          </a:prstGeom>
          <a:solidFill>
            <a:srgbClr val="CED7E6"/>
          </a:solidFill>
          <a:ln>
            <a:noFill/>
          </a:ln>
        </p:spPr>
      </p:sp>
      <p:sp>
        <p:nvSpPr>
          <p:cNvPr id="35" name="wm.library-whiteboard.001.003.006"/>
          <p:cNvSpPr/>
          <p:nvPr/>
        </p:nvSpPr>
        <p:spPr>
          <a:xfrm>
            <a:off x="4152900" y="1371600"/>
            <a:ext cx="38100" cy="38100"/>
          </a:xfrm>
          <a:prstGeom prst="rect">
            <a:avLst/>
          </a:prstGeom>
          <a:solidFill>
            <a:srgbClr val="CED7E6"/>
          </a:solidFill>
          <a:ln>
            <a:noFill/>
          </a:ln>
        </p:spPr>
      </p:sp>
      <p:sp>
        <p:nvSpPr>
          <p:cNvPr id="36" name="wm.library-whiteboard.001.003.007"/>
          <p:cNvSpPr/>
          <p:nvPr/>
        </p:nvSpPr>
        <p:spPr>
          <a:xfrm>
            <a:off x="4152900" y="1600200"/>
            <a:ext cx="38100" cy="38100"/>
          </a:xfrm>
          <a:prstGeom prst="rect">
            <a:avLst/>
          </a:prstGeom>
          <a:solidFill>
            <a:srgbClr val="CED7E6">
              <a:alpha val="89662"/>
            </a:srgbClr>
          </a:solidFill>
          <a:ln>
            <a:noFill/>
          </a:ln>
        </p:spPr>
      </p:sp>
      <p:sp>
        <p:nvSpPr>
          <p:cNvPr id="37" name="wm.library-whiteboard.001.003.008"/>
          <p:cNvSpPr/>
          <p:nvPr/>
        </p:nvSpPr>
        <p:spPr>
          <a:xfrm>
            <a:off x="4152900" y="1828800"/>
            <a:ext cx="38100" cy="38100"/>
          </a:xfrm>
          <a:prstGeom prst="rect">
            <a:avLst/>
          </a:prstGeom>
          <a:solidFill>
            <a:srgbClr val="CED7E6">
              <a:alpha val="77004"/>
            </a:srgbClr>
          </a:solidFill>
          <a:ln>
            <a:noFill/>
          </a:ln>
        </p:spPr>
      </p:sp>
      <p:sp>
        <p:nvSpPr>
          <p:cNvPr id="38" name="wm.library-whiteboard.001.003.009"/>
          <p:cNvSpPr/>
          <p:nvPr/>
        </p:nvSpPr>
        <p:spPr>
          <a:xfrm>
            <a:off x="4152900" y="2057400"/>
            <a:ext cx="38100" cy="38100"/>
          </a:xfrm>
          <a:prstGeom prst="rect">
            <a:avLst/>
          </a:prstGeom>
          <a:solidFill>
            <a:srgbClr val="CED7E6">
              <a:alpha val="64346"/>
            </a:srgbClr>
          </a:solidFill>
          <a:ln>
            <a:noFill/>
          </a:ln>
        </p:spPr>
      </p:sp>
      <p:sp>
        <p:nvSpPr>
          <p:cNvPr id="39" name="wm.library-whiteboard.001.003.010"/>
          <p:cNvSpPr/>
          <p:nvPr/>
        </p:nvSpPr>
        <p:spPr>
          <a:xfrm>
            <a:off x="4152900" y="2286000"/>
            <a:ext cx="38100" cy="38100"/>
          </a:xfrm>
          <a:prstGeom prst="rect">
            <a:avLst/>
          </a:prstGeom>
          <a:solidFill>
            <a:srgbClr val="CED7E6">
              <a:alpha val="51688"/>
            </a:srgbClr>
          </a:solidFill>
          <a:ln>
            <a:noFill/>
          </a:ln>
        </p:spPr>
      </p:sp>
      <p:sp>
        <p:nvSpPr>
          <p:cNvPr id="40" name="wm.library-whiteboard.001.003.011"/>
          <p:cNvSpPr/>
          <p:nvPr/>
        </p:nvSpPr>
        <p:spPr>
          <a:xfrm>
            <a:off x="4152900" y="2514600"/>
            <a:ext cx="38100" cy="38100"/>
          </a:xfrm>
          <a:prstGeom prst="rect">
            <a:avLst/>
          </a:prstGeom>
          <a:solidFill>
            <a:srgbClr val="CED7E6">
              <a:alpha val="39030"/>
            </a:srgbClr>
          </a:solidFill>
          <a:ln>
            <a:noFill/>
          </a:ln>
        </p:spPr>
      </p:sp>
      <p:sp>
        <p:nvSpPr>
          <p:cNvPr id="41" name="wm.library-whiteboard.001.003.012"/>
          <p:cNvSpPr/>
          <p:nvPr/>
        </p:nvSpPr>
        <p:spPr>
          <a:xfrm>
            <a:off x="4152900" y="2743200"/>
            <a:ext cx="38100" cy="38100"/>
          </a:xfrm>
          <a:prstGeom prst="rect">
            <a:avLst/>
          </a:prstGeom>
          <a:solidFill>
            <a:srgbClr val="CED7E6">
              <a:alpha val="26371"/>
            </a:srgbClr>
          </a:solidFill>
          <a:ln>
            <a:noFill/>
          </a:ln>
        </p:spPr>
      </p:sp>
      <p:sp>
        <p:nvSpPr>
          <p:cNvPr id="42" name="wm.library-whiteboard.001.003.013"/>
          <p:cNvSpPr/>
          <p:nvPr/>
        </p:nvSpPr>
        <p:spPr>
          <a:xfrm>
            <a:off x="4152900" y="2971800"/>
            <a:ext cx="38100" cy="38100"/>
          </a:xfrm>
          <a:prstGeom prst="rect">
            <a:avLst/>
          </a:prstGeom>
          <a:solidFill>
            <a:srgbClr val="CED7E6">
              <a:alpha val="13713"/>
            </a:srgbClr>
          </a:solidFill>
          <a:ln>
            <a:noFill/>
          </a:ln>
        </p:spPr>
      </p:sp>
      <p:sp>
        <p:nvSpPr>
          <p:cNvPr id="43" name="wm.library-whiteboard.001.003.014"/>
          <p:cNvSpPr/>
          <p:nvPr/>
        </p:nvSpPr>
        <p:spPr>
          <a:xfrm>
            <a:off x="4152900" y="3200400"/>
            <a:ext cx="38100" cy="38100"/>
          </a:xfrm>
          <a:prstGeom prst="rect">
            <a:avLst/>
          </a:prstGeom>
          <a:solidFill>
            <a:srgbClr val="CED7E6">
              <a:alpha val="1055"/>
            </a:srgbClr>
          </a:solidFill>
          <a:ln>
            <a:noFill/>
          </a:ln>
        </p:spPr>
      </p:sp>
      <p:sp>
        <p:nvSpPr>
          <p:cNvPr id="4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44</a:t>
            </a:fld>
            <a:endParaRPr lang="en-US" sz="700" spc="0" kern="0" b="0" i="0" dirty="0">
              <a:solidFill>
                <a:srgbClr val="070154"/>
              </a:solidFill>
              <a:latin typeface="IBM Plex Mono SemiBold"/>
              <a:ea typeface="IBM Plex Mono SemiBold"/>
              <a:cs typeface="IBM Plex Mono SemiBold"/>
            </a:endParaRPr>
          </a:p>
        </p:txBody>
      </p:sp>
      <p:grpSp>
        <p:nvGrpSpPr>
          <p:cNvPr id="92" name="node01"/>
          <p:cNvGrpSpPr/>
          <p:nvPr/>
        </p:nvGrpSpPr>
        <p:grpSpPr>
          <a:xfrm>
            <a:off x="723900" y="457200"/>
            <a:ext cx="2514600" cy="139700"/>
            <a:chOff x="723900" y="457200"/>
            <a:chExt cx="2514600" cy="139700"/>
          </a:xfrm>
        </p:grpSpPr>
        <p:sp>
          <p:nvSpPr>
            <p:cNvPr id="46" name="node01.text"/>
            <p:cNvSpPr/>
            <p:nvPr/>
          </p:nvSpPr>
          <p:spPr>
            <a:xfrm>
              <a:off x="723900" y="457200"/>
              <a:ext cx="25146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F900D3"/>
                  </a:solidFill>
                  <a:latin typeface="IBM Plex Mono SemiBold"/>
                  <a:ea typeface="IBM Plex Mono SemiBold"/>
                  <a:cs typeface="IBM Plex Mono SemiBold"/>
                </a:rPr>
                <a:t>OUR DIFFERENCE</a:t>
              </a:r>
              <a:endParaRPr lang="en-US" sz="900" spc="72" kern="0" b="0" i="0" dirty="0">
                <a:solidFill>
                  <a:srgbClr val="F900D3"/>
                </a:solidFill>
                <a:latin typeface="IBM Plex Mono SemiBold"/>
                <a:ea typeface="IBM Plex Mono SemiBold"/>
                <a:cs typeface="IBM Plex Mono SemiBold"/>
              </a:endParaRPr>
            </a:p>
          </p:txBody>
        </p:sp>
      </p:grpSp>
      <p:grpSp>
        <p:nvGrpSpPr>
          <p:cNvPr id="93" name="node02"/>
          <p:cNvGrpSpPr/>
          <p:nvPr/>
        </p:nvGrpSpPr>
        <p:grpSpPr>
          <a:xfrm>
            <a:off x="723900" y="685800"/>
            <a:ext cx="2514600" cy="1371600"/>
            <a:chOff x="723900" y="685800"/>
            <a:chExt cx="2514600" cy="1371600"/>
          </a:xfrm>
        </p:grpSpPr>
        <p:sp>
          <p:nvSpPr>
            <p:cNvPr id="47" name="node02.text"/>
            <p:cNvSpPr/>
            <p:nvPr/>
          </p:nvSpPr>
          <p:spPr>
            <a:xfrm>
              <a:off x="723900" y="685800"/>
              <a:ext cx="2514600" cy="13716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You will feel the difference</a:t>
              </a:r>
              <a:endParaRPr lang="en-US" sz="3200" spc="-64" kern="0" b="0" i="0" dirty="0">
                <a:solidFill>
                  <a:srgbClr val="FFFFFF"/>
                </a:solidFill>
                <a:latin typeface="IBM Plex Sans SemiBold"/>
                <a:ea typeface="IBM Plex Sans SemiBold"/>
                <a:cs typeface="IBM Plex Sans SemiBold"/>
              </a:endParaRPr>
            </a:p>
          </p:txBody>
        </p:sp>
      </p:grpSp>
      <p:grpSp>
        <p:nvGrpSpPr>
          <p:cNvPr id="94" name="node03"/>
          <p:cNvGrpSpPr/>
          <p:nvPr/>
        </p:nvGrpSpPr>
        <p:grpSpPr>
          <a:xfrm>
            <a:off x="723900" y="2514600"/>
            <a:ext cx="2514600" cy="647700"/>
            <a:chOff x="723900" y="2514600"/>
            <a:chExt cx="2514600" cy="647700"/>
          </a:xfrm>
        </p:grpSpPr>
        <p:sp>
          <p:nvSpPr>
            <p:cNvPr id="48" name="node03.text"/>
            <p:cNvSpPr/>
            <p:nvPr/>
          </p:nvSpPr>
          <p:spPr>
            <a:xfrm>
              <a:off x="723900" y="2514600"/>
              <a:ext cx="25146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Our cross-functional teams combine hands-on finance, data and change experience.</a:t>
              </a:r>
              <a:endParaRPr lang="en-US" sz="1200" spc="0" kern="0" b="0" i="0" dirty="0">
                <a:solidFill>
                  <a:srgbClr val="FFFFFF"/>
                </a:solidFill>
                <a:latin typeface="IBM Plex Sans"/>
                <a:ea typeface="IBM Plex Sans"/>
                <a:cs typeface="IBM Plex Sans"/>
              </a:endParaRPr>
            </a:p>
          </p:txBody>
        </p:sp>
      </p:grpSp>
      <p:grpSp>
        <p:nvGrpSpPr>
          <p:cNvPr id="95" name="node04"/>
          <p:cNvGrpSpPr/>
          <p:nvPr/>
        </p:nvGrpSpPr>
        <p:grpSpPr>
          <a:xfrm>
            <a:off x="723900" y="4343400"/>
            <a:ext cx="2514600" cy="139700"/>
            <a:chOff x="723900" y="4343400"/>
            <a:chExt cx="2514600" cy="139700"/>
          </a:xfrm>
        </p:grpSpPr>
        <p:sp>
          <p:nvSpPr>
            <p:cNvPr id="49" name="node04.text"/>
            <p:cNvSpPr/>
            <p:nvPr/>
          </p:nvSpPr>
          <p:spPr>
            <a:xfrm>
              <a:off x="723900" y="43434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HANDOVER TARGET</a:t>
              </a:r>
              <a:endParaRPr lang="en-US" sz="800" spc="48" kern="0" b="0" i="0" dirty="0">
                <a:solidFill>
                  <a:srgbClr val="F900D3"/>
                </a:solidFill>
                <a:latin typeface="IBM Plex Mono Medium"/>
                <a:ea typeface="IBM Plex Mono Medium"/>
                <a:cs typeface="IBM Plex Mono Medium"/>
              </a:endParaRPr>
            </a:p>
          </p:txBody>
        </p:sp>
      </p:grpSp>
      <p:grpSp>
        <p:nvGrpSpPr>
          <p:cNvPr id="96" name="node05"/>
          <p:cNvGrpSpPr/>
          <p:nvPr/>
        </p:nvGrpSpPr>
        <p:grpSpPr>
          <a:xfrm>
            <a:off x="723900" y="4572000"/>
            <a:ext cx="2514600" cy="382461"/>
            <a:chOff x="723900" y="4572000"/>
            <a:chExt cx="2514600" cy="382461"/>
          </a:xfrm>
        </p:grpSpPr>
        <p:sp>
          <p:nvSpPr>
            <p:cNvPr id="50" name="node05.text"/>
            <p:cNvSpPr/>
            <p:nvPr/>
          </p:nvSpPr>
          <p:spPr>
            <a:xfrm>
              <a:off x="723900" y="4572000"/>
              <a:ext cx="25146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FFFFF"/>
                  </a:solidFill>
                  <a:latin typeface="IBM Plex Mono SemiBold"/>
                  <a:ea typeface="IBM Plex Mono SemiBold"/>
                  <a:cs typeface="IBM Plex Mono SemiBold"/>
                </a:rPr>
                <a:t>Day 90</a:t>
              </a:r>
              <a:endParaRPr lang="en-US" sz="3000" spc="-60" kern="0" b="0" i="0" dirty="0">
                <a:solidFill>
                  <a:srgbClr val="FFFFFF"/>
                </a:solidFill>
                <a:latin typeface="IBM Plex Mono SemiBold"/>
                <a:ea typeface="IBM Plex Mono SemiBold"/>
                <a:cs typeface="IBM Plex Mono SemiBold"/>
              </a:endParaRPr>
            </a:p>
          </p:txBody>
        </p:sp>
      </p:grpSp>
      <p:grpSp>
        <p:nvGrpSpPr>
          <p:cNvPr id="97" name="node06"/>
          <p:cNvGrpSpPr/>
          <p:nvPr/>
        </p:nvGrpSpPr>
        <p:grpSpPr>
          <a:xfrm>
            <a:off x="723900" y="5029200"/>
            <a:ext cx="2514600" cy="190500"/>
            <a:chOff x="723900" y="5029200"/>
            <a:chExt cx="2514600" cy="190500"/>
          </a:xfrm>
        </p:grpSpPr>
        <p:sp>
          <p:nvSpPr>
            <p:cNvPr id="51" name="node06.text"/>
            <p:cNvSpPr/>
            <p:nvPr/>
          </p:nvSpPr>
          <p:spPr>
            <a:xfrm>
              <a:off x="723900" y="50292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Your team runs the platform.</a:t>
              </a:r>
              <a:endParaRPr lang="en-US" sz="1100" spc="0" kern="0" b="0" i="0" dirty="0">
                <a:solidFill>
                  <a:srgbClr val="CED7E6"/>
                </a:solidFill>
                <a:latin typeface="IBM Plex Sans"/>
                <a:ea typeface="IBM Plex Sans"/>
                <a:cs typeface="IBM Plex Sans"/>
              </a:endParaRPr>
            </a:p>
          </p:txBody>
        </p:sp>
      </p:grpSp>
      <p:grpSp>
        <p:nvGrpSpPr>
          <p:cNvPr id="98" name="node07"/>
          <p:cNvGrpSpPr/>
          <p:nvPr/>
        </p:nvGrpSpPr>
        <p:grpSpPr>
          <a:xfrm>
            <a:off x="4381500" y="1143000"/>
            <a:ext cx="3429000" cy="1828800"/>
            <a:chOff x="4381500" y="1143000"/>
            <a:chExt cx="3429000" cy="1828800"/>
          </a:xfrm>
        </p:grpSpPr>
        <p:sp>
          <p:nvSpPr>
            <p:cNvPr id="52" name="node07.container"/>
            <p:cNvSpPr/>
            <p:nvPr/>
          </p:nvSpPr>
          <p:spPr>
            <a:xfrm>
              <a:off x="4381500" y="1143000"/>
              <a:ext cx="3429000" cy="1828800"/>
            </a:xfrm>
            <a:prstGeom prst="rect">
              <a:avLst/>
            </a:prstGeom>
            <a:solidFill>
              <a:srgbClr val="E8EEF8"/>
            </a:solidFill>
            <a:ln>
              <a:noFill/>
            </a:ln>
          </p:spPr>
        </p:sp>
        <p:sp>
          <p:nvSpPr>
            <p:cNvPr id="53" name="node07.label"/>
            <p:cNvSpPr/>
            <p:nvPr/>
          </p:nvSpPr>
          <p:spPr>
            <a:xfrm>
              <a:off x="4533900" y="12954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OTHER FIRMS</a:t>
              </a:r>
              <a:endParaRPr lang="en-US" sz="800" spc="48" kern="0" b="0" i="0" dirty="0">
                <a:solidFill>
                  <a:srgbClr val="0047FF"/>
                </a:solidFill>
                <a:latin typeface="IBM Plex Mono Medium"/>
                <a:ea typeface="IBM Plex Mono Medium"/>
                <a:cs typeface="IBM Plex Mono Medium"/>
              </a:endParaRPr>
            </a:p>
          </p:txBody>
        </p:sp>
        <p:sp>
          <p:nvSpPr>
            <p:cNvPr id="54" name="node07.body.item-001.bullets.item-001.marker"/>
            <p:cNvSpPr/>
            <p:nvPr/>
          </p:nvSpPr>
          <p:spPr>
            <a:xfrm>
              <a:off x="4533900" y="1600200"/>
              <a:ext cx="38100" cy="38100"/>
            </a:xfrm>
            <a:prstGeom prst="rect">
              <a:avLst/>
            </a:prstGeom>
            <a:solidFill>
              <a:srgbClr val="070154"/>
            </a:solidFill>
            <a:ln>
              <a:noFill/>
            </a:ln>
          </p:spPr>
        </p:sp>
        <p:sp>
          <p:nvSpPr>
            <p:cNvPr id="55" name="node07.body.item-001.bullets.item-001.text"/>
            <p:cNvSpPr/>
            <p:nvPr/>
          </p:nvSpPr>
          <p:spPr>
            <a:xfrm>
              <a:off x="4686300" y="15113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One-time benefit capture</a:t>
              </a:r>
              <a:endParaRPr lang="en-US" sz="1200" spc="0" kern="0" b="0" i="0" dirty="0">
                <a:solidFill>
                  <a:srgbClr val="070154"/>
                </a:solidFill>
                <a:latin typeface="IBM Plex Sans"/>
                <a:ea typeface="IBM Plex Sans"/>
                <a:cs typeface="IBM Plex Sans"/>
              </a:endParaRPr>
            </a:p>
          </p:txBody>
        </p:sp>
        <p:sp>
          <p:nvSpPr>
            <p:cNvPr id="56" name="node07.body.item-001.bullets.item-002.marker"/>
            <p:cNvSpPr/>
            <p:nvPr/>
          </p:nvSpPr>
          <p:spPr>
            <a:xfrm>
              <a:off x="4533900" y="1854200"/>
              <a:ext cx="38100" cy="38100"/>
            </a:xfrm>
            <a:prstGeom prst="rect">
              <a:avLst/>
            </a:prstGeom>
            <a:solidFill>
              <a:srgbClr val="070154"/>
            </a:solidFill>
            <a:ln>
              <a:noFill/>
            </a:ln>
          </p:spPr>
        </p:sp>
        <p:sp>
          <p:nvSpPr>
            <p:cNvPr id="57" name="node07.body.item-001.bullets.item-002.text"/>
            <p:cNvSpPr/>
            <p:nvPr/>
          </p:nvSpPr>
          <p:spPr>
            <a:xfrm>
              <a:off x="4686300" y="17653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Technology-focused</a:t>
              </a:r>
              <a:endParaRPr lang="en-US" sz="1200" spc="0" kern="0" b="0" i="0" dirty="0">
                <a:solidFill>
                  <a:srgbClr val="070154"/>
                </a:solidFill>
                <a:latin typeface="IBM Plex Sans"/>
                <a:ea typeface="IBM Plex Sans"/>
                <a:cs typeface="IBM Plex Sans"/>
              </a:endParaRPr>
            </a:p>
          </p:txBody>
        </p:sp>
        <p:sp>
          <p:nvSpPr>
            <p:cNvPr id="58" name="node07.body.item-001.bullets.item-003.marker"/>
            <p:cNvSpPr/>
            <p:nvPr/>
          </p:nvSpPr>
          <p:spPr>
            <a:xfrm>
              <a:off x="4533900" y="2108200"/>
              <a:ext cx="38100" cy="38100"/>
            </a:xfrm>
            <a:prstGeom prst="rect">
              <a:avLst/>
            </a:prstGeom>
            <a:solidFill>
              <a:srgbClr val="070154"/>
            </a:solidFill>
            <a:ln>
              <a:noFill/>
            </a:ln>
          </p:spPr>
        </p:sp>
        <p:sp>
          <p:nvSpPr>
            <p:cNvPr id="59" name="node07.body.item-001.bullets.item-003.text"/>
            <p:cNvSpPr/>
            <p:nvPr/>
          </p:nvSpPr>
          <p:spPr>
            <a:xfrm>
              <a:off x="4686300" y="20193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Generic blueprint</a:t>
              </a:r>
              <a:endParaRPr lang="en-US" sz="1200" spc="0" kern="0" b="0" i="0" dirty="0">
                <a:solidFill>
                  <a:srgbClr val="070154"/>
                </a:solidFill>
                <a:latin typeface="IBM Plex Sans"/>
                <a:ea typeface="IBM Plex Sans"/>
                <a:cs typeface="IBM Plex Sans"/>
              </a:endParaRPr>
            </a:p>
          </p:txBody>
        </p:sp>
        <p:sp>
          <p:nvSpPr>
            <p:cNvPr id="60" name="node07.body.item-001.bullets.item-004.marker"/>
            <p:cNvSpPr/>
            <p:nvPr/>
          </p:nvSpPr>
          <p:spPr>
            <a:xfrm>
              <a:off x="4533900" y="2362200"/>
              <a:ext cx="38100" cy="38100"/>
            </a:xfrm>
            <a:prstGeom prst="rect">
              <a:avLst/>
            </a:prstGeom>
            <a:solidFill>
              <a:srgbClr val="070154"/>
            </a:solidFill>
            <a:ln>
              <a:noFill/>
            </a:ln>
          </p:spPr>
        </p:sp>
        <p:sp>
          <p:nvSpPr>
            <p:cNvPr id="61" name="node07.body.item-001.bullets.item-004.text"/>
            <p:cNvSpPr/>
            <p:nvPr/>
          </p:nvSpPr>
          <p:spPr>
            <a:xfrm>
              <a:off x="4686300" y="22733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Siloed workstreams</a:t>
              </a:r>
              <a:endParaRPr lang="en-US" sz="1200" spc="0" kern="0" b="0" i="0" dirty="0">
                <a:solidFill>
                  <a:srgbClr val="070154"/>
                </a:solidFill>
                <a:latin typeface="IBM Plex Sans"/>
                <a:ea typeface="IBM Plex Sans"/>
                <a:cs typeface="IBM Plex Sans"/>
              </a:endParaRPr>
            </a:p>
          </p:txBody>
        </p:sp>
        <p:sp>
          <p:nvSpPr>
            <p:cNvPr id="62" name="node07.body.item-001.bullets.item-005.marker"/>
            <p:cNvSpPr/>
            <p:nvPr/>
          </p:nvSpPr>
          <p:spPr>
            <a:xfrm>
              <a:off x="4533900" y="2616200"/>
              <a:ext cx="38100" cy="38100"/>
            </a:xfrm>
            <a:prstGeom prst="rect">
              <a:avLst/>
            </a:prstGeom>
            <a:solidFill>
              <a:srgbClr val="070154"/>
            </a:solidFill>
            <a:ln>
              <a:noFill/>
            </a:ln>
          </p:spPr>
        </p:sp>
        <p:sp>
          <p:nvSpPr>
            <p:cNvPr id="63" name="node07.body.item-001.bullets.item-005.text"/>
            <p:cNvSpPr/>
            <p:nvPr/>
          </p:nvSpPr>
          <p:spPr>
            <a:xfrm>
              <a:off x="4686300" y="25273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Vendor-led delivery</a:t>
              </a:r>
              <a:endParaRPr lang="en-US" sz="1200" spc="0" kern="0" b="0" i="0" dirty="0">
                <a:solidFill>
                  <a:srgbClr val="070154"/>
                </a:solidFill>
                <a:latin typeface="IBM Plex Sans"/>
                <a:ea typeface="IBM Plex Sans"/>
                <a:cs typeface="IBM Plex Sans"/>
              </a:endParaRPr>
            </a:p>
          </p:txBody>
        </p:sp>
      </p:grpSp>
      <p:grpSp>
        <p:nvGrpSpPr>
          <p:cNvPr id="99" name="node08"/>
          <p:cNvGrpSpPr/>
          <p:nvPr/>
        </p:nvGrpSpPr>
        <p:grpSpPr>
          <a:xfrm>
            <a:off x="8039100" y="1143000"/>
            <a:ext cx="3429000" cy="1828800"/>
            <a:chOff x="8039100" y="1143000"/>
            <a:chExt cx="3429000" cy="1828800"/>
          </a:xfrm>
        </p:grpSpPr>
        <p:sp>
          <p:nvSpPr>
            <p:cNvPr id="64" name="node08.container"/>
            <p:cNvSpPr/>
            <p:nvPr/>
          </p:nvSpPr>
          <p:spPr>
            <a:xfrm>
              <a:off x="8039100" y="1143000"/>
              <a:ext cx="3429000" cy="1828800"/>
            </a:xfrm>
            <a:prstGeom prst="rect">
              <a:avLst/>
            </a:prstGeom>
            <a:solidFill>
              <a:srgbClr val="070154"/>
            </a:solidFill>
            <a:ln>
              <a:noFill/>
            </a:ln>
          </p:spPr>
        </p:sp>
        <p:sp>
          <p:nvSpPr>
            <p:cNvPr id="65" name="node08.label"/>
            <p:cNvSpPr/>
            <p:nvPr/>
          </p:nvSpPr>
          <p:spPr>
            <a:xfrm>
              <a:off x="8191500" y="12954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HOW WE WORK</a:t>
              </a:r>
              <a:endParaRPr lang="en-US" sz="800" spc="48" kern="0" b="0" i="0" dirty="0">
                <a:solidFill>
                  <a:srgbClr val="F900D3"/>
                </a:solidFill>
                <a:latin typeface="IBM Plex Mono Medium"/>
                <a:ea typeface="IBM Plex Mono Medium"/>
                <a:cs typeface="IBM Plex Mono Medium"/>
              </a:endParaRPr>
            </a:p>
          </p:txBody>
        </p:sp>
        <p:sp>
          <p:nvSpPr>
            <p:cNvPr id="66" name="node08.body.item-001.bullets.item-001.marker"/>
            <p:cNvSpPr/>
            <p:nvPr/>
          </p:nvSpPr>
          <p:spPr>
            <a:xfrm>
              <a:off x="8191500" y="1600200"/>
              <a:ext cx="38100" cy="38100"/>
            </a:xfrm>
            <a:prstGeom prst="rect">
              <a:avLst/>
            </a:prstGeom>
            <a:solidFill>
              <a:srgbClr val="FFFFFF"/>
            </a:solidFill>
            <a:ln>
              <a:noFill/>
            </a:ln>
          </p:spPr>
        </p:sp>
        <p:sp>
          <p:nvSpPr>
            <p:cNvPr id="67" name="node08.body.item-001.bullets.item-001.text"/>
            <p:cNvSpPr/>
            <p:nvPr/>
          </p:nvSpPr>
          <p:spPr>
            <a:xfrm>
              <a:off x="8343900" y="15113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Iterative path to go-live</a:t>
              </a:r>
              <a:endParaRPr lang="en-US" sz="1200" spc="0" kern="0" b="0" i="0" dirty="0">
                <a:solidFill>
                  <a:srgbClr val="FFFFFF"/>
                </a:solidFill>
                <a:latin typeface="IBM Plex Sans"/>
                <a:ea typeface="IBM Plex Sans"/>
                <a:cs typeface="IBM Plex Sans"/>
              </a:endParaRPr>
            </a:p>
          </p:txBody>
        </p:sp>
        <p:sp>
          <p:nvSpPr>
            <p:cNvPr id="68" name="node08.body.item-001.bullets.item-002.marker"/>
            <p:cNvSpPr/>
            <p:nvPr/>
          </p:nvSpPr>
          <p:spPr>
            <a:xfrm>
              <a:off x="8191500" y="1854200"/>
              <a:ext cx="38100" cy="38100"/>
            </a:xfrm>
            <a:prstGeom prst="rect">
              <a:avLst/>
            </a:prstGeom>
            <a:solidFill>
              <a:srgbClr val="FFFFFF"/>
            </a:solidFill>
            <a:ln>
              <a:noFill/>
            </a:ln>
          </p:spPr>
        </p:sp>
        <p:sp>
          <p:nvSpPr>
            <p:cNvPr id="69" name="node08.body.item-001.bullets.item-002.text"/>
            <p:cNvSpPr/>
            <p:nvPr/>
          </p:nvSpPr>
          <p:spPr>
            <a:xfrm>
              <a:off x="8343900" y="17653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Platform-product focus</a:t>
              </a:r>
              <a:endParaRPr lang="en-US" sz="1200" spc="0" kern="0" b="0" i="0" dirty="0">
                <a:solidFill>
                  <a:srgbClr val="FFFFFF"/>
                </a:solidFill>
                <a:latin typeface="IBM Plex Sans"/>
                <a:ea typeface="IBM Plex Sans"/>
                <a:cs typeface="IBM Plex Sans"/>
              </a:endParaRPr>
            </a:p>
          </p:txBody>
        </p:sp>
        <p:sp>
          <p:nvSpPr>
            <p:cNvPr id="70" name="node08.body.item-001.bullets.item-003.marker"/>
            <p:cNvSpPr/>
            <p:nvPr/>
          </p:nvSpPr>
          <p:spPr>
            <a:xfrm>
              <a:off x="8191500" y="2108200"/>
              <a:ext cx="38100" cy="38100"/>
            </a:xfrm>
            <a:prstGeom prst="rect">
              <a:avLst/>
            </a:prstGeom>
            <a:solidFill>
              <a:srgbClr val="FFFFFF"/>
            </a:solidFill>
            <a:ln>
              <a:noFill/>
            </a:ln>
          </p:spPr>
        </p:sp>
        <p:sp>
          <p:nvSpPr>
            <p:cNvPr id="71" name="node08.body.item-001.bullets.item-003.text"/>
            <p:cNvSpPr/>
            <p:nvPr/>
          </p:nvSpPr>
          <p:spPr>
            <a:xfrm>
              <a:off x="8343900" y="20193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Integrated architecture</a:t>
              </a:r>
              <a:endParaRPr lang="en-US" sz="1200" spc="0" kern="0" b="0" i="0" dirty="0">
                <a:solidFill>
                  <a:srgbClr val="FFFFFF"/>
                </a:solidFill>
                <a:latin typeface="IBM Plex Sans"/>
                <a:ea typeface="IBM Plex Sans"/>
                <a:cs typeface="IBM Plex Sans"/>
              </a:endParaRPr>
            </a:p>
          </p:txBody>
        </p:sp>
        <p:sp>
          <p:nvSpPr>
            <p:cNvPr id="72" name="node08.body.item-001.bullets.item-004.marker"/>
            <p:cNvSpPr/>
            <p:nvPr/>
          </p:nvSpPr>
          <p:spPr>
            <a:xfrm>
              <a:off x="8191500" y="2362200"/>
              <a:ext cx="38100" cy="38100"/>
            </a:xfrm>
            <a:prstGeom prst="rect">
              <a:avLst/>
            </a:prstGeom>
            <a:solidFill>
              <a:srgbClr val="FFFFFF"/>
            </a:solidFill>
            <a:ln>
              <a:noFill/>
            </a:ln>
          </p:spPr>
        </p:sp>
        <p:sp>
          <p:nvSpPr>
            <p:cNvPr id="73" name="node08.body.item-001.bullets.item-004.text"/>
            <p:cNvSpPr/>
            <p:nvPr/>
          </p:nvSpPr>
          <p:spPr>
            <a:xfrm>
              <a:off x="8343900" y="22733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Player-coach partnership</a:t>
              </a:r>
              <a:endParaRPr lang="en-US" sz="1200" spc="0" kern="0" b="0" i="0" dirty="0">
                <a:solidFill>
                  <a:srgbClr val="FFFFFF"/>
                </a:solidFill>
                <a:latin typeface="IBM Plex Sans"/>
                <a:ea typeface="IBM Plex Sans"/>
                <a:cs typeface="IBM Plex Sans"/>
              </a:endParaRPr>
            </a:p>
          </p:txBody>
        </p:sp>
        <p:sp>
          <p:nvSpPr>
            <p:cNvPr id="74" name="node08.body.item-001.bullets.item-005.marker"/>
            <p:cNvSpPr/>
            <p:nvPr/>
          </p:nvSpPr>
          <p:spPr>
            <a:xfrm>
              <a:off x="8191500" y="2616200"/>
              <a:ext cx="38100" cy="38100"/>
            </a:xfrm>
            <a:prstGeom prst="rect">
              <a:avLst/>
            </a:prstGeom>
            <a:solidFill>
              <a:srgbClr val="FFFFFF"/>
            </a:solidFill>
            <a:ln>
              <a:noFill/>
            </a:ln>
          </p:spPr>
        </p:sp>
        <p:sp>
          <p:nvSpPr>
            <p:cNvPr id="75" name="node08.body.item-001.bullets.item-005.text"/>
            <p:cNvSpPr/>
            <p:nvPr/>
          </p:nvSpPr>
          <p:spPr>
            <a:xfrm>
              <a:off x="8343900" y="25273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Cross-discipline teams</a:t>
              </a:r>
              <a:endParaRPr lang="en-US" sz="1200" spc="0" kern="0" b="0" i="0" dirty="0">
                <a:solidFill>
                  <a:srgbClr val="FFFFFF"/>
                </a:solidFill>
                <a:latin typeface="IBM Plex Sans"/>
                <a:ea typeface="IBM Plex Sans"/>
                <a:cs typeface="IBM Plex Sans"/>
              </a:endParaRPr>
            </a:p>
          </p:txBody>
        </p:sp>
      </p:grpSp>
      <p:grpSp>
        <p:nvGrpSpPr>
          <p:cNvPr id="100" name="node09"/>
          <p:cNvGrpSpPr/>
          <p:nvPr/>
        </p:nvGrpSpPr>
        <p:grpSpPr>
          <a:xfrm>
            <a:off x="7810500" y="2014779"/>
            <a:ext cx="228600" cy="85242"/>
            <a:chOff x="7810500" y="2014779"/>
            <a:chExt cx="228600" cy="85242"/>
          </a:xfrm>
        </p:grpSpPr>
        <p:sp>
          <p:nvSpPr>
            <p:cNvPr id="76" name="node09.segment-1"/>
            <p:cNvSpPr/>
            <p:nvPr/>
          </p:nvSpPr>
          <p:spPr>
            <a:xfrm>
              <a:off x="7810500" y="20574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77" name="node09.head-end.0"/>
            <p:cNvSpPr/>
            <p:nvPr/>
          </p:nvSpPr>
          <p:spPr>
            <a:xfrm>
              <a:off x="7961083" y="20574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78" name="node09.head-end.1"/>
            <p:cNvSpPr/>
            <p:nvPr/>
          </p:nvSpPr>
          <p:spPr>
            <a:xfrm>
              <a:off x="7961083" y="20147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01" name="node10"/>
          <p:cNvGrpSpPr/>
          <p:nvPr/>
        </p:nvGrpSpPr>
        <p:grpSpPr>
          <a:xfrm>
            <a:off x="4381500" y="3200400"/>
            <a:ext cx="7086600" cy="139700"/>
            <a:chOff x="4381500" y="3200400"/>
            <a:chExt cx="7086600" cy="139700"/>
          </a:xfrm>
        </p:grpSpPr>
        <p:sp>
          <p:nvSpPr>
            <p:cNvPr id="79" name="node10.text"/>
            <p:cNvSpPr/>
            <p:nvPr/>
          </p:nvSpPr>
          <p:spPr>
            <a:xfrm>
              <a:off x="4381500" y="32004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THAT MEANS FOR YOU</a:t>
              </a:r>
              <a:endParaRPr lang="en-US" sz="800" spc="48" kern="0" b="0" i="0" dirty="0">
                <a:solidFill>
                  <a:srgbClr val="0047FF"/>
                </a:solidFill>
                <a:latin typeface="IBM Plex Mono Medium"/>
                <a:ea typeface="IBM Plex Mono Medium"/>
                <a:cs typeface="IBM Plex Mono Medium"/>
              </a:endParaRPr>
            </a:p>
          </p:txBody>
        </p:sp>
      </p:grpSp>
      <p:grpSp>
        <p:nvGrpSpPr>
          <p:cNvPr id="103" name="node11"/>
          <p:cNvGrpSpPr/>
          <p:nvPr/>
        </p:nvGrpSpPr>
        <p:grpSpPr>
          <a:xfrm>
            <a:off x="4381500" y="3429000"/>
            <a:ext cx="685800" cy="685800"/>
            <a:chOff x="4381500" y="3429000"/>
            <a:chExt cx="685800" cy="685800"/>
          </a:xfrm>
        </p:grpSpPr>
        <p:sp>
          <p:nvSpPr>
            <p:cNvPr id="80" name="node11.surface"/>
            <p:cNvSpPr/>
            <p:nvPr/>
          </p:nvSpPr>
          <p:spPr>
            <a:xfrm>
              <a:off x="4381500" y="3429000"/>
              <a:ext cx="685800" cy="685800"/>
            </a:xfrm>
            <a:prstGeom prst="rect">
              <a:avLst/>
            </a:prstGeom>
            <a:solidFill>
              <a:srgbClr val="E8EEF8"/>
            </a:solidFill>
            <a:ln>
              <a:noFill/>
            </a:ln>
          </p:spPr>
        </p:sp>
        <p:grpSp>
          <p:nvGrpSpPr>
            <p:cNvPr id="102" name="node11.icon"/>
            <p:cNvGrpSpPr/>
            <p:nvPr/>
          </p:nvGrpSpPr>
          <p:grpSpPr>
            <a:xfrm>
              <a:off x="4533900" y="3581400"/>
              <a:ext cx="381000" cy="381000"/>
              <a:chOff x="4533900" y="3581400"/>
              <a:chExt cx="381000" cy="381000"/>
            </a:xfrm>
          </p:grpSpPr>
          <p:pic>
            <p:nvPicPr>
              <p:cNvPr id="81" name="node11.icon.image" descr="icon/growth-person/navy; canonical SHA256=f4af7b2abdb5c2b1b0dd313eabe94e5f6f21fb8ecb2da4579d3bef4ce735d546">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33900" y="3581400"/>
                <a:ext cx="381000" cy="381000"/>
              </a:xfrm>
              <a:prstGeom prst="rect">
                <a:avLst/>
              </a:prstGeom>
            </p:spPr>
          </p:pic>
        </p:grpSp>
      </p:grpSp>
      <p:grpSp>
        <p:nvGrpSpPr>
          <p:cNvPr id="104" name="node12"/>
          <p:cNvGrpSpPr/>
          <p:nvPr/>
        </p:nvGrpSpPr>
        <p:grpSpPr>
          <a:xfrm>
            <a:off x="5219700" y="3429000"/>
            <a:ext cx="2590800" cy="685800"/>
            <a:chOff x="5219700" y="3429000"/>
            <a:chExt cx="2590800" cy="685800"/>
          </a:xfrm>
        </p:grpSpPr>
        <p:sp>
          <p:nvSpPr>
            <p:cNvPr id="82" name="node12.text"/>
            <p:cNvSpPr/>
            <p:nvPr/>
          </p:nvSpPr>
          <p:spPr>
            <a:xfrm>
              <a:off x="5219700" y="35560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 build the capability to own, run and evolve the platform.</a:t>
              </a:r>
              <a:endParaRPr lang="en-US" sz="1200" spc="0" kern="0" b="0" i="0" dirty="0">
                <a:solidFill>
                  <a:srgbClr val="070154"/>
                </a:solidFill>
                <a:latin typeface="IBM Plex Sans"/>
                <a:ea typeface="IBM Plex Sans"/>
                <a:cs typeface="IBM Plex Sans"/>
              </a:endParaRPr>
            </a:p>
          </p:txBody>
        </p:sp>
      </p:grpSp>
      <p:grpSp>
        <p:nvGrpSpPr>
          <p:cNvPr id="106" name="node13"/>
          <p:cNvGrpSpPr/>
          <p:nvPr/>
        </p:nvGrpSpPr>
        <p:grpSpPr>
          <a:xfrm>
            <a:off x="8039100" y="3429000"/>
            <a:ext cx="685800" cy="685800"/>
            <a:chOff x="8039100" y="3429000"/>
            <a:chExt cx="685800" cy="685800"/>
          </a:xfrm>
        </p:grpSpPr>
        <p:sp>
          <p:nvSpPr>
            <p:cNvPr id="83" name="node13.surface"/>
            <p:cNvSpPr/>
            <p:nvPr/>
          </p:nvSpPr>
          <p:spPr>
            <a:xfrm>
              <a:off x="8039100" y="3429000"/>
              <a:ext cx="685800" cy="685800"/>
            </a:xfrm>
            <a:prstGeom prst="rect">
              <a:avLst/>
            </a:prstGeom>
            <a:solidFill>
              <a:srgbClr val="E8EEF8"/>
            </a:solidFill>
            <a:ln>
              <a:noFill/>
            </a:ln>
          </p:spPr>
        </p:sp>
        <p:grpSp>
          <p:nvGrpSpPr>
            <p:cNvPr id="105" name="node13.icon"/>
            <p:cNvGrpSpPr/>
            <p:nvPr/>
          </p:nvGrpSpPr>
          <p:grpSpPr>
            <a:xfrm>
              <a:off x="8191500" y="3581400"/>
              <a:ext cx="381000" cy="381000"/>
              <a:chOff x="8191500" y="3581400"/>
              <a:chExt cx="381000" cy="381000"/>
            </a:xfrm>
          </p:grpSpPr>
          <p:pic>
            <p:nvPicPr>
              <p:cNvPr id="84" name="node13.icon.image" descr="icon/team-huddle/navy; canonical SHA256=0810b0327bab4c67b9ad5494cd579ab1166b6cab738efd10be95638de3481f2f">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91500" y="3581400"/>
                <a:ext cx="381000" cy="381000"/>
              </a:xfrm>
              <a:prstGeom prst="rect">
                <a:avLst/>
              </a:prstGeom>
            </p:spPr>
          </p:pic>
        </p:grpSp>
      </p:grpSp>
      <p:grpSp>
        <p:nvGrpSpPr>
          <p:cNvPr id="107" name="node14"/>
          <p:cNvGrpSpPr/>
          <p:nvPr/>
        </p:nvGrpSpPr>
        <p:grpSpPr>
          <a:xfrm>
            <a:off x="8877300" y="3429000"/>
            <a:ext cx="2590800" cy="685800"/>
            <a:chOff x="8877300" y="3429000"/>
            <a:chExt cx="2590800" cy="685800"/>
          </a:xfrm>
        </p:grpSpPr>
        <p:sp>
          <p:nvSpPr>
            <p:cNvPr id="85" name="node14.text"/>
            <p:cNvSpPr/>
            <p:nvPr/>
          </p:nvSpPr>
          <p:spPr>
            <a:xfrm>
              <a:off x="8877300" y="35560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Cross-functional teams work together through delivery.</a:t>
              </a:r>
              <a:endParaRPr lang="en-US" sz="1200" spc="0" kern="0" b="0" i="0" dirty="0">
                <a:solidFill>
                  <a:srgbClr val="070154"/>
                </a:solidFill>
                <a:latin typeface="IBM Plex Sans"/>
                <a:ea typeface="IBM Plex Sans"/>
                <a:cs typeface="IBM Plex Sans"/>
              </a:endParaRPr>
            </a:p>
          </p:txBody>
        </p:sp>
      </p:grpSp>
      <p:grpSp>
        <p:nvGrpSpPr>
          <p:cNvPr id="109" name="node15"/>
          <p:cNvGrpSpPr/>
          <p:nvPr/>
        </p:nvGrpSpPr>
        <p:grpSpPr>
          <a:xfrm>
            <a:off x="4381500" y="4572000"/>
            <a:ext cx="685800" cy="685800"/>
            <a:chOff x="4381500" y="4572000"/>
            <a:chExt cx="685800" cy="685800"/>
          </a:xfrm>
        </p:grpSpPr>
        <p:sp>
          <p:nvSpPr>
            <p:cNvPr id="86" name="node15.surface"/>
            <p:cNvSpPr/>
            <p:nvPr/>
          </p:nvSpPr>
          <p:spPr>
            <a:xfrm>
              <a:off x="4381500" y="4572000"/>
              <a:ext cx="685800" cy="685800"/>
            </a:xfrm>
            <a:prstGeom prst="rect">
              <a:avLst/>
            </a:prstGeom>
            <a:solidFill>
              <a:srgbClr val="E8EEF8"/>
            </a:solidFill>
            <a:ln>
              <a:noFill/>
            </a:ln>
          </p:spPr>
        </p:sp>
        <p:grpSp>
          <p:nvGrpSpPr>
            <p:cNvPr id="108" name="node15.icon"/>
            <p:cNvGrpSpPr/>
            <p:nvPr/>
          </p:nvGrpSpPr>
          <p:grpSpPr>
            <a:xfrm>
              <a:off x="4533900" y="4724400"/>
              <a:ext cx="381000" cy="381000"/>
              <a:chOff x="4533900" y="4724400"/>
              <a:chExt cx="381000" cy="381000"/>
            </a:xfrm>
          </p:grpSpPr>
          <p:pic>
            <p:nvPicPr>
              <p:cNvPr id="87" name="node15.icon.image" descr="icon/circuit-layers/navy; canonical SHA256=2ce3a8535eb05461000a5746d05993417b90c0a0d12821ebfa41597a7ffad94f">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33900" y="4724400"/>
                <a:ext cx="381000" cy="381000"/>
              </a:xfrm>
              <a:prstGeom prst="rect">
                <a:avLst/>
              </a:prstGeom>
            </p:spPr>
          </p:pic>
        </p:grpSp>
      </p:grpSp>
      <p:grpSp>
        <p:nvGrpSpPr>
          <p:cNvPr id="110" name="node16"/>
          <p:cNvGrpSpPr/>
          <p:nvPr/>
        </p:nvGrpSpPr>
        <p:grpSpPr>
          <a:xfrm>
            <a:off x="5219700" y="4572000"/>
            <a:ext cx="2590800" cy="685800"/>
            <a:chOff x="5219700" y="4572000"/>
            <a:chExt cx="2590800" cy="685800"/>
          </a:xfrm>
        </p:grpSpPr>
        <p:sp>
          <p:nvSpPr>
            <p:cNvPr id="88" name="node16.text"/>
            <p:cNvSpPr/>
            <p:nvPr/>
          </p:nvSpPr>
          <p:spPr>
            <a:xfrm>
              <a:off x="5219700" y="46990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 apply data, cloud, security and change expertise.</a:t>
              </a:r>
              <a:endParaRPr lang="en-US" sz="1200" spc="0" kern="0" b="0" i="0" dirty="0">
                <a:solidFill>
                  <a:srgbClr val="070154"/>
                </a:solidFill>
                <a:latin typeface="IBM Plex Sans"/>
                <a:ea typeface="IBM Plex Sans"/>
                <a:cs typeface="IBM Plex Sans"/>
              </a:endParaRPr>
            </a:p>
          </p:txBody>
        </p:sp>
      </p:grpSp>
      <p:grpSp>
        <p:nvGrpSpPr>
          <p:cNvPr id="112" name="node17"/>
          <p:cNvGrpSpPr/>
          <p:nvPr/>
        </p:nvGrpSpPr>
        <p:grpSpPr>
          <a:xfrm>
            <a:off x="8039100" y="4572000"/>
            <a:ext cx="685800" cy="685800"/>
            <a:chOff x="8039100" y="4572000"/>
            <a:chExt cx="685800" cy="685800"/>
          </a:xfrm>
        </p:grpSpPr>
        <p:sp>
          <p:nvSpPr>
            <p:cNvPr id="89" name="node17.surface"/>
            <p:cNvSpPr/>
            <p:nvPr/>
          </p:nvSpPr>
          <p:spPr>
            <a:xfrm>
              <a:off x="8039100" y="4572000"/>
              <a:ext cx="685800" cy="685800"/>
            </a:xfrm>
            <a:prstGeom prst="rect">
              <a:avLst/>
            </a:prstGeom>
            <a:solidFill>
              <a:srgbClr val="E8EEF8"/>
            </a:solidFill>
            <a:ln>
              <a:noFill/>
            </a:ln>
          </p:spPr>
        </p:sp>
        <p:grpSp>
          <p:nvGrpSpPr>
            <p:cNvPr id="111" name="node17.icon"/>
            <p:cNvGrpSpPr/>
            <p:nvPr/>
          </p:nvGrpSpPr>
          <p:grpSpPr>
            <a:xfrm>
              <a:off x="8191500" y="4724400"/>
              <a:ext cx="381000" cy="381000"/>
              <a:chOff x="8191500" y="4724400"/>
              <a:chExt cx="381000" cy="381000"/>
            </a:xfrm>
          </p:grpSpPr>
          <p:pic>
            <p:nvPicPr>
              <p:cNvPr id="90" name="node17.icon.image" descr="icon/target-arrow/navy; canonical SHA256=d7be3489d4c720d338cad319f07d0f5d4613e221b5ae04fe7e8f497c9849348f">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91500" y="4724400"/>
                <a:ext cx="381000" cy="381000"/>
              </a:xfrm>
              <a:prstGeom prst="rect">
                <a:avLst/>
              </a:prstGeom>
            </p:spPr>
          </p:pic>
        </p:grpSp>
      </p:grpSp>
      <p:grpSp>
        <p:nvGrpSpPr>
          <p:cNvPr id="113" name="node18"/>
          <p:cNvGrpSpPr/>
          <p:nvPr/>
        </p:nvGrpSpPr>
        <p:grpSpPr>
          <a:xfrm>
            <a:off x="8877300" y="4572000"/>
            <a:ext cx="2590800" cy="685800"/>
            <a:chOff x="8877300" y="4572000"/>
            <a:chExt cx="2590800" cy="685800"/>
          </a:xfrm>
        </p:grpSpPr>
        <p:sp>
          <p:nvSpPr>
            <p:cNvPr id="91" name="node18.text"/>
            <p:cNvSpPr/>
            <p:nvPr/>
          </p:nvSpPr>
          <p:spPr>
            <a:xfrm>
              <a:off x="8877300" y="46990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 set measurable goals for speed, adoption and cost.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ource-21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 · PHASE 2</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Reusable patterns speed up the platform build</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engineering patterns, Northfield delivery plan.</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45</a:t>
            </a:fld>
            <a:endParaRPr lang="en-US" sz="700" spc="0" kern="0" b="0" i="0" dirty="0">
              <a:solidFill>
                <a:srgbClr val="070154"/>
              </a:solidFill>
              <a:latin typeface="IBM Plex Mono SemiBold"/>
              <a:ea typeface="IBM Plex Mono SemiBold"/>
              <a:cs typeface="IBM Plex Mono SemiBold"/>
            </a:endParaRPr>
          </a:p>
        </p:txBody>
      </p:sp>
      <p:grpSp>
        <p:nvGrpSpPr>
          <p:cNvPr id="67" name="node01"/>
          <p:cNvGrpSpPr/>
          <p:nvPr/>
        </p:nvGrpSpPr>
        <p:grpSpPr>
          <a:xfrm>
            <a:off x="723900" y="1600200"/>
            <a:ext cx="2514600" cy="1143000"/>
            <a:chOff x="723900" y="1600200"/>
            <a:chExt cx="2514600" cy="1143000"/>
          </a:xfrm>
        </p:grpSpPr>
        <p:sp>
          <p:nvSpPr>
            <p:cNvPr id="7" name="node01.container"/>
            <p:cNvSpPr/>
            <p:nvPr/>
          </p:nvSpPr>
          <p:spPr>
            <a:xfrm>
              <a:off x="723900" y="1600200"/>
              <a:ext cx="2514600" cy="1143000"/>
            </a:xfrm>
            <a:prstGeom prst="rect">
              <a:avLst/>
            </a:prstGeom>
            <a:solidFill>
              <a:srgbClr val="E8EEF8"/>
            </a:solidFill>
            <a:ln>
              <a:noFill/>
            </a:ln>
          </p:spPr>
        </p:sp>
        <p:sp>
          <p:nvSpPr>
            <p:cNvPr id="8" name="node01.label"/>
            <p:cNvSpPr/>
            <p:nvPr/>
          </p:nvSpPr>
          <p:spPr>
            <a:xfrm>
              <a:off x="838200" y="17145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PREBUILT INGESTION</a:t>
              </a:r>
              <a:endParaRPr lang="en-US" sz="800" spc="48" kern="0" b="0" i="0" dirty="0">
                <a:solidFill>
                  <a:srgbClr val="0047FF"/>
                </a:solidFill>
                <a:latin typeface="IBM Plex Mono Medium"/>
                <a:ea typeface="IBM Plex Mono Medium"/>
                <a:cs typeface="IBM Plex Mono Medium"/>
              </a:endParaRPr>
            </a:p>
          </p:txBody>
        </p:sp>
        <p:sp>
          <p:nvSpPr>
            <p:cNvPr id="9" name="node01.body.item-001.paragraph"/>
            <p:cNvSpPr/>
            <p:nvPr/>
          </p:nvSpPr>
          <p:spPr>
            <a:xfrm>
              <a:off x="838200" y="1930400"/>
              <a:ext cx="2286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Standard pipelines land data from varied sources in one common model.</a:t>
              </a:r>
              <a:endParaRPr lang="en-US" sz="1200" spc="0" kern="0" b="0" i="0" dirty="0">
                <a:solidFill>
                  <a:srgbClr val="50658E"/>
                </a:solidFill>
                <a:latin typeface="IBM Plex Sans"/>
                <a:ea typeface="IBM Plex Sans"/>
                <a:cs typeface="IBM Plex Sans"/>
              </a:endParaRPr>
            </a:p>
          </p:txBody>
        </p:sp>
      </p:grpSp>
      <p:grpSp>
        <p:nvGrpSpPr>
          <p:cNvPr id="68" name="node02"/>
          <p:cNvGrpSpPr/>
          <p:nvPr/>
        </p:nvGrpSpPr>
        <p:grpSpPr>
          <a:xfrm>
            <a:off x="3695700" y="1600200"/>
            <a:ext cx="4800600" cy="1143000"/>
            <a:chOff x="3695700" y="1600200"/>
            <a:chExt cx="4800600" cy="1143000"/>
          </a:xfrm>
        </p:grpSpPr>
        <p:sp>
          <p:nvSpPr>
            <p:cNvPr id="10" name="node02.container"/>
            <p:cNvSpPr/>
            <p:nvPr/>
          </p:nvSpPr>
          <p:spPr>
            <a:xfrm>
              <a:off x="3695700" y="1600200"/>
              <a:ext cx="4800600" cy="1143000"/>
            </a:xfrm>
            <a:prstGeom prst="rect">
              <a:avLst/>
            </a:prstGeom>
            <a:solidFill>
              <a:srgbClr val="E8EEF8"/>
            </a:solidFill>
            <a:ln>
              <a:noFill/>
            </a:ln>
          </p:spPr>
        </p:sp>
        <p:sp>
          <p:nvSpPr>
            <p:cNvPr id="11" name="node02.label"/>
            <p:cNvSpPr/>
            <p:nvPr/>
          </p:nvSpPr>
          <p:spPr>
            <a:xfrm>
              <a:off x="3810000" y="1714500"/>
              <a:ext cx="4572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CONFIGURATION-DRIVEN PIPELINES</a:t>
              </a:r>
              <a:endParaRPr lang="en-US" sz="800" spc="48" kern="0" b="0" i="0" dirty="0">
                <a:solidFill>
                  <a:srgbClr val="0047FF"/>
                </a:solidFill>
                <a:latin typeface="IBM Plex Mono Medium"/>
                <a:ea typeface="IBM Plex Mono Medium"/>
                <a:cs typeface="IBM Plex Mono Medium"/>
              </a:endParaRPr>
            </a:p>
          </p:txBody>
        </p:sp>
        <p:sp>
          <p:nvSpPr>
            <p:cNvPr id="12" name="node02.body.item-001.paragraph"/>
            <p:cNvSpPr/>
            <p:nvPr/>
          </p:nvSpPr>
          <p:spPr>
            <a:xfrm>
              <a:off x="3810000" y="1930400"/>
              <a:ext cx="4572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Pipelines are built and changed through configuration, so new feeds take hours rather than weeks, and every change is reviewed.</a:t>
              </a:r>
              <a:endParaRPr lang="en-US" sz="1200" spc="0" kern="0" b="0" i="0" dirty="0">
                <a:solidFill>
                  <a:srgbClr val="50658E"/>
                </a:solidFill>
                <a:latin typeface="IBM Plex Sans"/>
                <a:ea typeface="IBM Plex Sans"/>
                <a:cs typeface="IBM Plex Sans"/>
              </a:endParaRPr>
            </a:p>
          </p:txBody>
        </p:sp>
      </p:grpSp>
      <p:grpSp>
        <p:nvGrpSpPr>
          <p:cNvPr id="69" name="node03"/>
          <p:cNvGrpSpPr/>
          <p:nvPr/>
        </p:nvGrpSpPr>
        <p:grpSpPr>
          <a:xfrm>
            <a:off x="8953500" y="1600200"/>
            <a:ext cx="2514600" cy="1143000"/>
            <a:chOff x="8953500" y="1600200"/>
            <a:chExt cx="2514600" cy="1143000"/>
          </a:xfrm>
        </p:grpSpPr>
        <p:sp>
          <p:nvSpPr>
            <p:cNvPr id="13" name="node03.container"/>
            <p:cNvSpPr/>
            <p:nvPr/>
          </p:nvSpPr>
          <p:spPr>
            <a:xfrm>
              <a:off x="8953500" y="1600200"/>
              <a:ext cx="2514600" cy="1143000"/>
            </a:xfrm>
            <a:prstGeom prst="rect">
              <a:avLst/>
            </a:prstGeom>
            <a:solidFill>
              <a:srgbClr val="E8EEF8"/>
            </a:solidFill>
            <a:ln>
              <a:noFill/>
            </a:ln>
          </p:spPr>
        </p:sp>
        <p:sp>
          <p:nvSpPr>
            <p:cNvPr id="14" name="node03.label"/>
            <p:cNvSpPr/>
            <p:nvPr/>
          </p:nvSpPr>
          <p:spPr>
            <a:xfrm>
              <a:off x="9067800" y="17145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METADATA-DRIVEN TRACKING</a:t>
              </a:r>
              <a:endParaRPr lang="en-US" sz="800" spc="48" kern="0" b="0" i="0" dirty="0">
                <a:solidFill>
                  <a:srgbClr val="0047FF"/>
                </a:solidFill>
                <a:latin typeface="IBM Plex Mono Medium"/>
                <a:ea typeface="IBM Plex Mono Medium"/>
                <a:cs typeface="IBM Plex Mono Medium"/>
              </a:endParaRPr>
            </a:p>
          </p:txBody>
        </p:sp>
        <p:sp>
          <p:nvSpPr>
            <p:cNvPr id="15" name="node03.body.item-001.paragraph"/>
            <p:cNvSpPr/>
            <p:nvPr/>
          </p:nvSpPr>
          <p:spPr>
            <a:xfrm>
              <a:off x="9067800" y="1930400"/>
              <a:ext cx="2286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Parameters define what, where and when data moves, and log every run.</a:t>
              </a:r>
              <a:endParaRPr lang="en-US" sz="1200" spc="0" kern="0" b="0" i="0" dirty="0">
                <a:solidFill>
                  <a:srgbClr val="50658E"/>
                </a:solidFill>
                <a:latin typeface="IBM Plex Sans"/>
                <a:ea typeface="IBM Plex Sans"/>
                <a:cs typeface="IBM Plex Sans"/>
              </a:endParaRPr>
            </a:p>
          </p:txBody>
        </p:sp>
      </p:grpSp>
      <p:grpSp>
        <p:nvGrpSpPr>
          <p:cNvPr id="70" name="node04"/>
          <p:cNvGrpSpPr/>
          <p:nvPr/>
        </p:nvGrpSpPr>
        <p:grpSpPr>
          <a:xfrm>
            <a:off x="723900" y="2971800"/>
            <a:ext cx="2514600" cy="1143000"/>
            <a:chOff x="723900" y="2971800"/>
            <a:chExt cx="2514600" cy="1143000"/>
          </a:xfrm>
        </p:grpSpPr>
        <p:sp>
          <p:nvSpPr>
            <p:cNvPr id="16" name="node04.container"/>
            <p:cNvSpPr/>
            <p:nvPr/>
          </p:nvSpPr>
          <p:spPr>
            <a:xfrm>
              <a:off x="723900" y="2971800"/>
              <a:ext cx="2514600" cy="1143000"/>
            </a:xfrm>
            <a:prstGeom prst="rect">
              <a:avLst/>
            </a:prstGeom>
            <a:solidFill>
              <a:srgbClr val="E8EEF8"/>
            </a:solidFill>
            <a:ln>
              <a:noFill/>
            </a:ln>
          </p:spPr>
        </p:sp>
        <p:sp>
          <p:nvSpPr>
            <p:cNvPr id="17" name="node04.label"/>
            <p:cNvSpPr/>
            <p:nvPr/>
          </p:nvSpPr>
          <p:spPr>
            <a:xfrm>
              <a:off x="838200" y="30861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AI-ASSISTED DATA MODELING</a:t>
              </a:r>
              <a:endParaRPr lang="en-US" sz="800" spc="48" kern="0" b="0" i="0" dirty="0">
                <a:solidFill>
                  <a:srgbClr val="0047FF"/>
                </a:solidFill>
                <a:latin typeface="IBM Plex Mono Medium"/>
                <a:ea typeface="IBM Plex Mono Medium"/>
                <a:cs typeface="IBM Plex Mono Medium"/>
              </a:endParaRPr>
            </a:p>
          </p:txBody>
        </p:sp>
        <p:sp>
          <p:nvSpPr>
            <p:cNvPr id="18" name="node04.body.item-001.paragraph"/>
            <p:cNvSpPr/>
            <p:nvPr/>
          </p:nvSpPr>
          <p:spPr>
            <a:xfrm>
              <a:off x="838200" y="3302000"/>
              <a:ext cx="2286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Pairs with a modeling accelerator to speed up and standardize design.</a:t>
              </a:r>
              <a:endParaRPr lang="en-US" sz="1200" spc="0" kern="0" b="0" i="0" dirty="0">
                <a:solidFill>
                  <a:srgbClr val="50658E"/>
                </a:solidFill>
                <a:latin typeface="IBM Plex Sans"/>
                <a:ea typeface="IBM Plex Sans"/>
                <a:cs typeface="IBM Plex Sans"/>
              </a:endParaRPr>
            </a:p>
          </p:txBody>
        </p:sp>
      </p:grpSp>
      <p:grpSp>
        <p:nvGrpSpPr>
          <p:cNvPr id="71" name="node05"/>
          <p:cNvGrpSpPr/>
          <p:nvPr/>
        </p:nvGrpSpPr>
        <p:grpSpPr>
          <a:xfrm>
            <a:off x="8953500" y="2971800"/>
            <a:ext cx="2514600" cy="1143000"/>
            <a:chOff x="8953500" y="2971800"/>
            <a:chExt cx="2514600" cy="1143000"/>
          </a:xfrm>
        </p:grpSpPr>
        <p:sp>
          <p:nvSpPr>
            <p:cNvPr id="19" name="node05.container"/>
            <p:cNvSpPr/>
            <p:nvPr/>
          </p:nvSpPr>
          <p:spPr>
            <a:xfrm>
              <a:off x="8953500" y="2971800"/>
              <a:ext cx="2514600" cy="1143000"/>
            </a:xfrm>
            <a:prstGeom prst="rect">
              <a:avLst/>
            </a:prstGeom>
            <a:solidFill>
              <a:srgbClr val="E8EEF8"/>
            </a:solidFill>
            <a:ln>
              <a:noFill/>
            </a:ln>
          </p:spPr>
        </p:sp>
        <p:sp>
          <p:nvSpPr>
            <p:cNvPr id="20" name="node05.label"/>
            <p:cNvSpPr/>
            <p:nvPr/>
          </p:nvSpPr>
          <p:spPr>
            <a:xfrm>
              <a:off x="9067800" y="30861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ANALYTICS TOOL INTEGRATION</a:t>
              </a:r>
              <a:endParaRPr lang="en-US" sz="800" spc="48" kern="0" b="0" i="0" dirty="0">
                <a:solidFill>
                  <a:srgbClr val="0047FF"/>
                </a:solidFill>
                <a:latin typeface="IBM Plex Mono Medium"/>
                <a:ea typeface="IBM Plex Mono Medium"/>
                <a:cs typeface="IBM Plex Mono Medium"/>
              </a:endParaRPr>
            </a:p>
          </p:txBody>
        </p:sp>
        <p:sp>
          <p:nvSpPr>
            <p:cNvPr id="21" name="node05.body.item-001.paragraph"/>
            <p:cNvSpPr/>
            <p:nvPr/>
          </p:nvSpPr>
          <p:spPr>
            <a:xfrm>
              <a:off x="9067800" y="3302000"/>
              <a:ext cx="2286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Insight reaches users inside the BI workflow they already use.</a:t>
              </a:r>
              <a:endParaRPr lang="en-US" sz="1200" spc="0" kern="0" b="0" i="0" dirty="0">
                <a:solidFill>
                  <a:srgbClr val="50658E"/>
                </a:solidFill>
                <a:latin typeface="IBM Plex Sans"/>
                <a:ea typeface="IBM Plex Sans"/>
                <a:cs typeface="IBM Plex Sans"/>
              </a:endParaRPr>
            </a:p>
          </p:txBody>
        </p:sp>
      </p:grpSp>
      <p:grpSp>
        <p:nvGrpSpPr>
          <p:cNvPr id="72" name="node06"/>
          <p:cNvGrpSpPr/>
          <p:nvPr/>
        </p:nvGrpSpPr>
        <p:grpSpPr>
          <a:xfrm>
            <a:off x="723900" y="4343400"/>
            <a:ext cx="2514600" cy="1143000"/>
            <a:chOff x="723900" y="4343400"/>
            <a:chExt cx="2514600" cy="1143000"/>
          </a:xfrm>
        </p:grpSpPr>
        <p:sp>
          <p:nvSpPr>
            <p:cNvPr id="22" name="node06.container"/>
            <p:cNvSpPr/>
            <p:nvPr/>
          </p:nvSpPr>
          <p:spPr>
            <a:xfrm>
              <a:off x="723900" y="4343400"/>
              <a:ext cx="2514600" cy="1143000"/>
            </a:xfrm>
            <a:prstGeom prst="rect">
              <a:avLst/>
            </a:prstGeom>
            <a:solidFill>
              <a:srgbClr val="E8EEF8"/>
            </a:solidFill>
            <a:ln>
              <a:noFill/>
            </a:ln>
          </p:spPr>
        </p:sp>
        <p:sp>
          <p:nvSpPr>
            <p:cNvPr id="23" name="node06.label"/>
            <p:cNvSpPr/>
            <p:nvPr/>
          </p:nvSpPr>
          <p:spPr>
            <a:xfrm>
              <a:off x="838200" y="44577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LOW-CODE AND NOTEBOOKS</a:t>
              </a:r>
              <a:endParaRPr lang="en-US" sz="800" spc="48" kern="0" b="0" i="0" dirty="0">
                <a:solidFill>
                  <a:srgbClr val="0047FF"/>
                </a:solidFill>
                <a:latin typeface="IBM Plex Mono Medium"/>
                <a:ea typeface="IBM Plex Mono Medium"/>
                <a:cs typeface="IBM Plex Mono Medium"/>
              </a:endParaRPr>
            </a:p>
          </p:txBody>
        </p:sp>
        <p:sp>
          <p:nvSpPr>
            <p:cNvPr id="24" name="node06.body.item-001.paragraph"/>
            <p:cNvSpPr/>
            <p:nvPr/>
          </p:nvSpPr>
          <p:spPr>
            <a:xfrm>
              <a:off x="838200" y="4673600"/>
              <a:ext cx="2286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Blended GUI and notebook steps orchestrate data movement end to end.</a:t>
              </a:r>
              <a:endParaRPr lang="en-US" sz="1200" spc="0" kern="0" b="0" i="0" dirty="0">
                <a:solidFill>
                  <a:srgbClr val="50658E"/>
                </a:solidFill>
                <a:latin typeface="IBM Plex Sans"/>
                <a:ea typeface="IBM Plex Sans"/>
                <a:cs typeface="IBM Plex Sans"/>
              </a:endParaRPr>
            </a:p>
          </p:txBody>
        </p:sp>
      </p:grpSp>
      <p:grpSp>
        <p:nvGrpSpPr>
          <p:cNvPr id="73" name="node07"/>
          <p:cNvGrpSpPr/>
          <p:nvPr/>
        </p:nvGrpSpPr>
        <p:grpSpPr>
          <a:xfrm>
            <a:off x="3695700" y="4343400"/>
            <a:ext cx="4800600" cy="1143000"/>
            <a:chOff x="3695700" y="4343400"/>
            <a:chExt cx="4800600" cy="1143000"/>
          </a:xfrm>
        </p:grpSpPr>
        <p:sp>
          <p:nvSpPr>
            <p:cNvPr id="25" name="node07.container"/>
            <p:cNvSpPr/>
            <p:nvPr/>
          </p:nvSpPr>
          <p:spPr>
            <a:xfrm>
              <a:off x="3695700" y="4343400"/>
              <a:ext cx="4800600" cy="1143000"/>
            </a:xfrm>
            <a:prstGeom prst="rect">
              <a:avLst/>
            </a:prstGeom>
            <a:solidFill>
              <a:srgbClr val="E8EEF8"/>
            </a:solidFill>
            <a:ln>
              <a:noFill/>
            </a:ln>
          </p:spPr>
        </p:sp>
        <p:sp>
          <p:nvSpPr>
            <p:cNvPr id="26" name="node07.label"/>
            <p:cNvSpPr/>
            <p:nvPr/>
          </p:nvSpPr>
          <p:spPr>
            <a:xfrm>
              <a:off x="3810000" y="4457700"/>
              <a:ext cx="4572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REUSABLE ASSETS</a:t>
              </a:r>
              <a:endParaRPr lang="en-US" sz="800" spc="48" kern="0" b="0" i="0" dirty="0">
                <a:solidFill>
                  <a:srgbClr val="0047FF"/>
                </a:solidFill>
                <a:latin typeface="IBM Plex Mono Medium"/>
                <a:ea typeface="IBM Plex Mono Medium"/>
                <a:cs typeface="IBM Plex Mono Medium"/>
              </a:endParaRPr>
            </a:p>
          </p:txBody>
        </p:sp>
        <p:sp>
          <p:nvSpPr>
            <p:cNvPr id="27" name="node07.body.item-001.paragraph"/>
            <p:cNvSpPr/>
            <p:nvPr/>
          </p:nvSpPr>
          <p:spPr>
            <a:xfrm>
              <a:off x="3810000" y="4673600"/>
              <a:ext cx="4572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Northfield keeps the pipelines, templates and tests to support future migrations, so each wave starts further ahead.</a:t>
              </a:r>
              <a:endParaRPr lang="en-US" sz="1200" spc="0" kern="0" b="0" i="0" dirty="0">
                <a:solidFill>
                  <a:srgbClr val="50658E"/>
                </a:solidFill>
                <a:latin typeface="IBM Plex Sans"/>
                <a:ea typeface="IBM Plex Sans"/>
                <a:cs typeface="IBM Plex Sans"/>
              </a:endParaRPr>
            </a:p>
          </p:txBody>
        </p:sp>
      </p:grpSp>
      <p:grpSp>
        <p:nvGrpSpPr>
          <p:cNvPr id="74" name="node08"/>
          <p:cNvGrpSpPr/>
          <p:nvPr/>
        </p:nvGrpSpPr>
        <p:grpSpPr>
          <a:xfrm>
            <a:off x="8953500" y="4343400"/>
            <a:ext cx="2514600" cy="1143000"/>
            <a:chOff x="8953500" y="4343400"/>
            <a:chExt cx="2514600" cy="1143000"/>
          </a:xfrm>
        </p:grpSpPr>
        <p:sp>
          <p:nvSpPr>
            <p:cNvPr id="28" name="node08.container"/>
            <p:cNvSpPr/>
            <p:nvPr/>
          </p:nvSpPr>
          <p:spPr>
            <a:xfrm>
              <a:off x="8953500" y="4343400"/>
              <a:ext cx="2514600" cy="1143000"/>
            </a:xfrm>
            <a:prstGeom prst="rect">
              <a:avLst/>
            </a:prstGeom>
            <a:solidFill>
              <a:srgbClr val="E8EEF8"/>
            </a:solidFill>
            <a:ln>
              <a:noFill/>
            </a:ln>
          </p:spPr>
        </p:sp>
        <p:sp>
          <p:nvSpPr>
            <p:cNvPr id="29" name="node08.label"/>
            <p:cNvSpPr/>
            <p:nvPr/>
          </p:nvSpPr>
          <p:spPr>
            <a:xfrm>
              <a:off x="9067800" y="44577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FAMILIAR TECHNOLOGY STACK</a:t>
              </a:r>
              <a:endParaRPr lang="en-US" sz="800" spc="48" kern="0" b="0" i="0" dirty="0">
                <a:solidFill>
                  <a:srgbClr val="0047FF"/>
                </a:solidFill>
                <a:latin typeface="IBM Plex Mono Medium"/>
                <a:ea typeface="IBM Plex Mono Medium"/>
                <a:cs typeface="IBM Plex Mono Medium"/>
              </a:endParaRPr>
            </a:p>
          </p:txBody>
        </p:sp>
        <p:sp>
          <p:nvSpPr>
            <p:cNvPr id="30" name="node08.body.item-001.paragraph"/>
            <p:cNvSpPr/>
            <p:nvPr/>
          </p:nvSpPr>
          <p:spPr>
            <a:xfrm>
              <a:off x="9067800" y="4673600"/>
              <a:ext cx="2286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Existing cloud skills carry over, so the move to the new tooling is smooth.</a:t>
              </a:r>
              <a:endParaRPr lang="en-US" sz="1200" spc="0" kern="0" b="0" i="0" dirty="0">
                <a:solidFill>
                  <a:srgbClr val="50658E"/>
                </a:solidFill>
                <a:latin typeface="IBM Plex Sans"/>
                <a:ea typeface="IBM Plex Sans"/>
                <a:cs typeface="IBM Plex Sans"/>
              </a:endParaRPr>
            </a:p>
          </p:txBody>
        </p:sp>
      </p:grpSp>
      <p:grpSp>
        <p:nvGrpSpPr>
          <p:cNvPr id="76" name="node09"/>
          <p:cNvGrpSpPr/>
          <p:nvPr/>
        </p:nvGrpSpPr>
        <p:grpSpPr>
          <a:xfrm>
            <a:off x="3467100" y="2971800"/>
            <a:ext cx="5257800" cy="1143000"/>
            <a:chOff x="3467100" y="2971800"/>
            <a:chExt cx="5257800" cy="1143000"/>
          </a:xfrm>
        </p:grpSpPr>
        <p:sp>
          <p:nvSpPr>
            <p:cNvPr id="31" name="node09.container"/>
            <p:cNvSpPr/>
            <p:nvPr/>
          </p:nvSpPr>
          <p:spPr>
            <a:xfrm>
              <a:off x="3467100" y="2971800"/>
              <a:ext cx="5257800" cy="1143000"/>
            </a:xfrm>
            <a:prstGeom prst="rect">
              <a:avLst/>
            </a:prstGeom>
            <a:solidFill>
              <a:srgbClr val="070154"/>
            </a:solidFill>
            <a:ln>
              <a:noFill/>
            </a:ln>
          </p:spPr>
        </p:sp>
        <p:grpSp>
          <p:nvGrpSpPr>
            <p:cNvPr id="75" name="node09.icon"/>
            <p:cNvGrpSpPr/>
            <p:nvPr/>
          </p:nvGrpSpPr>
          <p:grpSpPr>
            <a:xfrm>
              <a:off x="3619500" y="3124200"/>
              <a:ext cx="457200" cy="457200"/>
              <a:chOff x="3619500" y="3124200"/>
              <a:chExt cx="457200" cy="457200"/>
            </a:xfrm>
          </p:grpSpPr>
          <p:pic>
            <p:nvPicPr>
              <p:cNvPr id="32" name="node09.icon.image" descr="icon/ai-processor/white; canonical SHA256=849d14ddb6cf46d03590b6b597cf9066cd8e15e0fd96ff91467bdf83ef3b1ca9">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19500" y="3124200"/>
                <a:ext cx="457200" cy="457200"/>
              </a:xfrm>
              <a:prstGeom prst="rect">
                <a:avLst/>
              </a:prstGeom>
            </p:spPr>
          </p:pic>
        </p:grpSp>
        <p:sp>
          <p:nvSpPr>
            <p:cNvPr id="33" name="node09.title"/>
            <p:cNvSpPr/>
            <p:nvPr/>
          </p:nvSpPr>
          <p:spPr>
            <a:xfrm>
              <a:off x="4229100" y="3124200"/>
              <a:ext cx="43434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FFFFF"/>
                  </a:solidFill>
                  <a:latin typeface="IBM Plex Sans SemiBold"/>
                  <a:ea typeface="IBM Plex Sans SemiBold"/>
                  <a:cs typeface="IBM Plex Sans SemiBold"/>
                </a:rPr>
                <a:t>Benefits with AI support</a:t>
              </a:r>
              <a:endParaRPr lang="en-US" sz="2100" spc="-32" kern="0" b="0" i="0" dirty="0">
                <a:solidFill>
                  <a:srgbClr val="FFFFFF"/>
                </a:solidFill>
                <a:latin typeface="IBM Plex Sans SemiBold"/>
                <a:ea typeface="IBM Plex Sans SemiBold"/>
                <a:cs typeface="IBM Plex Sans SemiBold"/>
              </a:endParaRPr>
            </a:p>
          </p:txBody>
        </p:sp>
        <p:sp>
          <p:nvSpPr>
            <p:cNvPr id="34" name="node09.body.item-001.paragraph"/>
            <p:cNvSpPr/>
            <p:nvPr/>
          </p:nvSpPr>
          <p:spPr>
            <a:xfrm>
              <a:off x="4229100" y="3606800"/>
              <a:ext cx="4343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Faster build, less rework and consistent controls.</a:t>
              </a:r>
              <a:endParaRPr lang="en-US" sz="1200" spc="0" kern="0" b="0" i="0" dirty="0">
                <a:solidFill>
                  <a:srgbClr val="CED7E6"/>
                </a:solidFill>
                <a:latin typeface="IBM Plex Sans"/>
                <a:ea typeface="IBM Plex Sans"/>
                <a:cs typeface="IBM Plex Sans"/>
              </a:endParaRPr>
            </a:p>
          </p:txBody>
        </p:sp>
      </p:grpSp>
      <p:grpSp>
        <p:nvGrpSpPr>
          <p:cNvPr id="77" name="node10"/>
          <p:cNvGrpSpPr/>
          <p:nvPr/>
        </p:nvGrpSpPr>
        <p:grpSpPr>
          <a:xfrm>
            <a:off x="1981200" y="2743200"/>
            <a:ext cx="1985721" cy="228600"/>
            <a:chOff x="1981200" y="2743200"/>
            <a:chExt cx="1985721" cy="228600"/>
          </a:xfrm>
        </p:grpSpPr>
        <p:sp>
          <p:nvSpPr>
            <p:cNvPr id="35" name="node10.segment-1"/>
            <p:cNvSpPr/>
            <p:nvPr/>
          </p:nvSpPr>
          <p:spPr>
            <a:xfrm>
              <a:off x="1981200" y="2743200"/>
              <a:ext cx="0" cy="114300"/>
            </a:xfrm>
            <a:custGeom>
              <a:avLst/>
              <a:gdLst/>
              <a:ahLst/>
              <a:cxnLst/>
              <a:rect l="l" t="t" r="r" b="b"/>
              <a:pathLst>
                <a:path h="114300">
                  <a:moveTo>
                    <a:pt x="0" y="0"/>
                  </a:moveTo>
                  <a:lnTo>
                    <a:pt x="0" y="114300"/>
                  </a:lnTo>
                </a:path>
              </a:pathLst>
            </a:custGeom>
            <a:ln w="12700">
              <a:solidFill>
                <a:srgbClr val="070154"/>
              </a:solidFill>
              <a:prstDash val="solid"/>
            </a:ln>
          </p:spPr>
        </p:sp>
        <p:sp>
          <p:nvSpPr>
            <p:cNvPr id="36" name="node10.segment-2"/>
            <p:cNvSpPr/>
            <p:nvPr/>
          </p:nvSpPr>
          <p:spPr>
            <a:xfrm>
              <a:off x="1981200" y="2857500"/>
              <a:ext cx="1943100" cy="0"/>
            </a:xfrm>
            <a:custGeom>
              <a:avLst/>
              <a:gdLst/>
              <a:ahLst/>
              <a:cxnLst/>
              <a:rect l="l" t="t" r="r" b="b"/>
              <a:pathLst>
                <a:path w="1943100">
                  <a:moveTo>
                    <a:pt x="0" y="0"/>
                  </a:moveTo>
                  <a:lnTo>
                    <a:pt x="1943100" y="0"/>
                  </a:lnTo>
                </a:path>
              </a:pathLst>
            </a:custGeom>
            <a:ln w="12700">
              <a:solidFill>
                <a:srgbClr val="070154"/>
              </a:solidFill>
              <a:prstDash val="solid"/>
            </a:ln>
          </p:spPr>
        </p:sp>
        <p:sp>
          <p:nvSpPr>
            <p:cNvPr id="37" name="node10.segment-3"/>
            <p:cNvSpPr/>
            <p:nvPr/>
          </p:nvSpPr>
          <p:spPr>
            <a:xfrm>
              <a:off x="3924300" y="2857500"/>
              <a:ext cx="0" cy="114300"/>
            </a:xfrm>
            <a:custGeom>
              <a:avLst/>
              <a:gdLst/>
              <a:ahLst/>
              <a:cxnLst/>
              <a:rect l="l" t="t" r="r" b="b"/>
              <a:pathLst>
                <a:path h="114300">
                  <a:moveTo>
                    <a:pt x="0" y="0"/>
                  </a:moveTo>
                  <a:lnTo>
                    <a:pt x="0" y="114300"/>
                  </a:lnTo>
                </a:path>
              </a:pathLst>
            </a:custGeom>
            <a:ln w="12700">
              <a:solidFill>
                <a:srgbClr val="070154"/>
              </a:solidFill>
              <a:prstDash val="solid"/>
            </a:ln>
          </p:spPr>
        </p:sp>
        <p:sp>
          <p:nvSpPr>
            <p:cNvPr id="38" name="node10.head-end.0"/>
            <p:cNvSpPr/>
            <p:nvPr/>
          </p:nvSpPr>
          <p:spPr>
            <a:xfrm>
              <a:off x="3881679" y="28937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39" name="node10.head-end.1"/>
            <p:cNvSpPr/>
            <p:nvPr/>
          </p:nvSpPr>
          <p:spPr>
            <a:xfrm>
              <a:off x="3924300" y="28937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78" name="node11"/>
          <p:cNvGrpSpPr/>
          <p:nvPr/>
        </p:nvGrpSpPr>
        <p:grpSpPr>
          <a:xfrm>
            <a:off x="8225079" y="2743200"/>
            <a:ext cx="1985721" cy="228600"/>
            <a:chOff x="8225079" y="2743200"/>
            <a:chExt cx="1985721" cy="228600"/>
          </a:xfrm>
        </p:grpSpPr>
        <p:sp>
          <p:nvSpPr>
            <p:cNvPr id="40" name="node11.segment-1"/>
            <p:cNvSpPr/>
            <p:nvPr/>
          </p:nvSpPr>
          <p:spPr>
            <a:xfrm>
              <a:off x="10210800" y="2743200"/>
              <a:ext cx="0" cy="114300"/>
            </a:xfrm>
            <a:custGeom>
              <a:avLst/>
              <a:gdLst/>
              <a:ahLst/>
              <a:cxnLst/>
              <a:rect l="l" t="t" r="r" b="b"/>
              <a:pathLst>
                <a:path h="114300">
                  <a:moveTo>
                    <a:pt x="0" y="0"/>
                  </a:moveTo>
                  <a:lnTo>
                    <a:pt x="0" y="114300"/>
                  </a:lnTo>
                </a:path>
              </a:pathLst>
            </a:custGeom>
            <a:ln w="12700">
              <a:solidFill>
                <a:srgbClr val="070154"/>
              </a:solidFill>
              <a:prstDash val="solid"/>
            </a:ln>
          </p:spPr>
        </p:sp>
        <p:sp>
          <p:nvSpPr>
            <p:cNvPr id="41" name="node11.segment-2"/>
            <p:cNvSpPr/>
            <p:nvPr/>
          </p:nvSpPr>
          <p:spPr>
            <a:xfrm>
              <a:off x="8267700" y="2857500"/>
              <a:ext cx="1943100" cy="0"/>
            </a:xfrm>
            <a:custGeom>
              <a:avLst/>
              <a:gdLst/>
              <a:ahLst/>
              <a:cxnLst/>
              <a:rect l="l" t="t" r="r" b="b"/>
              <a:pathLst>
                <a:path w="1943100">
                  <a:moveTo>
                    <a:pt x="1943100" y="0"/>
                  </a:moveTo>
                  <a:lnTo>
                    <a:pt x="0" y="0"/>
                  </a:lnTo>
                </a:path>
              </a:pathLst>
            </a:custGeom>
            <a:ln w="12700">
              <a:solidFill>
                <a:srgbClr val="070154"/>
              </a:solidFill>
              <a:prstDash val="solid"/>
            </a:ln>
          </p:spPr>
        </p:sp>
        <p:sp>
          <p:nvSpPr>
            <p:cNvPr id="42" name="node11.segment-3"/>
            <p:cNvSpPr/>
            <p:nvPr/>
          </p:nvSpPr>
          <p:spPr>
            <a:xfrm>
              <a:off x="8267700" y="2857500"/>
              <a:ext cx="0" cy="114300"/>
            </a:xfrm>
            <a:custGeom>
              <a:avLst/>
              <a:gdLst/>
              <a:ahLst/>
              <a:cxnLst/>
              <a:rect l="l" t="t" r="r" b="b"/>
              <a:pathLst>
                <a:path h="114300">
                  <a:moveTo>
                    <a:pt x="0" y="0"/>
                  </a:moveTo>
                  <a:lnTo>
                    <a:pt x="0" y="114300"/>
                  </a:lnTo>
                </a:path>
              </a:pathLst>
            </a:custGeom>
            <a:ln w="12700">
              <a:solidFill>
                <a:srgbClr val="070154"/>
              </a:solidFill>
              <a:prstDash val="solid"/>
            </a:ln>
          </p:spPr>
        </p:sp>
        <p:sp>
          <p:nvSpPr>
            <p:cNvPr id="43" name="node11.head-end.0"/>
            <p:cNvSpPr/>
            <p:nvPr/>
          </p:nvSpPr>
          <p:spPr>
            <a:xfrm>
              <a:off x="8225079" y="28937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44" name="node11.head-end.1"/>
            <p:cNvSpPr/>
            <p:nvPr/>
          </p:nvSpPr>
          <p:spPr>
            <a:xfrm>
              <a:off x="8267700" y="28937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79" name="node12"/>
          <p:cNvGrpSpPr/>
          <p:nvPr/>
        </p:nvGrpSpPr>
        <p:grpSpPr>
          <a:xfrm>
            <a:off x="1981200" y="4114800"/>
            <a:ext cx="1985721" cy="228600"/>
            <a:chOff x="1981200" y="4114800"/>
            <a:chExt cx="1985721" cy="228600"/>
          </a:xfrm>
        </p:grpSpPr>
        <p:sp>
          <p:nvSpPr>
            <p:cNvPr id="45" name="node12.segment-1"/>
            <p:cNvSpPr/>
            <p:nvPr/>
          </p:nvSpPr>
          <p:spPr>
            <a:xfrm>
              <a:off x="1981200" y="4229100"/>
              <a:ext cx="0" cy="114300"/>
            </a:xfrm>
            <a:custGeom>
              <a:avLst/>
              <a:gdLst/>
              <a:ahLst/>
              <a:cxnLst/>
              <a:rect l="l" t="t" r="r" b="b"/>
              <a:pathLst>
                <a:path h="114300">
                  <a:moveTo>
                    <a:pt x="0" y="114300"/>
                  </a:moveTo>
                  <a:lnTo>
                    <a:pt x="0" y="0"/>
                  </a:lnTo>
                </a:path>
              </a:pathLst>
            </a:custGeom>
            <a:ln w="12700">
              <a:solidFill>
                <a:srgbClr val="070154"/>
              </a:solidFill>
              <a:prstDash val="solid"/>
            </a:ln>
          </p:spPr>
        </p:sp>
        <p:sp>
          <p:nvSpPr>
            <p:cNvPr id="46" name="node12.segment-2"/>
            <p:cNvSpPr/>
            <p:nvPr/>
          </p:nvSpPr>
          <p:spPr>
            <a:xfrm>
              <a:off x="1981200" y="4229100"/>
              <a:ext cx="1943100" cy="0"/>
            </a:xfrm>
            <a:custGeom>
              <a:avLst/>
              <a:gdLst/>
              <a:ahLst/>
              <a:cxnLst/>
              <a:rect l="l" t="t" r="r" b="b"/>
              <a:pathLst>
                <a:path w="1943100">
                  <a:moveTo>
                    <a:pt x="0" y="0"/>
                  </a:moveTo>
                  <a:lnTo>
                    <a:pt x="1943100" y="0"/>
                  </a:lnTo>
                </a:path>
              </a:pathLst>
            </a:custGeom>
            <a:ln w="12700">
              <a:solidFill>
                <a:srgbClr val="070154"/>
              </a:solidFill>
              <a:prstDash val="solid"/>
            </a:ln>
          </p:spPr>
        </p:sp>
        <p:sp>
          <p:nvSpPr>
            <p:cNvPr id="47" name="node12.segment-3"/>
            <p:cNvSpPr/>
            <p:nvPr/>
          </p:nvSpPr>
          <p:spPr>
            <a:xfrm>
              <a:off x="3924300" y="4114800"/>
              <a:ext cx="0" cy="114300"/>
            </a:xfrm>
            <a:custGeom>
              <a:avLst/>
              <a:gdLst/>
              <a:ahLst/>
              <a:cxnLst/>
              <a:rect l="l" t="t" r="r" b="b"/>
              <a:pathLst>
                <a:path h="114300">
                  <a:moveTo>
                    <a:pt x="0" y="114300"/>
                  </a:moveTo>
                  <a:lnTo>
                    <a:pt x="0" y="0"/>
                  </a:lnTo>
                </a:path>
              </a:pathLst>
            </a:custGeom>
            <a:ln w="12700">
              <a:solidFill>
                <a:srgbClr val="070154"/>
              </a:solidFill>
              <a:prstDash val="solid"/>
            </a:ln>
          </p:spPr>
        </p:sp>
        <p:sp>
          <p:nvSpPr>
            <p:cNvPr id="48" name="node12.head-end.0"/>
            <p:cNvSpPr/>
            <p:nvPr/>
          </p:nvSpPr>
          <p:spPr>
            <a:xfrm>
              <a:off x="3924300" y="41148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49" name="node12.head-end.1"/>
            <p:cNvSpPr/>
            <p:nvPr/>
          </p:nvSpPr>
          <p:spPr>
            <a:xfrm>
              <a:off x="3881679" y="41148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80" name="node13"/>
          <p:cNvGrpSpPr/>
          <p:nvPr/>
        </p:nvGrpSpPr>
        <p:grpSpPr>
          <a:xfrm>
            <a:off x="8225079" y="4114800"/>
            <a:ext cx="1985721" cy="228600"/>
            <a:chOff x="8225079" y="4114800"/>
            <a:chExt cx="1985721" cy="228600"/>
          </a:xfrm>
        </p:grpSpPr>
        <p:sp>
          <p:nvSpPr>
            <p:cNvPr id="50" name="node13.segment-1"/>
            <p:cNvSpPr/>
            <p:nvPr/>
          </p:nvSpPr>
          <p:spPr>
            <a:xfrm>
              <a:off x="10210800" y="4229100"/>
              <a:ext cx="0" cy="114300"/>
            </a:xfrm>
            <a:custGeom>
              <a:avLst/>
              <a:gdLst/>
              <a:ahLst/>
              <a:cxnLst/>
              <a:rect l="l" t="t" r="r" b="b"/>
              <a:pathLst>
                <a:path h="114300">
                  <a:moveTo>
                    <a:pt x="0" y="114300"/>
                  </a:moveTo>
                  <a:lnTo>
                    <a:pt x="0" y="0"/>
                  </a:lnTo>
                </a:path>
              </a:pathLst>
            </a:custGeom>
            <a:ln w="12700">
              <a:solidFill>
                <a:srgbClr val="070154"/>
              </a:solidFill>
              <a:prstDash val="solid"/>
            </a:ln>
          </p:spPr>
        </p:sp>
        <p:sp>
          <p:nvSpPr>
            <p:cNvPr id="51" name="node13.segment-2"/>
            <p:cNvSpPr/>
            <p:nvPr/>
          </p:nvSpPr>
          <p:spPr>
            <a:xfrm>
              <a:off x="8267700" y="4229100"/>
              <a:ext cx="1943100" cy="0"/>
            </a:xfrm>
            <a:custGeom>
              <a:avLst/>
              <a:gdLst/>
              <a:ahLst/>
              <a:cxnLst/>
              <a:rect l="l" t="t" r="r" b="b"/>
              <a:pathLst>
                <a:path w="1943100">
                  <a:moveTo>
                    <a:pt x="1943100" y="0"/>
                  </a:moveTo>
                  <a:lnTo>
                    <a:pt x="0" y="0"/>
                  </a:lnTo>
                </a:path>
              </a:pathLst>
            </a:custGeom>
            <a:ln w="12700">
              <a:solidFill>
                <a:srgbClr val="070154"/>
              </a:solidFill>
              <a:prstDash val="solid"/>
            </a:ln>
          </p:spPr>
        </p:sp>
        <p:sp>
          <p:nvSpPr>
            <p:cNvPr id="52" name="node13.segment-3"/>
            <p:cNvSpPr/>
            <p:nvPr/>
          </p:nvSpPr>
          <p:spPr>
            <a:xfrm>
              <a:off x="8267700" y="4114800"/>
              <a:ext cx="0" cy="114300"/>
            </a:xfrm>
            <a:custGeom>
              <a:avLst/>
              <a:gdLst/>
              <a:ahLst/>
              <a:cxnLst/>
              <a:rect l="l" t="t" r="r" b="b"/>
              <a:pathLst>
                <a:path h="114300">
                  <a:moveTo>
                    <a:pt x="0" y="114300"/>
                  </a:moveTo>
                  <a:lnTo>
                    <a:pt x="0" y="0"/>
                  </a:lnTo>
                </a:path>
              </a:pathLst>
            </a:custGeom>
            <a:ln w="12700">
              <a:solidFill>
                <a:srgbClr val="070154"/>
              </a:solidFill>
              <a:prstDash val="solid"/>
            </a:ln>
          </p:spPr>
        </p:sp>
        <p:sp>
          <p:nvSpPr>
            <p:cNvPr id="53" name="node13.head-end.0"/>
            <p:cNvSpPr/>
            <p:nvPr/>
          </p:nvSpPr>
          <p:spPr>
            <a:xfrm>
              <a:off x="8267700" y="41148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54" name="node13.head-end.1"/>
            <p:cNvSpPr/>
            <p:nvPr/>
          </p:nvSpPr>
          <p:spPr>
            <a:xfrm>
              <a:off x="8225079" y="41148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81" name="node14"/>
          <p:cNvGrpSpPr/>
          <p:nvPr/>
        </p:nvGrpSpPr>
        <p:grpSpPr>
          <a:xfrm>
            <a:off x="3238500" y="3500679"/>
            <a:ext cx="228600" cy="85242"/>
            <a:chOff x="3238500" y="3500679"/>
            <a:chExt cx="228600" cy="85242"/>
          </a:xfrm>
        </p:grpSpPr>
        <p:sp>
          <p:nvSpPr>
            <p:cNvPr id="55" name="node14.segment-1"/>
            <p:cNvSpPr/>
            <p:nvPr/>
          </p:nvSpPr>
          <p:spPr>
            <a:xfrm>
              <a:off x="3238500" y="35433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56" name="node14.head-end.0"/>
            <p:cNvSpPr/>
            <p:nvPr/>
          </p:nvSpPr>
          <p:spPr>
            <a:xfrm>
              <a:off x="33890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7" name="node14.head-end.1"/>
            <p:cNvSpPr/>
            <p:nvPr/>
          </p:nvSpPr>
          <p:spPr>
            <a:xfrm>
              <a:off x="33890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2" name="node15"/>
          <p:cNvGrpSpPr/>
          <p:nvPr/>
        </p:nvGrpSpPr>
        <p:grpSpPr>
          <a:xfrm>
            <a:off x="8724900" y="3500679"/>
            <a:ext cx="228600" cy="85242"/>
            <a:chOff x="8724900" y="3500679"/>
            <a:chExt cx="228600" cy="85242"/>
          </a:xfrm>
        </p:grpSpPr>
        <p:sp>
          <p:nvSpPr>
            <p:cNvPr id="58" name="node15.segment-1"/>
            <p:cNvSpPr/>
            <p:nvPr/>
          </p:nvSpPr>
          <p:spPr>
            <a:xfrm>
              <a:off x="8724900" y="3543300"/>
              <a:ext cx="228600" cy="0"/>
            </a:xfrm>
            <a:custGeom>
              <a:avLst/>
              <a:gdLst/>
              <a:ahLst/>
              <a:cxnLst/>
              <a:rect l="l" t="t" r="r" b="b"/>
              <a:pathLst>
                <a:path w="228600">
                  <a:moveTo>
                    <a:pt x="228600" y="0"/>
                  </a:moveTo>
                  <a:lnTo>
                    <a:pt x="0" y="0"/>
                  </a:lnTo>
                </a:path>
              </a:pathLst>
            </a:custGeom>
            <a:ln w="12700">
              <a:solidFill>
                <a:srgbClr val="070154"/>
              </a:solidFill>
              <a:prstDash val="solid"/>
            </a:ln>
          </p:spPr>
        </p:sp>
        <p:sp>
          <p:nvSpPr>
            <p:cNvPr id="59" name="node15.head-end.0"/>
            <p:cNvSpPr/>
            <p:nvPr/>
          </p:nvSpPr>
          <p:spPr>
            <a:xfrm>
              <a:off x="8724900" y="35006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60" name="node15.head-end.1"/>
            <p:cNvSpPr/>
            <p:nvPr/>
          </p:nvSpPr>
          <p:spPr>
            <a:xfrm>
              <a:off x="8724900" y="35433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83" name="node16"/>
          <p:cNvGrpSpPr/>
          <p:nvPr/>
        </p:nvGrpSpPr>
        <p:grpSpPr>
          <a:xfrm>
            <a:off x="6053379" y="2743200"/>
            <a:ext cx="85242" cy="228600"/>
            <a:chOff x="6053379" y="2743200"/>
            <a:chExt cx="85242" cy="228600"/>
          </a:xfrm>
        </p:grpSpPr>
        <p:sp>
          <p:nvSpPr>
            <p:cNvPr id="61" name="node16.segment-1"/>
            <p:cNvSpPr/>
            <p:nvPr/>
          </p:nvSpPr>
          <p:spPr>
            <a:xfrm>
              <a:off x="6096000" y="27432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62" name="node16.head-end.0"/>
            <p:cNvSpPr/>
            <p:nvPr/>
          </p:nvSpPr>
          <p:spPr>
            <a:xfrm>
              <a:off x="6053379" y="28937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63" name="node16.head-end.1"/>
            <p:cNvSpPr/>
            <p:nvPr/>
          </p:nvSpPr>
          <p:spPr>
            <a:xfrm>
              <a:off x="6096000" y="28937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84" name="node17"/>
          <p:cNvGrpSpPr/>
          <p:nvPr/>
        </p:nvGrpSpPr>
        <p:grpSpPr>
          <a:xfrm>
            <a:off x="6053379" y="4114800"/>
            <a:ext cx="85242" cy="228600"/>
            <a:chOff x="6053379" y="4114800"/>
            <a:chExt cx="85242" cy="228600"/>
          </a:xfrm>
        </p:grpSpPr>
        <p:sp>
          <p:nvSpPr>
            <p:cNvPr id="64" name="node17.segment-1"/>
            <p:cNvSpPr/>
            <p:nvPr/>
          </p:nvSpPr>
          <p:spPr>
            <a:xfrm>
              <a:off x="6096000" y="4114800"/>
              <a:ext cx="0" cy="228600"/>
            </a:xfrm>
            <a:custGeom>
              <a:avLst/>
              <a:gdLst/>
              <a:ahLst/>
              <a:cxnLst/>
              <a:rect l="l" t="t" r="r" b="b"/>
              <a:pathLst>
                <a:path h="228600">
                  <a:moveTo>
                    <a:pt x="0" y="228600"/>
                  </a:moveTo>
                  <a:lnTo>
                    <a:pt x="0" y="0"/>
                  </a:lnTo>
                </a:path>
              </a:pathLst>
            </a:custGeom>
            <a:ln w="12700">
              <a:solidFill>
                <a:srgbClr val="070154"/>
              </a:solidFill>
              <a:prstDash val="solid"/>
            </a:ln>
          </p:spPr>
        </p:sp>
        <p:sp>
          <p:nvSpPr>
            <p:cNvPr id="65" name="node17.head-end.0"/>
            <p:cNvSpPr/>
            <p:nvPr/>
          </p:nvSpPr>
          <p:spPr>
            <a:xfrm>
              <a:off x="6096000" y="41148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66" name="node17.head-end.1"/>
            <p:cNvSpPr/>
            <p:nvPr/>
          </p:nvSpPr>
          <p:spPr>
            <a:xfrm>
              <a:off x="6053379" y="41148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ource-60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VENDOR SELECTION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Vendor B leads the weighted scorecard</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46</a:t>
            </a:fld>
            <a:endParaRPr lang="en-US" sz="700" spc="0" kern="0" b="0" i="0" dirty="0">
              <a:solidFill>
                <a:srgbClr val="070154"/>
              </a:solidFill>
              <a:latin typeface="IBM Plex Mono SemiBold"/>
              <a:ea typeface="IBM Plex Mono SemiBold"/>
              <a:cs typeface="IBM Plex Mono SemiBold"/>
            </a:endParaRPr>
          </a:p>
        </p:txBody>
      </p:sp>
      <p:grpSp>
        <p:nvGrpSpPr>
          <p:cNvPr id="24" name="node01"/>
          <p:cNvGrpSpPr/>
          <p:nvPr/>
        </p:nvGrpSpPr>
        <p:grpSpPr>
          <a:xfrm>
            <a:off x="723900" y="1600200"/>
            <a:ext cx="7086600" cy="3657600"/>
            <a:chOff x="723900" y="1600200"/>
            <a:chExt cx="7086600" cy="3657600"/>
          </a:xfrm>
        </p:grpSpPr>
        <p:graphicFrame>
          <p:nvGraphicFramePr>
            <p:cNvPr id="6"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7086600" cy="3657600"/>
          </p:xfrm>
          <a:graphic>
            <a:graphicData uri="http://schemas.openxmlformats.org/drawingml/2006/table">
              <a:tbl>
                <a:tblPr/>
                <a:tblGrid>
                  <a:gridCol w="2514600"/>
                  <a:gridCol w="914400"/>
                  <a:gridCol w="1219200"/>
                  <a:gridCol w="1219200"/>
                  <a:gridCol w="1219200"/>
                </a:tblGrid>
                <a:tr h="4572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CRITERION</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WEIGHT</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VENDOR A</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100"/>
                          </a:lnSpc>
                          <a:spcBef>
                            <a:spcPts val="0"/>
                          </a:spcBef>
                          <a:spcAft>
                            <a:spcPts val="0"/>
                          </a:spcAft>
                          <a:buNone/>
                          <a:defRPr lang="en-US" sz="800" spc="48" kern="0" b="0" i="0" dirty="0">
                            <a:solidFill>
                              <a:srgbClr val="0047FF"/>
                            </a:solidFill>
                            <a:latin typeface="IBM Plex Mono SemiBold"/>
                            <a:ea typeface="IBM Plex Mono SemiBold"/>
                            <a:cs typeface="IBM Plex Mono SemiBold"/>
                          </a:defRPr>
                        </a:pPr>
                        <a:r>
                          <a:rPr lang="en-US" sz="800" spc="48" kern="0" b="0" i="0" dirty="0">
                            <a:solidFill>
                              <a:srgbClr val="0047FF"/>
                            </a:solidFill>
                            <a:latin typeface="IBM Plex Mono SemiBold"/>
                            <a:ea typeface="IBM Plex Mono SemiBold"/>
                            <a:cs typeface="IBM Plex Mono SemiBold"/>
                          </a:rPr>
                          <a:t xml:space="preserve">VENDOR B</a:t>
                        </a:r>
                        <a:endParaRPr lang="en-US" sz="800" spc="48" kern="0" b="0" i="0" dirty="0">
                          <a:solidFill>
                            <a:srgbClr val="0047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VENDOR C</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Functional fit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25%</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5</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Integration effort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5</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Security and compliance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Total cost of ownership</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15%</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5</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Vendor viability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Delivery support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Weighted total</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100%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3.45</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4.10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3.70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r>
              </a:tbl>
            </a:graphicData>
          </a:graphic>
        </p:graphicFrame>
        <p:sp>
          <p:nvSpPr>
            <p:cNvPr id="7" name="node01.highlight-edge"/>
            <p:cNvSpPr/>
            <p:nvPr/>
          </p:nvSpPr>
          <p:spPr>
            <a:xfrm>
              <a:off x="5372100" y="1562100"/>
              <a:ext cx="1219200" cy="38100"/>
            </a:xfrm>
            <a:prstGeom prst="rect">
              <a:avLst/>
            </a:prstGeom>
            <a:solidFill>
              <a:srgbClr val="0047FF"/>
            </a:solidFill>
            <a:ln>
              <a:noFill/>
            </a:ln>
          </p:spPr>
        </p:sp>
      </p:grpSp>
      <p:grpSp>
        <p:nvGrpSpPr>
          <p:cNvPr id="25" name="node02"/>
          <p:cNvGrpSpPr/>
          <p:nvPr/>
        </p:nvGrpSpPr>
        <p:grpSpPr>
          <a:xfrm>
            <a:off x="8039100" y="1600200"/>
            <a:ext cx="3429000" cy="3657600"/>
            <a:chOff x="8039100" y="1600200"/>
            <a:chExt cx="3429000" cy="3657600"/>
          </a:xfrm>
        </p:grpSpPr>
        <p:sp>
          <p:nvSpPr>
            <p:cNvPr id="8" name="node02.container"/>
            <p:cNvSpPr/>
            <p:nvPr/>
          </p:nvSpPr>
          <p:spPr>
            <a:xfrm>
              <a:off x="8039100" y="1600200"/>
              <a:ext cx="3429000" cy="3657600"/>
            </a:xfrm>
            <a:prstGeom prst="rect">
              <a:avLst/>
            </a:prstGeom>
            <a:solidFill>
              <a:srgbClr val="E8EEF8"/>
            </a:solidFill>
            <a:ln>
              <a:noFill/>
            </a:ln>
          </p:spPr>
        </p:sp>
        <p:sp>
          <p:nvSpPr>
            <p:cNvPr id="9" name="node02.edge"/>
            <p:cNvSpPr/>
            <p:nvPr/>
          </p:nvSpPr>
          <p:spPr>
            <a:xfrm>
              <a:off x="8039100" y="1600200"/>
              <a:ext cx="3429000" cy="38100"/>
            </a:xfrm>
            <a:prstGeom prst="rect">
              <a:avLst/>
            </a:prstGeom>
            <a:solidFill>
              <a:srgbClr val="0047FF"/>
            </a:solidFill>
            <a:ln>
              <a:noFill/>
            </a:ln>
          </p:spPr>
        </p:sp>
        <p:sp>
          <p:nvSpPr>
            <p:cNvPr id="10" name="node02.label"/>
            <p:cNvSpPr/>
            <p:nvPr/>
          </p:nvSpPr>
          <p:spPr>
            <a:xfrm>
              <a:off x="8267700" y="18669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RECOMMENDATION</a:t>
              </a:r>
              <a:endParaRPr lang="en-US" sz="800" spc="48" kern="0" b="0" i="0" dirty="0">
                <a:solidFill>
                  <a:srgbClr val="0047FF"/>
                </a:solidFill>
                <a:latin typeface="IBM Plex Mono Medium"/>
                <a:ea typeface="IBM Plex Mono Medium"/>
                <a:cs typeface="IBM Plex Mono Medium"/>
              </a:endParaRPr>
            </a:p>
          </p:txBody>
        </p:sp>
        <p:sp>
          <p:nvSpPr>
            <p:cNvPr id="11" name="node02.title"/>
            <p:cNvSpPr/>
            <p:nvPr/>
          </p:nvSpPr>
          <p:spPr>
            <a:xfrm>
              <a:off x="8267700" y="20828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Select Vendor B</a:t>
              </a:r>
              <a:endParaRPr lang="en-US" sz="1600" spc="-16" kern="0" b="0" i="0" dirty="0">
                <a:solidFill>
                  <a:srgbClr val="070154"/>
                </a:solidFill>
                <a:latin typeface="IBM Plex Sans SemiBold"/>
                <a:ea typeface="IBM Plex Sans SemiBold"/>
                <a:cs typeface="IBM Plex Sans SemiBold"/>
              </a:endParaRPr>
            </a:p>
          </p:txBody>
        </p:sp>
        <p:sp>
          <p:nvSpPr>
            <p:cNvPr id="12" name="node02.body.item-001.paragraph"/>
            <p:cNvSpPr/>
            <p:nvPr/>
          </p:nvSpPr>
          <p:spPr>
            <a:xfrm>
              <a:off x="8267700" y="2501900"/>
              <a:ext cx="2971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Vendor B scores highest overall and leads on functional fit and integration.</a:t>
              </a:r>
              <a:endParaRPr lang="en-US" sz="1200" spc="0" kern="0" b="0" i="0" dirty="0">
                <a:solidFill>
                  <a:srgbClr val="50658E"/>
                </a:solidFill>
                <a:latin typeface="IBM Plex Sans"/>
                <a:ea typeface="IBM Plex Sans"/>
                <a:cs typeface="IBM Plex Sans"/>
              </a:endParaRPr>
            </a:p>
          </p:txBody>
        </p:sp>
        <p:sp>
          <p:nvSpPr>
            <p:cNvPr id="13" name="node02.body.item-002.bullets.item-001.marker"/>
            <p:cNvSpPr/>
            <p:nvPr/>
          </p:nvSpPr>
          <p:spPr>
            <a:xfrm>
              <a:off x="8267700" y="3098800"/>
              <a:ext cx="38100" cy="38100"/>
            </a:xfrm>
            <a:prstGeom prst="rect">
              <a:avLst/>
            </a:prstGeom>
            <a:solidFill>
              <a:srgbClr val="070154"/>
            </a:solidFill>
            <a:ln>
              <a:noFill/>
            </a:ln>
          </p:spPr>
        </p:sp>
        <p:sp>
          <p:nvSpPr>
            <p:cNvPr id="14" name="node02.body.item-002.bullets.item-001.text"/>
            <p:cNvSpPr/>
            <p:nvPr/>
          </p:nvSpPr>
          <p:spPr>
            <a:xfrm>
              <a:off x="8420100" y="30099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Confirm security controls before contract</a:t>
              </a:r>
              <a:endParaRPr lang="en-US" sz="1200" spc="0" kern="0" b="0" i="0" dirty="0">
                <a:solidFill>
                  <a:srgbClr val="070154"/>
                </a:solidFill>
                <a:latin typeface="IBM Plex Sans"/>
                <a:ea typeface="IBM Plex Sans"/>
                <a:cs typeface="IBM Plex Sans"/>
              </a:endParaRPr>
            </a:p>
          </p:txBody>
        </p:sp>
        <p:sp>
          <p:nvSpPr>
            <p:cNvPr id="15" name="node02.body.item-002.bullets.item-002.marker"/>
            <p:cNvSpPr/>
            <p:nvPr/>
          </p:nvSpPr>
          <p:spPr>
            <a:xfrm>
              <a:off x="8267700" y="3352800"/>
              <a:ext cx="38100" cy="38100"/>
            </a:xfrm>
            <a:prstGeom prst="rect">
              <a:avLst/>
            </a:prstGeom>
            <a:solidFill>
              <a:srgbClr val="070154"/>
            </a:solidFill>
            <a:ln>
              <a:noFill/>
            </a:ln>
          </p:spPr>
        </p:sp>
        <p:sp>
          <p:nvSpPr>
            <p:cNvPr id="16" name="node02.body.item-002.bullets.item-002.text"/>
            <p:cNvSpPr/>
            <p:nvPr/>
          </p:nvSpPr>
          <p:spPr>
            <a:xfrm>
              <a:off x="8420100" y="32639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Negotiate the cost of ownership terms</a:t>
              </a:r>
              <a:endParaRPr lang="en-US" sz="1200" spc="0" kern="0" b="0" i="0" dirty="0">
                <a:solidFill>
                  <a:srgbClr val="070154"/>
                </a:solidFill>
                <a:latin typeface="IBM Plex Sans"/>
                <a:ea typeface="IBM Plex Sans"/>
                <a:cs typeface="IBM Plex Sans"/>
              </a:endParaRPr>
            </a:p>
          </p:txBody>
        </p:sp>
        <p:sp>
          <p:nvSpPr>
            <p:cNvPr id="17" name="node02.body.item-002.bullets.item-003.marker"/>
            <p:cNvSpPr/>
            <p:nvPr/>
          </p:nvSpPr>
          <p:spPr>
            <a:xfrm>
              <a:off x="8267700" y="3606800"/>
              <a:ext cx="38100" cy="38100"/>
            </a:xfrm>
            <a:prstGeom prst="rect">
              <a:avLst/>
            </a:prstGeom>
            <a:solidFill>
              <a:srgbClr val="070154"/>
            </a:solidFill>
            <a:ln>
              <a:noFill/>
            </a:ln>
          </p:spPr>
        </p:sp>
        <p:sp>
          <p:nvSpPr>
            <p:cNvPr id="18" name="node02.body.item-002.bullets.item-003.text"/>
            <p:cNvSpPr/>
            <p:nvPr/>
          </p:nvSpPr>
          <p:spPr>
            <a:xfrm>
              <a:off x="8420100" y="35179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Pilot with one Northfield business unit</a:t>
              </a:r>
              <a:endParaRPr lang="en-US" sz="1200" spc="0" kern="0" b="0" i="0" dirty="0">
                <a:solidFill>
                  <a:srgbClr val="070154"/>
                </a:solidFill>
                <a:latin typeface="IBM Plex Sans"/>
                <a:ea typeface="IBM Plex Sans"/>
                <a:cs typeface="IBM Plex Sans"/>
              </a:endParaRPr>
            </a:p>
          </p:txBody>
        </p:sp>
        <p:sp>
          <p:nvSpPr>
            <p:cNvPr id="19" name="node02.tag-bg"/>
            <p:cNvSpPr/>
            <p:nvPr/>
          </p:nvSpPr>
          <p:spPr>
            <a:xfrm>
              <a:off x="10559672" y="1600200"/>
              <a:ext cx="908428" cy="215900"/>
            </a:xfrm>
            <a:prstGeom prst="rect">
              <a:avLst/>
            </a:prstGeom>
            <a:solidFill>
              <a:srgbClr val="0047FF"/>
            </a:solidFill>
            <a:ln>
              <a:noFill/>
            </a:ln>
          </p:spPr>
        </p:sp>
        <p:sp>
          <p:nvSpPr>
            <p:cNvPr id="20" name="node02.tag"/>
            <p:cNvSpPr/>
            <p:nvPr/>
          </p:nvSpPr>
          <p:spPr>
            <a:xfrm>
              <a:off x="10635872" y="1638300"/>
              <a:ext cx="756028"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RECOMMENDED</a:t>
              </a:r>
              <a:endParaRPr lang="en-US" sz="800" spc="48" kern="0" b="0" i="0" dirty="0">
                <a:solidFill>
                  <a:srgbClr val="FFFFFF"/>
                </a:solidFill>
                <a:latin typeface="IBM Plex Mono SemiBold"/>
                <a:ea typeface="IBM Plex Mono SemiBold"/>
                <a:cs typeface="IBM Plex Mono SemiBold"/>
              </a:endParaRPr>
            </a:p>
          </p:txBody>
        </p:sp>
      </p:grpSp>
      <p:grpSp>
        <p:nvGrpSpPr>
          <p:cNvPr id="26" name="node03"/>
          <p:cNvGrpSpPr/>
          <p:nvPr/>
        </p:nvGrpSpPr>
        <p:grpSpPr>
          <a:xfrm>
            <a:off x="8267700" y="4191000"/>
            <a:ext cx="2971800" cy="509969"/>
            <a:chOff x="8267700" y="4191000"/>
            <a:chExt cx="2971800" cy="509969"/>
          </a:xfrm>
        </p:grpSpPr>
        <p:sp>
          <p:nvSpPr>
            <p:cNvPr id="21" name="node03.text"/>
            <p:cNvSpPr/>
            <p:nvPr/>
          </p:nvSpPr>
          <p:spPr>
            <a:xfrm>
              <a:off x="8267700" y="4191000"/>
              <a:ext cx="29718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4.10</a:t>
              </a:r>
              <a:endParaRPr lang="en-US" sz="4000" spc="-80" kern="0" b="0" i="0" dirty="0">
                <a:solidFill>
                  <a:srgbClr val="070154"/>
                </a:solidFill>
                <a:latin typeface="IBM Plex Mono SemiBold"/>
                <a:ea typeface="IBM Plex Mono SemiBold"/>
                <a:cs typeface="IBM Plex Mono SemiBold"/>
              </a:endParaRPr>
            </a:p>
          </p:txBody>
        </p:sp>
      </p:grpSp>
      <p:grpSp>
        <p:nvGrpSpPr>
          <p:cNvPr id="27" name="node04"/>
          <p:cNvGrpSpPr/>
          <p:nvPr/>
        </p:nvGrpSpPr>
        <p:grpSpPr>
          <a:xfrm>
            <a:off x="8267700" y="4876800"/>
            <a:ext cx="2971800" cy="190500"/>
            <a:chOff x="8267700" y="4876800"/>
            <a:chExt cx="2971800" cy="190500"/>
          </a:xfrm>
        </p:grpSpPr>
        <p:sp>
          <p:nvSpPr>
            <p:cNvPr id="22" name="node04.text"/>
            <p:cNvSpPr/>
            <p:nvPr/>
          </p:nvSpPr>
          <p:spPr>
            <a:xfrm>
              <a:off x="8267700" y="48768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Vendor B total, out of 5</a:t>
              </a:r>
              <a:endParaRPr lang="en-US" sz="1100" spc="0" kern="0" b="0" i="0" dirty="0">
                <a:solidFill>
                  <a:srgbClr val="50658E"/>
                </a:solidFill>
                <a:latin typeface="IBM Plex Sans"/>
                <a:ea typeface="IBM Plex Sans"/>
                <a:cs typeface="IBM Plex Sans"/>
              </a:endParaRPr>
            </a:p>
          </p:txBody>
        </p:sp>
      </p:grpSp>
      <p:grpSp>
        <p:nvGrpSpPr>
          <p:cNvPr id="28" name="node05"/>
          <p:cNvGrpSpPr/>
          <p:nvPr/>
        </p:nvGrpSpPr>
        <p:grpSpPr>
          <a:xfrm>
            <a:off x="723900" y="5486400"/>
            <a:ext cx="10744200" cy="190500"/>
            <a:chOff x="723900" y="5486400"/>
            <a:chExt cx="10744200" cy="190500"/>
          </a:xfrm>
        </p:grpSpPr>
        <p:sp>
          <p:nvSpPr>
            <p:cNvPr id="23" name="node05.text"/>
            <p:cNvSpPr/>
            <p:nvPr/>
          </p:nvSpPr>
          <p:spPr>
            <a:xfrm>
              <a:off x="723900" y="5486400"/>
              <a:ext cx="1074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Scores run 1 to 5, with 5 best. Weights were agreed with the steering committee and total 100%.</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ource-60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VENDOR OPTIONS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vendors, each with a clear trade-off</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47</a:t>
            </a:fld>
            <a:endParaRPr lang="en-US" sz="700" spc="0" kern="0" b="0" i="0" dirty="0">
              <a:solidFill>
                <a:srgbClr val="070154"/>
              </a:solidFill>
              <a:latin typeface="IBM Plex Mono SemiBold"/>
              <a:ea typeface="IBM Plex Mono SemiBold"/>
              <a:cs typeface="IBM Plex Mono SemiBold"/>
            </a:endParaRPr>
          </a:p>
        </p:txBody>
      </p:sp>
      <p:grpSp>
        <p:nvGrpSpPr>
          <p:cNvPr id="99" name="node01"/>
          <p:cNvGrpSpPr/>
          <p:nvPr/>
        </p:nvGrpSpPr>
        <p:grpSpPr>
          <a:xfrm>
            <a:off x="723900" y="1600200"/>
            <a:ext cx="3429000" cy="4343400"/>
            <a:chOff x="723900" y="1600200"/>
            <a:chExt cx="3429000" cy="4343400"/>
          </a:xfrm>
        </p:grpSpPr>
        <p:sp>
          <p:nvSpPr>
            <p:cNvPr id="6" name="node01.container"/>
            <p:cNvSpPr/>
            <p:nvPr/>
          </p:nvSpPr>
          <p:spPr>
            <a:xfrm>
              <a:off x="723900" y="1600200"/>
              <a:ext cx="3429000" cy="4343400"/>
            </a:xfrm>
            <a:prstGeom prst="rect">
              <a:avLst/>
            </a:prstGeom>
            <a:solidFill>
              <a:srgbClr val="E8EEF8"/>
            </a:solidFill>
            <a:ln>
              <a:noFill/>
            </a:ln>
          </p:spPr>
        </p:sp>
      </p:grpSp>
      <p:grpSp>
        <p:nvGrpSpPr>
          <p:cNvPr id="100" name="node02"/>
          <p:cNvGrpSpPr/>
          <p:nvPr/>
        </p:nvGrpSpPr>
        <p:grpSpPr>
          <a:xfrm>
            <a:off x="952500" y="1828800"/>
            <a:ext cx="1600200" cy="457200"/>
            <a:chOff x="952500" y="1828800"/>
            <a:chExt cx="1600200" cy="457200"/>
          </a:xfrm>
        </p:grpSpPr>
        <p:sp>
          <p:nvSpPr>
            <p:cNvPr id="7" name="node02.background"/>
            <p:cNvSpPr/>
            <p:nvPr/>
          </p:nvSpPr>
          <p:spPr>
            <a:xfrm>
              <a:off x="952500" y="1828800"/>
              <a:ext cx="1600200" cy="457200"/>
            </a:xfrm>
            <a:prstGeom prst="rect">
              <a:avLst/>
            </a:prstGeom>
            <a:solidFill>
              <a:srgbClr val="FFFFFF"/>
            </a:solidFill>
            <a:ln>
              <a:noFill/>
            </a:ln>
          </p:spPr>
        </p:sp>
        <p:sp>
          <p:nvSpPr>
            <p:cNvPr id="8" name="node02.hatch.000"/>
            <p:cNvSpPr/>
            <p:nvPr/>
          </p:nvSpPr>
          <p:spPr>
            <a:xfrm>
              <a:off x="952500" y="1828800"/>
              <a:ext cx="1600200" cy="457200"/>
            </a:xfrm>
            <a:custGeom>
              <a:avLst/>
              <a:gdLst/>
              <a:ahLst/>
              <a:cxnLst/>
              <a:rect l="l" t="t" r="r" b="b"/>
              <a:pathLst>
                <a:path w="1600200" h="457200">
                  <a:moveTo>
                    <a:pt x="0" y="215526"/>
                  </a:moveTo>
                  <a:lnTo>
                    <a:pt x="0" y="107763"/>
                  </a:lnTo>
                  <a:lnTo>
                    <a:pt x="107763" y="0"/>
                  </a:lnTo>
                  <a:lnTo>
                    <a:pt x="215526" y="0"/>
                  </a:lnTo>
                  <a:close/>
                </a:path>
              </a:pathLst>
            </a:custGeom>
            <a:solidFill>
              <a:srgbClr val="F3F6FC"/>
            </a:solidFill>
            <a:ln>
              <a:noFill/>
            </a:ln>
          </p:spPr>
        </p:sp>
        <p:sp>
          <p:nvSpPr>
            <p:cNvPr id="9" name="node02.hatch.001"/>
            <p:cNvSpPr/>
            <p:nvPr/>
          </p:nvSpPr>
          <p:spPr>
            <a:xfrm>
              <a:off x="952500" y="1828800"/>
              <a:ext cx="1600200" cy="457200"/>
            </a:xfrm>
            <a:custGeom>
              <a:avLst/>
              <a:gdLst/>
              <a:ahLst/>
              <a:cxnLst/>
              <a:rect l="l" t="t" r="r" b="b"/>
              <a:pathLst>
                <a:path w="1600200" h="457200">
                  <a:moveTo>
                    <a:pt x="0" y="431052"/>
                  </a:moveTo>
                  <a:lnTo>
                    <a:pt x="0" y="323289"/>
                  </a:lnTo>
                  <a:lnTo>
                    <a:pt x="323289" y="0"/>
                  </a:lnTo>
                  <a:lnTo>
                    <a:pt x="431052" y="0"/>
                  </a:lnTo>
                  <a:close/>
                </a:path>
              </a:pathLst>
            </a:custGeom>
            <a:solidFill>
              <a:srgbClr val="F3F6FC"/>
            </a:solidFill>
            <a:ln>
              <a:noFill/>
            </a:ln>
          </p:spPr>
        </p:sp>
        <p:sp>
          <p:nvSpPr>
            <p:cNvPr id="10" name="node02.hatch.002"/>
            <p:cNvSpPr/>
            <p:nvPr/>
          </p:nvSpPr>
          <p:spPr>
            <a:xfrm>
              <a:off x="952500" y="1828800"/>
              <a:ext cx="1600200" cy="457200"/>
            </a:xfrm>
            <a:custGeom>
              <a:avLst/>
              <a:gdLst/>
              <a:ahLst/>
              <a:cxnLst/>
              <a:rect l="l" t="t" r="r" b="b"/>
              <a:pathLst>
                <a:path w="1600200" h="457200">
                  <a:moveTo>
                    <a:pt x="538815" y="0"/>
                  </a:moveTo>
                  <a:lnTo>
                    <a:pt x="646578" y="0"/>
                  </a:lnTo>
                  <a:lnTo>
                    <a:pt x="189378" y="457200"/>
                  </a:lnTo>
                  <a:lnTo>
                    <a:pt x="81615" y="457200"/>
                  </a:lnTo>
                  <a:close/>
                </a:path>
              </a:pathLst>
            </a:custGeom>
            <a:solidFill>
              <a:srgbClr val="F3F6FC"/>
            </a:solidFill>
            <a:ln>
              <a:noFill/>
            </a:ln>
          </p:spPr>
        </p:sp>
        <p:sp>
          <p:nvSpPr>
            <p:cNvPr id="11" name="node02.hatch.003"/>
            <p:cNvSpPr/>
            <p:nvPr/>
          </p:nvSpPr>
          <p:spPr>
            <a:xfrm>
              <a:off x="952500" y="1828800"/>
              <a:ext cx="1600200" cy="457200"/>
            </a:xfrm>
            <a:custGeom>
              <a:avLst/>
              <a:gdLst/>
              <a:ahLst/>
              <a:cxnLst/>
              <a:rect l="l" t="t" r="r" b="b"/>
              <a:pathLst>
                <a:path w="1600200" h="457200">
                  <a:moveTo>
                    <a:pt x="754342" y="0"/>
                  </a:moveTo>
                  <a:lnTo>
                    <a:pt x="862105" y="0"/>
                  </a:lnTo>
                  <a:lnTo>
                    <a:pt x="404905" y="457200"/>
                  </a:lnTo>
                  <a:lnTo>
                    <a:pt x="297142" y="457200"/>
                  </a:lnTo>
                  <a:close/>
                </a:path>
              </a:pathLst>
            </a:custGeom>
            <a:solidFill>
              <a:srgbClr val="F3F6FC"/>
            </a:solidFill>
            <a:ln>
              <a:noFill/>
            </a:ln>
          </p:spPr>
        </p:sp>
        <p:sp>
          <p:nvSpPr>
            <p:cNvPr id="12" name="node02.hatch.004"/>
            <p:cNvSpPr/>
            <p:nvPr/>
          </p:nvSpPr>
          <p:spPr>
            <a:xfrm>
              <a:off x="952500" y="1828800"/>
              <a:ext cx="1600200" cy="457200"/>
            </a:xfrm>
            <a:custGeom>
              <a:avLst/>
              <a:gdLst/>
              <a:ahLst/>
              <a:cxnLst/>
              <a:rect l="l" t="t" r="r" b="b"/>
              <a:pathLst>
                <a:path w="1600200" h="457200">
                  <a:moveTo>
                    <a:pt x="969868" y="0"/>
                  </a:moveTo>
                  <a:lnTo>
                    <a:pt x="1077631" y="0"/>
                  </a:lnTo>
                  <a:lnTo>
                    <a:pt x="620431" y="457200"/>
                  </a:lnTo>
                  <a:lnTo>
                    <a:pt x="512668" y="457200"/>
                  </a:lnTo>
                  <a:close/>
                </a:path>
              </a:pathLst>
            </a:custGeom>
            <a:solidFill>
              <a:srgbClr val="F3F6FC"/>
            </a:solidFill>
            <a:ln>
              <a:noFill/>
            </a:ln>
          </p:spPr>
        </p:sp>
        <p:sp>
          <p:nvSpPr>
            <p:cNvPr id="13" name="node02.hatch.005"/>
            <p:cNvSpPr/>
            <p:nvPr/>
          </p:nvSpPr>
          <p:spPr>
            <a:xfrm>
              <a:off x="952500" y="1828800"/>
              <a:ext cx="1600200" cy="457200"/>
            </a:xfrm>
            <a:custGeom>
              <a:avLst/>
              <a:gdLst/>
              <a:ahLst/>
              <a:cxnLst/>
              <a:rect l="l" t="t" r="r" b="b"/>
              <a:pathLst>
                <a:path w="1600200" h="457200">
                  <a:moveTo>
                    <a:pt x="1185394" y="0"/>
                  </a:moveTo>
                  <a:lnTo>
                    <a:pt x="1293157" y="0"/>
                  </a:lnTo>
                  <a:lnTo>
                    <a:pt x="835957" y="457200"/>
                  </a:lnTo>
                  <a:lnTo>
                    <a:pt x="728194" y="457200"/>
                  </a:lnTo>
                  <a:close/>
                </a:path>
              </a:pathLst>
            </a:custGeom>
            <a:solidFill>
              <a:srgbClr val="F3F6FC"/>
            </a:solidFill>
            <a:ln>
              <a:noFill/>
            </a:ln>
          </p:spPr>
        </p:sp>
        <p:sp>
          <p:nvSpPr>
            <p:cNvPr id="14" name="node02.hatch.006"/>
            <p:cNvSpPr/>
            <p:nvPr/>
          </p:nvSpPr>
          <p:spPr>
            <a:xfrm>
              <a:off x="952500" y="1828800"/>
              <a:ext cx="1600200" cy="457200"/>
            </a:xfrm>
            <a:custGeom>
              <a:avLst/>
              <a:gdLst/>
              <a:ahLst/>
              <a:cxnLst/>
              <a:rect l="l" t="t" r="r" b="b"/>
              <a:pathLst>
                <a:path w="1600200" h="457200">
                  <a:moveTo>
                    <a:pt x="1400920" y="0"/>
                  </a:moveTo>
                  <a:lnTo>
                    <a:pt x="1508683" y="0"/>
                  </a:lnTo>
                  <a:lnTo>
                    <a:pt x="1051483" y="457200"/>
                  </a:lnTo>
                  <a:lnTo>
                    <a:pt x="943720" y="457200"/>
                  </a:lnTo>
                  <a:close/>
                </a:path>
              </a:pathLst>
            </a:custGeom>
            <a:solidFill>
              <a:srgbClr val="F3F6FC"/>
            </a:solidFill>
            <a:ln>
              <a:noFill/>
            </a:ln>
          </p:spPr>
        </p:sp>
        <p:sp>
          <p:nvSpPr>
            <p:cNvPr id="15" name="node02.hatch.007"/>
            <p:cNvSpPr/>
            <p:nvPr/>
          </p:nvSpPr>
          <p:spPr>
            <a:xfrm>
              <a:off x="952500" y="1828800"/>
              <a:ext cx="1600200" cy="457200"/>
            </a:xfrm>
            <a:custGeom>
              <a:avLst/>
              <a:gdLst/>
              <a:ahLst/>
              <a:cxnLst/>
              <a:rect l="l" t="t" r="r" b="b"/>
              <a:pathLst>
                <a:path w="1600200" h="457200">
                  <a:moveTo>
                    <a:pt x="1600200" y="16246"/>
                  </a:moveTo>
                  <a:lnTo>
                    <a:pt x="1600200" y="124009"/>
                  </a:lnTo>
                  <a:lnTo>
                    <a:pt x="1267009" y="457200"/>
                  </a:lnTo>
                  <a:lnTo>
                    <a:pt x="1159246" y="457200"/>
                  </a:lnTo>
                  <a:close/>
                </a:path>
              </a:pathLst>
            </a:custGeom>
            <a:solidFill>
              <a:srgbClr val="F3F6FC"/>
            </a:solidFill>
            <a:ln>
              <a:noFill/>
            </a:ln>
          </p:spPr>
        </p:sp>
        <p:sp>
          <p:nvSpPr>
            <p:cNvPr id="16" name="node02.hatch.008"/>
            <p:cNvSpPr/>
            <p:nvPr/>
          </p:nvSpPr>
          <p:spPr>
            <a:xfrm>
              <a:off x="952500" y="1828800"/>
              <a:ext cx="1600200" cy="457200"/>
            </a:xfrm>
            <a:custGeom>
              <a:avLst/>
              <a:gdLst/>
              <a:ahLst/>
              <a:cxnLst/>
              <a:rect l="l" t="t" r="r" b="b"/>
              <a:pathLst>
                <a:path w="1600200" h="457200">
                  <a:moveTo>
                    <a:pt x="1600200" y="231772"/>
                  </a:moveTo>
                  <a:lnTo>
                    <a:pt x="1600200" y="339535"/>
                  </a:lnTo>
                  <a:lnTo>
                    <a:pt x="1482535" y="457200"/>
                  </a:lnTo>
                  <a:lnTo>
                    <a:pt x="1374772" y="457200"/>
                  </a:lnTo>
                  <a:close/>
                </a:path>
              </a:pathLst>
            </a:custGeom>
            <a:solidFill>
              <a:srgbClr val="F3F6FC"/>
            </a:solidFill>
            <a:ln>
              <a:noFill/>
            </a:ln>
          </p:spPr>
        </p:sp>
        <p:sp>
          <p:nvSpPr>
            <p:cNvPr id="17" name="node02.hatch.009"/>
            <p:cNvSpPr/>
            <p:nvPr/>
          </p:nvSpPr>
          <p:spPr>
            <a:xfrm>
              <a:off x="952500" y="1828800"/>
              <a:ext cx="1600200" cy="457200"/>
            </a:xfrm>
            <a:custGeom>
              <a:avLst/>
              <a:gdLst/>
              <a:ahLst/>
              <a:cxnLst/>
              <a:rect l="l" t="t" r="r" b="b"/>
              <a:pathLst>
                <a:path w="1600200" h="457200">
                  <a:moveTo>
                    <a:pt x="1600200" y="447298"/>
                  </a:moveTo>
                  <a:lnTo>
                    <a:pt x="1600200" y="457200"/>
                  </a:lnTo>
                  <a:lnTo>
                    <a:pt x="1590298" y="457200"/>
                  </a:lnTo>
                  <a:close/>
                </a:path>
              </a:pathLst>
            </a:custGeom>
            <a:solidFill>
              <a:srgbClr val="F3F6FC"/>
            </a:solidFill>
            <a:ln>
              <a:noFill/>
            </a:ln>
          </p:spPr>
        </p:sp>
        <p:sp>
          <p:nvSpPr>
            <p:cNvPr id="18" name="node02.border"/>
            <p:cNvSpPr/>
            <p:nvPr/>
          </p:nvSpPr>
          <p:spPr>
            <a:xfrm>
              <a:off x="952500" y="1828800"/>
              <a:ext cx="1600200" cy="457200"/>
            </a:xfrm>
            <a:prstGeom prst="rect">
              <a:avLst/>
            </a:prstGeom>
            <a:ln w="12700">
              <a:solidFill>
                <a:srgbClr val="97A4BA"/>
              </a:solidFill>
              <a:prstDash val="solid"/>
            </a:ln>
          </p:spPr>
        </p:sp>
        <p:sp>
          <p:nvSpPr>
            <p:cNvPr id="19" name="node02.placeholder"/>
            <p:cNvSpPr/>
            <p:nvPr/>
          </p:nvSpPr>
          <p:spPr>
            <a:xfrm>
              <a:off x="977900" y="1987550"/>
              <a:ext cx="15494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SemiBold"/>
                  <a:ea typeface="IBM Plex Mono SemiBold"/>
                  <a:cs typeface="IBM Plex Mono SemiBold"/>
                </a:rPr>
                <a:t>VENDOR A LOGO</a:t>
              </a:r>
              <a:endParaRPr lang="en-US" sz="800" spc="48" kern="0" b="0" i="0" dirty="0">
                <a:solidFill>
                  <a:srgbClr val="50658E"/>
                </a:solidFill>
                <a:latin typeface="IBM Plex Mono SemiBold"/>
                <a:ea typeface="IBM Plex Mono SemiBold"/>
                <a:cs typeface="IBM Plex Mono SemiBold"/>
              </a:endParaRPr>
            </a:p>
          </p:txBody>
        </p:sp>
      </p:grpSp>
      <p:grpSp>
        <p:nvGrpSpPr>
          <p:cNvPr id="101" name="node03"/>
          <p:cNvGrpSpPr/>
          <p:nvPr/>
        </p:nvGrpSpPr>
        <p:grpSpPr>
          <a:xfrm>
            <a:off x="952500" y="2400300"/>
            <a:ext cx="2971800" cy="215900"/>
            <a:chOff x="952500" y="2400300"/>
            <a:chExt cx="2971800" cy="215900"/>
          </a:xfrm>
        </p:grpSpPr>
        <p:sp>
          <p:nvSpPr>
            <p:cNvPr id="20" name="node03.text"/>
            <p:cNvSpPr/>
            <p:nvPr/>
          </p:nvSpPr>
          <p:spPr>
            <a:xfrm>
              <a:off x="952500" y="24003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Established suite with broad coverage</a:t>
              </a:r>
              <a:endParaRPr lang="en-US" sz="1200" spc="0" kern="0" b="0" i="0" dirty="0">
                <a:solidFill>
                  <a:srgbClr val="070154"/>
                </a:solidFill>
                <a:latin typeface="IBM Plex Sans"/>
                <a:ea typeface="IBM Plex Sans"/>
                <a:cs typeface="IBM Plex Sans"/>
              </a:endParaRPr>
            </a:p>
          </p:txBody>
        </p:sp>
      </p:grpSp>
      <p:grpSp>
        <p:nvGrpSpPr>
          <p:cNvPr id="102" name="node04"/>
          <p:cNvGrpSpPr/>
          <p:nvPr/>
        </p:nvGrpSpPr>
        <p:grpSpPr>
          <a:xfrm>
            <a:off x="952500" y="3086100"/>
            <a:ext cx="2971800" cy="139700"/>
            <a:chOff x="952500" y="3086100"/>
            <a:chExt cx="2971800" cy="139700"/>
          </a:xfrm>
        </p:grpSpPr>
        <p:sp>
          <p:nvSpPr>
            <p:cNvPr id="21" name="node04.text"/>
            <p:cNvSpPr/>
            <p:nvPr/>
          </p:nvSpPr>
          <p:spPr>
            <a:xfrm>
              <a:off x="952500" y="30861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STRENGTHS</a:t>
              </a:r>
              <a:endParaRPr lang="en-US" sz="800" spc="48" kern="0" b="0" i="0" dirty="0">
                <a:solidFill>
                  <a:srgbClr val="0047FF"/>
                </a:solidFill>
                <a:latin typeface="IBM Plex Mono Medium"/>
                <a:ea typeface="IBM Plex Mono Medium"/>
                <a:cs typeface="IBM Plex Mono Medium"/>
              </a:endParaRPr>
            </a:p>
          </p:txBody>
        </p:sp>
      </p:grpSp>
      <p:grpSp>
        <p:nvGrpSpPr>
          <p:cNvPr id="103" name="node05"/>
          <p:cNvGrpSpPr/>
          <p:nvPr/>
        </p:nvGrpSpPr>
        <p:grpSpPr>
          <a:xfrm>
            <a:off x="952500" y="3314700"/>
            <a:ext cx="2971800" cy="469900"/>
            <a:chOff x="952500" y="3314700"/>
            <a:chExt cx="2971800" cy="469900"/>
          </a:xfrm>
        </p:grpSpPr>
        <p:sp>
          <p:nvSpPr>
            <p:cNvPr id="22" name="node05.source-001.bullet"/>
            <p:cNvSpPr/>
            <p:nvPr/>
          </p:nvSpPr>
          <p:spPr>
            <a:xfrm>
              <a:off x="952500" y="3403600"/>
              <a:ext cx="38100" cy="38100"/>
            </a:xfrm>
            <a:prstGeom prst="rect">
              <a:avLst/>
            </a:prstGeom>
            <a:solidFill>
              <a:srgbClr val="070154"/>
            </a:solidFill>
            <a:ln>
              <a:noFill/>
            </a:ln>
          </p:spPr>
        </p:sp>
        <p:sp>
          <p:nvSpPr>
            <p:cNvPr id="23" name="node05.source-001.text"/>
            <p:cNvSpPr/>
            <p:nvPr/>
          </p:nvSpPr>
          <p:spPr>
            <a:xfrm>
              <a:off x="1104900" y="3314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Wide module coverage</a:t>
              </a:r>
              <a:endParaRPr lang="en-US" sz="1200" spc="0" kern="0" b="0" i="0" dirty="0">
                <a:solidFill>
                  <a:srgbClr val="070154"/>
                </a:solidFill>
                <a:latin typeface="IBM Plex Sans"/>
                <a:ea typeface="IBM Plex Sans"/>
                <a:cs typeface="IBM Plex Sans"/>
              </a:endParaRPr>
            </a:p>
          </p:txBody>
        </p:sp>
        <p:sp>
          <p:nvSpPr>
            <p:cNvPr id="24" name="node05.source-002.bullet"/>
            <p:cNvSpPr/>
            <p:nvPr/>
          </p:nvSpPr>
          <p:spPr>
            <a:xfrm>
              <a:off x="952500" y="3657600"/>
              <a:ext cx="38100" cy="38100"/>
            </a:xfrm>
            <a:prstGeom prst="rect">
              <a:avLst/>
            </a:prstGeom>
            <a:solidFill>
              <a:srgbClr val="070154"/>
            </a:solidFill>
            <a:ln>
              <a:noFill/>
            </a:ln>
          </p:spPr>
        </p:sp>
        <p:sp>
          <p:nvSpPr>
            <p:cNvPr id="25" name="node05.source-002.text"/>
            <p:cNvSpPr/>
            <p:nvPr/>
          </p:nvSpPr>
          <p:spPr>
            <a:xfrm>
              <a:off x="1104900" y="3568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Large partner network</a:t>
              </a:r>
              <a:endParaRPr lang="en-US" sz="1200" spc="0" kern="0" b="0" i="0" dirty="0">
                <a:solidFill>
                  <a:srgbClr val="070154"/>
                </a:solidFill>
                <a:latin typeface="IBM Plex Sans"/>
                <a:ea typeface="IBM Plex Sans"/>
                <a:cs typeface="IBM Plex Sans"/>
              </a:endParaRPr>
            </a:p>
          </p:txBody>
        </p:sp>
      </p:grpSp>
      <p:grpSp>
        <p:nvGrpSpPr>
          <p:cNvPr id="104" name="node06"/>
          <p:cNvGrpSpPr/>
          <p:nvPr/>
        </p:nvGrpSpPr>
        <p:grpSpPr>
          <a:xfrm>
            <a:off x="952500" y="4000500"/>
            <a:ext cx="2971800" cy="139700"/>
            <a:chOff x="952500" y="4000500"/>
            <a:chExt cx="2971800" cy="139700"/>
          </a:xfrm>
        </p:grpSpPr>
        <p:sp>
          <p:nvSpPr>
            <p:cNvPr id="26" name="node06.text"/>
            <p:cNvSpPr/>
            <p:nvPr/>
          </p:nvSpPr>
          <p:spPr>
            <a:xfrm>
              <a:off x="952500" y="40005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WATCH-OUTS</a:t>
              </a:r>
              <a:endParaRPr lang="en-US" sz="800" spc="48" kern="0" b="0" i="0" dirty="0">
                <a:solidFill>
                  <a:srgbClr val="0047FF"/>
                </a:solidFill>
                <a:latin typeface="IBM Plex Mono Medium"/>
                <a:ea typeface="IBM Plex Mono Medium"/>
                <a:cs typeface="IBM Plex Mono Medium"/>
              </a:endParaRPr>
            </a:p>
          </p:txBody>
        </p:sp>
      </p:grpSp>
      <p:grpSp>
        <p:nvGrpSpPr>
          <p:cNvPr id="105" name="node07"/>
          <p:cNvGrpSpPr/>
          <p:nvPr/>
        </p:nvGrpSpPr>
        <p:grpSpPr>
          <a:xfrm>
            <a:off x="952500" y="4229100"/>
            <a:ext cx="2971800" cy="469900"/>
            <a:chOff x="952500" y="4229100"/>
            <a:chExt cx="2971800" cy="469900"/>
          </a:xfrm>
        </p:grpSpPr>
        <p:sp>
          <p:nvSpPr>
            <p:cNvPr id="27" name="node07.source-001.bullet"/>
            <p:cNvSpPr/>
            <p:nvPr/>
          </p:nvSpPr>
          <p:spPr>
            <a:xfrm>
              <a:off x="952500" y="4318000"/>
              <a:ext cx="38100" cy="38100"/>
            </a:xfrm>
            <a:prstGeom prst="rect">
              <a:avLst/>
            </a:prstGeom>
            <a:solidFill>
              <a:srgbClr val="070154"/>
            </a:solidFill>
            <a:ln>
              <a:noFill/>
            </a:ln>
          </p:spPr>
        </p:sp>
        <p:sp>
          <p:nvSpPr>
            <p:cNvPr id="28" name="node07.source-001.text"/>
            <p:cNvSpPr/>
            <p:nvPr/>
          </p:nvSpPr>
          <p:spPr>
            <a:xfrm>
              <a:off x="1104900" y="42291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Heavy configuration effort</a:t>
              </a:r>
              <a:endParaRPr lang="en-US" sz="1200" spc="0" kern="0" b="0" i="0" dirty="0">
                <a:solidFill>
                  <a:srgbClr val="070154"/>
                </a:solidFill>
                <a:latin typeface="IBM Plex Sans"/>
                <a:ea typeface="IBM Plex Sans"/>
                <a:cs typeface="IBM Plex Sans"/>
              </a:endParaRPr>
            </a:p>
          </p:txBody>
        </p:sp>
        <p:sp>
          <p:nvSpPr>
            <p:cNvPr id="29" name="node07.source-002.bullet"/>
            <p:cNvSpPr/>
            <p:nvPr/>
          </p:nvSpPr>
          <p:spPr>
            <a:xfrm>
              <a:off x="952500" y="4572000"/>
              <a:ext cx="38100" cy="38100"/>
            </a:xfrm>
            <a:prstGeom prst="rect">
              <a:avLst/>
            </a:prstGeom>
            <a:solidFill>
              <a:srgbClr val="070154"/>
            </a:solidFill>
            <a:ln>
              <a:noFill/>
            </a:ln>
          </p:spPr>
        </p:sp>
        <p:sp>
          <p:nvSpPr>
            <p:cNvPr id="30" name="node07.source-002.text"/>
            <p:cNvSpPr/>
            <p:nvPr/>
          </p:nvSpPr>
          <p:spPr>
            <a:xfrm>
              <a:off x="1104900" y="44831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Slower release cadence</a:t>
              </a:r>
              <a:endParaRPr lang="en-US" sz="1200" spc="0" kern="0" b="0" i="0" dirty="0">
                <a:solidFill>
                  <a:srgbClr val="070154"/>
                </a:solidFill>
                <a:latin typeface="IBM Plex Sans"/>
                <a:ea typeface="IBM Plex Sans"/>
                <a:cs typeface="IBM Plex Sans"/>
              </a:endParaRPr>
            </a:p>
          </p:txBody>
        </p:sp>
      </p:grpSp>
      <p:grpSp>
        <p:nvGrpSpPr>
          <p:cNvPr id="106" name="node08"/>
          <p:cNvGrpSpPr/>
          <p:nvPr/>
        </p:nvGrpSpPr>
        <p:grpSpPr>
          <a:xfrm>
            <a:off x="952500" y="5029200"/>
            <a:ext cx="2971800" cy="711200"/>
            <a:chOff x="952500" y="5029200"/>
            <a:chExt cx="2971800" cy="711200"/>
          </a:xfrm>
        </p:grpSpPr>
        <p:graphicFrame>
          <p:nvGraphicFramePr>
            <p:cNvPr id="31" name="node08.native"/>
            <p:cNvGraphicFramePr>
              <a:graphicFrameLocks noGrp="1"/>
            </p:cNvGraphicFramePr>
            <p:nvPr>
              <p:extLst>
                <p:ext uri="{D42A27DB-BD31-4B8C-83A1-F6EECF244321}">
                  <p14:modId xmlns:p14="http://schemas.microsoft.com/office/powerpoint/2010/main" val="1579011935"/>
                </p:ext>
              </p:extLst>
            </p:nvPr>
          </p:nvGraphicFramePr>
          <p:xfrm>
            <a:off x="952500" y="5029200"/>
            <a:ext cx="2971800" cy="711200"/>
          </p:xfrm>
          <a:graphic>
            <a:graphicData uri="http://schemas.openxmlformats.org/drawingml/2006/table">
              <a:tbl>
                <a:tblPr/>
                <a:tblGrid>
                  <a:gridCol w="1219200"/>
                  <a:gridCol w="17526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FIT</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INDICATIVE COST</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 · 9 months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32" name="node08.row.item-001.f.rating-1"/>
            <p:cNvSpPr/>
            <p:nvPr/>
          </p:nvSpPr>
          <p:spPr>
            <a:xfrm>
              <a:off x="1104900" y="5511800"/>
              <a:ext cx="101600" cy="101600"/>
            </a:xfrm>
            <a:prstGeom prst="rect">
              <a:avLst/>
            </a:prstGeom>
            <a:solidFill>
              <a:srgbClr val="070154"/>
            </a:solidFill>
            <a:ln w="9525">
              <a:solidFill>
                <a:srgbClr val="070154"/>
              </a:solidFill>
              <a:prstDash val="solid"/>
            </a:ln>
          </p:spPr>
        </p:sp>
        <p:sp>
          <p:nvSpPr>
            <p:cNvPr id="33" name="node08.row.item-001.f.rating-2"/>
            <p:cNvSpPr/>
            <p:nvPr/>
          </p:nvSpPr>
          <p:spPr>
            <a:xfrm>
              <a:off x="1244600" y="5511800"/>
              <a:ext cx="101600" cy="101600"/>
            </a:xfrm>
            <a:prstGeom prst="rect">
              <a:avLst/>
            </a:prstGeom>
            <a:solidFill>
              <a:srgbClr val="070154"/>
            </a:solidFill>
            <a:ln w="9525">
              <a:solidFill>
                <a:srgbClr val="070154"/>
              </a:solidFill>
              <a:prstDash val="solid"/>
            </a:ln>
          </p:spPr>
        </p:sp>
        <p:sp>
          <p:nvSpPr>
            <p:cNvPr id="34" name="node08.row.item-001.f.rating-3"/>
            <p:cNvSpPr/>
            <p:nvPr/>
          </p:nvSpPr>
          <p:spPr>
            <a:xfrm>
              <a:off x="1384300" y="5511800"/>
              <a:ext cx="101600" cy="101600"/>
            </a:xfrm>
            <a:prstGeom prst="rect">
              <a:avLst/>
            </a:prstGeom>
            <a:solidFill>
              <a:srgbClr val="070154"/>
            </a:solidFill>
            <a:ln w="9525">
              <a:solidFill>
                <a:srgbClr val="070154"/>
              </a:solidFill>
              <a:prstDash val="solid"/>
            </a:ln>
          </p:spPr>
        </p:sp>
        <p:sp>
          <p:nvSpPr>
            <p:cNvPr id="35" name="node08.row.item-001.f.rating-4"/>
            <p:cNvSpPr/>
            <p:nvPr/>
          </p:nvSpPr>
          <p:spPr>
            <a:xfrm>
              <a:off x="1524000" y="5511800"/>
              <a:ext cx="101600" cy="101600"/>
            </a:xfrm>
            <a:prstGeom prst="rect">
              <a:avLst/>
            </a:prstGeom>
            <a:solidFill>
              <a:srgbClr val="FFFFFF"/>
            </a:solidFill>
            <a:ln w="9525">
              <a:solidFill>
                <a:srgbClr val="070154"/>
              </a:solidFill>
              <a:prstDash val="solid"/>
            </a:ln>
          </p:spPr>
        </p:sp>
      </p:grpSp>
      <p:grpSp>
        <p:nvGrpSpPr>
          <p:cNvPr id="107" name="node09"/>
          <p:cNvGrpSpPr/>
          <p:nvPr/>
        </p:nvGrpSpPr>
        <p:grpSpPr>
          <a:xfrm>
            <a:off x="4381500" y="1600200"/>
            <a:ext cx="3429000" cy="4343400"/>
            <a:chOff x="4381500" y="1600200"/>
            <a:chExt cx="3429000" cy="4343400"/>
          </a:xfrm>
        </p:grpSpPr>
        <p:sp>
          <p:nvSpPr>
            <p:cNvPr id="36" name="node09.container"/>
            <p:cNvSpPr/>
            <p:nvPr/>
          </p:nvSpPr>
          <p:spPr>
            <a:xfrm>
              <a:off x="4381500" y="1600200"/>
              <a:ext cx="3429000" cy="4343400"/>
            </a:xfrm>
            <a:prstGeom prst="rect">
              <a:avLst/>
            </a:prstGeom>
            <a:solidFill>
              <a:srgbClr val="E8EEF8"/>
            </a:solidFill>
            <a:ln>
              <a:noFill/>
            </a:ln>
          </p:spPr>
        </p:sp>
        <p:sp>
          <p:nvSpPr>
            <p:cNvPr id="37" name="node09.edge"/>
            <p:cNvSpPr/>
            <p:nvPr/>
          </p:nvSpPr>
          <p:spPr>
            <a:xfrm>
              <a:off x="4381500" y="1600200"/>
              <a:ext cx="3429000" cy="38100"/>
            </a:xfrm>
            <a:prstGeom prst="rect">
              <a:avLst/>
            </a:prstGeom>
            <a:solidFill>
              <a:srgbClr val="0047FF"/>
            </a:solidFill>
            <a:ln>
              <a:noFill/>
            </a:ln>
          </p:spPr>
        </p:sp>
        <p:sp>
          <p:nvSpPr>
            <p:cNvPr id="38" name="node09.tag-bg"/>
            <p:cNvSpPr/>
            <p:nvPr/>
          </p:nvSpPr>
          <p:spPr>
            <a:xfrm>
              <a:off x="6902072" y="1600200"/>
              <a:ext cx="908428" cy="215900"/>
            </a:xfrm>
            <a:prstGeom prst="rect">
              <a:avLst/>
            </a:prstGeom>
            <a:solidFill>
              <a:srgbClr val="0047FF"/>
            </a:solidFill>
            <a:ln>
              <a:noFill/>
            </a:ln>
          </p:spPr>
        </p:sp>
        <p:sp>
          <p:nvSpPr>
            <p:cNvPr id="39" name="node09.tag"/>
            <p:cNvSpPr/>
            <p:nvPr/>
          </p:nvSpPr>
          <p:spPr>
            <a:xfrm>
              <a:off x="6978272" y="1638300"/>
              <a:ext cx="756028"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RECOMMENDED</a:t>
              </a:r>
              <a:endParaRPr lang="en-US" sz="800" spc="48" kern="0" b="0" i="0" dirty="0">
                <a:solidFill>
                  <a:srgbClr val="FFFFFF"/>
                </a:solidFill>
                <a:latin typeface="IBM Plex Mono SemiBold"/>
                <a:ea typeface="IBM Plex Mono SemiBold"/>
                <a:cs typeface="IBM Plex Mono SemiBold"/>
              </a:endParaRPr>
            </a:p>
          </p:txBody>
        </p:sp>
      </p:grpSp>
      <p:grpSp>
        <p:nvGrpSpPr>
          <p:cNvPr id="108" name="node10"/>
          <p:cNvGrpSpPr/>
          <p:nvPr/>
        </p:nvGrpSpPr>
        <p:grpSpPr>
          <a:xfrm>
            <a:off x="4610100" y="1828800"/>
            <a:ext cx="1600200" cy="457200"/>
            <a:chOff x="4610100" y="1828800"/>
            <a:chExt cx="1600200" cy="457200"/>
          </a:xfrm>
        </p:grpSpPr>
        <p:sp>
          <p:nvSpPr>
            <p:cNvPr id="40" name="node10.background"/>
            <p:cNvSpPr/>
            <p:nvPr/>
          </p:nvSpPr>
          <p:spPr>
            <a:xfrm>
              <a:off x="4610100" y="1828800"/>
              <a:ext cx="1600200" cy="457200"/>
            </a:xfrm>
            <a:prstGeom prst="rect">
              <a:avLst/>
            </a:prstGeom>
            <a:solidFill>
              <a:srgbClr val="FFFFFF"/>
            </a:solidFill>
            <a:ln>
              <a:noFill/>
            </a:ln>
          </p:spPr>
        </p:sp>
        <p:sp>
          <p:nvSpPr>
            <p:cNvPr id="41" name="node10.hatch.000"/>
            <p:cNvSpPr/>
            <p:nvPr/>
          </p:nvSpPr>
          <p:spPr>
            <a:xfrm>
              <a:off x="4610100" y="1828800"/>
              <a:ext cx="1600200" cy="457200"/>
            </a:xfrm>
            <a:custGeom>
              <a:avLst/>
              <a:gdLst/>
              <a:ahLst/>
              <a:cxnLst/>
              <a:rect l="l" t="t" r="r" b="b"/>
              <a:pathLst>
                <a:path w="1600200" h="457200">
                  <a:moveTo>
                    <a:pt x="0" y="215526"/>
                  </a:moveTo>
                  <a:lnTo>
                    <a:pt x="0" y="107763"/>
                  </a:lnTo>
                  <a:lnTo>
                    <a:pt x="107763" y="0"/>
                  </a:lnTo>
                  <a:lnTo>
                    <a:pt x="215526" y="0"/>
                  </a:lnTo>
                  <a:close/>
                </a:path>
              </a:pathLst>
            </a:custGeom>
            <a:solidFill>
              <a:srgbClr val="F3F6FC"/>
            </a:solidFill>
            <a:ln>
              <a:noFill/>
            </a:ln>
          </p:spPr>
        </p:sp>
        <p:sp>
          <p:nvSpPr>
            <p:cNvPr id="42" name="node10.hatch.001"/>
            <p:cNvSpPr/>
            <p:nvPr/>
          </p:nvSpPr>
          <p:spPr>
            <a:xfrm>
              <a:off x="4610100" y="1828800"/>
              <a:ext cx="1600200" cy="457200"/>
            </a:xfrm>
            <a:custGeom>
              <a:avLst/>
              <a:gdLst/>
              <a:ahLst/>
              <a:cxnLst/>
              <a:rect l="l" t="t" r="r" b="b"/>
              <a:pathLst>
                <a:path w="1600200" h="457200">
                  <a:moveTo>
                    <a:pt x="0" y="431052"/>
                  </a:moveTo>
                  <a:lnTo>
                    <a:pt x="0" y="323289"/>
                  </a:lnTo>
                  <a:lnTo>
                    <a:pt x="323289" y="0"/>
                  </a:lnTo>
                  <a:lnTo>
                    <a:pt x="431052" y="0"/>
                  </a:lnTo>
                  <a:close/>
                </a:path>
              </a:pathLst>
            </a:custGeom>
            <a:solidFill>
              <a:srgbClr val="F3F6FC"/>
            </a:solidFill>
            <a:ln>
              <a:noFill/>
            </a:ln>
          </p:spPr>
        </p:sp>
        <p:sp>
          <p:nvSpPr>
            <p:cNvPr id="43" name="node10.hatch.002"/>
            <p:cNvSpPr/>
            <p:nvPr/>
          </p:nvSpPr>
          <p:spPr>
            <a:xfrm>
              <a:off x="4610100" y="1828800"/>
              <a:ext cx="1600200" cy="457200"/>
            </a:xfrm>
            <a:custGeom>
              <a:avLst/>
              <a:gdLst/>
              <a:ahLst/>
              <a:cxnLst/>
              <a:rect l="l" t="t" r="r" b="b"/>
              <a:pathLst>
                <a:path w="1600200" h="457200">
                  <a:moveTo>
                    <a:pt x="538815" y="0"/>
                  </a:moveTo>
                  <a:lnTo>
                    <a:pt x="646578" y="0"/>
                  </a:lnTo>
                  <a:lnTo>
                    <a:pt x="189378" y="457200"/>
                  </a:lnTo>
                  <a:lnTo>
                    <a:pt x="81615" y="457200"/>
                  </a:lnTo>
                  <a:close/>
                </a:path>
              </a:pathLst>
            </a:custGeom>
            <a:solidFill>
              <a:srgbClr val="F3F6FC"/>
            </a:solidFill>
            <a:ln>
              <a:noFill/>
            </a:ln>
          </p:spPr>
        </p:sp>
        <p:sp>
          <p:nvSpPr>
            <p:cNvPr id="44" name="node10.hatch.003"/>
            <p:cNvSpPr/>
            <p:nvPr/>
          </p:nvSpPr>
          <p:spPr>
            <a:xfrm>
              <a:off x="4610100" y="1828800"/>
              <a:ext cx="1600200" cy="457200"/>
            </a:xfrm>
            <a:custGeom>
              <a:avLst/>
              <a:gdLst/>
              <a:ahLst/>
              <a:cxnLst/>
              <a:rect l="l" t="t" r="r" b="b"/>
              <a:pathLst>
                <a:path w="1600200" h="457200">
                  <a:moveTo>
                    <a:pt x="754342" y="0"/>
                  </a:moveTo>
                  <a:lnTo>
                    <a:pt x="862105" y="0"/>
                  </a:lnTo>
                  <a:lnTo>
                    <a:pt x="404905" y="457200"/>
                  </a:lnTo>
                  <a:lnTo>
                    <a:pt x="297142" y="457200"/>
                  </a:lnTo>
                  <a:close/>
                </a:path>
              </a:pathLst>
            </a:custGeom>
            <a:solidFill>
              <a:srgbClr val="F3F6FC"/>
            </a:solidFill>
            <a:ln>
              <a:noFill/>
            </a:ln>
          </p:spPr>
        </p:sp>
        <p:sp>
          <p:nvSpPr>
            <p:cNvPr id="45" name="node10.hatch.004"/>
            <p:cNvSpPr/>
            <p:nvPr/>
          </p:nvSpPr>
          <p:spPr>
            <a:xfrm>
              <a:off x="4610100" y="1828800"/>
              <a:ext cx="1600200" cy="457200"/>
            </a:xfrm>
            <a:custGeom>
              <a:avLst/>
              <a:gdLst/>
              <a:ahLst/>
              <a:cxnLst/>
              <a:rect l="l" t="t" r="r" b="b"/>
              <a:pathLst>
                <a:path w="1600200" h="457200">
                  <a:moveTo>
                    <a:pt x="969868" y="0"/>
                  </a:moveTo>
                  <a:lnTo>
                    <a:pt x="1077631" y="0"/>
                  </a:lnTo>
                  <a:lnTo>
                    <a:pt x="620431" y="457200"/>
                  </a:lnTo>
                  <a:lnTo>
                    <a:pt x="512668" y="457200"/>
                  </a:lnTo>
                  <a:close/>
                </a:path>
              </a:pathLst>
            </a:custGeom>
            <a:solidFill>
              <a:srgbClr val="F3F6FC"/>
            </a:solidFill>
            <a:ln>
              <a:noFill/>
            </a:ln>
          </p:spPr>
        </p:sp>
        <p:sp>
          <p:nvSpPr>
            <p:cNvPr id="46" name="node10.hatch.005"/>
            <p:cNvSpPr/>
            <p:nvPr/>
          </p:nvSpPr>
          <p:spPr>
            <a:xfrm>
              <a:off x="4610100" y="1828800"/>
              <a:ext cx="1600200" cy="457200"/>
            </a:xfrm>
            <a:custGeom>
              <a:avLst/>
              <a:gdLst/>
              <a:ahLst/>
              <a:cxnLst/>
              <a:rect l="l" t="t" r="r" b="b"/>
              <a:pathLst>
                <a:path w="1600200" h="457200">
                  <a:moveTo>
                    <a:pt x="1185394" y="0"/>
                  </a:moveTo>
                  <a:lnTo>
                    <a:pt x="1293157" y="0"/>
                  </a:lnTo>
                  <a:lnTo>
                    <a:pt x="835957" y="457200"/>
                  </a:lnTo>
                  <a:lnTo>
                    <a:pt x="728194" y="457200"/>
                  </a:lnTo>
                  <a:close/>
                </a:path>
              </a:pathLst>
            </a:custGeom>
            <a:solidFill>
              <a:srgbClr val="F3F6FC"/>
            </a:solidFill>
            <a:ln>
              <a:noFill/>
            </a:ln>
          </p:spPr>
        </p:sp>
        <p:sp>
          <p:nvSpPr>
            <p:cNvPr id="47" name="node10.hatch.006"/>
            <p:cNvSpPr/>
            <p:nvPr/>
          </p:nvSpPr>
          <p:spPr>
            <a:xfrm>
              <a:off x="4610100" y="1828800"/>
              <a:ext cx="1600200" cy="457200"/>
            </a:xfrm>
            <a:custGeom>
              <a:avLst/>
              <a:gdLst/>
              <a:ahLst/>
              <a:cxnLst/>
              <a:rect l="l" t="t" r="r" b="b"/>
              <a:pathLst>
                <a:path w="1600200" h="457200">
                  <a:moveTo>
                    <a:pt x="1400920" y="0"/>
                  </a:moveTo>
                  <a:lnTo>
                    <a:pt x="1508683" y="0"/>
                  </a:lnTo>
                  <a:lnTo>
                    <a:pt x="1051483" y="457200"/>
                  </a:lnTo>
                  <a:lnTo>
                    <a:pt x="943720" y="457200"/>
                  </a:lnTo>
                  <a:close/>
                </a:path>
              </a:pathLst>
            </a:custGeom>
            <a:solidFill>
              <a:srgbClr val="F3F6FC"/>
            </a:solidFill>
            <a:ln>
              <a:noFill/>
            </a:ln>
          </p:spPr>
        </p:sp>
        <p:sp>
          <p:nvSpPr>
            <p:cNvPr id="48" name="node10.hatch.007"/>
            <p:cNvSpPr/>
            <p:nvPr/>
          </p:nvSpPr>
          <p:spPr>
            <a:xfrm>
              <a:off x="4610100" y="1828800"/>
              <a:ext cx="1600200" cy="457200"/>
            </a:xfrm>
            <a:custGeom>
              <a:avLst/>
              <a:gdLst/>
              <a:ahLst/>
              <a:cxnLst/>
              <a:rect l="l" t="t" r="r" b="b"/>
              <a:pathLst>
                <a:path w="1600200" h="457200">
                  <a:moveTo>
                    <a:pt x="1600200" y="16246"/>
                  </a:moveTo>
                  <a:lnTo>
                    <a:pt x="1600200" y="124009"/>
                  </a:lnTo>
                  <a:lnTo>
                    <a:pt x="1267009" y="457200"/>
                  </a:lnTo>
                  <a:lnTo>
                    <a:pt x="1159246" y="457200"/>
                  </a:lnTo>
                  <a:close/>
                </a:path>
              </a:pathLst>
            </a:custGeom>
            <a:solidFill>
              <a:srgbClr val="F3F6FC"/>
            </a:solidFill>
            <a:ln>
              <a:noFill/>
            </a:ln>
          </p:spPr>
        </p:sp>
        <p:sp>
          <p:nvSpPr>
            <p:cNvPr id="49" name="node10.hatch.008"/>
            <p:cNvSpPr/>
            <p:nvPr/>
          </p:nvSpPr>
          <p:spPr>
            <a:xfrm>
              <a:off x="4610100" y="1828800"/>
              <a:ext cx="1600200" cy="457200"/>
            </a:xfrm>
            <a:custGeom>
              <a:avLst/>
              <a:gdLst/>
              <a:ahLst/>
              <a:cxnLst/>
              <a:rect l="l" t="t" r="r" b="b"/>
              <a:pathLst>
                <a:path w="1600200" h="457200">
                  <a:moveTo>
                    <a:pt x="1600200" y="231772"/>
                  </a:moveTo>
                  <a:lnTo>
                    <a:pt x="1600200" y="339535"/>
                  </a:lnTo>
                  <a:lnTo>
                    <a:pt x="1482535" y="457200"/>
                  </a:lnTo>
                  <a:lnTo>
                    <a:pt x="1374772" y="457200"/>
                  </a:lnTo>
                  <a:close/>
                </a:path>
              </a:pathLst>
            </a:custGeom>
            <a:solidFill>
              <a:srgbClr val="F3F6FC"/>
            </a:solidFill>
            <a:ln>
              <a:noFill/>
            </a:ln>
          </p:spPr>
        </p:sp>
        <p:sp>
          <p:nvSpPr>
            <p:cNvPr id="50" name="node10.hatch.009"/>
            <p:cNvSpPr/>
            <p:nvPr/>
          </p:nvSpPr>
          <p:spPr>
            <a:xfrm>
              <a:off x="4610100" y="1828800"/>
              <a:ext cx="1600200" cy="457200"/>
            </a:xfrm>
            <a:custGeom>
              <a:avLst/>
              <a:gdLst/>
              <a:ahLst/>
              <a:cxnLst/>
              <a:rect l="l" t="t" r="r" b="b"/>
              <a:pathLst>
                <a:path w="1600200" h="457200">
                  <a:moveTo>
                    <a:pt x="1600200" y="447298"/>
                  </a:moveTo>
                  <a:lnTo>
                    <a:pt x="1600200" y="457200"/>
                  </a:lnTo>
                  <a:lnTo>
                    <a:pt x="1590298" y="457200"/>
                  </a:lnTo>
                  <a:close/>
                </a:path>
              </a:pathLst>
            </a:custGeom>
            <a:solidFill>
              <a:srgbClr val="F3F6FC"/>
            </a:solidFill>
            <a:ln>
              <a:noFill/>
            </a:ln>
          </p:spPr>
        </p:sp>
        <p:sp>
          <p:nvSpPr>
            <p:cNvPr id="51" name="node10.border"/>
            <p:cNvSpPr/>
            <p:nvPr/>
          </p:nvSpPr>
          <p:spPr>
            <a:xfrm>
              <a:off x="4610100" y="1828800"/>
              <a:ext cx="1600200" cy="457200"/>
            </a:xfrm>
            <a:prstGeom prst="rect">
              <a:avLst/>
            </a:prstGeom>
            <a:ln w="12700">
              <a:solidFill>
                <a:srgbClr val="97A4BA"/>
              </a:solidFill>
              <a:prstDash val="solid"/>
            </a:ln>
          </p:spPr>
        </p:sp>
        <p:sp>
          <p:nvSpPr>
            <p:cNvPr id="52" name="node10.placeholder"/>
            <p:cNvSpPr/>
            <p:nvPr/>
          </p:nvSpPr>
          <p:spPr>
            <a:xfrm>
              <a:off x="4635500" y="1987550"/>
              <a:ext cx="15494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SemiBold"/>
                  <a:ea typeface="IBM Plex Mono SemiBold"/>
                  <a:cs typeface="IBM Plex Mono SemiBold"/>
                </a:rPr>
                <a:t>VENDOR B LOGO</a:t>
              </a:r>
              <a:endParaRPr lang="en-US" sz="800" spc="48" kern="0" b="0" i="0" dirty="0">
                <a:solidFill>
                  <a:srgbClr val="50658E"/>
                </a:solidFill>
                <a:latin typeface="IBM Plex Mono SemiBold"/>
                <a:ea typeface="IBM Plex Mono SemiBold"/>
                <a:cs typeface="IBM Plex Mono SemiBold"/>
              </a:endParaRPr>
            </a:p>
          </p:txBody>
        </p:sp>
      </p:grpSp>
      <p:grpSp>
        <p:nvGrpSpPr>
          <p:cNvPr id="109" name="node11"/>
          <p:cNvGrpSpPr/>
          <p:nvPr/>
        </p:nvGrpSpPr>
        <p:grpSpPr>
          <a:xfrm>
            <a:off x="4610100" y="2400300"/>
            <a:ext cx="2971800" cy="215900"/>
            <a:chOff x="4610100" y="2400300"/>
            <a:chExt cx="2971800" cy="215900"/>
          </a:xfrm>
        </p:grpSpPr>
        <p:sp>
          <p:nvSpPr>
            <p:cNvPr id="53" name="node11.text"/>
            <p:cNvSpPr/>
            <p:nvPr/>
          </p:nvSpPr>
          <p:spPr>
            <a:xfrm>
              <a:off x="4610100" y="24003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Modern platform built for fast integration</a:t>
              </a:r>
              <a:endParaRPr lang="en-US" sz="1200" spc="0" kern="0" b="0" i="0" dirty="0">
                <a:solidFill>
                  <a:srgbClr val="070154"/>
                </a:solidFill>
                <a:latin typeface="IBM Plex Sans"/>
                <a:ea typeface="IBM Plex Sans"/>
                <a:cs typeface="IBM Plex Sans"/>
              </a:endParaRPr>
            </a:p>
          </p:txBody>
        </p:sp>
      </p:grpSp>
      <p:grpSp>
        <p:nvGrpSpPr>
          <p:cNvPr id="110" name="node12"/>
          <p:cNvGrpSpPr/>
          <p:nvPr/>
        </p:nvGrpSpPr>
        <p:grpSpPr>
          <a:xfrm>
            <a:off x="4610100" y="3086100"/>
            <a:ext cx="2971800" cy="139700"/>
            <a:chOff x="4610100" y="3086100"/>
            <a:chExt cx="2971800" cy="139700"/>
          </a:xfrm>
        </p:grpSpPr>
        <p:sp>
          <p:nvSpPr>
            <p:cNvPr id="54" name="node12.text"/>
            <p:cNvSpPr/>
            <p:nvPr/>
          </p:nvSpPr>
          <p:spPr>
            <a:xfrm>
              <a:off x="4610100" y="30861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STRENGTHS</a:t>
              </a:r>
              <a:endParaRPr lang="en-US" sz="800" spc="48" kern="0" b="0" i="0" dirty="0">
                <a:solidFill>
                  <a:srgbClr val="0047FF"/>
                </a:solidFill>
                <a:latin typeface="IBM Plex Mono Medium"/>
                <a:ea typeface="IBM Plex Mono Medium"/>
                <a:cs typeface="IBM Plex Mono Medium"/>
              </a:endParaRPr>
            </a:p>
          </p:txBody>
        </p:sp>
      </p:grpSp>
      <p:grpSp>
        <p:nvGrpSpPr>
          <p:cNvPr id="111" name="node13"/>
          <p:cNvGrpSpPr/>
          <p:nvPr/>
        </p:nvGrpSpPr>
        <p:grpSpPr>
          <a:xfrm>
            <a:off x="4610100" y="3314700"/>
            <a:ext cx="2971800" cy="469900"/>
            <a:chOff x="4610100" y="3314700"/>
            <a:chExt cx="2971800" cy="469900"/>
          </a:xfrm>
        </p:grpSpPr>
        <p:sp>
          <p:nvSpPr>
            <p:cNvPr id="55" name="node13.source-001.bullet"/>
            <p:cNvSpPr/>
            <p:nvPr/>
          </p:nvSpPr>
          <p:spPr>
            <a:xfrm>
              <a:off x="4610100" y="3403600"/>
              <a:ext cx="38100" cy="38100"/>
            </a:xfrm>
            <a:prstGeom prst="rect">
              <a:avLst/>
            </a:prstGeom>
            <a:solidFill>
              <a:srgbClr val="070154"/>
            </a:solidFill>
            <a:ln>
              <a:noFill/>
            </a:ln>
          </p:spPr>
        </p:sp>
        <p:sp>
          <p:nvSpPr>
            <p:cNvPr id="56" name="node13.source-001.text"/>
            <p:cNvSpPr/>
            <p:nvPr/>
          </p:nvSpPr>
          <p:spPr>
            <a:xfrm>
              <a:off x="4762500" y="3314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Strong ERP integration</a:t>
              </a:r>
              <a:endParaRPr lang="en-US" sz="1200" spc="0" kern="0" b="0" i="0" dirty="0">
                <a:solidFill>
                  <a:srgbClr val="070154"/>
                </a:solidFill>
                <a:latin typeface="IBM Plex Sans"/>
                <a:ea typeface="IBM Plex Sans"/>
                <a:cs typeface="IBM Plex Sans"/>
              </a:endParaRPr>
            </a:p>
          </p:txBody>
        </p:sp>
        <p:sp>
          <p:nvSpPr>
            <p:cNvPr id="57" name="node13.source-002.bullet"/>
            <p:cNvSpPr/>
            <p:nvPr/>
          </p:nvSpPr>
          <p:spPr>
            <a:xfrm>
              <a:off x="4610100" y="3657600"/>
              <a:ext cx="38100" cy="38100"/>
            </a:xfrm>
            <a:prstGeom prst="rect">
              <a:avLst/>
            </a:prstGeom>
            <a:solidFill>
              <a:srgbClr val="070154"/>
            </a:solidFill>
            <a:ln>
              <a:noFill/>
            </a:ln>
          </p:spPr>
        </p:sp>
        <p:sp>
          <p:nvSpPr>
            <p:cNvPr id="58" name="node13.source-002.text"/>
            <p:cNvSpPr/>
            <p:nvPr/>
          </p:nvSpPr>
          <p:spPr>
            <a:xfrm>
              <a:off x="4762500" y="3568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Quick time to value</a:t>
              </a:r>
              <a:endParaRPr lang="en-US" sz="1200" spc="0" kern="0" b="0" i="0" dirty="0">
                <a:solidFill>
                  <a:srgbClr val="070154"/>
                </a:solidFill>
                <a:latin typeface="IBM Plex Sans"/>
                <a:ea typeface="IBM Plex Sans"/>
                <a:cs typeface="IBM Plex Sans"/>
              </a:endParaRPr>
            </a:p>
          </p:txBody>
        </p:sp>
      </p:grpSp>
      <p:grpSp>
        <p:nvGrpSpPr>
          <p:cNvPr id="112" name="node14"/>
          <p:cNvGrpSpPr/>
          <p:nvPr/>
        </p:nvGrpSpPr>
        <p:grpSpPr>
          <a:xfrm>
            <a:off x="4610100" y="4000500"/>
            <a:ext cx="2971800" cy="139700"/>
            <a:chOff x="4610100" y="4000500"/>
            <a:chExt cx="2971800" cy="139700"/>
          </a:xfrm>
        </p:grpSpPr>
        <p:sp>
          <p:nvSpPr>
            <p:cNvPr id="59" name="node14.text"/>
            <p:cNvSpPr/>
            <p:nvPr/>
          </p:nvSpPr>
          <p:spPr>
            <a:xfrm>
              <a:off x="4610100" y="40005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WATCH-OUTS</a:t>
              </a:r>
              <a:endParaRPr lang="en-US" sz="800" spc="48" kern="0" b="0" i="0" dirty="0">
                <a:solidFill>
                  <a:srgbClr val="0047FF"/>
                </a:solidFill>
                <a:latin typeface="IBM Plex Mono Medium"/>
                <a:ea typeface="IBM Plex Mono Medium"/>
                <a:cs typeface="IBM Plex Mono Medium"/>
              </a:endParaRPr>
            </a:p>
          </p:txBody>
        </p:sp>
      </p:grpSp>
      <p:grpSp>
        <p:nvGrpSpPr>
          <p:cNvPr id="113" name="node15"/>
          <p:cNvGrpSpPr/>
          <p:nvPr/>
        </p:nvGrpSpPr>
        <p:grpSpPr>
          <a:xfrm>
            <a:off x="4610100" y="4229100"/>
            <a:ext cx="2971800" cy="469900"/>
            <a:chOff x="4610100" y="4229100"/>
            <a:chExt cx="2971800" cy="469900"/>
          </a:xfrm>
        </p:grpSpPr>
        <p:sp>
          <p:nvSpPr>
            <p:cNvPr id="60" name="node15.source-001.bullet"/>
            <p:cNvSpPr/>
            <p:nvPr/>
          </p:nvSpPr>
          <p:spPr>
            <a:xfrm>
              <a:off x="4610100" y="4318000"/>
              <a:ext cx="38100" cy="38100"/>
            </a:xfrm>
            <a:prstGeom prst="rect">
              <a:avLst/>
            </a:prstGeom>
            <a:solidFill>
              <a:srgbClr val="070154"/>
            </a:solidFill>
            <a:ln>
              <a:noFill/>
            </a:ln>
          </p:spPr>
        </p:sp>
        <p:sp>
          <p:nvSpPr>
            <p:cNvPr id="61" name="node15.source-001.text"/>
            <p:cNvSpPr/>
            <p:nvPr/>
          </p:nvSpPr>
          <p:spPr>
            <a:xfrm>
              <a:off x="4762500" y="42291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Thinner security depth</a:t>
              </a:r>
              <a:endParaRPr lang="en-US" sz="1200" spc="0" kern="0" b="0" i="0" dirty="0">
                <a:solidFill>
                  <a:srgbClr val="070154"/>
                </a:solidFill>
                <a:latin typeface="IBM Plex Sans"/>
                <a:ea typeface="IBM Plex Sans"/>
                <a:cs typeface="IBM Plex Sans"/>
              </a:endParaRPr>
            </a:p>
          </p:txBody>
        </p:sp>
        <p:sp>
          <p:nvSpPr>
            <p:cNvPr id="62" name="node15.source-002.bullet"/>
            <p:cNvSpPr/>
            <p:nvPr/>
          </p:nvSpPr>
          <p:spPr>
            <a:xfrm>
              <a:off x="4610100" y="4572000"/>
              <a:ext cx="38100" cy="38100"/>
            </a:xfrm>
            <a:prstGeom prst="rect">
              <a:avLst/>
            </a:prstGeom>
            <a:solidFill>
              <a:srgbClr val="070154"/>
            </a:solidFill>
            <a:ln>
              <a:noFill/>
            </a:ln>
          </p:spPr>
        </p:sp>
        <p:sp>
          <p:nvSpPr>
            <p:cNvPr id="63" name="node15.source-002.text"/>
            <p:cNvSpPr/>
            <p:nvPr/>
          </p:nvSpPr>
          <p:spPr>
            <a:xfrm>
              <a:off x="4762500" y="44831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Smaller support team</a:t>
              </a:r>
              <a:endParaRPr lang="en-US" sz="1200" spc="0" kern="0" b="0" i="0" dirty="0">
                <a:solidFill>
                  <a:srgbClr val="070154"/>
                </a:solidFill>
                <a:latin typeface="IBM Plex Sans"/>
                <a:ea typeface="IBM Plex Sans"/>
                <a:cs typeface="IBM Plex Sans"/>
              </a:endParaRPr>
            </a:p>
          </p:txBody>
        </p:sp>
      </p:grpSp>
      <p:grpSp>
        <p:nvGrpSpPr>
          <p:cNvPr id="114" name="node16"/>
          <p:cNvGrpSpPr/>
          <p:nvPr/>
        </p:nvGrpSpPr>
        <p:grpSpPr>
          <a:xfrm>
            <a:off x="4610100" y="5029200"/>
            <a:ext cx="2971800" cy="711200"/>
            <a:chOff x="4610100" y="5029200"/>
            <a:chExt cx="2971800" cy="711200"/>
          </a:xfrm>
        </p:grpSpPr>
        <p:graphicFrame>
          <p:nvGraphicFramePr>
            <p:cNvPr id="64" name="node16.native"/>
            <p:cNvGraphicFramePr>
              <a:graphicFrameLocks noGrp="1"/>
            </p:cNvGraphicFramePr>
            <p:nvPr>
              <p:extLst>
                <p:ext uri="{D42A27DB-BD31-4B8C-83A1-F6EECF244321}">
                  <p14:modId xmlns:p14="http://schemas.microsoft.com/office/powerpoint/2010/main" val="1579011935"/>
                </p:ext>
              </p:extLst>
            </p:nvPr>
          </p:nvGraphicFramePr>
          <p:xfrm>
            <a:off x="4610100" y="5029200"/>
            <a:ext cx="2971800" cy="711200"/>
          </p:xfrm>
          <a:graphic>
            <a:graphicData uri="http://schemas.openxmlformats.org/drawingml/2006/table">
              <a:tbl>
                <a:tblPr/>
                <a:tblGrid>
                  <a:gridCol w="1219200"/>
                  <a:gridCol w="17526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FIT</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INDICATIVE COST</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 · 6 months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65" name="node16.row.item-001.f.rating-1"/>
            <p:cNvSpPr/>
            <p:nvPr/>
          </p:nvSpPr>
          <p:spPr>
            <a:xfrm>
              <a:off x="4762500" y="5511800"/>
              <a:ext cx="101600" cy="101600"/>
            </a:xfrm>
            <a:prstGeom prst="rect">
              <a:avLst/>
            </a:prstGeom>
            <a:solidFill>
              <a:srgbClr val="0047FF"/>
            </a:solidFill>
            <a:ln w="9525">
              <a:solidFill>
                <a:srgbClr val="0047FF"/>
              </a:solidFill>
              <a:prstDash val="solid"/>
            </a:ln>
          </p:spPr>
        </p:sp>
        <p:sp>
          <p:nvSpPr>
            <p:cNvPr id="66" name="node16.row.item-001.f.rating-2"/>
            <p:cNvSpPr/>
            <p:nvPr/>
          </p:nvSpPr>
          <p:spPr>
            <a:xfrm>
              <a:off x="4902200" y="5511800"/>
              <a:ext cx="101600" cy="101600"/>
            </a:xfrm>
            <a:prstGeom prst="rect">
              <a:avLst/>
            </a:prstGeom>
            <a:solidFill>
              <a:srgbClr val="0047FF"/>
            </a:solidFill>
            <a:ln w="9525">
              <a:solidFill>
                <a:srgbClr val="0047FF"/>
              </a:solidFill>
              <a:prstDash val="solid"/>
            </a:ln>
          </p:spPr>
        </p:sp>
        <p:sp>
          <p:nvSpPr>
            <p:cNvPr id="67" name="node16.row.item-001.f.rating-3"/>
            <p:cNvSpPr/>
            <p:nvPr/>
          </p:nvSpPr>
          <p:spPr>
            <a:xfrm>
              <a:off x="5041900" y="5511800"/>
              <a:ext cx="101600" cy="101600"/>
            </a:xfrm>
            <a:prstGeom prst="rect">
              <a:avLst/>
            </a:prstGeom>
            <a:solidFill>
              <a:srgbClr val="0047FF"/>
            </a:solidFill>
            <a:ln w="9525">
              <a:solidFill>
                <a:srgbClr val="0047FF"/>
              </a:solidFill>
              <a:prstDash val="solid"/>
            </a:ln>
          </p:spPr>
        </p:sp>
        <p:sp>
          <p:nvSpPr>
            <p:cNvPr id="68" name="node16.row.item-001.f.rating-4"/>
            <p:cNvSpPr/>
            <p:nvPr/>
          </p:nvSpPr>
          <p:spPr>
            <a:xfrm>
              <a:off x="5181600" y="5511800"/>
              <a:ext cx="101600" cy="101600"/>
            </a:xfrm>
            <a:prstGeom prst="rect">
              <a:avLst/>
            </a:prstGeom>
            <a:solidFill>
              <a:srgbClr val="0047FF"/>
            </a:solidFill>
            <a:ln w="9525">
              <a:solidFill>
                <a:srgbClr val="0047FF"/>
              </a:solidFill>
              <a:prstDash val="solid"/>
            </a:ln>
          </p:spPr>
        </p:sp>
      </p:grpSp>
      <p:grpSp>
        <p:nvGrpSpPr>
          <p:cNvPr id="115" name="node17"/>
          <p:cNvGrpSpPr/>
          <p:nvPr/>
        </p:nvGrpSpPr>
        <p:grpSpPr>
          <a:xfrm>
            <a:off x="8039100" y="1600200"/>
            <a:ext cx="3429000" cy="4343400"/>
            <a:chOff x="8039100" y="1600200"/>
            <a:chExt cx="3429000" cy="4343400"/>
          </a:xfrm>
        </p:grpSpPr>
        <p:sp>
          <p:nvSpPr>
            <p:cNvPr id="69" name="node17.container"/>
            <p:cNvSpPr/>
            <p:nvPr/>
          </p:nvSpPr>
          <p:spPr>
            <a:xfrm>
              <a:off x="8039100" y="1600200"/>
              <a:ext cx="3429000" cy="4343400"/>
            </a:xfrm>
            <a:prstGeom prst="rect">
              <a:avLst/>
            </a:prstGeom>
            <a:solidFill>
              <a:srgbClr val="E8EEF8"/>
            </a:solidFill>
            <a:ln>
              <a:noFill/>
            </a:ln>
          </p:spPr>
        </p:sp>
      </p:grpSp>
      <p:grpSp>
        <p:nvGrpSpPr>
          <p:cNvPr id="116" name="node18"/>
          <p:cNvGrpSpPr/>
          <p:nvPr/>
        </p:nvGrpSpPr>
        <p:grpSpPr>
          <a:xfrm>
            <a:off x="8267700" y="1828800"/>
            <a:ext cx="1600200" cy="457200"/>
            <a:chOff x="8267700" y="1828800"/>
            <a:chExt cx="1600200" cy="457200"/>
          </a:xfrm>
        </p:grpSpPr>
        <p:sp>
          <p:nvSpPr>
            <p:cNvPr id="70" name="node18.background"/>
            <p:cNvSpPr/>
            <p:nvPr/>
          </p:nvSpPr>
          <p:spPr>
            <a:xfrm>
              <a:off x="8267700" y="1828800"/>
              <a:ext cx="1600200" cy="457200"/>
            </a:xfrm>
            <a:prstGeom prst="rect">
              <a:avLst/>
            </a:prstGeom>
            <a:solidFill>
              <a:srgbClr val="FFFFFF"/>
            </a:solidFill>
            <a:ln>
              <a:noFill/>
            </a:ln>
          </p:spPr>
        </p:sp>
        <p:sp>
          <p:nvSpPr>
            <p:cNvPr id="71" name="node18.hatch.000"/>
            <p:cNvSpPr/>
            <p:nvPr/>
          </p:nvSpPr>
          <p:spPr>
            <a:xfrm>
              <a:off x="8267700" y="1828800"/>
              <a:ext cx="1600200" cy="457200"/>
            </a:xfrm>
            <a:custGeom>
              <a:avLst/>
              <a:gdLst/>
              <a:ahLst/>
              <a:cxnLst/>
              <a:rect l="l" t="t" r="r" b="b"/>
              <a:pathLst>
                <a:path w="1600200" h="457200">
                  <a:moveTo>
                    <a:pt x="0" y="215526"/>
                  </a:moveTo>
                  <a:lnTo>
                    <a:pt x="0" y="107763"/>
                  </a:lnTo>
                  <a:lnTo>
                    <a:pt x="107763" y="0"/>
                  </a:lnTo>
                  <a:lnTo>
                    <a:pt x="215526" y="0"/>
                  </a:lnTo>
                  <a:close/>
                </a:path>
              </a:pathLst>
            </a:custGeom>
            <a:solidFill>
              <a:srgbClr val="F3F6FC"/>
            </a:solidFill>
            <a:ln>
              <a:noFill/>
            </a:ln>
          </p:spPr>
        </p:sp>
        <p:sp>
          <p:nvSpPr>
            <p:cNvPr id="72" name="node18.hatch.001"/>
            <p:cNvSpPr/>
            <p:nvPr/>
          </p:nvSpPr>
          <p:spPr>
            <a:xfrm>
              <a:off x="8267700" y="1828800"/>
              <a:ext cx="1600200" cy="457200"/>
            </a:xfrm>
            <a:custGeom>
              <a:avLst/>
              <a:gdLst/>
              <a:ahLst/>
              <a:cxnLst/>
              <a:rect l="l" t="t" r="r" b="b"/>
              <a:pathLst>
                <a:path w="1600200" h="457200">
                  <a:moveTo>
                    <a:pt x="0" y="431052"/>
                  </a:moveTo>
                  <a:lnTo>
                    <a:pt x="0" y="323289"/>
                  </a:lnTo>
                  <a:lnTo>
                    <a:pt x="323289" y="0"/>
                  </a:lnTo>
                  <a:lnTo>
                    <a:pt x="431052" y="0"/>
                  </a:lnTo>
                  <a:close/>
                </a:path>
              </a:pathLst>
            </a:custGeom>
            <a:solidFill>
              <a:srgbClr val="F3F6FC"/>
            </a:solidFill>
            <a:ln>
              <a:noFill/>
            </a:ln>
          </p:spPr>
        </p:sp>
        <p:sp>
          <p:nvSpPr>
            <p:cNvPr id="73" name="node18.hatch.002"/>
            <p:cNvSpPr/>
            <p:nvPr/>
          </p:nvSpPr>
          <p:spPr>
            <a:xfrm>
              <a:off x="8267700" y="1828800"/>
              <a:ext cx="1600200" cy="457200"/>
            </a:xfrm>
            <a:custGeom>
              <a:avLst/>
              <a:gdLst/>
              <a:ahLst/>
              <a:cxnLst/>
              <a:rect l="l" t="t" r="r" b="b"/>
              <a:pathLst>
                <a:path w="1600200" h="457200">
                  <a:moveTo>
                    <a:pt x="538815" y="0"/>
                  </a:moveTo>
                  <a:lnTo>
                    <a:pt x="646578" y="0"/>
                  </a:lnTo>
                  <a:lnTo>
                    <a:pt x="189378" y="457200"/>
                  </a:lnTo>
                  <a:lnTo>
                    <a:pt x="81615" y="457200"/>
                  </a:lnTo>
                  <a:close/>
                </a:path>
              </a:pathLst>
            </a:custGeom>
            <a:solidFill>
              <a:srgbClr val="F3F6FC"/>
            </a:solidFill>
            <a:ln>
              <a:noFill/>
            </a:ln>
          </p:spPr>
        </p:sp>
        <p:sp>
          <p:nvSpPr>
            <p:cNvPr id="74" name="node18.hatch.003"/>
            <p:cNvSpPr/>
            <p:nvPr/>
          </p:nvSpPr>
          <p:spPr>
            <a:xfrm>
              <a:off x="8267700" y="1828800"/>
              <a:ext cx="1600200" cy="457200"/>
            </a:xfrm>
            <a:custGeom>
              <a:avLst/>
              <a:gdLst/>
              <a:ahLst/>
              <a:cxnLst/>
              <a:rect l="l" t="t" r="r" b="b"/>
              <a:pathLst>
                <a:path w="1600200" h="457200">
                  <a:moveTo>
                    <a:pt x="754342" y="0"/>
                  </a:moveTo>
                  <a:lnTo>
                    <a:pt x="862105" y="0"/>
                  </a:lnTo>
                  <a:lnTo>
                    <a:pt x="404905" y="457200"/>
                  </a:lnTo>
                  <a:lnTo>
                    <a:pt x="297142" y="457200"/>
                  </a:lnTo>
                  <a:close/>
                </a:path>
              </a:pathLst>
            </a:custGeom>
            <a:solidFill>
              <a:srgbClr val="F3F6FC"/>
            </a:solidFill>
            <a:ln>
              <a:noFill/>
            </a:ln>
          </p:spPr>
        </p:sp>
        <p:sp>
          <p:nvSpPr>
            <p:cNvPr id="75" name="node18.hatch.004"/>
            <p:cNvSpPr/>
            <p:nvPr/>
          </p:nvSpPr>
          <p:spPr>
            <a:xfrm>
              <a:off x="8267700" y="1828800"/>
              <a:ext cx="1600200" cy="457200"/>
            </a:xfrm>
            <a:custGeom>
              <a:avLst/>
              <a:gdLst/>
              <a:ahLst/>
              <a:cxnLst/>
              <a:rect l="l" t="t" r="r" b="b"/>
              <a:pathLst>
                <a:path w="1600200" h="457200">
                  <a:moveTo>
                    <a:pt x="969868" y="0"/>
                  </a:moveTo>
                  <a:lnTo>
                    <a:pt x="1077631" y="0"/>
                  </a:lnTo>
                  <a:lnTo>
                    <a:pt x="620431" y="457200"/>
                  </a:lnTo>
                  <a:lnTo>
                    <a:pt x="512668" y="457200"/>
                  </a:lnTo>
                  <a:close/>
                </a:path>
              </a:pathLst>
            </a:custGeom>
            <a:solidFill>
              <a:srgbClr val="F3F6FC"/>
            </a:solidFill>
            <a:ln>
              <a:noFill/>
            </a:ln>
          </p:spPr>
        </p:sp>
        <p:sp>
          <p:nvSpPr>
            <p:cNvPr id="76" name="node18.hatch.005"/>
            <p:cNvSpPr/>
            <p:nvPr/>
          </p:nvSpPr>
          <p:spPr>
            <a:xfrm>
              <a:off x="8267700" y="1828800"/>
              <a:ext cx="1600200" cy="457200"/>
            </a:xfrm>
            <a:custGeom>
              <a:avLst/>
              <a:gdLst/>
              <a:ahLst/>
              <a:cxnLst/>
              <a:rect l="l" t="t" r="r" b="b"/>
              <a:pathLst>
                <a:path w="1600200" h="457200">
                  <a:moveTo>
                    <a:pt x="1185394" y="0"/>
                  </a:moveTo>
                  <a:lnTo>
                    <a:pt x="1293157" y="0"/>
                  </a:lnTo>
                  <a:lnTo>
                    <a:pt x="835957" y="457200"/>
                  </a:lnTo>
                  <a:lnTo>
                    <a:pt x="728194" y="457200"/>
                  </a:lnTo>
                  <a:close/>
                </a:path>
              </a:pathLst>
            </a:custGeom>
            <a:solidFill>
              <a:srgbClr val="F3F6FC"/>
            </a:solidFill>
            <a:ln>
              <a:noFill/>
            </a:ln>
          </p:spPr>
        </p:sp>
        <p:sp>
          <p:nvSpPr>
            <p:cNvPr id="77" name="node18.hatch.006"/>
            <p:cNvSpPr/>
            <p:nvPr/>
          </p:nvSpPr>
          <p:spPr>
            <a:xfrm>
              <a:off x="8267700" y="1828800"/>
              <a:ext cx="1600200" cy="457200"/>
            </a:xfrm>
            <a:custGeom>
              <a:avLst/>
              <a:gdLst/>
              <a:ahLst/>
              <a:cxnLst/>
              <a:rect l="l" t="t" r="r" b="b"/>
              <a:pathLst>
                <a:path w="1600200" h="457200">
                  <a:moveTo>
                    <a:pt x="1400920" y="0"/>
                  </a:moveTo>
                  <a:lnTo>
                    <a:pt x="1508683" y="0"/>
                  </a:lnTo>
                  <a:lnTo>
                    <a:pt x="1051483" y="457200"/>
                  </a:lnTo>
                  <a:lnTo>
                    <a:pt x="943720" y="457200"/>
                  </a:lnTo>
                  <a:close/>
                </a:path>
              </a:pathLst>
            </a:custGeom>
            <a:solidFill>
              <a:srgbClr val="F3F6FC"/>
            </a:solidFill>
            <a:ln>
              <a:noFill/>
            </a:ln>
          </p:spPr>
        </p:sp>
        <p:sp>
          <p:nvSpPr>
            <p:cNvPr id="78" name="node18.hatch.007"/>
            <p:cNvSpPr/>
            <p:nvPr/>
          </p:nvSpPr>
          <p:spPr>
            <a:xfrm>
              <a:off x="8267700" y="1828800"/>
              <a:ext cx="1600200" cy="457200"/>
            </a:xfrm>
            <a:custGeom>
              <a:avLst/>
              <a:gdLst/>
              <a:ahLst/>
              <a:cxnLst/>
              <a:rect l="l" t="t" r="r" b="b"/>
              <a:pathLst>
                <a:path w="1600200" h="457200">
                  <a:moveTo>
                    <a:pt x="1600200" y="16246"/>
                  </a:moveTo>
                  <a:lnTo>
                    <a:pt x="1600200" y="124009"/>
                  </a:lnTo>
                  <a:lnTo>
                    <a:pt x="1267009" y="457200"/>
                  </a:lnTo>
                  <a:lnTo>
                    <a:pt x="1159246" y="457200"/>
                  </a:lnTo>
                  <a:close/>
                </a:path>
              </a:pathLst>
            </a:custGeom>
            <a:solidFill>
              <a:srgbClr val="F3F6FC"/>
            </a:solidFill>
            <a:ln>
              <a:noFill/>
            </a:ln>
          </p:spPr>
        </p:sp>
        <p:sp>
          <p:nvSpPr>
            <p:cNvPr id="79" name="node18.hatch.008"/>
            <p:cNvSpPr/>
            <p:nvPr/>
          </p:nvSpPr>
          <p:spPr>
            <a:xfrm>
              <a:off x="8267700" y="1828800"/>
              <a:ext cx="1600200" cy="457200"/>
            </a:xfrm>
            <a:custGeom>
              <a:avLst/>
              <a:gdLst/>
              <a:ahLst/>
              <a:cxnLst/>
              <a:rect l="l" t="t" r="r" b="b"/>
              <a:pathLst>
                <a:path w="1600200" h="457200">
                  <a:moveTo>
                    <a:pt x="1600200" y="231772"/>
                  </a:moveTo>
                  <a:lnTo>
                    <a:pt x="1600200" y="339535"/>
                  </a:lnTo>
                  <a:lnTo>
                    <a:pt x="1482535" y="457200"/>
                  </a:lnTo>
                  <a:lnTo>
                    <a:pt x="1374772" y="457200"/>
                  </a:lnTo>
                  <a:close/>
                </a:path>
              </a:pathLst>
            </a:custGeom>
            <a:solidFill>
              <a:srgbClr val="F3F6FC"/>
            </a:solidFill>
            <a:ln>
              <a:noFill/>
            </a:ln>
          </p:spPr>
        </p:sp>
        <p:sp>
          <p:nvSpPr>
            <p:cNvPr id="80" name="node18.hatch.009"/>
            <p:cNvSpPr/>
            <p:nvPr/>
          </p:nvSpPr>
          <p:spPr>
            <a:xfrm>
              <a:off x="8267700" y="1828800"/>
              <a:ext cx="1600200" cy="457200"/>
            </a:xfrm>
            <a:custGeom>
              <a:avLst/>
              <a:gdLst/>
              <a:ahLst/>
              <a:cxnLst/>
              <a:rect l="l" t="t" r="r" b="b"/>
              <a:pathLst>
                <a:path w="1600200" h="457200">
                  <a:moveTo>
                    <a:pt x="1600200" y="447298"/>
                  </a:moveTo>
                  <a:lnTo>
                    <a:pt x="1600200" y="457200"/>
                  </a:lnTo>
                  <a:lnTo>
                    <a:pt x="1590298" y="457200"/>
                  </a:lnTo>
                  <a:close/>
                </a:path>
              </a:pathLst>
            </a:custGeom>
            <a:solidFill>
              <a:srgbClr val="F3F6FC"/>
            </a:solidFill>
            <a:ln>
              <a:noFill/>
            </a:ln>
          </p:spPr>
        </p:sp>
        <p:sp>
          <p:nvSpPr>
            <p:cNvPr id="81" name="node18.border"/>
            <p:cNvSpPr/>
            <p:nvPr/>
          </p:nvSpPr>
          <p:spPr>
            <a:xfrm>
              <a:off x="8267700" y="1828800"/>
              <a:ext cx="1600200" cy="457200"/>
            </a:xfrm>
            <a:prstGeom prst="rect">
              <a:avLst/>
            </a:prstGeom>
            <a:ln w="12700">
              <a:solidFill>
                <a:srgbClr val="97A4BA"/>
              </a:solidFill>
              <a:prstDash val="solid"/>
            </a:ln>
          </p:spPr>
        </p:sp>
        <p:sp>
          <p:nvSpPr>
            <p:cNvPr id="82" name="node18.placeholder"/>
            <p:cNvSpPr/>
            <p:nvPr/>
          </p:nvSpPr>
          <p:spPr>
            <a:xfrm>
              <a:off x="8293100" y="1987550"/>
              <a:ext cx="15494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SemiBold"/>
                  <a:ea typeface="IBM Plex Mono SemiBold"/>
                  <a:cs typeface="IBM Plex Mono SemiBold"/>
                </a:rPr>
                <a:t>VENDOR C LOGO</a:t>
              </a:r>
              <a:endParaRPr lang="en-US" sz="800" spc="48" kern="0" b="0" i="0" dirty="0">
                <a:solidFill>
                  <a:srgbClr val="50658E"/>
                </a:solidFill>
                <a:latin typeface="IBM Plex Mono SemiBold"/>
                <a:ea typeface="IBM Plex Mono SemiBold"/>
                <a:cs typeface="IBM Plex Mono SemiBold"/>
              </a:endParaRPr>
            </a:p>
          </p:txBody>
        </p:sp>
      </p:grpSp>
      <p:grpSp>
        <p:nvGrpSpPr>
          <p:cNvPr id="117" name="node19"/>
          <p:cNvGrpSpPr/>
          <p:nvPr/>
        </p:nvGrpSpPr>
        <p:grpSpPr>
          <a:xfrm>
            <a:off x="8267700" y="2400300"/>
            <a:ext cx="2971800" cy="215900"/>
            <a:chOff x="8267700" y="2400300"/>
            <a:chExt cx="2971800" cy="215900"/>
          </a:xfrm>
        </p:grpSpPr>
        <p:sp>
          <p:nvSpPr>
            <p:cNvPr id="83" name="node19.text"/>
            <p:cNvSpPr/>
            <p:nvPr/>
          </p:nvSpPr>
          <p:spPr>
            <a:xfrm>
              <a:off x="8267700" y="24003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Low-cost option for focused needs</a:t>
              </a:r>
              <a:endParaRPr lang="en-US" sz="1200" spc="0" kern="0" b="0" i="0" dirty="0">
                <a:solidFill>
                  <a:srgbClr val="070154"/>
                </a:solidFill>
                <a:latin typeface="IBM Plex Sans"/>
                <a:ea typeface="IBM Plex Sans"/>
                <a:cs typeface="IBM Plex Sans"/>
              </a:endParaRPr>
            </a:p>
          </p:txBody>
        </p:sp>
      </p:grpSp>
      <p:grpSp>
        <p:nvGrpSpPr>
          <p:cNvPr id="118" name="node20"/>
          <p:cNvGrpSpPr/>
          <p:nvPr/>
        </p:nvGrpSpPr>
        <p:grpSpPr>
          <a:xfrm>
            <a:off x="8267700" y="3086100"/>
            <a:ext cx="2971800" cy="139700"/>
            <a:chOff x="8267700" y="3086100"/>
            <a:chExt cx="2971800" cy="139700"/>
          </a:xfrm>
        </p:grpSpPr>
        <p:sp>
          <p:nvSpPr>
            <p:cNvPr id="84" name="node20.text"/>
            <p:cNvSpPr/>
            <p:nvPr/>
          </p:nvSpPr>
          <p:spPr>
            <a:xfrm>
              <a:off x="8267700" y="30861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STRENGTHS</a:t>
              </a:r>
              <a:endParaRPr lang="en-US" sz="800" spc="48" kern="0" b="0" i="0" dirty="0">
                <a:solidFill>
                  <a:srgbClr val="0047FF"/>
                </a:solidFill>
                <a:latin typeface="IBM Plex Mono Medium"/>
                <a:ea typeface="IBM Plex Mono Medium"/>
                <a:cs typeface="IBM Plex Mono Medium"/>
              </a:endParaRPr>
            </a:p>
          </p:txBody>
        </p:sp>
      </p:grpSp>
      <p:grpSp>
        <p:nvGrpSpPr>
          <p:cNvPr id="119" name="node21"/>
          <p:cNvGrpSpPr/>
          <p:nvPr/>
        </p:nvGrpSpPr>
        <p:grpSpPr>
          <a:xfrm>
            <a:off x="8267700" y="3314700"/>
            <a:ext cx="2971800" cy="469900"/>
            <a:chOff x="8267700" y="3314700"/>
            <a:chExt cx="2971800" cy="469900"/>
          </a:xfrm>
        </p:grpSpPr>
        <p:sp>
          <p:nvSpPr>
            <p:cNvPr id="85" name="node21.source-001.bullet"/>
            <p:cNvSpPr/>
            <p:nvPr/>
          </p:nvSpPr>
          <p:spPr>
            <a:xfrm>
              <a:off x="8267700" y="3403600"/>
              <a:ext cx="38100" cy="38100"/>
            </a:xfrm>
            <a:prstGeom prst="rect">
              <a:avLst/>
            </a:prstGeom>
            <a:solidFill>
              <a:srgbClr val="070154"/>
            </a:solidFill>
            <a:ln>
              <a:noFill/>
            </a:ln>
          </p:spPr>
        </p:sp>
        <p:sp>
          <p:nvSpPr>
            <p:cNvPr id="86" name="node21.source-001.text"/>
            <p:cNvSpPr/>
            <p:nvPr/>
          </p:nvSpPr>
          <p:spPr>
            <a:xfrm>
              <a:off x="8420100" y="3314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Lowest license cost</a:t>
              </a:r>
              <a:endParaRPr lang="en-US" sz="1200" spc="0" kern="0" b="0" i="0" dirty="0">
                <a:solidFill>
                  <a:srgbClr val="070154"/>
                </a:solidFill>
                <a:latin typeface="IBM Plex Sans"/>
                <a:ea typeface="IBM Plex Sans"/>
                <a:cs typeface="IBM Plex Sans"/>
              </a:endParaRPr>
            </a:p>
          </p:txBody>
        </p:sp>
        <p:sp>
          <p:nvSpPr>
            <p:cNvPr id="87" name="node21.source-002.bullet"/>
            <p:cNvSpPr/>
            <p:nvPr/>
          </p:nvSpPr>
          <p:spPr>
            <a:xfrm>
              <a:off x="8267700" y="3657600"/>
              <a:ext cx="38100" cy="38100"/>
            </a:xfrm>
            <a:prstGeom prst="rect">
              <a:avLst/>
            </a:prstGeom>
            <a:solidFill>
              <a:srgbClr val="070154"/>
            </a:solidFill>
            <a:ln>
              <a:noFill/>
            </a:ln>
          </p:spPr>
        </p:sp>
        <p:sp>
          <p:nvSpPr>
            <p:cNvPr id="88" name="node21.source-002.text"/>
            <p:cNvSpPr/>
            <p:nvPr/>
          </p:nvSpPr>
          <p:spPr>
            <a:xfrm>
              <a:off x="8420100" y="3568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Simple to administer</a:t>
              </a:r>
              <a:endParaRPr lang="en-US" sz="1200" spc="0" kern="0" b="0" i="0" dirty="0">
                <a:solidFill>
                  <a:srgbClr val="070154"/>
                </a:solidFill>
                <a:latin typeface="IBM Plex Sans"/>
                <a:ea typeface="IBM Plex Sans"/>
                <a:cs typeface="IBM Plex Sans"/>
              </a:endParaRPr>
            </a:p>
          </p:txBody>
        </p:sp>
      </p:grpSp>
      <p:grpSp>
        <p:nvGrpSpPr>
          <p:cNvPr id="120" name="node22"/>
          <p:cNvGrpSpPr/>
          <p:nvPr/>
        </p:nvGrpSpPr>
        <p:grpSpPr>
          <a:xfrm>
            <a:off x="8267700" y="4000500"/>
            <a:ext cx="2971800" cy="139700"/>
            <a:chOff x="8267700" y="4000500"/>
            <a:chExt cx="2971800" cy="139700"/>
          </a:xfrm>
        </p:grpSpPr>
        <p:sp>
          <p:nvSpPr>
            <p:cNvPr id="89" name="node22.text"/>
            <p:cNvSpPr/>
            <p:nvPr/>
          </p:nvSpPr>
          <p:spPr>
            <a:xfrm>
              <a:off x="8267700" y="40005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WATCH-OUTS</a:t>
              </a:r>
              <a:endParaRPr lang="en-US" sz="800" spc="48" kern="0" b="0" i="0" dirty="0">
                <a:solidFill>
                  <a:srgbClr val="0047FF"/>
                </a:solidFill>
                <a:latin typeface="IBM Plex Mono Medium"/>
                <a:ea typeface="IBM Plex Mono Medium"/>
                <a:cs typeface="IBM Plex Mono Medium"/>
              </a:endParaRPr>
            </a:p>
          </p:txBody>
        </p:sp>
      </p:grpSp>
      <p:grpSp>
        <p:nvGrpSpPr>
          <p:cNvPr id="121" name="node23"/>
          <p:cNvGrpSpPr/>
          <p:nvPr/>
        </p:nvGrpSpPr>
        <p:grpSpPr>
          <a:xfrm>
            <a:off x="8267700" y="4229100"/>
            <a:ext cx="2971800" cy="469900"/>
            <a:chOff x="8267700" y="4229100"/>
            <a:chExt cx="2971800" cy="469900"/>
          </a:xfrm>
        </p:grpSpPr>
        <p:sp>
          <p:nvSpPr>
            <p:cNvPr id="90" name="node23.source-001.bullet"/>
            <p:cNvSpPr/>
            <p:nvPr/>
          </p:nvSpPr>
          <p:spPr>
            <a:xfrm>
              <a:off x="8267700" y="4318000"/>
              <a:ext cx="38100" cy="38100"/>
            </a:xfrm>
            <a:prstGeom prst="rect">
              <a:avLst/>
            </a:prstGeom>
            <a:solidFill>
              <a:srgbClr val="070154"/>
            </a:solidFill>
            <a:ln>
              <a:noFill/>
            </a:ln>
          </p:spPr>
        </p:sp>
        <p:sp>
          <p:nvSpPr>
            <p:cNvPr id="91" name="node23.source-001.text"/>
            <p:cNvSpPr/>
            <p:nvPr/>
          </p:nvSpPr>
          <p:spPr>
            <a:xfrm>
              <a:off x="8420100" y="42291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Limited workflow depth</a:t>
              </a:r>
              <a:endParaRPr lang="en-US" sz="1200" spc="0" kern="0" b="0" i="0" dirty="0">
                <a:solidFill>
                  <a:srgbClr val="070154"/>
                </a:solidFill>
                <a:latin typeface="IBM Plex Sans"/>
                <a:ea typeface="IBM Plex Sans"/>
                <a:cs typeface="IBM Plex Sans"/>
              </a:endParaRPr>
            </a:p>
          </p:txBody>
        </p:sp>
        <p:sp>
          <p:nvSpPr>
            <p:cNvPr id="92" name="node23.source-002.bullet"/>
            <p:cNvSpPr/>
            <p:nvPr/>
          </p:nvSpPr>
          <p:spPr>
            <a:xfrm>
              <a:off x="8267700" y="4572000"/>
              <a:ext cx="38100" cy="38100"/>
            </a:xfrm>
            <a:prstGeom prst="rect">
              <a:avLst/>
            </a:prstGeom>
            <a:solidFill>
              <a:srgbClr val="070154"/>
            </a:solidFill>
            <a:ln>
              <a:noFill/>
            </a:ln>
          </p:spPr>
        </p:sp>
        <p:sp>
          <p:nvSpPr>
            <p:cNvPr id="93" name="node23.source-002.text"/>
            <p:cNvSpPr/>
            <p:nvPr/>
          </p:nvSpPr>
          <p:spPr>
            <a:xfrm>
              <a:off x="8420100" y="44831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Few healthcare references</a:t>
              </a:r>
              <a:endParaRPr lang="en-US" sz="1200" spc="0" kern="0" b="0" i="0" dirty="0">
                <a:solidFill>
                  <a:srgbClr val="070154"/>
                </a:solidFill>
                <a:latin typeface="IBM Plex Sans"/>
                <a:ea typeface="IBM Plex Sans"/>
                <a:cs typeface="IBM Plex Sans"/>
              </a:endParaRPr>
            </a:p>
          </p:txBody>
        </p:sp>
      </p:grpSp>
      <p:grpSp>
        <p:nvGrpSpPr>
          <p:cNvPr id="122" name="node24"/>
          <p:cNvGrpSpPr/>
          <p:nvPr/>
        </p:nvGrpSpPr>
        <p:grpSpPr>
          <a:xfrm>
            <a:off x="8267700" y="5029200"/>
            <a:ext cx="2971800" cy="711200"/>
            <a:chOff x="8267700" y="5029200"/>
            <a:chExt cx="2971800" cy="711200"/>
          </a:xfrm>
        </p:grpSpPr>
        <p:graphicFrame>
          <p:nvGraphicFramePr>
            <p:cNvPr id="94" name="node24.native"/>
            <p:cNvGraphicFramePr>
              <a:graphicFrameLocks noGrp="1"/>
            </p:cNvGraphicFramePr>
            <p:nvPr>
              <p:extLst>
                <p:ext uri="{D42A27DB-BD31-4B8C-83A1-F6EECF244321}">
                  <p14:modId xmlns:p14="http://schemas.microsoft.com/office/powerpoint/2010/main" val="1579011935"/>
                </p:ext>
              </p:extLst>
            </p:nvPr>
          </p:nvGraphicFramePr>
          <p:xfrm>
            <a:off x="8267700" y="5029200"/>
            <a:ext cx="2971800" cy="711200"/>
          </p:xfrm>
          <a:graphic>
            <a:graphicData uri="http://schemas.openxmlformats.org/drawingml/2006/table">
              <a:tbl>
                <a:tblPr/>
                <a:tblGrid>
                  <a:gridCol w="1219200"/>
                  <a:gridCol w="17526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FIT</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INDICATIVE COST</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 · 5 months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95" name="node24.row.item-001.f.rating-1"/>
            <p:cNvSpPr/>
            <p:nvPr/>
          </p:nvSpPr>
          <p:spPr>
            <a:xfrm>
              <a:off x="8420100" y="5511800"/>
              <a:ext cx="101600" cy="101600"/>
            </a:xfrm>
            <a:prstGeom prst="rect">
              <a:avLst/>
            </a:prstGeom>
            <a:solidFill>
              <a:srgbClr val="070154"/>
            </a:solidFill>
            <a:ln w="9525">
              <a:solidFill>
                <a:srgbClr val="070154"/>
              </a:solidFill>
              <a:prstDash val="solid"/>
            </a:ln>
          </p:spPr>
        </p:sp>
        <p:sp>
          <p:nvSpPr>
            <p:cNvPr id="96" name="node24.row.item-001.f.rating-2"/>
            <p:cNvSpPr/>
            <p:nvPr/>
          </p:nvSpPr>
          <p:spPr>
            <a:xfrm>
              <a:off x="8559800" y="5511800"/>
              <a:ext cx="101600" cy="101600"/>
            </a:xfrm>
            <a:prstGeom prst="rect">
              <a:avLst/>
            </a:prstGeom>
            <a:solidFill>
              <a:srgbClr val="070154"/>
            </a:solidFill>
            <a:ln w="9525">
              <a:solidFill>
                <a:srgbClr val="070154"/>
              </a:solidFill>
              <a:prstDash val="solid"/>
            </a:ln>
          </p:spPr>
        </p:sp>
        <p:sp>
          <p:nvSpPr>
            <p:cNvPr id="97" name="node24.row.item-001.f.rating-3"/>
            <p:cNvSpPr/>
            <p:nvPr/>
          </p:nvSpPr>
          <p:spPr>
            <a:xfrm>
              <a:off x="8699500" y="5511800"/>
              <a:ext cx="101600" cy="101600"/>
            </a:xfrm>
            <a:prstGeom prst="rect">
              <a:avLst/>
            </a:prstGeom>
            <a:solidFill>
              <a:srgbClr val="FFFFFF"/>
            </a:solidFill>
            <a:ln w="9525">
              <a:solidFill>
                <a:srgbClr val="070154"/>
              </a:solidFill>
              <a:prstDash val="solid"/>
            </a:ln>
          </p:spPr>
        </p:sp>
        <p:sp>
          <p:nvSpPr>
            <p:cNvPr id="98" name="node24.row.item-001.f.rating-4"/>
            <p:cNvSpPr/>
            <p:nvPr/>
          </p:nvSpPr>
          <p:spPr>
            <a:xfrm>
              <a:off x="8839200" y="5511800"/>
              <a:ext cx="101600" cy="101600"/>
            </a:xfrm>
            <a:prstGeom prst="rect">
              <a:avLst/>
            </a:prstGeom>
            <a:solidFill>
              <a:srgbClr val="FFFFFF"/>
            </a:solidFill>
            <a:ln w="9525">
              <a:solidFill>
                <a:srgbClr val="070154"/>
              </a:solidFill>
              <a:prstDash val="solid"/>
            </a:ln>
          </p:spPr>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ource-60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VENDOR SELECTION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steps narrowed twelve vendors to one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48</a:t>
            </a:fld>
            <a:endParaRPr lang="en-US" sz="700" spc="0" kern="0" b="0" i="0" dirty="0">
              <a:solidFill>
                <a:srgbClr val="070154"/>
              </a:solidFill>
              <a:latin typeface="IBM Plex Mono SemiBold"/>
              <a:ea typeface="IBM Plex Mono SemiBold"/>
              <a:cs typeface="IBM Plex Mono SemiBold"/>
            </a:endParaRPr>
          </a:p>
        </p:txBody>
      </p:sp>
      <p:grpSp>
        <p:nvGrpSpPr>
          <p:cNvPr id="44" name="node01"/>
          <p:cNvGrpSpPr/>
          <p:nvPr/>
        </p:nvGrpSpPr>
        <p:grpSpPr>
          <a:xfrm>
            <a:off x="723900" y="1600200"/>
            <a:ext cx="3429000" cy="457200"/>
            <a:chOff x="723900" y="1600200"/>
            <a:chExt cx="3429000" cy="457200"/>
          </a:xfrm>
        </p:grpSpPr>
        <p:sp>
          <p:nvSpPr>
            <p:cNvPr id="6" name="node01.surface"/>
            <p:cNvSpPr/>
            <p:nvPr/>
          </p:nvSpPr>
          <p:spPr>
            <a:xfrm>
              <a:off x="723900" y="1600200"/>
              <a:ext cx="3429000" cy="457200"/>
            </a:xfrm>
            <a:custGeom>
              <a:avLst/>
              <a:gdLst/>
              <a:ahLst/>
              <a:cxnLst/>
              <a:rect l="l" t="t" r="r" b="b"/>
              <a:pathLst>
                <a:path w="3429000" h="457200">
                  <a:moveTo>
                    <a:pt x="0" y="0"/>
                  </a:moveTo>
                  <a:lnTo>
                    <a:pt x="3276600" y="0"/>
                  </a:lnTo>
                  <a:lnTo>
                    <a:pt x="3429000" y="228600"/>
                  </a:lnTo>
                  <a:lnTo>
                    <a:pt x="3276600" y="457200"/>
                  </a:lnTo>
                  <a:lnTo>
                    <a:pt x="0" y="457200"/>
                  </a:lnTo>
                  <a:close/>
                </a:path>
              </a:pathLst>
            </a:custGeom>
            <a:solidFill>
              <a:srgbClr val="E8EEF8"/>
            </a:solidFill>
            <a:ln>
              <a:noFill/>
            </a:ln>
          </p:spPr>
        </p:sp>
        <p:sp>
          <p:nvSpPr>
            <p:cNvPr id="7" name="node01.text"/>
            <p:cNvSpPr/>
            <p:nvPr/>
          </p:nvSpPr>
          <p:spPr>
            <a:xfrm>
              <a:off x="876300" y="1720850"/>
              <a:ext cx="30480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a:ea typeface="IBM Plex Sans"/>
                  <a:cs typeface="IBM Plex Sans"/>
                </a:rPr>
                <a:t>Long list</a:t>
              </a:r>
              <a:endParaRPr lang="en-US" sz="1200" spc="0" kern="0" b="0" i="0" dirty="0">
                <a:solidFill>
                  <a:srgbClr val="070154"/>
                </a:solidFill>
                <a:latin typeface="IBM Plex Sans"/>
                <a:ea typeface="IBM Plex Sans"/>
                <a:cs typeface="IBM Plex Sans"/>
              </a:endParaRPr>
            </a:p>
          </p:txBody>
        </p:sp>
      </p:grpSp>
      <p:grpSp>
        <p:nvGrpSpPr>
          <p:cNvPr id="45" name="node02"/>
          <p:cNvGrpSpPr/>
          <p:nvPr/>
        </p:nvGrpSpPr>
        <p:grpSpPr>
          <a:xfrm>
            <a:off x="723900" y="2286000"/>
            <a:ext cx="3429000" cy="2971800"/>
            <a:chOff x="723900" y="2286000"/>
            <a:chExt cx="3429000" cy="2971800"/>
          </a:xfrm>
        </p:grpSpPr>
        <p:sp>
          <p:nvSpPr>
            <p:cNvPr id="8" name="node02.container"/>
            <p:cNvSpPr/>
            <p:nvPr/>
          </p:nvSpPr>
          <p:spPr>
            <a:xfrm>
              <a:off x="723900" y="2286000"/>
              <a:ext cx="3429000" cy="2971800"/>
            </a:xfrm>
            <a:prstGeom prst="rect">
              <a:avLst/>
            </a:prstGeom>
            <a:solidFill>
              <a:srgbClr val="E8EEF8"/>
            </a:solidFill>
            <a:ln>
              <a:noFill/>
            </a:ln>
          </p:spPr>
        </p:sp>
      </p:grpSp>
      <p:grpSp>
        <p:nvGrpSpPr>
          <p:cNvPr id="46" name="node03"/>
          <p:cNvGrpSpPr/>
          <p:nvPr/>
        </p:nvGrpSpPr>
        <p:grpSpPr>
          <a:xfrm>
            <a:off x="952500" y="2514600"/>
            <a:ext cx="2971800" cy="382461"/>
            <a:chOff x="952500" y="2514600"/>
            <a:chExt cx="2971800" cy="382461"/>
          </a:xfrm>
        </p:grpSpPr>
        <p:sp>
          <p:nvSpPr>
            <p:cNvPr id="9" name="node03.text"/>
            <p:cNvSpPr/>
            <p:nvPr/>
          </p:nvSpPr>
          <p:spPr>
            <a:xfrm>
              <a:off x="952500" y="2514600"/>
              <a:ext cx="2971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070154"/>
                  </a:solidFill>
                  <a:latin typeface="IBM Plex Mono SemiBold"/>
                  <a:ea typeface="IBM Plex Mono SemiBold"/>
                  <a:cs typeface="IBM Plex Mono SemiBold"/>
                </a:rPr>
                <a:t>12 vendors</a:t>
              </a:r>
              <a:endParaRPr lang="en-US" sz="3000" spc="-60" kern="0" b="0" i="0" dirty="0">
                <a:solidFill>
                  <a:srgbClr val="070154"/>
                </a:solidFill>
                <a:latin typeface="IBM Plex Mono SemiBold"/>
                <a:ea typeface="IBM Plex Mono SemiBold"/>
                <a:cs typeface="IBM Plex Mono SemiBold"/>
              </a:endParaRPr>
            </a:p>
          </p:txBody>
        </p:sp>
      </p:grpSp>
      <p:grpSp>
        <p:nvGrpSpPr>
          <p:cNvPr id="47" name="node04"/>
          <p:cNvGrpSpPr/>
          <p:nvPr/>
        </p:nvGrpSpPr>
        <p:grpSpPr>
          <a:xfrm>
            <a:off x="952500" y="3200400"/>
            <a:ext cx="2971800" cy="139700"/>
            <a:chOff x="952500" y="3200400"/>
            <a:chExt cx="2971800" cy="139700"/>
          </a:xfrm>
        </p:grpSpPr>
        <p:sp>
          <p:nvSpPr>
            <p:cNvPr id="10" name="node04.text"/>
            <p:cNvSpPr/>
            <p:nvPr/>
          </p:nvSpPr>
          <p:spPr>
            <a:xfrm>
              <a:off x="952500" y="32004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CRITERIA APPLIED</a:t>
              </a:r>
              <a:endParaRPr lang="en-US" sz="800" spc="48" kern="0" b="0" i="0" dirty="0">
                <a:solidFill>
                  <a:srgbClr val="0047FF"/>
                </a:solidFill>
                <a:latin typeface="IBM Plex Mono Medium"/>
                <a:ea typeface="IBM Plex Mono Medium"/>
                <a:cs typeface="IBM Plex Mono Medium"/>
              </a:endParaRPr>
            </a:p>
          </p:txBody>
        </p:sp>
      </p:grpSp>
      <p:grpSp>
        <p:nvGrpSpPr>
          <p:cNvPr id="48" name="node05"/>
          <p:cNvGrpSpPr/>
          <p:nvPr/>
        </p:nvGrpSpPr>
        <p:grpSpPr>
          <a:xfrm>
            <a:off x="952500" y="3429000"/>
            <a:ext cx="2971800" cy="723900"/>
            <a:chOff x="952500" y="3429000"/>
            <a:chExt cx="2971800" cy="723900"/>
          </a:xfrm>
        </p:grpSpPr>
        <p:sp>
          <p:nvSpPr>
            <p:cNvPr id="11" name="node05.source-001.bullet"/>
            <p:cNvSpPr/>
            <p:nvPr/>
          </p:nvSpPr>
          <p:spPr>
            <a:xfrm>
              <a:off x="952500" y="3517900"/>
              <a:ext cx="38100" cy="38100"/>
            </a:xfrm>
            <a:prstGeom prst="rect">
              <a:avLst/>
            </a:prstGeom>
            <a:solidFill>
              <a:srgbClr val="070154"/>
            </a:solidFill>
            <a:ln>
              <a:noFill/>
            </a:ln>
          </p:spPr>
        </p:sp>
        <p:sp>
          <p:nvSpPr>
            <p:cNvPr id="12" name="node05.source-001.text"/>
            <p:cNvSpPr/>
            <p:nvPr/>
          </p:nvSpPr>
          <p:spPr>
            <a:xfrm>
              <a:off x="1104900" y="34290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Serves healthcare payers</a:t>
              </a:r>
              <a:endParaRPr lang="en-US" sz="1200" spc="0" kern="0" b="0" i="0" dirty="0">
                <a:solidFill>
                  <a:srgbClr val="070154"/>
                </a:solidFill>
                <a:latin typeface="IBM Plex Sans"/>
                <a:ea typeface="IBM Plex Sans"/>
                <a:cs typeface="IBM Plex Sans"/>
              </a:endParaRPr>
            </a:p>
          </p:txBody>
        </p:sp>
        <p:sp>
          <p:nvSpPr>
            <p:cNvPr id="13" name="node05.source-002.bullet"/>
            <p:cNvSpPr/>
            <p:nvPr/>
          </p:nvSpPr>
          <p:spPr>
            <a:xfrm>
              <a:off x="952500" y="3771900"/>
              <a:ext cx="38100" cy="38100"/>
            </a:xfrm>
            <a:prstGeom prst="rect">
              <a:avLst/>
            </a:prstGeom>
            <a:solidFill>
              <a:srgbClr val="070154"/>
            </a:solidFill>
            <a:ln>
              <a:noFill/>
            </a:ln>
          </p:spPr>
        </p:sp>
        <p:sp>
          <p:nvSpPr>
            <p:cNvPr id="14" name="node05.source-002.text"/>
            <p:cNvSpPr/>
            <p:nvPr/>
          </p:nvSpPr>
          <p:spPr>
            <a:xfrm>
              <a:off x="1104900" y="36830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Supports our ERP platform</a:t>
              </a:r>
              <a:endParaRPr lang="en-US" sz="1200" spc="0" kern="0" b="0" i="0" dirty="0">
                <a:solidFill>
                  <a:srgbClr val="070154"/>
                </a:solidFill>
                <a:latin typeface="IBM Plex Sans"/>
                <a:ea typeface="IBM Plex Sans"/>
                <a:cs typeface="IBM Plex Sans"/>
              </a:endParaRPr>
            </a:p>
          </p:txBody>
        </p:sp>
        <p:sp>
          <p:nvSpPr>
            <p:cNvPr id="15" name="node05.source-003.bullet"/>
            <p:cNvSpPr/>
            <p:nvPr/>
          </p:nvSpPr>
          <p:spPr>
            <a:xfrm>
              <a:off x="952500" y="4025900"/>
              <a:ext cx="38100" cy="38100"/>
            </a:xfrm>
            <a:prstGeom prst="rect">
              <a:avLst/>
            </a:prstGeom>
            <a:solidFill>
              <a:srgbClr val="070154"/>
            </a:solidFill>
            <a:ln>
              <a:noFill/>
            </a:ln>
          </p:spPr>
        </p:sp>
        <p:sp>
          <p:nvSpPr>
            <p:cNvPr id="16" name="node05.source-003.text"/>
            <p:cNvSpPr/>
            <p:nvPr/>
          </p:nvSpPr>
          <p:spPr>
            <a:xfrm>
              <a:off x="1104900" y="39370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Offers a cloud delivery model</a:t>
              </a:r>
              <a:endParaRPr lang="en-US" sz="1200" spc="0" kern="0" b="0" i="0" dirty="0">
                <a:solidFill>
                  <a:srgbClr val="070154"/>
                </a:solidFill>
                <a:latin typeface="IBM Plex Sans"/>
                <a:ea typeface="IBM Plex Sans"/>
                <a:cs typeface="IBM Plex Sans"/>
              </a:endParaRPr>
            </a:p>
          </p:txBody>
        </p:sp>
      </p:grpSp>
      <p:grpSp>
        <p:nvGrpSpPr>
          <p:cNvPr id="49" name="node06"/>
          <p:cNvGrpSpPr/>
          <p:nvPr/>
        </p:nvGrpSpPr>
        <p:grpSpPr>
          <a:xfrm>
            <a:off x="952500" y="4343400"/>
            <a:ext cx="2971800" cy="190500"/>
            <a:chOff x="952500" y="4343400"/>
            <a:chExt cx="2971800" cy="190500"/>
          </a:xfrm>
        </p:grpSpPr>
        <p:sp>
          <p:nvSpPr>
            <p:cNvPr id="17" name="node06.text"/>
            <p:cNvSpPr/>
            <p:nvPr/>
          </p:nvSpPr>
          <p:spPr>
            <a:xfrm>
              <a:off x="952500" y="43434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8 vendors out: missing a must-have</a:t>
              </a:r>
              <a:endParaRPr lang="en-US" sz="1100" spc="0" kern="0" b="0" i="0" dirty="0">
                <a:solidFill>
                  <a:srgbClr val="50658E"/>
                </a:solidFill>
                <a:latin typeface="IBM Plex Sans"/>
                <a:ea typeface="IBM Plex Sans"/>
                <a:cs typeface="IBM Plex Sans"/>
              </a:endParaRPr>
            </a:p>
          </p:txBody>
        </p:sp>
      </p:grpSp>
      <p:grpSp>
        <p:nvGrpSpPr>
          <p:cNvPr id="50" name="node07"/>
          <p:cNvGrpSpPr/>
          <p:nvPr/>
        </p:nvGrpSpPr>
        <p:grpSpPr>
          <a:xfrm>
            <a:off x="4381500" y="1600200"/>
            <a:ext cx="3429000" cy="457200"/>
            <a:chOff x="4381500" y="1600200"/>
            <a:chExt cx="3429000" cy="457200"/>
          </a:xfrm>
        </p:grpSpPr>
        <p:sp>
          <p:nvSpPr>
            <p:cNvPr id="18" name="node07.surface"/>
            <p:cNvSpPr/>
            <p:nvPr/>
          </p:nvSpPr>
          <p:spPr>
            <a:xfrm>
              <a:off x="4381500" y="1600200"/>
              <a:ext cx="3429000" cy="457200"/>
            </a:xfrm>
            <a:custGeom>
              <a:avLst/>
              <a:gdLst/>
              <a:ahLst/>
              <a:cxnLst/>
              <a:rect l="l" t="t" r="r" b="b"/>
              <a:pathLst>
                <a:path w="3429000" h="457200">
                  <a:moveTo>
                    <a:pt x="0" y="0"/>
                  </a:moveTo>
                  <a:lnTo>
                    <a:pt x="3276600" y="0"/>
                  </a:lnTo>
                  <a:lnTo>
                    <a:pt x="3429000" y="228600"/>
                  </a:lnTo>
                  <a:lnTo>
                    <a:pt x="3276600" y="457200"/>
                  </a:lnTo>
                  <a:lnTo>
                    <a:pt x="0" y="457200"/>
                  </a:lnTo>
                  <a:lnTo>
                    <a:pt x="152400" y="228600"/>
                  </a:lnTo>
                  <a:close/>
                </a:path>
              </a:pathLst>
            </a:custGeom>
            <a:solidFill>
              <a:srgbClr val="E8EEF8"/>
            </a:solidFill>
            <a:ln>
              <a:noFill/>
            </a:ln>
          </p:spPr>
        </p:sp>
        <p:sp>
          <p:nvSpPr>
            <p:cNvPr id="19" name="node07.text"/>
            <p:cNvSpPr/>
            <p:nvPr/>
          </p:nvSpPr>
          <p:spPr>
            <a:xfrm>
              <a:off x="4686300" y="1720850"/>
              <a:ext cx="28956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a:ea typeface="IBM Plex Sans"/>
                  <a:cs typeface="IBM Plex Sans"/>
                </a:rPr>
                <a:t>Short list</a:t>
              </a:r>
              <a:endParaRPr lang="en-US" sz="1200" spc="0" kern="0" b="0" i="0" dirty="0">
                <a:solidFill>
                  <a:srgbClr val="070154"/>
                </a:solidFill>
                <a:latin typeface="IBM Plex Sans"/>
                <a:ea typeface="IBM Plex Sans"/>
                <a:cs typeface="IBM Plex Sans"/>
              </a:endParaRPr>
            </a:p>
          </p:txBody>
        </p:sp>
      </p:grpSp>
      <p:grpSp>
        <p:nvGrpSpPr>
          <p:cNvPr id="51" name="node08"/>
          <p:cNvGrpSpPr/>
          <p:nvPr/>
        </p:nvGrpSpPr>
        <p:grpSpPr>
          <a:xfrm>
            <a:off x="4381500" y="2286000"/>
            <a:ext cx="3429000" cy="2743200"/>
            <a:chOff x="4381500" y="2286000"/>
            <a:chExt cx="3429000" cy="2743200"/>
          </a:xfrm>
        </p:grpSpPr>
        <p:sp>
          <p:nvSpPr>
            <p:cNvPr id="20" name="node08.container"/>
            <p:cNvSpPr/>
            <p:nvPr/>
          </p:nvSpPr>
          <p:spPr>
            <a:xfrm>
              <a:off x="4381500" y="2286000"/>
              <a:ext cx="3429000" cy="2743200"/>
            </a:xfrm>
            <a:prstGeom prst="rect">
              <a:avLst/>
            </a:prstGeom>
            <a:solidFill>
              <a:srgbClr val="E8EEF8"/>
            </a:solidFill>
            <a:ln>
              <a:noFill/>
            </a:ln>
          </p:spPr>
        </p:sp>
      </p:grpSp>
      <p:grpSp>
        <p:nvGrpSpPr>
          <p:cNvPr id="52" name="node09"/>
          <p:cNvGrpSpPr/>
          <p:nvPr/>
        </p:nvGrpSpPr>
        <p:grpSpPr>
          <a:xfrm>
            <a:off x="4610100" y="2514600"/>
            <a:ext cx="2971800" cy="382461"/>
            <a:chOff x="4610100" y="2514600"/>
            <a:chExt cx="2971800" cy="382461"/>
          </a:xfrm>
        </p:grpSpPr>
        <p:sp>
          <p:nvSpPr>
            <p:cNvPr id="21" name="node09.text"/>
            <p:cNvSpPr/>
            <p:nvPr/>
          </p:nvSpPr>
          <p:spPr>
            <a:xfrm>
              <a:off x="4610100" y="2514600"/>
              <a:ext cx="2971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070154"/>
                  </a:solidFill>
                  <a:latin typeface="IBM Plex Mono SemiBold"/>
                  <a:ea typeface="IBM Plex Mono SemiBold"/>
                  <a:cs typeface="IBM Plex Mono SemiBold"/>
                </a:rPr>
                <a:t>4 vendors</a:t>
              </a:r>
              <a:endParaRPr lang="en-US" sz="3000" spc="-60" kern="0" b="0" i="0" dirty="0">
                <a:solidFill>
                  <a:srgbClr val="070154"/>
                </a:solidFill>
                <a:latin typeface="IBM Plex Mono SemiBold"/>
                <a:ea typeface="IBM Plex Mono SemiBold"/>
                <a:cs typeface="IBM Plex Mono SemiBold"/>
              </a:endParaRPr>
            </a:p>
          </p:txBody>
        </p:sp>
      </p:grpSp>
      <p:grpSp>
        <p:nvGrpSpPr>
          <p:cNvPr id="53" name="node10"/>
          <p:cNvGrpSpPr/>
          <p:nvPr/>
        </p:nvGrpSpPr>
        <p:grpSpPr>
          <a:xfrm>
            <a:off x="4610100" y="3200400"/>
            <a:ext cx="2971800" cy="139700"/>
            <a:chOff x="4610100" y="3200400"/>
            <a:chExt cx="2971800" cy="139700"/>
          </a:xfrm>
        </p:grpSpPr>
        <p:sp>
          <p:nvSpPr>
            <p:cNvPr id="22" name="node10.text"/>
            <p:cNvSpPr/>
            <p:nvPr/>
          </p:nvSpPr>
          <p:spPr>
            <a:xfrm>
              <a:off x="4610100" y="32004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CRITERIA APPLIED</a:t>
              </a:r>
              <a:endParaRPr lang="en-US" sz="800" spc="48" kern="0" b="0" i="0" dirty="0">
                <a:solidFill>
                  <a:srgbClr val="0047FF"/>
                </a:solidFill>
                <a:latin typeface="IBM Plex Mono Medium"/>
                <a:ea typeface="IBM Plex Mono Medium"/>
                <a:cs typeface="IBM Plex Mono Medium"/>
              </a:endParaRPr>
            </a:p>
          </p:txBody>
        </p:sp>
      </p:grpSp>
      <p:grpSp>
        <p:nvGrpSpPr>
          <p:cNvPr id="54" name="node11"/>
          <p:cNvGrpSpPr/>
          <p:nvPr/>
        </p:nvGrpSpPr>
        <p:grpSpPr>
          <a:xfrm>
            <a:off x="4610100" y="3429000"/>
            <a:ext cx="2971800" cy="723900"/>
            <a:chOff x="4610100" y="3429000"/>
            <a:chExt cx="2971800" cy="723900"/>
          </a:xfrm>
        </p:grpSpPr>
        <p:sp>
          <p:nvSpPr>
            <p:cNvPr id="23" name="node11.source-001.bullet"/>
            <p:cNvSpPr/>
            <p:nvPr/>
          </p:nvSpPr>
          <p:spPr>
            <a:xfrm>
              <a:off x="4610100" y="3517900"/>
              <a:ext cx="38100" cy="38100"/>
            </a:xfrm>
            <a:prstGeom prst="rect">
              <a:avLst/>
            </a:prstGeom>
            <a:solidFill>
              <a:srgbClr val="070154"/>
            </a:solidFill>
            <a:ln>
              <a:noFill/>
            </a:ln>
          </p:spPr>
        </p:sp>
        <p:sp>
          <p:nvSpPr>
            <p:cNvPr id="24" name="node11.source-001.text"/>
            <p:cNvSpPr/>
            <p:nvPr/>
          </p:nvSpPr>
          <p:spPr>
            <a:xfrm>
              <a:off x="4762500" y="34290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Scripted demo against five use cases</a:t>
              </a:r>
              <a:endParaRPr lang="en-US" sz="1200" spc="0" kern="0" b="0" i="0" dirty="0">
                <a:solidFill>
                  <a:srgbClr val="070154"/>
                </a:solidFill>
                <a:latin typeface="IBM Plex Sans"/>
                <a:ea typeface="IBM Plex Sans"/>
                <a:cs typeface="IBM Plex Sans"/>
              </a:endParaRPr>
            </a:p>
          </p:txBody>
        </p:sp>
        <p:sp>
          <p:nvSpPr>
            <p:cNvPr id="25" name="node11.source-002.bullet"/>
            <p:cNvSpPr/>
            <p:nvPr/>
          </p:nvSpPr>
          <p:spPr>
            <a:xfrm>
              <a:off x="4610100" y="3771900"/>
              <a:ext cx="38100" cy="38100"/>
            </a:xfrm>
            <a:prstGeom prst="rect">
              <a:avLst/>
            </a:prstGeom>
            <a:solidFill>
              <a:srgbClr val="070154"/>
            </a:solidFill>
            <a:ln>
              <a:noFill/>
            </a:ln>
          </p:spPr>
        </p:sp>
        <p:sp>
          <p:nvSpPr>
            <p:cNvPr id="26" name="node11.source-002.text"/>
            <p:cNvSpPr/>
            <p:nvPr/>
          </p:nvSpPr>
          <p:spPr>
            <a:xfrm>
              <a:off x="4762500" y="36830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Reference calls with two peers</a:t>
              </a:r>
              <a:endParaRPr lang="en-US" sz="1200" spc="0" kern="0" b="0" i="0" dirty="0">
                <a:solidFill>
                  <a:srgbClr val="070154"/>
                </a:solidFill>
                <a:latin typeface="IBM Plex Sans"/>
                <a:ea typeface="IBM Plex Sans"/>
                <a:cs typeface="IBM Plex Sans"/>
              </a:endParaRPr>
            </a:p>
          </p:txBody>
        </p:sp>
        <p:sp>
          <p:nvSpPr>
            <p:cNvPr id="27" name="node11.source-003.bullet"/>
            <p:cNvSpPr/>
            <p:nvPr/>
          </p:nvSpPr>
          <p:spPr>
            <a:xfrm>
              <a:off x="4610100" y="4025900"/>
              <a:ext cx="38100" cy="38100"/>
            </a:xfrm>
            <a:prstGeom prst="rect">
              <a:avLst/>
            </a:prstGeom>
            <a:solidFill>
              <a:srgbClr val="070154"/>
            </a:solidFill>
            <a:ln>
              <a:noFill/>
            </a:ln>
          </p:spPr>
        </p:sp>
        <p:sp>
          <p:nvSpPr>
            <p:cNvPr id="28" name="node11.source-003.text"/>
            <p:cNvSpPr/>
            <p:nvPr/>
          </p:nvSpPr>
          <p:spPr>
            <a:xfrm>
              <a:off x="4762500" y="39370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Security and cost review</a:t>
              </a:r>
              <a:endParaRPr lang="en-US" sz="1200" spc="0" kern="0" b="0" i="0" dirty="0">
                <a:solidFill>
                  <a:srgbClr val="070154"/>
                </a:solidFill>
                <a:latin typeface="IBM Plex Sans"/>
                <a:ea typeface="IBM Plex Sans"/>
                <a:cs typeface="IBM Plex Sans"/>
              </a:endParaRPr>
            </a:p>
          </p:txBody>
        </p:sp>
      </p:grpSp>
      <p:grpSp>
        <p:nvGrpSpPr>
          <p:cNvPr id="55" name="node12"/>
          <p:cNvGrpSpPr/>
          <p:nvPr/>
        </p:nvGrpSpPr>
        <p:grpSpPr>
          <a:xfrm>
            <a:off x="4610100" y="4343400"/>
            <a:ext cx="2971800" cy="190500"/>
            <a:chOff x="4610100" y="4343400"/>
            <a:chExt cx="2971800" cy="190500"/>
          </a:xfrm>
        </p:grpSpPr>
        <p:sp>
          <p:nvSpPr>
            <p:cNvPr id="29" name="node12.text"/>
            <p:cNvSpPr/>
            <p:nvPr/>
          </p:nvSpPr>
          <p:spPr>
            <a:xfrm>
              <a:off x="4610100" y="43434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3 vendors out: weaker fit or higher cost</a:t>
              </a:r>
              <a:endParaRPr lang="en-US" sz="1100" spc="0" kern="0" b="0" i="0" dirty="0">
                <a:solidFill>
                  <a:srgbClr val="50658E"/>
                </a:solidFill>
                <a:latin typeface="IBM Plex Sans"/>
                <a:ea typeface="IBM Plex Sans"/>
                <a:cs typeface="IBM Plex Sans"/>
              </a:endParaRPr>
            </a:p>
          </p:txBody>
        </p:sp>
      </p:grpSp>
      <p:grpSp>
        <p:nvGrpSpPr>
          <p:cNvPr id="56" name="node13"/>
          <p:cNvGrpSpPr/>
          <p:nvPr/>
        </p:nvGrpSpPr>
        <p:grpSpPr>
          <a:xfrm>
            <a:off x="8039100" y="1600200"/>
            <a:ext cx="3429000" cy="457200"/>
            <a:chOff x="8039100" y="1600200"/>
            <a:chExt cx="3429000" cy="457200"/>
          </a:xfrm>
        </p:grpSpPr>
        <p:sp>
          <p:nvSpPr>
            <p:cNvPr id="30" name="node13.surface"/>
            <p:cNvSpPr/>
            <p:nvPr/>
          </p:nvSpPr>
          <p:spPr>
            <a:xfrm>
              <a:off x="8039100" y="1600200"/>
              <a:ext cx="3429000" cy="457200"/>
            </a:xfrm>
            <a:custGeom>
              <a:avLst/>
              <a:gdLst/>
              <a:ahLst/>
              <a:cxnLst/>
              <a:rect l="l" t="t" r="r" b="b"/>
              <a:pathLst>
                <a:path w="3429000" h="457200">
                  <a:moveTo>
                    <a:pt x="0" y="0"/>
                  </a:moveTo>
                  <a:lnTo>
                    <a:pt x="3276600" y="0"/>
                  </a:lnTo>
                  <a:lnTo>
                    <a:pt x="3429000" y="228600"/>
                  </a:lnTo>
                  <a:lnTo>
                    <a:pt x="3276600" y="457200"/>
                  </a:lnTo>
                  <a:lnTo>
                    <a:pt x="0" y="457200"/>
                  </a:lnTo>
                  <a:lnTo>
                    <a:pt x="152400" y="228600"/>
                  </a:lnTo>
                  <a:close/>
                </a:path>
              </a:pathLst>
            </a:custGeom>
            <a:solidFill>
              <a:srgbClr val="070154"/>
            </a:solidFill>
            <a:ln>
              <a:noFill/>
            </a:ln>
          </p:spPr>
        </p:sp>
        <p:sp>
          <p:nvSpPr>
            <p:cNvPr id="31" name="node13.text"/>
            <p:cNvSpPr/>
            <p:nvPr/>
          </p:nvSpPr>
          <p:spPr>
            <a:xfrm>
              <a:off x="8343900" y="1720850"/>
              <a:ext cx="28956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Recommended</a:t>
              </a:r>
              <a:endParaRPr lang="en-US" sz="1200" spc="0" kern="0" b="0" i="0" dirty="0">
                <a:solidFill>
                  <a:srgbClr val="FFFFFF"/>
                </a:solidFill>
                <a:latin typeface="IBM Plex Sans"/>
                <a:ea typeface="IBM Plex Sans"/>
                <a:cs typeface="IBM Plex Sans"/>
              </a:endParaRPr>
            </a:p>
          </p:txBody>
        </p:sp>
      </p:grpSp>
      <p:grpSp>
        <p:nvGrpSpPr>
          <p:cNvPr id="57" name="node14"/>
          <p:cNvGrpSpPr/>
          <p:nvPr/>
        </p:nvGrpSpPr>
        <p:grpSpPr>
          <a:xfrm>
            <a:off x="8039100" y="2286000"/>
            <a:ext cx="3429000" cy="2514600"/>
            <a:chOff x="8039100" y="2286000"/>
            <a:chExt cx="3429000" cy="2514600"/>
          </a:xfrm>
        </p:grpSpPr>
        <p:sp>
          <p:nvSpPr>
            <p:cNvPr id="32" name="node14.container"/>
            <p:cNvSpPr/>
            <p:nvPr/>
          </p:nvSpPr>
          <p:spPr>
            <a:xfrm>
              <a:off x="8039100" y="2286000"/>
              <a:ext cx="3429000" cy="2514600"/>
            </a:xfrm>
            <a:prstGeom prst="rect">
              <a:avLst/>
            </a:prstGeom>
            <a:solidFill>
              <a:srgbClr val="070154"/>
            </a:solidFill>
            <a:ln>
              <a:noFill/>
            </a:ln>
          </p:spPr>
        </p:sp>
      </p:grpSp>
      <p:grpSp>
        <p:nvGrpSpPr>
          <p:cNvPr id="58" name="node15"/>
          <p:cNvGrpSpPr/>
          <p:nvPr/>
        </p:nvGrpSpPr>
        <p:grpSpPr>
          <a:xfrm>
            <a:off x="8267700" y="2514600"/>
            <a:ext cx="2971800" cy="382461"/>
            <a:chOff x="8267700" y="2514600"/>
            <a:chExt cx="2971800" cy="382461"/>
          </a:xfrm>
        </p:grpSpPr>
        <p:sp>
          <p:nvSpPr>
            <p:cNvPr id="33" name="node15.text"/>
            <p:cNvSpPr/>
            <p:nvPr/>
          </p:nvSpPr>
          <p:spPr>
            <a:xfrm>
              <a:off x="8267700" y="2514600"/>
              <a:ext cx="2971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FFFFF"/>
                  </a:solidFill>
                  <a:latin typeface="IBM Plex Mono SemiBold"/>
                  <a:ea typeface="IBM Plex Mono SemiBold"/>
                  <a:cs typeface="IBM Plex Mono SemiBold"/>
                </a:rPr>
                <a:t>1 vendor</a:t>
              </a:r>
              <a:endParaRPr lang="en-US" sz="3000" spc="-60" kern="0" b="0" i="0" dirty="0">
                <a:solidFill>
                  <a:srgbClr val="FFFFFF"/>
                </a:solidFill>
                <a:latin typeface="IBM Plex Mono SemiBold"/>
                <a:ea typeface="IBM Plex Mono SemiBold"/>
                <a:cs typeface="IBM Plex Mono SemiBold"/>
              </a:endParaRPr>
            </a:p>
          </p:txBody>
        </p:sp>
      </p:grpSp>
      <p:grpSp>
        <p:nvGrpSpPr>
          <p:cNvPr id="59" name="node16"/>
          <p:cNvGrpSpPr/>
          <p:nvPr/>
        </p:nvGrpSpPr>
        <p:grpSpPr>
          <a:xfrm>
            <a:off x="8267700" y="3200400"/>
            <a:ext cx="2971800" cy="139700"/>
            <a:chOff x="8267700" y="3200400"/>
            <a:chExt cx="2971800" cy="139700"/>
          </a:xfrm>
        </p:grpSpPr>
        <p:sp>
          <p:nvSpPr>
            <p:cNvPr id="34" name="node16.text"/>
            <p:cNvSpPr/>
            <p:nvPr/>
          </p:nvSpPr>
          <p:spPr>
            <a:xfrm>
              <a:off x="8267700" y="32004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CRITERIA APPLIED</a:t>
              </a:r>
              <a:endParaRPr lang="en-US" sz="800" spc="48" kern="0" b="0" i="0" dirty="0">
                <a:solidFill>
                  <a:srgbClr val="FFFFFF"/>
                </a:solidFill>
                <a:latin typeface="IBM Plex Mono Medium"/>
                <a:ea typeface="IBM Plex Mono Medium"/>
                <a:cs typeface="IBM Plex Mono Medium"/>
              </a:endParaRPr>
            </a:p>
          </p:txBody>
        </p:sp>
      </p:grpSp>
      <p:grpSp>
        <p:nvGrpSpPr>
          <p:cNvPr id="60" name="node17"/>
          <p:cNvGrpSpPr/>
          <p:nvPr/>
        </p:nvGrpSpPr>
        <p:grpSpPr>
          <a:xfrm>
            <a:off x="8267700" y="3429000"/>
            <a:ext cx="2971800" cy="723900"/>
            <a:chOff x="8267700" y="3429000"/>
            <a:chExt cx="2971800" cy="723900"/>
          </a:xfrm>
        </p:grpSpPr>
        <p:sp>
          <p:nvSpPr>
            <p:cNvPr id="35" name="node17.source-001.bullet"/>
            <p:cNvSpPr/>
            <p:nvPr/>
          </p:nvSpPr>
          <p:spPr>
            <a:xfrm>
              <a:off x="8267700" y="3517900"/>
              <a:ext cx="38100" cy="38100"/>
            </a:xfrm>
            <a:prstGeom prst="rect">
              <a:avLst/>
            </a:prstGeom>
            <a:solidFill>
              <a:srgbClr val="FFFFFF"/>
            </a:solidFill>
            <a:ln>
              <a:noFill/>
            </a:ln>
          </p:spPr>
        </p:sp>
        <p:sp>
          <p:nvSpPr>
            <p:cNvPr id="36" name="node17.source-001.text"/>
            <p:cNvSpPr/>
            <p:nvPr/>
          </p:nvSpPr>
          <p:spPr>
            <a:xfrm>
              <a:off x="8420100" y="34290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Weighted scorecard result</a:t>
              </a:r>
              <a:endParaRPr lang="en-US" sz="1200" spc="0" kern="0" b="0" i="0" dirty="0">
                <a:solidFill>
                  <a:srgbClr val="FFFFFF"/>
                </a:solidFill>
                <a:latin typeface="IBM Plex Sans"/>
                <a:ea typeface="IBM Plex Sans"/>
                <a:cs typeface="IBM Plex Sans"/>
              </a:endParaRPr>
            </a:p>
          </p:txBody>
        </p:sp>
        <p:sp>
          <p:nvSpPr>
            <p:cNvPr id="37" name="node17.source-002.bullet"/>
            <p:cNvSpPr/>
            <p:nvPr/>
          </p:nvSpPr>
          <p:spPr>
            <a:xfrm>
              <a:off x="8267700" y="3771900"/>
              <a:ext cx="38100" cy="38100"/>
            </a:xfrm>
            <a:prstGeom prst="rect">
              <a:avLst/>
            </a:prstGeom>
            <a:solidFill>
              <a:srgbClr val="FFFFFF"/>
            </a:solidFill>
            <a:ln>
              <a:noFill/>
            </a:ln>
          </p:spPr>
        </p:sp>
        <p:sp>
          <p:nvSpPr>
            <p:cNvPr id="38" name="node17.source-002.text"/>
            <p:cNvSpPr/>
            <p:nvPr/>
          </p:nvSpPr>
          <p:spPr>
            <a:xfrm>
              <a:off x="8420100" y="36830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Steering committee review</a:t>
              </a:r>
              <a:endParaRPr lang="en-US" sz="1200" spc="0" kern="0" b="0" i="0" dirty="0">
                <a:solidFill>
                  <a:srgbClr val="FFFFFF"/>
                </a:solidFill>
                <a:latin typeface="IBM Plex Sans"/>
                <a:ea typeface="IBM Plex Sans"/>
                <a:cs typeface="IBM Plex Sans"/>
              </a:endParaRPr>
            </a:p>
          </p:txBody>
        </p:sp>
        <p:sp>
          <p:nvSpPr>
            <p:cNvPr id="39" name="node17.source-003.bullet"/>
            <p:cNvSpPr/>
            <p:nvPr/>
          </p:nvSpPr>
          <p:spPr>
            <a:xfrm>
              <a:off x="8267700" y="4025900"/>
              <a:ext cx="38100" cy="38100"/>
            </a:xfrm>
            <a:prstGeom prst="rect">
              <a:avLst/>
            </a:prstGeom>
            <a:solidFill>
              <a:srgbClr val="FFFFFF"/>
            </a:solidFill>
            <a:ln>
              <a:noFill/>
            </a:ln>
          </p:spPr>
        </p:sp>
        <p:sp>
          <p:nvSpPr>
            <p:cNvPr id="40" name="node17.source-003.text"/>
            <p:cNvSpPr/>
            <p:nvPr/>
          </p:nvSpPr>
          <p:spPr>
            <a:xfrm>
              <a:off x="8420100" y="39370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Negotiation terms confirmed</a:t>
              </a:r>
              <a:endParaRPr lang="en-US" sz="1200" spc="0" kern="0" b="0" i="0" dirty="0">
                <a:solidFill>
                  <a:srgbClr val="FFFFFF"/>
                </a:solidFill>
                <a:latin typeface="IBM Plex Sans"/>
                <a:ea typeface="IBM Plex Sans"/>
                <a:cs typeface="IBM Plex Sans"/>
              </a:endParaRPr>
            </a:p>
          </p:txBody>
        </p:sp>
      </p:grpSp>
      <p:grpSp>
        <p:nvGrpSpPr>
          <p:cNvPr id="61" name="node18"/>
          <p:cNvGrpSpPr/>
          <p:nvPr/>
        </p:nvGrpSpPr>
        <p:grpSpPr>
          <a:xfrm>
            <a:off x="8267700" y="4343400"/>
            <a:ext cx="2971800" cy="190500"/>
            <a:chOff x="8267700" y="4343400"/>
            <a:chExt cx="2971800" cy="190500"/>
          </a:xfrm>
        </p:grpSpPr>
        <p:sp>
          <p:nvSpPr>
            <p:cNvPr id="41" name="node18.text"/>
            <p:cNvSpPr/>
            <p:nvPr/>
          </p:nvSpPr>
          <p:spPr>
            <a:xfrm>
              <a:off x="8267700" y="43434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Vendor B proceeds to contract</a:t>
              </a:r>
              <a:endParaRPr lang="en-US" sz="1100" spc="0" kern="0" b="0" i="0" dirty="0">
                <a:solidFill>
                  <a:srgbClr val="FFFFFF"/>
                </a:solidFill>
                <a:latin typeface="IBM Plex Sans"/>
                <a:ea typeface="IBM Plex Sans"/>
                <a:cs typeface="IBM Plex Sans"/>
              </a:endParaRPr>
            </a:p>
          </p:txBody>
        </p:sp>
      </p:grpSp>
      <p:grpSp>
        <p:nvGrpSpPr>
          <p:cNvPr id="62" name="node19"/>
          <p:cNvGrpSpPr/>
          <p:nvPr/>
        </p:nvGrpSpPr>
        <p:grpSpPr>
          <a:xfrm>
            <a:off x="723900" y="5486400"/>
            <a:ext cx="10744200" cy="457200"/>
            <a:chOff x="723900" y="5486400"/>
            <a:chExt cx="10744200" cy="457200"/>
          </a:xfrm>
        </p:grpSpPr>
        <p:sp>
          <p:nvSpPr>
            <p:cNvPr id="42" name="node19.surface"/>
            <p:cNvSpPr/>
            <p:nvPr/>
          </p:nvSpPr>
          <p:spPr>
            <a:xfrm>
              <a:off x="723900" y="5486400"/>
              <a:ext cx="10744200" cy="457200"/>
            </a:xfrm>
            <a:prstGeom prst="rect">
              <a:avLst/>
            </a:prstGeom>
            <a:solidFill>
              <a:srgbClr val="070154"/>
            </a:solidFill>
            <a:ln>
              <a:noFill/>
            </a:ln>
          </p:spPr>
        </p:sp>
        <p:sp>
          <p:nvSpPr>
            <p:cNvPr id="43" name="node19.text"/>
            <p:cNvSpPr/>
            <p:nvPr/>
          </p:nvSpPr>
          <p:spPr>
            <a:xfrm>
              <a:off x="876300" y="5619750"/>
              <a:ext cx="10439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Each step tightens the test: must-haves first, then fit, then total value.</a:t>
              </a:r>
              <a:endParaRPr lang="en-US" sz="1100" spc="0" kern="0" b="0" i="0" dirty="0">
                <a:solidFill>
                  <a:srgbClr val="FFFFFF"/>
                </a:solidFill>
                <a:latin typeface="IBM Plex Sans"/>
                <a:ea typeface="IBM Plex Sans"/>
                <a:cs typeface="IBM Plex Sans"/>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ource-37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IS HARD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Why modernization has been slow and costly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49</a:t>
            </a:fld>
            <a:endParaRPr lang="en-US" sz="700" spc="0" kern="0" b="0" i="0" dirty="0">
              <a:solidFill>
                <a:srgbClr val="070154"/>
              </a:solidFill>
              <a:latin typeface="IBM Plex Mono SemiBold"/>
              <a:ea typeface="IBM Plex Mono SemiBold"/>
              <a:cs typeface="IBM Plex Mono SemiBold"/>
            </a:endParaRPr>
          </a:p>
        </p:txBody>
      </p:sp>
      <p:grpSp>
        <p:nvGrpSpPr>
          <p:cNvPr id="45" name="node01"/>
          <p:cNvGrpSpPr/>
          <p:nvPr/>
        </p:nvGrpSpPr>
        <p:grpSpPr>
          <a:xfrm>
            <a:off x="723900" y="1600200"/>
            <a:ext cx="10744200" cy="254000"/>
            <a:chOff x="723900" y="1600200"/>
            <a:chExt cx="10744200" cy="254000"/>
          </a:xfrm>
        </p:grpSpPr>
        <p:sp>
          <p:nvSpPr>
            <p:cNvPr id="6" name="node01.text"/>
            <p:cNvSpPr/>
            <p:nvPr/>
          </p:nvSpPr>
          <p:spPr>
            <a:xfrm>
              <a:off x="723900" y="1600200"/>
              <a:ext cx="10744200" cy="254000"/>
            </a:xfrm>
            <a:prstGeom prst="rect">
              <a:avLst/>
            </a:prstGeom>
            <a:noFill/>
            <a:ln/>
          </p:spPr>
          <p:txBody>
            <a:bodyPr wrap="square" lIns="0" tIns="0" rIns="0" bIns="0" rtlCol="0" anchor="t"/>
            <a:lstStyle/>
            <a:p>
              <a:pPr algn="l" indent="0" marL="0">
                <a:lnSpc>
                  <a:spcPts val="2000"/>
                </a:lnSpc>
                <a:buNone/>
              </a:pPr>
              <a:r>
                <a:rPr lang="en-US" sz="1400" spc="0" kern="0" b="0" i="0" dirty="0">
                  <a:solidFill>
                    <a:srgbClr val="070154"/>
                  </a:solidFill>
                  <a:latin typeface="IBM Plex Sans"/>
                  <a:ea typeface="IBM Plex Sans"/>
                  <a:cs typeface="IBM Plex Sans"/>
                </a:rPr>
                <a:t>Coding is only one part. The harder work is rediscovering, deciding and cutting over safely.</a:t>
              </a:r>
              <a:endParaRPr lang="en-US" sz="1400" spc="0" kern="0" b="0" i="0" dirty="0">
                <a:solidFill>
                  <a:srgbClr val="070154"/>
                </a:solidFill>
                <a:latin typeface="IBM Plex Sans"/>
                <a:ea typeface="IBM Plex Sans"/>
                <a:cs typeface="IBM Plex Sans"/>
              </a:endParaRPr>
            </a:p>
          </p:txBody>
        </p:sp>
      </p:grpSp>
      <p:grpSp>
        <p:nvGrpSpPr>
          <p:cNvPr id="46" name="node02"/>
          <p:cNvGrpSpPr/>
          <p:nvPr/>
        </p:nvGrpSpPr>
        <p:grpSpPr>
          <a:xfrm>
            <a:off x="723900" y="2514600"/>
            <a:ext cx="5029200" cy="139700"/>
            <a:chOff x="723900" y="2514600"/>
            <a:chExt cx="5029200" cy="139700"/>
          </a:xfrm>
        </p:grpSpPr>
        <p:sp>
          <p:nvSpPr>
            <p:cNvPr id="7" name="node02.text"/>
            <p:cNvSpPr/>
            <p:nvPr/>
          </p:nvSpPr>
          <p:spPr>
            <a:xfrm>
              <a:off x="723900" y="2514600"/>
              <a:ext cx="50292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DISCOVER AND DEFINE</a:t>
              </a:r>
              <a:endParaRPr lang="en-US" sz="900" spc="72" kern="0" b="0" i="0" dirty="0">
                <a:solidFill>
                  <a:srgbClr val="0047FF"/>
                </a:solidFill>
                <a:latin typeface="IBM Plex Mono SemiBold"/>
                <a:ea typeface="IBM Plex Mono SemiBold"/>
                <a:cs typeface="IBM Plex Mono SemiBold"/>
              </a:endParaRPr>
            </a:p>
          </p:txBody>
        </p:sp>
      </p:grpSp>
      <p:grpSp>
        <p:nvGrpSpPr>
          <p:cNvPr id="47" name="node03"/>
          <p:cNvGrpSpPr/>
          <p:nvPr/>
        </p:nvGrpSpPr>
        <p:grpSpPr>
          <a:xfrm>
            <a:off x="6438900" y="2514600"/>
            <a:ext cx="5029200" cy="139700"/>
            <a:chOff x="6438900" y="2514600"/>
            <a:chExt cx="5029200" cy="139700"/>
          </a:xfrm>
        </p:grpSpPr>
        <p:sp>
          <p:nvSpPr>
            <p:cNvPr id="8" name="node03.text"/>
            <p:cNvSpPr/>
            <p:nvPr/>
          </p:nvSpPr>
          <p:spPr>
            <a:xfrm>
              <a:off x="6438900" y="2514600"/>
              <a:ext cx="50292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DELIVER AND TRANSITION</a:t>
              </a:r>
              <a:endParaRPr lang="en-US" sz="900" spc="72" kern="0" b="0" i="0" dirty="0">
                <a:solidFill>
                  <a:srgbClr val="0047FF"/>
                </a:solidFill>
                <a:latin typeface="IBM Plex Mono SemiBold"/>
                <a:ea typeface="IBM Plex Mono SemiBold"/>
                <a:cs typeface="IBM Plex Mono SemiBold"/>
              </a:endParaRPr>
            </a:p>
          </p:txBody>
        </p:sp>
      </p:grpSp>
      <p:grpSp>
        <p:nvGrpSpPr>
          <p:cNvPr id="48" name="node04"/>
          <p:cNvGrpSpPr/>
          <p:nvPr/>
        </p:nvGrpSpPr>
        <p:grpSpPr>
          <a:xfrm>
            <a:off x="723900" y="2743200"/>
            <a:ext cx="5029200" cy="914400"/>
            <a:chOff x="723900" y="2743200"/>
            <a:chExt cx="5029200" cy="914400"/>
          </a:xfrm>
        </p:grpSpPr>
        <p:sp>
          <p:nvSpPr>
            <p:cNvPr id="9" name="node04.container"/>
            <p:cNvSpPr/>
            <p:nvPr/>
          </p:nvSpPr>
          <p:spPr>
            <a:xfrm>
              <a:off x="723900" y="2743200"/>
              <a:ext cx="5029200" cy="914400"/>
            </a:xfrm>
            <a:prstGeom prst="rect">
              <a:avLst/>
            </a:prstGeom>
            <a:solidFill>
              <a:srgbClr val="E8EEF8"/>
            </a:solidFill>
            <a:ln>
              <a:noFill/>
            </a:ln>
          </p:spPr>
        </p:sp>
        <p:sp>
          <p:nvSpPr>
            <p:cNvPr id="10" name="node04.edge"/>
            <p:cNvSpPr/>
            <p:nvPr/>
          </p:nvSpPr>
          <p:spPr>
            <a:xfrm>
              <a:off x="723900" y="2743200"/>
              <a:ext cx="38100" cy="914400"/>
            </a:xfrm>
            <a:prstGeom prst="rect">
              <a:avLst/>
            </a:prstGeom>
            <a:solidFill>
              <a:srgbClr val="0047FF"/>
            </a:solidFill>
            <a:ln>
              <a:noFill/>
            </a:ln>
          </p:spPr>
        </p:sp>
        <p:sp>
          <p:nvSpPr>
            <p:cNvPr id="11" name="node04.number-tile"/>
            <p:cNvSpPr/>
            <p:nvPr/>
          </p:nvSpPr>
          <p:spPr>
            <a:xfrm>
              <a:off x="914400" y="2832100"/>
              <a:ext cx="342900" cy="342900"/>
            </a:xfrm>
            <a:prstGeom prst="rect">
              <a:avLst/>
            </a:prstGeom>
            <a:solidFill>
              <a:srgbClr val="F900D3"/>
            </a:solidFill>
            <a:ln>
              <a:noFill/>
            </a:ln>
          </p:spPr>
        </p:sp>
        <p:sp>
          <p:nvSpPr>
            <p:cNvPr id="12" name="node04.number"/>
            <p:cNvSpPr/>
            <p:nvPr/>
          </p:nvSpPr>
          <p:spPr>
            <a:xfrm>
              <a:off x="914400" y="2832100"/>
              <a:ext cx="342900" cy="342900"/>
            </a:xfrm>
            <a:prstGeom prst="rect">
              <a:avLst/>
            </a:prstGeom>
            <a:noFill/>
            <a:ln/>
          </p:spPr>
          <p:txBody>
            <a:bodyPr wrap="square" lIns="0" tIns="0" rIns="0" bIns="0" rtlCol="0" anchor="ctr"/>
            <a:lstStyle/>
            <a:p>
              <a:pPr algn="ctr" indent="0" marL="0">
                <a:lnSpc>
                  <a:spcPts val="1400"/>
                </a:lnSpc>
                <a:buNone/>
              </a:pPr>
              <a:r>
                <a:rPr lang="en-US" sz="1400" spc="0" kern="0" b="0" i="0" dirty="0">
                  <a:solidFill>
                    <a:srgbClr val="070154"/>
                  </a:solidFill>
                  <a:latin typeface="IBM Plex Mono SemiBold"/>
                  <a:ea typeface="IBM Plex Mono SemiBold"/>
                  <a:cs typeface="IBM Plex Mono SemiBold"/>
                </a:rPr>
                <a:t>01</a:t>
              </a:r>
              <a:endParaRPr lang="en-US" sz="1400" spc="0" kern="0" b="0" i="0" dirty="0">
                <a:solidFill>
                  <a:srgbClr val="070154"/>
                </a:solidFill>
                <a:latin typeface="IBM Plex Mono SemiBold"/>
                <a:ea typeface="IBM Plex Mono SemiBold"/>
                <a:cs typeface="IBM Plex Mono SemiBold"/>
              </a:endParaRPr>
            </a:p>
          </p:txBody>
        </p:sp>
        <p:sp>
          <p:nvSpPr>
            <p:cNvPr id="13" name="node04.title"/>
            <p:cNvSpPr/>
            <p:nvPr/>
          </p:nvSpPr>
          <p:spPr>
            <a:xfrm>
              <a:off x="1371600" y="2895600"/>
              <a:ext cx="4229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Reconstruct business behavior</a:t>
              </a:r>
              <a:endParaRPr lang="en-US" sz="1200" spc="0" kern="0" b="0" i="0" dirty="0">
                <a:solidFill>
                  <a:srgbClr val="070154"/>
                </a:solidFill>
                <a:latin typeface="IBM Plex Sans"/>
                <a:ea typeface="IBM Plex Sans"/>
                <a:cs typeface="IBM Plex Sans"/>
              </a:endParaRPr>
            </a:p>
          </p:txBody>
        </p:sp>
        <p:sp>
          <p:nvSpPr>
            <p:cNvPr id="14" name="node04.body.item-001.paragraph"/>
            <p:cNvSpPr/>
            <p:nvPr/>
          </p:nvSpPr>
          <p:spPr>
            <a:xfrm>
              <a:off x="914400" y="3263900"/>
              <a:ext cx="46863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Document current processes, rules and workarounds.</a:t>
              </a:r>
              <a:endParaRPr lang="en-US" sz="1200" spc="0" kern="0" b="0" i="0" dirty="0">
                <a:solidFill>
                  <a:srgbClr val="50658E"/>
                </a:solidFill>
                <a:latin typeface="IBM Plex Sans"/>
                <a:ea typeface="IBM Plex Sans"/>
                <a:cs typeface="IBM Plex Sans"/>
              </a:endParaRPr>
            </a:p>
          </p:txBody>
        </p:sp>
      </p:grpSp>
      <p:grpSp>
        <p:nvGrpSpPr>
          <p:cNvPr id="49" name="node05"/>
          <p:cNvGrpSpPr/>
          <p:nvPr/>
        </p:nvGrpSpPr>
        <p:grpSpPr>
          <a:xfrm>
            <a:off x="723900" y="3886200"/>
            <a:ext cx="5029200" cy="914400"/>
            <a:chOff x="723900" y="3886200"/>
            <a:chExt cx="5029200" cy="914400"/>
          </a:xfrm>
        </p:grpSpPr>
        <p:sp>
          <p:nvSpPr>
            <p:cNvPr id="15" name="node05.container"/>
            <p:cNvSpPr/>
            <p:nvPr/>
          </p:nvSpPr>
          <p:spPr>
            <a:xfrm>
              <a:off x="723900" y="3886200"/>
              <a:ext cx="5029200" cy="914400"/>
            </a:xfrm>
            <a:prstGeom prst="rect">
              <a:avLst/>
            </a:prstGeom>
            <a:solidFill>
              <a:srgbClr val="E8EEF8"/>
            </a:solidFill>
            <a:ln>
              <a:noFill/>
            </a:ln>
          </p:spPr>
        </p:sp>
        <p:sp>
          <p:nvSpPr>
            <p:cNvPr id="16" name="node05.edge"/>
            <p:cNvSpPr/>
            <p:nvPr/>
          </p:nvSpPr>
          <p:spPr>
            <a:xfrm>
              <a:off x="723900" y="3886200"/>
              <a:ext cx="38100" cy="914400"/>
            </a:xfrm>
            <a:prstGeom prst="rect">
              <a:avLst/>
            </a:prstGeom>
            <a:solidFill>
              <a:srgbClr val="0047FF"/>
            </a:solidFill>
            <a:ln>
              <a:noFill/>
            </a:ln>
          </p:spPr>
        </p:sp>
        <p:sp>
          <p:nvSpPr>
            <p:cNvPr id="17" name="node05.number-tile"/>
            <p:cNvSpPr/>
            <p:nvPr/>
          </p:nvSpPr>
          <p:spPr>
            <a:xfrm>
              <a:off x="914400" y="3975100"/>
              <a:ext cx="342900" cy="342900"/>
            </a:xfrm>
            <a:prstGeom prst="rect">
              <a:avLst/>
            </a:prstGeom>
            <a:solidFill>
              <a:srgbClr val="F900D3"/>
            </a:solidFill>
            <a:ln>
              <a:noFill/>
            </a:ln>
          </p:spPr>
        </p:sp>
        <p:sp>
          <p:nvSpPr>
            <p:cNvPr id="18" name="node05.number"/>
            <p:cNvSpPr/>
            <p:nvPr/>
          </p:nvSpPr>
          <p:spPr>
            <a:xfrm>
              <a:off x="914400" y="3975100"/>
              <a:ext cx="342900" cy="342900"/>
            </a:xfrm>
            <a:prstGeom prst="rect">
              <a:avLst/>
            </a:prstGeom>
            <a:noFill/>
            <a:ln/>
          </p:spPr>
          <p:txBody>
            <a:bodyPr wrap="square" lIns="0" tIns="0" rIns="0" bIns="0" rtlCol="0" anchor="ctr"/>
            <a:lstStyle/>
            <a:p>
              <a:pPr algn="ctr" indent="0" marL="0">
                <a:lnSpc>
                  <a:spcPts val="1400"/>
                </a:lnSpc>
                <a:buNone/>
              </a:pPr>
              <a:r>
                <a:rPr lang="en-US" sz="1400" spc="0" kern="0" b="0" i="0" dirty="0">
                  <a:solidFill>
                    <a:srgbClr val="070154"/>
                  </a:solidFill>
                  <a:latin typeface="IBM Plex Mono SemiBold"/>
                  <a:ea typeface="IBM Plex Mono SemiBold"/>
                  <a:cs typeface="IBM Plex Mono SemiBold"/>
                </a:rPr>
                <a:t>02</a:t>
              </a:r>
              <a:endParaRPr lang="en-US" sz="1400" spc="0" kern="0" b="0" i="0" dirty="0">
                <a:solidFill>
                  <a:srgbClr val="070154"/>
                </a:solidFill>
                <a:latin typeface="IBM Plex Mono SemiBold"/>
                <a:ea typeface="IBM Plex Mono SemiBold"/>
                <a:cs typeface="IBM Plex Mono SemiBold"/>
              </a:endParaRPr>
            </a:p>
          </p:txBody>
        </p:sp>
        <p:sp>
          <p:nvSpPr>
            <p:cNvPr id="19" name="node05.title"/>
            <p:cNvSpPr/>
            <p:nvPr/>
          </p:nvSpPr>
          <p:spPr>
            <a:xfrm>
              <a:off x="1371600" y="4038600"/>
              <a:ext cx="4229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Decide what to retain</a:t>
              </a:r>
              <a:endParaRPr lang="en-US" sz="1200" spc="0" kern="0" b="0" i="0" dirty="0">
                <a:solidFill>
                  <a:srgbClr val="070154"/>
                </a:solidFill>
                <a:latin typeface="IBM Plex Sans"/>
                <a:ea typeface="IBM Plex Sans"/>
                <a:cs typeface="IBM Plex Sans"/>
              </a:endParaRPr>
            </a:p>
          </p:txBody>
        </p:sp>
        <p:sp>
          <p:nvSpPr>
            <p:cNvPr id="20" name="node05.body.item-001.paragraph"/>
            <p:cNvSpPr/>
            <p:nvPr/>
          </p:nvSpPr>
          <p:spPr>
            <a:xfrm>
              <a:off x="914400" y="4406900"/>
              <a:ext cx="46863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Separate essential controls from obsolete features.</a:t>
              </a:r>
              <a:endParaRPr lang="en-US" sz="1200" spc="0" kern="0" b="0" i="0" dirty="0">
                <a:solidFill>
                  <a:srgbClr val="50658E"/>
                </a:solidFill>
                <a:latin typeface="IBM Plex Sans"/>
                <a:ea typeface="IBM Plex Sans"/>
                <a:cs typeface="IBM Plex Sans"/>
              </a:endParaRPr>
            </a:p>
          </p:txBody>
        </p:sp>
      </p:grpSp>
      <p:grpSp>
        <p:nvGrpSpPr>
          <p:cNvPr id="50" name="node06"/>
          <p:cNvGrpSpPr/>
          <p:nvPr/>
        </p:nvGrpSpPr>
        <p:grpSpPr>
          <a:xfrm>
            <a:off x="723900" y="5029200"/>
            <a:ext cx="5029200" cy="914400"/>
            <a:chOff x="723900" y="5029200"/>
            <a:chExt cx="5029200" cy="914400"/>
          </a:xfrm>
        </p:grpSpPr>
        <p:sp>
          <p:nvSpPr>
            <p:cNvPr id="21" name="node06.container"/>
            <p:cNvSpPr/>
            <p:nvPr/>
          </p:nvSpPr>
          <p:spPr>
            <a:xfrm>
              <a:off x="723900" y="5029200"/>
              <a:ext cx="5029200" cy="914400"/>
            </a:xfrm>
            <a:prstGeom prst="rect">
              <a:avLst/>
            </a:prstGeom>
            <a:solidFill>
              <a:srgbClr val="E8EEF8"/>
            </a:solidFill>
            <a:ln>
              <a:noFill/>
            </a:ln>
          </p:spPr>
        </p:sp>
        <p:sp>
          <p:nvSpPr>
            <p:cNvPr id="22" name="node06.edge"/>
            <p:cNvSpPr/>
            <p:nvPr/>
          </p:nvSpPr>
          <p:spPr>
            <a:xfrm>
              <a:off x="723900" y="5029200"/>
              <a:ext cx="38100" cy="914400"/>
            </a:xfrm>
            <a:prstGeom prst="rect">
              <a:avLst/>
            </a:prstGeom>
            <a:solidFill>
              <a:srgbClr val="0047FF"/>
            </a:solidFill>
            <a:ln>
              <a:noFill/>
            </a:ln>
          </p:spPr>
        </p:sp>
        <p:sp>
          <p:nvSpPr>
            <p:cNvPr id="23" name="node06.number-tile"/>
            <p:cNvSpPr/>
            <p:nvPr/>
          </p:nvSpPr>
          <p:spPr>
            <a:xfrm>
              <a:off x="914400" y="5118100"/>
              <a:ext cx="342900" cy="342900"/>
            </a:xfrm>
            <a:prstGeom prst="rect">
              <a:avLst/>
            </a:prstGeom>
            <a:solidFill>
              <a:srgbClr val="F900D3"/>
            </a:solidFill>
            <a:ln>
              <a:noFill/>
            </a:ln>
          </p:spPr>
        </p:sp>
        <p:sp>
          <p:nvSpPr>
            <p:cNvPr id="24" name="node06.number"/>
            <p:cNvSpPr/>
            <p:nvPr/>
          </p:nvSpPr>
          <p:spPr>
            <a:xfrm>
              <a:off x="914400" y="5118100"/>
              <a:ext cx="342900" cy="342900"/>
            </a:xfrm>
            <a:prstGeom prst="rect">
              <a:avLst/>
            </a:prstGeom>
            <a:noFill/>
            <a:ln/>
          </p:spPr>
          <p:txBody>
            <a:bodyPr wrap="square" lIns="0" tIns="0" rIns="0" bIns="0" rtlCol="0" anchor="ctr"/>
            <a:lstStyle/>
            <a:p>
              <a:pPr algn="ctr" indent="0" marL="0">
                <a:lnSpc>
                  <a:spcPts val="1400"/>
                </a:lnSpc>
                <a:buNone/>
              </a:pPr>
              <a:r>
                <a:rPr lang="en-US" sz="1400" spc="0" kern="0" b="0" i="0" dirty="0">
                  <a:solidFill>
                    <a:srgbClr val="070154"/>
                  </a:solidFill>
                  <a:latin typeface="IBM Plex Mono SemiBold"/>
                  <a:ea typeface="IBM Plex Mono SemiBold"/>
                  <a:cs typeface="IBM Plex Mono SemiBold"/>
                </a:rPr>
                <a:t>03</a:t>
              </a:r>
              <a:endParaRPr lang="en-US" sz="1400" spc="0" kern="0" b="0" i="0" dirty="0">
                <a:solidFill>
                  <a:srgbClr val="070154"/>
                </a:solidFill>
                <a:latin typeface="IBM Plex Mono SemiBold"/>
                <a:ea typeface="IBM Plex Mono SemiBold"/>
                <a:cs typeface="IBM Plex Mono SemiBold"/>
              </a:endParaRPr>
            </a:p>
          </p:txBody>
        </p:sp>
        <p:sp>
          <p:nvSpPr>
            <p:cNvPr id="25" name="node06.title"/>
            <p:cNvSpPr/>
            <p:nvPr/>
          </p:nvSpPr>
          <p:spPr>
            <a:xfrm>
              <a:off x="1371600" y="5181600"/>
              <a:ext cx="4229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Align business and technology</a:t>
              </a:r>
              <a:endParaRPr lang="en-US" sz="1200" spc="0" kern="0" b="0" i="0" dirty="0">
                <a:solidFill>
                  <a:srgbClr val="070154"/>
                </a:solidFill>
                <a:latin typeface="IBM Plex Sans"/>
                <a:ea typeface="IBM Plex Sans"/>
                <a:cs typeface="IBM Plex Sans"/>
              </a:endParaRPr>
            </a:p>
          </p:txBody>
        </p:sp>
        <p:sp>
          <p:nvSpPr>
            <p:cNvPr id="26" name="node06.body.item-001.paragraph"/>
            <p:cNvSpPr/>
            <p:nvPr/>
          </p:nvSpPr>
          <p:spPr>
            <a:xfrm>
              <a:off x="914400" y="5549900"/>
              <a:ext cx="46863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Turn operator intent into shared designs and tests.</a:t>
              </a:r>
              <a:endParaRPr lang="en-US" sz="1200" spc="0" kern="0" b="0" i="0" dirty="0">
                <a:solidFill>
                  <a:srgbClr val="50658E"/>
                </a:solidFill>
                <a:latin typeface="IBM Plex Sans"/>
                <a:ea typeface="IBM Plex Sans"/>
                <a:cs typeface="IBM Plex Sans"/>
              </a:endParaRPr>
            </a:p>
          </p:txBody>
        </p:sp>
      </p:grpSp>
      <p:grpSp>
        <p:nvGrpSpPr>
          <p:cNvPr id="51" name="node07"/>
          <p:cNvGrpSpPr/>
          <p:nvPr/>
        </p:nvGrpSpPr>
        <p:grpSpPr>
          <a:xfrm>
            <a:off x="6438900" y="2743200"/>
            <a:ext cx="5029200" cy="914400"/>
            <a:chOff x="6438900" y="2743200"/>
            <a:chExt cx="5029200" cy="914400"/>
          </a:xfrm>
        </p:grpSpPr>
        <p:sp>
          <p:nvSpPr>
            <p:cNvPr id="27" name="node07.container"/>
            <p:cNvSpPr/>
            <p:nvPr/>
          </p:nvSpPr>
          <p:spPr>
            <a:xfrm>
              <a:off x="6438900" y="2743200"/>
              <a:ext cx="5029200" cy="914400"/>
            </a:xfrm>
            <a:prstGeom prst="rect">
              <a:avLst/>
            </a:prstGeom>
            <a:solidFill>
              <a:srgbClr val="E8EEF8"/>
            </a:solidFill>
            <a:ln>
              <a:noFill/>
            </a:ln>
          </p:spPr>
        </p:sp>
        <p:sp>
          <p:nvSpPr>
            <p:cNvPr id="28" name="node07.edge"/>
            <p:cNvSpPr/>
            <p:nvPr/>
          </p:nvSpPr>
          <p:spPr>
            <a:xfrm>
              <a:off x="6438900" y="2743200"/>
              <a:ext cx="38100" cy="914400"/>
            </a:xfrm>
            <a:prstGeom prst="rect">
              <a:avLst/>
            </a:prstGeom>
            <a:solidFill>
              <a:srgbClr val="0047FF"/>
            </a:solidFill>
            <a:ln>
              <a:noFill/>
            </a:ln>
          </p:spPr>
        </p:sp>
        <p:sp>
          <p:nvSpPr>
            <p:cNvPr id="29" name="node07.number-tile"/>
            <p:cNvSpPr/>
            <p:nvPr/>
          </p:nvSpPr>
          <p:spPr>
            <a:xfrm>
              <a:off x="6629400" y="2832100"/>
              <a:ext cx="342900" cy="342900"/>
            </a:xfrm>
            <a:prstGeom prst="rect">
              <a:avLst/>
            </a:prstGeom>
            <a:solidFill>
              <a:srgbClr val="F900D3"/>
            </a:solidFill>
            <a:ln>
              <a:noFill/>
            </a:ln>
          </p:spPr>
        </p:sp>
        <p:sp>
          <p:nvSpPr>
            <p:cNvPr id="30" name="node07.number"/>
            <p:cNvSpPr/>
            <p:nvPr/>
          </p:nvSpPr>
          <p:spPr>
            <a:xfrm>
              <a:off x="6629400" y="2832100"/>
              <a:ext cx="342900" cy="342900"/>
            </a:xfrm>
            <a:prstGeom prst="rect">
              <a:avLst/>
            </a:prstGeom>
            <a:noFill/>
            <a:ln/>
          </p:spPr>
          <p:txBody>
            <a:bodyPr wrap="square" lIns="0" tIns="0" rIns="0" bIns="0" rtlCol="0" anchor="ctr"/>
            <a:lstStyle/>
            <a:p>
              <a:pPr algn="ctr" indent="0" marL="0">
                <a:lnSpc>
                  <a:spcPts val="1400"/>
                </a:lnSpc>
                <a:buNone/>
              </a:pPr>
              <a:r>
                <a:rPr lang="en-US" sz="1400" spc="0" kern="0" b="0" i="0" dirty="0">
                  <a:solidFill>
                    <a:srgbClr val="070154"/>
                  </a:solidFill>
                  <a:latin typeface="IBM Plex Mono SemiBold"/>
                  <a:ea typeface="IBM Plex Mono SemiBold"/>
                  <a:cs typeface="IBM Plex Mono SemiBold"/>
                </a:rPr>
                <a:t>04</a:t>
              </a:r>
              <a:endParaRPr lang="en-US" sz="1400" spc="0" kern="0" b="0" i="0" dirty="0">
                <a:solidFill>
                  <a:srgbClr val="070154"/>
                </a:solidFill>
                <a:latin typeface="IBM Plex Mono SemiBold"/>
                <a:ea typeface="IBM Plex Mono SemiBold"/>
                <a:cs typeface="IBM Plex Mono SemiBold"/>
              </a:endParaRPr>
            </a:p>
          </p:txBody>
        </p:sp>
        <p:sp>
          <p:nvSpPr>
            <p:cNvPr id="31" name="node07.title"/>
            <p:cNvSpPr/>
            <p:nvPr/>
          </p:nvSpPr>
          <p:spPr>
            <a:xfrm>
              <a:off x="7086600" y="2895600"/>
              <a:ext cx="4229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Untangle dependencies</a:t>
              </a:r>
              <a:endParaRPr lang="en-US" sz="1200" spc="0" kern="0" b="0" i="0" dirty="0">
                <a:solidFill>
                  <a:srgbClr val="070154"/>
                </a:solidFill>
                <a:latin typeface="IBM Plex Sans"/>
                <a:ea typeface="IBM Plex Sans"/>
                <a:cs typeface="IBM Plex Sans"/>
              </a:endParaRPr>
            </a:p>
          </p:txBody>
        </p:sp>
        <p:sp>
          <p:nvSpPr>
            <p:cNvPr id="32" name="node07.body.item-001.paragraph"/>
            <p:cNvSpPr/>
            <p:nvPr/>
          </p:nvSpPr>
          <p:spPr>
            <a:xfrm>
              <a:off x="6629400" y="3263900"/>
              <a:ext cx="46863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Map integrations, then clean duplicate and incomplete data.</a:t>
              </a:r>
              <a:endParaRPr lang="en-US" sz="1200" spc="0" kern="0" b="0" i="0" dirty="0">
                <a:solidFill>
                  <a:srgbClr val="50658E"/>
                </a:solidFill>
                <a:latin typeface="IBM Plex Sans"/>
                <a:ea typeface="IBM Plex Sans"/>
                <a:cs typeface="IBM Plex Sans"/>
              </a:endParaRPr>
            </a:p>
          </p:txBody>
        </p:sp>
      </p:grpSp>
      <p:grpSp>
        <p:nvGrpSpPr>
          <p:cNvPr id="52" name="node08"/>
          <p:cNvGrpSpPr/>
          <p:nvPr/>
        </p:nvGrpSpPr>
        <p:grpSpPr>
          <a:xfrm>
            <a:off x="6438900" y="3886200"/>
            <a:ext cx="5029200" cy="914400"/>
            <a:chOff x="6438900" y="3886200"/>
            <a:chExt cx="5029200" cy="914400"/>
          </a:xfrm>
        </p:grpSpPr>
        <p:sp>
          <p:nvSpPr>
            <p:cNvPr id="33" name="node08.container"/>
            <p:cNvSpPr/>
            <p:nvPr/>
          </p:nvSpPr>
          <p:spPr>
            <a:xfrm>
              <a:off x="6438900" y="3886200"/>
              <a:ext cx="5029200" cy="914400"/>
            </a:xfrm>
            <a:prstGeom prst="rect">
              <a:avLst/>
            </a:prstGeom>
            <a:solidFill>
              <a:srgbClr val="E8EEF8"/>
            </a:solidFill>
            <a:ln>
              <a:noFill/>
            </a:ln>
          </p:spPr>
        </p:sp>
        <p:sp>
          <p:nvSpPr>
            <p:cNvPr id="34" name="node08.edge"/>
            <p:cNvSpPr/>
            <p:nvPr/>
          </p:nvSpPr>
          <p:spPr>
            <a:xfrm>
              <a:off x="6438900" y="3886200"/>
              <a:ext cx="38100" cy="914400"/>
            </a:xfrm>
            <a:prstGeom prst="rect">
              <a:avLst/>
            </a:prstGeom>
            <a:solidFill>
              <a:srgbClr val="0047FF"/>
            </a:solidFill>
            <a:ln>
              <a:noFill/>
            </a:ln>
          </p:spPr>
        </p:sp>
        <p:sp>
          <p:nvSpPr>
            <p:cNvPr id="35" name="node08.number-tile"/>
            <p:cNvSpPr/>
            <p:nvPr/>
          </p:nvSpPr>
          <p:spPr>
            <a:xfrm>
              <a:off x="6629400" y="3975100"/>
              <a:ext cx="342900" cy="342900"/>
            </a:xfrm>
            <a:prstGeom prst="rect">
              <a:avLst/>
            </a:prstGeom>
            <a:solidFill>
              <a:srgbClr val="F900D3"/>
            </a:solidFill>
            <a:ln>
              <a:noFill/>
            </a:ln>
          </p:spPr>
        </p:sp>
        <p:sp>
          <p:nvSpPr>
            <p:cNvPr id="36" name="node08.number"/>
            <p:cNvSpPr/>
            <p:nvPr/>
          </p:nvSpPr>
          <p:spPr>
            <a:xfrm>
              <a:off x="6629400" y="3975100"/>
              <a:ext cx="342900" cy="342900"/>
            </a:xfrm>
            <a:prstGeom prst="rect">
              <a:avLst/>
            </a:prstGeom>
            <a:noFill/>
            <a:ln/>
          </p:spPr>
          <p:txBody>
            <a:bodyPr wrap="square" lIns="0" tIns="0" rIns="0" bIns="0" rtlCol="0" anchor="ctr"/>
            <a:lstStyle/>
            <a:p>
              <a:pPr algn="ctr" indent="0" marL="0">
                <a:lnSpc>
                  <a:spcPts val="1400"/>
                </a:lnSpc>
                <a:buNone/>
              </a:pPr>
              <a:r>
                <a:rPr lang="en-US" sz="1400" spc="0" kern="0" b="0" i="0" dirty="0">
                  <a:solidFill>
                    <a:srgbClr val="070154"/>
                  </a:solidFill>
                  <a:latin typeface="IBM Plex Mono SemiBold"/>
                  <a:ea typeface="IBM Plex Mono SemiBold"/>
                  <a:cs typeface="IBM Plex Mono SemiBold"/>
                </a:rPr>
                <a:t>05</a:t>
              </a:r>
              <a:endParaRPr lang="en-US" sz="1400" spc="0" kern="0" b="0" i="0" dirty="0">
                <a:solidFill>
                  <a:srgbClr val="070154"/>
                </a:solidFill>
                <a:latin typeface="IBM Plex Mono SemiBold"/>
                <a:ea typeface="IBM Plex Mono SemiBold"/>
                <a:cs typeface="IBM Plex Mono SemiBold"/>
              </a:endParaRPr>
            </a:p>
          </p:txBody>
        </p:sp>
        <p:sp>
          <p:nvSpPr>
            <p:cNvPr id="37" name="node08.title"/>
            <p:cNvSpPr/>
            <p:nvPr/>
          </p:nvSpPr>
          <p:spPr>
            <a:xfrm>
              <a:off x="7086600" y="4038600"/>
              <a:ext cx="4229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Validate during cutover</a:t>
              </a:r>
              <a:endParaRPr lang="en-US" sz="1200" spc="0" kern="0" b="0" i="0" dirty="0">
                <a:solidFill>
                  <a:srgbClr val="070154"/>
                </a:solidFill>
                <a:latin typeface="IBM Plex Sans"/>
                <a:ea typeface="IBM Plex Sans"/>
                <a:cs typeface="IBM Plex Sans"/>
              </a:endParaRPr>
            </a:p>
          </p:txBody>
        </p:sp>
        <p:sp>
          <p:nvSpPr>
            <p:cNvPr id="38" name="node08.body.item-001.paragraph"/>
            <p:cNvSpPr/>
            <p:nvPr/>
          </p:nvSpPr>
          <p:spPr>
            <a:xfrm>
              <a:off x="6629400" y="4406900"/>
              <a:ext cx="46863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Run acceptance tests while old and new systems coexist.</a:t>
              </a:r>
              <a:endParaRPr lang="en-US" sz="1200" spc="0" kern="0" b="0" i="0" dirty="0">
                <a:solidFill>
                  <a:srgbClr val="50658E"/>
                </a:solidFill>
                <a:latin typeface="IBM Plex Sans"/>
                <a:ea typeface="IBM Plex Sans"/>
                <a:cs typeface="IBM Plex Sans"/>
              </a:endParaRPr>
            </a:p>
          </p:txBody>
        </p:sp>
      </p:grpSp>
      <p:grpSp>
        <p:nvGrpSpPr>
          <p:cNvPr id="53" name="node09"/>
          <p:cNvGrpSpPr/>
          <p:nvPr/>
        </p:nvGrpSpPr>
        <p:grpSpPr>
          <a:xfrm>
            <a:off x="6438900" y="5029200"/>
            <a:ext cx="5029200" cy="914400"/>
            <a:chOff x="6438900" y="5029200"/>
            <a:chExt cx="5029200" cy="914400"/>
          </a:xfrm>
        </p:grpSpPr>
        <p:sp>
          <p:nvSpPr>
            <p:cNvPr id="39" name="node09.container"/>
            <p:cNvSpPr/>
            <p:nvPr/>
          </p:nvSpPr>
          <p:spPr>
            <a:xfrm>
              <a:off x="6438900" y="5029200"/>
              <a:ext cx="5029200" cy="914400"/>
            </a:xfrm>
            <a:prstGeom prst="rect">
              <a:avLst/>
            </a:prstGeom>
            <a:solidFill>
              <a:srgbClr val="E8EEF8"/>
            </a:solidFill>
            <a:ln>
              <a:noFill/>
            </a:ln>
          </p:spPr>
        </p:sp>
        <p:sp>
          <p:nvSpPr>
            <p:cNvPr id="40" name="node09.edge"/>
            <p:cNvSpPr/>
            <p:nvPr/>
          </p:nvSpPr>
          <p:spPr>
            <a:xfrm>
              <a:off x="6438900" y="5029200"/>
              <a:ext cx="38100" cy="914400"/>
            </a:xfrm>
            <a:prstGeom prst="rect">
              <a:avLst/>
            </a:prstGeom>
            <a:solidFill>
              <a:srgbClr val="0047FF"/>
            </a:solidFill>
            <a:ln>
              <a:noFill/>
            </a:ln>
          </p:spPr>
        </p:sp>
        <p:sp>
          <p:nvSpPr>
            <p:cNvPr id="41" name="node09.number-tile"/>
            <p:cNvSpPr/>
            <p:nvPr/>
          </p:nvSpPr>
          <p:spPr>
            <a:xfrm>
              <a:off x="6629400" y="5118100"/>
              <a:ext cx="342900" cy="342900"/>
            </a:xfrm>
            <a:prstGeom prst="rect">
              <a:avLst/>
            </a:prstGeom>
            <a:solidFill>
              <a:srgbClr val="F900D3"/>
            </a:solidFill>
            <a:ln>
              <a:noFill/>
            </a:ln>
          </p:spPr>
        </p:sp>
        <p:sp>
          <p:nvSpPr>
            <p:cNvPr id="42" name="node09.number"/>
            <p:cNvSpPr/>
            <p:nvPr/>
          </p:nvSpPr>
          <p:spPr>
            <a:xfrm>
              <a:off x="6629400" y="5118100"/>
              <a:ext cx="342900" cy="342900"/>
            </a:xfrm>
            <a:prstGeom prst="rect">
              <a:avLst/>
            </a:prstGeom>
            <a:noFill/>
            <a:ln/>
          </p:spPr>
          <p:txBody>
            <a:bodyPr wrap="square" lIns="0" tIns="0" rIns="0" bIns="0" rtlCol="0" anchor="ctr"/>
            <a:lstStyle/>
            <a:p>
              <a:pPr algn="ctr" indent="0" marL="0">
                <a:lnSpc>
                  <a:spcPts val="1400"/>
                </a:lnSpc>
                <a:buNone/>
              </a:pPr>
              <a:r>
                <a:rPr lang="en-US" sz="1400" spc="0" kern="0" b="0" i="0" dirty="0">
                  <a:solidFill>
                    <a:srgbClr val="070154"/>
                  </a:solidFill>
                  <a:latin typeface="IBM Plex Mono SemiBold"/>
                  <a:ea typeface="IBM Plex Mono SemiBold"/>
                  <a:cs typeface="IBM Plex Mono SemiBold"/>
                </a:rPr>
                <a:t>06</a:t>
              </a:r>
              <a:endParaRPr lang="en-US" sz="1400" spc="0" kern="0" b="0" i="0" dirty="0">
                <a:solidFill>
                  <a:srgbClr val="070154"/>
                </a:solidFill>
                <a:latin typeface="IBM Plex Mono SemiBold"/>
                <a:ea typeface="IBM Plex Mono SemiBold"/>
                <a:cs typeface="IBM Plex Mono SemiBold"/>
              </a:endParaRPr>
            </a:p>
          </p:txBody>
        </p:sp>
        <p:sp>
          <p:nvSpPr>
            <p:cNvPr id="43" name="node09.title"/>
            <p:cNvSpPr/>
            <p:nvPr/>
          </p:nvSpPr>
          <p:spPr>
            <a:xfrm>
              <a:off x="7086600" y="5181600"/>
              <a:ext cx="4229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Execute a safe cutover</a:t>
              </a:r>
              <a:endParaRPr lang="en-US" sz="1200" spc="0" kern="0" b="0" i="0" dirty="0">
                <a:solidFill>
                  <a:srgbClr val="070154"/>
                </a:solidFill>
                <a:latin typeface="IBM Plex Sans"/>
                <a:ea typeface="IBM Plex Sans"/>
                <a:cs typeface="IBM Plex Sans"/>
              </a:endParaRPr>
            </a:p>
          </p:txBody>
        </p:sp>
        <p:sp>
          <p:nvSpPr>
            <p:cNvPr id="44" name="node09.body.item-001.paragraph"/>
            <p:cNvSpPr/>
            <p:nvPr/>
          </p:nvSpPr>
          <p:spPr>
            <a:xfrm>
              <a:off x="6629400" y="5549900"/>
              <a:ext cx="46863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Sequence migration, rollback and controls to protect operations.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ource-37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IS HARD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Why modernization has been slow and costly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50</a:t>
            </a:fld>
            <a:endParaRPr lang="en-US" sz="700" spc="0" kern="0" b="0" i="0" dirty="0">
              <a:solidFill>
                <a:srgbClr val="070154"/>
              </a:solidFill>
              <a:latin typeface="IBM Plex Mono SemiBold"/>
              <a:ea typeface="IBM Plex Mono SemiBold"/>
              <a:cs typeface="IBM Plex Mono SemiBold"/>
            </a:endParaRPr>
          </a:p>
        </p:txBody>
      </p:sp>
      <p:grpSp>
        <p:nvGrpSpPr>
          <p:cNvPr id="45" name="node01"/>
          <p:cNvGrpSpPr/>
          <p:nvPr/>
        </p:nvGrpSpPr>
        <p:grpSpPr>
          <a:xfrm>
            <a:off x="723900" y="1600200"/>
            <a:ext cx="10744200" cy="254000"/>
            <a:chOff x="723900" y="1600200"/>
            <a:chExt cx="10744200" cy="254000"/>
          </a:xfrm>
        </p:grpSpPr>
        <p:sp>
          <p:nvSpPr>
            <p:cNvPr id="6" name="node01.text"/>
            <p:cNvSpPr/>
            <p:nvPr/>
          </p:nvSpPr>
          <p:spPr>
            <a:xfrm>
              <a:off x="723900" y="1600200"/>
              <a:ext cx="10744200" cy="254000"/>
            </a:xfrm>
            <a:prstGeom prst="rect">
              <a:avLst/>
            </a:prstGeom>
            <a:noFill/>
            <a:ln/>
          </p:spPr>
          <p:txBody>
            <a:bodyPr wrap="square" lIns="0" tIns="0" rIns="0" bIns="0" rtlCol="0" anchor="t"/>
            <a:lstStyle/>
            <a:p>
              <a:pPr algn="l" indent="0" marL="0">
                <a:lnSpc>
                  <a:spcPts val="2000"/>
                </a:lnSpc>
                <a:buNone/>
              </a:pPr>
              <a:r>
                <a:rPr lang="en-US" sz="1400" spc="0" kern="0" b="0" i="0" dirty="0">
                  <a:solidFill>
                    <a:srgbClr val="070154"/>
                  </a:solidFill>
                  <a:latin typeface="IBM Plex Sans"/>
                  <a:ea typeface="IBM Plex Sans"/>
                  <a:cs typeface="IBM Plex Sans"/>
                </a:rPr>
                <a:t>Coding is only one part. The harder work is rediscovering, deciding and cutting over safely.</a:t>
              </a:r>
              <a:endParaRPr lang="en-US" sz="1400" spc="0" kern="0" b="0" i="0" dirty="0">
                <a:solidFill>
                  <a:srgbClr val="070154"/>
                </a:solidFill>
                <a:latin typeface="IBM Plex Sans"/>
                <a:ea typeface="IBM Plex Sans"/>
                <a:cs typeface="IBM Plex Sans"/>
              </a:endParaRPr>
            </a:p>
          </p:txBody>
        </p:sp>
      </p:grpSp>
      <p:grpSp>
        <p:nvGrpSpPr>
          <p:cNvPr id="46" name="node02"/>
          <p:cNvGrpSpPr/>
          <p:nvPr/>
        </p:nvGrpSpPr>
        <p:grpSpPr>
          <a:xfrm>
            <a:off x="723900" y="2286000"/>
            <a:ext cx="10744200" cy="139700"/>
            <a:chOff x="723900" y="2286000"/>
            <a:chExt cx="10744200" cy="139700"/>
          </a:xfrm>
        </p:grpSpPr>
        <p:sp>
          <p:nvSpPr>
            <p:cNvPr id="7" name="node02.text"/>
            <p:cNvSpPr/>
            <p:nvPr/>
          </p:nvSpPr>
          <p:spPr>
            <a:xfrm>
              <a:off x="723900" y="2286000"/>
              <a:ext cx="107442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DISCOVER AND DEFINE</a:t>
              </a:r>
              <a:endParaRPr lang="en-US" sz="900" spc="72" kern="0" b="0" i="0" dirty="0">
                <a:solidFill>
                  <a:srgbClr val="0047FF"/>
                </a:solidFill>
                <a:latin typeface="IBM Plex Mono SemiBold"/>
                <a:ea typeface="IBM Plex Mono SemiBold"/>
                <a:cs typeface="IBM Plex Mono SemiBold"/>
              </a:endParaRPr>
            </a:p>
          </p:txBody>
        </p:sp>
      </p:grpSp>
      <p:grpSp>
        <p:nvGrpSpPr>
          <p:cNvPr id="47" name="node03"/>
          <p:cNvGrpSpPr/>
          <p:nvPr/>
        </p:nvGrpSpPr>
        <p:grpSpPr>
          <a:xfrm>
            <a:off x="723900" y="2514600"/>
            <a:ext cx="3429000" cy="1371600"/>
            <a:chOff x="723900" y="2514600"/>
            <a:chExt cx="3429000" cy="1371600"/>
          </a:xfrm>
        </p:grpSpPr>
        <p:sp>
          <p:nvSpPr>
            <p:cNvPr id="8" name="node03.container"/>
            <p:cNvSpPr/>
            <p:nvPr/>
          </p:nvSpPr>
          <p:spPr>
            <a:xfrm>
              <a:off x="723900" y="2514600"/>
              <a:ext cx="3429000" cy="1371600"/>
            </a:xfrm>
            <a:prstGeom prst="rect">
              <a:avLst/>
            </a:prstGeom>
            <a:solidFill>
              <a:srgbClr val="E8EEF8"/>
            </a:solidFill>
            <a:ln>
              <a:noFill/>
            </a:ln>
          </p:spPr>
        </p:sp>
        <p:sp>
          <p:nvSpPr>
            <p:cNvPr id="9" name="node03.edge"/>
            <p:cNvSpPr/>
            <p:nvPr/>
          </p:nvSpPr>
          <p:spPr>
            <a:xfrm>
              <a:off x="723900" y="2514600"/>
              <a:ext cx="38100" cy="1371600"/>
            </a:xfrm>
            <a:prstGeom prst="rect">
              <a:avLst/>
            </a:prstGeom>
            <a:solidFill>
              <a:srgbClr val="0047FF"/>
            </a:solidFill>
            <a:ln>
              <a:noFill/>
            </a:ln>
          </p:spPr>
        </p:sp>
        <p:sp>
          <p:nvSpPr>
            <p:cNvPr id="10" name="node03.number-tile"/>
            <p:cNvSpPr/>
            <p:nvPr/>
          </p:nvSpPr>
          <p:spPr>
            <a:xfrm>
              <a:off x="990600" y="2679700"/>
              <a:ext cx="342900" cy="342900"/>
            </a:xfrm>
            <a:prstGeom prst="rect">
              <a:avLst/>
            </a:prstGeom>
            <a:solidFill>
              <a:srgbClr val="F900D3"/>
            </a:solidFill>
            <a:ln>
              <a:noFill/>
            </a:ln>
          </p:spPr>
        </p:sp>
        <p:sp>
          <p:nvSpPr>
            <p:cNvPr id="11" name="node03.number"/>
            <p:cNvSpPr/>
            <p:nvPr/>
          </p:nvSpPr>
          <p:spPr>
            <a:xfrm>
              <a:off x="990600" y="2679700"/>
              <a:ext cx="342900" cy="342900"/>
            </a:xfrm>
            <a:prstGeom prst="rect">
              <a:avLst/>
            </a:prstGeom>
            <a:noFill/>
            <a:ln/>
          </p:spPr>
          <p:txBody>
            <a:bodyPr wrap="square" lIns="0" tIns="0" rIns="0" bIns="0" rtlCol="0" anchor="ctr"/>
            <a:lstStyle/>
            <a:p>
              <a:pPr algn="ctr" indent="0" marL="0">
                <a:lnSpc>
                  <a:spcPts val="1400"/>
                </a:lnSpc>
                <a:buNone/>
              </a:pPr>
              <a:r>
                <a:rPr lang="en-US" sz="1400" spc="0" kern="0" b="0" i="0" dirty="0">
                  <a:solidFill>
                    <a:srgbClr val="070154"/>
                  </a:solidFill>
                  <a:latin typeface="IBM Plex Mono SemiBold"/>
                  <a:ea typeface="IBM Plex Mono SemiBold"/>
                  <a:cs typeface="IBM Plex Mono SemiBold"/>
                </a:rPr>
                <a:t>01</a:t>
              </a:r>
              <a:endParaRPr lang="en-US" sz="1400" spc="0" kern="0" b="0" i="0" dirty="0">
                <a:solidFill>
                  <a:srgbClr val="070154"/>
                </a:solidFill>
                <a:latin typeface="IBM Plex Mono SemiBold"/>
                <a:ea typeface="IBM Plex Mono SemiBold"/>
                <a:cs typeface="IBM Plex Mono SemiBold"/>
              </a:endParaRPr>
            </a:p>
          </p:txBody>
        </p:sp>
        <p:sp>
          <p:nvSpPr>
            <p:cNvPr id="12" name="node03.title"/>
            <p:cNvSpPr/>
            <p:nvPr/>
          </p:nvSpPr>
          <p:spPr>
            <a:xfrm>
              <a:off x="1447800" y="2743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Reconstruct business behavior</a:t>
              </a:r>
              <a:endParaRPr lang="en-US" sz="1200" spc="0" kern="0" b="0" i="0" dirty="0">
                <a:solidFill>
                  <a:srgbClr val="070154"/>
                </a:solidFill>
                <a:latin typeface="IBM Plex Sans"/>
                <a:ea typeface="IBM Plex Sans"/>
                <a:cs typeface="IBM Plex Sans"/>
              </a:endParaRPr>
            </a:p>
          </p:txBody>
        </p:sp>
        <p:sp>
          <p:nvSpPr>
            <p:cNvPr id="13" name="node03.body.item-001.paragraph"/>
            <p:cNvSpPr/>
            <p:nvPr/>
          </p:nvSpPr>
          <p:spPr>
            <a:xfrm>
              <a:off x="990600" y="3111500"/>
              <a:ext cx="29337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Document current processes, rules and workarounds.</a:t>
              </a:r>
              <a:endParaRPr lang="en-US" sz="1200" spc="0" kern="0" b="0" i="0" dirty="0">
                <a:solidFill>
                  <a:srgbClr val="50658E"/>
                </a:solidFill>
                <a:latin typeface="IBM Plex Sans"/>
                <a:ea typeface="IBM Plex Sans"/>
                <a:cs typeface="IBM Plex Sans"/>
              </a:endParaRPr>
            </a:p>
          </p:txBody>
        </p:sp>
      </p:grpSp>
      <p:grpSp>
        <p:nvGrpSpPr>
          <p:cNvPr id="48" name="node04"/>
          <p:cNvGrpSpPr/>
          <p:nvPr/>
        </p:nvGrpSpPr>
        <p:grpSpPr>
          <a:xfrm>
            <a:off x="4381500" y="2514600"/>
            <a:ext cx="3429000" cy="1371600"/>
            <a:chOff x="4381500" y="2514600"/>
            <a:chExt cx="3429000" cy="1371600"/>
          </a:xfrm>
        </p:grpSpPr>
        <p:sp>
          <p:nvSpPr>
            <p:cNvPr id="14" name="node04.container"/>
            <p:cNvSpPr/>
            <p:nvPr/>
          </p:nvSpPr>
          <p:spPr>
            <a:xfrm>
              <a:off x="4381500" y="2514600"/>
              <a:ext cx="3429000" cy="1371600"/>
            </a:xfrm>
            <a:prstGeom prst="rect">
              <a:avLst/>
            </a:prstGeom>
            <a:solidFill>
              <a:srgbClr val="E8EEF8"/>
            </a:solidFill>
            <a:ln>
              <a:noFill/>
            </a:ln>
          </p:spPr>
        </p:sp>
        <p:sp>
          <p:nvSpPr>
            <p:cNvPr id="15" name="node04.edge"/>
            <p:cNvSpPr/>
            <p:nvPr/>
          </p:nvSpPr>
          <p:spPr>
            <a:xfrm>
              <a:off x="4381500" y="2514600"/>
              <a:ext cx="38100" cy="1371600"/>
            </a:xfrm>
            <a:prstGeom prst="rect">
              <a:avLst/>
            </a:prstGeom>
            <a:solidFill>
              <a:srgbClr val="0047FF"/>
            </a:solidFill>
            <a:ln>
              <a:noFill/>
            </a:ln>
          </p:spPr>
        </p:sp>
        <p:sp>
          <p:nvSpPr>
            <p:cNvPr id="16" name="node04.number-tile"/>
            <p:cNvSpPr/>
            <p:nvPr/>
          </p:nvSpPr>
          <p:spPr>
            <a:xfrm>
              <a:off x="4648200" y="2679700"/>
              <a:ext cx="342900" cy="342900"/>
            </a:xfrm>
            <a:prstGeom prst="rect">
              <a:avLst/>
            </a:prstGeom>
            <a:solidFill>
              <a:srgbClr val="F900D3"/>
            </a:solidFill>
            <a:ln>
              <a:noFill/>
            </a:ln>
          </p:spPr>
        </p:sp>
        <p:sp>
          <p:nvSpPr>
            <p:cNvPr id="17" name="node04.number"/>
            <p:cNvSpPr/>
            <p:nvPr/>
          </p:nvSpPr>
          <p:spPr>
            <a:xfrm>
              <a:off x="4648200" y="2679700"/>
              <a:ext cx="342900" cy="342900"/>
            </a:xfrm>
            <a:prstGeom prst="rect">
              <a:avLst/>
            </a:prstGeom>
            <a:noFill/>
            <a:ln/>
          </p:spPr>
          <p:txBody>
            <a:bodyPr wrap="square" lIns="0" tIns="0" rIns="0" bIns="0" rtlCol="0" anchor="ctr"/>
            <a:lstStyle/>
            <a:p>
              <a:pPr algn="ctr" indent="0" marL="0">
                <a:lnSpc>
                  <a:spcPts val="1400"/>
                </a:lnSpc>
                <a:buNone/>
              </a:pPr>
              <a:r>
                <a:rPr lang="en-US" sz="1400" spc="0" kern="0" b="0" i="0" dirty="0">
                  <a:solidFill>
                    <a:srgbClr val="070154"/>
                  </a:solidFill>
                  <a:latin typeface="IBM Plex Mono SemiBold"/>
                  <a:ea typeface="IBM Plex Mono SemiBold"/>
                  <a:cs typeface="IBM Plex Mono SemiBold"/>
                </a:rPr>
                <a:t>02</a:t>
              </a:r>
              <a:endParaRPr lang="en-US" sz="1400" spc="0" kern="0" b="0" i="0" dirty="0">
                <a:solidFill>
                  <a:srgbClr val="070154"/>
                </a:solidFill>
                <a:latin typeface="IBM Plex Mono SemiBold"/>
                <a:ea typeface="IBM Plex Mono SemiBold"/>
                <a:cs typeface="IBM Plex Mono SemiBold"/>
              </a:endParaRPr>
            </a:p>
          </p:txBody>
        </p:sp>
        <p:sp>
          <p:nvSpPr>
            <p:cNvPr id="18" name="node04.title"/>
            <p:cNvSpPr/>
            <p:nvPr/>
          </p:nvSpPr>
          <p:spPr>
            <a:xfrm>
              <a:off x="5105400" y="2743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Decide what to retain</a:t>
              </a:r>
              <a:endParaRPr lang="en-US" sz="1200" spc="0" kern="0" b="0" i="0" dirty="0">
                <a:solidFill>
                  <a:srgbClr val="070154"/>
                </a:solidFill>
                <a:latin typeface="IBM Plex Sans"/>
                <a:ea typeface="IBM Plex Sans"/>
                <a:cs typeface="IBM Plex Sans"/>
              </a:endParaRPr>
            </a:p>
          </p:txBody>
        </p:sp>
        <p:sp>
          <p:nvSpPr>
            <p:cNvPr id="19" name="node04.body.item-001.paragraph"/>
            <p:cNvSpPr/>
            <p:nvPr/>
          </p:nvSpPr>
          <p:spPr>
            <a:xfrm>
              <a:off x="4648200" y="3111500"/>
              <a:ext cx="29337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Separate essential controls from obsolete features.</a:t>
              </a:r>
              <a:endParaRPr lang="en-US" sz="1200" spc="0" kern="0" b="0" i="0" dirty="0">
                <a:solidFill>
                  <a:srgbClr val="50658E"/>
                </a:solidFill>
                <a:latin typeface="IBM Plex Sans"/>
                <a:ea typeface="IBM Plex Sans"/>
                <a:cs typeface="IBM Plex Sans"/>
              </a:endParaRPr>
            </a:p>
          </p:txBody>
        </p:sp>
      </p:grpSp>
      <p:grpSp>
        <p:nvGrpSpPr>
          <p:cNvPr id="49" name="node05"/>
          <p:cNvGrpSpPr/>
          <p:nvPr/>
        </p:nvGrpSpPr>
        <p:grpSpPr>
          <a:xfrm>
            <a:off x="8039100" y="2514600"/>
            <a:ext cx="3429000" cy="1371600"/>
            <a:chOff x="8039100" y="2514600"/>
            <a:chExt cx="3429000" cy="1371600"/>
          </a:xfrm>
        </p:grpSpPr>
        <p:sp>
          <p:nvSpPr>
            <p:cNvPr id="20" name="node05.container"/>
            <p:cNvSpPr/>
            <p:nvPr/>
          </p:nvSpPr>
          <p:spPr>
            <a:xfrm>
              <a:off x="8039100" y="2514600"/>
              <a:ext cx="3429000" cy="1371600"/>
            </a:xfrm>
            <a:prstGeom prst="rect">
              <a:avLst/>
            </a:prstGeom>
            <a:solidFill>
              <a:srgbClr val="E8EEF8"/>
            </a:solidFill>
            <a:ln>
              <a:noFill/>
            </a:ln>
          </p:spPr>
        </p:sp>
        <p:sp>
          <p:nvSpPr>
            <p:cNvPr id="21" name="node05.edge"/>
            <p:cNvSpPr/>
            <p:nvPr/>
          </p:nvSpPr>
          <p:spPr>
            <a:xfrm>
              <a:off x="8039100" y="2514600"/>
              <a:ext cx="38100" cy="1371600"/>
            </a:xfrm>
            <a:prstGeom prst="rect">
              <a:avLst/>
            </a:prstGeom>
            <a:solidFill>
              <a:srgbClr val="0047FF"/>
            </a:solidFill>
            <a:ln>
              <a:noFill/>
            </a:ln>
          </p:spPr>
        </p:sp>
        <p:sp>
          <p:nvSpPr>
            <p:cNvPr id="22" name="node05.number-tile"/>
            <p:cNvSpPr/>
            <p:nvPr/>
          </p:nvSpPr>
          <p:spPr>
            <a:xfrm>
              <a:off x="8305800" y="2679700"/>
              <a:ext cx="342900" cy="342900"/>
            </a:xfrm>
            <a:prstGeom prst="rect">
              <a:avLst/>
            </a:prstGeom>
            <a:solidFill>
              <a:srgbClr val="F900D3"/>
            </a:solidFill>
            <a:ln>
              <a:noFill/>
            </a:ln>
          </p:spPr>
        </p:sp>
        <p:sp>
          <p:nvSpPr>
            <p:cNvPr id="23" name="node05.number"/>
            <p:cNvSpPr/>
            <p:nvPr/>
          </p:nvSpPr>
          <p:spPr>
            <a:xfrm>
              <a:off x="8305800" y="2679700"/>
              <a:ext cx="342900" cy="342900"/>
            </a:xfrm>
            <a:prstGeom prst="rect">
              <a:avLst/>
            </a:prstGeom>
            <a:noFill/>
            <a:ln/>
          </p:spPr>
          <p:txBody>
            <a:bodyPr wrap="square" lIns="0" tIns="0" rIns="0" bIns="0" rtlCol="0" anchor="ctr"/>
            <a:lstStyle/>
            <a:p>
              <a:pPr algn="ctr" indent="0" marL="0">
                <a:lnSpc>
                  <a:spcPts val="1400"/>
                </a:lnSpc>
                <a:buNone/>
              </a:pPr>
              <a:r>
                <a:rPr lang="en-US" sz="1400" spc="0" kern="0" b="0" i="0" dirty="0">
                  <a:solidFill>
                    <a:srgbClr val="070154"/>
                  </a:solidFill>
                  <a:latin typeface="IBM Plex Mono SemiBold"/>
                  <a:ea typeface="IBM Plex Mono SemiBold"/>
                  <a:cs typeface="IBM Plex Mono SemiBold"/>
                </a:rPr>
                <a:t>03</a:t>
              </a:r>
              <a:endParaRPr lang="en-US" sz="1400" spc="0" kern="0" b="0" i="0" dirty="0">
                <a:solidFill>
                  <a:srgbClr val="070154"/>
                </a:solidFill>
                <a:latin typeface="IBM Plex Mono SemiBold"/>
                <a:ea typeface="IBM Plex Mono SemiBold"/>
                <a:cs typeface="IBM Plex Mono SemiBold"/>
              </a:endParaRPr>
            </a:p>
          </p:txBody>
        </p:sp>
        <p:sp>
          <p:nvSpPr>
            <p:cNvPr id="24" name="node05.title"/>
            <p:cNvSpPr/>
            <p:nvPr/>
          </p:nvSpPr>
          <p:spPr>
            <a:xfrm>
              <a:off x="8763000" y="27432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Align business and technology</a:t>
              </a:r>
              <a:endParaRPr lang="en-US" sz="1200" spc="0" kern="0" b="0" i="0" dirty="0">
                <a:solidFill>
                  <a:srgbClr val="070154"/>
                </a:solidFill>
                <a:latin typeface="IBM Plex Sans"/>
                <a:ea typeface="IBM Plex Sans"/>
                <a:cs typeface="IBM Plex Sans"/>
              </a:endParaRPr>
            </a:p>
          </p:txBody>
        </p:sp>
        <p:sp>
          <p:nvSpPr>
            <p:cNvPr id="25" name="node05.body.item-001.paragraph"/>
            <p:cNvSpPr/>
            <p:nvPr/>
          </p:nvSpPr>
          <p:spPr>
            <a:xfrm>
              <a:off x="8305800" y="3111500"/>
              <a:ext cx="29337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Turn operator intent into shared designs and tests.</a:t>
              </a:r>
              <a:endParaRPr lang="en-US" sz="1200" spc="0" kern="0" b="0" i="0" dirty="0">
                <a:solidFill>
                  <a:srgbClr val="50658E"/>
                </a:solidFill>
                <a:latin typeface="IBM Plex Sans"/>
                <a:ea typeface="IBM Plex Sans"/>
                <a:cs typeface="IBM Plex Sans"/>
              </a:endParaRPr>
            </a:p>
          </p:txBody>
        </p:sp>
      </p:grpSp>
      <p:grpSp>
        <p:nvGrpSpPr>
          <p:cNvPr id="50" name="node06"/>
          <p:cNvGrpSpPr/>
          <p:nvPr/>
        </p:nvGrpSpPr>
        <p:grpSpPr>
          <a:xfrm>
            <a:off x="723900" y="4114800"/>
            <a:ext cx="10744200" cy="139700"/>
            <a:chOff x="723900" y="4114800"/>
            <a:chExt cx="10744200" cy="139700"/>
          </a:xfrm>
        </p:grpSpPr>
        <p:sp>
          <p:nvSpPr>
            <p:cNvPr id="26" name="node06.text"/>
            <p:cNvSpPr/>
            <p:nvPr/>
          </p:nvSpPr>
          <p:spPr>
            <a:xfrm>
              <a:off x="723900" y="4114800"/>
              <a:ext cx="107442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DELIVER AND TRANSITION</a:t>
              </a:r>
              <a:endParaRPr lang="en-US" sz="900" spc="72" kern="0" b="0" i="0" dirty="0">
                <a:solidFill>
                  <a:srgbClr val="0047FF"/>
                </a:solidFill>
                <a:latin typeface="IBM Plex Mono SemiBold"/>
                <a:ea typeface="IBM Plex Mono SemiBold"/>
                <a:cs typeface="IBM Plex Mono SemiBold"/>
              </a:endParaRPr>
            </a:p>
          </p:txBody>
        </p:sp>
      </p:grpSp>
      <p:grpSp>
        <p:nvGrpSpPr>
          <p:cNvPr id="51" name="node07"/>
          <p:cNvGrpSpPr/>
          <p:nvPr/>
        </p:nvGrpSpPr>
        <p:grpSpPr>
          <a:xfrm>
            <a:off x="723900" y="4343400"/>
            <a:ext cx="3429000" cy="1371600"/>
            <a:chOff x="723900" y="4343400"/>
            <a:chExt cx="3429000" cy="1371600"/>
          </a:xfrm>
        </p:grpSpPr>
        <p:sp>
          <p:nvSpPr>
            <p:cNvPr id="27" name="node07.container"/>
            <p:cNvSpPr/>
            <p:nvPr/>
          </p:nvSpPr>
          <p:spPr>
            <a:xfrm>
              <a:off x="723900" y="4343400"/>
              <a:ext cx="3429000" cy="1371600"/>
            </a:xfrm>
            <a:prstGeom prst="rect">
              <a:avLst/>
            </a:prstGeom>
            <a:solidFill>
              <a:srgbClr val="E8EEF8"/>
            </a:solidFill>
            <a:ln>
              <a:noFill/>
            </a:ln>
          </p:spPr>
        </p:sp>
        <p:sp>
          <p:nvSpPr>
            <p:cNvPr id="28" name="node07.edge"/>
            <p:cNvSpPr/>
            <p:nvPr/>
          </p:nvSpPr>
          <p:spPr>
            <a:xfrm>
              <a:off x="723900" y="4343400"/>
              <a:ext cx="38100" cy="1371600"/>
            </a:xfrm>
            <a:prstGeom prst="rect">
              <a:avLst/>
            </a:prstGeom>
            <a:solidFill>
              <a:srgbClr val="0047FF"/>
            </a:solidFill>
            <a:ln>
              <a:noFill/>
            </a:ln>
          </p:spPr>
        </p:sp>
        <p:sp>
          <p:nvSpPr>
            <p:cNvPr id="29" name="node07.number-tile"/>
            <p:cNvSpPr/>
            <p:nvPr/>
          </p:nvSpPr>
          <p:spPr>
            <a:xfrm>
              <a:off x="990600" y="4508500"/>
              <a:ext cx="342900" cy="342900"/>
            </a:xfrm>
            <a:prstGeom prst="rect">
              <a:avLst/>
            </a:prstGeom>
            <a:solidFill>
              <a:srgbClr val="F900D3"/>
            </a:solidFill>
            <a:ln>
              <a:noFill/>
            </a:ln>
          </p:spPr>
        </p:sp>
        <p:sp>
          <p:nvSpPr>
            <p:cNvPr id="30" name="node07.number"/>
            <p:cNvSpPr/>
            <p:nvPr/>
          </p:nvSpPr>
          <p:spPr>
            <a:xfrm>
              <a:off x="990600" y="4508500"/>
              <a:ext cx="342900" cy="342900"/>
            </a:xfrm>
            <a:prstGeom prst="rect">
              <a:avLst/>
            </a:prstGeom>
            <a:noFill/>
            <a:ln/>
          </p:spPr>
          <p:txBody>
            <a:bodyPr wrap="square" lIns="0" tIns="0" rIns="0" bIns="0" rtlCol="0" anchor="ctr"/>
            <a:lstStyle/>
            <a:p>
              <a:pPr algn="ctr" indent="0" marL="0">
                <a:lnSpc>
                  <a:spcPts val="1400"/>
                </a:lnSpc>
                <a:buNone/>
              </a:pPr>
              <a:r>
                <a:rPr lang="en-US" sz="1400" spc="0" kern="0" b="0" i="0" dirty="0">
                  <a:solidFill>
                    <a:srgbClr val="070154"/>
                  </a:solidFill>
                  <a:latin typeface="IBM Plex Mono SemiBold"/>
                  <a:ea typeface="IBM Plex Mono SemiBold"/>
                  <a:cs typeface="IBM Plex Mono SemiBold"/>
                </a:rPr>
                <a:t>04</a:t>
              </a:r>
              <a:endParaRPr lang="en-US" sz="1400" spc="0" kern="0" b="0" i="0" dirty="0">
                <a:solidFill>
                  <a:srgbClr val="070154"/>
                </a:solidFill>
                <a:latin typeface="IBM Plex Mono SemiBold"/>
                <a:ea typeface="IBM Plex Mono SemiBold"/>
                <a:cs typeface="IBM Plex Mono SemiBold"/>
              </a:endParaRPr>
            </a:p>
          </p:txBody>
        </p:sp>
        <p:sp>
          <p:nvSpPr>
            <p:cNvPr id="31" name="node07.title"/>
            <p:cNvSpPr/>
            <p:nvPr/>
          </p:nvSpPr>
          <p:spPr>
            <a:xfrm>
              <a:off x="1447800" y="45720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Untangle dependencies</a:t>
              </a:r>
              <a:endParaRPr lang="en-US" sz="1200" spc="0" kern="0" b="0" i="0" dirty="0">
                <a:solidFill>
                  <a:srgbClr val="070154"/>
                </a:solidFill>
                <a:latin typeface="IBM Plex Sans"/>
                <a:ea typeface="IBM Plex Sans"/>
                <a:cs typeface="IBM Plex Sans"/>
              </a:endParaRPr>
            </a:p>
          </p:txBody>
        </p:sp>
        <p:sp>
          <p:nvSpPr>
            <p:cNvPr id="32" name="node07.body.item-001.paragraph"/>
            <p:cNvSpPr/>
            <p:nvPr/>
          </p:nvSpPr>
          <p:spPr>
            <a:xfrm>
              <a:off x="990600" y="4940300"/>
              <a:ext cx="29337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Map integrations, then clean duplicate and incomplete data.</a:t>
              </a:r>
              <a:endParaRPr lang="en-US" sz="1200" spc="0" kern="0" b="0" i="0" dirty="0">
                <a:solidFill>
                  <a:srgbClr val="50658E"/>
                </a:solidFill>
                <a:latin typeface="IBM Plex Sans"/>
                <a:ea typeface="IBM Plex Sans"/>
                <a:cs typeface="IBM Plex Sans"/>
              </a:endParaRPr>
            </a:p>
          </p:txBody>
        </p:sp>
      </p:grpSp>
      <p:grpSp>
        <p:nvGrpSpPr>
          <p:cNvPr id="52" name="node08"/>
          <p:cNvGrpSpPr/>
          <p:nvPr/>
        </p:nvGrpSpPr>
        <p:grpSpPr>
          <a:xfrm>
            <a:off x="4381500" y="4343400"/>
            <a:ext cx="3429000" cy="1371600"/>
            <a:chOff x="4381500" y="4343400"/>
            <a:chExt cx="3429000" cy="1371600"/>
          </a:xfrm>
        </p:grpSpPr>
        <p:sp>
          <p:nvSpPr>
            <p:cNvPr id="33" name="node08.container"/>
            <p:cNvSpPr/>
            <p:nvPr/>
          </p:nvSpPr>
          <p:spPr>
            <a:xfrm>
              <a:off x="4381500" y="4343400"/>
              <a:ext cx="3429000" cy="1371600"/>
            </a:xfrm>
            <a:prstGeom prst="rect">
              <a:avLst/>
            </a:prstGeom>
            <a:solidFill>
              <a:srgbClr val="E8EEF8"/>
            </a:solidFill>
            <a:ln>
              <a:noFill/>
            </a:ln>
          </p:spPr>
        </p:sp>
        <p:sp>
          <p:nvSpPr>
            <p:cNvPr id="34" name="node08.edge"/>
            <p:cNvSpPr/>
            <p:nvPr/>
          </p:nvSpPr>
          <p:spPr>
            <a:xfrm>
              <a:off x="4381500" y="4343400"/>
              <a:ext cx="38100" cy="1371600"/>
            </a:xfrm>
            <a:prstGeom prst="rect">
              <a:avLst/>
            </a:prstGeom>
            <a:solidFill>
              <a:srgbClr val="0047FF"/>
            </a:solidFill>
            <a:ln>
              <a:noFill/>
            </a:ln>
          </p:spPr>
        </p:sp>
        <p:sp>
          <p:nvSpPr>
            <p:cNvPr id="35" name="node08.number-tile"/>
            <p:cNvSpPr/>
            <p:nvPr/>
          </p:nvSpPr>
          <p:spPr>
            <a:xfrm>
              <a:off x="4648200" y="4508500"/>
              <a:ext cx="342900" cy="342900"/>
            </a:xfrm>
            <a:prstGeom prst="rect">
              <a:avLst/>
            </a:prstGeom>
            <a:solidFill>
              <a:srgbClr val="F900D3"/>
            </a:solidFill>
            <a:ln>
              <a:noFill/>
            </a:ln>
          </p:spPr>
        </p:sp>
        <p:sp>
          <p:nvSpPr>
            <p:cNvPr id="36" name="node08.number"/>
            <p:cNvSpPr/>
            <p:nvPr/>
          </p:nvSpPr>
          <p:spPr>
            <a:xfrm>
              <a:off x="4648200" y="4508500"/>
              <a:ext cx="342900" cy="342900"/>
            </a:xfrm>
            <a:prstGeom prst="rect">
              <a:avLst/>
            </a:prstGeom>
            <a:noFill/>
            <a:ln/>
          </p:spPr>
          <p:txBody>
            <a:bodyPr wrap="square" lIns="0" tIns="0" rIns="0" bIns="0" rtlCol="0" anchor="ctr"/>
            <a:lstStyle/>
            <a:p>
              <a:pPr algn="ctr" indent="0" marL="0">
                <a:lnSpc>
                  <a:spcPts val="1400"/>
                </a:lnSpc>
                <a:buNone/>
              </a:pPr>
              <a:r>
                <a:rPr lang="en-US" sz="1400" spc="0" kern="0" b="0" i="0" dirty="0">
                  <a:solidFill>
                    <a:srgbClr val="070154"/>
                  </a:solidFill>
                  <a:latin typeface="IBM Plex Mono SemiBold"/>
                  <a:ea typeface="IBM Plex Mono SemiBold"/>
                  <a:cs typeface="IBM Plex Mono SemiBold"/>
                </a:rPr>
                <a:t>05</a:t>
              </a:r>
              <a:endParaRPr lang="en-US" sz="1400" spc="0" kern="0" b="0" i="0" dirty="0">
                <a:solidFill>
                  <a:srgbClr val="070154"/>
                </a:solidFill>
                <a:latin typeface="IBM Plex Mono SemiBold"/>
                <a:ea typeface="IBM Plex Mono SemiBold"/>
                <a:cs typeface="IBM Plex Mono SemiBold"/>
              </a:endParaRPr>
            </a:p>
          </p:txBody>
        </p:sp>
        <p:sp>
          <p:nvSpPr>
            <p:cNvPr id="37" name="node08.title"/>
            <p:cNvSpPr/>
            <p:nvPr/>
          </p:nvSpPr>
          <p:spPr>
            <a:xfrm>
              <a:off x="5105400" y="45720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Validate during cutover</a:t>
              </a:r>
              <a:endParaRPr lang="en-US" sz="1200" spc="0" kern="0" b="0" i="0" dirty="0">
                <a:solidFill>
                  <a:srgbClr val="070154"/>
                </a:solidFill>
                <a:latin typeface="IBM Plex Sans"/>
                <a:ea typeface="IBM Plex Sans"/>
                <a:cs typeface="IBM Plex Sans"/>
              </a:endParaRPr>
            </a:p>
          </p:txBody>
        </p:sp>
        <p:sp>
          <p:nvSpPr>
            <p:cNvPr id="38" name="node08.body.item-001.paragraph"/>
            <p:cNvSpPr/>
            <p:nvPr/>
          </p:nvSpPr>
          <p:spPr>
            <a:xfrm>
              <a:off x="4648200" y="4940300"/>
              <a:ext cx="29337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Run acceptance tests while old and new systems coexist.</a:t>
              </a:r>
              <a:endParaRPr lang="en-US" sz="1200" spc="0" kern="0" b="0" i="0" dirty="0">
                <a:solidFill>
                  <a:srgbClr val="50658E"/>
                </a:solidFill>
                <a:latin typeface="IBM Plex Sans"/>
                <a:ea typeface="IBM Plex Sans"/>
                <a:cs typeface="IBM Plex Sans"/>
              </a:endParaRPr>
            </a:p>
          </p:txBody>
        </p:sp>
      </p:grpSp>
      <p:grpSp>
        <p:nvGrpSpPr>
          <p:cNvPr id="53" name="node09"/>
          <p:cNvGrpSpPr/>
          <p:nvPr/>
        </p:nvGrpSpPr>
        <p:grpSpPr>
          <a:xfrm>
            <a:off x="8039100" y="4343400"/>
            <a:ext cx="3429000" cy="1371600"/>
            <a:chOff x="8039100" y="4343400"/>
            <a:chExt cx="3429000" cy="1371600"/>
          </a:xfrm>
        </p:grpSpPr>
        <p:sp>
          <p:nvSpPr>
            <p:cNvPr id="39" name="node09.container"/>
            <p:cNvSpPr/>
            <p:nvPr/>
          </p:nvSpPr>
          <p:spPr>
            <a:xfrm>
              <a:off x="8039100" y="4343400"/>
              <a:ext cx="3429000" cy="1371600"/>
            </a:xfrm>
            <a:prstGeom prst="rect">
              <a:avLst/>
            </a:prstGeom>
            <a:solidFill>
              <a:srgbClr val="E8EEF8"/>
            </a:solidFill>
            <a:ln>
              <a:noFill/>
            </a:ln>
          </p:spPr>
        </p:sp>
        <p:sp>
          <p:nvSpPr>
            <p:cNvPr id="40" name="node09.edge"/>
            <p:cNvSpPr/>
            <p:nvPr/>
          </p:nvSpPr>
          <p:spPr>
            <a:xfrm>
              <a:off x="8039100" y="4343400"/>
              <a:ext cx="38100" cy="1371600"/>
            </a:xfrm>
            <a:prstGeom prst="rect">
              <a:avLst/>
            </a:prstGeom>
            <a:solidFill>
              <a:srgbClr val="0047FF"/>
            </a:solidFill>
            <a:ln>
              <a:noFill/>
            </a:ln>
          </p:spPr>
        </p:sp>
        <p:sp>
          <p:nvSpPr>
            <p:cNvPr id="41" name="node09.number-tile"/>
            <p:cNvSpPr/>
            <p:nvPr/>
          </p:nvSpPr>
          <p:spPr>
            <a:xfrm>
              <a:off x="8305800" y="4508500"/>
              <a:ext cx="342900" cy="342900"/>
            </a:xfrm>
            <a:prstGeom prst="rect">
              <a:avLst/>
            </a:prstGeom>
            <a:solidFill>
              <a:srgbClr val="F900D3"/>
            </a:solidFill>
            <a:ln>
              <a:noFill/>
            </a:ln>
          </p:spPr>
        </p:sp>
        <p:sp>
          <p:nvSpPr>
            <p:cNvPr id="42" name="node09.number"/>
            <p:cNvSpPr/>
            <p:nvPr/>
          </p:nvSpPr>
          <p:spPr>
            <a:xfrm>
              <a:off x="8305800" y="4508500"/>
              <a:ext cx="342900" cy="342900"/>
            </a:xfrm>
            <a:prstGeom prst="rect">
              <a:avLst/>
            </a:prstGeom>
            <a:noFill/>
            <a:ln/>
          </p:spPr>
          <p:txBody>
            <a:bodyPr wrap="square" lIns="0" tIns="0" rIns="0" bIns="0" rtlCol="0" anchor="ctr"/>
            <a:lstStyle/>
            <a:p>
              <a:pPr algn="ctr" indent="0" marL="0">
                <a:lnSpc>
                  <a:spcPts val="1400"/>
                </a:lnSpc>
                <a:buNone/>
              </a:pPr>
              <a:r>
                <a:rPr lang="en-US" sz="1400" spc="0" kern="0" b="0" i="0" dirty="0">
                  <a:solidFill>
                    <a:srgbClr val="070154"/>
                  </a:solidFill>
                  <a:latin typeface="IBM Plex Mono SemiBold"/>
                  <a:ea typeface="IBM Plex Mono SemiBold"/>
                  <a:cs typeface="IBM Plex Mono SemiBold"/>
                </a:rPr>
                <a:t>06</a:t>
              </a:r>
              <a:endParaRPr lang="en-US" sz="1400" spc="0" kern="0" b="0" i="0" dirty="0">
                <a:solidFill>
                  <a:srgbClr val="070154"/>
                </a:solidFill>
                <a:latin typeface="IBM Plex Mono SemiBold"/>
                <a:ea typeface="IBM Plex Mono SemiBold"/>
                <a:cs typeface="IBM Plex Mono SemiBold"/>
              </a:endParaRPr>
            </a:p>
          </p:txBody>
        </p:sp>
        <p:sp>
          <p:nvSpPr>
            <p:cNvPr id="43" name="node09.title"/>
            <p:cNvSpPr/>
            <p:nvPr/>
          </p:nvSpPr>
          <p:spPr>
            <a:xfrm>
              <a:off x="8763000" y="4572000"/>
              <a:ext cx="2476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Execute a safe cutover</a:t>
              </a:r>
              <a:endParaRPr lang="en-US" sz="1200" spc="0" kern="0" b="0" i="0" dirty="0">
                <a:solidFill>
                  <a:srgbClr val="070154"/>
                </a:solidFill>
                <a:latin typeface="IBM Plex Sans"/>
                <a:ea typeface="IBM Plex Sans"/>
                <a:cs typeface="IBM Plex Sans"/>
              </a:endParaRPr>
            </a:p>
          </p:txBody>
        </p:sp>
        <p:sp>
          <p:nvSpPr>
            <p:cNvPr id="44" name="node09.body.item-001.paragraph"/>
            <p:cNvSpPr/>
            <p:nvPr/>
          </p:nvSpPr>
          <p:spPr>
            <a:xfrm>
              <a:off x="8305800" y="4940300"/>
              <a:ext cx="29337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Sequence migration, rollback and controls to protect operations.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ource-36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51</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723900" y="1600200"/>
            <a:ext cx="3200400" cy="3429000"/>
            <a:chOff x="723900" y="1600200"/>
            <a:chExt cx="3200400" cy="3429000"/>
          </a:xfrm>
        </p:grpSpPr>
        <p:sp>
          <p:nvSpPr>
            <p:cNvPr id="6" name="node01.container"/>
            <p:cNvSpPr/>
            <p:nvPr/>
          </p:nvSpPr>
          <p:spPr>
            <a:xfrm>
              <a:off x="723900" y="1600200"/>
              <a:ext cx="3200400" cy="3429000"/>
            </a:xfrm>
            <a:prstGeom prst="rect">
              <a:avLst/>
            </a:prstGeom>
            <a:solidFill>
              <a:srgbClr val="E8EEF8"/>
            </a:solidFill>
            <a:ln>
              <a:noFill/>
            </a:ln>
          </p:spPr>
        </p:sp>
        <p:grpSp>
          <p:nvGrpSpPr>
            <p:cNvPr id="51" name="node01.icon"/>
            <p:cNvGrpSpPr/>
            <p:nvPr/>
          </p:nvGrpSpPr>
          <p:grpSpPr>
            <a:xfrm>
              <a:off x="952500" y="1828800"/>
              <a:ext cx="457200" cy="457200"/>
              <a:chOff x="952500" y="1828800"/>
              <a:chExt cx="457200" cy="457200"/>
            </a:xfrm>
          </p:grpSpPr>
          <p:pic>
            <p:nvPicPr>
              <p:cNvPr id="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1828800"/>
                <a:ext cx="457200" cy="457200"/>
              </a:xfrm>
              <a:prstGeom prst="rect">
                <a:avLst/>
              </a:prstGeom>
            </p:spPr>
          </p:pic>
        </p:grpSp>
        <p:sp>
          <p:nvSpPr>
            <p:cNvPr id="8" name="node01.title"/>
            <p:cNvSpPr/>
            <p:nvPr/>
          </p:nvSpPr>
          <p:spPr>
            <a:xfrm>
              <a:off x="1562100" y="1828800"/>
              <a:ext cx="2133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Value first</a:t>
              </a:r>
              <a:endParaRPr lang="en-US" sz="1800" spc="-18" kern="0" b="0" i="0" dirty="0">
                <a:solidFill>
                  <a:srgbClr val="0047FF"/>
                </a:solidFill>
                <a:latin typeface="IBM Plex Sans SemiBold"/>
                <a:ea typeface="IBM Plex Sans SemiBold"/>
                <a:cs typeface="IBM Plex Sans SemiBold"/>
              </a:endParaRPr>
            </a:p>
          </p:txBody>
        </p:sp>
        <p:sp>
          <p:nvSpPr>
            <p:cNvPr id="9" name="node01.body.item-001.bullets.item-001.marker"/>
            <p:cNvSpPr/>
            <p:nvPr/>
          </p:nvSpPr>
          <p:spPr>
            <a:xfrm>
              <a:off x="952500" y="2546350"/>
              <a:ext cx="50800" cy="50800"/>
            </a:xfrm>
            <a:prstGeom prst="rect">
              <a:avLst/>
            </a:prstGeom>
            <a:solidFill>
              <a:srgbClr val="070154"/>
            </a:solidFill>
            <a:ln>
              <a:noFill/>
            </a:ln>
          </p:spPr>
        </p:sp>
        <p:sp>
          <p:nvSpPr>
            <p:cNvPr id="10" name="node01.body.item-001.bullets.item-001.text"/>
            <p:cNvSpPr/>
            <p:nvPr/>
          </p:nvSpPr>
          <p:spPr>
            <a:xfrm>
              <a:off x="1143000" y="24384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rank systems by business value, not elegance.</a:t>
              </a:r>
              <a:endParaRPr lang="en-US" sz="1400" spc="0" kern="0" b="0" i="0" dirty="0">
                <a:solidFill>
                  <a:srgbClr val="070154"/>
                </a:solidFill>
                <a:latin typeface="IBM Plex Sans"/>
                <a:ea typeface="IBM Plex Sans"/>
                <a:cs typeface="IBM Plex Sans"/>
              </a:endParaRPr>
            </a:p>
          </p:txBody>
        </p:sp>
        <p:sp>
          <p:nvSpPr>
            <p:cNvPr id="11" name="node01.body.item-001.bullets.item-002.marker"/>
            <p:cNvSpPr/>
            <p:nvPr/>
          </p:nvSpPr>
          <p:spPr>
            <a:xfrm>
              <a:off x="952500" y="3155950"/>
              <a:ext cx="50800" cy="50800"/>
            </a:xfrm>
            <a:prstGeom prst="rect">
              <a:avLst/>
            </a:prstGeom>
            <a:solidFill>
              <a:srgbClr val="070154"/>
            </a:solidFill>
            <a:ln>
              <a:noFill/>
            </a:ln>
          </p:spPr>
        </p:sp>
        <p:sp>
          <p:nvSpPr>
            <p:cNvPr id="12" name="node01.body.item-001.bullets.item-002.text"/>
            <p:cNvSpPr/>
            <p:nvPr/>
          </p:nvSpPr>
          <p:spPr>
            <a:xfrm>
              <a:off x="1143000" y="30480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Cost, risk and revenue exposure scored side by side.</a:t>
              </a:r>
              <a:endParaRPr lang="en-US" sz="1400" spc="0" kern="0" b="0" i="0" dirty="0">
                <a:solidFill>
                  <a:srgbClr val="070154"/>
                </a:solidFill>
                <a:latin typeface="IBM Plex Sans"/>
                <a:ea typeface="IBM Plex Sans"/>
                <a:cs typeface="IBM Plex Sans"/>
              </a:endParaRPr>
            </a:p>
          </p:txBody>
        </p:sp>
        <p:sp>
          <p:nvSpPr>
            <p:cNvPr id="13" name="node01.body.item-001.bullets.item-003.marker"/>
            <p:cNvSpPr/>
            <p:nvPr/>
          </p:nvSpPr>
          <p:spPr>
            <a:xfrm>
              <a:off x="952500" y="3765550"/>
              <a:ext cx="50800" cy="50800"/>
            </a:xfrm>
            <a:prstGeom prst="rect">
              <a:avLst/>
            </a:prstGeom>
            <a:solidFill>
              <a:srgbClr val="070154"/>
            </a:solidFill>
            <a:ln>
              <a:noFill/>
            </a:ln>
          </p:spPr>
        </p:sp>
        <p:sp>
          <p:nvSpPr>
            <p:cNvPr id="14" name="node01.body.item-001.bullets.item-003.text"/>
            <p:cNvSpPr/>
            <p:nvPr/>
          </p:nvSpPr>
          <p:spPr>
            <a:xfrm>
              <a:off x="1143000" y="36576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Quick wins funded first, so savings pay for later waves.</a:t>
              </a:r>
              <a:endParaRPr lang="en-US" sz="1400" spc="0" kern="0" b="0" i="0" dirty="0">
                <a:solidFill>
                  <a:srgbClr val="070154"/>
                </a:solidFill>
                <a:latin typeface="IBM Plex Sans"/>
                <a:ea typeface="IBM Plex Sans"/>
                <a:cs typeface="IBM Plex Sans"/>
              </a:endParaRPr>
            </a:p>
          </p:txBody>
        </p:sp>
        <p:sp>
          <p:nvSpPr>
            <p:cNvPr id="15" name="node01.body.item-001.bullets.item-004.marker"/>
            <p:cNvSpPr/>
            <p:nvPr/>
          </p:nvSpPr>
          <p:spPr>
            <a:xfrm>
              <a:off x="952500" y="4375150"/>
              <a:ext cx="50800" cy="50800"/>
            </a:xfrm>
            <a:prstGeom prst="rect">
              <a:avLst/>
            </a:prstGeom>
            <a:solidFill>
              <a:srgbClr val="070154"/>
            </a:solidFill>
            <a:ln>
              <a:noFill/>
            </a:ln>
          </p:spPr>
        </p:sp>
        <p:sp>
          <p:nvSpPr>
            <p:cNvPr id="16" name="node01.body.item-001.bullets.item-004.text"/>
            <p:cNvSpPr/>
            <p:nvPr/>
          </p:nvSpPr>
          <p:spPr>
            <a:xfrm>
              <a:off x="1143000" y="4267200"/>
              <a:ext cx="25527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Value tracked every release.</a:t>
              </a:r>
              <a:endParaRPr lang="en-US" sz="1400" spc="0" kern="0" b="0" i="0" dirty="0">
                <a:solidFill>
                  <a:srgbClr val="070154"/>
                </a:solidFill>
                <a:latin typeface="IBM Plex Sans"/>
                <a:ea typeface="IBM Plex Sans"/>
                <a:cs typeface="IBM Plex Sans"/>
              </a:endParaRPr>
            </a:p>
          </p:txBody>
        </p:sp>
      </p:grpSp>
      <p:grpSp>
        <p:nvGrpSpPr>
          <p:cNvPr id="53" name="node02"/>
          <p:cNvGrpSpPr/>
          <p:nvPr/>
        </p:nvGrpSpPr>
        <p:grpSpPr>
          <a:xfrm>
            <a:off x="1866900" y="4800600"/>
            <a:ext cx="2286000" cy="1371600"/>
            <a:chOff x="1866900" y="4800600"/>
            <a:chExt cx="2286000" cy="1371600"/>
          </a:xfrm>
        </p:grpSpPr>
        <p:sp>
          <p:nvSpPr>
            <p:cNvPr id="17" name="node02.surface"/>
            <p:cNvSpPr/>
            <p:nvPr/>
          </p:nvSpPr>
          <p:spPr>
            <a:xfrm>
              <a:off x="1866900" y="4800600"/>
              <a:ext cx="2286000" cy="1371600"/>
            </a:xfrm>
            <a:prstGeom prst="rect">
              <a:avLst/>
            </a:prstGeom>
            <a:solidFill>
              <a:srgbClr val="070154"/>
            </a:solidFill>
            <a:ln>
              <a:noFill/>
            </a:ln>
          </p:spPr>
        </p:sp>
      </p:grpSp>
      <p:grpSp>
        <p:nvGrpSpPr>
          <p:cNvPr id="54" name="node03"/>
          <p:cNvGrpSpPr/>
          <p:nvPr/>
        </p:nvGrpSpPr>
        <p:grpSpPr>
          <a:xfrm>
            <a:off x="2095500" y="5029200"/>
            <a:ext cx="1828800" cy="152400"/>
            <a:chOff x="2095500" y="5029200"/>
            <a:chExt cx="1828800" cy="152400"/>
          </a:xfrm>
        </p:grpSpPr>
        <p:sp>
          <p:nvSpPr>
            <p:cNvPr id="18" name="node03.text"/>
            <p:cNvSpPr/>
            <p:nvPr/>
          </p:nvSpPr>
          <p:spPr>
            <a:xfrm>
              <a:off x="20955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55" name="node04"/>
          <p:cNvGrpSpPr/>
          <p:nvPr/>
        </p:nvGrpSpPr>
        <p:grpSpPr>
          <a:xfrm>
            <a:off x="2095500" y="5257800"/>
            <a:ext cx="1828800" cy="685800"/>
            <a:chOff x="2095500" y="5257800"/>
            <a:chExt cx="1828800" cy="685800"/>
          </a:xfrm>
        </p:grpSpPr>
        <p:sp>
          <p:nvSpPr>
            <p:cNvPr id="19" name="node04.text"/>
            <p:cNvSpPr/>
            <p:nvPr/>
          </p:nvSpPr>
          <p:spPr>
            <a:xfrm>
              <a:off x="20955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Effort goes where return is highest, so promised value lands.</a:t>
              </a:r>
              <a:endParaRPr lang="en-US" sz="1200" spc="0" kern="0" b="0" i="0" dirty="0">
                <a:solidFill>
                  <a:srgbClr val="FFFFFF"/>
                </a:solidFill>
                <a:latin typeface="IBM Plex Sans"/>
                <a:ea typeface="IBM Plex Sans"/>
                <a:cs typeface="IBM Plex Sans"/>
              </a:endParaRPr>
            </a:p>
          </p:txBody>
        </p:sp>
      </p:grpSp>
      <p:grpSp>
        <p:nvGrpSpPr>
          <p:cNvPr id="57" name="node05"/>
          <p:cNvGrpSpPr/>
          <p:nvPr/>
        </p:nvGrpSpPr>
        <p:grpSpPr>
          <a:xfrm>
            <a:off x="4381500" y="1600200"/>
            <a:ext cx="3200400" cy="3429000"/>
            <a:chOff x="4381500" y="1600200"/>
            <a:chExt cx="3200400" cy="3429000"/>
          </a:xfrm>
        </p:grpSpPr>
        <p:sp>
          <p:nvSpPr>
            <p:cNvPr id="20" name="node05.container"/>
            <p:cNvSpPr/>
            <p:nvPr/>
          </p:nvSpPr>
          <p:spPr>
            <a:xfrm>
              <a:off x="4381500" y="1600200"/>
              <a:ext cx="3200400" cy="3429000"/>
            </a:xfrm>
            <a:prstGeom prst="rect">
              <a:avLst/>
            </a:prstGeom>
            <a:solidFill>
              <a:srgbClr val="E8EEF8"/>
            </a:solidFill>
            <a:ln>
              <a:noFill/>
            </a:ln>
          </p:spPr>
        </p:sp>
        <p:grpSp>
          <p:nvGrpSpPr>
            <p:cNvPr id="56" name="node05.icon"/>
            <p:cNvGrpSpPr/>
            <p:nvPr/>
          </p:nvGrpSpPr>
          <p:grpSpPr>
            <a:xfrm>
              <a:off x="4610100" y="1828800"/>
              <a:ext cx="457200" cy="457200"/>
              <a:chOff x="4610100" y="1828800"/>
              <a:chExt cx="457200" cy="457200"/>
            </a:xfrm>
          </p:grpSpPr>
          <p:pic>
            <p:nvPicPr>
              <p:cNvPr id="21" name="node05.icon.image" descr="icon/strategy-route/navy; canonical SHA256=763a15166fefc06f84edb42452bdf8fbb13cc97295a2599a2fc99a950f7f95d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0100" y="1828800"/>
                <a:ext cx="457200" cy="457200"/>
              </a:xfrm>
              <a:prstGeom prst="rect">
                <a:avLst/>
              </a:prstGeom>
            </p:spPr>
          </p:pic>
        </p:grpSp>
        <p:sp>
          <p:nvSpPr>
            <p:cNvPr id="22" name="node05.title"/>
            <p:cNvSpPr/>
            <p:nvPr/>
          </p:nvSpPr>
          <p:spPr>
            <a:xfrm>
              <a:off x="5219700" y="1828800"/>
              <a:ext cx="2133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Purpose built</a:t>
              </a:r>
              <a:endParaRPr lang="en-US" sz="1800" spc="-18" kern="0" b="0" i="0" dirty="0">
                <a:solidFill>
                  <a:srgbClr val="0047FF"/>
                </a:solidFill>
                <a:latin typeface="IBM Plex Sans SemiBold"/>
                <a:ea typeface="IBM Plex Sans SemiBold"/>
                <a:cs typeface="IBM Plex Sans SemiBold"/>
              </a:endParaRPr>
            </a:p>
          </p:txBody>
        </p:sp>
        <p:sp>
          <p:nvSpPr>
            <p:cNvPr id="23" name="node05.body.item-001.bullets.item-001.marker"/>
            <p:cNvSpPr/>
            <p:nvPr/>
          </p:nvSpPr>
          <p:spPr>
            <a:xfrm>
              <a:off x="4610100" y="2546350"/>
              <a:ext cx="50800" cy="50800"/>
            </a:xfrm>
            <a:prstGeom prst="rect">
              <a:avLst/>
            </a:prstGeom>
            <a:solidFill>
              <a:srgbClr val="070154"/>
            </a:solidFill>
            <a:ln>
              <a:noFill/>
            </a:ln>
          </p:spPr>
        </p:sp>
        <p:sp>
          <p:nvSpPr>
            <p:cNvPr id="24" name="node05.body.item-001.bullets.item-001.text"/>
            <p:cNvSpPr/>
            <p:nvPr/>
          </p:nvSpPr>
          <p:spPr>
            <a:xfrm>
              <a:off x="4800600" y="24384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Retain, replatform, rewrite or retire, chosen per system.</a:t>
              </a:r>
              <a:endParaRPr lang="en-US" sz="1400" spc="0" kern="0" b="0" i="0" dirty="0">
                <a:solidFill>
                  <a:srgbClr val="070154"/>
                </a:solidFill>
                <a:latin typeface="IBM Plex Sans"/>
                <a:ea typeface="IBM Plex Sans"/>
                <a:cs typeface="IBM Plex Sans"/>
              </a:endParaRPr>
            </a:p>
          </p:txBody>
        </p:sp>
        <p:sp>
          <p:nvSpPr>
            <p:cNvPr id="25" name="node05.body.item-001.bullets.item-002.marker"/>
            <p:cNvSpPr/>
            <p:nvPr/>
          </p:nvSpPr>
          <p:spPr>
            <a:xfrm>
              <a:off x="4610100" y="3155950"/>
              <a:ext cx="50800" cy="50800"/>
            </a:xfrm>
            <a:prstGeom prst="rect">
              <a:avLst/>
            </a:prstGeom>
            <a:solidFill>
              <a:srgbClr val="070154"/>
            </a:solidFill>
            <a:ln>
              <a:noFill/>
            </a:ln>
          </p:spPr>
        </p:sp>
        <p:sp>
          <p:nvSpPr>
            <p:cNvPr id="26" name="node05.body.item-001.bullets.item-002.text"/>
            <p:cNvSpPr/>
            <p:nvPr/>
          </p:nvSpPr>
          <p:spPr>
            <a:xfrm>
              <a:off x="4800600" y="30480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Stable components stay in place, untouched.</a:t>
              </a:r>
              <a:endParaRPr lang="en-US" sz="1400" spc="0" kern="0" b="0" i="0" dirty="0">
                <a:solidFill>
                  <a:srgbClr val="070154"/>
                </a:solidFill>
                <a:latin typeface="IBM Plex Sans"/>
                <a:ea typeface="IBM Plex Sans"/>
                <a:cs typeface="IBM Plex Sans"/>
              </a:endParaRPr>
            </a:p>
          </p:txBody>
        </p:sp>
        <p:sp>
          <p:nvSpPr>
            <p:cNvPr id="27" name="node05.body.item-001.bullets.item-003.marker"/>
            <p:cNvSpPr/>
            <p:nvPr/>
          </p:nvSpPr>
          <p:spPr>
            <a:xfrm>
              <a:off x="4610100" y="3765550"/>
              <a:ext cx="50800" cy="50800"/>
            </a:xfrm>
            <a:prstGeom prst="rect">
              <a:avLst/>
            </a:prstGeom>
            <a:solidFill>
              <a:srgbClr val="070154"/>
            </a:solidFill>
            <a:ln>
              <a:noFill/>
            </a:ln>
          </p:spPr>
        </p:sp>
        <p:sp>
          <p:nvSpPr>
            <p:cNvPr id="28" name="node05.body.item-001.bullets.item-003.text"/>
            <p:cNvSpPr/>
            <p:nvPr/>
          </p:nvSpPr>
          <p:spPr>
            <a:xfrm>
              <a:off x="4800600" y="36576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architecture fits your portfolio and skills.</a:t>
              </a:r>
              <a:endParaRPr lang="en-US" sz="1400" spc="0" kern="0" b="0" i="0" dirty="0">
                <a:solidFill>
                  <a:srgbClr val="070154"/>
                </a:solidFill>
                <a:latin typeface="IBM Plex Sans"/>
                <a:ea typeface="IBM Plex Sans"/>
                <a:cs typeface="IBM Plex Sans"/>
              </a:endParaRPr>
            </a:p>
          </p:txBody>
        </p:sp>
        <p:sp>
          <p:nvSpPr>
            <p:cNvPr id="29" name="node05.body.item-001.bullets.item-004.marker"/>
            <p:cNvSpPr/>
            <p:nvPr/>
          </p:nvSpPr>
          <p:spPr>
            <a:xfrm>
              <a:off x="4610100" y="4375150"/>
              <a:ext cx="50800" cy="50800"/>
            </a:xfrm>
            <a:prstGeom prst="rect">
              <a:avLst/>
            </a:prstGeom>
            <a:solidFill>
              <a:srgbClr val="070154"/>
            </a:solidFill>
            <a:ln>
              <a:noFill/>
            </a:ln>
          </p:spPr>
        </p:sp>
        <p:sp>
          <p:nvSpPr>
            <p:cNvPr id="30" name="node05.body.item-001.bullets.item-004.text"/>
            <p:cNvSpPr/>
            <p:nvPr/>
          </p:nvSpPr>
          <p:spPr>
            <a:xfrm>
              <a:off x="4800600" y="4267200"/>
              <a:ext cx="25527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Nothing is rebuilt for show.</a:t>
              </a:r>
              <a:endParaRPr lang="en-US" sz="1400" spc="0" kern="0" b="0" i="0" dirty="0">
                <a:solidFill>
                  <a:srgbClr val="070154"/>
                </a:solidFill>
                <a:latin typeface="IBM Plex Sans"/>
                <a:ea typeface="IBM Plex Sans"/>
                <a:cs typeface="IBM Plex Sans"/>
              </a:endParaRPr>
            </a:p>
          </p:txBody>
        </p:sp>
      </p:grpSp>
      <p:grpSp>
        <p:nvGrpSpPr>
          <p:cNvPr id="58" name="node06"/>
          <p:cNvGrpSpPr/>
          <p:nvPr/>
        </p:nvGrpSpPr>
        <p:grpSpPr>
          <a:xfrm>
            <a:off x="5524500" y="4800600"/>
            <a:ext cx="2286000" cy="1371600"/>
            <a:chOff x="5524500" y="4800600"/>
            <a:chExt cx="2286000" cy="1371600"/>
          </a:xfrm>
        </p:grpSpPr>
        <p:sp>
          <p:nvSpPr>
            <p:cNvPr id="31" name="node06.surface"/>
            <p:cNvSpPr/>
            <p:nvPr/>
          </p:nvSpPr>
          <p:spPr>
            <a:xfrm>
              <a:off x="5524500" y="4800600"/>
              <a:ext cx="2286000" cy="1371600"/>
            </a:xfrm>
            <a:prstGeom prst="rect">
              <a:avLst/>
            </a:prstGeom>
            <a:solidFill>
              <a:srgbClr val="070154"/>
            </a:solidFill>
            <a:ln>
              <a:noFill/>
            </a:ln>
          </p:spPr>
        </p:sp>
      </p:grpSp>
      <p:grpSp>
        <p:nvGrpSpPr>
          <p:cNvPr id="59" name="node07"/>
          <p:cNvGrpSpPr/>
          <p:nvPr/>
        </p:nvGrpSpPr>
        <p:grpSpPr>
          <a:xfrm>
            <a:off x="5753100" y="5029200"/>
            <a:ext cx="1828800" cy="152400"/>
            <a:chOff x="5753100" y="5029200"/>
            <a:chExt cx="1828800" cy="152400"/>
          </a:xfrm>
        </p:grpSpPr>
        <p:sp>
          <p:nvSpPr>
            <p:cNvPr id="32" name="node07.text"/>
            <p:cNvSpPr/>
            <p:nvPr/>
          </p:nvSpPr>
          <p:spPr>
            <a:xfrm>
              <a:off x="57531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0" name="node08"/>
          <p:cNvGrpSpPr/>
          <p:nvPr/>
        </p:nvGrpSpPr>
        <p:grpSpPr>
          <a:xfrm>
            <a:off x="5753100" y="5257800"/>
            <a:ext cx="1828800" cy="685800"/>
            <a:chOff x="5753100" y="5257800"/>
            <a:chExt cx="1828800" cy="685800"/>
          </a:xfrm>
        </p:grpSpPr>
        <p:sp>
          <p:nvSpPr>
            <p:cNvPr id="33" name="node08.text"/>
            <p:cNvSpPr/>
            <p:nvPr/>
          </p:nvSpPr>
          <p:spPr>
            <a:xfrm>
              <a:off x="57531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You keep what works and replace only what drives value.</a:t>
              </a:r>
              <a:endParaRPr lang="en-US" sz="1200" spc="0" kern="0" b="0" i="0" dirty="0">
                <a:solidFill>
                  <a:srgbClr val="FFFFFF"/>
                </a:solidFill>
                <a:latin typeface="IBM Plex Sans"/>
                <a:ea typeface="IBM Plex Sans"/>
                <a:cs typeface="IBM Plex Sans"/>
              </a:endParaRPr>
            </a:p>
          </p:txBody>
        </p:sp>
      </p:grpSp>
      <p:grpSp>
        <p:nvGrpSpPr>
          <p:cNvPr id="62" name="node09"/>
          <p:cNvGrpSpPr/>
          <p:nvPr/>
        </p:nvGrpSpPr>
        <p:grpSpPr>
          <a:xfrm>
            <a:off x="8039100" y="1600200"/>
            <a:ext cx="3200400" cy="3429000"/>
            <a:chOff x="8039100" y="1600200"/>
            <a:chExt cx="3200400" cy="3429000"/>
          </a:xfrm>
        </p:grpSpPr>
        <p:sp>
          <p:nvSpPr>
            <p:cNvPr id="34" name="node09.container"/>
            <p:cNvSpPr/>
            <p:nvPr/>
          </p:nvSpPr>
          <p:spPr>
            <a:xfrm>
              <a:off x="8039100" y="1600200"/>
              <a:ext cx="3200400" cy="3429000"/>
            </a:xfrm>
            <a:prstGeom prst="rect">
              <a:avLst/>
            </a:prstGeom>
            <a:solidFill>
              <a:srgbClr val="E8EEF8"/>
            </a:solidFill>
            <a:ln>
              <a:noFill/>
            </a:ln>
          </p:spPr>
        </p:sp>
        <p:grpSp>
          <p:nvGrpSpPr>
            <p:cNvPr id="61" name="node09.icon"/>
            <p:cNvGrpSpPr/>
            <p:nvPr/>
          </p:nvGrpSpPr>
          <p:grpSpPr>
            <a:xfrm>
              <a:off x="8267700" y="1828800"/>
              <a:ext cx="457200" cy="457200"/>
              <a:chOff x="8267700" y="1828800"/>
              <a:chExt cx="457200" cy="457200"/>
            </a:xfrm>
          </p:grpSpPr>
          <p:pic>
            <p:nvPicPr>
              <p:cNvPr id="35" name="node09.icon.image" descr="icon/ai-chip-orbit/navy; canonical SHA256=14a43f66d8a5b8ac5942dde8e905dedb2ae681de3a803ebf66fb1cacc34ccd3a">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67700" y="1828800"/>
                <a:ext cx="457200" cy="457200"/>
              </a:xfrm>
              <a:prstGeom prst="rect">
                <a:avLst/>
              </a:prstGeom>
            </p:spPr>
          </p:pic>
        </p:grpSp>
        <p:sp>
          <p:nvSpPr>
            <p:cNvPr id="36" name="node09.title"/>
            <p:cNvSpPr/>
            <p:nvPr/>
          </p:nvSpPr>
          <p:spPr>
            <a:xfrm>
              <a:off x="8877300" y="1828800"/>
              <a:ext cx="2133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AI accelerated</a:t>
              </a:r>
              <a:endParaRPr lang="en-US" sz="1800" spc="-18" kern="0" b="0" i="0" dirty="0">
                <a:solidFill>
                  <a:srgbClr val="0047FF"/>
                </a:solidFill>
                <a:latin typeface="IBM Plex Sans SemiBold"/>
                <a:ea typeface="IBM Plex Sans SemiBold"/>
                <a:cs typeface="IBM Plex Sans SemiBold"/>
              </a:endParaRPr>
            </a:p>
          </p:txBody>
        </p:sp>
        <p:sp>
          <p:nvSpPr>
            <p:cNvPr id="37" name="node09.body.item-001.bullets.item-001.marker"/>
            <p:cNvSpPr/>
            <p:nvPr/>
          </p:nvSpPr>
          <p:spPr>
            <a:xfrm>
              <a:off x="8267700" y="2546350"/>
              <a:ext cx="50800" cy="50800"/>
            </a:xfrm>
            <a:prstGeom prst="rect">
              <a:avLst/>
            </a:prstGeom>
            <a:solidFill>
              <a:srgbClr val="070154"/>
            </a:solidFill>
            <a:ln>
              <a:noFill/>
            </a:ln>
          </p:spPr>
        </p:sp>
        <p:sp>
          <p:nvSpPr>
            <p:cNvPr id="38" name="node09.body.item-001.bullets.item-001.text"/>
            <p:cNvSpPr/>
            <p:nvPr/>
          </p:nvSpPr>
          <p:spPr>
            <a:xfrm>
              <a:off x="8458200" y="24384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Agents scan and map codebases at scale.</a:t>
              </a:r>
              <a:endParaRPr lang="en-US" sz="1400" spc="0" kern="0" b="0" i="0" dirty="0">
                <a:solidFill>
                  <a:srgbClr val="070154"/>
                </a:solidFill>
                <a:latin typeface="IBM Plex Sans"/>
                <a:ea typeface="IBM Plex Sans"/>
                <a:cs typeface="IBM Plex Sans"/>
              </a:endParaRPr>
            </a:p>
          </p:txBody>
        </p:sp>
        <p:sp>
          <p:nvSpPr>
            <p:cNvPr id="39" name="node09.body.item-001.bullets.item-002.marker"/>
            <p:cNvSpPr/>
            <p:nvPr/>
          </p:nvSpPr>
          <p:spPr>
            <a:xfrm>
              <a:off x="8267700" y="3155950"/>
              <a:ext cx="50800" cy="50800"/>
            </a:xfrm>
            <a:prstGeom prst="rect">
              <a:avLst/>
            </a:prstGeom>
            <a:solidFill>
              <a:srgbClr val="070154"/>
            </a:solidFill>
            <a:ln>
              <a:noFill/>
            </a:ln>
          </p:spPr>
        </p:sp>
        <p:sp>
          <p:nvSpPr>
            <p:cNvPr id="40" name="node09.body.item-001.bullets.item-002.text"/>
            <p:cNvSpPr/>
            <p:nvPr/>
          </p:nvSpPr>
          <p:spPr>
            <a:xfrm>
              <a:off x="8458200" y="30480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Dependencies and dead code surface in days.</a:t>
              </a:r>
              <a:endParaRPr lang="en-US" sz="1400" spc="0" kern="0" b="0" i="0" dirty="0">
                <a:solidFill>
                  <a:srgbClr val="070154"/>
                </a:solidFill>
                <a:latin typeface="IBM Plex Sans"/>
                <a:ea typeface="IBM Plex Sans"/>
                <a:cs typeface="IBM Plex Sans"/>
              </a:endParaRPr>
            </a:p>
          </p:txBody>
        </p:sp>
        <p:sp>
          <p:nvSpPr>
            <p:cNvPr id="41" name="node09.body.item-001.bullets.item-003.marker"/>
            <p:cNvSpPr/>
            <p:nvPr/>
          </p:nvSpPr>
          <p:spPr>
            <a:xfrm>
              <a:off x="8267700" y="3765550"/>
              <a:ext cx="50800" cy="50800"/>
            </a:xfrm>
            <a:prstGeom prst="rect">
              <a:avLst/>
            </a:prstGeom>
            <a:solidFill>
              <a:srgbClr val="070154"/>
            </a:solidFill>
            <a:ln>
              <a:noFill/>
            </a:ln>
          </p:spPr>
        </p:sp>
        <p:sp>
          <p:nvSpPr>
            <p:cNvPr id="42" name="node09.body.item-001.bullets.item-003.text"/>
            <p:cNvSpPr/>
            <p:nvPr/>
          </p:nvSpPr>
          <p:spPr>
            <a:xfrm>
              <a:off x="8458200" y="36576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Generated tests and docs back each change.</a:t>
              </a:r>
              <a:endParaRPr lang="en-US" sz="1400" spc="0" kern="0" b="0" i="0" dirty="0">
                <a:solidFill>
                  <a:srgbClr val="070154"/>
                </a:solidFill>
                <a:latin typeface="IBM Plex Sans"/>
                <a:ea typeface="IBM Plex Sans"/>
                <a:cs typeface="IBM Plex Sans"/>
              </a:endParaRPr>
            </a:p>
          </p:txBody>
        </p:sp>
        <p:sp>
          <p:nvSpPr>
            <p:cNvPr id="43" name="node09.body.item-001.bullets.item-004.marker"/>
            <p:cNvSpPr/>
            <p:nvPr/>
          </p:nvSpPr>
          <p:spPr>
            <a:xfrm>
              <a:off x="8267700" y="4375150"/>
              <a:ext cx="50800" cy="50800"/>
            </a:xfrm>
            <a:prstGeom prst="rect">
              <a:avLst/>
            </a:prstGeom>
            <a:solidFill>
              <a:srgbClr val="070154"/>
            </a:solidFill>
            <a:ln>
              <a:noFill/>
            </a:ln>
          </p:spPr>
        </p:sp>
        <p:sp>
          <p:nvSpPr>
            <p:cNvPr id="44" name="node09.body.item-001.bullets.item-004.text"/>
            <p:cNvSpPr/>
            <p:nvPr/>
          </p:nvSpPr>
          <p:spPr>
            <a:xfrm>
              <a:off x="8458200" y="42672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Engineers approve every merge.</a:t>
              </a:r>
              <a:endParaRPr lang="en-US" sz="1400" spc="0" kern="0" b="0" i="0" dirty="0">
                <a:solidFill>
                  <a:srgbClr val="070154"/>
                </a:solidFill>
                <a:latin typeface="IBM Plex Sans"/>
                <a:ea typeface="IBM Plex Sans"/>
                <a:cs typeface="IBM Plex Sans"/>
              </a:endParaRPr>
            </a:p>
          </p:txBody>
        </p:sp>
      </p:grpSp>
      <p:grpSp>
        <p:nvGrpSpPr>
          <p:cNvPr id="63" name="node10"/>
          <p:cNvGrpSpPr/>
          <p:nvPr/>
        </p:nvGrpSpPr>
        <p:grpSpPr>
          <a:xfrm>
            <a:off x="9182100" y="4800600"/>
            <a:ext cx="2286000" cy="1371600"/>
            <a:chOff x="9182100" y="4800600"/>
            <a:chExt cx="2286000" cy="1371600"/>
          </a:xfrm>
        </p:grpSpPr>
        <p:sp>
          <p:nvSpPr>
            <p:cNvPr id="45" name="node10.surface"/>
            <p:cNvSpPr/>
            <p:nvPr/>
          </p:nvSpPr>
          <p:spPr>
            <a:xfrm>
              <a:off x="9182100" y="4800600"/>
              <a:ext cx="2286000" cy="1371600"/>
            </a:xfrm>
            <a:prstGeom prst="rect">
              <a:avLst/>
            </a:prstGeom>
            <a:solidFill>
              <a:srgbClr val="070154"/>
            </a:solidFill>
            <a:ln>
              <a:noFill/>
            </a:ln>
          </p:spPr>
        </p:sp>
      </p:grpSp>
      <p:grpSp>
        <p:nvGrpSpPr>
          <p:cNvPr id="64" name="node11"/>
          <p:cNvGrpSpPr/>
          <p:nvPr/>
        </p:nvGrpSpPr>
        <p:grpSpPr>
          <a:xfrm>
            <a:off x="9410700" y="5029200"/>
            <a:ext cx="1828800" cy="152400"/>
            <a:chOff x="9410700" y="5029200"/>
            <a:chExt cx="1828800" cy="152400"/>
          </a:xfrm>
        </p:grpSpPr>
        <p:sp>
          <p:nvSpPr>
            <p:cNvPr id="46" name="node11.text"/>
            <p:cNvSpPr/>
            <p:nvPr/>
          </p:nvSpPr>
          <p:spPr>
            <a:xfrm>
              <a:off x="94107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5" name="node12"/>
          <p:cNvGrpSpPr/>
          <p:nvPr/>
        </p:nvGrpSpPr>
        <p:grpSpPr>
          <a:xfrm>
            <a:off x="9410700" y="5257800"/>
            <a:ext cx="1828800" cy="685800"/>
            <a:chOff x="9410700" y="5257800"/>
            <a:chExt cx="1828800" cy="685800"/>
          </a:xfrm>
        </p:grpSpPr>
        <p:sp>
          <p:nvSpPr>
            <p:cNvPr id="47" name="node12.text"/>
            <p:cNvSpPr/>
            <p:nvPr/>
          </p:nvSpPr>
          <p:spPr>
            <a:xfrm>
              <a:off x="94107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Months of analysis shrink to days, with less tribal knowledge.</a:t>
              </a:r>
              <a:endParaRPr lang="en-US" sz="1200" spc="0" kern="0" b="0" i="0" dirty="0">
                <a:solidFill>
                  <a:srgbClr val="FFFFFF"/>
                </a:solidFill>
                <a:latin typeface="IBM Plex Sans"/>
                <a:ea typeface="IBM Plex Sans"/>
                <a:cs typeface="IBM Plex Sans"/>
              </a:endParaRPr>
            </a:p>
          </p:txBody>
        </p:sp>
      </p:grpSp>
      <p:grpSp>
        <p:nvGrpSpPr>
          <p:cNvPr id="66" name="node13"/>
          <p:cNvGrpSpPr/>
          <p:nvPr/>
        </p:nvGrpSpPr>
        <p:grpSpPr>
          <a:xfrm>
            <a:off x="952500" y="5054600"/>
            <a:ext cx="685800" cy="842827"/>
            <a:chOff x="952500" y="5054600"/>
            <a:chExt cx="685800" cy="842827"/>
          </a:xfrm>
        </p:grpSpPr>
        <p:pic>
          <p:nvPicPr>
            <p:cNvPr id="48" name="node13.mark" descr="arrow-right-angle; canonical SHA256=40758c6ab857749af6c80f96e495dbdf2a4d76e38bc96cc28fa877b01fcb9c03; resolved ink=070154">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2500" y="5054600"/>
              <a:ext cx="685800" cy="842827"/>
            </a:xfrm>
            <a:prstGeom prst="rect">
              <a:avLst/>
            </a:prstGeom>
          </p:spPr>
        </p:pic>
      </p:grpSp>
      <p:grpSp>
        <p:nvGrpSpPr>
          <p:cNvPr id="67" name="node14"/>
          <p:cNvGrpSpPr/>
          <p:nvPr/>
        </p:nvGrpSpPr>
        <p:grpSpPr>
          <a:xfrm>
            <a:off x="4610100" y="5054600"/>
            <a:ext cx="685800" cy="842827"/>
            <a:chOff x="4610100" y="5054600"/>
            <a:chExt cx="685800" cy="842827"/>
          </a:xfrm>
        </p:grpSpPr>
        <p:pic>
          <p:nvPicPr>
            <p:cNvPr id="49" name="node14.mark" descr="arrow-right-angle; canonical SHA256=40758c6ab857749af6c80f96e495dbdf2a4d76e38bc96cc28fa877b01fcb9c03; resolved ink=070154">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10100" y="5054600"/>
              <a:ext cx="685800" cy="842827"/>
            </a:xfrm>
            <a:prstGeom prst="rect">
              <a:avLst/>
            </a:prstGeom>
          </p:spPr>
        </p:pic>
      </p:grpSp>
      <p:grpSp>
        <p:nvGrpSpPr>
          <p:cNvPr id="68" name="node15"/>
          <p:cNvGrpSpPr/>
          <p:nvPr/>
        </p:nvGrpSpPr>
        <p:grpSpPr>
          <a:xfrm>
            <a:off x="8267700" y="5054600"/>
            <a:ext cx="685800" cy="842827"/>
            <a:chOff x="8267700" y="5054600"/>
            <a:chExt cx="685800" cy="842827"/>
          </a:xfrm>
        </p:grpSpPr>
        <p:pic>
          <p:nvPicPr>
            <p:cNvPr id="50" name="node15.mark" descr="arrow-right-angle; canonical SHA256=40758c6ab857749af6c80f96e495dbdf2a4d76e38bc96cc28fa877b01fcb9c03; resolved ink=070154">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67700" y="5054600"/>
              <a:ext cx="685800" cy="842827"/>
            </a:xfrm>
            <a:prstGeom prst="rect">
              <a:avLst/>
            </a:prstGeom>
          </p:spPr>
        </p:pic>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ource-36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52</a:t>
            </a:fld>
            <a:endParaRPr lang="en-US" sz="700" spc="0" kern="0" b="0" i="0" dirty="0">
              <a:solidFill>
                <a:srgbClr val="070154"/>
              </a:solidFill>
              <a:latin typeface="IBM Plex Mono SemiBold"/>
              <a:ea typeface="IBM Plex Mono SemiBold"/>
              <a:cs typeface="IBM Plex Mono SemiBold"/>
            </a:endParaRPr>
          </a:p>
        </p:txBody>
      </p:sp>
      <p:grpSp>
        <p:nvGrpSpPr>
          <p:cNvPr id="69" name="node01"/>
          <p:cNvGrpSpPr/>
          <p:nvPr/>
        </p:nvGrpSpPr>
        <p:grpSpPr>
          <a:xfrm>
            <a:off x="723900" y="1600200"/>
            <a:ext cx="2286000" cy="3429000"/>
            <a:chOff x="723900" y="1600200"/>
            <a:chExt cx="2286000" cy="3429000"/>
          </a:xfrm>
        </p:grpSpPr>
        <p:sp>
          <p:nvSpPr>
            <p:cNvPr id="6" name="node01.container"/>
            <p:cNvSpPr/>
            <p:nvPr/>
          </p:nvSpPr>
          <p:spPr>
            <a:xfrm>
              <a:off x="723900" y="1600200"/>
              <a:ext cx="2286000" cy="3429000"/>
            </a:xfrm>
            <a:prstGeom prst="rect">
              <a:avLst/>
            </a:prstGeom>
            <a:solidFill>
              <a:srgbClr val="E8EEF8"/>
            </a:solidFill>
            <a:ln>
              <a:noFill/>
            </a:ln>
          </p:spPr>
        </p:sp>
        <p:grpSp>
          <p:nvGrpSpPr>
            <p:cNvPr id="68" name="node01.icon"/>
            <p:cNvGrpSpPr/>
            <p:nvPr/>
          </p:nvGrpSpPr>
          <p:grpSpPr>
            <a:xfrm>
              <a:off x="952500" y="1828800"/>
              <a:ext cx="457200" cy="457200"/>
              <a:chOff x="952500" y="1828800"/>
              <a:chExt cx="457200" cy="457200"/>
            </a:xfrm>
          </p:grpSpPr>
          <p:pic>
            <p:nvPicPr>
              <p:cNvPr id="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1828800"/>
                <a:ext cx="457200" cy="457200"/>
              </a:xfrm>
              <a:prstGeom prst="rect">
                <a:avLst/>
              </a:prstGeom>
            </p:spPr>
          </p:pic>
        </p:grpSp>
        <p:sp>
          <p:nvSpPr>
            <p:cNvPr id="8" name="node01.title"/>
            <p:cNvSpPr/>
            <p:nvPr/>
          </p:nvSpPr>
          <p:spPr>
            <a:xfrm>
              <a:off x="1562100" y="1828800"/>
              <a:ext cx="1219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Value first</a:t>
              </a:r>
              <a:endParaRPr lang="en-US" sz="1600" spc="-16" kern="0" b="0" i="0" dirty="0">
                <a:solidFill>
                  <a:srgbClr val="0047FF"/>
                </a:solidFill>
                <a:latin typeface="IBM Plex Sans SemiBold"/>
                <a:ea typeface="IBM Plex Sans SemiBold"/>
                <a:cs typeface="IBM Plex Sans SemiBold"/>
              </a:endParaRPr>
            </a:p>
          </p:txBody>
        </p:sp>
        <p:sp>
          <p:nvSpPr>
            <p:cNvPr id="9" name="node01.body.item-001.bullets.item-001.marker"/>
            <p:cNvSpPr/>
            <p:nvPr/>
          </p:nvSpPr>
          <p:spPr>
            <a:xfrm>
              <a:off x="952500" y="2527300"/>
              <a:ext cx="38100" cy="38100"/>
            </a:xfrm>
            <a:prstGeom prst="rect">
              <a:avLst/>
            </a:prstGeom>
            <a:solidFill>
              <a:srgbClr val="070154"/>
            </a:solidFill>
            <a:ln>
              <a:noFill/>
            </a:ln>
          </p:spPr>
        </p:sp>
        <p:sp>
          <p:nvSpPr>
            <p:cNvPr id="10" name="node01.body.item-001.bullets.item-001.text"/>
            <p:cNvSpPr/>
            <p:nvPr/>
          </p:nvSpPr>
          <p:spPr>
            <a:xfrm>
              <a:off x="1104900" y="24384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Rank work by business value.</a:t>
              </a:r>
              <a:endParaRPr lang="en-US" sz="1200" spc="0" kern="0" b="0" i="0" dirty="0">
                <a:solidFill>
                  <a:srgbClr val="070154"/>
                </a:solidFill>
                <a:latin typeface="IBM Plex Sans"/>
                <a:ea typeface="IBM Plex Sans"/>
                <a:cs typeface="IBM Plex Sans"/>
              </a:endParaRPr>
            </a:p>
          </p:txBody>
        </p:sp>
        <p:sp>
          <p:nvSpPr>
            <p:cNvPr id="11" name="node01.body.item-001.bullets.item-002.marker"/>
            <p:cNvSpPr/>
            <p:nvPr/>
          </p:nvSpPr>
          <p:spPr>
            <a:xfrm>
              <a:off x="952500" y="2997200"/>
              <a:ext cx="38100" cy="38100"/>
            </a:xfrm>
            <a:prstGeom prst="rect">
              <a:avLst/>
            </a:prstGeom>
            <a:solidFill>
              <a:srgbClr val="070154"/>
            </a:solidFill>
            <a:ln>
              <a:noFill/>
            </a:ln>
          </p:spPr>
        </p:sp>
        <p:sp>
          <p:nvSpPr>
            <p:cNvPr id="12" name="node01.body.item-001.bullets.item-002.text"/>
            <p:cNvSpPr/>
            <p:nvPr/>
          </p:nvSpPr>
          <p:spPr>
            <a:xfrm>
              <a:off x="1104900" y="29083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Weigh cost, risk and revenue together.</a:t>
              </a:r>
              <a:endParaRPr lang="en-US" sz="1200" spc="0" kern="0" b="0" i="0" dirty="0">
                <a:solidFill>
                  <a:srgbClr val="070154"/>
                </a:solidFill>
                <a:latin typeface="IBM Plex Sans"/>
                <a:ea typeface="IBM Plex Sans"/>
                <a:cs typeface="IBM Plex Sans"/>
              </a:endParaRPr>
            </a:p>
          </p:txBody>
        </p:sp>
        <p:sp>
          <p:nvSpPr>
            <p:cNvPr id="13" name="node01.body.item-001.bullets.item-003.marker"/>
            <p:cNvSpPr/>
            <p:nvPr/>
          </p:nvSpPr>
          <p:spPr>
            <a:xfrm>
              <a:off x="952500" y="3467100"/>
              <a:ext cx="38100" cy="38100"/>
            </a:xfrm>
            <a:prstGeom prst="rect">
              <a:avLst/>
            </a:prstGeom>
            <a:solidFill>
              <a:srgbClr val="070154"/>
            </a:solidFill>
            <a:ln>
              <a:noFill/>
            </a:ln>
          </p:spPr>
        </p:sp>
        <p:sp>
          <p:nvSpPr>
            <p:cNvPr id="14" name="node01.body.item-001.bullets.item-003.text"/>
            <p:cNvSpPr/>
            <p:nvPr/>
          </p:nvSpPr>
          <p:spPr>
            <a:xfrm>
              <a:off x="1104900" y="3378200"/>
              <a:ext cx="1676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Fund quick wins first.</a:t>
              </a:r>
              <a:endParaRPr lang="en-US" sz="1200" spc="0" kern="0" b="0" i="0" dirty="0">
                <a:solidFill>
                  <a:srgbClr val="070154"/>
                </a:solidFill>
                <a:latin typeface="IBM Plex Sans"/>
                <a:ea typeface="IBM Plex Sans"/>
                <a:cs typeface="IBM Plex Sans"/>
              </a:endParaRPr>
            </a:p>
          </p:txBody>
        </p:sp>
        <p:sp>
          <p:nvSpPr>
            <p:cNvPr id="15" name="node01.body.item-001.bullets.item-004.marker"/>
            <p:cNvSpPr/>
            <p:nvPr/>
          </p:nvSpPr>
          <p:spPr>
            <a:xfrm>
              <a:off x="952500" y="3721100"/>
              <a:ext cx="38100" cy="38100"/>
            </a:xfrm>
            <a:prstGeom prst="rect">
              <a:avLst/>
            </a:prstGeom>
            <a:solidFill>
              <a:srgbClr val="070154"/>
            </a:solidFill>
            <a:ln>
              <a:noFill/>
            </a:ln>
          </p:spPr>
        </p:sp>
        <p:sp>
          <p:nvSpPr>
            <p:cNvPr id="16" name="node01.body.item-001.bullets.item-004.text"/>
            <p:cNvSpPr/>
            <p:nvPr/>
          </p:nvSpPr>
          <p:spPr>
            <a:xfrm>
              <a:off x="1104900" y="3632200"/>
              <a:ext cx="1676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Track value per release.</a:t>
              </a:r>
              <a:endParaRPr lang="en-US" sz="1200" spc="0" kern="0" b="0" i="0" dirty="0">
                <a:solidFill>
                  <a:srgbClr val="070154"/>
                </a:solidFill>
                <a:latin typeface="IBM Plex Sans"/>
                <a:ea typeface="IBM Plex Sans"/>
                <a:cs typeface="IBM Plex Sans"/>
              </a:endParaRPr>
            </a:p>
          </p:txBody>
        </p:sp>
        <p:sp>
          <p:nvSpPr>
            <p:cNvPr id="17" name="node01.body.item-001.bullets.item-005.marker"/>
            <p:cNvSpPr/>
            <p:nvPr/>
          </p:nvSpPr>
          <p:spPr>
            <a:xfrm>
              <a:off x="952500" y="3975100"/>
              <a:ext cx="38100" cy="38100"/>
            </a:xfrm>
            <a:prstGeom prst="rect">
              <a:avLst/>
            </a:prstGeom>
            <a:solidFill>
              <a:srgbClr val="070154"/>
            </a:solidFill>
            <a:ln>
              <a:noFill/>
            </a:ln>
          </p:spPr>
        </p:sp>
        <p:sp>
          <p:nvSpPr>
            <p:cNvPr id="18" name="node01.body.item-001.bullets.item-005.text"/>
            <p:cNvSpPr/>
            <p:nvPr/>
          </p:nvSpPr>
          <p:spPr>
            <a:xfrm>
              <a:off x="1104900" y="38862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Review progress with sponsors each quarter.</a:t>
              </a:r>
              <a:endParaRPr lang="en-US" sz="1200" spc="0" kern="0" b="0" i="0" dirty="0">
                <a:solidFill>
                  <a:srgbClr val="070154"/>
                </a:solidFill>
                <a:latin typeface="IBM Plex Sans"/>
                <a:ea typeface="IBM Plex Sans"/>
                <a:cs typeface="IBM Plex Sans"/>
              </a:endParaRPr>
            </a:p>
          </p:txBody>
        </p:sp>
      </p:grpSp>
      <p:grpSp>
        <p:nvGrpSpPr>
          <p:cNvPr id="70" name="node02"/>
          <p:cNvGrpSpPr/>
          <p:nvPr/>
        </p:nvGrpSpPr>
        <p:grpSpPr>
          <a:xfrm>
            <a:off x="1409700" y="4800600"/>
            <a:ext cx="1828800" cy="1371600"/>
            <a:chOff x="1409700" y="4800600"/>
            <a:chExt cx="1828800" cy="1371600"/>
          </a:xfrm>
        </p:grpSpPr>
        <p:sp>
          <p:nvSpPr>
            <p:cNvPr id="19" name="node02.surface"/>
            <p:cNvSpPr/>
            <p:nvPr/>
          </p:nvSpPr>
          <p:spPr>
            <a:xfrm>
              <a:off x="1409700" y="4800600"/>
              <a:ext cx="1828800" cy="1371600"/>
            </a:xfrm>
            <a:prstGeom prst="rect">
              <a:avLst/>
            </a:prstGeom>
            <a:solidFill>
              <a:srgbClr val="070154"/>
            </a:solidFill>
            <a:ln>
              <a:noFill/>
            </a:ln>
          </p:spPr>
        </p:sp>
      </p:grpSp>
      <p:grpSp>
        <p:nvGrpSpPr>
          <p:cNvPr id="71" name="node03"/>
          <p:cNvGrpSpPr/>
          <p:nvPr/>
        </p:nvGrpSpPr>
        <p:grpSpPr>
          <a:xfrm>
            <a:off x="1638300" y="5029200"/>
            <a:ext cx="1371600" cy="139700"/>
            <a:chOff x="1638300" y="5029200"/>
            <a:chExt cx="1371600" cy="139700"/>
          </a:xfrm>
        </p:grpSpPr>
        <p:sp>
          <p:nvSpPr>
            <p:cNvPr id="20" name="node03.text"/>
            <p:cNvSpPr/>
            <p:nvPr/>
          </p:nvSpPr>
          <p:spPr>
            <a:xfrm>
              <a:off x="1638300" y="5029200"/>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72" name="node04"/>
          <p:cNvGrpSpPr/>
          <p:nvPr/>
        </p:nvGrpSpPr>
        <p:grpSpPr>
          <a:xfrm>
            <a:off x="1638300" y="5257800"/>
            <a:ext cx="1371600" cy="381000"/>
            <a:chOff x="1638300" y="5257800"/>
            <a:chExt cx="1371600" cy="381000"/>
          </a:xfrm>
        </p:grpSpPr>
        <p:sp>
          <p:nvSpPr>
            <p:cNvPr id="21" name="node04.text"/>
            <p:cNvSpPr/>
            <p:nvPr/>
          </p:nvSpPr>
          <p:spPr>
            <a:xfrm>
              <a:off x="1638300" y="5257800"/>
              <a:ext cx="1371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Effort goes where return is highest.</a:t>
              </a:r>
              <a:endParaRPr lang="en-US" sz="1100" spc="0" kern="0" b="0" i="0" dirty="0">
                <a:solidFill>
                  <a:srgbClr val="FFFFFF"/>
                </a:solidFill>
                <a:latin typeface="IBM Plex Sans"/>
                <a:ea typeface="IBM Plex Sans"/>
                <a:cs typeface="IBM Plex Sans"/>
              </a:endParaRPr>
            </a:p>
          </p:txBody>
        </p:sp>
      </p:grpSp>
      <p:grpSp>
        <p:nvGrpSpPr>
          <p:cNvPr id="74" name="node05"/>
          <p:cNvGrpSpPr/>
          <p:nvPr/>
        </p:nvGrpSpPr>
        <p:grpSpPr>
          <a:xfrm>
            <a:off x="3467100" y="1600200"/>
            <a:ext cx="2286000" cy="3429000"/>
            <a:chOff x="3467100" y="1600200"/>
            <a:chExt cx="2286000" cy="3429000"/>
          </a:xfrm>
        </p:grpSpPr>
        <p:sp>
          <p:nvSpPr>
            <p:cNvPr id="22" name="node05.container"/>
            <p:cNvSpPr/>
            <p:nvPr/>
          </p:nvSpPr>
          <p:spPr>
            <a:xfrm>
              <a:off x="3467100" y="1600200"/>
              <a:ext cx="2286000" cy="3429000"/>
            </a:xfrm>
            <a:prstGeom prst="rect">
              <a:avLst/>
            </a:prstGeom>
            <a:solidFill>
              <a:srgbClr val="E8EEF8"/>
            </a:solidFill>
            <a:ln>
              <a:noFill/>
            </a:ln>
          </p:spPr>
        </p:sp>
        <p:grpSp>
          <p:nvGrpSpPr>
            <p:cNvPr id="73" name="node05.icon"/>
            <p:cNvGrpSpPr/>
            <p:nvPr/>
          </p:nvGrpSpPr>
          <p:grpSpPr>
            <a:xfrm>
              <a:off x="3695700" y="1828800"/>
              <a:ext cx="457200" cy="457200"/>
              <a:chOff x="3695700" y="1828800"/>
              <a:chExt cx="457200" cy="457200"/>
            </a:xfrm>
          </p:grpSpPr>
          <p:pic>
            <p:nvPicPr>
              <p:cNvPr id="23" name="node05.icon.image" descr="icon/strategy-route/navy; canonical SHA256=763a15166fefc06f84edb42452bdf8fbb13cc97295a2599a2fc99a950f7f95d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95700" y="1828800"/>
                <a:ext cx="457200" cy="457200"/>
              </a:xfrm>
              <a:prstGeom prst="rect">
                <a:avLst/>
              </a:prstGeom>
            </p:spPr>
          </p:pic>
        </p:grpSp>
        <p:sp>
          <p:nvSpPr>
            <p:cNvPr id="24" name="node05.title"/>
            <p:cNvSpPr/>
            <p:nvPr/>
          </p:nvSpPr>
          <p:spPr>
            <a:xfrm>
              <a:off x="4305300" y="1828800"/>
              <a:ext cx="12192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Purpose built</a:t>
              </a:r>
              <a:endParaRPr lang="en-US" sz="1600" spc="-16" kern="0" b="0" i="0" dirty="0">
                <a:solidFill>
                  <a:srgbClr val="0047FF"/>
                </a:solidFill>
                <a:latin typeface="IBM Plex Sans SemiBold"/>
                <a:ea typeface="IBM Plex Sans SemiBold"/>
                <a:cs typeface="IBM Plex Sans SemiBold"/>
              </a:endParaRPr>
            </a:p>
          </p:txBody>
        </p:sp>
        <p:sp>
          <p:nvSpPr>
            <p:cNvPr id="25" name="node05.body.item-001.bullets.item-001.marker"/>
            <p:cNvSpPr/>
            <p:nvPr/>
          </p:nvSpPr>
          <p:spPr>
            <a:xfrm>
              <a:off x="3695700" y="2603500"/>
              <a:ext cx="38100" cy="38100"/>
            </a:xfrm>
            <a:prstGeom prst="rect">
              <a:avLst/>
            </a:prstGeom>
            <a:solidFill>
              <a:srgbClr val="070154"/>
            </a:solidFill>
            <a:ln>
              <a:noFill/>
            </a:ln>
          </p:spPr>
        </p:sp>
        <p:sp>
          <p:nvSpPr>
            <p:cNvPr id="26" name="node05.body.item-001.bullets.item-001.text"/>
            <p:cNvSpPr/>
            <p:nvPr/>
          </p:nvSpPr>
          <p:spPr>
            <a:xfrm>
              <a:off x="3848100" y="25146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Retain, replatform, rewrite or retire.</a:t>
              </a:r>
              <a:endParaRPr lang="en-US" sz="1200" spc="0" kern="0" b="0" i="0" dirty="0">
                <a:solidFill>
                  <a:srgbClr val="070154"/>
                </a:solidFill>
                <a:latin typeface="IBM Plex Sans"/>
                <a:ea typeface="IBM Plex Sans"/>
                <a:cs typeface="IBM Plex Sans"/>
              </a:endParaRPr>
            </a:p>
          </p:txBody>
        </p:sp>
        <p:sp>
          <p:nvSpPr>
            <p:cNvPr id="27" name="node05.body.item-001.bullets.item-002.marker"/>
            <p:cNvSpPr/>
            <p:nvPr/>
          </p:nvSpPr>
          <p:spPr>
            <a:xfrm>
              <a:off x="3695700" y="3073400"/>
              <a:ext cx="38100" cy="38100"/>
            </a:xfrm>
            <a:prstGeom prst="rect">
              <a:avLst/>
            </a:prstGeom>
            <a:solidFill>
              <a:srgbClr val="070154"/>
            </a:solidFill>
            <a:ln>
              <a:noFill/>
            </a:ln>
          </p:spPr>
        </p:sp>
        <p:sp>
          <p:nvSpPr>
            <p:cNvPr id="28" name="node05.body.item-001.bullets.item-002.text"/>
            <p:cNvSpPr/>
            <p:nvPr/>
          </p:nvSpPr>
          <p:spPr>
            <a:xfrm>
              <a:off x="3848100" y="29845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Keep stable components in place.</a:t>
              </a:r>
              <a:endParaRPr lang="en-US" sz="1200" spc="0" kern="0" b="0" i="0" dirty="0">
                <a:solidFill>
                  <a:srgbClr val="070154"/>
                </a:solidFill>
                <a:latin typeface="IBM Plex Sans"/>
                <a:ea typeface="IBM Plex Sans"/>
                <a:cs typeface="IBM Plex Sans"/>
              </a:endParaRPr>
            </a:p>
          </p:txBody>
        </p:sp>
        <p:sp>
          <p:nvSpPr>
            <p:cNvPr id="29" name="node05.body.item-001.bullets.item-003.marker"/>
            <p:cNvSpPr/>
            <p:nvPr/>
          </p:nvSpPr>
          <p:spPr>
            <a:xfrm>
              <a:off x="3695700" y="3543300"/>
              <a:ext cx="38100" cy="38100"/>
            </a:xfrm>
            <a:prstGeom prst="rect">
              <a:avLst/>
            </a:prstGeom>
            <a:solidFill>
              <a:srgbClr val="070154"/>
            </a:solidFill>
            <a:ln>
              <a:noFill/>
            </a:ln>
          </p:spPr>
        </p:sp>
        <p:sp>
          <p:nvSpPr>
            <p:cNvPr id="30" name="node05.body.item-001.bullets.item-003.text"/>
            <p:cNvSpPr/>
            <p:nvPr/>
          </p:nvSpPr>
          <p:spPr>
            <a:xfrm>
              <a:off x="3848100" y="34544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Fit the target to your portfolio.</a:t>
              </a:r>
              <a:endParaRPr lang="en-US" sz="1200" spc="0" kern="0" b="0" i="0" dirty="0">
                <a:solidFill>
                  <a:srgbClr val="070154"/>
                </a:solidFill>
                <a:latin typeface="IBM Plex Sans"/>
                <a:ea typeface="IBM Plex Sans"/>
                <a:cs typeface="IBM Plex Sans"/>
              </a:endParaRPr>
            </a:p>
          </p:txBody>
        </p:sp>
        <p:sp>
          <p:nvSpPr>
            <p:cNvPr id="31" name="node05.body.item-001.bullets.item-004.marker"/>
            <p:cNvSpPr/>
            <p:nvPr/>
          </p:nvSpPr>
          <p:spPr>
            <a:xfrm>
              <a:off x="3695700" y="4013200"/>
              <a:ext cx="38100" cy="38100"/>
            </a:xfrm>
            <a:prstGeom prst="rect">
              <a:avLst/>
            </a:prstGeom>
            <a:solidFill>
              <a:srgbClr val="070154"/>
            </a:solidFill>
            <a:ln>
              <a:noFill/>
            </a:ln>
          </p:spPr>
        </p:sp>
        <p:sp>
          <p:nvSpPr>
            <p:cNvPr id="32" name="node05.body.item-001.bullets.item-004.text"/>
            <p:cNvSpPr/>
            <p:nvPr/>
          </p:nvSpPr>
          <p:spPr>
            <a:xfrm>
              <a:off x="3848100" y="39243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Nothing rebuilt for show.</a:t>
              </a:r>
              <a:endParaRPr lang="en-US" sz="1200" spc="0" kern="0" b="0" i="0" dirty="0">
                <a:solidFill>
                  <a:srgbClr val="070154"/>
                </a:solidFill>
                <a:latin typeface="IBM Plex Sans"/>
                <a:ea typeface="IBM Plex Sans"/>
                <a:cs typeface="IBM Plex Sans"/>
              </a:endParaRPr>
            </a:p>
          </p:txBody>
        </p:sp>
      </p:grpSp>
      <p:grpSp>
        <p:nvGrpSpPr>
          <p:cNvPr id="75" name="node06"/>
          <p:cNvGrpSpPr/>
          <p:nvPr/>
        </p:nvGrpSpPr>
        <p:grpSpPr>
          <a:xfrm>
            <a:off x="4152900" y="4800600"/>
            <a:ext cx="1828800" cy="1371600"/>
            <a:chOff x="4152900" y="4800600"/>
            <a:chExt cx="1828800" cy="1371600"/>
          </a:xfrm>
        </p:grpSpPr>
        <p:sp>
          <p:nvSpPr>
            <p:cNvPr id="33" name="node06.surface"/>
            <p:cNvSpPr/>
            <p:nvPr/>
          </p:nvSpPr>
          <p:spPr>
            <a:xfrm>
              <a:off x="4152900" y="4800600"/>
              <a:ext cx="1828800" cy="1371600"/>
            </a:xfrm>
            <a:prstGeom prst="rect">
              <a:avLst/>
            </a:prstGeom>
            <a:solidFill>
              <a:srgbClr val="070154"/>
            </a:solidFill>
            <a:ln>
              <a:noFill/>
            </a:ln>
          </p:spPr>
        </p:sp>
      </p:grpSp>
      <p:grpSp>
        <p:nvGrpSpPr>
          <p:cNvPr id="76" name="node07"/>
          <p:cNvGrpSpPr/>
          <p:nvPr/>
        </p:nvGrpSpPr>
        <p:grpSpPr>
          <a:xfrm>
            <a:off x="4381500" y="5029200"/>
            <a:ext cx="1371600" cy="139700"/>
            <a:chOff x="4381500" y="5029200"/>
            <a:chExt cx="1371600" cy="139700"/>
          </a:xfrm>
        </p:grpSpPr>
        <p:sp>
          <p:nvSpPr>
            <p:cNvPr id="34" name="node07.text"/>
            <p:cNvSpPr/>
            <p:nvPr/>
          </p:nvSpPr>
          <p:spPr>
            <a:xfrm>
              <a:off x="4381500" y="5029200"/>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77" name="node08"/>
          <p:cNvGrpSpPr/>
          <p:nvPr/>
        </p:nvGrpSpPr>
        <p:grpSpPr>
          <a:xfrm>
            <a:off x="4381500" y="5257800"/>
            <a:ext cx="1371600" cy="571500"/>
            <a:chOff x="4381500" y="5257800"/>
            <a:chExt cx="1371600" cy="571500"/>
          </a:xfrm>
        </p:grpSpPr>
        <p:sp>
          <p:nvSpPr>
            <p:cNvPr id="35" name="node08.text"/>
            <p:cNvSpPr/>
            <p:nvPr/>
          </p:nvSpPr>
          <p:spPr>
            <a:xfrm>
              <a:off x="4381500" y="5257800"/>
              <a:ext cx="1371600" cy="571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You keep what works, replace what drives value.</a:t>
              </a:r>
              <a:endParaRPr lang="en-US" sz="1100" spc="0" kern="0" b="0" i="0" dirty="0">
                <a:solidFill>
                  <a:srgbClr val="FFFFFF"/>
                </a:solidFill>
                <a:latin typeface="IBM Plex Sans"/>
                <a:ea typeface="IBM Plex Sans"/>
                <a:cs typeface="IBM Plex Sans"/>
              </a:endParaRPr>
            </a:p>
          </p:txBody>
        </p:sp>
      </p:grpSp>
      <p:grpSp>
        <p:nvGrpSpPr>
          <p:cNvPr id="79" name="node09"/>
          <p:cNvGrpSpPr/>
          <p:nvPr/>
        </p:nvGrpSpPr>
        <p:grpSpPr>
          <a:xfrm>
            <a:off x="6210300" y="1600200"/>
            <a:ext cx="2286000" cy="3429000"/>
            <a:chOff x="6210300" y="1600200"/>
            <a:chExt cx="2286000" cy="3429000"/>
          </a:xfrm>
        </p:grpSpPr>
        <p:sp>
          <p:nvSpPr>
            <p:cNvPr id="36" name="node09.container"/>
            <p:cNvSpPr/>
            <p:nvPr/>
          </p:nvSpPr>
          <p:spPr>
            <a:xfrm>
              <a:off x="6210300" y="1600200"/>
              <a:ext cx="2286000" cy="3429000"/>
            </a:xfrm>
            <a:prstGeom prst="rect">
              <a:avLst/>
            </a:prstGeom>
            <a:solidFill>
              <a:srgbClr val="E8EEF8"/>
            </a:solidFill>
            <a:ln>
              <a:noFill/>
            </a:ln>
          </p:spPr>
        </p:sp>
        <p:grpSp>
          <p:nvGrpSpPr>
            <p:cNvPr id="78" name="node09.icon"/>
            <p:cNvGrpSpPr/>
            <p:nvPr/>
          </p:nvGrpSpPr>
          <p:grpSpPr>
            <a:xfrm>
              <a:off x="6438900" y="1828800"/>
              <a:ext cx="457200" cy="457200"/>
              <a:chOff x="6438900" y="1828800"/>
              <a:chExt cx="457200" cy="457200"/>
            </a:xfrm>
          </p:grpSpPr>
          <p:pic>
            <p:nvPicPr>
              <p:cNvPr id="37" name="node09.icon.image" descr="icon/ai-chip-orbit/navy; canonical SHA256=14a43f66d8a5b8ac5942dde8e905dedb2ae681de3a803ebf66fb1cacc34ccd3a">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38900" y="1828800"/>
                <a:ext cx="457200" cy="457200"/>
              </a:xfrm>
              <a:prstGeom prst="rect">
                <a:avLst/>
              </a:prstGeom>
            </p:spPr>
          </p:pic>
        </p:grpSp>
        <p:sp>
          <p:nvSpPr>
            <p:cNvPr id="38" name="node09.title"/>
            <p:cNvSpPr/>
            <p:nvPr/>
          </p:nvSpPr>
          <p:spPr>
            <a:xfrm>
              <a:off x="7048500" y="1828800"/>
              <a:ext cx="12192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AI accelerated</a:t>
              </a:r>
              <a:endParaRPr lang="en-US" sz="1600" spc="-16" kern="0" b="0" i="0" dirty="0">
                <a:solidFill>
                  <a:srgbClr val="0047FF"/>
                </a:solidFill>
                <a:latin typeface="IBM Plex Sans SemiBold"/>
                <a:ea typeface="IBM Plex Sans SemiBold"/>
                <a:cs typeface="IBM Plex Sans SemiBold"/>
              </a:endParaRPr>
            </a:p>
          </p:txBody>
        </p:sp>
        <p:sp>
          <p:nvSpPr>
            <p:cNvPr id="39" name="node09.body.item-001.bullets.item-001.marker"/>
            <p:cNvSpPr/>
            <p:nvPr/>
          </p:nvSpPr>
          <p:spPr>
            <a:xfrm>
              <a:off x="6438900" y="2603500"/>
              <a:ext cx="38100" cy="38100"/>
            </a:xfrm>
            <a:prstGeom prst="rect">
              <a:avLst/>
            </a:prstGeom>
            <a:solidFill>
              <a:srgbClr val="070154"/>
            </a:solidFill>
            <a:ln>
              <a:noFill/>
            </a:ln>
          </p:spPr>
        </p:sp>
        <p:sp>
          <p:nvSpPr>
            <p:cNvPr id="40" name="node09.body.item-001.bullets.item-001.text"/>
            <p:cNvSpPr/>
            <p:nvPr/>
          </p:nvSpPr>
          <p:spPr>
            <a:xfrm>
              <a:off x="6591300" y="25146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Agents scan and map codebases.</a:t>
              </a:r>
              <a:endParaRPr lang="en-US" sz="1200" spc="0" kern="0" b="0" i="0" dirty="0">
                <a:solidFill>
                  <a:srgbClr val="070154"/>
                </a:solidFill>
                <a:latin typeface="IBM Plex Sans"/>
                <a:ea typeface="IBM Plex Sans"/>
                <a:cs typeface="IBM Plex Sans"/>
              </a:endParaRPr>
            </a:p>
          </p:txBody>
        </p:sp>
        <p:sp>
          <p:nvSpPr>
            <p:cNvPr id="41" name="node09.body.item-001.bullets.item-002.marker"/>
            <p:cNvSpPr/>
            <p:nvPr/>
          </p:nvSpPr>
          <p:spPr>
            <a:xfrm>
              <a:off x="6438900" y="3073400"/>
              <a:ext cx="38100" cy="38100"/>
            </a:xfrm>
            <a:prstGeom prst="rect">
              <a:avLst/>
            </a:prstGeom>
            <a:solidFill>
              <a:srgbClr val="070154"/>
            </a:solidFill>
            <a:ln>
              <a:noFill/>
            </a:ln>
          </p:spPr>
        </p:sp>
        <p:sp>
          <p:nvSpPr>
            <p:cNvPr id="42" name="node09.body.item-001.bullets.item-002.text"/>
            <p:cNvSpPr/>
            <p:nvPr/>
          </p:nvSpPr>
          <p:spPr>
            <a:xfrm>
              <a:off x="6591300" y="29845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Dependencies surface in days.</a:t>
              </a:r>
              <a:endParaRPr lang="en-US" sz="1200" spc="0" kern="0" b="0" i="0" dirty="0">
                <a:solidFill>
                  <a:srgbClr val="070154"/>
                </a:solidFill>
                <a:latin typeface="IBM Plex Sans"/>
                <a:ea typeface="IBM Plex Sans"/>
                <a:cs typeface="IBM Plex Sans"/>
              </a:endParaRPr>
            </a:p>
          </p:txBody>
        </p:sp>
        <p:sp>
          <p:nvSpPr>
            <p:cNvPr id="43" name="node09.body.item-001.bullets.item-003.marker"/>
            <p:cNvSpPr/>
            <p:nvPr/>
          </p:nvSpPr>
          <p:spPr>
            <a:xfrm>
              <a:off x="6438900" y="3543300"/>
              <a:ext cx="38100" cy="38100"/>
            </a:xfrm>
            <a:prstGeom prst="rect">
              <a:avLst/>
            </a:prstGeom>
            <a:solidFill>
              <a:srgbClr val="070154"/>
            </a:solidFill>
            <a:ln>
              <a:noFill/>
            </a:ln>
          </p:spPr>
        </p:sp>
        <p:sp>
          <p:nvSpPr>
            <p:cNvPr id="44" name="node09.body.item-001.bullets.item-003.text"/>
            <p:cNvSpPr/>
            <p:nvPr/>
          </p:nvSpPr>
          <p:spPr>
            <a:xfrm>
              <a:off x="6591300" y="34544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Generated tests back each change.</a:t>
              </a:r>
              <a:endParaRPr lang="en-US" sz="1200" spc="0" kern="0" b="0" i="0" dirty="0">
                <a:solidFill>
                  <a:srgbClr val="070154"/>
                </a:solidFill>
                <a:latin typeface="IBM Plex Sans"/>
                <a:ea typeface="IBM Plex Sans"/>
                <a:cs typeface="IBM Plex Sans"/>
              </a:endParaRPr>
            </a:p>
          </p:txBody>
        </p:sp>
        <p:sp>
          <p:nvSpPr>
            <p:cNvPr id="45" name="node09.body.item-001.bullets.item-004.marker"/>
            <p:cNvSpPr/>
            <p:nvPr/>
          </p:nvSpPr>
          <p:spPr>
            <a:xfrm>
              <a:off x="6438900" y="4013200"/>
              <a:ext cx="38100" cy="38100"/>
            </a:xfrm>
            <a:prstGeom prst="rect">
              <a:avLst/>
            </a:prstGeom>
            <a:solidFill>
              <a:srgbClr val="070154"/>
            </a:solidFill>
            <a:ln>
              <a:noFill/>
            </a:ln>
          </p:spPr>
        </p:sp>
        <p:sp>
          <p:nvSpPr>
            <p:cNvPr id="46" name="node09.body.item-001.bullets.item-004.text"/>
            <p:cNvSpPr/>
            <p:nvPr/>
          </p:nvSpPr>
          <p:spPr>
            <a:xfrm>
              <a:off x="6591300" y="39243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Engineers approve every merge.</a:t>
              </a:r>
              <a:endParaRPr lang="en-US" sz="1200" spc="0" kern="0" b="0" i="0" dirty="0">
                <a:solidFill>
                  <a:srgbClr val="070154"/>
                </a:solidFill>
                <a:latin typeface="IBM Plex Sans"/>
                <a:ea typeface="IBM Plex Sans"/>
                <a:cs typeface="IBM Plex Sans"/>
              </a:endParaRPr>
            </a:p>
          </p:txBody>
        </p:sp>
      </p:grpSp>
      <p:grpSp>
        <p:nvGrpSpPr>
          <p:cNvPr id="80" name="node10"/>
          <p:cNvGrpSpPr/>
          <p:nvPr/>
        </p:nvGrpSpPr>
        <p:grpSpPr>
          <a:xfrm>
            <a:off x="6896100" y="4800600"/>
            <a:ext cx="1828800" cy="1371600"/>
            <a:chOff x="6896100" y="4800600"/>
            <a:chExt cx="1828800" cy="1371600"/>
          </a:xfrm>
        </p:grpSpPr>
        <p:sp>
          <p:nvSpPr>
            <p:cNvPr id="47" name="node10.surface"/>
            <p:cNvSpPr/>
            <p:nvPr/>
          </p:nvSpPr>
          <p:spPr>
            <a:xfrm>
              <a:off x="6896100" y="4800600"/>
              <a:ext cx="1828800" cy="1371600"/>
            </a:xfrm>
            <a:prstGeom prst="rect">
              <a:avLst/>
            </a:prstGeom>
            <a:solidFill>
              <a:srgbClr val="070154"/>
            </a:solidFill>
            <a:ln>
              <a:noFill/>
            </a:ln>
          </p:spPr>
        </p:sp>
      </p:grpSp>
      <p:grpSp>
        <p:nvGrpSpPr>
          <p:cNvPr id="81" name="node11"/>
          <p:cNvGrpSpPr/>
          <p:nvPr/>
        </p:nvGrpSpPr>
        <p:grpSpPr>
          <a:xfrm>
            <a:off x="7124700" y="5029200"/>
            <a:ext cx="1371600" cy="139700"/>
            <a:chOff x="7124700" y="5029200"/>
            <a:chExt cx="1371600" cy="139700"/>
          </a:xfrm>
        </p:grpSpPr>
        <p:sp>
          <p:nvSpPr>
            <p:cNvPr id="48" name="node11.text"/>
            <p:cNvSpPr/>
            <p:nvPr/>
          </p:nvSpPr>
          <p:spPr>
            <a:xfrm>
              <a:off x="7124700" y="5029200"/>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82" name="node12"/>
          <p:cNvGrpSpPr/>
          <p:nvPr/>
        </p:nvGrpSpPr>
        <p:grpSpPr>
          <a:xfrm>
            <a:off x="7124700" y="5257800"/>
            <a:ext cx="1371600" cy="381000"/>
            <a:chOff x="7124700" y="5257800"/>
            <a:chExt cx="1371600" cy="381000"/>
          </a:xfrm>
        </p:grpSpPr>
        <p:sp>
          <p:nvSpPr>
            <p:cNvPr id="49" name="node12.text"/>
            <p:cNvSpPr/>
            <p:nvPr/>
          </p:nvSpPr>
          <p:spPr>
            <a:xfrm>
              <a:off x="7124700" y="5257800"/>
              <a:ext cx="1371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Months of analysis done in days.</a:t>
              </a:r>
              <a:endParaRPr lang="en-US" sz="1100" spc="0" kern="0" b="0" i="0" dirty="0">
                <a:solidFill>
                  <a:srgbClr val="FFFFFF"/>
                </a:solidFill>
                <a:latin typeface="IBM Plex Sans"/>
                <a:ea typeface="IBM Plex Sans"/>
                <a:cs typeface="IBM Plex Sans"/>
              </a:endParaRPr>
            </a:p>
          </p:txBody>
        </p:sp>
      </p:grpSp>
      <p:grpSp>
        <p:nvGrpSpPr>
          <p:cNvPr id="84" name="node13"/>
          <p:cNvGrpSpPr/>
          <p:nvPr/>
        </p:nvGrpSpPr>
        <p:grpSpPr>
          <a:xfrm>
            <a:off x="8953500" y="1600200"/>
            <a:ext cx="2286000" cy="3429000"/>
            <a:chOff x="8953500" y="1600200"/>
            <a:chExt cx="2286000" cy="3429000"/>
          </a:xfrm>
        </p:grpSpPr>
        <p:sp>
          <p:nvSpPr>
            <p:cNvPr id="50" name="node13.container"/>
            <p:cNvSpPr/>
            <p:nvPr/>
          </p:nvSpPr>
          <p:spPr>
            <a:xfrm>
              <a:off x="8953500" y="1600200"/>
              <a:ext cx="2286000" cy="3429000"/>
            </a:xfrm>
            <a:prstGeom prst="rect">
              <a:avLst/>
            </a:prstGeom>
            <a:solidFill>
              <a:srgbClr val="E8EEF8"/>
            </a:solidFill>
            <a:ln>
              <a:noFill/>
            </a:ln>
          </p:spPr>
        </p:sp>
        <p:grpSp>
          <p:nvGrpSpPr>
            <p:cNvPr id="83" name="node13.icon"/>
            <p:cNvGrpSpPr/>
            <p:nvPr/>
          </p:nvGrpSpPr>
          <p:grpSpPr>
            <a:xfrm>
              <a:off x="9182100" y="1828800"/>
              <a:ext cx="457200" cy="457200"/>
              <a:chOff x="9182100" y="1828800"/>
              <a:chExt cx="457200" cy="457200"/>
            </a:xfrm>
          </p:grpSpPr>
          <p:pic>
            <p:nvPicPr>
              <p:cNvPr id="51" name="node13.icon.image" descr="icon/team-huddle/navy; canonical SHA256=0810b0327bab4c67b9ad5494cd579ab1166b6cab738efd10be95638de3481f2f">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82100" y="1828800"/>
                <a:ext cx="457200" cy="457200"/>
              </a:xfrm>
              <a:prstGeom prst="rect">
                <a:avLst/>
              </a:prstGeom>
            </p:spPr>
          </p:pic>
        </p:grpSp>
        <p:sp>
          <p:nvSpPr>
            <p:cNvPr id="52" name="node13.title"/>
            <p:cNvSpPr/>
            <p:nvPr/>
          </p:nvSpPr>
          <p:spPr>
            <a:xfrm>
              <a:off x="9791700" y="1828800"/>
              <a:ext cx="12192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Co-build and scale</a:t>
              </a:r>
              <a:endParaRPr lang="en-US" sz="1600" spc="-16" kern="0" b="0" i="0" dirty="0">
                <a:solidFill>
                  <a:srgbClr val="0047FF"/>
                </a:solidFill>
                <a:latin typeface="IBM Plex Sans SemiBold"/>
                <a:ea typeface="IBM Plex Sans SemiBold"/>
                <a:cs typeface="IBM Plex Sans SemiBold"/>
              </a:endParaRPr>
            </a:p>
          </p:txBody>
        </p:sp>
        <p:sp>
          <p:nvSpPr>
            <p:cNvPr id="53" name="node13.body.item-001.bullets.item-001.marker"/>
            <p:cNvSpPr/>
            <p:nvPr/>
          </p:nvSpPr>
          <p:spPr>
            <a:xfrm>
              <a:off x="9182100" y="2603500"/>
              <a:ext cx="38100" cy="38100"/>
            </a:xfrm>
            <a:prstGeom prst="rect">
              <a:avLst/>
            </a:prstGeom>
            <a:solidFill>
              <a:srgbClr val="070154"/>
            </a:solidFill>
            <a:ln>
              <a:noFill/>
            </a:ln>
          </p:spPr>
        </p:sp>
        <p:sp>
          <p:nvSpPr>
            <p:cNvPr id="54" name="node13.body.item-001.bullets.item-001.text"/>
            <p:cNvSpPr/>
            <p:nvPr/>
          </p:nvSpPr>
          <p:spPr>
            <a:xfrm>
              <a:off x="9334500" y="25146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Co-sourced teams sit with stakeholders.</a:t>
              </a:r>
              <a:endParaRPr lang="en-US" sz="1200" spc="0" kern="0" b="0" i="0" dirty="0">
                <a:solidFill>
                  <a:srgbClr val="070154"/>
                </a:solidFill>
                <a:latin typeface="IBM Plex Sans"/>
                <a:ea typeface="IBM Plex Sans"/>
                <a:cs typeface="IBM Plex Sans"/>
              </a:endParaRPr>
            </a:p>
          </p:txBody>
        </p:sp>
        <p:sp>
          <p:nvSpPr>
            <p:cNvPr id="55" name="node13.body.item-001.bullets.item-002.marker"/>
            <p:cNvSpPr/>
            <p:nvPr/>
          </p:nvSpPr>
          <p:spPr>
            <a:xfrm>
              <a:off x="9182100" y="3073400"/>
              <a:ext cx="38100" cy="38100"/>
            </a:xfrm>
            <a:prstGeom prst="rect">
              <a:avLst/>
            </a:prstGeom>
            <a:solidFill>
              <a:srgbClr val="070154"/>
            </a:solidFill>
            <a:ln>
              <a:noFill/>
            </a:ln>
          </p:spPr>
        </p:sp>
        <p:sp>
          <p:nvSpPr>
            <p:cNvPr id="56" name="node13.body.item-001.bullets.item-002.text"/>
            <p:cNvSpPr/>
            <p:nvPr/>
          </p:nvSpPr>
          <p:spPr>
            <a:xfrm>
              <a:off x="9334500" y="29845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Onshore and nearshore flex with demand.</a:t>
              </a:r>
              <a:endParaRPr lang="en-US" sz="1200" spc="0" kern="0" b="0" i="0" dirty="0">
                <a:solidFill>
                  <a:srgbClr val="070154"/>
                </a:solidFill>
                <a:latin typeface="IBM Plex Sans"/>
                <a:ea typeface="IBM Plex Sans"/>
                <a:cs typeface="IBM Plex Sans"/>
              </a:endParaRPr>
            </a:p>
          </p:txBody>
        </p:sp>
        <p:sp>
          <p:nvSpPr>
            <p:cNvPr id="57" name="node13.body.item-001.bullets.item-003.marker"/>
            <p:cNvSpPr/>
            <p:nvPr/>
          </p:nvSpPr>
          <p:spPr>
            <a:xfrm>
              <a:off x="9182100" y="3543300"/>
              <a:ext cx="38100" cy="38100"/>
            </a:xfrm>
            <a:prstGeom prst="rect">
              <a:avLst/>
            </a:prstGeom>
            <a:solidFill>
              <a:srgbClr val="070154"/>
            </a:solidFill>
            <a:ln>
              <a:noFill/>
            </a:ln>
          </p:spPr>
        </p:sp>
        <p:sp>
          <p:nvSpPr>
            <p:cNvPr id="58" name="node13.body.item-001.bullets.item-003.text"/>
            <p:cNvSpPr/>
            <p:nvPr/>
          </p:nvSpPr>
          <p:spPr>
            <a:xfrm>
              <a:off x="9334500" y="34544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Pairing builds your team's skills.</a:t>
              </a:r>
              <a:endParaRPr lang="en-US" sz="1200" spc="0" kern="0" b="0" i="0" dirty="0">
                <a:solidFill>
                  <a:srgbClr val="070154"/>
                </a:solidFill>
                <a:latin typeface="IBM Plex Sans"/>
                <a:ea typeface="IBM Plex Sans"/>
                <a:cs typeface="IBM Plex Sans"/>
              </a:endParaRPr>
            </a:p>
          </p:txBody>
        </p:sp>
        <p:sp>
          <p:nvSpPr>
            <p:cNvPr id="59" name="node13.body.item-001.bullets.item-004.marker"/>
            <p:cNvSpPr/>
            <p:nvPr/>
          </p:nvSpPr>
          <p:spPr>
            <a:xfrm>
              <a:off x="9182100" y="4013200"/>
              <a:ext cx="38100" cy="38100"/>
            </a:xfrm>
            <a:prstGeom prst="rect">
              <a:avLst/>
            </a:prstGeom>
            <a:solidFill>
              <a:srgbClr val="070154"/>
            </a:solidFill>
            <a:ln>
              <a:noFill/>
            </a:ln>
          </p:spPr>
        </p:sp>
        <p:sp>
          <p:nvSpPr>
            <p:cNvPr id="60" name="node13.body.item-001.bullets.item-004.text"/>
            <p:cNvSpPr/>
            <p:nvPr/>
          </p:nvSpPr>
          <p:spPr>
            <a:xfrm>
              <a:off x="9334500" y="3924300"/>
              <a:ext cx="1676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Handover is planned from day one.</a:t>
              </a:r>
              <a:endParaRPr lang="en-US" sz="1200" spc="0" kern="0" b="0" i="0" dirty="0">
                <a:solidFill>
                  <a:srgbClr val="070154"/>
                </a:solidFill>
                <a:latin typeface="IBM Plex Sans"/>
                <a:ea typeface="IBM Plex Sans"/>
                <a:cs typeface="IBM Plex Sans"/>
              </a:endParaRPr>
            </a:p>
          </p:txBody>
        </p:sp>
      </p:grpSp>
      <p:grpSp>
        <p:nvGrpSpPr>
          <p:cNvPr id="85" name="node14"/>
          <p:cNvGrpSpPr/>
          <p:nvPr/>
        </p:nvGrpSpPr>
        <p:grpSpPr>
          <a:xfrm>
            <a:off x="9639300" y="4800600"/>
            <a:ext cx="1828800" cy="1371600"/>
            <a:chOff x="9639300" y="4800600"/>
            <a:chExt cx="1828800" cy="1371600"/>
          </a:xfrm>
        </p:grpSpPr>
        <p:sp>
          <p:nvSpPr>
            <p:cNvPr id="61" name="node14.surface"/>
            <p:cNvSpPr/>
            <p:nvPr/>
          </p:nvSpPr>
          <p:spPr>
            <a:xfrm>
              <a:off x="9639300" y="4800600"/>
              <a:ext cx="1828800" cy="1371600"/>
            </a:xfrm>
            <a:prstGeom prst="rect">
              <a:avLst/>
            </a:prstGeom>
            <a:solidFill>
              <a:srgbClr val="070154"/>
            </a:solidFill>
            <a:ln>
              <a:noFill/>
            </a:ln>
          </p:spPr>
        </p:sp>
      </p:grpSp>
      <p:grpSp>
        <p:nvGrpSpPr>
          <p:cNvPr id="86" name="node15"/>
          <p:cNvGrpSpPr/>
          <p:nvPr/>
        </p:nvGrpSpPr>
        <p:grpSpPr>
          <a:xfrm>
            <a:off x="9867900" y="5029200"/>
            <a:ext cx="1371600" cy="139700"/>
            <a:chOff x="9867900" y="5029200"/>
            <a:chExt cx="1371600" cy="139700"/>
          </a:xfrm>
        </p:grpSpPr>
        <p:sp>
          <p:nvSpPr>
            <p:cNvPr id="62" name="node15.text"/>
            <p:cNvSpPr/>
            <p:nvPr/>
          </p:nvSpPr>
          <p:spPr>
            <a:xfrm>
              <a:off x="9867900" y="5029200"/>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87" name="node16"/>
          <p:cNvGrpSpPr/>
          <p:nvPr/>
        </p:nvGrpSpPr>
        <p:grpSpPr>
          <a:xfrm>
            <a:off x="9867900" y="5257800"/>
            <a:ext cx="1371600" cy="381000"/>
            <a:chOff x="9867900" y="5257800"/>
            <a:chExt cx="1371600" cy="381000"/>
          </a:xfrm>
        </p:grpSpPr>
        <p:sp>
          <p:nvSpPr>
            <p:cNvPr id="63" name="node16.text"/>
            <p:cNvSpPr/>
            <p:nvPr/>
          </p:nvSpPr>
          <p:spPr>
            <a:xfrm>
              <a:off x="9867900" y="5257800"/>
              <a:ext cx="1371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Capacity without disruption.</a:t>
              </a:r>
              <a:endParaRPr lang="en-US" sz="1100" spc="0" kern="0" b="0" i="0" dirty="0">
                <a:solidFill>
                  <a:srgbClr val="FFFFFF"/>
                </a:solidFill>
                <a:latin typeface="IBM Plex Sans"/>
                <a:ea typeface="IBM Plex Sans"/>
                <a:cs typeface="IBM Plex Sans"/>
              </a:endParaRPr>
            </a:p>
          </p:txBody>
        </p:sp>
      </p:grpSp>
      <p:grpSp>
        <p:nvGrpSpPr>
          <p:cNvPr id="88" name="node17"/>
          <p:cNvGrpSpPr/>
          <p:nvPr/>
        </p:nvGrpSpPr>
        <p:grpSpPr>
          <a:xfrm>
            <a:off x="774700" y="5054600"/>
            <a:ext cx="571500" cy="702356"/>
            <a:chOff x="774700" y="5054600"/>
            <a:chExt cx="571500" cy="702356"/>
          </a:xfrm>
        </p:grpSpPr>
        <p:pic>
          <p:nvPicPr>
            <p:cNvPr id="64" name="node17.mark" descr="arrow-right-angle; canonical SHA256=40758c6ab857749af6c80f96e495dbdf2a4d76e38bc96cc28fa877b01fcb9c03; resolved ink=070154">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4700" y="5054600"/>
              <a:ext cx="571500" cy="702356"/>
            </a:xfrm>
            <a:prstGeom prst="rect">
              <a:avLst/>
            </a:prstGeom>
          </p:spPr>
        </p:pic>
      </p:grpSp>
      <p:grpSp>
        <p:nvGrpSpPr>
          <p:cNvPr id="89" name="node18"/>
          <p:cNvGrpSpPr/>
          <p:nvPr/>
        </p:nvGrpSpPr>
        <p:grpSpPr>
          <a:xfrm>
            <a:off x="3517900" y="5054600"/>
            <a:ext cx="571500" cy="702356"/>
            <a:chOff x="3517900" y="5054600"/>
            <a:chExt cx="571500" cy="702356"/>
          </a:xfrm>
        </p:grpSpPr>
        <p:pic>
          <p:nvPicPr>
            <p:cNvPr id="65" name="node18.mark" descr="arrow-right-angle; canonical SHA256=40758c6ab857749af6c80f96e495dbdf2a4d76e38bc96cc28fa877b01fcb9c03; resolved ink=070154">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17900" y="5054600"/>
              <a:ext cx="571500" cy="702356"/>
            </a:xfrm>
            <a:prstGeom prst="rect">
              <a:avLst/>
            </a:prstGeom>
          </p:spPr>
        </p:pic>
      </p:grpSp>
      <p:grpSp>
        <p:nvGrpSpPr>
          <p:cNvPr id="90" name="node19"/>
          <p:cNvGrpSpPr/>
          <p:nvPr/>
        </p:nvGrpSpPr>
        <p:grpSpPr>
          <a:xfrm>
            <a:off x="6261100" y="5054600"/>
            <a:ext cx="571500" cy="702356"/>
            <a:chOff x="6261100" y="5054600"/>
            <a:chExt cx="571500" cy="702356"/>
          </a:xfrm>
        </p:grpSpPr>
        <p:pic>
          <p:nvPicPr>
            <p:cNvPr id="66" name="node19.mark" descr="arrow-right-angle; canonical SHA256=40758c6ab857749af6c80f96e495dbdf2a4d76e38bc96cc28fa877b01fcb9c03; resolved ink=070154">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61100" y="5054600"/>
              <a:ext cx="571500" cy="702356"/>
            </a:xfrm>
            <a:prstGeom prst="rect">
              <a:avLst/>
            </a:prstGeom>
          </p:spPr>
        </p:pic>
      </p:grpSp>
      <p:grpSp>
        <p:nvGrpSpPr>
          <p:cNvPr id="91" name="node20"/>
          <p:cNvGrpSpPr/>
          <p:nvPr/>
        </p:nvGrpSpPr>
        <p:grpSpPr>
          <a:xfrm>
            <a:off x="9004300" y="5054600"/>
            <a:ext cx="571500" cy="702356"/>
            <a:chOff x="9004300" y="5054600"/>
            <a:chExt cx="571500" cy="702356"/>
          </a:xfrm>
        </p:grpSpPr>
        <p:pic>
          <p:nvPicPr>
            <p:cNvPr id="67" name="node20.mark" descr="arrow-right-angle; canonical SHA256=40758c6ab857749af6c80f96e495dbdf2a4d76e38bc96cc28fa877b01fcb9c03; resolved ink=070154">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004300" y="5054600"/>
              <a:ext cx="571500" cy="702356"/>
            </a:xfrm>
            <a:prstGeom prst="rect">
              <a:avLst/>
            </a:prstGeom>
          </p:spPr>
        </p:pic>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ource-36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53</a:t>
            </a:fld>
            <a:endParaRPr lang="en-US" sz="700" spc="0" kern="0" b="0" i="0" dirty="0">
              <a:solidFill>
                <a:srgbClr val="070154"/>
              </a:solidFill>
              <a:latin typeface="IBM Plex Mono SemiBold"/>
              <a:ea typeface="IBM Plex Mono SemiBold"/>
              <a:cs typeface="IBM Plex Mono SemiBold"/>
            </a:endParaRPr>
          </a:p>
        </p:txBody>
      </p:sp>
      <p:grpSp>
        <p:nvGrpSpPr>
          <p:cNvPr id="46" name="node01"/>
          <p:cNvGrpSpPr/>
          <p:nvPr/>
        </p:nvGrpSpPr>
        <p:grpSpPr>
          <a:xfrm>
            <a:off x="723900" y="1600200"/>
            <a:ext cx="3429000" cy="2971800"/>
            <a:chOff x="723900" y="1600200"/>
            <a:chExt cx="3429000" cy="2971800"/>
          </a:xfrm>
        </p:grpSpPr>
        <p:sp>
          <p:nvSpPr>
            <p:cNvPr id="6" name="node01.container"/>
            <p:cNvSpPr/>
            <p:nvPr/>
          </p:nvSpPr>
          <p:spPr>
            <a:xfrm>
              <a:off x="723900" y="1600200"/>
              <a:ext cx="3429000" cy="2971800"/>
            </a:xfrm>
            <a:prstGeom prst="rect">
              <a:avLst/>
            </a:prstGeom>
            <a:solidFill>
              <a:srgbClr val="E8EEF8"/>
            </a:solidFill>
            <a:ln>
              <a:noFill/>
            </a:ln>
          </p:spPr>
        </p:sp>
        <p:grpSp>
          <p:nvGrpSpPr>
            <p:cNvPr id="45" name="node01.icon"/>
            <p:cNvGrpSpPr/>
            <p:nvPr/>
          </p:nvGrpSpPr>
          <p:grpSpPr>
            <a:xfrm>
              <a:off x="952500" y="1828800"/>
              <a:ext cx="457200" cy="457200"/>
              <a:chOff x="952500" y="1828800"/>
              <a:chExt cx="457200" cy="457200"/>
            </a:xfrm>
          </p:grpSpPr>
          <p:pic>
            <p:nvPicPr>
              <p:cNvPr id="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1828800"/>
                <a:ext cx="457200" cy="457200"/>
              </a:xfrm>
              <a:prstGeom prst="rect">
                <a:avLst/>
              </a:prstGeom>
            </p:spPr>
          </p:pic>
        </p:grpSp>
        <p:sp>
          <p:nvSpPr>
            <p:cNvPr id="8" name="node01.title"/>
            <p:cNvSpPr/>
            <p:nvPr/>
          </p:nvSpPr>
          <p:spPr>
            <a:xfrm>
              <a:off x="15621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Value first</a:t>
              </a:r>
              <a:endParaRPr lang="en-US" sz="1800" spc="-18" kern="0" b="0" i="0" dirty="0">
                <a:solidFill>
                  <a:srgbClr val="0047FF"/>
                </a:solidFill>
                <a:latin typeface="IBM Plex Sans SemiBold"/>
                <a:ea typeface="IBM Plex Sans SemiBold"/>
                <a:cs typeface="IBM Plex Sans SemiBold"/>
              </a:endParaRPr>
            </a:p>
          </p:txBody>
        </p:sp>
        <p:sp>
          <p:nvSpPr>
            <p:cNvPr id="9" name="node01.body.item-001.bullets.item-001.marker"/>
            <p:cNvSpPr/>
            <p:nvPr/>
          </p:nvSpPr>
          <p:spPr>
            <a:xfrm>
              <a:off x="952500" y="2546350"/>
              <a:ext cx="50800" cy="50800"/>
            </a:xfrm>
            <a:prstGeom prst="rect">
              <a:avLst/>
            </a:prstGeom>
            <a:solidFill>
              <a:srgbClr val="070154"/>
            </a:solidFill>
            <a:ln>
              <a:noFill/>
            </a:ln>
          </p:spPr>
        </p:sp>
        <p:sp>
          <p:nvSpPr>
            <p:cNvPr id="10" name="node01.body.item-001.bullets.item-001.text"/>
            <p:cNvSpPr/>
            <p:nvPr/>
          </p:nvSpPr>
          <p:spPr>
            <a:xfrm>
              <a:off x="1143000" y="24384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rank every system by business value, not technical elegance.</a:t>
              </a:r>
              <a:endParaRPr lang="en-US" sz="1400" spc="0" kern="0" b="0" i="0" dirty="0">
                <a:solidFill>
                  <a:srgbClr val="070154"/>
                </a:solidFill>
                <a:latin typeface="IBM Plex Sans"/>
                <a:ea typeface="IBM Plex Sans"/>
                <a:cs typeface="IBM Plex Sans"/>
              </a:endParaRPr>
            </a:p>
          </p:txBody>
        </p:sp>
        <p:sp>
          <p:nvSpPr>
            <p:cNvPr id="11" name="node01.body.item-001.bullets.item-002.marker"/>
            <p:cNvSpPr/>
            <p:nvPr/>
          </p:nvSpPr>
          <p:spPr>
            <a:xfrm>
              <a:off x="952500" y="3155950"/>
              <a:ext cx="50800" cy="50800"/>
            </a:xfrm>
            <a:prstGeom prst="rect">
              <a:avLst/>
            </a:prstGeom>
            <a:solidFill>
              <a:srgbClr val="070154"/>
            </a:solidFill>
            <a:ln>
              <a:noFill/>
            </a:ln>
          </p:spPr>
        </p:sp>
        <p:sp>
          <p:nvSpPr>
            <p:cNvPr id="12" name="node01.body.item-001.bullets.item-002.text"/>
            <p:cNvSpPr/>
            <p:nvPr/>
          </p:nvSpPr>
          <p:spPr>
            <a:xfrm>
              <a:off x="1143000" y="30480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Cost, risk and revenue exposure scored side by side.</a:t>
              </a:r>
              <a:endParaRPr lang="en-US" sz="1400" spc="0" kern="0" b="0" i="0" dirty="0">
                <a:solidFill>
                  <a:srgbClr val="070154"/>
                </a:solidFill>
                <a:latin typeface="IBM Plex Sans"/>
                <a:ea typeface="IBM Plex Sans"/>
                <a:cs typeface="IBM Plex Sans"/>
              </a:endParaRPr>
            </a:p>
          </p:txBody>
        </p:sp>
        <p:sp>
          <p:nvSpPr>
            <p:cNvPr id="13" name="node01.body.item-001.bullets.item-003.marker"/>
            <p:cNvSpPr/>
            <p:nvPr/>
          </p:nvSpPr>
          <p:spPr>
            <a:xfrm>
              <a:off x="952500" y="3765550"/>
              <a:ext cx="50800" cy="50800"/>
            </a:xfrm>
            <a:prstGeom prst="rect">
              <a:avLst/>
            </a:prstGeom>
            <a:solidFill>
              <a:srgbClr val="070154"/>
            </a:solidFill>
            <a:ln>
              <a:noFill/>
            </a:ln>
          </p:spPr>
        </p:sp>
        <p:sp>
          <p:nvSpPr>
            <p:cNvPr id="14" name="node01.body.item-001.bullets.item-003.text"/>
            <p:cNvSpPr/>
            <p:nvPr/>
          </p:nvSpPr>
          <p:spPr>
            <a:xfrm>
              <a:off x="1143000" y="36576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Quick wins funded first, so savings pay for later waves.</a:t>
              </a:r>
              <a:endParaRPr lang="en-US" sz="1400" spc="0" kern="0" b="0" i="0" dirty="0">
                <a:solidFill>
                  <a:srgbClr val="070154"/>
                </a:solidFill>
                <a:latin typeface="IBM Plex Sans"/>
                <a:ea typeface="IBM Plex Sans"/>
                <a:cs typeface="IBM Plex Sans"/>
              </a:endParaRPr>
            </a:p>
          </p:txBody>
        </p:sp>
      </p:grpSp>
      <p:grpSp>
        <p:nvGrpSpPr>
          <p:cNvPr id="47" name="node02"/>
          <p:cNvGrpSpPr/>
          <p:nvPr/>
        </p:nvGrpSpPr>
        <p:grpSpPr>
          <a:xfrm>
            <a:off x="1866900" y="4800600"/>
            <a:ext cx="2286000" cy="1371600"/>
            <a:chOff x="1866900" y="4800600"/>
            <a:chExt cx="2286000" cy="1371600"/>
          </a:xfrm>
        </p:grpSpPr>
        <p:sp>
          <p:nvSpPr>
            <p:cNvPr id="15" name="node02.surface"/>
            <p:cNvSpPr/>
            <p:nvPr/>
          </p:nvSpPr>
          <p:spPr>
            <a:xfrm>
              <a:off x="1866900" y="4800600"/>
              <a:ext cx="2286000" cy="1371600"/>
            </a:xfrm>
            <a:prstGeom prst="rect">
              <a:avLst/>
            </a:prstGeom>
            <a:solidFill>
              <a:srgbClr val="070154"/>
            </a:solidFill>
            <a:ln>
              <a:noFill/>
            </a:ln>
          </p:spPr>
        </p:sp>
      </p:grpSp>
      <p:grpSp>
        <p:nvGrpSpPr>
          <p:cNvPr id="48" name="node03"/>
          <p:cNvGrpSpPr/>
          <p:nvPr/>
        </p:nvGrpSpPr>
        <p:grpSpPr>
          <a:xfrm>
            <a:off x="2095500" y="5029200"/>
            <a:ext cx="1828800" cy="152400"/>
            <a:chOff x="2095500" y="5029200"/>
            <a:chExt cx="1828800" cy="152400"/>
          </a:xfrm>
        </p:grpSpPr>
        <p:sp>
          <p:nvSpPr>
            <p:cNvPr id="16" name="node03.text"/>
            <p:cNvSpPr/>
            <p:nvPr/>
          </p:nvSpPr>
          <p:spPr>
            <a:xfrm>
              <a:off x="20955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49" name="node04"/>
          <p:cNvGrpSpPr/>
          <p:nvPr/>
        </p:nvGrpSpPr>
        <p:grpSpPr>
          <a:xfrm>
            <a:off x="2095500" y="5257800"/>
            <a:ext cx="1828800" cy="685800"/>
            <a:chOff x="2095500" y="5257800"/>
            <a:chExt cx="1828800" cy="685800"/>
          </a:xfrm>
        </p:grpSpPr>
        <p:sp>
          <p:nvSpPr>
            <p:cNvPr id="17" name="node04.text"/>
            <p:cNvSpPr/>
            <p:nvPr/>
          </p:nvSpPr>
          <p:spPr>
            <a:xfrm>
              <a:off x="20955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Effort goes where return is highest, so promised value lands.</a:t>
              </a:r>
              <a:endParaRPr lang="en-US" sz="1200" spc="0" kern="0" b="0" i="0" dirty="0">
                <a:solidFill>
                  <a:srgbClr val="FFFFFF"/>
                </a:solidFill>
                <a:latin typeface="IBM Plex Sans"/>
                <a:ea typeface="IBM Plex Sans"/>
                <a:cs typeface="IBM Plex Sans"/>
              </a:endParaRPr>
            </a:p>
          </p:txBody>
        </p:sp>
      </p:grpSp>
      <p:grpSp>
        <p:nvGrpSpPr>
          <p:cNvPr id="50" name="node05"/>
          <p:cNvGrpSpPr/>
          <p:nvPr/>
        </p:nvGrpSpPr>
        <p:grpSpPr>
          <a:xfrm>
            <a:off x="952500" y="4597400"/>
            <a:ext cx="685800" cy="842827"/>
            <a:chOff x="952500" y="4597400"/>
            <a:chExt cx="685800" cy="842827"/>
          </a:xfrm>
        </p:grpSpPr>
        <p:pic>
          <p:nvPicPr>
            <p:cNvPr id="18" name="node05.mark" descr="arrow-right-angle; canonical SHA256=40758c6ab857749af6c80f96e495dbdf2a4d76e38bc96cc28fa877b01fcb9c03; resolved ink=07015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2500" y="4597400"/>
              <a:ext cx="685800" cy="842827"/>
            </a:xfrm>
            <a:prstGeom prst="rect">
              <a:avLst/>
            </a:prstGeom>
          </p:spPr>
        </p:pic>
      </p:grpSp>
      <p:grpSp>
        <p:nvGrpSpPr>
          <p:cNvPr id="52" name="node06"/>
          <p:cNvGrpSpPr/>
          <p:nvPr/>
        </p:nvGrpSpPr>
        <p:grpSpPr>
          <a:xfrm>
            <a:off x="4381500" y="1600200"/>
            <a:ext cx="3429000" cy="2971800"/>
            <a:chOff x="4381500" y="1600200"/>
            <a:chExt cx="3429000" cy="2971800"/>
          </a:xfrm>
        </p:grpSpPr>
        <p:sp>
          <p:nvSpPr>
            <p:cNvPr id="19" name="node06.container"/>
            <p:cNvSpPr/>
            <p:nvPr/>
          </p:nvSpPr>
          <p:spPr>
            <a:xfrm>
              <a:off x="4381500" y="1600200"/>
              <a:ext cx="3429000" cy="2971800"/>
            </a:xfrm>
            <a:prstGeom prst="rect">
              <a:avLst/>
            </a:prstGeom>
            <a:solidFill>
              <a:srgbClr val="E8EEF8"/>
            </a:solidFill>
            <a:ln>
              <a:noFill/>
            </a:ln>
          </p:spPr>
        </p:sp>
        <p:grpSp>
          <p:nvGrpSpPr>
            <p:cNvPr id="51" name="node06.icon"/>
            <p:cNvGrpSpPr/>
            <p:nvPr/>
          </p:nvGrpSpPr>
          <p:grpSpPr>
            <a:xfrm>
              <a:off x="4610100" y="1828800"/>
              <a:ext cx="457200" cy="457200"/>
              <a:chOff x="4610100" y="1828800"/>
              <a:chExt cx="457200" cy="457200"/>
            </a:xfrm>
          </p:grpSpPr>
          <p:pic>
            <p:nvPicPr>
              <p:cNvPr id="20" name="node06.icon.image" descr="icon/strategy-route/navy; canonical SHA256=763a15166fefc06f84edb42452bdf8fbb13cc97295a2599a2fc99a950f7f95d4">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10100" y="1828800"/>
                <a:ext cx="457200" cy="457200"/>
              </a:xfrm>
              <a:prstGeom prst="rect">
                <a:avLst/>
              </a:prstGeom>
            </p:spPr>
          </p:pic>
        </p:grpSp>
        <p:sp>
          <p:nvSpPr>
            <p:cNvPr id="21" name="node06.title"/>
            <p:cNvSpPr/>
            <p:nvPr/>
          </p:nvSpPr>
          <p:spPr>
            <a:xfrm>
              <a:off x="52197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Purpose built</a:t>
              </a:r>
              <a:endParaRPr lang="en-US" sz="1800" spc="-18" kern="0" b="0" i="0" dirty="0">
                <a:solidFill>
                  <a:srgbClr val="0047FF"/>
                </a:solidFill>
                <a:latin typeface="IBM Plex Sans SemiBold"/>
                <a:ea typeface="IBM Plex Sans SemiBold"/>
                <a:cs typeface="IBM Plex Sans SemiBold"/>
              </a:endParaRPr>
            </a:p>
          </p:txBody>
        </p:sp>
        <p:sp>
          <p:nvSpPr>
            <p:cNvPr id="22" name="node06.body.item-001.bullets.item-001.marker"/>
            <p:cNvSpPr/>
            <p:nvPr/>
          </p:nvSpPr>
          <p:spPr>
            <a:xfrm>
              <a:off x="4610100" y="2546350"/>
              <a:ext cx="50800" cy="50800"/>
            </a:xfrm>
            <a:prstGeom prst="rect">
              <a:avLst/>
            </a:prstGeom>
            <a:solidFill>
              <a:srgbClr val="070154"/>
            </a:solidFill>
            <a:ln>
              <a:noFill/>
            </a:ln>
          </p:spPr>
        </p:sp>
        <p:sp>
          <p:nvSpPr>
            <p:cNvPr id="23" name="node06.body.item-001.bullets.item-001.text"/>
            <p:cNvSpPr/>
            <p:nvPr/>
          </p:nvSpPr>
          <p:spPr>
            <a:xfrm>
              <a:off x="4800600" y="24384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Retain, replatform, rewrite or retire, chosen per system.</a:t>
              </a:r>
              <a:endParaRPr lang="en-US" sz="1400" spc="0" kern="0" b="0" i="0" dirty="0">
                <a:solidFill>
                  <a:srgbClr val="070154"/>
                </a:solidFill>
                <a:latin typeface="IBM Plex Sans"/>
                <a:ea typeface="IBM Plex Sans"/>
                <a:cs typeface="IBM Plex Sans"/>
              </a:endParaRPr>
            </a:p>
          </p:txBody>
        </p:sp>
        <p:sp>
          <p:nvSpPr>
            <p:cNvPr id="24" name="node06.body.item-001.bullets.item-002.marker"/>
            <p:cNvSpPr/>
            <p:nvPr/>
          </p:nvSpPr>
          <p:spPr>
            <a:xfrm>
              <a:off x="4610100" y="3155950"/>
              <a:ext cx="50800" cy="50800"/>
            </a:xfrm>
            <a:prstGeom prst="rect">
              <a:avLst/>
            </a:prstGeom>
            <a:solidFill>
              <a:srgbClr val="070154"/>
            </a:solidFill>
            <a:ln>
              <a:noFill/>
            </a:ln>
          </p:spPr>
        </p:sp>
        <p:sp>
          <p:nvSpPr>
            <p:cNvPr id="25" name="node06.body.item-001.bullets.item-002.text"/>
            <p:cNvSpPr/>
            <p:nvPr/>
          </p:nvSpPr>
          <p:spPr>
            <a:xfrm>
              <a:off x="4800600" y="30480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Stable components stay in place, untouched.</a:t>
              </a:r>
              <a:endParaRPr lang="en-US" sz="1400" spc="0" kern="0" b="0" i="0" dirty="0">
                <a:solidFill>
                  <a:srgbClr val="070154"/>
                </a:solidFill>
                <a:latin typeface="IBM Plex Sans"/>
                <a:ea typeface="IBM Plex Sans"/>
                <a:cs typeface="IBM Plex Sans"/>
              </a:endParaRPr>
            </a:p>
          </p:txBody>
        </p:sp>
        <p:sp>
          <p:nvSpPr>
            <p:cNvPr id="26" name="node06.body.item-001.bullets.item-003.marker"/>
            <p:cNvSpPr/>
            <p:nvPr/>
          </p:nvSpPr>
          <p:spPr>
            <a:xfrm>
              <a:off x="4610100" y="3765550"/>
              <a:ext cx="50800" cy="50800"/>
            </a:xfrm>
            <a:prstGeom prst="rect">
              <a:avLst/>
            </a:prstGeom>
            <a:solidFill>
              <a:srgbClr val="070154"/>
            </a:solidFill>
            <a:ln>
              <a:noFill/>
            </a:ln>
          </p:spPr>
        </p:sp>
        <p:sp>
          <p:nvSpPr>
            <p:cNvPr id="27" name="node06.body.item-001.bullets.item-003.text"/>
            <p:cNvSpPr/>
            <p:nvPr/>
          </p:nvSpPr>
          <p:spPr>
            <a:xfrm>
              <a:off x="4800600" y="36576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architecture fits your portfolio and skills.</a:t>
              </a:r>
              <a:endParaRPr lang="en-US" sz="1400" spc="0" kern="0" b="0" i="0" dirty="0">
                <a:solidFill>
                  <a:srgbClr val="070154"/>
                </a:solidFill>
                <a:latin typeface="IBM Plex Sans"/>
                <a:ea typeface="IBM Plex Sans"/>
                <a:cs typeface="IBM Plex Sans"/>
              </a:endParaRPr>
            </a:p>
          </p:txBody>
        </p:sp>
      </p:grpSp>
      <p:grpSp>
        <p:nvGrpSpPr>
          <p:cNvPr id="53" name="node07"/>
          <p:cNvGrpSpPr/>
          <p:nvPr/>
        </p:nvGrpSpPr>
        <p:grpSpPr>
          <a:xfrm>
            <a:off x="5524500" y="4800600"/>
            <a:ext cx="2286000" cy="1371600"/>
            <a:chOff x="5524500" y="4800600"/>
            <a:chExt cx="2286000" cy="1371600"/>
          </a:xfrm>
        </p:grpSpPr>
        <p:sp>
          <p:nvSpPr>
            <p:cNvPr id="28" name="node07.surface"/>
            <p:cNvSpPr/>
            <p:nvPr/>
          </p:nvSpPr>
          <p:spPr>
            <a:xfrm>
              <a:off x="5524500" y="4800600"/>
              <a:ext cx="2286000" cy="1371600"/>
            </a:xfrm>
            <a:prstGeom prst="rect">
              <a:avLst/>
            </a:prstGeom>
            <a:solidFill>
              <a:srgbClr val="070154"/>
            </a:solidFill>
            <a:ln>
              <a:noFill/>
            </a:ln>
          </p:spPr>
        </p:sp>
      </p:grpSp>
      <p:grpSp>
        <p:nvGrpSpPr>
          <p:cNvPr id="54" name="node08"/>
          <p:cNvGrpSpPr/>
          <p:nvPr/>
        </p:nvGrpSpPr>
        <p:grpSpPr>
          <a:xfrm>
            <a:off x="5753100" y="5029200"/>
            <a:ext cx="1828800" cy="152400"/>
            <a:chOff x="5753100" y="5029200"/>
            <a:chExt cx="1828800" cy="152400"/>
          </a:xfrm>
        </p:grpSpPr>
        <p:sp>
          <p:nvSpPr>
            <p:cNvPr id="29" name="node08.text"/>
            <p:cNvSpPr/>
            <p:nvPr/>
          </p:nvSpPr>
          <p:spPr>
            <a:xfrm>
              <a:off x="57531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55" name="node09"/>
          <p:cNvGrpSpPr/>
          <p:nvPr/>
        </p:nvGrpSpPr>
        <p:grpSpPr>
          <a:xfrm>
            <a:off x="5753100" y="5257800"/>
            <a:ext cx="1828800" cy="685800"/>
            <a:chOff x="5753100" y="5257800"/>
            <a:chExt cx="1828800" cy="685800"/>
          </a:xfrm>
        </p:grpSpPr>
        <p:sp>
          <p:nvSpPr>
            <p:cNvPr id="30" name="node09.text"/>
            <p:cNvSpPr/>
            <p:nvPr/>
          </p:nvSpPr>
          <p:spPr>
            <a:xfrm>
              <a:off x="57531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You keep what works and replace only what drives value.</a:t>
              </a:r>
              <a:endParaRPr lang="en-US" sz="1200" spc="0" kern="0" b="0" i="0" dirty="0">
                <a:solidFill>
                  <a:srgbClr val="FFFFFF"/>
                </a:solidFill>
                <a:latin typeface="IBM Plex Sans"/>
                <a:ea typeface="IBM Plex Sans"/>
                <a:cs typeface="IBM Plex Sans"/>
              </a:endParaRPr>
            </a:p>
          </p:txBody>
        </p:sp>
      </p:grpSp>
      <p:grpSp>
        <p:nvGrpSpPr>
          <p:cNvPr id="56" name="node10"/>
          <p:cNvGrpSpPr/>
          <p:nvPr/>
        </p:nvGrpSpPr>
        <p:grpSpPr>
          <a:xfrm>
            <a:off x="4610100" y="4597400"/>
            <a:ext cx="685800" cy="842827"/>
            <a:chOff x="4610100" y="4597400"/>
            <a:chExt cx="685800" cy="842827"/>
          </a:xfrm>
        </p:grpSpPr>
        <p:pic>
          <p:nvPicPr>
            <p:cNvPr id="31" name="node10.mark" descr="arrow-right-angle; canonical SHA256=40758c6ab857749af6c80f96e495dbdf2a4d76e38bc96cc28fa877b01fcb9c03; resolved ink=070154">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10100" y="4597400"/>
              <a:ext cx="685800" cy="842827"/>
            </a:xfrm>
            <a:prstGeom prst="rect">
              <a:avLst/>
            </a:prstGeom>
          </p:spPr>
        </p:pic>
      </p:grpSp>
      <p:grpSp>
        <p:nvGrpSpPr>
          <p:cNvPr id="58" name="node11"/>
          <p:cNvGrpSpPr/>
          <p:nvPr/>
        </p:nvGrpSpPr>
        <p:grpSpPr>
          <a:xfrm>
            <a:off x="8039100" y="1600200"/>
            <a:ext cx="3429000" cy="2971800"/>
            <a:chOff x="8039100" y="1600200"/>
            <a:chExt cx="3429000" cy="2971800"/>
          </a:xfrm>
        </p:grpSpPr>
        <p:sp>
          <p:nvSpPr>
            <p:cNvPr id="32" name="node11.container"/>
            <p:cNvSpPr/>
            <p:nvPr/>
          </p:nvSpPr>
          <p:spPr>
            <a:xfrm>
              <a:off x="8039100" y="1600200"/>
              <a:ext cx="3429000" cy="2971800"/>
            </a:xfrm>
            <a:prstGeom prst="rect">
              <a:avLst/>
            </a:prstGeom>
            <a:solidFill>
              <a:srgbClr val="E8EEF8"/>
            </a:solidFill>
            <a:ln>
              <a:noFill/>
            </a:ln>
          </p:spPr>
        </p:sp>
        <p:grpSp>
          <p:nvGrpSpPr>
            <p:cNvPr id="57" name="node11.icon"/>
            <p:cNvGrpSpPr/>
            <p:nvPr/>
          </p:nvGrpSpPr>
          <p:grpSpPr>
            <a:xfrm>
              <a:off x="8267700" y="1828800"/>
              <a:ext cx="457200" cy="457200"/>
              <a:chOff x="8267700" y="1828800"/>
              <a:chExt cx="457200" cy="457200"/>
            </a:xfrm>
          </p:grpSpPr>
          <p:pic>
            <p:nvPicPr>
              <p:cNvPr id="33" name="node11.icon.image" descr="icon/ai-chip-orbit/navy; canonical SHA256=14a43f66d8a5b8ac5942dde8e905dedb2ae681de3a803ebf66fb1cacc34ccd3a">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67700" y="1828800"/>
                <a:ext cx="457200" cy="457200"/>
              </a:xfrm>
              <a:prstGeom prst="rect">
                <a:avLst/>
              </a:prstGeom>
            </p:spPr>
          </p:pic>
        </p:grpSp>
        <p:sp>
          <p:nvSpPr>
            <p:cNvPr id="34" name="node11.title"/>
            <p:cNvSpPr/>
            <p:nvPr/>
          </p:nvSpPr>
          <p:spPr>
            <a:xfrm>
              <a:off x="88773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AI accelerated</a:t>
              </a:r>
              <a:endParaRPr lang="en-US" sz="1800" spc="-18" kern="0" b="0" i="0" dirty="0">
                <a:solidFill>
                  <a:srgbClr val="0047FF"/>
                </a:solidFill>
                <a:latin typeface="IBM Plex Sans SemiBold"/>
                <a:ea typeface="IBM Plex Sans SemiBold"/>
                <a:cs typeface="IBM Plex Sans SemiBold"/>
              </a:endParaRPr>
            </a:p>
          </p:txBody>
        </p:sp>
        <p:sp>
          <p:nvSpPr>
            <p:cNvPr id="35" name="node11.body.item-001.bullets.item-001.marker"/>
            <p:cNvSpPr/>
            <p:nvPr/>
          </p:nvSpPr>
          <p:spPr>
            <a:xfrm>
              <a:off x="8267700" y="2546350"/>
              <a:ext cx="50800" cy="50800"/>
            </a:xfrm>
            <a:prstGeom prst="rect">
              <a:avLst/>
            </a:prstGeom>
            <a:solidFill>
              <a:srgbClr val="070154"/>
            </a:solidFill>
            <a:ln>
              <a:noFill/>
            </a:ln>
          </p:spPr>
        </p:sp>
        <p:sp>
          <p:nvSpPr>
            <p:cNvPr id="36" name="node11.body.item-001.bullets.item-001.text"/>
            <p:cNvSpPr/>
            <p:nvPr/>
          </p:nvSpPr>
          <p:spPr>
            <a:xfrm>
              <a:off x="8458200" y="24384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Agents scan and map codebases at scale.</a:t>
              </a:r>
              <a:endParaRPr lang="en-US" sz="1400" spc="0" kern="0" b="0" i="0" dirty="0">
                <a:solidFill>
                  <a:srgbClr val="070154"/>
                </a:solidFill>
                <a:latin typeface="IBM Plex Sans"/>
                <a:ea typeface="IBM Plex Sans"/>
                <a:cs typeface="IBM Plex Sans"/>
              </a:endParaRPr>
            </a:p>
          </p:txBody>
        </p:sp>
        <p:sp>
          <p:nvSpPr>
            <p:cNvPr id="37" name="node11.body.item-001.bullets.item-002.marker"/>
            <p:cNvSpPr/>
            <p:nvPr/>
          </p:nvSpPr>
          <p:spPr>
            <a:xfrm>
              <a:off x="8267700" y="3155950"/>
              <a:ext cx="50800" cy="50800"/>
            </a:xfrm>
            <a:prstGeom prst="rect">
              <a:avLst/>
            </a:prstGeom>
            <a:solidFill>
              <a:srgbClr val="070154"/>
            </a:solidFill>
            <a:ln>
              <a:noFill/>
            </a:ln>
          </p:spPr>
        </p:sp>
        <p:sp>
          <p:nvSpPr>
            <p:cNvPr id="38" name="node11.body.item-001.bullets.item-002.text"/>
            <p:cNvSpPr/>
            <p:nvPr/>
          </p:nvSpPr>
          <p:spPr>
            <a:xfrm>
              <a:off x="8458200" y="30480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Dependencies and dead code surface in days.</a:t>
              </a:r>
              <a:endParaRPr lang="en-US" sz="1400" spc="0" kern="0" b="0" i="0" dirty="0">
                <a:solidFill>
                  <a:srgbClr val="070154"/>
                </a:solidFill>
                <a:latin typeface="IBM Plex Sans"/>
                <a:ea typeface="IBM Plex Sans"/>
                <a:cs typeface="IBM Plex Sans"/>
              </a:endParaRPr>
            </a:p>
          </p:txBody>
        </p:sp>
        <p:sp>
          <p:nvSpPr>
            <p:cNvPr id="39" name="node11.body.item-001.bullets.item-003.marker"/>
            <p:cNvSpPr/>
            <p:nvPr/>
          </p:nvSpPr>
          <p:spPr>
            <a:xfrm>
              <a:off x="8267700" y="3765550"/>
              <a:ext cx="50800" cy="50800"/>
            </a:xfrm>
            <a:prstGeom prst="rect">
              <a:avLst/>
            </a:prstGeom>
            <a:solidFill>
              <a:srgbClr val="070154"/>
            </a:solidFill>
            <a:ln>
              <a:noFill/>
            </a:ln>
          </p:spPr>
        </p:sp>
        <p:sp>
          <p:nvSpPr>
            <p:cNvPr id="40" name="node11.body.item-001.bullets.item-003.text"/>
            <p:cNvSpPr/>
            <p:nvPr/>
          </p:nvSpPr>
          <p:spPr>
            <a:xfrm>
              <a:off x="8458200" y="36576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Generated tests and docs back each change.</a:t>
              </a:r>
              <a:endParaRPr lang="en-US" sz="1400" spc="0" kern="0" b="0" i="0" dirty="0">
                <a:solidFill>
                  <a:srgbClr val="070154"/>
                </a:solidFill>
                <a:latin typeface="IBM Plex Sans"/>
                <a:ea typeface="IBM Plex Sans"/>
                <a:cs typeface="IBM Plex Sans"/>
              </a:endParaRPr>
            </a:p>
          </p:txBody>
        </p:sp>
      </p:grpSp>
      <p:grpSp>
        <p:nvGrpSpPr>
          <p:cNvPr id="59" name="node12"/>
          <p:cNvGrpSpPr/>
          <p:nvPr/>
        </p:nvGrpSpPr>
        <p:grpSpPr>
          <a:xfrm>
            <a:off x="9182100" y="4800600"/>
            <a:ext cx="2286000" cy="1371600"/>
            <a:chOff x="9182100" y="4800600"/>
            <a:chExt cx="2286000" cy="1371600"/>
          </a:xfrm>
        </p:grpSpPr>
        <p:sp>
          <p:nvSpPr>
            <p:cNvPr id="41" name="node12.surface"/>
            <p:cNvSpPr/>
            <p:nvPr/>
          </p:nvSpPr>
          <p:spPr>
            <a:xfrm>
              <a:off x="9182100" y="4800600"/>
              <a:ext cx="2286000" cy="1371600"/>
            </a:xfrm>
            <a:prstGeom prst="rect">
              <a:avLst/>
            </a:prstGeom>
            <a:solidFill>
              <a:srgbClr val="070154"/>
            </a:solidFill>
            <a:ln>
              <a:noFill/>
            </a:ln>
          </p:spPr>
        </p:sp>
      </p:grpSp>
      <p:grpSp>
        <p:nvGrpSpPr>
          <p:cNvPr id="60" name="node13"/>
          <p:cNvGrpSpPr/>
          <p:nvPr/>
        </p:nvGrpSpPr>
        <p:grpSpPr>
          <a:xfrm>
            <a:off x="9410700" y="5029200"/>
            <a:ext cx="1828800" cy="152400"/>
            <a:chOff x="9410700" y="5029200"/>
            <a:chExt cx="1828800" cy="152400"/>
          </a:xfrm>
        </p:grpSpPr>
        <p:sp>
          <p:nvSpPr>
            <p:cNvPr id="42" name="node13.text"/>
            <p:cNvSpPr/>
            <p:nvPr/>
          </p:nvSpPr>
          <p:spPr>
            <a:xfrm>
              <a:off x="94107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1" name="node14"/>
          <p:cNvGrpSpPr/>
          <p:nvPr/>
        </p:nvGrpSpPr>
        <p:grpSpPr>
          <a:xfrm>
            <a:off x="9410700" y="5257800"/>
            <a:ext cx="1828800" cy="685800"/>
            <a:chOff x="9410700" y="5257800"/>
            <a:chExt cx="1828800" cy="685800"/>
          </a:xfrm>
        </p:grpSpPr>
        <p:sp>
          <p:nvSpPr>
            <p:cNvPr id="43" name="node14.text"/>
            <p:cNvSpPr/>
            <p:nvPr/>
          </p:nvSpPr>
          <p:spPr>
            <a:xfrm>
              <a:off x="94107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Months of analysis shrink to days, with less tribal knowledge.</a:t>
              </a:r>
              <a:endParaRPr lang="en-US" sz="1200" spc="0" kern="0" b="0" i="0" dirty="0">
                <a:solidFill>
                  <a:srgbClr val="FFFFFF"/>
                </a:solidFill>
                <a:latin typeface="IBM Plex Sans"/>
                <a:ea typeface="IBM Plex Sans"/>
                <a:cs typeface="IBM Plex Sans"/>
              </a:endParaRPr>
            </a:p>
          </p:txBody>
        </p:sp>
      </p:grpSp>
      <p:grpSp>
        <p:nvGrpSpPr>
          <p:cNvPr id="62" name="node15"/>
          <p:cNvGrpSpPr/>
          <p:nvPr/>
        </p:nvGrpSpPr>
        <p:grpSpPr>
          <a:xfrm>
            <a:off x="8267700" y="4597400"/>
            <a:ext cx="685800" cy="842827"/>
            <a:chOff x="8267700" y="4597400"/>
            <a:chExt cx="685800" cy="842827"/>
          </a:xfrm>
        </p:grpSpPr>
        <p:pic>
          <p:nvPicPr>
            <p:cNvPr id="44" name="node15.mark" descr="arrow-right-angle; canonical SHA256=40758c6ab857749af6c80f96e495dbdf2a4d76e38bc96cc28fa877b01fcb9c03; resolved ink=070154">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67700" y="4597400"/>
              <a:ext cx="685800" cy="842827"/>
            </a:xfrm>
            <a:prstGeom prst="rect">
              <a:avLst/>
            </a:prstGeom>
          </p:spPr>
        </p:pic>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ource-37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54</a:t>
            </a:fld>
            <a:endParaRPr lang="en-US" sz="700" spc="0" kern="0" b="0" i="0" dirty="0">
              <a:solidFill>
                <a:srgbClr val="070154"/>
              </a:solidFill>
              <a:latin typeface="IBM Plex Mono SemiBold"/>
              <a:ea typeface="IBM Plex Mono SemiBold"/>
              <a:cs typeface="IBM Plex Mono SemiBold"/>
            </a:endParaRPr>
          </a:p>
        </p:txBody>
      </p:sp>
      <p:grpSp>
        <p:nvGrpSpPr>
          <p:cNvPr id="58" name="node01"/>
          <p:cNvGrpSpPr/>
          <p:nvPr/>
        </p:nvGrpSpPr>
        <p:grpSpPr>
          <a:xfrm>
            <a:off x="723900" y="1600200"/>
            <a:ext cx="3200400" cy="3429000"/>
            <a:chOff x="723900" y="1600200"/>
            <a:chExt cx="3200400" cy="3429000"/>
          </a:xfrm>
        </p:grpSpPr>
        <p:sp>
          <p:nvSpPr>
            <p:cNvPr id="6" name="node01.container"/>
            <p:cNvSpPr/>
            <p:nvPr/>
          </p:nvSpPr>
          <p:spPr>
            <a:xfrm>
              <a:off x="723900" y="1600200"/>
              <a:ext cx="3200400" cy="3429000"/>
            </a:xfrm>
            <a:prstGeom prst="rect">
              <a:avLst/>
            </a:prstGeom>
            <a:solidFill>
              <a:srgbClr val="E8EEF8"/>
            </a:solidFill>
            <a:ln>
              <a:noFill/>
            </a:ln>
          </p:spPr>
        </p:sp>
        <p:grpSp>
          <p:nvGrpSpPr>
            <p:cNvPr id="57" name="node01.icon"/>
            <p:cNvGrpSpPr/>
            <p:nvPr/>
          </p:nvGrpSpPr>
          <p:grpSpPr>
            <a:xfrm>
              <a:off x="952500" y="1828800"/>
              <a:ext cx="457200" cy="457200"/>
              <a:chOff x="952500" y="1828800"/>
              <a:chExt cx="457200" cy="457200"/>
            </a:xfrm>
          </p:grpSpPr>
          <p:pic>
            <p:nvPicPr>
              <p:cNvPr id="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1828800"/>
                <a:ext cx="457200" cy="457200"/>
              </a:xfrm>
              <a:prstGeom prst="rect">
                <a:avLst/>
              </a:prstGeom>
            </p:spPr>
          </p:pic>
        </p:grpSp>
        <p:sp>
          <p:nvSpPr>
            <p:cNvPr id="8" name="node01.title"/>
            <p:cNvSpPr/>
            <p:nvPr/>
          </p:nvSpPr>
          <p:spPr>
            <a:xfrm>
              <a:off x="1562100" y="1828800"/>
              <a:ext cx="2133600" cy="228600"/>
            </a:xfrm>
            <a:prstGeom prst="rect">
              <a:avLst/>
            </a:prstGeom>
            <a:noFill/>
            <a:ln/>
          </p:spPr>
          <p:txBody>
            <a:bodyPr wrap="square" lIns="0" tIns="0" rIns="0" bIns="0" rtlCol="0" anchor="t"/>
            <a:lstStyle/>
            <a:p>
              <a:pPr algn="l" indent="0" marL="0">
                <a:lnSpc>
                  <a:spcPts val="1800"/>
                </a:lnSpc>
                <a:buNone/>
              </a:pPr>
              <a:r>
                <a:rPr lang="en-US" sz="1400" spc="-14" kern="0" b="0" i="0" dirty="0">
                  <a:solidFill>
                    <a:srgbClr val="0047FF"/>
                  </a:solidFill>
                  <a:latin typeface="IBM Plex Sans SemiBold"/>
                  <a:ea typeface="IBM Plex Sans SemiBold"/>
                  <a:cs typeface="IBM Plex Sans SemiBold"/>
                </a:rPr>
                <a:t>Value first</a:t>
              </a:r>
              <a:endParaRPr lang="en-US" sz="1400" spc="-14" kern="0" b="0" i="0" dirty="0">
                <a:solidFill>
                  <a:srgbClr val="0047FF"/>
                </a:solidFill>
                <a:latin typeface="IBM Plex Sans SemiBold"/>
                <a:ea typeface="IBM Plex Sans SemiBold"/>
                <a:cs typeface="IBM Plex Sans SemiBold"/>
              </a:endParaRPr>
            </a:p>
          </p:txBody>
        </p:sp>
        <p:sp>
          <p:nvSpPr>
            <p:cNvPr id="9" name="node01.body.item-001.bullets.item-001.marker"/>
            <p:cNvSpPr/>
            <p:nvPr/>
          </p:nvSpPr>
          <p:spPr>
            <a:xfrm>
              <a:off x="952500" y="2514600"/>
              <a:ext cx="38100" cy="38100"/>
            </a:xfrm>
            <a:prstGeom prst="rect">
              <a:avLst/>
            </a:prstGeom>
            <a:solidFill>
              <a:srgbClr val="070154"/>
            </a:solidFill>
            <a:ln>
              <a:noFill/>
            </a:ln>
          </p:spPr>
        </p:sp>
        <p:sp>
          <p:nvSpPr>
            <p:cNvPr id="10" name="node01.body.item-001.bullets.item-001.text"/>
            <p:cNvSpPr/>
            <p:nvPr/>
          </p:nvSpPr>
          <p:spPr>
            <a:xfrm>
              <a:off x="1092200" y="2438400"/>
              <a:ext cx="26035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Ranked by value.</a:t>
              </a:r>
              <a:r>
                <a:rPr lang="en-US" sz="1100" spc="0" kern="0" b="0" i="0" dirty="0">
                  <a:solidFill>
                    <a:srgbClr val="50658E"/>
                  </a:solidFill>
                  <a:latin typeface="IBM Plex Sans"/>
                  <a:ea typeface="IBM Plex Sans"/>
                  <a:cs typeface="IBM Plex Sans"/>
                </a:rPr>
                <a:t xml:space="preserve"> Cost, risk and revenue exposure scored per system.</a:t>
              </a:r>
              <a:endParaRPr lang="en-US" sz="1100" spc="0" kern="0" b="0" i="0" dirty="0">
                <a:solidFill>
                  <a:srgbClr val="070154"/>
                </a:solidFill>
                <a:latin typeface="IBM Plex Sans"/>
                <a:ea typeface="IBM Plex Sans"/>
                <a:cs typeface="IBM Plex Sans"/>
              </a:endParaRPr>
            </a:p>
          </p:txBody>
        </p:sp>
        <p:sp>
          <p:nvSpPr>
            <p:cNvPr id="11" name="node01.body.item-001.bullets.item-002.marker"/>
            <p:cNvSpPr/>
            <p:nvPr/>
          </p:nvSpPr>
          <p:spPr>
            <a:xfrm>
              <a:off x="952500" y="2921000"/>
              <a:ext cx="38100" cy="38100"/>
            </a:xfrm>
            <a:prstGeom prst="rect">
              <a:avLst/>
            </a:prstGeom>
            <a:solidFill>
              <a:srgbClr val="070154"/>
            </a:solidFill>
            <a:ln>
              <a:noFill/>
            </a:ln>
          </p:spPr>
        </p:sp>
        <p:sp>
          <p:nvSpPr>
            <p:cNvPr id="12" name="node01.body.item-001.bullets.item-002.text"/>
            <p:cNvSpPr/>
            <p:nvPr/>
          </p:nvSpPr>
          <p:spPr>
            <a:xfrm>
              <a:off x="1092200" y="2844800"/>
              <a:ext cx="26035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Quick wins first.</a:t>
              </a:r>
              <a:r>
                <a:rPr lang="en-US" sz="1100" spc="0" kern="0" b="0" i="0" dirty="0">
                  <a:solidFill>
                    <a:srgbClr val="50658E"/>
                  </a:solidFill>
                  <a:latin typeface="IBM Plex Sans"/>
                  <a:ea typeface="IBM Plex Sans"/>
                  <a:cs typeface="IBM Plex Sans"/>
                </a:rPr>
                <a:t xml:space="preserve"> Fund later waves.</a:t>
              </a:r>
              <a:endParaRPr lang="en-US" sz="1100" spc="0" kern="0" b="0" i="0" dirty="0">
                <a:solidFill>
                  <a:srgbClr val="070154"/>
                </a:solidFill>
                <a:latin typeface="IBM Plex Sans"/>
                <a:ea typeface="IBM Plex Sans"/>
                <a:cs typeface="IBM Plex Sans"/>
              </a:endParaRPr>
            </a:p>
          </p:txBody>
        </p:sp>
        <p:sp>
          <p:nvSpPr>
            <p:cNvPr id="13" name="node01.body.item-001.bullets.item-003.marker"/>
            <p:cNvSpPr/>
            <p:nvPr/>
          </p:nvSpPr>
          <p:spPr>
            <a:xfrm>
              <a:off x="952500" y="3136900"/>
              <a:ext cx="38100" cy="38100"/>
            </a:xfrm>
            <a:prstGeom prst="rect">
              <a:avLst/>
            </a:prstGeom>
            <a:solidFill>
              <a:srgbClr val="070154"/>
            </a:solidFill>
            <a:ln>
              <a:noFill/>
            </a:ln>
          </p:spPr>
        </p:sp>
        <p:sp>
          <p:nvSpPr>
            <p:cNvPr id="14" name="node01.body.item-001.bullets.item-003.text"/>
            <p:cNvSpPr/>
            <p:nvPr/>
          </p:nvSpPr>
          <p:spPr>
            <a:xfrm>
              <a:off x="1092200" y="3060700"/>
              <a:ext cx="26035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Dependencies weighed.</a:t>
              </a:r>
              <a:r>
                <a:rPr lang="en-US" sz="1100" spc="0" kern="0" b="0" i="0" dirty="0">
                  <a:solidFill>
                    <a:srgbClr val="50658E"/>
                  </a:solidFill>
                  <a:latin typeface="IBM Plex Sans"/>
                  <a:ea typeface="IBM Plex Sans"/>
                  <a:cs typeface="IBM Plex Sans"/>
                </a:rPr>
                <a:t xml:space="preserve"> Complexity enters every sequencing call.</a:t>
              </a:r>
              <a:endParaRPr lang="en-US" sz="1100" spc="0" kern="0" b="0" i="0" dirty="0">
                <a:solidFill>
                  <a:srgbClr val="070154"/>
                </a:solidFill>
                <a:latin typeface="IBM Plex Sans"/>
                <a:ea typeface="IBM Plex Sans"/>
                <a:cs typeface="IBM Plex Sans"/>
              </a:endParaRPr>
            </a:p>
          </p:txBody>
        </p:sp>
        <p:sp>
          <p:nvSpPr>
            <p:cNvPr id="15" name="node01.body.item-001.bullets.item-004.marker"/>
            <p:cNvSpPr/>
            <p:nvPr/>
          </p:nvSpPr>
          <p:spPr>
            <a:xfrm>
              <a:off x="952500" y="3543300"/>
              <a:ext cx="38100" cy="38100"/>
            </a:xfrm>
            <a:prstGeom prst="rect">
              <a:avLst/>
            </a:prstGeom>
            <a:solidFill>
              <a:srgbClr val="070154"/>
            </a:solidFill>
            <a:ln>
              <a:noFill/>
            </a:ln>
          </p:spPr>
        </p:sp>
        <p:sp>
          <p:nvSpPr>
            <p:cNvPr id="16" name="node01.body.item-001.bullets.item-004.text"/>
            <p:cNvSpPr/>
            <p:nvPr/>
          </p:nvSpPr>
          <p:spPr>
            <a:xfrm>
              <a:off x="1092200" y="3467100"/>
              <a:ext cx="26035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Per release.</a:t>
              </a:r>
              <a:r>
                <a:rPr lang="en-US" sz="1100" spc="0" kern="0" b="0" i="0" dirty="0">
                  <a:solidFill>
                    <a:srgbClr val="50658E"/>
                  </a:solidFill>
                  <a:latin typeface="IBM Plex Sans"/>
                  <a:ea typeface="IBM Plex Sans"/>
                  <a:cs typeface="IBM Plex Sans"/>
                </a:rPr>
                <a:t xml:space="preserve"> Value measured.</a:t>
              </a:r>
              <a:endParaRPr lang="en-US" sz="1100" spc="0" kern="0" b="0" i="0" dirty="0">
                <a:solidFill>
                  <a:srgbClr val="070154"/>
                </a:solidFill>
                <a:latin typeface="IBM Plex Sans"/>
                <a:ea typeface="IBM Plex Sans"/>
                <a:cs typeface="IBM Plex Sans"/>
              </a:endParaRPr>
            </a:p>
          </p:txBody>
        </p:sp>
        <p:sp>
          <p:nvSpPr>
            <p:cNvPr id="17" name="node01.body.item-001.bullets.item-005.marker"/>
            <p:cNvSpPr/>
            <p:nvPr/>
          </p:nvSpPr>
          <p:spPr>
            <a:xfrm>
              <a:off x="952500" y="3759200"/>
              <a:ext cx="38100" cy="38100"/>
            </a:xfrm>
            <a:prstGeom prst="rect">
              <a:avLst/>
            </a:prstGeom>
            <a:solidFill>
              <a:srgbClr val="070154"/>
            </a:solidFill>
            <a:ln>
              <a:noFill/>
            </a:ln>
          </p:spPr>
        </p:sp>
        <p:sp>
          <p:nvSpPr>
            <p:cNvPr id="18" name="node01.body.item-001.bullets.item-005.text"/>
            <p:cNvSpPr/>
            <p:nvPr/>
          </p:nvSpPr>
          <p:spPr>
            <a:xfrm>
              <a:off x="1092200" y="3683000"/>
              <a:ext cx="26035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Business owned.</a:t>
              </a:r>
              <a:r>
                <a:rPr lang="en-US" sz="1100" spc="0" kern="0" b="0" i="0" dirty="0">
                  <a:solidFill>
                    <a:srgbClr val="50658E"/>
                  </a:solidFill>
                  <a:latin typeface="IBM Plex Sans"/>
                  <a:ea typeface="IBM Plex Sans"/>
                  <a:cs typeface="IBM Plex Sans"/>
                </a:rPr>
                <a:t xml:space="preserve"> Quarterly sign-off.</a:t>
              </a:r>
              <a:endParaRPr lang="en-US" sz="1100" spc="0" kern="0" b="0" i="0" dirty="0">
                <a:solidFill>
                  <a:srgbClr val="070154"/>
                </a:solidFill>
                <a:latin typeface="IBM Plex Sans"/>
                <a:ea typeface="IBM Plex Sans"/>
                <a:cs typeface="IBM Plex Sans"/>
              </a:endParaRPr>
            </a:p>
          </p:txBody>
        </p:sp>
      </p:grpSp>
      <p:grpSp>
        <p:nvGrpSpPr>
          <p:cNvPr id="59" name="node02"/>
          <p:cNvGrpSpPr/>
          <p:nvPr/>
        </p:nvGrpSpPr>
        <p:grpSpPr>
          <a:xfrm>
            <a:off x="1866900" y="4800600"/>
            <a:ext cx="2286000" cy="1371600"/>
            <a:chOff x="1866900" y="4800600"/>
            <a:chExt cx="2286000" cy="1371600"/>
          </a:xfrm>
        </p:grpSpPr>
        <p:sp>
          <p:nvSpPr>
            <p:cNvPr id="19" name="node02.surface"/>
            <p:cNvSpPr/>
            <p:nvPr/>
          </p:nvSpPr>
          <p:spPr>
            <a:xfrm>
              <a:off x="1866900" y="4800600"/>
              <a:ext cx="2286000" cy="1371600"/>
            </a:xfrm>
            <a:prstGeom prst="rect">
              <a:avLst/>
            </a:prstGeom>
            <a:solidFill>
              <a:srgbClr val="070154"/>
            </a:solidFill>
            <a:ln>
              <a:noFill/>
            </a:ln>
          </p:spPr>
        </p:sp>
      </p:grpSp>
      <p:grpSp>
        <p:nvGrpSpPr>
          <p:cNvPr id="60" name="node03"/>
          <p:cNvGrpSpPr/>
          <p:nvPr/>
        </p:nvGrpSpPr>
        <p:grpSpPr>
          <a:xfrm>
            <a:off x="2095500" y="5029200"/>
            <a:ext cx="1828800" cy="127000"/>
            <a:chOff x="2095500" y="5029200"/>
            <a:chExt cx="1828800" cy="127000"/>
          </a:xfrm>
        </p:grpSpPr>
        <p:sp>
          <p:nvSpPr>
            <p:cNvPr id="20" name="node03.text"/>
            <p:cNvSpPr/>
            <p:nvPr/>
          </p:nvSpPr>
          <p:spPr>
            <a:xfrm>
              <a:off x="2095500" y="5029200"/>
              <a:ext cx="18288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61" name="node04"/>
          <p:cNvGrpSpPr/>
          <p:nvPr/>
        </p:nvGrpSpPr>
        <p:grpSpPr>
          <a:xfrm>
            <a:off x="2095500" y="5257800"/>
            <a:ext cx="1828800" cy="495300"/>
            <a:chOff x="2095500" y="5257800"/>
            <a:chExt cx="1828800" cy="495300"/>
          </a:xfrm>
        </p:grpSpPr>
        <p:sp>
          <p:nvSpPr>
            <p:cNvPr id="21" name="node04.text"/>
            <p:cNvSpPr/>
            <p:nvPr/>
          </p:nvSpPr>
          <p:spPr>
            <a:xfrm>
              <a:off x="2095500" y="5257800"/>
              <a:ext cx="1828800" cy="4953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FFFFFF"/>
                  </a:solidFill>
                  <a:latin typeface="IBM Plex Sans"/>
                  <a:ea typeface="IBM Plex Sans"/>
                  <a:cs typeface="IBM Plex Sans"/>
                </a:rPr>
                <a:t>Effort goes where return is highest, so promised value lands.</a:t>
              </a:r>
              <a:endParaRPr lang="en-US" sz="1000" spc="0" kern="0" b="0" i="0" dirty="0">
                <a:solidFill>
                  <a:srgbClr val="FFFFFF"/>
                </a:solidFill>
                <a:latin typeface="IBM Plex Sans"/>
                <a:ea typeface="IBM Plex Sans"/>
                <a:cs typeface="IBM Plex Sans"/>
              </a:endParaRPr>
            </a:p>
          </p:txBody>
        </p:sp>
      </p:grpSp>
      <p:grpSp>
        <p:nvGrpSpPr>
          <p:cNvPr id="63" name="node05"/>
          <p:cNvGrpSpPr/>
          <p:nvPr/>
        </p:nvGrpSpPr>
        <p:grpSpPr>
          <a:xfrm>
            <a:off x="4381500" y="1600200"/>
            <a:ext cx="3200400" cy="3429000"/>
            <a:chOff x="4381500" y="1600200"/>
            <a:chExt cx="3200400" cy="3429000"/>
          </a:xfrm>
        </p:grpSpPr>
        <p:sp>
          <p:nvSpPr>
            <p:cNvPr id="22" name="node05.container"/>
            <p:cNvSpPr/>
            <p:nvPr/>
          </p:nvSpPr>
          <p:spPr>
            <a:xfrm>
              <a:off x="4381500" y="1600200"/>
              <a:ext cx="3200400" cy="3429000"/>
            </a:xfrm>
            <a:prstGeom prst="rect">
              <a:avLst/>
            </a:prstGeom>
            <a:solidFill>
              <a:srgbClr val="E8EEF8"/>
            </a:solidFill>
            <a:ln>
              <a:noFill/>
            </a:ln>
          </p:spPr>
        </p:sp>
        <p:grpSp>
          <p:nvGrpSpPr>
            <p:cNvPr id="62" name="node05.icon"/>
            <p:cNvGrpSpPr/>
            <p:nvPr/>
          </p:nvGrpSpPr>
          <p:grpSpPr>
            <a:xfrm>
              <a:off x="4610100" y="1828800"/>
              <a:ext cx="457200" cy="457200"/>
              <a:chOff x="4610100" y="1828800"/>
              <a:chExt cx="457200" cy="457200"/>
            </a:xfrm>
          </p:grpSpPr>
          <p:pic>
            <p:nvPicPr>
              <p:cNvPr id="23" name="node05.icon.image" descr="icon/strategy-route/navy; canonical SHA256=763a15166fefc06f84edb42452bdf8fbb13cc97295a2599a2fc99a950f7f95d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0100" y="1828800"/>
                <a:ext cx="457200" cy="457200"/>
              </a:xfrm>
              <a:prstGeom prst="rect">
                <a:avLst/>
              </a:prstGeom>
            </p:spPr>
          </p:pic>
        </p:grpSp>
        <p:sp>
          <p:nvSpPr>
            <p:cNvPr id="24" name="node05.title"/>
            <p:cNvSpPr/>
            <p:nvPr/>
          </p:nvSpPr>
          <p:spPr>
            <a:xfrm>
              <a:off x="5219700" y="1828800"/>
              <a:ext cx="2133600" cy="228600"/>
            </a:xfrm>
            <a:prstGeom prst="rect">
              <a:avLst/>
            </a:prstGeom>
            <a:noFill/>
            <a:ln/>
          </p:spPr>
          <p:txBody>
            <a:bodyPr wrap="square" lIns="0" tIns="0" rIns="0" bIns="0" rtlCol="0" anchor="t"/>
            <a:lstStyle/>
            <a:p>
              <a:pPr algn="l" indent="0" marL="0">
                <a:lnSpc>
                  <a:spcPts val="1800"/>
                </a:lnSpc>
                <a:buNone/>
              </a:pPr>
              <a:r>
                <a:rPr lang="en-US" sz="1400" spc="-14" kern="0" b="0" i="0" dirty="0">
                  <a:solidFill>
                    <a:srgbClr val="0047FF"/>
                  </a:solidFill>
                  <a:latin typeface="IBM Plex Sans SemiBold"/>
                  <a:ea typeface="IBM Plex Sans SemiBold"/>
                  <a:cs typeface="IBM Plex Sans SemiBold"/>
                </a:rPr>
                <a:t>Purpose built</a:t>
              </a:r>
              <a:endParaRPr lang="en-US" sz="1400" spc="-14" kern="0" b="0" i="0" dirty="0">
                <a:solidFill>
                  <a:srgbClr val="0047FF"/>
                </a:solidFill>
                <a:latin typeface="IBM Plex Sans SemiBold"/>
                <a:ea typeface="IBM Plex Sans SemiBold"/>
                <a:cs typeface="IBM Plex Sans SemiBold"/>
              </a:endParaRPr>
            </a:p>
          </p:txBody>
        </p:sp>
        <p:sp>
          <p:nvSpPr>
            <p:cNvPr id="25" name="node05.body.item-001.bullets.item-001.marker"/>
            <p:cNvSpPr/>
            <p:nvPr/>
          </p:nvSpPr>
          <p:spPr>
            <a:xfrm>
              <a:off x="4610100" y="2514600"/>
              <a:ext cx="38100" cy="38100"/>
            </a:xfrm>
            <a:prstGeom prst="rect">
              <a:avLst/>
            </a:prstGeom>
            <a:solidFill>
              <a:srgbClr val="070154"/>
            </a:solidFill>
            <a:ln>
              <a:noFill/>
            </a:ln>
          </p:spPr>
        </p:sp>
        <p:sp>
          <p:nvSpPr>
            <p:cNvPr id="26" name="node05.body.item-001.bullets.item-001.text"/>
            <p:cNvSpPr/>
            <p:nvPr/>
          </p:nvSpPr>
          <p:spPr>
            <a:xfrm>
              <a:off x="4749800" y="2438400"/>
              <a:ext cx="26035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Four paths.</a:t>
              </a:r>
              <a:r>
                <a:rPr lang="en-US" sz="1100" spc="0" kern="0" b="0" i="0" dirty="0">
                  <a:solidFill>
                    <a:srgbClr val="50658E"/>
                  </a:solidFill>
                  <a:latin typeface="IBM Plex Sans"/>
                  <a:ea typeface="IBM Plex Sans"/>
                  <a:cs typeface="IBM Plex Sans"/>
                </a:rPr>
                <a:t xml:space="preserve"> Retain, replatform, rewrite or retire, per system.</a:t>
              </a:r>
              <a:endParaRPr lang="en-US" sz="1100" spc="0" kern="0" b="0" i="0" dirty="0">
                <a:solidFill>
                  <a:srgbClr val="070154"/>
                </a:solidFill>
                <a:latin typeface="IBM Plex Sans"/>
                <a:ea typeface="IBM Plex Sans"/>
                <a:cs typeface="IBM Plex Sans"/>
              </a:endParaRPr>
            </a:p>
          </p:txBody>
        </p:sp>
        <p:sp>
          <p:nvSpPr>
            <p:cNvPr id="27" name="node05.body.item-001.bullets.item-002.marker"/>
            <p:cNvSpPr/>
            <p:nvPr/>
          </p:nvSpPr>
          <p:spPr>
            <a:xfrm>
              <a:off x="4610100" y="2921000"/>
              <a:ext cx="38100" cy="38100"/>
            </a:xfrm>
            <a:prstGeom prst="rect">
              <a:avLst/>
            </a:prstGeom>
            <a:solidFill>
              <a:srgbClr val="070154"/>
            </a:solidFill>
            <a:ln>
              <a:noFill/>
            </a:ln>
          </p:spPr>
        </p:sp>
        <p:sp>
          <p:nvSpPr>
            <p:cNvPr id="28" name="node05.body.item-001.bullets.item-002.text"/>
            <p:cNvSpPr/>
            <p:nvPr/>
          </p:nvSpPr>
          <p:spPr>
            <a:xfrm>
              <a:off x="4749800" y="2844800"/>
              <a:ext cx="26035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Stable stays put.</a:t>
              </a:r>
              <a:r>
                <a:rPr lang="en-US" sz="1100" spc="0" kern="0" b="0" i="0" dirty="0">
                  <a:solidFill>
                    <a:srgbClr val="50658E"/>
                  </a:solidFill>
                  <a:latin typeface="IBM Plex Sans"/>
                  <a:ea typeface="IBM Plex Sans"/>
                  <a:cs typeface="IBM Plex Sans"/>
                </a:rPr>
                <a:t xml:space="preserve"> Working parts stay.</a:t>
              </a:r>
              <a:endParaRPr lang="en-US" sz="1100" spc="0" kern="0" b="0" i="0" dirty="0">
                <a:solidFill>
                  <a:srgbClr val="070154"/>
                </a:solidFill>
                <a:latin typeface="IBM Plex Sans"/>
                <a:ea typeface="IBM Plex Sans"/>
                <a:cs typeface="IBM Plex Sans"/>
              </a:endParaRPr>
            </a:p>
          </p:txBody>
        </p:sp>
        <p:sp>
          <p:nvSpPr>
            <p:cNvPr id="29" name="node05.body.item-001.bullets.item-003.marker"/>
            <p:cNvSpPr/>
            <p:nvPr/>
          </p:nvSpPr>
          <p:spPr>
            <a:xfrm>
              <a:off x="4610100" y="3136900"/>
              <a:ext cx="38100" cy="38100"/>
            </a:xfrm>
            <a:prstGeom prst="rect">
              <a:avLst/>
            </a:prstGeom>
            <a:solidFill>
              <a:srgbClr val="070154"/>
            </a:solidFill>
            <a:ln>
              <a:noFill/>
            </a:ln>
          </p:spPr>
        </p:sp>
        <p:sp>
          <p:nvSpPr>
            <p:cNvPr id="30" name="node05.body.item-001.bullets.item-003.text"/>
            <p:cNvSpPr/>
            <p:nvPr/>
          </p:nvSpPr>
          <p:spPr>
            <a:xfrm>
              <a:off x="4749800" y="3060700"/>
              <a:ext cx="26035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Fit to portfolio.</a:t>
              </a:r>
              <a:r>
                <a:rPr lang="en-US" sz="1100" spc="0" kern="0" b="0" i="0" dirty="0">
                  <a:solidFill>
                    <a:srgbClr val="50658E"/>
                  </a:solidFill>
                  <a:latin typeface="IBM Plex Sans"/>
                  <a:ea typeface="IBM Plex Sans"/>
                  <a:cs typeface="IBM Plex Sans"/>
                </a:rPr>
                <a:t xml:space="preserve"> Target matches your skills and vendors.</a:t>
              </a:r>
              <a:endParaRPr lang="en-US" sz="1100" spc="0" kern="0" b="0" i="0" dirty="0">
                <a:solidFill>
                  <a:srgbClr val="070154"/>
                </a:solidFill>
                <a:latin typeface="IBM Plex Sans"/>
                <a:ea typeface="IBM Plex Sans"/>
                <a:cs typeface="IBM Plex Sans"/>
              </a:endParaRPr>
            </a:p>
          </p:txBody>
        </p:sp>
        <p:sp>
          <p:nvSpPr>
            <p:cNvPr id="31" name="node05.body.item-001.bullets.item-004.marker"/>
            <p:cNvSpPr/>
            <p:nvPr/>
          </p:nvSpPr>
          <p:spPr>
            <a:xfrm>
              <a:off x="4610100" y="3543300"/>
              <a:ext cx="38100" cy="38100"/>
            </a:xfrm>
            <a:prstGeom prst="rect">
              <a:avLst/>
            </a:prstGeom>
            <a:solidFill>
              <a:srgbClr val="070154"/>
            </a:solidFill>
            <a:ln>
              <a:noFill/>
            </a:ln>
          </p:spPr>
        </p:sp>
        <p:sp>
          <p:nvSpPr>
            <p:cNvPr id="32" name="node05.body.item-001.bullets.item-004.text"/>
            <p:cNvSpPr/>
            <p:nvPr/>
          </p:nvSpPr>
          <p:spPr>
            <a:xfrm>
              <a:off x="4749800" y="3467100"/>
              <a:ext cx="26035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Evidence based.</a:t>
              </a:r>
              <a:r>
                <a:rPr lang="en-US" sz="1100" spc="0" kern="0" b="0" i="0" dirty="0">
                  <a:solidFill>
                    <a:srgbClr val="50658E"/>
                  </a:solidFill>
                  <a:latin typeface="IBM Plex Sans"/>
                  <a:ea typeface="IBM Plex Sans"/>
                  <a:cs typeface="IBM Plex Sans"/>
                </a:rPr>
                <a:t xml:space="preserve"> Usage, defects, cost.</a:t>
              </a:r>
              <a:endParaRPr lang="en-US" sz="1100" spc="0" kern="0" b="0" i="0" dirty="0">
                <a:solidFill>
                  <a:srgbClr val="070154"/>
                </a:solidFill>
                <a:latin typeface="IBM Plex Sans"/>
                <a:ea typeface="IBM Plex Sans"/>
                <a:cs typeface="IBM Plex Sans"/>
              </a:endParaRPr>
            </a:p>
          </p:txBody>
        </p:sp>
        <p:sp>
          <p:nvSpPr>
            <p:cNvPr id="33" name="node05.body.item-001.bullets.item-005.marker"/>
            <p:cNvSpPr/>
            <p:nvPr/>
          </p:nvSpPr>
          <p:spPr>
            <a:xfrm>
              <a:off x="4610100" y="3759200"/>
              <a:ext cx="38100" cy="38100"/>
            </a:xfrm>
            <a:prstGeom prst="rect">
              <a:avLst/>
            </a:prstGeom>
            <a:solidFill>
              <a:srgbClr val="070154"/>
            </a:solidFill>
            <a:ln>
              <a:noFill/>
            </a:ln>
          </p:spPr>
        </p:sp>
        <p:sp>
          <p:nvSpPr>
            <p:cNvPr id="34" name="node05.body.item-001.bullets.item-005.text"/>
            <p:cNvSpPr/>
            <p:nvPr/>
          </p:nvSpPr>
          <p:spPr>
            <a:xfrm>
              <a:off x="4749800" y="3683000"/>
              <a:ext cx="26035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No rebuild for show.</a:t>
              </a:r>
              <a:r>
                <a:rPr lang="en-US" sz="1100" spc="0" kern="0" b="0" i="0" dirty="0">
                  <a:solidFill>
                    <a:srgbClr val="50658E"/>
                  </a:solidFill>
                  <a:latin typeface="IBM Plex Sans"/>
                  <a:ea typeface="IBM Plex Sans"/>
                  <a:cs typeface="IBM Plex Sans"/>
                </a:rPr>
                <a:t xml:space="preserve"> Return first.</a:t>
              </a:r>
              <a:endParaRPr lang="en-US" sz="1100" spc="0" kern="0" b="0" i="0" dirty="0">
                <a:solidFill>
                  <a:srgbClr val="070154"/>
                </a:solidFill>
                <a:latin typeface="IBM Plex Sans"/>
                <a:ea typeface="IBM Plex Sans"/>
                <a:cs typeface="IBM Plex Sans"/>
              </a:endParaRPr>
            </a:p>
          </p:txBody>
        </p:sp>
      </p:grpSp>
      <p:grpSp>
        <p:nvGrpSpPr>
          <p:cNvPr id="64" name="node06"/>
          <p:cNvGrpSpPr/>
          <p:nvPr/>
        </p:nvGrpSpPr>
        <p:grpSpPr>
          <a:xfrm>
            <a:off x="5524500" y="4800600"/>
            <a:ext cx="2286000" cy="1371600"/>
            <a:chOff x="5524500" y="4800600"/>
            <a:chExt cx="2286000" cy="1371600"/>
          </a:xfrm>
        </p:grpSpPr>
        <p:sp>
          <p:nvSpPr>
            <p:cNvPr id="35" name="node06.surface"/>
            <p:cNvSpPr/>
            <p:nvPr/>
          </p:nvSpPr>
          <p:spPr>
            <a:xfrm>
              <a:off x="5524500" y="4800600"/>
              <a:ext cx="2286000" cy="1371600"/>
            </a:xfrm>
            <a:prstGeom prst="rect">
              <a:avLst/>
            </a:prstGeom>
            <a:solidFill>
              <a:srgbClr val="070154"/>
            </a:solidFill>
            <a:ln>
              <a:noFill/>
            </a:ln>
          </p:spPr>
        </p:sp>
      </p:grpSp>
      <p:grpSp>
        <p:nvGrpSpPr>
          <p:cNvPr id="65" name="node07"/>
          <p:cNvGrpSpPr/>
          <p:nvPr/>
        </p:nvGrpSpPr>
        <p:grpSpPr>
          <a:xfrm>
            <a:off x="5753100" y="5029200"/>
            <a:ext cx="1828800" cy="127000"/>
            <a:chOff x="5753100" y="5029200"/>
            <a:chExt cx="1828800" cy="127000"/>
          </a:xfrm>
        </p:grpSpPr>
        <p:sp>
          <p:nvSpPr>
            <p:cNvPr id="36" name="node07.text"/>
            <p:cNvSpPr/>
            <p:nvPr/>
          </p:nvSpPr>
          <p:spPr>
            <a:xfrm>
              <a:off x="5753100" y="5029200"/>
              <a:ext cx="18288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66" name="node08"/>
          <p:cNvGrpSpPr/>
          <p:nvPr/>
        </p:nvGrpSpPr>
        <p:grpSpPr>
          <a:xfrm>
            <a:off x="5753100" y="5257800"/>
            <a:ext cx="1828800" cy="330200"/>
            <a:chOff x="5753100" y="5257800"/>
            <a:chExt cx="1828800" cy="330200"/>
          </a:xfrm>
        </p:grpSpPr>
        <p:sp>
          <p:nvSpPr>
            <p:cNvPr id="37" name="node08.text"/>
            <p:cNvSpPr/>
            <p:nvPr/>
          </p:nvSpPr>
          <p:spPr>
            <a:xfrm>
              <a:off x="5753100" y="5257800"/>
              <a:ext cx="1828800" cy="3302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FFFFFF"/>
                  </a:solidFill>
                  <a:latin typeface="IBM Plex Sans"/>
                  <a:ea typeface="IBM Plex Sans"/>
                  <a:cs typeface="IBM Plex Sans"/>
                </a:rPr>
                <a:t>You keep what works and replace only what drives value.</a:t>
              </a:r>
              <a:endParaRPr lang="en-US" sz="1000" spc="0" kern="0" b="0" i="0" dirty="0">
                <a:solidFill>
                  <a:srgbClr val="FFFFFF"/>
                </a:solidFill>
                <a:latin typeface="IBM Plex Sans"/>
                <a:ea typeface="IBM Plex Sans"/>
                <a:cs typeface="IBM Plex Sans"/>
              </a:endParaRPr>
            </a:p>
          </p:txBody>
        </p:sp>
      </p:grpSp>
      <p:grpSp>
        <p:nvGrpSpPr>
          <p:cNvPr id="68" name="node09"/>
          <p:cNvGrpSpPr/>
          <p:nvPr/>
        </p:nvGrpSpPr>
        <p:grpSpPr>
          <a:xfrm>
            <a:off x="8039100" y="1600200"/>
            <a:ext cx="3200400" cy="3429000"/>
            <a:chOff x="8039100" y="1600200"/>
            <a:chExt cx="3200400" cy="3429000"/>
          </a:xfrm>
        </p:grpSpPr>
        <p:sp>
          <p:nvSpPr>
            <p:cNvPr id="38" name="node09.container"/>
            <p:cNvSpPr/>
            <p:nvPr/>
          </p:nvSpPr>
          <p:spPr>
            <a:xfrm>
              <a:off x="8039100" y="1600200"/>
              <a:ext cx="3200400" cy="3429000"/>
            </a:xfrm>
            <a:prstGeom prst="rect">
              <a:avLst/>
            </a:prstGeom>
            <a:solidFill>
              <a:srgbClr val="E8EEF8"/>
            </a:solidFill>
            <a:ln>
              <a:noFill/>
            </a:ln>
          </p:spPr>
        </p:sp>
        <p:grpSp>
          <p:nvGrpSpPr>
            <p:cNvPr id="67" name="node09.icon"/>
            <p:cNvGrpSpPr/>
            <p:nvPr/>
          </p:nvGrpSpPr>
          <p:grpSpPr>
            <a:xfrm>
              <a:off x="8267700" y="1828800"/>
              <a:ext cx="457200" cy="457200"/>
              <a:chOff x="8267700" y="1828800"/>
              <a:chExt cx="457200" cy="457200"/>
            </a:xfrm>
          </p:grpSpPr>
          <p:pic>
            <p:nvPicPr>
              <p:cNvPr id="39" name="node09.icon.image" descr="icon/ai-chip-orbit/navy; canonical SHA256=14a43f66d8a5b8ac5942dde8e905dedb2ae681de3a803ebf66fb1cacc34ccd3a">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67700" y="1828800"/>
                <a:ext cx="457200" cy="457200"/>
              </a:xfrm>
              <a:prstGeom prst="rect">
                <a:avLst/>
              </a:prstGeom>
            </p:spPr>
          </p:pic>
        </p:grpSp>
        <p:sp>
          <p:nvSpPr>
            <p:cNvPr id="40" name="node09.title"/>
            <p:cNvSpPr/>
            <p:nvPr/>
          </p:nvSpPr>
          <p:spPr>
            <a:xfrm>
              <a:off x="8877300" y="1828800"/>
              <a:ext cx="2133600" cy="228600"/>
            </a:xfrm>
            <a:prstGeom prst="rect">
              <a:avLst/>
            </a:prstGeom>
            <a:noFill/>
            <a:ln/>
          </p:spPr>
          <p:txBody>
            <a:bodyPr wrap="square" lIns="0" tIns="0" rIns="0" bIns="0" rtlCol="0" anchor="t"/>
            <a:lstStyle/>
            <a:p>
              <a:pPr algn="l" indent="0" marL="0">
                <a:lnSpc>
                  <a:spcPts val="1800"/>
                </a:lnSpc>
                <a:buNone/>
              </a:pPr>
              <a:r>
                <a:rPr lang="en-US" sz="1400" spc="-14" kern="0" b="0" i="0" dirty="0">
                  <a:solidFill>
                    <a:srgbClr val="0047FF"/>
                  </a:solidFill>
                  <a:latin typeface="IBM Plex Sans SemiBold"/>
                  <a:ea typeface="IBM Plex Sans SemiBold"/>
                  <a:cs typeface="IBM Plex Sans SemiBold"/>
                </a:rPr>
                <a:t>AI accelerated</a:t>
              </a:r>
              <a:endParaRPr lang="en-US" sz="1400" spc="-14" kern="0" b="0" i="0" dirty="0">
                <a:solidFill>
                  <a:srgbClr val="0047FF"/>
                </a:solidFill>
                <a:latin typeface="IBM Plex Sans SemiBold"/>
                <a:ea typeface="IBM Plex Sans SemiBold"/>
                <a:cs typeface="IBM Plex Sans SemiBold"/>
              </a:endParaRPr>
            </a:p>
          </p:txBody>
        </p:sp>
        <p:sp>
          <p:nvSpPr>
            <p:cNvPr id="41" name="node09.body.item-001.bullets.item-001.marker"/>
            <p:cNvSpPr/>
            <p:nvPr/>
          </p:nvSpPr>
          <p:spPr>
            <a:xfrm>
              <a:off x="8267700" y="2514600"/>
              <a:ext cx="38100" cy="38100"/>
            </a:xfrm>
            <a:prstGeom prst="rect">
              <a:avLst/>
            </a:prstGeom>
            <a:solidFill>
              <a:srgbClr val="070154"/>
            </a:solidFill>
            <a:ln>
              <a:noFill/>
            </a:ln>
          </p:spPr>
        </p:sp>
        <p:sp>
          <p:nvSpPr>
            <p:cNvPr id="42" name="node09.body.item-001.bullets.item-001.text"/>
            <p:cNvSpPr/>
            <p:nvPr/>
          </p:nvSpPr>
          <p:spPr>
            <a:xfrm>
              <a:off x="8407400" y="2438400"/>
              <a:ext cx="26035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Scan at scale.</a:t>
              </a:r>
              <a:r>
                <a:rPr lang="en-US" sz="1100" spc="0" kern="0" b="0" i="0" dirty="0">
                  <a:solidFill>
                    <a:srgbClr val="50658E"/>
                  </a:solidFill>
                  <a:latin typeface="IBM Plex Sans"/>
                  <a:ea typeface="IBM Plex Sans"/>
                  <a:cs typeface="IBM Plex Sans"/>
                </a:rPr>
                <a:t xml:space="preserve"> Agents map code, data flows and dependencies.</a:t>
              </a:r>
              <a:endParaRPr lang="en-US" sz="1100" spc="0" kern="0" b="0" i="0" dirty="0">
                <a:solidFill>
                  <a:srgbClr val="070154"/>
                </a:solidFill>
                <a:latin typeface="IBM Plex Sans"/>
                <a:ea typeface="IBM Plex Sans"/>
                <a:cs typeface="IBM Plex Sans"/>
              </a:endParaRPr>
            </a:p>
          </p:txBody>
        </p:sp>
        <p:sp>
          <p:nvSpPr>
            <p:cNvPr id="43" name="node09.body.item-001.bullets.item-002.marker"/>
            <p:cNvSpPr/>
            <p:nvPr/>
          </p:nvSpPr>
          <p:spPr>
            <a:xfrm>
              <a:off x="8267700" y="2921000"/>
              <a:ext cx="38100" cy="38100"/>
            </a:xfrm>
            <a:prstGeom prst="rect">
              <a:avLst/>
            </a:prstGeom>
            <a:solidFill>
              <a:srgbClr val="070154"/>
            </a:solidFill>
            <a:ln>
              <a:noFill/>
            </a:ln>
          </p:spPr>
        </p:sp>
        <p:sp>
          <p:nvSpPr>
            <p:cNvPr id="44" name="node09.body.item-001.bullets.item-002.text"/>
            <p:cNvSpPr/>
            <p:nvPr/>
          </p:nvSpPr>
          <p:spPr>
            <a:xfrm>
              <a:off x="8407400" y="2844800"/>
              <a:ext cx="26035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Days, not months.</a:t>
              </a:r>
              <a:r>
                <a:rPr lang="en-US" sz="1100" spc="0" kern="0" b="0" i="0" dirty="0">
                  <a:solidFill>
                    <a:srgbClr val="50658E"/>
                  </a:solidFill>
                  <a:latin typeface="IBM Plex Sans"/>
                  <a:ea typeface="IBM Plex Sans"/>
                  <a:cs typeface="IBM Plex Sans"/>
                </a:rPr>
                <a:t xml:space="preserve"> Faster discovery.</a:t>
              </a:r>
              <a:endParaRPr lang="en-US" sz="1100" spc="0" kern="0" b="0" i="0" dirty="0">
                <a:solidFill>
                  <a:srgbClr val="070154"/>
                </a:solidFill>
                <a:latin typeface="IBM Plex Sans"/>
                <a:ea typeface="IBM Plex Sans"/>
                <a:cs typeface="IBM Plex Sans"/>
              </a:endParaRPr>
            </a:p>
          </p:txBody>
        </p:sp>
        <p:sp>
          <p:nvSpPr>
            <p:cNvPr id="45" name="node09.body.item-001.bullets.item-003.marker"/>
            <p:cNvSpPr/>
            <p:nvPr/>
          </p:nvSpPr>
          <p:spPr>
            <a:xfrm>
              <a:off x="8267700" y="3136900"/>
              <a:ext cx="38100" cy="38100"/>
            </a:xfrm>
            <a:prstGeom prst="rect">
              <a:avLst/>
            </a:prstGeom>
            <a:solidFill>
              <a:srgbClr val="070154"/>
            </a:solidFill>
            <a:ln>
              <a:noFill/>
            </a:ln>
          </p:spPr>
        </p:sp>
        <p:sp>
          <p:nvSpPr>
            <p:cNvPr id="46" name="node09.body.item-001.bullets.item-003.text"/>
            <p:cNvSpPr/>
            <p:nvPr/>
          </p:nvSpPr>
          <p:spPr>
            <a:xfrm>
              <a:off x="8407400" y="3060700"/>
              <a:ext cx="26035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Tests generated.</a:t>
              </a:r>
              <a:r>
                <a:rPr lang="en-US" sz="1100" spc="0" kern="0" b="0" i="0" dirty="0">
                  <a:solidFill>
                    <a:srgbClr val="50658E"/>
                  </a:solidFill>
                  <a:latin typeface="IBM Plex Sans"/>
                  <a:ea typeface="IBM Plex Sans"/>
                  <a:cs typeface="IBM Plex Sans"/>
                </a:rPr>
                <a:t xml:space="preserve"> Every change ships with tests and docs.</a:t>
              </a:r>
              <a:endParaRPr lang="en-US" sz="1100" spc="0" kern="0" b="0" i="0" dirty="0">
                <a:solidFill>
                  <a:srgbClr val="070154"/>
                </a:solidFill>
                <a:latin typeface="IBM Plex Sans"/>
                <a:ea typeface="IBM Plex Sans"/>
                <a:cs typeface="IBM Plex Sans"/>
              </a:endParaRPr>
            </a:p>
          </p:txBody>
        </p:sp>
        <p:sp>
          <p:nvSpPr>
            <p:cNvPr id="47" name="node09.body.item-001.bullets.item-004.marker"/>
            <p:cNvSpPr/>
            <p:nvPr/>
          </p:nvSpPr>
          <p:spPr>
            <a:xfrm>
              <a:off x="8267700" y="3543300"/>
              <a:ext cx="38100" cy="38100"/>
            </a:xfrm>
            <a:prstGeom prst="rect">
              <a:avLst/>
            </a:prstGeom>
            <a:solidFill>
              <a:srgbClr val="070154"/>
            </a:solidFill>
            <a:ln>
              <a:noFill/>
            </a:ln>
          </p:spPr>
        </p:sp>
        <p:sp>
          <p:nvSpPr>
            <p:cNvPr id="48" name="node09.body.item-001.bullets.item-004.text"/>
            <p:cNvSpPr/>
            <p:nvPr/>
          </p:nvSpPr>
          <p:spPr>
            <a:xfrm>
              <a:off x="8407400" y="3467100"/>
              <a:ext cx="26035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Humans decide.</a:t>
              </a:r>
              <a:r>
                <a:rPr lang="en-US" sz="1100" spc="0" kern="0" b="0" i="0" dirty="0">
                  <a:solidFill>
                    <a:srgbClr val="50658E"/>
                  </a:solidFill>
                  <a:latin typeface="IBM Plex Sans"/>
                  <a:ea typeface="IBM Plex Sans"/>
                  <a:cs typeface="IBM Plex Sans"/>
                </a:rPr>
                <a:t xml:space="preserve"> Engineers review each merge.</a:t>
              </a:r>
              <a:endParaRPr lang="en-US" sz="1100" spc="0" kern="0" b="0" i="0" dirty="0">
                <a:solidFill>
                  <a:srgbClr val="070154"/>
                </a:solidFill>
                <a:latin typeface="IBM Plex Sans"/>
                <a:ea typeface="IBM Plex Sans"/>
                <a:cs typeface="IBM Plex Sans"/>
              </a:endParaRPr>
            </a:p>
          </p:txBody>
        </p:sp>
        <p:sp>
          <p:nvSpPr>
            <p:cNvPr id="49" name="node09.body.item-001.bullets.item-005.marker"/>
            <p:cNvSpPr/>
            <p:nvPr/>
          </p:nvSpPr>
          <p:spPr>
            <a:xfrm>
              <a:off x="8267700" y="3949700"/>
              <a:ext cx="38100" cy="38100"/>
            </a:xfrm>
            <a:prstGeom prst="rect">
              <a:avLst/>
            </a:prstGeom>
            <a:solidFill>
              <a:srgbClr val="070154"/>
            </a:solidFill>
            <a:ln>
              <a:noFill/>
            </a:ln>
          </p:spPr>
        </p:sp>
        <p:sp>
          <p:nvSpPr>
            <p:cNvPr id="50" name="node09.body.item-001.bullets.item-005.text"/>
            <p:cNvSpPr/>
            <p:nvPr/>
          </p:nvSpPr>
          <p:spPr>
            <a:xfrm>
              <a:off x="8407400" y="3873500"/>
              <a:ext cx="26035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 xml:space="preserve">Knowledge kept.</a:t>
              </a:r>
              <a:r>
                <a:rPr lang="en-US" sz="1100" spc="0" kern="0" b="0" i="0" dirty="0">
                  <a:solidFill>
                    <a:srgbClr val="50658E"/>
                  </a:solidFill>
                  <a:latin typeface="IBM Plex Sans"/>
                  <a:ea typeface="IBM Plex Sans"/>
                  <a:cs typeface="IBM Plex Sans"/>
                </a:rPr>
                <a:t xml:space="preserve"> One shared record.</a:t>
              </a:r>
              <a:endParaRPr lang="en-US" sz="1100" spc="0" kern="0" b="0" i="0" dirty="0">
                <a:solidFill>
                  <a:srgbClr val="070154"/>
                </a:solidFill>
                <a:latin typeface="IBM Plex Sans"/>
                <a:ea typeface="IBM Plex Sans"/>
                <a:cs typeface="IBM Plex Sans"/>
              </a:endParaRPr>
            </a:p>
          </p:txBody>
        </p:sp>
      </p:grpSp>
      <p:grpSp>
        <p:nvGrpSpPr>
          <p:cNvPr id="69" name="node10"/>
          <p:cNvGrpSpPr/>
          <p:nvPr/>
        </p:nvGrpSpPr>
        <p:grpSpPr>
          <a:xfrm>
            <a:off x="9182100" y="4800600"/>
            <a:ext cx="2286000" cy="1371600"/>
            <a:chOff x="9182100" y="4800600"/>
            <a:chExt cx="2286000" cy="1371600"/>
          </a:xfrm>
        </p:grpSpPr>
        <p:sp>
          <p:nvSpPr>
            <p:cNvPr id="51" name="node10.surface"/>
            <p:cNvSpPr/>
            <p:nvPr/>
          </p:nvSpPr>
          <p:spPr>
            <a:xfrm>
              <a:off x="9182100" y="4800600"/>
              <a:ext cx="2286000" cy="1371600"/>
            </a:xfrm>
            <a:prstGeom prst="rect">
              <a:avLst/>
            </a:prstGeom>
            <a:solidFill>
              <a:srgbClr val="070154"/>
            </a:solidFill>
            <a:ln>
              <a:noFill/>
            </a:ln>
          </p:spPr>
        </p:sp>
      </p:grpSp>
      <p:grpSp>
        <p:nvGrpSpPr>
          <p:cNvPr id="70" name="node11"/>
          <p:cNvGrpSpPr/>
          <p:nvPr/>
        </p:nvGrpSpPr>
        <p:grpSpPr>
          <a:xfrm>
            <a:off x="9410700" y="5029200"/>
            <a:ext cx="1828800" cy="127000"/>
            <a:chOff x="9410700" y="5029200"/>
            <a:chExt cx="1828800" cy="127000"/>
          </a:xfrm>
        </p:grpSpPr>
        <p:sp>
          <p:nvSpPr>
            <p:cNvPr id="52" name="node11.text"/>
            <p:cNvSpPr/>
            <p:nvPr/>
          </p:nvSpPr>
          <p:spPr>
            <a:xfrm>
              <a:off x="9410700" y="5029200"/>
              <a:ext cx="18288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F900D3"/>
                  </a:solidFill>
                  <a:latin typeface="IBM Plex Mono Medium"/>
                  <a:ea typeface="IBM Plex Mono Medium"/>
                  <a:cs typeface="IBM Plex Mono Medium"/>
                </a:rPr>
                <a:t>WHY THIS MATTERS</a:t>
              </a:r>
              <a:endParaRPr lang="en-US" sz="800" spc="48" kern="0" b="0" i="0" dirty="0">
                <a:solidFill>
                  <a:srgbClr val="F900D3"/>
                </a:solidFill>
                <a:latin typeface="IBM Plex Mono Medium"/>
                <a:ea typeface="IBM Plex Mono Medium"/>
                <a:cs typeface="IBM Plex Mono Medium"/>
              </a:endParaRPr>
            </a:p>
          </p:txBody>
        </p:sp>
      </p:grpSp>
      <p:grpSp>
        <p:nvGrpSpPr>
          <p:cNvPr id="71" name="node12"/>
          <p:cNvGrpSpPr/>
          <p:nvPr/>
        </p:nvGrpSpPr>
        <p:grpSpPr>
          <a:xfrm>
            <a:off x="9410700" y="5257800"/>
            <a:ext cx="1828800" cy="495300"/>
            <a:chOff x="9410700" y="5257800"/>
            <a:chExt cx="1828800" cy="495300"/>
          </a:xfrm>
        </p:grpSpPr>
        <p:sp>
          <p:nvSpPr>
            <p:cNvPr id="53" name="node12.text"/>
            <p:cNvSpPr/>
            <p:nvPr/>
          </p:nvSpPr>
          <p:spPr>
            <a:xfrm>
              <a:off x="9410700" y="5257800"/>
              <a:ext cx="1828800" cy="4953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FFFFFF"/>
                  </a:solidFill>
                  <a:latin typeface="IBM Plex Sans"/>
                  <a:ea typeface="IBM Plex Sans"/>
                  <a:cs typeface="IBM Plex Sans"/>
                </a:rPr>
                <a:t>Months of analysis shrink to days, with less tribal knowledge.</a:t>
              </a:r>
              <a:endParaRPr lang="en-US" sz="1000" spc="0" kern="0" b="0" i="0" dirty="0">
                <a:solidFill>
                  <a:srgbClr val="FFFFFF"/>
                </a:solidFill>
                <a:latin typeface="IBM Plex Sans"/>
                <a:ea typeface="IBM Plex Sans"/>
                <a:cs typeface="IBM Plex Sans"/>
              </a:endParaRPr>
            </a:p>
          </p:txBody>
        </p:sp>
      </p:grpSp>
      <p:grpSp>
        <p:nvGrpSpPr>
          <p:cNvPr id="72" name="node13"/>
          <p:cNvGrpSpPr/>
          <p:nvPr/>
        </p:nvGrpSpPr>
        <p:grpSpPr>
          <a:xfrm>
            <a:off x="952500" y="5054600"/>
            <a:ext cx="685800" cy="842827"/>
            <a:chOff x="952500" y="5054600"/>
            <a:chExt cx="685800" cy="842827"/>
          </a:xfrm>
        </p:grpSpPr>
        <p:pic>
          <p:nvPicPr>
            <p:cNvPr id="54" name="node13.mark" descr="arrow-right-angle; canonical SHA256=40758c6ab857749af6c80f96e495dbdf2a4d76e38bc96cc28fa877b01fcb9c03; resolved ink=070154">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2500" y="5054600"/>
              <a:ext cx="685800" cy="842827"/>
            </a:xfrm>
            <a:prstGeom prst="rect">
              <a:avLst/>
            </a:prstGeom>
          </p:spPr>
        </p:pic>
      </p:grpSp>
      <p:grpSp>
        <p:nvGrpSpPr>
          <p:cNvPr id="73" name="node14"/>
          <p:cNvGrpSpPr/>
          <p:nvPr/>
        </p:nvGrpSpPr>
        <p:grpSpPr>
          <a:xfrm>
            <a:off x="4610100" y="5054600"/>
            <a:ext cx="685800" cy="842827"/>
            <a:chOff x="4610100" y="5054600"/>
            <a:chExt cx="685800" cy="842827"/>
          </a:xfrm>
        </p:grpSpPr>
        <p:pic>
          <p:nvPicPr>
            <p:cNvPr id="55" name="node14.mark" descr="arrow-right-angle; canonical SHA256=40758c6ab857749af6c80f96e495dbdf2a4d76e38bc96cc28fa877b01fcb9c03; resolved ink=070154">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10100" y="5054600"/>
              <a:ext cx="685800" cy="842827"/>
            </a:xfrm>
            <a:prstGeom prst="rect">
              <a:avLst/>
            </a:prstGeom>
          </p:spPr>
        </p:pic>
      </p:grpSp>
      <p:grpSp>
        <p:nvGrpSpPr>
          <p:cNvPr id="74" name="node15"/>
          <p:cNvGrpSpPr/>
          <p:nvPr/>
        </p:nvGrpSpPr>
        <p:grpSpPr>
          <a:xfrm>
            <a:off x="8267700" y="5054600"/>
            <a:ext cx="685800" cy="842827"/>
            <a:chOff x="8267700" y="5054600"/>
            <a:chExt cx="685800" cy="842827"/>
          </a:xfrm>
        </p:grpSpPr>
        <p:pic>
          <p:nvPicPr>
            <p:cNvPr id="56" name="node15.mark" descr="arrow-right-angle; canonical SHA256=40758c6ab857749af6c80f96e495dbdf2a4d76e38bc96cc28fa877b01fcb9c03; resolved ink=070154">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67700" y="5054600"/>
              <a:ext cx="685800" cy="842827"/>
            </a:xfrm>
            <a:prstGeom prst="rect">
              <a:avLst/>
            </a:prstGeom>
          </p:spPr>
        </p:pic>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ource-37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082040"/>
          </a:xfrm>
          <a:prstGeom prst="rect">
            <a:avLst/>
          </a:prstGeom>
          <a:solidFill>
            <a:srgbClr val="E8EEF8"/>
          </a:solidFill>
          <a:ln>
            <a:noFill/>
          </a:ln>
        </p:spPr>
      </p:sp>
      <p:sp>
        <p:nvSpPr>
          <p:cNvPr id="6" name="nav.label.section-01"/>
          <p:cNvSpPr/>
          <p:nvPr/>
        </p:nvSpPr>
        <p:spPr>
          <a:xfrm>
            <a:off x="266700" y="457200"/>
            <a:ext cx="228600" cy="108204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615440"/>
            <a:ext cx="228600" cy="1082040"/>
          </a:xfrm>
          <a:prstGeom prst="rect">
            <a:avLst/>
          </a:prstGeom>
          <a:solidFill>
            <a:srgbClr val="070154"/>
          </a:solidFill>
          <a:ln>
            <a:noFill/>
          </a:ln>
        </p:spPr>
      </p:sp>
      <p:sp>
        <p:nvSpPr>
          <p:cNvPr id="8" name="nav.label.section-02"/>
          <p:cNvSpPr/>
          <p:nvPr/>
        </p:nvSpPr>
        <p:spPr>
          <a:xfrm>
            <a:off x="266700" y="1615440"/>
            <a:ext cx="228600" cy="108204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APPROACH</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2773680"/>
            <a:ext cx="228600" cy="1082040"/>
          </a:xfrm>
          <a:prstGeom prst="rect">
            <a:avLst/>
          </a:prstGeom>
          <a:solidFill>
            <a:srgbClr val="E8EEF8"/>
          </a:solidFill>
          <a:ln>
            <a:noFill/>
          </a:ln>
        </p:spPr>
      </p:sp>
      <p:sp>
        <p:nvSpPr>
          <p:cNvPr id="10" name="nav.label.section-03"/>
          <p:cNvSpPr/>
          <p:nvPr/>
        </p:nvSpPr>
        <p:spPr>
          <a:xfrm>
            <a:off x="266700" y="2773680"/>
            <a:ext cx="228600" cy="108204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3931920"/>
            <a:ext cx="228600" cy="1082040"/>
          </a:xfrm>
          <a:prstGeom prst="rect">
            <a:avLst/>
          </a:prstGeom>
          <a:solidFill>
            <a:srgbClr val="E8EEF8"/>
          </a:solidFill>
          <a:ln>
            <a:noFill/>
          </a:ln>
        </p:spPr>
      </p:sp>
      <p:sp>
        <p:nvSpPr>
          <p:cNvPr id="12" name="nav.label.section-04"/>
          <p:cNvSpPr/>
          <p:nvPr/>
        </p:nvSpPr>
        <p:spPr>
          <a:xfrm>
            <a:off x="266700" y="3931920"/>
            <a:ext cx="228600" cy="108204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3" name="nav.section-05"/>
          <p:cNvSpPr/>
          <p:nvPr/>
        </p:nvSpPr>
        <p:spPr>
          <a:xfrm>
            <a:off x="266700" y="5090160"/>
            <a:ext cx="228600" cy="1082040"/>
          </a:xfrm>
          <a:prstGeom prst="rect">
            <a:avLst/>
          </a:prstGeom>
          <a:solidFill>
            <a:srgbClr val="E8EEF8"/>
          </a:solidFill>
          <a:ln>
            <a:noFill/>
          </a:ln>
        </p:spPr>
      </p:sp>
      <p:sp>
        <p:nvSpPr>
          <p:cNvPr id="14" name="nav.label.section-05"/>
          <p:cNvSpPr/>
          <p:nvPr/>
        </p:nvSpPr>
        <p:spPr>
          <a:xfrm>
            <a:off x="266700" y="5090160"/>
            <a:ext cx="228600" cy="108204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NEXT STEPS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55</a:t>
            </a:fld>
            <a:endParaRPr lang="en-US" sz="700" spc="0" kern="0" b="0" i="0" dirty="0">
              <a:solidFill>
                <a:srgbClr val="070154"/>
              </a:solidFill>
              <a:latin typeface="IBM Plex Mono SemiBold"/>
              <a:ea typeface="IBM Plex Mono SemiBold"/>
              <a:cs typeface="IBM Plex Mono SemiBold"/>
            </a:endParaRPr>
          </a:p>
        </p:txBody>
      </p:sp>
      <p:grpSp>
        <p:nvGrpSpPr>
          <p:cNvPr id="62" name="node01"/>
          <p:cNvGrpSpPr/>
          <p:nvPr/>
        </p:nvGrpSpPr>
        <p:grpSpPr>
          <a:xfrm>
            <a:off x="723900" y="1600200"/>
            <a:ext cx="3200400" cy="3429000"/>
            <a:chOff x="723900" y="1600200"/>
            <a:chExt cx="3200400" cy="3429000"/>
          </a:xfrm>
        </p:grpSpPr>
        <p:sp>
          <p:nvSpPr>
            <p:cNvPr id="16" name="node01.container"/>
            <p:cNvSpPr/>
            <p:nvPr/>
          </p:nvSpPr>
          <p:spPr>
            <a:xfrm>
              <a:off x="723900" y="1600200"/>
              <a:ext cx="3200400" cy="3429000"/>
            </a:xfrm>
            <a:prstGeom prst="rect">
              <a:avLst/>
            </a:prstGeom>
            <a:solidFill>
              <a:srgbClr val="E8EEF8"/>
            </a:solidFill>
            <a:ln>
              <a:noFill/>
            </a:ln>
          </p:spPr>
        </p:sp>
        <p:grpSp>
          <p:nvGrpSpPr>
            <p:cNvPr id="61" name="node01.icon"/>
            <p:cNvGrpSpPr/>
            <p:nvPr/>
          </p:nvGrpSpPr>
          <p:grpSpPr>
            <a:xfrm>
              <a:off x="952500" y="1828800"/>
              <a:ext cx="457200" cy="457200"/>
              <a:chOff x="952500" y="1828800"/>
              <a:chExt cx="457200" cy="457200"/>
            </a:xfrm>
          </p:grpSpPr>
          <p:pic>
            <p:nvPicPr>
              <p:cNvPr id="1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1828800"/>
                <a:ext cx="457200" cy="457200"/>
              </a:xfrm>
              <a:prstGeom prst="rect">
                <a:avLst/>
              </a:prstGeom>
            </p:spPr>
          </p:pic>
        </p:grpSp>
        <p:sp>
          <p:nvSpPr>
            <p:cNvPr id="18" name="node01.title"/>
            <p:cNvSpPr/>
            <p:nvPr/>
          </p:nvSpPr>
          <p:spPr>
            <a:xfrm>
              <a:off x="1562100" y="1828800"/>
              <a:ext cx="2133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Value first</a:t>
              </a:r>
              <a:endParaRPr lang="en-US" sz="1800" spc="-18" kern="0" b="0" i="0" dirty="0">
                <a:solidFill>
                  <a:srgbClr val="0047FF"/>
                </a:solidFill>
                <a:latin typeface="IBM Plex Sans SemiBold"/>
                <a:ea typeface="IBM Plex Sans SemiBold"/>
                <a:cs typeface="IBM Plex Sans SemiBold"/>
              </a:endParaRPr>
            </a:p>
          </p:txBody>
        </p:sp>
        <p:sp>
          <p:nvSpPr>
            <p:cNvPr id="19" name="node01.body.item-001.bullets.item-001.marker"/>
            <p:cNvSpPr/>
            <p:nvPr/>
          </p:nvSpPr>
          <p:spPr>
            <a:xfrm>
              <a:off x="952500" y="2546350"/>
              <a:ext cx="50800" cy="50800"/>
            </a:xfrm>
            <a:prstGeom prst="rect">
              <a:avLst/>
            </a:prstGeom>
            <a:solidFill>
              <a:srgbClr val="070154"/>
            </a:solidFill>
            <a:ln>
              <a:noFill/>
            </a:ln>
          </p:spPr>
        </p:sp>
        <p:sp>
          <p:nvSpPr>
            <p:cNvPr id="20" name="node01.body.item-001.bullets.item-001.text"/>
            <p:cNvSpPr/>
            <p:nvPr/>
          </p:nvSpPr>
          <p:spPr>
            <a:xfrm>
              <a:off x="1143000" y="24384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rank systems by business value, not elegance.</a:t>
              </a:r>
              <a:endParaRPr lang="en-US" sz="1400" spc="0" kern="0" b="0" i="0" dirty="0">
                <a:solidFill>
                  <a:srgbClr val="070154"/>
                </a:solidFill>
                <a:latin typeface="IBM Plex Sans"/>
                <a:ea typeface="IBM Plex Sans"/>
                <a:cs typeface="IBM Plex Sans"/>
              </a:endParaRPr>
            </a:p>
          </p:txBody>
        </p:sp>
        <p:sp>
          <p:nvSpPr>
            <p:cNvPr id="21" name="node01.body.item-001.bullets.item-002.marker"/>
            <p:cNvSpPr/>
            <p:nvPr/>
          </p:nvSpPr>
          <p:spPr>
            <a:xfrm>
              <a:off x="952500" y="3155950"/>
              <a:ext cx="50800" cy="50800"/>
            </a:xfrm>
            <a:prstGeom prst="rect">
              <a:avLst/>
            </a:prstGeom>
            <a:solidFill>
              <a:srgbClr val="070154"/>
            </a:solidFill>
            <a:ln>
              <a:noFill/>
            </a:ln>
          </p:spPr>
        </p:sp>
        <p:sp>
          <p:nvSpPr>
            <p:cNvPr id="22" name="node01.body.item-001.bullets.item-002.text"/>
            <p:cNvSpPr/>
            <p:nvPr/>
          </p:nvSpPr>
          <p:spPr>
            <a:xfrm>
              <a:off x="1143000" y="30480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Cost, risk and revenue exposure scored side by side.</a:t>
              </a:r>
              <a:endParaRPr lang="en-US" sz="1400" spc="0" kern="0" b="0" i="0" dirty="0">
                <a:solidFill>
                  <a:srgbClr val="070154"/>
                </a:solidFill>
                <a:latin typeface="IBM Plex Sans"/>
                <a:ea typeface="IBM Plex Sans"/>
                <a:cs typeface="IBM Plex Sans"/>
              </a:endParaRPr>
            </a:p>
          </p:txBody>
        </p:sp>
        <p:sp>
          <p:nvSpPr>
            <p:cNvPr id="23" name="node01.body.item-001.bullets.item-003.marker"/>
            <p:cNvSpPr/>
            <p:nvPr/>
          </p:nvSpPr>
          <p:spPr>
            <a:xfrm>
              <a:off x="952500" y="3765550"/>
              <a:ext cx="50800" cy="50800"/>
            </a:xfrm>
            <a:prstGeom prst="rect">
              <a:avLst/>
            </a:prstGeom>
            <a:solidFill>
              <a:srgbClr val="070154"/>
            </a:solidFill>
            <a:ln>
              <a:noFill/>
            </a:ln>
          </p:spPr>
        </p:sp>
        <p:sp>
          <p:nvSpPr>
            <p:cNvPr id="24" name="node01.body.item-001.bullets.item-003.text"/>
            <p:cNvSpPr/>
            <p:nvPr/>
          </p:nvSpPr>
          <p:spPr>
            <a:xfrm>
              <a:off x="1143000" y="36576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Quick wins funded first, so savings pay for later waves.</a:t>
              </a:r>
              <a:endParaRPr lang="en-US" sz="1400" spc="0" kern="0" b="0" i="0" dirty="0">
                <a:solidFill>
                  <a:srgbClr val="070154"/>
                </a:solidFill>
                <a:latin typeface="IBM Plex Sans"/>
                <a:ea typeface="IBM Plex Sans"/>
                <a:cs typeface="IBM Plex Sans"/>
              </a:endParaRPr>
            </a:p>
          </p:txBody>
        </p:sp>
        <p:sp>
          <p:nvSpPr>
            <p:cNvPr id="25" name="node01.body.item-001.bullets.item-004.marker"/>
            <p:cNvSpPr/>
            <p:nvPr/>
          </p:nvSpPr>
          <p:spPr>
            <a:xfrm>
              <a:off x="952500" y="4375150"/>
              <a:ext cx="50800" cy="50800"/>
            </a:xfrm>
            <a:prstGeom prst="rect">
              <a:avLst/>
            </a:prstGeom>
            <a:solidFill>
              <a:srgbClr val="070154"/>
            </a:solidFill>
            <a:ln>
              <a:noFill/>
            </a:ln>
          </p:spPr>
        </p:sp>
        <p:sp>
          <p:nvSpPr>
            <p:cNvPr id="26" name="node01.body.item-001.bullets.item-004.text"/>
            <p:cNvSpPr/>
            <p:nvPr/>
          </p:nvSpPr>
          <p:spPr>
            <a:xfrm>
              <a:off x="1143000" y="4267200"/>
              <a:ext cx="25527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Value tracked every release.</a:t>
              </a:r>
              <a:endParaRPr lang="en-US" sz="1400" spc="0" kern="0" b="0" i="0" dirty="0">
                <a:solidFill>
                  <a:srgbClr val="070154"/>
                </a:solidFill>
                <a:latin typeface="IBM Plex Sans"/>
                <a:ea typeface="IBM Plex Sans"/>
                <a:cs typeface="IBM Plex Sans"/>
              </a:endParaRPr>
            </a:p>
          </p:txBody>
        </p:sp>
      </p:grpSp>
      <p:grpSp>
        <p:nvGrpSpPr>
          <p:cNvPr id="63" name="node02"/>
          <p:cNvGrpSpPr/>
          <p:nvPr/>
        </p:nvGrpSpPr>
        <p:grpSpPr>
          <a:xfrm>
            <a:off x="1866900" y="4800600"/>
            <a:ext cx="2286000" cy="1371600"/>
            <a:chOff x="1866900" y="4800600"/>
            <a:chExt cx="2286000" cy="1371600"/>
          </a:xfrm>
        </p:grpSpPr>
        <p:sp>
          <p:nvSpPr>
            <p:cNvPr id="27" name="node02.surface"/>
            <p:cNvSpPr/>
            <p:nvPr/>
          </p:nvSpPr>
          <p:spPr>
            <a:xfrm>
              <a:off x="1866900" y="4800600"/>
              <a:ext cx="2286000" cy="1371600"/>
            </a:xfrm>
            <a:prstGeom prst="rect">
              <a:avLst/>
            </a:prstGeom>
            <a:solidFill>
              <a:srgbClr val="070154"/>
            </a:solidFill>
            <a:ln>
              <a:noFill/>
            </a:ln>
          </p:spPr>
        </p:sp>
      </p:grpSp>
      <p:grpSp>
        <p:nvGrpSpPr>
          <p:cNvPr id="64" name="node03"/>
          <p:cNvGrpSpPr/>
          <p:nvPr/>
        </p:nvGrpSpPr>
        <p:grpSpPr>
          <a:xfrm>
            <a:off x="2095500" y="5029200"/>
            <a:ext cx="1828800" cy="152400"/>
            <a:chOff x="2095500" y="5029200"/>
            <a:chExt cx="1828800" cy="152400"/>
          </a:xfrm>
        </p:grpSpPr>
        <p:sp>
          <p:nvSpPr>
            <p:cNvPr id="28" name="node03.text"/>
            <p:cNvSpPr/>
            <p:nvPr/>
          </p:nvSpPr>
          <p:spPr>
            <a:xfrm>
              <a:off x="20955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5" name="node04"/>
          <p:cNvGrpSpPr/>
          <p:nvPr/>
        </p:nvGrpSpPr>
        <p:grpSpPr>
          <a:xfrm>
            <a:off x="2095500" y="5257800"/>
            <a:ext cx="1828800" cy="685800"/>
            <a:chOff x="2095500" y="5257800"/>
            <a:chExt cx="1828800" cy="685800"/>
          </a:xfrm>
        </p:grpSpPr>
        <p:sp>
          <p:nvSpPr>
            <p:cNvPr id="29" name="node04.text"/>
            <p:cNvSpPr/>
            <p:nvPr/>
          </p:nvSpPr>
          <p:spPr>
            <a:xfrm>
              <a:off x="20955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Effort goes where return is highest, so promised value lands.</a:t>
              </a:r>
              <a:endParaRPr lang="en-US" sz="1200" spc="0" kern="0" b="0" i="0" dirty="0">
                <a:solidFill>
                  <a:srgbClr val="FFFFFF"/>
                </a:solidFill>
                <a:latin typeface="IBM Plex Sans"/>
                <a:ea typeface="IBM Plex Sans"/>
                <a:cs typeface="IBM Plex Sans"/>
              </a:endParaRPr>
            </a:p>
          </p:txBody>
        </p:sp>
      </p:grpSp>
      <p:grpSp>
        <p:nvGrpSpPr>
          <p:cNvPr id="67" name="node05"/>
          <p:cNvGrpSpPr/>
          <p:nvPr/>
        </p:nvGrpSpPr>
        <p:grpSpPr>
          <a:xfrm>
            <a:off x="4381500" y="1600200"/>
            <a:ext cx="3200400" cy="3429000"/>
            <a:chOff x="4381500" y="1600200"/>
            <a:chExt cx="3200400" cy="3429000"/>
          </a:xfrm>
        </p:grpSpPr>
        <p:sp>
          <p:nvSpPr>
            <p:cNvPr id="30" name="node05.container"/>
            <p:cNvSpPr/>
            <p:nvPr/>
          </p:nvSpPr>
          <p:spPr>
            <a:xfrm>
              <a:off x="4381500" y="1600200"/>
              <a:ext cx="3200400" cy="3429000"/>
            </a:xfrm>
            <a:prstGeom prst="rect">
              <a:avLst/>
            </a:prstGeom>
            <a:solidFill>
              <a:srgbClr val="E8EEF8"/>
            </a:solidFill>
            <a:ln>
              <a:noFill/>
            </a:ln>
          </p:spPr>
        </p:sp>
        <p:grpSp>
          <p:nvGrpSpPr>
            <p:cNvPr id="66" name="node05.icon"/>
            <p:cNvGrpSpPr/>
            <p:nvPr/>
          </p:nvGrpSpPr>
          <p:grpSpPr>
            <a:xfrm>
              <a:off x="4610100" y="1828800"/>
              <a:ext cx="457200" cy="457200"/>
              <a:chOff x="4610100" y="1828800"/>
              <a:chExt cx="457200" cy="457200"/>
            </a:xfrm>
          </p:grpSpPr>
          <p:pic>
            <p:nvPicPr>
              <p:cNvPr id="31" name="node05.icon.image" descr="icon/strategy-route/navy; canonical SHA256=763a15166fefc06f84edb42452bdf8fbb13cc97295a2599a2fc99a950f7f95d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0100" y="1828800"/>
                <a:ext cx="457200" cy="457200"/>
              </a:xfrm>
              <a:prstGeom prst="rect">
                <a:avLst/>
              </a:prstGeom>
            </p:spPr>
          </p:pic>
        </p:grpSp>
        <p:sp>
          <p:nvSpPr>
            <p:cNvPr id="32" name="node05.title"/>
            <p:cNvSpPr/>
            <p:nvPr/>
          </p:nvSpPr>
          <p:spPr>
            <a:xfrm>
              <a:off x="5219700" y="1828800"/>
              <a:ext cx="2133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Purpose built</a:t>
              </a:r>
              <a:endParaRPr lang="en-US" sz="1800" spc="-18" kern="0" b="0" i="0" dirty="0">
                <a:solidFill>
                  <a:srgbClr val="0047FF"/>
                </a:solidFill>
                <a:latin typeface="IBM Plex Sans SemiBold"/>
                <a:ea typeface="IBM Plex Sans SemiBold"/>
                <a:cs typeface="IBM Plex Sans SemiBold"/>
              </a:endParaRPr>
            </a:p>
          </p:txBody>
        </p:sp>
        <p:sp>
          <p:nvSpPr>
            <p:cNvPr id="33" name="node05.body.item-001.bullets.item-001.marker"/>
            <p:cNvSpPr/>
            <p:nvPr/>
          </p:nvSpPr>
          <p:spPr>
            <a:xfrm>
              <a:off x="4610100" y="2546350"/>
              <a:ext cx="50800" cy="50800"/>
            </a:xfrm>
            <a:prstGeom prst="rect">
              <a:avLst/>
            </a:prstGeom>
            <a:solidFill>
              <a:srgbClr val="070154"/>
            </a:solidFill>
            <a:ln>
              <a:noFill/>
            </a:ln>
          </p:spPr>
        </p:sp>
        <p:sp>
          <p:nvSpPr>
            <p:cNvPr id="34" name="node05.body.item-001.bullets.item-001.text"/>
            <p:cNvSpPr/>
            <p:nvPr/>
          </p:nvSpPr>
          <p:spPr>
            <a:xfrm>
              <a:off x="4800600" y="24384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Retain, replatform, rewrite or retire, chosen per system.</a:t>
              </a:r>
              <a:endParaRPr lang="en-US" sz="1400" spc="0" kern="0" b="0" i="0" dirty="0">
                <a:solidFill>
                  <a:srgbClr val="070154"/>
                </a:solidFill>
                <a:latin typeface="IBM Plex Sans"/>
                <a:ea typeface="IBM Plex Sans"/>
                <a:cs typeface="IBM Plex Sans"/>
              </a:endParaRPr>
            </a:p>
          </p:txBody>
        </p:sp>
        <p:sp>
          <p:nvSpPr>
            <p:cNvPr id="35" name="node05.body.item-001.bullets.item-002.marker"/>
            <p:cNvSpPr/>
            <p:nvPr/>
          </p:nvSpPr>
          <p:spPr>
            <a:xfrm>
              <a:off x="4610100" y="3155950"/>
              <a:ext cx="50800" cy="50800"/>
            </a:xfrm>
            <a:prstGeom prst="rect">
              <a:avLst/>
            </a:prstGeom>
            <a:solidFill>
              <a:srgbClr val="070154"/>
            </a:solidFill>
            <a:ln>
              <a:noFill/>
            </a:ln>
          </p:spPr>
        </p:sp>
        <p:sp>
          <p:nvSpPr>
            <p:cNvPr id="36" name="node05.body.item-001.bullets.item-002.text"/>
            <p:cNvSpPr/>
            <p:nvPr/>
          </p:nvSpPr>
          <p:spPr>
            <a:xfrm>
              <a:off x="4800600" y="30480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Stable components stay in place, untouched.</a:t>
              </a:r>
              <a:endParaRPr lang="en-US" sz="1400" spc="0" kern="0" b="0" i="0" dirty="0">
                <a:solidFill>
                  <a:srgbClr val="070154"/>
                </a:solidFill>
                <a:latin typeface="IBM Plex Sans"/>
                <a:ea typeface="IBM Plex Sans"/>
                <a:cs typeface="IBM Plex Sans"/>
              </a:endParaRPr>
            </a:p>
          </p:txBody>
        </p:sp>
        <p:sp>
          <p:nvSpPr>
            <p:cNvPr id="37" name="node05.body.item-001.bullets.item-003.marker"/>
            <p:cNvSpPr/>
            <p:nvPr/>
          </p:nvSpPr>
          <p:spPr>
            <a:xfrm>
              <a:off x="4610100" y="3765550"/>
              <a:ext cx="50800" cy="50800"/>
            </a:xfrm>
            <a:prstGeom prst="rect">
              <a:avLst/>
            </a:prstGeom>
            <a:solidFill>
              <a:srgbClr val="070154"/>
            </a:solidFill>
            <a:ln>
              <a:noFill/>
            </a:ln>
          </p:spPr>
        </p:sp>
        <p:sp>
          <p:nvSpPr>
            <p:cNvPr id="38" name="node05.body.item-001.bullets.item-003.text"/>
            <p:cNvSpPr/>
            <p:nvPr/>
          </p:nvSpPr>
          <p:spPr>
            <a:xfrm>
              <a:off x="4800600" y="36576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architecture fits your portfolio and skills.</a:t>
              </a:r>
              <a:endParaRPr lang="en-US" sz="1400" spc="0" kern="0" b="0" i="0" dirty="0">
                <a:solidFill>
                  <a:srgbClr val="070154"/>
                </a:solidFill>
                <a:latin typeface="IBM Plex Sans"/>
                <a:ea typeface="IBM Plex Sans"/>
                <a:cs typeface="IBM Plex Sans"/>
              </a:endParaRPr>
            </a:p>
          </p:txBody>
        </p:sp>
        <p:sp>
          <p:nvSpPr>
            <p:cNvPr id="39" name="node05.body.item-001.bullets.item-004.marker"/>
            <p:cNvSpPr/>
            <p:nvPr/>
          </p:nvSpPr>
          <p:spPr>
            <a:xfrm>
              <a:off x="4610100" y="4375150"/>
              <a:ext cx="50800" cy="50800"/>
            </a:xfrm>
            <a:prstGeom prst="rect">
              <a:avLst/>
            </a:prstGeom>
            <a:solidFill>
              <a:srgbClr val="070154"/>
            </a:solidFill>
            <a:ln>
              <a:noFill/>
            </a:ln>
          </p:spPr>
        </p:sp>
        <p:sp>
          <p:nvSpPr>
            <p:cNvPr id="40" name="node05.body.item-001.bullets.item-004.text"/>
            <p:cNvSpPr/>
            <p:nvPr/>
          </p:nvSpPr>
          <p:spPr>
            <a:xfrm>
              <a:off x="4800600" y="4267200"/>
              <a:ext cx="25527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Nothing is rebuilt for show.</a:t>
              </a:r>
              <a:endParaRPr lang="en-US" sz="1400" spc="0" kern="0" b="0" i="0" dirty="0">
                <a:solidFill>
                  <a:srgbClr val="070154"/>
                </a:solidFill>
                <a:latin typeface="IBM Plex Sans"/>
                <a:ea typeface="IBM Plex Sans"/>
                <a:cs typeface="IBM Plex Sans"/>
              </a:endParaRPr>
            </a:p>
          </p:txBody>
        </p:sp>
      </p:grpSp>
      <p:grpSp>
        <p:nvGrpSpPr>
          <p:cNvPr id="68" name="node06"/>
          <p:cNvGrpSpPr/>
          <p:nvPr/>
        </p:nvGrpSpPr>
        <p:grpSpPr>
          <a:xfrm>
            <a:off x="5524500" y="4800600"/>
            <a:ext cx="2286000" cy="1371600"/>
            <a:chOff x="5524500" y="4800600"/>
            <a:chExt cx="2286000" cy="1371600"/>
          </a:xfrm>
        </p:grpSpPr>
        <p:sp>
          <p:nvSpPr>
            <p:cNvPr id="41" name="node06.surface"/>
            <p:cNvSpPr/>
            <p:nvPr/>
          </p:nvSpPr>
          <p:spPr>
            <a:xfrm>
              <a:off x="5524500" y="4800600"/>
              <a:ext cx="2286000" cy="1371600"/>
            </a:xfrm>
            <a:prstGeom prst="rect">
              <a:avLst/>
            </a:prstGeom>
            <a:solidFill>
              <a:srgbClr val="070154"/>
            </a:solidFill>
            <a:ln>
              <a:noFill/>
            </a:ln>
          </p:spPr>
        </p:sp>
      </p:grpSp>
      <p:grpSp>
        <p:nvGrpSpPr>
          <p:cNvPr id="69" name="node07"/>
          <p:cNvGrpSpPr/>
          <p:nvPr/>
        </p:nvGrpSpPr>
        <p:grpSpPr>
          <a:xfrm>
            <a:off x="5753100" y="5029200"/>
            <a:ext cx="1828800" cy="152400"/>
            <a:chOff x="5753100" y="5029200"/>
            <a:chExt cx="1828800" cy="152400"/>
          </a:xfrm>
        </p:grpSpPr>
        <p:sp>
          <p:nvSpPr>
            <p:cNvPr id="42" name="node07.text"/>
            <p:cNvSpPr/>
            <p:nvPr/>
          </p:nvSpPr>
          <p:spPr>
            <a:xfrm>
              <a:off x="57531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70" name="node08"/>
          <p:cNvGrpSpPr/>
          <p:nvPr/>
        </p:nvGrpSpPr>
        <p:grpSpPr>
          <a:xfrm>
            <a:off x="5753100" y="5257800"/>
            <a:ext cx="1828800" cy="685800"/>
            <a:chOff x="5753100" y="5257800"/>
            <a:chExt cx="1828800" cy="685800"/>
          </a:xfrm>
        </p:grpSpPr>
        <p:sp>
          <p:nvSpPr>
            <p:cNvPr id="43" name="node08.text"/>
            <p:cNvSpPr/>
            <p:nvPr/>
          </p:nvSpPr>
          <p:spPr>
            <a:xfrm>
              <a:off x="57531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You keep what works and replace only what drives value.</a:t>
              </a:r>
              <a:endParaRPr lang="en-US" sz="1200" spc="0" kern="0" b="0" i="0" dirty="0">
                <a:solidFill>
                  <a:srgbClr val="FFFFFF"/>
                </a:solidFill>
                <a:latin typeface="IBM Plex Sans"/>
                <a:ea typeface="IBM Plex Sans"/>
                <a:cs typeface="IBM Plex Sans"/>
              </a:endParaRPr>
            </a:p>
          </p:txBody>
        </p:sp>
      </p:grpSp>
      <p:grpSp>
        <p:nvGrpSpPr>
          <p:cNvPr id="72" name="node09"/>
          <p:cNvGrpSpPr/>
          <p:nvPr/>
        </p:nvGrpSpPr>
        <p:grpSpPr>
          <a:xfrm>
            <a:off x="8039100" y="1600200"/>
            <a:ext cx="3200400" cy="3429000"/>
            <a:chOff x="8039100" y="1600200"/>
            <a:chExt cx="3200400" cy="3429000"/>
          </a:xfrm>
        </p:grpSpPr>
        <p:sp>
          <p:nvSpPr>
            <p:cNvPr id="44" name="node09.container"/>
            <p:cNvSpPr/>
            <p:nvPr/>
          </p:nvSpPr>
          <p:spPr>
            <a:xfrm>
              <a:off x="8039100" y="1600200"/>
              <a:ext cx="3200400" cy="3429000"/>
            </a:xfrm>
            <a:prstGeom prst="rect">
              <a:avLst/>
            </a:prstGeom>
            <a:solidFill>
              <a:srgbClr val="E8EEF8"/>
            </a:solidFill>
            <a:ln>
              <a:noFill/>
            </a:ln>
          </p:spPr>
        </p:sp>
        <p:grpSp>
          <p:nvGrpSpPr>
            <p:cNvPr id="71" name="node09.icon"/>
            <p:cNvGrpSpPr/>
            <p:nvPr/>
          </p:nvGrpSpPr>
          <p:grpSpPr>
            <a:xfrm>
              <a:off x="8267700" y="1828800"/>
              <a:ext cx="457200" cy="457200"/>
              <a:chOff x="8267700" y="1828800"/>
              <a:chExt cx="457200" cy="457200"/>
            </a:xfrm>
          </p:grpSpPr>
          <p:pic>
            <p:nvPicPr>
              <p:cNvPr id="45" name="node09.icon.image" descr="icon/ai-chip-orbit/navy; canonical SHA256=14a43f66d8a5b8ac5942dde8e905dedb2ae681de3a803ebf66fb1cacc34ccd3a">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67700" y="1828800"/>
                <a:ext cx="457200" cy="457200"/>
              </a:xfrm>
              <a:prstGeom prst="rect">
                <a:avLst/>
              </a:prstGeom>
            </p:spPr>
          </p:pic>
        </p:grpSp>
        <p:sp>
          <p:nvSpPr>
            <p:cNvPr id="46" name="node09.title"/>
            <p:cNvSpPr/>
            <p:nvPr/>
          </p:nvSpPr>
          <p:spPr>
            <a:xfrm>
              <a:off x="8877300" y="1828800"/>
              <a:ext cx="2133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AI accelerated</a:t>
              </a:r>
              <a:endParaRPr lang="en-US" sz="1800" spc="-18" kern="0" b="0" i="0" dirty="0">
                <a:solidFill>
                  <a:srgbClr val="0047FF"/>
                </a:solidFill>
                <a:latin typeface="IBM Plex Sans SemiBold"/>
                <a:ea typeface="IBM Plex Sans SemiBold"/>
                <a:cs typeface="IBM Plex Sans SemiBold"/>
              </a:endParaRPr>
            </a:p>
          </p:txBody>
        </p:sp>
        <p:sp>
          <p:nvSpPr>
            <p:cNvPr id="47" name="node09.body.item-001.bullets.item-001.marker"/>
            <p:cNvSpPr/>
            <p:nvPr/>
          </p:nvSpPr>
          <p:spPr>
            <a:xfrm>
              <a:off x="8267700" y="2546350"/>
              <a:ext cx="50800" cy="50800"/>
            </a:xfrm>
            <a:prstGeom prst="rect">
              <a:avLst/>
            </a:prstGeom>
            <a:solidFill>
              <a:srgbClr val="070154"/>
            </a:solidFill>
            <a:ln>
              <a:noFill/>
            </a:ln>
          </p:spPr>
        </p:sp>
        <p:sp>
          <p:nvSpPr>
            <p:cNvPr id="48" name="node09.body.item-001.bullets.item-001.text"/>
            <p:cNvSpPr/>
            <p:nvPr/>
          </p:nvSpPr>
          <p:spPr>
            <a:xfrm>
              <a:off x="8458200" y="24384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Agents scan and map codebases at scale.</a:t>
              </a:r>
              <a:endParaRPr lang="en-US" sz="1400" spc="0" kern="0" b="0" i="0" dirty="0">
                <a:solidFill>
                  <a:srgbClr val="070154"/>
                </a:solidFill>
                <a:latin typeface="IBM Plex Sans"/>
                <a:ea typeface="IBM Plex Sans"/>
                <a:cs typeface="IBM Plex Sans"/>
              </a:endParaRPr>
            </a:p>
          </p:txBody>
        </p:sp>
        <p:sp>
          <p:nvSpPr>
            <p:cNvPr id="49" name="node09.body.item-001.bullets.item-002.marker"/>
            <p:cNvSpPr/>
            <p:nvPr/>
          </p:nvSpPr>
          <p:spPr>
            <a:xfrm>
              <a:off x="8267700" y="3155950"/>
              <a:ext cx="50800" cy="50800"/>
            </a:xfrm>
            <a:prstGeom prst="rect">
              <a:avLst/>
            </a:prstGeom>
            <a:solidFill>
              <a:srgbClr val="070154"/>
            </a:solidFill>
            <a:ln>
              <a:noFill/>
            </a:ln>
          </p:spPr>
        </p:sp>
        <p:sp>
          <p:nvSpPr>
            <p:cNvPr id="50" name="node09.body.item-001.bullets.item-002.text"/>
            <p:cNvSpPr/>
            <p:nvPr/>
          </p:nvSpPr>
          <p:spPr>
            <a:xfrm>
              <a:off x="8458200" y="30480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Dependencies and dead code surface in days.</a:t>
              </a:r>
              <a:endParaRPr lang="en-US" sz="1400" spc="0" kern="0" b="0" i="0" dirty="0">
                <a:solidFill>
                  <a:srgbClr val="070154"/>
                </a:solidFill>
                <a:latin typeface="IBM Plex Sans"/>
                <a:ea typeface="IBM Plex Sans"/>
                <a:cs typeface="IBM Plex Sans"/>
              </a:endParaRPr>
            </a:p>
          </p:txBody>
        </p:sp>
        <p:sp>
          <p:nvSpPr>
            <p:cNvPr id="51" name="node09.body.item-001.bullets.item-003.marker"/>
            <p:cNvSpPr/>
            <p:nvPr/>
          </p:nvSpPr>
          <p:spPr>
            <a:xfrm>
              <a:off x="8267700" y="3765550"/>
              <a:ext cx="50800" cy="50800"/>
            </a:xfrm>
            <a:prstGeom prst="rect">
              <a:avLst/>
            </a:prstGeom>
            <a:solidFill>
              <a:srgbClr val="070154"/>
            </a:solidFill>
            <a:ln>
              <a:noFill/>
            </a:ln>
          </p:spPr>
        </p:sp>
        <p:sp>
          <p:nvSpPr>
            <p:cNvPr id="52" name="node09.body.item-001.bullets.item-003.text"/>
            <p:cNvSpPr/>
            <p:nvPr/>
          </p:nvSpPr>
          <p:spPr>
            <a:xfrm>
              <a:off x="8458200" y="36576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Generated tests and docs back each change.</a:t>
              </a:r>
              <a:endParaRPr lang="en-US" sz="1400" spc="0" kern="0" b="0" i="0" dirty="0">
                <a:solidFill>
                  <a:srgbClr val="070154"/>
                </a:solidFill>
                <a:latin typeface="IBM Plex Sans"/>
                <a:ea typeface="IBM Plex Sans"/>
                <a:cs typeface="IBM Plex Sans"/>
              </a:endParaRPr>
            </a:p>
          </p:txBody>
        </p:sp>
        <p:sp>
          <p:nvSpPr>
            <p:cNvPr id="53" name="node09.body.item-001.bullets.item-004.marker"/>
            <p:cNvSpPr/>
            <p:nvPr/>
          </p:nvSpPr>
          <p:spPr>
            <a:xfrm>
              <a:off x="8267700" y="4375150"/>
              <a:ext cx="50800" cy="50800"/>
            </a:xfrm>
            <a:prstGeom prst="rect">
              <a:avLst/>
            </a:prstGeom>
            <a:solidFill>
              <a:srgbClr val="070154"/>
            </a:solidFill>
            <a:ln>
              <a:noFill/>
            </a:ln>
          </p:spPr>
        </p:sp>
        <p:sp>
          <p:nvSpPr>
            <p:cNvPr id="54" name="node09.body.item-001.bullets.item-004.text"/>
            <p:cNvSpPr/>
            <p:nvPr/>
          </p:nvSpPr>
          <p:spPr>
            <a:xfrm>
              <a:off x="8458200" y="4267200"/>
              <a:ext cx="25527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Engineers approve every merge.</a:t>
              </a:r>
              <a:endParaRPr lang="en-US" sz="1400" spc="0" kern="0" b="0" i="0" dirty="0">
                <a:solidFill>
                  <a:srgbClr val="070154"/>
                </a:solidFill>
                <a:latin typeface="IBM Plex Sans"/>
                <a:ea typeface="IBM Plex Sans"/>
                <a:cs typeface="IBM Plex Sans"/>
              </a:endParaRPr>
            </a:p>
          </p:txBody>
        </p:sp>
      </p:grpSp>
      <p:grpSp>
        <p:nvGrpSpPr>
          <p:cNvPr id="73" name="node10"/>
          <p:cNvGrpSpPr/>
          <p:nvPr/>
        </p:nvGrpSpPr>
        <p:grpSpPr>
          <a:xfrm>
            <a:off x="9182100" y="4800600"/>
            <a:ext cx="2286000" cy="1371600"/>
            <a:chOff x="9182100" y="4800600"/>
            <a:chExt cx="2286000" cy="1371600"/>
          </a:xfrm>
        </p:grpSpPr>
        <p:sp>
          <p:nvSpPr>
            <p:cNvPr id="55" name="node10.surface"/>
            <p:cNvSpPr/>
            <p:nvPr/>
          </p:nvSpPr>
          <p:spPr>
            <a:xfrm>
              <a:off x="9182100" y="4800600"/>
              <a:ext cx="2286000" cy="1371600"/>
            </a:xfrm>
            <a:prstGeom prst="rect">
              <a:avLst/>
            </a:prstGeom>
            <a:solidFill>
              <a:srgbClr val="070154"/>
            </a:solidFill>
            <a:ln>
              <a:noFill/>
            </a:ln>
          </p:spPr>
        </p:sp>
      </p:grpSp>
      <p:grpSp>
        <p:nvGrpSpPr>
          <p:cNvPr id="74" name="node11"/>
          <p:cNvGrpSpPr/>
          <p:nvPr/>
        </p:nvGrpSpPr>
        <p:grpSpPr>
          <a:xfrm>
            <a:off x="9410700" y="5029200"/>
            <a:ext cx="1828800" cy="152400"/>
            <a:chOff x="9410700" y="5029200"/>
            <a:chExt cx="1828800" cy="152400"/>
          </a:xfrm>
        </p:grpSpPr>
        <p:sp>
          <p:nvSpPr>
            <p:cNvPr id="56" name="node11.text"/>
            <p:cNvSpPr/>
            <p:nvPr/>
          </p:nvSpPr>
          <p:spPr>
            <a:xfrm>
              <a:off x="94107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75" name="node12"/>
          <p:cNvGrpSpPr/>
          <p:nvPr/>
        </p:nvGrpSpPr>
        <p:grpSpPr>
          <a:xfrm>
            <a:off x="9410700" y="5257800"/>
            <a:ext cx="1828800" cy="685800"/>
            <a:chOff x="9410700" y="5257800"/>
            <a:chExt cx="1828800" cy="685800"/>
          </a:xfrm>
        </p:grpSpPr>
        <p:sp>
          <p:nvSpPr>
            <p:cNvPr id="57" name="node12.text"/>
            <p:cNvSpPr/>
            <p:nvPr/>
          </p:nvSpPr>
          <p:spPr>
            <a:xfrm>
              <a:off x="94107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Months of analysis shrink to days, with less tribal knowledge.</a:t>
              </a:r>
              <a:endParaRPr lang="en-US" sz="1200" spc="0" kern="0" b="0" i="0" dirty="0">
                <a:solidFill>
                  <a:srgbClr val="FFFFFF"/>
                </a:solidFill>
                <a:latin typeface="IBM Plex Sans"/>
                <a:ea typeface="IBM Plex Sans"/>
                <a:cs typeface="IBM Plex Sans"/>
              </a:endParaRPr>
            </a:p>
          </p:txBody>
        </p:sp>
      </p:grpSp>
      <p:grpSp>
        <p:nvGrpSpPr>
          <p:cNvPr id="76" name="node13"/>
          <p:cNvGrpSpPr/>
          <p:nvPr/>
        </p:nvGrpSpPr>
        <p:grpSpPr>
          <a:xfrm>
            <a:off x="952500" y="5054600"/>
            <a:ext cx="685800" cy="842827"/>
            <a:chOff x="952500" y="5054600"/>
            <a:chExt cx="685800" cy="842827"/>
          </a:xfrm>
        </p:grpSpPr>
        <p:pic>
          <p:nvPicPr>
            <p:cNvPr id="58" name="node13.mark" descr="arrow-right-angle; canonical SHA256=40758c6ab857749af6c80f96e495dbdf2a4d76e38bc96cc28fa877b01fcb9c03; resolved ink=070154">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2500" y="5054600"/>
              <a:ext cx="685800" cy="842827"/>
            </a:xfrm>
            <a:prstGeom prst="rect">
              <a:avLst/>
            </a:prstGeom>
          </p:spPr>
        </p:pic>
      </p:grpSp>
      <p:grpSp>
        <p:nvGrpSpPr>
          <p:cNvPr id="77" name="node14"/>
          <p:cNvGrpSpPr/>
          <p:nvPr/>
        </p:nvGrpSpPr>
        <p:grpSpPr>
          <a:xfrm>
            <a:off x="4610100" y="5054600"/>
            <a:ext cx="685800" cy="842827"/>
            <a:chOff x="4610100" y="5054600"/>
            <a:chExt cx="685800" cy="842827"/>
          </a:xfrm>
        </p:grpSpPr>
        <p:pic>
          <p:nvPicPr>
            <p:cNvPr id="59" name="node14.mark" descr="arrow-right-angle; canonical SHA256=40758c6ab857749af6c80f96e495dbdf2a4d76e38bc96cc28fa877b01fcb9c03; resolved ink=070154">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10100" y="5054600"/>
              <a:ext cx="685800" cy="842827"/>
            </a:xfrm>
            <a:prstGeom prst="rect">
              <a:avLst/>
            </a:prstGeom>
          </p:spPr>
        </p:pic>
      </p:grpSp>
      <p:grpSp>
        <p:nvGrpSpPr>
          <p:cNvPr id="78" name="node15"/>
          <p:cNvGrpSpPr/>
          <p:nvPr/>
        </p:nvGrpSpPr>
        <p:grpSpPr>
          <a:xfrm>
            <a:off x="8267700" y="5054600"/>
            <a:ext cx="685800" cy="842827"/>
            <a:chOff x="8267700" y="5054600"/>
            <a:chExt cx="685800" cy="842827"/>
          </a:xfrm>
        </p:grpSpPr>
        <p:pic>
          <p:nvPicPr>
            <p:cNvPr id="60" name="node15.mark" descr="arrow-right-angle; canonical SHA256=40758c6ab857749af6c80f96e495dbdf2a4d76e38bc96cc28fa877b01fcb9c03; resolved ink=070154">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67700" y="5054600"/>
              <a:ext cx="685800" cy="842827"/>
            </a:xfrm>
            <a:prstGeom prst="rect">
              <a:avLst/>
            </a:prstGeom>
          </p:spPr>
        </p:pic>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ource-402">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PRIORITIZATION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Six initiatives, ranked by value and effort</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finance workshops,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56</a:t>
            </a:fld>
            <a:endParaRPr lang="en-US" sz="700" spc="0" kern="0" b="0" i="0" dirty="0">
              <a:solidFill>
                <a:srgbClr val="070154"/>
              </a:solidFill>
              <a:latin typeface="IBM Plex Mono SemiBold"/>
              <a:ea typeface="IBM Plex Mono SemiBold"/>
              <a:cs typeface="IBM Plex Mono SemiBold"/>
            </a:endParaRPr>
          </a:p>
        </p:txBody>
      </p:sp>
      <p:grpSp>
        <p:nvGrpSpPr>
          <p:cNvPr id="126" name="node01"/>
          <p:cNvGrpSpPr/>
          <p:nvPr/>
        </p:nvGrpSpPr>
        <p:grpSpPr>
          <a:xfrm>
            <a:off x="5308600" y="342900"/>
            <a:ext cx="5359400" cy="5346700"/>
            <a:chOff x="5308600" y="342900"/>
            <a:chExt cx="5359400" cy="5346700"/>
          </a:xfrm>
        </p:grpSpPr>
        <p:sp>
          <p:nvSpPr>
            <p:cNvPr id="7" name="node01.quadrant.tl"/>
            <p:cNvSpPr/>
            <p:nvPr/>
          </p:nvSpPr>
          <p:spPr>
            <a:xfrm>
              <a:off x="5524500" y="342900"/>
              <a:ext cx="2571750" cy="2571750"/>
            </a:xfrm>
            <a:prstGeom prst="rect">
              <a:avLst/>
            </a:prstGeom>
            <a:solidFill>
              <a:srgbClr val="E8EEF8"/>
            </a:solidFill>
            <a:ln>
              <a:noFill/>
            </a:ln>
          </p:spPr>
        </p:sp>
        <p:sp>
          <p:nvSpPr>
            <p:cNvPr id="8" name="node01.name.tl"/>
            <p:cNvSpPr/>
            <p:nvPr/>
          </p:nvSpPr>
          <p:spPr>
            <a:xfrm>
              <a:off x="5638800" y="419100"/>
              <a:ext cx="2343150" cy="139700"/>
            </a:xfrm>
            <a:prstGeom prst="rect">
              <a:avLst/>
            </a:prstGeom>
            <a:noFill/>
            <a:ln/>
          </p:spPr>
          <p:txBody>
            <a:bodyPr wrap="square" lIns="0" tIns="0" rIns="0" bIns="0" rtlCol="0" anchor="t"/>
            <a:lstStyle/>
            <a:p>
              <a:pPr algn="l" indent="0" marL="0">
                <a:lnSpc>
                  <a:spcPts val="1100"/>
                </a:lnSpc>
                <a:buNone/>
              </a:pPr>
              <a:r>
                <a:rPr lang="en-US" sz="800" spc="60" kern="0" b="0" i="0" dirty="0">
                  <a:solidFill>
                    <a:srgbClr val="070154"/>
                  </a:solidFill>
                  <a:latin typeface="IBM Plex Mono SemiBold"/>
                  <a:ea typeface="IBM Plex Mono SemiBold"/>
                  <a:cs typeface="IBM Plex Mono SemiBold"/>
                </a:rPr>
                <a:t>QUICK WINS</a:t>
              </a:r>
              <a:endParaRPr lang="en-US" sz="800" spc="60" kern="0" b="0" i="0" dirty="0">
                <a:solidFill>
                  <a:srgbClr val="070154"/>
                </a:solidFill>
                <a:latin typeface="IBM Plex Mono SemiBold"/>
                <a:ea typeface="IBM Plex Mono SemiBold"/>
                <a:cs typeface="IBM Plex Mono SemiBold"/>
              </a:endParaRPr>
            </a:p>
          </p:txBody>
        </p:sp>
        <p:sp>
          <p:nvSpPr>
            <p:cNvPr id="9" name="node01.tag-bg.tl"/>
            <p:cNvSpPr/>
            <p:nvPr/>
          </p:nvSpPr>
          <p:spPr>
            <a:xfrm>
              <a:off x="5638800" y="647700"/>
              <a:ext cx="759470" cy="203200"/>
            </a:xfrm>
            <a:prstGeom prst="rect">
              <a:avLst/>
            </a:prstGeom>
            <a:solidFill>
              <a:srgbClr val="05013F"/>
            </a:solidFill>
            <a:ln>
              <a:noFill/>
            </a:ln>
          </p:spPr>
        </p:sp>
        <p:sp>
          <p:nvSpPr>
            <p:cNvPr id="10" name="node01.tag.tl"/>
            <p:cNvSpPr/>
            <p:nvPr/>
          </p:nvSpPr>
          <p:spPr>
            <a:xfrm>
              <a:off x="5715000" y="660400"/>
              <a:ext cx="607070" cy="177800"/>
            </a:xfrm>
            <a:prstGeom prst="rect">
              <a:avLst/>
            </a:prstGeom>
            <a:noFill/>
            <a:ln/>
          </p:spPr>
          <p:txBody>
            <a:bodyPr wrap="square" lIns="0" tIns="0" rIns="0" bIns="0" rtlCol="0" anchor="t"/>
            <a:lstStyle/>
            <a:p>
              <a:pPr algn="l" indent="0" marL="0">
                <a:lnSpc>
                  <a:spcPts val="1100"/>
                </a:lnSpc>
                <a:buNone/>
              </a:pPr>
              <a:r>
                <a:rPr lang="en-US" sz="850" spc="60" kern="0" b="0" i="0" dirty="0">
                  <a:solidFill>
                    <a:srgbClr val="FFFFFF"/>
                  </a:solidFill>
                  <a:latin typeface="IBM Plex Mono SemiBold"/>
                  <a:ea typeface="IBM Plex Mono SemiBold"/>
                  <a:cs typeface="IBM Plex Mono SemiBold"/>
                </a:rPr>
                <a:t>AIM HERE</a:t>
              </a:r>
              <a:endParaRPr lang="en-US" sz="850" spc="60" kern="0" b="0" i="0" dirty="0">
                <a:solidFill>
                  <a:srgbClr val="FFFFFF"/>
                </a:solidFill>
                <a:latin typeface="IBM Plex Mono SemiBold"/>
                <a:ea typeface="IBM Plex Mono SemiBold"/>
                <a:cs typeface="IBM Plex Mono SemiBold"/>
              </a:endParaRPr>
            </a:p>
          </p:txBody>
        </p:sp>
        <p:sp>
          <p:nvSpPr>
            <p:cNvPr id="11" name="node01.quadrant.tr"/>
            <p:cNvSpPr/>
            <p:nvPr/>
          </p:nvSpPr>
          <p:spPr>
            <a:xfrm>
              <a:off x="8096250" y="342900"/>
              <a:ext cx="2571750" cy="2571750"/>
            </a:xfrm>
            <a:prstGeom prst="rect">
              <a:avLst/>
            </a:prstGeom>
            <a:solidFill>
              <a:srgbClr val="FFFFFF"/>
            </a:solidFill>
            <a:ln>
              <a:noFill/>
            </a:ln>
          </p:spPr>
        </p:sp>
        <p:sp>
          <p:nvSpPr>
            <p:cNvPr id="12" name="node01.name.tr"/>
            <p:cNvSpPr/>
            <p:nvPr/>
          </p:nvSpPr>
          <p:spPr>
            <a:xfrm>
              <a:off x="8210550" y="419100"/>
              <a:ext cx="2343150" cy="139700"/>
            </a:xfrm>
            <a:prstGeom prst="rect">
              <a:avLst/>
            </a:prstGeom>
            <a:noFill/>
            <a:ln/>
          </p:spPr>
          <p:txBody>
            <a:bodyPr wrap="square" lIns="0" tIns="0" rIns="0" bIns="0" rtlCol="0" anchor="t"/>
            <a:lstStyle/>
            <a:p>
              <a:pPr algn="r" indent="0" marL="0">
                <a:lnSpc>
                  <a:spcPts val="1100"/>
                </a:lnSpc>
                <a:buNone/>
              </a:pPr>
              <a:r>
                <a:rPr lang="en-US" sz="800" spc="60" kern="0" b="0" i="0" dirty="0">
                  <a:solidFill>
                    <a:srgbClr val="070154"/>
                  </a:solidFill>
                  <a:latin typeface="IBM Plex Mono SemiBold"/>
                  <a:ea typeface="IBM Plex Mono SemiBold"/>
                  <a:cs typeface="IBM Plex Mono SemiBold"/>
                </a:rPr>
                <a:t>BIG BETS</a:t>
              </a:r>
              <a:endParaRPr lang="en-US" sz="800" spc="60" kern="0" b="0" i="0" dirty="0">
                <a:solidFill>
                  <a:srgbClr val="070154"/>
                </a:solidFill>
                <a:latin typeface="IBM Plex Mono SemiBold"/>
                <a:ea typeface="IBM Plex Mono SemiBold"/>
                <a:cs typeface="IBM Plex Mono SemiBold"/>
              </a:endParaRPr>
            </a:p>
          </p:txBody>
        </p:sp>
        <p:sp>
          <p:nvSpPr>
            <p:cNvPr id="13" name="node01.quadrant.bl"/>
            <p:cNvSpPr/>
            <p:nvPr/>
          </p:nvSpPr>
          <p:spPr>
            <a:xfrm>
              <a:off x="5524500" y="2914650"/>
              <a:ext cx="2571750" cy="2571750"/>
            </a:xfrm>
            <a:prstGeom prst="rect">
              <a:avLst/>
            </a:prstGeom>
            <a:solidFill>
              <a:srgbClr val="FFFFFF"/>
            </a:solidFill>
            <a:ln>
              <a:noFill/>
            </a:ln>
          </p:spPr>
        </p:sp>
        <p:sp>
          <p:nvSpPr>
            <p:cNvPr id="14" name="node01.name.bl"/>
            <p:cNvSpPr/>
            <p:nvPr/>
          </p:nvSpPr>
          <p:spPr>
            <a:xfrm>
              <a:off x="5638800" y="5181600"/>
              <a:ext cx="2343150" cy="139700"/>
            </a:xfrm>
            <a:prstGeom prst="rect">
              <a:avLst/>
            </a:prstGeom>
            <a:noFill/>
            <a:ln/>
          </p:spPr>
          <p:txBody>
            <a:bodyPr wrap="square" lIns="0" tIns="0" rIns="0" bIns="0" rtlCol="0" anchor="t"/>
            <a:lstStyle/>
            <a:p>
              <a:pPr algn="l" indent="0" marL="0">
                <a:lnSpc>
                  <a:spcPts val="1100"/>
                </a:lnSpc>
                <a:buNone/>
              </a:pPr>
              <a:r>
                <a:rPr lang="en-US" sz="800" spc="60" kern="0" b="0" i="0" dirty="0">
                  <a:solidFill>
                    <a:srgbClr val="070154"/>
                  </a:solidFill>
                  <a:latin typeface="IBM Plex Mono SemiBold"/>
                  <a:ea typeface="IBM Plex Mono SemiBold"/>
                  <a:cs typeface="IBM Plex Mono SemiBold"/>
                </a:rPr>
                <a:t>FILL-INS</a:t>
              </a:r>
              <a:endParaRPr lang="en-US" sz="800" spc="60" kern="0" b="0" i="0" dirty="0">
                <a:solidFill>
                  <a:srgbClr val="070154"/>
                </a:solidFill>
                <a:latin typeface="IBM Plex Mono SemiBold"/>
                <a:ea typeface="IBM Plex Mono SemiBold"/>
                <a:cs typeface="IBM Plex Mono SemiBold"/>
              </a:endParaRPr>
            </a:p>
          </p:txBody>
        </p:sp>
        <p:sp>
          <p:nvSpPr>
            <p:cNvPr id="15" name="node01.quadrant.br"/>
            <p:cNvSpPr/>
            <p:nvPr/>
          </p:nvSpPr>
          <p:spPr>
            <a:xfrm>
              <a:off x="8096250" y="2914650"/>
              <a:ext cx="2571750" cy="2571750"/>
            </a:xfrm>
            <a:prstGeom prst="rect">
              <a:avLst/>
            </a:prstGeom>
            <a:solidFill>
              <a:srgbClr val="FFFFFF"/>
            </a:solidFill>
            <a:ln>
              <a:noFill/>
            </a:ln>
          </p:spPr>
        </p:sp>
        <p:sp>
          <p:nvSpPr>
            <p:cNvPr id="16" name="node01.hatch.br.000"/>
            <p:cNvSpPr/>
            <p:nvPr/>
          </p:nvSpPr>
          <p:spPr>
            <a:xfrm>
              <a:off x="8096250" y="5486400"/>
              <a:ext cx="127" cy="127"/>
            </a:xfrm>
            <a:custGeom>
              <a:avLst/>
              <a:gdLst/>
              <a:ahLst/>
              <a:cxnLst/>
              <a:rect l="l" t="t" r="r" b="b"/>
              <a:pathLst>
                <a:path w="127" h="127">
                  <a:moveTo>
                    <a:pt x="0" y="0"/>
                  </a:moveTo>
                  <a:lnTo>
                    <a:pt x="0" y="0"/>
                  </a:lnTo>
                </a:path>
              </a:pathLst>
            </a:custGeom>
            <a:ln w="25400">
              <a:solidFill>
                <a:srgbClr val="CED7E6"/>
              </a:solidFill>
              <a:prstDash val="solid"/>
            </a:ln>
          </p:spPr>
        </p:sp>
        <p:sp>
          <p:nvSpPr>
            <p:cNvPr id="17" name="node01.hatch.br.001"/>
            <p:cNvSpPr/>
            <p:nvPr/>
          </p:nvSpPr>
          <p:spPr>
            <a:xfrm>
              <a:off x="8096250" y="5410200"/>
              <a:ext cx="76200" cy="76200"/>
            </a:xfrm>
            <a:custGeom>
              <a:avLst/>
              <a:gdLst/>
              <a:ahLst/>
              <a:cxnLst/>
              <a:rect l="l" t="t" r="r" b="b"/>
              <a:pathLst>
                <a:path w="76200" h="76200">
                  <a:moveTo>
                    <a:pt x="0" y="0"/>
                  </a:moveTo>
                  <a:lnTo>
                    <a:pt x="76200" y="76200"/>
                  </a:lnTo>
                </a:path>
              </a:pathLst>
            </a:custGeom>
            <a:ln w="25400">
              <a:solidFill>
                <a:srgbClr val="CED7E6"/>
              </a:solidFill>
              <a:prstDash val="solid"/>
            </a:ln>
          </p:spPr>
        </p:sp>
        <p:sp>
          <p:nvSpPr>
            <p:cNvPr id="18" name="node01.hatch.br.002"/>
            <p:cNvSpPr/>
            <p:nvPr/>
          </p:nvSpPr>
          <p:spPr>
            <a:xfrm>
              <a:off x="8096250" y="5334000"/>
              <a:ext cx="152400" cy="152400"/>
            </a:xfrm>
            <a:custGeom>
              <a:avLst/>
              <a:gdLst/>
              <a:ahLst/>
              <a:cxnLst/>
              <a:rect l="l" t="t" r="r" b="b"/>
              <a:pathLst>
                <a:path w="152400" h="152400">
                  <a:moveTo>
                    <a:pt x="0" y="0"/>
                  </a:moveTo>
                  <a:lnTo>
                    <a:pt x="152400" y="152400"/>
                  </a:lnTo>
                </a:path>
              </a:pathLst>
            </a:custGeom>
            <a:ln w="25400">
              <a:solidFill>
                <a:srgbClr val="CED7E6"/>
              </a:solidFill>
              <a:prstDash val="solid"/>
            </a:ln>
          </p:spPr>
        </p:sp>
        <p:sp>
          <p:nvSpPr>
            <p:cNvPr id="19" name="node01.hatch.br.003"/>
            <p:cNvSpPr/>
            <p:nvPr/>
          </p:nvSpPr>
          <p:spPr>
            <a:xfrm>
              <a:off x="8096250" y="5257800"/>
              <a:ext cx="228600" cy="228600"/>
            </a:xfrm>
            <a:custGeom>
              <a:avLst/>
              <a:gdLst/>
              <a:ahLst/>
              <a:cxnLst/>
              <a:rect l="l" t="t" r="r" b="b"/>
              <a:pathLst>
                <a:path w="228600" h="228600">
                  <a:moveTo>
                    <a:pt x="0" y="0"/>
                  </a:moveTo>
                  <a:lnTo>
                    <a:pt x="228600" y="228600"/>
                  </a:lnTo>
                </a:path>
              </a:pathLst>
            </a:custGeom>
            <a:ln w="25400">
              <a:solidFill>
                <a:srgbClr val="CED7E6"/>
              </a:solidFill>
              <a:prstDash val="solid"/>
            </a:ln>
          </p:spPr>
        </p:sp>
        <p:sp>
          <p:nvSpPr>
            <p:cNvPr id="20" name="node01.hatch.br.004"/>
            <p:cNvSpPr/>
            <p:nvPr/>
          </p:nvSpPr>
          <p:spPr>
            <a:xfrm>
              <a:off x="8096250" y="5181600"/>
              <a:ext cx="304800" cy="304800"/>
            </a:xfrm>
            <a:custGeom>
              <a:avLst/>
              <a:gdLst/>
              <a:ahLst/>
              <a:cxnLst/>
              <a:rect l="l" t="t" r="r" b="b"/>
              <a:pathLst>
                <a:path w="304800" h="304800">
                  <a:moveTo>
                    <a:pt x="0" y="0"/>
                  </a:moveTo>
                  <a:lnTo>
                    <a:pt x="304800" y="304800"/>
                  </a:lnTo>
                </a:path>
              </a:pathLst>
            </a:custGeom>
            <a:ln w="25400">
              <a:solidFill>
                <a:srgbClr val="CED7E6"/>
              </a:solidFill>
              <a:prstDash val="solid"/>
            </a:ln>
          </p:spPr>
        </p:sp>
        <p:sp>
          <p:nvSpPr>
            <p:cNvPr id="21" name="node01.hatch.br.005"/>
            <p:cNvSpPr/>
            <p:nvPr/>
          </p:nvSpPr>
          <p:spPr>
            <a:xfrm>
              <a:off x="8096250" y="5105400"/>
              <a:ext cx="381000" cy="381000"/>
            </a:xfrm>
            <a:custGeom>
              <a:avLst/>
              <a:gdLst/>
              <a:ahLst/>
              <a:cxnLst/>
              <a:rect l="l" t="t" r="r" b="b"/>
              <a:pathLst>
                <a:path w="381000" h="381000">
                  <a:moveTo>
                    <a:pt x="0" y="0"/>
                  </a:moveTo>
                  <a:lnTo>
                    <a:pt x="381000" y="381000"/>
                  </a:lnTo>
                </a:path>
              </a:pathLst>
            </a:custGeom>
            <a:ln w="25400">
              <a:solidFill>
                <a:srgbClr val="CED7E6"/>
              </a:solidFill>
              <a:prstDash val="solid"/>
            </a:ln>
          </p:spPr>
        </p:sp>
        <p:sp>
          <p:nvSpPr>
            <p:cNvPr id="22" name="node01.hatch.br.006"/>
            <p:cNvSpPr/>
            <p:nvPr/>
          </p:nvSpPr>
          <p:spPr>
            <a:xfrm>
              <a:off x="8096250" y="5029200"/>
              <a:ext cx="457200" cy="457200"/>
            </a:xfrm>
            <a:custGeom>
              <a:avLst/>
              <a:gdLst/>
              <a:ahLst/>
              <a:cxnLst/>
              <a:rect l="l" t="t" r="r" b="b"/>
              <a:pathLst>
                <a:path w="457200" h="457200">
                  <a:moveTo>
                    <a:pt x="0" y="0"/>
                  </a:moveTo>
                  <a:lnTo>
                    <a:pt x="457200" y="457200"/>
                  </a:lnTo>
                </a:path>
              </a:pathLst>
            </a:custGeom>
            <a:ln w="25400">
              <a:solidFill>
                <a:srgbClr val="CED7E6"/>
              </a:solidFill>
              <a:prstDash val="solid"/>
            </a:ln>
          </p:spPr>
        </p:sp>
        <p:sp>
          <p:nvSpPr>
            <p:cNvPr id="23" name="node01.hatch.br.007"/>
            <p:cNvSpPr/>
            <p:nvPr/>
          </p:nvSpPr>
          <p:spPr>
            <a:xfrm>
              <a:off x="8096250" y="4953000"/>
              <a:ext cx="533400" cy="533400"/>
            </a:xfrm>
            <a:custGeom>
              <a:avLst/>
              <a:gdLst/>
              <a:ahLst/>
              <a:cxnLst/>
              <a:rect l="l" t="t" r="r" b="b"/>
              <a:pathLst>
                <a:path w="533400" h="533400">
                  <a:moveTo>
                    <a:pt x="0" y="0"/>
                  </a:moveTo>
                  <a:lnTo>
                    <a:pt x="533400" y="533400"/>
                  </a:lnTo>
                </a:path>
              </a:pathLst>
            </a:custGeom>
            <a:ln w="25400">
              <a:solidFill>
                <a:srgbClr val="CED7E6"/>
              </a:solidFill>
              <a:prstDash val="solid"/>
            </a:ln>
          </p:spPr>
        </p:sp>
        <p:sp>
          <p:nvSpPr>
            <p:cNvPr id="24" name="node01.hatch.br.008"/>
            <p:cNvSpPr/>
            <p:nvPr/>
          </p:nvSpPr>
          <p:spPr>
            <a:xfrm>
              <a:off x="8096250" y="4876800"/>
              <a:ext cx="609600" cy="609600"/>
            </a:xfrm>
            <a:custGeom>
              <a:avLst/>
              <a:gdLst/>
              <a:ahLst/>
              <a:cxnLst/>
              <a:rect l="l" t="t" r="r" b="b"/>
              <a:pathLst>
                <a:path w="609600" h="609600">
                  <a:moveTo>
                    <a:pt x="0" y="0"/>
                  </a:moveTo>
                  <a:lnTo>
                    <a:pt x="609600" y="609600"/>
                  </a:lnTo>
                </a:path>
              </a:pathLst>
            </a:custGeom>
            <a:ln w="25400">
              <a:solidFill>
                <a:srgbClr val="CED7E6"/>
              </a:solidFill>
              <a:prstDash val="solid"/>
            </a:ln>
          </p:spPr>
        </p:sp>
        <p:sp>
          <p:nvSpPr>
            <p:cNvPr id="25" name="node01.hatch.br.009"/>
            <p:cNvSpPr/>
            <p:nvPr/>
          </p:nvSpPr>
          <p:spPr>
            <a:xfrm>
              <a:off x="8096250" y="4800600"/>
              <a:ext cx="685800" cy="685800"/>
            </a:xfrm>
            <a:custGeom>
              <a:avLst/>
              <a:gdLst/>
              <a:ahLst/>
              <a:cxnLst/>
              <a:rect l="l" t="t" r="r" b="b"/>
              <a:pathLst>
                <a:path w="685800" h="685800">
                  <a:moveTo>
                    <a:pt x="0" y="0"/>
                  </a:moveTo>
                  <a:lnTo>
                    <a:pt x="685800" y="685800"/>
                  </a:lnTo>
                </a:path>
              </a:pathLst>
            </a:custGeom>
            <a:ln w="25400">
              <a:solidFill>
                <a:srgbClr val="CED7E6"/>
              </a:solidFill>
              <a:prstDash val="solid"/>
            </a:ln>
          </p:spPr>
        </p:sp>
        <p:sp>
          <p:nvSpPr>
            <p:cNvPr id="26" name="node01.hatch.br.010"/>
            <p:cNvSpPr/>
            <p:nvPr/>
          </p:nvSpPr>
          <p:spPr>
            <a:xfrm>
              <a:off x="8096250" y="4724400"/>
              <a:ext cx="762000" cy="762000"/>
            </a:xfrm>
            <a:custGeom>
              <a:avLst/>
              <a:gdLst/>
              <a:ahLst/>
              <a:cxnLst/>
              <a:rect l="l" t="t" r="r" b="b"/>
              <a:pathLst>
                <a:path w="762000" h="762000">
                  <a:moveTo>
                    <a:pt x="0" y="0"/>
                  </a:moveTo>
                  <a:lnTo>
                    <a:pt x="762000" y="762000"/>
                  </a:lnTo>
                </a:path>
              </a:pathLst>
            </a:custGeom>
            <a:ln w="25400">
              <a:solidFill>
                <a:srgbClr val="CED7E6"/>
              </a:solidFill>
              <a:prstDash val="solid"/>
            </a:ln>
          </p:spPr>
        </p:sp>
        <p:sp>
          <p:nvSpPr>
            <p:cNvPr id="27" name="node01.hatch.br.011"/>
            <p:cNvSpPr/>
            <p:nvPr/>
          </p:nvSpPr>
          <p:spPr>
            <a:xfrm>
              <a:off x="8096250" y="4648200"/>
              <a:ext cx="838200" cy="838200"/>
            </a:xfrm>
            <a:custGeom>
              <a:avLst/>
              <a:gdLst/>
              <a:ahLst/>
              <a:cxnLst/>
              <a:rect l="l" t="t" r="r" b="b"/>
              <a:pathLst>
                <a:path w="838200" h="838200">
                  <a:moveTo>
                    <a:pt x="0" y="0"/>
                  </a:moveTo>
                  <a:lnTo>
                    <a:pt x="838200" y="838200"/>
                  </a:lnTo>
                </a:path>
              </a:pathLst>
            </a:custGeom>
            <a:ln w="25400">
              <a:solidFill>
                <a:srgbClr val="CED7E6"/>
              </a:solidFill>
              <a:prstDash val="solid"/>
            </a:ln>
          </p:spPr>
        </p:sp>
        <p:sp>
          <p:nvSpPr>
            <p:cNvPr id="28" name="node01.hatch.br.012"/>
            <p:cNvSpPr/>
            <p:nvPr/>
          </p:nvSpPr>
          <p:spPr>
            <a:xfrm>
              <a:off x="8096250" y="4572000"/>
              <a:ext cx="914400" cy="914400"/>
            </a:xfrm>
            <a:custGeom>
              <a:avLst/>
              <a:gdLst/>
              <a:ahLst/>
              <a:cxnLst/>
              <a:rect l="l" t="t" r="r" b="b"/>
              <a:pathLst>
                <a:path w="914400" h="914400">
                  <a:moveTo>
                    <a:pt x="0" y="0"/>
                  </a:moveTo>
                  <a:lnTo>
                    <a:pt x="914400" y="914400"/>
                  </a:lnTo>
                </a:path>
              </a:pathLst>
            </a:custGeom>
            <a:ln w="25400">
              <a:solidFill>
                <a:srgbClr val="CED7E6"/>
              </a:solidFill>
              <a:prstDash val="solid"/>
            </a:ln>
          </p:spPr>
        </p:sp>
        <p:sp>
          <p:nvSpPr>
            <p:cNvPr id="29" name="node01.hatch.br.013"/>
            <p:cNvSpPr/>
            <p:nvPr/>
          </p:nvSpPr>
          <p:spPr>
            <a:xfrm>
              <a:off x="8096250" y="4495800"/>
              <a:ext cx="990600" cy="990600"/>
            </a:xfrm>
            <a:custGeom>
              <a:avLst/>
              <a:gdLst/>
              <a:ahLst/>
              <a:cxnLst/>
              <a:rect l="l" t="t" r="r" b="b"/>
              <a:pathLst>
                <a:path w="990600" h="990600">
                  <a:moveTo>
                    <a:pt x="0" y="0"/>
                  </a:moveTo>
                  <a:lnTo>
                    <a:pt x="990600" y="990600"/>
                  </a:lnTo>
                </a:path>
              </a:pathLst>
            </a:custGeom>
            <a:ln w="25400">
              <a:solidFill>
                <a:srgbClr val="CED7E6"/>
              </a:solidFill>
              <a:prstDash val="solid"/>
            </a:ln>
          </p:spPr>
        </p:sp>
        <p:sp>
          <p:nvSpPr>
            <p:cNvPr id="30" name="node01.hatch.br.014"/>
            <p:cNvSpPr/>
            <p:nvPr/>
          </p:nvSpPr>
          <p:spPr>
            <a:xfrm>
              <a:off x="8096250" y="4419600"/>
              <a:ext cx="1066800" cy="1066800"/>
            </a:xfrm>
            <a:custGeom>
              <a:avLst/>
              <a:gdLst/>
              <a:ahLst/>
              <a:cxnLst/>
              <a:rect l="l" t="t" r="r" b="b"/>
              <a:pathLst>
                <a:path w="1066800" h="1066800">
                  <a:moveTo>
                    <a:pt x="0" y="0"/>
                  </a:moveTo>
                  <a:lnTo>
                    <a:pt x="1066800" y="1066800"/>
                  </a:lnTo>
                </a:path>
              </a:pathLst>
            </a:custGeom>
            <a:ln w="25400">
              <a:solidFill>
                <a:srgbClr val="CED7E6"/>
              </a:solidFill>
              <a:prstDash val="solid"/>
            </a:ln>
          </p:spPr>
        </p:sp>
        <p:sp>
          <p:nvSpPr>
            <p:cNvPr id="31" name="node01.hatch.br.015"/>
            <p:cNvSpPr/>
            <p:nvPr/>
          </p:nvSpPr>
          <p:spPr>
            <a:xfrm>
              <a:off x="8096250" y="4343400"/>
              <a:ext cx="1143000" cy="1143000"/>
            </a:xfrm>
            <a:custGeom>
              <a:avLst/>
              <a:gdLst/>
              <a:ahLst/>
              <a:cxnLst/>
              <a:rect l="l" t="t" r="r" b="b"/>
              <a:pathLst>
                <a:path w="1143000" h="1143000">
                  <a:moveTo>
                    <a:pt x="0" y="0"/>
                  </a:moveTo>
                  <a:lnTo>
                    <a:pt x="1143000" y="1143000"/>
                  </a:lnTo>
                </a:path>
              </a:pathLst>
            </a:custGeom>
            <a:ln w="25400">
              <a:solidFill>
                <a:srgbClr val="CED7E6"/>
              </a:solidFill>
              <a:prstDash val="solid"/>
            </a:ln>
          </p:spPr>
        </p:sp>
        <p:sp>
          <p:nvSpPr>
            <p:cNvPr id="32" name="node01.hatch.br.016"/>
            <p:cNvSpPr/>
            <p:nvPr/>
          </p:nvSpPr>
          <p:spPr>
            <a:xfrm>
              <a:off x="8096250" y="4267200"/>
              <a:ext cx="1219200" cy="1219200"/>
            </a:xfrm>
            <a:custGeom>
              <a:avLst/>
              <a:gdLst/>
              <a:ahLst/>
              <a:cxnLst/>
              <a:rect l="l" t="t" r="r" b="b"/>
              <a:pathLst>
                <a:path w="1219200" h="1219200">
                  <a:moveTo>
                    <a:pt x="0" y="0"/>
                  </a:moveTo>
                  <a:lnTo>
                    <a:pt x="1219200" y="1219200"/>
                  </a:lnTo>
                </a:path>
              </a:pathLst>
            </a:custGeom>
            <a:ln w="25400">
              <a:solidFill>
                <a:srgbClr val="CED7E6"/>
              </a:solidFill>
              <a:prstDash val="solid"/>
            </a:ln>
          </p:spPr>
        </p:sp>
        <p:sp>
          <p:nvSpPr>
            <p:cNvPr id="33" name="node01.hatch.br.017"/>
            <p:cNvSpPr/>
            <p:nvPr/>
          </p:nvSpPr>
          <p:spPr>
            <a:xfrm>
              <a:off x="8096250" y="4191000"/>
              <a:ext cx="1295400" cy="1295400"/>
            </a:xfrm>
            <a:custGeom>
              <a:avLst/>
              <a:gdLst/>
              <a:ahLst/>
              <a:cxnLst/>
              <a:rect l="l" t="t" r="r" b="b"/>
              <a:pathLst>
                <a:path w="1295400" h="1295400">
                  <a:moveTo>
                    <a:pt x="0" y="0"/>
                  </a:moveTo>
                  <a:lnTo>
                    <a:pt x="1295400" y="1295400"/>
                  </a:lnTo>
                </a:path>
              </a:pathLst>
            </a:custGeom>
            <a:ln w="25400">
              <a:solidFill>
                <a:srgbClr val="CED7E6"/>
              </a:solidFill>
              <a:prstDash val="solid"/>
            </a:ln>
          </p:spPr>
        </p:sp>
        <p:sp>
          <p:nvSpPr>
            <p:cNvPr id="34" name="node01.hatch.br.018"/>
            <p:cNvSpPr/>
            <p:nvPr/>
          </p:nvSpPr>
          <p:spPr>
            <a:xfrm>
              <a:off x="8096250" y="4114800"/>
              <a:ext cx="1371600" cy="1371600"/>
            </a:xfrm>
            <a:custGeom>
              <a:avLst/>
              <a:gdLst/>
              <a:ahLst/>
              <a:cxnLst/>
              <a:rect l="l" t="t" r="r" b="b"/>
              <a:pathLst>
                <a:path w="1371600" h="1371600">
                  <a:moveTo>
                    <a:pt x="0" y="0"/>
                  </a:moveTo>
                  <a:lnTo>
                    <a:pt x="1371600" y="1371600"/>
                  </a:lnTo>
                </a:path>
              </a:pathLst>
            </a:custGeom>
            <a:ln w="25400">
              <a:solidFill>
                <a:srgbClr val="CED7E6"/>
              </a:solidFill>
              <a:prstDash val="solid"/>
            </a:ln>
          </p:spPr>
        </p:sp>
        <p:sp>
          <p:nvSpPr>
            <p:cNvPr id="35" name="node01.hatch.br.019"/>
            <p:cNvSpPr/>
            <p:nvPr/>
          </p:nvSpPr>
          <p:spPr>
            <a:xfrm>
              <a:off x="8096250" y="4038600"/>
              <a:ext cx="1447800" cy="1447800"/>
            </a:xfrm>
            <a:custGeom>
              <a:avLst/>
              <a:gdLst/>
              <a:ahLst/>
              <a:cxnLst/>
              <a:rect l="l" t="t" r="r" b="b"/>
              <a:pathLst>
                <a:path w="1447800" h="1447800">
                  <a:moveTo>
                    <a:pt x="0" y="0"/>
                  </a:moveTo>
                  <a:lnTo>
                    <a:pt x="1447800" y="1447800"/>
                  </a:lnTo>
                </a:path>
              </a:pathLst>
            </a:custGeom>
            <a:ln w="25400">
              <a:solidFill>
                <a:srgbClr val="CED7E6"/>
              </a:solidFill>
              <a:prstDash val="solid"/>
            </a:ln>
          </p:spPr>
        </p:sp>
        <p:sp>
          <p:nvSpPr>
            <p:cNvPr id="36" name="node01.hatch.br.020"/>
            <p:cNvSpPr/>
            <p:nvPr/>
          </p:nvSpPr>
          <p:spPr>
            <a:xfrm>
              <a:off x="8096250" y="3962400"/>
              <a:ext cx="1524000" cy="1524000"/>
            </a:xfrm>
            <a:custGeom>
              <a:avLst/>
              <a:gdLst/>
              <a:ahLst/>
              <a:cxnLst/>
              <a:rect l="l" t="t" r="r" b="b"/>
              <a:pathLst>
                <a:path w="1524000" h="1524000">
                  <a:moveTo>
                    <a:pt x="0" y="0"/>
                  </a:moveTo>
                  <a:lnTo>
                    <a:pt x="1524000" y="1524000"/>
                  </a:lnTo>
                </a:path>
              </a:pathLst>
            </a:custGeom>
            <a:ln w="25400">
              <a:solidFill>
                <a:srgbClr val="CED7E6"/>
              </a:solidFill>
              <a:prstDash val="solid"/>
            </a:ln>
          </p:spPr>
        </p:sp>
        <p:sp>
          <p:nvSpPr>
            <p:cNvPr id="37" name="node01.hatch.br.021"/>
            <p:cNvSpPr/>
            <p:nvPr/>
          </p:nvSpPr>
          <p:spPr>
            <a:xfrm>
              <a:off x="8096250" y="3886200"/>
              <a:ext cx="1600200" cy="1600200"/>
            </a:xfrm>
            <a:custGeom>
              <a:avLst/>
              <a:gdLst/>
              <a:ahLst/>
              <a:cxnLst/>
              <a:rect l="l" t="t" r="r" b="b"/>
              <a:pathLst>
                <a:path w="1600200" h="1600200">
                  <a:moveTo>
                    <a:pt x="0" y="0"/>
                  </a:moveTo>
                  <a:lnTo>
                    <a:pt x="1600200" y="1600200"/>
                  </a:lnTo>
                </a:path>
              </a:pathLst>
            </a:custGeom>
            <a:ln w="25400">
              <a:solidFill>
                <a:srgbClr val="CED7E6"/>
              </a:solidFill>
              <a:prstDash val="solid"/>
            </a:ln>
          </p:spPr>
        </p:sp>
        <p:sp>
          <p:nvSpPr>
            <p:cNvPr id="38" name="node01.hatch.br.022"/>
            <p:cNvSpPr/>
            <p:nvPr/>
          </p:nvSpPr>
          <p:spPr>
            <a:xfrm>
              <a:off x="8096250" y="3810000"/>
              <a:ext cx="1676400" cy="1676400"/>
            </a:xfrm>
            <a:custGeom>
              <a:avLst/>
              <a:gdLst/>
              <a:ahLst/>
              <a:cxnLst/>
              <a:rect l="l" t="t" r="r" b="b"/>
              <a:pathLst>
                <a:path w="1676400" h="1676400">
                  <a:moveTo>
                    <a:pt x="0" y="0"/>
                  </a:moveTo>
                  <a:lnTo>
                    <a:pt x="1676400" y="1676400"/>
                  </a:lnTo>
                </a:path>
              </a:pathLst>
            </a:custGeom>
            <a:ln w="25400">
              <a:solidFill>
                <a:srgbClr val="CED7E6"/>
              </a:solidFill>
              <a:prstDash val="solid"/>
            </a:ln>
          </p:spPr>
        </p:sp>
        <p:sp>
          <p:nvSpPr>
            <p:cNvPr id="39" name="node01.hatch.br.023"/>
            <p:cNvSpPr/>
            <p:nvPr/>
          </p:nvSpPr>
          <p:spPr>
            <a:xfrm>
              <a:off x="8096250" y="3733800"/>
              <a:ext cx="1752600" cy="1752600"/>
            </a:xfrm>
            <a:custGeom>
              <a:avLst/>
              <a:gdLst/>
              <a:ahLst/>
              <a:cxnLst/>
              <a:rect l="l" t="t" r="r" b="b"/>
              <a:pathLst>
                <a:path w="1752600" h="1752600">
                  <a:moveTo>
                    <a:pt x="0" y="0"/>
                  </a:moveTo>
                  <a:lnTo>
                    <a:pt x="1752600" y="1752600"/>
                  </a:lnTo>
                </a:path>
              </a:pathLst>
            </a:custGeom>
            <a:ln w="25400">
              <a:solidFill>
                <a:srgbClr val="CED7E6"/>
              </a:solidFill>
              <a:prstDash val="solid"/>
            </a:ln>
          </p:spPr>
        </p:sp>
        <p:sp>
          <p:nvSpPr>
            <p:cNvPr id="40" name="node01.hatch.br.024"/>
            <p:cNvSpPr/>
            <p:nvPr/>
          </p:nvSpPr>
          <p:spPr>
            <a:xfrm>
              <a:off x="8096250" y="3657600"/>
              <a:ext cx="1828800" cy="1828800"/>
            </a:xfrm>
            <a:custGeom>
              <a:avLst/>
              <a:gdLst/>
              <a:ahLst/>
              <a:cxnLst/>
              <a:rect l="l" t="t" r="r" b="b"/>
              <a:pathLst>
                <a:path w="1828800" h="1828800">
                  <a:moveTo>
                    <a:pt x="0" y="0"/>
                  </a:moveTo>
                  <a:lnTo>
                    <a:pt x="1828800" y="1828800"/>
                  </a:lnTo>
                </a:path>
              </a:pathLst>
            </a:custGeom>
            <a:ln w="25400">
              <a:solidFill>
                <a:srgbClr val="CED7E6"/>
              </a:solidFill>
              <a:prstDash val="solid"/>
            </a:ln>
          </p:spPr>
        </p:sp>
        <p:sp>
          <p:nvSpPr>
            <p:cNvPr id="41" name="node01.hatch.br.025"/>
            <p:cNvSpPr/>
            <p:nvPr/>
          </p:nvSpPr>
          <p:spPr>
            <a:xfrm>
              <a:off x="8096250" y="3581400"/>
              <a:ext cx="1905000" cy="1905000"/>
            </a:xfrm>
            <a:custGeom>
              <a:avLst/>
              <a:gdLst/>
              <a:ahLst/>
              <a:cxnLst/>
              <a:rect l="l" t="t" r="r" b="b"/>
              <a:pathLst>
                <a:path w="1905000" h="1905000">
                  <a:moveTo>
                    <a:pt x="0" y="0"/>
                  </a:moveTo>
                  <a:lnTo>
                    <a:pt x="1905000" y="1905000"/>
                  </a:lnTo>
                </a:path>
              </a:pathLst>
            </a:custGeom>
            <a:ln w="25400">
              <a:solidFill>
                <a:srgbClr val="CED7E6"/>
              </a:solidFill>
              <a:prstDash val="solid"/>
            </a:ln>
          </p:spPr>
        </p:sp>
        <p:sp>
          <p:nvSpPr>
            <p:cNvPr id="42" name="node01.hatch.br.026"/>
            <p:cNvSpPr/>
            <p:nvPr/>
          </p:nvSpPr>
          <p:spPr>
            <a:xfrm>
              <a:off x="8096250" y="3505200"/>
              <a:ext cx="1981200" cy="1981200"/>
            </a:xfrm>
            <a:custGeom>
              <a:avLst/>
              <a:gdLst/>
              <a:ahLst/>
              <a:cxnLst/>
              <a:rect l="l" t="t" r="r" b="b"/>
              <a:pathLst>
                <a:path w="1981200" h="1981200">
                  <a:moveTo>
                    <a:pt x="0" y="0"/>
                  </a:moveTo>
                  <a:lnTo>
                    <a:pt x="1981200" y="1981200"/>
                  </a:lnTo>
                </a:path>
              </a:pathLst>
            </a:custGeom>
            <a:ln w="25400">
              <a:solidFill>
                <a:srgbClr val="CED7E6"/>
              </a:solidFill>
              <a:prstDash val="solid"/>
            </a:ln>
          </p:spPr>
        </p:sp>
        <p:sp>
          <p:nvSpPr>
            <p:cNvPr id="43" name="node01.hatch.br.027"/>
            <p:cNvSpPr/>
            <p:nvPr/>
          </p:nvSpPr>
          <p:spPr>
            <a:xfrm>
              <a:off x="8096250" y="3429000"/>
              <a:ext cx="2057400" cy="2057400"/>
            </a:xfrm>
            <a:custGeom>
              <a:avLst/>
              <a:gdLst/>
              <a:ahLst/>
              <a:cxnLst/>
              <a:rect l="l" t="t" r="r" b="b"/>
              <a:pathLst>
                <a:path w="2057400" h="2057400">
                  <a:moveTo>
                    <a:pt x="0" y="0"/>
                  </a:moveTo>
                  <a:lnTo>
                    <a:pt x="2057400" y="2057400"/>
                  </a:lnTo>
                </a:path>
              </a:pathLst>
            </a:custGeom>
            <a:ln w="25400">
              <a:solidFill>
                <a:srgbClr val="CED7E6"/>
              </a:solidFill>
              <a:prstDash val="solid"/>
            </a:ln>
          </p:spPr>
        </p:sp>
        <p:sp>
          <p:nvSpPr>
            <p:cNvPr id="44" name="node01.hatch.br.028"/>
            <p:cNvSpPr/>
            <p:nvPr/>
          </p:nvSpPr>
          <p:spPr>
            <a:xfrm>
              <a:off x="8096250" y="3352800"/>
              <a:ext cx="2133600" cy="2133600"/>
            </a:xfrm>
            <a:custGeom>
              <a:avLst/>
              <a:gdLst/>
              <a:ahLst/>
              <a:cxnLst/>
              <a:rect l="l" t="t" r="r" b="b"/>
              <a:pathLst>
                <a:path w="2133600" h="2133600">
                  <a:moveTo>
                    <a:pt x="0" y="0"/>
                  </a:moveTo>
                  <a:lnTo>
                    <a:pt x="2133600" y="2133600"/>
                  </a:lnTo>
                </a:path>
              </a:pathLst>
            </a:custGeom>
            <a:ln w="25400">
              <a:solidFill>
                <a:srgbClr val="CED7E6"/>
              </a:solidFill>
              <a:prstDash val="solid"/>
            </a:ln>
          </p:spPr>
        </p:sp>
        <p:sp>
          <p:nvSpPr>
            <p:cNvPr id="45" name="node01.hatch.br.029"/>
            <p:cNvSpPr/>
            <p:nvPr/>
          </p:nvSpPr>
          <p:spPr>
            <a:xfrm>
              <a:off x="8096250" y="3276600"/>
              <a:ext cx="2209800" cy="2209800"/>
            </a:xfrm>
            <a:custGeom>
              <a:avLst/>
              <a:gdLst/>
              <a:ahLst/>
              <a:cxnLst/>
              <a:rect l="l" t="t" r="r" b="b"/>
              <a:pathLst>
                <a:path w="2209800" h="2209800">
                  <a:moveTo>
                    <a:pt x="0" y="0"/>
                  </a:moveTo>
                  <a:lnTo>
                    <a:pt x="2209800" y="2209800"/>
                  </a:lnTo>
                </a:path>
              </a:pathLst>
            </a:custGeom>
            <a:ln w="25400">
              <a:solidFill>
                <a:srgbClr val="CED7E6"/>
              </a:solidFill>
              <a:prstDash val="solid"/>
            </a:ln>
          </p:spPr>
        </p:sp>
        <p:sp>
          <p:nvSpPr>
            <p:cNvPr id="46" name="node01.hatch.br.030"/>
            <p:cNvSpPr/>
            <p:nvPr/>
          </p:nvSpPr>
          <p:spPr>
            <a:xfrm>
              <a:off x="8096250" y="3200400"/>
              <a:ext cx="2286000" cy="2286000"/>
            </a:xfrm>
            <a:custGeom>
              <a:avLst/>
              <a:gdLst/>
              <a:ahLst/>
              <a:cxnLst/>
              <a:rect l="l" t="t" r="r" b="b"/>
              <a:pathLst>
                <a:path w="2286000" h="2286000">
                  <a:moveTo>
                    <a:pt x="0" y="0"/>
                  </a:moveTo>
                  <a:lnTo>
                    <a:pt x="2286000" y="2286000"/>
                  </a:lnTo>
                </a:path>
              </a:pathLst>
            </a:custGeom>
            <a:ln w="25400">
              <a:solidFill>
                <a:srgbClr val="CED7E6"/>
              </a:solidFill>
              <a:prstDash val="solid"/>
            </a:ln>
          </p:spPr>
        </p:sp>
        <p:sp>
          <p:nvSpPr>
            <p:cNvPr id="47" name="node01.hatch.br.031"/>
            <p:cNvSpPr/>
            <p:nvPr/>
          </p:nvSpPr>
          <p:spPr>
            <a:xfrm>
              <a:off x="8096250" y="3124200"/>
              <a:ext cx="2362200" cy="2362200"/>
            </a:xfrm>
            <a:custGeom>
              <a:avLst/>
              <a:gdLst/>
              <a:ahLst/>
              <a:cxnLst/>
              <a:rect l="l" t="t" r="r" b="b"/>
              <a:pathLst>
                <a:path w="2362200" h="2362200">
                  <a:moveTo>
                    <a:pt x="0" y="0"/>
                  </a:moveTo>
                  <a:lnTo>
                    <a:pt x="2362200" y="2362200"/>
                  </a:lnTo>
                </a:path>
              </a:pathLst>
            </a:custGeom>
            <a:ln w="25400">
              <a:solidFill>
                <a:srgbClr val="CED7E6"/>
              </a:solidFill>
              <a:prstDash val="solid"/>
            </a:ln>
          </p:spPr>
        </p:sp>
        <p:sp>
          <p:nvSpPr>
            <p:cNvPr id="48" name="node01.hatch.br.032"/>
            <p:cNvSpPr/>
            <p:nvPr/>
          </p:nvSpPr>
          <p:spPr>
            <a:xfrm>
              <a:off x="8096250" y="3048000"/>
              <a:ext cx="2438400" cy="2438400"/>
            </a:xfrm>
            <a:custGeom>
              <a:avLst/>
              <a:gdLst/>
              <a:ahLst/>
              <a:cxnLst/>
              <a:rect l="l" t="t" r="r" b="b"/>
              <a:pathLst>
                <a:path w="2438400" h="2438400">
                  <a:moveTo>
                    <a:pt x="0" y="0"/>
                  </a:moveTo>
                  <a:lnTo>
                    <a:pt x="2438400" y="2438400"/>
                  </a:lnTo>
                </a:path>
              </a:pathLst>
            </a:custGeom>
            <a:ln w="25400">
              <a:solidFill>
                <a:srgbClr val="CED7E6"/>
              </a:solidFill>
              <a:prstDash val="solid"/>
            </a:ln>
          </p:spPr>
        </p:sp>
        <p:sp>
          <p:nvSpPr>
            <p:cNvPr id="49" name="node01.hatch.br.033"/>
            <p:cNvSpPr/>
            <p:nvPr/>
          </p:nvSpPr>
          <p:spPr>
            <a:xfrm>
              <a:off x="8096250" y="2971800"/>
              <a:ext cx="2514600" cy="2514600"/>
            </a:xfrm>
            <a:custGeom>
              <a:avLst/>
              <a:gdLst/>
              <a:ahLst/>
              <a:cxnLst/>
              <a:rect l="l" t="t" r="r" b="b"/>
              <a:pathLst>
                <a:path w="2514600" h="2514600">
                  <a:moveTo>
                    <a:pt x="0" y="0"/>
                  </a:moveTo>
                  <a:lnTo>
                    <a:pt x="2514600" y="2514600"/>
                  </a:lnTo>
                </a:path>
              </a:pathLst>
            </a:custGeom>
            <a:ln w="25400">
              <a:solidFill>
                <a:srgbClr val="CED7E6"/>
              </a:solidFill>
              <a:prstDash val="solid"/>
            </a:ln>
          </p:spPr>
        </p:sp>
        <p:sp>
          <p:nvSpPr>
            <p:cNvPr id="50" name="node01.hatch.br.034"/>
            <p:cNvSpPr/>
            <p:nvPr/>
          </p:nvSpPr>
          <p:spPr>
            <a:xfrm>
              <a:off x="8115300" y="2914650"/>
              <a:ext cx="2552700" cy="2552700"/>
            </a:xfrm>
            <a:custGeom>
              <a:avLst/>
              <a:gdLst/>
              <a:ahLst/>
              <a:cxnLst/>
              <a:rect l="l" t="t" r="r" b="b"/>
              <a:pathLst>
                <a:path w="2552700" h="2552700">
                  <a:moveTo>
                    <a:pt x="0" y="0"/>
                  </a:moveTo>
                  <a:lnTo>
                    <a:pt x="2552700" y="2552700"/>
                  </a:lnTo>
                </a:path>
              </a:pathLst>
            </a:custGeom>
            <a:ln w="25400">
              <a:solidFill>
                <a:srgbClr val="CED7E6"/>
              </a:solidFill>
              <a:prstDash val="solid"/>
            </a:ln>
          </p:spPr>
        </p:sp>
        <p:sp>
          <p:nvSpPr>
            <p:cNvPr id="51" name="node01.hatch.br.035"/>
            <p:cNvSpPr/>
            <p:nvPr/>
          </p:nvSpPr>
          <p:spPr>
            <a:xfrm>
              <a:off x="8191500" y="2914650"/>
              <a:ext cx="2476500" cy="2476500"/>
            </a:xfrm>
            <a:custGeom>
              <a:avLst/>
              <a:gdLst/>
              <a:ahLst/>
              <a:cxnLst/>
              <a:rect l="l" t="t" r="r" b="b"/>
              <a:pathLst>
                <a:path w="2476500" h="2476500">
                  <a:moveTo>
                    <a:pt x="0" y="0"/>
                  </a:moveTo>
                  <a:lnTo>
                    <a:pt x="2476500" y="2476500"/>
                  </a:lnTo>
                </a:path>
              </a:pathLst>
            </a:custGeom>
            <a:ln w="25400">
              <a:solidFill>
                <a:srgbClr val="CED7E6"/>
              </a:solidFill>
              <a:prstDash val="solid"/>
            </a:ln>
          </p:spPr>
        </p:sp>
        <p:sp>
          <p:nvSpPr>
            <p:cNvPr id="52" name="node01.hatch.br.036"/>
            <p:cNvSpPr/>
            <p:nvPr/>
          </p:nvSpPr>
          <p:spPr>
            <a:xfrm>
              <a:off x="8267700" y="2914650"/>
              <a:ext cx="2400300" cy="2400300"/>
            </a:xfrm>
            <a:custGeom>
              <a:avLst/>
              <a:gdLst/>
              <a:ahLst/>
              <a:cxnLst/>
              <a:rect l="l" t="t" r="r" b="b"/>
              <a:pathLst>
                <a:path w="2400300" h="2400300">
                  <a:moveTo>
                    <a:pt x="0" y="0"/>
                  </a:moveTo>
                  <a:lnTo>
                    <a:pt x="2400300" y="2400300"/>
                  </a:lnTo>
                </a:path>
              </a:pathLst>
            </a:custGeom>
            <a:ln w="25400">
              <a:solidFill>
                <a:srgbClr val="CED7E6"/>
              </a:solidFill>
              <a:prstDash val="solid"/>
            </a:ln>
          </p:spPr>
        </p:sp>
        <p:sp>
          <p:nvSpPr>
            <p:cNvPr id="53" name="node01.hatch.br.037"/>
            <p:cNvSpPr/>
            <p:nvPr/>
          </p:nvSpPr>
          <p:spPr>
            <a:xfrm>
              <a:off x="8343900" y="2914650"/>
              <a:ext cx="2324100" cy="2324100"/>
            </a:xfrm>
            <a:custGeom>
              <a:avLst/>
              <a:gdLst/>
              <a:ahLst/>
              <a:cxnLst/>
              <a:rect l="l" t="t" r="r" b="b"/>
              <a:pathLst>
                <a:path w="2324100" h="2324100">
                  <a:moveTo>
                    <a:pt x="0" y="0"/>
                  </a:moveTo>
                  <a:lnTo>
                    <a:pt x="2324100" y="2324100"/>
                  </a:lnTo>
                </a:path>
              </a:pathLst>
            </a:custGeom>
            <a:ln w="25400">
              <a:solidFill>
                <a:srgbClr val="CED7E6"/>
              </a:solidFill>
              <a:prstDash val="solid"/>
            </a:ln>
          </p:spPr>
        </p:sp>
        <p:sp>
          <p:nvSpPr>
            <p:cNvPr id="54" name="node01.hatch.br.038"/>
            <p:cNvSpPr/>
            <p:nvPr/>
          </p:nvSpPr>
          <p:spPr>
            <a:xfrm>
              <a:off x="8420100" y="2914650"/>
              <a:ext cx="2247900" cy="2247900"/>
            </a:xfrm>
            <a:custGeom>
              <a:avLst/>
              <a:gdLst/>
              <a:ahLst/>
              <a:cxnLst/>
              <a:rect l="l" t="t" r="r" b="b"/>
              <a:pathLst>
                <a:path w="2247900" h="2247900">
                  <a:moveTo>
                    <a:pt x="0" y="0"/>
                  </a:moveTo>
                  <a:lnTo>
                    <a:pt x="2247900" y="2247900"/>
                  </a:lnTo>
                </a:path>
              </a:pathLst>
            </a:custGeom>
            <a:ln w="25400">
              <a:solidFill>
                <a:srgbClr val="CED7E6"/>
              </a:solidFill>
              <a:prstDash val="solid"/>
            </a:ln>
          </p:spPr>
        </p:sp>
        <p:sp>
          <p:nvSpPr>
            <p:cNvPr id="55" name="node01.hatch.br.039"/>
            <p:cNvSpPr/>
            <p:nvPr/>
          </p:nvSpPr>
          <p:spPr>
            <a:xfrm>
              <a:off x="8496300" y="2914650"/>
              <a:ext cx="2171700" cy="2171700"/>
            </a:xfrm>
            <a:custGeom>
              <a:avLst/>
              <a:gdLst/>
              <a:ahLst/>
              <a:cxnLst/>
              <a:rect l="l" t="t" r="r" b="b"/>
              <a:pathLst>
                <a:path w="2171700" h="2171700">
                  <a:moveTo>
                    <a:pt x="0" y="0"/>
                  </a:moveTo>
                  <a:lnTo>
                    <a:pt x="2171700" y="2171700"/>
                  </a:lnTo>
                </a:path>
              </a:pathLst>
            </a:custGeom>
            <a:ln w="25400">
              <a:solidFill>
                <a:srgbClr val="CED7E6"/>
              </a:solidFill>
              <a:prstDash val="solid"/>
            </a:ln>
          </p:spPr>
        </p:sp>
        <p:sp>
          <p:nvSpPr>
            <p:cNvPr id="56" name="node01.hatch.br.040"/>
            <p:cNvSpPr/>
            <p:nvPr/>
          </p:nvSpPr>
          <p:spPr>
            <a:xfrm>
              <a:off x="8572500" y="2914650"/>
              <a:ext cx="2095500" cy="2095500"/>
            </a:xfrm>
            <a:custGeom>
              <a:avLst/>
              <a:gdLst/>
              <a:ahLst/>
              <a:cxnLst/>
              <a:rect l="l" t="t" r="r" b="b"/>
              <a:pathLst>
                <a:path w="2095500" h="2095500">
                  <a:moveTo>
                    <a:pt x="0" y="0"/>
                  </a:moveTo>
                  <a:lnTo>
                    <a:pt x="2095500" y="2095500"/>
                  </a:lnTo>
                </a:path>
              </a:pathLst>
            </a:custGeom>
            <a:ln w="25400">
              <a:solidFill>
                <a:srgbClr val="CED7E6"/>
              </a:solidFill>
              <a:prstDash val="solid"/>
            </a:ln>
          </p:spPr>
        </p:sp>
        <p:sp>
          <p:nvSpPr>
            <p:cNvPr id="57" name="node01.hatch.br.041"/>
            <p:cNvSpPr/>
            <p:nvPr/>
          </p:nvSpPr>
          <p:spPr>
            <a:xfrm>
              <a:off x="8648700" y="2914650"/>
              <a:ext cx="2019300" cy="2019300"/>
            </a:xfrm>
            <a:custGeom>
              <a:avLst/>
              <a:gdLst/>
              <a:ahLst/>
              <a:cxnLst/>
              <a:rect l="l" t="t" r="r" b="b"/>
              <a:pathLst>
                <a:path w="2019300" h="2019300">
                  <a:moveTo>
                    <a:pt x="0" y="0"/>
                  </a:moveTo>
                  <a:lnTo>
                    <a:pt x="2019300" y="2019300"/>
                  </a:lnTo>
                </a:path>
              </a:pathLst>
            </a:custGeom>
            <a:ln w="25400">
              <a:solidFill>
                <a:srgbClr val="CED7E6"/>
              </a:solidFill>
              <a:prstDash val="solid"/>
            </a:ln>
          </p:spPr>
        </p:sp>
        <p:sp>
          <p:nvSpPr>
            <p:cNvPr id="58" name="node01.hatch.br.042"/>
            <p:cNvSpPr/>
            <p:nvPr/>
          </p:nvSpPr>
          <p:spPr>
            <a:xfrm>
              <a:off x="8724900" y="2914650"/>
              <a:ext cx="1943100" cy="1943100"/>
            </a:xfrm>
            <a:custGeom>
              <a:avLst/>
              <a:gdLst/>
              <a:ahLst/>
              <a:cxnLst/>
              <a:rect l="l" t="t" r="r" b="b"/>
              <a:pathLst>
                <a:path w="1943100" h="1943100">
                  <a:moveTo>
                    <a:pt x="0" y="0"/>
                  </a:moveTo>
                  <a:lnTo>
                    <a:pt x="1943100" y="1943100"/>
                  </a:lnTo>
                </a:path>
              </a:pathLst>
            </a:custGeom>
            <a:ln w="25400">
              <a:solidFill>
                <a:srgbClr val="CED7E6"/>
              </a:solidFill>
              <a:prstDash val="solid"/>
            </a:ln>
          </p:spPr>
        </p:sp>
        <p:sp>
          <p:nvSpPr>
            <p:cNvPr id="59" name="node01.hatch.br.043"/>
            <p:cNvSpPr/>
            <p:nvPr/>
          </p:nvSpPr>
          <p:spPr>
            <a:xfrm>
              <a:off x="8801100" y="2914650"/>
              <a:ext cx="1866900" cy="1866900"/>
            </a:xfrm>
            <a:custGeom>
              <a:avLst/>
              <a:gdLst/>
              <a:ahLst/>
              <a:cxnLst/>
              <a:rect l="l" t="t" r="r" b="b"/>
              <a:pathLst>
                <a:path w="1866900" h="1866900">
                  <a:moveTo>
                    <a:pt x="0" y="0"/>
                  </a:moveTo>
                  <a:lnTo>
                    <a:pt x="1866900" y="1866900"/>
                  </a:lnTo>
                </a:path>
              </a:pathLst>
            </a:custGeom>
            <a:ln w="25400">
              <a:solidFill>
                <a:srgbClr val="CED7E6"/>
              </a:solidFill>
              <a:prstDash val="solid"/>
            </a:ln>
          </p:spPr>
        </p:sp>
        <p:sp>
          <p:nvSpPr>
            <p:cNvPr id="60" name="node01.hatch.br.044"/>
            <p:cNvSpPr/>
            <p:nvPr/>
          </p:nvSpPr>
          <p:spPr>
            <a:xfrm>
              <a:off x="8877300" y="2914650"/>
              <a:ext cx="1790700" cy="1790700"/>
            </a:xfrm>
            <a:custGeom>
              <a:avLst/>
              <a:gdLst/>
              <a:ahLst/>
              <a:cxnLst/>
              <a:rect l="l" t="t" r="r" b="b"/>
              <a:pathLst>
                <a:path w="1790700" h="1790700">
                  <a:moveTo>
                    <a:pt x="0" y="0"/>
                  </a:moveTo>
                  <a:lnTo>
                    <a:pt x="1790700" y="1790700"/>
                  </a:lnTo>
                </a:path>
              </a:pathLst>
            </a:custGeom>
            <a:ln w="25400">
              <a:solidFill>
                <a:srgbClr val="CED7E6"/>
              </a:solidFill>
              <a:prstDash val="solid"/>
            </a:ln>
          </p:spPr>
        </p:sp>
        <p:sp>
          <p:nvSpPr>
            <p:cNvPr id="61" name="node01.hatch.br.045"/>
            <p:cNvSpPr/>
            <p:nvPr/>
          </p:nvSpPr>
          <p:spPr>
            <a:xfrm>
              <a:off x="8953500" y="2914650"/>
              <a:ext cx="1714500" cy="1714500"/>
            </a:xfrm>
            <a:custGeom>
              <a:avLst/>
              <a:gdLst/>
              <a:ahLst/>
              <a:cxnLst/>
              <a:rect l="l" t="t" r="r" b="b"/>
              <a:pathLst>
                <a:path w="1714500" h="1714500">
                  <a:moveTo>
                    <a:pt x="0" y="0"/>
                  </a:moveTo>
                  <a:lnTo>
                    <a:pt x="1714500" y="1714500"/>
                  </a:lnTo>
                </a:path>
              </a:pathLst>
            </a:custGeom>
            <a:ln w="25400">
              <a:solidFill>
                <a:srgbClr val="CED7E6"/>
              </a:solidFill>
              <a:prstDash val="solid"/>
            </a:ln>
          </p:spPr>
        </p:sp>
        <p:sp>
          <p:nvSpPr>
            <p:cNvPr id="62" name="node01.hatch.br.046"/>
            <p:cNvSpPr/>
            <p:nvPr/>
          </p:nvSpPr>
          <p:spPr>
            <a:xfrm>
              <a:off x="9029700" y="2914650"/>
              <a:ext cx="1638300" cy="1638300"/>
            </a:xfrm>
            <a:custGeom>
              <a:avLst/>
              <a:gdLst/>
              <a:ahLst/>
              <a:cxnLst/>
              <a:rect l="l" t="t" r="r" b="b"/>
              <a:pathLst>
                <a:path w="1638300" h="1638300">
                  <a:moveTo>
                    <a:pt x="0" y="0"/>
                  </a:moveTo>
                  <a:lnTo>
                    <a:pt x="1638300" y="1638300"/>
                  </a:lnTo>
                </a:path>
              </a:pathLst>
            </a:custGeom>
            <a:ln w="25400">
              <a:solidFill>
                <a:srgbClr val="CED7E6"/>
              </a:solidFill>
              <a:prstDash val="solid"/>
            </a:ln>
          </p:spPr>
        </p:sp>
        <p:sp>
          <p:nvSpPr>
            <p:cNvPr id="63" name="node01.hatch.br.047"/>
            <p:cNvSpPr/>
            <p:nvPr/>
          </p:nvSpPr>
          <p:spPr>
            <a:xfrm>
              <a:off x="9105900" y="2914650"/>
              <a:ext cx="1562100" cy="1562100"/>
            </a:xfrm>
            <a:custGeom>
              <a:avLst/>
              <a:gdLst/>
              <a:ahLst/>
              <a:cxnLst/>
              <a:rect l="l" t="t" r="r" b="b"/>
              <a:pathLst>
                <a:path w="1562100" h="1562100">
                  <a:moveTo>
                    <a:pt x="0" y="0"/>
                  </a:moveTo>
                  <a:lnTo>
                    <a:pt x="1562100" y="1562100"/>
                  </a:lnTo>
                </a:path>
              </a:pathLst>
            </a:custGeom>
            <a:ln w="25400">
              <a:solidFill>
                <a:srgbClr val="CED7E6"/>
              </a:solidFill>
              <a:prstDash val="solid"/>
            </a:ln>
          </p:spPr>
        </p:sp>
        <p:sp>
          <p:nvSpPr>
            <p:cNvPr id="64" name="node01.hatch.br.048"/>
            <p:cNvSpPr/>
            <p:nvPr/>
          </p:nvSpPr>
          <p:spPr>
            <a:xfrm>
              <a:off x="9182100" y="2914650"/>
              <a:ext cx="1485900" cy="1485900"/>
            </a:xfrm>
            <a:custGeom>
              <a:avLst/>
              <a:gdLst/>
              <a:ahLst/>
              <a:cxnLst/>
              <a:rect l="l" t="t" r="r" b="b"/>
              <a:pathLst>
                <a:path w="1485900" h="1485900">
                  <a:moveTo>
                    <a:pt x="0" y="0"/>
                  </a:moveTo>
                  <a:lnTo>
                    <a:pt x="1485900" y="1485900"/>
                  </a:lnTo>
                </a:path>
              </a:pathLst>
            </a:custGeom>
            <a:ln w="25400">
              <a:solidFill>
                <a:srgbClr val="CED7E6"/>
              </a:solidFill>
              <a:prstDash val="solid"/>
            </a:ln>
          </p:spPr>
        </p:sp>
        <p:sp>
          <p:nvSpPr>
            <p:cNvPr id="65" name="node01.hatch.br.049"/>
            <p:cNvSpPr/>
            <p:nvPr/>
          </p:nvSpPr>
          <p:spPr>
            <a:xfrm>
              <a:off x="9258300" y="2914650"/>
              <a:ext cx="1409700" cy="1409700"/>
            </a:xfrm>
            <a:custGeom>
              <a:avLst/>
              <a:gdLst/>
              <a:ahLst/>
              <a:cxnLst/>
              <a:rect l="l" t="t" r="r" b="b"/>
              <a:pathLst>
                <a:path w="1409700" h="1409700">
                  <a:moveTo>
                    <a:pt x="0" y="0"/>
                  </a:moveTo>
                  <a:lnTo>
                    <a:pt x="1409700" y="1409700"/>
                  </a:lnTo>
                </a:path>
              </a:pathLst>
            </a:custGeom>
            <a:ln w="25400">
              <a:solidFill>
                <a:srgbClr val="CED7E6"/>
              </a:solidFill>
              <a:prstDash val="solid"/>
            </a:ln>
          </p:spPr>
        </p:sp>
        <p:sp>
          <p:nvSpPr>
            <p:cNvPr id="66" name="node01.hatch.br.050"/>
            <p:cNvSpPr/>
            <p:nvPr/>
          </p:nvSpPr>
          <p:spPr>
            <a:xfrm>
              <a:off x="9334500" y="2914650"/>
              <a:ext cx="1333500" cy="1333500"/>
            </a:xfrm>
            <a:custGeom>
              <a:avLst/>
              <a:gdLst/>
              <a:ahLst/>
              <a:cxnLst/>
              <a:rect l="l" t="t" r="r" b="b"/>
              <a:pathLst>
                <a:path w="1333500" h="1333500">
                  <a:moveTo>
                    <a:pt x="0" y="0"/>
                  </a:moveTo>
                  <a:lnTo>
                    <a:pt x="1333500" y="1333500"/>
                  </a:lnTo>
                </a:path>
              </a:pathLst>
            </a:custGeom>
            <a:ln w="25400">
              <a:solidFill>
                <a:srgbClr val="CED7E6"/>
              </a:solidFill>
              <a:prstDash val="solid"/>
            </a:ln>
          </p:spPr>
        </p:sp>
        <p:sp>
          <p:nvSpPr>
            <p:cNvPr id="67" name="node01.hatch.br.051"/>
            <p:cNvSpPr/>
            <p:nvPr/>
          </p:nvSpPr>
          <p:spPr>
            <a:xfrm>
              <a:off x="9410700" y="2914650"/>
              <a:ext cx="1257300" cy="1257300"/>
            </a:xfrm>
            <a:custGeom>
              <a:avLst/>
              <a:gdLst/>
              <a:ahLst/>
              <a:cxnLst/>
              <a:rect l="l" t="t" r="r" b="b"/>
              <a:pathLst>
                <a:path w="1257300" h="1257300">
                  <a:moveTo>
                    <a:pt x="0" y="0"/>
                  </a:moveTo>
                  <a:lnTo>
                    <a:pt x="1257300" y="1257300"/>
                  </a:lnTo>
                </a:path>
              </a:pathLst>
            </a:custGeom>
            <a:ln w="25400">
              <a:solidFill>
                <a:srgbClr val="CED7E6"/>
              </a:solidFill>
              <a:prstDash val="solid"/>
            </a:ln>
          </p:spPr>
        </p:sp>
        <p:sp>
          <p:nvSpPr>
            <p:cNvPr id="68" name="node01.hatch.br.052"/>
            <p:cNvSpPr/>
            <p:nvPr/>
          </p:nvSpPr>
          <p:spPr>
            <a:xfrm>
              <a:off x="9486900" y="2914650"/>
              <a:ext cx="1181100" cy="1181100"/>
            </a:xfrm>
            <a:custGeom>
              <a:avLst/>
              <a:gdLst/>
              <a:ahLst/>
              <a:cxnLst/>
              <a:rect l="l" t="t" r="r" b="b"/>
              <a:pathLst>
                <a:path w="1181100" h="1181100">
                  <a:moveTo>
                    <a:pt x="0" y="0"/>
                  </a:moveTo>
                  <a:lnTo>
                    <a:pt x="1181100" y="1181100"/>
                  </a:lnTo>
                </a:path>
              </a:pathLst>
            </a:custGeom>
            <a:ln w="25400">
              <a:solidFill>
                <a:srgbClr val="CED7E6"/>
              </a:solidFill>
              <a:prstDash val="solid"/>
            </a:ln>
          </p:spPr>
        </p:sp>
        <p:sp>
          <p:nvSpPr>
            <p:cNvPr id="69" name="node01.hatch.br.053"/>
            <p:cNvSpPr/>
            <p:nvPr/>
          </p:nvSpPr>
          <p:spPr>
            <a:xfrm>
              <a:off x="9563100" y="2914650"/>
              <a:ext cx="1104900" cy="1104900"/>
            </a:xfrm>
            <a:custGeom>
              <a:avLst/>
              <a:gdLst/>
              <a:ahLst/>
              <a:cxnLst/>
              <a:rect l="l" t="t" r="r" b="b"/>
              <a:pathLst>
                <a:path w="1104900" h="1104900">
                  <a:moveTo>
                    <a:pt x="0" y="0"/>
                  </a:moveTo>
                  <a:lnTo>
                    <a:pt x="1104900" y="1104900"/>
                  </a:lnTo>
                </a:path>
              </a:pathLst>
            </a:custGeom>
            <a:ln w="25400">
              <a:solidFill>
                <a:srgbClr val="CED7E6"/>
              </a:solidFill>
              <a:prstDash val="solid"/>
            </a:ln>
          </p:spPr>
        </p:sp>
        <p:sp>
          <p:nvSpPr>
            <p:cNvPr id="70" name="node01.hatch.br.054"/>
            <p:cNvSpPr/>
            <p:nvPr/>
          </p:nvSpPr>
          <p:spPr>
            <a:xfrm>
              <a:off x="9639300" y="2914650"/>
              <a:ext cx="1028700" cy="1028700"/>
            </a:xfrm>
            <a:custGeom>
              <a:avLst/>
              <a:gdLst/>
              <a:ahLst/>
              <a:cxnLst/>
              <a:rect l="l" t="t" r="r" b="b"/>
              <a:pathLst>
                <a:path w="1028700" h="1028700">
                  <a:moveTo>
                    <a:pt x="0" y="0"/>
                  </a:moveTo>
                  <a:lnTo>
                    <a:pt x="1028700" y="1028700"/>
                  </a:lnTo>
                </a:path>
              </a:pathLst>
            </a:custGeom>
            <a:ln w="25400">
              <a:solidFill>
                <a:srgbClr val="CED7E6"/>
              </a:solidFill>
              <a:prstDash val="solid"/>
            </a:ln>
          </p:spPr>
        </p:sp>
        <p:sp>
          <p:nvSpPr>
            <p:cNvPr id="71" name="node01.hatch.br.055"/>
            <p:cNvSpPr/>
            <p:nvPr/>
          </p:nvSpPr>
          <p:spPr>
            <a:xfrm>
              <a:off x="9715500" y="2914650"/>
              <a:ext cx="952500" cy="952500"/>
            </a:xfrm>
            <a:custGeom>
              <a:avLst/>
              <a:gdLst/>
              <a:ahLst/>
              <a:cxnLst/>
              <a:rect l="l" t="t" r="r" b="b"/>
              <a:pathLst>
                <a:path w="952500" h="952500">
                  <a:moveTo>
                    <a:pt x="0" y="0"/>
                  </a:moveTo>
                  <a:lnTo>
                    <a:pt x="952500" y="952500"/>
                  </a:lnTo>
                </a:path>
              </a:pathLst>
            </a:custGeom>
            <a:ln w="25400">
              <a:solidFill>
                <a:srgbClr val="CED7E6"/>
              </a:solidFill>
              <a:prstDash val="solid"/>
            </a:ln>
          </p:spPr>
        </p:sp>
        <p:sp>
          <p:nvSpPr>
            <p:cNvPr id="72" name="node01.hatch.br.056"/>
            <p:cNvSpPr/>
            <p:nvPr/>
          </p:nvSpPr>
          <p:spPr>
            <a:xfrm>
              <a:off x="9791700" y="2914650"/>
              <a:ext cx="876300" cy="876300"/>
            </a:xfrm>
            <a:custGeom>
              <a:avLst/>
              <a:gdLst/>
              <a:ahLst/>
              <a:cxnLst/>
              <a:rect l="l" t="t" r="r" b="b"/>
              <a:pathLst>
                <a:path w="876300" h="876300">
                  <a:moveTo>
                    <a:pt x="0" y="0"/>
                  </a:moveTo>
                  <a:lnTo>
                    <a:pt x="876300" y="876300"/>
                  </a:lnTo>
                </a:path>
              </a:pathLst>
            </a:custGeom>
            <a:ln w="25400">
              <a:solidFill>
                <a:srgbClr val="CED7E6"/>
              </a:solidFill>
              <a:prstDash val="solid"/>
            </a:ln>
          </p:spPr>
        </p:sp>
        <p:sp>
          <p:nvSpPr>
            <p:cNvPr id="73" name="node01.hatch.br.057"/>
            <p:cNvSpPr/>
            <p:nvPr/>
          </p:nvSpPr>
          <p:spPr>
            <a:xfrm>
              <a:off x="9867900" y="2914650"/>
              <a:ext cx="800100" cy="800100"/>
            </a:xfrm>
            <a:custGeom>
              <a:avLst/>
              <a:gdLst/>
              <a:ahLst/>
              <a:cxnLst/>
              <a:rect l="l" t="t" r="r" b="b"/>
              <a:pathLst>
                <a:path w="800100" h="800100">
                  <a:moveTo>
                    <a:pt x="0" y="0"/>
                  </a:moveTo>
                  <a:lnTo>
                    <a:pt x="800100" y="800100"/>
                  </a:lnTo>
                </a:path>
              </a:pathLst>
            </a:custGeom>
            <a:ln w="25400">
              <a:solidFill>
                <a:srgbClr val="CED7E6"/>
              </a:solidFill>
              <a:prstDash val="solid"/>
            </a:ln>
          </p:spPr>
        </p:sp>
        <p:sp>
          <p:nvSpPr>
            <p:cNvPr id="74" name="node01.hatch.br.058"/>
            <p:cNvSpPr/>
            <p:nvPr/>
          </p:nvSpPr>
          <p:spPr>
            <a:xfrm>
              <a:off x="9944100" y="2914650"/>
              <a:ext cx="723900" cy="723900"/>
            </a:xfrm>
            <a:custGeom>
              <a:avLst/>
              <a:gdLst/>
              <a:ahLst/>
              <a:cxnLst/>
              <a:rect l="l" t="t" r="r" b="b"/>
              <a:pathLst>
                <a:path w="723900" h="723900">
                  <a:moveTo>
                    <a:pt x="0" y="0"/>
                  </a:moveTo>
                  <a:lnTo>
                    <a:pt x="723900" y="723900"/>
                  </a:lnTo>
                </a:path>
              </a:pathLst>
            </a:custGeom>
            <a:ln w="25400">
              <a:solidFill>
                <a:srgbClr val="CED7E6"/>
              </a:solidFill>
              <a:prstDash val="solid"/>
            </a:ln>
          </p:spPr>
        </p:sp>
        <p:sp>
          <p:nvSpPr>
            <p:cNvPr id="75" name="node01.hatch.br.059"/>
            <p:cNvSpPr/>
            <p:nvPr/>
          </p:nvSpPr>
          <p:spPr>
            <a:xfrm>
              <a:off x="10020300" y="2914650"/>
              <a:ext cx="647700" cy="647700"/>
            </a:xfrm>
            <a:custGeom>
              <a:avLst/>
              <a:gdLst/>
              <a:ahLst/>
              <a:cxnLst/>
              <a:rect l="l" t="t" r="r" b="b"/>
              <a:pathLst>
                <a:path w="647700" h="647700">
                  <a:moveTo>
                    <a:pt x="0" y="0"/>
                  </a:moveTo>
                  <a:lnTo>
                    <a:pt x="647700" y="647700"/>
                  </a:lnTo>
                </a:path>
              </a:pathLst>
            </a:custGeom>
            <a:ln w="25400">
              <a:solidFill>
                <a:srgbClr val="CED7E6"/>
              </a:solidFill>
              <a:prstDash val="solid"/>
            </a:ln>
          </p:spPr>
        </p:sp>
        <p:sp>
          <p:nvSpPr>
            <p:cNvPr id="76" name="node01.hatch.br.060"/>
            <p:cNvSpPr/>
            <p:nvPr/>
          </p:nvSpPr>
          <p:spPr>
            <a:xfrm>
              <a:off x="10096500" y="2914650"/>
              <a:ext cx="571500" cy="571500"/>
            </a:xfrm>
            <a:custGeom>
              <a:avLst/>
              <a:gdLst/>
              <a:ahLst/>
              <a:cxnLst/>
              <a:rect l="l" t="t" r="r" b="b"/>
              <a:pathLst>
                <a:path w="571500" h="571500">
                  <a:moveTo>
                    <a:pt x="0" y="0"/>
                  </a:moveTo>
                  <a:lnTo>
                    <a:pt x="571500" y="571500"/>
                  </a:lnTo>
                </a:path>
              </a:pathLst>
            </a:custGeom>
            <a:ln w="25400">
              <a:solidFill>
                <a:srgbClr val="CED7E6"/>
              </a:solidFill>
              <a:prstDash val="solid"/>
            </a:ln>
          </p:spPr>
        </p:sp>
        <p:sp>
          <p:nvSpPr>
            <p:cNvPr id="77" name="node01.hatch.br.061"/>
            <p:cNvSpPr/>
            <p:nvPr/>
          </p:nvSpPr>
          <p:spPr>
            <a:xfrm>
              <a:off x="10172700" y="2914650"/>
              <a:ext cx="495300" cy="495300"/>
            </a:xfrm>
            <a:custGeom>
              <a:avLst/>
              <a:gdLst/>
              <a:ahLst/>
              <a:cxnLst/>
              <a:rect l="l" t="t" r="r" b="b"/>
              <a:pathLst>
                <a:path w="495300" h="495300">
                  <a:moveTo>
                    <a:pt x="0" y="0"/>
                  </a:moveTo>
                  <a:lnTo>
                    <a:pt x="495300" y="495300"/>
                  </a:lnTo>
                </a:path>
              </a:pathLst>
            </a:custGeom>
            <a:ln w="25400">
              <a:solidFill>
                <a:srgbClr val="CED7E6"/>
              </a:solidFill>
              <a:prstDash val="solid"/>
            </a:ln>
          </p:spPr>
        </p:sp>
        <p:sp>
          <p:nvSpPr>
            <p:cNvPr id="78" name="node01.hatch.br.062"/>
            <p:cNvSpPr/>
            <p:nvPr/>
          </p:nvSpPr>
          <p:spPr>
            <a:xfrm>
              <a:off x="10248900" y="2914650"/>
              <a:ext cx="419100" cy="419100"/>
            </a:xfrm>
            <a:custGeom>
              <a:avLst/>
              <a:gdLst/>
              <a:ahLst/>
              <a:cxnLst/>
              <a:rect l="l" t="t" r="r" b="b"/>
              <a:pathLst>
                <a:path w="419100" h="419100">
                  <a:moveTo>
                    <a:pt x="0" y="0"/>
                  </a:moveTo>
                  <a:lnTo>
                    <a:pt x="419100" y="419100"/>
                  </a:lnTo>
                </a:path>
              </a:pathLst>
            </a:custGeom>
            <a:ln w="25400">
              <a:solidFill>
                <a:srgbClr val="CED7E6"/>
              </a:solidFill>
              <a:prstDash val="solid"/>
            </a:ln>
          </p:spPr>
        </p:sp>
        <p:sp>
          <p:nvSpPr>
            <p:cNvPr id="79" name="node01.hatch.br.063"/>
            <p:cNvSpPr/>
            <p:nvPr/>
          </p:nvSpPr>
          <p:spPr>
            <a:xfrm>
              <a:off x="10325100" y="2914650"/>
              <a:ext cx="342900" cy="342900"/>
            </a:xfrm>
            <a:custGeom>
              <a:avLst/>
              <a:gdLst/>
              <a:ahLst/>
              <a:cxnLst/>
              <a:rect l="l" t="t" r="r" b="b"/>
              <a:pathLst>
                <a:path w="342900" h="342900">
                  <a:moveTo>
                    <a:pt x="0" y="0"/>
                  </a:moveTo>
                  <a:lnTo>
                    <a:pt x="342900" y="342900"/>
                  </a:lnTo>
                </a:path>
              </a:pathLst>
            </a:custGeom>
            <a:ln w="25400">
              <a:solidFill>
                <a:srgbClr val="CED7E6"/>
              </a:solidFill>
              <a:prstDash val="solid"/>
            </a:ln>
          </p:spPr>
        </p:sp>
        <p:sp>
          <p:nvSpPr>
            <p:cNvPr id="80" name="node01.hatch.br.064"/>
            <p:cNvSpPr/>
            <p:nvPr/>
          </p:nvSpPr>
          <p:spPr>
            <a:xfrm>
              <a:off x="10401300" y="2914650"/>
              <a:ext cx="266700" cy="266700"/>
            </a:xfrm>
            <a:custGeom>
              <a:avLst/>
              <a:gdLst/>
              <a:ahLst/>
              <a:cxnLst/>
              <a:rect l="l" t="t" r="r" b="b"/>
              <a:pathLst>
                <a:path w="266700" h="266700">
                  <a:moveTo>
                    <a:pt x="0" y="0"/>
                  </a:moveTo>
                  <a:lnTo>
                    <a:pt x="266700" y="266700"/>
                  </a:lnTo>
                </a:path>
              </a:pathLst>
            </a:custGeom>
            <a:ln w="25400">
              <a:solidFill>
                <a:srgbClr val="CED7E6"/>
              </a:solidFill>
              <a:prstDash val="solid"/>
            </a:ln>
          </p:spPr>
        </p:sp>
        <p:sp>
          <p:nvSpPr>
            <p:cNvPr id="81" name="node01.hatch.br.065"/>
            <p:cNvSpPr/>
            <p:nvPr/>
          </p:nvSpPr>
          <p:spPr>
            <a:xfrm>
              <a:off x="10477500" y="2914650"/>
              <a:ext cx="190500" cy="190500"/>
            </a:xfrm>
            <a:custGeom>
              <a:avLst/>
              <a:gdLst/>
              <a:ahLst/>
              <a:cxnLst/>
              <a:rect l="l" t="t" r="r" b="b"/>
              <a:pathLst>
                <a:path w="190500" h="190500">
                  <a:moveTo>
                    <a:pt x="0" y="0"/>
                  </a:moveTo>
                  <a:lnTo>
                    <a:pt x="190500" y="190500"/>
                  </a:lnTo>
                </a:path>
              </a:pathLst>
            </a:custGeom>
            <a:ln w="25400">
              <a:solidFill>
                <a:srgbClr val="CED7E6"/>
              </a:solidFill>
              <a:prstDash val="solid"/>
            </a:ln>
          </p:spPr>
        </p:sp>
        <p:sp>
          <p:nvSpPr>
            <p:cNvPr id="82" name="node01.hatch.br.066"/>
            <p:cNvSpPr/>
            <p:nvPr/>
          </p:nvSpPr>
          <p:spPr>
            <a:xfrm>
              <a:off x="10553700" y="2914650"/>
              <a:ext cx="114300" cy="114300"/>
            </a:xfrm>
            <a:custGeom>
              <a:avLst/>
              <a:gdLst/>
              <a:ahLst/>
              <a:cxnLst/>
              <a:rect l="l" t="t" r="r" b="b"/>
              <a:pathLst>
                <a:path w="114300" h="114300">
                  <a:moveTo>
                    <a:pt x="0" y="0"/>
                  </a:moveTo>
                  <a:lnTo>
                    <a:pt x="114300" y="114300"/>
                  </a:lnTo>
                </a:path>
              </a:pathLst>
            </a:custGeom>
            <a:ln w="25400">
              <a:solidFill>
                <a:srgbClr val="CED7E6"/>
              </a:solidFill>
              <a:prstDash val="solid"/>
            </a:ln>
          </p:spPr>
        </p:sp>
        <p:sp>
          <p:nvSpPr>
            <p:cNvPr id="83" name="node01.hatch.br.067"/>
            <p:cNvSpPr/>
            <p:nvPr/>
          </p:nvSpPr>
          <p:spPr>
            <a:xfrm>
              <a:off x="10629900" y="2914650"/>
              <a:ext cx="38100" cy="38100"/>
            </a:xfrm>
            <a:custGeom>
              <a:avLst/>
              <a:gdLst/>
              <a:ahLst/>
              <a:cxnLst/>
              <a:rect l="l" t="t" r="r" b="b"/>
              <a:pathLst>
                <a:path w="38100" h="38100">
                  <a:moveTo>
                    <a:pt x="0" y="0"/>
                  </a:moveTo>
                  <a:lnTo>
                    <a:pt x="38100" y="38100"/>
                  </a:lnTo>
                </a:path>
              </a:pathLst>
            </a:custGeom>
            <a:ln w="25400">
              <a:solidFill>
                <a:srgbClr val="CED7E6"/>
              </a:solidFill>
              <a:prstDash val="solid"/>
            </a:ln>
          </p:spPr>
        </p:sp>
        <p:sp>
          <p:nvSpPr>
            <p:cNvPr id="84" name="node01.name.br"/>
            <p:cNvSpPr/>
            <p:nvPr/>
          </p:nvSpPr>
          <p:spPr>
            <a:xfrm>
              <a:off x="8210550" y="5181600"/>
              <a:ext cx="2343150" cy="139700"/>
            </a:xfrm>
            <a:prstGeom prst="rect">
              <a:avLst/>
            </a:prstGeom>
            <a:noFill/>
            <a:ln/>
          </p:spPr>
          <p:txBody>
            <a:bodyPr wrap="square" lIns="0" tIns="0" rIns="0" bIns="0" rtlCol="0" anchor="t"/>
            <a:lstStyle/>
            <a:p>
              <a:pPr algn="r" indent="0" marL="0">
                <a:lnSpc>
                  <a:spcPts val="1100"/>
                </a:lnSpc>
                <a:buNone/>
              </a:pPr>
              <a:r>
                <a:rPr lang="en-US" sz="800" spc="60" kern="0" b="0" i="0" dirty="0">
                  <a:solidFill>
                    <a:srgbClr val="070154"/>
                  </a:solidFill>
                  <a:latin typeface="IBM Plex Mono SemiBold"/>
                  <a:ea typeface="IBM Plex Mono SemiBold"/>
                  <a:cs typeface="IBM Plex Mono SemiBold"/>
                </a:rPr>
                <a:t>MONEY PITS</a:t>
              </a:r>
              <a:endParaRPr lang="en-US" sz="800" spc="60" kern="0" b="0" i="0" dirty="0">
                <a:solidFill>
                  <a:srgbClr val="070154"/>
                </a:solidFill>
                <a:latin typeface="IBM Plex Mono SemiBold"/>
                <a:ea typeface="IBM Plex Mono SemiBold"/>
                <a:cs typeface="IBM Plex Mono SemiBold"/>
              </a:endParaRPr>
            </a:p>
          </p:txBody>
        </p:sp>
        <p:sp>
          <p:nvSpPr>
            <p:cNvPr id="85" name="node01.tag-bg.br"/>
            <p:cNvSpPr/>
            <p:nvPr/>
          </p:nvSpPr>
          <p:spPr>
            <a:xfrm>
              <a:off x="10012356" y="4953000"/>
              <a:ext cx="541344" cy="203200"/>
            </a:xfrm>
            <a:prstGeom prst="rect">
              <a:avLst/>
            </a:prstGeom>
            <a:solidFill>
              <a:srgbClr val="070154"/>
            </a:solidFill>
            <a:ln>
              <a:noFill/>
            </a:ln>
          </p:spPr>
        </p:sp>
        <p:sp>
          <p:nvSpPr>
            <p:cNvPr id="86" name="node01.tag.br"/>
            <p:cNvSpPr/>
            <p:nvPr/>
          </p:nvSpPr>
          <p:spPr>
            <a:xfrm>
              <a:off x="10088556" y="4965700"/>
              <a:ext cx="388944" cy="177800"/>
            </a:xfrm>
            <a:prstGeom prst="rect">
              <a:avLst/>
            </a:prstGeom>
            <a:noFill/>
            <a:ln/>
          </p:spPr>
          <p:txBody>
            <a:bodyPr wrap="square" lIns="0" tIns="0" rIns="0" bIns="0" rtlCol="0" anchor="t"/>
            <a:lstStyle/>
            <a:p>
              <a:pPr algn="l" indent="0" marL="0">
                <a:lnSpc>
                  <a:spcPts val="1100"/>
                </a:lnSpc>
                <a:buNone/>
              </a:pPr>
              <a:r>
                <a:rPr lang="en-US" sz="850" spc="60" kern="0" b="0" i="0" dirty="0">
                  <a:solidFill>
                    <a:srgbClr val="FFFFFF"/>
                  </a:solidFill>
                  <a:latin typeface="IBM Plex Mono SemiBold"/>
                  <a:ea typeface="IBM Plex Mono SemiBold"/>
                  <a:cs typeface="IBM Plex Mono SemiBold"/>
                </a:rPr>
                <a:t>AVOID</a:t>
              </a:r>
              <a:endParaRPr lang="en-US" sz="850" spc="60" kern="0" b="0" i="0" dirty="0">
                <a:solidFill>
                  <a:srgbClr val="FFFFFF"/>
                </a:solidFill>
                <a:latin typeface="IBM Plex Mono SemiBold"/>
                <a:ea typeface="IBM Plex Mono SemiBold"/>
                <a:cs typeface="IBM Plex Mono SemiBold"/>
              </a:endParaRPr>
            </a:p>
          </p:txBody>
        </p:sp>
        <p:sp>
          <p:nvSpPr>
            <p:cNvPr id="87" name="node01.axis-1"/>
            <p:cNvSpPr/>
            <p:nvPr/>
          </p:nvSpPr>
          <p:spPr>
            <a:xfrm>
              <a:off x="5524500" y="342900"/>
              <a:ext cx="5143500" cy="5143500"/>
            </a:xfrm>
            <a:custGeom>
              <a:avLst/>
              <a:gdLst/>
              <a:ahLst/>
              <a:cxnLst/>
              <a:rect l="l" t="t" r="r" b="b"/>
              <a:pathLst>
                <a:path w="5143500" h="5143500">
                  <a:moveTo>
                    <a:pt x="0" y="0"/>
                  </a:moveTo>
                  <a:lnTo>
                    <a:pt x="5143500" y="0"/>
                  </a:lnTo>
                  <a:lnTo>
                    <a:pt x="5143500" y="5143500"/>
                  </a:lnTo>
                  <a:lnTo>
                    <a:pt x="0" y="5143500"/>
                  </a:lnTo>
                  <a:lnTo>
                    <a:pt x="0" y="0"/>
                  </a:lnTo>
                </a:path>
              </a:pathLst>
            </a:custGeom>
            <a:ln w="12700">
              <a:solidFill>
                <a:srgbClr val="070154"/>
              </a:solidFill>
              <a:prstDash val="solid"/>
            </a:ln>
          </p:spPr>
        </p:sp>
        <p:sp>
          <p:nvSpPr>
            <p:cNvPr id="88" name="node01.axis-2"/>
            <p:cNvSpPr/>
            <p:nvPr/>
          </p:nvSpPr>
          <p:spPr>
            <a:xfrm>
              <a:off x="8096250" y="342900"/>
              <a:ext cx="127" cy="5143500"/>
            </a:xfrm>
            <a:custGeom>
              <a:avLst/>
              <a:gdLst/>
              <a:ahLst/>
              <a:cxnLst/>
              <a:rect l="l" t="t" r="r" b="b"/>
              <a:pathLst>
                <a:path w="127" h="5143500">
                  <a:moveTo>
                    <a:pt x="0" y="0"/>
                  </a:moveTo>
                  <a:lnTo>
                    <a:pt x="0" y="5143500"/>
                  </a:lnTo>
                </a:path>
              </a:pathLst>
            </a:custGeom>
            <a:ln w="9525">
              <a:solidFill>
                <a:srgbClr val="070154"/>
              </a:solidFill>
              <a:prstDash val="solid"/>
            </a:ln>
          </p:spPr>
        </p:sp>
        <p:sp>
          <p:nvSpPr>
            <p:cNvPr id="89" name="node01.axis-3"/>
            <p:cNvSpPr/>
            <p:nvPr/>
          </p:nvSpPr>
          <p:spPr>
            <a:xfrm>
              <a:off x="5524500" y="2914650"/>
              <a:ext cx="5143500" cy="127"/>
            </a:xfrm>
            <a:custGeom>
              <a:avLst/>
              <a:gdLst/>
              <a:ahLst/>
              <a:cxnLst/>
              <a:rect l="l" t="t" r="r" b="b"/>
              <a:pathLst>
                <a:path w="5143500" h="127">
                  <a:moveTo>
                    <a:pt x="0" y="0"/>
                  </a:moveTo>
                  <a:lnTo>
                    <a:pt x="5143500" y="0"/>
                  </a:lnTo>
                </a:path>
              </a:pathLst>
            </a:custGeom>
            <a:ln w="9525">
              <a:solidFill>
                <a:srgbClr val="070154"/>
              </a:solidFill>
              <a:prstDash val="solid"/>
            </a:ln>
          </p:spPr>
        </p:sp>
        <p:sp>
          <p:nvSpPr>
            <p:cNvPr id="90" name="node01.x.low"/>
            <p:cNvSpPr/>
            <p:nvPr/>
          </p:nvSpPr>
          <p:spPr>
            <a:xfrm>
              <a:off x="5524500" y="5511800"/>
              <a:ext cx="457200" cy="177800"/>
            </a:xfrm>
            <a:prstGeom prst="rect">
              <a:avLst/>
            </a:prstGeom>
            <a:noFill/>
            <a:ln/>
          </p:spPr>
          <p:txBody>
            <a:bodyPr wrap="square" lIns="0" tIns="0" rIns="0" bIns="0" rtlCol="0" anchor="t"/>
            <a:lstStyle/>
            <a:p>
              <a:pPr algn="l" indent="0" marL="0">
                <a:lnSpc>
                  <a:spcPts val="1100"/>
                </a:lnSpc>
                <a:buNone/>
              </a:pPr>
              <a:r>
                <a:rPr lang="en-US" sz="800" spc="60" kern="0" b="0" i="0" dirty="0">
                  <a:solidFill>
                    <a:srgbClr val="070154"/>
                  </a:solidFill>
                  <a:latin typeface="IBM Plex Mono SemiBold"/>
                  <a:ea typeface="IBM Plex Mono SemiBold"/>
                  <a:cs typeface="IBM Plex Mono SemiBold"/>
                </a:rPr>
                <a:t>LOW</a:t>
              </a:r>
              <a:endParaRPr lang="en-US" sz="800" spc="60" kern="0" b="0" i="0" dirty="0">
                <a:solidFill>
                  <a:srgbClr val="070154"/>
                </a:solidFill>
                <a:latin typeface="IBM Plex Mono SemiBold"/>
                <a:ea typeface="IBM Plex Mono SemiBold"/>
                <a:cs typeface="IBM Plex Mono SemiBold"/>
              </a:endParaRPr>
            </a:p>
          </p:txBody>
        </p:sp>
        <p:sp>
          <p:nvSpPr>
            <p:cNvPr id="91" name="node01.x.high"/>
            <p:cNvSpPr/>
            <p:nvPr/>
          </p:nvSpPr>
          <p:spPr>
            <a:xfrm>
              <a:off x="10210800" y="5511800"/>
              <a:ext cx="457200" cy="177800"/>
            </a:xfrm>
            <a:prstGeom prst="rect">
              <a:avLst/>
            </a:prstGeom>
            <a:noFill/>
            <a:ln/>
          </p:spPr>
          <p:txBody>
            <a:bodyPr wrap="square" lIns="0" tIns="0" rIns="0" bIns="0" rtlCol="0" anchor="t"/>
            <a:lstStyle/>
            <a:p>
              <a:pPr algn="r" indent="0" marL="0">
                <a:lnSpc>
                  <a:spcPts val="1100"/>
                </a:lnSpc>
                <a:buNone/>
              </a:pPr>
              <a:r>
                <a:rPr lang="en-US" sz="800" spc="60" kern="0" b="0" i="0" dirty="0">
                  <a:solidFill>
                    <a:srgbClr val="070154"/>
                  </a:solidFill>
                  <a:latin typeface="IBM Plex Mono SemiBold"/>
                  <a:ea typeface="IBM Plex Mono SemiBold"/>
                  <a:cs typeface="IBM Plex Mono SemiBold"/>
                </a:rPr>
                <a:t>HIGH</a:t>
              </a:r>
              <a:endParaRPr lang="en-US" sz="800" spc="60" kern="0" b="0" i="0" dirty="0">
                <a:solidFill>
                  <a:srgbClr val="070154"/>
                </a:solidFill>
                <a:latin typeface="IBM Plex Mono SemiBold"/>
                <a:ea typeface="IBM Plex Mono SemiBold"/>
                <a:cs typeface="IBM Plex Mono SemiBold"/>
              </a:endParaRPr>
            </a:p>
          </p:txBody>
        </p:sp>
        <p:sp>
          <p:nvSpPr>
            <p:cNvPr id="92" name="node01.x.title"/>
            <p:cNvSpPr/>
            <p:nvPr/>
          </p:nvSpPr>
          <p:spPr>
            <a:xfrm>
              <a:off x="5981700" y="5511800"/>
              <a:ext cx="4229100" cy="177800"/>
            </a:xfrm>
            <a:prstGeom prst="rect">
              <a:avLst/>
            </a:prstGeom>
            <a:noFill/>
            <a:ln/>
          </p:spPr>
          <p:txBody>
            <a:bodyPr wrap="square" lIns="0" tIns="0" rIns="0" bIns="0" rtlCol="0" anchor="t"/>
            <a:lstStyle/>
            <a:p>
              <a:pPr algn="ctr" indent="0" marL="0">
                <a:lnSpc>
                  <a:spcPts val="1100"/>
                </a:lnSpc>
                <a:buNone/>
              </a:pPr>
              <a:r>
                <a:rPr lang="en-US" sz="800" spc="60" kern="0" b="0" i="0" dirty="0">
                  <a:solidFill>
                    <a:srgbClr val="070154"/>
                  </a:solidFill>
                  <a:latin typeface="IBM Plex Mono SemiBold"/>
                  <a:ea typeface="IBM Plex Mono SemiBold"/>
                  <a:cs typeface="IBM Plex Mono SemiBold"/>
                </a:rPr>
                <a:t>EFFORT →</a:t>
              </a:r>
              <a:endParaRPr lang="en-US" sz="800" spc="60" kern="0" b="0" i="0" dirty="0">
                <a:solidFill>
                  <a:srgbClr val="070154"/>
                </a:solidFill>
                <a:latin typeface="IBM Plex Mono SemiBold"/>
                <a:ea typeface="IBM Plex Mono SemiBold"/>
                <a:cs typeface="IBM Plex Mono SemiBold"/>
              </a:endParaRPr>
            </a:p>
          </p:txBody>
        </p:sp>
        <p:sp>
          <p:nvSpPr>
            <p:cNvPr id="93" name="node01.y-0"/>
            <p:cNvSpPr/>
            <p:nvPr/>
          </p:nvSpPr>
          <p:spPr>
            <a:xfrm rot="-5400000">
              <a:off x="5258308" y="482600"/>
              <a:ext cx="278383"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HIGH</a:t>
              </a:r>
              <a:endParaRPr lang="en-US" sz="800" spc="48" kern="0" b="0" i="0" dirty="0">
                <a:solidFill>
                  <a:srgbClr val="50658E"/>
                </a:solidFill>
                <a:latin typeface="IBM Plex Mono Medium"/>
                <a:ea typeface="IBM Plex Mono Medium"/>
                <a:cs typeface="IBM Plex Mono Medium"/>
              </a:endParaRPr>
            </a:p>
          </p:txBody>
        </p:sp>
        <p:sp>
          <p:nvSpPr>
            <p:cNvPr id="94" name="node01.y-1"/>
            <p:cNvSpPr/>
            <p:nvPr/>
          </p:nvSpPr>
          <p:spPr>
            <a:xfrm rot="-5400000">
              <a:off x="5291519" y="5168900"/>
              <a:ext cx="211962"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LOW</a:t>
              </a:r>
              <a:endParaRPr lang="en-US" sz="800" spc="48" kern="0" b="0" i="0" dirty="0">
                <a:solidFill>
                  <a:srgbClr val="50658E"/>
                </a:solidFill>
                <a:latin typeface="IBM Plex Mono Medium"/>
                <a:ea typeface="IBM Plex Mono Medium"/>
                <a:cs typeface="IBM Plex Mono Medium"/>
              </a:endParaRPr>
            </a:p>
          </p:txBody>
        </p:sp>
        <p:sp>
          <p:nvSpPr>
            <p:cNvPr id="95" name="node01.y-2"/>
            <p:cNvSpPr/>
            <p:nvPr/>
          </p:nvSpPr>
          <p:spPr>
            <a:xfrm rot="-5400000">
              <a:off x="5158677" y="2825750"/>
              <a:ext cx="477645"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VALUE →</a:t>
              </a:r>
              <a:endParaRPr lang="en-US" sz="800" spc="48" kern="0" b="0" i="0" dirty="0">
                <a:solidFill>
                  <a:srgbClr val="50658E"/>
                </a:solidFill>
                <a:latin typeface="IBM Plex Mono Medium"/>
                <a:ea typeface="IBM Plex Mono Medium"/>
                <a:cs typeface="IBM Plex Mono Medium"/>
              </a:endParaRPr>
            </a:p>
          </p:txBody>
        </p:sp>
        <p:sp>
          <p:nvSpPr>
            <p:cNvPr id="96" name="node01.item.item-001.point"/>
            <p:cNvSpPr/>
            <p:nvPr/>
          </p:nvSpPr>
          <p:spPr>
            <a:xfrm>
              <a:off x="6040120" y="1064260"/>
              <a:ext cx="203200" cy="203200"/>
            </a:xfrm>
            <a:prstGeom prst="ellipse">
              <a:avLst/>
            </a:prstGeom>
            <a:solidFill>
              <a:srgbClr val="070154"/>
            </a:solidFill>
            <a:ln>
              <a:noFill/>
            </a:ln>
          </p:spPr>
        </p:sp>
        <p:sp>
          <p:nvSpPr>
            <p:cNvPr id="97" name="node01.item.item-001.number"/>
            <p:cNvSpPr/>
            <p:nvPr/>
          </p:nvSpPr>
          <p:spPr>
            <a:xfrm>
              <a:off x="6052820" y="107696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1</a:t>
              </a:r>
              <a:endParaRPr lang="en-US" sz="800" spc="48" kern="0" b="0" i="0" dirty="0">
                <a:solidFill>
                  <a:srgbClr val="FFFFFF"/>
                </a:solidFill>
                <a:latin typeface="IBM Plex Mono SemiBold"/>
                <a:ea typeface="IBM Plex Mono SemiBold"/>
                <a:cs typeface="IBM Plex Mono SemiBold"/>
              </a:endParaRPr>
            </a:p>
          </p:txBody>
        </p:sp>
        <p:sp>
          <p:nvSpPr>
            <p:cNvPr id="98" name="node01.item.item-002.point"/>
            <p:cNvSpPr/>
            <p:nvPr/>
          </p:nvSpPr>
          <p:spPr>
            <a:xfrm>
              <a:off x="6451600" y="1887220"/>
              <a:ext cx="203200" cy="203200"/>
            </a:xfrm>
            <a:prstGeom prst="ellipse">
              <a:avLst/>
            </a:prstGeom>
            <a:solidFill>
              <a:srgbClr val="070154"/>
            </a:solidFill>
            <a:ln>
              <a:noFill/>
            </a:ln>
          </p:spPr>
        </p:sp>
        <p:sp>
          <p:nvSpPr>
            <p:cNvPr id="99" name="node01.item.item-002.number"/>
            <p:cNvSpPr/>
            <p:nvPr/>
          </p:nvSpPr>
          <p:spPr>
            <a:xfrm>
              <a:off x="6464300" y="189992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2</a:t>
              </a:r>
              <a:endParaRPr lang="en-US" sz="800" spc="48" kern="0" b="0" i="0" dirty="0">
                <a:solidFill>
                  <a:srgbClr val="FFFFFF"/>
                </a:solidFill>
                <a:latin typeface="IBM Plex Mono SemiBold"/>
                <a:ea typeface="IBM Plex Mono SemiBold"/>
                <a:cs typeface="IBM Plex Mono SemiBold"/>
              </a:endParaRPr>
            </a:p>
          </p:txBody>
        </p:sp>
        <p:sp>
          <p:nvSpPr>
            <p:cNvPr id="100" name="node01.item.item-003.point"/>
            <p:cNvSpPr/>
            <p:nvPr/>
          </p:nvSpPr>
          <p:spPr>
            <a:xfrm>
              <a:off x="5937250" y="2607310"/>
              <a:ext cx="203200" cy="203200"/>
            </a:xfrm>
            <a:prstGeom prst="ellipse">
              <a:avLst/>
            </a:prstGeom>
            <a:solidFill>
              <a:srgbClr val="070154"/>
            </a:solidFill>
            <a:ln>
              <a:noFill/>
            </a:ln>
          </p:spPr>
        </p:sp>
        <p:sp>
          <p:nvSpPr>
            <p:cNvPr id="101" name="node01.item.item-003.number"/>
            <p:cNvSpPr/>
            <p:nvPr/>
          </p:nvSpPr>
          <p:spPr>
            <a:xfrm>
              <a:off x="5949950" y="262001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3</a:t>
              </a:r>
              <a:endParaRPr lang="en-US" sz="800" spc="48" kern="0" b="0" i="0" dirty="0">
                <a:solidFill>
                  <a:srgbClr val="FFFFFF"/>
                </a:solidFill>
                <a:latin typeface="IBM Plex Mono SemiBold"/>
                <a:ea typeface="IBM Plex Mono SemiBold"/>
                <a:cs typeface="IBM Plex Mono SemiBold"/>
              </a:endParaRPr>
            </a:p>
          </p:txBody>
        </p:sp>
        <p:sp>
          <p:nvSpPr>
            <p:cNvPr id="102" name="node01.item.item-004.point"/>
            <p:cNvSpPr/>
            <p:nvPr/>
          </p:nvSpPr>
          <p:spPr>
            <a:xfrm>
              <a:off x="8509000" y="1270000"/>
              <a:ext cx="203200" cy="203200"/>
            </a:xfrm>
            <a:prstGeom prst="ellipse">
              <a:avLst/>
            </a:prstGeom>
            <a:solidFill>
              <a:srgbClr val="070154"/>
            </a:solidFill>
            <a:ln>
              <a:noFill/>
            </a:ln>
          </p:spPr>
        </p:sp>
        <p:sp>
          <p:nvSpPr>
            <p:cNvPr id="103" name="node01.item.item-004.number"/>
            <p:cNvSpPr/>
            <p:nvPr/>
          </p:nvSpPr>
          <p:spPr>
            <a:xfrm>
              <a:off x="8521700" y="128270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4</a:t>
              </a:r>
              <a:endParaRPr lang="en-US" sz="800" spc="48" kern="0" b="0" i="0" dirty="0">
                <a:solidFill>
                  <a:srgbClr val="FFFFFF"/>
                </a:solidFill>
                <a:latin typeface="IBM Plex Mono SemiBold"/>
                <a:ea typeface="IBM Plex Mono SemiBold"/>
                <a:cs typeface="IBM Plex Mono SemiBold"/>
              </a:endParaRPr>
            </a:p>
          </p:txBody>
        </p:sp>
        <p:sp>
          <p:nvSpPr>
            <p:cNvPr id="104" name="node01.item.item-005.point"/>
            <p:cNvSpPr/>
            <p:nvPr/>
          </p:nvSpPr>
          <p:spPr>
            <a:xfrm>
              <a:off x="5937250" y="3944620"/>
              <a:ext cx="203200" cy="203200"/>
            </a:xfrm>
            <a:prstGeom prst="ellipse">
              <a:avLst/>
            </a:prstGeom>
            <a:solidFill>
              <a:srgbClr val="070154"/>
            </a:solidFill>
            <a:ln>
              <a:noFill/>
            </a:ln>
          </p:spPr>
        </p:sp>
        <p:sp>
          <p:nvSpPr>
            <p:cNvPr id="105" name="node01.item.item-005.number"/>
            <p:cNvSpPr/>
            <p:nvPr/>
          </p:nvSpPr>
          <p:spPr>
            <a:xfrm>
              <a:off x="5949950" y="395732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5</a:t>
              </a:r>
              <a:endParaRPr lang="en-US" sz="800" spc="48" kern="0" b="0" i="0" dirty="0">
                <a:solidFill>
                  <a:srgbClr val="FFFFFF"/>
                </a:solidFill>
                <a:latin typeface="IBM Plex Mono SemiBold"/>
                <a:ea typeface="IBM Plex Mono SemiBold"/>
                <a:cs typeface="IBM Plex Mono SemiBold"/>
              </a:endParaRPr>
            </a:p>
          </p:txBody>
        </p:sp>
        <p:sp>
          <p:nvSpPr>
            <p:cNvPr id="106" name="node01.item.item-006.point"/>
            <p:cNvSpPr/>
            <p:nvPr/>
          </p:nvSpPr>
          <p:spPr>
            <a:xfrm>
              <a:off x="8714740" y="4150360"/>
              <a:ext cx="203200" cy="203200"/>
            </a:xfrm>
            <a:prstGeom prst="ellipse">
              <a:avLst/>
            </a:prstGeom>
            <a:solidFill>
              <a:srgbClr val="070154"/>
            </a:solidFill>
            <a:ln>
              <a:noFill/>
            </a:ln>
          </p:spPr>
        </p:sp>
        <p:sp>
          <p:nvSpPr>
            <p:cNvPr id="107" name="node01.item.item-006.number"/>
            <p:cNvSpPr/>
            <p:nvPr/>
          </p:nvSpPr>
          <p:spPr>
            <a:xfrm>
              <a:off x="8727440" y="416306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6</a:t>
              </a:r>
              <a:endParaRPr lang="en-US" sz="800" spc="48" kern="0" b="0" i="0" dirty="0">
                <a:solidFill>
                  <a:srgbClr val="FFFFFF"/>
                </a:solidFill>
                <a:latin typeface="IBM Plex Mono SemiBold"/>
                <a:ea typeface="IBM Plex Mono SemiBold"/>
                <a:cs typeface="IBM Plex Mono SemiBold"/>
              </a:endParaRPr>
            </a:p>
          </p:txBody>
        </p:sp>
      </p:grpSp>
      <p:grpSp>
        <p:nvGrpSpPr>
          <p:cNvPr id="127" name="node02"/>
          <p:cNvGrpSpPr/>
          <p:nvPr/>
        </p:nvGrpSpPr>
        <p:grpSpPr>
          <a:xfrm>
            <a:off x="723900" y="2057400"/>
            <a:ext cx="3429000" cy="3352800"/>
            <a:chOff x="723900" y="2057400"/>
            <a:chExt cx="3429000" cy="3352800"/>
          </a:xfrm>
        </p:grpSpPr>
        <p:sp>
          <p:nvSpPr>
            <p:cNvPr id="108" name="node02.source-001.number"/>
            <p:cNvSpPr/>
            <p:nvPr/>
          </p:nvSpPr>
          <p:spPr>
            <a:xfrm>
              <a:off x="723900" y="2057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109" name="node02.source-001.title"/>
            <p:cNvSpPr/>
            <p:nvPr/>
          </p:nvSpPr>
          <p:spPr>
            <a:xfrm>
              <a:off x="1257300" y="20574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Reconciliations</a:t>
              </a:r>
              <a:endParaRPr lang="en-US" sz="1200" spc="0" kern="0" b="0" i="0" dirty="0">
                <a:solidFill>
                  <a:srgbClr val="070154"/>
                </a:solidFill>
                <a:latin typeface="IBM Plex Sans SemiBold"/>
                <a:ea typeface="IBM Plex Sans SemiBold"/>
                <a:cs typeface="IBM Plex Sans SemiBold"/>
              </a:endParaRPr>
            </a:p>
          </p:txBody>
        </p:sp>
        <p:sp>
          <p:nvSpPr>
            <p:cNvPr id="110" name="node02.source-001.text"/>
            <p:cNvSpPr/>
            <p:nvPr/>
          </p:nvSpPr>
          <p:spPr>
            <a:xfrm>
              <a:off x="1257300" y="22733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Automated matching, wave 1.</a:t>
              </a:r>
              <a:endParaRPr lang="en-US" sz="1200" spc="0" kern="0" b="0" i="0" dirty="0">
                <a:solidFill>
                  <a:srgbClr val="50658E"/>
                </a:solidFill>
                <a:latin typeface="IBM Plex Sans"/>
                <a:ea typeface="IBM Plex Sans"/>
                <a:cs typeface="IBM Plex Sans"/>
              </a:endParaRPr>
            </a:p>
          </p:txBody>
        </p:sp>
        <p:sp>
          <p:nvSpPr>
            <p:cNvPr id="111" name="node02.source-002.number"/>
            <p:cNvSpPr/>
            <p:nvPr/>
          </p:nvSpPr>
          <p:spPr>
            <a:xfrm>
              <a:off x="723900" y="26416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112" name="node02.source-002.title"/>
            <p:cNvSpPr/>
            <p:nvPr/>
          </p:nvSpPr>
          <p:spPr>
            <a:xfrm>
              <a:off x="1257300" y="26416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Rules-based review</a:t>
              </a:r>
              <a:endParaRPr lang="en-US" sz="1200" spc="0" kern="0" b="0" i="0" dirty="0">
                <a:solidFill>
                  <a:srgbClr val="070154"/>
                </a:solidFill>
                <a:latin typeface="IBM Plex Sans SemiBold"/>
                <a:ea typeface="IBM Plex Sans SemiBold"/>
                <a:cs typeface="IBM Plex Sans SemiBold"/>
              </a:endParaRPr>
            </a:p>
          </p:txBody>
        </p:sp>
        <p:sp>
          <p:nvSpPr>
            <p:cNvPr id="113" name="node02.source-002.text"/>
            <p:cNvSpPr/>
            <p:nvPr/>
          </p:nvSpPr>
          <p:spPr>
            <a:xfrm>
              <a:off x="1257300" y="28575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Replaces manual checks.</a:t>
              </a:r>
              <a:endParaRPr lang="en-US" sz="1200" spc="0" kern="0" b="0" i="0" dirty="0">
                <a:solidFill>
                  <a:srgbClr val="50658E"/>
                </a:solidFill>
                <a:latin typeface="IBM Plex Sans"/>
                <a:ea typeface="IBM Plex Sans"/>
                <a:cs typeface="IBM Plex Sans"/>
              </a:endParaRPr>
            </a:p>
          </p:txBody>
        </p:sp>
        <p:sp>
          <p:nvSpPr>
            <p:cNvPr id="114" name="node02.source-003.number"/>
            <p:cNvSpPr/>
            <p:nvPr/>
          </p:nvSpPr>
          <p:spPr>
            <a:xfrm>
              <a:off x="723900" y="32258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115" name="node02.source-003.title"/>
            <p:cNvSpPr/>
            <p:nvPr/>
          </p:nvSpPr>
          <p:spPr>
            <a:xfrm>
              <a:off x="1257300" y="32258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Close calendar</a:t>
              </a:r>
              <a:endParaRPr lang="en-US" sz="1200" spc="0" kern="0" b="0" i="0" dirty="0">
                <a:solidFill>
                  <a:srgbClr val="070154"/>
                </a:solidFill>
                <a:latin typeface="IBM Plex Sans SemiBold"/>
                <a:ea typeface="IBM Plex Sans SemiBold"/>
                <a:cs typeface="IBM Plex Sans SemiBold"/>
              </a:endParaRPr>
            </a:p>
          </p:txBody>
        </p:sp>
        <p:sp>
          <p:nvSpPr>
            <p:cNvPr id="116" name="node02.source-003.text"/>
            <p:cNvSpPr/>
            <p:nvPr/>
          </p:nvSpPr>
          <p:spPr>
            <a:xfrm>
              <a:off x="1257300" y="34417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shared timetable.</a:t>
              </a:r>
              <a:endParaRPr lang="en-US" sz="1200" spc="0" kern="0" b="0" i="0" dirty="0">
                <a:solidFill>
                  <a:srgbClr val="50658E"/>
                </a:solidFill>
                <a:latin typeface="IBM Plex Sans"/>
                <a:ea typeface="IBM Plex Sans"/>
                <a:cs typeface="IBM Plex Sans"/>
              </a:endParaRPr>
            </a:p>
          </p:txBody>
        </p:sp>
        <p:sp>
          <p:nvSpPr>
            <p:cNvPr id="117" name="node02.source-004.number"/>
            <p:cNvSpPr/>
            <p:nvPr/>
          </p:nvSpPr>
          <p:spPr>
            <a:xfrm>
              <a:off x="723900" y="38100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118" name="node02.source-004.title"/>
            <p:cNvSpPr/>
            <p:nvPr/>
          </p:nvSpPr>
          <p:spPr>
            <a:xfrm>
              <a:off x="1257300" y="38100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Consolidation</a:t>
              </a:r>
              <a:endParaRPr lang="en-US" sz="1200" spc="0" kern="0" b="0" i="0" dirty="0">
                <a:solidFill>
                  <a:srgbClr val="070154"/>
                </a:solidFill>
                <a:latin typeface="IBM Plex Sans SemiBold"/>
                <a:ea typeface="IBM Plex Sans SemiBold"/>
                <a:cs typeface="IBM Plex Sans SemiBold"/>
              </a:endParaRPr>
            </a:p>
          </p:txBody>
        </p:sp>
        <p:sp>
          <p:nvSpPr>
            <p:cNvPr id="119" name="node02.source-004.text"/>
            <p:cNvSpPr/>
            <p:nvPr/>
          </p:nvSpPr>
          <p:spPr>
            <a:xfrm>
              <a:off x="1257300" y="40259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Highest value, most effort.</a:t>
              </a:r>
              <a:endParaRPr lang="en-US" sz="1200" spc="0" kern="0" b="0" i="0" dirty="0">
                <a:solidFill>
                  <a:srgbClr val="50658E"/>
                </a:solidFill>
                <a:latin typeface="IBM Plex Sans"/>
                <a:ea typeface="IBM Plex Sans"/>
                <a:cs typeface="IBM Plex Sans"/>
              </a:endParaRPr>
            </a:p>
          </p:txBody>
        </p:sp>
        <p:sp>
          <p:nvSpPr>
            <p:cNvPr id="120" name="node02.source-005.number"/>
            <p:cNvSpPr/>
            <p:nvPr/>
          </p:nvSpPr>
          <p:spPr>
            <a:xfrm>
              <a:off x="723900" y="43942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05</a:t>
              </a:r>
              <a:endParaRPr lang="en-US" sz="1200" spc="0" kern="0" b="0" i="0" dirty="0">
                <a:solidFill>
                  <a:srgbClr val="0047FF"/>
                </a:solidFill>
                <a:latin typeface="IBM Plex Mono SemiBold"/>
                <a:ea typeface="IBM Plex Mono SemiBold"/>
                <a:cs typeface="IBM Plex Mono SemiBold"/>
              </a:endParaRPr>
            </a:p>
          </p:txBody>
        </p:sp>
        <p:sp>
          <p:nvSpPr>
            <p:cNvPr id="121" name="node02.source-005.title"/>
            <p:cNvSpPr/>
            <p:nvPr/>
          </p:nvSpPr>
          <p:spPr>
            <a:xfrm>
              <a:off x="1257300" y="43942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Account rationalization</a:t>
              </a:r>
              <a:endParaRPr lang="en-US" sz="1200" spc="0" kern="0" b="0" i="0" dirty="0">
                <a:solidFill>
                  <a:srgbClr val="070154"/>
                </a:solidFill>
                <a:latin typeface="IBM Plex Sans SemiBold"/>
                <a:ea typeface="IBM Plex Sans SemiBold"/>
                <a:cs typeface="IBM Plex Sans SemiBold"/>
              </a:endParaRPr>
            </a:p>
          </p:txBody>
        </p:sp>
        <p:sp>
          <p:nvSpPr>
            <p:cNvPr id="122" name="node02.source-005.text"/>
            <p:cNvSpPr/>
            <p:nvPr/>
          </p:nvSpPr>
          <p:spPr>
            <a:xfrm>
              <a:off x="1257300" y="46101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Fewer accounts to maintain.</a:t>
              </a:r>
              <a:endParaRPr lang="en-US" sz="1200" spc="0" kern="0" b="0" i="0" dirty="0">
                <a:solidFill>
                  <a:srgbClr val="50658E"/>
                </a:solidFill>
                <a:latin typeface="IBM Plex Sans"/>
                <a:ea typeface="IBM Plex Sans"/>
                <a:cs typeface="IBM Plex Sans"/>
              </a:endParaRPr>
            </a:p>
          </p:txBody>
        </p:sp>
        <p:sp>
          <p:nvSpPr>
            <p:cNvPr id="123" name="node02.source-006.number"/>
            <p:cNvSpPr/>
            <p:nvPr/>
          </p:nvSpPr>
          <p:spPr>
            <a:xfrm>
              <a:off x="723900" y="4978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06</a:t>
              </a:r>
              <a:endParaRPr lang="en-US" sz="1200" spc="0" kern="0" b="0" i="0" dirty="0">
                <a:solidFill>
                  <a:srgbClr val="0047FF"/>
                </a:solidFill>
                <a:latin typeface="IBM Plex Mono SemiBold"/>
                <a:ea typeface="IBM Plex Mono SemiBold"/>
                <a:cs typeface="IBM Plex Mono SemiBold"/>
              </a:endParaRPr>
            </a:p>
          </p:txBody>
        </p:sp>
        <p:sp>
          <p:nvSpPr>
            <p:cNvPr id="124" name="node02.source-006.title"/>
            <p:cNvSpPr/>
            <p:nvPr/>
          </p:nvSpPr>
          <p:spPr>
            <a:xfrm>
              <a:off x="1257300" y="49784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Custom ERP reports</a:t>
              </a:r>
              <a:endParaRPr lang="en-US" sz="1200" spc="0" kern="0" b="0" i="0" dirty="0">
                <a:solidFill>
                  <a:srgbClr val="070154"/>
                </a:solidFill>
                <a:latin typeface="IBM Plex Sans SemiBold"/>
                <a:ea typeface="IBM Plex Sans SemiBold"/>
                <a:cs typeface="IBM Plex Sans SemiBold"/>
              </a:endParaRPr>
            </a:p>
          </p:txBody>
        </p:sp>
        <p:sp>
          <p:nvSpPr>
            <p:cNvPr id="125" name="node02.source-006.text"/>
            <p:cNvSpPr/>
            <p:nvPr/>
          </p:nvSpPr>
          <p:spPr>
            <a:xfrm>
              <a:off x="1257300" y="51943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Cost outruns the return.</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ource-19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DIGITAL FRONT DOOR</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insights explain where patients drop away</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57</a:t>
            </a:fld>
            <a:endParaRPr lang="en-US" sz="700" spc="0" kern="0" b="0" i="0" dirty="0">
              <a:solidFill>
                <a:srgbClr val="070154"/>
              </a:solidFill>
              <a:latin typeface="IBM Plex Mono SemiBold"/>
              <a:ea typeface="IBM Plex Mono SemiBold"/>
              <a:cs typeface="IBM Plex Mono SemiBold"/>
            </a:endParaRPr>
          </a:p>
        </p:txBody>
      </p:sp>
      <p:grpSp>
        <p:nvGrpSpPr>
          <p:cNvPr id="28" name="node01"/>
          <p:cNvGrpSpPr/>
          <p:nvPr/>
        </p:nvGrpSpPr>
        <p:grpSpPr>
          <a:xfrm>
            <a:off x="723900" y="1600200"/>
            <a:ext cx="5257800" cy="3962400"/>
            <a:chOff x="723900" y="1600200"/>
            <a:chExt cx="5257800" cy="3962400"/>
          </a:xfrm>
        </p:grpSpPr>
        <p:sp>
          <p:nvSpPr>
            <p:cNvPr id="7" name="node01.stages.source-001.band"/>
            <p:cNvSpPr/>
            <p:nvPr/>
          </p:nvSpPr>
          <p:spPr>
            <a:xfrm>
              <a:off x="723900" y="1600200"/>
              <a:ext cx="5257800" cy="933450"/>
            </a:xfrm>
            <a:custGeom>
              <a:avLst/>
              <a:gdLst/>
              <a:ahLst/>
              <a:cxnLst/>
              <a:rect l="l" t="t" r="r" b="b"/>
              <a:pathLst>
                <a:path w="5257800" h="933450">
                  <a:moveTo>
                    <a:pt x="0" y="0"/>
                  </a:moveTo>
                  <a:lnTo>
                    <a:pt x="5257800" y="0"/>
                  </a:lnTo>
                  <a:lnTo>
                    <a:pt x="4823460" y="933450"/>
                  </a:lnTo>
                  <a:lnTo>
                    <a:pt x="434340" y="933450"/>
                  </a:lnTo>
                  <a:close/>
                </a:path>
              </a:pathLst>
            </a:custGeom>
            <a:solidFill>
              <a:srgbClr val="E8EEF8"/>
            </a:solidFill>
            <a:ln>
              <a:noFill/>
            </a:ln>
          </p:spPr>
        </p:sp>
        <p:sp>
          <p:nvSpPr>
            <p:cNvPr id="8" name="node01.stages.source-002.band"/>
            <p:cNvSpPr/>
            <p:nvPr/>
          </p:nvSpPr>
          <p:spPr>
            <a:xfrm>
              <a:off x="1158240" y="2609850"/>
              <a:ext cx="4389120" cy="933450"/>
            </a:xfrm>
            <a:custGeom>
              <a:avLst/>
              <a:gdLst/>
              <a:ahLst/>
              <a:cxnLst/>
              <a:rect l="l" t="t" r="r" b="b"/>
              <a:pathLst>
                <a:path w="4389120" h="933450">
                  <a:moveTo>
                    <a:pt x="0" y="0"/>
                  </a:moveTo>
                  <a:lnTo>
                    <a:pt x="4389120" y="0"/>
                  </a:lnTo>
                  <a:lnTo>
                    <a:pt x="3956050" y="933450"/>
                  </a:lnTo>
                  <a:lnTo>
                    <a:pt x="433070" y="933450"/>
                  </a:lnTo>
                  <a:close/>
                </a:path>
              </a:pathLst>
            </a:custGeom>
            <a:solidFill>
              <a:srgbClr val="B9C9F0"/>
            </a:solidFill>
            <a:ln>
              <a:noFill/>
            </a:ln>
          </p:spPr>
        </p:sp>
        <p:sp>
          <p:nvSpPr>
            <p:cNvPr id="9" name="node01.stages.source-003.band"/>
            <p:cNvSpPr/>
            <p:nvPr/>
          </p:nvSpPr>
          <p:spPr>
            <a:xfrm>
              <a:off x="1591310" y="3619500"/>
              <a:ext cx="3522980" cy="933450"/>
            </a:xfrm>
            <a:custGeom>
              <a:avLst/>
              <a:gdLst/>
              <a:ahLst/>
              <a:cxnLst/>
              <a:rect l="l" t="t" r="r" b="b"/>
              <a:pathLst>
                <a:path w="3522980" h="933450">
                  <a:moveTo>
                    <a:pt x="0" y="0"/>
                  </a:moveTo>
                  <a:lnTo>
                    <a:pt x="3522980" y="0"/>
                  </a:lnTo>
                  <a:lnTo>
                    <a:pt x="3088640" y="933450"/>
                  </a:lnTo>
                  <a:lnTo>
                    <a:pt x="434340" y="933450"/>
                  </a:lnTo>
                  <a:close/>
                </a:path>
              </a:pathLst>
            </a:custGeom>
            <a:solidFill>
              <a:srgbClr val="7C9BFF"/>
            </a:solidFill>
            <a:ln>
              <a:noFill/>
            </a:ln>
          </p:spPr>
        </p:sp>
        <p:sp>
          <p:nvSpPr>
            <p:cNvPr id="10" name="node01.stages.source-004.band"/>
            <p:cNvSpPr/>
            <p:nvPr/>
          </p:nvSpPr>
          <p:spPr>
            <a:xfrm>
              <a:off x="2025650" y="4629150"/>
              <a:ext cx="2654300" cy="933450"/>
            </a:xfrm>
            <a:custGeom>
              <a:avLst/>
              <a:gdLst/>
              <a:ahLst/>
              <a:cxnLst/>
              <a:rect l="l" t="t" r="r" b="b"/>
              <a:pathLst>
                <a:path w="2654300" h="933450">
                  <a:moveTo>
                    <a:pt x="0" y="0"/>
                  </a:moveTo>
                  <a:lnTo>
                    <a:pt x="2654300" y="0"/>
                  </a:lnTo>
                  <a:lnTo>
                    <a:pt x="2221230" y="933450"/>
                  </a:lnTo>
                  <a:lnTo>
                    <a:pt x="433070" y="933450"/>
                  </a:lnTo>
                  <a:close/>
                </a:path>
              </a:pathLst>
            </a:custGeom>
            <a:solidFill>
              <a:srgbClr val="070154"/>
            </a:solidFill>
            <a:ln>
              <a:noFill/>
            </a:ln>
          </p:spPr>
        </p:sp>
        <p:sp>
          <p:nvSpPr>
            <p:cNvPr id="11" name="node01.stages.source-001.inside.part-1"/>
            <p:cNvSpPr/>
            <p:nvPr/>
          </p:nvSpPr>
          <p:spPr>
            <a:xfrm>
              <a:off x="1310069" y="1812925"/>
              <a:ext cx="4085463"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070154"/>
                  </a:solidFill>
                  <a:latin typeface="IBM Plex Mono SemiBold"/>
                  <a:ea typeface="IBM Plex Mono SemiBold"/>
                  <a:cs typeface="IBM Plex Mono SemiBold"/>
                </a:rPr>
                <a:t>41,200</a:t>
              </a:r>
              <a:endParaRPr lang="en-US" sz="1600" spc="-16" kern="0" b="0" i="0" dirty="0">
                <a:solidFill>
                  <a:srgbClr val="070154"/>
                </a:solidFill>
                <a:latin typeface="IBM Plex Mono SemiBold"/>
                <a:ea typeface="IBM Plex Mono SemiBold"/>
                <a:cs typeface="IBM Plex Mono SemiBold"/>
              </a:endParaRPr>
            </a:p>
          </p:txBody>
        </p:sp>
        <p:sp>
          <p:nvSpPr>
            <p:cNvPr id="12" name="node01.stages.source-001.inside.part-2"/>
            <p:cNvSpPr/>
            <p:nvPr/>
          </p:nvSpPr>
          <p:spPr>
            <a:xfrm>
              <a:off x="1310069" y="2105025"/>
              <a:ext cx="4085463"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Invited</a:t>
              </a:r>
              <a:endParaRPr lang="en-US" sz="1200" spc="0" kern="0" b="0" i="0" dirty="0">
                <a:solidFill>
                  <a:srgbClr val="070154"/>
                </a:solidFill>
                <a:latin typeface="IBM Plex Sans SemiBold"/>
                <a:ea typeface="IBM Plex Sans SemiBold"/>
                <a:cs typeface="IBM Plex Sans SemiBold"/>
              </a:endParaRPr>
            </a:p>
          </p:txBody>
        </p:sp>
        <p:sp>
          <p:nvSpPr>
            <p:cNvPr id="13" name="node01.stages.source-002.inside.part-1"/>
            <p:cNvSpPr/>
            <p:nvPr/>
          </p:nvSpPr>
          <p:spPr>
            <a:xfrm>
              <a:off x="1743837" y="2822575"/>
              <a:ext cx="3217926"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070154"/>
                  </a:solidFill>
                  <a:latin typeface="IBM Plex Mono SemiBold"/>
                  <a:ea typeface="IBM Plex Mono SemiBold"/>
                  <a:cs typeface="IBM Plex Mono SemiBold"/>
                </a:rPr>
                <a:t>22,600</a:t>
              </a:r>
              <a:endParaRPr lang="en-US" sz="1600" spc="-16" kern="0" b="0" i="0" dirty="0">
                <a:solidFill>
                  <a:srgbClr val="070154"/>
                </a:solidFill>
                <a:latin typeface="IBM Plex Mono SemiBold"/>
                <a:ea typeface="IBM Plex Mono SemiBold"/>
                <a:cs typeface="IBM Plex Mono SemiBold"/>
              </a:endParaRPr>
            </a:p>
          </p:txBody>
        </p:sp>
        <p:sp>
          <p:nvSpPr>
            <p:cNvPr id="14" name="node01.stages.source-002.inside.part-2"/>
            <p:cNvSpPr/>
            <p:nvPr/>
          </p:nvSpPr>
          <p:spPr>
            <a:xfrm>
              <a:off x="1743837" y="3114675"/>
              <a:ext cx="3217926"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Registered</a:t>
              </a:r>
              <a:endParaRPr lang="en-US" sz="1200" spc="0" kern="0" b="0" i="0" dirty="0">
                <a:solidFill>
                  <a:srgbClr val="070154"/>
                </a:solidFill>
                <a:latin typeface="IBM Plex Sans SemiBold"/>
                <a:ea typeface="IBM Plex Sans SemiBold"/>
                <a:cs typeface="IBM Plex Sans SemiBold"/>
              </a:endParaRPr>
            </a:p>
          </p:txBody>
        </p:sp>
        <p:sp>
          <p:nvSpPr>
            <p:cNvPr id="15" name="node01.stages.source-003.inside.part-1"/>
            <p:cNvSpPr/>
            <p:nvPr/>
          </p:nvSpPr>
          <p:spPr>
            <a:xfrm>
              <a:off x="2177605" y="3832225"/>
              <a:ext cx="2350389"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070154"/>
                  </a:solidFill>
                  <a:latin typeface="IBM Plex Mono SemiBold"/>
                  <a:ea typeface="IBM Plex Mono SemiBold"/>
                  <a:cs typeface="IBM Plex Mono SemiBold"/>
                </a:rPr>
                <a:t>13,900</a:t>
              </a:r>
              <a:endParaRPr lang="en-US" sz="1600" spc="-16" kern="0" b="0" i="0" dirty="0">
                <a:solidFill>
                  <a:srgbClr val="070154"/>
                </a:solidFill>
                <a:latin typeface="IBM Plex Mono SemiBold"/>
                <a:ea typeface="IBM Plex Mono SemiBold"/>
                <a:cs typeface="IBM Plex Mono SemiBold"/>
              </a:endParaRPr>
            </a:p>
          </p:txBody>
        </p:sp>
        <p:sp>
          <p:nvSpPr>
            <p:cNvPr id="16" name="node01.stages.source-003.inside.part-2"/>
            <p:cNvSpPr/>
            <p:nvPr/>
          </p:nvSpPr>
          <p:spPr>
            <a:xfrm>
              <a:off x="2177605" y="4124325"/>
              <a:ext cx="2350389"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Booked online</a:t>
              </a:r>
              <a:endParaRPr lang="en-US" sz="1200" spc="0" kern="0" b="0" i="0" dirty="0">
                <a:solidFill>
                  <a:srgbClr val="070154"/>
                </a:solidFill>
                <a:latin typeface="IBM Plex Sans SemiBold"/>
                <a:ea typeface="IBM Plex Sans SemiBold"/>
                <a:cs typeface="IBM Plex Sans SemiBold"/>
              </a:endParaRPr>
            </a:p>
          </p:txBody>
        </p:sp>
        <p:sp>
          <p:nvSpPr>
            <p:cNvPr id="17" name="node01.stages.source-004.inside.part-1"/>
            <p:cNvSpPr/>
            <p:nvPr/>
          </p:nvSpPr>
          <p:spPr>
            <a:xfrm>
              <a:off x="2611374" y="4841875"/>
              <a:ext cx="1482852"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Mono SemiBold"/>
                  <a:ea typeface="IBM Plex Mono SemiBold"/>
                  <a:cs typeface="IBM Plex Mono SemiBold"/>
                </a:rPr>
                <a:t>9,700</a:t>
              </a:r>
              <a:endParaRPr lang="en-US" sz="1600" spc="-16" kern="0" b="0" i="0" dirty="0">
                <a:solidFill>
                  <a:srgbClr val="FFFFFF"/>
                </a:solidFill>
                <a:latin typeface="IBM Plex Mono SemiBold"/>
                <a:ea typeface="IBM Plex Mono SemiBold"/>
                <a:cs typeface="IBM Plex Mono SemiBold"/>
              </a:endParaRPr>
            </a:p>
          </p:txBody>
        </p:sp>
        <p:sp>
          <p:nvSpPr>
            <p:cNvPr id="18" name="node01.stages.source-004.inside.part-2"/>
            <p:cNvSpPr/>
            <p:nvPr/>
          </p:nvSpPr>
          <p:spPr>
            <a:xfrm>
              <a:off x="2611374" y="5133975"/>
              <a:ext cx="1482852"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Completed visit</a:t>
              </a:r>
              <a:endParaRPr lang="en-US" sz="1200" spc="0" kern="0" b="0" i="0" dirty="0">
                <a:solidFill>
                  <a:srgbClr val="FFFFFF"/>
                </a:solidFill>
                <a:latin typeface="IBM Plex Sans SemiBold"/>
                <a:ea typeface="IBM Plex Sans SemiBold"/>
                <a:cs typeface="IBM Plex Sans SemiBold"/>
              </a:endParaRPr>
            </a:p>
          </p:txBody>
        </p:sp>
      </p:grpSp>
      <p:grpSp>
        <p:nvGrpSpPr>
          <p:cNvPr id="29" name="node02"/>
          <p:cNvGrpSpPr/>
          <p:nvPr/>
        </p:nvGrpSpPr>
        <p:grpSpPr>
          <a:xfrm>
            <a:off x="6210300" y="1600200"/>
            <a:ext cx="5257800" cy="1219200"/>
            <a:chOff x="6210300" y="1600200"/>
            <a:chExt cx="5257800" cy="1219200"/>
          </a:xfrm>
        </p:grpSpPr>
        <p:sp>
          <p:nvSpPr>
            <p:cNvPr id="19" name="node02.container"/>
            <p:cNvSpPr/>
            <p:nvPr/>
          </p:nvSpPr>
          <p:spPr>
            <a:xfrm>
              <a:off x="6210300" y="1600200"/>
              <a:ext cx="5257800" cy="1219200"/>
            </a:xfrm>
            <a:prstGeom prst="rect">
              <a:avLst/>
            </a:prstGeom>
            <a:solidFill>
              <a:srgbClr val="E8EEF8"/>
            </a:solidFill>
            <a:ln>
              <a:noFill/>
            </a:ln>
          </p:spPr>
        </p:sp>
        <p:sp>
          <p:nvSpPr>
            <p:cNvPr id="20" name="node02.title"/>
            <p:cNvSpPr/>
            <p:nvPr/>
          </p:nvSpPr>
          <p:spPr>
            <a:xfrm>
              <a:off x="6362700" y="1752600"/>
              <a:ext cx="4953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Insight 1: Registration loses 45% of invitees</a:t>
              </a:r>
              <a:endParaRPr lang="en-US" sz="1600" spc="-16" kern="0" b="0" i="0" dirty="0">
                <a:solidFill>
                  <a:srgbClr val="070154"/>
                </a:solidFill>
                <a:latin typeface="IBM Plex Sans SemiBold"/>
                <a:ea typeface="IBM Plex Sans SemiBold"/>
                <a:cs typeface="IBM Plex Sans SemiBold"/>
              </a:endParaRPr>
            </a:p>
          </p:txBody>
        </p:sp>
        <p:sp>
          <p:nvSpPr>
            <p:cNvPr id="21" name="node02.body.item-001.paragraph"/>
            <p:cNvSpPr/>
            <p:nvPr/>
          </p:nvSpPr>
          <p:spPr>
            <a:xfrm>
              <a:off x="6362700" y="2171700"/>
              <a:ext cx="4953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Identity checks fail on the first try for one in five.</a:t>
              </a:r>
              <a:endParaRPr lang="en-US" sz="1200" spc="0" kern="0" b="0" i="0" dirty="0">
                <a:solidFill>
                  <a:srgbClr val="50658E"/>
                </a:solidFill>
                <a:latin typeface="IBM Plex Sans"/>
                <a:ea typeface="IBM Plex Sans"/>
                <a:cs typeface="IBM Plex Sans"/>
              </a:endParaRPr>
            </a:p>
          </p:txBody>
        </p:sp>
      </p:grpSp>
      <p:grpSp>
        <p:nvGrpSpPr>
          <p:cNvPr id="30" name="node03"/>
          <p:cNvGrpSpPr/>
          <p:nvPr/>
        </p:nvGrpSpPr>
        <p:grpSpPr>
          <a:xfrm>
            <a:off x="6210300" y="2971800"/>
            <a:ext cx="5257800" cy="1219200"/>
            <a:chOff x="6210300" y="2971800"/>
            <a:chExt cx="5257800" cy="1219200"/>
          </a:xfrm>
        </p:grpSpPr>
        <p:sp>
          <p:nvSpPr>
            <p:cNvPr id="22" name="node03.container"/>
            <p:cNvSpPr/>
            <p:nvPr/>
          </p:nvSpPr>
          <p:spPr>
            <a:xfrm>
              <a:off x="6210300" y="2971800"/>
              <a:ext cx="5257800" cy="1219200"/>
            </a:xfrm>
            <a:prstGeom prst="rect">
              <a:avLst/>
            </a:prstGeom>
            <a:solidFill>
              <a:srgbClr val="E8EEF8"/>
            </a:solidFill>
            <a:ln>
              <a:noFill/>
            </a:ln>
          </p:spPr>
        </p:sp>
        <p:sp>
          <p:nvSpPr>
            <p:cNvPr id="23" name="node03.title"/>
            <p:cNvSpPr/>
            <p:nvPr/>
          </p:nvSpPr>
          <p:spPr>
            <a:xfrm>
              <a:off x="6362700" y="3124200"/>
              <a:ext cx="4953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Insight 2: Booking is a phone habit</a:t>
              </a:r>
              <a:endParaRPr lang="en-US" sz="1600" spc="-16" kern="0" b="0" i="0" dirty="0">
                <a:solidFill>
                  <a:srgbClr val="070154"/>
                </a:solidFill>
                <a:latin typeface="IBM Plex Sans SemiBold"/>
                <a:ea typeface="IBM Plex Sans SemiBold"/>
                <a:cs typeface="IBM Plex Sans SemiBold"/>
              </a:endParaRPr>
            </a:p>
          </p:txBody>
        </p:sp>
        <p:sp>
          <p:nvSpPr>
            <p:cNvPr id="24" name="node03.body.item-001.paragraph"/>
            <p:cNvSpPr/>
            <p:nvPr/>
          </p:nvSpPr>
          <p:spPr>
            <a:xfrm>
              <a:off x="6362700" y="3543300"/>
              <a:ext cx="4953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Patients over 65 book 3x more by phone than online.</a:t>
              </a:r>
              <a:endParaRPr lang="en-US" sz="1200" spc="0" kern="0" b="0" i="0" dirty="0">
                <a:solidFill>
                  <a:srgbClr val="50658E"/>
                </a:solidFill>
                <a:latin typeface="IBM Plex Sans"/>
                <a:ea typeface="IBM Plex Sans"/>
                <a:cs typeface="IBM Plex Sans"/>
              </a:endParaRPr>
            </a:p>
          </p:txBody>
        </p:sp>
      </p:grpSp>
      <p:grpSp>
        <p:nvGrpSpPr>
          <p:cNvPr id="31" name="node04"/>
          <p:cNvGrpSpPr/>
          <p:nvPr/>
        </p:nvGrpSpPr>
        <p:grpSpPr>
          <a:xfrm>
            <a:off x="6210300" y="4343400"/>
            <a:ext cx="5257800" cy="1219200"/>
            <a:chOff x="6210300" y="4343400"/>
            <a:chExt cx="5257800" cy="1219200"/>
          </a:xfrm>
        </p:grpSpPr>
        <p:sp>
          <p:nvSpPr>
            <p:cNvPr id="25" name="node04.container"/>
            <p:cNvSpPr/>
            <p:nvPr/>
          </p:nvSpPr>
          <p:spPr>
            <a:xfrm>
              <a:off x="6210300" y="4343400"/>
              <a:ext cx="5257800" cy="1219200"/>
            </a:xfrm>
            <a:prstGeom prst="rect">
              <a:avLst/>
            </a:prstGeom>
            <a:solidFill>
              <a:srgbClr val="E8EEF8"/>
            </a:solidFill>
            <a:ln>
              <a:noFill/>
            </a:ln>
          </p:spPr>
        </p:sp>
        <p:sp>
          <p:nvSpPr>
            <p:cNvPr id="26" name="node04.title"/>
            <p:cNvSpPr/>
            <p:nvPr/>
          </p:nvSpPr>
          <p:spPr>
            <a:xfrm>
              <a:off x="6362700" y="4495800"/>
              <a:ext cx="4953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Insight 3: Visits convert once booked</a:t>
              </a:r>
              <a:endParaRPr lang="en-US" sz="1600" spc="-16" kern="0" b="0" i="0" dirty="0">
                <a:solidFill>
                  <a:srgbClr val="070154"/>
                </a:solidFill>
                <a:latin typeface="IBM Plex Sans SemiBold"/>
                <a:ea typeface="IBM Plex Sans SemiBold"/>
                <a:cs typeface="IBM Plex Sans SemiBold"/>
              </a:endParaRPr>
            </a:p>
          </p:txBody>
        </p:sp>
        <p:sp>
          <p:nvSpPr>
            <p:cNvPr id="27" name="node04.body.item-001.paragraph"/>
            <p:cNvSpPr/>
            <p:nvPr/>
          </p:nvSpPr>
          <p:spPr>
            <a:xfrm>
              <a:off x="6362700" y="4914900"/>
              <a:ext cx="4953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70% of online bookings are completed, above phone.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ource-39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CAPABILITIES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layer of the digital front door rests on the one below</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58</a:t>
            </a:fld>
            <a:endParaRPr lang="en-US" sz="700" spc="0" kern="0" b="0" i="0" dirty="0">
              <a:solidFill>
                <a:srgbClr val="070154"/>
              </a:solidFill>
              <a:latin typeface="IBM Plex Mono SemiBold"/>
              <a:ea typeface="IBM Plex Mono SemiBold"/>
              <a:cs typeface="IBM Plex Mono SemiBold"/>
            </a:endParaRPr>
          </a:p>
        </p:txBody>
      </p:sp>
      <p:grpSp>
        <p:nvGrpSpPr>
          <p:cNvPr id="37" name="node01"/>
          <p:cNvGrpSpPr/>
          <p:nvPr/>
        </p:nvGrpSpPr>
        <p:grpSpPr>
          <a:xfrm>
            <a:off x="723900" y="1600200"/>
            <a:ext cx="7086600" cy="4114800"/>
            <a:chOff x="723900" y="1600200"/>
            <a:chExt cx="7086600" cy="4114800"/>
          </a:xfrm>
        </p:grpSpPr>
        <p:sp>
          <p:nvSpPr>
            <p:cNvPr id="7" name="node01.levels.source-001.band"/>
            <p:cNvSpPr/>
            <p:nvPr/>
          </p:nvSpPr>
          <p:spPr>
            <a:xfrm>
              <a:off x="2095500" y="1600200"/>
              <a:ext cx="685800" cy="762000"/>
            </a:xfrm>
            <a:custGeom>
              <a:avLst/>
              <a:gdLst/>
              <a:ahLst/>
              <a:cxnLst/>
              <a:rect l="l" t="t" r="r" b="b"/>
              <a:pathLst>
                <a:path w="685800" h="762000">
                  <a:moveTo>
                    <a:pt x="342900" y="0"/>
                  </a:moveTo>
                  <a:lnTo>
                    <a:pt x="342900" y="0"/>
                  </a:lnTo>
                  <a:lnTo>
                    <a:pt x="685800" y="762000"/>
                  </a:lnTo>
                  <a:lnTo>
                    <a:pt x="0" y="762000"/>
                  </a:lnTo>
                  <a:close/>
                </a:path>
              </a:pathLst>
            </a:custGeom>
            <a:solidFill>
              <a:srgbClr val="070154"/>
            </a:solidFill>
            <a:ln>
              <a:noFill/>
            </a:ln>
          </p:spPr>
        </p:sp>
        <p:sp>
          <p:nvSpPr>
            <p:cNvPr id="8" name="node01.levels.source-001.leader"/>
            <p:cNvSpPr/>
            <p:nvPr/>
          </p:nvSpPr>
          <p:spPr>
            <a:xfrm>
              <a:off x="2686050" y="1981200"/>
              <a:ext cx="1619250" cy="0"/>
            </a:xfrm>
            <a:custGeom>
              <a:avLst/>
              <a:gdLst/>
              <a:ahLst/>
              <a:cxnLst/>
              <a:rect l="l" t="t" r="r" b="b"/>
              <a:pathLst>
                <a:path w="1619250">
                  <a:moveTo>
                    <a:pt x="0" y="0"/>
                  </a:moveTo>
                  <a:lnTo>
                    <a:pt x="1619250" y="0"/>
                  </a:lnTo>
                </a:path>
              </a:pathLst>
            </a:custGeom>
            <a:ln w="12700">
              <a:solidFill>
                <a:srgbClr val="97A4BA"/>
              </a:solidFill>
              <a:prstDash val="dot"/>
            </a:ln>
          </p:spPr>
        </p:sp>
        <p:sp>
          <p:nvSpPr>
            <p:cNvPr id="9" name="node01.levels.source-002.band"/>
            <p:cNvSpPr/>
            <p:nvPr/>
          </p:nvSpPr>
          <p:spPr>
            <a:xfrm>
              <a:off x="1752600" y="2438400"/>
              <a:ext cx="1371600" cy="762000"/>
            </a:xfrm>
            <a:custGeom>
              <a:avLst/>
              <a:gdLst/>
              <a:ahLst/>
              <a:cxnLst/>
              <a:rect l="l" t="t" r="r" b="b"/>
              <a:pathLst>
                <a:path w="1371600" h="762000">
                  <a:moveTo>
                    <a:pt x="342900" y="0"/>
                  </a:moveTo>
                  <a:lnTo>
                    <a:pt x="1028700" y="0"/>
                  </a:lnTo>
                  <a:lnTo>
                    <a:pt x="1371600" y="762000"/>
                  </a:lnTo>
                  <a:lnTo>
                    <a:pt x="0" y="762000"/>
                  </a:lnTo>
                  <a:close/>
                </a:path>
              </a:pathLst>
            </a:custGeom>
            <a:solidFill>
              <a:srgbClr val="0047FF"/>
            </a:solidFill>
            <a:ln>
              <a:noFill/>
            </a:ln>
          </p:spPr>
        </p:sp>
        <p:sp>
          <p:nvSpPr>
            <p:cNvPr id="10" name="node01.levels.source-002.leader"/>
            <p:cNvSpPr/>
            <p:nvPr/>
          </p:nvSpPr>
          <p:spPr>
            <a:xfrm>
              <a:off x="3028950" y="2819400"/>
              <a:ext cx="1276350" cy="0"/>
            </a:xfrm>
            <a:custGeom>
              <a:avLst/>
              <a:gdLst/>
              <a:ahLst/>
              <a:cxnLst/>
              <a:rect l="l" t="t" r="r" b="b"/>
              <a:pathLst>
                <a:path w="1276350">
                  <a:moveTo>
                    <a:pt x="0" y="0"/>
                  </a:moveTo>
                  <a:lnTo>
                    <a:pt x="1276350" y="0"/>
                  </a:lnTo>
                </a:path>
              </a:pathLst>
            </a:custGeom>
            <a:ln w="12700">
              <a:solidFill>
                <a:srgbClr val="97A4BA"/>
              </a:solidFill>
              <a:prstDash val="dot"/>
            </a:ln>
          </p:spPr>
        </p:sp>
        <p:sp>
          <p:nvSpPr>
            <p:cNvPr id="11" name="node01.levels.source-003.band"/>
            <p:cNvSpPr/>
            <p:nvPr/>
          </p:nvSpPr>
          <p:spPr>
            <a:xfrm>
              <a:off x="1409700" y="3276600"/>
              <a:ext cx="2057400" cy="762000"/>
            </a:xfrm>
            <a:custGeom>
              <a:avLst/>
              <a:gdLst/>
              <a:ahLst/>
              <a:cxnLst/>
              <a:rect l="l" t="t" r="r" b="b"/>
              <a:pathLst>
                <a:path w="2057400" h="762000">
                  <a:moveTo>
                    <a:pt x="342900" y="0"/>
                  </a:moveTo>
                  <a:lnTo>
                    <a:pt x="1714500" y="0"/>
                  </a:lnTo>
                  <a:lnTo>
                    <a:pt x="2057400" y="762000"/>
                  </a:lnTo>
                  <a:lnTo>
                    <a:pt x="0" y="762000"/>
                  </a:lnTo>
                  <a:close/>
                </a:path>
              </a:pathLst>
            </a:custGeom>
            <a:solidFill>
              <a:srgbClr val="7C9BFF"/>
            </a:solidFill>
            <a:ln>
              <a:noFill/>
            </a:ln>
          </p:spPr>
        </p:sp>
        <p:sp>
          <p:nvSpPr>
            <p:cNvPr id="12" name="node01.levels.source-003.leader"/>
            <p:cNvSpPr/>
            <p:nvPr/>
          </p:nvSpPr>
          <p:spPr>
            <a:xfrm>
              <a:off x="3371850" y="3657600"/>
              <a:ext cx="933450" cy="0"/>
            </a:xfrm>
            <a:custGeom>
              <a:avLst/>
              <a:gdLst/>
              <a:ahLst/>
              <a:cxnLst/>
              <a:rect l="l" t="t" r="r" b="b"/>
              <a:pathLst>
                <a:path w="933450">
                  <a:moveTo>
                    <a:pt x="0" y="0"/>
                  </a:moveTo>
                  <a:lnTo>
                    <a:pt x="933450" y="0"/>
                  </a:lnTo>
                </a:path>
              </a:pathLst>
            </a:custGeom>
            <a:ln w="12700">
              <a:solidFill>
                <a:srgbClr val="97A4BA"/>
              </a:solidFill>
              <a:prstDash val="dot"/>
            </a:ln>
          </p:spPr>
        </p:sp>
        <p:sp>
          <p:nvSpPr>
            <p:cNvPr id="13" name="node01.levels.source-004.band"/>
            <p:cNvSpPr/>
            <p:nvPr/>
          </p:nvSpPr>
          <p:spPr>
            <a:xfrm>
              <a:off x="1066800" y="4114800"/>
              <a:ext cx="2743200" cy="762000"/>
            </a:xfrm>
            <a:custGeom>
              <a:avLst/>
              <a:gdLst/>
              <a:ahLst/>
              <a:cxnLst/>
              <a:rect l="l" t="t" r="r" b="b"/>
              <a:pathLst>
                <a:path w="2743200" h="762000">
                  <a:moveTo>
                    <a:pt x="342900" y="0"/>
                  </a:moveTo>
                  <a:lnTo>
                    <a:pt x="2400300" y="0"/>
                  </a:lnTo>
                  <a:lnTo>
                    <a:pt x="2743200" y="762000"/>
                  </a:lnTo>
                  <a:lnTo>
                    <a:pt x="0" y="762000"/>
                  </a:lnTo>
                  <a:close/>
                </a:path>
              </a:pathLst>
            </a:custGeom>
            <a:solidFill>
              <a:srgbClr val="CED7E6"/>
            </a:solidFill>
            <a:ln>
              <a:noFill/>
            </a:ln>
          </p:spPr>
        </p:sp>
        <p:sp>
          <p:nvSpPr>
            <p:cNvPr id="14" name="node01.levels.source-004.leader"/>
            <p:cNvSpPr/>
            <p:nvPr/>
          </p:nvSpPr>
          <p:spPr>
            <a:xfrm>
              <a:off x="3714750" y="4495800"/>
              <a:ext cx="590550" cy="0"/>
            </a:xfrm>
            <a:custGeom>
              <a:avLst/>
              <a:gdLst/>
              <a:ahLst/>
              <a:cxnLst/>
              <a:rect l="l" t="t" r="r" b="b"/>
              <a:pathLst>
                <a:path w="590550">
                  <a:moveTo>
                    <a:pt x="0" y="0"/>
                  </a:moveTo>
                  <a:lnTo>
                    <a:pt x="590550" y="0"/>
                  </a:lnTo>
                </a:path>
              </a:pathLst>
            </a:custGeom>
            <a:ln w="12700">
              <a:solidFill>
                <a:srgbClr val="97A4BA"/>
              </a:solidFill>
              <a:prstDash val="dot"/>
            </a:ln>
          </p:spPr>
        </p:sp>
        <p:sp>
          <p:nvSpPr>
            <p:cNvPr id="15" name="node01.levels.source-005.band"/>
            <p:cNvSpPr/>
            <p:nvPr/>
          </p:nvSpPr>
          <p:spPr>
            <a:xfrm>
              <a:off x="723900" y="4953000"/>
              <a:ext cx="3429000" cy="762000"/>
            </a:xfrm>
            <a:custGeom>
              <a:avLst/>
              <a:gdLst/>
              <a:ahLst/>
              <a:cxnLst/>
              <a:rect l="l" t="t" r="r" b="b"/>
              <a:pathLst>
                <a:path w="3429000" h="762000">
                  <a:moveTo>
                    <a:pt x="342900" y="0"/>
                  </a:moveTo>
                  <a:lnTo>
                    <a:pt x="3086100" y="0"/>
                  </a:lnTo>
                  <a:lnTo>
                    <a:pt x="3429000" y="762000"/>
                  </a:lnTo>
                  <a:lnTo>
                    <a:pt x="0" y="762000"/>
                  </a:lnTo>
                  <a:close/>
                </a:path>
              </a:pathLst>
            </a:custGeom>
            <a:solidFill>
              <a:srgbClr val="E8EEF8"/>
            </a:solidFill>
            <a:ln>
              <a:noFill/>
            </a:ln>
          </p:spPr>
        </p:sp>
        <p:sp>
          <p:nvSpPr>
            <p:cNvPr id="16" name="node01.levels.source-005.leader"/>
            <p:cNvSpPr/>
            <p:nvPr/>
          </p:nvSpPr>
          <p:spPr>
            <a:xfrm>
              <a:off x="4057650" y="5334000"/>
              <a:ext cx="247650" cy="0"/>
            </a:xfrm>
            <a:custGeom>
              <a:avLst/>
              <a:gdLst/>
              <a:ahLst/>
              <a:cxnLst/>
              <a:rect l="l" t="t" r="r" b="b"/>
              <a:pathLst>
                <a:path w="247650">
                  <a:moveTo>
                    <a:pt x="0" y="0"/>
                  </a:moveTo>
                  <a:lnTo>
                    <a:pt x="247650" y="0"/>
                  </a:lnTo>
                </a:path>
              </a:pathLst>
            </a:custGeom>
            <a:ln w="12700">
              <a:solidFill>
                <a:srgbClr val="97A4BA"/>
              </a:solidFill>
              <a:prstDash val="dot"/>
            </a:ln>
          </p:spPr>
        </p:sp>
        <p:sp>
          <p:nvSpPr>
            <p:cNvPr id="17" name="node01.levels.source-001.side.part-1"/>
            <p:cNvSpPr/>
            <p:nvPr/>
          </p:nvSpPr>
          <p:spPr>
            <a:xfrm>
              <a:off x="4381500" y="17526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Personal</a:t>
              </a:r>
              <a:endParaRPr lang="en-US" sz="1200" spc="0" kern="0" b="0" i="0" dirty="0">
                <a:solidFill>
                  <a:srgbClr val="070154"/>
                </a:solidFill>
                <a:latin typeface="IBM Plex Sans SemiBold"/>
                <a:ea typeface="IBM Plex Sans SemiBold"/>
                <a:cs typeface="IBM Plex Sans SemiBold"/>
              </a:endParaRPr>
            </a:p>
          </p:txBody>
        </p:sp>
        <p:sp>
          <p:nvSpPr>
            <p:cNvPr id="18" name="node01.levels.source-001.side.part-2"/>
            <p:cNvSpPr/>
            <p:nvPr/>
          </p:nvSpPr>
          <p:spPr>
            <a:xfrm>
              <a:off x="4381500" y="19939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Care journeys that adapt.</a:t>
              </a:r>
              <a:endParaRPr lang="en-US" sz="1200" spc="0" kern="0" b="0" i="0" dirty="0">
                <a:solidFill>
                  <a:srgbClr val="070154"/>
                </a:solidFill>
                <a:latin typeface="IBM Plex Sans"/>
                <a:ea typeface="IBM Plex Sans"/>
                <a:cs typeface="IBM Plex Sans"/>
              </a:endParaRPr>
            </a:p>
          </p:txBody>
        </p:sp>
        <p:sp>
          <p:nvSpPr>
            <p:cNvPr id="19" name="node01.levels.source-002.side.part-1"/>
            <p:cNvSpPr/>
            <p:nvPr/>
          </p:nvSpPr>
          <p:spPr>
            <a:xfrm>
              <a:off x="4381500" y="25908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Predictive</a:t>
              </a:r>
              <a:endParaRPr lang="en-US" sz="1200" spc="0" kern="0" b="0" i="0" dirty="0">
                <a:solidFill>
                  <a:srgbClr val="070154"/>
                </a:solidFill>
                <a:latin typeface="IBM Plex Sans SemiBold"/>
                <a:ea typeface="IBM Plex Sans SemiBold"/>
                <a:cs typeface="IBM Plex Sans SemiBold"/>
              </a:endParaRPr>
            </a:p>
          </p:txBody>
        </p:sp>
        <p:sp>
          <p:nvSpPr>
            <p:cNvPr id="20" name="node01.levels.source-002.side.part-2"/>
            <p:cNvSpPr/>
            <p:nvPr/>
          </p:nvSpPr>
          <p:spPr>
            <a:xfrm>
              <a:off x="4381500" y="28321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Demand and no-show models.</a:t>
              </a:r>
              <a:endParaRPr lang="en-US" sz="1200" spc="0" kern="0" b="0" i="0" dirty="0">
                <a:solidFill>
                  <a:srgbClr val="070154"/>
                </a:solidFill>
                <a:latin typeface="IBM Plex Sans"/>
                <a:ea typeface="IBM Plex Sans"/>
                <a:cs typeface="IBM Plex Sans"/>
              </a:endParaRPr>
            </a:p>
          </p:txBody>
        </p:sp>
        <p:sp>
          <p:nvSpPr>
            <p:cNvPr id="21" name="node01.levels.source-003.side.part-1"/>
            <p:cNvSpPr/>
            <p:nvPr/>
          </p:nvSpPr>
          <p:spPr>
            <a:xfrm>
              <a:off x="4381500" y="34290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Self-service</a:t>
              </a:r>
              <a:endParaRPr lang="en-US" sz="1200" spc="0" kern="0" b="0" i="0" dirty="0">
                <a:solidFill>
                  <a:srgbClr val="070154"/>
                </a:solidFill>
                <a:latin typeface="IBM Plex Sans SemiBold"/>
                <a:ea typeface="IBM Plex Sans SemiBold"/>
                <a:cs typeface="IBM Plex Sans SemiBold"/>
              </a:endParaRPr>
            </a:p>
          </p:txBody>
        </p:sp>
        <p:sp>
          <p:nvSpPr>
            <p:cNvPr id="22" name="node01.levels.source-003.side.part-2"/>
            <p:cNvSpPr/>
            <p:nvPr/>
          </p:nvSpPr>
          <p:spPr>
            <a:xfrm>
              <a:off x="4381500" y="36703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Book, pay and message.</a:t>
              </a:r>
              <a:endParaRPr lang="en-US" sz="1200" spc="0" kern="0" b="0" i="0" dirty="0">
                <a:solidFill>
                  <a:srgbClr val="070154"/>
                </a:solidFill>
                <a:latin typeface="IBM Plex Sans"/>
                <a:ea typeface="IBM Plex Sans"/>
                <a:cs typeface="IBM Plex Sans"/>
              </a:endParaRPr>
            </a:p>
          </p:txBody>
        </p:sp>
        <p:sp>
          <p:nvSpPr>
            <p:cNvPr id="23" name="node01.levels.source-004.side.part-1"/>
            <p:cNvSpPr/>
            <p:nvPr/>
          </p:nvSpPr>
          <p:spPr>
            <a:xfrm>
              <a:off x="4381500" y="42672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Integrated data</a:t>
              </a:r>
              <a:endParaRPr lang="en-US" sz="1200" spc="0" kern="0" b="0" i="0" dirty="0">
                <a:solidFill>
                  <a:srgbClr val="070154"/>
                </a:solidFill>
                <a:latin typeface="IBM Plex Sans SemiBold"/>
                <a:ea typeface="IBM Plex Sans SemiBold"/>
                <a:cs typeface="IBM Plex Sans SemiBold"/>
              </a:endParaRPr>
            </a:p>
          </p:txBody>
        </p:sp>
        <p:sp>
          <p:nvSpPr>
            <p:cNvPr id="24" name="node01.levels.source-004.side.part-2"/>
            <p:cNvSpPr/>
            <p:nvPr/>
          </p:nvSpPr>
          <p:spPr>
            <a:xfrm>
              <a:off x="4381500" y="45085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patient profile.</a:t>
              </a:r>
              <a:endParaRPr lang="en-US" sz="1200" spc="0" kern="0" b="0" i="0" dirty="0">
                <a:solidFill>
                  <a:srgbClr val="070154"/>
                </a:solidFill>
                <a:latin typeface="IBM Plex Sans"/>
                <a:ea typeface="IBM Plex Sans"/>
                <a:cs typeface="IBM Plex Sans"/>
              </a:endParaRPr>
            </a:p>
          </p:txBody>
        </p:sp>
        <p:sp>
          <p:nvSpPr>
            <p:cNvPr id="25" name="node01.levels.source-005.side.part-1"/>
            <p:cNvSpPr/>
            <p:nvPr/>
          </p:nvSpPr>
          <p:spPr>
            <a:xfrm>
              <a:off x="4381500" y="51054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Identity and platform</a:t>
              </a:r>
              <a:endParaRPr lang="en-US" sz="1200" spc="0" kern="0" b="0" i="0" dirty="0">
                <a:solidFill>
                  <a:srgbClr val="070154"/>
                </a:solidFill>
                <a:latin typeface="IBM Plex Sans SemiBold"/>
                <a:ea typeface="IBM Plex Sans SemiBold"/>
                <a:cs typeface="IBM Plex Sans SemiBold"/>
              </a:endParaRPr>
            </a:p>
          </p:txBody>
        </p:sp>
        <p:sp>
          <p:nvSpPr>
            <p:cNvPr id="26" name="node01.levels.source-005.side.part-2"/>
            <p:cNvSpPr/>
            <p:nvPr/>
          </p:nvSpPr>
          <p:spPr>
            <a:xfrm>
              <a:off x="4381500" y="53467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Secure sign-in, one patient ID.</a:t>
              </a:r>
              <a:endParaRPr lang="en-US" sz="1200" spc="0" kern="0" b="0" i="0" dirty="0">
                <a:solidFill>
                  <a:srgbClr val="070154"/>
                </a:solidFill>
                <a:latin typeface="IBM Plex Sans"/>
                <a:ea typeface="IBM Plex Sans"/>
                <a:cs typeface="IBM Plex Sans"/>
              </a:endParaRPr>
            </a:p>
          </p:txBody>
        </p:sp>
      </p:grpSp>
      <p:grpSp>
        <p:nvGrpSpPr>
          <p:cNvPr id="38" name="node02"/>
          <p:cNvGrpSpPr/>
          <p:nvPr/>
        </p:nvGrpSpPr>
        <p:grpSpPr>
          <a:xfrm>
            <a:off x="8039100" y="1600200"/>
            <a:ext cx="3429000" cy="139700"/>
            <a:chOff x="8039100" y="1600200"/>
            <a:chExt cx="3429000" cy="139700"/>
          </a:xfrm>
        </p:grpSpPr>
        <p:sp>
          <p:nvSpPr>
            <p:cNvPr id="27" name="node02.text"/>
            <p:cNvSpPr/>
            <p:nvPr/>
          </p:nvSpPr>
          <p:spPr>
            <a:xfrm>
              <a:off x="80391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BUILD ORDER</a:t>
              </a:r>
              <a:endParaRPr lang="en-US" sz="800" spc="48" kern="0" b="0" i="0" dirty="0">
                <a:solidFill>
                  <a:srgbClr val="50658E"/>
                </a:solidFill>
                <a:latin typeface="IBM Plex Mono Medium"/>
                <a:ea typeface="IBM Plex Mono Medium"/>
                <a:cs typeface="IBM Plex Mono Medium"/>
              </a:endParaRPr>
            </a:p>
          </p:txBody>
        </p:sp>
      </p:grpSp>
      <p:grpSp>
        <p:nvGrpSpPr>
          <p:cNvPr id="39" name="node03"/>
          <p:cNvGrpSpPr/>
          <p:nvPr/>
        </p:nvGrpSpPr>
        <p:grpSpPr>
          <a:xfrm>
            <a:off x="8039100" y="1981200"/>
            <a:ext cx="3429000" cy="2032000"/>
            <a:chOff x="8039100" y="1981200"/>
            <a:chExt cx="3429000" cy="2032000"/>
          </a:xfrm>
        </p:grpSpPr>
        <p:sp>
          <p:nvSpPr>
            <p:cNvPr id="28" name="node03.source-001.number"/>
            <p:cNvSpPr/>
            <p:nvPr/>
          </p:nvSpPr>
          <p:spPr>
            <a:xfrm>
              <a:off x="8039100" y="19812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29" name="node03.source-001.title"/>
            <p:cNvSpPr/>
            <p:nvPr/>
          </p:nvSpPr>
          <p:spPr>
            <a:xfrm>
              <a:off x="8572500" y="19812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Lay the base first</a:t>
              </a:r>
              <a:endParaRPr lang="en-US" sz="1200" spc="0" kern="0" b="0" i="0" dirty="0">
                <a:solidFill>
                  <a:srgbClr val="070154"/>
                </a:solidFill>
                <a:latin typeface="IBM Plex Sans SemiBold"/>
                <a:ea typeface="IBM Plex Sans SemiBold"/>
                <a:cs typeface="IBM Plex Sans SemiBold"/>
              </a:endParaRPr>
            </a:p>
          </p:txBody>
        </p:sp>
        <p:sp>
          <p:nvSpPr>
            <p:cNvPr id="30" name="node03.source-001.text"/>
            <p:cNvSpPr/>
            <p:nvPr/>
          </p:nvSpPr>
          <p:spPr>
            <a:xfrm>
              <a:off x="8572500" y="2197100"/>
              <a:ext cx="2895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Identity and a secure platform come before any new service.</a:t>
              </a:r>
              <a:endParaRPr lang="en-US" sz="1200" spc="0" kern="0" b="0" i="0" dirty="0">
                <a:solidFill>
                  <a:srgbClr val="50658E"/>
                </a:solidFill>
                <a:latin typeface="IBM Plex Sans"/>
                <a:ea typeface="IBM Plex Sans"/>
                <a:cs typeface="IBM Plex Sans"/>
              </a:endParaRPr>
            </a:p>
          </p:txBody>
        </p:sp>
        <p:sp>
          <p:nvSpPr>
            <p:cNvPr id="31" name="node03.source-002.number"/>
            <p:cNvSpPr/>
            <p:nvPr/>
          </p:nvSpPr>
          <p:spPr>
            <a:xfrm>
              <a:off x="8039100" y="27813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32" name="node03.source-002.title"/>
            <p:cNvSpPr/>
            <p:nvPr/>
          </p:nvSpPr>
          <p:spPr>
            <a:xfrm>
              <a:off x="8572500" y="27813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Connect the data</a:t>
              </a:r>
              <a:endParaRPr lang="en-US" sz="1200" spc="0" kern="0" b="0" i="0" dirty="0">
                <a:solidFill>
                  <a:srgbClr val="070154"/>
                </a:solidFill>
                <a:latin typeface="IBM Plex Sans SemiBold"/>
                <a:ea typeface="IBM Plex Sans SemiBold"/>
                <a:cs typeface="IBM Plex Sans SemiBold"/>
              </a:endParaRPr>
            </a:p>
          </p:txBody>
        </p:sp>
        <p:sp>
          <p:nvSpPr>
            <p:cNvPr id="33" name="node03.source-002.text"/>
            <p:cNvSpPr/>
            <p:nvPr/>
          </p:nvSpPr>
          <p:spPr>
            <a:xfrm>
              <a:off x="8572500" y="2997200"/>
              <a:ext cx="2895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Scheduling, billing and clinical records feed one profile.</a:t>
              </a:r>
              <a:endParaRPr lang="en-US" sz="1200" spc="0" kern="0" b="0" i="0" dirty="0">
                <a:solidFill>
                  <a:srgbClr val="50658E"/>
                </a:solidFill>
                <a:latin typeface="IBM Plex Sans"/>
                <a:ea typeface="IBM Plex Sans"/>
                <a:cs typeface="IBM Plex Sans"/>
              </a:endParaRPr>
            </a:p>
          </p:txBody>
        </p:sp>
        <p:sp>
          <p:nvSpPr>
            <p:cNvPr id="34" name="node03.source-003.number"/>
            <p:cNvSpPr/>
            <p:nvPr/>
          </p:nvSpPr>
          <p:spPr>
            <a:xfrm>
              <a:off x="8039100" y="3581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35" name="node03.source-003.title"/>
            <p:cNvSpPr/>
            <p:nvPr/>
          </p:nvSpPr>
          <p:spPr>
            <a:xfrm>
              <a:off x="8572500" y="35814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Then add intelligence</a:t>
              </a:r>
              <a:endParaRPr lang="en-US" sz="1200" spc="0" kern="0" b="0" i="0" dirty="0">
                <a:solidFill>
                  <a:srgbClr val="070154"/>
                </a:solidFill>
                <a:latin typeface="IBM Plex Sans SemiBold"/>
                <a:ea typeface="IBM Plex Sans SemiBold"/>
                <a:cs typeface="IBM Plex Sans SemiBold"/>
              </a:endParaRPr>
            </a:p>
          </p:txBody>
        </p:sp>
        <p:sp>
          <p:nvSpPr>
            <p:cNvPr id="36" name="node03.source-003.text"/>
            <p:cNvSpPr/>
            <p:nvPr/>
          </p:nvSpPr>
          <p:spPr>
            <a:xfrm>
              <a:off x="8572500" y="37973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Prediction needs clean, connected data.</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ource-07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GAPS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gaps drive most of the distance to target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assessment,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59</a:t>
            </a:fld>
            <a:endParaRPr lang="en-US" sz="700" spc="0" kern="0" b="0" i="0" dirty="0">
              <a:solidFill>
                <a:srgbClr val="070154"/>
              </a:solidFill>
              <a:latin typeface="IBM Plex Mono SemiBold"/>
              <a:ea typeface="IBM Plex Mono SemiBold"/>
              <a:cs typeface="IBM Plex Mono SemiBold"/>
            </a:endParaRPr>
          </a:p>
        </p:txBody>
      </p:sp>
      <p:grpSp>
        <p:nvGrpSpPr>
          <p:cNvPr id="92" name="node01"/>
          <p:cNvGrpSpPr/>
          <p:nvPr/>
        </p:nvGrpSpPr>
        <p:grpSpPr>
          <a:xfrm>
            <a:off x="723900" y="1600200"/>
            <a:ext cx="6400800" cy="3657600"/>
            <a:chOff x="723900" y="1600200"/>
            <a:chExt cx="6400800" cy="3657600"/>
          </a:xfrm>
        </p:grpSpPr>
        <p:sp>
          <p:nvSpPr>
            <p:cNvPr id="7" name="node01.row.item-001.c1.heat-gap"/>
            <p:cNvSpPr/>
            <p:nvPr/>
          </p:nvSpPr>
          <p:spPr>
            <a:xfrm>
              <a:off x="3009900" y="2057400"/>
              <a:ext cx="1028700" cy="457200"/>
            </a:xfrm>
            <a:prstGeom prst="rect">
              <a:avLst/>
            </a:prstGeom>
            <a:solidFill>
              <a:srgbClr val="FFFFFF"/>
            </a:solidFill>
            <a:ln>
              <a:noFill/>
            </a:ln>
          </p:spPr>
        </p:sp>
        <p:sp>
          <p:nvSpPr>
            <p:cNvPr id="8" name="node01.row.item-001.c1.heat"/>
            <p:cNvSpPr/>
            <p:nvPr/>
          </p:nvSpPr>
          <p:spPr>
            <a:xfrm>
              <a:off x="3028950" y="2076450"/>
              <a:ext cx="990600" cy="419100"/>
            </a:xfrm>
            <a:prstGeom prst="rect">
              <a:avLst/>
            </a:prstGeom>
            <a:solidFill>
              <a:srgbClr val="CED7E6"/>
            </a:solidFill>
            <a:ln>
              <a:noFill/>
            </a:ln>
          </p:spPr>
        </p:sp>
        <p:sp>
          <p:nvSpPr>
            <p:cNvPr id="9" name="node01.row.item-001.c2.heat-gap"/>
            <p:cNvSpPr/>
            <p:nvPr/>
          </p:nvSpPr>
          <p:spPr>
            <a:xfrm>
              <a:off x="4038600" y="2057400"/>
              <a:ext cx="1028700" cy="457200"/>
            </a:xfrm>
            <a:prstGeom prst="rect">
              <a:avLst/>
            </a:prstGeom>
            <a:solidFill>
              <a:srgbClr val="FFFFFF"/>
            </a:solidFill>
            <a:ln>
              <a:noFill/>
            </a:ln>
          </p:spPr>
        </p:sp>
        <p:sp>
          <p:nvSpPr>
            <p:cNvPr id="10" name="node01.row.item-001.c2.heat"/>
            <p:cNvSpPr/>
            <p:nvPr/>
          </p:nvSpPr>
          <p:spPr>
            <a:xfrm>
              <a:off x="4057650" y="2076450"/>
              <a:ext cx="990600" cy="419100"/>
            </a:xfrm>
            <a:prstGeom prst="rect">
              <a:avLst/>
            </a:prstGeom>
            <a:solidFill>
              <a:srgbClr val="F3D6EE"/>
            </a:solidFill>
            <a:ln>
              <a:noFill/>
            </a:ln>
          </p:spPr>
        </p:sp>
        <p:sp>
          <p:nvSpPr>
            <p:cNvPr id="11" name="node01.row.item-001.c3.heat-gap"/>
            <p:cNvSpPr/>
            <p:nvPr/>
          </p:nvSpPr>
          <p:spPr>
            <a:xfrm>
              <a:off x="5067300" y="2057400"/>
              <a:ext cx="1028700" cy="457200"/>
            </a:xfrm>
            <a:prstGeom prst="rect">
              <a:avLst/>
            </a:prstGeom>
            <a:solidFill>
              <a:srgbClr val="FFFFFF"/>
            </a:solidFill>
            <a:ln>
              <a:noFill/>
            </a:ln>
          </p:spPr>
        </p:sp>
        <p:sp>
          <p:nvSpPr>
            <p:cNvPr id="12" name="node01.row.item-001.c3.heat"/>
            <p:cNvSpPr/>
            <p:nvPr/>
          </p:nvSpPr>
          <p:spPr>
            <a:xfrm>
              <a:off x="5086350" y="2076450"/>
              <a:ext cx="990600" cy="419100"/>
            </a:xfrm>
            <a:prstGeom prst="rect">
              <a:avLst/>
            </a:prstGeom>
            <a:solidFill>
              <a:srgbClr val="F3D6EE"/>
            </a:solidFill>
            <a:ln>
              <a:noFill/>
            </a:ln>
          </p:spPr>
        </p:sp>
        <p:sp>
          <p:nvSpPr>
            <p:cNvPr id="13" name="node01.row.item-001.c4.heat-gap"/>
            <p:cNvSpPr/>
            <p:nvPr/>
          </p:nvSpPr>
          <p:spPr>
            <a:xfrm>
              <a:off x="6096000" y="2057400"/>
              <a:ext cx="1028700" cy="457200"/>
            </a:xfrm>
            <a:prstGeom prst="rect">
              <a:avLst/>
            </a:prstGeom>
            <a:solidFill>
              <a:srgbClr val="FFFFFF"/>
            </a:solidFill>
            <a:ln>
              <a:noFill/>
            </a:ln>
          </p:spPr>
        </p:sp>
        <p:sp>
          <p:nvSpPr>
            <p:cNvPr id="14" name="node01.row.item-001.c4.heat"/>
            <p:cNvSpPr/>
            <p:nvPr/>
          </p:nvSpPr>
          <p:spPr>
            <a:xfrm>
              <a:off x="6115050" y="2076450"/>
              <a:ext cx="990600" cy="419100"/>
            </a:xfrm>
            <a:prstGeom prst="rect">
              <a:avLst/>
            </a:prstGeom>
            <a:solidFill>
              <a:srgbClr val="FB7FE8"/>
            </a:solidFill>
            <a:ln>
              <a:noFill/>
            </a:ln>
          </p:spPr>
        </p:sp>
        <p:sp>
          <p:nvSpPr>
            <p:cNvPr id="15" name="node01.row.item-002.c1.heat-gap"/>
            <p:cNvSpPr/>
            <p:nvPr/>
          </p:nvSpPr>
          <p:spPr>
            <a:xfrm>
              <a:off x="3009900" y="2514600"/>
              <a:ext cx="1028700" cy="457200"/>
            </a:xfrm>
            <a:prstGeom prst="rect">
              <a:avLst/>
            </a:prstGeom>
            <a:solidFill>
              <a:srgbClr val="FFFFFF"/>
            </a:solidFill>
            <a:ln>
              <a:noFill/>
            </a:ln>
          </p:spPr>
        </p:sp>
        <p:sp>
          <p:nvSpPr>
            <p:cNvPr id="16" name="node01.row.item-002.c1.heat"/>
            <p:cNvSpPr/>
            <p:nvPr/>
          </p:nvSpPr>
          <p:spPr>
            <a:xfrm>
              <a:off x="3028950" y="2533650"/>
              <a:ext cx="990600" cy="419100"/>
            </a:xfrm>
            <a:prstGeom prst="rect">
              <a:avLst/>
            </a:prstGeom>
            <a:solidFill>
              <a:srgbClr val="F3D6EE"/>
            </a:solidFill>
            <a:ln>
              <a:noFill/>
            </a:ln>
          </p:spPr>
        </p:sp>
        <p:sp>
          <p:nvSpPr>
            <p:cNvPr id="17" name="node01.row.item-002.c2.heat-gap"/>
            <p:cNvSpPr/>
            <p:nvPr/>
          </p:nvSpPr>
          <p:spPr>
            <a:xfrm>
              <a:off x="4038600" y="2514600"/>
              <a:ext cx="1028700" cy="457200"/>
            </a:xfrm>
            <a:prstGeom prst="rect">
              <a:avLst/>
            </a:prstGeom>
            <a:solidFill>
              <a:srgbClr val="FFFFFF"/>
            </a:solidFill>
            <a:ln>
              <a:noFill/>
            </a:ln>
          </p:spPr>
        </p:sp>
        <p:sp>
          <p:nvSpPr>
            <p:cNvPr id="18" name="node01.row.item-002.c2.heat"/>
            <p:cNvSpPr/>
            <p:nvPr/>
          </p:nvSpPr>
          <p:spPr>
            <a:xfrm>
              <a:off x="4057650" y="2533650"/>
              <a:ext cx="990600" cy="419100"/>
            </a:xfrm>
            <a:prstGeom prst="rect">
              <a:avLst/>
            </a:prstGeom>
            <a:solidFill>
              <a:srgbClr val="F3D6EE"/>
            </a:solidFill>
            <a:ln>
              <a:noFill/>
            </a:ln>
          </p:spPr>
        </p:sp>
        <p:sp>
          <p:nvSpPr>
            <p:cNvPr id="19" name="node01.row.item-002.c3.heat-gap"/>
            <p:cNvSpPr/>
            <p:nvPr/>
          </p:nvSpPr>
          <p:spPr>
            <a:xfrm>
              <a:off x="5067300" y="2514600"/>
              <a:ext cx="1028700" cy="457200"/>
            </a:xfrm>
            <a:prstGeom prst="rect">
              <a:avLst/>
            </a:prstGeom>
            <a:solidFill>
              <a:srgbClr val="FFFFFF"/>
            </a:solidFill>
            <a:ln>
              <a:noFill/>
            </a:ln>
          </p:spPr>
        </p:sp>
        <p:sp>
          <p:nvSpPr>
            <p:cNvPr id="20" name="node01.row.item-002.c3.heat"/>
            <p:cNvSpPr/>
            <p:nvPr/>
          </p:nvSpPr>
          <p:spPr>
            <a:xfrm>
              <a:off x="5086350" y="2533650"/>
              <a:ext cx="990600" cy="419100"/>
            </a:xfrm>
            <a:prstGeom prst="rect">
              <a:avLst/>
            </a:prstGeom>
            <a:solidFill>
              <a:srgbClr val="FB7FE8"/>
            </a:solidFill>
            <a:ln>
              <a:noFill/>
            </a:ln>
          </p:spPr>
        </p:sp>
        <p:sp>
          <p:nvSpPr>
            <p:cNvPr id="21" name="node01.row.item-002.c4.heat-gap"/>
            <p:cNvSpPr/>
            <p:nvPr/>
          </p:nvSpPr>
          <p:spPr>
            <a:xfrm>
              <a:off x="6096000" y="2514600"/>
              <a:ext cx="1028700" cy="457200"/>
            </a:xfrm>
            <a:prstGeom prst="rect">
              <a:avLst/>
            </a:prstGeom>
            <a:solidFill>
              <a:srgbClr val="FFFFFF"/>
            </a:solidFill>
            <a:ln>
              <a:noFill/>
            </a:ln>
          </p:spPr>
        </p:sp>
        <p:sp>
          <p:nvSpPr>
            <p:cNvPr id="22" name="node01.row.item-002.c4.heat"/>
            <p:cNvSpPr/>
            <p:nvPr/>
          </p:nvSpPr>
          <p:spPr>
            <a:xfrm>
              <a:off x="6115050" y="2533650"/>
              <a:ext cx="990600" cy="419100"/>
            </a:xfrm>
            <a:prstGeom prst="rect">
              <a:avLst/>
            </a:prstGeom>
            <a:solidFill>
              <a:srgbClr val="FB7FE8"/>
            </a:solidFill>
            <a:ln>
              <a:noFill/>
            </a:ln>
          </p:spPr>
        </p:sp>
        <p:sp>
          <p:nvSpPr>
            <p:cNvPr id="23" name="node01.row.item-003.c1.heat-gap"/>
            <p:cNvSpPr/>
            <p:nvPr/>
          </p:nvSpPr>
          <p:spPr>
            <a:xfrm>
              <a:off x="3009900" y="2971800"/>
              <a:ext cx="1028700" cy="457200"/>
            </a:xfrm>
            <a:prstGeom prst="rect">
              <a:avLst/>
            </a:prstGeom>
            <a:solidFill>
              <a:srgbClr val="FFFFFF"/>
            </a:solidFill>
            <a:ln>
              <a:noFill/>
            </a:ln>
          </p:spPr>
        </p:sp>
        <p:sp>
          <p:nvSpPr>
            <p:cNvPr id="24" name="node01.row.item-003.c1.heat"/>
            <p:cNvSpPr/>
            <p:nvPr/>
          </p:nvSpPr>
          <p:spPr>
            <a:xfrm>
              <a:off x="3028950" y="2990850"/>
              <a:ext cx="990600" cy="419100"/>
            </a:xfrm>
            <a:prstGeom prst="rect">
              <a:avLst/>
            </a:prstGeom>
            <a:solidFill>
              <a:srgbClr val="CED7E6"/>
            </a:solidFill>
            <a:ln>
              <a:noFill/>
            </a:ln>
          </p:spPr>
        </p:sp>
        <p:sp>
          <p:nvSpPr>
            <p:cNvPr id="25" name="node01.row.item-003.c2.heat-gap"/>
            <p:cNvSpPr/>
            <p:nvPr/>
          </p:nvSpPr>
          <p:spPr>
            <a:xfrm>
              <a:off x="4038600" y="2971800"/>
              <a:ext cx="1028700" cy="457200"/>
            </a:xfrm>
            <a:prstGeom prst="rect">
              <a:avLst/>
            </a:prstGeom>
            <a:solidFill>
              <a:srgbClr val="FFFFFF"/>
            </a:solidFill>
            <a:ln>
              <a:noFill/>
            </a:ln>
          </p:spPr>
        </p:sp>
        <p:sp>
          <p:nvSpPr>
            <p:cNvPr id="26" name="node01.row.item-003.c2.heat"/>
            <p:cNvSpPr/>
            <p:nvPr/>
          </p:nvSpPr>
          <p:spPr>
            <a:xfrm>
              <a:off x="4057650" y="2990850"/>
              <a:ext cx="990600" cy="419100"/>
            </a:xfrm>
            <a:prstGeom prst="rect">
              <a:avLst/>
            </a:prstGeom>
            <a:solidFill>
              <a:srgbClr val="CED7E6"/>
            </a:solidFill>
            <a:ln>
              <a:noFill/>
            </a:ln>
          </p:spPr>
        </p:sp>
        <p:sp>
          <p:nvSpPr>
            <p:cNvPr id="27" name="node01.row.item-003.c3.heat-gap"/>
            <p:cNvSpPr/>
            <p:nvPr/>
          </p:nvSpPr>
          <p:spPr>
            <a:xfrm>
              <a:off x="5067300" y="2971800"/>
              <a:ext cx="1028700" cy="457200"/>
            </a:xfrm>
            <a:prstGeom prst="rect">
              <a:avLst/>
            </a:prstGeom>
            <a:solidFill>
              <a:srgbClr val="FFFFFF"/>
            </a:solidFill>
            <a:ln>
              <a:noFill/>
            </a:ln>
          </p:spPr>
        </p:sp>
        <p:sp>
          <p:nvSpPr>
            <p:cNvPr id="28" name="node01.row.item-003.c3.heat"/>
            <p:cNvSpPr/>
            <p:nvPr/>
          </p:nvSpPr>
          <p:spPr>
            <a:xfrm>
              <a:off x="5086350" y="2990850"/>
              <a:ext cx="990600" cy="419100"/>
            </a:xfrm>
            <a:prstGeom prst="rect">
              <a:avLst/>
            </a:prstGeom>
            <a:solidFill>
              <a:srgbClr val="F3D6EE"/>
            </a:solidFill>
            <a:ln>
              <a:noFill/>
            </a:ln>
          </p:spPr>
        </p:sp>
        <p:sp>
          <p:nvSpPr>
            <p:cNvPr id="29" name="node01.row.item-003.c4.heat-gap"/>
            <p:cNvSpPr/>
            <p:nvPr/>
          </p:nvSpPr>
          <p:spPr>
            <a:xfrm>
              <a:off x="6096000" y="2971800"/>
              <a:ext cx="1028700" cy="457200"/>
            </a:xfrm>
            <a:prstGeom prst="rect">
              <a:avLst/>
            </a:prstGeom>
            <a:solidFill>
              <a:srgbClr val="FFFFFF"/>
            </a:solidFill>
            <a:ln>
              <a:noFill/>
            </a:ln>
          </p:spPr>
        </p:sp>
        <p:sp>
          <p:nvSpPr>
            <p:cNvPr id="30" name="node01.row.item-003.c4.heat"/>
            <p:cNvSpPr/>
            <p:nvPr/>
          </p:nvSpPr>
          <p:spPr>
            <a:xfrm>
              <a:off x="6115050" y="2990850"/>
              <a:ext cx="990600" cy="419100"/>
            </a:xfrm>
            <a:prstGeom prst="rect">
              <a:avLst/>
            </a:prstGeom>
            <a:solidFill>
              <a:srgbClr val="FB7FE8"/>
            </a:solidFill>
            <a:ln>
              <a:noFill/>
            </a:ln>
          </p:spPr>
        </p:sp>
        <p:sp>
          <p:nvSpPr>
            <p:cNvPr id="31" name="node01.row.item-004.c1.heat-gap"/>
            <p:cNvSpPr/>
            <p:nvPr/>
          </p:nvSpPr>
          <p:spPr>
            <a:xfrm>
              <a:off x="3009900" y="3429000"/>
              <a:ext cx="1028700" cy="457200"/>
            </a:xfrm>
            <a:prstGeom prst="rect">
              <a:avLst/>
            </a:prstGeom>
            <a:solidFill>
              <a:srgbClr val="FFFFFF"/>
            </a:solidFill>
            <a:ln>
              <a:noFill/>
            </a:ln>
          </p:spPr>
        </p:sp>
        <p:sp>
          <p:nvSpPr>
            <p:cNvPr id="32" name="node01.row.item-004.c1.heat"/>
            <p:cNvSpPr/>
            <p:nvPr/>
          </p:nvSpPr>
          <p:spPr>
            <a:xfrm>
              <a:off x="3028950" y="3448050"/>
              <a:ext cx="990600" cy="419100"/>
            </a:xfrm>
            <a:prstGeom prst="rect">
              <a:avLst/>
            </a:prstGeom>
            <a:solidFill>
              <a:srgbClr val="CED7E6"/>
            </a:solidFill>
            <a:ln>
              <a:noFill/>
            </a:ln>
          </p:spPr>
        </p:sp>
        <p:sp>
          <p:nvSpPr>
            <p:cNvPr id="33" name="node01.row.item-004.c2.heat-gap"/>
            <p:cNvSpPr/>
            <p:nvPr/>
          </p:nvSpPr>
          <p:spPr>
            <a:xfrm>
              <a:off x="4038600" y="3429000"/>
              <a:ext cx="1028700" cy="457200"/>
            </a:xfrm>
            <a:prstGeom prst="rect">
              <a:avLst/>
            </a:prstGeom>
            <a:solidFill>
              <a:srgbClr val="FFFFFF"/>
            </a:solidFill>
            <a:ln>
              <a:noFill/>
            </a:ln>
          </p:spPr>
        </p:sp>
        <p:sp>
          <p:nvSpPr>
            <p:cNvPr id="34" name="node01.row.item-004.c2.heat"/>
            <p:cNvSpPr/>
            <p:nvPr/>
          </p:nvSpPr>
          <p:spPr>
            <a:xfrm>
              <a:off x="4057650" y="3448050"/>
              <a:ext cx="990600" cy="419100"/>
            </a:xfrm>
            <a:prstGeom prst="rect">
              <a:avLst/>
            </a:prstGeom>
            <a:solidFill>
              <a:srgbClr val="F3D6EE"/>
            </a:solidFill>
            <a:ln>
              <a:noFill/>
            </a:ln>
          </p:spPr>
        </p:sp>
        <p:sp>
          <p:nvSpPr>
            <p:cNvPr id="35" name="node01.row.item-004.c3.heat-gap"/>
            <p:cNvSpPr/>
            <p:nvPr/>
          </p:nvSpPr>
          <p:spPr>
            <a:xfrm>
              <a:off x="5067300" y="3429000"/>
              <a:ext cx="1028700" cy="457200"/>
            </a:xfrm>
            <a:prstGeom prst="rect">
              <a:avLst/>
            </a:prstGeom>
            <a:solidFill>
              <a:srgbClr val="FFFFFF"/>
            </a:solidFill>
            <a:ln>
              <a:noFill/>
            </a:ln>
          </p:spPr>
        </p:sp>
        <p:sp>
          <p:nvSpPr>
            <p:cNvPr id="36" name="node01.row.item-004.c3.heat"/>
            <p:cNvSpPr/>
            <p:nvPr/>
          </p:nvSpPr>
          <p:spPr>
            <a:xfrm>
              <a:off x="5086350" y="3448050"/>
              <a:ext cx="990600" cy="419100"/>
            </a:xfrm>
            <a:prstGeom prst="rect">
              <a:avLst/>
            </a:prstGeom>
            <a:solidFill>
              <a:srgbClr val="F3D6EE"/>
            </a:solidFill>
            <a:ln>
              <a:noFill/>
            </a:ln>
          </p:spPr>
        </p:sp>
        <p:sp>
          <p:nvSpPr>
            <p:cNvPr id="37" name="node01.row.item-004.c4.heat-gap"/>
            <p:cNvSpPr/>
            <p:nvPr/>
          </p:nvSpPr>
          <p:spPr>
            <a:xfrm>
              <a:off x="6096000" y="3429000"/>
              <a:ext cx="1028700" cy="457200"/>
            </a:xfrm>
            <a:prstGeom prst="rect">
              <a:avLst/>
            </a:prstGeom>
            <a:solidFill>
              <a:srgbClr val="FFFFFF"/>
            </a:solidFill>
            <a:ln>
              <a:noFill/>
            </a:ln>
          </p:spPr>
        </p:sp>
        <p:sp>
          <p:nvSpPr>
            <p:cNvPr id="38" name="node01.row.item-004.c4.heat"/>
            <p:cNvSpPr/>
            <p:nvPr/>
          </p:nvSpPr>
          <p:spPr>
            <a:xfrm>
              <a:off x="6115050" y="3448050"/>
              <a:ext cx="990600" cy="419100"/>
            </a:xfrm>
            <a:prstGeom prst="rect">
              <a:avLst/>
            </a:prstGeom>
            <a:solidFill>
              <a:srgbClr val="F3D6EE"/>
            </a:solidFill>
            <a:ln>
              <a:noFill/>
            </a:ln>
          </p:spPr>
        </p:sp>
        <p:sp>
          <p:nvSpPr>
            <p:cNvPr id="39" name="node01.row.item-005.c1.heat-gap"/>
            <p:cNvSpPr/>
            <p:nvPr/>
          </p:nvSpPr>
          <p:spPr>
            <a:xfrm>
              <a:off x="3009900" y="3886200"/>
              <a:ext cx="1028700" cy="457200"/>
            </a:xfrm>
            <a:prstGeom prst="rect">
              <a:avLst/>
            </a:prstGeom>
            <a:solidFill>
              <a:srgbClr val="FFFFFF"/>
            </a:solidFill>
            <a:ln>
              <a:noFill/>
            </a:ln>
          </p:spPr>
        </p:sp>
        <p:sp>
          <p:nvSpPr>
            <p:cNvPr id="40" name="node01.row.item-005.c1.heat"/>
            <p:cNvSpPr/>
            <p:nvPr/>
          </p:nvSpPr>
          <p:spPr>
            <a:xfrm>
              <a:off x="3028950" y="3905250"/>
              <a:ext cx="990600" cy="419100"/>
            </a:xfrm>
            <a:prstGeom prst="rect">
              <a:avLst/>
            </a:prstGeom>
            <a:solidFill>
              <a:srgbClr val="F3D6EE"/>
            </a:solidFill>
            <a:ln>
              <a:noFill/>
            </a:ln>
          </p:spPr>
        </p:sp>
        <p:sp>
          <p:nvSpPr>
            <p:cNvPr id="41" name="node01.row.item-005.c2.heat-gap"/>
            <p:cNvSpPr/>
            <p:nvPr/>
          </p:nvSpPr>
          <p:spPr>
            <a:xfrm>
              <a:off x="4038600" y="3886200"/>
              <a:ext cx="1028700" cy="457200"/>
            </a:xfrm>
            <a:prstGeom prst="rect">
              <a:avLst/>
            </a:prstGeom>
            <a:solidFill>
              <a:srgbClr val="FFFFFF"/>
            </a:solidFill>
            <a:ln>
              <a:noFill/>
            </a:ln>
          </p:spPr>
        </p:sp>
        <p:sp>
          <p:nvSpPr>
            <p:cNvPr id="42" name="node01.row.item-005.c2.heat"/>
            <p:cNvSpPr/>
            <p:nvPr/>
          </p:nvSpPr>
          <p:spPr>
            <a:xfrm>
              <a:off x="4057650" y="3905250"/>
              <a:ext cx="990600" cy="419100"/>
            </a:xfrm>
            <a:prstGeom prst="rect">
              <a:avLst/>
            </a:prstGeom>
            <a:solidFill>
              <a:srgbClr val="F3D6EE"/>
            </a:solidFill>
            <a:ln>
              <a:noFill/>
            </a:ln>
          </p:spPr>
        </p:sp>
        <p:sp>
          <p:nvSpPr>
            <p:cNvPr id="43" name="node01.row.item-005.c3.heat-gap"/>
            <p:cNvSpPr/>
            <p:nvPr/>
          </p:nvSpPr>
          <p:spPr>
            <a:xfrm>
              <a:off x="5067300" y="3886200"/>
              <a:ext cx="1028700" cy="457200"/>
            </a:xfrm>
            <a:prstGeom prst="rect">
              <a:avLst/>
            </a:prstGeom>
            <a:solidFill>
              <a:srgbClr val="FFFFFF"/>
            </a:solidFill>
            <a:ln>
              <a:noFill/>
            </a:ln>
          </p:spPr>
        </p:sp>
        <p:sp>
          <p:nvSpPr>
            <p:cNvPr id="44" name="node01.row.item-005.c3.heat"/>
            <p:cNvSpPr/>
            <p:nvPr/>
          </p:nvSpPr>
          <p:spPr>
            <a:xfrm>
              <a:off x="5086350" y="3905250"/>
              <a:ext cx="990600" cy="419100"/>
            </a:xfrm>
            <a:prstGeom prst="rect">
              <a:avLst/>
            </a:prstGeom>
            <a:solidFill>
              <a:srgbClr val="FB7FE8"/>
            </a:solidFill>
            <a:ln>
              <a:noFill/>
            </a:ln>
          </p:spPr>
        </p:sp>
        <p:sp>
          <p:nvSpPr>
            <p:cNvPr id="45" name="node01.row.item-005.c4.heat-gap"/>
            <p:cNvSpPr/>
            <p:nvPr/>
          </p:nvSpPr>
          <p:spPr>
            <a:xfrm>
              <a:off x="6096000" y="3886200"/>
              <a:ext cx="1028700" cy="457200"/>
            </a:xfrm>
            <a:prstGeom prst="rect">
              <a:avLst/>
            </a:prstGeom>
            <a:solidFill>
              <a:srgbClr val="FFFFFF"/>
            </a:solidFill>
            <a:ln>
              <a:noFill/>
            </a:ln>
          </p:spPr>
        </p:sp>
        <p:sp>
          <p:nvSpPr>
            <p:cNvPr id="46" name="node01.row.item-005.c4.heat"/>
            <p:cNvSpPr/>
            <p:nvPr/>
          </p:nvSpPr>
          <p:spPr>
            <a:xfrm>
              <a:off x="6115050" y="3905250"/>
              <a:ext cx="990600" cy="419100"/>
            </a:xfrm>
            <a:prstGeom prst="rect">
              <a:avLst/>
            </a:prstGeom>
            <a:solidFill>
              <a:srgbClr val="F900D3"/>
            </a:solidFill>
            <a:ln>
              <a:noFill/>
            </a:ln>
          </p:spPr>
        </p:sp>
        <p:sp>
          <p:nvSpPr>
            <p:cNvPr id="47" name="node01.row.item-006.c1.heat-gap"/>
            <p:cNvSpPr/>
            <p:nvPr/>
          </p:nvSpPr>
          <p:spPr>
            <a:xfrm>
              <a:off x="3009900" y="4343400"/>
              <a:ext cx="1028700" cy="457200"/>
            </a:xfrm>
            <a:prstGeom prst="rect">
              <a:avLst/>
            </a:prstGeom>
            <a:solidFill>
              <a:srgbClr val="FFFFFF"/>
            </a:solidFill>
            <a:ln>
              <a:noFill/>
            </a:ln>
          </p:spPr>
        </p:sp>
        <p:sp>
          <p:nvSpPr>
            <p:cNvPr id="48" name="node01.row.item-006.c1.heat"/>
            <p:cNvSpPr/>
            <p:nvPr/>
          </p:nvSpPr>
          <p:spPr>
            <a:xfrm>
              <a:off x="3028950" y="4362450"/>
              <a:ext cx="990600" cy="419100"/>
            </a:xfrm>
            <a:prstGeom prst="rect">
              <a:avLst/>
            </a:prstGeom>
            <a:solidFill>
              <a:srgbClr val="CED7E6"/>
            </a:solidFill>
            <a:ln>
              <a:noFill/>
            </a:ln>
          </p:spPr>
        </p:sp>
        <p:sp>
          <p:nvSpPr>
            <p:cNvPr id="49" name="node01.row.item-006.c2.heat-gap"/>
            <p:cNvSpPr/>
            <p:nvPr/>
          </p:nvSpPr>
          <p:spPr>
            <a:xfrm>
              <a:off x="4038600" y="4343400"/>
              <a:ext cx="1028700" cy="457200"/>
            </a:xfrm>
            <a:prstGeom prst="rect">
              <a:avLst/>
            </a:prstGeom>
            <a:solidFill>
              <a:srgbClr val="FFFFFF"/>
            </a:solidFill>
            <a:ln>
              <a:noFill/>
            </a:ln>
          </p:spPr>
        </p:sp>
        <p:sp>
          <p:nvSpPr>
            <p:cNvPr id="50" name="node01.row.item-006.c2.heat"/>
            <p:cNvSpPr/>
            <p:nvPr/>
          </p:nvSpPr>
          <p:spPr>
            <a:xfrm>
              <a:off x="4057650" y="4362450"/>
              <a:ext cx="990600" cy="419100"/>
            </a:xfrm>
            <a:prstGeom prst="rect">
              <a:avLst/>
            </a:prstGeom>
            <a:solidFill>
              <a:srgbClr val="F3D6EE"/>
            </a:solidFill>
            <a:ln>
              <a:noFill/>
            </a:ln>
          </p:spPr>
        </p:sp>
        <p:sp>
          <p:nvSpPr>
            <p:cNvPr id="51" name="node01.row.item-006.c3.heat-gap"/>
            <p:cNvSpPr/>
            <p:nvPr/>
          </p:nvSpPr>
          <p:spPr>
            <a:xfrm>
              <a:off x="5067300" y="4343400"/>
              <a:ext cx="1028700" cy="457200"/>
            </a:xfrm>
            <a:prstGeom prst="rect">
              <a:avLst/>
            </a:prstGeom>
            <a:solidFill>
              <a:srgbClr val="FFFFFF"/>
            </a:solidFill>
            <a:ln>
              <a:noFill/>
            </a:ln>
          </p:spPr>
        </p:sp>
        <p:sp>
          <p:nvSpPr>
            <p:cNvPr id="52" name="node01.row.item-006.c3.heat"/>
            <p:cNvSpPr/>
            <p:nvPr/>
          </p:nvSpPr>
          <p:spPr>
            <a:xfrm>
              <a:off x="5086350" y="4362450"/>
              <a:ext cx="990600" cy="419100"/>
            </a:xfrm>
            <a:prstGeom prst="rect">
              <a:avLst/>
            </a:prstGeom>
            <a:solidFill>
              <a:srgbClr val="FB7FE8"/>
            </a:solidFill>
            <a:ln>
              <a:noFill/>
            </a:ln>
          </p:spPr>
        </p:sp>
        <p:sp>
          <p:nvSpPr>
            <p:cNvPr id="53" name="node01.row.item-006.c4.heat-gap"/>
            <p:cNvSpPr/>
            <p:nvPr/>
          </p:nvSpPr>
          <p:spPr>
            <a:xfrm>
              <a:off x="6096000" y="4343400"/>
              <a:ext cx="1028700" cy="457200"/>
            </a:xfrm>
            <a:prstGeom prst="rect">
              <a:avLst/>
            </a:prstGeom>
            <a:solidFill>
              <a:srgbClr val="FFFFFF"/>
            </a:solidFill>
            <a:ln>
              <a:noFill/>
            </a:ln>
          </p:spPr>
        </p:sp>
        <p:sp>
          <p:nvSpPr>
            <p:cNvPr id="54" name="node01.row.item-006.c4.heat"/>
            <p:cNvSpPr/>
            <p:nvPr/>
          </p:nvSpPr>
          <p:spPr>
            <a:xfrm>
              <a:off x="6115050" y="4362450"/>
              <a:ext cx="990600" cy="419100"/>
            </a:xfrm>
            <a:prstGeom prst="rect">
              <a:avLst/>
            </a:prstGeom>
            <a:solidFill>
              <a:srgbClr val="FB7FE8"/>
            </a:solidFill>
            <a:ln>
              <a:noFill/>
            </a:ln>
          </p:spPr>
        </p:sp>
        <p:sp>
          <p:nvSpPr>
            <p:cNvPr id="55" name="node01.row.item-007.c1.heat-gap"/>
            <p:cNvSpPr/>
            <p:nvPr/>
          </p:nvSpPr>
          <p:spPr>
            <a:xfrm>
              <a:off x="3009900" y="4800600"/>
              <a:ext cx="1028700" cy="457200"/>
            </a:xfrm>
            <a:prstGeom prst="rect">
              <a:avLst/>
            </a:prstGeom>
            <a:solidFill>
              <a:srgbClr val="FFFFFF"/>
            </a:solidFill>
            <a:ln>
              <a:noFill/>
            </a:ln>
          </p:spPr>
        </p:sp>
        <p:sp>
          <p:nvSpPr>
            <p:cNvPr id="56" name="node01.row.item-007.c1.heat"/>
            <p:cNvSpPr/>
            <p:nvPr/>
          </p:nvSpPr>
          <p:spPr>
            <a:xfrm>
              <a:off x="3028950" y="4819650"/>
              <a:ext cx="990600" cy="419100"/>
            </a:xfrm>
            <a:prstGeom prst="rect">
              <a:avLst/>
            </a:prstGeom>
            <a:solidFill>
              <a:srgbClr val="F3D6EE"/>
            </a:solidFill>
            <a:ln>
              <a:noFill/>
            </a:ln>
          </p:spPr>
        </p:sp>
        <p:sp>
          <p:nvSpPr>
            <p:cNvPr id="57" name="node01.row.item-007.c2.heat-gap"/>
            <p:cNvSpPr/>
            <p:nvPr/>
          </p:nvSpPr>
          <p:spPr>
            <a:xfrm>
              <a:off x="4038600" y="4800600"/>
              <a:ext cx="1028700" cy="457200"/>
            </a:xfrm>
            <a:prstGeom prst="rect">
              <a:avLst/>
            </a:prstGeom>
            <a:solidFill>
              <a:srgbClr val="FFFFFF"/>
            </a:solidFill>
            <a:ln>
              <a:noFill/>
            </a:ln>
          </p:spPr>
        </p:sp>
        <p:sp>
          <p:nvSpPr>
            <p:cNvPr id="58" name="node01.row.item-007.c2.heat"/>
            <p:cNvSpPr/>
            <p:nvPr/>
          </p:nvSpPr>
          <p:spPr>
            <a:xfrm>
              <a:off x="4057650" y="4819650"/>
              <a:ext cx="990600" cy="419100"/>
            </a:xfrm>
            <a:prstGeom prst="rect">
              <a:avLst/>
            </a:prstGeom>
            <a:solidFill>
              <a:srgbClr val="F3D6EE"/>
            </a:solidFill>
            <a:ln>
              <a:noFill/>
            </a:ln>
          </p:spPr>
        </p:sp>
        <p:sp>
          <p:nvSpPr>
            <p:cNvPr id="59" name="node01.row.item-007.c3.heat-gap"/>
            <p:cNvSpPr/>
            <p:nvPr/>
          </p:nvSpPr>
          <p:spPr>
            <a:xfrm>
              <a:off x="5067300" y="4800600"/>
              <a:ext cx="1028700" cy="457200"/>
            </a:xfrm>
            <a:prstGeom prst="rect">
              <a:avLst/>
            </a:prstGeom>
            <a:solidFill>
              <a:srgbClr val="FFFFFF"/>
            </a:solidFill>
            <a:ln>
              <a:noFill/>
            </a:ln>
          </p:spPr>
        </p:sp>
        <p:sp>
          <p:nvSpPr>
            <p:cNvPr id="60" name="node01.row.item-007.c3.heat"/>
            <p:cNvSpPr/>
            <p:nvPr/>
          </p:nvSpPr>
          <p:spPr>
            <a:xfrm>
              <a:off x="5086350" y="4819650"/>
              <a:ext cx="990600" cy="419100"/>
            </a:xfrm>
            <a:prstGeom prst="rect">
              <a:avLst/>
            </a:prstGeom>
            <a:solidFill>
              <a:srgbClr val="FB7FE8"/>
            </a:solidFill>
            <a:ln>
              <a:noFill/>
            </a:ln>
          </p:spPr>
        </p:sp>
        <p:sp>
          <p:nvSpPr>
            <p:cNvPr id="61" name="node01.row.item-007.c4.heat-gap"/>
            <p:cNvSpPr/>
            <p:nvPr/>
          </p:nvSpPr>
          <p:spPr>
            <a:xfrm>
              <a:off x="6096000" y="4800600"/>
              <a:ext cx="1028700" cy="457200"/>
            </a:xfrm>
            <a:prstGeom prst="rect">
              <a:avLst/>
            </a:prstGeom>
            <a:solidFill>
              <a:srgbClr val="FFFFFF"/>
            </a:solidFill>
            <a:ln>
              <a:noFill/>
            </a:ln>
          </p:spPr>
        </p:sp>
        <p:sp>
          <p:nvSpPr>
            <p:cNvPr id="62" name="node01.row.item-007.c4.heat"/>
            <p:cNvSpPr/>
            <p:nvPr/>
          </p:nvSpPr>
          <p:spPr>
            <a:xfrm>
              <a:off x="6115050" y="4819650"/>
              <a:ext cx="990600" cy="419100"/>
            </a:xfrm>
            <a:prstGeom prst="rect">
              <a:avLst/>
            </a:prstGeom>
            <a:solidFill>
              <a:srgbClr val="FB7FE8"/>
            </a:solidFill>
            <a:ln>
              <a:noFill/>
            </a:ln>
          </p:spPr>
        </p:sp>
        <p:graphicFrame>
          <p:nvGraphicFramePr>
            <p:cNvPr id="63"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6400800" cy="3657600"/>
          </p:xfrm>
          <a:graphic>
            <a:graphicData uri="http://schemas.openxmlformats.org/drawingml/2006/table">
              <a:tbl>
                <a:tblPr/>
                <a:tblGrid>
                  <a:gridCol w="2286000"/>
                  <a:gridCol w="1028700"/>
                  <a:gridCol w="1028700"/>
                  <a:gridCol w="1028700"/>
                  <a:gridCol w="1028700"/>
                </a:tblGrid>
                <a:tr h="4572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CAPABILITY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MAIN CAMPUS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LAKESIDE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RIDGEVIEW</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HARBOR</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access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Scheduling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Revenue cycle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Documentation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Care coordination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Supply chain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Data and analytics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93" name="node02"/>
          <p:cNvGrpSpPr/>
          <p:nvPr/>
        </p:nvGrpSpPr>
        <p:grpSpPr>
          <a:xfrm>
            <a:off x="723900" y="5486400"/>
            <a:ext cx="4803775" cy="190500"/>
            <a:chOff x="723900" y="5486400"/>
            <a:chExt cx="4803775" cy="190500"/>
          </a:xfrm>
        </p:grpSpPr>
        <p:sp>
          <p:nvSpPr>
            <p:cNvPr id="64" name="node02.items.slot-001.swatch"/>
            <p:cNvSpPr/>
            <p:nvPr/>
          </p:nvSpPr>
          <p:spPr>
            <a:xfrm>
              <a:off x="723900" y="5518150"/>
              <a:ext cx="228600" cy="127000"/>
            </a:xfrm>
            <a:prstGeom prst="rect">
              <a:avLst/>
            </a:prstGeom>
            <a:solidFill>
              <a:srgbClr val="E8EEF8"/>
            </a:solidFill>
            <a:ln>
              <a:noFill/>
            </a:ln>
          </p:spPr>
        </p:sp>
        <p:sp>
          <p:nvSpPr>
            <p:cNvPr id="65" name="node02.items.slot-001.text"/>
            <p:cNvSpPr/>
            <p:nvPr/>
          </p:nvSpPr>
          <p:spPr>
            <a:xfrm>
              <a:off x="1016000" y="5486400"/>
              <a:ext cx="4889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No gap</a:t>
              </a:r>
              <a:endParaRPr lang="en-US" sz="1100" spc="0" kern="0" b="0" i="0" dirty="0">
                <a:solidFill>
                  <a:srgbClr val="070154"/>
                </a:solidFill>
                <a:latin typeface="IBM Plex Sans"/>
                <a:ea typeface="IBM Plex Sans"/>
                <a:cs typeface="IBM Plex Sans"/>
              </a:endParaRPr>
            </a:p>
          </p:txBody>
        </p:sp>
        <p:sp>
          <p:nvSpPr>
            <p:cNvPr id="66" name="node02.items.slot-002.swatch"/>
            <p:cNvSpPr/>
            <p:nvPr/>
          </p:nvSpPr>
          <p:spPr>
            <a:xfrm>
              <a:off x="1733550" y="5518150"/>
              <a:ext cx="228600" cy="127000"/>
            </a:xfrm>
            <a:prstGeom prst="rect">
              <a:avLst/>
            </a:prstGeom>
            <a:solidFill>
              <a:srgbClr val="CED7E6"/>
            </a:solidFill>
            <a:ln>
              <a:noFill/>
            </a:ln>
          </p:spPr>
        </p:sp>
        <p:sp>
          <p:nvSpPr>
            <p:cNvPr id="67" name="node02.items.slot-002.text"/>
            <p:cNvSpPr/>
            <p:nvPr/>
          </p:nvSpPr>
          <p:spPr>
            <a:xfrm>
              <a:off x="2025650" y="5486400"/>
              <a:ext cx="4048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Small</a:t>
              </a:r>
              <a:endParaRPr lang="en-US" sz="1100" spc="0" kern="0" b="0" i="0" dirty="0">
                <a:solidFill>
                  <a:srgbClr val="070154"/>
                </a:solidFill>
                <a:latin typeface="IBM Plex Sans"/>
                <a:ea typeface="IBM Plex Sans"/>
                <a:cs typeface="IBM Plex Sans"/>
              </a:endParaRPr>
            </a:p>
          </p:txBody>
        </p:sp>
        <p:sp>
          <p:nvSpPr>
            <p:cNvPr id="68" name="node02.items.slot-003.swatch"/>
            <p:cNvSpPr/>
            <p:nvPr/>
          </p:nvSpPr>
          <p:spPr>
            <a:xfrm>
              <a:off x="2659063" y="5518150"/>
              <a:ext cx="228600" cy="127000"/>
            </a:xfrm>
            <a:prstGeom prst="rect">
              <a:avLst/>
            </a:prstGeom>
            <a:solidFill>
              <a:srgbClr val="F3D6EE"/>
            </a:solidFill>
            <a:ln>
              <a:noFill/>
            </a:ln>
          </p:spPr>
        </p:sp>
        <p:sp>
          <p:nvSpPr>
            <p:cNvPr id="69" name="node02.items.slot-003.text"/>
            <p:cNvSpPr/>
            <p:nvPr/>
          </p:nvSpPr>
          <p:spPr>
            <a:xfrm>
              <a:off x="2951163" y="5486400"/>
              <a:ext cx="6492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Moderate</a:t>
              </a:r>
              <a:endParaRPr lang="en-US" sz="1100" spc="0" kern="0" b="0" i="0" dirty="0">
                <a:solidFill>
                  <a:srgbClr val="070154"/>
                </a:solidFill>
                <a:latin typeface="IBM Plex Sans"/>
                <a:ea typeface="IBM Plex Sans"/>
                <a:cs typeface="IBM Plex Sans"/>
              </a:endParaRPr>
            </a:p>
          </p:txBody>
        </p:sp>
        <p:sp>
          <p:nvSpPr>
            <p:cNvPr id="70" name="node02.items.slot-004.swatch"/>
            <p:cNvSpPr/>
            <p:nvPr/>
          </p:nvSpPr>
          <p:spPr>
            <a:xfrm>
              <a:off x="3829050" y="5518150"/>
              <a:ext cx="228600" cy="127000"/>
            </a:xfrm>
            <a:prstGeom prst="rect">
              <a:avLst/>
            </a:prstGeom>
            <a:solidFill>
              <a:srgbClr val="FB7FE8"/>
            </a:solidFill>
            <a:ln>
              <a:noFill/>
            </a:ln>
          </p:spPr>
        </p:sp>
        <p:sp>
          <p:nvSpPr>
            <p:cNvPr id="71" name="node02.items.slot-004.text"/>
            <p:cNvSpPr/>
            <p:nvPr/>
          </p:nvSpPr>
          <p:spPr>
            <a:xfrm>
              <a:off x="4121150" y="5486400"/>
              <a:ext cx="3952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Large</a:t>
              </a:r>
              <a:endParaRPr lang="en-US" sz="1100" spc="0" kern="0" b="0" i="0" dirty="0">
                <a:solidFill>
                  <a:srgbClr val="070154"/>
                </a:solidFill>
                <a:latin typeface="IBM Plex Sans"/>
                <a:ea typeface="IBM Plex Sans"/>
                <a:cs typeface="IBM Plex Sans"/>
              </a:endParaRPr>
            </a:p>
          </p:txBody>
        </p:sp>
        <p:sp>
          <p:nvSpPr>
            <p:cNvPr id="72" name="node02.items.slot-005.swatch"/>
            <p:cNvSpPr/>
            <p:nvPr/>
          </p:nvSpPr>
          <p:spPr>
            <a:xfrm>
              <a:off x="4745038" y="5518150"/>
              <a:ext cx="228600" cy="127000"/>
            </a:xfrm>
            <a:prstGeom prst="rect">
              <a:avLst/>
            </a:prstGeom>
            <a:solidFill>
              <a:srgbClr val="F900D3"/>
            </a:solidFill>
            <a:ln>
              <a:noFill/>
            </a:ln>
          </p:spPr>
        </p:sp>
        <p:sp>
          <p:nvSpPr>
            <p:cNvPr id="73" name="node02.items.slot-005.text"/>
            <p:cNvSpPr/>
            <p:nvPr/>
          </p:nvSpPr>
          <p:spPr>
            <a:xfrm>
              <a:off x="5037138" y="5486400"/>
              <a:ext cx="4905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Critical</a:t>
              </a:r>
              <a:endParaRPr lang="en-US" sz="1100" spc="0" kern="0" b="0" i="0" dirty="0">
                <a:solidFill>
                  <a:srgbClr val="070154"/>
                </a:solidFill>
                <a:latin typeface="IBM Plex Sans"/>
                <a:ea typeface="IBM Plex Sans"/>
                <a:cs typeface="IBM Plex Sans"/>
              </a:endParaRPr>
            </a:p>
          </p:txBody>
        </p:sp>
      </p:grpSp>
      <p:grpSp>
        <p:nvGrpSpPr>
          <p:cNvPr id="94" name="node03"/>
          <p:cNvGrpSpPr/>
          <p:nvPr/>
        </p:nvGrpSpPr>
        <p:grpSpPr>
          <a:xfrm>
            <a:off x="6096000" y="3886200"/>
            <a:ext cx="228600" cy="228600"/>
            <a:chOff x="6096000" y="3886200"/>
            <a:chExt cx="228600" cy="228600"/>
          </a:xfrm>
        </p:grpSpPr>
        <p:sp>
          <p:nvSpPr>
            <p:cNvPr id="74" name="node03.surface"/>
            <p:cNvSpPr/>
            <p:nvPr/>
          </p:nvSpPr>
          <p:spPr>
            <a:xfrm>
              <a:off x="6096000" y="3886200"/>
              <a:ext cx="228600" cy="228600"/>
            </a:xfrm>
            <a:prstGeom prst="rect">
              <a:avLst/>
            </a:prstGeom>
            <a:solidFill>
              <a:srgbClr val="070154"/>
            </a:solidFill>
            <a:ln>
              <a:noFill/>
            </a:ln>
          </p:spPr>
        </p:sp>
        <p:sp>
          <p:nvSpPr>
            <p:cNvPr id="75" name="node03.text"/>
            <p:cNvSpPr/>
            <p:nvPr/>
          </p:nvSpPr>
          <p:spPr>
            <a:xfrm>
              <a:off x="6134100" y="3930650"/>
              <a:ext cx="1524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1</a:t>
              </a:r>
              <a:endParaRPr lang="en-US" sz="800" spc="48" kern="0" b="0" i="0" dirty="0">
                <a:solidFill>
                  <a:srgbClr val="FFFFFF"/>
                </a:solidFill>
                <a:latin typeface="IBM Plex Mono Medium"/>
                <a:ea typeface="IBM Plex Mono Medium"/>
                <a:cs typeface="IBM Plex Mono Medium"/>
              </a:endParaRPr>
            </a:p>
          </p:txBody>
        </p:sp>
      </p:grpSp>
      <p:grpSp>
        <p:nvGrpSpPr>
          <p:cNvPr id="95" name="node04"/>
          <p:cNvGrpSpPr/>
          <p:nvPr/>
        </p:nvGrpSpPr>
        <p:grpSpPr>
          <a:xfrm>
            <a:off x="6096000" y="2514600"/>
            <a:ext cx="228600" cy="228600"/>
            <a:chOff x="6096000" y="2514600"/>
            <a:chExt cx="228600" cy="228600"/>
          </a:xfrm>
        </p:grpSpPr>
        <p:sp>
          <p:nvSpPr>
            <p:cNvPr id="76" name="node04.surface"/>
            <p:cNvSpPr/>
            <p:nvPr/>
          </p:nvSpPr>
          <p:spPr>
            <a:xfrm>
              <a:off x="6096000" y="2514600"/>
              <a:ext cx="228600" cy="228600"/>
            </a:xfrm>
            <a:prstGeom prst="rect">
              <a:avLst/>
            </a:prstGeom>
            <a:solidFill>
              <a:srgbClr val="070154"/>
            </a:solidFill>
            <a:ln>
              <a:noFill/>
            </a:ln>
          </p:spPr>
        </p:sp>
        <p:sp>
          <p:nvSpPr>
            <p:cNvPr id="77" name="node04.text"/>
            <p:cNvSpPr/>
            <p:nvPr/>
          </p:nvSpPr>
          <p:spPr>
            <a:xfrm>
              <a:off x="6134100" y="2559050"/>
              <a:ext cx="1524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2</a:t>
              </a:r>
              <a:endParaRPr lang="en-US" sz="800" spc="48" kern="0" b="0" i="0" dirty="0">
                <a:solidFill>
                  <a:srgbClr val="FFFFFF"/>
                </a:solidFill>
                <a:latin typeface="IBM Plex Mono Medium"/>
                <a:ea typeface="IBM Plex Mono Medium"/>
                <a:cs typeface="IBM Plex Mono Medium"/>
              </a:endParaRPr>
            </a:p>
          </p:txBody>
        </p:sp>
      </p:grpSp>
      <p:grpSp>
        <p:nvGrpSpPr>
          <p:cNvPr id="96" name="node05"/>
          <p:cNvGrpSpPr/>
          <p:nvPr/>
        </p:nvGrpSpPr>
        <p:grpSpPr>
          <a:xfrm>
            <a:off x="5067300" y="4800600"/>
            <a:ext cx="228600" cy="228600"/>
            <a:chOff x="5067300" y="4800600"/>
            <a:chExt cx="228600" cy="228600"/>
          </a:xfrm>
        </p:grpSpPr>
        <p:sp>
          <p:nvSpPr>
            <p:cNvPr id="78" name="node05.surface"/>
            <p:cNvSpPr/>
            <p:nvPr/>
          </p:nvSpPr>
          <p:spPr>
            <a:xfrm>
              <a:off x="5067300" y="4800600"/>
              <a:ext cx="228600" cy="228600"/>
            </a:xfrm>
            <a:prstGeom prst="rect">
              <a:avLst/>
            </a:prstGeom>
            <a:solidFill>
              <a:srgbClr val="070154"/>
            </a:solidFill>
            <a:ln>
              <a:noFill/>
            </a:ln>
          </p:spPr>
        </p:sp>
        <p:sp>
          <p:nvSpPr>
            <p:cNvPr id="79" name="node05.text"/>
            <p:cNvSpPr/>
            <p:nvPr/>
          </p:nvSpPr>
          <p:spPr>
            <a:xfrm>
              <a:off x="5105400" y="4845050"/>
              <a:ext cx="1524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3</a:t>
              </a:r>
              <a:endParaRPr lang="en-US" sz="800" spc="48" kern="0" b="0" i="0" dirty="0">
                <a:solidFill>
                  <a:srgbClr val="FFFFFF"/>
                </a:solidFill>
                <a:latin typeface="IBM Plex Mono Medium"/>
                <a:ea typeface="IBM Plex Mono Medium"/>
                <a:cs typeface="IBM Plex Mono Medium"/>
              </a:endParaRPr>
            </a:p>
          </p:txBody>
        </p:sp>
      </p:grpSp>
      <p:grpSp>
        <p:nvGrpSpPr>
          <p:cNvPr id="97" name="node06"/>
          <p:cNvGrpSpPr/>
          <p:nvPr/>
        </p:nvGrpSpPr>
        <p:grpSpPr>
          <a:xfrm>
            <a:off x="7353300" y="1600200"/>
            <a:ext cx="4114800" cy="2247900"/>
            <a:chOff x="7353300" y="1600200"/>
            <a:chExt cx="4114800" cy="2247900"/>
          </a:xfrm>
        </p:grpSpPr>
        <p:sp>
          <p:nvSpPr>
            <p:cNvPr id="80" name="node06.source-001.number"/>
            <p:cNvSpPr/>
            <p:nvPr/>
          </p:nvSpPr>
          <p:spPr>
            <a:xfrm>
              <a:off x="7353300" y="16002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81" name="node06.source-001.title"/>
            <p:cNvSpPr/>
            <p:nvPr/>
          </p:nvSpPr>
          <p:spPr>
            <a:xfrm>
              <a:off x="7886700" y="1600200"/>
              <a:ext cx="3581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Care coordination at Harbor</a:t>
              </a:r>
              <a:endParaRPr lang="en-US" sz="1200" spc="0" kern="0" b="0" i="0" dirty="0">
                <a:solidFill>
                  <a:srgbClr val="070154"/>
                </a:solidFill>
                <a:latin typeface="IBM Plex Sans SemiBold"/>
                <a:ea typeface="IBM Plex Sans SemiBold"/>
                <a:cs typeface="IBM Plex Sans SemiBold"/>
              </a:endParaRPr>
            </a:p>
          </p:txBody>
        </p:sp>
        <p:sp>
          <p:nvSpPr>
            <p:cNvPr id="82" name="node06.source-001.text"/>
            <p:cNvSpPr/>
            <p:nvPr/>
          </p:nvSpPr>
          <p:spPr>
            <a:xfrm>
              <a:off x="7886700" y="1816100"/>
              <a:ext cx="3581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No shared care plan or referral tracking; clinics hand off by phone and fax.</a:t>
              </a:r>
              <a:endParaRPr lang="en-US" sz="1200" spc="0" kern="0" b="0" i="0" dirty="0">
                <a:solidFill>
                  <a:srgbClr val="50658E"/>
                </a:solidFill>
                <a:latin typeface="IBM Plex Sans"/>
                <a:ea typeface="IBM Plex Sans"/>
                <a:cs typeface="IBM Plex Sans"/>
              </a:endParaRPr>
            </a:p>
          </p:txBody>
        </p:sp>
        <p:sp>
          <p:nvSpPr>
            <p:cNvPr id="83" name="node06.source-002.number"/>
            <p:cNvSpPr/>
            <p:nvPr/>
          </p:nvSpPr>
          <p:spPr>
            <a:xfrm>
              <a:off x="7353300" y="24003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84" name="node06.source-002.title"/>
            <p:cNvSpPr/>
            <p:nvPr/>
          </p:nvSpPr>
          <p:spPr>
            <a:xfrm>
              <a:off x="7886700" y="2400300"/>
              <a:ext cx="3581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Scheduling at Harbor</a:t>
              </a:r>
              <a:endParaRPr lang="en-US" sz="1200" spc="0" kern="0" b="0" i="0" dirty="0">
                <a:solidFill>
                  <a:srgbClr val="070154"/>
                </a:solidFill>
                <a:latin typeface="IBM Plex Sans SemiBold"/>
                <a:ea typeface="IBM Plex Sans SemiBold"/>
                <a:cs typeface="IBM Plex Sans SemiBold"/>
              </a:endParaRPr>
            </a:p>
          </p:txBody>
        </p:sp>
        <p:sp>
          <p:nvSpPr>
            <p:cNvPr id="85" name="node06.source-002.text"/>
            <p:cNvSpPr/>
            <p:nvPr/>
          </p:nvSpPr>
          <p:spPr>
            <a:xfrm>
              <a:off x="7886700" y="2616200"/>
              <a:ext cx="3581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Templates differ by clinic, so open slots never reach the central call center.</a:t>
              </a:r>
              <a:endParaRPr lang="en-US" sz="1200" spc="0" kern="0" b="0" i="0" dirty="0">
                <a:solidFill>
                  <a:srgbClr val="50658E"/>
                </a:solidFill>
                <a:latin typeface="IBM Plex Sans"/>
                <a:ea typeface="IBM Plex Sans"/>
                <a:cs typeface="IBM Plex Sans"/>
              </a:endParaRPr>
            </a:p>
          </p:txBody>
        </p:sp>
        <p:sp>
          <p:nvSpPr>
            <p:cNvPr id="86" name="node06.source-003.number"/>
            <p:cNvSpPr/>
            <p:nvPr/>
          </p:nvSpPr>
          <p:spPr>
            <a:xfrm>
              <a:off x="7353300" y="3200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87" name="node06.source-003.title"/>
            <p:cNvSpPr/>
            <p:nvPr/>
          </p:nvSpPr>
          <p:spPr>
            <a:xfrm>
              <a:off x="7886700" y="3200400"/>
              <a:ext cx="3581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Data and analytics at Ridgeview</a:t>
              </a:r>
              <a:endParaRPr lang="en-US" sz="1200" spc="0" kern="0" b="0" i="0" dirty="0">
                <a:solidFill>
                  <a:srgbClr val="070154"/>
                </a:solidFill>
                <a:latin typeface="IBM Plex Sans SemiBold"/>
                <a:ea typeface="IBM Plex Sans SemiBold"/>
                <a:cs typeface="IBM Plex Sans SemiBold"/>
              </a:endParaRPr>
            </a:p>
          </p:txBody>
        </p:sp>
        <p:sp>
          <p:nvSpPr>
            <p:cNvPr id="88" name="node06.source-003.text"/>
            <p:cNvSpPr/>
            <p:nvPr/>
          </p:nvSpPr>
          <p:spPr>
            <a:xfrm>
              <a:off x="7886700" y="3416300"/>
              <a:ext cx="3581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Reports are built by hand each month and cannot be compared with other sites.</a:t>
              </a:r>
              <a:endParaRPr lang="en-US" sz="1200" spc="0" kern="0" b="0" i="0" dirty="0">
                <a:solidFill>
                  <a:srgbClr val="50658E"/>
                </a:solidFill>
                <a:latin typeface="IBM Plex Sans"/>
                <a:ea typeface="IBM Plex Sans"/>
                <a:cs typeface="IBM Plex Sans"/>
              </a:endParaRPr>
            </a:p>
          </p:txBody>
        </p:sp>
      </p:grpSp>
      <p:grpSp>
        <p:nvGrpSpPr>
          <p:cNvPr id="98" name="node07"/>
          <p:cNvGrpSpPr/>
          <p:nvPr/>
        </p:nvGrpSpPr>
        <p:grpSpPr>
          <a:xfrm>
            <a:off x="7353300" y="4114800"/>
            <a:ext cx="4114800" cy="1600200"/>
            <a:chOff x="7353300" y="4114800"/>
            <a:chExt cx="4114800" cy="1600200"/>
          </a:xfrm>
        </p:grpSpPr>
        <p:sp>
          <p:nvSpPr>
            <p:cNvPr id="89" name="node07.container"/>
            <p:cNvSpPr/>
            <p:nvPr/>
          </p:nvSpPr>
          <p:spPr>
            <a:xfrm>
              <a:off x="7353300" y="4114800"/>
              <a:ext cx="4114800" cy="1600200"/>
            </a:xfrm>
            <a:prstGeom prst="rect">
              <a:avLst/>
            </a:prstGeom>
            <a:solidFill>
              <a:srgbClr val="F900D3"/>
            </a:solidFill>
            <a:ln>
              <a:noFill/>
            </a:ln>
          </p:spPr>
        </p:sp>
        <p:sp>
          <p:nvSpPr>
            <p:cNvPr id="90" name="node07.metric.value"/>
            <p:cNvSpPr/>
            <p:nvPr/>
          </p:nvSpPr>
          <p:spPr>
            <a:xfrm>
              <a:off x="7581900" y="4343400"/>
              <a:ext cx="36576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FFFFFF"/>
                  </a:solidFill>
                  <a:latin typeface="IBM Plex Mono SemiBold"/>
                  <a:ea typeface="IBM Plex Mono SemiBold"/>
                  <a:cs typeface="IBM Plex Mono SemiBold"/>
                </a:rPr>
                <a:t>-0.5</a:t>
              </a:r>
              <a:endParaRPr lang="en-US" sz="4000" spc="-80" kern="0" b="0" i="0" dirty="0">
                <a:solidFill>
                  <a:srgbClr val="FFFFFF"/>
                </a:solidFill>
                <a:latin typeface="IBM Plex Mono SemiBold"/>
                <a:ea typeface="IBM Plex Mono SemiBold"/>
                <a:cs typeface="IBM Plex Mono SemiBold"/>
              </a:endParaRPr>
            </a:p>
          </p:txBody>
        </p:sp>
        <p:sp>
          <p:nvSpPr>
            <p:cNvPr id="91" name="node07.metric.label"/>
            <p:cNvSpPr/>
            <p:nvPr/>
          </p:nvSpPr>
          <p:spPr>
            <a:xfrm>
              <a:off x="7581900" y="4929569"/>
              <a:ext cx="3657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off the weighted gap score.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ource-078">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Strong at the core, thin at the edges</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assessment,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60</a:t>
            </a:fld>
            <a:endParaRPr lang="en-US" sz="700" spc="0" kern="0" b="0" i="0" dirty="0">
              <a:solidFill>
                <a:srgbClr val="070154"/>
              </a:solidFill>
              <a:latin typeface="IBM Plex Mono SemiBold"/>
              <a:ea typeface="IBM Plex Mono SemiBold"/>
              <a:cs typeface="IBM Plex Mono SemiBold"/>
            </a:endParaRPr>
          </a:p>
        </p:txBody>
      </p:sp>
      <p:grpSp>
        <p:nvGrpSpPr>
          <p:cNvPr id="116" name="node01"/>
          <p:cNvGrpSpPr/>
          <p:nvPr/>
        </p:nvGrpSpPr>
        <p:grpSpPr>
          <a:xfrm>
            <a:off x="4381500" y="457200"/>
            <a:ext cx="7086600" cy="4826000"/>
            <a:chOff x="4381500" y="457200"/>
            <a:chExt cx="7086600" cy="4826000"/>
          </a:xfrm>
        </p:grpSpPr>
        <p:sp>
          <p:nvSpPr>
            <p:cNvPr id="7" name="node01.row.item-001.c1.heat-gap"/>
            <p:cNvSpPr/>
            <p:nvPr/>
          </p:nvSpPr>
          <p:spPr>
            <a:xfrm>
              <a:off x="6438900" y="812800"/>
              <a:ext cx="1257300" cy="406400"/>
            </a:xfrm>
            <a:prstGeom prst="rect">
              <a:avLst/>
            </a:prstGeom>
            <a:solidFill>
              <a:srgbClr val="FFFFFF"/>
            </a:solidFill>
            <a:ln>
              <a:noFill/>
            </a:ln>
          </p:spPr>
        </p:sp>
        <p:sp>
          <p:nvSpPr>
            <p:cNvPr id="8" name="node01.row.item-001.c1.heat"/>
            <p:cNvSpPr/>
            <p:nvPr/>
          </p:nvSpPr>
          <p:spPr>
            <a:xfrm>
              <a:off x="6457950" y="831850"/>
              <a:ext cx="1219200" cy="368300"/>
            </a:xfrm>
            <a:prstGeom prst="rect">
              <a:avLst/>
            </a:prstGeom>
            <a:solidFill>
              <a:srgbClr val="0047FF"/>
            </a:solidFill>
            <a:ln>
              <a:noFill/>
            </a:ln>
          </p:spPr>
        </p:sp>
        <p:sp>
          <p:nvSpPr>
            <p:cNvPr id="9" name="node01.row.item-001.c2.heat-gap"/>
            <p:cNvSpPr/>
            <p:nvPr/>
          </p:nvSpPr>
          <p:spPr>
            <a:xfrm>
              <a:off x="7696200" y="812800"/>
              <a:ext cx="1257300" cy="406400"/>
            </a:xfrm>
            <a:prstGeom prst="rect">
              <a:avLst/>
            </a:prstGeom>
            <a:solidFill>
              <a:srgbClr val="FFFFFF"/>
            </a:solidFill>
            <a:ln>
              <a:noFill/>
            </a:ln>
          </p:spPr>
        </p:sp>
        <p:sp>
          <p:nvSpPr>
            <p:cNvPr id="10" name="node01.row.item-001.c2.heat"/>
            <p:cNvSpPr/>
            <p:nvPr/>
          </p:nvSpPr>
          <p:spPr>
            <a:xfrm>
              <a:off x="7715250" y="831850"/>
              <a:ext cx="1219200" cy="368300"/>
            </a:xfrm>
            <a:prstGeom prst="rect">
              <a:avLst/>
            </a:prstGeom>
            <a:solidFill>
              <a:srgbClr val="7C9BFF"/>
            </a:solidFill>
            <a:ln>
              <a:noFill/>
            </a:ln>
          </p:spPr>
        </p:sp>
        <p:sp>
          <p:nvSpPr>
            <p:cNvPr id="11" name="node01.row.item-001.c3.heat-gap"/>
            <p:cNvSpPr/>
            <p:nvPr/>
          </p:nvSpPr>
          <p:spPr>
            <a:xfrm>
              <a:off x="8953500" y="812800"/>
              <a:ext cx="1257300" cy="406400"/>
            </a:xfrm>
            <a:prstGeom prst="rect">
              <a:avLst/>
            </a:prstGeom>
            <a:solidFill>
              <a:srgbClr val="FFFFFF"/>
            </a:solidFill>
            <a:ln>
              <a:noFill/>
            </a:ln>
          </p:spPr>
        </p:sp>
        <p:sp>
          <p:nvSpPr>
            <p:cNvPr id="12" name="node01.row.item-001.c3.heat"/>
            <p:cNvSpPr/>
            <p:nvPr/>
          </p:nvSpPr>
          <p:spPr>
            <a:xfrm>
              <a:off x="8972550" y="831850"/>
              <a:ext cx="1219200" cy="368300"/>
            </a:xfrm>
            <a:prstGeom prst="rect">
              <a:avLst/>
            </a:prstGeom>
            <a:solidFill>
              <a:srgbClr val="B9C9F0"/>
            </a:solidFill>
            <a:ln>
              <a:noFill/>
            </a:ln>
          </p:spPr>
        </p:sp>
        <p:sp>
          <p:nvSpPr>
            <p:cNvPr id="13" name="node01.row.item-001.c4.heat-gap"/>
            <p:cNvSpPr/>
            <p:nvPr/>
          </p:nvSpPr>
          <p:spPr>
            <a:xfrm>
              <a:off x="10210800" y="812800"/>
              <a:ext cx="1257300" cy="406400"/>
            </a:xfrm>
            <a:prstGeom prst="rect">
              <a:avLst/>
            </a:prstGeom>
            <a:solidFill>
              <a:srgbClr val="FFFFFF"/>
            </a:solidFill>
            <a:ln>
              <a:noFill/>
            </a:ln>
          </p:spPr>
        </p:sp>
        <p:sp>
          <p:nvSpPr>
            <p:cNvPr id="14" name="node01.row.item-001.c4.heat"/>
            <p:cNvSpPr/>
            <p:nvPr/>
          </p:nvSpPr>
          <p:spPr>
            <a:xfrm>
              <a:off x="10229850" y="831850"/>
              <a:ext cx="1219200" cy="368300"/>
            </a:xfrm>
            <a:prstGeom prst="rect">
              <a:avLst/>
            </a:prstGeom>
            <a:solidFill>
              <a:srgbClr val="B9C9F0"/>
            </a:solidFill>
            <a:ln>
              <a:noFill/>
            </a:ln>
          </p:spPr>
        </p:sp>
        <p:sp>
          <p:nvSpPr>
            <p:cNvPr id="15" name="node01.row.item-002.c1.heat-gap"/>
            <p:cNvSpPr/>
            <p:nvPr/>
          </p:nvSpPr>
          <p:spPr>
            <a:xfrm>
              <a:off x="6438900" y="1219200"/>
              <a:ext cx="1257300" cy="406400"/>
            </a:xfrm>
            <a:prstGeom prst="rect">
              <a:avLst/>
            </a:prstGeom>
            <a:solidFill>
              <a:srgbClr val="FFFFFF"/>
            </a:solidFill>
            <a:ln>
              <a:noFill/>
            </a:ln>
          </p:spPr>
        </p:sp>
        <p:sp>
          <p:nvSpPr>
            <p:cNvPr id="16" name="node01.row.item-002.c1.heat"/>
            <p:cNvSpPr/>
            <p:nvPr/>
          </p:nvSpPr>
          <p:spPr>
            <a:xfrm>
              <a:off x="6457950" y="1238250"/>
              <a:ext cx="1219200" cy="368300"/>
            </a:xfrm>
            <a:prstGeom prst="rect">
              <a:avLst/>
            </a:prstGeom>
            <a:solidFill>
              <a:srgbClr val="0047FF"/>
            </a:solidFill>
            <a:ln>
              <a:noFill/>
            </a:ln>
          </p:spPr>
        </p:sp>
        <p:sp>
          <p:nvSpPr>
            <p:cNvPr id="17" name="node01.row.item-002.c2.heat-gap"/>
            <p:cNvSpPr/>
            <p:nvPr/>
          </p:nvSpPr>
          <p:spPr>
            <a:xfrm>
              <a:off x="7696200" y="1219200"/>
              <a:ext cx="1257300" cy="406400"/>
            </a:xfrm>
            <a:prstGeom prst="rect">
              <a:avLst/>
            </a:prstGeom>
            <a:solidFill>
              <a:srgbClr val="FFFFFF"/>
            </a:solidFill>
            <a:ln>
              <a:noFill/>
            </a:ln>
          </p:spPr>
        </p:sp>
        <p:sp>
          <p:nvSpPr>
            <p:cNvPr id="18" name="node01.row.item-002.c2.heat"/>
            <p:cNvSpPr/>
            <p:nvPr/>
          </p:nvSpPr>
          <p:spPr>
            <a:xfrm>
              <a:off x="7715250" y="1238250"/>
              <a:ext cx="1219200" cy="368300"/>
            </a:xfrm>
            <a:prstGeom prst="rect">
              <a:avLst/>
            </a:prstGeom>
            <a:solidFill>
              <a:srgbClr val="0047FF"/>
            </a:solidFill>
            <a:ln>
              <a:noFill/>
            </a:ln>
          </p:spPr>
        </p:sp>
        <p:sp>
          <p:nvSpPr>
            <p:cNvPr id="19" name="node01.row.item-002.c3.heat-gap"/>
            <p:cNvSpPr/>
            <p:nvPr/>
          </p:nvSpPr>
          <p:spPr>
            <a:xfrm>
              <a:off x="8953500" y="1219200"/>
              <a:ext cx="1257300" cy="406400"/>
            </a:xfrm>
            <a:prstGeom prst="rect">
              <a:avLst/>
            </a:prstGeom>
            <a:solidFill>
              <a:srgbClr val="FFFFFF"/>
            </a:solidFill>
            <a:ln>
              <a:noFill/>
            </a:ln>
          </p:spPr>
        </p:sp>
        <p:sp>
          <p:nvSpPr>
            <p:cNvPr id="20" name="node01.row.item-002.c3.heat"/>
            <p:cNvSpPr/>
            <p:nvPr/>
          </p:nvSpPr>
          <p:spPr>
            <a:xfrm>
              <a:off x="8972550" y="1238250"/>
              <a:ext cx="1219200" cy="368300"/>
            </a:xfrm>
            <a:prstGeom prst="rect">
              <a:avLst/>
            </a:prstGeom>
            <a:solidFill>
              <a:srgbClr val="7C9BFF"/>
            </a:solidFill>
            <a:ln>
              <a:noFill/>
            </a:ln>
          </p:spPr>
        </p:sp>
        <p:sp>
          <p:nvSpPr>
            <p:cNvPr id="21" name="node01.row.item-002.c4.heat-gap"/>
            <p:cNvSpPr/>
            <p:nvPr/>
          </p:nvSpPr>
          <p:spPr>
            <a:xfrm>
              <a:off x="10210800" y="1219200"/>
              <a:ext cx="1257300" cy="406400"/>
            </a:xfrm>
            <a:prstGeom prst="rect">
              <a:avLst/>
            </a:prstGeom>
            <a:solidFill>
              <a:srgbClr val="FFFFFF"/>
            </a:solidFill>
            <a:ln>
              <a:noFill/>
            </a:ln>
          </p:spPr>
        </p:sp>
        <p:sp>
          <p:nvSpPr>
            <p:cNvPr id="22" name="node01.row.item-002.c4.heat"/>
            <p:cNvSpPr/>
            <p:nvPr/>
          </p:nvSpPr>
          <p:spPr>
            <a:xfrm>
              <a:off x="10229850" y="1238250"/>
              <a:ext cx="1219200" cy="368300"/>
            </a:xfrm>
            <a:prstGeom prst="rect">
              <a:avLst/>
            </a:prstGeom>
            <a:solidFill>
              <a:srgbClr val="B9C9F0"/>
            </a:solidFill>
            <a:ln>
              <a:noFill/>
            </a:ln>
          </p:spPr>
        </p:sp>
        <p:sp>
          <p:nvSpPr>
            <p:cNvPr id="23" name="node01.row.item-003.c1.heat-gap"/>
            <p:cNvSpPr/>
            <p:nvPr/>
          </p:nvSpPr>
          <p:spPr>
            <a:xfrm>
              <a:off x="6438900" y="1625600"/>
              <a:ext cx="1257300" cy="406400"/>
            </a:xfrm>
            <a:prstGeom prst="rect">
              <a:avLst/>
            </a:prstGeom>
            <a:solidFill>
              <a:srgbClr val="FFFFFF"/>
            </a:solidFill>
            <a:ln>
              <a:noFill/>
            </a:ln>
          </p:spPr>
        </p:sp>
        <p:sp>
          <p:nvSpPr>
            <p:cNvPr id="24" name="node01.row.item-003.c1.heat"/>
            <p:cNvSpPr/>
            <p:nvPr/>
          </p:nvSpPr>
          <p:spPr>
            <a:xfrm>
              <a:off x="6457950" y="1644650"/>
              <a:ext cx="1219200" cy="368300"/>
            </a:xfrm>
            <a:prstGeom prst="rect">
              <a:avLst/>
            </a:prstGeom>
            <a:solidFill>
              <a:srgbClr val="070154"/>
            </a:solidFill>
            <a:ln>
              <a:noFill/>
            </a:ln>
          </p:spPr>
        </p:sp>
        <p:sp>
          <p:nvSpPr>
            <p:cNvPr id="25" name="node01.row.item-003.c2.heat-gap"/>
            <p:cNvSpPr/>
            <p:nvPr/>
          </p:nvSpPr>
          <p:spPr>
            <a:xfrm>
              <a:off x="7696200" y="1625600"/>
              <a:ext cx="1257300" cy="406400"/>
            </a:xfrm>
            <a:prstGeom prst="rect">
              <a:avLst/>
            </a:prstGeom>
            <a:solidFill>
              <a:srgbClr val="FFFFFF"/>
            </a:solidFill>
            <a:ln>
              <a:noFill/>
            </a:ln>
          </p:spPr>
        </p:sp>
        <p:sp>
          <p:nvSpPr>
            <p:cNvPr id="26" name="node01.row.item-003.c2.heat"/>
            <p:cNvSpPr/>
            <p:nvPr/>
          </p:nvSpPr>
          <p:spPr>
            <a:xfrm>
              <a:off x="7715250" y="1644650"/>
              <a:ext cx="1219200" cy="368300"/>
            </a:xfrm>
            <a:prstGeom prst="rect">
              <a:avLst/>
            </a:prstGeom>
            <a:solidFill>
              <a:srgbClr val="0047FF"/>
            </a:solidFill>
            <a:ln>
              <a:noFill/>
            </a:ln>
          </p:spPr>
        </p:sp>
        <p:sp>
          <p:nvSpPr>
            <p:cNvPr id="27" name="node01.row.item-003.c3.heat-gap"/>
            <p:cNvSpPr/>
            <p:nvPr/>
          </p:nvSpPr>
          <p:spPr>
            <a:xfrm>
              <a:off x="8953500" y="1625600"/>
              <a:ext cx="1257300" cy="406400"/>
            </a:xfrm>
            <a:prstGeom prst="rect">
              <a:avLst/>
            </a:prstGeom>
            <a:solidFill>
              <a:srgbClr val="FFFFFF"/>
            </a:solidFill>
            <a:ln>
              <a:noFill/>
            </a:ln>
          </p:spPr>
        </p:sp>
        <p:sp>
          <p:nvSpPr>
            <p:cNvPr id="28" name="node01.row.item-003.c3.heat"/>
            <p:cNvSpPr/>
            <p:nvPr/>
          </p:nvSpPr>
          <p:spPr>
            <a:xfrm>
              <a:off x="8972550" y="1644650"/>
              <a:ext cx="1219200" cy="368300"/>
            </a:xfrm>
            <a:prstGeom prst="rect">
              <a:avLst/>
            </a:prstGeom>
            <a:solidFill>
              <a:srgbClr val="7C9BFF"/>
            </a:solidFill>
            <a:ln>
              <a:noFill/>
            </a:ln>
          </p:spPr>
        </p:sp>
        <p:sp>
          <p:nvSpPr>
            <p:cNvPr id="29" name="node01.row.item-003.c4.heat-gap"/>
            <p:cNvSpPr/>
            <p:nvPr/>
          </p:nvSpPr>
          <p:spPr>
            <a:xfrm>
              <a:off x="10210800" y="1625600"/>
              <a:ext cx="1257300" cy="406400"/>
            </a:xfrm>
            <a:prstGeom prst="rect">
              <a:avLst/>
            </a:prstGeom>
            <a:solidFill>
              <a:srgbClr val="FFFFFF"/>
            </a:solidFill>
            <a:ln>
              <a:noFill/>
            </a:ln>
          </p:spPr>
        </p:sp>
        <p:sp>
          <p:nvSpPr>
            <p:cNvPr id="30" name="node01.row.item-003.c4.heat"/>
            <p:cNvSpPr/>
            <p:nvPr/>
          </p:nvSpPr>
          <p:spPr>
            <a:xfrm>
              <a:off x="10229850" y="1644650"/>
              <a:ext cx="1219200" cy="368300"/>
            </a:xfrm>
            <a:prstGeom prst="rect">
              <a:avLst/>
            </a:prstGeom>
            <a:solidFill>
              <a:srgbClr val="7C9BFF"/>
            </a:solidFill>
            <a:ln>
              <a:noFill/>
            </a:ln>
          </p:spPr>
        </p:sp>
        <p:sp>
          <p:nvSpPr>
            <p:cNvPr id="31" name="node01.row.item-004.c1.heat-gap"/>
            <p:cNvSpPr/>
            <p:nvPr/>
          </p:nvSpPr>
          <p:spPr>
            <a:xfrm>
              <a:off x="6438900" y="2032000"/>
              <a:ext cx="1257300" cy="406400"/>
            </a:xfrm>
            <a:prstGeom prst="rect">
              <a:avLst/>
            </a:prstGeom>
            <a:solidFill>
              <a:srgbClr val="FFFFFF"/>
            </a:solidFill>
            <a:ln>
              <a:noFill/>
            </a:ln>
          </p:spPr>
        </p:sp>
        <p:sp>
          <p:nvSpPr>
            <p:cNvPr id="32" name="node01.row.item-004.c1.heat"/>
            <p:cNvSpPr/>
            <p:nvPr/>
          </p:nvSpPr>
          <p:spPr>
            <a:xfrm>
              <a:off x="6457950" y="2051050"/>
              <a:ext cx="1219200" cy="368300"/>
            </a:xfrm>
            <a:prstGeom prst="rect">
              <a:avLst/>
            </a:prstGeom>
            <a:solidFill>
              <a:srgbClr val="070154"/>
            </a:solidFill>
            <a:ln>
              <a:noFill/>
            </a:ln>
          </p:spPr>
        </p:sp>
        <p:sp>
          <p:nvSpPr>
            <p:cNvPr id="33" name="node01.row.item-004.c2.heat-gap"/>
            <p:cNvSpPr/>
            <p:nvPr/>
          </p:nvSpPr>
          <p:spPr>
            <a:xfrm>
              <a:off x="7696200" y="2032000"/>
              <a:ext cx="1257300" cy="406400"/>
            </a:xfrm>
            <a:prstGeom prst="rect">
              <a:avLst/>
            </a:prstGeom>
            <a:solidFill>
              <a:srgbClr val="FFFFFF"/>
            </a:solidFill>
            <a:ln>
              <a:noFill/>
            </a:ln>
          </p:spPr>
        </p:sp>
        <p:sp>
          <p:nvSpPr>
            <p:cNvPr id="34" name="node01.row.item-004.c2.heat"/>
            <p:cNvSpPr/>
            <p:nvPr/>
          </p:nvSpPr>
          <p:spPr>
            <a:xfrm>
              <a:off x="7715250" y="2051050"/>
              <a:ext cx="1219200" cy="368300"/>
            </a:xfrm>
            <a:prstGeom prst="rect">
              <a:avLst/>
            </a:prstGeom>
            <a:solidFill>
              <a:srgbClr val="0047FF"/>
            </a:solidFill>
            <a:ln>
              <a:noFill/>
            </a:ln>
          </p:spPr>
        </p:sp>
        <p:sp>
          <p:nvSpPr>
            <p:cNvPr id="35" name="node01.row.item-004.c3.heat-gap"/>
            <p:cNvSpPr/>
            <p:nvPr/>
          </p:nvSpPr>
          <p:spPr>
            <a:xfrm>
              <a:off x="8953500" y="2032000"/>
              <a:ext cx="1257300" cy="406400"/>
            </a:xfrm>
            <a:prstGeom prst="rect">
              <a:avLst/>
            </a:prstGeom>
            <a:solidFill>
              <a:srgbClr val="FFFFFF"/>
            </a:solidFill>
            <a:ln>
              <a:noFill/>
            </a:ln>
          </p:spPr>
        </p:sp>
        <p:sp>
          <p:nvSpPr>
            <p:cNvPr id="36" name="node01.row.item-004.c3.heat"/>
            <p:cNvSpPr/>
            <p:nvPr/>
          </p:nvSpPr>
          <p:spPr>
            <a:xfrm>
              <a:off x="8972550" y="2051050"/>
              <a:ext cx="1219200" cy="368300"/>
            </a:xfrm>
            <a:prstGeom prst="rect">
              <a:avLst/>
            </a:prstGeom>
            <a:solidFill>
              <a:srgbClr val="0047FF"/>
            </a:solidFill>
            <a:ln>
              <a:noFill/>
            </a:ln>
          </p:spPr>
        </p:sp>
        <p:sp>
          <p:nvSpPr>
            <p:cNvPr id="37" name="node01.row.item-004.c4.heat-gap"/>
            <p:cNvSpPr/>
            <p:nvPr/>
          </p:nvSpPr>
          <p:spPr>
            <a:xfrm>
              <a:off x="10210800" y="2032000"/>
              <a:ext cx="1257300" cy="406400"/>
            </a:xfrm>
            <a:prstGeom prst="rect">
              <a:avLst/>
            </a:prstGeom>
            <a:solidFill>
              <a:srgbClr val="FFFFFF"/>
            </a:solidFill>
            <a:ln>
              <a:noFill/>
            </a:ln>
          </p:spPr>
        </p:sp>
        <p:sp>
          <p:nvSpPr>
            <p:cNvPr id="38" name="node01.row.item-004.c4.heat"/>
            <p:cNvSpPr/>
            <p:nvPr/>
          </p:nvSpPr>
          <p:spPr>
            <a:xfrm>
              <a:off x="10229850" y="2051050"/>
              <a:ext cx="1219200" cy="368300"/>
            </a:xfrm>
            <a:prstGeom prst="rect">
              <a:avLst/>
            </a:prstGeom>
            <a:solidFill>
              <a:srgbClr val="7C9BFF"/>
            </a:solidFill>
            <a:ln>
              <a:noFill/>
            </a:ln>
          </p:spPr>
        </p:sp>
        <p:sp>
          <p:nvSpPr>
            <p:cNvPr id="39" name="node01.row.item-005.c1.heat-gap"/>
            <p:cNvSpPr/>
            <p:nvPr/>
          </p:nvSpPr>
          <p:spPr>
            <a:xfrm>
              <a:off x="6438900" y="2438400"/>
              <a:ext cx="1257300" cy="406400"/>
            </a:xfrm>
            <a:prstGeom prst="rect">
              <a:avLst/>
            </a:prstGeom>
            <a:solidFill>
              <a:srgbClr val="FFFFFF"/>
            </a:solidFill>
            <a:ln>
              <a:noFill/>
            </a:ln>
          </p:spPr>
        </p:sp>
        <p:sp>
          <p:nvSpPr>
            <p:cNvPr id="40" name="node01.row.item-005.c1.heat"/>
            <p:cNvSpPr/>
            <p:nvPr/>
          </p:nvSpPr>
          <p:spPr>
            <a:xfrm>
              <a:off x="6457950" y="2457450"/>
              <a:ext cx="1219200" cy="368300"/>
            </a:xfrm>
            <a:prstGeom prst="rect">
              <a:avLst/>
            </a:prstGeom>
            <a:solidFill>
              <a:srgbClr val="7C9BFF"/>
            </a:solidFill>
            <a:ln>
              <a:noFill/>
            </a:ln>
          </p:spPr>
        </p:sp>
        <p:sp>
          <p:nvSpPr>
            <p:cNvPr id="41" name="node01.row.item-005.c2.heat-gap"/>
            <p:cNvSpPr/>
            <p:nvPr/>
          </p:nvSpPr>
          <p:spPr>
            <a:xfrm>
              <a:off x="7696200" y="2438400"/>
              <a:ext cx="1257300" cy="406400"/>
            </a:xfrm>
            <a:prstGeom prst="rect">
              <a:avLst/>
            </a:prstGeom>
            <a:solidFill>
              <a:srgbClr val="FFFFFF"/>
            </a:solidFill>
            <a:ln>
              <a:noFill/>
            </a:ln>
          </p:spPr>
        </p:sp>
        <p:sp>
          <p:nvSpPr>
            <p:cNvPr id="42" name="node01.row.item-005.c2.heat"/>
            <p:cNvSpPr/>
            <p:nvPr/>
          </p:nvSpPr>
          <p:spPr>
            <a:xfrm>
              <a:off x="7715250" y="2457450"/>
              <a:ext cx="1219200" cy="368300"/>
            </a:xfrm>
            <a:prstGeom prst="rect">
              <a:avLst/>
            </a:prstGeom>
            <a:solidFill>
              <a:srgbClr val="7C9BFF"/>
            </a:solidFill>
            <a:ln>
              <a:noFill/>
            </a:ln>
          </p:spPr>
        </p:sp>
        <p:sp>
          <p:nvSpPr>
            <p:cNvPr id="43" name="node01.row.item-005.c3.heat-gap"/>
            <p:cNvSpPr/>
            <p:nvPr/>
          </p:nvSpPr>
          <p:spPr>
            <a:xfrm>
              <a:off x="8953500" y="2438400"/>
              <a:ext cx="1257300" cy="406400"/>
            </a:xfrm>
            <a:prstGeom prst="rect">
              <a:avLst/>
            </a:prstGeom>
            <a:solidFill>
              <a:srgbClr val="FFFFFF"/>
            </a:solidFill>
            <a:ln>
              <a:noFill/>
            </a:ln>
          </p:spPr>
        </p:sp>
        <p:sp>
          <p:nvSpPr>
            <p:cNvPr id="44" name="node01.row.item-005.c3.heat"/>
            <p:cNvSpPr/>
            <p:nvPr/>
          </p:nvSpPr>
          <p:spPr>
            <a:xfrm>
              <a:off x="8972550" y="2457450"/>
              <a:ext cx="1219200" cy="368300"/>
            </a:xfrm>
            <a:prstGeom prst="rect">
              <a:avLst/>
            </a:prstGeom>
            <a:solidFill>
              <a:srgbClr val="B9C9F0"/>
            </a:solidFill>
            <a:ln>
              <a:noFill/>
            </a:ln>
          </p:spPr>
        </p:sp>
        <p:sp>
          <p:nvSpPr>
            <p:cNvPr id="45" name="node01.row.item-005.c4.heat-gap"/>
            <p:cNvSpPr/>
            <p:nvPr/>
          </p:nvSpPr>
          <p:spPr>
            <a:xfrm>
              <a:off x="10210800" y="2438400"/>
              <a:ext cx="1257300" cy="406400"/>
            </a:xfrm>
            <a:prstGeom prst="rect">
              <a:avLst/>
            </a:prstGeom>
            <a:solidFill>
              <a:srgbClr val="FFFFFF"/>
            </a:solidFill>
            <a:ln>
              <a:noFill/>
            </a:ln>
          </p:spPr>
        </p:sp>
        <p:sp>
          <p:nvSpPr>
            <p:cNvPr id="46" name="node01.row.item-005.c4.heat"/>
            <p:cNvSpPr/>
            <p:nvPr/>
          </p:nvSpPr>
          <p:spPr>
            <a:xfrm>
              <a:off x="10229850" y="2457450"/>
              <a:ext cx="1219200" cy="368300"/>
            </a:xfrm>
            <a:prstGeom prst="rect">
              <a:avLst/>
            </a:prstGeom>
            <a:solidFill>
              <a:srgbClr val="E8EEF8"/>
            </a:solidFill>
            <a:ln>
              <a:noFill/>
            </a:ln>
          </p:spPr>
        </p:sp>
        <p:sp>
          <p:nvSpPr>
            <p:cNvPr id="47" name="node01.row.item-006.c1.heat-gap"/>
            <p:cNvSpPr/>
            <p:nvPr/>
          </p:nvSpPr>
          <p:spPr>
            <a:xfrm>
              <a:off x="6438900" y="2844800"/>
              <a:ext cx="1257300" cy="406400"/>
            </a:xfrm>
            <a:prstGeom prst="rect">
              <a:avLst/>
            </a:prstGeom>
            <a:solidFill>
              <a:srgbClr val="FFFFFF"/>
            </a:solidFill>
            <a:ln>
              <a:noFill/>
            </a:ln>
          </p:spPr>
        </p:sp>
        <p:sp>
          <p:nvSpPr>
            <p:cNvPr id="48" name="node01.row.item-006.c1.heat"/>
            <p:cNvSpPr/>
            <p:nvPr/>
          </p:nvSpPr>
          <p:spPr>
            <a:xfrm>
              <a:off x="6457950" y="2863850"/>
              <a:ext cx="1219200" cy="368300"/>
            </a:xfrm>
            <a:prstGeom prst="rect">
              <a:avLst/>
            </a:prstGeom>
            <a:solidFill>
              <a:srgbClr val="0047FF"/>
            </a:solidFill>
            <a:ln>
              <a:noFill/>
            </a:ln>
          </p:spPr>
        </p:sp>
        <p:sp>
          <p:nvSpPr>
            <p:cNvPr id="49" name="node01.row.item-006.c2.heat-gap"/>
            <p:cNvSpPr/>
            <p:nvPr/>
          </p:nvSpPr>
          <p:spPr>
            <a:xfrm>
              <a:off x="7696200" y="2844800"/>
              <a:ext cx="1257300" cy="406400"/>
            </a:xfrm>
            <a:prstGeom prst="rect">
              <a:avLst/>
            </a:prstGeom>
            <a:solidFill>
              <a:srgbClr val="FFFFFF"/>
            </a:solidFill>
            <a:ln>
              <a:noFill/>
            </a:ln>
          </p:spPr>
        </p:sp>
        <p:sp>
          <p:nvSpPr>
            <p:cNvPr id="50" name="node01.row.item-006.c2.heat"/>
            <p:cNvSpPr/>
            <p:nvPr/>
          </p:nvSpPr>
          <p:spPr>
            <a:xfrm>
              <a:off x="7715250" y="2863850"/>
              <a:ext cx="1219200" cy="368300"/>
            </a:xfrm>
            <a:prstGeom prst="rect">
              <a:avLst/>
            </a:prstGeom>
            <a:solidFill>
              <a:srgbClr val="7C9BFF"/>
            </a:solidFill>
            <a:ln>
              <a:noFill/>
            </a:ln>
          </p:spPr>
        </p:sp>
        <p:sp>
          <p:nvSpPr>
            <p:cNvPr id="51" name="node01.row.item-006.c3.heat-gap"/>
            <p:cNvSpPr/>
            <p:nvPr/>
          </p:nvSpPr>
          <p:spPr>
            <a:xfrm>
              <a:off x="8953500" y="2844800"/>
              <a:ext cx="1257300" cy="406400"/>
            </a:xfrm>
            <a:prstGeom prst="rect">
              <a:avLst/>
            </a:prstGeom>
            <a:solidFill>
              <a:srgbClr val="FFFFFF"/>
            </a:solidFill>
            <a:ln>
              <a:noFill/>
            </a:ln>
          </p:spPr>
        </p:sp>
        <p:sp>
          <p:nvSpPr>
            <p:cNvPr id="52" name="node01.row.item-006.c3.heat"/>
            <p:cNvSpPr/>
            <p:nvPr/>
          </p:nvSpPr>
          <p:spPr>
            <a:xfrm>
              <a:off x="8972550" y="2863850"/>
              <a:ext cx="1219200" cy="368300"/>
            </a:xfrm>
            <a:prstGeom prst="rect">
              <a:avLst/>
            </a:prstGeom>
            <a:solidFill>
              <a:srgbClr val="B9C9F0"/>
            </a:solidFill>
            <a:ln>
              <a:noFill/>
            </a:ln>
          </p:spPr>
        </p:sp>
        <p:sp>
          <p:nvSpPr>
            <p:cNvPr id="53" name="node01.row.item-006.c4.heat-gap"/>
            <p:cNvSpPr/>
            <p:nvPr/>
          </p:nvSpPr>
          <p:spPr>
            <a:xfrm>
              <a:off x="10210800" y="2844800"/>
              <a:ext cx="1257300" cy="406400"/>
            </a:xfrm>
            <a:prstGeom prst="rect">
              <a:avLst/>
            </a:prstGeom>
            <a:solidFill>
              <a:srgbClr val="FFFFFF"/>
            </a:solidFill>
            <a:ln>
              <a:noFill/>
            </a:ln>
          </p:spPr>
        </p:sp>
        <p:sp>
          <p:nvSpPr>
            <p:cNvPr id="54" name="node01.row.item-006.c4.heat"/>
            <p:cNvSpPr/>
            <p:nvPr/>
          </p:nvSpPr>
          <p:spPr>
            <a:xfrm>
              <a:off x="10229850" y="2863850"/>
              <a:ext cx="1219200" cy="368300"/>
            </a:xfrm>
            <a:prstGeom prst="rect">
              <a:avLst/>
            </a:prstGeom>
            <a:solidFill>
              <a:srgbClr val="B9C9F0"/>
            </a:solidFill>
            <a:ln>
              <a:noFill/>
            </a:ln>
          </p:spPr>
        </p:sp>
        <p:sp>
          <p:nvSpPr>
            <p:cNvPr id="55" name="node01.row.item-007.c1.heat-gap"/>
            <p:cNvSpPr/>
            <p:nvPr/>
          </p:nvSpPr>
          <p:spPr>
            <a:xfrm>
              <a:off x="6438900" y="3251200"/>
              <a:ext cx="1257300" cy="406400"/>
            </a:xfrm>
            <a:prstGeom prst="rect">
              <a:avLst/>
            </a:prstGeom>
            <a:solidFill>
              <a:srgbClr val="FFFFFF"/>
            </a:solidFill>
            <a:ln>
              <a:noFill/>
            </a:ln>
          </p:spPr>
        </p:sp>
        <p:sp>
          <p:nvSpPr>
            <p:cNvPr id="56" name="node01.row.item-007.c1.heat"/>
            <p:cNvSpPr/>
            <p:nvPr/>
          </p:nvSpPr>
          <p:spPr>
            <a:xfrm>
              <a:off x="6457950" y="3270250"/>
              <a:ext cx="1219200" cy="368300"/>
            </a:xfrm>
            <a:prstGeom prst="rect">
              <a:avLst/>
            </a:prstGeom>
            <a:solidFill>
              <a:srgbClr val="7C9BFF"/>
            </a:solidFill>
            <a:ln>
              <a:noFill/>
            </a:ln>
          </p:spPr>
        </p:sp>
        <p:sp>
          <p:nvSpPr>
            <p:cNvPr id="57" name="node01.row.item-007.c2.heat-gap"/>
            <p:cNvSpPr/>
            <p:nvPr/>
          </p:nvSpPr>
          <p:spPr>
            <a:xfrm>
              <a:off x="7696200" y="3251200"/>
              <a:ext cx="1257300" cy="406400"/>
            </a:xfrm>
            <a:prstGeom prst="rect">
              <a:avLst/>
            </a:prstGeom>
            <a:solidFill>
              <a:srgbClr val="FFFFFF"/>
            </a:solidFill>
            <a:ln>
              <a:noFill/>
            </a:ln>
          </p:spPr>
        </p:sp>
        <p:sp>
          <p:nvSpPr>
            <p:cNvPr id="58" name="node01.row.item-007.c2.heat"/>
            <p:cNvSpPr/>
            <p:nvPr/>
          </p:nvSpPr>
          <p:spPr>
            <a:xfrm>
              <a:off x="7715250" y="3270250"/>
              <a:ext cx="1219200" cy="368300"/>
            </a:xfrm>
            <a:prstGeom prst="rect">
              <a:avLst/>
            </a:prstGeom>
            <a:solidFill>
              <a:srgbClr val="7C9BFF"/>
            </a:solidFill>
            <a:ln>
              <a:noFill/>
            </a:ln>
          </p:spPr>
        </p:sp>
        <p:sp>
          <p:nvSpPr>
            <p:cNvPr id="59" name="node01.row.item-007.c3.heat-gap"/>
            <p:cNvSpPr/>
            <p:nvPr/>
          </p:nvSpPr>
          <p:spPr>
            <a:xfrm>
              <a:off x="8953500" y="3251200"/>
              <a:ext cx="1257300" cy="406400"/>
            </a:xfrm>
            <a:prstGeom prst="rect">
              <a:avLst/>
            </a:prstGeom>
            <a:solidFill>
              <a:srgbClr val="FFFFFF"/>
            </a:solidFill>
            <a:ln>
              <a:noFill/>
            </a:ln>
          </p:spPr>
        </p:sp>
        <p:sp>
          <p:nvSpPr>
            <p:cNvPr id="60" name="node01.row.item-007.c3.heat"/>
            <p:cNvSpPr/>
            <p:nvPr/>
          </p:nvSpPr>
          <p:spPr>
            <a:xfrm>
              <a:off x="8972550" y="3270250"/>
              <a:ext cx="1219200" cy="368300"/>
            </a:xfrm>
            <a:prstGeom prst="rect">
              <a:avLst/>
            </a:prstGeom>
            <a:solidFill>
              <a:srgbClr val="B9C9F0"/>
            </a:solidFill>
            <a:ln>
              <a:noFill/>
            </a:ln>
          </p:spPr>
        </p:sp>
        <p:sp>
          <p:nvSpPr>
            <p:cNvPr id="61" name="node01.row.item-007.c4.heat-gap"/>
            <p:cNvSpPr/>
            <p:nvPr/>
          </p:nvSpPr>
          <p:spPr>
            <a:xfrm>
              <a:off x="10210800" y="3251200"/>
              <a:ext cx="1257300" cy="406400"/>
            </a:xfrm>
            <a:prstGeom prst="rect">
              <a:avLst/>
            </a:prstGeom>
            <a:solidFill>
              <a:srgbClr val="FFFFFF"/>
            </a:solidFill>
            <a:ln>
              <a:noFill/>
            </a:ln>
          </p:spPr>
        </p:sp>
        <p:sp>
          <p:nvSpPr>
            <p:cNvPr id="62" name="node01.row.item-007.c4.heat"/>
            <p:cNvSpPr/>
            <p:nvPr/>
          </p:nvSpPr>
          <p:spPr>
            <a:xfrm>
              <a:off x="10229850" y="3270250"/>
              <a:ext cx="1219200" cy="368300"/>
            </a:xfrm>
            <a:prstGeom prst="rect">
              <a:avLst/>
            </a:prstGeom>
            <a:solidFill>
              <a:srgbClr val="B9C9F0"/>
            </a:solidFill>
            <a:ln>
              <a:noFill/>
            </a:ln>
          </p:spPr>
        </p:sp>
        <p:sp>
          <p:nvSpPr>
            <p:cNvPr id="63" name="node01.row.item-008.c1.heat-gap"/>
            <p:cNvSpPr/>
            <p:nvPr/>
          </p:nvSpPr>
          <p:spPr>
            <a:xfrm>
              <a:off x="6438900" y="3657600"/>
              <a:ext cx="1257300" cy="406400"/>
            </a:xfrm>
            <a:prstGeom prst="rect">
              <a:avLst/>
            </a:prstGeom>
            <a:solidFill>
              <a:srgbClr val="FFFFFF"/>
            </a:solidFill>
            <a:ln>
              <a:noFill/>
            </a:ln>
          </p:spPr>
        </p:sp>
        <p:sp>
          <p:nvSpPr>
            <p:cNvPr id="64" name="node01.row.item-008.c1.heat"/>
            <p:cNvSpPr/>
            <p:nvPr/>
          </p:nvSpPr>
          <p:spPr>
            <a:xfrm>
              <a:off x="6457950" y="3676650"/>
              <a:ext cx="1219200" cy="368300"/>
            </a:xfrm>
            <a:prstGeom prst="rect">
              <a:avLst/>
            </a:prstGeom>
            <a:solidFill>
              <a:srgbClr val="0047FF"/>
            </a:solidFill>
            <a:ln>
              <a:noFill/>
            </a:ln>
          </p:spPr>
        </p:sp>
        <p:sp>
          <p:nvSpPr>
            <p:cNvPr id="65" name="node01.row.item-008.c2.heat-gap"/>
            <p:cNvSpPr/>
            <p:nvPr/>
          </p:nvSpPr>
          <p:spPr>
            <a:xfrm>
              <a:off x="7696200" y="3657600"/>
              <a:ext cx="1257300" cy="406400"/>
            </a:xfrm>
            <a:prstGeom prst="rect">
              <a:avLst/>
            </a:prstGeom>
            <a:solidFill>
              <a:srgbClr val="FFFFFF"/>
            </a:solidFill>
            <a:ln>
              <a:noFill/>
            </a:ln>
          </p:spPr>
        </p:sp>
        <p:sp>
          <p:nvSpPr>
            <p:cNvPr id="66" name="node01.row.item-008.c2.heat"/>
            <p:cNvSpPr/>
            <p:nvPr/>
          </p:nvSpPr>
          <p:spPr>
            <a:xfrm>
              <a:off x="7715250" y="3676650"/>
              <a:ext cx="1219200" cy="368300"/>
            </a:xfrm>
            <a:prstGeom prst="rect">
              <a:avLst/>
            </a:prstGeom>
            <a:solidFill>
              <a:srgbClr val="7C9BFF"/>
            </a:solidFill>
            <a:ln>
              <a:noFill/>
            </a:ln>
          </p:spPr>
        </p:sp>
        <p:sp>
          <p:nvSpPr>
            <p:cNvPr id="67" name="node01.row.item-008.c3.heat-gap"/>
            <p:cNvSpPr/>
            <p:nvPr/>
          </p:nvSpPr>
          <p:spPr>
            <a:xfrm>
              <a:off x="8953500" y="3657600"/>
              <a:ext cx="1257300" cy="406400"/>
            </a:xfrm>
            <a:prstGeom prst="rect">
              <a:avLst/>
            </a:prstGeom>
            <a:solidFill>
              <a:srgbClr val="FFFFFF"/>
            </a:solidFill>
            <a:ln>
              <a:noFill/>
            </a:ln>
          </p:spPr>
        </p:sp>
        <p:sp>
          <p:nvSpPr>
            <p:cNvPr id="68" name="node01.row.item-008.c3.heat"/>
            <p:cNvSpPr/>
            <p:nvPr/>
          </p:nvSpPr>
          <p:spPr>
            <a:xfrm>
              <a:off x="8972550" y="3676650"/>
              <a:ext cx="1219200" cy="368300"/>
            </a:xfrm>
            <a:prstGeom prst="rect">
              <a:avLst/>
            </a:prstGeom>
            <a:solidFill>
              <a:srgbClr val="B9C9F0"/>
            </a:solidFill>
            <a:ln>
              <a:noFill/>
            </a:ln>
          </p:spPr>
        </p:sp>
        <p:sp>
          <p:nvSpPr>
            <p:cNvPr id="69" name="node01.row.item-008.c4.heat-gap"/>
            <p:cNvSpPr/>
            <p:nvPr/>
          </p:nvSpPr>
          <p:spPr>
            <a:xfrm>
              <a:off x="10210800" y="3657600"/>
              <a:ext cx="1257300" cy="406400"/>
            </a:xfrm>
            <a:prstGeom prst="rect">
              <a:avLst/>
            </a:prstGeom>
            <a:solidFill>
              <a:srgbClr val="FFFFFF"/>
            </a:solidFill>
            <a:ln>
              <a:noFill/>
            </a:ln>
          </p:spPr>
        </p:sp>
        <p:sp>
          <p:nvSpPr>
            <p:cNvPr id="70" name="node01.row.item-008.c4.heat"/>
            <p:cNvSpPr/>
            <p:nvPr/>
          </p:nvSpPr>
          <p:spPr>
            <a:xfrm>
              <a:off x="10229850" y="3676650"/>
              <a:ext cx="1219200" cy="368300"/>
            </a:xfrm>
            <a:prstGeom prst="rect">
              <a:avLst/>
            </a:prstGeom>
            <a:solidFill>
              <a:srgbClr val="E8EEF8"/>
            </a:solidFill>
            <a:ln>
              <a:noFill/>
            </a:ln>
          </p:spPr>
        </p:sp>
        <p:sp>
          <p:nvSpPr>
            <p:cNvPr id="71" name="node01.row.item-009.c1.heat-gap"/>
            <p:cNvSpPr/>
            <p:nvPr/>
          </p:nvSpPr>
          <p:spPr>
            <a:xfrm>
              <a:off x="6438900" y="4064000"/>
              <a:ext cx="1257300" cy="406400"/>
            </a:xfrm>
            <a:prstGeom prst="rect">
              <a:avLst/>
            </a:prstGeom>
            <a:solidFill>
              <a:srgbClr val="FFFFFF"/>
            </a:solidFill>
            <a:ln>
              <a:noFill/>
            </a:ln>
          </p:spPr>
        </p:sp>
        <p:sp>
          <p:nvSpPr>
            <p:cNvPr id="72" name="node01.row.item-009.c1.heat"/>
            <p:cNvSpPr/>
            <p:nvPr/>
          </p:nvSpPr>
          <p:spPr>
            <a:xfrm>
              <a:off x="6457950" y="4083050"/>
              <a:ext cx="1219200" cy="368300"/>
            </a:xfrm>
            <a:prstGeom prst="rect">
              <a:avLst/>
            </a:prstGeom>
            <a:solidFill>
              <a:srgbClr val="0047FF"/>
            </a:solidFill>
            <a:ln>
              <a:noFill/>
            </a:ln>
          </p:spPr>
        </p:sp>
        <p:sp>
          <p:nvSpPr>
            <p:cNvPr id="73" name="node01.row.item-009.c2.heat-gap"/>
            <p:cNvSpPr/>
            <p:nvPr/>
          </p:nvSpPr>
          <p:spPr>
            <a:xfrm>
              <a:off x="7696200" y="4064000"/>
              <a:ext cx="1257300" cy="406400"/>
            </a:xfrm>
            <a:prstGeom prst="rect">
              <a:avLst/>
            </a:prstGeom>
            <a:solidFill>
              <a:srgbClr val="FFFFFF"/>
            </a:solidFill>
            <a:ln>
              <a:noFill/>
            </a:ln>
          </p:spPr>
        </p:sp>
        <p:sp>
          <p:nvSpPr>
            <p:cNvPr id="74" name="node01.row.item-009.c2.heat"/>
            <p:cNvSpPr/>
            <p:nvPr/>
          </p:nvSpPr>
          <p:spPr>
            <a:xfrm>
              <a:off x="7715250" y="4083050"/>
              <a:ext cx="1219200" cy="368300"/>
            </a:xfrm>
            <a:prstGeom prst="rect">
              <a:avLst/>
            </a:prstGeom>
            <a:solidFill>
              <a:srgbClr val="0047FF"/>
            </a:solidFill>
            <a:ln>
              <a:noFill/>
            </a:ln>
          </p:spPr>
        </p:sp>
        <p:sp>
          <p:nvSpPr>
            <p:cNvPr id="75" name="node01.row.item-009.c3.heat-gap"/>
            <p:cNvSpPr/>
            <p:nvPr/>
          </p:nvSpPr>
          <p:spPr>
            <a:xfrm>
              <a:off x="8953500" y="4064000"/>
              <a:ext cx="1257300" cy="406400"/>
            </a:xfrm>
            <a:prstGeom prst="rect">
              <a:avLst/>
            </a:prstGeom>
            <a:solidFill>
              <a:srgbClr val="FFFFFF"/>
            </a:solidFill>
            <a:ln>
              <a:noFill/>
            </a:ln>
          </p:spPr>
        </p:sp>
        <p:sp>
          <p:nvSpPr>
            <p:cNvPr id="76" name="node01.row.item-009.c3.heat"/>
            <p:cNvSpPr/>
            <p:nvPr/>
          </p:nvSpPr>
          <p:spPr>
            <a:xfrm>
              <a:off x="8972550" y="4083050"/>
              <a:ext cx="1219200" cy="368300"/>
            </a:xfrm>
            <a:prstGeom prst="rect">
              <a:avLst/>
            </a:prstGeom>
            <a:solidFill>
              <a:srgbClr val="7C9BFF"/>
            </a:solidFill>
            <a:ln>
              <a:noFill/>
            </a:ln>
          </p:spPr>
        </p:sp>
        <p:sp>
          <p:nvSpPr>
            <p:cNvPr id="77" name="node01.row.item-009.c4.heat-gap"/>
            <p:cNvSpPr/>
            <p:nvPr/>
          </p:nvSpPr>
          <p:spPr>
            <a:xfrm>
              <a:off x="10210800" y="4064000"/>
              <a:ext cx="1257300" cy="406400"/>
            </a:xfrm>
            <a:prstGeom prst="rect">
              <a:avLst/>
            </a:prstGeom>
            <a:solidFill>
              <a:srgbClr val="FFFFFF"/>
            </a:solidFill>
            <a:ln>
              <a:noFill/>
            </a:ln>
          </p:spPr>
        </p:sp>
        <p:sp>
          <p:nvSpPr>
            <p:cNvPr id="78" name="node01.row.item-009.c4.heat"/>
            <p:cNvSpPr/>
            <p:nvPr/>
          </p:nvSpPr>
          <p:spPr>
            <a:xfrm>
              <a:off x="10229850" y="4083050"/>
              <a:ext cx="1219200" cy="368300"/>
            </a:xfrm>
            <a:prstGeom prst="rect">
              <a:avLst/>
            </a:prstGeom>
            <a:solidFill>
              <a:srgbClr val="B9C9F0"/>
            </a:solidFill>
            <a:ln>
              <a:noFill/>
            </a:ln>
          </p:spPr>
        </p:sp>
        <p:sp>
          <p:nvSpPr>
            <p:cNvPr id="79" name="node01.row.item-010.c1.heat-gap"/>
            <p:cNvSpPr/>
            <p:nvPr/>
          </p:nvSpPr>
          <p:spPr>
            <a:xfrm>
              <a:off x="6438900" y="4470400"/>
              <a:ext cx="1257300" cy="406400"/>
            </a:xfrm>
            <a:prstGeom prst="rect">
              <a:avLst/>
            </a:prstGeom>
            <a:solidFill>
              <a:srgbClr val="FFFFFF"/>
            </a:solidFill>
            <a:ln>
              <a:noFill/>
            </a:ln>
          </p:spPr>
        </p:sp>
        <p:sp>
          <p:nvSpPr>
            <p:cNvPr id="80" name="node01.row.item-010.c1.heat"/>
            <p:cNvSpPr/>
            <p:nvPr/>
          </p:nvSpPr>
          <p:spPr>
            <a:xfrm>
              <a:off x="6457950" y="4489450"/>
              <a:ext cx="1219200" cy="368300"/>
            </a:xfrm>
            <a:prstGeom prst="rect">
              <a:avLst/>
            </a:prstGeom>
            <a:solidFill>
              <a:srgbClr val="0047FF"/>
            </a:solidFill>
            <a:ln>
              <a:noFill/>
            </a:ln>
          </p:spPr>
        </p:sp>
        <p:sp>
          <p:nvSpPr>
            <p:cNvPr id="81" name="node01.row.item-010.c2.heat-gap"/>
            <p:cNvSpPr/>
            <p:nvPr/>
          </p:nvSpPr>
          <p:spPr>
            <a:xfrm>
              <a:off x="7696200" y="4470400"/>
              <a:ext cx="1257300" cy="406400"/>
            </a:xfrm>
            <a:prstGeom prst="rect">
              <a:avLst/>
            </a:prstGeom>
            <a:solidFill>
              <a:srgbClr val="FFFFFF"/>
            </a:solidFill>
            <a:ln>
              <a:noFill/>
            </a:ln>
          </p:spPr>
        </p:sp>
        <p:sp>
          <p:nvSpPr>
            <p:cNvPr id="82" name="node01.row.item-010.c2.heat"/>
            <p:cNvSpPr/>
            <p:nvPr/>
          </p:nvSpPr>
          <p:spPr>
            <a:xfrm>
              <a:off x="7715250" y="4489450"/>
              <a:ext cx="1219200" cy="368300"/>
            </a:xfrm>
            <a:prstGeom prst="rect">
              <a:avLst/>
            </a:prstGeom>
            <a:solidFill>
              <a:srgbClr val="7C9BFF"/>
            </a:solidFill>
            <a:ln>
              <a:noFill/>
            </a:ln>
          </p:spPr>
        </p:sp>
        <p:sp>
          <p:nvSpPr>
            <p:cNvPr id="83" name="node01.row.item-010.c3.heat-gap"/>
            <p:cNvSpPr/>
            <p:nvPr/>
          </p:nvSpPr>
          <p:spPr>
            <a:xfrm>
              <a:off x="8953500" y="4470400"/>
              <a:ext cx="1257300" cy="406400"/>
            </a:xfrm>
            <a:prstGeom prst="rect">
              <a:avLst/>
            </a:prstGeom>
            <a:solidFill>
              <a:srgbClr val="FFFFFF"/>
            </a:solidFill>
            <a:ln>
              <a:noFill/>
            </a:ln>
          </p:spPr>
        </p:sp>
        <p:sp>
          <p:nvSpPr>
            <p:cNvPr id="84" name="node01.row.item-010.c3.heat"/>
            <p:cNvSpPr/>
            <p:nvPr/>
          </p:nvSpPr>
          <p:spPr>
            <a:xfrm>
              <a:off x="8972550" y="4489450"/>
              <a:ext cx="1219200" cy="368300"/>
            </a:xfrm>
            <a:prstGeom prst="rect">
              <a:avLst/>
            </a:prstGeom>
            <a:solidFill>
              <a:srgbClr val="7C9BFF"/>
            </a:solidFill>
            <a:ln>
              <a:noFill/>
            </a:ln>
          </p:spPr>
        </p:sp>
        <p:sp>
          <p:nvSpPr>
            <p:cNvPr id="85" name="node01.row.item-010.c4.heat-gap"/>
            <p:cNvSpPr/>
            <p:nvPr/>
          </p:nvSpPr>
          <p:spPr>
            <a:xfrm>
              <a:off x="10210800" y="4470400"/>
              <a:ext cx="1257300" cy="406400"/>
            </a:xfrm>
            <a:prstGeom prst="rect">
              <a:avLst/>
            </a:prstGeom>
            <a:solidFill>
              <a:srgbClr val="FFFFFF"/>
            </a:solidFill>
            <a:ln>
              <a:noFill/>
            </a:ln>
          </p:spPr>
        </p:sp>
        <p:sp>
          <p:nvSpPr>
            <p:cNvPr id="86" name="node01.row.item-010.c4.heat"/>
            <p:cNvSpPr/>
            <p:nvPr/>
          </p:nvSpPr>
          <p:spPr>
            <a:xfrm>
              <a:off x="10229850" y="4489450"/>
              <a:ext cx="1219200" cy="368300"/>
            </a:xfrm>
            <a:prstGeom prst="rect">
              <a:avLst/>
            </a:prstGeom>
            <a:solidFill>
              <a:srgbClr val="B9C9F0"/>
            </a:solidFill>
            <a:ln>
              <a:noFill/>
            </a:ln>
          </p:spPr>
        </p:sp>
        <p:sp>
          <p:nvSpPr>
            <p:cNvPr id="87" name="node01.row.item-011.c1.heat-gap"/>
            <p:cNvSpPr/>
            <p:nvPr/>
          </p:nvSpPr>
          <p:spPr>
            <a:xfrm>
              <a:off x="6438900" y="4876800"/>
              <a:ext cx="1257300" cy="406400"/>
            </a:xfrm>
            <a:prstGeom prst="rect">
              <a:avLst/>
            </a:prstGeom>
            <a:solidFill>
              <a:srgbClr val="FFFFFF"/>
            </a:solidFill>
            <a:ln>
              <a:noFill/>
            </a:ln>
          </p:spPr>
        </p:sp>
        <p:sp>
          <p:nvSpPr>
            <p:cNvPr id="88" name="node01.row.item-011.c1.heat"/>
            <p:cNvSpPr/>
            <p:nvPr/>
          </p:nvSpPr>
          <p:spPr>
            <a:xfrm>
              <a:off x="6457950" y="4895850"/>
              <a:ext cx="1219200" cy="368300"/>
            </a:xfrm>
            <a:prstGeom prst="rect">
              <a:avLst/>
            </a:prstGeom>
            <a:solidFill>
              <a:srgbClr val="0047FF"/>
            </a:solidFill>
            <a:ln>
              <a:noFill/>
            </a:ln>
          </p:spPr>
        </p:sp>
        <p:sp>
          <p:nvSpPr>
            <p:cNvPr id="89" name="node01.row.item-011.c2.heat-gap"/>
            <p:cNvSpPr/>
            <p:nvPr/>
          </p:nvSpPr>
          <p:spPr>
            <a:xfrm>
              <a:off x="7696200" y="4876800"/>
              <a:ext cx="1257300" cy="406400"/>
            </a:xfrm>
            <a:prstGeom prst="rect">
              <a:avLst/>
            </a:prstGeom>
            <a:solidFill>
              <a:srgbClr val="FFFFFF"/>
            </a:solidFill>
            <a:ln>
              <a:noFill/>
            </a:ln>
          </p:spPr>
        </p:sp>
        <p:sp>
          <p:nvSpPr>
            <p:cNvPr id="90" name="node01.row.item-011.c2.heat"/>
            <p:cNvSpPr/>
            <p:nvPr/>
          </p:nvSpPr>
          <p:spPr>
            <a:xfrm>
              <a:off x="7715250" y="4895850"/>
              <a:ext cx="1219200" cy="368300"/>
            </a:xfrm>
            <a:prstGeom prst="rect">
              <a:avLst/>
            </a:prstGeom>
            <a:solidFill>
              <a:srgbClr val="0047FF"/>
            </a:solidFill>
            <a:ln>
              <a:noFill/>
            </a:ln>
          </p:spPr>
        </p:sp>
        <p:sp>
          <p:nvSpPr>
            <p:cNvPr id="91" name="node01.row.item-011.c3.heat-gap"/>
            <p:cNvSpPr/>
            <p:nvPr/>
          </p:nvSpPr>
          <p:spPr>
            <a:xfrm>
              <a:off x="8953500" y="4876800"/>
              <a:ext cx="1257300" cy="406400"/>
            </a:xfrm>
            <a:prstGeom prst="rect">
              <a:avLst/>
            </a:prstGeom>
            <a:solidFill>
              <a:srgbClr val="FFFFFF"/>
            </a:solidFill>
            <a:ln>
              <a:noFill/>
            </a:ln>
          </p:spPr>
        </p:sp>
        <p:sp>
          <p:nvSpPr>
            <p:cNvPr id="92" name="node01.row.item-011.c3.heat"/>
            <p:cNvSpPr/>
            <p:nvPr/>
          </p:nvSpPr>
          <p:spPr>
            <a:xfrm>
              <a:off x="8972550" y="4895850"/>
              <a:ext cx="1219200" cy="368300"/>
            </a:xfrm>
            <a:prstGeom prst="rect">
              <a:avLst/>
            </a:prstGeom>
            <a:solidFill>
              <a:srgbClr val="7C9BFF"/>
            </a:solidFill>
            <a:ln>
              <a:noFill/>
            </a:ln>
          </p:spPr>
        </p:sp>
        <p:sp>
          <p:nvSpPr>
            <p:cNvPr id="93" name="node01.row.item-011.c4.heat-gap"/>
            <p:cNvSpPr/>
            <p:nvPr/>
          </p:nvSpPr>
          <p:spPr>
            <a:xfrm>
              <a:off x="10210800" y="4876800"/>
              <a:ext cx="1257300" cy="406400"/>
            </a:xfrm>
            <a:prstGeom prst="rect">
              <a:avLst/>
            </a:prstGeom>
            <a:solidFill>
              <a:srgbClr val="FFFFFF"/>
            </a:solidFill>
            <a:ln>
              <a:noFill/>
            </a:ln>
          </p:spPr>
        </p:sp>
        <p:sp>
          <p:nvSpPr>
            <p:cNvPr id="94" name="node01.row.item-011.c4.heat"/>
            <p:cNvSpPr/>
            <p:nvPr/>
          </p:nvSpPr>
          <p:spPr>
            <a:xfrm>
              <a:off x="10229850" y="4895850"/>
              <a:ext cx="1219200" cy="368300"/>
            </a:xfrm>
            <a:prstGeom prst="rect">
              <a:avLst/>
            </a:prstGeom>
            <a:solidFill>
              <a:srgbClr val="B9C9F0"/>
            </a:solidFill>
            <a:ln>
              <a:noFill/>
            </a:ln>
          </p:spPr>
        </p:sp>
        <p:graphicFrame>
          <p:nvGraphicFramePr>
            <p:cNvPr id="95" name="node01.native"/>
            <p:cNvGraphicFramePr>
              <a:graphicFrameLocks noGrp="1"/>
            </p:cNvGraphicFramePr>
            <p:nvPr>
              <p:extLst>
                <p:ext uri="{D42A27DB-BD31-4B8C-83A1-F6EECF244321}">
                  <p14:modId xmlns:p14="http://schemas.microsoft.com/office/powerpoint/2010/main" val="1579011935"/>
                </p:ext>
              </p:extLst>
            </p:nvPr>
          </p:nvGraphicFramePr>
          <p:xfrm>
            <a:off x="4381500" y="457200"/>
            <a:ext cx="7086600" cy="4826000"/>
          </p:xfrm>
          <a:graphic>
            <a:graphicData uri="http://schemas.openxmlformats.org/drawingml/2006/table">
              <a:tbl>
                <a:tblPr/>
                <a:tblGrid>
                  <a:gridCol w="2057400"/>
                  <a:gridCol w="1257300"/>
                  <a:gridCol w="1257300"/>
                  <a:gridCol w="1257300"/>
                  <a:gridCol w="12573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CAPABILITY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MAIN CAMPUS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LAKESIDE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RIDGEVIEW</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HARBOR</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06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access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Scheduling</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Revenue cycle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Clinical documentation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Care coordination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Supply chain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Workforce management</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Data and analytics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Cybersecurity</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billing</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Quality reporting</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117" name="node02"/>
          <p:cNvGrpSpPr/>
          <p:nvPr/>
        </p:nvGrpSpPr>
        <p:grpSpPr>
          <a:xfrm>
            <a:off x="4381500" y="5486400"/>
            <a:ext cx="5202238" cy="190500"/>
            <a:chOff x="4381500" y="5486400"/>
            <a:chExt cx="5202238" cy="190500"/>
          </a:xfrm>
        </p:grpSpPr>
        <p:sp>
          <p:nvSpPr>
            <p:cNvPr id="96" name="node02.items.slot-001.swatch"/>
            <p:cNvSpPr/>
            <p:nvPr/>
          </p:nvSpPr>
          <p:spPr>
            <a:xfrm>
              <a:off x="4381500" y="5518150"/>
              <a:ext cx="228600" cy="127000"/>
            </a:xfrm>
            <a:prstGeom prst="rect">
              <a:avLst/>
            </a:prstGeom>
            <a:solidFill>
              <a:srgbClr val="E8EEF8"/>
            </a:solidFill>
            <a:ln>
              <a:noFill/>
            </a:ln>
          </p:spPr>
        </p:sp>
        <p:sp>
          <p:nvSpPr>
            <p:cNvPr id="97" name="node02.items.slot-001.text"/>
            <p:cNvSpPr/>
            <p:nvPr/>
          </p:nvSpPr>
          <p:spPr>
            <a:xfrm>
              <a:off x="4673600" y="5486400"/>
              <a:ext cx="4937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Absent</a:t>
              </a:r>
              <a:endParaRPr lang="en-US" sz="1100" spc="0" kern="0" b="0" i="0" dirty="0">
                <a:solidFill>
                  <a:srgbClr val="070154"/>
                </a:solidFill>
                <a:latin typeface="IBM Plex Sans"/>
                <a:ea typeface="IBM Plex Sans"/>
                <a:cs typeface="IBM Plex Sans"/>
              </a:endParaRPr>
            </a:p>
          </p:txBody>
        </p:sp>
        <p:sp>
          <p:nvSpPr>
            <p:cNvPr id="98" name="node02.items.slot-002.swatch"/>
            <p:cNvSpPr/>
            <p:nvPr/>
          </p:nvSpPr>
          <p:spPr>
            <a:xfrm>
              <a:off x="5395913" y="5518150"/>
              <a:ext cx="228600" cy="127000"/>
            </a:xfrm>
            <a:prstGeom prst="rect">
              <a:avLst/>
            </a:prstGeom>
            <a:solidFill>
              <a:srgbClr val="B9C9F0"/>
            </a:solidFill>
            <a:ln>
              <a:noFill/>
            </a:ln>
          </p:spPr>
        </p:sp>
        <p:sp>
          <p:nvSpPr>
            <p:cNvPr id="99" name="node02.items.slot-002.text"/>
            <p:cNvSpPr/>
            <p:nvPr/>
          </p:nvSpPr>
          <p:spPr>
            <a:xfrm>
              <a:off x="5688013" y="5486400"/>
              <a:ext cx="481012"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Ad hoc</a:t>
              </a:r>
              <a:endParaRPr lang="en-US" sz="1100" spc="0" kern="0" b="0" i="0" dirty="0">
                <a:solidFill>
                  <a:srgbClr val="070154"/>
                </a:solidFill>
                <a:latin typeface="IBM Plex Sans"/>
                <a:ea typeface="IBM Plex Sans"/>
                <a:cs typeface="IBM Plex Sans"/>
              </a:endParaRPr>
            </a:p>
          </p:txBody>
        </p:sp>
        <p:sp>
          <p:nvSpPr>
            <p:cNvPr id="100" name="node02.items.slot-003.swatch"/>
            <p:cNvSpPr/>
            <p:nvPr/>
          </p:nvSpPr>
          <p:spPr>
            <a:xfrm>
              <a:off x="6397625" y="5518150"/>
              <a:ext cx="228600" cy="127000"/>
            </a:xfrm>
            <a:prstGeom prst="rect">
              <a:avLst/>
            </a:prstGeom>
            <a:solidFill>
              <a:srgbClr val="7C9BFF"/>
            </a:solidFill>
            <a:ln>
              <a:noFill/>
            </a:ln>
          </p:spPr>
        </p:sp>
        <p:sp>
          <p:nvSpPr>
            <p:cNvPr id="101" name="node02.items.slot-003.text"/>
            <p:cNvSpPr/>
            <p:nvPr/>
          </p:nvSpPr>
          <p:spPr>
            <a:xfrm>
              <a:off x="6689725" y="5486400"/>
              <a:ext cx="5365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Defined</a:t>
              </a:r>
              <a:endParaRPr lang="en-US" sz="1100" spc="0" kern="0" b="0" i="0" dirty="0">
                <a:solidFill>
                  <a:srgbClr val="070154"/>
                </a:solidFill>
                <a:latin typeface="IBM Plex Sans"/>
                <a:ea typeface="IBM Plex Sans"/>
                <a:cs typeface="IBM Plex Sans"/>
              </a:endParaRPr>
            </a:p>
          </p:txBody>
        </p:sp>
        <p:sp>
          <p:nvSpPr>
            <p:cNvPr id="102" name="node02.items.slot-004.swatch"/>
            <p:cNvSpPr/>
            <p:nvPr/>
          </p:nvSpPr>
          <p:spPr>
            <a:xfrm>
              <a:off x="7454900" y="5518150"/>
              <a:ext cx="228600" cy="127000"/>
            </a:xfrm>
            <a:prstGeom prst="rect">
              <a:avLst/>
            </a:prstGeom>
            <a:solidFill>
              <a:srgbClr val="0047FF"/>
            </a:solidFill>
            <a:ln>
              <a:noFill/>
            </a:ln>
          </p:spPr>
        </p:sp>
        <p:sp>
          <p:nvSpPr>
            <p:cNvPr id="103" name="node02.items.slot-004.text"/>
            <p:cNvSpPr/>
            <p:nvPr/>
          </p:nvSpPr>
          <p:spPr>
            <a:xfrm>
              <a:off x="7747000" y="5486400"/>
              <a:ext cx="6223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Managed</a:t>
              </a:r>
              <a:endParaRPr lang="en-US" sz="1100" spc="0" kern="0" b="0" i="0" dirty="0">
                <a:solidFill>
                  <a:srgbClr val="070154"/>
                </a:solidFill>
                <a:latin typeface="IBM Plex Sans"/>
                <a:ea typeface="IBM Plex Sans"/>
                <a:cs typeface="IBM Plex Sans"/>
              </a:endParaRPr>
            </a:p>
          </p:txBody>
        </p:sp>
        <p:sp>
          <p:nvSpPr>
            <p:cNvPr id="104" name="node02.items.slot-005.swatch"/>
            <p:cNvSpPr/>
            <p:nvPr/>
          </p:nvSpPr>
          <p:spPr>
            <a:xfrm>
              <a:off x="8597900" y="5518150"/>
              <a:ext cx="228600" cy="127000"/>
            </a:xfrm>
            <a:prstGeom prst="rect">
              <a:avLst/>
            </a:prstGeom>
            <a:solidFill>
              <a:srgbClr val="070154"/>
            </a:solidFill>
            <a:ln>
              <a:noFill/>
            </a:ln>
          </p:spPr>
        </p:sp>
        <p:sp>
          <p:nvSpPr>
            <p:cNvPr id="105" name="node02.items.slot-005.text"/>
            <p:cNvSpPr/>
            <p:nvPr/>
          </p:nvSpPr>
          <p:spPr>
            <a:xfrm>
              <a:off x="8890000" y="5486400"/>
              <a:ext cx="6937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Optimized</a:t>
              </a:r>
              <a:endParaRPr lang="en-US" sz="1100" spc="0" kern="0" b="0" i="0" dirty="0">
                <a:solidFill>
                  <a:srgbClr val="070154"/>
                </a:solidFill>
                <a:latin typeface="IBM Plex Sans"/>
                <a:ea typeface="IBM Plex Sans"/>
                <a:cs typeface="IBM Plex Sans"/>
              </a:endParaRPr>
            </a:p>
          </p:txBody>
        </p:sp>
      </p:grpSp>
      <p:grpSp>
        <p:nvGrpSpPr>
          <p:cNvPr id="118" name="node03"/>
          <p:cNvGrpSpPr/>
          <p:nvPr/>
        </p:nvGrpSpPr>
        <p:grpSpPr>
          <a:xfrm>
            <a:off x="723900" y="2286000"/>
            <a:ext cx="3429000" cy="1371600"/>
            <a:chOff x="723900" y="2286000"/>
            <a:chExt cx="3429000" cy="1371600"/>
          </a:xfrm>
        </p:grpSpPr>
        <p:sp>
          <p:nvSpPr>
            <p:cNvPr id="106" name="node03.source-001.bullet"/>
            <p:cNvSpPr/>
            <p:nvPr/>
          </p:nvSpPr>
          <p:spPr>
            <a:xfrm>
              <a:off x="723900" y="2374900"/>
              <a:ext cx="38100" cy="38100"/>
            </a:xfrm>
            <a:prstGeom prst="rect">
              <a:avLst/>
            </a:prstGeom>
            <a:solidFill>
              <a:srgbClr val="070154"/>
            </a:solidFill>
            <a:ln>
              <a:noFill/>
            </a:ln>
          </p:spPr>
        </p:sp>
        <p:sp>
          <p:nvSpPr>
            <p:cNvPr id="107" name="node03.source-001.text"/>
            <p:cNvSpPr/>
            <p:nvPr/>
          </p:nvSpPr>
          <p:spPr>
            <a:xfrm>
              <a:off x="876300" y="22860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Strong core.</a:t>
              </a:r>
              <a:r>
                <a:rPr lang="en-US" sz="1200" spc="0" kern="0" b="0" i="0" dirty="0">
                  <a:solidFill>
                    <a:srgbClr val="50658E"/>
                  </a:solidFill>
                  <a:latin typeface="IBM Plex Sans"/>
                  <a:ea typeface="IBM Plex Sans"/>
                  <a:cs typeface="IBM Plex Sans"/>
                </a:rPr>
                <a:t xml:space="preserve"> Revenue cycle and documentation reach level 3 or better at the main campus.</a:t>
              </a:r>
              <a:endParaRPr lang="en-US" sz="1200" spc="0" kern="0" b="0" i="0" dirty="0">
                <a:solidFill>
                  <a:srgbClr val="070154"/>
                </a:solidFill>
                <a:latin typeface="IBM Plex Sans"/>
                <a:ea typeface="IBM Plex Sans"/>
                <a:cs typeface="IBM Plex Sans"/>
              </a:endParaRPr>
            </a:p>
          </p:txBody>
        </p:sp>
        <p:sp>
          <p:nvSpPr>
            <p:cNvPr id="108" name="node03.source-002.bullet"/>
            <p:cNvSpPr/>
            <p:nvPr/>
          </p:nvSpPr>
          <p:spPr>
            <a:xfrm>
              <a:off x="723900" y="2844800"/>
              <a:ext cx="38100" cy="38100"/>
            </a:xfrm>
            <a:prstGeom prst="rect">
              <a:avLst/>
            </a:prstGeom>
            <a:solidFill>
              <a:srgbClr val="070154"/>
            </a:solidFill>
            <a:ln>
              <a:noFill/>
            </a:ln>
          </p:spPr>
        </p:sp>
        <p:sp>
          <p:nvSpPr>
            <p:cNvPr id="109" name="node03.source-002.text"/>
            <p:cNvSpPr/>
            <p:nvPr/>
          </p:nvSpPr>
          <p:spPr>
            <a:xfrm>
              <a:off x="876300" y="27559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Uneven spread.</a:t>
              </a:r>
              <a:r>
                <a:rPr lang="en-US" sz="1200" spc="0" kern="0" b="0" i="0" dirty="0">
                  <a:solidFill>
                    <a:srgbClr val="50658E"/>
                  </a:solidFill>
                  <a:latin typeface="IBM Plex Sans"/>
                  <a:ea typeface="IBM Plex Sans"/>
                  <a:cs typeface="IBM Plex Sans"/>
                </a:rPr>
                <a:t xml:space="preserve"> Only the main campus holds a level 3 or 4 in more than half the rows.</a:t>
              </a:r>
              <a:endParaRPr lang="en-US" sz="1200" spc="0" kern="0" b="0" i="0" dirty="0">
                <a:solidFill>
                  <a:srgbClr val="070154"/>
                </a:solidFill>
                <a:latin typeface="IBM Plex Sans"/>
                <a:ea typeface="IBM Plex Sans"/>
                <a:cs typeface="IBM Plex Sans"/>
              </a:endParaRPr>
            </a:p>
          </p:txBody>
        </p:sp>
        <p:sp>
          <p:nvSpPr>
            <p:cNvPr id="110" name="node03.source-003.bullet"/>
            <p:cNvSpPr/>
            <p:nvPr/>
          </p:nvSpPr>
          <p:spPr>
            <a:xfrm>
              <a:off x="723900" y="3314700"/>
              <a:ext cx="38100" cy="38100"/>
            </a:xfrm>
            <a:prstGeom prst="rect">
              <a:avLst/>
            </a:prstGeom>
            <a:solidFill>
              <a:srgbClr val="070154"/>
            </a:solidFill>
            <a:ln>
              <a:noFill/>
            </a:ln>
          </p:spPr>
        </p:sp>
        <p:sp>
          <p:nvSpPr>
            <p:cNvPr id="111" name="node03.source-003.text"/>
            <p:cNvSpPr/>
            <p:nvPr/>
          </p:nvSpPr>
          <p:spPr>
            <a:xfrm>
              <a:off x="876300" y="32258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Thin edge.</a:t>
              </a:r>
              <a:r>
                <a:rPr lang="en-US" sz="1200" spc="0" kern="0" b="0" i="0" dirty="0">
                  <a:solidFill>
                    <a:srgbClr val="50658E"/>
                  </a:solidFill>
                  <a:latin typeface="IBM Plex Sans"/>
                  <a:ea typeface="IBM Plex Sans"/>
                  <a:cs typeface="IBM Plex Sans"/>
                </a:rPr>
                <a:t xml:space="preserve"> Harbor has no capability above level 2, and two sit at level 0.</a:t>
              </a:r>
              <a:endParaRPr lang="en-US" sz="1200" spc="0" kern="0" b="0" i="0" dirty="0">
                <a:solidFill>
                  <a:srgbClr val="070154"/>
                </a:solidFill>
                <a:latin typeface="IBM Plex Sans"/>
                <a:ea typeface="IBM Plex Sans"/>
                <a:cs typeface="IBM Plex Sans"/>
              </a:endParaRPr>
            </a:p>
          </p:txBody>
        </p:sp>
      </p:grpSp>
      <p:grpSp>
        <p:nvGrpSpPr>
          <p:cNvPr id="119" name="node04"/>
          <p:cNvGrpSpPr/>
          <p:nvPr/>
        </p:nvGrpSpPr>
        <p:grpSpPr>
          <a:xfrm>
            <a:off x="723900" y="3886200"/>
            <a:ext cx="3429000" cy="1475169"/>
            <a:chOff x="723900" y="3886200"/>
            <a:chExt cx="3429000" cy="1475169"/>
          </a:xfrm>
        </p:grpSpPr>
        <p:sp>
          <p:nvSpPr>
            <p:cNvPr id="112" name="node04.container"/>
            <p:cNvSpPr/>
            <p:nvPr/>
          </p:nvSpPr>
          <p:spPr>
            <a:xfrm>
              <a:off x="723900" y="3886200"/>
              <a:ext cx="3429000" cy="1475169"/>
            </a:xfrm>
            <a:prstGeom prst="rect">
              <a:avLst/>
            </a:prstGeom>
            <a:solidFill>
              <a:srgbClr val="F900D3"/>
            </a:solidFill>
            <a:ln>
              <a:noFill/>
            </a:ln>
          </p:spPr>
        </p:sp>
        <p:sp>
          <p:nvSpPr>
            <p:cNvPr id="113" name="node04.eyebrow"/>
            <p:cNvSpPr/>
            <p:nvPr/>
          </p:nvSpPr>
          <p:spPr>
            <a:xfrm>
              <a:off x="952500" y="4114800"/>
              <a:ext cx="29718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70154"/>
                  </a:solidFill>
                  <a:latin typeface="IBM Plex Mono SemiBold"/>
                  <a:ea typeface="IBM Plex Mono SemiBold"/>
                  <a:cs typeface="IBM Plex Mono SemiBold"/>
                </a:rPr>
                <a:t>LIFT FIRST</a:t>
              </a:r>
              <a:endParaRPr lang="en-US" sz="900" spc="72" kern="0" b="0" i="0" dirty="0">
                <a:solidFill>
                  <a:srgbClr val="070154"/>
                </a:solidFill>
                <a:latin typeface="IBM Plex Mono SemiBold"/>
                <a:ea typeface="IBM Plex Mono SemiBold"/>
                <a:cs typeface="IBM Plex Mono SemiBold"/>
              </a:endParaRPr>
            </a:p>
          </p:txBody>
        </p:sp>
        <p:sp>
          <p:nvSpPr>
            <p:cNvPr id="114" name="node04.metric.value"/>
            <p:cNvSpPr/>
            <p:nvPr/>
          </p:nvSpPr>
          <p:spPr>
            <a:xfrm>
              <a:off x="952500" y="4330700"/>
              <a:ext cx="29718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FFFFFF"/>
                  </a:solidFill>
                  <a:latin typeface="IBM Plex Mono SemiBold"/>
                  <a:ea typeface="IBM Plex Mono SemiBold"/>
                  <a:cs typeface="IBM Plex Mono SemiBold"/>
                </a:rPr>
                <a:t>3</a:t>
              </a:r>
              <a:endParaRPr lang="en-US" sz="4000" spc="-80" kern="0" b="0" i="0" dirty="0">
                <a:solidFill>
                  <a:srgbClr val="FFFFFF"/>
                </a:solidFill>
                <a:latin typeface="IBM Plex Mono SemiBold"/>
                <a:ea typeface="IBM Plex Mono SemiBold"/>
                <a:cs typeface="IBM Plex Mono SemiBold"/>
              </a:endParaRPr>
            </a:p>
          </p:txBody>
        </p:sp>
        <p:sp>
          <p:nvSpPr>
            <p:cNvPr id="115" name="node04.metric.label"/>
            <p:cNvSpPr/>
            <p:nvPr/>
          </p:nvSpPr>
          <p:spPr>
            <a:xfrm>
              <a:off x="952500" y="4916869"/>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capabilities at Ridgeview and Harbor.</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ource-07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GAPS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row carries the largest gap to target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assessment,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61</a:t>
            </a:fld>
            <a:endParaRPr lang="en-US" sz="700" spc="0" kern="0" b="0" i="0" dirty="0">
              <a:solidFill>
                <a:srgbClr val="070154"/>
              </a:solidFill>
              <a:latin typeface="IBM Plex Mono SemiBold"/>
              <a:ea typeface="IBM Plex Mono SemiBold"/>
              <a:cs typeface="IBM Plex Mono SemiBold"/>
            </a:endParaRPr>
          </a:p>
        </p:txBody>
      </p:sp>
      <p:grpSp>
        <p:nvGrpSpPr>
          <p:cNvPr id="84" name="node01"/>
          <p:cNvGrpSpPr/>
          <p:nvPr/>
        </p:nvGrpSpPr>
        <p:grpSpPr>
          <a:xfrm>
            <a:off x="723900" y="1600200"/>
            <a:ext cx="5715000" cy="3657600"/>
            <a:chOff x="723900" y="1600200"/>
            <a:chExt cx="5715000" cy="3657600"/>
          </a:xfrm>
        </p:grpSpPr>
        <p:sp>
          <p:nvSpPr>
            <p:cNvPr id="7" name="node01.row.item-001.c1.heat-gap"/>
            <p:cNvSpPr/>
            <p:nvPr/>
          </p:nvSpPr>
          <p:spPr>
            <a:xfrm>
              <a:off x="2781300" y="2057400"/>
              <a:ext cx="914400" cy="457200"/>
            </a:xfrm>
            <a:prstGeom prst="rect">
              <a:avLst/>
            </a:prstGeom>
            <a:solidFill>
              <a:srgbClr val="FFFFFF"/>
            </a:solidFill>
            <a:ln>
              <a:noFill/>
            </a:ln>
          </p:spPr>
        </p:sp>
        <p:sp>
          <p:nvSpPr>
            <p:cNvPr id="8" name="node01.row.item-001.c1.heat"/>
            <p:cNvSpPr/>
            <p:nvPr/>
          </p:nvSpPr>
          <p:spPr>
            <a:xfrm>
              <a:off x="2800350" y="2076450"/>
              <a:ext cx="876300" cy="419100"/>
            </a:xfrm>
            <a:prstGeom prst="rect">
              <a:avLst/>
            </a:prstGeom>
            <a:solidFill>
              <a:srgbClr val="CED7E6"/>
            </a:solidFill>
            <a:ln>
              <a:noFill/>
            </a:ln>
          </p:spPr>
        </p:sp>
        <p:sp>
          <p:nvSpPr>
            <p:cNvPr id="9" name="node01.row.item-001.c2.heat-gap"/>
            <p:cNvSpPr/>
            <p:nvPr/>
          </p:nvSpPr>
          <p:spPr>
            <a:xfrm>
              <a:off x="3695700" y="2057400"/>
              <a:ext cx="914400" cy="457200"/>
            </a:xfrm>
            <a:prstGeom prst="rect">
              <a:avLst/>
            </a:prstGeom>
            <a:solidFill>
              <a:srgbClr val="FFFFFF"/>
            </a:solidFill>
            <a:ln>
              <a:noFill/>
            </a:ln>
          </p:spPr>
        </p:sp>
        <p:sp>
          <p:nvSpPr>
            <p:cNvPr id="10" name="node01.row.item-001.c2.heat"/>
            <p:cNvSpPr/>
            <p:nvPr/>
          </p:nvSpPr>
          <p:spPr>
            <a:xfrm>
              <a:off x="3714750" y="2076450"/>
              <a:ext cx="876300" cy="419100"/>
            </a:xfrm>
            <a:prstGeom prst="rect">
              <a:avLst/>
            </a:prstGeom>
            <a:solidFill>
              <a:srgbClr val="F3D6EE"/>
            </a:solidFill>
            <a:ln>
              <a:noFill/>
            </a:ln>
          </p:spPr>
        </p:sp>
        <p:sp>
          <p:nvSpPr>
            <p:cNvPr id="11" name="node01.row.item-001.c3.heat-gap"/>
            <p:cNvSpPr/>
            <p:nvPr/>
          </p:nvSpPr>
          <p:spPr>
            <a:xfrm>
              <a:off x="4610100" y="2057400"/>
              <a:ext cx="914400" cy="457200"/>
            </a:xfrm>
            <a:prstGeom prst="rect">
              <a:avLst/>
            </a:prstGeom>
            <a:solidFill>
              <a:srgbClr val="FFFFFF"/>
            </a:solidFill>
            <a:ln>
              <a:noFill/>
            </a:ln>
          </p:spPr>
        </p:sp>
        <p:sp>
          <p:nvSpPr>
            <p:cNvPr id="12" name="node01.row.item-001.c3.heat"/>
            <p:cNvSpPr/>
            <p:nvPr/>
          </p:nvSpPr>
          <p:spPr>
            <a:xfrm>
              <a:off x="4629150" y="2076450"/>
              <a:ext cx="876300" cy="419100"/>
            </a:xfrm>
            <a:prstGeom prst="rect">
              <a:avLst/>
            </a:prstGeom>
            <a:solidFill>
              <a:srgbClr val="F3D6EE"/>
            </a:solidFill>
            <a:ln>
              <a:noFill/>
            </a:ln>
          </p:spPr>
        </p:sp>
        <p:sp>
          <p:nvSpPr>
            <p:cNvPr id="13" name="node01.row.item-001.c4.heat-gap"/>
            <p:cNvSpPr/>
            <p:nvPr/>
          </p:nvSpPr>
          <p:spPr>
            <a:xfrm>
              <a:off x="5524500" y="2057400"/>
              <a:ext cx="914400" cy="457200"/>
            </a:xfrm>
            <a:prstGeom prst="rect">
              <a:avLst/>
            </a:prstGeom>
            <a:solidFill>
              <a:srgbClr val="FFFFFF"/>
            </a:solidFill>
            <a:ln>
              <a:noFill/>
            </a:ln>
          </p:spPr>
        </p:sp>
        <p:sp>
          <p:nvSpPr>
            <p:cNvPr id="14" name="node01.row.item-001.c4.heat"/>
            <p:cNvSpPr/>
            <p:nvPr/>
          </p:nvSpPr>
          <p:spPr>
            <a:xfrm>
              <a:off x="5543550" y="2076450"/>
              <a:ext cx="876300" cy="419100"/>
            </a:xfrm>
            <a:prstGeom prst="rect">
              <a:avLst/>
            </a:prstGeom>
            <a:solidFill>
              <a:srgbClr val="FB7FE8"/>
            </a:solidFill>
            <a:ln>
              <a:noFill/>
            </a:ln>
          </p:spPr>
        </p:sp>
        <p:sp>
          <p:nvSpPr>
            <p:cNvPr id="15" name="node01.row.item-002.c1.heat-gap"/>
            <p:cNvSpPr/>
            <p:nvPr/>
          </p:nvSpPr>
          <p:spPr>
            <a:xfrm>
              <a:off x="2781300" y="2514600"/>
              <a:ext cx="914400" cy="457200"/>
            </a:xfrm>
            <a:prstGeom prst="rect">
              <a:avLst/>
            </a:prstGeom>
            <a:solidFill>
              <a:srgbClr val="FFFFFF"/>
            </a:solidFill>
            <a:ln>
              <a:noFill/>
            </a:ln>
          </p:spPr>
        </p:sp>
        <p:sp>
          <p:nvSpPr>
            <p:cNvPr id="16" name="node01.row.item-002.c1.heat"/>
            <p:cNvSpPr/>
            <p:nvPr/>
          </p:nvSpPr>
          <p:spPr>
            <a:xfrm>
              <a:off x="2800350" y="2533650"/>
              <a:ext cx="876300" cy="419100"/>
            </a:xfrm>
            <a:prstGeom prst="rect">
              <a:avLst/>
            </a:prstGeom>
            <a:solidFill>
              <a:srgbClr val="F3D6EE"/>
            </a:solidFill>
            <a:ln>
              <a:noFill/>
            </a:ln>
          </p:spPr>
        </p:sp>
        <p:sp>
          <p:nvSpPr>
            <p:cNvPr id="17" name="node01.row.item-002.c2.heat-gap"/>
            <p:cNvSpPr/>
            <p:nvPr/>
          </p:nvSpPr>
          <p:spPr>
            <a:xfrm>
              <a:off x="3695700" y="2514600"/>
              <a:ext cx="914400" cy="457200"/>
            </a:xfrm>
            <a:prstGeom prst="rect">
              <a:avLst/>
            </a:prstGeom>
            <a:solidFill>
              <a:srgbClr val="FFFFFF"/>
            </a:solidFill>
            <a:ln>
              <a:noFill/>
            </a:ln>
          </p:spPr>
        </p:sp>
        <p:sp>
          <p:nvSpPr>
            <p:cNvPr id="18" name="node01.row.item-002.c2.heat"/>
            <p:cNvSpPr/>
            <p:nvPr/>
          </p:nvSpPr>
          <p:spPr>
            <a:xfrm>
              <a:off x="3714750" y="2533650"/>
              <a:ext cx="876300" cy="419100"/>
            </a:xfrm>
            <a:prstGeom prst="rect">
              <a:avLst/>
            </a:prstGeom>
            <a:solidFill>
              <a:srgbClr val="F3D6EE"/>
            </a:solidFill>
            <a:ln>
              <a:noFill/>
            </a:ln>
          </p:spPr>
        </p:sp>
        <p:sp>
          <p:nvSpPr>
            <p:cNvPr id="19" name="node01.row.item-002.c3.heat-gap"/>
            <p:cNvSpPr/>
            <p:nvPr/>
          </p:nvSpPr>
          <p:spPr>
            <a:xfrm>
              <a:off x="4610100" y="2514600"/>
              <a:ext cx="914400" cy="457200"/>
            </a:xfrm>
            <a:prstGeom prst="rect">
              <a:avLst/>
            </a:prstGeom>
            <a:solidFill>
              <a:srgbClr val="FFFFFF"/>
            </a:solidFill>
            <a:ln>
              <a:noFill/>
            </a:ln>
          </p:spPr>
        </p:sp>
        <p:sp>
          <p:nvSpPr>
            <p:cNvPr id="20" name="node01.row.item-002.c3.heat"/>
            <p:cNvSpPr/>
            <p:nvPr/>
          </p:nvSpPr>
          <p:spPr>
            <a:xfrm>
              <a:off x="4629150" y="2533650"/>
              <a:ext cx="876300" cy="419100"/>
            </a:xfrm>
            <a:prstGeom prst="rect">
              <a:avLst/>
            </a:prstGeom>
            <a:solidFill>
              <a:srgbClr val="FB7FE8"/>
            </a:solidFill>
            <a:ln>
              <a:noFill/>
            </a:ln>
          </p:spPr>
        </p:sp>
        <p:sp>
          <p:nvSpPr>
            <p:cNvPr id="21" name="node01.row.item-002.c4.heat-gap"/>
            <p:cNvSpPr/>
            <p:nvPr/>
          </p:nvSpPr>
          <p:spPr>
            <a:xfrm>
              <a:off x="5524500" y="2514600"/>
              <a:ext cx="914400" cy="457200"/>
            </a:xfrm>
            <a:prstGeom prst="rect">
              <a:avLst/>
            </a:prstGeom>
            <a:solidFill>
              <a:srgbClr val="FFFFFF"/>
            </a:solidFill>
            <a:ln>
              <a:noFill/>
            </a:ln>
          </p:spPr>
        </p:sp>
        <p:sp>
          <p:nvSpPr>
            <p:cNvPr id="22" name="node01.row.item-002.c4.heat"/>
            <p:cNvSpPr/>
            <p:nvPr/>
          </p:nvSpPr>
          <p:spPr>
            <a:xfrm>
              <a:off x="5543550" y="2533650"/>
              <a:ext cx="876300" cy="419100"/>
            </a:xfrm>
            <a:prstGeom prst="rect">
              <a:avLst/>
            </a:prstGeom>
            <a:solidFill>
              <a:srgbClr val="FB7FE8"/>
            </a:solidFill>
            <a:ln>
              <a:noFill/>
            </a:ln>
          </p:spPr>
        </p:sp>
        <p:sp>
          <p:nvSpPr>
            <p:cNvPr id="23" name="node01.row.item-003.c1.heat-gap"/>
            <p:cNvSpPr/>
            <p:nvPr/>
          </p:nvSpPr>
          <p:spPr>
            <a:xfrm>
              <a:off x="2781300" y="2971800"/>
              <a:ext cx="914400" cy="457200"/>
            </a:xfrm>
            <a:prstGeom prst="rect">
              <a:avLst/>
            </a:prstGeom>
            <a:solidFill>
              <a:srgbClr val="FFFFFF"/>
            </a:solidFill>
            <a:ln>
              <a:noFill/>
            </a:ln>
          </p:spPr>
        </p:sp>
        <p:sp>
          <p:nvSpPr>
            <p:cNvPr id="24" name="node01.row.item-003.c1.heat"/>
            <p:cNvSpPr/>
            <p:nvPr/>
          </p:nvSpPr>
          <p:spPr>
            <a:xfrm>
              <a:off x="2800350" y="2990850"/>
              <a:ext cx="876300" cy="419100"/>
            </a:xfrm>
            <a:prstGeom prst="rect">
              <a:avLst/>
            </a:prstGeom>
            <a:solidFill>
              <a:srgbClr val="CED7E6"/>
            </a:solidFill>
            <a:ln>
              <a:noFill/>
            </a:ln>
          </p:spPr>
        </p:sp>
        <p:sp>
          <p:nvSpPr>
            <p:cNvPr id="25" name="node01.row.item-003.c2.heat-gap"/>
            <p:cNvSpPr/>
            <p:nvPr/>
          </p:nvSpPr>
          <p:spPr>
            <a:xfrm>
              <a:off x="3695700" y="2971800"/>
              <a:ext cx="914400" cy="457200"/>
            </a:xfrm>
            <a:prstGeom prst="rect">
              <a:avLst/>
            </a:prstGeom>
            <a:solidFill>
              <a:srgbClr val="FFFFFF"/>
            </a:solidFill>
            <a:ln>
              <a:noFill/>
            </a:ln>
          </p:spPr>
        </p:sp>
        <p:sp>
          <p:nvSpPr>
            <p:cNvPr id="26" name="node01.row.item-003.c2.heat"/>
            <p:cNvSpPr/>
            <p:nvPr/>
          </p:nvSpPr>
          <p:spPr>
            <a:xfrm>
              <a:off x="3714750" y="2990850"/>
              <a:ext cx="876300" cy="419100"/>
            </a:xfrm>
            <a:prstGeom prst="rect">
              <a:avLst/>
            </a:prstGeom>
            <a:solidFill>
              <a:srgbClr val="CED7E6"/>
            </a:solidFill>
            <a:ln>
              <a:noFill/>
            </a:ln>
          </p:spPr>
        </p:sp>
        <p:sp>
          <p:nvSpPr>
            <p:cNvPr id="27" name="node01.row.item-003.c3.heat-gap"/>
            <p:cNvSpPr/>
            <p:nvPr/>
          </p:nvSpPr>
          <p:spPr>
            <a:xfrm>
              <a:off x="4610100" y="2971800"/>
              <a:ext cx="914400" cy="457200"/>
            </a:xfrm>
            <a:prstGeom prst="rect">
              <a:avLst/>
            </a:prstGeom>
            <a:solidFill>
              <a:srgbClr val="FFFFFF"/>
            </a:solidFill>
            <a:ln>
              <a:noFill/>
            </a:ln>
          </p:spPr>
        </p:sp>
        <p:sp>
          <p:nvSpPr>
            <p:cNvPr id="28" name="node01.row.item-003.c3.heat"/>
            <p:cNvSpPr/>
            <p:nvPr/>
          </p:nvSpPr>
          <p:spPr>
            <a:xfrm>
              <a:off x="4629150" y="2990850"/>
              <a:ext cx="876300" cy="419100"/>
            </a:xfrm>
            <a:prstGeom prst="rect">
              <a:avLst/>
            </a:prstGeom>
            <a:solidFill>
              <a:srgbClr val="F3D6EE"/>
            </a:solidFill>
            <a:ln>
              <a:noFill/>
            </a:ln>
          </p:spPr>
        </p:sp>
        <p:sp>
          <p:nvSpPr>
            <p:cNvPr id="29" name="node01.row.item-003.c4.heat-gap"/>
            <p:cNvSpPr/>
            <p:nvPr/>
          </p:nvSpPr>
          <p:spPr>
            <a:xfrm>
              <a:off x="5524500" y="2971800"/>
              <a:ext cx="914400" cy="457200"/>
            </a:xfrm>
            <a:prstGeom prst="rect">
              <a:avLst/>
            </a:prstGeom>
            <a:solidFill>
              <a:srgbClr val="FFFFFF"/>
            </a:solidFill>
            <a:ln>
              <a:noFill/>
            </a:ln>
          </p:spPr>
        </p:sp>
        <p:sp>
          <p:nvSpPr>
            <p:cNvPr id="30" name="node01.row.item-003.c4.heat"/>
            <p:cNvSpPr/>
            <p:nvPr/>
          </p:nvSpPr>
          <p:spPr>
            <a:xfrm>
              <a:off x="5543550" y="2990850"/>
              <a:ext cx="876300" cy="419100"/>
            </a:xfrm>
            <a:prstGeom prst="rect">
              <a:avLst/>
            </a:prstGeom>
            <a:solidFill>
              <a:srgbClr val="FB7FE8"/>
            </a:solidFill>
            <a:ln>
              <a:noFill/>
            </a:ln>
          </p:spPr>
        </p:sp>
        <p:sp>
          <p:nvSpPr>
            <p:cNvPr id="31" name="node01.row.item-004.c1.heat-gap"/>
            <p:cNvSpPr/>
            <p:nvPr/>
          </p:nvSpPr>
          <p:spPr>
            <a:xfrm>
              <a:off x="2781300" y="3429000"/>
              <a:ext cx="914400" cy="457200"/>
            </a:xfrm>
            <a:prstGeom prst="rect">
              <a:avLst/>
            </a:prstGeom>
            <a:solidFill>
              <a:srgbClr val="FFFFFF"/>
            </a:solidFill>
            <a:ln>
              <a:noFill/>
            </a:ln>
          </p:spPr>
        </p:sp>
        <p:sp>
          <p:nvSpPr>
            <p:cNvPr id="32" name="node01.row.item-004.c1.heat"/>
            <p:cNvSpPr/>
            <p:nvPr/>
          </p:nvSpPr>
          <p:spPr>
            <a:xfrm>
              <a:off x="2800350" y="3448050"/>
              <a:ext cx="876300" cy="419100"/>
            </a:xfrm>
            <a:prstGeom prst="rect">
              <a:avLst/>
            </a:prstGeom>
            <a:solidFill>
              <a:srgbClr val="CED7E6"/>
            </a:solidFill>
            <a:ln>
              <a:noFill/>
            </a:ln>
          </p:spPr>
        </p:sp>
        <p:sp>
          <p:nvSpPr>
            <p:cNvPr id="33" name="node01.row.item-004.c2.heat-gap"/>
            <p:cNvSpPr/>
            <p:nvPr/>
          </p:nvSpPr>
          <p:spPr>
            <a:xfrm>
              <a:off x="3695700" y="3429000"/>
              <a:ext cx="914400" cy="457200"/>
            </a:xfrm>
            <a:prstGeom prst="rect">
              <a:avLst/>
            </a:prstGeom>
            <a:solidFill>
              <a:srgbClr val="FFFFFF"/>
            </a:solidFill>
            <a:ln>
              <a:noFill/>
            </a:ln>
          </p:spPr>
        </p:sp>
        <p:sp>
          <p:nvSpPr>
            <p:cNvPr id="34" name="node01.row.item-004.c2.heat"/>
            <p:cNvSpPr/>
            <p:nvPr/>
          </p:nvSpPr>
          <p:spPr>
            <a:xfrm>
              <a:off x="3714750" y="3448050"/>
              <a:ext cx="876300" cy="419100"/>
            </a:xfrm>
            <a:prstGeom prst="rect">
              <a:avLst/>
            </a:prstGeom>
            <a:solidFill>
              <a:srgbClr val="F3D6EE"/>
            </a:solidFill>
            <a:ln>
              <a:noFill/>
            </a:ln>
          </p:spPr>
        </p:sp>
        <p:sp>
          <p:nvSpPr>
            <p:cNvPr id="35" name="node01.row.item-004.c3.heat-gap"/>
            <p:cNvSpPr/>
            <p:nvPr/>
          </p:nvSpPr>
          <p:spPr>
            <a:xfrm>
              <a:off x="4610100" y="3429000"/>
              <a:ext cx="914400" cy="457200"/>
            </a:xfrm>
            <a:prstGeom prst="rect">
              <a:avLst/>
            </a:prstGeom>
            <a:solidFill>
              <a:srgbClr val="FFFFFF"/>
            </a:solidFill>
            <a:ln>
              <a:noFill/>
            </a:ln>
          </p:spPr>
        </p:sp>
        <p:sp>
          <p:nvSpPr>
            <p:cNvPr id="36" name="node01.row.item-004.c3.heat"/>
            <p:cNvSpPr/>
            <p:nvPr/>
          </p:nvSpPr>
          <p:spPr>
            <a:xfrm>
              <a:off x="4629150" y="3448050"/>
              <a:ext cx="876300" cy="419100"/>
            </a:xfrm>
            <a:prstGeom prst="rect">
              <a:avLst/>
            </a:prstGeom>
            <a:solidFill>
              <a:srgbClr val="F3D6EE"/>
            </a:solidFill>
            <a:ln>
              <a:noFill/>
            </a:ln>
          </p:spPr>
        </p:sp>
        <p:sp>
          <p:nvSpPr>
            <p:cNvPr id="37" name="node01.row.item-004.c4.heat-gap"/>
            <p:cNvSpPr/>
            <p:nvPr/>
          </p:nvSpPr>
          <p:spPr>
            <a:xfrm>
              <a:off x="5524500" y="3429000"/>
              <a:ext cx="914400" cy="457200"/>
            </a:xfrm>
            <a:prstGeom prst="rect">
              <a:avLst/>
            </a:prstGeom>
            <a:solidFill>
              <a:srgbClr val="FFFFFF"/>
            </a:solidFill>
            <a:ln>
              <a:noFill/>
            </a:ln>
          </p:spPr>
        </p:sp>
        <p:sp>
          <p:nvSpPr>
            <p:cNvPr id="38" name="node01.row.item-004.c4.heat"/>
            <p:cNvSpPr/>
            <p:nvPr/>
          </p:nvSpPr>
          <p:spPr>
            <a:xfrm>
              <a:off x="5543550" y="3448050"/>
              <a:ext cx="876300" cy="419100"/>
            </a:xfrm>
            <a:prstGeom prst="rect">
              <a:avLst/>
            </a:prstGeom>
            <a:solidFill>
              <a:srgbClr val="F3D6EE"/>
            </a:solidFill>
            <a:ln>
              <a:noFill/>
            </a:ln>
          </p:spPr>
        </p:sp>
        <p:sp>
          <p:nvSpPr>
            <p:cNvPr id="39" name="node01.row.item-005.c1.heat-gap"/>
            <p:cNvSpPr/>
            <p:nvPr/>
          </p:nvSpPr>
          <p:spPr>
            <a:xfrm>
              <a:off x="2781300" y="3886200"/>
              <a:ext cx="914400" cy="457200"/>
            </a:xfrm>
            <a:prstGeom prst="rect">
              <a:avLst/>
            </a:prstGeom>
            <a:solidFill>
              <a:srgbClr val="FFFFFF"/>
            </a:solidFill>
            <a:ln>
              <a:noFill/>
            </a:ln>
          </p:spPr>
        </p:sp>
        <p:sp>
          <p:nvSpPr>
            <p:cNvPr id="40" name="node01.row.item-005.c1.heat"/>
            <p:cNvSpPr/>
            <p:nvPr/>
          </p:nvSpPr>
          <p:spPr>
            <a:xfrm>
              <a:off x="2800350" y="3905250"/>
              <a:ext cx="876300" cy="419100"/>
            </a:xfrm>
            <a:prstGeom prst="rect">
              <a:avLst/>
            </a:prstGeom>
            <a:solidFill>
              <a:srgbClr val="F3D6EE"/>
            </a:solidFill>
            <a:ln>
              <a:noFill/>
            </a:ln>
          </p:spPr>
        </p:sp>
        <p:sp>
          <p:nvSpPr>
            <p:cNvPr id="41" name="node01.row.item-005.c2.heat-gap"/>
            <p:cNvSpPr/>
            <p:nvPr/>
          </p:nvSpPr>
          <p:spPr>
            <a:xfrm>
              <a:off x="3695700" y="3886200"/>
              <a:ext cx="914400" cy="457200"/>
            </a:xfrm>
            <a:prstGeom prst="rect">
              <a:avLst/>
            </a:prstGeom>
            <a:solidFill>
              <a:srgbClr val="FFFFFF"/>
            </a:solidFill>
            <a:ln>
              <a:noFill/>
            </a:ln>
          </p:spPr>
        </p:sp>
        <p:sp>
          <p:nvSpPr>
            <p:cNvPr id="42" name="node01.row.item-005.c2.heat"/>
            <p:cNvSpPr/>
            <p:nvPr/>
          </p:nvSpPr>
          <p:spPr>
            <a:xfrm>
              <a:off x="3714750" y="3905250"/>
              <a:ext cx="876300" cy="419100"/>
            </a:xfrm>
            <a:prstGeom prst="rect">
              <a:avLst/>
            </a:prstGeom>
            <a:solidFill>
              <a:srgbClr val="F3D6EE"/>
            </a:solidFill>
            <a:ln>
              <a:noFill/>
            </a:ln>
          </p:spPr>
        </p:sp>
        <p:sp>
          <p:nvSpPr>
            <p:cNvPr id="43" name="node01.row.item-005.c3.heat-gap"/>
            <p:cNvSpPr/>
            <p:nvPr/>
          </p:nvSpPr>
          <p:spPr>
            <a:xfrm>
              <a:off x="4610100" y="3886200"/>
              <a:ext cx="914400" cy="457200"/>
            </a:xfrm>
            <a:prstGeom prst="rect">
              <a:avLst/>
            </a:prstGeom>
            <a:solidFill>
              <a:srgbClr val="FFFFFF"/>
            </a:solidFill>
            <a:ln>
              <a:noFill/>
            </a:ln>
          </p:spPr>
        </p:sp>
        <p:sp>
          <p:nvSpPr>
            <p:cNvPr id="44" name="node01.row.item-005.c3.heat"/>
            <p:cNvSpPr/>
            <p:nvPr/>
          </p:nvSpPr>
          <p:spPr>
            <a:xfrm>
              <a:off x="4629150" y="3905250"/>
              <a:ext cx="876300" cy="419100"/>
            </a:xfrm>
            <a:prstGeom prst="rect">
              <a:avLst/>
            </a:prstGeom>
            <a:solidFill>
              <a:srgbClr val="FB7FE8"/>
            </a:solidFill>
            <a:ln>
              <a:noFill/>
            </a:ln>
          </p:spPr>
        </p:sp>
        <p:sp>
          <p:nvSpPr>
            <p:cNvPr id="45" name="node01.row.item-005.c4.heat-gap"/>
            <p:cNvSpPr/>
            <p:nvPr/>
          </p:nvSpPr>
          <p:spPr>
            <a:xfrm>
              <a:off x="5524500" y="3886200"/>
              <a:ext cx="914400" cy="457200"/>
            </a:xfrm>
            <a:prstGeom prst="rect">
              <a:avLst/>
            </a:prstGeom>
            <a:solidFill>
              <a:srgbClr val="FFFFFF"/>
            </a:solidFill>
            <a:ln>
              <a:noFill/>
            </a:ln>
          </p:spPr>
        </p:sp>
        <p:sp>
          <p:nvSpPr>
            <p:cNvPr id="46" name="node01.row.item-005.c4.heat"/>
            <p:cNvSpPr/>
            <p:nvPr/>
          </p:nvSpPr>
          <p:spPr>
            <a:xfrm>
              <a:off x="5543550" y="3905250"/>
              <a:ext cx="876300" cy="419100"/>
            </a:xfrm>
            <a:prstGeom prst="rect">
              <a:avLst/>
            </a:prstGeom>
            <a:solidFill>
              <a:srgbClr val="F900D3"/>
            </a:solidFill>
            <a:ln>
              <a:noFill/>
            </a:ln>
          </p:spPr>
        </p:sp>
        <p:sp>
          <p:nvSpPr>
            <p:cNvPr id="47" name="node01.row.item-006.c1.heat-gap"/>
            <p:cNvSpPr/>
            <p:nvPr/>
          </p:nvSpPr>
          <p:spPr>
            <a:xfrm>
              <a:off x="2781300" y="4343400"/>
              <a:ext cx="914400" cy="457200"/>
            </a:xfrm>
            <a:prstGeom prst="rect">
              <a:avLst/>
            </a:prstGeom>
            <a:solidFill>
              <a:srgbClr val="FFFFFF"/>
            </a:solidFill>
            <a:ln>
              <a:noFill/>
            </a:ln>
          </p:spPr>
        </p:sp>
        <p:sp>
          <p:nvSpPr>
            <p:cNvPr id="48" name="node01.row.item-006.c1.heat"/>
            <p:cNvSpPr/>
            <p:nvPr/>
          </p:nvSpPr>
          <p:spPr>
            <a:xfrm>
              <a:off x="2800350" y="4362450"/>
              <a:ext cx="876300" cy="419100"/>
            </a:xfrm>
            <a:prstGeom prst="rect">
              <a:avLst/>
            </a:prstGeom>
            <a:solidFill>
              <a:srgbClr val="CED7E6"/>
            </a:solidFill>
            <a:ln>
              <a:noFill/>
            </a:ln>
          </p:spPr>
        </p:sp>
        <p:sp>
          <p:nvSpPr>
            <p:cNvPr id="49" name="node01.row.item-006.c2.heat-gap"/>
            <p:cNvSpPr/>
            <p:nvPr/>
          </p:nvSpPr>
          <p:spPr>
            <a:xfrm>
              <a:off x="3695700" y="4343400"/>
              <a:ext cx="914400" cy="457200"/>
            </a:xfrm>
            <a:prstGeom prst="rect">
              <a:avLst/>
            </a:prstGeom>
            <a:solidFill>
              <a:srgbClr val="FFFFFF"/>
            </a:solidFill>
            <a:ln>
              <a:noFill/>
            </a:ln>
          </p:spPr>
        </p:sp>
        <p:sp>
          <p:nvSpPr>
            <p:cNvPr id="50" name="node01.row.item-006.c2.heat"/>
            <p:cNvSpPr/>
            <p:nvPr/>
          </p:nvSpPr>
          <p:spPr>
            <a:xfrm>
              <a:off x="3714750" y="4362450"/>
              <a:ext cx="876300" cy="419100"/>
            </a:xfrm>
            <a:prstGeom prst="rect">
              <a:avLst/>
            </a:prstGeom>
            <a:solidFill>
              <a:srgbClr val="F3D6EE"/>
            </a:solidFill>
            <a:ln>
              <a:noFill/>
            </a:ln>
          </p:spPr>
        </p:sp>
        <p:sp>
          <p:nvSpPr>
            <p:cNvPr id="51" name="node01.row.item-006.c3.heat-gap"/>
            <p:cNvSpPr/>
            <p:nvPr/>
          </p:nvSpPr>
          <p:spPr>
            <a:xfrm>
              <a:off x="4610100" y="4343400"/>
              <a:ext cx="914400" cy="457200"/>
            </a:xfrm>
            <a:prstGeom prst="rect">
              <a:avLst/>
            </a:prstGeom>
            <a:solidFill>
              <a:srgbClr val="FFFFFF"/>
            </a:solidFill>
            <a:ln>
              <a:noFill/>
            </a:ln>
          </p:spPr>
        </p:sp>
        <p:sp>
          <p:nvSpPr>
            <p:cNvPr id="52" name="node01.row.item-006.c3.heat"/>
            <p:cNvSpPr/>
            <p:nvPr/>
          </p:nvSpPr>
          <p:spPr>
            <a:xfrm>
              <a:off x="4629150" y="4362450"/>
              <a:ext cx="876300" cy="419100"/>
            </a:xfrm>
            <a:prstGeom prst="rect">
              <a:avLst/>
            </a:prstGeom>
            <a:solidFill>
              <a:srgbClr val="FB7FE8"/>
            </a:solidFill>
            <a:ln>
              <a:noFill/>
            </a:ln>
          </p:spPr>
        </p:sp>
        <p:sp>
          <p:nvSpPr>
            <p:cNvPr id="53" name="node01.row.item-006.c4.heat-gap"/>
            <p:cNvSpPr/>
            <p:nvPr/>
          </p:nvSpPr>
          <p:spPr>
            <a:xfrm>
              <a:off x="5524500" y="4343400"/>
              <a:ext cx="914400" cy="457200"/>
            </a:xfrm>
            <a:prstGeom prst="rect">
              <a:avLst/>
            </a:prstGeom>
            <a:solidFill>
              <a:srgbClr val="FFFFFF"/>
            </a:solidFill>
            <a:ln>
              <a:noFill/>
            </a:ln>
          </p:spPr>
        </p:sp>
        <p:sp>
          <p:nvSpPr>
            <p:cNvPr id="54" name="node01.row.item-006.c4.heat"/>
            <p:cNvSpPr/>
            <p:nvPr/>
          </p:nvSpPr>
          <p:spPr>
            <a:xfrm>
              <a:off x="5543550" y="4362450"/>
              <a:ext cx="876300" cy="419100"/>
            </a:xfrm>
            <a:prstGeom prst="rect">
              <a:avLst/>
            </a:prstGeom>
            <a:solidFill>
              <a:srgbClr val="FB7FE8"/>
            </a:solidFill>
            <a:ln>
              <a:noFill/>
            </a:ln>
          </p:spPr>
        </p:sp>
        <p:sp>
          <p:nvSpPr>
            <p:cNvPr id="55" name="node01.row.item-007.c1.heat-gap"/>
            <p:cNvSpPr/>
            <p:nvPr/>
          </p:nvSpPr>
          <p:spPr>
            <a:xfrm>
              <a:off x="2781300" y="4800600"/>
              <a:ext cx="914400" cy="457200"/>
            </a:xfrm>
            <a:prstGeom prst="rect">
              <a:avLst/>
            </a:prstGeom>
            <a:solidFill>
              <a:srgbClr val="FFFFFF"/>
            </a:solidFill>
            <a:ln>
              <a:noFill/>
            </a:ln>
          </p:spPr>
        </p:sp>
        <p:sp>
          <p:nvSpPr>
            <p:cNvPr id="56" name="node01.row.item-007.c1.heat"/>
            <p:cNvSpPr/>
            <p:nvPr/>
          </p:nvSpPr>
          <p:spPr>
            <a:xfrm>
              <a:off x="2800350" y="4819650"/>
              <a:ext cx="876300" cy="419100"/>
            </a:xfrm>
            <a:prstGeom prst="rect">
              <a:avLst/>
            </a:prstGeom>
            <a:solidFill>
              <a:srgbClr val="F3D6EE"/>
            </a:solidFill>
            <a:ln>
              <a:noFill/>
            </a:ln>
          </p:spPr>
        </p:sp>
        <p:sp>
          <p:nvSpPr>
            <p:cNvPr id="57" name="node01.row.item-007.c2.heat-gap"/>
            <p:cNvSpPr/>
            <p:nvPr/>
          </p:nvSpPr>
          <p:spPr>
            <a:xfrm>
              <a:off x="3695700" y="4800600"/>
              <a:ext cx="914400" cy="457200"/>
            </a:xfrm>
            <a:prstGeom prst="rect">
              <a:avLst/>
            </a:prstGeom>
            <a:solidFill>
              <a:srgbClr val="FFFFFF"/>
            </a:solidFill>
            <a:ln>
              <a:noFill/>
            </a:ln>
          </p:spPr>
        </p:sp>
        <p:sp>
          <p:nvSpPr>
            <p:cNvPr id="58" name="node01.row.item-007.c2.heat"/>
            <p:cNvSpPr/>
            <p:nvPr/>
          </p:nvSpPr>
          <p:spPr>
            <a:xfrm>
              <a:off x="3714750" y="4819650"/>
              <a:ext cx="876300" cy="419100"/>
            </a:xfrm>
            <a:prstGeom prst="rect">
              <a:avLst/>
            </a:prstGeom>
            <a:solidFill>
              <a:srgbClr val="F3D6EE"/>
            </a:solidFill>
            <a:ln>
              <a:noFill/>
            </a:ln>
          </p:spPr>
        </p:sp>
        <p:sp>
          <p:nvSpPr>
            <p:cNvPr id="59" name="node01.row.item-007.c3.heat-gap"/>
            <p:cNvSpPr/>
            <p:nvPr/>
          </p:nvSpPr>
          <p:spPr>
            <a:xfrm>
              <a:off x="4610100" y="4800600"/>
              <a:ext cx="914400" cy="457200"/>
            </a:xfrm>
            <a:prstGeom prst="rect">
              <a:avLst/>
            </a:prstGeom>
            <a:solidFill>
              <a:srgbClr val="FFFFFF"/>
            </a:solidFill>
            <a:ln>
              <a:noFill/>
            </a:ln>
          </p:spPr>
        </p:sp>
        <p:sp>
          <p:nvSpPr>
            <p:cNvPr id="60" name="node01.row.item-007.c3.heat"/>
            <p:cNvSpPr/>
            <p:nvPr/>
          </p:nvSpPr>
          <p:spPr>
            <a:xfrm>
              <a:off x="4629150" y="4819650"/>
              <a:ext cx="876300" cy="419100"/>
            </a:xfrm>
            <a:prstGeom prst="rect">
              <a:avLst/>
            </a:prstGeom>
            <a:solidFill>
              <a:srgbClr val="FB7FE8"/>
            </a:solidFill>
            <a:ln>
              <a:noFill/>
            </a:ln>
          </p:spPr>
        </p:sp>
        <p:sp>
          <p:nvSpPr>
            <p:cNvPr id="61" name="node01.row.item-007.c4.heat-gap"/>
            <p:cNvSpPr/>
            <p:nvPr/>
          </p:nvSpPr>
          <p:spPr>
            <a:xfrm>
              <a:off x="5524500" y="4800600"/>
              <a:ext cx="914400" cy="457200"/>
            </a:xfrm>
            <a:prstGeom prst="rect">
              <a:avLst/>
            </a:prstGeom>
            <a:solidFill>
              <a:srgbClr val="FFFFFF"/>
            </a:solidFill>
            <a:ln>
              <a:noFill/>
            </a:ln>
          </p:spPr>
        </p:sp>
        <p:sp>
          <p:nvSpPr>
            <p:cNvPr id="62" name="node01.row.item-007.c4.heat"/>
            <p:cNvSpPr/>
            <p:nvPr/>
          </p:nvSpPr>
          <p:spPr>
            <a:xfrm>
              <a:off x="5543550" y="4819650"/>
              <a:ext cx="876300" cy="419100"/>
            </a:xfrm>
            <a:prstGeom prst="rect">
              <a:avLst/>
            </a:prstGeom>
            <a:solidFill>
              <a:srgbClr val="FB7FE8"/>
            </a:solidFill>
            <a:ln>
              <a:noFill/>
            </a:ln>
          </p:spPr>
        </p:sp>
        <p:graphicFrame>
          <p:nvGraphicFramePr>
            <p:cNvPr id="63"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5715000" cy="3657600"/>
          </p:xfrm>
          <a:graphic>
            <a:graphicData uri="http://schemas.openxmlformats.org/drawingml/2006/table">
              <a:tbl>
                <a:tblPr/>
                <a:tblGrid>
                  <a:gridCol w="2057400"/>
                  <a:gridCol w="914400"/>
                  <a:gridCol w="914400"/>
                  <a:gridCol w="914400"/>
                  <a:gridCol w="914400"/>
                </a:tblGrid>
                <a:tr h="4572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CAPABILITY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MAIN</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LAKESIDE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RIDGEVIEW</a:t>
                        </a:r>
                        <a:endParaRPr lang="en-US" sz="800" spc="48" kern="0" b="0" i="0" dirty="0">
                          <a:solidFill>
                            <a:srgbClr val="070154"/>
                          </a:solidFill>
                          <a:latin typeface="IBM Plex Mono SemiBold"/>
                          <a:ea typeface="IBM Plex Mono SemiBold"/>
                          <a:cs typeface="IBM Plex Mono SemiBold"/>
                        </a:endParaRPr>
                      </a:p>
                    </a:txBody>
                    <a:tcPr marL="76200" marR="762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HARBOR</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access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Scheduling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Revenue cycle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Documentation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Care coordination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Supply chain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Data and analytics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85" name="node02"/>
          <p:cNvGrpSpPr/>
          <p:nvPr/>
        </p:nvGrpSpPr>
        <p:grpSpPr>
          <a:xfrm>
            <a:off x="723900" y="5486400"/>
            <a:ext cx="4803775" cy="190500"/>
            <a:chOff x="723900" y="5486400"/>
            <a:chExt cx="4803775" cy="190500"/>
          </a:xfrm>
        </p:grpSpPr>
        <p:sp>
          <p:nvSpPr>
            <p:cNvPr id="64" name="node02.items.slot-001.swatch"/>
            <p:cNvSpPr/>
            <p:nvPr/>
          </p:nvSpPr>
          <p:spPr>
            <a:xfrm>
              <a:off x="723900" y="5518150"/>
              <a:ext cx="228600" cy="127000"/>
            </a:xfrm>
            <a:prstGeom prst="rect">
              <a:avLst/>
            </a:prstGeom>
            <a:solidFill>
              <a:srgbClr val="E8EEF8"/>
            </a:solidFill>
            <a:ln>
              <a:noFill/>
            </a:ln>
          </p:spPr>
        </p:sp>
        <p:sp>
          <p:nvSpPr>
            <p:cNvPr id="65" name="node02.items.slot-001.text"/>
            <p:cNvSpPr/>
            <p:nvPr/>
          </p:nvSpPr>
          <p:spPr>
            <a:xfrm>
              <a:off x="1016000" y="5486400"/>
              <a:ext cx="4889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No gap</a:t>
              </a:r>
              <a:endParaRPr lang="en-US" sz="1100" spc="0" kern="0" b="0" i="0" dirty="0">
                <a:solidFill>
                  <a:srgbClr val="070154"/>
                </a:solidFill>
                <a:latin typeface="IBM Plex Sans"/>
                <a:ea typeface="IBM Plex Sans"/>
                <a:cs typeface="IBM Plex Sans"/>
              </a:endParaRPr>
            </a:p>
          </p:txBody>
        </p:sp>
        <p:sp>
          <p:nvSpPr>
            <p:cNvPr id="66" name="node02.items.slot-002.swatch"/>
            <p:cNvSpPr/>
            <p:nvPr/>
          </p:nvSpPr>
          <p:spPr>
            <a:xfrm>
              <a:off x="1733550" y="5518150"/>
              <a:ext cx="228600" cy="127000"/>
            </a:xfrm>
            <a:prstGeom prst="rect">
              <a:avLst/>
            </a:prstGeom>
            <a:solidFill>
              <a:srgbClr val="CED7E6"/>
            </a:solidFill>
            <a:ln>
              <a:noFill/>
            </a:ln>
          </p:spPr>
        </p:sp>
        <p:sp>
          <p:nvSpPr>
            <p:cNvPr id="67" name="node02.items.slot-002.text"/>
            <p:cNvSpPr/>
            <p:nvPr/>
          </p:nvSpPr>
          <p:spPr>
            <a:xfrm>
              <a:off x="2025650" y="5486400"/>
              <a:ext cx="4048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Small</a:t>
              </a:r>
              <a:endParaRPr lang="en-US" sz="1100" spc="0" kern="0" b="0" i="0" dirty="0">
                <a:solidFill>
                  <a:srgbClr val="070154"/>
                </a:solidFill>
                <a:latin typeface="IBM Plex Sans"/>
                <a:ea typeface="IBM Plex Sans"/>
                <a:cs typeface="IBM Plex Sans"/>
              </a:endParaRPr>
            </a:p>
          </p:txBody>
        </p:sp>
        <p:sp>
          <p:nvSpPr>
            <p:cNvPr id="68" name="node02.items.slot-003.swatch"/>
            <p:cNvSpPr/>
            <p:nvPr/>
          </p:nvSpPr>
          <p:spPr>
            <a:xfrm>
              <a:off x="2659063" y="5518150"/>
              <a:ext cx="228600" cy="127000"/>
            </a:xfrm>
            <a:prstGeom prst="rect">
              <a:avLst/>
            </a:prstGeom>
            <a:solidFill>
              <a:srgbClr val="F3D6EE"/>
            </a:solidFill>
            <a:ln>
              <a:noFill/>
            </a:ln>
          </p:spPr>
        </p:sp>
        <p:sp>
          <p:nvSpPr>
            <p:cNvPr id="69" name="node02.items.slot-003.text"/>
            <p:cNvSpPr/>
            <p:nvPr/>
          </p:nvSpPr>
          <p:spPr>
            <a:xfrm>
              <a:off x="2951163" y="5486400"/>
              <a:ext cx="6492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Moderate</a:t>
              </a:r>
              <a:endParaRPr lang="en-US" sz="1100" spc="0" kern="0" b="0" i="0" dirty="0">
                <a:solidFill>
                  <a:srgbClr val="070154"/>
                </a:solidFill>
                <a:latin typeface="IBM Plex Sans"/>
                <a:ea typeface="IBM Plex Sans"/>
                <a:cs typeface="IBM Plex Sans"/>
              </a:endParaRPr>
            </a:p>
          </p:txBody>
        </p:sp>
        <p:sp>
          <p:nvSpPr>
            <p:cNvPr id="70" name="node02.items.slot-004.swatch"/>
            <p:cNvSpPr/>
            <p:nvPr/>
          </p:nvSpPr>
          <p:spPr>
            <a:xfrm>
              <a:off x="3829050" y="5518150"/>
              <a:ext cx="228600" cy="127000"/>
            </a:xfrm>
            <a:prstGeom prst="rect">
              <a:avLst/>
            </a:prstGeom>
            <a:solidFill>
              <a:srgbClr val="FB7FE8"/>
            </a:solidFill>
            <a:ln>
              <a:noFill/>
            </a:ln>
          </p:spPr>
        </p:sp>
        <p:sp>
          <p:nvSpPr>
            <p:cNvPr id="71" name="node02.items.slot-004.text"/>
            <p:cNvSpPr/>
            <p:nvPr/>
          </p:nvSpPr>
          <p:spPr>
            <a:xfrm>
              <a:off x="4121150" y="5486400"/>
              <a:ext cx="3952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Large</a:t>
              </a:r>
              <a:endParaRPr lang="en-US" sz="1100" spc="0" kern="0" b="0" i="0" dirty="0">
                <a:solidFill>
                  <a:srgbClr val="070154"/>
                </a:solidFill>
                <a:latin typeface="IBM Plex Sans"/>
                <a:ea typeface="IBM Plex Sans"/>
                <a:cs typeface="IBM Plex Sans"/>
              </a:endParaRPr>
            </a:p>
          </p:txBody>
        </p:sp>
        <p:sp>
          <p:nvSpPr>
            <p:cNvPr id="72" name="node02.items.slot-005.swatch"/>
            <p:cNvSpPr/>
            <p:nvPr/>
          </p:nvSpPr>
          <p:spPr>
            <a:xfrm>
              <a:off x="4745038" y="5518150"/>
              <a:ext cx="228600" cy="127000"/>
            </a:xfrm>
            <a:prstGeom prst="rect">
              <a:avLst/>
            </a:prstGeom>
            <a:solidFill>
              <a:srgbClr val="F900D3"/>
            </a:solidFill>
            <a:ln>
              <a:noFill/>
            </a:ln>
          </p:spPr>
        </p:sp>
        <p:sp>
          <p:nvSpPr>
            <p:cNvPr id="73" name="node02.items.slot-005.text"/>
            <p:cNvSpPr/>
            <p:nvPr/>
          </p:nvSpPr>
          <p:spPr>
            <a:xfrm>
              <a:off x="5037138" y="5486400"/>
              <a:ext cx="4905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Critical</a:t>
              </a:r>
              <a:endParaRPr lang="en-US" sz="1100" spc="0" kern="0" b="0" i="0" dirty="0">
                <a:solidFill>
                  <a:srgbClr val="070154"/>
                </a:solidFill>
                <a:latin typeface="IBM Plex Sans"/>
                <a:ea typeface="IBM Plex Sans"/>
                <a:cs typeface="IBM Plex Sans"/>
              </a:endParaRPr>
            </a:p>
          </p:txBody>
        </p:sp>
      </p:grpSp>
      <p:grpSp>
        <p:nvGrpSpPr>
          <p:cNvPr id="86" name="node03"/>
          <p:cNvGrpSpPr/>
          <p:nvPr/>
        </p:nvGrpSpPr>
        <p:grpSpPr>
          <a:xfrm>
            <a:off x="800100" y="4216400"/>
            <a:ext cx="1600200" cy="144366"/>
            <a:chOff x="800100" y="4216400"/>
            <a:chExt cx="1600200" cy="144366"/>
          </a:xfrm>
        </p:grpSpPr>
        <p:pic>
          <p:nvPicPr>
            <p:cNvPr id="74" name="node03.mark"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0100" y="4216400"/>
              <a:ext cx="1600200" cy="144366"/>
            </a:xfrm>
            <a:prstGeom prst="rect">
              <a:avLst/>
            </a:prstGeom>
          </p:spPr>
        </p:pic>
      </p:grpSp>
      <p:grpSp>
        <p:nvGrpSpPr>
          <p:cNvPr id="87" name="node04"/>
          <p:cNvGrpSpPr/>
          <p:nvPr/>
        </p:nvGrpSpPr>
        <p:grpSpPr>
          <a:xfrm>
            <a:off x="6591300" y="3962400"/>
            <a:ext cx="1219200" cy="230532"/>
            <a:chOff x="6591300" y="3962400"/>
            <a:chExt cx="1219200" cy="230532"/>
          </a:xfrm>
        </p:grpSpPr>
        <p:pic>
          <p:nvPicPr>
            <p:cNvPr id="75" name="node04.mark" descr="arrow-straight; canonical SHA256=115a8f5079b158c346e9f9ca6c6eeecb7567bbab70f4cd058c365f09ed10290e; resolved ink=07015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91300" y="3962400"/>
              <a:ext cx="1219200" cy="230532"/>
            </a:xfrm>
            <a:prstGeom prst="rect">
              <a:avLst/>
            </a:prstGeom>
          </p:spPr>
        </p:pic>
      </p:grpSp>
      <p:grpSp>
        <p:nvGrpSpPr>
          <p:cNvPr id="88" name="node05"/>
          <p:cNvGrpSpPr/>
          <p:nvPr/>
        </p:nvGrpSpPr>
        <p:grpSpPr>
          <a:xfrm>
            <a:off x="8039100" y="2971800"/>
            <a:ext cx="3429000" cy="2057400"/>
            <a:chOff x="8039100" y="2971800"/>
            <a:chExt cx="3429000" cy="2057400"/>
          </a:xfrm>
        </p:grpSpPr>
        <p:sp>
          <p:nvSpPr>
            <p:cNvPr id="76" name="node05.container"/>
            <p:cNvSpPr/>
            <p:nvPr/>
          </p:nvSpPr>
          <p:spPr>
            <a:xfrm>
              <a:off x="8039100" y="2971800"/>
              <a:ext cx="3429000" cy="2057400"/>
            </a:xfrm>
            <a:prstGeom prst="rect">
              <a:avLst/>
            </a:prstGeom>
            <a:solidFill>
              <a:srgbClr val="F900D3"/>
            </a:solidFill>
            <a:ln>
              <a:noFill/>
            </a:ln>
          </p:spPr>
        </p:sp>
        <p:sp>
          <p:nvSpPr>
            <p:cNvPr id="77" name="node05.label"/>
            <p:cNvSpPr/>
            <p:nvPr/>
          </p:nvSpPr>
          <p:spPr>
            <a:xfrm>
              <a:off x="8267700" y="32004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BIGGEST GAP</a:t>
              </a:r>
              <a:endParaRPr lang="en-US" sz="800" spc="48" kern="0" b="0" i="0" dirty="0">
                <a:solidFill>
                  <a:srgbClr val="070154"/>
                </a:solidFill>
                <a:latin typeface="IBM Plex Mono Medium"/>
                <a:ea typeface="IBM Plex Mono Medium"/>
                <a:cs typeface="IBM Plex Mono Medium"/>
              </a:endParaRPr>
            </a:p>
          </p:txBody>
        </p:sp>
        <p:sp>
          <p:nvSpPr>
            <p:cNvPr id="78" name="node05.title"/>
            <p:cNvSpPr/>
            <p:nvPr/>
          </p:nvSpPr>
          <p:spPr>
            <a:xfrm>
              <a:off x="8267700" y="34163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Care coordination at Harbor</a:t>
              </a:r>
              <a:endParaRPr lang="en-US" sz="1600" spc="-16" kern="0" b="0" i="0" dirty="0">
                <a:solidFill>
                  <a:srgbClr val="070154"/>
                </a:solidFill>
                <a:latin typeface="IBM Plex Sans SemiBold"/>
                <a:ea typeface="IBM Plex Sans SemiBold"/>
                <a:cs typeface="IBM Plex Sans SemiBold"/>
              </a:endParaRPr>
            </a:p>
          </p:txBody>
        </p:sp>
        <p:sp>
          <p:nvSpPr>
            <p:cNvPr id="79" name="node05.body.item-001.paragraph"/>
            <p:cNvSpPr/>
            <p:nvPr/>
          </p:nvSpPr>
          <p:spPr>
            <a:xfrm>
              <a:off x="8267700" y="3835400"/>
              <a:ext cx="29718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Referral status lives in faxes and phone notes, so no one sees a patient's whole path.</a:t>
              </a:r>
              <a:endParaRPr lang="en-US" sz="1200" spc="0" kern="0" b="0" i="0" dirty="0">
                <a:solidFill>
                  <a:srgbClr val="070154"/>
                </a:solidFill>
                <a:latin typeface="IBM Plex Sans"/>
                <a:ea typeface="IBM Plex Sans"/>
                <a:cs typeface="IBM Plex Sans"/>
              </a:endParaRPr>
            </a:p>
          </p:txBody>
        </p:sp>
      </p:grpSp>
      <p:grpSp>
        <p:nvGrpSpPr>
          <p:cNvPr id="89" name="node06"/>
          <p:cNvGrpSpPr/>
          <p:nvPr/>
        </p:nvGrpSpPr>
        <p:grpSpPr>
          <a:xfrm>
            <a:off x="8039100" y="1600200"/>
            <a:ext cx="3429000" cy="685800"/>
            <a:chOff x="8039100" y="1600200"/>
            <a:chExt cx="3429000" cy="685800"/>
          </a:xfrm>
        </p:grpSpPr>
        <p:sp>
          <p:nvSpPr>
            <p:cNvPr id="80" name="node06.source-001.bullet"/>
            <p:cNvSpPr/>
            <p:nvPr/>
          </p:nvSpPr>
          <p:spPr>
            <a:xfrm>
              <a:off x="8039100" y="1689100"/>
              <a:ext cx="38100" cy="38100"/>
            </a:xfrm>
            <a:prstGeom prst="rect">
              <a:avLst/>
            </a:prstGeom>
            <a:solidFill>
              <a:srgbClr val="070154"/>
            </a:solidFill>
            <a:ln>
              <a:noFill/>
            </a:ln>
          </p:spPr>
        </p:sp>
        <p:sp>
          <p:nvSpPr>
            <p:cNvPr id="81" name="node06.source-001.text"/>
            <p:cNvSpPr/>
            <p:nvPr/>
          </p:nvSpPr>
          <p:spPr>
            <a:xfrm>
              <a:off x="8191500" y="16002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Nine other cells sit in the large band, all at Ridgeview or Harbor.</a:t>
              </a:r>
              <a:endParaRPr lang="en-US" sz="1200" spc="0" kern="0" b="0" i="0" dirty="0">
                <a:solidFill>
                  <a:srgbClr val="070154"/>
                </a:solidFill>
                <a:latin typeface="IBM Plex Sans"/>
                <a:ea typeface="IBM Plex Sans"/>
                <a:cs typeface="IBM Plex Sans"/>
              </a:endParaRPr>
            </a:p>
          </p:txBody>
        </p:sp>
        <p:sp>
          <p:nvSpPr>
            <p:cNvPr id="82" name="node06.source-002.bullet"/>
            <p:cNvSpPr/>
            <p:nvPr/>
          </p:nvSpPr>
          <p:spPr>
            <a:xfrm>
              <a:off x="8039100" y="2159000"/>
              <a:ext cx="38100" cy="38100"/>
            </a:xfrm>
            <a:prstGeom prst="rect">
              <a:avLst/>
            </a:prstGeom>
            <a:solidFill>
              <a:srgbClr val="070154"/>
            </a:solidFill>
            <a:ln>
              <a:noFill/>
            </a:ln>
          </p:spPr>
        </p:sp>
        <p:sp>
          <p:nvSpPr>
            <p:cNvPr id="83" name="node06.source-002.text"/>
            <p:cNvSpPr/>
            <p:nvPr/>
          </p:nvSpPr>
          <p:spPr>
            <a:xfrm>
              <a:off x="8191500" y="2070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Main campus has no gap above moderate.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ource-076">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The front door is the weakest group</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assessment,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62</a:t>
            </a:fld>
            <a:endParaRPr lang="en-US" sz="700" spc="0" kern="0" b="0" i="0" dirty="0">
              <a:solidFill>
                <a:srgbClr val="070154"/>
              </a:solidFill>
              <a:latin typeface="IBM Plex Mono SemiBold"/>
              <a:ea typeface="IBM Plex Mono SemiBold"/>
              <a:cs typeface="IBM Plex Mono SemiBold"/>
            </a:endParaRPr>
          </a:p>
        </p:txBody>
      </p:sp>
      <p:grpSp>
        <p:nvGrpSpPr>
          <p:cNvPr id="146" name="node01"/>
          <p:cNvGrpSpPr/>
          <p:nvPr/>
        </p:nvGrpSpPr>
        <p:grpSpPr>
          <a:xfrm>
            <a:off x="4381500" y="457200"/>
            <a:ext cx="7086600" cy="4978400"/>
            <a:chOff x="4381500" y="457200"/>
            <a:chExt cx="7086600" cy="4978400"/>
          </a:xfrm>
        </p:grpSpPr>
        <p:sp>
          <p:nvSpPr>
            <p:cNvPr id="7" name="node01.row.item-001.c1.heat-gap"/>
            <p:cNvSpPr/>
            <p:nvPr/>
          </p:nvSpPr>
          <p:spPr>
            <a:xfrm>
              <a:off x="6896100" y="812800"/>
              <a:ext cx="1143000" cy="330200"/>
            </a:xfrm>
            <a:prstGeom prst="rect">
              <a:avLst/>
            </a:prstGeom>
            <a:solidFill>
              <a:srgbClr val="FFFFFF"/>
            </a:solidFill>
            <a:ln>
              <a:noFill/>
            </a:ln>
          </p:spPr>
        </p:sp>
        <p:sp>
          <p:nvSpPr>
            <p:cNvPr id="8" name="node01.row.item-001.c1.heat"/>
            <p:cNvSpPr/>
            <p:nvPr/>
          </p:nvSpPr>
          <p:spPr>
            <a:xfrm>
              <a:off x="6915150" y="831850"/>
              <a:ext cx="1104900" cy="292100"/>
            </a:xfrm>
            <a:prstGeom prst="rect">
              <a:avLst/>
            </a:prstGeom>
            <a:solidFill>
              <a:srgbClr val="0047FF"/>
            </a:solidFill>
            <a:ln>
              <a:noFill/>
            </a:ln>
          </p:spPr>
        </p:sp>
        <p:sp>
          <p:nvSpPr>
            <p:cNvPr id="9" name="node01.row.item-001.c2.heat-gap"/>
            <p:cNvSpPr/>
            <p:nvPr/>
          </p:nvSpPr>
          <p:spPr>
            <a:xfrm>
              <a:off x="8039100" y="812800"/>
              <a:ext cx="1143000" cy="330200"/>
            </a:xfrm>
            <a:prstGeom prst="rect">
              <a:avLst/>
            </a:prstGeom>
            <a:solidFill>
              <a:srgbClr val="FFFFFF"/>
            </a:solidFill>
            <a:ln>
              <a:noFill/>
            </a:ln>
          </p:spPr>
        </p:sp>
        <p:sp>
          <p:nvSpPr>
            <p:cNvPr id="10" name="node01.row.item-001.c2.heat"/>
            <p:cNvSpPr/>
            <p:nvPr/>
          </p:nvSpPr>
          <p:spPr>
            <a:xfrm>
              <a:off x="8058150" y="831850"/>
              <a:ext cx="1104900" cy="292100"/>
            </a:xfrm>
            <a:prstGeom prst="rect">
              <a:avLst/>
            </a:prstGeom>
            <a:solidFill>
              <a:srgbClr val="7C9BFF"/>
            </a:solidFill>
            <a:ln>
              <a:noFill/>
            </a:ln>
          </p:spPr>
        </p:sp>
        <p:sp>
          <p:nvSpPr>
            <p:cNvPr id="11" name="node01.row.item-001.c3.heat-gap"/>
            <p:cNvSpPr/>
            <p:nvPr/>
          </p:nvSpPr>
          <p:spPr>
            <a:xfrm>
              <a:off x="9182100" y="812800"/>
              <a:ext cx="1143000" cy="330200"/>
            </a:xfrm>
            <a:prstGeom prst="rect">
              <a:avLst/>
            </a:prstGeom>
            <a:solidFill>
              <a:srgbClr val="FFFFFF"/>
            </a:solidFill>
            <a:ln>
              <a:noFill/>
            </a:ln>
          </p:spPr>
        </p:sp>
        <p:sp>
          <p:nvSpPr>
            <p:cNvPr id="12" name="node01.row.item-001.c3.heat"/>
            <p:cNvSpPr/>
            <p:nvPr/>
          </p:nvSpPr>
          <p:spPr>
            <a:xfrm>
              <a:off x="9201150" y="831850"/>
              <a:ext cx="1104900" cy="292100"/>
            </a:xfrm>
            <a:prstGeom prst="rect">
              <a:avLst/>
            </a:prstGeom>
            <a:solidFill>
              <a:srgbClr val="B9C9F0"/>
            </a:solidFill>
            <a:ln>
              <a:noFill/>
            </a:ln>
          </p:spPr>
        </p:sp>
        <p:sp>
          <p:nvSpPr>
            <p:cNvPr id="13" name="node01.row.item-001.c4.heat-gap"/>
            <p:cNvSpPr/>
            <p:nvPr/>
          </p:nvSpPr>
          <p:spPr>
            <a:xfrm>
              <a:off x="10325100" y="812800"/>
              <a:ext cx="1143000" cy="330200"/>
            </a:xfrm>
            <a:prstGeom prst="rect">
              <a:avLst/>
            </a:prstGeom>
            <a:solidFill>
              <a:srgbClr val="FFFFFF"/>
            </a:solidFill>
            <a:ln>
              <a:noFill/>
            </a:ln>
          </p:spPr>
        </p:sp>
        <p:sp>
          <p:nvSpPr>
            <p:cNvPr id="14" name="node01.row.item-001.c4.heat"/>
            <p:cNvSpPr/>
            <p:nvPr/>
          </p:nvSpPr>
          <p:spPr>
            <a:xfrm>
              <a:off x="10344150" y="831850"/>
              <a:ext cx="1104900" cy="292100"/>
            </a:xfrm>
            <a:prstGeom prst="rect">
              <a:avLst/>
            </a:prstGeom>
            <a:solidFill>
              <a:srgbClr val="B9C9F0"/>
            </a:solidFill>
            <a:ln>
              <a:noFill/>
            </a:ln>
          </p:spPr>
        </p:sp>
        <p:sp>
          <p:nvSpPr>
            <p:cNvPr id="15" name="node01.row.item-002.c1.heat-gap"/>
            <p:cNvSpPr/>
            <p:nvPr/>
          </p:nvSpPr>
          <p:spPr>
            <a:xfrm>
              <a:off x="6896100" y="1143000"/>
              <a:ext cx="1143000" cy="330200"/>
            </a:xfrm>
            <a:prstGeom prst="rect">
              <a:avLst/>
            </a:prstGeom>
            <a:solidFill>
              <a:srgbClr val="FFFFFF"/>
            </a:solidFill>
            <a:ln>
              <a:noFill/>
            </a:ln>
          </p:spPr>
        </p:sp>
        <p:sp>
          <p:nvSpPr>
            <p:cNvPr id="16" name="node01.row.item-002.c1.heat"/>
            <p:cNvSpPr/>
            <p:nvPr/>
          </p:nvSpPr>
          <p:spPr>
            <a:xfrm>
              <a:off x="6915150" y="1162050"/>
              <a:ext cx="1104900" cy="292100"/>
            </a:xfrm>
            <a:prstGeom prst="rect">
              <a:avLst/>
            </a:prstGeom>
            <a:solidFill>
              <a:srgbClr val="0047FF"/>
            </a:solidFill>
            <a:ln>
              <a:noFill/>
            </a:ln>
          </p:spPr>
        </p:sp>
        <p:sp>
          <p:nvSpPr>
            <p:cNvPr id="17" name="node01.row.item-002.c2.heat-gap"/>
            <p:cNvSpPr/>
            <p:nvPr/>
          </p:nvSpPr>
          <p:spPr>
            <a:xfrm>
              <a:off x="8039100" y="1143000"/>
              <a:ext cx="1143000" cy="330200"/>
            </a:xfrm>
            <a:prstGeom prst="rect">
              <a:avLst/>
            </a:prstGeom>
            <a:solidFill>
              <a:srgbClr val="FFFFFF"/>
            </a:solidFill>
            <a:ln>
              <a:noFill/>
            </a:ln>
          </p:spPr>
        </p:sp>
        <p:sp>
          <p:nvSpPr>
            <p:cNvPr id="18" name="node01.row.item-002.c2.heat"/>
            <p:cNvSpPr/>
            <p:nvPr/>
          </p:nvSpPr>
          <p:spPr>
            <a:xfrm>
              <a:off x="8058150" y="1162050"/>
              <a:ext cx="1104900" cy="292100"/>
            </a:xfrm>
            <a:prstGeom prst="rect">
              <a:avLst/>
            </a:prstGeom>
            <a:solidFill>
              <a:srgbClr val="7C9BFF"/>
            </a:solidFill>
            <a:ln>
              <a:noFill/>
            </a:ln>
          </p:spPr>
        </p:sp>
        <p:sp>
          <p:nvSpPr>
            <p:cNvPr id="19" name="node01.row.item-002.c3.heat-gap"/>
            <p:cNvSpPr/>
            <p:nvPr/>
          </p:nvSpPr>
          <p:spPr>
            <a:xfrm>
              <a:off x="9182100" y="1143000"/>
              <a:ext cx="1143000" cy="330200"/>
            </a:xfrm>
            <a:prstGeom prst="rect">
              <a:avLst/>
            </a:prstGeom>
            <a:solidFill>
              <a:srgbClr val="FFFFFF"/>
            </a:solidFill>
            <a:ln>
              <a:noFill/>
            </a:ln>
          </p:spPr>
        </p:sp>
        <p:sp>
          <p:nvSpPr>
            <p:cNvPr id="20" name="node01.row.item-002.c3.heat"/>
            <p:cNvSpPr/>
            <p:nvPr/>
          </p:nvSpPr>
          <p:spPr>
            <a:xfrm>
              <a:off x="9201150" y="1162050"/>
              <a:ext cx="1104900" cy="292100"/>
            </a:xfrm>
            <a:prstGeom prst="rect">
              <a:avLst/>
            </a:prstGeom>
            <a:solidFill>
              <a:srgbClr val="7C9BFF"/>
            </a:solidFill>
            <a:ln>
              <a:noFill/>
            </a:ln>
          </p:spPr>
        </p:sp>
        <p:sp>
          <p:nvSpPr>
            <p:cNvPr id="21" name="node01.row.item-002.c4.heat-gap"/>
            <p:cNvSpPr/>
            <p:nvPr/>
          </p:nvSpPr>
          <p:spPr>
            <a:xfrm>
              <a:off x="10325100" y="1143000"/>
              <a:ext cx="1143000" cy="330200"/>
            </a:xfrm>
            <a:prstGeom prst="rect">
              <a:avLst/>
            </a:prstGeom>
            <a:solidFill>
              <a:srgbClr val="FFFFFF"/>
            </a:solidFill>
            <a:ln>
              <a:noFill/>
            </a:ln>
          </p:spPr>
        </p:sp>
        <p:sp>
          <p:nvSpPr>
            <p:cNvPr id="22" name="node01.row.item-002.c4.heat"/>
            <p:cNvSpPr/>
            <p:nvPr/>
          </p:nvSpPr>
          <p:spPr>
            <a:xfrm>
              <a:off x="10344150" y="1162050"/>
              <a:ext cx="1104900" cy="292100"/>
            </a:xfrm>
            <a:prstGeom prst="rect">
              <a:avLst/>
            </a:prstGeom>
            <a:solidFill>
              <a:srgbClr val="B9C9F0"/>
            </a:solidFill>
            <a:ln>
              <a:noFill/>
            </a:ln>
          </p:spPr>
        </p:sp>
        <p:sp>
          <p:nvSpPr>
            <p:cNvPr id="23" name="node01.row.item-003.c1.heat-gap"/>
            <p:cNvSpPr/>
            <p:nvPr/>
          </p:nvSpPr>
          <p:spPr>
            <a:xfrm>
              <a:off x="6896100" y="1473200"/>
              <a:ext cx="1143000" cy="330200"/>
            </a:xfrm>
            <a:prstGeom prst="rect">
              <a:avLst/>
            </a:prstGeom>
            <a:solidFill>
              <a:srgbClr val="FFFFFF"/>
            </a:solidFill>
            <a:ln>
              <a:noFill/>
            </a:ln>
          </p:spPr>
        </p:sp>
        <p:sp>
          <p:nvSpPr>
            <p:cNvPr id="24" name="node01.row.item-003.c1.heat"/>
            <p:cNvSpPr/>
            <p:nvPr/>
          </p:nvSpPr>
          <p:spPr>
            <a:xfrm>
              <a:off x="6915150" y="1492250"/>
              <a:ext cx="1104900" cy="292100"/>
            </a:xfrm>
            <a:prstGeom prst="rect">
              <a:avLst/>
            </a:prstGeom>
            <a:solidFill>
              <a:srgbClr val="7C9BFF"/>
            </a:solidFill>
            <a:ln>
              <a:noFill/>
            </a:ln>
          </p:spPr>
        </p:sp>
        <p:sp>
          <p:nvSpPr>
            <p:cNvPr id="25" name="node01.row.item-003.c2.heat-gap"/>
            <p:cNvSpPr/>
            <p:nvPr/>
          </p:nvSpPr>
          <p:spPr>
            <a:xfrm>
              <a:off x="8039100" y="1473200"/>
              <a:ext cx="1143000" cy="330200"/>
            </a:xfrm>
            <a:prstGeom prst="rect">
              <a:avLst/>
            </a:prstGeom>
            <a:solidFill>
              <a:srgbClr val="FFFFFF"/>
            </a:solidFill>
            <a:ln>
              <a:noFill/>
            </a:ln>
          </p:spPr>
        </p:sp>
        <p:sp>
          <p:nvSpPr>
            <p:cNvPr id="26" name="node01.row.item-003.c2.heat"/>
            <p:cNvSpPr/>
            <p:nvPr/>
          </p:nvSpPr>
          <p:spPr>
            <a:xfrm>
              <a:off x="8058150" y="1492250"/>
              <a:ext cx="1104900" cy="292100"/>
            </a:xfrm>
            <a:prstGeom prst="rect">
              <a:avLst/>
            </a:prstGeom>
            <a:solidFill>
              <a:srgbClr val="7C9BFF"/>
            </a:solidFill>
            <a:ln>
              <a:noFill/>
            </a:ln>
          </p:spPr>
        </p:sp>
        <p:sp>
          <p:nvSpPr>
            <p:cNvPr id="27" name="node01.row.item-003.c3.heat-gap"/>
            <p:cNvSpPr/>
            <p:nvPr/>
          </p:nvSpPr>
          <p:spPr>
            <a:xfrm>
              <a:off x="9182100" y="1473200"/>
              <a:ext cx="1143000" cy="330200"/>
            </a:xfrm>
            <a:prstGeom prst="rect">
              <a:avLst/>
            </a:prstGeom>
            <a:solidFill>
              <a:srgbClr val="FFFFFF"/>
            </a:solidFill>
            <a:ln>
              <a:noFill/>
            </a:ln>
          </p:spPr>
        </p:sp>
        <p:sp>
          <p:nvSpPr>
            <p:cNvPr id="28" name="node01.row.item-003.c3.heat"/>
            <p:cNvSpPr/>
            <p:nvPr/>
          </p:nvSpPr>
          <p:spPr>
            <a:xfrm>
              <a:off x="9201150" y="1492250"/>
              <a:ext cx="1104900" cy="292100"/>
            </a:xfrm>
            <a:prstGeom prst="rect">
              <a:avLst/>
            </a:prstGeom>
            <a:solidFill>
              <a:srgbClr val="B9C9F0"/>
            </a:solidFill>
            <a:ln>
              <a:noFill/>
            </a:ln>
          </p:spPr>
        </p:sp>
        <p:sp>
          <p:nvSpPr>
            <p:cNvPr id="29" name="node01.row.item-003.c4.heat-gap"/>
            <p:cNvSpPr/>
            <p:nvPr/>
          </p:nvSpPr>
          <p:spPr>
            <a:xfrm>
              <a:off x="10325100" y="1473200"/>
              <a:ext cx="1143000" cy="330200"/>
            </a:xfrm>
            <a:prstGeom prst="rect">
              <a:avLst/>
            </a:prstGeom>
            <a:solidFill>
              <a:srgbClr val="FFFFFF"/>
            </a:solidFill>
            <a:ln>
              <a:noFill/>
            </a:ln>
          </p:spPr>
        </p:sp>
        <p:sp>
          <p:nvSpPr>
            <p:cNvPr id="30" name="node01.row.item-003.c4.heat"/>
            <p:cNvSpPr/>
            <p:nvPr/>
          </p:nvSpPr>
          <p:spPr>
            <a:xfrm>
              <a:off x="10344150" y="1492250"/>
              <a:ext cx="1104900" cy="292100"/>
            </a:xfrm>
            <a:prstGeom prst="rect">
              <a:avLst/>
            </a:prstGeom>
            <a:solidFill>
              <a:srgbClr val="E8EEF8"/>
            </a:solidFill>
            <a:ln>
              <a:noFill/>
            </a:ln>
          </p:spPr>
        </p:sp>
        <p:sp>
          <p:nvSpPr>
            <p:cNvPr id="31" name="node01.row.item-004.c1.heat-gap"/>
            <p:cNvSpPr/>
            <p:nvPr/>
          </p:nvSpPr>
          <p:spPr>
            <a:xfrm>
              <a:off x="6896100" y="1803400"/>
              <a:ext cx="1143000" cy="330200"/>
            </a:xfrm>
            <a:prstGeom prst="rect">
              <a:avLst/>
            </a:prstGeom>
            <a:solidFill>
              <a:srgbClr val="FFFFFF"/>
            </a:solidFill>
            <a:ln>
              <a:noFill/>
            </a:ln>
          </p:spPr>
        </p:sp>
        <p:sp>
          <p:nvSpPr>
            <p:cNvPr id="32" name="node01.row.item-004.c1.heat"/>
            <p:cNvSpPr/>
            <p:nvPr/>
          </p:nvSpPr>
          <p:spPr>
            <a:xfrm>
              <a:off x="6915150" y="1822450"/>
              <a:ext cx="1104900" cy="292100"/>
            </a:xfrm>
            <a:prstGeom prst="rect">
              <a:avLst/>
            </a:prstGeom>
            <a:solidFill>
              <a:srgbClr val="0047FF"/>
            </a:solidFill>
            <a:ln>
              <a:noFill/>
            </a:ln>
          </p:spPr>
        </p:sp>
        <p:sp>
          <p:nvSpPr>
            <p:cNvPr id="33" name="node01.row.item-004.c2.heat-gap"/>
            <p:cNvSpPr/>
            <p:nvPr/>
          </p:nvSpPr>
          <p:spPr>
            <a:xfrm>
              <a:off x="8039100" y="1803400"/>
              <a:ext cx="1143000" cy="330200"/>
            </a:xfrm>
            <a:prstGeom prst="rect">
              <a:avLst/>
            </a:prstGeom>
            <a:solidFill>
              <a:srgbClr val="FFFFFF"/>
            </a:solidFill>
            <a:ln>
              <a:noFill/>
            </a:ln>
          </p:spPr>
        </p:sp>
        <p:sp>
          <p:nvSpPr>
            <p:cNvPr id="34" name="node01.row.item-004.c2.heat"/>
            <p:cNvSpPr/>
            <p:nvPr/>
          </p:nvSpPr>
          <p:spPr>
            <a:xfrm>
              <a:off x="8058150" y="1822450"/>
              <a:ext cx="1104900" cy="292100"/>
            </a:xfrm>
            <a:prstGeom prst="rect">
              <a:avLst/>
            </a:prstGeom>
            <a:solidFill>
              <a:srgbClr val="0047FF"/>
            </a:solidFill>
            <a:ln>
              <a:noFill/>
            </a:ln>
          </p:spPr>
        </p:sp>
        <p:sp>
          <p:nvSpPr>
            <p:cNvPr id="35" name="node01.row.item-004.c3.heat-gap"/>
            <p:cNvSpPr/>
            <p:nvPr/>
          </p:nvSpPr>
          <p:spPr>
            <a:xfrm>
              <a:off x="9182100" y="1803400"/>
              <a:ext cx="1143000" cy="330200"/>
            </a:xfrm>
            <a:prstGeom prst="rect">
              <a:avLst/>
            </a:prstGeom>
            <a:solidFill>
              <a:srgbClr val="FFFFFF"/>
            </a:solidFill>
            <a:ln>
              <a:noFill/>
            </a:ln>
          </p:spPr>
        </p:sp>
        <p:sp>
          <p:nvSpPr>
            <p:cNvPr id="36" name="node01.row.item-004.c3.heat"/>
            <p:cNvSpPr/>
            <p:nvPr/>
          </p:nvSpPr>
          <p:spPr>
            <a:xfrm>
              <a:off x="9201150" y="1822450"/>
              <a:ext cx="1104900" cy="292100"/>
            </a:xfrm>
            <a:prstGeom prst="rect">
              <a:avLst/>
            </a:prstGeom>
            <a:solidFill>
              <a:srgbClr val="7C9BFF"/>
            </a:solidFill>
            <a:ln>
              <a:noFill/>
            </a:ln>
          </p:spPr>
        </p:sp>
        <p:sp>
          <p:nvSpPr>
            <p:cNvPr id="37" name="node01.row.item-004.c4.heat-gap"/>
            <p:cNvSpPr/>
            <p:nvPr/>
          </p:nvSpPr>
          <p:spPr>
            <a:xfrm>
              <a:off x="10325100" y="1803400"/>
              <a:ext cx="1143000" cy="330200"/>
            </a:xfrm>
            <a:prstGeom prst="rect">
              <a:avLst/>
            </a:prstGeom>
            <a:solidFill>
              <a:srgbClr val="FFFFFF"/>
            </a:solidFill>
            <a:ln>
              <a:noFill/>
            </a:ln>
          </p:spPr>
        </p:sp>
        <p:sp>
          <p:nvSpPr>
            <p:cNvPr id="38" name="node01.row.item-004.c4.heat"/>
            <p:cNvSpPr/>
            <p:nvPr/>
          </p:nvSpPr>
          <p:spPr>
            <a:xfrm>
              <a:off x="10344150" y="1822450"/>
              <a:ext cx="1104900" cy="292100"/>
            </a:xfrm>
            <a:prstGeom prst="rect">
              <a:avLst/>
            </a:prstGeom>
            <a:solidFill>
              <a:srgbClr val="B9C9F0"/>
            </a:solidFill>
            <a:ln>
              <a:noFill/>
            </a:ln>
          </p:spPr>
        </p:sp>
        <p:sp>
          <p:nvSpPr>
            <p:cNvPr id="39" name="node01.row.item-005.c1.heat-gap"/>
            <p:cNvSpPr/>
            <p:nvPr/>
          </p:nvSpPr>
          <p:spPr>
            <a:xfrm>
              <a:off x="6896100" y="2133600"/>
              <a:ext cx="1143000" cy="330200"/>
            </a:xfrm>
            <a:prstGeom prst="rect">
              <a:avLst/>
            </a:prstGeom>
            <a:solidFill>
              <a:srgbClr val="FFFFFF"/>
            </a:solidFill>
            <a:ln>
              <a:noFill/>
            </a:ln>
          </p:spPr>
        </p:sp>
        <p:sp>
          <p:nvSpPr>
            <p:cNvPr id="40" name="node01.row.item-005.c1.heat"/>
            <p:cNvSpPr/>
            <p:nvPr/>
          </p:nvSpPr>
          <p:spPr>
            <a:xfrm>
              <a:off x="6915150" y="2152650"/>
              <a:ext cx="1104900" cy="292100"/>
            </a:xfrm>
            <a:prstGeom prst="rect">
              <a:avLst/>
            </a:prstGeom>
            <a:solidFill>
              <a:srgbClr val="070154"/>
            </a:solidFill>
            <a:ln>
              <a:noFill/>
            </a:ln>
          </p:spPr>
        </p:sp>
        <p:sp>
          <p:nvSpPr>
            <p:cNvPr id="41" name="node01.row.item-005.c2.heat-gap"/>
            <p:cNvSpPr/>
            <p:nvPr/>
          </p:nvSpPr>
          <p:spPr>
            <a:xfrm>
              <a:off x="8039100" y="2133600"/>
              <a:ext cx="1143000" cy="330200"/>
            </a:xfrm>
            <a:prstGeom prst="rect">
              <a:avLst/>
            </a:prstGeom>
            <a:solidFill>
              <a:srgbClr val="FFFFFF"/>
            </a:solidFill>
            <a:ln>
              <a:noFill/>
            </a:ln>
          </p:spPr>
        </p:sp>
        <p:sp>
          <p:nvSpPr>
            <p:cNvPr id="42" name="node01.row.item-005.c2.heat"/>
            <p:cNvSpPr/>
            <p:nvPr/>
          </p:nvSpPr>
          <p:spPr>
            <a:xfrm>
              <a:off x="8058150" y="2152650"/>
              <a:ext cx="1104900" cy="292100"/>
            </a:xfrm>
            <a:prstGeom prst="rect">
              <a:avLst/>
            </a:prstGeom>
            <a:solidFill>
              <a:srgbClr val="0047FF"/>
            </a:solidFill>
            <a:ln>
              <a:noFill/>
            </a:ln>
          </p:spPr>
        </p:sp>
        <p:sp>
          <p:nvSpPr>
            <p:cNvPr id="43" name="node01.row.item-005.c3.heat-gap"/>
            <p:cNvSpPr/>
            <p:nvPr/>
          </p:nvSpPr>
          <p:spPr>
            <a:xfrm>
              <a:off x="9182100" y="2133600"/>
              <a:ext cx="1143000" cy="330200"/>
            </a:xfrm>
            <a:prstGeom prst="rect">
              <a:avLst/>
            </a:prstGeom>
            <a:solidFill>
              <a:srgbClr val="FFFFFF"/>
            </a:solidFill>
            <a:ln>
              <a:noFill/>
            </a:ln>
          </p:spPr>
        </p:sp>
        <p:sp>
          <p:nvSpPr>
            <p:cNvPr id="44" name="node01.row.item-005.c3.heat"/>
            <p:cNvSpPr/>
            <p:nvPr/>
          </p:nvSpPr>
          <p:spPr>
            <a:xfrm>
              <a:off x="9201150" y="2152650"/>
              <a:ext cx="1104900" cy="292100"/>
            </a:xfrm>
            <a:prstGeom prst="rect">
              <a:avLst/>
            </a:prstGeom>
            <a:solidFill>
              <a:srgbClr val="0047FF"/>
            </a:solidFill>
            <a:ln>
              <a:noFill/>
            </a:ln>
          </p:spPr>
        </p:sp>
        <p:sp>
          <p:nvSpPr>
            <p:cNvPr id="45" name="node01.row.item-005.c4.heat-gap"/>
            <p:cNvSpPr/>
            <p:nvPr/>
          </p:nvSpPr>
          <p:spPr>
            <a:xfrm>
              <a:off x="10325100" y="2133600"/>
              <a:ext cx="1143000" cy="330200"/>
            </a:xfrm>
            <a:prstGeom prst="rect">
              <a:avLst/>
            </a:prstGeom>
            <a:solidFill>
              <a:srgbClr val="FFFFFF"/>
            </a:solidFill>
            <a:ln>
              <a:noFill/>
            </a:ln>
          </p:spPr>
        </p:sp>
        <p:sp>
          <p:nvSpPr>
            <p:cNvPr id="46" name="node01.row.item-005.c4.heat"/>
            <p:cNvSpPr/>
            <p:nvPr/>
          </p:nvSpPr>
          <p:spPr>
            <a:xfrm>
              <a:off x="10344150" y="2152650"/>
              <a:ext cx="1104900" cy="292100"/>
            </a:xfrm>
            <a:prstGeom prst="rect">
              <a:avLst/>
            </a:prstGeom>
            <a:solidFill>
              <a:srgbClr val="7C9BFF"/>
            </a:solidFill>
            <a:ln>
              <a:noFill/>
            </a:ln>
          </p:spPr>
        </p:sp>
        <p:sp>
          <p:nvSpPr>
            <p:cNvPr id="47" name="node01.row.item-006.c1.heat-gap"/>
            <p:cNvSpPr/>
            <p:nvPr/>
          </p:nvSpPr>
          <p:spPr>
            <a:xfrm>
              <a:off x="6896100" y="2463800"/>
              <a:ext cx="1143000" cy="330200"/>
            </a:xfrm>
            <a:prstGeom prst="rect">
              <a:avLst/>
            </a:prstGeom>
            <a:solidFill>
              <a:srgbClr val="FFFFFF"/>
            </a:solidFill>
            <a:ln>
              <a:noFill/>
            </a:ln>
          </p:spPr>
        </p:sp>
        <p:sp>
          <p:nvSpPr>
            <p:cNvPr id="48" name="node01.row.item-006.c1.heat"/>
            <p:cNvSpPr/>
            <p:nvPr/>
          </p:nvSpPr>
          <p:spPr>
            <a:xfrm>
              <a:off x="6915150" y="2482850"/>
              <a:ext cx="1104900" cy="292100"/>
            </a:xfrm>
            <a:prstGeom prst="rect">
              <a:avLst/>
            </a:prstGeom>
            <a:solidFill>
              <a:srgbClr val="0047FF"/>
            </a:solidFill>
            <a:ln>
              <a:noFill/>
            </a:ln>
          </p:spPr>
        </p:sp>
        <p:sp>
          <p:nvSpPr>
            <p:cNvPr id="49" name="node01.row.item-006.c2.heat-gap"/>
            <p:cNvSpPr/>
            <p:nvPr/>
          </p:nvSpPr>
          <p:spPr>
            <a:xfrm>
              <a:off x="8039100" y="2463800"/>
              <a:ext cx="1143000" cy="330200"/>
            </a:xfrm>
            <a:prstGeom prst="rect">
              <a:avLst/>
            </a:prstGeom>
            <a:solidFill>
              <a:srgbClr val="FFFFFF"/>
            </a:solidFill>
            <a:ln>
              <a:noFill/>
            </a:ln>
          </p:spPr>
        </p:sp>
        <p:sp>
          <p:nvSpPr>
            <p:cNvPr id="50" name="node01.row.item-006.c2.heat"/>
            <p:cNvSpPr/>
            <p:nvPr/>
          </p:nvSpPr>
          <p:spPr>
            <a:xfrm>
              <a:off x="8058150" y="2482850"/>
              <a:ext cx="1104900" cy="292100"/>
            </a:xfrm>
            <a:prstGeom prst="rect">
              <a:avLst/>
            </a:prstGeom>
            <a:solidFill>
              <a:srgbClr val="7C9BFF"/>
            </a:solidFill>
            <a:ln>
              <a:noFill/>
            </a:ln>
          </p:spPr>
        </p:sp>
        <p:sp>
          <p:nvSpPr>
            <p:cNvPr id="51" name="node01.row.item-006.c3.heat-gap"/>
            <p:cNvSpPr/>
            <p:nvPr/>
          </p:nvSpPr>
          <p:spPr>
            <a:xfrm>
              <a:off x="9182100" y="2463800"/>
              <a:ext cx="1143000" cy="330200"/>
            </a:xfrm>
            <a:prstGeom prst="rect">
              <a:avLst/>
            </a:prstGeom>
            <a:solidFill>
              <a:srgbClr val="FFFFFF"/>
            </a:solidFill>
            <a:ln>
              <a:noFill/>
            </a:ln>
          </p:spPr>
        </p:sp>
        <p:sp>
          <p:nvSpPr>
            <p:cNvPr id="52" name="node01.row.item-006.c3.heat"/>
            <p:cNvSpPr/>
            <p:nvPr/>
          </p:nvSpPr>
          <p:spPr>
            <a:xfrm>
              <a:off x="9201150" y="2482850"/>
              <a:ext cx="1104900" cy="292100"/>
            </a:xfrm>
            <a:prstGeom prst="rect">
              <a:avLst/>
            </a:prstGeom>
            <a:solidFill>
              <a:srgbClr val="B9C9F0"/>
            </a:solidFill>
            <a:ln>
              <a:noFill/>
            </a:ln>
          </p:spPr>
        </p:sp>
        <p:sp>
          <p:nvSpPr>
            <p:cNvPr id="53" name="node01.row.item-006.c4.heat-gap"/>
            <p:cNvSpPr/>
            <p:nvPr/>
          </p:nvSpPr>
          <p:spPr>
            <a:xfrm>
              <a:off x="10325100" y="2463800"/>
              <a:ext cx="1143000" cy="330200"/>
            </a:xfrm>
            <a:prstGeom prst="rect">
              <a:avLst/>
            </a:prstGeom>
            <a:solidFill>
              <a:srgbClr val="FFFFFF"/>
            </a:solidFill>
            <a:ln>
              <a:noFill/>
            </a:ln>
          </p:spPr>
        </p:sp>
        <p:sp>
          <p:nvSpPr>
            <p:cNvPr id="54" name="node01.row.item-006.c4.heat"/>
            <p:cNvSpPr/>
            <p:nvPr/>
          </p:nvSpPr>
          <p:spPr>
            <a:xfrm>
              <a:off x="10344150" y="2482850"/>
              <a:ext cx="1104900" cy="292100"/>
            </a:xfrm>
            <a:prstGeom prst="rect">
              <a:avLst/>
            </a:prstGeom>
            <a:solidFill>
              <a:srgbClr val="B9C9F0"/>
            </a:solidFill>
            <a:ln>
              <a:noFill/>
            </a:ln>
          </p:spPr>
        </p:sp>
        <p:sp>
          <p:nvSpPr>
            <p:cNvPr id="55" name="node01.row.item-007.c1.heat-gap"/>
            <p:cNvSpPr/>
            <p:nvPr/>
          </p:nvSpPr>
          <p:spPr>
            <a:xfrm>
              <a:off x="6896100" y="2794000"/>
              <a:ext cx="1143000" cy="330200"/>
            </a:xfrm>
            <a:prstGeom prst="rect">
              <a:avLst/>
            </a:prstGeom>
            <a:solidFill>
              <a:srgbClr val="FFFFFF"/>
            </a:solidFill>
            <a:ln>
              <a:noFill/>
            </a:ln>
          </p:spPr>
        </p:sp>
        <p:sp>
          <p:nvSpPr>
            <p:cNvPr id="56" name="node01.row.item-007.c1.heat"/>
            <p:cNvSpPr/>
            <p:nvPr/>
          </p:nvSpPr>
          <p:spPr>
            <a:xfrm>
              <a:off x="6915150" y="2813050"/>
              <a:ext cx="1104900" cy="292100"/>
            </a:xfrm>
            <a:prstGeom prst="rect">
              <a:avLst/>
            </a:prstGeom>
            <a:solidFill>
              <a:srgbClr val="070154"/>
            </a:solidFill>
            <a:ln>
              <a:noFill/>
            </a:ln>
          </p:spPr>
        </p:sp>
        <p:sp>
          <p:nvSpPr>
            <p:cNvPr id="57" name="node01.row.item-007.c2.heat-gap"/>
            <p:cNvSpPr/>
            <p:nvPr/>
          </p:nvSpPr>
          <p:spPr>
            <a:xfrm>
              <a:off x="8039100" y="2794000"/>
              <a:ext cx="1143000" cy="330200"/>
            </a:xfrm>
            <a:prstGeom prst="rect">
              <a:avLst/>
            </a:prstGeom>
            <a:solidFill>
              <a:srgbClr val="FFFFFF"/>
            </a:solidFill>
            <a:ln>
              <a:noFill/>
            </a:ln>
          </p:spPr>
        </p:sp>
        <p:sp>
          <p:nvSpPr>
            <p:cNvPr id="58" name="node01.row.item-007.c2.heat"/>
            <p:cNvSpPr/>
            <p:nvPr/>
          </p:nvSpPr>
          <p:spPr>
            <a:xfrm>
              <a:off x="8058150" y="2813050"/>
              <a:ext cx="1104900" cy="292100"/>
            </a:xfrm>
            <a:prstGeom prst="rect">
              <a:avLst/>
            </a:prstGeom>
            <a:solidFill>
              <a:srgbClr val="0047FF"/>
            </a:solidFill>
            <a:ln>
              <a:noFill/>
            </a:ln>
          </p:spPr>
        </p:sp>
        <p:sp>
          <p:nvSpPr>
            <p:cNvPr id="59" name="node01.row.item-007.c3.heat-gap"/>
            <p:cNvSpPr/>
            <p:nvPr/>
          </p:nvSpPr>
          <p:spPr>
            <a:xfrm>
              <a:off x="9182100" y="2794000"/>
              <a:ext cx="1143000" cy="330200"/>
            </a:xfrm>
            <a:prstGeom prst="rect">
              <a:avLst/>
            </a:prstGeom>
            <a:solidFill>
              <a:srgbClr val="FFFFFF"/>
            </a:solidFill>
            <a:ln>
              <a:noFill/>
            </a:ln>
          </p:spPr>
        </p:sp>
        <p:sp>
          <p:nvSpPr>
            <p:cNvPr id="60" name="node01.row.item-007.c3.heat"/>
            <p:cNvSpPr/>
            <p:nvPr/>
          </p:nvSpPr>
          <p:spPr>
            <a:xfrm>
              <a:off x="9201150" y="2813050"/>
              <a:ext cx="1104900" cy="292100"/>
            </a:xfrm>
            <a:prstGeom prst="rect">
              <a:avLst/>
            </a:prstGeom>
            <a:solidFill>
              <a:srgbClr val="7C9BFF"/>
            </a:solidFill>
            <a:ln>
              <a:noFill/>
            </a:ln>
          </p:spPr>
        </p:sp>
        <p:sp>
          <p:nvSpPr>
            <p:cNvPr id="61" name="node01.row.item-007.c4.heat-gap"/>
            <p:cNvSpPr/>
            <p:nvPr/>
          </p:nvSpPr>
          <p:spPr>
            <a:xfrm>
              <a:off x="10325100" y="2794000"/>
              <a:ext cx="1143000" cy="330200"/>
            </a:xfrm>
            <a:prstGeom prst="rect">
              <a:avLst/>
            </a:prstGeom>
            <a:solidFill>
              <a:srgbClr val="FFFFFF"/>
            </a:solidFill>
            <a:ln>
              <a:noFill/>
            </a:ln>
          </p:spPr>
        </p:sp>
        <p:sp>
          <p:nvSpPr>
            <p:cNvPr id="62" name="node01.row.item-007.c4.heat"/>
            <p:cNvSpPr/>
            <p:nvPr/>
          </p:nvSpPr>
          <p:spPr>
            <a:xfrm>
              <a:off x="10344150" y="2813050"/>
              <a:ext cx="1104900" cy="292100"/>
            </a:xfrm>
            <a:prstGeom prst="rect">
              <a:avLst/>
            </a:prstGeom>
            <a:solidFill>
              <a:srgbClr val="B9C9F0"/>
            </a:solidFill>
            <a:ln>
              <a:noFill/>
            </a:ln>
          </p:spPr>
        </p:sp>
        <p:sp>
          <p:nvSpPr>
            <p:cNvPr id="63" name="node01.row.item-008.c1.heat-gap"/>
            <p:cNvSpPr/>
            <p:nvPr/>
          </p:nvSpPr>
          <p:spPr>
            <a:xfrm>
              <a:off x="6896100" y="3124200"/>
              <a:ext cx="1143000" cy="330200"/>
            </a:xfrm>
            <a:prstGeom prst="rect">
              <a:avLst/>
            </a:prstGeom>
            <a:solidFill>
              <a:srgbClr val="FFFFFF"/>
            </a:solidFill>
            <a:ln>
              <a:noFill/>
            </a:ln>
          </p:spPr>
        </p:sp>
        <p:sp>
          <p:nvSpPr>
            <p:cNvPr id="64" name="node01.row.item-008.c1.heat"/>
            <p:cNvSpPr/>
            <p:nvPr/>
          </p:nvSpPr>
          <p:spPr>
            <a:xfrm>
              <a:off x="6915150" y="3143250"/>
              <a:ext cx="1104900" cy="292100"/>
            </a:xfrm>
            <a:prstGeom prst="rect">
              <a:avLst/>
            </a:prstGeom>
            <a:solidFill>
              <a:srgbClr val="7C9BFF"/>
            </a:solidFill>
            <a:ln>
              <a:noFill/>
            </a:ln>
          </p:spPr>
        </p:sp>
        <p:sp>
          <p:nvSpPr>
            <p:cNvPr id="65" name="node01.row.item-008.c2.heat-gap"/>
            <p:cNvSpPr/>
            <p:nvPr/>
          </p:nvSpPr>
          <p:spPr>
            <a:xfrm>
              <a:off x="8039100" y="3124200"/>
              <a:ext cx="1143000" cy="330200"/>
            </a:xfrm>
            <a:prstGeom prst="rect">
              <a:avLst/>
            </a:prstGeom>
            <a:solidFill>
              <a:srgbClr val="FFFFFF"/>
            </a:solidFill>
            <a:ln>
              <a:noFill/>
            </a:ln>
          </p:spPr>
        </p:sp>
        <p:sp>
          <p:nvSpPr>
            <p:cNvPr id="66" name="node01.row.item-008.c2.heat"/>
            <p:cNvSpPr/>
            <p:nvPr/>
          </p:nvSpPr>
          <p:spPr>
            <a:xfrm>
              <a:off x="8058150" y="3143250"/>
              <a:ext cx="1104900" cy="292100"/>
            </a:xfrm>
            <a:prstGeom prst="rect">
              <a:avLst/>
            </a:prstGeom>
            <a:solidFill>
              <a:srgbClr val="7C9BFF"/>
            </a:solidFill>
            <a:ln>
              <a:noFill/>
            </a:ln>
          </p:spPr>
        </p:sp>
        <p:sp>
          <p:nvSpPr>
            <p:cNvPr id="67" name="node01.row.item-008.c3.heat-gap"/>
            <p:cNvSpPr/>
            <p:nvPr/>
          </p:nvSpPr>
          <p:spPr>
            <a:xfrm>
              <a:off x="9182100" y="3124200"/>
              <a:ext cx="1143000" cy="330200"/>
            </a:xfrm>
            <a:prstGeom prst="rect">
              <a:avLst/>
            </a:prstGeom>
            <a:solidFill>
              <a:srgbClr val="FFFFFF"/>
            </a:solidFill>
            <a:ln>
              <a:noFill/>
            </a:ln>
          </p:spPr>
        </p:sp>
        <p:sp>
          <p:nvSpPr>
            <p:cNvPr id="68" name="node01.row.item-008.c3.heat"/>
            <p:cNvSpPr/>
            <p:nvPr/>
          </p:nvSpPr>
          <p:spPr>
            <a:xfrm>
              <a:off x="9201150" y="3143250"/>
              <a:ext cx="1104900" cy="292100"/>
            </a:xfrm>
            <a:prstGeom prst="rect">
              <a:avLst/>
            </a:prstGeom>
            <a:solidFill>
              <a:srgbClr val="B9C9F0"/>
            </a:solidFill>
            <a:ln>
              <a:noFill/>
            </a:ln>
          </p:spPr>
        </p:sp>
        <p:sp>
          <p:nvSpPr>
            <p:cNvPr id="69" name="node01.row.item-008.c4.heat-gap"/>
            <p:cNvSpPr/>
            <p:nvPr/>
          </p:nvSpPr>
          <p:spPr>
            <a:xfrm>
              <a:off x="10325100" y="3124200"/>
              <a:ext cx="1143000" cy="330200"/>
            </a:xfrm>
            <a:prstGeom prst="rect">
              <a:avLst/>
            </a:prstGeom>
            <a:solidFill>
              <a:srgbClr val="FFFFFF"/>
            </a:solidFill>
            <a:ln>
              <a:noFill/>
            </a:ln>
          </p:spPr>
        </p:sp>
        <p:sp>
          <p:nvSpPr>
            <p:cNvPr id="70" name="node01.row.item-008.c4.heat"/>
            <p:cNvSpPr/>
            <p:nvPr/>
          </p:nvSpPr>
          <p:spPr>
            <a:xfrm>
              <a:off x="10344150" y="3143250"/>
              <a:ext cx="1104900" cy="292100"/>
            </a:xfrm>
            <a:prstGeom prst="rect">
              <a:avLst/>
            </a:prstGeom>
            <a:solidFill>
              <a:srgbClr val="E8EEF8"/>
            </a:solidFill>
            <a:ln>
              <a:noFill/>
            </a:ln>
          </p:spPr>
        </p:sp>
        <p:sp>
          <p:nvSpPr>
            <p:cNvPr id="71" name="node01.row.item-009.c1.heat-gap"/>
            <p:cNvSpPr/>
            <p:nvPr/>
          </p:nvSpPr>
          <p:spPr>
            <a:xfrm>
              <a:off x="6896100" y="3454400"/>
              <a:ext cx="1143000" cy="330200"/>
            </a:xfrm>
            <a:prstGeom prst="rect">
              <a:avLst/>
            </a:prstGeom>
            <a:solidFill>
              <a:srgbClr val="FFFFFF"/>
            </a:solidFill>
            <a:ln>
              <a:noFill/>
            </a:ln>
          </p:spPr>
        </p:sp>
        <p:sp>
          <p:nvSpPr>
            <p:cNvPr id="72" name="node01.row.item-009.c1.heat"/>
            <p:cNvSpPr/>
            <p:nvPr/>
          </p:nvSpPr>
          <p:spPr>
            <a:xfrm>
              <a:off x="6915150" y="3473450"/>
              <a:ext cx="1104900" cy="292100"/>
            </a:xfrm>
            <a:prstGeom prst="rect">
              <a:avLst/>
            </a:prstGeom>
            <a:solidFill>
              <a:srgbClr val="0047FF"/>
            </a:solidFill>
            <a:ln>
              <a:noFill/>
            </a:ln>
          </p:spPr>
        </p:sp>
        <p:sp>
          <p:nvSpPr>
            <p:cNvPr id="73" name="node01.row.item-009.c2.heat-gap"/>
            <p:cNvSpPr/>
            <p:nvPr/>
          </p:nvSpPr>
          <p:spPr>
            <a:xfrm>
              <a:off x="8039100" y="3454400"/>
              <a:ext cx="1143000" cy="330200"/>
            </a:xfrm>
            <a:prstGeom prst="rect">
              <a:avLst/>
            </a:prstGeom>
            <a:solidFill>
              <a:srgbClr val="FFFFFF"/>
            </a:solidFill>
            <a:ln>
              <a:noFill/>
            </a:ln>
          </p:spPr>
        </p:sp>
        <p:sp>
          <p:nvSpPr>
            <p:cNvPr id="74" name="node01.row.item-009.c2.heat"/>
            <p:cNvSpPr/>
            <p:nvPr/>
          </p:nvSpPr>
          <p:spPr>
            <a:xfrm>
              <a:off x="8058150" y="3473450"/>
              <a:ext cx="1104900" cy="292100"/>
            </a:xfrm>
            <a:prstGeom prst="rect">
              <a:avLst/>
            </a:prstGeom>
            <a:solidFill>
              <a:srgbClr val="0047FF"/>
            </a:solidFill>
            <a:ln>
              <a:noFill/>
            </a:ln>
          </p:spPr>
        </p:sp>
        <p:sp>
          <p:nvSpPr>
            <p:cNvPr id="75" name="node01.row.item-009.c3.heat-gap"/>
            <p:cNvSpPr/>
            <p:nvPr/>
          </p:nvSpPr>
          <p:spPr>
            <a:xfrm>
              <a:off x="9182100" y="3454400"/>
              <a:ext cx="1143000" cy="330200"/>
            </a:xfrm>
            <a:prstGeom prst="rect">
              <a:avLst/>
            </a:prstGeom>
            <a:solidFill>
              <a:srgbClr val="FFFFFF"/>
            </a:solidFill>
            <a:ln>
              <a:noFill/>
            </a:ln>
          </p:spPr>
        </p:sp>
        <p:sp>
          <p:nvSpPr>
            <p:cNvPr id="76" name="node01.row.item-009.c3.heat"/>
            <p:cNvSpPr/>
            <p:nvPr/>
          </p:nvSpPr>
          <p:spPr>
            <a:xfrm>
              <a:off x="9201150" y="3473450"/>
              <a:ext cx="1104900" cy="292100"/>
            </a:xfrm>
            <a:prstGeom prst="rect">
              <a:avLst/>
            </a:prstGeom>
            <a:solidFill>
              <a:srgbClr val="7C9BFF"/>
            </a:solidFill>
            <a:ln>
              <a:noFill/>
            </a:ln>
          </p:spPr>
        </p:sp>
        <p:sp>
          <p:nvSpPr>
            <p:cNvPr id="77" name="node01.row.item-009.c4.heat-gap"/>
            <p:cNvSpPr/>
            <p:nvPr/>
          </p:nvSpPr>
          <p:spPr>
            <a:xfrm>
              <a:off x="10325100" y="3454400"/>
              <a:ext cx="1143000" cy="330200"/>
            </a:xfrm>
            <a:prstGeom prst="rect">
              <a:avLst/>
            </a:prstGeom>
            <a:solidFill>
              <a:srgbClr val="FFFFFF"/>
            </a:solidFill>
            <a:ln>
              <a:noFill/>
            </a:ln>
          </p:spPr>
        </p:sp>
        <p:sp>
          <p:nvSpPr>
            <p:cNvPr id="78" name="node01.row.item-009.c4.heat"/>
            <p:cNvSpPr/>
            <p:nvPr/>
          </p:nvSpPr>
          <p:spPr>
            <a:xfrm>
              <a:off x="10344150" y="3473450"/>
              <a:ext cx="1104900" cy="292100"/>
            </a:xfrm>
            <a:prstGeom prst="rect">
              <a:avLst/>
            </a:prstGeom>
            <a:solidFill>
              <a:srgbClr val="7C9BFF"/>
            </a:solidFill>
            <a:ln>
              <a:noFill/>
            </a:ln>
          </p:spPr>
        </p:sp>
        <p:sp>
          <p:nvSpPr>
            <p:cNvPr id="79" name="node01.row.item-010.c1.heat-gap"/>
            <p:cNvSpPr/>
            <p:nvPr/>
          </p:nvSpPr>
          <p:spPr>
            <a:xfrm>
              <a:off x="6896100" y="3784600"/>
              <a:ext cx="1143000" cy="330200"/>
            </a:xfrm>
            <a:prstGeom prst="rect">
              <a:avLst/>
            </a:prstGeom>
            <a:solidFill>
              <a:srgbClr val="FFFFFF"/>
            </a:solidFill>
            <a:ln>
              <a:noFill/>
            </a:ln>
          </p:spPr>
        </p:sp>
        <p:sp>
          <p:nvSpPr>
            <p:cNvPr id="80" name="node01.row.item-010.c1.heat"/>
            <p:cNvSpPr/>
            <p:nvPr/>
          </p:nvSpPr>
          <p:spPr>
            <a:xfrm>
              <a:off x="6915150" y="3803650"/>
              <a:ext cx="1104900" cy="292100"/>
            </a:xfrm>
            <a:prstGeom prst="rect">
              <a:avLst/>
            </a:prstGeom>
            <a:solidFill>
              <a:srgbClr val="0047FF"/>
            </a:solidFill>
            <a:ln>
              <a:noFill/>
            </a:ln>
          </p:spPr>
        </p:sp>
        <p:sp>
          <p:nvSpPr>
            <p:cNvPr id="81" name="node01.row.item-010.c2.heat-gap"/>
            <p:cNvSpPr/>
            <p:nvPr/>
          </p:nvSpPr>
          <p:spPr>
            <a:xfrm>
              <a:off x="8039100" y="3784600"/>
              <a:ext cx="1143000" cy="330200"/>
            </a:xfrm>
            <a:prstGeom prst="rect">
              <a:avLst/>
            </a:prstGeom>
            <a:solidFill>
              <a:srgbClr val="FFFFFF"/>
            </a:solidFill>
            <a:ln>
              <a:noFill/>
            </a:ln>
          </p:spPr>
        </p:sp>
        <p:sp>
          <p:nvSpPr>
            <p:cNvPr id="82" name="node01.row.item-010.c2.heat"/>
            <p:cNvSpPr/>
            <p:nvPr/>
          </p:nvSpPr>
          <p:spPr>
            <a:xfrm>
              <a:off x="8058150" y="3803650"/>
              <a:ext cx="1104900" cy="292100"/>
            </a:xfrm>
            <a:prstGeom prst="rect">
              <a:avLst/>
            </a:prstGeom>
            <a:solidFill>
              <a:srgbClr val="7C9BFF"/>
            </a:solidFill>
            <a:ln>
              <a:noFill/>
            </a:ln>
          </p:spPr>
        </p:sp>
        <p:sp>
          <p:nvSpPr>
            <p:cNvPr id="83" name="node01.row.item-010.c3.heat-gap"/>
            <p:cNvSpPr/>
            <p:nvPr/>
          </p:nvSpPr>
          <p:spPr>
            <a:xfrm>
              <a:off x="9182100" y="3784600"/>
              <a:ext cx="1143000" cy="330200"/>
            </a:xfrm>
            <a:prstGeom prst="rect">
              <a:avLst/>
            </a:prstGeom>
            <a:solidFill>
              <a:srgbClr val="FFFFFF"/>
            </a:solidFill>
            <a:ln>
              <a:noFill/>
            </a:ln>
          </p:spPr>
        </p:sp>
        <p:sp>
          <p:nvSpPr>
            <p:cNvPr id="84" name="node01.row.item-010.c3.heat"/>
            <p:cNvSpPr/>
            <p:nvPr/>
          </p:nvSpPr>
          <p:spPr>
            <a:xfrm>
              <a:off x="9201150" y="3803650"/>
              <a:ext cx="1104900" cy="292100"/>
            </a:xfrm>
            <a:prstGeom prst="rect">
              <a:avLst/>
            </a:prstGeom>
            <a:solidFill>
              <a:srgbClr val="B9C9F0"/>
            </a:solidFill>
            <a:ln>
              <a:noFill/>
            </a:ln>
          </p:spPr>
        </p:sp>
        <p:sp>
          <p:nvSpPr>
            <p:cNvPr id="85" name="node01.row.item-010.c4.heat-gap"/>
            <p:cNvSpPr/>
            <p:nvPr/>
          </p:nvSpPr>
          <p:spPr>
            <a:xfrm>
              <a:off x="10325100" y="3784600"/>
              <a:ext cx="1143000" cy="330200"/>
            </a:xfrm>
            <a:prstGeom prst="rect">
              <a:avLst/>
            </a:prstGeom>
            <a:solidFill>
              <a:srgbClr val="FFFFFF"/>
            </a:solidFill>
            <a:ln>
              <a:noFill/>
            </a:ln>
          </p:spPr>
        </p:sp>
        <p:sp>
          <p:nvSpPr>
            <p:cNvPr id="86" name="node01.row.item-010.c4.heat"/>
            <p:cNvSpPr/>
            <p:nvPr/>
          </p:nvSpPr>
          <p:spPr>
            <a:xfrm>
              <a:off x="10344150" y="3803650"/>
              <a:ext cx="1104900" cy="292100"/>
            </a:xfrm>
            <a:prstGeom prst="rect">
              <a:avLst/>
            </a:prstGeom>
            <a:solidFill>
              <a:srgbClr val="E8EEF8"/>
            </a:solidFill>
            <a:ln>
              <a:noFill/>
            </a:ln>
          </p:spPr>
        </p:sp>
        <p:sp>
          <p:nvSpPr>
            <p:cNvPr id="87" name="node01.row.item-011.c1.heat-gap"/>
            <p:cNvSpPr/>
            <p:nvPr/>
          </p:nvSpPr>
          <p:spPr>
            <a:xfrm>
              <a:off x="6896100" y="4114800"/>
              <a:ext cx="1143000" cy="330200"/>
            </a:xfrm>
            <a:prstGeom prst="rect">
              <a:avLst/>
            </a:prstGeom>
            <a:solidFill>
              <a:srgbClr val="FFFFFF"/>
            </a:solidFill>
            <a:ln>
              <a:noFill/>
            </a:ln>
          </p:spPr>
        </p:sp>
        <p:sp>
          <p:nvSpPr>
            <p:cNvPr id="88" name="node01.row.item-011.c1.heat"/>
            <p:cNvSpPr/>
            <p:nvPr/>
          </p:nvSpPr>
          <p:spPr>
            <a:xfrm>
              <a:off x="6915150" y="4133850"/>
              <a:ext cx="1104900" cy="292100"/>
            </a:xfrm>
            <a:prstGeom prst="rect">
              <a:avLst/>
            </a:prstGeom>
            <a:solidFill>
              <a:srgbClr val="7C9BFF"/>
            </a:solidFill>
            <a:ln>
              <a:noFill/>
            </a:ln>
          </p:spPr>
        </p:sp>
        <p:sp>
          <p:nvSpPr>
            <p:cNvPr id="89" name="node01.row.item-011.c2.heat-gap"/>
            <p:cNvSpPr/>
            <p:nvPr/>
          </p:nvSpPr>
          <p:spPr>
            <a:xfrm>
              <a:off x="8039100" y="4114800"/>
              <a:ext cx="1143000" cy="330200"/>
            </a:xfrm>
            <a:prstGeom prst="rect">
              <a:avLst/>
            </a:prstGeom>
            <a:solidFill>
              <a:srgbClr val="FFFFFF"/>
            </a:solidFill>
            <a:ln>
              <a:noFill/>
            </a:ln>
          </p:spPr>
        </p:sp>
        <p:sp>
          <p:nvSpPr>
            <p:cNvPr id="90" name="node01.row.item-011.c2.heat"/>
            <p:cNvSpPr/>
            <p:nvPr/>
          </p:nvSpPr>
          <p:spPr>
            <a:xfrm>
              <a:off x="8058150" y="4133850"/>
              <a:ext cx="1104900" cy="292100"/>
            </a:xfrm>
            <a:prstGeom prst="rect">
              <a:avLst/>
            </a:prstGeom>
            <a:solidFill>
              <a:srgbClr val="7C9BFF"/>
            </a:solidFill>
            <a:ln>
              <a:noFill/>
            </a:ln>
          </p:spPr>
        </p:sp>
        <p:sp>
          <p:nvSpPr>
            <p:cNvPr id="91" name="node01.row.item-011.c3.heat-gap"/>
            <p:cNvSpPr/>
            <p:nvPr/>
          </p:nvSpPr>
          <p:spPr>
            <a:xfrm>
              <a:off x="9182100" y="4114800"/>
              <a:ext cx="1143000" cy="330200"/>
            </a:xfrm>
            <a:prstGeom prst="rect">
              <a:avLst/>
            </a:prstGeom>
            <a:solidFill>
              <a:srgbClr val="FFFFFF"/>
            </a:solidFill>
            <a:ln>
              <a:noFill/>
            </a:ln>
          </p:spPr>
        </p:sp>
        <p:sp>
          <p:nvSpPr>
            <p:cNvPr id="92" name="node01.row.item-011.c3.heat"/>
            <p:cNvSpPr/>
            <p:nvPr/>
          </p:nvSpPr>
          <p:spPr>
            <a:xfrm>
              <a:off x="9201150" y="4133850"/>
              <a:ext cx="1104900" cy="292100"/>
            </a:xfrm>
            <a:prstGeom prst="rect">
              <a:avLst/>
            </a:prstGeom>
            <a:solidFill>
              <a:srgbClr val="B9C9F0"/>
            </a:solidFill>
            <a:ln>
              <a:noFill/>
            </a:ln>
          </p:spPr>
        </p:sp>
        <p:sp>
          <p:nvSpPr>
            <p:cNvPr id="93" name="node01.row.item-011.c4.heat-gap"/>
            <p:cNvSpPr/>
            <p:nvPr/>
          </p:nvSpPr>
          <p:spPr>
            <a:xfrm>
              <a:off x="10325100" y="4114800"/>
              <a:ext cx="1143000" cy="330200"/>
            </a:xfrm>
            <a:prstGeom prst="rect">
              <a:avLst/>
            </a:prstGeom>
            <a:solidFill>
              <a:srgbClr val="FFFFFF"/>
            </a:solidFill>
            <a:ln>
              <a:noFill/>
            </a:ln>
          </p:spPr>
        </p:sp>
        <p:sp>
          <p:nvSpPr>
            <p:cNvPr id="94" name="node01.row.item-011.c4.heat"/>
            <p:cNvSpPr/>
            <p:nvPr/>
          </p:nvSpPr>
          <p:spPr>
            <a:xfrm>
              <a:off x="10344150" y="4133850"/>
              <a:ext cx="1104900" cy="292100"/>
            </a:xfrm>
            <a:prstGeom prst="rect">
              <a:avLst/>
            </a:prstGeom>
            <a:solidFill>
              <a:srgbClr val="E8EEF8"/>
            </a:solidFill>
            <a:ln>
              <a:noFill/>
            </a:ln>
          </p:spPr>
        </p:sp>
        <p:sp>
          <p:nvSpPr>
            <p:cNvPr id="95" name="node01.row.item-012.c1.heat-gap"/>
            <p:cNvSpPr/>
            <p:nvPr/>
          </p:nvSpPr>
          <p:spPr>
            <a:xfrm>
              <a:off x="6896100" y="4445000"/>
              <a:ext cx="1143000" cy="330200"/>
            </a:xfrm>
            <a:prstGeom prst="rect">
              <a:avLst/>
            </a:prstGeom>
            <a:solidFill>
              <a:srgbClr val="FFFFFF"/>
            </a:solidFill>
            <a:ln>
              <a:noFill/>
            </a:ln>
          </p:spPr>
        </p:sp>
        <p:sp>
          <p:nvSpPr>
            <p:cNvPr id="96" name="node01.row.item-012.c1.heat"/>
            <p:cNvSpPr/>
            <p:nvPr/>
          </p:nvSpPr>
          <p:spPr>
            <a:xfrm>
              <a:off x="6915150" y="4464050"/>
              <a:ext cx="1104900" cy="292100"/>
            </a:xfrm>
            <a:prstGeom prst="rect">
              <a:avLst/>
            </a:prstGeom>
            <a:solidFill>
              <a:srgbClr val="0047FF"/>
            </a:solidFill>
            <a:ln>
              <a:noFill/>
            </a:ln>
          </p:spPr>
        </p:sp>
        <p:sp>
          <p:nvSpPr>
            <p:cNvPr id="97" name="node01.row.item-012.c2.heat-gap"/>
            <p:cNvSpPr/>
            <p:nvPr/>
          </p:nvSpPr>
          <p:spPr>
            <a:xfrm>
              <a:off x="8039100" y="4445000"/>
              <a:ext cx="1143000" cy="330200"/>
            </a:xfrm>
            <a:prstGeom prst="rect">
              <a:avLst/>
            </a:prstGeom>
            <a:solidFill>
              <a:srgbClr val="FFFFFF"/>
            </a:solidFill>
            <a:ln>
              <a:noFill/>
            </a:ln>
          </p:spPr>
        </p:sp>
        <p:sp>
          <p:nvSpPr>
            <p:cNvPr id="98" name="node01.row.item-012.c2.heat"/>
            <p:cNvSpPr/>
            <p:nvPr/>
          </p:nvSpPr>
          <p:spPr>
            <a:xfrm>
              <a:off x="8058150" y="4464050"/>
              <a:ext cx="1104900" cy="292100"/>
            </a:xfrm>
            <a:prstGeom prst="rect">
              <a:avLst/>
            </a:prstGeom>
            <a:solidFill>
              <a:srgbClr val="7C9BFF"/>
            </a:solidFill>
            <a:ln>
              <a:noFill/>
            </a:ln>
          </p:spPr>
        </p:sp>
        <p:sp>
          <p:nvSpPr>
            <p:cNvPr id="99" name="node01.row.item-012.c3.heat-gap"/>
            <p:cNvSpPr/>
            <p:nvPr/>
          </p:nvSpPr>
          <p:spPr>
            <a:xfrm>
              <a:off x="9182100" y="4445000"/>
              <a:ext cx="1143000" cy="330200"/>
            </a:xfrm>
            <a:prstGeom prst="rect">
              <a:avLst/>
            </a:prstGeom>
            <a:solidFill>
              <a:srgbClr val="FFFFFF"/>
            </a:solidFill>
            <a:ln>
              <a:noFill/>
            </a:ln>
          </p:spPr>
        </p:sp>
        <p:sp>
          <p:nvSpPr>
            <p:cNvPr id="100" name="node01.row.item-012.c3.heat"/>
            <p:cNvSpPr/>
            <p:nvPr/>
          </p:nvSpPr>
          <p:spPr>
            <a:xfrm>
              <a:off x="9201150" y="4464050"/>
              <a:ext cx="1104900" cy="292100"/>
            </a:xfrm>
            <a:prstGeom prst="rect">
              <a:avLst/>
            </a:prstGeom>
            <a:solidFill>
              <a:srgbClr val="7C9BFF"/>
            </a:solidFill>
            <a:ln>
              <a:noFill/>
            </a:ln>
          </p:spPr>
        </p:sp>
        <p:sp>
          <p:nvSpPr>
            <p:cNvPr id="101" name="node01.row.item-012.c4.heat-gap"/>
            <p:cNvSpPr/>
            <p:nvPr/>
          </p:nvSpPr>
          <p:spPr>
            <a:xfrm>
              <a:off x="10325100" y="4445000"/>
              <a:ext cx="1143000" cy="330200"/>
            </a:xfrm>
            <a:prstGeom prst="rect">
              <a:avLst/>
            </a:prstGeom>
            <a:solidFill>
              <a:srgbClr val="FFFFFF"/>
            </a:solidFill>
            <a:ln>
              <a:noFill/>
            </a:ln>
          </p:spPr>
        </p:sp>
        <p:sp>
          <p:nvSpPr>
            <p:cNvPr id="102" name="node01.row.item-012.c4.heat"/>
            <p:cNvSpPr/>
            <p:nvPr/>
          </p:nvSpPr>
          <p:spPr>
            <a:xfrm>
              <a:off x="10344150" y="4464050"/>
              <a:ext cx="1104900" cy="292100"/>
            </a:xfrm>
            <a:prstGeom prst="rect">
              <a:avLst/>
            </a:prstGeom>
            <a:solidFill>
              <a:srgbClr val="B9C9F0"/>
            </a:solidFill>
            <a:ln>
              <a:noFill/>
            </a:ln>
          </p:spPr>
        </p:sp>
        <p:sp>
          <p:nvSpPr>
            <p:cNvPr id="103" name="node01.row.item-013.c1.heat-gap"/>
            <p:cNvSpPr/>
            <p:nvPr/>
          </p:nvSpPr>
          <p:spPr>
            <a:xfrm>
              <a:off x="6896100" y="4775200"/>
              <a:ext cx="1143000" cy="330200"/>
            </a:xfrm>
            <a:prstGeom prst="rect">
              <a:avLst/>
            </a:prstGeom>
            <a:solidFill>
              <a:srgbClr val="FFFFFF"/>
            </a:solidFill>
            <a:ln>
              <a:noFill/>
            </a:ln>
          </p:spPr>
        </p:sp>
        <p:sp>
          <p:nvSpPr>
            <p:cNvPr id="104" name="node01.row.item-013.c1.heat"/>
            <p:cNvSpPr/>
            <p:nvPr/>
          </p:nvSpPr>
          <p:spPr>
            <a:xfrm>
              <a:off x="6915150" y="4794250"/>
              <a:ext cx="1104900" cy="292100"/>
            </a:xfrm>
            <a:prstGeom prst="rect">
              <a:avLst/>
            </a:prstGeom>
            <a:solidFill>
              <a:srgbClr val="0047FF"/>
            </a:solidFill>
            <a:ln>
              <a:noFill/>
            </a:ln>
          </p:spPr>
        </p:sp>
        <p:sp>
          <p:nvSpPr>
            <p:cNvPr id="105" name="node01.row.item-013.c2.heat-gap"/>
            <p:cNvSpPr/>
            <p:nvPr/>
          </p:nvSpPr>
          <p:spPr>
            <a:xfrm>
              <a:off x="8039100" y="4775200"/>
              <a:ext cx="1143000" cy="330200"/>
            </a:xfrm>
            <a:prstGeom prst="rect">
              <a:avLst/>
            </a:prstGeom>
            <a:solidFill>
              <a:srgbClr val="FFFFFF"/>
            </a:solidFill>
            <a:ln>
              <a:noFill/>
            </a:ln>
          </p:spPr>
        </p:sp>
        <p:sp>
          <p:nvSpPr>
            <p:cNvPr id="106" name="node01.row.item-013.c2.heat"/>
            <p:cNvSpPr/>
            <p:nvPr/>
          </p:nvSpPr>
          <p:spPr>
            <a:xfrm>
              <a:off x="8058150" y="4794250"/>
              <a:ext cx="1104900" cy="292100"/>
            </a:xfrm>
            <a:prstGeom prst="rect">
              <a:avLst/>
            </a:prstGeom>
            <a:solidFill>
              <a:srgbClr val="7C9BFF"/>
            </a:solidFill>
            <a:ln>
              <a:noFill/>
            </a:ln>
          </p:spPr>
        </p:sp>
        <p:sp>
          <p:nvSpPr>
            <p:cNvPr id="107" name="node01.row.item-013.c3.heat-gap"/>
            <p:cNvSpPr/>
            <p:nvPr/>
          </p:nvSpPr>
          <p:spPr>
            <a:xfrm>
              <a:off x="9182100" y="4775200"/>
              <a:ext cx="1143000" cy="330200"/>
            </a:xfrm>
            <a:prstGeom prst="rect">
              <a:avLst/>
            </a:prstGeom>
            <a:solidFill>
              <a:srgbClr val="FFFFFF"/>
            </a:solidFill>
            <a:ln>
              <a:noFill/>
            </a:ln>
          </p:spPr>
        </p:sp>
        <p:sp>
          <p:nvSpPr>
            <p:cNvPr id="108" name="node01.row.item-013.c3.heat"/>
            <p:cNvSpPr/>
            <p:nvPr/>
          </p:nvSpPr>
          <p:spPr>
            <a:xfrm>
              <a:off x="9201150" y="4794250"/>
              <a:ext cx="1104900" cy="292100"/>
            </a:xfrm>
            <a:prstGeom prst="rect">
              <a:avLst/>
            </a:prstGeom>
            <a:solidFill>
              <a:srgbClr val="B9C9F0"/>
            </a:solidFill>
            <a:ln>
              <a:noFill/>
            </a:ln>
          </p:spPr>
        </p:sp>
        <p:sp>
          <p:nvSpPr>
            <p:cNvPr id="109" name="node01.row.item-013.c4.heat-gap"/>
            <p:cNvSpPr/>
            <p:nvPr/>
          </p:nvSpPr>
          <p:spPr>
            <a:xfrm>
              <a:off x="10325100" y="4775200"/>
              <a:ext cx="1143000" cy="330200"/>
            </a:xfrm>
            <a:prstGeom prst="rect">
              <a:avLst/>
            </a:prstGeom>
            <a:solidFill>
              <a:srgbClr val="FFFFFF"/>
            </a:solidFill>
            <a:ln>
              <a:noFill/>
            </a:ln>
          </p:spPr>
        </p:sp>
        <p:sp>
          <p:nvSpPr>
            <p:cNvPr id="110" name="node01.row.item-013.c4.heat"/>
            <p:cNvSpPr/>
            <p:nvPr/>
          </p:nvSpPr>
          <p:spPr>
            <a:xfrm>
              <a:off x="10344150" y="4794250"/>
              <a:ext cx="1104900" cy="292100"/>
            </a:xfrm>
            <a:prstGeom prst="rect">
              <a:avLst/>
            </a:prstGeom>
            <a:solidFill>
              <a:srgbClr val="B9C9F0"/>
            </a:solidFill>
            <a:ln>
              <a:noFill/>
            </a:ln>
          </p:spPr>
        </p:sp>
        <p:sp>
          <p:nvSpPr>
            <p:cNvPr id="111" name="node01.row.item-014.c1.heat-gap"/>
            <p:cNvSpPr/>
            <p:nvPr/>
          </p:nvSpPr>
          <p:spPr>
            <a:xfrm>
              <a:off x="6896100" y="5105400"/>
              <a:ext cx="1143000" cy="330200"/>
            </a:xfrm>
            <a:prstGeom prst="rect">
              <a:avLst/>
            </a:prstGeom>
            <a:solidFill>
              <a:srgbClr val="FFFFFF"/>
            </a:solidFill>
            <a:ln>
              <a:noFill/>
            </a:ln>
          </p:spPr>
        </p:sp>
        <p:sp>
          <p:nvSpPr>
            <p:cNvPr id="112" name="node01.row.item-014.c1.heat"/>
            <p:cNvSpPr/>
            <p:nvPr/>
          </p:nvSpPr>
          <p:spPr>
            <a:xfrm>
              <a:off x="6915150" y="5124450"/>
              <a:ext cx="1104900" cy="292100"/>
            </a:xfrm>
            <a:prstGeom prst="rect">
              <a:avLst/>
            </a:prstGeom>
            <a:solidFill>
              <a:srgbClr val="070154"/>
            </a:solidFill>
            <a:ln>
              <a:noFill/>
            </a:ln>
          </p:spPr>
        </p:sp>
        <p:sp>
          <p:nvSpPr>
            <p:cNvPr id="113" name="node01.row.item-014.c2.heat-gap"/>
            <p:cNvSpPr/>
            <p:nvPr/>
          </p:nvSpPr>
          <p:spPr>
            <a:xfrm>
              <a:off x="8039100" y="5105400"/>
              <a:ext cx="1143000" cy="330200"/>
            </a:xfrm>
            <a:prstGeom prst="rect">
              <a:avLst/>
            </a:prstGeom>
            <a:solidFill>
              <a:srgbClr val="FFFFFF"/>
            </a:solidFill>
            <a:ln>
              <a:noFill/>
            </a:ln>
          </p:spPr>
        </p:sp>
        <p:sp>
          <p:nvSpPr>
            <p:cNvPr id="114" name="node01.row.item-014.c2.heat"/>
            <p:cNvSpPr/>
            <p:nvPr/>
          </p:nvSpPr>
          <p:spPr>
            <a:xfrm>
              <a:off x="8058150" y="5124450"/>
              <a:ext cx="1104900" cy="292100"/>
            </a:xfrm>
            <a:prstGeom prst="rect">
              <a:avLst/>
            </a:prstGeom>
            <a:solidFill>
              <a:srgbClr val="0047FF"/>
            </a:solidFill>
            <a:ln>
              <a:noFill/>
            </a:ln>
          </p:spPr>
        </p:sp>
        <p:sp>
          <p:nvSpPr>
            <p:cNvPr id="115" name="node01.row.item-014.c3.heat-gap"/>
            <p:cNvSpPr/>
            <p:nvPr/>
          </p:nvSpPr>
          <p:spPr>
            <a:xfrm>
              <a:off x="9182100" y="5105400"/>
              <a:ext cx="1143000" cy="330200"/>
            </a:xfrm>
            <a:prstGeom prst="rect">
              <a:avLst/>
            </a:prstGeom>
            <a:solidFill>
              <a:srgbClr val="FFFFFF"/>
            </a:solidFill>
            <a:ln>
              <a:noFill/>
            </a:ln>
          </p:spPr>
        </p:sp>
        <p:sp>
          <p:nvSpPr>
            <p:cNvPr id="116" name="node01.row.item-014.c3.heat"/>
            <p:cNvSpPr/>
            <p:nvPr/>
          </p:nvSpPr>
          <p:spPr>
            <a:xfrm>
              <a:off x="9201150" y="5124450"/>
              <a:ext cx="1104900" cy="292100"/>
            </a:xfrm>
            <a:prstGeom prst="rect">
              <a:avLst/>
            </a:prstGeom>
            <a:solidFill>
              <a:srgbClr val="0047FF"/>
            </a:solidFill>
            <a:ln>
              <a:noFill/>
            </a:ln>
          </p:spPr>
        </p:sp>
        <p:sp>
          <p:nvSpPr>
            <p:cNvPr id="117" name="node01.row.item-014.c4.heat-gap"/>
            <p:cNvSpPr/>
            <p:nvPr/>
          </p:nvSpPr>
          <p:spPr>
            <a:xfrm>
              <a:off x="10325100" y="5105400"/>
              <a:ext cx="1143000" cy="330200"/>
            </a:xfrm>
            <a:prstGeom prst="rect">
              <a:avLst/>
            </a:prstGeom>
            <a:solidFill>
              <a:srgbClr val="FFFFFF"/>
            </a:solidFill>
            <a:ln>
              <a:noFill/>
            </a:ln>
          </p:spPr>
        </p:sp>
        <p:sp>
          <p:nvSpPr>
            <p:cNvPr id="118" name="node01.row.item-014.c4.heat"/>
            <p:cNvSpPr/>
            <p:nvPr/>
          </p:nvSpPr>
          <p:spPr>
            <a:xfrm>
              <a:off x="10344150" y="5124450"/>
              <a:ext cx="1104900" cy="292100"/>
            </a:xfrm>
            <a:prstGeom prst="rect">
              <a:avLst/>
            </a:prstGeom>
            <a:solidFill>
              <a:srgbClr val="7C9BFF"/>
            </a:solidFill>
            <a:ln>
              <a:noFill/>
            </a:ln>
          </p:spPr>
        </p:sp>
        <p:graphicFrame>
          <p:nvGraphicFramePr>
            <p:cNvPr id="119" name="node01.native"/>
            <p:cNvGraphicFramePr>
              <a:graphicFrameLocks noGrp="1"/>
            </p:cNvGraphicFramePr>
            <p:nvPr>
              <p:extLst>
                <p:ext uri="{D42A27DB-BD31-4B8C-83A1-F6EECF244321}">
                  <p14:modId xmlns:p14="http://schemas.microsoft.com/office/powerpoint/2010/main" val="1579011935"/>
                </p:ext>
              </p:extLst>
            </p:nvPr>
          </p:nvGraphicFramePr>
          <p:xfrm>
            <a:off x="4762500" y="457200"/>
            <a:ext cx="6705600" cy="4978400"/>
          </p:xfrm>
          <a:graphic>
            <a:graphicData uri="http://schemas.openxmlformats.org/drawingml/2006/table">
              <a:tbl>
                <a:tblPr/>
                <a:tblGrid>
                  <a:gridCol w="2133600"/>
                  <a:gridCol w="1143000"/>
                  <a:gridCol w="1143000"/>
                  <a:gridCol w="1143000"/>
                  <a:gridCol w="11430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CAPABILITY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MAIN</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LAKESIDE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RIDGEVIEW</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HARBOR</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access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Scheduling</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Referral management</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billing</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Revenue cycle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Denials management</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Clinical documentation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Care coordination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Supply chain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Quality reporting</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Population health</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Workforce management</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Data and analytics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Cybersecurity</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sp>
          <p:nvSpPr>
            <p:cNvPr id="120" name="node01.row-group.source-001.fill"/>
            <p:cNvSpPr/>
            <p:nvPr/>
          </p:nvSpPr>
          <p:spPr>
            <a:xfrm>
              <a:off x="4381500" y="831850"/>
              <a:ext cx="304800" cy="952500"/>
            </a:xfrm>
            <a:prstGeom prst="rect">
              <a:avLst/>
            </a:prstGeom>
            <a:solidFill>
              <a:srgbClr val="070154"/>
            </a:solidFill>
            <a:ln>
              <a:noFill/>
            </a:ln>
          </p:spPr>
        </p:sp>
        <p:sp>
          <p:nvSpPr>
            <p:cNvPr id="121" name="node01.row-group.source-001.label"/>
            <p:cNvSpPr/>
            <p:nvPr/>
          </p:nvSpPr>
          <p:spPr>
            <a:xfrm rot="-5400000">
              <a:off x="4057650" y="1238250"/>
              <a:ext cx="9525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FRONT DOOR</a:t>
              </a:r>
              <a:endParaRPr lang="en-US" sz="800" spc="80" kern="0" b="0" i="0" dirty="0">
                <a:solidFill>
                  <a:srgbClr val="FFFFFF"/>
                </a:solidFill>
                <a:latin typeface="IBM Plex Mono SemiBold"/>
                <a:ea typeface="IBM Plex Mono SemiBold"/>
                <a:cs typeface="IBM Plex Mono SemiBold"/>
              </a:endParaRPr>
            </a:p>
          </p:txBody>
        </p:sp>
        <p:sp>
          <p:nvSpPr>
            <p:cNvPr id="122" name="node01.row-group.source-002.fill"/>
            <p:cNvSpPr/>
            <p:nvPr/>
          </p:nvSpPr>
          <p:spPr>
            <a:xfrm>
              <a:off x="4381500" y="1822450"/>
              <a:ext cx="304800" cy="952500"/>
            </a:xfrm>
            <a:prstGeom prst="rect">
              <a:avLst/>
            </a:prstGeom>
            <a:solidFill>
              <a:srgbClr val="070154"/>
            </a:solidFill>
            <a:ln>
              <a:noFill/>
            </a:ln>
          </p:spPr>
        </p:sp>
        <p:sp>
          <p:nvSpPr>
            <p:cNvPr id="123" name="node01.row-group.source-002.label"/>
            <p:cNvSpPr/>
            <p:nvPr/>
          </p:nvSpPr>
          <p:spPr>
            <a:xfrm rot="-5400000">
              <a:off x="4057650" y="2228850"/>
              <a:ext cx="9525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REVENUE</a:t>
              </a:r>
              <a:endParaRPr lang="en-US" sz="800" spc="80" kern="0" b="0" i="0" dirty="0">
                <a:solidFill>
                  <a:srgbClr val="FFFFFF"/>
                </a:solidFill>
                <a:latin typeface="IBM Plex Mono SemiBold"/>
                <a:ea typeface="IBM Plex Mono SemiBold"/>
                <a:cs typeface="IBM Plex Mono SemiBold"/>
              </a:endParaRPr>
            </a:p>
          </p:txBody>
        </p:sp>
        <p:sp>
          <p:nvSpPr>
            <p:cNvPr id="124" name="node01.row-group.source-003.fill"/>
            <p:cNvSpPr/>
            <p:nvPr/>
          </p:nvSpPr>
          <p:spPr>
            <a:xfrm>
              <a:off x="4381500" y="2813050"/>
              <a:ext cx="304800" cy="1612900"/>
            </a:xfrm>
            <a:prstGeom prst="rect">
              <a:avLst/>
            </a:prstGeom>
            <a:solidFill>
              <a:srgbClr val="070154"/>
            </a:solidFill>
            <a:ln>
              <a:noFill/>
            </a:ln>
          </p:spPr>
        </p:sp>
        <p:sp>
          <p:nvSpPr>
            <p:cNvPr id="125" name="node01.row-group.source-003.label"/>
            <p:cNvSpPr/>
            <p:nvPr/>
          </p:nvSpPr>
          <p:spPr>
            <a:xfrm rot="-5400000">
              <a:off x="3727450" y="3549650"/>
              <a:ext cx="16129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CARE DELIVERY</a:t>
              </a:r>
              <a:endParaRPr lang="en-US" sz="800" spc="80" kern="0" b="0" i="0" dirty="0">
                <a:solidFill>
                  <a:srgbClr val="FFFFFF"/>
                </a:solidFill>
                <a:latin typeface="IBM Plex Mono SemiBold"/>
                <a:ea typeface="IBM Plex Mono SemiBold"/>
                <a:cs typeface="IBM Plex Mono SemiBold"/>
              </a:endParaRPr>
            </a:p>
          </p:txBody>
        </p:sp>
        <p:sp>
          <p:nvSpPr>
            <p:cNvPr id="126" name="node01.row-group.source-004.fill"/>
            <p:cNvSpPr/>
            <p:nvPr/>
          </p:nvSpPr>
          <p:spPr>
            <a:xfrm>
              <a:off x="4381500" y="4464050"/>
              <a:ext cx="304800" cy="952500"/>
            </a:xfrm>
            <a:prstGeom prst="rect">
              <a:avLst/>
            </a:prstGeom>
            <a:solidFill>
              <a:srgbClr val="070154"/>
            </a:solidFill>
            <a:ln>
              <a:noFill/>
            </a:ln>
          </p:spPr>
        </p:sp>
        <p:sp>
          <p:nvSpPr>
            <p:cNvPr id="127" name="node01.row-group.source-004.label"/>
            <p:cNvSpPr/>
            <p:nvPr/>
          </p:nvSpPr>
          <p:spPr>
            <a:xfrm rot="-5400000">
              <a:off x="4057650" y="4870450"/>
              <a:ext cx="9525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ENTERPRISE</a:t>
              </a:r>
              <a:endParaRPr lang="en-US" sz="800" spc="80" kern="0" b="0" i="0" dirty="0">
                <a:solidFill>
                  <a:srgbClr val="FFFFFF"/>
                </a:solidFill>
                <a:latin typeface="IBM Plex Mono SemiBold"/>
                <a:ea typeface="IBM Plex Mono SemiBold"/>
                <a:cs typeface="IBM Plex Mono SemiBold"/>
              </a:endParaRPr>
            </a:p>
          </p:txBody>
        </p:sp>
      </p:grpSp>
      <p:grpSp>
        <p:nvGrpSpPr>
          <p:cNvPr id="147" name="node02"/>
          <p:cNvGrpSpPr/>
          <p:nvPr/>
        </p:nvGrpSpPr>
        <p:grpSpPr>
          <a:xfrm>
            <a:off x="4381500" y="5486400"/>
            <a:ext cx="5202238" cy="190500"/>
            <a:chOff x="4381500" y="5486400"/>
            <a:chExt cx="5202238" cy="190500"/>
          </a:xfrm>
        </p:grpSpPr>
        <p:sp>
          <p:nvSpPr>
            <p:cNvPr id="128" name="node02.items.slot-001.swatch"/>
            <p:cNvSpPr/>
            <p:nvPr/>
          </p:nvSpPr>
          <p:spPr>
            <a:xfrm>
              <a:off x="4381500" y="5518150"/>
              <a:ext cx="228600" cy="127000"/>
            </a:xfrm>
            <a:prstGeom prst="rect">
              <a:avLst/>
            </a:prstGeom>
            <a:solidFill>
              <a:srgbClr val="E8EEF8"/>
            </a:solidFill>
            <a:ln>
              <a:noFill/>
            </a:ln>
          </p:spPr>
        </p:sp>
        <p:sp>
          <p:nvSpPr>
            <p:cNvPr id="129" name="node02.items.slot-001.text"/>
            <p:cNvSpPr/>
            <p:nvPr/>
          </p:nvSpPr>
          <p:spPr>
            <a:xfrm>
              <a:off x="4673600" y="5486400"/>
              <a:ext cx="4937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Absent</a:t>
              </a:r>
              <a:endParaRPr lang="en-US" sz="1100" spc="0" kern="0" b="0" i="0" dirty="0">
                <a:solidFill>
                  <a:srgbClr val="070154"/>
                </a:solidFill>
                <a:latin typeface="IBM Plex Sans"/>
                <a:ea typeface="IBM Plex Sans"/>
                <a:cs typeface="IBM Plex Sans"/>
              </a:endParaRPr>
            </a:p>
          </p:txBody>
        </p:sp>
        <p:sp>
          <p:nvSpPr>
            <p:cNvPr id="130" name="node02.items.slot-002.swatch"/>
            <p:cNvSpPr/>
            <p:nvPr/>
          </p:nvSpPr>
          <p:spPr>
            <a:xfrm>
              <a:off x="5395913" y="5518150"/>
              <a:ext cx="228600" cy="127000"/>
            </a:xfrm>
            <a:prstGeom prst="rect">
              <a:avLst/>
            </a:prstGeom>
            <a:solidFill>
              <a:srgbClr val="B9C9F0"/>
            </a:solidFill>
            <a:ln>
              <a:noFill/>
            </a:ln>
          </p:spPr>
        </p:sp>
        <p:sp>
          <p:nvSpPr>
            <p:cNvPr id="131" name="node02.items.slot-002.text"/>
            <p:cNvSpPr/>
            <p:nvPr/>
          </p:nvSpPr>
          <p:spPr>
            <a:xfrm>
              <a:off x="5688013" y="5486400"/>
              <a:ext cx="481012"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Ad hoc</a:t>
              </a:r>
              <a:endParaRPr lang="en-US" sz="1100" spc="0" kern="0" b="0" i="0" dirty="0">
                <a:solidFill>
                  <a:srgbClr val="070154"/>
                </a:solidFill>
                <a:latin typeface="IBM Plex Sans"/>
                <a:ea typeface="IBM Plex Sans"/>
                <a:cs typeface="IBM Plex Sans"/>
              </a:endParaRPr>
            </a:p>
          </p:txBody>
        </p:sp>
        <p:sp>
          <p:nvSpPr>
            <p:cNvPr id="132" name="node02.items.slot-003.swatch"/>
            <p:cNvSpPr/>
            <p:nvPr/>
          </p:nvSpPr>
          <p:spPr>
            <a:xfrm>
              <a:off x="6397625" y="5518150"/>
              <a:ext cx="228600" cy="127000"/>
            </a:xfrm>
            <a:prstGeom prst="rect">
              <a:avLst/>
            </a:prstGeom>
            <a:solidFill>
              <a:srgbClr val="7C9BFF"/>
            </a:solidFill>
            <a:ln>
              <a:noFill/>
            </a:ln>
          </p:spPr>
        </p:sp>
        <p:sp>
          <p:nvSpPr>
            <p:cNvPr id="133" name="node02.items.slot-003.text"/>
            <p:cNvSpPr/>
            <p:nvPr/>
          </p:nvSpPr>
          <p:spPr>
            <a:xfrm>
              <a:off x="6689725" y="5486400"/>
              <a:ext cx="5365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Defined</a:t>
              </a:r>
              <a:endParaRPr lang="en-US" sz="1100" spc="0" kern="0" b="0" i="0" dirty="0">
                <a:solidFill>
                  <a:srgbClr val="070154"/>
                </a:solidFill>
                <a:latin typeface="IBM Plex Sans"/>
                <a:ea typeface="IBM Plex Sans"/>
                <a:cs typeface="IBM Plex Sans"/>
              </a:endParaRPr>
            </a:p>
          </p:txBody>
        </p:sp>
        <p:sp>
          <p:nvSpPr>
            <p:cNvPr id="134" name="node02.items.slot-004.swatch"/>
            <p:cNvSpPr/>
            <p:nvPr/>
          </p:nvSpPr>
          <p:spPr>
            <a:xfrm>
              <a:off x="7454900" y="5518150"/>
              <a:ext cx="228600" cy="127000"/>
            </a:xfrm>
            <a:prstGeom prst="rect">
              <a:avLst/>
            </a:prstGeom>
            <a:solidFill>
              <a:srgbClr val="0047FF"/>
            </a:solidFill>
            <a:ln>
              <a:noFill/>
            </a:ln>
          </p:spPr>
        </p:sp>
        <p:sp>
          <p:nvSpPr>
            <p:cNvPr id="135" name="node02.items.slot-004.text"/>
            <p:cNvSpPr/>
            <p:nvPr/>
          </p:nvSpPr>
          <p:spPr>
            <a:xfrm>
              <a:off x="7747000" y="5486400"/>
              <a:ext cx="6223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Managed</a:t>
              </a:r>
              <a:endParaRPr lang="en-US" sz="1100" spc="0" kern="0" b="0" i="0" dirty="0">
                <a:solidFill>
                  <a:srgbClr val="070154"/>
                </a:solidFill>
                <a:latin typeface="IBM Plex Sans"/>
                <a:ea typeface="IBM Plex Sans"/>
                <a:cs typeface="IBM Plex Sans"/>
              </a:endParaRPr>
            </a:p>
          </p:txBody>
        </p:sp>
        <p:sp>
          <p:nvSpPr>
            <p:cNvPr id="136" name="node02.items.slot-005.swatch"/>
            <p:cNvSpPr/>
            <p:nvPr/>
          </p:nvSpPr>
          <p:spPr>
            <a:xfrm>
              <a:off x="8597900" y="5518150"/>
              <a:ext cx="228600" cy="127000"/>
            </a:xfrm>
            <a:prstGeom prst="rect">
              <a:avLst/>
            </a:prstGeom>
            <a:solidFill>
              <a:srgbClr val="070154"/>
            </a:solidFill>
            <a:ln>
              <a:noFill/>
            </a:ln>
          </p:spPr>
        </p:sp>
        <p:sp>
          <p:nvSpPr>
            <p:cNvPr id="137" name="node02.items.slot-005.text"/>
            <p:cNvSpPr/>
            <p:nvPr/>
          </p:nvSpPr>
          <p:spPr>
            <a:xfrm>
              <a:off x="8890000" y="5486400"/>
              <a:ext cx="6937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Optimized</a:t>
              </a:r>
              <a:endParaRPr lang="en-US" sz="1100" spc="0" kern="0" b="0" i="0" dirty="0">
                <a:solidFill>
                  <a:srgbClr val="070154"/>
                </a:solidFill>
                <a:latin typeface="IBM Plex Sans"/>
                <a:ea typeface="IBM Plex Sans"/>
                <a:cs typeface="IBM Plex Sans"/>
              </a:endParaRPr>
            </a:p>
          </p:txBody>
        </p:sp>
      </p:grpSp>
      <p:grpSp>
        <p:nvGrpSpPr>
          <p:cNvPr id="148" name="node03"/>
          <p:cNvGrpSpPr/>
          <p:nvPr/>
        </p:nvGrpSpPr>
        <p:grpSpPr>
          <a:xfrm>
            <a:off x="723900" y="2286000"/>
            <a:ext cx="3429000" cy="901700"/>
            <a:chOff x="723900" y="2286000"/>
            <a:chExt cx="3429000" cy="901700"/>
          </a:xfrm>
        </p:grpSpPr>
        <p:sp>
          <p:nvSpPr>
            <p:cNvPr id="138" name="node03.source-001.bullet"/>
            <p:cNvSpPr/>
            <p:nvPr/>
          </p:nvSpPr>
          <p:spPr>
            <a:xfrm>
              <a:off x="723900" y="2374900"/>
              <a:ext cx="38100" cy="38100"/>
            </a:xfrm>
            <a:prstGeom prst="rect">
              <a:avLst/>
            </a:prstGeom>
            <a:solidFill>
              <a:srgbClr val="070154"/>
            </a:solidFill>
            <a:ln>
              <a:noFill/>
            </a:ln>
          </p:spPr>
        </p:sp>
        <p:sp>
          <p:nvSpPr>
            <p:cNvPr id="139" name="node03.source-001.text"/>
            <p:cNvSpPr/>
            <p:nvPr/>
          </p:nvSpPr>
          <p:spPr>
            <a:xfrm>
              <a:off x="876300" y="22860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Strong core.</a:t>
              </a:r>
              <a:r>
                <a:rPr lang="en-US" sz="1200" spc="0" kern="0" b="0" i="0" dirty="0">
                  <a:solidFill>
                    <a:srgbClr val="50658E"/>
                  </a:solidFill>
                  <a:latin typeface="IBM Plex Sans"/>
                  <a:ea typeface="IBM Plex Sans"/>
                  <a:cs typeface="IBM Plex Sans"/>
                </a:rPr>
                <a:t xml:space="preserve"> Revenue rows reach level 3 or better at the main campus.</a:t>
              </a:r>
              <a:endParaRPr lang="en-US" sz="1200" spc="0" kern="0" b="0" i="0" dirty="0">
                <a:solidFill>
                  <a:srgbClr val="070154"/>
                </a:solidFill>
                <a:latin typeface="IBM Plex Sans"/>
                <a:ea typeface="IBM Plex Sans"/>
                <a:cs typeface="IBM Plex Sans"/>
              </a:endParaRPr>
            </a:p>
          </p:txBody>
        </p:sp>
        <p:sp>
          <p:nvSpPr>
            <p:cNvPr id="140" name="node03.source-002.bullet"/>
            <p:cNvSpPr/>
            <p:nvPr/>
          </p:nvSpPr>
          <p:spPr>
            <a:xfrm>
              <a:off x="723900" y="2844800"/>
              <a:ext cx="38100" cy="38100"/>
            </a:xfrm>
            <a:prstGeom prst="rect">
              <a:avLst/>
            </a:prstGeom>
            <a:solidFill>
              <a:srgbClr val="070154"/>
            </a:solidFill>
            <a:ln>
              <a:noFill/>
            </a:ln>
          </p:spPr>
        </p:sp>
        <p:sp>
          <p:nvSpPr>
            <p:cNvPr id="141" name="node03.source-002.text"/>
            <p:cNvSpPr/>
            <p:nvPr/>
          </p:nvSpPr>
          <p:spPr>
            <a:xfrm>
              <a:off x="876300" y="27559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Thin edges.</a:t>
              </a:r>
              <a:r>
                <a:rPr lang="en-US" sz="1200" spc="0" kern="0" b="0" i="0" dirty="0">
                  <a:solidFill>
                    <a:srgbClr val="50658E"/>
                  </a:solidFill>
                  <a:latin typeface="IBM Plex Sans"/>
                  <a:ea typeface="IBM Plex Sans"/>
                  <a:cs typeface="IBM Plex Sans"/>
                </a:rPr>
                <a:t xml:space="preserve"> Harbor sits at level 1 or below in most front-door and care rows.</a:t>
              </a:r>
              <a:endParaRPr lang="en-US" sz="1200" spc="0" kern="0" b="0" i="0" dirty="0">
                <a:solidFill>
                  <a:srgbClr val="070154"/>
                </a:solidFill>
                <a:latin typeface="IBM Plex Sans"/>
                <a:ea typeface="IBM Plex Sans"/>
                <a:cs typeface="IBM Plex Sans"/>
              </a:endParaRPr>
            </a:p>
          </p:txBody>
        </p:sp>
      </p:grpSp>
      <p:grpSp>
        <p:nvGrpSpPr>
          <p:cNvPr id="149" name="node04"/>
          <p:cNvGrpSpPr/>
          <p:nvPr/>
        </p:nvGrpSpPr>
        <p:grpSpPr>
          <a:xfrm>
            <a:off x="723900" y="3657600"/>
            <a:ext cx="3429000" cy="1691069"/>
            <a:chOff x="723900" y="3657600"/>
            <a:chExt cx="3429000" cy="1691069"/>
          </a:xfrm>
        </p:grpSpPr>
        <p:sp>
          <p:nvSpPr>
            <p:cNvPr id="142" name="node04.container"/>
            <p:cNvSpPr/>
            <p:nvPr/>
          </p:nvSpPr>
          <p:spPr>
            <a:xfrm>
              <a:off x="723900" y="3657600"/>
              <a:ext cx="3429000" cy="1691069"/>
            </a:xfrm>
            <a:prstGeom prst="rect">
              <a:avLst/>
            </a:prstGeom>
            <a:solidFill>
              <a:srgbClr val="F900D3"/>
            </a:solidFill>
            <a:ln>
              <a:noFill/>
            </a:ln>
          </p:spPr>
        </p:sp>
        <p:sp>
          <p:nvSpPr>
            <p:cNvPr id="143" name="node04.eyebrow"/>
            <p:cNvSpPr/>
            <p:nvPr/>
          </p:nvSpPr>
          <p:spPr>
            <a:xfrm>
              <a:off x="952500" y="3886200"/>
              <a:ext cx="29718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70154"/>
                  </a:solidFill>
                  <a:latin typeface="IBM Plex Mono SemiBold"/>
                  <a:ea typeface="IBM Plex Mono SemiBold"/>
                  <a:cs typeface="IBM Plex Mono SemiBold"/>
                </a:rPr>
                <a:t>WEAKEST GROUP</a:t>
              </a:r>
              <a:endParaRPr lang="en-US" sz="900" spc="72" kern="0" b="0" i="0" dirty="0">
                <a:solidFill>
                  <a:srgbClr val="070154"/>
                </a:solidFill>
                <a:latin typeface="IBM Plex Mono SemiBold"/>
                <a:ea typeface="IBM Plex Mono SemiBold"/>
                <a:cs typeface="IBM Plex Mono SemiBold"/>
              </a:endParaRPr>
            </a:p>
          </p:txBody>
        </p:sp>
        <p:sp>
          <p:nvSpPr>
            <p:cNvPr id="144" name="node04.metric.value"/>
            <p:cNvSpPr/>
            <p:nvPr/>
          </p:nvSpPr>
          <p:spPr>
            <a:xfrm>
              <a:off x="952500" y="4102100"/>
              <a:ext cx="29718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FFFFFF"/>
                  </a:solidFill>
                  <a:latin typeface="IBM Plex Mono SemiBold"/>
                  <a:ea typeface="IBM Plex Mono SemiBold"/>
                  <a:cs typeface="IBM Plex Mono SemiBold"/>
                </a:rPr>
                <a:t>1.7</a:t>
              </a:r>
              <a:endParaRPr lang="en-US" sz="4000" spc="-80" kern="0" b="0" i="0" dirty="0">
                <a:solidFill>
                  <a:srgbClr val="FFFFFF"/>
                </a:solidFill>
                <a:latin typeface="IBM Plex Mono SemiBold"/>
                <a:ea typeface="IBM Plex Mono SemiBold"/>
                <a:cs typeface="IBM Plex Mono SemiBold"/>
              </a:endParaRPr>
            </a:p>
          </p:txBody>
        </p:sp>
        <p:sp>
          <p:nvSpPr>
            <p:cNvPr id="145" name="node04.metric.label"/>
            <p:cNvSpPr/>
            <p:nvPr/>
          </p:nvSpPr>
          <p:spPr>
            <a:xfrm>
              <a:off x="952500" y="4688269"/>
              <a:ext cx="2971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is the four-site average for the front door, the lowest of the four groups.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ource-42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RISK REGISTER</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risk is both certain and critical</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program risk register,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63</a:t>
            </a:fld>
            <a:endParaRPr lang="en-US" sz="700" spc="0" kern="0" b="0" i="0" dirty="0">
              <a:solidFill>
                <a:srgbClr val="070154"/>
              </a:solidFill>
              <a:latin typeface="IBM Plex Mono SemiBold"/>
              <a:ea typeface="IBM Plex Mono SemiBold"/>
              <a:cs typeface="IBM Plex Mono SemiBold"/>
            </a:endParaRPr>
          </a:p>
        </p:txBody>
      </p:sp>
      <p:grpSp>
        <p:nvGrpSpPr>
          <p:cNvPr id="80" name="node01"/>
          <p:cNvGrpSpPr/>
          <p:nvPr/>
        </p:nvGrpSpPr>
        <p:grpSpPr>
          <a:xfrm>
            <a:off x="723900" y="1600200"/>
            <a:ext cx="6096000" cy="3708400"/>
            <a:chOff x="723900" y="1600200"/>
            <a:chExt cx="6096000" cy="3708400"/>
          </a:xfrm>
        </p:grpSpPr>
        <p:sp>
          <p:nvSpPr>
            <p:cNvPr id="7" name="node01.row.item-001.c1.heat-gap"/>
            <p:cNvSpPr/>
            <p:nvPr/>
          </p:nvSpPr>
          <p:spPr>
            <a:xfrm>
              <a:off x="2247900" y="2260600"/>
              <a:ext cx="914400" cy="609600"/>
            </a:xfrm>
            <a:prstGeom prst="rect">
              <a:avLst/>
            </a:prstGeom>
            <a:solidFill>
              <a:srgbClr val="FFFFFF"/>
            </a:solidFill>
            <a:ln>
              <a:noFill/>
            </a:ln>
          </p:spPr>
        </p:sp>
        <p:sp>
          <p:nvSpPr>
            <p:cNvPr id="8" name="node01.row.item-001.c1.heat"/>
            <p:cNvSpPr/>
            <p:nvPr/>
          </p:nvSpPr>
          <p:spPr>
            <a:xfrm>
              <a:off x="2266950" y="2279650"/>
              <a:ext cx="876300" cy="571500"/>
            </a:xfrm>
            <a:prstGeom prst="rect">
              <a:avLst/>
            </a:prstGeom>
            <a:solidFill>
              <a:srgbClr val="CED7E6"/>
            </a:solidFill>
            <a:ln>
              <a:noFill/>
            </a:ln>
          </p:spPr>
        </p:sp>
        <p:sp>
          <p:nvSpPr>
            <p:cNvPr id="9" name="node01.row.item-001.c2.heat-gap"/>
            <p:cNvSpPr/>
            <p:nvPr/>
          </p:nvSpPr>
          <p:spPr>
            <a:xfrm>
              <a:off x="3162300" y="2260600"/>
              <a:ext cx="914400" cy="609600"/>
            </a:xfrm>
            <a:prstGeom prst="rect">
              <a:avLst/>
            </a:prstGeom>
            <a:solidFill>
              <a:srgbClr val="FFFFFF"/>
            </a:solidFill>
            <a:ln>
              <a:noFill/>
            </a:ln>
          </p:spPr>
        </p:sp>
        <p:sp>
          <p:nvSpPr>
            <p:cNvPr id="10" name="node01.row.item-001.c2.heat"/>
            <p:cNvSpPr/>
            <p:nvPr/>
          </p:nvSpPr>
          <p:spPr>
            <a:xfrm>
              <a:off x="3181350" y="2279650"/>
              <a:ext cx="876300" cy="571500"/>
            </a:xfrm>
            <a:prstGeom prst="rect">
              <a:avLst/>
            </a:prstGeom>
            <a:solidFill>
              <a:srgbClr val="F3D6EE"/>
            </a:solidFill>
            <a:ln>
              <a:noFill/>
            </a:ln>
          </p:spPr>
        </p:sp>
        <p:sp>
          <p:nvSpPr>
            <p:cNvPr id="11" name="node01.row.item-001.c3.heat-gap"/>
            <p:cNvSpPr/>
            <p:nvPr/>
          </p:nvSpPr>
          <p:spPr>
            <a:xfrm>
              <a:off x="4076700" y="2260600"/>
              <a:ext cx="914400" cy="609600"/>
            </a:xfrm>
            <a:prstGeom prst="rect">
              <a:avLst/>
            </a:prstGeom>
            <a:solidFill>
              <a:srgbClr val="FFFFFF"/>
            </a:solidFill>
            <a:ln>
              <a:noFill/>
            </a:ln>
          </p:spPr>
        </p:sp>
        <p:sp>
          <p:nvSpPr>
            <p:cNvPr id="12" name="node01.row.item-001.c3.heat"/>
            <p:cNvSpPr/>
            <p:nvPr/>
          </p:nvSpPr>
          <p:spPr>
            <a:xfrm>
              <a:off x="4095750" y="2279650"/>
              <a:ext cx="876300" cy="571500"/>
            </a:xfrm>
            <a:prstGeom prst="rect">
              <a:avLst/>
            </a:prstGeom>
            <a:solidFill>
              <a:srgbClr val="F3D6EE"/>
            </a:solidFill>
            <a:ln>
              <a:noFill/>
            </a:ln>
          </p:spPr>
        </p:sp>
        <p:sp>
          <p:nvSpPr>
            <p:cNvPr id="13" name="node01.row.item-001.c4.heat-gap"/>
            <p:cNvSpPr/>
            <p:nvPr/>
          </p:nvSpPr>
          <p:spPr>
            <a:xfrm>
              <a:off x="4991100" y="2260600"/>
              <a:ext cx="914400" cy="609600"/>
            </a:xfrm>
            <a:prstGeom prst="rect">
              <a:avLst/>
            </a:prstGeom>
            <a:solidFill>
              <a:srgbClr val="FFFFFF"/>
            </a:solidFill>
            <a:ln>
              <a:noFill/>
            </a:ln>
          </p:spPr>
        </p:sp>
        <p:sp>
          <p:nvSpPr>
            <p:cNvPr id="14" name="node01.row.item-001.c4.heat"/>
            <p:cNvSpPr/>
            <p:nvPr/>
          </p:nvSpPr>
          <p:spPr>
            <a:xfrm>
              <a:off x="5010150" y="2279650"/>
              <a:ext cx="876300" cy="571500"/>
            </a:xfrm>
            <a:prstGeom prst="rect">
              <a:avLst/>
            </a:prstGeom>
            <a:solidFill>
              <a:srgbClr val="FB7FE8"/>
            </a:solidFill>
            <a:ln>
              <a:noFill/>
            </a:ln>
          </p:spPr>
        </p:sp>
        <p:sp>
          <p:nvSpPr>
            <p:cNvPr id="15" name="node01.row.item-001.c5.heat-gap"/>
            <p:cNvSpPr/>
            <p:nvPr/>
          </p:nvSpPr>
          <p:spPr>
            <a:xfrm>
              <a:off x="5905500" y="2260600"/>
              <a:ext cx="914400" cy="609600"/>
            </a:xfrm>
            <a:prstGeom prst="rect">
              <a:avLst/>
            </a:prstGeom>
            <a:solidFill>
              <a:srgbClr val="FFFFFF"/>
            </a:solidFill>
            <a:ln>
              <a:noFill/>
            </a:ln>
          </p:spPr>
        </p:sp>
        <p:sp>
          <p:nvSpPr>
            <p:cNvPr id="16" name="node01.row.item-001.c5.heat"/>
            <p:cNvSpPr/>
            <p:nvPr/>
          </p:nvSpPr>
          <p:spPr>
            <a:xfrm>
              <a:off x="5924550" y="2279650"/>
              <a:ext cx="876300" cy="571500"/>
            </a:xfrm>
            <a:prstGeom prst="rect">
              <a:avLst/>
            </a:prstGeom>
            <a:solidFill>
              <a:srgbClr val="F900D3"/>
            </a:solidFill>
            <a:ln>
              <a:noFill/>
            </a:ln>
          </p:spPr>
        </p:sp>
        <p:sp>
          <p:nvSpPr>
            <p:cNvPr id="17" name="node01.row.item-002.c1.heat-gap"/>
            <p:cNvSpPr/>
            <p:nvPr/>
          </p:nvSpPr>
          <p:spPr>
            <a:xfrm>
              <a:off x="2247900" y="2870200"/>
              <a:ext cx="914400" cy="609600"/>
            </a:xfrm>
            <a:prstGeom prst="rect">
              <a:avLst/>
            </a:prstGeom>
            <a:solidFill>
              <a:srgbClr val="FFFFFF"/>
            </a:solidFill>
            <a:ln>
              <a:noFill/>
            </a:ln>
          </p:spPr>
        </p:sp>
        <p:sp>
          <p:nvSpPr>
            <p:cNvPr id="18" name="node01.row.item-002.c1.heat"/>
            <p:cNvSpPr/>
            <p:nvPr/>
          </p:nvSpPr>
          <p:spPr>
            <a:xfrm>
              <a:off x="2266950" y="2889250"/>
              <a:ext cx="876300" cy="571500"/>
            </a:xfrm>
            <a:prstGeom prst="rect">
              <a:avLst/>
            </a:prstGeom>
            <a:solidFill>
              <a:srgbClr val="CED7E6"/>
            </a:solidFill>
            <a:ln>
              <a:noFill/>
            </a:ln>
          </p:spPr>
        </p:sp>
        <p:sp>
          <p:nvSpPr>
            <p:cNvPr id="19" name="node01.row.item-002.c2.heat-gap"/>
            <p:cNvSpPr/>
            <p:nvPr/>
          </p:nvSpPr>
          <p:spPr>
            <a:xfrm>
              <a:off x="3162300" y="2870200"/>
              <a:ext cx="914400" cy="609600"/>
            </a:xfrm>
            <a:prstGeom prst="rect">
              <a:avLst/>
            </a:prstGeom>
            <a:solidFill>
              <a:srgbClr val="FFFFFF"/>
            </a:solidFill>
            <a:ln>
              <a:noFill/>
            </a:ln>
          </p:spPr>
        </p:sp>
        <p:sp>
          <p:nvSpPr>
            <p:cNvPr id="20" name="node01.row.item-002.c2.heat"/>
            <p:cNvSpPr/>
            <p:nvPr/>
          </p:nvSpPr>
          <p:spPr>
            <a:xfrm>
              <a:off x="3181350" y="2889250"/>
              <a:ext cx="876300" cy="571500"/>
            </a:xfrm>
            <a:prstGeom prst="rect">
              <a:avLst/>
            </a:prstGeom>
            <a:solidFill>
              <a:srgbClr val="CED7E6"/>
            </a:solidFill>
            <a:ln>
              <a:noFill/>
            </a:ln>
          </p:spPr>
        </p:sp>
        <p:sp>
          <p:nvSpPr>
            <p:cNvPr id="21" name="node01.row.item-002.c3.heat-gap"/>
            <p:cNvSpPr/>
            <p:nvPr/>
          </p:nvSpPr>
          <p:spPr>
            <a:xfrm>
              <a:off x="4076700" y="2870200"/>
              <a:ext cx="914400" cy="609600"/>
            </a:xfrm>
            <a:prstGeom prst="rect">
              <a:avLst/>
            </a:prstGeom>
            <a:solidFill>
              <a:srgbClr val="FFFFFF"/>
            </a:solidFill>
            <a:ln>
              <a:noFill/>
            </a:ln>
          </p:spPr>
        </p:sp>
        <p:sp>
          <p:nvSpPr>
            <p:cNvPr id="22" name="node01.row.item-002.c3.heat"/>
            <p:cNvSpPr/>
            <p:nvPr/>
          </p:nvSpPr>
          <p:spPr>
            <a:xfrm>
              <a:off x="4095750" y="2889250"/>
              <a:ext cx="876300" cy="571500"/>
            </a:xfrm>
            <a:prstGeom prst="rect">
              <a:avLst/>
            </a:prstGeom>
            <a:solidFill>
              <a:srgbClr val="F3D6EE"/>
            </a:solidFill>
            <a:ln>
              <a:noFill/>
            </a:ln>
          </p:spPr>
        </p:sp>
        <p:sp>
          <p:nvSpPr>
            <p:cNvPr id="23" name="node01.row.item-002.c4.heat-gap"/>
            <p:cNvSpPr/>
            <p:nvPr/>
          </p:nvSpPr>
          <p:spPr>
            <a:xfrm>
              <a:off x="4991100" y="2870200"/>
              <a:ext cx="914400" cy="609600"/>
            </a:xfrm>
            <a:prstGeom prst="rect">
              <a:avLst/>
            </a:prstGeom>
            <a:solidFill>
              <a:srgbClr val="FFFFFF"/>
            </a:solidFill>
            <a:ln>
              <a:noFill/>
            </a:ln>
          </p:spPr>
        </p:sp>
        <p:sp>
          <p:nvSpPr>
            <p:cNvPr id="24" name="node01.row.item-002.c4.heat"/>
            <p:cNvSpPr/>
            <p:nvPr/>
          </p:nvSpPr>
          <p:spPr>
            <a:xfrm>
              <a:off x="5010150" y="2889250"/>
              <a:ext cx="876300" cy="571500"/>
            </a:xfrm>
            <a:prstGeom prst="rect">
              <a:avLst/>
            </a:prstGeom>
            <a:solidFill>
              <a:srgbClr val="FB7FE8"/>
            </a:solidFill>
            <a:ln>
              <a:noFill/>
            </a:ln>
          </p:spPr>
        </p:sp>
        <p:sp>
          <p:nvSpPr>
            <p:cNvPr id="25" name="node01.row.item-002.c5.heat-gap"/>
            <p:cNvSpPr/>
            <p:nvPr/>
          </p:nvSpPr>
          <p:spPr>
            <a:xfrm>
              <a:off x="5905500" y="2870200"/>
              <a:ext cx="914400" cy="609600"/>
            </a:xfrm>
            <a:prstGeom prst="rect">
              <a:avLst/>
            </a:prstGeom>
            <a:solidFill>
              <a:srgbClr val="FFFFFF"/>
            </a:solidFill>
            <a:ln>
              <a:noFill/>
            </a:ln>
          </p:spPr>
        </p:sp>
        <p:sp>
          <p:nvSpPr>
            <p:cNvPr id="26" name="node01.row.item-002.c5.heat"/>
            <p:cNvSpPr/>
            <p:nvPr/>
          </p:nvSpPr>
          <p:spPr>
            <a:xfrm>
              <a:off x="5924550" y="2889250"/>
              <a:ext cx="876300" cy="571500"/>
            </a:xfrm>
            <a:prstGeom prst="rect">
              <a:avLst/>
            </a:prstGeom>
            <a:solidFill>
              <a:srgbClr val="FB7FE8"/>
            </a:solidFill>
            <a:ln>
              <a:noFill/>
            </a:ln>
          </p:spPr>
        </p:sp>
        <p:sp>
          <p:nvSpPr>
            <p:cNvPr id="27" name="node01.row.item-003.c1.heat-gap"/>
            <p:cNvSpPr/>
            <p:nvPr/>
          </p:nvSpPr>
          <p:spPr>
            <a:xfrm>
              <a:off x="2247900" y="3479800"/>
              <a:ext cx="914400" cy="609600"/>
            </a:xfrm>
            <a:prstGeom prst="rect">
              <a:avLst/>
            </a:prstGeom>
            <a:solidFill>
              <a:srgbClr val="FFFFFF"/>
            </a:solidFill>
            <a:ln>
              <a:noFill/>
            </a:ln>
          </p:spPr>
        </p:sp>
        <p:sp>
          <p:nvSpPr>
            <p:cNvPr id="28" name="node01.row.item-003.c1.heat"/>
            <p:cNvSpPr/>
            <p:nvPr/>
          </p:nvSpPr>
          <p:spPr>
            <a:xfrm>
              <a:off x="2266950" y="3498850"/>
              <a:ext cx="876300" cy="571500"/>
            </a:xfrm>
            <a:prstGeom prst="rect">
              <a:avLst/>
            </a:prstGeom>
            <a:solidFill>
              <a:srgbClr val="E8EEF8"/>
            </a:solidFill>
            <a:ln>
              <a:noFill/>
            </a:ln>
          </p:spPr>
        </p:sp>
        <p:sp>
          <p:nvSpPr>
            <p:cNvPr id="29" name="node01.row.item-003.c2.heat-gap"/>
            <p:cNvSpPr/>
            <p:nvPr/>
          </p:nvSpPr>
          <p:spPr>
            <a:xfrm>
              <a:off x="3162300" y="3479800"/>
              <a:ext cx="914400" cy="609600"/>
            </a:xfrm>
            <a:prstGeom prst="rect">
              <a:avLst/>
            </a:prstGeom>
            <a:solidFill>
              <a:srgbClr val="FFFFFF"/>
            </a:solidFill>
            <a:ln>
              <a:noFill/>
            </a:ln>
          </p:spPr>
        </p:sp>
        <p:sp>
          <p:nvSpPr>
            <p:cNvPr id="30" name="node01.row.item-003.c2.heat"/>
            <p:cNvSpPr/>
            <p:nvPr/>
          </p:nvSpPr>
          <p:spPr>
            <a:xfrm>
              <a:off x="3181350" y="3498850"/>
              <a:ext cx="876300" cy="571500"/>
            </a:xfrm>
            <a:prstGeom prst="rect">
              <a:avLst/>
            </a:prstGeom>
            <a:solidFill>
              <a:srgbClr val="CED7E6"/>
            </a:solidFill>
            <a:ln>
              <a:noFill/>
            </a:ln>
          </p:spPr>
        </p:sp>
        <p:sp>
          <p:nvSpPr>
            <p:cNvPr id="31" name="node01.row.item-003.c3.heat-gap"/>
            <p:cNvSpPr/>
            <p:nvPr/>
          </p:nvSpPr>
          <p:spPr>
            <a:xfrm>
              <a:off x="4076700" y="3479800"/>
              <a:ext cx="914400" cy="609600"/>
            </a:xfrm>
            <a:prstGeom prst="rect">
              <a:avLst/>
            </a:prstGeom>
            <a:solidFill>
              <a:srgbClr val="FFFFFF"/>
            </a:solidFill>
            <a:ln>
              <a:noFill/>
            </a:ln>
          </p:spPr>
        </p:sp>
        <p:sp>
          <p:nvSpPr>
            <p:cNvPr id="32" name="node01.row.item-003.c3.heat"/>
            <p:cNvSpPr/>
            <p:nvPr/>
          </p:nvSpPr>
          <p:spPr>
            <a:xfrm>
              <a:off x="4095750" y="3498850"/>
              <a:ext cx="876300" cy="571500"/>
            </a:xfrm>
            <a:prstGeom prst="rect">
              <a:avLst/>
            </a:prstGeom>
            <a:solidFill>
              <a:srgbClr val="CED7E6"/>
            </a:solidFill>
            <a:ln>
              <a:noFill/>
            </a:ln>
          </p:spPr>
        </p:sp>
        <p:sp>
          <p:nvSpPr>
            <p:cNvPr id="33" name="node01.row.item-003.c4.heat-gap"/>
            <p:cNvSpPr/>
            <p:nvPr/>
          </p:nvSpPr>
          <p:spPr>
            <a:xfrm>
              <a:off x="4991100" y="3479800"/>
              <a:ext cx="914400" cy="609600"/>
            </a:xfrm>
            <a:prstGeom prst="rect">
              <a:avLst/>
            </a:prstGeom>
            <a:solidFill>
              <a:srgbClr val="FFFFFF"/>
            </a:solidFill>
            <a:ln>
              <a:noFill/>
            </a:ln>
          </p:spPr>
        </p:sp>
        <p:sp>
          <p:nvSpPr>
            <p:cNvPr id="34" name="node01.row.item-003.c4.heat"/>
            <p:cNvSpPr/>
            <p:nvPr/>
          </p:nvSpPr>
          <p:spPr>
            <a:xfrm>
              <a:off x="5010150" y="3498850"/>
              <a:ext cx="876300" cy="571500"/>
            </a:xfrm>
            <a:prstGeom prst="rect">
              <a:avLst/>
            </a:prstGeom>
            <a:solidFill>
              <a:srgbClr val="F3D6EE"/>
            </a:solidFill>
            <a:ln>
              <a:noFill/>
            </a:ln>
          </p:spPr>
        </p:sp>
        <p:sp>
          <p:nvSpPr>
            <p:cNvPr id="35" name="node01.row.item-003.c5.heat-gap"/>
            <p:cNvSpPr/>
            <p:nvPr/>
          </p:nvSpPr>
          <p:spPr>
            <a:xfrm>
              <a:off x="5905500" y="3479800"/>
              <a:ext cx="914400" cy="609600"/>
            </a:xfrm>
            <a:prstGeom prst="rect">
              <a:avLst/>
            </a:prstGeom>
            <a:solidFill>
              <a:srgbClr val="FFFFFF"/>
            </a:solidFill>
            <a:ln>
              <a:noFill/>
            </a:ln>
          </p:spPr>
        </p:sp>
        <p:sp>
          <p:nvSpPr>
            <p:cNvPr id="36" name="node01.row.item-003.c5.heat"/>
            <p:cNvSpPr/>
            <p:nvPr/>
          </p:nvSpPr>
          <p:spPr>
            <a:xfrm>
              <a:off x="5924550" y="3498850"/>
              <a:ext cx="876300" cy="571500"/>
            </a:xfrm>
            <a:prstGeom prst="rect">
              <a:avLst/>
            </a:prstGeom>
            <a:solidFill>
              <a:srgbClr val="F3D6EE"/>
            </a:solidFill>
            <a:ln>
              <a:noFill/>
            </a:ln>
          </p:spPr>
        </p:sp>
        <p:sp>
          <p:nvSpPr>
            <p:cNvPr id="37" name="node01.row.item-004.c1.heat-gap"/>
            <p:cNvSpPr/>
            <p:nvPr/>
          </p:nvSpPr>
          <p:spPr>
            <a:xfrm>
              <a:off x="2247900" y="4089400"/>
              <a:ext cx="914400" cy="609600"/>
            </a:xfrm>
            <a:prstGeom prst="rect">
              <a:avLst/>
            </a:prstGeom>
            <a:solidFill>
              <a:srgbClr val="FFFFFF"/>
            </a:solidFill>
            <a:ln>
              <a:noFill/>
            </a:ln>
          </p:spPr>
        </p:sp>
        <p:sp>
          <p:nvSpPr>
            <p:cNvPr id="38" name="node01.row.item-004.c1.heat"/>
            <p:cNvSpPr/>
            <p:nvPr/>
          </p:nvSpPr>
          <p:spPr>
            <a:xfrm>
              <a:off x="2266950" y="4108450"/>
              <a:ext cx="876300" cy="571500"/>
            </a:xfrm>
            <a:prstGeom prst="rect">
              <a:avLst/>
            </a:prstGeom>
            <a:solidFill>
              <a:srgbClr val="E8EEF8"/>
            </a:solidFill>
            <a:ln>
              <a:noFill/>
            </a:ln>
          </p:spPr>
        </p:sp>
        <p:sp>
          <p:nvSpPr>
            <p:cNvPr id="39" name="node01.row.item-004.c2.heat-gap"/>
            <p:cNvSpPr/>
            <p:nvPr/>
          </p:nvSpPr>
          <p:spPr>
            <a:xfrm>
              <a:off x="3162300" y="4089400"/>
              <a:ext cx="914400" cy="609600"/>
            </a:xfrm>
            <a:prstGeom prst="rect">
              <a:avLst/>
            </a:prstGeom>
            <a:solidFill>
              <a:srgbClr val="FFFFFF"/>
            </a:solidFill>
            <a:ln>
              <a:noFill/>
            </a:ln>
          </p:spPr>
        </p:sp>
        <p:sp>
          <p:nvSpPr>
            <p:cNvPr id="40" name="node01.row.item-004.c2.heat"/>
            <p:cNvSpPr/>
            <p:nvPr/>
          </p:nvSpPr>
          <p:spPr>
            <a:xfrm>
              <a:off x="3181350" y="4108450"/>
              <a:ext cx="876300" cy="571500"/>
            </a:xfrm>
            <a:prstGeom prst="rect">
              <a:avLst/>
            </a:prstGeom>
            <a:solidFill>
              <a:srgbClr val="CED7E6"/>
            </a:solidFill>
            <a:ln>
              <a:noFill/>
            </a:ln>
          </p:spPr>
        </p:sp>
        <p:sp>
          <p:nvSpPr>
            <p:cNvPr id="41" name="node01.row.item-004.c3.heat-gap"/>
            <p:cNvSpPr/>
            <p:nvPr/>
          </p:nvSpPr>
          <p:spPr>
            <a:xfrm>
              <a:off x="4076700" y="4089400"/>
              <a:ext cx="914400" cy="609600"/>
            </a:xfrm>
            <a:prstGeom prst="rect">
              <a:avLst/>
            </a:prstGeom>
            <a:solidFill>
              <a:srgbClr val="FFFFFF"/>
            </a:solidFill>
            <a:ln>
              <a:noFill/>
            </a:ln>
          </p:spPr>
        </p:sp>
        <p:sp>
          <p:nvSpPr>
            <p:cNvPr id="42" name="node01.row.item-004.c3.heat"/>
            <p:cNvSpPr/>
            <p:nvPr/>
          </p:nvSpPr>
          <p:spPr>
            <a:xfrm>
              <a:off x="4095750" y="4108450"/>
              <a:ext cx="876300" cy="571500"/>
            </a:xfrm>
            <a:prstGeom prst="rect">
              <a:avLst/>
            </a:prstGeom>
            <a:solidFill>
              <a:srgbClr val="CED7E6"/>
            </a:solidFill>
            <a:ln>
              <a:noFill/>
            </a:ln>
          </p:spPr>
        </p:sp>
        <p:sp>
          <p:nvSpPr>
            <p:cNvPr id="43" name="node01.row.item-004.c4.heat-gap"/>
            <p:cNvSpPr/>
            <p:nvPr/>
          </p:nvSpPr>
          <p:spPr>
            <a:xfrm>
              <a:off x="4991100" y="4089400"/>
              <a:ext cx="914400" cy="609600"/>
            </a:xfrm>
            <a:prstGeom prst="rect">
              <a:avLst/>
            </a:prstGeom>
            <a:solidFill>
              <a:srgbClr val="FFFFFF"/>
            </a:solidFill>
            <a:ln>
              <a:noFill/>
            </a:ln>
          </p:spPr>
        </p:sp>
        <p:sp>
          <p:nvSpPr>
            <p:cNvPr id="44" name="node01.row.item-004.c4.heat"/>
            <p:cNvSpPr/>
            <p:nvPr/>
          </p:nvSpPr>
          <p:spPr>
            <a:xfrm>
              <a:off x="5010150" y="4108450"/>
              <a:ext cx="876300" cy="571500"/>
            </a:xfrm>
            <a:prstGeom prst="rect">
              <a:avLst/>
            </a:prstGeom>
            <a:solidFill>
              <a:srgbClr val="CED7E6"/>
            </a:solidFill>
            <a:ln>
              <a:noFill/>
            </a:ln>
          </p:spPr>
        </p:sp>
        <p:sp>
          <p:nvSpPr>
            <p:cNvPr id="45" name="node01.row.item-004.c5.heat-gap"/>
            <p:cNvSpPr/>
            <p:nvPr/>
          </p:nvSpPr>
          <p:spPr>
            <a:xfrm>
              <a:off x="5905500" y="4089400"/>
              <a:ext cx="914400" cy="609600"/>
            </a:xfrm>
            <a:prstGeom prst="rect">
              <a:avLst/>
            </a:prstGeom>
            <a:solidFill>
              <a:srgbClr val="FFFFFF"/>
            </a:solidFill>
            <a:ln>
              <a:noFill/>
            </a:ln>
          </p:spPr>
        </p:sp>
        <p:sp>
          <p:nvSpPr>
            <p:cNvPr id="46" name="node01.row.item-004.c5.heat"/>
            <p:cNvSpPr/>
            <p:nvPr/>
          </p:nvSpPr>
          <p:spPr>
            <a:xfrm>
              <a:off x="5924550" y="4108450"/>
              <a:ext cx="876300" cy="571500"/>
            </a:xfrm>
            <a:prstGeom prst="rect">
              <a:avLst/>
            </a:prstGeom>
            <a:solidFill>
              <a:srgbClr val="F3D6EE"/>
            </a:solidFill>
            <a:ln>
              <a:noFill/>
            </a:ln>
          </p:spPr>
        </p:sp>
        <p:sp>
          <p:nvSpPr>
            <p:cNvPr id="47" name="node01.row.item-005.c1.heat-gap"/>
            <p:cNvSpPr/>
            <p:nvPr/>
          </p:nvSpPr>
          <p:spPr>
            <a:xfrm>
              <a:off x="2247900" y="4699000"/>
              <a:ext cx="914400" cy="609600"/>
            </a:xfrm>
            <a:prstGeom prst="rect">
              <a:avLst/>
            </a:prstGeom>
            <a:solidFill>
              <a:srgbClr val="FFFFFF"/>
            </a:solidFill>
            <a:ln>
              <a:noFill/>
            </a:ln>
          </p:spPr>
        </p:sp>
        <p:sp>
          <p:nvSpPr>
            <p:cNvPr id="48" name="node01.row.item-005.c1.heat"/>
            <p:cNvSpPr/>
            <p:nvPr/>
          </p:nvSpPr>
          <p:spPr>
            <a:xfrm>
              <a:off x="2266950" y="4718050"/>
              <a:ext cx="876300" cy="571500"/>
            </a:xfrm>
            <a:prstGeom prst="rect">
              <a:avLst/>
            </a:prstGeom>
            <a:solidFill>
              <a:srgbClr val="E8EEF8"/>
            </a:solidFill>
            <a:ln>
              <a:noFill/>
            </a:ln>
          </p:spPr>
        </p:sp>
        <p:sp>
          <p:nvSpPr>
            <p:cNvPr id="49" name="node01.row.item-005.c2.heat-gap"/>
            <p:cNvSpPr/>
            <p:nvPr/>
          </p:nvSpPr>
          <p:spPr>
            <a:xfrm>
              <a:off x="3162300" y="4699000"/>
              <a:ext cx="914400" cy="609600"/>
            </a:xfrm>
            <a:prstGeom prst="rect">
              <a:avLst/>
            </a:prstGeom>
            <a:solidFill>
              <a:srgbClr val="FFFFFF"/>
            </a:solidFill>
            <a:ln>
              <a:noFill/>
            </a:ln>
          </p:spPr>
        </p:sp>
        <p:sp>
          <p:nvSpPr>
            <p:cNvPr id="50" name="node01.row.item-005.c2.heat"/>
            <p:cNvSpPr/>
            <p:nvPr/>
          </p:nvSpPr>
          <p:spPr>
            <a:xfrm>
              <a:off x="3181350" y="4718050"/>
              <a:ext cx="876300" cy="571500"/>
            </a:xfrm>
            <a:prstGeom prst="rect">
              <a:avLst/>
            </a:prstGeom>
            <a:solidFill>
              <a:srgbClr val="E8EEF8"/>
            </a:solidFill>
            <a:ln>
              <a:noFill/>
            </a:ln>
          </p:spPr>
        </p:sp>
        <p:sp>
          <p:nvSpPr>
            <p:cNvPr id="51" name="node01.row.item-005.c3.heat-gap"/>
            <p:cNvSpPr/>
            <p:nvPr/>
          </p:nvSpPr>
          <p:spPr>
            <a:xfrm>
              <a:off x="4076700" y="4699000"/>
              <a:ext cx="914400" cy="609600"/>
            </a:xfrm>
            <a:prstGeom prst="rect">
              <a:avLst/>
            </a:prstGeom>
            <a:solidFill>
              <a:srgbClr val="FFFFFF"/>
            </a:solidFill>
            <a:ln>
              <a:noFill/>
            </a:ln>
          </p:spPr>
        </p:sp>
        <p:sp>
          <p:nvSpPr>
            <p:cNvPr id="52" name="node01.row.item-005.c3.heat"/>
            <p:cNvSpPr/>
            <p:nvPr/>
          </p:nvSpPr>
          <p:spPr>
            <a:xfrm>
              <a:off x="4095750" y="4718050"/>
              <a:ext cx="876300" cy="571500"/>
            </a:xfrm>
            <a:prstGeom prst="rect">
              <a:avLst/>
            </a:prstGeom>
            <a:solidFill>
              <a:srgbClr val="E8EEF8"/>
            </a:solidFill>
            <a:ln>
              <a:noFill/>
            </a:ln>
          </p:spPr>
        </p:sp>
        <p:sp>
          <p:nvSpPr>
            <p:cNvPr id="53" name="node01.row.item-005.c4.heat-gap"/>
            <p:cNvSpPr/>
            <p:nvPr/>
          </p:nvSpPr>
          <p:spPr>
            <a:xfrm>
              <a:off x="4991100" y="4699000"/>
              <a:ext cx="914400" cy="609600"/>
            </a:xfrm>
            <a:prstGeom prst="rect">
              <a:avLst/>
            </a:prstGeom>
            <a:solidFill>
              <a:srgbClr val="FFFFFF"/>
            </a:solidFill>
            <a:ln>
              <a:noFill/>
            </a:ln>
          </p:spPr>
        </p:sp>
        <p:sp>
          <p:nvSpPr>
            <p:cNvPr id="54" name="node01.row.item-005.c4.heat"/>
            <p:cNvSpPr/>
            <p:nvPr/>
          </p:nvSpPr>
          <p:spPr>
            <a:xfrm>
              <a:off x="5010150" y="4718050"/>
              <a:ext cx="876300" cy="571500"/>
            </a:xfrm>
            <a:prstGeom prst="rect">
              <a:avLst/>
            </a:prstGeom>
            <a:solidFill>
              <a:srgbClr val="CED7E6"/>
            </a:solidFill>
            <a:ln>
              <a:noFill/>
            </a:ln>
          </p:spPr>
        </p:sp>
        <p:sp>
          <p:nvSpPr>
            <p:cNvPr id="55" name="node01.row.item-005.c5.heat-gap"/>
            <p:cNvSpPr/>
            <p:nvPr/>
          </p:nvSpPr>
          <p:spPr>
            <a:xfrm>
              <a:off x="5905500" y="4699000"/>
              <a:ext cx="914400" cy="609600"/>
            </a:xfrm>
            <a:prstGeom prst="rect">
              <a:avLst/>
            </a:prstGeom>
            <a:solidFill>
              <a:srgbClr val="FFFFFF"/>
            </a:solidFill>
            <a:ln>
              <a:noFill/>
            </a:ln>
          </p:spPr>
        </p:sp>
        <p:sp>
          <p:nvSpPr>
            <p:cNvPr id="56" name="node01.row.item-005.c5.heat"/>
            <p:cNvSpPr/>
            <p:nvPr/>
          </p:nvSpPr>
          <p:spPr>
            <a:xfrm>
              <a:off x="5924550" y="4718050"/>
              <a:ext cx="876300" cy="571500"/>
            </a:xfrm>
            <a:prstGeom prst="rect">
              <a:avLst/>
            </a:prstGeom>
            <a:solidFill>
              <a:srgbClr val="CED7E6"/>
            </a:solidFill>
            <a:ln>
              <a:noFill/>
            </a:ln>
          </p:spPr>
        </p:sp>
        <p:graphicFrame>
          <p:nvGraphicFramePr>
            <p:cNvPr id="5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6096000" cy="3708400"/>
          </p:xfrm>
          <a:graphic>
            <a:graphicData uri="http://schemas.openxmlformats.org/drawingml/2006/table">
              <a:tbl>
                <a:tblPr/>
                <a:tblGrid>
                  <a:gridCol w="1524000"/>
                  <a:gridCol w="914400"/>
                  <a:gridCol w="914400"/>
                  <a:gridCol w="914400"/>
                  <a:gridCol w="914400"/>
                  <a:gridCol w="914400"/>
                </a:tblGrid>
                <a:tr h="304800">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2700" cap="flat" cmpd="sng" algn="ctr">
                        <a:solidFill>
                          <a:srgbClr val="070154"/>
                        </a:solidFill>
                        <a:prstDash val="solid"/>
                        <a:round/>
                        <a:headEnd type="none" w="med" len="med"/>
                        <a:tailEnd type="none" w="med" len="med"/>
                      </a:lnB>
                      <a:solidFill>
                        <a:srgbClr val="FFFFFF"/>
                      </a:solidFill>
                    </a:tcPr>
                  </a:tc>
                  <a:tc gridSpan="5">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IMPACT (1 MINOR TO 5 CRITICAL)</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2700" cap="flat" cmpd="sng" algn="ctr">
                        <a:solidFill>
                          <a:srgbClr val="070154"/>
                        </a:solidFill>
                        <a:prstDash val="solid"/>
                        <a:round/>
                        <a:headEnd type="none" w="med" len="med"/>
                        <a:tailEnd type="none" w="med" len="med"/>
                      </a:lnB>
                      <a:solidFill>
                        <a:srgbClr val="FFFFFF"/>
                      </a:solidFill>
                    </a:tcPr>
                  </a:tc>
                  <a:tc hMerge="1">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endParaRPr lang="en-US" sz="800" spc="48"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endParaRPr lang="en-US" sz="800" spc="48"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endParaRPr lang="en-US" sz="800" spc="48"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endParaRPr lang="en-US" sz="800" spc="48" kern="0" b="0" i="0" dirty="0">
                          <a:solidFill>
                            <a:srgbClr val="070154"/>
                          </a:solidFill>
                          <a:latin typeface="IBM Plex Mono SemiBold"/>
                          <a:ea typeface="IBM Plex Mono SemiBold"/>
                          <a:cs typeface="IBM Plex Mono SemiBold"/>
                        </a:endParaRPr>
                      </a:p>
                    </a:txBody>
                    <a:tcPr/>
                  </a:tc>
                </a:tr>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LIKELIHOOD</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1</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2</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3</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4</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5</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5 Almost certain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R9</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R1</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609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4 Likely</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R7</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R3</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R10</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609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 Possible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R6</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R2</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R4</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609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2 Unlikely</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R8</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R5</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609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1 Rare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81" name="node02"/>
          <p:cNvGrpSpPr/>
          <p:nvPr/>
        </p:nvGrpSpPr>
        <p:grpSpPr>
          <a:xfrm>
            <a:off x="723900" y="5486400"/>
            <a:ext cx="6526213" cy="190500"/>
            <a:chOff x="723900" y="5486400"/>
            <a:chExt cx="6526213" cy="190500"/>
          </a:xfrm>
        </p:grpSpPr>
        <p:sp>
          <p:nvSpPr>
            <p:cNvPr id="58" name="node02.items.slot-001.swatch"/>
            <p:cNvSpPr/>
            <p:nvPr/>
          </p:nvSpPr>
          <p:spPr>
            <a:xfrm>
              <a:off x="723900" y="5518150"/>
              <a:ext cx="228600" cy="127000"/>
            </a:xfrm>
            <a:prstGeom prst="rect">
              <a:avLst/>
            </a:prstGeom>
            <a:solidFill>
              <a:srgbClr val="E8EEF8"/>
            </a:solidFill>
            <a:ln>
              <a:noFill/>
            </a:ln>
          </p:spPr>
        </p:sp>
        <p:sp>
          <p:nvSpPr>
            <p:cNvPr id="59" name="node02.items.slot-001.text"/>
            <p:cNvSpPr/>
            <p:nvPr/>
          </p:nvSpPr>
          <p:spPr>
            <a:xfrm>
              <a:off x="1016000" y="5486400"/>
              <a:ext cx="5905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Low 1–3</a:t>
              </a:r>
              <a:endParaRPr lang="en-US" sz="1100" spc="0" kern="0" b="0" i="0" dirty="0">
                <a:solidFill>
                  <a:srgbClr val="070154"/>
                </a:solidFill>
                <a:latin typeface="IBM Plex Sans"/>
                <a:ea typeface="IBM Plex Sans"/>
                <a:cs typeface="IBM Plex Sans"/>
              </a:endParaRPr>
            </a:p>
          </p:txBody>
        </p:sp>
        <p:sp>
          <p:nvSpPr>
            <p:cNvPr id="60" name="node02.items.slot-002.swatch"/>
            <p:cNvSpPr/>
            <p:nvPr/>
          </p:nvSpPr>
          <p:spPr>
            <a:xfrm>
              <a:off x="1835150" y="5518150"/>
              <a:ext cx="228600" cy="127000"/>
            </a:xfrm>
            <a:prstGeom prst="rect">
              <a:avLst/>
            </a:prstGeom>
            <a:solidFill>
              <a:srgbClr val="CED7E6"/>
            </a:solidFill>
            <a:ln>
              <a:noFill/>
            </a:ln>
          </p:spPr>
        </p:sp>
        <p:sp>
          <p:nvSpPr>
            <p:cNvPr id="61" name="node02.items.slot-002.text"/>
            <p:cNvSpPr/>
            <p:nvPr/>
          </p:nvSpPr>
          <p:spPr>
            <a:xfrm>
              <a:off x="2127250" y="5486400"/>
              <a:ext cx="7318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Watch 4–9</a:t>
              </a:r>
              <a:endParaRPr lang="en-US" sz="1100" spc="0" kern="0" b="0" i="0" dirty="0">
                <a:solidFill>
                  <a:srgbClr val="070154"/>
                </a:solidFill>
                <a:latin typeface="IBM Plex Sans"/>
                <a:ea typeface="IBM Plex Sans"/>
                <a:cs typeface="IBM Plex Sans"/>
              </a:endParaRPr>
            </a:p>
          </p:txBody>
        </p:sp>
        <p:sp>
          <p:nvSpPr>
            <p:cNvPr id="62" name="node02.items.slot-003.swatch"/>
            <p:cNvSpPr/>
            <p:nvPr/>
          </p:nvSpPr>
          <p:spPr>
            <a:xfrm>
              <a:off x="3087688" y="5518150"/>
              <a:ext cx="228600" cy="127000"/>
            </a:xfrm>
            <a:prstGeom prst="rect">
              <a:avLst/>
            </a:prstGeom>
            <a:solidFill>
              <a:srgbClr val="F3D6EE"/>
            </a:solidFill>
            <a:ln>
              <a:noFill/>
            </a:ln>
          </p:spPr>
        </p:sp>
        <p:sp>
          <p:nvSpPr>
            <p:cNvPr id="63" name="node02.items.slot-003.text"/>
            <p:cNvSpPr/>
            <p:nvPr/>
          </p:nvSpPr>
          <p:spPr>
            <a:xfrm>
              <a:off x="3379788" y="5486400"/>
              <a:ext cx="10096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Medium 10–15</a:t>
              </a:r>
              <a:endParaRPr lang="en-US" sz="1100" spc="0" kern="0" b="0" i="0" dirty="0">
                <a:solidFill>
                  <a:srgbClr val="070154"/>
                </a:solidFill>
                <a:latin typeface="IBM Plex Sans"/>
                <a:ea typeface="IBM Plex Sans"/>
                <a:cs typeface="IBM Plex Sans"/>
              </a:endParaRPr>
            </a:p>
          </p:txBody>
        </p:sp>
        <p:sp>
          <p:nvSpPr>
            <p:cNvPr id="64" name="node02.items.slot-004.swatch"/>
            <p:cNvSpPr/>
            <p:nvPr/>
          </p:nvSpPr>
          <p:spPr>
            <a:xfrm>
              <a:off x="4618038" y="5518150"/>
              <a:ext cx="228600" cy="127000"/>
            </a:xfrm>
            <a:prstGeom prst="rect">
              <a:avLst/>
            </a:prstGeom>
            <a:solidFill>
              <a:srgbClr val="FB7FE8"/>
            </a:solidFill>
            <a:ln>
              <a:noFill/>
            </a:ln>
          </p:spPr>
        </p:sp>
        <p:sp>
          <p:nvSpPr>
            <p:cNvPr id="65" name="node02.items.slot-004.text"/>
            <p:cNvSpPr/>
            <p:nvPr/>
          </p:nvSpPr>
          <p:spPr>
            <a:xfrm>
              <a:off x="4910138" y="5486400"/>
              <a:ext cx="7889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High 16–21</a:t>
              </a:r>
              <a:endParaRPr lang="en-US" sz="1100" spc="0" kern="0" b="0" i="0" dirty="0">
                <a:solidFill>
                  <a:srgbClr val="070154"/>
                </a:solidFill>
                <a:latin typeface="IBM Plex Sans"/>
                <a:ea typeface="IBM Plex Sans"/>
                <a:cs typeface="IBM Plex Sans"/>
              </a:endParaRPr>
            </a:p>
          </p:txBody>
        </p:sp>
        <p:sp>
          <p:nvSpPr>
            <p:cNvPr id="66" name="node02.items.slot-005.swatch"/>
            <p:cNvSpPr/>
            <p:nvPr/>
          </p:nvSpPr>
          <p:spPr>
            <a:xfrm>
              <a:off x="5927725" y="5518150"/>
              <a:ext cx="228600" cy="127000"/>
            </a:xfrm>
            <a:prstGeom prst="rect">
              <a:avLst/>
            </a:prstGeom>
            <a:solidFill>
              <a:srgbClr val="F900D3"/>
            </a:solidFill>
            <a:ln>
              <a:noFill/>
            </a:ln>
          </p:spPr>
        </p:sp>
        <p:sp>
          <p:nvSpPr>
            <p:cNvPr id="67" name="node02.items.slot-005.text"/>
            <p:cNvSpPr/>
            <p:nvPr/>
          </p:nvSpPr>
          <p:spPr>
            <a:xfrm>
              <a:off x="6219825" y="5486400"/>
              <a:ext cx="10302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Extreme 22–25</a:t>
              </a:r>
              <a:endParaRPr lang="en-US" sz="1100" spc="0" kern="0" b="0" i="0" dirty="0">
                <a:solidFill>
                  <a:srgbClr val="070154"/>
                </a:solidFill>
                <a:latin typeface="IBM Plex Sans"/>
                <a:ea typeface="IBM Plex Sans"/>
                <a:cs typeface="IBM Plex Sans"/>
              </a:endParaRPr>
            </a:p>
          </p:txBody>
        </p:sp>
      </p:grpSp>
      <p:grpSp>
        <p:nvGrpSpPr>
          <p:cNvPr id="82" name="node03"/>
          <p:cNvGrpSpPr/>
          <p:nvPr/>
        </p:nvGrpSpPr>
        <p:grpSpPr>
          <a:xfrm>
            <a:off x="5702300" y="2286000"/>
            <a:ext cx="1320800" cy="594043"/>
            <a:chOff x="5702300" y="2286000"/>
            <a:chExt cx="1320800" cy="594043"/>
          </a:xfrm>
        </p:grpSpPr>
        <p:pic>
          <p:nvPicPr>
            <p:cNvPr id="68" name="node03.mark" descr="circle; canonical SHA256=124ae1e135b9541977ce5d2341d25f294d65a3b100cbfb4f243578081972a04d;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02300" y="2286000"/>
              <a:ext cx="1320800" cy="594043"/>
            </a:xfrm>
            <a:prstGeom prst="rect">
              <a:avLst/>
            </a:prstGeom>
          </p:spPr>
        </p:pic>
      </p:grpSp>
      <p:grpSp>
        <p:nvGrpSpPr>
          <p:cNvPr id="83" name="node04"/>
          <p:cNvGrpSpPr/>
          <p:nvPr/>
        </p:nvGrpSpPr>
        <p:grpSpPr>
          <a:xfrm>
            <a:off x="7124700" y="2489200"/>
            <a:ext cx="838200" cy="158490"/>
            <a:chOff x="7124700" y="2489200"/>
            <a:chExt cx="838200" cy="158490"/>
          </a:xfrm>
        </p:grpSpPr>
        <p:pic>
          <p:nvPicPr>
            <p:cNvPr id="69" name="node04.mark" descr="arrow-straight; canonical SHA256=115a8f5079b158c346e9f9ca6c6eeecb7567bbab70f4cd058c365f09ed10290e; resolved ink=07015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4700" y="2489200"/>
              <a:ext cx="838200" cy="158490"/>
            </a:xfrm>
            <a:prstGeom prst="rect">
              <a:avLst/>
            </a:prstGeom>
          </p:spPr>
        </p:pic>
      </p:grpSp>
      <p:grpSp>
        <p:nvGrpSpPr>
          <p:cNvPr id="84" name="node05"/>
          <p:cNvGrpSpPr/>
          <p:nvPr/>
        </p:nvGrpSpPr>
        <p:grpSpPr>
          <a:xfrm>
            <a:off x="8039100" y="1600200"/>
            <a:ext cx="3429000" cy="2057400"/>
            <a:chOff x="8039100" y="1600200"/>
            <a:chExt cx="3429000" cy="2057400"/>
          </a:xfrm>
        </p:grpSpPr>
        <p:sp>
          <p:nvSpPr>
            <p:cNvPr id="70" name="node05.container"/>
            <p:cNvSpPr/>
            <p:nvPr/>
          </p:nvSpPr>
          <p:spPr>
            <a:xfrm>
              <a:off x="8039100" y="1600200"/>
              <a:ext cx="3429000" cy="2057400"/>
            </a:xfrm>
            <a:prstGeom prst="rect">
              <a:avLst/>
            </a:prstGeom>
            <a:solidFill>
              <a:srgbClr val="F900D3"/>
            </a:solidFill>
            <a:ln>
              <a:noFill/>
            </a:ln>
          </p:spPr>
        </p:sp>
        <p:sp>
          <p:nvSpPr>
            <p:cNvPr id="71" name="node05.label"/>
            <p:cNvSpPr/>
            <p:nvPr/>
          </p:nvSpPr>
          <p:spPr>
            <a:xfrm>
              <a:off x="8267700" y="18288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R1, SCORE 25</a:t>
              </a:r>
              <a:endParaRPr lang="en-US" sz="800" spc="48" kern="0" b="0" i="0" dirty="0">
                <a:solidFill>
                  <a:srgbClr val="070154"/>
                </a:solidFill>
                <a:latin typeface="IBM Plex Mono Medium"/>
                <a:ea typeface="IBM Plex Mono Medium"/>
                <a:cs typeface="IBM Plex Mono Medium"/>
              </a:endParaRPr>
            </a:p>
          </p:txBody>
        </p:sp>
        <p:sp>
          <p:nvSpPr>
            <p:cNvPr id="72" name="node05.title"/>
            <p:cNvSpPr/>
            <p:nvPr/>
          </p:nvSpPr>
          <p:spPr>
            <a:xfrm>
              <a:off x="8267700" y="20447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Interface failure at cutover</a:t>
              </a:r>
              <a:endParaRPr lang="en-US" sz="1600" spc="-16" kern="0" b="0" i="0" dirty="0">
                <a:solidFill>
                  <a:srgbClr val="070154"/>
                </a:solidFill>
                <a:latin typeface="IBM Plex Sans SemiBold"/>
                <a:ea typeface="IBM Plex Sans SemiBold"/>
                <a:cs typeface="IBM Plex Sans SemiBold"/>
              </a:endParaRPr>
            </a:p>
          </p:txBody>
        </p:sp>
        <p:sp>
          <p:nvSpPr>
            <p:cNvPr id="73" name="node05.body.item-001.paragraph"/>
            <p:cNvSpPr/>
            <p:nvPr/>
          </p:nvSpPr>
          <p:spPr>
            <a:xfrm>
              <a:off x="8267700" y="2463800"/>
              <a:ext cx="2971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 CIO. Mitigation: dual-run the lab and pharmacy interfaces for two weeks.</a:t>
              </a:r>
              <a:endParaRPr lang="en-US" sz="1200" spc="0" kern="0" b="0" i="0" dirty="0">
                <a:solidFill>
                  <a:srgbClr val="070154"/>
                </a:solidFill>
                <a:latin typeface="IBM Plex Sans"/>
                <a:ea typeface="IBM Plex Sans"/>
                <a:cs typeface="IBM Plex Sans"/>
              </a:endParaRPr>
            </a:p>
          </p:txBody>
        </p:sp>
      </p:grpSp>
      <p:grpSp>
        <p:nvGrpSpPr>
          <p:cNvPr id="85" name="node06"/>
          <p:cNvGrpSpPr/>
          <p:nvPr/>
        </p:nvGrpSpPr>
        <p:grpSpPr>
          <a:xfrm>
            <a:off x="8039100" y="3886200"/>
            <a:ext cx="3429000" cy="939800"/>
            <a:chOff x="8039100" y="3886200"/>
            <a:chExt cx="3429000" cy="939800"/>
          </a:xfrm>
        </p:grpSpPr>
        <p:sp>
          <p:nvSpPr>
            <p:cNvPr id="74" name="node06.source-001.bullet"/>
            <p:cNvSpPr/>
            <p:nvPr/>
          </p:nvSpPr>
          <p:spPr>
            <a:xfrm>
              <a:off x="8039100" y="3975100"/>
              <a:ext cx="38100" cy="38100"/>
            </a:xfrm>
            <a:prstGeom prst="rect">
              <a:avLst/>
            </a:prstGeom>
            <a:solidFill>
              <a:srgbClr val="070154"/>
            </a:solidFill>
            <a:ln>
              <a:noFill/>
            </a:ln>
          </p:spPr>
        </p:sp>
        <p:sp>
          <p:nvSpPr>
            <p:cNvPr id="75" name="node06.source-001.text"/>
            <p:cNvSpPr/>
            <p:nvPr/>
          </p:nvSpPr>
          <p:spPr>
            <a:xfrm>
              <a:off x="8191500" y="3886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R10 and R3 follow at scores of 20 and 16.</a:t>
              </a:r>
              <a:endParaRPr lang="en-US" sz="1200" spc="0" kern="0" b="0" i="0" dirty="0">
                <a:solidFill>
                  <a:srgbClr val="070154"/>
                </a:solidFill>
                <a:latin typeface="IBM Plex Sans"/>
                <a:ea typeface="IBM Plex Sans"/>
                <a:cs typeface="IBM Plex Sans"/>
              </a:endParaRPr>
            </a:p>
          </p:txBody>
        </p:sp>
        <p:sp>
          <p:nvSpPr>
            <p:cNvPr id="76" name="node06.source-002.bullet"/>
            <p:cNvSpPr/>
            <p:nvPr/>
          </p:nvSpPr>
          <p:spPr>
            <a:xfrm>
              <a:off x="8039100" y="4229100"/>
              <a:ext cx="38100" cy="38100"/>
            </a:xfrm>
            <a:prstGeom prst="rect">
              <a:avLst/>
            </a:prstGeom>
            <a:solidFill>
              <a:srgbClr val="070154"/>
            </a:solidFill>
            <a:ln>
              <a:noFill/>
            </a:ln>
          </p:spPr>
        </p:sp>
        <p:sp>
          <p:nvSpPr>
            <p:cNvPr id="77" name="node06.source-002.text"/>
            <p:cNvSpPr/>
            <p:nvPr/>
          </p:nvSpPr>
          <p:spPr>
            <a:xfrm>
              <a:off x="8191500" y="41402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Both share the same migration team and cutover window.</a:t>
              </a:r>
              <a:endParaRPr lang="en-US" sz="1200" spc="0" kern="0" b="0" i="0" dirty="0">
                <a:solidFill>
                  <a:srgbClr val="070154"/>
                </a:solidFill>
                <a:latin typeface="IBM Plex Sans"/>
                <a:ea typeface="IBM Plex Sans"/>
                <a:cs typeface="IBM Plex Sans"/>
              </a:endParaRPr>
            </a:p>
          </p:txBody>
        </p:sp>
        <p:sp>
          <p:nvSpPr>
            <p:cNvPr id="78" name="node06.source-003.bullet"/>
            <p:cNvSpPr/>
            <p:nvPr/>
          </p:nvSpPr>
          <p:spPr>
            <a:xfrm>
              <a:off x="8039100" y="4699000"/>
              <a:ext cx="38100" cy="38100"/>
            </a:xfrm>
            <a:prstGeom prst="rect">
              <a:avLst/>
            </a:prstGeom>
            <a:solidFill>
              <a:srgbClr val="070154"/>
            </a:solidFill>
            <a:ln>
              <a:noFill/>
            </a:ln>
          </p:spPr>
        </p:sp>
        <p:sp>
          <p:nvSpPr>
            <p:cNvPr id="79" name="node06.source-003.text"/>
            <p:cNvSpPr/>
            <p:nvPr/>
          </p:nvSpPr>
          <p:spPr>
            <a:xfrm>
              <a:off x="8191500" y="4610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After the dual run, R1 drops to a score of 15.</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ource-09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DELIVERY PLAN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Sprints 4 to 6 carry the heaviest commitments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delivery plan,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64</a:t>
            </a:fld>
            <a:endParaRPr lang="en-US" sz="700" spc="0" kern="0" b="0" i="0" dirty="0">
              <a:solidFill>
                <a:srgbClr val="070154"/>
              </a:solidFill>
              <a:latin typeface="IBM Plex Mono SemiBold"/>
              <a:ea typeface="IBM Plex Mono SemiBold"/>
              <a:cs typeface="IBM Plex Mono SemiBold"/>
            </a:endParaRPr>
          </a:p>
        </p:txBody>
      </p:sp>
      <p:grpSp>
        <p:nvGrpSpPr>
          <p:cNvPr id="111" name="node01"/>
          <p:cNvGrpSpPr/>
          <p:nvPr/>
        </p:nvGrpSpPr>
        <p:grpSpPr>
          <a:xfrm>
            <a:off x="723900" y="1600200"/>
            <a:ext cx="10744200" cy="2260600"/>
            <a:chOff x="723900" y="1600200"/>
            <a:chExt cx="10744200" cy="2260600"/>
          </a:xfrm>
        </p:grpSpPr>
        <p:sp>
          <p:nvSpPr>
            <p:cNvPr id="7" name="node01.row.item-001.c1.heat-gap"/>
            <p:cNvSpPr/>
            <p:nvPr/>
          </p:nvSpPr>
          <p:spPr>
            <a:xfrm>
              <a:off x="2628900" y="1955800"/>
              <a:ext cx="990600" cy="381000"/>
            </a:xfrm>
            <a:prstGeom prst="rect">
              <a:avLst/>
            </a:prstGeom>
            <a:solidFill>
              <a:srgbClr val="FFFFFF"/>
            </a:solidFill>
            <a:ln>
              <a:noFill/>
            </a:ln>
          </p:spPr>
        </p:sp>
        <p:sp>
          <p:nvSpPr>
            <p:cNvPr id="8" name="node01.row.item-001.c1.heat"/>
            <p:cNvSpPr/>
            <p:nvPr/>
          </p:nvSpPr>
          <p:spPr>
            <a:xfrm>
              <a:off x="2647950" y="1974850"/>
              <a:ext cx="952500" cy="342900"/>
            </a:xfrm>
            <a:prstGeom prst="rect">
              <a:avLst/>
            </a:prstGeom>
            <a:solidFill>
              <a:srgbClr val="7C9BFF"/>
            </a:solidFill>
            <a:ln>
              <a:noFill/>
            </a:ln>
          </p:spPr>
        </p:sp>
        <p:sp>
          <p:nvSpPr>
            <p:cNvPr id="9" name="node01.row.item-001.c2.heat-gap"/>
            <p:cNvSpPr/>
            <p:nvPr/>
          </p:nvSpPr>
          <p:spPr>
            <a:xfrm>
              <a:off x="3619500" y="1955800"/>
              <a:ext cx="990600" cy="381000"/>
            </a:xfrm>
            <a:prstGeom prst="rect">
              <a:avLst/>
            </a:prstGeom>
            <a:solidFill>
              <a:srgbClr val="FFFFFF"/>
            </a:solidFill>
            <a:ln>
              <a:noFill/>
            </a:ln>
          </p:spPr>
        </p:sp>
        <p:sp>
          <p:nvSpPr>
            <p:cNvPr id="10" name="node01.row.item-001.c2.heat"/>
            <p:cNvSpPr/>
            <p:nvPr/>
          </p:nvSpPr>
          <p:spPr>
            <a:xfrm>
              <a:off x="3638550" y="1974850"/>
              <a:ext cx="952500" cy="342900"/>
            </a:xfrm>
            <a:prstGeom prst="rect">
              <a:avLst/>
            </a:prstGeom>
            <a:solidFill>
              <a:srgbClr val="0047FF"/>
            </a:solidFill>
            <a:ln>
              <a:noFill/>
            </a:ln>
          </p:spPr>
        </p:sp>
        <p:sp>
          <p:nvSpPr>
            <p:cNvPr id="11" name="node01.row.item-001.c3.heat-gap"/>
            <p:cNvSpPr/>
            <p:nvPr/>
          </p:nvSpPr>
          <p:spPr>
            <a:xfrm>
              <a:off x="4610100" y="1955800"/>
              <a:ext cx="990600" cy="381000"/>
            </a:xfrm>
            <a:prstGeom prst="rect">
              <a:avLst/>
            </a:prstGeom>
            <a:solidFill>
              <a:srgbClr val="FFFFFF"/>
            </a:solidFill>
            <a:ln>
              <a:noFill/>
            </a:ln>
          </p:spPr>
        </p:sp>
        <p:sp>
          <p:nvSpPr>
            <p:cNvPr id="12" name="node01.row.item-001.c3.heat"/>
            <p:cNvSpPr/>
            <p:nvPr/>
          </p:nvSpPr>
          <p:spPr>
            <a:xfrm>
              <a:off x="4629150" y="1974850"/>
              <a:ext cx="952500" cy="342900"/>
            </a:xfrm>
            <a:prstGeom prst="rect">
              <a:avLst/>
            </a:prstGeom>
            <a:solidFill>
              <a:srgbClr val="0047FF"/>
            </a:solidFill>
            <a:ln>
              <a:noFill/>
            </a:ln>
          </p:spPr>
        </p:sp>
        <p:sp>
          <p:nvSpPr>
            <p:cNvPr id="13" name="node01.row.item-001.c4.heat-gap"/>
            <p:cNvSpPr/>
            <p:nvPr/>
          </p:nvSpPr>
          <p:spPr>
            <a:xfrm>
              <a:off x="5600700" y="1955800"/>
              <a:ext cx="990600" cy="381000"/>
            </a:xfrm>
            <a:prstGeom prst="rect">
              <a:avLst/>
            </a:prstGeom>
            <a:solidFill>
              <a:srgbClr val="FFFFFF"/>
            </a:solidFill>
            <a:ln>
              <a:noFill/>
            </a:ln>
          </p:spPr>
        </p:sp>
        <p:sp>
          <p:nvSpPr>
            <p:cNvPr id="14" name="node01.row.item-001.c4.heat"/>
            <p:cNvSpPr/>
            <p:nvPr/>
          </p:nvSpPr>
          <p:spPr>
            <a:xfrm>
              <a:off x="5619750" y="1974850"/>
              <a:ext cx="952500" cy="342900"/>
            </a:xfrm>
            <a:prstGeom prst="rect">
              <a:avLst/>
            </a:prstGeom>
            <a:solidFill>
              <a:srgbClr val="0047FF"/>
            </a:solidFill>
            <a:ln>
              <a:noFill/>
            </a:ln>
          </p:spPr>
        </p:sp>
        <p:sp>
          <p:nvSpPr>
            <p:cNvPr id="15" name="node01.row.item-001.c5.heat-gap"/>
            <p:cNvSpPr/>
            <p:nvPr/>
          </p:nvSpPr>
          <p:spPr>
            <a:xfrm>
              <a:off x="6591300" y="1955800"/>
              <a:ext cx="990600" cy="381000"/>
            </a:xfrm>
            <a:prstGeom prst="rect">
              <a:avLst/>
            </a:prstGeom>
            <a:solidFill>
              <a:srgbClr val="FFFFFF"/>
            </a:solidFill>
            <a:ln>
              <a:noFill/>
            </a:ln>
          </p:spPr>
        </p:sp>
        <p:sp>
          <p:nvSpPr>
            <p:cNvPr id="16" name="node01.row.item-001.c5.heat"/>
            <p:cNvSpPr/>
            <p:nvPr/>
          </p:nvSpPr>
          <p:spPr>
            <a:xfrm>
              <a:off x="6610350" y="1974850"/>
              <a:ext cx="952500" cy="342900"/>
            </a:xfrm>
            <a:prstGeom prst="rect">
              <a:avLst/>
            </a:prstGeom>
            <a:solidFill>
              <a:srgbClr val="070154"/>
            </a:solidFill>
            <a:ln>
              <a:noFill/>
            </a:ln>
          </p:spPr>
        </p:sp>
        <p:sp>
          <p:nvSpPr>
            <p:cNvPr id="17" name="node01.row.item-001.c6.heat-gap"/>
            <p:cNvSpPr/>
            <p:nvPr/>
          </p:nvSpPr>
          <p:spPr>
            <a:xfrm>
              <a:off x="7581900" y="1955800"/>
              <a:ext cx="990600" cy="381000"/>
            </a:xfrm>
            <a:prstGeom prst="rect">
              <a:avLst/>
            </a:prstGeom>
            <a:solidFill>
              <a:srgbClr val="FFFFFF"/>
            </a:solidFill>
            <a:ln>
              <a:noFill/>
            </a:ln>
          </p:spPr>
        </p:sp>
        <p:sp>
          <p:nvSpPr>
            <p:cNvPr id="18" name="node01.row.item-001.c6.heat"/>
            <p:cNvSpPr/>
            <p:nvPr/>
          </p:nvSpPr>
          <p:spPr>
            <a:xfrm>
              <a:off x="7600950" y="1974850"/>
              <a:ext cx="952500" cy="342900"/>
            </a:xfrm>
            <a:prstGeom prst="rect">
              <a:avLst/>
            </a:prstGeom>
            <a:solidFill>
              <a:srgbClr val="070154"/>
            </a:solidFill>
            <a:ln>
              <a:noFill/>
            </a:ln>
          </p:spPr>
        </p:sp>
        <p:sp>
          <p:nvSpPr>
            <p:cNvPr id="19" name="node01.row.item-001.c7.heat-gap"/>
            <p:cNvSpPr/>
            <p:nvPr/>
          </p:nvSpPr>
          <p:spPr>
            <a:xfrm>
              <a:off x="8572500" y="1955800"/>
              <a:ext cx="990600" cy="381000"/>
            </a:xfrm>
            <a:prstGeom prst="rect">
              <a:avLst/>
            </a:prstGeom>
            <a:solidFill>
              <a:srgbClr val="FFFFFF"/>
            </a:solidFill>
            <a:ln>
              <a:noFill/>
            </a:ln>
          </p:spPr>
        </p:sp>
        <p:sp>
          <p:nvSpPr>
            <p:cNvPr id="20" name="node01.row.item-001.c7.heat"/>
            <p:cNvSpPr/>
            <p:nvPr/>
          </p:nvSpPr>
          <p:spPr>
            <a:xfrm>
              <a:off x="8591550" y="1974850"/>
              <a:ext cx="952500" cy="342900"/>
            </a:xfrm>
            <a:prstGeom prst="rect">
              <a:avLst/>
            </a:prstGeom>
            <a:solidFill>
              <a:srgbClr val="0047FF"/>
            </a:solidFill>
            <a:ln>
              <a:noFill/>
            </a:ln>
          </p:spPr>
        </p:sp>
        <p:sp>
          <p:nvSpPr>
            <p:cNvPr id="21" name="node01.row.item-001.c8.heat-gap"/>
            <p:cNvSpPr/>
            <p:nvPr/>
          </p:nvSpPr>
          <p:spPr>
            <a:xfrm>
              <a:off x="9563100" y="1955800"/>
              <a:ext cx="990600" cy="381000"/>
            </a:xfrm>
            <a:prstGeom prst="rect">
              <a:avLst/>
            </a:prstGeom>
            <a:solidFill>
              <a:srgbClr val="FFFFFF"/>
            </a:solidFill>
            <a:ln>
              <a:noFill/>
            </a:ln>
          </p:spPr>
        </p:sp>
        <p:sp>
          <p:nvSpPr>
            <p:cNvPr id="22" name="node01.row.item-001.c8.heat"/>
            <p:cNvSpPr/>
            <p:nvPr/>
          </p:nvSpPr>
          <p:spPr>
            <a:xfrm>
              <a:off x="9582150" y="1974850"/>
              <a:ext cx="952500" cy="342900"/>
            </a:xfrm>
            <a:prstGeom prst="rect">
              <a:avLst/>
            </a:prstGeom>
            <a:solidFill>
              <a:srgbClr val="7C9BFF"/>
            </a:solidFill>
            <a:ln>
              <a:noFill/>
            </a:ln>
          </p:spPr>
        </p:sp>
        <p:sp>
          <p:nvSpPr>
            <p:cNvPr id="23" name="node01.row.item-002.c1.heat-gap"/>
            <p:cNvSpPr/>
            <p:nvPr/>
          </p:nvSpPr>
          <p:spPr>
            <a:xfrm>
              <a:off x="2628900" y="2336800"/>
              <a:ext cx="990600" cy="381000"/>
            </a:xfrm>
            <a:prstGeom prst="rect">
              <a:avLst/>
            </a:prstGeom>
            <a:solidFill>
              <a:srgbClr val="FFFFFF"/>
            </a:solidFill>
            <a:ln>
              <a:noFill/>
            </a:ln>
          </p:spPr>
        </p:sp>
        <p:sp>
          <p:nvSpPr>
            <p:cNvPr id="24" name="node01.row.item-002.c1.heat"/>
            <p:cNvSpPr/>
            <p:nvPr/>
          </p:nvSpPr>
          <p:spPr>
            <a:xfrm>
              <a:off x="2647950" y="2355850"/>
              <a:ext cx="952500" cy="342900"/>
            </a:xfrm>
            <a:prstGeom prst="rect">
              <a:avLst/>
            </a:prstGeom>
            <a:solidFill>
              <a:srgbClr val="7C9BFF"/>
            </a:solidFill>
            <a:ln>
              <a:noFill/>
            </a:ln>
          </p:spPr>
        </p:sp>
        <p:sp>
          <p:nvSpPr>
            <p:cNvPr id="25" name="node01.row.item-002.c2.heat-gap"/>
            <p:cNvSpPr/>
            <p:nvPr/>
          </p:nvSpPr>
          <p:spPr>
            <a:xfrm>
              <a:off x="3619500" y="2336800"/>
              <a:ext cx="990600" cy="381000"/>
            </a:xfrm>
            <a:prstGeom prst="rect">
              <a:avLst/>
            </a:prstGeom>
            <a:solidFill>
              <a:srgbClr val="FFFFFF"/>
            </a:solidFill>
            <a:ln>
              <a:noFill/>
            </a:ln>
          </p:spPr>
        </p:sp>
        <p:sp>
          <p:nvSpPr>
            <p:cNvPr id="26" name="node01.row.item-002.c2.heat"/>
            <p:cNvSpPr/>
            <p:nvPr/>
          </p:nvSpPr>
          <p:spPr>
            <a:xfrm>
              <a:off x="3638550" y="2355850"/>
              <a:ext cx="952500" cy="342900"/>
            </a:xfrm>
            <a:prstGeom prst="rect">
              <a:avLst/>
            </a:prstGeom>
            <a:solidFill>
              <a:srgbClr val="7C9BFF"/>
            </a:solidFill>
            <a:ln>
              <a:noFill/>
            </a:ln>
          </p:spPr>
        </p:sp>
        <p:sp>
          <p:nvSpPr>
            <p:cNvPr id="27" name="node01.row.item-002.c3.heat-gap"/>
            <p:cNvSpPr/>
            <p:nvPr/>
          </p:nvSpPr>
          <p:spPr>
            <a:xfrm>
              <a:off x="4610100" y="2336800"/>
              <a:ext cx="990600" cy="381000"/>
            </a:xfrm>
            <a:prstGeom prst="rect">
              <a:avLst/>
            </a:prstGeom>
            <a:solidFill>
              <a:srgbClr val="FFFFFF"/>
            </a:solidFill>
            <a:ln>
              <a:noFill/>
            </a:ln>
          </p:spPr>
        </p:sp>
        <p:sp>
          <p:nvSpPr>
            <p:cNvPr id="28" name="node01.row.item-002.c3.heat"/>
            <p:cNvSpPr/>
            <p:nvPr/>
          </p:nvSpPr>
          <p:spPr>
            <a:xfrm>
              <a:off x="4629150" y="2355850"/>
              <a:ext cx="952500" cy="342900"/>
            </a:xfrm>
            <a:prstGeom prst="rect">
              <a:avLst/>
            </a:prstGeom>
            <a:solidFill>
              <a:srgbClr val="0047FF"/>
            </a:solidFill>
            <a:ln>
              <a:noFill/>
            </a:ln>
          </p:spPr>
        </p:sp>
        <p:sp>
          <p:nvSpPr>
            <p:cNvPr id="29" name="node01.row.item-002.c4.heat-gap"/>
            <p:cNvSpPr/>
            <p:nvPr/>
          </p:nvSpPr>
          <p:spPr>
            <a:xfrm>
              <a:off x="5600700" y="2336800"/>
              <a:ext cx="990600" cy="381000"/>
            </a:xfrm>
            <a:prstGeom prst="rect">
              <a:avLst/>
            </a:prstGeom>
            <a:solidFill>
              <a:srgbClr val="FFFFFF"/>
            </a:solidFill>
            <a:ln>
              <a:noFill/>
            </a:ln>
          </p:spPr>
        </p:sp>
        <p:sp>
          <p:nvSpPr>
            <p:cNvPr id="30" name="node01.row.item-002.c4.heat"/>
            <p:cNvSpPr/>
            <p:nvPr/>
          </p:nvSpPr>
          <p:spPr>
            <a:xfrm>
              <a:off x="5619750" y="2355850"/>
              <a:ext cx="952500" cy="342900"/>
            </a:xfrm>
            <a:prstGeom prst="rect">
              <a:avLst/>
            </a:prstGeom>
            <a:solidFill>
              <a:srgbClr val="0047FF"/>
            </a:solidFill>
            <a:ln>
              <a:noFill/>
            </a:ln>
          </p:spPr>
        </p:sp>
        <p:sp>
          <p:nvSpPr>
            <p:cNvPr id="31" name="node01.row.item-002.c5.heat-gap"/>
            <p:cNvSpPr/>
            <p:nvPr/>
          </p:nvSpPr>
          <p:spPr>
            <a:xfrm>
              <a:off x="6591300" y="2336800"/>
              <a:ext cx="990600" cy="381000"/>
            </a:xfrm>
            <a:prstGeom prst="rect">
              <a:avLst/>
            </a:prstGeom>
            <a:solidFill>
              <a:srgbClr val="FFFFFF"/>
            </a:solidFill>
            <a:ln>
              <a:noFill/>
            </a:ln>
          </p:spPr>
        </p:sp>
        <p:sp>
          <p:nvSpPr>
            <p:cNvPr id="32" name="node01.row.item-002.c5.heat"/>
            <p:cNvSpPr/>
            <p:nvPr/>
          </p:nvSpPr>
          <p:spPr>
            <a:xfrm>
              <a:off x="6610350" y="2355850"/>
              <a:ext cx="952500" cy="342900"/>
            </a:xfrm>
            <a:prstGeom prst="rect">
              <a:avLst/>
            </a:prstGeom>
            <a:solidFill>
              <a:srgbClr val="0047FF"/>
            </a:solidFill>
            <a:ln>
              <a:noFill/>
            </a:ln>
          </p:spPr>
        </p:sp>
        <p:sp>
          <p:nvSpPr>
            <p:cNvPr id="33" name="node01.row.item-002.c6.heat-gap"/>
            <p:cNvSpPr/>
            <p:nvPr/>
          </p:nvSpPr>
          <p:spPr>
            <a:xfrm>
              <a:off x="7581900" y="2336800"/>
              <a:ext cx="990600" cy="381000"/>
            </a:xfrm>
            <a:prstGeom prst="rect">
              <a:avLst/>
            </a:prstGeom>
            <a:solidFill>
              <a:srgbClr val="FFFFFF"/>
            </a:solidFill>
            <a:ln>
              <a:noFill/>
            </a:ln>
          </p:spPr>
        </p:sp>
        <p:sp>
          <p:nvSpPr>
            <p:cNvPr id="34" name="node01.row.item-002.c6.heat"/>
            <p:cNvSpPr/>
            <p:nvPr/>
          </p:nvSpPr>
          <p:spPr>
            <a:xfrm>
              <a:off x="7600950" y="2355850"/>
              <a:ext cx="952500" cy="342900"/>
            </a:xfrm>
            <a:prstGeom prst="rect">
              <a:avLst/>
            </a:prstGeom>
            <a:solidFill>
              <a:srgbClr val="070154"/>
            </a:solidFill>
            <a:ln>
              <a:noFill/>
            </a:ln>
          </p:spPr>
        </p:sp>
        <p:sp>
          <p:nvSpPr>
            <p:cNvPr id="35" name="node01.row.item-002.c7.heat-gap"/>
            <p:cNvSpPr/>
            <p:nvPr/>
          </p:nvSpPr>
          <p:spPr>
            <a:xfrm>
              <a:off x="8572500" y="2336800"/>
              <a:ext cx="990600" cy="381000"/>
            </a:xfrm>
            <a:prstGeom prst="rect">
              <a:avLst/>
            </a:prstGeom>
            <a:solidFill>
              <a:srgbClr val="FFFFFF"/>
            </a:solidFill>
            <a:ln>
              <a:noFill/>
            </a:ln>
          </p:spPr>
        </p:sp>
        <p:sp>
          <p:nvSpPr>
            <p:cNvPr id="36" name="node01.row.item-002.c7.heat"/>
            <p:cNvSpPr/>
            <p:nvPr/>
          </p:nvSpPr>
          <p:spPr>
            <a:xfrm>
              <a:off x="8591550" y="2355850"/>
              <a:ext cx="952500" cy="342900"/>
            </a:xfrm>
            <a:prstGeom prst="rect">
              <a:avLst/>
            </a:prstGeom>
            <a:solidFill>
              <a:srgbClr val="0047FF"/>
            </a:solidFill>
            <a:ln>
              <a:noFill/>
            </a:ln>
          </p:spPr>
        </p:sp>
        <p:sp>
          <p:nvSpPr>
            <p:cNvPr id="37" name="node01.row.item-002.c8.heat-gap"/>
            <p:cNvSpPr/>
            <p:nvPr/>
          </p:nvSpPr>
          <p:spPr>
            <a:xfrm>
              <a:off x="9563100" y="2336800"/>
              <a:ext cx="990600" cy="381000"/>
            </a:xfrm>
            <a:prstGeom prst="rect">
              <a:avLst/>
            </a:prstGeom>
            <a:solidFill>
              <a:srgbClr val="FFFFFF"/>
            </a:solidFill>
            <a:ln>
              <a:noFill/>
            </a:ln>
          </p:spPr>
        </p:sp>
        <p:sp>
          <p:nvSpPr>
            <p:cNvPr id="38" name="node01.row.item-002.c8.heat"/>
            <p:cNvSpPr/>
            <p:nvPr/>
          </p:nvSpPr>
          <p:spPr>
            <a:xfrm>
              <a:off x="9582150" y="2355850"/>
              <a:ext cx="952500" cy="342900"/>
            </a:xfrm>
            <a:prstGeom prst="rect">
              <a:avLst/>
            </a:prstGeom>
            <a:solidFill>
              <a:srgbClr val="0047FF"/>
            </a:solidFill>
            <a:ln>
              <a:noFill/>
            </a:ln>
          </p:spPr>
        </p:sp>
        <p:sp>
          <p:nvSpPr>
            <p:cNvPr id="39" name="node01.row.item-003.c1.heat-gap"/>
            <p:cNvSpPr/>
            <p:nvPr/>
          </p:nvSpPr>
          <p:spPr>
            <a:xfrm>
              <a:off x="2628900" y="2717800"/>
              <a:ext cx="990600" cy="381000"/>
            </a:xfrm>
            <a:prstGeom prst="rect">
              <a:avLst/>
            </a:prstGeom>
            <a:solidFill>
              <a:srgbClr val="FFFFFF"/>
            </a:solidFill>
            <a:ln>
              <a:noFill/>
            </a:ln>
          </p:spPr>
        </p:sp>
        <p:sp>
          <p:nvSpPr>
            <p:cNvPr id="40" name="node01.row.item-003.c1.heat"/>
            <p:cNvSpPr/>
            <p:nvPr/>
          </p:nvSpPr>
          <p:spPr>
            <a:xfrm>
              <a:off x="2647950" y="2736850"/>
              <a:ext cx="952500" cy="342900"/>
            </a:xfrm>
            <a:prstGeom prst="rect">
              <a:avLst/>
            </a:prstGeom>
            <a:solidFill>
              <a:srgbClr val="7C9BFF"/>
            </a:solidFill>
            <a:ln>
              <a:noFill/>
            </a:ln>
          </p:spPr>
        </p:sp>
        <p:sp>
          <p:nvSpPr>
            <p:cNvPr id="41" name="node01.row.item-003.c2.heat-gap"/>
            <p:cNvSpPr/>
            <p:nvPr/>
          </p:nvSpPr>
          <p:spPr>
            <a:xfrm>
              <a:off x="3619500" y="2717800"/>
              <a:ext cx="990600" cy="381000"/>
            </a:xfrm>
            <a:prstGeom prst="rect">
              <a:avLst/>
            </a:prstGeom>
            <a:solidFill>
              <a:srgbClr val="FFFFFF"/>
            </a:solidFill>
            <a:ln>
              <a:noFill/>
            </a:ln>
          </p:spPr>
        </p:sp>
        <p:sp>
          <p:nvSpPr>
            <p:cNvPr id="42" name="node01.row.item-003.c2.heat"/>
            <p:cNvSpPr/>
            <p:nvPr/>
          </p:nvSpPr>
          <p:spPr>
            <a:xfrm>
              <a:off x="3638550" y="2736850"/>
              <a:ext cx="952500" cy="342900"/>
            </a:xfrm>
            <a:prstGeom prst="rect">
              <a:avLst/>
            </a:prstGeom>
            <a:solidFill>
              <a:srgbClr val="7C9BFF"/>
            </a:solidFill>
            <a:ln>
              <a:noFill/>
            </a:ln>
          </p:spPr>
        </p:sp>
        <p:sp>
          <p:nvSpPr>
            <p:cNvPr id="43" name="node01.row.item-003.c3.heat-gap"/>
            <p:cNvSpPr/>
            <p:nvPr/>
          </p:nvSpPr>
          <p:spPr>
            <a:xfrm>
              <a:off x="4610100" y="2717800"/>
              <a:ext cx="990600" cy="381000"/>
            </a:xfrm>
            <a:prstGeom prst="rect">
              <a:avLst/>
            </a:prstGeom>
            <a:solidFill>
              <a:srgbClr val="FFFFFF"/>
            </a:solidFill>
            <a:ln>
              <a:noFill/>
            </a:ln>
          </p:spPr>
        </p:sp>
        <p:sp>
          <p:nvSpPr>
            <p:cNvPr id="44" name="node01.row.item-003.c3.heat"/>
            <p:cNvSpPr/>
            <p:nvPr/>
          </p:nvSpPr>
          <p:spPr>
            <a:xfrm>
              <a:off x="4629150" y="2736850"/>
              <a:ext cx="952500" cy="342900"/>
            </a:xfrm>
            <a:prstGeom prst="rect">
              <a:avLst/>
            </a:prstGeom>
            <a:solidFill>
              <a:srgbClr val="0047FF"/>
            </a:solidFill>
            <a:ln>
              <a:noFill/>
            </a:ln>
          </p:spPr>
        </p:sp>
        <p:sp>
          <p:nvSpPr>
            <p:cNvPr id="45" name="node01.row.item-003.c4.heat-gap"/>
            <p:cNvSpPr/>
            <p:nvPr/>
          </p:nvSpPr>
          <p:spPr>
            <a:xfrm>
              <a:off x="5600700" y="2717800"/>
              <a:ext cx="990600" cy="381000"/>
            </a:xfrm>
            <a:prstGeom prst="rect">
              <a:avLst/>
            </a:prstGeom>
            <a:solidFill>
              <a:srgbClr val="FFFFFF"/>
            </a:solidFill>
            <a:ln>
              <a:noFill/>
            </a:ln>
          </p:spPr>
        </p:sp>
        <p:sp>
          <p:nvSpPr>
            <p:cNvPr id="46" name="node01.row.item-003.c4.heat"/>
            <p:cNvSpPr/>
            <p:nvPr/>
          </p:nvSpPr>
          <p:spPr>
            <a:xfrm>
              <a:off x="5619750" y="2736850"/>
              <a:ext cx="952500" cy="342900"/>
            </a:xfrm>
            <a:prstGeom prst="rect">
              <a:avLst/>
            </a:prstGeom>
            <a:solidFill>
              <a:srgbClr val="0047FF"/>
            </a:solidFill>
            <a:ln>
              <a:noFill/>
            </a:ln>
          </p:spPr>
        </p:sp>
        <p:sp>
          <p:nvSpPr>
            <p:cNvPr id="47" name="node01.row.item-003.c5.heat-gap"/>
            <p:cNvSpPr/>
            <p:nvPr/>
          </p:nvSpPr>
          <p:spPr>
            <a:xfrm>
              <a:off x="6591300" y="2717800"/>
              <a:ext cx="990600" cy="381000"/>
            </a:xfrm>
            <a:prstGeom prst="rect">
              <a:avLst/>
            </a:prstGeom>
            <a:solidFill>
              <a:srgbClr val="FFFFFF"/>
            </a:solidFill>
            <a:ln>
              <a:noFill/>
            </a:ln>
          </p:spPr>
        </p:sp>
        <p:sp>
          <p:nvSpPr>
            <p:cNvPr id="48" name="node01.row.item-003.c5.heat"/>
            <p:cNvSpPr/>
            <p:nvPr/>
          </p:nvSpPr>
          <p:spPr>
            <a:xfrm>
              <a:off x="6610350" y="2736850"/>
              <a:ext cx="952500" cy="342900"/>
            </a:xfrm>
            <a:prstGeom prst="rect">
              <a:avLst/>
            </a:prstGeom>
            <a:solidFill>
              <a:srgbClr val="0047FF"/>
            </a:solidFill>
            <a:ln>
              <a:noFill/>
            </a:ln>
          </p:spPr>
        </p:sp>
        <p:sp>
          <p:nvSpPr>
            <p:cNvPr id="49" name="node01.row.item-003.c6.heat-gap"/>
            <p:cNvSpPr/>
            <p:nvPr/>
          </p:nvSpPr>
          <p:spPr>
            <a:xfrm>
              <a:off x="7581900" y="2717800"/>
              <a:ext cx="990600" cy="381000"/>
            </a:xfrm>
            <a:prstGeom prst="rect">
              <a:avLst/>
            </a:prstGeom>
            <a:solidFill>
              <a:srgbClr val="FFFFFF"/>
            </a:solidFill>
            <a:ln>
              <a:noFill/>
            </a:ln>
          </p:spPr>
        </p:sp>
        <p:sp>
          <p:nvSpPr>
            <p:cNvPr id="50" name="node01.row.item-003.c6.heat"/>
            <p:cNvSpPr/>
            <p:nvPr/>
          </p:nvSpPr>
          <p:spPr>
            <a:xfrm>
              <a:off x="7600950" y="2736850"/>
              <a:ext cx="952500" cy="342900"/>
            </a:xfrm>
            <a:prstGeom prst="rect">
              <a:avLst/>
            </a:prstGeom>
            <a:solidFill>
              <a:srgbClr val="0047FF"/>
            </a:solidFill>
            <a:ln>
              <a:noFill/>
            </a:ln>
          </p:spPr>
        </p:sp>
        <p:sp>
          <p:nvSpPr>
            <p:cNvPr id="51" name="node01.row.item-003.c7.heat-gap"/>
            <p:cNvSpPr/>
            <p:nvPr/>
          </p:nvSpPr>
          <p:spPr>
            <a:xfrm>
              <a:off x="8572500" y="2717800"/>
              <a:ext cx="990600" cy="381000"/>
            </a:xfrm>
            <a:prstGeom prst="rect">
              <a:avLst/>
            </a:prstGeom>
            <a:solidFill>
              <a:srgbClr val="FFFFFF"/>
            </a:solidFill>
            <a:ln>
              <a:noFill/>
            </a:ln>
          </p:spPr>
        </p:sp>
        <p:sp>
          <p:nvSpPr>
            <p:cNvPr id="52" name="node01.row.item-003.c7.heat"/>
            <p:cNvSpPr/>
            <p:nvPr/>
          </p:nvSpPr>
          <p:spPr>
            <a:xfrm>
              <a:off x="8591550" y="2736850"/>
              <a:ext cx="952500" cy="342900"/>
            </a:xfrm>
            <a:prstGeom prst="rect">
              <a:avLst/>
            </a:prstGeom>
            <a:solidFill>
              <a:srgbClr val="0047FF"/>
            </a:solidFill>
            <a:ln>
              <a:noFill/>
            </a:ln>
          </p:spPr>
        </p:sp>
        <p:sp>
          <p:nvSpPr>
            <p:cNvPr id="53" name="node01.row.item-003.c8.heat-gap"/>
            <p:cNvSpPr/>
            <p:nvPr/>
          </p:nvSpPr>
          <p:spPr>
            <a:xfrm>
              <a:off x="9563100" y="2717800"/>
              <a:ext cx="990600" cy="381000"/>
            </a:xfrm>
            <a:prstGeom prst="rect">
              <a:avLst/>
            </a:prstGeom>
            <a:solidFill>
              <a:srgbClr val="FFFFFF"/>
            </a:solidFill>
            <a:ln>
              <a:noFill/>
            </a:ln>
          </p:spPr>
        </p:sp>
        <p:sp>
          <p:nvSpPr>
            <p:cNvPr id="54" name="node01.row.item-003.c8.heat"/>
            <p:cNvSpPr/>
            <p:nvPr/>
          </p:nvSpPr>
          <p:spPr>
            <a:xfrm>
              <a:off x="9582150" y="2736850"/>
              <a:ext cx="952500" cy="342900"/>
            </a:xfrm>
            <a:prstGeom prst="rect">
              <a:avLst/>
            </a:prstGeom>
            <a:solidFill>
              <a:srgbClr val="7C9BFF"/>
            </a:solidFill>
            <a:ln>
              <a:noFill/>
            </a:ln>
          </p:spPr>
        </p:sp>
        <p:sp>
          <p:nvSpPr>
            <p:cNvPr id="55" name="node01.row.item-004.c1.heat-gap"/>
            <p:cNvSpPr/>
            <p:nvPr/>
          </p:nvSpPr>
          <p:spPr>
            <a:xfrm>
              <a:off x="2628900" y="3098800"/>
              <a:ext cx="990600" cy="381000"/>
            </a:xfrm>
            <a:prstGeom prst="rect">
              <a:avLst/>
            </a:prstGeom>
            <a:solidFill>
              <a:srgbClr val="FFFFFF"/>
            </a:solidFill>
            <a:ln>
              <a:noFill/>
            </a:ln>
          </p:spPr>
        </p:sp>
        <p:sp>
          <p:nvSpPr>
            <p:cNvPr id="56" name="node01.row.item-004.c1.heat"/>
            <p:cNvSpPr/>
            <p:nvPr/>
          </p:nvSpPr>
          <p:spPr>
            <a:xfrm>
              <a:off x="2647950" y="3117850"/>
              <a:ext cx="952500" cy="342900"/>
            </a:xfrm>
            <a:prstGeom prst="rect">
              <a:avLst/>
            </a:prstGeom>
            <a:solidFill>
              <a:srgbClr val="0047FF"/>
            </a:solidFill>
            <a:ln>
              <a:noFill/>
            </a:ln>
          </p:spPr>
        </p:sp>
        <p:sp>
          <p:nvSpPr>
            <p:cNvPr id="57" name="node01.row.item-004.c2.heat-gap"/>
            <p:cNvSpPr/>
            <p:nvPr/>
          </p:nvSpPr>
          <p:spPr>
            <a:xfrm>
              <a:off x="3619500" y="3098800"/>
              <a:ext cx="990600" cy="381000"/>
            </a:xfrm>
            <a:prstGeom prst="rect">
              <a:avLst/>
            </a:prstGeom>
            <a:solidFill>
              <a:srgbClr val="FFFFFF"/>
            </a:solidFill>
            <a:ln>
              <a:noFill/>
            </a:ln>
          </p:spPr>
        </p:sp>
        <p:sp>
          <p:nvSpPr>
            <p:cNvPr id="58" name="node01.row.item-004.c2.heat"/>
            <p:cNvSpPr/>
            <p:nvPr/>
          </p:nvSpPr>
          <p:spPr>
            <a:xfrm>
              <a:off x="3638550" y="3117850"/>
              <a:ext cx="952500" cy="342900"/>
            </a:xfrm>
            <a:prstGeom prst="rect">
              <a:avLst/>
            </a:prstGeom>
            <a:solidFill>
              <a:srgbClr val="0047FF"/>
            </a:solidFill>
            <a:ln>
              <a:noFill/>
            </a:ln>
          </p:spPr>
        </p:sp>
        <p:sp>
          <p:nvSpPr>
            <p:cNvPr id="59" name="node01.row.item-004.c3.heat-gap"/>
            <p:cNvSpPr/>
            <p:nvPr/>
          </p:nvSpPr>
          <p:spPr>
            <a:xfrm>
              <a:off x="4610100" y="3098800"/>
              <a:ext cx="990600" cy="381000"/>
            </a:xfrm>
            <a:prstGeom prst="rect">
              <a:avLst/>
            </a:prstGeom>
            <a:solidFill>
              <a:srgbClr val="FFFFFF"/>
            </a:solidFill>
            <a:ln>
              <a:noFill/>
            </a:ln>
          </p:spPr>
        </p:sp>
        <p:sp>
          <p:nvSpPr>
            <p:cNvPr id="60" name="node01.row.item-004.c3.heat"/>
            <p:cNvSpPr/>
            <p:nvPr/>
          </p:nvSpPr>
          <p:spPr>
            <a:xfrm>
              <a:off x="4629150" y="3117850"/>
              <a:ext cx="952500" cy="342900"/>
            </a:xfrm>
            <a:prstGeom prst="rect">
              <a:avLst/>
            </a:prstGeom>
            <a:solidFill>
              <a:srgbClr val="070154"/>
            </a:solidFill>
            <a:ln>
              <a:noFill/>
            </a:ln>
          </p:spPr>
        </p:sp>
        <p:sp>
          <p:nvSpPr>
            <p:cNvPr id="61" name="node01.row.item-004.c4.heat-gap"/>
            <p:cNvSpPr/>
            <p:nvPr/>
          </p:nvSpPr>
          <p:spPr>
            <a:xfrm>
              <a:off x="5600700" y="3098800"/>
              <a:ext cx="990600" cy="381000"/>
            </a:xfrm>
            <a:prstGeom prst="rect">
              <a:avLst/>
            </a:prstGeom>
            <a:solidFill>
              <a:srgbClr val="FFFFFF"/>
            </a:solidFill>
            <a:ln>
              <a:noFill/>
            </a:ln>
          </p:spPr>
        </p:sp>
        <p:sp>
          <p:nvSpPr>
            <p:cNvPr id="62" name="node01.row.item-004.c4.heat"/>
            <p:cNvSpPr/>
            <p:nvPr/>
          </p:nvSpPr>
          <p:spPr>
            <a:xfrm>
              <a:off x="5619750" y="3117850"/>
              <a:ext cx="952500" cy="342900"/>
            </a:xfrm>
            <a:prstGeom prst="rect">
              <a:avLst/>
            </a:prstGeom>
            <a:solidFill>
              <a:srgbClr val="070154"/>
            </a:solidFill>
            <a:ln>
              <a:noFill/>
            </a:ln>
          </p:spPr>
        </p:sp>
        <p:sp>
          <p:nvSpPr>
            <p:cNvPr id="63" name="node01.row.item-004.c5.heat-gap"/>
            <p:cNvSpPr/>
            <p:nvPr/>
          </p:nvSpPr>
          <p:spPr>
            <a:xfrm>
              <a:off x="6591300" y="3098800"/>
              <a:ext cx="990600" cy="381000"/>
            </a:xfrm>
            <a:prstGeom prst="rect">
              <a:avLst/>
            </a:prstGeom>
            <a:solidFill>
              <a:srgbClr val="FFFFFF"/>
            </a:solidFill>
            <a:ln>
              <a:noFill/>
            </a:ln>
          </p:spPr>
        </p:sp>
        <p:sp>
          <p:nvSpPr>
            <p:cNvPr id="64" name="node01.row.item-004.c5.heat"/>
            <p:cNvSpPr/>
            <p:nvPr/>
          </p:nvSpPr>
          <p:spPr>
            <a:xfrm>
              <a:off x="6610350" y="3117850"/>
              <a:ext cx="952500" cy="342900"/>
            </a:xfrm>
            <a:prstGeom prst="rect">
              <a:avLst/>
            </a:prstGeom>
            <a:solidFill>
              <a:srgbClr val="070154"/>
            </a:solidFill>
            <a:ln>
              <a:noFill/>
            </a:ln>
          </p:spPr>
        </p:sp>
        <p:sp>
          <p:nvSpPr>
            <p:cNvPr id="65" name="node01.row.item-004.c6.heat-gap"/>
            <p:cNvSpPr/>
            <p:nvPr/>
          </p:nvSpPr>
          <p:spPr>
            <a:xfrm>
              <a:off x="7581900" y="3098800"/>
              <a:ext cx="990600" cy="381000"/>
            </a:xfrm>
            <a:prstGeom prst="rect">
              <a:avLst/>
            </a:prstGeom>
            <a:solidFill>
              <a:srgbClr val="FFFFFF"/>
            </a:solidFill>
            <a:ln>
              <a:noFill/>
            </a:ln>
          </p:spPr>
        </p:sp>
        <p:sp>
          <p:nvSpPr>
            <p:cNvPr id="66" name="node01.row.item-004.c6.heat"/>
            <p:cNvSpPr/>
            <p:nvPr/>
          </p:nvSpPr>
          <p:spPr>
            <a:xfrm>
              <a:off x="7600950" y="3117850"/>
              <a:ext cx="952500" cy="342900"/>
            </a:xfrm>
            <a:prstGeom prst="rect">
              <a:avLst/>
            </a:prstGeom>
            <a:solidFill>
              <a:srgbClr val="070154"/>
            </a:solidFill>
            <a:ln>
              <a:noFill/>
            </a:ln>
          </p:spPr>
        </p:sp>
        <p:sp>
          <p:nvSpPr>
            <p:cNvPr id="67" name="node01.row.item-004.c7.heat-gap"/>
            <p:cNvSpPr/>
            <p:nvPr/>
          </p:nvSpPr>
          <p:spPr>
            <a:xfrm>
              <a:off x="8572500" y="3098800"/>
              <a:ext cx="990600" cy="381000"/>
            </a:xfrm>
            <a:prstGeom prst="rect">
              <a:avLst/>
            </a:prstGeom>
            <a:solidFill>
              <a:srgbClr val="FFFFFF"/>
            </a:solidFill>
            <a:ln>
              <a:noFill/>
            </a:ln>
          </p:spPr>
        </p:sp>
        <p:sp>
          <p:nvSpPr>
            <p:cNvPr id="68" name="node01.row.item-004.c7.heat"/>
            <p:cNvSpPr/>
            <p:nvPr/>
          </p:nvSpPr>
          <p:spPr>
            <a:xfrm>
              <a:off x="8591550" y="3117850"/>
              <a:ext cx="952500" cy="342900"/>
            </a:xfrm>
            <a:prstGeom prst="rect">
              <a:avLst/>
            </a:prstGeom>
            <a:solidFill>
              <a:srgbClr val="0047FF"/>
            </a:solidFill>
            <a:ln>
              <a:noFill/>
            </a:ln>
          </p:spPr>
        </p:sp>
        <p:sp>
          <p:nvSpPr>
            <p:cNvPr id="69" name="node01.row.item-004.c8.heat-gap"/>
            <p:cNvSpPr/>
            <p:nvPr/>
          </p:nvSpPr>
          <p:spPr>
            <a:xfrm>
              <a:off x="9563100" y="3098800"/>
              <a:ext cx="990600" cy="381000"/>
            </a:xfrm>
            <a:prstGeom prst="rect">
              <a:avLst/>
            </a:prstGeom>
            <a:solidFill>
              <a:srgbClr val="FFFFFF"/>
            </a:solidFill>
            <a:ln>
              <a:noFill/>
            </a:ln>
          </p:spPr>
        </p:sp>
        <p:sp>
          <p:nvSpPr>
            <p:cNvPr id="70" name="node01.row.item-004.c8.heat"/>
            <p:cNvSpPr/>
            <p:nvPr/>
          </p:nvSpPr>
          <p:spPr>
            <a:xfrm>
              <a:off x="9582150" y="3117850"/>
              <a:ext cx="952500" cy="342900"/>
            </a:xfrm>
            <a:prstGeom prst="rect">
              <a:avLst/>
            </a:prstGeom>
            <a:solidFill>
              <a:srgbClr val="7C9BFF"/>
            </a:solidFill>
            <a:ln>
              <a:noFill/>
            </a:ln>
          </p:spPr>
        </p:sp>
        <p:sp>
          <p:nvSpPr>
            <p:cNvPr id="71" name="node01.row.item-005.c1.heat-gap"/>
            <p:cNvSpPr/>
            <p:nvPr/>
          </p:nvSpPr>
          <p:spPr>
            <a:xfrm>
              <a:off x="2628900" y="3479800"/>
              <a:ext cx="990600" cy="381000"/>
            </a:xfrm>
            <a:prstGeom prst="rect">
              <a:avLst/>
            </a:prstGeom>
            <a:solidFill>
              <a:srgbClr val="FFFFFF"/>
            </a:solidFill>
            <a:ln>
              <a:noFill/>
            </a:ln>
          </p:spPr>
        </p:sp>
        <p:sp>
          <p:nvSpPr>
            <p:cNvPr id="72" name="node01.row.item-005.c1.heat"/>
            <p:cNvSpPr/>
            <p:nvPr/>
          </p:nvSpPr>
          <p:spPr>
            <a:xfrm>
              <a:off x="2647950" y="3498850"/>
              <a:ext cx="952500" cy="342900"/>
            </a:xfrm>
            <a:prstGeom prst="rect">
              <a:avLst/>
            </a:prstGeom>
            <a:solidFill>
              <a:srgbClr val="B9C9F0"/>
            </a:solidFill>
            <a:ln>
              <a:noFill/>
            </a:ln>
          </p:spPr>
        </p:sp>
        <p:sp>
          <p:nvSpPr>
            <p:cNvPr id="73" name="node01.row.item-005.c2.heat-gap"/>
            <p:cNvSpPr/>
            <p:nvPr/>
          </p:nvSpPr>
          <p:spPr>
            <a:xfrm>
              <a:off x="3619500" y="3479800"/>
              <a:ext cx="990600" cy="381000"/>
            </a:xfrm>
            <a:prstGeom prst="rect">
              <a:avLst/>
            </a:prstGeom>
            <a:solidFill>
              <a:srgbClr val="FFFFFF"/>
            </a:solidFill>
            <a:ln>
              <a:noFill/>
            </a:ln>
          </p:spPr>
        </p:sp>
        <p:sp>
          <p:nvSpPr>
            <p:cNvPr id="74" name="node01.row.item-005.c2.heat"/>
            <p:cNvSpPr/>
            <p:nvPr/>
          </p:nvSpPr>
          <p:spPr>
            <a:xfrm>
              <a:off x="3638550" y="3498850"/>
              <a:ext cx="952500" cy="342900"/>
            </a:xfrm>
            <a:prstGeom prst="rect">
              <a:avLst/>
            </a:prstGeom>
            <a:solidFill>
              <a:srgbClr val="7C9BFF"/>
            </a:solidFill>
            <a:ln>
              <a:noFill/>
            </a:ln>
          </p:spPr>
        </p:sp>
        <p:sp>
          <p:nvSpPr>
            <p:cNvPr id="75" name="node01.row.item-005.c3.heat-gap"/>
            <p:cNvSpPr/>
            <p:nvPr/>
          </p:nvSpPr>
          <p:spPr>
            <a:xfrm>
              <a:off x="4610100" y="3479800"/>
              <a:ext cx="990600" cy="381000"/>
            </a:xfrm>
            <a:prstGeom prst="rect">
              <a:avLst/>
            </a:prstGeom>
            <a:solidFill>
              <a:srgbClr val="FFFFFF"/>
            </a:solidFill>
            <a:ln>
              <a:noFill/>
            </a:ln>
          </p:spPr>
        </p:sp>
        <p:sp>
          <p:nvSpPr>
            <p:cNvPr id="76" name="node01.row.item-005.c3.heat"/>
            <p:cNvSpPr/>
            <p:nvPr/>
          </p:nvSpPr>
          <p:spPr>
            <a:xfrm>
              <a:off x="4629150" y="3498850"/>
              <a:ext cx="952500" cy="342900"/>
            </a:xfrm>
            <a:prstGeom prst="rect">
              <a:avLst/>
            </a:prstGeom>
            <a:solidFill>
              <a:srgbClr val="7C9BFF"/>
            </a:solidFill>
            <a:ln>
              <a:noFill/>
            </a:ln>
          </p:spPr>
        </p:sp>
        <p:sp>
          <p:nvSpPr>
            <p:cNvPr id="77" name="node01.row.item-005.c4.heat-gap"/>
            <p:cNvSpPr/>
            <p:nvPr/>
          </p:nvSpPr>
          <p:spPr>
            <a:xfrm>
              <a:off x="5600700" y="3479800"/>
              <a:ext cx="990600" cy="381000"/>
            </a:xfrm>
            <a:prstGeom prst="rect">
              <a:avLst/>
            </a:prstGeom>
            <a:solidFill>
              <a:srgbClr val="FFFFFF"/>
            </a:solidFill>
            <a:ln>
              <a:noFill/>
            </a:ln>
          </p:spPr>
        </p:sp>
        <p:sp>
          <p:nvSpPr>
            <p:cNvPr id="78" name="node01.row.item-005.c4.heat"/>
            <p:cNvSpPr/>
            <p:nvPr/>
          </p:nvSpPr>
          <p:spPr>
            <a:xfrm>
              <a:off x="5619750" y="3498850"/>
              <a:ext cx="952500" cy="342900"/>
            </a:xfrm>
            <a:prstGeom prst="rect">
              <a:avLst/>
            </a:prstGeom>
            <a:solidFill>
              <a:srgbClr val="7C9BFF"/>
            </a:solidFill>
            <a:ln>
              <a:noFill/>
            </a:ln>
          </p:spPr>
        </p:sp>
        <p:sp>
          <p:nvSpPr>
            <p:cNvPr id="79" name="node01.row.item-005.c5.heat-gap"/>
            <p:cNvSpPr/>
            <p:nvPr/>
          </p:nvSpPr>
          <p:spPr>
            <a:xfrm>
              <a:off x="6591300" y="3479800"/>
              <a:ext cx="990600" cy="381000"/>
            </a:xfrm>
            <a:prstGeom prst="rect">
              <a:avLst/>
            </a:prstGeom>
            <a:solidFill>
              <a:srgbClr val="FFFFFF"/>
            </a:solidFill>
            <a:ln>
              <a:noFill/>
            </a:ln>
          </p:spPr>
        </p:sp>
        <p:sp>
          <p:nvSpPr>
            <p:cNvPr id="80" name="node01.row.item-005.c5.heat"/>
            <p:cNvSpPr/>
            <p:nvPr/>
          </p:nvSpPr>
          <p:spPr>
            <a:xfrm>
              <a:off x="6610350" y="3498850"/>
              <a:ext cx="952500" cy="342900"/>
            </a:xfrm>
            <a:prstGeom prst="rect">
              <a:avLst/>
            </a:prstGeom>
            <a:solidFill>
              <a:srgbClr val="0047FF"/>
            </a:solidFill>
            <a:ln>
              <a:noFill/>
            </a:ln>
          </p:spPr>
        </p:sp>
        <p:sp>
          <p:nvSpPr>
            <p:cNvPr id="81" name="node01.row.item-005.c6.heat-gap"/>
            <p:cNvSpPr/>
            <p:nvPr/>
          </p:nvSpPr>
          <p:spPr>
            <a:xfrm>
              <a:off x="7581900" y="3479800"/>
              <a:ext cx="990600" cy="381000"/>
            </a:xfrm>
            <a:prstGeom prst="rect">
              <a:avLst/>
            </a:prstGeom>
            <a:solidFill>
              <a:srgbClr val="FFFFFF"/>
            </a:solidFill>
            <a:ln>
              <a:noFill/>
            </a:ln>
          </p:spPr>
        </p:sp>
        <p:sp>
          <p:nvSpPr>
            <p:cNvPr id="82" name="node01.row.item-005.c6.heat"/>
            <p:cNvSpPr/>
            <p:nvPr/>
          </p:nvSpPr>
          <p:spPr>
            <a:xfrm>
              <a:off x="7600950" y="3498850"/>
              <a:ext cx="952500" cy="342900"/>
            </a:xfrm>
            <a:prstGeom prst="rect">
              <a:avLst/>
            </a:prstGeom>
            <a:solidFill>
              <a:srgbClr val="0047FF"/>
            </a:solidFill>
            <a:ln>
              <a:noFill/>
            </a:ln>
          </p:spPr>
        </p:sp>
        <p:sp>
          <p:nvSpPr>
            <p:cNvPr id="83" name="node01.row.item-005.c7.heat-gap"/>
            <p:cNvSpPr/>
            <p:nvPr/>
          </p:nvSpPr>
          <p:spPr>
            <a:xfrm>
              <a:off x="8572500" y="3479800"/>
              <a:ext cx="990600" cy="381000"/>
            </a:xfrm>
            <a:prstGeom prst="rect">
              <a:avLst/>
            </a:prstGeom>
            <a:solidFill>
              <a:srgbClr val="FFFFFF"/>
            </a:solidFill>
            <a:ln>
              <a:noFill/>
            </a:ln>
          </p:spPr>
        </p:sp>
        <p:sp>
          <p:nvSpPr>
            <p:cNvPr id="84" name="node01.row.item-005.c7.heat"/>
            <p:cNvSpPr/>
            <p:nvPr/>
          </p:nvSpPr>
          <p:spPr>
            <a:xfrm>
              <a:off x="8591550" y="3498850"/>
              <a:ext cx="952500" cy="342900"/>
            </a:xfrm>
            <a:prstGeom prst="rect">
              <a:avLst/>
            </a:prstGeom>
            <a:solidFill>
              <a:srgbClr val="0047FF"/>
            </a:solidFill>
            <a:ln>
              <a:noFill/>
            </a:ln>
          </p:spPr>
        </p:sp>
        <p:sp>
          <p:nvSpPr>
            <p:cNvPr id="85" name="node01.row.item-005.c8.heat-gap"/>
            <p:cNvSpPr/>
            <p:nvPr/>
          </p:nvSpPr>
          <p:spPr>
            <a:xfrm>
              <a:off x="9563100" y="3479800"/>
              <a:ext cx="990600" cy="381000"/>
            </a:xfrm>
            <a:prstGeom prst="rect">
              <a:avLst/>
            </a:prstGeom>
            <a:solidFill>
              <a:srgbClr val="FFFFFF"/>
            </a:solidFill>
            <a:ln>
              <a:noFill/>
            </a:ln>
          </p:spPr>
        </p:sp>
        <p:sp>
          <p:nvSpPr>
            <p:cNvPr id="86" name="node01.row.item-005.c8.heat"/>
            <p:cNvSpPr/>
            <p:nvPr/>
          </p:nvSpPr>
          <p:spPr>
            <a:xfrm>
              <a:off x="9582150" y="3498850"/>
              <a:ext cx="952500" cy="342900"/>
            </a:xfrm>
            <a:prstGeom prst="rect">
              <a:avLst/>
            </a:prstGeom>
            <a:solidFill>
              <a:srgbClr val="7C9BFF"/>
            </a:solidFill>
            <a:ln>
              <a:noFill/>
            </a:ln>
          </p:spPr>
        </p:sp>
        <p:graphicFrame>
          <p:nvGraphicFramePr>
            <p:cNvPr id="8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2260600"/>
          </p:xfrm>
          <a:graphic>
            <a:graphicData uri="http://schemas.openxmlformats.org/drawingml/2006/table">
              <a:tbl>
                <a:tblPr/>
                <a:tblGrid>
                  <a:gridCol w="1905000"/>
                  <a:gridCol w="990600"/>
                  <a:gridCol w="990600"/>
                  <a:gridCol w="990600"/>
                  <a:gridCol w="990600"/>
                  <a:gridCol w="990600"/>
                  <a:gridCol w="990600"/>
                  <a:gridCol w="990600"/>
                  <a:gridCol w="990600"/>
                  <a:gridCol w="9144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TEAM</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S1</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S2</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S3</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S4</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S5</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S6</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S7</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S8</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CAPACITY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Scheduling</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24</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28</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32</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36</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36</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30</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portal</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24</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28</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30</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38</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26</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Revenue cycle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16</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26</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30</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32</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30</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24</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28</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Integration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28</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32</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36</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40</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42</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40</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24</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36</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Data platform</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16</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24</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28</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30</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26</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18</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26</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12" name="node02"/>
          <p:cNvGrpSpPr/>
          <p:nvPr/>
        </p:nvGrpSpPr>
        <p:grpSpPr>
          <a:xfrm>
            <a:off x="723900" y="4114800"/>
            <a:ext cx="10744200" cy="152400"/>
            <a:chOff x="723900" y="4114800"/>
            <a:chExt cx="10744200" cy="152400"/>
          </a:xfrm>
        </p:grpSpPr>
        <p:sp>
          <p:nvSpPr>
            <p:cNvPr id="88" name="node02.title"/>
            <p:cNvSpPr/>
            <p:nvPr/>
          </p:nvSpPr>
          <p:spPr>
            <a:xfrm>
              <a:off x="723900" y="4114800"/>
              <a:ext cx="1074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STORY POINTS</a:t>
              </a:r>
              <a:endParaRPr lang="en-US" sz="800" spc="48" kern="0" b="0" i="0" dirty="0">
                <a:solidFill>
                  <a:srgbClr val="50658E"/>
                </a:solidFill>
                <a:latin typeface="IBM Plex Mono Medium"/>
                <a:ea typeface="IBM Plex Mono Medium"/>
                <a:cs typeface="IBM Plex Mono Medium"/>
              </a:endParaRPr>
            </a:p>
          </p:txBody>
        </p:sp>
        <p:sp>
          <p:nvSpPr>
            <p:cNvPr id="89" name="node02.items.slot-001.swatch"/>
            <p:cNvSpPr/>
            <p:nvPr/>
          </p:nvSpPr>
          <p:spPr>
            <a:xfrm>
              <a:off x="1687204" y="4144818"/>
              <a:ext cx="166255" cy="92364"/>
            </a:xfrm>
            <a:prstGeom prst="rect">
              <a:avLst/>
            </a:prstGeom>
            <a:solidFill>
              <a:srgbClr val="E8EEF8"/>
            </a:solidFill>
            <a:ln>
              <a:noFill/>
            </a:ln>
          </p:spPr>
        </p:sp>
        <p:sp>
          <p:nvSpPr>
            <p:cNvPr id="90" name="node02.items.slot-001.text"/>
            <p:cNvSpPr/>
            <p:nvPr/>
          </p:nvSpPr>
          <p:spPr>
            <a:xfrm>
              <a:off x="1936585" y="4114800"/>
              <a:ext cx="411163" cy="152400"/>
            </a:xfrm>
            <a:prstGeom prst="rect">
              <a:avLst/>
            </a:prstGeom>
            <a:noFill/>
            <a:ln/>
          </p:spPr>
          <p:txBody>
            <a:bodyPr wrap="square" lIns="0" tIns="0" rIns="0" bIns="0" rtlCol="0" anchor="t"/>
            <a:lstStyle/>
            <a:p>
              <a:pPr algn="l" indent="0" marL="0">
                <a:lnSpc>
                  <a:spcPts val="1091"/>
                </a:lnSpc>
                <a:buNone/>
              </a:pPr>
              <a:r>
                <a:rPr lang="en-US" sz="800" spc="0" kern="0" b="0" i="0" dirty="0">
                  <a:solidFill>
                    <a:srgbClr val="070154"/>
                  </a:solidFill>
                  <a:latin typeface="IBM Plex Sans"/>
                  <a:ea typeface="IBM Plex Sans"/>
                  <a:cs typeface="IBM Plex Sans"/>
                </a:rPr>
                <a:t>Under 5</a:t>
              </a:r>
              <a:endParaRPr lang="en-US" sz="800" spc="0" kern="0" b="0" i="0" dirty="0">
                <a:solidFill>
                  <a:srgbClr val="070154"/>
                </a:solidFill>
                <a:latin typeface="IBM Plex Sans"/>
                <a:ea typeface="IBM Plex Sans"/>
                <a:cs typeface="IBM Plex Sans"/>
              </a:endParaRPr>
            </a:p>
          </p:txBody>
        </p:sp>
        <p:sp>
          <p:nvSpPr>
            <p:cNvPr id="91" name="node02.items.slot-002.swatch"/>
            <p:cNvSpPr/>
            <p:nvPr/>
          </p:nvSpPr>
          <p:spPr>
            <a:xfrm>
              <a:off x="2514002" y="4144818"/>
              <a:ext cx="166255" cy="92364"/>
            </a:xfrm>
            <a:prstGeom prst="rect">
              <a:avLst/>
            </a:prstGeom>
            <a:solidFill>
              <a:srgbClr val="B9C9F0"/>
            </a:solidFill>
            <a:ln>
              <a:noFill/>
            </a:ln>
          </p:spPr>
        </p:sp>
        <p:sp>
          <p:nvSpPr>
            <p:cNvPr id="92" name="node02.items.slot-002.text"/>
            <p:cNvSpPr/>
            <p:nvPr/>
          </p:nvSpPr>
          <p:spPr>
            <a:xfrm>
              <a:off x="2763384" y="4114800"/>
              <a:ext cx="292100" cy="152400"/>
            </a:xfrm>
            <a:prstGeom prst="rect">
              <a:avLst/>
            </a:prstGeom>
            <a:noFill/>
            <a:ln/>
          </p:spPr>
          <p:txBody>
            <a:bodyPr wrap="square" lIns="0" tIns="0" rIns="0" bIns="0" rtlCol="0" anchor="t"/>
            <a:lstStyle/>
            <a:p>
              <a:pPr algn="l" indent="0" marL="0">
                <a:lnSpc>
                  <a:spcPts val="1091"/>
                </a:lnSpc>
                <a:buNone/>
              </a:pPr>
              <a:r>
                <a:rPr lang="en-US" sz="800" spc="0" kern="0" b="0" i="0" dirty="0">
                  <a:solidFill>
                    <a:srgbClr val="070154"/>
                  </a:solidFill>
                  <a:latin typeface="IBM Plex Sans"/>
                  <a:ea typeface="IBM Plex Sans"/>
                  <a:cs typeface="IBM Plex Sans"/>
                </a:rPr>
                <a:t>5–14</a:t>
              </a:r>
              <a:endParaRPr lang="en-US" sz="800" spc="0" kern="0" b="0" i="0" dirty="0">
                <a:solidFill>
                  <a:srgbClr val="070154"/>
                </a:solidFill>
                <a:latin typeface="IBM Plex Sans"/>
                <a:ea typeface="IBM Plex Sans"/>
                <a:cs typeface="IBM Plex Sans"/>
              </a:endParaRPr>
            </a:p>
          </p:txBody>
        </p:sp>
        <p:sp>
          <p:nvSpPr>
            <p:cNvPr id="93" name="node02.items.slot-003.swatch"/>
            <p:cNvSpPr/>
            <p:nvPr/>
          </p:nvSpPr>
          <p:spPr>
            <a:xfrm>
              <a:off x="3221739" y="4144818"/>
              <a:ext cx="166255" cy="92364"/>
            </a:xfrm>
            <a:prstGeom prst="rect">
              <a:avLst/>
            </a:prstGeom>
            <a:solidFill>
              <a:srgbClr val="7C9BFF"/>
            </a:solidFill>
            <a:ln>
              <a:noFill/>
            </a:ln>
          </p:spPr>
        </p:sp>
        <p:sp>
          <p:nvSpPr>
            <p:cNvPr id="94" name="node02.items.slot-003.text"/>
            <p:cNvSpPr/>
            <p:nvPr/>
          </p:nvSpPr>
          <p:spPr>
            <a:xfrm>
              <a:off x="3471121" y="4114800"/>
              <a:ext cx="352425" cy="152400"/>
            </a:xfrm>
            <a:prstGeom prst="rect">
              <a:avLst/>
            </a:prstGeom>
            <a:noFill/>
            <a:ln/>
          </p:spPr>
          <p:txBody>
            <a:bodyPr wrap="square" lIns="0" tIns="0" rIns="0" bIns="0" rtlCol="0" anchor="t"/>
            <a:lstStyle/>
            <a:p>
              <a:pPr algn="l" indent="0" marL="0">
                <a:lnSpc>
                  <a:spcPts val="1091"/>
                </a:lnSpc>
                <a:buNone/>
              </a:pPr>
              <a:r>
                <a:rPr lang="en-US" sz="800" spc="0" kern="0" b="0" i="0" dirty="0">
                  <a:solidFill>
                    <a:srgbClr val="070154"/>
                  </a:solidFill>
                  <a:latin typeface="IBM Plex Sans"/>
                  <a:ea typeface="IBM Plex Sans"/>
                  <a:cs typeface="IBM Plex Sans"/>
                </a:rPr>
                <a:t>15–24</a:t>
              </a:r>
              <a:endParaRPr lang="en-US" sz="800" spc="0" kern="0" b="0" i="0" dirty="0">
                <a:solidFill>
                  <a:srgbClr val="070154"/>
                </a:solidFill>
                <a:latin typeface="IBM Plex Sans"/>
                <a:ea typeface="IBM Plex Sans"/>
                <a:cs typeface="IBM Plex Sans"/>
              </a:endParaRPr>
            </a:p>
          </p:txBody>
        </p:sp>
        <p:sp>
          <p:nvSpPr>
            <p:cNvPr id="95" name="node02.items.slot-004.swatch"/>
            <p:cNvSpPr/>
            <p:nvPr/>
          </p:nvSpPr>
          <p:spPr>
            <a:xfrm>
              <a:off x="3989800" y="4144818"/>
              <a:ext cx="166255" cy="92364"/>
            </a:xfrm>
            <a:prstGeom prst="rect">
              <a:avLst/>
            </a:prstGeom>
            <a:solidFill>
              <a:srgbClr val="0047FF"/>
            </a:solidFill>
            <a:ln>
              <a:noFill/>
            </a:ln>
          </p:spPr>
        </p:sp>
        <p:sp>
          <p:nvSpPr>
            <p:cNvPr id="96" name="node02.items.slot-004.text"/>
            <p:cNvSpPr/>
            <p:nvPr/>
          </p:nvSpPr>
          <p:spPr>
            <a:xfrm>
              <a:off x="4239182" y="4114800"/>
              <a:ext cx="352425" cy="152400"/>
            </a:xfrm>
            <a:prstGeom prst="rect">
              <a:avLst/>
            </a:prstGeom>
            <a:noFill/>
            <a:ln/>
          </p:spPr>
          <p:txBody>
            <a:bodyPr wrap="square" lIns="0" tIns="0" rIns="0" bIns="0" rtlCol="0" anchor="t"/>
            <a:lstStyle/>
            <a:p>
              <a:pPr algn="l" indent="0" marL="0">
                <a:lnSpc>
                  <a:spcPts val="1091"/>
                </a:lnSpc>
                <a:buNone/>
              </a:pPr>
              <a:r>
                <a:rPr lang="en-US" sz="800" spc="0" kern="0" b="0" i="0" dirty="0">
                  <a:solidFill>
                    <a:srgbClr val="070154"/>
                  </a:solidFill>
                  <a:latin typeface="IBM Plex Sans"/>
                  <a:ea typeface="IBM Plex Sans"/>
                  <a:cs typeface="IBM Plex Sans"/>
                </a:rPr>
                <a:t>25–34</a:t>
              </a:r>
              <a:endParaRPr lang="en-US" sz="800" spc="0" kern="0" b="0" i="0" dirty="0">
                <a:solidFill>
                  <a:srgbClr val="070154"/>
                </a:solidFill>
                <a:latin typeface="IBM Plex Sans"/>
                <a:ea typeface="IBM Plex Sans"/>
                <a:cs typeface="IBM Plex Sans"/>
              </a:endParaRPr>
            </a:p>
          </p:txBody>
        </p:sp>
        <p:sp>
          <p:nvSpPr>
            <p:cNvPr id="97" name="node02.items.slot-005.swatch"/>
            <p:cNvSpPr/>
            <p:nvPr/>
          </p:nvSpPr>
          <p:spPr>
            <a:xfrm>
              <a:off x="4757862" y="4144818"/>
              <a:ext cx="166255" cy="92364"/>
            </a:xfrm>
            <a:prstGeom prst="rect">
              <a:avLst/>
            </a:prstGeom>
            <a:solidFill>
              <a:srgbClr val="070154"/>
            </a:solidFill>
            <a:ln>
              <a:noFill/>
            </a:ln>
          </p:spPr>
        </p:sp>
        <p:sp>
          <p:nvSpPr>
            <p:cNvPr id="98" name="node02.items.slot-005.text"/>
            <p:cNvSpPr/>
            <p:nvPr/>
          </p:nvSpPr>
          <p:spPr>
            <a:xfrm>
              <a:off x="5007243" y="4114800"/>
              <a:ext cx="550863" cy="152400"/>
            </a:xfrm>
            <a:prstGeom prst="rect">
              <a:avLst/>
            </a:prstGeom>
            <a:noFill/>
            <a:ln/>
          </p:spPr>
          <p:txBody>
            <a:bodyPr wrap="square" lIns="0" tIns="0" rIns="0" bIns="0" rtlCol="0" anchor="t"/>
            <a:lstStyle/>
            <a:p>
              <a:pPr algn="l" indent="0" marL="0">
                <a:lnSpc>
                  <a:spcPts val="1091"/>
                </a:lnSpc>
                <a:buNone/>
              </a:pPr>
              <a:r>
                <a:rPr lang="en-US" sz="800" spc="0" kern="0" b="0" i="0" dirty="0">
                  <a:solidFill>
                    <a:srgbClr val="070154"/>
                  </a:solidFill>
                  <a:latin typeface="IBM Plex Sans"/>
                  <a:ea typeface="IBM Plex Sans"/>
                  <a:cs typeface="IBM Plex Sans"/>
                </a:rPr>
                <a:t>35 or more</a:t>
              </a:r>
              <a:endParaRPr lang="en-US" sz="800" spc="0" kern="0" b="0" i="0" dirty="0">
                <a:solidFill>
                  <a:srgbClr val="070154"/>
                </a:solidFill>
                <a:latin typeface="IBM Plex Sans"/>
                <a:ea typeface="IBM Plex Sans"/>
                <a:cs typeface="IBM Plex Sans"/>
              </a:endParaRPr>
            </a:p>
          </p:txBody>
        </p:sp>
      </p:grpSp>
      <p:grpSp>
        <p:nvGrpSpPr>
          <p:cNvPr id="116" name="node03"/>
          <p:cNvGrpSpPr/>
          <p:nvPr/>
        </p:nvGrpSpPr>
        <p:grpSpPr>
          <a:xfrm>
            <a:off x="723900" y="4495800"/>
            <a:ext cx="10744200" cy="1219200"/>
            <a:chOff x="723900" y="4495800"/>
            <a:chExt cx="10744200" cy="1219200"/>
          </a:xfrm>
        </p:grpSpPr>
        <p:grpSp>
          <p:nvGrpSpPr>
            <p:cNvPr id="113" name="node03.item-001"/>
            <p:cNvGrpSpPr/>
            <p:nvPr/>
          </p:nvGrpSpPr>
          <p:grpSpPr>
            <a:xfrm>
              <a:off x="723900" y="4495800"/>
              <a:ext cx="3429000" cy="1219200"/>
              <a:chOff x="723900" y="4495800"/>
              <a:chExt cx="3429000" cy="1219200"/>
            </a:xfrm>
          </p:grpSpPr>
          <p:sp>
            <p:nvSpPr>
              <p:cNvPr id="99" name="node03.item-001.container"/>
              <p:cNvSpPr/>
              <p:nvPr/>
            </p:nvSpPr>
            <p:spPr>
              <a:xfrm>
                <a:off x="723900" y="4495800"/>
                <a:ext cx="3429000" cy="1219200"/>
              </a:xfrm>
              <a:prstGeom prst="rect">
                <a:avLst/>
              </a:prstGeom>
              <a:solidFill>
                <a:srgbClr val="E8EEF8"/>
              </a:solidFill>
              <a:ln>
                <a:noFill/>
              </a:ln>
            </p:spPr>
          </p:sp>
          <p:sp>
            <p:nvSpPr>
              <p:cNvPr id="100" name="node03.item-001.number"/>
              <p:cNvSpPr/>
              <p:nvPr/>
            </p:nvSpPr>
            <p:spPr>
              <a:xfrm>
                <a:off x="876300" y="4648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101" name="node03.item-001.title"/>
              <p:cNvSpPr/>
              <p:nvPr/>
            </p:nvSpPr>
            <p:spPr>
              <a:xfrm>
                <a:off x="1247775" y="4647946"/>
                <a:ext cx="27527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Sprint 4 to 6</a:t>
                </a:r>
                <a:endParaRPr lang="en-US" sz="1600" spc="-16" kern="0" b="0" i="0" dirty="0">
                  <a:solidFill>
                    <a:srgbClr val="070154"/>
                  </a:solidFill>
                  <a:latin typeface="IBM Plex Sans SemiBold"/>
                  <a:ea typeface="IBM Plex Sans SemiBold"/>
                  <a:cs typeface="IBM Plex Sans SemiBold"/>
                </a:endParaRPr>
              </a:p>
            </p:txBody>
          </p:sp>
          <p:sp>
            <p:nvSpPr>
              <p:cNvPr id="102" name="node03.item-001.body.item-001.paragraph"/>
              <p:cNvSpPr/>
              <p:nvPr/>
            </p:nvSpPr>
            <p:spPr>
              <a:xfrm>
                <a:off x="876300" y="50673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Every team commits above 24 points while go-live prep peaks.</a:t>
                </a:r>
                <a:endParaRPr lang="en-US" sz="1200" spc="0" kern="0" b="0" i="0" dirty="0">
                  <a:solidFill>
                    <a:srgbClr val="50658E"/>
                  </a:solidFill>
                  <a:latin typeface="IBM Plex Sans"/>
                  <a:ea typeface="IBM Plex Sans"/>
                  <a:cs typeface="IBM Plex Sans"/>
                </a:endParaRPr>
              </a:p>
            </p:txBody>
          </p:sp>
        </p:grpSp>
        <p:grpSp>
          <p:nvGrpSpPr>
            <p:cNvPr id="114" name="node03.item-002"/>
            <p:cNvGrpSpPr/>
            <p:nvPr/>
          </p:nvGrpSpPr>
          <p:grpSpPr>
            <a:xfrm>
              <a:off x="4381500" y="4495800"/>
              <a:ext cx="3429000" cy="1219200"/>
              <a:chOff x="4381500" y="4495800"/>
              <a:chExt cx="3429000" cy="1219200"/>
            </a:xfrm>
          </p:grpSpPr>
          <p:sp>
            <p:nvSpPr>
              <p:cNvPr id="103" name="node03.item-002.container"/>
              <p:cNvSpPr/>
              <p:nvPr/>
            </p:nvSpPr>
            <p:spPr>
              <a:xfrm>
                <a:off x="4381500" y="4495800"/>
                <a:ext cx="3429000" cy="1219200"/>
              </a:xfrm>
              <a:prstGeom prst="rect">
                <a:avLst/>
              </a:prstGeom>
              <a:solidFill>
                <a:srgbClr val="E8EEF8"/>
              </a:solidFill>
              <a:ln>
                <a:noFill/>
              </a:ln>
            </p:spPr>
          </p:sp>
          <p:sp>
            <p:nvSpPr>
              <p:cNvPr id="104" name="node03.item-002.number"/>
              <p:cNvSpPr/>
              <p:nvPr/>
            </p:nvSpPr>
            <p:spPr>
              <a:xfrm>
                <a:off x="4533900" y="4648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105" name="node03.item-002.title"/>
              <p:cNvSpPr/>
              <p:nvPr/>
            </p:nvSpPr>
            <p:spPr>
              <a:xfrm>
                <a:off x="4905375" y="4647946"/>
                <a:ext cx="27527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Integration</a:t>
                </a:r>
                <a:endParaRPr lang="en-US" sz="1600" spc="-16" kern="0" b="0" i="0" dirty="0">
                  <a:solidFill>
                    <a:srgbClr val="070154"/>
                  </a:solidFill>
                  <a:latin typeface="IBM Plex Sans SemiBold"/>
                  <a:ea typeface="IBM Plex Sans SemiBold"/>
                  <a:cs typeface="IBM Plex Sans SemiBold"/>
                </a:endParaRPr>
              </a:p>
            </p:txBody>
          </p:sp>
          <p:sp>
            <p:nvSpPr>
              <p:cNvPr id="106" name="node03.item-002.body.item-001.paragraph"/>
              <p:cNvSpPr/>
              <p:nvPr/>
            </p:nvSpPr>
            <p:spPr>
              <a:xfrm>
                <a:off x="4533900" y="50673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Commits above its 36-point capacity in sprints 4 to 6.</a:t>
                </a:r>
                <a:endParaRPr lang="en-US" sz="1200" spc="0" kern="0" b="0" i="0" dirty="0">
                  <a:solidFill>
                    <a:srgbClr val="50658E"/>
                  </a:solidFill>
                  <a:latin typeface="IBM Plex Sans"/>
                  <a:ea typeface="IBM Plex Sans"/>
                  <a:cs typeface="IBM Plex Sans"/>
                </a:endParaRPr>
              </a:p>
            </p:txBody>
          </p:sp>
        </p:grpSp>
        <p:grpSp>
          <p:nvGrpSpPr>
            <p:cNvPr id="115" name="node03.item-003"/>
            <p:cNvGrpSpPr/>
            <p:nvPr/>
          </p:nvGrpSpPr>
          <p:grpSpPr>
            <a:xfrm>
              <a:off x="8039100" y="4495800"/>
              <a:ext cx="3429000" cy="1219200"/>
              <a:chOff x="8039100" y="4495800"/>
              <a:chExt cx="3429000" cy="1219200"/>
            </a:xfrm>
          </p:grpSpPr>
          <p:sp>
            <p:nvSpPr>
              <p:cNvPr id="107" name="node03.item-003.container"/>
              <p:cNvSpPr/>
              <p:nvPr/>
            </p:nvSpPr>
            <p:spPr>
              <a:xfrm>
                <a:off x="8039100" y="4495800"/>
                <a:ext cx="3429000" cy="1219200"/>
              </a:xfrm>
              <a:prstGeom prst="rect">
                <a:avLst/>
              </a:prstGeom>
              <a:solidFill>
                <a:srgbClr val="E8EEF8"/>
              </a:solidFill>
              <a:ln>
                <a:noFill/>
              </a:ln>
            </p:spPr>
          </p:sp>
          <p:sp>
            <p:nvSpPr>
              <p:cNvPr id="108" name="node03.item-003.number"/>
              <p:cNvSpPr/>
              <p:nvPr/>
            </p:nvSpPr>
            <p:spPr>
              <a:xfrm>
                <a:off x="8191500" y="4648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109" name="node03.item-003.title"/>
              <p:cNvSpPr/>
              <p:nvPr/>
            </p:nvSpPr>
            <p:spPr>
              <a:xfrm>
                <a:off x="8562975" y="4647946"/>
                <a:ext cx="27527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Sprint 8</a:t>
                </a:r>
                <a:endParaRPr lang="en-US" sz="1600" spc="-16" kern="0" b="0" i="0" dirty="0">
                  <a:solidFill>
                    <a:srgbClr val="070154"/>
                  </a:solidFill>
                  <a:latin typeface="IBM Plex Sans SemiBold"/>
                  <a:ea typeface="IBM Plex Sans SemiBold"/>
                  <a:cs typeface="IBM Plex Sans SemiBold"/>
                </a:endParaRPr>
              </a:p>
            </p:txBody>
          </p:sp>
          <p:sp>
            <p:nvSpPr>
              <p:cNvPr id="110" name="node03.item-003.body.item-001.paragraph"/>
              <p:cNvSpPr/>
              <p:nvPr/>
            </p:nvSpPr>
            <p:spPr>
              <a:xfrm>
                <a:off x="8191500" y="50673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Load eases to 26 points or fewer everywhere before the freeze.</a:t>
                </a:r>
                <a:endParaRPr lang="en-US" sz="1200" spc="0" kern="0" b="0" i="0" dirty="0">
                  <a:solidFill>
                    <a:srgbClr val="50658E"/>
                  </a:solidFill>
                  <a:latin typeface="IBM Plex Sans"/>
                  <a:ea typeface="IBM Plex Sans"/>
                  <a:cs typeface="IBM Plex Sans"/>
                </a:endParaRPr>
              </a:p>
            </p:txBody>
          </p:sp>
        </p:gr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ource-21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domains set the investment order</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65</a:t>
            </a:fld>
            <a:endParaRPr lang="en-US" sz="700" spc="0" kern="0" b="0" i="0" dirty="0">
              <a:solidFill>
                <a:srgbClr val="070154"/>
              </a:solidFill>
              <a:latin typeface="IBM Plex Mono SemiBold"/>
              <a:ea typeface="IBM Plex Mono SemiBold"/>
              <a:cs typeface="IBM Plex Mono SemiBold"/>
            </a:endParaRPr>
          </a:p>
        </p:txBody>
      </p:sp>
      <p:grpSp>
        <p:nvGrpSpPr>
          <p:cNvPr id="77" name="node01"/>
          <p:cNvGrpSpPr/>
          <p:nvPr/>
        </p:nvGrpSpPr>
        <p:grpSpPr>
          <a:xfrm>
            <a:off x="723900" y="1600200"/>
            <a:ext cx="1600200" cy="457200"/>
            <a:chOff x="723900" y="1600200"/>
            <a:chExt cx="1600200" cy="457200"/>
          </a:xfrm>
        </p:grpSpPr>
        <p:sp>
          <p:nvSpPr>
            <p:cNvPr id="6" name="node01.surface"/>
            <p:cNvSpPr/>
            <p:nvPr/>
          </p:nvSpPr>
          <p:spPr>
            <a:xfrm>
              <a:off x="723900" y="1600200"/>
              <a:ext cx="1600200" cy="457200"/>
            </a:xfrm>
            <a:prstGeom prst="rect">
              <a:avLst/>
            </a:prstGeom>
            <a:solidFill>
              <a:srgbClr val="05013F"/>
            </a:solidFill>
            <a:ln>
              <a:noFill/>
            </a:ln>
          </p:spPr>
        </p:sp>
        <p:sp>
          <p:nvSpPr>
            <p:cNvPr id="7" name="node01.text"/>
            <p:cNvSpPr/>
            <p:nvPr/>
          </p:nvSpPr>
          <p:spPr>
            <a:xfrm>
              <a:off x="876300" y="1765300"/>
              <a:ext cx="12954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FFFFFF"/>
                  </a:solidFill>
                  <a:latin typeface="IBM Plex Mono Medium"/>
                  <a:ea typeface="IBM Plex Mono Medium"/>
                  <a:cs typeface="IBM Plex Mono Medium"/>
                </a:rPr>
                <a:t>ACCESS</a:t>
              </a:r>
              <a:endParaRPr lang="en-US" sz="800" spc="48" kern="0" b="0" i="0" dirty="0">
                <a:solidFill>
                  <a:srgbClr val="FFFFFF"/>
                </a:solidFill>
                <a:latin typeface="IBM Plex Mono Medium"/>
                <a:ea typeface="IBM Plex Mono Medium"/>
                <a:cs typeface="IBM Plex Mono Medium"/>
              </a:endParaRPr>
            </a:p>
          </p:txBody>
        </p:sp>
      </p:grpSp>
      <p:grpSp>
        <p:nvGrpSpPr>
          <p:cNvPr id="78" name="node02"/>
          <p:cNvGrpSpPr/>
          <p:nvPr/>
        </p:nvGrpSpPr>
        <p:grpSpPr>
          <a:xfrm>
            <a:off x="723900" y="2286000"/>
            <a:ext cx="1600200" cy="457200"/>
            <a:chOff x="723900" y="2286000"/>
            <a:chExt cx="1600200" cy="457200"/>
          </a:xfrm>
        </p:grpSpPr>
        <p:sp>
          <p:nvSpPr>
            <p:cNvPr id="8" name="node02.surface"/>
            <p:cNvSpPr/>
            <p:nvPr/>
          </p:nvSpPr>
          <p:spPr>
            <a:xfrm>
              <a:off x="723900" y="2286000"/>
              <a:ext cx="1600200" cy="457200"/>
            </a:xfrm>
            <a:prstGeom prst="rect">
              <a:avLst/>
            </a:prstGeom>
            <a:solidFill>
              <a:srgbClr val="070154"/>
            </a:solidFill>
            <a:ln>
              <a:noFill/>
            </a:ln>
          </p:spPr>
        </p:sp>
        <p:sp>
          <p:nvSpPr>
            <p:cNvPr id="9" name="node02.text"/>
            <p:cNvSpPr/>
            <p:nvPr/>
          </p:nvSpPr>
          <p:spPr>
            <a:xfrm>
              <a:off x="876300" y="24320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FFFFFF"/>
                  </a:solidFill>
                  <a:latin typeface="IBM Plex Sans"/>
                  <a:ea typeface="IBM Plex Sans"/>
                  <a:cs typeface="IBM Plex Sans"/>
                </a:rPr>
                <a:t>Self-scheduling</a:t>
              </a:r>
              <a:endParaRPr lang="en-US" sz="1000" spc="0" kern="0" b="0" i="0" dirty="0">
                <a:solidFill>
                  <a:srgbClr val="FFFFFF"/>
                </a:solidFill>
                <a:latin typeface="IBM Plex Sans"/>
                <a:ea typeface="IBM Plex Sans"/>
                <a:cs typeface="IBM Plex Sans"/>
              </a:endParaRPr>
            </a:p>
          </p:txBody>
        </p:sp>
      </p:grpSp>
      <p:grpSp>
        <p:nvGrpSpPr>
          <p:cNvPr id="79" name="node03"/>
          <p:cNvGrpSpPr/>
          <p:nvPr/>
        </p:nvGrpSpPr>
        <p:grpSpPr>
          <a:xfrm>
            <a:off x="723900" y="2971800"/>
            <a:ext cx="1600200" cy="457200"/>
            <a:chOff x="723900" y="2971800"/>
            <a:chExt cx="1600200" cy="457200"/>
          </a:xfrm>
        </p:grpSpPr>
        <p:sp>
          <p:nvSpPr>
            <p:cNvPr id="10" name="node03.surface"/>
            <p:cNvSpPr/>
            <p:nvPr/>
          </p:nvSpPr>
          <p:spPr>
            <a:xfrm>
              <a:off x="723900" y="2971800"/>
              <a:ext cx="1600200" cy="457200"/>
            </a:xfrm>
            <a:prstGeom prst="rect">
              <a:avLst/>
            </a:prstGeom>
            <a:solidFill>
              <a:srgbClr val="0047FF"/>
            </a:solidFill>
            <a:ln>
              <a:noFill/>
            </a:ln>
          </p:spPr>
        </p:sp>
        <p:sp>
          <p:nvSpPr>
            <p:cNvPr id="11" name="node03.text"/>
            <p:cNvSpPr/>
            <p:nvPr/>
          </p:nvSpPr>
          <p:spPr>
            <a:xfrm>
              <a:off x="876300" y="31178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FFFFFF"/>
                  </a:solidFill>
                  <a:latin typeface="IBM Plex Sans"/>
                  <a:ea typeface="IBM Plex Sans"/>
                  <a:cs typeface="IBM Plex Sans"/>
                </a:rPr>
                <a:t>Find a provider</a:t>
              </a:r>
              <a:endParaRPr lang="en-US" sz="1000" spc="0" kern="0" b="0" i="0" dirty="0">
                <a:solidFill>
                  <a:srgbClr val="FFFFFF"/>
                </a:solidFill>
                <a:latin typeface="IBM Plex Sans"/>
                <a:ea typeface="IBM Plex Sans"/>
                <a:cs typeface="IBM Plex Sans"/>
              </a:endParaRPr>
            </a:p>
          </p:txBody>
        </p:sp>
      </p:grpSp>
      <p:grpSp>
        <p:nvGrpSpPr>
          <p:cNvPr id="80" name="node04"/>
          <p:cNvGrpSpPr/>
          <p:nvPr/>
        </p:nvGrpSpPr>
        <p:grpSpPr>
          <a:xfrm>
            <a:off x="723900" y="3657600"/>
            <a:ext cx="1600200" cy="457200"/>
            <a:chOff x="723900" y="3657600"/>
            <a:chExt cx="1600200" cy="457200"/>
          </a:xfrm>
        </p:grpSpPr>
        <p:sp>
          <p:nvSpPr>
            <p:cNvPr id="12" name="node04.surface"/>
            <p:cNvSpPr/>
            <p:nvPr/>
          </p:nvSpPr>
          <p:spPr>
            <a:xfrm>
              <a:off x="723900" y="3657600"/>
              <a:ext cx="1600200" cy="457200"/>
            </a:xfrm>
            <a:prstGeom prst="rect">
              <a:avLst/>
            </a:prstGeom>
            <a:solidFill>
              <a:srgbClr val="070154"/>
            </a:solidFill>
            <a:ln>
              <a:noFill/>
            </a:ln>
          </p:spPr>
        </p:sp>
        <p:sp>
          <p:nvSpPr>
            <p:cNvPr id="13" name="node04.text"/>
            <p:cNvSpPr/>
            <p:nvPr/>
          </p:nvSpPr>
          <p:spPr>
            <a:xfrm>
              <a:off x="876300" y="38036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FFFFFF"/>
                  </a:solidFill>
                  <a:latin typeface="IBM Plex Sans"/>
                  <a:ea typeface="IBM Plex Sans"/>
                  <a:cs typeface="IBM Plex Sans"/>
                </a:rPr>
                <a:t>Referral intake</a:t>
              </a:r>
              <a:endParaRPr lang="en-US" sz="1000" spc="0" kern="0" b="0" i="0" dirty="0">
                <a:solidFill>
                  <a:srgbClr val="FFFFFF"/>
                </a:solidFill>
                <a:latin typeface="IBM Plex Sans"/>
                <a:ea typeface="IBM Plex Sans"/>
                <a:cs typeface="IBM Plex Sans"/>
              </a:endParaRPr>
            </a:p>
          </p:txBody>
        </p:sp>
      </p:grpSp>
      <p:grpSp>
        <p:nvGrpSpPr>
          <p:cNvPr id="81" name="node05"/>
          <p:cNvGrpSpPr/>
          <p:nvPr/>
        </p:nvGrpSpPr>
        <p:grpSpPr>
          <a:xfrm>
            <a:off x="723900" y="4343400"/>
            <a:ext cx="1600200" cy="457200"/>
            <a:chOff x="723900" y="4343400"/>
            <a:chExt cx="1600200" cy="457200"/>
          </a:xfrm>
        </p:grpSpPr>
        <p:sp>
          <p:nvSpPr>
            <p:cNvPr id="14" name="node05.surface"/>
            <p:cNvSpPr/>
            <p:nvPr/>
          </p:nvSpPr>
          <p:spPr>
            <a:xfrm>
              <a:off x="723900" y="4343400"/>
              <a:ext cx="1600200" cy="457200"/>
            </a:xfrm>
            <a:prstGeom prst="rect">
              <a:avLst/>
            </a:prstGeom>
            <a:solidFill>
              <a:srgbClr val="7C9BFF"/>
            </a:solidFill>
            <a:ln>
              <a:noFill/>
            </a:ln>
          </p:spPr>
        </p:sp>
        <p:sp>
          <p:nvSpPr>
            <p:cNvPr id="15" name="node05.text"/>
            <p:cNvSpPr/>
            <p:nvPr/>
          </p:nvSpPr>
          <p:spPr>
            <a:xfrm>
              <a:off x="876300" y="44894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Pre-registration</a:t>
              </a:r>
              <a:endParaRPr lang="en-US" sz="1000" spc="0" kern="0" b="0" i="0" dirty="0">
                <a:solidFill>
                  <a:srgbClr val="070154"/>
                </a:solidFill>
                <a:latin typeface="IBM Plex Sans"/>
                <a:ea typeface="IBM Plex Sans"/>
                <a:cs typeface="IBM Plex Sans"/>
              </a:endParaRPr>
            </a:p>
          </p:txBody>
        </p:sp>
      </p:grpSp>
      <p:grpSp>
        <p:nvGrpSpPr>
          <p:cNvPr id="82" name="node06"/>
          <p:cNvGrpSpPr/>
          <p:nvPr/>
        </p:nvGrpSpPr>
        <p:grpSpPr>
          <a:xfrm>
            <a:off x="723900" y="5029200"/>
            <a:ext cx="1600200" cy="457200"/>
            <a:chOff x="723900" y="5029200"/>
            <a:chExt cx="1600200" cy="457200"/>
          </a:xfrm>
        </p:grpSpPr>
        <p:sp>
          <p:nvSpPr>
            <p:cNvPr id="16" name="node06.surface"/>
            <p:cNvSpPr/>
            <p:nvPr/>
          </p:nvSpPr>
          <p:spPr>
            <a:xfrm>
              <a:off x="723900" y="5029200"/>
              <a:ext cx="1600200" cy="457200"/>
            </a:xfrm>
            <a:prstGeom prst="rect">
              <a:avLst/>
            </a:prstGeom>
            <a:solidFill>
              <a:srgbClr val="B9C9F0"/>
            </a:solidFill>
            <a:ln>
              <a:noFill/>
            </a:ln>
          </p:spPr>
        </p:sp>
        <p:sp>
          <p:nvSpPr>
            <p:cNvPr id="17" name="node06.text"/>
            <p:cNvSpPr/>
            <p:nvPr/>
          </p:nvSpPr>
          <p:spPr>
            <a:xfrm>
              <a:off x="876300" y="51752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Clearance</a:t>
              </a:r>
              <a:endParaRPr lang="en-US" sz="1000" spc="0" kern="0" b="0" i="0" dirty="0">
                <a:solidFill>
                  <a:srgbClr val="070154"/>
                </a:solidFill>
                <a:latin typeface="IBM Plex Sans"/>
                <a:ea typeface="IBM Plex Sans"/>
                <a:cs typeface="IBM Plex Sans"/>
              </a:endParaRPr>
            </a:p>
          </p:txBody>
        </p:sp>
      </p:grpSp>
      <p:grpSp>
        <p:nvGrpSpPr>
          <p:cNvPr id="83" name="node07"/>
          <p:cNvGrpSpPr/>
          <p:nvPr/>
        </p:nvGrpSpPr>
        <p:grpSpPr>
          <a:xfrm>
            <a:off x="2552700" y="1600200"/>
            <a:ext cx="1600200" cy="457200"/>
            <a:chOff x="2552700" y="1600200"/>
            <a:chExt cx="1600200" cy="457200"/>
          </a:xfrm>
        </p:grpSpPr>
        <p:sp>
          <p:nvSpPr>
            <p:cNvPr id="18" name="node07.surface"/>
            <p:cNvSpPr/>
            <p:nvPr/>
          </p:nvSpPr>
          <p:spPr>
            <a:xfrm>
              <a:off x="2552700" y="1600200"/>
              <a:ext cx="1600200" cy="457200"/>
            </a:xfrm>
            <a:prstGeom prst="rect">
              <a:avLst/>
            </a:prstGeom>
            <a:solidFill>
              <a:srgbClr val="05013F"/>
            </a:solidFill>
            <a:ln>
              <a:noFill/>
            </a:ln>
          </p:spPr>
        </p:sp>
        <p:sp>
          <p:nvSpPr>
            <p:cNvPr id="19" name="node07.text"/>
            <p:cNvSpPr/>
            <p:nvPr/>
          </p:nvSpPr>
          <p:spPr>
            <a:xfrm>
              <a:off x="2705100" y="1765300"/>
              <a:ext cx="12954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FFFFFF"/>
                  </a:solidFill>
                  <a:latin typeface="IBM Plex Mono Medium"/>
                  <a:ea typeface="IBM Plex Mono Medium"/>
                  <a:cs typeface="IBM Plex Mono Medium"/>
                </a:rPr>
                <a:t>CARE DELIVERY</a:t>
              </a:r>
              <a:endParaRPr lang="en-US" sz="800" spc="48" kern="0" b="0" i="0" dirty="0">
                <a:solidFill>
                  <a:srgbClr val="FFFFFF"/>
                </a:solidFill>
                <a:latin typeface="IBM Plex Mono Medium"/>
                <a:ea typeface="IBM Plex Mono Medium"/>
                <a:cs typeface="IBM Plex Mono Medium"/>
              </a:endParaRPr>
            </a:p>
          </p:txBody>
        </p:sp>
      </p:grpSp>
      <p:grpSp>
        <p:nvGrpSpPr>
          <p:cNvPr id="84" name="node08"/>
          <p:cNvGrpSpPr/>
          <p:nvPr/>
        </p:nvGrpSpPr>
        <p:grpSpPr>
          <a:xfrm>
            <a:off x="2552700" y="2286000"/>
            <a:ext cx="1600200" cy="457200"/>
            <a:chOff x="2552700" y="2286000"/>
            <a:chExt cx="1600200" cy="457200"/>
          </a:xfrm>
        </p:grpSpPr>
        <p:sp>
          <p:nvSpPr>
            <p:cNvPr id="20" name="node08.surface"/>
            <p:cNvSpPr/>
            <p:nvPr/>
          </p:nvSpPr>
          <p:spPr>
            <a:xfrm>
              <a:off x="2552700" y="2286000"/>
              <a:ext cx="1600200" cy="457200"/>
            </a:xfrm>
            <a:prstGeom prst="rect">
              <a:avLst/>
            </a:prstGeom>
            <a:solidFill>
              <a:srgbClr val="7C9BFF"/>
            </a:solidFill>
            <a:ln>
              <a:noFill/>
            </a:ln>
          </p:spPr>
        </p:sp>
        <p:sp>
          <p:nvSpPr>
            <p:cNvPr id="21" name="node08.text"/>
            <p:cNvSpPr/>
            <p:nvPr/>
          </p:nvSpPr>
          <p:spPr>
            <a:xfrm>
              <a:off x="2705100" y="24320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Documentation</a:t>
              </a:r>
              <a:endParaRPr lang="en-US" sz="1000" spc="0" kern="0" b="0" i="0" dirty="0">
                <a:solidFill>
                  <a:srgbClr val="070154"/>
                </a:solidFill>
                <a:latin typeface="IBM Plex Sans"/>
                <a:ea typeface="IBM Plex Sans"/>
                <a:cs typeface="IBM Plex Sans"/>
              </a:endParaRPr>
            </a:p>
          </p:txBody>
        </p:sp>
      </p:grpSp>
      <p:grpSp>
        <p:nvGrpSpPr>
          <p:cNvPr id="85" name="node09"/>
          <p:cNvGrpSpPr/>
          <p:nvPr/>
        </p:nvGrpSpPr>
        <p:grpSpPr>
          <a:xfrm>
            <a:off x="2552700" y="2971800"/>
            <a:ext cx="1600200" cy="457200"/>
            <a:chOff x="2552700" y="2971800"/>
            <a:chExt cx="1600200" cy="457200"/>
          </a:xfrm>
        </p:grpSpPr>
        <p:sp>
          <p:nvSpPr>
            <p:cNvPr id="22" name="node09.surface"/>
            <p:cNvSpPr/>
            <p:nvPr/>
          </p:nvSpPr>
          <p:spPr>
            <a:xfrm>
              <a:off x="2552700" y="2971800"/>
              <a:ext cx="1600200" cy="457200"/>
            </a:xfrm>
            <a:prstGeom prst="rect">
              <a:avLst/>
            </a:prstGeom>
            <a:solidFill>
              <a:srgbClr val="B9C9F0"/>
            </a:solidFill>
            <a:ln>
              <a:noFill/>
            </a:ln>
          </p:spPr>
        </p:sp>
        <p:sp>
          <p:nvSpPr>
            <p:cNvPr id="23" name="node09.text"/>
            <p:cNvSpPr/>
            <p:nvPr/>
          </p:nvSpPr>
          <p:spPr>
            <a:xfrm>
              <a:off x="2705100" y="31178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Order entry</a:t>
              </a:r>
              <a:endParaRPr lang="en-US" sz="1000" spc="0" kern="0" b="0" i="0" dirty="0">
                <a:solidFill>
                  <a:srgbClr val="070154"/>
                </a:solidFill>
                <a:latin typeface="IBM Plex Sans"/>
                <a:ea typeface="IBM Plex Sans"/>
                <a:cs typeface="IBM Plex Sans"/>
              </a:endParaRPr>
            </a:p>
          </p:txBody>
        </p:sp>
      </p:grpSp>
      <p:grpSp>
        <p:nvGrpSpPr>
          <p:cNvPr id="86" name="node10"/>
          <p:cNvGrpSpPr/>
          <p:nvPr/>
        </p:nvGrpSpPr>
        <p:grpSpPr>
          <a:xfrm>
            <a:off x="2552700" y="3657600"/>
            <a:ext cx="1600200" cy="457200"/>
            <a:chOff x="2552700" y="3657600"/>
            <a:chExt cx="1600200" cy="457200"/>
          </a:xfrm>
        </p:grpSpPr>
        <p:sp>
          <p:nvSpPr>
            <p:cNvPr id="24" name="node10.surface"/>
            <p:cNvSpPr/>
            <p:nvPr/>
          </p:nvSpPr>
          <p:spPr>
            <a:xfrm>
              <a:off x="2552700" y="3657600"/>
              <a:ext cx="1600200" cy="457200"/>
            </a:xfrm>
            <a:prstGeom prst="rect">
              <a:avLst/>
            </a:prstGeom>
            <a:solidFill>
              <a:srgbClr val="0047FF"/>
            </a:solidFill>
            <a:ln>
              <a:noFill/>
            </a:ln>
          </p:spPr>
        </p:sp>
        <p:sp>
          <p:nvSpPr>
            <p:cNvPr id="25" name="node10.text"/>
            <p:cNvSpPr/>
            <p:nvPr/>
          </p:nvSpPr>
          <p:spPr>
            <a:xfrm>
              <a:off x="2705100" y="38036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FFFFFF"/>
                  </a:solidFill>
                  <a:latin typeface="IBM Plex Sans"/>
                  <a:ea typeface="IBM Plex Sans"/>
                  <a:cs typeface="IBM Plex Sans"/>
                </a:rPr>
                <a:t>Care planning</a:t>
              </a:r>
              <a:endParaRPr lang="en-US" sz="1000" spc="0" kern="0" b="0" i="0" dirty="0">
                <a:solidFill>
                  <a:srgbClr val="FFFFFF"/>
                </a:solidFill>
                <a:latin typeface="IBM Plex Sans"/>
                <a:ea typeface="IBM Plex Sans"/>
                <a:cs typeface="IBM Plex Sans"/>
              </a:endParaRPr>
            </a:p>
          </p:txBody>
        </p:sp>
      </p:grpSp>
      <p:grpSp>
        <p:nvGrpSpPr>
          <p:cNvPr id="87" name="node11"/>
          <p:cNvGrpSpPr/>
          <p:nvPr/>
        </p:nvGrpSpPr>
        <p:grpSpPr>
          <a:xfrm>
            <a:off x="2552700" y="4343400"/>
            <a:ext cx="1600200" cy="457200"/>
            <a:chOff x="2552700" y="4343400"/>
            <a:chExt cx="1600200" cy="457200"/>
          </a:xfrm>
        </p:grpSpPr>
        <p:sp>
          <p:nvSpPr>
            <p:cNvPr id="26" name="node11.surface"/>
            <p:cNvSpPr/>
            <p:nvPr/>
          </p:nvSpPr>
          <p:spPr>
            <a:xfrm>
              <a:off x="2552700" y="4343400"/>
              <a:ext cx="1600200" cy="457200"/>
            </a:xfrm>
            <a:prstGeom prst="rect">
              <a:avLst/>
            </a:prstGeom>
            <a:solidFill>
              <a:srgbClr val="7C9BFF"/>
            </a:solidFill>
            <a:ln>
              <a:noFill/>
            </a:ln>
          </p:spPr>
        </p:sp>
        <p:sp>
          <p:nvSpPr>
            <p:cNvPr id="27" name="node11.text"/>
            <p:cNvSpPr/>
            <p:nvPr/>
          </p:nvSpPr>
          <p:spPr>
            <a:xfrm>
              <a:off x="2705100" y="44894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Bedside devices</a:t>
              </a:r>
              <a:endParaRPr lang="en-US" sz="1000" spc="0" kern="0" b="0" i="0" dirty="0">
                <a:solidFill>
                  <a:srgbClr val="070154"/>
                </a:solidFill>
                <a:latin typeface="IBM Plex Sans"/>
                <a:ea typeface="IBM Plex Sans"/>
                <a:cs typeface="IBM Plex Sans"/>
              </a:endParaRPr>
            </a:p>
          </p:txBody>
        </p:sp>
      </p:grpSp>
      <p:grpSp>
        <p:nvGrpSpPr>
          <p:cNvPr id="88" name="node12"/>
          <p:cNvGrpSpPr/>
          <p:nvPr/>
        </p:nvGrpSpPr>
        <p:grpSpPr>
          <a:xfrm>
            <a:off x="2552700" y="5029200"/>
            <a:ext cx="1600200" cy="457200"/>
            <a:chOff x="2552700" y="5029200"/>
            <a:chExt cx="1600200" cy="457200"/>
          </a:xfrm>
        </p:grpSpPr>
        <p:sp>
          <p:nvSpPr>
            <p:cNvPr id="28" name="node12.surface"/>
            <p:cNvSpPr/>
            <p:nvPr/>
          </p:nvSpPr>
          <p:spPr>
            <a:xfrm>
              <a:off x="2552700" y="5029200"/>
              <a:ext cx="1600200" cy="457200"/>
            </a:xfrm>
            <a:prstGeom prst="rect">
              <a:avLst/>
            </a:prstGeom>
            <a:solidFill>
              <a:srgbClr val="0047FF"/>
            </a:solidFill>
            <a:ln>
              <a:noFill/>
            </a:ln>
          </p:spPr>
        </p:sp>
        <p:sp>
          <p:nvSpPr>
            <p:cNvPr id="29" name="node12.text"/>
            <p:cNvSpPr/>
            <p:nvPr/>
          </p:nvSpPr>
          <p:spPr>
            <a:xfrm>
              <a:off x="2705100" y="51752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FFFFFF"/>
                  </a:solidFill>
                  <a:latin typeface="IBM Plex Sans"/>
                  <a:ea typeface="IBM Plex Sans"/>
                  <a:cs typeface="IBM Plex Sans"/>
                </a:rPr>
                <a:t>Virtual care</a:t>
              </a:r>
              <a:endParaRPr lang="en-US" sz="1000" spc="0" kern="0" b="0" i="0" dirty="0">
                <a:solidFill>
                  <a:srgbClr val="FFFFFF"/>
                </a:solidFill>
                <a:latin typeface="IBM Plex Sans"/>
                <a:ea typeface="IBM Plex Sans"/>
                <a:cs typeface="IBM Plex Sans"/>
              </a:endParaRPr>
            </a:p>
          </p:txBody>
        </p:sp>
      </p:grpSp>
      <p:grpSp>
        <p:nvGrpSpPr>
          <p:cNvPr id="89" name="node13"/>
          <p:cNvGrpSpPr/>
          <p:nvPr/>
        </p:nvGrpSpPr>
        <p:grpSpPr>
          <a:xfrm>
            <a:off x="4381500" y="1600200"/>
            <a:ext cx="1600200" cy="457200"/>
            <a:chOff x="4381500" y="1600200"/>
            <a:chExt cx="1600200" cy="457200"/>
          </a:xfrm>
        </p:grpSpPr>
        <p:sp>
          <p:nvSpPr>
            <p:cNvPr id="30" name="node13.surface"/>
            <p:cNvSpPr/>
            <p:nvPr/>
          </p:nvSpPr>
          <p:spPr>
            <a:xfrm>
              <a:off x="4381500" y="1600200"/>
              <a:ext cx="1600200" cy="457200"/>
            </a:xfrm>
            <a:prstGeom prst="rect">
              <a:avLst/>
            </a:prstGeom>
            <a:solidFill>
              <a:srgbClr val="05013F"/>
            </a:solidFill>
            <a:ln>
              <a:noFill/>
            </a:ln>
          </p:spPr>
        </p:sp>
        <p:sp>
          <p:nvSpPr>
            <p:cNvPr id="31" name="node13.text"/>
            <p:cNvSpPr/>
            <p:nvPr/>
          </p:nvSpPr>
          <p:spPr>
            <a:xfrm>
              <a:off x="4533900" y="1765300"/>
              <a:ext cx="12954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FFFFFF"/>
                  </a:solidFill>
                  <a:latin typeface="IBM Plex Mono Medium"/>
                  <a:ea typeface="IBM Plex Mono Medium"/>
                  <a:cs typeface="IBM Plex Mono Medium"/>
                </a:rPr>
                <a:t>REVENUE</a:t>
              </a:r>
              <a:endParaRPr lang="en-US" sz="800" spc="48" kern="0" b="0" i="0" dirty="0">
                <a:solidFill>
                  <a:srgbClr val="FFFFFF"/>
                </a:solidFill>
                <a:latin typeface="IBM Plex Mono Medium"/>
                <a:ea typeface="IBM Plex Mono Medium"/>
                <a:cs typeface="IBM Plex Mono Medium"/>
              </a:endParaRPr>
            </a:p>
          </p:txBody>
        </p:sp>
      </p:grpSp>
      <p:grpSp>
        <p:nvGrpSpPr>
          <p:cNvPr id="90" name="node14"/>
          <p:cNvGrpSpPr/>
          <p:nvPr/>
        </p:nvGrpSpPr>
        <p:grpSpPr>
          <a:xfrm>
            <a:off x="4381500" y="2286000"/>
            <a:ext cx="1600200" cy="457200"/>
            <a:chOff x="4381500" y="2286000"/>
            <a:chExt cx="1600200" cy="457200"/>
          </a:xfrm>
        </p:grpSpPr>
        <p:sp>
          <p:nvSpPr>
            <p:cNvPr id="32" name="node14.surface"/>
            <p:cNvSpPr/>
            <p:nvPr/>
          </p:nvSpPr>
          <p:spPr>
            <a:xfrm>
              <a:off x="4381500" y="2286000"/>
              <a:ext cx="1600200" cy="457200"/>
            </a:xfrm>
            <a:prstGeom prst="rect">
              <a:avLst/>
            </a:prstGeom>
            <a:solidFill>
              <a:srgbClr val="7C9BFF"/>
            </a:solidFill>
            <a:ln>
              <a:noFill/>
            </a:ln>
          </p:spPr>
        </p:sp>
        <p:sp>
          <p:nvSpPr>
            <p:cNvPr id="33" name="node14.text"/>
            <p:cNvSpPr/>
            <p:nvPr/>
          </p:nvSpPr>
          <p:spPr>
            <a:xfrm>
              <a:off x="4533900" y="24320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Charge capture</a:t>
              </a:r>
              <a:endParaRPr lang="en-US" sz="1000" spc="0" kern="0" b="0" i="0" dirty="0">
                <a:solidFill>
                  <a:srgbClr val="070154"/>
                </a:solidFill>
                <a:latin typeface="IBM Plex Sans"/>
                <a:ea typeface="IBM Plex Sans"/>
                <a:cs typeface="IBM Plex Sans"/>
              </a:endParaRPr>
            </a:p>
          </p:txBody>
        </p:sp>
      </p:grpSp>
      <p:grpSp>
        <p:nvGrpSpPr>
          <p:cNvPr id="91" name="node15"/>
          <p:cNvGrpSpPr/>
          <p:nvPr/>
        </p:nvGrpSpPr>
        <p:grpSpPr>
          <a:xfrm>
            <a:off x="4381500" y="2971800"/>
            <a:ext cx="1600200" cy="457200"/>
            <a:chOff x="4381500" y="2971800"/>
            <a:chExt cx="1600200" cy="457200"/>
          </a:xfrm>
        </p:grpSpPr>
        <p:sp>
          <p:nvSpPr>
            <p:cNvPr id="34" name="node15.surface"/>
            <p:cNvSpPr/>
            <p:nvPr/>
          </p:nvSpPr>
          <p:spPr>
            <a:xfrm>
              <a:off x="4381500" y="2971800"/>
              <a:ext cx="1600200" cy="457200"/>
            </a:xfrm>
            <a:prstGeom prst="rect">
              <a:avLst/>
            </a:prstGeom>
            <a:solidFill>
              <a:srgbClr val="B9C9F0"/>
            </a:solidFill>
            <a:ln>
              <a:noFill/>
            </a:ln>
          </p:spPr>
        </p:sp>
        <p:sp>
          <p:nvSpPr>
            <p:cNvPr id="35" name="node15.text"/>
            <p:cNvSpPr/>
            <p:nvPr/>
          </p:nvSpPr>
          <p:spPr>
            <a:xfrm>
              <a:off x="4533900" y="31178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Claims</a:t>
              </a:r>
              <a:endParaRPr lang="en-US" sz="1000" spc="0" kern="0" b="0" i="0" dirty="0">
                <a:solidFill>
                  <a:srgbClr val="070154"/>
                </a:solidFill>
                <a:latin typeface="IBM Plex Sans"/>
                <a:ea typeface="IBM Plex Sans"/>
                <a:cs typeface="IBM Plex Sans"/>
              </a:endParaRPr>
            </a:p>
          </p:txBody>
        </p:sp>
      </p:grpSp>
      <p:grpSp>
        <p:nvGrpSpPr>
          <p:cNvPr id="92" name="node16"/>
          <p:cNvGrpSpPr/>
          <p:nvPr/>
        </p:nvGrpSpPr>
        <p:grpSpPr>
          <a:xfrm>
            <a:off x="4381500" y="3657600"/>
            <a:ext cx="1600200" cy="457200"/>
            <a:chOff x="4381500" y="3657600"/>
            <a:chExt cx="1600200" cy="457200"/>
          </a:xfrm>
        </p:grpSpPr>
        <p:sp>
          <p:nvSpPr>
            <p:cNvPr id="36" name="node16.surface"/>
            <p:cNvSpPr/>
            <p:nvPr/>
          </p:nvSpPr>
          <p:spPr>
            <a:xfrm>
              <a:off x="4381500" y="3657600"/>
              <a:ext cx="1600200" cy="457200"/>
            </a:xfrm>
            <a:prstGeom prst="rect">
              <a:avLst/>
            </a:prstGeom>
            <a:solidFill>
              <a:srgbClr val="070154"/>
            </a:solidFill>
            <a:ln>
              <a:noFill/>
            </a:ln>
          </p:spPr>
        </p:sp>
        <p:sp>
          <p:nvSpPr>
            <p:cNvPr id="37" name="node16.text"/>
            <p:cNvSpPr/>
            <p:nvPr/>
          </p:nvSpPr>
          <p:spPr>
            <a:xfrm>
              <a:off x="4533900" y="38036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FFFFFF"/>
                  </a:solidFill>
                  <a:latin typeface="IBM Plex Sans"/>
                  <a:ea typeface="IBM Plex Sans"/>
                  <a:cs typeface="IBM Plex Sans"/>
                </a:rPr>
                <a:t>Denials</a:t>
              </a:r>
              <a:endParaRPr lang="en-US" sz="1000" spc="0" kern="0" b="0" i="0" dirty="0">
                <a:solidFill>
                  <a:srgbClr val="FFFFFF"/>
                </a:solidFill>
                <a:latin typeface="IBM Plex Sans"/>
                <a:ea typeface="IBM Plex Sans"/>
                <a:cs typeface="IBM Plex Sans"/>
              </a:endParaRPr>
            </a:p>
          </p:txBody>
        </p:sp>
      </p:grpSp>
      <p:grpSp>
        <p:nvGrpSpPr>
          <p:cNvPr id="93" name="node17"/>
          <p:cNvGrpSpPr/>
          <p:nvPr/>
        </p:nvGrpSpPr>
        <p:grpSpPr>
          <a:xfrm>
            <a:off x="4381500" y="4343400"/>
            <a:ext cx="1600200" cy="457200"/>
            <a:chOff x="4381500" y="4343400"/>
            <a:chExt cx="1600200" cy="457200"/>
          </a:xfrm>
        </p:grpSpPr>
        <p:sp>
          <p:nvSpPr>
            <p:cNvPr id="38" name="node17.surface"/>
            <p:cNvSpPr/>
            <p:nvPr/>
          </p:nvSpPr>
          <p:spPr>
            <a:xfrm>
              <a:off x="4381500" y="4343400"/>
              <a:ext cx="1600200" cy="457200"/>
            </a:xfrm>
            <a:prstGeom prst="rect">
              <a:avLst/>
            </a:prstGeom>
            <a:solidFill>
              <a:srgbClr val="0047FF"/>
            </a:solidFill>
            <a:ln>
              <a:noFill/>
            </a:ln>
          </p:spPr>
        </p:sp>
        <p:sp>
          <p:nvSpPr>
            <p:cNvPr id="39" name="node17.text"/>
            <p:cNvSpPr/>
            <p:nvPr/>
          </p:nvSpPr>
          <p:spPr>
            <a:xfrm>
              <a:off x="4533900" y="44894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FFFFFF"/>
                  </a:solidFill>
                  <a:latin typeface="IBM Plex Sans"/>
                  <a:ea typeface="IBM Plex Sans"/>
                  <a:cs typeface="IBM Plex Sans"/>
                </a:rPr>
                <a:t>Patient billing</a:t>
              </a:r>
              <a:endParaRPr lang="en-US" sz="1000" spc="0" kern="0" b="0" i="0" dirty="0">
                <a:solidFill>
                  <a:srgbClr val="FFFFFF"/>
                </a:solidFill>
                <a:latin typeface="IBM Plex Sans"/>
                <a:ea typeface="IBM Plex Sans"/>
                <a:cs typeface="IBM Plex Sans"/>
              </a:endParaRPr>
            </a:p>
          </p:txBody>
        </p:sp>
      </p:grpSp>
      <p:grpSp>
        <p:nvGrpSpPr>
          <p:cNvPr id="94" name="node18"/>
          <p:cNvGrpSpPr/>
          <p:nvPr/>
        </p:nvGrpSpPr>
        <p:grpSpPr>
          <a:xfrm>
            <a:off x="4381500" y="5029200"/>
            <a:ext cx="1600200" cy="457200"/>
            <a:chOff x="4381500" y="5029200"/>
            <a:chExt cx="1600200" cy="457200"/>
          </a:xfrm>
        </p:grpSpPr>
        <p:sp>
          <p:nvSpPr>
            <p:cNvPr id="40" name="node18.surface"/>
            <p:cNvSpPr/>
            <p:nvPr/>
          </p:nvSpPr>
          <p:spPr>
            <a:xfrm>
              <a:off x="4381500" y="5029200"/>
              <a:ext cx="1600200" cy="457200"/>
            </a:xfrm>
            <a:prstGeom prst="rect">
              <a:avLst/>
            </a:prstGeom>
            <a:solidFill>
              <a:srgbClr val="E8EEF8"/>
            </a:solidFill>
            <a:ln>
              <a:noFill/>
            </a:ln>
          </p:spPr>
        </p:sp>
        <p:sp>
          <p:nvSpPr>
            <p:cNvPr id="41" name="node18.text"/>
            <p:cNvSpPr/>
            <p:nvPr/>
          </p:nvSpPr>
          <p:spPr>
            <a:xfrm>
              <a:off x="4533900" y="51752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Contracts</a:t>
              </a:r>
              <a:endParaRPr lang="en-US" sz="1000" spc="0" kern="0" b="0" i="0" dirty="0">
                <a:solidFill>
                  <a:srgbClr val="070154"/>
                </a:solidFill>
                <a:latin typeface="IBM Plex Sans"/>
                <a:ea typeface="IBM Plex Sans"/>
                <a:cs typeface="IBM Plex Sans"/>
              </a:endParaRPr>
            </a:p>
          </p:txBody>
        </p:sp>
      </p:grpSp>
      <p:grpSp>
        <p:nvGrpSpPr>
          <p:cNvPr id="95" name="node19"/>
          <p:cNvGrpSpPr/>
          <p:nvPr/>
        </p:nvGrpSpPr>
        <p:grpSpPr>
          <a:xfrm>
            <a:off x="6210300" y="1600200"/>
            <a:ext cx="1600200" cy="457200"/>
            <a:chOff x="6210300" y="1600200"/>
            <a:chExt cx="1600200" cy="457200"/>
          </a:xfrm>
        </p:grpSpPr>
        <p:sp>
          <p:nvSpPr>
            <p:cNvPr id="42" name="node19.surface"/>
            <p:cNvSpPr/>
            <p:nvPr/>
          </p:nvSpPr>
          <p:spPr>
            <a:xfrm>
              <a:off x="6210300" y="1600200"/>
              <a:ext cx="1600200" cy="457200"/>
            </a:xfrm>
            <a:prstGeom prst="rect">
              <a:avLst/>
            </a:prstGeom>
            <a:solidFill>
              <a:srgbClr val="05013F"/>
            </a:solidFill>
            <a:ln>
              <a:noFill/>
            </a:ln>
          </p:spPr>
        </p:sp>
        <p:sp>
          <p:nvSpPr>
            <p:cNvPr id="43" name="node19.text"/>
            <p:cNvSpPr/>
            <p:nvPr/>
          </p:nvSpPr>
          <p:spPr>
            <a:xfrm>
              <a:off x="6362700" y="1765300"/>
              <a:ext cx="12954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FFFFFF"/>
                  </a:solidFill>
                  <a:latin typeface="IBM Plex Mono Medium"/>
                  <a:ea typeface="IBM Plex Mono Medium"/>
                  <a:cs typeface="IBM Plex Mono Medium"/>
                </a:rPr>
                <a:t>DATA</a:t>
              </a:r>
              <a:endParaRPr lang="en-US" sz="800" spc="48" kern="0" b="0" i="0" dirty="0">
                <a:solidFill>
                  <a:srgbClr val="FFFFFF"/>
                </a:solidFill>
                <a:latin typeface="IBM Plex Mono Medium"/>
                <a:ea typeface="IBM Plex Mono Medium"/>
                <a:cs typeface="IBM Plex Mono Medium"/>
              </a:endParaRPr>
            </a:p>
          </p:txBody>
        </p:sp>
      </p:grpSp>
      <p:grpSp>
        <p:nvGrpSpPr>
          <p:cNvPr id="96" name="node20"/>
          <p:cNvGrpSpPr/>
          <p:nvPr/>
        </p:nvGrpSpPr>
        <p:grpSpPr>
          <a:xfrm>
            <a:off x="6210300" y="2286000"/>
            <a:ext cx="1600200" cy="457200"/>
            <a:chOff x="6210300" y="2286000"/>
            <a:chExt cx="1600200" cy="457200"/>
          </a:xfrm>
        </p:grpSpPr>
        <p:sp>
          <p:nvSpPr>
            <p:cNvPr id="44" name="node20.surface"/>
            <p:cNvSpPr/>
            <p:nvPr/>
          </p:nvSpPr>
          <p:spPr>
            <a:xfrm>
              <a:off x="6210300" y="2286000"/>
              <a:ext cx="1600200" cy="457200"/>
            </a:xfrm>
            <a:prstGeom prst="rect">
              <a:avLst/>
            </a:prstGeom>
            <a:solidFill>
              <a:srgbClr val="7C9BFF"/>
            </a:solidFill>
            <a:ln>
              <a:noFill/>
            </a:ln>
          </p:spPr>
        </p:sp>
        <p:sp>
          <p:nvSpPr>
            <p:cNvPr id="45" name="node20.text"/>
            <p:cNvSpPr/>
            <p:nvPr/>
          </p:nvSpPr>
          <p:spPr>
            <a:xfrm>
              <a:off x="6362700" y="24320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Reporting</a:t>
              </a:r>
              <a:endParaRPr lang="en-US" sz="1000" spc="0" kern="0" b="0" i="0" dirty="0">
                <a:solidFill>
                  <a:srgbClr val="070154"/>
                </a:solidFill>
                <a:latin typeface="IBM Plex Sans"/>
                <a:ea typeface="IBM Plex Sans"/>
                <a:cs typeface="IBM Plex Sans"/>
              </a:endParaRPr>
            </a:p>
          </p:txBody>
        </p:sp>
      </p:grpSp>
      <p:grpSp>
        <p:nvGrpSpPr>
          <p:cNvPr id="97" name="node21"/>
          <p:cNvGrpSpPr/>
          <p:nvPr/>
        </p:nvGrpSpPr>
        <p:grpSpPr>
          <a:xfrm>
            <a:off x="6210300" y="2971800"/>
            <a:ext cx="1600200" cy="457200"/>
            <a:chOff x="6210300" y="2971800"/>
            <a:chExt cx="1600200" cy="457200"/>
          </a:xfrm>
        </p:grpSpPr>
        <p:sp>
          <p:nvSpPr>
            <p:cNvPr id="46" name="node21.surface"/>
            <p:cNvSpPr/>
            <p:nvPr/>
          </p:nvSpPr>
          <p:spPr>
            <a:xfrm>
              <a:off x="6210300" y="2971800"/>
              <a:ext cx="1600200" cy="457200"/>
            </a:xfrm>
            <a:prstGeom prst="rect">
              <a:avLst/>
            </a:prstGeom>
            <a:solidFill>
              <a:srgbClr val="070154"/>
            </a:solidFill>
            <a:ln>
              <a:noFill/>
            </a:ln>
          </p:spPr>
        </p:sp>
        <p:sp>
          <p:nvSpPr>
            <p:cNvPr id="47" name="node21.text"/>
            <p:cNvSpPr/>
            <p:nvPr/>
          </p:nvSpPr>
          <p:spPr>
            <a:xfrm>
              <a:off x="6362700" y="31178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FFFFFF"/>
                  </a:solidFill>
                  <a:latin typeface="IBM Plex Sans"/>
                  <a:ea typeface="IBM Plex Sans"/>
                  <a:cs typeface="IBM Plex Sans"/>
                </a:rPr>
                <a:t>Master data</a:t>
              </a:r>
              <a:endParaRPr lang="en-US" sz="1000" spc="0" kern="0" b="0" i="0" dirty="0">
                <a:solidFill>
                  <a:srgbClr val="FFFFFF"/>
                </a:solidFill>
                <a:latin typeface="IBM Plex Sans"/>
                <a:ea typeface="IBM Plex Sans"/>
                <a:cs typeface="IBM Plex Sans"/>
              </a:endParaRPr>
            </a:p>
          </p:txBody>
        </p:sp>
      </p:grpSp>
      <p:grpSp>
        <p:nvGrpSpPr>
          <p:cNvPr id="98" name="node22"/>
          <p:cNvGrpSpPr/>
          <p:nvPr/>
        </p:nvGrpSpPr>
        <p:grpSpPr>
          <a:xfrm>
            <a:off x="6210300" y="3657600"/>
            <a:ext cx="1600200" cy="457200"/>
            <a:chOff x="6210300" y="3657600"/>
            <a:chExt cx="1600200" cy="457200"/>
          </a:xfrm>
        </p:grpSpPr>
        <p:sp>
          <p:nvSpPr>
            <p:cNvPr id="48" name="node22.surface"/>
            <p:cNvSpPr/>
            <p:nvPr/>
          </p:nvSpPr>
          <p:spPr>
            <a:xfrm>
              <a:off x="6210300" y="3657600"/>
              <a:ext cx="1600200" cy="457200"/>
            </a:xfrm>
            <a:prstGeom prst="rect">
              <a:avLst/>
            </a:prstGeom>
            <a:solidFill>
              <a:srgbClr val="0047FF"/>
            </a:solidFill>
            <a:ln>
              <a:noFill/>
            </a:ln>
          </p:spPr>
        </p:sp>
        <p:sp>
          <p:nvSpPr>
            <p:cNvPr id="49" name="node22.text"/>
            <p:cNvSpPr/>
            <p:nvPr/>
          </p:nvSpPr>
          <p:spPr>
            <a:xfrm>
              <a:off x="6362700" y="38036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FFFFFF"/>
                  </a:solidFill>
                  <a:latin typeface="IBM Plex Sans"/>
                  <a:ea typeface="IBM Plex Sans"/>
                  <a:cs typeface="IBM Plex Sans"/>
                </a:rPr>
                <a:t>Data quality</a:t>
              </a:r>
              <a:endParaRPr lang="en-US" sz="1000" spc="0" kern="0" b="0" i="0" dirty="0">
                <a:solidFill>
                  <a:srgbClr val="FFFFFF"/>
                </a:solidFill>
                <a:latin typeface="IBM Plex Sans"/>
                <a:ea typeface="IBM Plex Sans"/>
                <a:cs typeface="IBM Plex Sans"/>
              </a:endParaRPr>
            </a:p>
          </p:txBody>
        </p:sp>
      </p:grpSp>
      <p:grpSp>
        <p:nvGrpSpPr>
          <p:cNvPr id="99" name="node23"/>
          <p:cNvGrpSpPr/>
          <p:nvPr/>
        </p:nvGrpSpPr>
        <p:grpSpPr>
          <a:xfrm>
            <a:off x="6210300" y="4343400"/>
            <a:ext cx="1600200" cy="457200"/>
            <a:chOff x="6210300" y="4343400"/>
            <a:chExt cx="1600200" cy="457200"/>
          </a:xfrm>
        </p:grpSpPr>
        <p:sp>
          <p:nvSpPr>
            <p:cNvPr id="50" name="node23.surface"/>
            <p:cNvSpPr/>
            <p:nvPr/>
          </p:nvSpPr>
          <p:spPr>
            <a:xfrm>
              <a:off x="6210300" y="4343400"/>
              <a:ext cx="1600200" cy="457200"/>
            </a:xfrm>
            <a:prstGeom prst="rect">
              <a:avLst/>
            </a:prstGeom>
            <a:solidFill>
              <a:srgbClr val="070154"/>
            </a:solidFill>
            <a:ln>
              <a:noFill/>
            </a:ln>
          </p:spPr>
        </p:sp>
        <p:sp>
          <p:nvSpPr>
            <p:cNvPr id="51" name="node23.text"/>
            <p:cNvSpPr/>
            <p:nvPr/>
          </p:nvSpPr>
          <p:spPr>
            <a:xfrm>
              <a:off x="6362700" y="44894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FFFFFF"/>
                  </a:solidFill>
                  <a:latin typeface="IBM Plex Sans"/>
                  <a:ea typeface="IBM Plex Sans"/>
                  <a:cs typeface="IBM Plex Sans"/>
                </a:rPr>
                <a:t>Interoperability</a:t>
              </a:r>
              <a:endParaRPr lang="en-US" sz="1000" spc="0" kern="0" b="0" i="0" dirty="0">
                <a:solidFill>
                  <a:srgbClr val="FFFFFF"/>
                </a:solidFill>
                <a:latin typeface="IBM Plex Sans"/>
                <a:ea typeface="IBM Plex Sans"/>
                <a:cs typeface="IBM Plex Sans"/>
              </a:endParaRPr>
            </a:p>
          </p:txBody>
        </p:sp>
      </p:grpSp>
      <p:grpSp>
        <p:nvGrpSpPr>
          <p:cNvPr id="100" name="node24"/>
          <p:cNvGrpSpPr/>
          <p:nvPr/>
        </p:nvGrpSpPr>
        <p:grpSpPr>
          <a:xfrm>
            <a:off x="6210300" y="5029200"/>
            <a:ext cx="1600200" cy="457200"/>
            <a:chOff x="6210300" y="5029200"/>
            <a:chExt cx="1600200" cy="457200"/>
          </a:xfrm>
        </p:grpSpPr>
        <p:sp>
          <p:nvSpPr>
            <p:cNvPr id="52" name="node24.surface"/>
            <p:cNvSpPr/>
            <p:nvPr/>
          </p:nvSpPr>
          <p:spPr>
            <a:xfrm>
              <a:off x="6210300" y="5029200"/>
              <a:ext cx="1600200" cy="457200"/>
            </a:xfrm>
            <a:prstGeom prst="rect">
              <a:avLst/>
            </a:prstGeom>
            <a:solidFill>
              <a:srgbClr val="7C9BFF"/>
            </a:solidFill>
            <a:ln>
              <a:noFill/>
            </a:ln>
          </p:spPr>
        </p:sp>
        <p:sp>
          <p:nvSpPr>
            <p:cNvPr id="53" name="node24.text"/>
            <p:cNvSpPr/>
            <p:nvPr/>
          </p:nvSpPr>
          <p:spPr>
            <a:xfrm>
              <a:off x="6362700" y="5175250"/>
              <a:ext cx="129540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Governance</a:t>
              </a:r>
              <a:endParaRPr lang="en-US" sz="1000" spc="0" kern="0" b="0" i="0" dirty="0">
                <a:solidFill>
                  <a:srgbClr val="070154"/>
                </a:solidFill>
                <a:latin typeface="IBM Plex Sans"/>
                <a:ea typeface="IBM Plex Sans"/>
                <a:cs typeface="IBM Plex Sans"/>
              </a:endParaRPr>
            </a:p>
          </p:txBody>
        </p:sp>
      </p:grpSp>
      <p:grpSp>
        <p:nvGrpSpPr>
          <p:cNvPr id="101" name="node25"/>
          <p:cNvGrpSpPr/>
          <p:nvPr/>
        </p:nvGrpSpPr>
        <p:grpSpPr>
          <a:xfrm>
            <a:off x="723900" y="5715000"/>
            <a:ext cx="7086600" cy="165100"/>
            <a:chOff x="723900" y="5715000"/>
            <a:chExt cx="7086600" cy="165100"/>
          </a:xfrm>
        </p:grpSpPr>
        <p:sp>
          <p:nvSpPr>
            <p:cNvPr id="54" name="node25.title"/>
            <p:cNvSpPr/>
            <p:nvPr/>
          </p:nvSpPr>
          <p:spPr>
            <a:xfrm>
              <a:off x="723900" y="5715000"/>
              <a:ext cx="70866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50658E"/>
                  </a:solidFill>
                  <a:latin typeface="IBM Plex Mono Medium"/>
                  <a:ea typeface="IBM Plex Mono Medium"/>
                  <a:cs typeface="IBM Plex Mono Medium"/>
                </a:rPr>
                <a:t>PRIORITY</a:t>
              </a:r>
              <a:endParaRPr lang="en-US" sz="800" spc="48" kern="0" b="0" i="0" dirty="0">
                <a:solidFill>
                  <a:srgbClr val="50658E"/>
                </a:solidFill>
                <a:latin typeface="IBM Plex Mono Medium"/>
                <a:ea typeface="IBM Plex Mono Medium"/>
                <a:cs typeface="IBM Plex Mono Medium"/>
              </a:endParaRPr>
            </a:p>
          </p:txBody>
        </p:sp>
        <p:sp>
          <p:nvSpPr>
            <p:cNvPr id="55" name="node25.items.slot-001.swatch"/>
            <p:cNvSpPr/>
            <p:nvPr/>
          </p:nvSpPr>
          <p:spPr>
            <a:xfrm>
              <a:off x="1483866" y="5734050"/>
              <a:ext cx="228600" cy="127000"/>
            </a:xfrm>
            <a:prstGeom prst="rect">
              <a:avLst/>
            </a:prstGeom>
            <a:solidFill>
              <a:srgbClr val="E8EEF8"/>
            </a:solidFill>
            <a:ln>
              <a:noFill/>
            </a:ln>
          </p:spPr>
        </p:sp>
        <p:sp>
          <p:nvSpPr>
            <p:cNvPr id="56" name="node25.items.slot-001.text"/>
            <p:cNvSpPr/>
            <p:nvPr/>
          </p:nvSpPr>
          <p:spPr>
            <a:xfrm>
              <a:off x="1775966" y="5715000"/>
              <a:ext cx="354013"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None</a:t>
              </a:r>
              <a:endParaRPr lang="en-US" sz="1000" spc="0" kern="0" b="0" i="0" dirty="0">
                <a:solidFill>
                  <a:srgbClr val="070154"/>
                </a:solidFill>
                <a:latin typeface="IBM Plex Sans"/>
                <a:ea typeface="IBM Plex Sans"/>
                <a:cs typeface="IBM Plex Sans"/>
              </a:endParaRPr>
            </a:p>
          </p:txBody>
        </p:sp>
        <p:sp>
          <p:nvSpPr>
            <p:cNvPr id="57" name="node25.items.slot-002.swatch"/>
            <p:cNvSpPr/>
            <p:nvPr/>
          </p:nvSpPr>
          <p:spPr>
            <a:xfrm>
              <a:off x="2358579" y="5734050"/>
              <a:ext cx="228600" cy="127000"/>
            </a:xfrm>
            <a:prstGeom prst="rect">
              <a:avLst/>
            </a:prstGeom>
            <a:solidFill>
              <a:srgbClr val="B9C9F0"/>
            </a:solidFill>
            <a:ln>
              <a:noFill/>
            </a:ln>
          </p:spPr>
        </p:sp>
        <p:sp>
          <p:nvSpPr>
            <p:cNvPr id="58" name="node25.items.slot-002.text"/>
            <p:cNvSpPr/>
            <p:nvPr/>
          </p:nvSpPr>
          <p:spPr>
            <a:xfrm>
              <a:off x="2650679" y="5715000"/>
              <a:ext cx="282575"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Low</a:t>
              </a:r>
              <a:endParaRPr lang="en-US" sz="1000" spc="0" kern="0" b="0" i="0" dirty="0">
                <a:solidFill>
                  <a:srgbClr val="070154"/>
                </a:solidFill>
                <a:latin typeface="IBM Plex Sans"/>
                <a:ea typeface="IBM Plex Sans"/>
                <a:cs typeface="IBM Plex Sans"/>
              </a:endParaRPr>
            </a:p>
          </p:txBody>
        </p:sp>
        <p:sp>
          <p:nvSpPr>
            <p:cNvPr id="59" name="node25.items.slot-003.swatch"/>
            <p:cNvSpPr/>
            <p:nvPr/>
          </p:nvSpPr>
          <p:spPr>
            <a:xfrm>
              <a:off x="3161854" y="5734050"/>
              <a:ext cx="228600" cy="127000"/>
            </a:xfrm>
            <a:prstGeom prst="rect">
              <a:avLst/>
            </a:prstGeom>
            <a:solidFill>
              <a:srgbClr val="7C9BFF"/>
            </a:solidFill>
            <a:ln>
              <a:noFill/>
            </a:ln>
          </p:spPr>
        </p:sp>
        <p:sp>
          <p:nvSpPr>
            <p:cNvPr id="60" name="node25.items.slot-003.text"/>
            <p:cNvSpPr/>
            <p:nvPr/>
          </p:nvSpPr>
          <p:spPr>
            <a:xfrm>
              <a:off x="3453954" y="5715000"/>
              <a:ext cx="511175"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Medium</a:t>
              </a:r>
              <a:endParaRPr lang="en-US" sz="1000" spc="0" kern="0" b="0" i="0" dirty="0">
                <a:solidFill>
                  <a:srgbClr val="070154"/>
                </a:solidFill>
                <a:latin typeface="IBM Plex Sans"/>
                <a:ea typeface="IBM Plex Sans"/>
                <a:cs typeface="IBM Plex Sans"/>
              </a:endParaRPr>
            </a:p>
          </p:txBody>
        </p:sp>
        <p:sp>
          <p:nvSpPr>
            <p:cNvPr id="61" name="node25.items.slot-004.swatch"/>
            <p:cNvSpPr/>
            <p:nvPr/>
          </p:nvSpPr>
          <p:spPr>
            <a:xfrm>
              <a:off x="4193729" y="5734050"/>
              <a:ext cx="228600" cy="127000"/>
            </a:xfrm>
            <a:prstGeom prst="rect">
              <a:avLst/>
            </a:prstGeom>
            <a:solidFill>
              <a:srgbClr val="0047FF"/>
            </a:solidFill>
            <a:ln>
              <a:noFill/>
            </a:ln>
          </p:spPr>
        </p:sp>
        <p:sp>
          <p:nvSpPr>
            <p:cNvPr id="62" name="node25.items.slot-004.text"/>
            <p:cNvSpPr/>
            <p:nvPr/>
          </p:nvSpPr>
          <p:spPr>
            <a:xfrm>
              <a:off x="4485829" y="5715000"/>
              <a:ext cx="311150"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High</a:t>
              </a:r>
              <a:endParaRPr lang="en-US" sz="1000" spc="0" kern="0" b="0" i="0" dirty="0">
                <a:solidFill>
                  <a:srgbClr val="070154"/>
                </a:solidFill>
                <a:latin typeface="IBM Plex Sans"/>
                <a:ea typeface="IBM Plex Sans"/>
                <a:cs typeface="IBM Plex Sans"/>
              </a:endParaRPr>
            </a:p>
          </p:txBody>
        </p:sp>
        <p:sp>
          <p:nvSpPr>
            <p:cNvPr id="63" name="node25.items.slot-005.swatch"/>
            <p:cNvSpPr/>
            <p:nvPr/>
          </p:nvSpPr>
          <p:spPr>
            <a:xfrm>
              <a:off x="5025579" y="5734050"/>
              <a:ext cx="228600" cy="127000"/>
            </a:xfrm>
            <a:prstGeom prst="rect">
              <a:avLst/>
            </a:prstGeom>
            <a:solidFill>
              <a:srgbClr val="070154"/>
            </a:solidFill>
            <a:ln>
              <a:noFill/>
            </a:ln>
          </p:spPr>
        </p:sp>
        <p:sp>
          <p:nvSpPr>
            <p:cNvPr id="64" name="node25.items.slot-005.text"/>
            <p:cNvSpPr/>
            <p:nvPr/>
          </p:nvSpPr>
          <p:spPr>
            <a:xfrm>
              <a:off x="5317679" y="5715000"/>
              <a:ext cx="268288" cy="165100"/>
            </a:xfrm>
            <a:prstGeom prst="rect">
              <a:avLst/>
            </a:prstGeom>
            <a:noFill/>
            <a:ln/>
          </p:spPr>
          <p:txBody>
            <a:bodyPr wrap="square" lIns="0" tIns="0" rIns="0" bIns="0" rtlCol="0" anchor="t"/>
            <a:lstStyle/>
            <a:p>
              <a:pPr algn="l" indent="0" marL="0">
                <a:lnSpc>
                  <a:spcPts val="1300"/>
                </a:lnSpc>
                <a:buNone/>
              </a:pPr>
              <a:r>
                <a:rPr lang="en-US" sz="1000" spc="0" kern="0" b="0" i="0" dirty="0">
                  <a:solidFill>
                    <a:srgbClr val="070154"/>
                  </a:solidFill>
                  <a:latin typeface="IBM Plex Sans"/>
                  <a:ea typeface="IBM Plex Sans"/>
                  <a:cs typeface="IBM Plex Sans"/>
                </a:rPr>
                <a:t>Top</a:t>
              </a:r>
              <a:endParaRPr lang="en-US" sz="1000" spc="0" kern="0" b="0" i="0" dirty="0">
                <a:solidFill>
                  <a:srgbClr val="070154"/>
                </a:solidFill>
                <a:latin typeface="IBM Plex Sans"/>
                <a:ea typeface="IBM Plex Sans"/>
                <a:cs typeface="IBM Plex Sans"/>
              </a:endParaRPr>
            </a:p>
          </p:txBody>
        </p:sp>
      </p:grpSp>
      <p:grpSp>
        <p:nvGrpSpPr>
          <p:cNvPr id="102" name="node26"/>
          <p:cNvGrpSpPr/>
          <p:nvPr/>
        </p:nvGrpSpPr>
        <p:grpSpPr>
          <a:xfrm>
            <a:off x="8039100" y="1600200"/>
            <a:ext cx="3429000" cy="1219200"/>
            <a:chOff x="8039100" y="1600200"/>
            <a:chExt cx="3429000" cy="1219200"/>
          </a:xfrm>
        </p:grpSpPr>
        <p:sp>
          <p:nvSpPr>
            <p:cNvPr id="65" name="node26.container"/>
            <p:cNvSpPr/>
            <p:nvPr/>
          </p:nvSpPr>
          <p:spPr>
            <a:xfrm>
              <a:off x="8039100" y="1600200"/>
              <a:ext cx="3429000" cy="1219200"/>
            </a:xfrm>
            <a:prstGeom prst="rect">
              <a:avLst/>
            </a:prstGeom>
            <a:solidFill>
              <a:srgbClr val="E8EEF8"/>
            </a:solidFill>
            <a:ln>
              <a:noFill/>
            </a:ln>
          </p:spPr>
        </p:sp>
        <p:sp>
          <p:nvSpPr>
            <p:cNvPr id="66" name="node26.label"/>
            <p:cNvSpPr/>
            <p:nvPr/>
          </p:nvSpPr>
          <p:spPr>
            <a:xfrm>
              <a:off x="8191500" y="1752600"/>
              <a:ext cx="31242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0047FF"/>
                  </a:solidFill>
                  <a:latin typeface="IBM Plex Mono Medium"/>
                  <a:ea typeface="IBM Plex Mono Medium"/>
                  <a:cs typeface="IBM Plex Mono Medium"/>
                </a:rPr>
                <a:t>HIGHEST PRIORITY</a:t>
              </a:r>
              <a:endParaRPr lang="en-US" sz="800" spc="48" kern="0" b="0" i="0" dirty="0">
                <a:solidFill>
                  <a:srgbClr val="0047FF"/>
                </a:solidFill>
                <a:latin typeface="IBM Plex Mono Medium"/>
                <a:ea typeface="IBM Plex Mono Medium"/>
                <a:cs typeface="IBM Plex Mono Medium"/>
              </a:endParaRPr>
            </a:p>
          </p:txBody>
        </p:sp>
        <p:sp>
          <p:nvSpPr>
            <p:cNvPr id="67" name="node26.title"/>
            <p:cNvSpPr/>
            <p:nvPr/>
          </p:nvSpPr>
          <p:spPr>
            <a:xfrm>
              <a:off x="8191500" y="1955800"/>
              <a:ext cx="31242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070154"/>
                  </a:solidFill>
                  <a:latin typeface="IBM Plex Mono Medium"/>
                  <a:ea typeface="IBM Plex Mono Medium"/>
                  <a:cs typeface="IBM Plex Mono Medium"/>
                </a:rPr>
                <a:t>DENIALS AND MASTER DATA</a:t>
              </a:r>
              <a:endParaRPr lang="en-US" sz="800" spc="48" kern="0" b="0" i="0" dirty="0">
                <a:solidFill>
                  <a:srgbClr val="070154"/>
                </a:solidFill>
                <a:latin typeface="IBM Plex Mono Medium"/>
                <a:ea typeface="IBM Plex Mono Medium"/>
                <a:cs typeface="IBM Plex Mono Medium"/>
              </a:endParaRPr>
            </a:p>
          </p:txBody>
        </p:sp>
        <p:sp>
          <p:nvSpPr>
            <p:cNvPr id="68" name="node26.body.item-001.paragraph"/>
            <p:cNvSpPr/>
            <p:nvPr/>
          </p:nvSpPr>
          <p:spPr>
            <a:xfrm>
              <a:off x="8191500" y="2235200"/>
              <a:ext cx="3124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Both sit at the top and feed each other: bad data drives denials.</a:t>
              </a:r>
              <a:endParaRPr lang="en-US" sz="1100" spc="0" kern="0" b="0" i="0" dirty="0">
                <a:solidFill>
                  <a:srgbClr val="50658E"/>
                </a:solidFill>
                <a:latin typeface="IBM Plex Sans"/>
                <a:ea typeface="IBM Plex Sans"/>
                <a:cs typeface="IBM Plex Sans"/>
              </a:endParaRPr>
            </a:p>
          </p:txBody>
        </p:sp>
      </p:grpSp>
      <p:grpSp>
        <p:nvGrpSpPr>
          <p:cNvPr id="103" name="node27"/>
          <p:cNvGrpSpPr/>
          <p:nvPr/>
        </p:nvGrpSpPr>
        <p:grpSpPr>
          <a:xfrm>
            <a:off x="8039100" y="2971800"/>
            <a:ext cx="3429000" cy="1219200"/>
            <a:chOff x="8039100" y="2971800"/>
            <a:chExt cx="3429000" cy="1219200"/>
          </a:xfrm>
        </p:grpSpPr>
        <p:sp>
          <p:nvSpPr>
            <p:cNvPr id="69" name="node27.container"/>
            <p:cNvSpPr/>
            <p:nvPr/>
          </p:nvSpPr>
          <p:spPr>
            <a:xfrm>
              <a:off x="8039100" y="2971800"/>
              <a:ext cx="3429000" cy="1219200"/>
            </a:xfrm>
            <a:prstGeom prst="rect">
              <a:avLst/>
            </a:prstGeom>
            <a:solidFill>
              <a:srgbClr val="E8EEF8"/>
            </a:solidFill>
            <a:ln>
              <a:noFill/>
            </a:ln>
          </p:spPr>
        </p:sp>
        <p:sp>
          <p:nvSpPr>
            <p:cNvPr id="70" name="node27.label"/>
            <p:cNvSpPr/>
            <p:nvPr/>
          </p:nvSpPr>
          <p:spPr>
            <a:xfrm>
              <a:off x="8191500" y="3124200"/>
              <a:ext cx="31242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0047FF"/>
                  </a:solidFill>
                  <a:latin typeface="IBM Plex Mono Medium"/>
                  <a:ea typeface="IBM Plex Mono Medium"/>
                  <a:cs typeface="IBM Plex Mono Medium"/>
                </a:rPr>
                <a:t>QUICK WIN</a:t>
              </a:r>
              <a:endParaRPr lang="en-US" sz="800" spc="48" kern="0" b="0" i="0" dirty="0">
                <a:solidFill>
                  <a:srgbClr val="0047FF"/>
                </a:solidFill>
                <a:latin typeface="IBM Plex Mono Medium"/>
                <a:ea typeface="IBM Plex Mono Medium"/>
                <a:cs typeface="IBM Plex Mono Medium"/>
              </a:endParaRPr>
            </a:p>
          </p:txBody>
        </p:sp>
        <p:sp>
          <p:nvSpPr>
            <p:cNvPr id="71" name="node27.title"/>
            <p:cNvSpPr/>
            <p:nvPr/>
          </p:nvSpPr>
          <p:spPr>
            <a:xfrm>
              <a:off x="8191500" y="3327400"/>
              <a:ext cx="31242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070154"/>
                  </a:solidFill>
                  <a:latin typeface="IBM Plex Mono Medium"/>
                  <a:ea typeface="IBM Plex Mono Medium"/>
                  <a:cs typeface="IBM Plex Mono Medium"/>
                </a:rPr>
                <a:t>SELF-SCHEDULING</a:t>
              </a:r>
              <a:endParaRPr lang="en-US" sz="800" spc="48" kern="0" b="0" i="0" dirty="0">
                <a:solidFill>
                  <a:srgbClr val="070154"/>
                </a:solidFill>
                <a:latin typeface="IBM Plex Mono Medium"/>
                <a:ea typeface="IBM Plex Mono Medium"/>
                <a:cs typeface="IBM Plex Mono Medium"/>
              </a:endParaRPr>
            </a:p>
          </p:txBody>
        </p:sp>
        <p:sp>
          <p:nvSpPr>
            <p:cNvPr id="72" name="node27.body.item-001.paragraph"/>
            <p:cNvSpPr/>
            <p:nvPr/>
          </p:nvSpPr>
          <p:spPr>
            <a:xfrm>
              <a:off x="8191500" y="3606800"/>
              <a:ext cx="3124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Highest access need and the lowest build effort in the map.</a:t>
              </a:r>
              <a:endParaRPr lang="en-US" sz="1100" spc="0" kern="0" b="0" i="0" dirty="0">
                <a:solidFill>
                  <a:srgbClr val="50658E"/>
                </a:solidFill>
                <a:latin typeface="IBM Plex Sans"/>
                <a:ea typeface="IBM Plex Sans"/>
                <a:cs typeface="IBM Plex Sans"/>
              </a:endParaRPr>
            </a:p>
          </p:txBody>
        </p:sp>
      </p:grpSp>
      <p:grpSp>
        <p:nvGrpSpPr>
          <p:cNvPr id="104" name="node28"/>
          <p:cNvGrpSpPr/>
          <p:nvPr/>
        </p:nvGrpSpPr>
        <p:grpSpPr>
          <a:xfrm>
            <a:off x="8039100" y="4343400"/>
            <a:ext cx="3429000" cy="1219200"/>
            <a:chOff x="8039100" y="4343400"/>
            <a:chExt cx="3429000" cy="1219200"/>
          </a:xfrm>
        </p:grpSpPr>
        <p:sp>
          <p:nvSpPr>
            <p:cNvPr id="73" name="node28.container"/>
            <p:cNvSpPr/>
            <p:nvPr/>
          </p:nvSpPr>
          <p:spPr>
            <a:xfrm>
              <a:off x="8039100" y="4343400"/>
              <a:ext cx="3429000" cy="1219200"/>
            </a:xfrm>
            <a:prstGeom prst="rect">
              <a:avLst/>
            </a:prstGeom>
            <a:solidFill>
              <a:srgbClr val="E8EEF8"/>
            </a:solidFill>
            <a:ln>
              <a:noFill/>
            </a:ln>
          </p:spPr>
        </p:sp>
        <p:sp>
          <p:nvSpPr>
            <p:cNvPr id="74" name="node28.label"/>
            <p:cNvSpPr/>
            <p:nvPr/>
          </p:nvSpPr>
          <p:spPr>
            <a:xfrm>
              <a:off x="8191500" y="4495800"/>
              <a:ext cx="31242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0047FF"/>
                  </a:solidFill>
                  <a:latin typeface="IBM Plex Mono Medium"/>
                  <a:ea typeface="IBM Plex Mono Medium"/>
                  <a:cs typeface="IBM Plex Mono Medium"/>
                </a:rPr>
                <a:t>HOLD</a:t>
              </a:r>
              <a:endParaRPr lang="en-US" sz="800" spc="48" kern="0" b="0" i="0" dirty="0">
                <a:solidFill>
                  <a:srgbClr val="0047FF"/>
                </a:solidFill>
                <a:latin typeface="IBM Plex Mono Medium"/>
                <a:ea typeface="IBM Plex Mono Medium"/>
                <a:cs typeface="IBM Plex Mono Medium"/>
              </a:endParaRPr>
            </a:p>
          </p:txBody>
        </p:sp>
        <p:sp>
          <p:nvSpPr>
            <p:cNvPr id="75" name="node28.title"/>
            <p:cNvSpPr/>
            <p:nvPr/>
          </p:nvSpPr>
          <p:spPr>
            <a:xfrm>
              <a:off x="8191500" y="4699000"/>
              <a:ext cx="3124200" cy="127000"/>
            </a:xfrm>
            <a:prstGeom prst="rect">
              <a:avLst/>
            </a:prstGeom>
            <a:noFill/>
            <a:ln/>
          </p:spPr>
          <p:txBody>
            <a:bodyPr wrap="square" lIns="0" tIns="0" rIns="0" bIns="0" rtlCol="0" anchor="t"/>
            <a:lstStyle/>
            <a:p>
              <a:pPr algn="l" indent="0" marL="0">
                <a:lnSpc>
                  <a:spcPts val="1000"/>
                </a:lnSpc>
                <a:buNone/>
              </a:pPr>
              <a:r>
                <a:rPr lang="en-US" sz="800" spc="48" kern="0" b="0" i="0" dirty="0">
                  <a:solidFill>
                    <a:srgbClr val="070154"/>
                  </a:solidFill>
                  <a:latin typeface="IBM Plex Mono Medium"/>
                  <a:ea typeface="IBM Plex Mono Medium"/>
                  <a:cs typeface="IBM Plex Mono Medium"/>
                </a:rPr>
                <a:t>CONTRACTS AND CLAIMS</a:t>
              </a:r>
              <a:endParaRPr lang="en-US" sz="800" spc="48" kern="0" b="0" i="0" dirty="0">
                <a:solidFill>
                  <a:srgbClr val="070154"/>
                </a:solidFill>
                <a:latin typeface="IBM Plex Mono Medium"/>
                <a:ea typeface="IBM Plex Mono Medium"/>
                <a:cs typeface="IBM Plex Mono Medium"/>
              </a:endParaRPr>
            </a:p>
          </p:txBody>
        </p:sp>
        <p:sp>
          <p:nvSpPr>
            <p:cNvPr id="76" name="node28.body.item-001.paragraph"/>
            <p:cNvSpPr/>
            <p:nvPr/>
          </p:nvSpPr>
          <p:spPr>
            <a:xfrm>
              <a:off x="8191500" y="4978400"/>
              <a:ext cx="3124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Already working; revisit after the revenue cycle program.</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ource-144">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RESILIENCE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Recovery is the weakest control</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66</a:t>
            </a:fld>
            <a:endParaRPr lang="en-US" sz="700" spc="0" kern="0" b="0" i="0" dirty="0">
              <a:solidFill>
                <a:srgbClr val="070154"/>
              </a:solidFill>
              <a:latin typeface="IBM Plex Mono SemiBold"/>
              <a:ea typeface="IBM Plex Mono SemiBold"/>
              <a:cs typeface="IBM Plex Mono SemiBold"/>
            </a:endParaRPr>
          </a:p>
        </p:txBody>
      </p:sp>
      <p:grpSp>
        <p:nvGrpSpPr>
          <p:cNvPr id="65" name="node01"/>
          <p:cNvGrpSpPr/>
          <p:nvPr/>
        </p:nvGrpSpPr>
        <p:grpSpPr>
          <a:xfrm>
            <a:off x="723900" y="1600200"/>
            <a:ext cx="2514600" cy="139700"/>
            <a:chOff x="723900" y="1600200"/>
            <a:chExt cx="2514600" cy="139700"/>
          </a:xfrm>
        </p:grpSpPr>
        <p:sp>
          <p:nvSpPr>
            <p:cNvPr id="6" name="node01.text"/>
            <p:cNvSpPr/>
            <p:nvPr/>
          </p:nvSpPr>
          <p:spPr>
            <a:xfrm>
              <a:off x="7239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TAKEAWAY</a:t>
              </a:r>
              <a:endParaRPr lang="en-US" sz="800" spc="48" kern="0" b="0" i="0" dirty="0">
                <a:solidFill>
                  <a:srgbClr val="CED7E6"/>
                </a:solidFill>
                <a:latin typeface="IBM Plex Mono Medium"/>
                <a:ea typeface="IBM Plex Mono Medium"/>
                <a:cs typeface="IBM Plex Mono Medium"/>
              </a:endParaRPr>
            </a:p>
          </p:txBody>
        </p:sp>
      </p:grpSp>
      <p:grpSp>
        <p:nvGrpSpPr>
          <p:cNvPr id="66" name="node02"/>
          <p:cNvGrpSpPr/>
          <p:nvPr/>
        </p:nvGrpSpPr>
        <p:grpSpPr>
          <a:xfrm>
            <a:off x="723900" y="2057400"/>
            <a:ext cx="2514600" cy="990600"/>
            <a:chOff x="723900" y="2057400"/>
            <a:chExt cx="2514600" cy="990600"/>
          </a:xfrm>
        </p:grpSpPr>
        <p:sp>
          <p:nvSpPr>
            <p:cNvPr id="7" name="node02.text"/>
            <p:cNvSpPr/>
            <p:nvPr/>
          </p:nvSpPr>
          <p:spPr>
            <a:xfrm>
              <a:off x="723900" y="2057400"/>
              <a:ext cx="2514600" cy="9906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FFFFF"/>
                  </a:solidFill>
                  <a:latin typeface="IBM Plex Sans SemiBold"/>
                  <a:ea typeface="IBM Plex Sans SemiBold"/>
                  <a:cs typeface="IBM Plex Sans SemiBold"/>
                </a:rPr>
                <a:t>Four of five clinical systems have never tested a recovery.</a:t>
              </a:r>
              <a:endParaRPr lang="en-US" sz="2100" spc="-32" kern="0" b="0" i="0" dirty="0">
                <a:solidFill>
                  <a:srgbClr val="FFFFFF"/>
                </a:solidFill>
                <a:latin typeface="IBM Plex Sans SemiBold"/>
                <a:ea typeface="IBM Plex Sans SemiBold"/>
                <a:cs typeface="IBM Plex Sans SemiBold"/>
              </a:endParaRPr>
            </a:p>
          </p:txBody>
        </p:sp>
      </p:grpSp>
      <p:grpSp>
        <p:nvGrpSpPr>
          <p:cNvPr id="67" name="node03"/>
          <p:cNvGrpSpPr/>
          <p:nvPr/>
        </p:nvGrpSpPr>
        <p:grpSpPr>
          <a:xfrm>
            <a:off x="723900" y="4343400"/>
            <a:ext cx="2514600" cy="381000"/>
            <a:chOff x="723900" y="4343400"/>
            <a:chExt cx="2514600" cy="381000"/>
          </a:xfrm>
        </p:grpSpPr>
        <p:sp>
          <p:nvSpPr>
            <p:cNvPr id="8" name="node03.text"/>
            <p:cNvSpPr/>
            <p:nvPr/>
          </p:nvSpPr>
          <p:spPr>
            <a:xfrm>
              <a:off x="723900" y="4343400"/>
              <a:ext cx="2514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Backups exist; the untested failover is the exposure.</a:t>
              </a:r>
              <a:endParaRPr lang="en-US" sz="1100" spc="0" kern="0" b="0" i="0" dirty="0">
                <a:solidFill>
                  <a:srgbClr val="FFFFFF"/>
                </a:solidFill>
                <a:latin typeface="IBM Plex Sans"/>
                <a:ea typeface="IBM Plex Sans"/>
                <a:cs typeface="IBM Plex Sans"/>
              </a:endParaRPr>
            </a:p>
          </p:txBody>
        </p:sp>
      </p:grpSp>
      <p:grpSp>
        <p:nvGrpSpPr>
          <p:cNvPr id="68" name="node04"/>
          <p:cNvGrpSpPr/>
          <p:nvPr/>
        </p:nvGrpSpPr>
        <p:grpSpPr>
          <a:xfrm>
            <a:off x="4381500" y="1600200"/>
            <a:ext cx="7086600" cy="2743200"/>
            <a:chOff x="4381500" y="1600200"/>
            <a:chExt cx="7086600" cy="2743200"/>
          </a:xfrm>
        </p:grpSpPr>
        <p:sp>
          <p:nvSpPr>
            <p:cNvPr id="9" name="node04.row.item-001.c1.heat-gap"/>
            <p:cNvSpPr/>
            <p:nvPr/>
          </p:nvSpPr>
          <p:spPr>
            <a:xfrm>
              <a:off x="6362700" y="2057400"/>
              <a:ext cx="1276350" cy="457200"/>
            </a:xfrm>
            <a:prstGeom prst="rect">
              <a:avLst/>
            </a:prstGeom>
            <a:solidFill>
              <a:srgbClr val="FFFFFF"/>
            </a:solidFill>
            <a:ln>
              <a:noFill/>
            </a:ln>
          </p:spPr>
        </p:sp>
        <p:sp>
          <p:nvSpPr>
            <p:cNvPr id="10" name="node04.row.item-001.c1.heat"/>
            <p:cNvSpPr/>
            <p:nvPr/>
          </p:nvSpPr>
          <p:spPr>
            <a:xfrm>
              <a:off x="6381750" y="2076450"/>
              <a:ext cx="1238250" cy="419100"/>
            </a:xfrm>
            <a:prstGeom prst="rect">
              <a:avLst/>
            </a:prstGeom>
            <a:solidFill>
              <a:srgbClr val="CED7E6"/>
            </a:solidFill>
            <a:ln>
              <a:noFill/>
            </a:ln>
          </p:spPr>
        </p:sp>
        <p:sp>
          <p:nvSpPr>
            <p:cNvPr id="11" name="node04.row.item-001.c2.heat-gap"/>
            <p:cNvSpPr/>
            <p:nvPr/>
          </p:nvSpPr>
          <p:spPr>
            <a:xfrm>
              <a:off x="7639050" y="2057400"/>
              <a:ext cx="1276350" cy="457200"/>
            </a:xfrm>
            <a:prstGeom prst="rect">
              <a:avLst/>
            </a:prstGeom>
            <a:solidFill>
              <a:srgbClr val="FFFFFF"/>
            </a:solidFill>
            <a:ln>
              <a:noFill/>
            </a:ln>
          </p:spPr>
        </p:sp>
        <p:sp>
          <p:nvSpPr>
            <p:cNvPr id="12" name="node04.row.item-001.c2.heat"/>
            <p:cNvSpPr/>
            <p:nvPr/>
          </p:nvSpPr>
          <p:spPr>
            <a:xfrm>
              <a:off x="7658100" y="2076450"/>
              <a:ext cx="1238250" cy="419100"/>
            </a:xfrm>
            <a:prstGeom prst="rect">
              <a:avLst/>
            </a:prstGeom>
            <a:solidFill>
              <a:srgbClr val="F3D6EE"/>
            </a:solidFill>
            <a:ln>
              <a:noFill/>
            </a:ln>
          </p:spPr>
        </p:sp>
        <p:sp>
          <p:nvSpPr>
            <p:cNvPr id="13" name="node04.row.item-001.c3.heat-gap"/>
            <p:cNvSpPr/>
            <p:nvPr/>
          </p:nvSpPr>
          <p:spPr>
            <a:xfrm>
              <a:off x="8915400" y="2057400"/>
              <a:ext cx="1276350" cy="457200"/>
            </a:xfrm>
            <a:prstGeom prst="rect">
              <a:avLst/>
            </a:prstGeom>
            <a:solidFill>
              <a:srgbClr val="FFFFFF"/>
            </a:solidFill>
            <a:ln>
              <a:noFill/>
            </a:ln>
          </p:spPr>
        </p:sp>
        <p:sp>
          <p:nvSpPr>
            <p:cNvPr id="14" name="node04.row.item-001.c3.heat"/>
            <p:cNvSpPr/>
            <p:nvPr/>
          </p:nvSpPr>
          <p:spPr>
            <a:xfrm>
              <a:off x="8934450" y="2076450"/>
              <a:ext cx="1238250" cy="419100"/>
            </a:xfrm>
            <a:prstGeom prst="rect">
              <a:avLst/>
            </a:prstGeom>
            <a:solidFill>
              <a:srgbClr val="F900D3"/>
            </a:solidFill>
            <a:ln>
              <a:noFill/>
            </a:ln>
          </p:spPr>
        </p:sp>
        <p:sp>
          <p:nvSpPr>
            <p:cNvPr id="15" name="node04.row.item-001.c4.heat-gap"/>
            <p:cNvSpPr/>
            <p:nvPr/>
          </p:nvSpPr>
          <p:spPr>
            <a:xfrm>
              <a:off x="10191750" y="2057400"/>
              <a:ext cx="1276350" cy="457200"/>
            </a:xfrm>
            <a:prstGeom prst="rect">
              <a:avLst/>
            </a:prstGeom>
            <a:solidFill>
              <a:srgbClr val="FFFFFF"/>
            </a:solidFill>
            <a:ln>
              <a:noFill/>
            </a:ln>
          </p:spPr>
        </p:sp>
        <p:sp>
          <p:nvSpPr>
            <p:cNvPr id="16" name="node04.row.item-001.c4.heat"/>
            <p:cNvSpPr/>
            <p:nvPr/>
          </p:nvSpPr>
          <p:spPr>
            <a:xfrm>
              <a:off x="10210800" y="2076450"/>
              <a:ext cx="1238250" cy="419100"/>
            </a:xfrm>
            <a:prstGeom prst="rect">
              <a:avLst/>
            </a:prstGeom>
            <a:solidFill>
              <a:srgbClr val="CED7E6"/>
            </a:solidFill>
            <a:ln>
              <a:noFill/>
            </a:ln>
          </p:spPr>
        </p:sp>
        <p:sp>
          <p:nvSpPr>
            <p:cNvPr id="17" name="node04.row.item-002.c1.heat-gap"/>
            <p:cNvSpPr/>
            <p:nvPr/>
          </p:nvSpPr>
          <p:spPr>
            <a:xfrm>
              <a:off x="6362700" y="2514600"/>
              <a:ext cx="1276350" cy="457200"/>
            </a:xfrm>
            <a:prstGeom prst="rect">
              <a:avLst/>
            </a:prstGeom>
            <a:solidFill>
              <a:srgbClr val="FFFFFF"/>
            </a:solidFill>
            <a:ln>
              <a:noFill/>
            </a:ln>
          </p:spPr>
        </p:sp>
        <p:sp>
          <p:nvSpPr>
            <p:cNvPr id="18" name="node04.row.item-002.c1.heat"/>
            <p:cNvSpPr/>
            <p:nvPr/>
          </p:nvSpPr>
          <p:spPr>
            <a:xfrm>
              <a:off x="6381750" y="2533650"/>
              <a:ext cx="1238250" cy="419100"/>
            </a:xfrm>
            <a:prstGeom prst="rect">
              <a:avLst/>
            </a:prstGeom>
            <a:solidFill>
              <a:srgbClr val="F3D6EE"/>
            </a:solidFill>
            <a:ln>
              <a:noFill/>
            </a:ln>
          </p:spPr>
        </p:sp>
        <p:sp>
          <p:nvSpPr>
            <p:cNvPr id="19" name="node04.row.item-002.c2.heat-gap"/>
            <p:cNvSpPr/>
            <p:nvPr/>
          </p:nvSpPr>
          <p:spPr>
            <a:xfrm>
              <a:off x="7639050" y="2514600"/>
              <a:ext cx="1276350" cy="457200"/>
            </a:xfrm>
            <a:prstGeom prst="rect">
              <a:avLst/>
            </a:prstGeom>
            <a:solidFill>
              <a:srgbClr val="FFFFFF"/>
            </a:solidFill>
            <a:ln>
              <a:noFill/>
            </a:ln>
          </p:spPr>
        </p:sp>
        <p:sp>
          <p:nvSpPr>
            <p:cNvPr id="20" name="node04.row.item-002.c2.heat"/>
            <p:cNvSpPr/>
            <p:nvPr/>
          </p:nvSpPr>
          <p:spPr>
            <a:xfrm>
              <a:off x="7658100" y="2533650"/>
              <a:ext cx="1238250" cy="419100"/>
            </a:xfrm>
            <a:prstGeom prst="rect">
              <a:avLst/>
            </a:prstGeom>
            <a:solidFill>
              <a:srgbClr val="FB7FE8"/>
            </a:solidFill>
            <a:ln>
              <a:noFill/>
            </a:ln>
          </p:spPr>
        </p:sp>
        <p:sp>
          <p:nvSpPr>
            <p:cNvPr id="21" name="node04.row.item-002.c3.heat-gap"/>
            <p:cNvSpPr/>
            <p:nvPr/>
          </p:nvSpPr>
          <p:spPr>
            <a:xfrm>
              <a:off x="8915400" y="2514600"/>
              <a:ext cx="1276350" cy="457200"/>
            </a:xfrm>
            <a:prstGeom prst="rect">
              <a:avLst/>
            </a:prstGeom>
            <a:solidFill>
              <a:srgbClr val="FFFFFF"/>
            </a:solidFill>
            <a:ln>
              <a:noFill/>
            </a:ln>
          </p:spPr>
        </p:sp>
        <p:sp>
          <p:nvSpPr>
            <p:cNvPr id="22" name="node04.row.item-002.c3.heat"/>
            <p:cNvSpPr/>
            <p:nvPr/>
          </p:nvSpPr>
          <p:spPr>
            <a:xfrm>
              <a:off x="8934450" y="2533650"/>
              <a:ext cx="1238250" cy="419100"/>
            </a:xfrm>
            <a:prstGeom prst="rect">
              <a:avLst/>
            </a:prstGeom>
            <a:solidFill>
              <a:srgbClr val="FB7FE8"/>
            </a:solidFill>
            <a:ln>
              <a:noFill/>
            </a:ln>
          </p:spPr>
        </p:sp>
        <p:sp>
          <p:nvSpPr>
            <p:cNvPr id="23" name="node04.row.item-002.c4.heat-gap"/>
            <p:cNvSpPr/>
            <p:nvPr/>
          </p:nvSpPr>
          <p:spPr>
            <a:xfrm>
              <a:off x="10191750" y="2514600"/>
              <a:ext cx="1276350" cy="457200"/>
            </a:xfrm>
            <a:prstGeom prst="rect">
              <a:avLst/>
            </a:prstGeom>
            <a:solidFill>
              <a:srgbClr val="FFFFFF"/>
            </a:solidFill>
            <a:ln>
              <a:noFill/>
            </a:ln>
          </p:spPr>
        </p:sp>
        <p:sp>
          <p:nvSpPr>
            <p:cNvPr id="24" name="node04.row.item-002.c4.heat"/>
            <p:cNvSpPr/>
            <p:nvPr/>
          </p:nvSpPr>
          <p:spPr>
            <a:xfrm>
              <a:off x="10210800" y="2533650"/>
              <a:ext cx="1238250" cy="419100"/>
            </a:xfrm>
            <a:prstGeom prst="rect">
              <a:avLst/>
            </a:prstGeom>
            <a:solidFill>
              <a:srgbClr val="CED7E6"/>
            </a:solidFill>
            <a:ln>
              <a:noFill/>
            </a:ln>
          </p:spPr>
        </p:sp>
        <p:sp>
          <p:nvSpPr>
            <p:cNvPr id="25" name="node04.row.item-003.c1.heat-gap"/>
            <p:cNvSpPr/>
            <p:nvPr/>
          </p:nvSpPr>
          <p:spPr>
            <a:xfrm>
              <a:off x="6362700" y="2971800"/>
              <a:ext cx="1276350" cy="457200"/>
            </a:xfrm>
            <a:prstGeom prst="rect">
              <a:avLst/>
            </a:prstGeom>
            <a:solidFill>
              <a:srgbClr val="FFFFFF"/>
            </a:solidFill>
            <a:ln>
              <a:noFill/>
            </a:ln>
          </p:spPr>
        </p:sp>
        <p:sp>
          <p:nvSpPr>
            <p:cNvPr id="26" name="node04.row.item-003.c1.heat"/>
            <p:cNvSpPr/>
            <p:nvPr/>
          </p:nvSpPr>
          <p:spPr>
            <a:xfrm>
              <a:off x="6381750" y="2990850"/>
              <a:ext cx="1238250" cy="419100"/>
            </a:xfrm>
            <a:prstGeom prst="rect">
              <a:avLst/>
            </a:prstGeom>
            <a:solidFill>
              <a:srgbClr val="CED7E6"/>
            </a:solidFill>
            <a:ln>
              <a:noFill/>
            </a:ln>
          </p:spPr>
        </p:sp>
        <p:sp>
          <p:nvSpPr>
            <p:cNvPr id="27" name="node04.row.item-003.c2.heat-gap"/>
            <p:cNvSpPr/>
            <p:nvPr/>
          </p:nvSpPr>
          <p:spPr>
            <a:xfrm>
              <a:off x="7639050" y="2971800"/>
              <a:ext cx="1276350" cy="457200"/>
            </a:xfrm>
            <a:prstGeom prst="rect">
              <a:avLst/>
            </a:prstGeom>
            <a:solidFill>
              <a:srgbClr val="FFFFFF"/>
            </a:solidFill>
            <a:ln>
              <a:noFill/>
            </a:ln>
          </p:spPr>
        </p:sp>
        <p:sp>
          <p:nvSpPr>
            <p:cNvPr id="28" name="node04.row.item-003.c2.heat"/>
            <p:cNvSpPr/>
            <p:nvPr/>
          </p:nvSpPr>
          <p:spPr>
            <a:xfrm>
              <a:off x="7658100" y="2990850"/>
              <a:ext cx="1238250" cy="419100"/>
            </a:xfrm>
            <a:prstGeom prst="rect">
              <a:avLst/>
            </a:prstGeom>
            <a:solidFill>
              <a:srgbClr val="F3D6EE"/>
            </a:solidFill>
            <a:ln>
              <a:noFill/>
            </a:ln>
          </p:spPr>
        </p:sp>
        <p:sp>
          <p:nvSpPr>
            <p:cNvPr id="29" name="node04.row.item-003.c3.heat-gap"/>
            <p:cNvSpPr/>
            <p:nvPr/>
          </p:nvSpPr>
          <p:spPr>
            <a:xfrm>
              <a:off x="8915400" y="2971800"/>
              <a:ext cx="1276350" cy="457200"/>
            </a:xfrm>
            <a:prstGeom prst="rect">
              <a:avLst/>
            </a:prstGeom>
            <a:solidFill>
              <a:srgbClr val="FFFFFF"/>
            </a:solidFill>
            <a:ln>
              <a:noFill/>
            </a:ln>
          </p:spPr>
        </p:sp>
        <p:sp>
          <p:nvSpPr>
            <p:cNvPr id="30" name="node04.row.item-003.c3.heat"/>
            <p:cNvSpPr/>
            <p:nvPr/>
          </p:nvSpPr>
          <p:spPr>
            <a:xfrm>
              <a:off x="8934450" y="2990850"/>
              <a:ext cx="1238250" cy="419100"/>
            </a:xfrm>
            <a:prstGeom prst="rect">
              <a:avLst/>
            </a:prstGeom>
            <a:solidFill>
              <a:srgbClr val="F3D6EE"/>
            </a:solidFill>
            <a:ln>
              <a:noFill/>
            </a:ln>
          </p:spPr>
        </p:sp>
        <p:sp>
          <p:nvSpPr>
            <p:cNvPr id="31" name="node04.row.item-003.c4.heat-gap"/>
            <p:cNvSpPr/>
            <p:nvPr/>
          </p:nvSpPr>
          <p:spPr>
            <a:xfrm>
              <a:off x="10191750" y="2971800"/>
              <a:ext cx="1276350" cy="457200"/>
            </a:xfrm>
            <a:prstGeom prst="rect">
              <a:avLst/>
            </a:prstGeom>
            <a:solidFill>
              <a:srgbClr val="FFFFFF"/>
            </a:solidFill>
            <a:ln>
              <a:noFill/>
            </a:ln>
          </p:spPr>
        </p:sp>
        <p:sp>
          <p:nvSpPr>
            <p:cNvPr id="32" name="node04.row.item-003.c4.heat"/>
            <p:cNvSpPr/>
            <p:nvPr/>
          </p:nvSpPr>
          <p:spPr>
            <a:xfrm>
              <a:off x="10210800" y="2990850"/>
              <a:ext cx="1238250" cy="419100"/>
            </a:xfrm>
            <a:prstGeom prst="rect">
              <a:avLst/>
            </a:prstGeom>
            <a:solidFill>
              <a:srgbClr val="CED7E6"/>
            </a:solidFill>
            <a:ln>
              <a:noFill/>
            </a:ln>
          </p:spPr>
        </p:sp>
        <p:sp>
          <p:nvSpPr>
            <p:cNvPr id="33" name="node04.row.item-004.c1.heat-gap"/>
            <p:cNvSpPr/>
            <p:nvPr/>
          </p:nvSpPr>
          <p:spPr>
            <a:xfrm>
              <a:off x="6362700" y="3429000"/>
              <a:ext cx="1276350" cy="457200"/>
            </a:xfrm>
            <a:prstGeom prst="rect">
              <a:avLst/>
            </a:prstGeom>
            <a:solidFill>
              <a:srgbClr val="FFFFFF"/>
            </a:solidFill>
            <a:ln>
              <a:noFill/>
            </a:ln>
          </p:spPr>
        </p:sp>
        <p:sp>
          <p:nvSpPr>
            <p:cNvPr id="34" name="node04.row.item-004.c1.heat"/>
            <p:cNvSpPr/>
            <p:nvPr/>
          </p:nvSpPr>
          <p:spPr>
            <a:xfrm>
              <a:off x="6381750" y="3448050"/>
              <a:ext cx="1238250" cy="419100"/>
            </a:xfrm>
            <a:prstGeom prst="rect">
              <a:avLst/>
            </a:prstGeom>
            <a:solidFill>
              <a:srgbClr val="FB7FE8"/>
            </a:solidFill>
            <a:ln>
              <a:noFill/>
            </a:ln>
          </p:spPr>
        </p:sp>
        <p:sp>
          <p:nvSpPr>
            <p:cNvPr id="35" name="node04.row.item-004.c2.heat-gap"/>
            <p:cNvSpPr/>
            <p:nvPr/>
          </p:nvSpPr>
          <p:spPr>
            <a:xfrm>
              <a:off x="7639050" y="3429000"/>
              <a:ext cx="1276350" cy="457200"/>
            </a:xfrm>
            <a:prstGeom prst="rect">
              <a:avLst/>
            </a:prstGeom>
            <a:solidFill>
              <a:srgbClr val="FFFFFF"/>
            </a:solidFill>
            <a:ln>
              <a:noFill/>
            </a:ln>
          </p:spPr>
        </p:sp>
        <p:sp>
          <p:nvSpPr>
            <p:cNvPr id="36" name="node04.row.item-004.c2.heat"/>
            <p:cNvSpPr/>
            <p:nvPr/>
          </p:nvSpPr>
          <p:spPr>
            <a:xfrm>
              <a:off x="7658100" y="3448050"/>
              <a:ext cx="1238250" cy="419100"/>
            </a:xfrm>
            <a:prstGeom prst="rect">
              <a:avLst/>
            </a:prstGeom>
            <a:solidFill>
              <a:srgbClr val="F900D3"/>
            </a:solidFill>
            <a:ln>
              <a:noFill/>
            </a:ln>
          </p:spPr>
        </p:sp>
        <p:sp>
          <p:nvSpPr>
            <p:cNvPr id="37" name="node04.row.item-004.c3.heat-gap"/>
            <p:cNvSpPr/>
            <p:nvPr/>
          </p:nvSpPr>
          <p:spPr>
            <a:xfrm>
              <a:off x="8915400" y="3429000"/>
              <a:ext cx="1276350" cy="457200"/>
            </a:xfrm>
            <a:prstGeom prst="rect">
              <a:avLst/>
            </a:prstGeom>
            <a:solidFill>
              <a:srgbClr val="FFFFFF"/>
            </a:solidFill>
            <a:ln>
              <a:noFill/>
            </a:ln>
          </p:spPr>
        </p:sp>
        <p:sp>
          <p:nvSpPr>
            <p:cNvPr id="38" name="node04.row.item-004.c3.heat"/>
            <p:cNvSpPr/>
            <p:nvPr/>
          </p:nvSpPr>
          <p:spPr>
            <a:xfrm>
              <a:off x="8934450" y="3448050"/>
              <a:ext cx="1238250" cy="419100"/>
            </a:xfrm>
            <a:prstGeom prst="rect">
              <a:avLst/>
            </a:prstGeom>
            <a:solidFill>
              <a:srgbClr val="F900D3"/>
            </a:solidFill>
            <a:ln>
              <a:noFill/>
            </a:ln>
          </p:spPr>
        </p:sp>
        <p:sp>
          <p:nvSpPr>
            <p:cNvPr id="39" name="node04.row.item-004.c4.heat-gap"/>
            <p:cNvSpPr/>
            <p:nvPr/>
          </p:nvSpPr>
          <p:spPr>
            <a:xfrm>
              <a:off x="10191750" y="3429000"/>
              <a:ext cx="1276350" cy="457200"/>
            </a:xfrm>
            <a:prstGeom prst="rect">
              <a:avLst/>
            </a:prstGeom>
            <a:solidFill>
              <a:srgbClr val="FFFFFF"/>
            </a:solidFill>
            <a:ln>
              <a:noFill/>
            </a:ln>
          </p:spPr>
        </p:sp>
        <p:sp>
          <p:nvSpPr>
            <p:cNvPr id="40" name="node04.row.item-004.c4.heat"/>
            <p:cNvSpPr/>
            <p:nvPr/>
          </p:nvSpPr>
          <p:spPr>
            <a:xfrm>
              <a:off x="10210800" y="3448050"/>
              <a:ext cx="1238250" cy="419100"/>
            </a:xfrm>
            <a:prstGeom prst="rect">
              <a:avLst/>
            </a:prstGeom>
            <a:solidFill>
              <a:srgbClr val="F3D6EE"/>
            </a:solidFill>
            <a:ln>
              <a:noFill/>
            </a:ln>
          </p:spPr>
        </p:sp>
        <p:sp>
          <p:nvSpPr>
            <p:cNvPr id="41" name="node04.row.item-005.c1.heat-gap"/>
            <p:cNvSpPr/>
            <p:nvPr/>
          </p:nvSpPr>
          <p:spPr>
            <a:xfrm>
              <a:off x="6362700" y="3886200"/>
              <a:ext cx="1276350" cy="457200"/>
            </a:xfrm>
            <a:prstGeom prst="rect">
              <a:avLst/>
            </a:prstGeom>
            <a:solidFill>
              <a:srgbClr val="FFFFFF"/>
            </a:solidFill>
            <a:ln>
              <a:noFill/>
            </a:ln>
          </p:spPr>
        </p:sp>
        <p:sp>
          <p:nvSpPr>
            <p:cNvPr id="42" name="node04.row.item-005.c1.heat"/>
            <p:cNvSpPr/>
            <p:nvPr/>
          </p:nvSpPr>
          <p:spPr>
            <a:xfrm>
              <a:off x="6381750" y="3905250"/>
              <a:ext cx="1238250" cy="419100"/>
            </a:xfrm>
            <a:prstGeom prst="rect">
              <a:avLst/>
            </a:prstGeom>
            <a:solidFill>
              <a:srgbClr val="CED7E6"/>
            </a:solidFill>
            <a:ln>
              <a:noFill/>
            </a:ln>
          </p:spPr>
        </p:sp>
        <p:sp>
          <p:nvSpPr>
            <p:cNvPr id="43" name="node04.row.item-005.c2.heat-gap"/>
            <p:cNvSpPr/>
            <p:nvPr/>
          </p:nvSpPr>
          <p:spPr>
            <a:xfrm>
              <a:off x="7639050" y="3886200"/>
              <a:ext cx="1276350" cy="457200"/>
            </a:xfrm>
            <a:prstGeom prst="rect">
              <a:avLst/>
            </a:prstGeom>
            <a:solidFill>
              <a:srgbClr val="FFFFFF"/>
            </a:solidFill>
            <a:ln>
              <a:noFill/>
            </a:ln>
          </p:spPr>
        </p:sp>
        <p:sp>
          <p:nvSpPr>
            <p:cNvPr id="44" name="node04.row.item-005.c2.heat"/>
            <p:cNvSpPr/>
            <p:nvPr/>
          </p:nvSpPr>
          <p:spPr>
            <a:xfrm>
              <a:off x="7658100" y="3905250"/>
              <a:ext cx="1238250" cy="419100"/>
            </a:xfrm>
            <a:prstGeom prst="rect">
              <a:avLst/>
            </a:prstGeom>
            <a:solidFill>
              <a:srgbClr val="CED7E6"/>
            </a:solidFill>
            <a:ln>
              <a:noFill/>
            </a:ln>
          </p:spPr>
        </p:sp>
        <p:sp>
          <p:nvSpPr>
            <p:cNvPr id="45" name="node04.row.item-005.c3.heat-gap"/>
            <p:cNvSpPr/>
            <p:nvPr/>
          </p:nvSpPr>
          <p:spPr>
            <a:xfrm>
              <a:off x="8915400" y="3886200"/>
              <a:ext cx="1276350" cy="457200"/>
            </a:xfrm>
            <a:prstGeom prst="rect">
              <a:avLst/>
            </a:prstGeom>
            <a:solidFill>
              <a:srgbClr val="FFFFFF"/>
            </a:solidFill>
            <a:ln>
              <a:noFill/>
            </a:ln>
          </p:spPr>
        </p:sp>
        <p:sp>
          <p:nvSpPr>
            <p:cNvPr id="46" name="node04.row.item-005.c3.heat"/>
            <p:cNvSpPr/>
            <p:nvPr/>
          </p:nvSpPr>
          <p:spPr>
            <a:xfrm>
              <a:off x="8934450" y="3905250"/>
              <a:ext cx="1238250" cy="419100"/>
            </a:xfrm>
            <a:prstGeom prst="rect">
              <a:avLst/>
            </a:prstGeom>
            <a:solidFill>
              <a:srgbClr val="FB7FE8"/>
            </a:solidFill>
            <a:ln>
              <a:noFill/>
            </a:ln>
          </p:spPr>
        </p:sp>
        <p:sp>
          <p:nvSpPr>
            <p:cNvPr id="47" name="node04.row.item-005.c4.heat-gap"/>
            <p:cNvSpPr/>
            <p:nvPr/>
          </p:nvSpPr>
          <p:spPr>
            <a:xfrm>
              <a:off x="10191750" y="3886200"/>
              <a:ext cx="1276350" cy="457200"/>
            </a:xfrm>
            <a:prstGeom prst="rect">
              <a:avLst/>
            </a:prstGeom>
            <a:solidFill>
              <a:srgbClr val="FFFFFF"/>
            </a:solidFill>
            <a:ln>
              <a:noFill/>
            </a:ln>
          </p:spPr>
        </p:sp>
        <p:sp>
          <p:nvSpPr>
            <p:cNvPr id="48" name="node04.row.item-005.c4.heat"/>
            <p:cNvSpPr/>
            <p:nvPr/>
          </p:nvSpPr>
          <p:spPr>
            <a:xfrm>
              <a:off x="10210800" y="3905250"/>
              <a:ext cx="1238250" cy="419100"/>
            </a:xfrm>
            <a:prstGeom prst="rect">
              <a:avLst/>
            </a:prstGeom>
            <a:solidFill>
              <a:srgbClr val="E8EEF8"/>
            </a:solidFill>
            <a:ln>
              <a:noFill/>
            </a:ln>
          </p:spPr>
        </p:sp>
        <p:graphicFrame>
          <p:nvGraphicFramePr>
            <p:cNvPr id="49" name="node04.native"/>
            <p:cNvGraphicFramePr>
              <a:graphicFrameLocks noGrp="1"/>
            </p:cNvGraphicFramePr>
            <p:nvPr>
              <p:extLst>
                <p:ext uri="{D42A27DB-BD31-4B8C-83A1-F6EECF244321}">
                  <p14:modId xmlns:p14="http://schemas.microsoft.com/office/powerpoint/2010/main" val="1579011935"/>
                </p:ext>
              </p:extLst>
            </p:nvPr>
          </p:nvGraphicFramePr>
          <p:xfrm>
            <a:off x="4381500" y="1600200"/>
            <a:ext cx="7086600" cy="2743200"/>
          </p:xfrm>
          <a:graphic>
            <a:graphicData uri="http://schemas.openxmlformats.org/drawingml/2006/table">
              <a:tbl>
                <a:tblPr/>
                <a:tblGrid>
                  <a:gridCol w="1981200"/>
                  <a:gridCol w="1276350"/>
                  <a:gridCol w="1276350"/>
                  <a:gridCol w="1276350"/>
                  <a:gridCol w="1276350"/>
                </a:tblGrid>
                <a:tr h="4572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SYSTEM</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BACKUP</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FAILOVER</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TESTED</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DOCUMENTED</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NorthChart EHR</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Lab information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Pharmacy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Imaging archive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Scheduling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69" name="node05"/>
          <p:cNvGrpSpPr/>
          <p:nvPr/>
        </p:nvGrpSpPr>
        <p:grpSpPr>
          <a:xfrm>
            <a:off x="4381500" y="4495800"/>
            <a:ext cx="4287838" cy="190500"/>
            <a:chOff x="4381500" y="4495800"/>
            <a:chExt cx="4287838" cy="190500"/>
          </a:xfrm>
        </p:grpSpPr>
        <p:sp>
          <p:nvSpPr>
            <p:cNvPr id="50" name="node05.items.slot-001.swatch"/>
            <p:cNvSpPr/>
            <p:nvPr/>
          </p:nvSpPr>
          <p:spPr>
            <a:xfrm>
              <a:off x="4381500" y="4527550"/>
              <a:ext cx="228600" cy="127000"/>
            </a:xfrm>
            <a:prstGeom prst="rect">
              <a:avLst/>
            </a:prstGeom>
            <a:solidFill>
              <a:srgbClr val="E8EEF8"/>
            </a:solidFill>
            <a:ln>
              <a:noFill/>
            </a:ln>
          </p:spPr>
        </p:sp>
        <p:sp>
          <p:nvSpPr>
            <p:cNvPr id="51" name="node05.items.slot-001.text"/>
            <p:cNvSpPr/>
            <p:nvPr/>
          </p:nvSpPr>
          <p:spPr>
            <a:xfrm>
              <a:off x="4673600" y="4495800"/>
              <a:ext cx="3825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None</a:t>
              </a:r>
              <a:endParaRPr lang="en-US" sz="1100" spc="0" kern="0" b="0" i="0" dirty="0">
                <a:solidFill>
                  <a:srgbClr val="070154"/>
                </a:solidFill>
                <a:latin typeface="IBM Plex Sans"/>
                <a:ea typeface="IBM Plex Sans"/>
                <a:cs typeface="IBM Plex Sans"/>
              </a:endParaRPr>
            </a:p>
          </p:txBody>
        </p:sp>
        <p:sp>
          <p:nvSpPr>
            <p:cNvPr id="52" name="node05.items.slot-002.swatch"/>
            <p:cNvSpPr/>
            <p:nvPr/>
          </p:nvSpPr>
          <p:spPr>
            <a:xfrm>
              <a:off x="5284788" y="4527550"/>
              <a:ext cx="228600" cy="127000"/>
            </a:xfrm>
            <a:prstGeom prst="rect">
              <a:avLst/>
            </a:prstGeom>
            <a:solidFill>
              <a:srgbClr val="CED7E6"/>
            </a:solidFill>
            <a:ln>
              <a:noFill/>
            </a:ln>
          </p:spPr>
        </p:sp>
        <p:sp>
          <p:nvSpPr>
            <p:cNvPr id="53" name="node05.items.slot-002.text"/>
            <p:cNvSpPr/>
            <p:nvPr/>
          </p:nvSpPr>
          <p:spPr>
            <a:xfrm>
              <a:off x="5576888" y="4495800"/>
              <a:ext cx="3063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Low</a:t>
              </a:r>
              <a:endParaRPr lang="en-US" sz="1100" spc="0" kern="0" b="0" i="0" dirty="0">
                <a:solidFill>
                  <a:srgbClr val="070154"/>
                </a:solidFill>
                <a:latin typeface="IBM Plex Sans"/>
                <a:ea typeface="IBM Plex Sans"/>
                <a:cs typeface="IBM Plex Sans"/>
              </a:endParaRPr>
            </a:p>
          </p:txBody>
        </p:sp>
        <p:sp>
          <p:nvSpPr>
            <p:cNvPr id="54" name="node05.items.slot-003.swatch"/>
            <p:cNvSpPr/>
            <p:nvPr/>
          </p:nvSpPr>
          <p:spPr>
            <a:xfrm>
              <a:off x="6111875" y="4527550"/>
              <a:ext cx="228600" cy="127000"/>
            </a:xfrm>
            <a:prstGeom prst="rect">
              <a:avLst/>
            </a:prstGeom>
            <a:solidFill>
              <a:srgbClr val="F3D6EE"/>
            </a:solidFill>
            <a:ln>
              <a:noFill/>
            </a:ln>
          </p:spPr>
        </p:sp>
        <p:sp>
          <p:nvSpPr>
            <p:cNvPr id="55" name="node05.items.slot-003.text"/>
            <p:cNvSpPr/>
            <p:nvPr/>
          </p:nvSpPr>
          <p:spPr>
            <a:xfrm>
              <a:off x="6403975" y="4495800"/>
              <a:ext cx="4079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Some</a:t>
              </a:r>
              <a:endParaRPr lang="en-US" sz="1100" spc="0" kern="0" b="0" i="0" dirty="0">
                <a:solidFill>
                  <a:srgbClr val="070154"/>
                </a:solidFill>
                <a:latin typeface="IBM Plex Sans"/>
                <a:ea typeface="IBM Plex Sans"/>
                <a:cs typeface="IBM Plex Sans"/>
              </a:endParaRPr>
            </a:p>
          </p:txBody>
        </p:sp>
        <p:sp>
          <p:nvSpPr>
            <p:cNvPr id="56" name="node05.items.slot-004.swatch"/>
            <p:cNvSpPr/>
            <p:nvPr/>
          </p:nvSpPr>
          <p:spPr>
            <a:xfrm>
              <a:off x="7040563" y="4527550"/>
              <a:ext cx="228600" cy="127000"/>
            </a:xfrm>
            <a:prstGeom prst="rect">
              <a:avLst/>
            </a:prstGeom>
            <a:solidFill>
              <a:srgbClr val="FB7FE8"/>
            </a:solidFill>
            <a:ln>
              <a:noFill/>
            </a:ln>
          </p:spPr>
        </p:sp>
        <p:sp>
          <p:nvSpPr>
            <p:cNvPr id="57" name="node05.items.slot-004.text"/>
            <p:cNvSpPr/>
            <p:nvPr/>
          </p:nvSpPr>
          <p:spPr>
            <a:xfrm>
              <a:off x="7332662" y="4495800"/>
              <a:ext cx="3365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High</a:t>
              </a:r>
              <a:endParaRPr lang="en-US" sz="1100" spc="0" kern="0" b="0" i="0" dirty="0">
                <a:solidFill>
                  <a:srgbClr val="070154"/>
                </a:solidFill>
                <a:latin typeface="IBM Plex Sans"/>
                <a:ea typeface="IBM Plex Sans"/>
                <a:cs typeface="IBM Plex Sans"/>
              </a:endParaRPr>
            </a:p>
          </p:txBody>
        </p:sp>
        <p:sp>
          <p:nvSpPr>
            <p:cNvPr id="58" name="node05.items.slot-005.swatch"/>
            <p:cNvSpPr/>
            <p:nvPr/>
          </p:nvSpPr>
          <p:spPr>
            <a:xfrm>
              <a:off x="7897813" y="4527550"/>
              <a:ext cx="228600" cy="127000"/>
            </a:xfrm>
            <a:prstGeom prst="rect">
              <a:avLst/>
            </a:prstGeom>
            <a:solidFill>
              <a:srgbClr val="F900D3"/>
            </a:solidFill>
            <a:ln>
              <a:noFill/>
            </a:ln>
          </p:spPr>
        </p:sp>
        <p:sp>
          <p:nvSpPr>
            <p:cNvPr id="59" name="node05.items.slot-005.text"/>
            <p:cNvSpPr/>
            <p:nvPr/>
          </p:nvSpPr>
          <p:spPr>
            <a:xfrm>
              <a:off x="8189912" y="4495800"/>
              <a:ext cx="47942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Severe</a:t>
              </a:r>
              <a:endParaRPr lang="en-US" sz="1100" spc="0" kern="0" b="0" i="0" dirty="0">
                <a:solidFill>
                  <a:srgbClr val="070154"/>
                </a:solidFill>
                <a:latin typeface="IBM Plex Sans"/>
                <a:ea typeface="IBM Plex Sans"/>
                <a:cs typeface="IBM Plex Sans"/>
              </a:endParaRPr>
            </a:p>
          </p:txBody>
        </p:sp>
      </p:grpSp>
      <p:grpSp>
        <p:nvGrpSpPr>
          <p:cNvPr id="70" name="node06"/>
          <p:cNvGrpSpPr/>
          <p:nvPr/>
        </p:nvGrpSpPr>
        <p:grpSpPr>
          <a:xfrm>
            <a:off x="4381500" y="4953000"/>
            <a:ext cx="7086600" cy="139700"/>
            <a:chOff x="4381500" y="4953000"/>
            <a:chExt cx="7086600" cy="139700"/>
          </a:xfrm>
        </p:grpSpPr>
        <p:sp>
          <p:nvSpPr>
            <p:cNvPr id="60" name="node06.text"/>
            <p:cNvSpPr/>
            <p:nvPr/>
          </p:nvSpPr>
          <p:spPr>
            <a:xfrm>
              <a:off x="4381500" y="49530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WHAT WE RECOMMEND</a:t>
              </a:r>
              <a:endParaRPr lang="en-US" sz="800" spc="48" kern="0" b="0" i="0" dirty="0">
                <a:solidFill>
                  <a:srgbClr val="50658E"/>
                </a:solidFill>
                <a:latin typeface="IBM Plex Mono Medium"/>
                <a:ea typeface="IBM Plex Mono Medium"/>
                <a:cs typeface="IBM Plex Mono Medium"/>
              </a:endParaRPr>
            </a:p>
          </p:txBody>
        </p:sp>
      </p:grpSp>
      <p:grpSp>
        <p:nvGrpSpPr>
          <p:cNvPr id="71" name="node07"/>
          <p:cNvGrpSpPr/>
          <p:nvPr/>
        </p:nvGrpSpPr>
        <p:grpSpPr>
          <a:xfrm>
            <a:off x="4381500" y="5181600"/>
            <a:ext cx="7086600" cy="469900"/>
            <a:chOff x="4381500" y="5181600"/>
            <a:chExt cx="7086600" cy="469900"/>
          </a:xfrm>
        </p:grpSpPr>
        <p:sp>
          <p:nvSpPr>
            <p:cNvPr id="61" name="node07.source-001.bullet"/>
            <p:cNvSpPr/>
            <p:nvPr/>
          </p:nvSpPr>
          <p:spPr>
            <a:xfrm>
              <a:off x="4381500" y="5270500"/>
              <a:ext cx="38100" cy="38100"/>
            </a:xfrm>
            <a:prstGeom prst="rect">
              <a:avLst/>
            </a:prstGeom>
            <a:solidFill>
              <a:srgbClr val="070154"/>
            </a:solidFill>
            <a:ln>
              <a:noFill/>
            </a:ln>
          </p:spPr>
        </p:sp>
        <p:sp>
          <p:nvSpPr>
            <p:cNvPr id="62" name="node07.source-001.text"/>
            <p:cNvSpPr/>
            <p:nvPr/>
          </p:nvSpPr>
          <p:spPr>
            <a:xfrm>
              <a:off x="4533900" y="51816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Test failover for the imaging archive and the EHR before go-live.</a:t>
              </a:r>
              <a:endParaRPr lang="en-US" sz="1200" spc="0" kern="0" b="0" i="0" dirty="0">
                <a:solidFill>
                  <a:srgbClr val="070154"/>
                </a:solidFill>
                <a:latin typeface="IBM Plex Sans"/>
                <a:ea typeface="IBM Plex Sans"/>
                <a:cs typeface="IBM Plex Sans"/>
              </a:endParaRPr>
            </a:p>
          </p:txBody>
        </p:sp>
        <p:sp>
          <p:nvSpPr>
            <p:cNvPr id="63" name="node07.source-002.bullet"/>
            <p:cNvSpPr/>
            <p:nvPr/>
          </p:nvSpPr>
          <p:spPr>
            <a:xfrm>
              <a:off x="4381500" y="5524500"/>
              <a:ext cx="38100" cy="38100"/>
            </a:xfrm>
            <a:prstGeom prst="rect">
              <a:avLst/>
            </a:prstGeom>
            <a:solidFill>
              <a:srgbClr val="070154"/>
            </a:solidFill>
            <a:ln>
              <a:noFill/>
            </a:ln>
          </p:spPr>
        </p:sp>
        <p:sp>
          <p:nvSpPr>
            <p:cNvPr id="64" name="node07.source-002.text"/>
            <p:cNvSpPr/>
            <p:nvPr/>
          </p:nvSpPr>
          <p:spPr>
            <a:xfrm>
              <a:off x="4533900" y="54356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Document recovery steps for the imaging archive, which scores worst on every control.</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ource-519">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PULSE SURVEY</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Clinicians rate the new system lowest</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go-live pulse survey, n = 412,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67</a:t>
            </a:fld>
            <a:endParaRPr lang="en-US" sz="700" spc="0" kern="0" b="0" i="0" dirty="0">
              <a:solidFill>
                <a:srgbClr val="070154"/>
              </a:solidFill>
              <a:latin typeface="IBM Plex Mono SemiBold"/>
              <a:ea typeface="IBM Plex Mono SemiBold"/>
              <a:cs typeface="IBM Plex Mono SemiBold"/>
            </a:endParaRPr>
          </a:p>
        </p:txBody>
      </p:sp>
      <p:grpSp>
        <p:nvGrpSpPr>
          <p:cNvPr id="104" name="node01"/>
          <p:cNvGrpSpPr/>
          <p:nvPr/>
        </p:nvGrpSpPr>
        <p:grpSpPr>
          <a:xfrm>
            <a:off x="4381500" y="457200"/>
            <a:ext cx="7086600" cy="4927600"/>
            <a:chOff x="4381500" y="457200"/>
            <a:chExt cx="7086600" cy="4927600"/>
          </a:xfrm>
        </p:grpSpPr>
        <p:sp>
          <p:nvSpPr>
            <p:cNvPr id="7" name="node01.row.item-001.c1.heat-gap"/>
            <p:cNvSpPr/>
            <p:nvPr/>
          </p:nvSpPr>
          <p:spPr>
            <a:xfrm>
              <a:off x="6438900" y="812800"/>
              <a:ext cx="1257300" cy="457200"/>
            </a:xfrm>
            <a:prstGeom prst="rect">
              <a:avLst/>
            </a:prstGeom>
            <a:solidFill>
              <a:srgbClr val="FFFFFF"/>
            </a:solidFill>
            <a:ln>
              <a:noFill/>
            </a:ln>
          </p:spPr>
        </p:sp>
        <p:sp>
          <p:nvSpPr>
            <p:cNvPr id="8" name="node01.row.item-001.c1.heat"/>
            <p:cNvSpPr/>
            <p:nvPr/>
          </p:nvSpPr>
          <p:spPr>
            <a:xfrm>
              <a:off x="6457950" y="831850"/>
              <a:ext cx="1219200" cy="419100"/>
            </a:xfrm>
            <a:prstGeom prst="rect">
              <a:avLst/>
            </a:prstGeom>
            <a:solidFill>
              <a:srgbClr val="CED7E6"/>
            </a:solidFill>
            <a:ln>
              <a:noFill/>
            </a:ln>
          </p:spPr>
        </p:sp>
        <p:sp>
          <p:nvSpPr>
            <p:cNvPr id="9" name="node01.row.item-001.c2.heat-gap"/>
            <p:cNvSpPr/>
            <p:nvPr/>
          </p:nvSpPr>
          <p:spPr>
            <a:xfrm>
              <a:off x="7696200" y="812800"/>
              <a:ext cx="1257300" cy="457200"/>
            </a:xfrm>
            <a:prstGeom prst="rect">
              <a:avLst/>
            </a:prstGeom>
            <a:solidFill>
              <a:srgbClr val="FFFFFF"/>
            </a:solidFill>
            <a:ln>
              <a:noFill/>
            </a:ln>
          </p:spPr>
        </p:sp>
        <p:sp>
          <p:nvSpPr>
            <p:cNvPr id="10" name="node01.row.item-001.c2.heat"/>
            <p:cNvSpPr/>
            <p:nvPr/>
          </p:nvSpPr>
          <p:spPr>
            <a:xfrm>
              <a:off x="7715250" y="831850"/>
              <a:ext cx="1219200" cy="419100"/>
            </a:xfrm>
            <a:prstGeom prst="rect">
              <a:avLst/>
            </a:prstGeom>
            <a:solidFill>
              <a:srgbClr val="CED7E6"/>
            </a:solidFill>
            <a:ln>
              <a:noFill/>
            </a:ln>
          </p:spPr>
        </p:sp>
        <p:sp>
          <p:nvSpPr>
            <p:cNvPr id="11" name="node01.row.item-001.c3.heat-gap"/>
            <p:cNvSpPr/>
            <p:nvPr/>
          </p:nvSpPr>
          <p:spPr>
            <a:xfrm>
              <a:off x="8953500" y="812800"/>
              <a:ext cx="1257300" cy="457200"/>
            </a:xfrm>
            <a:prstGeom prst="rect">
              <a:avLst/>
            </a:prstGeom>
            <a:solidFill>
              <a:srgbClr val="FFFFFF"/>
            </a:solidFill>
            <a:ln>
              <a:noFill/>
            </a:ln>
          </p:spPr>
        </p:sp>
        <p:sp>
          <p:nvSpPr>
            <p:cNvPr id="12" name="node01.row.item-001.c3.heat"/>
            <p:cNvSpPr/>
            <p:nvPr/>
          </p:nvSpPr>
          <p:spPr>
            <a:xfrm>
              <a:off x="8972550" y="831850"/>
              <a:ext cx="1219200" cy="419100"/>
            </a:xfrm>
            <a:prstGeom prst="rect">
              <a:avLst/>
            </a:prstGeom>
            <a:solidFill>
              <a:srgbClr val="CED7E6"/>
            </a:solidFill>
            <a:ln>
              <a:noFill/>
            </a:ln>
          </p:spPr>
        </p:sp>
        <p:sp>
          <p:nvSpPr>
            <p:cNvPr id="13" name="node01.row.item-001.c4.heat-gap"/>
            <p:cNvSpPr/>
            <p:nvPr/>
          </p:nvSpPr>
          <p:spPr>
            <a:xfrm>
              <a:off x="10210800" y="812800"/>
              <a:ext cx="1257300" cy="457200"/>
            </a:xfrm>
            <a:prstGeom prst="rect">
              <a:avLst/>
            </a:prstGeom>
            <a:solidFill>
              <a:srgbClr val="FFFFFF"/>
            </a:solidFill>
            <a:ln>
              <a:noFill/>
            </a:ln>
          </p:spPr>
        </p:sp>
        <p:sp>
          <p:nvSpPr>
            <p:cNvPr id="14" name="node01.row.item-001.c4.heat"/>
            <p:cNvSpPr/>
            <p:nvPr/>
          </p:nvSpPr>
          <p:spPr>
            <a:xfrm>
              <a:off x="10229850" y="831850"/>
              <a:ext cx="1219200" cy="419100"/>
            </a:xfrm>
            <a:prstGeom prst="rect">
              <a:avLst/>
            </a:prstGeom>
            <a:solidFill>
              <a:srgbClr val="E8EEF8"/>
            </a:solidFill>
            <a:ln>
              <a:noFill/>
            </a:ln>
          </p:spPr>
        </p:sp>
        <p:sp>
          <p:nvSpPr>
            <p:cNvPr id="15" name="node01.row.item-002.c1.heat-gap"/>
            <p:cNvSpPr/>
            <p:nvPr/>
          </p:nvSpPr>
          <p:spPr>
            <a:xfrm>
              <a:off x="6438900" y="1270000"/>
              <a:ext cx="1257300" cy="457200"/>
            </a:xfrm>
            <a:prstGeom prst="rect">
              <a:avLst/>
            </a:prstGeom>
            <a:solidFill>
              <a:srgbClr val="FFFFFF"/>
            </a:solidFill>
            <a:ln>
              <a:noFill/>
            </a:ln>
          </p:spPr>
        </p:sp>
        <p:sp>
          <p:nvSpPr>
            <p:cNvPr id="16" name="node01.row.item-002.c1.heat"/>
            <p:cNvSpPr/>
            <p:nvPr/>
          </p:nvSpPr>
          <p:spPr>
            <a:xfrm>
              <a:off x="6457950" y="1289050"/>
              <a:ext cx="1219200" cy="419100"/>
            </a:xfrm>
            <a:prstGeom prst="rect">
              <a:avLst/>
            </a:prstGeom>
            <a:solidFill>
              <a:srgbClr val="F3D6EE"/>
            </a:solidFill>
            <a:ln>
              <a:noFill/>
            </a:ln>
          </p:spPr>
        </p:sp>
        <p:sp>
          <p:nvSpPr>
            <p:cNvPr id="17" name="node01.row.item-002.c2.heat-gap"/>
            <p:cNvSpPr/>
            <p:nvPr/>
          </p:nvSpPr>
          <p:spPr>
            <a:xfrm>
              <a:off x="7696200" y="1270000"/>
              <a:ext cx="1257300" cy="457200"/>
            </a:xfrm>
            <a:prstGeom prst="rect">
              <a:avLst/>
            </a:prstGeom>
            <a:solidFill>
              <a:srgbClr val="FFFFFF"/>
            </a:solidFill>
            <a:ln>
              <a:noFill/>
            </a:ln>
          </p:spPr>
        </p:sp>
        <p:sp>
          <p:nvSpPr>
            <p:cNvPr id="18" name="node01.row.item-002.c2.heat"/>
            <p:cNvSpPr/>
            <p:nvPr/>
          </p:nvSpPr>
          <p:spPr>
            <a:xfrm>
              <a:off x="7715250" y="1289050"/>
              <a:ext cx="1219200" cy="419100"/>
            </a:xfrm>
            <a:prstGeom prst="rect">
              <a:avLst/>
            </a:prstGeom>
            <a:solidFill>
              <a:srgbClr val="F3D6EE"/>
            </a:solidFill>
            <a:ln>
              <a:noFill/>
            </a:ln>
          </p:spPr>
        </p:sp>
        <p:sp>
          <p:nvSpPr>
            <p:cNvPr id="19" name="node01.row.item-002.c3.heat-gap"/>
            <p:cNvSpPr/>
            <p:nvPr/>
          </p:nvSpPr>
          <p:spPr>
            <a:xfrm>
              <a:off x="8953500" y="1270000"/>
              <a:ext cx="1257300" cy="457200"/>
            </a:xfrm>
            <a:prstGeom prst="rect">
              <a:avLst/>
            </a:prstGeom>
            <a:solidFill>
              <a:srgbClr val="FFFFFF"/>
            </a:solidFill>
            <a:ln>
              <a:noFill/>
            </a:ln>
          </p:spPr>
        </p:sp>
        <p:sp>
          <p:nvSpPr>
            <p:cNvPr id="20" name="node01.row.item-002.c3.heat"/>
            <p:cNvSpPr/>
            <p:nvPr/>
          </p:nvSpPr>
          <p:spPr>
            <a:xfrm>
              <a:off x="8972550" y="1289050"/>
              <a:ext cx="1219200" cy="419100"/>
            </a:xfrm>
            <a:prstGeom prst="rect">
              <a:avLst/>
            </a:prstGeom>
            <a:solidFill>
              <a:srgbClr val="F3D6EE"/>
            </a:solidFill>
            <a:ln>
              <a:noFill/>
            </a:ln>
          </p:spPr>
        </p:sp>
        <p:sp>
          <p:nvSpPr>
            <p:cNvPr id="21" name="node01.row.item-002.c4.heat-gap"/>
            <p:cNvSpPr/>
            <p:nvPr/>
          </p:nvSpPr>
          <p:spPr>
            <a:xfrm>
              <a:off x="10210800" y="1270000"/>
              <a:ext cx="1257300" cy="457200"/>
            </a:xfrm>
            <a:prstGeom prst="rect">
              <a:avLst/>
            </a:prstGeom>
            <a:solidFill>
              <a:srgbClr val="FFFFFF"/>
            </a:solidFill>
            <a:ln>
              <a:noFill/>
            </a:ln>
          </p:spPr>
        </p:sp>
        <p:sp>
          <p:nvSpPr>
            <p:cNvPr id="22" name="node01.row.item-002.c4.heat"/>
            <p:cNvSpPr/>
            <p:nvPr/>
          </p:nvSpPr>
          <p:spPr>
            <a:xfrm>
              <a:off x="10229850" y="1289050"/>
              <a:ext cx="1219200" cy="419100"/>
            </a:xfrm>
            <a:prstGeom prst="rect">
              <a:avLst/>
            </a:prstGeom>
            <a:solidFill>
              <a:srgbClr val="CED7E6"/>
            </a:solidFill>
            <a:ln>
              <a:noFill/>
            </a:ln>
          </p:spPr>
        </p:sp>
        <p:sp>
          <p:nvSpPr>
            <p:cNvPr id="23" name="node01.row.item-003.c1.heat-gap"/>
            <p:cNvSpPr/>
            <p:nvPr/>
          </p:nvSpPr>
          <p:spPr>
            <a:xfrm>
              <a:off x="6438900" y="1727200"/>
              <a:ext cx="1257300" cy="457200"/>
            </a:xfrm>
            <a:prstGeom prst="rect">
              <a:avLst/>
            </a:prstGeom>
            <a:solidFill>
              <a:srgbClr val="FFFFFF"/>
            </a:solidFill>
            <a:ln>
              <a:noFill/>
            </a:ln>
          </p:spPr>
        </p:sp>
        <p:sp>
          <p:nvSpPr>
            <p:cNvPr id="24" name="node01.row.item-003.c1.heat"/>
            <p:cNvSpPr/>
            <p:nvPr/>
          </p:nvSpPr>
          <p:spPr>
            <a:xfrm>
              <a:off x="6457950" y="1746250"/>
              <a:ext cx="1219200" cy="419100"/>
            </a:xfrm>
            <a:prstGeom prst="rect">
              <a:avLst/>
            </a:prstGeom>
            <a:solidFill>
              <a:srgbClr val="FB7FE8"/>
            </a:solidFill>
            <a:ln>
              <a:noFill/>
            </a:ln>
          </p:spPr>
        </p:sp>
        <p:sp>
          <p:nvSpPr>
            <p:cNvPr id="25" name="node01.row.item-003.c2.heat-gap"/>
            <p:cNvSpPr/>
            <p:nvPr/>
          </p:nvSpPr>
          <p:spPr>
            <a:xfrm>
              <a:off x="7696200" y="1727200"/>
              <a:ext cx="1257300" cy="457200"/>
            </a:xfrm>
            <a:prstGeom prst="rect">
              <a:avLst/>
            </a:prstGeom>
            <a:solidFill>
              <a:srgbClr val="FFFFFF"/>
            </a:solidFill>
            <a:ln>
              <a:noFill/>
            </a:ln>
          </p:spPr>
        </p:sp>
        <p:sp>
          <p:nvSpPr>
            <p:cNvPr id="26" name="node01.row.item-003.c2.heat"/>
            <p:cNvSpPr/>
            <p:nvPr/>
          </p:nvSpPr>
          <p:spPr>
            <a:xfrm>
              <a:off x="7715250" y="1746250"/>
              <a:ext cx="1219200" cy="419100"/>
            </a:xfrm>
            <a:prstGeom prst="rect">
              <a:avLst/>
            </a:prstGeom>
            <a:solidFill>
              <a:srgbClr val="F3D6EE"/>
            </a:solidFill>
            <a:ln>
              <a:noFill/>
            </a:ln>
          </p:spPr>
        </p:sp>
        <p:sp>
          <p:nvSpPr>
            <p:cNvPr id="27" name="node01.row.item-003.c3.heat-gap"/>
            <p:cNvSpPr/>
            <p:nvPr/>
          </p:nvSpPr>
          <p:spPr>
            <a:xfrm>
              <a:off x="8953500" y="1727200"/>
              <a:ext cx="1257300" cy="457200"/>
            </a:xfrm>
            <a:prstGeom prst="rect">
              <a:avLst/>
            </a:prstGeom>
            <a:solidFill>
              <a:srgbClr val="FFFFFF"/>
            </a:solidFill>
            <a:ln>
              <a:noFill/>
            </a:ln>
          </p:spPr>
        </p:sp>
        <p:sp>
          <p:nvSpPr>
            <p:cNvPr id="28" name="node01.row.item-003.c3.heat"/>
            <p:cNvSpPr/>
            <p:nvPr/>
          </p:nvSpPr>
          <p:spPr>
            <a:xfrm>
              <a:off x="8972550" y="1746250"/>
              <a:ext cx="1219200" cy="419100"/>
            </a:xfrm>
            <a:prstGeom prst="rect">
              <a:avLst/>
            </a:prstGeom>
            <a:solidFill>
              <a:srgbClr val="F3D6EE"/>
            </a:solidFill>
            <a:ln>
              <a:noFill/>
            </a:ln>
          </p:spPr>
        </p:sp>
        <p:sp>
          <p:nvSpPr>
            <p:cNvPr id="29" name="node01.row.item-003.c4.heat-gap"/>
            <p:cNvSpPr/>
            <p:nvPr/>
          </p:nvSpPr>
          <p:spPr>
            <a:xfrm>
              <a:off x="10210800" y="1727200"/>
              <a:ext cx="1257300" cy="457200"/>
            </a:xfrm>
            <a:prstGeom prst="rect">
              <a:avLst/>
            </a:prstGeom>
            <a:solidFill>
              <a:srgbClr val="FFFFFF"/>
            </a:solidFill>
            <a:ln>
              <a:noFill/>
            </a:ln>
          </p:spPr>
        </p:sp>
        <p:sp>
          <p:nvSpPr>
            <p:cNvPr id="30" name="node01.row.item-003.c4.heat"/>
            <p:cNvSpPr/>
            <p:nvPr/>
          </p:nvSpPr>
          <p:spPr>
            <a:xfrm>
              <a:off x="10229850" y="1746250"/>
              <a:ext cx="1219200" cy="419100"/>
            </a:xfrm>
            <a:prstGeom prst="rect">
              <a:avLst/>
            </a:prstGeom>
            <a:solidFill>
              <a:srgbClr val="CED7E6"/>
            </a:solidFill>
            <a:ln>
              <a:noFill/>
            </a:ln>
          </p:spPr>
        </p:sp>
        <p:sp>
          <p:nvSpPr>
            <p:cNvPr id="31" name="node01.row.item-004.c1.heat-gap"/>
            <p:cNvSpPr/>
            <p:nvPr/>
          </p:nvSpPr>
          <p:spPr>
            <a:xfrm>
              <a:off x="6438900" y="2184400"/>
              <a:ext cx="1257300" cy="457200"/>
            </a:xfrm>
            <a:prstGeom prst="rect">
              <a:avLst/>
            </a:prstGeom>
            <a:solidFill>
              <a:srgbClr val="FFFFFF"/>
            </a:solidFill>
            <a:ln>
              <a:noFill/>
            </a:ln>
          </p:spPr>
        </p:sp>
        <p:sp>
          <p:nvSpPr>
            <p:cNvPr id="32" name="node01.row.item-004.c1.heat"/>
            <p:cNvSpPr/>
            <p:nvPr/>
          </p:nvSpPr>
          <p:spPr>
            <a:xfrm>
              <a:off x="6457950" y="2203450"/>
              <a:ext cx="1219200" cy="419100"/>
            </a:xfrm>
            <a:prstGeom prst="rect">
              <a:avLst/>
            </a:prstGeom>
            <a:solidFill>
              <a:srgbClr val="F3D6EE"/>
            </a:solidFill>
            <a:ln>
              <a:noFill/>
            </a:ln>
          </p:spPr>
        </p:sp>
        <p:sp>
          <p:nvSpPr>
            <p:cNvPr id="33" name="node01.row.item-004.c2.heat-gap"/>
            <p:cNvSpPr/>
            <p:nvPr/>
          </p:nvSpPr>
          <p:spPr>
            <a:xfrm>
              <a:off x="7696200" y="2184400"/>
              <a:ext cx="1257300" cy="457200"/>
            </a:xfrm>
            <a:prstGeom prst="rect">
              <a:avLst/>
            </a:prstGeom>
            <a:solidFill>
              <a:srgbClr val="FFFFFF"/>
            </a:solidFill>
            <a:ln>
              <a:noFill/>
            </a:ln>
          </p:spPr>
        </p:sp>
        <p:sp>
          <p:nvSpPr>
            <p:cNvPr id="34" name="node01.row.item-004.c2.heat"/>
            <p:cNvSpPr/>
            <p:nvPr/>
          </p:nvSpPr>
          <p:spPr>
            <a:xfrm>
              <a:off x="7715250" y="2203450"/>
              <a:ext cx="1219200" cy="419100"/>
            </a:xfrm>
            <a:prstGeom prst="rect">
              <a:avLst/>
            </a:prstGeom>
            <a:solidFill>
              <a:srgbClr val="CED7E6"/>
            </a:solidFill>
            <a:ln>
              <a:noFill/>
            </a:ln>
          </p:spPr>
        </p:sp>
        <p:sp>
          <p:nvSpPr>
            <p:cNvPr id="35" name="node01.row.item-004.c3.heat-gap"/>
            <p:cNvSpPr/>
            <p:nvPr/>
          </p:nvSpPr>
          <p:spPr>
            <a:xfrm>
              <a:off x="8953500" y="2184400"/>
              <a:ext cx="1257300" cy="457200"/>
            </a:xfrm>
            <a:prstGeom prst="rect">
              <a:avLst/>
            </a:prstGeom>
            <a:solidFill>
              <a:srgbClr val="FFFFFF"/>
            </a:solidFill>
            <a:ln>
              <a:noFill/>
            </a:ln>
          </p:spPr>
        </p:sp>
        <p:sp>
          <p:nvSpPr>
            <p:cNvPr id="36" name="node01.row.item-004.c3.heat"/>
            <p:cNvSpPr/>
            <p:nvPr/>
          </p:nvSpPr>
          <p:spPr>
            <a:xfrm>
              <a:off x="8972550" y="2203450"/>
              <a:ext cx="1219200" cy="419100"/>
            </a:xfrm>
            <a:prstGeom prst="rect">
              <a:avLst/>
            </a:prstGeom>
            <a:solidFill>
              <a:srgbClr val="F3D6EE"/>
            </a:solidFill>
            <a:ln>
              <a:noFill/>
            </a:ln>
          </p:spPr>
        </p:sp>
        <p:sp>
          <p:nvSpPr>
            <p:cNvPr id="37" name="node01.row.item-004.c4.heat-gap"/>
            <p:cNvSpPr/>
            <p:nvPr/>
          </p:nvSpPr>
          <p:spPr>
            <a:xfrm>
              <a:off x="10210800" y="2184400"/>
              <a:ext cx="1257300" cy="457200"/>
            </a:xfrm>
            <a:prstGeom prst="rect">
              <a:avLst/>
            </a:prstGeom>
            <a:solidFill>
              <a:srgbClr val="FFFFFF"/>
            </a:solidFill>
            <a:ln>
              <a:noFill/>
            </a:ln>
          </p:spPr>
        </p:sp>
        <p:sp>
          <p:nvSpPr>
            <p:cNvPr id="38" name="node01.row.item-004.c4.heat"/>
            <p:cNvSpPr/>
            <p:nvPr/>
          </p:nvSpPr>
          <p:spPr>
            <a:xfrm>
              <a:off x="10229850" y="2203450"/>
              <a:ext cx="1219200" cy="419100"/>
            </a:xfrm>
            <a:prstGeom prst="rect">
              <a:avLst/>
            </a:prstGeom>
            <a:solidFill>
              <a:srgbClr val="E8EEF8"/>
            </a:solidFill>
            <a:ln>
              <a:noFill/>
            </a:ln>
          </p:spPr>
        </p:sp>
        <p:sp>
          <p:nvSpPr>
            <p:cNvPr id="39" name="node01.row.item-005.c1.heat-gap"/>
            <p:cNvSpPr/>
            <p:nvPr/>
          </p:nvSpPr>
          <p:spPr>
            <a:xfrm>
              <a:off x="6438900" y="2641600"/>
              <a:ext cx="1257300" cy="457200"/>
            </a:xfrm>
            <a:prstGeom prst="rect">
              <a:avLst/>
            </a:prstGeom>
            <a:solidFill>
              <a:srgbClr val="FFFFFF"/>
            </a:solidFill>
            <a:ln>
              <a:noFill/>
            </a:ln>
          </p:spPr>
        </p:sp>
        <p:sp>
          <p:nvSpPr>
            <p:cNvPr id="40" name="node01.row.item-005.c1.heat"/>
            <p:cNvSpPr/>
            <p:nvPr/>
          </p:nvSpPr>
          <p:spPr>
            <a:xfrm>
              <a:off x="6457950" y="2660650"/>
              <a:ext cx="1219200" cy="419100"/>
            </a:xfrm>
            <a:prstGeom prst="rect">
              <a:avLst/>
            </a:prstGeom>
            <a:solidFill>
              <a:srgbClr val="F3D6EE"/>
            </a:solidFill>
            <a:ln>
              <a:noFill/>
            </a:ln>
          </p:spPr>
        </p:sp>
        <p:sp>
          <p:nvSpPr>
            <p:cNvPr id="41" name="node01.row.item-005.c2.heat-gap"/>
            <p:cNvSpPr/>
            <p:nvPr/>
          </p:nvSpPr>
          <p:spPr>
            <a:xfrm>
              <a:off x="7696200" y="2641600"/>
              <a:ext cx="1257300" cy="457200"/>
            </a:xfrm>
            <a:prstGeom prst="rect">
              <a:avLst/>
            </a:prstGeom>
            <a:solidFill>
              <a:srgbClr val="FFFFFF"/>
            </a:solidFill>
            <a:ln>
              <a:noFill/>
            </a:ln>
          </p:spPr>
        </p:sp>
        <p:sp>
          <p:nvSpPr>
            <p:cNvPr id="42" name="node01.row.item-005.c2.heat"/>
            <p:cNvSpPr/>
            <p:nvPr/>
          </p:nvSpPr>
          <p:spPr>
            <a:xfrm>
              <a:off x="7715250" y="2660650"/>
              <a:ext cx="1219200" cy="419100"/>
            </a:xfrm>
            <a:prstGeom prst="rect">
              <a:avLst/>
            </a:prstGeom>
            <a:solidFill>
              <a:srgbClr val="CED7E6"/>
            </a:solidFill>
            <a:ln>
              <a:noFill/>
            </a:ln>
          </p:spPr>
        </p:sp>
        <p:sp>
          <p:nvSpPr>
            <p:cNvPr id="43" name="node01.row.item-005.c3.heat-gap"/>
            <p:cNvSpPr/>
            <p:nvPr/>
          </p:nvSpPr>
          <p:spPr>
            <a:xfrm>
              <a:off x="8953500" y="2641600"/>
              <a:ext cx="1257300" cy="457200"/>
            </a:xfrm>
            <a:prstGeom prst="rect">
              <a:avLst/>
            </a:prstGeom>
            <a:solidFill>
              <a:srgbClr val="FFFFFF"/>
            </a:solidFill>
            <a:ln>
              <a:noFill/>
            </a:ln>
          </p:spPr>
        </p:sp>
        <p:sp>
          <p:nvSpPr>
            <p:cNvPr id="44" name="node01.row.item-005.c3.heat"/>
            <p:cNvSpPr/>
            <p:nvPr/>
          </p:nvSpPr>
          <p:spPr>
            <a:xfrm>
              <a:off x="8972550" y="2660650"/>
              <a:ext cx="1219200" cy="419100"/>
            </a:xfrm>
            <a:prstGeom prst="rect">
              <a:avLst/>
            </a:prstGeom>
            <a:solidFill>
              <a:srgbClr val="F3D6EE"/>
            </a:solidFill>
            <a:ln>
              <a:noFill/>
            </a:ln>
          </p:spPr>
        </p:sp>
        <p:sp>
          <p:nvSpPr>
            <p:cNvPr id="45" name="node01.row.item-005.c4.heat-gap"/>
            <p:cNvSpPr/>
            <p:nvPr/>
          </p:nvSpPr>
          <p:spPr>
            <a:xfrm>
              <a:off x="10210800" y="2641600"/>
              <a:ext cx="1257300" cy="457200"/>
            </a:xfrm>
            <a:prstGeom prst="rect">
              <a:avLst/>
            </a:prstGeom>
            <a:solidFill>
              <a:srgbClr val="FFFFFF"/>
            </a:solidFill>
            <a:ln>
              <a:noFill/>
            </a:ln>
          </p:spPr>
        </p:sp>
        <p:sp>
          <p:nvSpPr>
            <p:cNvPr id="46" name="node01.row.item-005.c4.heat"/>
            <p:cNvSpPr/>
            <p:nvPr/>
          </p:nvSpPr>
          <p:spPr>
            <a:xfrm>
              <a:off x="10229850" y="2660650"/>
              <a:ext cx="1219200" cy="419100"/>
            </a:xfrm>
            <a:prstGeom prst="rect">
              <a:avLst/>
            </a:prstGeom>
            <a:solidFill>
              <a:srgbClr val="CED7E6"/>
            </a:solidFill>
            <a:ln>
              <a:noFill/>
            </a:ln>
          </p:spPr>
        </p:sp>
        <p:sp>
          <p:nvSpPr>
            <p:cNvPr id="47" name="node01.row.item-006.c1.heat-gap"/>
            <p:cNvSpPr/>
            <p:nvPr/>
          </p:nvSpPr>
          <p:spPr>
            <a:xfrm>
              <a:off x="6438900" y="3098800"/>
              <a:ext cx="1257300" cy="457200"/>
            </a:xfrm>
            <a:prstGeom prst="rect">
              <a:avLst/>
            </a:prstGeom>
            <a:solidFill>
              <a:srgbClr val="FFFFFF"/>
            </a:solidFill>
            <a:ln>
              <a:noFill/>
            </a:ln>
          </p:spPr>
        </p:sp>
        <p:sp>
          <p:nvSpPr>
            <p:cNvPr id="48" name="node01.row.item-006.c1.heat"/>
            <p:cNvSpPr/>
            <p:nvPr/>
          </p:nvSpPr>
          <p:spPr>
            <a:xfrm>
              <a:off x="6457950" y="3117850"/>
              <a:ext cx="1219200" cy="419100"/>
            </a:xfrm>
            <a:prstGeom prst="rect">
              <a:avLst/>
            </a:prstGeom>
            <a:solidFill>
              <a:srgbClr val="FB7FE8"/>
            </a:solidFill>
            <a:ln>
              <a:noFill/>
            </a:ln>
          </p:spPr>
        </p:sp>
        <p:sp>
          <p:nvSpPr>
            <p:cNvPr id="49" name="node01.row.item-006.c2.heat-gap"/>
            <p:cNvSpPr/>
            <p:nvPr/>
          </p:nvSpPr>
          <p:spPr>
            <a:xfrm>
              <a:off x="7696200" y="3098800"/>
              <a:ext cx="1257300" cy="457200"/>
            </a:xfrm>
            <a:prstGeom prst="rect">
              <a:avLst/>
            </a:prstGeom>
            <a:solidFill>
              <a:srgbClr val="FFFFFF"/>
            </a:solidFill>
            <a:ln>
              <a:noFill/>
            </a:ln>
          </p:spPr>
        </p:sp>
        <p:sp>
          <p:nvSpPr>
            <p:cNvPr id="50" name="node01.row.item-006.c2.heat"/>
            <p:cNvSpPr/>
            <p:nvPr/>
          </p:nvSpPr>
          <p:spPr>
            <a:xfrm>
              <a:off x="7715250" y="3117850"/>
              <a:ext cx="1219200" cy="419100"/>
            </a:xfrm>
            <a:prstGeom prst="rect">
              <a:avLst/>
            </a:prstGeom>
            <a:solidFill>
              <a:srgbClr val="FB7FE8"/>
            </a:solidFill>
            <a:ln>
              <a:noFill/>
            </a:ln>
          </p:spPr>
        </p:sp>
        <p:sp>
          <p:nvSpPr>
            <p:cNvPr id="51" name="node01.row.item-006.c3.heat-gap"/>
            <p:cNvSpPr/>
            <p:nvPr/>
          </p:nvSpPr>
          <p:spPr>
            <a:xfrm>
              <a:off x="8953500" y="3098800"/>
              <a:ext cx="1257300" cy="457200"/>
            </a:xfrm>
            <a:prstGeom prst="rect">
              <a:avLst/>
            </a:prstGeom>
            <a:solidFill>
              <a:srgbClr val="FFFFFF"/>
            </a:solidFill>
            <a:ln>
              <a:noFill/>
            </a:ln>
          </p:spPr>
        </p:sp>
        <p:sp>
          <p:nvSpPr>
            <p:cNvPr id="52" name="node01.row.item-006.c3.heat"/>
            <p:cNvSpPr/>
            <p:nvPr/>
          </p:nvSpPr>
          <p:spPr>
            <a:xfrm>
              <a:off x="8972550" y="3117850"/>
              <a:ext cx="1219200" cy="419100"/>
            </a:xfrm>
            <a:prstGeom prst="rect">
              <a:avLst/>
            </a:prstGeom>
            <a:solidFill>
              <a:srgbClr val="F3D6EE"/>
            </a:solidFill>
            <a:ln>
              <a:noFill/>
            </a:ln>
          </p:spPr>
        </p:sp>
        <p:sp>
          <p:nvSpPr>
            <p:cNvPr id="53" name="node01.row.item-006.c4.heat-gap"/>
            <p:cNvSpPr/>
            <p:nvPr/>
          </p:nvSpPr>
          <p:spPr>
            <a:xfrm>
              <a:off x="10210800" y="3098800"/>
              <a:ext cx="1257300" cy="457200"/>
            </a:xfrm>
            <a:prstGeom prst="rect">
              <a:avLst/>
            </a:prstGeom>
            <a:solidFill>
              <a:srgbClr val="FFFFFF"/>
            </a:solidFill>
            <a:ln>
              <a:noFill/>
            </a:ln>
          </p:spPr>
        </p:sp>
        <p:sp>
          <p:nvSpPr>
            <p:cNvPr id="54" name="node01.row.item-006.c4.heat"/>
            <p:cNvSpPr/>
            <p:nvPr/>
          </p:nvSpPr>
          <p:spPr>
            <a:xfrm>
              <a:off x="10229850" y="3117850"/>
              <a:ext cx="1219200" cy="419100"/>
            </a:xfrm>
            <a:prstGeom prst="rect">
              <a:avLst/>
            </a:prstGeom>
            <a:solidFill>
              <a:srgbClr val="F3D6EE"/>
            </a:solidFill>
            <a:ln>
              <a:noFill/>
            </a:ln>
          </p:spPr>
        </p:sp>
        <p:sp>
          <p:nvSpPr>
            <p:cNvPr id="55" name="node01.row.item-007.c1.heat-gap"/>
            <p:cNvSpPr/>
            <p:nvPr/>
          </p:nvSpPr>
          <p:spPr>
            <a:xfrm>
              <a:off x="6438900" y="3556000"/>
              <a:ext cx="1257300" cy="457200"/>
            </a:xfrm>
            <a:prstGeom prst="rect">
              <a:avLst/>
            </a:prstGeom>
            <a:solidFill>
              <a:srgbClr val="FFFFFF"/>
            </a:solidFill>
            <a:ln>
              <a:noFill/>
            </a:ln>
          </p:spPr>
        </p:sp>
        <p:sp>
          <p:nvSpPr>
            <p:cNvPr id="56" name="node01.row.item-007.c1.heat"/>
            <p:cNvSpPr/>
            <p:nvPr/>
          </p:nvSpPr>
          <p:spPr>
            <a:xfrm>
              <a:off x="6457950" y="3575050"/>
              <a:ext cx="1219200" cy="419100"/>
            </a:xfrm>
            <a:prstGeom prst="rect">
              <a:avLst/>
            </a:prstGeom>
            <a:solidFill>
              <a:srgbClr val="F3D6EE"/>
            </a:solidFill>
            <a:ln>
              <a:noFill/>
            </a:ln>
          </p:spPr>
        </p:sp>
        <p:sp>
          <p:nvSpPr>
            <p:cNvPr id="57" name="node01.row.item-007.c2.heat-gap"/>
            <p:cNvSpPr/>
            <p:nvPr/>
          </p:nvSpPr>
          <p:spPr>
            <a:xfrm>
              <a:off x="7696200" y="3556000"/>
              <a:ext cx="1257300" cy="457200"/>
            </a:xfrm>
            <a:prstGeom prst="rect">
              <a:avLst/>
            </a:prstGeom>
            <a:solidFill>
              <a:srgbClr val="FFFFFF"/>
            </a:solidFill>
            <a:ln>
              <a:noFill/>
            </a:ln>
          </p:spPr>
        </p:sp>
        <p:sp>
          <p:nvSpPr>
            <p:cNvPr id="58" name="node01.row.item-007.c2.heat"/>
            <p:cNvSpPr/>
            <p:nvPr/>
          </p:nvSpPr>
          <p:spPr>
            <a:xfrm>
              <a:off x="7715250" y="3575050"/>
              <a:ext cx="1219200" cy="419100"/>
            </a:xfrm>
            <a:prstGeom prst="rect">
              <a:avLst/>
            </a:prstGeom>
            <a:solidFill>
              <a:srgbClr val="F3D6EE"/>
            </a:solidFill>
            <a:ln>
              <a:noFill/>
            </a:ln>
          </p:spPr>
        </p:sp>
        <p:sp>
          <p:nvSpPr>
            <p:cNvPr id="59" name="node01.row.item-007.c3.heat-gap"/>
            <p:cNvSpPr/>
            <p:nvPr/>
          </p:nvSpPr>
          <p:spPr>
            <a:xfrm>
              <a:off x="8953500" y="3556000"/>
              <a:ext cx="1257300" cy="457200"/>
            </a:xfrm>
            <a:prstGeom prst="rect">
              <a:avLst/>
            </a:prstGeom>
            <a:solidFill>
              <a:srgbClr val="FFFFFF"/>
            </a:solidFill>
            <a:ln>
              <a:noFill/>
            </a:ln>
          </p:spPr>
        </p:sp>
        <p:sp>
          <p:nvSpPr>
            <p:cNvPr id="60" name="node01.row.item-007.c3.heat"/>
            <p:cNvSpPr/>
            <p:nvPr/>
          </p:nvSpPr>
          <p:spPr>
            <a:xfrm>
              <a:off x="8972550" y="3575050"/>
              <a:ext cx="1219200" cy="419100"/>
            </a:xfrm>
            <a:prstGeom prst="rect">
              <a:avLst/>
            </a:prstGeom>
            <a:solidFill>
              <a:srgbClr val="F3D6EE"/>
            </a:solidFill>
            <a:ln>
              <a:noFill/>
            </a:ln>
          </p:spPr>
        </p:sp>
        <p:sp>
          <p:nvSpPr>
            <p:cNvPr id="61" name="node01.row.item-007.c4.heat-gap"/>
            <p:cNvSpPr/>
            <p:nvPr/>
          </p:nvSpPr>
          <p:spPr>
            <a:xfrm>
              <a:off x="10210800" y="3556000"/>
              <a:ext cx="1257300" cy="457200"/>
            </a:xfrm>
            <a:prstGeom prst="rect">
              <a:avLst/>
            </a:prstGeom>
            <a:solidFill>
              <a:srgbClr val="FFFFFF"/>
            </a:solidFill>
            <a:ln>
              <a:noFill/>
            </a:ln>
          </p:spPr>
        </p:sp>
        <p:sp>
          <p:nvSpPr>
            <p:cNvPr id="62" name="node01.row.item-007.c4.heat"/>
            <p:cNvSpPr/>
            <p:nvPr/>
          </p:nvSpPr>
          <p:spPr>
            <a:xfrm>
              <a:off x="10229850" y="3575050"/>
              <a:ext cx="1219200" cy="419100"/>
            </a:xfrm>
            <a:prstGeom prst="rect">
              <a:avLst/>
            </a:prstGeom>
            <a:solidFill>
              <a:srgbClr val="CED7E6"/>
            </a:solidFill>
            <a:ln>
              <a:noFill/>
            </a:ln>
          </p:spPr>
        </p:sp>
        <p:sp>
          <p:nvSpPr>
            <p:cNvPr id="63" name="node01.row.item-008.c1.heat-gap"/>
            <p:cNvSpPr/>
            <p:nvPr/>
          </p:nvSpPr>
          <p:spPr>
            <a:xfrm>
              <a:off x="6438900" y="4013200"/>
              <a:ext cx="1257300" cy="457200"/>
            </a:xfrm>
            <a:prstGeom prst="rect">
              <a:avLst/>
            </a:prstGeom>
            <a:solidFill>
              <a:srgbClr val="FFFFFF"/>
            </a:solidFill>
            <a:ln>
              <a:noFill/>
            </a:ln>
          </p:spPr>
        </p:sp>
        <p:sp>
          <p:nvSpPr>
            <p:cNvPr id="64" name="node01.row.item-008.c1.heat"/>
            <p:cNvSpPr/>
            <p:nvPr/>
          </p:nvSpPr>
          <p:spPr>
            <a:xfrm>
              <a:off x="6457950" y="4032250"/>
              <a:ext cx="1219200" cy="419100"/>
            </a:xfrm>
            <a:prstGeom prst="rect">
              <a:avLst/>
            </a:prstGeom>
            <a:solidFill>
              <a:srgbClr val="F3D6EE"/>
            </a:solidFill>
            <a:ln>
              <a:noFill/>
            </a:ln>
          </p:spPr>
        </p:sp>
        <p:sp>
          <p:nvSpPr>
            <p:cNvPr id="65" name="node01.row.item-008.c2.heat-gap"/>
            <p:cNvSpPr/>
            <p:nvPr/>
          </p:nvSpPr>
          <p:spPr>
            <a:xfrm>
              <a:off x="7696200" y="4013200"/>
              <a:ext cx="1257300" cy="457200"/>
            </a:xfrm>
            <a:prstGeom prst="rect">
              <a:avLst/>
            </a:prstGeom>
            <a:solidFill>
              <a:srgbClr val="FFFFFF"/>
            </a:solidFill>
            <a:ln>
              <a:noFill/>
            </a:ln>
          </p:spPr>
        </p:sp>
        <p:sp>
          <p:nvSpPr>
            <p:cNvPr id="66" name="node01.row.item-008.c2.heat"/>
            <p:cNvSpPr/>
            <p:nvPr/>
          </p:nvSpPr>
          <p:spPr>
            <a:xfrm>
              <a:off x="7715250" y="4032250"/>
              <a:ext cx="1219200" cy="419100"/>
            </a:xfrm>
            <a:prstGeom prst="rect">
              <a:avLst/>
            </a:prstGeom>
            <a:solidFill>
              <a:srgbClr val="F3D6EE"/>
            </a:solidFill>
            <a:ln>
              <a:noFill/>
            </a:ln>
          </p:spPr>
        </p:sp>
        <p:sp>
          <p:nvSpPr>
            <p:cNvPr id="67" name="node01.row.item-008.c3.heat-gap"/>
            <p:cNvSpPr/>
            <p:nvPr/>
          </p:nvSpPr>
          <p:spPr>
            <a:xfrm>
              <a:off x="8953500" y="4013200"/>
              <a:ext cx="1257300" cy="457200"/>
            </a:xfrm>
            <a:prstGeom prst="rect">
              <a:avLst/>
            </a:prstGeom>
            <a:solidFill>
              <a:srgbClr val="FFFFFF"/>
            </a:solidFill>
            <a:ln>
              <a:noFill/>
            </a:ln>
          </p:spPr>
        </p:sp>
        <p:sp>
          <p:nvSpPr>
            <p:cNvPr id="68" name="node01.row.item-008.c3.heat"/>
            <p:cNvSpPr/>
            <p:nvPr/>
          </p:nvSpPr>
          <p:spPr>
            <a:xfrm>
              <a:off x="8972550" y="4032250"/>
              <a:ext cx="1219200" cy="419100"/>
            </a:xfrm>
            <a:prstGeom prst="rect">
              <a:avLst/>
            </a:prstGeom>
            <a:solidFill>
              <a:srgbClr val="F3D6EE"/>
            </a:solidFill>
            <a:ln>
              <a:noFill/>
            </a:ln>
          </p:spPr>
        </p:sp>
        <p:sp>
          <p:nvSpPr>
            <p:cNvPr id="69" name="node01.row.item-008.c4.heat-gap"/>
            <p:cNvSpPr/>
            <p:nvPr/>
          </p:nvSpPr>
          <p:spPr>
            <a:xfrm>
              <a:off x="10210800" y="4013200"/>
              <a:ext cx="1257300" cy="457200"/>
            </a:xfrm>
            <a:prstGeom prst="rect">
              <a:avLst/>
            </a:prstGeom>
            <a:solidFill>
              <a:srgbClr val="FFFFFF"/>
            </a:solidFill>
            <a:ln>
              <a:noFill/>
            </a:ln>
          </p:spPr>
        </p:sp>
        <p:sp>
          <p:nvSpPr>
            <p:cNvPr id="70" name="node01.row.item-008.c4.heat"/>
            <p:cNvSpPr/>
            <p:nvPr/>
          </p:nvSpPr>
          <p:spPr>
            <a:xfrm>
              <a:off x="10229850" y="4032250"/>
              <a:ext cx="1219200" cy="419100"/>
            </a:xfrm>
            <a:prstGeom prst="rect">
              <a:avLst/>
            </a:prstGeom>
            <a:solidFill>
              <a:srgbClr val="CED7E6"/>
            </a:solidFill>
            <a:ln>
              <a:noFill/>
            </a:ln>
          </p:spPr>
        </p:sp>
        <p:sp>
          <p:nvSpPr>
            <p:cNvPr id="71" name="node01.row.item-009.c1.heat-gap"/>
            <p:cNvSpPr/>
            <p:nvPr/>
          </p:nvSpPr>
          <p:spPr>
            <a:xfrm>
              <a:off x="6438900" y="4470400"/>
              <a:ext cx="1257300" cy="457200"/>
            </a:xfrm>
            <a:prstGeom prst="rect">
              <a:avLst/>
            </a:prstGeom>
            <a:solidFill>
              <a:srgbClr val="FFFFFF"/>
            </a:solidFill>
            <a:ln>
              <a:noFill/>
            </a:ln>
          </p:spPr>
        </p:sp>
        <p:sp>
          <p:nvSpPr>
            <p:cNvPr id="72" name="node01.row.item-009.c1.heat"/>
            <p:cNvSpPr/>
            <p:nvPr/>
          </p:nvSpPr>
          <p:spPr>
            <a:xfrm>
              <a:off x="6457950" y="4489450"/>
              <a:ext cx="1219200" cy="419100"/>
            </a:xfrm>
            <a:prstGeom prst="rect">
              <a:avLst/>
            </a:prstGeom>
            <a:solidFill>
              <a:srgbClr val="FB7FE8"/>
            </a:solidFill>
            <a:ln>
              <a:noFill/>
            </a:ln>
          </p:spPr>
        </p:sp>
        <p:sp>
          <p:nvSpPr>
            <p:cNvPr id="73" name="node01.row.item-009.c2.heat-gap"/>
            <p:cNvSpPr/>
            <p:nvPr/>
          </p:nvSpPr>
          <p:spPr>
            <a:xfrm>
              <a:off x="7696200" y="4470400"/>
              <a:ext cx="1257300" cy="457200"/>
            </a:xfrm>
            <a:prstGeom prst="rect">
              <a:avLst/>
            </a:prstGeom>
            <a:solidFill>
              <a:srgbClr val="FFFFFF"/>
            </a:solidFill>
            <a:ln>
              <a:noFill/>
            </a:ln>
          </p:spPr>
        </p:sp>
        <p:sp>
          <p:nvSpPr>
            <p:cNvPr id="74" name="node01.row.item-009.c2.heat"/>
            <p:cNvSpPr/>
            <p:nvPr/>
          </p:nvSpPr>
          <p:spPr>
            <a:xfrm>
              <a:off x="7715250" y="4489450"/>
              <a:ext cx="1219200" cy="419100"/>
            </a:xfrm>
            <a:prstGeom prst="rect">
              <a:avLst/>
            </a:prstGeom>
            <a:solidFill>
              <a:srgbClr val="FB7FE8"/>
            </a:solidFill>
            <a:ln>
              <a:noFill/>
            </a:ln>
          </p:spPr>
        </p:sp>
        <p:sp>
          <p:nvSpPr>
            <p:cNvPr id="75" name="node01.row.item-009.c3.heat-gap"/>
            <p:cNvSpPr/>
            <p:nvPr/>
          </p:nvSpPr>
          <p:spPr>
            <a:xfrm>
              <a:off x="8953500" y="4470400"/>
              <a:ext cx="1257300" cy="457200"/>
            </a:xfrm>
            <a:prstGeom prst="rect">
              <a:avLst/>
            </a:prstGeom>
            <a:solidFill>
              <a:srgbClr val="FFFFFF"/>
            </a:solidFill>
            <a:ln>
              <a:noFill/>
            </a:ln>
          </p:spPr>
        </p:sp>
        <p:sp>
          <p:nvSpPr>
            <p:cNvPr id="76" name="node01.row.item-009.c3.heat"/>
            <p:cNvSpPr/>
            <p:nvPr/>
          </p:nvSpPr>
          <p:spPr>
            <a:xfrm>
              <a:off x="8972550" y="4489450"/>
              <a:ext cx="1219200" cy="419100"/>
            </a:xfrm>
            <a:prstGeom prst="rect">
              <a:avLst/>
            </a:prstGeom>
            <a:solidFill>
              <a:srgbClr val="F3D6EE"/>
            </a:solidFill>
            <a:ln>
              <a:noFill/>
            </a:ln>
          </p:spPr>
        </p:sp>
        <p:sp>
          <p:nvSpPr>
            <p:cNvPr id="77" name="node01.row.item-009.c4.heat-gap"/>
            <p:cNvSpPr/>
            <p:nvPr/>
          </p:nvSpPr>
          <p:spPr>
            <a:xfrm>
              <a:off x="10210800" y="4470400"/>
              <a:ext cx="1257300" cy="457200"/>
            </a:xfrm>
            <a:prstGeom prst="rect">
              <a:avLst/>
            </a:prstGeom>
            <a:solidFill>
              <a:srgbClr val="FFFFFF"/>
            </a:solidFill>
            <a:ln>
              <a:noFill/>
            </a:ln>
          </p:spPr>
        </p:sp>
        <p:sp>
          <p:nvSpPr>
            <p:cNvPr id="78" name="node01.row.item-009.c4.heat"/>
            <p:cNvSpPr/>
            <p:nvPr/>
          </p:nvSpPr>
          <p:spPr>
            <a:xfrm>
              <a:off x="10229850" y="4489450"/>
              <a:ext cx="1219200" cy="419100"/>
            </a:xfrm>
            <a:prstGeom prst="rect">
              <a:avLst/>
            </a:prstGeom>
            <a:solidFill>
              <a:srgbClr val="CED7E6"/>
            </a:solidFill>
            <a:ln>
              <a:noFill/>
            </a:ln>
          </p:spPr>
        </p:sp>
        <p:sp>
          <p:nvSpPr>
            <p:cNvPr id="79" name="node01.row.item-010.c1.heat-gap"/>
            <p:cNvSpPr/>
            <p:nvPr/>
          </p:nvSpPr>
          <p:spPr>
            <a:xfrm>
              <a:off x="6438900" y="4927600"/>
              <a:ext cx="1257300" cy="457200"/>
            </a:xfrm>
            <a:prstGeom prst="rect">
              <a:avLst/>
            </a:prstGeom>
            <a:solidFill>
              <a:srgbClr val="FFFFFF"/>
            </a:solidFill>
            <a:ln>
              <a:noFill/>
            </a:ln>
          </p:spPr>
        </p:sp>
        <p:sp>
          <p:nvSpPr>
            <p:cNvPr id="80" name="node01.row.item-010.c1.heat"/>
            <p:cNvSpPr/>
            <p:nvPr/>
          </p:nvSpPr>
          <p:spPr>
            <a:xfrm>
              <a:off x="6457950" y="4946650"/>
              <a:ext cx="1219200" cy="419100"/>
            </a:xfrm>
            <a:prstGeom prst="rect">
              <a:avLst/>
            </a:prstGeom>
            <a:solidFill>
              <a:srgbClr val="F3D6EE"/>
            </a:solidFill>
            <a:ln>
              <a:noFill/>
            </a:ln>
          </p:spPr>
        </p:sp>
        <p:sp>
          <p:nvSpPr>
            <p:cNvPr id="81" name="node01.row.item-010.c2.heat-gap"/>
            <p:cNvSpPr/>
            <p:nvPr/>
          </p:nvSpPr>
          <p:spPr>
            <a:xfrm>
              <a:off x="7696200" y="4927600"/>
              <a:ext cx="1257300" cy="457200"/>
            </a:xfrm>
            <a:prstGeom prst="rect">
              <a:avLst/>
            </a:prstGeom>
            <a:solidFill>
              <a:srgbClr val="FFFFFF"/>
            </a:solidFill>
            <a:ln>
              <a:noFill/>
            </a:ln>
          </p:spPr>
        </p:sp>
        <p:sp>
          <p:nvSpPr>
            <p:cNvPr id="82" name="node01.row.item-010.c2.heat"/>
            <p:cNvSpPr/>
            <p:nvPr/>
          </p:nvSpPr>
          <p:spPr>
            <a:xfrm>
              <a:off x="7715250" y="4946650"/>
              <a:ext cx="1219200" cy="419100"/>
            </a:xfrm>
            <a:prstGeom prst="rect">
              <a:avLst/>
            </a:prstGeom>
            <a:solidFill>
              <a:srgbClr val="F3D6EE"/>
            </a:solidFill>
            <a:ln>
              <a:noFill/>
            </a:ln>
          </p:spPr>
        </p:sp>
        <p:sp>
          <p:nvSpPr>
            <p:cNvPr id="83" name="node01.row.item-010.c3.heat-gap"/>
            <p:cNvSpPr/>
            <p:nvPr/>
          </p:nvSpPr>
          <p:spPr>
            <a:xfrm>
              <a:off x="8953500" y="4927600"/>
              <a:ext cx="1257300" cy="457200"/>
            </a:xfrm>
            <a:prstGeom prst="rect">
              <a:avLst/>
            </a:prstGeom>
            <a:solidFill>
              <a:srgbClr val="FFFFFF"/>
            </a:solidFill>
            <a:ln>
              <a:noFill/>
            </a:ln>
          </p:spPr>
        </p:sp>
        <p:sp>
          <p:nvSpPr>
            <p:cNvPr id="84" name="node01.row.item-010.c3.heat"/>
            <p:cNvSpPr/>
            <p:nvPr/>
          </p:nvSpPr>
          <p:spPr>
            <a:xfrm>
              <a:off x="8972550" y="4946650"/>
              <a:ext cx="1219200" cy="419100"/>
            </a:xfrm>
            <a:prstGeom prst="rect">
              <a:avLst/>
            </a:prstGeom>
            <a:solidFill>
              <a:srgbClr val="F3D6EE"/>
            </a:solidFill>
            <a:ln>
              <a:noFill/>
            </a:ln>
          </p:spPr>
        </p:sp>
        <p:sp>
          <p:nvSpPr>
            <p:cNvPr id="85" name="node01.row.item-010.c4.heat-gap"/>
            <p:cNvSpPr/>
            <p:nvPr/>
          </p:nvSpPr>
          <p:spPr>
            <a:xfrm>
              <a:off x="10210800" y="4927600"/>
              <a:ext cx="1257300" cy="457200"/>
            </a:xfrm>
            <a:prstGeom prst="rect">
              <a:avLst/>
            </a:prstGeom>
            <a:solidFill>
              <a:srgbClr val="FFFFFF"/>
            </a:solidFill>
            <a:ln>
              <a:noFill/>
            </a:ln>
          </p:spPr>
        </p:sp>
        <p:sp>
          <p:nvSpPr>
            <p:cNvPr id="86" name="node01.row.item-010.c4.heat"/>
            <p:cNvSpPr/>
            <p:nvPr/>
          </p:nvSpPr>
          <p:spPr>
            <a:xfrm>
              <a:off x="10229850" y="4946650"/>
              <a:ext cx="1219200" cy="419100"/>
            </a:xfrm>
            <a:prstGeom prst="rect">
              <a:avLst/>
            </a:prstGeom>
            <a:solidFill>
              <a:srgbClr val="CED7E6"/>
            </a:solidFill>
            <a:ln>
              <a:noFill/>
            </a:ln>
          </p:spPr>
        </p:sp>
        <p:graphicFrame>
          <p:nvGraphicFramePr>
            <p:cNvPr id="87" name="node01.native"/>
            <p:cNvGraphicFramePr>
              <a:graphicFrameLocks noGrp="1"/>
            </p:cNvGraphicFramePr>
            <p:nvPr>
              <p:extLst>
                <p:ext uri="{D42A27DB-BD31-4B8C-83A1-F6EECF244321}">
                  <p14:modId xmlns:p14="http://schemas.microsoft.com/office/powerpoint/2010/main" val="1579011935"/>
                </p:ext>
              </p:extLst>
            </p:nvPr>
          </p:nvGraphicFramePr>
          <p:xfrm>
            <a:off x="4381500" y="457200"/>
            <a:ext cx="7086600" cy="4927600"/>
          </p:xfrm>
          <a:graphic>
            <a:graphicData uri="http://schemas.openxmlformats.org/drawingml/2006/table">
              <a:tbl>
                <a:tblPr/>
                <a:tblGrid>
                  <a:gridCol w="2057400"/>
                  <a:gridCol w="1257300"/>
                  <a:gridCol w="1257300"/>
                  <a:gridCol w="1257300"/>
                  <a:gridCol w="12573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STATEMENT</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PHYSICIANS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NURSES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FRONT DESK</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LEADERS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I understand why we change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4.1</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3.9</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3.6</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4.6</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I have the training I need</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3.2</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2.8</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3.0</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3.9</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The system saves me time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2.4</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2.6</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2.9</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3.8</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Leaders support the change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3.5</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3.7</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3.4</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4.7</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I know who to ask for help</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3.3</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3.8</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3.1</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4.2</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Workflows fit how I work</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2.1</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2.5</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3.2</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3.5</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Data in the system is trusted</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3.1</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3.2</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3.0</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4.0</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I would recommend it to a peer</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2.9</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3.1</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3.3</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4.4</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Alerts help more than they interrupt</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2.2</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2.4</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3.4</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3.6</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Reports meet my needs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3.0</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3.3</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2.8</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4.1</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105" name="node02"/>
          <p:cNvGrpSpPr/>
          <p:nvPr/>
        </p:nvGrpSpPr>
        <p:grpSpPr>
          <a:xfrm>
            <a:off x="4381500" y="5486400"/>
            <a:ext cx="5232400" cy="190500"/>
            <a:chOff x="4381500" y="5486400"/>
            <a:chExt cx="5232400" cy="190500"/>
          </a:xfrm>
        </p:grpSpPr>
        <p:sp>
          <p:nvSpPr>
            <p:cNvPr id="88" name="node02.items.slot-001.swatch"/>
            <p:cNvSpPr/>
            <p:nvPr/>
          </p:nvSpPr>
          <p:spPr>
            <a:xfrm>
              <a:off x="4381500" y="5518150"/>
              <a:ext cx="228600" cy="127000"/>
            </a:xfrm>
            <a:prstGeom prst="rect">
              <a:avLst/>
            </a:prstGeom>
            <a:solidFill>
              <a:srgbClr val="E8EEF8"/>
            </a:solidFill>
            <a:ln>
              <a:noFill/>
            </a:ln>
          </p:spPr>
        </p:sp>
        <p:sp>
          <p:nvSpPr>
            <p:cNvPr id="89" name="node02.items.slot-001.text"/>
            <p:cNvSpPr/>
            <p:nvPr/>
          </p:nvSpPr>
          <p:spPr>
            <a:xfrm>
              <a:off x="4673600" y="5486400"/>
              <a:ext cx="5461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4.5–5.0</a:t>
              </a:r>
              <a:endParaRPr lang="en-US" sz="1100" spc="0" kern="0" b="0" i="0" dirty="0">
                <a:solidFill>
                  <a:srgbClr val="070154"/>
                </a:solidFill>
                <a:latin typeface="IBM Plex Sans"/>
                <a:ea typeface="IBM Plex Sans"/>
                <a:cs typeface="IBM Plex Sans"/>
              </a:endParaRPr>
            </a:p>
          </p:txBody>
        </p:sp>
        <p:sp>
          <p:nvSpPr>
            <p:cNvPr id="90" name="node02.items.slot-002.swatch"/>
            <p:cNvSpPr/>
            <p:nvPr/>
          </p:nvSpPr>
          <p:spPr>
            <a:xfrm>
              <a:off x="5448300" y="5518150"/>
              <a:ext cx="228600" cy="127000"/>
            </a:xfrm>
            <a:prstGeom prst="rect">
              <a:avLst/>
            </a:prstGeom>
            <a:solidFill>
              <a:srgbClr val="CED7E6"/>
            </a:solidFill>
            <a:ln>
              <a:noFill/>
            </a:ln>
          </p:spPr>
        </p:sp>
        <p:sp>
          <p:nvSpPr>
            <p:cNvPr id="91" name="node02.items.slot-002.text"/>
            <p:cNvSpPr/>
            <p:nvPr/>
          </p:nvSpPr>
          <p:spPr>
            <a:xfrm>
              <a:off x="5740400" y="5486400"/>
              <a:ext cx="5461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3.5–4.4</a:t>
              </a:r>
              <a:endParaRPr lang="en-US" sz="1100" spc="0" kern="0" b="0" i="0" dirty="0">
                <a:solidFill>
                  <a:srgbClr val="070154"/>
                </a:solidFill>
                <a:latin typeface="IBM Plex Sans"/>
                <a:ea typeface="IBM Plex Sans"/>
                <a:cs typeface="IBM Plex Sans"/>
              </a:endParaRPr>
            </a:p>
          </p:txBody>
        </p:sp>
        <p:sp>
          <p:nvSpPr>
            <p:cNvPr id="92" name="node02.items.slot-003.swatch"/>
            <p:cNvSpPr/>
            <p:nvPr/>
          </p:nvSpPr>
          <p:spPr>
            <a:xfrm>
              <a:off x="6515100" y="5518150"/>
              <a:ext cx="228600" cy="127000"/>
            </a:xfrm>
            <a:prstGeom prst="rect">
              <a:avLst/>
            </a:prstGeom>
            <a:solidFill>
              <a:srgbClr val="F3D6EE"/>
            </a:solidFill>
            <a:ln>
              <a:noFill/>
            </a:ln>
          </p:spPr>
        </p:sp>
        <p:sp>
          <p:nvSpPr>
            <p:cNvPr id="93" name="node02.items.slot-003.text"/>
            <p:cNvSpPr/>
            <p:nvPr/>
          </p:nvSpPr>
          <p:spPr>
            <a:xfrm>
              <a:off x="6807200" y="5486400"/>
              <a:ext cx="5461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2.5–3.4</a:t>
              </a:r>
              <a:endParaRPr lang="en-US" sz="1100" spc="0" kern="0" b="0" i="0" dirty="0">
                <a:solidFill>
                  <a:srgbClr val="070154"/>
                </a:solidFill>
                <a:latin typeface="IBM Plex Sans"/>
                <a:ea typeface="IBM Plex Sans"/>
                <a:cs typeface="IBM Plex Sans"/>
              </a:endParaRPr>
            </a:p>
          </p:txBody>
        </p:sp>
        <p:sp>
          <p:nvSpPr>
            <p:cNvPr id="94" name="node02.items.slot-004.swatch"/>
            <p:cNvSpPr/>
            <p:nvPr/>
          </p:nvSpPr>
          <p:spPr>
            <a:xfrm>
              <a:off x="7581900" y="5518150"/>
              <a:ext cx="228600" cy="127000"/>
            </a:xfrm>
            <a:prstGeom prst="rect">
              <a:avLst/>
            </a:prstGeom>
            <a:solidFill>
              <a:srgbClr val="FB7FE8"/>
            </a:solidFill>
            <a:ln>
              <a:noFill/>
            </a:ln>
          </p:spPr>
        </p:sp>
        <p:sp>
          <p:nvSpPr>
            <p:cNvPr id="95" name="node02.items.slot-004.text"/>
            <p:cNvSpPr/>
            <p:nvPr/>
          </p:nvSpPr>
          <p:spPr>
            <a:xfrm>
              <a:off x="7874000" y="5486400"/>
              <a:ext cx="5461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1.5–2.4</a:t>
              </a:r>
              <a:endParaRPr lang="en-US" sz="1100" spc="0" kern="0" b="0" i="0" dirty="0">
                <a:solidFill>
                  <a:srgbClr val="070154"/>
                </a:solidFill>
                <a:latin typeface="IBM Plex Sans"/>
                <a:ea typeface="IBM Plex Sans"/>
                <a:cs typeface="IBM Plex Sans"/>
              </a:endParaRPr>
            </a:p>
          </p:txBody>
        </p:sp>
        <p:sp>
          <p:nvSpPr>
            <p:cNvPr id="96" name="node02.items.slot-005.swatch"/>
            <p:cNvSpPr/>
            <p:nvPr/>
          </p:nvSpPr>
          <p:spPr>
            <a:xfrm>
              <a:off x="8648700" y="5518150"/>
              <a:ext cx="228600" cy="127000"/>
            </a:xfrm>
            <a:prstGeom prst="rect">
              <a:avLst/>
            </a:prstGeom>
            <a:solidFill>
              <a:srgbClr val="F900D3"/>
            </a:solidFill>
            <a:ln>
              <a:noFill/>
            </a:ln>
          </p:spPr>
        </p:sp>
        <p:sp>
          <p:nvSpPr>
            <p:cNvPr id="97" name="node02.items.slot-005.text"/>
            <p:cNvSpPr/>
            <p:nvPr/>
          </p:nvSpPr>
          <p:spPr>
            <a:xfrm>
              <a:off x="8940800" y="5486400"/>
              <a:ext cx="6731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Under 1.5</a:t>
              </a:r>
              <a:endParaRPr lang="en-US" sz="1100" spc="0" kern="0" b="0" i="0" dirty="0">
                <a:solidFill>
                  <a:srgbClr val="070154"/>
                </a:solidFill>
                <a:latin typeface="IBM Plex Sans"/>
                <a:ea typeface="IBM Plex Sans"/>
                <a:cs typeface="IBM Plex Sans"/>
              </a:endParaRPr>
            </a:p>
          </p:txBody>
        </p:sp>
      </p:grpSp>
      <p:grpSp>
        <p:nvGrpSpPr>
          <p:cNvPr id="106" name="node03"/>
          <p:cNvGrpSpPr/>
          <p:nvPr/>
        </p:nvGrpSpPr>
        <p:grpSpPr>
          <a:xfrm>
            <a:off x="723900" y="2286000"/>
            <a:ext cx="3429000" cy="1587500"/>
            <a:chOff x="723900" y="2286000"/>
            <a:chExt cx="3429000" cy="1587500"/>
          </a:xfrm>
        </p:grpSpPr>
        <p:sp>
          <p:nvSpPr>
            <p:cNvPr id="98" name="node03.source-001.bullet"/>
            <p:cNvSpPr/>
            <p:nvPr/>
          </p:nvSpPr>
          <p:spPr>
            <a:xfrm>
              <a:off x="723900" y="2374900"/>
              <a:ext cx="38100" cy="38100"/>
            </a:xfrm>
            <a:prstGeom prst="rect">
              <a:avLst/>
            </a:prstGeom>
            <a:solidFill>
              <a:srgbClr val="070154"/>
            </a:solidFill>
            <a:ln>
              <a:noFill/>
            </a:ln>
          </p:spPr>
        </p:sp>
        <p:sp>
          <p:nvSpPr>
            <p:cNvPr id="99" name="node03.source-001.text"/>
            <p:cNvSpPr/>
            <p:nvPr/>
          </p:nvSpPr>
          <p:spPr>
            <a:xfrm>
              <a:off x="876300" y="2286000"/>
              <a:ext cx="32766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Clinicians struggle most.</a:t>
              </a:r>
              <a:r>
                <a:rPr lang="en-US" sz="1200" spc="0" kern="0" b="0" i="0" dirty="0">
                  <a:solidFill>
                    <a:srgbClr val="50658E"/>
                  </a:solidFill>
                  <a:latin typeface="IBM Plex Sans"/>
                  <a:ea typeface="IBM Plex Sans"/>
                  <a:cs typeface="IBM Plex Sans"/>
                </a:rPr>
                <a:t xml:space="preserve"> Physicians and nurses rate time savings, workflow fit and alerts lowest.</a:t>
              </a:r>
              <a:endParaRPr lang="en-US" sz="1200" spc="0" kern="0" b="0" i="0" dirty="0">
                <a:solidFill>
                  <a:srgbClr val="070154"/>
                </a:solidFill>
                <a:latin typeface="IBM Plex Sans"/>
                <a:ea typeface="IBM Plex Sans"/>
                <a:cs typeface="IBM Plex Sans"/>
              </a:endParaRPr>
            </a:p>
          </p:txBody>
        </p:sp>
        <p:sp>
          <p:nvSpPr>
            <p:cNvPr id="100" name="node03.source-002.bullet"/>
            <p:cNvSpPr/>
            <p:nvPr/>
          </p:nvSpPr>
          <p:spPr>
            <a:xfrm>
              <a:off x="723900" y="3060700"/>
              <a:ext cx="38100" cy="38100"/>
            </a:xfrm>
            <a:prstGeom prst="rect">
              <a:avLst/>
            </a:prstGeom>
            <a:solidFill>
              <a:srgbClr val="070154"/>
            </a:solidFill>
            <a:ln>
              <a:noFill/>
            </a:ln>
          </p:spPr>
        </p:sp>
        <p:sp>
          <p:nvSpPr>
            <p:cNvPr id="101" name="node03.source-002.text"/>
            <p:cNvSpPr/>
            <p:nvPr/>
          </p:nvSpPr>
          <p:spPr>
            <a:xfrm>
              <a:off x="876300" y="29718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Leaders are upbeat.</a:t>
              </a:r>
              <a:r>
                <a:rPr lang="en-US" sz="1200" spc="0" kern="0" b="0" i="0" dirty="0">
                  <a:solidFill>
                    <a:srgbClr val="50658E"/>
                  </a:solidFill>
                  <a:latin typeface="IBM Plex Sans"/>
                  <a:ea typeface="IBM Plex Sans"/>
                  <a:cs typeface="IBM Plex Sans"/>
                </a:rPr>
                <a:t xml:space="preserve"> Their scores run well above those of the people doing the work.</a:t>
              </a:r>
              <a:endParaRPr lang="en-US" sz="1200" spc="0" kern="0" b="0" i="0" dirty="0">
                <a:solidFill>
                  <a:srgbClr val="070154"/>
                </a:solidFill>
                <a:latin typeface="IBM Plex Sans"/>
                <a:ea typeface="IBM Plex Sans"/>
                <a:cs typeface="IBM Plex Sans"/>
              </a:endParaRPr>
            </a:p>
          </p:txBody>
        </p:sp>
        <p:sp>
          <p:nvSpPr>
            <p:cNvPr id="102" name="node03.source-003.bullet"/>
            <p:cNvSpPr/>
            <p:nvPr/>
          </p:nvSpPr>
          <p:spPr>
            <a:xfrm>
              <a:off x="723900" y="3530600"/>
              <a:ext cx="38100" cy="38100"/>
            </a:xfrm>
            <a:prstGeom prst="rect">
              <a:avLst/>
            </a:prstGeom>
            <a:solidFill>
              <a:srgbClr val="070154"/>
            </a:solidFill>
            <a:ln>
              <a:noFill/>
            </a:ln>
          </p:spPr>
        </p:sp>
        <p:sp>
          <p:nvSpPr>
            <p:cNvPr id="103" name="node03.source-003.text"/>
            <p:cNvSpPr/>
            <p:nvPr/>
          </p:nvSpPr>
          <p:spPr>
            <a:xfrm>
              <a:off x="876300" y="34417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Act on the gap.</a:t>
              </a:r>
              <a:r>
                <a:rPr lang="en-US" sz="1200" spc="0" kern="0" b="0" i="0" dirty="0">
                  <a:solidFill>
                    <a:srgbClr val="50658E"/>
                  </a:solidFill>
                  <a:latin typeface="IBM Plex Sans"/>
                  <a:ea typeface="IBM Plex Sans"/>
                  <a:cs typeface="IBM Plex Sans"/>
                </a:rPr>
                <a:t xml:space="preserve"> Fix alert noise and order-set layout first; both are configuration, not build.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ource-20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Front door scores well on process, poorly on data</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68</a:t>
            </a:fld>
            <a:endParaRPr lang="en-US" sz="700" spc="0" kern="0" b="0" i="0" dirty="0">
              <a:solidFill>
                <a:srgbClr val="070154"/>
              </a:solidFill>
              <a:latin typeface="IBM Plex Mono SemiBold"/>
              <a:ea typeface="IBM Plex Mono SemiBold"/>
              <a:cs typeface="IBM Plex Mono SemiBold"/>
            </a:endParaRPr>
          </a:p>
        </p:txBody>
      </p:sp>
      <p:grpSp>
        <p:nvGrpSpPr>
          <p:cNvPr id="58" name="node01"/>
          <p:cNvGrpSpPr/>
          <p:nvPr/>
        </p:nvGrpSpPr>
        <p:grpSpPr>
          <a:xfrm>
            <a:off x="723900" y="1600200"/>
            <a:ext cx="10744200" cy="3810000"/>
            <a:chOff x="723900" y="1600200"/>
            <a:chExt cx="10744200" cy="3810000"/>
          </a:xfrm>
        </p:grpSpPr>
        <p:sp>
          <p:nvSpPr>
            <p:cNvPr id="7" name="node01.row.item-001.h0.heat-gap"/>
            <p:cNvSpPr/>
            <p:nvPr/>
          </p:nvSpPr>
          <p:spPr>
            <a:xfrm>
              <a:off x="2781300" y="1955800"/>
              <a:ext cx="838200" cy="863600"/>
            </a:xfrm>
            <a:prstGeom prst="rect">
              <a:avLst/>
            </a:prstGeom>
            <a:solidFill>
              <a:srgbClr val="FFFFFF"/>
            </a:solidFill>
            <a:ln>
              <a:noFill/>
            </a:ln>
          </p:spPr>
        </p:sp>
        <p:sp>
          <p:nvSpPr>
            <p:cNvPr id="8" name="node01.row.item-001.h0.heat"/>
            <p:cNvSpPr/>
            <p:nvPr/>
          </p:nvSpPr>
          <p:spPr>
            <a:xfrm>
              <a:off x="2800350" y="1974850"/>
              <a:ext cx="800100" cy="825500"/>
            </a:xfrm>
            <a:prstGeom prst="rect">
              <a:avLst/>
            </a:prstGeom>
            <a:solidFill>
              <a:srgbClr val="7C9BFF"/>
            </a:solidFill>
            <a:ln>
              <a:noFill/>
            </a:ln>
          </p:spPr>
        </p:sp>
        <p:sp>
          <p:nvSpPr>
            <p:cNvPr id="9" name="node01.row.item-001.h1.heat-gap"/>
            <p:cNvSpPr/>
            <p:nvPr/>
          </p:nvSpPr>
          <p:spPr>
            <a:xfrm>
              <a:off x="3619500" y="1955800"/>
              <a:ext cx="838200" cy="863600"/>
            </a:xfrm>
            <a:prstGeom prst="rect">
              <a:avLst/>
            </a:prstGeom>
            <a:solidFill>
              <a:srgbClr val="FFFFFF"/>
            </a:solidFill>
            <a:ln>
              <a:noFill/>
            </a:ln>
          </p:spPr>
        </p:sp>
        <p:sp>
          <p:nvSpPr>
            <p:cNvPr id="10" name="node01.row.item-001.h1.heat"/>
            <p:cNvSpPr/>
            <p:nvPr/>
          </p:nvSpPr>
          <p:spPr>
            <a:xfrm>
              <a:off x="3638550" y="1974850"/>
              <a:ext cx="800100" cy="825500"/>
            </a:xfrm>
            <a:prstGeom prst="rect">
              <a:avLst/>
            </a:prstGeom>
            <a:solidFill>
              <a:srgbClr val="B9C9F0"/>
            </a:solidFill>
            <a:ln>
              <a:noFill/>
            </a:ln>
          </p:spPr>
        </p:sp>
        <p:sp>
          <p:nvSpPr>
            <p:cNvPr id="11" name="node01.row.item-001.h2.heat-gap"/>
            <p:cNvSpPr/>
            <p:nvPr/>
          </p:nvSpPr>
          <p:spPr>
            <a:xfrm>
              <a:off x="4457700" y="1955800"/>
              <a:ext cx="838200" cy="863600"/>
            </a:xfrm>
            <a:prstGeom prst="rect">
              <a:avLst/>
            </a:prstGeom>
            <a:solidFill>
              <a:srgbClr val="FFFFFF"/>
            </a:solidFill>
            <a:ln>
              <a:noFill/>
            </a:ln>
          </p:spPr>
        </p:sp>
        <p:sp>
          <p:nvSpPr>
            <p:cNvPr id="12" name="node01.row.item-001.h2.heat"/>
            <p:cNvSpPr/>
            <p:nvPr/>
          </p:nvSpPr>
          <p:spPr>
            <a:xfrm>
              <a:off x="4476750" y="1974850"/>
              <a:ext cx="800100" cy="825500"/>
            </a:xfrm>
            <a:prstGeom prst="rect">
              <a:avLst/>
            </a:prstGeom>
            <a:solidFill>
              <a:srgbClr val="B9C9F0"/>
            </a:solidFill>
            <a:ln>
              <a:noFill/>
            </a:ln>
          </p:spPr>
        </p:sp>
        <p:sp>
          <p:nvSpPr>
            <p:cNvPr id="13" name="node01.row.item-001.h3.heat-gap"/>
            <p:cNvSpPr/>
            <p:nvPr/>
          </p:nvSpPr>
          <p:spPr>
            <a:xfrm>
              <a:off x="5295900" y="1955800"/>
              <a:ext cx="838200" cy="863600"/>
            </a:xfrm>
            <a:prstGeom prst="rect">
              <a:avLst/>
            </a:prstGeom>
            <a:solidFill>
              <a:srgbClr val="FFFFFF"/>
            </a:solidFill>
            <a:ln>
              <a:noFill/>
            </a:ln>
          </p:spPr>
        </p:sp>
        <p:sp>
          <p:nvSpPr>
            <p:cNvPr id="14" name="node01.row.item-001.h3.heat"/>
            <p:cNvSpPr/>
            <p:nvPr/>
          </p:nvSpPr>
          <p:spPr>
            <a:xfrm>
              <a:off x="5314950" y="1974850"/>
              <a:ext cx="800100" cy="825500"/>
            </a:xfrm>
            <a:prstGeom prst="rect">
              <a:avLst/>
            </a:prstGeom>
            <a:solidFill>
              <a:srgbClr val="7C9BFF"/>
            </a:solidFill>
            <a:ln>
              <a:noFill/>
            </a:ln>
          </p:spPr>
        </p:sp>
        <p:sp>
          <p:nvSpPr>
            <p:cNvPr id="15" name="node01.row.item-001.h4.heat-gap"/>
            <p:cNvSpPr/>
            <p:nvPr/>
          </p:nvSpPr>
          <p:spPr>
            <a:xfrm>
              <a:off x="6134100" y="1955800"/>
              <a:ext cx="838200" cy="863600"/>
            </a:xfrm>
            <a:prstGeom prst="rect">
              <a:avLst/>
            </a:prstGeom>
            <a:solidFill>
              <a:srgbClr val="FFFFFF"/>
            </a:solidFill>
            <a:ln>
              <a:noFill/>
            </a:ln>
          </p:spPr>
        </p:sp>
        <p:sp>
          <p:nvSpPr>
            <p:cNvPr id="16" name="node01.row.item-001.h4.heat"/>
            <p:cNvSpPr/>
            <p:nvPr/>
          </p:nvSpPr>
          <p:spPr>
            <a:xfrm>
              <a:off x="6153150" y="1974850"/>
              <a:ext cx="800100" cy="825500"/>
            </a:xfrm>
            <a:prstGeom prst="rect">
              <a:avLst/>
            </a:prstGeom>
            <a:solidFill>
              <a:srgbClr val="B9C9F0"/>
            </a:solidFill>
            <a:ln>
              <a:noFill/>
            </a:ln>
          </p:spPr>
        </p:sp>
        <p:sp>
          <p:nvSpPr>
            <p:cNvPr id="17" name="node01.row.item-002.h0.heat-gap"/>
            <p:cNvSpPr/>
            <p:nvPr/>
          </p:nvSpPr>
          <p:spPr>
            <a:xfrm>
              <a:off x="2781300" y="2819400"/>
              <a:ext cx="838200" cy="863600"/>
            </a:xfrm>
            <a:prstGeom prst="rect">
              <a:avLst/>
            </a:prstGeom>
            <a:solidFill>
              <a:srgbClr val="FFFFFF"/>
            </a:solidFill>
            <a:ln>
              <a:noFill/>
            </a:ln>
          </p:spPr>
        </p:sp>
        <p:sp>
          <p:nvSpPr>
            <p:cNvPr id="18" name="node01.row.item-002.h0.heat"/>
            <p:cNvSpPr/>
            <p:nvPr/>
          </p:nvSpPr>
          <p:spPr>
            <a:xfrm>
              <a:off x="2800350" y="2838450"/>
              <a:ext cx="800100" cy="825500"/>
            </a:xfrm>
            <a:prstGeom prst="rect">
              <a:avLst/>
            </a:prstGeom>
            <a:solidFill>
              <a:srgbClr val="7C9BFF"/>
            </a:solidFill>
            <a:ln>
              <a:noFill/>
            </a:ln>
          </p:spPr>
        </p:sp>
        <p:sp>
          <p:nvSpPr>
            <p:cNvPr id="19" name="node01.row.item-002.h1.heat-gap"/>
            <p:cNvSpPr/>
            <p:nvPr/>
          </p:nvSpPr>
          <p:spPr>
            <a:xfrm>
              <a:off x="3619500" y="2819400"/>
              <a:ext cx="838200" cy="863600"/>
            </a:xfrm>
            <a:prstGeom prst="rect">
              <a:avLst/>
            </a:prstGeom>
            <a:solidFill>
              <a:srgbClr val="FFFFFF"/>
            </a:solidFill>
            <a:ln>
              <a:noFill/>
            </a:ln>
          </p:spPr>
        </p:sp>
        <p:sp>
          <p:nvSpPr>
            <p:cNvPr id="20" name="node01.row.item-002.h1.heat"/>
            <p:cNvSpPr/>
            <p:nvPr/>
          </p:nvSpPr>
          <p:spPr>
            <a:xfrm>
              <a:off x="3638550" y="2838450"/>
              <a:ext cx="800100" cy="825500"/>
            </a:xfrm>
            <a:prstGeom prst="rect">
              <a:avLst/>
            </a:prstGeom>
            <a:solidFill>
              <a:srgbClr val="7C9BFF"/>
            </a:solidFill>
            <a:ln>
              <a:noFill/>
            </a:ln>
          </p:spPr>
        </p:sp>
        <p:sp>
          <p:nvSpPr>
            <p:cNvPr id="21" name="node01.row.item-002.h2.heat-gap"/>
            <p:cNvSpPr/>
            <p:nvPr/>
          </p:nvSpPr>
          <p:spPr>
            <a:xfrm>
              <a:off x="4457700" y="2819400"/>
              <a:ext cx="838200" cy="863600"/>
            </a:xfrm>
            <a:prstGeom prst="rect">
              <a:avLst/>
            </a:prstGeom>
            <a:solidFill>
              <a:srgbClr val="FFFFFF"/>
            </a:solidFill>
            <a:ln>
              <a:noFill/>
            </a:ln>
          </p:spPr>
        </p:sp>
        <p:sp>
          <p:nvSpPr>
            <p:cNvPr id="22" name="node01.row.item-002.h2.heat"/>
            <p:cNvSpPr/>
            <p:nvPr/>
          </p:nvSpPr>
          <p:spPr>
            <a:xfrm>
              <a:off x="4476750" y="2838450"/>
              <a:ext cx="800100" cy="825500"/>
            </a:xfrm>
            <a:prstGeom prst="rect">
              <a:avLst/>
            </a:prstGeom>
            <a:solidFill>
              <a:srgbClr val="B9C9F0"/>
            </a:solidFill>
            <a:ln>
              <a:noFill/>
            </a:ln>
          </p:spPr>
        </p:sp>
        <p:sp>
          <p:nvSpPr>
            <p:cNvPr id="23" name="node01.row.item-002.h3.heat-gap"/>
            <p:cNvSpPr/>
            <p:nvPr/>
          </p:nvSpPr>
          <p:spPr>
            <a:xfrm>
              <a:off x="5295900" y="2819400"/>
              <a:ext cx="838200" cy="863600"/>
            </a:xfrm>
            <a:prstGeom prst="rect">
              <a:avLst/>
            </a:prstGeom>
            <a:solidFill>
              <a:srgbClr val="FFFFFF"/>
            </a:solidFill>
            <a:ln>
              <a:noFill/>
            </a:ln>
          </p:spPr>
        </p:sp>
        <p:sp>
          <p:nvSpPr>
            <p:cNvPr id="24" name="node01.row.item-002.h3.heat"/>
            <p:cNvSpPr/>
            <p:nvPr/>
          </p:nvSpPr>
          <p:spPr>
            <a:xfrm>
              <a:off x="5314950" y="2838450"/>
              <a:ext cx="800100" cy="825500"/>
            </a:xfrm>
            <a:prstGeom prst="rect">
              <a:avLst/>
            </a:prstGeom>
            <a:solidFill>
              <a:srgbClr val="7C9BFF"/>
            </a:solidFill>
            <a:ln>
              <a:noFill/>
            </a:ln>
          </p:spPr>
        </p:sp>
        <p:sp>
          <p:nvSpPr>
            <p:cNvPr id="25" name="node01.row.item-002.h4.heat-gap"/>
            <p:cNvSpPr/>
            <p:nvPr/>
          </p:nvSpPr>
          <p:spPr>
            <a:xfrm>
              <a:off x="6134100" y="2819400"/>
              <a:ext cx="838200" cy="863600"/>
            </a:xfrm>
            <a:prstGeom prst="rect">
              <a:avLst/>
            </a:prstGeom>
            <a:solidFill>
              <a:srgbClr val="FFFFFF"/>
            </a:solidFill>
            <a:ln>
              <a:noFill/>
            </a:ln>
          </p:spPr>
        </p:sp>
        <p:sp>
          <p:nvSpPr>
            <p:cNvPr id="26" name="node01.row.item-002.h4.heat"/>
            <p:cNvSpPr/>
            <p:nvPr/>
          </p:nvSpPr>
          <p:spPr>
            <a:xfrm>
              <a:off x="6153150" y="2838450"/>
              <a:ext cx="800100" cy="825500"/>
            </a:xfrm>
            <a:prstGeom prst="rect">
              <a:avLst/>
            </a:prstGeom>
            <a:solidFill>
              <a:srgbClr val="7C9BFF"/>
            </a:solidFill>
            <a:ln>
              <a:noFill/>
            </a:ln>
          </p:spPr>
        </p:sp>
        <p:sp>
          <p:nvSpPr>
            <p:cNvPr id="27" name="node01.row.item-003.h0.heat-gap"/>
            <p:cNvSpPr/>
            <p:nvPr/>
          </p:nvSpPr>
          <p:spPr>
            <a:xfrm>
              <a:off x="2781300" y="3683000"/>
              <a:ext cx="838200" cy="863600"/>
            </a:xfrm>
            <a:prstGeom prst="rect">
              <a:avLst/>
            </a:prstGeom>
            <a:solidFill>
              <a:srgbClr val="FFFFFF"/>
            </a:solidFill>
            <a:ln>
              <a:noFill/>
            </a:ln>
          </p:spPr>
        </p:sp>
        <p:sp>
          <p:nvSpPr>
            <p:cNvPr id="28" name="node01.row.item-003.h0.heat"/>
            <p:cNvSpPr/>
            <p:nvPr/>
          </p:nvSpPr>
          <p:spPr>
            <a:xfrm>
              <a:off x="2800350" y="3702050"/>
              <a:ext cx="800100" cy="825500"/>
            </a:xfrm>
            <a:prstGeom prst="rect">
              <a:avLst/>
            </a:prstGeom>
            <a:solidFill>
              <a:srgbClr val="B9C9F0"/>
            </a:solidFill>
            <a:ln>
              <a:noFill/>
            </a:ln>
          </p:spPr>
        </p:sp>
        <p:sp>
          <p:nvSpPr>
            <p:cNvPr id="29" name="node01.row.item-003.h1.heat-gap"/>
            <p:cNvSpPr/>
            <p:nvPr/>
          </p:nvSpPr>
          <p:spPr>
            <a:xfrm>
              <a:off x="3619500" y="3683000"/>
              <a:ext cx="838200" cy="863600"/>
            </a:xfrm>
            <a:prstGeom prst="rect">
              <a:avLst/>
            </a:prstGeom>
            <a:solidFill>
              <a:srgbClr val="FFFFFF"/>
            </a:solidFill>
            <a:ln>
              <a:noFill/>
            </a:ln>
          </p:spPr>
        </p:sp>
        <p:sp>
          <p:nvSpPr>
            <p:cNvPr id="30" name="node01.row.item-003.h1.heat"/>
            <p:cNvSpPr/>
            <p:nvPr/>
          </p:nvSpPr>
          <p:spPr>
            <a:xfrm>
              <a:off x="3638550" y="3702050"/>
              <a:ext cx="800100" cy="825500"/>
            </a:xfrm>
            <a:prstGeom prst="rect">
              <a:avLst/>
            </a:prstGeom>
            <a:solidFill>
              <a:srgbClr val="E8EEF8"/>
            </a:solidFill>
            <a:ln>
              <a:noFill/>
            </a:ln>
          </p:spPr>
        </p:sp>
        <p:sp>
          <p:nvSpPr>
            <p:cNvPr id="31" name="node01.row.item-003.h2.heat-gap"/>
            <p:cNvSpPr/>
            <p:nvPr/>
          </p:nvSpPr>
          <p:spPr>
            <a:xfrm>
              <a:off x="4457700" y="3683000"/>
              <a:ext cx="838200" cy="863600"/>
            </a:xfrm>
            <a:prstGeom prst="rect">
              <a:avLst/>
            </a:prstGeom>
            <a:solidFill>
              <a:srgbClr val="FFFFFF"/>
            </a:solidFill>
            <a:ln>
              <a:noFill/>
            </a:ln>
          </p:spPr>
        </p:sp>
        <p:sp>
          <p:nvSpPr>
            <p:cNvPr id="32" name="node01.row.item-003.h2.heat"/>
            <p:cNvSpPr/>
            <p:nvPr/>
          </p:nvSpPr>
          <p:spPr>
            <a:xfrm>
              <a:off x="4476750" y="3702050"/>
              <a:ext cx="800100" cy="825500"/>
            </a:xfrm>
            <a:prstGeom prst="rect">
              <a:avLst/>
            </a:prstGeom>
            <a:solidFill>
              <a:srgbClr val="E8EEF8"/>
            </a:solidFill>
            <a:ln>
              <a:noFill/>
            </a:ln>
          </p:spPr>
        </p:sp>
        <p:sp>
          <p:nvSpPr>
            <p:cNvPr id="33" name="node01.row.item-003.h3.heat-gap"/>
            <p:cNvSpPr/>
            <p:nvPr/>
          </p:nvSpPr>
          <p:spPr>
            <a:xfrm>
              <a:off x="5295900" y="3683000"/>
              <a:ext cx="838200" cy="863600"/>
            </a:xfrm>
            <a:prstGeom prst="rect">
              <a:avLst/>
            </a:prstGeom>
            <a:solidFill>
              <a:srgbClr val="FFFFFF"/>
            </a:solidFill>
            <a:ln>
              <a:noFill/>
            </a:ln>
          </p:spPr>
        </p:sp>
        <p:sp>
          <p:nvSpPr>
            <p:cNvPr id="34" name="node01.row.item-003.h3.heat"/>
            <p:cNvSpPr/>
            <p:nvPr/>
          </p:nvSpPr>
          <p:spPr>
            <a:xfrm>
              <a:off x="5314950" y="3702050"/>
              <a:ext cx="800100" cy="825500"/>
            </a:xfrm>
            <a:prstGeom prst="rect">
              <a:avLst/>
            </a:prstGeom>
            <a:solidFill>
              <a:srgbClr val="B9C9F0"/>
            </a:solidFill>
            <a:ln>
              <a:noFill/>
            </a:ln>
          </p:spPr>
        </p:sp>
        <p:sp>
          <p:nvSpPr>
            <p:cNvPr id="35" name="node01.row.item-003.h4.heat-gap"/>
            <p:cNvSpPr/>
            <p:nvPr/>
          </p:nvSpPr>
          <p:spPr>
            <a:xfrm>
              <a:off x="6134100" y="3683000"/>
              <a:ext cx="838200" cy="863600"/>
            </a:xfrm>
            <a:prstGeom prst="rect">
              <a:avLst/>
            </a:prstGeom>
            <a:solidFill>
              <a:srgbClr val="FFFFFF"/>
            </a:solidFill>
            <a:ln>
              <a:noFill/>
            </a:ln>
          </p:spPr>
        </p:sp>
        <p:sp>
          <p:nvSpPr>
            <p:cNvPr id="36" name="node01.row.item-003.h4.heat"/>
            <p:cNvSpPr/>
            <p:nvPr/>
          </p:nvSpPr>
          <p:spPr>
            <a:xfrm>
              <a:off x="6153150" y="3702050"/>
              <a:ext cx="800100" cy="825500"/>
            </a:xfrm>
            <a:prstGeom prst="rect">
              <a:avLst/>
            </a:prstGeom>
            <a:solidFill>
              <a:srgbClr val="B9C9F0"/>
            </a:solidFill>
            <a:ln>
              <a:noFill/>
            </a:ln>
          </p:spPr>
        </p:sp>
        <p:sp>
          <p:nvSpPr>
            <p:cNvPr id="37" name="node01.row.item-004.h0.heat-gap"/>
            <p:cNvSpPr/>
            <p:nvPr/>
          </p:nvSpPr>
          <p:spPr>
            <a:xfrm>
              <a:off x="2781300" y="4546600"/>
              <a:ext cx="838200" cy="863600"/>
            </a:xfrm>
            <a:prstGeom prst="rect">
              <a:avLst/>
            </a:prstGeom>
            <a:solidFill>
              <a:srgbClr val="FFFFFF"/>
            </a:solidFill>
            <a:ln>
              <a:noFill/>
            </a:ln>
          </p:spPr>
        </p:sp>
        <p:sp>
          <p:nvSpPr>
            <p:cNvPr id="38" name="node01.row.item-004.h0.heat"/>
            <p:cNvSpPr/>
            <p:nvPr/>
          </p:nvSpPr>
          <p:spPr>
            <a:xfrm>
              <a:off x="2800350" y="4565650"/>
              <a:ext cx="800100" cy="825500"/>
            </a:xfrm>
            <a:prstGeom prst="rect">
              <a:avLst/>
            </a:prstGeom>
            <a:solidFill>
              <a:srgbClr val="0047FF"/>
            </a:solidFill>
            <a:ln>
              <a:noFill/>
            </a:ln>
          </p:spPr>
        </p:sp>
        <p:sp>
          <p:nvSpPr>
            <p:cNvPr id="39" name="node01.row.item-004.h1.heat-gap"/>
            <p:cNvSpPr/>
            <p:nvPr/>
          </p:nvSpPr>
          <p:spPr>
            <a:xfrm>
              <a:off x="3619500" y="4546600"/>
              <a:ext cx="838200" cy="863600"/>
            </a:xfrm>
            <a:prstGeom prst="rect">
              <a:avLst/>
            </a:prstGeom>
            <a:solidFill>
              <a:srgbClr val="FFFFFF"/>
            </a:solidFill>
            <a:ln>
              <a:noFill/>
            </a:ln>
          </p:spPr>
        </p:sp>
        <p:sp>
          <p:nvSpPr>
            <p:cNvPr id="40" name="node01.row.item-004.h1.heat"/>
            <p:cNvSpPr/>
            <p:nvPr/>
          </p:nvSpPr>
          <p:spPr>
            <a:xfrm>
              <a:off x="3638550" y="4565650"/>
              <a:ext cx="800100" cy="825500"/>
            </a:xfrm>
            <a:prstGeom prst="rect">
              <a:avLst/>
            </a:prstGeom>
            <a:solidFill>
              <a:srgbClr val="070154"/>
            </a:solidFill>
            <a:ln>
              <a:noFill/>
            </a:ln>
          </p:spPr>
        </p:sp>
        <p:sp>
          <p:nvSpPr>
            <p:cNvPr id="41" name="node01.row.item-004.h2.heat-gap"/>
            <p:cNvSpPr/>
            <p:nvPr/>
          </p:nvSpPr>
          <p:spPr>
            <a:xfrm>
              <a:off x="4457700" y="4546600"/>
              <a:ext cx="838200" cy="863600"/>
            </a:xfrm>
            <a:prstGeom prst="rect">
              <a:avLst/>
            </a:prstGeom>
            <a:solidFill>
              <a:srgbClr val="FFFFFF"/>
            </a:solidFill>
            <a:ln>
              <a:noFill/>
            </a:ln>
          </p:spPr>
        </p:sp>
        <p:sp>
          <p:nvSpPr>
            <p:cNvPr id="42" name="node01.row.item-004.h2.heat"/>
            <p:cNvSpPr/>
            <p:nvPr/>
          </p:nvSpPr>
          <p:spPr>
            <a:xfrm>
              <a:off x="4476750" y="4565650"/>
              <a:ext cx="800100" cy="825500"/>
            </a:xfrm>
            <a:prstGeom prst="rect">
              <a:avLst/>
            </a:prstGeom>
            <a:solidFill>
              <a:srgbClr val="7C9BFF"/>
            </a:solidFill>
            <a:ln>
              <a:noFill/>
            </a:ln>
          </p:spPr>
        </p:sp>
        <p:sp>
          <p:nvSpPr>
            <p:cNvPr id="43" name="node01.row.item-004.h3.heat-gap"/>
            <p:cNvSpPr/>
            <p:nvPr/>
          </p:nvSpPr>
          <p:spPr>
            <a:xfrm>
              <a:off x="5295900" y="4546600"/>
              <a:ext cx="838200" cy="863600"/>
            </a:xfrm>
            <a:prstGeom prst="rect">
              <a:avLst/>
            </a:prstGeom>
            <a:solidFill>
              <a:srgbClr val="FFFFFF"/>
            </a:solidFill>
            <a:ln>
              <a:noFill/>
            </a:ln>
          </p:spPr>
        </p:sp>
        <p:sp>
          <p:nvSpPr>
            <p:cNvPr id="44" name="node01.row.item-004.h3.heat"/>
            <p:cNvSpPr/>
            <p:nvPr/>
          </p:nvSpPr>
          <p:spPr>
            <a:xfrm>
              <a:off x="5314950" y="4565650"/>
              <a:ext cx="800100" cy="825500"/>
            </a:xfrm>
            <a:prstGeom prst="rect">
              <a:avLst/>
            </a:prstGeom>
            <a:solidFill>
              <a:srgbClr val="7C9BFF"/>
            </a:solidFill>
            <a:ln>
              <a:noFill/>
            </a:ln>
          </p:spPr>
        </p:sp>
        <p:sp>
          <p:nvSpPr>
            <p:cNvPr id="45" name="node01.row.item-004.h4.heat-gap"/>
            <p:cNvSpPr/>
            <p:nvPr/>
          </p:nvSpPr>
          <p:spPr>
            <a:xfrm>
              <a:off x="6134100" y="4546600"/>
              <a:ext cx="838200" cy="863600"/>
            </a:xfrm>
            <a:prstGeom prst="rect">
              <a:avLst/>
            </a:prstGeom>
            <a:solidFill>
              <a:srgbClr val="FFFFFF"/>
            </a:solidFill>
            <a:ln>
              <a:noFill/>
            </a:ln>
          </p:spPr>
        </p:sp>
        <p:sp>
          <p:nvSpPr>
            <p:cNvPr id="46" name="node01.row.item-004.h4.heat"/>
            <p:cNvSpPr/>
            <p:nvPr/>
          </p:nvSpPr>
          <p:spPr>
            <a:xfrm>
              <a:off x="6153150" y="4565650"/>
              <a:ext cx="800100" cy="825500"/>
            </a:xfrm>
            <a:prstGeom prst="rect">
              <a:avLst/>
            </a:prstGeom>
            <a:solidFill>
              <a:srgbClr val="0047FF"/>
            </a:solidFill>
            <a:ln>
              <a:noFill/>
            </a:ln>
          </p:spPr>
        </p:sp>
        <p:graphicFrame>
          <p:nvGraphicFramePr>
            <p:cNvPr id="4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810000"/>
          </p:xfrm>
          <a:graphic>
            <a:graphicData uri="http://schemas.openxmlformats.org/drawingml/2006/table">
              <a:tbl>
                <a:tblPr/>
                <a:tblGrid>
                  <a:gridCol w="2057400"/>
                  <a:gridCol w="838200"/>
                  <a:gridCol w="838200"/>
                  <a:gridCol w="838200"/>
                  <a:gridCol w="838200"/>
                  <a:gridCol w="838200"/>
                  <a:gridCol w="44958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CAPABILITY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PROCESS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TECHNOLOGY</a:t>
                        </a:r>
                        <a:endParaRPr lang="en-US" sz="800" spc="48" kern="0" b="0" i="0" dirty="0">
                          <a:solidFill>
                            <a:srgbClr val="070154"/>
                          </a:solidFill>
                          <a:latin typeface="IBM Plex Mono SemiBold"/>
                          <a:ea typeface="IBM Plex Mono SemiBold"/>
                          <a:cs typeface="IBM Plex Mono SemiBold"/>
                        </a:endParaRPr>
                      </a:p>
                    </a:txBody>
                    <a:tcPr marL="74296" marR="742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DATA</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PEOPLE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GOVERNANCE</a:t>
                        </a:r>
                        <a:endParaRPr lang="en-US" sz="800" spc="48" kern="0" b="0" i="0" dirty="0">
                          <a:solidFill>
                            <a:srgbClr val="070154"/>
                          </a:solidFill>
                          <a:latin typeface="IBM Plex Mono SemiBold"/>
                          <a:ea typeface="IBM Plex Mono SemiBold"/>
                          <a:cs typeface="IBM Plex Mono SemiBold"/>
                        </a:endParaRPr>
                      </a:p>
                    </a:txBody>
                    <a:tcPr marL="74296" marR="742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WHAT WE FOUND</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8636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access</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Front door</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Online booking covers 40% of visits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Two registration workflows by site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Add a single eligibility check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636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Scheduling</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Front door</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Templates differ by clinic</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Self-scheduling live at three sites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Standardize visit-type rules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636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Referral management</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Front door</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Referrals arrive by fax and portal</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 shared status view</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Stand up a referral queue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636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Revenue cycle</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Revenue</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5</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Rules engine at posting is mature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Close takes eight days, not five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Month-end review is manual</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59" name="node02"/>
          <p:cNvGrpSpPr/>
          <p:nvPr/>
        </p:nvGrpSpPr>
        <p:grpSpPr>
          <a:xfrm>
            <a:off x="723900" y="5486400"/>
            <a:ext cx="6062663" cy="190500"/>
            <a:chOff x="723900" y="5486400"/>
            <a:chExt cx="6062663" cy="190500"/>
          </a:xfrm>
        </p:grpSpPr>
        <p:sp>
          <p:nvSpPr>
            <p:cNvPr id="48" name="node02.items.slot-001.swatch"/>
            <p:cNvSpPr/>
            <p:nvPr/>
          </p:nvSpPr>
          <p:spPr>
            <a:xfrm>
              <a:off x="723900" y="5518150"/>
              <a:ext cx="228600" cy="127000"/>
            </a:xfrm>
            <a:prstGeom prst="rect">
              <a:avLst/>
            </a:prstGeom>
            <a:solidFill>
              <a:srgbClr val="E8EEF8"/>
            </a:solidFill>
            <a:ln>
              <a:noFill/>
            </a:ln>
          </p:spPr>
        </p:sp>
        <p:sp>
          <p:nvSpPr>
            <p:cNvPr id="49" name="node02.items.slot-001.text"/>
            <p:cNvSpPr/>
            <p:nvPr/>
          </p:nvSpPr>
          <p:spPr>
            <a:xfrm>
              <a:off x="1016000" y="5486400"/>
              <a:ext cx="5984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Ad hoc</a:t>
              </a:r>
              <a:endParaRPr lang="en-US" sz="1100" spc="0" kern="0" b="0" i="0" dirty="0">
                <a:solidFill>
                  <a:srgbClr val="070154"/>
                </a:solidFill>
                <a:latin typeface="IBM Plex Sans"/>
                <a:ea typeface="IBM Plex Sans"/>
                <a:cs typeface="IBM Plex Sans"/>
              </a:endParaRPr>
            </a:p>
          </p:txBody>
        </p:sp>
        <p:sp>
          <p:nvSpPr>
            <p:cNvPr id="50" name="node02.items.slot-002.swatch"/>
            <p:cNvSpPr/>
            <p:nvPr/>
          </p:nvSpPr>
          <p:spPr>
            <a:xfrm>
              <a:off x="1843088" y="5518150"/>
              <a:ext cx="228600" cy="127000"/>
            </a:xfrm>
            <a:prstGeom prst="rect">
              <a:avLst/>
            </a:prstGeom>
            <a:solidFill>
              <a:srgbClr val="B9C9F0"/>
            </a:solidFill>
            <a:ln>
              <a:noFill/>
            </a:ln>
          </p:spPr>
        </p:sp>
        <p:sp>
          <p:nvSpPr>
            <p:cNvPr id="51" name="node02.items.slot-002.text"/>
            <p:cNvSpPr/>
            <p:nvPr/>
          </p:nvSpPr>
          <p:spPr>
            <a:xfrm>
              <a:off x="2135188" y="5486400"/>
              <a:ext cx="8842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 Repeatable</a:t>
              </a:r>
              <a:endParaRPr lang="en-US" sz="1100" spc="0" kern="0" b="0" i="0" dirty="0">
                <a:solidFill>
                  <a:srgbClr val="070154"/>
                </a:solidFill>
                <a:latin typeface="IBM Plex Sans"/>
                <a:ea typeface="IBM Plex Sans"/>
                <a:cs typeface="IBM Plex Sans"/>
              </a:endParaRPr>
            </a:p>
          </p:txBody>
        </p:sp>
        <p:sp>
          <p:nvSpPr>
            <p:cNvPr id="52" name="node02.items.slot-003.swatch"/>
            <p:cNvSpPr/>
            <p:nvPr/>
          </p:nvSpPr>
          <p:spPr>
            <a:xfrm>
              <a:off x="3248025" y="5518150"/>
              <a:ext cx="228600" cy="127000"/>
            </a:xfrm>
            <a:prstGeom prst="rect">
              <a:avLst/>
            </a:prstGeom>
            <a:solidFill>
              <a:srgbClr val="7C9BFF"/>
            </a:solidFill>
            <a:ln>
              <a:noFill/>
            </a:ln>
          </p:spPr>
        </p:sp>
        <p:sp>
          <p:nvSpPr>
            <p:cNvPr id="53" name="node02.items.slot-003.text"/>
            <p:cNvSpPr/>
            <p:nvPr/>
          </p:nvSpPr>
          <p:spPr>
            <a:xfrm>
              <a:off x="3540125" y="5486400"/>
              <a:ext cx="6540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 Defined</a:t>
              </a:r>
              <a:endParaRPr lang="en-US" sz="1100" spc="0" kern="0" b="0" i="0" dirty="0">
                <a:solidFill>
                  <a:srgbClr val="070154"/>
                </a:solidFill>
                <a:latin typeface="IBM Plex Sans"/>
                <a:ea typeface="IBM Plex Sans"/>
                <a:cs typeface="IBM Plex Sans"/>
              </a:endParaRPr>
            </a:p>
          </p:txBody>
        </p:sp>
        <p:sp>
          <p:nvSpPr>
            <p:cNvPr id="54" name="node02.items.slot-004.swatch"/>
            <p:cNvSpPr/>
            <p:nvPr/>
          </p:nvSpPr>
          <p:spPr>
            <a:xfrm>
              <a:off x="4422775" y="5518150"/>
              <a:ext cx="228600" cy="127000"/>
            </a:xfrm>
            <a:prstGeom prst="rect">
              <a:avLst/>
            </a:prstGeom>
            <a:solidFill>
              <a:srgbClr val="0047FF"/>
            </a:solidFill>
            <a:ln>
              <a:noFill/>
            </a:ln>
          </p:spPr>
        </p:sp>
        <p:sp>
          <p:nvSpPr>
            <p:cNvPr id="55" name="node02.items.slot-004.text"/>
            <p:cNvSpPr/>
            <p:nvPr/>
          </p:nvSpPr>
          <p:spPr>
            <a:xfrm>
              <a:off x="4714875" y="5486400"/>
              <a:ext cx="7397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4 Managed</a:t>
              </a:r>
              <a:endParaRPr lang="en-US" sz="1100" spc="0" kern="0" b="0" i="0" dirty="0">
                <a:solidFill>
                  <a:srgbClr val="070154"/>
                </a:solidFill>
                <a:latin typeface="IBM Plex Sans"/>
                <a:ea typeface="IBM Plex Sans"/>
                <a:cs typeface="IBM Plex Sans"/>
              </a:endParaRPr>
            </a:p>
          </p:txBody>
        </p:sp>
        <p:sp>
          <p:nvSpPr>
            <p:cNvPr id="56" name="node02.items.slot-005.swatch"/>
            <p:cNvSpPr/>
            <p:nvPr/>
          </p:nvSpPr>
          <p:spPr>
            <a:xfrm>
              <a:off x="5683250" y="5518150"/>
              <a:ext cx="228600" cy="127000"/>
            </a:xfrm>
            <a:prstGeom prst="rect">
              <a:avLst/>
            </a:prstGeom>
            <a:solidFill>
              <a:srgbClr val="070154"/>
            </a:solidFill>
            <a:ln>
              <a:noFill/>
            </a:ln>
          </p:spPr>
        </p:sp>
        <p:sp>
          <p:nvSpPr>
            <p:cNvPr id="57" name="node02.items.slot-005.text"/>
            <p:cNvSpPr/>
            <p:nvPr/>
          </p:nvSpPr>
          <p:spPr>
            <a:xfrm>
              <a:off x="5975350" y="5486400"/>
              <a:ext cx="8112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Optimized</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ource-20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and care delivery: strong cores, weak handoffs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69</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1371600"/>
            <a:ext cx="10744200" cy="3937000"/>
            <a:chOff x="723900" y="1371600"/>
            <a:chExt cx="10744200" cy="3937000"/>
          </a:xfrm>
        </p:grpSpPr>
        <p:sp>
          <p:nvSpPr>
            <p:cNvPr id="7" name="node01.row.item-001.h0.heat-gap"/>
            <p:cNvSpPr/>
            <p:nvPr/>
          </p:nvSpPr>
          <p:spPr>
            <a:xfrm>
              <a:off x="2781300" y="1955800"/>
              <a:ext cx="838200" cy="558800"/>
            </a:xfrm>
            <a:prstGeom prst="rect">
              <a:avLst/>
            </a:prstGeom>
            <a:solidFill>
              <a:srgbClr val="FFFFFF"/>
            </a:solidFill>
            <a:ln>
              <a:noFill/>
            </a:ln>
          </p:spPr>
        </p:sp>
        <p:sp>
          <p:nvSpPr>
            <p:cNvPr id="8" name="node01.row.item-001.h0.heat"/>
            <p:cNvSpPr/>
            <p:nvPr/>
          </p:nvSpPr>
          <p:spPr>
            <a:xfrm>
              <a:off x="2800350" y="1974850"/>
              <a:ext cx="800100" cy="520700"/>
            </a:xfrm>
            <a:prstGeom prst="rect">
              <a:avLst/>
            </a:prstGeom>
            <a:solidFill>
              <a:srgbClr val="7C9BFF"/>
            </a:solidFill>
            <a:ln>
              <a:noFill/>
            </a:ln>
          </p:spPr>
        </p:sp>
        <p:sp>
          <p:nvSpPr>
            <p:cNvPr id="9" name="node01.row.item-001.h1.heat-gap"/>
            <p:cNvSpPr/>
            <p:nvPr/>
          </p:nvSpPr>
          <p:spPr>
            <a:xfrm>
              <a:off x="3619500" y="1955800"/>
              <a:ext cx="838200" cy="558800"/>
            </a:xfrm>
            <a:prstGeom prst="rect">
              <a:avLst/>
            </a:prstGeom>
            <a:solidFill>
              <a:srgbClr val="FFFFFF"/>
            </a:solidFill>
            <a:ln>
              <a:noFill/>
            </a:ln>
          </p:spPr>
        </p:sp>
        <p:sp>
          <p:nvSpPr>
            <p:cNvPr id="10" name="node01.row.item-001.h1.heat"/>
            <p:cNvSpPr/>
            <p:nvPr/>
          </p:nvSpPr>
          <p:spPr>
            <a:xfrm>
              <a:off x="3638550" y="1974850"/>
              <a:ext cx="800100" cy="520700"/>
            </a:xfrm>
            <a:prstGeom prst="rect">
              <a:avLst/>
            </a:prstGeom>
            <a:solidFill>
              <a:srgbClr val="7C9BFF"/>
            </a:solidFill>
            <a:ln>
              <a:noFill/>
            </a:ln>
          </p:spPr>
        </p:sp>
        <p:sp>
          <p:nvSpPr>
            <p:cNvPr id="11" name="node01.row.item-001.h2.heat-gap"/>
            <p:cNvSpPr/>
            <p:nvPr/>
          </p:nvSpPr>
          <p:spPr>
            <a:xfrm>
              <a:off x="4457700" y="1955800"/>
              <a:ext cx="838200" cy="558800"/>
            </a:xfrm>
            <a:prstGeom prst="rect">
              <a:avLst/>
            </a:prstGeom>
            <a:solidFill>
              <a:srgbClr val="FFFFFF"/>
            </a:solidFill>
            <a:ln>
              <a:noFill/>
            </a:ln>
          </p:spPr>
        </p:sp>
        <p:sp>
          <p:nvSpPr>
            <p:cNvPr id="12" name="node01.row.item-001.h2.heat"/>
            <p:cNvSpPr/>
            <p:nvPr/>
          </p:nvSpPr>
          <p:spPr>
            <a:xfrm>
              <a:off x="4476750" y="1974850"/>
              <a:ext cx="800100" cy="520700"/>
            </a:xfrm>
            <a:prstGeom prst="rect">
              <a:avLst/>
            </a:prstGeom>
            <a:solidFill>
              <a:srgbClr val="7C9BFF"/>
            </a:solidFill>
            <a:ln>
              <a:noFill/>
            </a:ln>
          </p:spPr>
        </p:sp>
        <p:sp>
          <p:nvSpPr>
            <p:cNvPr id="13" name="node01.row.item-001.h3.heat-gap"/>
            <p:cNvSpPr/>
            <p:nvPr/>
          </p:nvSpPr>
          <p:spPr>
            <a:xfrm>
              <a:off x="5295900" y="1955800"/>
              <a:ext cx="838200" cy="558800"/>
            </a:xfrm>
            <a:prstGeom prst="rect">
              <a:avLst/>
            </a:prstGeom>
            <a:solidFill>
              <a:srgbClr val="FFFFFF"/>
            </a:solidFill>
            <a:ln>
              <a:noFill/>
            </a:ln>
          </p:spPr>
        </p:sp>
        <p:sp>
          <p:nvSpPr>
            <p:cNvPr id="14" name="node01.row.item-001.h3.heat"/>
            <p:cNvSpPr/>
            <p:nvPr/>
          </p:nvSpPr>
          <p:spPr>
            <a:xfrm>
              <a:off x="5314950" y="1974850"/>
              <a:ext cx="800100" cy="520700"/>
            </a:xfrm>
            <a:prstGeom prst="rect">
              <a:avLst/>
            </a:prstGeom>
            <a:solidFill>
              <a:srgbClr val="B9C9F0"/>
            </a:solidFill>
            <a:ln>
              <a:noFill/>
            </a:ln>
          </p:spPr>
        </p:sp>
        <p:sp>
          <p:nvSpPr>
            <p:cNvPr id="15" name="node01.row.item-001.h4.heat-gap"/>
            <p:cNvSpPr/>
            <p:nvPr/>
          </p:nvSpPr>
          <p:spPr>
            <a:xfrm>
              <a:off x="6134100" y="1955800"/>
              <a:ext cx="838200" cy="558800"/>
            </a:xfrm>
            <a:prstGeom prst="rect">
              <a:avLst/>
            </a:prstGeom>
            <a:solidFill>
              <a:srgbClr val="FFFFFF"/>
            </a:solidFill>
            <a:ln>
              <a:noFill/>
            </a:ln>
          </p:spPr>
        </p:sp>
        <p:sp>
          <p:nvSpPr>
            <p:cNvPr id="16" name="node01.row.item-001.h4.heat"/>
            <p:cNvSpPr/>
            <p:nvPr/>
          </p:nvSpPr>
          <p:spPr>
            <a:xfrm>
              <a:off x="6153150" y="1974850"/>
              <a:ext cx="800100" cy="520700"/>
            </a:xfrm>
            <a:prstGeom prst="rect">
              <a:avLst/>
            </a:prstGeom>
            <a:solidFill>
              <a:srgbClr val="7C9BFF"/>
            </a:solidFill>
            <a:ln>
              <a:noFill/>
            </a:ln>
          </p:spPr>
        </p:sp>
        <p:sp>
          <p:nvSpPr>
            <p:cNvPr id="17" name="node01.row.item-002.h0.heat-gap"/>
            <p:cNvSpPr/>
            <p:nvPr/>
          </p:nvSpPr>
          <p:spPr>
            <a:xfrm>
              <a:off x="2781300" y="2514600"/>
              <a:ext cx="838200" cy="558800"/>
            </a:xfrm>
            <a:prstGeom prst="rect">
              <a:avLst/>
            </a:prstGeom>
            <a:solidFill>
              <a:srgbClr val="FFFFFF"/>
            </a:solidFill>
            <a:ln>
              <a:noFill/>
            </a:ln>
          </p:spPr>
        </p:sp>
        <p:sp>
          <p:nvSpPr>
            <p:cNvPr id="18" name="node01.row.item-002.h0.heat"/>
            <p:cNvSpPr/>
            <p:nvPr/>
          </p:nvSpPr>
          <p:spPr>
            <a:xfrm>
              <a:off x="2800350" y="2533650"/>
              <a:ext cx="800100" cy="520700"/>
            </a:xfrm>
            <a:prstGeom prst="rect">
              <a:avLst/>
            </a:prstGeom>
            <a:solidFill>
              <a:srgbClr val="B9C9F0"/>
            </a:solidFill>
            <a:ln>
              <a:noFill/>
            </a:ln>
          </p:spPr>
        </p:sp>
        <p:sp>
          <p:nvSpPr>
            <p:cNvPr id="19" name="node01.row.item-002.h1.heat-gap"/>
            <p:cNvSpPr/>
            <p:nvPr/>
          </p:nvSpPr>
          <p:spPr>
            <a:xfrm>
              <a:off x="3619500" y="2514600"/>
              <a:ext cx="838200" cy="558800"/>
            </a:xfrm>
            <a:prstGeom prst="rect">
              <a:avLst/>
            </a:prstGeom>
            <a:solidFill>
              <a:srgbClr val="FFFFFF"/>
            </a:solidFill>
            <a:ln>
              <a:noFill/>
            </a:ln>
          </p:spPr>
        </p:sp>
        <p:sp>
          <p:nvSpPr>
            <p:cNvPr id="20" name="node01.row.item-002.h1.heat"/>
            <p:cNvSpPr/>
            <p:nvPr/>
          </p:nvSpPr>
          <p:spPr>
            <a:xfrm>
              <a:off x="3638550" y="2533650"/>
              <a:ext cx="800100" cy="520700"/>
            </a:xfrm>
            <a:prstGeom prst="rect">
              <a:avLst/>
            </a:prstGeom>
            <a:solidFill>
              <a:srgbClr val="B9C9F0"/>
            </a:solidFill>
            <a:ln>
              <a:noFill/>
            </a:ln>
          </p:spPr>
        </p:sp>
        <p:sp>
          <p:nvSpPr>
            <p:cNvPr id="21" name="node01.row.item-002.h2.heat-gap"/>
            <p:cNvSpPr/>
            <p:nvPr/>
          </p:nvSpPr>
          <p:spPr>
            <a:xfrm>
              <a:off x="4457700" y="2514600"/>
              <a:ext cx="838200" cy="558800"/>
            </a:xfrm>
            <a:prstGeom prst="rect">
              <a:avLst/>
            </a:prstGeom>
            <a:solidFill>
              <a:srgbClr val="FFFFFF"/>
            </a:solidFill>
            <a:ln>
              <a:noFill/>
            </a:ln>
          </p:spPr>
        </p:sp>
        <p:sp>
          <p:nvSpPr>
            <p:cNvPr id="22" name="node01.row.item-002.h2.heat"/>
            <p:cNvSpPr/>
            <p:nvPr/>
          </p:nvSpPr>
          <p:spPr>
            <a:xfrm>
              <a:off x="4476750" y="2533650"/>
              <a:ext cx="800100" cy="520700"/>
            </a:xfrm>
            <a:prstGeom prst="rect">
              <a:avLst/>
            </a:prstGeom>
            <a:solidFill>
              <a:srgbClr val="B9C9F0"/>
            </a:solidFill>
            <a:ln>
              <a:noFill/>
            </a:ln>
          </p:spPr>
        </p:sp>
        <p:sp>
          <p:nvSpPr>
            <p:cNvPr id="23" name="node01.row.item-002.h3.heat-gap"/>
            <p:cNvSpPr/>
            <p:nvPr/>
          </p:nvSpPr>
          <p:spPr>
            <a:xfrm>
              <a:off x="5295900" y="2514600"/>
              <a:ext cx="838200" cy="558800"/>
            </a:xfrm>
            <a:prstGeom prst="rect">
              <a:avLst/>
            </a:prstGeom>
            <a:solidFill>
              <a:srgbClr val="FFFFFF"/>
            </a:solidFill>
            <a:ln>
              <a:noFill/>
            </a:ln>
          </p:spPr>
        </p:sp>
        <p:sp>
          <p:nvSpPr>
            <p:cNvPr id="24" name="node01.row.item-002.h3.heat"/>
            <p:cNvSpPr/>
            <p:nvPr/>
          </p:nvSpPr>
          <p:spPr>
            <a:xfrm>
              <a:off x="5314950" y="2533650"/>
              <a:ext cx="800100" cy="520700"/>
            </a:xfrm>
            <a:prstGeom prst="rect">
              <a:avLst/>
            </a:prstGeom>
            <a:solidFill>
              <a:srgbClr val="B9C9F0"/>
            </a:solidFill>
            <a:ln>
              <a:noFill/>
            </a:ln>
          </p:spPr>
        </p:sp>
        <p:sp>
          <p:nvSpPr>
            <p:cNvPr id="25" name="node01.row.item-002.h4.heat-gap"/>
            <p:cNvSpPr/>
            <p:nvPr/>
          </p:nvSpPr>
          <p:spPr>
            <a:xfrm>
              <a:off x="6134100" y="2514600"/>
              <a:ext cx="838200" cy="558800"/>
            </a:xfrm>
            <a:prstGeom prst="rect">
              <a:avLst/>
            </a:prstGeom>
            <a:solidFill>
              <a:srgbClr val="FFFFFF"/>
            </a:solidFill>
            <a:ln>
              <a:noFill/>
            </a:ln>
          </p:spPr>
        </p:sp>
        <p:sp>
          <p:nvSpPr>
            <p:cNvPr id="26" name="node01.row.item-002.h4.heat"/>
            <p:cNvSpPr/>
            <p:nvPr/>
          </p:nvSpPr>
          <p:spPr>
            <a:xfrm>
              <a:off x="6153150" y="2533650"/>
              <a:ext cx="800100" cy="520700"/>
            </a:xfrm>
            <a:prstGeom prst="rect">
              <a:avLst/>
            </a:prstGeom>
            <a:solidFill>
              <a:srgbClr val="E8EEF8"/>
            </a:solidFill>
            <a:ln>
              <a:noFill/>
            </a:ln>
          </p:spPr>
        </p:sp>
        <p:sp>
          <p:nvSpPr>
            <p:cNvPr id="27" name="node01.row.item-003.h0.heat-gap"/>
            <p:cNvSpPr/>
            <p:nvPr/>
          </p:nvSpPr>
          <p:spPr>
            <a:xfrm>
              <a:off x="2781300" y="3073400"/>
              <a:ext cx="838200" cy="558800"/>
            </a:xfrm>
            <a:prstGeom prst="rect">
              <a:avLst/>
            </a:prstGeom>
            <a:solidFill>
              <a:srgbClr val="FFFFFF"/>
            </a:solidFill>
            <a:ln>
              <a:noFill/>
            </a:ln>
          </p:spPr>
        </p:sp>
        <p:sp>
          <p:nvSpPr>
            <p:cNvPr id="28" name="node01.row.item-003.h0.heat"/>
            <p:cNvSpPr/>
            <p:nvPr/>
          </p:nvSpPr>
          <p:spPr>
            <a:xfrm>
              <a:off x="2800350" y="3092450"/>
              <a:ext cx="800100" cy="520700"/>
            </a:xfrm>
            <a:prstGeom prst="rect">
              <a:avLst/>
            </a:prstGeom>
            <a:solidFill>
              <a:srgbClr val="0047FF"/>
            </a:solidFill>
            <a:ln>
              <a:noFill/>
            </a:ln>
          </p:spPr>
        </p:sp>
        <p:sp>
          <p:nvSpPr>
            <p:cNvPr id="29" name="node01.row.item-003.h1.heat-gap"/>
            <p:cNvSpPr/>
            <p:nvPr/>
          </p:nvSpPr>
          <p:spPr>
            <a:xfrm>
              <a:off x="3619500" y="3073400"/>
              <a:ext cx="838200" cy="558800"/>
            </a:xfrm>
            <a:prstGeom prst="rect">
              <a:avLst/>
            </a:prstGeom>
            <a:solidFill>
              <a:srgbClr val="FFFFFF"/>
            </a:solidFill>
            <a:ln>
              <a:noFill/>
            </a:ln>
          </p:spPr>
        </p:sp>
        <p:sp>
          <p:nvSpPr>
            <p:cNvPr id="30" name="node01.row.item-003.h1.heat"/>
            <p:cNvSpPr/>
            <p:nvPr/>
          </p:nvSpPr>
          <p:spPr>
            <a:xfrm>
              <a:off x="3638550" y="3092450"/>
              <a:ext cx="800100" cy="520700"/>
            </a:xfrm>
            <a:prstGeom prst="rect">
              <a:avLst/>
            </a:prstGeom>
            <a:solidFill>
              <a:srgbClr val="0047FF"/>
            </a:solidFill>
            <a:ln>
              <a:noFill/>
            </a:ln>
          </p:spPr>
        </p:sp>
        <p:sp>
          <p:nvSpPr>
            <p:cNvPr id="31" name="node01.row.item-003.h2.heat-gap"/>
            <p:cNvSpPr/>
            <p:nvPr/>
          </p:nvSpPr>
          <p:spPr>
            <a:xfrm>
              <a:off x="4457700" y="3073400"/>
              <a:ext cx="838200" cy="558800"/>
            </a:xfrm>
            <a:prstGeom prst="rect">
              <a:avLst/>
            </a:prstGeom>
            <a:solidFill>
              <a:srgbClr val="FFFFFF"/>
            </a:solidFill>
            <a:ln>
              <a:noFill/>
            </a:ln>
          </p:spPr>
        </p:sp>
        <p:sp>
          <p:nvSpPr>
            <p:cNvPr id="32" name="node01.row.item-003.h2.heat"/>
            <p:cNvSpPr/>
            <p:nvPr/>
          </p:nvSpPr>
          <p:spPr>
            <a:xfrm>
              <a:off x="4476750" y="3092450"/>
              <a:ext cx="800100" cy="520700"/>
            </a:xfrm>
            <a:prstGeom prst="rect">
              <a:avLst/>
            </a:prstGeom>
            <a:solidFill>
              <a:srgbClr val="7C9BFF"/>
            </a:solidFill>
            <a:ln>
              <a:noFill/>
            </a:ln>
          </p:spPr>
        </p:sp>
        <p:sp>
          <p:nvSpPr>
            <p:cNvPr id="33" name="node01.row.item-003.h3.heat-gap"/>
            <p:cNvSpPr/>
            <p:nvPr/>
          </p:nvSpPr>
          <p:spPr>
            <a:xfrm>
              <a:off x="5295900" y="3073400"/>
              <a:ext cx="838200" cy="558800"/>
            </a:xfrm>
            <a:prstGeom prst="rect">
              <a:avLst/>
            </a:prstGeom>
            <a:solidFill>
              <a:srgbClr val="FFFFFF"/>
            </a:solidFill>
            <a:ln>
              <a:noFill/>
            </a:ln>
          </p:spPr>
        </p:sp>
        <p:sp>
          <p:nvSpPr>
            <p:cNvPr id="34" name="node01.row.item-003.h3.heat"/>
            <p:cNvSpPr/>
            <p:nvPr/>
          </p:nvSpPr>
          <p:spPr>
            <a:xfrm>
              <a:off x="5314950" y="3092450"/>
              <a:ext cx="800100" cy="520700"/>
            </a:xfrm>
            <a:prstGeom prst="rect">
              <a:avLst/>
            </a:prstGeom>
            <a:solidFill>
              <a:srgbClr val="0047FF"/>
            </a:solidFill>
            <a:ln>
              <a:noFill/>
            </a:ln>
          </p:spPr>
        </p:sp>
        <p:sp>
          <p:nvSpPr>
            <p:cNvPr id="35" name="node01.row.item-003.h4.heat-gap"/>
            <p:cNvSpPr/>
            <p:nvPr/>
          </p:nvSpPr>
          <p:spPr>
            <a:xfrm>
              <a:off x="6134100" y="3073400"/>
              <a:ext cx="838200" cy="558800"/>
            </a:xfrm>
            <a:prstGeom prst="rect">
              <a:avLst/>
            </a:prstGeom>
            <a:solidFill>
              <a:srgbClr val="FFFFFF"/>
            </a:solidFill>
            <a:ln>
              <a:noFill/>
            </a:ln>
          </p:spPr>
        </p:sp>
        <p:sp>
          <p:nvSpPr>
            <p:cNvPr id="36" name="node01.row.item-003.h4.heat"/>
            <p:cNvSpPr/>
            <p:nvPr/>
          </p:nvSpPr>
          <p:spPr>
            <a:xfrm>
              <a:off x="6153150" y="3092450"/>
              <a:ext cx="800100" cy="520700"/>
            </a:xfrm>
            <a:prstGeom prst="rect">
              <a:avLst/>
            </a:prstGeom>
            <a:solidFill>
              <a:srgbClr val="7C9BFF"/>
            </a:solidFill>
            <a:ln>
              <a:noFill/>
            </a:ln>
          </p:spPr>
        </p:sp>
        <p:sp>
          <p:nvSpPr>
            <p:cNvPr id="37" name="node01.row.item-004.h0.heat-gap"/>
            <p:cNvSpPr/>
            <p:nvPr/>
          </p:nvSpPr>
          <p:spPr>
            <a:xfrm>
              <a:off x="2781300" y="3632200"/>
              <a:ext cx="838200" cy="558800"/>
            </a:xfrm>
            <a:prstGeom prst="rect">
              <a:avLst/>
            </a:prstGeom>
            <a:solidFill>
              <a:srgbClr val="FFFFFF"/>
            </a:solidFill>
            <a:ln>
              <a:noFill/>
            </a:ln>
          </p:spPr>
        </p:sp>
        <p:sp>
          <p:nvSpPr>
            <p:cNvPr id="38" name="node01.row.item-004.h0.heat"/>
            <p:cNvSpPr/>
            <p:nvPr/>
          </p:nvSpPr>
          <p:spPr>
            <a:xfrm>
              <a:off x="2800350" y="3651250"/>
              <a:ext cx="800100" cy="520700"/>
            </a:xfrm>
            <a:prstGeom prst="rect">
              <a:avLst/>
            </a:prstGeom>
            <a:solidFill>
              <a:srgbClr val="B9C9F0"/>
            </a:solidFill>
            <a:ln>
              <a:noFill/>
            </a:ln>
          </p:spPr>
        </p:sp>
        <p:sp>
          <p:nvSpPr>
            <p:cNvPr id="39" name="node01.row.item-004.h1.heat-gap"/>
            <p:cNvSpPr/>
            <p:nvPr/>
          </p:nvSpPr>
          <p:spPr>
            <a:xfrm>
              <a:off x="3619500" y="3632200"/>
              <a:ext cx="838200" cy="558800"/>
            </a:xfrm>
            <a:prstGeom prst="rect">
              <a:avLst/>
            </a:prstGeom>
            <a:solidFill>
              <a:srgbClr val="FFFFFF"/>
            </a:solidFill>
            <a:ln>
              <a:noFill/>
            </a:ln>
          </p:spPr>
        </p:sp>
        <p:sp>
          <p:nvSpPr>
            <p:cNvPr id="40" name="node01.row.item-004.h1.heat"/>
            <p:cNvSpPr/>
            <p:nvPr/>
          </p:nvSpPr>
          <p:spPr>
            <a:xfrm>
              <a:off x="3638550" y="3651250"/>
              <a:ext cx="800100" cy="520700"/>
            </a:xfrm>
            <a:prstGeom prst="rect">
              <a:avLst/>
            </a:prstGeom>
            <a:solidFill>
              <a:srgbClr val="B9C9F0"/>
            </a:solidFill>
            <a:ln>
              <a:noFill/>
            </a:ln>
          </p:spPr>
        </p:sp>
        <p:sp>
          <p:nvSpPr>
            <p:cNvPr id="41" name="node01.row.item-004.h2.heat-gap"/>
            <p:cNvSpPr/>
            <p:nvPr/>
          </p:nvSpPr>
          <p:spPr>
            <a:xfrm>
              <a:off x="4457700" y="3632200"/>
              <a:ext cx="838200" cy="558800"/>
            </a:xfrm>
            <a:prstGeom prst="rect">
              <a:avLst/>
            </a:prstGeom>
            <a:solidFill>
              <a:srgbClr val="FFFFFF"/>
            </a:solidFill>
            <a:ln>
              <a:noFill/>
            </a:ln>
          </p:spPr>
        </p:sp>
        <p:sp>
          <p:nvSpPr>
            <p:cNvPr id="42" name="node01.row.item-004.h2.heat"/>
            <p:cNvSpPr/>
            <p:nvPr/>
          </p:nvSpPr>
          <p:spPr>
            <a:xfrm>
              <a:off x="4476750" y="3651250"/>
              <a:ext cx="800100" cy="520700"/>
            </a:xfrm>
            <a:prstGeom prst="rect">
              <a:avLst/>
            </a:prstGeom>
            <a:solidFill>
              <a:srgbClr val="E8EEF8"/>
            </a:solidFill>
            <a:ln>
              <a:noFill/>
            </a:ln>
          </p:spPr>
        </p:sp>
        <p:sp>
          <p:nvSpPr>
            <p:cNvPr id="43" name="node01.row.item-004.h3.heat-gap"/>
            <p:cNvSpPr/>
            <p:nvPr/>
          </p:nvSpPr>
          <p:spPr>
            <a:xfrm>
              <a:off x="5295900" y="3632200"/>
              <a:ext cx="838200" cy="558800"/>
            </a:xfrm>
            <a:prstGeom prst="rect">
              <a:avLst/>
            </a:prstGeom>
            <a:solidFill>
              <a:srgbClr val="FFFFFF"/>
            </a:solidFill>
            <a:ln>
              <a:noFill/>
            </a:ln>
          </p:spPr>
        </p:sp>
        <p:sp>
          <p:nvSpPr>
            <p:cNvPr id="44" name="node01.row.item-004.h3.heat"/>
            <p:cNvSpPr/>
            <p:nvPr/>
          </p:nvSpPr>
          <p:spPr>
            <a:xfrm>
              <a:off x="5314950" y="3651250"/>
              <a:ext cx="800100" cy="520700"/>
            </a:xfrm>
            <a:prstGeom prst="rect">
              <a:avLst/>
            </a:prstGeom>
            <a:solidFill>
              <a:srgbClr val="7C9BFF"/>
            </a:solidFill>
            <a:ln>
              <a:noFill/>
            </a:ln>
          </p:spPr>
        </p:sp>
        <p:sp>
          <p:nvSpPr>
            <p:cNvPr id="45" name="node01.row.item-004.h4.heat-gap"/>
            <p:cNvSpPr/>
            <p:nvPr/>
          </p:nvSpPr>
          <p:spPr>
            <a:xfrm>
              <a:off x="6134100" y="3632200"/>
              <a:ext cx="838200" cy="558800"/>
            </a:xfrm>
            <a:prstGeom prst="rect">
              <a:avLst/>
            </a:prstGeom>
            <a:solidFill>
              <a:srgbClr val="FFFFFF"/>
            </a:solidFill>
            <a:ln>
              <a:noFill/>
            </a:ln>
          </p:spPr>
        </p:sp>
        <p:sp>
          <p:nvSpPr>
            <p:cNvPr id="46" name="node01.row.item-004.h4.heat"/>
            <p:cNvSpPr/>
            <p:nvPr/>
          </p:nvSpPr>
          <p:spPr>
            <a:xfrm>
              <a:off x="6153150" y="3651250"/>
              <a:ext cx="800100" cy="520700"/>
            </a:xfrm>
            <a:prstGeom prst="rect">
              <a:avLst/>
            </a:prstGeom>
            <a:solidFill>
              <a:srgbClr val="B9C9F0"/>
            </a:solidFill>
            <a:ln>
              <a:noFill/>
            </a:ln>
          </p:spPr>
        </p:sp>
        <p:sp>
          <p:nvSpPr>
            <p:cNvPr id="47" name="node01.row.item-005.h0.heat-gap"/>
            <p:cNvSpPr/>
            <p:nvPr/>
          </p:nvSpPr>
          <p:spPr>
            <a:xfrm>
              <a:off x="2781300" y="4191000"/>
              <a:ext cx="838200" cy="558800"/>
            </a:xfrm>
            <a:prstGeom prst="rect">
              <a:avLst/>
            </a:prstGeom>
            <a:solidFill>
              <a:srgbClr val="FFFFFF"/>
            </a:solidFill>
            <a:ln>
              <a:noFill/>
            </a:ln>
          </p:spPr>
        </p:sp>
        <p:sp>
          <p:nvSpPr>
            <p:cNvPr id="48" name="node01.row.item-005.h0.heat"/>
            <p:cNvSpPr/>
            <p:nvPr/>
          </p:nvSpPr>
          <p:spPr>
            <a:xfrm>
              <a:off x="2800350" y="4210050"/>
              <a:ext cx="800100" cy="520700"/>
            </a:xfrm>
            <a:prstGeom prst="rect">
              <a:avLst/>
            </a:prstGeom>
            <a:solidFill>
              <a:srgbClr val="7C9BFF"/>
            </a:solidFill>
            <a:ln>
              <a:noFill/>
            </a:ln>
          </p:spPr>
        </p:sp>
        <p:sp>
          <p:nvSpPr>
            <p:cNvPr id="49" name="node01.row.item-005.h1.heat-gap"/>
            <p:cNvSpPr/>
            <p:nvPr/>
          </p:nvSpPr>
          <p:spPr>
            <a:xfrm>
              <a:off x="3619500" y="4191000"/>
              <a:ext cx="838200" cy="558800"/>
            </a:xfrm>
            <a:prstGeom prst="rect">
              <a:avLst/>
            </a:prstGeom>
            <a:solidFill>
              <a:srgbClr val="FFFFFF"/>
            </a:solidFill>
            <a:ln>
              <a:noFill/>
            </a:ln>
          </p:spPr>
        </p:sp>
        <p:sp>
          <p:nvSpPr>
            <p:cNvPr id="50" name="node01.row.item-005.h1.heat"/>
            <p:cNvSpPr/>
            <p:nvPr/>
          </p:nvSpPr>
          <p:spPr>
            <a:xfrm>
              <a:off x="3638550" y="4210050"/>
              <a:ext cx="800100" cy="520700"/>
            </a:xfrm>
            <a:prstGeom prst="rect">
              <a:avLst/>
            </a:prstGeom>
            <a:solidFill>
              <a:srgbClr val="B9C9F0"/>
            </a:solidFill>
            <a:ln>
              <a:noFill/>
            </a:ln>
          </p:spPr>
        </p:sp>
        <p:sp>
          <p:nvSpPr>
            <p:cNvPr id="51" name="node01.row.item-005.h2.heat-gap"/>
            <p:cNvSpPr/>
            <p:nvPr/>
          </p:nvSpPr>
          <p:spPr>
            <a:xfrm>
              <a:off x="4457700" y="4191000"/>
              <a:ext cx="838200" cy="558800"/>
            </a:xfrm>
            <a:prstGeom prst="rect">
              <a:avLst/>
            </a:prstGeom>
            <a:solidFill>
              <a:srgbClr val="FFFFFF"/>
            </a:solidFill>
            <a:ln>
              <a:noFill/>
            </a:ln>
          </p:spPr>
        </p:sp>
        <p:sp>
          <p:nvSpPr>
            <p:cNvPr id="52" name="node01.row.item-005.h2.heat"/>
            <p:cNvSpPr/>
            <p:nvPr/>
          </p:nvSpPr>
          <p:spPr>
            <a:xfrm>
              <a:off x="4476750" y="4210050"/>
              <a:ext cx="800100" cy="520700"/>
            </a:xfrm>
            <a:prstGeom prst="rect">
              <a:avLst/>
            </a:prstGeom>
            <a:solidFill>
              <a:srgbClr val="B9C9F0"/>
            </a:solidFill>
            <a:ln>
              <a:noFill/>
            </a:ln>
          </p:spPr>
        </p:sp>
        <p:sp>
          <p:nvSpPr>
            <p:cNvPr id="53" name="node01.row.item-005.h3.heat-gap"/>
            <p:cNvSpPr/>
            <p:nvPr/>
          </p:nvSpPr>
          <p:spPr>
            <a:xfrm>
              <a:off x="5295900" y="4191000"/>
              <a:ext cx="838200" cy="558800"/>
            </a:xfrm>
            <a:prstGeom prst="rect">
              <a:avLst/>
            </a:prstGeom>
            <a:solidFill>
              <a:srgbClr val="FFFFFF"/>
            </a:solidFill>
            <a:ln>
              <a:noFill/>
            </a:ln>
          </p:spPr>
        </p:sp>
        <p:sp>
          <p:nvSpPr>
            <p:cNvPr id="54" name="node01.row.item-005.h3.heat"/>
            <p:cNvSpPr/>
            <p:nvPr/>
          </p:nvSpPr>
          <p:spPr>
            <a:xfrm>
              <a:off x="5314950" y="4210050"/>
              <a:ext cx="800100" cy="520700"/>
            </a:xfrm>
            <a:prstGeom prst="rect">
              <a:avLst/>
            </a:prstGeom>
            <a:solidFill>
              <a:srgbClr val="B9C9F0"/>
            </a:solidFill>
            <a:ln>
              <a:noFill/>
            </a:ln>
          </p:spPr>
        </p:sp>
        <p:sp>
          <p:nvSpPr>
            <p:cNvPr id="55" name="node01.row.item-005.h4.heat-gap"/>
            <p:cNvSpPr/>
            <p:nvPr/>
          </p:nvSpPr>
          <p:spPr>
            <a:xfrm>
              <a:off x="6134100" y="4191000"/>
              <a:ext cx="838200" cy="558800"/>
            </a:xfrm>
            <a:prstGeom prst="rect">
              <a:avLst/>
            </a:prstGeom>
            <a:solidFill>
              <a:srgbClr val="FFFFFF"/>
            </a:solidFill>
            <a:ln>
              <a:noFill/>
            </a:ln>
          </p:spPr>
        </p:sp>
        <p:sp>
          <p:nvSpPr>
            <p:cNvPr id="56" name="node01.row.item-005.h4.heat"/>
            <p:cNvSpPr/>
            <p:nvPr/>
          </p:nvSpPr>
          <p:spPr>
            <a:xfrm>
              <a:off x="6153150" y="4210050"/>
              <a:ext cx="800100" cy="520700"/>
            </a:xfrm>
            <a:prstGeom prst="rect">
              <a:avLst/>
            </a:prstGeom>
            <a:solidFill>
              <a:srgbClr val="7C9BFF"/>
            </a:solidFill>
            <a:ln>
              <a:noFill/>
            </a:ln>
          </p:spPr>
        </p:sp>
        <p:sp>
          <p:nvSpPr>
            <p:cNvPr id="57" name="node01.row.item-006.h0.heat-gap"/>
            <p:cNvSpPr/>
            <p:nvPr/>
          </p:nvSpPr>
          <p:spPr>
            <a:xfrm>
              <a:off x="2781300" y="4749800"/>
              <a:ext cx="838200" cy="558800"/>
            </a:xfrm>
            <a:prstGeom prst="rect">
              <a:avLst/>
            </a:prstGeom>
            <a:solidFill>
              <a:srgbClr val="FFFFFF"/>
            </a:solidFill>
            <a:ln>
              <a:noFill/>
            </a:ln>
          </p:spPr>
        </p:sp>
        <p:sp>
          <p:nvSpPr>
            <p:cNvPr id="58" name="node01.row.item-006.h0.heat"/>
            <p:cNvSpPr/>
            <p:nvPr/>
          </p:nvSpPr>
          <p:spPr>
            <a:xfrm>
              <a:off x="2800350" y="4768850"/>
              <a:ext cx="800100" cy="520700"/>
            </a:xfrm>
            <a:prstGeom prst="rect">
              <a:avLst/>
            </a:prstGeom>
            <a:solidFill>
              <a:srgbClr val="B9C9F0"/>
            </a:solidFill>
            <a:ln>
              <a:noFill/>
            </a:ln>
          </p:spPr>
        </p:sp>
        <p:sp>
          <p:nvSpPr>
            <p:cNvPr id="59" name="node01.row.item-006.h1.heat-gap"/>
            <p:cNvSpPr/>
            <p:nvPr/>
          </p:nvSpPr>
          <p:spPr>
            <a:xfrm>
              <a:off x="3619500" y="4749800"/>
              <a:ext cx="838200" cy="558800"/>
            </a:xfrm>
            <a:prstGeom prst="rect">
              <a:avLst/>
            </a:prstGeom>
            <a:solidFill>
              <a:srgbClr val="FFFFFF"/>
            </a:solidFill>
            <a:ln>
              <a:noFill/>
            </a:ln>
          </p:spPr>
        </p:sp>
        <p:sp>
          <p:nvSpPr>
            <p:cNvPr id="60" name="node01.row.item-006.h1.heat"/>
            <p:cNvSpPr/>
            <p:nvPr/>
          </p:nvSpPr>
          <p:spPr>
            <a:xfrm>
              <a:off x="3638550" y="4768850"/>
              <a:ext cx="800100" cy="520700"/>
            </a:xfrm>
            <a:prstGeom prst="rect">
              <a:avLst/>
            </a:prstGeom>
            <a:solidFill>
              <a:srgbClr val="7C9BFF"/>
            </a:solidFill>
            <a:ln>
              <a:noFill/>
            </a:ln>
          </p:spPr>
        </p:sp>
        <p:sp>
          <p:nvSpPr>
            <p:cNvPr id="61" name="node01.row.item-006.h2.heat-gap"/>
            <p:cNvSpPr/>
            <p:nvPr/>
          </p:nvSpPr>
          <p:spPr>
            <a:xfrm>
              <a:off x="4457700" y="4749800"/>
              <a:ext cx="838200" cy="558800"/>
            </a:xfrm>
            <a:prstGeom prst="rect">
              <a:avLst/>
            </a:prstGeom>
            <a:solidFill>
              <a:srgbClr val="FFFFFF"/>
            </a:solidFill>
            <a:ln>
              <a:noFill/>
            </a:ln>
          </p:spPr>
        </p:sp>
        <p:sp>
          <p:nvSpPr>
            <p:cNvPr id="62" name="node01.row.item-006.h2.heat"/>
            <p:cNvSpPr/>
            <p:nvPr/>
          </p:nvSpPr>
          <p:spPr>
            <a:xfrm>
              <a:off x="4476750" y="4768850"/>
              <a:ext cx="800100" cy="520700"/>
            </a:xfrm>
            <a:prstGeom prst="rect">
              <a:avLst/>
            </a:prstGeom>
            <a:solidFill>
              <a:srgbClr val="B9C9F0"/>
            </a:solidFill>
            <a:ln>
              <a:noFill/>
            </a:ln>
          </p:spPr>
        </p:sp>
        <p:sp>
          <p:nvSpPr>
            <p:cNvPr id="63" name="node01.row.item-006.h3.heat-gap"/>
            <p:cNvSpPr/>
            <p:nvPr/>
          </p:nvSpPr>
          <p:spPr>
            <a:xfrm>
              <a:off x="5295900" y="4749800"/>
              <a:ext cx="838200" cy="558800"/>
            </a:xfrm>
            <a:prstGeom prst="rect">
              <a:avLst/>
            </a:prstGeom>
            <a:solidFill>
              <a:srgbClr val="FFFFFF"/>
            </a:solidFill>
            <a:ln>
              <a:noFill/>
            </a:ln>
          </p:spPr>
        </p:sp>
        <p:sp>
          <p:nvSpPr>
            <p:cNvPr id="64" name="node01.row.item-006.h3.heat"/>
            <p:cNvSpPr/>
            <p:nvPr/>
          </p:nvSpPr>
          <p:spPr>
            <a:xfrm>
              <a:off x="5314950" y="4768850"/>
              <a:ext cx="800100" cy="520700"/>
            </a:xfrm>
            <a:prstGeom prst="rect">
              <a:avLst/>
            </a:prstGeom>
            <a:solidFill>
              <a:srgbClr val="B9C9F0"/>
            </a:solidFill>
            <a:ln>
              <a:noFill/>
            </a:ln>
          </p:spPr>
        </p:sp>
        <p:sp>
          <p:nvSpPr>
            <p:cNvPr id="65" name="node01.row.item-006.h4.heat-gap"/>
            <p:cNvSpPr/>
            <p:nvPr/>
          </p:nvSpPr>
          <p:spPr>
            <a:xfrm>
              <a:off x="6134100" y="4749800"/>
              <a:ext cx="838200" cy="558800"/>
            </a:xfrm>
            <a:prstGeom prst="rect">
              <a:avLst/>
            </a:prstGeom>
            <a:solidFill>
              <a:srgbClr val="FFFFFF"/>
            </a:solidFill>
            <a:ln>
              <a:noFill/>
            </a:ln>
          </p:spPr>
        </p:sp>
        <p:sp>
          <p:nvSpPr>
            <p:cNvPr id="66" name="node01.row.item-006.h4.heat"/>
            <p:cNvSpPr/>
            <p:nvPr/>
          </p:nvSpPr>
          <p:spPr>
            <a:xfrm>
              <a:off x="6153150" y="4768850"/>
              <a:ext cx="800100" cy="520700"/>
            </a:xfrm>
            <a:prstGeom prst="rect">
              <a:avLst/>
            </a:prstGeom>
            <a:solidFill>
              <a:srgbClr val="7C9BFF"/>
            </a:solidFill>
            <a:ln>
              <a:noFill/>
            </a:ln>
          </p:spPr>
        </p:sp>
        <p:graphicFrame>
          <p:nvGraphicFramePr>
            <p:cNvPr id="6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708400"/>
          </p:xfrm>
          <a:graphic>
            <a:graphicData uri="http://schemas.openxmlformats.org/drawingml/2006/table">
              <a:tbl>
                <a:tblPr/>
                <a:tblGrid>
                  <a:gridCol w="2057400"/>
                  <a:gridCol w="838200"/>
                  <a:gridCol w="838200"/>
                  <a:gridCol w="838200"/>
                  <a:gridCol w="838200"/>
                  <a:gridCol w="838200"/>
                  <a:gridCol w="44958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CAPABILITY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PROCESS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TECHNOLOGY</a:t>
                        </a:r>
                        <a:endParaRPr lang="en-US" sz="800" spc="48" kern="0" b="0" i="0" dirty="0">
                          <a:solidFill>
                            <a:srgbClr val="070154"/>
                          </a:solidFill>
                          <a:latin typeface="IBM Plex Mono SemiBold"/>
                          <a:ea typeface="IBM Plex Mono SemiBold"/>
                          <a:cs typeface="IBM Plex Mono SemiBold"/>
                        </a:endParaRPr>
                      </a:p>
                    </a:txBody>
                    <a:tcPr marL="74296" marR="742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DATA</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PEOPLE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GOVERNANCE</a:t>
                        </a:r>
                        <a:endParaRPr lang="en-US" sz="800" spc="48" kern="0" b="0" i="0" dirty="0">
                          <a:solidFill>
                            <a:srgbClr val="070154"/>
                          </a:solidFill>
                          <a:latin typeface="IBM Plex Mono SemiBold"/>
                          <a:ea typeface="IBM Plex Mono SemiBold"/>
                          <a:cs typeface="IBM Plex Mono SemiBold"/>
                        </a:endParaRPr>
                      </a:p>
                    </a:txBody>
                    <a:tcPr marL="74296" marR="742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WHAT WE FOUND</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billing</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Revenue</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Statements are clear and on time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Payment plans sit outside the platform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Denials management</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Revenue</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Denial reasons are not coded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Rework is owned by no one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Clinical documentation</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Care delivery</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Templates are strong and reused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Voice capture is live in two units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Care coordination</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Care delivery</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Handoffs run on phone and email</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Care plans live in three tools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Supply chain</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Operations</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Contracts are tracked by site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Item master has duplicates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Workforce management</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Operations</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Rosters are built by hand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Credentialing is on time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68" name="node01.continued"/>
            <p:cNvSpPr/>
            <p:nvPr/>
          </p:nvSpPr>
          <p:spPr>
            <a:xfrm>
              <a:off x="723900" y="1371600"/>
              <a:ext cx="1074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CAPABILITY HEAT MAP WITH NOTES (CONTINUED, 2 OF 3)</a:t>
              </a:r>
              <a:endParaRPr lang="en-US" sz="800" spc="48" kern="0" b="0" i="0" dirty="0">
                <a:solidFill>
                  <a:srgbClr val="50658E"/>
                </a:solidFill>
                <a:latin typeface="IBM Plex Mono Medium"/>
                <a:ea typeface="IBM Plex Mono Medium"/>
                <a:cs typeface="IBM Plex Mono Medium"/>
              </a:endParaRPr>
            </a:p>
          </p:txBody>
        </p:sp>
      </p:grpSp>
      <p:grpSp>
        <p:nvGrpSpPr>
          <p:cNvPr id="80" name="node02"/>
          <p:cNvGrpSpPr/>
          <p:nvPr/>
        </p:nvGrpSpPr>
        <p:grpSpPr>
          <a:xfrm>
            <a:off x="723900" y="5486400"/>
            <a:ext cx="6062663" cy="190500"/>
            <a:chOff x="723900" y="5486400"/>
            <a:chExt cx="6062663" cy="190500"/>
          </a:xfrm>
        </p:grpSpPr>
        <p:sp>
          <p:nvSpPr>
            <p:cNvPr id="69" name="node02.items.slot-001.swatch"/>
            <p:cNvSpPr/>
            <p:nvPr/>
          </p:nvSpPr>
          <p:spPr>
            <a:xfrm>
              <a:off x="723900" y="5518150"/>
              <a:ext cx="228600" cy="127000"/>
            </a:xfrm>
            <a:prstGeom prst="rect">
              <a:avLst/>
            </a:prstGeom>
            <a:solidFill>
              <a:srgbClr val="E8EEF8"/>
            </a:solidFill>
            <a:ln>
              <a:noFill/>
            </a:ln>
          </p:spPr>
        </p:sp>
        <p:sp>
          <p:nvSpPr>
            <p:cNvPr id="70" name="node02.items.slot-001.text"/>
            <p:cNvSpPr/>
            <p:nvPr/>
          </p:nvSpPr>
          <p:spPr>
            <a:xfrm>
              <a:off x="1016000" y="5486400"/>
              <a:ext cx="5984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Ad hoc</a:t>
              </a:r>
              <a:endParaRPr lang="en-US" sz="1100" spc="0" kern="0" b="0" i="0" dirty="0">
                <a:solidFill>
                  <a:srgbClr val="070154"/>
                </a:solidFill>
                <a:latin typeface="IBM Plex Sans"/>
                <a:ea typeface="IBM Plex Sans"/>
                <a:cs typeface="IBM Plex Sans"/>
              </a:endParaRPr>
            </a:p>
          </p:txBody>
        </p:sp>
        <p:sp>
          <p:nvSpPr>
            <p:cNvPr id="71" name="node02.items.slot-002.swatch"/>
            <p:cNvSpPr/>
            <p:nvPr/>
          </p:nvSpPr>
          <p:spPr>
            <a:xfrm>
              <a:off x="1843088" y="5518150"/>
              <a:ext cx="228600" cy="127000"/>
            </a:xfrm>
            <a:prstGeom prst="rect">
              <a:avLst/>
            </a:prstGeom>
            <a:solidFill>
              <a:srgbClr val="B9C9F0"/>
            </a:solidFill>
            <a:ln>
              <a:noFill/>
            </a:ln>
          </p:spPr>
        </p:sp>
        <p:sp>
          <p:nvSpPr>
            <p:cNvPr id="72" name="node02.items.slot-002.text"/>
            <p:cNvSpPr/>
            <p:nvPr/>
          </p:nvSpPr>
          <p:spPr>
            <a:xfrm>
              <a:off x="2135188" y="5486400"/>
              <a:ext cx="8842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 Repeatable</a:t>
              </a:r>
              <a:endParaRPr lang="en-US" sz="1100" spc="0" kern="0" b="0" i="0" dirty="0">
                <a:solidFill>
                  <a:srgbClr val="070154"/>
                </a:solidFill>
                <a:latin typeface="IBM Plex Sans"/>
                <a:ea typeface="IBM Plex Sans"/>
                <a:cs typeface="IBM Plex Sans"/>
              </a:endParaRPr>
            </a:p>
          </p:txBody>
        </p:sp>
        <p:sp>
          <p:nvSpPr>
            <p:cNvPr id="73" name="node02.items.slot-003.swatch"/>
            <p:cNvSpPr/>
            <p:nvPr/>
          </p:nvSpPr>
          <p:spPr>
            <a:xfrm>
              <a:off x="3248025" y="5518150"/>
              <a:ext cx="228600" cy="127000"/>
            </a:xfrm>
            <a:prstGeom prst="rect">
              <a:avLst/>
            </a:prstGeom>
            <a:solidFill>
              <a:srgbClr val="7C9BFF"/>
            </a:solidFill>
            <a:ln>
              <a:noFill/>
            </a:ln>
          </p:spPr>
        </p:sp>
        <p:sp>
          <p:nvSpPr>
            <p:cNvPr id="74" name="node02.items.slot-003.text"/>
            <p:cNvSpPr/>
            <p:nvPr/>
          </p:nvSpPr>
          <p:spPr>
            <a:xfrm>
              <a:off x="3540125" y="5486400"/>
              <a:ext cx="6540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 Defined</a:t>
              </a:r>
              <a:endParaRPr lang="en-US" sz="1100" spc="0" kern="0" b="0" i="0" dirty="0">
                <a:solidFill>
                  <a:srgbClr val="070154"/>
                </a:solidFill>
                <a:latin typeface="IBM Plex Sans"/>
                <a:ea typeface="IBM Plex Sans"/>
                <a:cs typeface="IBM Plex Sans"/>
              </a:endParaRPr>
            </a:p>
          </p:txBody>
        </p:sp>
        <p:sp>
          <p:nvSpPr>
            <p:cNvPr id="75" name="node02.items.slot-004.swatch"/>
            <p:cNvSpPr/>
            <p:nvPr/>
          </p:nvSpPr>
          <p:spPr>
            <a:xfrm>
              <a:off x="4422775" y="5518150"/>
              <a:ext cx="228600" cy="127000"/>
            </a:xfrm>
            <a:prstGeom prst="rect">
              <a:avLst/>
            </a:prstGeom>
            <a:solidFill>
              <a:srgbClr val="0047FF"/>
            </a:solidFill>
            <a:ln>
              <a:noFill/>
            </a:ln>
          </p:spPr>
        </p:sp>
        <p:sp>
          <p:nvSpPr>
            <p:cNvPr id="76" name="node02.items.slot-004.text"/>
            <p:cNvSpPr/>
            <p:nvPr/>
          </p:nvSpPr>
          <p:spPr>
            <a:xfrm>
              <a:off x="4714875" y="5486400"/>
              <a:ext cx="7397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4 Managed</a:t>
              </a:r>
              <a:endParaRPr lang="en-US" sz="1100" spc="0" kern="0" b="0" i="0" dirty="0">
                <a:solidFill>
                  <a:srgbClr val="070154"/>
                </a:solidFill>
                <a:latin typeface="IBM Plex Sans"/>
                <a:ea typeface="IBM Plex Sans"/>
                <a:cs typeface="IBM Plex Sans"/>
              </a:endParaRPr>
            </a:p>
          </p:txBody>
        </p:sp>
        <p:sp>
          <p:nvSpPr>
            <p:cNvPr id="77" name="node02.items.slot-005.swatch"/>
            <p:cNvSpPr/>
            <p:nvPr/>
          </p:nvSpPr>
          <p:spPr>
            <a:xfrm>
              <a:off x="5683250" y="5518150"/>
              <a:ext cx="228600" cy="127000"/>
            </a:xfrm>
            <a:prstGeom prst="rect">
              <a:avLst/>
            </a:prstGeom>
            <a:solidFill>
              <a:srgbClr val="070154"/>
            </a:solidFill>
            <a:ln>
              <a:noFill/>
            </a:ln>
          </p:spPr>
        </p:sp>
        <p:sp>
          <p:nvSpPr>
            <p:cNvPr id="78" name="node02.items.slot-005.text"/>
            <p:cNvSpPr/>
            <p:nvPr/>
          </p:nvSpPr>
          <p:spPr>
            <a:xfrm>
              <a:off x="5975350" y="5486400"/>
              <a:ext cx="8112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Optimized</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ource-20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Referrals, denials and care coordination score lowest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70</a:t>
            </a:fld>
            <a:endParaRPr lang="en-US" sz="700" spc="0" kern="0" b="0" i="0" dirty="0">
              <a:solidFill>
                <a:srgbClr val="070154"/>
              </a:solidFill>
              <a:latin typeface="IBM Plex Mono SemiBold"/>
              <a:ea typeface="IBM Plex Mono SemiBold"/>
              <a:cs typeface="IBM Plex Mono SemiBold"/>
            </a:endParaRPr>
          </a:p>
        </p:txBody>
      </p:sp>
      <p:grpSp>
        <p:nvGrpSpPr>
          <p:cNvPr id="84" name="node01"/>
          <p:cNvGrpSpPr/>
          <p:nvPr/>
        </p:nvGrpSpPr>
        <p:grpSpPr>
          <a:xfrm>
            <a:off x="723900" y="1600200"/>
            <a:ext cx="10744200" cy="3708400"/>
            <a:chOff x="723900" y="1600200"/>
            <a:chExt cx="10744200" cy="3708400"/>
          </a:xfrm>
        </p:grpSpPr>
        <p:sp>
          <p:nvSpPr>
            <p:cNvPr id="7" name="node01.row.item-001.h0.heat-gap"/>
            <p:cNvSpPr/>
            <p:nvPr/>
          </p:nvSpPr>
          <p:spPr>
            <a:xfrm>
              <a:off x="3238500" y="1955800"/>
              <a:ext cx="736600" cy="558800"/>
            </a:xfrm>
            <a:prstGeom prst="rect">
              <a:avLst/>
            </a:prstGeom>
            <a:solidFill>
              <a:srgbClr val="FFFFFF"/>
            </a:solidFill>
            <a:ln>
              <a:noFill/>
            </a:ln>
          </p:spPr>
        </p:sp>
        <p:sp>
          <p:nvSpPr>
            <p:cNvPr id="8" name="node01.row.item-001.h0.heat"/>
            <p:cNvSpPr/>
            <p:nvPr/>
          </p:nvSpPr>
          <p:spPr>
            <a:xfrm>
              <a:off x="3257550" y="1974850"/>
              <a:ext cx="698500" cy="520700"/>
            </a:xfrm>
            <a:prstGeom prst="rect">
              <a:avLst/>
            </a:prstGeom>
            <a:solidFill>
              <a:srgbClr val="7C9BFF"/>
            </a:solidFill>
            <a:ln>
              <a:noFill/>
            </a:ln>
          </p:spPr>
        </p:sp>
        <p:sp>
          <p:nvSpPr>
            <p:cNvPr id="9" name="node01.row.item-001.h1.heat-gap"/>
            <p:cNvSpPr/>
            <p:nvPr/>
          </p:nvSpPr>
          <p:spPr>
            <a:xfrm>
              <a:off x="3975100" y="1955800"/>
              <a:ext cx="736600" cy="558800"/>
            </a:xfrm>
            <a:prstGeom prst="rect">
              <a:avLst/>
            </a:prstGeom>
            <a:solidFill>
              <a:srgbClr val="FFFFFF"/>
            </a:solidFill>
            <a:ln>
              <a:noFill/>
            </a:ln>
          </p:spPr>
        </p:sp>
        <p:sp>
          <p:nvSpPr>
            <p:cNvPr id="10" name="node01.row.item-001.h1.heat"/>
            <p:cNvSpPr/>
            <p:nvPr/>
          </p:nvSpPr>
          <p:spPr>
            <a:xfrm>
              <a:off x="3994150" y="1974850"/>
              <a:ext cx="698500" cy="520700"/>
            </a:xfrm>
            <a:prstGeom prst="rect">
              <a:avLst/>
            </a:prstGeom>
            <a:solidFill>
              <a:srgbClr val="B9C9F0"/>
            </a:solidFill>
            <a:ln>
              <a:noFill/>
            </a:ln>
          </p:spPr>
        </p:sp>
        <p:sp>
          <p:nvSpPr>
            <p:cNvPr id="11" name="node01.row.item-001.h2.heat-gap"/>
            <p:cNvSpPr/>
            <p:nvPr/>
          </p:nvSpPr>
          <p:spPr>
            <a:xfrm>
              <a:off x="4711700" y="1955800"/>
              <a:ext cx="736600" cy="558800"/>
            </a:xfrm>
            <a:prstGeom prst="rect">
              <a:avLst/>
            </a:prstGeom>
            <a:solidFill>
              <a:srgbClr val="FFFFFF"/>
            </a:solidFill>
            <a:ln>
              <a:noFill/>
            </a:ln>
          </p:spPr>
        </p:sp>
        <p:sp>
          <p:nvSpPr>
            <p:cNvPr id="12" name="node01.row.item-001.h2.heat"/>
            <p:cNvSpPr/>
            <p:nvPr/>
          </p:nvSpPr>
          <p:spPr>
            <a:xfrm>
              <a:off x="4730750" y="1974850"/>
              <a:ext cx="698500" cy="520700"/>
            </a:xfrm>
            <a:prstGeom prst="rect">
              <a:avLst/>
            </a:prstGeom>
            <a:solidFill>
              <a:srgbClr val="B9C9F0"/>
            </a:solidFill>
            <a:ln>
              <a:noFill/>
            </a:ln>
          </p:spPr>
        </p:sp>
        <p:sp>
          <p:nvSpPr>
            <p:cNvPr id="13" name="node01.row.item-001.h3.heat-gap"/>
            <p:cNvSpPr/>
            <p:nvPr/>
          </p:nvSpPr>
          <p:spPr>
            <a:xfrm>
              <a:off x="5448300" y="1955800"/>
              <a:ext cx="736600" cy="558800"/>
            </a:xfrm>
            <a:prstGeom prst="rect">
              <a:avLst/>
            </a:prstGeom>
            <a:solidFill>
              <a:srgbClr val="FFFFFF"/>
            </a:solidFill>
            <a:ln>
              <a:noFill/>
            </a:ln>
          </p:spPr>
        </p:sp>
        <p:sp>
          <p:nvSpPr>
            <p:cNvPr id="14" name="node01.row.item-001.h3.heat"/>
            <p:cNvSpPr/>
            <p:nvPr/>
          </p:nvSpPr>
          <p:spPr>
            <a:xfrm>
              <a:off x="5467350" y="1974850"/>
              <a:ext cx="698500" cy="520700"/>
            </a:xfrm>
            <a:prstGeom prst="rect">
              <a:avLst/>
            </a:prstGeom>
            <a:solidFill>
              <a:srgbClr val="7C9BFF"/>
            </a:solidFill>
            <a:ln>
              <a:noFill/>
            </a:ln>
          </p:spPr>
        </p:sp>
        <p:sp>
          <p:nvSpPr>
            <p:cNvPr id="15" name="node01.row.item-001.h4.heat-gap"/>
            <p:cNvSpPr/>
            <p:nvPr/>
          </p:nvSpPr>
          <p:spPr>
            <a:xfrm>
              <a:off x="6184900" y="1955800"/>
              <a:ext cx="736600" cy="558800"/>
            </a:xfrm>
            <a:prstGeom prst="rect">
              <a:avLst/>
            </a:prstGeom>
            <a:solidFill>
              <a:srgbClr val="FFFFFF"/>
            </a:solidFill>
            <a:ln>
              <a:noFill/>
            </a:ln>
          </p:spPr>
        </p:sp>
        <p:sp>
          <p:nvSpPr>
            <p:cNvPr id="16" name="node01.row.item-001.h4.heat"/>
            <p:cNvSpPr/>
            <p:nvPr/>
          </p:nvSpPr>
          <p:spPr>
            <a:xfrm>
              <a:off x="6203950" y="1974850"/>
              <a:ext cx="698500" cy="520700"/>
            </a:xfrm>
            <a:prstGeom prst="rect">
              <a:avLst/>
            </a:prstGeom>
            <a:solidFill>
              <a:srgbClr val="B9C9F0"/>
            </a:solidFill>
            <a:ln>
              <a:noFill/>
            </a:ln>
          </p:spPr>
        </p:sp>
        <p:sp>
          <p:nvSpPr>
            <p:cNvPr id="17" name="node01.row.item-002.h0.heat-gap"/>
            <p:cNvSpPr/>
            <p:nvPr/>
          </p:nvSpPr>
          <p:spPr>
            <a:xfrm>
              <a:off x="3238500" y="2514600"/>
              <a:ext cx="736600" cy="558800"/>
            </a:xfrm>
            <a:prstGeom prst="rect">
              <a:avLst/>
            </a:prstGeom>
            <a:solidFill>
              <a:srgbClr val="FFFFFF"/>
            </a:solidFill>
            <a:ln>
              <a:noFill/>
            </a:ln>
          </p:spPr>
        </p:sp>
        <p:sp>
          <p:nvSpPr>
            <p:cNvPr id="18" name="node01.row.item-002.h0.heat"/>
            <p:cNvSpPr/>
            <p:nvPr/>
          </p:nvSpPr>
          <p:spPr>
            <a:xfrm>
              <a:off x="3257550" y="2533650"/>
              <a:ext cx="698500" cy="520700"/>
            </a:xfrm>
            <a:prstGeom prst="rect">
              <a:avLst/>
            </a:prstGeom>
            <a:solidFill>
              <a:srgbClr val="B9C9F0"/>
            </a:solidFill>
            <a:ln>
              <a:noFill/>
            </a:ln>
          </p:spPr>
        </p:sp>
        <p:sp>
          <p:nvSpPr>
            <p:cNvPr id="19" name="node01.row.item-002.h1.heat-gap"/>
            <p:cNvSpPr/>
            <p:nvPr/>
          </p:nvSpPr>
          <p:spPr>
            <a:xfrm>
              <a:off x="3975100" y="2514600"/>
              <a:ext cx="736600" cy="558800"/>
            </a:xfrm>
            <a:prstGeom prst="rect">
              <a:avLst/>
            </a:prstGeom>
            <a:solidFill>
              <a:srgbClr val="FFFFFF"/>
            </a:solidFill>
            <a:ln>
              <a:noFill/>
            </a:ln>
          </p:spPr>
        </p:sp>
        <p:sp>
          <p:nvSpPr>
            <p:cNvPr id="20" name="node01.row.item-002.h1.heat"/>
            <p:cNvSpPr/>
            <p:nvPr/>
          </p:nvSpPr>
          <p:spPr>
            <a:xfrm>
              <a:off x="3994150" y="2533650"/>
              <a:ext cx="698500" cy="520700"/>
            </a:xfrm>
            <a:prstGeom prst="rect">
              <a:avLst/>
            </a:prstGeom>
            <a:solidFill>
              <a:srgbClr val="E8EEF8"/>
            </a:solidFill>
            <a:ln>
              <a:noFill/>
            </a:ln>
          </p:spPr>
        </p:sp>
        <p:sp>
          <p:nvSpPr>
            <p:cNvPr id="21" name="node01.row.item-002.h2.heat-gap"/>
            <p:cNvSpPr/>
            <p:nvPr/>
          </p:nvSpPr>
          <p:spPr>
            <a:xfrm>
              <a:off x="4711700" y="2514600"/>
              <a:ext cx="736600" cy="558800"/>
            </a:xfrm>
            <a:prstGeom prst="rect">
              <a:avLst/>
            </a:prstGeom>
            <a:solidFill>
              <a:srgbClr val="FFFFFF"/>
            </a:solidFill>
            <a:ln>
              <a:noFill/>
            </a:ln>
          </p:spPr>
        </p:sp>
        <p:sp>
          <p:nvSpPr>
            <p:cNvPr id="22" name="node01.row.item-002.h2.heat"/>
            <p:cNvSpPr/>
            <p:nvPr/>
          </p:nvSpPr>
          <p:spPr>
            <a:xfrm>
              <a:off x="4730750" y="2533650"/>
              <a:ext cx="698500" cy="520700"/>
            </a:xfrm>
            <a:prstGeom prst="rect">
              <a:avLst/>
            </a:prstGeom>
            <a:solidFill>
              <a:srgbClr val="E8EEF8"/>
            </a:solidFill>
            <a:ln>
              <a:noFill/>
            </a:ln>
          </p:spPr>
        </p:sp>
        <p:sp>
          <p:nvSpPr>
            <p:cNvPr id="23" name="node01.row.item-002.h3.heat-gap"/>
            <p:cNvSpPr/>
            <p:nvPr/>
          </p:nvSpPr>
          <p:spPr>
            <a:xfrm>
              <a:off x="5448300" y="2514600"/>
              <a:ext cx="736600" cy="558800"/>
            </a:xfrm>
            <a:prstGeom prst="rect">
              <a:avLst/>
            </a:prstGeom>
            <a:solidFill>
              <a:srgbClr val="FFFFFF"/>
            </a:solidFill>
            <a:ln>
              <a:noFill/>
            </a:ln>
          </p:spPr>
        </p:sp>
        <p:sp>
          <p:nvSpPr>
            <p:cNvPr id="24" name="node01.row.item-002.h3.heat"/>
            <p:cNvSpPr/>
            <p:nvPr/>
          </p:nvSpPr>
          <p:spPr>
            <a:xfrm>
              <a:off x="5467350" y="2533650"/>
              <a:ext cx="698500" cy="520700"/>
            </a:xfrm>
            <a:prstGeom prst="rect">
              <a:avLst/>
            </a:prstGeom>
            <a:solidFill>
              <a:srgbClr val="B9C9F0"/>
            </a:solidFill>
            <a:ln>
              <a:noFill/>
            </a:ln>
          </p:spPr>
        </p:sp>
        <p:sp>
          <p:nvSpPr>
            <p:cNvPr id="25" name="node01.row.item-002.h4.heat-gap"/>
            <p:cNvSpPr/>
            <p:nvPr/>
          </p:nvSpPr>
          <p:spPr>
            <a:xfrm>
              <a:off x="6184900" y="2514600"/>
              <a:ext cx="736600" cy="558800"/>
            </a:xfrm>
            <a:prstGeom prst="rect">
              <a:avLst/>
            </a:prstGeom>
            <a:solidFill>
              <a:srgbClr val="FFFFFF"/>
            </a:solidFill>
            <a:ln>
              <a:noFill/>
            </a:ln>
          </p:spPr>
        </p:sp>
        <p:sp>
          <p:nvSpPr>
            <p:cNvPr id="26" name="node01.row.item-002.h4.heat"/>
            <p:cNvSpPr/>
            <p:nvPr/>
          </p:nvSpPr>
          <p:spPr>
            <a:xfrm>
              <a:off x="6203950" y="2533650"/>
              <a:ext cx="698500" cy="520700"/>
            </a:xfrm>
            <a:prstGeom prst="rect">
              <a:avLst/>
            </a:prstGeom>
            <a:solidFill>
              <a:srgbClr val="B9C9F0"/>
            </a:solidFill>
            <a:ln>
              <a:noFill/>
            </a:ln>
          </p:spPr>
        </p:sp>
        <p:sp>
          <p:nvSpPr>
            <p:cNvPr id="27" name="node01.row.item-003.h0.heat-gap"/>
            <p:cNvSpPr/>
            <p:nvPr/>
          </p:nvSpPr>
          <p:spPr>
            <a:xfrm>
              <a:off x="3238500" y="3073400"/>
              <a:ext cx="736600" cy="558800"/>
            </a:xfrm>
            <a:prstGeom prst="rect">
              <a:avLst/>
            </a:prstGeom>
            <a:solidFill>
              <a:srgbClr val="FFFFFF"/>
            </a:solidFill>
            <a:ln>
              <a:noFill/>
            </a:ln>
          </p:spPr>
        </p:sp>
        <p:sp>
          <p:nvSpPr>
            <p:cNvPr id="28" name="node01.row.item-003.h0.heat"/>
            <p:cNvSpPr/>
            <p:nvPr/>
          </p:nvSpPr>
          <p:spPr>
            <a:xfrm>
              <a:off x="3257550" y="3092450"/>
              <a:ext cx="698500" cy="520700"/>
            </a:xfrm>
            <a:prstGeom prst="rect">
              <a:avLst/>
            </a:prstGeom>
            <a:solidFill>
              <a:srgbClr val="0047FF"/>
            </a:solidFill>
            <a:ln>
              <a:noFill/>
            </a:ln>
          </p:spPr>
        </p:sp>
        <p:sp>
          <p:nvSpPr>
            <p:cNvPr id="29" name="node01.row.item-003.h1.heat-gap"/>
            <p:cNvSpPr/>
            <p:nvPr/>
          </p:nvSpPr>
          <p:spPr>
            <a:xfrm>
              <a:off x="3975100" y="3073400"/>
              <a:ext cx="736600" cy="558800"/>
            </a:xfrm>
            <a:prstGeom prst="rect">
              <a:avLst/>
            </a:prstGeom>
            <a:solidFill>
              <a:srgbClr val="FFFFFF"/>
            </a:solidFill>
            <a:ln>
              <a:noFill/>
            </a:ln>
          </p:spPr>
        </p:sp>
        <p:sp>
          <p:nvSpPr>
            <p:cNvPr id="30" name="node01.row.item-003.h1.heat"/>
            <p:cNvSpPr/>
            <p:nvPr/>
          </p:nvSpPr>
          <p:spPr>
            <a:xfrm>
              <a:off x="3994150" y="3092450"/>
              <a:ext cx="698500" cy="520700"/>
            </a:xfrm>
            <a:prstGeom prst="rect">
              <a:avLst/>
            </a:prstGeom>
            <a:solidFill>
              <a:srgbClr val="070154"/>
            </a:solidFill>
            <a:ln>
              <a:noFill/>
            </a:ln>
          </p:spPr>
        </p:sp>
        <p:sp>
          <p:nvSpPr>
            <p:cNvPr id="31" name="node01.row.item-003.h2.heat-gap"/>
            <p:cNvSpPr/>
            <p:nvPr/>
          </p:nvSpPr>
          <p:spPr>
            <a:xfrm>
              <a:off x="4711700" y="3073400"/>
              <a:ext cx="736600" cy="558800"/>
            </a:xfrm>
            <a:prstGeom prst="rect">
              <a:avLst/>
            </a:prstGeom>
            <a:solidFill>
              <a:srgbClr val="FFFFFF"/>
            </a:solidFill>
            <a:ln>
              <a:noFill/>
            </a:ln>
          </p:spPr>
        </p:sp>
        <p:sp>
          <p:nvSpPr>
            <p:cNvPr id="32" name="node01.row.item-003.h2.heat"/>
            <p:cNvSpPr/>
            <p:nvPr/>
          </p:nvSpPr>
          <p:spPr>
            <a:xfrm>
              <a:off x="4730750" y="3092450"/>
              <a:ext cx="698500" cy="520700"/>
            </a:xfrm>
            <a:prstGeom prst="rect">
              <a:avLst/>
            </a:prstGeom>
            <a:solidFill>
              <a:srgbClr val="7C9BFF"/>
            </a:solidFill>
            <a:ln>
              <a:noFill/>
            </a:ln>
          </p:spPr>
        </p:sp>
        <p:sp>
          <p:nvSpPr>
            <p:cNvPr id="33" name="node01.row.item-003.h3.heat-gap"/>
            <p:cNvSpPr/>
            <p:nvPr/>
          </p:nvSpPr>
          <p:spPr>
            <a:xfrm>
              <a:off x="5448300" y="3073400"/>
              <a:ext cx="736600" cy="558800"/>
            </a:xfrm>
            <a:prstGeom prst="rect">
              <a:avLst/>
            </a:prstGeom>
            <a:solidFill>
              <a:srgbClr val="FFFFFF"/>
            </a:solidFill>
            <a:ln>
              <a:noFill/>
            </a:ln>
          </p:spPr>
        </p:sp>
        <p:sp>
          <p:nvSpPr>
            <p:cNvPr id="34" name="node01.row.item-003.h3.heat"/>
            <p:cNvSpPr/>
            <p:nvPr/>
          </p:nvSpPr>
          <p:spPr>
            <a:xfrm>
              <a:off x="5467350" y="3092450"/>
              <a:ext cx="698500" cy="520700"/>
            </a:xfrm>
            <a:prstGeom prst="rect">
              <a:avLst/>
            </a:prstGeom>
            <a:solidFill>
              <a:srgbClr val="7C9BFF"/>
            </a:solidFill>
            <a:ln>
              <a:noFill/>
            </a:ln>
          </p:spPr>
        </p:sp>
        <p:sp>
          <p:nvSpPr>
            <p:cNvPr id="35" name="node01.row.item-003.h4.heat-gap"/>
            <p:cNvSpPr/>
            <p:nvPr/>
          </p:nvSpPr>
          <p:spPr>
            <a:xfrm>
              <a:off x="6184900" y="3073400"/>
              <a:ext cx="736600" cy="558800"/>
            </a:xfrm>
            <a:prstGeom prst="rect">
              <a:avLst/>
            </a:prstGeom>
            <a:solidFill>
              <a:srgbClr val="FFFFFF"/>
            </a:solidFill>
            <a:ln>
              <a:noFill/>
            </a:ln>
          </p:spPr>
        </p:sp>
        <p:sp>
          <p:nvSpPr>
            <p:cNvPr id="36" name="node01.row.item-003.h4.heat"/>
            <p:cNvSpPr/>
            <p:nvPr/>
          </p:nvSpPr>
          <p:spPr>
            <a:xfrm>
              <a:off x="6203950" y="3092450"/>
              <a:ext cx="698500" cy="520700"/>
            </a:xfrm>
            <a:prstGeom prst="rect">
              <a:avLst/>
            </a:prstGeom>
            <a:solidFill>
              <a:srgbClr val="0047FF"/>
            </a:solidFill>
            <a:ln>
              <a:noFill/>
            </a:ln>
          </p:spPr>
        </p:sp>
        <p:sp>
          <p:nvSpPr>
            <p:cNvPr id="37" name="node01.row.item-004.h0.heat-gap"/>
            <p:cNvSpPr/>
            <p:nvPr/>
          </p:nvSpPr>
          <p:spPr>
            <a:xfrm>
              <a:off x="3238500" y="3632200"/>
              <a:ext cx="736600" cy="558800"/>
            </a:xfrm>
            <a:prstGeom prst="rect">
              <a:avLst/>
            </a:prstGeom>
            <a:solidFill>
              <a:srgbClr val="FFFFFF"/>
            </a:solidFill>
            <a:ln>
              <a:noFill/>
            </a:ln>
          </p:spPr>
        </p:sp>
        <p:sp>
          <p:nvSpPr>
            <p:cNvPr id="38" name="node01.row.item-004.h0.heat"/>
            <p:cNvSpPr/>
            <p:nvPr/>
          </p:nvSpPr>
          <p:spPr>
            <a:xfrm>
              <a:off x="3257550" y="3651250"/>
              <a:ext cx="698500" cy="520700"/>
            </a:xfrm>
            <a:prstGeom prst="rect">
              <a:avLst/>
            </a:prstGeom>
            <a:solidFill>
              <a:srgbClr val="B9C9F0"/>
            </a:solidFill>
            <a:ln>
              <a:noFill/>
            </a:ln>
          </p:spPr>
        </p:sp>
        <p:sp>
          <p:nvSpPr>
            <p:cNvPr id="39" name="node01.row.item-004.h1.heat-gap"/>
            <p:cNvSpPr/>
            <p:nvPr/>
          </p:nvSpPr>
          <p:spPr>
            <a:xfrm>
              <a:off x="3975100" y="3632200"/>
              <a:ext cx="736600" cy="558800"/>
            </a:xfrm>
            <a:prstGeom prst="rect">
              <a:avLst/>
            </a:prstGeom>
            <a:solidFill>
              <a:srgbClr val="FFFFFF"/>
            </a:solidFill>
            <a:ln>
              <a:noFill/>
            </a:ln>
          </p:spPr>
        </p:sp>
        <p:sp>
          <p:nvSpPr>
            <p:cNvPr id="40" name="node01.row.item-004.h1.heat"/>
            <p:cNvSpPr/>
            <p:nvPr/>
          </p:nvSpPr>
          <p:spPr>
            <a:xfrm>
              <a:off x="3994150" y="3651250"/>
              <a:ext cx="698500" cy="520700"/>
            </a:xfrm>
            <a:prstGeom prst="rect">
              <a:avLst/>
            </a:prstGeom>
            <a:solidFill>
              <a:srgbClr val="B9C9F0"/>
            </a:solidFill>
            <a:ln>
              <a:noFill/>
            </a:ln>
          </p:spPr>
        </p:sp>
        <p:sp>
          <p:nvSpPr>
            <p:cNvPr id="41" name="node01.row.item-004.h2.heat-gap"/>
            <p:cNvSpPr/>
            <p:nvPr/>
          </p:nvSpPr>
          <p:spPr>
            <a:xfrm>
              <a:off x="4711700" y="3632200"/>
              <a:ext cx="736600" cy="558800"/>
            </a:xfrm>
            <a:prstGeom prst="rect">
              <a:avLst/>
            </a:prstGeom>
            <a:solidFill>
              <a:srgbClr val="FFFFFF"/>
            </a:solidFill>
            <a:ln>
              <a:noFill/>
            </a:ln>
          </p:spPr>
        </p:sp>
        <p:sp>
          <p:nvSpPr>
            <p:cNvPr id="42" name="node01.row.item-004.h2.heat"/>
            <p:cNvSpPr/>
            <p:nvPr/>
          </p:nvSpPr>
          <p:spPr>
            <a:xfrm>
              <a:off x="4730750" y="3651250"/>
              <a:ext cx="698500" cy="520700"/>
            </a:xfrm>
            <a:prstGeom prst="rect">
              <a:avLst/>
            </a:prstGeom>
            <a:solidFill>
              <a:srgbClr val="B9C9F0"/>
            </a:solidFill>
            <a:ln>
              <a:noFill/>
            </a:ln>
          </p:spPr>
        </p:sp>
        <p:sp>
          <p:nvSpPr>
            <p:cNvPr id="43" name="node01.row.item-004.h3.heat-gap"/>
            <p:cNvSpPr/>
            <p:nvPr/>
          </p:nvSpPr>
          <p:spPr>
            <a:xfrm>
              <a:off x="5448300" y="3632200"/>
              <a:ext cx="736600" cy="558800"/>
            </a:xfrm>
            <a:prstGeom prst="rect">
              <a:avLst/>
            </a:prstGeom>
            <a:solidFill>
              <a:srgbClr val="FFFFFF"/>
            </a:solidFill>
            <a:ln>
              <a:noFill/>
            </a:ln>
          </p:spPr>
        </p:sp>
        <p:sp>
          <p:nvSpPr>
            <p:cNvPr id="44" name="node01.row.item-004.h3.heat"/>
            <p:cNvSpPr/>
            <p:nvPr/>
          </p:nvSpPr>
          <p:spPr>
            <a:xfrm>
              <a:off x="5467350" y="3651250"/>
              <a:ext cx="698500" cy="520700"/>
            </a:xfrm>
            <a:prstGeom prst="rect">
              <a:avLst/>
            </a:prstGeom>
            <a:solidFill>
              <a:srgbClr val="B9C9F0"/>
            </a:solidFill>
            <a:ln>
              <a:noFill/>
            </a:ln>
          </p:spPr>
        </p:sp>
        <p:sp>
          <p:nvSpPr>
            <p:cNvPr id="45" name="node01.row.item-004.h4.heat-gap"/>
            <p:cNvSpPr/>
            <p:nvPr/>
          </p:nvSpPr>
          <p:spPr>
            <a:xfrm>
              <a:off x="6184900" y="3632200"/>
              <a:ext cx="736600" cy="558800"/>
            </a:xfrm>
            <a:prstGeom prst="rect">
              <a:avLst/>
            </a:prstGeom>
            <a:solidFill>
              <a:srgbClr val="FFFFFF"/>
            </a:solidFill>
            <a:ln>
              <a:noFill/>
            </a:ln>
          </p:spPr>
        </p:sp>
        <p:sp>
          <p:nvSpPr>
            <p:cNvPr id="46" name="node01.row.item-004.h4.heat"/>
            <p:cNvSpPr/>
            <p:nvPr/>
          </p:nvSpPr>
          <p:spPr>
            <a:xfrm>
              <a:off x="6203950" y="3651250"/>
              <a:ext cx="698500" cy="520700"/>
            </a:xfrm>
            <a:prstGeom prst="rect">
              <a:avLst/>
            </a:prstGeom>
            <a:solidFill>
              <a:srgbClr val="E8EEF8"/>
            </a:solidFill>
            <a:ln>
              <a:noFill/>
            </a:ln>
          </p:spPr>
        </p:sp>
        <p:sp>
          <p:nvSpPr>
            <p:cNvPr id="47" name="node01.row.item-005.h0.heat-gap"/>
            <p:cNvSpPr/>
            <p:nvPr/>
          </p:nvSpPr>
          <p:spPr>
            <a:xfrm>
              <a:off x="3238500" y="4191000"/>
              <a:ext cx="736600" cy="558800"/>
            </a:xfrm>
            <a:prstGeom prst="rect">
              <a:avLst/>
            </a:prstGeom>
            <a:solidFill>
              <a:srgbClr val="FFFFFF"/>
            </a:solidFill>
            <a:ln>
              <a:noFill/>
            </a:ln>
          </p:spPr>
        </p:sp>
        <p:sp>
          <p:nvSpPr>
            <p:cNvPr id="48" name="node01.row.item-005.h0.heat"/>
            <p:cNvSpPr/>
            <p:nvPr/>
          </p:nvSpPr>
          <p:spPr>
            <a:xfrm>
              <a:off x="3257550" y="4210050"/>
              <a:ext cx="698500" cy="520700"/>
            </a:xfrm>
            <a:prstGeom prst="rect">
              <a:avLst/>
            </a:prstGeom>
            <a:solidFill>
              <a:srgbClr val="0047FF"/>
            </a:solidFill>
            <a:ln>
              <a:noFill/>
            </a:ln>
          </p:spPr>
        </p:sp>
        <p:sp>
          <p:nvSpPr>
            <p:cNvPr id="49" name="node01.row.item-005.h1.heat-gap"/>
            <p:cNvSpPr/>
            <p:nvPr/>
          </p:nvSpPr>
          <p:spPr>
            <a:xfrm>
              <a:off x="3975100" y="4191000"/>
              <a:ext cx="736600" cy="558800"/>
            </a:xfrm>
            <a:prstGeom prst="rect">
              <a:avLst/>
            </a:prstGeom>
            <a:solidFill>
              <a:srgbClr val="FFFFFF"/>
            </a:solidFill>
            <a:ln>
              <a:noFill/>
            </a:ln>
          </p:spPr>
        </p:sp>
        <p:sp>
          <p:nvSpPr>
            <p:cNvPr id="50" name="node01.row.item-005.h1.heat"/>
            <p:cNvSpPr/>
            <p:nvPr/>
          </p:nvSpPr>
          <p:spPr>
            <a:xfrm>
              <a:off x="3994150" y="4210050"/>
              <a:ext cx="698500" cy="520700"/>
            </a:xfrm>
            <a:prstGeom prst="rect">
              <a:avLst/>
            </a:prstGeom>
            <a:solidFill>
              <a:srgbClr val="0047FF"/>
            </a:solidFill>
            <a:ln>
              <a:noFill/>
            </a:ln>
          </p:spPr>
        </p:sp>
        <p:sp>
          <p:nvSpPr>
            <p:cNvPr id="51" name="node01.row.item-005.h2.heat-gap"/>
            <p:cNvSpPr/>
            <p:nvPr/>
          </p:nvSpPr>
          <p:spPr>
            <a:xfrm>
              <a:off x="4711700" y="4191000"/>
              <a:ext cx="736600" cy="558800"/>
            </a:xfrm>
            <a:prstGeom prst="rect">
              <a:avLst/>
            </a:prstGeom>
            <a:solidFill>
              <a:srgbClr val="FFFFFF"/>
            </a:solidFill>
            <a:ln>
              <a:noFill/>
            </a:ln>
          </p:spPr>
        </p:sp>
        <p:sp>
          <p:nvSpPr>
            <p:cNvPr id="52" name="node01.row.item-005.h2.heat"/>
            <p:cNvSpPr/>
            <p:nvPr/>
          </p:nvSpPr>
          <p:spPr>
            <a:xfrm>
              <a:off x="4730750" y="4210050"/>
              <a:ext cx="698500" cy="520700"/>
            </a:xfrm>
            <a:prstGeom prst="rect">
              <a:avLst/>
            </a:prstGeom>
            <a:solidFill>
              <a:srgbClr val="7C9BFF"/>
            </a:solidFill>
            <a:ln>
              <a:noFill/>
            </a:ln>
          </p:spPr>
        </p:sp>
        <p:sp>
          <p:nvSpPr>
            <p:cNvPr id="53" name="node01.row.item-005.h3.heat-gap"/>
            <p:cNvSpPr/>
            <p:nvPr/>
          </p:nvSpPr>
          <p:spPr>
            <a:xfrm>
              <a:off x="5448300" y="4191000"/>
              <a:ext cx="736600" cy="558800"/>
            </a:xfrm>
            <a:prstGeom prst="rect">
              <a:avLst/>
            </a:prstGeom>
            <a:solidFill>
              <a:srgbClr val="FFFFFF"/>
            </a:solidFill>
            <a:ln>
              <a:noFill/>
            </a:ln>
          </p:spPr>
        </p:sp>
        <p:sp>
          <p:nvSpPr>
            <p:cNvPr id="54" name="node01.row.item-005.h3.heat"/>
            <p:cNvSpPr/>
            <p:nvPr/>
          </p:nvSpPr>
          <p:spPr>
            <a:xfrm>
              <a:off x="5467350" y="4210050"/>
              <a:ext cx="698500" cy="520700"/>
            </a:xfrm>
            <a:prstGeom prst="rect">
              <a:avLst/>
            </a:prstGeom>
            <a:solidFill>
              <a:srgbClr val="0047FF"/>
            </a:solidFill>
            <a:ln>
              <a:noFill/>
            </a:ln>
          </p:spPr>
        </p:sp>
        <p:sp>
          <p:nvSpPr>
            <p:cNvPr id="55" name="node01.row.item-005.h4.heat-gap"/>
            <p:cNvSpPr/>
            <p:nvPr/>
          </p:nvSpPr>
          <p:spPr>
            <a:xfrm>
              <a:off x="6184900" y="4191000"/>
              <a:ext cx="736600" cy="558800"/>
            </a:xfrm>
            <a:prstGeom prst="rect">
              <a:avLst/>
            </a:prstGeom>
            <a:solidFill>
              <a:srgbClr val="FFFFFF"/>
            </a:solidFill>
            <a:ln>
              <a:noFill/>
            </a:ln>
          </p:spPr>
        </p:sp>
        <p:sp>
          <p:nvSpPr>
            <p:cNvPr id="56" name="node01.row.item-005.h4.heat"/>
            <p:cNvSpPr/>
            <p:nvPr/>
          </p:nvSpPr>
          <p:spPr>
            <a:xfrm>
              <a:off x="6203950" y="4210050"/>
              <a:ext cx="698500" cy="520700"/>
            </a:xfrm>
            <a:prstGeom prst="rect">
              <a:avLst/>
            </a:prstGeom>
            <a:solidFill>
              <a:srgbClr val="7C9BFF"/>
            </a:solidFill>
            <a:ln>
              <a:noFill/>
            </a:ln>
          </p:spPr>
        </p:sp>
        <p:sp>
          <p:nvSpPr>
            <p:cNvPr id="57" name="node01.row.item-006.h0.heat-gap"/>
            <p:cNvSpPr/>
            <p:nvPr/>
          </p:nvSpPr>
          <p:spPr>
            <a:xfrm>
              <a:off x="3238500" y="4749800"/>
              <a:ext cx="736600" cy="558800"/>
            </a:xfrm>
            <a:prstGeom prst="rect">
              <a:avLst/>
            </a:prstGeom>
            <a:solidFill>
              <a:srgbClr val="FFFFFF"/>
            </a:solidFill>
            <a:ln>
              <a:noFill/>
            </a:ln>
          </p:spPr>
        </p:sp>
        <p:sp>
          <p:nvSpPr>
            <p:cNvPr id="58" name="node01.row.item-006.h0.heat"/>
            <p:cNvSpPr/>
            <p:nvPr/>
          </p:nvSpPr>
          <p:spPr>
            <a:xfrm>
              <a:off x="3257550" y="4768850"/>
              <a:ext cx="698500" cy="520700"/>
            </a:xfrm>
            <a:prstGeom prst="rect">
              <a:avLst/>
            </a:prstGeom>
            <a:solidFill>
              <a:srgbClr val="B9C9F0"/>
            </a:solidFill>
            <a:ln>
              <a:noFill/>
            </a:ln>
          </p:spPr>
        </p:sp>
        <p:sp>
          <p:nvSpPr>
            <p:cNvPr id="59" name="node01.row.item-006.h1.heat-gap"/>
            <p:cNvSpPr/>
            <p:nvPr/>
          </p:nvSpPr>
          <p:spPr>
            <a:xfrm>
              <a:off x="3975100" y="4749800"/>
              <a:ext cx="736600" cy="558800"/>
            </a:xfrm>
            <a:prstGeom prst="rect">
              <a:avLst/>
            </a:prstGeom>
            <a:solidFill>
              <a:srgbClr val="FFFFFF"/>
            </a:solidFill>
            <a:ln>
              <a:noFill/>
            </a:ln>
          </p:spPr>
        </p:sp>
        <p:sp>
          <p:nvSpPr>
            <p:cNvPr id="60" name="node01.row.item-006.h1.heat"/>
            <p:cNvSpPr/>
            <p:nvPr/>
          </p:nvSpPr>
          <p:spPr>
            <a:xfrm>
              <a:off x="3994150" y="4768850"/>
              <a:ext cx="698500" cy="520700"/>
            </a:xfrm>
            <a:prstGeom prst="rect">
              <a:avLst/>
            </a:prstGeom>
            <a:solidFill>
              <a:srgbClr val="B9C9F0"/>
            </a:solidFill>
            <a:ln>
              <a:noFill/>
            </a:ln>
          </p:spPr>
        </p:sp>
        <p:sp>
          <p:nvSpPr>
            <p:cNvPr id="61" name="node01.row.item-006.h2.heat-gap"/>
            <p:cNvSpPr/>
            <p:nvPr/>
          </p:nvSpPr>
          <p:spPr>
            <a:xfrm>
              <a:off x="4711700" y="4749800"/>
              <a:ext cx="736600" cy="558800"/>
            </a:xfrm>
            <a:prstGeom prst="rect">
              <a:avLst/>
            </a:prstGeom>
            <a:solidFill>
              <a:srgbClr val="FFFFFF"/>
            </a:solidFill>
            <a:ln>
              <a:noFill/>
            </a:ln>
          </p:spPr>
        </p:sp>
        <p:sp>
          <p:nvSpPr>
            <p:cNvPr id="62" name="node01.row.item-006.h2.heat"/>
            <p:cNvSpPr/>
            <p:nvPr/>
          </p:nvSpPr>
          <p:spPr>
            <a:xfrm>
              <a:off x="4730750" y="4768850"/>
              <a:ext cx="698500" cy="520700"/>
            </a:xfrm>
            <a:prstGeom prst="rect">
              <a:avLst/>
            </a:prstGeom>
            <a:solidFill>
              <a:srgbClr val="E8EEF8"/>
            </a:solidFill>
            <a:ln>
              <a:noFill/>
            </a:ln>
          </p:spPr>
        </p:sp>
        <p:sp>
          <p:nvSpPr>
            <p:cNvPr id="63" name="node01.row.item-006.h3.heat-gap"/>
            <p:cNvSpPr/>
            <p:nvPr/>
          </p:nvSpPr>
          <p:spPr>
            <a:xfrm>
              <a:off x="5448300" y="4749800"/>
              <a:ext cx="736600" cy="558800"/>
            </a:xfrm>
            <a:prstGeom prst="rect">
              <a:avLst/>
            </a:prstGeom>
            <a:solidFill>
              <a:srgbClr val="FFFFFF"/>
            </a:solidFill>
            <a:ln>
              <a:noFill/>
            </a:ln>
          </p:spPr>
        </p:sp>
        <p:sp>
          <p:nvSpPr>
            <p:cNvPr id="64" name="node01.row.item-006.h3.heat"/>
            <p:cNvSpPr/>
            <p:nvPr/>
          </p:nvSpPr>
          <p:spPr>
            <a:xfrm>
              <a:off x="5467350" y="4768850"/>
              <a:ext cx="698500" cy="520700"/>
            </a:xfrm>
            <a:prstGeom prst="rect">
              <a:avLst/>
            </a:prstGeom>
            <a:solidFill>
              <a:srgbClr val="7C9BFF"/>
            </a:solidFill>
            <a:ln>
              <a:noFill/>
            </a:ln>
          </p:spPr>
        </p:sp>
        <p:sp>
          <p:nvSpPr>
            <p:cNvPr id="65" name="node01.row.item-006.h4.heat-gap"/>
            <p:cNvSpPr/>
            <p:nvPr/>
          </p:nvSpPr>
          <p:spPr>
            <a:xfrm>
              <a:off x="6184900" y="4749800"/>
              <a:ext cx="736600" cy="558800"/>
            </a:xfrm>
            <a:prstGeom prst="rect">
              <a:avLst/>
            </a:prstGeom>
            <a:solidFill>
              <a:srgbClr val="FFFFFF"/>
            </a:solidFill>
            <a:ln>
              <a:noFill/>
            </a:ln>
          </p:spPr>
        </p:sp>
        <p:sp>
          <p:nvSpPr>
            <p:cNvPr id="66" name="node01.row.item-006.h4.heat"/>
            <p:cNvSpPr/>
            <p:nvPr/>
          </p:nvSpPr>
          <p:spPr>
            <a:xfrm>
              <a:off x="6203950" y="4768850"/>
              <a:ext cx="698500" cy="520700"/>
            </a:xfrm>
            <a:prstGeom prst="rect">
              <a:avLst/>
            </a:prstGeom>
            <a:solidFill>
              <a:srgbClr val="B9C9F0"/>
            </a:solidFill>
            <a:ln>
              <a:noFill/>
            </a:ln>
          </p:spPr>
        </p:sp>
        <p:graphicFrame>
          <p:nvGraphicFramePr>
            <p:cNvPr id="67" name="node01.native"/>
            <p:cNvGraphicFramePr>
              <a:graphicFrameLocks noGrp="1"/>
            </p:cNvGraphicFramePr>
            <p:nvPr>
              <p:extLst>
                <p:ext uri="{D42A27DB-BD31-4B8C-83A1-F6EECF244321}">
                  <p14:modId xmlns:p14="http://schemas.microsoft.com/office/powerpoint/2010/main" val="1579011935"/>
                </p:ext>
              </p:extLst>
            </p:nvPr>
          </p:nvGraphicFramePr>
          <p:xfrm>
            <a:off x="1104900" y="1600200"/>
            <a:ext cx="10363200" cy="3708400"/>
          </p:xfrm>
          <a:graphic>
            <a:graphicData uri="http://schemas.openxmlformats.org/drawingml/2006/table">
              <a:tbl>
                <a:tblPr/>
                <a:tblGrid>
                  <a:gridCol w="2133600"/>
                  <a:gridCol w="736600"/>
                  <a:gridCol w="736600"/>
                  <a:gridCol w="736600"/>
                  <a:gridCol w="736600"/>
                  <a:gridCol w="736600"/>
                  <a:gridCol w="45466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CAPABILITY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PROCESS</a:t>
                        </a:r>
                        <a:endParaRPr lang="en-US" sz="800" spc="48" kern="0" b="0" i="0" dirty="0">
                          <a:solidFill>
                            <a:srgbClr val="070154"/>
                          </a:solidFill>
                          <a:latin typeface="IBM Plex Mono SemiBold"/>
                          <a:ea typeface="IBM Plex Mono SemiBold"/>
                          <a:cs typeface="IBM Plex Mono SemiBold"/>
                        </a:endParaRPr>
                      </a:p>
                    </a:txBody>
                    <a:tcPr marL="123127" marR="12312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TECHNOLOGY</a:t>
                        </a:r>
                        <a:endParaRPr lang="en-US" sz="800" spc="48" kern="0" b="0" i="0" dirty="0">
                          <a:solidFill>
                            <a:srgbClr val="070154"/>
                          </a:solidFill>
                          <a:latin typeface="IBM Plex Mono SemiBold"/>
                          <a:ea typeface="IBM Plex Mono SemiBold"/>
                          <a:cs typeface="IBM Plex Mono SemiBold"/>
                        </a:endParaRPr>
                      </a:p>
                    </a:txBody>
                    <a:tcPr marL="23496" marR="234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DATA</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PEOPLE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GOVERNANCE</a:t>
                        </a:r>
                        <a:endParaRPr lang="en-US" sz="800" spc="48" kern="0" b="0" i="0" dirty="0">
                          <a:solidFill>
                            <a:srgbClr val="070154"/>
                          </a:solidFill>
                          <a:latin typeface="IBM Plex Mono SemiBold"/>
                          <a:ea typeface="IBM Plex Mono SemiBold"/>
                          <a:cs typeface="IBM Plex Mono SemiBold"/>
                        </a:endParaRPr>
                      </a:p>
                    </a:txBody>
                    <a:tcPr marL="23496" marR="234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WHAT WE FOUND</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access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Two registration flows across sites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Eligibility is checked after arrival</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Referral management</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Referrals arrive by fax and portal</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 shared status view</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Revenue cycle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5</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Rules engine at posting is mature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Month-end review is still manual</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Denials management</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Denial reasons are not coded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Rework has no owner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Clinical documentation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Templates are strong and reused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Voice capture live in two units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Care coordination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Handoffs run on phone and email</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Care plans live in three tools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68" name="node01.row-group.source-001.fill"/>
            <p:cNvSpPr/>
            <p:nvPr/>
          </p:nvSpPr>
          <p:spPr>
            <a:xfrm>
              <a:off x="723900" y="1974850"/>
              <a:ext cx="304800" cy="1079500"/>
            </a:xfrm>
            <a:prstGeom prst="rect">
              <a:avLst/>
            </a:prstGeom>
            <a:solidFill>
              <a:srgbClr val="070154"/>
            </a:solidFill>
            <a:ln>
              <a:noFill/>
            </a:ln>
          </p:spPr>
        </p:sp>
        <p:sp>
          <p:nvSpPr>
            <p:cNvPr id="69" name="node01.row-group.source-001.label"/>
            <p:cNvSpPr/>
            <p:nvPr/>
          </p:nvSpPr>
          <p:spPr>
            <a:xfrm rot="-5400000">
              <a:off x="336550" y="2444750"/>
              <a:ext cx="10795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FRONT DOOR</a:t>
              </a:r>
              <a:endParaRPr lang="en-US" sz="800" spc="80" kern="0" b="0" i="0" dirty="0">
                <a:solidFill>
                  <a:srgbClr val="FFFFFF"/>
                </a:solidFill>
                <a:latin typeface="IBM Plex Mono SemiBold"/>
                <a:ea typeface="IBM Plex Mono SemiBold"/>
                <a:cs typeface="IBM Plex Mono SemiBold"/>
              </a:endParaRPr>
            </a:p>
          </p:txBody>
        </p:sp>
        <p:sp>
          <p:nvSpPr>
            <p:cNvPr id="70" name="node01.row-group.source-002.fill"/>
            <p:cNvSpPr/>
            <p:nvPr/>
          </p:nvSpPr>
          <p:spPr>
            <a:xfrm>
              <a:off x="723900" y="3092450"/>
              <a:ext cx="304800" cy="1079500"/>
            </a:xfrm>
            <a:prstGeom prst="rect">
              <a:avLst/>
            </a:prstGeom>
            <a:solidFill>
              <a:srgbClr val="070154"/>
            </a:solidFill>
            <a:ln>
              <a:noFill/>
            </a:ln>
          </p:spPr>
        </p:sp>
        <p:sp>
          <p:nvSpPr>
            <p:cNvPr id="71" name="node01.row-group.source-002.label"/>
            <p:cNvSpPr/>
            <p:nvPr/>
          </p:nvSpPr>
          <p:spPr>
            <a:xfrm rot="-5400000">
              <a:off x="336550" y="3562350"/>
              <a:ext cx="10795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REVENUE</a:t>
              </a:r>
              <a:endParaRPr lang="en-US" sz="800" spc="80" kern="0" b="0" i="0" dirty="0">
                <a:solidFill>
                  <a:srgbClr val="FFFFFF"/>
                </a:solidFill>
                <a:latin typeface="IBM Plex Mono SemiBold"/>
                <a:ea typeface="IBM Plex Mono SemiBold"/>
                <a:cs typeface="IBM Plex Mono SemiBold"/>
              </a:endParaRPr>
            </a:p>
          </p:txBody>
        </p:sp>
        <p:sp>
          <p:nvSpPr>
            <p:cNvPr id="72" name="node01.row-group.source-003.fill"/>
            <p:cNvSpPr/>
            <p:nvPr/>
          </p:nvSpPr>
          <p:spPr>
            <a:xfrm>
              <a:off x="723900" y="4210050"/>
              <a:ext cx="304800" cy="1079500"/>
            </a:xfrm>
            <a:prstGeom prst="rect">
              <a:avLst/>
            </a:prstGeom>
            <a:solidFill>
              <a:srgbClr val="070154"/>
            </a:solidFill>
            <a:ln>
              <a:noFill/>
            </a:ln>
          </p:spPr>
        </p:sp>
        <p:sp>
          <p:nvSpPr>
            <p:cNvPr id="73" name="node01.row-group.source-003.label"/>
            <p:cNvSpPr/>
            <p:nvPr/>
          </p:nvSpPr>
          <p:spPr>
            <a:xfrm rot="-5400000">
              <a:off x="336550" y="4679950"/>
              <a:ext cx="10795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CARE DELIVERY</a:t>
              </a:r>
              <a:endParaRPr lang="en-US" sz="800" spc="80" kern="0" b="0" i="0" dirty="0">
                <a:solidFill>
                  <a:srgbClr val="FFFFFF"/>
                </a:solidFill>
                <a:latin typeface="IBM Plex Mono SemiBold"/>
                <a:ea typeface="IBM Plex Mono SemiBold"/>
                <a:cs typeface="IBM Plex Mono SemiBold"/>
              </a:endParaRPr>
            </a:p>
          </p:txBody>
        </p:sp>
      </p:grpSp>
      <p:grpSp>
        <p:nvGrpSpPr>
          <p:cNvPr id="85" name="node02"/>
          <p:cNvGrpSpPr/>
          <p:nvPr/>
        </p:nvGrpSpPr>
        <p:grpSpPr>
          <a:xfrm>
            <a:off x="723900" y="5486400"/>
            <a:ext cx="6062663" cy="190500"/>
            <a:chOff x="723900" y="5486400"/>
            <a:chExt cx="6062663" cy="190500"/>
          </a:xfrm>
        </p:grpSpPr>
        <p:sp>
          <p:nvSpPr>
            <p:cNvPr id="74" name="node02.items.slot-001.swatch"/>
            <p:cNvSpPr/>
            <p:nvPr/>
          </p:nvSpPr>
          <p:spPr>
            <a:xfrm>
              <a:off x="723900" y="5518150"/>
              <a:ext cx="228600" cy="127000"/>
            </a:xfrm>
            <a:prstGeom prst="rect">
              <a:avLst/>
            </a:prstGeom>
            <a:solidFill>
              <a:srgbClr val="E8EEF8"/>
            </a:solidFill>
            <a:ln>
              <a:noFill/>
            </a:ln>
          </p:spPr>
        </p:sp>
        <p:sp>
          <p:nvSpPr>
            <p:cNvPr id="75" name="node02.items.slot-001.text"/>
            <p:cNvSpPr/>
            <p:nvPr/>
          </p:nvSpPr>
          <p:spPr>
            <a:xfrm>
              <a:off x="1016000" y="5486400"/>
              <a:ext cx="5984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Ad hoc</a:t>
              </a:r>
              <a:endParaRPr lang="en-US" sz="1100" spc="0" kern="0" b="0" i="0" dirty="0">
                <a:solidFill>
                  <a:srgbClr val="070154"/>
                </a:solidFill>
                <a:latin typeface="IBM Plex Sans"/>
                <a:ea typeface="IBM Plex Sans"/>
                <a:cs typeface="IBM Plex Sans"/>
              </a:endParaRPr>
            </a:p>
          </p:txBody>
        </p:sp>
        <p:sp>
          <p:nvSpPr>
            <p:cNvPr id="76" name="node02.items.slot-002.swatch"/>
            <p:cNvSpPr/>
            <p:nvPr/>
          </p:nvSpPr>
          <p:spPr>
            <a:xfrm>
              <a:off x="1843088" y="5518150"/>
              <a:ext cx="228600" cy="127000"/>
            </a:xfrm>
            <a:prstGeom prst="rect">
              <a:avLst/>
            </a:prstGeom>
            <a:solidFill>
              <a:srgbClr val="B9C9F0"/>
            </a:solidFill>
            <a:ln>
              <a:noFill/>
            </a:ln>
          </p:spPr>
        </p:sp>
        <p:sp>
          <p:nvSpPr>
            <p:cNvPr id="77" name="node02.items.slot-002.text"/>
            <p:cNvSpPr/>
            <p:nvPr/>
          </p:nvSpPr>
          <p:spPr>
            <a:xfrm>
              <a:off x="2135188" y="5486400"/>
              <a:ext cx="8842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 Repeatable</a:t>
              </a:r>
              <a:endParaRPr lang="en-US" sz="1100" spc="0" kern="0" b="0" i="0" dirty="0">
                <a:solidFill>
                  <a:srgbClr val="070154"/>
                </a:solidFill>
                <a:latin typeface="IBM Plex Sans"/>
                <a:ea typeface="IBM Plex Sans"/>
                <a:cs typeface="IBM Plex Sans"/>
              </a:endParaRPr>
            </a:p>
          </p:txBody>
        </p:sp>
        <p:sp>
          <p:nvSpPr>
            <p:cNvPr id="78" name="node02.items.slot-003.swatch"/>
            <p:cNvSpPr/>
            <p:nvPr/>
          </p:nvSpPr>
          <p:spPr>
            <a:xfrm>
              <a:off x="3248025" y="5518150"/>
              <a:ext cx="228600" cy="127000"/>
            </a:xfrm>
            <a:prstGeom prst="rect">
              <a:avLst/>
            </a:prstGeom>
            <a:solidFill>
              <a:srgbClr val="7C9BFF"/>
            </a:solidFill>
            <a:ln>
              <a:noFill/>
            </a:ln>
          </p:spPr>
        </p:sp>
        <p:sp>
          <p:nvSpPr>
            <p:cNvPr id="79" name="node02.items.slot-003.text"/>
            <p:cNvSpPr/>
            <p:nvPr/>
          </p:nvSpPr>
          <p:spPr>
            <a:xfrm>
              <a:off x="3540125" y="5486400"/>
              <a:ext cx="6540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 Defined</a:t>
              </a:r>
              <a:endParaRPr lang="en-US" sz="1100" spc="0" kern="0" b="0" i="0" dirty="0">
                <a:solidFill>
                  <a:srgbClr val="070154"/>
                </a:solidFill>
                <a:latin typeface="IBM Plex Sans"/>
                <a:ea typeface="IBM Plex Sans"/>
                <a:cs typeface="IBM Plex Sans"/>
              </a:endParaRPr>
            </a:p>
          </p:txBody>
        </p:sp>
        <p:sp>
          <p:nvSpPr>
            <p:cNvPr id="80" name="node02.items.slot-004.swatch"/>
            <p:cNvSpPr/>
            <p:nvPr/>
          </p:nvSpPr>
          <p:spPr>
            <a:xfrm>
              <a:off x="4422775" y="5518150"/>
              <a:ext cx="228600" cy="127000"/>
            </a:xfrm>
            <a:prstGeom prst="rect">
              <a:avLst/>
            </a:prstGeom>
            <a:solidFill>
              <a:srgbClr val="0047FF"/>
            </a:solidFill>
            <a:ln>
              <a:noFill/>
            </a:ln>
          </p:spPr>
        </p:sp>
        <p:sp>
          <p:nvSpPr>
            <p:cNvPr id="81" name="node02.items.slot-004.text"/>
            <p:cNvSpPr/>
            <p:nvPr/>
          </p:nvSpPr>
          <p:spPr>
            <a:xfrm>
              <a:off x="4714875" y="5486400"/>
              <a:ext cx="7397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4 Managed</a:t>
              </a:r>
              <a:endParaRPr lang="en-US" sz="1100" spc="0" kern="0" b="0" i="0" dirty="0">
                <a:solidFill>
                  <a:srgbClr val="070154"/>
                </a:solidFill>
                <a:latin typeface="IBM Plex Sans"/>
                <a:ea typeface="IBM Plex Sans"/>
                <a:cs typeface="IBM Plex Sans"/>
              </a:endParaRPr>
            </a:p>
          </p:txBody>
        </p:sp>
        <p:sp>
          <p:nvSpPr>
            <p:cNvPr id="82" name="node02.items.slot-005.swatch"/>
            <p:cNvSpPr/>
            <p:nvPr/>
          </p:nvSpPr>
          <p:spPr>
            <a:xfrm>
              <a:off x="5683250" y="5518150"/>
              <a:ext cx="228600" cy="127000"/>
            </a:xfrm>
            <a:prstGeom prst="rect">
              <a:avLst/>
            </a:prstGeom>
            <a:solidFill>
              <a:srgbClr val="070154"/>
            </a:solidFill>
            <a:ln>
              <a:noFill/>
            </a:ln>
          </p:spPr>
        </p:sp>
        <p:sp>
          <p:nvSpPr>
            <p:cNvPr id="83" name="node02.items.slot-005.text"/>
            <p:cNvSpPr/>
            <p:nvPr/>
          </p:nvSpPr>
          <p:spPr>
            <a:xfrm>
              <a:off x="5975350" y="5486400"/>
              <a:ext cx="8112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Optimized</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ource-20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Start with denials and referrals, then lift the rest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71</a:t>
            </a:fld>
            <a:endParaRPr lang="en-US" sz="700" spc="0" kern="0" b="0" i="0" dirty="0">
              <a:solidFill>
                <a:srgbClr val="070154"/>
              </a:solidFill>
              <a:latin typeface="IBM Plex Mono SemiBold"/>
              <a:ea typeface="IBM Plex Mono SemiBold"/>
              <a:cs typeface="IBM Plex Mono SemiBold"/>
            </a:endParaRPr>
          </a:p>
        </p:txBody>
      </p:sp>
      <p:grpSp>
        <p:nvGrpSpPr>
          <p:cNvPr id="97" name="node01"/>
          <p:cNvGrpSpPr/>
          <p:nvPr/>
        </p:nvGrpSpPr>
        <p:grpSpPr>
          <a:xfrm>
            <a:off x="723900" y="1600200"/>
            <a:ext cx="10744200" cy="3708400"/>
            <a:chOff x="723900" y="1600200"/>
            <a:chExt cx="10744200" cy="3708400"/>
          </a:xfrm>
        </p:grpSpPr>
        <p:sp>
          <p:nvSpPr>
            <p:cNvPr id="7" name="node01.row.item-001.h0.heat-gap"/>
            <p:cNvSpPr/>
            <p:nvPr/>
          </p:nvSpPr>
          <p:spPr>
            <a:xfrm>
              <a:off x="3238500" y="1955800"/>
              <a:ext cx="736600" cy="558800"/>
            </a:xfrm>
            <a:prstGeom prst="rect">
              <a:avLst/>
            </a:prstGeom>
            <a:solidFill>
              <a:srgbClr val="FFFFFF"/>
            </a:solidFill>
            <a:ln>
              <a:noFill/>
            </a:ln>
          </p:spPr>
        </p:sp>
        <p:sp>
          <p:nvSpPr>
            <p:cNvPr id="8" name="node01.row.item-001.h0.heat"/>
            <p:cNvSpPr/>
            <p:nvPr/>
          </p:nvSpPr>
          <p:spPr>
            <a:xfrm>
              <a:off x="3257550" y="1974850"/>
              <a:ext cx="698500" cy="520700"/>
            </a:xfrm>
            <a:prstGeom prst="rect">
              <a:avLst/>
            </a:prstGeom>
            <a:solidFill>
              <a:srgbClr val="7C9BFF"/>
            </a:solidFill>
            <a:ln>
              <a:noFill/>
            </a:ln>
          </p:spPr>
        </p:sp>
        <p:sp>
          <p:nvSpPr>
            <p:cNvPr id="9" name="node01.row.item-001.h1.heat-gap"/>
            <p:cNvSpPr/>
            <p:nvPr/>
          </p:nvSpPr>
          <p:spPr>
            <a:xfrm>
              <a:off x="3975100" y="1955800"/>
              <a:ext cx="736600" cy="558800"/>
            </a:xfrm>
            <a:prstGeom prst="rect">
              <a:avLst/>
            </a:prstGeom>
            <a:solidFill>
              <a:srgbClr val="FFFFFF"/>
            </a:solidFill>
            <a:ln>
              <a:noFill/>
            </a:ln>
          </p:spPr>
        </p:sp>
        <p:sp>
          <p:nvSpPr>
            <p:cNvPr id="10" name="node01.row.item-001.h1.heat"/>
            <p:cNvSpPr/>
            <p:nvPr/>
          </p:nvSpPr>
          <p:spPr>
            <a:xfrm>
              <a:off x="3994150" y="1974850"/>
              <a:ext cx="698500" cy="520700"/>
            </a:xfrm>
            <a:prstGeom prst="rect">
              <a:avLst/>
            </a:prstGeom>
            <a:solidFill>
              <a:srgbClr val="B9C9F0"/>
            </a:solidFill>
            <a:ln>
              <a:noFill/>
            </a:ln>
          </p:spPr>
        </p:sp>
        <p:sp>
          <p:nvSpPr>
            <p:cNvPr id="11" name="node01.row.item-001.h2.heat-gap"/>
            <p:cNvSpPr/>
            <p:nvPr/>
          </p:nvSpPr>
          <p:spPr>
            <a:xfrm>
              <a:off x="4711700" y="1955800"/>
              <a:ext cx="736600" cy="558800"/>
            </a:xfrm>
            <a:prstGeom prst="rect">
              <a:avLst/>
            </a:prstGeom>
            <a:solidFill>
              <a:srgbClr val="FFFFFF"/>
            </a:solidFill>
            <a:ln>
              <a:noFill/>
            </a:ln>
          </p:spPr>
        </p:sp>
        <p:sp>
          <p:nvSpPr>
            <p:cNvPr id="12" name="node01.row.item-001.h2.heat"/>
            <p:cNvSpPr/>
            <p:nvPr/>
          </p:nvSpPr>
          <p:spPr>
            <a:xfrm>
              <a:off x="4730750" y="1974850"/>
              <a:ext cx="698500" cy="520700"/>
            </a:xfrm>
            <a:prstGeom prst="rect">
              <a:avLst/>
            </a:prstGeom>
            <a:solidFill>
              <a:srgbClr val="B9C9F0"/>
            </a:solidFill>
            <a:ln>
              <a:noFill/>
            </a:ln>
          </p:spPr>
        </p:sp>
        <p:sp>
          <p:nvSpPr>
            <p:cNvPr id="13" name="node01.row.item-001.h3.heat-gap"/>
            <p:cNvSpPr/>
            <p:nvPr/>
          </p:nvSpPr>
          <p:spPr>
            <a:xfrm>
              <a:off x="5448300" y="1955800"/>
              <a:ext cx="736600" cy="558800"/>
            </a:xfrm>
            <a:prstGeom prst="rect">
              <a:avLst/>
            </a:prstGeom>
            <a:solidFill>
              <a:srgbClr val="FFFFFF"/>
            </a:solidFill>
            <a:ln>
              <a:noFill/>
            </a:ln>
          </p:spPr>
        </p:sp>
        <p:sp>
          <p:nvSpPr>
            <p:cNvPr id="14" name="node01.row.item-001.h3.heat"/>
            <p:cNvSpPr/>
            <p:nvPr/>
          </p:nvSpPr>
          <p:spPr>
            <a:xfrm>
              <a:off x="5467350" y="1974850"/>
              <a:ext cx="698500" cy="520700"/>
            </a:xfrm>
            <a:prstGeom prst="rect">
              <a:avLst/>
            </a:prstGeom>
            <a:solidFill>
              <a:srgbClr val="7C9BFF"/>
            </a:solidFill>
            <a:ln>
              <a:noFill/>
            </a:ln>
          </p:spPr>
        </p:sp>
        <p:sp>
          <p:nvSpPr>
            <p:cNvPr id="15" name="node01.row.item-001.h4.heat-gap"/>
            <p:cNvSpPr/>
            <p:nvPr/>
          </p:nvSpPr>
          <p:spPr>
            <a:xfrm>
              <a:off x="6184900" y="1955800"/>
              <a:ext cx="736600" cy="558800"/>
            </a:xfrm>
            <a:prstGeom prst="rect">
              <a:avLst/>
            </a:prstGeom>
            <a:solidFill>
              <a:srgbClr val="FFFFFF"/>
            </a:solidFill>
            <a:ln>
              <a:noFill/>
            </a:ln>
          </p:spPr>
        </p:sp>
        <p:sp>
          <p:nvSpPr>
            <p:cNvPr id="16" name="node01.row.item-001.h4.heat"/>
            <p:cNvSpPr/>
            <p:nvPr/>
          </p:nvSpPr>
          <p:spPr>
            <a:xfrm>
              <a:off x="6203950" y="1974850"/>
              <a:ext cx="698500" cy="520700"/>
            </a:xfrm>
            <a:prstGeom prst="rect">
              <a:avLst/>
            </a:prstGeom>
            <a:solidFill>
              <a:srgbClr val="B9C9F0"/>
            </a:solidFill>
            <a:ln>
              <a:noFill/>
            </a:ln>
          </p:spPr>
        </p:sp>
        <p:sp>
          <p:nvSpPr>
            <p:cNvPr id="17" name="node01.row.item-002.h0.heat-gap"/>
            <p:cNvSpPr/>
            <p:nvPr/>
          </p:nvSpPr>
          <p:spPr>
            <a:xfrm>
              <a:off x="3238500" y="2514600"/>
              <a:ext cx="736600" cy="558800"/>
            </a:xfrm>
            <a:prstGeom prst="rect">
              <a:avLst/>
            </a:prstGeom>
            <a:solidFill>
              <a:srgbClr val="FFFFFF"/>
            </a:solidFill>
            <a:ln>
              <a:noFill/>
            </a:ln>
          </p:spPr>
        </p:sp>
        <p:sp>
          <p:nvSpPr>
            <p:cNvPr id="18" name="node01.row.item-002.h0.heat"/>
            <p:cNvSpPr/>
            <p:nvPr/>
          </p:nvSpPr>
          <p:spPr>
            <a:xfrm>
              <a:off x="3257550" y="2533650"/>
              <a:ext cx="698500" cy="520700"/>
            </a:xfrm>
            <a:prstGeom prst="rect">
              <a:avLst/>
            </a:prstGeom>
            <a:solidFill>
              <a:srgbClr val="B9C9F0"/>
            </a:solidFill>
            <a:ln>
              <a:noFill/>
            </a:ln>
          </p:spPr>
        </p:sp>
        <p:sp>
          <p:nvSpPr>
            <p:cNvPr id="19" name="node01.row.item-002.h1.heat-gap"/>
            <p:cNvSpPr/>
            <p:nvPr/>
          </p:nvSpPr>
          <p:spPr>
            <a:xfrm>
              <a:off x="3975100" y="2514600"/>
              <a:ext cx="736600" cy="558800"/>
            </a:xfrm>
            <a:prstGeom prst="rect">
              <a:avLst/>
            </a:prstGeom>
            <a:solidFill>
              <a:srgbClr val="FFFFFF"/>
            </a:solidFill>
            <a:ln>
              <a:noFill/>
            </a:ln>
          </p:spPr>
        </p:sp>
        <p:sp>
          <p:nvSpPr>
            <p:cNvPr id="20" name="node01.row.item-002.h1.heat"/>
            <p:cNvSpPr/>
            <p:nvPr/>
          </p:nvSpPr>
          <p:spPr>
            <a:xfrm>
              <a:off x="3994150" y="2533650"/>
              <a:ext cx="698500" cy="520700"/>
            </a:xfrm>
            <a:prstGeom prst="rect">
              <a:avLst/>
            </a:prstGeom>
            <a:solidFill>
              <a:srgbClr val="E8EEF8"/>
            </a:solidFill>
            <a:ln>
              <a:noFill/>
            </a:ln>
          </p:spPr>
        </p:sp>
        <p:sp>
          <p:nvSpPr>
            <p:cNvPr id="21" name="node01.row.item-002.h2.heat-gap"/>
            <p:cNvSpPr/>
            <p:nvPr/>
          </p:nvSpPr>
          <p:spPr>
            <a:xfrm>
              <a:off x="4711700" y="2514600"/>
              <a:ext cx="736600" cy="558800"/>
            </a:xfrm>
            <a:prstGeom prst="rect">
              <a:avLst/>
            </a:prstGeom>
            <a:solidFill>
              <a:srgbClr val="FFFFFF"/>
            </a:solidFill>
            <a:ln>
              <a:noFill/>
            </a:ln>
          </p:spPr>
        </p:sp>
        <p:sp>
          <p:nvSpPr>
            <p:cNvPr id="22" name="node01.row.item-002.h2.heat"/>
            <p:cNvSpPr/>
            <p:nvPr/>
          </p:nvSpPr>
          <p:spPr>
            <a:xfrm>
              <a:off x="4730750" y="2533650"/>
              <a:ext cx="698500" cy="520700"/>
            </a:xfrm>
            <a:prstGeom prst="rect">
              <a:avLst/>
            </a:prstGeom>
            <a:solidFill>
              <a:srgbClr val="E8EEF8"/>
            </a:solidFill>
            <a:ln>
              <a:noFill/>
            </a:ln>
          </p:spPr>
        </p:sp>
        <p:sp>
          <p:nvSpPr>
            <p:cNvPr id="23" name="node01.row.item-002.h3.heat-gap"/>
            <p:cNvSpPr/>
            <p:nvPr/>
          </p:nvSpPr>
          <p:spPr>
            <a:xfrm>
              <a:off x="5448300" y="2514600"/>
              <a:ext cx="736600" cy="558800"/>
            </a:xfrm>
            <a:prstGeom prst="rect">
              <a:avLst/>
            </a:prstGeom>
            <a:solidFill>
              <a:srgbClr val="FFFFFF"/>
            </a:solidFill>
            <a:ln>
              <a:noFill/>
            </a:ln>
          </p:spPr>
        </p:sp>
        <p:sp>
          <p:nvSpPr>
            <p:cNvPr id="24" name="node01.row.item-002.h3.heat"/>
            <p:cNvSpPr/>
            <p:nvPr/>
          </p:nvSpPr>
          <p:spPr>
            <a:xfrm>
              <a:off x="5467350" y="2533650"/>
              <a:ext cx="698500" cy="520700"/>
            </a:xfrm>
            <a:prstGeom prst="rect">
              <a:avLst/>
            </a:prstGeom>
            <a:solidFill>
              <a:srgbClr val="B9C9F0"/>
            </a:solidFill>
            <a:ln>
              <a:noFill/>
            </a:ln>
          </p:spPr>
        </p:sp>
        <p:sp>
          <p:nvSpPr>
            <p:cNvPr id="25" name="node01.row.item-002.h4.heat-gap"/>
            <p:cNvSpPr/>
            <p:nvPr/>
          </p:nvSpPr>
          <p:spPr>
            <a:xfrm>
              <a:off x="6184900" y="2514600"/>
              <a:ext cx="736600" cy="558800"/>
            </a:xfrm>
            <a:prstGeom prst="rect">
              <a:avLst/>
            </a:prstGeom>
            <a:solidFill>
              <a:srgbClr val="FFFFFF"/>
            </a:solidFill>
            <a:ln>
              <a:noFill/>
            </a:ln>
          </p:spPr>
        </p:sp>
        <p:sp>
          <p:nvSpPr>
            <p:cNvPr id="26" name="node01.row.item-002.h4.heat"/>
            <p:cNvSpPr/>
            <p:nvPr/>
          </p:nvSpPr>
          <p:spPr>
            <a:xfrm>
              <a:off x="6203950" y="2533650"/>
              <a:ext cx="698500" cy="520700"/>
            </a:xfrm>
            <a:prstGeom prst="rect">
              <a:avLst/>
            </a:prstGeom>
            <a:solidFill>
              <a:srgbClr val="B9C9F0"/>
            </a:solidFill>
            <a:ln>
              <a:noFill/>
            </a:ln>
          </p:spPr>
        </p:sp>
        <p:sp>
          <p:nvSpPr>
            <p:cNvPr id="27" name="node01.row.item-003.h0.heat-gap"/>
            <p:cNvSpPr/>
            <p:nvPr/>
          </p:nvSpPr>
          <p:spPr>
            <a:xfrm>
              <a:off x="3238500" y="3073400"/>
              <a:ext cx="736600" cy="558800"/>
            </a:xfrm>
            <a:prstGeom prst="rect">
              <a:avLst/>
            </a:prstGeom>
            <a:solidFill>
              <a:srgbClr val="FFFFFF"/>
            </a:solidFill>
            <a:ln>
              <a:noFill/>
            </a:ln>
          </p:spPr>
        </p:sp>
        <p:sp>
          <p:nvSpPr>
            <p:cNvPr id="28" name="node01.row.item-003.h0.heat"/>
            <p:cNvSpPr/>
            <p:nvPr/>
          </p:nvSpPr>
          <p:spPr>
            <a:xfrm>
              <a:off x="3257550" y="3092450"/>
              <a:ext cx="698500" cy="520700"/>
            </a:xfrm>
            <a:prstGeom prst="rect">
              <a:avLst/>
            </a:prstGeom>
            <a:solidFill>
              <a:srgbClr val="0047FF"/>
            </a:solidFill>
            <a:ln>
              <a:noFill/>
            </a:ln>
          </p:spPr>
        </p:sp>
        <p:sp>
          <p:nvSpPr>
            <p:cNvPr id="29" name="node01.row.item-003.h1.heat-gap"/>
            <p:cNvSpPr/>
            <p:nvPr/>
          </p:nvSpPr>
          <p:spPr>
            <a:xfrm>
              <a:off x="3975100" y="3073400"/>
              <a:ext cx="736600" cy="558800"/>
            </a:xfrm>
            <a:prstGeom prst="rect">
              <a:avLst/>
            </a:prstGeom>
            <a:solidFill>
              <a:srgbClr val="FFFFFF"/>
            </a:solidFill>
            <a:ln>
              <a:noFill/>
            </a:ln>
          </p:spPr>
        </p:sp>
        <p:sp>
          <p:nvSpPr>
            <p:cNvPr id="30" name="node01.row.item-003.h1.heat"/>
            <p:cNvSpPr/>
            <p:nvPr/>
          </p:nvSpPr>
          <p:spPr>
            <a:xfrm>
              <a:off x="3994150" y="3092450"/>
              <a:ext cx="698500" cy="520700"/>
            </a:xfrm>
            <a:prstGeom prst="rect">
              <a:avLst/>
            </a:prstGeom>
            <a:solidFill>
              <a:srgbClr val="070154"/>
            </a:solidFill>
            <a:ln>
              <a:noFill/>
            </a:ln>
          </p:spPr>
        </p:sp>
        <p:sp>
          <p:nvSpPr>
            <p:cNvPr id="31" name="node01.row.item-003.h2.heat-gap"/>
            <p:cNvSpPr/>
            <p:nvPr/>
          </p:nvSpPr>
          <p:spPr>
            <a:xfrm>
              <a:off x="4711700" y="3073400"/>
              <a:ext cx="736600" cy="558800"/>
            </a:xfrm>
            <a:prstGeom prst="rect">
              <a:avLst/>
            </a:prstGeom>
            <a:solidFill>
              <a:srgbClr val="FFFFFF"/>
            </a:solidFill>
            <a:ln>
              <a:noFill/>
            </a:ln>
          </p:spPr>
        </p:sp>
        <p:sp>
          <p:nvSpPr>
            <p:cNvPr id="32" name="node01.row.item-003.h2.heat"/>
            <p:cNvSpPr/>
            <p:nvPr/>
          </p:nvSpPr>
          <p:spPr>
            <a:xfrm>
              <a:off x="4730750" y="3092450"/>
              <a:ext cx="698500" cy="520700"/>
            </a:xfrm>
            <a:prstGeom prst="rect">
              <a:avLst/>
            </a:prstGeom>
            <a:solidFill>
              <a:srgbClr val="7C9BFF"/>
            </a:solidFill>
            <a:ln>
              <a:noFill/>
            </a:ln>
          </p:spPr>
        </p:sp>
        <p:sp>
          <p:nvSpPr>
            <p:cNvPr id="33" name="node01.row.item-003.h3.heat-gap"/>
            <p:cNvSpPr/>
            <p:nvPr/>
          </p:nvSpPr>
          <p:spPr>
            <a:xfrm>
              <a:off x="5448300" y="3073400"/>
              <a:ext cx="736600" cy="558800"/>
            </a:xfrm>
            <a:prstGeom prst="rect">
              <a:avLst/>
            </a:prstGeom>
            <a:solidFill>
              <a:srgbClr val="FFFFFF"/>
            </a:solidFill>
            <a:ln>
              <a:noFill/>
            </a:ln>
          </p:spPr>
        </p:sp>
        <p:sp>
          <p:nvSpPr>
            <p:cNvPr id="34" name="node01.row.item-003.h3.heat"/>
            <p:cNvSpPr/>
            <p:nvPr/>
          </p:nvSpPr>
          <p:spPr>
            <a:xfrm>
              <a:off x="5467350" y="3092450"/>
              <a:ext cx="698500" cy="520700"/>
            </a:xfrm>
            <a:prstGeom prst="rect">
              <a:avLst/>
            </a:prstGeom>
            <a:solidFill>
              <a:srgbClr val="7C9BFF"/>
            </a:solidFill>
            <a:ln>
              <a:noFill/>
            </a:ln>
          </p:spPr>
        </p:sp>
        <p:sp>
          <p:nvSpPr>
            <p:cNvPr id="35" name="node01.row.item-003.h4.heat-gap"/>
            <p:cNvSpPr/>
            <p:nvPr/>
          </p:nvSpPr>
          <p:spPr>
            <a:xfrm>
              <a:off x="6184900" y="3073400"/>
              <a:ext cx="736600" cy="558800"/>
            </a:xfrm>
            <a:prstGeom prst="rect">
              <a:avLst/>
            </a:prstGeom>
            <a:solidFill>
              <a:srgbClr val="FFFFFF"/>
            </a:solidFill>
            <a:ln>
              <a:noFill/>
            </a:ln>
          </p:spPr>
        </p:sp>
        <p:sp>
          <p:nvSpPr>
            <p:cNvPr id="36" name="node01.row.item-003.h4.heat"/>
            <p:cNvSpPr/>
            <p:nvPr/>
          </p:nvSpPr>
          <p:spPr>
            <a:xfrm>
              <a:off x="6203950" y="3092450"/>
              <a:ext cx="698500" cy="520700"/>
            </a:xfrm>
            <a:prstGeom prst="rect">
              <a:avLst/>
            </a:prstGeom>
            <a:solidFill>
              <a:srgbClr val="0047FF"/>
            </a:solidFill>
            <a:ln>
              <a:noFill/>
            </a:ln>
          </p:spPr>
        </p:sp>
        <p:sp>
          <p:nvSpPr>
            <p:cNvPr id="37" name="node01.row.item-004.h0.heat-gap"/>
            <p:cNvSpPr/>
            <p:nvPr/>
          </p:nvSpPr>
          <p:spPr>
            <a:xfrm>
              <a:off x="3238500" y="3632200"/>
              <a:ext cx="736600" cy="558800"/>
            </a:xfrm>
            <a:prstGeom prst="rect">
              <a:avLst/>
            </a:prstGeom>
            <a:solidFill>
              <a:srgbClr val="FFFFFF"/>
            </a:solidFill>
            <a:ln>
              <a:noFill/>
            </a:ln>
          </p:spPr>
        </p:sp>
        <p:sp>
          <p:nvSpPr>
            <p:cNvPr id="38" name="node01.row.item-004.h0.heat"/>
            <p:cNvSpPr/>
            <p:nvPr/>
          </p:nvSpPr>
          <p:spPr>
            <a:xfrm>
              <a:off x="3257550" y="3651250"/>
              <a:ext cx="698500" cy="520700"/>
            </a:xfrm>
            <a:prstGeom prst="rect">
              <a:avLst/>
            </a:prstGeom>
            <a:solidFill>
              <a:srgbClr val="B9C9F0"/>
            </a:solidFill>
            <a:ln>
              <a:noFill/>
            </a:ln>
          </p:spPr>
        </p:sp>
        <p:sp>
          <p:nvSpPr>
            <p:cNvPr id="39" name="node01.row.item-004.h1.heat-gap"/>
            <p:cNvSpPr/>
            <p:nvPr/>
          </p:nvSpPr>
          <p:spPr>
            <a:xfrm>
              <a:off x="3975100" y="3632200"/>
              <a:ext cx="736600" cy="558800"/>
            </a:xfrm>
            <a:prstGeom prst="rect">
              <a:avLst/>
            </a:prstGeom>
            <a:solidFill>
              <a:srgbClr val="FFFFFF"/>
            </a:solidFill>
            <a:ln>
              <a:noFill/>
            </a:ln>
          </p:spPr>
        </p:sp>
        <p:sp>
          <p:nvSpPr>
            <p:cNvPr id="40" name="node01.row.item-004.h1.heat"/>
            <p:cNvSpPr/>
            <p:nvPr/>
          </p:nvSpPr>
          <p:spPr>
            <a:xfrm>
              <a:off x="3994150" y="3651250"/>
              <a:ext cx="698500" cy="520700"/>
            </a:xfrm>
            <a:prstGeom prst="rect">
              <a:avLst/>
            </a:prstGeom>
            <a:solidFill>
              <a:srgbClr val="B9C9F0"/>
            </a:solidFill>
            <a:ln>
              <a:noFill/>
            </a:ln>
          </p:spPr>
        </p:sp>
        <p:sp>
          <p:nvSpPr>
            <p:cNvPr id="41" name="node01.row.item-004.h2.heat-gap"/>
            <p:cNvSpPr/>
            <p:nvPr/>
          </p:nvSpPr>
          <p:spPr>
            <a:xfrm>
              <a:off x="4711700" y="3632200"/>
              <a:ext cx="736600" cy="558800"/>
            </a:xfrm>
            <a:prstGeom prst="rect">
              <a:avLst/>
            </a:prstGeom>
            <a:solidFill>
              <a:srgbClr val="FFFFFF"/>
            </a:solidFill>
            <a:ln>
              <a:noFill/>
            </a:ln>
          </p:spPr>
        </p:sp>
        <p:sp>
          <p:nvSpPr>
            <p:cNvPr id="42" name="node01.row.item-004.h2.heat"/>
            <p:cNvSpPr/>
            <p:nvPr/>
          </p:nvSpPr>
          <p:spPr>
            <a:xfrm>
              <a:off x="4730750" y="3651250"/>
              <a:ext cx="698500" cy="520700"/>
            </a:xfrm>
            <a:prstGeom prst="rect">
              <a:avLst/>
            </a:prstGeom>
            <a:solidFill>
              <a:srgbClr val="B9C9F0"/>
            </a:solidFill>
            <a:ln>
              <a:noFill/>
            </a:ln>
          </p:spPr>
        </p:sp>
        <p:sp>
          <p:nvSpPr>
            <p:cNvPr id="43" name="node01.row.item-004.h3.heat-gap"/>
            <p:cNvSpPr/>
            <p:nvPr/>
          </p:nvSpPr>
          <p:spPr>
            <a:xfrm>
              <a:off x="5448300" y="3632200"/>
              <a:ext cx="736600" cy="558800"/>
            </a:xfrm>
            <a:prstGeom prst="rect">
              <a:avLst/>
            </a:prstGeom>
            <a:solidFill>
              <a:srgbClr val="FFFFFF"/>
            </a:solidFill>
            <a:ln>
              <a:noFill/>
            </a:ln>
          </p:spPr>
        </p:sp>
        <p:sp>
          <p:nvSpPr>
            <p:cNvPr id="44" name="node01.row.item-004.h3.heat"/>
            <p:cNvSpPr/>
            <p:nvPr/>
          </p:nvSpPr>
          <p:spPr>
            <a:xfrm>
              <a:off x="5467350" y="3651250"/>
              <a:ext cx="698500" cy="520700"/>
            </a:xfrm>
            <a:prstGeom prst="rect">
              <a:avLst/>
            </a:prstGeom>
            <a:solidFill>
              <a:srgbClr val="B9C9F0"/>
            </a:solidFill>
            <a:ln>
              <a:noFill/>
            </a:ln>
          </p:spPr>
        </p:sp>
        <p:sp>
          <p:nvSpPr>
            <p:cNvPr id="45" name="node01.row.item-004.h4.heat-gap"/>
            <p:cNvSpPr/>
            <p:nvPr/>
          </p:nvSpPr>
          <p:spPr>
            <a:xfrm>
              <a:off x="6184900" y="3632200"/>
              <a:ext cx="736600" cy="558800"/>
            </a:xfrm>
            <a:prstGeom prst="rect">
              <a:avLst/>
            </a:prstGeom>
            <a:solidFill>
              <a:srgbClr val="FFFFFF"/>
            </a:solidFill>
            <a:ln>
              <a:noFill/>
            </a:ln>
          </p:spPr>
        </p:sp>
        <p:sp>
          <p:nvSpPr>
            <p:cNvPr id="46" name="node01.row.item-004.h4.heat"/>
            <p:cNvSpPr/>
            <p:nvPr/>
          </p:nvSpPr>
          <p:spPr>
            <a:xfrm>
              <a:off x="6203950" y="3651250"/>
              <a:ext cx="698500" cy="520700"/>
            </a:xfrm>
            <a:prstGeom prst="rect">
              <a:avLst/>
            </a:prstGeom>
            <a:solidFill>
              <a:srgbClr val="E8EEF8"/>
            </a:solidFill>
            <a:ln>
              <a:noFill/>
            </a:ln>
          </p:spPr>
        </p:sp>
        <p:sp>
          <p:nvSpPr>
            <p:cNvPr id="47" name="node01.row.item-005.h0.heat-gap"/>
            <p:cNvSpPr/>
            <p:nvPr/>
          </p:nvSpPr>
          <p:spPr>
            <a:xfrm>
              <a:off x="3238500" y="4191000"/>
              <a:ext cx="736600" cy="558800"/>
            </a:xfrm>
            <a:prstGeom prst="rect">
              <a:avLst/>
            </a:prstGeom>
            <a:solidFill>
              <a:srgbClr val="FFFFFF"/>
            </a:solidFill>
            <a:ln>
              <a:noFill/>
            </a:ln>
          </p:spPr>
        </p:sp>
        <p:sp>
          <p:nvSpPr>
            <p:cNvPr id="48" name="node01.row.item-005.h0.heat"/>
            <p:cNvSpPr/>
            <p:nvPr/>
          </p:nvSpPr>
          <p:spPr>
            <a:xfrm>
              <a:off x="3257550" y="4210050"/>
              <a:ext cx="698500" cy="520700"/>
            </a:xfrm>
            <a:prstGeom prst="rect">
              <a:avLst/>
            </a:prstGeom>
            <a:solidFill>
              <a:srgbClr val="0047FF"/>
            </a:solidFill>
            <a:ln>
              <a:noFill/>
            </a:ln>
          </p:spPr>
        </p:sp>
        <p:sp>
          <p:nvSpPr>
            <p:cNvPr id="49" name="node01.row.item-005.h1.heat-gap"/>
            <p:cNvSpPr/>
            <p:nvPr/>
          </p:nvSpPr>
          <p:spPr>
            <a:xfrm>
              <a:off x="3975100" y="4191000"/>
              <a:ext cx="736600" cy="558800"/>
            </a:xfrm>
            <a:prstGeom prst="rect">
              <a:avLst/>
            </a:prstGeom>
            <a:solidFill>
              <a:srgbClr val="FFFFFF"/>
            </a:solidFill>
            <a:ln>
              <a:noFill/>
            </a:ln>
          </p:spPr>
        </p:sp>
        <p:sp>
          <p:nvSpPr>
            <p:cNvPr id="50" name="node01.row.item-005.h1.heat"/>
            <p:cNvSpPr/>
            <p:nvPr/>
          </p:nvSpPr>
          <p:spPr>
            <a:xfrm>
              <a:off x="3994150" y="4210050"/>
              <a:ext cx="698500" cy="520700"/>
            </a:xfrm>
            <a:prstGeom prst="rect">
              <a:avLst/>
            </a:prstGeom>
            <a:solidFill>
              <a:srgbClr val="0047FF"/>
            </a:solidFill>
            <a:ln>
              <a:noFill/>
            </a:ln>
          </p:spPr>
        </p:sp>
        <p:sp>
          <p:nvSpPr>
            <p:cNvPr id="51" name="node01.row.item-005.h2.heat-gap"/>
            <p:cNvSpPr/>
            <p:nvPr/>
          </p:nvSpPr>
          <p:spPr>
            <a:xfrm>
              <a:off x="4711700" y="4191000"/>
              <a:ext cx="736600" cy="558800"/>
            </a:xfrm>
            <a:prstGeom prst="rect">
              <a:avLst/>
            </a:prstGeom>
            <a:solidFill>
              <a:srgbClr val="FFFFFF"/>
            </a:solidFill>
            <a:ln>
              <a:noFill/>
            </a:ln>
          </p:spPr>
        </p:sp>
        <p:sp>
          <p:nvSpPr>
            <p:cNvPr id="52" name="node01.row.item-005.h2.heat"/>
            <p:cNvSpPr/>
            <p:nvPr/>
          </p:nvSpPr>
          <p:spPr>
            <a:xfrm>
              <a:off x="4730750" y="4210050"/>
              <a:ext cx="698500" cy="520700"/>
            </a:xfrm>
            <a:prstGeom prst="rect">
              <a:avLst/>
            </a:prstGeom>
            <a:solidFill>
              <a:srgbClr val="7C9BFF"/>
            </a:solidFill>
            <a:ln>
              <a:noFill/>
            </a:ln>
          </p:spPr>
        </p:sp>
        <p:sp>
          <p:nvSpPr>
            <p:cNvPr id="53" name="node01.row.item-005.h3.heat-gap"/>
            <p:cNvSpPr/>
            <p:nvPr/>
          </p:nvSpPr>
          <p:spPr>
            <a:xfrm>
              <a:off x="5448300" y="4191000"/>
              <a:ext cx="736600" cy="558800"/>
            </a:xfrm>
            <a:prstGeom prst="rect">
              <a:avLst/>
            </a:prstGeom>
            <a:solidFill>
              <a:srgbClr val="FFFFFF"/>
            </a:solidFill>
            <a:ln>
              <a:noFill/>
            </a:ln>
          </p:spPr>
        </p:sp>
        <p:sp>
          <p:nvSpPr>
            <p:cNvPr id="54" name="node01.row.item-005.h3.heat"/>
            <p:cNvSpPr/>
            <p:nvPr/>
          </p:nvSpPr>
          <p:spPr>
            <a:xfrm>
              <a:off x="5467350" y="4210050"/>
              <a:ext cx="698500" cy="520700"/>
            </a:xfrm>
            <a:prstGeom prst="rect">
              <a:avLst/>
            </a:prstGeom>
            <a:solidFill>
              <a:srgbClr val="0047FF"/>
            </a:solidFill>
            <a:ln>
              <a:noFill/>
            </a:ln>
          </p:spPr>
        </p:sp>
        <p:sp>
          <p:nvSpPr>
            <p:cNvPr id="55" name="node01.row.item-005.h4.heat-gap"/>
            <p:cNvSpPr/>
            <p:nvPr/>
          </p:nvSpPr>
          <p:spPr>
            <a:xfrm>
              <a:off x="6184900" y="4191000"/>
              <a:ext cx="736600" cy="558800"/>
            </a:xfrm>
            <a:prstGeom prst="rect">
              <a:avLst/>
            </a:prstGeom>
            <a:solidFill>
              <a:srgbClr val="FFFFFF"/>
            </a:solidFill>
            <a:ln>
              <a:noFill/>
            </a:ln>
          </p:spPr>
        </p:sp>
        <p:sp>
          <p:nvSpPr>
            <p:cNvPr id="56" name="node01.row.item-005.h4.heat"/>
            <p:cNvSpPr/>
            <p:nvPr/>
          </p:nvSpPr>
          <p:spPr>
            <a:xfrm>
              <a:off x="6203950" y="4210050"/>
              <a:ext cx="698500" cy="520700"/>
            </a:xfrm>
            <a:prstGeom prst="rect">
              <a:avLst/>
            </a:prstGeom>
            <a:solidFill>
              <a:srgbClr val="7C9BFF"/>
            </a:solidFill>
            <a:ln>
              <a:noFill/>
            </a:ln>
          </p:spPr>
        </p:sp>
        <p:sp>
          <p:nvSpPr>
            <p:cNvPr id="57" name="node01.row.item-006.h0.heat-gap"/>
            <p:cNvSpPr/>
            <p:nvPr/>
          </p:nvSpPr>
          <p:spPr>
            <a:xfrm>
              <a:off x="3238500" y="4749800"/>
              <a:ext cx="736600" cy="558800"/>
            </a:xfrm>
            <a:prstGeom prst="rect">
              <a:avLst/>
            </a:prstGeom>
            <a:solidFill>
              <a:srgbClr val="FFFFFF"/>
            </a:solidFill>
            <a:ln>
              <a:noFill/>
            </a:ln>
          </p:spPr>
        </p:sp>
        <p:sp>
          <p:nvSpPr>
            <p:cNvPr id="58" name="node01.row.item-006.h0.heat"/>
            <p:cNvSpPr/>
            <p:nvPr/>
          </p:nvSpPr>
          <p:spPr>
            <a:xfrm>
              <a:off x="3257550" y="4768850"/>
              <a:ext cx="698500" cy="520700"/>
            </a:xfrm>
            <a:prstGeom prst="rect">
              <a:avLst/>
            </a:prstGeom>
            <a:solidFill>
              <a:srgbClr val="B9C9F0"/>
            </a:solidFill>
            <a:ln>
              <a:noFill/>
            </a:ln>
          </p:spPr>
        </p:sp>
        <p:sp>
          <p:nvSpPr>
            <p:cNvPr id="59" name="node01.row.item-006.h1.heat-gap"/>
            <p:cNvSpPr/>
            <p:nvPr/>
          </p:nvSpPr>
          <p:spPr>
            <a:xfrm>
              <a:off x="3975100" y="4749800"/>
              <a:ext cx="736600" cy="558800"/>
            </a:xfrm>
            <a:prstGeom prst="rect">
              <a:avLst/>
            </a:prstGeom>
            <a:solidFill>
              <a:srgbClr val="FFFFFF"/>
            </a:solidFill>
            <a:ln>
              <a:noFill/>
            </a:ln>
          </p:spPr>
        </p:sp>
        <p:sp>
          <p:nvSpPr>
            <p:cNvPr id="60" name="node01.row.item-006.h1.heat"/>
            <p:cNvSpPr/>
            <p:nvPr/>
          </p:nvSpPr>
          <p:spPr>
            <a:xfrm>
              <a:off x="3994150" y="4768850"/>
              <a:ext cx="698500" cy="520700"/>
            </a:xfrm>
            <a:prstGeom prst="rect">
              <a:avLst/>
            </a:prstGeom>
            <a:solidFill>
              <a:srgbClr val="B9C9F0"/>
            </a:solidFill>
            <a:ln>
              <a:noFill/>
            </a:ln>
          </p:spPr>
        </p:sp>
        <p:sp>
          <p:nvSpPr>
            <p:cNvPr id="61" name="node01.row.item-006.h2.heat-gap"/>
            <p:cNvSpPr/>
            <p:nvPr/>
          </p:nvSpPr>
          <p:spPr>
            <a:xfrm>
              <a:off x="4711700" y="4749800"/>
              <a:ext cx="736600" cy="558800"/>
            </a:xfrm>
            <a:prstGeom prst="rect">
              <a:avLst/>
            </a:prstGeom>
            <a:solidFill>
              <a:srgbClr val="FFFFFF"/>
            </a:solidFill>
            <a:ln>
              <a:noFill/>
            </a:ln>
          </p:spPr>
        </p:sp>
        <p:sp>
          <p:nvSpPr>
            <p:cNvPr id="62" name="node01.row.item-006.h2.heat"/>
            <p:cNvSpPr/>
            <p:nvPr/>
          </p:nvSpPr>
          <p:spPr>
            <a:xfrm>
              <a:off x="4730750" y="4768850"/>
              <a:ext cx="698500" cy="520700"/>
            </a:xfrm>
            <a:prstGeom prst="rect">
              <a:avLst/>
            </a:prstGeom>
            <a:solidFill>
              <a:srgbClr val="E8EEF8"/>
            </a:solidFill>
            <a:ln>
              <a:noFill/>
            </a:ln>
          </p:spPr>
        </p:sp>
        <p:sp>
          <p:nvSpPr>
            <p:cNvPr id="63" name="node01.row.item-006.h3.heat-gap"/>
            <p:cNvSpPr/>
            <p:nvPr/>
          </p:nvSpPr>
          <p:spPr>
            <a:xfrm>
              <a:off x="5448300" y="4749800"/>
              <a:ext cx="736600" cy="558800"/>
            </a:xfrm>
            <a:prstGeom prst="rect">
              <a:avLst/>
            </a:prstGeom>
            <a:solidFill>
              <a:srgbClr val="FFFFFF"/>
            </a:solidFill>
            <a:ln>
              <a:noFill/>
            </a:ln>
          </p:spPr>
        </p:sp>
        <p:sp>
          <p:nvSpPr>
            <p:cNvPr id="64" name="node01.row.item-006.h3.heat"/>
            <p:cNvSpPr/>
            <p:nvPr/>
          </p:nvSpPr>
          <p:spPr>
            <a:xfrm>
              <a:off x="5467350" y="4768850"/>
              <a:ext cx="698500" cy="520700"/>
            </a:xfrm>
            <a:prstGeom prst="rect">
              <a:avLst/>
            </a:prstGeom>
            <a:solidFill>
              <a:srgbClr val="7C9BFF"/>
            </a:solidFill>
            <a:ln>
              <a:noFill/>
            </a:ln>
          </p:spPr>
        </p:sp>
        <p:sp>
          <p:nvSpPr>
            <p:cNvPr id="65" name="node01.row.item-006.h4.heat-gap"/>
            <p:cNvSpPr/>
            <p:nvPr/>
          </p:nvSpPr>
          <p:spPr>
            <a:xfrm>
              <a:off x="6184900" y="4749800"/>
              <a:ext cx="736600" cy="558800"/>
            </a:xfrm>
            <a:prstGeom prst="rect">
              <a:avLst/>
            </a:prstGeom>
            <a:solidFill>
              <a:srgbClr val="FFFFFF"/>
            </a:solidFill>
            <a:ln>
              <a:noFill/>
            </a:ln>
          </p:spPr>
        </p:sp>
        <p:sp>
          <p:nvSpPr>
            <p:cNvPr id="66" name="node01.row.item-006.h4.heat"/>
            <p:cNvSpPr/>
            <p:nvPr/>
          </p:nvSpPr>
          <p:spPr>
            <a:xfrm>
              <a:off x="6203950" y="4768850"/>
              <a:ext cx="698500" cy="520700"/>
            </a:xfrm>
            <a:prstGeom prst="rect">
              <a:avLst/>
            </a:prstGeom>
            <a:solidFill>
              <a:srgbClr val="B9C9F0"/>
            </a:solidFill>
            <a:ln>
              <a:noFill/>
            </a:ln>
          </p:spPr>
        </p:sp>
        <p:graphicFrame>
          <p:nvGraphicFramePr>
            <p:cNvPr id="67" name="node01.native"/>
            <p:cNvGraphicFramePr>
              <a:graphicFrameLocks noGrp="1"/>
            </p:cNvGraphicFramePr>
            <p:nvPr>
              <p:extLst>
                <p:ext uri="{D42A27DB-BD31-4B8C-83A1-F6EECF244321}">
                  <p14:modId xmlns:p14="http://schemas.microsoft.com/office/powerpoint/2010/main" val="1579011935"/>
                </p:ext>
              </p:extLst>
            </p:nvPr>
          </p:nvGraphicFramePr>
          <p:xfrm>
            <a:off x="1104900" y="1600200"/>
            <a:ext cx="10363200" cy="3708400"/>
          </p:xfrm>
          <a:graphic>
            <a:graphicData uri="http://schemas.openxmlformats.org/drawingml/2006/table">
              <a:tbl>
                <a:tblPr/>
                <a:tblGrid>
                  <a:gridCol w="2133600"/>
                  <a:gridCol w="736600"/>
                  <a:gridCol w="736600"/>
                  <a:gridCol w="736600"/>
                  <a:gridCol w="736600"/>
                  <a:gridCol w="736600"/>
                  <a:gridCol w="914400"/>
                  <a:gridCol w="36322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CAPABILITY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PROCESS</a:t>
                        </a:r>
                        <a:endParaRPr lang="en-US" sz="800" spc="48" kern="0" b="0" i="0" dirty="0">
                          <a:solidFill>
                            <a:srgbClr val="070154"/>
                          </a:solidFill>
                          <a:latin typeface="IBM Plex Mono SemiBold"/>
                          <a:ea typeface="IBM Plex Mono SemiBold"/>
                          <a:cs typeface="IBM Plex Mono SemiBold"/>
                        </a:endParaRPr>
                      </a:p>
                    </a:txBody>
                    <a:tcPr marL="123127" marR="12312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TECHNOLOGY</a:t>
                        </a:r>
                        <a:endParaRPr lang="en-US" sz="800" spc="48" kern="0" b="0" i="0" dirty="0">
                          <a:solidFill>
                            <a:srgbClr val="070154"/>
                          </a:solidFill>
                          <a:latin typeface="IBM Plex Mono SemiBold"/>
                          <a:ea typeface="IBM Plex Mono SemiBold"/>
                          <a:cs typeface="IBM Plex Mono SemiBold"/>
                        </a:endParaRPr>
                      </a:p>
                    </a:txBody>
                    <a:tcPr marL="23496" marR="234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DATA</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PEOPLE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GOVERNANCE</a:t>
                        </a:r>
                        <a:endParaRPr lang="en-US" sz="800" spc="48" kern="0" b="0" i="0" dirty="0">
                          <a:solidFill>
                            <a:srgbClr val="070154"/>
                          </a:solidFill>
                          <a:latin typeface="IBM Plex Mono SemiBold"/>
                          <a:ea typeface="IBM Plex Mono SemiBold"/>
                          <a:cs typeface="IBM Plex Mono SemiBold"/>
                        </a:endParaRPr>
                      </a:p>
                    </a:txBody>
                    <a:tcPr marL="23496" marR="234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HORIZON</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WHAT WE FOUND</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access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Two registration flows across sites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Eligibility is checked after arrival</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Referral management</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Referrals arrive by fax and portal</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 shared status view</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Revenue cycle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5</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Rules engine at posting is mature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Month-end review is still manual</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Denials management</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Denial reasons are not coded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Rework has no owner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Clinical documentation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Templates are strong and reused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Voice capture live in two units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Care coordination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Handoffs run on phone and email</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Care plans live in three tools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68" name="node01.row.item-001.st.priority.fill"/>
            <p:cNvSpPr/>
            <p:nvPr/>
          </p:nvSpPr>
          <p:spPr>
            <a:xfrm>
              <a:off x="7124700" y="2139950"/>
              <a:ext cx="508000" cy="190500"/>
            </a:xfrm>
            <a:prstGeom prst="rect">
              <a:avLst/>
            </a:prstGeom>
            <a:solidFill>
              <a:srgbClr val="CED7E6"/>
            </a:solidFill>
            <a:ln w="9525">
              <a:solidFill>
                <a:srgbClr val="070154"/>
              </a:solidFill>
              <a:prstDash val="solid"/>
            </a:ln>
          </p:spPr>
        </p:sp>
        <p:sp>
          <p:nvSpPr>
            <p:cNvPr id="69" name="node01.row.item-001.st.priority"/>
            <p:cNvSpPr/>
            <p:nvPr/>
          </p:nvSpPr>
          <p:spPr>
            <a:xfrm>
              <a:off x="7226300" y="21653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NEXT</a:t>
              </a:r>
              <a:endParaRPr lang="en-US" sz="800" spc="48" kern="0" b="0" i="0" dirty="0">
                <a:solidFill>
                  <a:srgbClr val="070154"/>
                </a:solidFill>
                <a:latin typeface="IBM Plex Mono SemiBold"/>
                <a:ea typeface="IBM Plex Mono SemiBold"/>
                <a:cs typeface="IBM Plex Mono SemiBold"/>
              </a:endParaRPr>
            </a:p>
          </p:txBody>
        </p:sp>
        <p:sp>
          <p:nvSpPr>
            <p:cNvPr id="70" name="node01.row.item-002.st.priority.fill"/>
            <p:cNvSpPr/>
            <p:nvPr/>
          </p:nvSpPr>
          <p:spPr>
            <a:xfrm>
              <a:off x="7124700" y="2698750"/>
              <a:ext cx="508000" cy="190500"/>
            </a:xfrm>
            <a:prstGeom prst="rect">
              <a:avLst/>
            </a:prstGeom>
            <a:solidFill>
              <a:srgbClr val="070154"/>
            </a:solidFill>
            <a:ln w="9525">
              <a:solidFill>
                <a:srgbClr val="070154"/>
              </a:solidFill>
              <a:prstDash val="solid"/>
            </a:ln>
          </p:spPr>
        </p:sp>
        <p:sp>
          <p:nvSpPr>
            <p:cNvPr id="71" name="node01.row.item-002.st.priority"/>
            <p:cNvSpPr/>
            <p:nvPr/>
          </p:nvSpPr>
          <p:spPr>
            <a:xfrm>
              <a:off x="7226300" y="27241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NOW</a:t>
              </a:r>
              <a:endParaRPr lang="en-US" sz="800" spc="48" kern="0" b="0" i="0" dirty="0">
                <a:solidFill>
                  <a:srgbClr val="FFFFFF"/>
                </a:solidFill>
                <a:latin typeface="IBM Plex Mono SemiBold"/>
                <a:ea typeface="IBM Plex Mono SemiBold"/>
                <a:cs typeface="IBM Plex Mono SemiBold"/>
              </a:endParaRPr>
            </a:p>
          </p:txBody>
        </p:sp>
        <p:sp>
          <p:nvSpPr>
            <p:cNvPr id="72" name="node01.row.item-003.st.priority.fill"/>
            <p:cNvSpPr/>
            <p:nvPr/>
          </p:nvSpPr>
          <p:spPr>
            <a:xfrm>
              <a:off x="7098348" y="3257550"/>
              <a:ext cx="560704" cy="190500"/>
            </a:xfrm>
            <a:prstGeom prst="rect">
              <a:avLst/>
            </a:prstGeom>
            <a:ln w="9525">
              <a:solidFill>
                <a:srgbClr val="070154"/>
              </a:solidFill>
              <a:prstDash val="solid"/>
            </a:ln>
          </p:spPr>
        </p:sp>
        <p:sp>
          <p:nvSpPr>
            <p:cNvPr id="73" name="node01.row.item-003.st.priority"/>
            <p:cNvSpPr/>
            <p:nvPr/>
          </p:nvSpPr>
          <p:spPr>
            <a:xfrm>
              <a:off x="7199948" y="3282950"/>
              <a:ext cx="357504"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LATER</a:t>
              </a:r>
              <a:endParaRPr lang="en-US" sz="800" spc="48" kern="0" b="0" i="0" dirty="0">
                <a:solidFill>
                  <a:srgbClr val="070154"/>
                </a:solidFill>
                <a:latin typeface="IBM Plex Mono SemiBold"/>
                <a:ea typeface="IBM Plex Mono SemiBold"/>
                <a:cs typeface="IBM Plex Mono SemiBold"/>
              </a:endParaRPr>
            </a:p>
          </p:txBody>
        </p:sp>
        <p:sp>
          <p:nvSpPr>
            <p:cNvPr id="74" name="node01.row.item-004.st.priority.fill"/>
            <p:cNvSpPr/>
            <p:nvPr/>
          </p:nvSpPr>
          <p:spPr>
            <a:xfrm>
              <a:off x="7124700" y="3816350"/>
              <a:ext cx="508000" cy="190500"/>
            </a:xfrm>
            <a:prstGeom prst="rect">
              <a:avLst/>
            </a:prstGeom>
            <a:solidFill>
              <a:srgbClr val="070154"/>
            </a:solidFill>
            <a:ln w="9525">
              <a:solidFill>
                <a:srgbClr val="070154"/>
              </a:solidFill>
              <a:prstDash val="solid"/>
            </a:ln>
          </p:spPr>
        </p:sp>
        <p:sp>
          <p:nvSpPr>
            <p:cNvPr id="75" name="node01.row.item-004.st.priority"/>
            <p:cNvSpPr/>
            <p:nvPr/>
          </p:nvSpPr>
          <p:spPr>
            <a:xfrm>
              <a:off x="7226300" y="38417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NOW</a:t>
              </a:r>
              <a:endParaRPr lang="en-US" sz="800" spc="48" kern="0" b="0" i="0" dirty="0">
                <a:solidFill>
                  <a:srgbClr val="FFFFFF"/>
                </a:solidFill>
                <a:latin typeface="IBM Plex Mono SemiBold"/>
                <a:ea typeface="IBM Plex Mono SemiBold"/>
                <a:cs typeface="IBM Plex Mono SemiBold"/>
              </a:endParaRPr>
            </a:p>
          </p:txBody>
        </p:sp>
        <p:sp>
          <p:nvSpPr>
            <p:cNvPr id="76" name="node01.row.item-005.st.priority.fill"/>
            <p:cNvSpPr/>
            <p:nvPr/>
          </p:nvSpPr>
          <p:spPr>
            <a:xfrm>
              <a:off x="7098348" y="4375150"/>
              <a:ext cx="560704" cy="190500"/>
            </a:xfrm>
            <a:prstGeom prst="rect">
              <a:avLst/>
            </a:prstGeom>
            <a:ln w="9525">
              <a:solidFill>
                <a:srgbClr val="070154"/>
              </a:solidFill>
              <a:prstDash val="solid"/>
            </a:ln>
          </p:spPr>
        </p:sp>
        <p:sp>
          <p:nvSpPr>
            <p:cNvPr id="77" name="node01.row.item-005.st.priority"/>
            <p:cNvSpPr/>
            <p:nvPr/>
          </p:nvSpPr>
          <p:spPr>
            <a:xfrm>
              <a:off x="7199948" y="4400550"/>
              <a:ext cx="357504"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LATER</a:t>
              </a:r>
              <a:endParaRPr lang="en-US" sz="800" spc="48" kern="0" b="0" i="0" dirty="0">
                <a:solidFill>
                  <a:srgbClr val="070154"/>
                </a:solidFill>
                <a:latin typeface="IBM Plex Mono SemiBold"/>
                <a:ea typeface="IBM Plex Mono SemiBold"/>
                <a:cs typeface="IBM Plex Mono SemiBold"/>
              </a:endParaRPr>
            </a:p>
          </p:txBody>
        </p:sp>
        <p:sp>
          <p:nvSpPr>
            <p:cNvPr id="78" name="node01.row.item-006.st.priority.fill"/>
            <p:cNvSpPr/>
            <p:nvPr/>
          </p:nvSpPr>
          <p:spPr>
            <a:xfrm>
              <a:off x="7124700" y="4933950"/>
              <a:ext cx="508000" cy="190500"/>
            </a:xfrm>
            <a:prstGeom prst="rect">
              <a:avLst/>
            </a:prstGeom>
            <a:solidFill>
              <a:srgbClr val="CED7E6"/>
            </a:solidFill>
            <a:ln w="9525">
              <a:solidFill>
                <a:srgbClr val="070154"/>
              </a:solidFill>
              <a:prstDash val="solid"/>
            </a:ln>
          </p:spPr>
        </p:sp>
        <p:sp>
          <p:nvSpPr>
            <p:cNvPr id="79" name="node01.row.item-006.st.priority"/>
            <p:cNvSpPr/>
            <p:nvPr/>
          </p:nvSpPr>
          <p:spPr>
            <a:xfrm>
              <a:off x="7226300" y="49593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NEXT</a:t>
              </a:r>
              <a:endParaRPr lang="en-US" sz="800" spc="48" kern="0" b="0" i="0" dirty="0">
                <a:solidFill>
                  <a:srgbClr val="070154"/>
                </a:solidFill>
                <a:latin typeface="IBM Plex Mono SemiBold"/>
                <a:ea typeface="IBM Plex Mono SemiBold"/>
                <a:cs typeface="IBM Plex Mono SemiBold"/>
              </a:endParaRPr>
            </a:p>
          </p:txBody>
        </p:sp>
        <p:sp>
          <p:nvSpPr>
            <p:cNvPr id="80" name="node01.row-group.source-001.fill"/>
            <p:cNvSpPr/>
            <p:nvPr/>
          </p:nvSpPr>
          <p:spPr>
            <a:xfrm>
              <a:off x="723900" y="1974850"/>
              <a:ext cx="304800" cy="1079500"/>
            </a:xfrm>
            <a:prstGeom prst="rect">
              <a:avLst/>
            </a:prstGeom>
            <a:solidFill>
              <a:srgbClr val="070154"/>
            </a:solidFill>
            <a:ln>
              <a:noFill/>
            </a:ln>
          </p:spPr>
        </p:sp>
        <p:sp>
          <p:nvSpPr>
            <p:cNvPr id="81" name="node01.row-group.source-001.label"/>
            <p:cNvSpPr/>
            <p:nvPr/>
          </p:nvSpPr>
          <p:spPr>
            <a:xfrm rot="-5400000">
              <a:off x="336550" y="2444750"/>
              <a:ext cx="10795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FRONT DOOR</a:t>
              </a:r>
              <a:endParaRPr lang="en-US" sz="800" spc="80" kern="0" b="0" i="0" dirty="0">
                <a:solidFill>
                  <a:srgbClr val="FFFFFF"/>
                </a:solidFill>
                <a:latin typeface="IBM Plex Mono SemiBold"/>
                <a:ea typeface="IBM Plex Mono SemiBold"/>
                <a:cs typeface="IBM Plex Mono SemiBold"/>
              </a:endParaRPr>
            </a:p>
          </p:txBody>
        </p:sp>
        <p:sp>
          <p:nvSpPr>
            <p:cNvPr id="82" name="node01.row-group.source-002.fill"/>
            <p:cNvSpPr/>
            <p:nvPr/>
          </p:nvSpPr>
          <p:spPr>
            <a:xfrm>
              <a:off x="723900" y="3092450"/>
              <a:ext cx="304800" cy="1079500"/>
            </a:xfrm>
            <a:prstGeom prst="rect">
              <a:avLst/>
            </a:prstGeom>
            <a:solidFill>
              <a:srgbClr val="070154"/>
            </a:solidFill>
            <a:ln>
              <a:noFill/>
            </a:ln>
          </p:spPr>
        </p:sp>
        <p:sp>
          <p:nvSpPr>
            <p:cNvPr id="83" name="node01.row-group.source-002.label"/>
            <p:cNvSpPr/>
            <p:nvPr/>
          </p:nvSpPr>
          <p:spPr>
            <a:xfrm rot="-5400000">
              <a:off x="336550" y="3562350"/>
              <a:ext cx="10795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REVENUE</a:t>
              </a:r>
              <a:endParaRPr lang="en-US" sz="800" spc="80" kern="0" b="0" i="0" dirty="0">
                <a:solidFill>
                  <a:srgbClr val="FFFFFF"/>
                </a:solidFill>
                <a:latin typeface="IBM Plex Mono SemiBold"/>
                <a:ea typeface="IBM Plex Mono SemiBold"/>
                <a:cs typeface="IBM Plex Mono SemiBold"/>
              </a:endParaRPr>
            </a:p>
          </p:txBody>
        </p:sp>
        <p:sp>
          <p:nvSpPr>
            <p:cNvPr id="84" name="node01.row-group.source-003.fill"/>
            <p:cNvSpPr/>
            <p:nvPr/>
          </p:nvSpPr>
          <p:spPr>
            <a:xfrm>
              <a:off x="723900" y="4210050"/>
              <a:ext cx="304800" cy="1079500"/>
            </a:xfrm>
            <a:prstGeom prst="rect">
              <a:avLst/>
            </a:prstGeom>
            <a:solidFill>
              <a:srgbClr val="070154"/>
            </a:solidFill>
            <a:ln>
              <a:noFill/>
            </a:ln>
          </p:spPr>
        </p:sp>
        <p:sp>
          <p:nvSpPr>
            <p:cNvPr id="85" name="node01.row-group.source-003.label"/>
            <p:cNvSpPr/>
            <p:nvPr/>
          </p:nvSpPr>
          <p:spPr>
            <a:xfrm rot="-5400000">
              <a:off x="336550" y="4679950"/>
              <a:ext cx="10795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CARE DELIVERY</a:t>
              </a:r>
              <a:endParaRPr lang="en-US" sz="800" spc="80" kern="0" b="0" i="0" dirty="0">
                <a:solidFill>
                  <a:srgbClr val="FFFFFF"/>
                </a:solidFill>
                <a:latin typeface="IBM Plex Mono SemiBold"/>
                <a:ea typeface="IBM Plex Mono SemiBold"/>
                <a:cs typeface="IBM Plex Mono SemiBold"/>
              </a:endParaRPr>
            </a:p>
          </p:txBody>
        </p:sp>
      </p:grpSp>
      <p:grpSp>
        <p:nvGrpSpPr>
          <p:cNvPr id="98" name="node02"/>
          <p:cNvGrpSpPr/>
          <p:nvPr/>
        </p:nvGrpSpPr>
        <p:grpSpPr>
          <a:xfrm>
            <a:off x="723900" y="5486400"/>
            <a:ext cx="6062663" cy="190500"/>
            <a:chOff x="723900" y="5486400"/>
            <a:chExt cx="6062663" cy="190500"/>
          </a:xfrm>
        </p:grpSpPr>
        <p:sp>
          <p:nvSpPr>
            <p:cNvPr id="86" name="node02.items.slot-001.swatch"/>
            <p:cNvSpPr/>
            <p:nvPr/>
          </p:nvSpPr>
          <p:spPr>
            <a:xfrm>
              <a:off x="723900" y="5518150"/>
              <a:ext cx="228600" cy="127000"/>
            </a:xfrm>
            <a:prstGeom prst="rect">
              <a:avLst/>
            </a:prstGeom>
            <a:solidFill>
              <a:srgbClr val="E8EEF8"/>
            </a:solidFill>
            <a:ln>
              <a:noFill/>
            </a:ln>
          </p:spPr>
        </p:sp>
        <p:sp>
          <p:nvSpPr>
            <p:cNvPr id="87" name="node02.items.slot-001.text"/>
            <p:cNvSpPr/>
            <p:nvPr/>
          </p:nvSpPr>
          <p:spPr>
            <a:xfrm>
              <a:off x="1016000" y="5486400"/>
              <a:ext cx="5984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Ad hoc</a:t>
              </a:r>
              <a:endParaRPr lang="en-US" sz="1100" spc="0" kern="0" b="0" i="0" dirty="0">
                <a:solidFill>
                  <a:srgbClr val="070154"/>
                </a:solidFill>
                <a:latin typeface="IBM Plex Sans"/>
                <a:ea typeface="IBM Plex Sans"/>
                <a:cs typeface="IBM Plex Sans"/>
              </a:endParaRPr>
            </a:p>
          </p:txBody>
        </p:sp>
        <p:sp>
          <p:nvSpPr>
            <p:cNvPr id="88" name="node02.items.slot-002.swatch"/>
            <p:cNvSpPr/>
            <p:nvPr/>
          </p:nvSpPr>
          <p:spPr>
            <a:xfrm>
              <a:off x="1843088" y="5518150"/>
              <a:ext cx="228600" cy="127000"/>
            </a:xfrm>
            <a:prstGeom prst="rect">
              <a:avLst/>
            </a:prstGeom>
            <a:solidFill>
              <a:srgbClr val="B9C9F0"/>
            </a:solidFill>
            <a:ln>
              <a:noFill/>
            </a:ln>
          </p:spPr>
        </p:sp>
        <p:sp>
          <p:nvSpPr>
            <p:cNvPr id="89" name="node02.items.slot-002.text"/>
            <p:cNvSpPr/>
            <p:nvPr/>
          </p:nvSpPr>
          <p:spPr>
            <a:xfrm>
              <a:off x="2135188" y="5486400"/>
              <a:ext cx="8842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 Repeatable</a:t>
              </a:r>
              <a:endParaRPr lang="en-US" sz="1100" spc="0" kern="0" b="0" i="0" dirty="0">
                <a:solidFill>
                  <a:srgbClr val="070154"/>
                </a:solidFill>
                <a:latin typeface="IBM Plex Sans"/>
                <a:ea typeface="IBM Plex Sans"/>
                <a:cs typeface="IBM Plex Sans"/>
              </a:endParaRPr>
            </a:p>
          </p:txBody>
        </p:sp>
        <p:sp>
          <p:nvSpPr>
            <p:cNvPr id="90" name="node02.items.slot-003.swatch"/>
            <p:cNvSpPr/>
            <p:nvPr/>
          </p:nvSpPr>
          <p:spPr>
            <a:xfrm>
              <a:off x="3248025" y="5518150"/>
              <a:ext cx="228600" cy="127000"/>
            </a:xfrm>
            <a:prstGeom prst="rect">
              <a:avLst/>
            </a:prstGeom>
            <a:solidFill>
              <a:srgbClr val="7C9BFF"/>
            </a:solidFill>
            <a:ln>
              <a:noFill/>
            </a:ln>
          </p:spPr>
        </p:sp>
        <p:sp>
          <p:nvSpPr>
            <p:cNvPr id="91" name="node02.items.slot-003.text"/>
            <p:cNvSpPr/>
            <p:nvPr/>
          </p:nvSpPr>
          <p:spPr>
            <a:xfrm>
              <a:off x="3540125" y="5486400"/>
              <a:ext cx="6540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 Defined</a:t>
              </a:r>
              <a:endParaRPr lang="en-US" sz="1100" spc="0" kern="0" b="0" i="0" dirty="0">
                <a:solidFill>
                  <a:srgbClr val="070154"/>
                </a:solidFill>
                <a:latin typeface="IBM Plex Sans"/>
                <a:ea typeface="IBM Plex Sans"/>
                <a:cs typeface="IBM Plex Sans"/>
              </a:endParaRPr>
            </a:p>
          </p:txBody>
        </p:sp>
        <p:sp>
          <p:nvSpPr>
            <p:cNvPr id="92" name="node02.items.slot-004.swatch"/>
            <p:cNvSpPr/>
            <p:nvPr/>
          </p:nvSpPr>
          <p:spPr>
            <a:xfrm>
              <a:off x="4422775" y="5518150"/>
              <a:ext cx="228600" cy="127000"/>
            </a:xfrm>
            <a:prstGeom prst="rect">
              <a:avLst/>
            </a:prstGeom>
            <a:solidFill>
              <a:srgbClr val="0047FF"/>
            </a:solidFill>
            <a:ln>
              <a:noFill/>
            </a:ln>
          </p:spPr>
        </p:sp>
        <p:sp>
          <p:nvSpPr>
            <p:cNvPr id="93" name="node02.items.slot-004.text"/>
            <p:cNvSpPr/>
            <p:nvPr/>
          </p:nvSpPr>
          <p:spPr>
            <a:xfrm>
              <a:off x="4714875" y="5486400"/>
              <a:ext cx="7397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4 Managed</a:t>
              </a:r>
              <a:endParaRPr lang="en-US" sz="1100" spc="0" kern="0" b="0" i="0" dirty="0">
                <a:solidFill>
                  <a:srgbClr val="070154"/>
                </a:solidFill>
                <a:latin typeface="IBM Plex Sans"/>
                <a:ea typeface="IBM Plex Sans"/>
                <a:cs typeface="IBM Plex Sans"/>
              </a:endParaRPr>
            </a:p>
          </p:txBody>
        </p:sp>
        <p:sp>
          <p:nvSpPr>
            <p:cNvPr id="94" name="node02.items.slot-005.swatch"/>
            <p:cNvSpPr/>
            <p:nvPr/>
          </p:nvSpPr>
          <p:spPr>
            <a:xfrm>
              <a:off x="5683250" y="5518150"/>
              <a:ext cx="228600" cy="127000"/>
            </a:xfrm>
            <a:prstGeom prst="rect">
              <a:avLst/>
            </a:prstGeom>
            <a:solidFill>
              <a:srgbClr val="070154"/>
            </a:solidFill>
            <a:ln>
              <a:noFill/>
            </a:ln>
          </p:spPr>
        </p:sp>
        <p:sp>
          <p:nvSpPr>
            <p:cNvPr id="95" name="node02.items.slot-005.text"/>
            <p:cNvSpPr/>
            <p:nvPr/>
          </p:nvSpPr>
          <p:spPr>
            <a:xfrm>
              <a:off x="5975350" y="5486400"/>
              <a:ext cx="8112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Optimized</a:t>
              </a:r>
              <a:endParaRPr lang="en-US" sz="1100" spc="0" kern="0" b="0" i="0" dirty="0">
                <a:solidFill>
                  <a:srgbClr val="070154"/>
                </a:solidFill>
                <a:latin typeface="IBM Plex Sans"/>
                <a:ea typeface="IBM Plex Sans"/>
                <a:cs typeface="IBM Plex Sans"/>
              </a:endParaRPr>
            </a:p>
          </p:txBody>
        </p:sp>
      </p:grpSp>
      <p:grpSp>
        <p:nvGrpSpPr>
          <p:cNvPr id="99" name="node03"/>
          <p:cNvGrpSpPr/>
          <p:nvPr/>
        </p:nvGrpSpPr>
        <p:grpSpPr>
          <a:xfrm>
            <a:off x="8039100" y="5486400"/>
            <a:ext cx="3429000" cy="190500"/>
            <a:chOff x="8039100" y="5486400"/>
            <a:chExt cx="3429000" cy="190500"/>
          </a:xfrm>
        </p:grpSpPr>
        <p:sp>
          <p:nvSpPr>
            <p:cNvPr id="96" name="node03.text"/>
            <p:cNvSpPr/>
            <p:nvPr/>
          </p:nvSpPr>
          <p:spPr>
            <a:xfrm>
              <a:off x="8039100" y="54864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Now this quarter, Next after, Later backlog</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ource-20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capabilities need attention first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72</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1600200"/>
            <a:ext cx="10744200" cy="3657600"/>
            <a:chOff x="723900" y="1600200"/>
            <a:chExt cx="10744200" cy="3657600"/>
          </a:xfrm>
        </p:grpSpPr>
        <p:sp>
          <p:nvSpPr>
            <p:cNvPr id="7" name="node01.row.item-001.h0.heat-gap"/>
            <p:cNvSpPr/>
            <p:nvPr/>
          </p:nvSpPr>
          <p:spPr>
            <a:xfrm>
              <a:off x="2781300" y="1955800"/>
              <a:ext cx="762000" cy="660400"/>
            </a:xfrm>
            <a:prstGeom prst="rect">
              <a:avLst/>
            </a:prstGeom>
            <a:solidFill>
              <a:srgbClr val="FFFFFF"/>
            </a:solidFill>
            <a:ln>
              <a:noFill/>
            </a:ln>
          </p:spPr>
        </p:sp>
        <p:sp>
          <p:nvSpPr>
            <p:cNvPr id="8" name="node01.row.item-001.h0.heat"/>
            <p:cNvSpPr/>
            <p:nvPr/>
          </p:nvSpPr>
          <p:spPr>
            <a:xfrm>
              <a:off x="2800350" y="1974850"/>
              <a:ext cx="723900" cy="622300"/>
            </a:xfrm>
            <a:prstGeom prst="rect">
              <a:avLst/>
            </a:prstGeom>
            <a:solidFill>
              <a:srgbClr val="B9C9F0"/>
            </a:solidFill>
            <a:ln>
              <a:noFill/>
            </a:ln>
          </p:spPr>
        </p:sp>
        <p:sp>
          <p:nvSpPr>
            <p:cNvPr id="9" name="node01.row.item-001.h1.heat-gap"/>
            <p:cNvSpPr/>
            <p:nvPr/>
          </p:nvSpPr>
          <p:spPr>
            <a:xfrm>
              <a:off x="3543300" y="1955800"/>
              <a:ext cx="762000" cy="660400"/>
            </a:xfrm>
            <a:prstGeom prst="rect">
              <a:avLst/>
            </a:prstGeom>
            <a:solidFill>
              <a:srgbClr val="FFFFFF"/>
            </a:solidFill>
            <a:ln>
              <a:noFill/>
            </a:ln>
          </p:spPr>
        </p:sp>
        <p:sp>
          <p:nvSpPr>
            <p:cNvPr id="10" name="node01.row.item-001.h1.heat"/>
            <p:cNvSpPr/>
            <p:nvPr/>
          </p:nvSpPr>
          <p:spPr>
            <a:xfrm>
              <a:off x="3562350" y="1974850"/>
              <a:ext cx="723900" cy="622300"/>
            </a:xfrm>
            <a:prstGeom prst="rect">
              <a:avLst/>
            </a:prstGeom>
            <a:solidFill>
              <a:srgbClr val="E8EEF8"/>
            </a:solidFill>
            <a:ln>
              <a:noFill/>
            </a:ln>
          </p:spPr>
        </p:sp>
        <p:sp>
          <p:nvSpPr>
            <p:cNvPr id="11" name="node01.row.item-001.h2.heat-gap"/>
            <p:cNvSpPr/>
            <p:nvPr/>
          </p:nvSpPr>
          <p:spPr>
            <a:xfrm>
              <a:off x="4305300" y="1955800"/>
              <a:ext cx="762000" cy="660400"/>
            </a:xfrm>
            <a:prstGeom prst="rect">
              <a:avLst/>
            </a:prstGeom>
            <a:solidFill>
              <a:srgbClr val="FFFFFF"/>
            </a:solidFill>
            <a:ln>
              <a:noFill/>
            </a:ln>
          </p:spPr>
        </p:sp>
        <p:sp>
          <p:nvSpPr>
            <p:cNvPr id="12" name="node01.row.item-001.h2.heat"/>
            <p:cNvSpPr/>
            <p:nvPr/>
          </p:nvSpPr>
          <p:spPr>
            <a:xfrm>
              <a:off x="4324350" y="1974850"/>
              <a:ext cx="723900" cy="622300"/>
            </a:xfrm>
            <a:prstGeom prst="rect">
              <a:avLst/>
            </a:prstGeom>
            <a:solidFill>
              <a:srgbClr val="E8EEF8"/>
            </a:solidFill>
            <a:ln>
              <a:noFill/>
            </a:ln>
          </p:spPr>
        </p:sp>
        <p:sp>
          <p:nvSpPr>
            <p:cNvPr id="13" name="node01.row.item-001.h3.heat-gap"/>
            <p:cNvSpPr/>
            <p:nvPr/>
          </p:nvSpPr>
          <p:spPr>
            <a:xfrm>
              <a:off x="5067300" y="1955800"/>
              <a:ext cx="762000" cy="660400"/>
            </a:xfrm>
            <a:prstGeom prst="rect">
              <a:avLst/>
            </a:prstGeom>
            <a:solidFill>
              <a:srgbClr val="FFFFFF"/>
            </a:solidFill>
            <a:ln>
              <a:noFill/>
            </a:ln>
          </p:spPr>
        </p:sp>
        <p:sp>
          <p:nvSpPr>
            <p:cNvPr id="14" name="node01.row.item-001.h3.heat"/>
            <p:cNvSpPr/>
            <p:nvPr/>
          </p:nvSpPr>
          <p:spPr>
            <a:xfrm>
              <a:off x="5086350" y="1974850"/>
              <a:ext cx="723900" cy="622300"/>
            </a:xfrm>
            <a:prstGeom prst="rect">
              <a:avLst/>
            </a:prstGeom>
            <a:solidFill>
              <a:srgbClr val="B9C9F0"/>
            </a:solidFill>
            <a:ln>
              <a:noFill/>
            </a:ln>
          </p:spPr>
        </p:sp>
        <p:sp>
          <p:nvSpPr>
            <p:cNvPr id="15" name="node01.row.item-001.h4.heat-gap"/>
            <p:cNvSpPr/>
            <p:nvPr/>
          </p:nvSpPr>
          <p:spPr>
            <a:xfrm>
              <a:off x="5829300" y="1955800"/>
              <a:ext cx="762000" cy="660400"/>
            </a:xfrm>
            <a:prstGeom prst="rect">
              <a:avLst/>
            </a:prstGeom>
            <a:solidFill>
              <a:srgbClr val="FFFFFF"/>
            </a:solidFill>
            <a:ln>
              <a:noFill/>
            </a:ln>
          </p:spPr>
        </p:sp>
        <p:sp>
          <p:nvSpPr>
            <p:cNvPr id="16" name="node01.row.item-001.h4.heat"/>
            <p:cNvSpPr/>
            <p:nvPr/>
          </p:nvSpPr>
          <p:spPr>
            <a:xfrm>
              <a:off x="5848350" y="1974850"/>
              <a:ext cx="723900" cy="622300"/>
            </a:xfrm>
            <a:prstGeom prst="rect">
              <a:avLst/>
            </a:prstGeom>
            <a:solidFill>
              <a:srgbClr val="B9C9F0"/>
            </a:solidFill>
            <a:ln>
              <a:noFill/>
            </a:ln>
          </p:spPr>
        </p:sp>
        <p:sp>
          <p:nvSpPr>
            <p:cNvPr id="17" name="node01.row.item-002.h0.heat-gap"/>
            <p:cNvSpPr/>
            <p:nvPr/>
          </p:nvSpPr>
          <p:spPr>
            <a:xfrm>
              <a:off x="2781300" y="2616200"/>
              <a:ext cx="762000" cy="660400"/>
            </a:xfrm>
            <a:prstGeom prst="rect">
              <a:avLst/>
            </a:prstGeom>
            <a:solidFill>
              <a:srgbClr val="FFFFFF"/>
            </a:solidFill>
            <a:ln>
              <a:noFill/>
            </a:ln>
          </p:spPr>
        </p:sp>
        <p:sp>
          <p:nvSpPr>
            <p:cNvPr id="18" name="node01.row.item-002.h0.heat"/>
            <p:cNvSpPr/>
            <p:nvPr/>
          </p:nvSpPr>
          <p:spPr>
            <a:xfrm>
              <a:off x="2800350" y="2635250"/>
              <a:ext cx="723900" cy="622300"/>
            </a:xfrm>
            <a:prstGeom prst="rect">
              <a:avLst/>
            </a:prstGeom>
            <a:solidFill>
              <a:srgbClr val="B9C9F0"/>
            </a:solidFill>
            <a:ln>
              <a:noFill/>
            </a:ln>
          </p:spPr>
        </p:sp>
        <p:sp>
          <p:nvSpPr>
            <p:cNvPr id="19" name="node01.row.item-002.h1.heat-gap"/>
            <p:cNvSpPr/>
            <p:nvPr/>
          </p:nvSpPr>
          <p:spPr>
            <a:xfrm>
              <a:off x="3543300" y="2616200"/>
              <a:ext cx="762000" cy="660400"/>
            </a:xfrm>
            <a:prstGeom prst="rect">
              <a:avLst/>
            </a:prstGeom>
            <a:solidFill>
              <a:srgbClr val="FFFFFF"/>
            </a:solidFill>
            <a:ln>
              <a:noFill/>
            </a:ln>
          </p:spPr>
        </p:sp>
        <p:sp>
          <p:nvSpPr>
            <p:cNvPr id="20" name="node01.row.item-002.h1.heat"/>
            <p:cNvSpPr/>
            <p:nvPr/>
          </p:nvSpPr>
          <p:spPr>
            <a:xfrm>
              <a:off x="3562350" y="2635250"/>
              <a:ext cx="723900" cy="622300"/>
            </a:xfrm>
            <a:prstGeom prst="rect">
              <a:avLst/>
            </a:prstGeom>
            <a:solidFill>
              <a:srgbClr val="B9C9F0"/>
            </a:solidFill>
            <a:ln>
              <a:noFill/>
            </a:ln>
          </p:spPr>
        </p:sp>
        <p:sp>
          <p:nvSpPr>
            <p:cNvPr id="21" name="node01.row.item-002.h2.heat-gap"/>
            <p:cNvSpPr/>
            <p:nvPr/>
          </p:nvSpPr>
          <p:spPr>
            <a:xfrm>
              <a:off x="4305300" y="2616200"/>
              <a:ext cx="762000" cy="660400"/>
            </a:xfrm>
            <a:prstGeom prst="rect">
              <a:avLst/>
            </a:prstGeom>
            <a:solidFill>
              <a:srgbClr val="FFFFFF"/>
            </a:solidFill>
            <a:ln>
              <a:noFill/>
            </a:ln>
          </p:spPr>
        </p:sp>
        <p:sp>
          <p:nvSpPr>
            <p:cNvPr id="22" name="node01.row.item-002.h2.heat"/>
            <p:cNvSpPr/>
            <p:nvPr/>
          </p:nvSpPr>
          <p:spPr>
            <a:xfrm>
              <a:off x="4324350" y="2635250"/>
              <a:ext cx="723900" cy="622300"/>
            </a:xfrm>
            <a:prstGeom prst="rect">
              <a:avLst/>
            </a:prstGeom>
            <a:solidFill>
              <a:srgbClr val="B9C9F0"/>
            </a:solidFill>
            <a:ln>
              <a:noFill/>
            </a:ln>
          </p:spPr>
        </p:sp>
        <p:sp>
          <p:nvSpPr>
            <p:cNvPr id="23" name="node01.row.item-002.h3.heat-gap"/>
            <p:cNvSpPr/>
            <p:nvPr/>
          </p:nvSpPr>
          <p:spPr>
            <a:xfrm>
              <a:off x="5067300" y="2616200"/>
              <a:ext cx="762000" cy="660400"/>
            </a:xfrm>
            <a:prstGeom prst="rect">
              <a:avLst/>
            </a:prstGeom>
            <a:solidFill>
              <a:srgbClr val="FFFFFF"/>
            </a:solidFill>
            <a:ln>
              <a:noFill/>
            </a:ln>
          </p:spPr>
        </p:sp>
        <p:sp>
          <p:nvSpPr>
            <p:cNvPr id="24" name="node01.row.item-002.h3.heat"/>
            <p:cNvSpPr/>
            <p:nvPr/>
          </p:nvSpPr>
          <p:spPr>
            <a:xfrm>
              <a:off x="5086350" y="2635250"/>
              <a:ext cx="723900" cy="622300"/>
            </a:xfrm>
            <a:prstGeom prst="rect">
              <a:avLst/>
            </a:prstGeom>
            <a:solidFill>
              <a:srgbClr val="B9C9F0"/>
            </a:solidFill>
            <a:ln>
              <a:noFill/>
            </a:ln>
          </p:spPr>
        </p:sp>
        <p:sp>
          <p:nvSpPr>
            <p:cNvPr id="25" name="node01.row.item-002.h4.heat-gap"/>
            <p:cNvSpPr/>
            <p:nvPr/>
          </p:nvSpPr>
          <p:spPr>
            <a:xfrm>
              <a:off x="5829300" y="2616200"/>
              <a:ext cx="762000" cy="660400"/>
            </a:xfrm>
            <a:prstGeom prst="rect">
              <a:avLst/>
            </a:prstGeom>
            <a:solidFill>
              <a:srgbClr val="FFFFFF"/>
            </a:solidFill>
            <a:ln>
              <a:noFill/>
            </a:ln>
          </p:spPr>
        </p:sp>
        <p:sp>
          <p:nvSpPr>
            <p:cNvPr id="26" name="node01.row.item-002.h4.heat"/>
            <p:cNvSpPr/>
            <p:nvPr/>
          </p:nvSpPr>
          <p:spPr>
            <a:xfrm>
              <a:off x="5848350" y="2635250"/>
              <a:ext cx="723900" cy="622300"/>
            </a:xfrm>
            <a:prstGeom prst="rect">
              <a:avLst/>
            </a:prstGeom>
            <a:solidFill>
              <a:srgbClr val="E8EEF8"/>
            </a:solidFill>
            <a:ln>
              <a:noFill/>
            </a:ln>
          </p:spPr>
        </p:sp>
        <p:sp>
          <p:nvSpPr>
            <p:cNvPr id="27" name="node01.row.item-003.h0.heat-gap"/>
            <p:cNvSpPr/>
            <p:nvPr/>
          </p:nvSpPr>
          <p:spPr>
            <a:xfrm>
              <a:off x="2781300" y="3276600"/>
              <a:ext cx="762000" cy="660400"/>
            </a:xfrm>
            <a:prstGeom prst="rect">
              <a:avLst/>
            </a:prstGeom>
            <a:solidFill>
              <a:srgbClr val="FFFFFF"/>
            </a:solidFill>
            <a:ln>
              <a:noFill/>
            </a:ln>
          </p:spPr>
        </p:sp>
        <p:sp>
          <p:nvSpPr>
            <p:cNvPr id="28" name="node01.row.item-003.h0.heat"/>
            <p:cNvSpPr/>
            <p:nvPr/>
          </p:nvSpPr>
          <p:spPr>
            <a:xfrm>
              <a:off x="2800350" y="3295650"/>
              <a:ext cx="723900" cy="622300"/>
            </a:xfrm>
            <a:prstGeom prst="rect">
              <a:avLst/>
            </a:prstGeom>
            <a:solidFill>
              <a:srgbClr val="B9C9F0"/>
            </a:solidFill>
            <a:ln>
              <a:noFill/>
            </a:ln>
          </p:spPr>
        </p:sp>
        <p:sp>
          <p:nvSpPr>
            <p:cNvPr id="29" name="node01.row.item-003.h1.heat-gap"/>
            <p:cNvSpPr/>
            <p:nvPr/>
          </p:nvSpPr>
          <p:spPr>
            <a:xfrm>
              <a:off x="3543300" y="3276600"/>
              <a:ext cx="762000" cy="660400"/>
            </a:xfrm>
            <a:prstGeom prst="rect">
              <a:avLst/>
            </a:prstGeom>
            <a:solidFill>
              <a:srgbClr val="FFFFFF"/>
            </a:solidFill>
            <a:ln>
              <a:noFill/>
            </a:ln>
          </p:spPr>
        </p:sp>
        <p:sp>
          <p:nvSpPr>
            <p:cNvPr id="30" name="node01.row.item-003.h1.heat"/>
            <p:cNvSpPr/>
            <p:nvPr/>
          </p:nvSpPr>
          <p:spPr>
            <a:xfrm>
              <a:off x="3562350" y="3295650"/>
              <a:ext cx="723900" cy="622300"/>
            </a:xfrm>
            <a:prstGeom prst="rect">
              <a:avLst/>
            </a:prstGeom>
            <a:solidFill>
              <a:srgbClr val="B9C9F0"/>
            </a:solidFill>
            <a:ln>
              <a:noFill/>
            </a:ln>
          </p:spPr>
        </p:sp>
        <p:sp>
          <p:nvSpPr>
            <p:cNvPr id="31" name="node01.row.item-003.h2.heat-gap"/>
            <p:cNvSpPr/>
            <p:nvPr/>
          </p:nvSpPr>
          <p:spPr>
            <a:xfrm>
              <a:off x="4305300" y="3276600"/>
              <a:ext cx="762000" cy="660400"/>
            </a:xfrm>
            <a:prstGeom prst="rect">
              <a:avLst/>
            </a:prstGeom>
            <a:solidFill>
              <a:srgbClr val="FFFFFF"/>
            </a:solidFill>
            <a:ln>
              <a:noFill/>
            </a:ln>
          </p:spPr>
        </p:sp>
        <p:sp>
          <p:nvSpPr>
            <p:cNvPr id="32" name="node01.row.item-003.h2.heat"/>
            <p:cNvSpPr/>
            <p:nvPr/>
          </p:nvSpPr>
          <p:spPr>
            <a:xfrm>
              <a:off x="4324350" y="3295650"/>
              <a:ext cx="723900" cy="622300"/>
            </a:xfrm>
            <a:prstGeom prst="rect">
              <a:avLst/>
            </a:prstGeom>
            <a:solidFill>
              <a:srgbClr val="E8EEF8"/>
            </a:solidFill>
            <a:ln>
              <a:noFill/>
            </a:ln>
          </p:spPr>
        </p:sp>
        <p:sp>
          <p:nvSpPr>
            <p:cNvPr id="33" name="node01.row.item-003.h3.heat-gap"/>
            <p:cNvSpPr/>
            <p:nvPr/>
          </p:nvSpPr>
          <p:spPr>
            <a:xfrm>
              <a:off x="5067300" y="3276600"/>
              <a:ext cx="762000" cy="660400"/>
            </a:xfrm>
            <a:prstGeom prst="rect">
              <a:avLst/>
            </a:prstGeom>
            <a:solidFill>
              <a:srgbClr val="FFFFFF"/>
            </a:solidFill>
            <a:ln>
              <a:noFill/>
            </a:ln>
          </p:spPr>
        </p:sp>
        <p:sp>
          <p:nvSpPr>
            <p:cNvPr id="34" name="node01.row.item-003.h3.heat"/>
            <p:cNvSpPr/>
            <p:nvPr/>
          </p:nvSpPr>
          <p:spPr>
            <a:xfrm>
              <a:off x="5086350" y="3295650"/>
              <a:ext cx="723900" cy="622300"/>
            </a:xfrm>
            <a:prstGeom prst="rect">
              <a:avLst/>
            </a:prstGeom>
            <a:solidFill>
              <a:srgbClr val="7C9BFF"/>
            </a:solidFill>
            <a:ln>
              <a:noFill/>
            </a:ln>
          </p:spPr>
        </p:sp>
        <p:sp>
          <p:nvSpPr>
            <p:cNvPr id="35" name="node01.row.item-003.h4.heat-gap"/>
            <p:cNvSpPr/>
            <p:nvPr/>
          </p:nvSpPr>
          <p:spPr>
            <a:xfrm>
              <a:off x="5829300" y="3276600"/>
              <a:ext cx="762000" cy="660400"/>
            </a:xfrm>
            <a:prstGeom prst="rect">
              <a:avLst/>
            </a:prstGeom>
            <a:solidFill>
              <a:srgbClr val="FFFFFF"/>
            </a:solidFill>
            <a:ln>
              <a:noFill/>
            </a:ln>
          </p:spPr>
        </p:sp>
        <p:sp>
          <p:nvSpPr>
            <p:cNvPr id="36" name="node01.row.item-003.h4.heat"/>
            <p:cNvSpPr/>
            <p:nvPr/>
          </p:nvSpPr>
          <p:spPr>
            <a:xfrm>
              <a:off x="5848350" y="3295650"/>
              <a:ext cx="723900" cy="622300"/>
            </a:xfrm>
            <a:prstGeom prst="rect">
              <a:avLst/>
            </a:prstGeom>
            <a:solidFill>
              <a:srgbClr val="B9C9F0"/>
            </a:solidFill>
            <a:ln>
              <a:noFill/>
            </a:ln>
          </p:spPr>
        </p:sp>
        <p:sp>
          <p:nvSpPr>
            <p:cNvPr id="37" name="node01.row.item-004.h0.heat-gap"/>
            <p:cNvSpPr/>
            <p:nvPr/>
          </p:nvSpPr>
          <p:spPr>
            <a:xfrm>
              <a:off x="2781300" y="3937000"/>
              <a:ext cx="762000" cy="660400"/>
            </a:xfrm>
            <a:prstGeom prst="rect">
              <a:avLst/>
            </a:prstGeom>
            <a:solidFill>
              <a:srgbClr val="FFFFFF"/>
            </a:solidFill>
            <a:ln>
              <a:noFill/>
            </a:ln>
          </p:spPr>
        </p:sp>
        <p:sp>
          <p:nvSpPr>
            <p:cNvPr id="38" name="node01.row.item-004.h0.heat"/>
            <p:cNvSpPr/>
            <p:nvPr/>
          </p:nvSpPr>
          <p:spPr>
            <a:xfrm>
              <a:off x="2800350" y="3956050"/>
              <a:ext cx="723900" cy="622300"/>
            </a:xfrm>
            <a:prstGeom prst="rect">
              <a:avLst/>
            </a:prstGeom>
            <a:solidFill>
              <a:srgbClr val="7C9BFF"/>
            </a:solidFill>
            <a:ln>
              <a:noFill/>
            </a:ln>
          </p:spPr>
        </p:sp>
        <p:sp>
          <p:nvSpPr>
            <p:cNvPr id="39" name="node01.row.item-004.h1.heat-gap"/>
            <p:cNvSpPr/>
            <p:nvPr/>
          </p:nvSpPr>
          <p:spPr>
            <a:xfrm>
              <a:off x="3543300" y="3937000"/>
              <a:ext cx="762000" cy="660400"/>
            </a:xfrm>
            <a:prstGeom prst="rect">
              <a:avLst/>
            </a:prstGeom>
            <a:solidFill>
              <a:srgbClr val="FFFFFF"/>
            </a:solidFill>
            <a:ln>
              <a:noFill/>
            </a:ln>
          </p:spPr>
        </p:sp>
        <p:sp>
          <p:nvSpPr>
            <p:cNvPr id="40" name="node01.row.item-004.h1.heat"/>
            <p:cNvSpPr/>
            <p:nvPr/>
          </p:nvSpPr>
          <p:spPr>
            <a:xfrm>
              <a:off x="3562350" y="3956050"/>
              <a:ext cx="723900" cy="622300"/>
            </a:xfrm>
            <a:prstGeom prst="rect">
              <a:avLst/>
            </a:prstGeom>
            <a:solidFill>
              <a:srgbClr val="B9C9F0"/>
            </a:solidFill>
            <a:ln>
              <a:noFill/>
            </a:ln>
          </p:spPr>
        </p:sp>
        <p:sp>
          <p:nvSpPr>
            <p:cNvPr id="41" name="node01.row.item-004.h2.heat-gap"/>
            <p:cNvSpPr/>
            <p:nvPr/>
          </p:nvSpPr>
          <p:spPr>
            <a:xfrm>
              <a:off x="4305300" y="3937000"/>
              <a:ext cx="762000" cy="660400"/>
            </a:xfrm>
            <a:prstGeom prst="rect">
              <a:avLst/>
            </a:prstGeom>
            <a:solidFill>
              <a:srgbClr val="FFFFFF"/>
            </a:solidFill>
            <a:ln>
              <a:noFill/>
            </a:ln>
          </p:spPr>
        </p:sp>
        <p:sp>
          <p:nvSpPr>
            <p:cNvPr id="42" name="node01.row.item-004.h2.heat"/>
            <p:cNvSpPr/>
            <p:nvPr/>
          </p:nvSpPr>
          <p:spPr>
            <a:xfrm>
              <a:off x="4324350" y="3956050"/>
              <a:ext cx="723900" cy="622300"/>
            </a:xfrm>
            <a:prstGeom prst="rect">
              <a:avLst/>
            </a:prstGeom>
            <a:solidFill>
              <a:srgbClr val="B9C9F0"/>
            </a:solidFill>
            <a:ln>
              <a:noFill/>
            </a:ln>
          </p:spPr>
        </p:sp>
        <p:sp>
          <p:nvSpPr>
            <p:cNvPr id="43" name="node01.row.item-004.h3.heat-gap"/>
            <p:cNvSpPr/>
            <p:nvPr/>
          </p:nvSpPr>
          <p:spPr>
            <a:xfrm>
              <a:off x="5067300" y="3937000"/>
              <a:ext cx="762000" cy="660400"/>
            </a:xfrm>
            <a:prstGeom prst="rect">
              <a:avLst/>
            </a:prstGeom>
            <a:solidFill>
              <a:srgbClr val="FFFFFF"/>
            </a:solidFill>
            <a:ln>
              <a:noFill/>
            </a:ln>
          </p:spPr>
        </p:sp>
        <p:sp>
          <p:nvSpPr>
            <p:cNvPr id="44" name="node01.row.item-004.h3.heat"/>
            <p:cNvSpPr/>
            <p:nvPr/>
          </p:nvSpPr>
          <p:spPr>
            <a:xfrm>
              <a:off x="5086350" y="3956050"/>
              <a:ext cx="723900" cy="622300"/>
            </a:xfrm>
            <a:prstGeom prst="rect">
              <a:avLst/>
            </a:prstGeom>
            <a:solidFill>
              <a:srgbClr val="B9C9F0"/>
            </a:solidFill>
            <a:ln>
              <a:noFill/>
            </a:ln>
          </p:spPr>
        </p:sp>
        <p:sp>
          <p:nvSpPr>
            <p:cNvPr id="45" name="node01.row.item-004.h4.heat-gap"/>
            <p:cNvSpPr/>
            <p:nvPr/>
          </p:nvSpPr>
          <p:spPr>
            <a:xfrm>
              <a:off x="5829300" y="3937000"/>
              <a:ext cx="762000" cy="660400"/>
            </a:xfrm>
            <a:prstGeom prst="rect">
              <a:avLst/>
            </a:prstGeom>
            <a:solidFill>
              <a:srgbClr val="FFFFFF"/>
            </a:solidFill>
            <a:ln>
              <a:noFill/>
            </a:ln>
          </p:spPr>
        </p:sp>
        <p:sp>
          <p:nvSpPr>
            <p:cNvPr id="46" name="node01.row.item-004.h4.heat"/>
            <p:cNvSpPr/>
            <p:nvPr/>
          </p:nvSpPr>
          <p:spPr>
            <a:xfrm>
              <a:off x="5848350" y="3956050"/>
              <a:ext cx="723900" cy="622300"/>
            </a:xfrm>
            <a:prstGeom prst="rect">
              <a:avLst/>
            </a:prstGeom>
            <a:solidFill>
              <a:srgbClr val="7C9BFF"/>
            </a:solidFill>
            <a:ln>
              <a:noFill/>
            </a:ln>
          </p:spPr>
        </p:sp>
        <p:sp>
          <p:nvSpPr>
            <p:cNvPr id="47" name="node01.row.item-005.h0.heat-gap"/>
            <p:cNvSpPr/>
            <p:nvPr/>
          </p:nvSpPr>
          <p:spPr>
            <a:xfrm>
              <a:off x="2781300" y="4597400"/>
              <a:ext cx="762000" cy="660400"/>
            </a:xfrm>
            <a:prstGeom prst="rect">
              <a:avLst/>
            </a:prstGeom>
            <a:solidFill>
              <a:srgbClr val="FFFFFF"/>
            </a:solidFill>
            <a:ln>
              <a:noFill/>
            </a:ln>
          </p:spPr>
        </p:sp>
        <p:sp>
          <p:nvSpPr>
            <p:cNvPr id="48" name="node01.row.item-005.h0.heat"/>
            <p:cNvSpPr/>
            <p:nvPr/>
          </p:nvSpPr>
          <p:spPr>
            <a:xfrm>
              <a:off x="2800350" y="4616450"/>
              <a:ext cx="723900" cy="622300"/>
            </a:xfrm>
            <a:prstGeom prst="rect">
              <a:avLst/>
            </a:prstGeom>
            <a:solidFill>
              <a:srgbClr val="0047FF"/>
            </a:solidFill>
            <a:ln>
              <a:noFill/>
            </a:ln>
          </p:spPr>
        </p:sp>
        <p:sp>
          <p:nvSpPr>
            <p:cNvPr id="49" name="node01.row.item-005.h1.heat-gap"/>
            <p:cNvSpPr/>
            <p:nvPr/>
          </p:nvSpPr>
          <p:spPr>
            <a:xfrm>
              <a:off x="3543300" y="4597400"/>
              <a:ext cx="762000" cy="660400"/>
            </a:xfrm>
            <a:prstGeom prst="rect">
              <a:avLst/>
            </a:prstGeom>
            <a:solidFill>
              <a:srgbClr val="FFFFFF"/>
            </a:solidFill>
            <a:ln>
              <a:noFill/>
            </a:ln>
          </p:spPr>
        </p:sp>
        <p:sp>
          <p:nvSpPr>
            <p:cNvPr id="50" name="node01.row.item-005.h1.heat"/>
            <p:cNvSpPr/>
            <p:nvPr/>
          </p:nvSpPr>
          <p:spPr>
            <a:xfrm>
              <a:off x="3562350" y="4616450"/>
              <a:ext cx="723900" cy="622300"/>
            </a:xfrm>
            <a:prstGeom prst="rect">
              <a:avLst/>
            </a:prstGeom>
            <a:solidFill>
              <a:srgbClr val="070154"/>
            </a:solidFill>
            <a:ln>
              <a:noFill/>
            </a:ln>
          </p:spPr>
        </p:sp>
        <p:sp>
          <p:nvSpPr>
            <p:cNvPr id="51" name="node01.row.item-005.h2.heat-gap"/>
            <p:cNvSpPr/>
            <p:nvPr/>
          </p:nvSpPr>
          <p:spPr>
            <a:xfrm>
              <a:off x="4305300" y="4597400"/>
              <a:ext cx="762000" cy="660400"/>
            </a:xfrm>
            <a:prstGeom prst="rect">
              <a:avLst/>
            </a:prstGeom>
            <a:solidFill>
              <a:srgbClr val="FFFFFF"/>
            </a:solidFill>
            <a:ln>
              <a:noFill/>
            </a:ln>
          </p:spPr>
        </p:sp>
        <p:sp>
          <p:nvSpPr>
            <p:cNvPr id="52" name="node01.row.item-005.h2.heat"/>
            <p:cNvSpPr/>
            <p:nvPr/>
          </p:nvSpPr>
          <p:spPr>
            <a:xfrm>
              <a:off x="4324350" y="4616450"/>
              <a:ext cx="723900" cy="622300"/>
            </a:xfrm>
            <a:prstGeom prst="rect">
              <a:avLst/>
            </a:prstGeom>
            <a:solidFill>
              <a:srgbClr val="7C9BFF"/>
            </a:solidFill>
            <a:ln>
              <a:noFill/>
            </a:ln>
          </p:spPr>
        </p:sp>
        <p:sp>
          <p:nvSpPr>
            <p:cNvPr id="53" name="node01.row.item-005.h3.heat-gap"/>
            <p:cNvSpPr/>
            <p:nvPr/>
          </p:nvSpPr>
          <p:spPr>
            <a:xfrm>
              <a:off x="5067300" y="4597400"/>
              <a:ext cx="762000" cy="660400"/>
            </a:xfrm>
            <a:prstGeom prst="rect">
              <a:avLst/>
            </a:prstGeom>
            <a:solidFill>
              <a:srgbClr val="FFFFFF"/>
            </a:solidFill>
            <a:ln>
              <a:noFill/>
            </a:ln>
          </p:spPr>
        </p:sp>
        <p:sp>
          <p:nvSpPr>
            <p:cNvPr id="54" name="node01.row.item-005.h3.heat"/>
            <p:cNvSpPr/>
            <p:nvPr/>
          </p:nvSpPr>
          <p:spPr>
            <a:xfrm>
              <a:off x="5086350" y="4616450"/>
              <a:ext cx="723900" cy="622300"/>
            </a:xfrm>
            <a:prstGeom prst="rect">
              <a:avLst/>
            </a:prstGeom>
            <a:solidFill>
              <a:srgbClr val="7C9BFF"/>
            </a:solidFill>
            <a:ln>
              <a:noFill/>
            </a:ln>
          </p:spPr>
        </p:sp>
        <p:sp>
          <p:nvSpPr>
            <p:cNvPr id="55" name="node01.row.item-005.h4.heat-gap"/>
            <p:cNvSpPr/>
            <p:nvPr/>
          </p:nvSpPr>
          <p:spPr>
            <a:xfrm>
              <a:off x="5829300" y="4597400"/>
              <a:ext cx="762000" cy="660400"/>
            </a:xfrm>
            <a:prstGeom prst="rect">
              <a:avLst/>
            </a:prstGeom>
            <a:solidFill>
              <a:srgbClr val="FFFFFF"/>
            </a:solidFill>
            <a:ln>
              <a:noFill/>
            </a:ln>
          </p:spPr>
        </p:sp>
        <p:sp>
          <p:nvSpPr>
            <p:cNvPr id="56" name="node01.row.item-005.h4.heat"/>
            <p:cNvSpPr/>
            <p:nvPr/>
          </p:nvSpPr>
          <p:spPr>
            <a:xfrm>
              <a:off x="5848350" y="4616450"/>
              <a:ext cx="723900" cy="622300"/>
            </a:xfrm>
            <a:prstGeom prst="rect">
              <a:avLst/>
            </a:prstGeom>
            <a:solidFill>
              <a:srgbClr val="0047FF"/>
            </a:solidFill>
            <a:ln>
              <a:noFill/>
            </a:ln>
          </p:spPr>
        </p:sp>
        <p:graphicFrame>
          <p:nvGraphicFramePr>
            <p:cNvPr id="5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657600"/>
          </p:xfrm>
          <a:graphic>
            <a:graphicData uri="http://schemas.openxmlformats.org/drawingml/2006/table">
              <a:tbl>
                <a:tblPr/>
                <a:tblGrid>
                  <a:gridCol w="2057400"/>
                  <a:gridCol w="762000"/>
                  <a:gridCol w="762000"/>
                  <a:gridCol w="762000"/>
                  <a:gridCol w="762000"/>
                  <a:gridCol w="762000"/>
                  <a:gridCol w="1066800"/>
                  <a:gridCol w="38100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CAPABILITY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PROCESS</a:t>
                        </a:r>
                        <a:endParaRPr lang="en-US" sz="800" spc="48" kern="0" b="0" i="0" dirty="0">
                          <a:solidFill>
                            <a:srgbClr val="070154"/>
                          </a:solidFill>
                          <a:latin typeface="IBM Plex Mono SemiBold"/>
                          <a:ea typeface="IBM Plex Mono SemiBold"/>
                          <a:cs typeface="IBM Plex Mono SemiBold"/>
                        </a:endParaRPr>
                      </a:p>
                    </a:txBody>
                    <a:tcPr marL="135827" marR="13582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TECHNOLOGY</a:t>
                        </a:r>
                        <a:endParaRPr lang="en-US" sz="800" spc="48" kern="0" b="0" i="0" dirty="0">
                          <a:solidFill>
                            <a:srgbClr val="070154"/>
                          </a:solidFill>
                          <a:latin typeface="IBM Plex Mono SemiBold"/>
                          <a:ea typeface="IBM Plex Mono SemiBold"/>
                          <a:cs typeface="IBM Plex Mono SemiBold"/>
                        </a:endParaRPr>
                      </a:p>
                    </a:txBody>
                    <a:tcPr marL="36196" marR="361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DATA</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PEOPLE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GOVERNANCE</a:t>
                        </a:r>
                        <a:endParaRPr lang="en-US" sz="800" spc="48" kern="0" b="0" i="0" dirty="0">
                          <a:solidFill>
                            <a:srgbClr val="070154"/>
                          </a:solidFill>
                          <a:latin typeface="IBM Plex Mono SemiBold"/>
                          <a:ea typeface="IBM Plex Mono SemiBold"/>
                          <a:cs typeface="IBM Plex Mono SemiBold"/>
                        </a:endParaRPr>
                      </a:p>
                    </a:txBody>
                    <a:tcPr marL="36196" marR="361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PRIORITY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WHAT WE FOUND</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Referral management</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Front door</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Referrals arrive by fax and portal</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 shared status view</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Denials management</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Revenue</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Denial reasons are not coded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Rework has no owner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Care coordination</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Care delivery</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Handoffs run on phone and email</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Care plans live in three tools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Supply chain</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Care delivery</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Item master has duplicates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Contracts tracked by site, not system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Revenue cycle</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Revenue</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5</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Rules engine at posting is mature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Month-end review is still manual</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58" name="node01.row.item-001.st.priority.fill"/>
            <p:cNvSpPr/>
            <p:nvPr/>
          </p:nvSpPr>
          <p:spPr>
            <a:xfrm>
              <a:off x="6870700" y="2190750"/>
              <a:ext cx="508000" cy="190500"/>
            </a:xfrm>
            <a:prstGeom prst="rect">
              <a:avLst/>
            </a:prstGeom>
            <a:solidFill>
              <a:srgbClr val="070154"/>
            </a:solidFill>
            <a:ln w="9525">
              <a:solidFill>
                <a:srgbClr val="070154"/>
              </a:solidFill>
              <a:prstDash val="solid"/>
            </a:ln>
          </p:spPr>
        </p:sp>
        <p:sp>
          <p:nvSpPr>
            <p:cNvPr id="59" name="node01.row.item-001.st.priority"/>
            <p:cNvSpPr/>
            <p:nvPr/>
          </p:nvSpPr>
          <p:spPr>
            <a:xfrm>
              <a:off x="6972300" y="22161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P1</a:t>
              </a:r>
              <a:endParaRPr lang="en-US" sz="800" spc="48" kern="0" b="0" i="0" dirty="0">
                <a:solidFill>
                  <a:srgbClr val="FFFFFF"/>
                </a:solidFill>
                <a:latin typeface="IBM Plex Mono SemiBold"/>
                <a:ea typeface="IBM Plex Mono SemiBold"/>
                <a:cs typeface="IBM Plex Mono SemiBold"/>
              </a:endParaRPr>
            </a:p>
          </p:txBody>
        </p:sp>
        <p:sp>
          <p:nvSpPr>
            <p:cNvPr id="60" name="node01.row.item-002.st.priority.fill"/>
            <p:cNvSpPr/>
            <p:nvPr/>
          </p:nvSpPr>
          <p:spPr>
            <a:xfrm>
              <a:off x="6870700" y="2851150"/>
              <a:ext cx="508000" cy="190500"/>
            </a:xfrm>
            <a:prstGeom prst="rect">
              <a:avLst/>
            </a:prstGeom>
            <a:solidFill>
              <a:srgbClr val="070154"/>
            </a:solidFill>
            <a:ln w="9525">
              <a:solidFill>
                <a:srgbClr val="070154"/>
              </a:solidFill>
              <a:prstDash val="solid"/>
            </a:ln>
          </p:spPr>
        </p:sp>
        <p:sp>
          <p:nvSpPr>
            <p:cNvPr id="61" name="node01.row.item-002.st.priority"/>
            <p:cNvSpPr/>
            <p:nvPr/>
          </p:nvSpPr>
          <p:spPr>
            <a:xfrm>
              <a:off x="6972300" y="28765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P1</a:t>
              </a:r>
              <a:endParaRPr lang="en-US" sz="800" spc="48" kern="0" b="0" i="0" dirty="0">
                <a:solidFill>
                  <a:srgbClr val="FFFFFF"/>
                </a:solidFill>
                <a:latin typeface="IBM Plex Mono SemiBold"/>
                <a:ea typeface="IBM Plex Mono SemiBold"/>
                <a:cs typeface="IBM Plex Mono SemiBold"/>
              </a:endParaRPr>
            </a:p>
          </p:txBody>
        </p:sp>
        <p:sp>
          <p:nvSpPr>
            <p:cNvPr id="62" name="node01.row.item-003.st.priority.fill"/>
            <p:cNvSpPr/>
            <p:nvPr/>
          </p:nvSpPr>
          <p:spPr>
            <a:xfrm>
              <a:off x="6870700" y="3511550"/>
              <a:ext cx="508000" cy="190500"/>
            </a:xfrm>
            <a:prstGeom prst="rect">
              <a:avLst/>
            </a:prstGeom>
            <a:solidFill>
              <a:srgbClr val="32477B"/>
            </a:solidFill>
            <a:ln w="9525">
              <a:solidFill>
                <a:srgbClr val="070154"/>
              </a:solidFill>
              <a:prstDash val="solid"/>
            </a:ln>
          </p:spPr>
        </p:sp>
        <p:sp>
          <p:nvSpPr>
            <p:cNvPr id="63" name="node01.row.item-003.st.priority"/>
            <p:cNvSpPr/>
            <p:nvPr/>
          </p:nvSpPr>
          <p:spPr>
            <a:xfrm>
              <a:off x="6972300" y="35369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P2</a:t>
              </a:r>
              <a:endParaRPr lang="en-US" sz="800" spc="48" kern="0" b="0" i="0" dirty="0">
                <a:solidFill>
                  <a:srgbClr val="FFFFFF"/>
                </a:solidFill>
                <a:latin typeface="IBM Plex Mono SemiBold"/>
                <a:ea typeface="IBM Plex Mono SemiBold"/>
                <a:cs typeface="IBM Plex Mono SemiBold"/>
              </a:endParaRPr>
            </a:p>
          </p:txBody>
        </p:sp>
        <p:sp>
          <p:nvSpPr>
            <p:cNvPr id="64" name="node01.row.item-004.st.priority.fill"/>
            <p:cNvSpPr/>
            <p:nvPr/>
          </p:nvSpPr>
          <p:spPr>
            <a:xfrm>
              <a:off x="6870700" y="4171950"/>
              <a:ext cx="508000" cy="190500"/>
            </a:xfrm>
            <a:prstGeom prst="rect">
              <a:avLst/>
            </a:prstGeom>
            <a:solidFill>
              <a:srgbClr val="CED7E6"/>
            </a:solidFill>
            <a:ln w="9525">
              <a:solidFill>
                <a:srgbClr val="070154"/>
              </a:solidFill>
              <a:prstDash val="solid"/>
            </a:ln>
          </p:spPr>
        </p:sp>
        <p:sp>
          <p:nvSpPr>
            <p:cNvPr id="65" name="node01.row.item-004.st.priority"/>
            <p:cNvSpPr/>
            <p:nvPr/>
          </p:nvSpPr>
          <p:spPr>
            <a:xfrm>
              <a:off x="6972300" y="41973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P3</a:t>
              </a:r>
              <a:endParaRPr lang="en-US" sz="800" spc="48" kern="0" b="0" i="0" dirty="0">
                <a:solidFill>
                  <a:srgbClr val="070154"/>
                </a:solidFill>
                <a:latin typeface="IBM Plex Mono SemiBold"/>
                <a:ea typeface="IBM Plex Mono SemiBold"/>
                <a:cs typeface="IBM Plex Mono SemiBold"/>
              </a:endParaRPr>
            </a:p>
          </p:txBody>
        </p:sp>
        <p:sp>
          <p:nvSpPr>
            <p:cNvPr id="66" name="node01.row.item-005.st.priority.fill"/>
            <p:cNvSpPr/>
            <p:nvPr/>
          </p:nvSpPr>
          <p:spPr>
            <a:xfrm>
              <a:off x="6870700" y="4832350"/>
              <a:ext cx="508000" cy="190500"/>
            </a:xfrm>
            <a:prstGeom prst="rect">
              <a:avLst/>
            </a:prstGeom>
            <a:ln w="9525">
              <a:solidFill>
                <a:srgbClr val="070154"/>
              </a:solidFill>
              <a:prstDash val="solid"/>
            </a:ln>
          </p:spPr>
        </p:sp>
        <p:sp>
          <p:nvSpPr>
            <p:cNvPr id="67" name="node01.row.item-005.st.priority"/>
            <p:cNvSpPr/>
            <p:nvPr/>
          </p:nvSpPr>
          <p:spPr>
            <a:xfrm>
              <a:off x="6972300" y="48577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P4</a:t>
              </a:r>
              <a:endParaRPr lang="en-US" sz="800" spc="48" kern="0" b="0" i="0" dirty="0">
                <a:solidFill>
                  <a:srgbClr val="070154"/>
                </a:solidFill>
                <a:latin typeface="IBM Plex Mono SemiBold"/>
                <a:ea typeface="IBM Plex Mono SemiBold"/>
                <a:cs typeface="IBM Plex Mono SemiBold"/>
              </a:endParaRPr>
            </a:p>
          </p:txBody>
        </p:sp>
      </p:grpSp>
      <p:grpSp>
        <p:nvGrpSpPr>
          <p:cNvPr id="80" name="node02"/>
          <p:cNvGrpSpPr/>
          <p:nvPr/>
        </p:nvGrpSpPr>
        <p:grpSpPr>
          <a:xfrm>
            <a:off x="723900" y="5486400"/>
            <a:ext cx="6062663" cy="190500"/>
            <a:chOff x="723900" y="5486400"/>
            <a:chExt cx="6062663" cy="190500"/>
          </a:xfrm>
        </p:grpSpPr>
        <p:sp>
          <p:nvSpPr>
            <p:cNvPr id="68" name="node02.items.slot-001.swatch"/>
            <p:cNvSpPr/>
            <p:nvPr/>
          </p:nvSpPr>
          <p:spPr>
            <a:xfrm>
              <a:off x="723900" y="5518150"/>
              <a:ext cx="228600" cy="127000"/>
            </a:xfrm>
            <a:prstGeom prst="rect">
              <a:avLst/>
            </a:prstGeom>
            <a:solidFill>
              <a:srgbClr val="E8EEF8"/>
            </a:solidFill>
            <a:ln>
              <a:noFill/>
            </a:ln>
          </p:spPr>
        </p:sp>
        <p:sp>
          <p:nvSpPr>
            <p:cNvPr id="69" name="node02.items.slot-001.text"/>
            <p:cNvSpPr/>
            <p:nvPr/>
          </p:nvSpPr>
          <p:spPr>
            <a:xfrm>
              <a:off x="1016000" y="5486400"/>
              <a:ext cx="5984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Ad hoc</a:t>
              </a:r>
              <a:endParaRPr lang="en-US" sz="1100" spc="0" kern="0" b="0" i="0" dirty="0">
                <a:solidFill>
                  <a:srgbClr val="070154"/>
                </a:solidFill>
                <a:latin typeface="IBM Plex Sans"/>
                <a:ea typeface="IBM Plex Sans"/>
                <a:cs typeface="IBM Plex Sans"/>
              </a:endParaRPr>
            </a:p>
          </p:txBody>
        </p:sp>
        <p:sp>
          <p:nvSpPr>
            <p:cNvPr id="70" name="node02.items.slot-002.swatch"/>
            <p:cNvSpPr/>
            <p:nvPr/>
          </p:nvSpPr>
          <p:spPr>
            <a:xfrm>
              <a:off x="1843088" y="5518150"/>
              <a:ext cx="228600" cy="127000"/>
            </a:xfrm>
            <a:prstGeom prst="rect">
              <a:avLst/>
            </a:prstGeom>
            <a:solidFill>
              <a:srgbClr val="B9C9F0"/>
            </a:solidFill>
            <a:ln>
              <a:noFill/>
            </a:ln>
          </p:spPr>
        </p:sp>
        <p:sp>
          <p:nvSpPr>
            <p:cNvPr id="71" name="node02.items.slot-002.text"/>
            <p:cNvSpPr/>
            <p:nvPr/>
          </p:nvSpPr>
          <p:spPr>
            <a:xfrm>
              <a:off x="2135188" y="5486400"/>
              <a:ext cx="8842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 Repeatable</a:t>
              </a:r>
              <a:endParaRPr lang="en-US" sz="1100" spc="0" kern="0" b="0" i="0" dirty="0">
                <a:solidFill>
                  <a:srgbClr val="070154"/>
                </a:solidFill>
                <a:latin typeface="IBM Plex Sans"/>
                <a:ea typeface="IBM Plex Sans"/>
                <a:cs typeface="IBM Plex Sans"/>
              </a:endParaRPr>
            </a:p>
          </p:txBody>
        </p:sp>
        <p:sp>
          <p:nvSpPr>
            <p:cNvPr id="72" name="node02.items.slot-003.swatch"/>
            <p:cNvSpPr/>
            <p:nvPr/>
          </p:nvSpPr>
          <p:spPr>
            <a:xfrm>
              <a:off x="3248025" y="5518150"/>
              <a:ext cx="228600" cy="127000"/>
            </a:xfrm>
            <a:prstGeom prst="rect">
              <a:avLst/>
            </a:prstGeom>
            <a:solidFill>
              <a:srgbClr val="7C9BFF"/>
            </a:solidFill>
            <a:ln>
              <a:noFill/>
            </a:ln>
          </p:spPr>
        </p:sp>
        <p:sp>
          <p:nvSpPr>
            <p:cNvPr id="73" name="node02.items.slot-003.text"/>
            <p:cNvSpPr/>
            <p:nvPr/>
          </p:nvSpPr>
          <p:spPr>
            <a:xfrm>
              <a:off x="3540125" y="5486400"/>
              <a:ext cx="6540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 Defined</a:t>
              </a:r>
              <a:endParaRPr lang="en-US" sz="1100" spc="0" kern="0" b="0" i="0" dirty="0">
                <a:solidFill>
                  <a:srgbClr val="070154"/>
                </a:solidFill>
                <a:latin typeface="IBM Plex Sans"/>
                <a:ea typeface="IBM Plex Sans"/>
                <a:cs typeface="IBM Plex Sans"/>
              </a:endParaRPr>
            </a:p>
          </p:txBody>
        </p:sp>
        <p:sp>
          <p:nvSpPr>
            <p:cNvPr id="74" name="node02.items.slot-004.swatch"/>
            <p:cNvSpPr/>
            <p:nvPr/>
          </p:nvSpPr>
          <p:spPr>
            <a:xfrm>
              <a:off x="4422775" y="5518150"/>
              <a:ext cx="228600" cy="127000"/>
            </a:xfrm>
            <a:prstGeom prst="rect">
              <a:avLst/>
            </a:prstGeom>
            <a:solidFill>
              <a:srgbClr val="0047FF"/>
            </a:solidFill>
            <a:ln>
              <a:noFill/>
            </a:ln>
          </p:spPr>
        </p:sp>
        <p:sp>
          <p:nvSpPr>
            <p:cNvPr id="75" name="node02.items.slot-004.text"/>
            <p:cNvSpPr/>
            <p:nvPr/>
          </p:nvSpPr>
          <p:spPr>
            <a:xfrm>
              <a:off x="4714875" y="5486400"/>
              <a:ext cx="7397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4 Managed</a:t>
              </a:r>
              <a:endParaRPr lang="en-US" sz="1100" spc="0" kern="0" b="0" i="0" dirty="0">
                <a:solidFill>
                  <a:srgbClr val="070154"/>
                </a:solidFill>
                <a:latin typeface="IBM Plex Sans"/>
                <a:ea typeface="IBM Plex Sans"/>
                <a:cs typeface="IBM Plex Sans"/>
              </a:endParaRPr>
            </a:p>
          </p:txBody>
        </p:sp>
        <p:sp>
          <p:nvSpPr>
            <p:cNvPr id="76" name="node02.items.slot-005.swatch"/>
            <p:cNvSpPr/>
            <p:nvPr/>
          </p:nvSpPr>
          <p:spPr>
            <a:xfrm>
              <a:off x="5683250" y="5518150"/>
              <a:ext cx="228600" cy="127000"/>
            </a:xfrm>
            <a:prstGeom prst="rect">
              <a:avLst/>
            </a:prstGeom>
            <a:solidFill>
              <a:srgbClr val="070154"/>
            </a:solidFill>
            <a:ln>
              <a:noFill/>
            </a:ln>
          </p:spPr>
        </p:sp>
        <p:sp>
          <p:nvSpPr>
            <p:cNvPr id="77" name="node02.items.slot-005.text"/>
            <p:cNvSpPr/>
            <p:nvPr/>
          </p:nvSpPr>
          <p:spPr>
            <a:xfrm>
              <a:off x="5975350" y="5486400"/>
              <a:ext cx="8112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Optimized</a:t>
              </a:r>
              <a:endParaRPr lang="en-US" sz="1100" spc="0" kern="0" b="0" i="0" dirty="0">
                <a:solidFill>
                  <a:srgbClr val="070154"/>
                </a:solidFill>
                <a:latin typeface="IBM Plex Sans"/>
                <a:ea typeface="IBM Plex Sans"/>
                <a:cs typeface="IBM Plex Sans"/>
              </a:endParaRPr>
            </a:p>
          </p:txBody>
        </p:sp>
      </p:grpSp>
      <p:grpSp>
        <p:nvGrpSpPr>
          <p:cNvPr id="81" name="node03"/>
          <p:cNvGrpSpPr/>
          <p:nvPr/>
        </p:nvGrpSpPr>
        <p:grpSpPr>
          <a:xfrm>
            <a:off x="8039100" y="5486400"/>
            <a:ext cx="3429000" cy="190500"/>
            <a:chOff x="8039100" y="5486400"/>
            <a:chExt cx="3429000" cy="190500"/>
          </a:xfrm>
        </p:grpSpPr>
        <p:sp>
          <p:nvSpPr>
            <p:cNvPr id="78" name="node03.text"/>
            <p:cNvSpPr/>
            <p:nvPr/>
          </p:nvSpPr>
          <p:spPr>
            <a:xfrm>
              <a:off x="8039100" y="54864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P1 fix now, P2 next, P3 plan, P4 hold</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ource-205">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Seven capabilities and the reason behind each score</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73</a:t>
            </a:fld>
            <a:endParaRPr lang="en-US" sz="700" spc="0" kern="0" b="0" i="0" dirty="0">
              <a:solidFill>
                <a:srgbClr val="070154"/>
              </a:solidFill>
              <a:latin typeface="IBM Plex Mono SemiBold"/>
              <a:ea typeface="IBM Plex Mono SemiBold"/>
              <a:cs typeface="IBM Plex Mono SemiBold"/>
            </a:endParaRPr>
          </a:p>
        </p:txBody>
      </p:sp>
      <p:grpSp>
        <p:nvGrpSpPr>
          <p:cNvPr id="94" name="node01"/>
          <p:cNvGrpSpPr/>
          <p:nvPr/>
        </p:nvGrpSpPr>
        <p:grpSpPr>
          <a:xfrm>
            <a:off x="723900" y="457200"/>
            <a:ext cx="7086600" cy="4978400"/>
            <a:chOff x="723900" y="457200"/>
            <a:chExt cx="7086600" cy="4978400"/>
          </a:xfrm>
        </p:grpSpPr>
        <p:sp>
          <p:nvSpPr>
            <p:cNvPr id="7" name="node01.row.item-001.h0.heat-gap"/>
            <p:cNvSpPr/>
            <p:nvPr/>
          </p:nvSpPr>
          <p:spPr>
            <a:xfrm>
              <a:off x="2171700" y="812800"/>
              <a:ext cx="508000" cy="660400"/>
            </a:xfrm>
            <a:prstGeom prst="rect">
              <a:avLst/>
            </a:prstGeom>
            <a:solidFill>
              <a:srgbClr val="FFFFFF"/>
            </a:solidFill>
            <a:ln>
              <a:noFill/>
            </a:ln>
          </p:spPr>
        </p:sp>
        <p:sp>
          <p:nvSpPr>
            <p:cNvPr id="8" name="node01.row.item-001.h0.heat"/>
            <p:cNvSpPr/>
            <p:nvPr/>
          </p:nvSpPr>
          <p:spPr>
            <a:xfrm>
              <a:off x="2190750" y="831850"/>
              <a:ext cx="469900" cy="622300"/>
            </a:xfrm>
            <a:prstGeom prst="rect">
              <a:avLst/>
            </a:prstGeom>
            <a:solidFill>
              <a:srgbClr val="7C9BFF"/>
            </a:solidFill>
            <a:ln>
              <a:noFill/>
            </a:ln>
          </p:spPr>
        </p:sp>
        <p:sp>
          <p:nvSpPr>
            <p:cNvPr id="9" name="node01.row.item-001.h1.heat-gap"/>
            <p:cNvSpPr/>
            <p:nvPr/>
          </p:nvSpPr>
          <p:spPr>
            <a:xfrm>
              <a:off x="2679700" y="812800"/>
              <a:ext cx="508000" cy="660400"/>
            </a:xfrm>
            <a:prstGeom prst="rect">
              <a:avLst/>
            </a:prstGeom>
            <a:solidFill>
              <a:srgbClr val="FFFFFF"/>
            </a:solidFill>
            <a:ln>
              <a:noFill/>
            </a:ln>
          </p:spPr>
        </p:sp>
        <p:sp>
          <p:nvSpPr>
            <p:cNvPr id="10" name="node01.row.item-001.h1.heat"/>
            <p:cNvSpPr/>
            <p:nvPr/>
          </p:nvSpPr>
          <p:spPr>
            <a:xfrm>
              <a:off x="2698750" y="831850"/>
              <a:ext cx="469900" cy="622300"/>
            </a:xfrm>
            <a:prstGeom prst="rect">
              <a:avLst/>
            </a:prstGeom>
            <a:solidFill>
              <a:srgbClr val="B9C9F0"/>
            </a:solidFill>
            <a:ln>
              <a:noFill/>
            </a:ln>
          </p:spPr>
        </p:sp>
        <p:sp>
          <p:nvSpPr>
            <p:cNvPr id="11" name="node01.row.item-001.h2.heat-gap"/>
            <p:cNvSpPr/>
            <p:nvPr/>
          </p:nvSpPr>
          <p:spPr>
            <a:xfrm>
              <a:off x="3187700" y="812800"/>
              <a:ext cx="508000" cy="660400"/>
            </a:xfrm>
            <a:prstGeom prst="rect">
              <a:avLst/>
            </a:prstGeom>
            <a:solidFill>
              <a:srgbClr val="FFFFFF"/>
            </a:solidFill>
            <a:ln>
              <a:noFill/>
            </a:ln>
          </p:spPr>
        </p:sp>
        <p:sp>
          <p:nvSpPr>
            <p:cNvPr id="12" name="node01.row.item-001.h2.heat"/>
            <p:cNvSpPr/>
            <p:nvPr/>
          </p:nvSpPr>
          <p:spPr>
            <a:xfrm>
              <a:off x="3206750" y="831850"/>
              <a:ext cx="469900" cy="622300"/>
            </a:xfrm>
            <a:prstGeom prst="rect">
              <a:avLst/>
            </a:prstGeom>
            <a:solidFill>
              <a:srgbClr val="B9C9F0"/>
            </a:solidFill>
            <a:ln>
              <a:noFill/>
            </a:ln>
          </p:spPr>
        </p:sp>
        <p:sp>
          <p:nvSpPr>
            <p:cNvPr id="13" name="node01.row.item-001.h3.heat-gap"/>
            <p:cNvSpPr/>
            <p:nvPr/>
          </p:nvSpPr>
          <p:spPr>
            <a:xfrm>
              <a:off x="3695700" y="812800"/>
              <a:ext cx="508000" cy="660400"/>
            </a:xfrm>
            <a:prstGeom prst="rect">
              <a:avLst/>
            </a:prstGeom>
            <a:solidFill>
              <a:srgbClr val="FFFFFF"/>
            </a:solidFill>
            <a:ln>
              <a:noFill/>
            </a:ln>
          </p:spPr>
        </p:sp>
        <p:sp>
          <p:nvSpPr>
            <p:cNvPr id="14" name="node01.row.item-001.h3.heat"/>
            <p:cNvSpPr/>
            <p:nvPr/>
          </p:nvSpPr>
          <p:spPr>
            <a:xfrm>
              <a:off x="3714750" y="831850"/>
              <a:ext cx="469900" cy="622300"/>
            </a:xfrm>
            <a:prstGeom prst="rect">
              <a:avLst/>
            </a:prstGeom>
            <a:solidFill>
              <a:srgbClr val="7C9BFF"/>
            </a:solidFill>
            <a:ln>
              <a:noFill/>
            </a:ln>
          </p:spPr>
        </p:sp>
        <p:sp>
          <p:nvSpPr>
            <p:cNvPr id="15" name="node01.row.item-001.h4.heat-gap"/>
            <p:cNvSpPr/>
            <p:nvPr/>
          </p:nvSpPr>
          <p:spPr>
            <a:xfrm>
              <a:off x="4203700" y="812800"/>
              <a:ext cx="508000" cy="660400"/>
            </a:xfrm>
            <a:prstGeom prst="rect">
              <a:avLst/>
            </a:prstGeom>
            <a:solidFill>
              <a:srgbClr val="FFFFFF"/>
            </a:solidFill>
            <a:ln>
              <a:noFill/>
            </a:ln>
          </p:spPr>
        </p:sp>
        <p:sp>
          <p:nvSpPr>
            <p:cNvPr id="16" name="node01.row.item-001.h4.heat"/>
            <p:cNvSpPr/>
            <p:nvPr/>
          </p:nvSpPr>
          <p:spPr>
            <a:xfrm>
              <a:off x="4222750" y="831850"/>
              <a:ext cx="469900" cy="622300"/>
            </a:xfrm>
            <a:prstGeom prst="rect">
              <a:avLst/>
            </a:prstGeom>
            <a:solidFill>
              <a:srgbClr val="B9C9F0"/>
            </a:solidFill>
            <a:ln>
              <a:noFill/>
            </a:ln>
          </p:spPr>
        </p:sp>
        <p:sp>
          <p:nvSpPr>
            <p:cNvPr id="17" name="node01.row.item-002.h0.heat-gap"/>
            <p:cNvSpPr/>
            <p:nvPr/>
          </p:nvSpPr>
          <p:spPr>
            <a:xfrm>
              <a:off x="2171700" y="1473200"/>
              <a:ext cx="508000" cy="660400"/>
            </a:xfrm>
            <a:prstGeom prst="rect">
              <a:avLst/>
            </a:prstGeom>
            <a:solidFill>
              <a:srgbClr val="FFFFFF"/>
            </a:solidFill>
            <a:ln>
              <a:noFill/>
            </a:ln>
          </p:spPr>
        </p:sp>
        <p:sp>
          <p:nvSpPr>
            <p:cNvPr id="18" name="node01.row.item-002.h0.heat"/>
            <p:cNvSpPr/>
            <p:nvPr/>
          </p:nvSpPr>
          <p:spPr>
            <a:xfrm>
              <a:off x="2190750" y="1492250"/>
              <a:ext cx="469900" cy="622300"/>
            </a:xfrm>
            <a:prstGeom prst="rect">
              <a:avLst/>
            </a:prstGeom>
            <a:solidFill>
              <a:srgbClr val="7C9BFF"/>
            </a:solidFill>
            <a:ln>
              <a:noFill/>
            </a:ln>
          </p:spPr>
        </p:sp>
        <p:sp>
          <p:nvSpPr>
            <p:cNvPr id="19" name="node01.row.item-002.h1.heat-gap"/>
            <p:cNvSpPr/>
            <p:nvPr/>
          </p:nvSpPr>
          <p:spPr>
            <a:xfrm>
              <a:off x="2679700" y="1473200"/>
              <a:ext cx="508000" cy="660400"/>
            </a:xfrm>
            <a:prstGeom prst="rect">
              <a:avLst/>
            </a:prstGeom>
            <a:solidFill>
              <a:srgbClr val="FFFFFF"/>
            </a:solidFill>
            <a:ln>
              <a:noFill/>
            </a:ln>
          </p:spPr>
        </p:sp>
        <p:sp>
          <p:nvSpPr>
            <p:cNvPr id="20" name="node01.row.item-002.h1.heat"/>
            <p:cNvSpPr/>
            <p:nvPr/>
          </p:nvSpPr>
          <p:spPr>
            <a:xfrm>
              <a:off x="2698750" y="1492250"/>
              <a:ext cx="469900" cy="622300"/>
            </a:xfrm>
            <a:prstGeom prst="rect">
              <a:avLst/>
            </a:prstGeom>
            <a:solidFill>
              <a:srgbClr val="7C9BFF"/>
            </a:solidFill>
            <a:ln>
              <a:noFill/>
            </a:ln>
          </p:spPr>
        </p:sp>
        <p:sp>
          <p:nvSpPr>
            <p:cNvPr id="21" name="node01.row.item-002.h2.heat-gap"/>
            <p:cNvSpPr/>
            <p:nvPr/>
          </p:nvSpPr>
          <p:spPr>
            <a:xfrm>
              <a:off x="3187700" y="1473200"/>
              <a:ext cx="508000" cy="660400"/>
            </a:xfrm>
            <a:prstGeom prst="rect">
              <a:avLst/>
            </a:prstGeom>
            <a:solidFill>
              <a:srgbClr val="FFFFFF"/>
            </a:solidFill>
            <a:ln>
              <a:noFill/>
            </a:ln>
          </p:spPr>
        </p:sp>
        <p:sp>
          <p:nvSpPr>
            <p:cNvPr id="22" name="node01.row.item-002.h2.heat"/>
            <p:cNvSpPr/>
            <p:nvPr/>
          </p:nvSpPr>
          <p:spPr>
            <a:xfrm>
              <a:off x="3206750" y="1492250"/>
              <a:ext cx="469900" cy="622300"/>
            </a:xfrm>
            <a:prstGeom prst="rect">
              <a:avLst/>
            </a:prstGeom>
            <a:solidFill>
              <a:srgbClr val="B9C9F0"/>
            </a:solidFill>
            <a:ln>
              <a:noFill/>
            </a:ln>
          </p:spPr>
        </p:sp>
        <p:sp>
          <p:nvSpPr>
            <p:cNvPr id="23" name="node01.row.item-002.h3.heat-gap"/>
            <p:cNvSpPr/>
            <p:nvPr/>
          </p:nvSpPr>
          <p:spPr>
            <a:xfrm>
              <a:off x="3695700" y="1473200"/>
              <a:ext cx="508000" cy="660400"/>
            </a:xfrm>
            <a:prstGeom prst="rect">
              <a:avLst/>
            </a:prstGeom>
            <a:solidFill>
              <a:srgbClr val="FFFFFF"/>
            </a:solidFill>
            <a:ln>
              <a:noFill/>
            </a:ln>
          </p:spPr>
        </p:sp>
        <p:sp>
          <p:nvSpPr>
            <p:cNvPr id="24" name="node01.row.item-002.h3.heat"/>
            <p:cNvSpPr/>
            <p:nvPr/>
          </p:nvSpPr>
          <p:spPr>
            <a:xfrm>
              <a:off x="3714750" y="1492250"/>
              <a:ext cx="469900" cy="622300"/>
            </a:xfrm>
            <a:prstGeom prst="rect">
              <a:avLst/>
            </a:prstGeom>
            <a:solidFill>
              <a:srgbClr val="7C9BFF"/>
            </a:solidFill>
            <a:ln>
              <a:noFill/>
            </a:ln>
          </p:spPr>
        </p:sp>
        <p:sp>
          <p:nvSpPr>
            <p:cNvPr id="25" name="node01.row.item-002.h4.heat-gap"/>
            <p:cNvSpPr/>
            <p:nvPr/>
          </p:nvSpPr>
          <p:spPr>
            <a:xfrm>
              <a:off x="4203700" y="1473200"/>
              <a:ext cx="508000" cy="660400"/>
            </a:xfrm>
            <a:prstGeom prst="rect">
              <a:avLst/>
            </a:prstGeom>
            <a:solidFill>
              <a:srgbClr val="FFFFFF"/>
            </a:solidFill>
            <a:ln>
              <a:noFill/>
            </a:ln>
          </p:spPr>
        </p:sp>
        <p:sp>
          <p:nvSpPr>
            <p:cNvPr id="26" name="node01.row.item-002.h4.heat"/>
            <p:cNvSpPr/>
            <p:nvPr/>
          </p:nvSpPr>
          <p:spPr>
            <a:xfrm>
              <a:off x="4222750" y="1492250"/>
              <a:ext cx="469900" cy="622300"/>
            </a:xfrm>
            <a:prstGeom prst="rect">
              <a:avLst/>
            </a:prstGeom>
            <a:solidFill>
              <a:srgbClr val="7C9BFF"/>
            </a:solidFill>
            <a:ln>
              <a:noFill/>
            </a:ln>
          </p:spPr>
        </p:sp>
        <p:sp>
          <p:nvSpPr>
            <p:cNvPr id="27" name="node01.row.item-003.h0.heat-gap"/>
            <p:cNvSpPr/>
            <p:nvPr/>
          </p:nvSpPr>
          <p:spPr>
            <a:xfrm>
              <a:off x="2171700" y="2133600"/>
              <a:ext cx="508000" cy="660400"/>
            </a:xfrm>
            <a:prstGeom prst="rect">
              <a:avLst/>
            </a:prstGeom>
            <a:solidFill>
              <a:srgbClr val="FFFFFF"/>
            </a:solidFill>
            <a:ln>
              <a:noFill/>
            </a:ln>
          </p:spPr>
        </p:sp>
        <p:sp>
          <p:nvSpPr>
            <p:cNvPr id="28" name="node01.row.item-003.h0.heat"/>
            <p:cNvSpPr/>
            <p:nvPr/>
          </p:nvSpPr>
          <p:spPr>
            <a:xfrm>
              <a:off x="2190750" y="2152650"/>
              <a:ext cx="469900" cy="622300"/>
            </a:xfrm>
            <a:prstGeom prst="rect">
              <a:avLst/>
            </a:prstGeom>
            <a:solidFill>
              <a:srgbClr val="B9C9F0"/>
            </a:solidFill>
            <a:ln>
              <a:noFill/>
            </a:ln>
          </p:spPr>
        </p:sp>
        <p:sp>
          <p:nvSpPr>
            <p:cNvPr id="29" name="node01.row.item-003.h1.heat-gap"/>
            <p:cNvSpPr/>
            <p:nvPr/>
          </p:nvSpPr>
          <p:spPr>
            <a:xfrm>
              <a:off x="2679700" y="2133600"/>
              <a:ext cx="508000" cy="660400"/>
            </a:xfrm>
            <a:prstGeom prst="rect">
              <a:avLst/>
            </a:prstGeom>
            <a:solidFill>
              <a:srgbClr val="FFFFFF"/>
            </a:solidFill>
            <a:ln>
              <a:noFill/>
            </a:ln>
          </p:spPr>
        </p:sp>
        <p:sp>
          <p:nvSpPr>
            <p:cNvPr id="30" name="node01.row.item-003.h1.heat"/>
            <p:cNvSpPr/>
            <p:nvPr/>
          </p:nvSpPr>
          <p:spPr>
            <a:xfrm>
              <a:off x="2698750" y="2152650"/>
              <a:ext cx="469900" cy="622300"/>
            </a:xfrm>
            <a:prstGeom prst="rect">
              <a:avLst/>
            </a:prstGeom>
            <a:solidFill>
              <a:srgbClr val="E8EEF8"/>
            </a:solidFill>
            <a:ln>
              <a:noFill/>
            </a:ln>
          </p:spPr>
        </p:sp>
        <p:sp>
          <p:nvSpPr>
            <p:cNvPr id="31" name="node01.row.item-003.h2.heat-gap"/>
            <p:cNvSpPr/>
            <p:nvPr/>
          </p:nvSpPr>
          <p:spPr>
            <a:xfrm>
              <a:off x="3187700" y="2133600"/>
              <a:ext cx="508000" cy="660400"/>
            </a:xfrm>
            <a:prstGeom prst="rect">
              <a:avLst/>
            </a:prstGeom>
            <a:solidFill>
              <a:srgbClr val="FFFFFF"/>
            </a:solidFill>
            <a:ln>
              <a:noFill/>
            </a:ln>
          </p:spPr>
        </p:sp>
        <p:sp>
          <p:nvSpPr>
            <p:cNvPr id="32" name="node01.row.item-003.h2.heat"/>
            <p:cNvSpPr/>
            <p:nvPr/>
          </p:nvSpPr>
          <p:spPr>
            <a:xfrm>
              <a:off x="3206750" y="2152650"/>
              <a:ext cx="469900" cy="622300"/>
            </a:xfrm>
            <a:prstGeom prst="rect">
              <a:avLst/>
            </a:prstGeom>
            <a:solidFill>
              <a:srgbClr val="E8EEF8"/>
            </a:solidFill>
            <a:ln>
              <a:noFill/>
            </a:ln>
          </p:spPr>
        </p:sp>
        <p:sp>
          <p:nvSpPr>
            <p:cNvPr id="33" name="node01.row.item-003.h3.heat-gap"/>
            <p:cNvSpPr/>
            <p:nvPr/>
          </p:nvSpPr>
          <p:spPr>
            <a:xfrm>
              <a:off x="3695700" y="2133600"/>
              <a:ext cx="508000" cy="660400"/>
            </a:xfrm>
            <a:prstGeom prst="rect">
              <a:avLst/>
            </a:prstGeom>
            <a:solidFill>
              <a:srgbClr val="FFFFFF"/>
            </a:solidFill>
            <a:ln>
              <a:noFill/>
            </a:ln>
          </p:spPr>
        </p:sp>
        <p:sp>
          <p:nvSpPr>
            <p:cNvPr id="34" name="node01.row.item-003.h3.heat"/>
            <p:cNvSpPr/>
            <p:nvPr/>
          </p:nvSpPr>
          <p:spPr>
            <a:xfrm>
              <a:off x="3714750" y="2152650"/>
              <a:ext cx="469900" cy="622300"/>
            </a:xfrm>
            <a:prstGeom prst="rect">
              <a:avLst/>
            </a:prstGeom>
            <a:solidFill>
              <a:srgbClr val="B9C9F0"/>
            </a:solidFill>
            <a:ln>
              <a:noFill/>
            </a:ln>
          </p:spPr>
        </p:sp>
        <p:sp>
          <p:nvSpPr>
            <p:cNvPr id="35" name="node01.row.item-003.h4.heat-gap"/>
            <p:cNvSpPr/>
            <p:nvPr/>
          </p:nvSpPr>
          <p:spPr>
            <a:xfrm>
              <a:off x="4203700" y="2133600"/>
              <a:ext cx="508000" cy="660400"/>
            </a:xfrm>
            <a:prstGeom prst="rect">
              <a:avLst/>
            </a:prstGeom>
            <a:solidFill>
              <a:srgbClr val="FFFFFF"/>
            </a:solidFill>
            <a:ln>
              <a:noFill/>
            </a:ln>
          </p:spPr>
        </p:sp>
        <p:sp>
          <p:nvSpPr>
            <p:cNvPr id="36" name="node01.row.item-003.h4.heat"/>
            <p:cNvSpPr/>
            <p:nvPr/>
          </p:nvSpPr>
          <p:spPr>
            <a:xfrm>
              <a:off x="4222750" y="2152650"/>
              <a:ext cx="469900" cy="622300"/>
            </a:xfrm>
            <a:prstGeom prst="rect">
              <a:avLst/>
            </a:prstGeom>
            <a:solidFill>
              <a:srgbClr val="B9C9F0"/>
            </a:solidFill>
            <a:ln>
              <a:noFill/>
            </a:ln>
          </p:spPr>
        </p:sp>
        <p:sp>
          <p:nvSpPr>
            <p:cNvPr id="37" name="node01.row.item-004.h0.heat-gap"/>
            <p:cNvSpPr/>
            <p:nvPr/>
          </p:nvSpPr>
          <p:spPr>
            <a:xfrm>
              <a:off x="2171700" y="2794000"/>
              <a:ext cx="508000" cy="660400"/>
            </a:xfrm>
            <a:prstGeom prst="rect">
              <a:avLst/>
            </a:prstGeom>
            <a:solidFill>
              <a:srgbClr val="FFFFFF"/>
            </a:solidFill>
            <a:ln>
              <a:noFill/>
            </a:ln>
          </p:spPr>
        </p:sp>
        <p:sp>
          <p:nvSpPr>
            <p:cNvPr id="38" name="node01.row.item-004.h0.heat"/>
            <p:cNvSpPr/>
            <p:nvPr/>
          </p:nvSpPr>
          <p:spPr>
            <a:xfrm>
              <a:off x="2190750" y="2813050"/>
              <a:ext cx="469900" cy="622300"/>
            </a:xfrm>
            <a:prstGeom prst="rect">
              <a:avLst/>
            </a:prstGeom>
            <a:solidFill>
              <a:srgbClr val="0047FF"/>
            </a:solidFill>
            <a:ln>
              <a:noFill/>
            </a:ln>
          </p:spPr>
        </p:sp>
        <p:sp>
          <p:nvSpPr>
            <p:cNvPr id="39" name="node01.row.item-004.h1.heat-gap"/>
            <p:cNvSpPr/>
            <p:nvPr/>
          </p:nvSpPr>
          <p:spPr>
            <a:xfrm>
              <a:off x="2679700" y="2794000"/>
              <a:ext cx="508000" cy="660400"/>
            </a:xfrm>
            <a:prstGeom prst="rect">
              <a:avLst/>
            </a:prstGeom>
            <a:solidFill>
              <a:srgbClr val="FFFFFF"/>
            </a:solidFill>
            <a:ln>
              <a:noFill/>
            </a:ln>
          </p:spPr>
        </p:sp>
        <p:sp>
          <p:nvSpPr>
            <p:cNvPr id="40" name="node01.row.item-004.h1.heat"/>
            <p:cNvSpPr/>
            <p:nvPr/>
          </p:nvSpPr>
          <p:spPr>
            <a:xfrm>
              <a:off x="2698750" y="2813050"/>
              <a:ext cx="469900" cy="622300"/>
            </a:xfrm>
            <a:prstGeom prst="rect">
              <a:avLst/>
            </a:prstGeom>
            <a:solidFill>
              <a:srgbClr val="070154"/>
            </a:solidFill>
            <a:ln>
              <a:noFill/>
            </a:ln>
          </p:spPr>
        </p:sp>
        <p:sp>
          <p:nvSpPr>
            <p:cNvPr id="41" name="node01.row.item-004.h2.heat-gap"/>
            <p:cNvSpPr/>
            <p:nvPr/>
          </p:nvSpPr>
          <p:spPr>
            <a:xfrm>
              <a:off x="3187700" y="2794000"/>
              <a:ext cx="508000" cy="660400"/>
            </a:xfrm>
            <a:prstGeom prst="rect">
              <a:avLst/>
            </a:prstGeom>
            <a:solidFill>
              <a:srgbClr val="FFFFFF"/>
            </a:solidFill>
            <a:ln>
              <a:noFill/>
            </a:ln>
          </p:spPr>
        </p:sp>
        <p:sp>
          <p:nvSpPr>
            <p:cNvPr id="42" name="node01.row.item-004.h2.heat"/>
            <p:cNvSpPr/>
            <p:nvPr/>
          </p:nvSpPr>
          <p:spPr>
            <a:xfrm>
              <a:off x="3206750" y="2813050"/>
              <a:ext cx="469900" cy="622300"/>
            </a:xfrm>
            <a:prstGeom prst="rect">
              <a:avLst/>
            </a:prstGeom>
            <a:solidFill>
              <a:srgbClr val="7C9BFF"/>
            </a:solidFill>
            <a:ln>
              <a:noFill/>
            </a:ln>
          </p:spPr>
        </p:sp>
        <p:sp>
          <p:nvSpPr>
            <p:cNvPr id="43" name="node01.row.item-004.h3.heat-gap"/>
            <p:cNvSpPr/>
            <p:nvPr/>
          </p:nvSpPr>
          <p:spPr>
            <a:xfrm>
              <a:off x="3695700" y="2794000"/>
              <a:ext cx="508000" cy="660400"/>
            </a:xfrm>
            <a:prstGeom prst="rect">
              <a:avLst/>
            </a:prstGeom>
            <a:solidFill>
              <a:srgbClr val="FFFFFF"/>
            </a:solidFill>
            <a:ln>
              <a:noFill/>
            </a:ln>
          </p:spPr>
        </p:sp>
        <p:sp>
          <p:nvSpPr>
            <p:cNvPr id="44" name="node01.row.item-004.h3.heat"/>
            <p:cNvSpPr/>
            <p:nvPr/>
          </p:nvSpPr>
          <p:spPr>
            <a:xfrm>
              <a:off x="3714750" y="2813050"/>
              <a:ext cx="469900" cy="622300"/>
            </a:xfrm>
            <a:prstGeom prst="rect">
              <a:avLst/>
            </a:prstGeom>
            <a:solidFill>
              <a:srgbClr val="7C9BFF"/>
            </a:solidFill>
            <a:ln>
              <a:noFill/>
            </a:ln>
          </p:spPr>
        </p:sp>
        <p:sp>
          <p:nvSpPr>
            <p:cNvPr id="45" name="node01.row.item-004.h4.heat-gap"/>
            <p:cNvSpPr/>
            <p:nvPr/>
          </p:nvSpPr>
          <p:spPr>
            <a:xfrm>
              <a:off x="4203700" y="2794000"/>
              <a:ext cx="508000" cy="660400"/>
            </a:xfrm>
            <a:prstGeom prst="rect">
              <a:avLst/>
            </a:prstGeom>
            <a:solidFill>
              <a:srgbClr val="FFFFFF"/>
            </a:solidFill>
            <a:ln>
              <a:noFill/>
            </a:ln>
          </p:spPr>
        </p:sp>
        <p:sp>
          <p:nvSpPr>
            <p:cNvPr id="46" name="node01.row.item-004.h4.heat"/>
            <p:cNvSpPr/>
            <p:nvPr/>
          </p:nvSpPr>
          <p:spPr>
            <a:xfrm>
              <a:off x="4222750" y="2813050"/>
              <a:ext cx="469900" cy="622300"/>
            </a:xfrm>
            <a:prstGeom prst="rect">
              <a:avLst/>
            </a:prstGeom>
            <a:solidFill>
              <a:srgbClr val="0047FF"/>
            </a:solidFill>
            <a:ln>
              <a:noFill/>
            </a:ln>
          </p:spPr>
        </p:sp>
        <p:sp>
          <p:nvSpPr>
            <p:cNvPr id="47" name="node01.row.item-005.h0.heat-gap"/>
            <p:cNvSpPr/>
            <p:nvPr/>
          </p:nvSpPr>
          <p:spPr>
            <a:xfrm>
              <a:off x="2171700" y="3454400"/>
              <a:ext cx="508000" cy="660400"/>
            </a:xfrm>
            <a:prstGeom prst="rect">
              <a:avLst/>
            </a:prstGeom>
            <a:solidFill>
              <a:srgbClr val="FFFFFF"/>
            </a:solidFill>
            <a:ln>
              <a:noFill/>
            </a:ln>
          </p:spPr>
        </p:sp>
        <p:sp>
          <p:nvSpPr>
            <p:cNvPr id="48" name="node01.row.item-005.h0.heat"/>
            <p:cNvSpPr/>
            <p:nvPr/>
          </p:nvSpPr>
          <p:spPr>
            <a:xfrm>
              <a:off x="2190750" y="3473450"/>
              <a:ext cx="469900" cy="622300"/>
            </a:xfrm>
            <a:prstGeom prst="rect">
              <a:avLst/>
            </a:prstGeom>
            <a:solidFill>
              <a:srgbClr val="7C9BFF"/>
            </a:solidFill>
            <a:ln>
              <a:noFill/>
            </a:ln>
          </p:spPr>
        </p:sp>
        <p:sp>
          <p:nvSpPr>
            <p:cNvPr id="49" name="node01.row.item-005.h1.heat-gap"/>
            <p:cNvSpPr/>
            <p:nvPr/>
          </p:nvSpPr>
          <p:spPr>
            <a:xfrm>
              <a:off x="2679700" y="3454400"/>
              <a:ext cx="508000" cy="660400"/>
            </a:xfrm>
            <a:prstGeom prst="rect">
              <a:avLst/>
            </a:prstGeom>
            <a:solidFill>
              <a:srgbClr val="FFFFFF"/>
            </a:solidFill>
            <a:ln>
              <a:noFill/>
            </a:ln>
          </p:spPr>
        </p:sp>
        <p:sp>
          <p:nvSpPr>
            <p:cNvPr id="50" name="node01.row.item-005.h1.heat"/>
            <p:cNvSpPr/>
            <p:nvPr/>
          </p:nvSpPr>
          <p:spPr>
            <a:xfrm>
              <a:off x="2698750" y="3473450"/>
              <a:ext cx="469900" cy="622300"/>
            </a:xfrm>
            <a:prstGeom prst="rect">
              <a:avLst/>
            </a:prstGeom>
            <a:solidFill>
              <a:srgbClr val="7C9BFF"/>
            </a:solidFill>
            <a:ln>
              <a:noFill/>
            </a:ln>
          </p:spPr>
        </p:sp>
        <p:sp>
          <p:nvSpPr>
            <p:cNvPr id="51" name="node01.row.item-005.h2.heat-gap"/>
            <p:cNvSpPr/>
            <p:nvPr/>
          </p:nvSpPr>
          <p:spPr>
            <a:xfrm>
              <a:off x="3187700" y="3454400"/>
              <a:ext cx="508000" cy="660400"/>
            </a:xfrm>
            <a:prstGeom prst="rect">
              <a:avLst/>
            </a:prstGeom>
            <a:solidFill>
              <a:srgbClr val="FFFFFF"/>
            </a:solidFill>
            <a:ln>
              <a:noFill/>
            </a:ln>
          </p:spPr>
        </p:sp>
        <p:sp>
          <p:nvSpPr>
            <p:cNvPr id="52" name="node01.row.item-005.h2.heat"/>
            <p:cNvSpPr/>
            <p:nvPr/>
          </p:nvSpPr>
          <p:spPr>
            <a:xfrm>
              <a:off x="3206750" y="3473450"/>
              <a:ext cx="469900" cy="622300"/>
            </a:xfrm>
            <a:prstGeom prst="rect">
              <a:avLst/>
            </a:prstGeom>
            <a:solidFill>
              <a:srgbClr val="7C9BFF"/>
            </a:solidFill>
            <a:ln>
              <a:noFill/>
            </a:ln>
          </p:spPr>
        </p:sp>
        <p:sp>
          <p:nvSpPr>
            <p:cNvPr id="53" name="node01.row.item-005.h3.heat-gap"/>
            <p:cNvSpPr/>
            <p:nvPr/>
          </p:nvSpPr>
          <p:spPr>
            <a:xfrm>
              <a:off x="3695700" y="3454400"/>
              <a:ext cx="508000" cy="660400"/>
            </a:xfrm>
            <a:prstGeom prst="rect">
              <a:avLst/>
            </a:prstGeom>
            <a:solidFill>
              <a:srgbClr val="FFFFFF"/>
            </a:solidFill>
            <a:ln>
              <a:noFill/>
            </a:ln>
          </p:spPr>
        </p:sp>
        <p:sp>
          <p:nvSpPr>
            <p:cNvPr id="54" name="node01.row.item-005.h3.heat"/>
            <p:cNvSpPr/>
            <p:nvPr/>
          </p:nvSpPr>
          <p:spPr>
            <a:xfrm>
              <a:off x="3714750" y="3473450"/>
              <a:ext cx="469900" cy="622300"/>
            </a:xfrm>
            <a:prstGeom prst="rect">
              <a:avLst/>
            </a:prstGeom>
            <a:solidFill>
              <a:srgbClr val="B9C9F0"/>
            </a:solidFill>
            <a:ln>
              <a:noFill/>
            </a:ln>
          </p:spPr>
        </p:sp>
        <p:sp>
          <p:nvSpPr>
            <p:cNvPr id="55" name="node01.row.item-005.h4.heat-gap"/>
            <p:cNvSpPr/>
            <p:nvPr/>
          </p:nvSpPr>
          <p:spPr>
            <a:xfrm>
              <a:off x="4203700" y="3454400"/>
              <a:ext cx="508000" cy="660400"/>
            </a:xfrm>
            <a:prstGeom prst="rect">
              <a:avLst/>
            </a:prstGeom>
            <a:solidFill>
              <a:srgbClr val="FFFFFF"/>
            </a:solidFill>
            <a:ln>
              <a:noFill/>
            </a:ln>
          </p:spPr>
        </p:sp>
        <p:sp>
          <p:nvSpPr>
            <p:cNvPr id="56" name="node01.row.item-005.h4.heat"/>
            <p:cNvSpPr/>
            <p:nvPr/>
          </p:nvSpPr>
          <p:spPr>
            <a:xfrm>
              <a:off x="4222750" y="3473450"/>
              <a:ext cx="469900" cy="622300"/>
            </a:xfrm>
            <a:prstGeom prst="rect">
              <a:avLst/>
            </a:prstGeom>
            <a:solidFill>
              <a:srgbClr val="7C9BFF"/>
            </a:solidFill>
            <a:ln>
              <a:noFill/>
            </a:ln>
          </p:spPr>
        </p:sp>
        <p:sp>
          <p:nvSpPr>
            <p:cNvPr id="57" name="node01.row.item-006.h0.heat-gap"/>
            <p:cNvSpPr/>
            <p:nvPr/>
          </p:nvSpPr>
          <p:spPr>
            <a:xfrm>
              <a:off x="2171700" y="4114800"/>
              <a:ext cx="508000" cy="660400"/>
            </a:xfrm>
            <a:prstGeom prst="rect">
              <a:avLst/>
            </a:prstGeom>
            <a:solidFill>
              <a:srgbClr val="FFFFFF"/>
            </a:solidFill>
            <a:ln>
              <a:noFill/>
            </a:ln>
          </p:spPr>
        </p:sp>
        <p:sp>
          <p:nvSpPr>
            <p:cNvPr id="58" name="node01.row.item-006.h0.heat"/>
            <p:cNvSpPr/>
            <p:nvPr/>
          </p:nvSpPr>
          <p:spPr>
            <a:xfrm>
              <a:off x="2190750" y="4133850"/>
              <a:ext cx="469900" cy="622300"/>
            </a:xfrm>
            <a:prstGeom prst="rect">
              <a:avLst/>
            </a:prstGeom>
            <a:solidFill>
              <a:srgbClr val="B9C9F0"/>
            </a:solidFill>
            <a:ln>
              <a:noFill/>
            </a:ln>
          </p:spPr>
        </p:sp>
        <p:sp>
          <p:nvSpPr>
            <p:cNvPr id="59" name="node01.row.item-006.h1.heat-gap"/>
            <p:cNvSpPr/>
            <p:nvPr/>
          </p:nvSpPr>
          <p:spPr>
            <a:xfrm>
              <a:off x="2679700" y="4114800"/>
              <a:ext cx="508000" cy="660400"/>
            </a:xfrm>
            <a:prstGeom prst="rect">
              <a:avLst/>
            </a:prstGeom>
            <a:solidFill>
              <a:srgbClr val="FFFFFF"/>
            </a:solidFill>
            <a:ln>
              <a:noFill/>
            </a:ln>
          </p:spPr>
        </p:sp>
        <p:sp>
          <p:nvSpPr>
            <p:cNvPr id="60" name="node01.row.item-006.h1.heat"/>
            <p:cNvSpPr/>
            <p:nvPr/>
          </p:nvSpPr>
          <p:spPr>
            <a:xfrm>
              <a:off x="2698750" y="4133850"/>
              <a:ext cx="469900" cy="622300"/>
            </a:xfrm>
            <a:prstGeom prst="rect">
              <a:avLst/>
            </a:prstGeom>
            <a:solidFill>
              <a:srgbClr val="B9C9F0"/>
            </a:solidFill>
            <a:ln>
              <a:noFill/>
            </a:ln>
          </p:spPr>
        </p:sp>
        <p:sp>
          <p:nvSpPr>
            <p:cNvPr id="61" name="node01.row.item-006.h2.heat-gap"/>
            <p:cNvSpPr/>
            <p:nvPr/>
          </p:nvSpPr>
          <p:spPr>
            <a:xfrm>
              <a:off x="3187700" y="4114800"/>
              <a:ext cx="508000" cy="660400"/>
            </a:xfrm>
            <a:prstGeom prst="rect">
              <a:avLst/>
            </a:prstGeom>
            <a:solidFill>
              <a:srgbClr val="FFFFFF"/>
            </a:solidFill>
            <a:ln>
              <a:noFill/>
            </a:ln>
          </p:spPr>
        </p:sp>
        <p:sp>
          <p:nvSpPr>
            <p:cNvPr id="62" name="node01.row.item-006.h2.heat"/>
            <p:cNvSpPr/>
            <p:nvPr/>
          </p:nvSpPr>
          <p:spPr>
            <a:xfrm>
              <a:off x="3206750" y="4133850"/>
              <a:ext cx="469900" cy="622300"/>
            </a:xfrm>
            <a:prstGeom prst="rect">
              <a:avLst/>
            </a:prstGeom>
            <a:solidFill>
              <a:srgbClr val="B9C9F0"/>
            </a:solidFill>
            <a:ln>
              <a:noFill/>
            </a:ln>
          </p:spPr>
        </p:sp>
        <p:sp>
          <p:nvSpPr>
            <p:cNvPr id="63" name="node01.row.item-006.h3.heat-gap"/>
            <p:cNvSpPr/>
            <p:nvPr/>
          </p:nvSpPr>
          <p:spPr>
            <a:xfrm>
              <a:off x="3695700" y="4114800"/>
              <a:ext cx="508000" cy="660400"/>
            </a:xfrm>
            <a:prstGeom prst="rect">
              <a:avLst/>
            </a:prstGeom>
            <a:solidFill>
              <a:srgbClr val="FFFFFF"/>
            </a:solidFill>
            <a:ln>
              <a:noFill/>
            </a:ln>
          </p:spPr>
        </p:sp>
        <p:sp>
          <p:nvSpPr>
            <p:cNvPr id="64" name="node01.row.item-006.h3.heat"/>
            <p:cNvSpPr/>
            <p:nvPr/>
          </p:nvSpPr>
          <p:spPr>
            <a:xfrm>
              <a:off x="3714750" y="4133850"/>
              <a:ext cx="469900" cy="622300"/>
            </a:xfrm>
            <a:prstGeom prst="rect">
              <a:avLst/>
            </a:prstGeom>
            <a:solidFill>
              <a:srgbClr val="B9C9F0"/>
            </a:solidFill>
            <a:ln>
              <a:noFill/>
            </a:ln>
          </p:spPr>
        </p:sp>
        <p:sp>
          <p:nvSpPr>
            <p:cNvPr id="65" name="node01.row.item-006.h4.heat-gap"/>
            <p:cNvSpPr/>
            <p:nvPr/>
          </p:nvSpPr>
          <p:spPr>
            <a:xfrm>
              <a:off x="4203700" y="4114800"/>
              <a:ext cx="508000" cy="660400"/>
            </a:xfrm>
            <a:prstGeom prst="rect">
              <a:avLst/>
            </a:prstGeom>
            <a:solidFill>
              <a:srgbClr val="FFFFFF"/>
            </a:solidFill>
            <a:ln>
              <a:noFill/>
            </a:ln>
          </p:spPr>
        </p:sp>
        <p:sp>
          <p:nvSpPr>
            <p:cNvPr id="66" name="node01.row.item-006.h4.heat"/>
            <p:cNvSpPr/>
            <p:nvPr/>
          </p:nvSpPr>
          <p:spPr>
            <a:xfrm>
              <a:off x="4222750" y="4133850"/>
              <a:ext cx="469900" cy="622300"/>
            </a:xfrm>
            <a:prstGeom prst="rect">
              <a:avLst/>
            </a:prstGeom>
            <a:solidFill>
              <a:srgbClr val="E8EEF8"/>
            </a:solidFill>
            <a:ln>
              <a:noFill/>
            </a:ln>
          </p:spPr>
        </p:sp>
        <p:sp>
          <p:nvSpPr>
            <p:cNvPr id="67" name="node01.row.item-007.h0.heat-gap"/>
            <p:cNvSpPr/>
            <p:nvPr/>
          </p:nvSpPr>
          <p:spPr>
            <a:xfrm>
              <a:off x="2171700" y="4775200"/>
              <a:ext cx="508000" cy="660400"/>
            </a:xfrm>
            <a:prstGeom prst="rect">
              <a:avLst/>
            </a:prstGeom>
            <a:solidFill>
              <a:srgbClr val="FFFFFF"/>
            </a:solidFill>
            <a:ln>
              <a:noFill/>
            </a:ln>
          </p:spPr>
        </p:sp>
        <p:sp>
          <p:nvSpPr>
            <p:cNvPr id="68" name="node01.row.item-007.h0.heat"/>
            <p:cNvSpPr/>
            <p:nvPr/>
          </p:nvSpPr>
          <p:spPr>
            <a:xfrm>
              <a:off x="2190750" y="4794250"/>
              <a:ext cx="469900" cy="622300"/>
            </a:xfrm>
            <a:prstGeom prst="rect">
              <a:avLst/>
            </a:prstGeom>
            <a:solidFill>
              <a:srgbClr val="0047FF"/>
            </a:solidFill>
            <a:ln>
              <a:noFill/>
            </a:ln>
          </p:spPr>
        </p:sp>
        <p:sp>
          <p:nvSpPr>
            <p:cNvPr id="69" name="node01.row.item-007.h1.heat-gap"/>
            <p:cNvSpPr/>
            <p:nvPr/>
          </p:nvSpPr>
          <p:spPr>
            <a:xfrm>
              <a:off x="2679700" y="4775200"/>
              <a:ext cx="508000" cy="660400"/>
            </a:xfrm>
            <a:prstGeom prst="rect">
              <a:avLst/>
            </a:prstGeom>
            <a:solidFill>
              <a:srgbClr val="FFFFFF"/>
            </a:solidFill>
            <a:ln>
              <a:noFill/>
            </a:ln>
          </p:spPr>
        </p:sp>
        <p:sp>
          <p:nvSpPr>
            <p:cNvPr id="70" name="node01.row.item-007.h1.heat"/>
            <p:cNvSpPr/>
            <p:nvPr/>
          </p:nvSpPr>
          <p:spPr>
            <a:xfrm>
              <a:off x="2698750" y="4794250"/>
              <a:ext cx="469900" cy="622300"/>
            </a:xfrm>
            <a:prstGeom prst="rect">
              <a:avLst/>
            </a:prstGeom>
            <a:solidFill>
              <a:srgbClr val="0047FF"/>
            </a:solidFill>
            <a:ln>
              <a:noFill/>
            </a:ln>
          </p:spPr>
        </p:sp>
        <p:sp>
          <p:nvSpPr>
            <p:cNvPr id="71" name="node01.row.item-007.h2.heat-gap"/>
            <p:cNvSpPr/>
            <p:nvPr/>
          </p:nvSpPr>
          <p:spPr>
            <a:xfrm>
              <a:off x="3187700" y="4775200"/>
              <a:ext cx="508000" cy="660400"/>
            </a:xfrm>
            <a:prstGeom prst="rect">
              <a:avLst/>
            </a:prstGeom>
            <a:solidFill>
              <a:srgbClr val="FFFFFF"/>
            </a:solidFill>
            <a:ln>
              <a:noFill/>
            </a:ln>
          </p:spPr>
        </p:sp>
        <p:sp>
          <p:nvSpPr>
            <p:cNvPr id="72" name="node01.row.item-007.h2.heat"/>
            <p:cNvSpPr/>
            <p:nvPr/>
          </p:nvSpPr>
          <p:spPr>
            <a:xfrm>
              <a:off x="3206750" y="4794250"/>
              <a:ext cx="469900" cy="622300"/>
            </a:xfrm>
            <a:prstGeom prst="rect">
              <a:avLst/>
            </a:prstGeom>
            <a:solidFill>
              <a:srgbClr val="7C9BFF"/>
            </a:solidFill>
            <a:ln>
              <a:noFill/>
            </a:ln>
          </p:spPr>
        </p:sp>
        <p:sp>
          <p:nvSpPr>
            <p:cNvPr id="73" name="node01.row.item-007.h3.heat-gap"/>
            <p:cNvSpPr/>
            <p:nvPr/>
          </p:nvSpPr>
          <p:spPr>
            <a:xfrm>
              <a:off x="3695700" y="4775200"/>
              <a:ext cx="508000" cy="660400"/>
            </a:xfrm>
            <a:prstGeom prst="rect">
              <a:avLst/>
            </a:prstGeom>
            <a:solidFill>
              <a:srgbClr val="FFFFFF"/>
            </a:solidFill>
            <a:ln>
              <a:noFill/>
            </a:ln>
          </p:spPr>
        </p:sp>
        <p:sp>
          <p:nvSpPr>
            <p:cNvPr id="74" name="node01.row.item-007.h3.heat"/>
            <p:cNvSpPr/>
            <p:nvPr/>
          </p:nvSpPr>
          <p:spPr>
            <a:xfrm>
              <a:off x="3714750" y="4794250"/>
              <a:ext cx="469900" cy="622300"/>
            </a:xfrm>
            <a:prstGeom prst="rect">
              <a:avLst/>
            </a:prstGeom>
            <a:solidFill>
              <a:srgbClr val="0047FF"/>
            </a:solidFill>
            <a:ln>
              <a:noFill/>
            </a:ln>
          </p:spPr>
        </p:sp>
        <p:sp>
          <p:nvSpPr>
            <p:cNvPr id="75" name="node01.row.item-007.h4.heat-gap"/>
            <p:cNvSpPr/>
            <p:nvPr/>
          </p:nvSpPr>
          <p:spPr>
            <a:xfrm>
              <a:off x="4203700" y="4775200"/>
              <a:ext cx="508000" cy="660400"/>
            </a:xfrm>
            <a:prstGeom prst="rect">
              <a:avLst/>
            </a:prstGeom>
            <a:solidFill>
              <a:srgbClr val="FFFFFF"/>
            </a:solidFill>
            <a:ln>
              <a:noFill/>
            </a:ln>
          </p:spPr>
        </p:sp>
        <p:sp>
          <p:nvSpPr>
            <p:cNvPr id="76" name="node01.row.item-007.h4.heat"/>
            <p:cNvSpPr/>
            <p:nvPr/>
          </p:nvSpPr>
          <p:spPr>
            <a:xfrm>
              <a:off x="4222750" y="4794250"/>
              <a:ext cx="469900" cy="622300"/>
            </a:xfrm>
            <a:prstGeom prst="rect">
              <a:avLst/>
            </a:prstGeom>
            <a:solidFill>
              <a:srgbClr val="7C9BFF"/>
            </a:solidFill>
            <a:ln>
              <a:noFill/>
            </a:ln>
          </p:spPr>
        </p:sp>
        <p:graphicFrame>
          <p:nvGraphicFramePr>
            <p:cNvPr id="77" name="node01.native"/>
            <p:cNvGraphicFramePr>
              <a:graphicFrameLocks noGrp="1"/>
            </p:cNvGraphicFramePr>
            <p:nvPr>
              <p:extLst>
                <p:ext uri="{D42A27DB-BD31-4B8C-83A1-F6EECF244321}">
                  <p14:modId xmlns:p14="http://schemas.microsoft.com/office/powerpoint/2010/main" val="1579011935"/>
                </p:ext>
              </p:extLst>
            </p:nvPr>
          </p:nvGraphicFramePr>
          <p:xfrm>
            <a:off x="723900" y="457200"/>
            <a:ext cx="7086600" cy="4978400"/>
          </p:xfrm>
          <a:graphic>
            <a:graphicData uri="http://schemas.openxmlformats.org/drawingml/2006/table">
              <a:tbl>
                <a:tblPr/>
                <a:tblGrid>
                  <a:gridCol w="1447800"/>
                  <a:gridCol w="508000"/>
                  <a:gridCol w="508000"/>
                  <a:gridCol w="508000"/>
                  <a:gridCol w="508000"/>
                  <a:gridCol w="508000"/>
                  <a:gridCol w="30988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CAPABILITY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PROC</a:t>
                        </a:r>
                        <a:endParaRPr lang="en-US" sz="800" spc="48" kern="0" b="0" i="0" dirty="0">
                          <a:solidFill>
                            <a:srgbClr val="070154"/>
                          </a:solidFill>
                          <a:latin typeface="IBM Plex Mono SemiBold"/>
                          <a:ea typeface="IBM Plex Mono SemiBold"/>
                          <a:cs typeface="IBM Plex Mono SemiBold"/>
                        </a:endParaRPr>
                      </a:p>
                    </a:txBody>
                    <a:tcPr marL="108458" marR="108458"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TECH</a:t>
                        </a:r>
                        <a:endParaRPr lang="en-US" sz="800" spc="48" kern="0" b="0" i="0" dirty="0">
                          <a:solidFill>
                            <a:srgbClr val="070154"/>
                          </a:solidFill>
                          <a:latin typeface="IBM Plex Mono SemiBold"/>
                          <a:ea typeface="IBM Plex Mono SemiBold"/>
                          <a:cs typeface="IBM Plex Mono SemiBold"/>
                        </a:endParaRPr>
                      </a:p>
                    </a:txBody>
                    <a:tcPr marL="108458" marR="108458"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DATA</a:t>
                        </a:r>
                        <a:endParaRPr lang="en-US" sz="800" spc="48" kern="0" b="0" i="0" dirty="0">
                          <a:solidFill>
                            <a:srgbClr val="070154"/>
                          </a:solidFill>
                          <a:latin typeface="IBM Plex Mono SemiBold"/>
                          <a:ea typeface="IBM Plex Mono SemiBold"/>
                          <a:cs typeface="IBM Plex Mono SemiBold"/>
                        </a:endParaRPr>
                      </a:p>
                    </a:txBody>
                    <a:tcPr marL="108458" marR="108458"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PPL</a:t>
                        </a:r>
                        <a:endParaRPr lang="en-US" sz="800" spc="48" kern="0" b="0" i="0" dirty="0">
                          <a:solidFill>
                            <a:srgbClr val="070154"/>
                          </a:solidFill>
                          <a:latin typeface="IBM Plex Mono SemiBold"/>
                          <a:ea typeface="IBM Plex Mono SemiBold"/>
                          <a:cs typeface="IBM Plex Mono SemiBold"/>
                        </a:endParaRPr>
                      </a:p>
                    </a:txBody>
                    <a:tcPr marL="141669" marR="141669"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GOV</a:t>
                        </a:r>
                        <a:endParaRPr lang="en-US" sz="800" spc="48" kern="0" b="0" i="0" dirty="0">
                          <a:solidFill>
                            <a:srgbClr val="070154"/>
                          </a:solidFill>
                          <a:latin typeface="IBM Plex Mono SemiBold"/>
                          <a:ea typeface="IBM Plex Mono SemiBold"/>
                          <a:cs typeface="IBM Plex Mono SemiBold"/>
                        </a:endParaRPr>
                      </a:p>
                    </a:txBody>
                    <a:tcPr marL="141669" marR="141669"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NOTES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access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Two registration flows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Eligibility checked late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Scheduling</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Rules differ by clinic</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Self-scheduling at 3 sites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Referral management</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Faxes and portal mixed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 shared status view</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Revenue cycle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5</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Rules engine is mature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Month-end review is manual</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billing</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Statements are on time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Plans sit outside billing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Denials management</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Denials are not coded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Rework has no owner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Clinical documentation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Templates well reused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Voice capture in 2 units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95" name="node02"/>
          <p:cNvGrpSpPr/>
          <p:nvPr/>
        </p:nvGrpSpPr>
        <p:grpSpPr>
          <a:xfrm>
            <a:off x="8039100" y="2286000"/>
            <a:ext cx="3429000" cy="1155700"/>
            <a:chOff x="8039100" y="2286000"/>
            <a:chExt cx="3429000" cy="1155700"/>
          </a:xfrm>
        </p:grpSpPr>
        <p:sp>
          <p:nvSpPr>
            <p:cNvPr id="78" name="node02.source-001.bullet"/>
            <p:cNvSpPr/>
            <p:nvPr/>
          </p:nvSpPr>
          <p:spPr>
            <a:xfrm>
              <a:off x="8039100" y="2374900"/>
              <a:ext cx="38100" cy="38100"/>
            </a:xfrm>
            <a:prstGeom prst="rect">
              <a:avLst/>
            </a:prstGeom>
            <a:solidFill>
              <a:srgbClr val="070154"/>
            </a:solidFill>
            <a:ln>
              <a:noFill/>
            </a:ln>
          </p:spPr>
        </p:sp>
        <p:sp>
          <p:nvSpPr>
            <p:cNvPr id="79" name="node02.source-001.text"/>
            <p:cNvSpPr/>
            <p:nvPr/>
          </p:nvSpPr>
          <p:spPr>
            <a:xfrm>
              <a:off x="8191500" y="22860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Process leads.</a:t>
              </a:r>
              <a:r>
                <a:rPr lang="en-US" sz="1200" spc="0" kern="0" b="0" i="0" dirty="0">
                  <a:solidFill>
                    <a:srgbClr val="50658E"/>
                  </a:solidFill>
                  <a:latin typeface="IBM Plex Sans"/>
                  <a:ea typeface="IBM Plex Sans"/>
                  <a:cs typeface="IBM Plex Sans"/>
                </a:rPr>
                <a:t xml:space="preserve"> It is the top score in five of seven rows.</a:t>
              </a:r>
              <a:endParaRPr lang="en-US" sz="1200" spc="0" kern="0" b="0" i="0" dirty="0">
                <a:solidFill>
                  <a:srgbClr val="070154"/>
                </a:solidFill>
                <a:latin typeface="IBM Plex Sans"/>
                <a:ea typeface="IBM Plex Sans"/>
                <a:cs typeface="IBM Plex Sans"/>
              </a:endParaRPr>
            </a:p>
          </p:txBody>
        </p:sp>
        <p:sp>
          <p:nvSpPr>
            <p:cNvPr id="80" name="node02.source-002.bullet"/>
            <p:cNvSpPr/>
            <p:nvPr/>
          </p:nvSpPr>
          <p:spPr>
            <a:xfrm>
              <a:off x="8039100" y="2844800"/>
              <a:ext cx="38100" cy="38100"/>
            </a:xfrm>
            <a:prstGeom prst="rect">
              <a:avLst/>
            </a:prstGeom>
            <a:solidFill>
              <a:srgbClr val="070154"/>
            </a:solidFill>
            <a:ln>
              <a:noFill/>
            </a:ln>
          </p:spPr>
        </p:sp>
        <p:sp>
          <p:nvSpPr>
            <p:cNvPr id="81" name="node02.source-002.text"/>
            <p:cNvSpPr/>
            <p:nvPr/>
          </p:nvSpPr>
          <p:spPr>
            <a:xfrm>
              <a:off x="8191500" y="27559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Data lags.</a:t>
              </a:r>
              <a:r>
                <a:rPr lang="en-US" sz="1200" spc="0" kern="0" b="0" i="0" dirty="0">
                  <a:solidFill>
                    <a:srgbClr val="50658E"/>
                  </a:solidFill>
                  <a:latin typeface="IBM Plex Sans"/>
                  <a:ea typeface="IBM Plex Sans"/>
                  <a:cs typeface="IBM Plex Sans"/>
                </a:rPr>
                <a:t xml:space="preserve"> Referral management scores 1 on technology and data.</a:t>
              </a:r>
              <a:endParaRPr lang="en-US" sz="1200" spc="0" kern="0" b="0" i="0" dirty="0">
                <a:solidFill>
                  <a:srgbClr val="070154"/>
                </a:solidFill>
                <a:latin typeface="IBM Plex Sans"/>
                <a:ea typeface="IBM Plex Sans"/>
                <a:cs typeface="IBM Plex Sans"/>
              </a:endParaRPr>
            </a:p>
          </p:txBody>
        </p:sp>
        <p:sp>
          <p:nvSpPr>
            <p:cNvPr id="82" name="node02.source-003.bullet"/>
            <p:cNvSpPr/>
            <p:nvPr/>
          </p:nvSpPr>
          <p:spPr>
            <a:xfrm>
              <a:off x="8039100" y="3314700"/>
              <a:ext cx="38100" cy="38100"/>
            </a:xfrm>
            <a:prstGeom prst="rect">
              <a:avLst/>
            </a:prstGeom>
            <a:solidFill>
              <a:srgbClr val="070154"/>
            </a:solidFill>
            <a:ln>
              <a:noFill/>
            </a:ln>
          </p:spPr>
        </p:sp>
        <p:sp>
          <p:nvSpPr>
            <p:cNvPr id="83" name="node02.source-003.text"/>
            <p:cNvSpPr/>
            <p:nvPr/>
          </p:nvSpPr>
          <p:spPr>
            <a:xfrm>
              <a:off x="8191500" y="3225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Floor.</a:t>
              </a:r>
              <a:r>
                <a:rPr lang="en-US" sz="1200" spc="0" kern="0" b="0" i="0" dirty="0">
                  <a:solidFill>
                    <a:srgbClr val="50658E"/>
                  </a:solidFill>
                  <a:latin typeface="IBM Plex Sans"/>
                  <a:ea typeface="IBM Plex Sans"/>
                  <a:cs typeface="IBM Plex Sans"/>
                </a:rPr>
                <a:t xml:space="preserve"> Denials has a 1 on governance.</a:t>
              </a:r>
              <a:endParaRPr lang="en-US" sz="1200" spc="0" kern="0" b="0" i="0" dirty="0">
                <a:solidFill>
                  <a:srgbClr val="070154"/>
                </a:solidFill>
                <a:latin typeface="IBM Plex Sans"/>
                <a:ea typeface="IBM Plex Sans"/>
                <a:cs typeface="IBM Plex Sans"/>
              </a:endParaRPr>
            </a:p>
          </p:txBody>
        </p:sp>
      </p:grpSp>
      <p:grpSp>
        <p:nvGrpSpPr>
          <p:cNvPr id="96" name="node03"/>
          <p:cNvGrpSpPr/>
          <p:nvPr/>
        </p:nvGrpSpPr>
        <p:grpSpPr>
          <a:xfrm>
            <a:off x="8039100" y="3886200"/>
            <a:ext cx="1227138" cy="1409700"/>
            <a:chOff x="8039100" y="3886200"/>
            <a:chExt cx="1227138" cy="1409700"/>
          </a:xfrm>
        </p:grpSpPr>
        <p:sp>
          <p:nvSpPr>
            <p:cNvPr id="84" name="node03.items.slot-001.swatch"/>
            <p:cNvSpPr/>
            <p:nvPr/>
          </p:nvSpPr>
          <p:spPr>
            <a:xfrm>
              <a:off x="8039100" y="3917950"/>
              <a:ext cx="228600" cy="127000"/>
            </a:xfrm>
            <a:prstGeom prst="rect">
              <a:avLst/>
            </a:prstGeom>
            <a:solidFill>
              <a:srgbClr val="E8EEF8"/>
            </a:solidFill>
            <a:ln>
              <a:noFill/>
            </a:ln>
          </p:spPr>
        </p:sp>
        <p:sp>
          <p:nvSpPr>
            <p:cNvPr id="85" name="node03.items.slot-001.text"/>
            <p:cNvSpPr/>
            <p:nvPr/>
          </p:nvSpPr>
          <p:spPr>
            <a:xfrm>
              <a:off x="8382000" y="3886200"/>
              <a:ext cx="5984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Ad hoc</a:t>
              </a:r>
              <a:endParaRPr lang="en-US" sz="1100" spc="0" kern="0" b="0" i="0" dirty="0">
                <a:solidFill>
                  <a:srgbClr val="070154"/>
                </a:solidFill>
                <a:latin typeface="IBM Plex Sans"/>
                <a:ea typeface="IBM Plex Sans"/>
                <a:cs typeface="IBM Plex Sans"/>
              </a:endParaRPr>
            </a:p>
          </p:txBody>
        </p:sp>
        <p:sp>
          <p:nvSpPr>
            <p:cNvPr id="86" name="node03.items.slot-002.swatch"/>
            <p:cNvSpPr/>
            <p:nvPr/>
          </p:nvSpPr>
          <p:spPr>
            <a:xfrm>
              <a:off x="8039100" y="4222750"/>
              <a:ext cx="228600" cy="127000"/>
            </a:xfrm>
            <a:prstGeom prst="rect">
              <a:avLst/>
            </a:prstGeom>
            <a:solidFill>
              <a:srgbClr val="B9C9F0"/>
            </a:solidFill>
            <a:ln>
              <a:noFill/>
            </a:ln>
          </p:spPr>
        </p:sp>
        <p:sp>
          <p:nvSpPr>
            <p:cNvPr id="87" name="node03.items.slot-002.text"/>
            <p:cNvSpPr/>
            <p:nvPr/>
          </p:nvSpPr>
          <p:spPr>
            <a:xfrm>
              <a:off x="8382000" y="4191000"/>
              <a:ext cx="8842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 Repeatable</a:t>
              </a:r>
              <a:endParaRPr lang="en-US" sz="1100" spc="0" kern="0" b="0" i="0" dirty="0">
                <a:solidFill>
                  <a:srgbClr val="070154"/>
                </a:solidFill>
                <a:latin typeface="IBM Plex Sans"/>
                <a:ea typeface="IBM Plex Sans"/>
                <a:cs typeface="IBM Plex Sans"/>
              </a:endParaRPr>
            </a:p>
          </p:txBody>
        </p:sp>
        <p:sp>
          <p:nvSpPr>
            <p:cNvPr id="88" name="node03.items.slot-003.swatch"/>
            <p:cNvSpPr/>
            <p:nvPr/>
          </p:nvSpPr>
          <p:spPr>
            <a:xfrm>
              <a:off x="8039100" y="4527550"/>
              <a:ext cx="228600" cy="127000"/>
            </a:xfrm>
            <a:prstGeom prst="rect">
              <a:avLst/>
            </a:prstGeom>
            <a:solidFill>
              <a:srgbClr val="7C9BFF"/>
            </a:solidFill>
            <a:ln>
              <a:noFill/>
            </a:ln>
          </p:spPr>
        </p:sp>
        <p:sp>
          <p:nvSpPr>
            <p:cNvPr id="89" name="node03.items.slot-003.text"/>
            <p:cNvSpPr/>
            <p:nvPr/>
          </p:nvSpPr>
          <p:spPr>
            <a:xfrm>
              <a:off x="8382000" y="4495800"/>
              <a:ext cx="6540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 Defined</a:t>
              </a:r>
              <a:endParaRPr lang="en-US" sz="1100" spc="0" kern="0" b="0" i="0" dirty="0">
                <a:solidFill>
                  <a:srgbClr val="070154"/>
                </a:solidFill>
                <a:latin typeface="IBM Plex Sans"/>
                <a:ea typeface="IBM Plex Sans"/>
                <a:cs typeface="IBM Plex Sans"/>
              </a:endParaRPr>
            </a:p>
          </p:txBody>
        </p:sp>
        <p:sp>
          <p:nvSpPr>
            <p:cNvPr id="90" name="node03.items.slot-004.swatch"/>
            <p:cNvSpPr/>
            <p:nvPr/>
          </p:nvSpPr>
          <p:spPr>
            <a:xfrm>
              <a:off x="8039100" y="4832350"/>
              <a:ext cx="228600" cy="127000"/>
            </a:xfrm>
            <a:prstGeom prst="rect">
              <a:avLst/>
            </a:prstGeom>
            <a:solidFill>
              <a:srgbClr val="0047FF"/>
            </a:solidFill>
            <a:ln>
              <a:noFill/>
            </a:ln>
          </p:spPr>
        </p:sp>
        <p:sp>
          <p:nvSpPr>
            <p:cNvPr id="91" name="node03.items.slot-004.text"/>
            <p:cNvSpPr/>
            <p:nvPr/>
          </p:nvSpPr>
          <p:spPr>
            <a:xfrm>
              <a:off x="8382000" y="4800600"/>
              <a:ext cx="7397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4 Managed</a:t>
              </a:r>
              <a:endParaRPr lang="en-US" sz="1100" spc="0" kern="0" b="0" i="0" dirty="0">
                <a:solidFill>
                  <a:srgbClr val="070154"/>
                </a:solidFill>
                <a:latin typeface="IBM Plex Sans"/>
                <a:ea typeface="IBM Plex Sans"/>
                <a:cs typeface="IBM Plex Sans"/>
              </a:endParaRPr>
            </a:p>
          </p:txBody>
        </p:sp>
        <p:sp>
          <p:nvSpPr>
            <p:cNvPr id="92" name="node03.items.slot-005.swatch"/>
            <p:cNvSpPr/>
            <p:nvPr/>
          </p:nvSpPr>
          <p:spPr>
            <a:xfrm>
              <a:off x="8039100" y="5137150"/>
              <a:ext cx="228600" cy="127000"/>
            </a:xfrm>
            <a:prstGeom prst="rect">
              <a:avLst/>
            </a:prstGeom>
            <a:solidFill>
              <a:srgbClr val="070154"/>
            </a:solidFill>
            <a:ln>
              <a:noFill/>
            </a:ln>
          </p:spPr>
        </p:sp>
        <p:sp>
          <p:nvSpPr>
            <p:cNvPr id="93" name="node03.items.slot-005.text"/>
            <p:cNvSpPr/>
            <p:nvPr/>
          </p:nvSpPr>
          <p:spPr>
            <a:xfrm>
              <a:off x="8382000" y="5105400"/>
              <a:ext cx="8112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Optimized</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ource-206">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Enterprise capabilities trail on data and people</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74</a:t>
            </a:fld>
            <a:endParaRPr lang="en-US" sz="700" spc="0" kern="0" b="0" i="0" dirty="0">
              <a:solidFill>
                <a:srgbClr val="070154"/>
              </a:solidFill>
              <a:latin typeface="IBM Plex Mono SemiBold"/>
              <a:ea typeface="IBM Plex Mono SemiBold"/>
              <a:cs typeface="IBM Plex Mono SemiBold"/>
            </a:endParaRPr>
          </a:p>
        </p:txBody>
      </p:sp>
      <p:grpSp>
        <p:nvGrpSpPr>
          <p:cNvPr id="65" name="node01"/>
          <p:cNvGrpSpPr/>
          <p:nvPr/>
        </p:nvGrpSpPr>
        <p:grpSpPr>
          <a:xfrm>
            <a:off x="4381500" y="457200"/>
            <a:ext cx="7086600" cy="5054600"/>
            <a:chOff x="4381500" y="457200"/>
            <a:chExt cx="7086600" cy="5054600"/>
          </a:xfrm>
        </p:grpSpPr>
        <p:sp>
          <p:nvSpPr>
            <p:cNvPr id="7" name="node01.row.item-001.h0.heat-gap"/>
            <p:cNvSpPr/>
            <p:nvPr/>
          </p:nvSpPr>
          <p:spPr>
            <a:xfrm>
              <a:off x="5829300" y="1041400"/>
              <a:ext cx="508000" cy="1117600"/>
            </a:xfrm>
            <a:prstGeom prst="rect">
              <a:avLst/>
            </a:prstGeom>
            <a:solidFill>
              <a:srgbClr val="FFFFFF"/>
            </a:solidFill>
            <a:ln>
              <a:noFill/>
            </a:ln>
          </p:spPr>
        </p:sp>
        <p:sp>
          <p:nvSpPr>
            <p:cNvPr id="8" name="node01.row.item-001.h0.heat"/>
            <p:cNvSpPr/>
            <p:nvPr/>
          </p:nvSpPr>
          <p:spPr>
            <a:xfrm>
              <a:off x="5848350" y="1060450"/>
              <a:ext cx="469900" cy="1079500"/>
            </a:xfrm>
            <a:prstGeom prst="rect">
              <a:avLst/>
            </a:prstGeom>
            <a:solidFill>
              <a:srgbClr val="7C9BFF"/>
            </a:solidFill>
            <a:ln>
              <a:noFill/>
            </a:ln>
          </p:spPr>
        </p:sp>
        <p:sp>
          <p:nvSpPr>
            <p:cNvPr id="9" name="node01.row.item-001.h1.heat-gap"/>
            <p:cNvSpPr/>
            <p:nvPr/>
          </p:nvSpPr>
          <p:spPr>
            <a:xfrm>
              <a:off x="6337300" y="1041400"/>
              <a:ext cx="508000" cy="1117600"/>
            </a:xfrm>
            <a:prstGeom prst="rect">
              <a:avLst/>
            </a:prstGeom>
            <a:solidFill>
              <a:srgbClr val="FFFFFF"/>
            </a:solidFill>
            <a:ln>
              <a:noFill/>
            </a:ln>
          </p:spPr>
        </p:sp>
        <p:sp>
          <p:nvSpPr>
            <p:cNvPr id="10" name="node01.row.item-001.h1.heat"/>
            <p:cNvSpPr/>
            <p:nvPr/>
          </p:nvSpPr>
          <p:spPr>
            <a:xfrm>
              <a:off x="6356350" y="1060450"/>
              <a:ext cx="469900" cy="1079500"/>
            </a:xfrm>
            <a:prstGeom prst="rect">
              <a:avLst/>
            </a:prstGeom>
            <a:solidFill>
              <a:srgbClr val="B9C9F0"/>
            </a:solidFill>
            <a:ln>
              <a:noFill/>
            </a:ln>
          </p:spPr>
        </p:sp>
        <p:sp>
          <p:nvSpPr>
            <p:cNvPr id="11" name="node01.row.item-001.h2.heat-gap"/>
            <p:cNvSpPr/>
            <p:nvPr/>
          </p:nvSpPr>
          <p:spPr>
            <a:xfrm>
              <a:off x="6845300" y="1041400"/>
              <a:ext cx="508000" cy="1117600"/>
            </a:xfrm>
            <a:prstGeom prst="rect">
              <a:avLst/>
            </a:prstGeom>
            <a:solidFill>
              <a:srgbClr val="FFFFFF"/>
            </a:solidFill>
            <a:ln>
              <a:noFill/>
            </a:ln>
          </p:spPr>
        </p:sp>
        <p:sp>
          <p:nvSpPr>
            <p:cNvPr id="12" name="node01.row.item-001.h2.heat"/>
            <p:cNvSpPr/>
            <p:nvPr/>
          </p:nvSpPr>
          <p:spPr>
            <a:xfrm>
              <a:off x="6864350" y="1060450"/>
              <a:ext cx="469900" cy="1079500"/>
            </a:xfrm>
            <a:prstGeom prst="rect">
              <a:avLst/>
            </a:prstGeom>
            <a:solidFill>
              <a:srgbClr val="B9C9F0"/>
            </a:solidFill>
            <a:ln>
              <a:noFill/>
            </a:ln>
          </p:spPr>
        </p:sp>
        <p:sp>
          <p:nvSpPr>
            <p:cNvPr id="13" name="node01.row.item-001.h3.heat-gap"/>
            <p:cNvSpPr/>
            <p:nvPr/>
          </p:nvSpPr>
          <p:spPr>
            <a:xfrm>
              <a:off x="7353300" y="1041400"/>
              <a:ext cx="508000" cy="1117600"/>
            </a:xfrm>
            <a:prstGeom prst="rect">
              <a:avLst/>
            </a:prstGeom>
            <a:solidFill>
              <a:srgbClr val="FFFFFF"/>
            </a:solidFill>
            <a:ln>
              <a:noFill/>
            </a:ln>
          </p:spPr>
        </p:sp>
        <p:sp>
          <p:nvSpPr>
            <p:cNvPr id="14" name="node01.row.item-001.h3.heat"/>
            <p:cNvSpPr/>
            <p:nvPr/>
          </p:nvSpPr>
          <p:spPr>
            <a:xfrm>
              <a:off x="7372350" y="1060450"/>
              <a:ext cx="469900" cy="1079500"/>
            </a:xfrm>
            <a:prstGeom prst="rect">
              <a:avLst/>
            </a:prstGeom>
            <a:solidFill>
              <a:srgbClr val="B9C9F0"/>
            </a:solidFill>
            <a:ln>
              <a:noFill/>
            </a:ln>
          </p:spPr>
        </p:sp>
        <p:sp>
          <p:nvSpPr>
            <p:cNvPr id="15" name="node01.row.item-001.h4.heat-gap"/>
            <p:cNvSpPr/>
            <p:nvPr/>
          </p:nvSpPr>
          <p:spPr>
            <a:xfrm>
              <a:off x="7861300" y="1041400"/>
              <a:ext cx="508000" cy="1117600"/>
            </a:xfrm>
            <a:prstGeom prst="rect">
              <a:avLst/>
            </a:prstGeom>
            <a:solidFill>
              <a:srgbClr val="FFFFFF"/>
            </a:solidFill>
            <a:ln>
              <a:noFill/>
            </a:ln>
          </p:spPr>
        </p:sp>
        <p:sp>
          <p:nvSpPr>
            <p:cNvPr id="16" name="node01.row.item-001.h4.heat"/>
            <p:cNvSpPr/>
            <p:nvPr/>
          </p:nvSpPr>
          <p:spPr>
            <a:xfrm>
              <a:off x="7880350" y="1060450"/>
              <a:ext cx="469900" cy="1079500"/>
            </a:xfrm>
            <a:prstGeom prst="rect">
              <a:avLst/>
            </a:prstGeom>
            <a:solidFill>
              <a:srgbClr val="7C9BFF"/>
            </a:solidFill>
            <a:ln>
              <a:noFill/>
            </a:ln>
          </p:spPr>
        </p:sp>
        <p:sp>
          <p:nvSpPr>
            <p:cNvPr id="17" name="node01.row.item-002.h0.heat-gap"/>
            <p:cNvSpPr/>
            <p:nvPr/>
          </p:nvSpPr>
          <p:spPr>
            <a:xfrm>
              <a:off x="5829300" y="2159000"/>
              <a:ext cx="508000" cy="1117600"/>
            </a:xfrm>
            <a:prstGeom prst="rect">
              <a:avLst/>
            </a:prstGeom>
            <a:solidFill>
              <a:srgbClr val="FFFFFF"/>
            </a:solidFill>
            <a:ln>
              <a:noFill/>
            </a:ln>
          </p:spPr>
        </p:sp>
        <p:sp>
          <p:nvSpPr>
            <p:cNvPr id="18" name="node01.row.item-002.h0.heat"/>
            <p:cNvSpPr/>
            <p:nvPr/>
          </p:nvSpPr>
          <p:spPr>
            <a:xfrm>
              <a:off x="5848350" y="2178050"/>
              <a:ext cx="469900" cy="1079500"/>
            </a:xfrm>
            <a:prstGeom prst="rect">
              <a:avLst/>
            </a:prstGeom>
            <a:solidFill>
              <a:srgbClr val="B9C9F0"/>
            </a:solidFill>
            <a:ln>
              <a:noFill/>
            </a:ln>
          </p:spPr>
        </p:sp>
        <p:sp>
          <p:nvSpPr>
            <p:cNvPr id="19" name="node01.row.item-002.h1.heat-gap"/>
            <p:cNvSpPr/>
            <p:nvPr/>
          </p:nvSpPr>
          <p:spPr>
            <a:xfrm>
              <a:off x="6337300" y="2159000"/>
              <a:ext cx="508000" cy="1117600"/>
            </a:xfrm>
            <a:prstGeom prst="rect">
              <a:avLst/>
            </a:prstGeom>
            <a:solidFill>
              <a:srgbClr val="FFFFFF"/>
            </a:solidFill>
            <a:ln>
              <a:noFill/>
            </a:ln>
          </p:spPr>
        </p:sp>
        <p:sp>
          <p:nvSpPr>
            <p:cNvPr id="20" name="node01.row.item-002.h1.heat"/>
            <p:cNvSpPr/>
            <p:nvPr/>
          </p:nvSpPr>
          <p:spPr>
            <a:xfrm>
              <a:off x="6356350" y="2178050"/>
              <a:ext cx="469900" cy="1079500"/>
            </a:xfrm>
            <a:prstGeom prst="rect">
              <a:avLst/>
            </a:prstGeom>
            <a:solidFill>
              <a:srgbClr val="7C9BFF"/>
            </a:solidFill>
            <a:ln>
              <a:noFill/>
            </a:ln>
          </p:spPr>
        </p:sp>
        <p:sp>
          <p:nvSpPr>
            <p:cNvPr id="21" name="node01.row.item-002.h2.heat-gap"/>
            <p:cNvSpPr/>
            <p:nvPr/>
          </p:nvSpPr>
          <p:spPr>
            <a:xfrm>
              <a:off x="6845300" y="2159000"/>
              <a:ext cx="508000" cy="1117600"/>
            </a:xfrm>
            <a:prstGeom prst="rect">
              <a:avLst/>
            </a:prstGeom>
            <a:solidFill>
              <a:srgbClr val="FFFFFF"/>
            </a:solidFill>
            <a:ln>
              <a:noFill/>
            </a:ln>
          </p:spPr>
        </p:sp>
        <p:sp>
          <p:nvSpPr>
            <p:cNvPr id="22" name="node01.row.item-002.h2.heat"/>
            <p:cNvSpPr/>
            <p:nvPr/>
          </p:nvSpPr>
          <p:spPr>
            <a:xfrm>
              <a:off x="6864350" y="2178050"/>
              <a:ext cx="469900" cy="1079500"/>
            </a:xfrm>
            <a:prstGeom prst="rect">
              <a:avLst/>
            </a:prstGeom>
            <a:solidFill>
              <a:srgbClr val="B9C9F0"/>
            </a:solidFill>
            <a:ln>
              <a:noFill/>
            </a:ln>
          </p:spPr>
        </p:sp>
        <p:sp>
          <p:nvSpPr>
            <p:cNvPr id="23" name="node01.row.item-002.h3.heat-gap"/>
            <p:cNvSpPr/>
            <p:nvPr/>
          </p:nvSpPr>
          <p:spPr>
            <a:xfrm>
              <a:off x="7353300" y="2159000"/>
              <a:ext cx="508000" cy="1117600"/>
            </a:xfrm>
            <a:prstGeom prst="rect">
              <a:avLst/>
            </a:prstGeom>
            <a:solidFill>
              <a:srgbClr val="FFFFFF"/>
            </a:solidFill>
            <a:ln>
              <a:noFill/>
            </a:ln>
          </p:spPr>
        </p:sp>
        <p:sp>
          <p:nvSpPr>
            <p:cNvPr id="24" name="node01.row.item-002.h3.heat"/>
            <p:cNvSpPr/>
            <p:nvPr/>
          </p:nvSpPr>
          <p:spPr>
            <a:xfrm>
              <a:off x="7372350" y="2178050"/>
              <a:ext cx="469900" cy="1079500"/>
            </a:xfrm>
            <a:prstGeom prst="rect">
              <a:avLst/>
            </a:prstGeom>
            <a:solidFill>
              <a:srgbClr val="B9C9F0"/>
            </a:solidFill>
            <a:ln>
              <a:noFill/>
            </a:ln>
          </p:spPr>
        </p:sp>
        <p:sp>
          <p:nvSpPr>
            <p:cNvPr id="25" name="node01.row.item-002.h4.heat-gap"/>
            <p:cNvSpPr/>
            <p:nvPr/>
          </p:nvSpPr>
          <p:spPr>
            <a:xfrm>
              <a:off x="7861300" y="2159000"/>
              <a:ext cx="508000" cy="1117600"/>
            </a:xfrm>
            <a:prstGeom prst="rect">
              <a:avLst/>
            </a:prstGeom>
            <a:solidFill>
              <a:srgbClr val="FFFFFF"/>
            </a:solidFill>
            <a:ln>
              <a:noFill/>
            </a:ln>
          </p:spPr>
        </p:sp>
        <p:sp>
          <p:nvSpPr>
            <p:cNvPr id="26" name="node01.row.item-002.h4.heat"/>
            <p:cNvSpPr/>
            <p:nvPr/>
          </p:nvSpPr>
          <p:spPr>
            <a:xfrm>
              <a:off x="7880350" y="2178050"/>
              <a:ext cx="469900" cy="1079500"/>
            </a:xfrm>
            <a:prstGeom prst="rect">
              <a:avLst/>
            </a:prstGeom>
            <a:solidFill>
              <a:srgbClr val="7C9BFF"/>
            </a:solidFill>
            <a:ln>
              <a:noFill/>
            </a:ln>
          </p:spPr>
        </p:sp>
        <p:sp>
          <p:nvSpPr>
            <p:cNvPr id="27" name="node01.row.item-003.h0.heat-gap"/>
            <p:cNvSpPr/>
            <p:nvPr/>
          </p:nvSpPr>
          <p:spPr>
            <a:xfrm>
              <a:off x="5829300" y="3276600"/>
              <a:ext cx="508000" cy="1117600"/>
            </a:xfrm>
            <a:prstGeom prst="rect">
              <a:avLst/>
            </a:prstGeom>
            <a:solidFill>
              <a:srgbClr val="FFFFFF"/>
            </a:solidFill>
            <a:ln>
              <a:noFill/>
            </a:ln>
          </p:spPr>
        </p:sp>
        <p:sp>
          <p:nvSpPr>
            <p:cNvPr id="28" name="node01.row.item-003.h0.heat"/>
            <p:cNvSpPr/>
            <p:nvPr/>
          </p:nvSpPr>
          <p:spPr>
            <a:xfrm>
              <a:off x="5848350" y="3295650"/>
              <a:ext cx="469900" cy="1079500"/>
            </a:xfrm>
            <a:prstGeom prst="rect">
              <a:avLst/>
            </a:prstGeom>
            <a:solidFill>
              <a:srgbClr val="B9C9F0"/>
            </a:solidFill>
            <a:ln>
              <a:noFill/>
            </a:ln>
          </p:spPr>
        </p:sp>
        <p:sp>
          <p:nvSpPr>
            <p:cNvPr id="29" name="node01.row.item-003.h1.heat-gap"/>
            <p:cNvSpPr/>
            <p:nvPr/>
          </p:nvSpPr>
          <p:spPr>
            <a:xfrm>
              <a:off x="6337300" y="3276600"/>
              <a:ext cx="508000" cy="1117600"/>
            </a:xfrm>
            <a:prstGeom prst="rect">
              <a:avLst/>
            </a:prstGeom>
            <a:solidFill>
              <a:srgbClr val="FFFFFF"/>
            </a:solidFill>
            <a:ln>
              <a:noFill/>
            </a:ln>
          </p:spPr>
        </p:sp>
        <p:sp>
          <p:nvSpPr>
            <p:cNvPr id="30" name="node01.row.item-003.h1.heat"/>
            <p:cNvSpPr/>
            <p:nvPr/>
          </p:nvSpPr>
          <p:spPr>
            <a:xfrm>
              <a:off x="6356350" y="3295650"/>
              <a:ext cx="469900" cy="1079500"/>
            </a:xfrm>
            <a:prstGeom prst="rect">
              <a:avLst/>
            </a:prstGeom>
            <a:solidFill>
              <a:srgbClr val="7C9BFF"/>
            </a:solidFill>
            <a:ln>
              <a:noFill/>
            </a:ln>
          </p:spPr>
        </p:sp>
        <p:sp>
          <p:nvSpPr>
            <p:cNvPr id="31" name="node01.row.item-003.h2.heat-gap"/>
            <p:cNvSpPr/>
            <p:nvPr/>
          </p:nvSpPr>
          <p:spPr>
            <a:xfrm>
              <a:off x="6845300" y="3276600"/>
              <a:ext cx="508000" cy="1117600"/>
            </a:xfrm>
            <a:prstGeom prst="rect">
              <a:avLst/>
            </a:prstGeom>
            <a:solidFill>
              <a:srgbClr val="FFFFFF"/>
            </a:solidFill>
            <a:ln>
              <a:noFill/>
            </a:ln>
          </p:spPr>
        </p:sp>
        <p:sp>
          <p:nvSpPr>
            <p:cNvPr id="32" name="node01.row.item-003.h2.heat"/>
            <p:cNvSpPr/>
            <p:nvPr/>
          </p:nvSpPr>
          <p:spPr>
            <a:xfrm>
              <a:off x="6864350" y="3295650"/>
              <a:ext cx="469900" cy="1079500"/>
            </a:xfrm>
            <a:prstGeom prst="rect">
              <a:avLst/>
            </a:prstGeom>
            <a:solidFill>
              <a:srgbClr val="B9C9F0"/>
            </a:solidFill>
            <a:ln>
              <a:noFill/>
            </a:ln>
          </p:spPr>
        </p:sp>
        <p:sp>
          <p:nvSpPr>
            <p:cNvPr id="33" name="node01.row.item-003.h3.heat-gap"/>
            <p:cNvSpPr/>
            <p:nvPr/>
          </p:nvSpPr>
          <p:spPr>
            <a:xfrm>
              <a:off x="7353300" y="3276600"/>
              <a:ext cx="508000" cy="1117600"/>
            </a:xfrm>
            <a:prstGeom prst="rect">
              <a:avLst/>
            </a:prstGeom>
            <a:solidFill>
              <a:srgbClr val="FFFFFF"/>
            </a:solidFill>
            <a:ln>
              <a:noFill/>
            </a:ln>
          </p:spPr>
        </p:sp>
        <p:sp>
          <p:nvSpPr>
            <p:cNvPr id="34" name="node01.row.item-003.h3.heat"/>
            <p:cNvSpPr/>
            <p:nvPr/>
          </p:nvSpPr>
          <p:spPr>
            <a:xfrm>
              <a:off x="7372350" y="3295650"/>
              <a:ext cx="469900" cy="1079500"/>
            </a:xfrm>
            <a:prstGeom prst="rect">
              <a:avLst/>
            </a:prstGeom>
            <a:solidFill>
              <a:srgbClr val="B9C9F0"/>
            </a:solidFill>
            <a:ln>
              <a:noFill/>
            </a:ln>
          </p:spPr>
        </p:sp>
        <p:sp>
          <p:nvSpPr>
            <p:cNvPr id="35" name="node01.row.item-003.h4.heat-gap"/>
            <p:cNvSpPr/>
            <p:nvPr/>
          </p:nvSpPr>
          <p:spPr>
            <a:xfrm>
              <a:off x="7861300" y="3276600"/>
              <a:ext cx="508000" cy="1117600"/>
            </a:xfrm>
            <a:prstGeom prst="rect">
              <a:avLst/>
            </a:prstGeom>
            <a:solidFill>
              <a:srgbClr val="FFFFFF"/>
            </a:solidFill>
            <a:ln>
              <a:noFill/>
            </a:ln>
          </p:spPr>
        </p:sp>
        <p:sp>
          <p:nvSpPr>
            <p:cNvPr id="36" name="node01.row.item-003.h4.heat"/>
            <p:cNvSpPr/>
            <p:nvPr/>
          </p:nvSpPr>
          <p:spPr>
            <a:xfrm>
              <a:off x="7880350" y="3295650"/>
              <a:ext cx="469900" cy="1079500"/>
            </a:xfrm>
            <a:prstGeom prst="rect">
              <a:avLst/>
            </a:prstGeom>
            <a:solidFill>
              <a:srgbClr val="B9C9F0"/>
            </a:solidFill>
            <a:ln>
              <a:noFill/>
            </a:ln>
          </p:spPr>
        </p:sp>
        <p:sp>
          <p:nvSpPr>
            <p:cNvPr id="37" name="node01.row.item-004.h0.heat-gap"/>
            <p:cNvSpPr/>
            <p:nvPr/>
          </p:nvSpPr>
          <p:spPr>
            <a:xfrm>
              <a:off x="5829300" y="4394200"/>
              <a:ext cx="508000" cy="1117600"/>
            </a:xfrm>
            <a:prstGeom prst="rect">
              <a:avLst/>
            </a:prstGeom>
            <a:solidFill>
              <a:srgbClr val="FFFFFF"/>
            </a:solidFill>
            <a:ln>
              <a:noFill/>
            </a:ln>
          </p:spPr>
        </p:sp>
        <p:sp>
          <p:nvSpPr>
            <p:cNvPr id="38" name="node01.row.item-004.h0.heat"/>
            <p:cNvSpPr/>
            <p:nvPr/>
          </p:nvSpPr>
          <p:spPr>
            <a:xfrm>
              <a:off x="5848350" y="4413250"/>
              <a:ext cx="469900" cy="1079500"/>
            </a:xfrm>
            <a:prstGeom prst="rect">
              <a:avLst/>
            </a:prstGeom>
            <a:solidFill>
              <a:srgbClr val="7C9BFF"/>
            </a:solidFill>
            <a:ln>
              <a:noFill/>
            </a:ln>
          </p:spPr>
        </p:sp>
        <p:sp>
          <p:nvSpPr>
            <p:cNvPr id="39" name="node01.row.item-004.h1.heat-gap"/>
            <p:cNvSpPr/>
            <p:nvPr/>
          </p:nvSpPr>
          <p:spPr>
            <a:xfrm>
              <a:off x="6337300" y="4394200"/>
              <a:ext cx="508000" cy="1117600"/>
            </a:xfrm>
            <a:prstGeom prst="rect">
              <a:avLst/>
            </a:prstGeom>
            <a:solidFill>
              <a:srgbClr val="FFFFFF"/>
            </a:solidFill>
            <a:ln>
              <a:noFill/>
            </a:ln>
          </p:spPr>
        </p:sp>
        <p:sp>
          <p:nvSpPr>
            <p:cNvPr id="40" name="node01.row.item-004.h1.heat"/>
            <p:cNvSpPr/>
            <p:nvPr/>
          </p:nvSpPr>
          <p:spPr>
            <a:xfrm>
              <a:off x="6356350" y="4413250"/>
              <a:ext cx="469900" cy="1079500"/>
            </a:xfrm>
            <a:prstGeom prst="rect">
              <a:avLst/>
            </a:prstGeom>
            <a:solidFill>
              <a:srgbClr val="0047FF"/>
            </a:solidFill>
            <a:ln>
              <a:noFill/>
            </a:ln>
          </p:spPr>
        </p:sp>
        <p:sp>
          <p:nvSpPr>
            <p:cNvPr id="41" name="node01.row.item-004.h2.heat-gap"/>
            <p:cNvSpPr/>
            <p:nvPr/>
          </p:nvSpPr>
          <p:spPr>
            <a:xfrm>
              <a:off x="6845300" y="4394200"/>
              <a:ext cx="508000" cy="1117600"/>
            </a:xfrm>
            <a:prstGeom prst="rect">
              <a:avLst/>
            </a:prstGeom>
            <a:solidFill>
              <a:srgbClr val="FFFFFF"/>
            </a:solidFill>
            <a:ln>
              <a:noFill/>
            </a:ln>
          </p:spPr>
        </p:sp>
        <p:sp>
          <p:nvSpPr>
            <p:cNvPr id="42" name="node01.row.item-004.h2.heat"/>
            <p:cNvSpPr/>
            <p:nvPr/>
          </p:nvSpPr>
          <p:spPr>
            <a:xfrm>
              <a:off x="6864350" y="4413250"/>
              <a:ext cx="469900" cy="1079500"/>
            </a:xfrm>
            <a:prstGeom prst="rect">
              <a:avLst/>
            </a:prstGeom>
            <a:solidFill>
              <a:srgbClr val="7C9BFF"/>
            </a:solidFill>
            <a:ln>
              <a:noFill/>
            </a:ln>
          </p:spPr>
        </p:sp>
        <p:sp>
          <p:nvSpPr>
            <p:cNvPr id="43" name="node01.row.item-004.h3.heat-gap"/>
            <p:cNvSpPr/>
            <p:nvPr/>
          </p:nvSpPr>
          <p:spPr>
            <a:xfrm>
              <a:off x="7353300" y="4394200"/>
              <a:ext cx="508000" cy="1117600"/>
            </a:xfrm>
            <a:prstGeom prst="rect">
              <a:avLst/>
            </a:prstGeom>
            <a:solidFill>
              <a:srgbClr val="FFFFFF"/>
            </a:solidFill>
            <a:ln>
              <a:noFill/>
            </a:ln>
          </p:spPr>
        </p:sp>
        <p:sp>
          <p:nvSpPr>
            <p:cNvPr id="44" name="node01.row.item-004.h3.heat"/>
            <p:cNvSpPr/>
            <p:nvPr/>
          </p:nvSpPr>
          <p:spPr>
            <a:xfrm>
              <a:off x="7372350" y="4413250"/>
              <a:ext cx="469900" cy="1079500"/>
            </a:xfrm>
            <a:prstGeom prst="rect">
              <a:avLst/>
            </a:prstGeom>
            <a:solidFill>
              <a:srgbClr val="7C9BFF"/>
            </a:solidFill>
            <a:ln>
              <a:noFill/>
            </a:ln>
          </p:spPr>
        </p:sp>
        <p:sp>
          <p:nvSpPr>
            <p:cNvPr id="45" name="node01.row.item-004.h4.heat-gap"/>
            <p:cNvSpPr/>
            <p:nvPr/>
          </p:nvSpPr>
          <p:spPr>
            <a:xfrm>
              <a:off x="7861300" y="4394200"/>
              <a:ext cx="508000" cy="1117600"/>
            </a:xfrm>
            <a:prstGeom prst="rect">
              <a:avLst/>
            </a:prstGeom>
            <a:solidFill>
              <a:srgbClr val="FFFFFF"/>
            </a:solidFill>
            <a:ln>
              <a:noFill/>
            </a:ln>
          </p:spPr>
        </p:sp>
        <p:sp>
          <p:nvSpPr>
            <p:cNvPr id="46" name="node01.row.item-004.h4.heat"/>
            <p:cNvSpPr/>
            <p:nvPr/>
          </p:nvSpPr>
          <p:spPr>
            <a:xfrm>
              <a:off x="7880350" y="4413250"/>
              <a:ext cx="469900" cy="1079500"/>
            </a:xfrm>
            <a:prstGeom prst="rect">
              <a:avLst/>
            </a:prstGeom>
            <a:solidFill>
              <a:srgbClr val="070154"/>
            </a:solidFill>
            <a:ln>
              <a:noFill/>
            </a:ln>
          </p:spPr>
        </p:sp>
        <p:graphicFrame>
          <p:nvGraphicFramePr>
            <p:cNvPr id="47" name="node01.native"/>
            <p:cNvGraphicFramePr>
              <a:graphicFrameLocks noGrp="1"/>
            </p:cNvGraphicFramePr>
            <p:nvPr>
              <p:extLst>
                <p:ext uri="{D42A27DB-BD31-4B8C-83A1-F6EECF244321}">
                  <p14:modId xmlns:p14="http://schemas.microsoft.com/office/powerpoint/2010/main" val="1579011935"/>
                </p:ext>
              </p:extLst>
            </p:nvPr>
          </p:nvGraphicFramePr>
          <p:xfrm>
            <a:off x="4381500" y="685800"/>
            <a:ext cx="7086600" cy="4826000"/>
          </p:xfrm>
          <a:graphic>
            <a:graphicData uri="http://schemas.openxmlformats.org/drawingml/2006/table">
              <a:tbl>
                <a:tblPr/>
                <a:tblGrid>
                  <a:gridCol w="1447800"/>
                  <a:gridCol w="508000"/>
                  <a:gridCol w="508000"/>
                  <a:gridCol w="508000"/>
                  <a:gridCol w="508000"/>
                  <a:gridCol w="508000"/>
                  <a:gridCol w="30988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CAPABILITY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PROC</a:t>
                        </a:r>
                        <a:endParaRPr lang="en-US" sz="800" spc="48" kern="0" b="0" i="0" dirty="0">
                          <a:solidFill>
                            <a:srgbClr val="070154"/>
                          </a:solidFill>
                          <a:latin typeface="IBM Plex Mono SemiBold"/>
                          <a:ea typeface="IBM Plex Mono SemiBold"/>
                          <a:cs typeface="IBM Plex Mono SemiBold"/>
                        </a:endParaRPr>
                      </a:p>
                    </a:txBody>
                    <a:tcPr marL="108458" marR="108458"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TECH</a:t>
                        </a:r>
                        <a:endParaRPr lang="en-US" sz="800" spc="48" kern="0" b="0" i="0" dirty="0">
                          <a:solidFill>
                            <a:srgbClr val="070154"/>
                          </a:solidFill>
                          <a:latin typeface="IBM Plex Mono SemiBold"/>
                          <a:ea typeface="IBM Plex Mono SemiBold"/>
                          <a:cs typeface="IBM Plex Mono SemiBold"/>
                        </a:endParaRPr>
                      </a:p>
                    </a:txBody>
                    <a:tcPr marL="108458" marR="108458"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DATA</a:t>
                        </a:r>
                        <a:endParaRPr lang="en-US" sz="800" spc="48" kern="0" b="0" i="0" dirty="0">
                          <a:solidFill>
                            <a:srgbClr val="070154"/>
                          </a:solidFill>
                          <a:latin typeface="IBM Plex Mono SemiBold"/>
                          <a:ea typeface="IBM Plex Mono SemiBold"/>
                          <a:cs typeface="IBM Plex Mono SemiBold"/>
                        </a:endParaRPr>
                      </a:p>
                    </a:txBody>
                    <a:tcPr marL="108458" marR="108458"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PPL</a:t>
                        </a:r>
                        <a:endParaRPr lang="en-US" sz="800" spc="48" kern="0" b="0" i="0" dirty="0">
                          <a:solidFill>
                            <a:srgbClr val="070154"/>
                          </a:solidFill>
                          <a:latin typeface="IBM Plex Mono SemiBold"/>
                          <a:ea typeface="IBM Plex Mono SemiBold"/>
                          <a:cs typeface="IBM Plex Mono SemiBold"/>
                        </a:endParaRPr>
                      </a:p>
                    </a:txBody>
                    <a:tcPr marL="141669" marR="141669"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GOV</a:t>
                        </a:r>
                        <a:endParaRPr lang="en-US" sz="800" spc="48" kern="0" b="0" i="0" dirty="0">
                          <a:solidFill>
                            <a:srgbClr val="070154"/>
                          </a:solidFill>
                          <a:latin typeface="IBM Plex Mono SemiBold"/>
                          <a:ea typeface="IBM Plex Mono SemiBold"/>
                          <a:cs typeface="IBM Plex Mono SemiBold"/>
                        </a:endParaRPr>
                      </a:p>
                    </a:txBody>
                    <a:tcPr marL="141669" marR="141669"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NOTES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1117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Supply chain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Item master has duplicates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Contracts tracked by site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Clean item master first</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Pool volumes across sites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117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Workforce management</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Rosters are built by hand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Credentialing is on time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Open reqs data is stale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Automate roster build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117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Data and analytics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Reports rebuilt per team</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Master data has no owner</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Name data stewards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Publish a metric catalog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117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Cybersecurity</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5</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Controls tested yearly</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Access review quarterly</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Vendor risk is tracked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Add live monitoring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48" name="node01.continued"/>
            <p:cNvSpPr/>
            <p:nvPr/>
          </p:nvSpPr>
          <p:spPr>
            <a:xfrm>
              <a:off x="4381500" y="4572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CAPABILITY HEAT MAP WITH NOTES (CONTINUED, 3 OF 3)</a:t>
              </a:r>
              <a:endParaRPr lang="en-US" sz="800" spc="48" kern="0" b="0" i="0" dirty="0">
                <a:solidFill>
                  <a:srgbClr val="50658E"/>
                </a:solidFill>
                <a:latin typeface="IBM Plex Mono Medium"/>
                <a:ea typeface="IBM Plex Mono Medium"/>
                <a:cs typeface="IBM Plex Mono Medium"/>
              </a:endParaRPr>
            </a:p>
          </p:txBody>
        </p:sp>
      </p:grpSp>
      <p:grpSp>
        <p:nvGrpSpPr>
          <p:cNvPr id="66" name="node02"/>
          <p:cNvGrpSpPr/>
          <p:nvPr/>
        </p:nvGrpSpPr>
        <p:grpSpPr>
          <a:xfrm>
            <a:off x="723900" y="2286000"/>
            <a:ext cx="3429000" cy="1371600"/>
            <a:chOff x="723900" y="2286000"/>
            <a:chExt cx="3429000" cy="1371600"/>
          </a:xfrm>
        </p:grpSpPr>
        <p:sp>
          <p:nvSpPr>
            <p:cNvPr id="49" name="node02.source-001.bullet"/>
            <p:cNvSpPr/>
            <p:nvPr/>
          </p:nvSpPr>
          <p:spPr>
            <a:xfrm>
              <a:off x="723900" y="2374900"/>
              <a:ext cx="38100" cy="38100"/>
            </a:xfrm>
            <a:prstGeom prst="rect">
              <a:avLst/>
            </a:prstGeom>
            <a:solidFill>
              <a:srgbClr val="070154"/>
            </a:solidFill>
            <a:ln>
              <a:noFill/>
            </a:ln>
          </p:spPr>
        </p:sp>
        <p:sp>
          <p:nvSpPr>
            <p:cNvPr id="50" name="node02.source-001.text"/>
            <p:cNvSpPr/>
            <p:nvPr/>
          </p:nvSpPr>
          <p:spPr>
            <a:xfrm>
              <a:off x="876300" y="22860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Security holds.</a:t>
              </a:r>
              <a:r>
                <a:rPr lang="en-US" sz="1200" spc="0" kern="0" b="0" i="0" dirty="0">
                  <a:solidFill>
                    <a:srgbClr val="50658E"/>
                  </a:solidFill>
                  <a:latin typeface="IBM Plex Sans"/>
                  <a:ea typeface="IBM Plex Sans"/>
                  <a:cs typeface="IBM Plex Sans"/>
                </a:rPr>
                <a:t xml:space="preserve"> Governance reaches 5 in cybersecurity.</a:t>
              </a:r>
              <a:endParaRPr lang="en-US" sz="1200" spc="0" kern="0" b="0" i="0" dirty="0">
                <a:solidFill>
                  <a:srgbClr val="070154"/>
                </a:solidFill>
                <a:latin typeface="IBM Plex Sans"/>
                <a:ea typeface="IBM Plex Sans"/>
                <a:cs typeface="IBM Plex Sans"/>
              </a:endParaRPr>
            </a:p>
          </p:txBody>
        </p:sp>
        <p:sp>
          <p:nvSpPr>
            <p:cNvPr id="51" name="node02.source-002.bullet"/>
            <p:cNvSpPr/>
            <p:nvPr/>
          </p:nvSpPr>
          <p:spPr>
            <a:xfrm>
              <a:off x="723900" y="2844800"/>
              <a:ext cx="38100" cy="38100"/>
            </a:xfrm>
            <a:prstGeom prst="rect">
              <a:avLst/>
            </a:prstGeom>
            <a:solidFill>
              <a:srgbClr val="070154"/>
            </a:solidFill>
            <a:ln>
              <a:noFill/>
            </a:ln>
          </p:spPr>
        </p:sp>
        <p:sp>
          <p:nvSpPr>
            <p:cNvPr id="52" name="node02.source-002.text"/>
            <p:cNvSpPr/>
            <p:nvPr/>
          </p:nvSpPr>
          <p:spPr>
            <a:xfrm>
              <a:off x="876300" y="27559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Data is the gap.</a:t>
              </a:r>
              <a:r>
                <a:rPr lang="en-US" sz="1200" spc="0" kern="0" b="0" i="0" dirty="0">
                  <a:solidFill>
                    <a:srgbClr val="50658E"/>
                  </a:solidFill>
                  <a:latin typeface="IBM Plex Sans"/>
                  <a:ea typeface="IBM Plex Sans"/>
                  <a:cs typeface="IBM Plex Sans"/>
                </a:rPr>
                <a:t xml:space="preserve"> Master data has no owner in three of four rows.</a:t>
              </a:r>
              <a:endParaRPr lang="en-US" sz="1200" spc="0" kern="0" b="0" i="0" dirty="0">
                <a:solidFill>
                  <a:srgbClr val="070154"/>
                </a:solidFill>
                <a:latin typeface="IBM Plex Sans"/>
                <a:ea typeface="IBM Plex Sans"/>
                <a:cs typeface="IBM Plex Sans"/>
              </a:endParaRPr>
            </a:p>
          </p:txBody>
        </p:sp>
        <p:sp>
          <p:nvSpPr>
            <p:cNvPr id="53" name="node02.source-003.bullet"/>
            <p:cNvSpPr/>
            <p:nvPr/>
          </p:nvSpPr>
          <p:spPr>
            <a:xfrm>
              <a:off x="723900" y="3314700"/>
              <a:ext cx="38100" cy="38100"/>
            </a:xfrm>
            <a:prstGeom prst="rect">
              <a:avLst/>
            </a:prstGeom>
            <a:solidFill>
              <a:srgbClr val="070154"/>
            </a:solidFill>
            <a:ln>
              <a:noFill/>
            </a:ln>
          </p:spPr>
        </p:sp>
        <p:sp>
          <p:nvSpPr>
            <p:cNvPr id="54" name="node02.source-003.text"/>
            <p:cNvSpPr/>
            <p:nvPr/>
          </p:nvSpPr>
          <p:spPr>
            <a:xfrm>
              <a:off x="876300" y="32258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People next.</a:t>
              </a:r>
              <a:r>
                <a:rPr lang="en-US" sz="1200" spc="0" kern="0" b="0" i="0" dirty="0">
                  <a:solidFill>
                    <a:srgbClr val="50658E"/>
                  </a:solidFill>
                  <a:latin typeface="IBM Plex Sans"/>
                  <a:ea typeface="IBM Plex Sans"/>
                  <a:cs typeface="IBM Plex Sans"/>
                </a:rPr>
                <a:t xml:space="preserve"> Workforce and analytics both score 2.</a:t>
              </a:r>
              <a:endParaRPr lang="en-US" sz="1200" spc="0" kern="0" b="0" i="0" dirty="0">
                <a:solidFill>
                  <a:srgbClr val="070154"/>
                </a:solidFill>
                <a:latin typeface="IBM Plex Sans"/>
                <a:ea typeface="IBM Plex Sans"/>
                <a:cs typeface="IBM Plex Sans"/>
              </a:endParaRPr>
            </a:p>
          </p:txBody>
        </p:sp>
      </p:grpSp>
      <p:grpSp>
        <p:nvGrpSpPr>
          <p:cNvPr id="67" name="node03"/>
          <p:cNvGrpSpPr/>
          <p:nvPr/>
        </p:nvGrpSpPr>
        <p:grpSpPr>
          <a:xfrm>
            <a:off x="723900" y="3886200"/>
            <a:ext cx="1227138" cy="1409700"/>
            <a:chOff x="723900" y="3886200"/>
            <a:chExt cx="1227138" cy="1409700"/>
          </a:xfrm>
        </p:grpSpPr>
        <p:sp>
          <p:nvSpPr>
            <p:cNvPr id="55" name="node03.items.slot-001.swatch"/>
            <p:cNvSpPr/>
            <p:nvPr/>
          </p:nvSpPr>
          <p:spPr>
            <a:xfrm>
              <a:off x="723900" y="3917950"/>
              <a:ext cx="228600" cy="127000"/>
            </a:xfrm>
            <a:prstGeom prst="rect">
              <a:avLst/>
            </a:prstGeom>
            <a:solidFill>
              <a:srgbClr val="E8EEF8"/>
            </a:solidFill>
            <a:ln>
              <a:noFill/>
            </a:ln>
          </p:spPr>
        </p:sp>
        <p:sp>
          <p:nvSpPr>
            <p:cNvPr id="56" name="node03.items.slot-001.text"/>
            <p:cNvSpPr/>
            <p:nvPr/>
          </p:nvSpPr>
          <p:spPr>
            <a:xfrm>
              <a:off x="1066800" y="3886200"/>
              <a:ext cx="5984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Ad hoc</a:t>
              </a:r>
              <a:endParaRPr lang="en-US" sz="1100" spc="0" kern="0" b="0" i="0" dirty="0">
                <a:solidFill>
                  <a:srgbClr val="070154"/>
                </a:solidFill>
                <a:latin typeface="IBM Plex Sans"/>
                <a:ea typeface="IBM Plex Sans"/>
                <a:cs typeface="IBM Plex Sans"/>
              </a:endParaRPr>
            </a:p>
          </p:txBody>
        </p:sp>
        <p:sp>
          <p:nvSpPr>
            <p:cNvPr id="57" name="node03.items.slot-002.swatch"/>
            <p:cNvSpPr/>
            <p:nvPr/>
          </p:nvSpPr>
          <p:spPr>
            <a:xfrm>
              <a:off x="723900" y="4222750"/>
              <a:ext cx="228600" cy="127000"/>
            </a:xfrm>
            <a:prstGeom prst="rect">
              <a:avLst/>
            </a:prstGeom>
            <a:solidFill>
              <a:srgbClr val="B9C9F0"/>
            </a:solidFill>
            <a:ln>
              <a:noFill/>
            </a:ln>
          </p:spPr>
        </p:sp>
        <p:sp>
          <p:nvSpPr>
            <p:cNvPr id="58" name="node03.items.slot-002.text"/>
            <p:cNvSpPr/>
            <p:nvPr/>
          </p:nvSpPr>
          <p:spPr>
            <a:xfrm>
              <a:off x="1066800" y="4191000"/>
              <a:ext cx="8842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 Repeatable</a:t>
              </a:r>
              <a:endParaRPr lang="en-US" sz="1100" spc="0" kern="0" b="0" i="0" dirty="0">
                <a:solidFill>
                  <a:srgbClr val="070154"/>
                </a:solidFill>
                <a:latin typeface="IBM Plex Sans"/>
                <a:ea typeface="IBM Plex Sans"/>
                <a:cs typeface="IBM Plex Sans"/>
              </a:endParaRPr>
            </a:p>
          </p:txBody>
        </p:sp>
        <p:sp>
          <p:nvSpPr>
            <p:cNvPr id="59" name="node03.items.slot-003.swatch"/>
            <p:cNvSpPr/>
            <p:nvPr/>
          </p:nvSpPr>
          <p:spPr>
            <a:xfrm>
              <a:off x="723900" y="4527550"/>
              <a:ext cx="228600" cy="127000"/>
            </a:xfrm>
            <a:prstGeom prst="rect">
              <a:avLst/>
            </a:prstGeom>
            <a:solidFill>
              <a:srgbClr val="7C9BFF"/>
            </a:solidFill>
            <a:ln>
              <a:noFill/>
            </a:ln>
          </p:spPr>
        </p:sp>
        <p:sp>
          <p:nvSpPr>
            <p:cNvPr id="60" name="node03.items.slot-003.text"/>
            <p:cNvSpPr/>
            <p:nvPr/>
          </p:nvSpPr>
          <p:spPr>
            <a:xfrm>
              <a:off x="1066800" y="4495800"/>
              <a:ext cx="6540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 Defined</a:t>
              </a:r>
              <a:endParaRPr lang="en-US" sz="1100" spc="0" kern="0" b="0" i="0" dirty="0">
                <a:solidFill>
                  <a:srgbClr val="070154"/>
                </a:solidFill>
                <a:latin typeface="IBM Plex Sans"/>
                <a:ea typeface="IBM Plex Sans"/>
                <a:cs typeface="IBM Plex Sans"/>
              </a:endParaRPr>
            </a:p>
          </p:txBody>
        </p:sp>
        <p:sp>
          <p:nvSpPr>
            <p:cNvPr id="61" name="node03.items.slot-004.swatch"/>
            <p:cNvSpPr/>
            <p:nvPr/>
          </p:nvSpPr>
          <p:spPr>
            <a:xfrm>
              <a:off x="723900" y="4832350"/>
              <a:ext cx="228600" cy="127000"/>
            </a:xfrm>
            <a:prstGeom prst="rect">
              <a:avLst/>
            </a:prstGeom>
            <a:solidFill>
              <a:srgbClr val="0047FF"/>
            </a:solidFill>
            <a:ln>
              <a:noFill/>
            </a:ln>
          </p:spPr>
        </p:sp>
        <p:sp>
          <p:nvSpPr>
            <p:cNvPr id="62" name="node03.items.slot-004.text"/>
            <p:cNvSpPr/>
            <p:nvPr/>
          </p:nvSpPr>
          <p:spPr>
            <a:xfrm>
              <a:off x="1066800" y="4800600"/>
              <a:ext cx="7397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4 Managed</a:t>
              </a:r>
              <a:endParaRPr lang="en-US" sz="1100" spc="0" kern="0" b="0" i="0" dirty="0">
                <a:solidFill>
                  <a:srgbClr val="070154"/>
                </a:solidFill>
                <a:latin typeface="IBM Plex Sans"/>
                <a:ea typeface="IBM Plex Sans"/>
                <a:cs typeface="IBM Plex Sans"/>
              </a:endParaRPr>
            </a:p>
          </p:txBody>
        </p:sp>
        <p:sp>
          <p:nvSpPr>
            <p:cNvPr id="63" name="node03.items.slot-005.swatch"/>
            <p:cNvSpPr/>
            <p:nvPr/>
          </p:nvSpPr>
          <p:spPr>
            <a:xfrm>
              <a:off x="723900" y="5137150"/>
              <a:ext cx="228600" cy="127000"/>
            </a:xfrm>
            <a:prstGeom prst="rect">
              <a:avLst/>
            </a:prstGeom>
            <a:solidFill>
              <a:srgbClr val="070154"/>
            </a:solidFill>
            <a:ln>
              <a:noFill/>
            </a:ln>
          </p:spPr>
        </p:sp>
        <p:sp>
          <p:nvSpPr>
            <p:cNvPr id="64" name="node03.items.slot-005.text"/>
            <p:cNvSpPr/>
            <p:nvPr/>
          </p:nvSpPr>
          <p:spPr>
            <a:xfrm>
              <a:off x="1066800" y="5105400"/>
              <a:ext cx="8112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Optimized</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ource-21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cycle is the group to look at first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75</a:t>
            </a:fld>
            <a:endParaRPr lang="en-US" sz="700" spc="0" kern="0" b="0" i="0" dirty="0">
              <a:solidFill>
                <a:srgbClr val="070154"/>
              </a:solidFill>
              <a:latin typeface="IBM Plex Mono SemiBold"/>
              <a:ea typeface="IBM Plex Mono SemiBold"/>
              <a:cs typeface="IBM Plex Mono SemiBold"/>
            </a:endParaRPr>
          </a:p>
        </p:txBody>
      </p:sp>
      <p:grpSp>
        <p:nvGrpSpPr>
          <p:cNvPr id="161" name="node01"/>
          <p:cNvGrpSpPr/>
          <p:nvPr/>
        </p:nvGrpSpPr>
        <p:grpSpPr>
          <a:xfrm>
            <a:off x="723900" y="1600200"/>
            <a:ext cx="7543800" cy="3784600"/>
            <a:chOff x="723900" y="1600200"/>
            <a:chExt cx="7543800" cy="3784600"/>
          </a:xfrm>
        </p:grpSpPr>
        <p:sp>
          <p:nvSpPr>
            <p:cNvPr id="7" name="node01.row.item-001.h0.heat-gap"/>
            <p:cNvSpPr/>
            <p:nvPr/>
          </p:nvSpPr>
          <p:spPr>
            <a:xfrm>
              <a:off x="3238500" y="1955800"/>
              <a:ext cx="838200" cy="381000"/>
            </a:xfrm>
            <a:prstGeom prst="rect">
              <a:avLst/>
            </a:prstGeom>
            <a:solidFill>
              <a:srgbClr val="FFFFFF"/>
            </a:solidFill>
            <a:ln>
              <a:noFill/>
            </a:ln>
          </p:spPr>
        </p:sp>
        <p:sp>
          <p:nvSpPr>
            <p:cNvPr id="8" name="node01.row.item-001.h0.heat"/>
            <p:cNvSpPr/>
            <p:nvPr/>
          </p:nvSpPr>
          <p:spPr>
            <a:xfrm>
              <a:off x="3257550" y="1974850"/>
              <a:ext cx="800100" cy="342900"/>
            </a:xfrm>
            <a:prstGeom prst="rect">
              <a:avLst/>
            </a:prstGeom>
            <a:solidFill>
              <a:srgbClr val="7C9BFF"/>
            </a:solidFill>
            <a:ln>
              <a:noFill/>
            </a:ln>
          </p:spPr>
        </p:sp>
        <p:sp>
          <p:nvSpPr>
            <p:cNvPr id="9" name="node01.row.item-001.h1.heat-gap"/>
            <p:cNvSpPr/>
            <p:nvPr/>
          </p:nvSpPr>
          <p:spPr>
            <a:xfrm>
              <a:off x="4076700" y="1955800"/>
              <a:ext cx="838200" cy="381000"/>
            </a:xfrm>
            <a:prstGeom prst="rect">
              <a:avLst/>
            </a:prstGeom>
            <a:solidFill>
              <a:srgbClr val="FFFFFF"/>
            </a:solidFill>
            <a:ln>
              <a:noFill/>
            </a:ln>
          </p:spPr>
        </p:sp>
        <p:sp>
          <p:nvSpPr>
            <p:cNvPr id="10" name="node01.row.item-001.h1.heat"/>
            <p:cNvSpPr/>
            <p:nvPr/>
          </p:nvSpPr>
          <p:spPr>
            <a:xfrm>
              <a:off x="4095750" y="1974850"/>
              <a:ext cx="800100" cy="342900"/>
            </a:xfrm>
            <a:prstGeom prst="rect">
              <a:avLst/>
            </a:prstGeom>
            <a:solidFill>
              <a:srgbClr val="B9C9F0"/>
            </a:solidFill>
            <a:ln>
              <a:noFill/>
            </a:ln>
          </p:spPr>
        </p:sp>
        <p:sp>
          <p:nvSpPr>
            <p:cNvPr id="11" name="node01.row.item-001.h2.heat-gap"/>
            <p:cNvSpPr/>
            <p:nvPr/>
          </p:nvSpPr>
          <p:spPr>
            <a:xfrm>
              <a:off x="4914900" y="1955800"/>
              <a:ext cx="838200" cy="381000"/>
            </a:xfrm>
            <a:prstGeom prst="rect">
              <a:avLst/>
            </a:prstGeom>
            <a:solidFill>
              <a:srgbClr val="FFFFFF"/>
            </a:solidFill>
            <a:ln>
              <a:noFill/>
            </a:ln>
          </p:spPr>
        </p:sp>
        <p:sp>
          <p:nvSpPr>
            <p:cNvPr id="12" name="node01.row.item-001.h2.heat"/>
            <p:cNvSpPr/>
            <p:nvPr/>
          </p:nvSpPr>
          <p:spPr>
            <a:xfrm>
              <a:off x="4933950" y="1974850"/>
              <a:ext cx="800100" cy="342900"/>
            </a:xfrm>
            <a:prstGeom prst="rect">
              <a:avLst/>
            </a:prstGeom>
            <a:solidFill>
              <a:srgbClr val="B9C9F0"/>
            </a:solidFill>
            <a:ln>
              <a:noFill/>
            </a:ln>
          </p:spPr>
        </p:sp>
        <p:sp>
          <p:nvSpPr>
            <p:cNvPr id="13" name="node01.row.item-001.h3.heat-gap"/>
            <p:cNvSpPr/>
            <p:nvPr/>
          </p:nvSpPr>
          <p:spPr>
            <a:xfrm>
              <a:off x="5753100" y="1955800"/>
              <a:ext cx="838200" cy="381000"/>
            </a:xfrm>
            <a:prstGeom prst="rect">
              <a:avLst/>
            </a:prstGeom>
            <a:solidFill>
              <a:srgbClr val="FFFFFF"/>
            </a:solidFill>
            <a:ln>
              <a:noFill/>
            </a:ln>
          </p:spPr>
        </p:sp>
        <p:sp>
          <p:nvSpPr>
            <p:cNvPr id="14" name="node01.row.item-001.h3.heat"/>
            <p:cNvSpPr/>
            <p:nvPr/>
          </p:nvSpPr>
          <p:spPr>
            <a:xfrm>
              <a:off x="5772150" y="1974850"/>
              <a:ext cx="800100" cy="342900"/>
            </a:xfrm>
            <a:prstGeom prst="rect">
              <a:avLst/>
            </a:prstGeom>
            <a:solidFill>
              <a:srgbClr val="7C9BFF"/>
            </a:solidFill>
            <a:ln>
              <a:noFill/>
            </a:ln>
          </p:spPr>
        </p:sp>
        <p:sp>
          <p:nvSpPr>
            <p:cNvPr id="15" name="node01.row.item-001.h4.heat-gap"/>
            <p:cNvSpPr/>
            <p:nvPr/>
          </p:nvSpPr>
          <p:spPr>
            <a:xfrm>
              <a:off x="6591300" y="1955800"/>
              <a:ext cx="838200" cy="381000"/>
            </a:xfrm>
            <a:prstGeom prst="rect">
              <a:avLst/>
            </a:prstGeom>
            <a:solidFill>
              <a:srgbClr val="FFFFFF"/>
            </a:solidFill>
            <a:ln>
              <a:noFill/>
            </a:ln>
          </p:spPr>
        </p:sp>
        <p:sp>
          <p:nvSpPr>
            <p:cNvPr id="16" name="node01.row.item-001.h4.heat"/>
            <p:cNvSpPr/>
            <p:nvPr/>
          </p:nvSpPr>
          <p:spPr>
            <a:xfrm>
              <a:off x="6610350" y="1974850"/>
              <a:ext cx="800100" cy="342900"/>
            </a:xfrm>
            <a:prstGeom prst="rect">
              <a:avLst/>
            </a:prstGeom>
            <a:solidFill>
              <a:srgbClr val="B9C9F0"/>
            </a:solidFill>
            <a:ln>
              <a:noFill/>
            </a:ln>
          </p:spPr>
        </p:sp>
        <p:sp>
          <p:nvSpPr>
            <p:cNvPr id="17" name="node01.row.item-001.ov.heat-gap"/>
            <p:cNvSpPr/>
            <p:nvPr/>
          </p:nvSpPr>
          <p:spPr>
            <a:xfrm>
              <a:off x="7429500" y="1955800"/>
              <a:ext cx="838200" cy="381000"/>
            </a:xfrm>
            <a:prstGeom prst="rect">
              <a:avLst/>
            </a:prstGeom>
            <a:solidFill>
              <a:srgbClr val="FFFFFF"/>
            </a:solidFill>
            <a:ln>
              <a:noFill/>
            </a:ln>
          </p:spPr>
        </p:sp>
        <p:sp>
          <p:nvSpPr>
            <p:cNvPr id="18" name="node01.row.item-001.ov.heat"/>
            <p:cNvSpPr/>
            <p:nvPr/>
          </p:nvSpPr>
          <p:spPr>
            <a:xfrm>
              <a:off x="7448550" y="1974850"/>
              <a:ext cx="800100" cy="342900"/>
            </a:xfrm>
            <a:prstGeom prst="rect">
              <a:avLst/>
            </a:prstGeom>
            <a:solidFill>
              <a:srgbClr val="B9C9F0"/>
            </a:solidFill>
            <a:ln>
              <a:noFill/>
            </a:ln>
          </p:spPr>
        </p:sp>
        <p:sp>
          <p:nvSpPr>
            <p:cNvPr id="19" name="node01.row.item-002.h0.heat-gap"/>
            <p:cNvSpPr/>
            <p:nvPr/>
          </p:nvSpPr>
          <p:spPr>
            <a:xfrm>
              <a:off x="3238500" y="2336800"/>
              <a:ext cx="838200" cy="381000"/>
            </a:xfrm>
            <a:prstGeom prst="rect">
              <a:avLst/>
            </a:prstGeom>
            <a:solidFill>
              <a:srgbClr val="FFFFFF"/>
            </a:solidFill>
            <a:ln>
              <a:noFill/>
            </a:ln>
          </p:spPr>
        </p:sp>
        <p:sp>
          <p:nvSpPr>
            <p:cNvPr id="20" name="node01.row.item-002.h0.heat"/>
            <p:cNvSpPr/>
            <p:nvPr/>
          </p:nvSpPr>
          <p:spPr>
            <a:xfrm>
              <a:off x="3257550" y="2355850"/>
              <a:ext cx="800100" cy="342900"/>
            </a:xfrm>
            <a:prstGeom prst="rect">
              <a:avLst/>
            </a:prstGeom>
            <a:solidFill>
              <a:srgbClr val="7C9BFF"/>
            </a:solidFill>
            <a:ln>
              <a:noFill/>
            </a:ln>
          </p:spPr>
        </p:sp>
        <p:sp>
          <p:nvSpPr>
            <p:cNvPr id="21" name="node01.row.item-002.h1.heat-gap"/>
            <p:cNvSpPr/>
            <p:nvPr/>
          </p:nvSpPr>
          <p:spPr>
            <a:xfrm>
              <a:off x="4076700" y="2336800"/>
              <a:ext cx="838200" cy="381000"/>
            </a:xfrm>
            <a:prstGeom prst="rect">
              <a:avLst/>
            </a:prstGeom>
            <a:solidFill>
              <a:srgbClr val="FFFFFF"/>
            </a:solidFill>
            <a:ln>
              <a:noFill/>
            </a:ln>
          </p:spPr>
        </p:sp>
        <p:sp>
          <p:nvSpPr>
            <p:cNvPr id="22" name="node01.row.item-002.h1.heat"/>
            <p:cNvSpPr/>
            <p:nvPr/>
          </p:nvSpPr>
          <p:spPr>
            <a:xfrm>
              <a:off x="4095750" y="2355850"/>
              <a:ext cx="800100" cy="342900"/>
            </a:xfrm>
            <a:prstGeom prst="rect">
              <a:avLst/>
            </a:prstGeom>
            <a:solidFill>
              <a:srgbClr val="7C9BFF"/>
            </a:solidFill>
            <a:ln>
              <a:noFill/>
            </a:ln>
          </p:spPr>
        </p:sp>
        <p:sp>
          <p:nvSpPr>
            <p:cNvPr id="23" name="node01.row.item-002.h2.heat-gap"/>
            <p:cNvSpPr/>
            <p:nvPr/>
          </p:nvSpPr>
          <p:spPr>
            <a:xfrm>
              <a:off x="4914900" y="2336800"/>
              <a:ext cx="838200" cy="381000"/>
            </a:xfrm>
            <a:prstGeom prst="rect">
              <a:avLst/>
            </a:prstGeom>
            <a:solidFill>
              <a:srgbClr val="FFFFFF"/>
            </a:solidFill>
            <a:ln>
              <a:noFill/>
            </a:ln>
          </p:spPr>
        </p:sp>
        <p:sp>
          <p:nvSpPr>
            <p:cNvPr id="24" name="node01.row.item-002.h2.heat"/>
            <p:cNvSpPr/>
            <p:nvPr/>
          </p:nvSpPr>
          <p:spPr>
            <a:xfrm>
              <a:off x="4933950" y="2355850"/>
              <a:ext cx="800100" cy="342900"/>
            </a:xfrm>
            <a:prstGeom prst="rect">
              <a:avLst/>
            </a:prstGeom>
            <a:solidFill>
              <a:srgbClr val="B9C9F0"/>
            </a:solidFill>
            <a:ln>
              <a:noFill/>
            </a:ln>
          </p:spPr>
        </p:sp>
        <p:sp>
          <p:nvSpPr>
            <p:cNvPr id="25" name="node01.row.item-002.h3.heat-gap"/>
            <p:cNvSpPr/>
            <p:nvPr/>
          </p:nvSpPr>
          <p:spPr>
            <a:xfrm>
              <a:off x="5753100" y="2336800"/>
              <a:ext cx="838200" cy="381000"/>
            </a:xfrm>
            <a:prstGeom prst="rect">
              <a:avLst/>
            </a:prstGeom>
            <a:solidFill>
              <a:srgbClr val="FFFFFF"/>
            </a:solidFill>
            <a:ln>
              <a:noFill/>
            </a:ln>
          </p:spPr>
        </p:sp>
        <p:sp>
          <p:nvSpPr>
            <p:cNvPr id="26" name="node01.row.item-002.h3.heat"/>
            <p:cNvSpPr/>
            <p:nvPr/>
          </p:nvSpPr>
          <p:spPr>
            <a:xfrm>
              <a:off x="5772150" y="2355850"/>
              <a:ext cx="800100" cy="342900"/>
            </a:xfrm>
            <a:prstGeom prst="rect">
              <a:avLst/>
            </a:prstGeom>
            <a:solidFill>
              <a:srgbClr val="7C9BFF"/>
            </a:solidFill>
            <a:ln>
              <a:noFill/>
            </a:ln>
          </p:spPr>
        </p:sp>
        <p:sp>
          <p:nvSpPr>
            <p:cNvPr id="27" name="node01.row.item-002.h4.heat-gap"/>
            <p:cNvSpPr/>
            <p:nvPr/>
          </p:nvSpPr>
          <p:spPr>
            <a:xfrm>
              <a:off x="6591300" y="2336800"/>
              <a:ext cx="838200" cy="381000"/>
            </a:xfrm>
            <a:prstGeom prst="rect">
              <a:avLst/>
            </a:prstGeom>
            <a:solidFill>
              <a:srgbClr val="FFFFFF"/>
            </a:solidFill>
            <a:ln>
              <a:noFill/>
            </a:ln>
          </p:spPr>
        </p:sp>
        <p:sp>
          <p:nvSpPr>
            <p:cNvPr id="28" name="node01.row.item-002.h4.heat"/>
            <p:cNvSpPr/>
            <p:nvPr/>
          </p:nvSpPr>
          <p:spPr>
            <a:xfrm>
              <a:off x="6610350" y="2355850"/>
              <a:ext cx="800100" cy="342900"/>
            </a:xfrm>
            <a:prstGeom prst="rect">
              <a:avLst/>
            </a:prstGeom>
            <a:solidFill>
              <a:srgbClr val="7C9BFF"/>
            </a:solidFill>
            <a:ln>
              <a:noFill/>
            </a:ln>
          </p:spPr>
        </p:sp>
        <p:sp>
          <p:nvSpPr>
            <p:cNvPr id="29" name="node01.row.item-002.ov.heat-gap"/>
            <p:cNvSpPr/>
            <p:nvPr/>
          </p:nvSpPr>
          <p:spPr>
            <a:xfrm>
              <a:off x="7429500" y="2336800"/>
              <a:ext cx="838200" cy="381000"/>
            </a:xfrm>
            <a:prstGeom prst="rect">
              <a:avLst/>
            </a:prstGeom>
            <a:solidFill>
              <a:srgbClr val="FFFFFF"/>
            </a:solidFill>
            <a:ln>
              <a:noFill/>
            </a:ln>
          </p:spPr>
        </p:sp>
        <p:sp>
          <p:nvSpPr>
            <p:cNvPr id="30" name="node01.row.item-002.ov.heat"/>
            <p:cNvSpPr/>
            <p:nvPr/>
          </p:nvSpPr>
          <p:spPr>
            <a:xfrm>
              <a:off x="7448550" y="2355850"/>
              <a:ext cx="800100" cy="342900"/>
            </a:xfrm>
            <a:prstGeom prst="rect">
              <a:avLst/>
            </a:prstGeom>
            <a:solidFill>
              <a:srgbClr val="7C9BFF"/>
            </a:solidFill>
            <a:ln>
              <a:noFill/>
            </a:ln>
          </p:spPr>
        </p:sp>
        <p:sp>
          <p:nvSpPr>
            <p:cNvPr id="31" name="node01.row.item-003.h0.heat-gap"/>
            <p:cNvSpPr/>
            <p:nvPr/>
          </p:nvSpPr>
          <p:spPr>
            <a:xfrm>
              <a:off x="3238500" y="2717800"/>
              <a:ext cx="838200" cy="381000"/>
            </a:xfrm>
            <a:prstGeom prst="rect">
              <a:avLst/>
            </a:prstGeom>
            <a:solidFill>
              <a:srgbClr val="FFFFFF"/>
            </a:solidFill>
            <a:ln>
              <a:noFill/>
            </a:ln>
          </p:spPr>
        </p:sp>
        <p:sp>
          <p:nvSpPr>
            <p:cNvPr id="32" name="node01.row.item-003.h0.heat"/>
            <p:cNvSpPr/>
            <p:nvPr/>
          </p:nvSpPr>
          <p:spPr>
            <a:xfrm>
              <a:off x="3257550" y="2736850"/>
              <a:ext cx="800100" cy="342900"/>
            </a:xfrm>
            <a:prstGeom prst="rect">
              <a:avLst/>
            </a:prstGeom>
            <a:solidFill>
              <a:srgbClr val="B9C9F0"/>
            </a:solidFill>
            <a:ln>
              <a:noFill/>
            </a:ln>
          </p:spPr>
        </p:sp>
        <p:sp>
          <p:nvSpPr>
            <p:cNvPr id="33" name="node01.row.item-003.h1.heat-gap"/>
            <p:cNvSpPr/>
            <p:nvPr/>
          </p:nvSpPr>
          <p:spPr>
            <a:xfrm>
              <a:off x="4076700" y="2717800"/>
              <a:ext cx="838200" cy="381000"/>
            </a:xfrm>
            <a:prstGeom prst="rect">
              <a:avLst/>
            </a:prstGeom>
            <a:solidFill>
              <a:srgbClr val="FFFFFF"/>
            </a:solidFill>
            <a:ln>
              <a:noFill/>
            </a:ln>
          </p:spPr>
        </p:sp>
        <p:sp>
          <p:nvSpPr>
            <p:cNvPr id="34" name="node01.row.item-003.h1.heat"/>
            <p:cNvSpPr/>
            <p:nvPr/>
          </p:nvSpPr>
          <p:spPr>
            <a:xfrm>
              <a:off x="4095750" y="2736850"/>
              <a:ext cx="800100" cy="342900"/>
            </a:xfrm>
            <a:prstGeom prst="rect">
              <a:avLst/>
            </a:prstGeom>
            <a:solidFill>
              <a:srgbClr val="E8EEF8"/>
            </a:solidFill>
            <a:ln>
              <a:noFill/>
            </a:ln>
          </p:spPr>
        </p:sp>
        <p:sp>
          <p:nvSpPr>
            <p:cNvPr id="35" name="node01.row.item-003.h2.heat-gap"/>
            <p:cNvSpPr/>
            <p:nvPr/>
          </p:nvSpPr>
          <p:spPr>
            <a:xfrm>
              <a:off x="4914900" y="2717800"/>
              <a:ext cx="838200" cy="381000"/>
            </a:xfrm>
            <a:prstGeom prst="rect">
              <a:avLst/>
            </a:prstGeom>
            <a:solidFill>
              <a:srgbClr val="FFFFFF"/>
            </a:solidFill>
            <a:ln>
              <a:noFill/>
            </a:ln>
          </p:spPr>
        </p:sp>
        <p:sp>
          <p:nvSpPr>
            <p:cNvPr id="36" name="node01.row.item-003.h2.heat"/>
            <p:cNvSpPr/>
            <p:nvPr/>
          </p:nvSpPr>
          <p:spPr>
            <a:xfrm>
              <a:off x="4933950" y="2736850"/>
              <a:ext cx="800100" cy="342900"/>
            </a:xfrm>
            <a:prstGeom prst="rect">
              <a:avLst/>
            </a:prstGeom>
            <a:solidFill>
              <a:srgbClr val="E8EEF8"/>
            </a:solidFill>
            <a:ln>
              <a:noFill/>
            </a:ln>
          </p:spPr>
        </p:sp>
        <p:sp>
          <p:nvSpPr>
            <p:cNvPr id="37" name="node01.row.item-003.h3.heat-gap"/>
            <p:cNvSpPr/>
            <p:nvPr/>
          </p:nvSpPr>
          <p:spPr>
            <a:xfrm>
              <a:off x="5753100" y="2717800"/>
              <a:ext cx="838200" cy="381000"/>
            </a:xfrm>
            <a:prstGeom prst="rect">
              <a:avLst/>
            </a:prstGeom>
            <a:solidFill>
              <a:srgbClr val="FFFFFF"/>
            </a:solidFill>
            <a:ln>
              <a:noFill/>
            </a:ln>
          </p:spPr>
        </p:sp>
        <p:sp>
          <p:nvSpPr>
            <p:cNvPr id="38" name="node01.row.item-003.h3.heat"/>
            <p:cNvSpPr/>
            <p:nvPr/>
          </p:nvSpPr>
          <p:spPr>
            <a:xfrm>
              <a:off x="5772150" y="2736850"/>
              <a:ext cx="800100" cy="342900"/>
            </a:xfrm>
            <a:prstGeom prst="rect">
              <a:avLst/>
            </a:prstGeom>
            <a:solidFill>
              <a:srgbClr val="B9C9F0"/>
            </a:solidFill>
            <a:ln>
              <a:noFill/>
            </a:ln>
          </p:spPr>
        </p:sp>
        <p:sp>
          <p:nvSpPr>
            <p:cNvPr id="39" name="node01.row.item-003.h4.heat-gap"/>
            <p:cNvSpPr/>
            <p:nvPr/>
          </p:nvSpPr>
          <p:spPr>
            <a:xfrm>
              <a:off x="6591300" y="2717800"/>
              <a:ext cx="838200" cy="381000"/>
            </a:xfrm>
            <a:prstGeom prst="rect">
              <a:avLst/>
            </a:prstGeom>
            <a:solidFill>
              <a:srgbClr val="FFFFFF"/>
            </a:solidFill>
            <a:ln>
              <a:noFill/>
            </a:ln>
          </p:spPr>
        </p:sp>
        <p:sp>
          <p:nvSpPr>
            <p:cNvPr id="40" name="node01.row.item-003.h4.heat"/>
            <p:cNvSpPr/>
            <p:nvPr/>
          </p:nvSpPr>
          <p:spPr>
            <a:xfrm>
              <a:off x="6610350" y="2736850"/>
              <a:ext cx="800100" cy="342900"/>
            </a:xfrm>
            <a:prstGeom prst="rect">
              <a:avLst/>
            </a:prstGeom>
            <a:solidFill>
              <a:srgbClr val="B9C9F0"/>
            </a:solidFill>
            <a:ln>
              <a:noFill/>
            </a:ln>
          </p:spPr>
        </p:sp>
        <p:sp>
          <p:nvSpPr>
            <p:cNvPr id="41" name="node01.row.item-003.ov.heat-gap"/>
            <p:cNvSpPr/>
            <p:nvPr/>
          </p:nvSpPr>
          <p:spPr>
            <a:xfrm>
              <a:off x="7429500" y="2717800"/>
              <a:ext cx="838200" cy="381000"/>
            </a:xfrm>
            <a:prstGeom prst="rect">
              <a:avLst/>
            </a:prstGeom>
            <a:solidFill>
              <a:srgbClr val="FFFFFF"/>
            </a:solidFill>
            <a:ln>
              <a:noFill/>
            </a:ln>
          </p:spPr>
        </p:sp>
        <p:sp>
          <p:nvSpPr>
            <p:cNvPr id="42" name="node01.row.item-003.ov.heat"/>
            <p:cNvSpPr/>
            <p:nvPr/>
          </p:nvSpPr>
          <p:spPr>
            <a:xfrm>
              <a:off x="7448550" y="2736850"/>
              <a:ext cx="800100" cy="342900"/>
            </a:xfrm>
            <a:prstGeom prst="rect">
              <a:avLst/>
            </a:prstGeom>
            <a:solidFill>
              <a:srgbClr val="B9C9F0"/>
            </a:solidFill>
            <a:ln>
              <a:noFill/>
            </a:ln>
          </p:spPr>
        </p:sp>
        <p:sp>
          <p:nvSpPr>
            <p:cNvPr id="43" name="node01.row.item-004.h0.heat-gap"/>
            <p:cNvSpPr/>
            <p:nvPr/>
          </p:nvSpPr>
          <p:spPr>
            <a:xfrm>
              <a:off x="3238500" y="3098800"/>
              <a:ext cx="838200" cy="381000"/>
            </a:xfrm>
            <a:prstGeom prst="rect">
              <a:avLst/>
            </a:prstGeom>
            <a:solidFill>
              <a:srgbClr val="FFFFFF"/>
            </a:solidFill>
            <a:ln>
              <a:noFill/>
            </a:ln>
          </p:spPr>
        </p:sp>
        <p:sp>
          <p:nvSpPr>
            <p:cNvPr id="44" name="node01.row.item-004.h0.heat"/>
            <p:cNvSpPr/>
            <p:nvPr/>
          </p:nvSpPr>
          <p:spPr>
            <a:xfrm>
              <a:off x="3257550" y="3117850"/>
              <a:ext cx="800100" cy="342900"/>
            </a:xfrm>
            <a:prstGeom prst="rect">
              <a:avLst/>
            </a:prstGeom>
            <a:solidFill>
              <a:srgbClr val="0047FF"/>
            </a:solidFill>
            <a:ln>
              <a:noFill/>
            </a:ln>
          </p:spPr>
        </p:sp>
        <p:sp>
          <p:nvSpPr>
            <p:cNvPr id="45" name="node01.row.item-004.h1.heat-gap"/>
            <p:cNvSpPr/>
            <p:nvPr/>
          </p:nvSpPr>
          <p:spPr>
            <a:xfrm>
              <a:off x="4076700" y="3098800"/>
              <a:ext cx="838200" cy="381000"/>
            </a:xfrm>
            <a:prstGeom prst="rect">
              <a:avLst/>
            </a:prstGeom>
            <a:solidFill>
              <a:srgbClr val="FFFFFF"/>
            </a:solidFill>
            <a:ln>
              <a:noFill/>
            </a:ln>
          </p:spPr>
        </p:sp>
        <p:sp>
          <p:nvSpPr>
            <p:cNvPr id="46" name="node01.row.item-004.h1.heat"/>
            <p:cNvSpPr/>
            <p:nvPr/>
          </p:nvSpPr>
          <p:spPr>
            <a:xfrm>
              <a:off x="4095750" y="3117850"/>
              <a:ext cx="800100" cy="342900"/>
            </a:xfrm>
            <a:prstGeom prst="rect">
              <a:avLst/>
            </a:prstGeom>
            <a:solidFill>
              <a:srgbClr val="070154"/>
            </a:solidFill>
            <a:ln>
              <a:noFill/>
            </a:ln>
          </p:spPr>
        </p:sp>
        <p:sp>
          <p:nvSpPr>
            <p:cNvPr id="47" name="node01.row.item-004.h2.heat-gap"/>
            <p:cNvSpPr/>
            <p:nvPr/>
          </p:nvSpPr>
          <p:spPr>
            <a:xfrm>
              <a:off x="4914900" y="3098800"/>
              <a:ext cx="838200" cy="381000"/>
            </a:xfrm>
            <a:prstGeom prst="rect">
              <a:avLst/>
            </a:prstGeom>
            <a:solidFill>
              <a:srgbClr val="FFFFFF"/>
            </a:solidFill>
            <a:ln>
              <a:noFill/>
            </a:ln>
          </p:spPr>
        </p:sp>
        <p:sp>
          <p:nvSpPr>
            <p:cNvPr id="48" name="node01.row.item-004.h2.heat"/>
            <p:cNvSpPr/>
            <p:nvPr/>
          </p:nvSpPr>
          <p:spPr>
            <a:xfrm>
              <a:off x="4933950" y="3117850"/>
              <a:ext cx="800100" cy="342900"/>
            </a:xfrm>
            <a:prstGeom prst="rect">
              <a:avLst/>
            </a:prstGeom>
            <a:solidFill>
              <a:srgbClr val="7C9BFF"/>
            </a:solidFill>
            <a:ln>
              <a:noFill/>
            </a:ln>
          </p:spPr>
        </p:sp>
        <p:sp>
          <p:nvSpPr>
            <p:cNvPr id="49" name="node01.row.item-004.h3.heat-gap"/>
            <p:cNvSpPr/>
            <p:nvPr/>
          </p:nvSpPr>
          <p:spPr>
            <a:xfrm>
              <a:off x="5753100" y="3098800"/>
              <a:ext cx="838200" cy="381000"/>
            </a:xfrm>
            <a:prstGeom prst="rect">
              <a:avLst/>
            </a:prstGeom>
            <a:solidFill>
              <a:srgbClr val="FFFFFF"/>
            </a:solidFill>
            <a:ln>
              <a:noFill/>
            </a:ln>
          </p:spPr>
        </p:sp>
        <p:sp>
          <p:nvSpPr>
            <p:cNvPr id="50" name="node01.row.item-004.h3.heat"/>
            <p:cNvSpPr/>
            <p:nvPr/>
          </p:nvSpPr>
          <p:spPr>
            <a:xfrm>
              <a:off x="5772150" y="3117850"/>
              <a:ext cx="800100" cy="342900"/>
            </a:xfrm>
            <a:prstGeom prst="rect">
              <a:avLst/>
            </a:prstGeom>
            <a:solidFill>
              <a:srgbClr val="7C9BFF"/>
            </a:solidFill>
            <a:ln>
              <a:noFill/>
            </a:ln>
          </p:spPr>
        </p:sp>
        <p:sp>
          <p:nvSpPr>
            <p:cNvPr id="51" name="node01.row.item-004.h4.heat-gap"/>
            <p:cNvSpPr/>
            <p:nvPr/>
          </p:nvSpPr>
          <p:spPr>
            <a:xfrm>
              <a:off x="6591300" y="3098800"/>
              <a:ext cx="838200" cy="381000"/>
            </a:xfrm>
            <a:prstGeom prst="rect">
              <a:avLst/>
            </a:prstGeom>
            <a:solidFill>
              <a:srgbClr val="FFFFFF"/>
            </a:solidFill>
            <a:ln>
              <a:noFill/>
            </a:ln>
          </p:spPr>
        </p:sp>
        <p:sp>
          <p:nvSpPr>
            <p:cNvPr id="52" name="node01.row.item-004.h4.heat"/>
            <p:cNvSpPr/>
            <p:nvPr/>
          </p:nvSpPr>
          <p:spPr>
            <a:xfrm>
              <a:off x="6610350" y="3117850"/>
              <a:ext cx="800100" cy="342900"/>
            </a:xfrm>
            <a:prstGeom prst="rect">
              <a:avLst/>
            </a:prstGeom>
            <a:solidFill>
              <a:srgbClr val="0047FF"/>
            </a:solidFill>
            <a:ln>
              <a:noFill/>
            </a:ln>
          </p:spPr>
        </p:sp>
        <p:sp>
          <p:nvSpPr>
            <p:cNvPr id="53" name="node01.row.item-004.ov.heat-gap"/>
            <p:cNvSpPr/>
            <p:nvPr/>
          </p:nvSpPr>
          <p:spPr>
            <a:xfrm>
              <a:off x="7429500" y="3098800"/>
              <a:ext cx="838200" cy="381000"/>
            </a:xfrm>
            <a:prstGeom prst="rect">
              <a:avLst/>
            </a:prstGeom>
            <a:solidFill>
              <a:srgbClr val="FFFFFF"/>
            </a:solidFill>
            <a:ln>
              <a:noFill/>
            </a:ln>
          </p:spPr>
        </p:sp>
        <p:sp>
          <p:nvSpPr>
            <p:cNvPr id="54" name="node01.row.item-004.ov.heat"/>
            <p:cNvSpPr/>
            <p:nvPr/>
          </p:nvSpPr>
          <p:spPr>
            <a:xfrm>
              <a:off x="7448550" y="3117850"/>
              <a:ext cx="800100" cy="342900"/>
            </a:xfrm>
            <a:prstGeom prst="rect">
              <a:avLst/>
            </a:prstGeom>
            <a:solidFill>
              <a:srgbClr val="0047FF"/>
            </a:solidFill>
            <a:ln>
              <a:noFill/>
            </a:ln>
          </p:spPr>
        </p:sp>
        <p:sp>
          <p:nvSpPr>
            <p:cNvPr id="55" name="node01.row.item-005.h0.heat-gap"/>
            <p:cNvSpPr/>
            <p:nvPr/>
          </p:nvSpPr>
          <p:spPr>
            <a:xfrm>
              <a:off x="3238500" y="3479800"/>
              <a:ext cx="838200" cy="381000"/>
            </a:xfrm>
            <a:prstGeom prst="rect">
              <a:avLst/>
            </a:prstGeom>
            <a:solidFill>
              <a:srgbClr val="FFFFFF"/>
            </a:solidFill>
            <a:ln>
              <a:noFill/>
            </a:ln>
          </p:spPr>
        </p:sp>
        <p:sp>
          <p:nvSpPr>
            <p:cNvPr id="56" name="node01.row.item-005.h0.heat"/>
            <p:cNvSpPr/>
            <p:nvPr/>
          </p:nvSpPr>
          <p:spPr>
            <a:xfrm>
              <a:off x="3257550" y="3498850"/>
              <a:ext cx="800100" cy="342900"/>
            </a:xfrm>
            <a:prstGeom prst="rect">
              <a:avLst/>
            </a:prstGeom>
            <a:solidFill>
              <a:srgbClr val="7C9BFF"/>
            </a:solidFill>
            <a:ln>
              <a:noFill/>
            </a:ln>
          </p:spPr>
        </p:sp>
        <p:sp>
          <p:nvSpPr>
            <p:cNvPr id="57" name="node01.row.item-005.h1.heat-gap"/>
            <p:cNvSpPr/>
            <p:nvPr/>
          </p:nvSpPr>
          <p:spPr>
            <a:xfrm>
              <a:off x="4076700" y="3479800"/>
              <a:ext cx="838200" cy="381000"/>
            </a:xfrm>
            <a:prstGeom prst="rect">
              <a:avLst/>
            </a:prstGeom>
            <a:solidFill>
              <a:srgbClr val="FFFFFF"/>
            </a:solidFill>
            <a:ln>
              <a:noFill/>
            </a:ln>
          </p:spPr>
        </p:sp>
        <p:sp>
          <p:nvSpPr>
            <p:cNvPr id="58" name="node01.row.item-005.h1.heat"/>
            <p:cNvSpPr/>
            <p:nvPr/>
          </p:nvSpPr>
          <p:spPr>
            <a:xfrm>
              <a:off x="4095750" y="3498850"/>
              <a:ext cx="800100" cy="342900"/>
            </a:xfrm>
            <a:prstGeom prst="rect">
              <a:avLst/>
            </a:prstGeom>
            <a:solidFill>
              <a:srgbClr val="7C9BFF"/>
            </a:solidFill>
            <a:ln>
              <a:noFill/>
            </a:ln>
          </p:spPr>
        </p:sp>
        <p:sp>
          <p:nvSpPr>
            <p:cNvPr id="59" name="node01.row.item-005.h2.heat-gap"/>
            <p:cNvSpPr/>
            <p:nvPr/>
          </p:nvSpPr>
          <p:spPr>
            <a:xfrm>
              <a:off x="4914900" y="3479800"/>
              <a:ext cx="838200" cy="381000"/>
            </a:xfrm>
            <a:prstGeom prst="rect">
              <a:avLst/>
            </a:prstGeom>
            <a:solidFill>
              <a:srgbClr val="FFFFFF"/>
            </a:solidFill>
            <a:ln>
              <a:noFill/>
            </a:ln>
          </p:spPr>
        </p:sp>
        <p:sp>
          <p:nvSpPr>
            <p:cNvPr id="60" name="node01.row.item-005.h2.heat"/>
            <p:cNvSpPr/>
            <p:nvPr/>
          </p:nvSpPr>
          <p:spPr>
            <a:xfrm>
              <a:off x="4933950" y="3498850"/>
              <a:ext cx="800100" cy="342900"/>
            </a:xfrm>
            <a:prstGeom prst="rect">
              <a:avLst/>
            </a:prstGeom>
            <a:solidFill>
              <a:srgbClr val="7C9BFF"/>
            </a:solidFill>
            <a:ln>
              <a:noFill/>
            </a:ln>
          </p:spPr>
        </p:sp>
        <p:sp>
          <p:nvSpPr>
            <p:cNvPr id="61" name="node01.row.item-005.h3.heat-gap"/>
            <p:cNvSpPr/>
            <p:nvPr/>
          </p:nvSpPr>
          <p:spPr>
            <a:xfrm>
              <a:off x="5753100" y="3479800"/>
              <a:ext cx="838200" cy="381000"/>
            </a:xfrm>
            <a:prstGeom prst="rect">
              <a:avLst/>
            </a:prstGeom>
            <a:solidFill>
              <a:srgbClr val="FFFFFF"/>
            </a:solidFill>
            <a:ln>
              <a:noFill/>
            </a:ln>
          </p:spPr>
        </p:sp>
        <p:sp>
          <p:nvSpPr>
            <p:cNvPr id="62" name="node01.row.item-005.h3.heat"/>
            <p:cNvSpPr/>
            <p:nvPr/>
          </p:nvSpPr>
          <p:spPr>
            <a:xfrm>
              <a:off x="5772150" y="3498850"/>
              <a:ext cx="800100" cy="342900"/>
            </a:xfrm>
            <a:prstGeom prst="rect">
              <a:avLst/>
            </a:prstGeom>
            <a:solidFill>
              <a:srgbClr val="B9C9F0"/>
            </a:solidFill>
            <a:ln>
              <a:noFill/>
            </a:ln>
          </p:spPr>
        </p:sp>
        <p:sp>
          <p:nvSpPr>
            <p:cNvPr id="63" name="node01.row.item-005.h4.heat-gap"/>
            <p:cNvSpPr/>
            <p:nvPr/>
          </p:nvSpPr>
          <p:spPr>
            <a:xfrm>
              <a:off x="6591300" y="3479800"/>
              <a:ext cx="838200" cy="381000"/>
            </a:xfrm>
            <a:prstGeom prst="rect">
              <a:avLst/>
            </a:prstGeom>
            <a:solidFill>
              <a:srgbClr val="FFFFFF"/>
            </a:solidFill>
            <a:ln>
              <a:noFill/>
            </a:ln>
          </p:spPr>
        </p:sp>
        <p:sp>
          <p:nvSpPr>
            <p:cNvPr id="64" name="node01.row.item-005.h4.heat"/>
            <p:cNvSpPr/>
            <p:nvPr/>
          </p:nvSpPr>
          <p:spPr>
            <a:xfrm>
              <a:off x="6610350" y="3498850"/>
              <a:ext cx="800100" cy="342900"/>
            </a:xfrm>
            <a:prstGeom prst="rect">
              <a:avLst/>
            </a:prstGeom>
            <a:solidFill>
              <a:srgbClr val="7C9BFF"/>
            </a:solidFill>
            <a:ln>
              <a:noFill/>
            </a:ln>
          </p:spPr>
        </p:sp>
        <p:sp>
          <p:nvSpPr>
            <p:cNvPr id="65" name="node01.row.item-005.ov.heat-gap"/>
            <p:cNvSpPr/>
            <p:nvPr/>
          </p:nvSpPr>
          <p:spPr>
            <a:xfrm>
              <a:off x="7429500" y="3479800"/>
              <a:ext cx="838200" cy="381000"/>
            </a:xfrm>
            <a:prstGeom prst="rect">
              <a:avLst/>
            </a:prstGeom>
            <a:solidFill>
              <a:srgbClr val="FFFFFF"/>
            </a:solidFill>
            <a:ln>
              <a:noFill/>
            </a:ln>
          </p:spPr>
        </p:sp>
        <p:sp>
          <p:nvSpPr>
            <p:cNvPr id="66" name="node01.row.item-005.ov.heat"/>
            <p:cNvSpPr/>
            <p:nvPr/>
          </p:nvSpPr>
          <p:spPr>
            <a:xfrm>
              <a:off x="7448550" y="3498850"/>
              <a:ext cx="800100" cy="342900"/>
            </a:xfrm>
            <a:prstGeom prst="rect">
              <a:avLst/>
            </a:prstGeom>
            <a:solidFill>
              <a:srgbClr val="7C9BFF"/>
            </a:solidFill>
            <a:ln>
              <a:noFill/>
            </a:ln>
          </p:spPr>
        </p:sp>
        <p:sp>
          <p:nvSpPr>
            <p:cNvPr id="67" name="node01.row.item-006.h0.heat-gap"/>
            <p:cNvSpPr/>
            <p:nvPr/>
          </p:nvSpPr>
          <p:spPr>
            <a:xfrm>
              <a:off x="3238500" y="3860800"/>
              <a:ext cx="838200" cy="381000"/>
            </a:xfrm>
            <a:prstGeom prst="rect">
              <a:avLst/>
            </a:prstGeom>
            <a:solidFill>
              <a:srgbClr val="FFFFFF"/>
            </a:solidFill>
            <a:ln>
              <a:noFill/>
            </a:ln>
          </p:spPr>
        </p:sp>
        <p:sp>
          <p:nvSpPr>
            <p:cNvPr id="68" name="node01.row.item-006.h0.heat"/>
            <p:cNvSpPr/>
            <p:nvPr/>
          </p:nvSpPr>
          <p:spPr>
            <a:xfrm>
              <a:off x="3257550" y="3879850"/>
              <a:ext cx="800100" cy="342900"/>
            </a:xfrm>
            <a:prstGeom prst="rect">
              <a:avLst/>
            </a:prstGeom>
            <a:solidFill>
              <a:srgbClr val="B9C9F0"/>
            </a:solidFill>
            <a:ln>
              <a:noFill/>
            </a:ln>
          </p:spPr>
        </p:sp>
        <p:sp>
          <p:nvSpPr>
            <p:cNvPr id="69" name="node01.row.item-006.h1.heat-gap"/>
            <p:cNvSpPr/>
            <p:nvPr/>
          </p:nvSpPr>
          <p:spPr>
            <a:xfrm>
              <a:off x="4076700" y="3860800"/>
              <a:ext cx="838200" cy="381000"/>
            </a:xfrm>
            <a:prstGeom prst="rect">
              <a:avLst/>
            </a:prstGeom>
            <a:solidFill>
              <a:srgbClr val="FFFFFF"/>
            </a:solidFill>
            <a:ln>
              <a:noFill/>
            </a:ln>
          </p:spPr>
        </p:sp>
        <p:sp>
          <p:nvSpPr>
            <p:cNvPr id="70" name="node01.row.item-006.h1.heat"/>
            <p:cNvSpPr/>
            <p:nvPr/>
          </p:nvSpPr>
          <p:spPr>
            <a:xfrm>
              <a:off x="4095750" y="3879850"/>
              <a:ext cx="800100" cy="342900"/>
            </a:xfrm>
            <a:prstGeom prst="rect">
              <a:avLst/>
            </a:prstGeom>
            <a:solidFill>
              <a:srgbClr val="B9C9F0"/>
            </a:solidFill>
            <a:ln>
              <a:noFill/>
            </a:ln>
          </p:spPr>
        </p:sp>
        <p:sp>
          <p:nvSpPr>
            <p:cNvPr id="71" name="node01.row.item-006.h2.heat-gap"/>
            <p:cNvSpPr/>
            <p:nvPr/>
          </p:nvSpPr>
          <p:spPr>
            <a:xfrm>
              <a:off x="4914900" y="3860800"/>
              <a:ext cx="838200" cy="381000"/>
            </a:xfrm>
            <a:prstGeom prst="rect">
              <a:avLst/>
            </a:prstGeom>
            <a:solidFill>
              <a:srgbClr val="FFFFFF"/>
            </a:solidFill>
            <a:ln>
              <a:noFill/>
            </a:ln>
          </p:spPr>
        </p:sp>
        <p:sp>
          <p:nvSpPr>
            <p:cNvPr id="72" name="node01.row.item-006.h2.heat"/>
            <p:cNvSpPr/>
            <p:nvPr/>
          </p:nvSpPr>
          <p:spPr>
            <a:xfrm>
              <a:off x="4933950" y="3879850"/>
              <a:ext cx="800100" cy="342900"/>
            </a:xfrm>
            <a:prstGeom prst="rect">
              <a:avLst/>
            </a:prstGeom>
            <a:solidFill>
              <a:srgbClr val="B9C9F0"/>
            </a:solidFill>
            <a:ln>
              <a:noFill/>
            </a:ln>
          </p:spPr>
        </p:sp>
        <p:sp>
          <p:nvSpPr>
            <p:cNvPr id="73" name="node01.row.item-006.h3.heat-gap"/>
            <p:cNvSpPr/>
            <p:nvPr/>
          </p:nvSpPr>
          <p:spPr>
            <a:xfrm>
              <a:off x="5753100" y="3860800"/>
              <a:ext cx="838200" cy="381000"/>
            </a:xfrm>
            <a:prstGeom prst="rect">
              <a:avLst/>
            </a:prstGeom>
            <a:solidFill>
              <a:srgbClr val="FFFFFF"/>
            </a:solidFill>
            <a:ln>
              <a:noFill/>
            </a:ln>
          </p:spPr>
        </p:sp>
        <p:sp>
          <p:nvSpPr>
            <p:cNvPr id="74" name="node01.row.item-006.h3.heat"/>
            <p:cNvSpPr/>
            <p:nvPr/>
          </p:nvSpPr>
          <p:spPr>
            <a:xfrm>
              <a:off x="5772150" y="3879850"/>
              <a:ext cx="800100" cy="342900"/>
            </a:xfrm>
            <a:prstGeom prst="rect">
              <a:avLst/>
            </a:prstGeom>
            <a:solidFill>
              <a:srgbClr val="B9C9F0"/>
            </a:solidFill>
            <a:ln>
              <a:noFill/>
            </a:ln>
          </p:spPr>
        </p:sp>
        <p:sp>
          <p:nvSpPr>
            <p:cNvPr id="75" name="node01.row.item-006.h4.heat-gap"/>
            <p:cNvSpPr/>
            <p:nvPr/>
          </p:nvSpPr>
          <p:spPr>
            <a:xfrm>
              <a:off x="6591300" y="3860800"/>
              <a:ext cx="838200" cy="381000"/>
            </a:xfrm>
            <a:prstGeom prst="rect">
              <a:avLst/>
            </a:prstGeom>
            <a:solidFill>
              <a:srgbClr val="FFFFFF"/>
            </a:solidFill>
            <a:ln>
              <a:noFill/>
            </a:ln>
          </p:spPr>
        </p:sp>
        <p:sp>
          <p:nvSpPr>
            <p:cNvPr id="76" name="node01.row.item-006.h4.heat"/>
            <p:cNvSpPr/>
            <p:nvPr/>
          </p:nvSpPr>
          <p:spPr>
            <a:xfrm>
              <a:off x="6610350" y="3879850"/>
              <a:ext cx="800100" cy="342900"/>
            </a:xfrm>
            <a:prstGeom prst="rect">
              <a:avLst/>
            </a:prstGeom>
            <a:solidFill>
              <a:srgbClr val="E8EEF8"/>
            </a:solidFill>
            <a:ln>
              <a:noFill/>
            </a:ln>
          </p:spPr>
        </p:sp>
        <p:sp>
          <p:nvSpPr>
            <p:cNvPr id="77" name="node01.row.item-006.ov.heat-gap"/>
            <p:cNvSpPr/>
            <p:nvPr/>
          </p:nvSpPr>
          <p:spPr>
            <a:xfrm>
              <a:off x="7429500" y="3860800"/>
              <a:ext cx="838200" cy="381000"/>
            </a:xfrm>
            <a:prstGeom prst="rect">
              <a:avLst/>
            </a:prstGeom>
            <a:solidFill>
              <a:srgbClr val="FFFFFF"/>
            </a:solidFill>
            <a:ln>
              <a:noFill/>
            </a:ln>
          </p:spPr>
        </p:sp>
        <p:sp>
          <p:nvSpPr>
            <p:cNvPr id="78" name="node01.row.item-006.ov.heat"/>
            <p:cNvSpPr/>
            <p:nvPr/>
          </p:nvSpPr>
          <p:spPr>
            <a:xfrm>
              <a:off x="7448550" y="3879850"/>
              <a:ext cx="800100" cy="342900"/>
            </a:xfrm>
            <a:prstGeom prst="rect">
              <a:avLst/>
            </a:prstGeom>
            <a:solidFill>
              <a:srgbClr val="B9C9F0"/>
            </a:solidFill>
            <a:ln>
              <a:noFill/>
            </a:ln>
          </p:spPr>
        </p:sp>
        <p:sp>
          <p:nvSpPr>
            <p:cNvPr id="79" name="node01.row.item-007.h0.heat-gap"/>
            <p:cNvSpPr/>
            <p:nvPr/>
          </p:nvSpPr>
          <p:spPr>
            <a:xfrm>
              <a:off x="3238500" y="4241800"/>
              <a:ext cx="838200" cy="381000"/>
            </a:xfrm>
            <a:prstGeom prst="rect">
              <a:avLst/>
            </a:prstGeom>
            <a:solidFill>
              <a:srgbClr val="FFFFFF"/>
            </a:solidFill>
            <a:ln>
              <a:noFill/>
            </a:ln>
          </p:spPr>
        </p:sp>
        <p:sp>
          <p:nvSpPr>
            <p:cNvPr id="80" name="node01.row.item-007.h0.heat"/>
            <p:cNvSpPr/>
            <p:nvPr/>
          </p:nvSpPr>
          <p:spPr>
            <a:xfrm>
              <a:off x="3257550" y="4260850"/>
              <a:ext cx="800100" cy="342900"/>
            </a:xfrm>
            <a:prstGeom prst="rect">
              <a:avLst/>
            </a:prstGeom>
            <a:solidFill>
              <a:srgbClr val="0047FF"/>
            </a:solidFill>
            <a:ln>
              <a:noFill/>
            </a:ln>
          </p:spPr>
        </p:sp>
        <p:sp>
          <p:nvSpPr>
            <p:cNvPr id="81" name="node01.row.item-007.h1.heat-gap"/>
            <p:cNvSpPr/>
            <p:nvPr/>
          </p:nvSpPr>
          <p:spPr>
            <a:xfrm>
              <a:off x="4076700" y="4241800"/>
              <a:ext cx="838200" cy="381000"/>
            </a:xfrm>
            <a:prstGeom prst="rect">
              <a:avLst/>
            </a:prstGeom>
            <a:solidFill>
              <a:srgbClr val="FFFFFF"/>
            </a:solidFill>
            <a:ln>
              <a:noFill/>
            </a:ln>
          </p:spPr>
        </p:sp>
        <p:sp>
          <p:nvSpPr>
            <p:cNvPr id="82" name="node01.row.item-007.h1.heat"/>
            <p:cNvSpPr/>
            <p:nvPr/>
          </p:nvSpPr>
          <p:spPr>
            <a:xfrm>
              <a:off x="4095750" y="4260850"/>
              <a:ext cx="800100" cy="342900"/>
            </a:xfrm>
            <a:prstGeom prst="rect">
              <a:avLst/>
            </a:prstGeom>
            <a:solidFill>
              <a:srgbClr val="0047FF"/>
            </a:solidFill>
            <a:ln>
              <a:noFill/>
            </a:ln>
          </p:spPr>
        </p:sp>
        <p:sp>
          <p:nvSpPr>
            <p:cNvPr id="83" name="node01.row.item-007.h2.heat-gap"/>
            <p:cNvSpPr/>
            <p:nvPr/>
          </p:nvSpPr>
          <p:spPr>
            <a:xfrm>
              <a:off x="4914900" y="4241800"/>
              <a:ext cx="838200" cy="381000"/>
            </a:xfrm>
            <a:prstGeom prst="rect">
              <a:avLst/>
            </a:prstGeom>
            <a:solidFill>
              <a:srgbClr val="FFFFFF"/>
            </a:solidFill>
            <a:ln>
              <a:noFill/>
            </a:ln>
          </p:spPr>
        </p:sp>
        <p:sp>
          <p:nvSpPr>
            <p:cNvPr id="84" name="node01.row.item-007.h2.heat"/>
            <p:cNvSpPr/>
            <p:nvPr/>
          </p:nvSpPr>
          <p:spPr>
            <a:xfrm>
              <a:off x="4933950" y="4260850"/>
              <a:ext cx="800100" cy="342900"/>
            </a:xfrm>
            <a:prstGeom prst="rect">
              <a:avLst/>
            </a:prstGeom>
            <a:solidFill>
              <a:srgbClr val="7C9BFF"/>
            </a:solidFill>
            <a:ln>
              <a:noFill/>
            </a:ln>
          </p:spPr>
        </p:sp>
        <p:sp>
          <p:nvSpPr>
            <p:cNvPr id="85" name="node01.row.item-007.h3.heat-gap"/>
            <p:cNvSpPr/>
            <p:nvPr/>
          </p:nvSpPr>
          <p:spPr>
            <a:xfrm>
              <a:off x="5753100" y="4241800"/>
              <a:ext cx="838200" cy="381000"/>
            </a:xfrm>
            <a:prstGeom prst="rect">
              <a:avLst/>
            </a:prstGeom>
            <a:solidFill>
              <a:srgbClr val="FFFFFF"/>
            </a:solidFill>
            <a:ln>
              <a:noFill/>
            </a:ln>
          </p:spPr>
        </p:sp>
        <p:sp>
          <p:nvSpPr>
            <p:cNvPr id="86" name="node01.row.item-007.h3.heat"/>
            <p:cNvSpPr/>
            <p:nvPr/>
          </p:nvSpPr>
          <p:spPr>
            <a:xfrm>
              <a:off x="5772150" y="4260850"/>
              <a:ext cx="800100" cy="342900"/>
            </a:xfrm>
            <a:prstGeom prst="rect">
              <a:avLst/>
            </a:prstGeom>
            <a:solidFill>
              <a:srgbClr val="0047FF"/>
            </a:solidFill>
            <a:ln>
              <a:noFill/>
            </a:ln>
          </p:spPr>
        </p:sp>
        <p:sp>
          <p:nvSpPr>
            <p:cNvPr id="87" name="node01.row.item-007.h4.heat-gap"/>
            <p:cNvSpPr/>
            <p:nvPr/>
          </p:nvSpPr>
          <p:spPr>
            <a:xfrm>
              <a:off x="6591300" y="4241800"/>
              <a:ext cx="838200" cy="381000"/>
            </a:xfrm>
            <a:prstGeom prst="rect">
              <a:avLst/>
            </a:prstGeom>
            <a:solidFill>
              <a:srgbClr val="FFFFFF"/>
            </a:solidFill>
            <a:ln>
              <a:noFill/>
            </a:ln>
          </p:spPr>
        </p:sp>
        <p:sp>
          <p:nvSpPr>
            <p:cNvPr id="88" name="node01.row.item-007.h4.heat"/>
            <p:cNvSpPr/>
            <p:nvPr/>
          </p:nvSpPr>
          <p:spPr>
            <a:xfrm>
              <a:off x="6610350" y="4260850"/>
              <a:ext cx="800100" cy="342900"/>
            </a:xfrm>
            <a:prstGeom prst="rect">
              <a:avLst/>
            </a:prstGeom>
            <a:solidFill>
              <a:srgbClr val="7C9BFF"/>
            </a:solidFill>
            <a:ln>
              <a:noFill/>
            </a:ln>
          </p:spPr>
        </p:sp>
        <p:sp>
          <p:nvSpPr>
            <p:cNvPr id="89" name="node01.row.item-007.ov.heat-gap"/>
            <p:cNvSpPr/>
            <p:nvPr/>
          </p:nvSpPr>
          <p:spPr>
            <a:xfrm>
              <a:off x="7429500" y="4241800"/>
              <a:ext cx="838200" cy="381000"/>
            </a:xfrm>
            <a:prstGeom prst="rect">
              <a:avLst/>
            </a:prstGeom>
            <a:solidFill>
              <a:srgbClr val="FFFFFF"/>
            </a:solidFill>
            <a:ln>
              <a:noFill/>
            </a:ln>
          </p:spPr>
        </p:sp>
        <p:sp>
          <p:nvSpPr>
            <p:cNvPr id="90" name="node01.row.item-007.ov.heat"/>
            <p:cNvSpPr/>
            <p:nvPr/>
          </p:nvSpPr>
          <p:spPr>
            <a:xfrm>
              <a:off x="7448550" y="4260850"/>
              <a:ext cx="800100" cy="342900"/>
            </a:xfrm>
            <a:prstGeom prst="rect">
              <a:avLst/>
            </a:prstGeom>
            <a:solidFill>
              <a:srgbClr val="0047FF"/>
            </a:solidFill>
            <a:ln>
              <a:noFill/>
            </a:ln>
          </p:spPr>
        </p:sp>
        <p:sp>
          <p:nvSpPr>
            <p:cNvPr id="91" name="node01.row.item-008.h0.heat-gap"/>
            <p:cNvSpPr/>
            <p:nvPr/>
          </p:nvSpPr>
          <p:spPr>
            <a:xfrm>
              <a:off x="3238500" y="4622800"/>
              <a:ext cx="838200" cy="381000"/>
            </a:xfrm>
            <a:prstGeom prst="rect">
              <a:avLst/>
            </a:prstGeom>
            <a:solidFill>
              <a:srgbClr val="FFFFFF"/>
            </a:solidFill>
            <a:ln>
              <a:noFill/>
            </a:ln>
          </p:spPr>
        </p:sp>
        <p:sp>
          <p:nvSpPr>
            <p:cNvPr id="92" name="node01.row.item-008.h0.heat"/>
            <p:cNvSpPr/>
            <p:nvPr/>
          </p:nvSpPr>
          <p:spPr>
            <a:xfrm>
              <a:off x="3257550" y="4641850"/>
              <a:ext cx="800100" cy="342900"/>
            </a:xfrm>
            <a:prstGeom prst="rect">
              <a:avLst/>
            </a:prstGeom>
            <a:solidFill>
              <a:srgbClr val="B9C9F0"/>
            </a:solidFill>
            <a:ln>
              <a:noFill/>
            </a:ln>
          </p:spPr>
        </p:sp>
        <p:sp>
          <p:nvSpPr>
            <p:cNvPr id="93" name="node01.row.item-008.h1.heat-gap"/>
            <p:cNvSpPr/>
            <p:nvPr/>
          </p:nvSpPr>
          <p:spPr>
            <a:xfrm>
              <a:off x="4076700" y="4622800"/>
              <a:ext cx="838200" cy="381000"/>
            </a:xfrm>
            <a:prstGeom prst="rect">
              <a:avLst/>
            </a:prstGeom>
            <a:solidFill>
              <a:srgbClr val="FFFFFF"/>
            </a:solidFill>
            <a:ln>
              <a:noFill/>
            </a:ln>
          </p:spPr>
        </p:sp>
        <p:sp>
          <p:nvSpPr>
            <p:cNvPr id="94" name="node01.row.item-008.h1.heat"/>
            <p:cNvSpPr/>
            <p:nvPr/>
          </p:nvSpPr>
          <p:spPr>
            <a:xfrm>
              <a:off x="4095750" y="4641850"/>
              <a:ext cx="800100" cy="342900"/>
            </a:xfrm>
            <a:prstGeom prst="rect">
              <a:avLst/>
            </a:prstGeom>
            <a:solidFill>
              <a:srgbClr val="B9C9F0"/>
            </a:solidFill>
            <a:ln>
              <a:noFill/>
            </a:ln>
          </p:spPr>
        </p:sp>
        <p:sp>
          <p:nvSpPr>
            <p:cNvPr id="95" name="node01.row.item-008.h2.heat-gap"/>
            <p:cNvSpPr/>
            <p:nvPr/>
          </p:nvSpPr>
          <p:spPr>
            <a:xfrm>
              <a:off x="4914900" y="4622800"/>
              <a:ext cx="838200" cy="381000"/>
            </a:xfrm>
            <a:prstGeom prst="rect">
              <a:avLst/>
            </a:prstGeom>
            <a:solidFill>
              <a:srgbClr val="FFFFFF"/>
            </a:solidFill>
            <a:ln>
              <a:noFill/>
            </a:ln>
          </p:spPr>
        </p:sp>
        <p:sp>
          <p:nvSpPr>
            <p:cNvPr id="96" name="node01.row.item-008.h2.heat"/>
            <p:cNvSpPr/>
            <p:nvPr/>
          </p:nvSpPr>
          <p:spPr>
            <a:xfrm>
              <a:off x="4933950" y="4641850"/>
              <a:ext cx="800100" cy="342900"/>
            </a:xfrm>
            <a:prstGeom prst="rect">
              <a:avLst/>
            </a:prstGeom>
            <a:solidFill>
              <a:srgbClr val="E8EEF8"/>
            </a:solidFill>
            <a:ln>
              <a:noFill/>
            </a:ln>
          </p:spPr>
        </p:sp>
        <p:sp>
          <p:nvSpPr>
            <p:cNvPr id="97" name="node01.row.item-008.h3.heat-gap"/>
            <p:cNvSpPr/>
            <p:nvPr/>
          </p:nvSpPr>
          <p:spPr>
            <a:xfrm>
              <a:off x="5753100" y="4622800"/>
              <a:ext cx="838200" cy="381000"/>
            </a:xfrm>
            <a:prstGeom prst="rect">
              <a:avLst/>
            </a:prstGeom>
            <a:solidFill>
              <a:srgbClr val="FFFFFF"/>
            </a:solidFill>
            <a:ln>
              <a:noFill/>
            </a:ln>
          </p:spPr>
        </p:sp>
        <p:sp>
          <p:nvSpPr>
            <p:cNvPr id="98" name="node01.row.item-008.h3.heat"/>
            <p:cNvSpPr/>
            <p:nvPr/>
          </p:nvSpPr>
          <p:spPr>
            <a:xfrm>
              <a:off x="5772150" y="4641850"/>
              <a:ext cx="800100" cy="342900"/>
            </a:xfrm>
            <a:prstGeom prst="rect">
              <a:avLst/>
            </a:prstGeom>
            <a:solidFill>
              <a:srgbClr val="7C9BFF"/>
            </a:solidFill>
            <a:ln>
              <a:noFill/>
            </a:ln>
          </p:spPr>
        </p:sp>
        <p:sp>
          <p:nvSpPr>
            <p:cNvPr id="99" name="node01.row.item-008.h4.heat-gap"/>
            <p:cNvSpPr/>
            <p:nvPr/>
          </p:nvSpPr>
          <p:spPr>
            <a:xfrm>
              <a:off x="6591300" y="4622800"/>
              <a:ext cx="838200" cy="381000"/>
            </a:xfrm>
            <a:prstGeom prst="rect">
              <a:avLst/>
            </a:prstGeom>
            <a:solidFill>
              <a:srgbClr val="FFFFFF"/>
            </a:solidFill>
            <a:ln>
              <a:noFill/>
            </a:ln>
          </p:spPr>
        </p:sp>
        <p:sp>
          <p:nvSpPr>
            <p:cNvPr id="100" name="node01.row.item-008.h4.heat"/>
            <p:cNvSpPr/>
            <p:nvPr/>
          </p:nvSpPr>
          <p:spPr>
            <a:xfrm>
              <a:off x="6610350" y="4641850"/>
              <a:ext cx="800100" cy="342900"/>
            </a:xfrm>
            <a:prstGeom prst="rect">
              <a:avLst/>
            </a:prstGeom>
            <a:solidFill>
              <a:srgbClr val="B9C9F0"/>
            </a:solidFill>
            <a:ln>
              <a:noFill/>
            </a:ln>
          </p:spPr>
        </p:sp>
        <p:sp>
          <p:nvSpPr>
            <p:cNvPr id="101" name="node01.row.item-008.ov.heat-gap"/>
            <p:cNvSpPr/>
            <p:nvPr/>
          </p:nvSpPr>
          <p:spPr>
            <a:xfrm>
              <a:off x="7429500" y="4622800"/>
              <a:ext cx="838200" cy="381000"/>
            </a:xfrm>
            <a:prstGeom prst="rect">
              <a:avLst/>
            </a:prstGeom>
            <a:solidFill>
              <a:srgbClr val="FFFFFF"/>
            </a:solidFill>
            <a:ln>
              <a:noFill/>
            </a:ln>
          </p:spPr>
        </p:sp>
        <p:sp>
          <p:nvSpPr>
            <p:cNvPr id="102" name="node01.row.item-008.ov.heat"/>
            <p:cNvSpPr/>
            <p:nvPr/>
          </p:nvSpPr>
          <p:spPr>
            <a:xfrm>
              <a:off x="7448550" y="4641850"/>
              <a:ext cx="800100" cy="342900"/>
            </a:xfrm>
            <a:prstGeom prst="rect">
              <a:avLst/>
            </a:prstGeom>
            <a:solidFill>
              <a:srgbClr val="B9C9F0"/>
            </a:solidFill>
            <a:ln>
              <a:noFill/>
            </a:ln>
          </p:spPr>
        </p:sp>
        <p:sp>
          <p:nvSpPr>
            <p:cNvPr id="103" name="node01.row.item-009.h0.heat-gap"/>
            <p:cNvSpPr/>
            <p:nvPr/>
          </p:nvSpPr>
          <p:spPr>
            <a:xfrm>
              <a:off x="3238500" y="5003800"/>
              <a:ext cx="838200" cy="381000"/>
            </a:xfrm>
            <a:prstGeom prst="rect">
              <a:avLst/>
            </a:prstGeom>
            <a:solidFill>
              <a:srgbClr val="FFFFFF"/>
            </a:solidFill>
            <a:ln>
              <a:noFill/>
            </a:ln>
          </p:spPr>
        </p:sp>
        <p:sp>
          <p:nvSpPr>
            <p:cNvPr id="104" name="node01.row.item-009.h0.heat"/>
            <p:cNvSpPr/>
            <p:nvPr/>
          </p:nvSpPr>
          <p:spPr>
            <a:xfrm>
              <a:off x="3257550" y="5022850"/>
              <a:ext cx="800100" cy="342900"/>
            </a:xfrm>
            <a:prstGeom prst="rect">
              <a:avLst/>
            </a:prstGeom>
            <a:solidFill>
              <a:srgbClr val="7C9BFF"/>
            </a:solidFill>
            <a:ln>
              <a:noFill/>
            </a:ln>
          </p:spPr>
        </p:sp>
        <p:sp>
          <p:nvSpPr>
            <p:cNvPr id="105" name="node01.row.item-009.h1.heat-gap"/>
            <p:cNvSpPr/>
            <p:nvPr/>
          </p:nvSpPr>
          <p:spPr>
            <a:xfrm>
              <a:off x="4076700" y="5003800"/>
              <a:ext cx="838200" cy="381000"/>
            </a:xfrm>
            <a:prstGeom prst="rect">
              <a:avLst/>
            </a:prstGeom>
            <a:solidFill>
              <a:srgbClr val="FFFFFF"/>
            </a:solidFill>
            <a:ln>
              <a:noFill/>
            </a:ln>
          </p:spPr>
        </p:sp>
        <p:sp>
          <p:nvSpPr>
            <p:cNvPr id="106" name="node01.row.item-009.h1.heat"/>
            <p:cNvSpPr/>
            <p:nvPr/>
          </p:nvSpPr>
          <p:spPr>
            <a:xfrm>
              <a:off x="4095750" y="5022850"/>
              <a:ext cx="800100" cy="342900"/>
            </a:xfrm>
            <a:prstGeom prst="rect">
              <a:avLst/>
            </a:prstGeom>
            <a:solidFill>
              <a:srgbClr val="B9C9F0"/>
            </a:solidFill>
            <a:ln>
              <a:noFill/>
            </a:ln>
          </p:spPr>
        </p:sp>
        <p:sp>
          <p:nvSpPr>
            <p:cNvPr id="107" name="node01.row.item-009.h2.heat-gap"/>
            <p:cNvSpPr/>
            <p:nvPr/>
          </p:nvSpPr>
          <p:spPr>
            <a:xfrm>
              <a:off x="4914900" y="5003800"/>
              <a:ext cx="838200" cy="381000"/>
            </a:xfrm>
            <a:prstGeom prst="rect">
              <a:avLst/>
            </a:prstGeom>
            <a:solidFill>
              <a:srgbClr val="FFFFFF"/>
            </a:solidFill>
            <a:ln>
              <a:noFill/>
            </a:ln>
          </p:spPr>
        </p:sp>
        <p:sp>
          <p:nvSpPr>
            <p:cNvPr id="108" name="node01.row.item-009.h2.heat"/>
            <p:cNvSpPr/>
            <p:nvPr/>
          </p:nvSpPr>
          <p:spPr>
            <a:xfrm>
              <a:off x="4933950" y="5022850"/>
              <a:ext cx="800100" cy="342900"/>
            </a:xfrm>
            <a:prstGeom prst="rect">
              <a:avLst/>
            </a:prstGeom>
            <a:solidFill>
              <a:srgbClr val="B9C9F0"/>
            </a:solidFill>
            <a:ln>
              <a:noFill/>
            </a:ln>
          </p:spPr>
        </p:sp>
        <p:sp>
          <p:nvSpPr>
            <p:cNvPr id="109" name="node01.row.item-009.h3.heat-gap"/>
            <p:cNvSpPr/>
            <p:nvPr/>
          </p:nvSpPr>
          <p:spPr>
            <a:xfrm>
              <a:off x="5753100" y="5003800"/>
              <a:ext cx="838200" cy="381000"/>
            </a:xfrm>
            <a:prstGeom prst="rect">
              <a:avLst/>
            </a:prstGeom>
            <a:solidFill>
              <a:srgbClr val="FFFFFF"/>
            </a:solidFill>
            <a:ln>
              <a:noFill/>
            </a:ln>
          </p:spPr>
        </p:sp>
        <p:sp>
          <p:nvSpPr>
            <p:cNvPr id="110" name="node01.row.item-009.h3.heat"/>
            <p:cNvSpPr/>
            <p:nvPr/>
          </p:nvSpPr>
          <p:spPr>
            <a:xfrm>
              <a:off x="5772150" y="5022850"/>
              <a:ext cx="800100" cy="342900"/>
            </a:xfrm>
            <a:prstGeom prst="rect">
              <a:avLst/>
            </a:prstGeom>
            <a:solidFill>
              <a:srgbClr val="B9C9F0"/>
            </a:solidFill>
            <a:ln>
              <a:noFill/>
            </a:ln>
          </p:spPr>
        </p:sp>
        <p:sp>
          <p:nvSpPr>
            <p:cNvPr id="111" name="node01.row.item-009.h4.heat-gap"/>
            <p:cNvSpPr/>
            <p:nvPr/>
          </p:nvSpPr>
          <p:spPr>
            <a:xfrm>
              <a:off x="6591300" y="5003800"/>
              <a:ext cx="838200" cy="381000"/>
            </a:xfrm>
            <a:prstGeom prst="rect">
              <a:avLst/>
            </a:prstGeom>
            <a:solidFill>
              <a:srgbClr val="FFFFFF"/>
            </a:solidFill>
            <a:ln>
              <a:noFill/>
            </a:ln>
          </p:spPr>
        </p:sp>
        <p:sp>
          <p:nvSpPr>
            <p:cNvPr id="112" name="node01.row.item-009.h4.heat"/>
            <p:cNvSpPr/>
            <p:nvPr/>
          </p:nvSpPr>
          <p:spPr>
            <a:xfrm>
              <a:off x="6610350" y="5022850"/>
              <a:ext cx="800100" cy="342900"/>
            </a:xfrm>
            <a:prstGeom prst="rect">
              <a:avLst/>
            </a:prstGeom>
            <a:solidFill>
              <a:srgbClr val="7C9BFF"/>
            </a:solidFill>
            <a:ln>
              <a:noFill/>
            </a:ln>
          </p:spPr>
        </p:sp>
        <p:sp>
          <p:nvSpPr>
            <p:cNvPr id="113" name="node01.row.item-009.ov.heat-gap"/>
            <p:cNvSpPr/>
            <p:nvPr/>
          </p:nvSpPr>
          <p:spPr>
            <a:xfrm>
              <a:off x="7429500" y="5003800"/>
              <a:ext cx="838200" cy="381000"/>
            </a:xfrm>
            <a:prstGeom prst="rect">
              <a:avLst/>
            </a:prstGeom>
            <a:solidFill>
              <a:srgbClr val="FFFFFF"/>
            </a:solidFill>
            <a:ln>
              <a:noFill/>
            </a:ln>
          </p:spPr>
        </p:sp>
        <p:sp>
          <p:nvSpPr>
            <p:cNvPr id="114" name="node01.row.item-009.ov.heat"/>
            <p:cNvSpPr/>
            <p:nvPr/>
          </p:nvSpPr>
          <p:spPr>
            <a:xfrm>
              <a:off x="7448550" y="5022850"/>
              <a:ext cx="800100" cy="342900"/>
            </a:xfrm>
            <a:prstGeom prst="rect">
              <a:avLst/>
            </a:prstGeom>
            <a:solidFill>
              <a:srgbClr val="B9C9F0"/>
            </a:solidFill>
            <a:ln>
              <a:noFill/>
            </a:ln>
          </p:spPr>
        </p:sp>
        <p:graphicFrame>
          <p:nvGraphicFramePr>
            <p:cNvPr id="115"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7543800" cy="3784600"/>
          </p:xfrm>
          <a:graphic>
            <a:graphicData uri="http://schemas.openxmlformats.org/drawingml/2006/table">
              <a:tbl>
                <a:tblPr/>
                <a:tblGrid>
                  <a:gridCol w="2514600"/>
                  <a:gridCol w="838200"/>
                  <a:gridCol w="838200"/>
                  <a:gridCol w="838200"/>
                  <a:gridCol w="838200"/>
                  <a:gridCol w="838200"/>
                  <a:gridCol w="8382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CAPABILITY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PROCESS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TECHNOLOGY</a:t>
                        </a:r>
                        <a:endParaRPr lang="en-US" sz="800" spc="48" kern="0" b="0" i="0" dirty="0">
                          <a:solidFill>
                            <a:srgbClr val="070154"/>
                          </a:solidFill>
                          <a:latin typeface="IBM Plex Mono SemiBold"/>
                          <a:ea typeface="IBM Plex Mono SemiBold"/>
                          <a:cs typeface="IBM Plex Mono SemiBold"/>
                        </a:endParaRPr>
                      </a:p>
                    </a:txBody>
                    <a:tcPr marL="74296" marR="742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DATA</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PEOPLE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GOVERNANCE</a:t>
                        </a:r>
                        <a:endParaRPr lang="en-US" sz="800" spc="48" kern="0" b="0" i="0" dirty="0">
                          <a:solidFill>
                            <a:srgbClr val="070154"/>
                          </a:solidFill>
                          <a:latin typeface="IBM Plex Mono SemiBold"/>
                          <a:ea typeface="IBM Plex Mono SemiBold"/>
                          <a:cs typeface="IBM Plex Mono SemiBold"/>
                        </a:endParaRPr>
                      </a:p>
                    </a:txBody>
                    <a:tcPr marL="74296" marR="742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OVERALL</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access</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Scheduling</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Referral management</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Revenue cycle</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5</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billing</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Denials management</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Clinical documentation</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Care coordination</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Supply chain</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sp>
          <p:nvSpPr>
            <p:cNvPr id="116" name="node01.row.item-001.c0.ref.fill"/>
            <p:cNvSpPr/>
            <p:nvPr/>
          </p:nvSpPr>
          <p:spPr>
            <a:xfrm>
              <a:off x="876300" y="2070100"/>
              <a:ext cx="230380" cy="165100"/>
            </a:xfrm>
            <a:prstGeom prst="rect">
              <a:avLst/>
            </a:prstGeom>
            <a:ln w="9525">
              <a:solidFill>
                <a:srgbClr val="070154"/>
              </a:solidFill>
              <a:prstDash val="solid"/>
            </a:ln>
          </p:spPr>
        </p:sp>
        <p:sp>
          <p:nvSpPr>
            <p:cNvPr id="117" name="node01.row.item-001.c0.ref"/>
            <p:cNvSpPr/>
            <p:nvPr/>
          </p:nvSpPr>
          <p:spPr>
            <a:xfrm>
              <a:off x="914400" y="2076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070154"/>
                  </a:solidFill>
                  <a:latin typeface="IBM Plex Mono SemiBold"/>
                  <a:ea typeface="IBM Plex Mono SemiBold"/>
                  <a:cs typeface="IBM Plex Mono SemiBold"/>
                </a:rPr>
                <a:t>A1</a:t>
              </a:r>
              <a:endParaRPr lang="en-US" sz="800" spc="32" kern="0" b="0" i="0" dirty="0">
                <a:solidFill>
                  <a:srgbClr val="070154"/>
                </a:solidFill>
                <a:latin typeface="IBM Plex Mono SemiBold"/>
                <a:ea typeface="IBM Plex Mono SemiBold"/>
                <a:cs typeface="IBM Plex Mono SemiBold"/>
              </a:endParaRPr>
            </a:p>
          </p:txBody>
        </p:sp>
        <p:sp>
          <p:nvSpPr>
            <p:cNvPr id="118" name="node01.row.item-002.c0.ref.fill"/>
            <p:cNvSpPr/>
            <p:nvPr/>
          </p:nvSpPr>
          <p:spPr>
            <a:xfrm>
              <a:off x="876300" y="2451100"/>
              <a:ext cx="230380" cy="165100"/>
            </a:xfrm>
            <a:prstGeom prst="rect">
              <a:avLst/>
            </a:prstGeom>
            <a:ln w="9525">
              <a:solidFill>
                <a:srgbClr val="070154"/>
              </a:solidFill>
              <a:prstDash val="solid"/>
            </a:ln>
          </p:spPr>
        </p:sp>
        <p:sp>
          <p:nvSpPr>
            <p:cNvPr id="119" name="node01.row.item-002.c0.ref"/>
            <p:cNvSpPr/>
            <p:nvPr/>
          </p:nvSpPr>
          <p:spPr>
            <a:xfrm>
              <a:off x="914400" y="2457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070154"/>
                  </a:solidFill>
                  <a:latin typeface="IBM Plex Mono SemiBold"/>
                  <a:ea typeface="IBM Plex Mono SemiBold"/>
                  <a:cs typeface="IBM Plex Mono SemiBold"/>
                </a:rPr>
                <a:t>A2</a:t>
              </a:r>
              <a:endParaRPr lang="en-US" sz="800" spc="32" kern="0" b="0" i="0" dirty="0">
                <a:solidFill>
                  <a:srgbClr val="070154"/>
                </a:solidFill>
                <a:latin typeface="IBM Plex Mono SemiBold"/>
                <a:ea typeface="IBM Plex Mono SemiBold"/>
                <a:cs typeface="IBM Plex Mono SemiBold"/>
              </a:endParaRPr>
            </a:p>
          </p:txBody>
        </p:sp>
        <p:sp>
          <p:nvSpPr>
            <p:cNvPr id="120" name="node01.row.item-003.c0.ref.fill"/>
            <p:cNvSpPr/>
            <p:nvPr/>
          </p:nvSpPr>
          <p:spPr>
            <a:xfrm>
              <a:off x="876300" y="2832100"/>
              <a:ext cx="230380" cy="165100"/>
            </a:xfrm>
            <a:prstGeom prst="rect">
              <a:avLst/>
            </a:prstGeom>
            <a:ln w="9525">
              <a:solidFill>
                <a:srgbClr val="070154"/>
              </a:solidFill>
              <a:prstDash val="solid"/>
            </a:ln>
          </p:spPr>
        </p:sp>
        <p:sp>
          <p:nvSpPr>
            <p:cNvPr id="121" name="node01.row.item-003.c0.ref"/>
            <p:cNvSpPr/>
            <p:nvPr/>
          </p:nvSpPr>
          <p:spPr>
            <a:xfrm>
              <a:off x="914400" y="2838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070154"/>
                  </a:solidFill>
                  <a:latin typeface="IBM Plex Mono SemiBold"/>
                  <a:ea typeface="IBM Plex Mono SemiBold"/>
                  <a:cs typeface="IBM Plex Mono SemiBold"/>
                </a:rPr>
                <a:t>A3</a:t>
              </a:r>
              <a:endParaRPr lang="en-US" sz="800" spc="32" kern="0" b="0" i="0" dirty="0">
                <a:solidFill>
                  <a:srgbClr val="070154"/>
                </a:solidFill>
                <a:latin typeface="IBM Plex Mono SemiBold"/>
                <a:ea typeface="IBM Plex Mono SemiBold"/>
                <a:cs typeface="IBM Plex Mono SemiBold"/>
              </a:endParaRPr>
            </a:p>
          </p:txBody>
        </p:sp>
        <p:sp>
          <p:nvSpPr>
            <p:cNvPr id="122" name="node01.row.item-004.c0.ref.fill"/>
            <p:cNvSpPr/>
            <p:nvPr/>
          </p:nvSpPr>
          <p:spPr>
            <a:xfrm>
              <a:off x="876300" y="3213100"/>
              <a:ext cx="230380" cy="165100"/>
            </a:xfrm>
            <a:prstGeom prst="rect">
              <a:avLst/>
            </a:prstGeom>
            <a:solidFill>
              <a:srgbClr val="070154"/>
            </a:solidFill>
            <a:ln w="9525">
              <a:solidFill>
                <a:srgbClr val="070154"/>
              </a:solidFill>
              <a:prstDash val="solid"/>
            </a:ln>
          </p:spPr>
        </p:sp>
        <p:sp>
          <p:nvSpPr>
            <p:cNvPr id="123" name="node01.row.item-004.c0.ref"/>
            <p:cNvSpPr/>
            <p:nvPr/>
          </p:nvSpPr>
          <p:spPr>
            <a:xfrm>
              <a:off x="914400" y="3219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FFFFFF"/>
                  </a:solidFill>
                  <a:latin typeface="IBM Plex Mono SemiBold"/>
                  <a:ea typeface="IBM Plex Mono SemiBold"/>
                  <a:cs typeface="IBM Plex Mono SemiBold"/>
                </a:rPr>
                <a:t>A4</a:t>
              </a:r>
              <a:endParaRPr lang="en-US" sz="800" spc="32" kern="0" b="0" i="0" dirty="0">
                <a:solidFill>
                  <a:srgbClr val="FFFFFF"/>
                </a:solidFill>
                <a:latin typeface="IBM Plex Mono SemiBold"/>
                <a:ea typeface="IBM Plex Mono SemiBold"/>
                <a:cs typeface="IBM Plex Mono SemiBold"/>
              </a:endParaRPr>
            </a:p>
          </p:txBody>
        </p:sp>
        <p:sp>
          <p:nvSpPr>
            <p:cNvPr id="124" name="node01.row.item-005.c0.ref.fill"/>
            <p:cNvSpPr/>
            <p:nvPr/>
          </p:nvSpPr>
          <p:spPr>
            <a:xfrm>
              <a:off x="876300" y="3594100"/>
              <a:ext cx="230380" cy="165100"/>
            </a:xfrm>
            <a:prstGeom prst="rect">
              <a:avLst/>
            </a:prstGeom>
            <a:solidFill>
              <a:srgbClr val="070154"/>
            </a:solidFill>
            <a:ln w="9525">
              <a:solidFill>
                <a:srgbClr val="070154"/>
              </a:solidFill>
              <a:prstDash val="solid"/>
            </a:ln>
          </p:spPr>
        </p:sp>
        <p:sp>
          <p:nvSpPr>
            <p:cNvPr id="125" name="node01.row.item-005.c0.ref"/>
            <p:cNvSpPr/>
            <p:nvPr/>
          </p:nvSpPr>
          <p:spPr>
            <a:xfrm>
              <a:off x="914400" y="3600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FFFFFF"/>
                  </a:solidFill>
                  <a:latin typeface="IBM Plex Mono SemiBold"/>
                  <a:ea typeface="IBM Plex Mono SemiBold"/>
                  <a:cs typeface="IBM Plex Mono SemiBold"/>
                </a:rPr>
                <a:t>A5</a:t>
              </a:r>
              <a:endParaRPr lang="en-US" sz="800" spc="32" kern="0" b="0" i="0" dirty="0">
                <a:solidFill>
                  <a:srgbClr val="FFFFFF"/>
                </a:solidFill>
                <a:latin typeface="IBM Plex Mono SemiBold"/>
                <a:ea typeface="IBM Plex Mono SemiBold"/>
                <a:cs typeface="IBM Plex Mono SemiBold"/>
              </a:endParaRPr>
            </a:p>
          </p:txBody>
        </p:sp>
        <p:sp>
          <p:nvSpPr>
            <p:cNvPr id="126" name="node01.row.item-006.c0.ref.fill"/>
            <p:cNvSpPr/>
            <p:nvPr/>
          </p:nvSpPr>
          <p:spPr>
            <a:xfrm>
              <a:off x="876300" y="3975100"/>
              <a:ext cx="230380" cy="165100"/>
            </a:xfrm>
            <a:prstGeom prst="rect">
              <a:avLst/>
            </a:prstGeom>
            <a:solidFill>
              <a:srgbClr val="070154"/>
            </a:solidFill>
            <a:ln w="9525">
              <a:solidFill>
                <a:srgbClr val="070154"/>
              </a:solidFill>
              <a:prstDash val="solid"/>
            </a:ln>
          </p:spPr>
        </p:sp>
        <p:sp>
          <p:nvSpPr>
            <p:cNvPr id="127" name="node01.row.item-006.c0.ref"/>
            <p:cNvSpPr/>
            <p:nvPr/>
          </p:nvSpPr>
          <p:spPr>
            <a:xfrm>
              <a:off x="914400" y="3981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FFFFFF"/>
                  </a:solidFill>
                  <a:latin typeface="IBM Plex Mono SemiBold"/>
                  <a:ea typeface="IBM Plex Mono SemiBold"/>
                  <a:cs typeface="IBM Plex Mono SemiBold"/>
                </a:rPr>
                <a:t>A6</a:t>
              </a:r>
              <a:endParaRPr lang="en-US" sz="800" spc="32" kern="0" b="0" i="0" dirty="0">
                <a:solidFill>
                  <a:srgbClr val="FFFFFF"/>
                </a:solidFill>
                <a:latin typeface="IBM Plex Mono SemiBold"/>
                <a:ea typeface="IBM Plex Mono SemiBold"/>
                <a:cs typeface="IBM Plex Mono SemiBold"/>
              </a:endParaRPr>
            </a:p>
          </p:txBody>
        </p:sp>
        <p:sp>
          <p:nvSpPr>
            <p:cNvPr id="128" name="node01.row.item-007.c0.ref.fill"/>
            <p:cNvSpPr/>
            <p:nvPr/>
          </p:nvSpPr>
          <p:spPr>
            <a:xfrm>
              <a:off x="876300" y="4356100"/>
              <a:ext cx="230380" cy="165100"/>
            </a:xfrm>
            <a:prstGeom prst="rect">
              <a:avLst/>
            </a:prstGeom>
            <a:ln w="9525">
              <a:solidFill>
                <a:srgbClr val="070154"/>
              </a:solidFill>
              <a:prstDash val="solid"/>
            </a:ln>
          </p:spPr>
        </p:sp>
        <p:sp>
          <p:nvSpPr>
            <p:cNvPr id="129" name="node01.row.item-007.c0.ref"/>
            <p:cNvSpPr/>
            <p:nvPr/>
          </p:nvSpPr>
          <p:spPr>
            <a:xfrm>
              <a:off x="914400" y="4362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070154"/>
                  </a:solidFill>
                  <a:latin typeface="IBM Plex Mono SemiBold"/>
                  <a:ea typeface="IBM Plex Mono SemiBold"/>
                  <a:cs typeface="IBM Plex Mono SemiBold"/>
                </a:rPr>
                <a:t>A7</a:t>
              </a:r>
              <a:endParaRPr lang="en-US" sz="800" spc="32" kern="0" b="0" i="0" dirty="0">
                <a:solidFill>
                  <a:srgbClr val="070154"/>
                </a:solidFill>
                <a:latin typeface="IBM Plex Mono SemiBold"/>
                <a:ea typeface="IBM Plex Mono SemiBold"/>
                <a:cs typeface="IBM Plex Mono SemiBold"/>
              </a:endParaRPr>
            </a:p>
          </p:txBody>
        </p:sp>
        <p:sp>
          <p:nvSpPr>
            <p:cNvPr id="130" name="node01.row.item-008.c0.ref.fill"/>
            <p:cNvSpPr/>
            <p:nvPr/>
          </p:nvSpPr>
          <p:spPr>
            <a:xfrm>
              <a:off x="876300" y="4737100"/>
              <a:ext cx="230380" cy="165100"/>
            </a:xfrm>
            <a:prstGeom prst="rect">
              <a:avLst/>
            </a:prstGeom>
            <a:ln w="9525">
              <a:solidFill>
                <a:srgbClr val="070154"/>
              </a:solidFill>
              <a:prstDash val="solid"/>
            </a:ln>
          </p:spPr>
        </p:sp>
        <p:sp>
          <p:nvSpPr>
            <p:cNvPr id="131" name="node01.row.item-008.c0.ref"/>
            <p:cNvSpPr/>
            <p:nvPr/>
          </p:nvSpPr>
          <p:spPr>
            <a:xfrm>
              <a:off x="914400" y="4743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070154"/>
                  </a:solidFill>
                  <a:latin typeface="IBM Plex Mono SemiBold"/>
                  <a:ea typeface="IBM Plex Mono SemiBold"/>
                  <a:cs typeface="IBM Plex Mono SemiBold"/>
                </a:rPr>
                <a:t>A8</a:t>
              </a:r>
              <a:endParaRPr lang="en-US" sz="800" spc="32" kern="0" b="0" i="0" dirty="0">
                <a:solidFill>
                  <a:srgbClr val="070154"/>
                </a:solidFill>
                <a:latin typeface="IBM Plex Mono SemiBold"/>
                <a:ea typeface="IBM Plex Mono SemiBold"/>
                <a:cs typeface="IBM Plex Mono SemiBold"/>
              </a:endParaRPr>
            </a:p>
          </p:txBody>
        </p:sp>
        <p:sp>
          <p:nvSpPr>
            <p:cNvPr id="132" name="node01.row.item-009.c0.ref.fill"/>
            <p:cNvSpPr/>
            <p:nvPr/>
          </p:nvSpPr>
          <p:spPr>
            <a:xfrm>
              <a:off x="876300" y="5118100"/>
              <a:ext cx="230380" cy="165100"/>
            </a:xfrm>
            <a:prstGeom prst="rect">
              <a:avLst/>
            </a:prstGeom>
            <a:ln w="9525">
              <a:solidFill>
                <a:srgbClr val="070154"/>
              </a:solidFill>
              <a:prstDash val="solid"/>
            </a:ln>
          </p:spPr>
        </p:sp>
        <p:sp>
          <p:nvSpPr>
            <p:cNvPr id="133" name="node01.row.item-009.c0.ref"/>
            <p:cNvSpPr/>
            <p:nvPr/>
          </p:nvSpPr>
          <p:spPr>
            <a:xfrm>
              <a:off x="914400" y="5124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070154"/>
                  </a:solidFill>
                  <a:latin typeface="IBM Plex Mono SemiBold"/>
                  <a:ea typeface="IBM Plex Mono SemiBold"/>
                  <a:cs typeface="IBM Plex Mono SemiBold"/>
                </a:rPr>
                <a:t>A9</a:t>
              </a:r>
              <a:endParaRPr lang="en-US" sz="800" spc="32" kern="0" b="0" i="0" dirty="0">
                <a:solidFill>
                  <a:srgbClr val="070154"/>
                </a:solidFill>
                <a:latin typeface="IBM Plex Mono SemiBold"/>
                <a:ea typeface="IBM Plex Mono SemiBold"/>
                <a:cs typeface="IBM Plex Mono SemiBold"/>
              </a:endParaRPr>
            </a:p>
          </p:txBody>
        </p:sp>
      </p:grpSp>
      <p:grpSp>
        <p:nvGrpSpPr>
          <p:cNvPr id="162" name="node02"/>
          <p:cNvGrpSpPr/>
          <p:nvPr/>
        </p:nvGrpSpPr>
        <p:grpSpPr>
          <a:xfrm>
            <a:off x="723900" y="5486400"/>
            <a:ext cx="6062663" cy="190500"/>
            <a:chOff x="723900" y="5486400"/>
            <a:chExt cx="6062663" cy="190500"/>
          </a:xfrm>
        </p:grpSpPr>
        <p:sp>
          <p:nvSpPr>
            <p:cNvPr id="134" name="node02.items.slot-001.swatch"/>
            <p:cNvSpPr/>
            <p:nvPr/>
          </p:nvSpPr>
          <p:spPr>
            <a:xfrm>
              <a:off x="723900" y="5518150"/>
              <a:ext cx="228600" cy="127000"/>
            </a:xfrm>
            <a:prstGeom prst="rect">
              <a:avLst/>
            </a:prstGeom>
            <a:solidFill>
              <a:srgbClr val="E8EEF8"/>
            </a:solidFill>
            <a:ln>
              <a:noFill/>
            </a:ln>
          </p:spPr>
        </p:sp>
        <p:sp>
          <p:nvSpPr>
            <p:cNvPr id="135" name="node02.items.slot-001.text"/>
            <p:cNvSpPr/>
            <p:nvPr/>
          </p:nvSpPr>
          <p:spPr>
            <a:xfrm>
              <a:off x="1016000" y="5486400"/>
              <a:ext cx="5984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Ad hoc</a:t>
              </a:r>
              <a:endParaRPr lang="en-US" sz="1100" spc="0" kern="0" b="0" i="0" dirty="0">
                <a:solidFill>
                  <a:srgbClr val="070154"/>
                </a:solidFill>
                <a:latin typeface="IBM Plex Sans"/>
                <a:ea typeface="IBM Plex Sans"/>
                <a:cs typeface="IBM Plex Sans"/>
              </a:endParaRPr>
            </a:p>
          </p:txBody>
        </p:sp>
        <p:sp>
          <p:nvSpPr>
            <p:cNvPr id="136" name="node02.items.slot-002.swatch"/>
            <p:cNvSpPr/>
            <p:nvPr/>
          </p:nvSpPr>
          <p:spPr>
            <a:xfrm>
              <a:off x="1843088" y="5518150"/>
              <a:ext cx="228600" cy="127000"/>
            </a:xfrm>
            <a:prstGeom prst="rect">
              <a:avLst/>
            </a:prstGeom>
            <a:solidFill>
              <a:srgbClr val="B9C9F0"/>
            </a:solidFill>
            <a:ln>
              <a:noFill/>
            </a:ln>
          </p:spPr>
        </p:sp>
        <p:sp>
          <p:nvSpPr>
            <p:cNvPr id="137" name="node02.items.slot-002.text"/>
            <p:cNvSpPr/>
            <p:nvPr/>
          </p:nvSpPr>
          <p:spPr>
            <a:xfrm>
              <a:off x="2135188" y="5486400"/>
              <a:ext cx="8842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 Repeatable</a:t>
              </a:r>
              <a:endParaRPr lang="en-US" sz="1100" spc="0" kern="0" b="0" i="0" dirty="0">
                <a:solidFill>
                  <a:srgbClr val="070154"/>
                </a:solidFill>
                <a:latin typeface="IBM Plex Sans"/>
                <a:ea typeface="IBM Plex Sans"/>
                <a:cs typeface="IBM Plex Sans"/>
              </a:endParaRPr>
            </a:p>
          </p:txBody>
        </p:sp>
        <p:sp>
          <p:nvSpPr>
            <p:cNvPr id="138" name="node02.items.slot-003.swatch"/>
            <p:cNvSpPr/>
            <p:nvPr/>
          </p:nvSpPr>
          <p:spPr>
            <a:xfrm>
              <a:off x="3248025" y="5518150"/>
              <a:ext cx="228600" cy="127000"/>
            </a:xfrm>
            <a:prstGeom prst="rect">
              <a:avLst/>
            </a:prstGeom>
            <a:solidFill>
              <a:srgbClr val="7C9BFF"/>
            </a:solidFill>
            <a:ln>
              <a:noFill/>
            </a:ln>
          </p:spPr>
        </p:sp>
        <p:sp>
          <p:nvSpPr>
            <p:cNvPr id="139" name="node02.items.slot-003.text"/>
            <p:cNvSpPr/>
            <p:nvPr/>
          </p:nvSpPr>
          <p:spPr>
            <a:xfrm>
              <a:off x="3540125" y="5486400"/>
              <a:ext cx="6540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 Defined</a:t>
              </a:r>
              <a:endParaRPr lang="en-US" sz="1100" spc="0" kern="0" b="0" i="0" dirty="0">
                <a:solidFill>
                  <a:srgbClr val="070154"/>
                </a:solidFill>
                <a:latin typeface="IBM Plex Sans"/>
                <a:ea typeface="IBM Plex Sans"/>
                <a:cs typeface="IBM Plex Sans"/>
              </a:endParaRPr>
            </a:p>
          </p:txBody>
        </p:sp>
        <p:sp>
          <p:nvSpPr>
            <p:cNvPr id="140" name="node02.items.slot-004.swatch"/>
            <p:cNvSpPr/>
            <p:nvPr/>
          </p:nvSpPr>
          <p:spPr>
            <a:xfrm>
              <a:off x="4422775" y="5518150"/>
              <a:ext cx="228600" cy="127000"/>
            </a:xfrm>
            <a:prstGeom prst="rect">
              <a:avLst/>
            </a:prstGeom>
            <a:solidFill>
              <a:srgbClr val="0047FF"/>
            </a:solidFill>
            <a:ln>
              <a:noFill/>
            </a:ln>
          </p:spPr>
        </p:sp>
        <p:sp>
          <p:nvSpPr>
            <p:cNvPr id="141" name="node02.items.slot-004.text"/>
            <p:cNvSpPr/>
            <p:nvPr/>
          </p:nvSpPr>
          <p:spPr>
            <a:xfrm>
              <a:off x="4714875" y="5486400"/>
              <a:ext cx="7397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4 Managed</a:t>
              </a:r>
              <a:endParaRPr lang="en-US" sz="1100" spc="0" kern="0" b="0" i="0" dirty="0">
                <a:solidFill>
                  <a:srgbClr val="070154"/>
                </a:solidFill>
                <a:latin typeface="IBM Plex Sans"/>
                <a:ea typeface="IBM Plex Sans"/>
                <a:cs typeface="IBM Plex Sans"/>
              </a:endParaRPr>
            </a:p>
          </p:txBody>
        </p:sp>
        <p:sp>
          <p:nvSpPr>
            <p:cNvPr id="142" name="node02.items.slot-005.swatch"/>
            <p:cNvSpPr/>
            <p:nvPr/>
          </p:nvSpPr>
          <p:spPr>
            <a:xfrm>
              <a:off x="5683250" y="5518150"/>
              <a:ext cx="228600" cy="127000"/>
            </a:xfrm>
            <a:prstGeom prst="rect">
              <a:avLst/>
            </a:prstGeom>
            <a:solidFill>
              <a:srgbClr val="070154"/>
            </a:solidFill>
            <a:ln>
              <a:noFill/>
            </a:ln>
          </p:spPr>
        </p:sp>
        <p:sp>
          <p:nvSpPr>
            <p:cNvPr id="143" name="node02.items.slot-005.text"/>
            <p:cNvSpPr/>
            <p:nvPr/>
          </p:nvSpPr>
          <p:spPr>
            <a:xfrm>
              <a:off x="5975350" y="5486400"/>
              <a:ext cx="8112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Optimized</a:t>
              </a:r>
              <a:endParaRPr lang="en-US" sz="1100" spc="0" kern="0" b="0" i="0" dirty="0">
                <a:solidFill>
                  <a:srgbClr val="070154"/>
                </a:solidFill>
                <a:latin typeface="IBM Plex Sans"/>
                <a:ea typeface="IBM Plex Sans"/>
                <a:cs typeface="IBM Plex Sans"/>
              </a:endParaRPr>
            </a:p>
          </p:txBody>
        </p:sp>
      </p:grpSp>
      <p:grpSp>
        <p:nvGrpSpPr>
          <p:cNvPr id="163" name="node03"/>
          <p:cNvGrpSpPr/>
          <p:nvPr/>
        </p:nvGrpSpPr>
        <p:grpSpPr>
          <a:xfrm>
            <a:off x="8496300" y="1600200"/>
            <a:ext cx="2971800" cy="901700"/>
            <a:chOff x="8496300" y="1600200"/>
            <a:chExt cx="2971800" cy="901700"/>
          </a:xfrm>
        </p:grpSpPr>
        <p:sp>
          <p:nvSpPr>
            <p:cNvPr id="144" name="node03.source-001.bullet"/>
            <p:cNvSpPr/>
            <p:nvPr/>
          </p:nvSpPr>
          <p:spPr>
            <a:xfrm>
              <a:off x="8496300" y="1689100"/>
              <a:ext cx="38100" cy="38100"/>
            </a:xfrm>
            <a:prstGeom prst="rect">
              <a:avLst/>
            </a:prstGeom>
            <a:solidFill>
              <a:srgbClr val="070154"/>
            </a:solidFill>
            <a:ln>
              <a:noFill/>
            </a:ln>
          </p:spPr>
        </p:sp>
        <p:sp>
          <p:nvSpPr>
            <p:cNvPr id="145" name="node03.source-001.text"/>
            <p:cNvSpPr/>
            <p:nvPr/>
          </p:nvSpPr>
          <p:spPr>
            <a:xfrm>
              <a:off x="8648700" y="1600200"/>
              <a:ext cx="2819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Reference badges.</a:t>
              </a:r>
              <a:r>
                <a:rPr lang="en-US" sz="1200" spc="0" kern="0" b="0" i="0" dirty="0">
                  <a:solidFill>
                    <a:srgbClr val="50658E"/>
                  </a:solidFill>
                  <a:latin typeface="IBM Plex Sans"/>
                  <a:ea typeface="IBM Plex Sans"/>
                  <a:cs typeface="IBM Plex Sans"/>
                </a:rPr>
                <a:t xml:space="preserve"> Each row keeps its code on the slides that follow.</a:t>
              </a:r>
              <a:endParaRPr lang="en-US" sz="1200" spc="0" kern="0" b="0" i="0" dirty="0">
                <a:solidFill>
                  <a:srgbClr val="070154"/>
                </a:solidFill>
                <a:latin typeface="IBM Plex Sans"/>
                <a:ea typeface="IBM Plex Sans"/>
                <a:cs typeface="IBM Plex Sans"/>
              </a:endParaRPr>
            </a:p>
          </p:txBody>
        </p:sp>
        <p:sp>
          <p:nvSpPr>
            <p:cNvPr id="146" name="node03.source-002.bullet"/>
            <p:cNvSpPr/>
            <p:nvPr/>
          </p:nvSpPr>
          <p:spPr>
            <a:xfrm>
              <a:off x="8496300" y="2159000"/>
              <a:ext cx="38100" cy="38100"/>
            </a:xfrm>
            <a:prstGeom prst="rect">
              <a:avLst/>
            </a:prstGeom>
            <a:solidFill>
              <a:srgbClr val="070154"/>
            </a:solidFill>
            <a:ln>
              <a:noFill/>
            </a:ln>
          </p:spPr>
        </p:sp>
        <p:sp>
          <p:nvSpPr>
            <p:cNvPr id="147" name="node03.source-002.text"/>
            <p:cNvSpPr/>
            <p:nvPr/>
          </p:nvSpPr>
          <p:spPr>
            <a:xfrm>
              <a:off x="8648700" y="2070100"/>
              <a:ext cx="2819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Overall.</a:t>
              </a:r>
              <a:r>
                <a:rPr lang="en-US" sz="1200" spc="0" kern="0" b="0" i="0" dirty="0">
                  <a:solidFill>
                    <a:srgbClr val="50658E"/>
                  </a:solidFill>
                  <a:latin typeface="IBM Plex Sans"/>
                  <a:ea typeface="IBM Plex Sans"/>
                  <a:cs typeface="IBM Plex Sans"/>
                </a:rPr>
                <a:t xml:space="preserve"> The rounded mean of five dimensions.</a:t>
              </a:r>
              <a:endParaRPr lang="en-US" sz="1200" spc="0" kern="0" b="0" i="0" dirty="0">
                <a:solidFill>
                  <a:srgbClr val="070154"/>
                </a:solidFill>
                <a:latin typeface="IBM Plex Sans"/>
                <a:ea typeface="IBM Plex Sans"/>
                <a:cs typeface="IBM Plex Sans"/>
              </a:endParaRPr>
            </a:p>
          </p:txBody>
        </p:sp>
      </p:grpSp>
      <p:grpSp>
        <p:nvGrpSpPr>
          <p:cNvPr id="164" name="node04"/>
          <p:cNvGrpSpPr/>
          <p:nvPr/>
        </p:nvGrpSpPr>
        <p:grpSpPr>
          <a:xfrm>
            <a:off x="8496300" y="2971800"/>
            <a:ext cx="2971800" cy="2514600"/>
            <a:chOff x="8496300" y="2971800"/>
            <a:chExt cx="2971800" cy="2514600"/>
          </a:xfrm>
        </p:grpSpPr>
        <p:sp>
          <p:nvSpPr>
            <p:cNvPr id="148" name="node04.surface"/>
            <p:cNvSpPr/>
            <p:nvPr/>
          </p:nvSpPr>
          <p:spPr>
            <a:xfrm>
              <a:off x="8496300" y="2971800"/>
              <a:ext cx="2971800" cy="2514600"/>
            </a:xfrm>
            <a:prstGeom prst="rect">
              <a:avLst/>
            </a:prstGeom>
            <a:solidFill>
              <a:srgbClr val="E8EEF8"/>
            </a:solidFill>
            <a:ln>
              <a:noFill/>
            </a:ln>
          </p:spPr>
        </p:sp>
      </p:grpSp>
      <p:grpSp>
        <p:nvGrpSpPr>
          <p:cNvPr id="165" name="node05"/>
          <p:cNvGrpSpPr/>
          <p:nvPr/>
        </p:nvGrpSpPr>
        <p:grpSpPr>
          <a:xfrm>
            <a:off x="8724900" y="3200400"/>
            <a:ext cx="2514600" cy="139700"/>
            <a:chOff x="8724900" y="3200400"/>
            <a:chExt cx="2514600" cy="139700"/>
          </a:xfrm>
        </p:grpSpPr>
        <p:sp>
          <p:nvSpPr>
            <p:cNvPr id="149" name="node05.text"/>
            <p:cNvSpPr/>
            <p:nvPr/>
          </p:nvSpPr>
          <p:spPr>
            <a:xfrm>
              <a:off x="8724900" y="32004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NEXT TWO SLIDES</a:t>
              </a:r>
              <a:endParaRPr lang="en-US" sz="800" spc="48" kern="0" b="0" i="0" dirty="0">
                <a:solidFill>
                  <a:srgbClr val="070154"/>
                </a:solidFill>
                <a:latin typeface="IBM Plex Mono Medium"/>
                <a:ea typeface="IBM Plex Mono Medium"/>
                <a:cs typeface="IBM Plex Mono Medium"/>
              </a:endParaRPr>
            </a:p>
          </p:txBody>
        </p:sp>
      </p:grpSp>
      <p:grpSp>
        <p:nvGrpSpPr>
          <p:cNvPr id="166" name="node06"/>
          <p:cNvGrpSpPr/>
          <p:nvPr/>
        </p:nvGrpSpPr>
        <p:grpSpPr>
          <a:xfrm>
            <a:off x="8724900" y="3454400"/>
            <a:ext cx="2514600" cy="215900"/>
            <a:chOff x="8724900" y="3454400"/>
            <a:chExt cx="2514600" cy="215900"/>
          </a:xfrm>
        </p:grpSpPr>
        <p:sp>
          <p:nvSpPr>
            <p:cNvPr id="150" name="node06.text"/>
            <p:cNvSpPr/>
            <p:nvPr/>
          </p:nvSpPr>
          <p:spPr>
            <a:xfrm>
              <a:off x="8724900" y="34544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Detailed notes follow</a:t>
              </a:r>
              <a:endParaRPr lang="en-US" sz="1200" spc="0" kern="0" b="0" i="0" dirty="0">
                <a:solidFill>
                  <a:srgbClr val="070154"/>
                </a:solidFill>
                <a:latin typeface="IBM Plex Sans"/>
                <a:ea typeface="IBM Plex Sans"/>
                <a:cs typeface="IBM Plex Sans"/>
              </a:endParaRPr>
            </a:p>
          </p:txBody>
        </p:sp>
      </p:grpSp>
      <p:grpSp>
        <p:nvGrpSpPr>
          <p:cNvPr id="167" name="node07"/>
          <p:cNvGrpSpPr/>
          <p:nvPr/>
        </p:nvGrpSpPr>
        <p:grpSpPr>
          <a:xfrm>
            <a:off x="8724900" y="3721100"/>
            <a:ext cx="2514600" cy="215900"/>
            <a:chOff x="8724900" y="3721100"/>
            <a:chExt cx="2514600" cy="215900"/>
          </a:xfrm>
        </p:grpSpPr>
        <p:sp>
          <p:nvSpPr>
            <p:cNvPr id="151" name="node07.text"/>
            <p:cNvSpPr/>
            <p:nvPr/>
          </p:nvSpPr>
          <p:spPr>
            <a:xfrm>
              <a:off x="8724900" y="37211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for A4–A6</a:t>
              </a:r>
              <a:endParaRPr lang="en-US" sz="1200" spc="0" kern="0" b="0" i="0" dirty="0">
                <a:solidFill>
                  <a:srgbClr val="070154"/>
                </a:solidFill>
                <a:latin typeface="IBM Plex Sans"/>
                <a:ea typeface="IBM Plex Sans"/>
                <a:cs typeface="IBM Plex Sans"/>
              </a:endParaRPr>
            </a:p>
          </p:txBody>
        </p:sp>
      </p:grpSp>
      <p:grpSp>
        <p:nvGrpSpPr>
          <p:cNvPr id="168" name="node08"/>
          <p:cNvGrpSpPr/>
          <p:nvPr/>
        </p:nvGrpSpPr>
        <p:grpSpPr>
          <a:xfrm>
            <a:off x="8724900" y="4114800"/>
            <a:ext cx="457200" cy="304800"/>
            <a:chOff x="8724900" y="4114800"/>
            <a:chExt cx="457200" cy="304800"/>
          </a:xfrm>
        </p:grpSpPr>
        <p:sp>
          <p:nvSpPr>
            <p:cNvPr id="152" name="node08.surface"/>
            <p:cNvSpPr/>
            <p:nvPr/>
          </p:nvSpPr>
          <p:spPr>
            <a:xfrm>
              <a:off x="8724900" y="4114800"/>
              <a:ext cx="457200" cy="304800"/>
            </a:xfrm>
            <a:prstGeom prst="rect">
              <a:avLst/>
            </a:prstGeom>
            <a:solidFill>
              <a:srgbClr val="05013F"/>
            </a:solidFill>
            <a:ln>
              <a:noFill/>
            </a:ln>
          </p:spPr>
        </p:sp>
        <p:sp>
          <p:nvSpPr>
            <p:cNvPr id="153" name="node08.text"/>
            <p:cNvSpPr/>
            <p:nvPr/>
          </p:nvSpPr>
          <p:spPr>
            <a:xfrm>
              <a:off x="8801100" y="41973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A4</a:t>
              </a:r>
              <a:endParaRPr lang="en-US" sz="800" spc="48" kern="0" b="0" i="0" dirty="0">
                <a:solidFill>
                  <a:srgbClr val="FFFFFF"/>
                </a:solidFill>
                <a:latin typeface="IBM Plex Mono Medium"/>
                <a:ea typeface="IBM Plex Mono Medium"/>
                <a:cs typeface="IBM Plex Mono Medium"/>
              </a:endParaRPr>
            </a:p>
          </p:txBody>
        </p:sp>
      </p:grpSp>
      <p:grpSp>
        <p:nvGrpSpPr>
          <p:cNvPr id="169" name="node09"/>
          <p:cNvGrpSpPr/>
          <p:nvPr/>
        </p:nvGrpSpPr>
        <p:grpSpPr>
          <a:xfrm>
            <a:off x="9309100" y="4140200"/>
            <a:ext cx="1930400" cy="190500"/>
            <a:chOff x="9309100" y="4140200"/>
            <a:chExt cx="1930400" cy="190500"/>
          </a:xfrm>
        </p:grpSpPr>
        <p:sp>
          <p:nvSpPr>
            <p:cNvPr id="154" name="node09.text"/>
            <p:cNvSpPr/>
            <p:nvPr/>
          </p:nvSpPr>
          <p:spPr>
            <a:xfrm>
              <a:off x="9309100" y="4140200"/>
              <a:ext cx="1930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Revenue cycle</a:t>
              </a:r>
              <a:endParaRPr lang="en-US" sz="1100" spc="0" kern="0" b="0" i="0" dirty="0">
                <a:solidFill>
                  <a:srgbClr val="070154"/>
                </a:solidFill>
                <a:latin typeface="IBM Plex Sans"/>
                <a:ea typeface="IBM Plex Sans"/>
                <a:cs typeface="IBM Plex Sans"/>
              </a:endParaRPr>
            </a:p>
          </p:txBody>
        </p:sp>
      </p:grpSp>
      <p:grpSp>
        <p:nvGrpSpPr>
          <p:cNvPr id="170" name="node10"/>
          <p:cNvGrpSpPr/>
          <p:nvPr/>
        </p:nvGrpSpPr>
        <p:grpSpPr>
          <a:xfrm>
            <a:off x="8724900" y="4572000"/>
            <a:ext cx="457200" cy="304800"/>
            <a:chOff x="8724900" y="4572000"/>
            <a:chExt cx="457200" cy="304800"/>
          </a:xfrm>
        </p:grpSpPr>
        <p:sp>
          <p:nvSpPr>
            <p:cNvPr id="155" name="node10.surface"/>
            <p:cNvSpPr/>
            <p:nvPr/>
          </p:nvSpPr>
          <p:spPr>
            <a:xfrm>
              <a:off x="8724900" y="4572000"/>
              <a:ext cx="457200" cy="304800"/>
            </a:xfrm>
            <a:prstGeom prst="rect">
              <a:avLst/>
            </a:prstGeom>
            <a:solidFill>
              <a:srgbClr val="05013F"/>
            </a:solidFill>
            <a:ln>
              <a:noFill/>
            </a:ln>
          </p:spPr>
        </p:sp>
        <p:sp>
          <p:nvSpPr>
            <p:cNvPr id="156" name="node10.text"/>
            <p:cNvSpPr/>
            <p:nvPr/>
          </p:nvSpPr>
          <p:spPr>
            <a:xfrm>
              <a:off x="8801100" y="46545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A5</a:t>
              </a:r>
              <a:endParaRPr lang="en-US" sz="800" spc="48" kern="0" b="0" i="0" dirty="0">
                <a:solidFill>
                  <a:srgbClr val="FFFFFF"/>
                </a:solidFill>
                <a:latin typeface="IBM Plex Mono Medium"/>
                <a:ea typeface="IBM Plex Mono Medium"/>
                <a:cs typeface="IBM Plex Mono Medium"/>
              </a:endParaRPr>
            </a:p>
          </p:txBody>
        </p:sp>
      </p:grpSp>
      <p:grpSp>
        <p:nvGrpSpPr>
          <p:cNvPr id="171" name="node11"/>
          <p:cNvGrpSpPr/>
          <p:nvPr/>
        </p:nvGrpSpPr>
        <p:grpSpPr>
          <a:xfrm>
            <a:off x="9309100" y="4597400"/>
            <a:ext cx="1930400" cy="190500"/>
            <a:chOff x="9309100" y="4597400"/>
            <a:chExt cx="1930400" cy="190500"/>
          </a:xfrm>
        </p:grpSpPr>
        <p:sp>
          <p:nvSpPr>
            <p:cNvPr id="157" name="node11.text"/>
            <p:cNvSpPr/>
            <p:nvPr/>
          </p:nvSpPr>
          <p:spPr>
            <a:xfrm>
              <a:off x="9309100" y="4597400"/>
              <a:ext cx="1930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Patient billing</a:t>
              </a:r>
              <a:endParaRPr lang="en-US" sz="1100" spc="0" kern="0" b="0" i="0" dirty="0">
                <a:solidFill>
                  <a:srgbClr val="070154"/>
                </a:solidFill>
                <a:latin typeface="IBM Plex Sans"/>
                <a:ea typeface="IBM Plex Sans"/>
                <a:cs typeface="IBM Plex Sans"/>
              </a:endParaRPr>
            </a:p>
          </p:txBody>
        </p:sp>
      </p:grpSp>
      <p:grpSp>
        <p:nvGrpSpPr>
          <p:cNvPr id="172" name="node12"/>
          <p:cNvGrpSpPr/>
          <p:nvPr/>
        </p:nvGrpSpPr>
        <p:grpSpPr>
          <a:xfrm>
            <a:off x="8724900" y="5029200"/>
            <a:ext cx="457200" cy="304800"/>
            <a:chOff x="8724900" y="5029200"/>
            <a:chExt cx="457200" cy="304800"/>
          </a:xfrm>
        </p:grpSpPr>
        <p:sp>
          <p:nvSpPr>
            <p:cNvPr id="158" name="node12.surface"/>
            <p:cNvSpPr/>
            <p:nvPr/>
          </p:nvSpPr>
          <p:spPr>
            <a:xfrm>
              <a:off x="8724900" y="5029200"/>
              <a:ext cx="457200" cy="304800"/>
            </a:xfrm>
            <a:prstGeom prst="rect">
              <a:avLst/>
            </a:prstGeom>
            <a:solidFill>
              <a:srgbClr val="05013F"/>
            </a:solidFill>
            <a:ln>
              <a:noFill/>
            </a:ln>
          </p:spPr>
        </p:sp>
        <p:sp>
          <p:nvSpPr>
            <p:cNvPr id="159" name="node12.text"/>
            <p:cNvSpPr/>
            <p:nvPr/>
          </p:nvSpPr>
          <p:spPr>
            <a:xfrm>
              <a:off x="8801100" y="51117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A6</a:t>
              </a:r>
              <a:endParaRPr lang="en-US" sz="800" spc="48" kern="0" b="0" i="0" dirty="0">
                <a:solidFill>
                  <a:srgbClr val="FFFFFF"/>
                </a:solidFill>
                <a:latin typeface="IBM Plex Mono Medium"/>
                <a:ea typeface="IBM Plex Mono Medium"/>
                <a:cs typeface="IBM Plex Mono Medium"/>
              </a:endParaRPr>
            </a:p>
          </p:txBody>
        </p:sp>
      </p:grpSp>
      <p:grpSp>
        <p:nvGrpSpPr>
          <p:cNvPr id="173" name="node13"/>
          <p:cNvGrpSpPr/>
          <p:nvPr/>
        </p:nvGrpSpPr>
        <p:grpSpPr>
          <a:xfrm>
            <a:off x="9309100" y="5054600"/>
            <a:ext cx="1930400" cy="190500"/>
            <a:chOff x="9309100" y="5054600"/>
            <a:chExt cx="1930400" cy="190500"/>
          </a:xfrm>
        </p:grpSpPr>
        <p:sp>
          <p:nvSpPr>
            <p:cNvPr id="160" name="node13.text"/>
            <p:cNvSpPr/>
            <p:nvPr/>
          </p:nvSpPr>
          <p:spPr>
            <a:xfrm>
              <a:off x="9309100" y="5054600"/>
              <a:ext cx="1930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Denials management</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ource-21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cycle is the group to look at first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76</a:t>
            </a:fld>
            <a:endParaRPr lang="en-US" sz="700" spc="0" kern="0" b="0" i="0" dirty="0">
              <a:solidFill>
                <a:srgbClr val="070154"/>
              </a:solidFill>
              <a:latin typeface="IBM Plex Mono SemiBold"/>
              <a:ea typeface="IBM Plex Mono SemiBold"/>
              <a:cs typeface="IBM Plex Mono SemiBold"/>
            </a:endParaRPr>
          </a:p>
        </p:txBody>
      </p:sp>
      <p:grpSp>
        <p:nvGrpSpPr>
          <p:cNvPr id="167" name="node01"/>
          <p:cNvGrpSpPr/>
          <p:nvPr/>
        </p:nvGrpSpPr>
        <p:grpSpPr>
          <a:xfrm>
            <a:off x="723900" y="1600200"/>
            <a:ext cx="7543800" cy="3784600"/>
            <a:chOff x="723900" y="1600200"/>
            <a:chExt cx="7543800" cy="3784600"/>
          </a:xfrm>
        </p:grpSpPr>
        <p:sp>
          <p:nvSpPr>
            <p:cNvPr id="7" name="node01.row.item-001.h0.heat-gap"/>
            <p:cNvSpPr/>
            <p:nvPr/>
          </p:nvSpPr>
          <p:spPr>
            <a:xfrm>
              <a:off x="3619500" y="1955800"/>
              <a:ext cx="774700" cy="381000"/>
            </a:xfrm>
            <a:prstGeom prst="rect">
              <a:avLst/>
            </a:prstGeom>
            <a:solidFill>
              <a:srgbClr val="FFFFFF"/>
            </a:solidFill>
            <a:ln>
              <a:noFill/>
            </a:ln>
          </p:spPr>
        </p:sp>
        <p:sp>
          <p:nvSpPr>
            <p:cNvPr id="8" name="node01.row.item-001.h0.heat"/>
            <p:cNvSpPr/>
            <p:nvPr/>
          </p:nvSpPr>
          <p:spPr>
            <a:xfrm>
              <a:off x="3638550" y="1974850"/>
              <a:ext cx="736600" cy="342900"/>
            </a:xfrm>
            <a:prstGeom prst="rect">
              <a:avLst/>
            </a:prstGeom>
            <a:solidFill>
              <a:srgbClr val="7C9BFF"/>
            </a:solidFill>
            <a:ln>
              <a:noFill/>
            </a:ln>
          </p:spPr>
        </p:sp>
        <p:sp>
          <p:nvSpPr>
            <p:cNvPr id="9" name="node01.row.item-001.h1.heat-gap"/>
            <p:cNvSpPr/>
            <p:nvPr/>
          </p:nvSpPr>
          <p:spPr>
            <a:xfrm>
              <a:off x="4394200" y="1955800"/>
              <a:ext cx="774700" cy="381000"/>
            </a:xfrm>
            <a:prstGeom prst="rect">
              <a:avLst/>
            </a:prstGeom>
            <a:solidFill>
              <a:srgbClr val="FFFFFF"/>
            </a:solidFill>
            <a:ln>
              <a:noFill/>
            </a:ln>
          </p:spPr>
        </p:sp>
        <p:sp>
          <p:nvSpPr>
            <p:cNvPr id="10" name="node01.row.item-001.h1.heat"/>
            <p:cNvSpPr/>
            <p:nvPr/>
          </p:nvSpPr>
          <p:spPr>
            <a:xfrm>
              <a:off x="4413250" y="1974850"/>
              <a:ext cx="736600" cy="342900"/>
            </a:xfrm>
            <a:prstGeom prst="rect">
              <a:avLst/>
            </a:prstGeom>
            <a:solidFill>
              <a:srgbClr val="B9C9F0"/>
            </a:solidFill>
            <a:ln>
              <a:noFill/>
            </a:ln>
          </p:spPr>
        </p:sp>
        <p:sp>
          <p:nvSpPr>
            <p:cNvPr id="11" name="node01.row.item-001.h2.heat-gap"/>
            <p:cNvSpPr/>
            <p:nvPr/>
          </p:nvSpPr>
          <p:spPr>
            <a:xfrm>
              <a:off x="5168900" y="1955800"/>
              <a:ext cx="774700" cy="381000"/>
            </a:xfrm>
            <a:prstGeom prst="rect">
              <a:avLst/>
            </a:prstGeom>
            <a:solidFill>
              <a:srgbClr val="FFFFFF"/>
            </a:solidFill>
            <a:ln>
              <a:noFill/>
            </a:ln>
          </p:spPr>
        </p:sp>
        <p:sp>
          <p:nvSpPr>
            <p:cNvPr id="12" name="node01.row.item-001.h2.heat"/>
            <p:cNvSpPr/>
            <p:nvPr/>
          </p:nvSpPr>
          <p:spPr>
            <a:xfrm>
              <a:off x="5187950" y="1974850"/>
              <a:ext cx="736600" cy="342900"/>
            </a:xfrm>
            <a:prstGeom prst="rect">
              <a:avLst/>
            </a:prstGeom>
            <a:solidFill>
              <a:srgbClr val="B9C9F0"/>
            </a:solidFill>
            <a:ln>
              <a:noFill/>
            </a:ln>
          </p:spPr>
        </p:sp>
        <p:sp>
          <p:nvSpPr>
            <p:cNvPr id="13" name="node01.row.item-001.h3.heat-gap"/>
            <p:cNvSpPr/>
            <p:nvPr/>
          </p:nvSpPr>
          <p:spPr>
            <a:xfrm>
              <a:off x="5943600" y="1955800"/>
              <a:ext cx="774700" cy="381000"/>
            </a:xfrm>
            <a:prstGeom prst="rect">
              <a:avLst/>
            </a:prstGeom>
            <a:solidFill>
              <a:srgbClr val="FFFFFF"/>
            </a:solidFill>
            <a:ln>
              <a:noFill/>
            </a:ln>
          </p:spPr>
        </p:sp>
        <p:sp>
          <p:nvSpPr>
            <p:cNvPr id="14" name="node01.row.item-001.h3.heat"/>
            <p:cNvSpPr/>
            <p:nvPr/>
          </p:nvSpPr>
          <p:spPr>
            <a:xfrm>
              <a:off x="5962650" y="1974850"/>
              <a:ext cx="736600" cy="342900"/>
            </a:xfrm>
            <a:prstGeom prst="rect">
              <a:avLst/>
            </a:prstGeom>
            <a:solidFill>
              <a:srgbClr val="7C9BFF"/>
            </a:solidFill>
            <a:ln>
              <a:noFill/>
            </a:ln>
          </p:spPr>
        </p:sp>
        <p:sp>
          <p:nvSpPr>
            <p:cNvPr id="15" name="node01.row.item-001.h4.heat-gap"/>
            <p:cNvSpPr/>
            <p:nvPr/>
          </p:nvSpPr>
          <p:spPr>
            <a:xfrm>
              <a:off x="6718300" y="1955800"/>
              <a:ext cx="774700" cy="381000"/>
            </a:xfrm>
            <a:prstGeom prst="rect">
              <a:avLst/>
            </a:prstGeom>
            <a:solidFill>
              <a:srgbClr val="FFFFFF"/>
            </a:solidFill>
            <a:ln>
              <a:noFill/>
            </a:ln>
          </p:spPr>
        </p:sp>
        <p:sp>
          <p:nvSpPr>
            <p:cNvPr id="16" name="node01.row.item-001.h4.heat"/>
            <p:cNvSpPr/>
            <p:nvPr/>
          </p:nvSpPr>
          <p:spPr>
            <a:xfrm>
              <a:off x="6737350" y="1974850"/>
              <a:ext cx="736600" cy="342900"/>
            </a:xfrm>
            <a:prstGeom prst="rect">
              <a:avLst/>
            </a:prstGeom>
            <a:solidFill>
              <a:srgbClr val="B9C9F0"/>
            </a:solidFill>
            <a:ln>
              <a:noFill/>
            </a:ln>
          </p:spPr>
        </p:sp>
        <p:sp>
          <p:nvSpPr>
            <p:cNvPr id="17" name="node01.row.item-001.ov.heat-gap"/>
            <p:cNvSpPr/>
            <p:nvPr/>
          </p:nvSpPr>
          <p:spPr>
            <a:xfrm>
              <a:off x="7493000" y="1955800"/>
              <a:ext cx="774700" cy="381000"/>
            </a:xfrm>
            <a:prstGeom prst="rect">
              <a:avLst/>
            </a:prstGeom>
            <a:solidFill>
              <a:srgbClr val="FFFFFF"/>
            </a:solidFill>
            <a:ln>
              <a:noFill/>
            </a:ln>
          </p:spPr>
        </p:sp>
        <p:sp>
          <p:nvSpPr>
            <p:cNvPr id="18" name="node01.row.item-001.ov.heat"/>
            <p:cNvSpPr/>
            <p:nvPr/>
          </p:nvSpPr>
          <p:spPr>
            <a:xfrm>
              <a:off x="7512050" y="1974850"/>
              <a:ext cx="736600" cy="342900"/>
            </a:xfrm>
            <a:prstGeom prst="rect">
              <a:avLst/>
            </a:prstGeom>
            <a:solidFill>
              <a:srgbClr val="B9C9F0"/>
            </a:solidFill>
            <a:ln>
              <a:noFill/>
            </a:ln>
          </p:spPr>
        </p:sp>
        <p:sp>
          <p:nvSpPr>
            <p:cNvPr id="19" name="node01.row.item-002.h0.heat-gap"/>
            <p:cNvSpPr/>
            <p:nvPr/>
          </p:nvSpPr>
          <p:spPr>
            <a:xfrm>
              <a:off x="3619500" y="2336800"/>
              <a:ext cx="774700" cy="381000"/>
            </a:xfrm>
            <a:prstGeom prst="rect">
              <a:avLst/>
            </a:prstGeom>
            <a:solidFill>
              <a:srgbClr val="FFFFFF"/>
            </a:solidFill>
            <a:ln>
              <a:noFill/>
            </a:ln>
          </p:spPr>
        </p:sp>
        <p:sp>
          <p:nvSpPr>
            <p:cNvPr id="20" name="node01.row.item-002.h0.heat"/>
            <p:cNvSpPr/>
            <p:nvPr/>
          </p:nvSpPr>
          <p:spPr>
            <a:xfrm>
              <a:off x="3638550" y="2355850"/>
              <a:ext cx="736600" cy="342900"/>
            </a:xfrm>
            <a:prstGeom prst="rect">
              <a:avLst/>
            </a:prstGeom>
            <a:solidFill>
              <a:srgbClr val="7C9BFF"/>
            </a:solidFill>
            <a:ln>
              <a:noFill/>
            </a:ln>
          </p:spPr>
        </p:sp>
        <p:sp>
          <p:nvSpPr>
            <p:cNvPr id="21" name="node01.row.item-002.h1.heat-gap"/>
            <p:cNvSpPr/>
            <p:nvPr/>
          </p:nvSpPr>
          <p:spPr>
            <a:xfrm>
              <a:off x="4394200" y="2336800"/>
              <a:ext cx="774700" cy="381000"/>
            </a:xfrm>
            <a:prstGeom prst="rect">
              <a:avLst/>
            </a:prstGeom>
            <a:solidFill>
              <a:srgbClr val="FFFFFF"/>
            </a:solidFill>
            <a:ln>
              <a:noFill/>
            </a:ln>
          </p:spPr>
        </p:sp>
        <p:sp>
          <p:nvSpPr>
            <p:cNvPr id="22" name="node01.row.item-002.h1.heat"/>
            <p:cNvSpPr/>
            <p:nvPr/>
          </p:nvSpPr>
          <p:spPr>
            <a:xfrm>
              <a:off x="4413250" y="2355850"/>
              <a:ext cx="736600" cy="342900"/>
            </a:xfrm>
            <a:prstGeom prst="rect">
              <a:avLst/>
            </a:prstGeom>
            <a:solidFill>
              <a:srgbClr val="7C9BFF"/>
            </a:solidFill>
            <a:ln>
              <a:noFill/>
            </a:ln>
          </p:spPr>
        </p:sp>
        <p:sp>
          <p:nvSpPr>
            <p:cNvPr id="23" name="node01.row.item-002.h2.heat-gap"/>
            <p:cNvSpPr/>
            <p:nvPr/>
          </p:nvSpPr>
          <p:spPr>
            <a:xfrm>
              <a:off x="5168900" y="2336800"/>
              <a:ext cx="774700" cy="381000"/>
            </a:xfrm>
            <a:prstGeom prst="rect">
              <a:avLst/>
            </a:prstGeom>
            <a:solidFill>
              <a:srgbClr val="FFFFFF"/>
            </a:solidFill>
            <a:ln>
              <a:noFill/>
            </a:ln>
          </p:spPr>
        </p:sp>
        <p:sp>
          <p:nvSpPr>
            <p:cNvPr id="24" name="node01.row.item-002.h2.heat"/>
            <p:cNvSpPr/>
            <p:nvPr/>
          </p:nvSpPr>
          <p:spPr>
            <a:xfrm>
              <a:off x="5187950" y="2355850"/>
              <a:ext cx="736600" cy="342900"/>
            </a:xfrm>
            <a:prstGeom prst="rect">
              <a:avLst/>
            </a:prstGeom>
            <a:solidFill>
              <a:srgbClr val="B9C9F0"/>
            </a:solidFill>
            <a:ln>
              <a:noFill/>
            </a:ln>
          </p:spPr>
        </p:sp>
        <p:sp>
          <p:nvSpPr>
            <p:cNvPr id="25" name="node01.row.item-002.h3.heat-gap"/>
            <p:cNvSpPr/>
            <p:nvPr/>
          </p:nvSpPr>
          <p:spPr>
            <a:xfrm>
              <a:off x="5943600" y="2336800"/>
              <a:ext cx="774700" cy="381000"/>
            </a:xfrm>
            <a:prstGeom prst="rect">
              <a:avLst/>
            </a:prstGeom>
            <a:solidFill>
              <a:srgbClr val="FFFFFF"/>
            </a:solidFill>
            <a:ln>
              <a:noFill/>
            </a:ln>
          </p:spPr>
        </p:sp>
        <p:sp>
          <p:nvSpPr>
            <p:cNvPr id="26" name="node01.row.item-002.h3.heat"/>
            <p:cNvSpPr/>
            <p:nvPr/>
          </p:nvSpPr>
          <p:spPr>
            <a:xfrm>
              <a:off x="5962650" y="2355850"/>
              <a:ext cx="736600" cy="342900"/>
            </a:xfrm>
            <a:prstGeom prst="rect">
              <a:avLst/>
            </a:prstGeom>
            <a:solidFill>
              <a:srgbClr val="7C9BFF"/>
            </a:solidFill>
            <a:ln>
              <a:noFill/>
            </a:ln>
          </p:spPr>
        </p:sp>
        <p:sp>
          <p:nvSpPr>
            <p:cNvPr id="27" name="node01.row.item-002.h4.heat-gap"/>
            <p:cNvSpPr/>
            <p:nvPr/>
          </p:nvSpPr>
          <p:spPr>
            <a:xfrm>
              <a:off x="6718300" y="2336800"/>
              <a:ext cx="774700" cy="381000"/>
            </a:xfrm>
            <a:prstGeom prst="rect">
              <a:avLst/>
            </a:prstGeom>
            <a:solidFill>
              <a:srgbClr val="FFFFFF"/>
            </a:solidFill>
            <a:ln>
              <a:noFill/>
            </a:ln>
          </p:spPr>
        </p:sp>
        <p:sp>
          <p:nvSpPr>
            <p:cNvPr id="28" name="node01.row.item-002.h4.heat"/>
            <p:cNvSpPr/>
            <p:nvPr/>
          </p:nvSpPr>
          <p:spPr>
            <a:xfrm>
              <a:off x="6737350" y="2355850"/>
              <a:ext cx="736600" cy="342900"/>
            </a:xfrm>
            <a:prstGeom prst="rect">
              <a:avLst/>
            </a:prstGeom>
            <a:solidFill>
              <a:srgbClr val="7C9BFF"/>
            </a:solidFill>
            <a:ln>
              <a:noFill/>
            </a:ln>
          </p:spPr>
        </p:sp>
        <p:sp>
          <p:nvSpPr>
            <p:cNvPr id="29" name="node01.row.item-002.ov.heat-gap"/>
            <p:cNvSpPr/>
            <p:nvPr/>
          </p:nvSpPr>
          <p:spPr>
            <a:xfrm>
              <a:off x="7493000" y="2336800"/>
              <a:ext cx="774700" cy="381000"/>
            </a:xfrm>
            <a:prstGeom prst="rect">
              <a:avLst/>
            </a:prstGeom>
            <a:solidFill>
              <a:srgbClr val="FFFFFF"/>
            </a:solidFill>
            <a:ln>
              <a:noFill/>
            </a:ln>
          </p:spPr>
        </p:sp>
        <p:sp>
          <p:nvSpPr>
            <p:cNvPr id="30" name="node01.row.item-002.ov.heat"/>
            <p:cNvSpPr/>
            <p:nvPr/>
          </p:nvSpPr>
          <p:spPr>
            <a:xfrm>
              <a:off x="7512050" y="2355850"/>
              <a:ext cx="736600" cy="342900"/>
            </a:xfrm>
            <a:prstGeom prst="rect">
              <a:avLst/>
            </a:prstGeom>
            <a:solidFill>
              <a:srgbClr val="7C9BFF"/>
            </a:solidFill>
            <a:ln>
              <a:noFill/>
            </a:ln>
          </p:spPr>
        </p:sp>
        <p:sp>
          <p:nvSpPr>
            <p:cNvPr id="31" name="node01.row.item-003.h0.heat-gap"/>
            <p:cNvSpPr/>
            <p:nvPr/>
          </p:nvSpPr>
          <p:spPr>
            <a:xfrm>
              <a:off x="3619500" y="2717800"/>
              <a:ext cx="774700" cy="381000"/>
            </a:xfrm>
            <a:prstGeom prst="rect">
              <a:avLst/>
            </a:prstGeom>
            <a:solidFill>
              <a:srgbClr val="FFFFFF"/>
            </a:solidFill>
            <a:ln>
              <a:noFill/>
            </a:ln>
          </p:spPr>
        </p:sp>
        <p:sp>
          <p:nvSpPr>
            <p:cNvPr id="32" name="node01.row.item-003.h0.heat"/>
            <p:cNvSpPr/>
            <p:nvPr/>
          </p:nvSpPr>
          <p:spPr>
            <a:xfrm>
              <a:off x="3638550" y="2736850"/>
              <a:ext cx="736600" cy="342900"/>
            </a:xfrm>
            <a:prstGeom prst="rect">
              <a:avLst/>
            </a:prstGeom>
            <a:solidFill>
              <a:srgbClr val="B9C9F0"/>
            </a:solidFill>
            <a:ln>
              <a:noFill/>
            </a:ln>
          </p:spPr>
        </p:sp>
        <p:sp>
          <p:nvSpPr>
            <p:cNvPr id="33" name="node01.row.item-003.h1.heat-gap"/>
            <p:cNvSpPr/>
            <p:nvPr/>
          </p:nvSpPr>
          <p:spPr>
            <a:xfrm>
              <a:off x="4394200" y="2717800"/>
              <a:ext cx="774700" cy="381000"/>
            </a:xfrm>
            <a:prstGeom prst="rect">
              <a:avLst/>
            </a:prstGeom>
            <a:solidFill>
              <a:srgbClr val="FFFFFF"/>
            </a:solidFill>
            <a:ln>
              <a:noFill/>
            </a:ln>
          </p:spPr>
        </p:sp>
        <p:sp>
          <p:nvSpPr>
            <p:cNvPr id="34" name="node01.row.item-003.h1.heat"/>
            <p:cNvSpPr/>
            <p:nvPr/>
          </p:nvSpPr>
          <p:spPr>
            <a:xfrm>
              <a:off x="4413250" y="2736850"/>
              <a:ext cx="736600" cy="342900"/>
            </a:xfrm>
            <a:prstGeom prst="rect">
              <a:avLst/>
            </a:prstGeom>
            <a:solidFill>
              <a:srgbClr val="E8EEF8"/>
            </a:solidFill>
            <a:ln>
              <a:noFill/>
            </a:ln>
          </p:spPr>
        </p:sp>
        <p:sp>
          <p:nvSpPr>
            <p:cNvPr id="35" name="node01.row.item-003.h2.heat-gap"/>
            <p:cNvSpPr/>
            <p:nvPr/>
          </p:nvSpPr>
          <p:spPr>
            <a:xfrm>
              <a:off x="5168900" y="2717800"/>
              <a:ext cx="774700" cy="381000"/>
            </a:xfrm>
            <a:prstGeom prst="rect">
              <a:avLst/>
            </a:prstGeom>
            <a:solidFill>
              <a:srgbClr val="FFFFFF"/>
            </a:solidFill>
            <a:ln>
              <a:noFill/>
            </a:ln>
          </p:spPr>
        </p:sp>
        <p:sp>
          <p:nvSpPr>
            <p:cNvPr id="36" name="node01.row.item-003.h2.heat"/>
            <p:cNvSpPr/>
            <p:nvPr/>
          </p:nvSpPr>
          <p:spPr>
            <a:xfrm>
              <a:off x="5187950" y="2736850"/>
              <a:ext cx="736600" cy="342900"/>
            </a:xfrm>
            <a:prstGeom prst="rect">
              <a:avLst/>
            </a:prstGeom>
            <a:solidFill>
              <a:srgbClr val="E8EEF8"/>
            </a:solidFill>
            <a:ln>
              <a:noFill/>
            </a:ln>
          </p:spPr>
        </p:sp>
        <p:sp>
          <p:nvSpPr>
            <p:cNvPr id="37" name="node01.row.item-003.h3.heat-gap"/>
            <p:cNvSpPr/>
            <p:nvPr/>
          </p:nvSpPr>
          <p:spPr>
            <a:xfrm>
              <a:off x="5943600" y="2717800"/>
              <a:ext cx="774700" cy="381000"/>
            </a:xfrm>
            <a:prstGeom prst="rect">
              <a:avLst/>
            </a:prstGeom>
            <a:solidFill>
              <a:srgbClr val="FFFFFF"/>
            </a:solidFill>
            <a:ln>
              <a:noFill/>
            </a:ln>
          </p:spPr>
        </p:sp>
        <p:sp>
          <p:nvSpPr>
            <p:cNvPr id="38" name="node01.row.item-003.h3.heat"/>
            <p:cNvSpPr/>
            <p:nvPr/>
          </p:nvSpPr>
          <p:spPr>
            <a:xfrm>
              <a:off x="5962650" y="2736850"/>
              <a:ext cx="736600" cy="342900"/>
            </a:xfrm>
            <a:prstGeom prst="rect">
              <a:avLst/>
            </a:prstGeom>
            <a:solidFill>
              <a:srgbClr val="B9C9F0"/>
            </a:solidFill>
            <a:ln>
              <a:noFill/>
            </a:ln>
          </p:spPr>
        </p:sp>
        <p:sp>
          <p:nvSpPr>
            <p:cNvPr id="39" name="node01.row.item-003.h4.heat-gap"/>
            <p:cNvSpPr/>
            <p:nvPr/>
          </p:nvSpPr>
          <p:spPr>
            <a:xfrm>
              <a:off x="6718300" y="2717800"/>
              <a:ext cx="774700" cy="381000"/>
            </a:xfrm>
            <a:prstGeom prst="rect">
              <a:avLst/>
            </a:prstGeom>
            <a:solidFill>
              <a:srgbClr val="FFFFFF"/>
            </a:solidFill>
            <a:ln>
              <a:noFill/>
            </a:ln>
          </p:spPr>
        </p:sp>
        <p:sp>
          <p:nvSpPr>
            <p:cNvPr id="40" name="node01.row.item-003.h4.heat"/>
            <p:cNvSpPr/>
            <p:nvPr/>
          </p:nvSpPr>
          <p:spPr>
            <a:xfrm>
              <a:off x="6737350" y="2736850"/>
              <a:ext cx="736600" cy="342900"/>
            </a:xfrm>
            <a:prstGeom prst="rect">
              <a:avLst/>
            </a:prstGeom>
            <a:solidFill>
              <a:srgbClr val="B9C9F0"/>
            </a:solidFill>
            <a:ln>
              <a:noFill/>
            </a:ln>
          </p:spPr>
        </p:sp>
        <p:sp>
          <p:nvSpPr>
            <p:cNvPr id="41" name="node01.row.item-003.ov.heat-gap"/>
            <p:cNvSpPr/>
            <p:nvPr/>
          </p:nvSpPr>
          <p:spPr>
            <a:xfrm>
              <a:off x="7493000" y="2717800"/>
              <a:ext cx="774700" cy="381000"/>
            </a:xfrm>
            <a:prstGeom prst="rect">
              <a:avLst/>
            </a:prstGeom>
            <a:solidFill>
              <a:srgbClr val="FFFFFF"/>
            </a:solidFill>
            <a:ln>
              <a:noFill/>
            </a:ln>
          </p:spPr>
        </p:sp>
        <p:sp>
          <p:nvSpPr>
            <p:cNvPr id="42" name="node01.row.item-003.ov.heat"/>
            <p:cNvSpPr/>
            <p:nvPr/>
          </p:nvSpPr>
          <p:spPr>
            <a:xfrm>
              <a:off x="7512050" y="2736850"/>
              <a:ext cx="736600" cy="342900"/>
            </a:xfrm>
            <a:prstGeom prst="rect">
              <a:avLst/>
            </a:prstGeom>
            <a:solidFill>
              <a:srgbClr val="B9C9F0"/>
            </a:solidFill>
            <a:ln>
              <a:noFill/>
            </a:ln>
          </p:spPr>
        </p:sp>
        <p:sp>
          <p:nvSpPr>
            <p:cNvPr id="43" name="node01.row.item-004.h0.heat-gap"/>
            <p:cNvSpPr/>
            <p:nvPr/>
          </p:nvSpPr>
          <p:spPr>
            <a:xfrm>
              <a:off x="3619500" y="3098800"/>
              <a:ext cx="774700" cy="381000"/>
            </a:xfrm>
            <a:prstGeom prst="rect">
              <a:avLst/>
            </a:prstGeom>
            <a:solidFill>
              <a:srgbClr val="FFFFFF"/>
            </a:solidFill>
            <a:ln>
              <a:noFill/>
            </a:ln>
          </p:spPr>
        </p:sp>
        <p:sp>
          <p:nvSpPr>
            <p:cNvPr id="44" name="node01.row.item-004.h0.heat"/>
            <p:cNvSpPr/>
            <p:nvPr/>
          </p:nvSpPr>
          <p:spPr>
            <a:xfrm>
              <a:off x="3638550" y="3117850"/>
              <a:ext cx="736600" cy="342900"/>
            </a:xfrm>
            <a:prstGeom prst="rect">
              <a:avLst/>
            </a:prstGeom>
            <a:solidFill>
              <a:srgbClr val="0047FF"/>
            </a:solidFill>
            <a:ln>
              <a:noFill/>
            </a:ln>
          </p:spPr>
        </p:sp>
        <p:sp>
          <p:nvSpPr>
            <p:cNvPr id="45" name="node01.row.item-004.h1.heat-gap"/>
            <p:cNvSpPr/>
            <p:nvPr/>
          </p:nvSpPr>
          <p:spPr>
            <a:xfrm>
              <a:off x="4394200" y="3098800"/>
              <a:ext cx="774700" cy="381000"/>
            </a:xfrm>
            <a:prstGeom prst="rect">
              <a:avLst/>
            </a:prstGeom>
            <a:solidFill>
              <a:srgbClr val="FFFFFF"/>
            </a:solidFill>
            <a:ln>
              <a:noFill/>
            </a:ln>
          </p:spPr>
        </p:sp>
        <p:sp>
          <p:nvSpPr>
            <p:cNvPr id="46" name="node01.row.item-004.h1.heat"/>
            <p:cNvSpPr/>
            <p:nvPr/>
          </p:nvSpPr>
          <p:spPr>
            <a:xfrm>
              <a:off x="4413250" y="3117850"/>
              <a:ext cx="736600" cy="342900"/>
            </a:xfrm>
            <a:prstGeom prst="rect">
              <a:avLst/>
            </a:prstGeom>
            <a:solidFill>
              <a:srgbClr val="070154"/>
            </a:solidFill>
            <a:ln>
              <a:noFill/>
            </a:ln>
          </p:spPr>
        </p:sp>
        <p:sp>
          <p:nvSpPr>
            <p:cNvPr id="47" name="node01.row.item-004.h2.heat-gap"/>
            <p:cNvSpPr/>
            <p:nvPr/>
          </p:nvSpPr>
          <p:spPr>
            <a:xfrm>
              <a:off x="5168900" y="3098800"/>
              <a:ext cx="774700" cy="381000"/>
            </a:xfrm>
            <a:prstGeom prst="rect">
              <a:avLst/>
            </a:prstGeom>
            <a:solidFill>
              <a:srgbClr val="FFFFFF"/>
            </a:solidFill>
            <a:ln>
              <a:noFill/>
            </a:ln>
          </p:spPr>
        </p:sp>
        <p:sp>
          <p:nvSpPr>
            <p:cNvPr id="48" name="node01.row.item-004.h2.heat"/>
            <p:cNvSpPr/>
            <p:nvPr/>
          </p:nvSpPr>
          <p:spPr>
            <a:xfrm>
              <a:off x="5187950" y="3117850"/>
              <a:ext cx="736600" cy="342900"/>
            </a:xfrm>
            <a:prstGeom prst="rect">
              <a:avLst/>
            </a:prstGeom>
            <a:solidFill>
              <a:srgbClr val="7C9BFF"/>
            </a:solidFill>
            <a:ln>
              <a:noFill/>
            </a:ln>
          </p:spPr>
        </p:sp>
        <p:sp>
          <p:nvSpPr>
            <p:cNvPr id="49" name="node01.row.item-004.h3.heat-gap"/>
            <p:cNvSpPr/>
            <p:nvPr/>
          </p:nvSpPr>
          <p:spPr>
            <a:xfrm>
              <a:off x="5943600" y="3098800"/>
              <a:ext cx="774700" cy="381000"/>
            </a:xfrm>
            <a:prstGeom prst="rect">
              <a:avLst/>
            </a:prstGeom>
            <a:solidFill>
              <a:srgbClr val="FFFFFF"/>
            </a:solidFill>
            <a:ln>
              <a:noFill/>
            </a:ln>
          </p:spPr>
        </p:sp>
        <p:sp>
          <p:nvSpPr>
            <p:cNvPr id="50" name="node01.row.item-004.h3.heat"/>
            <p:cNvSpPr/>
            <p:nvPr/>
          </p:nvSpPr>
          <p:spPr>
            <a:xfrm>
              <a:off x="5962650" y="3117850"/>
              <a:ext cx="736600" cy="342900"/>
            </a:xfrm>
            <a:prstGeom prst="rect">
              <a:avLst/>
            </a:prstGeom>
            <a:solidFill>
              <a:srgbClr val="7C9BFF"/>
            </a:solidFill>
            <a:ln>
              <a:noFill/>
            </a:ln>
          </p:spPr>
        </p:sp>
        <p:sp>
          <p:nvSpPr>
            <p:cNvPr id="51" name="node01.row.item-004.h4.heat-gap"/>
            <p:cNvSpPr/>
            <p:nvPr/>
          </p:nvSpPr>
          <p:spPr>
            <a:xfrm>
              <a:off x="6718300" y="3098800"/>
              <a:ext cx="774700" cy="381000"/>
            </a:xfrm>
            <a:prstGeom prst="rect">
              <a:avLst/>
            </a:prstGeom>
            <a:solidFill>
              <a:srgbClr val="FFFFFF"/>
            </a:solidFill>
            <a:ln>
              <a:noFill/>
            </a:ln>
          </p:spPr>
        </p:sp>
        <p:sp>
          <p:nvSpPr>
            <p:cNvPr id="52" name="node01.row.item-004.h4.heat"/>
            <p:cNvSpPr/>
            <p:nvPr/>
          </p:nvSpPr>
          <p:spPr>
            <a:xfrm>
              <a:off x="6737350" y="3117850"/>
              <a:ext cx="736600" cy="342900"/>
            </a:xfrm>
            <a:prstGeom prst="rect">
              <a:avLst/>
            </a:prstGeom>
            <a:solidFill>
              <a:srgbClr val="0047FF"/>
            </a:solidFill>
            <a:ln>
              <a:noFill/>
            </a:ln>
          </p:spPr>
        </p:sp>
        <p:sp>
          <p:nvSpPr>
            <p:cNvPr id="53" name="node01.row.item-004.ov.heat-gap"/>
            <p:cNvSpPr/>
            <p:nvPr/>
          </p:nvSpPr>
          <p:spPr>
            <a:xfrm>
              <a:off x="7493000" y="3098800"/>
              <a:ext cx="774700" cy="381000"/>
            </a:xfrm>
            <a:prstGeom prst="rect">
              <a:avLst/>
            </a:prstGeom>
            <a:solidFill>
              <a:srgbClr val="FFFFFF"/>
            </a:solidFill>
            <a:ln>
              <a:noFill/>
            </a:ln>
          </p:spPr>
        </p:sp>
        <p:sp>
          <p:nvSpPr>
            <p:cNvPr id="54" name="node01.row.item-004.ov.heat"/>
            <p:cNvSpPr/>
            <p:nvPr/>
          </p:nvSpPr>
          <p:spPr>
            <a:xfrm>
              <a:off x="7512050" y="3117850"/>
              <a:ext cx="736600" cy="342900"/>
            </a:xfrm>
            <a:prstGeom prst="rect">
              <a:avLst/>
            </a:prstGeom>
            <a:solidFill>
              <a:srgbClr val="0047FF"/>
            </a:solidFill>
            <a:ln>
              <a:noFill/>
            </a:ln>
          </p:spPr>
        </p:sp>
        <p:sp>
          <p:nvSpPr>
            <p:cNvPr id="55" name="node01.row.item-005.h0.heat-gap"/>
            <p:cNvSpPr/>
            <p:nvPr/>
          </p:nvSpPr>
          <p:spPr>
            <a:xfrm>
              <a:off x="3619500" y="3479800"/>
              <a:ext cx="774700" cy="381000"/>
            </a:xfrm>
            <a:prstGeom prst="rect">
              <a:avLst/>
            </a:prstGeom>
            <a:solidFill>
              <a:srgbClr val="FFFFFF"/>
            </a:solidFill>
            <a:ln>
              <a:noFill/>
            </a:ln>
          </p:spPr>
        </p:sp>
        <p:sp>
          <p:nvSpPr>
            <p:cNvPr id="56" name="node01.row.item-005.h0.heat"/>
            <p:cNvSpPr/>
            <p:nvPr/>
          </p:nvSpPr>
          <p:spPr>
            <a:xfrm>
              <a:off x="3638550" y="3498850"/>
              <a:ext cx="736600" cy="342900"/>
            </a:xfrm>
            <a:prstGeom prst="rect">
              <a:avLst/>
            </a:prstGeom>
            <a:solidFill>
              <a:srgbClr val="7C9BFF"/>
            </a:solidFill>
            <a:ln>
              <a:noFill/>
            </a:ln>
          </p:spPr>
        </p:sp>
        <p:sp>
          <p:nvSpPr>
            <p:cNvPr id="57" name="node01.row.item-005.h1.heat-gap"/>
            <p:cNvSpPr/>
            <p:nvPr/>
          </p:nvSpPr>
          <p:spPr>
            <a:xfrm>
              <a:off x="4394200" y="3479800"/>
              <a:ext cx="774700" cy="381000"/>
            </a:xfrm>
            <a:prstGeom prst="rect">
              <a:avLst/>
            </a:prstGeom>
            <a:solidFill>
              <a:srgbClr val="FFFFFF"/>
            </a:solidFill>
            <a:ln>
              <a:noFill/>
            </a:ln>
          </p:spPr>
        </p:sp>
        <p:sp>
          <p:nvSpPr>
            <p:cNvPr id="58" name="node01.row.item-005.h1.heat"/>
            <p:cNvSpPr/>
            <p:nvPr/>
          </p:nvSpPr>
          <p:spPr>
            <a:xfrm>
              <a:off x="4413250" y="3498850"/>
              <a:ext cx="736600" cy="342900"/>
            </a:xfrm>
            <a:prstGeom prst="rect">
              <a:avLst/>
            </a:prstGeom>
            <a:solidFill>
              <a:srgbClr val="7C9BFF"/>
            </a:solidFill>
            <a:ln>
              <a:noFill/>
            </a:ln>
          </p:spPr>
        </p:sp>
        <p:sp>
          <p:nvSpPr>
            <p:cNvPr id="59" name="node01.row.item-005.h2.heat-gap"/>
            <p:cNvSpPr/>
            <p:nvPr/>
          </p:nvSpPr>
          <p:spPr>
            <a:xfrm>
              <a:off x="5168900" y="3479800"/>
              <a:ext cx="774700" cy="381000"/>
            </a:xfrm>
            <a:prstGeom prst="rect">
              <a:avLst/>
            </a:prstGeom>
            <a:solidFill>
              <a:srgbClr val="FFFFFF"/>
            </a:solidFill>
            <a:ln>
              <a:noFill/>
            </a:ln>
          </p:spPr>
        </p:sp>
        <p:sp>
          <p:nvSpPr>
            <p:cNvPr id="60" name="node01.row.item-005.h2.heat"/>
            <p:cNvSpPr/>
            <p:nvPr/>
          </p:nvSpPr>
          <p:spPr>
            <a:xfrm>
              <a:off x="5187950" y="3498850"/>
              <a:ext cx="736600" cy="342900"/>
            </a:xfrm>
            <a:prstGeom prst="rect">
              <a:avLst/>
            </a:prstGeom>
            <a:solidFill>
              <a:srgbClr val="7C9BFF"/>
            </a:solidFill>
            <a:ln>
              <a:noFill/>
            </a:ln>
          </p:spPr>
        </p:sp>
        <p:sp>
          <p:nvSpPr>
            <p:cNvPr id="61" name="node01.row.item-005.h3.heat-gap"/>
            <p:cNvSpPr/>
            <p:nvPr/>
          </p:nvSpPr>
          <p:spPr>
            <a:xfrm>
              <a:off x="5943600" y="3479800"/>
              <a:ext cx="774700" cy="381000"/>
            </a:xfrm>
            <a:prstGeom prst="rect">
              <a:avLst/>
            </a:prstGeom>
            <a:solidFill>
              <a:srgbClr val="FFFFFF"/>
            </a:solidFill>
            <a:ln>
              <a:noFill/>
            </a:ln>
          </p:spPr>
        </p:sp>
        <p:sp>
          <p:nvSpPr>
            <p:cNvPr id="62" name="node01.row.item-005.h3.heat"/>
            <p:cNvSpPr/>
            <p:nvPr/>
          </p:nvSpPr>
          <p:spPr>
            <a:xfrm>
              <a:off x="5962650" y="3498850"/>
              <a:ext cx="736600" cy="342900"/>
            </a:xfrm>
            <a:prstGeom prst="rect">
              <a:avLst/>
            </a:prstGeom>
            <a:solidFill>
              <a:srgbClr val="B9C9F0"/>
            </a:solidFill>
            <a:ln>
              <a:noFill/>
            </a:ln>
          </p:spPr>
        </p:sp>
        <p:sp>
          <p:nvSpPr>
            <p:cNvPr id="63" name="node01.row.item-005.h4.heat-gap"/>
            <p:cNvSpPr/>
            <p:nvPr/>
          </p:nvSpPr>
          <p:spPr>
            <a:xfrm>
              <a:off x="6718300" y="3479800"/>
              <a:ext cx="774700" cy="381000"/>
            </a:xfrm>
            <a:prstGeom prst="rect">
              <a:avLst/>
            </a:prstGeom>
            <a:solidFill>
              <a:srgbClr val="FFFFFF"/>
            </a:solidFill>
            <a:ln>
              <a:noFill/>
            </a:ln>
          </p:spPr>
        </p:sp>
        <p:sp>
          <p:nvSpPr>
            <p:cNvPr id="64" name="node01.row.item-005.h4.heat"/>
            <p:cNvSpPr/>
            <p:nvPr/>
          </p:nvSpPr>
          <p:spPr>
            <a:xfrm>
              <a:off x="6737350" y="3498850"/>
              <a:ext cx="736600" cy="342900"/>
            </a:xfrm>
            <a:prstGeom prst="rect">
              <a:avLst/>
            </a:prstGeom>
            <a:solidFill>
              <a:srgbClr val="7C9BFF"/>
            </a:solidFill>
            <a:ln>
              <a:noFill/>
            </a:ln>
          </p:spPr>
        </p:sp>
        <p:sp>
          <p:nvSpPr>
            <p:cNvPr id="65" name="node01.row.item-005.ov.heat-gap"/>
            <p:cNvSpPr/>
            <p:nvPr/>
          </p:nvSpPr>
          <p:spPr>
            <a:xfrm>
              <a:off x="7493000" y="3479800"/>
              <a:ext cx="774700" cy="381000"/>
            </a:xfrm>
            <a:prstGeom prst="rect">
              <a:avLst/>
            </a:prstGeom>
            <a:solidFill>
              <a:srgbClr val="FFFFFF"/>
            </a:solidFill>
            <a:ln>
              <a:noFill/>
            </a:ln>
          </p:spPr>
        </p:sp>
        <p:sp>
          <p:nvSpPr>
            <p:cNvPr id="66" name="node01.row.item-005.ov.heat"/>
            <p:cNvSpPr/>
            <p:nvPr/>
          </p:nvSpPr>
          <p:spPr>
            <a:xfrm>
              <a:off x="7512050" y="3498850"/>
              <a:ext cx="736600" cy="342900"/>
            </a:xfrm>
            <a:prstGeom prst="rect">
              <a:avLst/>
            </a:prstGeom>
            <a:solidFill>
              <a:srgbClr val="7C9BFF"/>
            </a:solidFill>
            <a:ln>
              <a:noFill/>
            </a:ln>
          </p:spPr>
        </p:sp>
        <p:sp>
          <p:nvSpPr>
            <p:cNvPr id="67" name="node01.row.item-006.h0.heat-gap"/>
            <p:cNvSpPr/>
            <p:nvPr/>
          </p:nvSpPr>
          <p:spPr>
            <a:xfrm>
              <a:off x="3619500" y="3860800"/>
              <a:ext cx="774700" cy="381000"/>
            </a:xfrm>
            <a:prstGeom prst="rect">
              <a:avLst/>
            </a:prstGeom>
            <a:solidFill>
              <a:srgbClr val="FFFFFF"/>
            </a:solidFill>
            <a:ln>
              <a:noFill/>
            </a:ln>
          </p:spPr>
        </p:sp>
        <p:sp>
          <p:nvSpPr>
            <p:cNvPr id="68" name="node01.row.item-006.h0.heat"/>
            <p:cNvSpPr/>
            <p:nvPr/>
          </p:nvSpPr>
          <p:spPr>
            <a:xfrm>
              <a:off x="3638550" y="3879850"/>
              <a:ext cx="736600" cy="342900"/>
            </a:xfrm>
            <a:prstGeom prst="rect">
              <a:avLst/>
            </a:prstGeom>
            <a:solidFill>
              <a:srgbClr val="B9C9F0"/>
            </a:solidFill>
            <a:ln>
              <a:noFill/>
            </a:ln>
          </p:spPr>
        </p:sp>
        <p:sp>
          <p:nvSpPr>
            <p:cNvPr id="69" name="node01.row.item-006.h1.heat-gap"/>
            <p:cNvSpPr/>
            <p:nvPr/>
          </p:nvSpPr>
          <p:spPr>
            <a:xfrm>
              <a:off x="4394200" y="3860800"/>
              <a:ext cx="774700" cy="381000"/>
            </a:xfrm>
            <a:prstGeom prst="rect">
              <a:avLst/>
            </a:prstGeom>
            <a:solidFill>
              <a:srgbClr val="FFFFFF"/>
            </a:solidFill>
            <a:ln>
              <a:noFill/>
            </a:ln>
          </p:spPr>
        </p:sp>
        <p:sp>
          <p:nvSpPr>
            <p:cNvPr id="70" name="node01.row.item-006.h1.heat"/>
            <p:cNvSpPr/>
            <p:nvPr/>
          </p:nvSpPr>
          <p:spPr>
            <a:xfrm>
              <a:off x="4413250" y="3879850"/>
              <a:ext cx="736600" cy="342900"/>
            </a:xfrm>
            <a:prstGeom prst="rect">
              <a:avLst/>
            </a:prstGeom>
            <a:solidFill>
              <a:srgbClr val="B9C9F0"/>
            </a:solidFill>
            <a:ln>
              <a:noFill/>
            </a:ln>
          </p:spPr>
        </p:sp>
        <p:sp>
          <p:nvSpPr>
            <p:cNvPr id="71" name="node01.row.item-006.h2.heat-gap"/>
            <p:cNvSpPr/>
            <p:nvPr/>
          </p:nvSpPr>
          <p:spPr>
            <a:xfrm>
              <a:off x="5168900" y="3860800"/>
              <a:ext cx="774700" cy="381000"/>
            </a:xfrm>
            <a:prstGeom prst="rect">
              <a:avLst/>
            </a:prstGeom>
            <a:solidFill>
              <a:srgbClr val="FFFFFF"/>
            </a:solidFill>
            <a:ln>
              <a:noFill/>
            </a:ln>
          </p:spPr>
        </p:sp>
        <p:sp>
          <p:nvSpPr>
            <p:cNvPr id="72" name="node01.row.item-006.h2.heat"/>
            <p:cNvSpPr/>
            <p:nvPr/>
          </p:nvSpPr>
          <p:spPr>
            <a:xfrm>
              <a:off x="5187950" y="3879850"/>
              <a:ext cx="736600" cy="342900"/>
            </a:xfrm>
            <a:prstGeom prst="rect">
              <a:avLst/>
            </a:prstGeom>
            <a:solidFill>
              <a:srgbClr val="B9C9F0"/>
            </a:solidFill>
            <a:ln>
              <a:noFill/>
            </a:ln>
          </p:spPr>
        </p:sp>
        <p:sp>
          <p:nvSpPr>
            <p:cNvPr id="73" name="node01.row.item-006.h3.heat-gap"/>
            <p:cNvSpPr/>
            <p:nvPr/>
          </p:nvSpPr>
          <p:spPr>
            <a:xfrm>
              <a:off x="5943600" y="3860800"/>
              <a:ext cx="774700" cy="381000"/>
            </a:xfrm>
            <a:prstGeom prst="rect">
              <a:avLst/>
            </a:prstGeom>
            <a:solidFill>
              <a:srgbClr val="FFFFFF"/>
            </a:solidFill>
            <a:ln>
              <a:noFill/>
            </a:ln>
          </p:spPr>
        </p:sp>
        <p:sp>
          <p:nvSpPr>
            <p:cNvPr id="74" name="node01.row.item-006.h3.heat"/>
            <p:cNvSpPr/>
            <p:nvPr/>
          </p:nvSpPr>
          <p:spPr>
            <a:xfrm>
              <a:off x="5962650" y="3879850"/>
              <a:ext cx="736600" cy="342900"/>
            </a:xfrm>
            <a:prstGeom prst="rect">
              <a:avLst/>
            </a:prstGeom>
            <a:solidFill>
              <a:srgbClr val="B9C9F0"/>
            </a:solidFill>
            <a:ln>
              <a:noFill/>
            </a:ln>
          </p:spPr>
        </p:sp>
        <p:sp>
          <p:nvSpPr>
            <p:cNvPr id="75" name="node01.row.item-006.h4.heat-gap"/>
            <p:cNvSpPr/>
            <p:nvPr/>
          </p:nvSpPr>
          <p:spPr>
            <a:xfrm>
              <a:off x="6718300" y="3860800"/>
              <a:ext cx="774700" cy="381000"/>
            </a:xfrm>
            <a:prstGeom prst="rect">
              <a:avLst/>
            </a:prstGeom>
            <a:solidFill>
              <a:srgbClr val="FFFFFF"/>
            </a:solidFill>
            <a:ln>
              <a:noFill/>
            </a:ln>
          </p:spPr>
        </p:sp>
        <p:sp>
          <p:nvSpPr>
            <p:cNvPr id="76" name="node01.row.item-006.h4.heat"/>
            <p:cNvSpPr/>
            <p:nvPr/>
          </p:nvSpPr>
          <p:spPr>
            <a:xfrm>
              <a:off x="6737350" y="3879850"/>
              <a:ext cx="736600" cy="342900"/>
            </a:xfrm>
            <a:prstGeom prst="rect">
              <a:avLst/>
            </a:prstGeom>
            <a:solidFill>
              <a:srgbClr val="E8EEF8"/>
            </a:solidFill>
            <a:ln>
              <a:noFill/>
            </a:ln>
          </p:spPr>
        </p:sp>
        <p:sp>
          <p:nvSpPr>
            <p:cNvPr id="77" name="node01.row.item-006.ov.heat-gap"/>
            <p:cNvSpPr/>
            <p:nvPr/>
          </p:nvSpPr>
          <p:spPr>
            <a:xfrm>
              <a:off x="7493000" y="3860800"/>
              <a:ext cx="774700" cy="381000"/>
            </a:xfrm>
            <a:prstGeom prst="rect">
              <a:avLst/>
            </a:prstGeom>
            <a:solidFill>
              <a:srgbClr val="FFFFFF"/>
            </a:solidFill>
            <a:ln>
              <a:noFill/>
            </a:ln>
          </p:spPr>
        </p:sp>
        <p:sp>
          <p:nvSpPr>
            <p:cNvPr id="78" name="node01.row.item-006.ov.heat"/>
            <p:cNvSpPr/>
            <p:nvPr/>
          </p:nvSpPr>
          <p:spPr>
            <a:xfrm>
              <a:off x="7512050" y="3879850"/>
              <a:ext cx="736600" cy="342900"/>
            </a:xfrm>
            <a:prstGeom prst="rect">
              <a:avLst/>
            </a:prstGeom>
            <a:solidFill>
              <a:srgbClr val="B9C9F0"/>
            </a:solidFill>
            <a:ln>
              <a:noFill/>
            </a:ln>
          </p:spPr>
        </p:sp>
        <p:sp>
          <p:nvSpPr>
            <p:cNvPr id="79" name="node01.row.item-007.h0.heat-gap"/>
            <p:cNvSpPr/>
            <p:nvPr/>
          </p:nvSpPr>
          <p:spPr>
            <a:xfrm>
              <a:off x="3619500" y="4241800"/>
              <a:ext cx="774700" cy="381000"/>
            </a:xfrm>
            <a:prstGeom prst="rect">
              <a:avLst/>
            </a:prstGeom>
            <a:solidFill>
              <a:srgbClr val="FFFFFF"/>
            </a:solidFill>
            <a:ln>
              <a:noFill/>
            </a:ln>
          </p:spPr>
        </p:sp>
        <p:sp>
          <p:nvSpPr>
            <p:cNvPr id="80" name="node01.row.item-007.h0.heat"/>
            <p:cNvSpPr/>
            <p:nvPr/>
          </p:nvSpPr>
          <p:spPr>
            <a:xfrm>
              <a:off x="3638550" y="4260850"/>
              <a:ext cx="736600" cy="342900"/>
            </a:xfrm>
            <a:prstGeom prst="rect">
              <a:avLst/>
            </a:prstGeom>
            <a:solidFill>
              <a:srgbClr val="0047FF"/>
            </a:solidFill>
            <a:ln>
              <a:noFill/>
            </a:ln>
          </p:spPr>
        </p:sp>
        <p:sp>
          <p:nvSpPr>
            <p:cNvPr id="81" name="node01.row.item-007.h1.heat-gap"/>
            <p:cNvSpPr/>
            <p:nvPr/>
          </p:nvSpPr>
          <p:spPr>
            <a:xfrm>
              <a:off x="4394200" y="4241800"/>
              <a:ext cx="774700" cy="381000"/>
            </a:xfrm>
            <a:prstGeom prst="rect">
              <a:avLst/>
            </a:prstGeom>
            <a:solidFill>
              <a:srgbClr val="FFFFFF"/>
            </a:solidFill>
            <a:ln>
              <a:noFill/>
            </a:ln>
          </p:spPr>
        </p:sp>
        <p:sp>
          <p:nvSpPr>
            <p:cNvPr id="82" name="node01.row.item-007.h1.heat"/>
            <p:cNvSpPr/>
            <p:nvPr/>
          </p:nvSpPr>
          <p:spPr>
            <a:xfrm>
              <a:off x="4413250" y="4260850"/>
              <a:ext cx="736600" cy="342900"/>
            </a:xfrm>
            <a:prstGeom prst="rect">
              <a:avLst/>
            </a:prstGeom>
            <a:solidFill>
              <a:srgbClr val="0047FF"/>
            </a:solidFill>
            <a:ln>
              <a:noFill/>
            </a:ln>
          </p:spPr>
        </p:sp>
        <p:sp>
          <p:nvSpPr>
            <p:cNvPr id="83" name="node01.row.item-007.h2.heat-gap"/>
            <p:cNvSpPr/>
            <p:nvPr/>
          </p:nvSpPr>
          <p:spPr>
            <a:xfrm>
              <a:off x="5168900" y="4241800"/>
              <a:ext cx="774700" cy="381000"/>
            </a:xfrm>
            <a:prstGeom prst="rect">
              <a:avLst/>
            </a:prstGeom>
            <a:solidFill>
              <a:srgbClr val="FFFFFF"/>
            </a:solidFill>
            <a:ln>
              <a:noFill/>
            </a:ln>
          </p:spPr>
        </p:sp>
        <p:sp>
          <p:nvSpPr>
            <p:cNvPr id="84" name="node01.row.item-007.h2.heat"/>
            <p:cNvSpPr/>
            <p:nvPr/>
          </p:nvSpPr>
          <p:spPr>
            <a:xfrm>
              <a:off x="5187950" y="4260850"/>
              <a:ext cx="736600" cy="342900"/>
            </a:xfrm>
            <a:prstGeom prst="rect">
              <a:avLst/>
            </a:prstGeom>
            <a:solidFill>
              <a:srgbClr val="7C9BFF"/>
            </a:solidFill>
            <a:ln>
              <a:noFill/>
            </a:ln>
          </p:spPr>
        </p:sp>
        <p:sp>
          <p:nvSpPr>
            <p:cNvPr id="85" name="node01.row.item-007.h3.heat-gap"/>
            <p:cNvSpPr/>
            <p:nvPr/>
          </p:nvSpPr>
          <p:spPr>
            <a:xfrm>
              <a:off x="5943600" y="4241800"/>
              <a:ext cx="774700" cy="381000"/>
            </a:xfrm>
            <a:prstGeom prst="rect">
              <a:avLst/>
            </a:prstGeom>
            <a:solidFill>
              <a:srgbClr val="FFFFFF"/>
            </a:solidFill>
            <a:ln>
              <a:noFill/>
            </a:ln>
          </p:spPr>
        </p:sp>
        <p:sp>
          <p:nvSpPr>
            <p:cNvPr id="86" name="node01.row.item-007.h3.heat"/>
            <p:cNvSpPr/>
            <p:nvPr/>
          </p:nvSpPr>
          <p:spPr>
            <a:xfrm>
              <a:off x="5962650" y="4260850"/>
              <a:ext cx="736600" cy="342900"/>
            </a:xfrm>
            <a:prstGeom prst="rect">
              <a:avLst/>
            </a:prstGeom>
            <a:solidFill>
              <a:srgbClr val="0047FF"/>
            </a:solidFill>
            <a:ln>
              <a:noFill/>
            </a:ln>
          </p:spPr>
        </p:sp>
        <p:sp>
          <p:nvSpPr>
            <p:cNvPr id="87" name="node01.row.item-007.h4.heat-gap"/>
            <p:cNvSpPr/>
            <p:nvPr/>
          </p:nvSpPr>
          <p:spPr>
            <a:xfrm>
              <a:off x="6718300" y="4241800"/>
              <a:ext cx="774700" cy="381000"/>
            </a:xfrm>
            <a:prstGeom prst="rect">
              <a:avLst/>
            </a:prstGeom>
            <a:solidFill>
              <a:srgbClr val="FFFFFF"/>
            </a:solidFill>
            <a:ln>
              <a:noFill/>
            </a:ln>
          </p:spPr>
        </p:sp>
        <p:sp>
          <p:nvSpPr>
            <p:cNvPr id="88" name="node01.row.item-007.h4.heat"/>
            <p:cNvSpPr/>
            <p:nvPr/>
          </p:nvSpPr>
          <p:spPr>
            <a:xfrm>
              <a:off x="6737350" y="4260850"/>
              <a:ext cx="736600" cy="342900"/>
            </a:xfrm>
            <a:prstGeom prst="rect">
              <a:avLst/>
            </a:prstGeom>
            <a:solidFill>
              <a:srgbClr val="7C9BFF"/>
            </a:solidFill>
            <a:ln>
              <a:noFill/>
            </a:ln>
          </p:spPr>
        </p:sp>
        <p:sp>
          <p:nvSpPr>
            <p:cNvPr id="89" name="node01.row.item-007.ov.heat-gap"/>
            <p:cNvSpPr/>
            <p:nvPr/>
          </p:nvSpPr>
          <p:spPr>
            <a:xfrm>
              <a:off x="7493000" y="4241800"/>
              <a:ext cx="774700" cy="381000"/>
            </a:xfrm>
            <a:prstGeom prst="rect">
              <a:avLst/>
            </a:prstGeom>
            <a:solidFill>
              <a:srgbClr val="FFFFFF"/>
            </a:solidFill>
            <a:ln>
              <a:noFill/>
            </a:ln>
          </p:spPr>
        </p:sp>
        <p:sp>
          <p:nvSpPr>
            <p:cNvPr id="90" name="node01.row.item-007.ov.heat"/>
            <p:cNvSpPr/>
            <p:nvPr/>
          </p:nvSpPr>
          <p:spPr>
            <a:xfrm>
              <a:off x="7512050" y="4260850"/>
              <a:ext cx="736600" cy="342900"/>
            </a:xfrm>
            <a:prstGeom prst="rect">
              <a:avLst/>
            </a:prstGeom>
            <a:solidFill>
              <a:srgbClr val="0047FF"/>
            </a:solidFill>
            <a:ln>
              <a:noFill/>
            </a:ln>
          </p:spPr>
        </p:sp>
        <p:sp>
          <p:nvSpPr>
            <p:cNvPr id="91" name="node01.row.item-008.h0.heat-gap"/>
            <p:cNvSpPr/>
            <p:nvPr/>
          </p:nvSpPr>
          <p:spPr>
            <a:xfrm>
              <a:off x="3619500" y="4622800"/>
              <a:ext cx="774700" cy="381000"/>
            </a:xfrm>
            <a:prstGeom prst="rect">
              <a:avLst/>
            </a:prstGeom>
            <a:solidFill>
              <a:srgbClr val="FFFFFF"/>
            </a:solidFill>
            <a:ln>
              <a:noFill/>
            </a:ln>
          </p:spPr>
        </p:sp>
        <p:sp>
          <p:nvSpPr>
            <p:cNvPr id="92" name="node01.row.item-008.h0.heat"/>
            <p:cNvSpPr/>
            <p:nvPr/>
          </p:nvSpPr>
          <p:spPr>
            <a:xfrm>
              <a:off x="3638550" y="4641850"/>
              <a:ext cx="736600" cy="342900"/>
            </a:xfrm>
            <a:prstGeom prst="rect">
              <a:avLst/>
            </a:prstGeom>
            <a:solidFill>
              <a:srgbClr val="B9C9F0"/>
            </a:solidFill>
            <a:ln>
              <a:noFill/>
            </a:ln>
          </p:spPr>
        </p:sp>
        <p:sp>
          <p:nvSpPr>
            <p:cNvPr id="93" name="node01.row.item-008.h1.heat-gap"/>
            <p:cNvSpPr/>
            <p:nvPr/>
          </p:nvSpPr>
          <p:spPr>
            <a:xfrm>
              <a:off x="4394200" y="4622800"/>
              <a:ext cx="774700" cy="381000"/>
            </a:xfrm>
            <a:prstGeom prst="rect">
              <a:avLst/>
            </a:prstGeom>
            <a:solidFill>
              <a:srgbClr val="FFFFFF"/>
            </a:solidFill>
            <a:ln>
              <a:noFill/>
            </a:ln>
          </p:spPr>
        </p:sp>
        <p:sp>
          <p:nvSpPr>
            <p:cNvPr id="94" name="node01.row.item-008.h1.heat"/>
            <p:cNvSpPr/>
            <p:nvPr/>
          </p:nvSpPr>
          <p:spPr>
            <a:xfrm>
              <a:off x="4413250" y="4641850"/>
              <a:ext cx="736600" cy="342900"/>
            </a:xfrm>
            <a:prstGeom prst="rect">
              <a:avLst/>
            </a:prstGeom>
            <a:solidFill>
              <a:srgbClr val="B9C9F0"/>
            </a:solidFill>
            <a:ln>
              <a:noFill/>
            </a:ln>
          </p:spPr>
        </p:sp>
        <p:sp>
          <p:nvSpPr>
            <p:cNvPr id="95" name="node01.row.item-008.h2.heat-gap"/>
            <p:cNvSpPr/>
            <p:nvPr/>
          </p:nvSpPr>
          <p:spPr>
            <a:xfrm>
              <a:off x="5168900" y="4622800"/>
              <a:ext cx="774700" cy="381000"/>
            </a:xfrm>
            <a:prstGeom prst="rect">
              <a:avLst/>
            </a:prstGeom>
            <a:solidFill>
              <a:srgbClr val="FFFFFF"/>
            </a:solidFill>
            <a:ln>
              <a:noFill/>
            </a:ln>
          </p:spPr>
        </p:sp>
        <p:sp>
          <p:nvSpPr>
            <p:cNvPr id="96" name="node01.row.item-008.h2.heat"/>
            <p:cNvSpPr/>
            <p:nvPr/>
          </p:nvSpPr>
          <p:spPr>
            <a:xfrm>
              <a:off x="5187950" y="4641850"/>
              <a:ext cx="736600" cy="342900"/>
            </a:xfrm>
            <a:prstGeom prst="rect">
              <a:avLst/>
            </a:prstGeom>
            <a:solidFill>
              <a:srgbClr val="E8EEF8"/>
            </a:solidFill>
            <a:ln>
              <a:noFill/>
            </a:ln>
          </p:spPr>
        </p:sp>
        <p:sp>
          <p:nvSpPr>
            <p:cNvPr id="97" name="node01.row.item-008.h3.heat-gap"/>
            <p:cNvSpPr/>
            <p:nvPr/>
          </p:nvSpPr>
          <p:spPr>
            <a:xfrm>
              <a:off x="5943600" y="4622800"/>
              <a:ext cx="774700" cy="381000"/>
            </a:xfrm>
            <a:prstGeom prst="rect">
              <a:avLst/>
            </a:prstGeom>
            <a:solidFill>
              <a:srgbClr val="FFFFFF"/>
            </a:solidFill>
            <a:ln>
              <a:noFill/>
            </a:ln>
          </p:spPr>
        </p:sp>
        <p:sp>
          <p:nvSpPr>
            <p:cNvPr id="98" name="node01.row.item-008.h3.heat"/>
            <p:cNvSpPr/>
            <p:nvPr/>
          </p:nvSpPr>
          <p:spPr>
            <a:xfrm>
              <a:off x="5962650" y="4641850"/>
              <a:ext cx="736600" cy="342900"/>
            </a:xfrm>
            <a:prstGeom prst="rect">
              <a:avLst/>
            </a:prstGeom>
            <a:solidFill>
              <a:srgbClr val="7C9BFF"/>
            </a:solidFill>
            <a:ln>
              <a:noFill/>
            </a:ln>
          </p:spPr>
        </p:sp>
        <p:sp>
          <p:nvSpPr>
            <p:cNvPr id="99" name="node01.row.item-008.h4.heat-gap"/>
            <p:cNvSpPr/>
            <p:nvPr/>
          </p:nvSpPr>
          <p:spPr>
            <a:xfrm>
              <a:off x="6718300" y="4622800"/>
              <a:ext cx="774700" cy="381000"/>
            </a:xfrm>
            <a:prstGeom prst="rect">
              <a:avLst/>
            </a:prstGeom>
            <a:solidFill>
              <a:srgbClr val="FFFFFF"/>
            </a:solidFill>
            <a:ln>
              <a:noFill/>
            </a:ln>
          </p:spPr>
        </p:sp>
        <p:sp>
          <p:nvSpPr>
            <p:cNvPr id="100" name="node01.row.item-008.h4.heat"/>
            <p:cNvSpPr/>
            <p:nvPr/>
          </p:nvSpPr>
          <p:spPr>
            <a:xfrm>
              <a:off x="6737350" y="4641850"/>
              <a:ext cx="736600" cy="342900"/>
            </a:xfrm>
            <a:prstGeom prst="rect">
              <a:avLst/>
            </a:prstGeom>
            <a:solidFill>
              <a:srgbClr val="B9C9F0"/>
            </a:solidFill>
            <a:ln>
              <a:noFill/>
            </a:ln>
          </p:spPr>
        </p:sp>
        <p:sp>
          <p:nvSpPr>
            <p:cNvPr id="101" name="node01.row.item-008.ov.heat-gap"/>
            <p:cNvSpPr/>
            <p:nvPr/>
          </p:nvSpPr>
          <p:spPr>
            <a:xfrm>
              <a:off x="7493000" y="4622800"/>
              <a:ext cx="774700" cy="381000"/>
            </a:xfrm>
            <a:prstGeom prst="rect">
              <a:avLst/>
            </a:prstGeom>
            <a:solidFill>
              <a:srgbClr val="FFFFFF"/>
            </a:solidFill>
            <a:ln>
              <a:noFill/>
            </a:ln>
          </p:spPr>
        </p:sp>
        <p:sp>
          <p:nvSpPr>
            <p:cNvPr id="102" name="node01.row.item-008.ov.heat"/>
            <p:cNvSpPr/>
            <p:nvPr/>
          </p:nvSpPr>
          <p:spPr>
            <a:xfrm>
              <a:off x="7512050" y="4641850"/>
              <a:ext cx="736600" cy="342900"/>
            </a:xfrm>
            <a:prstGeom prst="rect">
              <a:avLst/>
            </a:prstGeom>
            <a:solidFill>
              <a:srgbClr val="B9C9F0"/>
            </a:solidFill>
            <a:ln>
              <a:noFill/>
            </a:ln>
          </p:spPr>
        </p:sp>
        <p:sp>
          <p:nvSpPr>
            <p:cNvPr id="103" name="node01.row.item-009.h0.heat-gap"/>
            <p:cNvSpPr/>
            <p:nvPr/>
          </p:nvSpPr>
          <p:spPr>
            <a:xfrm>
              <a:off x="3619500" y="5003800"/>
              <a:ext cx="774700" cy="381000"/>
            </a:xfrm>
            <a:prstGeom prst="rect">
              <a:avLst/>
            </a:prstGeom>
            <a:solidFill>
              <a:srgbClr val="FFFFFF"/>
            </a:solidFill>
            <a:ln>
              <a:noFill/>
            </a:ln>
          </p:spPr>
        </p:sp>
        <p:sp>
          <p:nvSpPr>
            <p:cNvPr id="104" name="node01.row.item-009.h0.heat"/>
            <p:cNvSpPr/>
            <p:nvPr/>
          </p:nvSpPr>
          <p:spPr>
            <a:xfrm>
              <a:off x="3638550" y="5022850"/>
              <a:ext cx="736600" cy="342900"/>
            </a:xfrm>
            <a:prstGeom prst="rect">
              <a:avLst/>
            </a:prstGeom>
            <a:solidFill>
              <a:srgbClr val="7C9BFF"/>
            </a:solidFill>
            <a:ln>
              <a:noFill/>
            </a:ln>
          </p:spPr>
        </p:sp>
        <p:sp>
          <p:nvSpPr>
            <p:cNvPr id="105" name="node01.row.item-009.h1.heat-gap"/>
            <p:cNvSpPr/>
            <p:nvPr/>
          </p:nvSpPr>
          <p:spPr>
            <a:xfrm>
              <a:off x="4394200" y="5003800"/>
              <a:ext cx="774700" cy="381000"/>
            </a:xfrm>
            <a:prstGeom prst="rect">
              <a:avLst/>
            </a:prstGeom>
            <a:solidFill>
              <a:srgbClr val="FFFFFF"/>
            </a:solidFill>
            <a:ln>
              <a:noFill/>
            </a:ln>
          </p:spPr>
        </p:sp>
        <p:sp>
          <p:nvSpPr>
            <p:cNvPr id="106" name="node01.row.item-009.h1.heat"/>
            <p:cNvSpPr/>
            <p:nvPr/>
          </p:nvSpPr>
          <p:spPr>
            <a:xfrm>
              <a:off x="4413250" y="5022850"/>
              <a:ext cx="736600" cy="342900"/>
            </a:xfrm>
            <a:prstGeom prst="rect">
              <a:avLst/>
            </a:prstGeom>
            <a:solidFill>
              <a:srgbClr val="B9C9F0"/>
            </a:solidFill>
            <a:ln>
              <a:noFill/>
            </a:ln>
          </p:spPr>
        </p:sp>
        <p:sp>
          <p:nvSpPr>
            <p:cNvPr id="107" name="node01.row.item-009.h2.heat-gap"/>
            <p:cNvSpPr/>
            <p:nvPr/>
          </p:nvSpPr>
          <p:spPr>
            <a:xfrm>
              <a:off x="5168900" y="5003800"/>
              <a:ext cx="774700" cy="381000"/>
            </a:xfrm>
            <a:prstGeom prst="rect">
              <a:avLst/>
            </a:prstGeom>
            <a:solidFill>
              <a:srgbClr val="FFFFFF"/>
            </a:solidFill>
            <a:ln>
              <a:noFill/>
            </a:ln>
          </p:spPr>
        </p:sp>
        <p:sp>
          <p:nvSpPr>
            <p:cNvPr id="108" name="node01.row.item-009.h2.heat"/>
            <p:cNvSpPr/>
            <p:nvPr/>
          </p:nvSpPr>
          <p:spPr>
            <a:xfrm>
              <a:off x="5187950" y="5022850"/>
              <a:ext cx="736600" cy="342900"/>
            </a:xfrm>
            <a:prstGeom prst="rect">
              <a:avLst/>
            </a:prstGeom>
            <a:solidFill>
              <a:srgbClr val="B9C9F0"/>
            </a:solidFill>
            <a:ln>
              <a:noFill/>
            </a:ln>
          </p:spPr>
        </p:sp>
        <p:sp>
          <p:nvSpPr>
            <p:cNvPr id="109" name="node01.row.item-009.h3.heat-gap"/>
            <p:cNvSpPr/>
            <p:nvPr/>
          </p:nvSpPr>
          <p:spPr>
            <a:xfrm>
              <a:off x="5943600" y="5003800"/>
              <a:ext cx="774700" cy="381000"/>
            </a:xfrm>
            <a:prstGeom prst="rect">
              <a:avLst/>
            </a:prstGeom>
            <a:solidFill>
              <a:srgbClr val="FFFFFF"/>
            </a:solidFill>
            <a:ln>
              <a:noFill/>
            </a:ln>
          </p:spPr>
        </p:sp>
        <p:sp>
          <p:nvSpPr>
            <p:cNvPr id="110" name="node01.row.item-009.h3.heat"/>
            <p:cNvSpPr/>
            <p:nvPr/>
          </p:nvSpPr>
          <p:spPr>
            <a:xfrm>
              <a:off x="5962650" y="5022850"/>
              <a:ext cx="736600" cy="342900"/>
            </a:xfrm>
            <a:prstGeom prst="rect">
              <a:avLst/>
            </a:prstGeom>
            <a:solidFill>
              <a:srgbClr val="B9C9F0"/>
            </a:solidFill>
            <a:ln>
              <a:noFill/>
            </a:ln>
          </p:spPr>
        </p:sp>
        <p:sp>
          <p:nvSpPr>
            <p:cNvPr id="111" name="node01.row.item-009.h4.heat-gap"/>
            <p:cNvSpPr/>
            <p:nvPr/>
          </p:nvSpPr>
          <p:spPr>
            <a:xfrm>
              <a:off x="6718300" y="5003800"/>
              <a:ext cx="774700" cy="381000"/>
            </a:xfrm>
            <a:prstGeom prst="rect">
              <a:avLst/>
            </a:prstGeom>
            <a:solidFill>
              <a:srgbClr val="FFFFFF"/>
            </a:solidFill>
            <a:ln>
              <a:noFill/>
            </a:ln>
          </p:spPr>
        </p:sp>
        <p:sp>
          <p:nvSpPr>
            <p:cNvPr id="112" name="node01.row.item-009.h4.heat"/>
            <p:cNvSpPr/>
            <p:nvPr/>
          </p:nvSpPr>
          <p:spPr>
            <a:xfrm>
              <a:off x="6737350" y="5022850"/>
              <a:ext cx="736600" cy="342900"/>
            </a:xfrm>
            <a:prstGeom prst="rect">
              <a:avLst/>
            </a:prstGeom>
            <a:solidFill>
              <a:srgbClr val="7C9BFF"/>
            </a:solidFill>
            <a:ln>
              <a:noFill/>
            </a:ln>
          </p:spPr>
        </p:sp>
        <p:sp>
          <p:nvSpPr>
            <p:cNvPr id="113" name="node01.row.item-009.ov.heat-gap"/>
            <p:cNvSpPr/>
            <p:nvPr/>
          </p:nvSpPr>
          <p:spPr>
            <a:xfrm>
              <a:off x="7493000" y="5003800"/>
              <a:ext cx="774700" cy="381000"/>
            </a:xfrm>
            <a:prstGeom prst="rect">
              <a:avLst/>
            </a:prstGeom>
            <a:solidFill>
              <a:srgbClr val="FFFFFF"/>
            </a:solidFill>
            <a:ln>
              <a:noFill/>
            </a:ln>
          </p:spPr>
        </p:sp>
        <p:sp>
          <p:nvSpPr>
            <p:cNvPr id="114" name="node01.row.item-009.ov.heat"/>
            <p:cNvSpPr/>
            <p:nvPr/>
          </p:nvSpPr>
          <p:spPr>
            <a:xfrm>
              <a:off x="7512050" y="5022850"/>
              <a:ext cx="736600" cy="342900"/>
            </a:xfrm>
            <a:prstGeom prst="rect">
              <a:avLst/>
            </a:prstGeom>
            <a:solidFill>
              <a:srgbClr val="B9C9F0"/>
            </a:solidFill>
            <a:ln>
              <a:noFill/>
            </a:ln>
          </p:spPr>
        </p:sp>
        <p:graphicFrame>
          <p:nvGraphicFramePr>
            <p:cNvPr id="115" name="node01.native"/>
            <p:cNvGraphicFramePr>
              <a:graphicFrameLocks noGrp="1"/>
            </p:cNvGraphicFramePr>
            <p:nvPr>
              <p:extLst>
                <p:ext uri="{D42A27DB-BD31-4B8C-83A1-F6EECF244321}">
                  <p14:modId xmlns:p14="http://schemas.microsoft.com/office/powerpoint/2010/main" val="1579011935"/>
                </p:ext>
              </p:extLst>
            </p:nvPr>
          </p:nvGraphicFramePr>
          <p:xfrm>
            <a:off x="1104900" y="1600200"/>
            <a:ext cx="7162800" cy="3784600"/>
          </p:xfrm>
          <a:graphic>
            <a:graphicData uri="http://schemas.openxmlformats.org/drawingml/2006/table">
              <a:tbl>
                <a:tblPr/>
                <a:tblGrid>
                  <a:gridCol w="2514600"/>
                  <a:gridCol w="774700"/>
                  <a:gridCol w="774700"/>
                  <a:gridCol w="774700"/>
                  <a:gridCol w="774700"/>
                  <a:gridCol w="774700"/>
                  <a:gridCol w="7747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CAPABILITY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PROCESS</a:t>
                        </a:r>
                        <a:endParaRPr lang="en-US" sz="800" spc="48" kern="0" b="0" i="0" dirty="0">
                          <a:solidFill>
                            <a:srgbClr val="070154"/>
                          </a:solidFill>
                          <a:latin typeface="IBM Plex Mono SemiBold"/>
                          <a:ea typeface="IBM Plex Mono SemiBold"/>
                          <a:cs typeface="IBM Plex Mono SemiBold"/>
                        </a:endParaRPr>
                      </a:p>
                    </a:txBody>
                    <a:tcPr marL="142177" marR="14217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TECHNOLOGY</a:t>
                        </a:r>
                        <a:endParaRPr lang="en-US" sz="800" spc="48" kern="0" b="0" i="0" dirty="0">
                          <a:solidFill>
                            <a:srgbClr val="070154"/>
                          </a:solidFill>
                          <a:latin typeface="IBM Plex Mono SemiBold"/>
                          <a:ea typeface="IBM Plex Mono SemiBold"/>
                          <a:cs typeface="IBM Plex Mono SemiBold"/>
                        </a:endParaRPr>
                      </a:p>
                    </a:txBody>
                    <a:tcPr marL="42546" marR="4254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DATA</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PEOPLE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GOVERNANCE</a:t>
                        </a:r>
                        <a:endParaRPr lang="en-US" sz="800" spc="48" kern="0" b="0" i="0" dirty="0">
                          <a:solidFill>
                            <a:srgbClr val="070154"/>
                          </a:solidFill>
                          <a:latin typeface="IBM Plex Mono SemiBold"/>
                          <a:ea typeface="IBM Plex Mono SemiBold"/>
                          <a:cs typeface="IBM Plex Mono SemiBold"/>
                        </a:endParaRPr>
                      </a:p>
                    </a:txBody>
                    <a:tcPr marL="42546" marR="4254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OVERALL</a:t>
                        </a:r>
                        <a:endParaRPr lang="en-US" sz="800" spc="48" kern="0" b="0" i="0" dirty="0">
                          <a:solidFill>
                            <a:srgbClr val="070154"/>
                          </a:solidFill>
                          <a:latin typeface="IBM Plex Mono SemiBold"/>
                          <a:ea typeface="IBM Plex Mono SemiBold"/>
                          <a:cs typeface="IBM Plex Mono SemiBold"/>
                        </a:endParaRPr>
                      </a:p>
                    </a:txBody>
                    <a:tcPr marL="142177" marR="14217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access</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Scheduling</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Referral management</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Revenue cycle</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5</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billing</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Denials management</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Clinical documentation</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FFFFFF"/>
                            </a:solidFill>
                            <a:latin typeface="IBM Plex Mono SemiBold"/>
                            <a:ea typeface="IBM Plex Mono SemiBold"/>
                            <a:cs typeface="IBM Plex Mono SemiBold"/>
                          </a:defRPr>
                        </a:pPr>
                        <a:r>
                          <a:rPr lang="en-US" sz="1000" spc="0" kern="0" b="0" i="0" dirty="0">
                            <a:solidFill>
                              <a:srgbClr val="FFFFFF"/>
                            </a:solidFill>
                            <a:latin typeface="IBM Plex Mono SemiBold"/>
                            <a:ea typeface="IBM Plex Mono SemiBold"/>
                            <a:cs typeface="IBM Plex Mono SemiBold"/>
                          </a:rPr>
                          <a:t xml:space="preserve">4</a:t>
                        </a:r>
                        <a:endParaRPr lang="en-US" sz="10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Care coordination</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2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Supply chain</a:t>
                        </a:r>
                        <a:endParaRPr lang="en-US" sz="1000" spc="0" kern="0" b="0" i="0" dirty="0">
                          <a:solidFill>
                            <a:srgbClr val="070154"/>
                          </a:solidFill>
                          <a:latin typeface="IBM Plex Sans SemiBold"/>
                          <a:ea typeface="IBM Plex Sans SemiBold"/>
                          <a:cs typeface="IBM Plex Sans SemiBold"/>
                        </a:endParaRPr>
                      </a:p>
                    </a:txBody>
                    <a:tcPr marL="45898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sp>
          <p:nvSpPr>
            <p:cNvPr id="116" name="node01.row.item-001.c0.ref.fill"/>
            <p:cNvSpPr/>
            <p:nvPr/>
          </p:nvSpPr>
          <p:spPr>
            <a:xfrm>
              <a:off x="1257300" y="2070100"/>
              <a:ext cx="230380" cy="165100"/>
            </a:xfrm>
            <a:prstGeom prst="rect">
              <a:avLst/>
            </a:prstGeom>
            <a:ln w="9525">
              <a:solidFill>
                <a:srgbClr val="070154"/>
              </a:solidFill>
              <a:prstDash val="solid"/>
            </a:ln>
          </p:spPr>
        </p:sp>
        <p:sp>
          <p:nvSpPr>
            <p:cNvPr id="117" name="node01.row.item-001.c0.ref"/>
            <p:cNvSpPr/>
            <p:nvPr/>
          </p:nvSpPr>
          <p:spPr>
            <a:xfrm>
              <a:off x="1295400" y="2076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070154"/>
                  </a:solidFill>
                  <a:latin typeface="IBM Plex Mono SemiBold"/>
                  <a:ea typeface="IBM Plex Mono SemiBold"/>
                  <a:cs typeface="IBM Plex Mono SemiBold"/>
                </a:rPr>
                <a:t>A1</a:t>
              </a:r>
              <a:endParaRPr lang="en-US" sz="800" spc="32" kern="0" b="0" i="0" dirty="0">
                <a:solidFill>
                  <a:srgbClr val="070154"/>
                </a:solidFill>
                <a:latin typeface="IBM Plex Mono SemiBold"/>
                <a:ea typeface="IBM Plex Mono SemiBold"/>
                <a:cs typeface="IBM Plex Mono SemiBold"/>
              </a:endParaRPr>
            </a:p>
          </p:txBody>
        </p:sp>
        <p:sp>
          <p:nvSpPr>
            <p:cNvPr id="118" name="node01.row.item-002.c0.ref.fill"/>
            <p:cNvSpPr/>
            <p:nvPr/>
          </p:nvSpPr>
          <p:spPr>
            <a:xfrm>
              <a:off x="1257300" y="2451100"/>
              <a:ext cx="230380" cy="165100"/>
            </a:xfrm>
            <a:prstGeom prst="rect">
              <a:avLst/>
            </a:prstGeom>
            <a:ln w="9525">
              <a:solidFill>
                <a:srgbClr val="070154"/>
              </a:solidFill>
              <a:prstDash val="solid"/>
            </a:ln>
          </p:spPr>
        </p:sp>
        <p:sp>
          <p:nvSpPr>
            <p:cNvPr id="119" name="node01.row.item-002.c0.ref"/>
            <p:cNvSpPr/>
            <p:nvPr/>
          </p:nvSpPr>
          <p:spPr>
            <a:xfrm>
              <a:off x="1295400" y="2457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070154"/>
                  </a:solidFill>
                  <a:latin typeface="IBM Plex Mono SemiBold"/>
                  <a:ea typeface="IBM Plex Mono SemiBold"/>
                  <a:cs typeface="IBM Plex Mono SemiBold"/>
                </a:rPr>
                <a:t>A2</a:t>
              </a:r>
              <a:endParaRPr lang="en-US" sz="800" spc="32" kern="0" b="0" i="0" dirty="0">
                <a:solidFill>
                  <a:srgbClr val="070154"/>
                </a:solidFill>
                <a:latin typeface="IBM Plex Mono SemiBold"/>
                <a:ea typeface="IBM Plex Mono SemiBold"/>
                <a:cs typeface="IBM Plex Mono SemiBold"/>
              </a:endParaRPr>
            </a:p>
          </p:txBody>
        </p:sp>
        <p:sp>
          <p:nvSpPr>
            <p:cNvPr id="120" name="node01.row.item-003.c0.ref.fill"/>
            <p:cNvSpPr/>
            <p:nvPr/>
          </p:nvSpPr>
          <p:spPr>
            <a:xfrm>
              <a:off x="1257300" y="2832100"/>
              <a:ext cx="230380" cy="165100"/>
            </a:xfrm>
            <a:prstGeom prst="rect">
              <a:avLst/>
            </a:prstGeom>
            <a:ln w="9525">
              <a:solidFill>
                <a:srgbClr val="070154"/>
              </a:solidFill>
              <a:prstDash val="solid"/>
            </a:ln>
          </p:spPr>
        </p:sp>
        <p:sp>
          <p:nvSpPr>
            <p:cNvPr id="121" name="node01.row.item-003.c0.ref"/>
            <p:cNvSpPr/>
            <p:nvPr/>
          </p:nvSpPr>
          <p:spPr>
            <a:xfrm>
              <a:off x="1295400" y="2838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070154"/>
                  </a:solidFill>
                  <a:latin typeface="IBM Plex Mono SemiBold"/>
                  <a:ea typeface="IBM Plex Mono SemiBold"/>
                  <a:cs typeface="IBM Plex Mono SemiBold"/>
                </a:rPr>
                <a:t>A3</a:t>
              </a:r>
              <a:endParaRPr lang="en-US" sz="800" spc="32" kern="0" b="0" i="0" dirty="0">
                <a:solidFill>
                  <a:srgbClr val="070154"/>
                </a:solidFill>
                <a:latin typeface="IBM Plex Mono SemiBold"/>
                <a:ea typeface="IBM Plex Mono SemiBold"/>
                <a:cs typeface="IBM Plex Mono SemiBold"/>
              </a:endParaRPr>
            </a:p>
          </p:txBody>
        </p:sp>
        <p:sp>
          <p:nvSpPr>
            <p:cNvPr id="122" name="node01.row.item-004.c0.ref.fill"/>
            <p:cNvSpPr/>
            <p:nvPr/>
          </p:nvSpPr>
          <p:spPr>
            <a:xfrm>
              <a:off x="1257300" y="3213100"/>
              <a:ext cx="230380" cy="165100"/>
            </a:xfrm>
            <a:prstGeom prst="rect">
              <a:avLst/>
            </a:prstGeom>
            <a:solidFill>
              <a:srgbClr val="070154"/>
            </a:solidFill>
            <a:ln w="9525">
              <a:solidFill>
                <a:srgbClr val="070154"/>
              </a:solidFill>
              <a:prstDash val="solid"/>
            </a:ln>
          </p:spPr>
        </p:sp>
        <p:sp>
          <p:nvSpPr>
            <p:cNvPr id="123" name="node01.row.item-004.c0.ref"/>
            <p:cNvSpPr/>
            <p:nvPr/>
          </p:nvSpPr>
          <p:spPr>
            <a:xfrm>
              <a:off x="1295400" y="3219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FFFFFF"/>
                  </a:solidFill>
                  <a:latin typeface="IBM Plex Mono SemiBold"/>
                  <a:ea typeface="IBM Plex Mono SemiBold"/>
                  <a:cs typeface="IBM Plex Mono SemiBold"/>
                </a:rPr>
                <a:t>A4</a:t>
              </a:r>
              <a:endParaRPr lang="en-US" sz="800" spc="32" kern="0" b="0" i="0" dirty="0">
                <a:solidFill>
                  <a:srgbClr val="FFFFFF"/>
                </a:solidFill>
                <a:latin typeface="IBM Plex Mono SemiBold"/>
                <a:ea typeface="IBM Plex Mono SemiBold"/>
                <a:cs typeface="IBM Plex Mono SemiBold"/>
              </a:endParaRPr>
            </a:p>
          </p:txBody>
        </p:sp>
        <p:sp>
          <p:nvSpPr>
            <p:cNvPr id="124" name="node01.row.item-005.c0.ref.fill"/>
            <p:cNvSpPr/>
            <p:nvPr/>
          </p:nvSpPr>
          <p:spPr>
            <a:xfrm>
              <a:off x="1257300" y="3594100"/>
              <a:ext cx="230380" cy="165100"/>
            </a:xfrm>
            <a:prstGeom prst="rect">
              <a:avLst/>
            </a:prstGeom>
            <a:solidFill>
              <a:srgbClr val="070154"/>
            </a:solidFill>
            <a:ln w="9525">
              <a:solidFill>
                <a:srgbClr val="070154"/>
              </a:solidFill>
              <a:prstDash val="solid"/>
            </a:ln>
          </p:spPr>
        </p:sp>
        <p:sp>
          <p:nvSpPr>
            <p:cNvPr id="125" name="node01.row.item-005.c0.ref"/>
            <p:cNvSpPr/>
            <p:nvPr/>
          </p:nvSpPr>
          <p:spPr>
            <a:xfrm>
              <a:off x="1295400" y="3600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FFFFFF"/>
                  </a:solidFill>
                  <a:latin typeface="IBM Plex Mono SemiBold"/>
                  <a:ea typeface="IBM Plex Mono SemiBold"/>
                  <a:cs typeface="IBM Plex Mono SemiBold"/>
                </a:rPr>
                <a:t>A5</a:t>
              </a:r>
              <a:endParaRPr lang="en-US" sz="800" spc="32" kern="0" b="0" i="0" dirty="0">
                <a:solidFill>
                  <a:srgbClr val="FFFFFF"/>
                </a:solidFill>
                <a:latin typeface="IBM Plex Mono SemiBold"/>
                <a:ea typeface="IBM Plex Mono SemiBold"/>
                <a:cs typeface="IBM Plex Mono SemiBold"/>
              </a:endParaRPr>
            </a:p>
          </p:txBody>
        </p:sp>
        <p:sp>
          <p:nvSpPr>
            <p:cNvPr id="126" name="node01.row.item-006.c0.ref.fill"/>
            <p:cNvSpPr/>
            <p:nvPr/>
          </p:nvSpPr>
          <p:spPr>
            <a:xfrm>
              <a:off x="1257300" y="3975100"/>
              <a:ext cx="230380" cy="165100"/>
            </a:xfrm>
            <a:prstGeom prst="rect">
              <a:avLst/>
            </a:prstGeom>
            <a:solidFill>
              <a:srgbClr val="070154"/>
            </a:solidFill>
            <a:ln w="9525">
              <a:solidFill>
                <a:srgbClr val="070154"/>
              </a:solidFill>
              <a:prstDash val="solid"/>
            </a:ln>
          </p:spPr>
        </p:sp>
        <p:sp>
          <p:nvSpPr>
            <p:cNvPr id="127" name="node01.row.item-006.c0.ref"/>
            <p:cNvSpPr/>
            <p:nvPr/>
          </p:nvSpPr>
          <p:spPr>
            <a:xfrm>
              <a:off x="1295400" y="3981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FFFFFF"/>
                  </a:solidFill>
                  <a:latin typeface="IBM Plex Mono SemiBold"/>
                  <a:ea typeface="IBM Plex Mono SemiBold"/>
                  <a:cs typeface="IBM Plex Mono SemiBold"/>
                </a:rPr>
                <a:t>A6</a:t>
              </a:r>
              <a:endParaRPr lang="en-US" sz="800" spc="32" kern="0" b="0" i="0" dirty="0">
                <a:solidFill>
                  <a:srgbClr val="FFFFFF"/>
                </a:solidFill>
                <a:latin typeface="IBM Plex Mono SemiBold"/>
                <a:ea typeface="IBM Plex Mono SemiBold"/>
                <a:cs typeface="IBM Plex Mono SemiBold"/>
              </a:endParaRPr>
            </a:p>
          </p:txBody>
        </p:sp>
        <p:sp>
          <p:nvSpPr>
            <p:cNvPr id="128" name="node01.row.item-007.c0.ref.fill"/>
            <p:cNvSpPr/>
            <p:nvPr/>
          </p:nvSpPr>
          <p:spPr>
            <a:xfrm>
              <a:off x="1257300" y="4356100"/>
              <a:ext cx="230380" cy="165100"/>
            </a:xfrm>
            <a:prstGeom prst="rect">
              <a:avLst/>
            </a:prstGeom>
            <a:ln w="9525">
              <a:solidFill>
                <a:srgbClr val="070154"/>
              </a:solidFill>
              <a:prstDash val="solid"/>
            </a:ln>
          </p:spPr>
        </p:sp>
        <p:sp>
          <p:nvSpPr>
            <p:cNvPr id="129" name="node01.row.item-007.c0.ref"/>
            <p:cNvSpPr/>
            <p:nvPr/>
          </p:nvSpPr>
          <p:spPr>
            <a:xfrm>
              <a:off x="1295400" y="4362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070154"/>
                  </a:solidFill>
                  <a:latin typeface="IBM Plex Mono SemiBold"/>
                  <a:ea typeface="IBM Plex Mono SemiBold"/>
                  <a:cs typeface="IBM Plex Mono SemiBold"/>
                </a:rPr>
                <a:t>A7</a:t>
              </a:r>
              <a:endParaRPr lang="en-US" sz="800" spc="32" kern="0" b="0" i="0" dirty="0">
                <a:solidFill>
                  <a:srgbClr val="070154"/>
                </a:solidFill>
                <a:latin typeface="IBM Plex Mono SemiBold"/>
                <a:ea typeface="IBM Plex Mono SemiBold"/>
                <a:cs typeface="IBM Plex Mono SemiBold"/>
              </a:endParaRPr>
            </a:p>
          </p:txBody>
        </p:sp>
        <p:sp>
          <p:nvSpPr>
            <p:cNvPr id="130" name="node01.row.item-008.c0.ref.fill"/>
            <p:cNvSpPr/>
            <p:nvPr/>
          </p:nvSpPr>
          <p:spPr>
            <a:xfrm>
              <a:off x="1257300" y="4737100"/>
              <a:ext cx="230380" cy="165100"/>
            </a:xfrm>
            <a:prstGeom prst="rect">
              <a:avLst/>
            </a:prstGeom>
            <a:ln w="9525">
              <a:solidFill>
                <a:srgbClr val="070154"/>
              </a:solidFill>
              <a:prstDash val="solid"/>
            </a:ln>
          </p:spPr>
        </p:sp>
        <p:sp>
          <p:nvSpPr>
            <p:cNvPr id="131" name="node01.row.item-008.c0.ref"/>
            <p:cNvSpPr/>
            <p:nvPr/>
          </p:nvSpPr>
          <p:spPr>
            <a:xfrm>
              <a:off x="1295400" y="4743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070154"/>
                  </a:solidFill>
                  <a:latin typeface="IBM Plex Mono SemiBold"/>
                  <a:ea typeface="IBM Plex Mono SemiBold"/>
                  <a:cs typeface="IBM Plex Mono SemiBold"/>
                </a:rPr>
                <a:t>A8</a:t>
              </a:r>
              <a:endParaRPr lang="en-US" sz="800" spc="32" kern="0" b="0" i="0" dirty="0">
                <a:solidFill>
                  <a:srgbClr val="070154"/>
                </a:solidFill>
                <a:latin typeface="IBM Plex Mono SemiBold"/>
                <a:ea typeface="IBM Plex Mono SemiBold"/>
                <a:cs typeface="IBM Plex Mono SemiBold"/>
              </a:endParaRPr>
            </a:p>
          </p:txBody>
        </p:sp>
        <p:sp>
          <p:nvSpPr>
            <p:cNvPr id="132" name="node01.row.item-009.c0.ref.fill"/>
            <p:cNvSpPr/>
            <p:nvPr/>
          </p:nvSpPr>
          <p:spPr>
            <a:xfrm>
              <a:off x="1257300" y="5118100"/>
              <a:ext cx="230380" cy="165100"/>
            </a:xfrm>
            <a:prstGeom prst="rect">
              <a:avLst/>
            </a:prstGeom>
            <a:ln w="9525">
              <a:solidFill>
                <a:srgbClr val="070154"/>
              </a:solidFill>
              <a:prstDash val="solid"/>
            </a:ln>
          </p:spPr>
        </p:sp>
        <p:sp>
          <p:nvSpPr>
            <p:cNvPr id="133" name="node01.row.item-009.c0.ref"/>
            <p:cNvSpPr/>
            <p:nvPr/>
          </p:nvSpPr>
          <p:spPr>
            <a:xfrm>
              <a:off x="1295400" y="5124450"/>
              <a:ext cx="154180" cy="152400"/>
            </a:xfrm>
            <a:prstGeom prst="rect">
              <a:avLst/>
            </a:prstGeom>
            <a:noFill/>
            <a:ln/>
          </p:spPr>
          <p:txBody>
            <a:bodyPr wrap="square" lIns="0" tIns="0" rIns="0" bIns="0" rtlCol="0" anchor="t"/>
            <a:lstStyle/>
            <a:p>
              <a:pPr algn="ctr" indent="0" marL="0">
                <a:lnSpc>
                  <a:spcPts val="1156"/>
                </a:lnSpc>
                <a:buNone/>
              </a:pPr>
              <a:r>
                <a:rPr lang="en-US" sz="800" spc="32" kern="0" b="0" i="0" dirty="0">
                  <a:solidFill>
                    <a:srgbClr val="070154"/>
                  </a:solidFill>
                  <a:latin typeface="IBM Plex Mono SemiBold"/>
                  <a:ea typeface="IBM Plex Mono SemiBold"/>
                  <a:cs typeface="IBM Plex Mono SemiBold"/>
                </a:rPr>
                <a:t>A9</a:t>
              </a:r>
              <a:endParaRPr lang="en-US" sz="800" spc="32" kern="0" b="0" i="0" dirty="0">
                <a:solidFill>
                  <a:srgbClr val="070154"/>
                </a:solidFill>
                <a:latin typeface="IBM Plex Mono SemiBold"/>
                <a:ea typeface="IBM Plex Mono SemiBold"/>
                <a:cs typeface="IBM Plex Mono SemiBold"/>
              </a:endParaRPr>
            </a:p>
          </p:txBody>
        </p:sp>
        <p:sp>
          <p:nvSpPr>
            <p:cNvPr id="134" name="node01.row-group.source-001.fill"/>
            <p:cNvSpPr/>
            <p:nvPr/>
          </p:nvSpPr>
          <p:spPr>
            <a:xfrm>
              <a:off x="723900" y="1974850"/>
              <a:ext cx="304800" cy="1104900"/>
            </a:xfrm>
            <a:prstGeom prst="rect">
              <a:avLst/>
            </a:prstGeom>
            <a:solidFill>
              <a:srgbClr val="070154"/>
            </a:solidFill>
            <a:ln>
              <a:noFill/>
            </a:ln>
          </p:spPr>
        </p:sp>
        <p:sp>
          <p:nvSpPr>
            <p:cNvPr id="135" name="node01.row-group.source-001.label"/>
            <p:cNvSpPr/>
            <p:nvPr/>
          </p:nvSpPr>
          <p:spPr>
            <a:xfrm rot="-5400000">
              <a:off x="323850" y="2457450"/>
              <a:ext cx="11049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FRONT DOOR</a:t>
              </a:r>
              <a:endParaRPr lang="en-US" sz="800" spc="80" kern="0" b="0" i="0" dirty="0">
                <a:solidFill>
                  <a:srgbClr val="FFFFFF"/>
                </a:solidFill>
                <a:latin typeface="IBM Plex Mono SemiBold"/>
                <a:ea typeface="IBM Plex Mono SemiBold"/>
                <a:cs typeface="IBM Plex Mono SemiBold"/>
              </a:endParaRPr>
            </a:p>
          </p:txBody>
        </p:sp>
        <p:sp>
          <p:nvSpPr>
            <p:cNvPr id="136" name="node01.row-group.source-002.fill"/>
            <p:cNvSpPr/>
            <p:nvPr/>
          </p:nvSpPr>
          <p:spPr>
            <a:xfrm>
              <a:off x="723900" y="3117850"/>
              <a:ext cx="304800" cy="1104900"/>
            </a:xfrm>
            <a:prstGeom prst="rect">
              <a:avLst/>
            </a:prstGeom>
            <a:solidFill>
              <a:srgbClr val="070154"/>
            </a:solidFill>
            <a:ln>
              <a:noFill/>
            </a:ln>
          </p:spPr>
        </p:sp>
        <p:sp>
          <p:nvSpPr>
            <p:cNvPr id="137" name="node01.row-group.source-002.label"/>
            <p:cNvSpPr/>
            <p:nvPr/>
          </p:nvSpPr>
          <p:spPr>
            <a:xfrm rot="-5400000">
              <a:off x="323850" y="3600450"/>
              <a:ext cx="11049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REVENUE</a:t>
              </a:r>
              <a:endParaRPr lang="en-US" sz="800" spc="80" kern="0" b="0" i="0" dirty="0">
                <a:solidFill>
                  <a:srgbClr val="FFFFFF"/>
                </a:solidFill>
                <a:latin typeface="IBM Plex Mono SemiBold"/>
                <a:ea typeface="IBM Plex Mono SemiBold"/>
                <a:cs typeface="IBM Plex Mono SemiBold"/>
              </a:endParaRPr>
            </a:p>
          </p:txBody>
        </p:sp>
        <p:sp>
          <p:nvSpPr>
            <p:cNvPr id="138" name="node01.row-group.source-003.fill"/>
            <p:cNvSpPr/>
            <p:nvPr/>
          </p:nvSpPr>
          <p:spPr>
            <a:xfrm>
              <a:off x="723900" y="4260850"/>
              <a:ext cx="304800" cy="1104900"/>
            </a:xfrm>
            <a:prstGeom prst="rect">
              <a:avLst/>
            </a:prstGeom>
            <a:solidFill>
              <a:srgbClr val="50658E"/>
            </a:solidFill>
            <a:ln>
              <a:noFill/>
            </a:ln>
          </p:spPr>
        </p:sp>
        <p:sp>
          <p:nvSpPr>
            <p:cNvPr id="139" name="node01.row-group.source-003.label"/>
            <p:cNvSpPr/>
            <p:nvPr/>
          </p:nvSpPr>
          <p:spPr>
            <a:xfrm rot="-5400000">
              <a:off x="323850" y="4743450"/>
              <a:ext cx="11049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CARE DELIVERY</a:t>
              </a:r>
              <a:endParaRPr lang="en-US" sz="800" spc="80" kern="0" b="0" i="0" dirty="0">
                <a:solidFill>
                  <a:srgbClr val="FFFFFF"/>
                </a:solidFill>
                <a:latin typeface="IBM Plex Mono SemiBold"/>
                <a:ea typeface="IBM Plex Mono SemiBold"/>
                <a:cs typeface="IBM Plex Mono SemiBold"/>
              </a:endParaRPr>
            </a:p>
          </p:txBody>
        </p:sp>
      </p:grpSp>
      <p:grpSp>
        <p:nvGrpSpPr>
          <p:cNvPr id="168" name="node02"/>
          <p:cNvGrpSpPr/>
          <p:nvPr/>
        </p:nvGrpSpPr>
        <p:grpSpPr>
          <a:xfrm>
            <a:off x="723900" y="5486400"/>
            <a:ext cx="6062663" cy="190500"/>
            <a:chOff x="723900" y="5486400"/>
            <a:chExt cx="6062663" cy="190500"/>
          </a:xfrm>
        </p:grpSpPr>
        <p:sp>
          <p:nvSpPr>
            <p:cNvPr id="140" name="node02.items.slot-001.swatch"/>
            <p:cNvSpPr/>
            <p:nvPr/>
          </p:nvSpPr>
          <p:spPr>
            <a:xfrm>
              <a:off x="723900" y="5518150"/>
              <a:ext cx="228600" cy="127000"/>
            </a:xfrm>
            <a:prstGeom prst="rect">
              <a:avLst/>
            </a:prstGeom>
            <a:solidFill>
              <a:srgbClr val="E8EEF8"/>
            </a:solidFill>
            <a:ln>
              <a:noFill/>
            </a:ln>
          </p:spPr>
        </p:sp>
        <p:sp>
          <p:nvSpPr>
            <p:cNvPr id="141" name="node02.items.slot-001.text"/>
            <p:cNvSpPr/>
            <p:nvPr/>
          </p:nvSpPr>
          <p:spPr>
            <a:xfrm>
              <a:off x="1016000" y="5486400"/>
              <a:ext cx="5984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Ad hoc</a:t>
              </a:r>
              <a:endParaRPr lang="en-US" sz="1100" spc="0" kern="0" b="0" i="0" dirty="0">
                <a:solidFill>
                  <a:srgbClr val="070154"/>
                </a:solidFill>
                <a:latin typeface="IBM Plex Sans"/>
                <a:ea typeface="IBM Plex Sans"/>
                <a:cs typeface="IBM Plex Sans"/>
              </a:endParaRPr>
            </a:p>
          </p:txBody>
        </p:sp>
        <p:sp>
          <p:nvSpPr>
            <p:cNvPr id="142" name="node02.items.slot-002.swatch"/>
            <p:cNvSpPr/>
            <p:nvPr/>
          </p:nvSpPr>
          <p:spPr>
            <a:xfrm>
              <a:off x="1843088" y="5518150"/>
              <a:ext cx="228600" cy="127000"/>
            </a:xfrm>
            <a:prstGeom prst="rect">
              <a:avLst/>
            </a:prstGeom>
            <a:solidFill>
              <a:srgbClr val="B9C9F0"/>
            </a:solidFill>
            <a:ln>
              <a:noFill/>
            </a:ln>
          </p:spPr>
        </p:sp>
        <p:sp>
          <p:nvSpPr>
            <p:cNvPr id="143" name="node02.items.slot-002.text"/>
            <p:cNvSpPr/>
            <p:nvPr/>
          </p:nvSpPr>
          <p:spPr>
            <a:xfrm>
              <a:off x="2135188" y="5486400"/>
              <a:ext cx="8842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 Repeatable</a:t>
              </a:r>
              <a:endParaRPr lang="en-US" sz="1100" spc="0" kern="0" b="0" i="0" dirty="0">
                <a:solidFill>
                  <a:srgbClr val="070154"/>
                </a:solidFill>
                <a:latin typeface="IBM Plex Sans"/>
                <a:ea typeface="IBM Plex Sans"/>
                <a:cs typeface="IBM Plex Sans"/>
              </a:endParaRPr>
            </a:p>
          </p:txBody>
        </p:sp>
        <p:sp>
          <p:nvSpPr>
            <p:cNvPr id="144" name="node02.items.slot-003.swatch"/>
            <p:cNvSpPr/>
            <p:nvPr/>
          </p:nvSpPr>
          <p:spPr>
            <a:xfrm>
              <a:off x="3248025" y="5518150"/>
              <a:ext cx="228600" cy="127000"/>
            </a:xfrm>
            <a:prstGeom prst="rect">
              <a:avLst/>
            </a:prstGeom>
            <a:solidFill>
              <a:srgbClr val="7C9BFF"/>
            </a:solidFill>
            <a:ln>
              <a:noFill/>
            </a:ln>
          </p:spPr>
        </p:sp>
        <p:sp>
          <p:nvSpPr>
            <p:cNvPr id="145" name="node02.items.slot-003.text"/>
            <p:cNvSpPr/>
            <p:nvPr/>
          </p:nvSpPr>
          <p:spPr>
            <a:xfrm>
              <a:off x="3540125" y="5486400"/>
              <a:ext cx="6540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 Defined</a:t>
              </a:r>
              <a:endParaRPr lang="en-US" sz="1100" spc="0" kern="0" b="0" i="0" dirty="0">
                <a:solidFill>
                  <a:srgbClr val="070154"/>
                </a:solidFill>
                <a:latin typeface="IBM Plex Sans"/>
                <a:ea typeface="IBM Plex Sans"/>
                <a:cs typeface="IBM Plex Sans"/>
              </a:endParaRPr>
            </a:p>
          </p:txBody>
        </p:sp>
        <p:sp>
          <p:nvSpPr>
            <p:cNvPr id="146" name="node02.items.slot-004.swatch"/>
            <p:cNvSpPr/>
            <p:nvPr/>
          </p:nvSpPr>
          <p:spPr>
            <a:xfrm>
              <a:off x="4422775" y="5518150"/>
              <a:ext cx="228600" cy="127000"/>
            </a:xfrm>
            <a:prstGeom prst="rect">
              <a:avLst/>
            </a:prstGeom>
            <a:solidFill>
              <a:srgbClr val="0047FF"/>
            </a:solidFill>
            <a:ln>
              <a:noFill/>
            </a:ln>
          </p:spPr>
        </p:sp>
        <p:sp>
          <p:nvSpPr>
            <p:cNvPr id="147" name="node02.items.slot-004.text"/>
            <p:cNvSpPr/>
            <p:nvPr/>
          </p:nvSpPr>
          <p:spPr>
            <a:xfrm>
              <a:off x="4714875" y="5486400"/>
              <a:ext cx="7397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4 Managed</a:t>
              </a:r>
              <a:endParaRPr lang="en-US" sz="1100" spc="0" kern="0" b="0" i="0" dirty="0">
                <a:solidFill>
                  <a:srgbClr val="070154"/>
                </a:solidFill>
                <a:latin typeface="IBM Plex Sans"/>
                <a:ea typeface="IBM Plex Sans"/>
                <a:cs typeface="IBM Plex Sans"/>
              </a:endParaRPr>
            </a:p>
          </p:txBody>
        </p:sp>
        <p:sp>
          <p:nvSpPr>
            <p:cNvPr id="148" name="node02.items.slot-005.swatch"/>
            <p:cNvSpPr/>
            <p:nvPr/>
          </p:nvSpPr>
          <p:spPr>
            <a:xfrm>
              <a:off x="5683250" y="5518150"/>
              <a:ext cx="228600" cy="127000"/>
            </a:xfrm>
            <a:prstGeom prst="rect">
              <a:avLst/>
            </a:prstGeom>
            <a:solidFill>
              <a:srgbClr val="070154"/>
            </a:solidFill>
            <a:ln>
              <a:noFill/>
            </a:ln>
          </p:spPr>
        </p:sp>
        <p:sp>
          <p:nvSpPr>
            <p:cNvPr id="149" name="node02.items.slot-005.text"/>
            <p:cNvSpPr/>
            <p:nvPr/>
          </p:nvSpPr>
          <p:spPr>
            <a:xfrm>
              <a:off x="5975350" y="5486400"/>
              <a:ext cx="8112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Optimized</a:t>
              </a:r>
              <a:endParaRPr lang="en-US" sz="1100" spc="0" kern="0" b="0" i="0" dirty="0">
                <a:solidFill>
                  <a:srgbClr val="070154"/>
                </a:solidFill>
                <a:latin typeface="IBM Plex Sans"/>
                <a:ea typeface="IBM Plex Sans"/>
                <a:cs typeface="IBM Plex Sans"/>
              </a:endParaRPr>
            </a:p>
          </p:txBody>
        </p:sp>
      </p:grpSp>
      <p:grpSp>
        <p:nvGrpSpPr>
          <p:cNvPr id="169" name="node03"/>
          <p:cNvGrpSpPr/>
          <p:nvPr/>
        </p:nvGrpSpPr>
        <p:grpSpPr>
          <a:xfrm>
            <a:off x="8496300" y="1600200"/>
            <a:ext cx="2971800" cy="901700"/>
            <a:chOff x="8496300" y="1600200"/>
            <a:chExt cx="2971800" cy="901700"/>
          </a:xfrm>
        </p:grpSpPr>
        <p:sp>
          <p:nvSpPr>
            <p:cNvPr id="150" name="node03.source-001.bullet"/>
            <p:cNvSpPr/>
            <p:nvPr/>
          </p:nvSpPr>
          <p:spPr>
            <a:xfrm>
              <a:off x="8496300" y="1689100"/>
              <a:ext cx="38100" cy="38100"/>
            </a:xfrm>
            <a:prstGeom prst="rect">
              <a:avLst/>
            </a:prstGeom>
            <a:solidFill>
              <a:srgbClr val="070154"/>
            </a:solidFill>
            <a:ln>
              <a:noFill/>
            </a:ln>
          </p:spPr>
        </p:sp>
        <p:sp>
          <p:nvSpPr>
            <p:cNvPr id="151" name="node03.source-001.text"/>
            <p:cNvSpPr/>
            <p:nvPr/>
          </p:nvSpPr>
          <p:spPr>
            <a:xfrm>
              <a:off x="8648700" y="1600200"/>
              <a:ext cx="2819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Reference badges.</a:t>
              </a:r>
              <a:r>
                <a:rPr lang="en-US" sz="1200" spc="0" kern="0" b="0" i="0" dirty="0">
                  <a:solidFill>
                    <a:srgbClr val="50658E"/>
                  </a:solidFill>
                  <a:latin typeface="IBM Plex Sans"/>
                  <a:ea typeface="IBM Plex Sans"/>
                  <a:cs typeface="IBM Plex Sans"/>
                </a:rPr>
                <a:t xml:space="preserve"> Each row keeps its code on the slides that follow.</a:t>
              </a:r>
              <a:endParaRPr lang="en-US" sz="1200" spc="0" kern="0" b="0" i="0" dirty="0">
                <a:solidFill>
                  <a:srgbClr val="070154"/>
                </a:solidFill>
                <a:latin typeface="IBM Plex Sans"/>
                <a:ea typeface="IBM Plex Sans"/>
                <a:cs typeface="IBM Plex Sans"/>
              </a:endParaRPr>
            </a:p>
          </p:txBody>
        </p:sp>
        <p:sp>
          <p:nvSpPr>
            <p:cNvPr id="152" name="node03.source-002.bullet"/>
            <p:cNvSpPr/>
            <p:nvPr/>
          </p:nvSpPr>
          <p:spPr>
            <a:xfrm>
              <a:off x="8496300" y="2159000"/>
              <a:ext cx="38100" cy="38100"/>
            </a:xfrm>
            <a:prstGeom prst="rect">
              <a:avLst/>
            </a:prstGeom>
            <a:solidFill>
              <a:srgbClr val="070154"/>
            </a:solidFill>
            <a:ln>
              <a:noFill/>
            </a:ln>
          </p:spPr>
        </p:sp>
        <p:sp>
          <p:nvSpPr>
            <p:cNvPr id="153" name="node03.source-002.text"/>
            <p:cNvSpPr/>
            <p:nvPr/>
          </p:nvSpPr>
          <p:spPr>
            <a:xfrm>
              <a:off x="8648700" y="2070100"/>
              <a:ext cx="2819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Overall.</a:t>
              </a:r>
              <a:r>
                <a:rPr lang="en-US" sz="1200" spc="0" kern="0" b="0" i="0" dirty="0">
                  <a:solidFill>
                    <a:srgbClr val="50658E"/>
                  </a:solidFill>
                  <a:latin typeface="IBM Plex Sans"/>
                  <a:ea typeface="IBM Plex Sans"/>
                  <a:cs typeface="IBM Plex Sans"/>
                </a:rPr>
                <a:t xml:space="preserve"> The rounded mean of five dimensions.</a:t>
              </a:r>
              <a:endParaRPr lang="en-US" sz="1200" spc="0" kern="0" b="0" i="0" dirty="0">
                <a:solidFill>
                  <a:srgbClr val="070154"/>
                </a:solidFill>
                <a:latin typeface="IBM Plex Sans"/>
                <a:ea typeface="IBM Plex Sans"/>
                <a:cs typeface="IBM Plex Sans"/>
              </a:endParaRPr>
            </a:p>
          </p:txBody>
        </p:sp>
      </p:grpSp>
      <p:grpSp>
        <p:nvGrpSpPr>
          <p:cNvPr id="170" name="node04"/>
          <p:cNvGrpSpPr/>
          <p:nvPr/>
        </p:nvGrpSpPr>
        <p:grpSpPr>
          <a:xfrm>
            <a:off x="8496300" y="2971800"/>
            <a:ext cx="2971800" cy="2514600"/>
            <a:chOff x="8496300" y="2971800"/>
            <a:chExt cx="2971800" cy="2514600"/>
          </a:xfrm>
        </p:grpSpPr>
        <p:sp>
          <p:nvSpPr>
            <p:cNvPr id="154" name="node04.surface"/>
            <p:cNvSpPr/>
            <p:nvPr/>
          </p:nvSpPr>
          <p:spPr>
            <a:xfrm>
              <a:off x="8496300" y="2971800"/>
              <a:ext cx="2971800" cy="2514600"/>
            </a:xfrm>
            <a:prstGeom prst="rect">
              <a:avLst/>
            </a:prstGeom>
            <a:solidFill>
              <a:srgbClr val="E8EEF8"/>
            </a:solidFill>
            <a:ln>
              <a:noFill/>
            </a:ln>
          </p:spPr>
        </p:sp>
      </p:grpSp>
      <p:grpSp>
        <p:nvGrpSpPr>
          <p:cNvPr id="171" name="node05"/>
          <p:cNvGrpSpPr/>
          <p:nvPr/>
        </p:nvGrpSpPr>
        <p:grpSpPr>
          <a:xfrm>
            <a:off x="8724900" y="3200400"/>
            <a:ext cx="2514600" cy="139700"/>
            <a:chOff x="8724900" y="3200400"/>
            <a:chExt cx="2514600" cy="139700"/>
          </a:xfrm>
        </p:grpSpPr>
        <p:sp>
          <p:nvSpPr>
            <p:cNvPr id="155" name="node05.text"/>
            <p:cNvSpPr/>
            <p:nvPr/>
          </p:nvSpPr>
          <p:spPr>
            <a:xfrm>
              <a:off x="8724900" y="32004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NEXT TWO SLIDES</a:t>
              </a:r>
              <a:endParaRPr lang="en-US" sz="800" spc="48" kern="0" b="0" i="0" dirty="0">
                <a:solidFill>
                  <a:srgbClr val="070154"/>
                </a:solidFill>
                <a:latin typeface="IBM Plex Mono Medium"/>
                <a:ea typeface="IBM Plex Mono Medium"/>
                <a:cs typeface="IBM Plex Mono Medium"/>
              </a:endParaRPr>
            </a:p>
          </p:txBody>
        </p:sp>
      </p:grpSp>
      <p:grpSp>
        <p:nvGrpSpPr>
          <p:cNvPr id="172" name="node06"/>
          <p:cNvGrpSpPr/>
          <p:nvPr/>
        </p:nvGrpSpPr>
        <p:grpSpPr>
          <a:xfrm>
            <a:off x="8724900" y="3454400"/>
            <a:ext cx="2514600" cy="215900"/>
            <a:chOff x="8724900" y="3454400"/>
            <a:chExt cx="2514600" cy="215900"/>
          </a:xfrm>
        </p:grpSpPr>
        <p:sp>
          <p:nvSpPr>
            <p:cNvPr id="156" name="node06.text"/>
            <p:cNvSpPr/>
            <p:nvPr/>
          </p:nvSpPr>
          <p:spPr>
            <a:xfrm>
              <a:off x="8724900" y="34544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Detailed notes follow</a:t>
              </a:r>
              <a:endParaRPr lang="en-US" sz="1200" spc="0" kern="0" b="0" i="0" dirty="0">
                <a:solidFill>
                  <a:srgbClr val="070154"/>
                </a:solidFill>
                <a:latin typeface="IBM Plex Sans"/>
                <a:ea typeface="IBM Plex Sans"/>
                <a:cs typeface="IBM Plex Sans"/>
              </a:endParaRPr>
            </a:p>
          </p:txBody>
        </p:sp>
      </p:grpSp>
      <p:grpSp>
        <p:nvGrpSpPr>
          <p:cNvPr id="173" name="node07"/>
          <p:cNvGrpSpPr/>
          <p:nvPr/>
        </p:nvGrpSpPr>
        <p:grpSpPr>
          <a:xfrm>
            <a:off x="8724900" y="3721100"/>
            <a:ext cx="2514600" cy="215900"/>
            <a:chOff x="8724900" y="3721100"/>
            <a:chExt cx="2514600" cy="215900"/>
          </a:xfrm>
        </p:grpSpPr>
        <p:sp>
          <p:nvSpPr>
            <p:cNvPr id="157" name="node07.text"/>
            <p:cNvSpPr/>
            <p:nvPr/>
          </p:nvSpPr>
          <p:spPr>
            <a:xfrm>
              <a:off x="8724900" y="37211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for A4–A6</a:t>
              </a:r>
              <a:endParaRPr lang="en-US" sz="1200" spc="0" kern="0" b="0" i="0" dirty="0">
                <a:solidFill>
                  <a:srgbClr val="070154"/>
                </a:solidFill>
                <a:latin typeface="IBM Plex Sans"/>
                <a:ea typeface="IBM Plex Sans"/>
                <a:cs typeface="IBM Plex Sans"/>
              </a:endParaRPr>
            </a:p>
          </p:txBody>
        </p:sp>
      </p:grpSp>
      <p:grpSp>
        <p:nvGrpSpPr>
          <p:cNvPr id="174" name="node08"/>
          <p:cNvGrpSpPr/>
          <p:nvPr/>
        </p:nvGrpSpPr>
        <p:grpSpPr>
          <a:xfrm>
            <a:off x="8724900" y="4114800"/>
            <a:ext cx="457200" cy="304800"/>
            <a:chOff x="8724900" y="4114800"/>
            <a:chExt cx="457200" cy="304800"/>
          </a:xfrm>
        </p:grpSpPr>
        <p:sp>
          <p:nvSpPr>
            <p:cNvPr id="158" name="node08.surface"/>
            <p:cNvSpPr/>
            <p:nvPr/>
          </p:nvSpPr>
          <p:spPr>
            <a:xfrm>
              <a:off x="8724900" y="4114800"/>
              <a:ext cx="457200" cy="304800"/>
            </a:xfrm>
            <a:prstGeom prst="rect">
              <a:avLst/>
            </a:prstGeom>
            <a:solidFill>
              <a:srgbClr val="05013F"/>
            </a:solidFill>
            <a:ln>
              <a:noFill/>
            </a:ln>
          </p:spPr>
        </p:sp>
        <p:sp>
          <p:nvSpPr>
            <p:cNvPr id="159" name="node08.text"/>
            <p:cNvSpPr/>
            <p:nvPr/>
          </p:nvSpPr>
          <p:spPr>
            <a:xfrm>
              <a:off x="8801100" y="41973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A4</a:t>
              </a:r>
              <a:endParaRPr lang="en-US" sz="800" spc="48" kern="0" b="0" i="0" dirty="0">
                <a:solidFill>
                  <a:srgbClr val="FFFFFF"/>
                </a:solidFill>
                <a:latin typeface="IBM Plex Mono Medium"/>
                <a:ea typeface="IBM Plex Mono Medium"/>
                <a:cs typeface="IBM Plex Mono Medium"/>
              </a:endParaRPr>
            </a:p>
          </p:txBody>
        </p:sp>
      </p:grpSp>
      <p:grpSp>
        <p:nvGrpSpPr>
          <p:cNvPr id="175" name="node09"/>
          <p:cNvGrpSpPr/>
          <p:nvPr/>
        </p:nvGrpSpPr>
        <p:grpSpPr>
          <a:xfrm>
            <a:off x="9309100" y="4140200"/>
            <a:ext cx="1930400" cy="190500"/>
            <a:chOff x="9309100" y="4140200"/>
            <a:chExt cx="1930400" cy="190500"/>
          </a:xfrm>
        </p:grpSpPr>
        <p:sp>
          <p:nvSpPr>
            <p:cNvPr id="160" name="node09.text"/>
            <p:cNvSpPr/>
            <p:nvPr/>
          </p:nvSpPr>
          <p:spPr>
            <a:xfrm>
              <a:off x="9309100" y="4140200"/>
              <a:ext cx="1930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Revenue cycle</a:t>
              </a:r>
              <a:endParaRPr lang="en-US" sz="1100" spc="0" kern="0" b="0" i="0" dirty="0">
                <a:solidFill>
                  <a:srgbClr val="070154"/>
                </a:solidFill>
                <a:latin typeface="IBM Plex Sans"/>
                <a:ea typeface="IBM Plex Sans"/>
                <a:cs typeface="IBM Plex Sans"/>
              </a:endParaRPr>
            </a:p>
          </p:txBody>
        </p:sp>
      </p:grpSp>
      <p:grpSp>
        <p:nvGrpSpPr>
          <p:cNvPr id="176" name="node10"/>
          <p:cNvGrpSpPr/>
          <p:nvPr/>
        </p:nvGrpSpPr>
        <p:grpSpPr>
          <a:xfrm>
            <a:off x="8724900" y="4572000"/>
            <a:ext cx="457200" cy="304800"/>
            <a:chOff x="8724900" y="4572000"/>
            <a:chExt cx="457200" cy="304800"/>
          </a:xfrm>
        </p:grpSpPr>
        <p:sp>
          <p:nvSpPr>
            <p:cNvPr id="161" name="node10.surface"/>
            <p:cNvSpPr/>
            <p:nvPr/>
          </p:nvSpPr>
          <p:spPr>
            <a:xfrm>
              <a:off x="8724900" y="4572000"/>
              <a:ext cx="457200" cy="304800"/>
            </a:xfrm>
            <a:prstGeom prst="rect">
              <a:avLst/>
            </a:prstGeom>
            <a:solidFill>
              <a:srgbClr val="05013F"/>
            </a:solidFill>
            <a:ln>
              <a:noFill/>
            </a:ln>
          </p:spPr>
        </p:sp>
        <p:sp>
          <p:nvSpPr>
            <p:cNvPr id="162" name="node10.text"/>
            <p:cNvSpPr/>
            <p:nvPr/>
          </p:nvSpPr>
          <p:spPr>
            <a:xfrm>
              <a:off x="8801100" y="46545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A5</a:t>
              </a:r>
              <a:endParaRPr lang="en-US" sz="800" spc="48" kern="0" b="0" i="0" dirty="0">
                <a:solidFill>
                  <a:srgbClr val="FFFFFF"/>
                </a:solidFill>
                <a:latin typeface="IBM Plex Mono Medium"/>
                <a:ea typeface="IBM Plex Mono Medium"/>
                <a:cs typeface="IBM Plex Mono Medium"/>
              </a:endParaRPr>
            </a:p>
          </p:txBody>
        </p:sp>
      </p:grpSp>
      <p:grpSp>
        <p:nvGrpSpPr>
          <p:cNvPr id="177" name="node11"/>
          <p:cNvGrpSpPr/>
          <p:nvPr/>
        </p:nvGrpSpPr>
        <p:grpSpPr>
          <a:xfrm>
            <a:off x="9309100" y="4597400"/>
            <a:ext cx="1930400" cy="190500"/>
            <a:chOff x="9309100" y="4597400"/>
            <a:chExt cx="1930400" cy="190500"/>
          </a:xfrm>
        </p:grpSpPr>
        <p:sp>
          <p:nvSpPr>
            <p:cNvPr id="163" name="node11.text"/>
            <p:cNvSpPr/>
            <p:nvPr/>
          </p:nvSpPr>
          <p:spPr>
            <a:xfrm>
              <a:off x="9309100" y="4597400"/>
              <a:ext cx="1930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Patient billing</a:t>
              </a:r>
              <a:endParaRPr lang="en-US" sz="1100" spc="0" kern="0" b="0" i="0" dirty="0">
                <a:solidFill>
                  <a:srgbClr val="070154"/>
                </a:solidFill>
                <a:latin typeface="IBM Plex Sans"/>
                <a:ea typeface="IBM Plex Sans"/>
                <a:cs typeface="IBM Plex Sans"/>
              </a:endParaRPr>
            </a:p>
          </p:txBody>
        </p:sp>
      </p:grpSp>
      <p:grpSp>
        <p:nvGrpSpPr>
          <p:cNvPr id="178" name="node12"/>
          <p:cNvGrpSpPr/>
          <p:nvPr/>
        </p:nvGrpSpPr>
        <p:grpSpPr>
          <a:xfrm>
            <a:off x="8724900" y="5029200"/>
            <a:ext cx="457200" cy="304800"/>
            <a:chOff x="8724900" y="5029200"/>
            <a:chExt cx="457200" cy="304800"/>
          </a:xfrm>
        </p:grpSpPr>
        <p:sp>
          <p:nvSpPr>
            <p:cNvPr id="164" name="node12.surface"/>
            <p:cNvSpPr/>
            <p:nvPr/>
          </p:nvSpPr>
          <p:spPr>
            <a:xfrm>
              <a:off x="8724900" y="5029200"/>
              <a:ext cx="457200" cy="304800"/>
            </a:xfrm>
            <a:prstGeom prst="rect">
              <a:avLst/>
            </a:prstGeom>
            <a:solidFill>
              <a:srgbClr val="05013F"/>
            </a:solidFill>
            <a:ln>
              <a:noFill/>
            </a:ln>
          </p:spPr>
        </p:sp>
        <p:sp>
          <p:nvSpPr>
            <p:cNvPr id="165" name="node12.text"/>
            <p:cNvSpPr/>
            <p:nvPr/>
          </p:nvSpPr>
          <p:spPr>
            <a:xfrm>
              <a:off x="8801100" y="51117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A6</a:t>
              </a:r>
              <a:endParaRPr lang="en-US" sz="800" spc="48" kern="0" b="0" i="0" dirty="0">
                <a:solidFill>
                  <a:srgbClr val="FFFFFF"/>
                </a:solidFill>
                <a:latin typeface="IBM Plex Mono Medium"/>
                <a:ea typeface="IBM Plex Mono Medium"/>
                <a:cs typeface="IBM Plex Mono Medium"/>
              </a:endParaRPr>
            </a:p>
          </p:txBody>
        </p:sp>
      </p:grpSp>
      <p:grpSp>
        <p:nvGrpSpPr>
          <p:cNvPr id="179" name="node13"/>
          <p:cNvGrpSpPr/>
          <p:nvPr/>
        </p:nvGrpSpPr>
        <p:grpSpPr>
          <a:xfrm>
            <a:off x="9309100" y="5054600"/>
            <a:ext cx="1930400" cy="190500"/>
            <a:chOff x="9309100" y="5054600"/>
            <a:chExt cx="1930400" cy="190500"/>
          </a:xfrm>
        </p:grpSpPr>
        <p:sp>
          <p:nvSpPr>
            <p:cNvPr id="166" name="node13.text"/>
            <p:cNvSpPr/>
            <p:nvPr/>
          </p:nvSpPr>
          <p:spPr>
            <a:xfrm>
              <a:off x="9309100" y="5054600"/>
              <a:ext cx="1930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Denials management</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ource-21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REVENUE CYCLE DETAIL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cycle and billing: process is ahead of the platform</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77</a:t>
            </a:fld>
            <a:endParaRPr lang="en-US" sz="700" spc="0" kern="0" b="0" i="0" dirty="0">
              <a:solidFill>
                <a:srgbClr val="070154"/>
              </a:solidFill>
              <a:latin typeface="IBM Plex Mono SemiBold"/>
              <a:ea typeface="IBM Plex Mono SemiBold"/>
              <a:cs typeface="IBM Plex Mono SemiBold"/>
            </a:endParaRPr>
          </a:p>
        </p:txBody>
      </p:sp>
      <p:grpSp>
        <p:nvGrpSpPr>
          <p:cNvPr id="134" name="node01"/>
          <p:cNvGrpSpPr/>
          <p:nvPr/>
        </p:nvGrpSpPr>
        <p:grpSpPr>
          <a:xfrm>
            <a:off x="723900" y="1600200"/>
            <a:ext cx="762000" cy="457200"/>
            <a:chOff x="723900" y="1600200"/>
            <a:chExt cx="762000" cy="457200"/>
          </a:xfrm>
        </p:grpSpPr>
        <p:sp>
          <p:nvSpPr>
            <p:cNvPr id="7" name="node01.surface"/>
            <p:cNvSpPr/>
            <p:nvPr/>
          </p:nvSpPr>
          <p:spPr>
            <a:xfrm>
              <a:off x="723900" y="1600200"/>
              <a:ext cx="762000" cy="457200"/>
            </a:xfrm>
            <a:prstGeom prst="rect">
              <a:avLst/>
            </a:prstGeom>
            <a:solidFill>
              <a:srgbClr val="05013F"/>
            </a:solidFill>
            <a:ln>
              <a:noFill/>
            </a:ln>
          </p:spPr>
        </p:sp>
        <p:sp>
          <p:nvSpPr>
            <p:cNvPr id="8" name="node01.text"/>
            <p:cNvSpPr/>
            <p:nvPr/>
          </p:nvSpPr>
          <p:spPr>
            <a:xfrm>
              <a:off x="876300" y="1695450"/>
              <a:ext cx="4572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A4</a:t>
              </a:r>
              <a:endParaRPr lang="en-US" sz="1600" spc="-16" kern="0" b="0" i="0" dirty="0">
                <a:solidFill>
                  <a:srgbClr val="FFFFFF"/>
                </a:solidFill>
                <a:latin typeface="IBM Plex Sans SemiBold"/>
                <a:ea typeface="IBM Plex Sans SemiBold"/>
                <a:cs typeface="IBM Plex Sans SemiBold"/>
              </a:endParaRPr>
            </a:p>
          </p:txBody>
        </p:sp>
      </p:grpSp>
      <p:grpSp>
        <p:nvGrpSpPr>
          <p:cNvPr id="135" name="node02"/>
          <p:cNvGrpSpPr/>
          <p:nvPr/>
        </p:nvGrpSpPr>
        <p:grpSpPr>
          <a:xfrm>
            <a:off x="1638300" y="1600200"/>
            <a:ext cx="6604000" cy="330200"/>
            <a:chOff x="1638300" y="1600200"/>
            <a:chExt cx="6604000" cy="330200"/>
          </a:xfrm>
        </p:grpSpPr>
        <p:sp>
          <p:nvSpPr>
            <p:cNvPr id="9" name="node02.text"/>
            <p:cNvSpPr/>
            <p:nvPr/>
          </p:nvSpPr>
          <p:spPr>
            <a:xfrm>
              <a:off x="1638300" y="1600200"/>
              <a:ext cx="66040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Revenue cycle</a:t>
              </a:r>
              <a:endParaRPr lang="en-US" sz="2100" spc="-32" kern="0" b="0" i="0" dirty="0">
                <a:solidFill>
                  <a:srgbClr val="070154"/>
                </a:solidFill>
                <a:latin typeface="IBM Plex Sans SemiBold"/>
                <a:ea typeface="IBM Plex Sans SemiBold"/>
                <a:cs typeface="IBM Plex Sans SemiBold"/>
              </a:endParaRPr>
            </a:p>
          </p:txBody>
        </p:sp>
      </p:grpSp>
      <p:grpSp>
        <p:nvGrpSpPr>
          <p:cNvPr id="136" name="node03"/>
          <p:cNvGrpSpPr/>
          <p:nvPr/>
        </p:nvGrpSpPr>
        <p:grpSpPr>
          <a:xfrm>
            <a:off x="723900" y="2286000"/>
            <a:ext cx="457200" cy="139700"/>
            <a:chOff x="723900" y="2286000"/>
            <a:chExt cx="457200" cy="139700"/>
          </a:xfrm>
        </p:grpSpPr>
        <p:sp>
          <p:nvSpPr>
            <p:cNvPr id="10" name="node03.text"/>
            <p:cNvSpPr/>
            <p:nvPr/>
          </p:nvSpPr>
          <p:spPr>
            <a:xfrm>
              <a:off x="723900" y="2286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PRO</a:t>
              </a:r>
              <a:endParaRPr lang="en-US" sz="800" spc="48" kern="0" b="0" i="0" dirty="0">
                <a:solidFill>
                  <a:srgbClr val="070154"/>
                </a:solidFill>
                <a:latin typeface="IBM Plex Mono Medium"/>
                <a:ea typeface="IBM Plex Mono Medium"/>
                <a:cs typeface="IBM Plex Mono Medium"/>
              </a:endParaRPr>
            </a:p>
          </p:txBody>
        </p:sp>
      </p:grpSp>
      <p:grpSp>
        <p:nvGrpSpPr>
          <p:cNvPr id="137" name="node04"/>
          <p:cNvGrpSpPr/>
          <p:nvPr/>
        </p:nvGrpSpPr>
        <p:grpSpPr>
          <a:xfrm>
            <a:off x="723900" y="2514600"/>
            <a:ext cx="431800" cy="381000"/>
            <a:chOff x="723900" y="2514600"/>
            <a:chExt cx="431800" cy="381000"/>
          </a:xfrm>
        </p:grpSpPr>
        <p:sp>
          <p:nvSpPr>
            <p:cNvPr id="11" name="node04.surface"/>
            <p:cNvSpPr/>
            <p:nvPr/>
          </p:nvSpPr>
          <p:spPr>
            <a:xfrm>
              <a:off x="723900" y="2514600"/>
              <a:ext cx="431800" cy="381000"/>
            </a:xfrm>
            <a:prstGeom prst="rect">
              <a:avLst/>
            </a:prstGeom>
            <a:solidFill>
              <a:srgbClr val="0047FF"/>
            </a:solidFill>
            <a:ln>
              <a:noFill/>
            </a:ln>
          </p:spPr>
        </p:sp>
        <p:sp>
          <p:nvSpPr>
            <p:cNvPr id="12" name="node04.text"/>
            <p:cNvSpPr/>
            <p:nvPr/>
          </p:nvSpPr>
          <p:spPr>
            <a:xfrm>
              <a:off x="795867" y="2609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4</a:t>
              </a:r>
              <a:endParaRPr lang="en-US" sz="1100" spc="0" kern="0" b="0" i="0" dirty="0">
                <a:solidFill>
                  <a:srgbClr val="FFFFFF"/>
                </a:solidFill>
                <a:latin typeface="IBM Plex Sans"/>
                <a:ea typeface="IBM Plex Sans"/>
                <a:cs typeface="IBM Plex Sans"/>
              </a:endParaRPr>
            </a:p>
          </p:txBody>
        </p:sp>
      </p:grpSp>
      <p:grpSp>
        <p:nvGrpSpPr>
          <p:cNvPr id="138" name="node05"/>
          <p:cNvGrpSpPr/>
          <p:nvPr/>
        </p:nvGrpSpPr>
        <p:grpSpPr>
          <a:xfrm>
            <a:off x="1181100" y="2286000"/>
            <a:ext cx="457200" cy="139700"/>
            <a:chOff x="1181100" y="2286000"/>
            <a:chExt cx="457200" cy="139700"/>
          </a:xfrm>
        </p:grpSpPr>
        <p:sp>
          <p:nvSpPr>
            <p:cNvPr id="13" name="node05.text"/>
            <p:cNvSpPr/>
            <p:nvPr/>
          </p:nvSpPr>
          <p:spPr>
            <a:xfrm>
              <a:off x="1181100" y="2286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TEC</a:t>
              </a:r>
              <a:endParaRPr lang="en-US" sz="800" spc="48" kern="0" b="0" i="0" dirty="0">
                <a:solidFill>
                  <a:srgbClr val="070154"/>
                </a:solidFill>
                <a:latin typeface="IBM Plex Mono Medium"/>
                <a:ea typeface="IBM Plex Mono Medium"/>
                <a:cs typeface="IBM Plex Mono Medium"/>
              </a:endParaRPr>
            </a:p>
          </p:txBody>
        </p:sp>
      </p:grpSp>
      <p:grpSp>
        <p:nvGrpSpPr>
          <p:cNvPr id="139" name="node06"/>
          <p:cNvGrpSpPr/>
          <p:nvPr/>
        </p:nvGrpSpPr>
        <p:grpSpPr>
          <a:xfrm>
            <a:off x="1181100" y="2514600"/>
            <a:ext cx="431800" cy="381000"/>
            <a:chOff x="1181100" y="2514600"/>
            <a:chExt cx="431800" cy="381000"/>
          </a:xfrm>
        </p:grpSpPr>
        <p:sp>
          <p:nvSpPr>
            <p:cNvPr id="14" name="node06.surface"/>
            <p:cNvSpPr/>
            <p:nvPr/>
          </p:nvSpPr>
          <p:spPr>
            <a:xfrm>
              <a:off x="1181100" y="2514600"/>
              <a:ext cx="431800" cy="381000"/>
            </a:xfrm>
            <a:prstGeom prst="rect">
              <a:avLst/>
            </a:prstGeom>
            <a:solidFill>
              <a:srgbClr val="070154"/>
            </a:solidFill>
            <a:ln>
              <a:noFill/>
            </a:ln>
          </p:spPr>
        </p:sp>
        <p:sp>
          <p:nvSpPr>
            <p:cNvPr id="15" name="node06.text"/>
            <p:cNvSpPr/>
            <p:nvPr/>
          </p:nvSpPr>
          <p:spPr>
            <a:xfrm>
              <a:off x="1253067" y="2609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5</a:t>
              </a:r>
              <a:endParaRPr lang="en-US" sz="1100" spc="0" kern="0" b="0" i="0" dirty="0">
                <a:solidFill>
                  <a:srgbClr val="FFFFFF"/>
                </a:solidFill>
                <a:latin typeface="IBM Plex Sans"/>
                <a:ea typeface="IBM Plex Sans"/>
                <a:cs typeface="IBM Plex Sans"/>
              </a:endParaRPr>
            </a:p>
          </p:txBody>
        </p:sp>
      </p:grpSp>
      <p:grpSp>
        <p:nvGrpSpPr>
          <p:cNvPr id="140" name="node07"/>
          <p:cNvGrpSpPr/>
          <p:nvPr/>
        </p:nvGrpSpPr>
        <p:grpSpPr>
          <a:xfrm>
            <a:off x="1638300" y="2286000"/>
            <a:ext cx="457200" cy="139700"/>
            <a:chOff x="1638300" y="2286000"/>
            <a:chExt cx="457200" cy="139700"/>
          </a:xfrm>
        </p:grpSpPr>
        <p:sp>
          <p:nvSpPr>
            <p:cNvPr id="16" name="node07.text"/>
            <p:cNvSpPr/>
            <p:nvPr/>
          </p:nvSpPr>
          <p:spPr>
            <a:xfrm>
              <a:off x="1638300" y="2286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DAT</a:t>
              </a:r>
              <a:endParaRPr lang="en-US" sz="800" spc="48" kern="0" b="0" i="0" dirty="0">
                <a:solidFill>
                  <a:srgbClr val="070154"/>
                </a:solidFill>
                <a:latin typeface="IBM Plex Mono Medium"/>
                <a:ea typeface="IBM Plex Mono Medium"/>
                <a:cs typeface="IBM Plex Mono Medium"/>
              </a:endParaRPr>
            </a:p>
          </p:txBody>
        </p:sp>
      </p:grpSp>
      <p:grpSp>
        <p:nvGrpSpPr>
          <p:cNvPr id="141" name="node08"/>
          <p:cNvGrpSpPr/>
          <p:nvPr/>
        </p:nvGrpSpPr>
        <p:grpSpPr>
          <a:xfrm>
            <a:off x="1638300" y="2514600"/>
            <a:ext cx="431800" cy="381000"/>
            <a:chOff x="1638300" y="2514600"/>
            <a:chExt cx="431800" cy="381000"/>
          </a:xfrm>
        </p:grpSpPr>
        <p:sp>
          <p:nvSpPr>
            <p:cNvPr id="17" name="node08.surface"/>
            <p:cNvSpPr/>
            <p:nvPr/>
          </p:nvSpPr>
          <p:spPr>
            <a:xfrm>
              <a:off x="1638300" y="2514600"/>
              <a:ext cx="431800" cy="381000"/>
            </a:xfrm>
            <a:prstGeom prst="rect">
              <a:avLst/>
            </a:prstGeom>
            <a:solidFill>
              <a:srgbClr val="7C9BFF"/>
            </a:solidFill>
            <a:ln>
              <a:noFill/>
            </a:ln>
          </p:spPr>
        </p:sp>
        <p:sp>
          <p:nvSpPr>
            <p:cNvPr id="18" name="node08.text"/>
            <p:cNvSpPr/>
            <p:nvPr/>
          </p:nvSpPr>
          <p:spPr>
            <a:xfrm>
              <a:off x="1710267" y="2609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142" name="node09"/>
          <p:cNvGrpSpPr/>
          <p:nvPr/>
        </p:nvGrpSpPr>
        <p:grpSpPr>
          <a:xfrm>
            <a:off x="2095500" y="2286000"/>
            <a:ext cx="457200" cy="139700"/>
            <a:chOff x="2095500" y="2286000"/>
            <a:chExt cx="457200" cy="139700"/>
          </a:xfrm>
        </p:grpSpPr>
        <p:sp>
          <p:nvSpPr>
            <p:cNvPr id="19" name="node09.text"/>
            <p:cNvSpPr/>
            <p:nvPr/>
          </p:nvSpPr>
          <p:spPr>
            <a:xfrm>
              <a:off x="2095500" y="2286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PPL</a:t>
              </a:r>
              <a:endParaRPr lang="en-US" sz="800" spc="48" kern="0" b="0" i="0" dirty="0">
                <a:solidFill>
                  <a:srgbClr val="070154"/>
                </a:solidFill>
                <a:latin typeface="IBM Plex Mono Medium"/>
                <a:ea typeface="IBM Plex Mono Medium"/>
                <a:cs typeface="IBM Plex Mono Medium"/>
              </a:endParaRPr>
            </a:p>
          </p:txBody>
        </p:sp>
      </p:grpSp>
      <p:grpSp>
        <p:nvGrpSpPr>
          <p:cNvPr id="143" name="node10"/>
          <p:cNvGrpSpPr/>
          <p:nvPr/>
        </p:nvGrpSpPr>
        <p:grpSpPr>
          <a:xfrm>
            <a:off x="2095500" y="2514600"/>
            <a:ext cx="431800" cy="381000"/>
            <a:chOff x="2095500" y="2514600"/>
            <a:chExt cx="431800" cy="381000"/>
          </a:xfrm>
        </p:grpSpPr>
        <p:sp>
          <p:nvSpPr>
            <p:cNvPr id="20" name="node10.surface"/>
            <p:cNvSpPr/>
            <p:nvPr/>
          </p:nvSpPr>
          <p:spPr>
            <a:xfrm>
              <a:off x="2095500" y="2514600"/>
              <a:ext cx="431800" cy="381000"/>
            </a:xfrm>
            <a:prstGeom prst="rect">
              <a:avLst/>
            </a:prstGeom>
            <a:solidFill>
              <a:srgbClr val="7C9BFF"/>
            </a:solidFill>
            <a:ln>
              <a:noFill/>
            </a:ln>
          </p:spPr>
        </p:sp>
        <p:sp>
          <p:nvSpPr>
            <p:cNvPr id="21" name="node10.text"/>
            <p:cNvSpPr/>
            <p:nvPr/>
          </p:nvSpPr>
          <p:spPr>
            <a:xfrm>
              <a:off x="2167467" y="2609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144" name="node11"/>
          <p:cNvGrpSpPr/>
          <p:nvPr/>
        </p:nvGrpSpPr>
        <p:grpSpPr>
          <a:xfrm>
            <a:off x="2552700" y="2286000"/>
            <a:ext cx="457200" cy="139700"/>
            <a:chOff x="2552700" y="2286000"/>
            <a:chExt cx="457200" cy="139700"/>
          </a:xfrm>
        </p:grpSpPr>
        <p:sp>
          <p:nvSpPr>
            <p:cNvPr id="22" name="node11.text"/>
            <p:cNvSpPr/>
            <p:nvPr/>
          </p:nvSpPr>
          <p:spPr>
            <a:xfrm>
              <a:off x="2552700" y="2286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GOV</a:t>
              </a:r>
              <a:endParaRPr lang="en-US" sz="800" spc="48" kern="0" b="0" i="0" dirty="0">
                <a:solidFill>
                  <a:srgbClr val="070154"/>
                </a:solidFill>
                <a:latin typeface="IBM Plex Mono Medium"/>
                <a:ea typeface="IBM Plex Mono Medium"/>
                <a:cs typeface="IBM Plex Mono Medium"/>
              </a:endParaRPr>
            </a:p>
          </p:txBody>
        </p:sp>
      </p:grpSp>
      <p:grpSp>
        <p:nvGrpSpPr>
          <p:cNvPr id="145" name="node12"/>
          <p:cNvGrpSpPr/>
          <p:nvPr/>
        </p:nvGrpSpPr>
        <p:grpSpPr>
          <a:xfrm>
            <a:off x="2552700" y="2514600"/>
            <a:ext cx="431800" cy="381000"/>
            <a:chOff x="2552700" y="2514600"/>
            <a:chExt cx="431800" cy="381000"/>
          </a:xfrm>
        </p:grpSpPr>
        <p:sp>
          <p:nvSpPr>
            <p:cNvPr id="23" name="node12.surface"/>
            <p:cNvSpPr/>
            <p:nvPr/>
          </p:nvSpPr>
          <p:spPr>
            <a:xfrm>
              <a:off x="2552700" y="2514600"/>
              <a:ext cx="431800" cy="381000"/>
            </a:xfrm>
            <a:prstGeom prst="rect">
              <a:avLst/>
            </a:prstGeom>
            <a:solidFill>
              <a:srgbClr val="0047FF"/>
            </a:solidFill>
            <a:ln>
              <a:noFill/>
            </a:ln>
          </p:spPr>
        </p:sp>
        <p:sp>
          <p:nvSpPr>
            <p:cNvPr id="24" name="node12.text"/>
            <p:cNvSpPr/>
            <p:nvPr/>
          </p:nvSpPr>
          <p:spPr>
            <a:xfrm>
              <a:off x="2624667" y="2609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4</a:t>
              </a:r>
              <a:endParaRPr lang="en-US" sz="1100" spc="0" kern="0" b="0" i="0" dirty="0">
                <a:solidFill>
                  <a:srgbClr val="FFFFFF"/>
                </a:solidFill>
                <a:latin typeface="IBM Plex Sans"/>
                <a:ea typeface="IBM Plex Sans"/>
                <a:cs typeface="IBM Plex Sans"/>
              </a:endParaRPr>
            </a:p>
          </p:txBody>
        </p:sp>
      </p:grpSp>
      <p:grpSp>
        <p:nvGrpSpPr>
          <p:cNvPr id="146" name="node13"/>
          <p:cNvGrpSpPr/>
          <p:nvPr/>
        </p:nvGrpSpPr>
        <p:grpSpPr>
          <a:xfrm>
            <a:off x="723900" y="2971800"/>
            <a:ext cx="2514600" cy="190500"/>
            <a:chOff x="723900" y="2971800"/>
            <a:chExt cx="2514600" cy="190500"/>
          </a:xfrm>
        </p:grpSpPr>
        <p:sp>
          <p:nvSpPr>
            <p:cNvPr id="25" name="node13.text"/>
            <p:cNvSpPr/>
            <p:nvPr/>
          </p:nvSpPr>
          <p:spPr>
            <a:xfrm>
              <a:off x="723900" y="29718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Overall 4 of 5</a:t>
              </a:r>
              <a:endParaRPr lang="en-US" sz="1100" spc="0" kern="0" b="0" i="0" dirty="0">
                <a:solidFill>
                  <a:srgbClr val="50658E"/>
                </a:solidFill>
                <a:latin typeface="IBM Plex Sans"/>
                <a:ea typeface="IBM Plex Sans"/>
                <a:cs typeface="IBM Plex Sans"/>
              </a:endParaRPr>
            </a:p>
          </p:txBody>
        </p:sp>
      </p:grpSp>
      <p:grpSp>
        <p:nvGrpSpPr>
          <p:cNvPr id="147" name="node14"/>
          <p:cNvGrpSpPr/>
          <p:nvPr/>
        </p:nvGrpSpPr>
        <p:grpSpPr>
          <a:xfrm>
            <a:off x="3467100" y="2286000"/>
            <a:ext cx="2895600" cy="139700"/>
            <a:chOff x="3467100" y="2286000"/>
            <a:chExt cx="2895600" cy="139700"/>
          </a:xfrm>
        </p:grpSpPr>
        <p:sp>
          <p:nvSpPr>
            <p:cNvPr id="26" name="node14.text"/>
            <p:cNvSpPr/>
            <p:nvPr/>
          </p:nvSpPr>
          <p:spPr>
            <a:xfrm>
              <a:off x="3467100" y="2286000"/>
              <a:ext cx="2895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WHAT DRIVES THE SCORE</a:t>
              </a:r>
              <a:endParaRPr lang="en-US" sz="800" spc="48" kern="0" b="0" i="0" dirty="0">
                <a:solidFill>
                  <a:srgbClr val="070154"/>
                </a:solidFill>
                <a:latin typeface="IBM Plex Mono Medium"/>
                <a:ea typeface="IBM Plex Mono Medium"/>
                <a:cs typeface="IBM Plex Mono Medium"/>
              </a:endParaRPr>
            </a:p>
          </p:txBody>
        </p:sp>
      </p:grpSp>
      <p:grpSp>
        <p:nvGrpSpPr>
          <p:cNvPr id="148" name="node15"/>
          <p:cNvGrpSpPr/>
          <p:nvPr/>
        </p:nvGrpSpPr>
        <p:grpSpPr>
          <a:xfrm>
            <a:off x="3467100" y="2590800"/>
            <a:ext cx="2895600" cy="723900"/>
            <a:chOff x="3467100" y="2590800"/>
            <a:chExt cx="2895600" cy="723900"/>
          </a:xfrm>
        </p:grpSpPr>
        <p:sp>
          <p:nvSpPr>
            <p:cNvPr id="27" name="node15.source-001.bullet"/>
            <p:cNvSpPr/>
            <p:nvPr/>
          </p:nvSpPr>
          <p:spPr>
            <a:xfrm>
              <a:off x="3467100" y="2679700"/>
              <a:ext cx="38100" cy="38100"/>
            </a:xfrm>
            <a:prstGeom prst="rect">
              <a:avLst/>
            </a:prstGeom>
            <a:solidFill>
              <a:srgbClr val="070154"/>
            </a:solidFill>
            <a:ln>
              <a:noFill/>
            </a:ln>
          </p:spPr>
        </p:sp>
        <p:sp>
          <p:nvSpPr>
            <p:cNvPr id="28" name="node15.source-001.text"/>
            <p:cNvSpPr/>
            <p:nvPr/>
          </p:nvSpPr>
          <p:spPr>
            <a:xfrm>
              <a:off x="3619500" y="25908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Rules engine at posting is mature</a:t>
              </a:r>
              <a:endParaRPr lang="en-US" sz="1200" spc="0" kern="0" b="0" i="0" dirty="0">
                <a:solidFill>
                  <a:srgbClr val="070154"/>
                </a:solidFill>
                <a:latin typeface="IBM Plex Sans"/>
                <a:ea typeface="IBM Plex Sans"/>
                <a:cs typeface="IBM Plex Sans"/>
              </a:endParaRPr>
            </a:p>
          </p:txBody>
        </p:sp>
        <p:sp>
          <p:nvSpPr>
            <p:cNvPr id="29" name="node15.source-002.bullet"/>
            <p:cNvSpPr/>
            <p:nvPr/>
          </p:nvSpPr>
          <p:spPr>
            <a:xfrm>
              <a:off x="3467100" y="2933700"/>
              <a:ext cx="38100" cy="38100"/>
            </a:xfrm>
            <a:prstGeom prst="rect">
              <a:avLst/>
            </a:prstGeom>
            <a:solidFill>
              <a:srgbClr val="070154"/>
            </a:solidFill>
            <a:ln>
              <a:noFill/>
            </a:ln>
          </p:spPr>
        </p:sp>
        <p:sp>
          <p:nvSpPr>
            <p:cNvPr id="30" name="node15.source-002.text"/>
            <p:cNvSpPr/>
            <p:nvPr/>
          </p:nvSpPr>
          <p:spPr>
            <a:xfrm>
              <a:off x="3619500" y="28448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Month-end review is still manual</a:t>
              </a:r>
              <a:endParaRPr lang="en-US" sz="1200" spc="0" kern="0" b="0" i="0" dirty="0">
                <a:solidFill>
                  <a:srgbClr val="070154"/>
                </a:solidFill>
                <a:latin typeface="IBM Plex Sans"/>
                <a:ea typeface="IBM Plex Sans"/>
                <a:cs typeface="IBM Plex Sans"/>
              </a:endParaRPr>
            </a:p>
          </p:txBody>
        </p:sp>
        <p:sp>
          <p:nvSpPr>
            <p:cNvPr id="31" name="node15.source-003.bullet"/>
            <p:cNvSpPr/>
            <p:nvPr/>
          </p:nvSpPr>
          <p:spPr>
            <a:xfrm>
              <a:off x="3467100" y="3187700"/>
              <a:ext cx="38100" cy="38100"/>
            </a:xfrm>
            <a:prstGeom prst="rect">
              <a:avLst/>
            </a:prstGeom>
            <a:solidFill>
              <a:srgbClr val="070154"/>
            </a:solidFill>
            <a:ln>
              <a:noFill/>
            </a:ln>
          </p:spPr>
        </p:sp>
        <p:sp>
          <p:nvSpPr>
            <p:cNvPr id="32" name="node15.source-003.text"/>
            <p:cNvSpPr/>
            <p:nvPr/>
          </p:nvSpPr>
          <p:spPr>
            <a:xfrm>
              <a:off x="3619500" y="30988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takes eight days, not five</a:t>
              </a:r>
              <a:endParaRPr lang="en-US" sz="1200" spc="0" kern="0" b="0" i="0" dirty="0">
                <a:solidFill>
                  <a:srgbClr val="070154"/>
                </a:solidFill>
                <a:latin typeface="IBM Plex Sans"/>
                <a:ea typeface="IBM Plex Sans"/>
                <a:cs typeface="IBM Plex Sans"/>
              </a:endParaRPr>
            </a:p>
          </p:txBody>
        </p:sp>
      </p:grpSp>
      <p:grpSp>
        <p:nvGrpSpPr>
          <p:cNvPr id="149" name="node16"/>
          <p:cNvGrpSpPr/>
          <p:nvPr/>
        </p:nvGrpSpPr>
        <p:grpSpPr>
          <a:xfrm>
            <a:off x="6591300" y="2286000"/>
            <a:ext cx="2895600" cy="139700"/>
            <a:chOff x="6591300" y="2286000"/>
            <a:chExt cx="2895600" cy="139700"/>
          </a:xfrm>
        </p:grpSpPr>
        <p:sp>
          <p:nvSpPr>
            <p:cNvPr id="33" name="node16.text"/>
            <p:cNvSpPr/>
            <p:nvPr/>
          </p:nvSpPr>
          <p:spPr>
            <a:xfrm>
              <a:off x="6591300" y="2286000"/>
              <a:ext cx="2895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WHAT WE'D DO</a:t>
              </a:r>
              <a:endParaRPr lang="en-US" sz="800" spc="48" kern="0" b="0" i="0" dirty="0">
                <a:solidFill>
                  <a:srgbClr val="070154"/>
                </a:solidFill>
                <a:latin typeface="IBM Plex Mono Medium"/>
                <a:ea typeface="IBM Plex Mono Medium"/>
                <a:cs typeface="IBM Plex Mono Medium"/>
              </a:endParaRPr>
            </a:p>
          </p:txBody>
        </p:sp>
      </p:grpSp>
      <p:grpSp>
        <p:nvGrpSpPr>
          <p:cNvPr id="150" name="node17"/>
          <p:cNvGrpSpPr/>
          <p:nvPr/>
        </p:nvGrpSpPr>
        <p:grpSpPr>
          <a:xfrm>
            <a:off x="6591300" y="2590800"/>
            <a:ext cx="2895600" cy="723900"/>
            <a:chOff x="6591300" y="2590800"/>
            <a:chExt cx="2895600" cy="723900"/>
          </a:xfrm>
        </p:grpSpPr>
        <p:sp>
          <p:nvSpPr>
            <p:cNvPr id="34" name="node17.source-001.bullet"/>
            <p:cNvSpPr/>
            <p:nvPr/>
          </p:nvSpPr>
          <p:spPr>
            <a:xfrm>
              <a:off x="6591300" y="2679700"/>
              <a:ext cx="38100" cy="38100"/>
            </a:xfrm>
            <a:prstGeom prst="rect">
              <a:avLst/>
            </a:prstGeom>
            <a:solidFill>
              <a:srgbClr val="070154"/>
            </a:solidFill>
            <a:ln>
              <a:noFill/>
            </a:ln>
          </p:spPr>
        </p:sp>
        <p:sp>
          <p:nvSpPr>
            <p:cNvPr id="35" name="node17.source-001.text"/>
            <p:cNvSpPr/>
            <p:nvPr/>
          </p:nvSpPr>
          <p:spPr>
            <a:xfrm>
              <a:off x="6743700" y="25908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Extend rules to the remaining sites</a:t>
              </a:r>
              <a:endParaRPr lang="en-US" sz="1200" spc="0" kern="0" b="0" i="0" dirty="0">
                <a:solidFill>
                  <a:srgbClr val="070154"/>
                </a:solidFill>
                <a:latin typeface="IBM Plex Sans"/>
                <a:ea typeface="IBM Plex Sans"/>
                <a:cs typeface="IBM Plex Sans"/>
              </a:endParaRPr>
            </a:p>
          </p:txBody>
        </p:sp>
        <p:sp>
          <p:nvSpPr>
            <p:cNvPr id="36" name="node17.source-002.bullet"/>
            <p:cNvSpPr/>
            <p:nvPr/>
          </p:nvSpPr>
          <p:spPr>
            <a:xfrm>
              <a:off x="6591300" y="2933700"/>
              <a:ext cx="38100" cy="38100"/>
            </a:xfrm>
            <a:prstGeom prst="rect">
              <a:avLst/>
            </a:prstGeom>
            <a:solidFill>
              <a:srgbClr val="070154"/>
            </a:solidFill>
            <a:ln>
              <a:noFill/>
            </a:ln>
          </p:spPr>
        </p:sp>
        <p:sp>
          <p:nvSpPr>
            <p:cNvPr id="37" name="node17.source-002.text"/>
            <p:cNvSpPr/>
            <p:nvPr/>
          </p:nvSpPr>
          <p:spPr>
            <a:xfrm>
              <a:off x="6743700" y="28448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Automate the day-one review</a:t>
              </a:r>
              <a:endParaRPr lang="en-US" sz="1200" spc="0" kern="0" b="0" i="0" dirty="0">
                <a:solidFill>
                  <a:srgbClr val="070154"/>
                </a:solidFill>
                <a:latin typeface="IBM Plex Sans"/>
                <a:ea typeface="IBM Plex Sans"/>
                <a:cs typeface="IBM Plex Sans"/>
              </a:endParaRPr>
            </a:p>
          </p:txBody>
        </p:sp>
        <p:sp>
          <p:nvSpPr>
            <p:cNvPr id="38" name="node17.source-003.bullet"/>
            <p:cNvSpPr/>
            <p:nvPr/>
          </p:nvSpPr>
          <p:spPr>
            <a:xfrm>
              <a:off x="6591300" y="3187700"/>
              <a:ext cx="38100" cy="38100"/>
            </a:xfrm>
            <a:prstGeom prst="rect">
              <a:avLst/>
            </a:prstGeom>
            <a:solidFill>
              <a:srgbClr val="070154"/>
            </a:solidFill>
            <a:ln>
              <a:noFill/>
            </a:ln>
          </p:spPr>
        </p:sp>
        <p:sp>
          <p:nvSpPr>
            <p:cNvPr id="39" name="node17.source-003.text"/>
            <p:cNvSpPr/>
            <p:nvPr/>
          </p:nvSpPr>
          <p:spPr>
            <a:xfrm>
              <a:off x="6743700" y="30988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Publish a daily close status</a:t>
              </a:r>
              <a:endParaRPr lang="en-US" sz="1200" spc="0" kern="0" b="0" i="0" dirty="0">
                <a:solidFill>
                  <a:srgbClr val="070154"/>
                </a:solidFill>
                <a:latin typeface="IBM Plex Sans"/>
                <a:ea typeface="IBM Plex Sans"/>
                <a:cs typeface="IBM Plex Sans"/>
              </a:endParaRPr>
            </a:p>
          </p:txBody>
        </p:sp>
      </p:grpSp>
      <p:grpSp>
        <p:nvGrpSpPr>
          <p:cNvPr id="151" name="node18"/>
          <p:cNvGrpSpPr/>
          <p:nvPr/>
        </p:nvGrpSpPr>
        <p:grpSpPr>
          <a:xfrm>
            <a:off x="723900" y="3657600"/>
            <a:ext cx="762000" cy="457200"/>
            <a:chOff x="723900" y="3657600"/>
            <a:chExt cx="762000" cy="457200"/>
          </a:xfrm>
        </p:grpSpPr>
        <p:sp>
          <p:nvSpPr>
            <p:cNvPr id="40" name="node18.surface"/>
            <p:cNvSpPr/>
            <p:nvPr/>
          </p:nvSpPr>
          <p:spPr>
            <a:xfrm>
              <a:off x="723900" y="3657600"/>
              <a:ext cx="762000" cy="457200"/>
            </a:xfrm>
            <a:prstGeom prst="rect">
              <a:avLst/>
            </a:prstGeom>
            <a:solidFill>
              <a:srgbClr val="05013F"/>
            </a:solidFill>
            <a:ln>
              <a:noFill/>
            </a:ln>
          </p:spPr>
        </p:sp>
        <p:sp>
          <p:nvSpPr>
            <p:cNvPr id="41" name="node18.text"/>
            <p:cNvSpPr/>
            <p:nvPr/>
          </p:nvSpPr>
          <p:spPr>
            <a:xfrm>
              <a:off x="876300" y="3752850"/>
              <a:ext cx="4572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A5</a:t>
              </a:r>
              <a:endParaRPr lang="en-US" sz="1600" spc="-16" kern="0" b="0" i="0" dirty="0">
                <a:solidFill>
                  <a:srgbClr val="FFFFFF"/>
                </a:solidFill>
                <a:latin typeface="IBM Plex Sans SemiBold"/>
                <a:ea typeface="IBM Plex Sans SemiBold"/>
                <a:cs typeface="IBM Plex Sans SemiBold"/>
              </a:endParaRPr>
            </a:p>
          </p:txBody>
        </p:sp>
      </p:grpSp>
      <p:grpSp>
        <p:nvGrpSpPr>
          <p:cNvPr id="152" name="node19"/>
          <p:cNvGrpSpPr/>
          <p:nvPr/>
        </p:nvGrpSpPr>
        <p:grpSpPr>
          <a:xfrm>
            <a:off x="1638300" y="3657600"/>
            <a:ext cx="6604000" cy="330200"/>
            <a:chOff x="1638300" y="3657600"/>
            <a:chExt cx="6604000" cy="330200"/>
          </a:xfrm>
        </p:grpSpPr>
        <p:sp>
          <p:nvSpPr>
            <p:cNvPr id="42" name="node19.text"/>
            <p:cNvSpPr/>
            <p:nvPr/>
          </p:nvSpPr>
          <p:spPr>
            <a:xfrm>
              <a:off x="1638300" y="3657600"/>
              <a:ext cx="66040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Patient billing</a:t>
              </a:r>
              <a:endParaRPr lang="en-US" sz="2100" spc="-32" kern="0" b="0" i="0" dirty="0">
                <a:solidFill>
                  <a:srgbClr val="070154"/>
                </a:solidFill>
                <a:latin typeface="IBM Plex Sans SemiBold"/>
                <a:ea typeface="IBM Plex Sans SemiBold"/>
                <a:cs typeface="IBM Plex Sans SemiBold"/>
              </a:endParaRPr>
            </a:p>
          </p:txBody>
        </p:sp>
      </p:grpSp>
      <p:grpSp>
        <p:nvGrpSpPr>
          <p:cNvPr id="153" name="node20"/>
          <p:cNvGrpSpPr/>
          <p:nvPr/>
        </p:nvGrpSpPr>
        <p:grpSpPr>
          <a:xfrm>
            <a:off x="723900" y="4343400"/>
            <a:ext cx="457200" cy="139700"/>
            <a:chOff x="723900" y="4343400"/>
            <a:chExt cx="457200" cy="139700"/>
          </a:xfrm>
        </p:grpSpPr>
        <p:sp>
          <p:nvSpPr>
            <p:cNvPr id="43" name="node20.text"/>
            <p:cNvSpPr/>
            <p:nvPr/>
          </p:nvSpPr>
          <p:spPr>
            <a:xfrm>
              <a:off x="723900" y="43434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PRO</a:t>
              </a:r>
              <a:endParaRPr lang="en-US" sz="800" spc="48" kern="0" b="0" i="0" dirty="0">
                <a:solidFill>
                  <a:srgbClr val="070154"/>
                </a:solidFill>
                <a:latin typeface="IBM Plex Mono Medium"/>
                <a:ea typeface="IBM Plex Mono Medium"/>
                <a:cs typeface="IBM Plex Mono Medium"/>
              </a:endParaRPr>
            </a:p>
          </p:txBody>
        </p:sp>
      </p:grpSp>
      <p:grpSp>
        <p:nvGrpSpPr>
          <p:cNvPr id="154" name="node21"/>
          <p:cNvGrpSpPr/>
          <p:nvPr/>
        </p:nvGrpSpPr>
        <p:grpSpPr>
          <a:xfrm>
            <a:off x="723900" y="4572000"/>
            <a:ext cx="431800" cy="381000"/>
            <a:chOff x="723900" y="4572000"/>
            <a:chExt cx="431800" cy="381000"/>
          </a:xfrm>
        </p:grpSpPr>
        <p:sp>
          <p:nvSpPr>
            <p:cNvPr id="44" name="node21.surface"/>
            <p:cNvSpPr/>
            <p:nvPr/>
          </p:nvSpPr>
          <p:spPr>
            <a:xfrm>
              <a:off x="723900" y="4572000"/>
              <a:ext cx="431800" cy="381000"/>
            </a:xfrm>
            <a:prstGeom prst="rect">
              <a:avLst/>
            </a:prstGeom>
            <a:solidFill>
              <a:srgbClr val="7C9BFF"/>
            </a:solidFill>
            <a:ln>
              <a:noFill/>
            </a:ln>
          </p:spPr>
        </p:sp>
        <p:sp>
          <p:nvSpPr>
            <p:cNvPr id="45" name="node21.text"/>
            <p:cNvSpPr/>
            <p:nvPr/>
          </p:nvSpPr>
          <p:spPr>
            <a:xfrm>
              <a:off x="795867" y="46672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155" name="node22"/>
          <p:cNvGrpSpPr/>
          <p:nvPr/>
        </p:nvGrpSpPr>
        <p:grpSpPr>
          <a:xfrm>
            <a:off x="1181100" y="4343400"/>
            <a:ext cx="457200" cy="139700"/>
            <a:chOff x="1181100" y="4343400"/>
            <a:chExt cx="457200" cy="139700"/>
          </a:xfrm>
        </p:grpSpPr>
        <p:sp>
          <p:nvSpPr>
            <p:cNvPr id="46" name="node22.text"/>
            <p:cNvSpPr/>
            <p:nvPr/>
          </p:nvSpPr>
          <p:spPr>
            <a:xfrm>
              <a:off x="1181100" y="43434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TEC</a:t>
              </a:r>
              <a:endParaRPr lang="en-US" sz="800" spc="48" kern="0" b="0" i="0" dirty="0">
                <a:solidFill>
                  <a:srgbClr val="070154"/>
                </a:solidFill>
                <a:latin typeface="IBM Plex Mono Medium"/>
                <a:ea typeface="IBM Plex Mono Medium"/>
                <a:cs typeface="IBM Plex Mono Medium"/>
              </a:endParaRPr>
            </a:p>
          </p:txBody>
        </p:sp>
      </p:grpSp>
      <p:grpSp>
        <p:nvGrpSpPr>
          <p:cNvPr id="156" name="node23"/>
          <p:cNvGrpSpPr/>
          <p:nvPr/>
        </p:nvGrpSpPr>
        <p:grpSpPr>
          <a:xfrm>
            <a:off x="1181100" y="4572000"/>
            <a:ext cx="431800" cy="381000"/>
            <a:chOff x="1181100" y="4572000"/>
            <a:chExt cx="431800" cy="381000"/>
          </a:xfrm>
        </p:grpSpPr>
        <p:sp>
          <p:nvSpPr>
            <p:cNvPr id="47" name="node23.surface"/>
            <p:cNvSpPr/>
            <p:nvPr/>
          </p:nvSpPr>
          <p:spPr>
            <a:xfrm>
              <a:off x="1181100" y="4572000"/>
              <a:ext cx="431800" cy="381000"/>
            </a:xfrm>
            <a:prstGeom prst="rect">
              <a:avLst/>
            </a:prstGeom>
            <a:solidFill>
              <a:srgbClr val="7C9BFF"/>
            </a:solidFill>
            <a:ln>
              <a:noFill/>
            </a:ln>
          </p:spPr>
        </p:sp>
        <p:sp>
          <p:nvSpPr>
            <p:cNvPr id="48" name="node23.text"/>
            <p:cNvSpPr/>
            <p:nvPr/>
          </p:nvSpPr>
          <p:spPr>
            <a:xfrm>
              <a:off x="1253067" y="46672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157" name="node24"/>
          <p:cNvGrpSpPr/>
          <p:nvPr/>
        </p:nvGrpSpPr>
        <p:grpSpPr>
          <a:xfrm>
            <a:off x="1638300" y="4343400"/>
            <a:ext cx="457200" cy="139700"/>
            <a:chOff x="1638300" y="4343400"/>
            <a:chExt cx="457200" cy="139700"/>
          </a:xfrm>
        </p:grpSpPr>
        <p:sp>
          <p:nvSpPr>
            <p:cNvPr id="49" name="node24.text"/>
            <p:cNvSpPr/>
            <p:nvPr/>
          </p:nvSpPr>
          <p:spPr>
            <a:xfrm>
              <a:off x="1638300" y="43434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DAT</a:t>
              </a:r>
              <a:endParaRPr lang="en-US" sz="800" spc="48" kern="0" b="0" i="0" dirty="0">
                <a:solidFill>
                  <a:srgbClr val="070154"/>
                </a:solidFill>
                <a:latin typeface="IBM Plex Mono Medium"/>
                <a:ea typeface="IBM Plex Mono Medium"/>
                <a:cs typeface="IBM Plex Mono Medium"/>
              </a:endParaRPr>
            </a:p>
          </p:txBody>
        </p:sp>
      </p:grpSp>
      <p:grpSp>
        <p:nvGrpSpPr>
          <p:cNvPr id="158" name="node25"/>
          <p:cNvGrpSpPr/>
          <p:nvPr/>
        </p:nvGrpSpPr>
        <p:grpSpPr>
          <a:xfrm>
            <a:off x="1638300" y="4572000"/>
            <a:ext cx="431800" cy="381000"/>
            <a:chOff x="1638300" y="4572000"/>
            <a:chExt cx="431800" cy="381000"/>
          </a:xfrm>
        </p:grpSpPr>
        <p:sp>
          <p:nvSpPr>
            <p:cNvPr id="50" name="node25.surface"/>
            <p:cNvSpPr/>
            <p:nvPr/>
          </p:nvSpPr>
          <p:spPr>
            <a:xfrm>
              <a:off x="1638300" y="4572000"/>
              <a:ext cx="431800" cy="381000"/>
            </a:xfrm>
            <a:prstGeom prst="rect">
              <a:avLst/>
            </a:prstGeom>
            <a:solidFill>
              <a:srgbClr val="7C9BFF"/>
            </a:solidFill>
            <a:ln>
              <a:noFill/>
            </a:ln>
          </p:spPr>
        </p:sp>
        <p:sp>
          <p:nvSpPr>
            <p:cNvPr id="51" name="node25.text"/>
            <p:cNvSpPr/>
            <p:nvPr/>
          </p:nvSpPr>
          <p:spPr>
            <a:xfrm>
              <a:off x="1710267" y="46672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159" name="node26"/>
          <p:cNvGrpSpPr/>
          <p:nvPr/>
        </p:nvGrpSpPr>
        <p:grpSpPr>
          <a:xfrm>
            <a:off x="2095500" y="4343400"/>
            <a:ext cx="457200" cy="139700"/>
            <a:chOff x="2095500" y="4343400"/>
            <a:chExt cx="457200" cy="139700"/>
          </a:xfrm>
        </p:grpSpPr>
        <p:sp>
          <p:nvSpPr>
            <p:cNvPr id="52" name="node26.text"/>
            <p:cNvSpPr/>
            <p:nvPr/>
          </p:nvSpPr>
          <p:spPr>
            <a:xfrm>
              <a:off x="2095500" y="43434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PPL</a:t>
              </a:r>
              <a:endParaRPr lang="en-US" sz="800" spc="48" kern="0" b="0" i="0" dirty="0">
                <a:solidFill>
                  <a:srgbClr val="070154"/>
                </a:solidFill>
                <a:latin typeface="IBM Plex Mono Medium"/>
                <a:ea typeface="IBM Plex Mono Medium"/>
                <a:cs typeface="IBM Plex Mono Medium"/>
              </a:endParaRPr>
            </a:p>
          </p:txBody>
        </p:sp>
      </p:grpSp>
      <p:grpSp>
        <p:nvGrpSpPr>
          <p:cNvPr id="160" name="node27"/>
          <p:cNvGrpSpPr/>
          <p:nvPr/>
        </p:nvGrpSpPr>
        <p:grpSpPr>
          <a:xfrm>
            <a:off x="2095500" y="4572000"/>
            <a:ext cx="431800" cy="381000"/>
            <a:chOff x="2095500" y="4572000"/>
            <a:chExt cx="431800" cy="381000"/>
          </a:xfrm>
        </p:grpSpPr>
        <p:sp>
          <p:nvSpPr>
            <p:cNvPr id="53" name="node27.surface"/>
            <p:cNvSpPr/>
            <p:nvPr/>
          </p:nvSpPr>
          <p:spPr>
            <a:xfrm>
              <a:off x="2095500" y="4572000"/>
              <a:ext cx="431800" cy="381000"/>
            </a:xfrm>
            <a:prstGeom prst="rect">
              <a:avLst/>
            </a:prstGeom>
            <a:solidFill>
              <a:srgbClr val="B9C9F0"/>
            </a:solidFill>
            <a:ln>
              <a:noFill/>
            </a:ln>
          </p:spPr>
        </p:sp>
        <p:sp>
          <p:nvSpPr>
            <p:cNvPr id="54" name="node27.text"/>
            <p:cNvSpPr/>
            <p:nvPr/>
          </p:nvSpPr>
          <p:spPr>
            <a:xfrm>
              <a:off x="2167467" y="46672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161" name="node28"/>
          <p:cNvGrpSpPr/>
          <p:nvPr/>
        </p:nvGrpSpPr>
        <p:grpSpPr>
          <a:xfrm>
            <a:off x="2552700" y="4343400"/>
            <a:ext cx="457200" cy="139700"/>
            <a:chOff x="2552700" y="4343400"/>
            <a:chExt cx="457200" cy="139700"/>
          </a:xfrm>
        </p:grpSpPr>
        <p:sp>
          <p:nvSpPr>
            <p:cNvPr id="55" name="node28.text"/>
            <p:cNvSpPr/>
            <p:nvPr/>
          </p:nvSpPr>
          <p:spPr>
            <a:xfrm>
              <a:off x="2552700" y="43434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GOV</a:t>
              </a:r>
              <a:endParaRPr lang="en-US" sz="800" spc="48" kern="0" b="0" i="0" dirty="0">
                <a:solidFill>
                  <a:srgbClr val="070154"/>
                </a:solidFill>
                <a:latin typeface="IBM Plex Mono Medium"/>
                <a:ea typeface="IBM Plex Mono Medium"/>
                <a:cs typeface="IBM Plex Mono Medium"/>
              </a:endParaRPr>
            </a:p>
          </p:txBody>
        </p:sp>
      </p:grpSp>
      <p:grpSp>
        <p:nvGrpSpPr>
          <p:cNvPr id="162" name="node29"/>
          <p:cNvGrpSpPr/>
          <p:nvPr/>
        </p:nvGrpSpPr>
        <p:grpSpPr>
          <a:xfrm>
            <a:off x="2552700" y="4572000"/>
            <a:ext cx="431800" cy="381000"/>
            <a:chOff x="2552700" y="4572000"/>
            <a:chExt cx="431800" cy="381000"/>
          </a:xfrm>
        </p:grpSpPr>
        <p:sp>
          <p:nvSpPr>
            <p:cNvPr id="56" name="node29.surface"/>
            <p:cNvSpPr/>
            <p:nvPr/>
          </p:nvSpPr>
          <p:spPr>
            <a:xfrm>
              <a:off x="2552700" y="4572000"/>
              <a:ext cx="431800" cy="381000"/>
            </a:xfrm>
            <a:prstGeom prst="rect">
              <a:avLst/>
            </a:prstGeom>
            <a:solidFill>
              <a:srgbClr val="7C9BFF"/>
            </a:solidFill>
            <a:ln>
              <a:noFill/>
            </a:ln>
          </p:spPr>
        </p:sp>
        <p:sp>
          <p:nvSpPr>
            <p:cNvPr id="57" name="node29.text"/>
            <p:cNvSpPr/>
            <p:nvPr/>
          </p:nvSpPr>
          <p:spPr>
            <a:xfrm>
              <a:off x="2624667" y="46672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163" name="node30"/>
          <p:cNvGrpSpPr/>
          <p:nvPr/>
        </p:nvGrpSpPr>
        <p:grpSpPr>
          <a:xfrm>
            <a:off x="723900" y="5029200"/>
            <a:ext cx="2514600" cy="190500"/>
            <a:chOff x="723900" y="5029200"/>
            <a:chExt cx="2514600" cy="190500"/>
          </a:xfrm>
        </p:grpSpPr>
        <p:sp>
          <p:nvSpPr>
            <p:cNvPr id="58" name="node30.text"/>
            <p:cNvSpPr/>
            <p:nvPr/>
          </p:nvSpPr>
          <p:spPr>
            <a:xfrm>
              <a:off x="723900" y="50292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Overall 3 of 5</a:t>
              </a:r>
              <a:endParaRPr lang="en-US" sz="1100" spc="0" kern="0" b="0" i="0" dirty="0">
                <a:solidFill>
                  <a:srgbClr val="50658E"/>
                </a:solidFill>
                <a:latin typeface="IBM Plex Sans"/>
                <a:ea typeface="IBM Plex Sans"/>
                <a:cs typeface="IBM Plex Sans"/>
              </a:endParaRPr>
            </a:p>
          </p:txBody>
        </p:sp>
      </p:grpSp>
      <p:grpSp>
        <p:nvGrpSpPr>
          <p:cNvPr id="164" name="node31"/>
          <p:cNvGrpSpPr/>
          <p:nvPr/>
        </p:nvGrpSpPr>
        <p:grpSpPr>
          <a:xfrm>
            <a:off x="3467100" y="4343400"/>
            <a:ext cx="2895600" cy="139700"/>
            <a:chOff x="3467100" y="4343400"/>
            <a:chExt cx="2895600" cy="139700"/>
          </a:xfrm>
        </p:grpSpPr>
        <p:sp>
          <p:nvSpPr>
            <p:cNvPr id="59" name="node31.text"/>
            <p:cNvSpPr/>
            <p:nvPr/>
          </p:nvSpPr>
          <p:spPr>
            <a:xfrm>
              <a:off x="3467100" y="4343400"/>
              <a:ext cx="2895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WHAT DRIVES THE SCORE</a:t>
              </a:r>
              <a:endParaRPr lang="en-US" sz="800" spc="48" kern="0" b="0" i="0" dirty="0">
                <a:solidFill>
                  <a:srgbClr val="070154"/>
                </a:solidFill>
                <a:latin typeface="IBM Plex Mono Medium"/>
                <a:ea typeface="IBM Plex Mono Medium"/>
                <a:cs typeface="IBM Plex Mono Medium"/>
              </a:endParaRPr>
            </a:p>
          </p:txBody>
        </p:sp>
      </p:grpSp>
      <p:grpSp>
        <p:nvGrpSpPr>
          <p:cNvPr id="165" name="node32"/>
          <p:cNvGrpSpPr/>
          <p:nvPr/>
        </p:nvGrpSpPr>
        <p:grpSpPr>
          <a:xfrm>
            <a:off x="3467100" y="4648200"/>
            <a:ext cx="2895600" cy="723900"/>
            <a:chOff x="3467100" y="4648200"/>
            <a:chExt cx="2895600" cy="723900"/>
          </a:xfrm>
        </p:grpSpPr>
        <p:sp>
          <p:nvSpPr>
            <p:cNvPr id="60" name="node32.source-001.bullet"/>
            <p:cNvSpPr/>
            <p:nvPr/>
          </p:nvSpPr>
          <p:spPr>
            <a:xfrm>
              <a:off x="3467100" y="4737100"/>
              <a:ext cx="38100" cy="38100"/>
            </a:xfrm>
            <a:prstGeom prst="rect">
              <a:avLst/>
            </a:prstGeom>
            <a:solidFill>
              <a:srgbClr val="070154"/>
            </a:solidFill>
            <a:ln>
              <a:noFill/>
            </a:ln>
          </p:spPr>
        </p:sp>
        <p:sp>
          <p:nvSpPr>
            <p:cNvPr id="61" name="node32.source-001.text"/>
            <p:cNvSpPr/>
            <p:nvPr/>
          </p:nvSpPr>
          <p:spPr>
            <a:xfrm>
              <a:off x="3619500" y="46482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Statements are clear and on time</a:t>
              </a:r>
              <a:endParaRPr lang="en-US" sz="1200" spc="0" kern="0" b="0" i="0" dirty="0">
                <a:solidFill>
                  <a:srgbClr val="070154"/>
                </a:solidFill>
                <a:latin typeface="IBM Plex Sans"/>
                <a:ea typeface="IBM Plex Sans"/>
                <a:cs typeface="IBM Plex Sans"/>
              </a:endParaRPr>
            </a:p>
          </p:txBody>
        </p:sp>
        <p:sp>
          <p:nvSpPr>
            <p:cNvPr id="62" name="node32.source-002.bullet"/>
            <p:cNvSpPr/>
            <p:nvPr/>
          </p:nvSpPr>
          <p:spPr>
            <a:xfrm>
              <a:off x="3467100" y="4991100"/>
              <a:ext cx="38100" cy="38100"/>
            </a:xfrm>
            <a:prstGeom prst="rect">
              <a:avLst/>
            </a:prstGeom>
            <a:solidFill>
              <a:srgbClr val="070154"/>
            </a:solidFill>
            <a:ln>
              <a:noFill/>
            </a:ln>
          </p:spPr>
        </p:sp>
        <p:sp>
          <p:nvSpPr>
            <p:cNvPr id="63" name="node32.source-002.text"/>
            <p:cNvSpPr/>
            <p:nvPr/>
          </p:nvSpPr>
          <p:spPr>
            <a:xfrm>
              <a:off x="3619500" y="49022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Payment plans sit outside the platform</a:t>
              </a:r>
              <a:endParaRPr lang="en-US" sz="1200" spc="0" kern="0" b="0" i="0" dirty="0">
                <a:solidFill>
                  <a:srgbClr val="070154"/>
                </a:solidFill>
                <a:latin typeface="IBM Plex Sans"/>
                <a:ea typeface="IBM Plex Sans"/>
                <a:cs typeface="IBM Plex Sans"/>
              </a:endParaRPr>
            </a:p>
          </p:txBody>
        </p:sp>
        <p:sp>
          <p:nvSpPr>
            <p:cNvPr id="64" name="node32.source-003.bullet"/>
            <p:cNvSpPr/>
            <p:nvPr/>
          </p:nvSpPr>
          <p:spPr>
            <a:xfrm>
              <a:off x="3467100" y="5245100"/>
              <a:ext cx="38100" cy="38100"/>
            </a:xfrm>
            <a:prstGeom prst="rect">
              <a:avLst/>
            </a:prstGeom>
            <a:solidFill>
              <a:srgbClr val="070154"/>
            </a:solidFill>
            <a:ln>
              <a:noFill/>
            </a:ln>
          </p:spPr>
        </p:sp>
        <p:sp>
          <p:nvSpPr>
            <p:cNvPr id="65" name="node32.source-003.text"/>
            <p:cNvSpPr/>
            <p:nvPr/>
          </p:nvSpPr>
          <p:spPr>
            <a:xfrm>
              <a:off x="3619500" y="51562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Lockbox posting runs on a spreadsheet</a:t>
              </a:r>
              <a:endParaRPr lang="en-US" sz="1200" spc="0" kern="0" b="0" i="0" dirty="0">
                <a:solidFill>
                  <a:srgbClr val="070154"/>
                </a:solidFill>
                <a:latin typeface="IBM Plex Sans"/>
                <a:ea typeface="IBM Plex Sans"/>
                <a:cs typeface="IBM Plex Sans"/>
              </a:endParaRPr>
            </a:p>
          </p:txBody>
        </p:sp>
      </p:grpSp>
      <p:grpSp>
        <p:nvGrpSpPr>
          <p:cNvPr id="166" name="node33"/>
          <p:cNvGrpSpPr/>
          <p:nvPr/>
        </p:nvGrpSpPr>
        <p:grpSpPr>
          <a:xfrm>
            <a:off x="6591300" y="4343400"/>
            <a:ext cx="2895600" cy="139700"/>
            <a:chOff x="6591300" y="4343400"/>
            <a:chExt cx="2895600" cy="139700"/>
          </a:xfrm>
        </p:grpSpPr>
        <p:sp>
          <p:nvSpPr>
            <p:cNvPr id="66" name="node33.text"/>
            <p:cNvSpPr/>
            <p:nvPr/>
          </p:nvSpPr>
          <p:spPr>
            <a:xfrm>
              <a:off x="6591300" y="4343400"/>
              <a:ext cx="2895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WHAT WE'D DO</a:t>
              </a:r>
              <a:endParaRPr lang="en-US" sz="800" spc="48" kern="0" b="0" i="0" dirty="0">
                <a:solidFill>
                  <a:srgbClr val="070154"/>
                </a:solidFill>
                <a:latin typeface="IBM Plex Mono Medium"/>
                <a:ea typeface="IBM Plex Mono Medium"/>
                <a:cs typeface="IBM Plex Mono Medium"/>
              </a:endParaRPr>
            </a:p>
          </p:txBody>
        </p:sp>
      </p:grpSp>
      <p:grpSp>
        <p:nvGrpSpPr>
          <p:cNvPr id="167" name="node34"/>
          <p:cNvGrpSpPr/>
          <p:nvPr/>
        </p:nvGrpSpPr>
        <p:grpSpPr>
          <a:xfrm>
            <a:off x="6591300" y="4648200"/>
            <a:ext cx="2895600" cy="723900"/>
            <a:chOff x="6591300" y="4648200"/>
            <a:chExt cx="2895600" cy="723900"/>
          </a:xfrm>
        </p:grpSpPr>
        <p:sp>
          <p:nvSpPr>
            <p:cNvPr id="67" name="node34.source-001.bullet"/>
            <p:cNvSpPr/>
            <p:nvPr/>
          </p:nvSpPr>
          <p:spPr>
            <a:xfrm>
              <a:off x="6591300" y="4737100"/>
              <a:ext cx="38100" cy="38100"/>
            </a:xfrm>
            <a:prstGeom prst="rect">
              <a:avLst/>
            </a:prstGeom>
            <a:solidFill>
              <a:srgbClr val="070154"/>
            </a:solidFill>
            <a:ln>
              <a:noFill/>
            </a:ln>
          </p:spPr>
        </p:sp>
        <p:sp>
          <p:nvSpPr>
            <p:cNvPr id="68" name="node34.source-001.text"/>
            <p:cNvSpPr/>
            <p:nvPr/>
          </p:nvSpPr>
          <p:spPr>
            <a:xfrm>
              <a:off x="6743700" y="46482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Move plans into the billing system</a:t>
              </a:r>
              <a:endParaRPr lang="en-US" sz="1200" spc="0" kern="0" b="0" i="0" dirty="0">
                <a:solidFill>
                  <a:srgbClr val="070154"/>
                </a:solidFill>
                <a:latin typeface="IBM Plex Sans"/>
                <a:ea typeface="IBM Plex Sans"/>
                <a:cs typeface="IBM Plex Sans"/>
              </a:endParaRPr>
            </a:p>
          </p:txBody>
        </p:sp>
        <p:sp>
          <p:nvSpPr>
            <p:cNvPr id="69" name="node34.source-002.bullet"/>
            <p:cNvSpPr/>
            <p:nvPr/>
          </p:nvSpPr>
          <p:spPr>
            <a:xfrm>
              <a:off x="6591300" y="4991100"/>
              <a:ext cx="38100" cy="38100"/>
            </a:xfrm>
            <a:prstGeom prst="rect">
              <a:avLst/>
            </a:prstGeom>
            <a:solidFill>
              <a:srgbClr val="070154"/>
            </a:solidFill>
            <a:ln>
              <a:noFill/>
            </a:ln>
          </p:spPr>
        </p:sp>
        <p:sp>
          <p:nvSpPr>
            <p:cNvPr id="70" name="node34.source-002.text"/>
            <p:cNvSpPr/>
            <p:nvPr/>
          </p:nvSpPr>
          <p:spPr>
            <a:xfrm>
              <a:off x="6743700" y="49022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Retire the lockbox spreadsheet</a:t>
              </a:r>
              <a:endParaRPr lang="en-US" sz="1200" spc="0" kern="0" b="0" i="0" dirty="0">
                <a:solidFill>
                  <a:srgbClr val="070154"/>
                </a:solidFill>
                <a:latin typeface="IBM Plex Sans"/>
                <a:ea typeface="IBM Plex Sans"/>
                <a:cs typeface="IBM Plex Sans"/>
              </a:endParaRPr>
            </a:p>
          </p:txBody>
        </p:sp>
        <p:sp>
          <p:nvSpPr>
            <p:cNvPr id="71" name="node34.source-003.bullet"/>
            <p:cNvSpPr/>
            <p:nvPr/>
          </p:nvSpPr>
          <p:spPr>
            <a:xfrm>
              <a:off x="6591300" y="5245100"/>
              <a:ext cx="38100" cy="38100"/>
            </a:xfrm>
            <a:prstGeom prst="rect">
              <a:avLst/>
            </a:prstGeom>
            <a:solidFill>
              <a:srgbClr val="070154"/>
            </a:solidFill>
            <a:ln>
              <a:noFill/>
            </a:ln>
          </p:spPr>
        </p:sp>
        <p:sp>
          <p:nvSpPr>
            <p:cNvPr id="72" name="node34.source-003.text"/>
            <p:cNvSpPr/>
            <p:nvPr/>
          </p:nvSpPr>
          <p:spPr>
            <a:xfrm>
              <a:off x="6743700" y="51562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Add text-to-pay for balances</a:t>
              </a:r>
              <a:endParaRPr lang="en-US" sz="1200" spc="0" kern="0" b="0" i="0" dirty="0">
                <a:solidFill>
                  <a:srgbClr val="070154"/>
                </a:solidFill>
                <a:latin typeface="IBM Plex Sans"/>
                <a:ea typeface="IBM Plex Sans"/>
                <a:cs typeface="IBM Plex Sans"/>
              </a:endParaRPr>
            </a:p>
          </p:txBody>
        </p:sp>
      </p:grpSp>
      <p:grpSp>
        <p:nvGrpSpPr>
          <p:cNvPr id="168" name="node35"/>
          <p:cNvGrpSpPr/>
          <p:nvPr/>
        </p:nvGrpSpPr>
        <p:grpSpPr>
          <a:xfrm>
            <a:off x="10096500" y="1600200"/>
            <a:ext cx="1397000" cy="139700"/>
            <a:chOff x="10096500" y="1600200"/>
            <a:chExt cx="1397000" cy="139700"/>
          </a:xfrm>
        </p:grpSpPr>
        <p:sp>
          <p:nvSpPr>
            <p:cNvPr id="73" name="node35.text"/>
            <p:cNvSpPr/>
            <p:nvPr/>
          </p:nvSpPr>
          <p:spPr>
            <a:xfrm>
              <a:off x="10096500" y="1600200"/>
              <a:ext cx="1397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LOCATOR</a:t>
              </a:r>
              <a:endParaRPr lang="en-US" sz="800" spc="48" kern="0" b="0" i="0" dirty="0">
                <a:solidFill>
                  <a:srgbClr val="50658E"/>
                </a:solidFill>
                <a:latin typeface="IBM Plex Mono Medium"/>
                <a:ea typeface="IBM Plex Mono Medium"/>
                <a:cs typeface="IBM Plex Mono Medium"/>
              </a:endParaRPr>
            </a:p>
          </p:txBody>
        </p:sp>
      </p:grpSp>
      <p:grpSp>
        <p:nvGrpSpPr>
          <p:cNvPr id="169" name="node36"/>
          <p:cNvGrpSpPr/>
          <p:nvPr/>
        </p:nvGrpSpPr>
        <p:grpSpPr>
          <a:xfrm>
            <a:off x="10096500" y="1828800"/>
            <a:ext cx="203200" cy="203200"/>
            <a:chOff x="10096500" y="1828800"/>
            <a:chExt cx="203200" cy="203200"/>
          </a:xfrm>
        </p:grpSpPr>
        <p:sp>
          <p:nvSpPr>
            <p:cNvPr id="74" name="node36.surface"/>
            <p:cNvSpPr/>
            <p:nvPr/>
          </p:nvSpPr>
          <p:spPr>
            <a:xfrm>
              <a:off x="10096500" y="1828800"/>
              <a:ext cx="203200" cy="203200"/>
            </a:xfrm>
            <a:prstGeom prst="rect">
              <a:avLst/>
            </a:prstGeom>
            <a:solidFill>
              <a:srgbClr val="7C9BFF"/>
            </a:solidFill>
            <a:ln>
              <a:noFill/>
            </a:ln>
          </p:spPr>
        </p:sp>
      </p:grpSp>
      <p:grpSp>
        <p:nvGrpSpPr>
          <p:cNvPr id="170" name="node37"/>
          <p:cNvGrpSpPr/>
          <p:nvPr/>
        </p:nvGrpSpPr>
        <p:grpSpPr>
          <a:xfrm>
            <a:off x="10325100" y="1828800"/>
            <a:ext cx="203200" cy="203200"/>
            <a:chOff x="10325100" y="1828800"/>
            <a:chExt cx="203200" cy="203200"/>
          </a:xfrm>
        </p:grpSpPr>
        <p:sp>
          <p:nvSpPr>
            <p:cNvPr id="75" name="node37.surface"/>
            <p:cNvSpPr/>
            <p:nvPr/>
          </p:nvSpPr>
          <p:spPr>
            <a:xfrm>
              <a:off x="10325100" y="1828800"/>
              <a:ext cx="203200" cy="203200"/>
            </a:xfrm>
            <a:prstGeom prst="rect">
              <a:avLst/>
            </a:prstGeom>
            <a:solidFill>
              <a:srgbClr val="B9C9F0"/>
            </a:solidFill>
            <a:ln>
              <a:noFill/>
            </a:ln>
          </p:spPr>
        </p:sp>
      </p:grpSp>
      <p:grpSp>
        <p:nvGrpSpPr>
          <p:cNvPr id="171" name="node38"/>
          <p:cNvGrpSpPr/>
          <p:nvPr/>
        </p:nvGrpSpPr>
        <p:grpSpPr>
          <a:xfrm>
            <a:off x="10553700" y="1828800"/>
            <a:ext cx="203200" cy="203200"/>
            <a:chOff x="10553700" y="1828800"/>
            <a:chExt cx="203200" cy="203200"/>
          </a:xfrm>
        </p:grpSpPr>
        <p:sp>
          <p:nvSpPr>
            <p:cNvPr id="76" name="node38.surface"/>
            <p:cNvSpPr/>
            <p:nvPr/>
          </p:nvSpPr>
          <p:spPr>
            <a:xfrm>
              <a:off x="10553700" y="1828800"/>
              <a:ext cx="203200" cy="203200"/>
            </a:xfrm>
            <a:prstGeom prst="rect">
              <a:avLst/>
            </a:prstGeom>
            <a:solidFill>
              <a:srgbClr val="B9C9F0"/>
            </a:solidFill>
            <a:ln>
              <a:noFill/>
            </a:ln>
          </p:spPr>
        </p:sp>
      </p:grpSp>
      <p:grpSp>
        <p:nvGrpSpPr>
          <p:cNvPr id="172" name="node39"/>
          <p:cNvGrpSpPr/>
          <p:nvPr/>
        </p:nvGrpSpPr>
        <p:grpSpPr>
          <a:xfrm>
            <a:off x="10782300" y="1828800"/>
            <a:ext cx="203200" cy="203200"/>
            <a:chOff x="10782300" y="1828800"/>
            <a:chExt cx="203200" cy="203200"/>
          </a:xfrm>
        </p:grpSpPr>
        <p:sp>
          <p:nvSpPr>
            <p:cNvPr id="77" name="node39.surface"/>
            <p:cNvSpPr/>
            <p:nvPr/>
          </p:nvSpPr>
          <p:spPr>
            <a:xfrm>
              <a:off x="10782300" y="1828800"/>
              <a:ext cx="203200" cy="203200"/>
            </a:xfrm>
            <a:prstGeom prst="rect">
              <a:avLst/>
            </a:prstGeom>
            <a:solidFill>
              <a:srgbClr val="7C9BFF"/>
            </a:solidFill>
            <a:ln>
              <a:noFill/>
            </a:ln>
          </p:spPr>
        </p:sp>
      </p:grpSp>
      <p:grpSp>
        <p:nvGrpSpPr>
          <p:cNvPr id="173" name="node40"/>
          <p:cNvGrpSpPr/>
          <p:nvPr/>
        </p:nvGrpSpPr>
        <p:grpSpPr>
          <a:xfrm>
            <a:off x="11010900" y="1828800"/>
            <a:ext cx="203200" cy="203200"/>
            <a:chOff x="11010900" y="1828800"/>
            <a:chExt cx="203200" cy="203200"/>
          </a:xfrm>
        </p:grpSpPr>
        <p:sp>
          <p:nvSpPr>
            <p:cNvPr id="78" name="node40.surface"/>
            <p:cNvSpPr/>
            <p:nvPr/>
          </p:nvSpPr>
          <p:spPr>
            <a:xfrm>
              <a:off x="11010900" y="1828800"/>
              <a:ext cx="203200" cy="203200"/>
            </a:xfrm>
            <a:prstGeom prst="rect">
              <a:avLst/>
            </a:prstGeom>
            <a:solidFill>
              <a:srgbClr val="B9C9F0"/>
            </a:solidFill>
            <a:ln>
              <a:noFill/>
            </a:ln>
          </p:spPr>
        </p:sp>
      </p:grpSp>
      <p:grpSp>
        <p:nvGrpSpPr>
          <p:cNvPr id="174" name="node41"/>
          <p:cNvGrpSpPr/>
          <p:nvPr/>
        </p:nvGrpSpPr>
        <p:grpSpPr>
          <a:xfrm>
            <a:off x="10096500" y="2057400"/>
            <a:ext cx="203200" cy="203200"/>
            <a:chOff x="10096500" y="2057400"/>
            <a:chExt cx="203200" cy="203200"/>
          </a:xfrm>
        </p:grpSpPr>
        <p:sp>
          <p:nvSpPr>
            <p:cNvPr id="79" name="node41.surface"/>
            <p:cNvSpPr/>
            <p:nvPr/>
          </p:nvSpPr>
          <p:spPr>
            <a:xfrm>
              <a:off x="10096500" y="2057400"/>
              <a:ext cx="203200" cy="203200"/>
            </a:xfrm>
            <a:prstGeom prst="rect">
              <a:avLst/>
            </a:prstGeom>
            <a:solidFill>
              <a:srgbClr val="7C9BFF"/>
            </a:solidFill>
            <a:ln>
              <a:noFill/>
            </a:ln>
          </p:spPr>
        </p:sp>
      </p:grpSp>
      <p:grpSp>
        <p:nvGrpSpPr>
          <p:cNvPr id="175" name="node42"/>
          <p:cNvGrpSpPr/>
          <p:nvPr/>
        </p:nvGrpSpPr>
        <p:grpSpPr>
          <a:xfrm>
            <a:off x="10325100" y="2057400"/>
            <a:ext cx="203200" cy="203200"/>
            <a:chOff x="10325100" y="2057400"/>
            <a:chExt cx="203200" cy="203200"/>
          </a:xfrm>
        </p:grpSpPr>
        <p:sp>
          <p:nvSpPr>
            <p:cNvPr id="80" name="node42.surface"/>
            <p:cNvSpPr/>
            <p:nvPr/>
          </p:nvSpPr>
          <p:spPr>
            <a:xfrm>
              <a:off x="10325100" y="2057400"/>
              <a:ext cx="203200" cy="203200"/>
            </a:xfrm>
            <a:prstGeom prst="rect">
              <a:avLst/>
            </a:prstGeom>
            <a:solidFill>
              <a:srgbClr val="7C9BFF"/>
            </a:solidFill>
            <a:ln>
              <a:noFill/>
            </a:ln>
          </p:spPr>
        </p:sp>
      </p:grpSp>
      <p:grpSp>
        <p:nvGrpSpPr>
          <p:cNvPr id="176" name="node43"/>
          <p:cNvGrpSpPr/>
          <p:nvPr/>
        </p:nvGrpSpPr>
        <p:grpSpPr>
          <a:xfrm>
            <a:off x="10553700" y="2057400"/>
            <a:ext cx="203200" cy="203200"/>
            <a:chOff x="10553700" y="2057400"/>
            <a:chExt cx="203200" cy="203200"/>
          </a:xfrm>
        </p:grpSpPr>
        <p:sp>
          <p:nvSpPr>
            <p:cNvPr id="81" name="node43.surface"/>
            <p:cNvSpPr/>
            <p:nvPr/>
          </p:nvSpPr>
          <p:spPr>
            <a:xfrm>
              <a:off x="10553700" y="2057400"/>
              <a:ext cx="203200" cy="203200"/>
            </a:xfrm>
            <a:prstGeom prst="rect">
              <a:avLst/>
            </a:prstGeom>
            <a:solidFill>
              <a:srgbClr val="B9C9F0"/>
            </a:solidFill>
            <a:ln>
              <a:noFill/>
            </a:ln>
          </p:spPr>
        </p:sp>
      </p:grpSp>
      <p:grpSp>
        <p:nvGrpSpPr>
          <p:cNvPr id="177" name="node44"/>
          <p:cNvGrpSpPr/>
          <p:nvPr/>
        </p:nvGrpSpPr>
        <p:grpSpPr>
          <a:xfrm>
            <a:off x="10782300" y="2057400"/>
            <a:ext cx="203200" cy="203200"/>
            <a:chOff x="10782300" y="2057400"/>
            <a:chExt cx="203200" cy="203200"/>
          </a:xfrm>
        </p:grpSpPr>
        <p:sp>
          <p:nvSpPr>
            <p:cNvPr id="82" name="node44.surface"/>
            <p:cNvSpPr/>
            <p:nvPr/>
          </p:nvSpPr>
          <p:spPr>
            <a:xfrm>
              <a:off x="10782300" y="2057400"/>
              <a:ext cx="203200" cy="203200"/>
            </a:xfrm>
            <a:prstGeom prst="rect">
              <a:avLst/>
            </a:prstGeom>
            <a:solidFill>
              <a:srgbClr val="7C9BFF"/>
            </a:solidFill>
            <a:ln>
              <a:noFill/>
            </a:ln>
          </p:spPr>
        </p:sp>
      </p:grpSp>
      <p:grpSp>
        <p:nvGrpSpPr>
          <p:cNvPr id="178" name="node45"/>
          <p:cNvGrpSpPr/>
          <p:nvPr/>
        </p:nvGrpSpPr>
        <p:grpSpPr>
          <a:xfrm>
            <a:off x="11010900" y="2057400"/>
            <a:ext cx="203200" cy="203200"/>
            <a:chOff x="11010900" y="2057400"/>
            <a:chExt cx="203200" cy="203200"/>
          </a:xfrm>
        </p:grpSpPr>
        <p:sp>
          <p:nvSpPr>
            <p:cNvPr id="83" name="node45.surface"/>
            <p:cNvSpPr/>
            <p:nvPr/>
          </p:nvSpPr>
          <p:spPr>
            <a:xfrm>
              <a:off x="11010900" y="2057400"/>
              <a:ext cx="203200" cy="203200"/>
            </a:xfrm>
            <a:prstGeom prst="rect">
              <a:avLst/>
            </a:prstGeom>
            <a:solidFill>
              <a:srgbClr val="7C9BFF"/>
            </a:solidFill>
            <a:ln>
              <a:noFill/>
            </a:ln>
          </p:spPr>
        </p:sp>
      </p:grpSp>
      <p:grpSp>
        <p:nvGrpSpPr>
          <p:cNvPr id="179" name="node46"/>
          <p:cNvGrpSpPr/>
          <p:nvPr/>
        </p:nvGrpSpPr>
        <p:grpSpPr>
          <a:xfrm>
            <a:off x="10096500" y="2286000"/>
            <a:ext cx="203200" cy="203200"/>
            <a:chOff x="10096500" y="2286000"/>
            <a:chExt cx="203200" cy="203200"/>
          </a:xfrm>
        </p:grpSpPr>
        <p:sp>
          <p:nvSpPr>
            <p:cNvPr id="84" name="node46.surface"/>
            <p:cNvSpPr/>
            <p:nvPr/>
          </p:nvSpPr>
          <p:spPr>
            <a:xfrm>
              <a:off x="10096500" y="2286000"/>
              <a:ext cx="203200" cy="203200"/>
            </a:xfrm>
            <a:prstGeom prst="rect">
              <a:avLst/>
            </a:prstGeom>
            <a:solidFill>
              <a:srgbClr val="B9C9F0"/>
            </a:solidFill>
            <a:ln>
              <a:noFill/>
            </a:ln>
          </p:spPr>
        </p:sp>
      </p:grpSp>
      <p:grpSp>
        <p:nvGrpSpPr>
          <p:cNvPr id="180" name="node47"/>
          <p:cNvGrpSpPr/>
          <p:nvPr/>
        </p:nvGrpSpPr>
        <p:grpSpPr>
          <a:xfrm>
            <a:off x="10325100" y="2286000"/>
            <a:ext cx="203200" cy="203200"/>
            <a:chOff x="10325100" y="2286000"/>
            <a:chExt cx="203200" cy="203200"/>
          </a:xfrm>
        </p:grpSpPr>
        <p:sp>
          <p:nvSpPr>
            <p:cNvPr id="85" name="node47.surface"/>
            <p:cNvSpPr/>
            <p:nvPr/>
          </p:nvSpPr>
          <p:spPr>
            <a:xfrm>
              <a:off x="10325100" y="2286000"/>
              <a:ext cx="203200" cy="203200"/>
            </a:xfrm>
            <a:prstGeom prst="rect">
              <a:avLst/>
            </a:prstGeom>
            <a:solidFill>
              <a:srgbClr val="E8EEF8"/>
            </a:solidFill>
            <a:ln>
              <a:noFill/>
            </a:ln>
          </p:spPr>
        </p:sp>
      </p:grpSp>
      <p:grpSp>
        <p:nvGrpSpPr>
          <p:cNvPr id="181" name="node48"/>
          <p:cNvGrpSpPr/>
          <p:nvPr/>
        </p:nvGrpSpPr>
        <p:grpSpPr>
          <a:xfrm>
            <a:off x="10553700" y="2286000"/>
            <a:ext cx="203200" cy="203200"/>
            <a:chOff x="10553700" y="2286000"/>
            <a:chExt cx="203200" cy="203200"/>
          </a:xfrm>
        </p:grpSpPr>
        <p:sp>
          <p:nvSpPr>
            <p:cNvPr id="86" name="node48.surface"/>
            <p:cNvSpPr/>
            <p:nvPr/>
          </p:nvSpPr>
          <p:spPr>
            <a:xfrm>
              <a:off x="10553700" y="2286000"/>
              <a:ext cx="203200" cy="203200"/>
            </a:xfrm>
            <a:prstGeom prst="rect">
              <a:avLst/>
            </a:prstGeom>
            <a:solidFill>
              <a:srgbClr val="E8EEF8"/>
            </a:solidFill>
            <a:ln>
              <a:noFill/>
            </a:ln>
          </p:spPr>
        </p:sp>
      </p:grpSp>
      <p:grpSp>
        <p:nvGrpSpPr>
          <p:cNvPr id="182" name="node49"/>
          <p:cNvGrpSpPr/>
          <p:nvPr/>
        </p:nvGrpSpPr>
        <p:grpSpPr>
          <a:xfrm>
            <a:off x="10782300" y="2286000"/>
            <a:ext cx="203200" cy="203200"/>
            <a:chOff x="10782300" y="2286000"/>
            <a:chExt cx="203200" cy="203200"/>
          </a:xfrm>
        </p:grpSpPr>
        <p:sp>
          <p:nvSpPr>
            <p:cNvPr id="87" name="node49.surface"/>
            <p:cNvSpPr/>
            <p:nvPr/>
          </p:nvSpPr>
          <p:spPr>
            <a:xfrm>
              <a:off x="10782300" y="2286000"/>
              <a:ext cx="203200" cy="203200"/>
            </a:xfrm>
            <a:prstGeom prst="rect">
              <a:avLst/>
            </a:prstGeom>
            <a:solidFill>
              <a:srgbClr val="B9C9F0"/>
            </a:solidFill>
            <a:ln>
              <a:noFill/>
            </a:ln>
          </p:spPr>
        </p:sp>
      </p:grpSp>
      <p:grpSp>
        <p:nvGrpSpPr>
          <p:cNvPr id="183" name="node50"/>
          <p:cNvGrpSpPr/>
          <p:nvPr/>
        </p:nvGrpSpPr>
        <p:grpSpPr>
          <a:xfrm>
            <a:off x="11010900" y="2286000"/>
            <a:ext cx="203200" cy="203200"/>
            <a:chOff x="11010900" y="2286000"/>
            <a:chExt cx="203200" cy="203200"/>
          </a:xfrm>
        </p:grpSpPr>
        <p:sp>
          <p:nvSpPr>
            <p:cNvPr id="88" name="node50.surface"/>
            <p:cNvSpPr/>
            <p:nvPr/>
          </p:nvSpPr>
          <p:spPr>
            <a:xfrm>
              <a:off x="11010900" y="2286000"/>
              <a:ext cx="203200" cy="203200"/>
            </a:xfrm>
            <a:prstGeom prst="rect">
              <a:avLst/>
            </a:prstGeom>
            <a:solidFill>
              <a:srgbClr val="B9C9F0"/>
            </a:solidFill>
            <a:ln>
              <a:noFill/>
            </a:ln>
          </p:spPr>
        </p:sp>
      </p:grpSp>
      <p:grpSp>
        <p:nvGrpSpPr>
          <p:cNvPr id="184" name="node51"/>
          <p:cNvGrpSpPr/>
          <p:nvPr/>
        </p:nvGrpSpPr>
        <p:grpSpPr>
          <a:xfrm>
            <a:off x="10096500" y="2514600"/>
            <a:ext cx="203200" cy="203200"/>
            <a:chOff x="10096500" y="2514600"/>
            <a:chExt cx="203200" cy="203200"/>
          </a:xfrm>
        </p:grpSpPr>
        <p:sp>
          <p:nvSpPr>
            <p:cNvPr id="89" name="node51.surface"/>
            <p:cNvSpPr/>
            <p:nvPr/>
          </p:nvSpPr>
          <p:spPr>
            <a:xfrm>
              <a:off x="10096500" y="2514600"/>
              <a:ext cx="203200" cy="203200"/>
            </a:xfrm>
            <a:prstGeom prst="rect">
              <a:avLst/>
            </a:prstGeom>
            <a:solidFill>
              <a:srgbClr val="0047FF"/>
            </a:solidFill>
            <a:ln>
              <a:noFill/>
            </a:ln>
          </p:spPr>
        </p:sp>
      </p:grpSp>
      <p:grpSp>
        <p:nvGrpSpPr>
          <p:cNvPr id="185" name="node52"/>
          <p:cNvGrpSpPr/>
          <p:nvPr/>
        </p:nvGrpSpPr>
        <p:grpSpPr>
          <a:xfrm>
            <a:off x="10325100" y="2514600"/>
            <a:ext cx="203200" cy="203200"/>
            <a:chOff x="10325100" y="2514600"/>
            <a:chExt cx="203200" cy="203200"/>
          </a:xfrm>
        </p:grpSpPr>
        <p:sp>
          <p:nvSpPr>
            <p:cNvPr id="90" name="node52.surface"/>
            <p:cNvSpPr/>
            <p:nvPr/>
          </p:nvSpPr>
          <p:spPr>
            <a:xfrm>
              <a:off x="10325100" y="2514600"/>
              <a:ext cx="203200" cy="203200"/>
            </a:xfrm>
            <a:prstGeom prst="rect">
              <a:avLst/>
            </a:prstGeom>
            <a:solidFill>
              <a:srgbClr val="070154"/>
            </a:solidFill>
            <a:ln>
              <a:noFill/>
            </a:ln>
          </p:spPr>
        </p:sp>
      </p:grpSp>
      <p:grpSp>
        <p:nvGrpSpPr>
          <p:cNvPr id="186" name="node53"/>
          <p:cNvGrpSpPr/>
          <p:nvPr/>
        </p:nvGrpSpPr>
        <p:grpSpPr>
          <a:xfrm>
            <a:off x="10553700" y="2514600"/>
            <a:ext cx="203200" cy="203200"/>
            <a:chOff x="10553700" y="2514600"/>
            <a:chExt cx="203200" cy="203200"/>
          </a:xfrm>
        </p:grpSpPr>
        <p:sp>
          <p:nvSpPr>
            <p:cNvPr id="91" name="node53.surface"/>
            <p:cNvSpPr/>
            <p:nvPr/>
          </p:nvSpPr>
          <p:spPr>
            <a:xfrm>
              <a:off x="10553700" y="2514600"/>
              <a:ext cx="203200" cy="203200"/>
            </a:xfrm>
            <a:prstGeom prst="rect">
              <a:avLst/>
            </a:prstGeom>
            <a:solidFill>
              <a:srgbClr val="7C9BFF"/>
            </a:solidFill>
            <a:ln>
              <a:noFill/>
            </a:ln>
          </p:spPr>
        </p:sp>
      </p:grpSp>
      <p:grpSp>
        <p:nvGrpSpPr>
          <p:cNvPr id="187" name="node54"/>
          <p:cNvGrpSpPr/>
          <p:nvPr/>
        </p:nvGrpSpPr>
        <p:grpSpPr>
          <a:xfrm>
            <a:off x="10782300" y="2514600"/>
            <a:ext cx="203200" cy="203200"/>
            <a:chOff x="10782300" y="2514600"/>
            <a:chExt cx="203200" cy="203200"/>
          </a:xfrm>
        </p:grpSpPr>
        <p:sp>
          <p:nvSpPr>
            <p:cNvPr id="92" name="node54.surface"/>
            <p:cNvSpPr/>
            <p:nvPr/>
          </p:nvSpPr>
          <p:spPr>
            <a:xfrm>
              <a:off x="10782300" y="2514600"/>
              <a:ext cx="203200" cy="203200"/>
            </a:xfrm>
            <a:prstGeom prst="rect">
              <a:avLst/>
            </a:prstGeom>
            <a:solidFill>
              <a:srgbClr val="7C9BFF"/>
            </a:solidFill>
            <a:ln>
              <a:noFill/>
            </a:ln>
          </p:spPr>
        </p:sp>
      </p:grpSp>
      <p:grpSp>
        <p:nvGrpSpPr>
          <p:cNvPr id="188" name="node55"/>
          <p:cNvGrpSpPr/>
          <p:nvPr/>
        </p:nvGrpSpPr>
        <p:grpSpPr>
          <a:xfrm>
            <a:off x="11010900" y="2514600"/>
            <a:ext cx="203200" cy="203200"/>
            <a:chOff x="11010900" y="2514600"/>
            <a:chExt cx="203200" cy="203200"/>
          </a:xfrm>
        </p:grpSpPr>
        <p:sp>
          <p:nvSpPr>
            <p:cNvPr id="93" name="node55.surface"/>
            <p:cNvSpPr/>
            <p:nvPr/>
          </p:nvSpPr>
          <p:spPr>
            <a:xfrm>
              <a:off x="11010900" y="2514600"/>
              <a:ext cx="203200" cy="203200"/>
            </a:xfrm>
            <a:prstGeom prst="rect">
              <a:avLst/>
            </a:prstGeom>
            <a:solidFill>
              <a:srgbClr val="0047FF"/>
            </a:solidFill>
            <a:ln>
              <a:noFill/>
            </a:ln>
          </p:spPr>
        </p:sp>
      </p:grpSp>
      <p:grpSp>
        <p:nvGrpSpPr>
          <p:cNvPr id="189" name="node56"/>
          <p:cNvGrpSpPr/>
          <p:nvPr/>
        </p:nvGrpSpPr>
        <p:grpSpPr>
          <a:xfrm>
            <a:off x="10096500" y="2743200"/>
            <a:ext cx="203200" cy="203200"/>
            <a:chOff x="10096500" y="2743200"/>
            <a:chExt cx="203200" cy="203200"/>
          </a:xfrm>
        </p:grpSpPr>
        <p:sp>
          <p:nvSpPr>
            <p:cNvPr id="94" name="node56.surface"/>
            <p:cNvSpPr/>
            <p:nvPr/>
          </p:nvSpPr>
          <p:spPr>
            <a:xfrm>
              <a:off x="10096500" y="2743200"/>
              <a:ext cx="203200" cy="203200"/>
            </a:xfrm>
            <a:prstGeom prst="rect">
              <a:avLst/>
            </a:prstGeom>
            <a:solidFill>
              <a:srgbClr val="7C9BFF"/>
            </a:solidFill>
            <a:ln>
              <a:noFill/>
            </a:ln>
          </p:spPr>
        </p:sp>
      </p:grpSp>
      <p:grpSp>
        <p:nvGrpSpPr>
          <p:cNvPr id="190" name="node57"/>
          <p:cNvGrpSpPr/>
          <p:nvPr/>
        </p:nvGrpSpPr>
        <p:grpSpPr>
          <a:xfrm>
            <a:off x="10325100" y="2743200"/>
            <a:ext cx="203200" cy="203200"/>
            <a:chOff x="10325100" y="2743200"/>
            <a:chExt cx="203200" cy="203200"/>
          </a:xfrm>
        </p:grpSpPr>
        <p:sp>
          <p:nvSpPr>
            <p:cNvPr id="95" name="node57.surface"/>
            <p:cNvSpPr/>
            <p:nvPr/>
          </p:nvSpPr>
          <p:spPr>
            <a:xfrm>
              <a:off x="10325100" y="2743200"/>
              <a:ext cx="203200" cy="203200"/>
            </a:xfrm>
            <a:prstGeom prst="rect">
              <a:avLst/>
            </a:prstGeom>
            <a:solidFill>
              <a:srgbClr val="7C9BFF"/>
            </a:solidFill>
            <a:ln>
              <a:noFill/>
            </a:ln>
          </p:spPr>
        </p:sp>
      </p:grpSp>
      <p:grpSp>
        <p:nvGrpSpPr>
          <p:cNvPr id="191" name="node58"/>
          <p:cNvGrpSpPr/>
          <p:nvPr/>
        </p:nvGrpSpPr>
        <p:grpSpPr>
          <a:xfrm>
            <a:off x="10553700" y="2743200"/>
            <a:ext cx="203200" cy="203200"/>
            <a:chOff x="10553700" y="2743200"/>
            <a:chExt cx="203200" cy="203200"/>
          </a:xfrm>
        </p:grpSpPr>
        <p:sp>
          <p:nvSpPr>
            <p:cNvPr id="96" name="node58.surface"/>
            <p:cNvSpPr/>
            <p:nvPr/>
          </p:nvSpPr>
          <p:spPr>
            <a:xfrm>
              <a:off x="10553700" y="2743200"/>
              <a:ext cx="203200" cy="203200"/>
            </a:xfrm>
            <a:prstGeom prst="rect">
              <a:avLst/>
            </a:prstGeom>
            <a:solidFill>
              <a:srgbClr val="7C9BFF"/>
            </a:solidFill>
            <a:ln>
              <a:noFill/>
            </a:ln>
          </p:spPr>
        </p:sp>
      </p:grpSp>
      <p:grpSp>
        <p:nvGrpSpPr>
          <p:cNvPr id="192" name="node59"/>
          <p:cNvGrpSpPr/>
          <p:nvPr/>
        </p:nvGrpSpPr>
        <p:grpSpPr>
          <a:xfrm>
            <a:off x="10782300" y="2743200"/>
            <a:ext cx="203200" cy="203200"/>
            <a:chOff x="10782300" y="2743200"/>
            <a:chExt cx="203200" cy="203200"/>
          </a:xfrm>
        </p:grpSpPr>
        <p:sp>
          <p:nvSpPr>
            <p:cNvPr id="97" name="node59.surface"/>
            <p:cNvSpPr/>
            <p:nvPr/>
          </p:nvSpPr>
          <p:spPr>
            <a:xfrm>
              <a:off x="10782300" y="2743200"/>
              <a:ext cx="203200" cy="203200"/>
            </a:xfrm>
            <a:prstGeom prst="rect">
              <a:avLst/>
            </a:prstGeom>
            <a:solidFill>
              <a:srgbClr val="B9C9F0"/>
            </a:solidFill>
            <a:ln>
              <a:noFill/>
            </a:ln>
          </p:spPr>
        </p:sp>
      </p:grpSp>
      <p:grpSp>
        <p:nvGrpSpPr>
          <p:cNvPr id="193" name="node60"/>
          <p:cNvGrpSpPr/>
          <p:nvPr/>
        </p:nvGrpSpPr>
        <p:grpSpPr>
          <a:xfrm>
            <a:off x="11010900" y="2743200"/>
            <a:ext cx="203200" cy="203200"/>
            <a:chOff x="11010900" y="2743200"/>
            <a:chExt cx="203200" cy="203200"/>
          </a:xfrm>
        </p:grpSpPr>
        <p:sp>
          <p:nvSpPr>
            <p:cNvPr id="98" name="node60.surface"/>
            <p:cNvSpPr/>
            <p:nvPr/>
          </p:nvSpPr>
          <p:spPr>
            <a:xfrm>
              <a:off x="11010900" y="2743200"/>
              <a:ext cx="203200" cy="203200"/>
            </a:xfrm>
            <a:prstGeom prst="rect">
              <a:avLst/>
            </a:prstGeom>
            <a:solidFill>
              <a:srgbClr val="7C9BFF"/>
            </a:solidFill>
            <a:ln>
              <a:noFill/>
            </a:ln>
          </p:spPr>
        </p:sp>
      </p:grpSp>
      <p:grpSp>
        <p:nvGrpSpPr>
          <p:cNvPr id="194" name="node61"/>
          <p:cNvGrpSpPr/>
          <p:nvPr/>
        </p:nvGrpSpPr>
        <p:grpSpPr>
          <a:xfrm>
            <a:off x="10096500" y="2971800"/>
            <a:ext cx="203200" cy="203200"/>
            <a:chOff x="10096500" y="2971800"/>
            <a:chExt cx="203200" cy="203200"/>
          </a:xfrm>
        </p:grpSpPr>
        <p:sp>
          <p:nvSpPr>
            <p:cNvPr id="99" name="node61.surface"/>
            <p:cNvSpPr/>
            <p:nvPr/>
          </p:nvSpPr>
          <p:spPr>
            <a:xfrm>
              <a:off x="10096500" y="2971800"/>
              <a:ext cx="203200" cy="203200"/>
            </a:xfrm>
            <a:prstGeom prst="rect">
              <a:avLst/>
            </a:prstGeom>
            <a:solidFill>
              <a:srgbClr val="B9C9F0"/>
            </a:solidFill>
            <a:ln>
              <a:noFill/>
            </a:ln>
          </p:spPr>
        </p:sp>
      </p:grpSp>
      <p:grpSp>
        <p:nvGrpSpPr>
          <p:cNvPr id="195" name="node62"/>
          <p:cNvGrpSpPr/>
          <p:nvPr/>
        </p:nvGrpSpPr>
        <p:grpSpPr>
          <a:xfrm>
            <a:off x="10325100" y="2971800"/>
            <a:ext cx="203200" cy="203200"/>
            <a:chOff x="10325100" y="2971800"/>
            <a:chExt cx="203200" cy="203200"/>
          </a:xfrm>
        </p:grpSpPr>
        <p:sp>
          <p:nvSpPr>
            <p:cNvPr id="100" name="node62.surface"/>
            <p:cNvSpPr/>
            <p:nvPr/>
          </p:nvSpPr>
          <p:spPr>
            <a:xfrm>
              <a:off x="10325100" y="2971800"/>
              <a:ext cx="203200" cy="203200"/>
            </a:xfrm>
            <a:prstGeom prst="rect">
              <a:avLst/>
            </a:prstGeom>
            <a:solidFill>
              <a:srgbClr val="B9C9F0"/>
            </a:solidFill>
            <a:ln>
              <a:noFill/>
            </a:ln>
          </p:spPr>
        </p:sp>
      </p:grpSp>
      <p:grpSp>
        <p:nvGrpSpPr>
          <p:cNvPr id="196" name="node63"/>
          <p:cNvGrpSpPr/>
          <p:nvPr/>
        </p:nvGrpSpPr>
        <p:grpSpPr>
          <a:xfrm>
            <a:off x="10553700" y="2971800"/>
            <a:ext cx="203200" cy="203200"/>
            <a:chOff x="10553700" y="2971800"/>
            <a:chExt cx="203200" cy="203200"/>
          </a:xfrm>
        </p:grpSpPr>
        <p:sp>
          <p:nvSpPr>
            <p:cNvPr id="101" name="node63.surface"/>
            <p:cNvSpPr/>
            <p:nvPr/>
          </p:nvSpPr>
          <p:spPr>
            <a:xfrm>
              <a:off x="10553700" y="2971800"/>
              <a:ext cx="203200" cy="203200"/>
            </a:xfrm>
            <a:prstGeom prst="rect">
              <a:avLst/>
            </a:prstGeom>
            <a:solidFill>
              <a:srgbClr val="B9C9F0"/>
            </a:solidFill>
            <a:ln>
              <a:noFill/>
            </a:ln>
          </p:spPr>
        </p:sp>
      </p:grpSp>
      <p:grpSp>
        <p:nvGrpSpPr>
          <p:cNvPr id="197" name="node64"/>
          <p:cNvGrpSpPr/>
          <p:nvPr/>
        </p:nvGrpSpPr>
        <p:grpSpPr>
          <a:xfrm>
            <a:off x="10782300" y="2971800"/>
            <a:ext cx="203200" cy="203200"/>
            <a:chOff x="10782300" y="2971800"/>
            <a:chExt cx="203200" cy="203200"/>
          </a:xfrm>
        </p:grpSpPr>
        <p:sp>
          <p:nvSpPr>
            <p:cNvPr id="102" name="node64.surface"/>
            <p:cNvSpPr/>
            <p:nvPr/>
          </p:nvSpPr>
          <p:spPr>
            <a:xfrm>
              <a:off x="10782300" y="2971800"/>
              <a:ext cx="203200" cy="203200"/>
            </a:xfrm>
            <a:prstGeom prst="rect">
              <a:avLst/>
            </a:prstGeom>
            <a:solidFill>
              <a:srgbClr val="B9C9F0"/>
            </a:solidFill>
            <a:ln>
              <a:noFill/>
            </a:ln>
          </p:spPr>
        </p:sp>
      </p:grpSp>
      <p:grpSp>
        <p:nvGrpSpPr>
          <p:cNvPr id="198" name="node65"/>
          <p:cNvGrpSpPr/>
          <p:nvPr/>
        </p:nvGrpSpPr>
        <p:grpSpPr>
          <a:xfrm>
            <a:off x="11010900" y="2971800"/>
            <a:ext cx="203200" cy="203200"/>
            <a:chOff x="11010900" y="2971800"/>
            <a:chExt cx="203200" cy="203200"/>
          </a:xfrm>
        </p:grpSpPr>
        <p:sp>
          <p:nvSpPr>
            <p:cNvPr id="103" name="node65.surface"/>
            <p:cNvSpPr/>
            <p:nvPr/>
          </p:nvSpPr>
          <p:spPr>
            <a:xfrm>
              <a:off x="11010900" y="2971800"/>
              <a:ext cx="203200" cy="203200"/>
            </a:xfrm>
            <a:prstGeom prst="rect">
              <a:avLst/>
            </a:prstGeom>
            <a:solidFill>
              <a:srgbClr val="E8EEF8"/>
            </a:solidFill>
            <a:ln>
              <a:noFill/>
            </a:ln>
          </p:spPr>
        </p:sp>
      </p:grpSp>
      <p:grpSp>
        <p:nvGrpSpPr>
          <p:cNvPr id="199" name="node66"/>
          <p:cNvGrpSpPr/>
          <p:nvPr/>
        </p:nvGrpSpPr>
        <p:grpSpPr>
          <a:xfrm>
            <a:off x="10096500" y="3200400"/>
            <a:ext cx="203200" cy="203200"/>
            <a:chOff x="10096500" y="3200400"/>
            <a:chExt cx="203200" cy="203200"/>
          </a:xfrm>
        </p:grpSpPr>
        <p:sp>
          <p:nvSpPr>
            <p:cNvPr id="104" name="node66.surface"/>
            <p:cNvSpPr/>
            <p:nvPr/>
          </p:nvSpPr>
          <p:spPr>
            <a:xfrm>
              <a:off x="10096500" y="3200400"/>
              <a:ext cx="203200" cy="203200"/>
            </a:xfrm>
            <a:prstGeom prst="rect">
              <a:avLst/>
            </a:prstGeom>
            <a:solidFill>
              <a:srgbClr val="0047FF"/>
            </a:solidFill>
            <a:ln>
              <a:noFill/>
            </a:ln>
          </p:spPr>
        </p:sp>
      </p:grpSp>
      <p:grpSp>
        <p:nvGrpSpPr>
          <p:cNvPr id="200" name="node67"/>
          <p:cNvGrpSpPr/>
          <p:nvPr/>
        </p:nvGrpSpPr>
        <p:grpSpPr>
          <a:xfrm>
            <a:off x="10325100" y="3200400"/>
            <a:ext cx="203200" cy="203200"/>
            <a:chOff x="10325100" y="3200400"/>
            <a:chExt cx="203200" cy="203200"/>
          </a:xfrm>
        </p:grpSpPr>
        <p:sp>
          <p:nvSpPr>
            <p:cNvPr id="105" name="node67.surface"/>
            <p:cNvSpPr/>
            <p:nvPr/>
          </p:nvSpPr>
          <p:spPr>
            <a:xfrm>
              <a:off x="10325100" y="3200400"/>
              <a:ext cx="203200" cy="203200"/>
            </a:xfrm>
            <a:prstGeom prst="rect">
              <a:avLst/>
            </a:prstGeom>
            <a:solidFill>
              <a:srgbClr val="0047FF"/>
            </a:solidFill>
            <a:ln>
              <a:noFill/>
            </a:ln>
          </p:spPr>
        </p:sp>
      </p:grpSp>
      <p:grpSp>
        <p:nvGrpSpPr>
          <p:cNvPr id="201" name="node68"/>
          <p:cNvGrpSpPr/>
          <p:nvPr/>
        </p:nvGrpSpPr>
        <p:grpSpPr>
          <a:xfrm>
            <a:off x="10553700" y="3200400"/>
            <a:ext cx="203200" cy="203200"/>
            <a:chOff x="10553700" y="3200400"/>
            <a:chExt cx="203200" cy="203200"/>
          </a:xfrm>
        </p:grpSpPr>
        <p:sp>
          <p:nvSpPr>
            <p:cNvPr id="106" name="node68.surface"/>
            <p:cNvSpPr/>
            <p:nvPr/>
          </p:nvSpPr>
          <p:spPr>
            <a:xfrm>
              <a:off x="10553700" y="3200400"/>
              <a:ext cx="203200" cy="203200"/>
            </a:xfrm>
            <a:prstGeom prst="rect">
              <a:avLst/>
            </a:prstGeom>
            <a:solidFill>
              <a:srgbClr val="7C9BFF"/>
            </a:solidFill>
            <a:ln>
              <a:noFill/>
            </a:ln>
          </p:spPr>
        </p:sp>
      </p:grpSp>
      <p:grpSp>
        <p:nvGrpSpPr>
          <p:cNvPr id="202" name="node69"/>
          <p:cNvGrpSpPr/>
          <p:nvPr/>
        </p:nvGrpSpPr>
        <p:grpSpPr>
          <a:xfrm>
            <a:off x="10782300" y="3200400"/>
            <a:ext cx="203200" cy="203200"/>
            <a:chOff x="10782300" y="3200400"/>
            <a:chExt cx="203200" cy="203200"/>
          </a:xfrm>
        </p:grpSpPr>
        <p:sp>
          <p:nvSpPr>
            <p:cNvPr id="107" name="node69.surface"/>
            <p:cNvSpPr/>
            <p:nvPr/>
          </p:nvSpPr>
          <p:spPr>
            <a:xfrm>
              <a:off x="10782300" y="3200400"/>
              <a:ext cx="203200" cy="203200"/>
            </a:xfrm>
            <a:prstGeom prst="rect">
              <a:avLst/>
            </a:prstGeom>
            <a:solidFill>
              <a:srgbClr val="0047FF"/>
            </a:solidFill>
            <a:ln>
              <a:noFill/>
            </a:ln>
          </p:spPr>
        </p:sp>
      </p:grpSp>
      <p:grpSp>
        <p:nvGrpSpPr>
          <p:cNvPr id="203" name="node70"/>
          <p:cNvGrpSpPr/>
          <p:nvPr/>
        </p:nvGrpSpPr>
        <p:grpSpPr>
          <a:xfrm>
            <a:off x="11010900" y="3200400"/>
            <a:ext cx="203200" cy="203200"/>
            <a:chOff x="11010900" y="3200400"/>
            <a:chExt cx="203200" cy="203200"/>
          </a:xfrm>
        </p:grpSpPr>
        <p:sp>
          <p:nvSpPr>
            <p:cNvPr id="108" name="node70.surface"/>
            <p:cNvSpPr/>
            <p:nvPr/>
          </p:nvSpPr>
          <p:spPr>
            <a:xfrm>
              <a:off x="11010900" y="3200400"/>
              <a:ext cx="203200" cy="203200"/>
            </a:xfrm>
            <a:prstGeom prst="rect">
              <a:avLst/>
            </a:prstGeom>
            <a:solidFill>
              <a:srgbClr val="7C9BFF"/>
            </a:solidFill>
            <a:ln>
              <a:noFill/>
            </a:ln>
          </p:spPr>
        </p:sp>
      </p:grpSp>
      <p:grpSp>
        <p:nvGrpSpPr>
          <p:cNvPr id="204" name="node71"/>
          <p:cNvGrpSpPr/>
          <p:nvPr/>
        </p:nvGrpSpPr>
        <p:grpSpPr>
          <a:xfrm>
            <a:off x="10096500" y="3429000"/>
            <a:ext cx="203200" cy="203200"/>
            <a:chOff x="10096500" y="3429000"/>
            <a:chExt cx="203200" cy="203200"/>
          </a:xfrm>
        </p:grpSpPr>
        <p:sp>
          <p:nvSpPr>
            <p:cNvPr id="109" name="node71.surface"/>
            <p:cNvSpPr/>
            <p:nvPr/>
          </p:nvSpPr>
          <p:spPr>
            <a:xfrm>
              <a:off x="10096500" y="3429000"/>
              <a:ext cx="203200" cy="203200"/>
            </a:xfrm>
            <a:prstGeom prst="rect">
              <a:avLst/>
            </a:prstGeom>
            <a:solidFill>
              <a:srgbClr val="B9C9F0"/>
            </a:solidFill>
            <a:ln>
              <a:noFill/>
            </a:ln>
          </p:spPr>
        </p:sp>
      </p:grpSp>
      <p:grpSp>
        <p:nvGrpSpPr>
          <p:cNvPr id="205" name="node72"/>
          <p:cNvGrpSpPr/>
          <p:nvPr/>
        </p:nvGrpSpPr>
        <p:grpSpPr>
          <a:xfrm>
            <a:off x="10325100" y="3429000"/>
            <a:ext cx="203200" cy="203200"/>
            <a:chOff x="10325100" y="3429000"/>
            <a:chExt cx="203200" cy="203200"/>
          </a:xfrm>
        </p:grpSpPr>
        <p:sp>
          <p:nvSpPr>
            <p:cNvPr id="110" name="node72.surface"/>
            <p:cNvSpPr/>
            <p:nvPr/>
          </p:nvSpPr>
          <p:spPr>
            <a:xfrm>
              <a:off x="10325100" y="3429000"/>
              <a:ext cx="203200" cy="203200"/>
            </a:xfrm>
            <a:prstGeom prst="rect">
              <a:avLst/>
            </a:prstGeom>
            <a:solidFill>
              <a:srgbClr val="B9C9F0"/>
            </a:solidFill>
            <a:ln>
              <a:noFill/>
            </a:ln>
          </p:spPr>
        </p:sp>
      </p:grpSp>
      <p:grpSp>
        <p:nvGrpSpPr>
          <p:cNvPr id="206" name="node73"/>
          <p:cNvGrpSpPr/>
          <p:nvPr/>
        </p:nvGrpSpPr>
        <p:grpSpPr>
          <a:xfrm>
            <a:off x="10553700" y="3429000"/>
            <a:ext cx="203200" cy="203200"/>
            <a:chOff x="10553700" y="3429000"/>
            <a:chExt cx="203200" cy="203200"/>
          </a:xfrm>
        </p:grpSpPr>
        <p:sp>
          <p:nvSpPr>
            <p:cNvPr id="111" name="node73.surface"/>
            <p:cNvSpPr/>
            <p:nvPr/>
          </p:nvSpPr>
          <p:spPr>
            <a:xfrm>
              <a:off x="10553700" y="3429000"/>
              <a:ext cx="203200" cy="203200"/>
            </a:xfrm>
            <a:prstGeom prst="rect">
              <a:avLst/>
            </a:prstGeom>
            <a:solidFill>
              <a:srgbClr val="E8EEF8"/>
            </a:solidFill>
            <a:ln>
              <a:noFill/>
            </a:ln>
          </p:spPr>
        </p:sp>
      </p:grpSp>
      <p:grpSp>
        <p:nvGrpSpPr>
          <p:cNvPr id="207" name="node74"/>
          <p:cNvGrpSpPr/>
          <p:nvPr/>
        </p:nvGrpSpPr>
        <p:grpSpPr>
          <a:xfrm>
            <a:off x="10782300" y="3429000"/>
            <a:ext cx="203200" cy="203200"/>
            <a:chOff x="10782300" y="3429000"/>
            <a:chExt cx="203200" cy="203200"/>
          </a:xfrm>
        </p:grpSpPr>
        <p:sp>
          <p:nvSpPr>
            <p:cNvPr id="112" name="node74.surface"/>
            <p:cNvSpPr/>
            <p:nvPr/>
          </p:nvSpPr>
          <p:spPr>
            <a:xfrm>
              <a:off x="10782300" y="3429000"/>
              <a:ext cx="203200" cy="203200"/>
            </a:xfrm>
            <a:prstGeom prst="rect">
              <a:avLst/>
            </a:prstGeom>
            <a:solidFill>
              <a:srgbClr val="7C9BFF"/>
            </a:solidFill>
            <a:ln>
              <a:noFill/>
            </a:ln>
          </p:spPr>
        </p:sp>
      </p:grpSp>
      <p:grpSp>
        <p:nvGrpSpPr>
          <p:cNvPr id="208" name="node75"/>
          <p:cNvGrpSpPr/>
          <p:nvPr/>
        </p:nvGrpSpPr>
        <p:grpSpPr>
          <a:xfrm>
            <a:off x="11010900" y="3429000"/>
            <a:ext cx="203200" cy="203200"/>
            <a:chOff x="11010900" y="3429000"/>
            <a:chExt cx="203200" cy="203200"/>
          </a:xfrm>
        </p:grpSpPr>
        <p:sp>
          <p:nvSpPr>
            <p:cNvPr id="113" name="node75.surface"/>
            <p:cNvSpPr/>
            <p:nvPr/>
          </p:nvSpPr>
          <p:spPr>
            <a:xfrm>
              <a:off x="11010900" y="3429000"/>
              <a:ext cx="203200" cy="203200"/>
            </a:xfrm>
            <a:prstGeom prst="rect">
              <a:avLst/>
            </a:prstGeom>
            <a:solidFill>
              <a:srgbClr val="B9C9F0"/>
            </a:solidFill>
            <a:ln>
              <a:noFill/>
            </a:ln>
          </p:spPr>
        </p:sp>
      </p:grpSp>
      <p:grpSp>
        <p:nvGrpSpPr>
          <p:cNvPr id="209" name="node76"/>
          <p:cNvGrpSpPr/>
          <p:nvPr/>
        </p:nvGrpSpPr>
        <p:grpSpPr>
          <a:xfrm>
            <a:off x="10096500" y="3657600"/>
            <a:ext cx="203200" cy="203200"/>
            <a:chOff x="10096500" y="3657600"/>
            <a:chExt cx="203200" cy="203200"/>
          </a:xfrm>
        </p:grpSpPr>
        <p:sp>
          <p:nvSpPr>
            <p:cNvPr id="114" name="node76.surface"/>
            <p:cNvSpPr/>
            <p:nvPr/>
          </p:nvSpPr>
          <p:spPr>
            <a:xfrm>
              <a:off x="10096500" y="3657600"/>
              <a:ext cx="203200" cy="203200"/>
            </a:xfrm>
            <a:prstGeom prst="rect">
              <a:avLst/>
            </a:prstGeom>
            <a:solidFill>
              <a:srgbClr val="7C9BFF"/>
            </a:solidFill>
            <a:ln>
              <a:noFill/>
            </a:ln>
          </p:spPr>
        </p:sp>
      </p:grpSp>
      <p:grpSp>
        <p:nvGrpSpPr>
          <p:cNvPr id="210" name="node77"/>
          <p:cNvGrpSpPr/>
          <p:nvPr/>
        </p:nvGrpSpPr>
        <p:grpSpPr>
          <a:xfrm>
            <a:off x="10325100" y="3657600"/>
            <a:ext cx="203200" cy="203200"/>
            <a:chOff x="10325100" y="3657600"/>
            <a:chExt cx="203200" cy="203200"/>
          </a:xfrm>
        </p:grpSpPr>
        <p:sp>
          <p:nvSpPr>
            <p:cNvPr id="115" name="node77.surface"/>
            <p:cNvSpPr/>
            <p:nvPr/>
          </p:nvSpPr>
          <p:spPr>
            <a:xfrm>
              <a:off x="10325100" y="3657600"/>
              <a:ext cx="203200" cy="203200"/>
            </a:xfrm>
            <a:prstGeom prst="rect">
              <a:avLst/>
            </a:prstGeom>
            <a:solidFill>
              <a:srgbClr val="B9C9F0"/>
            </a:solidFill>
            <a:ln>
              <a:noFill/>
            </a:ln>
          </p:spPr>
        </p:sp>
      </p:grpSp>
      <p:grpSp>
        <p:nvGrpSpPr>
          <p:cNvPr id="211" name="node78"/>
          <p:cNvGrpSpPr/>
          <p:nvPr/>
        </p:nvGrpSpPr>
        <p:grpSpPr>
          <a:xfrm>
            <a:off x="10553700" y="3657600"/>
            <a:ext cx="203200" cy="203200"/>
            <a:chOff x="10553700" y="3657600"/>
            <a:chExt cx="203200" cy="203200"/>
          </a:xfrm>
        </p:grpSpPr>
        <p:sp>
          <p:nvSpPr>
            <p:cNvPr id="116" name="node78.surface"/>
            <p:cNvSpPr/>
            <p:nvPr/>
          </p:nvSpPr>
          <p:spPr>
            <a:xfrm>
              <a:off x="10553700" y="3657600"/>
              <a:ext cx="203200" cy="203200"/>
            </a:xfrm>
            <a:prstGeom prst="rect">
              <a:avLst/>
            </a:prstGeom>
            <a:solidFill>
              <a:srgbClr val="B9C9F0"/>
            </a:solidFill>
            <a:ln>
              <a:noFill/>
            </a:ln>
          </p:spPr>
        </p:sp>
      </p:grpSp>
      <p:grpSp>
        <p:nvGrpSpPr>
          <p:cNvPr id="212" name="node79"/>
          <p:cNvGrpSpPr/>
          <p:nvPr/>
        </p:nvGrpSpPr>
        <p:grpSpPr>
          <a:xfrm>
            <a:off x="10782300" y="3657600"/>
            <a:ext cx="203200" cy="203200"/>
            <a:chOff x="10782300" y="3657600"/>
            <a:chExt cx="203200" cy="203200"/>
          </a:xfrm>
        </p:grpSpPr>
        <p:sp>
          <p:nvSpPr>
            <p:cNvPr id="117" name="node79.surface"/>
            <p:cNvSpPr/>
            <p:nvPr/>
          </p:nvSpPr>
          <p:spPr>
            <a:xfrm>
              <a:off x="10782300" y="3657600"/>
              <a:ext cx="203200" cy="203200"/>
            </a:xfrm>
            <a:prstGeom prst="rect">
              <a:avLst/>
            </a:prstGeom>
            <a:solidFill>
              <a:srgbClr val="B9C9F0"/>
            </a:solidFill>
            <a:ln>
              <a:noFill/>
            </a:ln>
          </p:spPr>
        </p:sp>
      </p:grpSp>
      <p:grpSp>
        <p:nvGrpSpPr>
          <p:cNvPr id="213" name="node80"/>
          <p:cNvGrpSpPr/>
          <p:nvPr/>
        </p:nvGrpSpPr>
        <p:grpSpPr>
          <a:xfrm>
            <a:off x="11010900" y="3657600"/>
            <a:ext cx="203200" cy="203200"/>
            <a:chOff x="11010900" y="3657600"/>
            <a:chExt cx="203200" cy="203200"/>
          </a:xfrm>
        </p:grpSpPr>
        <p:sp>
          <p:nvSpPr>
            <p:cNvPr id="118" name="node80.surface"/>
            <p:cNvSpPr/>
            <p:nvPr/>
          </p:nvSpPr>
          <p:spPr>
            <a:xfrm>
              <a:off x="11010900" y="3657600"/>
              <a:ext cx="203200" cy="203200"/>
            </a:xfrm>
            <a:prstGeom prst="rect">
              <a:avLst/>
            </a:prstGeom>
            <a:solidFill>
              <a:srgbClr val="7C9BFF"/>
            </a:solidFill>
            <a:ln>
              <a:noFill/>
            </a:ln>
          </p:spPr>
        </p:sp>
      </p:grpSp>
      <p:grpSp>
        <p:nvGrpSpPr>
          <p:cNvPr id="214" name="node81"/>
          <p:cNvGrpSpPr/>
          <p:nvPr/>
        </p:nvGrpSpPr>
        <p:grpSpPr>
          <a:xfrm>
            <a:off x="10096500" y="2514600"/>
            <a:ext cx="1143000" cy="25400"/>
            <a:chOff x="10096500" y="2514600"/>
            <a:chExt cx="1143000" cy="25400"/>
          </a:xfrm>
        </p:grpSpPr>
        <p:sp>
          <p:nvSpPr>
            <p:cNvPr id="119" name="node81.surface"/>
            <p:cNvSpPr/>
            <p:nvPr/>
          </p:nvSpPr>
          <p:spPr>
            <a:xfrm>
              <a:off x="10096500" y="2514600"/>
              <a:ext cx="1143000" cy="25400"/>
            </a:xfrm>
            <a:prstGeom prst="rect">
              <a:avLst/>
            </a:prstGeom>
            <a:solidFill>
              <a:srgbClr val="05013F"/>
            </a:solidFill>
            <a:ln>
              <a:noFill/>
            </a:ln>
          </p:spPr>
        </p:sp>
      </p:grpSp>
      <p:grpSp>
        <p:nvGrpSpPr>
          <p:cNvPr id="215" name="node82"/>
          <p:cNvGrpSpPr/>
          <p:nvPr/>
        </p:nvGrpSpPr>
        <p:grpSpPr>
          <a:xfrm>
            <a:off x="10096500" y="2971800"/>
            <a:ext cx="1143000" cy="25400"/>
            <a:chOff x="10096500" y="2971800"/>
            <a:chExt cx="1143000" cy="25400"/>
          </a:xfrm>
        </p:grpSpPr>
        <p:sp>
          <p:nvSpPr>
            <p:cNvPr id="120" name="node82.surface"/>
            <p:cNvSpPr/>
            <p:nvPr/>
          </p:nvSpPr>
          <p:spPr>
            <a:xfrm>
              <a:off x="10096500" y="2971800"/>
              <a:ext cx="1143000" cy="25400"/>
            </a:xfrm>
            <a:prstGeom prst="rect">
              <a:avLst/>
            </a:prstGeom>
            <a:solidFill>
              <a:srgbClr val="05013F"/>
            </a:solidFill>
            <a:ln>
              <a:noFill/>
            </a:ln>
          </p:spPr>
        </p:sp>
      </p:grpSp>
      <p:grpSp>
        <p:nvGrpSpPr>
          <p:cNvPr id="216" name="node83"/>
          <p:cNvGrpSpPr/>
          <p:nvPr/>
        </p:nvGrpSpPr>
        <p:grpSpPr>
          <a:xfrm>
            <a:off x="10096500" y="2514600"/>
            <a:ext cx="25400" cy="457200"/>
            <a:chOff x="10096500" y="2514600"/>
            <a:chExt cx="25400" cy="457200"/>
          </a:xfrm>
        </p:grpSpPr>
        <p:sp>
          <p:nvSpPr>
            <p:cNvPr id="121" name="node83.surface"/>
            <p:cNvSpPr/>
            <p:nvPr/>
          </p:nvSpPr>
          <p:spPr>
            <a:xfrm>
              <a:off x="10096500" y="2514600"/>
              <a:ext cx="25400" cy="457200"/>
            </a:xfrm>
            <a:prstGeom prst="rect">
              <a:avLst/>
            </a:prstGeom>
            <a:solidFill>
              <a:srgbClr val="05013F"/>
            </a:solidFill>
            <a:ln>
              <a:noFill/>
            </a:ln>
          </p:spPr>
        </p:sp>
      </p:grpSp>
      <p:grpSp>
        <p:nvGrpSpPr>
          <p:cNvPr id="217" name="node84"/>
          <p:cNvGrpSpPr/>
          <p:nvPr/>
        </p:nvGrpSpPr>
        <p:grpSpPr>
          <a:xfrm>
            <a:off x="11239500" y="2514600"/>
            <a:ext cx="25400" cy="482600"/>
            <a:chOff x="11239500" y="2514600"/>
            <a:chExt cx="25400" cy="482600"/>
          </a:xfrm>
        </p:grpSpPr>
        <p:sp>
          <p:nvSpPr>
            <p:cNvPr id="122" name="node84.surface"/>
            <p:cNvSpPr/>
            <p:nvPr/>
          </p:nvSpPr>
          <p:spPr>
            <a:xfrm>
              <a:off x="11239500" y="2514600"/>
              <a:ext cx="25400" cy="482600"/>
            </a:xfrm>
            <a:prstGeom prst="rect">
              <a:avLst/>
            </a:prstGeom>
            <a:solidFill>
              <a:srgbClr val="05013F"/>
            </a:solidFill>
            <a:ln>
              <a:noFill/>
            </a:ln>
          </p:spPr>
        </p:sp>
      </p:grpSp>
      <p:grpSp>
        <p:nvGrpSpPr>
          <p:cNvPr id="218" name="node85"/>
          <p:cNvGrpSpPr/>
          <p:nvPr/>
        </p:nvGrpSpPr>
        <p:grpSpPr>
          <a:xfrm>
            <a:off x="10096500" y="3962400"/>
            <a:ext cx="1397000" cy="139700"/>
            <a:chOff x="10096500" y="3962400"/>
            <a:chExt cx="1397000" cy="139700"/>
          </a:xfrm>
        </p:grpSpPr>
        <p:sp>
          <p:nvSpPr>
            <p:cNvPr id="123" name="node85.text"/>
            <p:cNvSpPr/>
            <p:nvPr/>
          </p:nvSpPr>
          <p:spPr>
            <a:xfrm>
              <a:off x="10096500" y="3962400"/>
              <a:ext cx="1397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ROWS A4–A5</a:t>
              </a:r>
              <a:endParaRPr lang="en-US" sz="800" spc="48" kern="0" b="0" i="0" dirty="0">
                <a:solidFill>
                  <a:srgbClr val="50658E"/>
                </a:solidFill>
                <a:latin typeface="IBM Plex Mono Medium"/>
                <a:ea typeface="IBM Plex Mono Medium"/>
                <a:cs typeface="IBM Plex Mono Medium"/>
              </a:endParaRPr>
            </a:p>
          </p:txBody>
        </p:sp>
      </p:grpSp>
      <p:grpSp>
        <p:nvGrpSpPr>
          <p:cNvPr id="219" name="node86"/>
          <p:cNvGrpSpPr/>
          <p:nvPr/>
        </p:nvGrpSpPr>
        <p:grpSpPr>
          <a:xfrm>
            <a:off x="723900" y="5486400"/>
            <a:ext cx="6062663" cy="190500"/>
            <a:chOff x="723900" y="5486400"/>
            <a:chExt cx="6062663" cy="190500"/>
          </a:xfrm>
        </p:grpSpPr>
        <p:sp>
          <p:nvSpPr>
            <p:cNvPr id="124" name="node86.items.slot-001.swatch"/>
            <p:cNvSpPr/>
            <p:nvPr/>
          </p:nvSpPr>
          <p:spPr>
            <a:xfrm>
              <a:off x="723900" y="5518150"/>
              <a:ext cx="228600" cy="127000"/>
            </a:xfrm>
            <a:prstGeom prst="rect">
              <a:avLst/>
            </a:prstGeom>
            <a:solidFill>
              <a:srgbClr val="E8EEF8"/>
            </a:solidFill>
            <a:ln>
              <a:noFill/>
            </a:ln>
          </p:spPr>
        </p:sp>
        <p:sp>
          <p:nvSpPr>
            <p:cNvPr id="125" name="node86.items.slot-001.text"/>
            <p:cNvSpPr/>
            <p:nvPr/>
          </p:nvSpPr>
          <p:spPr>
            <a:xfrm>
              <a:off x="1016000" y="5486400"/>
              <a:ext cx="5984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Ad hoc</a:t>
              </a:r>
              <a:endParaRPr lang="en-US" sz="1100" spc="0" kern="0" b="0" i="0" dirty="0">
                <a:solidFill>
                  <a:srgbClr val="070154"/>
                </a:solidFill>
                <a:latin typeface="IBM Plex Sans"/>
                <a:ea typeface="IBM Plex Sans"/>
                <a:cs typeface="IBM Plex Sans"/>
              </a:endParaRPr>
            </a:p>
          </p:txBody>
        </p:sp>
        <p:sp>
          <p:nvSpPr>
            <p:cNvPr id="126" name="node86.items.slot-002.swatch"/>
            <p:cNvSpPr/>
            <p:nvPr/>
          </p:nvSpPr>
          <p:spPr>
            <a:xfrm>
              <a:off x="1843088" y="5518150"/>
              <a:ext cx="228600" cy="127000"/>
            </a:xfrm>
            <a:prstGeom prst="rect">
              <a:avLst/>
            </a:prstGeom>
            <a:solidFill>
              <a:srgbClr val="B9C9F0"/>
            </a:solidFill>
            <a:ln>
              <a:noFill/>
            </a:ln>
          </p:spPr>
        </p:sp>
        <p:sp>
          <p:nvSpPr>
            <p:cNvPr id="127" name="node86.items.slot-002.text"/>
            <p:cNvSpPr/>
            <p:nvPr/>
          </p:nvSpPr>
          <p:spPr>
            <a:xfrm>
              <a:off x="2135188" y="5486400"/>
              <a:ext cx="8842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 Repeatable</a:t>
              </a:r>
              <a:endParaRPr lang="en-US" sz="1100" spc="0" kern="0" b="0" i="0" dirty="0">
                <a:solidFill>
                  <a:srgbClr val="070154"/>
                </a:solidFill>
                <a:latin typeface="IBM Plex Sans"/>
                <a:ea typeface="IBM Plex Sans"/>
                <a:cs typeface="IBM Plex Sans"/>
              </a:endParaRPr>
            </a:p>
          </p:txBody>
        </p:sp>
        <p:sp>
          <p:nvSpPr>
            <p:cNvPr id="128" name="node86.items.slot-003.swatch"/>
            <p:cNvSpPr/>
            <p:nvPr/>
          </p:nvSpPr>
          <p:spPr>
            <a:xfrm>
              <a:off x="3248025" y="5518150"/>
              <a:ext cx="228600" cy="127000"/>
            </a:xfrm>
            <a:prstGeom prst="rect">
              <a:avLst/>
            </a:prstGeom>
            <a:solidFill>
              <a:srgbClr val="7C9BFF"/>
            </a:solidFill>
            <a:ln>
              <a:noFill/>
            </a:ln>
          </p:spPr>
        </p:sp>
        <p:sp>
          <p:nvSpPr>
            <p:cNvPr id="129" name="node86.items.slot-003.text"/>
            <p:cNvSpPr/>
            <p:nvPr/>
          </p:nvSpPr>
          <p:spPr>
            <a:xfrm>
              <a:off x="3540125" y="5486400"/>
              <a:ext cx="6540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 Defined</a:t>
              </a:r>
              <a:endParaRPr lang="en-US" sz="1100" spc="0" kern="0" b="0" i="0" dirty="0">
                <a:solidFill>
                  <a:srgbClr val="070154"/>
                </a:solidFill>
                <a:latin typeface="IBM Plex Sans"/>
                <a:ea typeface="IBM Plex Sans"/>
                <a:cs typeface="IBM Plex Sans"/>
              </a:endParaRPr>
            </a:p>
          </p:txBody>
        </p:sp>
        <p:sp>
          <p:nvSpPr>
            <p:cNvPr id="130" name="node86.items.slot-004.swatch"/>
            <p:cNvSpPr/>
            <p:nvPr/>
          </p:nvSpPr>
          <p:spPr>
            <a:xfrm>
              <a:off x="4422775" y="5518150"/>
              <a:ext cx="228600" cy="127000"/>
            </a:xfrm>
            <a:prstGeom prst="rect">
              <a:avLst/>
            </a:prstGeom>
            <a:solidFill>
              <a:srgbClr val="0047FF"/>
            </a:solidFill>
            <a:ln>
              <a:noFill/>
            </a:ln>
          </p:spPr>
        </p:sp>
        <p:sp>
          <p:nvSpPr>
            <p:cNvPr id="131" name="node86.items.slot-004.text"/>
            <p:cNvSpPr/>
            <p:nvPr/>
          </p:nvSpPr>
          <p:spPr>
            <a:xfrm>
              <a:off x="4714875" y="5486400"/>
              <a:ext cx="7397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4 Managed</a:t>
              </a:r>
              <a:endParaRPr lang="en-US" sz="1100" spc="0" kern="0" b="0" i="0" dirty="0">
                <a:solidFill>
                  <a:srgbClr val="070154"/>
                </a:solidFill>
                <a:latin typeface="IBM Plex Sans"/>
                <a:ea typeface="IBM Plex Sans"/>
                <a:cs typeface="IBM Plex Sans"/>
              </a:endParaRPr>
            </a:p>
          </p:txBody>
        </p:sp>
        <p:sp>
          <p:nvSpPr>
            <p:cNvPr id="132" name="node86.items.slot-005.swatch"/>
            <p:cNvSpPr/>
            <p:nvPr/>
          </p:nvSpPr>
          <p:spPr>
            <a:xfrm>
              <a:off x="5683250" y="5518150"/>
              <a:ext cx="228600" cy="127000"/>
            </a:xfrm>
            <a:prstGeom prst="rect">
              <a:avLst/>
            </a:prstGeom>
            <a:solidFill>
              <a:srgbClr val="070154"/>
            </a:solidFill>
            <a:ln>
              <a:noFill/>
            </a:ln>
          </p:spPr>
        </p:sp>
        <p:sp>
          <p:nvSpPr>
            <p:cNvPr id="133" name="node86.items.slot-005.text"/>
            <p:cNvSpPr/>
            <p:nvPr/>
          </p:nvSpPr>
          <p:spPr>
            <a:xfrm>
              <a:off x="5975350" y="5486400"/>
              <a:ext cx="8112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Optimized</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ource-20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REVENUE CYCLE DETAIL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Denials management is the weakest of the revenue rows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78</a:t>
            </a:fld>
            <a:endParaRPr lang="en-US" sz="700" spc="0" kern="0" b="0" i="0" dirty="0">
              <a:solidFill>
                <a:srgbClr val="070154"/>
              </a:solidFill>
              <a:latin typeface="IBM Plex Mono SemiBold"/>
              <a:ea typeface="IBM Plex Mono SemiBold"/>
              <a:cs typeface="IBM Plex Mono SemiBold"/>
            </a:endParaRPr>
          </a:p>
        </p:txBody>
      </p:sp>
      <p:grpSp>
        <p:nvGrpSpPr>
          <p:cNvPr id="110" name="node01"/>
          <p:cNvGrpSpPr/>
          <p:nvPr/>
        </p:nvGrpSpPr>
        <p:grpSpPr>
          <a:xfrm>
            <a:off x="723900" y="1600200"/>
            <a:ext cx="762000" cy="457200"/>
            <a:chOff x="723900" y="1600200"/>
            <a:chExt cx="762000" cy="457200"/>
          </a:xfrm>
        </p:grpSpPr>
        <p:sp>
          <p:nvSpPr>
            <p:cNvPr id="7" name="node01.surface"/>
            <p:cNvSpPr/>
            <p:nvPr/>
          </p:nvSpPr>
          <p:spPr>
            <a:xfrm>
              <a:off x="723900" y="1600200"/>
              <a:ext cx="762000" cy="457200"/>
            </a:xfrm>
            <a:prstGeom prst="rect">
              <a:avLst/>
            </a:prstGeom>
            <a:solidFill>
              <a:srgbClr val="05013F"/>
            </a:solidFill>
            <a:ln>
              <a:noFill/>
            </a:ln>
          </p:spPr>
        </p:sp>
        <p:sp>
          <p:nvSpPr>
            <p:cNvPr id="8" name="node01.text"/>
            <p:cNvSpPr/>
            <p:nvPr/>
          </p:nvSpPr>
          <p:spPr>
            <a:xfrm>
              <a:off x="876300" y="1695450"/>
              <a:ext cx="4572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A6</a:t>
              </a:r>
              <a:endParaRPr lang="en-US" sz="1600" spc="-16" kern="0" b="0" i="0" dirty="0">
                <a:solidFill>
                  <a:srgbClr val="FFFFFF"/>
                </a:solidFill>
                <a:latin typeface="IBM Plex Sans SemiBold"/>
                <a:ea typeface="IBM Plex Sans SemiBold"/>
                <a:cs typeface="IBM Plex Sans SemiBold"/>
              </a:endParaRPr>
            </a:p>
          </p:txBody>
        </p:sp>
      </p:grpSp>
      <p:grpSp>
        <p:nvGrpSpPr>
          <p:cNvPr id="111" name="node02"/>
          <p:cNvGrpSpPr/>
          <p:nvPr/>
        </p:nvGrpSpPr>
        <p:grpSpPr>
          <a:xfrm>
            <a:off x="1638300" y="1600200"/>
            <a:ext cx="6604000" cy="330200"/>
            <a:chOff x="1638300" y="1600200"/>
            <a:chExt cx="6604000" cy="330200"/>
          </a:xfrm>
        </p:grpSpPr>
        <p:sp>
          <p:nvSpPr>
            <p:cNvPr id="9" name="node02.text"/>
            <p:cNvSpPr/>
            <p:nvPr/>
          </p:nvSpPr>
          <p:spPr>
            <a:xfrm>
              <a:off x="1638300" y="1600200"/>
              <a:ext cx="66040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Denials management</a:t>
              </a:r>
              <a:endParaRPr lang="en-US" sz="2100" spc="-32" kern="0" b="0" i="0" dirty="0">
                <a:solidFill>
                  <a:srgbClr val="070154"/>
                </a:solidFill>
                <a:latin typeface="IBM Plex Sans SemiBold"/>
                <a:ea typeface="IBM Plex Sans SemiBold"/>
                <a:cs typeface="IBM Plex Sans SemiBold"/>
              </a:endParaRPr>
            </a:p>
          </p:txBody>
        </p:sp>
      </p:grpSp>
      <p:grpSp>
        <p:nvGrpSpPr>
          <p:cNvPr id="112" name="node03"/>
          <p:cNvGrpSpPr/>
          <p:nvPr/>
        </p:nvGrpSpPr>
        <p:grpSpPr>
          <a:xfrm>
            <a:off x="723900" y="2286000"/>
            <a:ext cx="457200" cy="139700"/>
            <a:chOff x="723900" y="2286000"/>
            <a:chExt cx="457200" cy="139700"/>
          </a:xfrm>
        </p:grpSpPr>
        <p:sp>
          <p:nvSpPr>
            <p:cNvPr id="10" name="node03.text"/>
            <p:cNvSpPr/>
            <p:nvPr/>
          </p:nvSpPr>
          <p:spPr>
            <a:xfrm>
              <a:off x="723900" y="2286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PRO</a:t>
              </a:r>
              <a:endParaRPr lang="en-US" sz="800" spc="48" kern="0" b="0" i="0" dirty="0">
                <a:solidFill>
                  <a:srgbClr val="070154"/>
                </a:solidFill>
                <a:latin typeface="IBM Plex Mono Medium"/>
                <a:ea typeface="IBM Plex Mono Medium"/>
                <a:cs typeface="IBM Plex Mono Medium"/>
              </a:endParaRPr>
            </a:p>
          </p:txBody>
        </p:sp>
      </p:grpSp>
      <p:grpSp>
        <p:nvGrpSpPr>
          <p:cNvPr id="113" name="node04"/>
          <p:cNvGrpSpPr/>
          <p:nvPr/>
        </p:nvGrpSpPr>
        <p:grpSpPr>
          <a:xfrm>
            <a:off x="723900" y="2514600"/>
            <a:ext cx="431800" cy="381000"/>
            <a:chOff x="723900" y="2514600"/>
            <a:chExt cx="431800" cy="381000"/>
          </a:xfrm>
        </p:grpSpPr>
        <p:sp>
          <p:nvSpPr>
            <p:cNvPr id="11" name="node04.surface"/>
            <p:cNvSpPr/>
            <p:nvPr/>
          </p:nvSpPr>
          <p:spPr>
            <a:xfrm>
              <a:off x="723900" y="2514600"/>
              <a:ext cx="431800" cy="381000"/>
            </a:xfrm>
            <a:prstGeom prst="rect">
              <a:avLst/>
            </a:prstGeom>
            <a:solidFill>
              <a:srgbClr val="B9C9F0"/>
            </a:solidFill>
            <a:ln>
              <a:noFill/>
            </a:ln>
          </p:spPr>
        </p:sp>
        <p:sp>
          <p:nvSpPr>
            <p:cNvPr id="12" name="node04.text"/>
            <p:cNvSpPr/>
            <p:nvPr/>
          </p:nvSpPr>
          <p:spPr>
            <a:xfrm>
              <a:off x="795867" y="2609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114" name="node05"/>
          <p:cNvGrpSpPr/>
          <p:nvPr/>
        </p:nvGrpSpPr>
        <p:grpSpPr>
          <a:xfrm>
            <a:off x="1181100" y="2286000"/>
            <a:ext cx="457200" cy="139700"/>
            <a:chOff x="1181100" y="2286000"/>
            <a:chExt cx="457200" cy="139700"/>
          </a:xfrm>
        </p:grpSpPr>
        <p:sp>
          <p:nvSpPr>
            <p:cNvPr id="13" name="node05.text"/>
            <p:cNvSpPr/>
            <p:nvPr/>
          </p:nvSpPr>
          <p:spPr>
            <a:xfrm>
              <a:off x="1181100" y="2286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TEC</a:t>
              </a:r>
              <a:endParaRPr lang="en-US" sz="800" spc="48" kern="0" b="0" i="0" dirty="0">
                <a:solidFill>
                  <a:srgbClr val="070154"/>
                </a:solidFill>
                <a:latin typeface="IBM Plex Mono Medium"/>
                <a:ea typeface="IBM Plex Mono Medium"/>
                <a:cs typeface="IBM Plex Mono Medium"/>
              </a:endParaRPr>
            </a:p>
          </p:txBody>
        </p:sp>
      </p:grpSp>
      <p:grpSp>
        <p:nvGrpSpPr>
          <p:cNvPr id="115" name="node06"/>
          <p:cNvGrpSpPr/>
          <p:nvPr/>
        </p:nvGrpSpPr>
        <p:grpSpPr>
          <a:xfrm>
            <a:off x="1181100" y="2514600"/>
            <a:ext cx="431800" cy="381000"/>
            <a:chOff x="1181100" y="2514600"/>
            <a:chExt cx="431800" cy="381000"/>
          </a:xfrm>
        </p:grpSpPr>
        <p:sp>
          <p:nvSpPr>
            <p:cNvPr id="14" name="node06.surface"/>
            <p:cNvSpPr/>
            <p:nvPr/>
          </p:nvSpPr>
          <p:spPr>
            <a:xfrm>
              <a:off x="1181100" y="2514600"/>
              <a:ext cx="431800" cy="381000"/>
            </a:xfrm>
            <a:prstGeom prst="rect">
              <a:avLst/>
            </a:prstGeom>
            <a:solidFill>
              <a:srgbClr val="B9C9F0"/>
            </a:solidFill>
            <a:ln>
              <a:noFill/>
            </a:ln>
          </p:spPr>
        </p:sp>
        <p:sp>
          <p:nvSpPr>
            <p:cNvPr id="15" name="node06.text"/>
            <p:cNvSpPr/>
            <p:nvPr/>
          </p:nvSpPr>
          <p:spPr>
            <a:xfrm>
              <a:off x="1253067" y="2609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116" name="node07"/>
          <p:cNvGrpSpPr/>
          <p:nvPr/>
        </p:nvGrpSpPr>
        <p:grpSpPr>
          <a:xfrm>
            <a:off x="1638300" y="2286000"/>
            <a:ext cx="457200" cy="139700"/>
            <a:chOff x="1638300" y="2286000"/>
            <a:chExt cx="457200" cy="139700"/>
          </a:xfrm>
        </p:grpSpPr>
        <p:sp>
          <p:nvSpPr>
            <p:cNvPr id="16" name="node07.text"/>
            <p:cNvSpPr/>
            <p:nvPr/>
          </p:nvSpPr>
          <p:spPr>
            <a:xfrm>
              <a:off x="1638300" y="2286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DAT</a:t>
              </a:r>
              <a:endParaRPr lang="en-US" sz="800" spc="48" kern="0" b="0" i="0" dirty="0">
                <a:solidFill>
                  <a:srgbClr val="070154"/>
                </a:solidFill>
                <a:latin typeface="IBM Plex Mono Medium"/>
                <a:ea typeface="IBM Plex Mono Medium"/>
                <a:cs typeface="IBM Plex Mono Medium"/>
              </a:endParaRPr>
            </a:p>
          </p:txBody>
        </p:sp>
      </p:grpSp>
      <p:grpSp>
        <p:nvGrpSpPr>
          <p:cNvPr id="117" name="node08"/>
          <p:cNvGrpSpPr/>
          <p:nvPr/>
        </p:nvGrpSpPr>
        <p:grpSpPr>
          <a:xfrm>
            <a:off x="1638300" y="2514600"/>
            <a:ext cx="431800" cy="381000"/>
            <a:chOff x="1638300" y="2514600"/>
            <a:chExt cx="431800" cy="381000"/>
          </a:xfrm>
        </p:grpSpPr>
        <p:sp>
          <p:nvSpPr>
            <p:cNvPr id="17" name="node08.surface"/>
            <p:cNvSpPr/>
            <p:nvPr/>
          </p:nvSpPr>
          <p:spPr>
            <a:xfrm>
              <a:off x="1638300" y="2514600"/>
              <a:ext cx="431800" cy="381000"/>
            </a:xfrm>
            <a:prstGeom prst="rect">
              <a:avLst/>
            </a:prstGeom>
            <a:solidFill>
              <a:srgbClr val="B9C9F0"/>
            </a:solidFill>
            <a:ln>
              <a:noFill/>
            </a:ln>
          </p:spPr>
        </p:sp>
        <p:sp>
          <p:nvSpPr>
            <p:cNvPr id="18" name="node08.text"/>
            <p:cNvSpPr/>
            <p:nvPr/>
          </p:nvSpPr>
          <p:spPr>
            <a:xfrm>
              <a:off x="1710267" y="2609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118" name="node09"/>
          <p:cNvGrpSpPr/>
          <p:nvPr/>
        </p:nvGrpSpPr>
        <p:grpSpPr>
          <a:xfrm>
            <a:off x="2095500" y="2286000"/>
            <a:ext cx="457200" cy="139700"/>
            <a:chOff x="2095500" y="2286000"/>
            <a:chExt cx="457200" cy="139700"/>
          </a:xfrm>
        </p:grpSpPr>
        <p:sp>
          <p:nvSpPr>
            <p:cNvPr id="19" name="node09.text"/>
            <p:cNvSpPr/>
            <p:nvPr/>
          </p:nvSpPr>
          <p:spPr>
            <a:xfrm>
              <a:off x="2095500" y="2286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PPL</a:t>
              </a:r>
              <a:endParaRPr lang="en-US" sz="800" spc="48" kern="0" b="0" i="0" dirty="0">
                <a:solidFill>
                  <a:srgbClr val="070154"/>
                </a:solidFill>
                <a:latin typeface="IBM Plex Mono Medium"/>
                <a:ea typeface="IBM Plex Mono Medium"/>
                <a:cs typeface="IBM Plex Mono Medium"/>
              </a:endParaRPr>
            </a:p>
          </p:txBody>
        </p:sp>
      </p:grpSp>
      <p:grpSp>
        <p:nvGrpSpPr>
          <p:cNvPr id="119" name="node10"/>
          <p:cNvGrpSpPr/>
          <p:nvPr/>
        </p:nvGrpSpPr>
        <p:grpSpPr>
          <a:xfrm>
            <a:off x="2095500" y="2514600"/>
            <a:ext cx="431800" cy="381000"/>
            <a:chOff x="2095500" y="2514600"/>
            <a:chExt cx="431800" cy="381000"/>
          </a:xfrm>
        </p:grpSpPr>
        <p:sp>
          <p:nvSpPr>
            <p:cNvPr id="20" name="node10.surface"/>
            <p:cNvSpPr/>
            <p:nvPr/>
          </p:nvSpPr>
          <p:spPr>
            <a:xfrm>
              <a:off x="2095500" y="2514600"/>
              <a:ext cx="431800" cy="381000"/>
            </a:xfrm>
            <a:prstGeom prst="rect">
              <a:avLst/>
            </a:prstGeom>
            <a:solidFill>
              <a:srgbClr val="B9C9F0"/>
            </a:solidFill>
            <a:ln>
              <a:noFill/>
            </a:ln>
          </p:spPr>
        </p:sp>
        <p:sp>
          <p:nvSpPr>
            <p:cNvPr id="21" name="node10.text"/>
            <p:cNvSpPr/>
            <p:nvPr/>
          </p:nvSpPr>
          <p:spPr>
            <a:xfrm>
              <a:off x="2167467" y="2609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120" name="node11"/>
          <p:cNvGrpSpPr/>
          <p:nvPr/>
        </p:nvGrpSpPr>
        <p:grpSpPr>
          <a:xfrm>
            <a:off x="2552700" y="2286000"/>
            <a:ext cx="457200" cy="139700"/>
            <a:chOff x="2552700" y="2286000"/>
            <a:chExt cx="457200" cy="139700"/>
          </a:xfrm>
        </p:grpSpPr>
        <p:sp>
          <p:nvSpPr>
            <p:cNvPr id="22" name="node11.text"/>
            <p:cNvSpPr/>
            <p:nvPr/>
          </p:nvSpPr>
          <p:spPr>
            <a:xfrm>
              <a:off x="2552700" y="2286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GOV</a:t>
              </a:r>
              <a:endParaRPr lang="en-US" sz="800" spc="48" kern="0" b="0" i="0" dirty="0">
                <a:solidFill>
                  <a:srgbClr val="070154"/>
                </a:solidFill>
                <a:latin typeface="IBM Plex Mono Medium"/>
                <a:ea typeface="IBM Plex Mono Medium"/>
                <a:cs typeface="IBM Plex Mono Medium"/>
              </a:endParaRPr>
            </a:p>
          </p:txBody>
        </p:sp>
      </p:grpSp>
      <p:grpSp>
        <p:nvGrpSpPr>
          <p:cNvPr id="121" name="node12"/>
          <p:cNvGrpSpPr/>
          <p:nvPr/>
        </p:nvGrpSpPr>
        <p:grpSpPr>
          <a:xfrm>
            <a:off x="2552700" y="2514600"/>
            <a:ext cx="431800" cy="381000"/>
            <a:chOff x="2552700" y="2514600"/>
            <a:chExt cx="431800" cy="381000"/>
          </a:xfrm>
        </p:grpSpPr>
        <p:sp>
          <p:nvSpPr>
            <p:cNvPr id="23" name="node12.surface"/>
            <p:cNvSpPr/>
            <p:nvPr/>
          </p:nvSpPr>
          <p:spPr>
            <a:xfrm>
              <a:off x="2552700" y="2514600"/>
              <a:ext cx="431800" cy="381000"/>
            </a:xfrm>
            <a:prstGeom prst="rect">
              <a:avLst/>
            </a:prstGeom>
            <a:solidFill>
              <a:srgbClr val="E8EEF8"/>
            </a:solidFill>
            <a:ln>
              <a:noFill/>
            </a:ln>
          </p:spPr>
        </p:sp>
        <p:sp>
          <p:nvSpPr>
            <p:cNvPr id="24" name="node12.text"/>
            <p:cNvSpPr/>
            <p:nvPr/>
          </p:nvSpPr>
          <p:spPr>
            <a:xfrm>
              <a:off x="2624667" y="2609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1</a:t>
              </a:r>
              <a:endParaRPr lang="en-US" sz="1100" spc="0" kern="0" b="0" i="0" dirty="0">
                <a:solidFill>
                  <a:srgbClr val="070154"/>
                </a:solidFill>
                <a:latin typeface="IBM Plex Sans"/>
                <a:ea typeface="IBM Plex Sans"/>
                <a:cs typeface="IBM Plex Sans"/>
              </a:endParaRPr>
            </a:p>
          </p:txBody>
        </p:sp>
      </p:grpSp>
      <p:grpSp>
        <p:nvGrpSpPr>
          <p:cNvPr id="122" name="node13"/>
          <p:cNvGrpSpPr/>
          <p:nvPr/>
        </p:nvGrpSpPr>
        <p:grpSpPr>
          <a:xfrm>
            <a:off x="723900" y="2971800"/>
            <a:ext cx="2514600" cy="190500"/>
            <a:chOff x="723900" y="2971800"/>
            <a:chExt cx="2514600" cy="190500"/>
          </a:xfrm>
        </p:grpSpPr>
        <p:sp>
          <p:nvSpPr>
            <p:cNvPr id="25" name="node13.text"/>
            <p:cNvSpPr/>
            <p:nvPr/>
          </p:nvSpPr>
          <p:spPr>
            <a:xfrm>
              <a:off x="723900" y="29718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Overall 2 of 5</a:t>
              </a:r>
              <a:endParaRPr lang="en-US" sz="1100" spc="0" kern="0" b="0" i="0" dirty="0">
                <a:solidFill>
                  <a:srgbClr val="50658E"/>
                </a:solidFill>
                <a:latin typeface="IBM Plex Sans"/>
                <a:ea typeface="IBM Plex Sans"/>
                <a:cs typeface="IBM Plex Sans"/>
              </a:endParaRPr>
            </a:p>
          </p:txBody>
        </p:sp>
      </p:grpSp>
      <p:grpSp>
        <p:nvGrpSpPr>
          <p:cNvPr id="123" name="node14"/>
          <p:cNvGrpSpPr/>
          <p:nvPr/>
        </p:nvGrpSpPr>
        <p:grpSpPr>
          <a:xfrm>
            <a:off x="3467100" y="2286000"/>
            <a:ext cx="2895600" cy="139700"/>
            <a:chOff x="3467100" y="2286000"/>
            <a:chExt cx="2895600" cy="139700"/>
          </a:xfrm>
        </p:grpSpPr>
        <p:sp>
          <p:nvSpPr>
            <p:cNvPr id="26" name="node14.text"/>
            <p:cNvSpPr/>
            <p:nvPr/>
          </p:nvSpPr>
          <p:spPr>
            <a:xfrm>
              <a:off x="3467100" y="2286000"/>
              <a:ext cx="2895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WHAT DRIVES THE SCORE</a:t>
              </a:r>
              <a:endParaRPr lang="en-US" sz="800" spc="48" kern="0" b="0" i="0" dirty="0">
                <a:solidFill>
                  <a:srgbClr val="070154"/>
                </a:solidFill>
                <a:latin typeface="IBM Plex Mono Medium"/>
                <a:ea typeface="IBM Plex Mono Medium"/>
                <a:cs typeface="IBM Plex Mono Medium"/>
              </a:endParaRPr>
            </a:p>
          </p:txBody>
        </p:sp>
      </p:grpSp>
      <p:grpSp>
        <p:nvGrpSpPr>
          <p:cNvPr id="124" name="node15"/>
          <p:cNvGrpSpPr/>
          <p:nvPr/>
        </p:nvGrpSpPr>
        <p:grpSpPr>
          <a:xfrm>
            <a:off x="3467100" y="2590800"/>
            <a:ext cx="2895600" cy="723900"/>
            <a:chOff x="3467100" y="2590800"/>
            <a:chExt cx="2895600" cy="723900"/>
          </a:xfrm>
        </p:grpSpPr>
        <p:sp>
          <p:nvSpPr>
            <p:cNvPr id="27" name="node15.source-001.bullet"/>
            <p:cNvSpPr/>
            <p:nvPr/>
          </p:nvSpPr>
          <p:spPr>
            <a:xfrm>
              <a:off x="3467100" y="2679700"/>
              <a:ext cx="38100" cy="38100"/>
            </a:xfrm>
            <a:prstGeom prst="rect">
              <a:avLst/>
            </a:prstGeom>
            <a:solidFill>
              <a:srgbClr val="070154"/>
            </a:solidFill>
            <a:ln>
              <a:noFill/>
            </a:ln>
          </p:spPr>
        </p:sp>
        <p:sp>
          <p:nvSpPr>
            <p:cNvPr id="28" name="node15.source-001.text"/>
            <p:cNvSpPr/>
            <p:nvPr/>
          </p:nvSpPr>
          <p:spPr>
            <a:xfrm>
              <a:off x="3619500" y="25908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Denial reasons are not coded</a:t>
              </a:r>
              <a:endParaRPr lang="en-US" sz="1200" spc="0" kern="0" b="0" i="0" dirty="0">
                <a:solidFill>
                  <a:srgbClr val="070154"/>
                </a:solidFill>
                <a:latin typeface="IBM Plex Sans"/>
                <a:ea typeface="IBM Plex Sans"/>
                <a:cs typeface="IBM Plex Sans"/>
              </a:endParaRPr>
            </a:p>
          </p:txBody>
        </p:sp>
        <p:sp>
          <p:nvSpPr>
            <p:cNvPr id="29" name="node15.source-002.bullet"/>
            <p:cNvSpPr/>
            <p:nvPr/>
          </p:nvSpPr>
          <p:spPr>
            <a:xfrm>
              <a:off x="3467100" y="2933700"/>
              <a:ext cx="38100" cy="38100"/>
            </a:xfrm>
            <a:prstGeom prst="rect">
              <a:avLst/>
            </a:prstGeom>
            <a:solidFill>
              <a:srgbClr val="070154"/>
            </a:solidFill>
            <a:ln>
              <a:noFill/>
            </a:ln>
          </p:spPr>
        </p:sp>
        <p:sp>
          <p:nvSpPr>
            <p:cNvPr id="30" name="node15.source-002.text"/>
            <p:cNvSpPr/>
            <p:nvPr/>
          </p:nvSpPr>
          <p:spPr>
            <a:xfrm>
              <a:off x="3619500" y="28448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Rework has no owner</a:t>
              </a:r>
              <a:endParaRPr lang="en-US" sz="1200" spc="0" kern="0" b="0" i="0" dirty="0">
                <a:solidFill>
                  <a:srgbClr val="070154"/>
                </a:solidFill>
                <a:latin typeface="IBM Plex Sans"/>
                <a:ea typeface="IBM Plex Sans"/>
                <a:cs typeface="IBM Plex Sans"/>
              </a:endParaRPr>
            </a:p>
          </p:txBody>
        </p:sp>
        <p:sp>
          <p:nvSpPr>
            <p:cNvPr id="31" name="node15.source-003.bullet"/>
            <p:cNvSpPr/>
            <p:nvPr/>
          </p:nvSpPr>
          <p:spPr>
            <a:xfrm>
              <a:off x="3467100" y="3187700"/>
              <a:ext cx="38100" cy="38100"/>
            </a:xfrm>
            <a:prstGeom prst="rect">
              <a:avLst/>
            </a:prstGeom>
            <a:solidFill>
              <a:srgbClr val="070154"/>
            </a:solidFill>
            <a:ln>
              <a:noFill/>
            </a:ln>
          </p:spPr>
        </p:sp>
        <p:sp>
          <p:nvSpPr>
            <p:cNvPr id="32" name="node15.source-003.text"/>
            <p:cNvSpPr/>
            <p:nvPr/>
          </p:nvSpPr>
          <p:spPr>
            <a:xfrm>
              <a:off x="3619500" y="30988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Appeals follow no playbook</a:t>
              </a:r>
              <a:endParaRPr lang="en-US" sz="1200" spc="0" kern="0" b="0" i="0" dirty="0">
                <a:solidFill>
                  <a:srgbClr val="070154"/>
                </a:solidFill>
                <a:latin typeface="IBM Plex Sans"/>
                <a:ea typeface="IBM Plex Sans"/>
                <a:cs typeface="IBM Plex Sans"/>
              </a:endParaRPr>
            </a:p>
          </p:txBody>
        </p:sp>
      </p:grpSp>
      <p:grpSp>
        <p:nvGrpSpPr>
          <p:cNvPr id="125" name="node16"/>
          <p:cNvGrpSpPr/>
          <p:nvPr/>
        </p:nvGrpSpPr>
        <p:grpSpPr>
          <a:xfrm>
            <a:off x="6591300" y="2286000"/>
            <a:ext cx="2895600" cy="139700"/>
            <a:chOff x="6591300" y="2286000"/>
            <a:chExt cx="2895600" cy="139700"/>
          </a:xfrm>
        </p:grpSpPr>
        <p:sp>
          <p:nvSpPr>
            <p:cNvPr id="33" name="node16.text"/>
            <p:cNvSpPr/>
            <p:nvPr/>
          </p:nvSpPr>
          <p:spPr>
            <a:xfrm>
              <a:off x="6591300" y="2286000"/>
              <a:ext cx="2895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WHAT WE'D DO</a:t>
              </a:r>
              <a:endParaRPr lang="en-US" sz="800" spc="48" kern="0" b="0" i="0" dirty="0">
                <a:solidFill>
                  <a:srgbClr val="070154"/>
                </a:solidFill>
                <a:latin typeface="IBM Plex Mono Medium"/>
                <a:ea typeface="IBM Plex Mono Medium"/>
                <a:cs typeface="IBM Plex Mono Medium"/>
              </a:endParaRPr>
            </a:p>
          </p:txBody>
        </p:sp>
      </p:grpSp>
      <p:grpSp>
        <p:nvGrpSpPr>
          <p:cNvPr id="126" name="node17"/>
          <p:cNvGrpSpPr/>
          <p:nvPr/>
        </p:nvGrpSpPr>
        <p:grpSpPr>
          <a:xfrm>
            <a:off x="6591300" y="2590800"/>
            <a:ext cx="2895600" cy="723900"/>
            <a:chOff x="6591300" y="2590800"/>
            <a:chExt cx="2895600" cy="723900"/>
          </a:xfrm>
        </p:grpSpPr>
        <p:sp>
          <p:nvSpPr>
            <p:cNvPr id="34" name="node17.source-001.bullet"/>
            <p:cNvSpPr/>
            <p:nvPr/>
          </p:nvSpPr>
          <p:spPr>
            <a:xfrm>
              <a:off x="6591300" y="2679700"/>
              <a:ext cx="38100" cy="38100"/>
            </a:xfrm>
            <a:prstGeom prst="rect">
              <a:avLst/>
            </a:prstGeom>
            <a:solidFill>
              <a:srgbClr val="070154"/>
            </a:solidFill>
            <a:ln>
              <a:noFill/>
            </a:ln>
          </p:spPr>
        </p:sp>
        <p:sp>
          <p:nvSpPr>
            <p:cNvPr id="35" name="node17.source-001.text"/>
            <p:cNvSpPr/>
            <p:nvPr/>
          </p:nvSpPr>
          <p:spPr>
            <a:xfrm>
              <a:off x="6743700" y="25908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Code every denial at source</a:t>
              </a:r>
              <a:endParaRPr lang="en-US" sz="1200" spc="0" kern="0" b="0" i="0" dirty="0">
                <a:solidFill>
                  <a:srgbClr val="070154"/>
                </a:solidFill>
                <a:latin typeface="IBM Plex Sans"/>
                <a:ea typeface="IBM Plex Sans"/>
                <a:cs typeface="IBM Plex Sans"/>
              </a:endParaRPr>
            </a:p>
          </p:txBody>
        </p:sp>
        <p:sp>
          <p:nvSpPr>
            <p:cNvPr id="36" name="node17.source-002.bullet"/>
            <p:cNvSpPr/>
            <p:nvPr/>
          </p:nvSpPr>
          <p:spPr>
            <a:xfrm>
              <a:off x="6591300" y="2933700"/>
              <a:ext cx="38100" cy="38100"/>
            </a:xfrm>
            <a:prstGeom prst="rect">
              <a:avLst/>
            </a:prstGeom>
            <a:solidFill>
              <a:srgbClr val="070154"/>
            </a:solidFill>
            <a:ln>
              <a:noFill/>
            </a:ln>
          </p:spPr>
        </p:sp>
        <p:sp>
          <p:nvSpPr>
            <p:cNvPr id="37" name="node17.source-002.text"/>
            <p:cNvSpPr/>
            <p:nvPr/>
          </p:nvSpPr>
          <p:spPr>
            <a:xfrm>
              <a:off x="6743700" y="28448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Name one denials owner</a:t>
              </a:r>
              <a:endParaRPr lang="en-US" sz="1200" spc="0" kern="0" b="0" i="0" dirty="0">
                <a:solidFill>
                  <a:srgbClr val="070154"/>
                </a:solidFill>
                <a:latin typeface="IBM Plex Sans"/>
                <a:ea typeface="IBM Plex Sans"/>
                <a:cs typeface="IBM Plex Sans"/>
              </a:endParaRPr>
            </a:p>
          </p:txBody>
        </p:sp>
        <p:sp>
          <p:nvSpPr>
            <p:cNvPr id="38" name="node17.source-003.bullet"/>
            <p:cNvSpPr/>
            <p:nvPr/>
          </p:nvSpPr>
          <p:spPr>
            <a:xfrm>
              <a:off x="6591300" y="3187700"/>
              <a:ext cx="38100" cy="38100"/>
            </a:xfrm>
            <a:prstGeom prst="rect">
              <a:avLst/>
            </a:prstGeom>
            <a:solidFill>
              <a:srgbClr val="070154"/>
            </a:solidFill>
            <a:ln>
              <a:noFill/>
            </a:ln>
          </p:spPr>
        </p:sp>
        <p:sp>
          <p:nvSpPr>
            <p:cNvPr id="39" name="node17.source-003.text"/>
            <p:cNvSpPr/>
            <p:nvPr/>
          </p:nvSpPr>
          <p:spPr>
            <a:xfrm>
              <a:off x="6743700" y="30988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Write the appeal playbook</a:t>
              </a:r>
              <a:endParaRPr lang="en-US" sz="1200" spc="0" kern="0" b="0" i="0" dirty="0">
                <a:solidFill>
                  <a:srgbClr val="070154"/>
                </a:solidFill>
                <a:latin typeface="IBM Plex Sans"/>
                <a:ea typeface="IBM Plex Sans"/>
                <a:cs typeface="IBM Plex Sans"/>
              </a:endParaRPr>
            </a:p>
          </p:txBody>
        </p:sp>
      </p:grpSp>
      <p:grpSp>
        <p:nvGrpSpPr>
          <p:cNvPr id="127" name="node18"/>
          <p:cNvGrpSpPr/>
          <p:nvPr/>
        </p:nvGrpSpPr>
        <p:grpSpPr>
          <a:xfrm>
            <a:off x="10096500" y="1600200"/>
            <a:ext cx="1397000" cy="139700"/>
            <a:chOff x="10096500" y="1600200"/>
            <a:chExt cx="1397000" cy="139700"/>
          </a:xfrm>
        </p:grpSpPr>
        <p:sp>
          <p:nvSpPr>
            <p:cNvPr id="40" name="node18.text"/>
            <p:cNvSpPr/>
            <p:nvPr/>
          </p:nvSpPr>
          <p:spPr>
            <a:xfrm>
              <a:off x="10096500" y="1600200"/>
              <a:ext cx="1397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LOCATOR</a:t>
              </a:r>
              <a:endParaRPr lang="en-US" sz="800" spc="48" kern="0" b="0" i="0" dirty="0">
                <a:solidFill>
                  <a:srgbClr val="50658E"/>
                </a:solidFill>
                <a:latin typeface="IBM Plex Mono Medium"/>
                <a:ea typeface="IBM Plex Mono Medium"/>
                <a:cs typeface="IBM Plex Mono Medium"/>
              </a:endParaRPr>
            </a:p>
          </p:txBody>
        </p:sp>
      </p:grpSp>
      <p:grpSp>
        <p:nvGrpSpPr>
          <p:cNvPr id="128" name="node19"/>
          <p:cNvGrpSpPr/>
          <p:nvPr/>
        </p:nvGrpSpPr>
        <p:grpSpPr>
          <a:xfrm>
            <a:off x="10096500" y="1828800"/>
            <a:ext cx="203200" cy="203200"/>
            <a:chOff x="10096500" y="1828800"/>
            <a:chExt cx="203200" cy="203200"/>
          </a:xfrm>
        </p:grpSpPr>
        <p:sp>
          <p:nvSpPr>
            <p:cNvPr id="41" name="node19.surface"/>
            <p:cNvSpPr/>
            <p:nvPr/>
          </p:nvSpPr>
          <p:spPr>
            <a:xfrm>
              <a:off x="10096500" y="1828800"/>
              <a:ext cx="203200" cy="203200"/>
            </a:xfrm>
            <a:prstGeom prst="rect">
              <a:avLst/>
            </a:prstGeom>
            <a:solidFill>
              <a:srgbClr val="7C9BFF"/>
            </a:solidFill>
            <a:ln>
              <a:noFill/>
            </a:ln>
          </p:spPr>
        </p:sp>
      </p:grpSp>
      <p:grpSp>
        <p:nvGrpSpPr>
          <p:cNvPr id="129" name="node20"/>
          <p:cNvGrpSpPr/>
          <p:nvPr/>
        </p:nvGrpSpPr>
        <p:grpSpPr>
          <a:xfrm>
            <a:off x="10325100" y="1828800"/>
            <a:ext cx="203200" cy="203200"/>
            <a:chOff x="10325100" y="1828800"/>
            <a:chExt cx="203200" cy="203200"/>
          </a:xfrm>
        </p:grpSpPr>
        <p:sp>
          <p:nvSpPr>
            <p:cNvPr id="42" name="node20.surface"/>
            <p:cNvSpPr/>
            <p:nvPr/>
          </p:nvSpPr>
          <p:spPr>
            <a:xfrm>
              <a:off x="10325100" y="1828800"/>
              <a:ext cx="203200" cy="203200"/>
            </a:xfrm>
            <a:prstGeom prst="rect">
              <a:avLst/>
            </a:prstGeom>
            <a:solidFill>
              <a:srgbClr val="B9C9F0"/>
            </a:solidFill>
            <a:ln>
              <a:noFill/>
            </a:ln>
          </p:spPr>
        </p:sp>
      </p:grpSp>
      <p:grpSp>
        <p:nvGrpSpPr>
          <p:cNvPr id="130" name="node21"/>
          <p:cNvGrpSpPr/>
          <p:nvPr/>
        </p:nvGrpSpPr>
        <p:grpSpPr>
          <a:xfrm>
            <a:off x="10553700" y="1828800"/>
            <a:ext cx="203200" cy="203200"/>
            <a:chOff x="10553700" y="1828800"/>
            <a:chExt cx="203200" cy="203200"/>
          </a:xfrm>
        </p:grpSpPr>
        <p:sp>
          <p:nvSpPr>
            <p:cNvPr id="43" name="node21.surface"/>
            <p:cNvSpPr/>
            <p:nvPr/>
          </p:nvSpPr>
          <p:spPr>
            <a:xfrm>
              <a:off x="10553700" y="1828800"/>
              <a:ext cx="203200" cy="203200"/>
            </a:xfrm>
            <a:prstGeom prst="rect">
              <a:avLst/>
            </a:prstGeom>
            <a:solidFill>
              <a:srgbClr val="B9C9F0"/>
            </a:solidFill>
            <a:ln>
              <a:noFill/>
            </a:ln>
          </p:spPr>
        </p:sp>
      </p:grpSp>
      <p:grpSp>
        <p:nvGrpSpPr>
          <p:cNvPr id="131" name="node22"/>
          <p:cNvGrpSpPr/>
          <p:nvPr/>
        </p:nvGrpSpPr>
        <p:grpSpPr>
          <a:xfrm>
            <a:off x="10782300" y="1828800"/>
            <a:ext cx="203200" cy="203200"/>
            <a:chOff x="10782300" y="1828800"/>
            <a:chExt cx="203200" cy="203200"/>
          </a:xfrm>
        </p:grpSpPr>
        <p:sp>
          <p:nvSpPr>
            <p:cNvPr id="44" name="node22.surface"/>
            <p:cNvSpPr/>
            <p:nvPr/>
          </p:nvSpPr>
          <p:spPr>
            <a:xfrm>
              <a:off x="10782300" y="1828800"/>
              <a:ext cx="203200" cy="203200"/>
            </a:xfrm>
            <a:prstGeom prst="rect">
              <a:avLst/>
            </a:prstGeom>
            <a:solidFill>
              <a:srgbClr val="7C9BFF"/>
            </a:solidFill>
            <a:ln>
              <a:noFill/>
            </a:ln>
          </p:spPr>
        </p:sp>
      </p:grpSp>
      <p:grpSp>
        <p:nvGrpSpPr>
          <p:cNvPr id="132" name="node23"/>
          <p:cNvGrpSpPr/>
          <p:nvPr/>
        </p:nvGrpSpPr>
        <p:grpSpPr>
          <a:xfrm>
            <a:off x="11010900" y="1828800"/>
            <a:ext cx="203200" cy="203200"/>
            <a:chOff x="11010900" y="1828800"/>
            <a:chExt cx="203200" cy="203200"/>
          </a:xfrm>
        </p:grpSpPr>
        <p:sp>
          <p:nvSpPr>
            <p:cNvPr id="45" name="node23.surface"/>
            <p:cNvSpPr/>
            <p:nvPr/>
          </p:nvSpPr>
          <p:spPr>
            <a:xfrm>
              <a:off x="11010900" y="1828800"/>
              <a:ext cx="203200" cy="203200"/>
            </a:xfrm>
            <a:prstGeom prst="rect">
              <a:avLst/>
            </a:prstGeom>
            <a:solidFill>
              <a:srgbClr val="B9C9F0"/>
            </a:solidFill>
            <a:ln>
              <a:noFill/>
            </a:ln>
          </p:spPr>
        </p:sp>
      </p:grpSp>
      <p:grpSp>
        <p:nvGrpSpPr>
          <p:cNvPr id="133" name="node24"/>
          <p:cNvGrpSpPr/>
          <p:nvPr/>
        </p:nvGrpSpPr>
        <p:grpSpPr>
          <a:xfrm>
            <a:off x="10096500" y="2057400"/>
            <a:ext cx="203200" cy="203200"/>
            <a:chOff x="10096500" y="2057400"/>
            <a:chExt cx="203200" cy="203200"/>
          </a:xfrm>
        </p:grpSpPr>
        <p:sp>
          <p:nvSpPr>
            <p:cNvPr id="46" name="node24.surface"/>
            <p:cNvSpPr/>
            <p:nvPr/>
          </p:nvSpPr>
          <p:spPr>
            <a:xfrm>
              <a:off x="10096500" y="2057400"/>
              <a:ext cx="203200" cy="203200"/>
            </a:xfrm>
            <a:prstGeom prst="rect">
              <a:avLst/>
            </a:prstGeom>
            <a:solidFill>
              <a:srgbClr val="7C9BFF"/>
            </a:solidFill>
            <a:ln>
              <a:noFill/>
            </a:ln>
          </p:spPr>
        </p:sp>
      </p:grpSp>
      <p:grpSp>
        <p:nvGrpSpPr>
          <p:cNvPr id="134" name="node25"/>
          <p:cNvGrpSpPr/>
          <p:nvPr/>
        </p:nvGrpSpPr>
        <p:grpSpPr>
          <a:xfrm>
            <a:off x="10325100" y="2057400"/>
            <a:ext cx="203200" cy="203200"/>
            <a:chOff x="10325100" y="2057400"/>
            <a:chExt cx="203200" cy="203200"/>
          </a:xfrm>
        </p:grpSpPr>
        <p:sp>
          <p:nvSpPr>
            <p:cNvPr id="47" name="node25.surface"/>
            <p:cNvSpPr/>
            <p:nvPr/>
          </p:nvSpPr>
          <p:spPr>
            <a:xfrm>
              <a:off x="10325100" y="2057400"/>
              <a:ext cx="203200" cy="203200"/>
            </a:xfrm>
            <a:prstGeom prst="rect">
              <a:avLst/>
            </a:prstGeom>
            <a:solidFill>
              <a:srgbClr val="7C9BFF"/>
            </a:solidFill>
            <a:ln>
              <a:noFill/>
            </a:ln>
          </p:spPr>
        </p:sp>
      </p:grpSp>
      <p:grpSp>
        <p:nvGrpSpPr>
          <p:cNvPr id="135" name="node26"/>
          <p:cNvGrpSpPr/>
          <p:nvPr/>
        </p:nvGrpSpPr>
        <p:grpSpPr>
          <a:xfrm>
            <a:off x="10553700" y="2057400"/>
            <a:ext cx="203200" cy="203200"/>
            <a:chOff x="10553700" y="2057400"/>
            <a:chExt cx="203200" cy="203200"/>
          </a:xfrm>
        </p:grpSpPr>
        <p:sp>
          <p:nvSpPr>
            <p:cNvPr id="48" name="node26.surface"/>
            <p:cNvSpPr/>
            <p:nvPr/>
          </p:nvSpPr>
          <p:spPr>
            <a:xfrm>
              <a:off x="10553700" y="2057400"/>
              <a:ext cx="203200" cy="203200"/>
            </a:xfrm>
            <a:prstGeom prst="rect">
              <a:avLst/>
            </a:prstGeom>
            <a:solidFill>
              <a:srgbClr val="B9C9F0"/>
            </a:solidFill>
            <a:ln>
              <a:noFill/>
            </a:ln>
          </p:spPr>
        </p:sp>
      </p:grpSp>
      <p:grpSp>
        <p:nvGrpSpPr>
          <p:cNvPr id="136" name="node27"/>
          <p:cNvGrpSpPr/>
          <p:nvPr/>
        </p:nvGrpSpPr>
        <p:grpSpPr>
          <a:xfrm>
            <a:off x="10782300" y="2057400"/>
            <a:ext cx="203200" cy="203200"/>
            <a:chOff x="10782300" y="2057400"/>
            <a:chExt cx="203200" cy="203200"/>
          </a:xfrm>
        </p:grpSpPr>
        <p:sp>
          <p:nvSpPr>
            <p:cNvPr id="49" name="node27.surface"/>
            <p:cNvSpPr/>
            <p:nvPr/>
          </p:nvSpPr>
          <p:spPr>
            <a:xfrm>
              <a:off x="10782300" y="2057400"/>
              <a:ext cx="203200" cy="203200"/>
            </a:xfrm>
            <a:prstGeom prst="rect">
              <a:avLst/>
            </a:prstGeom>
            <a:solidFill>
              <a:srgbClr val="7C9BFF"/>
            </a:solidFill>
            <a:ln>
              <a:noFill/>
            </a:ln>
          </p:spPr>
        </p:sp>
      </p:grpSp>
      <p:grpSp>
        <p:nvGrpSpPr>
          <p:cNvPr id="137" name="node28"/>
          <p:cNvGrpSpPr/>
          <p:nvPr/>
        </p:nvGrpSpPr>
        <p:grpSpPr>
          <a:xfrm>
            <a:off x="11010900" y="2057400"/>
            <a:ext cx="203200" cy="203200"/>
            <a:chOff x="11010900" y="2057400"/>
            <a:chExt cx="203200" cy="203200"/>
          </a:xfrm>
        </p:grpSpPr>
        <p:sp>
          <p:nvSpPr>
            <p:cNvPr id="50" name="node28.surface"/>
            <p:cNvSpPr/>
            <p:nvPr/>
          </p:nvSpPr>
          <p:spPr>
            <a:xfrm>
              <a:off x="11010900" y="2057400"/>
              <a:ext cx="203200" cy="203200"/>
            </a:xfrm>
            <a:prstGeom prst="rect">
              <a:avLst/>
            </a:prstGeom>
            <a:solidFill>
              <a:srgbClr val="7C9BFF"/>
            </a:solidFill>
            <a:ln>
              <a:noFill/>
            </a:ln>
          </p:spPr>
        </p:sp>
      </p:grpSp>
      <p:grpSp>
        <p:nvGrpSpPr>
          <p:cNvPr id="138" name="node29"/>
          <p:cNvGrpSpPr/>
          <p:nvPr/>
        </p:nvGrpSpPr>
        <p:grpSpPr>
          <a:xfrm>
            <a:off x="10096500" y="2286000"/>
            <a:ext cx="203200" cy="203200"/>
            <a:chOff x="10096500" y="2286000"/>
            <a:chExt cx="203200" cy="203200"/>
          </a:xfrm>
        </p:grpSpPr>
        <p:sp>
          <p:nvSpPr>
            <p:cNvPr id="51" name="node29.surface"/>
            <p:cNvSpPr/>
            <p:nvPr/>
          </p:nvSpPr>
          <p:spPr>
            <a:xfrm>
              <a:off x="10096500" y="2286000"/>
              <a:ext cx="203200" cy="203200"/>
            </a:xfrm>
            <a:prstGeom prst="rect">
              <a:avLst/>
            </a:prstGeom>
            <a:solidFill>
              <a:srgbClr val="B9C9F0"/>
            </a:solidFill>
            <a:ln>
              <a:noFill/>
            </a:ln>
          </p:spPr>
        </p:sp>
      </p:grpSp>
      <p:grpSp>
        <p:nvGrpSpPr>
          <p:cNvPr id="139" name="node30"/>
          <p:cNvGrpSpPr/>
          <p:nvPr/>
        </p:nvGrpSpPr>
        <p:grpSpPr>
          <a:xfrm>
            <a:off x="10325100" y="2286000"/>
            <a:ext cx="203200" cy="203200"/>
            <a:chOff x="10325100" y="2286000"/>
            <a:chExt cx="203200" cy="203200"/>
          </a:xfrm>
        </p:grpSpPr>
        <p:sp>
          <p:nvSpPr>
            <p:cNvPr id="52" name="node30.surface"/>
            <p:cNvSpPr/>
            <p:nvPr/>
          </p:nvSpPr>
          <p:spPr>
            <a:xfrm>
              <a:off x="10325100" y="2286000"/>
              <a:ext cx="203200" cy="203200"/>
            </a:xfrm>
            <a:prstGeom prst="rect">
              <a:avLst/>
            </a:prstGeom>
            <a:solidFill>
              <a:srgbClr val="E8EEF8"/>
            </a:solidFill>
            <a:ln>
              <a:noFill/>
            </a:ln>
          </p:spPr>
        </p:sp>
      </p:grpSp>
      <p:grpSp>
        <p:nvGrpSpPr>
          <p:cNvPr id="140" name="node31"/>
          <p:cNvGrpSpPr/>
          <p:nvPr/>
        </p:nvGrpSpPr>
        <p:grpSpPr>
          <a:xfrm>
            <a:off x="10553700" y="2286000"/>
            <a:ext cx="203200" cy="203200"/>
            <a:chOff x="10553700" y="2286000"/>
            <a:chExt cx="203200" cy="203200"/>
          </a:xfrm>
        </p:grpSpPr>
        <p:sp>
          <p:nvSpPr>
            <p:cNvPr id="53" name="node31.surface"/>
            <p:cNvSpPr/>
            <p:nvPr/>
          </p:nvSpPr>
          <p:spPr>
            <a:xfrm>
              <a:off x="10553700" y="2286000"/>
              <a:ext cx="203200" cy="203200"/>
            </a:xfrm>
            <a:prstGeom prst="rect">
              <a:avLst/>
            </a:prstGeom>
            <a:solidFill>
              <a:srgbClr val="E8EEF8"/>
            </a:solidFill>
            <a:ln>
              <a:noFill/>
            </a:ln>
          </p:spPr>
        </p:sp>
      </p:grpSp>
      <p:grpSp>
        <p:nvGrpSpPr>
          <p:cNvPr id="141" name="node32"/>
          <p:cNvGrpSpPr/>
          <p:nvPr/>
        </p:nvGrpSpPr>
        <p:grpSpPr>
          <a:xfrm>
            <a:off x="10782300" y="2286000"/>
            <a:ext cx="203200" cy="203200"/>
            <a:chOff x="10782300" y="2286000"/>
            <a:chExt cx="203200" cy="203200"/>
          </a:xfrm>
        </p:grpSpPr>
        <p:sp>
          <p:nvSpPr>
            <p:cNvPr id="54" name="node32.surface"/>
            <p:cNvSpPr/>
            <p:nvPr/>
          </p:nvSpPr>
          <p:spPr>
            <a:xfrm>
              <a:off x="10782300" y="2286000"/>
              <a:ext cx="203200" cy="203200"/>
            </a:xfrm>
            <a:prstGeom prst="rect">
              <a:avLst/>
            </a:prstGeom>
            <a:solidFill>
              <a:srgbClr val="B9C9F0"/>
            </a:solidFill>
            <a:ln>
              <a:noFill/>
            </a:ln>
          </p:spPr>
        </p:sp>
      </p:grpSp>
      <p:grpSp>
        <p:nvGrpSpPr>
          <p:cNvPr id="142" name="node33"/>
          <p:cNvGrpSpPr/>
          <p:nvPr/>
        </p:nvGrpSpPr>
        <p:grpSpPr>
          <a:xfrm>
            <a:off x="11010900" y="2286000"/>
            <a:ext cx="203200" cy="203200"/>
            <a:chOff x="11010900" y="2286000"/>
            <a:chExt cx="203200" cy="203200"/>
          </a:xfrm>
        </p:grpSpPr>
        <p:sp>
          <p:nvSpPr>
            <p:cNvPr id="55" name="node33.surface"/>
            <p:cNvSpPr/>
            <p:nvPr/>
          </p:nvSpPr>
          <p:spPr>
            <a:xfrm>
              <a:off x="11010900" y="2286000"/>
              <a:ext cx="203200" cy="203200"/>
            </a:xfrm>
            <a:prstGeom prst="rect">
              <a:avLst/>
            </a:prstGeom>
            <a:solidFill>
              <a:srgbClr val="B9C9F0"/>
            </a:solidFill>
            <a:ln>
              <a:noFill/>
            </a:ln>
          </p:spPr>
        </p:sp>
      </p:grpSp>
      <p:grpSp>
        <p:nvGrpSpPr>
          <p:cNvPr id="143" name="node34"/>
          <p:cNvGrpSpPr/>
          <p:nvPr/>
        </p:nvGrpSpPr>
        <p:grpSpPr>
          <a:xfrm>
            <a:off x="10096500" y="2514600"/>
            <a:ext cx="203200" cy="203200"/>
            <a:chOff x="10096500" y="2514600"/>
            <a:chExt cx="203200" cy="203200"/>
          </a:xfrm>
        </p:grpSpPr>
        <p:sp>
          <p:nvSpPr>
            <p:cNvPr id="56" name="node34.surface"/>
            <p:cNvSpPr/>
            <p:nvPr/>
          </p:nvSpPr>
          <p:spPr>
            <a:xfrm>
              <a:off x="10096500" y="2514600"/>
              <a:ext cx="203200" cy="203200"/>
            </a:xfrm>
            <a:prstGeom prst="rect">
              <a:avLst/>
            </a:prstGeom>
            <a:solidFill>
              <a:srgbClr val="0047FF"/>
            </a:solidFill>
            <a:ln>
              <a:noFill/>
            </a:ln>
          </p:spPr>
        </p:sp>
      </p:grpSp>
      <p:grpSp>
        <p:nvGrpSpPr>
          <p:cNvPr id="144" name="node35"/>
          <p:cNvGrpSpPr/>
          <p:nvPr/>
        </p:nvGrpSpPr>
        <p:grpSpPr>
          <a:xfrm>
            <a:off x="10325100" y="2514600"/>
            <a:ext cx="203200" cy="203200"/>
            <a:chOff x="10325100" y="2514600"/>
            <a:chExt cx="203200" cy="203200"/>
          </a:xfrm>
        </p:grpSpPr>
        <p:sp>
          <p:nvSpPr>
            <p:cNvPr id="57" name="node35.surface"/>
            <p:cNvSpPr/>
            <p:nvPr/>
          </p:nvSpPr>
          <p:spPr>
            <a:xfrm>
              <a:off x="10325100" y="2514600"/>
              <a:ext cx="203200" cy="203200"/>
            </a:xfrm>
            <a:prstGeom prst="rect">
              <a:avLst/>
            </a:prstGeom>
            <a:solidFill>
              <a:srgbClr val="070154"/>
            </a:solidFill>
            <a:ln>
              <a:noFill/>
            </a:ln>
          </p:spPr>
        </p:sp>
      </p:grpSp>
      <p:grpSp>
        <p:nvGrpSpPr>
          <p:cNvPr id="145" name="node36"/>
          <p:cNvGrpSpPr/>
          <p:nvPr/>
        </p:nvGrpSpPr>
        <p:grpSpPr>
          <a:xfrm>
            <a:off x="10553700" y="2514600"/>
            <a:ext cx="203200" cy="203200"/>
            <a:chOff x="10553700" y="2514600"/>
            <a:chExt cx="203200" cy="203200"/>
          </a:xfrm>
        </p:grpSpPr>
        <p:sp>
          <p:nvSpPr>
            <p:cNvPr id="58" name="node36.surface"/>
            <p:cNvSpPr/>
            <p:nvPr/>
          </p:nvSpPr>
          <p:spPr>
            <a:xfrm>
              <a:off x="10553700" y="2514600"/>
              <a:ext cx="203200" cy="203200"/>
            </a:xfrm>
            <a:prstGeom prst="rect">
              <a:avLst/>
            </a:prstGeom>
            <a:solidFill>
              <a:srgbClr val="7C9BFF"/>
            </a:solidFill>
            <a:ln>
              <a:noFill/>
            </a:ln>
          </p:spPr>
        </p:sp>
      </p:grpSp>
      <p:grpSp>
        <p:nvGrpSpPr>
          <p:cNvPr id="146" name="node37"/>
          <p:cNvGrpSpPr/>
          <p:nvPr/>
        </p:nvGrpSpPr>
        <p:grpSpPr>
          <a:xfrm>
            <a:off x="10782300" y="2514600"/>
            <a:ext cx="203200" cy="203200"/>
            <a:chOff x="10782300" y="2514600"/>
            <a:chExt cx="203200" cy="203200"/>
          </a:xfrm>
        </p:grpSpPr>
        <p:sp>
          <p:nvSpPr>
            <p:cNvPr id="59" name="node37.surface"/>
            <p:cNvSpPr/>
            <p:nvPr/>
          </p:nvSpPr>
          <p:spPr>
            <a:xfrm>
              <a:off x="10782300" y="2514600"/>
              <a:ext cx="203200" cy="203200"/>
            </a:xfrm>
            <a:prstGeom prst="rect">
              <a:avLst/>
            </a:prstGeom>
            <a:solidFill>
              <a:srgbClr val="7C9BFF"/>
            </a:solidFill>
            <a:ln>
              <a:noFill/>
            </a:ln>
          </p:spPr>
        </p:sp>
      </p:grpSp>
      <p:grpSp>
        <p:nvGrpSpPr>
          <p:cNvPr id="147" name="node38"/>
          <p:cNvGrpSpPr/>
          <p:nvPr/>
        </p:nvGrpSpPr>
        <p:grpSpPr>
          <a:xfrm>
            <a:off x="11010900" y="2514600"/>
            <a:ext cx="203200" cy="203200"/>
            <a:chOff x="11010900" y="2514600"/>
            <a:chExt cx="203200" cy="203200"/>
          </a:xfrm>
        </p:grpSpPr>
        <p:sp>
          <p:nvSpPr>
            <p:cNvPr id="60" name="node38.surface"/>
            <p:cNvSpPr/>
            <p:nvPr/>
          </p:nvSpPr>
          <p:spPr>
            <a:xfrm>
              <a:off x="11010900" y="2514600"/>
              <a:ext cx="203200" cy="203200"/>
            </a:xfrm>
            <a:prstGeom prst="rect">
              <a:avLst/>
            </a:prstGeom>
            <a:solidFill>
              <a:srgbClr val="0047FF"/>
            </a:solidFill>
            <a:ln>
              <a:noFill/>
            </a:ln>
          </p:spPr>
        </p:sp>
      </p:grpSp>
      <p:grpSp>
        <p:nvGrpSpPr>
          <p:cNvPr id="148" name="node39"/>
          <p:cNvGrpSpPr/>
          <p:nvPr/>
        </p:nvGrpSpPr>
        <p:grpSpPr>
          <a:xfrm>
            <a:off x="10096500" y="2743200"/>
            <a:ext cx="203200" cy="203200"/>
            <a:chOff x="10096500" y="2743200"/>
            <a:chExt cx="203200" cy="203200"/>
          </a:xfrm>
        </p:grpSpPr>
        <p:sp>
          <p:nvSpPr>
            <p:cNvPr id="61" name="node39.surface"/>
            <p:cNvSpPr/>
            <p:nvPr/>
          </p:nvSpPr>
          <p:spPr>
            <a:xfrm>
              <a:off x="10096500" y="2743200"/>
              <a:ext cx="203200" cy="203200"/>
            </a:xfrm>
            <a:prstGeom prst="rect">
              <a:avLst/>
            </a:prstGeom>
            <a:solidFill>
              <a:srgbClr val="7C9BFF"/>
            </a:solidFill>
            <a:ln>
              <a:noFill/>
            </a:ln>
          </p:spPr>
        </p:sp>
      </p:grpSp>
      <p:grpSp>
        <p:nvGrpSpPr>
          <p:cNvPr id="149" name="node40"/>
          <p:cNvGrpSpPr/>
          <p:nvPr/>
        </p:nvGrpSpPr>
        <p:grpSpPr>
          <a:xfrm>
            <a:off x="10325100" y="2743200"/>
            <a:ext cx="203200" cy="203200"/>
            <a:chOff x="10325100" y="2743200"/>
            <a:chExt cx="203200" cy="203200"/>
          </a:xfrm>
        </p:grpSpPr>
        <p:sp>
          <p:nvSpPr>
            <p:cNvPr id="62" name="node40.surface"/>
            <p:cNvSpPr/>
            <p:nvPr/>
          </p:nvSpPr>
          <p:spPr>
            <a:xfrm>
              <a:off x="10325100" y="2743200"/>
              <a:ext cx="203200" cy="203200"/>
            </a:xfrm>
            <a:prstGeom prst="rect">
              <a:avLst/>
            </a:prstGeom>
            <a:solidFill>
              <a:srgbClr val="7C9BFF"/>
            </a:solidFill>
            <a:ln>
              <a:noFill/>
            </a:ln>
          </p:spPr>
        </p:sp>
      </p:grpSp>
      <p:grpSp>
        <p:nvGrpSpPr>
          <p:cNvPr id="150" name="node41"/>
          <p:cNvGrpSpPr/>
          <p:nvPr/>
        </p:nvGrpSpPr>
        <p:grpSpPr>
          <a:xfrm>
            <a:off x="10553700" y="2743200"/>
            <a:ext cx="203200" cy="203200"/>
            <a:chOff x="10553700" y="2743200"/>
            <a:chExt cx="203200" cy="203200"/>
          </a:xfrm>
        </p:grpSpPr>
        <p:sp>
          <p:nvSpPr>
            <p:cNvPr id="63" name="node41.surface"/>
            <p:cNvSpPr/>
            <p:nvPr/>
          </p:nvSpPr>
          <p:spPr>
            <a:xfrm>
              <a:off x="10553700" y="2743200"/>
              <a:ext cx="203200" cy="203200"/>
            </a:xfrm>
            <a:prstGeom prst="rect">
              <a:avLst/>
            </a:prstGeom>
            <a:solidFill>
              <a:srgbClr val="7C9BFF"/>
            </a:solidFill>
            <a:ln>
              <a:noFill/>
            </a:ln>
          </p:spPr>
        </p:sp>
      </p:grpSp>
      <p:grpSp>
        <p:nvGrpSpPr>
          <p:cNvPr id="151" name="node42"/>
          <p:cNvGrpSpPr/>
          <p:nvPr/>
        </p:nvGrpSpPr>
        <p:grpSpPr>
          <a:xfrm>
            <a:off x="10782300" y="2743200"/>
            <a:ext cx="203200" cy="203200"/>
            <a:chOff x="10782300" y="2743200"/>
            <a:chExt cx="203200" cy="203200"/>
          </a:xfrm>
        </p:grpSpPr>
        <p:sp>
          <p:nvSpPr>
            <p:cNvPr id="64" name="node42.surface"/>
            <p:cNvSpPr/>
            <p:nvPr/>
          </p:nvSpPr>
          <p:spPr>
            <a:xfrm>
              <a:off x="10782300" y="2743200"/>
              <a:ext cx="203200" cy="203200"/>
            </a:xfrm>
            <a:prstGeom prst="rect">
              <a:avLst/>
            </a:prstGeom>
            <a:solidFill>
              <a:srgbClr val="B9C9F0"/>
            </a:solidFill>
            <a:ln>
              <a:noFill/>
            </a:ln>
          </p:spPr>
        </p:sp>
      </p:grpSp>
      <p:grpSp>
        <p:nvGrpSpPr>
          <p:cNvPr id="152" name="node43"/>
          <p:cNvGrpSpPr/>
          <p:nvPr/>
        </p:nvGrpSpPr>
        <p:grpSpPr>
          <a:xfrm>
            <a:off x="11010900" y="2743200"/>
            <a:ext cx="203200" cy="203200"/>
            <a:chOff x="11010900" y="2743200"/>
            <a:chExt cx="203200" cy="203200"/>
          </a:xfrm>
        </p:grpSpPr>
        <p:sp>
          <p:nvSpPr>
            <p:cNvPr id="65" name="node43.surface"/>
            <p:cNvSpPr/>
            <p:nvPr/>
          </p:nvSpPr>
          <p:spPr>
            <a:xfrm>
              <a:off x="11010900" y="2743200"/>
              <a:ext cx="203200" cy="203200"/>
            </a:xfrm>
            <a:prstGeom prst="rect">
              <a:avLst/>
            </a:prstGeom>
            <a:solidFill>
              <a:srgbClr val="7C9BFF"/>
            </a:solidFill>
            <a:ln>
              <a:noFill/>
            </a:ln>
          </p:spPr>
        </p:sp>
      </p:grpSp>
      <p:grpSp>
        <p:nvGrpSpPr>
          <p:cNvPr id="153" name="node44"/>
          <p:cNvGrpSpPr/>
          <p:nvPr/>
        </p:nvGrpSpPr>
        <p:grpSpPr>
          <a:xfrm>
            <a:off x="10096500" y="2971800"/>
            <a:ext cx="203200" cy="203200"/>
            <a:chOff x="10096500" y="2971800"/>
            <a:chExt cx="203200" cy="203200"/>
          </a:xfrm>
        </p:grpSpPr>
        <p:sp>
          <p:nvSpPr>
            <p:cNvPr id="66" name="node44.surface"/>
            <p:cNvSpPr/>
            <p:nvPr/>
          </p:nvSpPr>
          <p:spPr>
            <a:xfrm>
              <a:off x="10096500" y="2971800"/>
              <a:ext cx="203200" cy="203200"/>
            </a:xfrm>
            <a:prstGeom prst="rect">
              <a:avLst/>
            </a:prstGeom>
            <a:solidFill>
              <a:srgbClr val="B9C9F0"/>
            </a:solidFill>
            <a:ln>
              <a:noFill/>
            </a:ln>
          </p:spPr>
        </p:sp>
      </p:grpSp>
      <p:grpSp>
        <p:nvGrpSpPr>
          <p:cNvPr id="154" name="node45"/>
          <p:cNvGrpSpPr/>
          <p:nvPr/>
        </p:nvGrpSpPr>
        <p:grpSpPr>
          <a:xfrm>
            <a:off x="10325100" y="2971800"/>
            <a:ext cx="203200" cy="203200"/>
            <a:chOff x="10325100" y="2971800"/>
            <a:chExt cx="203200" cy="203200"/>
          </a:xfrm>
        </p:grpSpPr>
        <p:sp>
          <p:nvSpPr>
            <p:cNvPr id="67" name="node45.surface"/>
            <p:cNvSpPr/>
            <p:nvPr/>
          </p:nvSpPr>
          <p:spPr>
            <a:xfrm>
              <a:off x="10325100" y="2971800"/>
              <a:ext cx="203200" cy="203200"/>
            </a:xfrm>
            <a:prstGeom prst="rect">
              <a:avLst/>
            </a:prstGeom>
            <a:solidFill>
              <a:srgbClr val="B9C9F0"/>
            </a:solidFill>
            <a:ln>
              <a:noFill/>
            </a:ln>
          </p:spPr>
        </p:sp>
      </p:grpSp>
      <p:grpSp>
        <p:nvGrpSpPr>
          <p:cNvPr id="155" name="node46"/>
          <p:cNvGrpSpPr/>
          <p:nvPr/>
        </p:nvGrpSpPr>
        <p:grpSpPr>
          <a:xfrm>
            <a:off x="10553700" y="2971800"/>
            <a:ext cx="203200" cy="203200"/>
            <a:chOff x="10553700" y="2971800"/>
            <a:chExt cx="203200" cy="203200"/>
          </a:xfrm>
        </p:grpSpPr>
        <p:sp>
          <p:nvSpPr>
            <p:cNvPr id="68" name="node46.surface"/>
            <p:cNvSpPr/>
            <p:nvPr/>
          </p:nvSpPr>
          <p:spPr>
            <a:xfrm>
              <a:off x="10553700" y="2971800"/>
              <a:ext cx="203200" cy="203200"/>
            </a:xfrm>
            <a:prstGeom prst="rect">
              <a:avLst/>
            </a:prstGeom>
            <a:solidFill>
              <a:srgbClr val="B9C9F0"/>
            </a:solidFill>
            <a:ln>
              <a:noFill/>
            </a:ln>
          </p:spPr>
        </p:sp>
      </p:grpSp>
      <p:grpSp>
        <p:nvGrpSpPr>
          <p:cNvPr id="156" name="node47"/>
          <p:cNvGrpSpPr/>
          <p:nvPr/>
        </p:nvGrpSpPr>
        <p:grpSpPr>
          <a:xfrm>
            <a:off x="10782300" y="2971800"/>
            <a:ext cx="203200" cy="203200"/>
            <a:chOff x="10782300" y="2971800"/>
            <a:chExt cx="203200" cy="203200"/>
          </a:xfrm>
        </p:grpSpPr>
        <p:sp>
          <p:nvSpPr>
            <p:cNvPr id="69" name="node47.surface"/>
            <p:cNvSpPr/>
            <p:nvPr/>
          </p:nvSpPr>
          <p:spPr>
            <a:xfrm>
              <a:off x="10782300" y="2971800"/>
              <a:ext cx="203200" cy="203200"/>
            </a:xfrm>
            <a:prstGeom prst="rect">
              <a:avLst/>
            </a:prstGeom>
            <a:solidFill>
              <a:srgbClr val="B9C9F0"/>
            </a:solidFill>
            <a:ln>
              <a:noFill/>
            </a:ln>
          </p:spPr>
        </p:sp>
      </p:grpSp>
      <p:grpSp>
        <p:nvGrpSpPr>
          <p:cNvPr id="157" name="node48"/>
          <p:cNvGrpSpPr/>
          <p:nvPr/>
        </p:nvGrpSpPr>
        <p:grpSpPr>
          <a:xfrm>
            <a:off x="11010900" y="2971800"/>
            <a:ext cx="203200" cy="203200"/>
            <a:chOff x="11010900" y="2971800"/>
            <a:chExt cx="203200" cy="203200"/>
          </a:xfrm>
        </p:grpSpPr>
        <p:sp>
          <p:nvSpPr>
            <p:cNvPr id="70" name="node48.surface"/>
            <p:cNvSpPr/>
            <p:nvPr/>
          </p:nvSpPr>
          <p:spPr>
            <a:xfrm>
              <a:off x="11010900" y="2971800"/>
              <a:ext cx="203200" cy="203200"/>
            </a:xfrm>
            <a:prstGeom prst="rect">
              <a:avLst/>
            </a:prstGeom>
            <a:solidFill>
              <a:srgbClr val="E8EEF8"/>
            </a:solidFill>
            <a:ln>
              <a:noFill/>
            </a:ln>
          </p:spPr>
        </p:sp>
      </p:grpSp>
      <p:grpSp>
        <p:nvGrpSpPr>
          <p:cNvPr id="158" name="node49"/>
          <p:cNvGrpSpPr/>
          <p:nvPr/>
        </p:nvGrpSpPr>
        <p:grpSpPr>
          <a:xfrm>
            <a:off x="10096500" y="3200400"/>
            <a:ext cx="203200" cy="203200"/>
            <a:chOff x="10096500" y="3200400"/>
            <a:chExt cx="203200" cy="203200"/>
          </a:xfrm>
        </p:grpSpPr>
        <p:sp>
          <p:nvSpPr>
            <p:cNvPr id="71" name="node49.surface"/>
            <p:cNvSpPr/>
            <p:nvPr/>
          </p:nvSpPr>
          <p:spPr>
            <a:xfrm>
              <a:off x="10096500" y="3200400"/>
              <a:ext cx="203200" cy="203200"/>
            </a:xfrm>
            <a:prstGeom prst="rect">
              <a:avLst/>
            </a:prstGeom>
            <a:solidFill>
              <a:srgbClr val="0047FF"/>
            </a:solidFill>
            <a:ln>
              <a:noFill/>
            </a:ln>
          </p:spPr>
        </p:sp>
      </p:grpSp>
      <p:grpSp>
        <p:nvGrpSpPr>
          <p:cNvPr id="159" name="node50"/>
          <p:cNvGrpSpPr/>
          <p:nvPr/>
        </p:nvGrpSpPr>
        <p:grpSpPr>
          <a:xfrm>
            <a:off x="10325100" y="3200400"/>
            <a:ext cx="203200" cy="203200"/>
            <a:chOff x="10325100" y="3200400"/>
            <a:chExt cx="203200" cy="203200"/>
          </a:xfrm>
        </p:grpSpPr>
        <p:sp>
          <p:nvSpPr>
            <p:cNvPr id="72" name="node50.surface"/>
            <p:cNvSpPr/>
            <p:nvPr/>
          </p:nvSpPr>
          <p:spPr>
            <a:xfrm>
              <a:off x="10325100" y="3200400"/>
              <a:ext cx="203200" cy="203200"/>
            </a:xfrm>
            <a:prstGeom prst="rect">
              <a:avLst/>
            </a:prstGeom>
            <a:solidFill>
              <a:srgbClr val="0047FF"/>
            </a:solidFill>
            <a:ln>
              <a:noFill/>
            </a:ln>
          </p:spPr>
        </p:sp>
      </p:grpSp>
      <p:grpSp>
        <p:nvGrpSpPr>
          <p:cNvPr id="160" name="node51"/>
          <p:cNvGrpSpPr/>
          <p:nvPr/>
        </p:nvGrpSpPr>
        <p:grpSpPr>
          <a:xfrm>
            <a:off x="10553700" y="3200400"/>
            <a:ext cx="203200" cy="203200"/>
            <a:chOff x="10553700" y="3200400"/>
            <a:chExt cx="203200" cy="203200"/>
          </a:xfrm>
        </p:grpSpPr>
        <p:sp>
          <p:nvSpPr>
            <p:cNvPr id="73" name="node51.surface"/>
            <p:cNvSpPr/>
            <p:nvPr/>
          </p:nvSpPr>
          <p:spPr>
            <a:xfrm>
              <a:off x="10553700" y="3200400"/>
              <a:ext cx="203200" cy="203200"/>
            </a:xfrm>
            <a:prstGeom prst="rect">
              <a:avLst/>
            </a:prstGeom>
            <a:solidFill>
              <a:srgbClr val="7C9BFF"/>
            </a:solidFill>
            <a:ln>
              <a:noFill/>
            </a:ln>
          </p:spPr>
        </p:sp>
      </p:grpSp>
      <p:grpSp>
        <p:nvGrpSpPr>
          <p:cNvPr id="161" name="node52"/>
          <p:cNvGrpSpPr/>
          <p:nvPr/>
        </p:nvGrpSpPr>
        <p:grpSpPr>
          <a:xfrm>
            <a:off x="10782300" y="3200400"/>
            <a:ext cx="203200" cy="203200"/>
            <a:chOff x="10782300" y="3200400"/>
            <a:chExt cx="203200" cy="203200"/>
          </a:xfrm>
        </p:grpSpPr>
        <p:sp>
          <p:nvSpPr>
            <p:cNvPr id="74" name="node52.surface"/>
            <p:cNvSpPr/>
            <p:nvPr/>
          </p:nvSpPr>
          <p:spPr>
            <a:xfrm>
              <a:off x="10782300" y="3200400"/>
              <a:ext cx="203200" cy="203200"/>
            </a:xfrm>
            <a:prstGeom prst="rect">
              <a:avLst/>
            </a:prstGeom>
            <a:solidFill>
              <a:srgbClr val="0047FF"/>
            </a:solidFill>
            <a:ln>
              <a:noFill/>
            </a:ln>
          </p:spPr>
        </p:sp>
      </p:grpSp>
      <p:grpSp>
        <p:nvGrpSpPr>
          <p:cNvPr id="162" name="node53"/>
          <p:cNvGrpSpPr/>
          <p:nvPr/>
        </p:nvGrpSpPr>
        <p:grpSpPr>
          <a:xfrm>
            <a:off x="11010900" y="3200400"/>
            <a:ext cx="203200" cy="203200"/>
            <a:chOff x="11010900" y="3200400"/>
            <a:chExt cx="203200" cy="203200"/>
          </a:xfrm>
        </p:grpSpPr>
        <p:sp>
          <p:nvSpPr>
            <p:cNvPr id="75" name="node53.surface"/>
            <p:cNvSpPr/>
            <p:nvPr/>
          </p:nvSpPr>
          <p:spPr>
            <a:xfrm>
              <a:off x="11010900" y="3200400"/>
              <a:ext cx="203200" cy="203200"/>
            </a:xfrm>
            <a:prstGeom prst="rect">
              <a:avLst/>
            </a:prstGeom>
            <a:solidFill>
              <a:srgbClr val="7C9BFF"/>
            </a:solidFill>
            <a:ln>
              <a:noFill/>
            </a:ln>
          </p:spPr>
        </p:sp>
      </p:grpSp>
      <p:grpSp>
        <p:nvGrpSpPr>
          <p:cNvPr id="163" name="node54"/>
          <p:cNvGrpSpPr/>
          <p:nvPr/>
        </p:nvGrpSpPr>
        <p:grpSpPr>
          <a:xfrm>
            <a:off x="10096500" y="3429000"/>
            <a:ext cx="203200" cy="203200"/>
            <a:chOff x="10096500" y="3429000"/>
            <a:chExt cx="203200" cy="203200"/>
          </a:xfrm>
        </p:grpSpPr>
        <p:sp>
          <p:nvSpPr>
            <p:cNvPr id="76" name="node54.surface"/>
            <p:cNvSpPr/>
            <p:nvPr/>
          </p:nvSpPr>
          <p:spPr>
            <a:xfrm>
              <a:off x="10096500" y="3429000"/>
              <a:ext cx="203200" cy="203200"/>
            </a:xfrm>
            <a:prstGeom prst="rect">
              <a:avLst/>
            </a:prstGeom>
            <a:solidFill>
              <a:srgbClr val="B9C9F0"/>
            </a:solidFill>
            <a:ln>
              <a:noFill/>
            </a:ln>
          </p:spPr>
        </p:sp>
      </p:grpSp>
      <p:grpSp>
        <p:nvGrpSpPr>
          <p:cNvPr id="164" name="node55"/>
          <p:cNvGrpSpPr/>
          <p:nvPr/>
        </p:nvGrpSpPr>
        <p:grpSpPr>
          <a:xfrm>
            <a:off x="10325100" y="3429000"/>
            <a:ext cx="203200" cy="203200"/>
            <a:chOff x="10325100" y="3429000"/>
            <a:chExt cx="203200" cy="203200"/>
          </a:xfrm>
        </p:grpSpPr>
        <p:sp>
          <p:nvSpPr>
            <p:cNvPr id="77" name="node55.surface"/>
            <p:cNvSpPr/>
            <p:nvPr/>
          </p:nvSpPr>
          <p:spPr>
            <a:xfrm>
              <a:off x="10325100" y="3429000"/>
              <a:ext cx="203200" cy="203200"/>
            </a:xfrm>
            <a:prstGeom prst="rect">
              <a:avLst/>
            </a:prstGeom>
            <a:solidFill>
              <a:srgbClr val="B9C9F0"/>
            </a:solidFill>
            <a:ln>
              <a:noFill/>
            </a:ln>
          </p:spPr>
        </p:sp>
      </p:grpSp>
      <p:grpSp>
        <p:nvGrpSpPr>
          <p:cNvPr id="165" name="node56"/>
          <p:cNvGrpSpPr/>
          <p:nvPr/>
        </p:nvGrpSpPr>
        <p:grpSpPr>
          <a:xfrm>
            <a:off x="10553700" y="3429000"/>
            <a:ext cx="203200" cy="203200"/>
            <a:chOff x="10553700" y="3429000"/>
            <a:chExt cx="203200" cy="203200"/>
          </a:xfrm>
        </p:grpSpPr>
        <p:sp>
          <p:nvSpPr>
            <p:cNvPr id="78" name="node56.surface"/>
            <p:cNvSpPr/>
            <p:nvPr/>
          </p:nvSpPr>
          <p:spPr>
            <a:xfrm>
              <a:off x="10553700" y="3429000"/>
              <a:ext cx="203200" cy="203200"/>
            </a:xfrm>
            <a:prstGeom prst="rect">
              <a:avLst/>
            </a:prstGeom>
            <a:solidFill>
              <a:srgbClr val="E8EEF8"/>
            </a:solidFill>
            <a:ln>
              <a:noFill/>
            </a:ln>
          </p:spPr>
        </p:sp>
      </p:grpSp>
      <p:grpSp>
        <p:nvGrpSpPr>
          <p:cNvPr id="166" name="node57"/>
          <p:cNvGrpSpPr/>
          <p:nvPr/>
        </p:nvGrpSpPr>
        <p:grpSpPr>
          <a:xfrm>
            <a:off x="10782300" y="3429000"/>
            <a:ext cx="203200" cy="203200"/>
            <a:chOff x="10782300" y="3429000"/>
            <a:chExt cx="203200" cy="203200"/>
          </a:xfrm>
        </p:grpSpPr>
        <p:sp>
          <p:nvSpPr>
            <p:cNvPr id="79" name="node57.surface"/>
            <p:cNvSpPr/>
            <p:nvPr/>
          </p:nvSpPr>
          <p:spPr>
            <a:xfrm>
              <a:off x="10782300" y="3429000"/>
              <a:ext cx="203200" cy="203200"/>
            </a:xfrm>
            <a:prstGeom prst="rect">
              <a:avLst/>
            </a:prstGeom>
            <a:solidFill>
              <a:srgbClr val="7C9BFF"/>
            </a:solidFill>
            <a:ln>
              <a:noFill/>
            </a:ln>
          </p:spPr>
        </p:sp>
      </p:grpSp>
      <p:grpSp>
        <p:nvGrpSpPr>
          <p:cNvPr id="167" name="node58"/>
          <p:cNvGrpSpPr/>
          <p:nvPr/>
        </p:nvGrpSpPr>
        <p:grpSpPr>
          <a:xfrm>
            <a:off x="11010900" y="3429000"/>
            <a:ext cx="203200" cy="203200"/>
            <a:chOff x="11010900" y="3429000"/>
            <a:chExt cx="203200" cy="203200"/>
          </a:xfrm>
        </p:grpSpPr>
        <p:sp>
          <p:nvSpPr>
            <p:cNvPr id="80" name="node58.surface"/>
            <p:cNvSpPr/>
            <p:nvPr/>
          </p:nvSpPr>
          <p:spPr>
            <a:xfrm>
              <a:off x="11010900" y="3429000"/>
              <a:ext cx="203200" cy="203200"/>
            </a:xfrm>
            <a:prstGeom prst="rect">
              <a:avLst/>
            </a:prstGeom>
            <a:solidFill>
              <a:srgbClr val="B9C9F0"/>
            </a:solidFill>
            <a:ln>
              <a:noFill/>
            </a:ln>
          </p:spPr>
        </p:sp>
      </p:grpSp>
      <p:grpSp>
        <p:nvGrpSpPr>
          <p:cNvPr id="168" name="node59"/>
          <p:cNvGrpSpPr/>
          <p:nvPr/>
        </p:nvGrpSpPr>
        <p:grpSpPr>
          <a:xfrm>
            <a:off x="10096500" y="3657600"/>
            <a:ext cx="203200" cy="203200"/>
            <a:chOff x="10096500" y="3657600"/>
            <a:chExt cx="203200" cy="203200"/>
          </a:xfrm>
        </p:grpSpPr>
        <p:sp>
          <p:nvSpPr>
            <p:cNvPr id="81" name="node59.surface"/>
            <p:cNvSpPr/>
            <p:nvPr/>
          </p:nvSpPr>
          <p:spPr>
            <a:xfrm>
              <a:off x="10096500" y="3657600"/>
              <a:ext cx="203200" cy="203200"/>
            </a:xfrm>
            <a:prstGeom prst="rect">
              <a:avLst/>
            </a:prstGeom>
            <a:solidFill>
              <a:srgbClr val="7C9BFF"/>
            </a:solidFill>
            <a:ln>
              <a:noFill/>
            </a:ln>
          </p:spPr>
        </p:sp>
      </p:grpSp>
      <p:grpSp>
        <p:nvGrpSpPr>
          <p:cNvPr id="169" name="node60"/>
          <p:cNvGrpSpPr/>
          <p:nvPr/>
        </p:nvGrpSpPr>
        <p:grpSpPr>
          <a:xfrm>
            <a:off x="10325100" y="3657600"/>
            <a:ext cx="203200" cy="203200"/>
            <a:chOff x="10325100" y="3657600"/>
            <a:chExt cx="203200" cy="203200"/>
          </a:xfrm>
        </p:grpSpPr>
        <p:sp>
          <p:nvSpPr>
            <p:cNvPr id="82" name="node60.surface"/>
            <p:cNvSpPr/>
            <p:nvPr/>
          </p:nvSpPr>
          <p:spPr>
            <a:xfrm>
              <a:off x="10325100" y="3657600"/>
              <a:ext cx="203200" cy="203200"/>
            </a:xfrm>
            <a:prstGeom prst="rect">
              <a:avLst/>
            </a:prstGeom>
            <a:solidFill>
              <a:srgbClr val="B9C9F0"/>
            </a:solidFill>
            <a:ln>
              <a:noFill/>
            </a:ln>
          </p:spPr>
        </p:sp>
      </p:grpSp>
      <p:grpSp>
        <p:nvGrpSpPr>
          <p:cNvPr id="170" name="node61"/>
          <p:cNvGrpSpPr/>
          <p:nvPr/>
        </p:nvGrpSpPr>
        <p:grpSpPr>
          <a:xfrm>
            <a:off x="10553700" y="3657600"/>
            <a:ext cx="203200" cy="203200"/>
            <a:chOff x="10553700" y="3657600"/>
            <a:chExt cx="203200" cy="203200"/>
          </a:xfrm>
        </p:grpSpPr>
        <p:sp>
          <p:nvSpPr>
            <p:cNvPr id="83" name="node61.surface"/>
            <p:cNvSpPr/>
            <p:nvPr/>
          </p:nvSpPr>
          <p:spPr>
            <a:xfrm>
              <a:off x="10553700" y="3657600"/>
              <a:ext cx="203200" cy="203200"/>
            </a:xfrm>
            <a:prstGeom prst="rect">
              <a:avLst/>
            </a:prstGeom>
            <a:solidFill>
              <a:srgbClr val="B9C9F0"/>
            </a:solidFill>
            <a:ln>
              <a:noFill/>
            </a:ln>
          </p:spPr>
        </p:sp>
      </p:grpSp>
      <p:grpSp>
        <p:nvGrpSpPr>
          <p:cNvPr id="171" name="node62"/>
          <p:cNvGrpSpPr/>
          <p:nvPr/>
        </p:nvGrpSpPr>
        <p:grpSpPr>
          <a:xfrm>
            <a:off x="10782300" y="3657600"/>
            <a:ext cx="203200" cy="203200"/>
            <a:chOff x="10782300" y="3657600"/>
            <a:chExt cx="203200" cy="203200"/>
          </a:xfrm>
        </p:grpSpPr>
        <p:sp>
          <p:nvSpPr>
            <p:cNvPr id="84" name="node62.surface"/>
            <p:cNvSpPr/>
            <p:nvPr/>
          </p:nvSpPr>
          <p:spPr>
            <a:xfrm>
              <a:off x="10782300" y="3657600"/>
              <a:ext cx="203200" cy="203200"/>
            </a:xfrm>
            <a:prstGeom prst="rect">
              <a:avLst/>
            </a:prstGeom>
            <a:solidFill>
              <a:srgbClr val="B9C9F0"/>
            </a:solidFill>
            <a:ln>
              <a:noFill/>
            </a:ln>
          </p:spPr>
        </p:sp>
      </p:grpSp>
      <p:grpSp>
        <p:nvGrpSpPr>
          <p:cNvPr id="172" name="node63"/>
          <p:cNvGrpSpPr/>
          <p:nvPr/>
        </p:nvGrpSpPr>
        <p:grpSpPr>
          <a:xfrm>
            <a:off x="11010900" y="3657600"/>
            <a:ext cx="203200" cy="203200"/>
            <a:chOff x="11010900" y="3657600"/>
            <a:chExt cx="203200" cy="203200"/>
          </a:xfrm>
        </p:grpSpPr>
        <p:sp>
          <p:nvSpPr>
            <p:cNvPr id="85" name="node63.surface"/>
            <p:cNvSpPr/>
            <p:nvPr/>
          </p:nvSpPr>
          <p:spPr>
            <a:xfrm>
              <a:off x="11010900" y="3657600"/>
              <a:ext cx="203200" cy="203200"/>
            </a:xfrm>
            <a:prstGeom prst="rect">
              <a:avLst/>
            </a:prstGeom>
            <a:solidFill>
              <a:srgbClr val="7C9BFF"/>
            </a:solidFill>
            <a:ln>
              <a:noFill/>
            </a:ln>
          </p:spPr>
        </p:sp>
      </p:grpSp>
      <p:grpSp>
        <p:nvGrpSpPr>
          <p:cNvPr id="173" name="node64"/>
          <p:cNvGrpSpPr/>
          <p:nvPr/>
        </p:nvGrpSpPr>
        <p:grpSpPr>
          <a:xfrm>
            <a:off x="10096500" y="2971800"/>
            <a:ext cx="1143000" cy="25400"/>
            <a:chOff x="10096500" y="2971800"/>
            <a:chExt cx="1143000" cy="25400"/>
          </a:xfrm>
        </p:grpSpPr>
        <p:sp>
          <p:nvSpPr>
            <p:cNvPr id="86" name="node64.surface"/>
            <p:cNvSpPr/>
            <p:nvPr/>
          </p:nvSpPr>
          <p:spPr>
            <a:xfrm>
              <a:off x="10096500" y="2971800"/>
              <a:ext cx="1143000" cy="25400"/>
            </a:xfrm>
            <a:prstGeom prst="rect">
              <a:avLst/>
            </a:prstGeom>
            <a:solidFill>
              <a:srgbClr val="05013F"/>
            </a:solidFill>
            <a:ln>
              <a:noFill/>
            </a:ln>
          </p:spPr>
        </p:sp>
      </p:grpSp>
      <p:grpSp>
        <p:nvGrpSpPr>
          <p:cNvPr id="174" name="node65"/>
          <p:cNvGrpSpPr/>
          <p:nvPr/>
        </p:nvGrpSpPr>
        <p:grpSpPr>
          <a:xfrm>
            <a:off x="10096500" y="3200400"/>
            <a:ext cx="1143000" cy="25400"/>
            <a:chOff x="10096500" y="3200400"/>
            <a:chExt cx="1143000" cy="25400"/>
          </a:xfrm>
        </p:grpSpPr>
        <p:sp>
          <p:nvSpPr>
            <p:cNvPr id="87" name="node65.surface"/>
            <p:cNvSpPr/>
            <p:nvPr/>
          </p:nvSpPr>
          <p:spPr>
            <a:xfrm>
              <a:off x="10096500" y="3200400"/>
              <a:ext cx="1143000" cy="25400"/>
            </a:xfrm>
            <a:prstGeom prst="rect">
              <a:avLst/>
            </a:prstGeom>
            <a:solidFill>
              <a:srgbClr val="05013F"/>
            </a:solidFill>
            <a:ln>
              <a:noFill/>
            </a:ln>
          </p:spPr>
        </p:sp>
      </p:grpSp>
      <p:grpSp>
        <p:nvGrpSpPr>
          <p:cNvPr id="175" name="node66"/>
          <p:cNvGrpSpPr/>
          <p:nvPr/>
        </p:nvGrpSpPr>
        <p:grpSpPr>
          <a:xfrm>
            <a:off x="10096500" y="2971800"/>
            <a:ext cx="25400" cy="228600"/>
            <a:chOff x="10096500" y="2971800"/>
            <a:chExt cx="25400" cy="228600"/>
          </a:xfrm>
        </p:grpSpPr>
        <p:sp>
          <p:nvSpPr>
            <p:cNvPr id="88" name="node66.surface"/>
            <p:cNvSpPr/>
            <p:nvPr/>
          </p:nvSpPr>
          <p:spPr>
            <a:xfrm>
              <a:off x="10096500" y="2971800"/>
              <a:ext cx="25400" cy="228600"/>
            </a:xfrm>
            <a:prstGeom prst="rect">
              <a:avLst/>
            </a:prstGeom>
            <a:solidFill>
              <a:srgbClr val="05013F"/>
            </a:solidFill>
            <a:ln>
              <a:noFill/>
            </a:ln>
          </p:spPr>
        </p:sp>
      </p:grpSp>
      <p:grpSp>
        <p:nvGrpSpPr>
          <p:cNvPr id="176" name="node67"/>
          <p:cNvGrpSpPr/>
          <p:nvPr/>
        </p:nvGrpSpPr>
        <p:grpSpPr>
          <a:xfrm>
            <a:off x="11239500" y="2971800"/>
            <a:ext cx="25400" cy="254000"/>
            <a:chOff x="11239500" y="2971800"/>
            <a:chExt cx="25400" cy="254000"/>
          </a:xfrm>
        </p:grpSpPr>
        <p:sp>
          <p:nvSpPr>
            <p:cNvPr id="89" name="node67.surface"/>
            <p:cNvSpPr/>
            <p:nvPr/>
          </p:nvSpPr>
          <p:spPr>
            <a:xfrm>
              <a:off x="11239500" y="2971800"/>
              <a:ext cx="25400" cy="254000"/>
            </a:xfrm>
            <a:prstGeom prst="rect">
              <a:avLst/>
            </a:prstGeom>
            <a:solidFill>
              <a:srgbClr val="05013F"/>
            </a:solidFill>
            <a:ln>
              <a:noFill/>
            </a:ln>
          </p:spPr>
        </p:sp>
      </p:grpSp>
      <p:grpSp>
        <p:nvGrpSpPr>
          <p:cNvPr id="177" name="node68"/>
          <p:cNvGrpSpPr/>
          <p:nvPr/>
        </p:nvGrpSpPr>
        <p:grpSpPr>
          <a:xfrm>
            <a:off x="10096500" y="3962400"/>
            <a:ext cx="1397000" cy="139700"/>
            <a:chOff x="10096500" y="3962400"/>
            <a:chExt cx="1397000" cy="139700"/>
          </a:xfrm>
        </p:grpSpPr>
        <p:sp>
          <p:nvSpPr>
            <p:cNvPr id="90" name="node68.text"/>
            <p:cNvSpPr/>
            <p:nvPr/>
          </p:nvSpPr>
          <p:spPr>
            <a:xfrm>
              <a:off x="10096500" y="3962400"/>
              <a:ext cx="1397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ROW A6</a:t>
              </a:r>
              <a:endParaRPr lang="en-US" sz="800" spc="48" kern="0" b="0" i="0" dirty="0">
                <a:solidFill>
                  <a:srgbClr val="50658E"/>
                </a:solidFill>
                <a:latin typeface="IBM Plex Mono Medium"/>
                <a:ea typeface="IBM Plex Mono Medium"/>
                <a:cs typeface="IBM Plex Mono Medium"/>
              </a:endParaRPr>
            </a:p>
          </p:txBody>
        </p:sp>
      </p:grpSp>
      <p:grpSp>
        <p:nvGrpSpPr>
          <p:cNvPr id="178" name="node69"/>
          <p:cNvGrpSpPr/>
          <p:nvPr/>
        </p:nvGrpSpPr>
        <p:grpSpPr>
          <a:xfrm>
            <a:off x="723900" y="3657600"/>
            <a:ext cx="3810000" cy="139700"/>
            <a:chOff x="723900" y="3657600"/>
            <a:chExt cx="3810000" cy="139700"/>
          </a:xfrm>
        </p:grpSpPr>
        <p:sp>
          <p:nvSpPr>
            <p:cNvPr id="91" name="node69.text"/>
            <p:cNvSpPr/>
            <p:nvPr/>
          </p:nvSpPr>
          <p:spPr>
            <a:xfrm>
              <a:off x="723900" y="3657600"/>
              <a:ext cx="3810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ACROSS A4 TO A6 (CONTINUED, 2 OF 2)</a:t>
              </a:r>
              <a:endParaRPr lang="en-US" sz="800" spc="48" kern="0" b="0" i="0" dirty="0">
                <a:solidFill>
                  <a:srgbClr val="070154"/>
                </a:solidFill>
                <a:latin typeface="IBM Plex Mono Medium"/>
                <a:ea typeface="IBM Plex Mono Medium"/>
                <a:cs typeface="IBM Plex Mono Medium"/>
              </a:endParaRPr>
            </a:p>
          </p:txBody>
        </p:sp>
      </p:grpSp>
      <p:grpSp>
        <p:nvGrpSpPr>
          <p:cNvPr id="179" name="node70"/>
          <p:cNvGrpSpPr/>
          <p:nvPr/>
        </p:nvGrpSpPr>
        <p:grpSpPr>
          <a:xfrm>
            <a:off x="723900" y="3962400"/>
            <a:ext cx="8763000" cy="977900"/>
            <a:chOff x="723900" y="3962400"/>
            <a:chExt cx="8763000" cy="977900"/>
          </a:xfrm>
        </p:grpSpPr>
        <p:sp>
          <p:nvSpPr>
            <p:cNvPr id="92" name="node70.source-001.bullet"/>
            <p:cNvSpPr/>
            <p:nvPr/>
          </p:nvSpPr>
          <p:spPr>
            <a:xfrm>
              <a:off x="723900" y="4051300"/>
              <a:ext cx="38100" cy="38100"/>
            </a:xfrm>
            <a:prstGeom prst="rect">
              <a:avLst/>
            </a:prstGeom>
            <a:solidFill>
              <a:srgbClr val="070154"/>
            </a:solidFill>
            <a:ln>
              <a:noFill/>
            </a:ln>
          </p:spPr>
        </p:sp>
        <p:sp>
          <p:nvSpPr>
            <p:cNvPr id="93" name="node70.source-001.text"/>
            <p:cNvSpPr/>
            <p:nvPr/>
          </p:nvSpPr>
          <p:spPr>
            <a:xfrm>
              <a:off x="876300" y="3962400"/>
              <a:ext cx="8610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Process outruns data.</a:t>
              </a:r>
              <a:r>
                <a:rPr lang="en-US" sz="1200" spc="0" kern="0" b="0" i="0" dirty="0">
                  <a:solidFill>
                    <a:srgbClr val="50658E"/>
                  </a:solidFill>
                  <a:latin typeface="IBM Plex Sans"/>
                  <a:ea typeface="IBM Plex Sans"/>
                  <a:cs typeface="IBM Plex Sans"/>
                </a:rPr>
                <a:t xml:space="preserve"> Revenue cycle scores 4 on process but 3 on data.</a:t>
              </a:r>
              <a:endParaRPr lang="en-US" sz="1200" spc="0" kern="0" b="0" i="0" dirty="0">
                <a:solidFill>
                  <a:srgbClr val="070154"/>
                </a:solidFill>
                <a:latin typeface="IBM Plex Sans"/>
                <a:ea typeface="IBM Plex Sans"/>
                <a:cs typeface="IBM Plex Sans"/>
              </a:endParaRPr>
            </a:p>
          </p:txBody>
        </p:sp>
        <p:sp>
          <p:nvSpPr>
            <p:cNvPr id="94" name="node70.source-002.bullet"/>
            <p:cNvSpPr/>
            <p:nvPr/>
          </p:nvSpPr>
          <p:spPr>
            <a:xfrm>
              <a:off x="723900" y="4305300"/>
              <a:ext cx="38100" cy="38100"/>
            </a:xfrm>
            <a:prstGeom prst="rect">
              <a:avLst/>
            </a:prstGeom>
            <a:solidFill>
              <a:srgbClr val="070154"/>
            </a:solidFill>
            <a:ln>
              <a:noFill/>
            </a:ln>
          </p:spPr>
        </p:sp>
        <p:sp>
          <p:nvSpPr>
            <p:cNvPr id="95" name="node70.source-002.text"/>
            <p:cNvSpPr/>
            <p:nvPr/>
          </p:nvSpPr>
          <p:spPr>
            <a:xfrm>
              <a:off x="876300" y="4216400"/>
              <a:ext cx="8610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Denials are the gap.</a:t>
              </a:r>
              <a:r>
                <a:rPr lang="en-US" sz="1200" spc="0" kern="0" b="0" i="0" dirty="0">
                  <a:solidFill>
                    <a:srgbClr val="50658E"/>
                  </a:solidFill>
                  <a:latin typeface="IBM Plex Sans"/>
                  <a:ea typeface="IBM Plex Sans"/>
                  <a:cs typeface="IBM Plex Sans"/>
                </a:rPr>
                <a:t xml:space="preserve"> A6 is the only revenue row with a 1.</a:t>
              </a:r>
              <a:endParaRPr lang="en-US" sz="1200" spc="0" kern="0" b="0" i="0" dirty="0">
                <a:solidFill>
                  <a:srgbClr val="070154"/>
                </a:solidFill>
                <a:latin typeface="IBM Plex Sans"/>
                <a:ea typeface="IBM Plex Sans"/>
                <a:cs typeface="IBM Plex Sans"/>
              </a:endParaRPr>
            </a:p>
          </p:txBody>
        </p:sp>
        <p:sp>
          <p:nvSpPr>
            <p:cNvPr id="96" name="node70.source-003.bullet"/>
            <p:cNvSpPr/>
            <p:nvPr/>
          </p:nvSpPr>
          <p:spPr>
            <a:xfrm>
              <a:off x="723900" y="4559300"/>
              <a:ext cx="38100" cy="38100"/>
            </a:xfrm>
            <a:prstGeom prst="rect">
              <a:avLst/>
            </a:prstGeom>
            <a:solidFill>
              <a:srgbClr val="070154"/>
            </a:solidFill>
            <a:ln>
              <a:noFill/>
            </a:ln>
          </p:spPr>
        </p:sp>
        <p:sp>
          <p:nvSpPr>
            <p:cNvPr id="97" name="node70.source-003.text"/>
            <p:cNvSpPr/>
            <p:nvPr/>
          </p:nvSpPr>
          <p:spPr>
            <a:xfrm>
              <a:off x="876300" y="4470400"/>
              <a:ext cx="8610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Lowest cell.</a:t>
              </a:r>
              <a:r>
                <a:rPr lang="en-US" sz="1200" spc="0" kern="0" b="0" i="0" dirty="0">
                  <a:solidFill>
                    <a:srgbClr val="50658E"/>
                  </a:solidFill>
                  <a:latin typeface="IBM Plex Sans"/>
                  <a:ea typeface="IBM Plex Sans"/>
                  <a:cs typeface="IBM Plex Sans"/>
                </a:rPr>
                <a:t xml:space="preserve"> Governance in denials management scores 1.</a:t>
              </a:r>
              <a:endParaRPr lang="en-US" sz="1200" spc="0" kern="0" b="0" i="0" dirty="0">
                <a:solidFill>
                  <a:srgbClr val="070154"/>
                </a:solidFill>
                <a:latin typeface="IBM Plex Sans"/>
                <a:ea typeface="IBM Plex Sans"/>
                <a:cs typeface="IBM Plex Sans"/>
              </a:endParaRPr>
            </a:p>
          </p:txBody>
        </p:sp>
        <p:sp>
          <p:nvSpPr>
            <p:cNvPr id="98" name="node70.source-004.bullet"/>
            <p:cNvSpPr/>
            <p:nvPr/>
          </p:nvSpPr>
          <p:spPr>
            <a:xfrm>
              <a:off x="723900" y="4813300"/>
              <a:ext cx="38100" cy="38100"/>
            </a:xfrm>
            <a:prstGeom prst="rect">
              <a:avLst/>
            </a:prstGeom>
            <a:solidFill>
              <a:srgbClr val="070154"/>
            </a:solidFill>
            <a:ln>
              <a:noFill/>
            </a:ln>
          </p:spPr>
        </p:sp>
        <p:sp>
          <p:nvSpPr>
            <p:cNvPr id="99" name="node70.source-004.text"/>
            <p:cNvSpPr/>
            <p:nvPr/>
          </p:nvSpPr>
          <p:spPr>
            <a:xfrm>
              <a:off x="876300" y="4724400"/>
              <a:ext cx="8610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Sequence.</a:t>
              </a:r>
              <a:r>
                <a:rPr lang="en-US" sz="1200" spc="0" kern="0" b="0" i="0" dirty="0">
                  <a:solidFill>
                    <a:srgbClr val="50658E"/>
                  </a:solidFill>
                  <a:latin typeface="IBM Plex Sans"/>
                  <a:ea typeface="IBM Plex Sans"/>
                  <a:cs typeface="IBM Plex Sans"/>
                </a:rPr>
                <a:t xml:space="preserve"> Code denials first; rules and billing changes follow.</a:t>
              </a:r>
              <a:endParaRPr lang="en-US" sz="1200" spc="0" kern="0" b="0" i="0" dirty="0">
                <a:solidFill>
                  <a:srgbClr val="070154"/>
                </a:solidFill>
                <a:latin typeface="IBM Plex Sans"/>
                <a:ea typeface="IBM Plex Sans"/>
                <a:cs typeface="IBM Plex Sans"/>
              </a:endParaRPr>
            </a:p>
          </p:txBody>
        </p:sp>
      </p:grpSp>
      <p:grpSp>
        <p:nvGrpSpPr>
          <p:cNvPr id="180" name="node71"/>
          <p:cNvGrpSpPr/>
          <p:nvPr/>
        </p:nvGrpSpPr>
        <p:grpSpPr>
          <a:xfrm>
            <a:off x="723900" y="5486400"/>
            <a:ext cx="6062663" cy="190500"/>
            <a:chOff x="723900" y="5486400"/>
            <a:chExt cx="6062663" cy="190500"/>
          </a:xfrm>
        </p:grpSpPr>
        <p:sp>
          <p:nvSpPr>
            <p:cNvPr id="100" name="node71.items.slot-001.swatch"/>
            <p:cNvSpPr/>
            <p:nvPr/>
          </p:nvSpPr>
          <p:spPr>
            <a:xfrm>
              <a:off x="723900" y="5518150"/>
              <a:ext cx="228600" cy="127000"/>
            </a:xfrm>
            <a:prstGeom prst="rect">
              <a:avLst/>
            </a:prstGeom>
            <a:solidFill>
              <a:srgbClr val="E8EEF8"/>
            </a:solidFill>
            <a:ln>
              <a:noFill/>
            </a:ln>
          </p:spPr>
        </p:sp>
        <p:sp>
          <p:nvSpPr>
            <p:cNvPr id="101" name="node71.items.slot-001.text"/>
            <p:cNvSpPr/>
            <p:nvPr/>
          </p:nvSpPr>
          <p:spPr>
            <a:xfrm>
              <a:off x="1016000" y="5486400"/>
              <a:ext cx="5984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Ad hoc</a:t>
              </a:r>
              <a:endParaRPr lang="en-US" sz="1100" spc="0" kern="0" b="0" i="0" dirty="0">
                <a:solidFill>
                  <a:srgbClr val="070154"/>
                </a:solidFill>
                <a:latin typeface="IBM Plex Sans"/>
                <a:ea typeface="IBM Plex Sans"/>
                <a:cs typeface="IBM Plex Sans"/>
              </a:endParaRPr>
            </a:p>
          </p:txBody>
        </p:sp>
        <p:sp>
          <p:nvSpPr>
            <p:cNvPr id="102" name="node71.items.slot-002.swatch"/>
            <p:cNvSpPr/>
            <p:nvPr/>
          </p:nvSpPr>
          <p:spPr>
            <a:xfrm>
              <a:off x="1843088" y="5518150"/>
              <a:ext cx="228600" cy="127000"/>
            </a:xfrm>
            <a:prstGeom prst="rect">
              <a:avLst/>
            </a:prstGeom>
            <a:solidFill>
              <a:srgbClr val="B9C9F0"/>
            </a:solidFill>
            <a:ln>
              <a:noFill/>
            </a:ln>
          </p:spPr>
        </p:sp>
        <p:sp>
          <p:nvSpPr>
            <p:cNvPr id="103" name="node71.items.slot-002.text"/>
            <p:cNvSpPr/>
            <p:nvPr/>
          </p:nvSpPr>
          <p:spPr>
            <a:xfrm>
              <a:off x="2135188" y="5486400"/>
              <a:ext cx="8842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 Repeatable</a:t>
              </a:r>
              <a:endParaRPr lang="en-US" sz="1100" spc="0" kern="0" b="0" i="0" dirty="0">
                <a:solidFill>
                  <a:srgbClr val="070154"/>
                </a:solidFill>
                <a:latin typeface="IBM Plex Sans"/>
                <a:ea typeface="IBM Plex Sans"/>
                <a:cs typeface="IBM Plex Sans"/>
              </a:endParaRPr>
            </a:p>
          </p:txBody>
        </p:sp>
        <p:sp>
          <p:nvSpPr>
            <p:cNvPr id="104" name="node71.items.slot-003.swatch"/>
            <p:cNvSpPr/>
            <p:nvPr/>
          </p:nvSpPr>
          <p:spPr>
            <a:xfrm>
              <a:off x="3248025" y="5518150"/>
              <a:ext cx="228600" cy="127000"/>
            </a:xfrm>
            <a:prstGeom prst="rect">
              <a:avLst/>
            </a:prstGeom>
            <a:solidFill>
              <a:srgbClr val="7C9BFF"/>
            </a:solidFill>
            <a:ln>
              <a:noFill/>
            </a:ln>
          </p:spPr>
        </p:sp>
        <p:sp>
          <p:nvSpPr>
            <p:cNvPr id="105" name="node71.items.slot-003.text"/>
            <p:cNvSpPr/>
            <p:nvPr/>
          </p:nvSpPr>
          <p:spPr>
            <a:xfrm>
              <a:off x="3540125" y="5486400"/>
              <a:ext cx="65405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 Defined</a:t>
              </a:r>
              <a:endParaRPr lang="en-US" sz="1100" spc="0" kern="0" b="0" i="0" dirty="0">
                <a:solidFill>
                  <a:srgbClr val="070154"/>
                </a:solidFill>
                <a:latin typeface="IBM Plex Sans"/>
                <a:ea typeface="IBM Plex Sans"/>
                <a:cs typeface="IBM Plex Sans"/>
              </a:endParaRPr>
            </a:p>
          </p:txBody>
        </p:sp>
        <p:sp>
          <p:nvSpPr>
            <p:cNvPr id="106" name="node71.items.slot-004.swatch"/>
            <p:cNvSpPr/>
            <p:nvPr/>
          </p:nvSpPr>
          <p:spPr>
            <a:xfrm>
              <a:off x="4422775" y="5518150"/>
              <a:ext cx="228600" cy="127000"/>
            </a:xfrm>
            <a:prstGeom prst="rect">
              <a:avLst/>
            </a:prstGeom>
            <a:solidFill>
              <a:srgbClr val="0047FF"/>
            </a:solidFill>
            <a:ln>
              <a:noFill/>
            </a:ln>
          </p:spPr>
        </p:sp>
        <p:sp>
          <p:nvSpPr>
            <p:cNvPr id="107" name="node71.items.slot-004.text"/>
            <p:cNvSpPr/>
            <p:nvPr/>
          </p:nvSpPr>
          <p:spPr>
            <a:xfrm>
              <a:off x="4714875" y="5486400"/>
              <a:ext cx="7397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4 Managed</a:t>
              </a:r>
              <a:endParaRPr lang="en-US" sz="1100" spc="0" kern="0" b="0" i="0" dirty="0">
                <a:solidFill>
                  <a:srgbClr val="070154"/>
                </a:solidFill>
                <a:latin typeface="IBM Plex Sans"/>
                <a:ea typeface="IBM Plex Sans"/>
                <a:cs typeface="IBM Plex Sans"/>
              </a:endParaRPr>
            </a:p>
          </p:txBody>
        </p:sp>
        <p:sp>
          <p:nvSpPr>
            <p:cNvPr id="108" name="node71.items.slot-005.swatch"/>
            <p:cNvSpPr/>
            <p:nvPr/>
          </p:nvSpPr>
          <p:spPr>
            <a:xfrm>
              <a:off x="5683250" y="5518150"/>
              <a:ext cx="228600" cy="127000"/>
            </a:xfrm>
            <a:prstGeom prst="rect">
              <a:avLst/>
            </a:prstGeom>
            <a:solidFill>
              <a:srgbClr val="070154"/>
            </a:solidFill>
            <a:ln>
              <a:noFill/>
            </a:ln>
          </p:spPr>
        </p:sp>
        <p:sp>
          <p:nvSpPr>
            <p:cNvPr id="109" name="node71.items.slot-005.text"/>
            <p:cNvSpPr/>
            <p:nvPr/>
          </p:nvSpPr>
          <p:spPr>
            <a:xfrm>
              <a:off x="5975350" y="5486400"/>
              <a:ext cx="8112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Optimized</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ource-211">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FRONT-DOOR DETAIL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Front-door rows in depth</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79</a:t>
            </a:fld>
            <a:endParaRPr lang="en-US" sz="700" spc="0" kern="0" b="0" i="0" dirty="0">
              <a:solidFill>
                <a:srgbClr val="070154"/>
              </a:solidFill>
              <a:latin typeface="IBM Plex Mono SemiBold"/>
              <a:ea typeface="IBM Plex Mono SemiBold"/>
              <a:cs typeface="IBM Plex Mono SemiBold"/>
            </a:endParaRPr>
          </a:p>
        </p:txBody>
      </p:sp>
      <p:grpSp>
        <p:nvGrpSpPr>
          <p:cNvPr id="137" name="node01"/>
          <p:cNvGrpSpPr/>
          <p:nvPr/>
        </p:nvGrpSpPr>
        <p:grpSpPr>
          <a:xfrm>
            <a:off x="4381500" y="2743200"/>
            <a:ext cx="7086600" cy="1371600"/>
            <a:chOff x="4381500" y="2743200"/>
            <a:chExt cx="7086600" cy="1371600"/>
          </a:xfrm>
        </p:grpSpPr>
        <p:sp>
          <p:nvSpPr>
            <p:cNvPr id="7" name="node01.surface"/>
            <p:cNvSpPr/>
            <p:nvPr/>
          </p:nvSpPr>
          <p:spPr>
            <a:xfrm>
              <a:off x="4381500" y="2743200"/>
              <a:ext cx="7086600" cy="1371600"/>
            </a:xfrm>
            <a:prstGeom prst="rect">
              <a:avLst/>
            </a:prstGeom>
            <a:solidFill>
              <a:srgbClr val="E8EEF8"/>
            </a:solidFill>
            <a:ln>
              <a:noFill/>
            </a:ln>
          </p:spPr>
        </p:sp>
      </p:grpSp>
      <p:grpSp>
        <p:nvGrpSpPr>
          <p:cNvPr id="138" name="node02"/>
          <p:cNvGrpSpPr/>
          <p:nvPr/>
        </p:nvGrpSpPr>
        <p:grpSpPr>
          <a:xfrm>
            <a:off x="723900" y="457200"/>
            <a:ext cx="2743200" cy="139700"/>
            <a:chOff x="723900" y="457200"/>
            <a:chExt cx="2743200" cy="139700"/>
          </a:xfrm>
        </p:grpSpPr>
        <p:sp>
          <p:nvSpPr>
            <p:cNvPr id="8" name="node02.text"/>
            <p:cNvSpPr/>
            <p:nvPr/>
          </p:nvSpPr>
          <p:spPr>
            <a:xfrm>
              <a:off x="723900" y="457200"/>
              <a:ext cx="2743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LOCATOR</a:t>
              </a:r>
              <a:endParaRPr lang="en-US" sz="800" spc="48" kern="0" b="0" i="0" dirty="0">
                <a:solidFill>
                  <a:srgbClr val="070154"/>
                </a:solidFill>
                <a:latin typeface="IBM Plex Mono Medium"/>
                <a:ea typeface="IBM Plex Mono Medium"/>
                <a:cs typeface="IBM Plex Mono Medium"/>
              </a:endParaRPr>
            </a:p>
          </p:txBody>
        </p:sp>
      </p:grpSp>
      <p:grpSp>
        <p:nvGrpSpPr>
          <p:cNvPr id="139" name="node03"/>
          <p:cNvGrpSpPr/>
          <p:nvPr/>
        </p:nvGrpSpPr>
        <p:grpSpPr>
          <a:xfrm>
            <a:off x="723900" y="1054100"/>
            <a:ext cx="457200" cy="190500"/>
            <a:chOff x="723900" y="1054100"/>
            <a:chExt cx="457200" cy="190500"/>
          </a:xfrm>
        </p:grpSpPr>
        <p:sp>
          <p:nvSpPr>
            <p:cNvPr id="9" name="node03.text"/>
            <p:cNvSpPr/>
            <p:nvPr/>
          </p:nvSpPr>
          <p:spPr>
            <a:xfrm>
              <a:off x="723900" y="10541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A1</a:t>
              </a:r>
              <a:endParaRPr lang="en-US" sz="1100" spc="0" kern="0" b="0" i="0" dirty="0">
                <a:solidFill>
                  <a:srgbClr val="070154"/>
                </a:solidFill>
                <a:latin typeface="IBM Plex Sans"/>
                <a:ea typeface="IBM Plex Sans"/>
                <a:cs typeface="IBM Plex Sans"/>
              </a:endParaRPr>
            </a:p>
          </p:txBody>
        </p:sp>
      </p:grpSp>
      <p:grpSp>
        <p:nvGrpSpPr>
          <p:cNvPr id="140" name="node04"/>
          <p:cNvGrpSpPr/>
          <p:nvPr/>
        </p:nvGrpSpPr>
        <p:grpSpPr>
          <a:xfrm>
            <a:off x="1181100" y="914400"/>
            <a:ext cx="431800" cy="431800"/>
            <a:chOff x="1181100" y="914400"/>
            <a:chExt cx="431800" cy="431800"/>
          </a:xfrm>
        </p:grpSpPr>
        <p:sp>
          <p:nvSpPr>
            <p:cNvPr id="10" name="node04.surface"/>
            <p:cNvSpPr/>
            <p:nvPr/>
          </p:nvSpPr>
          <p:spPr>
            <a:xfrm>
              <a:off x="1181100" y="914400"/>
              <a:ext cx="431800" cy="431800"/>
            </a:xfrm>
            <a:prstGeom prst="rect">
              <a:avLst/>
            </a:prstGeom>
            <a:solidFill>
              <a:srgbClr val="7C9BFF"/>
            </a:solidFill>
            <a:ln>
              <a:noFill/>
            </a:ln>
          </p:spPr>
        </p:sp>
      </p:grpSp>
      <p:grpSp>
        <p:nvGrpSpPr>
          <p:cNvPr id="141" name="node05"/>
          <p:cNvGrpSpPr/>
          <p:nvPr/>
        </p:nvGrpSpPr>
        <p:grpSpPr>
          <a:xfrm>
            <a:off x="1638300" y="914400"/>
            <a:ext cx="431800" cy="431800"/>
            <a:chOff x="1638300" y="914400"/>
            <a:chExt cx="431800" cy="431800"/>
          </a:xfrm>
        </p:grpSpPr>
        <p:sp>
          <p:nvSpPr>
            <p:cNvPr id="11" name="node05.surface"/>
            <p:cNvSpPr/>
            <p:nvPr/>
          </p:nvSpPr>
          <p:spPr>
            <a:xfrm>
              <a:off x="1638300" y="914400"/>
              <a:ext cx="431800" cy="431800"/>
            </a:xfrm>
            <a:prstGeom prst="rect">
              <a:avLst/>
            </a:prstGeom>
            <a:solidFill>
              <a:srgbClr val="B9C9F0"/>
            </a:solidFill>
            <a:ln>
              <a:noFill/>
            </a:ln>
          </p:spPr>
        </p:sp>
      </p:grpSp>
      <p:grpSp>
        <p:nvGrpSpPr>
          <p:cNvPr id="142" name="node06"/>
          <p:cNvGrpSpPr/>
          <p:nvPr/>
        </p:nvGrpSpPr>
        <p:grpSpPr>
          <a:xfrm>
            <a:off x="2095500" y="914400"/>
            <a:ext cx="431800" cy="431800"/>
            <a:chOff x="2095500" y="914400"/>
            <a:chExt cx="431800" cy="431800"/>
          </a:xfrm>
        </p:grpSpPr>
        <p:sp>
          <p:nvSpPr>
            <p:cNvPr id="12" name="node06.surface"/>
            <p:cNvSpPr/>
            <p:nvPr/>
          </p:nvSpPr>
          <p:spPr>
            <a:xfrm>
              <a:off x="2095500" y="914400"/>
              <a:ext cx="431800" cy="431800"/>
            </a:xfrm>
            <a:prstGeom prst="rect">
              <a:avLst/>
            </a:prstGeom>
            <a:solidFill>
              <a:srgbClr val="B9C9F0"/>
            </a:solidFill>
            <a:ln>
              <a:noFill/>
            </a:ln>
          </p:spPr>
        </p:sp>
      </p:grpSp>
      <p:grpSp>
        <p:nvGrpSpPr>
          <p:cNvPr id="143" name="node07"/>
          <p:cNvGrpSpPr/>
          <p:nvPr/>
        </p:nvGrpSpPr>
        <p:grpSpPr>
          <a:xfrm>
            <a:off x="2552700" y="914400"/>
            <a:ext cx="431800" cy="431800"/>
            <a:chOff x="2552700" y="914400"/>
            <a:chExt cx="431800" cy="431800"/>
          </a:xfrm>
        </p:grpSpPr>
        <p:sp>
          <p:nvSpPr>
            <p:cNvPr id="13" name="node07.surface"/>
            <p:cNvSpPr/>
            <p:nvPr/>
          </p:nvSpPr>
          <p:spPr>
            <a:xfrm>
              <a:off x="2552700" y="914400"/>
              <a:ext cx="431800" cy="431800"/>
            </a:xfrm>
            <a:prstGeom prst="rect">
              <a:avLst/>
            </a:prstGeom>
            <a:solidFill>
              <a:srgbClr val="7C9BFF"/>
            </a:solidFill>
            <a:ln>
              <a:noFill/>
            </a:ln>
          </p:spPr>
        </p:sp>
      </p:grpSp>
      <p:grpSp>
        <p:nvGrpSpPr>
          <p:cNvPr id="144" name="node08"/>
          <p:cNvGrpSpPr/>
          <p:nvPr/>
        </p:nvGrpSpPr>
        <p:grpSpPr>
          <a:xfrm>
            <a:off x="3009900" y="914400"/>
            <a:ext cx="431800" cy="431800"/>
            <a:chOff x="3009900" y="914400"/>
            <a:chExt cx="431800" cy="431800"/>
          </a:xfrm>
        </p:grpSpPr>
        <p:sp>
          <p:nvSpPr>
            <p:cNvPr id="14" name="node08.surface"/>
            <p:cNvSpPr/>
            <p:nvPr/>
          </p:nvSpPr>
          <p:spPr>
            <a:xfrm>
              <a:off x="3009900" y="914400"/>
              <a:ext cx="431800" cy="431800"/>
            </a:xfrm>
            <a:prstGeom prst="rect">
              <a:avLst/>
            </a:prstGeom>
            <a:solidFill>
              <a:srgbClr val="B9C9F0"/>
            </a:solidFill>
            <a:ln>
              <a:noFill/>
            </a:ln>
          </p:spPr>
        </p:sp>
      </p:grpSp>
      <p:grpSp>
        <p:nvGrpSpPr>
          <p:cNvPr id="145" name="node09"/>
          <p:cNvGrpSpPr/>
          <p:nvPr/>
        </p:nvGrpSpPr>
        <p:grpSpPr>
          <a:xfrm>
            <a:off x="723900" y="1511300"/>
            <a:ext cx="457200" cy="190500"/>
            <a:chOff x="723900" y="1511300"/>
            <a:chExt cx="457200" cy="190500"/>
          </a:xfrm>
        </p:grpSpPr>
        <p:sp>
          <p:nvSpPr>
            <p:cNvPr id="15" name="node09.text"/>
            <p:cNvSpPr/>
            <p:nvPr/>
          </p:nvSpPr>
          <p:spPr>
            <a:xfrm>
              <a:off x="723900" y="15113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A2</a:t>
              </a:r>
              <a:endParaRPr lang="en-US" sz="1100" spc="0" kern="0" b="0" i="0" dirty="0">
                <a:solidFill>
                  <a:srgbClr val="070154"/>
                </a:solidFill>
                <a:latin typeface="IBM Plex Sans"/>
                <a:ea typeface="IBM Plex Sans"/>
                <a:cs typeface="IBM Plex Sans"/>
              </a:endParaRPr>
            </a:p>
          </p:txBody>
        </p:sp>
      </p:grpSp>
      <p:grpSp>
        <p:nvGrpSpPr>
          <p:cNvPr id="146" name="node10"/>
          <p:cNvGrpSpPr/>
          <p:nvPr/>
        </p:nvGrpSpPr>
        <p:grpSpPr>
          <a:xfrm>
            <a:off x="1181100" y="1371600"/>
            <a:ext cx="431800" cy="431800"/>
            <a:chOff x="1181100" y="1371600"/>
            <a:chExt cx="431800" cy="431800"/>
          </a:xfrm>
        </p:grpSpPr>
        <p:sp>
          <p:nvSpPr>
            <p:cNvPr id="16" name="node10.surface"/>
            <p:cNvSpPr/>
            <p:nvPr/>
          </p:nvSpPr>
          <p:spPr>
            <a:xfrm>
              <a:off x="1181100" y="1371600"/>
              <a:ext cx="431800" cy="431800"/>
            </a:xfrm>
            <a:prstGeom prst="rect">
              <a:avLst/>
            </a:prstGeom>
            <a:solidFill>
              <a:srgbClr val="7C9BFF"/>
            </a:solidFill>
            <a:ln>
              <a:noFill/>
            </a:ln>
          </p:spPr>
        </p:sp>
      </p:grpSp>
      <p:grpSp>
        <p:nvGrpSpPr>
          <p:cNvPr id="147" name="node11"/>
          <p:cNvGrpSpPr/>
          <p:nvPr/>
        </p:nvGrpSpPr>
        <p:grpSpPr>
          <a:xfrm>
            <a:off x="1638300" y="1371600"/>
            <a:ext cx="431800" cy="431800"/>
            <a:chOff x="1638300" y="1371600"/>
            <a:chExt cx="431800" cy="431800"/>
          </a:xfrm>
        </p:grpSpPr>
        <p:sp>
          <p:nvSpPr>
            <p:cNvPr id="17" name="node11.surface"/>
            <p:cNvSpPr/>
            <p:nvPr/>
          </p:nvSpPr>
          <p:spPr>
            <a:xfrm>
              <a:off x="1638300" y="1371600"/>
              <a:ext cx="431800" cy="431800"/>
            </a:xfrm>
            <a:prstGeom prst="rect">
              <a:avLst/>
            </a:prstGeom>
            <a:solidFill>
              <a:srgbClr val="7C9BFF"/>
            </a:solidFill>
            <a:ln>
              <a:noFill/>
            </a:ln>
          </p:spPr>
        </p:sp>
      </p:grpSp>
      <p:grpSp>
        <p:nvGrpSpPr>
          <p:cNvPr id="148" name="node12"/>
          <p:cNvGrpSpPr/>
          <p:nvPr/>
        </p:nvGrpSpPr>
        <p:grpSpPr>
          <a:xfrm>
            <a:off x="2095500" y="1371600"/>
            <a:ext cx="431800" cy="431800"/>
            <a:chOff x="2095500" y="1371600"/>
            <a:chExt cx="431800" cy="431800"/>
          </a:xfrm>
        </p:grpSpPr>
        <p:sp>
          <p:nvSpPr>
            <p:cNvPr id="18" name="node12.surface"/>
            <p:cNvSpPr/>
            <p:nvPr/>
          </p:nvSpPr>
          <p:spPr>
            <a:xfrm>
              <a:off x="2095500" y="1371600"/>
              <a:ext cx="431800" cy="431800"/>
            </a:xfrm>
            <a:prstGeom prst="rect">
              <a:avLst/>
            </a:prstGeom>
            <a:solidFill>
              <a:srgbClr val="B9C9F0"/>
            </a:solidFill>
            <a:ln>
              <a:noFill/>
            </a:ln>
          </p:spPr>
        </p:sp>
      </p:grpSp>
      <p:grpSp>
        <p:nvGrpSpPr>
          <p:cNvPr id="149" name="node13"/>
          <p:cNvGrpSpPr/>
          <p:nvPr/>
        </p:nvGrpSpPr>
        <p:grpSpPr>
          <a:xfrm>
            <a:off x="2552700" y="1371600"/>
            <a:ext cx="431800" cy="431800"/>
            <a:chOff x="2552700" y="1371600"/>
            <a:chExt cx="431800" cy="431800"/>
          </a:xfrm>
        </p:grpSpPr>
        <p:sp>
          <p:nvSpPr>
            <p:cNvPr id="19" name="node13.surface"/>
            <p:cNvSpPr/>
            <p:nvPr/>
          </p:nvSpPr>
          <p:spPr>
            <a:xfrm>
              <a:off x="2552700" y="1371600"/>
              <a:ext cx="431800" cy="431800"/>
            </a:xfrm>
            <a:prstGeom prst="rect">
              <a:avLst/>
            </a:prstGeom>
            <a:solidFill>
              <a:srgbClr val="7C9BFF"/>
            </a:solidFill>
            <a:ln>
              <a:noFill/>
            </a:ln>
          </p:spPr>
        </p:sp>
      </p:grpSp>
      <p:grpSp>
        <p:nvGrpSpPr>
          <p:cNvPr id="150" name="node14"/>
          <p:cNvGrpSpPr/>
          <p:nvPr/>
        </p:nvGrpSpPr>
        <p:grpSpPr>
          <a:xfrm>
            <a:off x="3009900" y="1371600"/>
            <a:ext cx="431800" cy="431800"/>
            <a:chOff x="3009900" y="1371600"/>
            <a:chExt cx="431800" cy="431800"/>
          </a:xfrm>
        </p:grpSpPr>
        <p:sp>
          <p:nvSpPr>
            <p:cNvPr id="20" name="node14.surface"/>
            <p:cNvSpPr/>
            <p:nvPr/>
          </p:nvSpPr>
          <p:spPr>
            <a:xfrm>
              <a:off x="3009900" y="1371600"/>
              <a:ext cx="431800" cy="431800"/>
            </a:xfrm>
            <a:prstGeom prst="rect">
              <a:avLst/>
            </a:prstGeom>
            <a:solidFill>
              <a:srgbClr val="7C9BFF"/>
            </a:solidFill>
            <a:ln>
              <a:noFill/>
            </a:ln>
          </p:spPr>
        </p:sp>
      </p:grpSp>
      <p:grpSp>
        <p:nvGrpSpPr>
          <p:cNvPr id="151" name="node15"/>
          <p:cNvGrpSpPr/>
          <p:nvPr/>
        </p:nvGrpSpPr>
        <p:grpSpPr>
          <a:xfrm>
            <a:off x="723900" y="1968500"/>
            <a:ext cx="457200" cy="190500"/>
            <a:chOff x="723900" y="1968500"/>
            <a:chExt cx="457200" cy="190500"/>
          </a:xfrm>
        </p:grpSpPr>
        <p:sp>
          <p:nvSpPr>
            <p:cNvPr id="21" name="node15.text"/>
            <p:cNvSpPr/>
            <p:nvPr/>
          </p:nvSpPr>
          <p:spPr>
            <a:xfrm>
              <a:off x="723900" y="19685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A3</a:t>
              </a:r>
              <a:endParaRPr lang="en-US" sz="1100" spc="0" kern="0" b="0" i="0" dirty="0">
                <a:solidFill>
                  <a:srgbClr val="070154"/>
                </a:solidFill>
                <a:latin typeface="IBM Plex Sans"/>
                <a:ea typeface="IBM Plex Sans"/>
                <a:cs typeface="IBM Plex Sans"/>
              </a:endParaRPr>
            </a:p>
          </p:txBody>
        </p:sp>
      </p:grpSp>
      <p:grpSp>
        <p:nvGrpSpPr>
          <p:cNvPr id="152" name="node16"/>
          <p:cNvGrpSpPr/>
          <p:nvPr/>
        </p:nvGrpSpPr>
        <p:grpSpPr>
          <a:xfrm>
            <a:off x="1181100" y="1828800"/>
            <a:ext cx="431800" cy="431800"/>
            <a:chOff x="1181100" y="1828800"/>
            <a:chExt cx="431800" cy="431800"/>
          </a:xfrm>
        </p:grpSpPr>
        <p:sp>
          <p:nvSpPr>
            <p:cNvPr id="22" name="node16.surface"/>
            <p:cNvSpPr/>
            <p:nvPr/>
          </p:nvSpPr>
          <p:spPr>
            <a:xfrm>
              <a:off x="1181100" y="1828800"/>
              <a:ext cx="431800" cy="431800"/>
            </a:xfrm>
            <a:prstGeom prst="rect">
              <a:avLst/>
            </a:prstGeom>
            <a:solidFill>
              <a:srgbClr val="B9C9F0"/>
            </a:solidFill>
            <a:ln>
              <a:noFill/>
            </a:ln>
          </p:spPr>
        </p:sp>
      </p:grpSp>
      <p:grpSp>
        <p:nvGrpSpPr>
          <p:cNvPr id="153" name="node17"/>
          <p:cNvGrpSpPr/>
          <p:nvPr/>
        </p:nvGrpSpPr>
        <p:grpSpPr>
          <a:xfrm>
            <a:off x="1638300" y="1828800"/>
            <a:ext cx="431800" cy="431800"/>
            <a:chOff x="1638300" y="1828800"/>
            <a:chExt cx="431800" cy="431800"/>
          </a:xfrm>
        </p:grpSpPr>
        <p:sp>
          <p:nvSpPr>
            <p:cNvPr id="23" name="node17.surface"/>
            <p:cNvSpPr/>
            <p:nvPr/>
          </p:nvSpPr>
          <p:spPr>
            <a:xfrm>
              <a:off x="1638300" y="1828800"/>
              <a:ext cx="431800" cy="431800"/>
            </a:xfrm>
            <a:prstGeom prst="rect">
              <a:avLst/>
            </a:prstGeom>
            <a:solidFill>
              <a:srgbClr val="E8EEF8"/>
            </a:solidFill>
            <a:ln>
              <a:noFill/>
            </a:ln>
          </p:spPr>
        </p:sp>
      </p:grpSp>
      <p:grpSp>
        <p:nvGrpSpPr>
          <p:cNvPr id="154" name="node18"/>
          <p:cNvGrpSpPr/>
          <p:nvPr/>
        </p:nvGrpSpPr>
        <p:grpSpPr>
          <a:xfrm>
            <a:off x="2095500" y="1828800"/>
            <a:ext cx="431800" cy="431800"/>
            <a:chOff x="2095500" y="1828800"/>
            <a:chExt cx="431800" cy="431800"/>
          </a:xfrm>
        </p:grpSpPr>
        <p:sp>
          <p:nvSpPr>
            <p:cNvPr id="24" name="node18.surface"/>
            <p:cNvSpPr/>
            <p:nvPr/>
          </p:nvSpPr>
          <p:spPr>
            <a:xfrm>
              <a:off x="2095500" y="1828800"/>
              <a:ext cx="431800" cy="431800"/>
            </a:xfrm>
            <a:prstGeom prst="rect">
              <a:avLst/>
            </a:prstGeom>
            <a:solidFill>
              <a:srgbClr val="E8EEF8"/>
            </a:solidFill>
            <a:ln>
              <a:noFill/>
            </a:ln>
          </p:spPr>
        </p:sp>
      </p:grpSp>
      <p:grpSp>
        <p:nvGrpSpPr>
          <p:cNvPr id="155" name="node19"/>
          <p:cNvGrpSpPr/>
          <p:nvPr/>
        </p:nvGrpSpPr>
        <p:grpSpPr>
          <a:xfrm>
            <a:off x="2552700" y="1828800"/>
            <a:ext cx="431800" cy="431800"/>
            <a:chOff x="2552700" y="1828800"/>
            <a:chExt cx="431800" cy="431800"/>
          </a:xfrm>
        </p:grpSpPr>
        <p:sp>
          <p:nvSpPr>
            <p:cNvPr id="25" name="node19.surface"/>
            <p:cNvSpPr/>
            <p:nvPr/>
          </p:nvSpPr>
          <p:spPr>
            <a:xfrm>
              <a:off x="2552700" y="1828800"/>
              <a:ext cx="431800" cy="431800"/>
            </a:xfrm>
            <a:prstGeom prst="rect">
              <a:avLst/>
            </a:prstGeom>
            <a:solidFill>
              <a:srgbClr val="B9C9F0"/>
            </a:solidFill>
            <a:ln>
              <a:noFill/>
            </a:ln>
          </p:spPr>
        </p:sp>
      </p:grpSp>
      <p:grpSp>
        <p:nvGrpSpPr>
          <p:cNvPr id="156" name="node20"/>
          <p:cNvGrpSpPr/>
          <p:nvPr/>
        </p:nvGrpSpPr>
        <p:grpSpPr>
          <a:xfrm>
            <a:off x="3009900" y="1828800"/>
            <a:ext cx="431800" cy="431800"/>
            <a:chOff x="3009900" y="1828800"/>
            <a:chExt cx="431800" cy="431800"/>
          </a:xfrm>
        </p:grpSpPr>
        <p:sp>
          <p:nvSpPr>
            <p:cNvPr id="26" name="node20.surface"/>
            <p:cNvSpPr/>
            <p:nvPr/>
          </p:nvSpPr>
          <p:spPr>
            <a:xfrm>
              <a:off x="3009900" y="1828800"/>
              <a:ext cx="431800" cy="431800"/>
            </a:xfrm>
            <a:prstGeom prst="rect">
              <a:avLst/>
            </a:prstGeom>
            <a:solidFill>
              <a:srgbClr val="B9C9F0"/>
            </a:solidFill>
            <a:ln>
              <a:noFill/>
            </a:ln>
          </p:spPr>
        </p:sp>
      </p:grpSp>
      <p:grpSp>
        <p:nvGrpSpPr>
          <p:cNvPr id="157" name="node21"/>
          <p:cNvGrpSpPr/>
          <p:nvPr/>
        </p:nvGrpSpPr>
        <p:grpSpPr>
          <a:xfrm>
            <a:off x="723900" y="2425700"/>
            <a:ext cx="457200" cy="190500"/>
            <a:chOff x="723900" y="2425700"/>
            <a:chExt cx="457200" cy="190500"/>
          </a:xfrm>
        </p:grpSpPr>
        <p:sp>
          <p:nvSpPr>
            <p:cNvPr id="27" name="node21.text"/>
            <p:cNvSpPr/>
            <p:nvPr/>
          </p:nvSpPr>
          <p:spPr>
            <a:xfrm>
              <a:off x="723900" y="24257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A4</a:t>
              </a:r>
              <a:endParaRPr lang="en-US" sz="1100" spc="0" kern="0" b="0" i="0" dirty="0">
                <a:solidFill>
                  <a:srgbClr val="50658E"/>
                </a:solidFill>
                <a:latin typeface="IBM Plex Sans"/>
                <a:ea typeface="IBM Plex Sans"/>
                <a:cs typeface="IBM Plex Sans"/>
              </a:endParaRPr>
            </a:p>
          </p:txBody>
        </p:sp>
      </p:grpSp>
      <p:grpSp>
        <p:nvGrpSpPr>
          <p:cNvPr id="158" name="node22"/>
          <p:cNvGrpSpPr/>
          <p:nvPr/>
        </p:nvGrpSpPr>
        <p:grpSpPr>
          <a:xfrm>
            <a:off x="1181100" y="2286000"/>
            <a:ext cx="431800" cy="431800"/>
            <a:chOff x="1181100" y="2286000"/>
            <a:chExt cx="431800" cy="431800"/>
          </a:xfrm>
        </p:grpSpPr>
        <p:sp>
          <p:nvSpPr>
            <p:cNvPr id="28" name="node22.surface"/>
            <p:cNvSpPr/>
            <p:nvPr/>
          </p:nvSpPr>
          <p:spPr>
            <a:xfrm>
              <a:off x="1181100" y="2286000"/>
              <a:ext cx="431800" cy="431800"/>
            </a:xfrm>
            <a:prstGeom prst="rect">
              <a:avLst/>
            </a:prstGeom>
            <a:solidFill>
              <a:srgbClr val="0047FF"/>
            </a:solidFill>
            <a:ln>
              <a:noFill/>
            </a:ln>
          </p:spPr>
        </p:sp>
      </p:grpSp>
      <p:grpSp>
        <p:nvGrpSpPr>
          <p:cNvPr id="159" name="node23"/>
          <p:cNvGrpSpPr/>
          <p:nvPr/>
        </p:nvGrpSpPr>
        <p:grpSpPr>
          <a:xfrm>
            <a:off x="1638300" y="2286000"/>
            <a:ext cx="431800" cy="431800"/>
            <a:chOff x="1638300" y="2286000"/>
            <a:chExt cx="431800" cy="431800"/>
          </a:xfrm>
        </p:grpSpPr>
        <p:sp>
          <p:nvSpPr>
            <p:cNvPr id="29" name="node23.surface"/>
            <p:cNvSpPr/>
            <p:nvPr/>
          </p:nvSpPr>
          <p:spPr>
            <a:xfrm>
              <a:off x="1638300" y="2286000"/>
              <a:ext cx="431800" cy="431800"/>
            </a:xfrm>
            <a:prstGeom prst="rect">
              <a:avLst/>
            </a:prstGeom>
            <a:solidFill>
              <a:srgbClr val="070154"/>
            </a:solidFill>
            <a:ln>
              <a:noFill/>
            </a:ln>
          </p:spPr>
        </p:sp>
      </p:grpSp>
      <p:grpSp>
        <p:nvGrpSpPr>
          <p:cNvPr id="160" name="node24"/>
          <p:cNvGrpSpPr/>
          <p:nvPr/>
        </p:nvGrpSpPr>
        <p:grpSpPr>
          <a:xfrm>
            <a:off x="2095500" y="2286000"/>
            <a:ext cx="431800" cy="431800"/>
            <a:chOff x="2095500" y="2286000"/>
            <a:chExt cx="431800" cy="431800"/>
          </a:xfrm>
        </p:grpSpPr>
        <p:sp>
          <p:nvSpPr>
            <p:cNvPr id="30" name="node24.surface"/>
            <p:cNvSpPr/>
            <p:nvPr/>
          </p:nvSpPr>
          <p:spPr>
            <a:xfrm>
              <a:off x="2095500" y="2286000"/>
              <a:ext cx="431800" cy="431800"/>
            </a:xfrm>
            <a:prstGeom prst="rect">
              <a:avLst/>
            </a:prstGeom>
            <a:solidFill>
              <a:srgbClr val="7C9BFF"/>
            </a:solidFill>
            <a:ln>
              <a:noFill/>
            </a:ln>
          </p:spPr>
        </p:sp>
      </p:grpSp>
      <p:grpSp>
        <p:nvGrpSpPr>
          <p:cNvPr id="161" name="node25"/>
          <p:cNvGrpSpPr/>
          <p:nvPr/>
        </p:nvGrpSpPr>
        <p:grpSpPr>
          <a:xfrm>
            <a:off x="2552700" y="2286000"/>
            <a:ext cx="431800" cy="431800"/>
            <a:chOff x="2552700" y="2286000"/>
            <a:chExt cx="431800" cy="431800"/>
          </a:xfrm>
        </p:grpSpPr>
        <p:sp>
          <p:nvSpPr>
            <p:cNvPr id="31" name="node25.surface"/>
            <p:cNvSpPr/>
            <p:nvPr/>
          </p:nvSpPr>
          <p:spPr>
            <a:xfrm>
              <a:off x="2552700" y="2286000"/>
              <a:ext cx="431800" cy="431800"/>
            </a:xfrm>
            <a:prstGeom prst="rect">
              <a:avLst/>
            </a:prstGeom>
            <a:solidFill>
              <a:srgbClr val="7C9BFF"/>
            </a:solidFill>
            <a:ln>
              <a:noFill/>
            </a:ln>
          </p:spPr>
        </p:sp>
      </p:grpSp>
      <p:grpSp>
        <p:nvGrpSpPr>
          <p:cNvPr id="162" name="node26"/>
          <p:cNvGrpSpPr/>
          <p:nvPr/>
        </p:nvGrpSpPr>
        <p:grpSpPr>
          <a:xfrm>
            <a:off x="3009900" y="2286000"/>
            <a:ext cx="431800" cy="431800"/>
            <a:chOff x="3009900" y="2286000"/>
            <a:chExt cx="431800" cy="431800"/>
          </a:xfrm>
        </p:grpSpPr>
        <p:sp>
          <p:nvSpPr>
            <p:cNvPr id="32" name="node26.surface"/>
            <p:cNvSpPr/>
            <p:nvPr/>
          </p:nvSpPr>
          <p:spPr>
            <a:xfrm>
              <a:off x="3009900" y="2286000"/>
              <a:ext cx="431800" cy="431800"/>
            </a:xfrm>
            <a:prstGeom prst="rect">
              <a:avLst/>
            </a:prstGeom>
            <a:solidFill>
              <a:srgbClr val="0047FF"/>
            </a:solidFill>
            <a:ln>
              <a:noFill/>
            </a:ln>
          </p:spPr>
        </p:sp>
      </p:grpSp>
      <p:grpSp>
        <p:nvGrpSpPr>
          <p:cNvPr id="163" name="node27"/>
          <p:cNvGrpSpPr/>
          <p:nvPr/>
        </p:nvGrpSpPr>
        <p:grpSpPr>
          <a:xfrm>
            <a:off x="723900" y="2882900"/>
            <a:ext cx="457200" cy="190500"/>
            <a:chOff x="723900" y="2882900"/>
            <a:chExt cx="457200" cy="190500"/>
          </a:xfrm>
        </p:grpSpPr>
        <p:sp>
          <p:nvSpPr>
            <p:cNvPr id="33" name="node27.text"/>
            <p:cNvSpPr/>
            <p:nvPr/>
          </p:nvSpPr>
          <p:spPr>
            <a:xfrm>
              <a:off x="723900" y="28829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A5</a:t>
              </a:r>
              <a:endParaRPr lang="en-US" sz="1100" spc="0" kern="0" b="0" i="0" dirty="0">
                <a:solidFill>
                  <a:srgbClr val="50658E"/>
                </a:solidFill>
                <a:latin typeface="IBM Plex Sans"/>
                <a:ea typeface="IBM Plex Sans"/>
                <a:cs typeface="IBM Plex Sans"/>
              </a:endParaRPr>
            </a:p>
          </p:txBody>
        </p:sp>
      </p:grpSp>
      <p:grpSp>
        <p:nvGrpSpPr>
          <p:cNvPr id="164" name="node28"/>
          <p:cNvGrpSpPr/>
          <p:nvPr/>
        </p:nvGrpSpPr>
        <p:grpSpPr>
          <a:xfrm>
            <a:off x="1181100" y="2743200"/>
            <a:ext cx="431800" cy="431800"/>
            <a:chOff x="1181100" y="2743200"/>
            <a:chExt cx="431800" cy="431800"/>
          </a:xfrm>
        </p:grpSpPr>
        <p:sp>
          <p:nvSpPr>
            <p:cNvPr id="34" name="node28.surface"/>
            <p:cNvSpPr/>
            <p:nvPr/>
          </p:nvSpPr>
          <p:spPr>
            <a:xfrm>
              <a:off x="1181100" y="2743200"/>
              <a:ext cx="431800" cy="431800"/>
            </a:xfrm>
            <a:prstGeom prst="rect">
              <a:avLst/>
            </a:prstGeom>
            <a:solidFill>
              <a:srgbClr val="7C9BFF"/>
            </a:solidFill>
            <a:ln>
              <a:noFill/>
            </a:ln>
          </p:spPr>
        </p:sp>
      </p:grpSp>
      <p:grpSp>
        <p:nvGrpSpPr>
          <p:cNvPr id="165" name="node29"/>
          <p:cNvGrpSpPr/>
          <p:nvPr/>
        </p:nvGrpSpPr>
        <p:grpSpPr>
          <a:xfrm>
            <a:off x="1638300" y="2743200"/>
            <a:ext cx="431800" cy="431800"/>
            <a:chOff x="1638300" y="2743200"/>
            <a:chExt cx="431800" cy="431800"/>
          </a:xfrm>
        </p:grpSpPr>
        <p:sp>
          <p:nvSpPr>
            <p:cNvPr id="35" name="node29.surface"/>
            <p:cNvSpPr/>
            <p:nvPr/>
          </p:nvSpPr>
          <p:spPr>
            <a:xfrm>
              <a:off x="1638300" y="2743200"/>
              <a:ext cx="431800" cy="431800"/>
            </a:xfrm>
            <a:prstGeom prst="rect">
              <a:avLst/>
            </a:prstGeom>
            <a:solidFill>
              <a:srgbClr val="7C9BFF"/>
            </a:solidFill>
            <a:ln>
              <a:noFill/>
            </a:ln>
          </p:spPr>
        </p:sp>
      </p:grpSp>
      <p:grpSp>
        <p:nvGrpSpPr>
          <p:cNvPr id="166" name="node30"/>
          <p:cNvGrpSpPr/>
          <p:nvPr/>
        </p:nvGrpSpPr>
        <p:grpSpPr>
          <a:xfrm>
            <a:off x="2095500" y="2743200"/>
            <a:ext cx="431800" cy="431800"/>
            <a:chOff x="2095500" y="2743200"/>
            <a:chExt cx="431800" cy="431800"/>
          </a:xfrm>
        </p:grpSpPr>
        <p:sp>
          <p:nvSpPr>
            <p:cNvPr id="36" name="node30.surface"/>
            <p:cNvSpPr/>
            <p:nvPr/>
          </p:nvSpPr>
          <p:spPr>
            <a:xfrm>
              <a:off x="2095500" y="2743200"/>
              <a:ext cx="431800" cy="431800"/>
            </a:xfrm>
            <a:prstGeom prst="rect">
              <a:avLst/>
            </a:prstGeom>
            <a:solidFill>
              <a:srgbClr val="7C9BFF"/>
            </a:solidFill>
            <a:ln>
              <a:noFill/>
            </a:ln>
          </p:spPr>
        </p:sp>
      </p:grpSp>
      <p:grpSp>
        <p:nvGrpSpPr>
          <p:cNvPr id="167" name="node31"/>
          <p:cNvGrpSpPr/>
          <p:nvPr/>
        </p:nvGrpSpPr>
        <p:grpSpPr>
          <a:xfrm>
            <a:off x="2552700" y="2743200"/>
            <a:ext cx="431800" cy="431800"/>
            <a:chOff x="2552700" y="2743200"/>
            <a:chExt cx="431800" cy="431800"/>
          </a:xfrm>
        </p:grpSpPr>
        <p:sp>
          <p:nvSpPr>
            <p:cNvPr id="37" name="node31.surface"/>
            <p:cNvSpPr/>
            <p:nvPr/>
          </p:nvSpPr>
          <p:spPr>
            <a:xfrm>
              <a:off x="2552700" y="2743200"/>
              <a:ext cx="431800" cy="431800"/>
            </a:xfrm>
            <a:prstGeom prst="rect">
              <a:avLst/>
            </a:prstGeom>
            <a:solidFill>
              <a:srgbClr val="B9C9F0"/>
            </a:solidFill>
            <a:ln>
              <a:noFill/>
            </a:ln>
          </p:spPr>
        </p:sp>
      </p:grpSp>
      <p:grpSp>
        <p:nvGrpSpPr>
          <p:cNvPr id="168" name="node32"/>
          <p:cNvGrpSpPr/>
          <p:nvPr/>
        </p:nvGrpSpPr>
        <p:grpSpPr>
          <a:xfrm>
            <a:off x="3009900" y="2743200"/>
            <a:ext cx="431800" cy="431800"/>
            <a:chOff x="3009900" y="2743200"/>
            <a:chExt cx="431800" cy="431800"/>
          </a:xfrm>
        </p:grpSpPr>
        <p:sp>
          <p:nvSpPr>
            <p:cNvPr id="38" name="node32.surface"/>
            <p:cNvSpPr/>
            <p:nvPr/>
          </p:nvSpPr>
          <p:spPr>
            <a:xfrm>
              <a:off x="3009900" y="2743200"/>
              <a:ext cx="431800" cy="431800"/>
            </a:xfrm>
            <a:prstGeom prst="rect">
              <a:avLst/>
            </a:prstGeom>
            <a:solidFill>
              <a:srgbClr val="7C9BFF"/>
            </a:solidFill>
            <a:ln>
              <a:noFill/>
            </a:ln>
          </p:spPr>
        </p:sp>
      </p:grpSp>
      <p:grpSp>
        <p:nvGrpSpPr>
          <p:cNvPr id="169" name="node33"/>
          <p:cNvGrpSpPr/>
          <p:nvPr/>
        </p:nvGrpSpPr>
        <p:grpSpPr>
          <a:xfrm>
            <a:off x="723900" y="3340100"/>
            <a:ext cx="457200" cy="190500"/>
            <a:chOff x="723900" y="3340100"/>
            <a:chExt cx="457200" cy="190500"/>
          </a:xfrm>
        </p:grpSpPr>
        <p:sp>
          <p:nvSpPr>
            <p:cNvPr id="39" name="node33.text"/>
            <p:cNvSpPr/>
            <p:nvPr/>
          </p:nvSpPr>
          <p:spPr>
            <a:xfrm>
              <a:off x="723900" y="33401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A6</a:t>
              </a:r>
              <a:endParaRPr lang="en-US" sz="1100" spc="0" kern="0" b="0" i="0" dirty="0">
                <a:solidFill>
                  <a:srgbClr val="50658E"/>
                </a:solidFill>
                <a:latin typeface="IBM Plex Sans"/>
                <a:ea typeface="IBM Plex Sans"/>
                <a:cs typeface="IBM Plex Sans"/>
              </a:endParaRPr>
            </a:p>
          </p:txBody>
        </p:sp>
      </p:grpSp>
      <p:grpSp>
        <p:nvGrpSpPr>
          <p:cNvPr id="170" name="node34"/>
          <p:cNvGrpSpPr/>
          <p:nvPr/>
        </p:nvGrpSpPr>
        <p:grpSpPr>
          <a:xfrm>
            <a:off x="1181100" y="3200400"/>
            <a:ext cx="431800" cy="431800"/>
            <a:chOff x="1181100" y="3200400"/>
            <a:chExt cx="431800" cy="431800"/>
          </a:xfrm>
        </p:grpSpPr>
        <p:sp>
          <p:nvSpPr>
            <p:cNvPr id="40" name="node34.surface"/>
            <p:cNvSpPr/>
            <p:nvPr/>
          </p:nvSpPr>
          <p:spPr>
            <a:xfrm>
              <a:off x="1181100" y="3200400"/>
              <a:ext cx="431800" cy="431800"/>
            </a:xfrm>
            <a:prstGeom prst="rect">
              <a:avLst/>
            </a:prstGeom>
            <a:solidFill>
              <a:srgbClr val="B9C9F0"/>
            </a:solidFill>
            <a:ln>
              <a:noFill/>
            </a:ln>
          </p:spPr>
        </p:sp>
      </p:grpSp>
      <p:grpSp>
        <p:nvGrpSpPr>
          <p:cNvPr id="171" name="node35"/>
          <p:cNvGrpSpPr/>
          <p:nvPr/>
        </p:nvGrpSpPr>
        <p:grpSpPr>
          <a:xfrm>
            <a:off x="1638300" y="3200400"/>
            <a:ext cx="431800" cy="431800"/>
            <a:chOff x="1638300" y="3200400"/>
            <a:chExt cx="431800" cy="431800"/>
          </a:xfrm>
        </p:grpSpPr>
        <p:sp>
          <p:nvSpPr>
            <p:cNvPr id="41" name="node35.surface"/>
            <p:cNvSpPr/>
            <p:nvPr/>
          </p:nvSpPr>
          <p:spPr>
            <a:xfrm>
              <a:off x="1638300" y="3200400"/>
              <a:ext cx="431800" cy="431800"/>
            </a:xfrm>
            <a:prstGeom prst="rect">
              <a:avLst/>
            </a:prstGeom>
            <a:solidFill>
              <a:srgbClr val="B9C9F0"/>
            </a:solidFill>
            <a:ln>
              <a:noFill/>
            </a:ln>
          </p:spPr>
        </p:sp>
      </p:grpSp>
      <p:grpSp>
        <p:nvGrpSpPr>
          <p:cNvPr id="172" name="node36"/>
          <p:cNvGrpSpPr/>
          <p:nvPr/>
        </p:nvGrpSpPr>
        <p:grpSpPr>
          <a:xfrm>
            <a:off x="2095500" y="3200400"/>
            <a:ext cx="431800" cy="431800"/>
            <a:chOff x="2095500" y="3200400"/>
            <a:chExt cx="431800" cy="431800"/>
          </a:xfrm>
        </p:grpSpPr>
        <p:sp>
          <p:nvSpPr>
            <p:cNvPr id="42" name="node36.surface"/>
            <p:cNvSpPr/>
            <p:nvPr/>
          </p:nvSpPr>
          <p:spPr>
            <a:xfrm>
              <a:off x="2095500" y="3200400"/>
              <a:ext cx="431800" cy="431800"/>
            </a:xfrm>
            <a:prstGeom prst="rect">
              <a:avLst/>
            </a:prstGeom>
            <a:solidFill>
              <a:srgbClr val="B9C9F0"/>
            </a:solidFill>
            <a:ln>
              <a:noFill/>
            </a:ln>
          </p:spPr>
        </p:sp>
      </p:grpSp>
      <p:grpSp>
        <p:nvGrpSpPr>
          <p:cNvPr id="173" name="node37"/>
          <p:cNvGrpSpPr/>
          <p:nvPr/>
        </p:nvGrpSpPr>
        <p:grpSpPr>
          <a:xfrm>
            <a:off x="2552700" y="3200400"/>
            <a:ext cx="431800" cy="431800"/>
            <a:chOff x="2552700" y="3200400"/>
            <a:chExt cx="431800" cy="431800"/>
          </a:xfrm>
        </p:grpSpPr>
        <p:sp>
          <p:nvSpPr>
            <p:cNvPr id="43" name="node37.surface"/>
            <p:cNvSpPr/>
            <p:nvPr/>
          </p:nvSpPr>
          <p:spPr>
            <a:xfrm>
              <a:off x="2552700" y="3200400"/>
              <a:ext cx="431800" cy="431800"/>
            </a:xfrm>
            <a:prstGeom prst="rect">
              <a:avLst/>
            </a:prstGeom>
            <a:solidFill>
              <a:srgbClr val="B9C9F0"/>
            </a:solidFill>
            <a:ln>
              <a:noFill/>
            </a:ln>
          </p:spPr>
        </p:sp>
      </p:grpSp>
      <p:grpSp>
        <p:nvGrpSpPr>
          <p:cNvPr id="174" name="node38"/>
          <p:cNvGrpSpPr/>
          <p:nvPr/>
        </p:nvGrpSpPr>
        <p:grpSpPr>
          <a:xfrm>
            <a:off x="3009900" y="3200400"/>
            <a:ext cx="431800" cy="431800"/>
            <a:chOff x="3009900" y="3200400"/>
            <a:chExt cx="431800" cy="431800"/>
          </a:xfrm>
        </p:grpSpPr>
        <p:sp>
          <p:nvSpPr>
            <p:cNvPr id="44" name="node38.surface"/>
            <p:cNvSpPr/>
            <p:nvPr/>
          </p:nvSpPr>
          <p:spPr>
            <a:xfrm>
              <a:off x="3009900" y="3200400"/>
              <a:ext cx="431800" cy="431800"/>
            </a:xfrm>
            <a:prstGeom prst="rect">
              <a:avLst/>
            </a:prstGeom>
            <a:solidFill>
              <a:srgbClr val="E8EEF8"/>
            </a:solidFill>
            <a:ln>
              <a:noFill/>
            </a:ln>
          </p:spPr>
        </p:sp>
      </p:grpSp>
      <p:grpSp>
        <p:nvGrpSpPr>
          <p:cNvPr id="175" name="node39"/>
          <p:cNvGrpSpPr/>
          <p:nvPr/>
        </p:nvGrpSpPr>
        <p:grpSpPr>
          <a:xfrm>
            <a:off x="723900" y="3797300"/>
            <a:ext cx="457200" cy="190500"/>
            <a:chOff x="723900" y="3797300"/>
            <a:chExt cx="457200" cy="190500"/>
          </a:xfrm>
        </p:grpSpPr>
        <p:sp>
          <p:nvSpPr>
            <p:cNvPr id="45" name="node39.text"/>
            <p:cNvSpPr/>
            <p:nvPr/>
          </p:nvSpPr>
          <p:spPr>
            <a:xfrm>
              <a:off x="723900" y="37973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A7</a:t>
              </a:r>
              <a:endParaRPr lang="en-US" sz="1100" spc="0" kern="0" b="0" i="0" dirty="0">
                <a:solidFill>
                  <a:srgbClr val="50658E"/>
                </a:solidFill>
                <a:latin typeface="IBM Plex Sans"/>
                <a:ea typeface="IBM Plex Sans"/>
                <a:cs typeface="IBM Plex Sans"/>
              </a:endParaRPr>
            </a:p>
          </p:txBody>
        </p:sp>
      </p:grpSp>
      <p:grpSp>
        <p:nvGrpSpPr>
          <p:cNvPr id="176" name="node40"/>
          <p:cNvGrpSpPr/>
          <p:nvPr/>
        </p:nvGrpSpPr>
        <p:grpSpPr>
          <a:xfrm>
            <a:off x="1181100" y="3657600"/>
            <a:ext cx="431800" cy="431800"/>
            <a:chOff x="1181100" y="3657600"/>
            <a:chExt cx="431800" cy="431800"/>
          </a:xfrm>
        </p:grpSpPr>
        <p:sp>
          <p:nvSpPr>
            <p:cNvPr id="46" name="node40.surface"/>
            <p:cNvSpPr/>
            <p:nvPr/>
          </p:nvSpPr>
          <p:spPr>
            <a:xfrm>
              <a:off x="1181100" y="3657600"/>
              <a:ext cx="431800" cy="431800"/>
            </a:xfrm>
            <a:prstGeom prst="rect">
              <a:avLst/>
            </a:prstGeom>
            <a:solidFill>
              <a:srgbClr val="0047FF"/>
            </a:solidFill>
            <a:ln>
              <a:noFill/>
            </a:ln>
          </p:spPr>
        </p:sp>
      </p:grpSp>
      <p:grpSp>
        <p:nvGrpSpPr>
          <p:cNvPr id="177" name="node41"/>
          <p:cNvGrpSpPr/>
          <p:nvPr/>
        </p:nvGrpSpPr>
        <p:grpSpPr>
          <a:xfrm>
            <a:off x="1638300" y="3657600"/>
            <a:ext cx="431800" cy="431800"/>
            <a:chOff x="1638300" y="3657600"/>
            <a:chExt cx="431800" cy="431800"/>
          </a:xfrm>
        </p:grpSpPr>
        <p:sp>
          <p:nvSpPr>
            <p:cNvPr id="47" name="node41.surface"/>
            <p:cNvSpPr/>
            <p:nvPr/>
          </p:nvSpPr>
          <p:spPr>
            <a:xfrm>
              <a:off x="1638300" y="3657600"/>
              <a:ext cx="431800" cy="431800"/>
            </a:xfrm>
            <a:prstGeom prst="rect">
              <a:avLst/>
            </a:prstGeom>
            <a:solidFill>
              <a:srgbClr val="0047FF"/>
            </a:solidFill>
            <a:ln>
              <a:noFill/>
            </a:ln>
          </p:spPr>
        </p:sp>
      </p:grpSp>
      <p:grpSp>
        <p:nvGrpSpPr>
          <p:cNvPr id="178" name="node42"/>
          <p:cNvGrpSpPr/>
          <p:nvPr/>
        </p:nvGrpSpPr>
        <p:grpSpPr>
          <a:xfrm>
            <a:off x="2095500" y="3657600"/>
            <a:ext cx="431800" cy="431800"/>
            <a:chOff x="2095500" y="3657600"/>
            <a:chExt cx="431800" cy="431800"/>
          </a:xfrm>
        </p:grpSpPr>
        <p:sp>
          <p:nvSpPr>
            <p:cNvPr id="48" name="node42.surface"/>
            <p:cNvSpPr/>
            <p:nvPr/>
          </p:nvSpPr>
          <p:spPr>
            <a:xfrm>
              <a:off x="2095500" y="3657600"/>
              <a:ext cx="431800" cy="431800"/>
            </a:xfrm>
            <a:prstGeom prst="rect">
              <a:avLst/>
            </a:prstGeom>
            <a:solidFill>
              <a:srgbClr val="7C9BFF"/>
            </a:solidFill>
            <a:ln>
              <a:noFill/>
            </a:ln>
          </p:spPr>
        </p:sp>
      </p:grpSp>
      <p:grpSp>
        <p:nvGrpSpPr>
          <p:cNvPr id="179" name="node43"/>
          <p:cNvGrpSpPr/>
          <p:nvPr/>
        </p:nvGrpSpPr>
        <p:grpSpPr>
          <a:xfrm>
            <a:off x="2552700" y="3657600"/>
            <a:ext cx="431800" cy="431800"/>
            <a:chOff x="2552700" y="3657600"/>
            <a:chExt cx="431800" cy="431800"/>
          </a:xfrm>
        </p:grpSpPr>
        <p:sp>
          <p:nvSpPr>
            <p:cNvPr id="49" name="node43.surface"/>
            <p:cNvSpPr/>
            <p:nvPr/>
          </p:nvSpPr>
          <p:spPr>
            <a:xfrm>
              <a:off x="2552700" y="3657600"/>
              <a:ext cx="431800" cy="431800"/>
            </a:xfrm>
            <a:prstGeom prst="rect">
              <a:avLst/>
            </a:prstGeom>
            <a:solidFill>
              <a:srgbClr val="0047FF"/>
            </a:solidFill>
            <a:ln>
              <a:noFill/>
            </a:ln>
          </p:spPr>
        </p:sp>
      </p:grpSp>
      <p:grpSp>
        <p:nvGrpSpPr>
          <p:cNvPr id="180" name="node44"/>
          <p:cNvGrpSpPr/>
          <p:nvPr/>
        </p:nvGrpSpPr>
        <p:grpSpPr>
          <a:xfrm>
            <a:off x="3009900" y="3657600"/>
            <a:ext cx="431800" cy="431800"/>
            <a:chOff x="3009900" y="3657600"/>
            <a:chExt cx="431800" cy="431800"/>
          </a:xfrm>
        </p:grpSpPr>
        <p:sp>
          <p:nvSpPr>
            <p:cNvPr id="50" name="node44.surface"/>
            <p:cNvSpPr/>
            <p:nvPr/>
          </p:nvSpPr>
          <p:spPr>
            <a:xfrm>
              <a:off x="3009900" y="3657600"/>
              <a:ext cx="431800" cy="431800"/>
            </a:xfrm>
            <a:prstGeom prst="rect">
              <a:avLst/>
            </a:prstGeom>
            <a:solidFill>
              <a:srgbClr val="7C9BFF"/>
            </a:solidFill>
            <a:ln>
              <a:noFill/>
            </a:ln>
          </p:spPr>
        </p:sp>
      </p:grpSp>
      <p:grpSp>
        <p:nvGrpSpPr>
          <p:cNvPr id="181" name="node45"/>
          <p:cNvGrpSpPr/>
          <p:nvPr/>
        </p:nvGrpSpPr>
        <p:grpSpPr>
          <a:xfrm>
            <a:off x="723900" y="4254500"/>
            <a:ext cx="457200" cy="190500"/>
            <a:chOff x="723900" y="4254500"/>
            <a:chExt cx="457200" cy="190500"/>
          </a:xfrm>
        </p:grpSpPr>
        <p:sp>
          <p:nvSpPr>
            <p:cNvPr id="51" name="node45.text"/>
            <p:cNvSpPr/>
            <p:nvPr/>
          </p:nvSpPr>
          <p:spPr>
            <a:xfrm>
              <a:off x="723900" y="42545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A8</a:t>
              </a:r>
              <a:endParaRPr lang="en-US" sz="1100" spc="0" kern="0" b="0" i="0" dirty="0">
                <a:solidFill>
                  <a:srgbClr val="50658E"/>
                </a:solidFill>
                <a:latin typeface="IBM Plex Sans"/>
                <a:ea typeface="IBM Plex Sans"/>
                <a:cs typeface="IBM Plex Sans"/>
              </a:endParaRPr>
            </a:p>
          </p:txBody>
        </p:sp>
      </p:grpSp>
      <p:grpSp>
        <p:nvGrpSpPr>
          <p:cNvPr id="182" name="node46"/>
          <p:cNvGrpSpPr/>
          <p:nvPr/>
        </p:nvGrpSpPr>
        <p:grpSpPr>
          <a:xfrm>
            <a:off x="1181100" y="4114800"/>
            <a:ext cx="431800" cy="431800"/>
            <a:chOff x="1181100" y="4114800"/>
            <a:chExt cx="431800" cy="431800"/>
          </a:xfrm>
        </p:grpSpPr>
        <p:sp>
          <p:nvSpPr>
            <p:cNvPr id="52" name="node46.surface"/>
            <p:cNvSpPr/>
            <p:nvPr/>
          </p:nvSpPr>
          <p:spPr>
            <a:xfrm>
              <a:off x="1181100" y="4114800"/>
              <a:ext cx="431800" cy="431800"/>
            </a:xfrm>
            <a:prstGeom prst="rect">
              <a:avLst/>
            </a:prstGeom>
            <a:solidFill>
              <a:srgbClr val="B9C9F0"/>
            </a:solidFill>
            <a:ln>
              <a:noFill/>
            </a:ln>
          </p:spPr>
        </p:sp>
      </p:grpSp>
      <p:grpSp>
        <p:nvGrpSpPr>
          <p:cNvPr id="183" name="node47"/>
          <p:cNvGrpSpPr/>
          <p:nvPr/>
        </p:nvGrpSpPr>
        <p:grpSpPr>
          <a:xfrm>
            <a:off x="1638300" y="4114800"/>
            <a:ext cx="431800" cy="431800"/>
            <a:chOff x="1638300" y="4114800"/>
            <a:chExt cx="431800" cy="431800"/>
          </a:xfrm>
        </p:grpSpPr>
        <p:sp>
          <p:nvSpPr>
            <p:cNvPr id="53" name="node47.surface"/>
            <p:cNvSpPr/>
            <p:nvPr/>
          </p:nvSpPr>
          <p:spPr>
            <a:xfrm>
              <a:off x="1638300" y="4114800"/>
              <a:ext cx="431800" cy="431800"/>
            </a:xfrm>
            <a:prstGeom prst="rect">
              <a:avLst/>
            </a:prstGeom>
            <a:solidFill>
              <a:srgbClr val="B9C9F0"/>
            </a:solidFill>
            <a:ln>
              <a:noFill/>
            </a:ln>
          </p:spPr>
        </p:sp>
      </p:grpSp>
      <p:grpSp>
        <p:nvGrpSpPr>
          <p:cNvPr id="184" name="node48"/>
          <p:cNvGrpSpPr/>
          <p:nvPr/>
        </p:nvGrpSpPr>
        <p:grpSpPr>
          <a:xfrm>
            <a:off x="2095500" y="4114800"/>
            <a:ext cx="431800" cy="431800"/>
            <a:chOff x="2095500" y="4114800"/>
            <a:chExt cx="431800" cy="431800"/>
          </a:xfrm>
        </p:grpSpPr>
        <p:sp>
          <p:nvSpPr>
            <p:cNvPr id="54" name="node48.surface"/>
            <p:cNvSpPr/>
            <p:nvPr/>
          </p:nvSpPr>
          <p:spPr>
            <a:xfrm>
              <a:off x="2095500" y="4114800"/>
              <a:ext cx="431800" cy="431800"/>
            </a:xfrm>
            <a:prstGeom prst="rect">
              <a:avLst/>
            </a:prstGeom>
            <a:solidFill>
              <a:srgbClr val="E8EEF8"/>
            </a:solidFill>
            <a:ln>
              <a:noFill/>
            </a:ln>
          </p:spPr>
        </p:sp>
      </p:grpSp>
      <p:grpSp>
        <p:nvGrpSpPr>
          <p:cNvPr id="185" name="node49"/>
          <p:cNvGrpSpPr/>
          <p:nvPr/>
        </p:nvGrpSpPr>
        <p:grpSpPr>
          <a:xfrm>
            <a:off x="2552700" y="4114800"/>
            <a:ext cx="431800" cy="431800"/>
            <a:chOff x="2552700" y="4114800"/>
            <a:chExt cx="431800" cy="431800"/>
          </a:xfrm>
        </p:grpSpPr>
        <p:sp>
          <p:nvSpPr>
            <p:cNvPr id="55" name="node49.surface"/>
            <p:cNvSpPr/>
            <p:nvPr/>
          </p:nvSpPr>
          <p:spPr>
            <a:xfrm>
              <a:off x="2552700" y="4114800"/>
              <a:ext cx="431800" cy="431800"/>
            </a:xfrm>
            <a:prstGeom prst="rect">
              <a:avLst/>
            </a:prstGeom>
            <a:solidFill>
              <a:srgbClr val="7C9BFF"/>
            </a:solidFill>
            <a:ln>
              <a:noFill/>
            </a:ln>
          </p:spPr>
        </p:sp>
      </p:grpSp>
      <p:grpSp>
        <p:nvGrpSpPr>
          <p:cNvPr id="186" name="node50"/>
          <p:cNvGrpSpPr/>
          <p:nvPr/>
        </p:nvGrpSpPr>
        <p:grpSpPr>
          <a:xfrm>
            <a:off x="3009900" y="4114800"/>
            <a:ext cx="431800" cy="431800"/>
            <a:chOff x="3009900" y="4114800"/>
            <a:chExt cx="431800" cy="431800"/>
          </a:xfrm>
        </p:grpSpPr>
        <p:sp>
          <p:nvSpPr>
            <p:cNvPr id="56" name="node50.surface"/>
            <p:cNvSpPr/>
            <p:nvPr/>
          </p:nvSpPr>
          <p:spPr>
            <a:xfrm>
              <a:off x="3009900" y="4114800"/>
              <a:ext cx="431800" cy="431800"/>
            </a:xfrm>
            <a:prstGeom prst="rect">
              <a:avLst/>
            </a:prstGeom>
            <a:solidFill>
              <a:srgbClr val="B9C9F0"/>
            </a:solidFill>
            <a:ln>
              <a:noFill/>
            </a:ln>
          </p:spPr>
        </p:sp>
      </p:grpSp>
      <p:grpSp>
        <p:nvGrpSpPr>
          <p:cNvPr id="187" name="node51"/>
          <p:cNvGrpSpPr/>
          <p:nvPr/>
        </p:nvGrpSpPr>
        <p:grpSpPr>
          <a:xfrm>
            <a:off x="723900" y="4711700"/>
            <a:ext cx="457200" cy="190500"/>
            <a:chOff x="723900" y="4711700"/>
            <a:chExt cx="457200" cy="190500"/>
          </a:xfrm>
        </p:grpSpPr>
        <p:sp>
          <p:nvSpPr>
            <p:cNvPr id="57" name="node51.text"/>
            <p:cNvSpPr/>
            <p:nvPr/>
          </p:nvSpPr>
          <p:spPr>
            <a:xfrm>
              <a:off x="723900" y="47117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A9</a:t>
              </a:r>
              <a:endParaRPr lang="en-US" sz="1100" spc="0" kern="0" b="0" i="0" dirty="0">
                <a:solidFill>
                  <a:srgbClr val="50658E"/>
                </a:solidFill>
                <a:latin typeface="IBM Plex Sans"/>
                <a:ea typeface="IBM Plex Sans"/>
                <a:cs typeface="IBM Plex Sans"/>
              </a:endParaRPr>
            </a:p>
          </p:txBody>
        </p:sp>
      </p:grpSp>
      <p:grpSp>
        <p:nvGrpSpPr>
          <p:cNvPr id="188" name="node52"/>
          <p:cNvGrpSpPr/>
          <p:nvPr/>
        </p:nvGrpSpPr>
        <p:grpSpPr>
          <a:xfrm>
            <a:off x="1181100" y="4572000"/>
            <a:ext cx="431800" cy="431800"/>
            <a:chOff x="1181100" y="4572000"/>
            <a:chExt cx="431800" cy="431800"/>
          </a:xfrm>
        </p:grpSpPr>
        <p:sp>
          <p:nvSpPr>
            <p:cNvPr id="58" name="node52.surface"/>
            <p:cNvSpPr/>
            <p:nvPr/>
          </p:nvSpPr>
          <p:spPr>
            <a:xfrm>
              <a:off x="1181100" y="4572000"/>
              <a:ext cx="431800" cy="431800"/>
            </a:xfrm>
            <a:prstGeom prst="rect">
              <a:avLst/>
            </a:prstGeom>
            <a:solidFill>
              <a:srgbClr val="7C9BFF"/>
            </a:solidFill>
            <a:ln>
              <a:noFill/>
            </a:ln>
          </p:spPr>
        </p:sp>
      </p:grpSp>
      <p:grpSp>
        <p:nvGrpSpPr>
          <p:cNvPr id="189" name="node53"/>
          <p:cNvGrpSpPr/>
          <p:nvPr/>
        </p:nvGrpSpPr>
        <p:grpSpPr>
          <a:xfrm>
            <a:off x="1638300" y="4572000"/>
            <a:ext cx="431800" cy="431800"/>
            <a:chOff x="1638300" y="4572000"/>
            <a:chExt cx="431800" cy="431800"/>
          </a:xfrm>
        </p:grpSpPr>
        <p:sp>
          <p:nvSpPr>
            <p:cNvPr id="59" name="node53.surface"/>
            <p:cNvSpPr/>
            <p:nvPr/>
          </p:nvSpPr>
          <p:spPr>
            <a:xfrm>
              <a:off x="1638300" y="4572000"/>
              <a:ext cx="431800" cy="431800"/>
            </a:xfrm>
            <a:prstGeom prst="rect">
              <a:avLst/>
            </a:prstGeom>
            <a:solidFill>
              <a:srgbClr val="B9C9F0"/>
            </a:solidFill>
            <a:ln>
              <a:noFill/>
            </a:ln>
          </p:spPr>
        </p:sp>
      </p:grpSp>
      <p:grpSp>
        <p:nvGrpSpPr>
          <p:cNvPr id="190" name="node54"/>
          <p:cNvGrpSpPr/>
          <p:nvPr/>
        </p:nvGrpSpPr>
        <p:grpSpPr>
          <a:xfrm>
            <a:off x="2095500" y="4572000"/>
            <a:ext cx="431800" cy="431800"/>
            <a:chOff x="2095500" y="4572000"/>
            <a:chExt cx="431800" cy="431800"/>
          </a:xfrm>
        </p:grpSpPr>
        <p:sp>
          <p:nvSpPr>
            <p:cNvPr id="60" name="node54.surface"/>
            <p:cNvSpPr/>
            <p:nvPr/>
          </p:nvSpPr>
          <p:spPr>
            <a:xfrm>
              <a:off x="2095500" y="4572000"/>
              <a:ext cx="431800" cy="431800"/>
            </a:xfrm>
            <a:prstGeom prst="rect">
              <a:avLst/>
            </a:prstGeom>
            <a:solidFill>
              <a:srgbClr val="B9C9F0"/>
            </a:solidFill>
            <a:ln>
              <a:noFill/>
            </a:ln>
          </p:spPr>
        </p:sp>
      </p:grpSp>
      <p:grpSp>
        <p:nvGrpSpPr>
          <p:cNvPr id="191" name="node55"/>
          <p:cNvGrpSpPr/>
          <p:nvPr/>
        </p:nvGrpSpPr>
        <p:grpSpPr>
          <a:xfrm>
            <a:off x="2552700" y="4572000"/>
            <a:ext cx="431800" cy="431800"/>
            <a:chOff x="2552700" y="4572000"/>
            <a:chExt cx="431800" cy="431800"/>
          </a:xfrm>
        </p:grpSpPr>
        <p:sp>
          <p:nvSpPr>
            <p:cNvPr id="61" name="node55.surface"/>
            <p:cNvSpPr/>
            <p:nvPr/>
          </p:nvSpPr>
          <p:spPr>
            <a:xfrm>
              <a:off x="2552700" y="4572000"/>
              <a:ext cx="431800" cy="431800"/>
            </a:xfrm>
            <a:prstGeom prst="rect">
              <a:avLst/>
            </a:prstGeom>
            <a:solidFill>
              <a:srgbClr val="B9C9F0"/>
            </a:solidFill>
            <a:ln>
              <a:noFill/>
            </a:ln>
          </p:spPr>
        </p:sp>
      </p:grpSp>
      <p:grpSp>
        <p:nvGrpSpPr>
          <p:cNvPr id="192" name="node56"/>
          <p:cNvGrpSpPr/>
          <p:nvPr/>
        </p:nvGrpSpPr>
        <p:grpSpPr>
          <a:xfrm>
            <a:off x="3009900" y="4572000"/>
            <a:ext cx="431800" cy="431800"/>
            <a:chOff x="3009900" y="4572000"/>
            <a:chExt cx="431800" cy="431800"/>
          </a:xfrm>
        </p:grpSpPr>
        <p:sp>
          <p:nvSpPr>
            <p:cNvPr id="62" name="node56.surface"/>
            <p:cNvSpPr/>
            <p:nvPr/>
          </p:nvSpPr>
          <p:spPr>
            <a:xfrm>
              <a:off x="3009900" y="4572000"/>
              <a:ext cx="431800" cy="431800"/>
            </a:xfrm>
            <a:prstGeom prst="rect">
              <a:avLst/>
            </a:prstGeom>
            <a:solidFill>
              <a:srgbClr val="7C9BFF"/>
            </a:solidFill>
            <a:ln>
              <a:noFill/>
            </a:ln>
          </p:spPr>
        </p:sp>
      </p:grpSp>
      <p:grpSp>
        <p:nvGrpSpPr>
          <p:cNvPr id="193" name="node57"/>
          <p:cNvGrpSpPr/>
          <p:nvPr/>
        </p:nvGrpSpPr>
        <p:grpSpPr>
          <a:xfrm>
            <a:off x="1181100" y="914400"/>
            <a:ext cx="2286000" cy="25400"/>
            <a:chOff x="1181100" y="914400"/>
            <a:chExt cx="2286000" cy="25400"/>
          </a:xfrm>
        </p:grpSpPr>
        <p:sp>
          <p:nvSpPr>
            <p:cNvPr id="63" name="node57.surface"/>
            <p:cNvSpPr/>
            <p:nvPr/>
          </p:nvSpPr>
          <p:spPr>
            <a:xfrm>
              <a:off x="1181100" y="914400"/>
              <a:ext cx="2286000" cy="25400"/>
            </a:xfrm>
            <a:prstGeom prst="rect">
              <a:avLst/>
            </a:prstGeom>
            <a:solidFill>
              <a:srgbClr val="05013F"/>
            </a:solidFill>
            <a:ln>
              <a:noFill/>
            </a:ln>
          </p:spPr>
        </p:sp>
      </p:grpSp>
      <p:grpSp>
        <p:nvGrpSpPr>
          <p:cNvPr id="194" name="node58"/>
          <p:cNvGrpSpPr/>
          <p:nvPr/>
        </p:nvGrpSpPr>
        <p:grpSpPr>
          <a:xfrm>
            <a:off x="1181100" y="2286000"/>
            <a:ext cx="2286000" cy="25400"/>
            <a:chOff x="1181100" y="2286000"/>
            <a:chExt cx="2286000" cy="25400"/>
          </a:xfrm>
        </p:grpSpPr>
        <p:sp>
          <p:nvSpPr>
            <p:cNvPr id="64" name="node58.surface"/>
            <p:cNvSpPr/>
            <p:nvPr/>
          </p:nvSpPr>
          <p:spPr>
            <a:xfrm>
              <a:off x="1181100" y="2286000"/>
              <a:ext cx="2286000" cy="25400"/>
            </a:xfrm>
            <a:prstGeom prst="rect">
              <a:avLst/>
            </a:prstGeom>
            <a:solidFill>
              <a:srgbClr val="05013F"/>
            </a:solidFill>
            <a:ln>
              <a:noFill/>
            </a:ln>
          </p:spPr>
        </p:sp>
      </p:grpSp>
      <p:grpSp>
        <p:nvGrpSpPr>
          <p:cNvPr id="195" name="node59"/>
          <p:cNvGrpSpPr/>
          <p:nvPr/>
        </p:nvGrpSpPr>
        <p:grpSpPr>
          <a:xfrm>
            <a:off x="1181100" y="914400"/>
            <a:ext cx="25400" cy="1371600"/>
            <a:chOff x="1181100" y="914400"/>
            <a:chExt cx="25400" cy="1371600"/>
          </a:xfrm>
        </p:grpSpPr>
        <p:sp>
          <p:nvSpPr>
            <p:cNvPr id="65" name="node59.surface"/>
            <p:cNvSpPr/>
            <p:nvPr/>
          </p:nvSpPr>
          <p:spPr>
            <a:xfrm>
              <a:off x="1181100" y="914400"/>
              <a:ext cx="25400" cy="1371600"/>
            </a:xfrm>
            <a:prstGeom prst="rect">
              <a:avLst/>
            </a:prstGeom>
            <a:solidFill>
              <a:srgbClr val="05013F"/>
            </a:solidFill>
            <a:ln>
              <a:noFill/>
            </a:ln>
          </p:spPr>
        </p:sp>
      </p:grpSp>
      <p:grpSp>
        <p:nvGrpSpPr>
          <p:cNvPr id="196" name="node60"/>
          <p:cNvGrpSpPr/>
          <p:nvPr/>
        </p:nvGrpSpPr>
        <p:grpSpPr>
          <a:xfrm>
            <a:off x="3467100" y="914400"/>
            <a:ext cx="25400" cy="1397000"/>
            <a:chOff x="3467100" y="914400"/>
            <a:chExt cx="25400" cy="1397000"/>
          </a:xfrm>
        </p:grpSpPr>
        <p:sp>
          <p:nvSpPr>
            <p:cNvPr id="66" name="node60.surface"/>
            <p:cNvSpPr/>
            <p:nvPr/>
          </p:nvSpPr>
          <p:spPr>
            <a:xfrm>
              <a:off x="3467100" y="914400"/>
              <a:ext cx="25400" cy="1397000"/>
            </a:xfrm>
            <a:prstGeom prst="rect">
              <a:avLst/>
            </a:prstGeom>
            <a:solidFill>
              <a:srgbClr val="05013F"/>
            </a:solidFill>
            <a:ln>
              <a:noFill/>
            </a:ln>
          </p:spPr>
        </p:sp>
      </p:grpSp>
      <p:grpSp>
        <p:nvGrpSpPr>
          <p:cNvPr id="197" name="node61"/>
          <p:cNvGrpSpPr/>
          <p:nvPr/>
        </p:nvGrpSpPr>
        <p:grpSpPr>
          <a:xfrm>
            <a:off x="4610100" y="1600200"/>
            <a:ext cx="609600" cy="381000"/>
            <a:chOff x="4610100" y="1600200"/>
            <a:chExt cx="609600" cy="381000"/>
          </a:xfrm>
        </p:grpSpPr>
        <p:sp>
          <p:nvSpPr>
            <p:cNvPr id="67" name="node61.surface"/>
            <p:cNvSpPr/>
            <p:nvPr/>
          </p:nvSpPr>
          <p:spPr>
            <a:xfrm>
              <a:off x="4610100" y="1600200"/>
              <a:ext cx="609600" cy="381000"/>
            </a:xfrm>
            <a:prstGeom prst="rect">
              <a:avLst/>
            </a:prstGeom>
            <a:solidFill>
              <a:srgbClr val="05013F"/>
            </a:solidFill>
            <a:ln>
              <a:noFill/>
            </a:ln>
          </p:spPr>
        </p:sp>
        <p:sp>
          <p:nvSpPr>
            <p:cNvPr id="68" name="node61.text"/>
            <p:cNvSpPr/>
            <p:nvPr/>
          </p:nvSpPr>
          <p:spPr>
            <a:xfrm>
              <a:off x="4762500" y="1682750"/>
              <a:ext cx="304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A1</a:t>
              </a:r>
              <a:endParaRPr lang="en-US" sz="1200" spc="0" kern="0" b="0" i="0" dirty="0">
                <a:solidFill>
                  <a:srgbClr val="FFFFFF"/>
                </a:solidFill>
                <a:latin typeface="IBM Plex Sans"/>
                <a:ea typeface="IBM Plex Sans"/>
                <a:cs typeface="IBM Plex Sans"/>
              </a:endParaRPr>
            </a:p>
          </p:txBody>
        </p:sp>
      </p:grpSp>
      <p:grpSp>
        <p:nvGrpSpPr>
          <p:cNvPr id="198" name="node62"/>
          <p:cNvGrpSpPr/>
          <p:nvPr/>
        </p:nvGrpSpPr>
        <p:grpSpPr>
          <a:xfrm>
            <a:off x="5295900" y="1612900"/>
            <a:ext cx="2362200" cy="266700"/>
            <a:chOff x="5295900" y="1612900"/>
            <a:chExt cx="2362200" cy="266700"/>
          </a:xfrm>
        </p:grpSpPr>
        <p:sp>
          <p:nvSpPr>
            <p:cNvPr id="69" name="node62.text"/>
            <p:cNvSpPr/>
            <p:nvPr/>
          </p:nvSpPr>
          <p:spPr>
            <a:xfrm>
              <a:off x="5295900" y="1612900"/>
              <a:ext cx="2362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Patient access</a:t>
              </a:r>
              <a:endParaRPr lang="en-US" sz="1600" spc="-16" kern="0" b="0" i="0" dirty="0">
                <a:solidFill>
                  <a:srgbClr val="070154"/>
                </a:solidFill>
                <a:latin typeface="IBM Plex Sans SemiBold"/>
                <a:ea typeface="IBM Plex Sans SemiBold"/>
                <a:cs typeface="IBM Plex Sans SemiBold"/>
              </a:endParaRPr>
            </a:p>
          </p:txBody>
        </p:sp>
      </p:grpSp>
      <p:grpSp>
        <p:nvGrpSpPr>
          <p:cNvPr id="199" name="node63"/>
          <p:cNvGrpSpPr/>
          <p:nvPr/>
        </p:nvGrpSpPr>
        <p:grpSpPr>
          <a:xfrm>
            <a:off x="4610100" y="2032000"/>
            <a:ext cx="457200" cy="139700"/>
            <a:chOff x="4610100" y="2032000"/>
            <a:chExt cx="457200" cy="139700"/>
          </a:xfrm>
        </p:grpSpPr>
        <p:sp>
          <p:nvSpPr>
            <p:cNvPr id="70" name="node63.text"/>
            <p:cNvSpPr/>
            <p:nvPr/>
          </p:nvSpPr>
          <p:spPr>
            <a:xfrm>
              <a:off x="4610100" y="2032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PRO</a:t>
              </a:r>
              <a:endParaRPr lang="en-US" sz="800" spc="48" kern="0" b="0" i="0" dirty="0">
                <a:solidFill>
                  <a:srgbClr val="070154"/>
                </a:solidFill>
                <a:latin typeface="IBM Plex Mono Medium"/>
                <a:ea typeface="IBM Plex Mono Medium"/>
                <a:cs typeface="IBM Plex Mono Medium"/>
              </a:endParaRPr>
            </a:p>
          </p:txBody>
        </p:sp>
      </p:grpSp>
      <p:grpSp>
        <p:nvGrpSpPr>
          <p:cNvPr id="200" name="node64"/>
          <p:cNvGrpSpPr/>
          <p:nvPr/>
        </p:nvGrpSpPr>
        <p:grpSpPr>
          <a:xfrm>
            <a:off x="4610100" y="2286000"/>
            <a:ext cx="431800" cy="355600"/>
            <a:chOff x="4610100" y="2286000"/>
            <a:chExt cx="431800" cy="355600"/>
          </a:xfrm>
        </p:grpSpPr>
        <p:sp>
          <p:nvSpPr>
            <p:cNvPr id="71" name="node64.surface"/>
            <p:cNvSpPr/>
            <p:nvPr/>
          </p:nvSpPr>
          <p:spPr>
            <a:xfrm>
              <a:off x="4610100" y="2286000"/>
              <a:ext cx="431800" cy="355600"/>
            </a:xfrm>
            <a:prstGeom prst="rect">
              <a:avLst/>
            </a:prstGeom>
            <a:solidFill>
              <a:srgbClr val="7C9BFF"/>
            </a:solidFill>
            <a:ln>
              <a:noFill/>
            </a:ln>
          </p:spPr>
        </p:sp>
        <p:sp>
          <p:nvSpPr>
            <p:cNvPr id="72" name="node64.text"/>
            <p:cNvSpPr/>
            <p:nvPr/>
          </p:nvSpPr>
          <p:spPr>
            <a:xfrm>
              <a:off x="4682067" y="23685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201" name="node65"/>
          <p:cNvGrpSpPr/>
          <p:nvPr/>
        </p:nvGrpSpPr>
        <p:grpSpPr>
          <a:xfrm>
            <a:off x="5067300" y="2032000"/>
            <a:ext cx="457200" cy="139700"/>
            <a:chOff x="5067300" y="2032000"/>
            <a:chExt cx="457200" cy="139700"/>
          </a:xfrm>
        </p:grpSpPr>
        <p:sp>
          <p:nvSpPr>
            <p:cNvPr id="73" name="node65.text"/>
            <p:cNvSpPr/>
            <p:nvPr/>
          </p:nvSpPr>
          <p:spPr>
            <a:xfrm>
              <a:off x="5067300" y="2032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TEC</a:t>
              </a:r>
              <a:endParaRPr lang="en-US" sz="800" spc="48" kern="0" b="0" i="0" dirty="0">
                <a:solidFill>
                  <a:srgbClr val="070154"/>
                </a:solidFill>
                <a:latin typeface="IBM Plex Mono Medium"/>
                <a:ea typeface="IBM Plex Mono Medium"/>
                <a:cs typeface="IBM Plex Mono Medium"/>
              </a:endParaRPr>
            </a:p>
          </p:txBody>
        </p:sp>
      </p:grpSp>
      <p:grpSp>
        <p:nvGrpSpPr>
          <p:cNvPr id="202" name="node66"/>
          <p:cNvGrpSpPr/>
          <p:nvPr/>
        </p:nvGrpSpPr>
        <p:grpSpPr>
          <a:xfrm>
            <a:off x="5067300" y="2286000"/>
            <a:ext cx="431800" cy="355600"/>
            <a:chOff x="5067300" y="2286000"/>
            <a:chExt cx="431800" cy="355600"/>
          </a:xfrm>
        </p:grpSpPr>
        <p:sp>
          <p:nvSpPr>
            <p:cNvPr id="74" name="node66.surface"/>
            <p:cNvSpPr/>
            <p:nvPr/>
          </p:nvSpPr>
          <p:spPr>
            <a:xfrm>
              <a:off x="5067300" y="2286000"/>
              <a:ext cx="431800" cy="355600"/>
            </a:xfrm>
            <a:prstGeom prst="rect">
              <a:avLst/>
            </a:prstGeom>
            <a:solidFill>
              <a:srgbClr val="B9C9F0"/>
            </a:solidFill>
            <a:ln>
              <a:noFill/>
            </a:ln>
          </p:spPr>
        </p:sp>
        <p:sp>
          <p:nvSpPr>
            <p:cNvPr id="75" name="node66.text"/>
            <p:cNvSpPr/>
            <p:nvPr/>
          </p:nvSpPr>
          <p:spPr>
            <a:xfrm>
              <a:off x="5139267" y="23685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203" name="node67"/>
          <p:cNvGrpSpPr/>
          <p:nvPr/>
        </p:nvGrpSpPr>
        <p:grpSpPr>
          <a:xfrm>
            <a:off x="5524500" y="2032000"/>
            <a:ext cx="457200" cy="139700"/>
            <a:chOff x="5524500" y="2032000"/>
            <a:chExt cx="457200" cy="139700"/>
          </a:xfrm>
        </p:grpSpPr>
        <p:sp>
          <p:nvSpPr>
            <p:cNvPr id="76" name="node67.text"/>
            <p:cNvSpPr/>
            <p:nvPr/>
          </p:nvSpPr>
          <p:spPr>
            <a:xfrm>
              <a:off x="5524500" y="2032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DAT</a:t>
              </a:r>
              <a:endParaRPr lang="en-US" sz="800" spc="48" kern="0" b="0" i="0" dirty="0">
                <a:solidFill>
                  <a:srgbClr val="070154"/>
                </a:solidFill>
                <a:latin typeface="IBM Plex Mono Medium"/>
                <a:ea typeface="IBM Plex Mono Medium"/>
                <a:cs typeface="IBM Plex Mono Medium"/>
              </a:endParaRPr>
            </a:p>
          </p:txBody>
        </p:sp>
      </p:grpSp>
      <p:grpSp>
        <p:nvGrpSpPr>
          <p:cNvPr id="204" name="node68"/>
          <p:cNvGrpSpPr/>
          <p:nvPr/>
        </p:nvGrpSpPr>
        <p:grpSpPr>
          <a:xfrm>
            <a:off x="5524500" y="2286000"/>
            <a:ext cx="431800" cy="355600"/>
            <a:chOff x="5524500" y="2286000"/>
            <a:chExt cx="431800" cy="355600"/>
          </a:xfrm>
        </p:grpSpPr>
        <p:sp>
          <p:nvSpPr>
            <p:cNvPr id="77" name="node68.surface"/>
            <p:cNvSpPr/>
            <p:nvPr/>
          </p:nvSpPr>
          <p:spPr>
            <a:xfrm>
              <a:off x="5524500" y="2286000"/>
              <a:ext cx="431800" cy="355600"/>
            </a:xfrm>
            <a:prstGeom prst="rect">
              <a:avLst/>
            </a:prstGeom>
            <a:solidFill>
              <a:srgbClr val="B9C9F0"/>
            </a:solidFill>
            <a:ln>
              <a:noFill/>
            </a:ln>
          </p:spPr>
        </p:sp>
        <p:sp>
          <p:nvSpPr>
            <p:cNvPr id="78" name="node68.text"/>
            <p:cNvSpPr/>
            <p:nvPr/>
          </p:nvSpPr>
          <p:spPr>
            <a:xfrm>
              <a:off x="5596467" y="23685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205" name="node69"/>
          <p:cNvGrpSpPr/>
          <p:nvPr/>
        </p:nvGrpSpPr>
        <p:grpSpPr>
          <a:xfrm>
            <a:off x="5981700" y="2032000"/>
            <a:ext cx="457200" cy="139700"/>
            <a:chOff x="5981700" y="2032000"/>
            <a:chExt cx="457200" cy="139700"/>
          </a:xfrm>
        </p:grpSpPr>
        <p:sp>
          <p:nvSpPr>
            <p:cNvPr id="79" name="node69.text"/>
            <p:cNvSpPr/>
            <p:nvPr/>
          </p:nvSpPr>
          <p:spPr>
            <a:xfrm>
              <a:off x="5981700" y="2032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PPL</a:t>
              </a:r>
              <a:endParaRPr lang="en-US" sz="800" spc="48" kern="0" b="0" i="0" dirty="0">
                <a:solidFill>
                  <a:srgbClr val="070154"/>
                </a:solidFill>
                <a:latin typeface="IBM Plex Mono Medium"/>
                <a:ea typeface="IBM Plex Mono Medium"/>
                <a:cs typeface="IBM Plex Mono Medium"/>
              </a:endParaRPr>
            </a:p>
          </p:txBody>
        </p:sp>
      </p:grpSp>
      <p:grpSp>
        <p:nvGrpSpPr>
          <p:cNvPr id="206" name="node70"/>
          <p:cNvGrpSpPr/>
          <p:nvPr/>
        </p:nvGrpSpPr>
        <p:grpSpPr>
          <a:xfrm>
            <a:off x="5981700" y="2286000"/>
            <a:ext cx="431800" cy="355600"/>
            <a:chOff x="5981700" y="2286000"/>
            <a:chExt cx="431800" cy="355600"/>
          </a:xfrm>
        </p:grpSpPr>
        <p:sp>
          <p:nvSpPr>
            <p:cNvPr id="80" name="node70.surface"/>
            <p:cNvSpPr/>
            <p:nvPr/>
          </p:nvSpPr>
          <p:spPr>
            <a:xfrm>
              <a:off x="5981700" y="2286000"/>
              <a:ext cx="431800" cy="355600"/>
            </a:xfrm>
            <a:prstGeom prst="rect">
              <a:avLst/>
            </a:prstGeom>
            <a:solidFill>
              <a:srgbClr val="7C9BFF"/>
            </a:solidFill>
            <a:ln>
              <a:noFill/>
            </a:ln>
          </p:spPr>
        </p:sp>
        <p:sp>
          <p:nvSpPr>
            <p:cNvPr id="81" name="node70.text"/>
            <p:cNvSpPr/>
            <p:nvPr/>
          </p:nvSpPr>
          <p:spPr>
            <a:xfrm>
              <a:off x="6053667" y="23685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207" name="node71"/>
          <p:cNvGrpSpPr/>
          <p:nvPr/>
        </p:nvGrpSpPr>
        <p:grpSpPr>
          <a:xfrm>
            <a:off x="6438900" y="2032000"/>
            <a:ext cx="457200" cy="139700"/>
            <a:chOff x="6438900" y="2032000"/>
            <a:chExt cx="457200" cy="139700"/>
          </a:xfrm>
        </p:grpSpPr>
        <p:sp>
          <p:nvSpPr>
            <p:cNvPr id="82" name="node71.text"/>
            <p:cNvSpPr/>
            <p:nvPr/>
          </p:nvSpPr>
          <p:spPr>
            <a:xfrm>
              <a:off x="6438900" y="20320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GOV</a:t>
              </a:r>
              <a:endParaRPr lang="en-US" sz="800" spc="48" kern="0" b="0" i="0" dirty="0">
                <a:solidFill>
                  <a:srgbClr val="070154"/>
                </a:solidFill>
                <a:latin typeface="IBM Plex Mono Medium"/>
                <a:ea typeface="IBM Plex Mono Medium"/>
                <a:cs typeface="IBM Plex Mono Medium"/>
              </a:endParaRPr>
            </a:p>
          </p:txBody>
        </p:sp>
      </p:grpSp>
      <p:grpSp>
        <p:nvGrpSpPr>
          <p:cNvPr id="208" name="node72"/>
          <p:cNvGrpSpPr/>
          <p:nvPr/>
        </p:nvGrpSpPr>
        <p:grpSpPr>
          <a:xfrm>
            <a:off x="6438900" y="2286000"/>
            <a:ext cx="431800" cy="355600"/>
            <a:chOff x="6438900" y="2286000"/>
            <a:chExt cx="431800" cy="355600"/>
          </a:xfrm>
        </p:grpSpPr>
        <p:sp>
          <p:nvSpPr>
            <p:cNvPr id="83" name="node72.surface"/>
            <p:cNvSpPr/>
            <p:nvPr/>
          </p:nvSpPr>
          <p:spPr>
            <a:xfrm>
              <a:off x="6438900" y="2286000"/>
              <a:ext cx="431800" cy="355600"/>
            </a:xfrm>
            <a:prstGeom prst="rect">
              <a:avLst/>
            </a:prstGeom>
            <a:solidFill>
              <a:srgbClr val="B9C9F0"/>
            </a:solidFill>
            <a:ln>
              <a:noFill/>
            </a:ln>
          </p:spPr>
        </p:sp>
        <p:sp>
          <p:nvSpPr>
            <p:cNvPr id="84" name="node72.text"/>
            <p:cNvSpPr/>
            <p:nvPr/>
          </p:nvSpPr>
          <p:spPr>
            <a:xfrm>
              <a:off x="6510867" y="23685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209" name="node73"/>
          <p:cNvGrpSpPr/>
          <p:nvPr/>
        </p:nvGrpSpPr>
        <p:grpSpPr>
          <a:xfrm>
            <a:off x="7734300" y="1600200"/>
            <a:ext cx="3505200" cy="901700"/>
            <a:chOff x="7734300" y="1600200"/>
            <a:chExt cx="3505200" cy="901700"/>
          </a:xfrm>
        </p:grpSpPr>
        <p:sp>
          <p:nvSpPr>
            <p:cNvPr id="85" name="node73.source-001.bullet"/>
            <p:cNvSpPr/>
            <p:nvPr/>
          </p:nvSpPr>
          <p:spPr>
            <a:xfrm>
              <a:off x="7734300" y="1689100"/>
              <a:ext cx="38100" cy="38100"/>
            </a:xfrm>
            <a:prstGeom prst="rect">
              <a:avLst/>
            </a:prstGeom>
            <a:solidFill>
              <a:srgbClr val="070154"/>
            </a:solidFill>
            <a:ln>
              <a:noFill/>
            </a:ln>
          </p:spPr>
        </p:sp>
        <p:sp>
          <p:nvSpPr>
            <p:cNvPr id="86" name="node73.source-001.text"/>
            <p:cNvSpPr/>
            <p:nvPr/>
          </p:nvSpPr>
          <p:spPr>
            <a:xfrm>
              <a:off x="7886700" y="1600200"/>
              <a:ext cx="3352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Drives it.</a:t>
              </a:r>
              <a:r>
                <a:rPr lang="en-US" sz="1200" spc="0" kern="0" b="0" i="0" dirty="0">
                  <a:solidFill>
                    <a:srgbClr val="50658E"/>
                  </a:solidFill>
                  <a:latin typeface="IBM Plex Sans"/>
                  <a:ea typeface="IBM Plex Sans"/>
                  <a:cs typeface="IBM Plex Sans"/>
                </a:rPr>
                <a:t xml:space="preserve"> Two registration flows across sites; eligibility checked after arrival.</a:t>
              </a:r>
              <a:endParaRPr lang="en-US" sz="1200" spc="0" kern="0" b="0" i="0" dirty="0">
                <a:solidFill>
                  <a:srgbClr val="070154"/>
                </a:solidFill>
                <a:latin typeface="IBM Plex Sans"/>
                <a:ea typeface="IBM Plex Sans"/>
                <a:cs typeface="IBM Plex Sans"/>
              </a:endParaRPr>
            </a:p>
          </p:txBody>
        </p:sp>
        <p:sp>
          <p:nvSpPr>
            <p:cNvPr id="87" name="node73.source-002.bullet"/>
            <p:cNvSpPr/>
            <p:nvPr/>
          </p:nvSpPr>
          <p:spPr>
            <a:xfrm>
              <a:off x="7734300" y="2159000"/>
              <a:ext cx="38100" cy="38100"/>
            </a:xfrm>
            <a:prstGeom prst="rect">
              <a:avLst/>
            </a:prstGeom>
            <a:solidFill>
              <a:srgbClr val="070154"/>
            </a:solidFill>
            <a:ln>
              <a:noFill/>
            </a:ln>
          </p:spPr>
        </p:sp>
        <p:sp>
          <p:nvSpPr>
            <p:cNvPr id="88" name="node73.source-002.text"/>
            <p:cNvSpPr/>
            <p:nvPr/>
          </p:nvSpPr>
          <p:spPr>
            <a:xfrm>
              <a:off x="7886700" y="2070100"/>
              <a:ext cx="3352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We'd do.</a:t>
              </a:r>
              <a:r>
                <a:rPr lang="en-US" sz="1200" spc="0" kern="0" b="0" i="0" dirty="0">
                  <a:solidFill>
                    <a:srgbClr val="50658E"/>
                  </a:solidFill>
                  <a:latin typeface="IBM Plex Sans"/>
                  <a:ea typeface="IBM Plex Sans"/>
                  <a:cs typeface="IBM Plex Sans"/>
                </a:rPr>
                <a:t xml:space="preserve"> Run one eligibility check at booking; train front desks on a single script.</a:t>
              </a:r>
              <a:endParaRPr lang="en-US" sz="1200" spc="0" kern="0" b="0" i="0" dirty="0">
                <a:solidFill>
                  <a:srgbClr val="070154"/>
                </a:solidFill>
                <a:latin typeface="IBM Plex Sans"/>
                <a:ea typeface="IBM Plex Sans"/>
                <a:cs typeface="IBM Plex Sans"/>
              </a:endParaRPr>
            </a:p>
          </p:txBody>
        </p:sp>
      </p:grpSp>
      <p:grpSp>
        <p:nvGrpSpPr>
          <p:cNvPr id="210" name="node74"/>
          <p:cNvGrpSpPr/>
          <p:nvPr/>
        </p:nvGrpSpPr>
        <p:grpSpPr>
          <a:xfrm>
            <a:off x="4610100" y="2971800"/>
            <a:ext cx="609600" cy="381000"/>
            <a:chOff x="4610100" y="2971800"/>
            <a:chExt cx="609600" cy="381000"/>
          </a:xfrm>
        </p:grpSpPr>
        <p:sp>
          <p:nvSpPr>
            <p:cNvPr id="89" name="node74.surface"/>
            <p:cNvSpPr/>
            <p:nvPr/>
          </p:nvSpPr>
          <p:spPr>
            <a:xfrm>
              <a:off x="4610100" y="2971800"/>
              <a:ext cx="609600" cy="381000"/>
            </a:xfrm>
            <a:prstGeom prst="rect">
              <a:avLst/>
            </a:prstGeom>
            <a:solidFill>
              <a:srgbClr val="05013F"/>
            </a:solidFill>
            <a:ln>
              <a:noFill/>
            </a:ln>
          </p:spPr>
        </p:sp>
        <p:sp>
          <p:nvSpPr>
            <p:cNvPr id="90" name="node74.text"/>
            <p:cNvSpPr/>
            <p:nvPr/>
          </p:nvSpPr>
          <p:spPr>
            <a:xfrm>
              <a:off x="4762500" y="3054350"/>
              <a:ext cx="304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A2</a:t>
              </a:r>
              <a:endParaRPr lang="en-US" sz="1200" spc="0" kern="0" b="0" i="0" dirty="0">
                <a:solidFill>
                  <a:srgbClr val="FFFFFF"/>
                </a:solidFill>
                <a:latin typeface="IBM Plex Sans"/>
                <a:ea typeface="IBM Plex Sans"/>
                <a:cs typeface="IBM Plex Sans"/>
              </a:endParaRPr>
            </a:p>
          </p:txBody>
        </p:sp>
      </p:grpSp>
      <p:grpSp>
        <p:nvGrpSpPr>
          <p:cNvPr id="211" name="node75"/>
          <p:cNvGrpSpPr/>
          <p:nvPr/>
        </p:nvGrpSpPr>
        <p:grpSpPr>
          <a:xfrm>
            <a:off x="5295900" y="2984500"/>
            <a:ext cx="2362200" cy="266700"/>
            <a:chOff x="5295900" y="2984500"/>
            <a:chExt cx="2362200" cy="266700"/>
          </a:xfrm>
        </p:grpSpPr>
        <p:sp>
          <p:nvSpPr>
            <p:cNvPr id="91" name="node75.text"/>
            <p:cNvSpPr/>
            <p:nvPr/>
          </p:nvSpPr>
          <p:spPr>
            <a:xfrm>
              <a:off x="5295900" y="2984500"/>
              <a:ext cx="2362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Scheduling</a:t>
              </a:r>
              <a:endParaRPr lang="en-US" sz="1600" spc="-16" kern="0" b="0" i="0" dirty="0">
                <a:solidFill>
                  <a:srgbClr val="070154"/>
                </a:solidFill>
                <a:latin typeface="IBM Plex Sans SemiBold"/>
                <a:ea typeface="IBM Plex Sans SemiBold"/>
                <a:cs typeface="IBM Plex Sans SemiBold"/>
              </a:endParaRPr>
            </a:p>
          </p:txBody>
        </p:sp>
      </p:grpSp>
      <p:grpSp>
        <p:nvGrpSpPr>
          <p:cNvPr id="212" name="node76"/>
          <p:cNvGrpSpPr/>
          <p:nvPr/>
        </p:nvGrpSpPr>
        <p:grpSpPr>
          <a:xfrm>
            <a:off x="4610100" y="3403600"/>
            <a:ext cx="457200" cy="139700"/>
            <a:chOff x="4610100" y="3403600"/>
            <a:chExt cx="457200" cy="139700"/>
          </a:xfrm>
        </p:grpSpPr>
        <p:sp>
          <p:nvSpPr>
            <p:cNvPr id="92" name="node76.text"/>
            <p:cNvSpPr/>
            <p:nvPr/>
          </p:nvSpPr>
          <p:spPr>
            <a:xfrm>
              <a:off x="4610100" y="34036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PRO</a:t>
              </a:r>
              <a:endParaRPr lang="en-US" sz="800" spc="48" kern="0" b="0" i="0" dirty="0">
                <a:solidFill>
                  <a:srgbClr val="070154"/>
                </a:solidFill>
                <a:latin typeface="IBM Plex Mono Medium"/>
                <a:ea typeface="IBM Plex Mono Medium"/>
                <a:cs typeface="IBM Plex Mono Medium"/>
              </a:endParaRPr>
            </a:p>
          </p:txBody>
        </p:sp>
      </p:grpSp>
      <p:grpSp>
        <p:nvGrpSpPr>
          <p:cNvPr id="213" name="node77"/>
          <p:cNvGrpSpPr/>
          <p:nvPr/>
        </p:nvGrpSpPr>
        <p:grpSpPr>
          <a:xfrm>
            <a:off x="4610100" y="3657600"/>
            <a:ext cx="431800" cy="355600"/>
            <a:chOff x="4610100" y="3657600"/>
            <a:chExt cx="431800" cy="355600"/>
          </a:xfrm>
        </p:grpSpPr>
        <p:sp>
          <p:nvSpPr>
            <p:cNvPr id="93" name="node77.surface"/>
            <p:cNvSpPr/>
            <p:nvPr/>
          </p:nvSpPr>
          <p:spPr>
            <a:xfrm>
              <a:off x="4610100" y="3657600"/>
              <a:ext cx="431800" cy="355600"/>
            </a:xfrm>
            <a:prstGeom prst="rect">
              <a:avLst/>
            </a:prstGeom>
            <a:solidFill>
              <a:srgbClr val="7C9BFF"/>
            </a:solidFill>
            <a:ln>
              <a:noFill/>
            </a:ln>
          </p:spPr>
        </p:sp>
        <p:sp>
          <p:nvSpPr>
            <p:cNvPr id="94" name="node77.text"/>
            <p:cNvSpPr/>
            <p:nvPr/>
          </p:nvSpPr>
          <p:spPr>
            <a:xfrm>
              <a:off x="4682067" y="37401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214" name="node78"/>
          <p:cNvGrpSpPr/>
          <p:nvPr/>
        </p:nvGrpSpPr>
        <p:grpSpPr>
          <a:xfrm>
            <a:off x="5067300" y="3403600"/>
            <a:ext cx="457200" cy="139700"/>
            <a:chOff x="5067300" y="3403600"/>
            <a:chExt cx="457200" cy="139700"/>
          </a:xfrm>
        </p:grpSpPr>
        <p:sp>
          <p:nvSpPr>
            <p:cNvPr id="95" name="node78.text"/>
            <p:cNvSpPr/>
            <p:nvPr/>
          </p:nvSpPr>
          <p:spPr>
            <a:xfrm>
              <a:off x="5067300" y="34036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TEC</a:t>
              </a:r>
              <a:endParaRPr lang="en-US" sz="800" spc="48" kern="0" b="0" i="0" dirty="0">
                <a:solidFill>
                  <a:srgbClr val="070154"/>
                </a:solidFill>
                <a:latin typeface="IBM Plex Mono Medium"/>
                <a:ea typeface="IBM Plex Mono Medium"/>
                <a:cs typeface="IBM Plex Mono Medium"/>
              </a:endParaRPr>
            </a:p>
          </p:txBody>
        </p:sp>
      </p:grpSp>
      <p:grpSp>
        <p:nvGrpSpPr>
          <p:cNvPr id="215" name="node79"/>
          <p:cNvGrpSpPr/>
          <p:nvPr/>
        </p:nvGrpSpPr>
        <p:grpSpPr>
          <a:xfrm>
            <a:off x="5067300" y="3657600"/>
            <a:ext cx="431800" cy="355600"/>
            <a:chOff x="5067300" y="3657600"/>
            <a:chExt cx="431800" cy="355600"/>
          </a:xfrm>
        </p:grpSpPr>
        <p:sp>
          <p:nvSpPr>
            <p:cNvPr id="96" name="node79.surface"/>
            <p:cNvSpPr/>
            <p:nvPr/>
          </p:nvSpPr>
          <p:spPr>
            <a:xfrm>
              <a:off x="5067300" y="3657600"/>
              <a:ext cx="431800" cy="355600"/>
            </a:xfrm>
            <a:prstGeom prst="rect">
              <a:avLst/>
            </a:prstGeom>
            <a:solidFill>
              <a:srgbClr val="7C9BFF"/>
            </a:solidFill>
            <a:ln>
              <a:noFill/>
            </a:ln>
          </p:spPr>
        </p:sp>
        <p:sp>
          <p:nvSpPr>
            <p:cNvPr id="97" name="node79.text"/>
            <p:cNvSpPr/>
            <p:nvPr/>
          </p:nvSpPr>
          <p:spPr>
            <a:xfrm>
              <a:off x="5139267" y="37401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216" name="node80"/>
          <p:cNvGrpSpPr/>
          <p:nvPr/>
        </p:nvGrpSpPr>
        <p:grpSpPr>
          <a:xfrm>
            <a:off x="5524500" y="3403600"/>
            <a:ext cx="457200" cy="139700"/>
            <a:chOff x="5524500" y="3403600"/>
            <a:chExt cx="457200" cy="139700"/>
          </a:xfrm>
        </p:grpSpPr>
        <p:sp>
          <p:nvSpPr>
            <p:cNvPr id="98" name="node80.text"/>
            <p:cNvSpPr/>
            <p:nvPr/>
          </p:nvSpPr>
          <p:spPr>
            <a:xfrm>
              <a:off x="5524500" y="34036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DAT</a:t>
              </a:r>
              <a:endParaRPr lang="en-US" sz="800" spc="48" kern="0" b="0" i="0" dirty="0">
                <a:solidFill>
                  <a:srgbClr val="070154"/>
                </a:solidFill>
                <a:latin typeface="IBM Plex Mono Medium"/>
                <a:ea typeface="IBM Plex Mono Medium"/>
                <a:cs typeface="IBM Plex Mono Medium"/>
              </a:endParaRPr>
            </a:p>
          </p:txBody>
        </p:sp>
      </p:grpSp>
      <p:grpSp>
        <p:nvGrpSpPr>
          <p:cNvPr id="217" name="node81"/>
          <p:cNvGrpSpPr/>
          <p:nvPr/>
        </p:nvGrpSpPr>
        <p:grpSpPr>
          <a:xfrm>
            <a:off x="5524500" y="3657600"/>
            <a:ext cx="431800" cy="355600"/>
            <a:chOff x="5524500" y="3657600"/>
            <a:chExt cx="431800" cy="355600"/>
          </a:xfrm>
        </p:grpSpPr>
        <p:sp>
          <p:nvSpPr>
            <p:cNvPr id="99" name="node81.surface"/>
            <p:cNvSpPr/>
            <p:nvPr/>
          </p:nvSpPr>
          <p:spPr>
            <a:xfrm>
              <a:off x="5524500" y="3657600"/>
              <a:ext cx="431800" cy="355600"/>
            </a:xfrm>
            <a:prstGeom prst="rect">
              <a:avLst/>
            </a:prstGeom>
            <a:solidFill>
              <a:srgbClr val="B9C9F0"/>
            </a:solidFill>
            <a:ln>
              <a:noFill/>
            </a:ln>
          </p:spPr>
        </p:sp>
        <p:sp>
          <p:nvSpPr>
            <p:cNvPr id="100" name="node81.text"/>
            <p:cNvSpPr/>
            <p:nvPr/>
          </p:nvSpPr>
          <p:spPr>
            <a:xfrm>
              <a:off x="5596467" y="37401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218" name="node82"/>
          <p:cNvGrpSpPr/>
          <p:nvPr/>
        </p:nvGrpSpPr>
        <p:grpSpPr>
          <a:xfrm>
            <a:off x="5981700" y="3403600"/>
            <a:ext cx="457200" cy="139700"/>
            <a:chOff x="5981700" y="3403600"/>
            <a:chExt cx="457200" cy="139700"/>
          </a:xfrm>
        </p:grpSpPr>
        <p:sp>
          <p:nvSpPr>
            <p:cNvPr id="101" name="node82.text"/>
            <p:cNvSpPr/>
            <p:nvPr/>
          </p:nvSpPr>
          <p:spPr>
            <a:xfrm>
              <a:off x="5981700" y="34036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PPL</a:t>
              </a:r>
              <a:endParaRPr lang="en-US" sz="800" spc="48" kern="0" b="0" i="0" dirty="0">
                <a:solidFill>
                  <a:srgbClr val="070154"/>
                </a:solidFill>
                <a:latin typeface="IBM Plex Mono Medium"/>
                <a:ea typeface="IBM Plex Mono Medium"/>
                <a:cs typeface="IBM Plex Mono Medium"/>
              </a:endParaRPr>
            </a:p>
          </p:txBody>
        </p:sp>
      </p:grpSp>
      <p:grpSp>
        <p:nvGrpSpPr>
          <p:cNvPr id="219" name="node83"/>
          <p:cNvGrpSpPr/>
          <p:nvPr/>
        </p:nvGrpSpPr>
        <p:grpSpPr>
          <a:xfrm>
            <a:off x="5981700" y="3657600"/>
            <a:ext cx="431800" cy="355600"/>
            <a:chOff x="5981700" y="3657600"/>
            <a:chExt cx="431800" cy="355600"/>
          </a:xfrm>
        </p:grpSpPr>
        <p:sp>
          <p:nvSpPr>
            <p:cNvPr id="102" name="node83.surface"/>
            <p:cNvSpPr/>
            <p:nvPr/>
          </p:nvSpPr>
          <p:spPr>
            <a:xfrm>
              <a:off x="5981700" y="3657600"/>
              <a:ext cx="431800" cy="355600"/>
            </a:xfrm>
            <a:prstGeom prst="rect">
              <a:avLst/>
            </a:prstGeom>
            <a:solidFill>
              <a:srgbClr val="7C9BFF"/>
            </a:solidFill>
            <a:ln>
              <a:noFill/>
            </a:ln>
          </p:spPr>
        </p:sp>
        <p:sp>
          <p:nvSpPr>
            <p:cNvPr id="103" name="node83.text"/>
            <p:cNvSpPr/>
            <p:nvPr/>
          </p:nvSpPr>
          <p:spPr>
            <a:xfrm>
              <a:off x="6053667" y="37401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220" name="node84"/>
          <p:cNvGrpSpPr/>
          <p:nvPr/>
        </p:nvGrpSpPr>
        <p:grpSpPr>
          <a:xfrm>
            <a:off x="6438900" y="3403600"/>
            <a:ext cx="457200" cy="139700"/>
            <a:chOff x="6438900" y="3403600"/>
            <a:chExt cx="457200" cy="139700"/>
          </a:xfrm>
        </p:grpSpPr>
        <p:sp>
          <p:nvSpPr>
            <p:cNvPr id="104" name="node84.text"/>
            <p:cNvSpPr/>
            <p:nvPr/>
          </p:nvSpPr>
          <p:spPr>
            <a:xfrm>
              <a:off x="6438900" y="34036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GOV</a:t>
              </a:r>
              <a:endParaRPr lang="en-US" sz="800" spc="48" kern="0" b="0" i="0" dirty="0">
                <a:solidFill>
                  <a:srgbClr val="070154"/>
                </a:solidFill>
                <a:latin typeface="IBM Plex Mono Medium"/>
                <a:ea typeface="IBM Plex Mono Medium"/>
                <a:cs typeface="IBM Plex Mono Medium"/>
              </a:endParaRPr>
            </a:p>
          </p:txBody>
        </p:sp>
      </p:grpSp>
      <p:grpSp>
        <p:nvGrpSpPr>
          <p:cNvPr id="221" name="node85"/>
          <p:cNvGrpSpPr/>
          <p:nvPr/>
        </p:nvGrpSpPr>
        <p:grpSpPr>
          <a:xfrm>
            <a:off x="6438900" y="3657600"/>
            <a:ext cx="431800" cy="355600"/>
            <a:chOff x="6438900" y="3657600"/>
            <a:chExt cx="431800" cy="355600"/>
          </a:xfrm>
        </p:grpSpPr>
        <p:sp>
          <p:nvSpPr>
            <p:cNvPr id="105" name="node85.surface"/>
            <p:cNvSpPr/>
            <p:nvPr/>
          </p:nvSpPr>
          <p:spPr>
            <a:xfrm>
              <a:off x="6438900" y="3657600"/>
              <a:ext cx="431800" cy="355600"/>
            </a:xfrm>
            <a:prstGeom prst="rect">
              <a:avLst/>
            </a:prstGeom>
            <a:solidFill>
              <a:srgbClr val="7C9BFF"/>
            </a:solidFill>
            <a:ln>
              <a:noFill/>
            </a:ln>
          </p:spPr>
        </p:sp>
        <p:sp>
          <p:nvSpPr>
            <p:cNvPr id="106" name="node85.text"/>
            <p:cNvSpPr/>
            <p:nvPr/>
          </p:nvSpPr>
          <p:spPr>
            <a:xfrm>
              <a:off x="6510867" y="37401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222" name="node86"/>
          <p:cNvGrpSpPr/>
          <p:nvPr/>
        </p:nvGrpSpPr>
        <p:grpSpPr>
          <a:xfrm>
            <a:off x="7734300" y="2971800"/>
            <a:ext cx="3505200" cy="901700"/>
            <a:chOff x="7734300" y="2971800"/>
            <a:chExt cx="3505200" cy="901700"/>
          </a:xfrm>
        </p:grpSpPr>
        <p:sp>
          <p:nvSpPr>
            <p:cNvPr id="107" name="node86.source-001.bullet"/>
            <p:cNvSpPr/>
            <p:nvPr/>
          </p:nvSpPr>
          <p:spPr>
            <a:xfrm>
              <a:off x="7734300" y="3060700"/>
              <a:ext cx="38100" cy="38100"/>
            </a:xfrm>
            <a:prstGeom prst="rect">
              <a:avLst/>
            </a:prstGeom>
            <a:solidFill>
              <a:srgbClr val="070154"/>
            </a:solidFill>
            <a:ln>
              <a:noFill/>
            </a:ln>
          </p:spPr>
        </p:sp>
        <p:sp>
          <p:nvSpPr>
            <p:cNvPr id="108" name="node86.source-001.text"/>
            <p:cNvSpPr/>
            <p:nvPr/>
          </p:nvSpPr>
          <p:spPr>
            <a:xfrm>
              <a:off x="7886700" y="2971800"/>
              <a:ext cx="3352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Drives it.</a:t>
              </a:r>
              <a:r>
                <a:rPr lang="en-US" sz="1200" spc="0" kern="0" b="0" i="0" dirty="0">
                  <a:solidFill>
                    <a:srgbClr val="50658E"/>
                  </a:solidFill>
                  <a:latin typeface="IBM Plex Sans"/>
                  <a:ea typeface="IBM Plex Sans"/>
                  <a:cs typeface="IBM Plex Sans"/>
                </a:rPr>
                <a:t xml:space="preserve"> Self-scheduling live at three sites; visit-type rules differ by clinic.</a:t>
              </a:r>
              <a:endParaRPr lang="en-US" sz="1200" spc="0" kern="0" b="0" i="0" dirty="0">
                <a:solidFill>
                  <a:srgbClr val="070154"/>
                </a:solidFill>
                <a:latin typeface="IBM Plex Sans"/>
                <a:ea typeface="IBM Plex Sans"/>
                <a:cs typeface="IBM Plex Sans"/>
              </a:endParaRPr>
            </a:p>
          </p:txBody>
        </p:sp>
        <p:sp>
          <p:nvSpPr>
            <p:cNvPr id="109" name="node86.source-002.bullet"/>
            <p:cNvSpPr/>
            <p:nvPr/>
          </p:nvSpPr>
          <p:spPr>
            <a:xfrm>
              <a:off x="7734300" y="3530600"/>
              <a:ext cx="38100" cy="38100"/>
            </a:xfrm>
            <a:prstGeom prst="rect">
              <a:avLst/>
            </a:prstGeom>
            <a:solidFill>
              <a:srgbClr val="070154"/>
            </a:solidFill>
            <a:ln>
              <a:noFill/>
            </a:ln>
          </p:spPr>
        </p:sp>
        <p:sp>
          <p:nvSpPr>
            <p:cNvPr id="110" name="node86.source-002.text"/>
            <p:cNvSpPr/>
            <p:nvPr/>
          </p:nvSpPr>
          <p:spPr>
            <a:xfrm>
              <a:off x="7886700" y="3441700"/>
              <a:ext cx="3352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We'd do.</a:t>
              </a:r>
              <a:r>
                <a:rPr lang="en-US" sz="1200" spc="0" kern="0" b="0" i="0" dirty="0">
                  <a:solidFill>
                    <a:srgbClr val="50658E"/>
                  </a:solidFill>
                  <a:latin typeface="IBM Plex Sans"/>
                  <a:ea typeface="IBM Plex Sans"/>
                  <a:cs typeface="IBM Plex Sans"/>
                </a:rPr>
                <a:t xml:space="preserve"> Standardize visit-type rules; automate the waitlist.</a:t>
              </a:r>
              <a:endParaRPr lang="en-US" sz="1200" spc="0" kern="0" b="0" i="0" dirty="0">
                <a:solidFill>
                  <a:srgbClr val="070154"/>
                </a:solidFill>
                <a:latin typeface="IBM Plex Sans"/>
                <a:ea typeface="IBM Plex Sans"/>
                <a:cs typeface="IBM Plex Sans"/>
              </a:endParaRPr>
            </a:p>
          </p:txBody>
        </p:sp>
      </p:grpSp>
      <p:grpSp>
        <p:nvGrpSpPr>
          <p:cNvPr id="223" name="node87"/>
          <p:cNvGrpSpPr/>
          <p:nvPr/>
        </p:nvGrpSpPr>
        <p:grpSpPr>
          <a:xfrm>
            <a:off x="4610100" y="4343400"/>
            <a:ext cx="609600" cy="381000"/>
            <a:chOff x="4610100" y="4343400"/>
            <a:chExt cx="609600" cy="381000"/>
          </a:xfrm>
        </p:grpSpPr>
        <p:sp>
          <p:nvSpPr>
            <p:cNvPr id="111" name="node87.surface"/>
            <p:cNvSpPr/>
            <p:nvPr/>
          </p:nvSpPr>
          <p:spPr>
            <a:xfrm>
              <a:off x="4610100" y="4343400"/>
              <a:ext cx="609600" cy="381000"/>
            </a:xfrm>
            <a:prstGeom prst="rect">
              <a:avLst/>
            </a:prstGeom>
            <a:solidFill>
              <a:srgbClr val="05013F"/>
            </a:solidFill>
            <a:ln>
              <a:noFill/>
            </a:ln>
          </p:spPr>
        </p:sp>
        <p:sp>
          <p:nvSpPr>
            <p:cNvPr id="112" name="node87.text"/>
            <p:cNvSpPr/>
            <p:nvPr/>
          </p:nvSpPr>
          <p:spPr>
            <a:xfrm>
              <a:off x="4762500" y="4425950"/>
              <a:ext cx="304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A3</a:t>
              </a:r>
              <a:endParaRPr lang="en-US" sz="1200" spc="0" kern="0" b="0" i="0" dirty="0">
                <a:solidFill>
                  <a:srgbClr val="FFFFFF"/>
                </a:solidFill>
                <a:latin typeface="IBM Plex Sans"/>
                <a:ea typeface="IBM Plex Sans"/>
                <a:cs typeface="IBM Plex Sans"/>
              </a:endParaRPr>
            </a:p>
          </p:txBody>
        </p:sp>
      </p:grpSp>
      <p:grpSp>
        <p:nvGrpSpPr>
          <p:cNvPr id="224" name="node88"/>
          <p:cNvGrpSpPr/>
          <p:nvPr/>
        </p:nvGrpSpPr>
        <p:grpSpPr>
          <a:xfrm>
            <a:off x="5295900" y="4356100"/>
            <a:ext cx="2362200" cy="266700"/>
            <a:chOff x="5295900" y="4356100"/>
            <a:chExt cx="2362200" cy="266700"/>
          </a:xfrm>
        </p:grpSpPr>
        <p:sp>
          <p:nvSpPr>
            <p:cNvPr id="113" name="node88.text"/>
            <p:cNvSpPr/>
            <p:nvPr/>
          </p:nvSpPr>
          <p:spPr>
            <a:xfrm>
              <a:off x="5295900" y="4356100"/>
              <a:ext cx="2362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Referral management</a:t>
              </a:r>
              <a:endParaRPr lang="en-US" sz="1600" spc="-16" kern="0" b="0" i="0" dirty="0">
                <a:solidFill>
                  <a:srgbClr val="070154"/>
                </a:solidFill>
                <a:latin typeface="IBM Plex Sans SemiBold"/>
                <a:ea typeface="IBM Plex Sans SemiBold"/>
                <a:cs typeface="IBM Plex Sans SemiBold"/>
              </a:endParaRPr>
            </a:p>
          </p:txBody>
        </p:sp>
      </p:grpSp>
      <p:grpSp>
        <p:nvGrpSpPr>
          <p:cNvPr id="225" name="node89"/>
          <p:cNvGrpSpPr/>
          <p:nvPr/>
        </p:nvGrpSpPr>
        <p:grpSpPr>
          <a:xfrm>
            <a:off x="4610100" y="4775200"/>
            <a:ext cx="457200" cy="139700"/>
            <a:chOff x="4610100" y="4775200"/>
            <a:chExt cx="457200" cy="139700"/>
          </a:xfrm>
        </p:grpSpPr>
        <p:sp>
          <p:nvSpPr>
            <p:cNvPr id="114" name="node89.text"/>
            <p:cNvSpPr/>
            <p:nvPr/>
          </p:nvSpPr>
          <p:spPr>
            <a:xfrm>
              <a:off x="4610100" y="47752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PRO</a:t>
              </a:r>
              <a:endParaRPr lang="en-US" sz="800" spc="48" kern="0" b="0" i="0" dirty="0">
                <a:solidFill>
                  <a:srgbClr val="070154"/>
                </a:solidFill>
                <a:latin typeface="IBM Plex Mono Medium"/>
                <a:ea typeface="IBM Plex Mono Medium"/>
                <a:cs typeface="IBM Plex Mono Medium"/>
              </a:endParaRPr>
            </a:p>
          </p:txBody>
        </p:sp>
      </p:grpSp>
      <p:grpSp>
        <p:nvGrpSpPr>
          <p:cNvPr id="226" name="node90"/>
          <p:cNvGrpSpPr/>
          <p:nvPr/>
        </p:nvGrpSpPr>
        <p:grpSpPr>
          <a:xfrm>
            <a:off x="4610100" y="5029200"/>
            <a:ext cx="431800" cy="355600"/>
            <a:chOff x="4610100" y="5029200"/>
            <a:chExt cx="431800" cy="355600"/>
          </a:xfrm>
        </p:grpSpPr>
        <p:sp>
          <p:nvSpPr>
            <p:cNvPr id="115" name="node90.surface"/>
            <p:cNvSpPr/>
            <p:nvPr/>
          </p:nvSpPr>
          <p:spPr>
            <a:xfrm>
              <a:off x="4610100" y="5029200"/>
              <a:ext cx="431800" cy="355600"/>
            </a:xfrm>
            <a:prstGeom prst="rect">
              <a:avLst/>
            </a:prstGeom>
            <a:solidFill>
              <a:srgbClr val="B9C9F0"/>
            </a:solidFill>
            <a:ln>
              <a:noFill/>
            </a:ln>
          </p:spPr>
        </p:sp>
        <p:sp>
          <p:nvSpPr>
            <p:cNvPr id="116" name="node90.text"/>
            <p:cNvSpPr/>
            <p:nvPr/>
          </p:nvSpPr>
          <p:spPr>
            <a:xfrm>
              <a:off x="4682067" y="51117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227" name="node91"/>
          <p:cNvGrpSpPr/>
          <p:nvPr/>
        </p:nvGrpSpPr>
        <p:grpSpPr>
          <a:xfrm>
            <a:off x="5067300" y="4775200"/>
            <a:ext cx="457200" cy="139700"/>
            <a:chOff x="5067300" y="4775200"/>
            <a:chExt cx="457200" cy="139700"/>
          </a:xfrm>
        </p:grpSpPr>
        <p:sp>
          <p:nvSpPr>
            <p:cNvPr id="117" name="node91.text"/>
            <p:cNvSpPr/>
            <p:nvPr/>
          </p:nvSpPr>
          <p:spPr>
            <a:xfrm>
              <a:off x="5067300" y="47752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TEC</a:t>
              </a:r>
              <a:endParaRPr lang="en-US" sz="800" spc="48" kern="0" b="0" i="0" dirty="0">
                <a:solidFill>
                  <a:srgbClr val="070154"/>
                </a:solidFill>
                <a:latin typeface="IBM Plex Mono Medium"/>
                <a:ea typeface="IBM Plex Mono Medium"/>
                <a:cs typeface="IBM Plex Mono Medium"/>
              </a:endParaRPr>
            </a:p>
          </p:txBody>
        </p:sp>
      </p:grpSp>
      <p:grpSp>
        <p:nvGrpSpPr>
          <p:cNvPr id="228" name="node92"/>
          <p:cNvGrpSpPr/>
          <p:nvPr/>
        </p:nvGrpSpPr>
        <p:grpSpPr>
          <a:xfrm>
            <a:off x="5067300" y="5029200"/>
            <a:ext cx="431800" cy="355600"/>
            <a:chOff x="5067300" y="5029200"/>
            <a:chExt cx="431800" cy="355600"/>
          </a:xfrm>
        </p:grpSpPr>
        <p:sp>
          <p:nvSpPr>
            <p:cNvPr id="118" name="node92.surface"/>
            <p:cNvSpPr/>
            <p:nvPr/>
          </p:nvSpPr>
          <p:spPr>
            <a:xfrm>
              <a:off x="5067300" y="5029200"/>
              <a:ext cx="431800" cy="355600"/>
            </a:xfrm>
            <a:prstGeom prst="rect">
              <a:avLst/>
            </a:prstGeom>
            <a:solidFill>
              <a:srgbClr val="E8EEF8"/>
            </a:solidFill>
            <a:ln>
              <a:noFill/>
            </a:ln>
          </p:spPr>
        </p:sp>
        <p:sp>
          <p:nvSpPr>
            <p:cNvPr id="119" name="node92.text"/>
            <p:cNvSpPr/>
            <p:nvPr/>
          </p:nvSpPr>
          <p:spPr>
            <a:xfrm>
              <a:off x="5139267" y="51117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1</a:t>
              </a:r>
              <a:endParaRPr lang="en-US" sz="1100" spc="0" kern="0" b="0" i="0" dirty="0">
                <a:solidFill>
                  <a:srgbClr val="070154"/>
                </a:solidFill>
                <a:latin typeface="IBM Plex Sans"/>
                <a:ea typeface="IBM Plex Sans"/>
                <a:cs typeface="IBM Plex Sans"/>
              </a:endParaRPr>
            </a:p>
          </p:txBody>
        </p:sp>
      </p:grpSp>
      <p:grpSp>
        <p:nvGrpSpPr>
          <p:cNvPr id="229" name="node93"/>
          <p:cNvGrpSpPr/>
          <p:nvPr/>
        </p:nvGrpSpPr>
        <p:grpSpPr>
          <a:xfrm>
            <a:off x="5524500" y="4775200"/>
            <a:ext cx="457200" cy="139700"/>
            <a:chOff x="5524500" y="4775200"/>
            <a:chExt cx="457200" cy="139700"/>
          </a:xfrm>
        </p:grpSpPr>
        <p:sp>
          <p:nvSpPr>
            <p:cNvPr id="120" name="node93.text"/>
            <p:cNvSpPr/>
            <p:nvPr/>
          </p:nvSpPr>
          <p:spPr>
            <a:xfrm>
              <a:off x="5524500" y="47752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DAT</a:t>
              </a:r>
              <a:endParaRPr lang="en-US" sz="800" spc="48" kern="0" b="0" i="0" dirty="0">
                <a:solidFill>
                  <a:srgbClr val="070154"/>
                </a:solidFill>
                <a:latin typeface="IBM Plex Mono Medium"/>
                <a:ea typeface="IBM Plex Mono Medium"/>
                <a:cs typeface="IBM Plex Mono Medium"/>
              </a:endParaRPr>
            </a:p>
          </p:txBody>
        </p:sp>
      </p:grpSp>
      <p:grpSp>
        <p:nvGrpSpPr>
          <p:cNvPr id="230" name="node94"/>
          <p:cNvGrpSpPr/>
          <p:nvPr/>
        </p:nvGrpSpPr>
        <p:grpSpPr>
          <a:xfrm>
            <a:off x="5524500" y="5029200"/>
            <a:ext cx="431800" cy="355600"/>
            <a:chOff x="5524500" y="5029200"/>
            <a:chExt cx="431800" cy="355600"/>
          </a:xfrm>
        </p:grpSpPr>
        <p:sp>
          <p:nvSpPr>
            <p:cNvPr id="121" name="node94.surface"/>
            <p:cNvSpPr/>
            <p:nvPr/>
          </p:nvSpPr>
          <p:spPr>
            <a:xfrm>
              <a:off x="5524500" y="5029200"/>
              <a:ext cx="431800" cy="355600"/>
            </a:xfrm>
            <a:prstGeom prst="rect">
              <a:avLst/>
            </a:prstGeom>
            <a:solidFill>
              <a:srgbClr val="E8EEF8"/>
            </a:solidFill>
            <a:ln>
              <a:noFill/>
            </a:ln>
          </p:spPr>
        </p:sp>
        <p:sp>
          <p:nvSpPr>
            <p:cNvPr id="122" name="node94.text"/>
            <p:cNvSpPr/>
            <p:nvPr/>
          </p:nvSpPr>
          <p:spPr>
            <a:xfrm>
              <a:off x="5596467" y="51117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1</a:t>
              </a:r>
              <a:endParaRPr lang="en-US" sz="1100" spc="0" kern="0" b="0" i="0" dirty="0">
                <a:solidFill>
                  <a:srgbClr val="070154"/>
                </a:solidFill>
                <a:latin typeface="IBM Plex Sans"/>
                <a:ea typeface="IBM Plex Sans"/>
                <a:cs typeface="IBM Plex Sans"/>
              </a:endParaRPr>
            </a:p>
          </p:txBody>
        </p:sp>
      </p:grpSp>
      <p:grpSp>
        <p:nvGrpSpPr>
          <p:cNvPr id="231" name="node95"/>
          <p:cNvGrpSpPr/>
          <p:nvPr/>
        </p:nvGrpSpPr>
        <p:grpSpPr>
          <a:xfrm>
            <a:off x="5981700" y="4775200"/>
            <a:ext cx="457200" cy="139700"/>
            <a:chOff x="5981700" y="4775200"/>
            <a:chExt cx="457200" cy="139700"/>
          </a:xfrm>
        </p:grpSpPr>
        <p:sp>
          <p:nvSpPr>
            <p:cNvPr id="123" name="node95.text"/>
            <p:cNvSpPr/>
            <p:nvPr/>
          </p:nvSpPr>
          <p:spPr>
            <a:xfrm>
              <a:off x="5981700" y="47752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PPL</a:t>
              </a:r>
              <a:endParaRPr lang="en-US" sz="800" spc="48" kern="0" b="0" i="0" dirty="0">
                <a:solidFill>
                  <a:srgbClr val="070154"/>
                </a:solidFill>
                <a:latin typeface="IBM Plex Mono Medium"/>
                <a:ea typeface="IBM Plex Mono Medium"/>
                <a:cs typeface="IBM Plex Mono Medium"/>
              </a:endParaRPr>
            </a:p>
          </p:txBody>
        </p:sp>
      </p:grpSp>
      <p:grpSp>
        <p:nvGrpSpPr>
          <p:cNvPr id="232" name="node96"/>
          <p:cNvGrpSpPr/>
          <p:nvPr/>
        </p:nvGrpSpPr>
        <p:grpSpPr>
          <a:xfrm>
            <a:off x="5981700" y="5029200"/>
            <a:ext cx="431800" cy="355600"/>
            <a:chOff x="5981700" y="5029200"/>
            <a:chExt cx="431800" cy="355600"/>
          </a:xfrm>
        </p:grpSpPr>
        <p:sp>
          <p:nvSpPr>
            <p:cNvPr id="124" name="node96.surface"/>
            <p:cNvSpPr/>
            <p:nvPr/>
          </p:nvSpPr>
          <p:spPr>
            <a:xfrm>
              <a:off x="5981700" y="5029200"/>
              <a:ext cx="431800" cy="355600"/>
            </a:xfrm>
            <a:prstGeom prst="rect">
              <a:avLst/>
            </a:prstGeom>
            <a:solidFill>
              <a:srgbClr val="B9C9F0"/>
            </a:solidFill>
            <a:ln>
              <a:noFill/>
            </a:ln>
          </p:spPr>
        </p:sp>
        <p:sp>
          <p:nvSpPr>
            <p:cNvPr id="125" name="node96.text"/>
            <p:cNvSpPr/>
            <p:nvPr/>
          </p:nvSpPr>
          <p:spPr>
            <a:xfrm>
              <a:off x="6053667" y="51117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233" name="node97"/>
          <p:cNvGrpSpPr/>
          <p:nvPr/>
        </p:nvGrpSpPr>
        <p:grpSpPr>
          <a:xfrm>
            <a:off x="6438900" y="4775200"/>
            <a:ext cx="457200" cy="139700"/>
            <a:chOff x="6438900" y="4775200"/>
            <a:chExt cx="457200" cy="139700"/>
          </a:xfrm>
        </p:grpSpPr>
        <p:sp>
          <p:nvSpPr>
            <p:cNvPr id="126" name="node97.text"/>
            <p:cNvSpPr/>
            <p:nvPr/>
          </p:nvSpPr>
          <p:spPr>
            <a:xfrm>
              <a:off x="6438900" y="47752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GOV</a:t>
              </a:r>
              <a:endParaRPr lang="en-US" sz="800" spc="48" kern="0" b="0" i="0" dirty="0">
                <a:solidFill>
                  <a:srgbClr val="070154"/>
                </a:solidFill>
                <a:latin typeface="IBM Plex Mono Medium"/>
                <a:ea typeface="IBM Plex Mono Medium"/>
                <a:cs typeface="IBM Plex Mono Medium"/>
              </a:endParaRPr>
            </a:p>
          </p:txBody>
        </p:sp>
      </p:grpSp>
      <p:grpSp>
        <p:nvGrpSpPr>
          <p:cNvPr id="234" name="node98"/>
          <p:cNvGrpSpPr/>
          <p:nvPr/>
        </p:nvGrpSpPr>
        <p:grpSpPr>
          <a:xfrm>
            <a:off x="6438900" y="5029200"/>
            <a:ext cx="431800" cy="355600"/>
            <a:chOff x="6438900" y="5029200"/>
            <a:chExt cx="431800" cy="355600"/>
          </a:xfrm>
        </p:grpSpPr>
        <p:sp>
          <p:nvSpPr>
            <p:cNvPr id="127" name="node98.surface"/>
            <p:cNvSpPr/>
            <p:nvPr/>
          </p:nvSpPr>
          <p:spPr>
            <a:xfrm>
              <a:off x="6438900" y="5029200"/>
              <a:ext cx="431800" cy="355600"/>
            </a:xfrm>
            <a:prstGeom prst="rect">
              <a:avLst/>
            </a:prstGeom>
            <a:solidFill>
              <a:srgbClr val="B9C9F0"/>
            </a:solidFill>
            <a:ln>
              <a:noFill/>
            </a:ln>
          </p:spPr>
        </p:sp>
        <p:sp>
          <p:nvSpPr>
            <p:cNvPr id="128" name="node98.text"/>
            <p:cNvSpPr/>
            <p:nvPr/>
          </p:nvSpPr>
          <p:spPr>
            <a:xfrm>
              <a:off x="6510867" y="51117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235" name="node99"/>
          <p:cNvGrpSpPr/>
          <p:nvPr/>
        </p:nvGrpSpPr>
        <p:grpSpPr>
          <a:xfrm>
            <a:off x="7734300" y="4343400"/>
            <a:ext cx="3505200" cy="901700"/>
            <a:chOff x="7734300" y="4343400"/>
            <a:chExt cx="3505200" cy="901700"/>
          </a:xfrm>
        </p:grpSpPr>
        <p:sp>
          <p:nvSpPr>
            <p:cNvPr id="129" name="node99.source-001.bullet"/>
            <p:cNvSpPr/>
            <p:nvPr/>
          </p:nvSpPr>
          <p:spPr>
            <a:xfrm>
              <a:off x="7734300" y="4432300"/>
              <a:ext cx="38100" cy="38100"/>
            </a:xfrm>
            <a:prstGeom prst="rect">
              <a:avLst/>
            </a:prstGeom>
            <a:solidFill>
              <a:srgbClr val="070154"/>
            </a:solidFill>
            <a:ln>
              <a:noFill/>
            </a:ln>
          </p:spPr>
        </p:sp>
        <p:sp>
          <p:nvSpPr>
            <p:cNvPr id="130" name="node99.source-001.text"/>
            <p:cNvSpPr/>
            <p:nvPr/>
          </p:nvSpPr>
          <p:spPr>
            <a:xfrm>
              <a:off x="7886700" y="4343400"/>
              <a:ext cx="3352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Drives it.</a:t>
              </a:r>
              <a:r>
                <a:rPr lang="en-US" sz="1200" spc="0" kern="0" b="0" i="0" dirty="0">
                  <a:solidFill>
                    <a:srgbClr val="50658E"/>
                  </a:solidFill>
                  <a:latin typeface="IBM Plex Sans"/>
                  <a:ea typeface="IBM Plex Sans"/>
                  <a:cs typeface="IBM Plex Sans"/>
                </a:rPr>
                <a:t xml:space="preserve"> Referrals arrive by fax and portal; no shared status view.</a:t>
              </a:r>
              <a:endParaRPr lang="en-US" sz="1200" spc="0" kern="0" b="0" i="0" dirty="0">
                <a:solidFill>
                  <a:srgbClr val="070154"/>
                </a:solidFill>
                <a:latin typeface="IBM Plex Sans"/>
                <a:ea typeface="IBM Plex Sans"/>
                <a:cs typeface="IBM Plex Sans"/>
              </a:endParaRPr>
            </a:p>
          </p:txBody>
        </p:sp>
        <p:sp>
          <p:nvSpPr>
            <p:cNvPr id="131" name="node99.source-002.bullet"/>
            <p:cNvSpPr/>
            <p:nvPr/>
          </p:nvSpPr>
          <p:spPr>
            <a:xfrm>
              <a:off x="7734300" y="4902200"/>
              <a:ext cx="38100" cy="38100"/>
            </a:xfrm>
            <a:prstGeom prst="rect">
              <a:avLst/>
            </a:prstGeom>
            <a:solidFill>
              <a:srgbClr val="070154"/>
            </a:solidFill>
            <a:ln>
              <a:noFill/>
            </a:ln>
          </p:spPr>
        </p:sp>
        <p:sp>
          <p:nvSpPr>
            <p:cNvPr id="132" name="node99.source-002.text"/>
            <p:cNvSpPr/>
            <p:nvPr/>
          </p:nvSpPr>
          <p:spPr>
            <a:xfrm>
              <a:off x="7886700" y="4813300"/>
              <a:ext cx="3352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We'd do.</a:t>
              </a:r>
              <a:r>
                <a:rPr lang="en-US" sz="1200" spc="0" kern="0" b="0" i="0" dirty="0">
                  <a:solidFill>
                    <a:srgbClr val="50658E"/>
                  </a:solidFill>
                  <a:latin typeface="IBM Plex Sans"/>
                  <a:ea typeface="IBM Plex Sans"/>
                  <a:cs typeface="IBM Plex Sans"/>
                </a:rPr>
                <a:t xml:space="preserve"> Stand up one referral queue; track leakage by specialty.</a:t>
              </a:r>
              <a:endParaRPr lang="en-US" sz="1200" spc="0" kern="0" b="0" i="0" dirty="0">
                <a:solidFill>
                  <a:srgbClr val="070154"/>
                </a:solidFill>
                <a:latin typeface="IBM Plex Sans"/>
                <a:ea typeface="IBM Plex Sans"/>
                <a:cs typeface="IBM Plex Sans"/>
              </a:endParaRPr>
            </a:p>
          </p:txBody>
        </p:sp>
      </p:grpSp>
      <p:grpSp>
        <p:nvGrpSpPr>
          <p:cNvPr id="236" name="node100"/>
          <p:cNvGrpSpPr/>
          <p:nvPr/>
        </p:nvGrpSpPr>
        <p:grpSpPr>
          <a:xfrm>
            <a:off x="723900" y="5486400"/>
            <a:ext cx="2222500" cy="190500"/>
            <a:chOff x="723900" y="5486400"/>
            <a:chExt cx="2222500" cy="190500"/>
          </a:xfrm>
        </p:grpSpPr>
        <p:sp>
          <p:nvSpPr>
            <p:cNvPr id="133" name="node100.items.slot-001.swatch"/>
            <p:cNvSpPr/>
            <p:nvPr/>
          </p:nvSpPr>
          <p:spPr>
            <a:xfrm>
              <a:off x="723900" y="5518150"/>
              <a:ext cx="228600" cy="127000"/>
            </a:xfrm>
            <a:prstGeom prst="rect">
              <a:avLst/>
            </a:prstGeom>
            <a:solidFill>
              <a:srgbClr val="E8EEF8"/>
            </a:solidFill>
            <a:ln>
              <a:noFill/>
            </a:ln>
          </p:spPr>
        </p:sp>
        <p:sp>
          <p:nvSpPr>
            <p:cNvPr id="134" name="node100.items.slot-001.text"/>
            <p:cNvSpPr/>
            <p:nvPr/>
          </p:nvSpPr>
          <p:spPr>
            <a:xfrm>
              <a:off x="1016000" y="5486400"/>
              <a:ext cx="5984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Ad hoc</a:t>
              </a:r>
              <a:endParaRPr lang="en-US" sz="1100" spc="0" kern="0" b="0" i="0" dirty="0">
                <a:solidFill>
                  <a:srgbClr val="070154"/>
                </a:solidFill>
                <a:latin typeface="IBM Plex Sans"/>
                <a:ea typeface="IBM Plex Sans"/>
                <a:cs typeface="IBM Plex Sans"/>
              </a:endParaRPr>
            </a:p>
          </p:txBody>
        </p:sp>
        <p:sp>
          <p:nvSpPr>
            <p:cNvPr id="135" name="node100.items.slot-002.swatch"/>
            <p:cNvSpPr/>
            <p:nvPr/>
          </p:nvSpPr>
          <p:spPr>
            <a:xfrm>
              <a:off x="1843088" y="5518150"/>
              <a:ext cx="228600" cy="127000"/>
            </a:xfrm>
            <a:prstGeom prst="rect">
              <a:avLst/>
            </a:prstGeom>
            <a:solidFill>
              <a:srgbClr val="070154"/>
            </a:solidFill>
            <a:ln>
              <a:noFill/>
            </a:ln>
          </p:spPr>
        </p:sp>
        <p:sp>
          <p:nvSpPr>
            <p:cNvPr id="136" name="node100.items.slot-002.text"/>
            <p:cNvSpPr/>
            <p:nvPr/>
          </p:nvSpPr>
          <p:spPr>
            <a:xfrm>
              <a:off x="2135188" y="5486400"/>
              <a:ext cx="8112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Optimized</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ource-208">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CARE DELIVERY DETAIL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Care delivery and operations: one card per row</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80</a:t>
            </a:fld>
            <a:endParaRPr lang="en-US" sz="700" spc="0" kern="0" b="0" i="0" dirty="0">
              <a:solidFill>
                <a:srgbClr val="070154"/>
              </a:solidFill>
              <a:latin typeface="IBM Plex Mono SemiBold"/>
              <a:ea typeface="IBM Plex Mono SemiBold"/>
              <a:cs typeface="IBM Plex Mono SemiBold"/>
            </a:endParaRPr>
          </a:p>
        </p:txBody>
      </p:sp>
      <p:grpSp>
        <p:nvGrpSpPr>
          <p:cNvPr id="145" name="node01"/>
          <p:cNvGrpSpPr/>
          <p:nvPr/>
        </p:nvGrpSpPr>
        <p:grpSpPr>
          <a:xfrm>
            <a:off x="723900" y="2286000"/>
            <a:ext cx="2743200" cy="139700"/>
            <a:chOff x="723900" y="2286000"/>
            <a:chExt cx="2743200" cy="139700"/>
          </a:xfrm>
        </p:grpSpPr>
        <p:sp>
          <p:nvSpPr>
            <p:cNvPr id="7" name="node01.text"/>
            <p:cNvSpPr/>
            <p:nvPr/>
          </p:nvSpPr>
          <p:spPr>
            <a:xfrm>
              <a:off x="723900" y="2286000"/>
              <a:ext cx="2743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LOCATOR</a:t>
              </a:r>
              <a:endParaRPr lang="en-US" sz="800" spc="48" kern="0" b="0" i="0" dirty="0">
                <a:solidFill>
                  <a:srgbClr val="070154"/>
                </a:solidFill>
                <a:latin typeface="IBM Plex Mono Medium"/>
                <a:ea typeface="IBM Plex Mono Medium"/>
                <a:cs typeface="IBM Plex Mono Medium"/>
              </a:endParaRPr>
            </a:p>
          </p:txBody>
        </p:sp>
      </p:grpSp>
      <p:grpSp>
        <p:nvGrpSpPr>
          <p:cNvPr id="146" name="node02"/>
          <p:cNvGrpSpPr/>
          <p:nvPr/>
        </p:nvGrpSpPr>
        <p:grpSpPr>
          <a:xfrm>
            <a:off x="723900" y="2743200"/>
            <a:ext cx="457200" cy="190500"/>
            <a:chOff x="723900" y="2743200"/>
            <a:chExt cx="457200" cy="190500"/>
          </a:xfrm>
        </p:grpSpPr>
        <p:sp>
          <p:nvSpPr>
            <p:cNvPr id="8" name="node02.text"/>
            <p:cNvSpPr/>
            <p:nvPr/>
          </p:nvSpPr>
          <p:spPr>
            <a:xfrm>
              <a:off x="723900" y="27432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A1</a:t>
              </a:r>
              <a:endParaRPr lang="en-US" sz="1100" spc="0" kern="0" b="0" i="0" dirty="0">
                <a:solidFill>
                  <a:srgbClr val="50658E"/>
                </a:solidFill>
                <a:latin typeface="IBM Plex Sans"/>
                <a:ea typeface="IBM Plex Sans"/>
                <a:cs typeface="IBM Plex Sans"/>
              </a:endParaRPr>
            </a:p>
          </p:txBody>
        </p:sp>
      </p:grpSp>
      <p:grpSp>
        <p:nvGrpSpPr>
          <p:cNvPr id="147" name="node03"/>
          <p:cNvGrpSpPr/>
          <p:nvPr/>
        </p:nvGrpSpPr>
        <p:grpSpPr>
          <a:xfrm>
            <a:off x="1181100" y="2743200"/>
            <a:ext cx="431800" cy="203200"/>
            <a:chOff x="1181100" y="2743200"/>
            <a:chExt cx="431800" cy="203200"/>
          </a:xfrm>
        </p:grpSpPr>
        <p:sp>
          <p:nvSpPr>
            <p:cNvPr id="9" name="node03.surface"/>
            <p:cNvSpPr/>
            <p:nvPr/>
          </p:nvSpPr>
          <p:spPr>
            <a:xfrm>
              <a:off x="1181100" y="2743200"/>
              <a:ext cx="431800" cy="203200"/>
            </a:xfrm>
            <a:prstGeom prst="rect">
              <a:avLst/>
            </a:prstGeom>
            <a:solidFill>
              <a:srgbClr val="7C9BFF"/>
            </a:solidFill>
            <a:ln>
              <a:noFill/>
            </a:ln>
          </p:spPr>
        </p:sp>
      </p:grpSp>
      <p:grpSp>
        <p:nvGrpSpPr>
          <p:cNvPr id="148" name="node04"/>
          <p:cNvGrpSpPr/>
          <p:nvPr/>
        </p:nvGrpSpPr>
        <p:grpSpPr>
          <a:xfrm>
            <a:off x="1638300" y="2743200"/>
            <a:ext cx="431800" cy="203200"/>
            <a:chOff x="1638300" y="2743200"/>
            <a:chExt cx="431800" cy="203200"/>
          </a:xfrm>
        </p:grpSpPr>
        <p:sp>
          <p:nvSpPr>
            <p:cNvPr id="10" name="node04.surface"/>
            <p:cNvSpPr/>
            <p:nvPr/>
          </p:nvSpPr>
          <p:spPr>
            <a:xfrm>
              <a:off x="1638300" y="2743200"/>
              <a:ext cx="431800" cy="203200"/>
            </a:xfrm>
            <a:prstGeom prst="rect">
              <a:avLst/>
            </a:prstGeom>
            <a:solidFill>
              <a:srgbClr val="B9C9F0"/>
            </a:solidFill>
            <a:ln>
              <a:noFill/>
            </a:ln>
          </p:spPr>
        </p:sp>
      </p:grpSp>
      <p:grpSp>
        <p:nvGrpSpPr>
          <p:cNvPr id="149" name="node05"/>
          <p:cNvGrpSpPr/>
          <p:nvPr/>
        </p:nvGrpSpPr>
        <p:grpSpPr>
          <a:xfrm>
            <a:off x="2095500" y="2743200"/>
            <a:ext cx="431800" cy="203200"/>
            <a:chOff x="2095500" y="2743200"/>
            <a:chExt cx="431800" cy="203200"/>
          </a:xfrm>
        </p:grpSpPr>
        <p:sp>
          <p:nvSpPr>
            <p:cNvPr id="11" name="node05.surface"/>
            <p:cNvSpPr/>
            <p:nvPr/>
          </p:nvSpPr>
          <p:spPr>
            <a:xfrm>
              <a:off x="2095500" y="2743200"/>
              <a:ext cx="431800" cy="203200"/>
            </a:xfrm>
            <a:prstGeom prst="rect">
              <a:avLst/>
            </a:prstGeom>
            <a:solidFill>
              <a:srgbClr val="B9C9F0"/>
            </a:solidFill>
            <a:ln>
              <a:noFill/>
            </a:ln>
          </p:spPr>
        </p:sp>
      </p:grpSp>
      <p:grpSp>
        <p:nvGrpSpPr>
          <p:cNvPr id="150" name="node06"/>
          <p:cNvGrpSpPr/>
          <p:nvPr/>
        </p:nvGrpSpPr>
        <p:grpSpPr>
          <a:xfrm>
            <a:off x="2552700" y="2743200"/>
            <a:ext cx="431800" cy="203200"/>
            <a:chOff x="2552700" y="2743200"/>
            <a:chExt cx="431800" cy="203200"/>
          </a:xfrm>
        </p:grpSpPr>
        <p:sp>
          <p:nvSpPr>
            <p:cNvPr id="12" name="node06.surface"/>
            <p:cNvSpPr/>
            <p:nvPr/>
          </p:nvSpPr>
          <p:spPr>
            <a:xfrm>
              <a:off x="2552700" y="2743200"/>
              <a:ext cx="431800" cy="203200"/>
            </a:xfrm>
            <a:prstGeom prst="rect">
              <a:avLst/>
            </a:prstGeom>
            <a:solidFill>
              <a:srgbClr val="7C9BFF"/>
            </a:solidFill>
            <a:ln>
              <a:noFill/>
            </a:ln>
          </p:spPr>
        </p:sp>
      </p:grpSp>
      <p:grpSp>
        <p:nvGrpSpPr>
          <p:cNvPr id="151" name="node07"/>
          <p:cNvGrpSpPr/>
          <p:nvPr/>
        </p:nvGrpSpPr>
        <p:grpSpPr>
          <a:xfrm>
            <a:off x="3009900" y="2743200"/>
            <a:ext cx="431800" cy="203200"/>
            <a:chOff x="3009900" y="2743200"/>
            <a:chExt cx="431800" cy="203200"/>
          </a:xfrm>
        </p:grpSpPr>
        <p:sp>
          <p:nvSpPr>
            <p:cNvPr id="13" name="node07.surface"/>
            <p:cNvSpPr/>
            <p:nvPr/>
          </p:nvSpPr>
          <p:spPr>
            <a:xfrm>
              <a:off x="3009900" y="2743200"/>
              <a:ext cx="431800" cy="203200"/>
            </a:xfrm>
            <a:prstGeom prst="rect">
              <a:avLst/>
            </a:prstGeom>
            <a:solidFill>
              <a:srgbClr val="B9C9F0"/>
            </a:solidFill>
            <a:ln>
              <a:noFill/>
            </a:ln>
          </p:spPr>
        </p:sp>
      </p:grpSp>
      <p:grpSp>
        <p:nvGrpSpPr>
          <p:cNvPr id="152" name="node08"/>
          <p:cNvGrpSpPr/>
          <p:nvPr/>
        </p:nvGrpSpPr>
        <p:grpSpPr>
          <a:xfrm>
            <a:off x="723900" y="2971800"/>
            <a:ext cx="457200" cy="190500"/>
            <a:chOff x="723900" y="2971800"/>
            <a:chExt cx="457200" cy="190500"/>
          </a:xfrm>
        </p:grpSpPr>
        <p:sp>
          <p:nvSpPr>
            <p:cNvPr id="14" name="node08.text"/>
            <p:cNvSpPr/>
            <p:nvPr/>
          </p:nvSpPr>
          <p:spPr>
            <a:xfrm>
              <a:off x="723900" y="29718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A2</a:t>
              </a:r>
              <a:endParaRPr lang="en-US" sz="1100" spc="0" kern="0" b="0" i="0" dirty="0">
                <a:solidFill>
                  <a:srgbClr val="50658E"/>
                </a:solidFill>
                <a:latin typeface="IBM Plex Sans"/>
                <a:ea typeface="IBM Plex Sans"/>
                <a:cs typeface="IBM Plex Sans"/>
              </a:endParaRPr>
            </a:p>
          </p:txBody>
        </p:sp>
      </p:grpSp>
      <p:grpSp>
        <p:nvGrpSpPr>
          <p:cNvPr id="153" name="node09"/>
          <p:cNvGrpSpPr/>
          <p:nvPr/>
        </p:nvGrpSpPr>
        <p:grpSpPr>
          <a:xfrm>
            <a:off x="1181100" y="2971800"/>
            <a:ext cx="431800" cy="203200"/>
            <a:chOff x="1181100" y="2971800"/>
            <a:chExt cx="431800" cy="203200"/>
          </a:xfrm>
        </p:grpSpPr>
        <p:sp>
          <p:nvSpPr>
            <p:cNvPr id="15" name="node09.surface"/>
            <p:cNvSpPr/>
            <p:nvPr/>
          </p:nvSpPr>
          <p:spPr>
            <a:xfrm>
              <a:off x="1181100" y="2971800"/>
              <a:ext cx="431800" cy="203200"/>
            </a:xfrm>
            <a:prstGeom prst="rect">
              <a:avLst/>
            </a:prstGeom>
            <a:solidFill>
              <a:srgbClr val="7C9BFF"/>
            </a:solidFill>
            <a:ln>
              <a:noFill/>
            </a:ln>
          </p:spPr>
        </p:sp>
      </p:grpSp>
      <p:grpSp>
        <p:nvGrpSpPr>
          <p:cNvPr id="154" name="node10"/>
          <p:cNvGrpSpPr/>
          <p:nvPr/>
        </p:nvGrpSpPr>
        <p:grpSpPr>
          <a:xfrm>
            <a:off x="1638300" y="2971800"/>
            <a:ext cx="431800" cy="203200"/>
            <a:chOff x="1638300" y="2971800"/>
            <a:chExt cx="431800" cy="203200"/>
          </a:xfrm>
        </p:grpSpPr>
        <p:sp>
          <p:nvSpPr>
            <p:cNvPr id="16" name="node10.surface"/>
            <p:cNvSpPr/>
            <p:nvPr/>
          </p:nvSpPr>
          <p:spPr>
            <a:xfrm>
              <a:off x="1638300" y="2971800"/>
              <a:ext cx="431800" cy="203200"/>
            </a:xfrm>
            <a:prstGeom prst="rect">
              <a:avLst/>
            </a:prstGeom>
            <a:solidFill>
              <a:srgbClr val="7C9BFF"/>
            </a:solidFill>
            <a:ln>
              <a:noFill/>
            </a:ln>
          </p:spPr>
        </p:sp>
      </p:grpSp>
      <p:grpSp>
        <p:nvGrpSpPr>
          <p:cNvPr id="155" name="node11"/>
          <p:cNvGrpSpPr/>
          <p:nvPr/>
        </p:nvGrpSpPr>
        <p:grpSpPr>
          <a:xfrm>
            <a:off x="2095500" y="2971800"/>
            <a:ext cx="431800" cy="203200"/>
            <a:chOff x="2095500" y="2971800"/>
            <a:chExt cx="431800" cy="203200"/>
          </a:xfrm>
        </p:grpSpPr>
        <p:sp>
          <p:nvSpPr>
            <p:cNvPr id="17" name="node11.surface"/>
            <p:cNvSpPr/>
            <p:nvPr/>
          </p:nvSpPr>
          <p:spPr>
            <a:xfrm>
              <a:off x="2095500" y="2971800"/>
              <a:ext cx="431800" cy="203200"/>
            </a:xfrm>
            <a:prstGeom prst="rect">
              <a:avLst/>
            </a:prstGeom>
            <a:solidFill>
              <a:srgbClr val="B9C9F0"/>
            </a:solidFill>
            <a:ln>
              <a:noFill/>
            </a:ln>
          </p:spPr>
        </p:sp>
      </p:grpSp>
      <p:grpSp>
        <p:nvGrpSpPr>
          <p:cNvPr id="156" name="node12"/>
          <p:cNvGrpSpPr/>
          <p:nvPr/>
        </p:nvGrpSpPr>
        <p:grpSpPr>
          <a:xfrm>
            <a:off x="2552700" y="2971800"/>
            <a:ext cx="431800" cy="203200"/>
            <a:chOff x="2552700" y="2971800"/>
            <a:chExt cx="431800" cy="203200"/>
          </a:xfrm>
        </p:grpSpPr>
        <p:sp>
          <p:nvSpPr>
            <p:cNvPr id="18" name="node12.surface"/>
            <p:cNvSpPr/>
            <p:nvPr/>
          </p:nvSpPr>
          <p:spPr>
            <a:xfrm>
              <a:off x="2552700" y="2971800"/>
              <a:ext cx="431800" cy="203200"/>
            </a:xfrm>
            <a:prstGeom prst="rect">
              <a:avLst/>
            </a:prstGeom>
            <a:solidFill>
              <a:srgbClr val="7C9BFF"/>
            </a:solidFill>
            <a:ln>
              <a:noFill/>
            </a:ln>
          </p:spPr>
        </p:sp>
      </p:grpSp>
      <p:grpSp>
        <p:nvGrpSpPr>
          <p:cNvPr id="157" name="node13"/>
          <p:cNvGrpSpPr/>
          <p:nvPr/>
        </p:nvGrpSpPr>
        <p:grpSpPr>
          <a:xfrm>
            <a:off x="3009900" y="2971800"/>
            <a:ext cx="431800" cy="203200"/>
            <a:chOff x="3009900" y="2971800"/>
            <a:chExt cx="431800" cy="203200"/>
          </a:xfrm>
        </p:grpSpPr>
        <p:sp>
          <p:nvSpPr>
            <p:cNvPr id="19" name="node13.surface"/>
            <p:cNvSpPr/>
            <p:nvPr/>
          </p:nvSpPr>
          <p:spPr>
            <a:xfrm>
              <a:off x="3009900" y="2971800"/>
              <a:ext cx="431800" cy="203200"/>
            </a:xfrm>
            <a:prstGeom prst="rect">
              <a:avLst/>
            </a:prstGeom>
            <a:solidFill>
              <a:srgbClr val="7C9BFF"/>
            </a:solidFill>
            <a:ln>
              <a:noFill/>
            </a:ln>
          </p:spPr>
        </p:sp>
      </p:grpSp>
      <p:grpSp>
        <p:nvGrpSpPr>
          <p:cNvPr id="158" name="node14"/>
          <p:cNvGrpSpPr/>
          <p:nvPr/>
        </p:nvGrpSpPr>
        <p:grpSpPr>
          <a:xfrm>
            <a:off x="723900" y="3200400"/>
            <a:ext cx="457200" cy="190500"/>
            <a:chOff x="723900" y="3200400"/>
            <a:chExt cx="457200" cy="190500"/>
          </a:xfrm>
        </p:grpSpPr>
        <p:sp>
          <p:nvSpPr>
            <p:cNvPr id="20" name="node14.text"/>
            <p:cNvSpPr/>
            <p:nvPr/>
          </p:nvSpPr>
          <p:spPr>
            <a:xfrm>
              <a:off x="723900" y="32004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A3</a:t>
              </a:r>
              <a:endParaRPr lang="en-US" sz="1100" spc="0" kern="0" b="0" i="0" dirty="0">
                <a:solidFill>
                  <a:srgbClr val="50658E"/>
                </a:solidFill>
                <a:latin typeface="IBM Plex Sans"/>
                <a:ea typeface="IBM Plex Sans"/>
                <a:cs typeface="IBM Plex Sans"/>
              </a:endParaRPr>
            </a:p>
          </p:txBody>
        </p:sp>
      </p:grpSp>
      <p:grpSp>
        <p:nvGrpSpPr>
          <p:cNvPr id="159" name="node15"/>
          <p:cNvGrpSpPr/>
          <p:nvPr/>
        </p:nvGrpSpPr>
        <p:grpSpPr>
          <a:xfrm>
            <a:off x="1181100" y="3200400"/>
            <a:ext cx="431800" cy="203200"/>
            <a:chOff x="1181100" y="3200400"/>
            <a:chExt cx="431800" cy="203200"/>
          </a:xfrm>
        </p:grpSpPr>
        <p:sp>
          <p:nvSpPr>
            <p:cNvPr id="21" name="node15.surface"/>
            <p:cNvSpPr/>
            <p:nvPr/>
          </p:nvSpPr>
          <p:spPr>
            <a:xfrm>
              <a:off x="1181100" y="3200400"/>
              <a:ext cx="431800" cy="203200"/>
            </a:xfrm>
            <a:prstGeom prst="rect">
              <a:avLst/>
            </a:prstGeom>
            <a:solidFill>
              <a:srgbClr val="B9C9F0"/>
            </a:solidFill>
            <a:ln>
              <a:noFill/>
            </a:ln>
          </p:spPr>
        </p:sp>
      </p:grpSp>
      <p:grpSp>
        <p:nvGrpSpPr>
          <p:cNvPr id="160" name="node16"/>
          <p:cNvGrpSpPr/>
          <p:nvPr/>
        </p:nvGrpSpPr>
        <p:grpSpPr>
          <a:xfrm>
            <a:off x="1638300" y="3200400"/>
            <a:ext cx="431800" cy="203200"/>
            <a:chOff x="1638300" y="3200400"/>
            <a:chExt cx="431800" cy="203200"/>
          </a:xfrm>
        </p:grpSpPr>
        <p:sp>
          <p:nvSpPr>
            <p:cNvPr id="22" name="node16.surface"/>
            <p:cNvSpPr/>
            <p:nvPr/>
          </p:nvSpPr>
          <p:spPr>
            <a:xfrm>
              <a:off x="1638300" y="3200400"/>
              <a:ext cx="431800" cy="203200"/>
            </a:xfrm>
            <a:prstGeom prst="rect">
              <a:avLst/>
            </a:prstGeom>
            <a:solidFill>
              <a:srgbClr val="E8EEF8"/>
            </a:solidFill>
            <a:ln>
              <a:noFill/>
            </a:ln>
          </p:spPr>
        </p:sp>
      </p:grpSp>
      <p:grpSp>
        <p:nvGrpSpPr>
          <p:cNvPr id="161" name="node17"/>
          <p:cNvGrpSpPr/>
          <p:nvPr/>
        </p:nvGrpSpPr>
        <p:grpSpPr>
          <a:xfrm>
            <a:off x="2095500" y="3200400"/>
            <a:ext cx="431800" cy="203200"/>
            <a:chOff x="2095500" y="3200400"/>
            <a:chExt cx="431800" cy="203200"/>
          </a:xfrm>
        </p:grpSpPr>
        <p:sp>
          <p:nvSpPr>
            <p:cNvPr id="23" name="node17.surface"/>
            <p:cNvSpPr/>
            <p:nvPr/>
          </p:nvSpPr>
          <p:spPr>
            <a:xfrm>
              <a:off x="2095500" y="3200400"/>
              <a:ext cx="431800" cy="203200"/>
            </a:xfrm>
            <a:prstGeom prst="rect">
              <a:avLst/>
            </a:prstGeom>
            <a:solidFill>
              <a:srgbClr val="E8EEF8"/>
            </a:solidFill>
            <a:ln>
              <a:noFill/>
            </a:ln>
          </p:spPr>
        </p:sp>
      </p:grpSp>
      <p:grpSp>
        <p:nvGrpSpPr>
          <p:cNvPr id="162" name="node18"/>
          <p:cNvGrpSpPr/>
          <p:nvPr/>
        </p:nvGrpSpPr>
        <p:grpSpPr>
          <a:xfrm>
            <a:off x="2552700" y="3200400"/>
            <a:ext cx="431800" cy="203200"/>
            <a:chOff x="2552700" y="3200400"/>
            <a:chExt cx="431800" cy="203200"/>
          </a:xfrm>
        </p:grpSpPr>
        <p:sp>
          <p:nvSpPr>
            <p:cNvPr id="24" name="node18.surface"/>
            <p:cNvSpPr/>
            <p:nvPr/>
          </p:nvSpPr>
          <p:spPr>
            <a:xfrm>
              <a:off x="2552700" y="3200400"/>
              <a:ext cx="431800" cy="203200"/>
            </a:xfrm>
            <a:prstGeom prst="rect">
              <a:avLst/>
            </a:prstGeom>
            <a:solidFill>
              <a:srgbClr val="B9C9F0"/>
            </a:solidFill>
            <a:ln>
              <a:noFill/>
            </a:ln>
          </p:spPr>
        </p:sp>
      </p:grpSp>
      <p:grpSp>
        <p:nvGrpSpPr>
          <p:cNvPr id="163" name="node19"/>
          <p:cNvGrpSpPr/>
          <p:nvPr/>
        </p:nvGrpSpPr>
        <p:grpSpPr>
          <a:xfrm>
            <a:off x="3009900" y="3200400"/>
            <a:ext cx="431800" cy="203200"/>
            <a:chOff x="3009900" y="3200400"/>
            <a:chExt cx="431800" cy="203200"/>
          </a:xfrm>
        </p:grpSpPr>
        <p:sp>
          <p:nvSpPr>
            <p:cNvPr id="25" name="node19.surface"/>
            <p:cNvSpPr/>
            <p:nvPr/>
          </p:nvSpPr>
          <p:spPr>
            <a:xfrm>
              <a:off x="3009900" y="3200400"/>
              <a:ext cx="431800" cy="203200"/>
            </a:xfrm>
            <a:prstGeom prst="rect">
              <a:avLst/>
            </a:prstGeom>
            <a:solidFill>
              <a:srgbClr val="B9C9F0"/>
            </a:solidFill>
            <a:ln>
              <a:noFill/>
            </a:ln>
          </p:spPr>
        </p:sp>
      </p:grpSp>
      <p:grpSp>
        <p:nvGrpSpPr>
          <p:cNvPr id="164" name="node20"/>
          <p:cNvGrpSpPr/>
          <p:nvPr/>
        </p:nvGrpSpPr>
        <p:grpSpPr>
          <a:xfrm>
            <a:off x="723900" y="3429000"/>
            <a:ext cx="457200" cy="190500"/>
            <a:chOff x="723900" y="3429000"/>
            <a:chExt cx="457200" cy="190500"/>
          </a:xfrm>
        </p:grpSpPr>
        <p:sp>
          <p:nvSpPr>
            <p:cNvPr id="26" name="node20.text"/>
            <p:cNvSpPr/>
            <p:nvPr/>
          </p:nvSpPr>
          <p:spPr>
            <a:xfrm>
              <a:off x="723900" y="34290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A4</a:t>
              </a:r>
              <a:endParaRPr lang="en-US" sz="1100" spc="0" kern="0" b="0" i="0" dirty="0">
                <a:solidFill>
                  <a:srgbClr val="50658E"/>
                </a:solidFill>
                <a:latin typeface="IBM Plex Sans"/>
                <a:ea typeface="IBM Plex Sans"/>
                <a:cs typeface="IBM Plex Sans"/>
              </a:endParaRPr>
            </a:p>
          </p:txBody>
        </p:sp>
      </p:grpSp>
      <p:grpSp>
        <p:nvGrpSpPr>
          <p:cNvPr id="165" name="node21"/>
          <p:cNvGrpSpPr/>
          <p:nvPr/>
        </p:nvGrpSpPr>
        <p:grpSpPr>
          <a:xfrm>
            <a:off x="1181100" y="3429000"/>
            <a:ext cx="431800" cy="203200"/>
            <a:chOff x="1181100" y="3429000"/>
            <a:chExt cx="431800" cy="203200"/>
          </a:xfrm>
        </p:grpSpPr>
        <p:sp>
          <p:nvSpPr>
            <p:cNvPr id="27" name="node21.surface"/>
            <p:cNvSpPr/>
            <p:nvPr/>
          </p:nvSpPr>
          <p:spPr>
            <a:xfrm>
              <a:off x="1181100" y="3429000"/>
              <a:ext cx="431800" cy="203200"/>
            </a:xfrm>
            <a:prstGeom prst="rect">
              <a:avLst/>
            </a:prstGeom>
            <a:solidFill>
              <a:srgbClr val="0047FF"/>
            </a:solidFill>
            <a:ln>
              <a:noFill/>
            </a:ln>
          </p:spPr>
        </p:sp>
      </p:grpSp>
      <p:grpSp>
        <p:nvGrpSpPr>
          <p:cNvPr id="166" name="node22"/>
          <p:cNvGrpSpPr/>
          <p:nvPr/>
        </p:nvGrpSpPr>
        <p:grpSpPr>
          <a:xfrm>
            <a:off x="1638300" y="3429000"/>
            <a:ext cx="431800" cy="203200"/>
            <a:chOff x="1638300" y="3429000"/>
            <a:chExt cx="431800" cy="203200"/>
          </a:xfrm>
        </p:grpSpPr>
        <p:sp>
          <p:nvSpPr>
            <p:cNvPr id="28" name="node22.surface"/>
            <p:cNvSpPr/>
            <p:nvPr/>
          </p:nvSpPr>
          <p:spPr>
            <a:xfrm>
              <a:off x="1638300" y="3429000"/>
              <a:ext cx="431800" cy="203200"/>
            </a:xfrm>
            <a:prstGeom prst="rect">
              <a:avLst/>
            </a:prstGeom>
            <a:solidFill>
              <a:srgbClr val="070154"/>
            </a:solidFill>
            <a:ln>
              <a:noFill/>
            </a:ln>
          </p:spPr>
        </p:sp>
      </p:grpSp>
      <p:grpSp>
        <p:nvGrpSpPr>
          <p:cNvPr id="167" name="node23"/>
          <p:cNvGrpSpPr/>
          <p:nvPr/>
        </p:nvGrpSpPr>
        <p:grpSpPr>
          <a:xfrm>
            <a:off x="2095500" y="3429000"/>
            <a:ext cx="431800" cy="203200"/>
            <a:chOff x="2095500" y="3429000"/>
            <a:chExt cx="431800" cy="203200"/>
          </a:xfrm>
        </p:grpSpPr>
        <p:sp>
          <p:nvSpPr>
            <p:cNvPr id="29" name="node23.surface"/>
            <p:cNvSpPr/>
            <p:nvPr/>
          </p:nvSpPr>
          <p:spPr>
            <a:xfrm>
              <a:off x="2095500" y="3429000"/>
              <a:ext cx="431800" cy="203200"/>
            </a:xfrm>
            <a:prstGeom prst="rect">
              <a:avLst/>
            </a:prstGeom>
            <a:solidFill>
              <a:srgbClr val="7C9BFF"/>
            </a:solidFill>
            <a:ln>
              <a:noFill/>
            </a:ln>
          </p:spPr>
        </p:sp>
      </p:grpSp>
      <p:grpSp>
        <p:nvGrpSpPr>
          <p:cNvPr id="168" name="node24"/>
          <p:cNvGrpSpPr/>
          <p:nvPr/>
        </p:nvGrpSpPr>
        <p:grpSpPr>
          <a:xfrm>
            <a:off x="2552700" y="3429000"/>
            <a:ext cx="431800" cy="203200"/>
            <a:chOff x="2552700" y="3429000"/>
            <a:chExt cx="431800" cy="203200"/>
          </a:xfrm>
        </p:grpSpPr>
        <p:sp>
          <p:nvSpPr>
            <p:cNvPr id="30" name="node24.surface"/>
            <p:cNvSpPr/>
            <p:nvPr/>
          </p:nvSpPr>
          <p:spPr>
            <a:xfrm>
              <a:off x="2552700" y="3429000"/>
              <a:ext cx="431800" cy="203200"/>
            </a:xfrm>
            <a:prstGeom prst="rect">
              <a:avLst/>
            </a:prstGeom>
            <a:solidFill>
              <a:srgbClr val="7C9BFF"/>
            </a:solidFill>
            <a:ln>
              <a:noFill/>
            </a:ln>
          </p:spPr>
        </p:sp>
      </p:grpSp>
      <p:grpSp>
        <p:nvGrpSpPr>
          <p:cNvPr id="169" name="node25"/>
          <p:cNvGrpSpPr/>
          <p:nvPr/>
        </p:nvGrpSpPr>
        <p:grpSpPr>
          <a:xfrm>
            <a:off x="3009900" y="3429000"/>
            <a:ext cx="431800" cy="203200"/>
            <a:chOff x="3009900" y="3429000"/>
            <a:chExt cx="431800" cy="203200"/>
          </a:xfrm>
        </p:grpSpPr>
        <p:sp>
          <p:nvSpPr>
            <p:cNvPr id="31" name="node25.surface"/>
            <p:cNvSpPr/>
            <p:nvPr/>
          </p:nvSpPr>
          <p:spPr>
            <a:xfrm>
              <a:off x="3009900" y="3429000"/>
              <a:ext cx="431800" cy="203200"/>
            </a:xfrm>
            <a:prstGeom prst="rect">
              <a:avLst/>
            </a:prstGeom>
            <a:solidFill>
              <a:srgbClr val="0047FF"/>
            </a:solidFill>
            <a:ln>
              <a:noFill/>
            </a:ln>
          </p:spPr>
        </p:sp>
      </p:grpSp>
      <p:grpSp>
        <p:nvGrpSpPr>
          <p:cNvPr id="170" name="node26"/>
          <p:cNvGrpSpPr/>
          <p:nvPr/>
        </p:nvGrpSpPr>
        <p:grpSpPr>
          <a:xfrm>
            <a:off x="723900" y="3657600"/>
            <a:ext cx="457200" cy="190500"/>
            <a:chOff x="723900" y="3657600"/>
            <a:chExt cx="457200" cy="190500"/>
          </a:xfrm>
        </p:grpSpPr>
        <p:sp>
          <p:nvSpPr>
            <p:cNvPr id="32" name="node26.text"/>
            <p:cNvSpPr/>
            <p:nvPr/>
          </p:nvSpPr>
          <p:spPr>
            <a:xfrm>
              <a:off x="723900" y="36576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A5</a:t>
              </a:r>
              <a:endParaRPr lang="en-US" sz="1100" spc="0" kern="0" b="0" i="0" dirty="0">
                <a:solidFill>
                  <a:srgbClr val="50658E"/>
                </a:solidFill>
                <a:latin typeface="IBM Plex Sans"/>
                <a:ea typeface="IBM Plex Sans"/>
                <a:cs typeface="IBM Plex Sans"/>
              </a:endParaRPr>
            </a:p>
          </p:txBody>
        </p:sp>
      </p:grpSp>
      <p:grpSp>
        <p:nvGrpSpPr>
          <p:cNvPr id="171" name="node27"/>
          <p:cNvGrpSpPr/>
          <p:nvPr/>
        </p:nvGrpSpPr>
        <p:grpSpPr>
          <a:xfrm>
            <a:off x="1181100" y="3657600"/>
            <a:ext cx="431800" cy="203200"/>
            <a:chOff x="1181100" y="3657600"/>
            <a:chExt cx="431800" cy="203200"/>
          </a:xfrm>
        </p:grpSpPr>
        <p:sp>
          <p:nvSpPr>
            <p:cNvPr id="33" name="node27.surface"/>
            <p:cNvSpPr/>
            <p:nvPr/>
          </p:nvSpPr>
          <p:spPr>
            <a:xfrm>
              <a:off x="1181100" y="3657600"/>
              <a:ext cx="431800" cy="203200"/>
            </a:xfrm>
            <a:prstGeom prst="rect">
              <a:avLst/>
            </a:prstGeom>
            <a:solidFill>
              <a:srgbClr val="7C9BFF"/>
            </a:solidFill>
            <a:ln>
              <a:noFill/>
            </a:ln>
          </p:spPr>
        </p:sp>
      </p:grpSp>
      <p:grpSp>
        <p:nvGrpSpPr>
          <p:cNvPr id="172" name="node28"/>
          <p:cNvGrpSpPr/>
          <p:nvPr/>
        </p:nvGrpSpPr>
        <p:grpSpPr>
          <a:xfrm>
            <a:off x="1638300" y="3657600"/>
            <a:ext cx="431800" cy="203200"/>
            <a:chOff x="1638300" y="3657600"/>
            <a:chExt cx="431800" cy="203200"/>
          </a:xfrm>
        </p:grpSpPr>
        <p:sp>
          <p:nvSpPr>
            <p:cNvPr id="34" name="node28.surface"/>
            <p:cNvSpPr/>
            <p:nvPr/>
          </p:nvSpPr>
          <p:spPr>
            <a:xfrm>
              <a:off x="1638300" y="3657600"/>
              <a:ext cx="431800" cy="203200"/>
            </a:xfrm>
            <a:prstGeom prst="rect">
              <a:avLst/>
            </a:prstGeom>
            <a:solidFill>
              <a:srgbClr val="7C9BFF"/>
            </a:solidFill>
            <a:ln>
              <a:noFill/>
            </a:ln>
          </p:spPr>
        </p:sp>
      </p:grpSp>
      <p:grpSp>
        <p:nvGrpSpPr>
          <p:cNvPr id="173" name="node29"/>
          <p:cNvGrpSpPr/>
          <p:nvPr/>
        </p:nvGrpSpPr>
        <p:grpSpPr>
          <a:xfrm>
            <a:off x="2095500" y="3657600"/>
            <a:ext cx="431800" cy="203200"/>
            <a:chOff x="2095500" y="3657600"/>
            <a:chExt cx="431800" cy="203200"/>
          </a:xfrm>
        </p:grpSpPr>
        <p:sp>
          <p:nvSpPr>
            <p:cNvPr id="35" name="node29.surface"/>
            <p:cNvSpPr/>
            <p:nvPr/>
          </p:nvSpPr>
          <p:spPr>
            <a:xfrm>
              <a:off x="2095500" y="3657600"/>
              <a:ext cx="431800" cy="203200"/>
            </a:xfrm>
            <a:prstGeom prst="rect">
              <a:avLst/>
            </a:prstGeom>
            <a:solidFill>
              <a:srgbClr val="7C9BFF"/>
            </a:solidFill>
            <a:ln>
              <a:noFill/>
            </a:ln>
          </p:spPr>
        </p:sp>
      </p:grpSp>
      <p:grpSp>
        <p:nvGrpSpPr>
          <p:cNvPr id="174" name="node30"/>
          <p:cNvGrpSpPr/>
          <p:nvPr/>
        </p:nvGrpSpPr>
        <p:grpSpPr>
          <a:xfrm>
            <a:off x="2552700" y="3657600"/>
            <a:ext cx="431800" cy="203200"/>
            <a:chOff x="2552700" y="3657600"/>
            <a:chExt cx="431800" cy="203200"/>
          </a:xfrm>
        </p:grpSpPr>
        <p:sp>
          <p:nvSpPr>
            <p:cNvPr id="36" name="node30.surface"/>
            <p:cNvSpPr/>
            <p:nvPr/>
          </p:nvSpPr>
          <p:spPr>
            <a:xfrm>
              <a:off x="2552700" y="3657600"/>
              <a:ext cx="431800" cy="203200"/>
            </a:xfrm>
            <a:prstGeom prst="rect">
              <a:avLst/>
            </a:prstGeom>
            <a:solidFill>
              <a:srgbClr val="B9C9F0"/>
            </a:solidFill>
            <a:ln>
              <a:noFill/>
            </a:ln>
          </p:spPr>
        </p:sp>
      </p:grpSp>
      <p:grpSp>
        <p:nvGrpSpPr>
          <p:cNvPr id="175" name="node31"/>
          <p:cNvGrpSpPr/>
          <p:nvPr/>
        </p:nvGrpSpPr>
        <p:grpSpPr>
          <a:xfrm>
            <a:off x="3009900" y="3657600"/>
            <a:ext cx="431800" cy="203200"/>
            <a:chOff x="3009900" y="3657600"/>
            <a:chExt cx="431800" cy="203200"/>
          </a:xfrm>
        </p:grpSpPr>
        <p:sp>
          <p:nvSpPr>
            <p:cNvPr id="37" name="node31.surface"/>
            <p:cNvSpPr/>
            <p:nvPr/>
          </p:nvSpPr>
          <p:spPr>
            <a:xfrm>
              <a:off x="3009900" y="3657600"/>
              <a:ext cx="431800" cy="203200"/>
            </a:xfrm>
            <a:prstGeom prst="rect">
              <a:avLst/>
            </a:prstGeom>
            <a:solidFill>
              <a:srgbClr val="7C9BFF"/>
            </a:solidFill>
            <a:ln>
              <a:noFill/>
            </a:ln>
          </p:spPr>
        </p:sp>
      </p:grpSp>
      <p:grpSp>
        <p:nvGrpSpPr>
          <p:cNvPr id="176" name="node32"/>
          <p:cNvGrpSpPr/>
          <p:nvPr/>
        </p:nvGrpSpPr>
        <p:grpSpPr>
          <a:xfrm>
            <a:off x="723900" y="3886200"/>
            <a:ext cx="457200" cy="190500"/>
            <a:chOff x="723900" y="3886200"/>
            <a:chExt cx="457200" cy="190500"/>
          </a:xfrm>
        </p:grpSpPr>
        <p:sp>
          <p:nvSpPr>
            <p:cNvPr id="38" name="node32.text"/>
            <p:cNvSpPr/>
            <p:nvPr/>
          </p:nvSpPr>
          <p:spPr>
            <a:xfrm>
              <a:off x="723900" y="38862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A6</a:t>
              </a:r>
              <a:endParaRPr lang="en-US" sz="1100" spc="0" kern="0" b="0" i="0" dirty="0">
                <a:solidFill>
                  <a:srgbClr val="50658E"/>
                </a:solidFill>
                <a:latin typeface="IBM Plex Sans"/>
                <a:ea typeface="IBM Plex Sans"/>
                <a:cs typeface="IBM Plex Sans"/>
              </a:endParaRPr>
            </a:p>
          </p:txBody>
        </p:sp>
      </p:grpSp>
      <p:grpSp>
        <p:nvGrpSpPr>
          <p:cNvPr id="177" name="node33"/>
          <p:cNvGrpSpPr/>
          <p:nvPr/>
        </p:nvGrpSpPr>
        <p:grpSpPr>
          <a:xfrm>
            <a:off x="1181100" y="3886200"/>
            <a:ext cx="431800" cy="203200"/>
            <a:chOff x="1181100" y="3886200"/>
            <a:chExt cx="431800" cy="203200"/>
          </a:xfrm>
        </p:grpSpPr>
        <p:sp>
          <p:nvSpPr>
            <p:cNvPr id="39" name="node33.surface"/>
            <p:cNvSpPr/>
            <p:nvPr/>
          </p:nvSpPr>
          <p:spPr>
            <a:xfrm>
              <a:off x="1181100" y="3886200"/>
              <a:ext cx="431800" cy="203200"/>
            </a:xfrm>
            <a:prstGeom prst="rect">
              <a:avLst/>
            </a:prstGeom>
            <a:solidFill>
              <a:srgbClr val="B9C9F0"/>
            </a:solidFill>
            <a:ln>
              <a:noFill/>
            </a:ln>
          </p:spPr>
        </p:sp>
      </p:grpSp>
      <p:grpSp>
        <p:nvGrpSpPr>
          <p:cNvPr id="178" name="node34"/>
          <p:cNvGrpSpPr/>
          <p:nvPr/>
        </p:nvGrpSpPr>
        <p:grpSpPr>
          <a:xfrm>
            <a:off x="1638300" y="3886200"/>
            <a:ext cx="431800" cy="203200"/>
            <a:chOff x="1638300" y="3886200"/>
            <a:chExt cx="431800" cy="203200"/>
          </a:xfrm>
        </p:grpSpPr>
        <p:sp>
          <p:nvSpPr>
            <p:cNvPr id="40" name="node34.surface"/>
            <p:cNvSpPr/>
            <p:nvPr/>
          </p:nvSpPr>
          <p:spPr>
            <a:xfrm>
              <a:off x="1638300" y="3886200"/>
              <a:ext cx="431800" cy="203200"/>
            </a:xfrm>
            <a:prstGeom prst="rect">
              <a:avLst/>
            </a:prstGeom>
            <a:solidFill>
              <a:srgbClr val="B9C9F0"/>
            </a:solidFill>
            <a:ln>
              <a:noFill/>
            </a:ln>
          </p:spPr>
        </p:sp>
      </p:grpSp>
      <p:grpSp>
        <p:nvGrpSpPr>
          <p:cNvPr id="179" name="node35"/>
          <p:cNvGrpSpPr/>
          <p:nvPr/>
        </p:nvGrpSpPr>
        <p:grpSpPr>
          <a:xfrm>
            <a:off x="2095500" y="3886200"/>
            <a:ext cx="431800" cy="203200"/>
            <a:chOff x="2095500" y="3886200"/>
            <a:chExt cx="431800" cy="203200"/>
          </a:xfrm>
        </p:grpSpPr>
        <p:sp>
          <p:nvSpPr>
            <p:cNvPr id="41" name="node35.surface"/>
            <p:cNvSpPr/>
            <p:nvPr/>
          </p:nvSpPr>
          <p:spPr>
            <a:xfrm>
              <a:off x="2095500" y="3886200"/>
              <a:ext cx="431800" cy="203200"/>
            </a:xfrm>
            <a:prstGeom prst="rect">
              <a:avLst/>
            </a:prstGeom>
            <a:solidFill>
              <a:srgbClr val="B9C9F0"/>
            </a:solidFill>
            <a:ln>
              <a:noFill/>
            </a:ln>
          </p:spPr>
        </p:sp>
      </p:grpSp>
      <p:grpSp>
        <p:nvGrpSpPr>
          <p:cNvPr id="180" name="node36"/>
          <p:cNvGrpSpPr/>
          <p:nvPr/>
        </p:nvGrpSpPr>
        <p:grpSpPr>
          <a:xfrm>
            <a:off x="2552700" y="3886200"/>
            <a:ext cx="431800" cy="203200"/>
            <a:chOff x="2552700" y="3886200"/>
            <a:chExt cx="431800" cy="203200"/>
          </a:xfrm>
        </p:grpSpPr>
        <p:sp>
          <p:nvSpPr>
            <p:cNvPr id="42" name="node36.surface"/>
            <p:cNvSpPr/>
            <p:nvPr/>
          </p:nvSpPr>
          <p:spPr>
            <a:xfrm>
              <a:off x="2552700" y="3886200"/>
              <a:ext cx="431800" cy="203200"/>
            </a:xfrm>
            <a:prstGeom prst="rect">
              <a:avLst/>
            </a:prstGeom>
            <a:solidFill>
              <a:srgbClr val="B9C9F0"/>
            </a:solidFill>
            <a:ln>
              <a:noFill/>
            </a:ln>
          </p:spPr>
        </p:sp>
      </p:grpSp>
      <p:grpSp>
        <p:nvGrpSpPr>
          <p:cNvPr id="181" name="node37"/>
          <p:cNvGrpSpPr/>
          <p:nvPr/>
        </p:nvGrpSpPr>
        <p:grpSpPr>
          <a:xfrm>
            <a:off x="3009900" y="3886200"/>
            <a:ext cx="431800" cy="203200"/>
            <a:chOff x="3009900" y="3886200"/>
            <a:chExt cx="431800" cy="203200"/>
          </a:xfrm>
        </p:grpSpPr>
        <p:sp>
          <p:nvSpPr>
            <p:cNvPr id="43" name="node37.surface"/>
            <p:cNvSpPr/>
            <p:nvPr/>
          </p:nvSpPr>
          <p:spPr>
            <a:xfrm>
              <a:off x="3009900" y="3886200"/>
              <a:ext cx="431800" cy="203200"/>
            </a:xfrm>
            <a:prstGeom prst="rect">
              <a:avLst/>
            </a:prstGeom>
            <a:solidFill>
              <a:srgbClr val="E8EEF8"/>
            </a:solidFill>
            <a:ln>
              <a:noFill/>
            </a:ln>
          </p:spPr>
        </p:sp>
      </p:grpSp>
      <p:grpSp>
        <p:nvGrpSpPr>
          <p:cNvPr id="182" name="node38"/>
          <p:cNvGrpSpPr/>
          <p:nvPr/>
        </p:nvGrpSpPr>
        <p:grpSpPr>
          <a:xfrm>
            <a:off x="723900" y="4114800"/>
            <a:ext cx="457200" cy="190500"/>
            <a:chOff x="723900" y="4114800"/>
            <a:chExt cx="457200" cy="190500"/>
          </a:xfrm>
        </p:grpSpPr>
        <p:sp>
          <p:nvSpPr>
            <p:cNvPr id="44" name="node38.text"/>
            <p:cNvSpPr/>
            <p:nvPr/>
          </p:nvSpPr>
          <p:spPr>
            <a:xfrm>
              <a:off x="723900" y="41148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A7</a:t>
              </a:r>
              <a:endParaRPr lang="en-US" sz="1100" spc="0" kern="0" b="0" i="0" dirty="0">
                <a:solidFill>
                  <a:srgbClr val="070154"/>
                </a:solidFill>
                <a:latin typeface="IBM Plex Sans"/>
                <a:ea typeface="IBM Plex Sans"/>
                <a:cs typeface="IBM Plex Sans"/>
              </a:endParaRPr>
            </a:p>
          </p:txBody>
        </p:sp>
      </p:grpSp>
      <p:grpSp>
        <p:nvGrpSpPr>
          <p:cNvPr id="183" name="node39"/>
          <p:cNvGrpSpPr/>
          <p:nvPr/>
        </p:nvGrpSpPr>
        <p:grpSpPr>
          <a:xfrm>
            <a:off x="1181100" y="4114800"/>
            <a:ext cx="431800" cy="203200"/>
            <a:chOff x="1181100" y="4114800"/>
            <a:chExt cx="431800" cy="203200"/>
          </a:xfrm>
        </p:grpSpPr>
        <p:sp>
          <p:nvSpPr>
            <p:cNvPr id="45" name="node39.surface"/>
            <p:cNvSpPr/>
            <p:nvPr/>
          </p:nvSpPr>
          <p:spPr>
            <a:xfrm>
              <a:off x="1181100" y="4114800"/>
              <a:ext cx="431800" cy="203200"/>
            </a:xfrm>
            <a:prstGeom prst="rect">
              <a:avLst/>
            </a:prstGeom>
            <a:solidFill>
              <a:srgbClr val="0047FF"/>
            </a:solidFill>
            <a:ln>
              <a:noFill/>
            </a:ln>
          </p:spPr>
        </p:sp>
      </p:grpSp>
      <p:grpSp>
        <p:nvGrpSpPr>
          <p:cNvPr id="184" name="node40"/>
          <p:cNvGrpSpPr/>
          <p:nvPr/>
        </p:nvGrpSpPr>
        <p:grpSpPr>
          <a:xfrm>
            <a:off x="1638300" y="4114800"/>
            <a:ext cx="431800" cy="203200"/>
            <a:chOff x="1638300" y="4114800"/>
            <a:chExt cx="431800" cy="203200"/>
          </a:xfrm>
        </p:grpSpPr>
        <p:sp>
          <p:nvSpPr>
            <p:cNvPr id="46" name="node40.surface"/>
            <p:cNvSpPr/>
            <p:nvPr/>
          </p:nvSpPr>
          <p:spPr>
            <a:xfrm>
              <a:off x="1638300" y="4114800"/>
              <a:ext cx="431800" cy="203200"/>
            </a:xfrm>
            <a:prstGeom prst="rect">
              <a:avLst/>
            </a:prstGeom>
            <a:solidFill>
              <a:srgbClr val="0047FF"/>
            </a:solidFill>
            <a:ln>
              <a:noFill/>
            </a:ln>
          </p:spPr>
        </p:sp>
      </p:grpSp>
      <p:grpSp>
        <p:nvGrpSpPr>
          <p:cNvPr id="185" name="node41"/>
          <p:cNvGrpSpPr/>
          <p:nvPr/>
        </p:nvGrpSpPr>
        <p:grpSpPr>
          <a:xfrm>
            <a:off x="2095500" y="4114800"/>
            <a:ext cx="431800" cy="203200"/>
            <a:chOff x="2095500" y="4114800"/>
            <a:chExt cx="431800" cy="203200"/>
          </a:xfrm>
        </p:grpSpPr>
        <p:sp>
          <p:nvSpPr>
            <p:cNvPr id="47" name="node41.surface"/>
            <p:cNvSpPr/>
            <p:nvPr/>
          </p:nvSpPr>
          <p:spPr>
            <a:xfrm>
              <a:off x="2095500" y="4114800"/>
              <a:ext cx="431800" cy="203200"/>
            </a:xfrm>
            <a:prstGeom prst="rect">
              <a:avLst/>
            </a:prstGeom>
            <a:solidFill>
              <a:srgbClr val="7C9BFF"/>
            </a:solidFill>
            <a:ln>
              <a:noFill/>
            </a:ln>
          </p:spPr>
        </p:sp>
      </p:grpSp>
      <p:grpSp>
        <p:nvGrpSpPr>
          <p:cNvPr id="186" name="node42"/>
          <p:cNvGrpSpPr/>
          <p:nvPr/>
        </p:nvGrpSpPr>
        <p:grpSpPr>
          <a:xfrm>
            <a:off x="2552700" y="4114800"/>
            <a:ext cx="431800" cy="203200"/>
            <a:chOff x="2552700" y="4114800"/>
            <a:chExt cx="431800" cy="203200"/>
          </a:xfrm>
        </p:grpSpPr>
        <p:sp>
          <p:nvSpPr>
            <p:cNvPr id="48" name="node42.surface"/>
            <p:cNvSpPr/>
            <p:nvPr/>
          </p:nvSpPr>
          <p:spPr>
            <a:xfrm>
              <a:off x="2552700" y="4114800"/>
              <a:ext cx="431800" cy="203200"/>
            </a:xfrm>
            <a:prstGeom prst="rect">
              <a:avLst/>
            </a:prstGeom>
            <a:solidFill>
              <a:srgbClr val="0047FF"/>
            </a:solidFill>
            <a:ln>
              <a:noFill/>
            </a:ln>
          </p:spPr>
        </p:sp>
      </p:grpSp>
      <p:grpSp>
        <p:nvGrpSpPr>
          <p:cNvPr id="187" name="node43"/>
          <p:cNvGrpSpPr/>
          <p:nvPr/>
        </p:nvGrpSpPr>
        <p:grpSpPr>
          <a:xfrm>
            <a:off x="3009900" y="4114800"/>
            <a:ext cx="431800" cy="203200"/>
            <a:chOff x="3009900" y="4114800"/>
            <a:chExt cx="431800" cy="203200"/>
          </a:xfrm>
        </p:grpSpPr>
        <p:sp>
          <p:nvSpPr>
            <p:cNvPr id="49" name="node43.surface"/>
            <p:cNvSpPr/>
            <p:nvPr/>
          </p:nvSpPr>
          <p:spPr>
            <a:xfrm>
              <a:off x="3009900" y="4114800"/>
              <a:ext cx="431800" cy="203200"/>
            </a:xfrm>
            <a:prstGeom prst="rect">
              <a:avLst/>
            </a:prstGeom>
            <a:solidFill>
              <a:srgbClr val="7C9BFF"/>
            </a:solidFill>
            <a:ln>
              <a:noFill/>
            </a:ln>
          </p:spPr>
        </p:sp>
      </p:grpSp>
      <p:grpSp>
        <p:nvGrpSpPr>
          <p:cNvPr id="188" name="node44"/>
          <p:cNvGrpSpPr/>
          <p:nvPr/>
        </p:nvGrpSpPr>
        <p:grpSpPr>
          <a:xfrm>
            <a:off x="723900" y="4343400"/>
            <a:ext cx="457200" cy="190500"/>
            <a:chOff x="723900" y="4343400"/>
            <a:chExt cx="457200" cy="190500"/>
          </a:xfrm>
        </p:grpSpPr>
        <p:sp>
          <p:nvSpPr>
            <p:cNvPr id="50" name="node44.text"/>
            <p:cNvSpPr/>
            <p:nvPr/>
          </p:nvSpPr>
          <p:spPr>
            <a:xfrm>
              <a:off x="723900" y="43434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A8</a:t>
              </a:r>
              <a:endParaRPr lang="en-US" sz="1100" spc="0" kern="0" b="0" i="0" dirty="0">
                <a:solidFill>
                  <a:srgbClr val="070154"/>
                </a:solidFill>
                <a:latin typeface="IBM Plex Sans"/>
                <a:ea typeface="IBM Plex Sans"/>
                <a:cs typeface="IBM Plex Sans"/>
              </a:endParaRPr>
            </a:p>
          </p:txBody>
        </p:sp>
      </p:grpSp>
      <p:grpSp>
        <p:nvGrpSpPr>
          <p:cNvPr id="189" name="node45"/>
          <p:cNvGrpSpPr/>
          <p:nvPr/>
        </p:nvGrpSpPr>
        <p:grpSpPr>
          <a:xfrm>
            <a:off x="1181100" y="4343400"/>
            <a:ext cx="431800" cy="203200"/>
            <a:chOff x="1181100" y="4343400"/>
            <a:chExt cx="431800" cy="203200"/>
          </a:xfrm>
        </p:grpSpPr>
        <p:sp>
          <p:nvSpPr>
            <p:cNvPr id="51" name="node45.surface"/>
            <p:cNvSpPr/>
            <p:nvPr/>
          </p:nvSpPr>
          <p:spPr>
            <a:xfrm>
              <a:off x="1181100" y="4343400"/>
              <a:ext cx="431800" cy="203200"/>
            </a:xfrm>
            <a:prstGeom prst="rect">
              <a:avLst/>
            </a:prstGeom>
            <a:solidFill>
              <a:srgbClr val="B9C9F0"/>
            </a:solidFill>
            <a:ln>
              <a:noFill/>
            </a:ln>
          </p:spPr>
        </p:sp>
      </p:grpSp>
      <p:grpSp>
        <p:nvGrpSpPr>
          <p:cNvPr id="190" name="node46"/>
          <p:cNvGrpSpPr/>
          <p:nvPr/>
        </p:nvGrpSpPr>
        <p:grpSpPr>
          <a:xfrm>
            <a:off x="1638300" y="4343400"/>
            <a:ext cx="431800" cy="203200"/>
            <a:chOff x="1638300" y="4343400"/>
            <a:chExt cx="431800" cy="203200"/>
          </a:xfrm>
        </p:grpSpPr>
        <p:sp>
          <p:nvSpPr>
            <p:cNvPr id="52" name="node46.surface"/>
            <p:cNvSpPr/>
            <p:nvPr/>
          </p:nvSpPr>
          <p:spPr>
            <a:xfrm>
              <a:off x="1638300" y="4343400"/>
              <a:ext cx="431800" cy="203200"/>
            </a:xfrm>
            <a:prstGeom prst="rect">
              <a:avLst/>
            </a:prstGeom>
            <a:solidFill>
              <a:srgbClr val="B9C9F0"/>
            </a:solidFill>
            <a:ln>
              <a:noFill/>
            </a:ln>
          </p:spPr>
        </p:sp>
      </p:grpSp>
      <p:grpSp>
        <p:nvGrpSpPr>
          <p:cNvPr id="191" name="node47"/>
          <p:cNvGrpSpPr/>
          <p:nvPr/>
        </p:nvGrpSpPr>
        <p:grpSpPr>
          <a:xfrm>
            <a:off x="2095500" y="4343400"/>
            <a:ext cx="431800" cy="203200"/>
            <a:chOff x="2095500" y="4343400"/>
            <a:chExt cx="431800" cy="203200"/>
          </a:xfrm>
        </p:grpSpPr>
        <p:sp>
          <p:nvSpPr>
            <p:cNvPr id="53" name="node47.surface"/>
            <p:cNvSpPr/>
            <p:nvPr/>
          </p:nvSpPr>
          <p:spPr>
            <a:xfrm>
              <a:off x="2095500" y="4343400"/>
              <a:ext cx="431800" cy="203200"/>
            </a:xfrm>
            <a:prstGeom prst="rect">
              <a:avLst/>
            </a:prstGeom>
            <a:solidFill>
              <a:srgbClr val="E8EEF8"/>
            </a:solidFill>
            <a:ln>
              <a:noFill/>
            </a:ln>
          </p:spPr>
        </p:sp>
      </p:grpSp>
      <p:grpSp>
        <p:nvGrpSpPr>
          <p:cNvPr id="192" name="node48"/>
          <p:cNvGrpSpPr/>
          <p:nvPr/>
        </p:nvGrpSpPr>
        <p:grpSpPr>
          <a:xfrm>
            <a:off x="2552700" y="4343400"/>
            <a:ext cx="431800" cy="203200"/>
            <a:chOff x="2552700" y="4343400"/>
            <a:chExt cx="431800" cy="203200"/>
          </a:xfrm>
        </p:grpSpPr>
        <p:sp>
          <p:nvSpPr>
            <p:cNvPr id="54" name="node48.surface"/>
            <p:cNvSpPr/>
            <p:nvPr/>
          </p:nvSpPr>
          <p:spPr>
            <a:xfrm>
              <a:off x="2552700" y="4343400"/>
              <a:ext cx="431800" cy="203200"/>
            </a:xfrm>
            <a:prstGeom prst="rect">
              <a:avLst/>
            </a:prstGeom>
            <a:solidFill>
              <a:srgbClr val="7C9BFF"/>
            </a:solidFill>
            <a:ln>
              <a:noFill/>
            </a:ln>
          </p:spPr>
        </p:sp>
      </p:grpSp>
      <p:grpSp>
        <p:nvGrpSpPr>
          <p:cNvPr id="193" name="node49"/>
          <p:cNvGrpSpPr/>
          <p:nvPr/>
        </p:nvGrpSpPr>
        <p:grpSpPr>
          <a:xfrm>
            <a:off x="3009900" y="4343400"/>
            <a:ext cx="431800" cy="203200"/>
            <a:chOff x="3009900" y="4343400"/>
            <a:chExt cx="431800" cy="203200"/>
          </a:xfrm>
        </p:grpSpPr>
        <p:sp>
          <p:nvSpPr>
            <p:cNvPr id="55" name="node49.surface"/>
            <p:cNvSpPr/>
            <p:nvPr/>
          </p:nvSpPr>
          <p:spPr>
            <a:xfrm>
              <a:off x="3009900" y="4343400"/>
              <a:ext cx="431800" cy="203200"/>
            </a:xfrm>
            <a:prstGeom prst="rect">
              <a:avLst/>
            </a:prstGeom>
            <a:solidFill>
              <a:srgbClr val="B9C9F0"/>
            </a:solidFill>
            <a:ln>
              <a:noFill/>
            </a:ln>
          </p:spPr>
        </p:sp>
      </p:grpSp>
      <p:grpSp>
        <p:nvGrpSpPr>
          <p:cNvPr id="194" name="node50"/>
          <p:cNvGrpSpPr/>
          <p:nvPr/>
        </p:nvGrpSpPr>
        <p:grpSpPr>
          <a:xfrm>
            <a:off x="723900" y="4572000"/>
            <a:ext cx="457200" cy="190500"/>
            <a:chOff x="723900" y="4572000"/>
            <a:chExt cx="457200" cy="190500"/>
          </a:xfrm>
        </p:grpSpPr>
        <p:sp>
          <p:nvSpPr>
            <p:cNvPr id="56" name="node50.text"/>
            <p:cNvSpPr/>
            <p:nvPr/>
          </p:nvSpPr>
          <p:spPr>
            <a:xfrm>
              <a:off x="723900" y="45720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A9</a:t>
              </a:r>
              <a:endParaRPr lang="en-US" sz="1100" spc="0" kern="0" b="0" i="0" dirty="0">
                <a:solidFill>
                  <a:srgbClr val="070154"/>
                </a:solidFill>
                <a:latin typeface="IBM Plex Sans"/>
                <a:ea typeface="IBM Plex Sans"/>
                <a:cs typeface="IBM Plex Sans"/>
              </a:endParaRPr>
            </a:p>
          </p:txBody>
        </p:sp>
      </p:grpSp>
      <p:grpSp>
        <p:nvGrpSpPr>
          <p:cNvPr id="195" name="node51"/>
          <p:cNvGrpSpPr/>
          <p:nvPr/>
        </p:nvGrpSpPr>
        <p:grpSpPr>
          <a:xfrm>
            <a:off x="1181100" y="4572000"/>
            <a:ext cx="431800" cy="203200"/>
            <a:chOff x="1181100" y="4572000"/>
            <a:chExt cx="431800" cy="203200"/>
          </a:xfrm>
        </p:grpSpPr>
        <p:sp>
          <p:nvSpPr>
            <p:cNvPr id="57" name="node51.surface"/>
            <p:cNvSpPr/>
            <p:nvPr/>
          </p:nvSpPr>
          <p:spPr>
            <a:xfrm>
              <a:off x="1181100" y="4572000"/>
              <a:ext cx="431800" cy="203200"/>
            </a:xfrm>
            <a:prstGeom prst="rect">
              <a:avLst/>
            </a:prstGeom>
            <a:solidFill>
              <a:srgbClr val="7C9BFF"/>
            </a:solidFill>
            <a:ln>
              <a:noFill/>
            </a:ln>
          </p:spPr>
        </p:sp>
      </p:grpSp>
      <p:grpSp>
        <p:nvGrpSpPr>
          <p:cNvPr id="196" name="node52"/>
          <p:cNvGrpSpPr/>
          <p:nvPr/>
        </p:nvGrpSpPr>
        <p:grpSpPr>
          <a:xfrm>
            <a:off x="1638300" y="4572000"/>
            <a:ext cx="431800" cy="203200"/>
            <a:chOff x="1638300" y="4572000"/>
            <a:chExt cx="431800" cy="203200"/>
          </a:xfrm>
        </p:grpSpPr>
        <p:sp>
          <p:nvSpPr>
            <p:cNvPr id="58" name="node52.surface"/>
            <p:cNvSpPr/>
            <p:nvPr/>
          </p:nvSpPr>
          <p:spPr>
            <a:xfrm>
              <a:off x="1638300" y="4572000"/>
              <a:ext cx="431800" cy="203200"/>
            </a:xfrm>
            <a:prstGeom prst="rect">
              <a:avLst/>
            </a:prstGeom>
            <a:solidFill>
              <a:srgbClr val="B9C9F0"/>
            </a:solidFill>
            <a:ln>
              <a:noFill/>
            </a:ln>
          </p:spPr>
        </p:sp>
      </p:grpSp>
      <p:grpSp>
        <p:nvGrpSpPr>
          <p:cNvPr id="197" name="node53"/>
          <p:cNvGrpSpPr/>
          <p:nvPr/>
        </p:nvGrpSpPr>
        <p:grpSpPr>
          <a:xfrm>
            <a:off x="2095500" y="4572000"/>
            <a:ext cx="431800" cy="203200"/>
            <a:chOff x="2095500" y="4572000"/>
            <a:chExt cx="431800" cy="203200"/>
          </a:xfrm>
        </p:grpSpPr>
        <p:sp>
          <p:nvSpPr>
            <p:cNvPr id="59" name="node53.surface"/>
            <p:cNvSpPr/>
            <p:nvPr/>
          </p:nvSpPr>
          <p:spPr>
            <a:xfrm>
              <a:off x="2095500" y="4572000"/>
              <a:ext cx="431800" cy="203200"/>
            </a:xfrm>
            <a:prstGeom prst="rect">
              <a:avLst/>
            </a:prstGeom>
            <a:solidFill>
              <a:srgbClr val="B9C9F0"/>
            </a:solidFill>
            <a:ln>
              <a:noFill/>
            </a:ln>
          </p:spPr>
        </p:sp>
      </p:grpSp>
      <p:grpSp>
        <p:nvGrpSpPr>
          <p:cNvPr id="198" name="node54"/>
          <p:cNvGrpSpPr/>
          <p:nvPr/>
        </p:nvGrpSpPr>
        <p:grpSpPr>
          <a:xfrm>
            <a:off x="2552700" y="4572000"/>
            <a:ext cx="431800" cy="203200"/>
            <a:chOff x="2552700" y="4572000"/>
            <a:chExt cx="431800" cy="203200"/>
          </a:xfrm>
        </p:grpSpPr>
        <p:sp>
          <p:nvSpPr>
            <p:cNvPr id="60" name="node54.surface"/>
            <p:cNvSpPr/>
            <p:nvPr/>
          </p:nvSpPr>
          <p:spPr>
            <a:xfrm>
              <a:off x="2552700" y="4572000"/>
              <a:ext cx="431800" cy="203200"/>
            </a:xfrm>
            <a:prstGeom prst="rect">
              <a:avLst/>
            </a:prstGeom>
            <a:solidFill>
              <a:srgbClr val="B9C9F0"/>
            </a:solidFill>
            <a:ln>
              <a:noFill/>
            </a:ln>
          </p:spPr>
        </p:sp>
      </p:grpSp>
      <p:grpSp>
        <p:nvGrpSpPr>
          <p:cNvPr id="199" name="node55"/>
          <p:cNvGrpSpPr/>
          <p:nvPr/>
        </p:nvGrpSpPr>
        <p:grpSpPr>
          <a:xfrm>
            <a:off x="3009900" y="4572000"/>
            <a:ext cx="431800" cy="203200"/>
            <a:chOff x="3009900" y="4572000"/>
            <a:chExt cx="431800" cy="203200"/>
          </a:xfrm>
        </p:grpSpPr>
        <p:sp>
          <p:nvSpPr>
            <p:cNvPr id="61" name="node55.surface"/>
            <p:cNvSpPr/>
            <p:nvPr/>
          </p:nvSpPr>
          <p:spPr>
            <a:xfrm>
              <a:off x="3009900" y="4572000"/>
              <a:ext cx="431800" cy="203200"/>
            </a:xfrm>
            <a:prstGeom prst="rect">
              <a:avLst/>
            </a:prstGeom>
            <a:solidFill>
              <a:srgbClr val="7C9BFF"/>
            </a:solidFill>
            <a:ln>
              <a:noFill/>
            </a:ln>
          </p:spPr>
        </p:sp>
      </p:grpSp>
      <p:grpSp>
        <p:nvGrpSpPr>
          <p:cNvPr id="200" name="node56"/>
          <p:cNvGrpSpPr/>
          <p:nvPr/>
        </p:nvGrpSpPr>
        <p:grpSpPr>
          <a:xfrm>
            <a:off x="1181100" y="4114800"/>
            <a:ext cx="2286000" cy="25400"/>
            <a:chOff x="1181100" y="4114800"/>
            <a:chExt cx="2286000" cy="25400"/>
          </a:xfrm>
        </p:grpSpPr>
        <p:sp>
          <p:nvSpPr>
            <p:cNvPr id="62" name="node56.surface"/>
            <p:cNvSpPr/>
            <p:nvPr/>
          </p:nvSpPr>
          <p:spPr>
            <a:xfrm>
              <a:off x="1181100" y="4114800"/>
              <a:ext cx="2286000" cy="25400"/>
            </a:xfrm>
            <a:prstGeom prst="rect">
              <a:avLst/>
            </a:prstGeom>
            <a:solidFill>
              <a:srgbClr val="05013F"/>
            </a:solidFill>
            <a:ln>
              <a:noFill/>
            </a:ln>
          </p:spPr>
        </p:sp>
      </p:grpSp>
      <p:grpSp>
        <p:nvGrpSpPr>
          <p:cNvPr id="201" name="node57"/>
          <p:cNvGrpSpPr/>
          <p:nvPr/>
        </p:nvGrpSpPr>
        <p:grpSpPr>
          <a:xfrm>
            <a:off x="1181100" y="4800600"/>
            <a:ext cx="2286000" cy="25400"/>
            <a:chOff x="1181100" y="4800600"/>
            <a:chExt cx="2286000" cy="25400"/>
          </a:xfrm>
        </p:grpSpPr>
        <p:sp>
          <p:nvSpPr>
            <p:cNvPr id="63" name="node57.surface"/>
            <p:cNvSpPr/>
            <p:nvPr/>
          </p:nvSpPr>
          <p:spPr>
            <a:xfrm>
              <a:off x="1181100" y="4800600"/>
              <a:ext cx="2286000" cy="25400"/>
            </a:xfrm>
            <a:prstGeom prst="rect">
              <a:avLst/>
            </a:prstGeom>
            <a:solidFill>
              <a:srgbClr val="05013F"/>
            </a:solidFill>
            <a:ln>
              <a:noFill/>
            </a:ln>
          </p:spPr>
        </p:sp>
      </p:grpSp>
      <p:grpSp>
        <p:nvGrpSpPr>
          <p:cNvPr id="202" name="node58"/>
          <p:cNvGrpSpPr/>
          <p:nvPr/>
        </p:nvGrpSpPr>
        <p:grpSpPr>
          <a:xfrm>
            <a:off x="1181100" y="4114800"/>
            <a:ext cx="25400" cy="685800"/>
            <a:chOff x="1181100" y="4114800"/>
            <a:chExt cx="25400" cy="685800"/>
          </a:xfrm>
        </p:grpSpPr>
        <p:sp>
          <p:nvSpPr>
            <p:cNvPr id="64" name="node58.surface"/>
            <p:cNvSpPr/>
            <p:nvPr/>
          </p:nvSpPr>
          <p:spPr>
            <a:xfrm>
              <a:off x="1181100" y="4114800"/>
              <a:ext cx="25400" cy="685800"/>
            </a:xfrm>
            <a:prstGeom prst="rect">
              <a:avLst/>
            </a:prstGeom>
            <a:solidFill>
              <a:srgbClr val="05013F"/>
            </a:solidFill>
            <a:ln>
              <a:noFill/>
            </a:ln>
          </p:spPr>
        </p:sp>
      </p:grpSp>
      <p:grpSp>
        <p:nvGrpSpPr>
          <p:cNvPr id="203" name="node59"/>
          <p:cNvGrpSpPr/>
          <p:nvPr/>
        </p:nvGrpSpPr>
        <p:grpSpPr>
          <a:xfrm>
            <a:off x="3467100" y="4114800"/>
            <a:ext cx="25400" cy="711200"/>
            <a:chOff x="3467100" y="4114800"/>
            <a:chExt cx="25400" cy="711200"/>
          </a:xfrm>
        </p:grpSpPr>
        <p:sp>
          <p:nvSpPr>
            <p:cNvPr id="65" name="node59.surface"/>
            <p:cNvSpPr/>
            <p:nvPr/>
          </p:nvSpPr>
          <p:spPr>
            <a:xfrm>
              <a:off x="3467100" y="4114800"/>
              <a:ext cx="25400" cy="711200"/>
            </a:xfrm>
            <a:prstGeom prst="rect">
              <a:avLst/>
            </a:prstGeom>
            <a:solidFill>
              <a:srgbClr val="05013F"/>
            </a:solidFill>
            <a:ln>
              <a:noFill/>
            </a:ln>
          </p:spPr>
        </p:sp>
      </p:grpSp>
      <p:grpSp>
        <p:nvGrpSpPr>
          <p:cNvPr id="204" name="node60"/>
          <p:cNvGrpSpPr/>
          <p:nvPr/>
        </p:nvGrpSpPr>
        <p:grpSpPr>
          <a:xfrm>
            <a:off x="723900" y="5486400"/>
            <a:ext cx="2222500" cy="190500"/>
            <a:chOff x="723900" y="5486400"/>
            <a:chExt cx="2222500" cy="190500"/>
          </a:xfrm>
        </p:grpSpPr>
        <p:sp>
          <p:nvSpPr>
            <p:cNvPr id="66" name="node60.items.slot-001.swatch"/>
            <p:cNvSpPr/>
            <p:nvPr/>
          </p:nvSpPr>
          <p:spPr>
            <a:xfrm>
              <a:off x="723900" y="5518150"/>
              <a:ext cx="228600" cy="127000"/>
            </a:xfrm>
            <a:prstGeom prst="rect">
              <a:avLst/>
            </a:prstGeom>
            <a:solidFill>
              <a:srgbClr val="E8EEF8"/>
            </a:solidFill>
            <a:ln>
              <a:noFill/>
            </a:ln>
          </p:spPr>
        </p:sp>
        <p:sp>
          <p:nvSpPr>
            <p:cNvPr id="67" name="node60.items.slot-001.text"/>
            <p:cNvSpPr/>
            <p:nvPr/>
          </p:nvSpPr>
          <p:spPr>
            <a:xfrm>
              <a:off x="1016000" y="5486400"/>
              <a:ext cx="5984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 Ad hoc</a:t>
              </a:r>
              <a:endParaRPr lang="en-US" sz="1100" spc="0" kern="0" b="0" i="0" dirty="0">
                <a:solidFill>
                  <a:srgbClr val="070154"/>
                </a:solidFill>
                <a:latin typeface="IBM Plex Sans"/>
                <a:ea typeface="IBM Plex Sans"/>
                <a:cs typeface="IBM Plex Sans"/>
              </a:endParaRPr>
            </a:p>
          </p:txBody>
        </p:sp>
        <p:sp>
          <p:nvSpPr>
            <p:cNvPr id="68" name="node60.items.slot-002.swatch"/>
            <p:cNvSpPr/>
            <p:nvPr/>
          </p:nvSpPr>
          <p:spPr>
            <a:xfrm>
              <a:off x="1843088" y="5518150"/>
              <a:ext cx="228600" cy="127000"/>
            </a:xfrm>
            <a:prstGeom prst="rect">
              <a:avLst/>
            </a:prstGeom>
            <a:solidFill>
              <a:srgbClr val="070154"/>
            </a:solidFill>
            <a:ln>
              <a:noFill/>
            </a:ln>
          </p:spPr>
        </p:sp>
        <p:sp>
          <p:nvSpPr>
            <p:cNvPr id="69" name="node60.items.slot-002.text"/>
            <p:cNvSpPr/>
            <p:nvPr/>
          </p:nvSpPr>
          <p:spPr>
            <a:xfrm>
              <a:off x="2135188" y="5486400"/>
              <a:ext cx="81121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5 Optimized</a:t>
              </a:r>
              <a:endParaRPr lang="en-US" sz="1100" spc="0" kern="0" b="0" i="0" dirty="0">
                <a:solidFill>
                  <a:srgbClr val="070154"/>
                </a:solidFill>
                <a:latin typeface="IBM Plex Sans"/>
                <a:ea typeface="IBM Plex Sans"/>
                <a:cs typeface="IBM Plex Sans"/>
              </a:endParaRPr>
            </a:p>
          </p:txBody>
        </p:sp>
      </p:grpSp>
      <p:grpSp>
        <p:nvGrpSpPr>
          <p:cNvPr id="205" name="node61"/>
          <p:cNvGrpSpPr/>
          <p:nvPr/>
        </p:nvGrpSpPr>
        <p:grpSpPr>
          <a:xfrm>
            <a:off x="4381500" y="457200"/>
            <a:ext cx="7086600" cy="1600200"/>
            <a:chOff x="4381500" y="457200"/>
            <a:chExt cx="7086600" cy="1600200"/>
          </a:xfrm>
        </p:grpSpPr>
        <p:sp>
          <p:nvSpPr>
            <p:cNvPr id="70" name="node61.surface"/>
            <p:cNvSpPr/>
            <p:nvPr/>
          </p:nvSpPr>
          <p:spPr>
            <a:xfrm>
              <a:off x="4387850" y="463550"/>
              <a:ext cx="7073900" cy="1587500"/>
            </a:xfrm>
            <a:prstGeom prst="rect">
              <a:avLst/>
            </a:prstGeom>
            <a:solidFill>
              <a:srgbClr val="FFFFFF"/>
            </a:solidFill>
            <a:ln w="12700">
              <a:solidFill>
                <a:srgbClr val="CED7E6"/>
              </a:solidFill>
              <a:prstDash val="solid"/>
            </a:ln>
          </p:spPr>
        </p:sp>
      </p:grpSp>
      <p:grpSp>
        <p:nvGrpSpPr>
          <p:cNvPr id="206" name="node62"/>
          <p:cNvGrpSpPr/>
          <p:nvPr/>
        </p:nvGrpSpPr>
        <p:grpSpPr>
          <a:xfrm>
            <a:off x="4610100" y="685800"/>
            <a:ext cx="609600" cy="381000"/>
            <a:chOff x="4610100" y="685800"/>
            <a:chExt cx="609600" cy="381000"/>
          </a:xfrm>
        </p:grpSpPr>
        <p:sp>
          <p:nvSpPr>
            <p:cNvPr id="71" name="node62.surface"/>
            <p:cNvSpPr/>
            <p:nvPr/>
          </p:nvSpPr>
          <p:spPr>
            <a:xfrm>
              <a:off x="4610100" y="685800"/>
              <a:ext cx="609600" cy="381000"/>
            </a:xfrm>
            <a:prstGeom prst="rect">
              <a:avLst/>
            </a:prstGeom>
            <a:solidFill>
              <a:srgbClr val="05013F"/>
            </a:solidFill>
            <a:ln>
              <a:noFill/>
            </a:ln>
          </p:spPr>
        </p:sp>
        <p:sp>
          <p:nvSpPr>
            <p:cNvPr id="72" name="node62.text"/>
            <p:cNvSpPr/>
            <p:nvPr/>
          </p:nvSpPr>
          <p:spPr>
            <a:xfrm>
              <a:off x="4762500" y="768350"/>
              <a:ext cx="304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A7</a:t>
              </a:r>
              <a:endParaRPr lang="en-US" sz="1200" spc="0" kern="0" b="0" i="0" dirty="0">
                <a:solidFill>
                  <a:srgbClr val="FFFFFF"/>
                </a:solidFill>
                <a:latin typeface="IBM Plex Sans"/>
                <a:ea typeface="IBM Plex Sans"/>
                <a:cs typeface="IBM Plex Sans"/>
              </a:endParaRPr>
            </a:p>
          </p:txBody>
        </p:sp>
      </p:grpSp>
      <p:grpSp>
        <p:nvGrpSpPr>
          <p:cNvPr id="207" name="node63"/>
          <p:cNvGrpSpPr/>
          <p:nvPr/>
        </p:nvGrpSpPr>
        <p:grpSpPr>
          <a:xfrm>
            <a:off x="5372100" y="698500"/>
            <a:ext cx="2743200" cy="266700"/>
            <a:chOff x="5372100" y="698500"/>
            <a:chExt cx="2743200" cy="266700"/>
          </a:xfrm>
        </p:grpSpPr>
        <p:sp>
          <p:nvSpPr>
            <p:cNvPr id="73" name="node63.text"/>
            <p:cNvSpPr/>
            <p:nvPr/>
          </p:nvSpPr>
          <p:spPr>
            <a:xfrm>
              <a:off x="5372100" y="698500"/>
              <a:ext cx="2743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Clinical documentation</a:t>
              </a:r>
              <a:endParaRPr lang="en-US" sz="1600" spc="-16" kern="0" b="0" i="0" dirty="0">
                <a:solidFill>
                  <a:srgbClr val="070154"/>
                </a:solidFill>
                <a:latin typeface="IBM Plex Sans SemiBold"/>
                <a:ea typeface="IBM Plex Sans SemiBold"/>
                <a:cs typeface="IBM Plex Sans SemiBold"/>
              </a:endParaRPr>
            </a:p>
          </p:txBody>
        </p:sp>
      </p:grpSp>
      <p:grpSp>
        <p:nvGrpSpPr>
          <p:cNvPr id="208" name="node64"/>
          <p:cNvGrpSpPr/>
          <p:nvPr/>
        </p:nvGrpSpPr>
        <p:grpSpPr>
          <a:xfrm>
            <a:off x="4610100" y="1117600"/>
            <a:ext cx="457200" cy="139700"/>
            <a:chOff x="4610100" y="1117600"/>
            <a:chExt cx="457200" cy="139700"/>
          </a:xfrm>
        </p:grpSpPr>
        <p:sp>
          <p:nvSpPr>
            <p:cNvPr id="74" name="node64.text"/>
            <p:cNvSpPr/>
            <p:nvPr/>
          </p:nvSpPr>
          <p:spPr>
            <a:xfrm>
              <a:off x="4610100" y="11176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PRO</a:t>
              </a:r>
              <a:endParaRPr lang="en-US" sz="800" spc="48" kern="0" b="0" i="0" dirty="0">
                <a:solidFill>
                  <a:srgbClr val="070154"/>
                </a:solidFill>
                <a:latin typeface="IBM Plex Mono Medium"/>
                <a:ea typeface="IBM Plex Mono Medium"/>
                <a:cs typeface="IBM Plex Mono Medium"/>
              </a:endParaRPr>
            </a:p>
          </p:txBody>
        </p:sp>
      </p:grpSp>
      <p:grpSp>
        <p:nvGrpSpPr>
          <p:cNvPr id="209" name="node65"/>
          <p:cNvGrpSpPr/>
          <p:nvPr/>
        </p:nvGrpSpPr>
        <p:grpSpPr>
          <a:xfrm>
            <a:off x="4610100" y="1371600"/>
            <a:ext cx="431800" cy="381000"/>
            <a:chOff x="4610100" y="1371600"/>
            <a:chExt cx="431800" cy="381000"/>
          </a:xfrm>
        </p:grpSpPr>
        <p:sp>
          <p:nvSpPr>
            <p:cNvPr id="75" name="node65.surface"/>
            <p:cNvSpPr/>
            <p:nvPr/>
          </p:nvSpPr>
          <p:spPr>
            <a:xfrm>
              <a:off x="4610100" y="1371600"/>
              <a:ext cx="431800" cy="381000"/>
            </a:xfrm>
            <a:prstGeom prst="rect">
              <a:avLst/>
            </a:prstGeom>
            <a:solidFill>
              <a:srgbClr val="0047FF"/>
            </a:solidFill>
            <a:ln>
              <a:noFill/>
            </a:ln>
          </p:spPr>
        </p:sp>
        <p:sp>
          <p:nvSpPr>
            <p:cNvPr id="76" name="node65.text"/>
            <p:cNvSpPr/>
            <p:nvPr/>
          </p:nvSpPr>
          <p:spPr>
            <a:xfrm>
              <a:off x="4682067" y="1466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4</a:t>
              </a:r>
              <a:endParaRPr lang="en-US" sz="1100" spc="0" kern="0" b="0" i="0" dirty="0">
                <a:solidFill>
                  <a:srgbClr val="FFFFFF"/>
                </a:solidFill>
                <a:latin typeface="IBM Plex Sans"/>
                <a:ea typeface="IBM Plex Sans"/>
                <a:cs typeface="IBM Plex Sans"/>
              </a:endParaRPr>
            </a:p>
          </p:txBody>
        </p:sp>
      </p:grpSp>
      <p:grpSp>
        <p:nvGrpSpPr>
          <p:cNvPr id="210" name="node66"/>
          <p:cNvGrpSpPr/>
          <p:nvPr/>
        </p:nvGrpSpPr>
        <p:grpSpPr>
          <a:xfrm>
            <a:off x="5067300" y="1117600"/>
            <a:ext cx="457200" cy="139700"/>
            <a:chOff x="5067300" y="1117600"/>
            <a:chExt cx="457200" cy="139700"/>
          </a:xfrm>
        </p:grpSpPr>
        <p:sp>
          <p:nvSpPr>
            <p:cNvPr id="77" name="node66.text"/>
            <p:cNvSpPr/>
            <p:nvPr/>
          </p:nvSpPr>
          <p:spPr>
            <a:xfrm>
              <a:off x="5067300" y="11176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TEC</a:t>
              </a:r>
              <a:endParaRPr lang="en-US" sz="800" spc="48" kern="0" b="0" i="0" dirty="0">
                <a:solidFill>
                  <a:srgbClr val="070154"/>
                </a:solidFill>
                <a:latin typeface="IBM Plex Mono Medium"/>
                <a:ea typeface="IBM Plex Mono Medium"/>
                <a:cs typeface="IBM Plex Mono Medium"/>
              </a:endParaRPr>
            </a:p>
          </p:txBody>
        </p:sp>
      </p:grpSp>
      <p:grpSp>
        <p:nvGrpSpPr>
          <p:cNvPr id="211" name="node67"/>
          <p:cNvGrpSpPr/>
          <p:nvPr/>
        </p:nvGrpSpPr>
        <p:grpSpPr>
          <a:xfrm>
            <a:off x="5067300" y="1371600"/>
            <a:ext cx="431800" cy="381000"/>
            <a:chOff x="5067300" y="1371600"/>
            <a:chExt cx="431800" cy="381000"/>
          </a:xfrm>
        </p:grpSpPr>
        <p:sp>
          <p:nvSpPr>
            <p:cNvPr id="78" name="node67.surface"/>
            <p:cNvSpPr/>
            <p:nvPr/>
          </p:nvSpPr>
          <p:spPr>
            <a:xfrm>
              <a:off x="5067300" y="1371600"/>
              <a:ext cx="431800" cy="381000"/>
            </a:xfrm>
            <a:prstGeom prst="rect">
              <a:avLst/>
            </a:prstGeom>
            <a:solidFill>
              <a:srgbClr val="0047FF"/>
            </a:solidFill>
            <a:ln>
              <a:noFill/>
            </a:ln>
          </p:spPr>
        </p:sp>
        <p:sp>
          <p:nvSpPr>
            <p:cNvPr id="79" name="node67.text"/>
            <p:cNvSpPr/>
            <p:nvPr/>
          </p:nvSpPr>
          <p:spPr>
            <a:xfrm>
              <a:off x="5139267" y="1466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4</a:t>
              </a:r>
              <a:endParaRPr lang="en-US" sz="1100" spc="0" kern="0" b="0" i="0" dirty="0">
                <a:solidFill>
                  <a:srgbClr val="FFFFFF"/>
                </a:solidFill>
                <a:latin typeface="IBM Plex Sans"/>
                <a:ea typeface="IBM Plex Sans"/>
                <a:cs typeface="IBM Plex Sans"/>
              </a:endParaRPr>
            </a:p>
          </p:txBody>
        </p:sp>
      </p:grpSp>
      <p:grpSp>
        <p:nvGrpSpPr>
          <p:cNvPr id="212" name="node68"/>
          <p:cNvGrpSpPr/>
          <p:nvPr/>
        </p:nvGrpSpPr>
        <p:grpSpPr>
          <a:xfrm>
            <a:off x="5524500" y="1117600"/>
            <a:ext cx="457200" cy="139700"/>
            <a:chOff x="5524500" y="1117600"/>
            <a:chExt cx="457200" cy="139700"/>
          </a:xfrm>
        </p:grpSpPr>
        <p:sp>
          <p:nvSpPr>
            <p:cNvPr id="80" name="node68.text"/>
            <p:cNvSpPr/>
            <p:nvPr/>
          </p:nvSpPr>
          <p:spPr>
            <a:xfrm>
              <a:off x="5524500" y="11176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DAT</a:t>
              </a:r>
              <a:endParaRPr lang="en-US" sz="800" spc="48" kern="0" b="0" i="0" dirty="0">
                <a:solidFill>
                  <a:srgbClr val="070154"/>
                </a:solidFill>
                <a:latin typeface="IBM Plex Mono Medium"/>
                <a:ea typeface="IBM Plex Mono Medium"/>
                <a:cs typeface="IBM Plex Mono Medium"/>
              </a:endParaRPr>
            </a:p>
          </p:txBody>
        </p:sp>
      </p:grpSp>
      <p:grpSp>
        <p:nvGrpSpPr>
          <p:cNvPr id="213" name="node69"/>
          <p:cNvGrpSpPr/>
          <p:nvPr/>
        </p:nvGrpSpPr>
        <p:grpSpPr>
          <a:xfrm>
            <a:off x="5524500" y="1371600"/>
            <a:ext cx="431800" cy="381000"/>
            <a:chOff x="5524500" y="1371600"/>
            <a:chExt cx="431800" cy="381000"/>
          </a:xfrm>
        </p:grpSpPr>
        <p:sp>
          <p:nvSpPr>
            <p:cNvPr id="81" name="node69.surface"/>
            <p:cNvSpPr/>
            <p:nvPr/>
          </p:nvSpPr>
          <p:spPr>
            <a:xfrm>
              <a:off x="5524500" y="1371600"/>
              <a:ext cx="431800" cy="381000"/>
            </a:xfrm>
            <a:prstGeom prst="rect">
              <a:avLst/>
            </a:prstGeom>
            <a:solidFill>
              <a:srgbClr val="7C9BFF"/>
            </a:solidFill>
            <a:ln>
              <a:noFill/>
            </a:ln>
          </p:spPr>
        </p:sp>
        <p:sp>
          <p:nvSpPr>
            <p:cNvPr id="82" name="node69.text"/>
            <p:cNvSpPr/>
            <p:nvPr/>
          </p:nvSpPr>
          <p:spPr>
            <a:xfrm>
              <a:off x="5596467" y="1466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214" name="node70"/>
          <p:cNvGrpSpPr/>
          <p:nvPr/>
        </p:nvGrpSpPr>
        <p:grpSpPr>
          <a:xfrm>
            <a:off x="5981700" y="1117600"/>
            <a:ext cx="457200" cy="139700"/>
            <a:chOff x="5981700" y="1117600"/>
            <a:chExt cx="457200" cy="139700"/>
          </a:xfrm>
        </p:grpSpPr>
        <p:sp>
          <p:nvSpPr>
            <p:cNvPr id="83" name="node70.text"/>
            <p:cNvSpPr/>
            <p:nvPr/>
          </p:nvSpPr>
          <p:spPr>
            <a:xfrm>
              <a:off x="5981700" y="11176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PPL</a:t>
              </a:r>
              <a:endParaRPr lang="en-US" sz="800" spc="48" kern="0" b="0" i="0" dirty="0">
                <a:solidFill>
                  <a:srgbClr val="070154"/>
                </a:solidFill>
                <a:latin typeface="IBM Plex Mono Medium"/>
                <a:ea typeface="IBM Plex Mono Medium"/>
                <a:cs typeface="IBM Plex Mono Medium"/>
              </a:endParaRPr>
            </a:p>
          </p:txBody>
        </p:sp>
      </p:grpSp>
      <p:grpSp>
        <p:nvGrpSpPr>
          <p:cNvPr id="215" name="node71"/>
          <p:cNvGrpSpPr/>
          <p:nvPr/>
        </p:nvGrpSpPr>
        <p:grpSpPr>
          <a:xfrm>
            <a:off x="5981700" y="1371600"/>
            <a:ext cx="431800" cy="381000"/>
            <a:chOff x="5981700" y="1371600"/>
            <a:chExt cx="431800" cy="381000"/>
          </a:xfrm>
        </p:grpSpPr>
        <p:sp>
          <p:nvSpPr>
            <p:cNvPr id="84" name="node71.surface"/>
            <p:cNvSpPr/>
            <p:nvPr/>
          </p:nvSpPr>
          <p:spPr>
            <a:xfrm>
              <a:off x="5981700" y="1371600"/>
              <a:ext cx="431800" cy="381000"/>
            </a:xfrm>
            <a:prstGeom prst="rect">
              <a:avLst/>
            </a:prstGeom>
            <a:solidFill>
              <a:srgbClr val="0047FF"/>
            </a:solidFill>
            <a:ln>
              <a:noFill/>
            </a:ln>
          </p:spPr>
        </p:sp>
        <p:sp>
          <p:nvSpPr>
            <p:cNvPr id="85" name="node71.text"/>
            <p:cNvSpPr/>
            <p:nvPr/>
          </p:nvSpPr>
          <p:spPr>
            <a:xfrm>
              <a:off x="6053667" y="1466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4</a:t>
              </a:r>
              <a:endParaRPr lang="en-US" sz="1100" spc="0" kern="0" b="0" i="0" dirty="0">
                <a:solidFill>
                  <a:srgbClr val="FFFFFF"/>
                </a:solidFill>
                <a:latin typeface="IBM Plex Sans"/>
                <a:ea typeface="IBM Plex Sans"/>
                <a:cs typeface="IBM Plex Sans"/>
              </a:endParaRPr>
            </a:p>
          </p:txBody>
        </p:sp>
      </p:grpSp>
      <p:grpSp>
        <p:nvGrpSpPr>
          <p:cNvPr id="216" name="node72"/>
          <p:cNvGrpSpPr/>
          <p:nvPr/>
        </p:nvGrpSpPr>
        <p:grpSpPr>
          <a:xfrm>
            <a:off x="6438900" y="1117600"/>
            <a:ext cx="457200" cy="139700"/>
            <a:chOff x="6438900" y="1117600"/>
            <a:chExt cx="457200" cy="139700"/>
          </a:xfrm>
        </p:grpSpPr>
        <p:sp>
          <p:nvSpPr>
            <p:cNvPr id="86" name="node72.text"/>
            <p:cNvSpPr/>
            <p:nvPr/>
          </p:nvSpPr>
          <p:spPr>
            <a:xfrm>
              <a:off x="6438900" y="11176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GOV</a:t>
              </a:r>
              <a:endParaRPr lang="en-US" sz="800" spc="48" kern="0" b="0" i="0" dirty="0">
                <a:solidFill>
                  <a:srgbClr val="070154"/>
                </a:solidFill>
                <a:latin typeface="IBM Plex Mono Medium"/>
                <a:ea typeface="IBM Plex Mono Medium"/>
                <a:cs typeface="IBM Plex Mono Medium"/>
              </a:endParaRPr>
            </a:p>
          </p:txBody>
        </p:sp>
      </p:grpSp>
      <p:grpSp>
        <p:nvGrpSpPr>
          <p:cNvPr id="217" name="node73"/>
          <p:cNvGrpSpPr/>
          <p:nvPr/>
        </p:nvGrpSpPr>
        <p:grpSpPr>
          <a:xfrm>
            <a:off x="6438900" y="1371600"/>
            <a:ext cx="431800" cy="381000"/>
            <a:chOff x="6438900" y="1371600"/>
            <a:chExt cx="431800" cy="381000"/>
          </a:xfrm>
        </p:grpSpPr>
        <p:sp>
          <p:nvSpPr>
            <p:cNvPr id="87" name="node73.surface"/>
            <p:cNvSpPr/>
            <p:nvPr/>
          </p:nvSpPr>
          <p:spPr>
            <a:xfrm>
              <a:off x="6438900" y="1371600"/>
              <a:ext cx="431800" cy="381000"/>
            </a:xfrm>
            <a:prstGeom prst="rect">
              <a:avLst/>
            </a:prstGeom>
            <a:solidFill>
              <a:srgbClr val="7C9BFF"/>
            </a:solidFill>
            <a:ln>
              <a:noFill/>
            </a:ln>
          </p:spPr>
        </p:sp>
        <p:sp>
          <p:nvSpPr>
            <p:cNvPr id="88" name="node73.text"/>
            <p:cNvSpPr/>
            <p:nvPr/>
          </p:nvSpPr>
          <p:spPr>
            <a:xfrm>
              <a:off x="6510867" y="14668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218" name="node74"/>
          <p:cNvGrpSpPr/>
          <p:nvPr/>
        </p:nvGrpSpPr>
        <p:grpSpPr>
          <a:xfrm>
            <a:off x="8267700" y="685800"/>
            <a:ext cx="3048000" cy="723900"/>
            <a:chOff x="8267700" y="685800"/>
            <a:chExt cx="3048000" cy="723900"/>
          </a:xfrm>
        </p:grpSpPr>
        <p:sp>
          <p:nvSpPr>
            <p:cNvPr id="89" name="node74.source-001.bullet"/>
            <p:cNvSpPr/>
            <p:nvPr/>
          </p:nvSpPr>
          <p:spPr>
            <a:xfrm>
              <a:off x="8267700" y="774700"/>
              <a:ext cx="38100" cy="38100"/>
            </a:xfrm>
            <a:prstGeom prst="rect">
              <a:avLst/>
            </a:prstGeom>
            <a:solidFill>
              <a:srgbClr val="070154"/>
            </a:solidFill>
            <a:ln>
              <a:noFill/>
            </a:ln>
          </p:spPr>
        </p:sp>
        <p:sp>
          <p:nvSpPr>
            <p:cNvPr id="90" name="node74.source-001.text"/>
            <p:cNvSpPr/>
            <p:nvPr/>
          </p:nvSpPr>
          <p:spPr>
            <a:xfrm>
              <a:off x="8420100" y="6858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Templates are strong and reused</a:t>
              </a:r>
              <a:endParaRPr lang="en-US" sz="1200" spc="0" kern="0" b="0" i="0" dirty="0">
                <a:solidFill>
                  <a:srgbClr val="070154"/>
                </a:solidFill>
                <a:latin typeface="IBM Plex Sans"/>
                <a:ea typeface="IBM Plex Sans"/>
                <a:cs typeface="IBM Plex Sans"/>
              </a:endParaRPr>
            </a:p>
          </p:txBody>
        </p:sp>
        <p:sp>
          <p:nvSpPr>
            <p:cNvPr id="91" name="node74.source-002.bullet"/>
            <p:cNvSpPr/>
            <p:nvPr/>
          </p:nvSpPr>
          <p:spPr>
            <a:xfrm>
              <a:off x="8267700" y="1028700"/>
              <a:ext cx="38100" cy="38100"/>
            </a:xfrm>
            <a:prstGeom prst="rect">
              <a:avLst/>
            </a:prstGeom>
            <a:solidFill>
              <a:srgbClr val="070154"/>
            </a:solidFill>
            <a:ln>
              <a:noFill/>
            </a:ln>
          </p:spPr>
        </p:sp>
        <p:sp>
          <p:nvSpPr>
            <p:cNvPr id="92" name="node74.source-002.text"/>
            <p:cNvSpPr/>
            <p:nvPr/>
          </p:nvSpPr>
          <p:spPr>
            <a:xfrm>
              <a:off x="8420100" y="9398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Voice capture live in two units</a:t>
              </a:r>
              <a:endParaRPr lang="en-US" sz="1200" spc="0" kern="0" b="0" i="0" dirty="0">
                <a:solidFill>
                  <a:srgbClr val="070154"/>
                </a:solidFill>
                <a:latin typeface="IBM Plex Sans"/>
                <a:ea typeface="IBM Plex Sans"/>
                <a:cs typeface="IBM Plex Sans"/>
              </a:endParaRPr>
            </a:p>
          </p:txBody>
        </p:sp>
        <p:sp>
          <p:nvSpPr>
            <p:cNvPr id="93" name="node74.source-003.bullet"/>
            <p:cNvSpPr/>
            <p:nvPr/>
          </p:nvSpPr>
          <p:spPr>
            <a:xfrm>
              <a:off x="8267700" y="1282700"/>
              <a:ext cx="38100" cy="38100"/>
            </a:xfrm>
            <a:prstGeom prst="rect">
              <a:avLst/>
            </a:prstGeom>
            <a:solidFill>
              <a:srgbClr val="070154"/>
            </a:solidFill>
            <a:ln>
              <a:noFill/>
            </a:ln>
          </p:spPr>
        </p:sp>
        <p:sp>
          <p:nvSpPr>
            <p:cNvPr id="94" name="node74.source-003.text"/>
            <p:cNvSpPr/>
            <p:nvPr/>
          </p:nvSpPr>
          <p:spPr>
            <a:xfrm>
              <a:off x="8420100" y="11938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Scale ambient notes to eight units</a:t>
              </a:r>
              <a:endParaRPr lang="en-US" sz="1200" spc="0" kern="0" b="0" i="0" dirty="0">
                <a:solidFill>
                  <a:srgbClr val="070154"/>
                </a:solidFill>
                <a:latin typeface="IBM Plex Sans"/>
                <a:ea typeface="IBM Plex Sans"/>
                <a:cs typeface="IBM Plex Sans"/>
              </a:endParaRPr>
            </a:p>
          </p:txBody>
        </p:sp>
      </p:grpSp>
      <p:grpSp>
        <p:nvGrpSpPr>
          <p:cNvPr id="219" name="node75"/>
          <p:cNvGrpSpPr/>
          <p:nvPr/>
        </p:nvGrpSpPr>
        <p:grpSpPr>
          <a:xfrm>
            <a:off x="4381500" y="2286000"/>
            <a:ext cx="7086600" cy="1600200"/>
            <a:chOff x="4381500" y="2286000"/>
            <a:chExt cx="7086600" cy="1600200"/>
          </a:xfrm>
        </p:grpSpPr>
        <p:sp>
          <p:nvSpPr>
            <p:cNvPr id="95" name="node75.surface"/>
            <p:cNvSpPr/>
            <p:nvPr/>
          </p:nvSpPr>
          <p:spPr>
            <a:xfrm>
              <a:off x="4387850" y="2292350"/>
              <a:ext cx="7073900" cy="1587500"/>
            </a:xfrm>
            <a:prstGeom prst="rect">
              <a:avLst/>
            </a:prstGeom>
            <a:solidFill>
              <a:srgbClr val="FFFFFF"/>
            </a:solidFill>
            <a:ln w="12700">
              <a:solidFill>
                <a:srgbClr val="CED7E6"/>
              </a:solidFill>
              <a:prstDash val="solid"/>
            </a:ln>
          </p:spPr>
        </p:sp>
      </p:grpSp>
      <p:grpSp>
        <p:nvGrpSpPr>
          <p:cNvPr id="220" name="node76"/>
          <p:cNvGrpSpPr/>
          <p:nvPr/>
        </p:nvGrpSpPr>
        <p:grpSpPr>
          <a:xfrm>
            <a:off x="4610100" y="2514600"/>
            <a:ext cx="609600" cy="381000"/>
            <a:chOff x="4610100" y="2514600"/>
            <a:chExt cx="609600" cy="381000"/>
          </a:xfrm>
        </p:grpSpPr>
        <p:sp>
          <p:nvSpPr>
            <p:cNvPr id="96" name="node76.surface"/>
            <p:cNvSpPr/>
            <p:nvPr/>
          </p:nvSpPr>
          <p:spPr>
            <a:xfrm>
              <a:off x="4610100" y="2514600"/>
              <a:ext cx="609600" cy="381000"/>
            </a:xfrm>
            <a:prstGeom prst="rect">
              <a:avLst/>
            </a:prstGeom>
            <a:solidFill>
              <a:srgbClr val="05013F"/>
            </a:solidFill>
            <a:ln>
              <a:noFill/>
            </a:ln>
          </p:spPr>
        </p:sp>
        <p:sp>
          <p:nvSpPr>
            <p:cNvPr id="97" name="node76.text"/>
            <p:cNvSpPr/>
            <p:nvPr/>
          </p:nvSpPr>
          <p:spPr>
            <a:xfrm>
              <a:off x="4762500" y="2597150"/>
              <a:ext cx="304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A8</a:t>
              </a:r>
              <a:endParaRPr lang="en-US" sz="1200" spc="0" kern="0" b="0" i="0" dirty="0">
                <a:solidFill>
                  <a:srgbClr val="FFFFFF"/>
                </a:solidFill>
                <a:latin typeface="IBM Plex Sans"/>
                <a:ea typeface="IBM Plex Sans"/>
                <a:cs typeface="IBM Plex Sans"/>
              </a:endParaRPr>
            </a:p>
          </p:txBody>
        </p:sp>
      </p:grpSp>
      <p:grpSp>
        <p:nvGrpSpPr>
          <p:cNvPr id="221" name="node77"/>
          <p:cNvGrpSpPr/>
          <p:nvPr/>
        </p:nvGrpSpPr>
        <p:grpSpPr>
          <a:xfrm>
            <a:off x="5372100" y="2527300"/>
            <a:ext cx="2743200" cy="266700"/>
            <a:chOff x="5372100" y="2527300"/>
            <a:chExt cx="2743200" cy="266700"/>
          </a:xfrm>
        </p:grpSpPr>
        <p:sp>
          <p:nvSpPr>
            <p:cNvPr id="98" name="node77.text"/>
            <p:cNvSpPr/>
            <p:nvPr/>
          </p:nvSpPr>
          <p:spPr>
            <a:xfrm>
              <a:off x="5372100" y="2527300"/>
              <a:ext cx="2743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Care coordination</a:t>
              </a:r>
              <a:endParaRPr lang="en-US" sz="1600" spc="-16" kern="0" b="0" i="0" dirty="0">
                <a:solidFill>
                  <a:srgbClr val="070154"/>
                </a:solidFill>
                <a:latin typeface="IBM Plex Sans SemiBold"/>
                <a:ea typeface="IBM Plex Sans SemiBold"/>
                <a:cs typeface="IBM Plex Sans SemiBold"/>
              </a:endParaRPr>
            </a:p>
          </p:txBody>
        </p:sp>
      </p:grpSp>
      <p:grpSp>
        <p:nvGrpSpPr>
          <p:cNvPr id="222" name="node78"/>
          <p:cNvGrpSpPr/>
          <p:nvPr/>
        </p:nvGrpSpPr>
        <p:grpSpPr>
          <a:xfrm>
            <a:off x="4610100" y="2946400"/>
            <a:ext cx="457200" cy="139700"/>
            <a:chOff x="4610100" y="2946400"/>
            <a:chExt cx="457200" cy="139700"/>
          </a:xfrm>
        </p:grpSpPr>
        <p:sp>
          <p:nvSpPr>
            <p:cNvPr id="99" name="node78.text"/>
            <p:cNvSpPr/>
            <p:nvPr/>
          </p:nvSpPr>
          <p:spPr>
            <a:xfrm>
              <a:off x="4610100" y="29464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PRO</a:t>
              </a:r>
              <a:endParaRPr lang="en-US" sz="800" spc="48" kern="0" b="0" i="0" dirty="0">
                <a:solidFill>
                  <a:srgbClr val="070154"/>
                </a:solidFill>
                <a:latin typeface="IBM Plex Mono Medium"/>
                <a:ea typeface="IBM Plex Mono Medium"/>
                <a:cs typeface="IBM Plex Mono Medium"/>
              </a:endParaRPr>
            </a:p>
          </p:txBody>
        </p:sp>
      </p:grpSp>
      <p:grpSp>
        <p:nvGrpSpPr>
          <p:cNvPr id="223" name="node79"/>
          <p:cNvGrpSpPr/>
          <p:nvPr/>
        </p:nvGrpSpPr>
        <p:grpSpPr>
          <a:xfrm>
            <a:off x="4610100" y="3200400"/>
            <a:ext cx="431800" cy="381000"/>
            <a:chOff x="4610100" y="3200400"/>
            <a:chExt cx="431800" cy="381000"/>
          </a:xfrm>
        </p:grpSpPr>
        <p:sp>
          <p:nvSpPr>
            <p:cNvPr id="100" name="node79.surface"/>
            <p:cNvSpPr/>
            <p:nvPr/>
          </p:nvSpPr>
          <p:spPr>
            <a:xfrm>
              <a:off x="4610100" y="3200400"/>
              <a:ext cx="431800" cy="381000"/>
            </a:xfrm>
            <a:prstGeom prst="rect">
              <a:avLst/>
            </a:prstGeom>
            <a:solidFill>
              <a:srgbClr val="B9C9F0"/>
            </a:solidFill>
            <a:ln>
              <a:noFill/>
            </a:ln>
          </p:spPr>
        </p:sp>
        <p:sp>
          <p:nvSpPr>
            <p:cNvPr id="101" name="node79.text"/>
            <p:cNvSpPr/>
            <p:nvPr/>
          </p:nvSpPr>
          <p:spPr>
            <a:xfrm>
              <a:off x="4682067" y="32956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224" name="node80"/>
          <p:cNvGrpSpPr/>
          <p:nvPr/>
        </p:nvGrpSpPr>
        <p:grpSpPr>
          <a:xfrm>
            <a:off x="5067300" y="2946400"/>
            <a:ext cx="457200" cy="139700"/>
            <a:chOff x="5067300" y="2946400"/>
            <a:chExt cx="457200" cy="139700"/>
          </a:xfrm>
        </p:grpSpPr>
        <p:sp>
          <p:nvSpPr>
            <p:cNvPr id="102" name="node80.text"/>
            <p:cNvSpPr/>
            <p:nvPr/>
          </p:nvSpPr>
          <p:spPr>
            <a:xfrm>
              <a:off x="5067300" y="29464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TEC</a:t>
              </a:r>
              <a:endParaRPr lang="en-US" sz="800" spc="48" kern="0" b="0" i="0" dirty="0">
                <a:solidFill>
                  <a:srgbClr val="070154"/>
                </a:solidFill>
                <a:latin typeface="IBM Plex Mono Medium"/>
                <a:ea typeface="IBM Plex Mono Medium"/>
                <a:cs typeface="IBM Plex Mono Medium"/>
              </a:endParaRPr>
            </a:p>
          </p:txBody>
        </p:sp>
      </p:grpSp>
      <p:grpSp>
        <p:nvGrpSpPr>
          <p:cNvPr id="225" name="node81"/>
          <p:cNvGrpSpPr/>
          <p:nvPr/>
        </p:nvGrpSpPr>
        <p:grpSpPr>
          <a:xfrm>
            <a:off x="5067300" y="3200400"/>
            <a:ext cx="431800" cy="381000"/>
            <a:chOff x="5067300" y="3200400"/>
            <a:chExt cx="431800" cy="381000"/>
          </a:xfrm>
        </p:grpSpPr>
        <p:sp>
          <p:nvSpPr>
            <p:cNvPr id="103" name="node81.surface"/>
            <p:cNvSpPr/>
            <p:nvPr/>
          </p:nvSpPr>
          <p:spPr>
            <a:xfrm>
              <a:off x="5067300" y="3200400"/>
              <a:ext cx="431800" cy="381000"/>
            </a:xfrm>
            <a:prstGeom prst="rect">
              <a:avLst/>
            </a:prstGeom>
            <a:solidFill>
              <a:srgbClr val="B9C9F0"/>
            </a:solidFill>
            <a:ln>
              <a:noFill/>
            </a:ln>
          </p:spPr>
        </p:sp>
        <p:sp>
          <p:nvSpPr>
            <p:cNvPr id="104" name="node81.text"/>
            <p:cNvSpPr/>
            <p:nvPr/>
          </p:nvSpPr>
          <p:spPr>
            <a:xfrm>
              <a:off x="5139267" y="32956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226" name="node82"/>
          <p:cNvGrpSpPr/>
          <p:nvPr/>
        </p:nvGrpSpPr>
        <p:grpSpPr>
          <a:xfrm>
            <a:off x="5524500" y="2946400"/>
            <a:ext cx="457200" cy="139700"/>
            <a:chOff x="5524500" y="2946400"/>
            <a:chExt cx="457200" cy="139700"/>
          </a:xfrm>
        </p:grpSpPr>
        <p:sp>
          <p:nvSpPr>
            <p:cNvPr id="105" name="node82.text"/>
            <p:cNvSpPr/>
            <p:nvPr/>
          </p:nvSpPr>
          <p:spPr>
            <a:xfrm>
              <a:off x="5524500" y="29464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DAT</a:t>
              </a:r>
              <a:endParaRPr lang="en-US" sz="800" spc="48" kern="0" b="0" i="0" dirty="0">
                <a:solidFill>
                  <a:srgbClr val="070154"/>
                </a:solidFill>
                <a:latin typeface="IBM Plex Mono Medium"/>
                <a:ea typeface="IBM Plex Mono Medium"/>
                <a:cs typeface="IBM Plex Mono Medium"/>
              </a:endParaRPr>
            </a:p>
          </p:txBody>
        </p:sp>
      </p:grpSp>
      <p:grpSp>
        <p:nvGrpSpPr>
          <p:cNvPr id="227" name="node83"/>
          <p:cNvGrpSpPr/>
          <p:nvPr/>
        </p:nvGrpSpPr>
        <p:grpSpPr>
          <a:xfrm>
            <a:off x="5524500" y="3200400"/>
            <a:ext cx="431800" cy="381000"/>
            <a:chOff x="5524500" y="3200400"/>
            <a:chExt cx="431800" cy="381000"/>
          </a:xfrm>
        </p:grpSpPr>
        <p:sp>
          <p:nvSpPr>
            <p:cNvPr id="106" name="node83.surface"/>
            <p:cNvSpPr/>
            <p:nvPr/>
          </p:nvSpPr>
          <p:spPr>
            <a:xfrm>
              <a:off x="5524500" y="3200400"/>
              <a:ext cx="431800" cy="381000"/>
            </a:xfrm>
            <a:prstGeom prst="rect">
              <a:avLst/>
            </a:prstGeom>
            <a:solidFill>
              <a:srgbClr val="E8EEF8"/>
            </a:solidFill>
            <a:ln>
              <a:noFill/>
            </a:ln>
          </p:spPr>
        </p:sp>
        <p:sp>
          <p:nvSpPr>
            <p:cNvPr id="107" name="node83.text"/>
            <p:cNvSpPr/>
            <p:nvPr/>
          </p:nvSpPr>
          <p:spPr>
            <a:xfrm>
              <a:off x="5596467" y="32956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1</a:t>
              </a:r>
              <a:endParaRPr lang="en-US" sz="1100" spc="0" kern="0" b="0" i="0" dirty="0">
                <a:solidFill>
                  <a:srgbClr val="070154"/>
                </a:solidFill>
                <a:latin typeface="IBM Plex Sans"/>
                <a:ea typeface="IBM Plex Sans"/>
                <a:cs typeface="IBM Plex Sans"/>
              </a:endParaRPr>
            </a:p>
          </p:txBody>
        </p:sp>
      </p:grpSp>
      <p:grpSp>
        <p:nvGrpSpPr>
          <p:cNvPr id="228" name="node84"/>
          <p:cNvGrpSpPr/>
          <p:nvPr/>
        </p:nvGrpSpPr>
        <p:grpSpPr>
          <a:xfrm>
            <a:off x="5981700" y="2946400"/>
            <a:ext cx="457200" cy="139700"/>
            <a:chOff x="5981700" y="2946400"/>
            <a:chExt cx="457200" cy="139700"/>
          </a:xfrm>
        </p:grpSpPr>
        <p:sp>
          <p:nvSpPr>
            <p:cNvPr id="108" name="node84.text"/>
            <p:cNvSpPr/>
            <p:nvPr/>
          </p:nvSpPr>
          <p:spPr>
            <a:xfrm>
              <a:off x="5981700" y="29464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PPL</a:t>
              </a:r>
              <a:endParaRPr lang="en-US" sz="800" spc="48" kern="0" b="0" i="0" dirty="0">
                <a:solidFill>
                  <a:srgbClr val="070154"/>
                </a:solidFill>
                <a:latin typeface="IBM Plex Mono Medium"/>
                <a:ea typeface="IBM Plex Mono Medium"/>
                <a:cs typeface="IBM Plex Mono Medium"/>
              </a:endParaRPr>
            </a:p>
          </p:txBody>
        </p:sp>
      </p:grpSp>
      <p:grpSp>
        <p:nvGrpSpPr>
          <p:cNvPr id="229" name="node85"/>
          <p:cNvGrpSpPr/>
          <p:nvPr/>
        </p:nvGrpSpPr>
        <p:grpSpPr>
          <a:xfrm>
            <a:off x="5981700" y="3200400"/>
            <a:ext cx="431800" cy="381000"/>
            <a:chOff x="5981700" y="3200400"/>
            <a:chExt cx="431800" cy="381000"/>
          </a:xfrm>
        </p:grpSpPr>
        <p:sp>
          <p:nvSpPr>
            <p:cNvPr id="109" name="node85.surface"/>
            <p:cNvSpPr/>
            <p:nvPr/>
          </p:nvSpPr>
          <p:spPr>
            <a:xfrm>
              <a:off x="5981700" y="3200400"/>
              <a:ext cx="431800" cy="381000"/>
            </a:xfrm>
            <a:prstGeom prst="rect">
              <a:avLst/>
            </a:prstGeom>
            <a:solidFill>
              <a:srgbClr val="7C9BFF"/>
            </a:solidFill>
            <a:ln>
              <a:noFill/>
            </a:ln>
          </p:spPr>
        </p:sp>
        <p:sp>
          <p:nvSpPr>
            <p:cNvPr id="110" name="node85.text"/>
            <p:cNvSpPr/>
            <p:nvPr/>
          </p:nvSpPr>
          <p:spPr>
            <a:xfrm>
              <a:off x="6053667" y="32956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230" name="node86"/>
          <p:cNvGrpSpPr/>
          <p:nvPr/>
        </p:nvGrpSpPr>
        <p:grpSpPr>
          <a:xfrm>
            <a:off x="6438900" y="2946400"/>
            <a:ext cx="457200" cy="139700"/>
            <a:chOff x="6438900" y="2946400"/>
            <a:chExt cx="457200" cy="139700"/>
          </a:xfrm>
        </p:grpSpPr>
        <p:sp>
          <p:nvSpPr>
            <p:cNvPr id="111" name="node86.text"/>
            <p:cNvSpPr/>
            <p:nvPr/>
          </p:nvSpPr>
          <p:spPr>
            <a:xfrm>
              <a:off x="6438900" y="29464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GOV</a:t>
              </a:r>
              <a:endParaRPr lang="en-US" sz="800" spc="48" kern="0" b="0" i="0" dirty="0">
                <a:solidFill>
                  <a:srgbClr val="070154"/>
                </a:solidFill>
                <a:latin typeface="IBM Plex Mono Medium"/>
                <a:ea typeface="IBM Plex Mono Medium"/>
                <a:cs typeface="IBM Plex Mono Medium"/>
              </a:endParaRPr>
            </a:p>
          </p:txBody>
        </p:sp>
      </p:grpSp>
      <p:grpSp>
        <p:nvGrpSpPr>
          <p:cNvPr id="231" name="node87"/>
          <p:cNvGrpSpPr/>
          <p:nvPr/>
        </p:nvGrpSpPr>
        <p:grpSpPr>
          <a:xfrm>
            <a:off x="6438900" y="3200400"/>
            <a:ext cx="431800" cy="381000"/>
            <a:chOff x="6438900" y="3200400"/>
            <a:chExt cx="431800" cy="381000"/>
          </a:xfrm>
        </p:grpSpPr>
        <p:sp>
          <p:nvSpPr>
            <p:cNvPr id="112" name="node87.surface"/>
            <p:cNvSpPr/>
            <p:nvPr/>
          </p:nvSpPr>
          <p:spPr>
            <a:xfrm>
              <a:off x="6438900" y="3200400"/>
              <a:ext cx="431800" cy="381000"/>
            </a:xfrm>
            <a:prstGeom prst="rect">
              <a:avLst/>
            </a:prstGeom>
            <a:solidFill>
              <a:srgbClr val="B9C9F0"/>
            </a:solidFill>
            <a:ln>
              <a:noFill/>
            </a:ln>
          </p:spPr>
        </p:sp>
        <p:sp>
          <p:nvSpPr>
            <p:cNvPr id="113" name="node87.text"/>
            <p:cNvSpPr/>
            <p:nvPr/>
          </p:nvSpPr>
          <p:spPr>
            <a:xfrm>
              <a:off x="6510867" y="32956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232" name="node88"/>
          <p:cNvGrpSpPr/>
          <p:nvPr/>
        </p:nvGrpSpPr>
        <p:grpSpPr>
          <a:xfrm>
            <a:off x="8267700" y="2514600"/>
            <a:ext cx="3048000" cy="723900"/>
            <a:chOff x="8267700" y="2514600"/>
            <a:chExt cx="3048000" cy="723900"/>
          </a:xfrm>
        </p:grpSpPr>
        <p:sp>
          <p:nvSpPr>
            <p:cNvPr id="114" name="node88.source-001.bullet"/>
            <p:cNvSpPr/>
            <p:nvPr/>
          </p:nvSpPr>
          <p:spPr>
            <a:xfrm>
              <a:off x="8267700" y="2603500"/>
              <a:ext cx="38100" cy="38100"/>
            </a:xfrm>
            <a:prstGeom prst="rect">
              <a:avLst/>
            </a:prstGeom>
            <a:solidFill>
              <a:srgbClr val="070154"/>
            </a:solidFill>
            <a:ln>
              <a:noFill/>
            </a:ln>
          </p:spPr>
        </p:sp>
        <p:sp>
          <p:nvSpPr>
            <p:cNvPr id="115" name="node88.source-001.text"/>
            <p:cNvSpPr/>
            <p:nvPr/>
          </p:nvSpPr>
          <p:spPr>
            <a:xfrm>
              <a:off x="8420100" y="25146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Handoffs run on phone and email</a:t>
              </a:r>
              <a:endParaRPr lang="en-US" sz="1200" spc="0" kern="0" b="0" i="0" dirty="0">
                <a:solidFill>
                  <a:srgbClr val="070154"/>
                </a:solidFill>
                <a:latin typeface="IBM Plex Sans"/>
                <a:ea typeface="IBM Plex Sans"/>
                <a:cs typeface="IBM Plex Sans"/>
              </a:endParaRPr>
            </a:p>
          </p:txBody>
        </p:sp>
        <p:sp>
          <p:nvSpPr>
            <p:cNvPr id="116" name="node88.source-002.bullet"/>
            <p:cNvSpPr/>
            <p:nvPr/>
          </p:nvSpPr>
          <p:spPr>
            <a:xfrm>
              <a:off x="8267700" y="2857500"/>
              <a:ext cx="38100" cy="38100"/>
            </a:xfrm>
            <a:prstGeom prst="rect">
              <a:avLst/>
            </a:prstGeom>
            <a:solidFill>
              <a:srgbClr val="070154"/>
            </a:solidFill>
            <a:ln>
              <a:noFill/>
            </a:ln>
          </p:spPr>
        </p:sp>
        <p:sp>
          <p:nvSpPr>
            <p:cNvPr id="117" name="node88.source-002.text"/>
            <p:cNvSpPr/>
            <p:nvPr/>
          </p:nvSpPr>
          <p:spPr>
            <a:xfrm>
              <a:off x="8420100" y="27686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Care plans live in three tools</a:t>
              </a:r>
              <a:endParaRPr lang="en-US" sz="1200" spc="0" kern="0" b="0" i="0" dirty="0">
                <a:solidFill>
                  <a:srgbClr val="070154"/>
                </a:solidFill>
                <a:latin typeface="IBM Plex Sans"/>
                <a:ea typeface="IBM Plex Sans"/>
                <a:cs typeface="IBM Plex Sans"/>
              </a:endParaRPr>
            </a:p>
          </p:txBody>
        </p:sp>
        <p:sp>
          <p:nvSpPr>
            <p:cNvPr id="118" name="node88.source-003.bullet"/>
            <p:cNvSpPr/>
            <p:nvPr/>
          </p:nvSpPr>
          <p:spPr>
            <a:xfrm>
              <a:off x="8267700" y="3111500"/>
              <a:ext cx="38100" cy="38100"/>
            </a:xfrm>
            <a:prstGeom prst="rect">
              <a:avLst/>
            </a:prstGeom>
            <a:solidFill>
              <a:srgbClr val="070154"/>
            </a:solidFill>
            <a:ln>
              <a:noFill/>
            </a:ln>
          </p:spPr>
        </p:sp>
        <p:sp>
          <p:nvSpPr>
            <p:cNvPr id="119" name="node88.source-003.text"/>
            <p:cNvSpPr/>
            <p:nvPr/>
          </p:nvSpPr>
          <p:spPr>
            <a:xfrm>
              <a:off x="8420100" y="30226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Pilot a shared care plan in oncology</a:t>
              </a:r>
              <a:endParaRPr lang="en-US" sz="1200" spc="0" kern="0" b="0" i="0" dirty="0">
                <a:solidFill>
                  <a:srgbClr val="070154"/>
                </a:solidFill>
                <a:latin typeface="IBM Plex Sans"/>
                <a:ea typeface="IBM Plex Sans"/>
                <a:cs typeface="IBM Plex Sans"/>
              </a:endParaRPr>
            </a:p>
          </p:txBody>
        </p:sp>
      </p:grpSp>
      <p:grpSp>
        <p:nvGrpSpPr>
          <p:cNvPr id="233" name="node89"/>
          <p:cNvGrpSpPr/>
          <p:nvPr/>
        </p:nvGrpSpPr>
        <p:grpSpPr>
          <a:xfrm>
            <a:off x="4381500" y="4114800"/>
            <a:ext cx="7086600" cy="1600200"/>
            <a:chOff x="4381500" y="4114800"/>
            <a:chExt cx="7086600" cy="1600200"/>
          </a:xfrm>
        </p:grpSpPr>
        <p:sp>
          <p:nvSpPr>
            <p:cNvPr id="120" name="node89.surface"/>
            <p:cNvSpPr/>
            <p:nvPr/>
          </p:nvSpPr>
          <p:spPr>
            <a:xfrm>
              <a:off x="4387850" y="4121150"/>
              <a:ext cx="7073900" cy="1587500"/>
            </a:xfrm>
            <a:prstGeom prst="rect">
              <a:avLst/>
            </a:prstGeom>
            <a:solidFill>
              <a:srgbClr val="FFFFFF"/>
            </a:solidFill>
            <a:ln w="12700">
              <a:solidFill>
                <a:srgbClr val="CED7E6"/>
              </a:solidFill>
              <a:prstDash val="solid"/>
            </a:ln>
          </p:spPr>
        </p:sp>
      </p:grpSp>
      <p:grpSp>
        <p:nvGrpSpPr>
          <p:cNvPr id="234" name="node90"/>
          <p:cNvGrpSpPr/>
          <p:nvPr/>
        </p:nvGrpSpPr>
        <p:grpSpPr>
          <a:xfrm>
            <a:off x="4610100" y="4343400"/>
            <a:ext cx="609600" cy="381000"/>
            <a:chOff x="4610100" y="4343400"/>
            <a:chExt cx="609600" cy="381000"/>
          </a:xfrm>
        </p:grpSpPr>
        <p:sp>
          <p:nvSpPr>
            <p:cNvPr id="121" name="node90.surface"/>
            <p:cNvSpPr/>
            <p:nvPr/>
          </p:nvSpPr>
          <p:spPr>
            <a:xfrm>
              <a:off x="4610100" y="4343400"/>
              <a:ext cx="609600" cy="381000"/>
            </a:xfrm>
            <a:prstGeom prst="rect">
              <a:avLst/>
            </a:prstGeom>
            <a:solidFill>
              <a:srgbClr val="05013F"/>
            </a:solidFill>
            <a:ln>
              <a:noFill/>
            </a:ln>
          </p:spPr>
        </p:sp>
        <p:sp>
          <p:nvSpPr>
            <p:cNvPr id="122" name="node90.text"/>
            <p:cNvSpPr/>
            <p:nvPr/>
          </p:nvSpPr>
          <p:spPr>
            <a:xfrm>
              <a:off x="4762500" y="4425950"/>
              <a:ext cx="304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A9</a:t>
              </a:r>
              <a:endParaRPr lang="en-US" sz="1200" spc="0" kern="0" b="0" i="0" dirty="0">
                <a:solidFill>
                  <a:srgbClr val="FFFFFF"/>
                </a:solidFill>
                <a:latin typeface="IBM Plex Sans"/>
                <a:ea typeface="IBM Plex Sans"/>
                <a:cs typeface="IBM Plex Sans"/>
              </a:endParaRPr>
            </a:p>
          </p:txBody>
        </p:sp>
      </p:grpSp>
      <p:grpSp>
        <p:nvGrpSpPr>
          <p:cNvPr id="235" name="node91"/>
          <p:cNvGrpSpPr/>
          <p:nvPr/>
        </p:nvGrpSpPr>
        <p:grpSpPr>
          <a:xfrm>
            <a:off x="5372100" y="4356100"/>
            <a:ext cx="2743200" cy="266700"/>
            <a:chOff x="5372100" y="4356100"/>
            <a:chExt cx="2743200" cy="266700"/>
          </a:xfrm>
        </p:grpSpPr>
        <p:sp>
          <p:nvSpPr>
            <p:cNvPr id="123" name="node91.text"/>
            <p:cNvSpPr/>
            <p:nvPr/>
          </p:nvSpPr>
          <p:spPr>
            <a:xfrm>
              <a:off x="5372100" y="4356100"/>
              <a:ext cx="2743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Supply chain</a:t>
              </a:r>
              <a:endParaRPr lang="en-US" sz="1600" spc="-16" kern="0" b="0" i="0" dirty="0">
                <a:solidFill>
                  <a:srgbClr val="070154"/>
                </a:solidFill>
                <a:latin typeface="IBM Plex Sans SemiBold"/>
                <a:ea typeface="IBM Plex Sans SemiBold"/>
                <a:cs typeface="IBM Plex Sans SemiBold"/>
              </a:endParaRPr>
            </a:p>
          </p:txBody>
        </p:sp>
      </p:grpSp>
      <p:grpSp>
        <p:nvGrpSpPr>
          <p:cNvPr id="236" name="node92"/>
          <p:cNvGrpSpPr/>
          <p:nvPr/>
        </p:nvGrpSpPr>
        <p:grpSpPr>
          <a:xfrm>
            <a:off x="4610100" y="4775200"/>
            <a:ext cx="457200" cy="139700"/>
            <a:chOff x="4610100" y="4775200"/>
            <a:chExt cx="457200" cy="139700"/>
          </a:xfrm>
        </p:grpSpPr>
        <p:sp>
          <p:nvSpPr>
            <p:cNvPr id="124" name="node92.text"/>
            <p:cNvSpPr/>
            <p:nvPr/>
          </p:nvSpPr>
          <p:spPr>
            <a:xfrm>
              <a:off x="4610100" y="47752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PRO</a:t>
              </a:r>
              <a:endParaRPr lang="en-US" sz="800" spc="48" kern="0" b="0" i="0" dirty="0">
                <a:solidFill>
                  <a:srgbClr val="070154"/>
                </a:solidFill>
                <a:latin typeface="IBM Plex Mono Medium"/>
                <a:ea typeface="IBM Plex Mono Medium"/>
                <a:cs typeface="IBM Plex Mono Medium"/>
              </a:endParaRPr>
            </a:p>
          </p:txBody>
        </p:sp>
      </p:grpSp>
      <p:grpSp>
        <p:nvGrpSpPr>
          <p:cNvPr id="237" name="node93"/>
          <p:cNvGrpSpPr/>
          <p:nvPr/>
        </p:nvGrpSpPr>
        <p:grpSpPr>
          <a:xfrm>
            <a:off x="4610100" y="5029200"/>
            <a:ext cx="431800" cy="381000"/>
            <a:chOff x="4610100" y="5029200"/>
            <a:chExt cx="431800" cy="381000"/>
          </a:xfrm>
        </p:grpSpPr>
        <p:sp>
          <p:nvSpPr>
            <p:cNvPr id="125" name="node93.surface"/>
            <p:cNvSpPr/>
            <p:nvPr/>
          </p:nvSpPr>
          <p:spPr>
            <a:xfrm>
              <a:off x="4610100" y="5029200"/>
              <a:ext cx="431800" cy="381000"/>
            </a:xfrm>
            <a:prstGeom prst="rect">
              <a:avLst/>
            </a:prstGeom>
            <a:solidFill>
              <a:srgbClr val="7C9BFF"/>
            </a:solidFill>
            <a:ln>
              <a:noFill/>
            </a:ln>
          </p:spPr>
        </p:sp>
        <p:sp>
          <p:nvSpPr>
            <p:cNvPr id="126" name="node93.text"/>
            <p:cNvSpPr/>
            <p:nvPr/>
          </p:nvSpPr>
          <p:spPr>
            <a:xfrm>
              <a:off x="4682067" y="51244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238" name="node94"/>
          <p:cNvGrpSpPr/>
          <p:nvPr/>
        </p:nvGrpSpPr>
        <p:grpSpPr>
          <a:xfrm>
            <a:off x="5067300" y="4775200"/>
            <a:ext cx="457200" cy="139700"/>
            <a:chOff x="5067300" y="4775200"/>
            <a:chExt cx="457200" cy="139700"/>
          </a:xfrm>
        </p:grpSpPr>
        <p:sp>
          <p:nvSpPr>
            <p:cNvPr id="127" name="node94.text"/>
            <p:cNvSpPr/>
            <p:nvPr/>
          </p:nvSpPr>
          <p:spPr>
            <a:xfrm>
              <a:off x="5067300" y="47752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TEC</a:t>
              </a:r>
              <a:endParaRPr lang="en-US" sz="800" spc="48" kern="0" b="0" i="0" dirty="0">
                <a:solidFill>
                  <a:srgbClr val="070154"/>
                </a:solidFill>
                <a:latin typeface="IBM Plex Mono Medium"/>
                <a:ea typeface="IBM Plex Mono Medium"/>
                <a:cs typeface="IBM Plex Mono Medium"/>
              </a:endParaRPr>
            </a:p>
          </p:txBody>
        </p:sp>
      </p:grpSp>
      <p:grpSp>
        <p:nvGrpSpPr>
          <p:cNvPr id="239" name="node95"/>
          <p:cNvGrpSpPr/>
          <p:nvPr/>
        </p:nvGrpSpPr>
        <p:grpSpPr>
          <a:xfrm>
            <a:off x="5067300" y="5029200"/>
            <a:ext cx="431800" cy="381000"/>
            <a:chOff x="5067300" y="5029200"/>
            <a:chExt cx="431800" cy="381000"/>
          </a:xfrm>
        </p:grpSpPr>
        <p:sp>
          <p:nvSpPr>
            <p:cNvPr id="128" name="node95.surface"/>
            <p:cNvSpPr/>
            <p:nvPr/>
          </p:nvSpPr>
          <p:spPr>
            <a:xfrm>
              <a:off x="5067300" y="5029200"/>
              <a:ext cx="431800" cy="381000"/>
            </a:xfrm>
            <a:prstGeom prst="rect">
              <a:avLst/>
            </a:prstGeom>
            <a:solidFill>
              <a:srgbClr val="B9C9F0"/>
            </a:solidFill>
            <a:ln>
              <a:noFill/>
            </a:ln>
          </p:spPr>
        </p:sp>
        <p:sp>
          <p:nvSpPr>
            <p:cNvPr id="129" name="node95.text"/>
            <p:cNvSpPr/>
            <p:nvPr/>
          </p:nvSpPr>
          <p:spPr>
            <a:xfrm>
              <a:off x="5139267" y="51244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240" name="node96"/>
          <p:cNvGrpSpPr/>
          <p:nvPr/>
        </p:nvGrpSpPr>
        <p:grpSpPr>
          <a:xfrm>
            <a:off x="5524500" y="4775200"/>
            <a:ext cx="457200" cy="139700"/>
            <a:chOff x="5524500" y="4775200"/>
            <a:chExt cx="457200" cy="139700"/>
          </a:xfrm>
        </p:grpSpPr>
        <p:sp>
          <p:nvSpPr>
            <p:cNvPr id="130" name="node96.text"/>
            <p:cNvSpPr/>
            <p:nvPr/>
          </p:nvSpPr>
          <p:spPr>
            <a:xfrm>
              <a:off x="5524500" y="47752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DAT</a:t>
              </a:r>
              <a:endParaRPr lang="en-US" sz="800" spc="48" kern="0" b="0" i="0" dirty="0">
                <a:solidFill>
                  <a:srgbClr val="070154"/>
                </a:solidFill>
                <a:latin typeface="IBM Plex Mono Medium"/>
                <a:ea typeface="IBM Plex Mono Medium"/>
                <a:cs typeface="IBM Plex Mono Medium"/>
              </a:endParaRPr>
            </a:p>
          </p:txBody>
        </p:sp>
      </p:grpSp>
      <p:grpSp>
        <p:nvGrpSpPr>
          <p:cNvPr id="241" name="node97"/>
          <p:cNvGrpSpPr/>
          <p:nvPr/>
        </p:nvGrpSpPr>
        <p:grpSpPr>
          <a:xfrm>
            <a:off x="5524500" y="5029200"/>
            <a:ext cx="431800" cy="381000"/>
            <a:chOff x="5524500" y="5029200"/>
            <a:chExt cx="431800" cy="381000"/>
          </a:xfrm>
        </p:grpSpPr>
        <p:sp>
          <p:nvSpPr>
            <p:cNvPr id="131" name="node97.surface"/>
            <p:cNvSpPr/>
            <p:nvPr/>
          </p:nvSpPr>
          <p:spPr>
            <a:xfrm>
              <a:off x="5524500" y="5029200"/>
              <a:ext cx="431800" cy="381000"/>
            </a:xfrm>
            <a:prstGeom prst="rect">
              <a:avLst/>
            </a:prstGeom>
            <a:solidFill>
              <a:srgbClr val="B9C9F0"/>
            </a:solidFill>
            <a:ln>
              <a:noFill/>
            </a:ln>
          </p:spPr>
        </p:sp>
        <p:sp>
          <p:nvSpPr>
            <p:cNvPr id="132" name="node97.text"/>
            <p:cNvSpPr/>
            <p:nvPr/>
          </p:nvSpPr>
          <p:spPr>
            <a:xfrm>
              <a:off x="5596467" y="51244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242" name="node98"/>
          <p:cNvGrpSpPr/>
          <p:nvPr/>
        </p:nvGrpSpPr>
        <p:grpSpPr>
          <a:xfrm>
            <a:off x="5981700" y="4775200"/>
            <a:ext cx="457200" cy="139700"/>
            <a:chOff x="5981700" y="4775200"/>
            <a:chExt cx="457200" cy="139700"/>
          </a:xfrm>
        </p:grpSpPr>
        <p:sp>
          <p:nvSpPr>
            <p:cNvPr id="133" name="node98.text"/>
            <p:cNvSpPr/>
            <p:nvPr/>
          </p:nvSpPr>
          <p:spPr>
            <a:xfrm>
              <a:off x="5981700" y="47752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PPL</a:t>
              </a:r>
              <a:endParaRPr lang="en-US" sz="800" spc="48" kern="0" b="0" i="0" dirty="0">
                <a:solidFill>
                  <a:srgbClr val="070154"/>
                </a:solidFill>
                <a:latin typeface="IBM Plex Mono Medium"/>
                <a:ea typeface="IBM Plex Mono Medium"/>
                <a:cs typeface="IBM Plex Mono Medium"/>
              </a:endParaRPr>
            </a:p>
          </p:txBody>
        </p:sp>
      </p:grpSp>
      <p:grpSp>
        <p:nvGrpSpPr>
          <p:cNvPr id="243" name="node99"/>
          <p:cNvGrpSpPr/>
          <p:nvPr/>
        </p:nvGrpSpPr>
        <p:grpSpPr>
          <a:xfrm>
            <a:off x="5981700" y="5029200"/>
            <a:ext cx="431800" cy="381000"/>
            <a:chOff x="5981700" y="5029200"/>
            <a:chExt cx="431800" cy="381000"/>
          </a:xfrm>
        </p:grpSpPr>
        <p:sp>
          <p:nvSpPr>
            <p:cNvPr id="134" name="node99.surface"/>
            <p:cNvSpPr/>
            <p:nvPr/>
          </p:nvSpPr>
          <p:spPr>
            <a:xfrm>
              <a:off x="5981700" y="5029200"/>
              <a:ext cx="431800" cy="381000"/>
            </a:xfrm>
            <a:prstGeom prst="rect">
              <a:avLst/>
            </a:prstGeom>
            <a:solidFill>
              <a:srgbClr val="B9C9F0"/>
            </a:solidFill>
            <a:ln>
              <a:noFill/>
            </a:ln>
          </p:spPr>
        </p:sp>
        <p:sp>
          <p:nvSpPr>
            <p:cNvPr id="135" name="node99.text"/>
            <p:cNvSpPr/>
            <p:nvPr/>
          </p:nvSpPr>
          <p:spPr>
            <a:xfrm>
              <a:off x="6053667" y="51244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2</a:t>
              </a:r>
              <a:endParaRPr lang="en-US" sz="1100" spc="0" kern="0" b="0" i="0" dirty="0">
                <a:solidFill>
                  <a:srgbClr val="070154"/>
                </a:solidFill>
                <a:latin typeface="IBM Plex Sans"/>
                <a:ea typeface="IBM Plex Sans"/>
                <a:cs typeface="IBM Plex Sans"/>
              </a:endParaRPr>
            </a:p>
          </p:txBody>
        </p:sp>
      </p:grpSp>
      <p:grpSp>
        <p:nvGrpSpPr>
          <p:cNvPr id="244" name="node100"/>
          <p:cNvGrpSpPr/>
          <p:nvPr/>
        </p:nvGrpSpPr>
        <p:grpSpPr>
          <a:xfrm>
            <a:off x="6438900" y="4775200"/>
            <a:ext cx="457200" cy="139700"/>
            <a:chOff x="6438900" y="4775200"/>
            <a:chExt cx="457200" cy="139700"/>
          </a:xfrm>
        </p:grpSpPr>
        <p:sp>
          <p:nvSpPr>
            <p:cNvPr id="136" name="node100.text"/>
            <p:cNvSpPr/>
            <p:nvPr/>
          </p:nvSpPr>
          <p:spPr>
            <a:xfrm>
              <a:off x="6438900" y="4775200"/>
              <a:ext cx="457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GOV</a:t>
              </a:r>
              <a:endParaRPr lang="en-US" sz="800" spc="48" kern="0" b="0" i="0" dirty="0">
                <a:solidFill>
                  <a:srgbClr val="070154"/>
                </a:solidFill>
                <a:latin typeface="IBM Plex Mono Medium"/>
                <a:ea typeface="IBM Plex Mono Medium"/>
                <a:cs typeface="IBM Plex Mono Medium"/>
              </a:endParaRPr>
            </a:p>
          </p:txBody>
        </p:sp>
      </p:grpSp>
      <p:grpSp>
        <p:nvGrpSpPr>
          <p:cNvPr id="245" name="node101"/>
          <p:cNvGrpSpPr/>
          <p:nvPr/>
        </p:nvGrpSpPr>
        <p:grpSpPr>
          <a:xfrm>
            <a:off x="6438900" y="5029200"/>
            <a:ext cx="431800" cy="381000"/>
            <a:chOff x="6438900" y="5029200"/>
            <a:chExt cx="431800" cy="381000"/>
          </a:xfrm>
        </p:grpSpPr>
        <p:sp>
          <p:nvSpPr>
            <p:cNvPr id="137" name="node101.surface"/>
            <p:cNvSpPr/>
            <p:nvPr/>
          </p:nvSpPr>
          <p:spPr>
            <a:xfrm>
              <a:off x="6438900" y="5029200"/>
              <a:ext cx="431800" cy="381000"/>
            </a:xfrm>
            <a:prstGeom prst="rect">
              <a:avLst/>
            </a:prstGeom>
            <a:solidFill>
              <a:srgbClr val="7C9BFF"/>
            </a:solidFill>
            <a:ln>
              <a:noFill/>
            </a:ln>
          </p:spPr>
        </p:sp>
        <p:sp>
          <p:nvSpPr>
            <p:cNvPr id="138" name="node101.text"/>
            <p:cNvSpPr/>
            <p:nvPr/>
          </p:nvSpPr>
          <p:spPr>
            <a:xfrm>
              <a:off x="6510867" y="5124450"/>
              <a:ext cx="287867"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a:t>
              </a:r>
              <a:endParaRPr lang="en-US" sz="1100" spc="0" kern="0" b="0" i="0" dirty="0">
                <a:solidFill>
                  <a:srgbClr val="070154"/>
                </a:solidFill>
                <a:latin typeface="IBM Plex Sans"/>
                <a:ea typeface="IBM Plex Sans"/>
                <a:cs typeface="IBM Plex Sans"/>
              </a:endParaRPr>
            </a:p>
          </p:txBody>
        </p:sp>
      </p:grpSp>
      <p:grpSp>
        <p:nvGrpSpPr>
          <p:cNvPr id="246" name="node102"/>
          <p:cNvGrpSpPr/>
          <p:nvPr/>
        </p:nvGrpSpPr>
        <p:grpSpPr>
          <a:xfrm>
            <a:off x="8267700" y="4343400"/>
            <a:ext cx="3048000" cy="723900"/>
            <a:chOff x="8267700" y="4343400"/>
            <a:chExt cx="3048000" cy="723900"/>
          </a:xfrm>
        </p:grpSpPr>
        <p:sp>
          <p:nvSpPr>
            <p:cNvPr id="139" name="node102.source-001.bullet"/>
            <p:cNvSpPr/>
            <p:nvPr/>
          </p:nvSpPr>
          <p:spPr>
            <a:xfrm>
              <a:off x="8267700" y="4432300"/>
              <a:ext cx="38100" cy="38100"/>
            </a:xfrm>
            <a:prstGeom prst="rect">
              <a:avLst/>
            </a:prstGeom>
            <a:solidFill>
              <a:srgbClr val="070154"/>
            </a:solidFill>
            <a:ln>
              <a:noFill/>
            </a:ln>
          </p:spPr>
        </p:sp>
        <p:sp>
          <p:nvSpPr>
            <p:cNvPr id="140" name="node102.source-001.text"/>
            <p:cNvSpPr/>
            <p:nvPr/>
          </p:nvSpPr>
          <p:spPr>
            <a:xfrm>
              <a:off x="8420100" y="43434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Item master has duplicates</a:t>
              </a:r>
              <a:endParaRPr lang="en-US" sz="1200" spc="0" kern="0" b="0" i="0" dirty="0">
                <a:solidFill>
                  <a:srgbClr val="070154"/>
                </a:solidFill>
                <a:latin typeface="IBM Plex Sans"/>
                <a:ea typeface="IBM Plex Sans"/>
                <a:cs typeface="IBM Plex Sans"/>
              </a:endParaRPr>
            </a:p>
          </p:txBody>
        </p:sp>
        <p:sp>
          <p:nvSpPr>
            <p:cNvPr id="141" name="node102.source-002.bullet"/>
            <p:cNvSpPr/>
            <p:nvPr/>
          </p:nvSpPr>
          <p:spPr>
            <a:xfrm>
              <a:off x="8267700" y="4686300"/>
              <a:ext cx="38100" cy="38100"/>
            </a:xfrm>
            <a:prstGeom prst="rect">
              <a:avLst/>
            </a:prstGeom>
            <a:solidFill>
              <a:srgbClr val="070154"/>
            </a:solidFill>
            <a:ln>
              <a:noFill/>
            </a:ln>
          </p:spPr>
        </p:sp>
        <p:sp>
          <p:nvSpPr>
            <p:cNvPr id="142" name="node102.source-002.text"/>
            <p:cNvSpPr/>
            <p:nvPr/>
          </p:nvSpPr>
          <p:spPr>
            <a:xfrm>
              <a:off x="8420100" y="45974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Contracts tracked by site, not system</a:t>
              </a:r>
              <a:endParaRPr lang="en-US" sz="1200" spc="0" kern="0" b="0" i="0" dirty="0">
                <a:solidFill>
                  <a:srgbClr val="070154"/>
                </a:solidFill>
                <a:latin typeface="IBM Plex Sans"/>
                <a:ea typeface="IBM Plex Sans"/>
                <a:cs typeface="IBM Plex Sans"/>
              </a:endParaRPr>
            </a:p>
          </p:txBody>
        </p:sp>
        <p:sp>
          <p:nvSpPr>
            <p:cNvPr id="143" name="node102.source-003.bullet"/>
            <p:cNvSpPr/>
            <p:nvPr/>
          </p:nvSpPr>
          <p:spPr>
            <a:xfrm>
              <a:off x="8267700" y="4940300"/>
              <a:ext cx="38100" cy="38100"/>
            </a:xfrm>
            <a:prstGeom prst="rect">
              <a:avLst/>
            </a:prstGeom>
            <a:solidFill>
              <a:srgbClr val="070154"/>
            </a:solidFill>
            <a:ln>
              <a:noFill/>
            </a:ln>
          </p:spPr>
        </p:sp>
        <p:sp>
          <p:nvSpPr>
            <p:cNvPr id="144" name="node102.source-003.text"/>
            <p:cNvSpPr/>
            <p:nvPr/>
          </p:nvSpPr>
          <p:spPr>
            <a:xfrm>
              <a:off x="8420100" y="48514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Clean the item master first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ource-51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PROGRAM STATUS · SEP 2026</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schedule slip puts the program at risk</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program office status report, 30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81</a:t>
            </a:fld>
            <a:endParaRPr lang="en-US" sz="700" spc="0" kern="0" b="0" i="0" dirty="0">
              <a:solidFill>
                <a:srgbClr val="070154"/>
              </a:solidFill>
              <a:latin typeface="IBM Plex Mono SemiBold"/>
              <a:ea typeface="IBM Plex Mono SemiBold"/>
              <a:cs typeface="IBM Plex Mono SemiBold"/>
            </a:endParaRPr>
          </a:p>
        </p:txBody>
      </p:sp>
      <p:grpSp>
        <p:nvGrpSpPr>
          <p:cNvPr id="48" name="node01"/>
          <p:cNvGrpSpPr/>
          <p:nvPr/>
        </p:nvGrpSpPr>
        <p:grpSpPr>
          <a:xfrm>
            <a:off x="8953500" y="457200"/>
            <a:ext cx="2514600" cy="711200"/>
            <a:chOff x="8953500" y="457200"/>
            <a:chExt cx="2514600" cy="711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8953500" y="457200"/>
            <a:ext cx="2514600" cy="711200"/>
          </p:xfrm>
          <a:graphic>
            <a:graphicData uri="http://schemas.openxmlformats.org/drawingml/2006/table">
              <a:tbl>
                <a:tblPr/>
                <a:tblGrid>
                  <a:gridCol w="25146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OVERALL STATUS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At risk</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row.item-001.s.status-mark"/>
            <p:cNvSpPr/>
            <p:nvPr/>
          </p:nvSpPr>
          <p:spPr>
            <a:xfrm>
              <a:off x="9112250" y="946150"/>
              <a:ext cx="88900" cy="88900"/>
            </a:xfrm>
            <a:prstGeom prst="rect">
              <a:avLst/>
            </a:prstGeom>
            <a:solidFill>
              <a:srgbClr val="FFC700"/>
            </a:solidFill>
            <a:ln w="12700">
              <a:solidFill>
                <a:srgbClr val="070154"/>
              </a:solidFill>
              <a:prstDash val="solid"/>
            </a:ln>
          </p:spPr>
        </p:sp>
      </p:grpSp>
      <p:grpSp>
        <p:nvGrpSpPr>
          <p:cNvPr id="49" name="node02"/>
          <p:cNvGrpSpPr/>
          <p:nvPr/>
        </p:nvGrpSpPr>
        <p:grpSpPr>
          <a:xfrm>
            <a:off x="723900" y="1600200"/>
            <a:ext cx="5257800" cy="2082800"/>
            <a:chOff x="723900" y="1600200"/>
            <a:chExt cx="5257800" cy="2082800"/>
          </a:xfrm>
        </p:grpSpPr>
        <p:graphicFrame>
          <p:nvGraphicFramePr>
            <p:cNvPr id="9" name="node02.native"/>
            <p:cNvGraphicFramePr>
              <a:graphicFrameLocks noGrp="1"/>
            </p:cNvGraphicFramePr>
            <p:nvPr>
              <p:extLst>
                <p:ext uri="{D42A27DB-BD31-4B8C-83A1-F6EECF244321}">
                  <p14:modId xmlns:p14="http://schemas.microsoft.com/office/powerpoint/2010/main" val="1579011935"/>
                </p:ext>
              </p:extLst>
            </p:nvPr>
          </p:nvGraphicFramePr>
          <p:xfrm>
            <a:off x="723900" y="1600200"/>
            <a:ext cx="5257800" cy="2082800"/>
          </p:xfrm>
          <a:graphic>
            <a:graphicData uri="http://schemas.openxmlformats.org/drawingml/2006/table">
              <a:tbl>
                <a:tblPr/>
                <a:tblGrid>
                  <a:gridCol w="990600"/>
                  <a:gridCol w="1371600"/>
                  <a:gridCol w="2895600"/>
                </a:tblGrid>
                <a:tr h="304800">
                  <a:tc gridSpan="3">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STATUS BY AREA</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2700" cap="flat" cmpd="sng" algn="ctr">
                        <a:solidFill>
                          <a:srgbClr val="070154"/>
                        </a:solidFill>
                        <a:prstDash val="solid"/>
                        <a:round/>
                        <a:headEnd type="none" w="med" len="med"/>
                        <a:tailEnd type="none" w="med" len="med"/>
                      </a:lnB>
                      <a:solidFill>
                        <a:srgbClr val="FFFFFF"/>
                      </a:solidFill>
                    </a:tcPr>
                  </a:tc>
                  <a:tc hMerge="1">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endParaRPr lang="en-US" sz="800" spc="48"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endParaRPr lang="en-US" sz="800" spc="48" kern="0" b="0" i="0" dirty="0">
                          <a:solidFill>
                            <a:srgbClr val="070154"/>
                          </a:solidFill>
                          <a:latin typeface="IBM Plex Mono SemiBold"/>
                          <a:ea typeface="IBM Plex Mono SemiBold"/>
                          <a:cs typeface="IBM Plex Mono SemiBold"/>
                        </a:endParaRPr>
                      </a:p>
                    </a:txBody>
                    <a:tcPr/>
                  </a:tc>
                </a:tr>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AREA</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STATUS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THIS PERIOD</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Scope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On track</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Two change requests approved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Schedule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At risk</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Wave 2 cutover slips six days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Budget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On track</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$0.2M under plan to date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Risks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At risk</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Two high risks, both owned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10" name="node02.row.item-001.st.status-mark"/>
            <p:cNvSpPr/>
            <p:nvPr/>
          </p:nvSpPr>
          <p:spPr>
            <a:xfrm>
              <a:off x="1873250" y="2393950"/>
              <a:ext cx="88900" cy="88900"/>
            </a:xfrm>
            <a:prstGeom prst="rect">
              <a:avLst/>
            </a:prstGeom>
            <a:solidFill>
              <a:srgbClr val="1DD566"/>
            </a:solidFill>
            <a:ln w="12700">
              <a:solidFill>
                <a:srgbClr val="070154"/>
              </a:solidFill>
              <a:prstDash val="solid"/>
            </a:ln>
          </p:spPr>
        </p:sp>
        <p:sp>
          <p:nvSpPr>
            <p:cNvPr id="11" name="node02.row.item-002.st.status-mark"/>
            <p:cNvSpPr/>
            <p:nvPr/>
          </p:nvSpPr>
          <p:spPr>
            <a:xfrm>
              <a:off x="1873250" y="2749550"/>
              <a:ext cx="88900" cy="88900"/>
            </a:xfrm>
            <a:prstGeom prst="rect">
              <a:avLst/>
            </a:prstGeom>
            <a:solidFill>
              <a:srgbClr val="FFC700"/>
            </a:solidFill>
            <a:ln w="12700">
              <a:solidFill>
                <a:srgbClr val="070154"/>
              </a:solidFill>
              <a:prstDash val="solid"/>
            </a:ln>
          </p:spPr>
        </p:sp>
        <p:sp>
          <p:nvSpPr>
            <p:cNvPr id="12" name="node02.row.item-003.st.status-mark"/>
            <p:cNvSpPr/>
            <p:nvPr/>
          </p:nvSpPr>
          <p:spPr>
            <a:xfrm>
              <a:off x="1873250" y="3105150"/>
              <a:ext cx="88900" cy="88900"/>
            </a:xfrm>
            <a:prstGeom prst="rect">
              <a:avLst/>
            </a:prstGeom>
            <a:solidFill>
              <a:srgbClr val="1DD566"/>
            </a:solidFill>
            <a:ln w="12700">
              <a:solidFill>
                <a:srgbClr val="070154"/>
              </a:solidFill>
              <a:prstDash val="solid"/>
            </a:ln>
          </p:spPr>
        </p:sp>
        <p:sp>
          <p:nvSpPr>
            <p:cNvPr id="13" name="node02.row.item-004.st.status-mark"/>
            <p:cNvSpPr/>
            <p:nvPr/>
          </p:nvSpPr>
          <p:spPr>
            <a:xfrm>
              <a:off x="1873250" y="3460750"/>
              <a:ext cx="88900" cy="88900"/>
            </a:xfrm>
            <a:prstGeom prst="rect">
              <a:avLst/>
            </a:prstGeom>
            <a:solidFill>
              <a:srgbClr val="FFC700"/>
            </a:solidFill>
            <a:ln w="12700">
              <a:solidFill>
                <a:srgbClr val="070154"/>
              </a:solidFill>
              <a:prstDash val="solid"/>
            </a:ln>
          </p:spPr>
        </p:sp>
      </p:grpSp>
      <p:grpSp>
        <p:nvGrpSpPr>
          <p:cNvPr id="50" name="node03"/>
          <p:cNvGrpSpPr/>
          <p:nvPr/>
        </p:nvGrpSpPr>
        <p:grpSpPr>
          <a:xfrm>
            <a:off x="6210300" y="1600200"/>
            <a:ext cx="2514600" cy="228600"/>
            <a:chOff x="6210300" y="1600200"/>
            <a:chExt cx="2514600" cy="228600"/>
          </a:xfrm>
        </p:grpSpPr>
        <p:sp>
          <p:nvSpPr>
            <p:cNvPr id="14" name="node03.label"/>
            <p:cNvSpPr/>
            <p:nvPr/>
          </p:nvSpPr>
          <p:spPr>
            <a:xfrm>
              <a:off x="6210300" y="1600200"/>
              <a:ext cx="1420236"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COMPLETED THIS PERIOD</a:t>
              </a:r>
              <a:endParaRPr lang="en-US" sz="800" spc="48" kern="0" b="0" i="0" dirty="0">
                <a:solidFill>
                  <a:srgbClr val="50658E"/>
                </a:solidFill>
                <a:latin typeface="IBM Plex Mono Medium"/>
                <a:ea typeface="IBM Plex Mono Medium"/>
                <a:cs typeface="IBM Plex Mono Medium"/>
              </a:endParaRPr>
            </a:p>
          </p:txBody>
        </p:sp>
        <p:sp>
          <p:nvSpPr>
            <p:cNvPr id="15" name="node03.rule"/>
            <p:cNvSpPr/>
            <p:nvPr/>
          </p:nvSpPr>
          <p:spPr>
            <a:xfrm>
              <a:off x="7757536" y="1709738"/>
              <a:ext cx="967364" cy="9525"/>
            </a:xfrm>
            <a:prstGeom prst="rect">
              <a:avLst/>
            </a:prstGeom>
            <a:solidFill>
              <a:srgbClr val="CED7E6"/>
            </a:solidFill>
            <a:ln>
              <a:noFill/>
            </a:ln>
          </p:spPr>
        </p:sp>
      </p:grpSp>
      <p:grpSp>
        <p:nvGrpSpPr>
          <p:cNvPr id="51" name="node04"/>
          <p:cNvGrpSpPr/>
          <p:nvPr/>
        </p:nvGrpSpPr>
        <p:grpSpPr>
          <a:xfrm>
            <a:off x="6210300" y="1981200"/>
            <a:ext cx="2514600" cy="977900"/>
            <a:chOff x="6210300" y="1981200"/>
            <a:chExt cx="2514600" cy="977900"/>
          </a:xfrm>
        </p:grpSpPr>
        <p:sp>
          <p:nvSpPr>
            <p:cNvPr id="16" name="node04.source-001.bullet"/>
            <p:cNvSpPr/>
            <p:nvPr/>
          </p:nvSpPr>
          <p:spPr>
            <a:xfrm>
              <a:off x="6210300" y="2070100"/>
              <a:ext cx="38100" cy="38100"/>
            </a:xfrm>
            <a:prstGeom prst="rect">
              <a:avLst/>
            </a:prstGeom>
            <a:solidFill>
              <a:srgbClr val="070154"/>
            </a:solidFill>
            <a:ln>
              <a:noFill/>
            </a:ln>
          </p:spPr>
        </p:sp>
        <p:sp>
          <p:nvSpPr>
            <p:cNvPr id="17" name="node04.source-001.text"/>
            <p:cNvSpPr/>
            <p:nvPr/>
          </p:nvSpPr>
          <p:spPr>
            <a:xfrm>
              <a:off x="6362700" y="1981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Wave 1 entities live</a:t>
              </a:r>
              <a:endParaRPr lang="en-US" sz="1200" spc="0" kern="0" b="0" i="0" dirty="0">
                <a:solidFill>
                  <a:srgbClr val="070154"/>
                </a:solidFill>
                <a:latin typeface="IBM Plex Sans"/>
                <a:ea typeface="IBM Plex Sans"/>
                <a:cs typeface="IBM Plex Sans"/>
              </a:endParaRPr>
            </a:p>
          </p:txBody>
        </p:sp>
        <p:sp>
          <p:nvSpPr>
            <p:cNvPr id="18" name="node04.source-002.bullet"/>
            <p:cNvSpPr/>
            <p:nvPr/>
          </p:nvSpPr>
          <p:spPr>
            <a:xfrm>
              <a:off x="6210300" y="2324100"/>
              <a:ext cx="38100" cy="38100"/>
            </a:xfrm>
            <a:prstGeom prst="rect">
              <a:avLst/>
            </a:prstGeom>
            <a:solidFill>
              <a:srgbClr val="070154"/>
            </a:solidFill>
            <a:ln>
              <a:noFill/>
            </a:ln>
          </p:spPr>
        </p:sp>
        <p:sp>
          <p:nvSpPr>
            <p:cNvPr id="19" name="node04.source-002.text"/>
            <p:cNvSpPr/>
            <p:nvPr/>
          </p:nvSpPr>
          <p:spPr>
            <a:xfrm>
              <a:off x="6362700" y="2235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Journal rules signed off</a:t>
              </a:r>
              <a:endParaRPr lang="en-US" sz="1200" spc="0" kern="0" b="0" i="0" dirty="0">
                <a:solidFill>
                  <a:srgbClr val="070154"/>
                </a:solidFill>
                <a:latin typeface="IBM Plex Sans"/>
                <a:ea typeface="IBM Plex Sans"/>
                <a:cs typeface="IBM Plex Sans"/>
              </a:endParaRPr>
            </a:p>
          </p:txBody>
        </p:sp>
        <p:sp>
          <p:nvSpPr>
            <p:cNvPr id="20" name="node04.source-003.bullet"/>
            <p:cNvSpPr/>
            <p:nvPr/>
          </p:nvSpPr>
          <p:spPr>
            <a:xfrm>
              <a:off x="6210300" y="2578100"/>
              <a:ext cx="38100" cy="38100"/>
            </a:xfrm>
            <a:prstGeom prst="rect">
              <a:avLst/>
            </a:prstGeom>
            <a:solidFill>
              <a:srgbClr val="070154"/>
            </a:solidFill>
            <a:ln>
              <a:noFill/>
            </a:ln>
          </p:spPr>
        </p:sp>
        <p:sp>
          <p:nvSpPr>
            <p:cNvPr id="21" name="node04.source-003.text"/>
            <p:cNvSpPr/>
            <p:nvPr/>
          </p:nvSpPr>
          <p:spPr>
            <a:xfrm>
              <a:off x="6362700" y="2489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calendar published</a:t>
              </a:r>
              <a:endParaRPr lang="en-US" sz="1200" spc="0" kern="0" b="0" i="0" dirty="0">
                <a:solidFill>
                  <a:srgbClr val="070154"/>
                </a:solidFill>
                <a:latin typeface="IBM Plex Sans"/>
                <a:ea typeface="IBM Plex Sans"/>
                <a:cs typeface="IBM Plex Sans"/>
              </a:endParaRPr>
            </a:p>
          </p:txBody>
        </p:sp>
        <p:sp>
          <p:nvSpPr>
            <p:cNvPr id="22" name="node04.source-004.bullet"/>
            <p:cNvSpPr/>
            <p:nvPr/>
          </p:nvSpPr>
          <p:spPr>
            <a:xfrm>
              <a:off x="6210300" y="2832100"/>
              <a:ext cx="38100" cy="38100"/>
            </a:xfrm>
            <a:prstGeom prst="rect">
              <a:avLst/>
            </a:prstGeom>
            <a:solidFill>
              <a:srgbClr val="070154"/>
            </a:solidFill>
            <a:ln>
              <a:noFill/>
            </a:ln>
          </p:spPr>
        </p:sp>
        <p:sp>
          <p:nvSpPr>
            <p:cNvPr id="23" name="node04.source-004.text"/>
            <p:cNvSpPr/>
            <p:nvPr/>
          </p:nvSpPr>
          <p:spPr>
            <a:xfrm>
              <a:off x="6362700" y="2743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Training cohort one done</a:t>
              </a:r>
              <a:endParaRPr lang="en-US" sz="1200" spc="0" kern="0" b="0" i="0" dirty="0">
                <a:solidFill>
                  <a:srgbClr val="070154"/>
                </a:solidFill>
                <a:latin typeface="IBM Plex Sans"/>
                <a:ea typeface="IBM Plex Sans"/>
                <a:cs typeface="IBM Plex Sans"/>
              </a:endParaRPr>
            </a:p>
          </p:txBody>
        </p:sp>
      </p:grpSp>
      <p:grpSp>
        <p:nvGrpSpPr>
          <p:cNvPr id="52" name="node05"/>
          <p:cNvGrpSpPr/>
          <p:nvPr/>
        </p:nvGrpSpPr>
        <p:grpSpPr>
          <a:xfrm>
            <a:off x="8953500" y="1600200"/>
            <a:ext cx="2514600" cy="228600"/>
            <a:chOff x="8953500" y="1600200"/>
            <a:chExt cx="2514600" cy="228600"/>
          </a:xfrm>
        </p:grpSpPr>
        <p:sp>
          <p:nvSpPr>
            <p:cNvPr id="24" name="node05.label"/>
            <p:cNvSpPr/>
            <p:nvPr/>
          </p:nvSpPr>
          <p:spPr>
            <a:xfrm>
              <a:off x="8953500" y="1600200"/>
              <a:ext cx="1287394"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PLANNED NEXT PERIOD</a:t>
              </a:r>
              <a:endParaRPr lang="en-US" sz="800" spc="48" kern="0" b="0" i="0" dirty="0">
                <a:solidFill>
                  <a:srgbClr val="50658E"/>
                </a:solidFill>
                <a:latin typeface="IBM Plex Mono Medium"/>
                <a:ea typeface="IBM Plex Mono Medium"/>
                <a:cs typeface="IBM Plex Mono Medium"/>
              </a:endParaRPr>
            </a:p>
          </p:txBody>
        </p:sp>
        <p:sp>
          <p:nvSpPr>
            <p:cNvPr id="25" name="node05.rule"/>
            <p:cNvSpPr/>
            <p:nvPr/>
          </p:nvSpPr>
          <p:spPr>
            <a:xfrm>
              <a:off x="10367894" y="1709738"/>
              <a:ext cx="1100206" cy="9525"/>
            </a:xfrm>
            <a:prstGeom prst="rect">
              <a:avLst/>
            </a:prstGeom>
            <a:solidFill>
              <a:srgbClr val="CED7E6"/>
            </a:solidFill>
            <a:ln>
              <a:noFill/>
            </a:ln>
          </p:spPr>
        </p:sp>
      </p:grpSp>
      <p:grpSp>
        <p:nvGrpSpPr>
          <p:cNvPr id="53" name="node06"/>
          <p:cNvGrpSpPr/>
          <p:nvPr/>
        </p:nvGrpSpPr>
        <p:grpSpPr>
          <a:xfrm>
            <a:off x="8953500" y="1981200"/>
            <a:ext cx="2514600" cy="977900"/>
            <a:chOff x="8953500" y="1981200"/>
            <a:chExt cx="2514600" cy="977900"/>
          </a:xfrm>
        </p:grpSpPr>
        <p:sp>
          <p:nvSpPr>
            <p:cNvPr id="26" name="node06.source-001.bullet"/>
            <p:cNvSpPr/>
            <p:nvPr/>
          </p:nvSpPr>
          <p:spPr>
            <a:xfrm>
              <a:off x="8953500" y="2070100"/>
              <a:ext cx="38100" cy="38100"/>
            </a:xfrm>
            <a:prstGeom prst="rect">
              <a:avLst/>
            </a:prstGeom>
            <a:solidFill>
              <a:srgbClr val="070154"/>
            </a:solidFill>
            <a:ln>
              <a:noFill/>
            </a:ln>
          </p:spPr>
        </p:sp>
        <p:sp>
          <p:nvSpPr>
            <p:cNvPr id="27" name="node06.source-001.text"/>
            <p:cNvSpPr/>
            <p:nvPr/>
          </p:nvSpPr>
          <p:spPr>
            <a:xfrm>
              <a:off x="9105900" y="1981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Wave 2 data migration</a:t>
              </a:r>
              <a:endParaRPr lang="en-US" sz="1200" spc="0" kern="0" b="0" i="0" dirty="0">
                <a:solidFill>
                  <a:srgbClr val="070154"/>
                </a:solidFill>
                <a:latin typeface="IBM Plex Sans"/>
                <a:ea typeface="IBM Plex Sans"/>
                <a:cs typeface="IBM Plex Sans"/>
              </a:endParaRPr>
            </a:p>
          </p:txBody>
        </p:sp>
        <p:sp>
          <p:nvSpPr>
            <p:cNvPr id="28" name="node06.source-002.bullet"/>
            <p:cNvSpPr/>
            <p:nvPr/>
          </p:nvSpPr>
          <p:spPr>
            <a:xfrm>
              <a:off x="8953500" y="2324100"/>
              <a:ext cx="38100" cy="38100"/>
            </a:xfrm>
            <a:prstGeom prst="rect">
              <a:avLst/>
            </a:prstGeom>
            <a:solidFill>
              <a:srgbClr val="070154"/>
            </a:solidFill>
            <a:ln>
              <a:noFill/>
            </a:ln>
          </p:spPr>
        </p:sp>
        <p:sp>
          <p:nvSpPr>
            <p:cNvPr id="29" name="node06.source-002.text"/>
            <p:cNvSpPr/>
            <p:nvPr/>
          </p:nvSpPr>
          <p:spPr>
            <a:xfrm>
              <a:off x="9105900" y="2235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User acceptance testing</a:t>
              </a:r>
              <a:endParaRPr lang="en-US" sz="1200" spc="0" kern="0" b="0" i="0" dirty="0">
                <a:solidFill>
                  <a:srgbClr val="070154"/>
                </a:solidFill>
                <a:latin typeface="IBM Plex Sans"/>
                <a:ea typeface="IBM Plex Sans"/>
                <a:cs typeface="IBM Plex Sans"/>
              </a:endParaRPr>
            </a:p>
          </p:txBody>
        </p:sp>
        <p:sp>
          <p:nvSpPr>
            <p:cNvPr id="30" name="node06.source-003.bullet"/>
            <p:cNvSpPr/>
            <p:nvPr/>
          </p:nvSpPr>
          <p:spPr>
            <a:xfrm>
              <a:off x="8953500" y="2578100"/>
              <a:ext cx="38100" cy="38100"/>
            </a:xfrm>
            <a:prstGeom prst="rect">
              <a:avLst/>
            </a:prstGeom>
            <a:solidFill>
              <a:srgbClr val="070154"/>
            </a:solidFill>
            <a:ln>
              <a:noFill/>
            </a:ln>
          </p:spPr>
        </p:sp>
        <p:sp>
          <p:nvSpPr>
            <p:cNvPr id="31" name="node06.source-003.text"/>
            <p:cNvSpPr/>
            <p:nvPr/>
          </p:nvSpPr>
          <p:spPr>
            <a:xfrm>
              <a:off x="9105900" y="2489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Cutover go or no-go</a:t>
              </a:r>
              <a:endParaRPr lang="en-US" sz="1200" spc="0" kern="0" b="0" i="0" dirty="0">
                <a:solidFill>
                  <a:srgbClr val="070154"/>
                </a:solidFill>
                <a:latin typeface="IBM Plex Sans"/>
                <a:ea typeface="IBM Plex Sans"/>
                <a:cs typeface="IBM Plex Sans"/>
              </a:endParaRPr>
            </a:p>
          </p:txBody>
        </p:sp>
        <p:sp>
          <p:nvSpPr>
            <p:cNvPr id="32" name="node06.source-004.bullet"/>
            <p:cNvSpPr/>
            <p:nvPr/>
          </p:nvSpPr>
          <p:spPr>
            <a:xfrm>
              <a:off x="8953500" y="2832100"/>
              <a:ext cx="38100" cy="38100"/>
            </a:xfrm>
            <a:prstGeom prst="rect">
              <a:avLst/>
            </a:prstGeom>
            <a:solidFill>
              <a:srgbClr val="070154"/>
            </a:solidFill>
            <a:ln>
              <a:noFill/>
            </a:ln>
          </p:spPr>
        </p:sp>
        <p:sp>
          <p:nvSpPr>
            <p:cNvPr id="33" name="node06.source-004.text"/>
            <p:cNvSpPr/>
            <p:nvPr/>
          </p:nvSpPr>
          <p:spPr>
            <a:xfrm>
              <a:off x="9105900" y="2743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Cockpit design review</a:t>
              </a:r>
              <a:endParaRPr lang="en-US" sz="1200" spc="0" kern="0" b="0" i="0" dirty="0">
                <a:solidFill>
                  <a:srgbClr val="070154"/>
                </a:solidFill>
                <a:latin typeface="IBM Plex Sans"/>
                <a:ea typeface="IBM Plex Sans"/>
                <a:cs typeface="IBM Plex Sans"/>
              </a:endParaRPr>
            </a:p>
          </p:txBody>
        </p:sp>
      </p:grpSp>
      <p:grpSp>
        <p:nvGrpSpPr>
          <p:cNvPr id="54" name="node07"/>
          <p:cNvGrpSpPr/>
          <p:nvPr/>
        </p:nvGrpSpPr>
        <p:grpSpPr>
          <a:xfrm>
            <a:off x="723900" y="3886200"/>
            <a:ext cx="7086600" cy="1727200"/>
            <a:chOff x="723900" y="3886200"/>
            <a:chExt cx="7086600" cy="1727200"/>
          </a:xfrm>
        </p:grpSpPr>
        <p:graphicFrame>
          <p:nvGraphicFramePr>
            <p:cNvPr id="34" name="node07.native"/>
            <p:cNvGraphicFramePr>
              <a:graphicFrameLocks noGrp="1"/>
            </p:cNvGraphicFramePr>
            <p:nvPr>
              <p:extLst>
                <p:ext uri="{D42A27DB-BD31-4B8C-83A1-F6EECF244321}">
                  <p14:modId xmlns:p14="http://schemas.microsoft.com/office/powerpoint/2010/main" val="1579011935"/>
                </p:ext>
              </p:extLst>
            </p:nvPr>
          </p:nvGraphicFramePr>
          <p:xfrm>
            <a:off x="723900" y="3886200"/>
            <a:ext cx="7086600" cy="1727200"/>
          </p:xfrm>
          <a:graphic>
            <a:graphicData uri="http://schemas.openxmlformats.org/drawingml/2006/table">
              <a:tbl>
                <a:tblPr/>
                <a:tblGrid>
                  <a:gridCol w="1828800"/>
                  <a:gridCol w="1066800"/>
                  <a:gridCol w="1219200"/>
                  <a:gridCol w="1828800"/>
                  <a:gridCol w="1143000"/>
                </a:tblGrid>
                <a:tr h="304800">
                  <a:tc gridSpan="5">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RISK REGISTER</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2700" cap="flat" cmpd="sng" algn="ctr">
                        <a:solidFill>
                          <a:srgbClr val="070154"/>
                        </a:solidFill>
                        <a:prstDash val="solid"/>
                        <a:round/>
                        <a:headEnd type="none" w="med" len="med"/>
                        <a:tailEnd type="none" w="med" len="med"/>
                      </a:lnB>
                      <a:solidFill>
                        <a:srgbClr val="FFFFFF"/>
                      </a:solidFill>
                    </a:tcPr>
                  </a:tc>
                  <a:tc hMerge="1">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endParaRPr lang="en-US" sz="800" spc="48"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endParaRPr lang="en-US" sz="800" spc="48"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endParaRPr lang="en-US" sz="800" spc="48"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endParaRPr lang="en-US" sz="800" spc="48" kern="0" b="0" i="0" dirty="0">
                          <a:solidFill>
                            <a:srgbClr val="070154"/>
                          </a:solidFill>
                          <a:latin typeface="IBM Plex Mono SemiBold"/>
                          <a:ea typeface="IBM Plex Mono SemiBold"/>
                          <a:cs typeface="IBM Plex Mono SemiBold"/>
                        </a:endParaRPr>
                      </a:p>
                    </a:txBody>
                    <a:tcPr/>
                  </a:tc>
                </a:tr>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RISK</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LIKELIHOOD</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OWNER</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MITIGATION</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STATUS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Late data extracts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High</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Finance IT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Daily extract check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At risk</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Reviewer capacity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Medium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Controller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Add two reviewers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On track</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Cutover freeze clash</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Medium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PMO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Reset freeze date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At risk</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35" name="node07.row.item-001.st.status-mark"/>
            <p:cNvSpPr/>
            <p:nvPr/>
          </p:nvSpPr>
          <p:spPr>
            <a:xfrm>
              <a:off x="6826250" y="4679950"/>
              <a:ext cx="88900" cy="88900"/>
            </a:xfrm>
            <a:prstGeom prst="rect">
              <a:avLst/>
            </a:prstGeom>
            <a:solidFill>
              <a:srgbClr val="FFC700"/>
            </a:solidFill>
            <a:ln w="12700">
              <a:solidFill>
                <a:srgbClr val="070154"/>
              </a:solidFill>
              <a:prstDash val="solid"/>
            </a:ln>
          </p:spPr>
        </p:sp>
        <p:sp>
          <p:nvSpPr>
            <p:cNvPr id="36" name="node07.row.item-002.st.status-mark"/>
            <p:cNvSpPr/>
            <p:nvPr/>
          </p:nvSpPr>
          <p:spPr>
            <a:xfrm>
              <a:off x="6826250" y="5035550"/>
              <a:ext cx="88900" cy="88900"/>
            </a:xfrm>
            <a:prstGeom prst="rect">
              <a:avLst/>
            </a:prstGeom>
            <a:solidFill>
              <a:srgbClr val="1DD566"/>
            </a:solidFill>
            <a:ln w="12700">
              <a:solidFill>
                <a:srgbClr val="070154"/>
              </a:solidFill>
              <a:prstDash val="solid"/>
            </a:ln>
          </p:spPr>
        </p:sp>
        <p:sp>
          <p:nvSpPr>
            <p:cNvPr id="37" name="node07.row.item-003.st.status-mark"/>
            <p:cNvSpPr/>
            <p:nvPr/>
          </p:nvSpPr>
          <p:spPr>
            <a:xfrm>
              <a:off x="6826250" y="5391150"/>
              <a:ext cx="88900" cy="88900"/>
            </a:xfrm>
            <a:prstGeom prst="rect">
              <a:avLst/>
            </a:prstGeom>
            <a:solidFill>
              <a:srgbClr val="FFC700"/>
            </a:solidFill>
            <a:ln w="12700">
              <a:solidFill>
                <a:srgbClr val="070154"/>
              </a:solidFill>
              <a:prstDash val="solid"/>
            </a:ln>
          </p:spPr>
        </p:sp>
      </p:grpSp>
      <p:grpSp>
        <p:nvGrpSpPr>
          <p:cNvPr id="55" name="node08"/>
          <p:cNvGrpSpPr/>
          <p:nvPr/>
        </p:nvGrpSpPr>
        <p:grpSpPr>
          <a:xfrm>
            <a:off x="8039100" y="3886200"/>
            <a:ext cx="3429000" cy="228600"/>
            <a:chOff x="8039100" y="3886200"/>
            <a:chExt cx="3429000" cy="228600"/>
          </a:xfrm>
        </p:grpSpPr>
        <p:sp>
          <p:nvSpPr>
            <p:cNvPr id="38" name="node08.label"/>
            <p:cNvSpPr/>
            <p:nvPr/>
          </p:nvSpPr>
          <p:spPr>
            <a:xfrm>
              <a:off x="8039100" y="3886200"/>
              <a:ext cx="1088132"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DECISIONS NEEDED</a:t>
              </a:r>
              <a:endParaRPr lang="en-US" sz="800" spc="48" kern="0" b="0" i="0" dirty="0">
                <a:solidFill>
                  <a:srgbClr val="50658E"/>
                </a:solidFill>
                <a:latin typeface="IBM Plex Mono Medium"/>
                <a:ea typeface="IBM Plex Mono Medium"/>
                <a:cs typeface="IBM Plex Mono Medium"/>
              </a:endParaRPr>
            </a:p>
          </p:txBody>
        </p:sp>
        <p:sp>
          <p:nvSpPr>
            <p:cNvPr id="39" name="node08.rule"/>
            <p:cNvSpPr/>
            <p:nvPr/>
          </p:nvSpPr>
          <p:spPr>
            <a:xfrm>
              <a:off x="9254232" y="3995738"/>
              <a:ext cx="2213868" cy="9525"/>
            </a:xfrm>
            <a:prstGeom prst="rect">
              <a:avLst/>
            </a:prstGeom>
            <a:solidFill>
              <a:srgbClr val="CED7E6"/>
            </a:solidFill>
            <a:ln>
              <a:noFill/>
            </a:ln>
          </p:spPr>
        </p:sp>
      </p:grpSp>
      <p:grpSp>
        <p:nvGrpSpPr>
          <p:cNvPr id="56" name="node09"/>
          <p:cNvGrpSpPr/>
          <p:nvPr/>
        </p:nvGrpSpPr>
        <p:grpSpPr>
          <a:xfrm>
            <a:off x="8039100" y="4267200"/>
            <a:ext cx="3429000" cy="977900"/>
            <a:chOff x="8039100" y="4267200"/>
            <a:chExt cx="3429000" cy="977900"/>
          </a:xfrm>
        </p:grpSpPr>
        <p:sp>
          <p:nvSpPr>
            <p:cNvPr id="40" name="node09.source-001.bullet"/>
            <p:cNvSpPr/>
            <p:nvPr/>
          </p:nvSpPr>
          <p:spPr>
            <a:xfrm>
              <a:off x="8039100" y="4356100"/>
              <a:ext cx="38100" cy="38100"/>
            </a:xfrm>
            <a:prstGeom prst="rect">
              <a:avLst/>
            </a:prstGeom>
            <a:solidFill>
              <a:srgbClr val="070154"/>
            </a:solidFill>
            <a:ln>
              <a:noFill/>
            </a:ln>
          </p:spPr>
        </p:sp>
        <p:sp>
          <p:nvSpPr>
            <p:cNvPr id="41" name="node09.source-001.text"/>
            <p:cNvSpPr/>
            <p:nvPr/>
          </p:nvSpPr>
          <p:spPr>
            <a:xfrm>
              <a:off x="8191500" y="4267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Approve new cutover date</a:t>
              </a:r>
              <a:r>
                <a:rPr lang="en-US" sz="1200" spc="0" kern="0" b="0" i="0" dirty="0">
                  <a:solidFill>
                    <a:srgbClr val="50658E"/>
                  </a:solidFill>
                  <a:latin typeface="IBM Plex Sans"/>
                  <a:ea typeface="IBM Plex Sans"/>
                  <a:cs typeface="IBM Plex Sans"/>
                </a:rPr>
                <a:t xml:space="preserve"> CFO, by 9 Oct</a:t>
              </a:r>
              <a:endParaRPr lang="en-US" sz="1200" spc="0" kern="0" b="0" i="0" dirty="0">
                <a:solidFill>
                  <a:srgbClr val="070154"/>
                </a:solidFill>
                <a:latin typeface="IBM Plex Sans"/>
                <a:ea typeface="IBM Plex Sans"/>
                <a:cs typeface="IBM Plex Sans"/>
              </a:endParaRPr>
            </a:p>
          </p:txBody>
        </p:sp>
        <p:sp>
          <p:nvSpPr>
            <p:cNvPr id="42" name="node09.source-002.bullet"/>
            <p:cNvSpPr/>
            <p:nvPr/>
          </p:nvSpPr>
          <p:spPr>
            <a:xfrm>
              <a:off x="8039100" y="4610100"/>
              <a:ext cx="38100" cy="38100"/>
            </a:xfrm>
            <a:prstGeom prst="rect">
              <a:avLst/>
            </a:prstGeom>
            <a:solidFill>
              <a:srgbClr val="070154"/>
            </a:solidFill>
            <a:ln>
              <a:noFill/>
            </a:ln>
          </p:spPr>
        </p:sp>
        <p:sp>
          <p:nvSpPr>
            <p:cNvPr id="43" name="node09.source-002.text"/>
            <p:cNvSpPr/>
            <p:nvPr/>
          </p:nvSpPr>
          <p:spPr>
            <a:xfrm>
              <a:off x="8191500" y="4521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Fund two extra reviewers</a:t>
              </a:r>
              <a:r>
                <a:rPr lang="en-US" sz="1200" spc="0" kern="0" b="0" i="0" dirty="0">
                  <a:solidFill>
                    <a:srgbClr val="50658E"/>
                  </a:solidFill>
                  <a:latin typeface="IBM Plex Sans"/>
                  <a:ea typeface="IBM Plex Sans"/>
                  <a:cs typeface="IBM Plex Sans"/>
                </a:rPr>
                <a:t xml:space="preserve"> Controller, by 16 Oct</a:t>
              </a:r>
              <a:endParaRPr lang="en-US" sz="1200" spc="0" kern="0" b="0" i="0" dirty="0">
                <a:solidFill>
                  <a:srgbClr val="070154"/>
                </a:solidFill>
                <a:latin typeface="IBM Plex Sans"/>
                <a:ea typeface="IBM Plex Sans"/>
                <a:cs typeface="IBM Plex Sans"/>
              </a:endParaRPr>
            </a:p>
          </p:txBody>
        </p:sp>
        <p:sp>
          <p:nvSpPr>
            <p:cNvPr id="44" name="node09.source-003.bullet"/>
            <p:cNvSpPr/>
            <p:nvPr/>
          </p:nvSpPr>
          <p:spPr>
            <a:xfrm>
              <a:off x="8039100" y="4864100"/>
              <a:ext cx="38100" cy="38100"/>
            </a:xfrm>
            <a:prstGeom prst="rect">
              <a:avLst/>
            </a:prstGeom>
            <a:solidFill>
              <a:srgbClr val="070154"/>
            </a:solidFill>
            <a:ln>
              <a:noFill/>
            </a:ln>
          </p:spPr>
        </p:sp>
        <p:sp>
          <p:nvSpPr>
            <p:cNvPr id="45" name="node09.source-003.text"/>
            <p:cNvSpPr/>
            <p:nvPr/>
          </p:nvSpPr>
          <p:spPr>
            <a:xfrm>
              <a:off x="8191500" y="4775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Confirm freeze window</a:t>
              </a:r>
              <a:r>
                <a:rPr lang="en-US" sz="1200" spc="0" kern="0" b="0" i="0" dirty="0">
                  <a:solidFill>
                    <a:srgbClr val="50658E"/>
                  </a:solidFill>
                  <a:latin typeface="IBM Plex Sans"/>
                  <a:ea typeface="IBM Plex Sans"/>
                  <a:cs typeface="IBM Plex Sans"/>
                </a:rPr>
                <a:t xml:space="preserve"> CIO, by 16 Oct</a:t>
              </a:r>
              <a:endParaRPr lang="en-US" sz="1200" spc="0" kern="0" b="0" i="0" dirty="0">
                <a:solidFill>
                  <a:srgbClr val="070154"/>
                </a:solidFill>
                <a:latin typeface="IBM Plex Sans"/>
                <a:ea typeface="IBM Plex Sans"/>
                <a:cs typeface="IBM Plex Sans"/>
              </a:endParaRPr>
            </a:p>
          </p:txBody>
        </p:sp>
        <p:sp>
          <p:nvSpPr>
            <p:cNvPr id="46" name="node09.source-004.bullet"/>
            <p:cNvSpPr/>
            <p:nvPr/>
          </p:nvSpPr>
          <p:spPr>
            <a:xfrm>
              <a:off x="8039100" y="5118100"/>
              <a:ext cx="38100" cy="38100"/>
            </a:xfrm>
            <a:prstGeom prst="rect">
              <a:avLst/>
            </a:prstGeom>
            <a:solidFill>
              <a:srgbClr val="070154"/>
            </a:solidFill>
            <a:ln>
              <a:noFill/>
            </a:ln>
          </p:spPr>
        </p:sp>
        <p:sp>
          <p:nvSpPr>
            <p:cNvPr id="47" name="node09.source-004.text"/>
            <p:cNvSpPr/>
            <p:nvPr/>
          </p:nvSpPr>
          <p:spPr>
            <a:xfrm>
              <a:off x="8191500" y="5029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Release Wave 3 budget</a:t>
              </a:r>
              <a:r>
                <a:rPr lang="en-US" sz="1200" spc="0" kern="0" b="0" i="0" dirty="0">
                  <a:solidFill>
                    <a:srgbClr val="50658E"/>
                  </a:solidFill>
                  <a:latin typeface="IBM Plex Sans"/>
                  <a:ea typeface="IBM Plex Sans"/>
                  <a:cs typeface="IBM Plex Sans"/>
                </a:rPr>
                <a:t xml:space="preserve"> CFO, by 30 Oct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ource-51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STEERING COMMITTEE · SEP 2026</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Program is at risk until Wave 2 cutover is reset</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257300"/>
          </a:xfrm>
          <a:prstGeom prst="rect">
            <a:avLst/>
          </a:prstGeom>
          <a:solidFill>
            <a:srgbClr val="070154"/>
          </a:solidFill>
          <a:ln>
            <a:noFill/>
          </a:ln>
        </p:spPr>
      </p:sp>
      <p:sp>
        <p:nvSpPr>
          <p:cNvPr id="6" name="nav.label.section-01"/>
          <p:cNvSpPr/>
          <p:nvPr/>
        </p:nvSpPr>
        <p:spPr>
          <a:xfrm>
            <a:off x="266700" y="4572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UPDATE</a:t>
            </a:r>
            <a:endParaRPr lang="en-US" sz="800" spc="80" kern="0" b="0" i="0" dirty="0">
              <a:solidFill>
                <a:srgbClr val="FFFFFF"/>
              </a:solidFill>
              <a:latin typeface="IBM Plex Mono SemiBold"/>
              <a:ea typeface="IBM Plex Mono SemiBold"/>
              <a:cs typeface="IBM Plex Mono SemiBold"/>
            </a:endParaRPr>
          </a:p>
        </p:txBody>
      </p:sp>
      <p:sp>
        <p:nvSpPr>
          <p:cNvPr id="7" name="nav.section-02"/>
          <p:cNvSpPr/>
          <p:nvPr/>
        </p:nvSpPr>
        <p:spPr>
          <a:xfrm>
            <a:off x="266700" y="1790700"/>
            <a:ext cx="228600" cy="1257300"/>
          </a:xfrm>
          <a:prstGeom prst="rect">
            <a:avLst/>
          </a:prstGeom>
          <a:solidFill>
            <a:srgbClr val="E8EEF8"/>
          </a:solidFill>
          <a:ln>
            <a:noFill/>
          </a:ln>
        </p:spPr>
      </p:sp>
      <p:sp>
        <p:nvSpPr>
          <p:cNvPr id="8" name="nav.label.section-02"/>
          <p:cNvSpPr/>
          <p:nvPr/>
        </p:nvSpPr>
        <p:spPr>
          <a:xfrm>
            <a:off x="266700" y="17907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PLAN</a:t>
            </a:r>
            <a:endParaRPr lang="en-US" sz="800" spc="80" kern="0" b="0" i="0" dirty="0">
              <a:solidFill>
                <a:srgbClr val="50658E"/>
              </a:solidFill>
              <a:latin typeface="IBM Plex Mono SemiBold"/>
              <a:ea typeface="IBM Plex Mono SemiBold"/>
              <a:cs typeface="IBM Plex Mono SemiBold"/>
            </a:endParaRPr>
          </a:p>
        </p:txBody>
      </p:sp>
      <p:sp>
        <p:nvSpPr>
          <p:cNvPr id="9" name="nav.section-03"/>
          <p:cNvSpPr/>
          <p:nvPr/>
        </p:nvSpPr>
        <p:spPr>
          <a:xfrm>
            <a:off x="266700" y="3124200"/>
            <a:ext cx="228600" cy="1257300"/>
          </a:xfrm>
          <a:prstGeom prst="rect">
            <a:avLst/>
          </a:prstGeom>
          <a:solidFill>
            <a:srgbClr val="E8EEF8"/>
          </a:solidFill>
          <a:ln>
            <a:noFill/>
          </a:ln>
        </p:spPr>
      </p:sp>
      <p:sp>
        <p:nvSpPr>
          <p:cNvPr id="10" name="nav.label.section-03"/>
          <p:cNvSpPr/>
          <p:nvPr/>
        </p:nvSpPr>
        <p:spPr>
          <a:xfrm>
            <a:off x="266700" y="31242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RISKS</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4457700"/>
            <a:ext cx="228600" cy="1257300"/>
          </a:xfrm>
          <a:prstGeom prst="rect">
            <a:avLst/>
          </a:prstGeom>
          <a:solidFill>
            <a:srgbClr val="E8EEF8"/>
          </a:solidFill>
          <a:ln>
            <a:noFill/>
          </a:ln>
        </p:spPr>
      </p:sp>
      <p:sp>
        <p:nvSpPr>
          <p:cNvPr id="12" name="nav.label.section-04"/>
          <p:cNvSpPr/>
          <p:nvPr/>
        </p:nvSpPr>
        <p:spPr>
          <a:xfrm>
            <a:off x="266700" y="44577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ASKS</a:t>
            </a:r>
            <a:endParaRPr lang="en-US" sz="800" spc="80" kern="0" b="0" i="0" dirty="0">
              <a:solidFill>
                <a:srgbClr val="50658E"/>
              </a:solidFill>
              <a:latin typeface="IBM Plex Mono SemiBold"/>
              <a:ea typeface="IBM Plex Mono SemiBold"/>
              <a:cs typeface="IBM Plex Mono SemiBold"/>
            </a:endParaRPr>
          </a:p>
        </p:txBody>
      </p:sp>
      <p:sp>
        <p:nvSpPr>
          <p:cNvPr id="13"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82</a:t>
            </a:fld>
            <a:endParaRPr lang="en-US" sz="700" spc="0" kern="0" b="0" i="0" dirty="0">
              <a:solidFill>
                <a:srgbClr val="070154"/>
              </a:solidFill>
              <a:latin typeface="IBM Plex Mono SemiBold"/>
              <a:ea typeface="IBM Plex Mono SemiBold"/>
              <a:cs typeface="IBM Plex Mono SemiBold"/>
            </a:endParaRPr>
          </a:p>
        </p:txBody>
      </p:sp>
      <p:grpSp>
        <p:nvGrpSpPr>
          <p:cNvPr id="48" name="node01"/>
          <p:cNvGrpSpPr/>
          <p:nvPr/>
        </p:nvGrpSpPr>
        <p:grpSpPr>
          <a:xfrm>
            <a:off x="723900" y="1600200"/>
            <a:ext cx="2514600" cy="1828800"/>
            <a:chOff x="723900" y="1600200"/>
            <a:chExt cx="2514600" cy="1828800"/>
          </a:xfrm>
        </p:grpSpPr>
        <p:sp>
          <p:nvSpPr>
            <p:cNvPr id="14" name="node01.container"/>
            <p:cNvSpPr/>
            <p:nvPr/>
          </p:nvSpPr>
          <p:spPr>
            <a:xfrm>
              <a:off x="723900" y="1600200"/>
              <a:ext cx="2514600" cy="1828800"/>
            </a:xfrm>
            <a:prstGeom prst="rect">
              <a:avLst/>
            </a:prstGeom>
            <a:solidFill>
              <a:srgbClr val="E8EEF8"/>
            </a:solidFill>
            <a:ln>
              <a:noFill/>
            </a:ln>
          </p:spPr>
        </p:sp>
        <p:sp>
          <p:nvSpPr>
            <p:cNvPr id="15" name="node01.label"/>
            <p:cNvSpPr/>
            <p:nvPr/>
          </p:nvSpPr>
          <p:spPr>
            <a:xfrm>
              <a:off x="876300" y="17526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OVERALL STATUS</a:t>
              </a:r>
              <a:endParaRPr lang="en-US" sz="900" spc="54" kern="0" b="0" i="0" dirty="0">
                <a:solidFill>
                  <a:srgbClr val="0047FF"/>
                </a:solidFill>
                <a:latin typeface="IBM Plex Mono Medium"/>
                <a:ea typeface="IBM Plex Mono Medium"/>
                <a:cs typeface="IBM Plex Mono Medium"/>
              </a:endParaRPr>
            </a:p>
          </p:txBody>
        </p:sp>
        <p:sp>
          <p:nvSpPr>
            <p:cNvPr id="16" name="node01.metric.value"/>
            <p:cNvSpPr/>
            <p:nvPr/>
          </p:nvSpPr>
          <p:spPr>
            <a:xfrm>
              <a:off x="876300" y="1981200"/>
              <a:ext cx="2209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Wave 2</a:t>
              </a:r>
              <a:endParaRPr lang="en-US" sz="3600" spc="-72" kern="0" b="0" i="0" dirty="0">
                <a:solidFill>
                  <a:srgbClr val="070154"/>
                </a:solidFill>
                <a:latin typeface="IBM Plex Mono SemiBold"/>
                <a:ea typeface="IBM Plex Mono SemiBold"/>
                <a:cs typeface="IBM Plex Mono SemiBold"/>
              </a:endParaRPr>
            </a:p>
          </p:txBody>
        </p:sp>
        <p:sp>
          <p:nvSpPr>
            <p:cNvPr id="17" name="node01.metric.label"/>
            <p:cNvSpPr/>
            <p:nvPr/>
          </p:nvSpPr>
          <p:spPr>
            <a:xfrm>
              <a:off x="876300" y="2516378"/>
              <a:ext cx="2209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of 3, cutover date at risk</a:t>
              </a:r>
              <a:endParaRPr lang="en-US" sz="1400" spc="0" kern="0" b="0" i="0" dirty="0">
                <a:solidFill>
                  <a:srgbClr val="50658E"/>
                </a:solidFill>
                <a:latin typeface="IBM Plex Sans"/>
                <a:ea typeface="IBM Plex Sans"/>
                <a:cs typeface="IBM Plex Sans"/>
              </a:endParaRPr>
            </a:p>
          </p:txBody>
        </p:sp>
        <p:sp>
          <p:nvSpPr>
            <p:cNvPr id="18" name="node01.metric.footer.status-mark"/>
            <p:cNvSpPr/>
            <p:nvPr/>
          </p:nvSpPr>
          <p:spPr>
            <a:xfrm>
              <a:off x="882650" y="3155950"/>
              <a:ext cx="88900" cy="88900"/>
            </a:xfrm>
            <a:prstGeom prst="rect">
              <a:avLst/>
            </a:prstGeom>
            <a:solidFill>
              <a:srgbClr val="FFC700"/>
            </a:solidFill>
            <a:ln w="12700">
              <a:solidFill>
                <a:srgbClr val="070154"/>
              </a:solidFill>
              <a:prstDash val="solid"/>
            </a:ln>
          </p:spPr>
        </p:sp>
        <p:sp>
          <p:nvSpPr>
            <p:cNvPr id="19" name="node01.metric.footer.status.text"/>
            <p:cNvSpPr/>
            <p:nvPr/>
          </p:nvSpPr>
          <p:spPr>
            <a:xfrm>
              <a:off x="1054100" y="3124200"/>
              <a:ext cx="5385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AT RISK</a:t>
              </a:r>
              <a:endParaRPr lang="en-US" sz="900" spc="54" kern="0" b="0" i="0" dirty="0">
                <a:solidFill>
                  <a:srgbClr val="070154"/>
                </a:solidFill>
                <a:latin typeface="IBM Plex Mono Medium"/>
                <a:ea typeface="IBM Plex Mono Medium"/>
                <a:cs typeface="IBM Plex Mono Medium"/>
              </a:endParaRPr>
            </a:p>
          </p:txBody>
        </p:sp>
      </p:grpSp>
      <p:grpSp>
        <p:nvGrpSpPr>
          <p:cNvPr id="49" name="node02"/>
          <p:cNvGrpSpPr/>
          <p:nvPr/>
        </p:nvGrpSpPr>
        <p:grpSpPr>
          <a:xfrm>
            <a:off x="3467100" y="1600200"/>
            <a:ext cx="4343400" cy="228600"/>
            <a:chOff x="3467100" y="1600200"/>
            <a:chExt cx="4343400" cy="228600"/>
          </a:xfrm>
        </p:grpSpPr>
        <p:sp>
          <p:nvSpPr>
            <p:cNvPr id="20" name="node02.label"/>
            <p:cNvSpPr/>
            <p:nvPr/>
          </p:nvSpPr>
          <p:spPr>
            <a:xfrm>
              <a:off x="3467100" y="1600200"/>
              <a:ext cx="92685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MESSAGES</a:t>
              </a:r>
              <a:endParaRPr lang="en-US" sz="900" spc="54" kern="0" b="0" i="0" dirty="0">
                <a:solidFill>
                  <a:srgbClr val="50658E"/>
                </a:solidFill>
                <a:latin typeface="IBM Plex Mono Medium"/>
                <a:ea typeface="IBM Plex Mono Medium"/>
                <a:cs typeface="IBM Plex Mono Medium"/>
              </a:endParaRPr>
            </a:p>
          </p:txBody>
        </p:sp>
        <p:sp>
          <p:nvSpPr>
            <p:cNvPr id="21" name="node02.rule"/>
            <p:cNvSpPr/>
            <p:nvPr/>
          </p:nvSpPr>
          <p:spPr>
            <a:xfrm>
              <a:off x="4520952" y="1709738"/>
              <a:ext cx="3289548" cy="9525"/>
            </a:xfrm>
            <a:prstGeom prst="rect">
              <a:avLst/>
            </a:prstGeom>
            <a:solidFill>
              <a:srgbClr val="CED7E6"/>
            </a:solidFill>
            <a:ln>
              <a:noFill/>
            </a:ln>
          </p:spPr>
        </p:sp>
      </p:grpSp>
      <p:grpSp>
        <p:nvGrpSpPr>
          <p:cNvPr id="50" name="node03"/>
          <p:cNvGrpSpPr/>
          <p:nvPr/>
        </p:nvGrpSpPr>
        <p:grpSpPr>
          <a:xfrm>
            <a:off x="3467100" y="1981200"/>
            <a:ext cx="4343400" cy="952500"/>
            <a:chOff x="3467100" y="1981200"/>
            <a:chExt cx="4343400" cy="952500"/>
          </a:xfrm>
        </p:grpSpPr>
        <p:sp>
          <p:nvSpPr>
            <p:cNvPr id="22" name="node03.source-001.bullet"/>
            <p:cNvSpPr/>
            <p:nvPr/>
          </p:nvSpPr>
          <p:spPr>
            <a:xfrm>
              <a:off x="3467100" y="2089150"/>
              <a:ext cx="50800" cy="50800"/>
            </a:xfrm>
            <a:prstGeom prst="rect">
              <a:avLst/>
            </a:prstGeom>
            <a:solidFill>
              <a:srgbClr val="070154"/>
            </a:solidFill>
            <a:ln>
              <a:noFill/>
            </a:ln>
          </p:spPr>
        </p:sp>
        <p:sp>
          <p:nvSpPr>
            <p:cNvPr id="23" name="node03.source-001.text"/>
            <p:cNvSpPr/>
            <p:nvPr/>
          </p:nvSpPr>
          <p:spPr>
            <a:xfrm>
              <a:off x="3657600" y="1981200"/>
              <a:ext cx="41529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Wave 1 is live in five entities</a:t>
              </a:r>
              <a:endParaRPr lang="en-US" sz="1400" spc="0" kern="0" b="0" i="0" dirty="0">
                <a:solidFill>
                  <a:srgbClr val="070154"/>
                </a:solidFill>
                <a:latin typeface="IBM Plex Sans"/>
                <a:ea typeface="IBM Plex Sans"/>
                <a:cs typeface="IBM Plex Sans"/>
              </a:endParaRPr>
            </a:p>
          </p:txBody>
        </p:sp>
        <p:sp>
          <p:nvSpPr>
            <p:cNvPr id="24" name="node03.source-002.bullet"/>
            <p:cNvSpPr/>
            <p:nvPr/>
          </p:nvSpPr>
          <p:spPr>
            <a:xfrm>
              <a:off x="3467100" y="2432050"/>
              <a:ext cx="50800" cy="50800"/>
            </a:xfrm>
            <a:prstGeom prst="rect">
              <a:avLst/>
            </a:prstGeom>
            <a:solidFill>
              <a:srgbClr val="070154"/>
            </a:solidFill>
            <a:ln>
              <a:noFill/>
            </a:ln>
          </p:spPr>
        </p:sp>
        <p:sp>
          <p:nvSpPr>
            <p:cNvPr id="25" name="node03.source-002.text"/>
            <p:cNvSpPr/>
            <p:nvPr/>
          </p:nvSpPr>
          <p:spPr>
            <a:xfrm>
              <a:off x="3657600" y="2324100"/>
              <a:ext cx="41529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Budget is $0.2M under plan</a:t>
              </a:r>
              <a:endParaRPr lang="en-US" sz="1400" spc="0" kern="0" b="0" i="0" dirty="0">
                <a:solidFill>
                  <a:srgbClr val="070154"/>
                </a:solidFill>
                <a:latin typeface="IBM Plex Sans"/>
                <a:ea typeface="IBM Plex Sans"/>
                <a:cs typeface="IBM Plex Sans"/>
              </a:endParaRPr>
            </a:p>
          </p:txBody>
        </p:sp>
        <p:sp>
          <p:nvSpPr>
            <p:cNvPr id="26" name="node03.source-003.bullet"/>
            <p:cNvSpPr/>
            <p:nvPr/>
          </p:nvSpPr>
          <p:spPr>
            <a:xfrm>
              <a:off x="3467100" y="2774950"/>
              <a:ext cx="50800" cy="50800"/>
            </a:xfrm>
            <a:prstGeom prst="rect">
              <a:avLst/>
            </a:prstGeom>
            <a:solidFill>
              <a:srgbClr val="070154"/>
            </a:solidFill>
            <a:ln>
              <a:noFill/>
            </a:ln>
          </p:spPr>
        </p:sp>
        <p:sp>
          <p:nvSpPr>
            <p:cNvPr id="27" name="node03.source-003.text"/>
            <p:cNvSpPr/>
            <p:nvPr/>
          </p:nvSpPr>
          <p:spPr>
            <a:xfrm>
              <a:off x="3657600" y="2667000"/>
              <a:ext cx="41529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Wave 2 data extracts are late</a:t>
              </a:r>
              <a:endParaRPr lang="en-US" sz="1400" spc="0" kern="0" b="0" i="0" dirty="0">
                <a:solidFill>
                  <a:srgbClr val="070154"/>
                </a:solidFill>
                <a:latin typeface="IBM Plex Sans"/>
                <a:ea typeface="IBM Plex Sans"/>
                <a:cs typeface="IBM Plex Sans"/>
              </a:endParaRPr>
            </a:p>
          </p:txBody>
        </p:sp>
      </p:grpSp>
      <p:grpSp>
        <p:nvGrpSpPr>
          <p:cNvPr id="51" name="node04"/>
          <p:cNvGrpSpPr/>
          <p:nvPr/>
        </p:nvGrpSpPr>
        <p:grpSpPr>
          <a:xfrm>
            <a:off x="8039100" y="1600200"/>
            <a:ext cx="3429000" cy="1828800"/>
            <a:chOff x="8039100" y="1600200"/>
            <a:chExt cx="3429000" cy="1828800"/>
          </a:xfrm>
        </p:grpSpPr>
        <p:sp>
          <p:nvSpPr>
            <p:cNvPr id="28" name="node04.container"/>
            <p:cNvSpPr/>
            <p:nvPr/>
          </p:nvSpPr>
          <p:spPr>
            <a:xfrm>
              <a:off x="8039100" y="1600200"/>
              <a:ext cx="3429000" cy="1828800"/>
            </a:xfrm>
            <a:prstGeom prst="rect">
              <a:avLst/>
            </a:prstGeom>
            <a:solidFill>
              <a:srgbClr val="070154"/>
            </a:solidFill>
            <a:ln>
              <a:noFill/>
            </a:ln>
          </p:spPr>
        </p:sp>
        <p:sp>
          <p:nvSpPr>
            <p:cNvPr id="29" name="node04.title"/>
            <p:cNvSpPr/>
            <p:nvPr/>
          </p:nvSpPr>
          <p:spPr>
            <a:xfrm>
              <a:off x="8191500" y="17526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Decisions requested</a:t>
              </a:r>
              <a:endParaRPr lang="en-US" sz="1800" spc="-18" kern="0" b="0" i="0" dirty="0">
                <a:solidFill>
                  <a:srgbClr val="FFFFFF"/>
                </a:solidFill>
                <a:latin typeface="IBM Plex Sans SemiBold"/>
                <a:ea typeface="IBM Plex Sans SemiBold"/>
                <a:cs typeface="IBM Plex Sans SemiBold"/>
              </a:endParaRPr>
            </a:p>
          </p:txBody>
        </p:sp>
        <p:sp>
          <p:nvSpPr>
            <p:cNvPr id="30" name="node04.body.item-001.bullets.item-001.marker"/>
            <p:cNvSpPr/>
            <p:nvPr/>
          </p:nvSpPr>
          <p:spPr>
            <a:xfrm>
              <a:off x="8191500" y="2317750"/>
              <a:ext cx="50800" cy="50800"/>
            </a:xfrm>
            <a:prstGeom prst="rect">
              <a:avLst/>
            </a:prstGeom>
            <a:solidFill>
              <a:srgbClr val="FFFFFF"/>
            </a:solidFill>
            <a:ln>
              <a:noFill/>
            </a:ln>
          </p:spPr>
        </p:sp>
        <p:sp>
          <p:nvSpPr>
            <p:cNvPr id="31" name="node04.body.item-001.bullets.item-001.text"/>
            <p:cNvSpPr/>
            <p:nvPr/>
          </p:nvSpPr>
          <p:spPr>
            <a:xfrm>
              <a:off x="8382000" y="2209800"/>
              <a:ext cx="29337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Approve the new cutover date</a:t>
              </a:r>
              <a:endParaRPr lang="en-US" sz="1400" spc="0" kern="0" b="0" i="0" dirty="0">
                <a:solidFill>
                  <a:srgbClr val="FFFFFF"/>
                </a:solidFill>
                <a:latin typeface="IBM Plex Sans"/>
                <a:ea typeface="IBM Plex Sans"/>
                <a:cs typeface="IBM Plex Sans"/>
              </a:endParaRPr>
            </a:p>
          </p:txBody>
        </p:sp>
        <p:sp>
          <p:nvSpPr>
            <p:cNvPr id="32" name="node04.body.item-001.bullets.item-002.marker"/>
            <p:cNvSpPr/>
            <p:nvPr/>
          </p:nvSpPr>
          <p:spPr>
            <a:xfrm>
              <a:off x="8191500" y="2660650"/>
              <a:ext cx="50800" cy="50800"/>
            </a:xfrm>
            <a:prstGeom prst="rect">
              <a:avLst/>
            </a:prstGeom>
            <a:solidFill>
              <a:srgbClr val="FFFFFF"/>
            </a:solidFill>
            <a:ln>
              <a:noFill/>
            </a:ln>
          </p:spPr>
        </p:sp>
        <p:sp>
          <p:nvSpPr>
            <p:cNvPr id="33" name="node04.body.item-001.bullets.item-002.text"/>
            <p:cNvSpPr/>
            <p:nvPr/>
          </p:nvSpPr>
          <p:spPr>
            <a:xfrm>
              <a:off x="8382000" y="2552700"/>
              <a:ext cx="29337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Fund two extra reviewers</a:t>
              </a:r>
              <a:endParaRPr lang="en-US" sz="1400" spc="0" kern="0" b="0" i="0" dirty="0">
                <a:solidFill>
                  <a:srgbClr val="FFFFFF"/>
                </a:solidFill>
                <a:latin typeface="IBM Plex Sans"/>
                <a:ea typeface="IBM Plex Sans"/>
                <a:cs typeface="IBM Plex Sans"/>
              </a:endParaRPr>
            </a:p>
          </p:txBody>
        </p:sp>
        <p:sp>
          <p:nvSpPr>
            <p:cNvPr id="34" name="node04.body.item-001.bullets.item-003.marker"/>
            <p:cNvSpPr/>
            <p:nvPr/>
          </p:nvSpPr>
          <p:spPr>
            <a:xfrm>
              <a:off x="8191500" y="3003550"/>
              <a:ext cx="50800" cy="50800"/>
            </a:xfrm>
            <a:prstGeom prst="rect">
              <a:avLst/>
            </a:prstGeom>
            <a:solidFill>
              <a:srgbClr val="FFFFFF"/>
            </a:solidFill>
            <a:ln>
              <a:noFill/>
            </a:ln>
          </p:spPr>
        </p:sp>
        <p:sp>
          <p:nvSpPr>
            <p:cNvPr id="35" name="node04.body.item-001.bullets.item-003.text"/>
            <p:cNvSpPr/>
            <p:nvPr/>
          </p:nvSpPr>
          <p:spPr>
            <a:xfrm>
              <a:off x="8382000" y="2895600"/>
              <a:ext cx="29337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Confirm the year-end freeze window</a:t>
              </a:r>
              <a:endParaRPr lang="en-US" sz="1400" spc="0" kern="0" b="0" i="0" dirty="0">
                <a:solidFill>
                  <a:srgbClr val="FFFFFF"/>
                </a:solidFill>
                <a:latin typeface="IBM Plex Sans"/>
                <a:ea typeface="IBM Plex Sans"/>
                <a:cs typeface="IBM Plex Sans"/>
              </a:endParaRPr>
            </a:p>
          </p:txBody>
        </p:sp>
      </p:grpSp>
      <p:grpSp>
        <p:nvGrpSpPr>
          <p:cNvPr id="52" name="node05"/>
          <p:cNvGrpSpPr/>
          <p:nvPr/>
        </p:nvGrpSpPr>
        <p:grpSpPr>
          <a:xfrm>
            <a:off x="723900" y="3657600"/>
            <a:ext cx="7086600" cy="1727200"/>
            <a:chOff x="723900" y="3657600"/>
            <a:chExt cx="7086600" cy="1727200"/>
          </a:xfrm>
        </p:grpSpPr>
        <p:graphicFrame>
          <p:nvGraphicFramePr>
            <p:cNvPr id="36" name="node05.native"/>
            <p:cNvGraphicFramePr>
              <a:graphicFrameLocks noGrp="1"/>
            </p:cNvGraphicFramePr>
            <p:nvPr>
              <p:extLst>
                <p:ext uri="{D42A27DB-BD31-4B8C-83A1-F6EECF244321}">
                  <p14:modId xmlns:p14="http://schemas.microsoft.com/office/powerpoint/2010/main" val="1579011935"/>
                </p:ext>
              </p:extLst>
            </p:nvPr>
          </p:nvGraphicFramePr>
          <p:xfrm>
            <a:off x="723900" y="3657600"/>
            <a:ext cx="7086600" cy="1727200"/>
          </p:xfrm>
          <a:graphic>
            <a:graphicData uri="http://schemas.openxmlformats.org/drawingml/2006/table">
              <a:tbl>
                <a:tblPr/>
                <a:tblGrid>
                  <a:gridCol w="2438400"/>
                  <a:gridCol w="1371600"/>
                  <a:gridCol w="990600"/>
                  <a:gridCol w="2286000"/>
                </a:tblGrid>
                <a:tr h="304800">
                  <a:tc gridSpan="4">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TOP THREE RISKS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2700" cap="flat" cmpd="sng" algn="ctr">
                        <a:solidFill>
                          <a:srgbClr val="070154"/>
                        </a:solidFill>
                        <a:prstDash val="solid"/>
                        <a:round/>
                        <a:headEnd type="none" w="med" len="med"/>
                        <a:tailEnd type="none" w="med" len="med"/>
                      </a:lnB>
                      <a:solidFill>
                        <a:srgbClr val="FFFFFF"/>
                      </a:solidFill>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r>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RISK</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OWNER</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DUE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STATUS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Late data extracts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Finance 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9 Oct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risk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Reviewer capacity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Controller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16 Oct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Cutover freeze clash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PMO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16 Oct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risk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37" name="node05.row.item-001.st.status-mark"/>
            <p:cNvSpPr/>
            <p:nvPr/>
          </p:nvSpPr>
          <p:spPr>
            <a:xfrm>
              <a:off x="5683250" y="4451350"/>
              <a:ext cx="88900" cy="88900"/>
            </a:xfrm>
            <a:prstGeom prst="rect">
              <a:avLst/>
            </a:prstGeom>
            <a:solidFill>
              <a:srgbClr val="FFC700"/>
            </a:solidFill>
            <a:ln w="12700">
              <a:solidFill>
                <a:srgbClr val="070154"/>
              </a:solidFill>
              <a:prstDash val="solid"/>
            </a:ln>
          </p:spPr>
        </p:sp>
        <p:sp>
          <p:nvSpPr>
            <p:cNvPr id="38" name="node05.row.item-002.st.status-mark"/>
            <p:cNvSpPr/>
            <p:nvPr/>
          </p:nvSpPr>
          <p:spPr>
            <a:xfrm>
              <a:off x="5683250" y="4806950"/>
              <a:ext cx="88900" cy="88900"/>
            </a:xfrm>
            <a:prstGeom prst="rect">
              <a:avLst/>
            </a:prstGeom>
            <a:solidFill>
              <a:srgbClr val="1DD566"/>
            </a:solidFill>
            <a:ln w="12700">
              <a:solidFill>
                <a:srgbClr val="070154"/>
              </a:solidFill>
              <a:prstDash val="solid"/>
            </a:ln>
          </p:spPr>
        </p:sp>
        <p:sp>
          <p:nvSpPr>
            <p:cNvPr id="39" name="node05.row.item-003.st.status-mark"/>
            <p:cNvSpPr/>
            <p:nvPr/>
          </p:nvSpPr>
          <p:spPr>
            <a:xfrm>
              <a:off x="5683250" y="5162550"/>
              <a:ext cx="88900" cy="88900"/>
            </a:xfrm>
            <a:prstGeom prst="rect">
              <a:avLst/>
            </a:prstGeom>
            <a:solidFill>
              <a:srgbClr val="FFC700"/>
            </a:solidFill>
            <a:ln w="12700">
              <a:solidFill>
                <a:srgbClr val="070154"/>
              </a:solidFill>
              <a:prstDash val="solid"/>
            </a:ln>
          </p:spPr>
        </p:sp>
      </p:grpSp>
      <p:grpSp>
        <p:nvGrpSpPr>
          <p:cNvPr id="53" name="node06"/>
          <p:cNvGrpSpPr/>
          <p:nvPr/>
        </p:nvGrpSpPr>
        <p:grpSpPr>
          <a:xfrm>
            <a:off x="8039100" y="3657600"/>
            <a:ext cx="3429000" cy="228600"/>
            <a:chOff x="8039100" y="3657600"/>
            <a:chExt cx="3429000" cy="228600"/>
          </a:xfrm>
        </p:grpSpPr>
        <p:sp>
          <p:nvSpPr>
            <p:cNvPr id="40" name="node06.label"/>
            <p:cNvSpPr/>
            <p:nvPr/>
          </p:nvSpPr>
          <p:spPr>
            <a:xfrm>
              <a:off x="8039100" y="3657600"/>
              <a:ext cx="1152215"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NEXT MILESTONES</a:t>
              </a:r>
              <a:endParaRPr lang="en-US" sz="900" spc="54" kern="0" b="0" i="0" dirty="0">
                <a:solidFill>
                  <a:srgbClr val="50658E"/>
                </a:solidFill>
                <a:latin typeface="IBM Plex Mono Medium"/>
                <a:ea typeface="IBM Plex Mono Medium"/>
                <a:cs typeface="IBM Plex Mono Medium"/>
              </a:endParaRPr>
            </a:p>
          </p:txBody>
        </p:sp>
        <p:sp>
          <p:nvSpPr>
            <p:cNvPr id="41" name="node06.rule"/>
            <p:cNvSpPr/>
            <p:nvPr/>
          </p:nvSpPr>
          <p:spPr>
            <a:xfrm>
              <a:off x="9318315" y="3767138"/>
              <a:ext cx="2149785" cy="9525"/>
            </a:xfrm>
            <a:prstGeom prst="rect">
              <a:avLst/>
            </a:prstGeom>
            <a:solidFill>
              <a:srgbClr val="CED7E6"/>
            </a:solidFill>
            <a:ln>
              <a:noFill/>
            </a:ln>
          </p:spPr>
        </p:sp>
      </p:grpSp>
      <p:grpSp>
        <p:nvGrpSpPr>
          <p:cNvPr id="54" name="node07"/>
          <p:cNvGrpSpPr/>
          <p:nvPr/>
        </p:nvGrpSpPr>
        <p:grpSpPr>
          <a:xfrm>
            <a:off x="8039100" y="4038600"/>
            <a:ext cx="3429000" cy="1143000"/>
            <a:chOff x="8039100" y="4038600"/>
            <a:chExt cx="3429000" cy="1143000"/>
          </a:xfrm>
        </p:grpSpPr>
        <p:sp>
          <p:nvSpPr>
            <p:cNvPr id="42" name="node07.source-001.key"/>
            <p:cNvSpPr/>
            <p:nvPr/>
          </p:nvSpPr>
          <p:spPr>
            <a:xfrm>
              <a:off x="8039100" y="4038600"/>
              <a:ext cx="9144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 Oct</a:t>
              </a:r>
              <a:endParaRPr lang="en-US" sz="1400" spc="0" kern="0" b="1" i="0" dirty="0">
                <a:solidFill>
                  <a:srgbClr val="0047FF"/>
                </a:solidFill>
                <a:latin typeface="IBM Plex Sans"/>
                <a:ea typeface="IBM Plex Sans"/>
                <a:cs typeface="IBM Plex Sans"/>
              </a:endParaRPr>
            </a:p>
          </p:txBody>
        </p:sp>
        <p:sp>
          <p:nvSpPr>
            <p:cNvPr id="43" name="node07.source-001.text"/>
            <p:cNvSpPr/>
            <p:nvPr/>
          </p:nvSpPr>
          <p:spPr>
            <a:xfrm>
              <a:off x="9182100" y="4040886"/>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Wave 2 data frozen</a:t>
              </a:r>
              <a:endParaRPr lang="en-US" sz="1400" spc="0" kern="0" b="0" i="0" dirty="0">
                <a:solidFill>
                  <a:srgbClr val="070154"/>
                </a:solidFill>
                <a:latin typeface="IBM Plex Sans SemiBold"/>
                <a:ea typeface="IBM Plex Sans SemiBold"/>
                <a:cs typeface="IBM Plex Sans SemiBold"/>
              </a:endParaRPr>
            </a:p>
          </p:txBody>
        </p:sp>
        <p:sp>
          <p:nvSpPr>
            <p:cNvPr id="44" name="node07.source-002.key"/>
            <p:cNvSpPr/>
            <p:nvPr/>
          </p:nvSpPr>
          <p:spPr>
            <a:xfrm>
              <a:off x="8039100" y="4419600"/>
              <a:ext cx="9144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30 Oct</a:t>
              </a:r>
              <a:endParaRPr lang="en-US" sz="1400" spc="0" kern="0" b="1" i="0" dirty="0">
                <a:solidFill>
                  <a:srgbClr val="0047FF"/>
                </a:solidFill>
                <a:latin typeface="IBM Plex Sans"/>
                <a:ea typeface="IBM Plex Sans"/>
                <a:cs typeface="IBM Plex Sans"/>
              </a:endParaRPr>
            </a:p>
          </p:txBody>
        </p:sp>
        <p:sp>
          <p:nvSpPr>
            <p:cNvPr id="45" name="node07.source-002.text"/>
            <p:cNvSpPr/>
            <p:nvPr/>
          </p:nvSpPr>
          <p:spPr>
            <a:xfrm>
              <a:off x="9182100" y="4421886"/>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Acceptance testing</a:t>
              </a:r>
              <a:endParaRPr lang="en-US" sz="1400" spc="0" kern="0" b="0" i="0" dirty="0">
                <a:solidFill>
                  <a:srgbClr val="070154"/>
                </a:solidFill>
                <a:latin typeface="IBM Plex Sans SemiBold"/>
                <a:ea typeface="IBM Plex Sans SemiBold"/>
                <a:cs typeface="IBM Plex Sans SemiBold"/>
              </a:endParaRPr>
            </a:p>
          </p:txBody>
        </p:sp>
        <p:sp>
          <p:nvSpPr>
            <p:cNvPr id="46" name="node07.source-003.key"/>
            <p:cNvSpPr/>
            <p:nvPr/>
          </p:nvSpPr>
          <p:spPr>
            <a:xfrm>
              <a:off x="8039100" y="4800600"/>
              <a:ext cx="9144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13 Nov</a:t>
              </a:r>
              <a:endParaRPr lang="en-US" sz="1400" spc="0" kern="0" b="1" i="0" dirty="0">
                <a:solidFill>
                  <a:srgbClr val="0047FF"/>
                </a:solidFill>
                <a:latin typeface="IBM Plex Sans"/>
                <a:ea typeface="IBM Plex Sans"/>
                <a:cs typeface="IBM Plex Sans"/>
              </a:endParaRPr>
            </a:p>
          </p:txBody>
        </p:sp>
        <p:sp>
          <p:nvSpPr>
            <p:cNvPr id="47" name="node07.source-003.text"/>
            <p:cNvSpPr/>
            <p:nvPr/>
          </p:nvSpPr>
          <p:spPr>
            <a:xfrm>
              <a:off x="9182100" y="4802886"/>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Cutover decision</a:t>
              </a:r>
              <a:endParaRPr lang="en-US" sz="1400" spc="0"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ource-617">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INITIATIVE PORTFOLIO</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Most AI initiatives cut cost, few grow revenue</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finance and operations workshops,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83</a:t>
            </a:fld>
            <a:endParaRPr lang="en-US" sz="700" spc="0" kern="0" b="0" i="0" dirty="0">
              <a:solidFill>
                <a:srgbClr val="070154"/>
              </a:solidFill>
              <a:latin typeface="IBM Plex Mono SemiBold"/>
              <a:ea typeface="IBM Plex Mono SemiBold"/>
              <a:cs typeface="IBM Plex Mono SemiBold"/>
            </a:endParaRPr>
          </a:p>
        </p:txBody>
      </p:sp>
      <p:grpSp>
        <p:nvGrpSpPr>
          <p:cNvPr id="51" name="node01"/>
          <p:cNvGrpSpPr/>
          <p:nvPr/>
        </p:nvGrpSpPr>
        <p:grpSpPr>
          <a:xfrm>
            <a:off x="831850" y="457200"/>
            <a:ext cx="6871970" cy="5257800"/>
            <a:chOff x="831850" y="457200"/>
            <a:chExt cx="6871970" cy="5257800"/>
          </a:xfrm>
        </p:grpSpPr>
        <p:sp>
          <p:nvSpPr>
            <p:cNvPr id="7" name="node01.sets.source-001.circle"/>
            <p:cNvSpPr/>
            <p:nvPr/>
          </p:nvSpPr>
          <p:spPr>
            <a:xfrm>
              <a:off x="838200" y="942340"/>
              <a:ext cx="4287520" cy="4287520"/>
            </a:xfrm>
            <a:prstGeom prst="ellipse">
              <a:avLst/>
            </a:prstGeom>
            <a:solidFill>
              <a:srgbClr val="E8EEF8">
                <a:alpha val="70000"/>
              </a:srgbClr>
            </a:solidFill>
            <a:ln w="12700">
              <a:solidFill>
                <a:srgbClr val="070154"/>
              </a:solidFill>
              <a:prstDash val="solid"/>
            </a:ln>
          </p:spPr>
        </p:sp>
        <p:sp>
          <p:nvSpPr>
            <p:cNvPr id="8" name="node01.sets.source-002.circle"/>
            <p:cNvSpPr/>
            <p:nvPr/>
          </p:nvSpPr>
          <p:spPr>
            <a:xfrm>
              <a:off x="3409950" y="942340"/>
              <a:ext cx="4287520" cy="4287520"/>
            </a:xfrm>
            <a:prstGeom prst="ellipse">
              <a:avLst/>
            </a:prstGeom>
            <a:solidFill>
              <a:srgbClr val="CED7E6">
                <a:alpha val="70000"/>
              </a:srgbClr>
            </a:solidFill>
            <a:ln w="12700">
              <a:solidFill>
                <a:srgbClr val="070154"/>
              </a:solidFill>
              <a:prstDash val="solid"/>
            </a:ln>
          </p:spPr>
        </p:sp>
        <p:sp>
          <p:nvSpPr>
            <p:cNvPr id="9" name="node01.sets.source-001.label"/>
            <p:cNvSpPr/>
            <p:nvPr/>
          </p:nvSpPr>
          <p:spPr>
            <a:xfrm>
              <a:off x="1063228" y="2962275"/>
              <a:ext cx="2035969"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COST OUT</a:t>
              </a:r>
              <a:endParaRPr lang="en-US" sz="1300" spc="78" kern="0" b="0" i="0" dirty="0">
                <a:solidFill>
                  <a:srgbClr val="070154"/>
                </a:solidFill>
                <a:latin typeface="IBM Plex Mono SemiBold"/>
                <a:ea typeface="IBM Plex Mono SemiBold"/>
                <a:cs typeface="IBM Plex Mono SemiBold"/>
              </a:endParaRPr>
            </a:p>
          </p:txBody>
        </p:sp>
        <p:sp>
          <p:nvSpPr>
            <p:cNvPr id="10" name="node01.sets.source-002.label"/>
            <p:cNvSpPr/>
            <p:nvPr/>
          </p:nvSpPr>
          <p:spPr>
            <a:xfrm>
              <a:off x="5435203" y="2962275"/>
              <a:ext cx="2035969"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REVENUE UP</a:t>
              </a:r>
              <a:endParaRPr lang="en-US" sz="1300" spc="78" kern="0" b="0" i="0" dirty="0">
                <a:solidFill>
                  <a:srgbClr val="070154"/>
                </a:solidFill>
                <a:latin typeface="IBM Plex Mono SemiBold"/>
                <a:ea typeface="IBM Plex Mono SemiBold"/>
                <a:cs typeface="IBM Plex Mono SemiBold"/>
              </a:endParaRPr>
            </a:p>
          </p:txBody>
        </p:sp>
        <p:sp>
          <p:nvSpPr>
            <p:cNvPr id="11" name="node01.points.source-001.halo"/>
            <p:cNvSpPr/>
            <p:nvPr/>
          </p:nvSpPr>
          <p:spPr>
            <a:xfrm>
              <a:off x="2103882" y="1796034"/>
              <a:ext cx="266700" cy="266700"/>
            </a:xfrm>
            <a:prstGeom prst="ellipse">
              <a:avLst/>
            </a:prstGeom>
            <a:solidFill>
              <a:srgbClr val="FFFFFF"/>
            </a:solidFill>
            <a:ln>
              <a:noFill/>
            </a:ln>
          </p:spPr>
        </p:sp>
        <p:sp>
          <p:nvSpPr>
            <p:cNvPr id="12" name="node01.points.source-001.marker"/>
            <p:cNvSpPr/>
            <p:nvPr/>
          </p:nvSpPr>
          <p:spPr>
            <a:xfrm>
              <a:off x="2122932" y="1815084"/>
              <a:ext cx="228600" cy="228600"/>
            </a:xfrm>
            <a:prstGeom prst="ellipse">
              <a:avLst/>
            </a:prstGeom>
            <a:solidFill>
              <a:srgbClr val="070154"/>
            </a:solidFill>
            <a:ln>
              <a:noFill/>
            </a:ln>
          </p:spPr>
        </p:sp>
        <p:sp>
          <p:nvSpPr>
            <p:cNvPr id="13" name="node01.points.source-001.number"/>
            <p:cNvSpPr/>
            <p:nvPr/>
          </p:nvSpPr>
          <p:spPr>
            <a:xfrm>
              <a:off x="2122932" y="1815084"/>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1</a:t>
              </a:r>
              <a:endParaRPr lang="en-US" sz="1000" spc="0" kern="0" b="0" i="0" dirty="0">
                <a:solidFill>
                  <a:srgbClr val="FFFFFF"/>
                </a:solidFill>
                <a:latin typeface="IBM Plex Mono SemiBold"/>
                <a:ea typeface="IBM Plex Mono SemiBold"/>
                <a:cs typeface="IBM Plex Mono SemiBold"/>
              </a:endParaRPr>
            </a:p>
          </p:txBody>
        </p:sp>
        <p:sp>
          <p:nvSpPr>
            <p:cNvPr id="14" name="node01.points.source-001.badge"/>
            <p:cNvSpPr/>
            <p:nvPr/>
          </p:nvSpPr>
          <p:spPr>
            <a:xfrm>
              <a:off x="2394395" y="1835722"/>
              <a:ext cx="858521" cy="187325"/>
            </a:xfrm>
            <a:prstGeom prst="rect">
              <a:avLst/>
            </a:prstGeom>
            <a:solidFill>
              <a:srgbClr val="FFFFFF"/>
            </a:solidFill>
            <a:ln w="9525">
              <a:solidFill>
                <a:srgbClr val="070154"/>
              </a:solidFill>
              <a:prstDash val="solid"/>
            </a:ln>
          </p:spPr>
        </p:sp>
        <p:sp>
          <p:nvSpPr>
            <p:cNvPr id="15" name="node01.points.source-001.label"/>
            <p:cNvSpPr/>
            <p:nvPr/>
          </p:nvSpPr>
          <p:spPr>
            <a:xfrm>
              <a:off x="2453132" y="1830959"/>
              <a:ext cx="741046"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CLAIMS BOT</a:t>
              </a:r>
              <a:endParaRPr lang="en-US" sz="844" spc="51" kern="0" b="0" i="0" dirty="0">
                <a:solidFill>
                  <a:srgbClr val="070154"/>
                </a:solidFill>
                <a:latin typeface="IBM Plex Mono SemiBold"/>
                <a:ea typeface="IBM Plex Mono SemiBold"/>
                <a:cs typeface="IBM Plex Mono SemiBold"/>
              </a:endParaRPr>
            </a:p>
          </p:txBody>
        </p:sp>
        <p:sp>
          <p:nvSpPr>
            <p:cNvPr id="16" name="node01.points.source-002.halo"/>
            <p:cNvSpPr/>
            <p:nvPr/>
          </p:nvSpPr>
          <p:spPr>
            <a:xfrm>
              <a:off x="2289048" y="4109466"/>
              <a:ext cx="266700" cy="266700"/>
            </a:xfrm>
            <a:prstGeom prst="ellipse">
              <a:avLst/>
            </a:prstGeom>
            <a:solidFill>
              <a:srgbClr val="FFFFFF"/>
            </a:solidFill>
            <a:ln>
              <a:noFill/>
            </a:ln>
          </p:spPr>
        </p:sp>
        <p:sp>
          <p:nvSpPr>
            <p:cNvPr id="17" name="node01.points.source-002.marker"/>
            <p:cNvSpPr/>
            <p:nvPr/>
          </p:nvSpPr>
          <p:spPr>
            <a:xfrm>
              <a:off x="2308098" y="4128516"/>
              <a:ext cx="228600" cy="228600"/>
            </a:xfrm>
            <a:prstGeom prst="ellipse">
              <a:avLst/>
            </a:prstGeom>
            <a:solidFill>
              <a:srgbClr val="070154"/>
            </a:solidFill>
            <a:ln>
              <a:noFill/>
            </a:ln>
          </p:spPr>
        </p:sp>
        <p:sp>
          <p:nvSpPr>
            <p:cNvPr id="18" name="node01.points.source-002.number"/>
            <p:cNvSpPr/>
            <p:nvPr/>
          </p:nvSpPr>
          <p:spPr>
            <a:xfrm>
              <a:off x="2308098" y="4128516"/>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2</a:t>
              </a:r>
              <a:endParaRPr lang="en-US" sz="1000" spc="0" kern="0" b="0" i="0" dirty="0">
                <a:solidFill>
                  <a:srgbClr val="FFFFFF"/>
                </a:solidFill>
                <a:latin typeface="IBM Plex Mono SemiBold"/>
                <a:ea typeface="IBM Plex Mono SemiBold"/>
                <a:cs typeface="IBM Plex Mono SemiBold"/>
              </a:endParaRPr>
            </a:p>
          </p:txBody>
        </p:sp>
        <p:sp>
          <p:nvSpPr>
            <p:cNvPr id="19" name="node01.points.source-002.badge"/>
            <p:cNvSpPr/>
            <p:nvPr/>
          </p:nvSpPr>
          <p:spPr>
            <a:xfrm>
              <a:off x="2579561" y="4149154"/>
              <a:ext cx="715392" cy="187325"/>
            </a:xfrm>
            <a:prstGeom prst="rect">
              <a:avLst/>
            </a:prstGeom>
            <a:solidFill>
              <a:srgbClr val="FFFFFF"/>
            </a:solidFill>
            <a:ln w="9525">
              <a:solidFill>
                <a:srgbClr val="070154"/>
              </a:solidFill>
              <a:prstDash val="solid"/>
            </a:ln>
          </p:spPr>
        </p:sp>
        <p:sp>
          <p:nvSpPr>
            <p:cNvPr id="20" name="node01.points.source-002.label"/>
            <p:cNvSpPr/>
            <p:nvPr/>
          </p:nvSpPr>
          <p:spPr>
            <a:xfrm>
              <a:off x="2638298" y="4144391"/>
              <a:ext cx="597917"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STAFFING</a:t>
              </a:r>
              <a:endParaRPr lang="en-US" sz="844" spc="51" kern="0" b="0" i="0" dirty="0">
                <a:solidFill>
                  <a:srgbClr val="070154"/>
                </a:solidFill>
                <a:latin typeface="IBM Plex Mono SemiBold"/>
                <a:ea typeface="IBM Plex Mono SemiBold"/>
                <a:cs typeface="IBM Plex Mono SemiBold"/>
              </a:endParaRPr>
            </a:p>
          </p:txBody>
        </p:sp>
        <p:sp>
          <p:nvSpPr>
            <p:cNvPr id="21" name="node01.points.source-003.halo"/>
            <p:cNvSpPr/>
            <p:nvPr/>
          </p:nvSpPr>
          <p:spPr>
            <a:xfrm>
              <a:off x="3763518" y="2952750"/>
              <a:ext cx="266700" cy="266700"/>
            </a:xfrm>
            <a:prstGeom prst="ellipse">
              <a:avLst/>
            </a:prstGeom>
            <a:solidFill>
              <a:srgbClr val="FFFFFF"/>
            </a:solidFill>
            <a:ln>
              <a:noFill/>
            </a:ln>
          </p:spPr>
        </p:sp>
        <p:sp>
          <p:nvSpPr>
            <p:cNvPr id="22" name="node01.points.source-003.marker"/>
            <p:cNvSpPr/>
            <p:nvPr/>
          </p:nvSpPr>
          <p:spPr>
            <a:xfrm>
              <a:off x="3782568" y="2971800"/>
              <a:ext cx="228600" cy="228600"/>
            </a:xfrm>
            <a:prstGeom prst="ellipse">
              <a:avLst/>
            </a:prstGeom>
            <a:solidFill>
              <a:srgbClr val="070154"/>
            </a:solidFill>
            <a:ln>
              <a:noFill/>
            </a:ln>
          </p:spPr>
        </p:sp>
        <p:sp>
          <p:nvSpPr>
            <p:cNvPr id="23" name="node01.points.source-003.number"/>
            <p:cNvSpPr/>
            <p:nvPr/>
          </p:nvSpPr>
          <p:spPr>
            <a:xfrm>
              <a:off x="3782568" y="2971800"/>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3</a:t>
              </a:r>
              <a:endParaRPr lang="en-US" sz="1000" spc="0" kern="0" b="0" i="0" dirty="0">
                <a:solidFill>
                  <a:srgbClr val="FFFFFF"/>
                </a:solidFill>
                <a:latin typeface="IBM Plex Mono SemiBold"/>
                <a:ea typeface="IBM Plex Mono SemiBold"/>
                <a:cs typeface="IBM Plex Mono SemiBold"/>
              </a:endParaRPr>
            </a:p>
          </p:txBody>
        </p:sp>
        <p:sp>
          <p:nvSpPr>
            <p:cNvPr id="24" name="node01.points.source-003.badge"/>
            <p:cNvSpPr/>
            <p:nvPr/>
          </p:nvSpPr>
          <p:spPr>
            <a:xfrm>
              <a:off x="4054031" y="2992438"/>
              <a:ext cx="786957" cy="187325"/>
            </a:xfrm>
            <a:prstGeom prst="rect">
              <a:avLst/>
            </a:prstGeom>
            <a:solidFill>
              <a:srgbClr val="FFFFFF"/>
            </a:solidFill>
            <a:ln w="9525">
              <a:solidFill>
                <a:srgbClr val="070154"/>
              </a:solidFill>
              <a:prstDash val="solid"/>
            </a:ln>
          </p:spPr>
        </p:sp>
        <p:sp>
          <p:nvSpPr>
            <p:cNvPr id="25" name="node01.points.source-003.label"/>
            <p:cNvSpPr/>
            <p:nvPr/>
          </p:nvSpPr>
          <p:spPr>
            <a:xfrm>
              <a:off x="4112768" y="2987675"/>
              <a:ext cx="669482"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REFERRALS</a:t>
              </a:r>
              <a:endParaRPr lang="en-US" sz="844" spc="51" kern="0" b="0" i="0" dirty="0">
                <a:solidFill>
                  <a:srgbClr val="070154"/>
                </a:solidFill>
                <a:latin typeface="IBM Plex Mono SemiBold"/>
                <a:ea typeface="IBM Plex Mono SemiBold"/>
                <a:cs typeface="IBM Plex Mono SemiBold"/>
              </a:endParaRPr>
            </a:p>
          </p:txBody>
        </p:sp>
        <p:sp>
          <p:nvSpPr>
            <p:cNvPr id="26" name="node01.points.source-004.halo"/>
            <p:cNvSpPr/>
            <p:nvPr/>
          </p:nvSpPr>
          <p:spPr>
            <a:xfrm>
              <a:off x="5361432" y="1796034"/>
              <a:ext cx="266700" cy="266700"/>
            </a:xfrm>
            <a:prstGeom prst="ellipse">
              <a:avLst/>
            </a:prstGeom>
            <a:solidFill>
              <a:srgbClr val="FFFFFF"/>
            </a:solidFill>
            <a:ln>
              <a:noFill/>
            </a:ln>
          </p:spPr>
        </p:sp>
        <p:sp>
          <p:nvSpPr>
            <p:cNvPr id="27" name="node01.points.source-004.marker"/>
            <p:cNvSpPr/>
            <p:nvPr/>
          </p:nvSpPr>
          <p:spPr>
            <a:xfrm>
              <a:off x="5380482" y="1815084"/>
              <a:ext cx="228600" cy="228600"/>
            </a:xfrm>
            <a:prstGeom prst="ellipse">
              <a:avLst/>
            </a:prstGeom>
            <a:solidFill>
              <a:srgbClr val="070154"/>
            </a:solidFill>
            <a:ln>
              <a:noFill/>
            </a:ln>
          </p:spPr>
        </p:sp>
        <p:sp>
          <p:nvSpPr>
            <p:cNvPr id="28" name="node01.points.source-004.number"/>
            <p:cNvSpPr/>
            <p:nvPr/>
          </p:nvSpPr>
          <p:spPr>
            <a:xfrm>
              <a:off x="5380482" y="1815084"/>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4</a:t>
              </a:r>
              <a:endParaRPr lang="en-US" sz="1000" spc="0" kern="0" b="0" i="0" dirty="0">
                <a:solidFill>
                  <a:srgbClr val="FFFFFF"/>
                </a:solidFill>
                <a:latin typeface="IBM Plex Mono SemiBold"/>
                <a:ea typeface="IBM Plex Mono SemiBold"/>
                <a:cs typeface="IBM Plex Mono SemiBold"/>
              </a:endParaRPr>
            </a:p>
          </p:txBody>
        </p:sp>
        <p:sp>
          <p:nvSpPr>
            <p:cNvPr id="29" name="node01.points.source-004.badge"/>
            <p:cNvSpPr/>
            <p:nvPr/>
          </p:nvSpPr>
          <p:spPr>
            <a:xfrm>
              <a:off x="5651945" y="1835722"/>
              <a:ext cx="715392" cy="187325"/>
            </a:xfrm>
            <a:prstGeom prst="rect">
              <a:avLst/>
            </a:prstGeom>
            <a:solidFill>
              <a:srgbClr val="FFFFFF"/>
            </a:solidFill>
            <a:ln w="9525">
              <a:solidFill>
                <a:srgbClr val="070154"/>
              </a:solidFill>
              <a:prstDash val="solid"/>
            </a:ln>
          </p:spPr>
        </p:sp>
        <p:sp>
          <p:nvSpPr>
            <p:cNvPr id="30" name="node01.points.source-004.label"/>
            <p:cNvSpPr/>
            <p:nvPr/>
          </p:nvSpPr>
          <p:spPr>
            <a:xfrm>
              <a:off x="5710682" y="1830959"/>
              <a:ext cx="597917"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OUTREACH</a:t>
              </a:r>
              <a:endParaRPr lang="en-US" sz="844" spc="51" kern="0" b="0" i="0" dirty="0">
                <a:solidFill>
                  <a:srgbClr val="070154"/>
                </a:solidFill>
                <a:latin typeface="IBM Plex Mono SemiBold"/>
                <a:ea typeface="IBM Plex Mono SemiBold"/>
                <a:cs typeface="IBM Plex Mono SemiBold"/>
              </a:endParaRPr>
            </a:p>
          </p:txBody>
        </p:sp>
        <p:sp>
          <p:nvSpPr>
            <p:cNvPr id="31" name="node01.points.source-005.halo"/>
            <p:cNvSpPr/>
            <p:nvPr/>
          </p:nvSpPr>
          <p:spPr>
            <a:xfrm>
              <a:off x="5423154" y="4109466"/>
              <a:ext cx="266700" cy="266700"/>
            </a:xfrm>
            <a:prstGeom prst="ellipse">
              <a:avLst/>
            </a:prstGeom>
            <a:solidFill>
              <a:srgbClr val="FFFFFF"/>
            </a:solidFill>
            <a:ln>
              <a:noFill/>
            </a:ln>
          </p:spPr>
        </p:sp>
        <p:sp>
          <p:nvSpPr>
            <p:cNvPr id="32" name="node01.points.source-005.marker"/>
            <p:cNvSpPr/>
            <p:nvPr/>
          </p:nvSpPr>
          <p:spPr>
            <a:xfrm>
              <a:off x="5442204" y="4128516"/>
              <a:ext cx="228600" cy="228600"/>
            </a:xfrm>
            <a:prstGeom prst="ellipse">
              <a:avLst/>
            </a:prstGeom>
            <a:solidFill>
              <a:srgbClr val="070154"/>
            </a:solidFill>
            <a:ln>
              <a:noFill/>
            </a:ln>
          </p:spPr>
        </p:sp>
        <p:sp>
          <p:nvSpPr>
            <p:cNvPr id="33" name="node01.points.source-005.number"/>
            <p:cNvSpPr/>
            <p:nvPr/>
          </p:nvSpPr>
          <p:spPr>
            <a:xfrm>
              <a:off x="5442204" y="4128516"/>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5</a:t>
              </a:r>
              <a:endParaRPr lang="en-US" sz="1000" spc="0" kern="0" b="0" i="0" dirty="0">
                <a:solidFill>
                  <a:srgbClr val="FFFFFF"/>
                </a:solidFill>
                <a:latin typeface="IBM Plex Mono SemiBold"/>
                <a:ea typeface="IBM Plex Mono SemiBold"/>
                <a:cs typeface="IBM Plex Mono SemiBold"/>
              </a:endParaRPr>
            </a:p>
          </p:txBody>
        </p:sp>
        <p:sp>
          <p:nvSpPr>
            <p:cNvPr id="34" name="node01.points.source-005.badge"/>
            <p:cNvSpPr/>
            <p:nvPr/>
          </p:nvSpPr>
          <p:spPr>
            <a:xfrm>
              <a:off x="5713667" y="4149154"/>
              <a:ext cx="643827" cy="187325"/>
            </a:xfrm>
            <a:prstGeom prst="rect">
              <a:avLst/>
            </a:prstGeom>
            <a:solidFill>
              <a:srgbClr val="FFFFFF"/>
            </a:solidFill>
            <a:ln w="9525">
              <a:solidFill>
                <a:srgbClr val="070154"/>
              </a:solidFill>
              <a:prstDash val="solid"/>
            </a:ln>
          </p:spPr>
        </p:sp>
        <p:sp>
          <p:nvSpPr>
            <p:cNvPr id="35" name="node01.points.source-005.label"/>
            <p:cNvSpPr/>
            <p:nvPr/>
          </p:nvSpPr>
          <p:spPr>
            <a:xfrm>
              <a:off x="5772404" y="4144391"/>
              <a:ext cx="526352"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PRICING</a:t>
              </a:r>
              <a:endParaRPr lang="en-US" sz="844" spc="51" kern="0" b="0" i="0" dirty="0">
                <a:solidFill>
                  <a:srgbClr val="070154"/>
                </a:solidFill>
                <a:latin typeface="IBM Plex Mono SemiBold"/>
                <a:ea typeface="IBM Plex Mono SemiBold"/>
                <a:cs typeface="IBM Plex Mono SemiBold"/>
              </a:endParaRPr>
            </a:p>
          </p:txBody>
        </p:sp>
      </p:grpSp>
      <p:grpSp>
        <p:nvGrpSpPr>
          <p:cNvPr id="52" name="node02"/>
          <p:cNvGrpSpPr/>
          <p:nvPr/>
        </p:nvGrpSpPr>
        <p:grpSpPr>
          <a:xfrm>
            <a:off x="8039100" y="2286000"/>
            <a:ext cx="3429000" cy="2768600"/>
            <a:chOff x="8039100" y="2286000"/>
            <a:chExt cx="3429000" cy="2768600"/>
          </a:xfrm>
        </p:grpSpPr>
        <p:sp>
          <p:nvSpPr>
            <p:cNvPr id="36" name="node02.source-001.number"/>
            <p:cNvSpPr/>
            <p:nvPr/>
          </p:nvSpPr>
          <p:spPr>
            <a:xfrm>
              <a:off x="8039100" y="22860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37" name="node02.source-001.title"/>
            <p:cNvSpPr/>
            <p:nvPr/>
          </p:nvSpPr>
          <p:spPr>
            <a:xfrm>
              <a:off x="8572500" y="22860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Claims status bot</a:t>
              </a:r>
              <a:endParaRPr lang="en-US" sz="1200" spc="0" kern="0" b="0" i="0" dirty="0">
                <a:solidFill>
                  <a:srgbClr val="070154"/>
                </a:solidFill>
                <a:latin typeface="IBM Plex Sans SemiBold"/>
                <a:ea typeface="IBM Plex Sans SemiBold"/>
                <a:cs typeface="IBM Plex Sans SemiBold"/>
              </a:endParaRPr>
            </a:p>
          </p:txBody>
        </p:sp>
        <p:sp>
          <p:nvSpPr>
            <p:cNvPr id="38" name="node02.source-001.text"/>
            <p:cNvSpPr/>
            <p:nvPr/>
          </p:nvSpPr>
          <p:spPr>
            <a:xfrm>
              <a:off x="8572500" y="25019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Cost out only.</a:t>
              </a:r>
              <a:endParaRPr lang="en-US" sz="1200" spc="0" kern="0" b="0" i="0" dirty="0">
                <a:solidFill>
                  <a:srgbClr val="50658E"/>
                </a:solidFill>
                <a:latin typeface="IBM Plex Sans"/>
                <a:ea typeface="IBM Plex Sans"/>
                <a:cs typeface="IBM Plex Sans"/>
              </a:endParaRPr>
            </a:p>
          </p:txBody>
        </p:sp>
        <p:sp>
          <p:nvSpPr>
            <p:cNvPr id="39" name="node02.source-002.number"/>
            <p:cNvSpPr/>
            <p:nvPr/>
          </p:nvSpPr>
          <p:spPr>
            <a:xfrm>
              <a:off x="8039100" y="28702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40" name="node02.source-002.title"/>
            <p:cNvSpPr/>
            <p:nvPr/>
          </p:nvSpPr>
          <p:spPr>
            <a:xfrm>
              <a:off x="8572500" y="28702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Staffing forecast</a:t>
              </a:r>
              <a:endParaRPr lang="en-US" sz="1200" spc="0" kern="0" b="0" i="0" dirty="0">
                <a:solidFill>
                  <a:srgbClr val="070154"/>
                </a:solidFill>
                <a:latin typeface="IBM Plex Sans SemiBold"/>
                <a:ea typeface="IBM Plex Sans SemiBold"/>
                <a:cs typeface="IBM Plex Sans SemiBold"/>
              </a:endParaRPr>
            </a:p>
          </p:txBody>
        </p:sp>
        <p:sp>
          <p:nvSpPr>
            <p:cNvPr id="41" name="node02.source-002.text"/>
            <p:cNvSpPr/>
            <p:nvPr/>
          </p:nvSpPr>
          <p:spPr>
            <a:xfrm>
              <a:off x="8572500" y="30861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Mostly cost out.</a:t>
              </a:r>
              <a:endParaRPr lang="en-US" sz="1200" spc="0" kern="0" b="0" i="0" dirty="0">
                <a:solidFill>
                  <a:srgbClr val="50658E"/>
                </a:solidFill>
                <a:latin typeface="IBM Plex Sans"/>
                <a:ea typeface="IBM Plex Sans"/>
                <a:cs typeface="IBM Plex Sans"/>
              </a:endParaRPr>
            </a:p>
          </p:txBody>
        </p:sp>
        <p:sp>
          <p:nvSpPr>
            <p:cNvPr id="42" name="node02.source-003.number"/>
            <p:cNvSpPr/>
            <p:nvPr/>
          </p:nvSpPr>
          <p:spPr>
            <a:xfrm>
              <a:off x="8039100" y="3454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43" name="node02.source-003.title"/>
            <p:cNvSpPr/>
            <p:nvPr/>
          </p:nvSpPr>
          <p:spPr>
            <a:xfrm>
              <a:off x="8572500" y="34544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Referral matching</a:t>
              </a:r>
              <a:endParaRPr lang="en-US" sz="1200" spc="0" kern="0" b="0" i="0" dirty="0">
                <a:solidFill>
                  <a:srgbClr val="070154"/>
                </a:solidFill>
                <a:latin typeface="IBM Plex Sans SemiBold"/>
                <a:ea typeface="IBM Plex Sans SemiBold"/>
                <a:cs typeface="IBM Plex Sans SemiBold"/>
              </a:endParaRPr>
            </a:p>
          </p:txBody>
        </p:sp>
        <p:sp>
          <p:nvSpPr>
            <p:cNvPr id="44" name="node02.source-003.text"/>
            <p:cNvSpPr/>
            <p:nvPr/>
          </p:nvSpPr>
          <p:spPr>
            <a:xfrm>
              <a:off x="8572500" y="36703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Both, at the overlap.</a:t>
              </a:r>
              <a:endParaRPr lang="en-US" sz="1200" spc="0" kern="0" b="0" i="0" dirty="0">
                <a:solidFill>
                  <a:srgbClr val="50658E"/>
                </a:solidFill>
                <a:latin typeface="IBM Plex Sans"/>
                <a:ea typeface="IBM Plex Sans"/>
                <a:cs typeface="IBM Plex Sans"/>
              </a:endParaRPr>
            </a:p>
          </p:txBody>
        </p:sp>
        <p:sp>
          <p:nvSpPr>
            <p:cNvPr id="45" name="node02.source-004.number"/>
            <p:cNvSpPr/>
            <p:nvPr/>
          </p:nvSpPr>
          <p:spPr>
            <a:xfrm>
              <a:off x="8039100" y="40386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46" name="node02.source-004.title"/>
            <p:cNvSpPr/>
            <p:nvPr/>
          </p:nvSpPr>
          <p:spPr>
            <a:xfrm>
              <a:off x="8572500" y="40386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Outreach scoring</a:t>
              </a:r>
              <a:endParaRPr lang="en-US" sz="1200" spc="0" kern="0" b="0" i="0" dirty="0">
                <a:solidFill>
                  <a:srgbClr val="070154"/>
                </a:solidFill>
                <a:latin typeface="IBM Plex Sans SemiBold"/>
                <a:ea typeface="IBM Plex Sans SemiBold"/>
                <a:cs typeface="IBM Plex Sans SemiBold"/>
              </a:endParaRPr>
            </a:p>
          </p:txBody>
        </p:sp>
        <p:sp>
          <p:nvSpPr>
            <p:cNvPr id="47" name="node02.source-004.text"/>
            <p:cNvSpPr/>
            <p:nvPr/>
          </p:nvSpPr>
          <p:spPr>
            <a:xfrm>
              <a:off x="8572500" y="42545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Mostly revenue.</a:t>
              </a:r>
              <a:endParaRPr lang="en-US" sz="1200" spc="0" kern="0" b="0" i="0" dirty="0">
                <a:solidFill>
                  <a:srgbClr val="50658E"/>
                </a:solidFill>
                <a:latin typeface="IBM Plex Sans"/>
                <a:ea typeface="IBM Plex Sans"/>
                <a:cs typeface="IBM Plex Sans"/>
              </a:endParaRPr>
            </a:p>
          </p:txBody>
        </p:sp>
        <p:sp>
          <p:nvSpPr>
            <p:cNvPr id="48" name="node02.source-005.number"/>
            <p:cNvSpPr/>
            <p:nvPr/>
          </p:nvSpPr>
          <p:spPr>
            <a:xfrm>
              <a:off x="8039100" y="46228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05</a:t>
              </a:r>
              <a:endParaRPr lang="en-US" sz="1200" spc="0" kern="0" b="0" i="0" dirty="0">
                <a:solidFill>
                  <a:srgbClr val="0047FF"/>
                </a:solidFill>
                <a:latin typeface="IBM Plex Mono SemiBold"/>
                <a:ea typeface="IBM Plex Mono SemiBold"/>
                <a:cs typeface="IBM Plex Mono SemiBold"/>
              </a:endParaRPr>
            </a:p>
          </p:txBody>
        </p:sp>
        <p:sp>
          <p:nvSpPr>
            <p:cNvPr id="49" name="node02.source-005.title"/>
            <p:cNvSpPr/>
            <p:nvPr/>
          </p:nvSpPr>
          <p:spPr>
            <a:xfrm>
              <a:off x="8572500" y="46228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Pricing analytics</a:t>
              </a:r>
              <a:endParaRPr lang="en-US" sz="1200" spc="0" kern="0" b="0" i="0" dirty="0">
                <a:solidFill>
                  <a:srgbClr val="070154"/>
                </a:solidFill>
                <a:latin typeface="IBM Plex Sans SemiBold"/>
                <a:ea typeface="IBM Plex Sans SemiBold"/>
                <a:cs typeface="IBM Plex Sans SemiBold"/>
              </a:endParaRPr>
            </a:p>
          </p:txBody>
        </p:sp>
        <p:sp>
          <p:nvSpPr>
            <p:cNvPr id="50" name="node02.source-005.text"/>
            <p:cNvSpPr/>
            <p:nvPr/>
          </p:nvSpPr>
          <p:spPr>
            <a:xfrm>
              <a:off x="8572500" y="48387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Revenue up only.</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ource-613">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INITIATIVE PORTFOLIO</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Six initiatives mapped to three capabilities</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finance and operations workshops,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84</a:t>
            </a:fld>
            <a:endParaRPr lang="en-US" sz="700" spc="0" kern="0" b="0" i="0" dirty="0">
              <a:solidFill>
                <a:srgbClr val="070154"/>
              </a:solidFill>
              <a:latin typeface="IBM Plex Mono SemiBold"/>
              <a:ea typeface="IBM Plex Mono SemiBold"/>
              <a:cs typeface="IBM Plex Mono SemiBold"/>
            </a:endParaRPr>
          </a:p>
        </p:txBody>
      </p:sp>
      <p:grpSp>
        <p:nvGrpSpPr>
          <p:cNvPr id="61" name="node01"/>
          <p:cNvGrpSpPr/>
          <p:nvPr/>
        </p:nvGrpSpPr>
        <p:grpSpPr>
          <a:xfrm>
            <a:off x="4495800" y="457200"/>
            <a:ext cx="6858000" cy="5251450"/>
            <a:chOff x="4495800" y="457200"/>
            <a:chExt cx="6858000" cy="5251450"/>
          </a:xfrm>
        </p:grpSpPr>
        <p:sp>
          <p:nvSpPr>
            <p:cNvPr id="7" name="node01.sets.source-001.circle"/>
            <p:cNvSpPr/>
            <p:nvPr/>
          </p:nvSpPr>
          <p:spPr>
            <a:xfrm>
              <a:off x="4826000" y="469900"/>
              <a:ext cx="4056380" cy="4056380"/>
            </a:xfrm>
            <a:prstGeom prst="ellipse">
              <a:avLst/>
            </a:prstGeom>
            <a:solidFill>
              <a:srgbClr val="E8EEF8">
                <a:alpha val="70000"/>
              </a:srgbClr>
            </a:solidFill>
            <a:ln w="12700">
              <a:solidFill>
                <a:srgbClr val="070154"/>
              </a:solidFill>
              <a:prstDash val="solid"/>
            </a:ln>
          </p:spPr>
        </p:sp>
        <p:sp>
          <p:nvSpPr>
            <p:cNvPr id="8" name="node01.sets.source-002.circle"/>
            <p:cNvSpPr/>
            <p:nvPr/>
          </p:nvSpPr>
          <p:spPr>
            <a:xfrm>
              <a:off x="6967220" y="469900"/>
              <a:ext cx="4056380" cy="4056380"/>
            </a:xfrm>
            <a:prstGeom prst="ellipse">
              <a:avLst/>
            </a:prstGeom>
            <a:solidFill>
              <a:srgbClr val="CED7E6">
                <a:alpha val="70000"/>
              </a:srgbClr>
            </a:solidFill>
            <a:ln w="12700">
              <a:solidFill>
                <a:srgbClr val="070154"/>
              </a:solidFill>
              <a:prstDash val="solid"/>
            </a:ln>
          </p:spPr>
        </p:sp>
        <p:sp>
          <p:nvSpPr>
            <p:cNvPr id="9" name="node01.sets.source-003.circle"/>
            <p:cNvSpPr/>
            <p:nvPr/>
          </p:nvSpPr>
          <p:spPr>
            <a:xfrm>
              <a:off x="5896610" y="1645920"/>
              <a:ext cx="4056380" cy="4056380"/>
            </a:xfrm>
            <a:prstGeom prst="ellipse">
              <a:avLst/>
            </a:prstGeom>
            <a:solidFill>
              <a:srgbClr val="B9C9F0">
                <a:alpha val="70000"/>
              </a:srgbClr>
            </a:solidFill>
            <a:ln w="12700">
              <a:solidFill>
                <a:srgbClr val="070154"/>
              </a:solidFill>
              <a:prstDash val="solid"/>
            </a:ln>
          </p:spPr>
        </p:sp>
        <p:sp>
          <p:nvSpPr>
            <p:cNvPr id="10" name="node01.sets.source-001.label"/>
            <p:cNvSpPr/>
            <p:nvPr/>
          </p:nvSpPr>
          <p:spPr>
            <a:xfrm>
              <a:off x="5105564" y="1562100"/>
              <a:ext cx="1926508"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AI</a:t>
              </a:r>
              <a:endParaRPr lang="en-US" sz="1300" spc="78" kern="0" b="0" i="0" dirty="0">
                <a:solidFill>
                  <a:srgbClr val="070154"/>
                </a:solidFill>
                <a:latin typeface="IBM Plex Mono SemiBold"/>
                <a:ea typeface="IBM Plex Mono SemiBold"/>
                <a:cs typeface="IBM Plex Mono SemiBold"/>
              </a:endParaRPr>
            </a:p>
          </p:txBody>
        </p:sp>
        <p:sp>
          <p:nvSpPr>
            <p:cNvPr id="11" name="node01.sets.source-002.label"/>
            <p:cNvSpPr/>
            <p:nvPr/>
          </p:nvSpPr>
          <p:spPr>
            <a:xfrm>
              <a:off x="8788564" y="1511300"/>
              <a:ext cx="1926508"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PROCESS</a:t>
              </a:r>
              <a:endParaRPr lang="en-US" sz="1300" spc="78" kern="0" b="0" i="0" dirty="0">
                <a:solidFill>
                  <a:srgbClr val="070154"/>
                </a:solidFill>
                <a:latin typeface="IBM Plex Mono SemiBold"/>
                <a:ea typeface="IBM Plex Mono SemiBold"/>
                <a:cs typeface="IBM Plex Mono SemiBold"/>
              </a:endParaRPr>
            </a:p>
          </p:txBody>
        </p:sp>
        <p:sp>
          <p:nvSpPr>
            <p:cNvPr id="12" name="node01.sets.source-003.label"/>
            <p:cNvSpPr/>
            <p:nvPr/>
          </p:nvSpPr>
          <p:spPr>
            <a:xfrm>
              <a:off x="6959764" y="4762500"/>
              <a:ext cx="1926508"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DATA</a:t>
              </a:r>
              <a:endParaRPr lang="en-US" sz="1300" spc="78" kern="0" b="0" i="0" dirty="0">
                <a:solidFill>
                  <a:srgbClr val="070154"/>
                </a:solidFill>
                <a:latin typeface="IBM Plex Mono SemiBold"/>
                <a:ea typeface="IBM Plex Mono SemiBold"/>
                <a:cs typeface="IBM Plex Mono SemiBold"/>
              </a:endParaRPr>
            </a:p>
          </p:txBody>
        </p:sp>
        <p:sp>
          <p:nvSpPr>
            <p:cNvPr id="13" name="node01.points.source-001.halo"/>
            <p:cNvSpPr/>
            <p:nvPr/>
          </p:nvSpPr>
          <p:spPr>
            <a:xfrm>
              <a:off x="5946648" y="2410968"/>
              <a:ext cx="266700" cy="266700"/>
            </a:xfrm>
            <a:prstGeom prst="ellipse">
              <a:avLst/>
            </a:prstGeom>
            <a:solidFill>
              <a:srgbClr val="FFFFFF"/>
            </a:solidFill>
            <a:ln>
              <a:noFill/>
            </a:ln>
          </p:spPr>
        </p:sp>
        <p:sp>
          <p:nvSpPr>
            <p:cNvPr id="14" name="node01.points.source-001.marker"/>
            <p:cNvSpPr/>
            <p:nvPr/>
          </p:nvSpPr>
          <p:spPr>
            <a:xfrm>
              <a:off x="5965698" y="2430018"/>
              <a:ext cx="228600" cy="228600"/>
            </a:xfrm>
            <a:prstGeom prst="ellipse">
              <a:avLst/>
            </a:prstGeom>
            <a:solidFill>
              <a:srgbClr val="070154"/>
            </a:solidFill>
            <a:ln>
              <a:noFill/>
            </a:ln>
          </p:spPr>
        </p:sp>
        <p:sp>
          <p:nvSpPr>
            <p:cNvPr id="15" name="node01.points.source-001.number"/>
            <p:cNvSpPr/>
            <p:nvPr/>
          </p:nvSpPr>
          <p:spPr>
            <a:xfrm>
              <a:off x="5965698" y="2430018"/>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1</a:t>
              </a:r>
              <a:endParaRPr lang="en-US" sz="1000" spc="0" kern="0" b="0" i="0" dirty="0">
                <a:solidFill>
                  <a:srgbClr val="FFFFFF"/>
                </a:solidFill>
                <a:latin typeface="IBM Plex Mono SemiBold"/>
                <a:ea typeface="IBM Plex Mono SemiBold"/>
                <a:cs typeface="IBM Plex Mono SemiBold"/>
              </a:endParaRPr>
            </a:p>
          </p:txBody>
        </p:sp>
        <p:sp>
          <p:nvSpPr>
            <p:cNvPr id="16" name="node01.points.source-001.badge"/>
            <p:cNvSpPr/>
            <p:nvPr/>
          </p:nvSpPr>
          <p:spPr>
            <a:xfrm>
              <a:off x="6237161" y="2450656"/>
              <a:ext cx="572263" cy="187325"/>
            </a:xfrm>
            <a:prstGeom prst="rect">
              <a:avLst/>
            </a:prstGeom>
            <a:solidFill>
              <a:srgbClr val="FFFFFF"/>
            </a:solidFill>
            <a:ln w="9525">
              <a:solidFill>
                <a:srgbClr val="070154"/>
              </a:solidFill>
              <a:prstDash val="solid"/>
            </a:ln>
          </p:spPr>
        </p:sp>
        <p:sp>
          <p:nvSpPr>
            <p:cNvPr id="17" name="node01.points.source-001.label"/>
            <p:cNvSpPr/>
            <p:nvPr/>
          </p:nvSpPr>
          <p:spPr>
            <a:xfrm>
              <a:off x="6295898" y="2445893"/>
              <a:ext cx="454788"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DENIAL</a:t>
              </a:r>
              <a:endParaRPr lang="en-US" sz="844" spc="51" kern="0" b="0" i="0" dirty="0">
                <a:solidFill>
                  <a:srgbClr val="070154"/>
                </a:solidFill>
                <a:latin typeface="IBM Plex Mono SemiBold"/>
                <a:ea typeface="IBM Plex Mono SemiBold"/>
                <a:cs typeface="IBM Plex Mono SemiBold"/>
              </a:endParaRPr>
            </a:p>
          </p:txBody>
        </p:sp>
        <p:sp>
          <p:nvSpPr>
            <p:cNvPr id="18" name="node01.points.source-002.halo"/>
            <p:cNvSpPr/>
            <p:nvPr/>
          </p:nvSpPr>
          <p:spPr>
            <a:xfrm>
              <a:off x="9636252" y="2410968"/>
              <a:ext cx="266700" cy="266700"/>
            </a:xfrm>
            <a:prstGeom prst="ellipse">
              <a:avLst/>
            </a:prstGeom>
            <a:solidFill>
              <a:srgbClr val="FFFFFF"/>
            </a:solidFill>
            <a:ln>
              <a:noFill/>
            </a:ln>
          </p:spPr>
        </p:sp>
        <p:sp>
          <p:nvSpPr>
            <p:cNvPr id="19" name="node01.points.source-002.marker"/>
            <p:cNvSpPr/>
            <p:nvPr/>
          </p:nvSpPr>
          <p:spPr>
            <a:xfrm>
              <a:off x="9655302" y="2430018"/>
              <a:ext cx="228600" cy="228600"/>
            </a:xfrm>
            <a:prstGeom prst="ellipse">
              <a:avLst/>
            </a:prstGeom>
            <a:solidFill>
              <a:srgbClr val="070154"/>
            </a:solidFill>
            <a:ln>
              <a:noFill/>
            </a:ln>
          </p:spPr>
        </p:sp>
        <p:sp>
          <p:nvSpPr>
            <p:cNvPr id="20" name="node01.points.source-002.number"/>
            <p:cNvSpPr/>
            <p:nvPr/>
          </p:nvSpPr>
          <p:spPr>
            <a:xfrm>
              <a:off x="9655302" y="2430018"/>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2</a:t>
              </a:r>
              <a:endParaRPr lang="en-US" sz="1000" spc="0" kern="0" b="0" i="0" dirty="0">
                <a:solidFill>
                  <a:srgbClr val="FFFFFF"/>
                </a:solidFill>
                <a:latin typeface="IBM Plex Mono SemiBold"/>
                <a:ea typeface="IBM Plex Mono SemiBold"/>
                <a:cs typeface="IBM Plex Mono SemiBold"/>
              </a:endParaRPr>
            </a:p>
          </p:txBody>
        </p:sp>
        <p:sp>
          <p:nvSpPr>
            <p:cNvPr id="21" name="node01.points.source-002.badge"/>
            <p:cNvSpPr/>
            <p:nvPr/>
          </p:nvSpPr>
          <p:spPr>
            <a:xfrm>
              <a:off x="9040177" y="2450656"/>
              <a:ext cx="572263" cy="187325"/>
            </a:xfrm>
            <a:prstGeom prst="rect">
              <a:avLst/>
            </a:prstGeom>
            <a:solidFill>
              <a:srgbClr val="FFFFFF"/>
            </a:solidFill>
            <a:ln w="9525">
              <a:solidFill>
                <a:srgbClr val="070154"/>
              </a:solidFill>
              <a:prstDash val="solid"/>
            </a:ln>
          </p:spPr>
        </p:sp>
        <p:sp>
          <p:nvSpPr>
            <p:cNvPr id="22" name="node01.points.source-002.label"/>
            <p:cNvSpPr/>
            <p:nvPr/>
          </p:nvSpPr>
          <p:spPr>
            <a:xfrm>
              <a:off x="9098914" y="2445893"/>
              <a:ext cx="454788"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INTAKE</a:t>
              </a:r>
              <a:endParaRPr lang="en-US" sz="844" spc="51" kern="0" b="0" i="0" dirty="0">
                <a:solidFill>
                  <a:srgbClr val="070154"/>
                </a:solidFill>
                <a:latin typeface="IBM Plex Mono SemiBold"/>
                <a:ea typeface="IBM Plex Mono SemiBold"/>
                <a:cs typeface="IBM Plex Mono SemiBold"/>
              </a:endParaRPr>
            </a:p>
          </p:txBody>
        </p:sp>
        <p:sp>
          <p:nvSpPr>
            <p:cNvPr id="23" name="node01.points.source-003.halo"/>
            <p:cNvSpPr/>
            <p:nvPr/>
          </p:nvSpPr>
          <p:spPr>
            <a:xfrm>
              <a:off x="7378299" y="4435263"/>
              <a:ext cx="266700" cy="266700"/>
            </a:xfrm>
            <a:prstGeom prst="ellipse">
              <a:avLst/>
            </a:prstGeom>
            <a:solidFill>
              <a:srgbClr val="FFFFFF"/>
            </a:solidFill>
            <a:ln>
              <a:noFill/>
            </a:ln>
          </p:spPr>
        </p:sp>
        <p:sp>
          <p:nvSpPr>
            <p:cNvPr id="24" name="node01.points.source-003.marker"/>
            <p:cNvSpPr/>
            <p:nvPr/>
          </p:nvSpPr>
          <p:spPr>
            <a:xfrm>
              <a:off x="7397349" y="4454313"/>
              <a:ext cx="228600" cy="228600"/>
            </a:xfrm>
            <a:prstGeom prst="ellipse">
              <a:avLst/>
            </a:prstGeom>
            <a:solidFill>
              <a:srgbClr val="070154"/>
            </a:solidFill>
            <a:ln>
              <a:noFill/>
            </a:ln>
          </p:spPr>
        </p:sp>
        <p:sp>
          <p:nvSpPr>
            <p:cNvPr id="25" name="node01.points.source-003.number"/>
            <p:cNvSpPr/>
            <p:nvPr/>
          </p:nvSpPr>
          <p:spPr>
            <a:xfrm>
              <a:off x="7397349" y="4454313"/>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3</a:t>
              </a:r>
              <a:endParaRPr lang="en-US" sz="1000" spc="0" kern="0" b="0" i="0" dirty="0">
                <a:solidFill>
                  <a:srgbClr val="FFFFFF"/>
                </a:solidFill>
                <a:latin typeface="IBM Plex Mono SemiBold"/>
                <a:ea typeface="IBM Plex Mono SemiBold"/>
                <a:cs typeface="IBM Plex Mono SemiBold"/>
              </a:endParaRPr>
            </a:p>
          </p:txBody>
        </p:sp>
        <p:sp>
          <p:nvSpPr>
            <p:cNvPr id="26" name="node01.points.source-003.badge"/>
            <p:cNvSpPr/>
            <p:nvPr/>
          </p:nvSpPr>
          <p:spPr>
            <a:xfrm>
              <a:off x="7668811" y="4474951"/>
              <a:ext cx="1001650" cy="187325"/>
            </a:xfrm>
            <a:prstGeom prst="rect">
              <a:avLst/>
            </a:prstGeom>
            <a:solidFill>
              <a:srgbClr val="FFFFFF"/>
            </a:solidFill>
            <a:ln w="9525">
              <a:solidFill>
                <a:srgbClr val="070154"/>
              </a:solidFill>
              <a:prstDash val="solid"/>
            </a:ln>
          </p:spPr>
        </p:sp>
        <p:sp>
          <p:nvSpPr>
            <p:cNvPr id="27" name="node01.points.source-003.label"/>
            <p:cNvSpPr/>
            <p:nvPr/>
          </p:nvSpPr>
          <p:spPr>
            <a:xfrm>
              <a:off x="7727549" y="4470188"/>
              <a:ext cx="884175"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MASTER INDEX</a:t>
              </a:r>
              <a:endParaRPr lang="en-US" sz="844" spc="51" kern="0" b="0" i="0" dirty="0">
                <a:solidFill>
                  <a:srgbClr val="070154"/>
                </a:solidFill>
                <a:latin typeface="IBM Plex Mono SemiBold"/>
                <a:ea typeface="IBM Plex Mono SemiBold"/>
                <a:cs typeface="IBM Plex Mono SemiBold"/>
              </a:endParaRPr>
            </a:p>
          </p:txBody>
        </p:sp>
        <p:sp>
          <p:nvSpPr>
            <p:cNvPr id="28" name="node01.points.source-004.halo"/>
            <p:cNvSpPr/>
            <p:nvPr/>
          </p:nvSpPr>
          <p:spPr>
            <a:xfrm>
              <a:off x="7378299" y="1383030"/>
              <a:ext cx="266700" cy="266700"/>
            </a:xfrm>
            <a:prstGeom prst="ellipse">
              <a:avLst/>
            </a:prstGeom>
            <a:solidFill>
              <a:srgbClr val="FFFFFF"/>
            </a:solidFill>
            <a:ln>
              <a:noFill/>
            </a:ln>
          </p:spPr>
        </p:sp>
        <p:sp>
          <p:nvSpPr>
            <p:cNvPr id="29" name="node01.points.source-004.marker"/>
            <p:cNvSpPr/>
            <p:nvPr/>
          </p:nvSpPr>
          <p:spPr>
            <a:xfrm>
              <a:off x="7397349" y="1402080"/>
              <a:ext cx="228600" cy="228600"/>
            </a:xfrm>
            <a:prstGeom prst="ellipse">
              <a:avLst/>
            </a:prstGeom>
            <a:solidFill>
              <a:srgbClr val="070154"/>
            </a:solidFill>
            <a:ln>
              <a:noFill/>
            </a:ln>
          </p:spPr>
        </p:sp>
        <p:sp>
          <p:nvSpPr>
            <p:cNvPr id="30" name="node01.points.source-004.number"/>
            <p:cNvSpPr/>
            <p:nvPr/>
          </p:nvSpPr>
          <p:spPr>
            <a:xfrm>
              <a:off x="7397349" y="1402080"/>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4</a:t>
              </a:r>
              <a:endParaRPr lang="en-US" sz="1000" spc="0" kern="0" b="0" i="0" dirty="0">
                <a:solidFill>
                  <a:srgbClr val="FFFFFF"/>
                </a:solidFill>
                <a:latin typeface="IBM Plex Mono SemiBold"/>
                <a:ea typeface="IBM Plex Mono SemiBold"/>
                <a:cs typeface="IBM Plex Mono SemiBold"/>
              </a:endParaRPr>
            </a:p>
          </p:txBody>
        </p:sp>
        <p:sp>
          <p:nvSpPr>
            <p:cNvPr id="31" name="node01.points.source-004.badge"/>
            <p:cNvSpPr/>
            <p:nvPr/>
          </p:nvSpPr>
          <p:spPr>
            <a:xfrm>
              <a:off x="7668811" y="1422718"/>
              <a:ext cx="643827" cy="187325"/>
            </a:xfrm>
            <a:prstGeom prst="rect">
              <a:avLst/>
            </a:prstGeom>
            <a:solidFill>
              <a:srgbClr val="FFFFFF"/>
            </a:solidFill>
            <a:ln w="9525">
              <a:solidFill>
                <a:srgbClr val="070154"/>
              </a:solidFill>
              <a:prstDash val="solid"/>
            </a:ln>
          </p:spPr>
        </p:sp>
        <p:sp>
          <p:nvSpPr>
            <p:cNvPr id="32" name="node01.points.source-004.label"/>
            <p:cNvSpPr/>
            <p:nvPr/>
          </p:nvSpPr>
          <p:spPr>
            <a:xfrm>
              <a:off x="7727549" y="1417955"/>
              <a:ext cx="526352"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APPEALS</a:t>
              </a:r>
              <a:endParaRPr lang="en-US" sz="844" spc="51" kern="0" b="0" i="0" dirty="0">
                <a:solidFill>
                  <a:srgbClr val="070154"/>
                </a:solidFill>
                <a:latin typeface="IBM Plex Mono SemiBold"/>
                <a:ea typeface="IBM Plex Mono SemiBold"/>
                <a:cs typeface="IBM Plex Mono SemiBold"/>
              </a:endParaRPr>
            </a:p>
          </p:txBody>
        </p:sp>
        <p:sp>
          <p:nvSpPr>
            <p:cNvPr id="33" name="node01.points.source-005.halo"/>
            <p:cNvSpPr/>
            <p:nvPr/>
          </p:nvSpPr>
          <p:spPr>
            <a:xfrm>
              <a:off x="6460998" y="3225698"/>
              <a:ext cx="266700" cy="266700"/>
            </a:xfrm>
            <a:prstGeom prst="ellipse">
              <a:avLst/>
            </a:prstGeom>
            <a:solidFill>
              <a:srgbClr val="FFFFFF"/>
            </a:solidFill>
            <a:ln>
              <a:noFill/>
            </a:ln>
          </p:spPr>
        </p:sp>
        <p:sp>
          <p:nvSpPr>
            <p:cNvPr id="34" name="node01.points.source-005.marker"/>
            <p:cNvSpPr/>
            <p:nvPr/>
          </p:nvSpPr>
          <p:spPr>
            <a:xfrm>
              <a:off x="6480048" y="3244748"/>
              <a:ext cx="228600" cy="228600"/>
            </a:xfrm>
            <a:prstGeom prst="ellipse">
              <a:avLst/>
            </a:prstGeom>
            <a:solidFill>
              <a:srgbClr val="070154"/>
            </a:solidFill>
            <a:ln>
              <a:noFill/>
            </a:ln>
          </p:spPr>
        </p:sp>
        <p:sp>
          <p:nvSpPr>
            <p:cNvPr id="35" name="node01.points.source-005.number"/>
            <p:cNvSpPr/>
            <p:nvPr/>
          </p:nvSpPr>
          <p:spPr>
            <a:xfrm>
              <a:off x="6480048" y="3244748"/>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5</a:t>
              </a:r>
              <a:endParaRPr lang="en-US" sz="1000" spc="0" kern="0" b="0" i="0" dirty="0">
                <a:solidFill>
                  <a:srgbClr val="FFFFFF"/>
                </a:solidFill>
                <a:latin typeface="IBM Plex Mono SemiBold"/>
                <a:ea typeface="IBM Plex Mono SemiBold"/>
                <a:cs typeface="IBM Plex Mono SemiBold"/>
              </a:endParaRPr>
            </a:p>
          </p:txBody>
        </p:sp>
        <p:sp>
          <p:nvSpPr>
            <p:cNvPr id="36" name="node01.points.source-005.badge"/>
            <p:cNvSpPr/>
            <p:nvPr/>
          </p:nvSpPr>
          <p:spPr>
            <a:xfrm>
              <a:off x="6751511" y="3265386"/>
              <a:ext cx="572263" cy="187325"/>
            </a:xfrm>
            <a:prstGeom prst="rect">
              <a:avLst/>
            </a:prstGeom>
            <a:solidFill>
              <a:srgbClr val="FFFFFF"/>
            </a:solidFill>
            <a:ln w="9525">
              <a:solidFill>
                <a:srgbClr val="070154"/>
              </a:solidFill>
              <a:prstDash val="solid"/>
            </a:ln>
          </p:spPr>
        </p:sp>
        <p:sp>
          <p:nvSpPr>
            <p:cNvPr id="37" name="node01.points.source-005.label"/>
            <p:cNvSpPr/>
            <p:nvPr/>
          </p:nvSpPr>
          <p:spPr>
            <a:xfrm>
              <a:off x="6810248" y="3260623"/>
              <a:ext cx="454788"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CLAIMS</a:t>
              </a:r>
              <a:endParaRPr lang="en-US" sz="844" spc="51" kern="0" b="0" i="0" dirty="0">
                <a:solidFill>
                  <a:srgbClr val="070154"/>
                </a:solidFill>
                <a:latin typeface="IBM Plex Mono SemiBold"/>
                <a:ea typeface="IBM Plex Mono SemiBold"/>
                <a:cs typeface="IBM Plex Mono SemiBold"/>
              </a:endParaRPr>
            </a:p>
          </p:txBody>
        </p:sp>
        <p:sp>
          <p:nvSpPr>
            <p:cNvPr id="38" name="node01.points.source-006.halo"/>
            <p:cNvSpPr/>
            <p:nvPr/>
          </p:nvSpPr>
          <p:spPr>
            <a:xfrm>
              <a:off x="7523988" y="2752954"/>
              <a:ext cx="266700" cy="266700"/>
            </a:xfrm>
            <a:prstGeom prst="ellipse">
              <a:avLst/>
            </a:prstGeom>
            <a:solidFill>
              <a:srgbClr val="FFFFFF"/>
            </a:solidFill>
            <a:ln>
              <a:noFill/>
            </a:ln>
          </p:spPr>
        </p:sp>
        <p:sp>
          <p:nvSpPr>
            <p:cNvPr id="39" name="node01.points.source-006.marker"/>
            <p:cNvSpPr/>
            <p:nvPr/>
          </p:nvSpPr>
          <p:spPr>
            <a:xfrm>
              <a:off x="7543038" y="2772004"/>
              <a:ext cx="228600" cy="228600"/>
            </a:xfrm>
            <a:prstGeom prst="ellipse">
              <a:avLst/>
            </a:prstGeom>
            <a:solidFill>
              <a:srgbClr val="070154"/>
            </a:solidFill>
            <a:ln>
              <a:noFill/>
            </a:ln>
          </p:spPr>
        </p:sp>
        <p:sp>
          <p:nvSpPr>
            <p:cNvPr id="40" name="node01.points.source-006.number"/>
            <p:cNvSpPr/>
            <p:nvPr/>
          </p:nvSpPr>
          <p:spPr>
            <a:xfrm>
              <a:off x="7543038" y="2772004"/>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6</a:t>
              </a:r>
              <a:endParaRPr lang="en-US" sz="1000" spc="0" kern="0" b="0" i="0" dirty="0">
                <a:solidFill>
                  <a:srgbClr val="FFFFFF"/>
                </a:solidFill>
                <a:latin typeface="IBM Plex Mono SemiBold"/>
                <a:ea typeface="IBM Plex Mono SemiBold"/>
                <a:cs typeface="IBM Plex Mono SemiBold"/>
              </a:endParaRPr>
            </a:p>
          </p:txBody>
        </p:sp>
        <p:sp>
          <p:nvSpPr>
            <p:cNvPr id="41" name="node01.points.source-006.badge"/>
            <p:cNvSpPr/>
            <p:nvPr/>
          </p:nvSpPr>
          <p:spPr>
            <a:xfrm>
              <a:off x="7814501" y="2792641"/>
              <a:ext cx="572263" cy="187325"/>
            </a:xfrm>
            <a:prstGeom prst="rect">
              <a:avLst/>
            </a:prstGeom>
            <a:solidFill>
              <a:srgbClr val="FFFFFF"/>
            </a:solidFill>
            <a:ln w="9525">
              <a:solidFill>
                <a:srgbClr val="070154"/>
              </a:solidFill>
              <a:prstDash val="solid"/>
            </a:ln>
          </p:spPr>
        </p:sp>
        <p:sp>
          <p:nvSpPr>
            <p:cNvPr id="42" name="node01.points.source-006.label"/>
            <p:cNvSpPr/>
            <p:nvPr/>
          </p:nvSpPr>
          <p:spPr>
            <a:xfrm>
              <a:off x="7873238" y="2787879"/>
              <a:ext cx="454788"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CODING</a:t>
              </a:r>
              <a:endParaRPr lang="en-US" sz="844" spc="51" kern="0" b="0" i="0" dirty="0">
                <a:solidFill>
                  <a:srgbClr val="070154"/>
                </a:solidFill>
                <a:latin typeface="IBM Plex Mono SemiBold"/>
                <a:ea typeface="IBM Plex Mono SemiBold"/>
                <a:cs typeface="IBM Plex Mono SemiBold"/>
              </a:endParaRPr>
            </a:p>
          </p:txBody>
        </p:sp>
      </p:grpSp>
      <p:grpSp>
        <p:nvGrpSpPr>
          <p:cNvPr id="62" name="node02"/>
          <p:cNvGrpSpPr/>
          <p:nvPr/>
        </p:nvGrpSpPr>
        <p:grpSpPr>
          <a:xfrm>
            <a:off x="723900" y="2057400"/>
            <a:ext cx="3429000" cy="3352800"/>
            <a:chOff x="723900" y="2057400"/>
            <a:chExt cx="3429000" cy="3352800"/>
          </a:xfrm>
        </p:grpSpPr>
        <p:sp>
          <p:nvSpPr>
            <p:cNvPr id="43" name="node02.source-001.number"/>
            <p:cNvSpPr/>
            <p:nvPr/>
          </p:nvSpPr>
          <p:spPr>
            <a:xfrm>
              <a:off x="723900" y="2057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44" name="node02.source-001.title"/>
            <p:cNvSpPr/>
            <p:nvPr/>
          </p:nvSpPr>
          <p:spPr>
            <a:xfrm>
              <a:off x="1257300" y="20574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Denial prediction</a:t>
              </a:r>
              <a:endParaRPr lang="en-US" sz="1200" spc="0" kern="0" b="0" i="0" dirty="0">
                <a:solidFill>
                  <a:srgbClr val="070154"/>
                </a:solidFill>
                <a:latin typeface="IBM Plex Sans SemiBold"/>
                <a:ea typeface="IBM Plex Sans SemiBold"/>
                <a:cs typeface="IBM Plex Sans SemiBold"/>
              </a:endParaRPr>
            </a:p>
          </p:txBody>
        </p:sp>
        <p:sp>
          <p:nvSpPr>
            <p:cNvPr id="45" name="node02.source-001.text"/>
            <p:cNvSpPr/>
            <p:nvPr/>
          </p:nvSpPr>
          <p:spPr>
            <a:xfrm>
              <a:off x="1257300" y="22733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AI only.</a:t>
              </a:r>
              <a:endParaRPr lang="en-US" sz="1200" spc="0" kern="0" b="0" i="0" dirty="0">
                <a:solidFill>
                  <a:srgbClr val="50658E"/>
                </a:solidFill>
                <a:latin typeface="IBM Plex Sans"/>
                <a:ea typeface="IBM Plex Sans"/>
                <a:cs typeface="IBM Plex Sans"/>
              </a:endParaRPr>
            </a:p>
          </p:txBody>
        </p:sp>
        <p:sp>
          <p:nvSpPr>
            <p:cNvPr id="46" name="node02.source-002.number"/>
            <p:cNvSpPr/>
            <p:nvPr/>
          </p:nvSpPr>
          <p:spPr>
            <a:xfrm>
              <a:off x="723900" y="26416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47" name="node02.source-002.title"/>
            <p:cNvSpPr/>
            <p:nvPr/>
          </p:nvSpPr>
          <p:spPr>
            <a:xfrm>
              <a:off x="1257300" y="26416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Intake redesign</a:t>
              </a:r>
              <a:endParaRPr lang="en-US" sz="1200" spc="0" kern="0" b="0" i="0" dirty="0">
                <a:solidFill>
                  <a:srgbClr val="070154"/>
                </a:solidFill>
                <a:latin typeface="IBM Plex Sans SemiBold"/>
                <a:ea typeface="IBM Plex Sans SemiBold"/>
                <a:cs typeface="IBM Plex Sans SemiBold"/>
              </a:endParaRPr>
            </a:p>
          </p:txBody>
        </p:sp>
        <p:sp>
          <p:nvSpPr>
            <p:cNvPr id="48" name="node02.source-002.text"/>
            <p:cNvSpPr/>
            <p:nvPr/>
          </p:nvSpPr>
          <p:spPr>
            <a:xfrm>
              <a:off x="1257300" y="28575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Process only.</a:t>
              </a:r>
              <a:endParaRPr lang="en-US" sz="1200" spc="0" kern="0" b="0" i="0" dirty="0">
                <a:solidFill>
                  <a:srgbClr val="50658E"/>
                </a:solidFill>
                <a:latin typeface="IBM Plex Sans"/>
                <a:ea typeface="IBM Plex Sans"/>
                <a:cs typeface="IBM Plex Sans"/>
              </a:endParaRPr>
            </a:p>
          </p:txBody>
        </p:sp>
        <p:sp>
          <p:nvSpPr>
            <p:cNvPr id="49" name="node02.source-003.number"/>
            <p:cNvSpPr/>
            <p:nvPr/>
          </p:nvSpPr>
          <p:spPr>
            <a:xfrm>
              <a:off x="723900" y="32258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50" name="node02.source-003.title"/>
            <p:cNvSpPr/>
            <p:nvPr/>
          </p:nvSpPr>
          <p:spPr>
            <a:xfrm>
              <a:off x="1257300" y="32258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Patient master index</a:t>
              </a:r>
              <a:endParaRPr lang="en-US" sz="1200" spc="0" kern="0" b="0" i="0" dirty="0">
                <a:solidFill>
                  <a:srgbClr val="070154"/>
                </a:solidFill>
                <a:latin typeface="IBM Plex Sans SemiBold"/>
                <a:ea typeface="IBM Plex Sans SemiBold"/>
                <a:cs typeface="IBM Plex Sans SemiBold"/>
              </a:endParaRPr>
            </a:p>
          </p:txBody>
        </p:sp>
        <p:sp>
          <p:nvSpPr>
            <p:cNvPr id="51" name="node02.source-003.text"/>
            <p:cNvSpPr/>
            <p:nvPr/>
          </p:nvSpPr>
          <p:spPr>
            <a:xfrm>
              <a:off x="1257300" y="34417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Data only.</a:t>
              </a:r>
              <a:endParaRPr lang="en-US" sz="1200" spc="0" kern="0" b="0" i="0" dirty="0">
                <a:solidFill>
                  <a:srgbClr val="50658E"/>
                </a:solidFill>
                <a:latin typeface="IBM Plex Sans"/>
                <a:ea typeface="IBM Plex Sans"/>
                <a:cs typeface="IBM Plex Sans"/>
              </a:endParaRPr>
            </a:p>
          </p:txBody>
        </p:sp>
        <p:sp>
          <p:nvSpPr>
            <p:cNvPr id="52" name="node02.source-004.number"/>
            <p:cNvSpPr/>
            <p:nvPr/>
          </p:nvSpPr>
          <p:spPr>
            <a:xfrm>
              <a:off x="723900" y="38100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53" name="node02.source-004.title"/>
            <p:cNvSpPr/>
            <p:nvPr/>
          </p:nvSpPr>
          <p:spPr>
            <a:xfrm>
              <a:off x="1257300" y="38100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Appeal drafting</a:t>
              </a:r>
              <a:endParaRPr lang="en-US" sz="1200" spc="0" kern="0" b="0" i="0" dirty="0">
                <a:solidFill>
                  <a:srgbClr val="070154"/>
                </a:solidFill>
                <a:latin typeface="IBM Plex Sans SemiBold"/>
                <a:ea typeface="IBM Plex Sans SemiBold"/>
                <a:cs typeface="IBM Plex Sans SemiBold"/>
              </a:endParaRPr>
            </a:p>
          </p:txBody>
        </p:sp>
        <p:sp>
          <p:nvSpPr>
            <p:cNvPr id="54" name="node02.source-004.text"/>
            <p:cNvSpPr/>
            <p:nvPr/>
          </p:nvSpPr>
          <p:spPr>
            <a:xfrm>
              <a:off x="1257300" y="40259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AI and process.</a:t>
              </a:r>
              <a:endParaRPr lang="en-US" sz="1200" spc="0" kern="0" b="0" i="0" dirty="0">
                <a:solidFill>
                  <a:srgbClr val="50658E"/>
                </a:solidFill>
                <a:latin typeface="IBM Plex Sans"/>
                <a:ea typeface="IBM Plex Sans"/>
                <a:cs typeface="IBM Plex Sans"/>
              </a:endParaRPr>
            </a:p>
          </p:txBody>
        </p:sp>
        <p:sp>
          <p:nvSpPr>
            <p:cNvPr id="55" name="node02.source-005.number"/>
            <p:cNvSpPr/>
            <p:nvPr/>
          </p:nvSpPr>
          <p:spPr>
            <a:xfrm>
              <a:off x="723900" y="43942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05</a:t>
              </a:r>
              <a:endParaRPr lang="en-US" sz="1200" spc="0" kern="0" b="0" i="0" dirty="0">
                <a:solidFill>
                  <a:srgbClr val="0047FF"/>
                </a:solidFill>
                <a:latin typeface="IBM Plex Mono SemiBold"/>
                <a:ea typeface="IBM Plex Mono SemiBold"/>
                <a:cs typeface="IBM Plex Mono SemiBold"/>
              </a:endParaRPr>
            </a:p>
          </p:txBody>
        </p:sp>
        <p:sp>
          <p:nvSpPr>
            <p:cNvPr id="56" name="node02.source-005.title"/>
            <p:cNvSpPr/>
            <p:nvPr/>
          </p:nvSpPr>
          <p:spPr>
            <a:xfrm>
              <a:off x="1257300" y="43942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Claims analytics</a:t>
              </a:r>
              <a:endParaRPr lang="en-US" sz="1200" spc="0" kern="0" b="0" i="0" dirty="0">
                <a:solidFill>
                  <a:srgbClr val="070154"/>
                </a:solidFill>
                <a:latin typeface="IBM Plex Sans SemiBold"/>
                <a:ea typeface="IBM Plex Sans SemiBold"/>
                <a:cs typeface="IBM Plex Sans SemiBold"/>
              </a:endParaRPr>
            </a:p>
          </p:txBody>
        </p:sp>
        <p:sp>
          <p:nvSpPr>
            <p:cNvPr id="57" name="node02.source-005.text"/>
            <p:cNvSpPr/>
            <p:nvPr/>
          </p:nvSpPr>
          <p:spPr>
            <a:xfrm>
              <a:off x="1257300" y="46101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AI and data.</a:t>
              </a:r>
              <a:endParaRPr lang="en-US" sz="1200" spc="0" kern="0" b="0" i="0" dirty="0">
                <a:solidFill>
                  <a:srgbClr val="50658E"/>
                </a:solidFill>
                <a:latin typeface="IBM Plex Sans"/>
                <a:ea typeface="IBM Plex Sans"/>
                <a:cs typeface="IBM Plex Sans"/>
              </a:endParaRPr>
            </a:p>
          </p:txBody>
        </p:sp>
        <p:sp>
          <p:nvSpPr>
            <p:cNvPr id="58" name="node02.source-006.number"/>
            <p:cNvSpPr/>
            <p:nvPr/>
          </p:nvSpPr>
          <p:spPr>
            <a:xfrm>
              <a:off x="723900" y="4978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06</a:t>
              </a:r>
              <a:endParaRPr lang="en-US" sz="1200" spc="0" kern="0" b="0" i="0" dirty="0">
                <a:solidFill>
                  <a:srgbClr val="0047FF"/>
                </a:solidFill>
                <a:latin typeface="IBM Plex Mono SemiBold"/>
                <a:ea typeface="IBM Plex Mono SemiBold"/>
                <a:cs typeface="IBM Plex Mono SemiBold"/>
              </a:endParaRPr>
            </a:p>
          </p:txBody>
        </p:sp>
        <p:sp>
          <p:nvSpPr>
            <p:cNvPr id="59" name="node02.source-006.title"/>
            <p:cNvSpPr/>
            <p:nvPr/>
          </p:nvSpPr>
          <p:spPr>
            <a:xfrm>
              <a:off x="1257300" y="49784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Autonomous coding</a:t>
              </a:r>
              <a:endParaRPr lang="en-US" sz="1200" spc="0" kern="0" b="0" i="0" dirty="0">
                <a:solidFill>
                  <a:srgbClr val="070154"/>
                </a:solidFill>
                <a:latin typeface="IBM Plex Sans SemiBold"/>
                <a:ea typeface="IBM Plex Sans SemiBold"/>
                <a:cs typeface="IBM Plex Sans SemiBold"/>
              </a:endParaRPr>
            </a:p>
          </p:txBody>
        </p:sp>
        <p:sp>
          <p:nvSpPr>
            <p:cNvPr id="60" name="node02.source-006.text"/>
            <p:cNvSpPr/>
            <p:nvPr/>
          </p:nvSpPr>
          <p:spPr>
            <a:xfrm>
              <a:off x="1257300" y="51943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All three.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ource-609">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VALUE DRIVERS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Value-based care needs all four drivers</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finance and operations workshops,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85</a:t>
            </a:fld>
            <a:endParaRPr lang="en-US" sz="700" spc="0" kern="0" b="0" i="0" dirty="0">
              <a:solidFill>
                <a:srgbClr val="070154"/>
              </a:solidFill>
              <a:latin typeface="IBM Plex Mono SemiBold"/>
              <a:ea typeface="IBM Plex Mono SemiBold"/>
              <a:cs typeface="IBM Plex Mono SemiBold"/>
            </a:endParaRPr>
          </a:p>
        </p:txBody>
      </p:sp>
      <p:grpSp>
        <p:nvGrpSpPr>
          <p:cNvPr id="27" name="node01"/>
          <p:cNvGrpSpPr/>
          <p:nvPr/>
        </p:nvGrpSpPr>
        <p:grpSpPr>
          <a:xfrm>
            <a:off x="4495800" y="457200"/>
            <a:ext cx="6858000" cy="5257800"/>
            <a:chOff x="4495800" y="457200"/>
            <a:chExt cx="6858000" cy="5257800"/>
          </a:xfrm>
        </p:grpSpPr>
        <p:sp>
          <p:nvSpPr>
            <p:cNvPr id="7" name="node01.sets.source-001.circle"/>
            <p:cNvSpPr/>
            <p:nvPr/>
          </p:nvSpPr>
          <p:spPr>
            <a:xfrm>
              <a:off x="4945380" y="469900"/>
              <a:ext cx="3982720" cy="3982720"/>
            </a:xfrm>
            <a:prstGeom prst="ellipse">
              <a:avLst/>
            </a:prstGeom>
            <a:solidFill>
              <a:srgbClr val="E8EEF8">
                <a:alpha val="70000"/>
              </a:srgbClr>
            </a:solidFill>
            <a:ln w="12700">
              <a:solidFill>
                <a:srgbClr val="070154"/>
              </a:solidFill>
              <a:prstDash val="solid"/>
            </a:ln>
          </p:spPr>
        </p:sp>
        <p:sp>
          <p:nvSpPr>
            <p:cNvPr id="8" name="node01.sets.source-002.circle"/>
            <p:cNvSpPr/>
            <p:nvPr/>
          </p:nvSpPr>
          <p:spPr>
            <a:xfrm>
              <a:off x="6921500" y="469900"/>
              <a:ext cx="3982720" cy="3982720"/>
            </a:xfrm>
            <a:prstGeom prst="ellipse">
              <a:avLst/>
            </a:prstGeom>
            <a:solidFill>
              <a:srgbClr val="CED7E6">
                <a:alpha val="70000"/>
              </a:srgbClr>
            </a:solidFill>
            <a:ln w="12700">
              <a:solidFill>
                <a:srgbClr val="070154"/>
              </a:solidFill>
              <a:prstDash val="solid"/>
            </a:ln>
          </p:spPr>
        </p:sp>
        <p:sp>
          <p:nvSpPr>
            <p:cNvPr id="9" name="node01.sets.source-003.circle"/>
            <p:cNvSpPr/>
            <p:nvPr/>
          </p:nvSpPr>
          <p:spPr>
            <a:xfrm>
              <a:off x="4945380" y="1719580"/>
              <a:ext cx="3982720" cy="3982720"/>
            </a:xfrm>
            <a:prstGeom prst="ellipse">
              <a:avLst/>
            </a:prstGeom>
            <a:solidFill>
              <a:srgbClr val="B9C9F0">
                <a:alpha val="70000"/>
              </a:srgbClr>
            </a:solidFill>
            <a:ln w="12700">
              <a:solidFill>
                <a:srgbClr val="070154"/>
              </a:solidFill>
              <a:prstDash val="solid"/>
            </a:ln>
          </p:spPr>
        </p:sp>
        <p:sp>
          <p:nvSpPr>
            <p:cNvPr id="10" name="node01.sets.source-004.circle"/>
            <p:cNvSpPr/>
            <p:nvPr/>
          </p:nvSpPr>
          <p:spPr>
            <a:xfrm>
              <a:off x="6921500" y="1719580"/>
              <a:ext cx="3982720" cy="3982720"/>
            </a:xfrm>
            <a:prstGeom prst="ellipse">
              <a:avLst/>
            </a:prstGeom>
            <a:solidFill>
              <a:srgbClr val="F3D6EE">
                <a:alpha val="70000"/>
              </a:srgbClr>
            </a:solidFill>
            <a:ln w="12700">
              <a:solidFill>
                <a:srgbClr val="070154"/>
              </a:solidFill>
              <a:prstDash val="solid"/>
            </a:ln>
          </p:spPr>
        </p:sp>
        <p:sp>
          <p:nvSpPr>
            <p:cNvPr id="11" name="node01.sets.source-001.label"/>
            <p:cNvSpPr/>
            <p:nvPr/>
          </p:nvSpPr>
          <p:spPr>
            <a:xfrm>
              <a:off x="5554980" y="1155700"/>
              <a:ext cx="1366978"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ACCESS</a:t>
              </a:r>
              <a:endParaRPr lang="en-US" sz="1300" spc="78" kern="0" b="0" i="0" dirty="0">
                <a:solidFill>
                  <a:srgbClr val="070154"/>
                </a:solidFill>
                <a:latin typeface="IBM Plex Mono SemiBold"/>
                <a:ea typeface="IBM Plex Mono SemiBold"/>
                <a:cs typeface="IBM Plex Mono SemiBold"/>
              </a:endParaRPr>
            </a:p>
          </p:txBody>
        </p:sp>
        <p:sp>
          <p:nvSpPr>
            <p:cNvPr id="12" name="node01.sets.source-001.text"/>
            <p:cNvSpPr/>
            <p:nvPr/>
          </p:nvSpPr>
          <p:spPr>
            <a:xfrm>
              <a:off x="5554980" y="1441450"/>
              <a:ext cx="1366978"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Shorter waits</a:t>
              </a:r>
              <a:endParaRPr lang="en-US" sz="1200" spc="0" kern="0" b="0" i="0" dirty="0">
                <a:solidFill>
                  <a:srgbClr val="070154"/>
                </a:solidFill>
                <a:latin typeface="IBM Plex Sans"/>
                <a:ea typeface="IBM Plex Sans"/>
                <a:cs typeface="IBM Plex Sans"/>
              </a:endParaRPr>
            </a:p>
          </p:txBody>
        </p:sp>
        <p:sp>
          <p:nvSpPr>
            <p:cNvPr id="13" name="node01.sets.source-002.label"/>
            <p:cNvSpPr/>
            <p:nvPr/>
          </p:nvSpPr>
          <p:spPr>
            <a:xfrm>
              <a:off x="8933180" y="1155700"/>
              <a:ext cx="1366978"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QUALITY</a:t>
              </a:r>
              <a:endParaRPr lang="en-US" sz="1300" spc="78" kern="0" b="0" i="0" dirty="0">
                <a:solidFill>
                  <a:srgbClr val="070154"/>
                </a:solidFill>
                <a:latin typeface="IBM Plex Mono SemiBold"/>
                <a:ea typeface="IBM Plex Mono SemiBold"/>
                <a:cs typeface="IBM Plex Mono SemiBold"/>
              </a:endParaRPr>
            </a:p>
          </p:txBody>
        </p:sp>
        <p:sp>
          <p:nvSpPr>
            <p:cNvPr id="14" name="node01.sets.source-002.text"/>
            <p:cNvSpPr/>
            <p:nvPr/>
          </p:nvSpPr>
          <p:spPr>
            <a:xfrm>
              <a:off x="8933180" y="1441450"/>
              <a:ext cx="1366978"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Fewer readmits</a:t>
              </a:r>
              <a:endParaRPr lang="en-US" sz="1200" spc="0" kern="0" b="0" i="0" dirty="0">
                <a:solidFill>
                  <a:srgbClr val="070154"/>
                </a:solidFill>
                <a:latin typeface="IBM Plex Sans"/>
                <a:ea typeface="IBM Plex Sans"/>
                <a:cs typeface="IBM Plex Sans"/>
              </a:endParaRPr>
            </a:p>
          </p:txBody>
        </p:sp>
        <p:sp>
          <p:nvSpPr>
            <p:cNvPr id="15" name="node01.sets.source-003.label"/>
            <p:cNvSpPr/>
            <p:nvPr/>
          </p:nvSpPr>
          <p:spPr>
            <a:xfrm>
              <a:off x="5554980" y="4508500"/>
              <a:ext cx="1366978"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COST</a:t>
              </a:r>
              <a:endParaRPr lang="en-US" sz="1300" spc="78" kern="0" b="0" i="0" dirty="0">
                <a:solidFill>
                  <a:srgbClr val="070154"/>
                </a:solidFill>
                <a:latin typeface="IBM Plex Mono SemiBold"/>
                <a:ea typeface="IBM Plex Mono SemiBold"/>
                <a:cs typeface="IBM Plex Mono SemiBold"/>
              </a:endParaRPr>
            </a:p>
          </p:txBody>
        </p:sp>
        <p:sp>
          <p:nvSpPr>
            <p:cNvPr id="16" name="node01.sets.source-003.text"/>
            <p:cNvSpPr/>
            <p:nvPr/>
          </p:nvSpPr>
          <p:spPr>
            <a:xfrm>
              <a:off x="5554980" y="4794250"/>
              <a:ext cx="1366978"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Lower unit cost</a:t>
              </a:r>
              <a:endParaRPr lang="en-US" sz="1200" spc="0" kern="0" b="0" i="0" dirty="0">
                <a:solidFill>
                  <a:srgbClr val="070154"/>
                </a:solidFill>
                <a:latin typeface="IBM Plex Sans"/>
                <a:ea typeface="IBM Plex Sans"/>
                <a:cs typeface="IBM Plex Sans"/>
              </a:endParaRPr>
            </a:p>
          </p:txBody>
        </p:sp>
        <p:sp>
          <p:nvSpPr>
            <p:cNvPr id="17" name="node01.sets.source-004.label"/>
            <p:cNvSpPr/>
            <p:nvPr/>
          </p:nvSpPr>
          <p:spPr>
            <a:xfrm>
              <a:off x="8933180" y="4508500"/>
              <a:ext cx="1366978"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EXPERIENCE</a:t>
              </a:r>
              <a:endParaRPr lang="en-US" sz="1300" spc="78" kern="0" b="0" i="0" dirty="0">
                <a:solidFill>
                  <a:srgbClr val="070154"/>
                </a:solidFill>
                <a:latin typeface="IBM Plex Mono SemiBold"/>
                <a:ea typeface="IBM Plex Mono SemiBold"/>
                <a:cs typeface="IBM Plex Mono SemiBold"/>
              </a:endParaRPr>
            </a:p>
          </p:txBody>
        </p:sp>
        <p:sp>
          <p:nvSpPr>
            <p:cNvPr id="18" name="node01.sets.source-004.text"/>
            <p:cNvSpPr/>
            <p:nvPr/>
          </p:nvSpPr>
          <p:spPr>
            <a:xfrm>
              <a:off x="8933180" y="4794250"/>
              <a:ext cx="1366978"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Easier journeys</a:t>
              </a:r>
              <a:endParaRPr lang="en-US" sz="1200" spc="0" kern="0" b="0" i="0" dirty="0">
                <a:solidFill>
                  <a:srgbClr val="070154"/>
                </a:solidFill>
                <a:latin typeface="IBM Plex Sans"/>
                <a:ea typeface="IBM Plex Sans"/>
                <a:cs typeface="IBM Plex Sans"/>
              </a:endParaRPr>
            </a:p>
          </p:txBody>
        </p:sp>
        <p:sp>
          <p:nvSpPr>
            <p:cNvPr id="19" name="node01.regions.source-001.label"/>
            <p:cNvSpPr/>
            <p:nvPr/>
          </p:nvSpPr>
          <p:spPr>
            <a:xfrm>
              <a:off x="7282180" y="1409700"/>
              <a:ext cx="1269639" cy="209550"/>
            </a:xfrm>
            <a:prstGeom prst="rect">
              <a:avLst/>
            </a:prstGeom>
            <a:noFill/>
            <a:ln/>
          </p:spPr>
          <p:txBody>
            <a:bodyPr wrap="square" lIns="0" tIns="0" rIns="0" bIns="0" rtlCol="0" anchor="ctr"/>
            <a:lstStyle/>
            <a:p>
              <a:pPr algn="ctr" indent="0" marL="0">
                <a:lnSpc>
                  <a:spcPts val="1375"/>
                </a:lnSpc>
                <a:buNone/>
              </a:pPr>
              <a:r>
                <a:rPr lang="en-US" sz="1100" spc="66" kern="0" b="0" i="0" dirty="0">
                  <a:solidFill>
                    <a:srgbClr val="070154"/>
                  </a:solidFill>
                  <a:latin typeface="IBM Plex Mono SemiBold"/>
                  <a:ea typeface="IBM Plex Mono SemiBold"/>
                  <a:cs typeface="IBM Plex Mono SemiBold"/>
                </a:rPr>
                <a:t>TIMELY CARE</a:t>
              </a:r>
              <a:endParaRPr lang="en-US" sz="1100" spc="66" kern="0" b="0" i="0" dirty="0">
                <a:solidFill>
                  <a:srgbClr val="070154"/>
                </a:solidFill>
                <a:latin typeface="IBM Plex Mono SemiBold"/>
                <a:ea typeface="IBM Plex Mono SemiBold"/>
                <a:cs typeface="IBM Plex Mono SemiBold"/>
              </a:endParaRPr>
            </a:p>
          </p:txBody>
        </p:sp>
        <p:sp>
          <p:nvSpPr>
            <p:cNvPr id="20" name="node01.regions.source-002.label"/>
            <p:cNvSpPr/>
            <p:nvPr/>
          </p:nvSpPr>
          <p:spPr>
            <a:xfrm>
              <a:off x="5293908" y="2981325"/>
              <a:ext cx="1493693" cy="209550"/>
            </a:xfrm>
            <a:prstGeom prst="rect">
              <a:avLst/>
            </a:prstGeom>
            <a:noFill/>
            <a:ln/>
          </p:spPr>
          <p:txBody>
            <a:bodyPr wrap="square" lIns="0" tIns="0" rIns="0" bIns="0" rtlCol="0" anchor="ctr"/>
            <a:lstStyle/>
            <a:p>
              <a:pPr algn="ctr" indent="0" marL="0">
                <a:lnSpc>
                  <a:spcPts val="1375"/>
                </a:lnSpc>
                <a:buNone/>
              </a:pPr>
              <a:r>
                <a:rPr lang="en-US" sz="1100" spc="66" kern="0" b="0" i="0" dirty="0">
                  <a:solidFill>
                    <a:srgbClr val="070154"/>
                  </a:solidFill>
                  <a:latin typeface="IBM Plex Mono SemiBold"/>
                  <a:ea typeface="IBM Plex Mono SemiBold"/>
                  <a:cs typeface="IBM Plex Mono SemiBold"/>
                </a:rPr>
                <a:t>AFFORDABLE</a:t>
              </a:r>
              <a:endParaRPr lang="en-US" sz="1100" spc="66" kern="0" b="0" i="0" dirty="0">
                <a:solidFill>
                  <a:srgbClr val="070154"/>
                </a:solidFill>
                <a:latin typeface="IBM Plex Mono SemiBold"/>
                <a:ea typeface="IBM Plex Mono SemiBold"/>
                <a:cs typeface="IBM Plex Mono SemiBold"/>
              </a:endParaRPr>
            </a:p>
          </p:txBody>
        </p:sp>
        <p:sp>
          <p:nvSpPr>
            <p:cNvPr id="21" name="node01.regions.source-003.label"/>
            <p:cNvSpPr/>
            <p:nvPr/>
          </p:nvSpPr>
          <p:spPr>
            <a:xfrm>
              <a:off x="9061998" y="2981325"/>
              <a:ext cx="1493693" cy="209550"/>
            </a:xfrm>
            <a:prstGeom prst="rect">
              <a:avLst/>
            </a:prstGeom>
            <a:noFill/>
            <a:ln/>
          </p:spPr>
          <p:txBody>
            <a:bodyPr wrap="square" lIns="0" tIns="0" rIns="0" bIns="0" rtlCol="0" anchor="ctr"/>
            <a:lstStyle/>
            <a:p>
              <a:pPr algn="ctr" indent="0" marL="0">
                <a:lnSpc>
                  <a:spcPts val="1375"/>
                </a:lnSpc>
                <a:buNone/>
              </a:pPr>
              <a:r>
                <a:rPr lang="en-US" sz="1100" spc="66" kern="0" b="0" i="0" dirty="0">
                  <a:solidFill>
                    <a:srgbClr val="070154"/>
                  </a:solidFill>
                  <a:latin typeface="IBM Plex Mono SemiBold"/>
                  <a:ea typeface="IBM Plex Mono SemiBold"/>
                  <a:cs typeface="IBM Plex Mono SemiBold"/>
                </a:rPr>
                <a:t>TRUST</a:t>
              </a:r>
              <a:endParaRPr lang="en-US" sz="1100" spc="66" kern="0" b="0" i="0" dirty="0">
                <a:solidFill>
                  <a:srgbClr val="070154"/>
                </a:solidFill>
                <a:latin typeface="IBM Plex Mono SemiBold"/>
                <a:ea typeface="IBM Plex Mono SemiBold"/>
                <a:cs typeface="IBM Plex Mono SemiBold"/>
              </a:endParaRPr>
            </a:p>
          </p:txBody>
        </p:sp>
        <p:sp>
          <p:nvSpPr>
            <p:cNvPr id="22" name="node01.regions.source-004.label"/>
            <p:cNvSpPr/>
            <p:nvPr/>
          </p:nvSpPr>
          <p:spPr>
            <a:xfrm>
              <a:off x="7282180" y="4559300"/>
              <a:ext cx="1269639" cy="209550"/>
            </a:xfrm>
            <a:prstGeom prst="rect">
              <a:avLst/>
            </a:prstGeom>
            <a:noFill/>
            <a:ln/>
          </p:spPr>
          <p:txBody>
            <a:bodyPr wrap="square" lIns="0" tIns="0" rIns="0" bIns="0" rtlCol="0" anchor="ctr"/>
            <a:lstStyle/>
            <a:p>
              <a:pPr algn="ctr" indent="0" marL="0">
                <a:lnSpc>
                  <a:spcPts val="1375"/>
                </a:lnSpc>
                <a:buNone/>
              </a:pPr>
              <a:r>
                <a:rPr lang="en-US" sz="1100" spc="66" kern="0" b="0" i="0" dirty="0">
                  <a:solidFill>
                    <a:srgbClr val="070154"/>
                  </a:solidFill>
                  <a:latin typeface="IBM Plex Mono SemiBold"/>
                  <a:ea typeface="IBM Plex Mono SemiBold"/>
                  <a:cs typeface="IBM Plex Mono SemiBold"/>
                </a:rPr>
                <a:t>FAIR PRICE</a:t>
              </a:r>
              <a:endParaRPr lang="en-US" sz="1100" spc="66" kern="0" b="0" i="0" dirty="0">
                <a:solidFill>
                  <a:srgbClr val="070154"/>
                </a:solidFill>
                <a:latin typeface="IBM Plex Mono SemiBold"/>
                <a:ea typeface="IBM Plex Mono SemiBold"/>
                <a:cs typeface="IBM Plex Mono SemiBold"/>
              </a:endParaRPr>
            </a:p>
          </p:txBody>
        </p:sp>
        <p:sp>
          <p:nvSpPr>
            <p:cNvPr id="23" name="node01.regions.source-005.label"/>
            <p:cNvSpPr/>
            <p:nvPr/>
          </p:nvSpPr>
          <p:spPr>
            <a:xfrm>
              <a:off x="7163016" y="2962275"/>
              <a:ext cx="1523567"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VBC</a:t>
              </a:r>
              <a:endParaRPr lang="en-US" sz="1300" spc="78" kern="0" b="0" i="0" dirty="0">
                <a:solidFill>
                  <a:srgbClr val="070154"/>
                </a:solidFill>
                <a:latin typeface="IBM Plex Mono SemiBold"/>
                <a:ea typeface="IBM Plex Mono SemiBold"/>
                <a:cs typeface="IBM Plex Mono SemiBold"/>
              </a:endParaRPr>
            </a:p>
          </p:txBody>
        </p:sp>
      </p:grpSp>
      <p:grpSp>
        <p:nvGrpSpPr>
          <p:cNvPr id="28" name="node02"/>
          <p:cNvGrpSpPr/>
          <p:nvPr/>
        </p:nvGrpSpPr>
        <p:grpSpPr>
          <a:xfrm>
            <a:off x="723900" y="2286000"/>
            <a:ext cx="3429000" cy="304800"/>
            <a:chOff x="723900" y="2286000"/>
            <a:chExt cx="3429000" cy="304800"/>
          </a:xfrm>
        </p:grpSpPr>
        <p:sp>
          <p:nvSpPr>
            <p:cNvPr id="24" name="node02.text"/>
            <p:cNvSpPr/>
            <p:nvPr/>
          </p:nvSpPr>
          <p:spPr>
            <a:xfrm>
              <a:off x="723900" y="2286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Four drivers, one aim</a:t>
              </a:r>
              <a:endParaRPr lang="en-US" sz="1800" spc="-18" kern="0" b="0" i="0" dirty="0">
                <a:solidFill>
                  <a:srgbClr val="070154"/>
                </a:solidFill>
                <a:latin typeface="IBM Plex Sans SemiBold"/>
                <a:ea typeface="IBM Plex Sans SemiBold"/>
                <a:cs typeface="IBM Plex Sans SemiBold"/>
              </a:endParaRPr>
            </a:p>
          </p:txBody>
        </p:sp>
      </p:grpSp>
      <p:grpSp>
        <p:nvGrpSpPr>
          <p:cNvPr id="29" name="node03"/>
          <p:cNvGrpSpPr/>
          <p:nvPr/>
        </p:nvGrpSpPr>
        <p:grpSpPr>
          <a:xfrm>
            <a:off x="723900" y="2971800"/>
            <a:ext cx="3429000" cy="800100"/>
            <a:chOff x="723900" y="2971800"/>
            <a:chExt cx="3429000" cy="800100"/>
          </a:xfrm>
        </p:grpSpPr>
        <p:sp>
          <p:nvSpPr>
            <p:cNvPr id="25" name="node03.text"/>
            <p:cNvSpPr/>
            <p:nvPr/>
          </p:nvSpPr>
          <p:spPr>
            <a:xfrm>
              <a:off x="723900" y="29718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Gains in one driver often cost another. Value-based care (VBC) shows up only where all four hold.</a:t>
              </a:r>
              <a:endParaRPr lang="en-US" sz="1400" spc="0" kern="0" b="0" i="0" dirty="0">
                <a:solidFill>
                  <a:srgbClr val="070154"/>
                </a:solidFill>
                <a:latin typeface="IBM Plex Sans"/>
                <a:ea typeface="IBM Plex Sans"/>
                <a:cs typeface="IBM Plex Sans"/>
              </a:endParaRPr>
            </a:p>
          </p:txBody>
        </p:sp>
      </p:grpSp>
      <p:grpSp>
        <p:nvGrpSpPr>
          <p:cNvPr id="30" name="node04"/>
          <p:cNvGrpSpPr/>
          <p:nvPr/>
        </p:nvGrpSpPr>
        <p:grpSpPr>
          <a:xfrm>
            <a:off x="723900" y="4343400"/>
            <a:ext cx="3429000" cy="609600"/>
            <a:chOff x="723900" y="4343400"/>
            <a:chExt cx="3429000" cy="609600"/>
          </a:xfrm>
        </p:grpSpPr>
        <p:sp>
          <p:nvSpPr>
            <p:cNvPr id="26" name="node04.text"/>
            <p:cNvSpPr/>
            <p:nvPr/>
          </p:nvSpPr>
          <p:spPr>
            <a:xfrm>
              <a:off x="723900" y="4343400"/>
              <a:ext cx="34290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VBC: small, and worth protecting.</a:t>
              </a:r>
              <a:endParaRPr lang="en-US" sz="1800" spc="-18" kern="0" b="0" i="0" dirty="0">
                <a:solidFill>
                  <a:srgbClr val="0047FF"/>
                </a:solidFill>
                <a:latin typeface="IBM Plex Sans SemiBold"/>
                <a:ea typeface="IBM Plex Sans SemiBold"/>
                <a:cs typeface="IBM Plex Sans SemiBold"/>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ource-608">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INITIATIVE PORTFOLIO</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Six initiatives across four capabilities</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finance and operations workshops,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86</a:t>
            </a:fld>
            <a:endParaRPr lang="en-US" sz="700" spc="0" kern="0" b="0" i="0" dirty="0">
              <a:solidFill>
                <a:srgbClr val="070154"/>
              </a:solidFill>
              <a:latin typeface="IBM Plex Mono SemiBold"/>
              <a:ea typeface="IBM Plex Mono SemiBold"/>
              <a:cs typeface="IBM Plex Mono SemiBold"/>
            </a:endParaRPr>
          </a:p>
        </p:txBody>
      </p:sp>
      <p:grpSp>
        <p:nvGrpSpPr>
          <p:cNvPr id="63" name="node01"/>
          <p:cNvGrpSpPr/>
          <p:nvPr/>
        </p:nvGrpSpPr>
        <p:grpSpPr>
          <a:xfrm>
            <a:off x="838200" y="457200"/>
            <a:ext cx="6858000" cy="5257800"/>
            <a:chOff x="838200" y="457200"/>
            <a:chExt cx="6858000" cy="5257800"/>
          </a:xfrm>
        </p:grpSpPr>
        <p:sp>
          <p:nvSpPr>
            <p:cNvPr id="7" name="node01.sets.source-001.circle"/>
            <p:cNvSpPr/>
            <p:nvPr/>
          </p:nvSpPr>
          <p:spPr>
            <a:xfrm>
              <a:off x="1287780" y="469900"/>
              <a:ext cx="3982720" cy="3982720"/>
            </a:xfrm>
            <a:prstGeom prst="ellipse">
              <a:avLst/>
            </a:prstGeom>
            <a:solidFill>
              <a:srgbClr val="E8EEF8">
                <a:alpha val="70000"/>
              </a:srgbClr>
            </a:solidFill>
            <a:ln w="12700">
              <a:solidFill>
                <a:srgbClr val="070154"/>
              </a:solidFill>
              <a:prstDash val="solid"/>
            </a:ln>
          </p:spPr>
        </p:sp>
        <p:sp>
          <p:nvSpPr>
            <p:cNvPr id="8" name="node01.sets.source-002.circle"/>
            <p:cNvSpPr/>
            <p:nvPr/>
          </p:nvSpPr>
          <p:spPr>
            <a:xfrm>
              <a:off x="3263900" y="469900"/>
              <a:ext cx="3982720" cy="3982720"/>
            </a:xfrm>
            <a:prstGeom prst="ellipse">
              <a:avLst/>
            </a:prstGeom>
            <a:solidFill>
              <a:srgbClr val="CED7E6">
                <a:alpha val="70000"/>
              </a:srgbClr>
            </a:solidFill>
            <a:ln w="12700">
              <a:solidFill>
                <a:srgbClr val="070154"/>
              </a:solidFill>
              <a:prstDash val="solid"/>
            </a:ln>
          </p:spPr>
        </p:sp>
        <p:sp>
          <p:nvSpPr>
            <p:cNvPr id="9" name="node01.sets.source-003.circle"/>
            <p:cNvSpPr/>
            <p:nvPr/>
          </p:nvSpPr>
          <p:spPr>
            <a:xfrm>
              <a:off x="1287780" y="1719580"/>
              <a:ext cx="3982720" cy="3982720"/>
            </a:xfrm>
            <a:prstGeom prst="ellipse">
              <a:avLst/>
            </a:prstGeom>
            <a:solidFill>
              <a:srgbClr val="B9C9F0">
                <a:alpha val="70000"/>
              </a:srgbClr>
            </a:solidFill>
            <a:ln w="12700">
              <a:solidFill>
                <a:srgbClr val="070154"/>
              </a:solidFill>
              <a:prstDash val="solid"/>
            </a:ln>
          </p:spPr>
        </p:sp>
        <p:sp>
          <p:nvSpPr>
            <p:cNvPr id="10" name="node01.sets.source-004.circle"/>
            <p:cNvSpPr/>
            <p:nvPr/>
          </p:nvSpPr>
          <p:spPr>
            <a:xfrm>
              <a:off x="3263900" y="1719580"/>
              <a:ext cx="3982720" cy="3982720"/>
            </a:xfrm>
            <a:prstGeom prst="ellipse">
              <a:avLst/>
            </a:prstGeom>
            <a:solidFill>
              <a:srgbClr val="F3D6EE">
                <a:alpha val="70000"/>
              </a:srgbClr>
            </a:solidFill>
            <a:ln w="12700">
              <a:solidFill>
                <a:srgbClr val="070154"/>
              </a:solidFill>
              <a:prstDash val="solid"/>
            </a:ln>
          </p:spPr>
        </p:sp>
        <p:sp>
          <p:nvSpPr>
            <p:cNvPr id="11" name="node01.sets.source-001.label"/>
            <p:cNvSpPr/>
            <p:nvPr/>
          </p:nvSpPr>
          <p:spPr>
            <a:xfrm>
              <a:off x="1770380" y="1358900"/>
              <a:ext cx="1608210"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DATA</a:t>
              </a:r>
              <a:endParaRPr lang="en-US" sz="1300" spc="78" kern="0" b="0" i="0" dirty="0">
                <a:solidFill>
                  <a:srgbClr val="070154"/>
                </a:solidFill>
                <a:latin typeface="IBM Plex Mono SemiBold"/>
                <a:ea typeface="IBM Plex Mono SemiBold"/>
                <a:cs typeface="IBM Plex Mono SemiBold"/>
              </a:endParaRPr>
            </a:p>
          </p:txBody>
        </p:sp>
        <p:sp>
          <p:nvSpPr>
            <p:cNvPr id="12" name="node01.sets.source-002.label"/>
            <p:cNvSpPr/>
            <p:nvPr/>
          </p:nvSpPr>
          <p:spPr>
            <a:xfrm>
              <a:off x="5148580" y="1358900"/>
              <a:ext cx="1608210"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PROCESS</a:t>
              </a:r>
              <a:endParaRPr lang="en-US" sz="1300" spc="78" kern="0" b="0" i="0" dirty="0">
                <a:solidFill>
                  <a:srgbClr val="070154"/>
                </a:solidFill>
                <a:latin typeface="IBM Plex Mono SemiBold"/>
                <a:ea typeface="IBM Plex Mono SemiBold"/>
                <a:cs typeface="IBM Plex Mono SemiBold"/>
              </a:endParaRPr>
            </a:p>
          </p:txBody>
        </p:sp>
        <p:sp>
          <p:nvSpPr>
            <p:cNvPr id="13" name="node01.sets.source-003.label"/>
            <p:cNvSpPr/>
            <p:nvPr/>
          </p:nvSpPr>
          <p:spPr>
            <a:xfrm>
              <a:off x="1770380" y="4508500"/>
              <a:ext cx="1608210"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PEOPLE</a:t>
              </a:r>
              <a:endParaRPr lang="en-US" sz="1300" spc="78" kern="0" b="0" i="0" dirty="0">
                <a:solidFill>
                  <a:srgbClr val="070154"/>
                </a:solidFill>
                <a:latin typeface="IBM Plex Mono SemiBold"/>
                <a:ea typeface="IBM Plex Mono SemiBold"/>
                <a:cs typeface="IBM Plex Mono SemiBold"/>
              </a:endParaRPr>
            </a:p>
          </p:txBody>
        </p:sp>
        <p:sp>
          <p:nvSpPr>
            <p:cNvPr id="14" name="node01.sets.source-004.label"/>
            <p:cNvSpPr/>
            <p:nvPr/>
          </p:nvSpPr>
          <p:spPr>
            <a:xfrm>
              <a:off x="5148580" y="4584700"/>
              <a:ext cx="1608210"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TECHNOLOGY</a:t>
              </a:r>
              <a:endParaRPr lang="en-US" sz="1300" spc="78" kern="0" b="0" i="0" dirty="0">
                <a:solidFill>
                  <a:srgbClr val="070154"/>
                </a:solidFill>
                <a:latin typeface="IBM Plex Mono SemiBold"/>
                <a:ea typeface="IBM Plex Mono SemiBold"/>
                <a:cs typeface="IBM Plex Mono SemiBold"/>
              </a:endParaRPr>
            </a:p>
          </p:txBody>
        </p:sp>
        <p:sp>
          <p:nvSpPr>
            <p:cNvPr id="15" name="node01.points.source-001.halo"/>
            <p:cNvSpPr/>
            <p:nvPr/>
          </p:nvSpPr>
          <p:spPr>
            <a:xfrm>
              <a:off x="2246884" y="1644650"/>
              <a:ext cx="266700" cy="266700"/>
            </a:xfrm>
            <a:prstGeom prst="ellipse">
              <a:avLst/>
            </a:prstGeom>
            <a:solidFill>
              <a:srgbClr val="FFFFFF"/>
            </a:solidFill>
            <a:ln>
              <a:noFill/>
            </a:ln>
          </p:spPr>
        </p:sp>
        <p:sp>
          <p:nvSpPr>
            <p:cNvPr id="16" name="node01.points.source-001.marker"/>
            <p:cNvSpPr/>
            <p:nvPr/>
          </p:nvSpPr>
          <p:spPr>
            <a:xfrm>
              <a:off x="2265934" y="1663700"/>
              <a:ext cx="228600" cy="228600"/>
            </a:xfrm>
            <a:prstGeom prst="ellipse">
              <a:avLst/>
            </a:prstGeom>
            <a:solidFill>
              <a:srgbClr val="070154"/>
            </a:solidFill>
            <a:ln>
              <a:noFill/>
            </a:ln>
          </p:spPr>
        </p:sp>
        <p:sp>
          <p:nvSpPr>
            <p:cNvPr id="17" name="node01.points.source-001.number"/>
            <p:cNvSpPr/>
            <p:nvPr/>
          </p:nvSpPr>
          <p:spPr>
            <a:xfrm>
              <a:off x="2265934" y="1663700"/>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1</a:t>
              </a:r>
              <a:endParaRPr lang="en-US" sz="1000" spc="0" kern="0" b="0" i="0" dirty="0">
                <a:solidFill>
                  <a:srgbClr val="FFFFFF"/>
                </a:solidFill>
                <a:latin typeface="IBM Plex Mono SemiBold"/>
                <a:ea typeface="IBM Plex Mono SemiBold"/>
                <a:cs typeface="IBM Plex Mono SemiBold"/>
              </a:endParaRPr>
            </a:p>
          </p:txBody>
        </p:sp>
        <p:sp>
          <p:nvSpPr>
            <p:cNvPr id="18" name="node01.points.source-001.badge"/>
            <p:cNvSpPr/>
            <p:nvPr/>
          </p:nvSpPr>
          <p:spPr>
            <a:xfrm>
              <a:off x="2537396" y="1684338"/>
              <a:ext cx="643827" cy="187325"/>
            </a:xfrm>
            <a:prstGeom prst="rect">
              <a:avLst/>
            </a:prstGeom>
            <a:solidFill>
              <a:srgbClr val="FFFFFF"/>
            </a:solidFill>
            <a:ln w="9525">
              <a:solidFill>
                <a:srgbClr val="070154"/>
              </a:solidFill>
              <a:prstDash val="solid"/>
            </a:ln>
          </p:spPr>
        </p:sp>
        <p:sp>
          <p:nvSpPr>
            <p:cNvPr id="19" name="node01.points.source-001.label"/>
            <p:cNvSpPr/>
            <p:nvPr/>
          </p:nvSpPr>
          <p:spPr>
            <a:xfrm>
              <a:off x="2596134" y="1679575"/>
              <a:ext cx="526352"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MDM HUB</a:t>
              </a:r>
              <a:endParaRPr lang="en-US" sz="844" spc="51" kern="0" b="0" i="0" dirty="0">
                <a:solidFill>
                  <a:srgbClr val="070154"/>
                </a:solidFill>
                <a:latin typeface="IBM Plex Mono SemiBold"/>
                <a:ea typeface="IBM Plex Mono SemiBold"/>
                <a:cs typeface="IBM Plex Mono SemiBold"/>
              </a:endParaRPr>
            </a:p>
          </p:txBody>
        </p:sp>
        <p:sp>
          <p:nvSpPr>
            <p:cNvPr id="20" name="node01.points.source-002.halo"/>
            <p:cNvSpPr/>
            <p:nvPr/>
          </p:nvSpPr>
          <p:spPr>
            <a:xfrm>
              <a:off x="6020816" y="1644650"/>
              <a:ext cx="266700" cy="266700"/>
            </a:xfrm>
            <a:prstGeom prst="ellipse">
              <a:avLst/>
            </a:prstGeom>
            <a:solidFill>
              <a:srgbClr val="FFFFFF"/>
            </a:solidFill>
            <a:ln>
              <a:noFill/>
            </a:ln>
          </p:spPr>
        </p:sp>
        <p:sp>
          <p:nvSpPr>
            <p:cNvPr id="21" name="node01.points.source-002.marker"/>
            <p:cNvSpPr/>
            <p:nvPr/>
          </p:nvSpPr>
          <p:spPr>
            <a:xfrm>
              <a:off x="6039866" y="1663700"/>
              <a:ext cx="228600" cy="228600"/>
            </a:xfrm>
            <a:prstGeom prst="ellipse">
              <a:avLst/>
            </a:prstGeom>
            <a:solidFill>
              <a:srgbClr val="070154"/>
            </a:solidFill>
            <a:ln>
              <a:noFill/>
            </a:ln>
          </p:spPr>
        </p:sp>
        <p:sp>
          <p:nvSpPr>
            <p:cNvPr id="22" name="node01.points.source-002.number"/>
            <p:cNvSpPr/>
            <p:nvPr/>
          </p:nvSpPr>
          <p:spPr>
            <a:xfrm>
              <a:off x="6039866" y="1663700"/>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2</a:t>
              </a:r>
              <a:endParaRPr lang="en-US" sz="1000" spc="0" kern="0" b="0" i="0" dirty="0">
                <a:solidFill>
                  <a:srgbClr val="FFFFFF"/>
                </a:solidFill>
                <a:latin typeface="IBM Plex Mono SemiBold"/>
                <a:ea typeface="IBM Plex Mono SemiBold"/>
                <a:cs typeface="IBM Plex Mono SemiBold"/>
              </a:endParaRPr>
            </a:p>
          </p:txBody>
        </p:sp>
        <p:sp>
          <p:nvSpPr>
            <p:cNvPr id="23" name="node01.points.source-002.badge"/>
            <p:cNvSpPr/>
            <p:nvPr/>
          </p:nvSpPr>
          <p:spPr>
            <a:xfrm>
              <a:off x="5281612" y="1684338"/>
              <a:ext cx="715392" cy="187325"/>
            </a:xfrm>
            <a:prstGeom prst="rect">
              <a:avLst/>
            </a:prstGeom>
            <a:solidFill>
              <a:srgbClr val="FFFFFF"/>
            </a:solidFill>
            <a:ln w="9525">
              <a:solidFill>
                <a:srgbClr val="070154"/>
              </a:solidFill>
              <a:prstDash val="solid"/>
            </a:ln>
          </p:spPr>
        </p:sp>
        <p:sp>
          <p:nvSpPr>
            <p:cNvPr id="24" name="node01.points.source-002.label"/>
            <p:cNvSpPr/>
            <p:nvPr/>
          </p:nvSpPr>
          <p:spPr>
            <a:xfrm>
              <a:off x="5340349" y="1679575"/>
              <a:ext cx="597917"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CALENDAR</a:t>
              </a:r>
              <a:endParaRPr lang="en-US" sz="844" spc="51" kern="0" b="0" i="0" dirty="0">
                <a:solidFill>
                  <a:srgbClr val="070154"/>
                </a:solidFill>
                <a:latin typeface="IBM Plex Mono SemiBold"/>
                <a:ea typeface="IBM Plex Mono SemiBold"/>
                <a:cs typeface="IBM Plex Mono SemiBold"/>
              </a:endParaRPr>
            </a:p>
          </p:txBody>
        </p:sp>
        <p:sp>
          <p:nvSpPr>
            <p:cNvPr id="25" name="node01.points.source-003.halo"/>
            <p:cNvSpPr/>
            <p:nvPr/>
          </p:nvSpPr>
          <p:spPr>
            <a:xfrm>
              <a:off x="6020816" y="4260850"/>
              <a:ext cx="266700" cy="266700"/>
            </a:xfrm>
            <a:prstGeom prst="ellipse">
              <a:avLst/>
            </a:prstGeom>
            <a:solidFill>
              <a:srgbClr val="FFFFFF"/>
            </a:solidFill>
            <a:ln>
              <a:noFill/>
            </a:ln>
          </p:spPr>
        </p:sp>
        <p:sp>
          <p:nvSpPr>
            <p:cNvPr id="26" name="node01.points.source-003.marker"/>
            <p:cNvSpPr/>
            <p:nvPr/>
          </p:nvSpPr>
          <p:spPr>
            <a:xfrm>
              <a:off x="6039866" y="4279900"/>
              <a:ext cx="228600" cy="228600"/>
            </a:xfrm>
            <a:prstGeom prst="ellipse">
              <a:avLst/>
            </a:prstGeom>
            <a:solidFill>
              <a:srgbClr val="070154"/>
            </a:solidFill>
            <a:ln>
              <a:noFill/>
            </a:ln>
          </p:spPr>
        </p:sp>
        <p:sp>
          <p:nvSpPr>
            <p:cNvPr id="27" name="node01.points.source-003.number"/>
            <p:cNvSpPr/>
            <p:nvPr/>
          </p:nvSpPr>
          <p:spPr>
            <a:xfrm>
              <a:off x="6039866" y="4279900"/>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3</a:t>
              </a:r>
              <a:endParaRPr lang="en-US" sz="1000" spc="0" kern="0" b="0" i="0" dirty="0">
                <a:solidFill>
                  <a:srgbClr val="FFFFFF"/>
                </a:solidFill>
                <a:latin typeface="IBM Plex Mono SemiBold"/>
                <a:ea typeface="IBM Plex Mono SemiBold"/>
                <a:cs typeface="IBM Plex Mono SemiBold"/>
              </a:endParaRPr>
            </a:p>
          </p:txBody>
        </p:sp>
        <p:sp>
          <p:nvSpPr>
            <p:cNvPr id="28" name="node01.points.source-003.badge"/>
            <p:cNvSpPr/>
            <p:nvPr/>
          </p:nvSpPr>
          <p:spPr>
            <a:xfrm>
              <a:off x="5639435" y="4300538"/>
              <a:ext cx="357569" cy="187325"/>
            </a:xfrm>
            <a:prstGeom prst="rect">
              <a:avLst/>
            </a:prstGeom>
            <a:solidFill>
              <a:srgbClr val="FFFFFF"/>
            </a:solidFill>
            <a:ln w="9525">
              <a:solidFill>
                <a:srgbClr val="070154"/>
              </a:solidFill>
              <a:prstDash val="solid"/>
            </a:ln>
          </p:spPr>
        </p:sp>
        <p:sp>
          <p:nvSpPr>
            <p:cNvPr id="29" name="node01.points.source-003.label"/>
            <p:cNvSpPr/>
            <p:nvPr/>
          </p:nvSpPr>
          <p:spPr>
            <a:xfrm>
              <a:off x="5698172" y="4295775"/>
              <a:ext cx="240094"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ERP</a:t>
              </a:r>
              <a:endParaRPr lang="en-US" sz="844" spc="51" kern="0" b="0" i="0" dirty="0">
                <a:solidFill>
                  <a:srgbClr val="070154"/>
                </a:solidFill>
                <a:latin typeface="IBM Plex Mono SemiBold"/>
                <a:ea typeface="IBM Plex Mono SemiBold"/>
                <a:cs typeface="IBM Plex Mono SemiBold"/>
              </a:endParaRPr>
            </a:p>
          </p:txBody>
        </p:sp>
        <p:sp>
          <p:nvSpPr>
            <p:cNvPr id="30" name="node01.points.source-004.halo"/>
            <p:cNvSpPr/>
            <p:nvPr/>
          </p:nvSpPr>
          <p:spPr>
            <a:xfrm>
              <a:off x="3886962" y="1554175"/>
              <a:ext cx="266700" cy="266700"/>
            </a:xfrm>
            <a:prstGeom prst="ellipse">
              <a:avLst/>
            </a:prstGeom>
            <a:solidFill>
              <a:srgbClr val="FFFFFF"/>
            </a:solidFill>
            <a:ln>
              <a:noFill/>
            </a:ln>
          </p:spPr>
        </p:sp>
        <p:sp>
          <p:nvSpPr>
            <p:cNvPr id="31" name="node01.points.source-004.marker"/>
            <p:cNvSpPr/>
            <p:nvPr/>
          </p:nvSpPr>
          <p:spPr>
            <a:xfrm>
              <a:off x="3906012" y="1573225"/>
              <a:ext cx="228600" cy="228600"/>
            </a:xfrm>
            <a:prstGeom prst="ellipse">
              <a:avLst/>
            </a:prstGeom>
            <a:solidFill>
              <a:srgbClr val="070154"/>
            </a:solidFill>
            <a:ln>
              <a:noFill/>
            </a:ln>
          </p:spPr>
        </p:sp>
        <p:sp>
          <p:nvSpPr>
            <p:cNvPr id="32" name="node01.points.source-004.number"/>
            <p:cNvSpPr/>
            <p:nvPr/>
          </p:nvSpPr>
          <p:spPr>
            <a:xfrm>
              <a:off x="3906012" y="1573225"/>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4</a:t>
              </a:r>
              <a:endParaRPr lang="en-US" sz="1000" spc="0" kern="0" b="0" i="0" dirty="0">
                <a:solidFill>
                  <a:srgbClr val="FFFFFF"/>
                </a:solidFill>
                <a:latin typeface="IBM Plex Mono SemiBold"/>
                <a:ea typeface="IBM Plex Mono SemiBold"/>
                <a:cs typeface="IBM Plex Mono SemiBold"/>
              </a:endParaRPr>
            </a:p>
          </p:txBody>
        </p:sp>
        <p:sp>
          <p:nvSpPr>
            <p:cNvPr id="33" name="node01.points.source-004.badge"/>
            <p:cNvSpPr/>
            <p:nvPr/>
          </p:nvSpPr>
          <p:spPr>
            <a:xfrm>
              <a:off x="4177475" y="1593863"/>
              <a:ext cx="643827" cy="187325"/>
            </a:xfrm>
            <a:prstGeom prst="rect">
              <a:avLst/>
            </a:prstGeom>
            <a:solidFill>
              <a:srgbClr val="FFFFFF"/>
            </a:solidFill>
            <a:ln w="9525">
              <a:solidFill>
                <a:srgbClr val="070154"/>
              </a:solidFill>
              <a:prstDash val="solid"/>
            </a:ln>
          </p:spPr>
        </p:sp>
        <p:sp>
          <p:nvSpPr>
            <p:cNvPr id="34" name="node01.points.source-004.label"/>
            <p:cNvSpPr/>
            <p:nvPr/>
          </p:nvSpPr>
          <p:spPr>
            <a:xfrm>
              <a:off x="4236212" y="1589100"/>
              <a:ext cx="526352"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STEWARD</a:t>
              </a:r>
              <a:endParaRPr lang="en-US" sz="844" spc="51" kern="0" b="0" i="0" dirty="0">
                <a:solidFill>
                  <a:srgbClr val="070154"/>
                </a:solidFill>
                <a:latin typeface="IBM Plex Mono SemiBold"/>
                <a:ea typeface="IBM Plex Mono SemiBold"/>
                <a:cs typeface="IBM Plex Mono SemiBold"/>
              </a:endParaRPr>
            </a:p>
          </p:txBody>
        </p:sp>
        <p:sp>
          <p:nvSpPr>
            <p:cNvPr id="35" name="node01.points.source-005.halo"/>
            <p:cNvSpPr/>
            <p:nvPr/>
          </p:nvSpPr>
          <p:spPr>
            <a:xfrm>
              <a:off x="3886962" y="4351325"/>
              <a:ext cx="266700" cy="266700"/>
            </a:xfrm>
            <a:prstGeom prst="ellipse">
              <a:avLst/>
            </a:prstGeom>
            <a:solidFill>
              <a:srgbClr val="FFFFFF"/>
            </a:solidFill>
            <a:ln>
              <a:noFill/>
            </a:ln>
          </p:spPr>
        </p:sp>
        <p:sp>
          <p:nvSpPr>
            <p:cNvPr id="36" name="node01.points.source-005.marker"/>
            <p:cNvSpPr/>
            <p:nvPr/>
          </p:nvSpPr>
          <p:spPr>
            <a:xfrm>
              <a:off x="3906012" y="4370375"/>
              <a:ext cx="228600" cy="228600"/>
            </a:xfrm>
            <a:prstGeom prst="ellipse">
              <a:avLst/>
            </a:prstGeom>
            <a:solidFill>
              <a:srgbClr val="070154"/>
            </a:solidFill>
            <a:ln>
              <a:noFill/>
            </a:ln>
          </p:spPr>
        </p:sp>
        <p:sp>
          <p:nvSpPr>
            <p:cNvPr id="37" name="node01.points.source-005.number"/>
            <p:cNvSpPr/>
            <p:nvPr/>
          </p:nvSpPr>
          <p:spPr>
            <a:xfrm>
              <a:off x="3906012" y="4370375"/>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5</a:t>
              </a:r>
              <a:endParaRPr lang="en-US" sz="1000" spc="0" kern="0" b="0" i="0" dirty="0">
                <a:solidFill>
                  <a:srgbClr val="FFFFFF"/>
                </a:solidFill>
                <a:latin typeface="IBM Plex Mono SemiBold"/>
                <a:ea typeface="IBM Plex Mono SemiBold"/>
                <a:cs typeface="IBM Plex Mono SemiBold"/>
              </a:endParaRPr>
            </a:p>
          </p:txBody>
        </p:sp>
        <p:sp>
          <p:nvSpPr>
            <p:cNvPr id="38" name="node01.points.source-005.badge"/>
            <p:cNvSpPr/>
            <p:nvPr/>
          </p:nvSpPr>
          <p:spPr>
            <a:xfrm>
              <a:off x="4177475" y="4391012"/>
              <a:ext cx="643827" cy="187325"/>
            </a:xfrm>
            <a:prstGeom prst="rect">
              <a:avLst/>
            </a:prstGeom>
            <a:solidFill>
              <a:srgbClr val="FFFFFF"/>
            </a:solidFill>
            <a:ln w="9525">
              <a:solidFill>
                <a:srgbClr val="070154"/>
              </a:solidFill>
              <a:prstDash val="solid"/>
            </a:ln>
          </p:spPr>
        </p:sp>
        <p:sp>
          <p:nvSpPr>
            <p:cNvPr id="39" name="node01.points.source-005.label"/>
            <p:cNvSpPr/>
            <p:nvPr/>
          </p:nvSpPr>
          <p:spPr>
            <a:xfrm>
              <a:off x="4236212" y="4386250"/>
              <a:ext cx="526352"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ACADEMY</a:t>
              </a:r>
              <a:endParaRPr lang="en-US" sz="844" spc="51" kern="0" b="0" i="0" dirty="0">
                <a:solidFill>
                  <a:srgbClr val="070154"/>
                </a:solidFill>
                <a:latin typeface="IBM Plex Mono SemiBold"/>
                <a:ea typeface="IBM Plex Mono SemiBold"/>
                <a:cs typeface="IBM Plex Mono SemiBold"/>
              </a:endParaRPr>
            </a:p>
          </p:txBody>
        </p:sp>
        <p:sp>
          <p:nvSpPr>
            <p:cNvPr id="40" name="node01.points.source-006.halo"/>
            <p:cNvSpPr/>
            <p:nvPr/>
          </p:nvSpPr>
          <p:spPr>
            <a:xfrm>
              <a:off x="2659380" y="2952750"/>
              <a:ext cx="266700" cy="266700"/>
            </a:xfrm>
            <a:prstGeom prst="ellipse">
              <a:avLst/>
            </a:prstGeom>
            <a:solidFill>
              <a:srgbClr val="FFFFFF"/>
            </a:solidFill>
            <a:ln>
              <a:noFill/>
            </a:ln>
          </p:spPr>
        </p:sp>
        <p:sp>
          <p:nvSpPr>
            <p:cNvPr id="41" name="node01.points.source-006.marker"/>
            <p:cNvSpPr/>
            <p:nvPr/>
          </p:nvSpPr>
          <p:spPr>
            <a:xfrm>
              <a:off x="2678430" y="2971800"/>
              <a:ext cx="228600" cy="228600"/>
            </a:xfrm>
            <a:prstGeom prst="ellipse">
              <a:avLst/>
            </a:prstGeom>
            <a:solidFill>
              <a:srgbClr val="070154"/>
            </a:solidFill>
            <a:ln>
              <a:noFill/>
            </a:ln>
          </p:spPr>
        </p:sp>
        <p:sp>
          <p:nvSpPr>
            <p:cNvPr id="42" name="node01.points.source-006.number"/>
            <p:cNvSpPr/>
            <p:nvPr/>
          </p:nvSpPr>
          <p:spPr>
            <a:xfrm>
              <a:off x="2678430" y="2971800"/>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6</a:t>
              </a:r>
              <a:endParaRPr lang="en-US" sz="1000" spc="0" kern="0" b="0" i="0" dirty="0">
                <a:solidFill>
                  <a:srgbClr val="FFFFFF"/>
                </a:solidFill>
                <a:latin typeface="IBM Plex Mono SemiBold"/>
                <a:ea typeface="IBM Plex Mono SemiBold"/>
                <a:cs typeface="IBM Plex Mono SemiBold"/>
              </a:endParaRPr>
            </a:p>
          </p:txBody>
        </p:sp>
        <p:sp>
          <p:nvSpPr>
            <p:cNvPr id="43" name="node01.points.source-006.badge"/>
            <p:cNvSpPr/>
            <p:nvPr/>
          </p:nvSpPr>
          <p:spPr>
            <a:xfrm>
              <a:off x="2949892" y="2992438"/>
              <a:ext cx="572263" cy="187325"/>
            </a:xfrm>
            <a:prstGeom prst="rect">
              <a:avLst/>
            </a:prstGeom>
            <a:solidFill>
              <a:srgbClr val="FFFFFF"/>
            </a:solidFill>
            <a:ln w="9525">
              <a:solidFill>
                <a:srgbClr val="070154"/>
              </a:solidFill>
              <a:prstDash val="solid"/>
            </a:ln>
          </p:spPr>
        </p:sp>
        <p:sp>
          <p:nvSpPr>
            <p:cNvPr id="44" name="node01.points.source-006.label"/>
            <p:cNvSpPr/>
            <p:nvPr/>
          </p:nvSpPr>
          <p:spPr>
            <a:xfrm>
              <a:off x="3008630" y="2987675"/>
              <a:ext cx="454788" cy="196850"/>
            </a:xfrm>
            <a:prstGeom prst="rect">
              <a:avLst/>
            </a:prstGeom>
            <a:noFill/>
            <a:ln/>
          </p:spPr>
          <p:txBody>
            <a:bodyPr wrap="square" lIns="0" tIns="0" rIns="0" bIns="0" rtlCol="0" anchor="ctr"/>
            <a:lstStyle/>
            <a:p>
              <a:pPr algn="ctr" indent="0" marL="0">
                <a:lnSpc>
                  <a:spcPts val="844"/>
                </a:lnSpc>
                <a:buNone/>
              </a:pPr>
              <a:r>
                <a:rPr lang="en-US" sz="844" spc="51" kern="0" b="0" i="0" dirty="0">
                  <a:solidFill>
                    <a:srgbClr val="070154"/>
                  </a:solidFill>
                  <a:latin typeface="IBM Plex Mono SemiBold"/>
                  <a:ea typeface="IBM Plex Mono SemiBold"/>
                  <a:cs typeface="IBM Plex Mono SemiBold"/>
                </a:rPr>
                <a:t>SKILLS</a:t>
              </a:r>
              <a:endParaRPr lang="en-US" sz="844" spc="51" kern="0" b="0" i="0" dirty="0">
                <a:solidFill>
                  <a:srgbClr val="070154"/>
                </a:solidFill>
                <a:latin typeface="IBM Plex Mono SemiBold"/>
                <a:ea typeface="IBM Plex Mono SemiBold"/>
                <a:cs typeface="IBM Plex Mono SemiBold"/>
              </a:endParaRPr>
            </a:p>
          </p:txBody>
        </p:sp>
      </p:grpSp>
      <p:grpSp>
        <p:nvGrpSpPr>
          <p:cNvPr id="64" name="node02"/>
          <p:cNvGrpSpPr/>
          <p:nvPr/>
        </p:nvGrpSpPr>
        <p:grpSpPr>
          <a:xfrm>
            <a:off x="8039100" y="2057400"/>
            <a:ext cx="3429000" cy="3352800"/>
            <a:chOff x="8039100" y="2057400"/>
            <a:chExt cx="3429000" cy="3352800"/>
          </a:xfrm>
        </p:grpSpPr>
        <p:sp>
          <p:nvSpPr>
            <p:cNvPr id="45" name="node02.source-001.number"/>
            <p:cNvSpPr/>
            <p:nvPr/>
          </p:nvSpPr>
          <p:spPr>
            <a:xfrm>
              <a:off x="8039100" y="2057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46" name="node02.source-001.title"/>
            <p:cNvSpPr/>
            <p:nvPr/>
          </p:nvSpPr>
          <p:spPr>
            <a:xfrm>
              <a:off x="8572500" y="20574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Master data hub</a:t>
              </a:r>
              <a:endParaRPr lang="en-US" sz="1200" spc="0" kern="0" b="0" i="0" dirty="0">
                <a:solidFill>
                  <a:srgbClr val="070154"/>
                </a:solidFill>
                <a:latin typeface="IBM Plex Sans SemiBold"/>
                <a:ea typeface="IBM Plex Sans SemiBold"/>
                <a:cs typeface="IBM Plex Sans SemiBold"/>
              </a:endParaRPr>
            </a:p>
          </p:txBody>
        </p:sp>
        <p:sp>
          <p:nvSpPr>
            <p:cNvPr id="47" name="node02.source-001.text"/>
            <p:cNvSpPr/>
            <p:nvPr/>
          </p:nvSpPr>
          <p:spPr>
            <a:xfrm>
              <a:off x="8572500" y="22733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Data only.</a:t>
              </a:r>
              <a:endParaRPr lang="en-US" sz="1200" spc="0" kern="0" b="0" i="0" dirty="0">
                <a:solidFill>
                  <a:srgbClr val="50658E"/>
                </a:solidFill>
                <a:latin typeface="IBM Plex Sans"/>
                <a:ea typeface="IBM Plex Sans"/>
                <a:cs typeface="IBM Plex Sans"/>
              </a:endParaRPr>
            </a:p>
          </p:txBody>
        </p:sp>
        <p:sp>
          <p:nvSpPr>
            <p:cNvPr id="48" name="node02.source-002.number"/>
            <p:cNvSpPr/>
            <p:nvPr/>
          </p:nvSpPr>
          <p:spPr>
            <a:xfrm>
              <a:off x="8039100" y="26416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49" name="node02.source-002.title"/>
            <p:cNvSpPr/>
            <p:nvPr/>
          </p:nvSpPr>
          <p:spPr>
            <a:xfrm>
              <a:off x="8572500" y="26416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Close calendar</a:t>
              </a:r>
              <a:endParaRPr lang="en-US" sz="1200" spc="0" kern="0" b="0" i="0" dirty="0">
                <a:solidFill>
                  <a:srgbClr val="070154"/>
                </a:solidFill>
                <a:latin typeface="IBM Plex Sans SemiBold"/>
                <a:ea typeface="IBM Plex Sans SemiBold"/>
                <a:cs typeface="IBM Plex Sans SemiBold"/>
              </a:endParaRPr>
            </a:p>
          </p:txBody>
        </p:sp>
        <p:sp>
          <p:nvSpPr>
            <p:cNvPr id="50" name="node02.source-002.text"/>
            <p:cNvSpPr/>
            <p:nvPr/>
          </p:nvSpPr>
          <p:spPr>
            <a:xfrm>
              <a:off x="8572500" y="28575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Process only.</a:t>
              </a:r>
              <a:endParaRPr lang="en-US" sz="1200" spc="0" kern="0" b="0" i="0" dirty="0">
                <a:solidFill>
                  <a:srgbClr val="50658E"/>
                </a:solidFill>
                <a:latin typeface="IBM Plex Sans"/>
                <a:ea typeface="IBM Plex Sans"/>
                <a:cs typeface="IBM Plex Sans"/>
              </a:endParaRPr>
            </a:p>
          </p:txBody>
        </p:sp>
        <p:sp>
          <p:nvSpPr>
            <p:cNvPr id="51" name="node02.source-003.number"/>
            <p:cNvSpPr/>
            <p:nvPr/>
          </p:nvSpPr>
          <p:spPr>
            <a:xfrm>
              <a:off x="8039100" y="32258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52" name="node02.source-003.title"/>
            <p:cNvSpPr/>
            <p:nvPr/>
          </p:nvSpPr>
          <p:spPr>
            <a:xfrm>
              <a:off x="8572500" y="32258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ERP upgrade</a:t>
              </a:r>
              <a:endParaRPr lang="en-US" sz="1200" spc="0" kern="0" b="0" i="0" dirty="0">
                <a:solidFill>
                  <a:srgbClr val="070154"/>
                </a:solidFill>
                <a:latin typeface="IBM Plex Sans SemiBold"/>
                <a:ea typeface="IBM Plex Sans SemiBold"/>
                <a:cs typeface="IBM Plex Sans SemiBold"/>
              </a:endParaRPr>
            </a:p>
          </p:txBody>
        </p:sp>
        <p:sp>
          <p:nvSpPr>
            <p:cNvPr id="53" name="node02.source-003.text"/>
            <p:cNvSpPr/>
            <p:nvPr/>
          </p:nvSpPr>
          <p:spPr>
            <a:xfrm>
              <a:off x="8572500" y="34417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Technology only.</a:t>
              </a:r>
              <a:endParaRPr lang="en-US" sz="1200" spc="0" kern="0" b="0" i="0" dirty="0">
                <a:solidFill>
                  <a:srgbClr val="50658E"/>
                </a:solidFill>
                <a:latin typeface="IBM Plex Sans"/>
                <a:ea typeface="IBM Plex Sans"/>
                <a:cs typeface="IBM Plex Sans"/>
              </a:endParaRPr>
            </a:p>
          </p:txBody>
        </p:sp>
        <p:sp>
          <p:nvSpPr>
            <p:cNvPr id="54" name="node02.source-004.number"/>
            <p:cNvSpPr/>
            <p:nvPr/>
          </p:nvSpPr>
          <p:spPr>
            <a:xfrm>
              <a:off x="8039100" y="38100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55" name="node02.source-004.title"/>
            <p:cNvSpPr/>
            <p:nvPr/>
          </p:nvSpPr>
          <p:spPr>
            <a:xfrm>
              <a:off x="8572500" y="38100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Data stewardship</a:t>
              </a:r>
              <a:endParaRPr lang="en-US" sz="1200" spc="0" kern="0" b="0" i="0" dirty="0">
                <a:solidFill>
                  <a:srgbClr val="070154"/>
                </a:solidFill>
                <a:latin typeface="IBM Plex Sans SemiBold"/>
                <a:ea typeface="IBM Plex Sans SemiBold"/>
                <a:cs typeface="IBM Plex Sans SemiBold"/>
              </a:endParaRPr>
            </a:p>
          </p:txBody>
        </p:sp>
        <p:sp>
          <p:nvSpPr>
            <p:cNvPr id="56" name="node02.source-004.text"/>
            <p:cNvSpPr/>
            <p:nvPr/>
          </p:nvSpPr>
          <p:spPr>
            <a:xfrm>
              <a:off x="8572500" y="40259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Data and process.</a:t>
              </a:r>
              <a:endParaRPr lang="en-US" sz="1200" spc="0" kern="0" b="0" i="0" dirty="0">
                <a:solidFill>
                  <a:srgbClr val="50658E"/>
                </a:solidFill>
                <a:latin typeface="IBM Plex Sans"/>
                <a:ea typeface="IBM Plex Sans"/>
                <a:cs typeface="IBM Plex Sans"/>
              </a:endParaRPr>
            </a:p>
          </p:txBody>
        </p:sp>
        <p:sp>
          <p:nvSpPr>
            <p:cNvPr id="57" name="node02.source-005.number"/>
            <p:cNvSpPr/>
            <p:nvPr/>
          </p:nvSpPr>
          <p:spPr>
            <a:xfrm>
              <a:off x="8039100" y="43942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05</a:t>
              </a:r>
              <a:endParaRPr lang="en-US" sz="1200" spc="0" kern="0" b="0" i="0" dirty="0">
                <a:solidFill>
                  <a:srgbClr val="0047FF"/>
                </a:solidFill>
                <a:latin typeface="IBM Plex Mono SemiBold"/>
                <a:ea typeface="IBM Plex Mono SemiBold"/>
                <a:cs typeface="IBM Plex Mono SemiBold"/>
              </a:endParaRPr>
            </a:p>
          </p:txBody>
        </p:sp>
        <p:sp>
          <p:nvSpPr>
            <p:cNvPr id="58" name="node02.source-005.title"/>
            <p:cNvSpPr/>
            <p:nvPr/>
          </p:nvSpPr>
          <p:spPr>
            <a:xfrm>
              <a:off x="8572500" y="43942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Finance academy</a:t>
              </a:r>
              <a:endParaRPr lang="en-US" sz="1200" spc="0" kern="0" b="0" i="0" dirty="0">
                <a:solidFill>
                  <a:srgbClr val="070154"/>
                </a:solidFill>
                <a:latin typeface="IBM Plex Sans SemiBold"/>
                <a:ea typeface="IBM Plex Sans SemiBold"/>
                <a:cs typeface="IBM Plex Sans SemiBold"/>
              </a:endParaRPr>
            </a:p>
          </p:txBody>
        </p:sp>
        <p:sp>
          <p:nvSpPr>
            <p:cNvPr id="59" name="node02.source-005.text"/>
            <p:cNvSpPr/>
            <p:nvPr/>
          </p:nvSpPr>
          <p:spPr>
            <a:xfrm>
              <a:off x="8572500" y="46101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People and technology.</a:t>
              </a:r>
              <a:endParaRPr lang="en-US" sz="1200" spc="0" kern="0" b="0" i="0" dirty="0">
                <a:solidFill>
                  <a:srgbClr val="50658E"/>
                </a:solidFill>
                <a:latin typeface="IBM Plex Sans"/>
                <a:ea typeface="IBM Plex Sans"/>
                <a:cs typeface="IBM Plex Sans"/>
              </a:endParaRPr>
            </a:p>
          </p:txBody>
        </p:sp>
        <p:sp>
          <p:nvSpPr>
            <p:cNvPr id="60" name="node02.source-006.number"/>
            <p:cNvSpPr/>
            <p:nvPr/>
          </p:nvSpPr>
          <p:spPr>
            <a:xfrm>
              <a:off x="8039100" y="4978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06</a:t>
              </a:r>
              <a:endParaRPr lang="en-US" sz="1200" spc="0" kern="0" b="0" i="0" dirty="0">
                <a:solidFill>
                  <a:srgbClr val="0047FF"/>
                </a:solidFill>
                <a:latin typeface="IBM Plex Mono SemiBold"/>
                <a:ea typeface="IBM Plex Mono SemiBold"/>
                <a:cs typeface="IBM Plex Mono SemiBold"/>
              </a:endParaRPr>
            </a:p>
          </p:txBody>
        </p:sp>
        <p:sp>
          <p:nvSpPr>
            <p:cNvPr id="61" name="node02.source-006.title"/>
            <p:cNvSpPr/>
            <p:nvPr/>
          </p:nvSpPr>
          <p:spPr>
            <a:xfrm>
              <a:off x="8572500" y="49784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Skills inventory</a:t>
              </a:r>
              <a:endParaRPr lang="en-US" sz="1200" spc="0" kern="0" b="0" i="0" dirty="0">
                <a:solidFill>
                  <a:srgbClr val="070154"/>
                </a:solidFill>
                <a:latin typeface="IBM Plex Sans SemiBold"/>
                <a:ea typeface="IBM Plex Sans SemiBold"/>
                <a:cs typeface="IBM Plex Sans SemiBold"/>
              </a:endParaRPr>
            </a:p>
          </p:txBody>
        </p:sp>
        <p:sp>
          <p:nvSpPr>
            <p:cNvPr id="62" name="node02.source-006.text"/>
            <p:cNvSpPr/>
            <p:nvPr/>
          </p:nvSpPr>
          <p:spPr>
            <a:xfrm>
              <a:off x="8572500" y="51943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Data and people.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ource-042">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SOLUTION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One layered platform replaces the old close tools</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87</a:t>
            </a:fld>
            <a:endParaRPr lang="en-US" sz="700" spc="0" kern="0" b="0" i="0" dirty="0">
              <a:solidFill>
                <a:srgbClr val="070154"/>
              </a:solidFill>
              <a:latin typeface="IBM Plex Mono SemiBold"/>
              <a:ea typeface="IBM Plex Mono SemiBold"/>
              <a:cs typeface="IBM Plex Mono SemiBold"/>
            </a:endParaRPr>
          </a:p>
        </p:txBody>
      </p:sp>
      <p:grpSp>
        <p:nvGrpSpPr>
          <p:cNvPr id="39" name="node01"/>
          <p:cNvGrpSpPr/>
          <p:nvPr/>
        </p:nvGrpSpPr>
        <p:grpSpPr>
          <a:xfrm>
            <a:off x="4381500" y="457200"/>
            <a:ext cx="7086600" cy="5257800"/>
            <a:chOff x="4381500" y="457200"/>
            <a:chExt cx="7086600" cy="5257800"/>
          </a:xfrm>
        </p:grpSpPr>
        <p:sp>
          <p:nvSpPr>
            <p:cNvPr id="7" name="node01.surface"/>
            <p:cNvSpPr/>
            <p:nvPr/>
          </p:nvSpPr>
          <p:spPr>
            <a:xfrm>
              <a:off x="4381500" y="457200"/>
              <a:ext cx="7086600" cy="5257800"/>
            </a:xfrm>
            <a:prstGeom prst="rect">
              <a:avLst/>
            </a:prstGeom>
            <a:ln w="12700">
              <a:solidFill>
                <a:srgbClr val="070154"/>
              </a:solidFill>
              <a:prstDash val="solid"/>
            </a:ln>
          </p:spPr>
        </p:sp>
        <p:sp>
          <p:nvSpPr>
            <p:cNvPr id="8" name="node01.tab"/>
            <p:cNvSpPr/>
            <p:nvPr/>
          </p:nvSpPr>
          <p:spPr>
            <a:xfrm>
              <a:off x="4381500" y="457200"/>
              <a:ext cx="1107691" cy="228600"/>
            </a:xfrm>
            <a:prstGeom prst="rect">
              <a:avLst/>
            </a:prstGeom>
            <a:solidFill>
              <a:srgbClr val="070154"/>
            </a:solidFill>
            <a:ln>
              <a:noFill/>
            </a:ln>
          </p:spPr>
        </p:sp>
        <p:sp>
          <p:nvSpPr>
            <p:cNvPr id="9" name="node01.label"/>
            <p:cNvSpPr/>
            <p:nvPr/>
          </p:nvSpPr>
          <p:spPr>
            <a:xfrm>
              <a:off x="4457700" y="501650"/>
              <a:ext cx="955291"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CLOSE PLATFORM</a:t>
              </a:r>
              <a:endParaRPr lang="en-US" sz="800" spc="48" kern="0" b="0" i="0" dirty="0">
                <a:solidFill>
                  <a:srgbClr val="FFFFFF"/>
                </a:solidFill>
                <a:latin typeface="IBM Plex Mono SemiBold"/>
                <a:ea typeface="IBM Plex Mono SemiBold"/>
                <a:cs typeface="IBM Plex Mono SemiBold"/>
              </a:endParaRPr>
            </a:p>
          </p:txBody>
        </p:sp>
      </p:grpSp>
      <p:grpSp>
        <p:nvGrpSpPr>
          <p:cNvPr id="40" name="node02"/>
          <p:cNvGrpSpPr/>
          <p:nvPr/>
        </p:nvGrpSpPr>
        <p:grpSpPr>
          <a:xfrm>
            <a:off x="4610100" y="914400"/>
            <a:ext cx="6629400" cy="914400"/>
            <a:chOff x="4610100" y="914400"/>
            <a:chExt cx="6629400" cy="914400"/>
          </a:xfrm>
        </p:grpSpPr>
        <p:sp>
          <p:nvSpPr>
            <p:cNvPr id="10" name="node02.surface"/>
            <p:cNvSpPr/>
            <p:nvPr/>
          </p:nvSpPr>
          <p:spPr>
            <a:xfrm>
              <a:off x="4610100" y="914400"/>
              <a:ext cx="6629400" cy="914400"/>
            </a:xfrm>
            <a:prstGeom prst="rect">
              <a:avLst/>
            </a:prstGeom>
            <a:solidFill>
              <a:srgbClr val="070154"/>
            </a:solidFill>
            <a:ln>
              <a:noFill/>
            </a:ln>
          </p:spPr>
        </p:sp>
        <p:sp>
          <p:nvSpPr>
            <p:cNvPr id="11" name="node02.label"/>
            <p:cNvSpPr/>
            <p:nvPr/>
          </p:nvSpPr>
          <p:spPr>
            <a:xfrm>
              <a:off x="4762500" y="1301750"/>
              <a:ext cx="1524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1  EXPERIENCE</a:t>
              </a:r>
              <a:endParaRPr lang="en-US" sz="800" spc="48" kern="0" b="0" i="0" dirty="0">
                <a:solidFill>
                  <a:srgbClr val="FFFFFF"/>
                </a:solidFill>
                <a:latin typeface="IBM Plex Mono SemiBold"/>
                <a:ea typeface="IBM Plex Mono SemiBold"/>
                <a:cs typeface="IBM Plex Mono SemiBold"/>
              </a:endParaRPr>
            </a:p>
          </p:txBody>
        </p:sp>
        <p:sp>
          <p:nvSpPr>
            <p:cNvPr id="12" name="node02.text"/>
            <p:cNvSpPr/>
            <p:nvPr/>
          </p:nvSpPr>
          <p:spPr>
            <a:xfrm>
              <a:off x="6438900" y="1276350"/>
              <a:ext cx="4648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Close cockpit and mobile approvals</a:t>
              </a:r>
              <a:endParaRPr lang="en-US" sz="1100" spc="0" kern="0" b="0" i="0" dirty="0">
                <a:solidFill>
                  <a:srgbClr val="FFFFFF"/>
                </a:solidFill>
                <a:latin typeface="IBM Plex Sans"/>
                <a:ea typeface="IBM Plex Sans"/>
                <a:cs typeface="IBM Plex Sans"/>
              </a:endParaRPr>
            </a:p>
          </p:txBody>
        </p:sp>
      </p:grpSp>
      <p:grpSp>
        <p:nvGrpSpPr>
          <p:cNvPr id="41" name="node03"/>
          <p:cNvGrpSpPr/>
          <p:nvPr/>
        </p:nvGrpSpPr>
        <p:grpSpPr>
          <a:xfrm>
            <a:off x="4610100" y="1828800"/>
            <a:ext cx="6629400" cy="914400"/>
            <a:chOff x="4610100" y="1828800"/>
            <a:chExt cx="6629400" cy="914400"/>
          </a:xfrm>
        </p:grpSpPr>
        <p:sp>
          <p:nvSpPr>
            <p:cNvPr id="13" name="node03.surface"/>
            <p:cNvSpPr/>
            <p:nvPr/>
          </p:nvSpPr>
          <p:spPr>
            <a:xfrm>
              <a:off x="4610100" y="1828800"/>
              <a:ext cx="6629400" cy="914400"/>
            </a:xfrm>
            <a:prstGeom prst="rect">
              <a:avLst/>
            </a:prstGeom>
            <a:solidFill>
              <a:srgbClr val="CED7E6"/>
            </a:solidFill>
            <a:ln>
              <a:noFill/>
            </a:ln>
          </p:spPr>
        </p:sp>
        <p:sp>
          <p:nvSpPr>
            <p:cNvPr id="14" name="node03.label"/>
            <p:cNvSpPr/>
            <p:nvPr/>
          </p:nvSpPr>
          <p:spPr>
            <a:xfrm>
              <a:off x="4762500" y="2216150"/>
              <a:ext cx="1524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2  API LAYER</a:t>
              </a:r>
              <a:endParaRPr lang="en-US" sz="800" spc="48" kern="0" b="0" i="0" dirty="0">
                <a:solidFill>
                  <a:srgbClr val="070154"/>
                </a:solidFill>
                <a:latin typeface="IBM Plex Mono SemiBold"/>
                <a:ea typeface="IBM Plex Mono SemiBold"/>
                <a:cs typeface="IBM Plex Mono SemiBold"/>
              </a:endParaRPr>
            </a:p>
          </p:txBody>
        </p:sp>
        <p:sp>
          <p:nvSpPr>
            <p:cNvPr id="15" name="node03.text"/>
            <p:cNvSpPr/>
            <p:nvPr/>
          </p:nvSpPr>
          <p:spPr>
            <a:xfrm>
              <a:off x="6438900" y="2190750"/>
              <a:ext cx="4648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Business rules and posting services</a:t>
              </a:r>
              <a:endParaRPr lang="en-US" sz="1100" spc="0" kern="0" b="0" i="0" dirty="0">
                <a:solidFill>
                  <a:srgbClr val="070154"/>
                </a:solidFill>
                <a:latin typeface="IBM Plex Sans"/>
                <a:ea typeface="IBM Plex Sans"/>
                <a:cs typeface="IBM Plex Sans"/>
              </a:endParaRPr>
            </a:p>
          </p:txBody>
        </p:sp>
      </p:grpSp>
      <p:grpSp>
        <p:nvGrpSpPr>
          <p:cNvPr id="42" name="node04"/>
          <p:cNvGrpSpPr/>
          <p:nvPr/>
        </p:nvGrpSpPr>
        <p:grpSpPr>
          <a:xfrm>
            <a:off x="4610100" y="2743200"/>
            <a:ext cx="6629400" cy="914400"/>
            <a:chOff x="4610100" y="2743200"/>
            <a:chExt cx="6629400" cy="914400"/>
          </a:xfrm>
        </p:grpSpPr>
        <p:sp>
          <p:nvSpPr>
            <p:cNvPr id="16" name="node04.surface"/>
            <p:cNvSpPr/>
            <p:nvPr/>
          </p:nvSpPr>
          <p:spPr>
            <a:xfrm>
              <a:off x="4610100" y="2743200"/>
              <a:ext cx="6629400" cy="914400"/>
            </a:xfrm>
            <a:prstGeom prst="rect">
              <a:avLst/>
            </a:prstGeom>
            <a:solidFill>
              <a:srgbClr val="E8EEF8"/>
            </a:solidFill>
            <a:ln>
              <a:noFill/>
            </a:ln>
          </p:spPr>
        </p:sp>
        <p:sp>
          <p:nvSpPr>
            <p:cNvPr id="17" name="node04.label"/>
            <p:cNvSpPr/>
            <p:nvPr/>
          </p:nvSpPr>
          <p:spPr>
            <a:xfrm>
              <a:off x="4762500" y="3130550"/>
              <a:ext cx="1524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3  DATA ACCESS</a:t>
              </a:r>
              <a:endParaRPr lang="en-US" sz="800" spc="48" kern="0" b="0" i="0" dirty="0">
                <a:solidFill>
                  <a:srgbClr val="070154"/>
                </a:solidFill>
                <a:latin typeface="IBM Plex Mono SemiBold"/>
                <a:ea typeface="IBM Plex Mono SemiBold"/>
                <a:cs typeface="IBM Plex Mono SemiBold"/>
              </a:endParaRPr>
            </a:p>
          </p:txBody>
        </p:sp>
        <p:sp>
          <p:nvSpPr>
            <p:cNvPr id="18" name="node04.text"/>
            <p:cNvSpPr/>
            <p:nvPr/>
          </p:nvSpPr>
          <p:spPr>
            <a:xfrm>
              <a:off x="6438900" y="3105150"/>
              <a:ext cx="4648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One governed path to close data</a:t>
              </a:r>
              <a:endParaRPr lang="en-US" sz="1100" spc="0" kern="0" b="0" i="0" dirty="0">
                <a:solidFill>
                  <a:srgbClr val="070154"/>
                </a:solidFill>
                <a:latin typeface="IBM Plex Sans"/>
                <a:ea typeface="IBM Plex Sans"/>
                <a:cs typeface="IBM Plex Sans"/>
              </a:endParaRPr>
            </a:p>
          </p:txBody>
        </p:sp>
      </p:grpSp>
      <p:grpSp>
        <p:nvGrpSpPr>
          <p:cNvPr id="43" name="node05"/>
          <p:cNvGrpSpPr/>
          <p:nvPr/>
        </p:nvGrpSpPr>
        <p:grpSpPr>
          <a:xfrm>
            <a:off x="4610100" y="3657600"/>
            <a:ext cx="6629400" cy="914400"/>
            <a:chOff x="4610100" y="3657600"/>
            <a:chExt cx="6629400" cy="914400"/>
          </a:xfrm>
        </p:grpSpPr>
        <p:sp>
          <p:nvSpPr>
            <p:cNvPr id="19" name="node05.surface"/>
            <p:cNvSpPr/>
            <p:nvPr/>
          </p:nvSpPr>
          <p:spPr>
            <a:xfrm>
              <a:off x="4616450" y="3663950"/>
              <a:ext cx="6616700" cy="901700"/>
            </a:xfrm>
            <a:prstGeom prst="rect">
              <a:avLst/>
            </a:prstGeom>
            <a:solidFill>
              <a:srgbClr val="FFFFFF"/>
            </a:solidFill>
            <a:ln w="12700">
              <a:solidFill>
                <a:srgbClr val="CED7E6"/>
              </a:solidFill>
              <a:prstDash val="solid"/>
            </a:ln>
          </p:spPr>
        </p:sp>
        <p:sp>
          <p:nvSpPr>
            <p:cNvPr id="20" name="node05.label"/>
            <p:cNvSpPr/>
            <p:nvPr/>
          </p:nvSpPr>
          <p:spPr>
            <a:xfrm>
              <a:off x="4762500" y="4044950"/>
              <a:ext cx="1524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4  SOURCE SYSTEMS</a:t>
              </a:r>
              <a:endParaRPr lang="en-US" sz="800" spc="48" kern="0" b="0" i="0" dirty="0">
                <a:solidFill>
                  <a:srgbClr val="070154"/>
                </a:solidFill>
                <a:latin typeface="IBM Plex Mono SemiBold"/>
                <a:ea typeface="IBM Plex Mono SemiBold"/>
                <a:cs typeface="IBM Plex Mono SemiBold"/>
              </a:endParaRPr>
            </a:p>
          </p:txBody>
        </p:sp>
        <p:sp>
          <p:nvSpPr>
            <p:cNvPr id="21" name="node05.text"/>
            <p:cNvSpPr/>
            <p:nvPr/>
          </p:nvSpPr>
          <p:spPr>
            <a:xfrm>
              <a:off x="6438900" y="4019550"/>
              <a:ext cx="4648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ERP, sub-ledgers and bank feeds</a:t>
              </a:r>
              <a:endParaRPr lang="en-US" sz="1100" spc="0" kern="0" b="0" i="0" dirty="0">
                <a:solidFill>
                  <a:srgbClr val="070154"/>
                </a:solidFill>
                <a:latin typeface="IBM Plex Sans"/>
                <a:ea typeface="IBM Plex Sans"/>
                <a:cs typeface="IBM Plex Sans"/>
              </a:endParaRPr>
            </a:p>
          </p:txBody>
        </p:sp>
      </p:grpSp>
      <p:grpSp>
        <p:nvGrpSpPr>
          <p:cNvPr id="44" name="node06"/>
          <p:cNvGrpSpPr/>
          <p:nvPr/>
        </p:nvGrpSpPr>
        <p:grpSpPr>
          <a:xfrm>
            <a:off x="4610100" y="4800600"/>
            <a:ext cx="6629400" cy="685800"/>
            <a:chOff x="4610100" y="4800600"/>
            <a:chExt cx="6629400" cy="685800"/>
          </a:xfrm>
        </p:grpSpPr>
        <p:sp>
          <p:nvSpPr>
            <p:cNvPr id="22" name="node06.surface"/>
            <p:cNvSpPr/>
            <p:nvPr/>
          </p:nvSpPr>
          <p:spPr>
            <a:xfrm>
              <a:off x="4610100" y="4800600"/>
              <a:ext cx="6629400" cy="685800"/>
            </a:xfrm>
            <a:prstGeom prst="rect">
              <a:avLst/>
            </a:prstGeom>
            <a:solidFill>
              <a:srgbClr val="05013F"/>
            </a:solidFill>
            <a:ln>
              <a:noFill/>
            </a:ln>
          </p:spPr>
        </p:sp>
        <p:sp>
          <p:nvSpPr>
            <p:cNvPr id="23" name="node06.label"/>
            <p:cNvSpPr/>
            <p:nvPr/>
          </p:nvSpPr>
          <p:spPr>
            <a:xfrm>
              <a:off x="4762500" y="5073650"/>
              <a:ext cx="1524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FOUNDATION</a:t>
              </a:r>
              <a:endParaRPr lang="en-US" sz="800" spc="48" kern="0" b="0" i="0" dirty="0">
                <a:solidFill>
                  <a:srgbClr val="FFFFFF"/>
                </a:solidFill>
                <a:latin typeface="IBM Plex Mono SemiBold"/>
                <a:ea typeface="IBM Plex Mono SemiBold"/>
                <a:cs typeface="IBM Plex Mono SemiBold"/>
              </a:endParaRPr>
            </a:p>
          </p:txBody>
        </p:sp>
        <p:sp>
          <p:nvSpPr>
            <p:cNvPr id="24" name="node06.text"/>
            <p:cNvSpPr/>
            <p:nvPr/>
          </p:nvSpPr>
          <p:spPr>
            <a:xfrm>
              <a:off x="6438900" y="5048250"/>
              <a:ext cx="4648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Cloud landing zone, identity, network and storage</a:t>
              </a:r>
              <a:endParaRPr lang="en-US" sz="1100" spc="0" kern="0" b="0" i="0" dirty="0">
                <a:solidFill>
                  <a:srgbClr val="FFFFFF"/>
                </a:solidFill>
                <a:latin typeface="IBM Plex Sans"/>
                <a:ea typeface="IBM Plex Sans"/>
                <a:cs typeface="IBM Plex Sans"/>
              </a:endParaRPr>
            </a:p>
          </p:txBody>
        </p:sp>
      </p:grpSp>
      <p:grpSp>
        <p:nvGrpSpPr>
          <p:cNvPr id="45" name="node07"/>
          <p:cNvGrpSpPr/>
          <p:nvPr/>
        </p:nvGrpSpPr>
        <p:grpSpPr>
          <a:xfrm>
            <a:off x="723900" y="2286000"/>
            <a:ext cx="3429000" cy="774700"/>
            <a:chOff x="723900" y="2286000"/>
            <a:chExt cx="3429000" cy="774700"/>
          </a:xfrm>
        </p:grpSpPr>
        <p:sp>
          <p:nvSpPr>
            <p:cNvPr id="25" name="node07.title"/>
            <p:cNvSpPr/>
            <p:nvPr/>
          </p:nvSpPr>
          <p:spPr>
            <a:xfrm>
              <a:off x="723900" y="22860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Build once</a:t>
              </a:r>
              <a:endParaRPr lang="en-US" sz="1600" spc="-16" kern="0" b="0" i="0" dirty="0">
                <a:solidFill>
                  <a:srgbClr val="070154"/>
                </a:solidFill>
                <a:latin typeface="IBM Plex Sans SemiBold"/>
                <a:ea typeface="IBM Plex Sans SemiBold"/>
                <a:cs typeface="IBM Plex Sans SemiBold"/>
              </a:endParaRPr>
            </a:p>
          </p:txBody>
        </p:sp>
        <p:sp>
          <p:nvSpPr>
            <p:cNvPr id="26" name="node07.body"/>
            <p:cNvSpPr/>
            <p:nvPr/>
          </p:nvSpPr>
          <p:spPr>
            <a:xfrm>
              <a:off x="723900" y="2628900"/>
              <a:ext cx="3429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Each layer serves every close process, so one moves without a rebuild.</a:t>
              </a:r>
              <a:endParaRPr lang="en-US" sz="1200" spc="0" kern="0" b="0" i="0" dirty="0">
                <a:solidFill>
                  <a:srgbClr val="50658E"/>
                </a:solidFill>
                <a:latin typeface="IBM Plex Sans"/>
                <a:ea typeface="IBM Plex Sans"/>
                <a:cs typeface="IBM Plex Sans"/>
              </a:endParaRPr>
            </a:p>
          </p:txBody>
        </p:sp>
      </p:grpSp>
      <p:grpSp>
        <p:nvGrpSpPr>
          <p:cNvPr id="46" name="node08"/>
          <p:cNvGrpSpPr/>
          <p:nvPr/>
        </p:nvGrpSpPr>
        <p:grpSpPr>
          <a:xfrm>
            <a:off x="723900" y="3429000"/>
            <a:ext cx="3429000" cy="2286000"/>
            <a:chOff x="723900" y="3429000"/>
            <a:chExt cx="3429000" cy="2286000"/>
          </a:xfrm>
        </p:grpSpPr>
        <p:sp>
          <p:nvSpPr>
            <p:cNvPr id="27" name="node08.container"/>
            <p:cNvSpPr/>
            <p:nvPr/>
          </p:nvSpPr>
          <p:spPr>
            <a:xfrm>
              <a:off x="723900" y="3429000"/>
              <a:ext cx="3429000" cy="2286000"/>
            </a:xfrm>
            <a:prstGeom prst="rect">
              <a:avLst/>
            </a:prstGeom>
            <a:solidFill>
              <a:srgbClr val="E8EEF8"/>
            </a:solidFill>
            <a:ln>
              <a:noFill/>
            </a:ln>
          </p:spPr>
        </p:sp>
        <p:sp>
          <p:nvSpPr>
            <p:cNvPr id="28" name="node08.edge"/>
            <p:cNvSpPr/>
            <p:nvPr/>
          </p:nvSpPr>
          <p:spPr>
            <a:xfrm>
              <a:off x="723900" y="3429000"/>
              <a:ext cx="38100" cy="2286000"/>
            </a:xfrm>
            <a:prstGeom prst="rect">
              <a:avLst/>
            </a:prstGeom>
            <a:solidFill>
              <a:srgbClr val="070154"/>
            </a:solidFill>
            <a:ln>
              <a:noFill/>
            </a:ln>
          </p:spPr>
        </p:sp>
        <p:sp>
          <p:nvSpPr>
            <p:cNvPr id="29" name="node08.label"/>
            <p:cNvSpPr/>
            <p:nvPr/>
          </p:nvSpPr>
          <p:spPr>
            <a:xfrm>
              <a:off x="914400" y="3581400"/>
              <a:ext cx="30861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ACROSS LAYERS 1–4</a:t>
              </a:r>
              <a:endParaRPr lang="en-US" sz="800" spc="48" kern="0" b="0" i="0" dirty="0">
                <a:solidFill>
                  <a:srgbClr val="0047FF"/>
                </a:solidFill>
                <a:latin typeface="IBM Plex Mono Medium"/>
                <a:ea typeface="IBM Plex Mono Medium"/>
                <a:cs typeface="IBM Plex Mono Medium"/>
              </a:endParaRPr>
            </a:p>
          </p:txBody>
        </p:sp>
        <p:sp>
          <p:nvSpPr>
            <p:cNvPr id="30" name="node08.title"/>
            <p:cNvSpPr/>
            <p:nvPr/>
          </p:nvSpPr>
          <p:spPr>
            <a:xfrm>
              <a:off x="914400" y="3797300"/>
              <a:ext cx="30861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Shared controls</a:t>
              </a:r>
              <a:endParaRPr lang="en-US" sz="1600" spc="-16" kern="0" b="0" i="0" dirty="0">
                <a:solidFill>
                  <a:srgbClr val="070154"/>
                </a:solidFill>
                <a:latin typeface="IBM Plex Sans SemiBold"/>
                <a:ea typeface="IBM Plex Sans SemiBold"/>
                <a:cs typeface="IBM Plex Sans SemiBold"/>
              </a:endParaRPr>
            </a:p>
          </p:txBody>
        </p:sp>
        <p:sp>
          <p:nvSpPr>
            <p:cNvPr id="31" name="node08.body.item-001.bullets.item-001.marker"/>
            <p:cNvSpPr/>
            <p:nvPr/>
          </p:nvSpPr>
          <p:spPr>
            <a:xfrm>
              <a:off x="914400" y="4305300"/>
              <a:ext cx="38100" cy="38100"/>
            </a:xfrm>
            <a:prstGeom prst="rect">
              <a:avLst/>
            </a:prstGeom>
            <a:solidFill>
              <a:srgbClr val="070154"/>
            </a:solidFill>
            <a:ln>
              <a:noFill/>
            </a:ln>
          </p:spPr>
        </p:sp>
        <p:sp>
          <p:nvSpPr>
            <p:cNvPr id="32" name="node08.body.item-001.bullets.item-001.text"/>
            <p:cNvSpPr/>
            <p:nvPr/>
          </p:nvSpPr>
          <p:spPr>
            <a:xfrm>
              <a:off x="1066800" y="42164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Security</a:t>
              </a:r>
              <a:endParaRPr lang="en-US" sz="1200" spc="0" kern="0" b="0" i="0" dirty="0">
                <a:solidFill>
                  <a:srgbClr val="070154"/>
                </a:solidFill>
                <a:latin typeface="IBM Plex Sans"/>
                <a:ea typeface="IBM Plex Sans"/>
                <a:cs typeface="IBM Plex Sans"/>
              </a:endParaRPr>
            </a:p>
          </p:txBody>
        </p:sp>
        <p:sp>
          <p:nvSpPr>
            <p:cNvPr id="33" name="node08.body.item-001.bullets.item-002.marker"/>
            <p:cNvSpPr/>
            <p:nvPr/>
          </p:nvSpPr>
          <p:spPr>
            <a:xfrm>
              <a:off x="914400" y="4559300"/>
              <a:ext cx="38100" cy="38100"/>
            </a:xfrm>
            <a:prstGeom prst="rect">
              <a:avLst/>
            </a:prstGeom>
            <a:solidFill>
              <a:srgbClr val="070154"/>
            </a:solidFill>
            <a:ln>
              <a:noFill/>
            </a:ln>
          </p:spPr>
        </p:sp>
        <p:sp>
          <p:nvSpPr>
            <p:cNvPr id="34" name="node08.body.item-001.bullets.item-002.text"/>
            <p:cNvSpPr/>
            <p:nvPr/>
          </p:nvSpPr>
          <p:spPr>
            <a:xfrm>
              <a:off x="1066800" y="44704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Governance</a:t>
              </a:r>
              <a:endParaRPr lang="en-US" sz="1200" spc="0" kern="0" b="0" i="0" dirty="0">
                <a:solidFill>
                  <a:srgbClr val="070154"/>
                </a:solidFill>
                <a:latin typeface="IBM Plex Sans"/>
                <a:ea typeface="IBM Plex Sans"/>
                <a:cs typeface="IBM Plex Sans"/>
              </a:endParaRPr>
            </a:p>
          </p:txBody>
        </p:sp>
        <p:sp>
          <p:nvSpPr>
            <p:cNvPr id="35" name="node08.body.item-001.bullets.item-003.marker"/>
            <p:cNvSpPr/>
            <p:nvPr/>
          </p:nvSpPr>
          <p:spPr>
            <a:xfrm>
              <a:off x="914400" y="4813300"/>
              <a:ext cx="38100" cy="38100"/>
            </a:xfrm>
            <a:prstGeom prst="rect">
              <a:avLst/>
            </a:prstGeom>
            <a:solidFill>
              <a:srgbClr val="070154"/>
            </a:solidFill>
            <a:ln>
              <a:noFill/>
            </a:ln>
          </p:spPr>
        </p:sp>
        <p:sp>
          <p:nvSpPr>
            <p:cNvPr id="36" name="node08.body.item-001.bullets.item-003.text"/>
            <p:cNvSpPr/>
            <p:nvPr/>
          </p:nvSpPr>
          <p:spPr>
            <a:xfrm>
              <a:off x="1066800" y="47244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Observability</a:t>
              </a:r>
              <a:endParaRPr lang="en-US" sz="1200" spc="0" kern="0" b="0" i="0" dirty="0">
                <a:solidFill>
                  <a:srgbClr val="070154"/>
                </a:solidFill>
                <a:latin typeface="IBM Plex Sans"/>
                <a:ea typeface="IBM Plex Sans"/>
                <a:cs typeface="IBM Plex Sans"/>
              </a:endParaRPr>
            </a:p>
          </p:txBody>
        </p:sp>
        <p:sp>
          <p:nvSpPr>
            <p:cNvPr id="37" name="node08.body.item-001.bullets.item-004.marker"/>
            <p:cNvSpPr/>
            <p:nvPr/>
          </p:nvSpPr>
          <p:spPr>
            <a:xfrm>
              <a:off x="914400" y="5067300"/>
              <a:ext cx="38100" cy="38100"/>
            </a:xfrm>
            <a:prstGeom prst="rect">
              <a:avLst/>
            </a:prstGeom>
            <a:solidFill>
              <a:srgbClr val="070154"/>
            </a:solidFill>
            <a:ln>
              <a:noFill/>
            </a:ln>
          </p:spPr>
        </p:sp>
        <p:sp>
          <p:nvSpPr>
            <p:cNvPr id="38" name="node08.body.item-001.bullets.item-004.text"/>
            <p:cNvSpPr/>
            <p:nvPr/>
          </p:nvSpPr>
          <p:spPr>
            <a:xfrm>
              <a:off x="1066800" y="49784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Audit trail</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ource-050">
    <p:spTree>
      <p:nvGrpSpPr>
        <p:cNvPr id="1" name=""/>
        <p:cNvGrpSpPr/>
        <p:nvPr/>
      </p:nvGrpSpPr>
      <p:grpSpPr>
        <a:xfrm>
          <a:off x="0" y="0"/>
          <a:ext cx="0" cy="0"/>
          <a:chOff x="0" y="0"/>
          <a:chExt cx="0" cy="0"/>
        </a:xfrm>
      </p:grpSpPr>
      <p:sp>
        <p:nvSpPr>
          <p:cNvPr id="3" name="eyebrow"/>
          <p:cNvSpPr/>
          <p:nvPr/>
        </p:nvSpPr>
        <p:spPr>
          <a:xfrm>
            <a:off x="723900" y="457200"/>
            <a:ext cx="8458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 · PHASE 1</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secure, governed reference architecture lets each workload land on the right platform</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88</a:t>
            </a:fld>
            <a:endParaRPr lang="en-US" sz="700" spc="0" kern="0" b="0" i="0" dirty="0">
              <a:solidFill>
                <a:srgbClr val="070154"/>
              </a:solidFill>
              <a:latin typeface="IBM Plex Mono SemiBold"/>
              <a:ea typeface="IBM Plex Mono SemiBold"/>
              <a:cs typeface="IBM Plex Mono SemiBold"/>
            </a:endParaRPr>
          </a:p>
        </p:txBody>
      </p:sp>
      <p:grpSp>
        <p:nvGrpSpPr>
          <p:cNvPr id="113" name="node01"/>
          <p:cNvGrpSpPr/>
          <p:nvPr/>
        </p:nvGrpSpPr>
        <p:grpSpPr>
          <a:xfrm>
            <a:off x="723900" y="2057400"/>
            <a:ext cx="2971800" cy="266700"/>
            <a:chOff x="723900" y="2057400"/>
            <a:chExt cx="2971800" cy="266700"/>
          </a:xfrm>
        </p:grpSpPr>
        <p:sp>
          <p:nvSpPr>
            <p:cNvPr id="6" name="node01.text"/>
            <p:cNvSpPr/>
            <p:nvPr/>
          </p:nvSpPr>
          <p:spPr>
            <a:xfrm>
              <a:off x="723900" y="20574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Phase 1 proof points</a:t>
              </a:r>
              <a:endParaRPr lang="en-US" sz="1600" spc="-16" kern="0" b="0" i="0" dirty="0">
                <a:solidFill>
                  <a:srgbClr val="070154"/>
                </a:solidFill>
                <a:latin typeface="IBM Plex Sans SemiBold"/>
                <a:ea typeface="IBM Plex Sans SemiBold"/>
                <a:cs typeface="IBM Plex Sans SemiBold"/>
              </a:endParaRPr>
            </a:p>
          </p:txBody>
        </p:sp>
      </p:grpSp>
      <p:grpSp>
        <p:nvGrpSpPr>
          <p:cNvPr id="114" name="node02"/>
          <p:cNvGrpSpPr/>
          <p:nvPr/>
        </p:nvGrpSpPr>
        <p:grpSpPr>
          <a:xfrm>
            <a:off x="723900" y="2438400"/>
            <a:ext cx="2971800" cy="1663700"/>
            <a:chOff x="723900" y="2438400"/>
            <a:chExt cx="2971800" cy="1663700"/>
          </a:xfrm>
        </p:grpSpPr>
        <p:sp>
          <p:nvSpPr>
            <p:cNvPr id="7" name="node02.source-001.bullet"/>
            <p:cNvSpPr/>
            <p:nvPr/>
          </p:nvSpPr>
          <p:spPr>
            <a:xfrm>
              <a:off x="723900" y="2527300"/>
              <a:ext cx="38100" cy="38100"/>
            </a:xfrm>
            <a:prstGeom prst="rect">
              <a:avLst/>
            </a:prstGeom>
            <a:solidFill>
              <a:srgbClr val="070154"/>
            </a:solidFill>
            <a:ln>
              <a:noFill/>
            </a:ln>
          </p:spPr>
        </p:sp>
        <p:sp>
          <p:nvSpPr>
            <p:cNvPr id="8" name="node02.source-001.text"/>
            <p:cNvSpPr/>
            <p:nvPr/>
          </p:nvSpPr>
          <p:spPr>
            <a:xfrm>
              <a:off x="876300" y="2438400"/>
              <a:ext cx="2819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Workspace and environment pattern approved</a:t>
              </a:r>
              <a:endParaRPr lang="en-US" sz="1200" spc="0" kern="0" b="0" i="0" dirty="0">
                <a:solidFill>
                  <a:srgbClr val="070154"/>
                </a:solidFill>
                <a:latin typeface="IBM Plex Sans"/>
                <a:ea typeface="IBM Plex Sans"/>
                <a:cs typeface="IBM Plex Sans"/>
              </a:endParaRPr>
            </a:p>
          </p:txBody>
        </p:sp>
        <p:sp>
          <p:nvSpPr>
            <p:cNvPr id="9" name="node02.source-002.bullet"/>
            <p:cNvSpPr/>
            <p:nvPr/>
          </p:nvSpPr>
          <p:spPr>
            <a:xfrm>
              <a:off x="723900" y="2997200"/>
              <a:ext cx="38100" cy="38100"/>
            </a:xfrm>
            <a:prstGeom prst="rect">
              <a:avLst/>
            </a:prstGeom>
            <a:solidFill>
              <a:srgbClr val="070154"/>
            </a:solidFill>
            <a:ln>
              <a:noFill/>
            </a:ln>
          </p:spPr>
        </p:sp>
        <p:sp>
          <p:nvSpPr>
            <p:cNvPr id="10" name="node02.source-002.text"/>
            <p:cNvSpPr/>
            <p:nvPr/>
          </p:nvSpPr>
          <p:spPr>
            <a:xfrm>
              <a:off x="876300" y="29083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Code promotion demonstrated</a:t>
              </a:r>
              <a:endParaRPr lang="en-US" sz="1200" spc="0" kern="0" b="0" i="0" dirty="0">
                <a:solidFill>
                  <a:srgbClr val="070154"/>
                </a:solidFill>
                <a:latin typeface="IBM Plex Sans"/>
                <a:ea typeface="IBM Plex Sans"/>
                <a:cs typeface="IBM Plex Sans"/>
              </a:endParaRPr>
            </a:p>
          </p:txBody>
        </p:sp>
        <p:sp>
          <p:nvSpPr>
            <p:cNvPr id="11" name="node02.source-003.bullet"/>
            <p:cNvSpPr/>
            <p:nvPr/>
          </p:nvSpPr>
          <p:spPr>
            <a:xfrm>
              <a:off x="723900" y="3251200"/>
              <a:ext cx="38100" cy="38100"/>
            </a:xfrm>
            <a:prstGeom prst="rect">
              <a:avLst/>
            </a:prstGeom>
            <a:solidFill>
              <a:srgbClr val="070154"/>
            </a:solidFill>
            <a:ln>
              <a:noFill/>
            </a:ln>
          </p:spPr>
        </p:sp>
        <p:sp>
          <p:nvSpPr>
            <p:cNvPr id="12" name="node02.source-003.text"/>
            <p:cNvSpPr/>
            <p:nvPr/>
          </p:nvSpPr>
          <p:spPr>
            <a:xfrm>
              <a:off x="876300" y="31623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Lineage metadata visible for each store</a:t>
              </a:r>
              <a:endParaRPr lang="en-US" sz="1200" spc="0" kern="0" b="0" i="0" dirty="0">
                <a:solidFill>
                  <a:srgbClr val="070154"/>
                </a:solidFill>
                <a:latin typeface="IBM Plex Sans"/>
                <a:ea typeface="IBM Plex Sans"/>
                <a:cs typeface="IBM Plex Sans"/>
              </a:endParaRPr>
            </a:p>
          </p:txBody>
        </p:sp>
        <p:sp>
          <p:nvSpPr>
            <p:cNvPr id="13" name="node02.source-004.bullet"/>
            <p:cNvSpPr/>
            <p:nvPr/>
          </p:nvSpPr>
          <p:spPr>
            <a:xfrm>
              <a:off x="723900" y="3505200"/>
              <a:ext cx="38100" cy="38100"/>
            </a:xfrm>
            <a:prstGeom prst="rect">
              <a:avLst/>
            </a:prstGeom>
            <a:solidFill>
              <a:srgbClr val="070154"/>
            </a:solidFill>
            <a:ln>
              <a:noFill/>
            </a:ln>
          </p:spPr>
        </p:sp>
        <p:sp>
          <p:nvSpPr>
            <p:cNvPr id="14" name="node02.source-004.text"/>
            <p:cNvSpPr/>
            <p:nvPr/>
          </p:nvSpPr>
          <p:spPr>
            <a:xfrm>
              <a:off x="876300" y="3416300"/>
              <a:ext cx="2819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Telemetry externalized to shared monitoring</a:t>
              </a:r>
              <a:endParaRPr lang="en-US" sz="1200" spc="0" kern="0" b="0" i="0" dirty="0">
                <a:solidFill>
                  <a:srgbClr val="070154"/>
                </a:solidFill>
                <a:latin typeface="IBM Plex Sans"/>
                <a:ea typeface="IBM Plex Sans"/>
                <a:cs typeface="IBM Plex Sans"/>
              </a:endParaRPr>
            </a:p>
          </p:txBody>
        </p:sp>
        <p:sp>
          <p:nvSpPr>
            <p:cNvPr id="15" name="node02.source-005.bullet"/>
            <p:cNvSpPr/>
            <p:nvPr/>
          </p:nvSpPr>
          <p:spPr>
            <a:xfrm>
              <a:off x="723900" y="3975100"/>
              <a:ext cx="38100" cy="38100"/>
            </a:xfrm>
            <a:prstGeom prst="rect">
              <a:avLst/>
            </a:prstGeom>
            <a:solidFill>
              <a:srgbClr val="070154"/>
            </a:solidFill>
            <a:ln>
              <a:noFill/>
            </a:ln>
          </p:spPr>
        </p:sp>
        <p:sp>
          <p:nvSpPr>
            <p:cNvPr id="16" name="node02.source-005.text"/>
            <p:cNvSpPr/>
            <p:nvPr/>
          </p:nvSpPr>
          <p:spPr>
            <a:xfrm>
              <a:off x="876300" y="38862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Priority patterns demonstrated</a:t>
              </a:r>
              <a:endParaRPr lang="en-US" sz="1200" spc="0" kern="0" b="0" i="0" dirty="0">
                <a:solidFill>
                  <a:srgbClr val="070154"/>
                </a:solidFill>
                <a:latin typeface="IBM Plex Sans"/>
                <a:ea typeface="IBM Plex Sans"/>
                <a:cs typeface="IBM Plex Sans"/>
              </a:endParaRPr>
            </a:p>
          </p:txBody>
        </p:sp>
      </p:grpSp>
      <p:grpSp>
        <p:nvGrpSpPr>
          <p:cNvPr id="115" name="node03"/>
          <p:cNvGrpSpPr/>
          <p:nvPr/>
        </p:nvGrpSpPr>
        <p:grpSpPr>
          <a:xfrm>
            <a:off x="723900" y="4343400"/>
            <a:ext cx="2971800" cy="266700"/>
            <a:chOff x="723900" y="4343400"/>
            <a:chExt cx="2971800" cy="266700"/>
          </a:xfrm>
        </p:grpSpPr>
        <p:sp>
          <p:nvSpPr>
            <p:cNvPr id="17" name="node03.text"/>
            <p:cNvSpPr/>
            <p:nvPr/>
          </p:nvSpPr>
          <p:spPr>
            <a:xfrm>
              <a:off x="723900" y="43434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Dependency disposition</a:t>
              </a:r>
              <a:endParaRPr lang="en-US" sz="1600" spc="-16" kern="0" b="0" i="0" dirty="0">
                <a:solidFill>
                  <a:srgbClr val="070154"/>
                </a:solidFill>
                <a:latin typeface="IBM Plex Sans SemiBold"/>
                <a:ea typeface="IBM Plex Sans SemiBold"/>
                <a:cs typeface="IBM Plex Sans SemiBold"/>
              </a:endParaRPr>
            </a:p>
          </p:txBody>
        </p:sp>
      </p:grpSp>
      <p:grpSp>
        <p:nvGrpSpPr>
          <p:cNvPr id="116" name="node04"/>
          <p:cNvGrpSpPr/>
          <p:nvPr/>
        </p:nvGrpSpPr>
        <p:grpSpPr>
          <a:xfrm>
            <a:off x="723900" y="4724400"/>
            <a:ext cx="2971800" cy="939800"/>
            <a:chOff x="723900" y="4724400"/>
            <a:chExt cx="2971800" cy="939800"/>
          </a:xfrm>
        </p:grpSpPr>
        <p:sp>
          <p:nvSpPr>
            <p:cNvPr id="18" name="node04.source-001.bullet"/>
            <p:cNvSpPr/>
            <p:nvPr/>
          </p:nvSpPr>
          <p:spPr>
            <a:xfrm>
              <a:off x="723900" y="4813300"/>
              <a:ext cx="38100" cy="38100"/>
            </a:xfrm>
            <a:prstGeom prst="rect">
              <a:avLst/>
            </a:prstGeom>
            <a:solidFill>
              <a:srgbClr val="070154"/>
            </a:solidFill>
            <a:ln>
              <a:noFill/>
            </a:ln>
          </p:spPr>
        </p:sp>
        <p:sp>
          <p:nvSpPr>
            <p:cNvPr id="19" name="node04.source-001.text"/>
            <p:cNvSpPr/>
            <p:nvPr/>
          </p:nvSpPr>
          <p:spPr>
            <a:xfrm>
              <a:off x="876300" y="4724400"/>
              <a:ext cx="2819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Gaps logged with owner and interim treatment</a:t>
              </a:r>
              <a:endParaRPr lang="en-US" sz="1200" spc="0" kern="0" b="0" i="0" dirty="0">
                <a:solidFill>
                  <a:srgbClr val="070154"/>
                </a:solidFill>
                <a:latin typeface="IBM Plex Sans"/>
                <a:ea typeface="IBM Plex Sans"/>
                <a:cs typeface="IBM Plex Sans"/>
              </a:endParaRPr>
            </a:p>
          </p:txBody>
        </p:sp>
        <p:sp>
          <p:nvSpPr>
            <p:cNvPr id="20" name="node04.source-002.bullet"/>
            <p:cNvSpPr/>
            <p:nvPr/>
          </p:nvSpPr>
          <p:spPr>
            <a:xfrm>
              <a:off x="723900" y="5283200"/>
              <a:ext cx="38100" cy="38100"/>
            </a:xfrm>
            <a:prstGeom prst="rect">
              <a:avLst/>
            </a:prstGeom>
            <a:solidFill>
              <a:srgbClr val="070154"/>
            </a:solidFill>
            <a:ln>
              <a:noFill/>
            </a:ln>
          </p:spPr>
        </p:sp>
        <p:sp>
          <p:nvSpPr>
            <p:cNvPr id="21" name="node04.source-002.text"/>
            <p:cNvSpPr/>
            <p:nvPr/>
          </p:nvSpPr>
          <p:spPr>
            <a:xfrm>
              <a:off x="876300" y="51943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Impact on general availability stated</a:t>
              </a:r>
              <a:endParaRPr lang="en-US" sz="1200" spc="0" kern="0" b="0" i="0" dirty="0">
                <a:solidFill>
                  <a:srgbClr val="070154"/>
                </a:solidFill>
                <a:latin typeface="IBM Plex Sans"/>
                <a:ea typeface="IBM Plex Sans"/>
                <a:cs typeface="IBM Plex Sans"/>
              </a:endParaRPr>
            </a:p>
          </p:txBody>
        </p:sp>
        <p:sp>
          <p:nvSpPr>
            <p:cNvPr id="22" name="node04.source-003.bullet"/>
            <p:cNvSpPr/>
            <p:nvPr/>
          </p:nvSpPr>
          <p:spPr>
            <a:xfrm>
              <a:off x="723900" y="5537200"/>
              <a:ext cx="38100" cy="38100"/>
            </a:xfrm>
            <a:prstGeom prst="rect">
              <a:avLst/>
            </a:prstGeom>
            <a:solidFill>
              <a:srgbClr val="070154"/>
            </a:solidFill>
            <a:ln>
              <a:noFill/>
            </a:ln>
          </p:spPr>
        </p:sp>
        <p:sp>
          <p:nvSpPr>
            <p:cNvPr id="23" name="node04.source-003.text"/>
            <p:cNvSpPr/>
            <p:nvPr/>
          </p:nvSpPr>
          <p:spPr>
            <a:xfrm>
              <a:off x="876300" y="54483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Reviewed at each steering meeting</a:t>
              </a:r>
              <a:endParaRPr lang="en-US" sz="1200" spc="0" kern="0" b="0" i="0" dirty="0">
                <a:solidFill>
                  <a:srgbClr val="070154"/>
                </a:solidFill>
                <a:latin typeface="IBM Plex Sans"/>
                <a:ea typeface="IBM Plex Sans"/>
                <a:cs typeface="IBM Plex Sans"/>
              </a:endParaRPr>
            </a:p>
          </p:txBody>
        </p:sp>
      </p:grpSp>
      <p:grpSp>
        <p:nvGrpSpPr>
          <p:cNvPr id="117" name="node05"/>
          <p:cNvGrpSpPr/>
          <p:nvPr/>
        </p:nvGrpSpPr>
        <p:grpSpPr>
          <a:xfrm>
            <a:off x="4152900" y="2057400"/>
            <a:ext cx="7315200" cy="203200"/>
            <a:chOff x="4152900" y="2057400"/>
            <a:chExt cx="7315200" cy="203200"/>
          </a:xfrm>
        </p:grpSpPr>
        <p:sp>
          <p:nvSpPr>
            <p:cNvPr id="24" name="node05.surface"/>
            <p:cNvSpPr/>
            <p:nvPr/>
          </p:nvSpPr>
          <p:spPr>
            <a:xfrm>
              <a:off x="4152900" y="2057400"/>
              <a:ext cx="7315200" cy="203200"/>
            </a:xfrm>
            <a:prstGeom prst="rect">
              <a:avLst/>
            </a:prstGeom>
            <a:solidFill>
              <a:srgbClr val="05013F"/>
            </a:solidFill>
            <a:ln>
              <a:noFill/>
            </a:ln>
          </p:spPr>
        </p:sp>
        <p:sp>
          <p:nvSpPr>
            <p:cNvPr id="25" name="node05.text"/>
            <p:cNvSpPr/>
            <p:nvPr/>
          </p:nvSpPr>
          <p:spPr>
            <a:xfrm>
              <a:off x="4229100" y="2089150"/>
              <a:ext cx="7162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CROSS-CUTTING GOVERNANCE, SECURITY AND OPERATIONS</a:t>
              </a:r>
              <a:endParaRPr lang="en-US" sz="800" spc="48" kern="0" b="0" i="0" dirty="0">
                <a:solidFill>
                  <a:srgbClr val="FFFFFF"/>
                </a:solidFill>
                <a:latin typeface="IBM Plex Mono Medium"/>
                <a:ea typeface="IBM Plex Mono Medium"/>
                <a:cs typeface="IBM Plex Mono Medium"/>
              </a:endParaRPr>
            </a:p>
          </p:txBody>
        </p:sp>
      </p:grpSp>
      <p:grpSp>
        <p:nvGrpSpPr>
          <p:cNvPr id="118" name="node06"/>
          <p:cNvGrpSpPr/>
          <p:nvPr/>
        </p:nvGrpSpPr>
        <p:grpSpPr>
          <a:xfrm>
            <a:off x="4152900" y="2286000"/>
            <a:ext cx="1752600" cy="203200"/>
            <a:chOff x="4152900" y="2286000"/>
            <a:chExt cx="1752600" cy="203200"/>
          </a:xfrm>
        </p:grpSpPr>
        <p:sp>
          <p:nvSpPr>
            <p:cNvPr id="26" name="node06.surface"/>
            <p:cNvSpPr/>
            <p:nvPr/>
          </p:nvSpPr>
          <p:spPr>
            <a:xfrm>
              <a:off x="4152900" y="2286000"/>
              <a:ext cx="1752600" cy="203200"/>
            </a:xfrm>
            <a:prstGeom prst="rect">
              <a:avLst/>
            </a:prstGeom>
            <a:solidFill>
              <a:srgbClr val="E8EEF8"/>
            </a:solidFill>
            <a:ln>
              <a:noFill/>
            </a:ln>
          </p:spPr>
        </p:sp>
        <p:sp>
          <p:nvSpPr>
            <p:cNvPr id="27" name="node06.text"/>
            <p:cNvSpPr/>
            <p:nvPr/>
          </p:nvSpPr>
          <p:spPr>
            <a:xfrm>
              <a:off x="4229100" y="2317750"/>
              <a:ext cx="1600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GOVERNANCE</a:t>
              </a:r>
              <a:endParaRPr lang="en-US" sz="800" spc="48" kern="0" b="0" i="0" dirty="0">
                <a:solidFill>
                  <a:srgbClr val="070154"/>
                </a:solidFill>
                <a:latin typeface="IBM Plex Mono Medium"/>
                <a:ea typeface="IBM Plex Mono Medium"/>
                <a:cs typeface="IBM Plex Mono Medium"/>
              </a:endParaRPr>
            </a:p>
          </p:txBody>
        </p:sp>
      </p:grpSp>
      <p:grpSp>
        <p:nvGrpSpPr>
          <p:cNvPr id="119" name="node07"/>
          <p:cNvGrpSpPr/>
          <p:nvPr/>
        </p:nvGrpSpPr>
        <p:grpSpPr>
          <a:xfrm>
            <a:off x="5981700" y="2286000"/>
            <a:ext cx="1752600" cy="203200"/>
            <a:chOff x="5981700" y="2286000"/>
            <a:chExt cx="1752600" cy="203200"/>
          </a:xfrm>
        </p:grpSpPr>
        <p:sp>
          <p:nvSpPr>
            <p:cNvPr id="28" name="node07.surface"/>
            <p:cNvSpPr/>
            <p:nvPr/>
          </p:nvSpPr>
          <p:spPr>
            <a:xfrm>
              <a:off x="5981700" y="2286000"/>
              <a:ext cx="1752600" cy="203200"/>
            </a:xfrm>
            <a:prstGeom prst="rect">
              <a:avLst/>
            </a:prstGeom>
            <a:solidFill>
              <a:srgbClr val="E8EEF8"/>
            </a:solidFill>
            <a:ln>
              <a:noFill/>
            </a:ln>
          </p:spPr>
        </p:sp>
        <p:sp>
          <p:nvSpPr>
            <p:cNvPr id="29" name="node07.text"/>
            <p:cNvSpPr/>
            <p:nvPr/>
          </p:nvSpPr>
          <p:spPr>
            <a:xfrm>
              <a:off x="6057900" y="2317750"/>
              <a:ext cx="1600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NETWORK</a:t>
              </a:r>
              <a:endParaRPr lang="en-US" sz="800" spc="48" kern="0" b="0" i="0" dirty="0">
                <a:solidFill>
                  <a:srgbClr val="070154"/>
                </a:solidFill>
                <a:latin typeface="IBM Plex Mono Medium"/>
                <a:ea typeface="IBM Plex Mono Medium"/>
                <a:cs typeface="IBM Plex Mono Medium"/>
              </a:endParaRPr>
            </a:p>
          </p:txBody>
        </p:sp>
      </p:grpSp>
      <p:grpSp>
        <p:nvGrpSpPr>
          <p:cNvPr id="120" name="node08"/>
          <p:cNvGrpSpPr/>
          <p:nvPr/>
        </p:nvGrpSpPr>
        <p:grpSpPr>
          <a:xfrm>
            <a:off x="7810500" y="2286000"/>
            <a:ext cx="1752600" cy="203200"/>
            <a:chOff x="7810500" y="2286000"/>
            <a:chExt cx="1752600" cy="203200"/>
          </a:xfrm>
        </p:grpSpPr>
        <p:sp>
          <p:nvSpPr>
            <p:cNvPr id="30" name="node08.surface"/>
            <p:cNvSpPr/>
            <p:nvPr/>
          </p:nvSpPr>
          <p:spPr>
            <a:xfrm>
              <a:off x="7810500" y="2286000"/>
              <a:ext cx="1752600" cy="203200"/>
            </a:xfrm>
            <a:prstGeom prst="rect">
              <a:avLst/>
            </a:prstGeom>
            <a:solidFill>
              <a:srgbClr val="E8EEF8"/>
            </a:solidFill>
            <a:ln>
              <a:noFill/>
            </a:ln>
          </p:spPr>
        </p:sp>
        <p:sp>
          <p:nvSpPr>
            <p:cNvPr id="31" name="node08.text"/>
            <p:cNvSpPr/>
            <p:nvPr/>
          </p:nvSpPr>
          <p:spPr>
            <a:xfrm>
              <a:off x="7886700" y="2317750"/>
              <a:ext cx="1600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SECURITY AND RISK</a:t>
              </a:r>
              <a:endParaRPr lang="en-US" sz="800" spc="48" kern="0" b="0" i="0" dirty="0">
                <a:solidFill>
                  <a:srgbClr val="070154"/>
                </a:solidFill>
                <a:latin typeface="IBM Plex Mono Medium"/>
                <a:ea typeface="IBM Plex Mono Medium"/>
                <a:cs typeface="IBM Plex Mono Medium"/>
              </a:endParaRPr>
            </a:p>
          </p:txBody>
        </p:sp>
      </p:grpSp>
      <p:grpSp>
        <p:nvGrpSpPr>
          <p:cNvPr id="121" name="node09"/>
          <p:cNvGrpSpPr/>
          <p:nvPr/>
        </p:nvGrpSpPr>
        <p:grpSpPr>
          <a:xfrm>
            <a:off x="9639300" y="2286000"/>
            <a:ext cx="1752600" cy="203200"/>
            <a:chOff x="9639300" y="2286000"/>
            <a:chExt cx="1752600" cy="203200"/>
          </a:xfrm>
        </p:grpSpPr>
        <p:sp>
          <p:nvSpPr>
            <p:cNvPr id="32" name="node09.surface"/>
            <p:cNvSpPr/>
            <p:nvPr/>
          </p:nvSpPr>
          <p:spPr>
            <a:xfrm>
              <a:off x="9639300" y="2286000"/>
              <a:ext cx="1752600" cy="203200"/>
            </a:xfrm>
            <a:prstGeom prst="rect">
              <a:avLst/>
            </a:prstGeom>
            <a:solidFill>
              <a:srgbClr val="E8EEF8"/>
            </a:solidFill>
            <a:ln>
              <a:noFill/>
            </a:ln>
          </p:spPr>
        </p:sp>
        <p:sp>
          <p:nvSpPr>
            <p:cNvPr id="33" name="node09.text"/>
            <p:cNvSpPr/>
            <p:nvPr/>
          </p:nvSpPr>
          <p:spPr>
            <a:xfrm>
              <a:off x="9715500" y="2317750"/>
              <a:ext cx="1600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CAPACITY AND COST</a:t>
              </a:r>
              <a:endParaRPr lang="en-US" sz="800" spc="48" kern="0" b="0" i="0" dirty="0">
                <a:solidFill>
                  <a:srgbClr val="070154"/>
                </a:solidFill>
                <a:latin typeface="IBM Plex Mono Medium"/>
                <a:ea typeface="IBM Plex Mono Medium"/>
                <a:cs typeface="IBM Plex Mono Medium"/>
              </a:endParaRPr>
            </a:p>
          </p:txBody>
        </p:sp>
      </p:grpSp>
      <p:grpSp>
        <p:nvGrpSpPr>
          <p:cNvPr id="123" name="node10"/>
          <p:cNvGrpSpPr/>
          <p:nvPr/>
        </p:nvGrpSpPr>
        <p:grpSpPr>
          <a:xfrm>
            <a:off x="4152900" y="2743200"/>
            <a:ext cx="1600200" cy="1600200"/>
            <a:chOff x="4152900" y="2743200"/>
            <a:chExt cx="1600200" cy="1600200"/>
          </a:xfrm>
        </p:grpSpPr>
        <p:sp>
          <p:nvSpPr>
            <p:cNvPr id="34" name="node10.surface"/>
            <p:cNvSpPr/>
            <p:nvPr/>
          </p:nvSpPr>
          <p:spPr>
            <a:xfrm>
              <a:off x="4152900" y="2743200"/>
              <a:ext cx="1600200" cy="1600200"/>
            </a:xfrm>
            <a:prstGeom prst="rect">
              <a:avLst/>
            </a:prstGeom>
            <a:solidFill>
              <a:srgbClr val="FFFFFF"/>
            </a:solidFill>
            <a:ln w="12700">
              <a:solidFill>
                <a:srgbClr val="50658E"/>
              </a:solidFill>
              <a:prstDash val="dash"/>
            </a:ln>
          </p:spPr>
        </p:sp>
        <p:sp>
          <p:nvSpPr>
            <p:cNvPr id="35" name="node10.label"/>
            <p:cNvSpPr/>
            <p:nvPr/>
          </p:nvSpPr>
          <p:spPr>
            <a:xfrm>
              <a:off x="4305300" y="28575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Source systems</a:t>
              </a:r>
              <a:endParaRPr lang="en-US" sz="1100" spc="0" kern="0" b="0" i="0" dirty="0">
                <a:solidFill>
                  <a:srgbClr val="070154"/>
                </a:solidFill>
                <a:latin typeface="IBM Plex Sans SemiBold"/>
                <a:ea typeface="IBM Plex Sans SemiBold"/>
                <a:cs typeface="IBM Plex Sans SemiBold"/>
              </a:endParaRPr>
            </a:p>
          </p:txBody>
        </p:sp>
        <p:sp>
          <p:nvSpPr>
            <p:cNvPr id="36" name="node10.label-underline-0"/>
            <p:cNvSpPr/>
            <p:nvPr/>
          </p:nvSpPr>
          <p:spPr>
            <a:xfrm>
              <a:off x="4305300" y="3012186"/>
              <a:ext cx="1022350" cy="0"/>
            </a:xfrm>
            <a:custGeom>
              <a:avLst/>
              <a:gdLst/>
              <a:ahLst/>
              <a:cxnLst/>
              <a:rect l="l" t="t" r="r" b="b"/>
              <a:pathLst>
                <a:path w="1022350">
                  <a:moveTo>
                    <a:pt x="0" y="0"/>
                  </a:moveTo>
                  <a:lnTo>
                    <a:pt x="1022350" y="0"/>
                  </a:lnTo>
                </a:path>
              </a:pathLst>
            </a:custGeom>
            <a:ln w="9525">
              <a:solidFill>
                <a:srgbClr val="070154"/>
              </a:solidFill>
              <a:prstDash val="solid"/>
            </a:ln>
          </p:spPr>
        </p:sp>
        <p:grpSp>
          <p:nvGrpSpPr>
            <p:cNvPr id="122" name="node10.bullets"/>
            <p:cNvGrpSpPr/>
            <p:nvPr/>
          </p:nvGrpSpPr>
          <p:grpSpPr>
            <a:xfrm>
              <a:off x="4305300" y="3162300"/>
              <a:ext cx="1295400" cy="838200"/>
              <a:chOff x="4305300" y="3162300"/>
              <a:chExt cx="1295400" cy="838200"/>
            </a:xfrm>
          </p:grpSpPr>
          <p:sp>
            <p:nvSpPr>
              <p:cNvPr id="37" name="node10.bullets.source-001.bullet"/>
              <p:cNvSpPr/>
              <p:nvPr/>
            </p:nvSpPr>
            <p:spPr>
              <a:xfrm>
                <a:off x="4305300" y="3232150"/>
                <a:ext cx="38100" cy="38100"/>
              </a:xfrm>
              <a:prstGeom prst="rect">
                <a:avLst/>
              </a:prstGeom>
              <a:solidFill>
                <a:srgbClr val="070154"/>
              </a:solidFill>
              <a:ln>
                <a:noFill/>
              </a:ln>
            </p:spPr>
          </p:sp>
          <p:sp>
            <p:nvSpPr>
              <p:cNvPr id="38" name="node10.bullets.source-001.text"/>
              <p:cNvSpPr/>
              <p:nvPr/>
            </p:nvSpPr>
            <p:spPr>
              <a:xfrm>
                <a:off x="4445000" y="3162300"/>
                <a:ext cx="11557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ERP</a:t>
                </a:r>
                <a:endParaRPr lang="en-US" sz="1100" spc="0" kern="0" b="0" i="0" dirty="0">
                  <a:solidFill>
                    <a:srgbClr val="070154"/>
                  </a:solidFill>
                  <a:latin typeface="IBM Plex Sans"/>
                  <a:ea typeface="IBM Plex Sans"/>
                  <a:cs typeface="IBM Plex Sans"/>
                </a:endParaRPr>
              </a:p>
            </p:txBody>
          </p:sp>
          <p:sp>
            <p:nvSpPr>
              <p:cNvPr id="39" name="node10.bullets.source-002.bullet"/>
              <p:cNvSpPr/>
              <p:nvPr/>
            </p:nvSpPr>
            <p:spPr>
              <a:xfrm>
                <a:off x="4305300" y="3448050"/>
                <a:ext cx="38100" cy="38100"/>
              </a:xfrm>
              <a:prstGeom prst="rect">
                <a:avLst/>
              </a:prstGeom>
              <a:solidFill>
                <a:srgbClr val="070154"/>
              </a:solidFill>
              <a:ln>
                <a:noFill/>
              </a:ln>
            </p:spPr>
          </p:sp>
          <p:sp>
            <p:nvSpPr>
              <p:cNvPr id="40" name="node10.bullets.source-002.text"/>
              <p:cNvSpPr/>
              <p:nvPr/>
            </p:nvSpPr>
            <p:spPr>
              <a:xfrm>
                <a:off x="4445000" y="3378200"/>
                <a:ext cx="11557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Claims</a:t>
                </a:r>
                <a:endParaRPr lang="en-US" sz="1100" spc="0" kern="0" b="0" i="0" dirty="0">
                  <a:solidFill>
                    <a:srgbClr val="070154"/>
                  </a:solidFill>
                  <a:latin typeface="IBM Plex Sans"/>
                  <a:ea typeface="IBM Plex Sans"/>
                  <a:cs typeface="IBM Plex Sans"/>
                </a:endParaRPr>
              </a:p>
            </p:txBody>
          </p:sp>
          <p:sp>
            <p:nvSpPr>
              <p:cNvPr id="41" name="node10.bullets.source-003.bullet"/>
              <p:cNvSpPr/>
              <p:nvPr/>
            </p:nvSpPr>
            <p:spPr>
              <a:xfrm>
                <a:off x="4305300" y="3663950"/>
                <a:ext cx="38100" cy="38100"/>
              </a:xfrm>
              <a:prstGeom prst="rect">
                <a:avLst/>
              </a:prstGeom>
              <a:solidFill>
                <a:srgbClr val="070154"/>
              </a:solidFill>
              <a:ln>
                <a:noFill/>
              </a:ln>
            </p:spPr>
          </p:sp>
          <p:sp>
            <p:nvSpPr>
              <p:cNvPr id="42" name="node10.bullets.source-003.text"/>
              <p:cNvSpPr/>
              <p:nvPr/>
            </p:nvSpPr>
            <p:spPr>
              <a:xfrm>
                <a:off x="4445000" y="3594100"/>
                <a:ext cx="11557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CRM</a:t>
                </a:r>
                <a:endParaRPr lang="en-US" sz="1100" spc="0" kern="0" b="0" i="0" dirty="0">
                  <a:solidFill>
                    <a:srgbClr val="070154"/>
                  </a:solidFill>
                  <a:latin typeface="IBM Plex Sans"/>
                  <a:ea typeface="IBM Plex Sans"/>
                  <a:cs typeface="IBM Plex Sans"/>
                </a:endParaRPr>
              </a:p>
            </p:txBody>
          </p:sp>
          <p:sp>
            <p:nvSpPr>
              <p:cNvPr id="43" name="node10.bullets.source-004.bullet"/>
              <p:cNvSpPr/>
              <p:nvPr/>
            </p:nvSpPr>
            <p:spPr>
              <a:xfrm>
                <a:off x="4305300" y="3879850"/>
                <a:ext cx="38100" cy="38100"/>
              </a:xfrm>
              <a:prstGeom prst="rect">
                <a:avLst/>
              </a:prstGeom>
              <a:solidFill>
                <a:srgbClr val="070154"/>
              </a:solidFill>
              <a:ln>
                <a:noFill/>
              </a:ln>
            </p:spPr>
          </p:sp>
          <p:sp>
            <p:nvSpPr>
              <p:cNvPr id="44" name="node10.bullets.source-004.text"/>
              <p:cNvSpPr/>
              <p:nvPr/>
            </p:nvSpPr>
            <p:spPr>
              <a:xfrm>
                <a:off x="4445000" y="3810000"/>
                <a:ext cx="11557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Files</a:t>
                </a:r>
                <a:endParaRPr lang="en-US" sz="1100" spc="0" kern="0" b="0" i="0" dirty="0">
                  <a:solidFill>
                    <a:srgbClr val="070154"/>
                  </a:solidFill>
                  <a:latin typeface="IBM Plex Sans"/>
                  <a:ea typeface="IBM Plex Sans"/>
                  <a:cs typeface="IBM Plex Sans"/>
                </a:endParaRPr>
              </a:p>
            </p:txBody>
          </p:sp>
        </p:grpSp>
      </p:grpSp>
      <p:grpSp>
        <p:nvGrpSpPr>
          <p:cNvPr id="124" name="node11"/>
          <p:cNvGrpSpPr/>
          <p:nvPr/>
        </p:nvGrpSpPr>
        <p:grpSpPr>
          <a:xfrm>
            <a:off x="5981700" y="2743200"/>
            <a:ext cx="3200400" cy="1600200"/>
            <a:chOff x="5981700" y="2743200"/>
            <a:chExt cx="3200400" cy="1600200"/>
          </a:xfrm>
        </p:grpSpPr>
        <p:sp>
          <p:nvSpPr>
            <p:cNvPr id="45" name="node11.surface"/>
            <p:cNvSpPr/>
            <p:nvPr/>
          </p:nvSpPr>
          <p:spPr>
            <a:xfrm>
              <a:off x="5981700" y="2743200"/>
              <a:ext cx="3200400" cy="1600200"/>
            </a:xfrm>
            <a:prstGeom prst="rect">
              <a:avLst/>
            </a:prstGeom>
            <a:solidFill>
              <a:srgbClr val="E8EEF8"/>
            </a:solidFill>
            <a:ln>
              <a:noFill/>
            </a:ln>
          </p:spPr>
        </p:sp>
        <p:sp>
          <p:nvSpPr>
            <p:cNvPr id="46" name="node11.label"/>
            <p:cNvSpPr/>
            <p:nvPr/>
          </p:nvSpPr>
          <p:spPr>
            <a:xfrm>
              <a:off x="6134100" y="2857500"/>
              <a:ext cx="2895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Enterprise data platform</a:t>
              </a:r>
              <a:endParaRPr lang="en-US" sz="1600" spc="-16" kern="0" b="0" i="0" dirty="0">
                <a:solidFill>
                  <a:srgbClr val="070154"/>
                </a:solidFill>
                <a:latin typeface="IBM Plex Sans SemiBold"/>
                <a:ea typeface="IBM Plex Sans SemiBold"/>
                <a:cs typeface="IBM Plex Sans SemiBold"/>
              </a:endParaRPr>
            </a:p>
          </p:txBody>
        </p:sp>
      </p:grpSp>
      <p:grpSp>
        <p:nvGrpSpPr>
          <p:cNvPr id="125" name="node12"/>
          <p:cNvGrpSpPr/>
          <p:nvPr/>
        </p:nvGrpSpPr>
        <p:grpSpPr>
          <a:xfrm>
            <a:off x="6210300" y="3200400"/>
            <a:ext cx="838200" cy="457200"/>
            <a:chOff x="6210300" y="3200400"/>
            <a:chExt cx="838200" cy="457200"/>
          </a:xfrm>
        </p:grpSpPr>
        <p:sp>
          <p:nvSpPr>
            <p:cNvPr id="47" name="node12.surface"/>
            <p:cNvSpPr/>
            <p:nvPr/>
          </p:nvSpPr>
          <p:spPr>
            <a:xfrm>
              <a:off x="6210300" y="3200400"/>
              <a:ext cx="838200" cy="457200"/>
            </a:xfrm>
            <a:prstGeom prst="can">
              <a:avLst/>
            </a:prstGeom>
            <a:solidFill>
              <a:srgbClr val="070154"/>
            </a:solidFill>
            <a:ln w="9525">
              <a:solidFill>
                <a:srgbClr val="070154"/>
              </a:solidFill>
              <a:prstDash val="solid"/>
            </a:ln>
          </p:spPr>
        </p:sp>
        <p:sp>
          <p:nvSpPr>
            <p:cNvPr id="48" name="node12.text"/>
            <p:cNvSpPr/>
            <p:nvPr/>
          </p:nvSpPr>
          <p:spPr>
            <a:xfrm>
              <a:off x="6210300" y="3365754"/>
              <a:ext cx="838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SemiBold"/>
                  <a:ea typeface="IBM Plex Sans SemiBold"/>
                  <a:cs typeface="IBM Plex Sans SemiBold"/>
                </a:rPr>
                <a:t>Raw</a:t>
              </a:r>
              <a:endParaRPr lang="en-US" sz="1100" spc="0" kern="0" b="0" i="0" dirty="0">
                <a:solidFill>
                  <a:srgbClr val="FFFFFF"/>
                </a:solidFill>
                <a:latin typeface="IBM Plex Sans SemiBold"/>
                <a:ea typeface="IBM Plex Sans SemiBold"/>
                <a:cs typeface="IBM Plex Sans SemiBold"/>
              </a:endParaRPr>
            </a:p>
          </p:txBody>
        </p:sp>
      </p:grpSp>
      <p:grpSp>
        <p:nvGrpSpPr>
          <p:cNvPr id="126" name="node13"/>
          <p:cNvGrpSpPr/>
          <p:nvPr/>
        </p:nvGrpSpPr>
        <p:grpSpPr>
          <a:xfrm>
            <a:off x="7124700" y="3200400"/>
            <a:ext cx="838200" cy="457200"/>
            <a:chOff x="7124700" y="3200400"/>
            <a:chExt cx="838200" cy="457200"/>
          </a:xfrm>
        </p:grpSpPr>
        <p:sp>
          <p:nvSpPr>
            <p:cNvPr id="49" name="node13.surface"/>
            <p:cNvSpPr/>
            <p:nvPr/>
          </p:nvSpPr>
          <p:spPr>
            <a:xfrm>
              <a:off x="7124700" y="3200400"/>
              <a:ext cx="838200" cy="457200"/>
            </a:xfrm>
            <a:prstGeom prst="can">
              <a:avLst/>
            </a:prstGeom>
            <a:solidFill>
              <a:srgbClr val="070154"/>
            </a:solidFill>
            <a:ln w="9525">
              <a:solidFill>
                <a:srgbClr val="070154"/>
              </a:solidFill>
              <a:prstDash val="solid"/>
            </a:ln>
          </p:spPr>
        </p:sp>
        <p:sp>
          <p:nvSpPr>
            <p:cNvPr id="50" name="node13.text"/>
            <p:cNvSpPr/>
            <p:nvPr/>
          </p:nvSpPr>
          <p:spPr>
            <a:xfrm>
              <a:off x="7124700" y="3365754"/>
              <a:ext cx="838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SemiBold"/>
                  <a:ea typeface="IBM Plex Sans SemiBold"/>
                  <a:cs typeface="IBM Plex Sans SemiBold"/>
                </a:rPr>
                <a:t>Refined</a:t>
              </a:r>
              <a:endParaRPr lang="en-US" sz="1100" spc="0" kern="0" b="0" i="0" dirty="0">
                <a:solidFill>
                  <a:srgbClr val="FFFFFF"/>
                </a:solidFill>
                <a:latin typeface="IBM Plex Sans SemiBold"/>
                <a:ea typeface="IBM Plex Sans SemiBold"/>
                <a:cs typeface="IBM Plex Sans SemiBold"/>
              </a:endParaRPr>
            </a:p>
          </p:txBody>
        </p:sp>
      </p:grpSp>
      <p:grpSp>
        <p:nvGrpSpPr>
          <p:cNvPr id="127" name="node14"/>
          <p:cNvGrpSpPr/>
          <p:nvPr/>
        </p:nvGrpSpPr>
        <p:grpSpPr>
          <a:xfrm>
            <a:off x="8039100" y="3200400"/>
            <a:ext cx="838200" cy="457200"/>
            <a:chOff x="8039100" y="3200400"/>
            <a:chExt cx="838200" cy="457200"/>
          </a:xfrm>
        </p:grpSpPr>
        <p:sp>
          <p:nvSpPr>
            <p:cNvPr id="51" name="node14.surface"/>
            <p:cNvSpPr/>
            <p:nvPr/>
          </p:nvSpPr>
          <p:spPr>
            <a:xfrm>
              <a:off x="8039100" y="3200400"/>
              <a:ext cx="838200" cy="457200"/>
            </a:xfrm>
            <a:prstGeom prst="can">
              <a:avLst/>
            </a:prstGeom>
            <a:solidFill>
              <a:srgbClr val="070154"/>
            </a:solidFill>
            <a:ln w="9525">
              <a:solidFill>
                <a:srgbClr val="070154"/>
              </a:solidFill>
              <a:prstDash val="solid"/>
            </a:ln>
          </p:spPr>
        </p:sp>
        <p:sp>
          <p:nvSpPr>
            <p:cNvPr id="52" name="node14.text"/>
            <p:cNvSpPr/>
            <p:nvPr/>
          </p:nvSpPr>
          <p:spPr>
            <a:xfrm>
              <a:off x="8039100" y="3365754"/>
              <a:ext cx="838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SemiBold"/>
                  <a:ea typeface="IBM Plex Sans SemiBold"/>
                  <a:cs typeface="IBM Plex Sans SemiBold"/>
                </a:rPr>
                <a:t>Curated</a:t>
              </a:r>
              <a:endParaRPr lang="en-US" sz="1100" spc="0" kern="0" b="0" i="0" dirty="0">
                <a:solidFill>
                  <a:srgbClr val="FFFFFF"/>
                </a:solidFill>
                <a:latin typeface="IBM Plex Sans SemiBold"/>
                <a:ea typeface="IBM Plex Sans SemiBold"/>
                <a:cs typeface="IBM Plex Sans SemiBold"/>
              </a:endParaRPr>
            </a:p>
          </p:txBody>
        </p:sp>
      </p:grpSp>
      <p:grpSp>
        <p:nvGrpSpPr>
          <p:cNvPr id="128" name="node15"/>
          <p:cNvGrpSpPr/>
          <p:nvPr/>
        </p:nvGrpSpPr>
        <p:grpSpPr>
          <a:xfrm>
            <a:off x="6210300" y="3886200"/>
            <a:ext cx="2743200" cy="228600"/>
            <a:chOff x="6210300" y="3886200"/>
            <a:chExt cx="2743200" cy="228600"/>
          </a:xfrm>
        </p:grpSpPr>
        <p:sp>
          <p:nvSpPr>
            <p:cNvPr id="53" name="node15.surface"/>
            <p:cNvSpPr/>
            <p:nvPr/>
          </p:nvSpPr>
          <p:spPr>
            <a:xfrm>
              <a:off x="6210300" y="3886200"/>
              <a:ext cx="2743200" cy="228600"/>
            </a:xfrm>
            <a:prstGeom prst="rect">
              <a:avLst/>
            </a:prstGeom>
            <a:solidFill>
              <a:srgbClr val="FFFFFF"/>
            </a:solidFill>
            <a:ln>
              <a:noFill/>
            </a:ln>
          </p:spPr>
        </p:sp>
        <p:sp>
          <p:nvSpPr>
            <p:cNvPr id="54" name="node15.text"/>
            <p:cNvSpPr/>
            <p:nvPr/>
          </p:nvSpPr>
          <p:spPr>
            <a:xfrm>
              <a:off x="6286500" y="3930650"/>
              <a:ext cx="2590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INTEROPERABILITY SERVICES</a:t>
              </a:r>
              <a:endParaRPr lang="en-US" sz="800" spc="48" kern="0" b="0" i="0" dirty="0">
                <a:solidFill>
                  <a:srgbClr val="070154"/>
                </a:solidFill>
                <a:latin typeface="IBM Plex Mono Medium"/>
                <a:ea typeface="IBM Plex Mono Medium"/>
                <a:cs typeface="IBM Plex Mono Medium"/>
              </a:endParaRPr>
            </a:p>
          </p:txBody>
        </p:sp>
      </p:grpSp>
      <p:grpSp>
        <p:nvGrpSpPr>
          <p:cNvPr id="129" name="node16"/>
          <p:cNvGrpSpPr/>
          <p:nvPr/>
        </p:nvGrpSpPr>
        <p:grpSpPr>
          <a:xfrm>
            <a:off x="9410700" y="2743200"/>
            <a:ext cx="2057400" cy="1600200"/>
            <a:chOff x="9410700" y="2743200"/>
            <a:chExt cx="2057400" cy="1600200"/>
          </a:xfrm>
        </p:grpSpPr>
        <p:sp>
          <p:nvSpPr>
            <p:cNvPr id="55" name="node16.surface"/>
            <p:cNvSpPr/>
            <p:nvPr/>
          </p:nvSpPr>
          <p:spPr>
            <a:xfrm>
              <a:off x="9410700" y="2743200"/>
              <a:ext cx="2057400" cy="1600200"/>
            </a:xfrm>
            <a:prstGeom prst="rect">
              <a:avLst/>
            </a:prstGeom>
            <a:solidFill>
              <a:srgbClr val="E8EEF8"/>
            </a:solidFill>
            <a:ln>
              <a:noFill/>
            </a:ln>
          </p:spPr>
        </p:sp>
        <p:sp>
          <p:nvSpPr>
            <p:cNvPr id="56" name="node16.label"/>
            <p:cNvSpPr/>
            <p:nvPr/>
          </p:nvSpPr>
          <p:spPr>
            <a:xfrm>
              <a:off x="9563100" y="2857500"/>
              <a:ext cx="1752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Consumption</a:t>
              </a:r>
              <a:endParaRPr lang="en-US" sz="1600" spc="-16" kern="0" b="0" i="0" dirty="0">
                <a:solidFill>
                  <a:srgbClr val="070154"/>
                </a:solidFill>
                <a:latin typeface="IBM Plex Sans SemiBold"/>
                <a:ea typeface="IBM Plex Sans SemiBold"/>
                <a:cs typeface="IBM Plex Sans SemiBold"/>
              </a:endParaRPr>
            </a:p>
          </p:txBody>
        </p:sp>
      </p:grpSp>
      <p:grpSp>
        <p:nvGrpSpPr>
          <p:cNvPr id="130" name="node17"/>
          <p:cNvGrpSpPr/>
          <p:nvPr/>
        </p:nvGrpSpPr>
        <p:grpSpPr>
          <a:xfrm>
            <a:off x="9639300" y="3200400"/>
            <a:ext cx="1600200" cy="381000"/>
            <a:chOff x="9639300" y="3200400"/>
            <a:chExt cx="1600200" cy="381000"/>
          </a:xfrm>
        </p:grpSpPr>
        <p:sp>
          <p:nvSpPr>
            <p:cNvPr id="57" name="node17.surface"/>
            <p:cNvSpPr/>
            <p:nvPr/>
          </p:nvSpPr>
          <p:spPr>
            <a:xfrm>
              <a:off x="9639300" y="3200400"/>
              <a:ext cx="1600200" cy="381000"/>
            </a:xfrm>
            <a:prstGeom prst="rect">
              <a:avLst/>
            </a:prstGeom>
            <a:solidFill>
              <a:srgbClr val="070154"/>
            </a:solidFill>
            <a:ln>
              <a:noFill/>
            </a:ln>
          </p:spPr>
        </p:sp>
        <p:sp>
          <p:nvSpPr>
            <p:cNvPr id="58" name="node17.text"/>
            <p:cNvSpPr/>
            <p:nvPr/>
          </p:nvSpPr>
          <p:spPr>
            <a:xfrm>
              <a:off x="9791700" y="3295650"/>
              <a:ext cx="1295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BI platform</a:t>
              </a:r>
              <a:endParaRPr lang="en-US" sz="1100" spc="0" kern="0" b="0" i="0" dirty="0">
                <a:solidFill>
                  <a:srgbClr val="FFFFFF"/>
                </a:solidFill>
                <a:latin typeface="IBM Plex Sans"/>
                <a:ea typeface="IBM Plex Sans"/>
                <a:cs typeface="IBM Plex Sans"/>
              </a:endParaRPr>
            </a:p>
          </p:txBody>
        </p:sp>
      </p:grpSp>
      <p:grpSp>
        <p:nvGrpSpPr>
          <p:cNvPr id="131" name="node18"/>
          <p:cNvGrpSpPr/>
          <p:nvPr/>
        </p:nvGrpSpPr>
        <p:grpSpPr>
          <a:xfrm>
            <a:off x="9639300" y="3657600"/>
            <a:ext cx="1600200" cy="381000"/>
            <a:chOff x="9639300" y="3657600"/>
            <a:chExt cx="1600200" cy="381000"/>
          </a:xfrm>
        </p:grpSpPr>
        <p:sp>
          <p:nvSpPr>
            <p:cNvPr id="59" name="node18.surface"/>
            <p:cNvSpPr/>
            <p:nvPr/>
          </p:nvSpPr>
          <p:spPr>
            <a:xfrm>
              <a:off x="9639300" y="3657600"/>
              <a:ext cx="1600200" cy="381000"/>
            </a:xfrm>
            <a:prstGeom prst="rect">
              <a:avLst/>
            </a:prstGeom>
            <a:solidFill>
              <a:srgbClr val="070154"/>
            </a:solidFill>
            <a:ln>
              <a:noFill/>
            </a:ln>
          </p:spPr>
        </p:sp>
        <p:sp>
          <p:nvSpPr>
            <p:cNvPr id="60" name="node18.text"/>
            <p:cNvSpPr/>
            <p:nvPr/>
          </p:nvSpPr>
          <p:spPr>
            <a:xfrm>
              <a:off x="9791700" y="3752850"/>
              <a:ext cx="1295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Data science, AI</a:t>
              </a:r>
              <a:endParaRPr lang="en-US" sz="1100" spc="0" kern="0" b="0" i="0" dirty="0">
                <a:solidFill>
                  <a:srgbClr val="FFFFFF"/>
                </a:solidFill>
                <a:latin typeface="IBM Plex Sans"/>
                <a:ea typeface="IBM Plex Sans"/>
                <a:cs typeface="IBM Plex Sans"/>
              </a:endParaRPr>
            </a:p>
          </p:txBody>
        </p:sp>
      </p:grpSp>
      <p:grpSp>
        <p:nvGrpSpPr>
          <p:cNvPr id="132" name="node19"/>
          <p:cNvGrpSpPr/>
          <p:nvPr/>
        </p:nvGrpSpPr>
        <p:grpSpPr>
          <a:xfrm>
            <a:off x="5753100" y="3500679"/>
            <a:ext cx="228600" cy="85242"/>
            <a:chOff x="5753100" y="3500679"/>
            <a:chExt cx="228600" cy="85242"/>
          </a:xfrm>
        </p:grpSpPr>
        <p:sp>
          <p:nvSpPr>
            <p:cNvPr id="61" name="node19.segment-1"/>
            <p:cNvSpPr/>
            <p:nvPr/>
          </p:nvSpPr>
          <p:spPr>
            <a:xfrm>
              <a:off x="5753100" y="35433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62" name="node19.head-end.0"/>
            <p:cNvSpPr/>
            <p:nvPr/>
          </p:nvSpPr>
          <p:spPr>
            <a:xfrm>
              <a:off x="59036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3" name="node19.head-end.1"/>
            <p:cNvSpPr/>
            <p:nvPr/>
          </p:nvSpPr>
          <p:spPr>
            <a:xfrm>
              <a:off x="59036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64" name="node19.head-start.0"/>
            <p:cNvSpPr/>
            <p:nvPr/>
          </p:nvSpPr>
          <p:spPr>
            <a:xfrm>
              <a:off x="5753100" y="35006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65" name="node19.head-start.1"/>
            <p:cNvSpPr/>
            <p:nvPr/>
          </p:nvSpPr>
          <p:spPr>
            <a:xfrm>
              <a:off x="5753100" y="35433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33" name="node20"/>
          <p:cNvGrpSpPr/>
          <p:nvPr/>
        </p:nvGrpSpPr>
        <p:grpSpPr>
          <a:xfrm>
            <a:off x="9182100" y="3500679"/>
            <a:ext cx="228600" cy="85242"/>
            <a:chOff x="9182100" y="3500679"/>
            <a:chExt cx="228600" cy="85242"/>
          </a:xfrm>
        </p:grpSpPr>
        <p:sp>
          <p:nvSpPr>
            <p:cNvPr id="66" name="node20.segment-1"/>
            <p:cNvSpPr/>
            <p:nvPr/>
          </p:nvSpPr>
          <p:spPr>
            <a:xfrm>
              <a:off x="9182100" y="35433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67" name="node20.head-end.0"/>
            <p:cNvSpPr/>
            <p:nvPr/>
          </p:nvSpPr>
          <p:spPr>
            <a:xfrm>
              <a:off x="93326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8" name="node20.head-end.1"/>
            <p:cNvSpPr/>
            <p:nvPr/>
          </p:nvSpPr>
          <p:spPr>
            <a:xfrm>
              <a:off x="93326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69" name="node20.head-start.0"/>
            <p:cNvSpPr/>
            <p:nvPr/>
          </p:nvSpPr>
          <p:spPr>
            <a:xfrm>
              <a:off x="9182100" y="35006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70" name="node20.head-start.1"/>
            <p:cNvSpPr/>
            <p:nvPr/>
          </p:nvSpPr>
          <p:spPr>
            <a:xfrm>
              <a:off x="9182100" y="35433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34" name="node21"/>
          <p:cNvGrpSpPr/>
          <p:nvPr/>
        </p:nvGrpSpPr>
        <p:grpSpPr>
          <a:xfrm>
            <a:off x="4152900" y="4495800"/>
            <a:ext cx="7315200" cy="228600"/>
            <a:chOff x="4152900" y="4495800"/>
            <a:chExt cx="7315200" cy="228600"/>
          </a:xfrm>
        </p:grpSpPr>
        <p:sp>
          <p:nvSpPr>
            <p:cNvPr id="71" name="node21.label"/>
            <p:cNvSpPr/>
            <p:nvPr/>
          </p:nvSpPr>
          <p:spPr>
            <a:xfrm>
              <a:off x="4152900" y="4495800"/>
              <a:ext cx="1154553"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PLATFORM SERVICES</a:t>
              </a:r>
              <a:endParaRPr lang="en-US" sz="800" spc="48" kern="0" b="0" i="0" dirty="0">
                <a:solidFill>
                  <a:srgbClr val="50658E"/>
                </a:solidFill>
                <a:latin typeface="IBM Plex Mono Medium"/>
                <a:ea typeface="IBM Plex Mono Medium"/>
                <a:cs typeface="IBM Plex Mono Medium"/>
              </a:endParaRPr>
            </a:p>
          </p:txBody>
        </p:sp>
        <p:sp>
          <p:nvSpPr>
            <p:cNvPr id="72" name="node21.rule"/>
            <p:cNvSpPr/>
            <p:nvPr/>
          </p:nvSpPr>
          <p:spPr>
            <a:xfrm>
              <a:off x="5434453" y="4605338"/>
              <a:ext cx="6033647" cy="9525"/>
            </a:xfrm>
            <a:prstGeom prst="rect">
              <a:avLst/>
            </a:prstGeom>
            <a:solidFill>
              <a:srgbClr val="CED7E6"/>
            </a:solidFill>
            <a:ln>
              <a:noFill/>
            </a:ln>
          </p:spPr>
        </p:sp>
      </p:grpSp>
      <p:grpSp>
        <p:nvGrpSpPr>
          <p:cNvPr id="135" name="node22"/>
          <p:cNvGrpSpPr/>
          <p:nvPr/>
        </p:nvGrpSpPr>
        <p:grpSpPr>
          <a:xfrm>
            <a:off x="4152900" y="4800600"/>
            <a:ext cx="1752600" cy="203200"/>
            <a:chOff x="4152900" y="4800600"/>
            <a:chExt cx="1752600" cy="203200"/>
          </a:xfrm>
        </p:grpSpPr>
        <p:sp>
          <p:nvSpPr>
            <p:cNvPr id="73" name="node22.surface"/>
            <p:cNvSpPr/>
            <p:nvPr/>
          </p:nvSpPr>
          <p:spPr>
            <a:xfrm>
              <a:off x="4152900" y="4800600"/>
              <a:ext cx="1752600" cy="203200"/>
            </a:xfrm>
            <a:prstGeom prst="rect">
              <a:avLst/>
            </a:prstGeom>
            <a:solidFill>
              <a:srgbClr val="E8EEF8"/>
            </a:solidFill>
            <a:ln>
              <a:noFill/>
            </a:ln>
          </p:spPr>
        </p:sp>
        <p:sp>
          <p:nvSpPr>
            <p:cNvPr id="74" name="node22.text"/>
            <p:cNvSpPr/>
            <p:nvPr/>
          </p:nvSpPr>
          <p:spPr>
            <a:xfrm>
              <a:off x="4229100" y="4832350"/>
              <a:ext cx="1600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WORKSPACE MGMT.</a:t>
              </a:r>
              <a:endParaRPr lang="en-US" sz="800" spc="48" kern="0" b="0" i="0" dirty="0">
                <a:solidFill>
                  <a:srgbClr val="070154"/>
                </a:solidFill>
                <a:latin typeface="IBM Plex Mono Medium"/>
                <a:ea typeface="IBM Plex Mono Medium"/>
                <a:cs typeface="IBM Plex Mono Medium"/>
              </a:endParaRPr>
            </a:p>
          </p:txBody>
        </p:sp>
      </p:grpSp>
      <p:grpSp>
        <p:nvGrpSpPr>
          <p:cNvPr id="136" name="node23"/>
          <p:cNvGrpSpPr/>
          <p:nvPr/>
        </p:nvGrpSpPr>
        <p:grpSpPr>
          <a:xfrm>
            <a:off x="5981700" y="4800600"/>
            <a:ext cx="1752600" cy="203200"/>
            <a:chOff x="5981700" y="4800600"/>
            <a:chExt cx="1752600" cy="203200"/>
          </a:xfrm>
        </p:grpSpPr>
        <p:sp>
          <p:nvSpPr>
            <p:cNvPr id="75" name="node23.surface"/>
            <p:cNvSpPr/>
            <p:nvPr/>
          </p:nvSpPr>
          <p:spPr>
            <a:xfrm>
              <a:off x="5981700" y="4800600"/>
              <a:ext cx="1752600" cy="203200"/>
            </a:xfrm>
            <a:prstGeom prst="rect">
              <a:avLst/>
            </a:prstGeom>
            <a:solidFill>
              <a:srgbClr val="E8EEF8"/>
            </a:solidFill>
            <a:ln>
              <a:noFill/>
            </a:ln>
          </p:spPr>
        </p:sp>
        <p:sp>
          <p:nvSpPr>
            <p:cNvPr id="76" name="node23.text"/>
            <p:cNvSpPr/>
            <p:nvPr/>
          </p:nvSpPr>
          <p:spPr>
            <a:xfrm>
              <a:off x="6057900" y="4832350"/>
              <a:ext cx="1600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PROVISIONING</a:t>
              </a:r>
              <a:endParaRPr lang="en-US" sz="800" spc="48" kern="0" b="0" i="0" dirty="0">
                <a:solidFill>
                  <a:srgbClr val="070154"/>
                </a:solidFill>
                <a:latin typeface="IBM Plex Mono Medium"/>
                <a:ea typeface="IBM Plex Mono Medium"/>
                <a:cs typeface="IBM Plex Mono Medium"/>
              </a:endParaRPr>
            </a:p>
          </p:txBody>
        </p:sp>
      </p:grpSp>
      <p:grpSp>
        <p:nvGrpSpPr>
          <p:cNvPr id="137" name="node24"/>
          <p:cNvGrpSpPr/>
          <p:nvPr/>
        </p:nvGrpSpPr>
        <p:grpSpPr>
          <a:xfrm>
            <a:off x="7810500" y="4800600"/>
            <a:ext cx="1752600" cy="203200"/>
            <a:chOff x="7810500" y="4800600"/>
            <a:chExt cx="1752600" cy="203200"/>
          </a:xfrm>
        </p:grpSpPr>
        <p:sp>
          <p:nvSpPr>
            <p:cNvPr id="77" name="node24.surface"/>
            <p:cNvSpPr/>
            <p:nvPr/>
          </p:nvSpPr>
          <p:spPr>
            <a:xfrm>
              <a:off x="7810500" y="4800600"/>
              <a:ext cx="1752600" cy="203200"/>
            </a:xfrm>
            <a:prstGeom prst="rect">
              <a:avLst/>
            </a:prstGeom>
            <a:solidFill>
              <a:srgbClr val="E8EEF8"/>
            </a:solidFill>
            <a:ln>
              <a:noFill/>
            </a:ln>
          </p:spPr>
        </p:sp>
        <p:sp>
          <p:nvSpPr>
            <p:cNvPr id="78" name="node24.text"/>
            <p:cNvSpPr/>
            <p:nvPr/>
          </p:nvSpPr>
          <p:spPr>
            <a:xfrm>
              <a:off x="7886700" y="4832350"/>
              <a:ext cx="1600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POLICY ENFORCEMENT</a:t>
              </a:r>
              <a:endParaRPr lang="en-US" sz="800" spc="48" kern="0" b="0" i="0" dirty="0">
                <a:solidFill>
                  <a:srgbClr val="070154"/>
                </a:solidFill>
                <a:latin typeface="IBM Plex Mono Medium"/>
                <a:ea typeface="IBM Plex Mono Medium"/>
                <a:cs typeface="IBM Plex Mono Medium"/>
              </a:endParaRPr>
            </a:p>
          </p:txBody>
        </p:sp>
      </p:grpSp>
      <p:grpSp>
        <p:nvGrpSpPr>
          <p:cNvPr id="138" name="node25"/>
          <p:cNvGrpSpPr/>
          <p:nvPr/>
        </p:nvGrpSpPr>
        <p:grpSpPr>
          <a:xfrm>
            <a:off x="9639300" y="4800600"/>
            <a:ext cx="1752600" cy="203200"/>
            <a:chOff x="9639300" y="4800600"/>
            <a:chExt cx="1752600" cy="203200"/>
          </a:xfrm>
        </p:grpSpPr>
        <p:sp>
          <p:nvSpPr>
            <p:cNvPr id="79" name="node25.surface"/>
            <p:cNvSpPr/>
            <p:nvPr/>
          </p:nvSpPr>
          <p:spPr>
            <a:xfrm>
              <a:off x="9639300" y="4800600"/>
              <a:ext cx="1752600" cy="203200"/>
            </a:xfrm>
            <a:prstGeom prst="rect">
              <a:avLst/>
            </a:prstGeom>
            <a:solidFill>
              <a:srgbClr val="E8EEF8"/>
            </a:solidFill>
            <a:ln>
              <a:noFill/>
            </a:ln>
          </p:spPr>
        </p:sp>
        <p:sp>
          <p:nvSpPr>
            <p:cNvPr id="80" name="node25.text"/>
            <p:cNvSpPr/>
            <p:nvPr/>
          </p:nvSpPr>
          <p:spPr>
            <a:xfrm>
              <a:off x="9715500" y="4832350"/>
              <a:ext cx="1600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CONFIGURATION</a:t>
              </a:r>
              <a:endParaRPr lang="en-US" sz="800" spc="48" kern="0" b="0" i="0" dirty="0">
                <a:solidFill>
                  <a:srgbClr val="070154"/>
                </a:solidFill>
                <a:latin typeface="IBM Plex Mono Medium"/>
                <a:ea typeface="IBM Plex Mono Medium"/>
                <a:cs typeface="IBM Plex Mono Medium"/>
              </a:endParaRPr>
            </a:p>
          </p:txBody>
        </p:sp>
      </p:grpSp>
      <p:grpSp>
        <p:nvGrpSpPr>
          <p:cNvPr id="139" name="node26"/>
          <p:cNvGrpSpPr/>
          <p:nvPr/>
        </p:nvGrpSpPr>
        <p:grpSpPr>
          <a:xfrm>
            <a:off x="4152900" y="5029200"/>
            <a:ext cx="1752600" cy="203200"/>
            <a:chOff x="4152900" y="5029200"/>
            <a:chExt cx="1752600" cy="203200"/>
          </a:xfrm>
        </p:grpSpPr>
        <p:sp>
          <p:nvSpPr>
            <p:cNvPr id="81" name="node26.surface"/>
            <p:cNvSpPr/>
            <p:nvPr/>
          </p:nvSpPr>
          <p:spPr>
            <a:xfrm>
              <a:off x="4152900" y="5029200"/>
              <a:ext cx="1752600" cy="203200"/>
            </a:xfrm>
            <a:prstGeom prst="rect">
              <a:avLst/>
            </a:prstGeom>
            <a:solidFill>
              <a:srgbClr val="E8EEF8"/>
            </a:solidFill>
            <a:ln>
              <a:noFill/>
            </a:ln>
          </p:spPr>
        </p:sp>
        <p:sp>
          <p:nvSpPr>
            <p:cNvPr id="82" name="node26.text"/>
            <p:cNvSpPr/>
            <p:nvPr/>
          </p:nvSpPr>
          <p:spPr>
            <a:xfrm>
              <a:off x="4229100" y="5060950"/>
              <a:ext cx="1600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CAPACITY MGMT.</a:t>
              </a:r>
              <a:endParaRPr lang="en-US" sz="800" spc="48" kern="0" b="0" i="0" dirty="0">
                <a:solidFill>
                  <a:srgbClr val="070154"/>
                </a:solidFill>
                <a:latin typeface="IBM Plex Mono Medium"/>
                <a:ea typeface="IBM Plex Mono Medium"/>
                <a:cs typeface="IBM Plex Mono Medium"/>
              </a:endParaRPr>
            </a:p>
          </p:txBody>
        </p:sp>
      </p:grpSp>
      <p:grpSp>
        <p:nvGrpSpPr>
          <p:cNvPr id="140" name="node27"/>
          <p:cNvGrpSpPr/>
          <p:nvPr/>
        </p:nvGrpSpPr>
        <p:grpSpPr>
          <a:xfrm>
            <a:off x="5981700" y="5029200"/>
            <a:ext cx="1752600" cy="203200"/>
            <a:chOff x="5981700" y="5029200"/>
            <a:chExt cx="1752600" cy="203200"/>
          </a:xfrm>
        </p:grpSpPr>
        <p:sp>
          <p:nvSpPr>
            <p:cNvPr id="83" name="node27.surface"/>
            <p:cNvSpPr/>
            <p:nvPr/>
          </p:nvSpPr>
          <p:spPr>
            <a:xfrm>
              <a:off x="5981700" y="5029200"/>
              <a:ext cx="1752600" cy="203200"/>
            </a:xfrm>
            <a:prstGeom prst="rect">
              <a:avLst/>
            </a:prstGeom>
            <a:solidFill>
              <a:srgbClr val="E8EEF8"/>
            </a:solidFill>
            <a:ln>
              <a:noFill/>
            </a:ln>
          </p:spPr>
        </p:sp>
        <p:sp>
          <p:nvSpPr>
            <p:cNvPr id="84" name="node27.text"/>
            <p:cNvSpPr/>
            <p:nvPr/>
          </p:nvSpPr>
          <p:spPr>
            <a:xfrm>
              <a:off x="6057900" y="5060950"/>
              <a:ext cx="1600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CI/CD, DEPLOY</a:t>
              </a:r>
              <a:endParaRPr lang="en-US" sz="800" spc="48" kern="0" b="0" i="0" dirty="0">
                <a:solidFill>
                  <a:srgbClr val="070154"/>
                </a:solidFill>
                <a:latin typeface="IBM Plex Mono Medium"/>
                <a:ea typeface="IBM Plex Mono Medium"/>
                <a:cs typeface="IBM Plex Mono Medium"/>
              </a:endParaRPr>
            </a:p>
          </p:txBody>
        </p:sp>
      </p:grpSp>
      <p:grpSp>
        <p:nvGrpSpPr>
          <p:cNvPr id="141" name="node28"/>
          <p:cNvGrpSpPr/>
          <p:nvPr/>
        </p:nvGrpSpPr>
        <p:grpSpPr>
          <a:xfrm>
            <a:off x="7810500" y="5029200"/>
            <a:ext cx="1752600" cy="203200"/>
            <a:chOff x="7810500" y="5029200"/>
            <a:chExt cx="1752600" cy="203200"/>
          </a:xfrm>
        </p:grpSpPr>
        <p:sp>
          <p:nvSpPr>
            <p:cNvPr id="85" name="node28.surface"/>
            <p:cNvSpPr/>
            <p:nvPr/>
          </p:nvSpPr>
          <p:spPr>
            <a:xfrm>
              <a:off x="7810500" y="5029200"/>
              <a:ext cx="1752600" cy="203200"/>
            </a:xfrm>
            <a:prstGeom prst="rect">
              <a:avLst/>
            </a:prstGeom>
            <a:solidFill>
              <a:srgbClr val="E8EEF8"/>
            </a:solidFill>
            <a:ln>
              <a:noFill/>
            </a:ln>
          </p:spPr>
        </p:sp>
        <p:sp>
          <p:nvSpPr>
            <p:cNvPr id="86" name="node28.text"/>
            <p:cNvSpPr/>
            <p:nvPr/>
          </p:nvSpPr>
          <p:spPr>
            <a:xfrm>
              <a:off x="7886700" y="5060950"/>
              <a:ext cx="1600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TELEMETRY</a:t>
              </a:r>
              <a:endParaRPr lang="en-US" sz="800" spc="48" kern="0" b="0" i="0" dirty="0">
                <a:solidFill>
                  <a:srgbClr val="070154"/>
                </a:solidFill>
                <a:latin typeface="IBM Plex Mono Medium"/>
                <a:ea typeface="IBM Plex Mono Medium"/>
                <a:cs typeface="IBM Plex Mono Medium"/>
              </a:endParaRPr>
            </a:p>
          </p:txBody>
        </p:sp>
      </p:grpSp>
      <p:grpSp>
        <p:nvGrpSpPr>
          <p:cNvPr id="142" name="node29"/>
          <p:cNvGrpSpPr/>
          <p:nvPr/>
        </p:nvGrpSpPr>
        <p:grpSpPr>
          <a:xfrm>
            <a:off x="9639300" y="5029200"/>
            <a:ext cx="1752600" cy="203200"/>
            <a:chOff x="9639300" y="5029200"/>
            <a:chExt cx="1752600" cy="203200"/>
          </a:xfrm>
        </p:grpSpPr>
        <p:sp>
          <p:nvSpPr>
            <p:cNvPr id="87" name="node29.surface"/>
            <p:cNvSpPr/>
            <p:nvPr/>
          </p:nvSpPr>
          <p:spPr>
            <a:xfrm>
              <a:off x="9639300" y="5029200"/>
              <a:ext cx="1752600" cy="203200"/>
            </a:xfrm>
            <a:prstGeom prst="rect">
              <a:avLst/>
            </a:prstGeom>
            <a:solidFill>
              <a:srgbClr val="E8EEF8"/>
            </a:solidFill>
            <a:ln>
              <a:noFill/>
            </a:ln>
          </p:spPr>
        </p:sp>
        <p:sp>
          <p:nvSpPr>
            <p:cNvPr id="88" name="node29.text"/>
            <p:cNvSpPr/>
            <p:nvPr/>
          </p:nvSpPr>
          <p:spPr>
            <a:xfrm>
              <a:off x="9715500" y="5060950"/>
              <a:ext cx="1600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MONITORING</a:t>
              </a:r>
              <a:endParaRPr lang="en-US" sz="800" spc="48" kern="0" b="0" i="0" dirty="0">
                <a:solidFill>
                  <a:srgbClr val="070154"/>
                </a:solidFill>
                <a:latin typeface="IBM Plex Mono Medium"/>
                <a:ea typeface="IBM Plex Mono Medium"/>
                <a:cs typeface="IBM Plex Mono Medium"/>
              </a:endParaRPr>
            </a:p>
          </p:txBody>
        </p:sp>
      </p:grpSp>
      <p:grpSp>
        <p:nvGrpSpPr>
          <p:cNvPr id="143" name="node30"/>
          <p:cNvGrpSpPr/>
          <p:nvPr/>
        </p:nvGrpSpPr>
        <p:grpSpPr>
          <a:xfrm>
            <a:off x="4152900" y="5334000"/>
            <a:ext cx="2286000" cy="139700"/>
            <a:chOff x="4152900" y="5334000"/>
            <a:chExt cx="2286000" cy="139700"/>
          </a:xfrm>
        </p:grpSpPr>
        <p:sp>
          <p:nvSpPr>
            <p:cNvPr id="89" name="node30.text"/>
            <p:cNvSpPr/>
            <p:nvPr/>
          </p:nvSpPr>
          <p:spPr>
            <a:xfrm>
              <a:off x="4152900" y="53340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SECURE BY DESIGN</a:t>
              </a:r>
              <a:endParaRPr lang="en-US" sz="800" spc="48" kern="0" b="0" i="0" dirty="0">
                <a:solidFill>
                  <a:srgbClr val="0047FF"/>
                </a:solidFill>
                <a:latin typeface="IBM Plex Mono Medium"/>
                <a:ea typeface="IBM Plex Mono Medium"/>
                <a:cs typeface="IBM Plex Mono Medium"/>
              </a:endParaRPr>
            </a:p>
          </p:txBody>
        </p:sp>
      </p:grpSp>
      <p:grpSp>
        <p:nvGrpSpPr>
          <p:cNvPr id="144" name="node31"/>
          <p:cNvGrpSpPr/>
          <p:nvPr/>
        </p:nvGrpSpPr>
        <p:grpSpPr>
          <a:xfrm>
            <a:off x="4152900" y="5511800"/>
            <a:ext cx="2286000" cy="190500"/>
            <a:chOff x="4152900" y="5511800"/>
            <a:chExt cx="2286000" cy="190500"/>
          </a:xfrm>
        </p:grpSpPr>
        <p:sp>
          <p:nvSpPr>
            <p:cNvPr id="90" name="node31.text"/>
            <p:cNvSpPr/>
            <p:nvPr/>
          </p:nvSpPr>
          <p:spPr>
            <a:xfrm>
              <a:off x="4152900" y="55118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Controls in the baseline</a:t>
              </a:r>
              <a:endParaRPr lang="en-US" sz="1100" spc="0" kern="0" b="0" i="0" dirty="0">
                <a:solidFill>
                  <a:srgbClr val="070154"/>
                </a:solidFill>
                <a:latin typeface="IBM Plex Sans"/>
                <a:ea typeface="IBM Plex Sans"/>
                <a:cs typeface="IBM Plex Sans"/>
              </a:endParaRPr>
            </a:p>
          </p:txBody>
        </p:sp>
      </p:grpSp>
      <p:grpSp>
        <p:nvGrpSpPr>
          <p:cNvPr id="145" name="node32"/>
          <p:cNvGrpSpPr/>
          <p:nvPr/>
        </p:nvGrpSpPr>
        <p:grpSpPr>
          <a:xfrm>
            <a:off x="6667500" y="5334000"/>
            <a:ext cx="2286000" cy="139700"/>
            <a:chOff x="6667500" y="5334000"/>
            <a:chExt cx="2286000" cy="139700"/>
          </a:xfrm>
        </p:grpSpPr>
        <p:sp>
          <p:nvSpPr>
            <p:cNvPr id="91" name="node32.text"/>
            <p:cNvSpPr/>
            <p:nvPr/>
          </p:nvSpPr>
          <p:spPr>
            <a:xfrm>
              <a:off x="6667500" y="53340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GOVERNED EVERYWHERE</a:t>
              </a:r>
              <a:endParaRPr lang="en-US" sz="800" spc="48" kern="0" b="0" i="0" dirty="0">
                <a:solidFill>
                  <a:srgbClr val="0047FF"/>
                </a:solidFill>
                <a:latin typeface="IBM Plex Mono Medium"/>
                <a:ea typeface="IBM Plex Mono Medium"/>
                <a:cs typeface="IBM Plex Mono Medium"/>
              </a:endParaRPr>
            </a:p>
          </p:txBody>
        </p:sp>
      </p:grpSp>
      <p:grpSp>
        <p:nvGrpSpPr>
          <p:cNvPr id="146" name="node33"/>
          <p:cNvGrpSpPr/>
          <p:nvPr/>
        </p:nvGrpSpPr>
        <p:grpSpPr>
          <a:xfrm>
            <a:off x="6667500" y="5511800"/>
            <a:ext cx="2286000" cy="190500"/>
            <a:chOff x="6667500" y="5511800"/>
            <a:chExt cx="2286000" cy="190500"/>
          </a:xfrm>
        </p:grpSpPr>
        <p:sp>
          <p:nvSpPr>
            <p:cNvPr id="92" name="node33.text"/>
            <p:cNvSpPr/>
            <p:nvPr/>
          </p:nvSpPr>
          <p:spPr>
            <a:xfrm>
              <a:off x="6667500" y="55118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One lineage model</a:t>
              </a:r>
              <a:endParaRPr lang="en-US" sz="1100" spc="0" kern="0" b="0" i="0" dirty="0">
                <a:solidFill>
                  <a:srgbClr val="070154"/>
                </a:solidFill>
                <a:latin typeface="IBM Plex Sans"/>
                <a:ea typeface="IBM Plex Sans"/>
                <a:cs typeface="IBM Plex Sans"/>
              </a:endParaRPr>
            </a:p>
          </p:txBody>
        </p:sp>
      </p:grpSp>
      <p:grpSp>
        <p:nvGrpSpPr>
          <p:cNvPr id="147" name="node34"/>
          <p:cNvGrpSpPr/>
          <p:nvPr/>
        </p:nvGrpSpPr>
        <p:grpSpPr>
          <a:xfrm>
            <a:off x="9182100" y="5334000"/>
            <a:ext cx="2286000" cy="139700"/>
            <a:chOff x="9182100" y="5334000"/>
            <a:chExt cx="2286000" cy="139700"/>
          </a:xfrm>
        </p:grpSpPr>
        <p:sp>
          <p:nvSpPr>
            <p:cNvPr id="93" name="node34.text"/>
            <p:cNvSpPr/>
            <p:nvPr/>
          </p:nvSpPr>
          <p:spPr>
            <a:xfrm>
              <a:off x="9182100" y="53340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REPEATABLE BY DEFAULT</a:t>
              </a:r>
              <a:endParaRPr lang="en-US" sz="800" spc="48" kern="0" b="0" i="0" dirty="0">
                <a:solidFill>
                  <a:srgbClr val="0047FF"/>
                </a:solidFill>
                <a:latin typeface="IBM Plex Mono Medium"/>
                <a:ea typeface="IBM Plex Mono Medium"/>
                <a:cs typeface="IBM Plex Mono Medium"/>
              </a:endParaRPr>
            </a:p>
          </p:txBody>
        </p:sp>
      </p:grpSp>
      <p:grpSp>
        <p:nvGrpSpPr>
          <p:cNvPr id="148" name="node35"/>
          <p:cNvGrpSpPr/>
          <p:nvPr/>
        </p:nvGrpSpPr>
        <p:grpSpPr>
          <a:xfrm>
            <a:off x="9182100" y="5511800"/>
            <a:ext cx="2286000" cy="190500"/>
            <a:chOff x="9182100" y="5511800"/>
            <a:chExt cx="2286000" cy="190500"/>
          </a:xfrm>
        </p:grpSpPr>
        <p:sp>
          <p:nvSpPr>
            <p:cNvPr id="94" name="node35.text"/>
            <p:cNvSpPr/>
            <p:nvPr/>
          </p:nvSpPr>
          <p:spPr>
            <a:xfrm>
              <a:off x="9182100" y="55118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Standards as templates</a:t>
              </a:r>
              <a:endParaRPr lang="en-US" sz="1100" spc="0" kern="0" b="0" i="0" dirty="0">
                <a:solidFill>
                  <a:srgbClr val="070154"/>
                </a:solidFill>
                <a:latin typeface="IBM Plex Sans"/>
                <a:ea typeface="IBM Plex Sans"/>
                <a:cs typeface="IBM Plex Sans"/>
              </a:endParaRPr>
            </a:p>
          </p:txBody>
        </p:sp>
      </p:grpSp>
      <p:grpSp>
        <p:nvGrpSpPr>
          <p:cNvPr id="149" name="node36"/>
          <p:cNvGrpSpPr/>
          <p:nvPr/>
        </p:nvGrpSpPr>
        <p:grpSpPr>
          <a:xfrm>
            <a:off x="4910379" y="2489200"/>
            <a:ext cx="85242" cy="254000"/>
            <a:chOff x="4910379" y="2489200"/>
            <a:chExt cx="85242" cy="254000"/>
          </a:xfrm>
        </p:grpSpPr>
        <p:sp>
          <p:nvSpPr>
            <p:cNvPr id="95" name="node36.segment-1"/>
            <p:cNvSpPr/>
            <p:nvPr/>
          </p:nvSpPr>
          <p:spPr>
            <a:xfrm>
              <a:off x="4953000" y="2489200"/>
              <a:ext cx="0" cy="254000"/>
            </a:xfrm>
            <a:custGeom>
              <a:avLst/>
              <a:gdLst/>
              <a:ahLst/>
              <a:cxnLst/>
              <a:rect l="l" t="t" r="r" b="b"/>
              <a:pathLst>
                <a:path h="254000">
                  <a:moveTo>
                    <a:pt x="0" y="0"/>
                  </a:moveTo>
                  <a:lnTo>
                    <a:pt x="0" y="254000"/>
                  </a:lnTo>
                </a:path>
              </a:pathLst>
            </a:custGeom>
            <a:ln w="19050">
              <a:solidFill>
                <a:srgbClr val="070154"/>
              </a:solidFill>
              <a:prstDash val="sysDot"/>
            </a:ln>
          </p:spPr>
        </p:sp>
        <p:sp>
          <p:nvSpPr>
            <p:cNvPr id="96" name="node36.head-end.0"/>
            <p:cNvSpPr/>
            <p:nvPr/>
          </p:nvSpPr>
          <p:spPr>
            <a:xfrm>
              <a:off x="4910379" y="2665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97" name="node36.head-end.1"/>
            <p:cNvSpPr/>
            <p:nvPr/>
          </p:nvSpPr>
          <p:spPr>
            <a:xfrm>
              <a:off x="4953000" y="2665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0" name="node37"/>
          <p:cNvGrpSpPr/>
          <p:nvPr/>
        </p:nvGrpSpPr>
        <p:grpSpPr>
          <a:xfrm>
            <a:off x="7539279" y="2489200"/>
            <a:ext cx="85242" cy="254000"/>
            <a:chOff x="7539279" y="2489200"/>
            <a:chExt cx="85242" cy="254000"/>
          </a:xfrm>
        </p:grpSpPr>
        <p:sp>
          <p:nvSpPr>
            <p:cNvPr id="98" name="node37.segment-1"/>
            <p:cNvSpPr/>
            <p:nvPr/>
          </p:nvSpPr>
          <p:spPr>
            <a:xfrm>
              <a:off x="7581900" y="2489200"/>
              <a:ext cx="0" cy="254000"/>
            </a:xfrm>
            <a:custGeom>
              <a:avLst/>
              <a:gdLst/>
              <a:ahLst/>
              <a:cxnLst/>
              <a:rect l="l" t="t" r="r" b="b"/>
              <a:pathLst>
                <a:path h="254000">
                  <a:moveTo>
                    <a:pt x="0" y="0"/>
                  </a:moveTo>
                  <a:lnTo>
                    <a:pt x="0" y="254000"/>
                  </a:lnTo>
                </a:path>
              </a:pathLst>
            </a:custGeom>
            <a:ln w="19050">
              <a:solidFill>
                <a:srgbClr val="070154"/>
              </a:solidFill>
              <a:prstDash val="sysDot"/>
            </a:ln>
          </p:spPr>
        </p:sp>
        <p:sp>
          <p:nvSpPr>
            <p:cNvPr id="99" name="node37.head-end.0"/>
            <p:cNvSpPr/>
            <p:nvPr/>
          </p:nvSpPr>
          <p:spPr>
            <a:xfrm>
              <a:off x="7539279" y="2665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100" name="node37.head-end.1"/>
            <p:cNvSpPr/>
            <p:nvPr/>
          </p:nvSpPr>
          <p:spPr>
            <a:xfrm>
              <a:off x="7581900" y="2665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1" name="node38"/>
          <p:cNvGrpSpPr/>
          <p:nvPr/>
        </p:nvGrpSpPr>
        <p:grpSpPr>
          <a:xfrm>
            <a:off x="10396779" y="2489200"/>
            <a:ext cx="85242" cy="254000"/>
            <a:chOff x="10396779" y="2489200"/>
            <a:chExt cx="85242" cy="254000"/>
          </a:xfrm>
        </p:grpSpPr>
        <p:sp>
          <p:nvSpPr>
            <p:cNvPr id="101" name="node38.segment-1"/>
            <p:cNvSpPr/>
            <p:nvPr/>
          </p:nvSpPr>
          <p:spPr>
            <a:xfrm>
              <a:off x="10439400" y="2489200"/>
              <a:ext cx="0" cy="254000"/>
            </a:xfrm>
            <a:custGeom>
              <a:avLst/>
              <a:gdLst/>
              <a:ahLst/>
              <a:cxnLst/>
              <a:rect l="l" t="t" r="r" b="b"/>
              <a:pathLst>
                <a:path h="254000">
                  <a:moveTo>
                    <a:pt x="0" y="0"/>
                  </a:moveTo>
                  <a:lnTo>
                    <a:pt x="0" y="254000"/>
                  </a:lnTo>
                </a:path>
              </a:pathLst>
            </a:custGeom>
            <a:ln w="19050">
              <a:solidFill>
                <a:srgbClr val="070154"/>
              </a:solidFill>
              <a:prstDash val="sysDot"/>
            </a:ln>
          </p:spPr>
        </p:sp>
        <p:sp>
          <p:nvSpPr>
            <p:cNvPr id="102" name="node38.head-end.0"/>
            <p:cNvSpPr/>
            <p:nvPr/>
          </p:nvSpPr>
          <p:spPr>
            <a:xfrm>
              <a:off x="10396779" y="2665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103" name="node38.head-end.1"/>
            <p:cNvSpPr/>
            <p:nvPr/>
          </p:nvSpPr>
          <p:spPr>
            <a:xfrm>
              <a:off x="10439400" y="2665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2" name="node39"/>
          <p:cNvGrpSpPr/>
          <p:nvPr/>
        </p:nvGrpSpPr>
        <p:grpSpPr>
          <a:xfrm>
            <a:off x="8953500" y="3805479"/>
            <a:ext cx="685800" cy="237642"/>
            <a:chOff x="8953500" y="3805479"/>
            <a:chExt cx="685800" cy="237642"/>
          </a:xfrm>
        </p:grpSpPr>
        <p:sp>
          <p:nvSpPr>
            <p:cNvPr id="104" name="node39.segment-1"/>
            <p:cNvSpPr/>
            <p:nvPr/>
          </p:nvSpPr>
          <p:spPr>
            <a:xfrm>
              <a:off x="8953500" y="4000500"/>
              <a:ext cx="342900" cy="0"/>
            </a:xfrm>
            <a:custGeom>
              <a:avLst/>
              <a:gdLst/>
              <a:ahLst/>
              <a:cxnLst/>
              <a:rect l="l" t="t" r="r" b="b"/>
              <a:pathLst>
                <a:path w="342900">
                  <a:moveTo>
                    <a:pt x="0" y="0"/>
                  </a:moveTo>
                  <a:lnTo>
                    <a:pt x="342900" y="0"/>
                  </a:lnTo>
                </a:path>
              </a:pathLst>
            </a:custGeom>
            <a:ln w="12700">
              <a:solidFill>
                <a:srgbClr val="070154"/>
              </a:solidFill>
              <a:prstDash val="solid"/>
            </a:ln>
          </p:spPr>
        </p:sp>
        <p:sp>
          <p:nvSpPr>
            <p:cNvPr id="105" name="node39.segment-2"/>
            <p:cNvSpPr/>
            <p:nvPr/>
          </p:nvSpPr>
          <p:spPr>
            <a:xfrm>
              <a:off x="9296400" y="3848100"/>
              <a:ext cx="0" cy="152400"/>
            </a:xfrm>
            <a:custGeom>
              <a:avLst/>
              <a:gdLst/>
              <a:ahLst/>
              <a:cxnLst/>
              <a:rect l="l" t="t" r="r" b="b"/>
              <a:pathLst>
                <a:path h="152400">
                  <a:moveTo>
                    <a:pt x="0" y="152400"/>
                  </a:moveTo>
                  <a:lnTo>
                    <a:pt x="0" y="0"/>
                  </a:lnTo>
                </a:path>
              </a:pathLst>
            </a:custGeom>
            <a:ln w="12700">
              <a:solidFill>
                <a:srgbClr val="070154"/>
              </a:solidFill>
              <a:prstDash val="solid"/>
            </a:ln>
          </p:spPr>
        </p:sp>
        <p:sp>
          <p:nvSpPr>
            <p:cNvPr id="106" name="node39.segment-3"/>
            <p:cNvSpPr/>
            <p:nvPr/>
          </p:nvSpPr>
          <p:spPr>
            <a:xfrm>
              <a:off x="9296400" y="3848100"/>
              <a:ext cx="342900" cy="0"/>
            </a:xfrm>
            <a:custGeom>
              <a:avLst/>
              <a:gdLst/>
              <a:ahLst/>
              <a:cxnLst/>
              <a:rect l="l" t="t" r="r" b="b"/>
              <a:pathLst>
                <a:path w="342900">
                  <a:moveTo>
                    <a:pt x="0" y="0"/>
                  </a:moveTo>
                  <a:lnTo>
                    <a:pt x="342900" y="0"/>
                  </a:lnTo>
                </a:path>
              </a:pathLst>
            </a:custGeom>
            <a:ln w="12700">
              <a:solidFill>
                <a:srgbClr val="070154"/>
              </a:solidFill>
              <a:prstDash val="solid"/>
            </a:ln>
          </p:spPr>
        </p:sp>
        <p:sp>
          <p:nvSpPr>
            <p:cNvPr id="107" name="node39.head-end.0"/>
            <p:cNvSpPr/>
            <p:nvPr/>
          </p:nvSpPr>
          <p:spPr>
            <a:xfrm>
              <a:off x="9561283" y="38481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108" name="node39.head-end.1"/>
            <p:cNvSpPr/>
            <p:nvPr/>
          </p:nvSpPr>
          <p:spPr>
            <a:xfrm>
              <a:off x="9561283" y="38054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109" name="node39.head-start.0"/>
            <p:cNvSpPr/>
            <p:nvPr/>
          </p:nvSpPr>
          <p:spPr>
            <a:xfrm>
              <a:off x="8953500" y="39578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110" name="node39.head-start.1"/>
            <p:cNvSpPr/>
            <p:nvPr/>
          </p:nvSpPr>
          <p:spPr>
            <a:xfrm>
              <a:off x="8953500" y="40005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53" name="wm.library-stamp"/>
          <p:cNvGrpSpPr/>
          <p:nvPr/>
        </p:nvGrpSpPr>
        <p:grpSpPr>
          <a:xfrm>
            <a:off x="10468880" y="419100"/>
            <a:ext cx="999220" cy="228600"/>
            <a:chOff x="10468880" y="419100"/>
            <a:chExt cx="999220" cy="228600"/>
          </a:xfrm>
        </p:grpSpPr>
        <p:sp>
          <p:nvSpPr>
            <p:cNvPr id="111" name="wm.library-stamp.outline"/>
            <p:cNvSpPr/>
            <p:nvPr/>
          </p:nvSpPr>
          <p:spPr>
            <a:xfrm>
              <a:off x="10468880" y="419100"/>
              <a:ext cx="999220" cy="228600"/>
            </a:xfrm>
            <a:prstGeom prst="rect">
              <a:avLst/>
            </a:prstGeom>
            <a:ln w="9525">
              <a:solidFill>
                <a:srgbClr val="070154"/>
              </a:solidFill>
              <a:prstDash val="solid"/>
            </a:ln>
          </p:spPr>
        </p:sp>
        <p:sp>
          <p:nvSpPr>
            <p:cNvPr id="112" name="wm.library-stamp.text"/>
            <p:cNvSpPr/>
            <p:nvPr/>
          </p:nvSpPr>
          <p:spPr>
            <a:xfrm>
              <a:off x="10545080" y="457200"/>
              <a:ext cx="846820" cy="152400"/>
            </a:xfrm>
            <a:prstGeom prst="rect">
              <a:avLst/>
            </a:prstGeom>
            <a:noFill/>
            <a:ln/>
          </p:spPr>
          <p:txBody>
            <a:bodyPr wrap="square" lIns="0" tIns="0" rIns="0" bIns="0" rtlCol="0" anchor="t"/>
            <a:lstStyle/>
            <a:p>
              <a:pPr algn="l" indent="0" marL="0">
                <a:lnSpc>
                  <a:spcPts val="1200"/>
                </a:lnSpc>
                <a:buNone/>
              </a:pPr>
              <a:r>
                <a:rPr lang="en-US" sz="800" spc="64" kern="0" b="0" i="0" dirty="0">
                  <a:solidFill>
                    <a:srgbClr val="070154"/>
                  </a:solidFill>
                  <a:latin typeface="IBM Plex Mono SemiBold"/>
                  <a:ea typeface="IBM Plex Mono SemiBold"/>
                  <a:cs typeface="IBM Plex Mono SemiBold"/>
                </a:rPr>
                <a:t>ILLUSTRATIVE</a:t>
              </a:r>
              <a:endParaRPr lang="en-US" sz="800" spc="64" kern="0" b="0" i="0" dirty="0">
                <a:solidFill>
                  <a:srgbClr val="070154"/>
                </a:solidFill>
                <a:latin typeface="IBM Plex Mono SemiBold"/>
                <a:ea typeface="IBM Plex Mono SemiBold"/>
                <a:cs typeface="IBM Plex Mono SemiBold"/>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ource-03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TARGET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tiers let us change one layer in isolation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89</a:t>
            </a:fld>
            <a:endParaRPr lang="en-US" sz="700" spc="0" kern="0" b="0" i="0" dirty="0">
              <a:solidFill>
                <a:srgbClr val="070154"/>
              </a:solidFill>
              <a:latin typeface="IBM Plex Mono SemiBold"/>
              <a:ea typeface="IBM Plex Mono SemiBold"/>
              <a:cs typeface="IBM Plex Mono SemiBold"/>
            </a:endParaRPr>
          </a:p>
        </p:txBody>
      </p:sp>
      <p:grpSp>
        <p:nvGrpSpPr>
          <p:cNvPr id="54" name="node01"/>
          <p:cNvGrpSpPr/>
          <p:nvPr/>
        </p:nvGrpSpPr>
        <p:grpSpPr>
          <a:xfrm>
            <a:off x="723900" y="1600200"/>
            <a:ext cx="6858000" cy="4114800"/>
            <a:chOff x="723900" y="1600200"/>
            <a:chExt cx="6858000" cy="4114800"/>
          </a:xfrm>
        </p:grpSpPr>
        <p:sp>
          <p:nvSpPr>
            <p:cNvPr id="7" name="node01.surface"/>
            <p:cNvSpPr/>
            <p:nvPr/>
          </p:nvSpPr>
          <p:spPr>
            <a:xfrm>
              <a:off x="723900" y="1600200"/>
              <a:ext cx="6858000" cy="4114800"/>
            </a:xfrm>
            <a:prstGeom prst="rect">
              <a:avLst/>
            </a:prstGeom>
            <a:solidFill>
              <a:srgbClr val="E8EEF8"/>
            </a:solidFill>
            <a:ln>
              <a:noFill/>
            </a:ln>
          </p:spPr>
        </p:sp>
      </p:grpSp>
      <p:grpSp>
        <p:nvGrpSpPr>
          <p:cNvPr id="55" name="node02"/>
          <p:cNvGrpSpPr/>
          <p:nvPr/>
        </p:nvGrpSpPr>
        <p:grpSpPr>
          <a:xfrm>
            <a:off x="952500" y="1828800"/>
            <a:ext cx="1828800" cy="2971800"/>
            <a:chOff x="952500" y="1828800"/>
            <a:chExt cx="1828800" cy="2971800"/>
          </a:xfrm>
        </p:grpSpPr>
        <p:sp>
          <p:nvSpPr>
            <p:cNvPr id="8" name="node02.container"/>
            <p:cNvSpPr/>
            <p:nvPr/>
          </p:nvSpPr>
          <p:spPr>
            <a:xfrm>
              <a:off x="952500" y="1828800"/>
              <a:ext cx="1828800" cy="2971800"/>
            </a:xfrm>
            <a:prstGeom prst="rect">
              <a:avLst/>
            </a:prstGeom>
            <a:solidFill>
              <a:srgbClr val="FFFFFF"/>
            </a:solidFill>
            <a:ln>
              <a:noFill/>
            </a:ln>
          </p:spPr>
        </p:sp>
        <p:sp>
          <p:nvSpPr>
            <p:cNvPr id="9" name="node02.edge"/>
            <p:cNvSpPr/>
            <p:nvPr/>
          </p:nvSpPr>
          <p:spPr>
            <a:xfrm>
              <a:off x="952500" y="1828800"/>
              <a:ext cx="38100" cy="2971800"/>
            </a:xfrm>
            <a:prstGeom prst="rect">
              <a:avLst/>
            </a:prstGeom>
            <a:solidFill>
              <a:srgbClr val="070154"/>
            </a:solidFill>
            <a:ln>
              <a:noFill/>
            </a:ln>
          </p:spPr>
        </p:sp>
        <p:sp>
          <p:nvSpPr>
            <p:cNvPr id="10" name="node02.label"/>
            <p:cNvSpPr/>
            <p:nvPr/>
          </p:nvSpPr>
          <p:spPr>
            <a:xfrm>
              <a:off x="1143000" y="1981200"/>
              <a:ext cx="14859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ACROSS ALL LAYERS</a:t>
              </a:r>
              <a:endParaRPr lang="en-US" sz="800" spc="48" kern="0" b="0" i="0" dirty="0">
                <a:solidFill>
                  <a:srgbClr val="0047FF"/>
                </a:solidFill>
                <a:latin typeface="IBM Plex Mono Medium"/>
                <a:ea typeface="IBM Plex Mono Medium"/>
                <a:cs typeface="IBM Plex Mono Medium"/>
              </a:endParaRPr>
            </a:p>
          </p:txBody>
        </p:sp>
        <p:sp>
          <p:nvSpPr>
            <p:cNvPr id="11" name="node02.title"/>
            <p:cNvSpPr/>
            <p:nvPr/>
          </p:nvSpPr>
          <p:spPr>
            <a:xfrm>
              <a:off x="1143000" y="2197100"/>
              <a:ext cx="14859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Shared controls</a:t>
              </a:r>
              <a:endParaRPr lang="en-US" sz="1600" spc="-16" kern="0" b="0" i="0" dirty="0">
                <a:solidFill>
                  <a:srgbClr val="070154"/>
                </a:solidFill>
                <a:latin typeface="IBM Plex Sans SemiBold"/>
                <a:ea typeface="IBM Plex Sans SemiBold"/>
                <a:cs typeface="IBM Plex Sans SemiBold"/>
              </a:endParaRPr>
            </a:p>
          </p:txBody>
        </p:sp>
        <p:sp>
          <p:nvSpPr>
            <p:cNvPr id="12" name="node02.body.item-001.bullets.item-001.marker"/>
            <p:cNvSpPr/>
            <p:nvPr/>
          </p:nvSpPr>
          <p:spPr>
            <a:xfrm>
              <a:off x="1143000" y="2705100"/>
              <a:ext cx="38100" cy="38100"/>
            </a:xfrm>
            <a:prstGeom prst="rect">
              <a:avLst/>
            </a:prstGeom>
            <a:solidFill>
              <a:srgbClr val="070154"/>
            </a:solidFill>
            <a:ln>
              <a:noFill/>
            </a:ln>
          </p:spPr>
        </p:sp>
        <p:sp>
          <p:nvSpPr>
            <p:cNvPr id="13" name="node02.body.item-001.bullets.item-001.text"/>
            <p:cNvSpPr/>
            <p:nvPr/>
          </p:nvSpPr>
          <p:spPr>
            <a:xfrm>
              <a:off x="1295400" y="2616200"/>
              <a:ext cx="1333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Identity and access</a:t>
              </a:r>
              <a:endParaRPr lang="en-US" sz="1200" spc="0" kern="0" b="0" i="0" dirty="0">
                <a:solidFill>
                  <a:srgbClr val="070154"/>
                </a:solidFill>
                <a:latin typeface="IBM Plex Sans"/>
                <a:ea typeface="IBM Plex Sans"/>
                <a:cs typeface="IBM Plex Sans"/>
              </a:endParaRPr>
            </a:p>
          </p:txBody>
        </p:sp>
        <p:sp>
          <p:nvSpPr>
            <p:cNvPr id="14" name="node02.body.item-001.bullets.item-002.marker"/>
            <p:cNvSpPr/>
            <p:nvPr/>
          </p:nvSpPr>
          <p:spPr>
            <a:xfrm>
              <a:off x="1143000" y="3175000"/>
              <a:ext cx="38100" cy="38100"/>
            </a:xfrm>
            <a:prstGeom prst="rect">
              <a:avLst/>
            </a:prstGeom>
            <a:solidFill>
              <a:srgbClr val="070154"/>
            </a:solidFill>
            <a:ln>
              <a:noFill/>
            </a:ln>
          </p:spPr>
        </p:sp>
        <p:sp>
          <p:nvSpPr>
            <p:cNvPr id="15" name="node02.body.item-001.bullets.item-002.text"/>
            <p:cNvSpPr/>
            <p:nvPr/>
          </p:nvSpPr>
          <p:spPr>
            <a:xfrm>
              <a:off x="1295400" y="3086100"/>
              <a:ext cx="1333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Encryption</a:t>
              </a:r>
              <a:endParaRPr lang="en-US" sz="1200" spc="0" kern="0" b="0" i="0" dirty="0">
                <a:solidFill>
                  <a:srgbClr val="070154"/>
                </a:solidFill>
                <a:latin typeface="IBM Plex Sans"/>
                <a:ea typeface="IBM Plex Sans"/>
                <a:cs typeface="IBM Plex Sans"/>
              </a:endParaRPr>
            </a:p>
          </p:txBody>
        </p:sp>
        <p:sp>
          <p:nvSpPr>
            <p:cNvPr id="16" name="node02.body.item-001.bullets.item-003.marker"/>
            <p:cNvSpPr/>
            <p:nvPr/>
          </p:nvSpPr>
          <p:spPr>
            <a:xfrm>
              <a:off x="1143000" y="3429000"/>
              <a:ext cx="38100" cy="38100"/>
            </a:xfrm>
            <a:prstGeom prst="rect">
              <a:avLst/>
            </a:prstGeom>
            <a:solidFill>
              <a:srgbClr val="070154"/>
            </a:solidFill>
            <a:ln>
              <a:noFill/>
            </a:ln>
          </p:spPr>
        </p:sp>
        <p:sp>
          <p:nvSpPr>
            <p:cNvPr id="17" name="node02.body.item-001.bullets.item-003.text"/>
            <p:cNvSpPr/>
            <p:nvPr/>
          </p:nvSpPr>
          <p:spPr>
            <a:xfrm>
              <a:off x="1295400" y="3340100"/>
              <a:ext cx="1333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Monitoring</a:t>
              </a:r>
              <a:endParaRPr lang="en-US" sz="1200" spc="0" kern="0" b="0" i="0" dirty="0">
                <a:solidFill>
                  <a:srgbClr val="070154"/>
                </a:solidFill>
                <a:latin typeface="IBM Plex Sans"/>
                <a:ea typeface="IBM Plex Sans"/>
                <a:cs typeface="IBM Plex Sans"/>
              </a:endParaRPr>
            </a:p>
          </p:txBody>
        </p:sp>
        <p:sp>
          <p:nvSpPr>
            <p:cNvPr id="18" name="node02.body.item-001.bullets.item-004.marker"/>
            <p:cNvSpPr/>
            <p:nvPr/>
          </p:nvSpPr>
          <p:spPr>
            <a:xfrm>
              <a:off x="1143000" y="3683000"/>
              <a:ext cx="38100" cy="38100"/>
            </a:xfrm>
            <a:prstGeom prst="rect">
              <a:avLst/>
            </a:prstGeom>
            <a:solidFill>
              <a:srgbClr val="070154"/>
            </a:solidFill>
            <a:ln>
              <a:noFill/>
            </a:ln>
          </p:spPr>
        </p:sp>
        <p:sp>
          <p:nvSpPr>
            <p:cNvPr id="19" name="node02.body.item-001.bullets.item-004.text"/>
            <p:cNvSpPr/>
            <p:nvPr/>
          </p:nvSpPr>
          <p:spPr>
            <a:xfrm>
              <a:off x="1295400" y="3594100"/>
              <a:ext cx="1333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Audit trail</a:t>
              </a:r>
              <a:endParaRPr lang="en-US" sz="1200" spc="0" kern="0" b="0" i="0" dirty="0">
                <a:solidFill>
                  <a:srgbClr val="070154"/>
                </a:solidFill>
                <a:latin typeface="IBM Plex Sans"/>
                <a:ea typeface="IBM Plex Sans"/>
                <a:cs typeface="IBM Plex Sans"/>
              </a:endParaRPr>
            </a:p>
          </p:txBody>
        </p:sp>
      </p:grpSp>
      <p:grpSp>
        <p:nvGrpSpPr>
          <p:cNvPr id="56" name="node03"/>
          <p:cNvGrpSpPr/>
          <p:nvPr/>
        </p:nvGrpSpPr>
        <p:grpSpPr>
          <a:xfrm>
            <a:off x="2781300" y="2400300"/>
            <a:ext cx="228600" cy="1"/>
            <a:chOff x="2781300" y="2400300"/>
            <a:chExt cx="228600" cy="1"/>
          </a:xfrm>
        </p:grpSpPr>
        <p:sp>
          <p:nvSpPr>
            <p:cNvPr id="20" name="node03.segment-1"/>
            <p:cNvSpPr/>
            <p:nvPr/>
          </p:nvSpPr>
          <p:spPr>
            <a:xfrm>
              <a:off x="2781300" y="24003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57" name="node04"/>
          <p:cNvGrpSpPr/>
          <p:nvPr/>
        </p:nvGrpSpPr>
        <p:grpSpPr>
          <a:xfrm>
            <a:off x="2781300" y="3314700"/>
            <a:ext cx="228600" cy="1"/>
            <a:chOff x="2781300" y="3314700"/>
            <a:chExt cx="228600" cy="1"/>
          </a:xfrm>
        </p:grpSpPr>
        <p:sp>
          <p:nvSpPr>
            <p:cNvPr id="21" name="node04.segment-1"/>
            <p:cNvSpPr/>
            <p:nvPr/>
          </p:nvSpPr>
          <p:spPr>
            <a:xfrm>
              <a:off x="2781300" y="33147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58" name="node05"/>
          <p:cNvGrpSpPr/>
          <p:nvPr/>
        </p:nvGrpSpPr>
        <p:grpSpPr>
          <a:xfrm>
            <a:off x="2781300" y="4229100"/>
            <a:ext cx="228600" cy="1"/>
            <a:chOff x="2781300" y="4229100"/>
            <a:chExt cx="228600" cy="1"/>
          </a:xfrm>
        </p:grpSpPr>
        <p:sp>
          <p:nvSpPr>
            <p:cNvPr id="22" name="node05.segment-1"/>
            <p:cNvSpPr/>
            <p:nvPr/>
          </p:nvSpPr>
          <p:spPr>
            <a:xfrm>
              <a:off x="2781300" y="42291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59" name="node06"/>
          <p:cNvGrpSpPr/>
          <p:nvPr/>
        </p:nvGrpSpPr>
        <p:grpSpPr>
          <a:xfrm>
            <a:off x="3009900" y="3657600"/>
            <a:ext cx="4343400" cy="1143000"/>
            <a:chOff x="3009900" y="3657600"/>
            <a:chExt cx="4343400" cy="1143000"/>
          </a:xfrm>
        </p:grpSpPr>
        <p:sp>
          <p:nvSpPr>
            <p:cNvPr id="23" name="node06.plane"/>
            <p:cNvSpPr/>
            <p:nvPr/>
          </p:nvSpPr>
          <p:spPr>
            <a:xfrm>
              <a:off x="3009900" y="3657600"/>
              <a:ext cx="4343400" cy="1143000"/>
            </a:xfrm>
            <a:custGeom>
              <a:avLst/>
              <a:gdLst/>
              <a:ahLst/>
              <a:cxnLst/>
              <a:rect l="l" t="t" r="r" b="b"/>
              <a:pathLst>
                <a:path w="4343400" h="1143000">
                  <a:moveTo>
                    <a:pt x="0" y="571500"/>
                  </a:moveTo>
                  <a:lnTo>
                    <a:pt x="2171700" y="0"/>
                  </a:lnTo>
                  <a:lnTo>
                    <a:pt x="4343400" y="571500"/>
                  </a:lnTo>
                  <a:lnTo>
                    <a:pt x="2171700" y="1143000"/>
                  </a:lnTo>
                  <a:close/>
                </a:path>
              </a:pathLst>
            </a:custGeom>
            <a:solidFill>
              <a:srgbClr val="FFFFFF"/>
            </a:solidFill>
            <a:ln w="9525">
              <a:solidFill>
                <a:srgbClr val="070154"/>
              </a:solidFill>
              <a:prstDash val="solid"/>
            </a:ln>
          </p:spPr>
        </p:sp>
        <p:sp>
          <p:nvSpPr>
            <p:cNvPr id="24" name="node06.label"/>
            <p:cNvSpPr/>
            <p:nvPr/>
          </p:nvSpPr>
          <p:spPr>
            <a:xfrm>
              <a:off x="3878580" y="4013200"/>
              <a:ext cx="260604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DATA ACCESS LAYER</a:t>
              </a:r>
              <a:endParaRPr lang="en-US" sz="800" spc="48" kern="0" b="0" i="0" dirty="0">
                <a:solidFill>
                  <a:srgbClr val="070154"/>
                </a:solidFill>
                <a:latin typeface="IBM Plex Mono Medium"/>
                <a:ea typeface="IBM Plex Mono Medium"/>
                <a:cs typeface="IBM Plex Mono Medium"/>
              </a:endParaRPr>
            </a:p>
          </p:txBody>
        </p:sp>
        <p:sp>
          <p:nvSpPr>
            <p:cNvPr id="25" name="node06.text"/>
            <p:cNvSpPr/>
            <p:nvPr/>
          </p:nvSpPr>
          <p:spPr>
            <a:xfrm>
              <a:off x="3878580" y="4178300"/>
              <a:ext cx="260604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070154"/>
                  </a:solidFill>
                  <a:latin typeface="IBM Plex Sans SemiBold"/>
                  <a:ea typeface="IBM Plex Sans SemiBold"/>
                  <a:cs typeface="IBM Plex Sans SemiBold"/>
                </a:rPr>
                <a:t>PostgreSQL access</a:t>
              </a:r>
              <a:endParaRPr lang="en-US" sz="1600" spc="-16" kern="0" b="0" i="0" dirty="0">
                <a:solidFill>
                  <a:srgbClr val="070154"/>
                </a:solidFill>
                <a:latin typeface="IBM Plex Sans SemiBold"/>
                <a:ea typeface="IBM Plex Sans SemiBold"/>
                <a:cs typeface="IBM Plex Sans SemiBold"/>
              </a:endParaRPr>
            </a:p>
          </p:txBody>
        </p:sp>
      </p:grpSp>
      <p:grpSp>
        <p:nvGrpSpPr>
          <p:cNvPr id="60" name="node07"/>
          <p:cNvGrpSpPr/>
          <p:nvPr/>
        </p:nvGrpSpPr>
        <p:grpSpPr>
          <a:xfrm>
            <a:off x="3009900" y="2743200"/>
            <a:ext cx="4343400" cy="1143000"/>
            <a:chOff x="3009900" y="2743200"/>
            <a:chExt cx="4343400" cy="1143000"/>
          </a:xfrm>
        </p:grpSpPr>
        <p:sp>
          <p:nvSpPr>
            <p:cNvPr id="26" name="node07.plane"/>
            <p:cNvSpPr/>
            <p:nvPr/>
          </p:nvSpPr>
          <p:spPr>
            <a:xfrm>
              <a:off x="3009900" y="2743200"/>
              <a:ext cx="4343400" cy="1143000"/>
            </a:xfrm>
            <a:custGeom>
              <a:avLst/>
              <a:gdLst/>
              <a:ahLst/>
              <a:cxnLst/>
              <a:rect l="l" t="t" r="r" b="b"/>
              <a:pathLst>
                <a:path w="4343400" h="1143000">
                  <a:moveTo>
                    <a:pt x="0" y="571500"/>
                  </a:moveTo>
                  <a:lnTo>
                    <a:pt x="2171700" y="0"/>
                  </a:lnTo>
                  <a:lnTo>
                    <a:pt x="4343400" y="571500"/>
                  </a:lnTo>
                  <a:lnTo>
                    <a:pt x="2171700" y="1143000"/>
                  </a:lnTo>
                  <a:close/>
                </a:path>
              </a:pathLst>
            </a:custGeom>
            <a:solidFill>
              <a:srgbClr val="CED7E6"/>
            </a:solidFill>
            <a:ln w="9525">
              <a:solidFill>
                <a:srgbClr val="070154"/>
              </a:solidFill>
              <a:prstDash val="solid"/>
            </a:ln>
          </p:spPr>
        </p:sp>
        <p:sp>
          <p:nvSpPr>
            <p:cNvPr id="27" name="node07.label"/>
            <p:cNvSpPr/>
            <p:nvPr/>
          </p:nvSpPr>
          <p:spPr>
            <a:xfrm>
              <a:off x="3878580" y="3098800"/>
              <a:ext cx="260604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API LAYER</a:t>
              </a:r>
              <a:endParaRPr lang="en-US" sz="800" spc="48" kern="0" b="0" i="0" dirty="0">
                <a:solidFill>
                  <a:srgbClr val="070154"/>
                </a:solidFill>
                <a:latin typeface="IBM Plex Mono Medium"/>
                <a:ea typeface="IBM Plex Mono Medium"/>
                <a:cs typeface="IBM Plex Mono Medium"/>
              </a:endParaRPr>
            </a:p>
          </p:txBody>
        </p:sp>
        <p:sp>
          <p:nvSpPr>
            <p:cNvPr id="28" name="node07.text"/>
            <p:cNvSpPr/>
            <p:nvPr/>
          </p:nvSpPr>
          <p:spPr>
            <a:xfrm>
              <a:off x="3878580" y="3263900"/>
              <a:ext cx="260604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070154"/>
                  </a:solidFill>
                  <a:latin typeface="IBM Plex Sans SemiBold"/>
                  <a:ea typeface="IBM Plex Sans SemiBold"/>
                  <a:cs typeface="IBM Plex Sans SemiBold"/>
                </a:rPr>
                <a:t>Domain services</a:t>
              </a:r>
              <a:endParaRPr lang="en-US" sz="1600" spc="-16" kern="0" b="0" i="0" dirty="0">
                <a:solidFill>
                  <a:srgbClr val="070154"/>
                </a:solidFill>
                <a:latin typeface="IBM Plex Sans SemiBold"/>
                <a:ea typeface="IBM Plex Sans SemiBold"/>
                <a:cs typeface="IBM Plex Sans SemiBold"/>
              </a:endParaRPr>
            </a:p>
          </p:txBody>
        </p:sp>
      </p:grpSp>
      <p:grpSp>
        <p:nvGrpSpPr>
          <p:cNvPr id="61" name="node08"/>
          <p:cNvGrpSpPr/>
          <p:nvPr/>
        </p:nvGrpSpPr>
        <p:grpSpPr>
          <a:xfrm>
            <a:off x="3009900" y="1828800"/>
            <a:ext cx="4343400" cy="1143000"/>
            <a:chOff x="3009900" y="1828800"/>
            <a:chExt cx="4343400" cy="1143000"/>
          </a:xfrm>
        </p:grpSpPr>
        <p:sp>
          <p:nvSpPr>
            <p:cNvPr id="29" name="node08.plane"/>
            <p:cNvSpPr/>
            <p:nvPr/>
          </p:nvSpPr>
          <p:spPr>
            <a:xfrm>
              <a:off x="3009900" y="1828800"/>
              <a:ext cx="4343400" cy="1143000"/>
            </a:xfrm>
            <a:custGeom>
              <a:avLst/>
              <a:gdLst/>
              <a:ahLst/>
              <a:cxnLst/>
              <a:rect l="l" t="t" r="r" b="b"/>
              <a:pathLst>
                <a:path w="4343400" h="1143000">
                  <a:moveTo>
                    <a:pt x="0" y="571500"/>
                  </a:moveTo>
                  <a:lnTo>
                    <a:pt x="2171700" y="0"/>
                  </a:lnTo>
                  <a:lnTo>
                    <a:pt x="4343400" y="571500"/>
                  </a:lnTo>
                  <a:lnTo>
                    <a:pt x="2171700" y="1143000"/>
                  </a:lnTo>
                  <a:close/>
                </a:path>
              </a:pathLst>
            </a:custGeom>
            <a:solidFill>
              <a:srgbClr val="070154"/>
            </a:solidFill>
            <a:ln w="9525">
              <a:solidFill>
                <a:srgbClr val="070154"/>
              </a:solidFill>
              <a:prstDash val="solid"/>
            </a:ln>
          </p:spPr>
        </p:sp>
        <p:sp>
          <p:nvSpPr>
            <p:cNvPr id="30" name="node08.label"/>
            <p:cNvSpPr/>
            <p:nvPr/>
          </p:nvSpPr>
          <p:spPr>
            <a:xfrm>
              <a:off x="3878580" y="2184400"/>
              <a:ext cx="260604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USER INTERFACE LAYER</a:t>
              </a:r>
              <a:endParaRPr lang="en-US" sz="800" spc="48" kern="0" b="0" i="0" dirty="0">
                <a:solidFill>
                  <a:srgbClr val="FFFFFF"/>
                </a:solidFill>
                <a:latin typeface="IBM Plex Mono Medium"/>
                <a:ea typeface="IBM Plex Mono Medium"/>
                <a:cs typeface="IBM Plex Mono Medium"/>
              </a:endParaRPr>
            </a:p>
          </p:txBody>
        </p:sp>
        <p:sp>
          <p:nvSpPr>
            <p:cNvPr id="31" name="node08.text"/>
            <p:cNvSpPr/>
            <p:nvPr/>
          </p:nvSpPr>
          <p:spPr>
            <a:xfrm>
              <a:off x="3878580" y="2349500"/>
              <a:ext cx="260604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React and TypeScript</a:t>
              </a:r>
              <a:endParaRPr lang="en-US" sz="1600" spc="-16" kern="0" b="0" i="0" dirty="0">
                <a:solidFill>
                  <a:srgbClr val="FFFFFF"/>
                </a:solidFill>
                <a:latin typeface="IBM Plex Sans SemiBold"/>
                <a:ea typeface="IBM Plex Sans SemiBold"/>
                <a:cs typeface="IBM Plex Sans SemiBold"/>
              </a:endParaRPr>
            </a:p>
          </p:txBody>
        </p:sp>
      </p:grpSp>
      <p:grpSp>
        <p:nvGrpSpPr>
          <p:cNvPr id="62" name="node09"/>
          <p:cNvGrpSpPr/>
          <p:nvPr/>
        </p:nvGrpSpPr>
        <p:grpSpPr>
          <a:xfrm>
            <a:off x="952500" y="5029200"/>
            <a:ext cx="6400800" cy="457200"/>
            <a:chOff x="952500" y="5029200"/>
            <a:chExt cx="6400800" cy="457200"/>
          </a:xfrm>
        </p:grpSpPr>
        <p:sp>
          <p:nvSpPr>
            <p:cNvPr id="32" name="node09.surface"/>
            <p:cNvSpPr/>
            <p:nvPr/>
          </p:nvSpPr>
          <p:spPr>
            <a:xfrm>
              <a:off x="952500" y="5029200"/>
              <a:ext cx="6400800" cy="457200"/>
            </a:xfrm>
            <a:prstGeom prst="rect">
              <a:avLst/>
            </a:prstGeom>
            <a:solidFill>
              <a:srgbClr val="05013F"/>
            </a:solidFill>
            <a:ln>
              <a:noFill/>
            </a:ln>
          </p:spPr>
        </p:sp>
        <p:sp>
          <p:nvSpPr>
            <p:cNvPr id="33" name="node09.label"/>
            <p:cNvSpPr/>
            <p:nvPr/>
          </p:nvSpPr>
          <p:spPr>
            <a:xfrm>
              <a:off x="1104900" y="5187950"/>
              <a:ext cx="1524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FOUNDATION</a:t>
              </a:r>
              <a:endParaRPr lang="en-US" sz="800" spc="48" kern="0" b="0" i="0" dirty="0">
                <a:solidFill>
                  <a:srgbClr val="FFFFFF"/>
                </a:solidFill>
                <a:latin typeface="IBM Plex Mono SemiBold"/>
                <a:ea typeface="IBM Plex Mono SemiBold"/>
                <a:cs typeface="IBM Plex Mono SemiBold"/>
              </a:endParaRPr>
            </a:p>
          </p:txBody>
        </p:sp>
        <p:sp>
          <p:nvSpPr>
            <p:cNvPr id="34" name="node09.text"/>
            <p:cNvSpPr/>
            <p:nvPr/>
          </p:nvSpPr>
          <p:spPr>
            <a:xfrm>
              <a:off x="2781300" y="5162550"/>
              <a:ext cx="4419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Cloud hosting, network and identity</a:t>
              </a:r>
              <a:endParaRPr lang="en-US" sz="1100" spc="0" kern="0" b="0" i="0" dirty="0">
                <a:solidFill>
                  <a:srgbClr val="FFFFFF"/>
                </a:solidFill>
                <a:latin typeface="IBM Plex Sans"/>
                <a:ea typeface="IBM Plex Sans"/>
                <a:cs typeface="IBM Plex Sans"/>
              </a:endParaRPr>
            </a:p>
          </p:txBody>
        </p:sp>
      </p:grpSp>
      <p:grpSp>
        <p:nvGrpSpPr>
          <p:cNvPr id="63" name="node10"/>
          <p:cNvGrpSpPr/>
          <p:nvPr/>
        </p:nvGrpSpPr>
        <p:grpSpPr>
          <a:xfrm>
            <a:off x="7353300" y="3272079"/>
            <a:ext cx="914400" cy="85242"/>
            <a:chOff x="7353300" y="3272079"/>
            <a:chExt cx="914400" cy="85242"/>
          </a:xfrm>
        </p:grpSpPr>
        <p:sp>
          <p:nvSpPr>
            <p:cNvPr id="35" name="node10.segment-1"/>
            <p:cNvSpPr/>
            <p:nvPr/>
          </p:nvSpPr>
          <p:spPr>
            <a:xfrm>
              <a:off x="7353300" y="3314700"/>
              <a:ext cx="914400" cy="0"/>
            </a:xfrm>
            <a:custGeom>
              <a:avLst/>
              <a:gdLst/>
              <a:ahLst/>
              <a:cxnLst/>
              <a:rect l="l" t="t" r="r" b="b"/>
              <a:pathLst>
                <a:path w="914400">
                  <a:moveTo>
                    <a:pt x="0" y="0"/>
                  </a:moveTo>
                  <a:lnTo>
                    <a:pt x="914400" y="0"/>
                  </a:lnTo>
                </a:path>
              </a:pathLst>
            </a:custGeom>
            <a:ln w="12700">
              <a:solidFill>
                <a:srgbClr val="070154"/>
              </a:solidFill>
              <a:prstDash val="solid"/>
            </a:ln>
          </p:spPr>
        </p:sp>
        <p:sp>
          <p:nvSpPr>
            <p:cNvPr id="36" name="node10.head-end.0"/>
            <p:cNvSpPr/>
            <p:nvPr/>
          </p:nvSpPr>
          <p:spPr>
            <a:xfrm>
              <a:off x="8189683" y="33147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7" name="node10.head-end.1"/>
            <p:cNvSpPr/>
            <p:nvPr/>
          </p:nvSpPr>
          <p:spPr>
            <a:xfrm>
              <a:off x="8189683" y="32720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38" name="node10.head-start.0"/>
            <p:cNvSpPr/>
            <p:nvPr/>
          </p:nvSpPr>
          <p:spPr>
            <a:xfrm>
              <a:off x="7353300" y="32720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39" name="node10.head-start.1"/>
            <p:cNvSpPr/>
            <p:nvPr/>
          </p:nvSpPr>
          <p:spPr>
            <a:xfrm>
              <a:off x="7353300" y="33147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64" name="node11"/>
          <p:cNvGrpSpPr/>
          <p:nvPr/>
        </p:nvGrpSpPr>
        <p:grpSpPr>
          <a:xfrm>
            <a:off x="7353300" y="4186479"/>
            <a:ext cx="914400" cy="85242"/>
            <a:chOff x="7353300" y="4186479"/>
            <a:chExt cx="914400" cy="85242"/>
          </a:xfrm>
        </p:grpSpPr>
        <p:sp>
          <p:nvSpPr>
            <p:cNvPr id="40" name="node11.segment-1"/>
            <p:cNvSpPr/>
            <p:nvPr/>
          </p:nvSpPr>
          <p:spPr>
            <a:xfrm>
              <a:off x="7353300" y="4229100"/>
              <a:ext cx="914400" cy="0"/>
            </a:xfrm>
            <a:custGeom>
              <a:avLst/>
              <a:gdLst/>
              <a:ahLst/>
              <a:cxnLst/>
              <a:rect l="l" t="t" r="r" b="b"/>
              <a:pathLst>
                <a:path w="914400">
                  <a:moveTo>
                    <a:pt x="0" y="0"/>
                  </a:moveTo>
                  <a:lnTo>
                    <a:pt x="914400" y="0"/>
                  </a:lnTo>
                </a:path>
              </a:pathLst>
            </a:custGeom>
            <a:ln w="12700">
              <a:solidFill>
                <a:srgbClr val="070154"/>
              </a:solidFill>
              <a:prstDash val="solid"/>
            </a:ln>
          </p:spPr>
        </p:sp>
        <p:sp>
          <p:nvSpPr>
            <p:cNvPr id="41" name="node11.head-end.0"/>
            <p:cNvSpPr/>
            <p:nvPr/>
          </p:nvSpPr>
          <p:spPr>
            <a:xfrm>
              <a:off x="8189683" y="42291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2" name="node11.head-end.1"/>
            <p:cNvSpPr/>
            <p:nvPr/>
          </p:nvSpPr>
          <p:spPr>
            <a:xfrm>
              <a:off x="8189683" y="41864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65" name="node12"/>
          <p:cNvGrpSpPr/>
          <p:nvPr/>
        </p:nvGrpSpPr>
        <p:grpSpPr>
          <a:xfrm>
            <a:off x="8267700" y="2743200"/>
            <a:ext cx="3200400" cy="1143000"/>
            <a:chOff x="8267700" y="2743200"/>
            <a:chExt cx="3200400" cy="1143000"/>
          </a:xfrm>
        </p:grpSpPr>
        <p:sp>
          <p:nvSpPr>
            <p:cNvPr id="43" name="node12.plane"/>
            <p:cNvSpPr/>
            <p:nvPr/>
          </p:nvSpPr>
          <p:spPr>
            <a:xfrm>
              <a:off x="8267700" y="2743200"/>
              <a:ext cx="3200400" cy="1143000"/>
            </a:xfrm>
            <a:custGeom>
              <a:avLst/>
              <a:gdLst/>
              <a:ahLst/>
              <a:cxnLst/>
              <a:rect l="l" t="t" r="r" b="b"/>
              <a:pathLst>
                <a:path w="3200400" h="1143000">
                  <a:moveTo>
                    <a:pt x="0" y="571500"/>
                  </a:moveTo>
                  <a:lnTo>
                    <a:pt x="1600200" y="0"/>
                  </a:lnTo>
                  <a:lnTo>
                    <a:pt x="3200400" y="571500"/>
                  </a:lnTo>
                  <a:lnTo>
                    <a:pt x="1600200" y="1143000"/>
                  </a:lnTo>
                  <a:close/>
                </a:path>
              </a:pathLst>
            </a:custGeom>
            <a:solidFill>
              <a:srgbClr val="E8EEF8"/>
            </a:solidFill>
            <a:ln w="9525">
              <a:solidFill>
                <a:srgbClr val="070154"/>
              </a:solidFill>
              <a:prstDash val="solid"/>
            </a:ln>
          </p:spPr>
        </p:sp>
        <p:sp>
          <p:nvSpPr>
            <p:cNvPr id="44" name="node12.label"/>
            <p:cNvSpPr/>
            <p:nvPr/>
          </p:nvSpPr>
          <p:spPr>
            <a:xfrm>
              <a:off x="8907780" y="3124200"/>
              <a:ext cx="192024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PARTNER INTEGRATIONS</a:t>
              </a:r>
              <a:endParaRPr lang="en-US" sz="800" spc="48" kern="0" b="0" i="0" dirty="0">
                <a:solidFill>
                  <a:srgbClr val="070154"/>
                </a:solidFill>
                <a:latin typeface="IBM Plex Mono Medium"/>
                <a:ea typeface="IBM Plex Mono Medium"/>
                <a:cs typeface="IBM Plex Mono Medium"/>
              </a:endParaRPr>
            </a:p>
          </p:txBody>
        </p:sp>
        <p:sp>
          <p:nvSpPr>
            <p:cNvPr id="45" name="node12.text"/>
            <p:cNvSpPr/>
            <p:nvPr/>
          </p:nvSpPr>
          <p:spPr>
            <a:xfrm>
              <a:off x="8907780" y="3289300"/>
              <a:ext cx="192024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API paths</a:t>
              </a:r>
              <a:endParaRPr lang="en-US" sz="1200" spc="0" kern="0" b="0" i="0" dirty="0">
                <a:solidFill>
                  <a:srgbClr val="070154"/>
                </a:solidFill>
                <a:latin typeface="IBM Plex Sans SemiBold"/>
                <a:ea typeface="IBM Plex Sans SemiBold"/>
                <a:cs typeface="IBM Plex Sans SemiBold"/>
              </a:endParaRPr>
            </a:p>
          </p:txBody>
        </p:sp>
      </p:grpSp>
      <p:grpSp>
        <p:nvGrpSpPr>
          <p:cNvPr id="66" name="node13"/>
          <p:cNvGrpSpPr/>
          <p:nvPr/>
        </p:nvGrpSpPr>
        <p:grpSpPr>
          <a:xfrm>
            <a:off x="8267700" y="3657600"/>
            <a:ext cx="3200400" cy="1143000"/>
            <a:chOff x="8267700" y="3657600"/>
            <a:chExt cx="3200400" cy="1143000"/>
          </a:xfrm>
        </p:grpSpPr>
        <p:sp>
          <p:nvSpPr>
            <p:cNvPr id="46" name="node13.plane"/>
            <p:cNvSpPr/>
            <p:nvPr/>
          </p:nvSpPr>
          <p:spPr>
            <a:xfrm>
              <a:off x="8267700" y="3657600"/>
              <a:ext cx="3200400" cy="1143000"/>
            </a:xfrm>
            <a:custGeom>
              <a:avLst/>
              <a:gdLst/>
              <a:ahLst/>
              <a:cxnLst/>
              <a:rect l="l" t="t" r="r" b="b"/>
              <a:pathLst>
                <a:path w="3200400" h="1143000">
                  <a:moveTo>
                    <a:pt x="0" y="571500"/>
                  </a:moveTo>
                  <a:lnTo>
                    <a:pt x="1600200" y="0"/>
                  </a:lnTo>
                  <a:lnTo>
                    <a:pt x="3200400" y="571500"/>
                  </a:lnTo>
                  <a:lnTo>
                    <a:pt x="1600200" y="1143000"/>
                  </a:lnTo>
                  <a:close/>
                </a:path>
              </a:pathLst>
            </a:custGeom>
            <a:solidFill>
              <a:srgbClr val="E8EEF8"/>
            </a:solidFill>
            <a:ln w="9525">
              <a:solidFill>
                <a:srgbClr val="070154"/>
              </a:solidFill>
              <a:prstDash val="solid"/>
            </a:ln>
          </p:spPr>
        </p:sp>
        <p:sp>
          <p:nvSpPr>
            <p:cNvPr id="47" name="node13.label"/>
            <p:cNvSpPr/>
            <p:nvPr/>
          </p:nvSpPr>
          <p:spPr>
            <a:xfrm>
              <a:off x="8907780" y="4038600"/>
              <a:ext cx="192024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ON-PREMISES DATA</a:t>
              </a:r>
              <a:endParaRPr lang="en-US" sz="800" spc="48" kern="0" b="0" i="0" dirty="0">
                <a:solidFill>
                  <a:srgbClr val="070154"/>
                </a:solidFill>
                <a:latin typeface="IBM Plex Mono Medium"/>
                <a:ea typeface="IBM Plex Mono Medium"/>
                <a:cs typeface="IBM Plex Mono Medium"/>
              </a:endParaRPr>
            </a:p>
          </p:txBody>
        </p:sp>
        <p:sp>
          <p:nvSpPr>
            <p:cNvPr id="48" name="node13.text"/>
            <p:cNvSpPr/>
            <p:nvPr/>
          </p:nvSpPr>
          <p:spPr>
            <a:xfrm>
              <a:off x="8907780" y="4203700"/>
              <a:ext cx="192024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Imaging</a:t>
              </a:r>
              <a:endParaRPr lang="en-US" sz="1200" spc="0" kern="0" b="0" i="0" dirty="0">
                <a:solidFill>
                  <a:srgbClr val="070154"/>
                </a:solidFill>
                <a:latin typeface="IBM Plex Sans SemiBold"/>
                <a:ea typeface="IBM Plex Sans SemiBold"/>
                <a:cs typeface="IBM Plex Sans SemiBold"/>
              </a:endParaRPr>
            </a:p>
          </p:txBody>
        </p:sp>
      </p:grpSp>
      <p:grpSp>
        <p:nvGrpSpPr>
          <p:cNvPr id="67" name="node14"/>
          <p:cNvGrpSpPr/>
          <p:nvPr/>
        </p:nvGrpSpPr>
        <p:grpSpPr>
          <a:xfrm>
            <a:off x="8267700" y="1600200"/>
            <a:ext cx="3200400" cy="914400"/>
            <a:chOff x="8267700" y="1600200"/>
            <a:chExt cx="3200400" cy="914400"/>
          </a:xfrm>
        </p:grpSpPr>
        <p:sp>
          <p:nvSpPr>
            <p:cNvPr id="49" name="node14.surface"/>
            <p:cNvSpPr/>
            <p:nvPr/>
          </p:nvSpPr>
          <p:spPr>
            <a:xfrm>
              <a:off x="8267700" y="1600200"/>
              <a:ext cx="3200400" cy="914400"/>
            </a:xfrm>
            <a:prstGeom prst="rect">
              <a:avLst/>
            </a:prstGeom>
            <a:solidFill>
              <a:srgbClr val="05013F"/>
            </a:solidFill>
            <a:ln>
              <a:noFill/>
            </a:ln>
          </p:spPr>
        </p:sp>
      </p:grpSp>
      <p:grpSp>
        <p:nvGrpSpPr>
          <p:cNvPr id="68" name="node15"/>
          <p:cNvGrpSpPr/>
          <p:nvPr/>
        </p:nvGrpSpPr>
        <p:grpSpPr>
          <a:xfrm>
            <a:off x="8496300" y="1752600"/>
            <a:ext cx="2743200" cy="139700"/>
            <a:chOff x="8496300" y="1752600"/>
            <a:chExt cx="2743200" cy="139700"/>
          </a:xfrm>
        </p:grpSpPr>
        <p:sp>
          <p:nvSpPr>
            <p:cNvPr id="50" name="node15.text"/>
            <p:cNvSpPr/>
            <p:nvPr/>
          </p:nvSpPr>
          <p:spPr>
            <a:xfrm>
              <a:off x="8496300" y="1752600"/>
              <a:ext cx="2743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CORE RECOMMENDATION</a:t>
              </a:r>
              <a:endParaRPr lang="en-US" sz="800" spc="48" kern="0" b="0" i="0" dirty="0">
                <a:solidFill>
                  <a:srgbClr val="F900D3"/>
                </a:solidFill>
                <a:latin typeface="IBM Plex Mono Medium"/>
                <a:ea typeface="IBM Plex Mono Medium"/>
                <a:cs typeface="IBM Plex Mono Medium"/>
              </a:endParaRPr>
            </a:p>
          </p:txBody>
        </p:sp>
      </p:grpSp>
      <p:grpSp>
        <p:nvGrpSpPr>
          <p:cNvPr id="69" name="node16"/>
          <p:cNvGrpSpPr/>
          <p:nvPr/>
        </p:nvGrpSpPr>
        <p:grpSpPr>
          <a:xfrm>
            <a:off x="8496300" y="2019300"/>
            <a:ext cx="2743200" cy="381000"/>
            <a:chOff x="8496300" y="2019300"/>
            <a:chExt cx="2743200" cy="381000"/>
          </a:xfrm>
        </p:grpSpPr>
        <p:sp>
          <p:nvSpPr>
            <p:cNvPr id="51" name="node16.text"/>
            <p:cNvSpPr/>
            <p:nvPr/>
          </p:nvSpPr>
          <p:spPr>
            <a:xfrm>
              <a:off x="8496300" y="2019300"/>
              <a:ext cx="2743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Retire one journey at a time and keep partner paths live.</a:t>
              </a:r>
              <a:endParaRPr lang="en-US" sz="1100" spc="0" kern="0" b="0" i="0" dirty="0">
                <a:solidFill>
                  <a:srgbClr val="FFFFFF"/>
                </a:solidFill>
                <a:latin typeface="IBM Plex Sans"/>
                <a:ea typeface="IBM Plex Sans"/>
                <a:cs typeface="IBM Plex Sans"/>
              </a:endParaRPr>
            </a:p>
          </p:txBody>
        </p:sp>
      </p:grpSp>
      <p:grpSp>
        <p:nvGrpSpPr>
          <p:cNvPr id="70" name="node17"/>
          <p:cNvGrpSpPr/>
          <p:nvPr/>
        </p:nvGrpSpPr>
        <p:grpSpPr>
          <a:xfrm>
            <a:off x="8267700" y="5029200"/>
            <a:ext cx="3200400" cy="457200"/>
            <a:chOff x="8267700" y="5029200"/>
            <a:chExt cx="3200400" cy="457200"/>
          </a:xfrm>
        </p:grpSpPr>
        <p:sp>
          <p:nvSpPr>
            <p:cNvPr id="52" name="node17.surface"/>
            <p:cNvSpPr/>
            <p:nvPr/>
          </p:nvSpPr>
          <p:spPr>
            <a:xfrm>
              <a:off x="8267700" y="5029200"/>
              <a:ext cx="3200400" cy="457200"/>
            </a:xfrm>
            <a:prstGeom prst="rect">
              <a:avLst/>
            </a:prstGeom>
            <a:solidFill>
              <a:srgbClr val="E8EEF8"/>
            </a:solidFill>
            <a:ln>
              <a:noFill/>
            </a:ln>
          </p:spPr>
        </p:sp>
        <p:sp>
          <p:nvSpPr>
            <p:cNvPr id="53" name="node17.text"/>
            <p:cNvSpPr/>
            <p:nvPr/>
          </p:nvSpPr>
          <p:spPr>
            <a:xfrm>
              <a:off x="8420100" y="5162550"/>
              <a:ext cx="28956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Each layer calls only the layer below it.</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ource-03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TARGET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tiers change in isolation and reach other systems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90</a:t>
            </a:fld>
            <a:endParaRPr lang="en-US" sz="700" spc="0" kern="0" b="0" i="0" dirty="0">
              <a:solidFill>
                <a:srgbClr val="070154"/>
              </a:solidFill>
              <a:latin typeface="IBM Plex Mono SemiBold"/>
              <a:ea typeface="IBM Plex Mono SemiBold"/>
              <a:cs typeface="IBM Plex Mono SemiBold"/>
            </a:endParaRPr>
          </a:p>
        </p:txBody>
      </p:sp>
      <p:grpSp>
        <p:nvGrpSpPr>
          <p:cNvPr id="59" name="node01"/>
          <p:cNvGrpSpPr/>
          <p:nvPr/>
        </p:nvGrpSpPr>
        <p:grpSpPr>
          <a:xfrm>
            <a:off x="723900" y="1600200"/>
            <a:ext cx="6858000" cy="4114800"/>
            <a:chOff x="723900" y="1600200"/>
            <a:chExt cx="6858000" cy="4114800"/>
          </a:xfrm>
        </p:grpSpPr>
        <p:sp>
          <p:nvSpPr>
            <p:cNvPr id="7" name="node01.surface"/>
            <p:cNvSpPr/>
            <p:nvPr/>
          </p:nvSpPr>
          <p:spPr>
            <a:xfrm>
              <a:off x="723900" y="1600200"/>
              <a:ext cx="6858000" cy="4114800"/>
            </a:xfrm>
            <a:prstGeom prst="rect">
              <a:avLst/>
            </a:prstGeom>
            <a:solidFill>
              <a:srgbClr val="E8EEF8"/>
            </a:solidFill>
            <a:ln>
              <a:noFill/>
            </a:ln>
          </p:spPr>
        </p:sp>
      </p:grpSp>
      <p:grpSp>
        <p:nvGrpSpPr>
          <p:cNvPr id="60" name="node02"/>
          <p:cNvGrpSpPr/>
          <p:nvPr/>
        </p:nvGrpSpPr>
        <p:grpSpPr>
          <a:xfrm>
            <a:off x="952500" y="1828800"/>
            <a:ext cx="1828800" cy="2971800"/>
            <a:chOff x="952500" y="1828800"/>
            <a:chExt cx="1828800" cy="2971800"/>
          </a:xfrm>
        </p:grpSpPr>
        <p:sp>
          <p:nvSpPr>
            <p:cNvPr id="8" name="node02.container"/>
            <p:cNvSpPr/>
            <p:nvPr/>
          </p:nvSpPr>
          <p:spPr>
            <a:xfrm>
              <a:off x="952500" y="1828800"/>
              <a:ext cx="1828800" cy="2971800"/>
            </a:xfrm>
            <a:prstGeom prst="rect">
              <a:avLst/>
            </a:prstGeom>
            <a:solidFill>
              <a:srgbClr val="FFFFFF"/>
            </a:solidFill>
            <a:ln>
              <a:noFill/>
            </a:ln>
          </p:spPr>
        </p:sp>
        <p:sp>
          <p:nvSpPr>
            <p:cNvPr id="9" name="node02.edge"/>
            <p:cNvSpPr/>
            <p:nvPr/>
          </p:nvSpPr>
          <p:spPr>
            <a:xfrm>
              <a:off x="952500" y="1828800"/>
              <a:ext cx="38100" cy="2971800"/>
            </a:xfrm>
            <a:prstGeom prst="rect">
              <a:avLst/>
            </a:prstGeom>
            <a:solidFill>
              <a:srgbClr val="070154"/>
            </a:solidFill>
            <a:ln>
              <a:noFill/>
            </a:ln>
          </p:spPr>
        </p:sp>
        <p:sp>
          <p:nvSpPr>
            <p:cNvPr id="10" name="node02.label"/>
            <p:cNvSpPr/>
            <p:nvPr/>
          </p:nvSpPr>
          <p:spPr>
            <a:xfrm>
              <a:off x="1143000" y="1981200"/>
              <a:ext cx="14859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ACROSS ALL LAYERS</a:t>
              </a:r>
              <a:endParaRPr lang="en-US" sz="800" spc="48" kern="0" b="0" i="0" dirty="0">
                <a:solidFill>
                  <a:srgbClr val="0047FF"/>
                </a:solidFill>
                <a:latin typeface="IBM Plex Mono Medium"/>
                <a:ea typeface="IBM Plex Mono Medium"/>
                <a:cs typeface="IBM Plex Mono Medium"/>
              </a:endParaRPr>
            </a:p>
          </p:txBody>
        </p:sp>
        <p:sp>
          <p:nvSpPr>
            <p:cNvPr id="11" name="node02.title"/>
            <p:cNvSpPr/>
            <p:nvPr/>
          </p:nvSpPr>
          <p:spPr>
            <a:xfrm>
              <a:off x="1143000" y="2197100"/>
              <a:ext cx="14859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Shared controls</a:t>
              </a:r>
              <a:endParaRPr lang="en-US" sz="1600" spc="-16" kern="0" b="0" i="0" dirty="0">
                <a:solidFill>
                  <a:srgbClr val="070154"/>
                </a:solidFill>
                <a:latin typeface="IBM Plex Sans SemiBold"/>
                <a:ea typeface="IBM Plex Sans SemiBold"/>
                <a:cs typeface="IBM Plex Sans SemiBold"/>
              </a:endParaRPr>
            </a:p>
          </p:txBody>
        </p:sp>
        <p:sp>
          <p:nvSpPr>
            <p:cNvPr id="12" name="node02.body.item-001.bullets.item-001.marker"/>
            <p:cNvSpPr/>
            <p:nvPr/>
          </p:nvSpPr>
          <p:spPr>
            <a:xfrm>
              <a:off x="1143000" y="2705100"/>
              <a:ext cx="38100" cy="38100"/>
            </a:xfrm>
            <a:prstGeom prst="rect">
              <a:avLst/>
            </a:prstGeom>
            <a:solidFill>
              <a:srgbClr val="070154"/>
            </a:solidFill>
            <a:ln>
              <a:noFill/>
            </a:ln>
          </p:spPr>
        </p:sp>
        <p:sp>
          <p:nvSpPr>
            <p:cNvPr id="13" name="node02.body.item-001.bullets.item-001.text"/>
            <p:cNvSpPr/>
            <p:nvPr/>
          </p:nvSpPr>
          <p:spPr>
            <a:xfrm>
              <a:off x="1295400" y="2616200"/>
              <a:ext cx="1333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Identity and access</a:t>
              </a:r>
              <a:endParaRPr lang="en-US" sz="1200" spc="0" kern="0" b="0" i="0" dirty="0">
                <a:solidFill>
                  <a:srgbClr val="070154"/>
                </a:solidFill>
                <a:latin typeface="IBM Plex Sans"/>
                <a:ea typeface="IBM Plex Sans"/>
                <a:cs typeface="IBM Plex Sans"/>
              </a:endParaRPr>
            </a:p>
          </p:txBody>
        </p:sp>
        <p:sp>
          <p:nvSpPr>
            <p:cNvPr id="14" name="node02.body.item-001.bullets.item-002.marker"/>
            <p:cNvSpPr/>
            <p:nvPr/>
          </p:nvSpPr>
          <p:spPr>
            <a:xfrm>
              <a:off x="1143000" y="3175000"/>
              <a:ext cx="38100" cy="38100"/>
            </a:xfrm>
            <a:prstGeom prst="rect">
              <a:avLst/>
            </a:prstGeom>
            <a:solidFill>
              <a:srgbClr val="070154"/>
            </a:solidFill>
            <a:ln>
              <a:noFill/>
            </a:ln>
          </p:spPr>
        </p:sp>
        <p:sp>
          <p:nvSpPr>
            <p:cNvPr id="15" name="node02.body.item-001.bullets.item-002.text"/>
            <p:cNvSpPr/>
            <p:nvPr/>
          </p:nvSpPr>
          <p:spPr>
            <a:xfrm>
              <a:off x="1295400" y="3086100"/>
              <a:ext cx="1333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Encryption</a:t>
              </a:r>
              <a:endParaRPr lang="en-US" sz="1200" spc="0" kern="0" b="0" i="0" dirty="0">
                <a:solidFill>
                  <a:srgbClr val="070154"/>
                </a:solidFill>
                <a:latin typeface="IBM Plex Sans"/>
                <a:ea typeface="IBM Plex Sans"/>
                <a:cs typeface="IBM Plex Sans"/>
              </a:endParaRPr>
            </a:p>
          </p:txBody>
        </p:sp>
        <p:sp>
          <p:nvSpPr>
            <p:cNvPr id="16" name="node02.body.item-001.bullets.item-003.marker"/>
            <p:cNvSpPr/>
            <p:nvPr/>
          </p:nvSpPr>
          <p:spPr>
            <a:xfrm>
              <a:off x="1143000" y="3429000"/>
              <a:ext cx="38100" cy="38100"/>
            </a:xfrm>
            <a:prstGeom prst="rect">
              <a:avLst/>
            </a:prstGeom>
            <a:solidFill>
              <a:srgbClr val="070154"/>
            </a:solidFill>
            <a:ln>
              <a:noFill/>
            </a:ln>
          </p:spPr>
        </p:sp>
        <p:sp>
          <p:nvSpPr>
            <p:cNvPr id="17" name="node02.body.item-001.bullets.item-003.text"/>
            <p:cNvSpPr/>
            <p:nvPr/>
          </p:nvSpPr>
          <p:spPr>
            <a:xfrm>
              <a:off x="1295400" y="3340100"/>
              <a:ext cx="1333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Monitoring</a:t>
              </a:r>
              <a:endParaRPr lang="en-US" sz="1200" spc="0" kern="0" b="0" i="0" dirty="0">
                <a:solidFill>
                  <a:srgbClr val="070154"/>
                </a:solidFill>
                <a:latin typeface="IBM Plex Sans"/>
                <a:ea typeface="IBM Plex Sans"/>
                <a:cs typeface="IBM Plex Sans"/>
              </a:endParaRPr>
            </a:p>
          </p:txBody>
        </p:sp>
        <p:sp>
          <p:nvSpPr>
            <p:cNvPr id="18" name="node02.body.item-001.bullets.item-004.marker"/>
            <p:cNvSpPr/>
            <p:nvPr/>
          </p:nvSpPr>
          <p:spPr>
            <a:xfrm>
              <a:off x="1143000" y="3683000"/>
              <a:ext cx="38100" cy="38100"/>
            </a:xfrm>
            <a:prstGeom prst="rect">
              <a:avLst/>
            </a:prstGeom>
            <a:solidFill>
              <a:srgbClr val="070154"/>
            </a:solidFill>
            <a:ln>
              <a:noFill/>
            </a:ln>
          </p:spPr>
        </p:sp>
        <p:sp>
          <p:nvSpPr>
            <p:cNvPr id="19" name="node02.body.item-001.bullets.item-004.text"/>
            <p:cNvSpPr/>
            <p:nvPr/>
          </p:nvSpPr>
          <p:spPr>
            <a:xfrm>
              <a:off x="1295400" y="3594100"/>
              <a:ext cx="1333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Audit trail</a:t>
              </a:r>
              <a:endParaRPr lang="en-US" sz="1200" spc="0" kern="0" b="0" i="0" dirty="0">
                <a:solidFill>
                  <a:srgbClr val="070154"/>
                </a:solidFill>
                <a:latin typeface="IBM Plex Sans"/>
                <a:ea typeface="IBM Plex Sans"/>
                <a:cs typeface="IBM Plex Sans"/>
              </a:endParaRPr>
            </a:p>
          </p:txBody>
        </p:sp>
      </p:grpSp>
      <p:grpSp>
        <p:nvGrpSpPr>
          <p:cNvPr id="61" name="node03"/>
          <p:cNvGrpSpPr/>
          <p:nvPr/>
        </p:nvGrpSpPr>
        <p:grpSpPr>
          <a:xfrm>
            <a:off x="2781300" y="2400300"/>
            <a:ext cx="228600" cy="1"/>
            <a:chOff x="2781300" y="2400300"/>
            <a:chExt cx="228600" cy="1"/>
          </a:xfrm>
        </p:grpSpPr>
        <p:sp>
          <p:nvSpPr>
            <p:cNvPr id="20" name="node03.segment-1"/>
            <p:cNvSpPr/>
            <p:nvPr/>
          </p:nvSpPr>
          <p:spPr>
            <a:xfrm>
              <a:off x="2781300" y="24003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2" name="node04"/>
          <p:cNvGrpSpPr/>
          <p:nvPr/>
        </p:nvGrpSpPr>
        <p:grpSpPr>
          <a:xfrm>
            <a:off x="2781300" y="3314700"/>
            <a:ext cx="228600" cy="1"/>
            <a:chOff x="2781300" y="3314700"/>
            <a:chExt cx="228600" cy="1"/>
          </a:xfrm>
        </p:grpSpPr>
        <p:sp>
          <p:nvSpPr>
            <p:cNvPr id="21" name="node04.segment-1"/>
            <p:cNvSpPr/>
            <p:nvPr/>
          </p:nvSpPr>
          <p:spPr>
            <a:xfrm>
              <a:off x="2781300" y="33147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3" name="node05"/>
          <p:cNvGrpSpPr/>
          <p:nvPr/>
        </p:nvGrpSpPr>
        <p:grpSpPr>
          <a:xfrm>
            <a:off x="2781300" y="4229100"/>
            <a:ext cx="228600" cy="1"/>
            <a:chOff x="2781300" y="4229100"/>
            <a:chExt cx="228600" cy="1"/>
          </a:xfrm>
        </p:grpSpPr>
        <p:sp>
          <p:nvSpPr>
            <p:cNvPr id="22" name="node05.segment-1"/>
            <p:cNvSpPr/>
            <p:nvPr/>
          </p:nvSpPr>
          <p:spPr>
            <a:xfrm>
              <a:off x="2781300" y="42291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4" name="node06"/>
          <p:cNvGrpSpPr/>
          <p:nvPr/>
        </p:nvGrpSpPr>
        <p:grpSpPr>
          <a:xfrm>
            <a:off x="3009900" y="3657600"/>
            <a:ext cx="4343400" cy="1143000"/>
            <a:chOff x="3009900" y="3657600"/>
            <a:chExt cx="4343400" cy="1143000"/>
          </a:xfrm>
        </p:grpSpPr>
        <p:sp>
          <p:nvSpPr>
            <p:cNvPr id="23" name="node06.plane"/>
            <p:cNvSpPr/>
            <p:nvPr/>
          </p:nvSpPr>
          <p:spPr>
            <a:xfrm>
              <a:off x="3009900" y="3657600"/>
              <a:ext cx="4343400" cy="1143000"/>
            </a:xfrm>
            <a:custGeom>
              <a:avLst/>
              <a:gdLst/>
              <a:ahLst/>
              <a:cxnLst/>
              <a:rect l="l" t="t" r="r" b="b"/>
              <a:pathLst>
                <a:path w="4343400" h="1143000">
                  <a:moveTo>
                    <a:pt x="0" y="571500"/>
                  </a:moveTo>
                  <a:lnTo>
                    <a:pt x="2171700" y="0"/>
                  </a:lnTo>
                  <a:lnTo>
                    <a:pt x="4343400" y="571500"/>
                  </a:lnTo>
                  <a:lnTo>
                    <a:pt x="2171700" y="1143000"/>
                  </a:lnTo>
                  <a:close/>
                </a:path>
              </a:pathLst>
            </a:custGeom>
            <a:solidFill>
              <a:srgbClr val="FFFFFF"/>
            </a:solidFill>
            <a:ln w="9525">
              <a:solidFill>
                <a:srgbClr val="070154"/>
              </a:solidFill>
              <a:prstDash val="solid"/>
            </a:ln>
          </p:spPr>
        </p:sp>
        <p:sp>
          <p:nvSpPr>
            <p:cNvPr id="24" name="node06.label"/>
            <p:cNvSpPr/>
            <p:nvPr/>
          </p:nvSpPr>
          <p:spPr>
            <a:xfrm>
              <a:off x="3878580" y="4013200"/>
              <a:ext cx="260604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DATA ACCESS LAYER</a:t>
              </a:r>
              <a:endParaRPr lang="en-US" sz="800" spc="48" kern="0" b="0" i="0" dirty="0">
                <a:solidFill>
                  <a:srgbClr val="070154"/>
                </a:solidFill>
                <a:latin typeface="IBM Plex Mono Medium"/>
                <a:ea typeface="IBM Plex Mono Medium"/>
                <a:cs typeface="IBM Plex Mono Medium"/>
              </a:endParaRPr>
            </a:p>
          </p:txBody>
        </p:sp>
        <p:sp>
          <p:nvSpPr>
            <p:cNvPr id="25" name="node06.text"/>
            <p:cNvSpPr/>
            <p:nvPr/>
          </p:nvSpPr>
          <p:spPr>
            <a:xfrm>
              <a:off x="3878580" y="4178300"/>
              <a:ext cx="260604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070154"/>
                  </a:solidFill>
                  <a:latin typeface="IBM Plex Sans SemiBold"/>
                  <a:ea typeface="IBM Plex Sans SemiBold"/>
                  <a:cs typeface="IBM Plex Sans SemiBold"/>
                </a:rPr>
                <a:t>PostgreSQL access</a:t>
              </a:r>
              <a:endParaRPr lang="en-US" sz="1600" spc="-16" kern="0" b="0" i="0" dirty="0">
                <a:solidFill>
                  <a:srgbClr val="070154"/>
                </a:solidFill>
                <a:latin typeface="IBM Plex Sans SemiBold"/>
                <a:ea typeface="IBM Plex Sans SemiBold"/>
                <a:cs typeface="IBM Plex Sans SemiBold"/>
              </a:endParaRPr>
            </a:p>
          </p:txBody>
        </p:sp>
      </p:grpSp>
      <p:grpSp>
        <p:nvGrpSpPr>
          <p:cNvPr id="65" name="node07"/>
          <p:cNvGrpSpPr/>
          <p:nvPr/>
        </p:nvGrpSpPr>
        <p:grpSpPr>
          <a:xfrm>
            <a:off x="3009900" y="2743200"/>
            <a:ext cx="4343400" cy="1143000"/>
            <a:chOff x="3009900" y="2743200"/>
            <a:chExt cx="4343400" cy="1143000"/>
          </a:xfrm>
        </p:grpSpPr>
        <p:sp>
          <p:nvSpPr>
            <p:cNvPr id="26" name="node07.plane"/>
            <p:cNvSpPr/>
            <p:nvPr/>
          </p:nvSpPr>
          <p:spPr>
            <a:xfrm>
              <a:off x="3009900" y="2743200"/>
              <a:ext cx="4343400" cy="1143000"/>
            </a:xfrm>
            <a:custGeom>
              <a:avLst/>
              <a:gdLst/>
              <a:ahLst/>
              <a:cxnLst/>
              <a:rect l="l" t="t" r="r" b="b"/>
              <a:pathLst>
                <a:path w="4343400" h="1143000">
                  <a:moveTo>
                    <a:pt x="0" y="571500"/>
                  </a:moveTo>
                  <a:lnTo>
                    <a:pt x="2171700" y="0"/>
                  </a:lnTo>
                  <a:lnTo>
                    <a:pt x="4343400" y="571500"/>
                  </a:lnTo>
                  <a:lnTo>
                    <a:pt x="2171700" y="1143000"/>
                  </a:lnTo>
                  <a:close/>
                </a:path>
              </a:pathLst>
            </a:custGeom>
            <a:solidFill>
              <a:srgbClr val="CED7E6"/>
            </a:solidFill>
            <a:ln w="9525">
              <a:solidFill>
                <a:srgbClr val="070154"/>
              </a:solidFill>
              <a:prstDash val="solid"/>
            </a:ln>
          </p:spPr>
        </p:sp>
        <p:sp>
          <p:nvSpPr>
            <p:cNvPr id="27" name="node07.label"/>
            <p:cNvSpPr/>
            <p:nvPr/>
          </p:nvSpPr>
          <p:spPr>
            <a:xfrm>
              <a:off x="3878580" y="3098800"/>
              <a:ext cx="260604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API LAYER</a:t>
              </a:r>
              <a:endParaRPr lang="en-US" sz="800" spc="48" kern="0" b="0" i="0" dirty="0">
                <a:solidFill>
                  <a:srgbClr val="070154"/>
                </a:solidFill>
                <a:latin typeface="IBM Plex Mono Medium"/>
                <a:ea typeface="IBM Plex Mono Medium"/>
                <a:cs typeface="IBM Plex Mono Medium"/>
              </a:endParaRPr>
            </a:p>
          </p:txBody>
        </p:sp>
        <p:sp>
          <p:nvSpPr>
            <p:cNvPr id="28" name="node07.text"/>
            <p:cNvSpPr/>
            <p:nvPr/>
          </p:nvSpPr>
          <p:spPr>
            <a:xfrm>
              <a:off x="3878580" y="3263900"/>
              <a:ext cx="260604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070154"/>
                  </a:solidFill>
                  <a:latin typeface="IBM Plex Sans SemiBold"/>
                  <a:ea typeface="IBM Plex Sans SemiBold"/>
                  <a:cs typeface="IBM Plex Sans SemiBold"/>
                </a:rPr>
                <a:t>Domain services</a:t>
              </a:r>
              <a:endParaRPr lang="en-US" sz="1600" spc="-16" kern="0" b="0" i="0" dirty="0">
                <a:solidFill>
                  <a:srgbClr val="070154"/>
                </a:solidFill>
                <a:latin typeface="IBM Plex Sans SemiBold"/>
                <a:ea typeface="IBM Plex Sans SemiBold"/>
                <a:cs typeface="IBM Plex Sans SemiBold"/>
              </a:endParaRPr>
            </a:p>
          </p:txBody>
        </p:sp>
      </p:grpSp>
      <p:grpSp>
        <p:nvGrpSpPr>
          <p:cNvPr id="66" name="node08"/>
          <p:cNvGrpSpPr/>
          <p:nvPr/>
        </p:nvGrpSpPr>
        <p:grpSpPr>
          <a:xfrm>
            <a:off x="3009900" y="1828800"/>
            <a:ext cx="4343400" cy="1143000"/>
            <a:chOff x="3009900" y="1828800"/>
            <a:chExt cx="4343400" cy="1143000"/>
          </a:xfrm>
        </p:grpSpPr>
        <p:sp>
          <p:nvSpPr>
            <p:cNvPr id="29" name="node08.plane"/>
            <p:cNvSpPr/>
            <p:nvPr/>
          </p:nvSpPr>
          <p:spPr>
            <a:xfrm>
              <a:off x="3009900" y="1828800"/>
              <a:ext cx="4343400" cy="1143000"/>
            </a:xfrm>
            <a:custGeom>
              <a:avLst/>
              <a:gdLst/>
              <a:ahLst/>
              <a:cxnLst/>
              <a:rect l="l" t="t" r="r" b="b"/>
              <a:pathLst>
                <a:path w="4343400" h="1143000">
                  <a:moveTo>
                    <a:pt x="0" y="571500"/>
                  </a:moveTo>
                  <a:lnTo>
                    <a:pt x="2171700" y="0"/>
                  </a:lnTo>
                  <a:lnTo>
                    <a:pt x="4343400" y="571500"/>
                  </a:lnTo>
                  <a:lnTo>
                    <a:pt x="2171700" y="1143000"/>
                  </a:lnTo>
                  <a:close/>
                </a:path>
              </a:pathLst>
            </a:custGeom>
            <a:solidFill>
              <a:srgbClr val="070154"/>
            </a:solidFill>
            <a:ln w="9525">
              <a:solidFill>
                <a:srgbClr val="070154"/>
              </a:solidFill>
              <a:prstDash val="solid"/>
            </a:ln>
          </p:spPr>
        </p:sp>
        <p:sp>
          <p:nvSpPr>
            <p:cNvPr id="30" name="node08.label"/>
            <p:cNvSpPr/>
            <p:nvPr/>
          </p:nvSpPr>
          <p:spPr>
            <a:xfrm>
              <a:off x="3878580" y="2184400"/>
              <a:ext cx="260604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USER INTERFACE LAYER</a:t>
              </a:r>
              <a:endParaRPr lang="en-US" sz="800" spc="48" kern="0" b="0" i="0" dirty="0">
                <a:solidFill>
                  <a:srgbClr val="FFFFFF"/>
                </a:solidFill>
                <a:latin typeface="IBM Plex Mono Medium"/>
                <a:ea typeface="IBM Plex Mono Medium"/>
                <a:cs typeface="IBM Plex Mono Medium"/>
              </a:endParaRPr>
            </a:p>
          </p:txBody>
        </p:sp>
        <p:sp>
          <p:nvSpPr>
            <p:cNvPr id="31" name="node08.text"/>
            <p:cNvSpPr/>
            <p:nvPr/>
          </p:nvSpPr>
          <p:spPr>
            <a:xfrm>
              <a:off x="3878580" y="2349500"/>
              <a:ext cx="260604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React and TypeScript</a:t>
              </a:r>
              <a:endParaRPr lang="en-US" sz="1600" spc="-16" kern="0" b="0" i="0" dirty="0">
                <a:solidFill>
                  <a:srgbClr val="FFFFFF"/>
                </a:solidFill>
                <a:latin typeface="IBM Plex Sans SemiBold"/>
                <a:ea typeface="IBM Plex Sans SemiBold"/>
                <a:cs typeface="IBM Plex Sans SemiBold"/>
              </a:endParaRPr>
            </a:p>
          </p:txBody>
        </p:sp>
      </p:grpSp>
      <p:grpSp>
        <p:nvGrpSpPr>
          <p:cNvPr id="67" name="node09"/>
          <p:cNvGrpSpPr/>
          <p:nvPr/>
        </p:nvGrpSpPr>
        <p:grpSpPr>
          <a:xfrm>
            <a:off x="952500" y="5029200"/>
            <a:ext cx="6400800" cy="457200"/>
            <a:chOff x="952500" y="5029200"/>
            <a:chExt cx="6400800" cy="457200"/>
          </a:xfrm>
        </p:grpSpPr>
        <p:sp>
          <p:nvSpPr>
            <p:cNvPr id="32" name="node09.surface"/>
            <p:cNvSpPr/>
            <p:nvPr/>
          </p:nvSpPr>
          <p:spPr>
            <a:xfrm>
              <a:off x="952500" y="5029200"/>
              <a:ext cx="6400800" cy="457200"/>
            </a:xfrm>
            <a:prstGeom prst="rect">
              <a:avLst/>
            </a:prstGeom>
            <a:solidFill>
              <a:srgbClr val="05013F"/>
            </a:solidFill>
            <a:ln>
              <a:noFill/>
            </a:ln>
          </p:spPr>
        </p:sp>
        <p:sp>
          <p:nvSpPr>
            <p:cNvPr id="33" name="node09.label"/>
            <p:cNvSpPr/>
            <p:nvPr/>
          </p:nvSpPr>
          <p:spPr>
            <a:xfrm>
              <a:off x="1104900" y="5187950"/>
              <a:ext cx="1524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FOUNDATION</a:t>
              </a:r>
              <a:endParaRPr lang="en-US" sz="800" spc="48" kern="0" b="0" i="0" dirty="0">
                <a:solidFill>
                  <a:srgbClr val="FFFFFF"/>
                </a:solidFill>
                <a:latin typeface="IBM Plex Mono SemiBold"/>
                <a:ea typeface="IBM Plex Mono SemiBold"/>
                <a:cs typeface="IBM Plex Mono SemiBold"/>
              </a:endParaRPr>
            </a:p>
          </p:txBody>
        </p:sp>
        <p:sp>
          <p:nvSpPr>
            <p:cNvPr id="34" name="node09.text"/>
            <p:cNvSpPr/>
            <p:nvPr/>
          </p:nvSpPr>
          <p:spPr>
            <a:xfrm>
              <a:off x="2781300" y="5162550"/>
              <a:ext cx="4419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Cloud hosting, network and identity</a:t>
              </a:r>
              <a:endParaRPr lang="en-US" sz="1100" spc="0" kern="0" b="0" i="0" dirty="0">
                <a:solidFill>
                  <a:srgbClr val="FFFFFF"/>
                </a:solidFill>
                <a:latin typeface="IBM Plex Sans"/>
                <a:ea typeface="IBM Plex Sans"/>
                <a:cs typeface="IBM Plex Sans"/>
              </a:endParaRPr>
            </a:p>
          </p:txBody>
        </p:sp>
      </p:grpSp>
      <p:grpSp>
        <p:nvGrpSpPr>
          <p:cNvPr id="68" name="node10"/>
          <p:cNvGrpSpPr/>
          <p:nvPr/>
        </p:nvGrpSpPr>
        <p:grpSpPr>
          <a:xfrm>
            <a:off x="7353300" y="3272079"/>
            <a:ext cx="914400" cy="85242"/>
            <a:chOff x="7353300" y="3272079"/>
            <a:chExt cx="914400" cy="85242"/>
          </a:xfrm>
        </p:grpSpPr>
        <p:sp>
          <p:nvSpPr>
            <p:cNvPr id="35" name="node10.segment-1"/>
            <p:cNvSpPr/>
            <p:nvPr/>
          </p:nvSpPr>
          <p:spPr>
            <a:xfrm>
              <a:off x="7353300" y="3314700"/>
              <a:ext cx="914400" cy="0"/>
            </a:xfrm>
            <a:custGeom>
              <a:avLst/>
              <a:gdLst/>
              <a:ahLst/>
              <a:cxnLst/>
              <a:rect l="l" t="t" r="r" b="b"/>
              <a:pathLst>
                <a:path w="914400">
                  <a:moveTo>
                    <a:pt x="0" y="0"/>
                  </a:moveTo>
                  <a:lnTo>
                    <a:pt x="914400" y="0"/>
                  </a:lnTo>
                </a:path>
              </a:pathLst>
            </a:custGeom>
            <a:ln w="12700">
              <a:solidFill>
                <a:srgbClr val="070154"/>
              </a:solidFill>
              <a:prstDash val="solid"/>
            </a:ln>
          </p:spPr>
        </p:sp>
        <p:sp>
          <p:nvSpPr>
            <p:cNvPr id="36" name="node10.head-end.0"/>
            <p:cNvSpPr/>
            <p:nvPr/>
          </p:nvSpPr>
          <p:spPr>
            <a:xfrm>
              <a:off x="8189683" y="33147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7" name="node10.head-end.1"/>
            <p:cNvSpPr/>
            <p:nvPr/>
          </p:nvSpPr>
          <p:spPr>
            <a:xfrm>
              <a:off x="8189683" y="32720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38" name="node10.head-start.0"/>
            <p:cNvSpPr/>
            <p:nvPr/>
          </p:nvSpPr>
          <p:spPr>
            <a:xfrm>
              <a:off x="7353300" y="32720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39" name="node10.head-start.1"/>
            <p:cNvSpPr/>
            <p:nvPr/>
          </p:nvSpPr>
          <p:spPr>
            <a:xfrm>
              <a:off x="7353300" y="33147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69" name="node11"/>
          <p:cNvGrpSpPr/>
          <p:nvPr/>
        </p:nvGrpSpPr>
        <p:grpSpPr>
          <a:xfrm>
            <a:off x="7353300" y="4186479"/>
            <a:ext cx="914400" cy="85242"/>
            <a:chOff x="7353300" y="4186479"/>
            <a:chExt cx="914400" cy="85242"/>
          </a:xfrm>
        </p:grpSpPr>
        <p:sp>
          <p:nvSpPr>
            <p:cNvPr id="40" name="node11.segment-1"/>
            <p:cNvSpPr/>
            <p:nvPr/>
          </p:nvSpPr>
          <p:spPr>
            <a:xfrm>
              <a:off x="7353300" y="4229100"/>
              <a:ext cx="914400" cy="0"/>
            </a:xfrm>
            <a:custGeom>
              <a:avLst/>
              <a:gdLst/>
              <a:ahLst/>
              <a:cxnLst/>
              <a:rect l="l" t="t" r="r" b="b"/>
              <a:pathLst>
                <a:path w="914400">
                  <a:moveTo>
                    <a:pt x="0" y="0"/>
                  </a:moveTo>
                  <a:lnTo>
                    <a:pt x="914400" y="0"/>
                  </a:lnTo>
                </a:path>
              </a:pathLst>
            </a:custGeom>
            <a:ln w="12700">
              <a:solidFill>
                <a:srgbClr val="070154"/>
              </a:solidFill>
              <a:prstDash val="solid"/>
            </a:ln>
          </p:spPr>
        </p:sp>
        <p:sp>
          <p:nvSpPr>
            <p:cNvPr id="41" name="node11.head-end.0"/>
            <p:cNvSpPr/>
            <p:nvPr/>
          </p:nvSpPr>
          <p:spPr>
            <a:xfrm>
              <a:off x="8189683" y="42291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2" name="node11.head-end.1"/>
            <p:cNvSpPr/>
            <p:nvPr/>
          </p:nvSpPr>
          <p:spPr>
            <a:xfrm>
              <a:off x="8189683" y="41864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70" name="node12"/>
          <p:cNvGrpSpPr/>
          <p:nvPr/>
        </p:nvGrpSpPr>
        <p:grpSpPr>
          <a:xfrm>
            <a:off x="8267700" y="1828800"/>
            <a:ext cx="3200400" cy="1828800"/>
            <a:chOff x="8267700" y="1828800"/>
            <a:chExt cx="3200400" cy="1828800"/>
          </a:xfrm>
        </p:grpSpPr>
        <p:sp>
          <p:nvSpPr>
            <p:cNvPr id="43" name="node12.surface"/>
            <p:cNvSpPr/>
            <p:nvPr/>
          </p:nvSpPr>
          <p:spPr>
            <a:xfrm>
              <a:off x="8267700" y="1828800"/>
              <a:ext cx="3200400" cy="1828800"/>
            </a:xfrm>
            <a:prstGeom prst="rect">
              <a:avLst/>
            </a:prstGeom>
            <a:solidFill>
              <a:srgbClr val="E8EEF8"/>
            </a:solidFill>
            <a:ln>
              <a:noFill/>
            </a:ln>
          </p:spPr>
        </p:sp>
        <p:sp>
          <p:nvSpPr>
            <p:cNvPr id="44" name="node12.label"/>
            <p:cNvSpPr/>
            <p:nvPr/>
          </p:nvSpPr>
          <p:spPr>
            <a:xfrm>
              <a:off x="8420100" y="1943100"/>
              <a:ext cx="2895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Partner integrations</a:t>
              </a:r>
              <a:endParaRPr lang="en-US" sz="1600" spc="-16" kern="0" b="0" i="0" dirty="0">
                <a:solidFill>
                  <a:srgbClr val="070154"/>
                </a:solidFill>
                <a:latin typeface="IBM Plex Sans SemiBold"/>
                <a:ea typeface="IBM Plex Sans SemiBold"/>
                <a:cs typeface="IBM Plex Sans SemiBold"/>
              </a:endParaRPr>
            </a:p>
          </p:txBody>
        </p:sp>
      </p:grpSp>
      <p:grpSp>
        <p:nvGrpSpPr>
          <p:cNvPr id="71" name="node13"/>
          <p:cNvGrpSpPr/>
          <p:nvPr/>
        </p:nvGrpSpPr>
        <p:grpSpPr>
          <a:xfrm>
            <a:off x="8496300" y="2286000"/>
            <a:ext cx="1257300" cy="457200"/>
            <a:chOff x="8496300" y="2286000"/>
            <a:chExt cx="1257300" cy="457200"/>
          </a:xfrm>
        </p:grpSpPr>
        <p:sp>
          <p:nvSpPr>
            <p:cNvPr id="45" name="node13.surface"/>
            <p:cNvSpPr/>
            <p:nvPr/>
          </p:nvSpPr>
          <p:spPr>
            <a:xfrm>
              <a:off x="8502650" y="2292350"/>
              <a:ext cx="1244600" cy="444500"/>
            </a:xfrm>
            <a:prstGeom prst="rect">
              <a:avLst/>
            </a:prstGeom>
            <a:solidFill>
              <a:srgbClr val="FFFFFF"/>
            </a:solidFill>
            <a:ln w="12700">
              <a:solidFill>
                <a:srgbClr val="CED7E6"/>
              </a:solidFill>
              <a:prstDash val="solid"/>
            </a:ln>
          </p:spPr>
        </p:sp>
        <p:sp>
          <p:nvSpPr>
            <p:cNvPr id="46" name="node13.text"/>
            <p:cNvSpPr/>
            <p:nvPr/>
          </p:nvSpPr>
          <p:spPr>
            <a:xfrm>
              <a:off x="8648700" y="2419350"/>
              <a:ext cx="9525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Claims API</a:t>
              </a:r>
              <a:endParaRPr lang="en-US" sz="1100" spc="0" kern="0" b="0" i="0" dirty="0">
                <a:solidFill>
                  <a:srgbClr val="070154"/>
                </a:solidFill>
                <a:latin typeface="IBM Plex Sans"/>
                <a:ea typeface="IBM Plex Sans"/>
                <a:cs typeface="IBM Plex Sans"/>
              </a:endParaRPr>
            </a:p>
          </p:txBody>
        </p:sp>
      </p:grpSp>
      <p:grpSp>
        <p:nvGrpSpPr>
          <p:cNvPr id="72" name="node14"/>
          <p:cNvGrpSpPr/>
          <p:nvPr/>
        </p:nvGrpSpPr>
        <p:grpSpPr>
          <a:xfrm>
            <a:off x="9867900" y="2286000"/>
            <a:ext cx="1371600" cy="457200"/>
            <a:chOff x="9867900" y="2286000"/>
            <a:chExt cx="1371600" cy="457200"/>
          </a:xfrm>
        </p:grpSpPr>
        <p:sp>
          <p:nvSpPr>
            <p:cNvPr id="47" name="node14.surface"/>
            <p:cNvSpPr/>
            <p:nvPr/>
          </p:nvSpPr>
          <p:spPr>
            <a:xfrm>
              <a:off x="9874250" y="2292350"/>
              <a:ext cx="1358900" cy="444500"/>
            </a:xfrm>
            <a:prstGeom prst="rect">
              <a:avLst/>
            </a:prstGeom>
            <a:solidFill>
              <a:srgbClr val="FFFFFF"/>
            </a:solidFill>
            <a:ln w="12700">
              <a:solidFill>
                <a:srgbClr val="CED7E6"/>
              </a:solidFill>
              <a:prstDash val="solid"/>
            </a:ln>
          </p:spPr>
        </p:sp>
        <p:sp>
          <p:nvSpPr>
            <p:cNvPr id="48" name="node14.text"/>
            <p:cNvSpPr/>
            <p:nvPr/>
          </p:nvSpPr>
          <p:spPr>
            <a:xfrm>
              <a:off x="10020300" y="2324100"/>
              <a:ext cx="1066800" cy="3810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Payments gateway</a:t>
              </a:r>
              <a:endParaRPr lang="en-US" sz="1100" spc="0" kern="0" b="0" i="0" dirty="0">
                <a:solidFill>
                  <a:srgbClr val="070154"/>
                </a:solidFill>
                <a:latin typeface="IBM Plex Sans"/>
                <a:ea typeface="IBM Plex Sans"/>
                <a:cs typeface="IBM Plex Sans"/>
              </a:endParaRPr>
            </a:p>
          </p:txBody>
        </p:sp>
      </p:grpSp>
      <p:grpSp>
        <p:nvGrpSpPr>
          <p:cNvPr id="73" name="node15"/>
          <p:cNvGrpSpPr/>
          <p:nvPr/>
        </p:nvGrpSpPr>
        <p:grpSpPr>
          <a:xfrm>
            <a:off x="8496300" y="2971800"/>
            <a:ext cx="2743200" cy="457200"/>
            <a:chOff x="8496300" y="2971800"/>
            <a:chExt cx="2743200" cy="457200"/>
          </a:xfrm>
        </p:grpSpPr>
        <p:sp>
          <p:nvSpPr>
            <p:cNvPr id="49" name="node15.surface"/>
            <p:cNvSpPr/>
            <p:nvPr/>
          </p:nvSpPr>
          <p:spPr>
            <a:xfrm>
              <a:off x="8502650" y="2978150"/>
              <a:ext cx="2730500" cy="444500"/>
            </a:xfrm>
            <a:prstGeom prst="rect">
              <a:avLst/>
            </a:prstGeom>
            <a:solidFill>
              <a:srgbClr val="FFFFFF"/>
            </a:solidFill>
            <a:ln w="12700">
              <a:solidFill>
                <a:srgbClr val="CED7E6"/>
              </a:solidFill>
              <a:prstDash val="solid"/>
            </a:ln>
          </p:spPr>
        </p:sp>
        <p:sp>
          <p:nvSpPr>
            <p:cNvPr id="50" name="node15.text"/>
            <p:cNvSpPr/>
            <p:nvPr/>
          </p:nvSpPr>
          <p:spPr>
            <a:xfrm>
              <a:off x="8648700" y="3105150"/>
              <a:ext cx="2438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Bank feeds</a:t>
              </a:r>
              <a:endParaRPr lang="en-US" sz="1100" spc="0" kern="0" b="0" i="0" dirty="0">
                <a:solidFill>
                  <a:srgbClr val="070154"/>
                </a:solidFill>
                <a:latin typeface="IBM Plex Sans"/>
                <a:ea typeface="IBM Plex Sans"/>
                <a:cs typeface="IBM Plex Sans"/>
              </a:endParaRPr>
            </a:p>
          </p:txBody>
        </p:sp>
      </p:grpSp>
      <p:grpSp>
        <p:nvGrpSpPr>
          <p:cNvPr id="74" name="node16"/>
          <p:cNvGrpSpPr/>
          <p:nvPr/>
        </p:nvGrpSpPr>
        <p:grpSpPr>
          <a:xfrm>
            <a:off x="8267700" y="3886200"/>
            <a:ext cx="3200400" cy="1828800"/>
            <a:chOff x="8267700" y="3886200"/>
            <a:chExt cx="3200400" cy="1828800"/>
          </a:xfrm>
        </p:grpSpPr>
        <p:sp>
          <p:nvSpPr>
            <p:cNvPr id="51" name="node16.surface"/>
            <p:cNvSpPr/>
            <p:nvPr/>
          </p:nvSpPr>
          <p:spPr>
            <a:xfrm>
              <a:off x="8267700" y="3886200"/>
              <a:ext cx="3200400" cy="1828800"/>
            </a:xfrm>
            <a:prstGeom prst="rect">
              <a:avLst/>
            </a:prstGeom>
            <a:solidFill>
              <a:srgbClr val="E8EEF8"/>
            </a:solidFill>
            <a:ln>
              <a:noFill/>
            </a:ln>
          </p:spPr>
        </p:sp>
        <p:sp>
          <p:nvSpPr>
            <p:cNvPr id="52" name="node16.label"/>
            <p:cNvSpPr/>
            <p:nvPr/>
          </p:nvSpPr>
          <p:spPr>
            <a:xfrm>
              <a:off x="8420100" y="4000500"/>
              <a:ext cx="2895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On-premises data</a:t>
              </a:r>
              <a:endParaRPr lang="en-US" sz="1600" spc="-16" kern="0" b="0" i="0" dirty="0">
                <a:solidFill>
                  <a:srgbClr val="070154"/>
                </a:solidFill>
                <a:latin typeface="IBM Plex Sans SemiBold"/>
                <a:ea typeface="IBM Plex Sans SemiBold"/>
                <a:cs typeface="IBM Plex Sans SemiBold"/>
              </a:endParaRPr>
            </a:p>
          </p:txBody>
        </p:sp>
      </p:grpSp>
      <p:grpSp>
        <p:nvGrpSpPr>
          <p:cNvPr id="75" name="node17"/>
          <p:cNvGrpSpPr/>
          <p:nvPr/>
        </p:nvGrpSpPr>
        <p:grpSpPr>
          <a:xfrm>
            <a:off x="8496300" y="4343400"/>
            <a:ext cx="1257300" cy="457200"/>
            <a:chOff x="8496300" y="4343400"/>
            <a:chExt cx="1257300" cy="457200"/>
          </a:xfrm>
        </p:grpSpPr>
        <p:sp>
          <p:nvSpPr>
            <p:cNvPr id="53" name="node17.surface"/>
            <p:cNvSpPr/>
            <p:nvPr/>
          </p:nvSpPr>
          <p:spPr>
            <a:xfrm>
              <a:off x="8502650" y="4349750"/>
              <a:ext cx="1244600" cy="444500"/>
            </a:xfrm>
            <a:prstGeom prst="rect">
              <a:avLst/>
            </a:prstGeom>
            <a:solidFill>
              <a:srgbClr val="FFFFFF"/>
            </a:solidFill>
            <a:ln w="12700">
              <a:solidFill>
                <a:srgbClr val="CED7E6"/>
              </a:solidFill>
              <a:prstDash val="solid"/>
            </a:ln>
          </p:spPr>
        </p:sp>
        <p:sp>
          <p:nvSpPr>
            <p:cNvPr id="54" name="node17.text"/>
            <p:cNvSpPr/>
            <p:nvPr/>
          </p:nvSpPr>
          <p:spPr>
            <a:xfrm>
              <a:off x="8648700" y="4381500"/>
              <a:ext cx="952500" cy="3810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Document store</a:t>
              </a:r>
              <a:endParaRPr lang="en-US" sz="1100" spc="0" kern="0" b="0" i="0" dirty="0">
                <a:solidFill>
                  <a:srgbClr val="070154"/>
                </a:solidFill>
                <a:latin typeface="IBM Plex Sans"/>
                <a:ea typeface="IBM Plex Sans"/>
                <a:cs typeface="IBM Plex Sans"/>
              </a:endParaRPr>
            </a:p>
          </p:txBody>
        </p:sp>
      </p:grpSp>
      <p:grpSp>
        <p:nvGrpSpPr>
          <p:cNvPr id="76" name="node18"/>
          <p:cNvGrpSpPr/>
          <p:nvPr/>
        </p:nvGrpSpPr>
        <p:grpSpPr>
          <a:xfrm>
            <a:off x="9867900" y="4343400"/>
            <a:ext cx="1371600" cy="457200"/>
            <a:chOff x="9867900" y="4343400"/>
            <a:chExt cx="1371600" cy="457200"/>
          </a:xfrm>
        </p:grpSpPr>
        <p:sp>
          <p:nvSpPr>
            <p:cNvPr id="55" name="node18.surface"/>
            <p:cNvSpPr/>
            <p:nvPr/>
          </p:nvSpPr>
          <p:spPr>
            <a:xfrm>
              <a:off x="9874250" y="4349750"/>
              <a:ext cx="1358900" cy="444500"/>
            </a:xfrm>
            <a:prstGeom prst="rect">
              <a:avLst/>
            </a:prstGeom>
            <a:solidFill>
              <a:srgbClr val="FFFFFF"/>
            </a:solidFill>
            <a:ln w="12700">
              <a:solidFill>
                <a:srgbClr val="CED7E6"/>
              </a:solidFill>
              <a:prstDash val="solid"/>
            </a:ln>
          </p:spPr>
        </p:sp>
        <p:sp>
          <p:nvSpPr>
            <p:cNvPr id="56" name="node18.text"/>
            <p:cNvSpPr/>
            <p:nvPr/>
          </p:nvSpPr>
          <p:spPr>
            <a:xfrm>
              <a:off x="10020300" y="4476750"/>
              <a:ext cx="1066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Imaging archive</a:t>
              </a:r>
              <a:endParaRPr lang="en-US" sz="1100" spc="0" kern="0" b="0" i="0" dirty="0">
                <a:solidFill>
                  <a:srgbClr val="070154"/>
                </a:solidFill>
                <a:latin typeface="IBM Plex Sans"/>
                <a:ea typeface="IBM Plex Sans"/>
                <a:cs typeface="IBM Plex Sans"/>
              </a:endParaRPr>
            </a:p>
          </p:txBody>
        </p:sp>
      </p:grpSp>
      <p:grpSp>
        <p:nvGrpSpPr>
          <p:cNvPr id="77" name="node19"/>
          <p:cNvGrpSpPr/>
          <p:nvPr/>
        </p:nvGrpSpPr>
        <p:grpSpPr>
          <a:xfrm>
            <a:off x="8496300" y="5029200"/>
            <a:ext cx="2743200" cy="457200"/>
            <a:chOff x="8496300" y="5029200"/>
            <a:chExt cx="2743200" cy="457200"/>
          </a:xfrm>
        </p:grpSpPr>
        <p:sp>
          <p:nvSpPr>
            <p:cNvPr id="57" name="node19.surface"/>
            <p:cNvSpPr/>
            <p:nvPr/>
          </p:nvSpPr>
          <p:spPr>
            <a:xfrm>
              <a:off x="8502650" y="5035550"/>
              <a:ext cx="2730500" cy="444500"/>
            </a:xfrm>
            <a:prstGeom prst="rect">
              <a:avLst/>
            </a:prstGeom>
            <a:solidFill>
              <a:srgbClr val="FFFFFF"/>
            </a:solidFill>
            <a:ln w="12700">
              <a:solidFill>
                <a:srgbClr val="CED7E6"/>
              </a:solidFill>
              <a:prstDash val="solid"/>
            </a:ln>
          </p:spPr>
        </p:sp>
        <p:sp>
          <p:nvSpPr>
            <p:cNvPr id="58" name="node19.text"/>
            <p:cNvSpPr/>
            <p:nvPr/>
          </p:nvSpPr>
          <p:spPr>
            <a:xfrm>
              <a:off x="8648700" y="5162550"/>
              <a:ext cx="2438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Legacy file shares</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ource-03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SOLUTION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layered platform replaces the old close tools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91</a:t>
            </a:fld>
            <a:endParaRPr lang="en-US" sz="700" spc="0" kern="0" b="0" i="0" dirty="0">
              <a:solidFill>
                <a:srgbClr val="070154"/>
              </a:solidFill>
              <a:latin typeface="IBM Plex Mono SemiBold"/>
              <a:ea typeface="IBM Plex Mono SemiBold"/>
              <a:cs typeface="IBM Plex Mono SemiBold"/>
            </a:endParaRPr>
          </a:p>
        </p:txBody>
      </p:sp>
      <p:grpSp>
        <p:nvGrpSpPr>
          <p:cNvPr id="44" name="node01"/>
          <p:cNvGrpSpPr/>
          <p:nvPr/>
        </p:nvGrpSpPr>
        <p:grpSpPr>
          <a:xfrm>
            <a:off x="723900" y="1600200"/>
            <a:ext cx="10744200" cy="4114800"/>
            <a:chOff x="723900" y="1600200"/>
            <a:chExt cx="10744200" cy="4114800"/>
          </a:xfrm>
        </p:grpSpPr>
        <p:sp>
          <p:nvSpPr>
            <p:cNvPr id="7" name="node01.surface"/>
            <p:cNvSpPr/>
            <p:nvPr/>
          </p:nvSpPr>
          <p:spPr>
            <a:xfrm>
              <a:off x="723900" y="1600200"/>
              <a:ext cx="10744200" cy="4114800"/>
            </a:xfrm>
            <a:prstGeom prst="rect">
              <a:avLst/>
            </a:prstGeom>
            <a:ln w="12700">
              <a:solidFill>
                <a:srgbClr val="070154"/>
              </a:solidFill>
              <a:prstDash val="solid"/>
            </a:ln>
          </p:spPr>
        </p:sp>
        <p:sp>
          <p:nvSpPr>
            <p:cNvPr id="8" name="node01.tab"/>
            <p:cNvSpPr/>
            <p:nvPr/>
          </p:nvSpPr>
          <p:spPr>
            <a:xfrm>
              <a:off x="723900" y="1600200"/>
              <a:ext cx="1107691" cy="228600"/>
            </a:xfrm>
            <a:prstGeom prst="rect">
              <a:avLst/>
            </a:prstGeom>
            <a:solidFill>
              <a:srgbClr val="070154"/>
            </a:solidFill>
            <a:ln>
              <a:noFill/>
            </a:ln>
          </p:spPr>
        </p:sp>
        <p:sp>
          <p:nvSpPr>
            <p:cNvPr id="9" name="node01.label"/>
            <p:cNvSpPr/>
            <p:nvPr/>
          </p:nvSpPr>
          <p:spPr>
            <a:xfrm>
              <a:off x="800100" y="1644650"/>
              <a:ext cx="955291"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CLOSE PLATFORM</a:t>
              </a:r>
              <a:endParaRPr lang="en-US" sz="800" spc="48" kern="0" b="0" i="0" dirty="0">
                <a:solidFill>
                  <a:srgbClr val="FFFFFF"/>
                </a:solidFill>
                <a:latin typeface="IBM Plex Mono SemiBold"/>
                <a:ea typeface="IBM Plex Mono SemiBold"/>
                <a:cs typeface="IBM Plex Mono SemiBold"/>
              </a:endParaRPr>
            </a:p>
          </p:txBody>
        </p:sp>
      </p:grpSp>
      <p:grpSp>
        <p:nvGrpSpPr>
          <p:cNvPr id="45" name="node02"/>
          <p:cNvGrpSpPr/>
          <p:nvPr/>
        </p:nvGrpSpPr>
        <p:grpSpPr>
          <a:xfrm>
            <a:off x="952500" y="2057400"/>
            <a:ext cx="2286000" cy="990600"/>
            <a:chOff x="952500" y="2057400"/>
            <a:chExt cx="2286000" cy="990600"/>
          </a:xfrm>
        </p:grpSpPr>
        <p:sp>
          <p:nvSpPr>
            <p:cNvPr id="10" name="node02.title"/>
            <p:cNvSpPr/>
            <p:nvPr/>
          </p:nvSpPr>
          <p:spPr>
            <a:xfrm>
              <a:off x="952500" y="2057400"/>
              <a:ext cx="2286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Build once</a:t>
              </a:r>
              <a:endParaRPr lang="en-US" sz="1600" spc="-16" kern="0" b="0" i="0" dirty="0">
                <a:solidFill>
                  <a:srgbClr val="070154"/>
                </a:solidFill>
                <a:latin typeface="IBM Plex Sans SemiBold"/>
                <a:ea typeface="IBM Plex Sans SemiBold"/>
                <a:cs typeface="IBM Plex Sans SemiBold"/>
              </a:endParaRPr>
            </a:p>
          </p:txBody>
        </p:sp>
        <p:sp>
          <p:nvSpPr>
            <p:cNvPr id="11" name="node02.body"/>
            <p:cNvSpPr/>
            <p:nvPr/>
          </p:nvSpPr>
          <p:spPr>
            <a:xfrm>
              <a:off x="952500" y="2400300"/>
              <a:ext cx="2286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Each layer serves every close process, so one moves without a rebuild.</a:t>
              </a:r>
              <a:endParaRPr lang="en-US" sz="1200" spc="0" kern="0" b="0" i="0" dirty="0">
                <a:solidFill>
                  <a:srgbClr val="50658E"/>
                </a:solidFill>
                <a:latin typeface="IBM Plex Sans"/>
                <a:ea typeface="IBM Plex Sans"/>
                <a:cs typeface="IBM Plex Sans"/>
              </a:endParaRPr>
            </a:p>
          </p:txBody>
        </p:sp>
      </p:grpSp>
      <p:grpSp>
        <p:nvGrpSpPr>
          <p:cNvPr id="47" name="node03"/>
          <p:cNvGrpSpPr/>
          <p:nvPr/>
        </p:nvGrpSpPr>
        <p:grpSpPr>
          <a:xfrm>
            <a:off x="3467100" y="2057400"/>
            <a:ext cx="5715000" cy="685800"/>
            <a:chOff x="3467100" y="2057400"/>
            <a:chExt cx="5715000" cy="685800"/>
          </a:xfrm>
        </p:grpSpPr>
        <p:sp>
          <p:nvSpPr>
            <p:cNvPr id="12" name="node03.surface"/>
            <p:cNvSpPr/>
            <p:nvPr/>
          </p:nvSpPr>
          <p:spPr>
            <a:xfrm>
              <a:off x="3467100" y="2057400"/>
              <a:ext cx="5715000" cy="685800"/>
            </a:xfrm>
            <a:prstGeom prst="rect">
              <a:avLst/>
            </a:prstGeom>
            <a:solidFill>
              <a:srgbClr val="070154"/>
            </a:solidFill>
            <a:ln>
              <a:noFill/>
            </a:ln>
          </p:spPr>
        </p:sp>
        <p:grpSp>
          <p:nvGrpSpPr>
            <p:cNvPr id="46" name="node03.icon"/>
            <p:cNvGrpSpPr/>
            <p:nvPr/>
          </p:nvGrpSpPr>
          <p:grpSpPr>
            <a:xfrm>
              <a:off x="3619500" y="2247900"/>
              <a:ext cx="304800" cy="304800"/>
              <a:chOff x="3619500" y="2247900"/>
              <a:chExt cx="304800" cy="304800"/>
            </a:xfrm>
          </p:grpSpPr>
          <p:pic>
            <p:nvPicPr>
              <p:cNvPr id="13" name="node03.icon.image" descr="icon/browser-gear/white; canonical SHA256=204c2297bf20275fbc91643edfe2ec33f14de822813083bf1df75726730a0402">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19500" y="2247900"/>
                <a:ext cx="304800" cy="304800"/>
              </a:xfrm>
              <a:prstGeom prst="rect">
                <a:avLst/>
              </a:prstGeom>
            </p:spPr>
          </p:pic>
        </p:grpSp>
        <p:sp>
          <p:nvSpPr>
            <p:cNvPr id="14" name="node03.text"/>
            <p:cNvSpPr/>
            <p:nvPr/>
          </p:nvSpPr>
          <p:spPr>
            <a:xfrm>
              <a:off x="4076700" y="2197100"/>
              <a:ext cx="4953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SemiBold"/>
                  <a:ea typeface="IBM Plex Sans SemiBold"/>
                  <a:cs typeface="IBM Plex Sans SemiBold"/>
                </a:rPr>
                <a:t>Experience</a:t>
              </a:r>
              <a:endParaRPr lang="en-US" sz="1200" spc="0" kern="0" b="0" i="0" dirty="0">
                <a:solidFill>
                  <a:srgbClr val="FFFFFF"/>
                </a:solidFill>
                <a:latin typeface="IBM Plex Sans SemiBold"/>
                <a:ea typeface="IBM Plex Sans SemiBold"/>
                <a:cs typeface="IBM Plex Sans SemiBold"/>
              </a:endParaRPr>
            </a:p>
          </p:txBody>
        </p:sp>
        <p:sp>
          <p:nvSpPr>
            <p:cNvPr id="15" name="node03.sub"/>
            <p:cNvSpPr/>
            <p:nvPr/>
          </p:nvSpPr>
          <p:spPr>
            <a:xfrm>
              <a:off x="4076700" y="2413000"/>
              <a:ext cx="4953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Close cockpit and mobile approvals</a:t>
              </a:r>
              <a:endParaRPr lang="en-US" sz="1100" spc="0" kern="0" b="0" i="0" dirty="0">
                <a:solidFill>
                  <a:srgbClr val="CED7E6"/>
                </a:solidFill>
                <a:latin typeface="IBM Plex Sans"/>
                <a:ea typeface="IBM Plex Sans"/>
                <a:cs typeface="IBM Plex Sans"/>
              </a:endParaRPr>
            </a:p>
          </p:txBody>
        </p:sp>
      </p:grpSp>
      <p:grpSp>
        <p:nvGrpSpPr>
          <p:cNvPr id="49" name="node04"/>
          <p:cNvGrpSpPr/>
          <p:nvPr/>
        </p:nvGrpSpPr>
        <p:grpSpPr>
          <a:xfrm>
            <a:off x="3467100" y="2743200"/>
            <a:ext cx="5715000" cy="685800"/>
            <a:chOff x="3467100" y="2743200"/>
            <a:chExt cx="5715000" cy="685800"/>
          </a:xfrm>
        </p:grpSpPr>
        <p:sp>
          <p:nvSpPr>
            <p:cNvPr id="16" name="node04.surface"/>
            <p:cNvSpPr/>
            <p:nvPr/>
          </p:nvSpPr>
          <p:spPr>
            <a:xfrm>
              <a:off x="3467100" y="2743200"/>
              <a:ext cx="5715000" cy="685800"/>
            </a:xfrm>
            <a:prstGeom prst="rect">
              <a:avLst/>
            </a:prstGeom>
            <a:solidFill>
              <a:srgbClr val="CED7E6"/>
            </a:solidFill>
            <a:ln>
              <a:noFill/>
            </a:ln>
          </p:spPr>
        </p:sp>
        <p:grpSp>
          <p:nvGrpSpPr>
            <p:cNvPr id="48" name="node04.icon"/>
            <p:cNvGrpSpPr/>
            <p:nvPr/>
          </p:nvGrpSpPr>
          <p:grpSpPr>
            <a:xfrm>
              <a:off x="3619500" y="2933700"/>
              <a:ext cx="304800" cy="304800"/>
              <a:chOff x="3619500" y="2933700"/>
              <a:chExt cx="304800" cy="304800"/>
            </a:xfrm>
          </p:grpSpPr>
          <p:pic>
            <p:nvPicPr>
              <p:cNvPr id="17" name="node04.icon.image" descr="icon/connection-link/navy; canonical SHA256=a41440298177448468877613a86a5d7bd114b1788732e2b0cacbdeadff0d963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9500" y="2933700"/>
                <a:ext cx="304800" cy="304800"/>
              </a:xfrm>
              <a:prstGeom prst="rect">
                <a:avLst/>
              </a:prstGeom>
            </p:spPr>
          </p:pic>
        </p:grpSp>
        <p:sp>
          <p:nvSpPr>
            <p:cNvPr id="18" name="node04.text"/>
            <p:cNvSpPr/>
            <p:nvPr/>
          </p:nvSpPr>
          <p:spPr>
            <a:xfrm>
              <a:off x="4076700" y="2882900"/>
              <a:ext cx="4953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API layer</a:t>
              </a:r>
              <a:endParaRPr lang="en-US" sz="1200" spc="0" kern="0" b="0" i="0" dirty="0">
                <a:solidFill>
                  <a:srgbClr val="070154"/>
                </a:solidFill>
                <a:latin typeface="IBM Plex Sans SemiBold"/>
                <a:ea typeface="IBM Plex Sans SemiBold"/>
                <a:cs typeface="IBM Plex Sans SemiBold"/>
              </a:endParaRPr>
            </a:p>
          </p:txBody>
        </p:sp>
        <p:sp>
          <p:nvSpPr>
            <p:cNvPr id="19" name="node04.sub"/>
            <p:cNvSpPr/>
            <p:nvPr/>
          </p:nvSpPr>
          <p:spPr>
            <a:xfrm>
              <a:off x="4076700" y="3098800"/>
              <a:ext cx="4953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Business rules and posting services</a:t>
              </a:r>
              <a:endParaRPr lang="en-US" sz="1100" spc="0" kern="0" b="0" i="0" dirty="0">
                <a:solidFill>
                  <a:srgbClr val="070154"/>
                </a:solidFill>
                <a:latin typeface="IBM Plex Sans"/>
                <a:ea typeface="IBM Plex Sans"/>
                <a:cs typeface="IBM Plex Sans"/>
              </a:endParaRPr>
            </a:p>
          </p:txBody>
        </p:sp>
      </p:grpSp>
      <p:grpSp>
        <p:nvGrpSpPr>
          <p:cNvPr id="51" name="node05"/>
          <p:cNvGrpSpPr/>
          <p:nvPr/>
        </p:nvGrpSpPr>
        <p:grpSpPr>
          <a:xfrm>
            <a:off x="3467100" y="3429000"/>
            <a:ext cx="5715000" cy="685800"/>
            <a:chOff x="3467100" y="3429000"/>
            <a:chExt cx="5715000" cy="685800"/>
          </a:xfrm>
        </p:grpSpPr>
        <p:sp>
          <p:nvSpPr>
            <p:cNvPr id="20" name="node05.surface"/>
            <p:cNvSpPr/>
            <p:nvPr/>
          </p:nvSpPr>
          <p:spPr>
            <a:xfrm>
              <a:off x="3467100" y="3429000"/>
              <a:ext cx="5715000" cy="685800"/>
            </a:xfrm>
            <a:prstGeom prst="rect">
              <a:avLst/>
            </a:prstGeom>
            <a:solidFill>
              <a:srgbClr val="E8EEF8"/>
            </a:solidFill>
            <a:ln>
              <a:noFill/>
            </a:ln>
          </p:spPr>
        </p:sp>
        <p:grpSp>
          <p:nvGrpSpPr>
            <p:cNvPr id="50" name="node05.icon"/>
            <p:cNvGrpSpPr/>
            <p:nvPr/>
          </p:nvGrpSpPr>
          <p:grpSpPr>
            <a:xfrm>
              <a:off x="3619500" y="3619500"/>
              <a:ext cx="304800" cy="304800"/>
              <a:chOff x="3619500" y="3619500"/>
              <a:chExt cx="304800" cy="304800"/>
            </a:xfrm>
          </p:grpSpPr>
          <p:pic>
            <p:nvPicPr>
              <p:cNvPr id="21" name="node05.icon.image" descr="icon/database-search/navy; canonical SHA256=ce270c75293f81bd712dfc6d2802e98b238d585f0245df17de1542a5def81952">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19500" y="3619500"/>
                <a:ext cx="304800" cy="304800"/>
              </a:xfrm>
              <a:prstGeom prst="rect">
                <a:avLst/>
              </a:prstGeom>
            </p:spPr>
          </p:pic>
        </p:grpSp>
        <p:sp>
          <p:nvSpPr>
            <p:cNvPr id="22" name="node05.text"/>
            <p:cNvSpPr/>
            <p:nvPr/>
          </p:nvSpPr>
          <p:spPr>
            <a:xfrm>
              <a:off x="4076700" y="3568700"/>
              <a:ext cx="4953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Data access</a:t>
              </a:r>
              <a:endParaRPr lang="en-US" sz="1200" spc="0" kern="0" b="0" i="0" dirty="0">
                <a:solidFill>
                  <a:srgbClr val="070154"/>
                </a:solidFill>
                <a:latin typeface="IBM Plex Sans SemiBold"/>
                <a:ea typeface="IBM Plex Sans SemiBold"/>
                <a:cs typeface="IBM Plex Sans SemiBold"/>
              </a:endParaRPr>
            </a:p>
          </p:txBody>
        </p:sp>
        <p:sp>
          <p:nvSpPr>
            <p:cNvPr id="23" name="node05.sub"/>
            <p:cNvSpPr/>
            <p:nvPr/>
          </p:nvSpPr>
          <p:spPr>
            <a:xfrm>
              <a:off x="4076700" y="3784600"/>
              <a:ext cx="4953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One governed path to close data</a:t>
              </a:r>
              <a:endParaRPr lang="en-US" sz="1100" spc="0" kern="0" b="0" i="0" dirty="0">
                <a:solidFill>
                  <a:srgbClr val="50658E"/>
                </a:solidFill>
                <a:latin typeface="IBM Plex Sans"/>
                <a:ea typeface="IBM Plex Sans"/>
                <a:cs typeface="IBM Plex Sans"/>
              </a:endParaRPr>
            </a:p>
          </p:txBody>
        </p:sp>
      </p:grpSp>
      <p:grpSp>
        <p:nvGrpSpPr>
          <p:cNvPr id="53" name="node06"/>
          <p:cNvGrpSpPr/>
          <p:nvPr/>
        </p:nvGrpSpPr>
        <p:grpSpPr>
          <a:xfrm>
            <a:off x="3467100" y="4114800"/>
            <a:ext cx="5715000" cy="685800"/>
            <a:chOff x="3467100" y="4114800"/>
            <a:chExt cx="5715000" cy="685800"/>
          </a:xfrm>
        </p:grpSpPr>
        <p:sp>
          <p:nvSpPr>
            <p:cNvPr id="24" name="node06.surface"/>
            <p:cNvSpPr/>
            <p:nvPr/>
          </p:nvSpPr>
          <p:spPr>
            <a:xfrm>
              <a:off x="3473450" y="4121150"/>
              <a:ext cx="5702300" cy="673100"/>
            </a:xfrm>
            <a:prstGeom prst="rect">
              <a:avLst/>
            </a:prstGeom>
            <a:solidFill>
              <a:srgbClr val="FFFFFF"/>
            </a:solidFill>
            <a:ln w="12700">
              <a:solidFill>
                <a:srgbClr val="CED7E6"/>
              </a:solidFill>
              <a:prstDash val="solid"/>
            </a:ln>
          </p:spPr>
        </p:sp>
        <p:grpSp>
          <p:nvGrpSpPr>
            <p:cNvPr id="52" name="node06.icon"/>
            <p:cNvGrpSpPr/>
            <p:nvPr/>
          </p:nvGrpSpPr>
          <p:grpSpPr>
            <a:xfrm>
              <a:off x="3619500" y="4305300"/>
              <a:ext cx="304800" cy="304800"/>
              <a:chOff x="3619500" y="4305300"/>
              <a:chExt cx="304800" cy="304800"/>
            </a:xfrm>
          </p:grpSpPr>
          <p:pic>
            <p:nvPicPr>
              <p:cNvPr id="25" name="node06.icon.image" descr="icon/server-rack/navy; canonical SHA256=4f89269bbe7d426706dc173ddd6e883cd93f394100e74b2dbf8c87dab9e70fe1">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19500" y="4305300"/>
                <a:ext cx="304800" cy="304800"/>
              </a:xfrm>
              <a:prstGeom prst="rect">
                <a:avLst/>
              </a:prstGeom>
            </p:spPr>
          </p:pic>
        </p:grpSp>
        <p:sp>
          <p:nvSpPr>
            <p:cNvPr id="26" name="node06.text"/>
            <p:cNvSpPr/>
            <p:nvPr/>
          </p:nvSpPr>
          <p:spPr>
            <a:xfrm>
              <a:off x="4076700" y="4254500"/>
              <a:ext cx="4953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Source systems</a:t>
              </a:r>
              <a:endParaRPr lang="en-US" sz="1200" spc="0" kern="0" b="0" i="0" dirty="0">
                <a:solidFill>
                  <a:srgbClr val="070154"/>
                </a:solidFill>
                <a:latin typeface="IBM Plex Sans SemiBold"/>
                <a:ea typeface="IBM Plex Sans SemiBold"/>
                <a:cs typeface="IBM Plex Sans SemiBold"/>
              </a:endParaRPr>
            </a:p>
          </p:txBody>
        </p:sp>
        <p:sp>
          <p:nvSpPr>
            <p:cNvPr id="27" name="node06.sub"/>
            <p:cNvSpPr/>
            <p:nvPr/>
          </p:nvSpPr>
          <p:spPr>
            <a:xfrm>
              <a:off x="4076700" y="4470400"/>
              <a:ext cx="4953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ERP, sub-ledgers and bank feeds</a:t>
              </a:r>
              <a:endParaRPr lang="en-US" sz="1100" spc="0" kern="0" b="0" i="0" dirty="0">
                <a:solidFill>
                  <a:srgbClr val="50658E"/>
                </a:solidFill>
                <a:latin typeface="IBM Plex Sans"/>
                <a:ea typeface="IBM Plex Sans"/>
                <a:cs typeface="IBM Plex Sans"/>
              </a:endParaRPr>
            </a:p>
          </p:txBody>
        </p:sp>
      </p:grpSp>
      <p:grpSp>
        <p:nvGrpSpPr>
          <p:cNvPr id="55" name="node07"/>
          <p:cNvGrpSpPr/>
          <p:nvPr/>
        </p:nvGrpSpPr>
        <p:grpSpPr>
          <a:xfrm>
            <a:off x="9410700" y="2057400"/>
            <a:ext cx="1828800" cy="2743200"/>
            <a:chOff x="9410700" y="2057400"/>
            <a:chExt cx="1828800" cy="2743200"/>
          </a:xfrm>
        </p:grpSpPr>
        <p:sp>
          <p:nvSpPr>
            <p:cNvPr id="28" name="node07.container"/>
            <p:cNvSpPr/>
            <p:nvPr/>
          </p:nvSpPr>
          <p:spPr>
            <a:xfrm>
              <a:off x="9410700" y="2057400"/>
              <a:ext cx="1828800" cy="2743200"/>
            </a:xfrm>
            <a:prstGeom prst="rect">
              <a:avLst/>
            </a:prstGeom>
            <a:solidFill>
              <a:srgbClr val="E8EEF8"/>
            </a:solidFill>
            <a:ln>
              <a:noFill/>
            </a:ln>
          </p:spPr>
        </p:sp>
        <p:sp>
          <p:nvSpPr>
            <p:cNvPr id="29" name="node07.edge"/>
            <p:cNvSpPr/>
            <p:nvPr/>
          </p:nvSpPr>
          <p:spPr>
            <a:xfrm>
              <a:off x="9410700" y="2057400"/>
              <a:ext cx="38100" cy="2743200"/>
            </a:xfrm>
            <a:prstGeom prst="rect">
              <a:avLst/>
            </a:prstGeom>
            <a:solidFill>
              <a:srgbClr val="070154"/>
            </a:solidFill>
            <a:ln>
              <a:noFill/>
            </a:ln>
          </p:spPr>
        </p:sp>
        <p:grpSp>
          <p:nvGrpSpPr>
            <p:cNvPr id="54" name="node07.icon"/>
            <p:cNvGrpSpPr/>
            <p:nvPr/>
          </p:nvGrpSpPr>
          <p:grpSpPr>
            <a:xfrm>
              <a:off x="9563100" y="2171700"/>
              <a:ext cx="381000" cy="381000"/>
              <a:chOff x="9563100" y="2171700"/>
              <a:chExt cx="381000" cy="381000"/>
            </a:xfrm>
          </p:grpSpPr>
          <p:pic>
            <p:nvPicPr>
              <p:cNvPr id="30" name="node07.icon.image" descr="icon/security-shield-gear/navy; canonical SHA256=7c202ecc20ecb0373a6508f8acc8e437235cbc2686af742f60b414ed919bede9">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63100" y="2171700"/>
                <a:ext cx="381000" cy="381000"/>
              </a:xfrm>
              <a:prstGeom prst="rect">
                <a:avLst/>
              </a:prstGeom>
            </p:spPr>
          </p:pic>
        </p:grpSp>
        <p:sp>
          <p:nvSpPr>
            <p:cNvPr id="31" name="node07.label"/>
            <p:cNvSpPr/>
            <p:nvPr/>
          </p:nvSpPr>
          <p:spPr>
            <a:xfrm>
              <a:off x="9563100" y="2705100"/>
              <a:ext cx="15621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ACROSS LAYERS 1-4</a:t>
              </a:r>
              <a:endParaRPr lang="en-US" sz="800" spc="48" kern="0" b="0" i="0" dirty="0">
                <a:solidFill>
                  <a:srgbClr val="0047FF"/>
                </a:solidFill>
                <a:latin typeface="IBM Plex Mono Medium"/>
                <a:ea typeface="IBM Plex Mono Medium"/>
                <a:cs typeface="IBM Plex Mono Medium"/>
              </a:endParaRPr>
            </a:p>
          </p:txBody>
        </p:sp>
        <p:sp>
          <p:nvSpPr>
            <p:cNvPr id="32" name="node07.title"/>
            <p:cNvSpPr/>
            <p:nvPr/>
          </p:nvSpPr>
          <p:spPr>
            <a:xfrm>
              <a:off x="9563100" y="2921000"/>
              <a:ext cx="15621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Shared controls</a:t>
              </a:r>
              <a:endParaRPr lang="en-US" sz="1600" spc="-16" kern="0" b="0" i="0" dirty="0">
                <a:solidFill>
                  <a:srgbClr val="070154"/>
                </a:solidFill>
                <a:latin typeface="IBM Plex Sans SemiBold"/>
                <a:ea typeface="IBM Plex Sans SemiBold"/>
                <a:cs typeface="IBM Plex Sans SemiBold"/>
              </a:endParaRPr>
            </a:p>
          </p:txBody>
        </p:sp>
        <p:sp>
          <p:nvSpPr>
            <p:cNvPr id="33" name="node07.body.item-001.bullets.item-001.marker"/>
            <p:cNvSpPr/>
            <p:nvPr/>
          </p:nvSpPr>
          <p:spPr>
            <a:xfrm>
              <a:off x="9563100" y="3429000"/>
              <a:ext cx="38100" cy="38100"/>
            </a:xfrm>
            <a:prstGeom prst="rect">
              <a:avLst/>
            </a:prstGeom>
            <a:solidFill>
              <a:srgbClr val="070154"/>
            </a:solidFill>
            <a:ln>
              <a:noFill/>
            </a:ln>
          </p:spPr>
        </p:sp>
        <p:sp>
          <p:nvSpPr>
            <p:cNvPr id="34" name="node07.body.item-001.bullets.item-001.text"/>
            <p:cNvSpPr/>
            <p:nvPr/>
          </p:nvSpPr>
          <p:spPr>
            <a:xfrm>
              <a:off x="9715500" y="3340100"/>
              <a:ext cx="1409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Security</a:t>
              </a:r>
              <a:endParaRPr lang="en-US" sz="1200" spc="0" kern="0" b="0" i="0" dirty="0">
                <a:solidFill>
                  <a:srgbClr val="070154"/>
                </a:solidFill>
                <a:latin typeface="IBM Plex Sans"/>
                <a:ea typeface="IBM Plex Sans"/>
                <a:cs typeface="IBM Plex Sans"/>
              </a:endParaRPr>
            </a:p>
          </p:txBody>
        </p:sp>
        <p:sp>
          <p:nvSpPr>
            <p:cNvPr id="35" name="node07.body.item-001.bullets.item-002.marker"/>
            <p:cNvSpPr/>
            <p:nvPr/>
          </p:nvSpPr>
          <p:spPr>
            <a:xfrm>
              <a:off x="9563100" y="3683000"/>
              <a:ext cx="38100" cy="38100"/>
            </a:xfrm>
            <a:prstGeom prst="rect">
              <a:avLst/>
            </a:prstGeom>
            <a:solidFill>
              <a:srgbClr val="070154"/>
            </a:solidFill>
            <a:ln>
              <a:noFill/>
            </a:ln>
          </p:spPr>
        </p:sp>
        <p:sp>
          <p:nvSpPr>
            <p:cNvPr id="36" name="node07.body.item-001.bullets.item-002.text"/>
            <p:cNvSpPr/>
            <p:nvPr/>
          </p:nvSpPr>
          <p:spPr>
            <a:xfrm>
              <a:off x="9715500" y="3594100"/>
              <a:ext cx="1409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Governance</a:t>
              </a:r>
              <a:endParaRPr lang="en-US" sz="1200" spc="0" kern="0" b="0" i="0" dirty="0">
                <a:solidFill>
                  <a:srgbClr val="070154"/>
                </a:solidFill>
                <a:latin typeface="IBM Plex Sans"/>
                <a:ea typeface="IBM Plex Sans"/>
                <a:cs typeface="IBM Plex Sans"/>
              </a:endParaRPr>
            </a:p>
          </p:txBody>
        </p:sp>
        <p:sp>
          <p:nvSpPr>
            <p:cNvPr id="37" name="node07.body.item-001.bullets.item-003.marker"/>
            <p:cNvSpPr/>
            <p:nvPr/>
          </p:nvSpPr>
          <p:spPr>
            <a:xfrm>
              <a:off x="9563100" y="3937000"/>
              <a:ext cx="38100" cy="38100"/>
            </a:xfrm>
            <a:prstGeom prst="rect">
              <a:avLst/>
            </a:prstGeom>
            <a:solidFill>
              <a:srgbClr val="070154"/>
            </a:solidFill>
            <a:ln>
              <a:noFill/>
            </a:ln>
          </p:spPr>
        </p:sp>
        <p:sp>
          <p:nvSpPr>
            <p:cNvPr id="38" name="node07.body.item-001.bullets.item-003.text"/>
            <p:cNvSpPr/>
            <p:nvPr/>
          </p:nvSpPr>
          <p:spPr>
            <a:xfrm>
              <a:off x="9715500" y="3848100"/>
              <a:ext cx="1409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Observability</a:t>
              </a:r>
              <a:endParaRPr lang="en-US" sz="1200" spc="0" kern="0" b="0" i="0" dirty="0">
                <a:solidFill>
                  <a:srgbClr val="070154"/>
                </a:solidFill>
                <a:latin typeface="IBM Plex Sans"/>
                <a:ea typeface="IBM Plex Sans"/>
                <a:cs typeface="IBM Plex Sans"/>
              </a:endParaRPr>
            </a:p>
          </p:txBody>
        </p:sp>
        <p:sp>
          <p:nvSpPr>
            <p:cNvPr id="39" name="node07.body.item-001.bullets.item-004.marker"/>
            <p:cNvSpPr/>
            <p:nvPr/>
          </p:nvSpPr>
          <p:spPr>
            <a:xfrm>
              <a:off x="9563100" y="4191000"/>
              <a:ext cx="38100" cy="38100"/>
            </a:xfrm>
            <a:prstGeom prst="rect">
              <a:avLst/>
            </a:prstGeom>
            <a:solidFill>
              <a:srgbClr val="070154"/>
            </a:solidFill>
            <a:ln>
              <a:noFill/>
            </a:ln>
          </p:spPr>
        </p:sp>
        <p:sp>
          <p:nvSpPr>
            <p:cNvPr id="40" name="node07.body.item-001.bullets.item-004.text"/>
            <p:cNvSpPr/>
            <p:nvPr/>
          </p:nvSpPr>
          <p:spPr>
            <a:xfrm>
              <a:off x="9715500" y="4102100"/>
              <a:ext cx="1409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Audit trail</a:t>
              </a:r>
              <a:endParaRPr lang="en-US" sz="1200" spc="0" kern="0" b="0" i="0" dirty="0">
                <a:solidFill>
                  <a:srgbClr val="070154"/>
                </a:solidFill>
                <a:latin typeface="IBM Plex Sans"/>
                <a:ea typeface="IBM Plex Sans"/>
                <a:cs typeface="IBM Plex Sans"/>
              </a:endParaRPr>
            </a:p>
          </p:txBody>
        </p:sp>
      </p:grpSp>
      <p:grpSp>
        <p:nvGrpSpPr>
          <p:cNvPr id="57" name="node08"/>
          <p:cNvGrpSpPr/>
          <p:nvPr/>
        </p:nvGrpSpPr>
        <p:grpSpPr>
          <a:xfrm>
            <a:off x="3467100" y="5029200"/>
            <a:ext cx="7772400" cy="457200"/>
            <a:chOff x="3467100" y="5029200"/>
            <a:chExt cx="7772400" cy="457200"/>
          </a:xfrm>
        </p:grpSpPr>
        <p:sp>
          <p:nvSpPr>
            <p:cNvPr id="41" name="node08.surface"/>
            <p:cNvSpPr/>
            <p:nvPr/>
          </p:nvSpPr>
          <p:spPr>
            <a:xfrm>
              <a:off x="3467100" y="5029200"/>
              <a:ext cx="7772400" cy="457200"/>
            </a:xfrm>
            <a:prstGeom prst="rect">
              <a:avLst/>
            </a:prstGeom>
            <a:solidFill>
              <a:srgbClr val="05013F"/>
            </a:solidFill>
            <a:ln>
              <a:noFill/>
            </a:ln>
          </p:spPr>
        </p:sp>
        <p:grpSp>
          <p:nvGrpSpPr>
            <p:cNvPr id="56" name="node08.icon"/>
            <p:cNvGrpSpPr/>
            <p:nvPr/>
          </p:nvGrpSpPr>
          <p:grpSpPr>
            <a:xfrm>
              <a:off x="3619500" y="5105400"/>
              <a:ext cx="304800" cy="304800"/>
              <a:chOff x="3619500" y="5105400"/>
              <a:chExt cx="304800" cy="304800"/>
            </a:xfrm>
          </p:grpSpPr>
          <p:pic>
            <p:nvPicPr>
              <p:cNvPr id="42" name="node08.icon.image" descr="icon/cloud-check/white; canonical SHA256=1b7997487f78359e3cb5ee6de1cac30af6661a76f3c45c5d282142509572e900">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19500" y="5105400"/>
                <a:ext cx="304800" cy="304800"/>
              </a:xfrm>
              <a:prstGeom prst="rect">
                <a:avLst/>
              </a:prstGeom>
            </p:spPr>
          </p:pic>
        </p:grpSp>
        <p:sp>
          <p:nvSpPr>
            <p:cNvPr id="43" name="node08.text"/>
            <p:cNvSpPr/>
            <p:nvPr/>
          </p:nvSpPr>
          <p:spPr>
            <a:xfrm>
              <a:off x="4076700" y="5149850"/>
              <a:ext cx="701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SemiBold"/>
                  <a:ea typeface="IBM Plex Sans SemiBold"/>
                  <a:cs typeface="IBM Plex Sans SemiBold"/>
                </a:rPr>
                <a:t>Foundation: cloud landing zone, identity, network and storage</a:t>
              </a:r>
              <a:endParaRPr lang="en-US" sz="1200" spc="0"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ource-05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TRANSITION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Data and API move to the cloud while UIs stay on site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92</a:t>
            </a:fld>
            <a:endParaRPr lang="en-US" sz="700" spc="0" kern="0" b="0" i="0" dirty="0">
              <a:solidFill>
                <a:srgbClr val="070154"/>
              </a:solidFill>
              <a:latin typeface="IBM Plex Mono SemiBold"/>
              <a:ea typeface="IBM Plex Mono SemiBold"/>
              <a:cs typeface="IBM Plex Mono SemiBold"/>
            </a:endParaRPr>
          </a:p>
        </p:txBody>
      </p:sp>
      <p:grpSp>
        <p:nvGrpSpPr>
          <p:cNvPr id="119" name="node01"/>
          <p:cNvGrpSpPr/>
          <p:nvPr/>
        </p:nvGrpSpPr>
        <p:grpSpPr>
          <a:xfrm>
            <a:off x="723900" y="1600200"/>
            <a:ext cx="5029200" cy="228600"/>
            <a:chOff x="723900" y="1600200"/>
            <a:chExt cx="5029200" cy="228600"/>
          </a:xfrm>
        </p:grpSpPr>
        <p:sp>
          <p:nvSpPr>
            <p:cNvPr id="6" name="node01.surface"/>
            <p:cNvSpPr/>
            <p:nvPr/>
          </p:nvSpPr>
          <p:spPr>
            <a:xfrm>
              <a:off x="723900" y="1600200"/>
              <a:ext cx="5029200" cy="228600"/>
            </a:xfrm>
            <a:prstGeom prst="rect">
              <a:avLst/>
            </a:prstGeom>
            <a:solidFill>
              <a:srgbClr val="070154"/>
            </a:solidFill>
            <a:ln>
              <a:noFill/>
            </a:ln>
          </p:spPr>
        </p:sp>
        <p:sp>
          <p:nvSpPr>
            <p:cNvPr id="7" name="node01.text"/>
            <p:cNvSpPr/>
            <p:nvPr/>
          </p:nvSpPr>
          <p:spPr>
            <a:xfrm>
              <a:off x="800100" y="1619250"/>
              <a:ext cx="4876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Customer sites · on-premises</a:t>
              </a:r>
              <a:endParaRPr lang="en-US" sz="1100" spc="0" kern="0" b="0" i="0" dirty="0">
                <a:solidFill>
                  <a:srgbClr val="FFFFFF"/>
                </a:solidFill>
                <a:latin typeface="IBM Plex Sans"/>
                <a:ea typeface="IBM Plex Sans"/>
                <a:cs typeface="IBM Plex Sans"/>
              </a:endParaRPr>
            </a:p>
          </p:txBody>
        </p:sp>
      </p:grpSp>
      <p:grpSp>
        <p:nvGrpSpPr>
          <p:cNvPr id="120" name="node02"/>
          <p:cNvGrpSpPr/>
          <p:nvPr/>
        </p:nvGrpSpPr>
        <p:grpSpPr>
          <a:xfrm>
            <a:off x="6210300" y="1600200"/>
            <a:ext cx="5257800" cy="228600"/>
            <a:chOff x="6210300" y="1600200"/>
            <a:chExt cx="5257800" cy="228600"/>
          </a:xfrm>
        </p:grpSpPr>
        <p:sp>
          <p:nvSpPr>
            <p:cNvPr id="8" name="node02.surface"/>
            <p:cNvSpPr/>
            <p:nvPr/>
          </p:nvSpPr>
          <p:spPr>
            <a:xfrm>
              <a:off x="6210300" y="1600200"/>
              <a:ext cx="5257800" cy="228600"/>
            </a:xfrm>
            <a:prstGeom prst="rect">
              <a:avLst/>
            </a:prstGeom>
            <a:solidFill>
              <a:srgbClr val="070154"/>
            </a:solidFill>
            <a:ln>
              <a:noFill/>
            </a:ln>
          </p:spPr>
        </p:sp>
        <p:sp>
          <p:nvSpPr>
            <p:cNvPr id="9" name="node02.text"/>
            <p:cNvSpPr/>
            <p:nvPr/>
          </p:nvSpPr>
          <p:spPr>
            <a:xfrm>
              <a:off x="6286500" y="1619250"/>
              <a:ext cx="510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Northfield cloud · central services</a:t>
              </a:r>
              <a:endParaRPr lang="en-US" sz="1100" spc="0" kern="0" b="0" i="0" dirty="0">
                <a:solidFill>
                  <a:srgbClr val="FFFFFF"/>
                </a:solidFill>
                <a:latin typeface="IBM Plex Sans"/>
                <a:ea typeface="IBM Plex Sans"/>
                <a:cs typeface="IBM Plex Sans"/>
              </a:endParaRPr>
            </a:p>
          </p:txBody>
        </p:sp>
      </p:grpSp>
      <p:grpSp>
        <p:nvGrpSpPr>
          <p:cNvPr id="121" name="node03"/>
          <p:cNvGrpSpPr/>
          <p:nvPr/>
        </p:nvGrpSpPr>
        <p:grpSpPr>
          <a:xfrm>
            <a:off x="723900" y="1828800"/>
            <a:ext cx="5029200" cy="3429000"/>
            <a:chOff x="723900" y="1828800"/>
            <a:chExt cx="5029200" cy="3429000"/>
          </a:xfrm>
        </p:grpSpPr>
        <p:sp>
          <p:nvSpPr>
            <p:cNvPr id="10" name="node03.surface"/>
            <p:cNvSpPr/>
            <p:nvPr/>
          </p:nvSpPr>
          <p:spPr>
            <a:xfrm>
              <a:off x="723900" y="1828800"/>
              <a:ext cx="5029200" cy="3429000"/>
            </a:xfrm>
            <a:prstGeom prst="rect">
              <a:avLst/>
            </a:prstGeom>
            <a:solidFill>
              <a:srgbClr val="E8EEF8"/>
            </a:solidFill>
            <a:ln>
              <a:noFill/>
            </a:ln>
          </p:spPr>
        </p:sp>
      </p:grpSp>
      <p:grpSp>
        <p:nvGrpSpPr>
          <p:cNvPr id="122" name="node04"/>
          <p:cNvGrpSpPr/>
          <p:nvPr/>
        </p:nvGrpSpPr>
        <p:grpSpPr>
          <a:xfrm>
            <a:off x="6210300" y="1828800"/>
            <a:ext cx="5257800" cy="3429000"/>
            <a:chOff x="6210300" y="1828800"/>
            <a:chExt cx="5257800" cy="3429000"/>
          </a:xfrm>
        </p:grpSpPr>
        <p:sp>
          <p:nvSpPr>
            <p:cNvPr id="11" name="node04.surface"/>
            <p:cNvSpPr/>
            <p:nvPr/>
          </p:nvSpPr>
          <p:spPr>
            <a:xfrm>
              <a:off x="6210300" y="1828800"/>
              <a:ext cx="5257800" cy="3429000"/>
            </a:xfrm>
            <a:prstGeom prst="rect">
              <a:avLst/>
            </a:prstGeom>
            <a:solidFill>
              <a:srgbClr val="E8EEF8"/>
            </a:solidFill>
            <a:ln>
              <a:noFill/>
            </a:ln>
          </p:spPr>
        </p:sp>
      </p:grpSp>
      <p:grpSp>
        <p:nvGrpSpPr>
          <p:cNvPr id="123" name="node05"/>
          <p:cNvGrpSpPr/>
          <p:nvPr/>
        </p:nvGrpSpPr>
        <p:grpSpPr>
          <a:xfrm>
            <a:off x="5981700" y="1600200"/>
            <a:ext cx="38100" cy="3657600"/>
            <a:chOff x="5981700" y="1600200"/>
            <a:chExt cx="38100" cy="3657600"/>
          </a:xfrm>
        </p:grpSpPr>
        <p:sp>
          <p:nvSpPr>
            <p:cNvPr id="12" name="node05.surface"/>
            <p:cNvSpPr/>
            <p:nvPr/>
          </p:nvSpPr>
          <p:spPr>
            <a:xfrm>
              <a:off x="5981700" y="1600200"/>
              <a:ext cx="38100" cy="3657600"/>
            </a:xfrm>
            <a:prstGeom prst="rect">
              <a:avLst/>
            </a:prstGeom>
            <a:solidFill>
              <a:srgbClr val="070154"/>
            </a:solidFill>
            <a:ln>
              <a:noFill/>
            </a:ln>
          </p:spPr>
        </p:sp>
      </p:grpSp>
      <p:grpSp>
        <p:nvGrpSpPr>
          <p:cNvPr id="124" name="node06"/>
          <p:cNvGrpSpPr/>
          <p:nvPr/>
        </p:nvGrpSpPr>
        <p:grpSpPr>
          <a:xfrm>
            <a:off x="952500" y="2286000"/>
            <a:ext cx="1371600" cy="190500"/>
            <a:chOff x="952500" y="2286000"/>
            <a:chExt cx="1371600" cy="190500"/>
          </a:xfrm>
        </p:grpSpPr>
        <p:sp>
          <p:nvSpPr>
            <p:cNvPr id="13" name="node06.text"/>
            <p:cNvSpPr/>
            <p:nvPr/>
          </p:nvSpPr>
          <p:spPr>
            <a:xfrm>
              <a:off x="952500" y="22860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Site A</a:t>
              </a:r>
              <a:endParaRPr lang="en-US" sz="1100" spc="0" kern="0" b="0" i="0" dirty="0">
                <a:solidFill>
                  <a:srgbClr val="070154"/>
                </a:solidFill>
                <a:latin typeface="IBM Plex Sans"/>
                <a:ea typeface="IBM Plex Sans"/>
                <a:cs typeface="IBM Plex Sans"/>
              </a:endParaRPr>
            </a:p>
          </p:txBody>
        </p:sp>
      </p:grpSp>
      <p:grpSp>
        <p:nvGrpSpPr>
          <p:cNvPr id="125" name="node07"/>
          <p:cNvGrpSpPr/>
          <p:nvPr/>
        </p:nvGrpSpPr>
        <p:grpSpPr>
          <a:xfrm>
            <a:off x="952500" y="2514600"/>
            <a:ext cx="914400" cy="457200"/>
            <a:chOff x="952500" y="2514600"/>
            <a:chExt cx="914400" cy="457200"/>
          </a:xfrm>
        </p:grpSpPr>
        <p:sp>
          <p:nvSpPr>
            <p:cNvPr id="14" name="node07.surface"/>
            <p:cNvSpPr/>
            <p:nvPr/>
          </p:nvSpPr>
          <p:spPr>
            <a:xfrm>
              <a:off x="952500" y="2514600"/>
              <a:ext cx="914400" cy="457200"/>
            </a:xfrm>
            <a:prstGeom prst="rect">
              <a:avLst/>
            </a:prstGeom>
            <a:solidFill>
              <a:srgbClr val="070154"/>
            </a:solidFill>
            <a:ln>
              <a:noFill/>
            </a:ln>
          </p:spPr>
        </p:sp>
        <p:sp>
          <p:nvSpPr>
            <p:cNvPr id="15" name="node07.text"/>
            <p:cNvSpPr/>
            <p:nvPr/>
          </p:nvSpPr>
          <p:spPr>
            <a:xfrm>
              <a:off x="1028700" y="2647950"/>
              <a:ext cx="762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Local UI</a:t>
              </a:r>
              <a:endParaRPr lang="en-US" sz="1100" spc="0" kern="0" b="0" i="0" dirty="0">
                <a:solidFill>
                  <a:srgbClr val="FFFFFF"/>
                </a:solidFill>
                <a:latin typeface="IBM Plex Sans"/>
                <a:ea typeface="IBM Plex Sans"/>
                <a:cs typeface="IBM Plex Sans"/>
              </a:endParaRPr>
            </a:p>
          </p:txBody>
        </p:sp>
      </p:grpSp>
      <p:grpSp>
        <p:nvGrpSpPr>
          <p:cNvPr id="126" name="node08"/>
          <p:cNvGrpSpPr/>
          <p:nvPr/>
        </p:nvGrpSpPr>
        <p:grpSpPr>
          <a:xfrm>
            <a:off x="1866900" y="2514600"/>
            <a:ext cx="457200" cy="457200"/>
            <a:chOff x="1866900" y="2514600"/>
            <a:chExt cx="457200" cy="457200"/>
          </a:xfrm>
        </p:grpSpPr>
        <p:sp>
          <p:nvSpPr>
            <p:cNvPr id="16" name="node08.surface"/>
            <p:cNvSpPr/>
            <p:nvPr/>
          </p:nvSpPr>
          <p:spPr>
            <a:xfrm>
              <a:off x="1866900" y="2514600"/>
              <a:ext cx="457200" cy="457200"/>
            </a:xfrm>
            <a:prstGeom prst="rect">
              <a:avLst/>
            </a:prstGeom>
            <a:solidFill>
              <a:srgbClr val="CED7E6"/>
            </a:solidFill>
            <a:ln>
              <a:noFill/>
            </a:ln>
          </p:spPr>
        </p:sp>
        <p:sp>
          <p:nvSpPr>
            <p:cNvPr id="17" name="node08.text"/>
            <p:cNvSpPr/>
            <p:nvPr/>
          </p:nvSpPr>
          <p:spPr>
            <a:xfrm>
              <a:off x="1943100" y="26479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W3</a:t>
              </a:r>
              <a:endParaRPr lang="en-US" sz="1100" spc="0" kern="0" b="0" i="0" dirty="0">
                <a:solidFill>
                  <a:srgbClr val="070154"/>
                </a:solidFill>
                <a:latin typeface="IBM Plex Sans"/>
                <a:ea typeface="IBM Plex Sans"/>
                <a:cs typeface="IBM Plex Sans"/>
              </a:endParaRPr>
            </a:p>
          </p:txBody>
        </p:sp>
      </p:grpSp>
      <p:grpSp>
        <p:nvGrpSpPr>
          <p:cNvPr id="127" name="node09"/>
          <p:cNvGrpSpPr/>
          <p:nvPr/>
        </p:nvGrpSpPr>
        <p:grpSpPr>
          <a:xfrm>
            <a:off x="952500" y="3086100"/>
            <a:ext cx="1371600" cy="571500"/>
            <a:chOff x="952500" y="3086100"/>
            <a:chExt cx="1371600" cy="571500"/>
          </a:xfrm>
        </p:grpSpPr>
        <p:sp>
          <p:nvSpPr>
            <p:cNvPr id="18" name="node09.surface"/>
            <p:cNvSpPr/>
            <p:nvPr/>
          </p:nvSpPr>
          <p:spPr>
            <a:xfrm>
              <a:off x="952500" y="3200400"/>
              <a:ext cx="1371600" cy="457200"/>
            </a:xfrm>
            <a:prstGeom prst="rect">
              <a:avLst/>
            </a:prstGeom>
            <a:ln w="12700">
              <a:solidFill>
                <a:srgbClr val="50658E"/>
              </a:solidFill>
              <a:prstDash val="dash"/>
            </a:ln>
          </p:spPr>
        </p:sp>
        <p:sp>
          <p:nvSpPr>
            <p:cNvPr id="19" name="node09.label-patch"/>
            <p:cNvSpPr/>
            <p:nvPr/>
          </p:nvSpPr>
          <p:spPr>
            <a:xfrm>
              <a:off x="1066800" y="3086100"/>
              <a:ext cx="541145" cy="139700"/>
            </a:xfrm>
            <a:prstGeom prst="rect">
              <a:avLst/>
            </a:prstGeom>
            <a:solidFill>
              <a:srgbClr val="FFFFFF"/>
            </a:solidFill>
            <a:ln>
              <a:noFill/>
            </a:ln>
          </p:spPr>
        </p:sp>
        <p:sp>
          <p:nvSpPr>
            <p:cNvPr id="20" name="node09.label"/>
            <p:cNvSpPr/>
            <p:nvPr/>
          </p:nvSpPr>
          <p:spPr>
            <a:xfrm>
              <a:off x="1104900" y="3086100"/>
              <a:ext cx="1066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RETIRED</a:t>
              </a:r>
              <a:endParaRPr lang="en-US" sz="800" spc="48" kern="0" b="0" i="0" dirty="0">
                <a:solidFill>
                  <a:srgbClr val="070154"/>
                </a:solidFill>
                <a:latin typeface="IBM Plex Mono SemiBold"/>
                <a:ea typeface="IBM Plex Mono SemiBold"/>
                <a:cs typeface="IBM Plex Mono SemiBold"/>
              </a:endParaRPr>
            </a:p>
          </p:txBody>
        </p:sp>
      </p:grpSp>
      <p:grpSp>
        <p:nvGrpSpPr>
          <p:cNvPr id="128" name="node10"/>
          <p:cNvGrpSpPr/>
          <p:nvPr/>
        </p:nvGrpSpPr>
        <p:grpSpPr>
          <a:xfrm>
            <a:off x="1104900" y="3314700"/>
            <a:ext cx="762000" cy="190500"/>
            <a:chOff x="1104900" y="3314700"/>
            <a:chExt cx="762000" cy="190500"/>
          </a:xfrm>
        </p:grpSpPr>
        <p:sp>
          <p:nvSpPr>
            <p:cNvPr id="21" name="node10.text"/>
            <p:cNvSpPr/>
            <p:nvPr/>
          </p:nvSpPr>
          <p:spPr>
            <a:xfrm>
              <a:off x="1104900" y="3314700"/>
              <a:ext cx="762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Local DB</a:t>
              </a:r>
              <a:endParaRPr lang="en-US" sz="1100" spc="0" kern="0" b="0" i="0" dirty="0">
                <a:solidFill>
                  <a:srgbClr val="50658E"/>
                </a:solidFill>
                <a:latin typeface="IBM Plex Sans"/>
                <a:ea typeface="IBM Plex Sans"/>
                <a:cs typeface="IBM Plex Sans"/>
              </a:endParaRPr>
            </a:p>
          </p:txBody>
        </p:sp>
      </p:grpSp>
      <p:grpSp>
        <p:nvGrpSpPr>
          <p:cNvPr id="129" name="node11"/>
          <p:cNvGrpSpPr/>
          <p:nvPr/>
        </p:nvGrpSpPr>
        <p:grpSpPr>
          <a:xfrm>
            <a:off x="1866900" y="3200400"/>
            <a:ext cx="457200" cy="457200"/>
            <a:chOff x="1866900" y="3200400"/>
            <a:chExt cx="457200" cy="457200"/>
          </a:xfrm>
        </p:grpSpPr>
        <p:sp>
          <p:nvSpPr>
            <p:cNvPr id="22" name="node11.surface"/>
            <p:cNvSpPr/>
            <p:nvPr/>
          </p:nvSpPr>
          <p:spPr>
            <a:xfrm>
              <a:off x="1866900" y="3200400"/>
              <a:ext cx="457200" cy="457200"/>
            </a:xfrm>
            <a:prstGeom prst="rect">
              <a:avLst/>
            </a:prstGeom>
            <a:solidFill>
              <a:srgbClr val="CED7E6"/>
            </a:solidFill>
            <a:ln>
              <a:noFill/>
            </a:ln>
          </p:spPr>
        </p:sp>
        <p:sp>
          <p:nvSpPr>
            <p:cNvPr id="23" name="node11.text"/>
            <p:cNvSpPr/>
            <p:nvPr/>
          </p:nvSpPr>
          <p:spPr>
            <a:xfrm>
              <a:off x="1943100" y="33337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W1</a:t>
              </a:r>
              <a:endParaRPr lang="en-US" sz="1100" spc="0" kern="0" b="0" i="0" dirty="0">
                <a:solidFill>
                  <a:srgbClr val="070154"/>
                </a:solidFill>
                <a:latin typeface="IBM Plex Sans"/>
                <a:ea typeface="IBM Plex Sans"/>
                <a:cs typeface="IBM Plex Sans"/>
              </a:endParaRPr>
            </a:p>
          </p:txBody>
        </p:sp>
      </p:grpSp>
      <p:grpSp>
        <p:nvGrpSpPr>
          <p:cNvPr id="130" name="node12"/>
          <p:cNvGrpSpPr/>
          <p:nvPr/>
        </p:nvGrpSpPr>
        <p:grpSpPr>
          <a:xfrm>
            <a:off x="952500" y="4114800"/>
            <a:ext cx="1371600" cy="190500"/>
            <a:chOff x="952500" y="4114800"/>
            <a:chExt cx="1371600" cy="190500"/>
          </a:xfrm>
        </p:grpSpPr>
        <p:sp>
          <p:nvSpPr>
            <p:cNvPr id="24" name="node12.text"/>
            <p:cNvSpPr/>
            <p:nvPr/>
          </p:nvSpPr>
          <p:spPr>
            <a:xfrm>
              <a:off x="952500" y="41148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Cut over</a:t>
              </a:r>
              <a:endParaRPr lang="en-US" sz="1100" spc="0" kern="0" b="0" i="0" dirty="0">
                <a:solidFill>
                  <a:srgbClr val="50658E"/>
                </a:solidFill>
                <a:latin typeface="IBM Plex Sans"/>
                <a:ea typeface="IBM Plex Sans"/>
                <a:cs typeface="IBM Plex Sans"/>
              </a:endParaRPr>
            </a:p>
          </p:txBody>
        </p:sp>
      </p:grpSp>
      <p:grpSp>
        <p:nvGrpSpPr>
          <p:cNvPr id="131" name="node13"/>
          <p:cNvGrpSpPr/>
          <p:nvPr/>
        </p:nvGrpSpPr>
        <p:grpSpPr>
          <a:xfrm>
            <a:off x="2552700" y="2286000"/>
            <a:ext cx="1371600" cy="190500"/>
            <a:chOff x="2552700" y="2286000"/>
            <a:chExt cx="1371600" cy="190500"/>
          </a:xfrm>
        </p:grpSpPr>
        <p:sp>
          <p:nvSpPr>
            <p:cNvPr id="25" name="node13.text"/>
            <p:cNvSpPr/>
            <p:nvPr/>
          </p:nvSpPr>
          <p:spPr>
            <a:xfrm>
              <a:off x="2552700" y="22860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Site B</a:t>
              </a:r>
              <a:endParaRPr lang="en-US" sz="1100" spc="0" kern="0" b="0" i="0" dirty="0">
                <a:solidFill>
                  <a:srgbClr val="070154"/>
                </a:solidFill>
                <a:latin typeface="IBM Plex Sans"/>
                <a:ea typeface="IBM Plex Sans"/>
                <a:cs typeface="IBM Plex Sans"/>
              </a:endParaRPr>
            </a:p>
          </p:txBody>
        </p:sp>
      </p:grpSp>
      <p:grpSp>
        <p:nvGrpSpPr>
          <p:cNvPr id="132" name="node14"/>
          <p:cNvGrpSpPr/>
          <p:nvPr/>
        </p:nvGrpSpPr>
        <p:grpSpPr>
          <a:xfrm>
            <a:off x="2552700" y="2514600"/>
            <a:ext cx="914400" cy="457200"/>
            <a:chOff x="2552700" y="2514600"/>
            <a:chExt cx="914400" cy="457200"/>
          </a:xfrm>
        </p:grpSpPr>
        <p:sp>
          <p:nvSpPr>
            <p:cNvPr id="26" name="node14.surface"/>
            <p:cNvSpPr/>
            <p:nvPr/>
          </p:nvSpPr>
          <p:spPr>
            <a:xfrm>
              <a:off x="2559050" y="2520950"/>
              <a:ext cx="901700" cy="444500"/>
            </a:xfrm>
            <a:prstGeom prst="rect">
              <a:avLst/>
            </a:prstGeom>
            <a:solidFill>
              <a:srgbClr val="FFFFFF"/>
            </a:solidFill>
            <a:ln w="12700">
              <a:solidFill>
                <a:srgbClr val="CED7E6"/>
              </a:solidFill>
              <a:prstDash val="solid"/>
            </a:ln>
          </p:spPr>
        </p:sp>
        <p:sp>
          <p:nvSpPr>
            <p:cNvPr id="27" name="node14.text"/>
            <p:cNvSpPr/>
            <p:nvPr/>
          </p:nvSpPr>
          <p:spPr>
            <a:xfrm>
              <a:off x="2628900" y="2647950"/>
              <a:ext cx="762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Local UI</a:t>
              </a:r>
              <a:endParaRPr lang="en-US" sz="1100" spc="0" kern="0" b="0" i="0" dirty="0">
                <a:solidFill>
                  <a:srgbClr val="070154"/>
                </a:solidFill>
                <a:latin typeface="IBM Plex Sans"/>
                <a:ea typeface="IBM Plex Sans"/>
                <a:cs typeface="IBM Plex Sans"/>
              </a:endParaRPr>
            </a:p>
          </p:txBody>
        </p:sp>
      </p:grpSp>
      <p:grpSp>
        <p:nvGrpSpPr>
          <p:cNvPr id="133" name="node15"/>
          <p:cNvGrpSpPr/>
          <p:nvPr/>
        </p:nvGrpSpPr>
        <p:grpSpPr>
          <a:xfrm>
            <a:off x="3467100" y="2514600"/>
            <a:ext cx="457200" cy="457200"/>
            <a:chOff x="3467100" y="2514600"/>
            <a:chExt cx="457200" cy="457200"/>
          </a:xfrm>
        </p:grpSpPr>
        <p:sp>
          <p:nvSpPr>
            <p:cNvPr id="28" name="node15.surface"/>
            <p:cNvSpPr/>
            <p:nvPr/>
          </p:nvSpPr>
          <p:spPr>
            <a:xfrm>
              <a:off x="3467100" y="2514600"/>
              <a:ext cx="457200" cy="457200"/>
            </a:xfrm>
            <a:prstGeom prst="rect">
              <a:avLst/>
            </a:prstGeom>
            <a:solidFill>
              <a:srgbClr val="CED7E6"/>
            </a:solidFill>
            <a:ln>
              <a:noFill/>
            </a:ln>
          </p:spPr>
        </p:sp>
        <p:sp>
          <p:nvSpPr>
            <p:cNvPr id="29" name="node15.text"/>
            <p:cNvSpPr/>
            <p:nvPr/>
          </p:nvSpPr>
          <p:spPr>
            <a:xfrm>
              <a:off x="3543300" y="26479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W3</a:t>
              </a:r>
              <a:endParaRPr lang="en-US" sz="1100" spc="0" kern="0" b="0" i="0" dirty="0">
                <a:solidFill>
                  <a:srgbClr val="070154"/>
                </a:solidFill>
                <a:latin typeface="IBM Plex Sans"/>
                <a:ea typeface="IBM Plex Sans"/>
                <a:cs typeface="IBM Plex Sans"/>
              </a:endParaRPr>
            </a:p>
          </p:txBody>
        </p:sp>
      </p:grpSp>
      <p:sp>
        <p:nvSpPr>
          <p:cNvPr id="30" name="node16"/>
          <p:cNvSpPr/>
          <p:nvPr/>
        </p:nvSpPr>
        <p:spPr>
          <a:xfrm>
            <a:off x="2552700" y="2514600"/>
            <a:ext cx="1371600" cy="38100"/>
          </a:xfrm>
          <a:prstGeom prst="rect">
            <a:avLst/>
          </a:prstGeom>
          <a:solidFill>
            <a:srgbClr val="0047FF"/>
          </a:solidFill>
          <a:ln>
            <a:noFill/>
          </a:ln>
        </p:spPr>
      </p:sp>
      <p:grpSp>
        <p:nvGrpSpPr>
          <p:cNvPr id="134" name="node17"/>
          <p:cNvGrpSpPr/>
          <p:nvPr/>
        </p:nvGrpSpPr>
        <p:grpSpPr>
          <a:xfrm>
            <a:off x="2552700" y="3200400"/>
            <a:ext cx="914400" cy="457200"/>
            <a:chOff x="2552700" y="3200400"/>
            <a:chExt cx="914400" cy="457200"/>
          </a:xfrm>
        </p:grpSpPr>
        <p:sp>
          <p:nvSpPr>
            <p:cNvPr id="31" name="node17.surface"/>
            <p:cNvSpPr/>
            <p:nvPr/>
          </p:nvSpPr>
          <p:spPr>
            <a:xfrm>
              <a:off x="2559050" y="3206750"/>
              <a:ext cx="901700" cy="444500"/>
            </a:xfrm>
            <a:prstGeom prst="rect">
              <a:avLst/>
            </a:prstGeom>
            <a:solidFill>
              <a:srgbClr val="FFFFFF"/>
            </a:solidFill>
            <a:ln w="12700">
              <a:solidFill>
                <a:srgbClr val="CED7E6"/>
              </a:solidFill>
              <a:prstDash val="solid"/>
            </a:ln>
          </p:spPr>
        </p:sp>
        <p:sp>
          <p:nvSpPr>
            <p:cNvPr id="32" name="node17.text"/>
            <p:cNvSpPr/>
            <p:nvPr/>
          </p:nvSpPr>
          <p:spPr>
            <a:xfrm>
              <a:off x="2628900" y="3333750"/>
              <a:ext cx="762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Local DB</a:t>
              </a:r>
              <a:endParaRPr lang="en-US" sz="1100" spc="0" kern="0" b="0" i="0" dirty="0">
                <a:solidFill>
                  <a:srgbClr val="070154"/>
                </a:solidFill>
                <a:latin typeface="IBM Plex Sans"/>
                <a:ea typeface="IBM Plex Sans"/>
                <a:cs typeface="IBM Plex Sans"/>
              </a:endParaRPr>
            </a:p>
          </p:txBody>
        </p:sp>
      </p:grpSp>
      <p:grpSp>
        <p:nvGrpSpPr>
          <p:cNvPr id="135" name="node18"/>
          <p:cNvGrpSpPr/>
          <p:nvPr/>
        </p:nvGrpSpPr>
        <p:grpSpPr>
          <a:xfrm>
            <a:off x="3467100" y="3200400"/>
            <a:ext cx="457200" cy="457200"/>
            <a:chOff x="3467100" y="3200400"/>
            <a:chExt cx="457200" cy="457200"/>
          </a:xfrm>
        </p:grpSpPr>
        <p:sp>
          <p:nvSpPr>
            <p:cNvPr id="33" name="node18.surface"/>
            <p:cNvSpPr/>
            <p:nvPr/>
          </p:nvSpPr>
          <p:spPr>
            <a:xfrm>
              <a:off x="3467100" y="3200400"/>
              <a:ext cx="457200" cy="457200"/>
            </a:xfrm>
            <a:prstGeom prst="rect">
              <a:avLst/>
            </a:prstGeom>
            <a:solidFill>
              <a:srgbClr val="CED7E6"/>
            </a:solidFill>
            <a:ln>
              <a:noFill/>
            </a:ln>
          </p:spPr>
        </p:sp>
        <p:sp>
          <p:nvSpPr>
            <p:cNvPr id="34" name="node18.text"/>
            <p:cNvSpPr/>
            <p:nvPr/>
          </p:nvSpPr>
          <p:spPr>
            <a:xfrm>
              <a:off x="3543300" y="33337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W1</a:t>
              </a:r>
              <a:endParaRPr lang="en-US" sz="1100" spc="0" kern="0" b="0" i="0" dirty="0">
                <a:solidFill>
                  <a:srgbClr val="070154"/>
                </a:solidFill>
                <a:latin typeface="IBM Plex Sans"/>
                <a:ea typeface="IBM Plex Sans"/>
                <a:cs typeface="IBM Plex Sans"/>
              </a:endParaRPr>
            </a:p>
          </p:txBody>
        </p:sp>
      </p:grpSp>
      <p:sp>
        <p:nvSpPr>
          <p:cNvPr id="35" name="node19"/>
          <p:cNvSpPr/>
          <p:nvPr/>
        </p:nvSpPr>
        <p:spPr>
          <a:xfrm>
            <a:off x="2552700" y="3200400"/>
            <a:ext cx="1371600" cy="38100"/>
          </a:xfrm>
          <a:prstGeom prst="rect">
            <a:avLst/>
          </a:prstGeom>
          <a:solidFill>
            <a:srgbClr val="0047FF"/>
          </a:solidFill>
          <a:ln>
            <a:noFill/>
          </a:ln>
        </p:spPr>
      </p:sp>
      <p:grpSp>
        <p:nvGrpSpPr>
          <p:cNvPr id="136" name="node20"/>
          <p:cNvGrpSpPr/>
          <p:nvPr/>
        </p:nvGrpSpPr>
        <p:grpSpPr>
          <a:xfrm>
            <a:off x="2552700" y="4114800"/>
            <a:ext cx="1371600" cy="190500"/>
            <a:chOff x="2552700" y="4114800"/>
            <a:chExt cx="1371600" cy="190500"/>
          </a:xfrm>
        </p:grpSpPr>
        <p:sp>
          <p:nvSpPr>
            <p:cNvPr id="36" name="node20.text"/>
            <p:cNvSpPr/>
            <p:nvPr/>
          </p:nvSpPr>
          <p:spPr>
            <a:xfrm>
              <a:off x="2552700" y="41148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Replicating</a:t>
              </a:r>
              <a:endParaRPr lang="en-US" sz="1100" spc="0" kern="0" b="0" i="0" dirty="0">
                <a:solidFill>
                  <a:srgbClr val="50658E"/>
                </a:solidFill>
                <a:latin typeface="IBM Plex Sans"/>
                <a:ea typeface="IBM Plex Sans"/>
                <a:cs typeface="IBM Plex Sans"/>
              </a:endParaRPr>
            </a:p>
          </p:txBody>
        </p:sp>
      </p:grpSp>
      <p:grpSp>
        <p:nvGrpSpPr>
          <p:cNvPr id="137" name="node21"/>
          <p:cNvGrpSpPr/>
          <p:nvPr/>
        </p:nvGrpSpPr>
        <p:grpSpPr>
          <a:xfrm>
            <a:off x="4152900" y="2286000"/>
            <a:ext cx="1371600" cy="190500"/>
            <a:chOff x="4152900" y="2286000"/>
            <a:chExt cx="1371600" cy="190500"/>
          </a:xfrm>
        </p:grpSpPr>
        <p:sp>
          <p:nvSpPr>
            <p:cNvPr id="37" name="node21.text"/>
            <p:cNvSpPr/>
            <p:nvPr/>
          </p:nvSpPr>
          <p:spPr>
            <a:xfrm>
              <a:off x="4152900" y="22860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Site C</a:t>
              </a:r>
              <a:endParaRPr lang="en-US" sz="1100" spc="0" kern="0" b="0" i="0" dirty="0">
                <a:solidFill>
                  <a:srgbClr val="070154"/>
                </a:solidFill>
                <a:latin typeface="IBM Plex Sans"/>
                <a:ea typeface="IBM Plex Sans"/>
                <a:cs typeface="IBM Plex Sans"/>
              </a:endParaRPr>
            </a:p>
          </p:txBody>
        </p:sp>
      </p:grpSp>
      <p:grpSp>
        <p:nvGrpSpPr>
          <p:cNvPr id="138" name="node22"/>
          <p:cNvGrpSpPr/>
          <p:nvPr/>
        </p:nvGrpSpPr>
        <p:grpSpPr>
          <a:xfrm>
            <a:off x="4152900" y="2514600"/>
            <a:ext cx="914400" cy="457200"/>
            <a:chOff x="4152900" y="2514600"/>
            <a:chExt cx="914400" cy="457200"/>
          </a:xfrm>
        </p:grpSpPr>
        <p:sp>
          <p:nvSpPr>
            <p:cNvPr id="38" name="node22.surface"/>
            <p:cNvSpPr/>
            <p:nvPr/>
          </p:nvSpPr>
          <p:spPr>
            <a:xfrm>
              <a:off x="4159250" y="2520950"/>
              <a:ext cx="901700" cy="444500"/>
            </a:xfrm>
            <a:prstGeom prst="rect">
              <a:avLst/>
            </a:prstGeom>
            <a:solidFill>
              <a:srgbClr val="FFFFFF"/>
            </a:solidFill>
            <a:ln w="12700">
              <a:solidFill>
                <a:srgbClr val="CED7E6"/>
              </a:solidFill>
              <a:prstDash val="solid"/>
            </a:ln>
          </p:spPr>
        </p:sp>
        <p:sp>
          <p:nvSpPr>
            <p:cNvPr id="39" name="node22.text"/>
            <p:cNvSpPr/>
            <p:nvPr/>
          </p:nvSpPr>
          <p:spPr>
            <a:xfrm>
              <a:off x="4229100" y="2647950"/>
              <a:ext cx="762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Local UI</a:t>
              </a:r>
              <a:endParaRPr lang="en-US" sz="1100" spc="0" kern="0" b="0" i="0" dirty="0">
                <a:solidFill>
                  <a:srgbClr val="070154"/>
                </a:solidFill>
                <a:latin typeface="IBM Plex Sans"/>
                <a:ea typeface="IBM Plex Sans"/>
                <a:cs typeface="IBM Plex Sans"/>
              </a:endParaRPr>
            </a:p>
          </p:txBody>
        </p:sp>
      </p:grpSp>
      <p:grpSp>
        <p:nvGrpSpPr>
          <p:cNvPr id="139" name="node23"/>
          <p:cNvGrpSpPr/>
          <p:nvPr/>
        </p:nvGrpSpPr>
        <p:grpSpPr>
          <a:xfrm>
            <a:off x="5067300" y="2514600"/>
            <a:ext cx="457200" cy="457200"/>
            <a:chOff x="5067300" y="2514600"/>
            <a:chExt cx="457200" cy="457200"/>
          </a:xfrm>
        </p:grpSpPr>
        <p:sp>
          <p:nvSpPr>
            <p:cNvPr id="40" name="node23.surface"/>
            <p:cNvSpPr/>
            <p:nvPr/>
          </p:nvSpPr>
          <p:spPr>
            <a:xfrm>
              <a:off x="5067300" y="2514600"/>
              <a:ext cx="457200" cy="457200"/>
            </a:xfrm>
            <a:prstGeom prst="rect">
              <a:avLst/>
            </a:prstGeom>
            <a:solidFill>
              <a:srgbClr val="CED7E6"/>
            </a:solidFill>
            <a:ln>
              <a:noFill/>
            </a:ln>
          </p:spPr>
        </p:sp>
        <p:sp>
          <p:nvSpPr>
            <p:cNvPr id="41" name="node23.text"/>
            <p:cNvSpPr/>
            <p:nvPr/>
          </p:nvSpPr>
          <p:spPr>
            <a:xfrm>
              <a:off x="5143500" y="26479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W3</a:t>
              </a:r>
              <a:endParaRPr lang="en-US" sz="1100" spc="0" kern="0" b="0" i="0" dirty="0">
                <a:solidFill>
                  <a:srgbClr val="070154"/>
                </a:solidFill>
                <a:latin typeface="IBM Plex Sans"/>
                <a:ea typeface="IBM Plex Sans"/>
                <a:cs typeface="IBM Plex Sans"/>
              </a:endParaRPr>
            </a:p>
          </p:txBody>
        </p:sp>
      </p:grpSp>
      <p:grpSp>
        <p:nvGrpSpPr>
          <p:cNvPr id="140" name="node24"/>
          <p:cNvGrpSpPr/>
          <p:nvPr/>
        </p:nvGrpSpPr>
        <p:grpSpPr>
          <a:xfrm>
            <a:off x="4152900" y="3200400"/>
            <a:ext cx="914400" cy="457200"/>
            <a:chOff x="4152900" y="3200400"/>
            <a:chExt cx="914400" cy="457200"/>
          </a:xfrm>
        </p:grpSpPr>
        <p:sp>
          <p:nvSpPr>
            <p:cNvPr id="42" name="node24.surface"/>
            <p:cNvSpPr/>
            <p:nvPr/>
          </p:nvSpPr>
          <p:spPr>
            <a:xfrm>
              <a:off x="4159250" y="3206750"/>
              <a:ext cx="901700" cy="444500"/>
            </a:xfrm>
            <a:prstGeom prst="rect">
              <a:avLst/>
            </a:prstGeom>
            <a:solidFill>
              <a:srgbClr val="FFFFFF"/>
            </a:solidFill>
            <a:ln w="12700">
              <a:solidFill>
                <a:srgbClr val="CED7E6"/>
              </a:solidFill>
              <a:prstDash val="solid"/>
            </a:ln>
          </p:spPr>
        </p:sp>
        <p:sp>
          <p:nvSpPr>
            <p:cNvPr id="43" name="node24.text"/>
            <p:cNvSpPr/>
            <p:nvPr/>
          </p:nvSpPr>
          <p:spPr>
            <a:xfrm>
              <a:off x="4229100" y="3333750"/>
              <a:ext cx="762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Local DB</a:t>
              </a:r>
              <a:endParaRPr lang="en-US" sz="1100" spc="0" kern="0" b="0" i="0" dirty="0">
                <a:solidFill>
                  <a:srgbClr val="070154"/>
                </a:solidFill>
                <a:latin typeface="IBM Plex Sans"/>
                <a:ea typeface="IBM Plex Sans"/>
                <a:cs typeface="IBM Plex Sans"/>
              </a:endParaRPr>
            </a:p>
          </p:txBody>
        </p:sp>
      </p:grpSp>
      <p:grpSp>
        <p:nvGrpSpPr>
          <p:cNvPr id="141" name="node25"/>
          <p:cNvGrpSpPr/>
          <p:nvPr/>
        </p:nvGrpSpPr>
        <p:grpSpPr>
          <a:xfrm>
            <a:off x="5067300" y="3200400"/>
            <a:ext cx="457200" cy="457200"/>
            <a:chOff x="5067300" y="3200400"/>
            <a:chExt cx="457200" cy="457200"/>
          </a:xfrm>
        </p:grpSpPr>
        <p:sp>
          <p:nvSpPr>
            <p:cNvPr id="44" name="node25.surface"/>
            <p:cNvSpPr/>
            <p:nvPr/>
          </p:nvSpPr>
          <p:spPr>
            <a:xfrm>
              <a:off x="5067300" y="3200400"/>
              <a:ext cx="457200" cy="457200"/>
            </a:xfrm>
            <a:prstGeom prst="rect">
              <a:avLst/>
            </a:prstGeom>
            <a:solidFill>
              <a:srgbClr val="CED7E6"/>
            </a:solidFill>
            <a:ln>
              <a:noFill/>
            </a:ln>
          </p:spPr>
        </p:sp>
        <p:sp>
          <p:nvSpPr>
            <p:cNvPr id="45" name="node25.text"/>
            <p:cNvSpPr/>
            <p:nvPr/>
          </p:nvSpPr>
          <p:spPr>
            <a:xfrm>
              <a:off x="5143500" y="33337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W1</a:t>
              </a:r>
              <a:endParaRPr lang="en-US" sz="1100" spc="0" kern="0" b="0" i="0" dirty="0">
                <a:solidFill>
                  <a:srgbClr val="070154"/>
                </a:solidFill>
                <a:latin typeface="IBM Plex Sans"/>
                <a:ea typeface="IBM Plex Sans"/>
                <a:cs typeface="IBM Plex Sans"/>
              </a:endParaRPr>
            </a:p>
          </p:txBody>
        </p:sp>
      </p:grpSp>
      <p:grpSp>
        <p:nvGrpSpPr>
          <p:cNvPr id="142" name="node26"/>
          <p:cNvGrpSpPr/>
          <p:nvPr/>
        </p:nvGrpSpPr>
        <p:grpSpPr>
          <a:xfrm>
            <a:off x="4152900" y="4114800"/>
            <a:ext cx="1371600" cy="190500"/>
            <a:chOff x="4152900" y="4114800"/>
            <a:chExt cx="1371600" cy="190500"/>
          </a:xfrm>
        </p:grpSpPr>
        <p:sp>
          <p:nvSpPr>
            <p:cNvPr id="46" name="node26.text"/>
            <p:cNvSpPr/>
            <p:nvPr/>
          </p:nvSpPr>
          <p:spPr>
            <a:xfrm>
              <a:off x="4152900" y="41148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Not started</a:t>
              </a:r>
              <a:endParaRPr lang="en-US" sz="1100" spc="0" kern="0" b="0" i="0" dirty="0">
                <a:solidFill>
                  <a:srgbClr val="50658E"/>
                </a:solidFill>
                <a:latin typeface="IBM Plex Sans"/>
                <a:ea typeface="IBM Plex Sans"/>
                <a:cs typeface="IBM Plex Sans"/>
              </a:endParaRPr>
            </a:p>
          </p:txBody>
        </p:sp>
      </p:grpSp>
      <p:grpSp>
        <p:nvGrpSpPr>
          <p:cNvPr id="143" name="node27"/>
          <p:cNvGrpSpPr/>
          <p:nvPr/>
        </p:nvGrpSpPr>
        <p:grpSpPr>
          <a:xfrm>
            <a:off x="952500" y="4572000"/>
            <a:ext cx="4572000" cy="457200"/>
            <a:chOff x="952500" y="4572000"/>
            <a:chExt cx="4572000" cy="457200"/>
          </a:xfrm>
        </p:grpSpPr>
        <p:sp>
          <p:nvSpPr>
            <p:cNvPr id="47" name="node27.surface"/>
            <p:cNvSpPr/>
            <p:nvPr/>
          </p:nvSpPr>
          <p:spPr>
            <a:xfrm>
              <a:off x="958850" y="4578350"/>
              <a:ext cx="4559300" cy="444500"/>
            </a:xfrm>
            <a:prstGeom prst="rect">
              <a:avLst/>
            </a:prstGeom>
            <a:solidFill>
              <a:srgbClr val="FFFFFF"/>
            </a:solidFill>
            <a:ln w="12700">
              <a:solidFill>
                <a:srgbClr val="CED7E6"/>
              </a:solidFill>
              <a:prstDash val="solid"/>
            </a:ln>
          </p:spPr>
        </p:sp>
        <p:sp>
          <p:nvSpPr>
            <p:cNvPr id="48" name="node27.text"/>
            <p:cNvSpPr/>
            <p:nvPr/>
          </p:nvSpPr>
          <p:spPr>
            <a:xfrm>
              <a:off x="1104900" y="4705350"/>
              <a:ext cx="426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+12 more sites, same pattern</a:t>
              </a:r>
              <a:endParaRPr lang="en-US" sz="1100" spc="0" kern="0" b="0" i="0" dirty="0">
                <a:solidFill>
                  <a:srgbClr val="070154"/>
                </a:solidFill>
                <a:latin typeface="IBM Plex Sans"/>
                <a:ea typeface="IBM Plex Sans"/>
                <a:cs typeface="IBM Plex Sans"/>
              </a:endParaRPr>
            </a:p>
          </p:txBody>
        </p:sp>
      </p:grpSp>
      <p:grpSp>
        <p:nvGrpSpPr>
          <p:cNvPr id="144" name="node28"/>
          <p:cNvGrpSpPr/>
          <p:nvPr/>
        </p:nvGrpSpPr>
        <p:grpSpPr>
          <a:xfrm>
            <a:off x="3195879" y="2971800"/>
            <a:ext cx="85242" cy="228600"/>
            <a:chOff x="3195879" y="2971800"/>
            <a:chExt cx="85242" cy="228600"/>
          </a:xfrm>
        </p:grpSpPr>
        <p:sp>
          <p:nvSpPr>
            <p:cNvPr id="49" name="node28.segment-1"/>
            <p:cNvSpPr/>
            <p:nvPr/>
          </p:nvSpPr>
          <p:spPr>
            <a:xfrm>
              <a:off x="32385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50" name="node28.head-end.0"/>
            <p:cNvSpPr/>
            <p:nvPr/>
          </p:nvSpPr>
          <p:spPr>
            <a:xfrm>
              <a:off x="31958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51" name="node28.head-end.1"/>
            <p:cNvSpPr/>
            <p:nvPr/>
          </p:nvSpPr>
          <p:spPr>
            <a:xfrm>
              <a:off x="32385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45" name="node29"/>
          <p:cNvGrpSpPr/>
          <p:nvPr/>
        </p:nvGrpSpPr>
        <p:grpSpPr>
          <a:xfrm>
            <a:off x="4796079" y="2971800"/>
            <a:ext cx="85242" cy="228600"/>
            <a:chOff x="4796079" y="2971800"/>
            <a:chExt cx="85242" cy="228600"/>
          </a:xfrm>
        </p:grpSpPr>
        <p:sp>
          <p:nvSpPr>
            <p:cNvPr id="52" name="node29.segment-1"/>
            <p:cNvSpPr/>
            <p:nvPr/>
          </p:nvSpPr>
          <p:spPr>
            <a:xfrm>
              <a:off x="48387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53" name="node29.head-end.0"/>
            <p:cNvSpPr/>
            <p:nvPr/>
          </p:nvSpPr>
          <p:spPr>
            <a:xfrm>
              <a:off x="47960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54" name="node29.head-end.1"/>
            <p:cNvSpPr/>
            <p:nvPr/>
          </p:nvSpPr>
          <p:spPr>
            <a:xfrm>
              <a:off x="48387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46" name="node30"/>
          <p:cNvGrpSpPr/>
          <p:nvPr/>
        </p:nvGrpSpPr>
        <p:grpSpPr>
          <a:xfrm>
            <a:off x="6438900" y="2514600"/>
            <a:ext cx="4343400" cy="457200"/>
            <a:chOff x="6438900" y="2514600"/>
            <a:chExt cx="4343400" cy="457200"/>
          </a:xfrm>
        </p:grpSpPr>
        <p:sp>
          <p:nvSpPr>
            <p:cNvPr id="55" name="node30.surface"/>
            <p:cNvSpPr/>
            <p:nvPr/>
          </p:nvSpPr>
          <p:spPr>
            <a:xfrm>
              <a:off x="6438900" y="2514600"/>
              <a:ext cx="4343400" cy="457200"/>
            </a:xfrm>
            <a:prstGeom prst="rect">
              <a:avLst/>
            </a:prstGeom>
            <a:solidFill>
              <a:srgbClr val="070154"/>
            </a:solidFill>
            <a:ln>
              <a:noFill/>
            </a:ln>
          </p:spPr>
        </p:sp>
        <p:sp>
          <p:nvSpPr>
            <p:cNvPr id="56" name="node30.text"/>
            <p:cNvSpPr/>
            <p:nvPr/>
          </p:nvSpPr>
          <p:spPr>
            <a:xfrm>
              <a:off x="6591300" y="2647950"/>
              <a:ext cx="4038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Central API layer</a:t>
              </a:r>
              <a:endParaRPr lang="en-US" sz="1100" spc="0" kern="0" b="0" i="0" dirty="0">
                <a:solidFill>
                  <a:srgbClr val="FFFFFF"/>
                </a:solidFill>
                <a:latin typeface="IBM Plex Sans"/>
                <a:ea typeface="IBM Plex Sans"/>
                <a:cs typeface="IBM Plex Sans"/>
              </a:endParaRPr>
            </a:p>
          </p:txBody>
        </p:sp>
      </p:grpSp>
      <p:grpSp>
        <p:nvGrpSpPr>
          <p:cNvPr id="147" name="node31"/>
          <p:cNvGrpSpPr/>
          <p:nvPr/>
        </p:nvGrpSpPr>
        <p:grpSpPr>
          <a:xfrm>
            <a:off x="10782300" y="2514600"/>
            <a:ext cx="457200" cy="457200"/>
            <a:chOff x="10782300" y="2514600"/>
            <a:chExt cx="457200" cy="457200"/>
          </a:xfrm>
        </p:grpSpPr>
        <p:sp>
          <p:nvSpPr>
            <p:cNvPr id="57" name="node31.surface"/>
            <p:cNvSpPr/>
            <p:nvPr/>
          </p:nvSpPr>
          <p:spPr>
            <a:xfrm>
              <a:off x="10782300" y="2514600"/>
              <a:ext cx="457200" cy="457200"/>
            </a:xfrm>
            <a:prstGeom prst="rect">
              <a:avLst/>
            </a:prstGeom>
            <a:solidFill>
              <a:srgbClr val="CED7E6"/>
            </a:solidFill>
            <a:ln>
              <a:noFill/>
            </a:ln>
          </p:spPr>
        </p:sp>
        <p:sp>
          <p:nvSpPr>
            <p:cNvPr id="58" name="node31.text"/>
            <p:cNvSpPr/>
            <p:nvPr/>
          </p:nvSpPr>
          <p:spPr>
            <a:xfrm>
              <a:off x="10858500" y="26479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W2</a:t>
              </a:r>
              <a:endParaRPr lang="en-US" sz="1100" spc="0" kern="0" b="0" i="0" dirty="0">
                <a:solidFill>
                  <a:srgbClr val="070154"/>
                </a:solidFill>
                <a:latin typeface="IBM Plex Sans"/>
                <a:ea typeface="IBM Plex Sans"/>
                <a:cs typeface="IBM Plex Sans"/>
              </a:endParaRPr>
            </a:p>
          </p:txBody>
        </p:sp>
      </p:grpSp>
      <p:grpSp>
        <p:nvGrpSpPr>
          <p:cNvPr id="148" name="node32"/>
          <p:cNvGrpSpPr/>
          <p:nvPr/>
        </p:nvGrpSpPr>
        <p:grpSpPr>
          <a:xfrm>
            <a:off x="6438900" y="3200400"/>
            <a:ext cx="1371600" cy="457200"/>
            <a:chOff x="6438900" y="3200400"/>
            <a:chExt cx="1371600" cy="457200"/>
          </a:xfrm>
        </p:grpSpPr>
        <p:sp>
          <p:nvSpPr>
            <p:cNvPr id="59" name="node32.surface"/>
            <p:cNvSpPr/>
            <p:nvPr/>
          </p:nvSpPr>
          <p:spPr>
            <a:xfrm>
              <a:off x="6445250" y="3206750"/>
              <a:ext cx="1358900" cy="444500"/>
            </a:xfrm>
            <a:prstGeom prst="rect">
              <a:avLst/>
            </a:prstGeom>
            <a:solidFill>
              <a:srgbClr val="FFFFFF"/>
            </a:solidFill>
            <a:ln w="12700">
              <a:solidFill>
                <a:srgbClr val="CED7E6"/>
              </a:solidFill>
              <a:prstDash val="solid"/>
            </a:ln>
          </p:spPr>
        </p:sp>
        <p:sp>
          <p:nvSpPr>
            <p:cNvPr id="60" name="node32.text"/>
            <p:cNvSpPr/>
            <p:nvPr/>
          </p:nvSpPr>
          <p:spPr>
            <a:xfrm>
              <a:off x="6591300" y="3333750"/>
              <a:ext cx="1066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Sync service</a:t>
              </a:r>
              <a:endParaRPr lang="en-US" sz="1100" spc="0" kern="0" b="0" i="0" dirty="0">
                <a:solidFill>
                  <a:srgbClr val="070154"/>
                </a:solidFill>
                <a:latin typeface="IBM Plex Sans"/>
                <a:ea typeface="IBM Plex Sans"/>
                <a:cs typeface="IBM Plex Sans"/>
              </a:endParaRPr>
            </a:p>
          </p:txBody>
        </p:sp>
      </p:grpSp>
      <p:grpSp>
        <p:nvGrpSpPr>
          <p:cNvPr id="149" name="node33"/>
          <p:cNvGrpSpPr/>
          <p:nvPr/>
        </p:nvGrpSpPr>
        <p:grpSpPr>
          <a:xfrm>
            <a:off x="7810500" y="3200400"/>
            <a:ext cx="457200" cy="457200"/>
            <a:chOff x="7810500" y="3200400"/>
            <a:chExt cx="457200" cy="457200"/>
          </a:xfrm>
        </p:grpSpPr>
        <p:sp>
          <p:nvSpPr>
            <p:cNvPr id="61" name="node33.surface"/>
            <p:cNvSpPr/>
            <p:nvPr/>
          </p:nvSpPr>
          <p:spPr>
            <a:xfrm>
              <a:off x="7810500" y="3200400"/>
              <a:ext cx="457200" cy="457200"/>
            </a:xfrm>
            <a:prstGeom prst="rect">
              <a:avLst/>
            </a:prstGeom>
            <a:solidFill>
              <a:srgbClr val="CED7E6"/>
            </a:solidFill>
            <a:ln>
              <a:noFill/>
            </a:ln>
          </p:spPr>
        </p:sp>
        <p:sp>
          <p:nvSpPr>
            <p:cNvPr id="62" name="node33.text"/>
            <p:cNvSpPr/>
            <p:nvPr/>
          </p:nvSpPr>
          <p:spPr>
            <a:xfrm>
              <a:off x="7886700" y="33337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W1</a:t>
              </a:r>
              <a:endParaRPr lang="en-US" sz="1100" spc="0" kern="0" b="0" i="0" dirty="0">
                <a:solidFill>
                  <a:srgbClr val="070154"/>
                </a:solidFill>
                <a:latin typeface="IBM Plex Sans"/>
                <a:ea typeface="IBM Plex Sans"/>
                <a:cs typeface="IBM Plex Sans"/>
              </a:endParaRPr>
            </a:p>
          </p:txBody>
        </p:sp>
      </p:grpSp>
      <p:sp>
        <p:nvSpPr>
          <p:cNvPr id="63" name="node34"/>
          <p:cNvSpPr/>
          <p:nvPr/>
        </p:nvSpPr>
        <p:spPr>
          <a:xfrm>
            <a:off x="6438900" y="3200400"/>
            <a:ext cx="1828800" cy="38100"/>
          </a:xfrm>
          <a:prstGeom prst="rect">
            <a:avLst/>
          </a:prstGeom>
          <a:solidFill>
            <a:srgbClr val="0047FF"/>
          </a:solidFill>
          <a:ln>
            <a:noFill/>
          </a:ln>
        </p:spPr>
      </p:sp>
      <p:grpSp>
        <p:nvGrpSpPr>
          <p:cNvPr id="150" name="node35"/>
          <p:cNvGrpSpPr/>
          <p:nvPr/>
        </p:nvGrpSpPr>
        <p:grpSpPr>
          <a:xfrm>
            <a:off x="8496300" y="3200400"/>
            <a:ext cx="2286000" cy="457200"/>
            <a:chOff x="8496300" y="3200400"/>
            <a:chExt cx="2286000" cy="457200"/>
          </a:xfrm>
        </p:grpSpPr>
        <p:sp>
          <p:nvSpPr>
            <p:cNvPr id="64" name="node35.surface"/>
            <p:cNvSpPr/>
            <p:nvPr/>
          </p:nvSpPr>
          <p:spPr>
            <a:xfrm>
              <a:off x="8496300" y="3200400"/>
              <a:ext cx="2286000" cy="457200"/>
            </a:xfrm>
            <a:prstGeom prst="rect">
              <a:avLst/>
            </a:prstGeom>
            <a:solidFill>
              <a:srgbClr val="070154"/>
            </a:solidFill>
            <a:ln>
              <a:noFill/>
            </a:ln>
          </p:spPr>
        </p:sp>
        <p:sp>
          <p:nvSpPr>
            <p:cNvPr id="65" name="node35.text"/>
            <p:cNvSpPr/>
            <p:nvPr/>
          </p:nvSpPr>
          <p:spPr>
            <a:xfrm>
              <a:off x="8648700" y="3333750"/>
              <a:ext cx="1981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Cloud database</a:t>
              </a:r>
              <a:endParaRPr lang="en-US" sz="1100" spc="0" kern="0" b="0" i="0" dirty="0">
                <a:solidFill>
                  <a:srgbClr val="FFFFFF"/>
                </a:solidFill>
                <a:latin typeface="IBM Plex Sans"/>
                <a:ea typeface="IBM Plex Sans"/>
                <a:cs typeface="IBM Plex Sans"/>
              </a:endParaRPr>
            </a:p>
          </p:txBody>
        </p:sp>
      </p:grpSp>
      <p:grpSp>
        <p:nvGrpSpPr>
          <p:cNvPr id="151" name="node36"/>
          <p:cNvGrpSpPr/>
          <p:nvPr/>
        </p:nvGrpSpPr>
        <p:grpSpPr>
          <a:xfrm>
            <a:off x="10782300" y="3200400"/>
            <a:ext cx="457200" cy="457200"/>
            <a:chOff x="10782300" y="3200400"/>
            <a:chExt cx="457200" cy="457200"/>
          </a:xfrm>
        </p:grpSpPr>
        <p:sp>
          <p:nvSpPr>
            <p:cNvPr id="66" name="node36.surface"/>
            <p:cNvSpPr/>
            <p:nvPr/>
          </p:nvSpPr>
          <p:spPr>
            <a:xfrm>
              <a:off x="10782300" y="3200400"/>
              <a:ext cx="457200" cy="457200"/>
            </a:xfrm>
            <a:prstGeom prst="rect">
              <a:avLst/>
            </a:prstGeom>
            <a:solidFill>
              <a:srgbClr val="CED7E6"/>
            </a:solidFill>
            <a:ln>
              <a:noFill/>
            </a:ln>
          </p:spPr>
        </p:sp>
        <p:sp>
          <p:nvSpPr>
            <p:cNvPr id="67" name="node36.text"/>
            <p:cNvSpPr/>
            <p:nvPr/>
          </p:nvSpPr>
          <p:spPr>
            <a:xfrm>
              <a:off x="10858500" y="33337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W1</a:t>
              </a:r>
              <a:endParaRPr lang="en-US" sz="1100" spc="0" kern="0" b="0" i="0" dirty="0">
                <a:solidFill>
                  <a:srgbClr val="070154"/>
                </a:solidFill>
                <a:latin typeface="IBM Plex Sans"/>
                <a:ea typeface="IBM Plex Sans"/>
                <a:cs typeface="IBM Plex Sans"/>
              </a:endParaRPr>
            </a:p>
          </p:txBody>
        </p:sp>
      </p:grpSp>
      <p:grpSp>
        <p:nvGrpSpPr>
          <p:cNvPr id="152" name="node37"/>
          <p:cNvGrpSpPr/>
          <p:nvPr/>
        </p:nvGrpSpPr>
        <p:grpSpPr>
          <a:xfrm>
            <a:off x="8267700" y="3386379"/>
            <a:ext cx="228600" cy="85242"/>
            <a:chOff x="8267700" y="3386379"/>
            <a:chExt cx="228600" cy="85242"/>
          </a:xfrm>
        </p:grpSpPr>
        <p:sp>
          <p:nvSpPr>
            <p:cNvPr id="68" name="node37.segment-1"/>
            <p:cNvSpPr/>
            <p:nvPr/>
          </p:nvSpPr>
          <p:spPr>
            <a:xfrm>
              <a:off x="8267700" y="3429000"/>
              <a:ext cx="228600" cy="0"/>
            </a:xfrm>
            <a:custGeom>
              <a:avLst/>
              <a:gdLst/>
              <a:ahLst/>
              <a:cxnLst/>
              <a:rect l="l" t="t" r="r" b="b"/>
              <a:pathLst>
                <a:path w="228600">
                  <a:moveTo>
                    <a:pt x="0" y="0"/>
                  </a:moveTo>
                  <a:lnTo>
                    <a:pt x="228600" y="0"/>
                  </a:lnTo>
                </a:path>
              </a:pathLst>
            </a:custGeom>
            <a:ln w="12700">
              <a:solidFill>
                <a:srgbClr val="070154"/>
              </a:solidFill>
              <a:prstDash val="dash"/>
            </a:ln>
          </p:spPr>
        </p:sp>
        <p:sp>
          <p:nvSpPr>
            <p:cNvPr id="69" name="node37.head-end.0"/>
            <p:cNvSpPr/>
            <p:nvPr/>
          </p:nvSpPr>
          <p:spPr>
            <a:xfrm>
              <a:off x="8418283" y="34290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70" name="node37.head-end.1"/>
            <p:cNvSpPr/>
            <p:nvPr/>
          </p:nvSpPr>
          <p:spPr>
            <a:xfrm>
              <a:off x="8418283" y="33863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53" name="node38"/>
          <p:cNvGrpSpPr/>
          <p:nvPr/>
        </p:nvGrpSpPr>
        <p:grpSpPr>
          <a:xfrm>
            <a:off x="9825279" y="2971800"/>
            <a:ext cx="85242" cy="228600"/>
            <a:chOff x="9825279" y="2971800"/>
            <a:chExt cx="85242" cy="228600"/>
          </a:xfrm>
        </p:grpSpPr>
        <p:sp>
          <p:nvSpPr>
            <p:cNvPr id="71" name="node38.segment-1"/>
            <p:cNvSpPr/>
            <p:nvPr/>
          </p:nvSpPr>
          <p:spPr>
            <a:xfrm>
              <a:off x="98679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72" name="node38.head-end.0"/>
            <p:cNvSpPr/>
            <p:nvPr/>
          </p:nvSpPr>
          <p:spPr>
            <a:xfrm>
              <a:off x="98252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73" name="node38.head-end.1"/>
            <p:cNvSpPr/>
            <p:nvPr/>
          </p:nvSpPr>
          <p:spPr>
            <a:xfrm>
              <a:off x="98679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74" name="node38.head-start.0"/>
            <p:cNvSpPr/>
            <p:nvPr/>
          </p:nvSpPr>
          <p:spPr>
            <a:xfrm>
              <a:off x="9867900" y="29718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75" name="node38.head-start.1"/>
            <p:cNvSpPr/>
            <p:nvPr/>
          </p:nvSpPr>
          <p:spPr>
            <a:xfrm>
              <a:off x="9825279" y="29718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154" name="node39"/>
          <p:cNvGrpSpPr/>
          <p:nvPr/>
        </p:nvGrpSpPr>
        <p:grpSpPr>
          <a:xfrm>
            <a:off x="1638300" y="1943100"/>
            <a:ext cx="5757621" cy="571500"/>
            <a:chOff x="1638300" y="1943100"/>
            <a:chExt cx="5757621" cy="571500"/>
          </a:xfrm>
        </p:grpSpPr>
        <p:sp>
          <p:nvSpPr>
            <p:cNvPr id="76" name="node39.segment-1"/>
            <p:cNvSpPr/>
            <p:nvPr/>
          </p:nvSpPr>
          <p:spPr>
            <a:xfrm>
              <a:off x="1638300" y="2057400"/>
              <a:ext cx="0" cy="457200"/>
            </a:xfrm>
            <a:custGeom>
              <a:avLst/>
              <a:gdLst/>
              <a:ahLst/>
              <a:cxnLst/>
              <a:rect l="l" t="t" r="r" b="b"/>
              <a:pathLst>
                <a:path h="457200">
                  <a:moveTo>
                    <a:pt x="0" y="457200"/>
                  </a:moveTo>
                  <a:lnTo>
                    <a:pt x="0" y="0"/>
                  </a:lnTo>
                </a:path>
              </a:pathLst>
            </a:custGeom>
            <a:ln w="12700">
              <a:solidFill>
                <a:srgbClr val="070154"/>
              </a:solidFill>
              <a:prstDash val="solid"/>
            </a:ln>
          </p:spPr>
        </p:sp>
        <p:sp>
          <p:nvSpPr>
            <p:cNvPr id="77" name="node39.segment-2"/>
            <p:cNvSpPr/>
            <p:nvPr/>
          </p:nvSpPr>
          <p:spPr>
            <a:xfrm>
              <a:off x="1638300" y="2057400"/>
              <a:ext cx="5715000" cy="0"/>
            </a:xfrm>
            <a:custGeom>
              <a:avLst/>
              <a:gdLst/>
              <a:ahLst/>
              <a:cxnLst/>
              <a:rect l="l" t="t" r="r" b="b"/>
              <a:pathLst>
                <a:path w="5715000">
                  <a:moveTo>
                    <a:pt x="0" y="0"/>
                  </a:moveTo>
                  <a:lnTo>
                    <a:pt x="5715000" y="0"/>
                  </a:lnTo>
                </a:path>
              </a:pathLst>
            </a:custGeom>
            <a:ln w="12700">
              <a:solidFill>
                <a:srgbClr val="070154"/>
              </a:solidFill>
              <a:prstDash val="solid"/>
            </a:ln>
          </p:spPr>
        </p:sp>
        <p:sp>
          <p:nvSpPr>
            <p:cNvPr id="78" name="node39.segment-3"/>
            <p:cNvSpPr/>
            <p:nvPr/>
          </p:nvSpPr>
          <p:spPr>
            <a:xfrm>
              <a:off x="7353300" y="2057400"/>
              <a:ext cx="0" cy="457200"/>
            </a:xfrm>
            <a:custGeom>
              <a:avLst/>
              <a:gdLst/>
              <a:ahLst/>
              <a:cxnLst/>
              <a:rect l="l" t="t" r="r" b="b"/>
              <a:pathLst>
                <a:path h="457200">
                  <a:moveTo>
                    <a:pt x="0" y="0"/>
                  </a:moveTo>
                  <a:lnTo>
                    <a:pt x="0" y="457200"/>
                  </a:lnTo>
                </a:path>
              </a:pathLst>
            </a:custGeom>
            <a:ln w="12700">
              <a:solidFill>
                <a:srgbClr val="070154"/>
              </a:solidFill>
              <a:prstDash val="solid"/>
            </a:ln>
          </p:spPr>
        </p:sp>
        <p:sp>
          <p:nvSpPr>
            <p:cNvPr id="79" name="node39.head-end.0"/>
            <p:cNvSpPr/>
            <p:nvPr/>
          </p:nvSpPr>
          <p:spPr>
            <a:xfrm>
              <a:off x="7310679" y="24365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80" name="node39.head-end.1"/>
            <p:cNvSpPr/>
            <p:nvPr/>
          </p:nvSpPr>
          <p:spPr>
            <a:xfrm>
              <a:off x="7353300" y="24365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81" name="node39.label-patch"/>
            <p:cNvSpPr/>
            <p:nvPr/>
          </p:nvSpPr>
          <p:spPr>
            <a:xfrm>
              <a:off x="3921444" y="1943100"/>
              <a:ext cx="1148711" cy="228600"/>
            </a:xfrm>
            <a:prstGeom prst="rect">
              <a:avLst/>
            </a:prstGeom>
            <a:solidFill>
              <a:srgbClr val="FFFFFF"/>
            </a:solidFill>
            <a:ln>
              <a:noFill/>
            </a:ln>
          </p:spPr>
        </p:sp>
        <p:sp>
          <p:nvSpPr>
            <p:cNvPr id="82" name="node39.label"/>
            <p:cNvSpPr/>
            <p:nvPr/>
          </p:nvSpPr>
          <p:spPr>
            <a:xfrm>
              <a:off x="3959544" y="1981200"/>
              <a:ext cx="1072511"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API CALLS, LIVE</a:t>
              </a:r>
              <a:endParaRPr lang="en-US" sz="800" spc="48" kern="0" b="0" i="0" dirty="0">
                <a:solidFill>
                  <a:srgbClr val="50658E"/>
                </a:solidFill>
                <a:latin typeface="IBM Plex Mono Medium"/>
                <a:ea typeface="IBM Plex Mono Medium"/>
                <a:cs typeface="IBM Plex Mono Medium"/>
              </a:endParaRPr>
            </a:p>
          </p:txBody>
        </p:sp>
      </p:grpSp>
      <p:grpSp>
        <p:nvGrpSpPr>
          <p:cNvPr id="155" name="node40"/>
          <p:cNvGrpSpPr/>
          <p:nvPr/>
        </p:nvGrpSpPr>
        <p:grpSpPr>
          <a:xfrm>
            <a:off x="3238500" y="2171700"/>
            <a:ext cx="3471621" cy="342900"/>
            <a:chOff x="3238500" y="2171700"/>
            <a:chExt cx="3471621" cy="342900"/>
          </a:xfrm>
        </p:grpSpPr>
        <p:sp>
          <p:nvSpPr>
            <p:cNvPr id="83" name="node40.segment-1"/>
            <p:cNvSpPr/>
            <p:nvPr/>
          </p:nvSpPr>
          <p:spPr>
            <a:xfrm>
              <a:off x="3238500" y="2171700"/>
              <a:ext cx="0" cy="342900"/>
            </a:xfrm>
            <a:custGeom>
              <a:avLst/>
              <a:gdLst/>
              <a:ahLst/>
              <a:cxnLst/>
              <a:rect l="l" t="t" r="r" b="b"/>
              <a:pathLst>
                <a:path h="342900">
                  <a:moveTo>
                    <a:pt x="0" y="342900"/>
                  </a:moveTo>
                  <a:lnTo>
                    <a:pt x="0" y="0"/>
                  </a:lnTo>
                </a:path>
              </a:pathLst>
            </a:custGeom>
            <a:ln w="12700">
              <a:solidFill>
                <a:srgbClr val="070154"/>
              </a:solidFill>
              <a:prstDash val="dash"/>
            </a:ln>
          </p:spPr>
        </p:sp>
        <p:sp>
          <p:nvSpPr>
            <p:cNvPr id="84" name="node40.segment-2"/>
            <p:cNvSpPr/>
            <p:nvPr/>
          </p:nvSpPr>
          <p:spPr>
            <a:xfrm>
              <a:off x="3238500" y="2171700"/>
              <a:ext cx="3429000" cy="0"/>
            </a:xfrm>
            <a:custGeom>
              <a:avLst/>
              <a:gdLst/>
              <a:ahLst/>
              <a:cxnLst/>
              <a:rect l="l" t="t" r="r" b="b"/>
              <a:pathLst>
                <a:path w="3429000">
                  <a:moveTo>
                    <a:pt x="0" y="0"/>
                  </a:moveTo>
                  <a:lnTo>
                    <a:pt x="3429000" y="0"/>
                  </a:lnTo>
                </a:path>
              </a:pathLst>
            </a:custGeom>
            <a:ln w="12700">
              <a:solidFill>
                <a:srgbClr val="070154"/>
              </a:solidFill>
              <a:prstDash val="dash"/>
            </a:ln>
          </p:spPr>
        </p:sp>
        <p:sp>
          <p:nvSpPr>
            <p:cNvPr id="85" name="node40.segment-3"/>
            <p:cNvSpPr/>
            <p:nvPr/>
          </p:nvSpPr>
          <p:spPr>
            <a:xfrm>
              <a:off x="6667500" y="2171700"/>
              <a:ext cx="0" cy="342900"/>
            </a:xfrm>
            <a:custGeom>
              <a:avLst/>
              <a:gdLst/>
              <a:ahLst/>
              <a:cxnLst/>
              <a:rect l="l" t="t" r="r" b="b"/>
              <a:pathLst>
                <a:path h="342900">
                  <a:moveTo>
                    <a:pt x="0" y="0"/>
                  </a:moveTo>
                  <a:lnTo>
                    <a:pt x="0" y="342900"/>
                  </a:lnTo>
                </a:path>
              </a:pathLst>
            </a:custGeom>
            <a:ln w="12700">
              <a:solidFill>
                <a:srgbClr val="070154"/>
              </a:solidFill>
              <a:prstDash val="dash"/>
            </a:ln>
          </p:spPr>
        </p:sp>
        <p:sp>
          <p:nvSpPr>
            <p:cNvPr id="86" name="node40.head-end.0"/>
            <p:cNvSpPr/>
            <p:nvPr/>
          </p:nvSpPr>
          <p:spPr>
            <a:xfrm>
              <a:off x="6624879" y="24365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87" name="node40.head-end.1"/>
            <p:cNvSpPr/>
            <p:nvPr/>
          </p:nvSpPr>
          <p:spPr>
            <a:xfrm>
              <a:off x="6667500" y="24365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6" name="node41"/>
          <p:cNvGrpSpPr/>
          <p:nvPr/>
        </p:nvGrpSpPr>
        <p:grpSpPr>
          <a:xfrm>
            <a:off x="3238500" y="3657600"/>
            <a:ext cx="4157421" cy="342900"/>
            <a:chOff x="3238500" y="3657600"/>
            <a:chExt cx="4157421" cy="342900"/>
          </a:xfrm>
        </p:grpSpPr>
        <p:sp>
          <p:nvSpPr>
            <p:cNvPr id="88" name="node41.segment-1"/>
            <p:cNvSpPr/>
            <p:nvPr/>
          </p:nvSpPr>
          <p:spPr>
            <a:xfrm>
              <a:off x="3238500" y="3657600"/>
              <a:ext cx="0" cy="228600"/>
            </a:xfrm>
            <a:custGeom>
              <a:avLst/>
              <a:gdLst/>
              <a:ahLst/>
              <a:cxnLst/>
              <a:rect l="l" t="t" r="r" b="b"/>
              <a:pathLst>
                <a:path h="228600">
                  <a:moveTo>
                    <a:pt x="0" y="0"/>
                  </a:moveTo>
                  <a:lnTo>
                    <a:pt x="0" y="228600"/>
                  </a:lnTo>
                </a:path>
              </a:pathLst>
            </a:custGeom>
            <a:ln w="12700">
              <a:solidFill>
                <a:srgbClr val="070154"/>
              </a:solidFill>
              <a:prstDash val="dash"/>
            </a:ln>
          </p:spPr>
        </p:sp>
        <p:sp>
          <p:nvSpPr>
            <p:cNvPr id="89" name="node41.segment-2"/>
            <p:cNvSpPr/>
            <p:nvPr/>
          </p:nvSpPr>
          <p:spPr>
            <a:xfrm>
              <a:off x="3238500" y="3886200"/>
              <a:ext cx="4114800" cy="0"/>
            </a:xfrm>
            <a:custGeom>
              <a:avLst/>
              <a:gdLst/>
              <a:ahLst/>
              <a:cxnLst/>
              <a:rect l="l" t="t" r="r" b="b"/>
              <a:pathLst>
                <a:path w="4114800">
                  <a:moveTo>
                    <a:pt x="0" y="0"/>
                  </a:moveTo>
                  <a:lnTo>
                    <a:pt x="4114800" y="0"/>
                  </a:lnTo>
                </a:path>
              </a:pathLst>
            </a:custGeom>
            <a:ln w="12700">
              <a:solidFill>
                <a:srgbClr val="070154"/>
              </a:solidFill>
              <a:prstDash val="dash"/>
            </a:ln>
          </p:spPr>
        </p:sp>
        <p:sp>
          <p:nvSpPr>
            <p:cNvPr id="90" name="node41.segment-3"/>
            <p:cNvSpPr/>
            <p:nvPr/>
          </p:nvSpPr>
          <p:spPr>
            <a:xfrm>
              <a:off x="7353300" y="3657600"/>
              <a:ext cx="0" cy="228600"/>
            </a:xfrm>
            <a:custGeom>
              <a:avLst/>
              <a:gdLst/>
              <a:ahLst/>
              <a:cxnLst/>
              <a:rect l="l" t="t" r="r" b="b"/>
              <a:pathLst>
                <a:path h="228600">
                  <a:moveTo>
                    <a:pt x="0" y="228600"/>
                  </a:moveTo>
                  <a:lnTo>
                    <a:pt x="0" y="0"/>
                  </a:lnTo>
                </a:path>
              </a:pathLst>
            </a:custGeom>
            <a:ln w="12700">
              <a:solidFill>
                <a:srgbClr val="070154"/>
              </a:solidFill>
              <a:prstDash val="dash"/>
            </a:ln>
          </p:spPr>
        </p:sp>
        <p:sp>
          <p:nvSpPr>
            <p:cNvPr id="91" name="node41.head-end.0"/>
            <p:cNvSpPr/>
            <p:nvPr/>
          </p:nvSpPr>
          <p:spPr>
            <a:xfrm>
              <a:off x="7353300" y="36576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92" name="node41.head-end.1"/>
            <p:cNvSpPr/>
            <p:nvPr/>
          </p:nvSpPr>
          <p:spPr>
            <a:xfrm>
              <a:off x="7310679" y="36576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sp>
          <p:nvSpPr>
            <p:cNvPr id="93" name="node41.label-patch"/>
            <p:cNvSpPr/>
            <p:nvPr/>
          </p:nvSpPr>
          <p:spPr>
            <a:xfrm>
              <a:off x="4854386" y="3771900"/>
              <a:ext cx="883028" cy="228600"/>
            </a:xfrm>
            <a:prstGeom prst="rect">
              <a:avLst/>
            </a:prstGeom>
            <a:solidFill>
              <a:srgbClr val="FFFFFF"/>
            </a:solidFill>
            <a:ln>
              <a:noFill/>
            </a:ln>
          </p:spPr>
        </p:sp>
        <p:sp>
          <p:nvSpPr>
            <p:cNvPr id="94" name="node41.label"/>
            <p:cNvSpPr/>
            <p:nvPr/>
          </p:nvSpPr>
          <p:spPr>
            <a:xfrm>
              <a:off x="4892486" y="3810000"/>
              <a:ext cx="806828"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REPLICATION</a:t>
              </a:r>
              <a:endParaRPr lang="en-US" sz="800" spc="48" kern="0" b="0" i="0" dirty="0">
                <a:solidFill>
                  <a:srgbClr val="50658E"/>
                </a:solidFill>
                <a:latin typeface="IBM Plex Mono Medium"/>
                <a:ea typeface="IBM Plex Mono Medium"/>
                <a:cs typeface="IBM Plex Mono Medium"/>
              </a:endParaRPr>
            </a:p>
          </p:txBody>
        </p:sp>
      </p:grpSp>
      <p:grpSp>
        <p:nvGrpSpPr>
          <p:cNvPr id="157" name="node42"/>
          <p:cNvGrpSpPr/>
          <p:nvPr/>
        </p:nvGrpSpPr>
        <p:grpSpPr>
          <a:xfrm>
            <a:off x="6438900" y="4114800"/>
            <a:ext cx="4800600" cy="228600"/>
            <a:chOff x="6438900" y="4114800"/>
            <a:chExt cx="4800600" cy="228600"/>
          </a:xfrm>
        </p:grpSpPr>
        <p:sp>
          <p:nvSpPr>
            <p:cNvPr id="95" name="node42.label"/>
            <p:cNvSpPr/>
            <p:nvPr/>
          </p:nvSpPr>
          <p:spPr>
            <a:xfrm>
              <a:off x="6438900" y="4114800"/>
              <a:ext cx="62318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WAVE PLAN</a:t>
              </a:r>
              <a:endParaRPr lang="en-US" sz="800" spc="48" kern="0" b="0" i="0" dirty="0">
                <a:solidFill>
                  <a:srgbClr val="50658E"/>
                </a:solidFill>
                <a:latin typeface="IBM Plex Mono Medium"/>
                <a:ea typeface="IBM Plex Mono Medium"/>
                <a:cs typeface="IBM Plex Mono Medium"/>
              </a:endParaRPr>
            </a:p>
          </p:txBody>
        </p:sp>
        <p:sp>
          <p:nvSpPr>
            <p:cNvPr id="96" name="node42.rule"/>
            <p:cNvSpPr/>
            <p:nvPr/>
          </p:nvSpPr>
          <p:spPr>
            <a:xfrm>
              <a:off x="7189087" y="4224338"/>
              <a:ext cx="4050413" cy="9525"/>
            </a:xfrm>
            <a:prstGeom prst="rect">
              <a:avLst/>
            </a:prstGeom>
            <a:solidFill>
              <a:srgbClr val="CED7E6"/>
            </a:solidFill>
            <a:ln>
              <a:noFill/>
            </a:ln>
          </p:spPr>
        </p:sp>
      </p:grpSp>
      <p:grpSp>
        <p:nvGrpSpPr>
          <p:cNvPr id="158" name="node43"/>
          <p:cNvGrpSpPr/>
          <p:nvPr/>
        </p:nvGrpSpPr>
        <p:grpSpPr>
          <a:xfrm>
            <a:off x="6438900" y="4457700"/>
            <a:ext cx="4800600" cy="723900"/>
            <a:chOff x="6438900" y="4457700"/>
            <a:chExt cx="4800600" cy="723900"/>
          </a:xfrm>
        </p:grpSpPr>
        <p:sp>
          <p:nvSpPr>
            <p:cNvPr id="97" name="node43.source-001.bullet"/>
            <p:cNvSpPr/>
            <p:nvPr/>
          </p:nvSpPr>
          <p:spPr>
            <a:xfrm>
              <a:off x="6438900" y="4546600"/>
              <a:ext cx="38100" cy="38100"/>
            </a:xfrm>
            <a:prstGeom prst="rect">
              <a:avLst/>
            </a:prstGeom>
            <a:solidFill>
              <a:srgbClr val="070154"/>
            </a:solidFill>
            <a:ln>
              <a:noFill/>
            </a:ln>
          </p:spPr>
        </p:sp>
        <p:sp>
          <p:nvSpPr>
            <p:cNvPr id="98" name="node43.source-001.text"/>
            <p:cNvSpPr/>
            <p:nvPr/>
          </p:nvSpPr>
          <p:spPr>
            <a:xfrm>
              <a:off x="6591300" y="44577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W1</a:t>
              </a:r>
              <a:r>
                <a:rPr lang="en-US" sz="1200" spc="0" kern="0" b="0" i="0" dirty="0">
                  <a:solidFill>
                    <a:srgbClr val="50658E"/>
                  </a:solidFill>
                  <a:latin typeface="IBM Plex Sans"/>
                  <a:ea typeface="IBM Plex Sans"/>
                  <a:cs typeface="IBM Plex Sans"/>
                </a:rPr>
                <a:t xml:space="preserve"> Replicate site databases to the cloud</a:t>
              </a:r>
              <a:endParaRPr lang="en-US" sz="1200" spc="0" kern="0" b="0" i="0" dirty="0">
                <a:solidFill>
                  <a:srgbClr val="070154"/>
                </a:solidFill>
                <a:latin typeface="IBM Plex Sans"/>
                <a:ea typeface="IBM Plex Sans"/>
                <a:cs typeface="IBM Plex Sans"/>
              </a:endParaRPr>
            </a:p>
          </p:txBody>
        </p:sp>
        <p:sp>
          <p:nvSpPr>
            <p:cNvPr id="99" name="node43.source-002.bullet"/>
            <p:cNvSpPr/>
            <p:nvPr/>
          </p:nvSpPr>
          <p:spPr>
            <a:xfrm>
              <a:off x="6438900" y="4800600"/>
              <a:ext cx="38100" cy="38100"/>
            </a:xfrm>
            <a:prstGeom prst="rect">
              <a:avLst/>
            </a:prstGeom>
            <a:solidFill>
              <a:srgbClr val="070154"/>
            </a:solidFill>
            <a:ln>
              <a:noFill/>
            </a:ln>
          </p:spPr>
        </p:sp>
        <p:sp>
          <p:nvSpPr>
            <p:cNvPr id="100" name="node43.source-002.text"/>
            <p:cNvSpPr/>
            <p:nvPr/>
          </p:nvSpPr>
          <p:spPr>
            <a:xfrm>
              <a:off x="6591300" y="47117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W2</a:t>
              </a:r>
              <a:r>
                <a:rPr lang="en-US" sz="1200" spc="0" kern="0" b="0" i="0" dirty="0">
                  <a:solidFill>
                    <a:srgbClr val="50658E"/>
                  </a:solidFill>
                  <a:latin typeface="IBM Plex Sans"/>
                  <a:ea typeface="IBM Plex Sans"/>
                  <a:cs typeface="IBM Plex Sans"/>
                </a:rPr>
                <a:t xml:space="preserve"> Route calls through the central API</a:t>
              </a:r>
              <a:endParaRPr lang="en-US" sz="1200" spc="0" kern="0" b="0" i="0" dirty="0">
                <a:solidFill>
                  <a:srgbClr val="070154"/>
                </a:solidFill>
                <a:latin typeface="IBM Plex Sans"/>
                <a:ea typeface="IBM Plex Sans"/>
                <a:cs typeface="IBM Plex Sans"/>
              </a:endParaRPr>
            </a:p>
          </p:txBody>
        </p:sp>
        <p:sp>
          <p:nvSpPr>
            <p:cNvPr id="101" name="node43.source-003.bullet"/>
            <p:cNvSpPr/>
            <p:nvPr/>
          </p:nvSpPr>
          <p:spPr>
            <a:xfrm>
              <a:off x="6438900" y="5054600"/>
              <a:ext cx="38100" cy="38100"/>
            </a:xfrm>
            <a:prstGeom prst="rect">
              <a:avLst/>
            </a:prstGeom>
            <a:solidFill>
              <a:srgbClr val="070154"/>
            </a:solidFill>
            <a:ln>
              <a:noFill/>
            </a:ln>
          </p:spPr>
        </p:sp>
        <p:sp>
          <p:nvSpPr>
            <p:cNvPr id="102" name="node43.source-003.text"/>
            <p:cNvSpPr/>
            <p:nvPr/>
          </p:nvSpPr>
          <p:spPr>
            <a:xfrm>
              <a:off x="6591300" y="49657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W3</a:t>
              </a:r>
              <a:r>
                <a:rPr lang="en-US" sz="1200" spc="0" kern="0" b="0" i="0" dirty="0">
                  <a:solidFill>
                    <a:srgbClr val="50658E"/>
                  </a:solidFill>
                  <a:latin typeface="IBM Plex Sans"/>
                  <a:ea typeface="IBM Plex Sans"/>
                  <a:cs typeface="IBM Plex Sans"/>
                </a:rPr>
                <a:t xml:space="preserve"> Repoint site UIs and retire site DBs</a:t>
              </a:r>
              <a:endParaRPr lang="en-US" sz="1200" spc="0" kern="0" b="0" i="0" dirty="0">
                <a:solidFill>
                  <a:srgbClr val="070154"/>
                </a:solidFill>
                <a:latin typeface="IBM Plex Sans"/>
                <a:ea typeface="IBM Plex Sans"/>
                <a:cs typeface="IBM Plex Sans"/>
              </a:endParaRPr>
            </a:p>
          </p:txBody>
        </p:sp>
      </p:grpSp>
      <p:grpSp>
        <p:nvGrpSpPr>
          <p:cNvPr id="159" name="node44"/>
          <p:cNvGrpSpPr/>
          <p:nvPr/>
        </p:nvGrpSpPr>
        <p:grpSpPr>
          <a:xfrm>
            <a:off x="723900" y="5486400"/>
            <a:ext cx="457200" cy="228600"/>
            <a:chOff x="723900" y="5486400"/>
            <a:chExt cx="457200" cy="228600"/>
          </a:xfrm>
        </p:grpSpPr>
        <p:sp>
          <p:nvSpPr>
            <p:cNvPr id="103" name="node44.surface"/>
            <p:cNvSpPr/>
            <p:nvPr/>
          </p:nvSpPr>
          <p:spPr>
            <a:xfrm>
              <a:off x="730250" y="5492750"/>
              <a:ext cx="444500" cy="215900"/>
            </a:xfrm>
            <a:prstGeom prst="rect">
              <a:avLst/>
            </a:prstGeom>
            <a:solidFill>
              <a:srgbClr val="FFFFFF"/>
            </a:solidFill>
            <a:ln w="12700">
              <a:solidFill>
                <a:srgbClr val="CED7E6"/>
              </a:solidFill>
              <a:prstDash val="solid"/>
            </a:ln>
          </p:spPr>
        </p:sp>
      </p:grpSp>
      <p:grpSp>
        <p:nvGrpSpPr>
          <p:cNvPr id="160" name="node45"/>
          <p:cNvGrpSpPr/>
          <p:nvPr/>
        </p:nvGrpSpPr>
        <p:grpSpPr>
          <a:xfrm>
            <a:off x="1295400" y="5486400"/>
            <a:ext cx="1371600" cy="190500"/>
            <a:chOff x="1295400" y="5486400"/>
            <a:chExt cx="1371600" cy="190500"/>
          </a:xfrm>
        </p:grpSpPr>
        <p:sp>
          <p:nvSpPr>
            <p:cNvPr id="104" name="node45.text"/>
            <p:cNvSpPr/>
            <p:nvPr/>
          </p:nvSpPr>
          <p:spPr>
            <a:xfrm>
              <a:off x="1295400" y="54864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Legacy / on-prem</a:t>
              </a:r>
              <a:endParaRPr lang="en-US" sz="1100" spc="0" kern="0" b="0" i="0" dirty="0">
                <a:solidFill>
                  <a:srgbClr val="070154"/>
                </a:solidFill>
                <a:latin typeface="IBM Plex Sans"/>
                <a:ea typeface="IBM Plex Sans"/>
                <a:cs typeface="IBM Plex Sans"/>
              </a:endParaRPr>
            </a:p>
          </p:txBody>
        </p:sp>
      </p:grpSp>
      <p:grpSp>
        <p:nvGrpSpPr>
          <p:cNvPr id="161" name="node46"/>
          <p:cNvGrpSpPr/>
          <p:nvPr/>
        </p:nvGrpSpPr>
        <p:grpSpPr>
          <a:xfrm>
            <a:off x="2781300" y="5486400"/>
            <a:ext cx="457200" cy="228600"/>
            <a:chOff x="2781300" y="5486400"/>
            <a:chExt cx="457200" cy="228600"/>
          </a:xfrm>
        </p:grpSpPr>
        <p:sp>
          <p:nvSpPr>
            <p:cNvPr id="105" name="node46.surface"/>
            <p:cNvSpPr/>
            <p:nvPr/>
          </p:nvSpPr>
          <p:spPr>
            <a:xfrm>
              <a:off x="2787650" y="5492750"/>
              <a:ext cx="444500" cy="215900"/>
            </a:xfrm>
            <a:prstGeom prst="rect">
              <a:avLst/>
            </a:prstGeom>
            <a:solidFill>
              <a:srgbClr val="FFFFFF"/>
            </a:solidFill>
            <a:ln w="12700">
              <a:solidFill>
                <a:srgbClr val="CED7E6"/>
              </a:solidFill>
              <a:prstDash val="solid"/>
            </a:ln>
          </p:spPr>
        </p:sp>
      </p:grpSp>
      <p:sp>
        <p:nvSpPr>
          <p:cNvPr id="106" name="node47"/>
          <p:cNvSpPr/>
          <p:nvPr/>
        </p:nvSpPr>
        <p:spPr>
          <a:xfrm>
            <a:off x="2781300" y="5486400"/>
            <a:ext cx="457200" cy="38100"/>
          </a:xfrm>
          <a:prstGeom prst="rect">
            <a:avLst/>
          </a:prstGeom>
          <a:solidFill>
            <a:srgbClr val="0047FF"/>
          </a:solidFill>
          <a:ln>
            <a:noFill/>
          </a:ln>
        </p:spPr>
      </p:sp>
      <p:grpSp>
        <p:nvGrpSpPr>
          <p:cNvPr id="162" name="node48"/>
          <p:cNvGrpSpPr/>
          <p:nvPr/>
        </p:nvGrpSpPr>
        <p:grpSpPr>
          <a:xfrm>
            <a:off x="3352800" y="5486400"/>
            <a:ext cx="889000" cy="190500"/>
            <a:chOff x="3352800" y="5486400"/>
            <a:chExt cx="889000" cy="190500"/>
          </a:xfrm>
        </p:grpSpPr>
        <p:sp>
          <p:nvSpPr>
            <p:cNvPr id="107" name="node48.text"/>
            <p:cNvSpPr/>
            <p:nvPr/>
          </p:nvSpPr>
          <p:spPr>
            <a:xfrm>
              <a:off x="3352800" y="5486400"/>
              <a:ext cx="88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Coexisting</a:t>
              </a:r>
              <a:endParaRPr lang="en-US" sz="1100" spc="0" kern="0" b="0" i="0" dirty="0">
                <a:solidFill>
                  <a:srgbClr val="070154"/>
                </a:solidFill>
                <a:latin typeface="IBM Plex Sans"/>
                <a:ea typeface="IBM Plex Sans"/>
                <a:cs typeface="IBM Plex Sans"/>
              </a:endParaRPr>
            </a:p>
          </p:txBody>
        </p:sp>
      </p:grpSp>
      <p:grpSp>
        <p:nvGrpSpPr>
          <p:cNvPr id="163" name="node49"/>
          <p:cNvGrpSpPr/>
          <p:nvPr/>
        </p:nvGrpSpPr>
        <p:grpSpPr>
          <a:xfrm>
            <a:off x="4381500" y="5486400"/>
            <a:ext cx="457200" cy="228600"/>
            <a:chOff x="4381500" y="5486400"/>
            <a:chExt cx="457200" cy="228600"/>
          </a:xfrm>
        </p:grpSpPr>
        <p:sp>
          <p:nvSpPr>
            <p:cNvPr id="108" name="node49.surface"/>
            <p:cNvSpPr/>
            <p:nvPr/>
          </p:nvSpPr>
          <p:spPr>
            <a:xfrm>
              <a:off x="4381500" y="5486400"/>
              <a:ext cx="457200" cy="228600"/>
            </a:xfrm>
            <a:prstGeom prst="rect">
              <a:avLst/>
            </a:prstGeom>
            <a:solidFill>
              <a:srgbClr val="070154"/>
            </a:solidFill>
            <a:ln>
              <a:noFill/>
            </a:ln>
          </p:spPr>
        </p:sp>
      </p:grpSp>
      <p:grpSp>
        <p:nvGrpSpPr>
          <p:cNvPr id="164" name="node50"/>
          <p:cNvGrpSpPr/>
          <p:nvPr/>
        </p:nvGrpSpPr>
        <p:grpSpPr>
          <a:xfrm>
            <a:off x="4953000" y="5486400"/>
            <a:ext cx="723900" cy="190500"/>
            <a:chOff x="4953000" y="5486400"/>
            <a:chExt cx="723900" cy="190500"/>
          </a:xfrm>
        </p:grpSpPr>
        <p:sp>
          <p:nvSpPr>
            <p:cNvPr id="109" name="node50.text"/>
            <p:cNvSpPr/>
            <p:nvPr/>
          </p:nvSpPr>
          <p:spPr>
            <a:xfrm>
              <a:off x="4953000" y="5486400"/>
              <a:ext cx="7239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Migrated</a:t>
              </a:r>
              <a:endParaRPr lang="en-US" sz="1100" spc="0" kern="0" b="0" i="0" dirty="0">
                <a:solidFill>
                  <a:srgbClr val="070154"/>
                </a:solidFill>
                <a:latin typeface="IBM Plex Sans"/>
                <a:ea typeface="IBM Plex Sans"/>
                <a:cs typeface="IBM Plex Sans"/>
              </a:endParaRPr>
            </a:p>
          </p:txBody>
        </p:sp>
      </p:grpSp>
      <p:grpSp>
        <p:nvGrpSpPr>
          <p:cNvPr id="165" name="node51"/>
          <p:cNvGrpSpPr/>
          <p:nvPr/>
        </p:nvGrpSpPr>
        <p:grpSpPr>
          <a:xfrm>
            <a:off x="5753100" y="5486400"/>
            <a:ext cx="457200" cy="228600"/>
            <a:chOff x="5753100" y="5486400"/>
            <a:chExt cx="457200" cy="228600"/>
          </a:xfrm>
        </p:grpSpPr>
        <p:sp>
          <p:nvSpPr>
            <p:cNvPr id="110" name="node51.surface"/>
            <p:cNvSpPr/>
            <p:nvPr/>
          </p:nvSpPr>
          <p:spPr>
            <a:xfrm>
              <a:off x="5753100" y="5486400"/>
              <a:ext cx="457200" cy="228600"/>
            </a:xfrm>
            <a:prstGeom prst="rect">
              <a:avLst/>
            </a:prstGeom>
            <a:solidFill>
              <a:srgbClr val="FFFFFF"/>
            </a:solidFill>
            <a:ln w="12700">
              <a:solidFill>
                <a:srgbClr val="50658E"/>
              </a:solidFill>
              <a:prstDash val="dash"/>
            </a:ln>
          </p:spPr>
        </p:sp>
      </p:grpSp>
      <p:grpSp>
        <p:nvGrpSpPr>
          <p:cNvPr id="166" name="node52"/>
          <p:cNvGrpSpPr/>
          <p:nvPr/>
        </p:nvGrpSpPr>
        <p:grpSpPr>
          <a:xfrm>
            <a:off x="6324600" y="5486400"/>
            <a:ext cx="1447800" cy="190500"/>
            <a:chOff x="6324600" y="5486400"/>
            <a:chExt cx="1447800" cy="190500"/>
          </a:xfrm>
        </p:grpSpPr>
        <p:sp>
          <p:nvSpPr>
            <p:cNvPr id="111" name="node52.text"/>
            <p:cNvSpPr/>
            <p:nvPr/>
          </p:nvSpPr>
          <p:spPr>
            <a:xfrm>
              <a:off x="6324600" y="548640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Retired / planned</a:t>
              </a:r>
              <a:endParaRPr lang="en-US" sz="1100" spc="0" kern="0" b="0" i="0" dirty="0">
                <a:solidFill>
                  <a:srgbClr val="070154"/>
                </a:solidFill>
                <a:latin typeface="IBM Plex Sans"/>
                <a:ea typeface="IBM Plex Sans"/>
                <a:cs typeface="IBM Plex Sans"/>
              </a:endParaRPr>
            </a:p>
          </p:txBody>
        </p:sp>
      </p:grpSp>
      <p:grpSp>
        <p:nvGrpSpPr>
          <p:cNvPr id="167" name="node53"/>
          <p:cNvGrpSpPr/>
          <p:nvPr/>
        </p:nvGrpSpPr>
        <p:grpSpPr>
          <a:xfrm>
            <a:off x="7810500" y="5486400"/>
            <a:ext cx="457200" cy="228600"/>
            <a:chOff x="7810500" y="5486400"/>
            <a:chExt cx="457200" cy="228600"/>
          </a:xfrm>
        </p:grpSpPr>
        <p:sp>
          <p:nvSpPr>
            <p:cNvPr id="112" name="node53.surface"/>
            <p:cNvSpPr/>
            <p:nvPr/>
          </p:nvSpPr>
          <p:spPr>
            <a:xfrm>
              <a:off x="7810500" y="5486400"/>
              <a:ext cx="457200" cy="228600"/>
            </a:xfrm>
            <a:prstGeom prst="rect">
              <a:avLst/>
            </a:prstGeom>
            <a:solidFill>
              <a:srgbClr val="CED7E6"/>
            </a:solidFill>
            <a:ln>
              <a:noFill/>
            </a:ln>
          </p:spPr>
        </p:sp>
        <p:sp>
          <p:nvSpPr>
            <p:cNvPr id="113" name="node53.text"/>
            <p:cNvSpPr/>
            <p:nvPr/>
          </p:nvSpPr>
          <p:spPr>
            <a:xfrm>
              <a:off x="7886700" y="55054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W1</a:t>
              </a:r>
              <a:endParaRPr lang="en-US" sz="1100" spc="0" kern="0" b="0" i="0" dirty="0">
                <a:solidFill>
                  <a:srgbClr val="070154"/>
                </a:solidFill>
                <a:latin typeface="IBM Plex Sans"/>
                <a:ea typeface="IBM Plex Sans"/>
                <a:cs typeface="IBM Plex Sans"/>
              </a:endParaRPr>
            </a:p>
          </p:txBody>
        </p:sp>
      </p:grpSp>
      <p:grpSp>
        <p:nvGrpSpPr>
          <p:cNvPr id="168" name="node54"/>
          <p:cNvGrpSpPr/>
          <p:nvPr/>
        </p:nvGrpSpPr>
        <p:grpSpPr>
          <a:xfrm>
            <a:off x="8382000" y="5486400"/>
            <a:ext cx="393700" cy="190500"/>
            <a:chOff x="8382000" y="5486400"/>
            <a:chExt cx="393700" cy="190500"/>
          </a:xfrm>
        </p:grpSpPr>
        <p:sp>
          <p:nvSpPr>
            <p:cNvPr id="114" name="node54.text"/>
            <p:cNvSpPr/>
            <p:nvPr/>
          </p:nvSpPr>
          <p:spPr>
            <a:xfrm>
              <a:off x="8382000" y="5486400"/>
              <a:ext cx="3937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Wave</a:t>
              </a:r>
              <a:endParaRPr lang="en-US" sz="1100" spc="0" kern="0" b="0" i="0" dirty="0">
                <a:solidFill>
                  <a:srgbClr val="070154"/>
                </a:solidFill>
                <a:latin typeface="IBM Plex Sans"/>
                <a:ea typeface="IBM Plex Sans"/>
                <a:cs typeface="IBM Plex Sans"/>
              </a:endParaRPr>
            </a:p>
          </p:txBody>
        </p:sp>
      </p:grpSp>
      <p:grpSp>
        <p:nvGrpSpPr>
          <p:cNvPr id="169" name="node55"/>
          <p:cNvGrpSpPr/>
          <p:nvPr/>
        </p:nvGrpSpPr>
        <p:grpSpPr>
          <a:xfrm>
            <a:off x="8953500" y="5558079"/>
            <a:ext cx="457200" cy="85242"/>
            <a:chOff x="8953500" y="5558079"/>
            <a:chExt cx="457200" cy="85242"/>
          </a:xfrm>
        </p:grpSpPr>
        <p:sp>
          <p:nvSpPr>
            <p:cNvPr id="115" name="node55.segment-1"/>
            <p:cNvSpPr/>
            <p:nvPr/>
          </p:nvSpPr>
          <p:spPr>
            <a:xfrm>
              <a:off x="8953500" y="5600700"/>
              <a:ext cx="457200" cy="0"/>
            </a:xfrm>
            <a:custGeom>
              <a:avLst/>
              <a:gdLst/>
              <a:ahLst/>
              <a:cxnLst/>
              <a:rect l="l" t="t" r="r" b="b"/>
              <a:pathLst>
                <a:path w="457200">
                  <a:moveTo>
                    <a:pt x="0" y="0"/>
                  </a:moveTo>
                  <a:lnTo>
                    <a:pt x="457200" y="0"/>
                  </a:lnTo>
                </a:path>
              </a:pathLst>
            </a:custGeom>
            <a:ln w="12700">
              <a:solidFill>
                <a:srgbClr val="070154"/>
              </a:solidFill>
              <a:prstDash val="dash"/>
            </a:ln>
          </p:spPr>
        </p:sp>
        <p:sp>
          <p:nvSpPr>
            <p:cNvPr id="116" name="node55.head-end.0"/>
            <p:cNvSpPr/>
            <p:nvPr/>
          </p:nvSpPr>
          <p:spPr>
            <a:xfrm>
              <a:off x="9332683" y="56007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117" name="node55.head-end.1"/>
            <p:cNvSpPr/>
            <p:nvPr/>
          </p:nvSpPr>
          <p:spPr>
            <a:xfrm>
              <a:off x="9332683" y="55580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70" name="node56"/>
          <p:cNvGrpSpPr/>
          <p:nvPr/>
        </p:nvGrpSpPr>
        <p:grpSpPr>
          <a:xfrm>
            <a:off x="9525000" y="5486400"/>
            <a:ext cx="1206500" cy="190500"/>
            <a:chOff x="9525000" y="5486400"/>
            <a:chExt cx="1206500" cy="190500"/>
          </a:xfrm>
        </p:grpSpPr>
        <p:sp>
          <p:nvSpPr>
            <p:cNvPr id="118" name="node56.text"/>
            <p:cNvSpPr/>
            <p:nvPr/>
          </p:nvSpPr>
          <p:spPr>
            <a:xfrm>
              <a:off x="9525000" y="5486400"/>
              <a:ext cx="12065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Sync / routing</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ource-05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TRANSITION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Data and API move to the cloud while UIs stay on site</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036320"/>
          </a:xfrm>
          <a:prstGeom prst="rect">
            <a:avLst/>
          </a:prstGeom>
          <a:solidFill>
            <a:srgbClr val="E8EEF8"/>
          </a:solidFill>
          <a:ln>
            <a:noFill/>
          </a:ln>
        </p:spPr>
      </p:sp>
      <p:sp>
        <p:nvSpPr>
          <p:cNvPr id="6"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569720"/>
            <a:ext cx="228600" cy="1036320"/>
          </a:xfrm>
          <a:prstGeom prst="rect">
            <a:avLst/>
          </a:prstGeom>
          <a:solidFill>
            <a:srgbClr val="E8EEF8"/>
          </a:solidFill>
          <a:ln>
            <a:noFill/>
          </a:ln>
        </p:spPr>
      </p:sp>
      <p:sp>
        <p:nvSpPr>
          <p:cNvPr id="8"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SOLUTION</a:t>
            </a:r>
            <a:endParaRPr lang="en-US" sz="800" spc="80" kern="0" b="0" i="0" dirty="0">
              <a:solidFill>
                <a:srgbClr val="50658E"/>
              </a:solidFill>
              <a:latin typeface="IBM Plex Mono SemiBold"/>
              <a:ea typeface="IBM Plex Mono SemiBold"/>
              <a:cs typeface="IBM Plex Mono SemiBold"/>
            </a:endParaRPr>
          </a:p>
        </p:txBody>
      </p:sp>
      <p:sp>
        <p:nvSpPr>
          <p:cNvPr id="9" name="nav.section-03"/>
          <p:cNvSpPr/>
          <p:nvPr/>
        </p:nvSpPr>
        <p:spPr>
          <a:xfrm>
            <a:off x="266700" y="2682240"/>
            <a:ext cx="228600" cy="1036320"/>
          </a:xfrm>
          <a:prstGeom prst="rect">
            <a:avLst/>
          </a:prstGeom>
          <a:solidFill>
            <a:srgbClr val="070154"/>
          </a:solidFill>
          <a:ln>
            <a:noFill/>
          </a:ln>
        </p:spPr>
      </p:sp>
      <p:sp>
        <p:nvSpPr>
          <p:cNvPr id="10"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TRANSITION</a:t>
            </a:r>
            <a:endParaRPr lang="en-US" sz="800" spc="80" kern="0" b="0" i="0" dirty="0">
              <a:solidFill>
                <a:srgbClr val="FFFFFF"/>
              </a:solidFill>
              <a:latin typeface="IBM Plex Mono SemiBold"/>
              <a:ea typeface="IBM Plex Mono SemiBold"/>
              <a:cs typeface="IBM Plex Mono SemiBold"/>
            </a:endParaRPr>
          </a:p>
        </p:txBody>
      </p:sp>
      <p:sp>
        <p:nvSpPr>
          <p:cNvPr id="11" name="nav.section-04"/>
          <p:cNvSpPr/>
          <p:nvPr/>
        </p:nvSpPr>
        <p:spPr>
          <a:xfrm>
            <a:off x="266700" y="3794760"/>
            <a:ext cx="228600" cy="1036320"/>
          </a:xfrm>
          <a:prstGeom prst="rect">
            <a:avLst/>
          </a:prstGeom>
          <a:solidFill>
            <a:srgbClr val="E8EEF8"/>
          </a:solidFill>
          <a:ln>
            <a:noFill/>
          </a:ln>
        </p:spPr>
      </p:sp>
      <p:sp>
        <p:nvSpPr>
          <p:cNvPr id="12"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3" name="nav.section-05"/>
          <p:cNvSpPr/>
          <p:nvPr/>
        </p:nvSpPr>
        <p:spPr>
          <a:xfrm>
            <a:off x="266700" y="4907280"/>
            <a:ext cx="228600" cy="1036320"/>
          </a:xfrm>
          <a:prstGeom prst="rect">
            <a:avLst/>
          </a:prstGeom>
          <a:solidFill>
            <a:srgbClr val="E8EEF8"/>
          </a:solidFill>
          <a:ln>
            <a:noFill/>
          </a:ln>
        </p:spPr>
      </p:sp>
      <p:sp>
        <p:nvSpPr>
          <p:cNvPr id="14"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93</a:t>
            </a:fld>
            <a:endParaRPr lang="en-US" sz="700" spc="0" kern="0" b="0" i="0" dirty="0">
              <a:solidFill>
                <a:srgbClr val="070154"/>
              </a:solidFill>
              <a:latin typeface="IBM Plex Mono SemiBold"/>
              <a:ea typeface="IBM Plex Mono SemiBold"/>
              <a:cs typeface="IBM Plex Mono SemiBold"/>
            </a:endParaRPr>
          </a:p>
        </p:txBody>
      </p:sp>
      <p:grpSp>
        <p:nvGrpSpPr>
          <p:cNvPr id="129" name="node01"/>
          <p:cNvGrpSpPr/>
          <p:nvPr/>
        </p:nvGrpSpPr>
        <p:grpSpPr>
          <a:xfrm>
            <a:off x="723900" y="1600200"/>
            <a:ext cx="5029200" cy="228600"/>
            <a:chOff x="723900" y="1600200"/>
            <a:chExt cx="5029200" cy="228600"/>
          </a:xfrm>
        </p:grpSpPr>
        <p:sp>
          <p:nvSpPr>
            <p:cNvPr id="16" name="node01.surface"/>
            <p:cNvSpPr/>
            <p:nvPr/>
          </p:nvSpPr>
          <p:spPr>
            <a:xfrm>
              <a:off x="723900" y="1600200"/>
              <a:ext cx="5029200" cy="228600"/>
            </a:xfrm>
            <a:prstGeom prst="rect">
              <a:avLst/>
            </a:prstGeom>
            <a:solidFill>
              <a:srgbClr val="070154"/>
            </a:solidFill>
            <a:ln>
              <a:noFill/>
            </a:ln>
          </p:spPr>
        </p:sp>
        <p:sp>
          <p:nvSpPr>
            <p:cNvPr id="17" name="node01.text"/>
            <p:cNvSpPr/>
            <p:nvPr/>
          </p:nvSpPr>
          <p:spPr>
            <a:xfrm>
              <a:off x="800100" y="1619250"/>
              <a:ext cx="4876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Customer sites · on-premises</a:t>
              </a:r>
              <a:endParaRPr lang="en-US" sz="1100" spc="0" kern="0" b="0" i="0" dirty="0">
                <a:solidFill>
                  <a:srgbClr val="FFFFFF"/>
                </a:solidFill>
                <a:latin typeface="IBM Plex Sans"/>
                <a:ea typeface="IBM Plex Sans"/>
                <a:cs typeface="IBM Plex Sans"/>
              </a:endParaRPr>
            </a:p>
          </p:txBody>
        </p:sp>
      </p:grpSp>
      <p:grpSp>
        <p:nvGrpSpPr>
          <p:cNvPr id="130" name="node02"/>
          <p:cNvGrpSpPr/>
          <p:nvPr/>
        </p:nvGrpSpPr>
        <p:grpSpPr>
          <a:xfrm>
            <a:off x="6210300" y="1600200"/>
            <a:ext cx="5257800" cy="228600"/>
            <a:chOff x="6210300" y="1600200"/>
            <a:chExt cx="5257800" cy="228600"/>
          </a:xfrm>
        </p:grpSpPr>
        <p:sp>
          <p:nvSpPr>
            <p:cNvPr id="18" name="node02.surface"/>
            <p:cNvSpPr/>
            <p:nvPr/>
          </p:nvSpPr>
          <p:spPr>
            <a:xfrm>
              <a:off x="6210300" y="1600200"/>
              <a:ext cx="5257800" cy="228600"/>
            </a:xfrm>
            <a:prstGeom prst="rect">
              <a:avLst/>
            </a:prstGeom>
            <a:solidFill>
              <a:srgbClr val="070154"/>
            </a:solidFill>
            <a:ln>
              <a:noFill/>
            </a:ln>
          </p:spPr>
        </p:sp>
        <p:sp>
          <p:nvSpPr>
            <p:cNvPr id="19" name="node02.text"/>
            <p:cNvSpPr/>
            <p:nvPr/>
          </p:nvSpPr>
          <p:spPr>
            <a:xfrm>
              <a:off x="6286500" y="1619250"/>
              <a:ext cx="510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Northfield cloud · central services</a:t>
              </a:r>
              <a:endParaRPr lang="en-US" sz="1100" spc="0" kern="0" b="0" i="0" dirty="0">
                <a:solidFill>
                  <a:srgbClr val="FFFFFF"/>
                </a:solidFill>
                <a:latin typeface="IBM Plex Sans"/>
                <a:ea typeface="IBM Plex Sans"/>
                <a:cs typeface="IBM Plex Sans"/>
              </a:endParaRPr>
            </a:p>
          </p:txBody>
        </p:sp>
      </p:grpSp>
      <p:grpSp>
        <p:nvGrpSpPr>
          <p:cNvPr id="131" name="node03"/>
          <p:cNvGrpSpPr/>
          <p:nvPr/>
        </p:nvGrpSpPr>
        <p:grpSpPr>
          <a:xfrm>
            <a:off x="723900" y="1828800"/>
            <a:ext cx="5029200" cy="3429000"/>
            <a:chOff x="723900" y="1828800"/>
            <a:chExt cx="5029200" cy="3429000"/>
          </a:xfrm>
        </p:grpSpPr>
        <p:sp>
          <p:nvSpPr>
            <p:cNvPr id="20" name="node03.surface"/>
            <p:cNvSpPr/>
            <p:nvPr/>
          </p:nvSpPr>
          <p:spPr>
            <a:xfrm>
              <a:off x="723900" y="1828800"/>
              <a:ext cx="5029200" cy="3429000"/>
            </a:xfrm>
            <a:prstGeom prst="rect">
              <a:avLst/>
            </a:prstGeom>
            <a:solidFill>
              <a:srgbClr val="E8EEF8"/>
            </a:solidFill>
            <a:ln>
              <a:noFill/>
            </a:ln>
          </p:spPr>
        </p:sp>
      </p:grpSp>
      <p:grpSp>
        <p:nvGrpSpPr>
          <p:cNvPr id="132" name="node04"/>
          <p:cNvGrpSpPr/>
          <p:nvPr/>
        </p:nvGrpSpPr>
        <p:grpSpPr>
          <a:xfrm>
            <a:off x="6210300" y="1828800"/>
            <a:ext cx="5257800" cy="3429000"/>
            <a:chOff x="6210300" y="1828800"/>
            <a:chExt cx="5257800" cy="3429000"/>
          </a:xfrm>
        </p:grpSpPr>
        <p:sp>
          <p:nvSpPr>
            <p:cNvPr id="21" name="node04.surface"/>
            <p:cNvSpPr/>
            <p:nvPr/>
          </p:nvSpPr>
          <p:spPr>
            <a:xfrm>
              <a:off x="6210300" y="1828800"/>
              <a:ext cx="5257800" cy="3429000"/>
            </a:xfrm>
            <a:prstGeom prst="rect">
              <a:avLst/>
            </a:prstGeom>
            <a:solidFill>
              <a:srgbClr val="E8EEF8"/>
            </a:solidFill>
            <a:ln>
              <a:noFill/>
            </a:ln>
          </p:spPr>
        </p:sp>
      </p:grpSp>
      <p:grpSp>
        <p:nvGrpSpPr>
          <p:cNvPr id="133" name="node05"/>
          <p:cNvGrpSpPr/>
          <p:nvPr/>
        </p:nvGrpSpPr>
        <p:grpSpPr>
          <a:xfrm>
            <a:off x="5981700" y="1600200"/>
            <a:ext cx="38100" cy="3657600"/>
            <a:chOff x="5981700" y="1600200"/>
            <a:chExt cx="38100" cy="3657600"/>
          </a:xfrm>
        </p:grpSpPr>
        <p:sp>
          <p:nvSpPr>
            <p:cNvPr id="22" name="node05.surface"/>
            <p:cNvSpPr/>
            <p:nvPr/>
          </p:nvSpPr>
          <p:spPr>
            <a:xfrm>
              <a:off x="5981700" y="1600200"/>
              <a:ext cx="38100" cy="3657600"/>
            </a:xfrm>
            <a:prstGeom prst="rect">
              <a:avLst/>
            </a:prstGeom>
            <a:solidFill>
              <a:srgbClr val="070154"/>
            </a:solidFill>
            <a:ln>
              <a:noFill/>
            </a:ln>
          </p:spPr>
        </p:sp>
      </p:grpSp>
      <p:grpSp>
        <p:nvGrpSpPr>
          <p:cNvPr id="134" name="node06"/>
          <p:cNvGrpSpPr/>
          <p:nvPr/>
        </p:nvGrpSpPr>
        <p:grpSpPr>
          <a:xfrm>
            <a:off x="952500" y="2286000"/>
            <a:ext cx="1371600" cy="190500"/>
            <a:chOff x="952500" y="2286000"/>
            <a:chExt cx="1371600" cy="190500"/>
          </a:xfrm>
        </p:grpSpPr>
        <p:sp>
          <p:nvSpPr>
            <p:cNvPr id="23" name="node06.text"/>
            <p:cNvSpPr/>
            <p:nvPr/>
          </p:nvSpPr>
          <p:spPr>
            <a:xfrm>
              <a:off x="952500" y="22860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Site A</a:t>
              </a:r>
              <a:endParaRPr lang="en-US" sz="1100" spc="0" kern="0" b="0" i="0" dirty="0">
                <a:solidFill>
                  <a:srgbClr val="070154"/>
                </a:solidFill>
                <a:latin typeface="IBM Plex Sans"/>
                <a:ea typeface="IBM Plex Sans"/>
                <a:cs typeface="IBM Plex Sans"/>
              </a:endParaRPr>
            </a:p>
          </p:txBody>
        </p:sp>
      </p:grpSp>
      <p:grpSp>
        <p:nvGrpSpPr>
          <p:cNvPr id="135" name="node07"/>
          <p:cNvGrpSpPr/>
          <p:nvPr/>
        </p:nvGrpSpPr>
        <p:grpSpPr>
          <a:xfrm>
            <a:off x="952500" y="2514600"/>
            <a:ext cx="914400" cy="457200"/>
            <a:chOff x="952500" y="2514600"/>
            <a:chExt cx="914400" cy="457200"/>
          </a:xfrm>
        </p:grpSpPr>
        <p:sp>
          <p:nvSpPr>
            <p:cNvPr id="24" name="node07.surface"/>
            <p:cNvSpPr/>
            <p:nvPr/>
          </p:nvSpPr>
          <p:spPr>
            <a:xfrm>
              <a:off x="952500" y="2514600"/>
              <a:ext cx="914400" cy="457200"/>
            </a:xfrm>
            <a:prstGeom prst="rect">
              <a:avLst/>
            </a:prstGeom>
            <a:solidFill>
              <a:srgbClr val="070154"/>
            </a:solidFill>
            <a:ln>
              <a:noFill/>
            </a:ln>
          </p:spPr>
        </p:sp>
        <p:sp>
          <p:nvSpPr>
            <p:cNvPr id="25" name="node07.text"/>
            <p:cNvSpPr/>
            <p:nvPr/>
          </p:nvSpPr>
          <p:spPr>
            <a:xfrm>
              <a:off x="1028700" y="2647950"/>
              <a:ext cx="762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Local UI</a:t>
              </a:r>
              <a:endParaRPr lang="en-US" sz="1100" spc="0" kern="0" b="0" i="0" dirty="0">
                <a:solidFill>
                  <a:srgbClr val="FFFFFF"/>
                </a:solidFill>
                <a:latin typeface="IBM Plex Sans"/>
                <a:ea typeface="IBM Plex Sans"/>
                <a:cs typeface="IBM Plex Sans"/>
              </a:endParaRPr>
            </a:p>
          </p:txBody>
        </p:sp>
      </p:grpSp>
      <p:grpSp>
        <p:nvGrpSpPr>
          <p:cNvPr id="136" name="node08"/>
          <p:cNvGrpSpPr/>
          <p:nvPr/>
        </p:nvGrpSpPr>
        <p:grpSpPr>
          <a:xfrm>
            <a:off x="1866900" y="2514600"/>
            <a:ext cx="457200" cy="457200"/>
            <a:chOff x="1866900" y="2514600"/>
            <a:chExt cx="457200" cy="457200"/>
          </a:xfrm>
        </p:grpSpPr>
        <p:sp>
          <p:nvSpPr>
            <p:cNvPr id="26" name="node08.surface"/>
            <p:cNvSpPr/>
            <p:nvPr/>
          </p:nvSpPr>
          <p:spPr>
            <a:xfrm>
              <a:off x="1866900" y="2514600"/>
              <a:ext cx="457200" cy="457200"/>
            </a:xfrm>
            <a:prstGeom prst="rect">
              <a:avLst/>
            </a:prstGeom>
            <a:solidFill>
              <a:srgbClr val="CED7E6"/>
            </a:solidFill>
            <a:ln>
              <a:noFill/>
            </a:ln>
          </p:spPr>
        </p:sp>
        <p:sp>
          <p:nvSpPr>
            <p:cNvPr id="27" name="node08.text"/>
            <p:cNvSpPr/>
            <p:nvPr/>
          </p:nvSpPr>
          <p:spPr>
            <a:xfrm>
              <a:off x="1943100" y="26479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W3</a:t>
              </a:r>
              <a:endParaRPr lang="en-US" sz="1100" spc="0" kern="0" b="0" i="0" dirty="0">
                <a:solidFill>
                  <a:srgbClr val="070154"/>
                </a:solidFill>
                <a:latin typeface="IBM Plex Sans"/>
                <a:ea typeface="IBM Plex Sans"/>
                <a:cs typeface="IBM Plex Sans"/>
              </a:endParaRPr>
            </a:p>
          </p:txBody>
        </p:sp>
      </p:grpSp>
      <p:grpSp>
        <p:nvGrpSpPr>
          <p:cNvPr id="137" name="node09"/>
          <p:cNvGrpSpPr/>
          <p:nvPr/>
        </p:nvGrpSpPr>
        <p:grpSpPr>
          <a:xfrm>
            <a:off x="952500" y="3086100"/>
            <a:ext cx="1371600" cy="571500"/>
            <a:chOff x="952500" y="3086100"/>
            <a:chExt cx="1371600" cy="571500"/>
          </a:xfrm>
        </p:grpSpPr>
        <p:sp>
          <p:nvSpPr>
            <p:cNvPr id="28" name="node09.surface"/>
            <p:cNvSpPr/>
            <p:nvPr/>
          </p:nvSpPr>
          <p:spPr>
            <a:xfrm>
              <a:off x="952500" y="3200400"/>
              <a:ext cx="1371600" cy="457200"/>
            </a:xfrm>
            <a:prstGeom prst="rect">
              <a:avLst/>
            </a:prstGeom>
            <a:ln w="12700">
              <a:solidFill>
                <a:srgbClr val="50658E"/>
              </a:solidFill>
              <a:prstDash val="dash"/>
            </a:ln>
          </p:spPr>
        </p:sp>
        <p:sp>
          <p:nvSpPr>
            <p:cNvPr id="29" name="node09.label-patch"/>
            <p:cNvSpPr/>
            <p:nvPr/>
          </p:nvSpPr>
          <p:spPr>
            <a:xfrm>
              <a:off x="1066800" y="3086100"/>
              <a:ext cx="541145" cy="139700"/>
            </a:xfrm>
            <a:prstGeom prst="rect">
              <a:avLst/>
            </a:prstGeom>
            <a:solidFill>
              <a:srgbClr val="FFFFFF"/>
            </a:solidFill>
            <a:ln>
              <a:noFill/>
            </a:ln>
          </p:spPr>
        </p:sp>
        <p:sp>
          <p:nvSpPr>
            <p:cNvPr id="30" name="node09.label"/>
            <p:cNvSpPr/>
            <p:nvPr/>
          </p:nvSpPr>
          <p:spPr>
            <a:xfrm>
              <a:off x="1104900" y="3086100"/>
              <a:ext cx="1066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RETIRED</a:t>
              </a:r>
              <a:endParaRPr lang="en-US" sz="800" spc="48" kern="0" b="0" i="0" dirty="0">
                <a:solidFill>
                  <a:srgbClr val="070154"/>
                </a:solidFill>
                <a:latin typeface="IBM Plex Mono SemiBold"/>
                <a:ea typeface="IBM Plex Mono SemiBold"/>
                <a:cs typeface="IBM Plex Mono SemiBold"/>
              </a:endParaRPr>
            </a:p>
          </p:txBody>
        </p:sp>
      </p:grpSp>
      <p:grpSp>
        <p:nvGrpSpPr>
          <p:cNvPr id="138" name="node10"/>
          <p:cNvGrpSpPr/>
          <p:nvPr/>
        </p:nvGrpSpPr>
        <p:grpSpPr>
          <a:xfrm>
            <a:off x="1104900" y="3314700"/>
            <a:ext cx="762000" cy="190500"/>
            <a:chOff x="1104900" y="3314700"/>
            <a:chExt cx="762000" cy="190500"/>
          </a:xfrm>
        </p:grpSpPr>
        <p:sp>
          <p:nvSpPr>
            <p:cNvPr id="31" name="node10.text"/>
            <p:cNvSpPr/>
            <p:nvPr/>
          </p:nvSpPr>
          <p:spPr>
            <a:xfrm>
              <a:off x="1104900" y="3314700"/>
              <a:ext cx="762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Local DB</a:t>
              </a:r>
              <a:endParaRPr lang="en-US" sz="1100" spc="0" kern="0" b="0" i="0" dirty="0">
                <a:solidFill>
                  <a:srgbClr val="50658E"/>
                </a:solidFill>
                <a:latin typeface="IBM Plex Sans"/>
                <a:ea typeface="IBM Plex Sans"/>
                <a:cs typeface="IBM Plex Sans"/>
              </a:endParaRPr>
            </a:p>
          </p:txBody>
        </p:sp>
      </p:grpSp>
      <p:grpSp>
        <p:nvGrpSpPr>
          <p:cNvPr id="139" name="node11"/>
          <p:cNvGrpSpPr/>
          <p:nvPr/>
        </p:nvGrpSpPr>
        <p:grpSpPr>
          <a:xfrm>
            <a:off x="1866900" y="3200400"/>
            <a:ext cx="457200" cy="457200"/>
            <a:chOff x="1866900" y="3200400"/>
            <a:chExt cx="457200" cy="457200"/>
          </a:xfrm>
        </p:grpSpPr>
        <p:sp>
          <p:nvSpPr>
            <p:cNvPr id="32" name="node11.surface"/>
            <p:cNvSpPr/>
            <p:nvPr/>
          </p:nvSpPr>
          <p:spPr>
            <a:xfrm>
              <a:off x="1866900" y="3200400"/>
              <a:ext cx="457200" cy="457200"/>
            </a:xfrm>
            <a:prstGeom prst="rect">
              <a:avLst/>
            </a:prstGeom>
            <a:solidFill>
              <a:srgbClr val="CED7E6"/>
            </a:solidFill>
            <a:ln>
              <a:noFill/>
            </a:ln>
          </p:spPr>
        </p:sp>
        <p:sp>
          <p:nvSpPr>
            <p:cNvPr id="33" name="node11.text"/>
            <p:cNvSpPr/>
            <p:nvPr/>
          </p:nvSpPr>
          <p:spPr>
            <a:xfrm>
              <a:off x="1943100" y="33337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W1</a:t>
              </a:r>
              <a:endParaRPr lang="en-US" sz="1100" spc="0" kern="0" b="0" i="0" dirty="0">
                <a:solidFill>
                  <a:srgbClr val="070154"/>
                </a:solidFill>
                <a:latin typeface="IBM Plex Sans"/>
                <a:ea typeface="IBM Plex Sans"/>
                <a:cs typeface="IBM Plex Sans"/>
              </a:endParaRPr>
            </a:p>
          </p:txBody>
        </p:sp>
      </p:grpSp>
      <p:grpSp>
        <p:nvGrpSpPr>
          <p:cNvPr id="140" name="node12"/>
          <p:cNvGrpSpPr/>
          <p:nvPr/>
        </p:nvGrpSpPr>
        <p:grpSpPr>
          <a:xfrm>
            <a:off x="952500" y="4114800"/>
            <a:ext cx="1371600" cy="190500"/>
            <a:chOff x="952500" y="4114800"/>
            <a:chExt cx="1371600" cy="190500"/>
          </a:xfrm>
        </p:grpSpPr>
        <p:sp>
          <p:nvSpPr>
            <p:cNvPr id="34" name="node12.text"/>
            <p:cNvSpPr/>
            <p:nvPr/>
          </p:nvSpPr>
          <p:spPr>
            <a:xfrm>
              <a:off x="952500" y="41148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Cut over</a:t>
              </a:r>
              <a:endParaRPr lang="en-US" sz="1100" spc="0" kern="0" b="0" i="0" dirty="0">
                <a:solidFill>
                  <a:srgbClr val="50658E"/>
                </a:solidFill>
                <a:latin typeface="IBM Plex Sans"/>
                <a:ea typeface="IBM Plex Sans"/>
                <a:cs typeface="IBM Plex Sans"/>
              </a:endParaRPr>
            </a:p>
          </p:txBody>
        </p:sp>
      </p:grpSp>
      <p:grpSp>
        <p:nvGrpSpPr>
          <p:cNvPr id="141" name="node13"/>
          <p:cNvGrpSpPr/>
          <p:nvPr/>
        </p:nvGrpSpPr>
        <p:grpSpPr>
          <a:xfrm>
            <a:off x="2552700" y="2286000"/>
            <a:ext cx="1371600" cy="190500"/>
            <a:chOff x="2552700" y="2286000"/>
            <a:chExt cx="1371600" cy="190500"/>
          </a:xfrm>
        </p:grpSpPr>
        <p:sp>
          <p:nvSpPr>
            <p:cNvPr id="35" name="node13.text"/>
            <p:cNvSpPr/>
            <p:nvPr/>
          </p:nvSpPr>
          <p:spPr>
            <a:xfrm>
              <a:off x="2552700" y="22860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Site B</a:t>
              </a:r>
              <a:endParaRPr lang="en-US" sz="1100" spc="0" kern="0" b="0" i="0" dirty="0">
                <a:solidFill>
                  <a:srgbClr val="070154"/>
                </a:solidFill>
                <a:latin typeface="IBM Plex Sans"/>
                <a:ea typeface="IBM Plex Sans"/>
                <a:cs typeface="IBM Plex Sans"/>
              </a:endParaRPr>
            </a:p>
          </p:txBody>
        </p:sp>
      </p:grpSp>
      <p:grpSp>
        <p:nvGrpSpPr>
          <p:cNvPr id="142" name="node14"/>
          <p:cNvGrpSpPr/>
          <p:nvPr/>
        </p:nvGrpSpPr>
        <p:grpSpPr>
          <a:xfrm>
            <a:off x="2552700" y="2514600"/>
            <a:ext cx="914400" cy="457200"/>
            <a:chOff x="2552700" y="2514600"/>
            <a:chExt cx="914400" cy="457200"/>
          </a:xfrm>
        </p:grpSpPr>
        <p:sp>
          <p:nvSpPr>
            <p:cNvPr id="36" name="node14.surface"/>
            <p:cNvSpPr/>
            <p:nvPr/>
          </p:nvSpPr>
          <p:spPr>
            <a:xfrm>
              <a:off x="2559050" y="2520950"/>
              <a:ext cx="901700" cy="444500"/>
            </a:xfrm>
            <a:prstGeom prst="rect">
              <a:avLst/>
            </a:prstGeom>
            <a:solidFill>
              <a:srgbClr val="FFFFFF"/>
            </a:solidFill>
            <a:ln w="12700">
              <a:solidFill>
                <a:srgbClr val="CED7E6"/>
              </a:solidFill>
              <a:prstDash val="solid"/>
            </a:ln>
          </p:spPr>
        </p:sp>
        <p:sp>
          <p:nvSpPr>
            <p:cNvPr id="37" name="node14.text"/>
            <p:cNvSpPr/>
            <p:nvPr/>
          </p:nvSpPr>
          <p:spPr>
            <a:xfrm>
              <a:off x="2628900" y="2647950"/>
              <a:ext cx="762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Local UI</a:t>
              </a:r>
              <a:endParaRPr lang="en-US" sz="1100" spc="0" kern="0" b="0" i="0" dirty="0">
                <a:solidFill>
                  <a:srgbClr val="070154"/>
                </a:solidFill>
                <a:latin typeface="IBM Plex Sans"/>
                <a:ea typeface="IBM Plex Sans"/>
                <a:cs typeface="IBM Plex Sans"/>
              </a:endParaRPr>
            </a:p>
          </p:txBody>
        </p:sp>
      </p:grpSp>
      <p:grpSp>
        <p:nvGrpSpPr>
          <p:cNvPr id="143" name="node15"/>
          <p:cNvGrpSpPr/>
          <p:nvPr/>
        </p:nvGrpSpPr>
        <p:grpSpPr>
          <a:xfrm>
            <a:off x="3467100" y="2514600"/>
            <a:ext cx="457200" cy="457200"/>
            <a:chOff x="3467100" y="2514600"/>
            <a:chExt cx="457200" cy="457200"/>
          </a:xfrm>
        </p:grpSpPr>
        <p:sp>
          <p:nvSpPr>
            <p:cNvPr id="38" name="node15.surface"/>
            <p:cNvSpPr/>
            <p:nvPr/>
          </p:nvSpPr>
          <p:spPr>
            <a:xfrm>
              <a:off x="3467100" y="2514600"/>
              <a:ext cx="457200" cy="457200"/>
            </a:xfrm>
            <a:prstGeom prst="rect">
              <a:avLst/>
            </a:prstGeom>
            <a:solidFill>
              <a:srgbClr val="CED7E6"/>
            </a:solidFill>
            <a:ln>
              <a:noFill/>
            </a:ln>
          </p:spPr>
        </p:sp>
        <p:sp>
          <p:nvSpPr>
            <p:cNvPr id="39" name="node15.text"/>
            <p:cNvSpPr/>
            <p:nvPr/>
          </p:nvSpPr>
          <p:spPr>
            <a:xfrm>
              <a:off x="3543300" y="26479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W3</a:t>
              </a:r>
              <a:endParaRPr lang="en-US" sz="1100" spc="0" kern="0" b="0" i="0" dirty="0">
                <a:solidFill>
                  <a:srgbClr val="070154"/>
                </a:solidFill>
                <a:latin typeface="IBM Plex Sans"/>
                <a:ea typeface="IBM Plex Sans"/>
                <a:cs typeface="IBM Plex Sans"/>
              </a:endParaRPr>
            </a:p>
          </p:txBody>
        </p:sp>
      </p:grpSp>
      <p:sp>
        <p:nvSpPr>
          <p:cNvPr id="40" name="node16"/>
          <p:cNvSpPr/>
          <p:nvPr/>
        </p:nvSpPr>
        <p:spPr>
          <a:xfrm>
            <a:off x="2552700" y="2514600"/>
            <a:ext cx="1371600" cy="38100"/>
          </a:xfrm>
          <a:prstGeom prst="rect">
            <a:avLst/>
          </a:prstGeom>
          <a:solidFill>
            <a:srgbClr val="0047FF"/>
          </a:solidFill>
          <a:ln>
            <a:noFill/>
          </a:ln>
        </p:spPr>
      </p:sp>
      <p:grpSp>
        <p:nvGrpSpPr>
          <p:cNvPr id="144" name="node17"/>
          <p:cNvGrpSpPr/>
          <p:nvPr/>
        </p:nvGrpSpPr>
        <p:grpSpPr>
          <a:xfrm>
            <a:off x="2552700" y="3200400"/>
            <a:ext cx="914400" cy="457200"/>
            <a:chOff x="2552700" y="3200400"/>
            <a:chExt cx="914400" cy="457200"/>
          </a:xfrm>
        </p:grpSpPr>
        <p:sp>
          <p:nvSpPr>
            <p:cNvPr id="41" name="node17.surface"/>
            <p:cNvSpPr/>
            <p:nvPr/>
          </p:nvSpPr>
          <p:spPr>
            <a:xfrm>
              <a:off x="2559050" y="3206750"/>
              <a:ext cx="901700" cy="444500"/>
            </a:xfrm>
            <a:prstGeom prst="rect">
              <a:avLst/>
            </a:prstGeom>
            <a:solidFill>
              <a:srgbClr val="FFFFFF"/>
            </a:solidFill>
            <a:ln w="12700">
              <a:solidFill>
                <a:srgbClr val="CED7E6"/>
              </a:solidFill>
              <a:prstDash val="solid"/>
            </a:ln>
          </p:spPr>
        </p:sp>
        <p:sp>
          <p:nvSpPr>
            <p:cNvPr id="42" name="node17.text"/>
            <p:cNvSpPr/>
            <p:nvPr/>
          </p:nvSpPr>
          <p:spPr>
            <a:xfrm>
              <a:off x="2628900" y="3333750"/>
              <a:ext cx="762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Local DB</a:t>
              </a:r>
              <a:endParaRPr lang="en-US" sz="1100" spc="0" kern="0" b="0" i="0" dirty="0">
                <a:solidFill>
                  <a:srgbClr val="070154"/>
                </a:solidFill>
                <a:latin typeface="IBM Plex Sans"/>
                <a:ea typeface="IBM Plex Sans"/>
                <a:cs typeface="IBM Plex Sans"/>
              </a:endParaRPr>
            </a:p>
          </p:txBody>
        </p:sp>
      </p:grpSp>
      <p:grpSp>
        <p:nvGrpSpPr>
          <p:cNvPr id="145" name="node18"/>
          <p:cNvGrpSpPr/>
          <p:nvPr/>
        </p:nvGrpSpPr>
        <p:grpSpPr>
          <a:xfrm>
            <a:off x="3467100" y="3200400"/>
            <a:ext cx="457200" cy="457200"/>
            <a:chOff x="3467100" y="3200400"/>
            <a:chExt cx="457200" cy="457200"/>
          </a:xfrm>
        </p:grpSpPr>
        <p:sp>
          <p:nvSpPr>
            <p:cNvPr id="43" name="node18.surface"/>
            <p:cNvSpPr/>
            <p:nvPr/>
          </p:nvSpPr>
          <p:spPr>
            <a:xfrm>
              <a:off x="3467100" y="3200400"/>
              <a:ext cx="457200" cy="457200"/>
            </a:xfrm>
            <a:prstGeom prst="rect">
              <a:avLst/>
            </a:prstGeom>
            <a:solidFill>
              <a:srgbClr val="CED7E6"/>
            </a:solidFill>
            <a:ln>
              <a:noFill/>
            </a:ln>
          </p:spPr>
        </p:sp>
        <p:sp>
          <p:nvSpPr>
            <p:cNvPr id="44" name="node18.text"/>
            <p:cNvSpPr/>
            <p:nvPr/>
          </p:nvSpPr>
          <p:spPr>
            <a:xfrm>
              <a:off x="3543300" y="33337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W1</a:t>
              </a:r>
              <a:endParaRPr lang="en-US" sz="1100" spc="0" kern="0" b="0" i="0" dirty="0">
                <a:solidFill>
                  <a:srgbClr val="070154"/>
                </a:solidFill>
                <a:latin typeface="IBM Plex Sans"/>
                <a:ea typeface="IBM Plex Sans"/>
                <a:cs typeface="IBM Plex Sans"/>
              </a:endParaRPr>
            </a:p>
          </p:txBody>
        </p:sp>
      </p:grpSp>
      <p:sp>
        <p:nvSpPr>
          <p:cNvPr id="45" name="node19"/>
          <p:cNvSpPr/>
          <p:nvPr/>
        </p:nvSpPr>
        <p:spPr>
          <a:xfrm>
            <a:off x="2552700" y="3200400"/>
            <a:ext cx="1371600" cy="38100"/>
          </a:xfrm>
          <a:prstGeom prst="rect">
            <a:avLst/>
          </a:prstGeom>
          <a:solidFill>
            <a:srgbClr val="0047FF"/>
          </a:solidFill>
          <a:ln>
            <a:noFill/>
          </a:ln>
        </p:spPr>
      </p:sp>
      <p:grpSp>
        <p:nvGrpSpPr>
          <p:cNvPr id="146" name="node20"/>
          <p:cNvGrpSpPr/>
          <p:nvPr/>
        </p:nvGrpSpPr>
        <p:grpSpPr>
          <a:xfrm>
            <a:off x="2552700" y="4114800"/>
            <a:ext cx="1371600" cy="190500"/>
            <a:chOff x="2552700" y="4114800"/>
            <a:chExt cx="1371600" cy="190500"/>
          </a:xfrm>
        </p:grpSpPr>
        <p:sp>
          <p:nvSpPr>
            <p:cNvPr id="46" name="node20.text"/>
            <p:cNvSpPr/>
            <p:nvPr/>
          </p:nvSpPr>
          <p:spPr>
            <a:xfrm>
              <a:off x="2552700" y="41148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Replicating</a:t>
              </a:r>
              <a:endParaRPr lang="en-US" sz="1100" spc="0" kern="0" b="0" i="0" dirty="0">
                <a:solidFill>
                  <a:srgbClr val="50658E"/>
                </a:solidFill>
                <a:latin typeface="IBM Plex Sans"/>
                <a:ea typeface="IBM Plex Sans"/>
                <a:cs typeface="IBM Plex Sans"/>
              </a:endParaRPr>
            </a:p>
          </p:txBody>
        </p:sp>
      </p:grpSp>
      <p:grpSp>
        <p:nvGrpSpPr>
          <p:cNvPr id="147" name="node21"/>
          <p:cNvGrpSpPr/>
          <p:nvPr/>
        </p:nvGrpSpPr>
        <p:grpSpPr>
          <a:xfrm>
            <a:off x="4152900" y="2286000"/>
            <a:ext cx="1371600" cy="190500"/>
            <a:chOff x="4152900" y="2286000"/>
            <a:chExt cx="1371600" cy="190500"/>
          </a:xfrm>
        </p:grpSpPr>
        <p:sp>
          <p:nvSpPr>
            <p:cNvPr id="47" name="node21.text"/>
            <p:cNvSpPr/>
            <p:nvPr/>
          </p:nvSpPr>
          <p:spPr>
            <a:xfrm>
              <a:off x="4152900" y="22860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Site C</a:t>
              </a:r>
              <a:endParaRPr lang="en-US" sz="1100" spc="0" kern="0" b="0" i="0" dirty="0">
                <a:solidFill>
                  <a:srgbClr val="070154"/>
                </a:solidFill>
                <a:latin typeface="IBM Plex Sans"/>
                <a:ea typeface="IBM Plex Sans"/>
                <a:cs typeface="IBM Plex Sans"/>
              </a:endParaRPr>
            </a:p>
          </p:txBody>
        </p:sp>
      </p:grpSp>
      <p:grpSp>
        <p:nvGrpSpPr>
          <p:cNvPr id="148" name="node22"/>
          <p:cNvGrpSpPr/>
          <p:nvPr/>
        </p:nvGrpSpPr>
        <p:grpSpPr>
          <a:xfrm>
            <a:off x="4152900" y="2514600"/>
            <a:ext cx="914400" cy="457200"/>
            <a:chOff x="4152900" y="2514600"/>
            <a:chExt cx="914400" cy="457200"/>
          </a:xfrm>
        </p:grpSpPr>
        <p:sp>
          <p:nvSpPr>
            <p:cNvPr id="48" name="node22.surface"/>
            <p:cNvSpPr/>
            <p:nvPr/>
          </p:nvSpPr>
          <p:spPr>
            <a:xfrm>
              <a:off x="4159250" y="2520950"/>
              <a:ext cx="901700" cy="444500"/>
            </a:xfrm>
            <a:prstGeom prst="rect">
              <a:avLst/>
            </a:prstGeom>
            <a:solidFill>
              <a:srgbClr val="FFFFFF"/>
            </a:solidFill>
            <a:ln w="12700">
              <a:solidFill>
                <a:srgbClr val="CED7E6"/>
              </a:solidFill>
              <a:prstDash val="solid"/>
            </a:ln>
          </p:spPr>
        </p:sp>
        <p:sp>
          <p:nvSpPr>
            <p:cNvPr id="49" name="node22.text"/>
            <p:cNvSpPr/>
            <p:nvPr/>
          </p:nvSpPr>
          <p:spPr>
            <a:xfrm>
              <a:off x="4229100" y="2647950"/>
              <a:ext cx="762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Local UI</a:t>
              </a:r>
              <a:endParaRPr lang="en-US" sz="1100" spc="0" kern="0" b="0" i="0" dirty="0">
                <a:solidFill>
                  <a:srgbClr val="070154"/>
                </a:solidFill>
                <a:latin typeface="IBM Plex Sans"/>
                <a:ea typeface="IBM Plex Sans"/>
                <a:cs typeface="IBM Plex Sans"/>
              </a:endParaRPr>
            </a:p>
          </p:txBody>
        </p:sp>
      </p:grpSp>
      <p:grpSp>
        <p:nvGrpSpPr>
          <p:cNvPr id="149" name="node23"/>
          <p:cNvGrpSpPr/>
          <p:nvPr/>
        </p:nvGrpSpPr>
        <p:grpSpPr>
          <a:xfrm>
            <a:off x="5067300" y="2514600"/>
            <a:ext cx="457200" cy="457200"/>
            <a:chOff x="5067300" y="2514600"/>
            <a:chExt cx="457200" cy="457200"/>
          </a:xfrm>
        </p:grpSpPr>
        <p:sp>
          <p:nvSpPr>
            <p:cNvPr id="50" name="node23.surface"/>
            <p:cNvSpPr/>
            <p:nvPr/>
          </p:nvSpPr>
          <p:spPr>
            <a:xfrm>
              <a:off x="5067300" y="2514600"/>
              <a:ext cx="457200" cy="457200"/>
            </a:xfrm>
            <a:prstGeom prst="rect">
              <a:avLst/>
            </a:prstGeom>
            <a:solidFill>
              <a:srgbClr val="CED7E6"/>
            </a:solidFill>
            <a:ln>
              <a:noFill/>
            </a:ln>
          </p:spPr>
        </p:sp>
        <p:sp>
          <p:nvSpPr>
            <p:cNvPr id="51" name="node23.text"/>
            <p:cNvSpPr/>
            <p:nvPr/>
          </p:nvSpPr>
          <p:spPr>
            <a:xfrm>
              <a:off x="5143500" y="26479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W3</a:t>
              </a:r>
              <a:endParaRPr lang="en-US" sz="1100" spc="0" kern="0" b="0" i="0" dirty="0">
                <a:solidFill>
                  <a:srgbClr val="070154"/>
                </a:solidFill>
                <a:latin typeface="IBM Plex Sans"/>
                <a:ea typeface="IBM Plex Sans"/>
                <a:cs typeface="IBM Plex Sans"/>
              </a:endParaRPr>
            </a:p>
          </p:txBody>
        </p:sp>
      </p:grpSp>
      <p:grpSp>
        <p:nvGrpSpPr>
          <p:cNvPr id="150" name="node24"/>
          <p:cNvGrpSpPr/>
          <p:nvPr/>
        </p:nvGrpSpPr>
        <p:grpSpPr>
          <a:xfrm>
            <a:off x="4152900" y="3200400"/>
            <a:ext cx="914400" cy="457200"/>
            <a:chOff x="4152900" y="3200400"/>
            <a:chExt cx="914400" cy="457200"/>
          </a:xfrm>
        </p:grpSpPr>
        <p:sp>
          <p:nvSpPr>
            <p:cNvPr id="52" name="node24.surface"/>
            <p:cNvSpPr/>
            <p:nvPr/>
          </p:nvSpPr>
          <p:spPr>
            <a:xfrm>
              <a:off x="4159250" y="3206750"/>
              <a:ext cx="901700" cy="444500"/>
            </a:xfrm>
            <a:prstGeom prst="rect">
              <a:avLst/>
            </a:prstGeom>
            <a:solidFill>
              <a:srgbClr val="FFFFFF"/>
            </a:solidFill>
            <a:ln w="12700">
              <a:solidFill>
                <a:srgbClr val="CED7E6"/>
              </a:solidFill>
              <a:prstDash val="solid"/>
            </a:ln>
          </p:spPr>
        </p:sp>
        <p:sp>
          <p:nvSpPr>
            <p:cNvPr id="53" name="node24.text"/>
            <p:cNvSpPr/>
            <p:nvPr/>
          </p:nvSpPr>
          <p:spPr>
            <a:xfrm>
              <a:off x="4229100" y="3333750"/>
              <a:ext cx="762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Local DB</a:t>
              </a:r>
              <a:endParaRPr lang="en-US" sz="1100" spc="0" kern="0" b="0" i="0" dirty="0">
                <a:solidFill>
                  <a:srgbClr val="070154"/>
                </a:solidFill>
                <a:latin typeface="IBM Plex Sans"/>
                <a:ea typeface="IBM Plex Sans"/>
                <a:cs typeface="IBM Plex Sans"/>
              </a:endParaRPr>
            </a:p>
          </p:txBody>
        </p:sp>
      </p:grpSp>
      <p:grpSp>
        <p:nvGrpSpPr>
          <p:cNvPr id="151" name="node25"/>
          <p:cNvGrpSpPr/>
          <p:nvPr/>
        </p:nvGrpSpPr>
        <p:grpSpPr>
          <a:xfrm>
            <a:off x="5067300" y="3200400"/>
            <a:ext cx="457200" cy="457200"/>
            <a:chOff x="5067300" y="3200400"/>
            <a:chExt cx="457200" cy="457200"/>
          </a:xfrm>
        </p:grpSpPr>
        <p:sp>
          <p:nvSpPr>
            <p:cNvPr id="54" name="node25.surface"/>
            <p:cNvSpPr/>
            <p:nvPr/>
          </p:nvSpPr>
          <p:spPr>
            <a:xfrm>
              <a:off x="5067300" y="3200400"/>
              <a:ext cx="457200" cy="457200"/>
            </a:xfrm>
            <a:prstGeom prst="rect">
              <a:avLst/>
            </a:prstGeom>
            <a:solidFill>
              <a:srgbClr val="CED7E6"/>
            </a:solidFill>
            <a:ln>
              <a:noFill/>
            </a:ln>
          </p:spPr>
        </p:sp>
        <p:sp>
          <p:nvSpPr>
            <p:cNvPr id="55" name="node25.text"/>
            <p:cNvSpPr/>
            <p:nvPr/>
          </p:nvSpPr>
          <p:spPr>
            <a:xfrm>
              <a:off x="5143500" y="33337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W1</a:t>
              </a:r>
              <a:endParaRPr lang="en-US" sz="1100" spc="0" kern="0" b="0" i="0" dirty="0">
                <a:solidFill>
                  <a:srgbClr val="070154"/>
                </a:solidFill>
                <a:latin typeface="IBM Plex Sans"/>
                <a:ea typeface="IBM Plex Sans"/>
                <a:cs typeface="IBM Plex Sans"/>
              </a:endParaRPr>
            </a:p>
          </p:txBody>
        </p:sp>
      </p:grpSp>
      <p:grpSp>
        <p:nvGrpSpPr>
          <p:cNvPr id="152" name="node26"/>
          <p:cNvGrpSpPr/>
          <p:nvPr/>
        </p:nvGrpSpPr>
        <p:grpSpPr>
          <a:xfrm>
            <a:off x="4152900" y="4114800"/>
            <a:ext cx="1371600" cy="190500"/>
            <a:chOff x="4152900" y="4114800"/>
            <a:chExt cx="1371600" cy="190500"/>
          </a:xfrm>
        </p:grpSpPr>
        <p:sp>
          <p:nvSpPr>
            <p:cNvPr id="56" name="node26.text"/>
            <p:cNvSpPr/>
            <p:nvPr/>
          </p:nvSpPr>
          <p:spPr>
            <a:xfrm>
              <a:off x="4152900" y="41148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Not started</a:t>
              </a:r>
              <a:endParaRPr lang="en-US" sz="1100" spc="0" kern="0" b="0" i="0" dirty="0">
                <a:solidFill>
                  <a:srgbClr val="50658E"/>
                </a:solidFill>
                <a:latin typeface="IBM Plex Sans"/>
                <a:ea typeface="IBM Plex Sans"/>
                <a:cs typeface="IBM Plex Sans"/>
              </a:endParaRPr>
            </a:p>
          </p:txBody>
        </p:sp>
      </p:grpSp>
      <p:grpSp>
        <p:nvGrpSpPr>
          <p:cNvPr id="153" name="node27"/>
          <p:cNvGrpSpPr/>
          <p:nvPr/>
        </p:nvGrpSpPr>
        <p:grpSpPr>
          <a:xfrm>
            <a:off x="952500" y="4572000"/>
            <a:ext cx="4572000" cy="457200"/>
            <a:chOff x="952500" y="4572000"/>
            <a:chExt cx="4572000" cy="457200"/>
          </a:xfrm>
        </p:grpSpPr>
        <p:sp>
          <p:nvSpPr>
            <p:cNvPr id="57" name="node27.surface"/>
            <p:cNvSpPr/>
            <p:nvPr/>
          </p:nvSpPr>
          <p:spPr>
            <a:xfrm>
              <a:off x="958850" y="4578350"/>
              <a:ext cx="4559300" cy="444500"/>
            </a:xfrm>
            <a:prstGeom prst="rect">
              <a:avLst/>
            </a:prstGeom>
            <a:solidFill>
              <a:srgbClr val="FFFFFF"/>
            </a:solidFill>
            <a:ln w="12700">
              <a:solidFill>
                <a:srgbClr val="CED7E6"/>
              </a:solidFill>
              <a:prstDash val="solid"/>
            </a:ln>
          </p:spPr>
        </p:sp>
        <p:sp>
          <p:nvSpPr>
            <p:cNvPr id="58" name="node27.text"/>
            <p:cNvSpPr/>
            <p:nvPr/>
          </p:nvSpPr>
          <p:spPr>
            <a:xfrm>
              <a:off x="1104900" y="4705350"/>
              <a:ext cx="426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+12 more sites, same pattern</a:t>
              </a:r>
              <a:endParaRPr lang="en-US" sz="1100" spc="0" kern="0" b="0" i="0" dirty="0">
                <a:solidFill>
                  <a:srgbClr val="070154"/>
                </a:solidFill>
                <a:latin typeface="IBM Plex Sans"/>
                <a:ea typeface="IBM Plex Sans"/>
                <a:cs typeface="IBM Plex Sans"/>
              </a:endParaRPr>
            </a:p>
          </p:txBody>
        </p:sp>
      </p:grpSp>
      <p:grpSp>
        <p:nvGrpSpPr>
          <p:cNvPr id="154" name="node28"/>
          <p:cNvGrpSpPr/>
          <p:nvPr/>
        </p:nvGrpSpPr>
        <p:grpSpPr>
          <a:xfrm>
            <a:off x="3195879" y="2971800"/>
            <a:ext cx="85242" cy="228600"/>
            <a:chOff x="3195879" y="2971800"/>
            <a:chExt cx="85242" cy="228600"/>
          </a:xfrm>
        </p:grpSpPr>
        <p:sp>
          <p:nvSpPr>
            <p:cNvPr id="59" name="node28.segment-1"/>
            <p:cNvSpPr/>
            <p:nvPr/>
          </p:nvSpPr>
          <p:spPr>
            <a:xfrm>
              <a:off x="32385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60" name="node28.head-end.0"/>
            <p:cNvSpPr/>
            <p:nvPr/>
          </p:nvSpPr>
          <p:spPr>
            <a:xfrm>
              <a:off x="31958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61" name="node28.head-end.1"/>
            <p:cNvSpPr/>
            <p:nvPr/>
          </p:nvSpPr>
          <p:spPr>
            <a:xfrm>
              <a:off x="32385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5" name="node29"/>
          <p:cNvGrpSpPr/>
          <p:nvPr/>
        </p:nvGrpSpPr>
        <p:grpSpPr>
          <a:xfrm>
            <a:off x="4796079" y="2971800"/>
            <a:ext cx="85242" cy="228600"/>
            <a:chOff x="4796079" y="2971800"/>
            <a:chExt cx="85242" cy="228600"/>
          </a:xfrm>
        </p:grpSpPr>
        <p:sp>
          <p:nvSpPr>
            <p:cNvPr id="62" name="node29.segment-1"/>
            <p:cNvSpPr/>
            <p:nvPr/>
          </p:nvSpPr>
          <p:spPr>
            <a:xfrm>
              <a:off x="48387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63" name="node29.head-end.0"/>
            <p:cNvSpPr/>
            <p:nvPr/>
          </p:nvSpPr>
          <p:spPr>
            <a:xfrm>
              <a:off x="47960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64" name="node29.head-end.1"/>
            <p:cNvSpPr/>
            <p:nvPr/>
          </p:nvSpPr>
          <p:spPr>
            <a:xfrm>
              <a:off x="48387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6" name="node30"/>
          <p:cNvGrpSpPr/>
          <p:nvPr/>
        </p:nvGrpSpPr>
        <p:grpSpPr>
          <a:xfrm>
            <a:off x="6438900" y="2514600"/>
            <a:ext cx="4343400" cy="457200"/>
            <a:chOff x="6438900" y="2514600"/>
            <a:chExt cx="4343400" cy="457200"/>
          </a:xfrm>
        </p:grpSpPr>
        <p:sp>
          <p:nvSpPr>
            <p:cNvPr id="65" name="node30.surface"/>
            <p:cNvSpPr/>
            <p:nvPr/>
          </p:nvSpPr>
          <p:spPr>
            <a:xfrm>
              <a:off x="6438900" y="2514600"/>
              <a:ext cx="4343400" cy="457200"/>
            </a:xfrm>
            <a:prstGeom prst="rect">
              <a:avLst/>
            </a:prstGeom>
            <a:solidFill>
              <a:srgbClr val="070154"/>
            </a:solidFill>
            <a:ln>
              <a:noFill/>
            </a:ln>
          </p:spPr>
        </p:sp>
        <p:sp>
          <p:nvSpPr>
            <p:cNvPr id="66" name="node30.text"/>
            <p:cNvSpPr/>
            <p:nvPr/>
          </p:nvSpPr>
          <p:spPr>
            <a:xfrm>
              <a:off x="6591300" y="2647950"/>
              <a:ext cx="4038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Central API layer</a:t>
              </a:r>
              <a:endParaRPr lang="en-US" sz="1100" spc="0" kern="0" b="0" i="0" dirty="0">
                <a:solidFill>
                  <a:srgbClr val="FFFFFF"/>
                </a:solidFill>
                <a:latin typeface="IBM Plex Sans"/>
                <a:ea typeface="IBM Plex Sans"/>
                <a:cs typeface="IBM Plex Sans"/>
              </a:endParaRPr>
            </a:p>
          </p:txBody>
        </p:sp>
      </p:grpSp>
      <p:grpSp>
        <p:nvGrpSpPr>
          <p:cNvPr id="157" name="node31"/>
          <p:cNvGrpSpPr/>
          <p:nvPr/>
        </p:nvGrpSpPr>
        <p:grpSpPr>
          <a:xfrm>
            <a:off x="10782300" y="2514600"/>
            <a:ext cx="457200" cy="457200"/>
            <a:chOff x="10782300" y="2514600"/>
            <a:chExt cx="457200" cy="457200"/>
          </a:xfrm>
        </p:grpSpPr>
        <p:sp>
          <p:nvSpPr>
            <p:cNvPr id="67" name="node31.surface"/>
            <p:cNvSpPr/>
            <p:nvPr/>
          </p:nvSpPr>
          <p:spPr>
            <a:xfrm>
              <a:off x="10782300" y="2514600"/>
              <a:ext cx="457200" cy="457200"/>
            </a:xfrm>
            <a:prstGeom prst="rect">
              <a:avLst/>
            </a:prstGeom>
            <a:solidFill>
              <a:srgbClr val="CED7E6"/>
            </a:solidFill>
            <a:ln>
              <a:noFill/>
            </a:ln>
          </p:spPr>
        </p:sp>
        <p:sp>
          <p:nvSpPr>
            <p:cNvPr id="68" name="node31.text"/>
            <p:cNvSpPr/>
            <p:nvPr/>
          </p:nvSpPr>
          <p:spPr>
            <a:xfrm>
              <a:off x="10858500" y="26479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W2</a:t>
              </a:r>
              <a:endParaRPr lang="en-US" sz="1100" spc="0" kern="0" b="0" i="0" dirty="0">
                <a:solidFill>
                  <a:srgbClr val="070154"/>
                </a:solidFill>
                <a:latin typeface="IBM Plex Sans"/>
                <a:ea typeface="IBM Plex Sans"/>
                <a:cs typeface="IBM Plex Sans"/>
              </a:endParaRPr>
            </a:p>
          </p:txBody>
        </p:sp>
      </p:grpSp>
      <p:grpSp>
        <p:nvGrpSpPr>
          <p:cNvPr id="158" name="node32"/>
          <p:cNvGrpSpPr/>
          <p:nvPr/>
        </p:nvGrpSpPr>
        <p:grpSpPr>
          <a:xfrm>
            <a:off x="6438900" y="3200400"/>
            <a:ext cx="1371600" cy="457200"/>
            <a:chOff x="6438900" y="3200400"/>
            <a:chExt cx="1371600" cy="457200"/>
          </a:xfrm>
        </p:grpSpPr>
        <p:sp>
          <p:nvSpPr>
            <p:cNvPr id="69" name="node32.surface"/>
            <p:cNvSpPr/>
            <p:nvPr/>
          </p:nvSpPr>
          <p:spPr>
            <a:xfrm>
              <a:off x="6445250" y="3206750"/>
              <a:ext cx="1358900" cy="444500"/>
            </a:xfrm>
            <a:prstGeom prst="rect">
              <a:avLst/>
            </a:prstGeom>
            <a:solidFill>
              <a:srgbClr val="FFFFFF"/>
            </a:solidFill>
            <a:ln w="12700">
              <a:solidFill>
                <a:srgbClr val="CED7E6"/>
              </a:solidFill>
              <a:prstDash val="solid"/>
            </a:ln>
          </p:spPr>
        </p:sp>
        <p:sp>
          <p:nvSpPr>
            <p:cNvPr id="70" name="node32.text"/>
            <p:cNvSpPr/>
            <p:nvPr/>
          </p:nvSpPr>
          <p:spPr>
            <a:xfrm>
              <a:off x="6591300" y="3333750"/>
              <a:ext cx="1066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Sync service</a:t>
              </a:r>
              <a:endParaRPr lang="en-US" sz="1100" spc="0" kern="0" b="0" i="0" dirty="0">
                <a:solidFill>
                  <a:srgbClr val="070154"/>
                </a:solidFill>
                <a:latin typeface="IBM Plex Sans"/>
                <a:ea typeface="IBM Plex Sans"/>
                <a:cs typeface="IBM Plex Sans"/>
              </a:endParaRPr>
            </a:p>
          </p:txBody>
        </p:sp>
      </p:grpSp>
      <p:grpSp>
        <p:nvGrpSpPr>
          <p:cNvPr id="159" name="node33"/>
          <p:cNvGrpSpPr/>
          <p:nvPr/>
        </p:nvGrpSpPr>
        <p:grpSpPr>
          <a:xfrm>
            <a:off x="7810500" y="3200400"/>
            <a:ext cx="457200" cy="457200"/>
            <a:chOff x="7810500" y="3200400"/>
            <a:chExt cx="457200" cy="457200"/>
          </a:xfrm>
        </p:grpSpPr>
        <p:sp>
          <p:nvSpPr>
            <p:cNvPr id="71" name="node33.surface"/>
            <p:cNvSpPr/>
            <p:nvPr/>
          </p:nvSpPr>
          <p:spPr>
            <a:xfrm>
              <a:off x="7810500" y="3200400"/>
              <a:ext cx="457200" cy="457200"/>
            </a:xfrm>
            <a:prstGeom prst="rect">
              <a:avLst/>
            </a:prstGeom>
            <a:solidFill>
              <a:srgbClr val="CED7E6"/>
            </a:solidFill>
            <a:ln>
              <a:noFill/>
            </a:ln>
          </p:spPr>
        </p:sp>
        <p:sp>
          <p:nvSpPr>
            <p:cNvPr id="72" name="node33.text"/>
            <p:cNvSpPr/>
            <p:nvPr/>
          </p:nvSpPr>
          <p:spPr>
            <a:xfrm>
              <a:off x="7886700" y="33337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W1</a:t>
              </a:r>
              <a:endParaRPr lang="en-US" sz="1100" spc="0" kern="0" b="0" i="0" dirty="0">
                <a:solidFill>
                  <a:srgbClr val="070154"/>
                </a:solidFill>
                <a:latin typeface="IBM Plex Sans"/>
                <a:ea typeface="IBM Plex Sans"/>
                <a:cs typeface="IBM Plex Sans"/>
              </a:endParaRPr>
            </a:p>
          </p:txBody>
        </p:sp>
      </p:grpSp>
      <p:sp>
        <p:nvSpPr>
          <p:cNvPr id="73" name="node34"/>
          <p:cNvSpPr/>
          <p:nvPr/>
        </p:nvSpPr>
        <p:spPr>
          <a:xfrm>
            <a:off x="6438900" y="3200400"/>
            <a:ext cx="1828800" cy="38100"/>
          </a:xfrm>
          <a:prstGeom prst="rect">
            <a:avLst/>
          </a:prstGeom>
          <a:solidFill>
            <a:srgbClr val="0047FF"/>
          </a:solidFill>
          <a:ln>
            <a:noFill/>
          </a:ln>
        </p:spPr>
      </p:sp>
      <p:grpSp>
        <p:nvGrpSpPr>
          <p:cNvPr id="160" name="node35"/>
          <p:cNvGrpSpPr/>
          <p:nvPr/>
        </p:nvGrpSpPr>
        <p:grpSpPr>
          <a:xfrm>
            <a:off x="8496300" y="3200400"/>
            <a:ext cx="2286000" cy="457200"/>
            <a:chOff x="8496300" y="3200400"/>
            <a:chExt cx="2286000" cy="457200"/>
          </a:xfrm>
        </p:grpSpPr>
        <p:sp>
          <p:nvSpPr>
            <p:cNvPr id="74" name="node35.surface"/>
            <p:cNvSpPr/>
            <p:nvPr/>
          </p:nvSpPr>
          <p:spPr>
            <a:xfrm>
              <a:off x="8496300" y="3200400"/>
              <a:ext cx="2286000" cy="457200"/>
            </a:xfrm>
            <a:prstGeom prst="rect">
              <a:avLst/>
            </a:prstGeom>
            <a:solidFill>
              <a:srgbClr val="070154"/>
            </a:solidFill>
            <a:ln>
              <a:noFill/>
            </a:ln>
          </p:spPr>
        </p:sp>
        <p:sp>
          <p:nvSpPr>
            <p:cNvPr id="75" name="node35.text"/>
            <p:cNvSpPr/>
            <p:nvPr/>
          </p:nvSpPr>
          <p:spPr>
            <a:xfrm>
              <a:off x="8648700" y="3333750"/>
              <a:ext cx="1981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Cloud database</a:t>
              </a:r>
              <a:endParaRPr lang="en-US" sz="1100" spc="0" kern="0" b="0" i="0" dirty="0">
                <a:solidFill>
                  <a:srgbClr val="FFFFFF"/>
                </a:solidFill>
                <a:latin typeface="IBM Plex Sans"/>
                <a:ea typeface="IBM Plex Sans"/>
                <a:cs typeface="IBM Plex Sans"/>
              </a:endParaRPr>
            </a:p>
          </p:txBody>
        </p:sp>
      </p:grpSp>
      <p:grpSp>
        <p:nvGrpSpPr>
          <p:cNvPr id="161" name="node36"/>
          <p:cNvGrpSpPr/>
          <p:nvPr/>
        </p:nvGrpSpPr>
        <p:grpSpPr>
          <a:xfrm>
            <a:off x="10782300" y="3200400"/>
            <a:ext cx="457200" cy="457200"/>
            <a:chOff x="10782300" y="3200400"/>
            <a:chExt cx="457200" cy="457200"/>
          </a:xfrm>
        </p:grpSpPr>
        <p:sp>
          <p:nvSpPr>
            <p:cNvPr id="76" name="node36.surface"/>
            <p:cNvSpPr/>
            <p:nvPr/>
          </p:nvSpPr>
          <p:spPr>
            <a:xfrm>
              <a:off x="10782300" y="3200400"/>
              <a:ext cx="457200" cy="457200"/>
            </a:xfrm>
            <a:prstGeom prst="rect">
              <a:avLst/>
            </a:prstGeom>
            <a:solidFill>
              <a:srgbClr val="CED7E6"/>
            </a:solidFill>
            <a:ln>
              <a:noFill/>
            </a:ln>
          </p:spPr>
        </p:sp>
        <p:sp>
          <p:nvSpPr>
            <p:cNvPr id="77" name="node36.text"/>
            <p:cNvSpPr/>
            <p:nvPr/>
          </p:nvSpPr>
          <p:spPr>
            <a:xfrm>
              <a:off x="10858500" y="33337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W1</a:t>
              </a:r>
              <a:endParaRPr lang="en-US" sz="1100" spc="0" kern="0" b="0" i="0" dirty="0">
                <a:solidFill>
                  <a:srgbClr val="070154"/>
                </a:solidFill>
                <a:latin typeface="IBM Plex Sans"/>
                <a:ea typeface="IBM Plex Sans"/>
                <a:cs typeface="IBM Plex Sans"/>
              </a:endParaRPr>
            </a:p>
          </p:txBody>
        </p:sp>
      </p:grpSp>
      <p:grpSp>
        <p:nvGrpSpPr>
          <p:cNvPr id="162" name="node37"/>
          <p:cNvGrpSpPr/>
          <p:nvPr/>
        </p:nvGrpSpPr>
        <p:grpSpPr>
          <a:xfrm>
            <a:off x="8267700" y="3386379"/>
            <a:ext cx="228600" cy="85242"/>
            <a:chOff x="8267700" y="3386379"/>
            <a:chExt cx="228600" cy="85242"/>
          </a:xfrm>
        </p:grpSpPr>
        <p:sp>
          <p:nvSpPr>
            <p:cNvPr id="78" name="node37.segment-1"/>
            <p:cNvSpPr/>
            <p:nvPr/>
          </p:nvSpPr>
          <p:spPr>
            <a:xfrm>
              <a:off x="8267700" y="3429000"/>
              <a:ext cx="228600" cy="0"/>
            </a:xfrm>
            <a:custGeom>
              <a:avLst/>
              <a:gdLst/>
              <a:ahLst/>
              <a:cxnLst/>
              <a:rect l="l" t="t" r="r" b="b"/>
              <a:pathLst>
                <a:path w="228600">
                  <a:moveTo>
                    <a:pt x="0" y="0"/>
                  </a:moveTo>
                  <a:lnTo>
                    <a:pt x="228600" y="0"/>
                  </a:lnTo>
                </a:path>
              </a:pathLst>
            </a:custGeom>
            <a:ln w="12700">
              <a:solidFill>
                <a:srgbClr val="070154"/>
              </a:solidFill>
              <a:prstDash val="dash"/>
            </a:ln>
          </p:spPr>
        </p:sp>
        <p:sp>
          <p:nvSpPr>
            <p:cNvPr id="79" name="node37.head-end.0"/>
            <p:cNvSpPr/>
            <p:nvPr/>
          </p:nvSpPr>
          <p:spPr>
            <a:xfrm>
              <a:off x="8418283" y="34290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80" name="node37.head-end.1"/>
            <p:cNvSpPr/>
            <p:nvPr/>
          </p:nvSpPr>
          <p:spPr>
            <a:xfrm>
              <a:off x="8418283" y="33863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63" name="node38"/>
          <p:cNvGrpSpPr/>
          <p:nvPr/>
        </p:nvGrpSpPr>
        <p:grpSpPr>
          <a:xfrm>
            <a:off x="9825279" y="2971800"/>
            <a:ext cx="85242" cy="228600"/>
            <a:chOff x="9825279" y="2971800"/>
            <a:chExt cx="85242" cy="228600"/>
          </a:xfrm>
        </p:grpSpPr>
        <p:sp>
          <p:nvSpPr>
            <p:cNvPr id="81" name="node38.segment-1"/>
            <p:cNvSpPr/>
            <p:nvPr/>
          </p:nvSpPr>
          <p:spPr>
            <a:xfrm>
              <a:off x="98679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82" name="node38.head-end.0"/>
            <p:cNvSpPr/>
            <p:nvPr/>
          </p:nvSpPr>
          <p:spPr>
            <a:xfrm>
              <a:off x="98252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83" name="node38.head-end.1"/>
            <p:cNvSpPr/>
            <p:nvPr/>
          </p:nvSpPr>
          <p:spPr>
            <a:xfrm>
              <a:off x="98679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84" name="node38.head-start.0"/>
            <p:cNvSpPr/>
            <p:nvPr/>
          </p:nvSpPr>
          <p:spPr>
            <a:xfrm>
              <a:off x="9867900" y="29718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85" name="node38.head-start.1"/>
            <p:cNvSpPr/>
            <p:nvPr/>
          </p:nvSpPr>
          <p:spPr>
            <a:xfrm>
              <a:off x="9825279" y="29718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164" name="node39"/>
          <p:cNvGrpSpPr/>
          <p:nvPr/>
        </p:nvGrpSpPr>
        <p:grpSpPr>
          <a:xfrm>
            <a:off x="1638300" y="1943100"/>
            <a:ext cx="5757621" cy="571500"/>
            <a:chOff x="1638300" y="1943100"/>
            <a:chExt cx="5757621" cy="571500"/>
          </a:xfrm>
        </p:grpSpPr>
        <p:sp>
          <p:nvSpPr>
            <p:cNvPr id="86" name="node39.segment-1"/>
            <p:cNvSpPr/>
            <p:nvPr/>
          </p:nvSpPr>
          <p:spPr>
            <a:xfrm>
              <a:off x="1638300" y="2057400"/>
              <a:ext cx="0" cy="457200"/>
            </a:xfrm>
            <a:custGeom>
              <a:avLst/>
              <a:gdLst/>
              <a:ahLst/>
              <a:cxnLst/>
              <a:rect l="l" t="t" r="r" b="b"/>
              <a:pathLst>
                <a:path h="457200">
                  <a:moveTo>
                    <a:pt x="0" y="457200"/>
                  </a:moveTo>
                  <a:lnTo>
                    <a:pt x="0" y="0"/>
                  </a:lnTo>
                </a:path>
              </a:pathLst>
            </a:custGeom>
            <a:ln w="12700">
              <a:solidFill>
                <a:srgbClr val="070154"/>
              </a:solidFill>
              <a:prstDash val="solid"/>
            </a:ln>
          </p:spPr>
        </p:sp>
        <p:sp>
          <p:nvSpPr>
            <p:cNvPr id="87" name="node39.segment-2"/>
            <p:cNvSpPr/>
            <p:nvPr/>
          </p:nvSpPr>
          <p:spPr>
            <a:xfrm>
              <a:off x="1638300" y="2057400"/>
              <a:ext cx="5715000" cy="0"/>
            </a:xfrm>
            <a:custGeom>
              <a:avLst/>
              <a:gdLst/>
              <a:ahLst/>
              <a:cxnLst/>
              <a:rect l="l" t="t" r="r" b="b"/>
              <a:pathLst>
                <a:path w="5715000">
                  <a:moveTo>
                    <a:pt x="0" y="0"/>
                  </a:moveTo>
                  <a:lnTo>
                    <a:pt x="5715000" y="0"/>
                  </a:lnTo>
                </a:path>
              </a:pathLst>
            </a:custGeom>
            <a:ln w="12700">
              <a:solidFill>
                <a:srgbClr val="070154"/>
              </a:solidFill>
              <a:prstDash val="solid"/>
            </a:ln>
          </p:spPr>
        </p:sp>
        <p:sp>
          <p:nvSpPr>
            <p:cNvPr id="88" name="node39.segment-3"/>
            <p:cNvSpPr/>
            <p:nvPr/>
          </p:nvSpPr>
          <p:spPr>
            <a:xfrm>
              <a:off x="7353300" y="2057400"/>
              <a:ext cx="0" cy="457200"/>
            </a:xfrm>
            <a:custGeom>
              <a:avLst/>
              <a:gdLst/>
              <a:ahLst/>
              <a:cxnLst/>
              <a:rect l="l" t="t" r="r" b="b"/>
              <a:pathLst>
                <a:path h="457200">
                  <a:moveTo>
                    <a:pt x="0" y="0"/>
                  </a:moveTo>
                  <a:lnTo>
                    <a:pt x="0" y="457200"/>
                  </a:lnTo>
                </a:path>
              </a:pathLst>
            </a:custGeom>
            <a:ln w="12700">
              <a:solidFill>
                <a:srgbClr val="070154"/>
              </a:solidFill>
              <a:prstDash val="solid"/>
            </a:ln>
          </p:spPr>
        </p:sp>
        <p:sp>
          <p:nvSpPr>
            <p:cNvPr id="89" name="node39.head-end.0"/>
            <p:cNvSpPr/>
            <p:nvPr/>
          </p:nvSpPr>
          <p:spPr>
            <a:xfrm>
              <a:off x="7310679" y="24365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90" name="node39.head-end.1"/>
            <p:cNvSpPr/>
            <p:nvPr/>
          </p:nvSpPr>
          <p:spPr>
            <a:xfrm>
              <a:off x="7353300" y="24365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91" name="node39.label-patch"/>
            <p:cNvSpPr/>
            <p:nvPr/>
          </p:nvSpPr>
          <p:spPr>
            <a:xfrm>
              <a:off x="3921444" y="1943100"/>
              <a:ext cx="1148711" cy="228600"/>
            </a:xfrm>
            <a:prstGeom prst="rect">
              <a:avLst/>
            </a:prstGeom>
            <a:solidFill>
              <a:srgbClr val="FFFFFF"/>
            </a:solidFill>
            <a:ln>
              <a:noFill/>
            </a:ln>
          </p:spPr>
        </p:sp>
        <p:sp>
          <p:nvSpPr>
            <p:cNvPr id="92" name="node39.label"/>
            <p:cNvSpPr/>
            <p:nvPr/>
          </p:nvSpPr>
          <p:spPr>
            <a:xfrm>
              <a:off x="3959544" y="1981200"/>
              <a:ext cx="1072511"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API CALLS, LIVE</a:t>
              </a:r>
              <a:endParaRPr lang="en-US" sz="800" spc="48" kern="0" b="0" i="0" dirty="0">
                <a:solidFill>
                  <a:srgbClr val="50658E"/>
                </a:solidFill>
                <a:latin typeface="IBM Plex Mono Medium"/>
                <a:ea typeface="IBM Plex Mono Medium"/>
                <a:cs typeface="IBM Plex Mono Medium"/>
              </a:endParaRPr>
            </a:p>
          </p:txBody>
        </p:sp>
      </p:grpSp>
      <p:grpSp>
        <p:nvGrpSpPr>
          <p:cNvPr id="165" name="node40"/>
          <p:cNvGrpSpPr/>
          <p:nvPr/>
        </p:nvGrpSpPr>
        <p:grpSpPr>
          <a:xfrm>
            <a:off x="3238500" y="2171700"/>
            <a:ext cx="3471621" cy="342900"/>
            <a:chOff x="3238500" y="2171700"/>
            <a:chExt cx="3471621" cy="342900"/>
          </a:xfrm>
        </p:grpSpPr>
        <p:sp>
          <p:nvSpPr>
            <p:cNvPr id="93" name="node40.segment-1"/>
            <p:cNvSpPr/>
            <p:nvPr/>
          </p:nvSpPr>
          <p:spPr>
            <a:xfrm>
              <a:off x="3238500" y="2171700"/>
              <a:ext cx="0" cy="342900"/>
            </a:xfrm>
            <a:custGeom>
              <a:avLst/>
              <a:gdLst/>
              <a:ahLst/>
              <a:cxnLst/>
              <a:rect l="l" t="t" r="r" b="b"/>
              <a:pathLst>
                <a:path h="342900">
                  <a:moveTo>
                    <a:pt x="0" y="342900"/>
                  </a:moveTo>
                  <a:lnTo>
                    <a:pt x="0" y="0"/>
                  </a:lnTo>
                </a:path>
              </a:pathLst>
            </a:custGeom>
            <a:ln w="12700">
              <a:solidFill>
                <a:srgbClr val="070154"/>
              </a:solidFill>
              <a:prstDash val="dash"/>
            </a:ln>
          </p:spPr>
        </p:sp>
        <p:sp>
          <p:nvSpPr>
            <p:cNvPr id="94" name="node40.segment-2"/>
            <p:cNvSpPr/>
            <p:nvPr/>
          </p:nvSpPr>
          <p:spPr>
            <a:xfrm>
              <a:off x="3238500" y="2171700"/>
              <a:ext cx="3429000" cy="0"/>
            </a:xfrm>
            <a:custGeom>
              <a:avLst/>
              <a:gdLst/>
              <a:ahLst/>
              <a:cxnLst/>
              <a:rect l="l" t="t" r="r" b="b"/>
              <a:pathLst>
                <a:path w="3429000">
                  <a:moveTo>
                    <a:pt x="0" y="0"/>
                  </a:moveTo>
                  <a:lnTo>
                    <a:pt x="3429000" y="0"/>
                  </a:lnTo>
                </a:path>
              </a:pathLst>
            </a:custGeom>
            <a:ln w="12700">
              <a:solidFill>
                <a:srgbClr val="070154"/>
              </a:solidFill>
              <a:prstDash val="dash"/>
            </a:ln>
          </p:spPr>
        </p:sp>
        <p:sp>
          <p:nvSpPr>
            <p:cNvPr id="95" name="node40.segment-3"/>
            <p:cNvSpPr/>
            <p:nvPr/>
          </p:nvSpPr>
          <p:spPr>
            <a:xfrm>
              <a:off x="6667500" y="2171700"/>
              <a:ext cx="0" cy="342900"/>
            </a:xfrm>
            <a:custGeom>
              <a:avLst/>
              <a:gdLst/>
              <a:ahLst/>
              <a:cxnLst/>
              <a:rect l="l" t="t" r="r" b="b"/>
              <a:pathLst>
                <a:path h="342900">
                  <a:moveTo>
                    <a:pt x="0" y="0"/>
                  </a:moveTo>
                  <a:lnTo>
                    <a:pt x="0" y="342900"/>
                  </a:lnTo>
                </a:path>
              </a:pathLst>
            </a:custGeom>
            <a:ln w="12700">
              <a:solidFill>
                <a:srgbClr val="070154"/>
              </a:solidFill>
              <a:prstDash val="dash"/>
            </a:ln>
          </p:spPr>
        </p:sp>
        <p:sp>
          <p:nvSpPr>
            <p:cNvPr id="96" name="node40.head-end.0"/>
            <p:cNvSpPr/>
            <p:nvPr/>
          </p:nvSpPr>
          <p:spPr>
            <a:xfrm>
              <a:off x="6624879" y="24365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97" name="node40.head-end.1"/>
            <p:cNvSpPr/>
            <p:nvPr/>
          </p:nvSpPr>
          <p:spPr>
            <a:xfrm>
              <a:off x="6667500" y="24365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66" name="node41"/>
          <p:cNvGrpSpPr/>
          <p:nvPr/>
        </p:nvGrpSpPr>
        <p:grpSpPr>
          <a:xfrm>
            <a:off x="3238500" y="3657600"/>
            <a:ext cx="4157421" cy="342900"/>
            <a:chOff x="3238500" y="3657600"/>
            <a:chExt cx="4157421" cy="342900"/>
          </a:xfrm>
        </p:grpSpPr>
        <p:sp>
          <p:nvSpPr>
            <p:cNvPr id="98" name="node41.segment-1"/>
            <p:cNvSpPr/>
            <p:nvPr/>
          </p:nvSpPr>
          <p:spPr>
            <a:xfrm>
              <a:off x="3238500" y="3657600"/>
              <a:ext cx="0" cy="228600"/>
            </a:xfrm>
            <a:custGeom>
              <a:avLst/>
              <a:gdLst/>
              <a:ahLst/>
              <a:cxnLst/>
              <a:rect l="l" t="t" r="r" b="b"/>
              <a:pathLst>
                <a:path h="228600">
                  <a:moveTo>
                    <a:pt x="0" y="0"/>
                  </a:moveTo>
                  <a:lnTo>
                    <a:pt x="0" y="228600"/>
                  </a:lnTo>
                </a:path>
              </a:pathLst>
            </a:custGeom>
            <a:ln w="12700">
              <a:solidFill>
                <a:srgbClr val="070154"/>
              </a:solidFill>
              <a:prstDash val="dash"/>
            </a:ln>
          </p:spPr>
        </p:sp>
        <p:sp>
          <p:nvSpPr>
            <p:cNvPr id="99" name="node41.segment-2"/>
            <p:cNvSpPr/>
            <p:nvPr/>
          </p:nvSpPr>
          <p:spPr>
            <a:xfrm>
              <a:off x="3238500" y="3886200"/>
              <a:ext cx="4114800" cy="0"/>
            </a:xfrm>
            <a:custGeom>
              <a:avLst/>
              <a:gdLst/>
              <a:ahLst/>
              <a:cxnLst/>
              <a:rect l="l" t="t" r="r" b="b"/>
              <a:pathLst>
                <a:path w="4114800">
                  <a:moveTo>
                    <a:pt x="0" y="0"/>
                  </a:moveTo>
                  <a:lnTo>
                    <a:pt x="4114800" y="0"/>
                  </a:lnTo>
                </a:path>
              </a:pathLst>
            </a:custGeom>
            <a:ln w="12700">
              <a:solidFill>
                <a:srgbClr val="070154"/>
              </a:solidFill>
              <a:prstDash val="dash"/>
            </a:ln>
          </p:spPr>
        </p:sp>
        <p:sp>
          <p:nvSpPr>
            <p:cNvPr id="100" name="node41.segment-3"/>
            <p:cNvSpPr/>
            <p:nvPr/>
          </p:nvSpPr>
          <p:spPr>
            <a:xfrm>
              <a:off x="7353300" y="3657600"/>
              <a:ext cx="0" cy="228600"/>
            </a:xfrm>
            <a:custGeom>
              <a:avLst/>
              <a:gdLst/>
              <a:ahLst/>
              <a:cxnLst/>
              <a:rect l="l" t="t" r="r" b="b"/>
              <a:pathLst>
                <a:path h="228600">
                  <a:moveTo>
                    <a:pt x="0" y="228600"/>
                  </a:moveTo>
                  <a:lnTo>
                    <a:pt x="0" y="0"/>
                  </a:lnTo>
                </a:path>
              </a:pathLst>
            </a:custGeom>
            <a:ln w="12700">
              <a:solidFill>
                <a:srgbClr val="070154"/>
              </a:solidFill>
              <a:prstDash val="dash"/>
            </a:ln>
          </p:spPr>
        </p:sp>
        <p:sp>
          <p:nvSpPr>
            <p:cNvPr id="101" name="node41.head-end.0"/>
            <p:cNvSpPr/>
            <p:nvPr/>
          </p:nvSpPr>
          <p:spPr>
            <a:xfrm>
              <a:off x="7353300" y="36576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102" name="node41.head-end.1"/>
            <p:cNvSpPr/>
            <p:nvPr/>
          </p:nvSpPr>
          <p:spPr>
            <a:xfrm>
              <a:off x="7310679" y="36576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sp>
          <p:nvSpPr>
            <p:cNvPr id="103" name="node41.label-patch"/>
            <p:cNvSpPr/>
            <p:nvPr/>
          </p:nvSpPr>
          <p:spPr>
            <a:xfrm>
              <a:off x="4854386" y="3771900"/>
              <a:ext cx="883028" cy="228600"/>
            </a:xfrm>
            <a:prstGeom prst="rect">
              <a:avLst/>
            </a:prstGeom>
            <a:solidFill>
              <a:srgbClr val="FFFFFF"/>
            </a:solidFill>
            <a:ln>
              <a:noFill/>
            </a:ln>
          </p:spPr>
        </p:sp>
        <p:sp>
          <p:nvSpPr>
            <p:cNvPr id="104" name="node41.label"/>
            <p:cNvSpPr/>
            <p:nvPr/>
          </p:nvSpPr>
          <p:spPr>
            <a:xfrm>
              <a:off x="4892486" y="3810000"/>
              <a:ext cx="806828"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REPLICATION</a:t>
              </a:r>
              <a:endParaRPr lang="en-US" sz="800" spc="48" kern="0" b="0" i="0" dirty="0">
                <a:solidFill>
                  <a:srgbClr val="50658E"/>
                </a:solidFill>
                <a:latin typeface="IBM Plex Mono Medium"/>
                <a:ea typeface="IBM Plex Mono Medium"/>
                <a:cs typeface="IBM Plex Mono Medium"/>
              </a:endParaRPr>
            </a:p>
          </p:txBody>
        </p:sp>
      </p:grpSp>
      <p:grpSp>
        <p:nvGrpSpPr>
          <p:cNvPr id="167" name="node42"/>
          <p:cNvGrpSpPr/>
          <p:nvPr/>
        </p:nvGrpSpPr>
        <p:grpSpPr>
          <a:xfrm>
            <a:off x="6438900" y="4114800"/>
            <a:ext cx="4800600" cy="228600"/>
            <a:chOff x="6438900" y="4114800"/>
            <a:chExt cx="4800600" cy="228600"/>
          </a:xfrm>
        </p:grpSpPr>
        <p:sp>
          <p:nvSpPr>
            <p:cNvPr id="105" name="node42.label"/>
            <p:cNvSpPr/>
            <p:nvPr/>
          </p:nvSpPr>
          <p:spPr>
            <a:xfrm>
              <a:off x="6438900" y="4114800"/>
              <a:ext cx="62318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WAVE PLAN</a:t>
              </a:r>
              <a:endParaRPr lang="en-US" sz="800" spc="48" kern="0" b="0" i="0" dirty="0">
                <a:solidFill>
                  <a:srgbClr val="50658E"/>
                </a:solidFill>
                <a:latin typeface="IBM Plex Mono Medium"/>
                <a:ea typeface="IBM Plex Mono Medium"/>
                <a:cs typeface="IBM Plex Mono Medium"/>
              </a:endParaRPr>
            </a:p>
          </p:txBody>
        </p:sp>
        <p:sp>
          <p:nvSpPr>
            <p:cNvPr id="106" name="node42.rule"/>
            <p:cNvSpPr/>
            <p:nvPr/>
          </p:nvSpPr>
          <p:spPr>
            <a:xfrm>
              <a:off x="7189087" y="4224338"/>
              <a:ext cx="4050413" cy="9525"/>
            </a:xfrm>
            <a:prstGeom prst="rect">
              <a:avLst/>
            </a:prstGeom>
            <a:solidFill>
              <a:srgbClr val="CED7E6"/>
            </a:solidFill>
            <a:ln>
              <a:noFill/>
            </a:ln>
          </p:spPr>
        </p:sp>
      </p:grpSp>
      <p:grpSp>
        <p:nvGrpSpPr>
          <p:cNvPr id="168" name="node43"/>
          <p:cNvGrpSpPr/>
          <p:nvPr/>
        </p:nvGrpSpPr>
        <p:grpSpPr>
          <a:xfrm>
            <a:off x="6438900" y="4457700"/>
            <a:ext cx="4800600" cy="723900"/>
            <a:chOff x="6438900" y="4457700"/>
            <a:chExt cx="4800600" cy="723900"/>
          </a:xfrm>
        </p:grpSpPr>
        <p:sp>
          <p:nvSpPr>
            <p:cNvPr id="107" name="node43.source-001.bullet"/>
            <p:cNvSpPr/>
            <p:nvPr/>
          </p:nvSpPr>
          <p:spPr>
            <a:xfrm>
              <a:off x="6438900" y="4546600"/>
              <a:ext cx="38100" cy="38100"/>
            </a:xfrm>
            <a:prstGeom prst="rect">
              <a:avLst/>
            </a:prstGeom>
            <a:solidFill>
              <a:srgbClr val="070154"/>
            </a:solidFill>
            <a:ln>
              <a:noFill/>
            </a:ln>
          </p:spPr>
        </p:sp>
        <p:sp>
          <p:nvSpPr>
            <p:cNvPr id="108" name="node43.source-001.text"/>
            <p:cNvSpPr/>
            <p:nvPr/>
          </p:nvSpPr>
          <p:spPr>
            <a:xfrm>
              <a:off x="6591300" y="44577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W1</a:t>
              </a:r>
              <a:r>
                <a:rPr lang="en-US" sz="1200" spc="0" kern="0" b="0" i="0" dirty="0">
                  <a:solidFill>
                    <a:srgbClr val="50658E"/>
                  </a:solidFill>
                  <a:latin typeface="IBM Plex Sans"/>
                  <a:ea typeface="IBM Plex Sans"/>
                  <a:cs typeface="IBM Plex Sans"/>
                </a:rPr>
                <a:t xml:space="preserve"> Replicate site databases to the cloud</a:t>
              </a:r>
              <a:endParaRPr lang="en-US" sz="1200" spc="0" kern="0" b="0" i="0" dirty="0">
                <a:solidFill>
                  <a:srgbClr val="070154"/>
                </a:solidFill>
                <a:latin typeface="IBM Plex Sans"/>
                <a:ea typeface="IBM Plex Sans"/>
                <a:cs typeface="IBM Plex Sans"/>
              </a:endParaRPr>
            </a:p>
          </p:txBody>
        </p:sp>
        <p:sp>
          <p:nvSpPr>
            <p:cNvPr id="109" name="node43.source-002.bullet"/>
            <p:cNvSpPr/>
            <p:nvPr/>
          </p:nvSpPr>
          <p:spPr>
            <a:xfrm>
              <a:off x="6438900" y="4800600"/>
              <a:ext cx="38100" cy="38100"/>
            </a:xfrm>
            <a:prstGeom prst="rect">
              <a:avLst/>
            </a:prstGeom>
            <a:solidFill>
              <a:srgbClr val="070154"/>
            </a:solidFill>
            <a:ln>
              <a:noFill/>
            </a:ln>
          </p:spPr>
        </p:sp>
        <p:sp>
          <p:nvSpPr>
            <p:cNvPr id="110" name="node43.source-002.text"/>
            <p:cNvSpPr/>
            <p:nvPr/>
          </p:nvSpPr>
          <p:spPr>
            <a:xfrm>
              <a:off x="6591300" y="47117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W2</a:t>
              </a:r>
              <a:r>
                <a:rPr lang="en-US" sz="1200" spc="0" kern="0" b="0" i="0" dirty="0">
                  <a:solidFill>
                    <a:srgbClr val="50658E"/>
                  </a:solidFill>
                  <a:latin typeface="IBM Plex Sans"/>
                  <a:ea typeface="IBM Plex Sans"/>
                  <a:cs typeface="IBM Plex Sans"/>
                </a:rPr>
                <a:t xml:space="preserve"> Route calls through the central API</a:t>
              </a:r>
              <a:endParaRPr lang="en-US" sz="1200" spc="0" kern="0" b="0" i="0" dirty="0">
                <a:solidFill>
                  <a:srgbClr val="070154"/>
                </a:solidFill>
                <a:latin typeface="IBM Plex Sans"/>
                <a:ea typeface="IBM Plex Sans"/>
                <a:cs typeface="IBM Plex Sans"/>
              </a:endParaRPr>
            </a:p>
          </p:txBody>
        </p:sp>
        <p:sp>
          <p:nvSpPr>
            <p:cNvPr id="111" name="node43.source-003.bullet"/>
            <p:cNvSpPr/>
            <p:nvPr/>
          </p:nvSpPr>
          <p:spPr>
            <a:xfrm>
              <a:off x="6438900" y="5054600"/>
              <a:ext cx="38100" cy="38100"/>
            </a:xfrm>
            <a:prstGeom prst="rect">
              <a:avLst/>
            </a:prstGeom>
            <a:solidFill>
              <a:srgbClr val="070154"/>
            </a:solidFill>
            <a:ln>
              <a:noFill/>
            </a:ln>
          </p:spPr>
        </p:sp>
        <p:sp>
          <p:nvSpPr>
            <p:cNvPr id="112" name="node43.source-003.text"/>
            <p:cNvSpPr/>
            <p:nvPr/>
          </p:nvSpPr>
          <p:spPr>
            <a:xfrm>
              <a:off x="6591300" y="49657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W3</a:t>
              </a:r>
              <a:r>
                <a:rPr lang="en-US" sz="1200" spc="0" kern="0" b="0" i="0" dirty="0">
                  <a:solidFill>
                    <a:srgbClr val="50658E"/>
                  </a:solidFill>
                  <a:latin typeface="IBM Plex Sans"/>
                  <a:ea typeface="IBM Plex Sans"/>
                  <a:cs typeface="IBM Plex Sans"/>
                </a:rPr>
                <a:t xml:space="preserve"> Repoint site UIs and retire site DBs</a:t>
              </a:r>
              <a:endParaRPr lang="en-US" sz="1200" spc="0" kern="0" b="0" i="0" dirty="0">
                <a:solidFill>
                  <a:srgbClr val="070154"/>
                </a:solidFill>
                <a:latin typeface="IBM Plex Sans"/>
                <a:ea typeface="IBM Plex Sans"/>
                <a:cs typeface="IBM Plex Sans"/>
              </a:endParaRPr>
            </a:p>
          </p:txBody>
        </p:sp>
      </p:grpSp>
      <p:grpSp>
        <p:nvGrpSpPr>
          <p:cNvPr id="169" name="node44"/>
          <p:cNvGrpSpPr/>
          <p:nvPr/>
        </p:nvGrpSpPr>
        <p:grpSpPr>
          <a:xfrm>
            <a:off x="723900" y="5486400"/>
            <a:ext cx="457200" cy="228600"/>
            <a:chOff x="723900" y="5486400"/>
            <a:chExt cx="457200" cy="228600"/>
          </a:xfrm>
        </p:grpSpPr>
        <p:sp>
          <p:nvSpPr>
            <p:cNvPr id="113" name="node44.surface"/>
            <p:cNvSpPr/>
            <p:nvPr/>
          </p:nvSpPr>
          <p:spPr>
            <a:xfrm>
              <a:off x="730250" y="5492750"/>
              <a:ext cx="444500" cy="215900"/>
            </a:xfrm>
            <a:prstGeom prst="rect">
              <a:avLst/>
            </a:prstGeom>
            <a:solidFill>
              <a:srgbClr val="FFFFFF"/>
            </a:solidFill>
            <a:ln w="12700">
              <a:solidFill>
                <a:srgbClr val="CED7E6"/>
              </a:solidFill>
              <a:prstDash val="solid"/>
            </a:ln>
          </p:spPr>
        </p:sp>
      </p:grpSp>
      <p:grpSp>
        <p:nvGrpSpPr>
          <p:cNvPr id="170" name="node45"/>
          <p:cNvGrpSpPr/>
          <p:nvPr/>
        </p:nvGrpSpPr>
        <p:grpSpPr>
          <a:xfrm>
            <a:off x="1295400" y="5486400"/>
            <a:ext cx="1371600" cy="190500"/>
            <a:chOff x="1295400" y="5486400"/>
            <a:chExt cx="1371600" cy="190500"/>
          </a:xfrm>
        </p:grpSpPr>
        <p:sp>
          <p:nvSpPr>
            <p:cNvPr id="114" name="node45.text"/>
            <p:cNvSpPr/>
            <p:nvPr/>
          </p:nvSpPr>
          <p:spPr>
            <a:xfrm>
              <a:off x="1295400" y="54864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Legacy / on-prem</a:t>
              </a:r>
              <a:endParaRPr lang="en-US" sz="1100" spc="0" kern="0" b="0" i="0" dirty="0">
                <a:solidFill>
                  <a:srgbClr val="070154"/>
                </a:solidFill>
                <a:latin typeface="IBM Plex Sans"/>
                <a:ea typeface="IBM Plex Sans"/>
                <a:cs typeface="IBM Plex Sans"/>
              </a:endParaRPr>
            </a:p>
          </p:txBody>
        </p:sp>
      </p:grpSp>
      <p:grpSp>
        <p:nvGrpSpPr>
          <p:cNvPr id="171" name="node46"/>
          <p:cNvGrpSpPr/>
          <p:nvPr/>
        </p:nvGrpSpPr>
        <p:grpSpPr>
          <a:xfrm>
            <a:off x="2781300" y="5486400"/>
            <a:ext cx="457200" cy="228600"/>
            <a:chOff x="2781300" y="5486400"/>
            <a:chExt cx="457200" cy="228600"/>
          </a:xfrm>
        </p:grpSpPr>
        <p:sp>
          <p:nvSpPr>
            <p:cNvPr id="115" name="node46.surface"/>
            <p:cNvSpPr/>
            <p:nvPr/>
          </p:nvSpPr>
          <p:spPr>
            <a:xfrm>
              <a:off x="2787650" y="5492750"/>
              <a:ext cx="444500" cy="215900"/>
            </a:xfrm>
            <a:prstGeom prst="rect">
              <a:avLst/>
            </a:prstGeom>
            <a:solidFill>
              <a:srgbClr val="FFFFFF"/>
            </a:solidFill>
            <a:ln w="12700">
              <a:solidFill>
                <a:srgbClr val="CED7E6"/>
              </a:solidFill>
              <a:prstDash val="solid"/>
            </a:ln>
          </p:spPr>
        </p:sp>
      </p:grpSp>
      <p:sp>
        <p:nvSpPr>
          <p:cNvPr id="116" name="node47"/>
          <p:cNvSpPr/>
          <p:nvPr/>
        </p:nvSpPr>
        <p:spPr>
          <a:xfrm>
            <a:off x="2781300" y="5486400"/>
            <a:ext cx="457200" cy="38100"/>
          </a:xfrm>
          <a:prstGeom prst="rect">
            <a:avLst/>
          </a:prstGeom>
          <a:solidFill>
            <a:srgbClr val="0047FF"/>
          </a:solidFill>
          <a:ln>
            <a:noFill/>
          </a:ln>
        </p:spPr>
      </p:sp>
      <p:grpSp>
        <p:nvGrpSpPr>
          <p:cNvPr id="172" name="node48"/>
          <p:cNvGrpSpPr/>
          <p:nvPr/>
        </p:nvGrpSpPr>
        <p:grpSpPr>
          <a:xfrm>
            <a:off x="3352800" y="5486400"/>
            <a:ext cx="889000" cy="190500"/>
            <a:chOff x="3352800" y="5486400"/>
            <a:chExt cx="889000" cy="190500"/>
          </a:xfrm>
        </p:grpSpPr>
        <p:sp>
          <p:nvSpPr>
            <p:cNvPr id="117" name="node48.text"/>
            <p:cNvSpPr/>
            <p:nvPr/>
          </p:nvSpPr>
          <p:spPr>
            <a:xfrm>
              <a:off x="3352800" y="5486400"/>
              <a:ext cx="88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Coexisting</a:t>
              </a:r>
              <a:endParaRPr lang="en-US" sz="1100" spc="0" kern="0" b="0" i="0" dirty="0">
                <a:solidFill>
                  <a:srgbClr val="070154"/>
                </a:solidFill>
                <a:latin typeface="IBM Plex Sans"/>
                <a:ea typeface="IBM Plex Sans"/>
                <a:cs typeface="IBM Plex Sans"/>
              </a:endParaRPr>
            </a:p>
          </p:txBody>
        </p:sp>
      </p:grpSp>
      <p:grpSp>
        <p:nvGrpSpPr>
          <p:cNvPr id="173" name="node49"/>
          <p:cNvGrpSpPr/>
          <p:nvPr/>
        </p:nvGrpSpPr>
        <p:grpSpPr>
          <a:xfrm>
            <a:off x="4381500" y="5486400"/>
            <a:ext cx="457200" cy="228600"/>
            <a:chOff x="4381500" y="5486400"/>
            <a:chExt cx="457200" cy="228600"/>
          </a:xfrm>
        </p:grpSpPr>
        <p:sp>
          <p:nvSpPr>
            <p:cNvPr id="118" name="node49.surface"/>
            <p:cNvSpPr/>
            <p:nvPr/>
          </p:nvSpPr>
          <p:spPr>
            <a:xfrm>
              <a:off x="4381500" y="5486400"/>
              <a:ext cx="457200" cy="228600"/>
            </a:xfrm>
            <a:prstGeom prst="rect">
              <a:avLst/>
            </a:prstGeom>
            <a:solidFill>
              <a:srgbClr val="070154"/>
            </a:solidFill>
            <a:ln>
              <a:noFill/>
            </a:ln>
          </p:spPr>
        </p:sp>
      </p:grpSp>
      <p:grpSp>
        <p:nvGrpSpPr>
          <p:cNvPr id="174" name="node50"/>
          <p:cNvGrpSpPr/>
          <p:nvPr/>
        </p:nvGrpSpPr>
        <p:grpSpPr>
          <a:xfrm>
            <a:off x="4953000" y="5486400"/>
            <a:ext cx="723900" cy="190500"/>
            <a:chOff x="4953000" y="5486400"/>
            <a:chExt cx="723900" cy="190500"/>
          </a:xfrm>
        </p:grpSpPr>
        <p:sp>
          <p:nvSpPr>
            <p:cNvPr id="119" name="node50.text"/>
            <p:cNvSpPr/>
            <p:nvPr/>
          </p:nvSpPr>
          <p:spPr>
            <a:xfrm>
              <a:off x="4953000" y="5486400"/>
              <a:ext cx="7239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Migrated</a:t>
              </a:r>
              <a:endParaRPr lang="en-US" sz="1100" spc="0" kern="0" b="0" i="0" dirty="0">
                <a:solidFill>
                  <a:srgbClr val="070154"/>
                </a:solidFill>
                <a:latin typeface="IBM Plex Sans"/>
                <a:ea typeface="IBM Plex Sans"/>
                <a:cs typeface="IBM Plex Sans"/>
              </a:endParaRPr>
            </a:p>
          </p:txBody>
        </p:sp>
      </p:grpSp>
      <p:grpSp>
        <p:nvGrpSpPr>
          <p:cNvPr id="175" name="node51"/>
          <p:cNvGrpSpPr/>
          <p:nvPr/>
        </p:nvGrpSpPr>
        <p:grpSpPr>
          <a:xfrm>
            <a:off x="5753100" y="5486400"/>
            <a:ext cx="457200" cy="228600"/>
            <a:chOff x="5753100" y="5486400"/>
            <a:chExt cx="457200" cy="228600"/>
          </a:xfrm>
        </p:grpSpPr>
        <p:sp>
          <p:nvSpPr>
            <p:cNvPr id="120" name="node51.surface"/>
            <p:cNvSpPr/>
            <p:nvPr/>
          </p:nvSpPr>
          <p:spPr>
            <a:xfrm>
              <a:off x="5753100" y="5486400"/>
              <a:ext cx="457200" cy="228600"/>
            </a:xfrm>
            <a:prstGeom prst="rect">
              <a:avLst/>
            </a:prstGeom>
            <a:solidFill>
              <a:srgbClr val="FFFFFF"/>
            </a:solidFill>
            <a:ln w="12700">
              <a:solidFill>
                <a:srgbClr val="50658E"/>
              </a:solidFill>
              <a:prstDash val="dash"/>
            </a:ln>
          </p:spPr>
        </p:sp>
      </p:grpSp>
      <p:grpSp>
        <p:nvGrpSpPr>
          <p:cNvPr id="176" name="node52"/>
          <p:cNvGrpSpPr/>
          <p:nvPr/>
        </p:nvGrpSpPr>
        <p:grpSpPr>
          <a:xfrm>
            <a:off x="6324600" y="5486400"/>
            <a:ext cx="1447800" cy="190500"/>
            <a:chOff x="6324600" y="5486400"/>
            <a:chExt cx="1447800" cy="190500"/>
          </a:xfrm>
        </p:grpSpPr>
        <p:sp>
          <p:nvSpPr>
            <p:cNvPr id="121" name="node52.text"/>
            <p:cNvSpPr/>
            <p:nvPr/>
          </p:nvSpPr>
          <p:spPr>
            <a:xfrm>
              <a:off x="6324600" y="548640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Retired / planned</a:t>
              </a:r>
              <a:endParaRPr lang="en-US" sz="1100" spc="0" kern="0" b="0" i="0" dirty="0">
                <a:solidFill>
                  <a:srgbClr val="070154"/>
                </a:solidFill>
                <a:latin typeface="IBM Plex Sans"/>
                <a:ea typeface="IBM Plex Sans"/>
                <a:cs typeface="IBM Plex Sans"/>
              </a:endParaRPr>
            </a:p>
          </p:txBody>
        </p:sp>
      </p:grpSp>
      <p:grpSp>
        <p:nvGrpSpPr>
          <p:cNvPr id="177" name="node53"/>
          <p:cNvGrpSpPr/>
          <p:nvPr/>
        </p:nvGrpSpPr>
        <p:grpSpPr>
          <a:xfrm>
            <a:off x="7810500" y="5486400"/>
            <a:ext cx="457200" cy="228600"/>
            <a:chOff x="7810500" y="5486400"/>
            <a:chExt cx="457200" cy="228600"/>
          </a:xfrm>
        </p:grpSpPr>
        <p:sp>
          <p:nvSpPr>
            <p:cNvPr id="122" name="node53.surface"/>
            <p:cNvSpPr/>
            <p:nvPr/>
          </p:nvSpPr>
          <p:spPr>
            <a:xfrm>
              <a:off x="7810500" y="5486400"/>
              <a:ext cx="457200" cy="228600"/>
            </a:xfrm>
            <a:prstGeom prst="rect">
              <a:avLst/>
            </a:prstGeom>
            <a:solidFill>
              <a:srgbClr val="CED7E6"/>
            </a:solidFill>
            <a:ln>
              <a:noFill/>
            </a:ln>
          </p:spPr>
        </p:sp>
        <p:sp>
          <p:nvSpPr>
            <p:cNvPr id="123" name="node53.text"/>
            <p:cNvSpPr/>
            <p:nvPr/>
          </p:nvSpPr>
          <p:spPr>
            <a:xfrm>
              <a:off x="7886700" y="5505450"/>
              <a:ext cx="30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W1</a:t>
              </a:r>
              <a:endParaRPr lang="en-US" sz="1100" spc="0" kern="0" b="0" i="0" dirty="0">
                <a:solidFill>
                  <a:srgbClr val="070154"/>
                </a:solidFill>
                <a:latin typeface="IBM Plex Sans"/>
                <a:ea typeface="IBM Plex Sans"/>
                <a:cs typeface="IBM Plex Sans"/>
              </a:endParaRPr>
            </a:p>
          </p:txBody>
        </p:sp>
      </p:grpSp>
      <p:grpSp>
        <p:nvGrpSpPr>
          <p:cNvPr id="178" name="node54"/>
          <p:cNvGrpSpPr/>
          <p:nvPr/>
        </p:nvGrpSpPr>
        <p:grpSpPr>
          <a:xfrm>
            <a:off x="8382000" y="5486400"/>
            <a:ext cx="393700" cy="190500"/>
            <a:chOff x="8382000" y="5486400"/>
            <a:chExt cx="393700" cy="190500"/>
          </a:xfrm>
        </p:grpSpPr>
        <p:sp>
          <p:nvSpPr>
            <p:cNvPr id="124" name="node54.text"/>
            <p:cNvSpPr/>
            <p:nvPr/>
          </p:nvSpPr>
          <p:spPr>
            <a:xfrm>
              <a:off x="8382000" y="5486400"/>
              <a:ext cx="3937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Wave</a:t>
              </a:r>
              <a:endParaRPr lang="en-US" sz="1100" spc="0" kern="0" b="0" i="0" dirty="0">
                <a:solidFill>
                  <a:srgbClr val="070154"/>
                </a:solidFill>
                <a:latin typeface="IBM Plex Sans"/>
                <a:ea typeface="IBM Plex Sans"/>
                <a:cs typeface="IBM Plex Sans"/>
              </a:endParaRPr>
            </a:p>
          </p:txBody>
        </p:sp>
      </p:grpSp>
      <p:grpSp>
        <p:nvGrpSpPr>
          <p:cNvPr id="179" name="node55"/>
          <p:cNvGrpSpPr/>
          <p:nvPr/>
        </p:nvGrpSpPr>
        <p:grpSpPr>
          <a:xfrm>
            <a:off x="8953500" y="5558079"/>
            <a:ext cx="457200" cy="85242"/>
            <a:chOff x="8953500" y="5558079"/>
            <a:chExt cx="457200" cy="85242"/>
          </a:xfrm>
        </p:grpSpPr>
        <p:sp>
          <p:nvSpPr>
            <p:cNvPr id="125" name="node55.segment-1"/>
            <p:cNvSpPr/>
            <p:nvPr/>
          </p:nvSpPr>
          <p:spPr>
            <a:xfrm>
              <a:off x="8953500" y="5600700"/>
              <a:ext cx="457200" cy="0"/>
            </a:xfrm>
            <a:custGeom>
              <a:avLst/>
              <a:gdLst/>
              <a:ahLst/>
              <a:cxnLst/>
              <a:rect l="l" t="t" r="r" b="b"/>
              <a:pathLst>
                <a:path w="457200">
                  <a:moveTo>
                    <a:pt x="0" y="0"/>
                  </a:moveTo>
                  <a:lnTo>
                    <a:pt x="457200" y="0"/>
                  </a:lnTo>
                </a:path>
              </a:pathLst>
            </a:custGeom>
            <a:ln w="12700">
              <a:solidFill>
                <a:srgbClr val="070154"/>
              </a:solidFill>
              <a:prstDash val="dash"/>
            </a:ln>
          </p:spPr>
        </p:sp>
        <p:sp>
          <p:nvSpPr>
            <p:cNvPr id="126" name="node55.head-end.0"/>
            <p:cNvSpPr/>
            <p:nvPr/>
          </p:nvSpPr>
          <p:spPr>
            <a:xfrm>
              <a:off x="9332683" y="56007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127" name="node55.head-end.1"/>
            <p:cNvSpPr/>
            <p:nvPr/>
          </p:nvSpPr>
          <p:spPr>
            <a:xfrm>
              <a:off x="9332683" y="55580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80" name="node56"/>
          <p:cNvGrpSpPr/>
          <p:nvPr/>
        </p:nvGrpSpPr>
        <p:grpSpPr>
          <a:xfrm>
            <a:off x="9525000" y="5486400"/>
            <a:ext cx="1206500" cy="190500"/>
            <a:chOff x="9525000" y="5486400"/>
            <a:chExt cx="1206500" cy="190500"/>
          </a:xfrm>
        </p:grpSpPr>
        <p:sp>
          <p:nvSpPr>
            <p:cNvPr id="128" name="node56.text"/>
            <p:cNvSpPr/>
            <p:nvPr/>
          </p:nvSpPr>
          <p:spPr>
            <a:xfrm>
              <a:off x="9525000" y="5486400"/>
              <a:ext cx="12065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Sync / routing</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ource-39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PROCESS HIERARCHY</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Wave one covers two of five end-to-end finance processes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process inventory,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94</a:t>
            </a:fld>
            <a:endParaRPr lang="en-US" sz="700" spc="0" kern="0" b="0" i="0" dirty="0">
              <a:solidFill>
                <a:srgbClr val="070154"/>
              </a:solidFill>
              <a:latin typeface="IBM Plex Mono SemiBold"/>
              <a:ea typeface="IBM Plex Mono SemiBold"/>
              <a:cs typeface="IBM Plex Mono SemiBold"/>
            </a:endParaRPr>
          </a:p>
        </p:txBody>
      </p:sp>
      <p:grpSp>
        <p:nvGrpSpPr>
          <p:cNvPr id="88" name="node01"/>
          <p:cNvGrpSpPr/>
          <p:nvPr/>
        </p:nvGrpSpPr>
        <p:grpSpPr>
          <a:xfrm>
            <a:off x="723900" y="1600200"/>
            <a:ext cx="2194560" cy="685800"/>
            <a:chOff x="723900" y="1600200"/>
            <a:chExt cx="2194560" cy="685800"/>
          </a:xfrm>
        </p:grpSpPr>
        <p:sp>
          <p:nvSpPr>
            <p:cNvPr id="7" name="node01.surface"/>
            <p:cNvSpPr/>
            <p:nvPr/>
          </p:nvSpPr>
          <p:spPr>
            <a:xfrm>
              <a:off x="723900" y="1600200"/>
              <a:ext cx="2194560" cy="685800"/>
            </a:xfrm>
            <a:custGeom>
              <a:avLst/>
              <a:gdLst/>
              <a:ahLst/>
              <a:cxnLst/>
              <a:rect l="l" t="t" r="r" b="b"/>
              <a:pathLst>
                <a:path w="2194560" h="685800">
                  <a:moveTo>
                    <a:pt x="0" y="0"/>
                  </a:moveTo>
                  <a:lnTo>
                    <a:pt x="1965960" y="0"/>
                  </a:lnTo>
                  <a:lnTo>
                    <a:pt x="2194560" y="342900"/>
                  </a:lnTo>
                  <a:lnTo>
                    <a:pt x="1965960" y="685800"/>
                  </a:lnTo>
                  <a:lnTo>
                    <a:pt x="0" y="685800"/>
                  </a:lnTo>
                  <a:close/>
                </a:path>
              </a:pathLst>
            </a:custGeom>
            <a:solidFill>
              <a:srgbClr val="CED7E6"/>
            </a:solidFill>
            <a:ln>
              <a:noFill/>
            </a:ln>
          </p:spPr>
        </p:sp>
        <p:sp>
          <p:nvSpPr>
            <p:cNvPr id="8" name="node01.text"/>
            <p:cNvSpPr/>
            <p:nvPr/>
          </p:nvSpPr>
          <p:spPr>
            <a:xfrm>
              <a:off x="876300" y="1835150"/>
              <a:ext cx="173736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a:ea typeface="IBM Plex Sans"/>
                  <a:cs typeface="IBM Plex Sans"/>
                </a:rPr>
                <a:t>Plan to perform</a:t>
              </a:r>
              <a:endParaRPr lang="en-US" sz="1200" spc="0" kern="0" b="0" i="0" dirty="0">
                <a:solidFill>
                  <a:srgbClr val="070154"/>
                </a:solidFill>
                <a:latin typeface="IBM Plex Sans"/>
                <a:ea typeface="IBM Plex Sans"/>
                <a:cs typeface="IBM Plex Sans"/>
              </a:endParaRPr>
            </a:p>
          </p:txBody>
        </p:sp>
      </p:grpSp>
      <p:grpSp>
        <p:nvGrpSpPr>
          <p:cNvPr id="89" name="node02"/>
          <p:cNvGrpSpPr/>
          <p:nvPr/>
        </p:nvGrpSpPr>
        <p:grpSpPr>
          <a:xfrm>
            <a:off x="723900" y="2514600"/>
            <a:ext cx="1965960" cy="2743200"/>
            <a:chOff x="723900" y="2514600"/>
            <a:chExt cx="1965960" cy="2743200"/>
          </a:xfrm>
        </p:grpSpPr>
        <p:sp>
          <p:nvSpPr>
            <p:cNvPr id="9" name="node02.container"/>
            <p:cNvSpPr/>
            <p:nvPr/>
          </p:nvSpPr>
          <p:spPr>
            <a:xfrm>
              <a:off x="723900" y="2514600"/>
              <a:ext cx="1965960" cy="2743200"/>
            </a:xfrm>
            <a:prstGeom prst="rect">
              <a:avLst/>
            </a:prstGeom>
            <a:solidFill>
              <a:srgbClr val="E8EEF8"/>
            </a:solidFill>
            <a:ln>
              <a:noFill/>
            </a:ln>
          </p:spPr>
        </p:sp>
      </p:grpSp>
      <p:grpSp>
        <p:nvGrpSpPr>
          <p:cNvPr id="90" name="node03"/>
          <p:cNvGrpSpPr/>
          <p:nvPr/>
        </p:nvGrpSpPr>
        <p:grpSpPr>
          <a:xfrm>
            <a:off x="876300" y="2667000"/>
            <a:ext cx="1661160" cy="139700"/>
            <a:chOff x="876300" y="2667000"/>
            <a:chExt cx="1661160" cy="139700"/>
          </a:xfrm>
        </p:grpSpPr>
        <p:sp>
          <p:nvSpPr>
            <p:cNvPr id="10" name="node03.text"/>
            <p:cNvSpPr/>
            <p:nvPr/>
          </p:nvSpPr>
          <p:spPr>
            <a:xfrm>
              <a:off x="876300" y="26670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PROCESS ELEMENTS</a:t>
              </a:r>
              <a:endParaRPr lang="en-US" sz="800" spc="48" kern="0" b="0" i="0" dirty="0">
                <a:solidFill>
                  <a:srgbClr val="50658E"/>
                </a:solidFill>
                <a:latin typeface="IBM Plex Mono Medium"/>
                <a:ea typeface="IBM Plex Mono Medium"/>
                <a:cs typeface="IBM Plex Mono Medium"/>
              </a:endParaRPr>
            </a:p>
          </p:txBody>
        </p:sp>
      </p:grpSp>
      <p:grpSp>
        <p:nvGrpSpPr>
          <p:cNvPr id="91" name="node04"/>
          <p:cNvGrpSpPr/>
          <p:nvPr/>
        </p:nvGrpSpPr>
        <p:grpSpPr>
          <a:xfrm>
            <a:off x="876300" y="2895600"/>
            <a:ext cx="1661160" cy="977900"/>
            <a:chOff x="876300" y="2895600"/>
            <a:chExt cx="1661160" cy="977900"/>
          </a:xfrm>
        </p:grpSpPr>
        <p:sp>
          <p:nvSpPr>
            <p:cNvPr id="11" name="node04.source-001.bullet"/>
            <p:cNvSpPr/>
            <p:nvPr/>
          </p:nvSpPr>
          <p:spPr>
            <a:xfrm>
              <a:off x="876300" y="2984500"/>
              <a:ext cx="38100" cy="38100"/>
            </a:xfrm>
            <a:prstGeom prst="rect">
              <a:avLst/>
            </a:prstGeom>
            <a:solidFill>
              <a:srgbClr val="070154"/>
            </a:solidFill>
            <a:ln>
              <a:noFill/>
            </a:ln>
          </p:spPr>
        </p:sp>
        <p:sp>
          <p:nvSpPr>
            <p:cNvPr id="12" name="node04.source-001.text"/>
            <p:cNvSpPr/>
            <p:nvPr/>
          </p:nvSpPr>
          <p:spPr>
            <a:xfrm>
              <a:off x="1028700" y="2895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Budgeting</a:t>
              </a:r>
              <a:endParaRPr lang="en-US" sz="1200" spc="0" kern="0" b="0" i="0" dirty="0">
                <a:solidFill>
                  <a:srgbClr val="070154"/>
                </a:solidFill>
                <a:latin typeface="IBM Plex Sans"/>
                <a:ea typeface="IBM Plex Sans"/>
                <a:cs typeface="IBM Plex Sans"/>
              </a:endParaRPr>
            </a:p>
          </p:txBody>
        </p:sp>
        <p:sp>
          <p:nvSpPr>
            <p:cNvPr id="13" name="node04.source-002.bullet"/>
            <p:cNvSpPr/>
            <p:nvPr/>
          </p:nvSpPr>
          <p:spPr>
            <a:xfrm>
              <a:off x="876300" y="3238500"/>
              <a:ext cx="38100" cy="38100"/>
            </a:xfrm>
            <a:prstGeom prst="rect">
              <a:avLst/>
            </a:prstGeom>
            <a:solidFill>
              <a:srgbClr val="070154"/>
            </a:solidFill>
            <a:ln>
              <a:noFill/>
            </a:ln>
          </p:spPr>
        </p:sp>
        <p:sp>
          <p:nvSpPr>
            <p:cNvPr id="14" name="node04.source-002.text"/>
            <p:cNvSpPr/>
            <p:nvPr/>
          </p:nvSpPr>
          <p:spPr>
            <a:xfrm>
              <a:off x="1028700" y="3149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Forecasting</a:t>
              </a:r>
              <a:endParaRPr lang="en-US" sz="1200" spc="0" kern="0" b="0" i="0" dirty="0">
                <a:solidFill>
                  <a:srgbClr val="070154"/>
                </a:solidFill>
                <a:latin typeface="IBM Plex Sans"/>
                <a:ea typeface="IBM Plex Sans"/>
                <a:cs typeface="IBM Plex Sans"/>
              </a:endParaRPr>
            </a:p>
          </p:txBody>
        </p:sp>
        <p:sp>
          <p:nvSpPr>
            <p:cNvPr id="15" name="node04.source-003.bullet"/>
            <p:cNvSpPr/>
            <p:nvPr/>
          </p:nvSpPr>
          <p:spPr>
            <a:xfrm>
              <a:off x="876300" y="3492500"/>
              <a:ext cx="38100" cy="38100"/>
            </a:xfrm>
            <a:prstGeom prst="rect">
              <a:avLst/>
            </a:prstGeom>
            <a:solidFill>
              <a:srgbClr val="070154"/>
            </a:solidFill>
            <a:ln>
              <a:noFill/>
            </a:ln>
          </p:spPr>
        </p:sp>
        <p:sp>
          <p:nvSpPr>
            <p:cNvPr id="16" name="node04.source-003.text"/>
            <p:cNvSpPr/>
            <p:nvPr/>
          </p:nvSpPr>
          <p:spPr>
            <a:xfrm>
              <a:off x="1028700" y="3403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Capital planning</a:t>
              </a:r>
              <a:endParaRPr lang="en-US" sz="1200" spc="0" kern="0" b="0" i="0" dirty="0">
                <a:solidFill>
                  <a:srgbClr val="070154"/>
                </a:solidFill>
                <a:latin typeface="IBM Plex Sans"/>
                <a:ea typeface="IBM Plex Sans"/>
                <a:cs typeface="IBM Plex Sans"/>
              </a:endParaRPr>
            </a:p>
          </p:txBody>
        </p:sp>
        <p:sp>
          <p:nvSpPr>
            <p:cNvPr id="17" name="node04.source-004.bullet"/>
            <p:cNvSpPr/>
            <p:nvPr/>
          </p:nvSpPr>
          <p:spPr>
            <a:xfrm>
              <a:off x="876300" y="3746500"/>
              <a:ext cx="38100" cy="38100"/>
            </a:xfrm>
            <a:prstGeom prst="rect">
              <a:avLst/>
            </a:prstGeom>
            <a:solidFill>
              <a:srgbClr val="070154"/>
            </a:solidFill>
            <a:ln>
              <a:noFill/>
            </a:ln>
          </p:spPr>
        </p:sp>
        <p:sp>
          <p:nvSpPr>
            <p:cNvPr id="18" name="node04.source-004.text"/>
            <p:cNvSpPr/>
            <p:nvPr/>
          </p:nvSpPr>
          <p:spPr>
            <a:xfrm>
              <a:off x="1028700" y="3657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Workforce planning</a:t>
              </a:r>
              <a:endParaRPr lang="en-US" sz="1200" spc="0" kern="0" b="0" i="0" dirty="0">
                <a:solidFill>
                  <a:srgbClr val="070154"/>
                </a:solidFill>
                <a:latin typeface="IBM Plex Sans"/>
                <a:ea typeface="IBM Plex Sans"/>
                <a:cs typeface="IBM Plex Sans"/>
              </a:endParaRPr>
            </a:p>
          </p:txBody>
        </p:sp>
      </p:grpSp>
      <p:grpSp>
        <p:nvGrpSpPr>
          <p:cNvPr id="92" name="node05"/>
          <p:cNvGrpSpPr/>
          <p:nvPr/>
        </p:nvGrpSpPr>
        <p:grpSpPr>
          <a:xfrm>
            <a:off x="876300" y="4038600"/>
            <a:ext cx="1661160" cy="139700"/>
            <a:chOff x="876300" y="4038600"/>
            <a:chExt cx="1661160" cy="139700"/>
          </a:xfrm>
        </p:grpSpPr>
        <p:sp>
          <p:nvSpPr>
            <p:cNvPr id="19" name="node05.text"/>
            <p:cNvSpPr/>
            <p:nvPr/>
          </p:nvSpPr>
          <p:spPr>
            <a:xfrm>
              <a:off x="876300" y="40386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OWNER</a:t>
              </a:r>
              <a:endParaRPr lang="en-US" sz="800" spc="48" kern="0" b="0" i="0" dirty="0">
                <a:solidFill>
                  <a:srgbClr val="50658E"/>
                </a:solidFill>
                <a:latin typeface="IBM Plex Mono Medium"/>
                <a:ea typeface="IBM Plex Mono Medium"/>
                <a:cs typeface="IBM Plex Mono Medium"/>
              </a:endParaRPr>
            </a:p>
          </p:txBody>
        </p:sp>
      </p:grpSp>
      <p:grpSp>
        <p:nvGrpSpPr>
          <p:cNvPr id="93" name="node06"/>
          <p:cNvGrpSpPr/>
          <p:nvPr/>
        </p:nvGrpSpPr>
        <p:grpSpPr>
          <a:xfrm>
            <a:off x="876300" y="4267200"/>
            <a:ext cx="1661160" cy="190500"/>
            <a:chOff x="876300" y="4267200"/>
            <a:chExt cx="1661160" cy="190500"/>
          </a:xfrm>
        </p:grpSpPr>
        <p:sp>
          <p:nvSpPr>
            <p:cNvPr id="20" name="node06.text"/>
            <p:cNvSpPr/>
            <p:nvPr/>
          </p:nvSpPr>
          <p:spPr>
            <a:xfrm>
              <a:off x="876300" y="42672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VP, FP&amp;A</a:t>
              </a:r>
              <a:endParaRPr lang="en-US" sz="1100" spc="0" kern="0" b="0" i="0" dirty="0">
                <a:solidFill>
                  <a:srgbClr val="070154"/>
                </a:solidFill>
                <a:latin typeface="IBM Plex Sans"/>
                <a:ea typeface="IBM Plex Sans"/>
                <a:cs typeface="IBM Plex Sans"/>
              </a:endParaRPr>
            </a:p>
          </p:txBody>
        </p:sp>
      </p:grpSp>
      <p:grpSp>
        <p:nvGrpSpPr>
          <p:cNvPr id="94" name="node07"/>
          <p:cNvGrpSpPr/>
          <p:nvPr/>
        </p:nvGrpSpPr>
        <p:grpSpPr>
          <a:xfrm>
            <a:off x="876300" y="4648200"/>
            <a:ext cx="1661160" cy="139700"/>
            <a:chOff x="876300" y="4648200"/>
            <a:chExt cx="1661160" cy="139700"/>
          </a:xfrm>
        </p:grpSpPr>
        <p:sp>
          <p:nvSpPr>
            <p:cNvPr id="21" name="node07.text"/>
            <p:cNvSpPr/>
            <p:nvPr/>
          </p:nvSpPr>
          <p:spPr>
            <a:xfrm>
              <a:off x="876300" y="46482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SYSTEMS</a:t>
              </a:r>
              <a:endParaRPr lang="en-US" sz="800" spc="48" kern="0" b="0" i="0" dirty="0">
                <a:solidFill>
                  <a:srgbClr val="50658E"/>
                </a:solidFill>
                <a:latin typeface="IBM Plex Mono Medium"/>
                <a:ea typeface="IBM Plex Mono Medium"/>
                <a:cs typeface="IBM Plex Mono Medium"/>
              </a:endParaRPr>
            </a:p>
          </p:txBody>
        </p:sp>
      </p:grpSp>
      <p:grpSp>
        <p:nvGrpSpPr>
          <p:cNvPr id="95" name="node08"/>
          <p:cNvGrpSpPr/>
          <p:nvPr/>
        </p:nvGrpSpPr>
        <p:grpSpPr>
          <a:xfrm>
            <a:off x="876300" y="4876800"/>
            <a:ext cx="1661160" cy="190500"/>
            <a:chOff x="876300" y="4876800"/>
            <a:chExt cx="1661160" cy="190500"/>
          </a:xfrm>
        </p:grpSpPr>
        <p:sp>
          <p:nvSpPr>
            <p:cNvPr id="22" name="node08.text"/>
            <p:cNvSpPr/>
            <p:nvPr/>
          </p:nvSpPr>
          <p:spPr>
            <a:xfrm>
              <a:off x="876300" y="48768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Planning platform</a:t>
              </a:r>
              <a:endParaRPr lang="en-US" sz="1100" spc="0" kern="0" b="0" i="0" dirty="0">
                <a:solidFill>
                  <a:srgbClr val="070154"/>
                </a:solidFill>
                <a:latin typeface="IBM Plex Sans"/>
                <a:ea typeface="IBM Plex Sans"/>
                <a:cs typeface="IBM Plex Sans"/>
              </a:endParaRPr>
            </a:p>
          </p:txBody>
        </p:sp>
      </p:grpSp>
      <p:grpSp>
        <p:nvGrpSpPr>
          <p:cNvPr id="96" name="node09"/>
          <p:cNvGrpSpPr/>
          <p:nvPr/>
        </p:nvGrpSpPr>
        <p:grpSpPr>
          <a:xfrm>
            <a:off x="2918460" y="1600200"/>
            <a:ext cx="2194560" cy="685800"/>
            <a:chOff x="2918460" y="1600200"/>
            <a:chExt cx="2194560" cy="685800"/>
          </a:xfrm>
        </p:grpSpPr>
        <p:sp>
          <p:nvSpPr>
            <p:cNvPr id="23" name="node09.surface"/>
            <p:cNvSpPr/>
            <p:nvPr/>
          </p:nvSpPr>
          <p:spPr>
            <a:xfrm>
              <a:off x="2918460" y="1600200"/>
              <a:ext cx="2194560" cy="685800"/>
            </a:xfrm>
            <a:custGeom>
              <a:avLst/>
              <a:gdLst/>
              <a:ahLst/>
              <a:cxnLst/>
              <a:rect l="l" t="t" r="r" b="b"/>
              <a:pathLst>
                <a:path w="2194560" h="685800">
                  <a:moveTo>
                    <a:pt x="0" y="0"/>
                  </a:moveTo>
                  <a:lnTo>
                    <a:pt x="1965960" y="0"/>
                  </a:lnTo>
                  <a:lnTo>
                    <a:pt x="2194560" y="342900"/>
                  </a:lnTo>
                  <a:lnTo>
                    <a:pt x="1965960" y="685800"/>
                  </a:lnTo>
                  <a:lnTo>
                    <a:pt x="0" y="685800"/>
                  </a:lnTo>
                  <a:lnTo>
                    <a:pt x="228600" y="342900"/>
                  </a:lnTo>
                  <a:close/>
                </a:path>
              </a:pathLst>
            </a:custGeom>
            <a:solidFill>
              <a:srgbClr val="CED7E6"/>
            </a:solidFill>
            <a:ln>
              <a:noFill/>
            </a:ln>
          </p:spPr>
        </p:sp>
        <p:sp>
          <p:nvSpPr>
            <p:cNvPr id="24" name="node09.text"/>
            <p:cNvSpPr/>
            <p:nvPr/>
          </p:nvSpPr>
          <p:spPr>
            <a:xfrm>
              <a:off x="3299460" y="1835150"/>
              <a:ext cx="150876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a:ea typeface="IBM Plex Sans"/>
                  <a:cs typeface="IBM Plex Sans"/>
                </a:rPr>
                <a:t>Order to cash</a:t>
              </a:r>
              <a:endParaRPr lang="en-US" sz="1200" spc="0" kern="0" b="0" i="0" dirty="0">
                <a:solidFill>
                  <a:srgbClr val="070154"/>
                </a:solidFill>
                <a:latin typeface="IBM Plex Sans"/>
                <a:ea typeface="IBM Plex Sans"/>
                <a:cs typeface="IBM Plex Sans"/>
              </a:endParaRPr>
            </a:p>
          </p:txBody>
        </p:sp>
      </p:grpSp>
      <p:grpSp>
        <p:nvGrpSpPr>
          <p:cNvPr id="97" name="node10"/>
          <p:cNvGrpSpPr/>
          <p:nvPr/>
        </p:nvGrpSpPr>
        <p:grpSpPr>
          <a:xfrm>
            <a:off x="2918460" y="2514600"/>
            <a:ext cx="1965960" cy="2743200"/>
            <a:chOff x="2918460" y="2514600"/>
            <a:chExt cx="1965960" cy="2743200"/>
          </a:xfrm>
        </p:grpSpPr>
        <p:sp>
          <p:nvSpPr>
            <p:cNvPr id="25" name="node10.container"/>
            <p:cNvSpPr/>
            <p:nvPr/>
          </p:nvSpPr>
          <p:spPr>
            <a:xfrm>
              <a:off x="2918460" y="2514600"/>
              <a:ext cx="1965960" cy="2743200"/>
            </a:xfrm>
            <a:prstGeom prst="rect">
              <a:avLst/>
            </a:prstGeom>
            <a:solidFill>
              <a:srgbClr val="E8EEF8"/>
            </a:solidFill>
            <a:ln>
              <a:noFill/>
            </a:ln>
          </p:spPr>
        </p:sp>
      </p:grpSp>
      <p:grpSp>
        <p:nvGrpSpPr>
          <p:cNvPr id="98" name="node11"/>
          <p:cNvGrpSpPr/>
          <p:nvPr/>
        </p:nvGrpSpPr>
        <p:grpSpPr>
          <a:xfrm>
            <a:off x="3070860" y="2667000"/>
            <a:ext cx="1661160" cy="139700"/>
            <a:chOff x="3070860" y="2667000"/>
            <a:chExt cx="1661160" cy="139700"/>
          </a:xfrm>
        </p:grpSpPr>
        <p:sp>
          <p:nvSpPr>
            <p:cNvPr id="26" name="node11.text"/>
            <p:cNvSpPr/>
            <p:nvPr/>
          </p:nvSpPr>
          <p:spPr>
            <a:xfrm>
              <a:off x="3070860" y="26670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PROCESS ELEMENTS</a:t>
              </a:r>
              <a:endParaRPr lang="en-US" sz="800" spc="48" kern="0" b="0" i="0" dirty="0">
                <a:solidFill>
                  <a:srgbClr val="50658E"/>
                </a:solidFill>
                <a:latin typeface="IBM Plex Mono Medium"/>
                <a:ea typeface="IBM Plex Mono Medium"/>
                <a:cs typeface="IBM Plex Mono Medium"/>
              </a:endParaRPr>
            </a:p>
          </p:txBody>
        </p:sp>
      </p:grpSp>
      <p:grpSp>
        <p:nvGrpSpPr>
          <p:cNvPr id="99" name="node12"/>
          <p:cNvGrpSpPr/>
          <p:nvPr/>
        </p:nvGrpSpPr>
        <p:grpSpPr>
          <a:xfrm>
            <a:off x="3070860" y="2895600"/>
            <a:ext cx="1661160" cy="977900"/>
            <a:chOff x="3070860" y="2895600"/>
            <a:chExt cx="1661160" cy="977900"/>
          </a:xfrm>
        </p:grpSpPr>
        <p:sp>
          <p:nvSpPr>
            <p:cNvPr id="27" name="node12.source-001.bullet"/>
            <p:cNvSpPr/>
            <p:nvPr/>
          </p:nvSpPr>
          <p:spPr>
            <a:xfrm>
              <a:off x="3070860" y="2984500"/>
              <a:ext cx="38100" cy="38100"/>
            </a:xfrm>
            <a:prstGeom prst="rect">
              <a:avLst/>
            </a:prstGeom>
            <a:solidFill>
              <a:srgbClr val="070154"/>
            </a:solidFill>
            <a:ln>
              <a:noFill/>
            </a:ln>
          </p:spPr>
        </p:sp>
        <p:sp>
          <p:nvSpPr>
            <p:cNvPr id="28" name="node12.source-001.text"/>
            <p:cNvSpPr/>
            <p:nvPr/>
          </p:nvSpPr>
          <p:spPr>
            <a:xfrm>
              <a:off x="3223260" y="2895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Customer onboarding</a:t>
              </a:r>
              <a:endParaRPr lang="en-US" sz="1200" spc="0" kern="0" b="0" i="0" dirty="0">
                <a:solidFill>
                  <a:srgbClr val="070154"/>
                </a:solidFill>
                <a:latin typeface="IBM Plex Sans"/>
                <a:ea typeface="IBM Plex Sans"/>
                <a:cs typeface="IBM Plex Sans"/>
              </a:endParaRPr>
            </a:p>
          </p:txBody>
        </p:sp>
        <p:sp>
          <p:nvSpPr>
            <p:cNvPr id="29" name="node12.source-002.bullet"/>
            <p:cNvSpPr/>
            <p:nvPr/>
          </p:nvSpPr>
          <p:spPr>
            <a:xfrm>
              <a:off x="3070860" y="3238500"/>
              <a:ext cx="38100" cy="38100"/>
            </a:xfrm>
            <a:prstGeom prst="rect">
              <a:avLst/>
            </a:prstGeom>
            <a:solidFill>
              <a:srgbClr val="070154"/>
            </a:solidFill>
            <a:ln>
              <a:noFill/>
            </a:ln>
          </p:spPr>
        </p:sp>
        <p:sp>
          <p:nvSpPr>
            <p:cNvPr id="30" name="node12.source-002.text"/>
            <p:cNvSpPr/>
            <p:nvPr/>
          </p:nvSpPr>
          <p:spPr>
            <a:xfrm>
              <a:off x="3223260" y="3149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Billing</a:t>
              </a:r>
              <a:endParaRPr lang="en-US" sz="1200" spc="0" kern="0" b="0" i="0" dirty="0">
                <a:solidFill>
                  <a:srgbClr val="070154"/>
                </a:solidFill>
                <a:latin typeface="IBM Plex Sans"/>
                <a:ea typeface="IBM Plex Sans"/>
                <a:cs typeface="IBM Plex Sans"/>
              </a:endParaRPr>
            </a:p>
          </p:txBody>
        </p:sp>
        <p:sp>
          <p:nvSpPr>
            <p:cNvPr id="31" name="node12.source-003.bullet"/>
            <p:cNvSpPr/>
            <p:nvPr/>
          </p:nvSpPr>
          <p:spPr>
            <a:xfrm>
              <a:off x="3070860" y="3492500"/>
              <a:ext cx="38100" cy="38100"/>
            </a:xfrm>
            <a:prstGeom prst="rect">
              <a:avLst/>
            </a:prstGeom>
            <a:solidFill>
              <a:srgbClr val="070154"/>
            </a:solidFill>
            <a:ln>
              <a:noFill/>
            </a:ln>
          </p:spPr>
        </p:sp>
        <p:sp>
          <p:nvSpPr>
            <p:cNvPr id="32" name="node12.source-003.text"/>
            <p:cNvSpPr/>
            <p:nvPr/>
          </p:nvSpPr>
          <p:spPr>
            <a:xfrm>
              <a:off x="3223260" y="3403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Cash application</a:t>
              </a:r>
              <a:endParaRPr lang="en-US" sz="1200" spc="0" kern="0" b="0" i="0" dirty="0">
                <a:solidFill>
                  <a:srgbClr val="070154"/>
                </a:solidFill>
                <a:latin typeface="IBM Plex Sans"/>
                <a:ea typeface="IBM Plex Sans"/>
                <a:cs typeface="IBM Plex Sans"/>
              </a:endParaRPr>
            </a:p>
          </p:txBody>
        </p:sp>
        <p:sp>
          <p:nvSpPr>
            <p:cNvPr id="33" name="node12.source-004.bullet"/>
            <p:cNvSpPr/>
            <p:nvPr/>
          </p:nvSpPr>
          <p:spPr>
            <a:xfrm>
              <a:off x="3070860" y="3746500"/>
              <a:ext cx="38100" cy="38100"/>
            </a:xfrm>
            <a:prstGeom prst="rect">
              <a:avLst/>
            </a:prstGeom>
            <a:solidFill>
              <a:srgbClr val="070154"/>
            </a:solidFill>
            <a:ln>
              <a:noFill/>
            </a:ln>
          </p:spPr>
        </p:sp>
        <p:sp>
          <p:nvSpPr>
            <p:cNvPr id="34" name="node12.source-004.text"/>
            <p:cNvSpPr/>
            <p:nvPr/>
          </p:nvSpPr>
          <p:spPr>
            <a:xfrm>
              <a:off x="3223260" y="3657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Collections</a:t>
              </a:r>
              <a:endParaRPr lang="en-US" sz="1200" spc="0" kern="0" b="0" i="0" dirty="0">
                <a:solidFill>
                  <a:srgbClr val="070154"/>
                </a:solidFill>
                <a:latin typeface="IBM Plex Sans"/>
                <a:ea typeface="IBM Plex Sans"/>
                <a:cs typeface="IBM Plex Sans"/>
              </a:endParaRPr>
            </a:p>
          </p:txBody>
        </p:sp>
      </p:grpSp>
      <p:grpSp>
        <p:nvGrpSpPr>
          <p:cNvPr id="100" name="node13"/>
          <p:cNvGrpSpPr/>
          <p:nvPr/>
        </p:nvGrpSpPr>
        <p:grpSpPr>
          <a:xfrm>
            <a:off x="3070860" y="4038600"/>
            <a:ext cx="1661160" cy="139700"/>
            <a:chOff x="3070860" y="4038600"/>
            <a:chExt cx="1661160" cy="139700"/>
          </a:xfrm>
        </p:grpSpPr>
        <p:sp>
          <p:nvSpPr>
            <p:cNvPr id="35" name="node13.text"/>
            <p:cNvSpPr/>
            <p:nvPr/>
          </p:nvSpPr>
          <p:spPr>
            <a:xfrm>
              <a:off x="3070860" y="40386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OWNER</a:t>
              </a:r>
              <a:endParaRPr lang="en-US" sz="800" spc="48" kern="0" b="0" i="0" dirty="0">
                <a:solidFill>
                  <a:srgbClr val="50658E"/>
                </a:solidFill>
                <a:latin typeface="IBM Plex Mono Medium"/>
                <a:ea typeface="IBM Plex Mono Medium"/>
                <a:cs typeface="IBM Plex Mono Medium"/>
              </a:endParaRPr>
            </a:p>
          </p:txBody>
        </p:sp>
      </p:grpSp>
      <p:grpSp>
        <p:nvGrpSpPr>
          <p:cNvPr id="101" name="node14"/>
          <p:cNvGrpSpPr/>
          <p:nvPr/>
        </p:nvGrpSpPr>
        <p:grpSpPr>
          <a:xfrm>
            <a:off x="3070860" y="4267200"/>
            <a:ext cx="1661160" cy="190500"/>
            <a:chOff x="3070860" y="4267200"/>
            <a:chExt cx="1661160" cy="190500"/>
          </a:xfrm>
        </p:grpSpPr>
        <p:sp>
          <p:nvSpPr>
            <p:cNvPr id="36" name="node14.text"/>
            <p:cNvSpPr/>
            <p:nvPr/>
          </p:nvSpPr>
          <p:spPr>
            <a:xfrm>
              <a:off x="3070860" y="42672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Controller</a:t>
              </a:r>
              <a:endParaRPr lang="en-US" sz="1100" spc="0" kern="0" b="0" i="0" dirty="0">
                <a:solidFill>
                  <a:srgbClr val="070154"/>
                </a:solidFill>
                <a:latin typeface="IBM Plex Sans"/>
                <a:ea typeface="IBM Plex Sans"/>
                <a:cs typeface="IBM Plex Sans"/>
              </a:endParaRPr>
            </a:p>
          </p:txBody>
        </p:sp>
      </p:grpSp>
      <p:grpSp>
        <p:nvGrpSpPr>
          <p:cNvPr id="102" name="node15"/>
          <p:cNvGrpSpPr/>
          <p:nvPr/>
        </p:nvGrpSpPr>
        <p:grpSpPr>
          <a:xfrm>
            <a:off x="3070860" y="4648200"/>
            <a:ext cx="1661160" cy="139700"/>
            <a:chOff x="3070860" y="4648200"/>
            <a:chExt cx="1661160" cy="139700"/>
          </a:xfrm>
        </p:grpSpPr>
        <p:sp>
          <p:nvSpPr>
            <p:cNvPr id="37" name="node15.text"/>
            <p:cNvSpPr/>
            <p:nvPr/>
          </p:nvSpPr>
          <p:spPr>
            <a:xfrm>
              <a:off x="3070860" y="46482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SYSTEMS</a:t>
              </a:r>
              <a:endParaRPr lang="en-US" sz="800" spc="48" kern="0" b="0" i="0" dirty="0">
                <a:solidFill>
                  <a:srgbClr val="50658E"/>
                </a:solidFill>
                <a:latin typeface="IBM Plex Mono Medium"/>
                <a:ea typeface="IBM Plex Mono Medium"/>
                <a:cs typeface="IBM Plex Mono Medium"/>
              </a:endParaRPr>
            </a:p>
          </p:txBody>
        </p:sp>
      </p:grpSp>
      <p:grpSp>
        <p:nvGrpSpPr>
          <p:cNvPr id="103" name="node16"/>
          <p:cNvGrpSpPr/>
          <p:nvPr/>
        </p:nvGrpSpPr>
        <p:grpSpPr>
          <a:xfrm>
            <a:off x="3070860" y="4876800"/>
            <a:ext cx="1661160" cy="190500"/>
            <a:chOff x="3070860" y="4876800"/>
            <a:chExt cx="1661160" cy="190500"/>
          </a:xfrm>
        </p:grpSpPr>
        <p:sp>
          <p:nvSpPr>
            <p:cNvPr id="38" name="node16.text"/>
            <p:cNvSpPr/>
            <p:nvPr/>
          </p:nvSpPr>
          <p:spPr>
            <a:xfrm>
              <a:off x="3070860" y="48768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ERP billing module</a:t>
              </a:r>
              <a:endParaRPr lang="en-US" sz="1100" spc="0" kern="0" b="0" i="0" dirty="0">
                <a:solidFill>
                  <a:srgbClr val="070154"/>
                </a:solidFill>
                <a:latin typeface="IBM Plex Sans"/>
                <a:ea typeface="IBM Plex Sans"/>
                <a:cs typeface="IBM Plex Sans"/>
              </a:endParaRPr>
            </a:p>
          </p:txBody>
        </p:sp>
      </p:grpSp>
      <p:grpSp>
        <p:nvGrpSpPr>
          <p:cNvPr id="104" name="node17"/>
          <p:cNvGrpSpPr/>
          <p:nvPr/>
        </p:nvGrpSpPr>
        <p:grpSpPr>
          <a:xfrm>
            <a:off x="5113020" y="1600200"/>
            <a:ext cx="2194560" cy="685800"/>
            <a:chOff x="5113020" y="1600200"/>
            <a:chExt cx="2194560" cy="685800"/>
          </a:xfrm>
        </p:grpSpPr>
        <p:sp>
          <p:nvSpPr>
            <p:cNvPr id="39" name="node17.surface"/>
            <p:cNvSpPr/>
            <p:nvPr/>
          </p:nvSpPr>
          <p:spPr>
            <a:xfrm>
              <a:off x="5113020" y="1600200"/>
              <a:ext cx="2194560" cy="685800"/>
            </a:xfrm>
            <a:custGeom>
              <a:avLst/>
              <a:gdLst/>
              <a:ahLst/>
              <a:cxnLst/>
              <a:rect l="l" t="t" r="r" b="b"/>
              <a:pathLst>
                <a:path w="2194560" h="685800">
                  <a:moveTo>
                    <a:pt x="0" y="0"/>
                  </a:moveTo>
                  <a:lnTo>
                    <a:pt x="1965960" y="0"/>
                  </a:lnTo>
                  <a:lnTo>
                    <a:pt x="2194560" y="342900"/>
                  </a:lnTo>
                  <a:lnTo>
                    <a:pt x="1965960" y="685800"/>
                  </a:lnTo>
                  <a:lnTo>
                    <a:pt x="0" y="685800"/>
                  </a:lnTo>
                  <a:lnTo>
                    <a:pt x="228600" y="342900"/>
                  </a:lnTo>
                  <a:close/>
                </a:path>
              </a:pathLst>
            </a:custGeom>
            <a:solidFill>
              <a:srgbClr val="070154"/>
            </a:solidFill>
            <a:ln>
              <a:noFill/>
            </a:ln>
          </p:spPr>
        </p:sp>
        <p:sp>
          <p:nvSpPr>
            <p:cNvPr id="40" name="node17.text"/>
            <p:cNvSpPr/>
            <p:nvPr/>
          </p:nvSpPr>
          <p:spPr>
            <a:xfrm>
              <a:off x="5494020" y="1835150"/>
              <a:ext cx="150876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Procure to pay</a:t>
              </a:r>
              <a:endParaRPr lang="en-US" sz="1200" spc="0" kern="0" b="0" i="0" dirty="0">
                <a:solidFill>
                  <a:srgbClr val="FFFFFF"/>
                </a:solidFill>
                <a:latin typeface="IBM Plex Sans"/>
                <a:ea typeface="IBM Plex Sans"/>
                <a:cs typeface="IBM Plex Sans"/>
              </a:endParaRPr>
            </a:p>
          </p:txBody>
        </p:sp>
      </p:grpSp>
      <p:grpSp>
        <p:nvGrpSpPr>
          <p:cNvPr id="105" name="node18"/>
          <p:cNvGrpSpPr/>
          <p:nvPr/>
        </p:nvGrpSpPr>
        <p:grpSpPr>
          <a:xfrm>
            <a:off x="5113020" y="2514600"/>
            <a:ext cx="1965960" cy="2743200"/>
            <a:chOff x="5113020" y="2514600"/>
            <a:chExt cx="1965960" cy="2743200"/>
          </a:xfrm>
        </p:grpSpPr>
        <p:sp>
          <p:nvSpPr>
            <p:cNvPr id="41" name="node18.container"/>
            <p:cNvSpPr/>
            <p:nvPr/>
          </p:nvSpPr>
          <p:spPr>
            <a:xfrm>
              <a:off x="5113020" y="2514600"/>
              <a:ext cx="1965960" cy="2743200"/>
            </a:xfrm>
            <a:prstGeom prst="rect">
              <a:avLst/>
            </a:prstGeom>
            <a:solidFill>
              <a:srgbClr val="CED7E6"/>
            </a:solidFill>
            <a:ln>
              <a:noFill/>
            </a:ln>
          </p:spPr>
        </p:sp>
      </p:grpSp>
      <p:grpSp>
        <p:nvGrpSpPr>
          <p:cNvPr id="106" name="node19"/>
          <p:cNvGrpSpPr/>
          <p:nvPr/>
        </p:nvGrpSpPr>
        <p:grpSpPr>
          <a:xfrm>
            <a:off x="5265420" y="2667000"/>
            <a:ext cx="1661160" cy="139700"/>
            <a:chOff x="5265420" y="2667000"/>
            <a:chExt cx="1661160" cy="139700"/>
          </a:xfrm>
        </p:grpSpPr>
        <p:sp>
          <p:nvSpPr>
            <p:cNvPr id="42" name="node19.text"/>
            <p:cNvSpPr/>
            <p:nvPr/>
          </p:nvSpPr>
          <p:spPr>
            <a:xfrm>
              <a:off x="5265420" y="26670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PROCESS ELEMENTS</a:t>
              </a:r>
              <a:endParaRPr lang="en-US" sz="800" spc="48" kern="0" b="0" i="0" dirty="0">
                <a:solidFill>
                  <a:srgbClr val="50658E"/>
                </a:solidFill>
                <a:latin typeface="IBM Plex Mono Medium"/>
                <a:ea typeface="IBM Plex Mono Medium"/>
                <a:cs typeface="IBM Plex Mono Medium"/>
              </a:endParaRPr>
            </a:p>
          </p:txBody>
        </p:sp>
      </p:grpSp>
      <p:grpSp>
        <p:nvGrpSpPr>
          <p:cNvPr id="107" name="node20"/>
          <p:cNvGrpSpPr/>
          <p:nvPr/>
        </p:nvGrpSpPr>
        <p:grpSpPr>
          <a:xfrm>
            <a:off x="5265420" y="2895600"/>
            <a:ext cx="1661160" cy="977900"/>
            <a:chOff x="5265420" y="2895600"/>
            <a:chExt cx="1661160" cy="977900"/>
          </a:xfrm>
        </p:grpSpPr>
        <p:sp>
          <p:nvSpPr>
            <p:cNvPr id="43" name="node20.source-001.bullet"/>
            <p:cNvSpPr/>
            <p:nvPr/>
          </p:nvSpPr>
          <p:spPr>
            <a:xfrm>
              <a:off x="5265420" y="2984500"/>
              <a:ext cx="38100" cy="38100"/>
            </a:xfrm>
            <a:prstGeom prst="rect">
              <a:avLst/>
            </a:prstGeom>
            <a:solidFill>
              <a:srgbClr val="070154"/>
            </a:solidFill>
            <a:ln>
              <a:noFill/>
            </a:ln>
          </p:spPr>
        </p:sp>
        <p:sp>
          <p:nvSpPr>
            <p:cNvPr id="44" name="node20.source-001.text"/>
            <p:cNvSpPr/>
            <p:nvPr/>
          </p:nvSpPr>
          <p:spPr>
            <a:xfrm>
              <a:off x="5417820" y="2895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Sourcing</a:t>
              </a:r>
              <a:endParaRPr lang="en-US" sz="1200" spc="0" kern="0" b="0" i="0" dirty="0">
                <a:solidFill>
                  <a:srgbClr val="070154"/>
                </a:solidFill>
                <a:latin typeface="IBM Plex Sans"/>
                <a:ea typeface="IBM Plex Sans"/>
                <a:cs typeface="IBM Plex Sans"/>
              </a:endParaRPr>
            </a:p>
          </p:txBody>
        </p:sp>
        <p:sp>
          <p:nvSpPr>
            <p:cNvPr id="45" name="node20.source-002.bullet"/>
            <p:cNvSpPr/>
            <p:nvPr/>
          </p:nvSpPr>
          <p:spPr>
            <a:xfrm>
              <a:off x="5265420" y="3238500"/>
              <a:ext cx="38100" cy="38100"/>
            </a:xfrm>
            <a:prstGeom prst="rect">
              <a:avLst/>
            </a:prstGeom>
            <a:solidFill>
              <a:srgbClr val="070154"/>
            </a:solidFill>
            <a:ln>
              <a:noFill/>
            </a:ln>
          </p:spPr>
        </p:sp>
        <p:sp>
          <p:nvSpPr>
            <p:cNvPr id="46" name="node20.source-002.text"/>
            <p:cNvSpPr/>
            <p:nvPr/>
          </p:nvSpPr>
          <p:spPr>
            <a:xfrm>
              <a:off x="5417820" y="3149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Purchase orders</a:t>
              </a:r>
              <a:endParaRPr lang="en-US" sz="1200" spc="0" kern="0" b="0" i="0" dirty="0">
                <a:solidFill>
                  <a:srgbClr val="070154"/>
                </a:solidFill>
                <a:latin typeface="IBM Plex Sans"/>
                <a:ea typeface="IBM Plex Sans"/>
                <a:cs typeface="IBM Plex Sans"/>
              </a:endParaRPr>
            </a:p>
          </p:txBody>
        </p:sp>
        <p:sp>
          <p:nvSpPr>
            <p:cNvPr id="47" name="node20.source-003.bullet"/>
            <p:cNvSpPr/>
            <p:nvPr/>
          </p:nvSpPr>
          <p:spPr>
            <a:xfrm>
              <a:off x="5265420" y="3492500"/>
              <a:ext cx="38100" cy="38100"/>
            </a:xfrm>
            <a:prstGeom prst="rect">
              <a:avLst/>
            </a:prstGeom>
            <a:solidFill>
              <a:srgbClr val="070154"/>
            </a:solidFill>
            <a:ln>
              <a:noFill/>
            </a:ln>
          </p:spPr>
        </p:sp>
        <p:sp>
          <p:nvSpPr>
            <p:cNvPr id="48" name="node20.source-003.text"/>
            <p:cNvSpPr/>
            <p:nvPr/>
          </p:nvSpPr>
          <p:spPr>
            <a:xfrm>
              <a:off x="5417820" y="3403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Invoice processing</a:t>
              </a:r>
              <a:endParaRPr lang="en-US" sz="1200" spc="0" kern="0" b="0" i="0" dirty="0">
                <a:solidFill>
                  <a:srgbClr val="070154"/>
                </a:solidFill>
                <a:latin typeface="IBM Plex Sans"/>
                <a:ea typeface="IBM Plex Sans"/>
                <a:cs typeface="IBM Plex Sans"/>
              </a:endParaRPr>
            </a:p>
          </p:txBody>
        </p:sp>
        <p:sp>
          <p:nvSpPr>
            <p:cNvPr id="49" name="node20.source-004.bullet"/>
            <p:cNvSpPr/>
            <p:nvPr/>
          </p:nvSpPr>
          <p:spPr>
            <a:xfrm>
              <a:off x="5265420" y="3746500"/>
              <a:ext cx="38100" cy="38100"/>
            </a:xfrm>
            <a:prstGeom prst="rect">
              <a:avLst/>
            </a:prstGeom>
            <a:solidFill>
              <a:srgbClr val="070154"/>
            </a:solidFill>
            <a:ln>
              <a:noFill/>
            </a:ln>
          </p:spPr>
        </p:sp>
        <p:sp>
          <p:nvSpPr>
            <p:cNvPr id="50" name="node20.source-004.text"/>
            <p:cNvSpPr/>
            <p:nvPr/>
          </p:nvSpPr>
          <p:spPr>
            <a:xfrm>
              <a:off x="5417820" y="3657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Vendor payments</a:t>
              </a:r>
              <a:endParaRPr lang="en-US" sz="1200" spc="0" kern="0" b="0" i="0" dirty="0">
                <a:solidFill>
                  <a:srgbClr val="070154"/>
                </a:solidFill>
                <a:latin typeface="IBM Plex Sans"/>
                <a:ea typeface="IBM Plex Sans"/>
                <a:cs typeface="IBM Plex Sans"/>
              </a:endParaRPr>
            </a:p>
          </p:txBody>
        </p:sp>
      </p:grpSp>
      <p:grpSp>
        <p:nvGrpSpPr>
          <p:cNvPr id="108" name="node21"/>
          <p:cNvGrpSpPr/>
          <p:nvPr/>
        </p:nvGrpSpPr>
        <p:grpSpPr>
          <a:xfrm>
            <a:off x="5265420" y="4038600"/>
            <a:ext cx="1661160" cy="139700"/>
            <a:chOff x="5265420" y="4038600"/>
            <a:chExt cx="1661160" cy="139700"/>
          </a:xfrm>
        </p:grpSpPr>
        <p:sp>
          <p:nvSpPr>
            <p:cNvPr id="51" name="node21.text"/>
            <p:cNvSpPr/>
            <p:nvPr/>
          </p:nvSpPr>
          <p:spPr>
            <a:xfrm>
              <a:off x="5265420" y="40386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OWNER</a:t>
              </a:r>
              <a:endParaRPr lang="en-US" sz="800" spc="48" kern="0" b="0" i="0" dirty="0">
                <a:solidFill>
                  <a:srgbClr val="50658E"/>
                </a:solidFill>
                <a:latin typeface="IBM Plex Mono Medium"/>
                <a:ea typeface="IBM Plex Mono Medium"/>
                <a:cs typeface="IBM Plex Mono Medium"/>
              </a:endParaRPr>
            </a:p>
          </p:txBody>
        </p:sp>
      </p:grpSp>
      <p:grpSp>
        <p:nvGrpSpPr>
          <p:cNvPr id="109" name="node22"/>
          <p:cNvGrpSpPr/>
          <p:nvPr/>
        </p:nvGrpSpPr>
        <p:grpSpPr>
          <a:xfrm>
            <a:off x="5265420" y="4267200"/>
            <a:ext cx="1661160" cy="190500"/>
            <a:chOff x="5265420" y="4267200"/>
            <a:chExt cx="1661160" cy="190500"/>
          </a:xfrm>
        </p:grpSpPr>
        <p:sp>
          <p:nvSpPr>
            <p:cNvPr id="52" name="node22.text"/>
            <p:cNvSpPr/>
            <p:nvPr/>
          </p:nvSpPr>
          <p:spPr>
            <a:xfrm>
              <a:off x="5265420" y="42672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Director, AP</a:t>
              </a:r>
              <a:endParaRPr lang="en-US" sz="1100" spc="0" kern="0" b="0" i="0" dirty="0">
                <a:solidFill>
                  <a:srgbClr val="070154"/>
                </a:solidFill>
                <a:latin typeface="IBM Plex Sans"/>
                <a:ea typeface="IBM Plex Sans"/>
                <a:cs typeface="IBM Plex Sans"/>
              </a:endParaRPr>
            </a:p>
          </p:txBody>
        </p:sp>
      </p:grpSp>
      <p:grpSp>
        <p:nvGrpSpPr>
          <p:cNvPr id="110" name="node23"/>
          <p:cNvGrpSpPr/>
          <p:nvPr/>
        </p:nvGrpSpPr>
        <p:grpSpPr>
          <a:xfrm>
            <a:off x="5265420" y="4648200"/>
            <a:ext cx="1661160" cy="139700"/>
            <a:chOff x="5265420" y="4648200"/>
            <a:chExt cx="1661160" cy="139700"/>
          </a:xfrm>
        </p:grpSpPr>
        <p:sp>
          <p:nvSpPr>
            <p:cNvPr id="53" name="node23.text"/>
            <p:cNvSpPr/>
            <p:nvPr/>
          </p:nvSpPr>
          <p:spPr>
            <a:xfrm>
              <a:off x="5265420" y="46482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SYSTEMS</a:t>
              </a:r>
              <a:endParaRPr lang="en-US" sz="800" spc="48" kern="0" b="0" i="0" dirty="0">
                <a:solidFill>
                  <a:srgbClr val="50658E"/>
                </a:solidFill>
                <a:latin typeface="IBM Plex Mono Medium"/>
                <a:ea typeface="IBM Plex Mono Medium"/>
                <a:cs typeface="IBM Plex Mono Medium"/>
              </a:endParaRPr>
            </a:p>
          </p:txBody>
        </p:sp>
      </p:grpSp>
      <p:grpSp>
        <p:nvGrpSpPr>
          <p:cNvPr id="111" name="node24"/>
          <p:cNvGrpSpPr/>
          <p:nvPr/>
        </p:nvGrpSpPr>
        <p:grpSpPr>
          <a:xfrm>
            <a:off x="5265420" y="4876800"/>
            <a:ext cx="1661160" cy="190500"/>
            <a:chOff x="5265420" y="4876800"/>
            <a:chExt cx="1661160" cy="190500"/>
          </a:xfrm>
        </p:grpSpPr>
        <p:sp>
          <p:nvSpPr>
            <p:cNvPr id="54" name="node24.text"/>
            <p:cNvSpPr/>
            <p:nvPr/>
          </p:nvSpPr>
          <p:spPr>
            <a:xfrm>
              <a:off x="5265420" y="48768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ERP and AP automation</a:t>
              </a:r>
              <a:endParaRPr lang="en-US" sz="1100" spc="0" kern="0" b="0" i="0" dirty="0">
                <a:solidFill>
                  <a:srgbClr val="070154"/>
                </a:solidFill>
                <a:latin typeface="IBM Plex Sans"/>
                <a:ea typeface="IBM Plex Sans"/>
                <a:cs typeface="IBM Plex Sans"/>
              </a:endParaRPr>
            </a:p>
          </p:txBody>
        </p:sp>
      </p:grpSp>
      <p:grpSp>
        <p:nvGrpSpPr>
          <p:cNvPr id="112" name="node25"/>
          <p:cNvGrpSpPr/>
          <p:nvPr/>
        </p:nvGrpSpPr>
        <p:grpSpPr>
          <a:xfrm>
            <a:off x="7307580" y="1600200"/>
            <a:ext cx="2194560" cy="685800"/>
            <a:chOff x="7307580" y="1600200"/>
            <a:chExt cx="2194560" cy="685800"/>
          </a:xfrm>
        </p:grpSpPr>
        <p:sp>
          <p:nvSpPr>
            <p:cNvPr id="55" name="node25.surface"/>
            <p:cNvSpPr/>
            <p:nvPr/>
          </p:nvSpPr>
          <p:spPr>
            <a:xfrm>
              <a:off x="7307580" y="1600200"/>
              <a:ext cx="2194560" cy="685800"/>
            </a:xfrm>
            <a:custGeom>
              <a:avLst/>
              <a:gdLst/>
              <a:ahLst/>
              <a:cxnLst/>
              <a:rect l="l" t="t" r="r" b="b"/>
              <a:pathLst>
                <a:path w="2194560" h="685800">
                  <a:moveTo>
                    <a:pt x="0" y="0"/>
                  </a:moveTo>
                  <a:lnTo>
                    <a:pt x="1965960" y="0"/>
                  </a:lnTo>
                  <a:lnTo>
                    <a:pt x="2194560" y="342900"/>
                  </a:lnTo>
                  <a:lnTo>
                    <a:pt x="1965960" y="685800"/>
                  </a:lnTo>
                  <a:lnTo>
                    <a:pt x="0" y="685800"/>
                  </a:lnTo>
                  <a:lnTo>
                    <a:pt x="228600" y="342900"/>
                  </a:lnTo>
                  <a:close/>
                </a:path>
              </a:pathLst>
            </a:custGeom>
            <a:solidFill>
              <a:srgbClr val="070154"/>
            </a:solidFill>
            <a:ln>
              <a:noFill/>
            </a:ln>
          </p:spPr>
        </p:sp>
        <p:sp>
          <p:nvSpPr>
            <p:cNvPr id="56" name="node25.text"/>
            <p:cNvSpPr/>
            <p:nvPr/>
          </p:nvSpPr>
          <p:spPr>
            <a:xfrm>
              <a:off x="7688580" y="1835150"/>
              <a:ext cx="150876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Record to report</a:t>
              </a:r>
              <a:endParaRPr lang="en-US" sz="1200" spc="0" kern="0" b="0" i="0" dirty="0">
                <a:solidFill>
                  <a:srgbClr val="FFFFFF"/>
                </a:solidFill>
                <a:latin typeface="IBM Plex Sans"/>
                <a:ea typeface="IBM Plex Sans"/>
                <a:cs typeface="IBM Plex Sans"/>
              </a:endParaRPr>
            </a:p>
          </p:txBody>
        </p:sp>
      </p:grpSp>
      <p:grpSp>
        <p:nvGrpSpPr>
          <p:cNvPr id="113" name="node26"/>
          <p:cNvGrpSpPr/>
          <p:nvPr/>
        </p:nvGrpSpPr>
        <p:grpSpPr>
          <a:xfrm>
            <a:off x="7307580" y="2514600"/>
            <a:ext cx="1965960" cy="2743200"/>
            <a:chOff x="7307580" y="2514600"/>
            <a:chExt cx="1965960" cy="2743200"/>
          </a:xfrm>
        </p:grpSpPr>
        <p:sp>
          <p:nvSpPr>
            <p:cNvPr id="57" name="node26.container"/>
            <p:cNvSpPr/>
            <p:nvPr/>
          </p:nvSpPr>
          <p:spPr>
            <a:xfrm>
              <a:off x="7307580" y="2514600"/>
              <a:ext cx="1965960" cy="2743200"/>
            </a:xfrm>
            <a:prstGeom prst="rect">
              <a:avLst/>
            </a:prstGeom>
            <a:solidFill>
              <a:srgbClr val="CED7E6"/>
            </a:solidFill>
            <a:ln>
              <a:noFill/>
            </a:ln>
          </p:spPr>
        </p:sp>
      </p:grpSp>
      <p:grpSp>
        <p:nvGrpSpPr>
          <p:cNvPr id="114" name="node27"/>
          <p:cNvGrpSpPr/>
          <p:nvPr/>
        </p:nvGrpSpPr>
        <p:grpSpPr>
          <a:xfrm>
            <a:off x="7459980" y="2667000"/>
            <a:ext cx="1661160" cy="139700"/>
            <a:chOff x="7459980" y="2667000"/>
            <a:chExt cx="1661160" cy="139700"/>
          </a:xfrm>
        </p:grpSpPr>
        <p:sp>
          <p:nvSpPr>
            <p:cNvPr id="58" name="node27.text"/>
            <p:cNvSpPr/>
            <p:nvPr/>
          </p:nvSpPr>
          <p:spPr>
            <a:xfrm>
              <a:off x="7459980" y="26670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PROCESS ELEMENTS</a:t>
              </a:r>
              <a:endParaRPr lang="en-US" sz="800" spc="48" kern="0" b="0" i="0" dirty="0">
                <a:solidFill>
                  <a:srgbClr val="50658E"/>
                </a:solidFill>
                <a:latin typeface="IBM Plex Mono Medium"/>
                <a:ea typeface="IBM Plex Mono Medium"/>
                <a:cs typeface="IBM Plex Mono Medium"/>
              </a:endParaRPr>
            </a:p>
          </p:txBody>
        </p:sp>
      </p:grpSp>
      <p:grpSp>
        <p:nvGrpSpPr>
          <p:cNvPr id="115" name="node28"/>
          <p:cNvGrpSpPr/>
          <p:nvPr/>
        </p:nvGrpSpPr>
        <p:grpSpPr>
          <a:xfrm>
            <a:off x="7459980" y="2895600"/>
            <a:ext cx="1661160" cy="977900"/>
            <a:chOff x="7459980" y="2895600"/>
            <a:chExt cx="1661160" cy="977900"/>
          </a:xfrm>
        </p:grpSpPr>
        <p:sp>
          <p:nvSpPr>
            <p:cNvPr id="59" name="node28.source-001.bullet"/>
            <p:cNvSpPr/>
            <p:nvPr/>
          </p:nvSpPr>
          <p:spPr>
            <a:xfrm>
              <a:off x="7459980" y="2984500"/>
              <a:ext cx="38100" cy="38100"/>
            </a:xfrm>
            <a:prstGeom prst="rect">
              <a:avLst/>
            </a:prstGeom>
            <a:solidFill>
              <a:srgbClr val="070154"/>
            </a:solidFill>
            <a:ln>
              <a:noFill/>
            </a:ln>
          </p:spPr>
        </p:sp>
        <p:sp>
          <p:nvSpPr>
            <p:cNvPr id="60" name="node28.source-001.text"/>
            <p:cNvSpPr/>
            <p:nvPr/>
          </p:nvSpPr>
          <p:spPr>
            <a:xfrm>
              <a:off x="7612380" y="2895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Journal entries</a:t>
              </a:r>
              <a:endParaRPr lang="en-US" sz="1200" spc="0" kern="0" b="0" i="0" dirty="0">
                <a:solidFill>
                  <a:srgbClr val="070154"/>
                </a:solidFill>
                <a:latin typeface="IBM Plex Sans"/>
                <a:ea typeface="IBM Plex Sans"/>
                <a:cs typeface="IBM Plex Sans"/>
              </a:endParaRPr>
            </a:p>
          </p:txBody>
        </p:sp>
        <p:sp>
          <p:nvSpPr>
            <p:cNvPr id="61" name="node28.source-002.bullet"/>
            <p:cNvSpPr/>
            <p:nvPr/>
          </p:nvSpPr>
          <p:spPr>
            <a:xfrm>
              <a:off x="7459980" y="3238500"/>
              <a:ext cx="38100" cy="38100"/>
            </a:xfrm>
            <a:prstGeom prst="rect">
              <a:avLst/>
            </a:prstGeom>
            <a:solidFill>
              <a:srgbClr val="070154"/>
            </a:solidFill>
            <a:ln>
              <a:noFill/>
            </a:ln>
          </p:spPr>
        </p:sp>
        <p:sp>
          <p:nvSpPr>
            <p:cNvPr id="62" name="node28.source-002.text"/>
            <p:cNvSpPr/>
            <p:nvPr/>
          </p:nvSpPr>
          <p:spPr>
            <a:xfrm>
              <a:off x="7612380" y="3149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Reconciliation</a:t>
              </a:r>
              <a:endParaRPr lang="en-US" sz="1200" spc="0" kern="0" b="0" i="0" dirty="0">
                <a:solidFill>
                  <a:srgbClr val="070154"/>
                </a:solidFill>
                <a:latin typeface="IBM Plex Sans"/>
                <a:ea typeface="IBM Plex Sans"/>
                <a:cs typeface="IBM Plex Sans"/>
              </a:endParaRPr>
            </a:p>
          </p:txBody>
        </p:sp>
        <p:sp>
          <p:nvSpPr>
            <p:cNvPr id="63" name="node28.source-003.bullet"/>
            <p:cNvSpPr/>
            <p:nvPr/>
          </p:nvSpPr>
          <p:spPr>
            <a:xfrm>
              <a:off x="7459980" y="3492500"/>
              <a:ext cx="38100" cy="38100"/>
            </a:xfrm>
            <a:prstGeom prst="rect">
              <a:avLst/>
            </a:prstGeom>
            <a:solidFill>
              <a:srgbClr val="070154"/>
            </a:solidFill>
            <a:ln>
              <a:noFill/>
            </a:ln>
          </p:spPr>
        </p:sp>
        <p:sp>
          <p:nvSpPr>
            <p:cNvPr id="64" name="node28.source-003.text"/>
            <p:cNvSpPr/>
            <p:nvPr/>
          </p:nvSpPr>
          <p:spPr>
            <a:xfrm>
              <a:off x="7612380" y="3403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Consolidation</a:t>
              </a:r>
              <a:endParaRPr lang="en-US" sz="1200" spc="0" kern="0" b="0" i="0" dirty="0">
                <a:solidFill>
                  <a:srgbClr val="070154"/>
                </a:solidFill>
                <a:latin typeface="IBM Plex Sans"/>
                <a:ea typeface="IBM Plex Sans"/>
                <a:cs typeface="IBM Plex Sans"/>
              </a:endParaRPr>
            </a:p>
          </p:txBody>
        </p:sp>
        <p:sp>
          <p:nvSpPr>
            <p:cNvPr id="65" name="node28.source-004.bullet"/>
            <p:cNvSpPr/>
            <p:nvPr/>
          </p:nvSpPr>
          <p:spPr>
            <a:xfrm>
              <a:off x="7459980" y="3746500"/>
              <a:ext cx="38100" cy="38100"/>
            </a:xfrm>
            <a:prstGeom prst="rect">
              <a:avLst/>
            </a:prstGeom>
            <a:solidFill>
              <a:srgbClr val="070154"/>
            </a:solidFill>
            <a:ln>
              <a:noFill/>
            </a:ln>
          </p:spPr>
        </p:sp>
        <p:sp>
          <p:nvSpPr>
            <p:cNvPr id="66" name="node28.source-004.text"/>
            <p:cNvSpPr/>
            <p:nvPr/>
          </p:nvSpPr>
          <p:spPr>
            <a:xfrm>
              <a:off x="7612380" y="3657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Financial reporting</a:t>
              </a:r>
              <a:endParaRPr lang="en-US" sz="1200" spc="0" kern="0" b="0" i="0" dirty="0">
                <a:solidFill>
                  <a:srgbClr val="070154"/>
                </a:solidFill>
                <a:latin typeface="IBM Plex Sans"/>
                <a:ea typeface="IBM Plex Sans"/>
                <a:cs typeface="IBM Plex Sans"/>
              </a:endParaRPr>
            </a:p>
          </p:txBody>
        </p:sp>
      </p:grpSp>
      <p:grpSp>
        <p:nvGrpSpPr>
          <p:cNvPr id="116" name="node29"/>
          <p:cNvGrpSpPr/>
          <p:nvPr/>
        </p:nvGrpSpPr>
        <p:grpSpPr>
          <a:xfrm>
            <a:off x="7459980" y="4038600"/>
            <a:ext cx="1661160" cy="139700"/>
            <a:chOff x="7459980" y="4038600"/>
            <a:chExt cx="1661160" cy="139700"/>
          </a:xfrm>
        </p:grpSpPr>
        <p:sp>
          <p:nvSpPr>
            <p:cNvPr id="67" name="node29.text"/>
            <p:cNvSpPr/>
            <p:nvPr/>
          </p:nvSpPr>
          <p:spPr>
            <a:xfrm>
              <a:off x="7459980" y="40386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OWNER</a:t>
              </a:r>
              <a:endParaRPr lang="en-US" sz="800" spc="48" kern="0" b="0" i="0" dirty="0">
                <a:solidFill>
                  <a:srgbClr val="50658E"/>
                </a:solidFill>
                <a:latin typeface="IBM Plex Mono Medium"/>
                <a:ea typeface="IBM Plex Mono Medium"/>
                <a:cs typeface="IBM Plex Mono Medium"/>
              </a:endParaRPr>
            </a:p>
          </p:txBody>
        </p:sp>
      </p:grpSp>
      <p:grpSp>
        <p:nvGrpSpPr>
          <p:cNvPr id="117" name="node30"/>
          <p:cNvGrpSpPr/>
          <p:nvPr/>
        </p:nvGrpSpPr>
        <p:grpSpPr>
          <a:xfrm>
            <a:off x="7459980" y="4267200"/>
            <a:ext cx="1661160" cy="190500"/>
            <a:chOff x="7459980" y="4267200"/>
            <a:chExt cx="1661160" cy="190500"/>
          </a:xfrm>
        </p:grpSpPr>
        <p:sp>
          <p:nvSpPr>
            <p:cNvPr id="68" name="node30.text"/>
            <p:cNvSpPr/>
            <p:nvPr/>
          </p:nvSpPr>
          <p:spPr>
            <a:xfrm>
              <a:off x="7459980" y="42672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Corporate controller</a:t>
              </a:r>
              <a:endParaRPr lang="en-US" sz="1100" spc="0" kern="0" b="0" i="0" dirty="0">
                <a:solidFill>
                  <a:srgbClr val="070154"/>
                </a:solidFill>
                <a:latin typeface="IBM Plex Sans"/>
                <a:ea typeface="IBM Plex Sans"/>
                <a:cs typeface="IBM Plex Sans"/>
              </a:endParaRPr>
            </a:p>
          </p:txBody>
        </p:sp>
      </p:grpSp>
      <p:grpSp>
        <p:nvGrpSpPr>
          <p:cNvPr id="118" name="node31"/>
          <p:cNvGrpSpPr/>
          <p:nvPr/>
        </p:nvGrpSpPr>
        <p:grpSpPr>
          <a:xfrm>
            <a:off x="7459980" y="4648200"/>
            <a:ext cx="1661160" cy="139700"/>
            <a:chOff x="7459980" y="4648200"/>
            <a:chExt cx="1661160" cy="139700"/>
          </a:xfrm>
        </p:grpSpPr>
        <p:sp>
          <p:nvSpPr>
            <p:cNvPr id="69" name="node31.text"/>
            <p:cNvSpPr/>
            <p:nvPr/>
          </p:nvSpPr>
          <p:spPr>
            <a:xfrm>
              <a:off x="7459980" y="46482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SYSTEMS</a:t>
              </a:r>
              <a:endParaRPr lang="en-US" sz="800" spc="48" kern="0" b="0" i="0" dirty="0">
                <a:solidFill>
                  <a:srgbClr val="50658E"/>
                </a:solidFill>
                <a:latin typeface="IBM Plex Mono Medium"/>
                <a:ea typeface="IBM Plex Mono Medium"/>
                <a:cs typeface="IBM Plex Mono Medium"/>
              </a:endParaRPr>
            </a:p>
          </p:txBody>
        </p:sp>
      </p:grpSp>
      <p:grpSp>
        <p:nvGrpSpPr>
          <p:cNvPr id="119" name="node32"/>
          <p:cNvGrpSpPr/>
          <p:nvPr/>
        </p:nvGrpSpPr>
        <p:grpSpPr>
          <a:xfrm>
            <a:off x="7459980" y="4876800"/>
            <a:ext cx="1661160" cy="190500"/>
            <a:chOff x="7459980" y="4876800"/>
            <a:chExt cx="1661160" cy="190500"/>
          </a:xfrm>
        </p:grpSpPr>
        <p:sp>
          <p:nvSpPr>
            <p:cNvPr id="70" name="node32.text"/>
            <p:cNvSpPr/>
            <p:nvPr/>
          </p:nvSpPr>
          <p:spPr>
            <a:xfrm>
              <a:off x="7459980" y="48768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ERP general ledger</a:t>
              </a:r>
              <a:endParaRPr lang="en-US" sz="1100" spc="0" kern="0" b="0" i="0" dirty="0">
                <a:solidFill>
                  <a:srgbClr val="070154"/>
                </a:solidFill>
                <a:latin typeface="IBM Plex Sans"/>
                <a:ea typeface="IBM Plex Sans"/>
                <a:cs typeface="IBM Plex Sans"/>
              </a:endParaRPr>
            </a:p>
          </p:txBody>
        </p:sp>
      </p:grpSp>
      <p:grpSp>
        <p:nvGrpSpPr>
          <p:cNvPr id="120" name="node33"/>
          <p:cNvGrpSpPr/>
          <p:nvPr/>
        </p:nvGrpSpPr>
        <p:grpSpPr>
          <a:xfrm>
            <a:off x="9502140" y="1600200"/>
            <a:ext cx="1965960" cy="685800"/>
            <a:chOff x="9502140" y="1600200"/>
            <a:chExt cx="1965960" cy="685800"/>
          </a:xfrm>
        </p:grpSpPr>
        <p:sp>
          <p:nvSpPr>
            <p:cNvPr id="71" name="node33.surface"/>
            <p:cNvSpPr/>
            <p:nvPr/>
          </p:nvSpPr>
          <p:spPr>
            <a:xfrm>
              <a:off x="9502140" y="1600200"/>
              <a:ext cx="1965960" cy="685800"/>
            </a:xfrm>
            <a:custGeom>
              <a:avLst/>
              <a:gdLst/>
              <a:ahLst/>
              <a:cxnLst/>
              <a:rect l="l" t="t" r="r" b="b"/>
              <a:pathLst>
                <a:path w="1965960" h="685800">
                  <a:moveTo>
                    <a:pt x="0" y="0"/>
                  </a:moveTo>
                  <a:lnTo>
                    <a:pt x="1737360" y="0"/>
                  </a:lnTo>
                  <a:lnTo>
                    <a:pt x="1965960" y="342900"/>
                  </a:lnTo>
                  <a:lnTo>
                    <a:pt x="1737360" y="685800"/>
                  </a:lnTo>
                  <a:lnTo>
                    <a:pt x="0" y="685800"/>
                  </a:lnTo>
                  <a:lnTo>
                    <a:pt x="228600" y="342900"/>
                  </a:lnTo>
                  <a:close/>
                </a:path>
              </a:pathLst>
            </a:custGeom>
            <a:solidFill>
              <a:srgbClr val="CED7E6"/>
            </a:solidFill>
            <a:ln>
              <a:noFill/>
            </a:ln>
          </p:spPr>
        </p:sp>
        <p:sp>
          <p:nvSpPr>
            <p:cNvPr id="72" name="node33.text"/>
            <p:cNvSpPr/>
            <p:nvPr/>
          </p:nvSpPr>
          <p:spPr>
            <a:xfrm>
              <a:off x="9883140" y="1835150"/>
              <a:ext cx="128016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a:ea typeface="IBM Plex Sans"/>
                  <a:cs typeface="IBM Plex Sans"/>
                </a:rPr>
                <a:t>Treasury &amp; tax</a:t>
              </a:r>
              <a:endParaRPr lang="en-US" sz="1200" spc="0" kern="0" b="0" i="0" dirty="0">
                <a:solidFill>
                  <a:srgbClr val="070154"/>
                </a:solidFill>
                <a:latin typeface="IBM Plex Sans"/>
                <a:ea typeface="IBM Plex Sans"/>
                <a:cs typeface="IBM Plex Sans"/>
              </a:endParaRPr>
            </a:p>
          </p:txBody>
        </p:sp>
      </p:grpSp>
      <p:grpSp>
        <p:nvGrpSpPr>
          <p:cNvPr id="121" name="node34"/>
          <p:cNvGrpSpPr/>
          <p:nvPr/>
        </p:nvGrpSpPr>
        <p:grpSpPr>
          <a:xfrm>
            <a:off x="9502140" y="2514600"/>
            <a:ext cx="1965960" cy="2743200"/>
            <a:chOff x="9502140" y="2514600"/>
            <a:chExt cx="1965960" cy="2743200"/>
          </a:xfrm>
        </p:grpSpPr>
        <p:sp>
          <p:nvSpPr>
            <p:cNvPr id="73" name="node34.container"/>
            <p:cNvSpPr/>
            <p:nvPr/>
          </p:nvSpPr>
          <p:spPr>
            <a:xfrm>
              <a:off x="9502140" y="2514600"/>
              <a:ext cx="1965960" cy="2743200"/>
            </a:xfrm>
            <a:prstGeom prst="rect">
              <a:avLst/>
            </a:prstGeom>
            <a:solidFill>
              <a:srgbClr val="E8EEF8"/>
            </a:solidFill>
            <a:ln>
              <a:noFill/>
            </a:ln>
          </p:spPr>
        </p:sp>
      </p:grpSp>
      <p:grpSp>
        <p:nvGrpSpPr>
          <p:cNvPr id="122" name="node35"/>
          <p:cNvGrpSpPr/>
          <p:nvPr/>
        </p:nvGrpSpPr>
        <p:grpSpPr>
          <a:xfrm>
            <a:off x="9654540" y="2667000"/>
            <a:ext cx="1661160" cy="139700"/>
            <a:chOff x="9654540" y="2667000"/>
            <a:chExt cx="1661160" cy="139700"/>
          </a:xfrm>
        </p:grpSpPr>
        <p:sp>
          <p:nvSpPr>
            <p:cNvPr id="74" name="node35.text"/>
            <p:cNvSpPr/>
            <p:nvPr/>
          </p:nvSpPr>
          <p:spPr>
            <a:xfrm>
              <a:off x="9654540" y="26670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PROCESS ELEMENTS</a:t>
              </a:r>
              <a:endParaRPr lang="en-US" sz="800" spc="48" kern="0" b="0" i="0" dirty="0">
                <a:solidFill>
                  <a:srgbClr val="50658E"/>
                </a:solidFill>
                <a:latin typeface="IBM Plex Mono Medium"/>
                <a:ea typeface="IBM Plex Mono Medium"/>
                <a:cs typeface="IBM Plex Mono Medium"/>
              </a:endParaRPr>
            </a:p>
          </p:txBody>
        </p:sp>
      </p:grpSp>
      <p:grpSp>
        <p:nvGrpSpPr>
          <p:cNvPr id="123" name="node36"/>
          <p:cNvGrpSpPr/>
          <p:nvPr/>
        </p:nvGrpSpPr>
        <p:grpSpPr>
          <a:xfrm>
            <a:off x="9654540" y="2895600"/>
            <a:ext cx="1661160" cy="977900"/>
            <a:chOff x="9654540" y="2895600"/>
            <a:chExt cx="1661160" cy="977900"/>
          </a:xfrm>
        </p:grpSpPr>
        <p:sp>
          <p:nvSpPr>
            <p:cNvPr id="75" name="node36.source-001.bullet"/>
            <p:cNvSpPr/>
            <p:nvPr/>
          </p:nvSpPr>
          <p:spPr>
            <a:xfrm>
              <a:off x="9654540" y="2984500"/>
              <a:ext cx="38100" cy="38100"/>
            </a:xfrm>
            <a:prstGeom prst="rect">
              <a:avLst/>
            </a:prstGeom>
            <a:solidFill>
              <a:srgbClr val="070154"/>
            </a:solidFill>
            <a:ln>
              <a:noFill/>
            </a:ln>
          </p:spPr>
        </p:sp>
        <p:sp>
          <p:nvSpPr>
            <p:cNvPr id="76" name="node36.source-001.text"/>
            <p:cNvSpPr/>
            <p:nvPr/>
          </p:nvSpPr>
          <p:spPr>
            <a:xfrm>
              <a:off x="9806940" y="2895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Cash positioning</a:t>
              </a:r>
              <a:endParaRPr lang="en-US" sz="1200" spc="0" kern="0" b="0" i="0" dirty="0">
                <a:solidFill>
                  <a:srgbClr val="070154"/>
                </a:solidFill>
                <a:latin typeface="IBM Plex Sans"/>
                <a:ea typeface="IBM Plex Sans"/>
                <a:cs typeface="IBM Plex Sans"/>
              </a:endParaRPr>
            </a:p>
          </p:txBody>
        </p:sp>
        <p:sp>
          <p:nvSpPr>
            <p:cNvPr id="77" name="node36.source-002.bullet"/>
            <p:cNvSpPr/>
            <p:nvPr/>
          </p:nvSpPr>
          <p:spPr>
            <a:xfrm>
              <a:off x="9654540" y="3238500"/>
              <a:ext cx="38100" cy="38100"/>
            </a:xfrm>
            <a:prstGeom prst="rect">
              <a:avLst/>
            </a:prstGeom>
            <a:solidFill>
              <a:srgbClr val="070154"/>
            </a:solidFill>
            <a:ln>
              <a:noFill/>
            </a:ln>
          </p:spPr>
        </p:sp>
        <p:sp>
          <p:nvSpPr>
            <p:cNvPr id="78" name="node36.source-002.text"/>
            <p:cNvSpPr/>
            <p:nvPr/>
          </p:nvSpPr>
          <p:spPr>
            <a:xfrm>
              <a:off x="9806940" y="3149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Debt and investment</a:t>
              </a:r>
              <a:endParaRPr lang="en-US" sz="1200" spc="0" kern="0" b="0" i="0" dirty="0">
                <a:solidFill>
                  <a:srgbClr val="070154"/>
                </a:solidFill>
                <a:latin typeface="IBM Plex Sans"/>
                <a:ea typeface="IBM Plex Sans"/>
                <a:cs typeface="IBM Plex Sans"/>
              </a:endParaRPr>
            </a:p>
          </p:txBody>
        </p:sp>
        <p:sp>
          <p:nvSpPr>
            <p:cNvPr id="79" name="node36.source-003.bullet"/>
            <p:cNvSpPr/>
            <p:nvPr/>
          </p:nvSpPr>
          <p:spPr>
            <a:xfrm>
              <a:off x="9654540" y="3492500"/>
              <a:ext cx="38100" cy="38100"/>
            </a:xfrm>
            <a:prstGeom prst="rect">
              <a:avLst/>
            </a:prstGeom>
            <a:solidFill>
              <a:srgbClr val="070154"/>
            </a:solidFill>
            <a:ln>
              <a:noFill/>
            </a:ln>
          </p:spPr>
        </p:sp>
        <p:sp>
          <p:nvSpPr>
            <p:cNvPr id="80" name="node36.source-003.text"/>
            <p:cNvSpPr/>
            <p:nvPr/>
          </p:nvSpPr>
          <p:spPr>
            <a:xfrm>
              <a:off x="9806940" y="3403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Tax provision</a:t>
              </a:r>
              <a:endParaRPr lang="en-US" sz="1200" spc="0" kern="0" b="0" i="0" dirty="0">
                <a:solidFill>
                  <a:srgbClr val="070154"/>
                </a:solidFill>
                <a:latin typeface="IBM Plex Sans"/>
                <a:ea typeface="IBM Plex Sans"/>
                <a:cs typeface="IBM Plex Sans"/>
              </a:endParaRPr>
            </a:p>
          </p:txBody>
        </p:sp>
        <p:sp>
          <p:nvSpPr>
            <p:cNvPr id="81" name="node36.source-004.bullet"/>
            <p:cNvSpPr/>
            <p:nvPr/>
          </p:nvSpPr>
          <p:spPr>
            <a:xfrm>
              <a:off x="9654540" y="3746500"/>
              <a:ext cx="38100" cy="38100"/>
            </a:xfrm>
            <a:prstGeom prst="rect">
              <a:avLst/>
            </a:prstGeom>
            <a:solidFill>
              <a:srgbClr val="070154"/>
            </a:solidFill>
            <a:ln>
              <a:noFill/>
            </a:ln>
          </p:spPr>
        </p:sp>
        <p:sp>
          <p:nvSpPr>
            <p:cNvPr id="82" name="node36.source-004.text"/>
            <p:cNvSpPr/>
            <p:nvPr/>
          </p:nvSpPr>
          <p:spPr>
            <a:xfrm>
              <a:off x="9806940" y="36576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Tax filings</a:t>
              </a:r>
              <a:endParaRPr lang="en-US" sz="1200" spc="0" kern="0" b="0" i="0" dirty="0">
                <a:solidFill>
                  <a:srgbClr val="070154"/>
                </a:solidFill>
                <a:latin typeface="IBM Plex Sans"/>
                <a:ea typeface="IBM Plex Sans"/>
                <a:cs typeface="IBM Plex Sans"/>
              </a:endParaRPr>
            </a:p>
          </p:txBody>
        </p:sp>
      </p:grpSp>
      <p:grpSp>
        <p:nvGrpSpPr>
          <p:cNvPr id="124" name="node37"/>
          <p:cNvGrpSpPr/>
          <p:nvPr/>
        </p:nvGrpSpPr>
        <p:grpSpPr>
          <a:xfrm>
            <a:off x="9654540" y="4038600"/>
            <a:ext cx="1661160" cy="139700"/>
            <a:chOff x="9654540" y="4038600"/>
            <a:chExt cx="1661160" cy="139700"/>
          </a:xfrm>
        </p:grpSpPr>
        <p:sp>
          <p:nvSpPr>
            <p:cNvPr id="83" name="node37.text"/>
            <p:cNvSpPr/>
            <p:nvPr/>
          </p:nvSpPr>
          <p:spPr>
            <a:xfrm>
              <a:off x="9654540" y="40386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OWNER</a:t>
              </a:r>
              <a:endParaRPr lang="en-US" sz="800" spc="48" kern="0" b="0" i="0" dirty="0">
                <a:solidFill>
                  <a:srgbClr val="50658E"/>
                </a:solidFill>
                <a:latin typeface="IBM Plex Mono Medium"/>
                <a:ea typeface="IBM Plex Mono Medium"/>
                <a:cs typeface="IBM Plex Mono Medium"/>
              </a:endParaRPr>
            </a:p>
          </p:txBody>
        </p:sp>
      </p:grpSp>
      <p:grpSp>
        <p:nvGrpSpPr>
          <p:cNvPr id="125" name="node38"/>
          <p:cNvGrpSpPr/>
          <p:nvPr/>
        </p:nvGrpSpPr>
        <p:grpSpPr>
          <a:xfrm>
            <a:off x="9654540" y="4267200"/>
            <a:ext cx="1661160" cy="190500"/>
            <a:chOff x="9654540" y="4267200"/>
            <a:chExt cx="1661160" cy="190500"/>
          </a:xfrm>
        </p:grpSpPr>
        <p:sp>
          <p:nvSpPr>
            <p:cNvPr id="84" name="node38.text"/>
            <p:cNvSpPr/>
            <p:nvPr/>
          </p:nvSpPr>
          <p:spPr>
            <a:xfrm>
              <a:off x="9654540" y="42672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Treasurer</a:t>
              </a:r>
              <a:endParaRPr lang="en-US" sz="1100" spc="0" kern="0" b="0" i="0" dirty="0">
                <a:solidFill>
                  <a:srgbClr val="070154"/>
                </a:solidFill>
                <a:latin typeface="IBM Plex Sans"/>
                <a:ea typeface="IBM Plex Sans"/>
                <a:cs typeface="IBM Plex Sans"/>
              </a:endParaRPr>
            </a:p>
          </p:txBody>
        </p:sp>
      </p:grpSp>
      <p:grpSp>
        <p:nvGrpSpPr>
          <p:cNvPr id="126" name="node39"/>
          <p:cNvGrpSpPr/>
          <p:nvPr/>
        </p:nvGrpSpPr>
        <p:grpSpPr>
          <a:xfrm>
            <a:off x="9654540" y="4648200"/>
            <a:ext cx="1661160" cy="139700"/>
            <a:chOff x="9654540" y="4648200"/>
            <a:chExt cx="1661160" cy="139700"/>
          </a:xfrm>
        </p:grpSpPr>
        <p:sp>
          <p:nvSpPr>
            <p:cNvPr id="85" name="node39.text"/>
            <p:cNvSpPr/>
            <p:nvPr/>
          </p:nvSpPr>
          <p:spPr>
            <a:xfrm>
              <a:off x="9654540" y="46482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SYSTEMS</a:t>
              </a:r>
              <a:endParaRPr lang="en-US" sz="800" spc="48" kern="0" b="0" i="0" dirty="0">
                <a:solidFill>
                  <a:srgbClr val="50658E"/>
                </a:solidFill>
                <a:latin typeface="IBM Plex Mono Medium"/>
                <a:ea typeface="IBM Plex Mono Medium"/>
                <a:cs typeface="IBM Plex Mono Medium"/>
              </a:endParaRPr>
            </a:p>
          </p:txBody>
        </p:sp>
      </p:grpSp>
      <p:grpSp>
        <p:nvGrpSpPr>
          <p:cNvPr id="127" name="node40"/>
          <p:cNvGrpSpPr/>
          <p:nvPr/>
        </p:nvGrpSpPr>
        <p:grpSpPr>
          <a:xfrm>
            <a:off x="9654540" y="4876800"/>
            <a:ext cx="1661160" cy="190500"/>
            <a:chOff x="9654540" y="4876800"/>
            <a:chExt cx="1661160" cy="190500"/>
          </a:xfrm>
        </p:grpSpPr>
        <p:sp>
          <p:nvSpPr>
            <p:cNvPr id="86" name="node40.text"/>
            <p:cNvSpPr/>
            <p:nvPr/>
          </p:nvSpPr>
          <p:spPr>
            <a:xfrm>
              <a:off x="9654540" y="48768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Treasury workstation</a:t>
              </a:r>
              <a:endParaRPr lang="en-US" sz="1100" spc="0" kern="0" b="0" i="0" dirty="0">
                <a:solidFill>
                  <a:srgbClr val="070154"/>
                </a:solidFill>
                <a:latin typeface="IBM Plex Sans"/>
                <a:ea typeface="IBM Plex Sans"/>
                <a:cs typeface="IBM Plex Sans"/>
              </a:endParaRPr>
            </a:p>
          </p:txBody>
        </p:sp>
      </p:grpSp>
      <p:grpSp>
        <p:nvGrpSpPr>
          <p:cNvPr id="128" name="node41"/>
          <p:cNvGrpSpPr/>
          <p:nvPr/>
        </p:nvGrpSpPr>
        <p:grpSpPr>
          <a:xfrm>
            <a:off x="723900" y="5410200"/>
            <a:ext cx="10744200" cy="190500"/>
            <a:chOff x="723900" y="5410200"/>
            <a:chExt cx="10744200" cy="190500"/>
          </a:xfrm>
        </p:grpSpPr>
        <p:sp>
          <p:nvSpPr>
            <p:cNvPr id="87" name="node41.text"/>
            <p:cNvSpPr/>
            <p:nvPr/>
          </p:nvSpPr>
          <p:spPr>
            <a:xfrm>
              <a:off x="723900" y="5410200"/>
              <a:ext cx="1074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Dark chevrons are in scope for wave one. Enablers: shared services, finance IT and master data.</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ource-39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PROCESS SCOPE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SIPOC fixes the scope of invoice to pay before we map it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scoping workshop,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95</a:t>
            </a:fld>
            <a:endParaRPr lang="en-US" sz="700" spc="0" kern="0" b="0" i="0" dirty="0">
              <a:solidFill>
                <a:srgbClr val="070154"/>
              </a:solidFill>
              <a:latin typeface="IBM Plex Mono SemiBold"/>
              <a:ea typeface="IBM Plex Mono SemiBold"/>
              <a:cs typeface="IBM Plex Mono SemiBold"/>
            </a:endParaRPr>
          </a:p>
        </p:txBody>
      </p:sp>
      <p:grpSp>
        <p:nvGrpSpPr>
          <p:cNvPr id="73" name="node01"/>
          <p:cNvGrpSpPr/>
          <p:nvPr/>
        </p:nvGrpSpPr>
        <p:grpSpPr>
          <a:xfrm>
            <a:off x="723900" y="1600200"/>
            <a:ext cx="1965960" cy="457200"/>
            <a:chOff x="723900" y="1600200"/>
            <a:chExt cx="1965960" cy="457200"/>
          </a:xfrm>
        </p:grpSpPr>
        <p:sp>
          <p:nvSpPr>
            <p:cNvPr id="7" name="node01.surface"/>
            <p:cNvSpPr/>
            <p:nvPr/>
          </p:nvSpPr>
          <p:spPr>
            <a:xfrm>
              <a:off x="723900" y="1600200"/>
              <a:ext cx="1965960" cy="457200"/>
            </a:xfrm>
            <a:prstGeom prst="rect">
              <a:avLst/>
            </a:prstGeom>
            <a:solidFill>
              <a:srgbClr val="CED7E6"/>
            </a:solidFill>
            <a:ln>
              <a:noFill/>
            </a:ln>
          </p:spPr>
        </p:sp>
        <p:sp>
          <p:nvSpPr>
            <p:cNvPr id="8" name="node01.text"/>
            <p:cNvSpPr/>
            <p:nvPr/>
          </p:nvSpPr>
          <p:spPr>
            <a:xfrm>
              <a:off x="876300" y="1720850"/>
              <a:ext cx="166116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a:ea typeface="IBM Plex Sans"/>
                  <a:cs typeface="IBM Plex Sans"/>
                </a:rPr>
                <a:t>Suppliers</a:t>
              </a:r>
              <a:endParaRPr lang="en-US" sz="1200" spc="0" kern="0" b="0" i="0" dirty="0">
                <a:solidFill>
                  <a:srgbClr val="070154"/>
                </a:solidFill>
                <a:latin typeface="IBM Plex Sans"/>
                <a:ea typeface="IBM Plex Sans"/>
                <a:cs typeface="IBM Plex Sans"/>
              </a:endParaRPr>
            </a:p>
          </p:txBody>
        </p:sp>
      </p:grpSp>
      <p:grpSp>
        <p:nvGrpSpPr>
          <p:cNvPr id="74" name="node02"/>
          <p:cNvGrpSpPr/>
          <p:nvPr/>
        </p:nvGrpSpPr>
        <p:grpSpPr>
          <a:xfrm>
            <a:off x="723900" y="2286000"/>
            <a:ext cx="1965960" cy="2057400"/>
            <a:chOff x="723900" y="2286000"/>
            <a:chExt cx="1965960" cy="2057400"/>
          </a:xfrm>
        </p:grpSpPr>
        <p:sp>
          <p:nvSpPr>
            <p:cNvPr id="9" name="node02.container"/>
            <p:cNvSpPr/>
            <p:nvPr/>
          </p:nvSpPr>
          <p:spPr>
            <a:xfrm>
              <a:off x="723900" y="2286000"/>
              <a:ext cx="1965960" cy="2057400"/>
            </a:xfrm>
            <a:prstGeom prst="rect">
              <a:avLst/>
            </a:prstGeom>
            <a:solidFill>
              <a:srgbClr val="E8EEF8"/>
            </a:solidFill>
            <a:ln>
              <a:noFill/>
            </a:ln>
          </p:spPr>
        </p:sp>
        <p:sp>
          <p:nvSpPr>
            <p:cNvPr id="10" name="node02.body.item-001.bullets.item-001.marker"/>
            <p:cNvSpPr/>
            <p:nvPr/>
          </p:nvSpPr>
          <p:spPr>
            <a:xfrm>
              <a:off x="876300" y="2527300"/>
              <a:ext cx="38100" cy="38100"/>
            </a:xfrm>
            <a:prstGeom prst="rect">
              <a:avLst/>
            </a:prstGeom>
            <a:solidFill>
              <a:srgbClr val="070154"/>
            </a:solidFill>
            <a:ln>
              <a:noFill/>
            </a:ln>
          </p:spPr>
        </p:sp>
        <p:sp>
          <p:nvSpPr>
            <p:cNvPr id="11" name="node02.body.item-001.bullets.item-001.text"/>
            <p:cNvSpPr/>
            <p:nvPr/>
          </p:nvSpPr>
          <p:spPr>
            <a:xfrm>
              <a:off x="1028700" y="2438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Vendors</a:t>
              </a:r>
              <a:endParaRPr lang="en-US" sz="1200" spc="0" kern="0" b="0" i="0" dirty="0">
                <a:solidFill>
                  <a:srgbClr val="070154"/>
                </a:solidFill>
                <a:latin typeface="IBM Plex Sans"/>
                <a:ea typeface="IBM Plex Sans"/>
                <a:cs typeface="IBM Plex Sans"/>
              </a:endParaRPr>
            </a:p>
          </p:txBody>
        </p:sp>
        <p:sp>
          <p:nvSpPr>
            <p:cNvPr id="12" name="node02.body.item-001.bullets.item-002.marker"/>
            <p:cNvSpPr/>
            <p:nvPr/>
          </p:nvSpPr>
          <p:spPr>
            <a:xfrm>
              <a:off x="876300" y="2781300"/>
              <a:ext cx="38100" cy="38100"/>
            </a:xfrm>
            <a:prstGeom prst="rect">
              <a:avLst/>
            </a:prstGeom>
            <a:solidFill>
              <a:srgbClr val="070154"/>
            </a:solidFill>
            <a:ln>
              <a:noFill/>
            </a:ln>
          </p:spPr>
        </p:sp>
        <p:sp>
          <p:nvSpPr>
            <p:cNvPr id="13" name="node02.body.item-001.bullets.item-002.text"/>
            <p:cNvSpPr/>
            <p:nvPr/>
          </p:nvSpPr>
          <p:spPr>
            <a:xfrm>
              <a:off x="1028700" y="2692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Procurement team</a:t>
              </a:r>
              <a:endParaRPr lang="en-US" sz="1200" spc="0" kern="0" b="0" i="0" dirty="0">
                <a:solidFill>
                  <a:srgbClr val="070154"/>
                </a:solidFill>
                <a:latin typeface="IBM Plex Sans"/>
                <a:ea typeface="IBM Plex Sans"/>
                <a:cs typeface="IBM Plex Sans"/>
              </a:endParaRPr>
            </a:p>
          </p:txBody>
        </p:sp>
        <p:sp>
          <p:nvSpPr>
            <p:cNvPr id="14" name="node02.body.item-001.bullets.item-003.marker"/>
            <p:cNvSpPr/>
            <p:nvPr/>
          </p:nvSpPr>
          <p:spPr>
            <a:xfrm>
              <a:off x="876300" y="3035300"/>
              <a:ext cx="38100" cy="38100"/>
            </a:xfrm>
            <a:prstGeom prst="rect">
              <a:avLst/>
            </a:prstGeom>
            <a:solidFill>
              <a:srgbClr val="070154"/>
            </a:solidFill>
            <a:ln>
              <a:noFill/>
            </a:ln>
          </p:spPr>
        </p:sp>
        <p:sp>
          <p:nvSpPr>
            <p:cNvPr id="15" name="node02.body.item-001.bullets.item-003.text"/>
            <p:cNvSpPr/>
            <p:nvPr/>
          </p:nvSpPr>
          <p:spPr>
            <a:xfrm>
              <a:off x="1028700" y="2946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Receiving dock</a:t>
              </a:r>
              <a:endParaRPr lang="en-US" sz="1200" spc="0" kern="0" b="0" i="0" dirty="0">
                <a:solidFill>
                  <a:srgbClr val="070154"/>
                </a:solidFill>
                <a:latin typeface="IBM Plex Sans"/>
                <a:ea typeface="IBM Plex Sans"/>
                <a:cs typeface="IBM Plex Sans"/>
              </a:endParaRPr>
            </a:p>
          </p:txBody>
        </p:sp>
        <p:sp>
          <p:nvSpPr>
            <p:cNvPr id="16" name="node02.body.item-001.bullets.item-004.marker"/>
            <p:cNvSpPr/>
            <p:nvPr/>
          </p:nvSpPr>
          <p:spPr>
            <a:xfrm>
              <a:off x="876300" y="3289300"/>
              <a:ext cx="38100" cy="38100"/>
            </a:xfrm>
            <a:prstGeom prst="rect">
              <a:avLst/>
            </a:prstGeom>
            <a:solidFill>
              <a:srgbClr val="070154"/>
            </a:solidFill>
            <a:ln>
              <a:noFill/>
            </a:ln>
          </p:spPr>
        </p:sp>
        <p:sp>
          <p:nvSpPr>
            <p:cNvPr id="17" name="node02.body.item-001.bullets.item-004.text"/>
            <p:cNvSpPr/>
            <p:nvPr/>
          </p:nvSpPr>
          <p:spPr>
            <a:xfrm>
              <a:off x="1028700" y="3200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ERP master data</a:t>
              </a:r>
              <a:endParaRPr lang="en-US" sz="1200" spc="0" kern="0" b="0" i="0" dirty="0">
                <a:solidFill>
                  <a:srgbClr val="070154"/>
                </a:solidFill>
                <a:latin typeface="IBM Plex Sans"/>
                <a:ea typeface="IBM Plex Sans"/>
                <a:cs typeface="IBM Plex Sans"/>
              </a:endParaRPr>
            </a:p>
          </p:txBody>
        </p:sp>
      </p:grpSp>
      <p:grpSp>
        <p:nvGrpSpPr>
          <p:cNvPr id="75" name="node03"/>
          <p:cNvGrpSpPr/>
          <p:nvPr/>
        </p:nvGrpSpPr>
        <p:grpSpPr>
          <a:xfrm>
            <a:off x="2918460" y="1600200"/>
            <a:ext cx="1965960" cy="457200"/>
            <a:chOff x="2918460" y="1600200"/>
            <a:chExt cx="1965960" cy="457200"/>
          </a:xfrm>
        </p:grpSpPr>
        <p:sp>
          <p:nvSpPr>
            <p:cNvPr id="18" name="node03.surface"/>
            <p:cNvSpPr/>
            <p:nvPr/>
          </p:nvSpPr>
          <p:spPr>
            <a:xfrm>
              <a:off x="2918460" y="1600200"/>
              <a:ext cx="1965960" cy="457200"/>
            </a:xfrm>
            <a:prstGeom prst="rect">
              <a:avLst/>
            </a:prstGeom>
            <a:solidFill>
              <a:srgbClr val="CED7E6"/>
            </a:solidFill>
            <a:ln>
              <a:noFill/>
            </a:ln>
          </p:spPr>
        </p:sp>
        <p:sp>
          <p:nvSpPr>
            <p:cNvPr id="19" name="node03.text"/>
            <p:cNvSpPr/>
            <p:nvPr/>
          </p:nvSpPr>
          <p:spPr>
            <a:xfrm>
              <a:off x="3070860" y="1720850"/>
              <a:ext cx="166116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a:ea typeface="IBM Plex Sans"/>
                  <a:cs typeface="IBM Plex Sans"/>
                </a:rPr>
                <a:t>Inputs</a:t>
              </a:r>
              <a:endParaRPr lang="en-US" sz="1200" spc="0" kern="0" b="0" i="0" dirty="0">
                <a:solidFill>
                  <a:srgbClr val="070154"/>
                </a:solidFill>
                <a:latin typeface="IBM Plex Sans"/>
                <a:ea typeface="IBM Plex Sans"/>
                <a:cs typeface="IBM Plex Sans"/>
              </a:endParaRPr>
            </a:p>
          </p:txBody>
        </p:sp>
      </p:grpSp>
      <p:grpSp>
        <p:nvGrpSpPr>
          <p:cNvPr id="76" name="node04"/>
          <p:cNvGrpSpPr/>
          <p:nvPr/>
        </p:nvGrpSpPr>
        <p:grpSpPr>
          <a:xfrm>
            <a:off x="2918460" y="2286000"/>
            <a:ext cx="1965960" cy="2057400"/>
            <a:chOff x="2918460" y="2286000"/>
            <a:chExt cx="1965960" cy="2057400"/>
          </a:xfrm>
        </p:grpSpPr>
        <p:sp>
          <p:nvSpPr>
            <p:cNvPr id="20" name="node04.container"/>
            <p:cNvSpPr/>
            <p:nvPr/>
          </p:nvSpPr>
          <p:spPr>
            <a:xfrm>
              <a:off x="2918460" y="2286000"/>
              <a:ext cx="1965960" cy="2057400"/>
            </a:xfrm>
            <a:prstGeom prst="rect">
              <a:avLst/>
            </a:prstGeom>
            <a:solidFill>
              <a:srgbClr val="E8EEF8"/>
            </a:solidFill>
            <a:ln>
              <a:noFill/>
            </a:ln>
          </p:spPr>
        </p:sp>
        <p:sp>
          <p:nvSpPr>
            <p:cNvPr id="21" name="node04.body.item-001.bullets.item-001.marker"/>
            <p:cNvSpPr/>
            <p:nvPr/>
          </p:nvSpPr>
          <p:spPr>
            <a:xfrm>
              <a:off x="3070860" y="2527300"/>
              <a:ext cx="38100" cy="38100"/>
            </a:xfrm>
            <a:prstGeom prst="rect">
              <a:avLst/>
            </a:prstGeom>
            <a:solidFill>
              <a:srgbClr val="070154"/>
            </a:solidFill>
            <a:ln>
              <a:noFill/>
            </a:ln>
          </p:spPr>
        </p:sp>
        <p:sp>
          <p:nvSpPr>
            <p:cNvPr id="22" name="node04.body.item-001.bullets.item-001.text"/>
            <p:cNvSpPr/>
            <p:nvPr/>
          </p:nvSpPr>
          <p:spPr>
            <a:xfrm>
              <a:off x="3223260" y="2438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Vendor invoices</a:t>
              </a:r>
              <a:endParaRPr lang="en-US" sz="1200" spc="0" kern="0" b="0" i="0" dirty="0">
                <a:solidFill>
                  <a:srgbClr val="070154"/>
                </a:solidFill>
                <a:latin typeface="IBM Plex Sans"/>
                <a:ea typeface="IBM Plex Sans"/>
                <a:cs typeface="IBM Plex Sans"/>
              </a:endParaRPr>
            </a:p>
          </p:txBody>
        </p:sp>
        <p:sp>
          <p:nvSpPr>
            <p:cNvPr id="23" name="node04.body.item-001.bullets.item-002.marker"/>
            <p:cNvSpPr/>
            <p:nvPr/>
          </p:nvSpPr>
          <p:spPr>
            <a:xfrm>
              <a:off x="3070860" y="2781300"/>
              <a:ext cx="38100" cy="38100"/>
            </a:xfrm>
            <a:prstGeom prst="rect">
              <a:avLst/>
            </a:prstGeom>
            <a:solidFill>
              <a:srgbClr val="070154"/>
            </a:solidFill>
            <a:ln>
              <a:noFill/>
            </a:ln>
          </p:spPr>
        </p:sp>
        <p:sp>
          <p:nvSpPr>
            <p:cNvPr id="24" name="node04.body.item-001.bullets.item-002.text"/>
            <p:cNvSpPr/>
            <p:nvPr/>
          </p:nvSpPr>
          <p:spPr>
            <a:xfrm>
              <a:off x="3223260" y="2692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Purchase orders</a:t>
              </a:r>
              <a:endParaRPr lang="en-US" sz="1200" spc="0" kern="0" b="0" i="0" dirty="0">
                <a:solidFill>
                  <a:srgbClr val="070154"/>
                </a:solidFill>
                <a:latin typeface="IBM Plex Sans"/>
                <a:ea typeface="IBM Plex Sans"/>
                <a:cs typeface="IBM Plex Sans"/>
              </a:endParaRPr>
            </a:p>
          </p:txBody>
        </p:sp>
        <p:sp>
          <p:nvSpPr>
            <p:cNvPr id="25" name="node04.body.item-001.bullets.item-003.marker"/>
            <p:cNvSpPr/>
            <p:nvPr/>
          </p:nvSpPr>
          <p:spPr>
            <a:xfrm>
              <a:off x="3070860" y="3035300"/>
              <a:ext cx="38100" cy="38100"/>
            </a:xfrm>
            <a:prstGeom prst="rect">
              <a:avLst/>
            </a:prstGeom>
            <a:solidFill>
              <a:srgbClr val="070154"/>
            </a:solidFill>
            <a:ln>
              <a:noFill/>
            </a:ln>
          </p:spPr>
        </p:sp>
        <p:sp>
          <p:nvSpPr>
            <p:cNvPr id="26" name="node04.body.item-001.bullets.item-003.text"/>
            <p:cNvSpPr/>
            <p:nvPr/>
          </p:nvSpPr>
          <p:spPr>
            <a:xfrm>
              <a:off x="3223260" y="2946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Goods receipts</a:t>
              </a:r>
              <a:endParaRPr lang="en-US" sz="1200" spc="0" kern="0" b="0" i="0" dirty="0">
                <a:solidFill>
                  <a:srgbClr val="070154"/>
                </a:solidFill>
                <a:latin typeface="IBM Plex Sans"/>
                <a:ea typeface="IBM Plex Sans"/>
                <a:cs typeface="IBM Plex Sans"/>
              </a:endParaRPr>
            </a:p>
          </p:txBody>
        </p:sp>
        <p:sp>
          <p:nvSpPr>
            <p:cNvPr id="27" name="node04.body.item-001.bullets.item-004.marker"/>
            <p:cNvSpPr/>
            <p:nvPr/>
          </p:nvSpPr>
          <p:spPr>
            <a:xfrm>
              <a:off x="3070860" y="3289300"/>
              <a:ext cx="38100" cy="38100"/>
            </a:xfrm>
            <a:prstGeom prst="rect">
              <a:avLst/>
            </a:prstGeom>
            <a:solidFill>
              <a:srgbClr val="070154"/>
            </a:solidFill>
            <a:ln>
              <a:noFill/>
            </a:ln>
          </p:spPr>
        </p:sp>
        <p:sp>
          <p:nvSpPr>
            <p:cNvPr id="28" name="node04.body.item-001.bullets.item-004.text"/>
            <p:cNvSpPr/>
            <p:nvPr/>
          </p:nvSpPr>
          <p:spPr>
            <a:xfrm>
              <a:off x="3223260" y="3200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Payment terms</a:t>
              </a:r>
              <a:endParaRPr lang="en-US" sz="1200" spc="0" kern="0" b="0" i="0" dirty="0">
                <a:solidFill>
                  <a:srgbClr val="070154"/>
                </a:solidFill>
                <a:latin typeface="IBM Plex Sans"/>
                <a:ea typeface="IBM Plex Sans"/>
                <a:cs typeface="IBM Plex Sans"/>
              </a:endParaRPr>
            </a:p>
          </p:txBody>
        </p:sp>
      </p:grpSp>
      <p:grpSp>
        <p:nvGrpSpPr>
          <p:cNvPr id="77" name="node05"/>
          <p:cNvGrpSpPr/>
          <p:nvPr/>
        </p:nvGrpSpPr>
        <p:grpSpPr>
          <a:xfrm>
            <a:off x="5113020" y="1600200"/>
            <a:ext cx="1965960" cy="457200"/>
            <a:chOff x="5113020" y="1600200"/>
            <a:chExt cx="1965960" cy="457200"/>
          </a:xfrm>
        </p:grpSpPr>
        <p:sp>
          <p:nvSpPr>
            <p:cNvPr id="29" name="node05.surface"/>
            <p:cNvSpPr/>
            <p:nvPr/>
          </p:nvSpPr>
          <p:spPr>
            <a:xfrm>
              <a:off x="5113020" y="1600200"/>
              <a:ext cx="1965960" cy="457200"/>
            </a:xfrm>
            <a:prstGeom prst="rect">
              <a:avLst/>
            </a:prstGeom>
            <a:solidFill>
              <a:srgbClr val="070154"/>
            </a:solidFill>
            <a:ln>
              <a:noFill/>
            </a:ln>
          </p:spPr>
        </p:sp>
        <p:sp>
          <p:nvSpPr>
            <p:cNvPr id="30" name="node05.text"/>
            <p:cNvSpPr/>
            <p:nvPr/>
          </p:nvSpPr>
          <p:spPr>
            <a:xfrm>
              <a:off x="5265420" y="1720850"/>
              <a:ext cx="166116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Process</a:t>
              </a:r>
              <a:endParaRPr lang="en-US" sz="1200" spc="0" kern="0" b="0" i="0" dirty="0">
                <a:solidFill>
                  <a:srgbClr val="FFFFFF"/>
                </a:solidFill>
                <a:latin typeface="IBM Plex Sans"/>
                <a:ea typeface="IBM Plex Sans"/>
                <a:cs typeface="IBM Plex Sans"/>
              </a:endParaRPr>
            </a:p>
          </p:txBody>
        </p:sp>
      </p:grpSp>
      <p:grpSp>
        <p:nvGrpSpPr>
          <p:cNvPr id="78" name="node06"/>
          <p:cNvGrpSpPr/>
          <p:nvPr/>
        </p:nvGrpSpPr>
        <p:grpSpPr>
          <a:xfrm>
            <a:off x="5113020" y="2286000"/>
            <a:ext cx="1965960" cy="2057400"/>
            <a:chOff x="5113020" y="2286000"/>
            <a:chExt cx="1965960" cy="2057400"/>
          </a:xfrm>
        </p:grpSpPr>
        <p:sp>
          <p:nvSpPr>
            <p:cNvPr id="31" name="node06.container"/>
            <p:cNvSpPr/>
            <p:nvPr/>
          </p:nvSpPr>
          <p:spPr>
            <a:xfrm>
              <a:off x="5113020" y="2286000"/>
              <a:ext cx="1965960" cy="2057400"/>
            </a:xfrm>
            <a:prstGeom prst="rect">
              <a:avLst/>
            </a:prstGeom>
            <a:solidFill>
              <a:srgbClr val="CED7E6"/>
            </a:solidFill>
            <a:ln>
              <a:noFill/>
            </a:ln>
          </p:spPr>
        </p:sp>
        <p:sp>
          <p:nvSpPr>
            <p:cNvPr id="32" name="node06.body.item-001.bullets.item-001.marker"/>
            <p:cNvSpPr/>
            <p:nvPr/>
          </p:nvSpPr>
          <p:spPr>
            <a:xfrm>
              <a:off x="5265420" y="2527300"/>
              <a:ext cx="38100" cy="38100"/>
            </a:xfrm>
            <a:prstGeom prst="rect">
              <a:avLst/>
            </a:prstGeom>
            <a:solidFill>
              <a:srgbClr val="070154"/>
            </a:solidFill>
            <a:ln>
              <a:noFill/>
            </a:ln>
          </p:spPr>
        </p:sp>
        <p:sp>
          <p:nvSpPr>
            <p:cNvPr id="33" name="node06.body.item-001.bullets.item-001.text"/>
            <p:cNvSpPr/>
            <p:nvPr/>
          </p:nvSpPr>
          <p:spPr>
            <a:xfrm>
              <a:off x="5417820" y="2438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Receive invoice</a:t>
              </a:r>
              <a:endParaRPr lang="en-US" sz="1200" spc="0" kern="0" b="0" i="0" dirty="0">
                <a:solidFill>
                  <a:srgbClr val="070154"/>
                </a:solidFill>
                <a:latin typeface="IBM Plex Sans"/>
                <a:ea typeface="IBM Plex Sans"/>
                <a:cs typeface="IBM Plex Sans"/>
              </a:endParaRPr>
            </a:p>
          </p:txBody>
        </p:sp>
        <p:sp>
          <p:nvSpPr>
            <p:cNvPr id="34" name="node06.body.item-001.bullets.item-002.marker"/>
            <p:cNvSpPr/>
            <p:nvPr/>
          </p:nvSpPr>
          <p:spPr>
            <a:xfrm>
              <a:off x="5265420" y="2781300"/>
              <a:ext cx="38100" cy="38100"/>
            </a:xfrm>
            <a:prstGeom prst="rect">
              <a:avLst/>
            </a:prstGeom>
            <a:solidFill>
              <a:srgbClr val="070154"/>
            </a:solidFill>
            <a:ln>
              <a:noFill/>
            </a:ln>
          </p:spPr>
        </p:sp>
        <p:sp>
          <p:nvSpPr>
            <p:cNvPr id="35" name="node06.body.item-001.bullets.item-002.text"/>
            <p:cNvSpPr/>
            <p:nvPr/>
          </p:nvSpPr>
          <p:spPr>
            <a:xfrm>
              <a:off x="5417820" y="2692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Match to order</a:t>
              </a:r>
              <a:endParaRPr lang="en-US" sz="1200" spc="0" kern="0" b="0" i="0" dirty="0">
                <a:solidFill>
                  <a:srgbClr val="070154"/>
                </a:solidFill>
                <a:latin typeface="IBM Plex Sans"/>
                <a:ea typeface="IBM Plex Sans"/>
                <a:cs typeface="IBM Plex Sans"/>
              </a:endParaRPr>
            </a:p>
          </p:txBody>
        </p:sp>
        <p:sp>
          <p:nvSpPr>
            <p:cNvPr id="36" name="node06.body.item-001.bullets.item-003.marker"/>
            <p:cNvSpPr/>
            <p:nvPr/>
          </p:nvSpPr>
          <p:spPr>
            <a:xfrm>
              <a:off x="5265420" y="3035300"/>
              <a:ext cx="38100" cy="38100"/>
            </a:xfrm>
            <a:prstGeom prst="rect">
              <a:avLst/>
            </a:prstGeom>
            <a:solidFill>
              <a:srgbClr val="070154"/>
            </a:solidFill>
            <a:ln>
              <a:noFill/>
            </a:ln>
          </p:spPr>
        </p:sp>
        <p:sp>
          <p:nvSpPr>
            <p:cNvPr id="37" name="node06.body.item-001.bullets.item-003.text"/>
            <p:cNvSpPr/>
            <p:nvPr/>
          </p:nvSpPr>
          <p:spPr>
            <a:xfrm>
              <a:off x="5417820" y="2946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Resolve exceptions</a:t>
              </a:r>
              <a:endParaRPr lang="en-US" sz="1200" spc="0" kern="0" b="0" i="0" dirty="0">
                <a:solidFill>
                  <a:srgbClr val="070154"/>
                </a:solidFill>
                <a:latin typeface="IBM Plex Sans"/>
                <a:ea typeface="IBM Plex Sans"/>
                <a:cs typeface="IBM Plex Sans"/>
              </a:endParaRPr>
            </a:p>
          </p:txBody>
        </p:sp>
        <p:sp>
          <p:nvSpPr>
            <p:cNvPr id="38" name="node06.body.item-001.bullets.item-004.marker"/>
            <p:cNvSpPr/>
            <p:nvPr/>
          </p:nvSpPr>
          <p:spPr>
            <a:xfrm>
              <a:off x="5265420" y="3289300"/>
              <a:ext cx="38100" cy="38100"/>
            </a:xfrm>
            <a:prstGeom prst="rect">
              <a:avLst/>
            </a:prstGeom>
            <a:solidFill>
              <a:srgbClr val="070154"/>
            </a:solidFill>
            <a:ln>
              <a:noFill/>
            </a:ln>
          </p:spPr>
        </p:sp>
        <p:sp>
          <p:nvSpPr>
            <p:cNvPr id="39" name="node06.body.item-001.bullets.item-004.text"/>
            <p:cNvSpPr/>
            <p:nvPr/>
          </p:nvSpPr>
          <p:spPr>
            <a:xfrm>
              <a:off x="5417820" y="3200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Approve</a:t>
              </a:r>
              <a:endParaRPr lang="en-US" sz="1200" spc="0" kern="0" b="0" i="0" dirty="0">
                <a:solidFill>
                  <a:srgbClr val="070154"/>
                </a:solidFill>
                <a:latin typeface="IBM Plex Sans"/>
                <a:ea typeface="IBM Plex Sans"/>
                <a:cs typeface="IBM Plex Sans"/>
              </a:endParaRPr>
            </a:p>
          </p:txBody>
        </p:sp>
        <p:sp>
          <p:nvSpPr>
            <p:cNvPr id="40" name="node06.body.item-001.bullets.item-005.marker"/>
            <p:cNvSpPr/>
            <p:nvPr/>
          </p:nvSpPr>
          <p:spPr>
            <a:xfrm>
              <a:off x="5265420" y="3543300"/>
              <a:ext cx="38100" cy="38100"/>
            </a:xfrm>
            <a:prstGeom prst="rect">
              <a:avLst/>
            </a:prstGeom>
            <a:solidFill>
              <a:srgbClr val="070154"/>
            </a:solidFill>
            <a:ln>
              <a:noFill/>
            </a:ln>
          </p:spPr>
        </p:sp>
        <p:sp>
          <p:nvSpPr>
            <p:cNvPr id="41" name="node06.body.item-001.bullets.item-005.text"/>
            <p:cNvSpPr/>
            <p:nvPr/>
          </p:nvSpPr>
          <p:spPr>
            <a:xfrm>
              <a:off x="5417820" y="3454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Pay and post</a:t>
              </a:r>
              <a:endParaRPr lang="en-US" sz="1200" spc="0" kern="0" b="0" i="0" dirty="0">
                <a:solidFill>
                  <a:srgbClr val="070154"/>
                </a:solidFill>
                <a:latin typeface="IBM Plex Sans"/>
                <a:ea typeface="IBM Plex Sans"/>
                <a:cs typeface="IBM Plex Sans"/>
              </a:endParaRPr>
            </a:p>
          </p:txBody>
        </p:sp>
      </p:grpSp>
      <p:grpSp>
        <p:nvGrpSpPr>
          <p:cNvPr id="79" name="node07"/>
          <p:cNvGrpSpPr/>
          <p:nvPr/>
        </p:nvGrpSpPr>
        <p:grpSpPr>
          <a:xfrm>
            <a:off x="7307580" y="1600200"/>
            <a:ext cx="1965960" cy="457200"/>
            <a:chOff x="7307580" y="1600200"/>
            <a:chExt cx="1965960" cy="457200"/>
          </a:xfrm>
        </p:grpSpPr>
        <p:sp>
          <p:nvSpPr>
            <p:cNvPr id="42" name="node07.surface"/>
            <p:cNvSpPr/>
            <p:nvPr/>
          </p:nvSpPr>
          <p:spPr>
            <a:xfrm>
              <a:off x="7307580" y="1600200"/>
              <a:ext cx="1965960" cy="457200"/>
            </a:xfrm>
            <a:prstGeom prst="rect">
              <a:avLst/>
            </a:prstGeom>
            <a:solidFill>
              <a:srgbClr val="CED7E6"/>
            </a:solidFill>
            <a:ln>
              <a:noFill/>
            </a:ln>
          </p:spPr>
        </p:sp>
        <p:sp>
          <p:nvSpPr>
            <p:cNvPr id="43" name="node07.text"/>
            <p:cNvSpPr/>
            <p:nvPr/>
          </p:nvSpPr>
          <p:spPr>
            <a:xfrm>
              <a:off x="7459980" y="1720850"/>
              <a:ext cx="166116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a:ea typeface="IBM Plex Sans"/>
                  <a:cs typeface="IBM Plex Sans"/>
                </a:rPr>
                <a:t>Outputs</a:t>
              </a:r>
              <a:endParaRPr lang="en-US" sz="1200" spc="0" kern="0" b="0" i="0" dirty="0">
                <a:solidFill>
                  <a:srgbClr val="070154"/>
                </a:solidFill>
                <a:latin typeface="IBM Plex Sans"/>
                <a:ea typeface="IBM Plex Sans"/>
                <a:cs typeface="IBM Plex Sans"/>
              </a:endParaRPr>
            </a:p>
          </p:txBody>
        </p:sp>
      </p:grpSp>
      <p:grpSp>
        <p:nvGrpSpPr>
          <p:cNvPr id="80" name="node08"/>
          <p:cNvGrpSpPr/>
          <p:nvPr/>
        </p:nvGrpSpPr>
        <p:grpSpPr>
          <a:xfrm>
            <a:off x="7307580" y="2286000"/>
            <a:ext cx="1965960" cy="2057400"/>
            <a:chOff x="7307580" y="2286000"/>
            <a:chExt cx="1965960" cy="2057400"/>
          </a:xfrm>
        </p:grpSpPr>
        <p:sp>
          <p:nvSpPr>
            <p:cNvPr id="44" name="node08.container"/>
            <p:cNvSpPr/>
            <p:nvPr/>
          </p:nvSpPr>
          <p:spPr>
            <a:xfrm>
              <a:off x="7307580" y="2286000"/>
              <a:ext cx="1965960" cy="2057400"/>
            </a:xfrm>
            <a:prstGeom prst="rect">
              <a:avLst/>
            </a:prstGeom>
            <a:solidFill>
              <a:srgbClr val="E8EEF8"/>
            </a:solidFill>
            <a:ln>
              <a:noFill/>
            </a:ln>
          </p:spPr>
        </p:sp>
        <p:sp>
          <p:nvSpPr>
            <p:cNvPr id="45" name="node08.body.item-001.bullets.item-001.marker"/>
            <p:cNvSpPr/>
            <p:nvPr/>
          </p:nvSpPr>
          <p:spPr>
            <a:xfrm>
              <a:off x="7459980" y="2527300"/>
              <a:ext cx="38100" cy="38100"/>
            </a:xfrm>
            <a:prstGeom prst="rect">
              <a:avLst/>
            </a:prstGeom>
            <a:solidFill>
              <a:srgbClr val="070154"/>
            </a:solidFill>
            <a:ln>
              <a:noFill/>
            </a:ln>
          </p:spPr>
        </p:sp>
        <p:sp>
          <p:nvSpPr>
            <p:cNvPr id="46" name="node08.body.item-001.bullets.item-001.text"/>
            <p:cNvSpPr/>
            <p:nvPr/>
          </p:nvSpPr>
          <p:spPr>
            <a:xfrm>
              <a:off x="7612380" y="2438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Posted liability</a:t>
              </a:r>
              <a:endParaRPr lang="en-US" sz="1200" spc="0" kern="0" b="0" i="0" dirty="0">
                <a:solidFill>
                  <a:srgbClr val="070154"/>
                </a:solidFill>
                <a:latin typeface="IBM Plex Sans"/>
                <a:ea typeface="IBM Plex Sans"/>
                <a:cs typeface="IBM Plex Sans"/>
              </a:endParaRPr>
            </a:p>
          </p:txBody>
        </p:sp>
        <p:sp>
          <p:nvSpPr>
            <p:cNvPr id="47" name="node08.body.item-001.bullets.item-002.marker"/>
            <p:cNvSpPr/>
            <p:nvPr/>
          </p:nvSpPr>
          <p:spPr>
            <a:xfrm>
              <a:off x="7459980" y="2781300"/>
              <a:ext cx="38100" cy="38100"/>
            </a:xfrm>
            <a:prstGeom prst="rect">
              <a:avLst/>
            </a:prstGeom>
            <a:solidFill>
              <a:srgbClr val="070154"/>
            </a:solidFill>
            <a:ln>
              <a:noFill/>
            </a:ln>
          </p:spPr>
        </p:sp>
        <p:sp>
          <p:nvSpPr>
            <p:cNvPr id="48" name="node08.body.item-001.bullets.item-002.text"/>
            <p:cNvSpPr/>
            <p:nvPr/>
          </p:nvSpPr>
          <p:spPr>
            <a:xfrm>
              <a:off x="7612380" y="2692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Vendor payment</a:t>
              </a:r>
              <a:endParaRPr lang="en-US" sz="1200" spc="0" kern="0" b="0" i="0" dirty="0">
                <a:solidFill>
                  <a:srgbClr val="070154"/>
                </a:solidFill>
                <a:latin typeface="IBM Plex Sans"/>
                <a:ea typeface="IBM Plex Sans"/>
                <a:cs typeface="IBM Plex Sans"/>
              </a:endParaRPr>
            </a:p>
          </p:txBody>
        </p:sp>
        <p:sp>
          <p:nvSpPr>
            <p:cNvPr id="49" name="node08.body.item-001.bullets.item-003.marker"/>
            <p:cNvSpPr/>
            <p:nvPr/>
          </p:nvSpPr>
          <p:spPr>
            <a:xfrm>
              <a:off x="7459980" y="3035300"/>
              <a:ext cx="38100" cy="38100"/>
            </a:xfrm>
            <a:prstGeom prst="rect">
              <a:avLst/>
            </a:prstGeom>
            <a:solidFill>
              <a:srgbClr val="070154"/>
            </a:solidFill>
            <a:ln>
              <a:noFill/>
            </a:ln>
          </p:spPr>
        </p:sp>
        <p:sp>
          <p:nvSpPr>
            <p:cNvPr id="50" name="node08.body.item-001.bullets.item-003.text"/>
            <p:cNvSpPr/>
            <p:nvPr/>
          </p:nvSpPr>
          <p:spPr>
            <a:xfrm>
              <a:off x="7612380" y="2946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Remittance advice</a:t>
              </a:r>
              <a:endParaRPr lang="en-US" sz="1200" spc="0" kern="0" b="0" i="0" dirty="0">
                <a:solidFill>
                  <a:srgbClr val="070154"/>
                </a:solidFill>
                <a:latin typeface="IBM Plex Sans"/>
                <a:ea typeface="IBM Plex Sans"/>
                <a:cs typeface="IBM Plex Sans"/>
              </a:endParaRPr>
            </a:p>
          </p:txBody>
        </p:sp>
        <p:sp>
          <p:nvSpPr>
            <p:cNvPr id="51" name="node08.body.item-001.bullets.item-004.marker"/>
            <p:cNvSpPr/>
            <p:nvPr/>
          </p:nvSpPr>
          <p:spPr>
            <a:xfrm>
              <a:off x="7459980" y="3289300"/>
              <a:ext cx="38100" cy="38100"/>
            </a:xfrm>
            <a:prstGeom prst="rect">
              <a:avLst/>
            </a:prstGeom>
            <a:solidFill>
              <a:srgbClr val="070154"/>
            </a:solidFill>
            <a:ln>
              <a:noFill/>
            </a:ln>
          </p:spPr>
        </p:sp>
        <p:sp>
          <p:nvSpPr>
            <p:cNvPr id="52" name="node08.body.item-001.bullets.item-004.text"/>
            <p:cNvSpPr/>
            <p:nvPr/>
          </p:nvSpPr>
          <p:spPr>
            <a:xfrm>
              <a:off x="7612380" y="3200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Accrual report</a:t>
              </a:r>
              <a:endParaRPr lang="en-US" sz="1200" spc="0" kern="0" b="0" i="0" dirty="0">
                <a:solidFill>
                  <a:srgbClr val="070154"/>
                </a:solidFill>
                <a:latin typeface="IBM Plex Sans"/>
                <a:ea typeface="IBM Plex Sans"/>
                <a:cs typeface="IBM Plex Sans"/>
              </a:endParaRPr>
            </a:p>
          </p:txBody>
        </p:sp>
      </p:grpSp>
      <p:grpSp>
        <p:nvGrpSpPr>
          <p:cNvPr id="81" name="node09"/>
          <p:cNvGrpSpPr/>
          <p:nvPr/>
        </p:nvGrpSpPr>
        <p:grpSpPr>
          <a:xfrm>
            <a:off x="9502140" y="1600200"/>
            <a:ext cx="1965960" cy="457200"/>
            <a:chOff x="9502140" y="1600200"/>
            <a:chExt cx="1965960" cy="457200"/>
          </a:xfrm>
        </p:grpSpPr>
        <p:sp>
          <p:nvSpPr>
            <p:cNvPr id="53" name="node09.surface"/>
            <p:cNvSpPr/>
            <p:nvPr/>
          </p:nvSpPr>
          <p:spPr>
            <a:xfrm>
              <a:off x="9502140" y="1600200"/>
              <a:ext cx="1965960" cy="457200"/>
            </a:xfrm>
            <a:prstGeom prst="rect">
              <a:avLst/>
            </a:prstGeom>
            <a:solidFill>
              <a:srgbClr val="CED7E6"/>
            </a:solidFill>
            <a:ln>
              <a:noFill/>
            </a:ln>
          </p:spPr>
        </p:sp>
        <p:sp>
          <p:nvSpPr>
            <p:cNvPr id="54" name="node09.text"/>
            <p:cNvSpPr/>
            <p:nvPr/>
          </p:nvSpPr>
          <p:spPr>
            <a:xfrm>
              <a:off x="9654540" y="1720850"/>
              <a:ext cx="166116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a:ea typeface="IBM Plex Sans"/>
                  <a:cs typeface="IBM Plex Sans"/>
                </a:rPr>
                <a:t>Customers</a:t>
              </a:r>
              <a:endParaRPr lang="en-US" sz="1200" spc="0" kern="0" b="0" i="0" dirty="0">
                <a:solidFill>
                  <a:srgbClr val="070154"/>
                </a:solidFill>
                <a:latin typeface="IBM Plex Sans"/>
                <a:ea typeface="IBM Plex Sans"/>
                <a:cs typeface="IBM Plex Sans"/>
              </a:endParaRPr>
            </a:p>
          </p:txBody>
        </p:sp>
      </p:grpSp>
      <p:grpSp>
        <p:nvGrpSpPr>
          <p:cNvPr id="82" name="node10"/>
          <p:cNvGrpSpPr/>
          <p:nvPr/>
        </p:nvGrpSpPr>
        <p:grpSpPr>
          <a:xfrm>
            <a:off x="9502140" y="2286000"/>
            <a:ext cx="1965960" cy="2057400"/>
            <a:chOff x="9502140" y="2286000"/>
            <a:chExt cx="1965960" cy="2057400"/>
          </a:xfrm>
        </p:grpSpPr>
        <p:sp>
          <p:nvSpPr>
            <p:cNvPr id="55" name="node10.container"/>
            <p:cNvSpPr/>
            <p:nvPr/>
          </p:nvSpPr>
          <p:spPr>
            <a:xfrm>
              <a:off x="9502140" y="2286000"/>
              <a:ext cx="1965960" cy="2057400"/>
            </a:xfrm>
            <a:prstGeom prst="rect">
              <a:avLst/>
            </a:prstGeom>
            <a:solidFill>
              <a:srgbClr val="E8EEF8"/>
            </a:solidFill>
            <a:ln>
              <a:noFill/>
            </a:ln>
          </p:spPr>
        </p:sp>
        <p:sp>
          <p:nvSpPr>
            <p:cNvPr id="56" name="node10.body.item-001.bullets.item-001.marker"/>
            <p:cNvSpPr/>
            <p:nvPr/>
          </p:nvSpPr>
          <p:spPr>
            <a:xfrm>
              <a:off x="9654540" y="2527300"/>
              <a:ext cx="38100" cy="38100"/>
            </a:xfrm>
            <a:prstGeom prst="rect">
              <a:avLst/>
            </a:prstGeom>
            <a:solidFill>
              <a:srgbClr val="070154"/>
            </a:solidFill>
            <a:ln>
              <a:noFill/>
            </a:ln>
          </p:spPr>
        </p:sp>
        <p:sp>
          <p:nvSpPr>
            <p:cNvPr id="57" name="node10.body.item-001.bullets.item-001.text"/>
            <p:cNvSpPr/>
            <p:nvPr/>
          </p:nvSpPr>
          <p:spPr>
            <a:xfrm>
              <a:off x="9806940" y="2438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Vendors</a:t>
              </a:r>
              <a:endParaRPr lang="en-US" sz="1200" spc="0" kern="0" b="0" i="0" dirty="0">
                <a:solidFill>
                  <a:srgbClr val="070154"/>
                </a:solidFill>
                <a:latin typeface="IBM Plex Sans"/>
                <a:ea typeface="IBM Plex Sans"/>
                <a:cs typeface="IBM Plex Sans"/>
              </a:endParaRPr>
            </a:p>
          </p:txBody>
        </p:sp>
        <p:sp>
          <p:nvSpPr>
            <p:cNvPr id="58" name="node10.body.item-001.bullets.item-002.marker"/>
            <p:cNvSpPr/>
            <p:nvPr/>
          </p:nvSpPr>
          <p:spPr>
            <a:xfrm>
              <a:off x="9654540" y="2781300"/>
              <a:ext cx="38100" cy="38100"/>
            </a:xfrm>
            <a:prstGeom prst="rect">
              <a:avLst/>
            </a:prstGeom>
            <a:solidFill>
              <a:srgbClr val="070154"/>
            </a:solidFill>
            <a:ln>
              <a:noFill/>
            </a:ln>
          </p:spPr>
        </p:sp>
        <p:sp>
          <p:nvSpPr>
            <p:cNvPr id="59" name="node10.body.item-001.bullets.item-002.text"/>
            <p:cNvSpPr/>
            <p:nvPr/>
          </p:nvSpPr>
          <p:spPr>
            <a:xfrm>
              <a:off x="9806940" y="2692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Controller</a:t>
              </a:r>
              <a:endParaRPr lang="en-US" sz="1200" spc="0" kern="0" b="0" i="0" dirty="0">
                <a:solidFill>
                  <a:srgbClr val="070154"/>
                </a:solidFill>
                <a:latin typeface="IBM Plex Sans"/>
                <a:ea typeface="IBM Plex Sans"/>
                <a:cs typeface="IBM Plex Sans"/>
              </a:endParaRPr>
            </a:p>
          </p:txBody>
        </p:sp>
        <p:sp>
          <p:nvSpPr>
            <p:cNvPr id="60" name="node10.body.item-001.bullets.item-003.marker"/>
            <p:cNvSpPr/>
            <p:nvPr/>
          </p:nvSpPr>
          <p:spPr>
            <a:xfrm>
              <a:off x="9654540" y="3035300"/>
              <a:ext cx="38100" cy="38100"/>
            </a:xfrm>
            <a:prstGeom prst="rect">
              <a:avLst/>
            </a:prstGeom>
            <a:solidFill>
              <a:srgbClr val="070154"/>
            </a:solidFill>
            <a:ln>
              <a:noFill/>
            </a:ln>
          </p:spPr>
        </p:sp>
        <p:sp>
          <p:nvSpPr>
            <p:cNvPr id="61" name="node10.body.item-001.bullets.item-003.text"/>
            <p:cNvSpPr/>
            <p:nvPr/>
          </p:nvSpPr>
          <p:spPr>
            <a:xfrm>
              <a:off x="9806940" y="2946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Treasury</a:t>
              </a:r>
              <a:endParaRPr lang="en-US" sz="1200" spc="0" kern="0" b="0" i="0" dirty="0">
                <a:solidFill>
                  <a:srgbClr val="070154"/>
                </a:solidFill>
                <a:latin typeface="IBM Plex Sans"/>
                <a:ea typeface="IBM Plex Sans"/>
                <a:cs typeface="IBM Plex Sans"/>
              </a:endParaRPr>
            </a:p>
          </p:txBody>
        </p:sp>
        <p:sp>
          <p:nvSpPr>
            <p:cNvPr id="62" name="node10.body.item-001.bullets.item-004.marker"/>
            <p:cNvSpPr/>
            <p:nvPr/>
          </p:nvSpPr>
          <p:spPr>
            <a:xfrm>
              <a:off x="9654540" y="3289300"/>
              <a:ext cx="38100" cy="38100"/>
            </a:xfrm>
            <a:prstGeom prst="rect">
              <a:avLst/>
            </a:prstGeom>
            <a:solidFill>
              <a:srgbClr val="070154"/>
            </a:solidFill>
            <a:ln>
              <a:noFill/>
            </a:ln>
          </p:spPr>
        </p:sp>
        <p:sp>
          <p:nvSpPr>
            <p:cNvPr id="63" name="node10.body.item-001.bullets.item-004.text"/>
            <p:cNvSpPr/>
            <p:nvPr/>
          </p:nvSpPr>
          <p:spPr>
            <a:xfrm>
              <a:off x="9806940" y="3200400"/>
              <a:ext cx="15087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Budget owners</a:t>
              </a:r>
              <a:endParaRPr lang="en-US" sz="1200" spc="0" kern="0" b="0" i="0" dirty="0">
                <a:solidFill>
                  <a:srgbClr val="070154"/>
                </a:solidFill>
                <a:latin typeface="IBM Plex Sans"/>
                <a:ea typeface="IBM Plex Sans"/>
                <a:cs typeface="IBM Plex Sans"/>
              </a:endParaRPr>
            </a:p>
          </p:txBody>
        </p:sp>
      </p:grpSp>
      <p:grpSp>
        <p:nvGrpSpPr>
          <p:cNvPr id="83" name="node11"/>
          <p:cNvGrpSpPr/>
          <p:nvPr/>
        </p:nvGrpSpPr>
        <p:grpSpPr>
          <a:xfrm>
            <a:off x="723900" y="4572000"/>
            <a:ext cx="3429000" cy="1143000"/>
            <a:chOff x="723900" y="4572000"/>
            <a:chExt cx="3429000" cy="1143000"/>
          </a:xfrm>
        </p:grpSpPr>
        <p:sp>
          <p:nvSpPr>
            <p:cNvPr id="64" name="node11.container"/>
            <p:cNvSpPr/>
            <p:nvPr/>
          </p:nvSpPr>
          <p:spPr>
            <a:xfrm>
              <a:off x="730250" y="4578350"/>
              <a:ext cx="3416300" cy="1130300"/>
            </a:xfrm>
            <a:prstGeom prst="rect">
              <a:avLst/>
            </a:prstGeom>
            <a:solidFill>
              <a:srgbClr val="FFFFFF"/>
            </a:solidFill>
            <a:ln w="12700">
              <a:solidFill>
                <a:srgbClr val="CED7E6"/>
              </a:solidFill>
              <a:prstDash val="solid"/>
            </a:ln>
          </p:spPr>
        </p:sp>
        <p:sp>
          <p:nvSpPr>
            <p:cNvPr id="65" name="node11.label"/>
            <p:cNvSpPr/>
            <p:nvPr/>
          </p:nvSpPr>
          <p:spPr>
            <a:xfrm>
              <a:off x="876300" y="47244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STARTS WHEN</a:t>
              </a:r>
              <a:endParaRPr lang="en-US" sz="800" spc="48" kern="0" b="0" i="0" dirty="0">
                <a:solidFill>
                  <a:srgbClr val="0047FF"/>
                </a:solidFill>
                <a:latin typeface="IBM Plex Mono Medium"/>
                <a:ea typeface="IBM Plex Mono Medium"/>
                <a:cs typeface="IBM Plex Mono Medium"/>
              </a:endParaRPr>
            </a:p>
          </p:txBody>
        </p:sp>
        <p:sp>
          <p:nvSpPr>
            <p:cNvPr id="66" name="node11.body.item-001.paragraph"/>
            <p:cNvSpPr/>
            <p:nvPr/>
          </p:nvSpPr>
          <p:spPr>
            <a:xfrm>
              <a:off x="876300" y="4940300"/>
              <a:ext cx="312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 vendor invoice arrives</a:t>
              </a:r>
              <a:endParaRPr lang="en-US" sz="1200" spc="0" kern="0" b="0" i="0" dirty="0">
                <a:solidFill>
                  <a:srgbClr val="50658E"/>
                </a:solidFill>
                <a:latin typeface="IBM Plex Sans"/>
                <a:ea typeface="IBM Plex Sans"/>
                <a:cs typeface="IBM Plex Sans"/>
              </a:endParaRPr>
            </a:p>
          </p:txBody>
        </p:sp>
      </p:grpSp>
      <p:grpSp>
        <p:nvGrpSpPr>
          <p:cNvPr id="84" name="node12"/>
          <p:cNvGrpSpPr/>
          <p:nvPr/>
        </p:nvGrpSpPr>
        <p:grpSpPr>
          <a:xfrm>
            <a:off x="4381500" y="4572000"/>
            <a:ext cx="3429000" cy="1143000"/>
            <a:chOff x="4381500" y="4572000"/>
            <a:chExt cx="3429000" cy="1143000"/>
          </a:xfrm>
        </p:grpSpPr>
        <p:sp>
          <p:nvSpPr>
            <p:cNvPr id="67" name="node12.container"/>
            <p:cNvSpPr/>
            <p:nvPr/>
          </p:nvSpPr>
          <p:spPr>
            <a:xfrm>
              <a:off x="4387850" y="4578350"/>
              <a:ext cx="3416300" cy="1130300"/>
            </a:xfrm>
            <a:prstGeom prst="rect">
              <a:avLst/>
            </a:prstGeom>
            <a:solidFill>
              <a:srgbClr val="FFFFFF"/>
            </a:solidFill>
            <a:ln w="12700">
              <a:solidFill>
                <a:srgbClr val="CED7E6"/>
              </a:solidFill>
              <a:prstDash val="solid"/>
            </a:ln>
          </p:spPr>
        </p:sp>
        <p:sp>
          <p:nvSpPr>
            <p:cNvPr id="68" name="node12.label"/>
            <p:cNvSpPr/>
            <p:nvPr/>
          </p:nvSpPr>
          <p:spPr>
            <a:xfrm>
              <a:off x="4533900" y="47244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ENDS WHEN</a:t>
              </a:r>
              <a:endParaRPr lang="en-US" sz="800" spc="48" kern="0" b="0" i="0" dirty="0">
                <a:solidFill>
                  <a:srgbClr val="0047FF"/>
                </a:solidFill>
                <a:latin typeface="IBM Plex Mono Medium"/>
                <a:ea typeface="IBM Plex Mono Medium"/>
                <a:cs typeface="IBM Plex Mono Medium"/>
              </a:endParaRPr>
            </a:p>
          </p:txBody>
        </p:sp>
        <p:sp>
          <p:nvSpPr>
            <p:cNvPr id="69" name="node12.body.item-001.paragraph"/>
            <p:cNvSpPr/>
            <p:nvPr/>
          </p:nvSpPr>
          <p:spPr>
            <a:xfrm>
              <a:off x="4533900" y="4940300"/>
              <a:ext cx="312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Payment is posted and reconciled</a:t>
              </a:r>
              <a:endParaRPr lang="en-US" sz="1200" spc="0" kern="0" b="0" i="0" dirty="0">
                <a:solidFill>
                  <a:srgbClr val="50658E"/>
                </a:solidFill>
                <a:latin typeface="IBM Plex Sans"/>
                <a:ea typeface="IBM Plex Sans"/>
                <a:cs typeface="IBM Plex Sans"/>
              </a:endParaRPr>
            </a:p>
          </p:txBody>
        </p:sp>
      </p:grpSp>
      <p:grpSp>
        <p:nvGrpSpPr>
          <p:cNvPr id="85" name="node13"/>
          <p:cNvGrpSpPr/>
          <p:nvPr/>
        </p:nvGrpSpPr>
        <p:grpSpPr>
          <a:xfrm>
            <a:off x="8039100" y="4572000"/>
            <a:ext cx="3429000" cy="1143000"/>
            <a:chOff x="8039100" y="4572000"/>
            <a:chExt cx="3429000" cy="1143000"/>
          </a:xfrm>
        </p:grpSpPr>
        <p:sp>
          <p:nvSpPr>
            <p:cNvPr id="70" name="node13.container"/>
            <p:cNvSpPr/>
            <p:nvPr/>
          </p:nvSpPr>
          <p:spPr>
            <a:xfrm>
              <a:off x="8045450" y="4578350"/>
              <a:ext cx="3416300" cy="1130300"/>
            </a:xfrm>
            <a:prstGeom prst="rect">
              <a:avLst/>
            </a:prstGeom>
            <a:solidFill>
              <a:srgbClr val="FFFFFF"/>
            </a:solidFill>
            <a:ln w="12700">
              <a:solidFill>
                <a:srgbClr val="CED7E6"/>
              </a:solidFill>
              <a:prstDash val="solid"/>
            </a:ln>
          </p:spPr>
        </p:sp>
        <p:sp>
          <p:nvSpPr>
            <p:cNvPr id="71" name="node13.label"/>
            <p:cNvSpPr/>
            <p:nvPr/>
          </p:nvSpPr>
          <p:spPr>
            <a:xfrm>
              <a:off x="8191500" y="47244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OUT OF SCOPE</a:t>
              </a:r>
              <a:endParaRPr lang="en-US" sz="800" spc="48" kern="0" b="0" i="0" dirty="0">
                <a:solidFill>
                  <a:srgbClr val="0047FF"/>
                </a:solidFill>
                <a:latin typeface="IBM Plex Mono Medium"/>
                <a:ea typeface="IBM Plex Mono Medium"/>
                <a:cs typeface="IBM Plex Mono Medium"/>
              </a:endParaRPr>
            </a:p>
          </p:txBody>
        </p:sp>
        <p:sp>
          <p:nvSpPr>
            <p:cNvPr id="72" name="node13.body.item-001.paragraph"/>
            <p:cNvSpPr/>
            <p:nvPr/>
          </p:nvSpPr>
          <p:spPr>
            <a:xfrm>
              <a:off x="8191500" y="4940300"/>
              <a:ext cx="312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Vendor onboarding and disputes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ource-64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PERSPECTIVE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Design general availability in from the start</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96</a:t>
            </a:fld>
            <a:endParaRPr lang="en-US" sz="700" spc="0" kern="0" b="0" i="0" dirty="0">
              <a:solidFill>
                <a:srgbClr val="070154"/>
              </a:solidFill>
              <a:latin typeface="IBM Plex Mono SemiBold"/>
              <a:ea typeface="IBM Plex Mono SemiBold"/>
              <a:cs typeface="IBM Plex Mono SemiBold"/>
            </a:endParaRPr>
          </a:p>
        </p:txBody>
      </p:sp>
      <p:grpSp>
        <p:nvGrpSpPr>
          <p:cNvPr id="73" name="node01"/>
          <p:cNvGrpSpPr/>
          <p:nvPr/>
        </p:nvGrpSpPr>
        <p:grpSpPr>
          <a:xfrm>
            <a:off x="723900" y="1600200"/>
            <a:ext cx="1965960" cy="914400"/>
            <a:chOff x="723900" y="1600200"/>
            <a:chExt cx="1965960" cy="914400"/>
          </a:xfrm>
        </p:grpSpPr>
        <p:sp>
          <p:nvSpPr>
            <p:cNvPr id="6" name="node01.container"/>
            <p:cNvSpPr/>
            <p:nvPr/>
          </p:nvSpPr>
          <p:spPr>
            <a:xfrm>
              <a:off x="723900" y="1600200"/>
              <a:ext cx="1965960" cy="914400"/>
            </a:xfrm>
            <a:prstGeom prst="rect">
              <a:avLst/>
            </a:prstGeom>
            <a:solidFill>
              <a:srgbClr val="070154"/>
            </a:solidFill>
            <a:ln>
              <a:noFill/>
            </a:ln>
          </p:spPr>
        </p:sp>
        <p:sp>
          <p:nvSpPr>
            <p:cNvPr id="7" name="node01.number"/>
            <p:cNvSpPr/>
            <p:nvPr/>
          </p:nvSpPr>
          <p:spPr>
            <a:xfrm>
              <a:off x="8763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01</a:t>
              </a:r>
              <a:endParaRPr lang="en-US" sz="1600" spc="0" kern="0" b="0" i="0" dirty="0">
                <a:solidFill>
                  <a:srgbClr val="F900D3"/>
                </a:solidFill>
                <a:latin typeface="IBM Plex Mono SemiBold"/>
                <a:ea typeface="IBM Plex Mono SemiBold"/>
                <a:cs typeface="IBM Plex Mono SemiBold"/>
              </a:endParaRPr>
            </a:p>
          </p:txBody>
        </p:sp>
        <p:sp>
          <p:nvSpPr>
            <p:cNvPr id="8" name="node01.title"/>
            <p:cNvSpPr/>
            <p:nvPr/>
          </p:nvSpPr>
          <p:spPr>
            <a:xfrm>
              <a:off x="1247775" y="1790954"/>
              <a:ext cx="1289685"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Define the service catalog</a:t>
              </a:r>
              <a:endParaRPr lang="en-US" sz="1200" spc="0" kern="0" b="0" i="0" dirty="0">
                <a:solidFill>
                  <a:srgbClr val="FFFFFF"/>
                </a:solidFill>
                <a:latin typeface="IBM Plex Sans"/>
                <a:ea typeface="IBM Plex Sans"/>
                <a:cs typeface="IBM Plex Sans"/>
              </a:endParaRPr>
            </a:p>
          </p:txBody>
        </p:sp>
      </p:grpSp>
      <p:grpSp>
        <p:nvGrpSpPr>
          <p:cNvPr id="74" name="node02"/>
          <p:cNvGrpSpPr/>
          <p:nvPr/>
        </p:nvGrpSpPr>
        <p:grpSpPr>
          <a:xfrm>
            <a:off x="723900" y="2514600"/>
            <a:ext cx="1965960" cy="2286000"/>
            <a:chOff x="723900" y="2514600"/>
            <a:chExt cx="1965960" cy="2286000"/>
          </a:xfrm>
        </p:grpSpPr>
        <p:sp>
          <p:nvSpPr>
            <p:cNvPr id="9" name="node02.surface"/>
            <p:cNvSpPr/>
            <p:nvPr/>
          </p:nvSpPr>
          <p:spPr>
            <a:xfrm>
              <a:off x="723900" y="2514600"/>
              <a:ext cx="1965960" cy="2286000"/>
            </a:xfrm>
            <a:prstGeom prst="rect">
              <a:avLst/>
            </a:prstGeom>
            <a:solidFill>
              <a:srgbClr val="FFFFFF"/>
            </a:solidFill>
            <a:ln w="12700">
              <a:solidFill>
                <a:srgbClr val="CED7E6"/>
              </a:solidFill>
              <a:prstDash val="solid"/>
            </a:ln>
          </p:spPr>
        </p:sp>
      </p:grpSp>
      <p:grpSp>
        <p:nvGrpSpPr>
          <p:cNvPr id="75" name="node03"/>
          <p:cNvGrpSpPr/>
          <p:nvPr/>
        </p:nvGrpSpPr>
        <p:grpSpPr>
          <a:xfrm>
            <a:off x="876300" y="2667000"/>
            <a:ext cx="1661160" cy="139700"/>
            <a:chOff x="876300" y="2667000"/>
            <a:chExt cx="1661160" cy="139700"/>
          </a:xfrm>
        </p:grpSpPr>
        <p:sp>
          <p:nvSpPr>
            <p:cNvPr id="10" name="node03.text"/>
            <p:cNvSpPr/>
            <p:nvPr/>
          </p:nvSpPr>
          <p:spPr>
            <a:xfrm>
              <a:off x="876300" y="26670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ACTIVITIES</a:t>
              </a:r>
              <a:endParaRPr lang="en-US" sz="800" spc="48" kern="0" b="0" i="0" dirty="0">
                <a:solidFill>
                  <a:srgbClr val="50658E"/>
                </a:solidFill>
                <a:latin typeface="IBM Plex Mono Medium"/>
                <a:ea typeface="IBM Plex Mono Medium"/>
                <a:cs typeface="IBM Plex Mono Medium"/>
              </a:endParaRPr>
            </a:p>
          </p:txBody>
        </p:sp>
      </p:grpSp>
      <p:grpSp>
        <p:nvGrpSpPr>
          <p:cNvPr id="76" name="node04"/>
          <p:cNvGrpSpPr/>
          <p:nvPr/>
        </p:nvGrpSpPr>
        <p:grpSpPr>
          <a:xfrm>
            <a:off x="876300" y="2895600"/>
            <a:ext cx="1661160" cy="901700"/>
            <a:chOff x="876300" y="2895600"/>
            <a:chExt cx="1661160" cy="901700"/>
          </a:xfrm>
        </p:grpSpPr>
        <p:sp>
          <p:nvSpPr>
            <p:cNvPr id="11" name="node04.source-001.bullet"/>
            <p:cNvSpPr/>
            <p:nvPr/>
          </p:nvSpPr>
          <p:spPr>
            <a:xfrm>
              <a:off x="876300" y="2984500"/>
              <a:ext cx="38100" cy="38100"/>
            </a:xfrm>
            <a:prstGeom prst="rect">
              <a:avLst/>
            </a:prstGeom>
            <a:solidFill>
              <a:srgbClr val="070154"/>
            </a:solidFill>
            <a:ln>
              <a:noFill/>
            </a:ln>
          </p:spPr>
        </p:sp>
        <p:sp>
          <p:nvSpPr>
            <p:cNvPr id="12" name="node04.source-001.text"/>
            <p:cNvSpPr/>
            <p:nvPr/>
          </p:nvSpPr>
          <p:spPr>
            <a:xfrm>
              <a:off x="1028700" y="28956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Name the workloads served</a:t>
              </a:r>
              <a:endParaRPr lang="en-US" sz="1200" spc="0" kern="0" b="0" i="0" dirty="0">
                <a:solidFill>
                  <a:srgbClr val="070154"/>
                </a:solidFill>
                <a:latin typeface="IBM Plex Sans"/>
                <a:ea typeface="IBM Plex Sans"/>
                <a:cs typeface="IBM Plex Sans"/>
              </a:endParaRPr>
            </a:p>
          </p:txBody>
        </p:sp>
        <p:sp>
          <p:nvSpPr>
            <p:cNvPr id="13" name="node04.source-002.bullet"/>
            <p:cNvSpPr/>
            <p:nvPr/>
          </p:nvSpPr>
          <p:spPr>
            <a:xfrm>
              <a:off x="876300" y="3454400"/>
              <a:ext cx="38100" cy="38100"/>
            </a:xfrm>
            <a:prstGeom prst="rect">
              <a:avLst/>
            </a:prstGeom>
            <a:solidFill>
              <a:srgbClr val="070154"/>
            </a:solidFill>
            <a:ln>
              <a:noFill/>
            </a:ln>
          </p:spPr>
        </p:sp>
        <p:sp>
          <p:nvSpPr>
            <p:cNvPr id="14" name="node04.source-002.text"/>
            <p:cNvSpPr/>
            <p:nvPr/>
          </p:nvSpPr>
          <p:spPr>
            <a:xfrm>
              <a:off x="1028700" y="33655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Split central from team services</a:t>
              </a:r>
              <a:endParaRPr lang="en-US" sz="1200" spc="0" kern="0" b="0" i="0" dirty="0">
                <a:solidFill>
                  <a:srgbClr val="070154"/>
                </a:solidFill>
                <a:latin typeface="IBM Plex Sans"/>
                <a:ea typeface="IBM Plex Sans"/>
                <a:cs typeface="IBM Plex Sans"/>
              </a:endParaRPr>
            </a:p>
          </p:txBody>
        </p:sp>
      </p:grpSp>
      <p:grpSp>
        <p:nvGrpSpPr>
          <p:cNvPr id="77" name="node05"/>
          <p:cNvGrpSpPr/>
          <p:nvPr/>
        </p:nvGrpSpPr>
        <p:grpSpPr>
          <a:xfrm>
            <a:off x="876300" y="4114800"/>
            <a:ext cx="1661160" cy="139700"/>
            <a:chOff x="876300" y="4114800"/>
            <a:chExt cx="1661160" cy="139700"/>
          </a:xfrm>
        </p:grpSpPr>
        <p:sp>
          <p:nvSpPr>
            <p:cNvPr id="15" name="node05.text"/>
            <p:cNvSpPr/>
            <p:nvPr/>
          </p:nvSpPr>
          <p:spPr>
            <a:xfrm>
              <a:off x="876300" y="41148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OUTPUT</a:t>
              </a:r>
              <a:endParaRPr lang="en-US" sz="800" spc="48" kern="0" b="0" i="0" dirty="0">
                <a:solidFill>
                  <a:srgbClr val="50658E"/>
                </a:solidFill>
                <a:latin typeface="IBM Plex Mono Medium"/>
                <a:ea typeface="IBM Plex Mono Medium"/>
                <a:cs typeface="IBM Plex Mono Medium"/>
              </a:endParaRPr>
            </a:p>
          </p:txBody>
        </p:sp>
      </p:grpSp>
      <p:grpSp>
        <p:nvGrpSpPr>
          <p:cNvPr id="78" name="node06"/>
          <p:cNvGrpSpPr/>
          <p:nvPr/>
        </p:nvGrpSpPr>
        <p:grpSpPr>
          <a:xfrm>
            <a:off x="876300" y="4343400"/>
            <a:ext cx="1661160" cy="190500"/>
            <a:chOff x="876300" y="4343400"/>
            <a:chExt cx="1661160" cy="190500"/>
          </a:xfrm>
        </p:grpSpPr>
        <p:sp>
          <p:nvSpPr>
            <p:cNvPr id="16" name="node06.text"/>
            <p:cNvSpPr/>
            <p:nvPr/>
          </p:nvSpPr>
          <p:spPr>
            <a:xfrm>
              <a:off x="876300" y="43434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Published catalog</a:t>
              </a:r>
              <a:endParaRPr lang="en-US" sz="1100" spc="0" kern="0" b="0" i="0" dirty="0">
                <a:solidFill>
                  <a:srgbClr val="070154"/>
                </a:solidFill>
                <a:latin typeface="IBM Plex Sans"/>
                <a:ea typeface="IBM Plex Sans"/>
                <a:cs typeface="IBM Plex Sans"/>
              </a:endParaRPr>
            </a:p>
          </p:txBody>
        </p:sp>
      </p:grpSp>
      <p:grpSp>
        <p:nvGrpSpPr>
          <p:cNvPr id="79" name="node07"/>
          <p:cNvGrpSpPr/>
          <p:nvPr/>
        </p:nvGrpSpPr>
        <p:grpSpPr>
          <a:xfrm>
            <a:off x="2918460" y="1600200"/>
            <a:ext cx="1965960" cy="914400"/>
            <a:chOff x="2918460" y="1600200"/>
            <a:chExt cx="1965960" cy="914400"/>
          </a:xfrm>
        </p:grpSpPr>
        <p:sp>
          <p:nvSpPr>
            <p:cNvPr id="17" name="node07.container"/>
            <p:cNvSpPr/>
            <p:nvPr/>
          </p:nvSpPr>
          <p:spPr>
            <a:xfrm>
              <a:off x="2918460" y="1600200"/>
              <a:ext cx="1965960" cy="914400"/>
            </a:xfrm>
            <a:prstGeom prst="rect">
              <a:avLst/>
            </a:prstGeom>
            <a:solidFill>
              <a:srgbClr val="070154"/>
            </a:solidFill>
            <a:ln>
              <a:noFill/>
            </a:ln>
          </p:spPr>
        </p:sp>
        <p:sp>
          <p:nvSpPr>
            <p:cNvPr id="18" name="node07.number"/>
            <p:cNvSpPr/>
            <p:nvPr/>
          </p:nvSpPr>
          <p:spPr>
            <a:xfrm>
              <a:off x="307086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02</a:t>
              </a:r>
              <a:endParaRPr lang="en-US" sz="1600" spc="0" kern="0" b="0" i="0" dirty="0">
                <a:solidFill>
                  <a:srgbClr val="F900D3"/>
                </a:solidFill>
                <a:latin typeface="IBM Plex Mono SemiBold"/>
                <a:ea typeface="IBM Plex Mono SemiBold"/>
                <a:cs typeface="IBM Plex Mono SemiBold"/>
              </a:endParaRPr>
            </a:p>
          </p:txBody>
        </p:sp>
        <p:sp>
          <p:nvSpPr>
            <p:cNvPr id="19" name="node07.title"/>
            <p:cNvSpPr/>
            <p:nvPr/>
          </p:nvSpPr>
          <p:spPr>
            <a:xfrm>
              <a:off x="3442335" y="1790954"/>
              <a:ext cx="128968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Set the standards</a:t>
              </a:r>
              <a:endParaRPr lang="en-US" sz="1200" spc="0" kern="0" b="0" i="0" dirty="0">
                <a:solidFill>
                  <a:srgbClr val="FFFFFF"/>
                </a:solidFill>
                <a:latin typeface="IBM Plex Sans"/>
                <a:ea typeface="IBM Plex Sans"/>
                <a:cs typeface="IBM Plex Sans"/>
              </a:endParaRPr>
            </a:p>
          </p:txBody>
        </p:sp>
      </p:grpSp>
      <p:grpSp>
        <p:nvGrpSpPr>
          <p:cNvPr id="80" name="node08"/>
          <p:cNvGrpSpPr/>
          <p:nvPr/>
        </p:nvGrpSpPr>
        <p:grpSpPr>
          <a:xfrm>
            <a:off x="2918460" y="2514600"/>
            <a:ext cx="1965960" cy="2286000"/>
            <a:chOff x="2918460" y="2514600"/>
            <a:chExt cx="1965960" cy="2286000"/>
          </a:xfrm>
        </p:grpSpPr>
        <p:sp>
          <p:nvSpPr>
            <p:cNvPr id="20" name="node08.surface"/>
            <p:cNvSpPr/>
            <p:nvPr/>
          </p:nvSpPr>
          <p:spPr>
            <a:xfrm>
              <a:off x="2918460" y="2514600"/>
              <a:ext cx="1965960" cy="2286000"/>
            </a:xfrm>
            <a:prstGeom prst="rect">
              <a:avLst/>
            </a:prstGeom>
            <a:solidFill>
              <a:srgbClr val="FFFFFF"/>
            </a:solidFill>
            <a:ln w="12700">
              <a:solidFill>
                <a:srgbClr val="CED7E6"/>
              </a:solidFill>
              <a:prstDash val="solid"/>
            </a:ln>
          </p:spPr>
        </p:sp>
      </p:grpSp>
      <p:grpSp>
        <p:nvGrpSpPr>
          <p:cNvPr id="81" name="node09"/>
          <p:cNvGrpSpPr/>
          <p:nvPr/>
        </p:nvGrpSpPr>
        <p:grpSpPr>
          <a:xfrm>
            <a:off x="3070860" y="2667000"/>
            <a:ext cx="1661160" cy="139700"/>
            <a:chOff x="3070860" y="2667000"/>
            <a:chExt cx="1661160" cy="139700"/>
          </a:xfrm>
        </p:grpSpPr>
        <p:sp>
          <p:nvSpPr>
            <p:cNvPr id="21" name="node09.text"/>
            <p:cNvSpPr/>
            <p:nvPr/>
          </p:nvSpPr>
          <p:spPr>
            <a:xfrm>
              <a:off x="3070860" y="26670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ACTIVITIES</a:t>
              </a:r>
              <a:endParaRPr lang="en-US" sz="800" spc="48" kern="0" b="0" i="0" dirty="0">
                <a:solidFill>
                  <a:srgbClr val="50658E"/>
                </a:solidFill>
                <a:latin typeface="IBM Plex Mono Medium"/>
                <a:ea typeface="IBM Plex Mono Medium"/>
                <a:cs typeface="IBM Plex Mono Medium"/>
              </a:endParaRPr>
            </a:p>
          </p:txBody>
        </p:sp>
      </p:grpSp>
      <p:grpSp>
        <p:nvGrpSpPr>
          <p:cNvPr id="82" name="node10"/>
          <p:cNvGrpSpPr/>
          <p:nvPr/>
        </p:nvGrpSpPr>
        <p:grpSpPr>
          <a:xfrm>
            <a:off x="3070860" y="2895600"/>
            <a:ext cx="1661160" cy="901700"/>
            <a:chOff x="3070860" y="2895600"/>
            <a:chExt cx="1661160" cy="901700"/>
          </a:xfrm>
        </p:grpSpPr>
        <p:sp>
          <p:nvSpPr>
            <p:cNvPr id="22" name="node10.source-001.bullet"/>
            <p:cNvSpPr/>
            <p:nvPr/>
          </p:nvSpPr>
          <p:spPr>
            <a:xfrm>
              <a:off x="3070860" y="2984500"/>
              <a:ext cx="38100" cy="38100"/>
            </a:xfrm>
            <a:prstGeom prst="rect">
              <a:avLst/>
            </a:prstGeom>
            <a:solidFill>
              <a:srgbClr val="070154"/>
            </a:solidFill>
            <a:ln>
              <a:noFill/>
            </a:ln>
          </p:spPr>
        </p:sp>
        <p:sp>
          <p:nvSpPr>
            <p:cNvPr id="23" name="node10.source-001.text"/>
            <p:cNvSpPr/>
            <p:nvPr/>
          </p:nvSpPr>
          <p:spPr>
            <a:xfrm>
              <a:off x="3223260" y="28956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Approve patterns per environment</a:t>
              </a:r>
              <a:endParaRPr lang="en-US" sz="1200" spc="0" kern="0" b="0" i="0" dirty="0">
                <a:solidFill>
                  <a:srgbClr val="070154"/>
                </a:solidFill>
                <a:latin typeface="IBM Plex Sans"/>
                <a:ea typeface="IBM Plex Sans"/>
                <a:cs typeface="IBM Plex Sans"/>
              </a:endParaRPr>
            </a:p>
          </p:txBody>
        </p:sp>
        <p:sp>
          <p:nvSpPr>
            <p:cNvPr id="24" name="node10.source-002.bullet"/>
            <p:cNvSpPr/>
            <p:nvPr/>
          </p:nvSpPr>
          <p:spPr>
            <a:xfrm>
              <a:off x="3070860" y="3454400"/>
              <a:ext cx="38100" cy="38100"/>
            </a:xfrm>
            <a:prstGeom prst="rect">
              <a:avLst/>
            </a:prstGeom>
            <a:solidFill>
              <a:srgbClr val="070154"/>
            </a:solidFill>
            <a:ln>
              <a:noFill/>
            </a:ln>
          </p:spPr>
        </p:sp>
        <p:sp>
          <p:nvSpPr>
            <p:cNvPr id="25" name="node10.source-002.text"/>
            <p:cNvSpPr/>
            <p:nvPr/>
          </p:nvSpPr>
          <p:spPr>
            <a:xfrm>
              <a:off x="3223260" y="33655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Agree workload placement rules</a:t>
              </a:r>
              <a:endParaRPr lang="en-US" sz="1200" spc="0" kern="0" b="0" i="0" dirty="0">
                <a:solidFill>
                  <a:srgbClr val="070154"/>
                </a:solidFill>
                <a:latin typeface="IBM Plex Sans"/>
                <a:ea typeface="IBM Plex Sans"/>
                <a:cs typeface="IBM Plex Sans"/>
              </a:endParaRPr>
            </a:p>
          </p:txBody>
        </p:sp>
      </p:grpSp>
      <p:grpSp>
        <p:nvGrpSpPr>
          <p:cNvPr id="83" name="node11"/>
          <p:cNvGrpSpPr/>
          <p:nvPr/>
        </p:nvGrpSpPr>
        <p:grpSpPr>
          <a:xfrm>
            <a:off x="3070860" y="4114800"/>
            <a:ext cx="1661160" cy="139700"/>
            <a:chOff x="3070860" y="4114800"/>
            <a:chExt cx="1661160" cy="139700"/>
          </a:xfrm>
        </p:grpSpPr>
        <p:sp>
          <p:nvSpPr>
            <p:cNvPr id="26" name="node11.text"/>
            <p:cNvSpPr/>
            <p:nvPr/>
          </p:nvSpPr>
          <p:spPr>
            <a:xfrm>
              <a:off x="3070860" y="41148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OUTPUT</a:t>
              </a:r>
              <a:endParaRPr lang="en-US" sz="800" spc="48" kern="0" b="0" i="0" dirty="0">
                <a:solidFill>
                  <a:srgbClr val="50658E"/>
                </a:solidFill>
                <a:latin typeface="IBM Plex Mono Medium"/>
                <a:ea typeface="IBM Plex Mono Medium"/>
                <a:cs typeface="IBM Plex Mono Medium"/>
              </a:endParaRPr>
            </a:p>
          </p:txBody>
        </p:sp>
      </p:grpSp>
      <p:grpSp>
        <p:nvGrpSpPr>
          <p:cNvPr id="84" name="node12"/>
          <p:cNvGrpSpPr/>
          <p:nvPr/>
        </p:nvGrpSpPr>
        <p:grpSpPr>
          <a:xfrm>
            <a:off x="3070860" y="4343400"/>
            <a:ext cx="1661160" cy="190500"/>
            <a:chOff x="3070860" y="4343400"/>
            <a:chExt cx="1661160" cy="190500"/>
          </a:xfrm>
        </p:grpSpPr>
        <p:sp>
          <p:nvSpPr>
            <p:cNvPr id="27" name="node12.text"/>
            <p:cNvSpPr/>
            <p:nvPr/>
          </p:nvSpPr>
          <p:spPr>
            <a:xfrm>
              <a:off x="3070860" y="43434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Signed-off standards</a:t>
              </a:r>
              <a:endParaRPr lang="en-US" sz="1100" spc="0" kern="0" b="0" i="0" dirty="0">
                <a:solidFill>
                  <a:srgbClr val="070154"/>
                </a:solidFill>
                <a:latin typeface="IBM Plex Sans"/>
                <a:ea typeface="IBM Plex Sans"/>
                <a:cs typeface="IBM Plex Sans"/>
              </a:endParaRPr>
            </a:p>
          </p:txBody>
        </p:sp>
      </p:grpSp>
      <p:grpSp>
        <p:nvGrpSpPr>
          <p:cNvPr id="85" name="node13"/>
          <p:cNvGrpSpPr/>
          <p:nvPr/>
        </p:nvGrpSpPr>
        <p:grpSpPr>
          <a:xfrm>
            <a:off x="5113020" y="1600200"/>
            <a:ext cx="1965960" cy="914400"/>
            <a:chOff x="5113020" y="1600200"/>
            <a:chExt cx="1965960" cy="914400"/>
          </a:xfrm>
        </p:grpSpPr>
        <p:sp>
          <p:nvSpPr>
            <p:cNvPr id="28" name="node13.container"/>
            <p:cNvSpPr/>
            <p:nvPr/>
          </p:nvSpPr>
          <p:spPr>
            <a:xfrm>
              <a:off x="5113020" y="1600200"/>
              <a:ext cx="1965960" cy="914400"/>
            </a:xfrm>
            <a:prstGeom prst="rect">
              <a:avLst/>
            </a:prstGeom>
            <a:solidFill>
              <a:srgbClr val="070154"/>
            </a:solidFill>
            <a:ln>
              <a:noFill/>
            </a:ln>
          </p:spPr>
        </p:sp>
        <p:sp>
          <p:nvSpPr>
            <p:cNvPr id="29" name="node13.number"/>
            <p:cNvSpPr/>
            <p:nvPr/>
          </p:nvSpPr>
          <p:spPr>
            <a:xfrm>
              <a:off x="526542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03</a:t>
              </a:r>
              <a:endParaRPr lang="en-US" sz="1600" spc="0" kern="0" b="0" i="0" dirty="0">
                <a:solidFill>
                  <a:srgbClr val="F900D3"/>
                </a:solidFill>
                <a:latin typeface="IBM Plex Mono SemiBold"/>
                <a:ea typeface="IBM Plex Mono SemiBold"/>
                <a:cs typeface="IBM Plex Mono SemiBold"/>
              </a:endParaRPr>
            </a:p>
          </p:txBody>
        </p:sp>
        <p:sp>
          <p:nvSpPr>
            <p:cNvPr id="30" name="node13.title"/>
            <p:cNvSpPr/>
            <p:nvPr/>
          </p:nvSpPr>
          <p:spPr>
            <a:xfrm>
              <a:off x="5636895" y="1790954"/>
              <a:ext cx="1289685"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Industrialize delivery</a:t>
              </a:r>
              <a:endParaRPr lang="en-US" sz="1200" spc="0" kern="0" b="0" i="0" dirty="0">
                <a:solidFill>
                  <a:srgbClr val="FFFFFF"/>
                </a:solidFill>
                <a:latin typeface="IBM Plex Sans"/>
                <a:ea typeface="IBM Plex Sans"/>
                <a:cs typeface="IBM Plex Sans"/>
              </a:endParaRPr>
            </a:p>
          </p:txBody>
        </p:sp>
      </p:grpSp>
      <p:grpSp>
        <p:nvGrpSpPr>
          <p:cNvPr id="86" name="node14"/>
          <p:cNvGrpSpPr/>
          <p:nvPr/>
        </p:nvGrpSpPr>
        <p:grpSpPr>
          <a:xfrm>
            <a:off x="5113020" y="2514600"/>
            <a:ext cx="1965960" cy="2286000"/>
            <a:chOff x="5113020" y="2514600"/>
            <a:chExt cx="1965960" cy="2286000"/>
          </a:xfrm>
        </p:grpSpPr>
        <p:sp>
          <p:nvSpPr>
            <p:cNvPr id="31" name="node14.surface"/>
            <p:cNvSpPr/>
            <p:nvPr/>
          </p:nvSpPr>
          <p:spPr>
            <a:xfrm>
              <a:off x="5113020" y="2514600"/>
              <a:ext cx="1965960" cy="2286000"/>
            </a:xfrm>
            <a:prstGeom prst="rect">
              <a:avLst/>
            </a:prstGeom>
            <a:solidFill>
              <a:srgbClr val="FFFFFF"/>
            </a:solidFill>
            <a:ln w="12700">
              <a:solidFill>
                <a:srgbClr val="CED7E6"/>
              </a:solidFill>
              <a:prstDash val="solid"/>
            </a:ln>
          </p:spPr>
        </p:sp>
      </p:grpSp>
      <p:grpSp>
        <p:nvGrpSpPr>
          <p:cNvPr id="87" name="node15"/>
          <p:cNvGrpSpPr/>
          <p:nvPr/>
        </p:nvGrpSpPr>
        <p:grpSpPr>
          <a:xfrm>
            <a:off x="5265420" y="2667000"/>
            <a:ext cx="1661160" cy="139700"/>
            <a:chOff x="5265420" y="2667000"/>
            <a:chExt cx="1661160" cy="139700"/>
          </a:xfrm>
        </p:grpSpPr>
        <p:sp>
          <p:nvSpPr>
            <p:cNvPr id="32" name="node15.text"/>
            <p:cNvSpPr/>
            <p:nvPr/>
          </p:nvSpPr>
          <p:spPr>
            <a:xfrm>
              <a:off x="5265420" y="26670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ACTIVITIES</a:t>
              </a:r>
              <a:endParaRPr lang="en-US" sz="800" spc="48" kern="0" b="0" i="0" dirty="0">
                <a:solidFill>
                  <a:srgbClr val="50658E"/>
                </a:solidFill>
                <a:latin typeface="IBM Plex Mono Medium"/>
                <a:ea typeface="IBM Plex Mono Medium"/>
                <a:cs typeface="IBM Plex Mono Medium"/>
              </a:endParaRPr>
            </a:p>
          </p:txBody>
        </p:sp>
      </p:grpSp>
      <p:grpSp>
        <p:nvGrpSpPr>
          <p:cNvPr id="88" name="node16"/>
          <p:cNvGrpSpPr/>
          <p:nvPr/>
        </p:nvGrpSpPr>
        <p:grpSpPr>
          <a:xfrm>
            <a:off x="5265420" y="2895600"/>
            <a:ext cx="1661160" cy="901700"/>
            <a:chOff x="5265420" y="2895600"/>
            <a:chExt cx="1661160" cy="901700"/>
          </a:xfrm>
        </p:grpSpPr>
        <p:sp>
          <p:nvSpPr>
            <p:cNvPr id="33" name="node16.source-001.bullet"/>
            <p:cNvSpPr/>
            <p:nvPr/>
          </p:nvSpPr>
          <p:spPr>
            <a:xfrm>
              <a:off x="5265420" y="2984500"/>
              <a:ext cx="38100" cy="38100"/>
            </a:xfrm>
            <a:prstGeom prst="rect">
              <a:avLst/>
            </a:prstGeom>
            <a:solidFill>
              <a:srgbClr val="070154"/>
            </a:solidFill>
            <a:ln>
              <a:noFill/>
            </a:ln>
          </p:spPr>
        </p:sp>
        <p:sp>
          <p:nvSpPr>
            <p:cNvPr id="34" name="node16.source-001.text"/>
            <p:cNvSpPr/>
            <p:nvPr/>
          </p:nvSpPr>
          <p:spPr>
            <a:xfrm>
              <a:off x="5417820" y="28956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Automate provisioning</a:t>
              </a:r>
              <a:endParaRPr lang="en-US" sz="1200" spc="0" kern="0" b="0" i="0" dirty="0">
                <a:solidFill>
                  <a:srgbClr val="070154"/>
                </a:solidFill>
                <a:latin typeface="IBM Plex Sans"/>
                <a:ea typeface="IBM Plex Sans"/>
                <a:cs typeface="IBM Plex Sans"/>
              </a:endParaRPr>
            </a:p>
          </p:txBody>
        </p:sp>
        <p:sp>
          <p:nvSpPr>
            <p:cNvPr id="35" name="node16.source-002.bullet"/>
            <p:cNvSpPr/>
            <p:nvPr/>
          </p:nvSpPr>
          <p:spPr>
            <a:xfrm>
              <a:off x="5265420" y="3454400"/>
              <a:ext cx="38100" cy="38100"/>
            </a:xfrm>
            <a:prstGeom prst="rect">
              <a:avLst/>
            </a:prstGeom>
            <a:solidFill>
              <a:srgbClr val="070154"/>
            </a:solidFill>
            <a:ln>
              <a:noFill/>
            </a:ln>
          </p:spPr>
        </p:sp>
        <p:sp>
          <p:nvSpPr>
            <p:cNvPr id="36" name="node16.source-002.text"/>
            <p:cNvSpPr/>
            <p:nvPr/>
          </p:nvSpPr>
          <p:spPr>
            <a:xfrm>
              <a:off x="5417820" y="33655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Build CI/CD promotion paths</a:t>
              </a:r>
              <a:endParaRPr lang="en-US" sz="1200" spc="0" kern="0" b="0" i="0" dirty="0">
                <a:solidFill>
                  <a:srgbClr val="070154"/>
                </a:solidFill>
                <a:latin typeface="IBM Plex Sans"/>
                <a:ea typeface="IBM Plex Sans"/>
                <a:cs typeface="IBM Plex Sans"/>
              </a:endParaRPr>
            </a:p>
          </p:txBody>
        </p:sp>
      </p:grpSp>
      <p:grpSp>
        <p:nvGrpSpPr>
          <p:cNvPr id="89" name="node17"/>
          <p:cNvGrpSpPr/>
          <p:nvPr/>
        </p:nvGrpSpPr>
        <p:grpSpPr>
          <a:xfrm>
            <a:off x="5265420" y="4114800"/>
            <a:ext cx="1661160" cy="139700"/>
            <a:chOff x="5265420" y="4114800"/>
            <a:chExt cx="1661160" cy="139700"/>
          </a:xfrm>
        </p:grpSpPr>
        <p:sp>
          <p:nvSpPr>
            <p:cNvPr id="37" name="node17.text"/>
            <p:cNvSpPr/>
            <p:nvPr/>
          </p:nvSpPr>
          <p:spPr>
            <a:xfrm>
              <a:off x="5265420" y="41148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OUTPUT</a:t>
              </a:r>
              <a:endParaRPr lang="en-US" sz="800" spc="48" kern="0" b="0" i="0" dirty="0">
                <a:solidFill>
                  <a:srgbClr val="50658E"/>
                </a:solidFill>
                <a:latin typeface="IBM Plex Mono Medium"/>
                <a:ea typeface="IBM Plex Mono Medium"/>
                <a:cs typeface="IBM Plex Mono Medium"/>
              </a:endParaRPr>
            </a:p>
          </p:txBody>
        </p:sp>
      </p:grpSp>
      <p:grpSp>
        <p:nvGrpSpPr>
          <p:cNvPr id="90" name="node18"/>
          <p:cNvGrpSpPr/>
          <p:nvPr/>
        </p:nvGrpSpPr>
        <p:grpSpPr>
          <a:xfrm>
            <a:off x="5265420" y="4343400"/>
            <a:ext cx="1661160" cy="190500"/>
            <a:chOff x="5265420" y="4343400"/>
            <a:chExt cx="1661160" cy="190500"/>
          </a:xfrm>
        </p:grpSpPr>
        <p:sp>
          <p:nvSpPr>
            <p:cNvPr id="38" name="node18.text"/>
            <p:cNvSpPr/>
            <p:nvPr/>
          </p:nvSpPr>
          <p:spPr>
            <a:xfrm>
              <a:off x="5265420" y="43434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Release pipeline</a:t>
              </a:r>
              <a:endParaRPr lang="en-US" sz="1100" spc="0" kern="0" b="0" i="0" dirty="0">
                <a:solidFill>
                  <a:srgbClr val="070154"/>
                </a:solidFill>
                <a:latin typeface="IBM Plex Sans"/>
                <a:ea typeface="IBM Plex Sans"/>
                <a:cs typeface="IBM Plex Sans"/>
              </a:endParaRPr>
            </a:p>
          </p:txBody>
        </p:sp>
      </p:grpSp>
      <p:grpSp>
        <p:nvGrpSpPr>
          <p:cNvPr id="91" name="node19"/>
          <p:cNvGrpSpPr/>
          <p:nvPr/>
        </p:nvGrpSpPr>
        <p:grpSpPr>
          <a:xfrm>
            <a:off x="7307580" y="1600200"/>
            <a:ext cx="1965960" cy="914400"/>
            <a:chOff x="7307580" y="1600200"/>
            <a:chExt cx="1965960" cy="914400"/>
          </a:xfrm>
        </p:grpSpPr>
        <p:sp>
          <p:nvSpPr>
            <p:cNvPr id="39" name="node19.container"/>
            <p:cNvSpPr/>
            <p:nvPr/>
          </p:nvSpPr>
          <p:spPr>
            <a:xfrm>
              <a:off x="7307580" y="1600200"/>
              <a:ext cx="1965960" cy="914400"/>
            </a:xfrm>
            <a:prstGeom prst="rect">
              <a:avLst/>
            </a:prstGeom>
            <a:solidFill>
              <a:srgbClr val="070154"/>
            </a:solidFill>
            <a:ln>
              <a:noFill/>
            </a:ln>
          </p:spPr>
        </p:sp>
        <p:sp>
          <p:nvSpPr>
            <p:cNvPr id="40" name="node19.number"/>
            <p:cNvSpPr/>
            <p:nvPr/>
          </p:nvSpPr>
          <p:spPr>
            <a:xfrm>
              <a:off x="745998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04</a:t>
              </a:r>
              <a:endParaRPr lang="en-US" sz="1600" spc="0" kern="0" b="0" i="0" dirty="0">
                <a:solidFill>
                  <a:srgbClr val="F900D3"/>
                </a:solidFill>
                <a:latin typeface="IBM Plex Mono SemiBold"/>
                <a:ea typeface="IBM Plex Mono SemiBold"/>
                <a:cs typeface="IBM Plex Mono SemiBold"/>
              </a:endParaRPr>
            </a:p>
          </p:txBody>
        </p:sp>
        <p:sp>
          <p:nvSpPr>
            <p:cNvPr id="41" name="node19.title"/>
            <p:cNvSpPr/>
            <p:nvPr/>
          </p:nvSpPr>
          <p:spPr>
            <a:xfrm>
              <a:off x="7831455" y="1790954"/>
              <a:ext cx="1289685"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Drive adoption and ownership</a:t>
              </a:r>
              <a:endParaRPr lang="en-US" sz="1200" spc="0" kern="0" b="0" i="0" dirty="0">
                <a:solidFill>
                  <a:srgbClr val="FFFFFF"/>
                </a:solidFill>
                <a:latin typeface="IBM Plex Sans"/>
                <a:ea typeface="IBM Plex Sans"/>
                <a:cs typeface="IBM Plex Sans"/>
              </a:endParaRPr>
            </a:p>
          </p:txBody>
        </p:sp>
      </p:grpSp>
      <p:grpSp>
        <p:nvGrpSpPr>
          <p:cNvPr id="92" name="node20"/>
          <p:cNvGrpSpPr/>
          <p:nvPr/>
        </p:nvGrpSpPr>
        <p:grpSpPr>
          <a:xfrm>
            <a:off x="7307580" y="2514600"/>
            <a:ext cx="1965960" cy="2286000"/>
            <a:chOff x="7307580" y="2514600"/>
            <a:chExt cx="1965960" cy="2286000"/>
          </a:xfrm>
        </p:grpSpPr>
        <p:sp>
          <p:nvSpPr>
            <p:cNvPr id="42" name="node20.surface"/>
            <p:cNvSpPr/>
            <p:nvPr/>
          </p:nvSpPr>
          <p:spPr>
            <a:xfrm>
              <a:off x="7307580" y="2514600"/>
              <a:ext cx="1965960" cy="2286000"/>
            </a:xfrm>
            <a:prstGeom prst="rect">
              <a:avLst/>
            </a:prstGeom>
            <a:solidFill>
              <a:srgbClr val="FFFFFF"/>
            </a:solidFill>
            <a:ln w="12700">
              <a:solidFill>
                <a:srgbClr val="CED7E6"/>
              </a:solidFill>
              <a:prstDash val="solid"/>
            </a:ln>
          </p:spPr>
        </p:sp>
      </p:grpSp>
      <p:grpSp>
        <p:nvGrpSpPr>
          <p:cNvPr id="93" name="node21"/>
          <p:cNvGrpSpPr/>
          <p:nvPr/>
        </p:nvGrpSpPr>
        <p:grpSpPr>
          <a:xfrm>
            <a:off x="7459980" y="2667000"/>
            <a:ext cx="1661160" cy="139700"/>
            <a:chOff x="7459980" y="2667000"/>
            <a:chExt cx="1661160" cy="139700"/>
          </a:xfrm>
        </p:grpSpPr>
        <p:sp>
          <p:nvSpPr>
            <p:cNvPr id="43" name="node21.text"/>
            <p:cNvSpPr/>
            <p:nvPr/>
          </p:nvSpPr>
          <p:spPr>
            <a:xfrm>
              <a:off x="7459980" y="26670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ACTIVITIES</a:t>
              </a:r>
              <a:endParaRPr lang="en-US" sz="800" spc="48" kern="0" b="0" i="0" dirty="0">
                <a:solidFill>
                  <a:srgbClr val="50658E"/>
                </a:solidFill>
                <a:latin typeface="IBM Plex Mono Medium"/>
                <a:ea typeface="IBM Plex Mono Medium"/>
                <a:cs typeface="IBM Plex Mono Medium"/>
              </a:endParaRPr>
            </a:p>
          </p:txBody>
        </p:sp>
      </p:grpSp>
      <p:grpSp>
        <p:nvGrpSpPr>
          <p:cNvPr id="94" name="node22"/>
          <p:cNvGrpSpPr/>
          <p:nvPr/>
        </p:nvGrpSpPr>
        <p:grpSpPr>
          <a:xfrm>
            <a:off x="7459980" y="2895600"/>
            <a:ext cx="1661160" cy="901700"/>
            <a:chOff x="7459980" y="2895600"/>
            <a:chExt cx="1661160" cy="901700"/>
          </a:xfrm>
        </p:grpSpPr>
        <p:sp>
          <p:nvSpPr>
            <p:cNvPr id="44" name="node22.source-001.bullet"/>
            <p:cNvSpPr/>
            <p:nvPr/>
          </p:nvSpPr>
          <p:spPr>
            <a:xfrm>
              <a:off x="7459980" y="2984500"/>
              <a:ext cx="38100" cy="38100"/>
            </a:xfrm>
            <a:prstGeom prst="rect">
              <a:avLst/>
            </a:prstGeom>
            <a:solidFill>
              <a:srgbClr val="070154"/>
            </a:solidFill>
            <a:ln>
              <a:noFill/>
            </a:ln>
          </p:spPr>
        </p:sp>
        <p:sp>
          <p:nvSpPr>
            <p:cNvPr id="45" name="node22.source-001.text"/>
            <p:cNvSpPr/>
            <p:nvPr/>
          </p:nvSpPr>
          <p:spPr>
            <a:xfrm>
              <a:off x="7612380" y="28956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intake and onboarding</a:t>
              </a:r>
              <a:endParaRPr lang="en-US" sz="1200" spc="0" kern="0" b="0" i="0" dirty="0">
                <a:solidFill>
                  <a:srgbClr val="070154"/>
                </a:solidFill>
                <a:latin typeface="IBM Plex Sans"/>
                <a:ea typeface="IBM Plex Sans"/>
                <a:cs typeface="IBM Plex Sans"/>
              </a:endParaRPr>
            </a:p>
          </p:txBody>
        </p:sp>
        <p:sp>
          <p:nvSpPr>
            <p:cNvPr id="46" name="node22.source-002.bullet"/>
            <p:cNvSpPr/>
            <p:nvPr/>
          </p:nvSpPr>
          <p:spPr>
            <a:xfrm>
              <a:off x="7459980" y="3454400"/>
              <a:ext cx="38100" cy="38100"/>
            </a:xfrm>
            <a:prstGeom prst="rect">
              <a:avLst/>
            </a:prstGeom>
            <a:solidFill>
              <a:srgbClr val="070154"/>
            </a:solidFill>
            <a:ln>
              <a:noFill/>
            </a:ln>
          </p:spPr>
        </p:sp>
        <p:sp>
          <p:nvSpPr>
            <p:cNvPr id="47" name="node22.source-002.text"/>
            <p:cNvSpPr/>
            <p:nvPr/>
          </p:nvSpPr>
          <p:spPr>
            <a:xfrm>
              <a:off x="7612380" y="33655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Define the self-service path</a:t>
              </a:r>
              <a:endParaRPr lang="en-US" sz="1200" spc="0" kern="0" b="0" i="0" dirty="0">
                <a:solidFill>
                  <a:srgbClr val="070154"/>
                </a:solidFill>
                <a:latin typeface="IBM Plex Sans"/>
                <a:ea typeface="IBM Plex Sans"/>
                <a:cs typeface="IBM Plex Sans"/>
              </a:endParaRPr>
            </a:p>
          </p:txBody>
        </p:sp>
      </p:grpSp>
      <p:grpSp>
        <p:nvGrpSpPr>
          <p:cNvPr id="95" name="node23"/>
          <p:cNvGrpSpPr/>
          <p:nvPr/>
        </p:nvGrpSpPr>
        <p:grpSpPr>
          <a:xfrm>
            <a:off x="7459980" y="4114800"/>
            <a:ext cx="1661160" cy="139700"/>
            <a:chOff x="7459980" y="4114800"/>
            <a:chExt cx="1661160" cy="139700"/>
          </a:xfrm>
        </p:grpSpPr>
        <p:sp>
          <p:nvSpPr>
            <p:cNvPr id="48" name="node23.text"/>
            <p:cNvSpPr/>
            <p:nvPr/>
          </p:nvSpPr>
          <p:spPr>
            <a:xfrm>
              <a:off x="7459980" y="41148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OUTPUT</a:t>
              </a:r>
              <a:endParaRPr lang="en-US" sz="800" spc="48" kern="0" b="0" i="0" dirty="0">
                <a:solidFill>
                  <a:srgbClr val="50658E"/>
                </a:solidFill>
                <a:latin typeface="IBM Plex Mono Medium"/>
                <a:ea typeface="IBM Plex Mono Medium"/>
                <a:cs typeface="IBM Plex Mono Medium"/>
              </a:endParaRPr>
            </a:p>
          </p:txBody>
        </p:sp>
      </p:grpSp>
      <p:grpSp>
        <p:nvGrpSpPr>
          <p:cNvPr id="96" name="node24"/>
          <p:cNvGrpSpPr/>
          <p:nvPr/>
        </p:nvGrpSpPr>
        <p:grpSpPr>
          <a:xfrm>
            <a:off x="7459980" y="4343400"/>
            <a:ext cx="1661160" cy="190500"/>
            <a:chOff x="7459980" y="4343400"/>
            <a:chExt cx="1661160" cy="190500"/>
          </a:xfrm>
        </p:grpSpPr>
        <p:sp>
          <p:nvSpPr>
            <p:cNvPr id="49" name="node24.text"/>
            <p:cNvSpPr/>
            <p:nvPr/>
          </p:nvSpPr>
          <p:spPr>
            <a:xfrm>
              <a:off x="7459980" y="43434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Trained owner teams</a:t>
              </a:r>
              <a:endParaRPr lang="en-US" sz="1100" spc="0" kern="0" b="0" i="0" dirty="0">
                <a:solidFill>
                  <a:srgbClr val="070154"/>
                </a:solidFill>
                <a:latin typeface="IBM Plex Sans"/>
                <a:ea typeface="IBM Plex Sans"/>
                <a:cs typeface="IBM Plex Sans"/>
              </a:endParaRPr>
            </a:p>
          </p:txBody>
        </p:sp>
      </p:grpSp>
      <p:grpSp>
        <p:nvGrpSpPr>
          <p:cNvPr id="97" name="node25"/>
          <p:cNvGrpSpPr/>
          <p:nvPr/>
        </p:nvGrpSpPr>
        <p:grpSpPr>
          <a:xfrm>
            <a:off x="9502140" y="1600200"/>
            <a:ext cx="1965960" cy="914400"/>
            <a:chOff x="9502140" y="1600200"/>
            <a:chExt cx="1965960" cy="914400"/>
          </a:xfrm>
        </p:grpSpPr>
        <p:sp>
          <p:nvSpPr>
            <p:cNvPr id="50" name="node25.container"/>
            <p:cNvSpPr/>
            <p:nvPr/>
          </p:nvSpPr>
          <p:spPr>
            <a:xfrm>
              <a:off x="9502140" y="1600200"/>
              <a:ext cx="1965960" cy="914400"/>
            </a:xfrm>
            <a:prstGeom prst="rect">
              <a:avLst/>
            </a:prstGeom>
            <a:solidFill>
              <a:srgbClr val="070154"/>
            </a:solidFill>
            <a:ln>
              <a:noFill/>
            </a:ln>
          </p:spPr>
        </p:sp>
        <p:sp>
          <p:nvSpPr>
            <p:cNvPr id="51" name="node25.number"/>
            <p:cNvSpPr/>
            <p:nvPr/>
          </p:nvSpPr>
          <p:spPr>
            <a:xfrm>
              <a:off x="965454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05</a:t>
              </a:r>
              <a:endParaRPr lang="en-US" sz="1600" spc="0" kern="0" b="0" i="0" dirty="0">
                <a:solidFill>
                  <a:srgbClr val="F900D3"/>
                </a:solidFill>
                <a:latin typeface="IBM Plex Mono SemiBold"/>
                <a:ea typeface="IBM Plex Mono SemiBold"/>
                <a:cs typeface="IBM Plex Mono SemiBold"/>
              </a:endParaRPr>
            </a:p>
          </p:txBody>
        </p:sp>
        <p:sp>
          <p:nvSpPr>
            <p:cNvPr id="52" name="node25.title"/>
            <p:cNvSpPr/>
            <p:nvPr/>
          </p:nvSpPr>
          <p:spPr>
            <a:xfrm>
              <a:off x="10026015" y="1790954"/>
              <a:ext cx="1289685"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Prove value and cost</a:t>
              </a:r>
              <a:endParaRPr lang="en-US" sz="1200" spc="0" kern="0" b="0" i="0" dirty="0">
                <a:solidFill>
                  <a:srgbClr val="FFFFFF"/>
                </a:solidFill>
                <a:latin typeface="IBM Plex Sans"/>
                <a:ea typeface="IBM Plex Sans"/>
                <a:cs typeface="IBM Plex Sans"/>
              </a:endParaRPr>
            </a:p>
          </p:txBody>
        </p:sp>
      </p:grpSp>
      <p:grpSp>
        <p:nvGrpSpPr>
          <p:cNvPr id="98" name="node26"/>
          <p:cNvGrpSpPr/>
          <p:nvPr/>
        </p:nvGrpSpPr>
        <p:grpSpPr>
          <a:xfrm>
            <a:off x="9502140" y="2514600"/>
            <a:ext cx="1965960" cy="2286000"/>
            <a:chOff x="9502140" y="2514600"/>
            <a:chExt cx="1965960" cy="2286000"/>
          </a:xfrm>
        </p:grpSpPr>
        <p:sp>
          <p:nvSpPr>
            <p:cNvPr id="53" name="node26.surface"/>
            <p:cNvSpPr/>
            <p:nvPr/>
          </p:nvSpPr>
          <p:spPr>
            <a:xfrm>
              <a:off x="9502140" y="2514600"/>
              <a:ext cx="1965960" cy="2286000"/>
            </a:xfrm>
            <a:prstGeom prst="rect">
              <a:avLst/>
            </a:prstGeom>
            <a:solidFill>
              <a:srgbClr val="FFFFFF"/>
            </a:solidFill>
            <a:ln w="12700">
              <a:solidFill>
                <a:srgbClr val="CED7E6"/>
              </a:solidFill>
              <a:prstDash val="solid"/>
            </a:ln>
          </p:spPr>
        </p:sp>
      </p:grpSp>
      <p:grpSp>
        <p:nvGrpSpPr>
          <p:cNvPr id="99" name="node27"/>
          <p:cNvGrpSpPr/>
          <p:nvPr/>
        </p:nvGrpSpPr>
        <p:grpSpPr>
          <a:xfrm>
            <a:off x="9654540" y="2667000"/>
            <a:ext cx="1661160" cy="139700"/>
            <a:chOff x="9654540" y="2667000"/>
            <a:chExt cx="1661160" cy="139700"/>
          </a:xfrm>
        </p:grpSpPr>
        <p:sp>
          <p:nvSpPr>
            <p:cNvPr id="54" name="node27.text"/>
            <p:cNvSpPr/>
            <p:nvPr/>
          </p:nvSpPr>
          <p:spPr>
            <a:xfrm>
              <a:off x="9654540" y="26670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ACTIVITIES</a:t>
              </a:r>
              <a:endParaRPr lang="en-US" sz="800" spc="48" kern="0" b="0" i="0" dirty="0">
                <a:solidFill>
                  <a:srgbClr val="50658E"/>
                </a:solidFill>
                <a:latin typeface="IBM Plex Mono Medium"/>
                <a:ea typeface="IBM Plex Mono Medium"/>
                <a:cs typeface="IBM Plex Mono Medium"/>
              </a:endParaRPr>
            </a:p>
          </p:txBody>
        </p:sp>
      </p:grpSp>
      <p:grpSp>
        <p:nvGrpSpPr>
          <p:cNvPr id="100" name="node28"/>
          <p:cNvGrpSpPr/>
          <p:nvPr/>
        </p:nvGrpSpPr>
        <p:grpSpPr>
          <a:xfrm>
            <a:off x="9654540" y="2895600"/>
            <a:ext cx="1661160" cy="901700"/>
            <a:chOff x="9654540" y="2895600"/>
            <a:chExt cx="1661160" cy="901700"/>
          </a:xfrm>
        </p:grpSpPr>
        <p:sp>
          <p:nvSpPr>
            <p:cNvPr id="55" name="node28.source-001.bullet"/>
            <p:cNvSpPr/>
            <p:nvPr/>
          </p:nvSpPr>
          <p:spPr>
            <a:xfrm>
              <a:off x="9654540" y="2984500"/>
              <a:ext cx="38100" cy="38100"/>
            </a:xfrm>
            <a:prstGeom prst="rect">
              <a:avLst/>
            </a:prstGeom>
            <a:solidFill>
              <a:srgbClr val="070154"/>
            </a:solidFill>
            <a:ln>
              <a:noFill/>
            </a:ln>
          </p:spPr>
        </p:sp>
        <p:sp>
          <p:nvSpPr>
            <p:cNvPr id="56" name="node28.source-001.text"/>
            <p:cNvSpPr/>
            <p:nvPr/>
          </p:nvSpPr>
          <p:spPr>
            <a:xfrm>
              <a:off x="9806940" y="28956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Baseline cost per workload</a:t>
              </a:r>
              <a:endParaRPr lang="en-US" sz="1200" spc="0" kern="0" b="0" i="0" dirty="0">
                <a:solidFill>
                  <a:srgbClr val="070154"/>
                </a:solidFill>
                <a:latin typeface="IBM Plex Sans"/>
                <a:ea typeface="IBM Plex Sans"/>
                <a:cs typeface="IBM Plex Sans"/>
              </a:endParaRPr>
            </a:p>
          </p:txBody>
        </p:sp>
        <p:sp>
          <p:nvSpPr>
            <p:cNvPr id="57" name="node28.source-002.bullet"/>
            <p:cNvSpPr/>
            <p:nvPr/>
          </p:nvSpPr>
          <p:spPr>
            <a:xfrm>
              <a:off x="9654540" y="3454400"/>
              <a:ext cx="38100" cy="38100"/>
            </a:xfrm>
            <a:prstGeom prst="rect">
              <a:avLst/>
            </a:prstGeom>
            <a:solidFill>
              <a:srgbClr val="070154"/>
            </a:solidFill>
            <a:ln>
              <a:noFill/>
            </a:ln>
          </p:spPr>
        </p:sp>
        <p:sp>
          <p:nvSpPr>
            <p:cNvPr id="58" name="node28.source-002.text"/>
            <p:cNvSpPr/>
            <p:nvPr/>
          </p:nvSpPr>
          <p:spPr>
            <a:xfrm>
              <a:off x="9806940" y="33655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Track savings against plan</a:t>
              </a:r>
              <a:endParaRPr lang="en-US" sz="1200" spc="0" kern="0" b="0" i="0" dirty="0">
                <a:solidFill>
                  <a:srgbClr val="070154"/>
                </a:solidFill>
                <a:latin typeface="IBM Plex Sans"/>
                <a:ea typeface="IBM Plex Sans"/>
                <a:cs typeface="IBM Plex Sans"/>
              </a:endParaRPr>
            </a:p>
          </p:txBody>
        </p:sp>
      </p:grpSp>
      <p:grpSp>
        <p:nvGrpSpPr>
          <p:cNvPr id="101" name="node29"/>
          <p:cNvGrpSpPr/>
          <p:nvPr/>
        </p:nvGrpSpPr>
        <p:grpSpPr>
          <a:xfrm>
            <a:off x="9654540" y="4114800"/>
            <a:ext cx="1661160" cy="139700"/>
            <a:chOff x="9654540" y="4114800"/>
            <a:chExt cx="1661160" cy="139700"/>
          </a:xfrm>
        </p:grpSpPr>
        <p:sp>
          <p:nvSpPr>
            <p:cNvPr id="59" name="node29.text"/>
            <p:cNvSpPr/>
            <p:nvPr/>
          </p:nvSpPr>
          <p:spPr>
            <a:xfrm>
              <a:off x="9654540" y="41148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OUTPUT</a:t>
              </a:r>
              <a:endParaRPr lang="en-US" sz="800" spc="48" kern="0" b="0" i="0" dirty="0">
                <a:solidFill>
                  <a:srgbClr val="50658E"/>
                </a:solidFill>
                <a:latin typeface="IBM Plex Mono Medium"/>
                <a:ea typeface="IBM Plex Mono Medium"/>
                <a:cs typeface="IBM Plex Mono Medium"/>
              </a:endParaRPr>
            </a:p>
          </p:txBody>
        </p:sp>
      </p:grpSp>
      <p:grpSp>
        <p:nvGrpSpPr>
          <p:cNvPr id="102" name="node30"/>
          <p:cNvGrpSpPr/>
          <p:nvPr/>
        </p:nvGrpSpPr>
        <p:grpSpPr>
          <a:xfrm>
            <a:off x="9654540" y="4343400"/>
            <a:ext cx="1661160" cy="190500"/>
            <a:chOff x="9654540" y="4343400"/>
            <a:chExt cx="1661160" cy="190500"/>
          </a:xfrm>
        </p:grpSpPr>
        <p:sp>
          <p:nvSpPr>
            <p:cNvPr id="60" name="node30.text"/>
            <p:cNvSpPr/>
            <p:nvPr/>
          </p:nvSpPr>
          <p:spPr>
            <a:xfrm>
              <a:off x="9654540" y="434340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Value report</a:t>
              </a:r>
              <a:endParaRPr lang="en-US" sz="1100" spc="0" kern="0" b="0" i="0" dirty="0">
                <a:solidFill>
                  <a:srgbClr val="070154"/>
                </a:solidFill>
                <a:latin typeface="IBM Plex Sans"/>
                <a:ea typeface="IBM Plex Sans"/>
                <a:cs typeface="IBM Plex Sans"/>
              </a:endParaRPr>
            </a:p>
          </p:txBody>
        </p:sp>
      </p:grpSp>
      <p:grpSp>
        <p:nvGrpSpPr>
          <p:cNvPr id="103" name="node31"/>
          <p:cNvGrpSpPr/>
          <p:nvPr/>
        </p:nvGrpSpPr>
        <p:grpSpPr>
          <a:xfrm>
            <a:off x="723900" y="5029200"/>
            <a:ext cx="10744200" cy="914400"/>
            <a:chOff x="723900" y="5029200"/>
            <a:chExt cx="10744200" cy="914400"/>
          </a:xfrm>
        </p:grpSpPr>
        <p:sp>
          <p:nvSpPr>
            <p:cNvPr id="61" name="node31.surface"/>
            <p:cNvSpPr/>
            <p:nvPr/>
          </p:nvSpPr>
          <p:spPr>
            <a:xfrm>
              <a:off x="723900" y="5029200"/>
              <a:ext cx="10744200" cy="914400"/>
            </a:xfrm>
            <a:prstGeom prst="rect">
              <a:avLst/>
            </a:prstGeom>
            <a:solidFill>
              <a:srgbClr val="E8EEF8"/>
            </a:solidFill>
            <a:ln>
              <a:noFill/>
            </a:ln>
          </p:spPr>
        </p:sp>
      </p:grpSp>
      <p:grpSp>
        <p:nvGrpSpPr>
          <p:cNvPr id="104" name="node32"/>
          <p:cNvGrpSpPr/>
          <p:nvPr/>
        </p:nvGrpSpPr>
        <p:grpSpPr>
          <a:xfrm>
            <a:off x="838200" y="5105400"/>
            <a:ext cx="10287000" cy="139700"/>
            <a:chOff x="838200" y="5105400"/>
            <a:chExt cx="10287000" cy="139700"/>
          </a:xfrm>
        </p:grpSpPr>
        <p:sp>
          <p:nvSpPr>
            <p:cNvPr id="62" name="node32.text"/>
            <p:cNvSpPr/>
            <p:nvPr/>
          </p:nvSpPr>
          <p:spPr>
            <a:xfrm>
              <a:off x="838200" y="5105400"/>
              <a:ext cx="10287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KEY RISKS IF THE WORK IS NOT DONE RIGHT</a:t>
              </a:r>
              <a:endParaRPr lang="en-US" sz="800" spc="48" kern="0" b="0" i="0" dirty="0">
                <a:solidFill>
                  <a:srgbClr val="0047FF"/>
                </a:solidFill>
                <a:latin typeface="IBM Plex Mono Medium"/>
                <a:ea typeface="IBM Plex Mono Medium"/>
                <a:cs typeface="IBM Plex Mono Medium"/>
              </a:endParaRPr>
            </a:p>
          </p:txBody>
        </p:sp>
      </p:grpSp>
      <p:grpSp>
        <p:nvGrpSpPr>
          <p:cNvPr id="105" name="node33"/>
          <p:cNvGrpSpPr/>
          <p:nvPr/>
        </p:nvGrpSpPr>
        <p:grpSpPr>
          <a:xfrm>
            <a:off x="723900" y="5257800"/>
            <a:ext cx="1965960" cy="685800"/>
            <a:chOff x="723900" y="5257800"/>
            <a:chExt cx="1965960" cy="685800"/>
          </a:xfrm>
        </p:grpSpPr>
        <p:sp>
          <p:nvSpPr>
            <p:cNvPr id="63" name="node33.container"/>
            <p:cNvSpPr/>
            <p:nvPr/>
          </p:nvSpPr>
          <p:spPr>
            <a:xfrm>
              <a:off x="723900" y="5257800"/>
              <a:ext cx="1965960" cy="685800"/>
            </a:xfrm>
            <a:prstGeom prst="rect">
              <a:avLst/>
            </a:prstGeom>
            <a:solidFill>
              <a:srgbClr val="E8EEF8"/>
            </a:solidFill>
            <a:ln>
              <a:noFill/>
            </a:ln>
          </p:spPr>
        </p:sp>
        <p:sp>
          <p:nvSpPr>
            <p:cNvPr id="64" name="node33.body.item-001.paragraph"/>
            <p:cNvSpPr/>
            <p:nvPr/>
          </p:nvSpPr>
          <p:spPr>
            <a:xfrm>
              <a:off x="838200" y="5372100"/>
              <a:ext cx="17373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The platform becomes an IT silo</a:t>
              </a:r>
              <a:endParaRPr lang="en-US" sz="1200" spc="0" kern="0" b="0" i="0" dirty="0">
                <a:solidFill>
                  <a:srgbClr val="50658E"/>
                </a:solidFill>
                <a:latin typeface="IBM Plex Sans"/>
                <a:ea typeface="IBM Plex Sans"/>
                <a:cs typeface="IBM Plex Sans"/>
              </a:endParaRPr>
            </a:p>
          </p:txBody>
        </p:sp>
      </p:grpSp>
      <p:grpSp>
        <p:nvGrpSpPr>
          <p:cNvPr id="106" name="node34"/>
          <p:cNvGrpSpPr/>
          <p:nvPr/>
        </p:nvGrpSpPr>
        <p:grpSpPr>
          <a:xfrm>
            <a:off x="2918460" y="5257800"/>
            <a:ext cx="1965960" cy="685800"/>
            <a:chOff x="2918460" y="5257800"/>
            <a:chExt cx="1965960" cy="685800"/>
          </a:xfrm>
        </p:grpSpPr>
        <p:sp>
          <p:nvSpPr>
            <p:cNvPr id="65" name="node34.container"/>
            <p:cNvSpPr/>
            <p:nvPr/>
          </p:nvSpPr>
          <p:spPr>
            <a:xfrm>
              <a:off x="2918460" y="5257800"/>
              <a:ext cx="1965960" cy="685800"/>
            </a:xfrm>
            <a:prstGeom prst="rect">
              <a:avLst/>
            </a:prstGeom>
            <a:solidFill>
              <a:srgbClr val="E8EEF8"/>
            </a:solidFill>
            <a:ln>
              <a:noFill/>
            </a:ln>
          </p:spPr>
        </p:sp>
        <p:sp>
          <p:nvSpPr>
            <p:cNvPr id="66" name="node34.body.item-001.paragraph"/>
            <p:cNvSpPr/>
            <p:nvPr/>
          </p:nvSpPr>
          <p:spPr>
            <a:xfrm>
              <a:off x="3032760" y="5372100"/>
              <a:ext cx="17373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It stays a project, not a service</a:t>
              </a:r>
              <a:endParaRPr lang="en-US" sz="1200" spc="0" kern="0" b="0" i="0" dirty="0">
                <a:solidFill>
                  <a:srgbClr val="50658E"/>
                </a:solidFill>
                <a:latin typeface="IBM Plex Sans"/>
                <a:ea typeface="IBM Plex Sans"/>
                <a:cs typeface="IBM Plex Sans"/>
              </a:endParaRPr>
            </a:p>
          </p:txBody>
        </p:sp>
      </p:grpSp>
      <p:grpSp>
        <p:nvGrpSpPr>
          <p:cNvPr id="107" name="node35"/>
          <p:cNvGrpSpPr/>
          <p:nvPr/>
        </p:nvGrpSpPr>
        <p:grpSpPr>
          <a:xfrm>
            <a:off x="5113020" y="5257800"/>
            <a:ext cx="1965960" cy="685800"/>
            <a:chOff x="5113020" y="5257800"/>
            <a:chExt cx="1965960" cy="685800"/>
          </a:xfrm>
        </p:grpSpPr>
        <p:sp>
          <p:nvSpPr>
            <p:cNvPr id="67" name="node35.container"/>
            <p:cNvSpPr/>
            <p:nvPr/>
          </p:nvSpPr>
          <p:spPr>
            <a:xfrm>
              <a:off x="5113020" y="5257800"/>
              <a:ext cx="1965960" cy="685800"/>
            </a:xfrm>
            <a:prstGeom prst="rect">
              <a:avLst/>
            </a:prstGeom>
            <a:solidFill>
              <a:srgbClr val="E8EEF8"/>
            </a:solidFill>
            <a:ln>
              <a:noFill/>
            </a:ln>
          </p:spPr>
        </p:sp>
        <p:sp>
          <p:nvSpPr>
            <p:cNvPr id="68" name="node35.body.item-001.paragraph"/>
            <p:cNvSpPr/>
            <p:nvPr/>
          </p:nvSpPr>
          <p:spPr>
            <a:xfrm>
              <a:off x="5227320" y="5372100"/>
              <a:ext cx="17373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Costs rise faster than usage</a:t>
              </a:r>
              <a:endParaRPr lang="en-US" sz="1200" spc="0" kern="0" b="0" i="0" dirty="0">
                <a:solidFill>
                  <a:srgbClr val="50658E"/>
                </a:solidFill>
                <a:latin typeface="IBM Plex Sans"/>
                <a:ea typeface="IBM Plex Sans"/>
                <a:cs typeface="IBM Plex Sans"/>
              </a:endParaRPr>
            </a:p>
          </p:txBody>
        </p:sp>
      </p:grpSp>
      <p:grpSp>
        <p:nvGrpSpPr>
          <p:cNvPr id="108" name="node36"/>
          <p:cNvGrpSpPr/>
          <p:nvPr/>
        </p:nvGrpSpPr>
        <p:grpSpPr>
          <a:xfrm>
            <a:off x="7307580" y="5257800"/>
            <a:ext cx="1965960" cy="685800"/>
            <a:chOff x="7307580" y="5257800"/>
            <a:chExt cx="1965960" cy="685800"/>
          </a:xfrm>
        </p:grpSpPr>
        <p:sp>
          <p:nvSpPr>
            <p:cNvPr id="69" name="node36.container"/>
            <p:cNvSpPr/>
            <p:nvPr/>
          </p:nvSpPr>
          <p:spPr>
            <a:xfrm>
              <a:off x="7307580" y="5257800"/>
              <a:ext cx="1965960" cy="685800"/>
            </a:xfrm>
            <a:prstGeom prst="rect">
              <a:avLst/>
            </a:prstGeom>
            <a:solidFill>
              <a:srgbClr val="E8EEF8"/>
            </a:solidFill>
            <a:ln>
              <a:noFill/>
            </a:ln>
          </p:spPr>
        </p:sp>
        <p:sp>
          <p:nvSpPr>
            <p:cNvPr id="70" name="node36.body.item-001.paragraph"/>
            <p:cNvSpPr/>
            <p:nvPr/>
          </p:nvSpPr>
          <p:spPr>
            <a:xfrm>
              <a:off x="7421880" y="5372100"/>
              <a:ext cx="17373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Adoption stalls at capacity limits</a:t>
              </a:r>
              <a:endParaRPr lang="en-US" sz="1200" spc="0" kern="0" b="0" i="0" dirty="0">
                <a:solidFill>
                  <a:srgbClr val="50658E"/>
                </a:solidFill>
                <a:latin typeface="IBM Plex Sans"/>
                <a:ea typeface="IBM Plex Sans"/>
                <a:cs typeface="IBM Plex Sans"/>
              </a:endParaRPr>
            </a:p>
          </p:txBody>
        </p:sp>
      </p:grpSp>
      <p:grpSp>
        <p:nvGrpSpPr>
          <p:cNvPr id="109" name="node37"/>
          <p:cNvGrpSpPr/>
          <p:nvPr/>
        </p:nvGrpSpPr>
        <p:grpSpPr>
          <a:xfrm>
            <a:off x="9502140" y="5257800"/>
            <a:ext cx="1965960" cy="685800"/>
            <a:chOff x="9502140" y="5257800"/>
            <a:chExt cx="1965960" cy="685800"/>
          </a:xfrm>
        </p:grpSpPr>
        <p:sp>
          <p:nvSpPr>
            <p:cNvPr id="71" name="node37.container"/>
            <p:cNvSpPr/>
            <p:nvPr/>
          </p:nvSpPr>
          <p:spPr>
            <a:xfrm>
              <a:off x="9502140" y="5257800"/>
              <a:ext cx="1965960" cy="685800"/>
            </a:xfrm>
            <a:prstGeom prst="rect">
              <a:avLst/>
            </a:prstGeom>
            <a:solidFill>
              <a:srgbClr val="E8EEF8"/>
            </a:solidFill>
            <a:ln>
              <a:noFill/>
            </a:ln>
          </p:spPr>
        </p:sp>
        <p:sp>
          <p:nvSpPr>
            <p:cNvPr id="72" name="node37.body.item-001.paragraph"/>
            <p:cNvSpPr/>
            <p:nvPr/>
          </p:nvSpPr>
          <p:spPr>
            <a:xfrm>
              <a:off x="9616440" y="5372100"/>
              <a:ext cx="17373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Value is never shown to funders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ource-64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Five workstreams take the platform from project to service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97</a:t>
            </a:fld>
            <a:endParaRPr lang="en-US" sz="700" spc="0" kern="0" b="0" i="0" dirty="0">
              <a:solidFill>
                <a:srgbClr val="070154"/>
              </a:solidFill>
              <a:latin typeface="IBM Plex Mono SemiBold"/>
              <a:ea typeface="IBM Plex Mono SemiBold"/>
              <a:cs typeface="IBM Plex Mono SemiBold"/>
            </a:endParaRPr>
          </a:p>
        </p:txBody>
      </p:sp>
      <p:grpSp>
        <p:nvGrpSpPr>
          <p:cNvPr id="61" name="node01"/>
          <p:cNvGrpSpPr/>
          <p:nvPr/>
        </p:nvGrpSpPr>
        <p:grpSpPr>
          <a:xfrm>
            <a:off x="723900" y="1600200"/>
            <a:ext cx="1965960" cy="914400"/>
            <a:chOff x="723900" y="1600200"/>
            <a:chExt cx="1965960" cy="914400"/>
          </a:xfrm>
        </p:grpSpPr>
        <p:sp>
          <p:nvSpPr>
            <p:cNvPr id="6" name="node01.container"/>
            <p:cNvSpPr/>
            <p:nvPr/>
          </p:nvSpPr>
          <p:spPr>
            <a:xfrm>
              <a:off x="723900" y="1600200"/>
              <a:ext cx="1965960" cy="914400"/>
            </a:xfrm>
            <a:prstGeom prst="rect">
              <a:avLst/>
            </a:prstGeom>
            <a:solidFill>
              <a:srgbClr val="070154"/>
            </a:solidFill>
            <a:ln>
              <a:noFill/>
            </a:ln>
          </p:spPr>
        </p:sp>
        <p:sp>
          <p:nvSpPr>
            <p:cNvPr id="7" name="node01.number"/>
            <p:cNvSpPr/>
            <p:nvPr/>
          </p:nvSpPr>
          <p:spPr>
            <a:xfrm>
              <a:off x="8763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01</a:t>
              </a:r>
              <a:endParaRPr lang="en-US" sz="1600" spc="0" kern="0" b="0" i="0" dirty="0">
                <a:solidFill>
                  <a:srgbClr val="F900D3"/>
                </a:solidFill>
                <a:latin typeface="IBM Plex Mono SemiBold"/>
                <a:ea typeface="IBM Plex Mono SemiBold"/>
                <a:cs typeface="IBM Plex Mono SemiBold"/>
              </a:endParaRPr>
            </a:p>
          </p:txBody>
        </p:sp>
        <p:sp>
          <p:nvSpPr>
            <p:cNvPr id="8" name="node01.title"/>
            <p:cNvSpPr/>
            <p:nvPr/>
          </p:nvSpPr>
          <p:spPr>
            <a:xfrm>
              <a:off x="1247775" y="1790954"/>
              <a:ext cx="1289685"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Define the service catalog</a:t>
              </a:r>
              <a:endParaRPr lang="en-US" sz="1200" spc="0" kern="0" b="0" i="0" dirty="0">
                <a:solidFill>
                  <a:srgbClr val="FFFFFF"/>
                </a:solidFill>
                <a:latin typeface="IBM Plex Sans"/>
                <a:ea typeface="IBM Plex Sans"/>
                <a:cs typeface="IBM Plex Sans"/>
              </a:endParaRPr>
            </a:p>
          </p:txBody>
        </p:sp>
      </p:grpSp>
      <p:grpSp>
        <p:nvGrpSpPr>
          <p:cNvPr id="62" name="node02"/>
          <p:cNvGrpSpPr/>
          <p:nvPr/>
        </p:nvGrpSpPr>
        <p:grpSpPr>
          <a:xfrm>
            <a:off x="723900" y="2514600"/>
            <a:ext cx="1965960" cy="3429000"/>
            <a:chOff x="723900" y="2514600"/>
            <a:chExt cx="1965960" cy="3429000"/>
          </a:xfrm>
        </p:grpSpPr>
        <p:sp>
          <p:nvSpPr>
            <p:cNvPr id="9" name="node02.surface"/>
            <p:cNvSpPr/>
            <p:nvPr/>
          </p:nvSpPr>
          <p:spPr>
            <a:xfrm>
              <a:off x="723900" y="2514600"/>
              <a:ext cx="1965960" cy="3429000"/>
            </a:xfrm>
            <a:prstGeom prst="rect">
              <a:avLst/>
            </a:prstGeom>
            <a:solidFill>
              <a:srgbClr val="FFFFFF"/>
            </a:solidFill>
            <a:ln w="12700">
              <a:solidFill>
                <a:srgbClr val="CED7E6"/>
              </a:solidFill>
              <a:prstDash val="solid"/>
            </a:ln>
          </p:spPr>
        </p:sp>
      </p:grpSp>
      <p:grpSp>
        <p:nvGrpSpPr>
          <p:cNvPr id="63" name="node03"/>
          <p:cNvGrpSpPr/>
          <p:nvPr/>
        </p:nvGrpSpPr>
        <p:grpSpPr>
          <a:xfrm>
            <a:off x="876300" y="2667000"/>
            <a:ext cx="1661160" cy="952500"/>
            <a:chOff x="876300" y="2667000"/>
            <a:chExt cx="1661160" cy="952500"/>
          </a:xfrm>
        </p:grpSpPr>
        <p:sp>
          <p:nvSpPr>
            <p:cNvPr id="10" name="node03.text"/>
            <p:cNvSpPr/>
            <p:nvPr/>
          </p:nvSpPr>
          <p:spPr>
            <a:xfrm>
              <a:off x="876300" y="2667000"/>
              <a:ext cx="1661160" cy="952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Name who the platform serves and what it offers, so every team knows what is central and what is theirs.</a:t>
              </a:r>
              <a:endParaRPr lang="en-US" sz="1100" spc="0" kern="0" b="0" i="0" dirty="0">
                <a:solidFill>
                  <a:srgbClr val="070154"/>
                </a:solidFill>
                <a:latin typeface="IBM Plex Sans"/>
                <a:ea typeface="IBM Plex Sans"/>
                <a:cs typeface="IBM Plex Sans"/>
              </a:endParaRPr>
            </a:p>
          </p:txBody>
        </p:sp>
      </p:grpSp>
      <p:sp>
        <p:nvSpPr>
          <p:cNvPr id="11" name="node04"/>
          <p:cNvSpPr/>
          <p:nvPr/>
        </p:nvSpPr>
        <p:spPr>
          <a:xfrm>
            <a:off x="876300" y="4343400"/>
            <a:ext cx="1661160" cy="9525"/>
          </a:xfrm>
          <a:prstGeom prst="rect">
            <a:avLst/>
          </a:prstGeom>
          <a:solidFill>
            <a:srgbClr val="CED7E6"/>
          </a:solidFill>
          <a:ln>
            <a:noFill/>
          </a:ln>
        </p:spPr>
      </p:sp>
      <p:grpSp>
        <p:nvGrpSpPr>
          <p:cNvPr id="64" name="node05"/>
          <p:cNvGrpSpPr/>
          <p:nvPr/>
        </p:nvGrpSpPr>
        <p:grpSpPr>
          <a:xfrm>
            <a:off x="876300" y="4495800"/>
            <a:ext cx="1661160" cy="139700"/>
            <a:chOff x="876300" y="4495800"/>
            <a:chExt cx="1661160" cy="139700"/>
          </a:xfrm>
        </p:grpSpPr>
        <p:sp>
          <p:nvSpPr>
            <p:cNvPr id="12" name="node05.text"/>
            <p:cNvSpPr/>
            <p:nvPr/>
          </p:nvSpPr>
          <p:spPr>
            <a:xfrm>
              <a:off x="876300" y="44958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KEY RISKS</a:t>
              </a:r>
              <a:endParaRPr lang="en-US" sz="800" spc="48" kern="0" b="0" i="0" dirty="0">
                <a:solidFill>
                  <a:srgbClr val="50658E"/>
                </a:solidFill>
                <a:latin typeface="IBM Plex Mono Medium"/>
                <a:ea typeface="IBM Plex Mono Medium"/>
                <a:cs typeface="IBM Plex Mono Medium"/>
              </a:endParaRPr>
            </a:p>
          </p:txBody>
        </p:sp>
      </p:grpSp>
      <p:grpSp>
        <p:nvGrpSpPr>
          <p:cNvPr id="65" name="node06"/>
          <p:cNvGrpSpPr/>
          <p:nvPr/>
        </p:nvGrpSpPr>
        <p:grpSpPr>
          <a:xfrm>
            <a:off x="876300" y="4724400"/>
            <a:ext cx="1661160" cy="901700"/>
            <a:chOff x="876300" y="4724400"/>
            <a:chExt cx="1661160" cy="901700"/>
          </a:xfrm>
        </p:grpSpPr>
        <p:sp>
          <p:nvSpPr>
            <p:cNvPr id="13" name="node06.source-001.bullet"/>
            <p:cNvSpPr/>
            <p:nvPr/>
          </p:nvSpPr>
          <p:spPr>
            <a:xfrm>
              <a:off x="876300" y="4813300"/>
              <a:ext cx="38100" cy="38100"/>
            </a:xfrm>
            <a:prstGeom prst="rect">
              <a:avLst/>
            </a:prstGeom>
            <a:solidFill>
              <a:srgbClr val="070154"/>
            </a:solidFill>
            <a:ln>
              <a:noFill/>
            </a:ln>
          </p:spPr>
        </p:sp>
        <p:sp>
          <p:nvSpPr>
            <p:cNvPr id="14" name="node06.source-001.text"/>
            <p:cNvSpPr/>
            <p:nvPr/>
          </p:nvSpPr>
          <p:spPr>
            <a:xfrm>
              <a:off x="1028700" y="47244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The platform becomes an IT silo</a:t>
              </a:r>
              <a:endParaRPr lang="en-US" sz="1200" spc="0" kern="0" b="0" i="0" dirty="0">
                <a:solidFill>
                  <a:srgbClr val="070154"/>
                </a:solidFill>
                <a:latin typeface="IBM Plex Sans"/>
                <a:ea typeface="IBM Plex Sans"/>
                <a:cs typeface="IBM Plex Sans"/>
              </a:endParaRPr>
            </a:p>
          </p:txBody>
        </p:sp>
        <p:sp>
          <p:nvSpPr>
            <p:cNvPr id="15" name="node06.source-002.bullet"/>
            <p:cNvSpPr/>
            <p:nvPr/>
          </p:nvSpPr>
          <p:spPr>
            <a:xfrm>
              <a:off x="876300" y="5283200"/>
              <a:ext cx="38100" cy="38100"/>
            </a:xfrm>
            <a:prstGeom prst="rect">
              <a:avLst/>
            </a:prstGeom>
            <a:solidFill>
              <a:srgbClr val="070154"/>
            </a:solidFill>
            <a:ln>
              <a:noFill/>
            </a:ln>
          </p:spPr>
        </p:sp>
        <p:sp>
          <p:nvSpPr>
            <p:cNvPr id="16" name="node06.source-002.text"/>
            <p:cNvSpPr/>
            <p:nvPr/>
          </p:nvSpPr>
          <p:spPr>
            <a:xfrm>
              <a:off x="1028700" y="51943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Catalog goes stale within months</a:t>
              </a:r>
              <a:endParaRPr lang="en-US" sz="1200" spc="0" kern="0" b="0" i="0" dirty="0">
                <a:solidFill>
                  <a:srgbClr val="070154"/>
                </a:solidFill>
                <a:latin typeface="IBM Plex Sans"/>
                <a:ea typeface="IBM Plex Sans"/>
                <a:cs typeface="IBM Plex Sans"/>
              </a:endParaRPr>
            </a:p>
          </p:txBody>
        </p:sp>
      </p:grpSp>
      <p:grpSp>
        <p:nvGrpSpPr>
          <p:cNvPr id="66" name="node07"/>
          <p:cNvGrpSpPr/>
          <p:nvPr/>
        </p:nvGrpSpPr>
        <p:grpSpPr>
          <a:xfrm>
            <a:off x="2918460" y="1600200"/>
            <a:ext cx="1965960" cy="914400"/>
            <a:chOff x="2918460" y="1600200"/>
            <a:chExt cx="1965960" cy="914400"/>
          </a:xfrm>
        </p:grpSpPr>
        <p:sp>
          <p:nvSpPr>
            <p:cNvPr id="17" name="node07.container"/>
            <p:cNvSpPr/>
            <p:nvPr/>
          </p:nvSpPr>
          <p:spPr>
            <a:xfrm>
              <a:off x="2918460" y="1600200"/>
              <a:ext cx="1965960" cy="914400"/>
            </a:xfrm>
            <a:prstGeom prst="rect">
              <a:avLst/>
            </a:prstGeom>
            <a:solidFill>
              <a:srgbClr val="070154"/>
            </a:solidFill>
            <a:ln>
              <a:noFill/>
            </a:ln>
          </p:spPr>
        </p:sp>
        <p:sp>
          <p:nvSpPr>
            <p:cNvPr id="18" name="node07.number"/>
            <p:cNvSpPr/>
            <p:nvPr/>
          </p:nvSpPr>
          <p:spPr>
            <a:xfrm>
              <a:off x="307086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02</a:t>
              </a:r>
              <a:endParaRPr lang="en-US" sz="1600" spc="0" kern="0" b="0" i="0" dirty="0">
                <a:solidFill>
                  <a:srgbClr val="F900D3"/>
                </a:solidFill>
                <a:latin typeface="IBM Plex Mono SemiBold"/>
                <a:ea typeface="IBM Plex Mono SemiBold"/>
                <a:cs typeface="IBM Plex Mono SemiBold"/>
              </a:endParaRPr>
            </a:p>
          </p:txBody>
        </p:sp>
        <p:sp>
          <p:nvSpPr>
            <p:cNvPr id="19" name="node07.title"/>
            <p:cNvSpPr/>
            <p:nvPr/>
          </p:nvSpPr>
          <p:spPr>
            <a:xfrm>
              <a:off x="3442335" y="1790954"/>
              <a:ext cx="128968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Set the standards</a:t>
              </a:r>
              <a:endParaRPr lang="en-US" sz="1200" spc="0" kern="0" b="0" i="0" dirty="0">
                <a:solidFill>
                  <a:srgbClr val="FFFFFF"/>
                </a:solidFill>
                <a:latin typeface="IBM Plex Sans"/>
                <a:ea typeface="IBM Plex Sans"/>
                <a:cs typeface="IBM Plex Sans"/>
              </a:endParaRPr>
            </a:p>
          </p:txBody>
        </p:sp>
      </p:grpSp>
      <p:grpSp>
        <p:nvGrpSpPr>
          <p:cNvPr id="67" name="node08"/>
          <p:cNvGrpSpPr/>
          <p:nvPr/>
        </p:nvGrpSpPr>
        <p:grpSpPr>
          <a:xfrm>
            <a:off x="2918460" y="2514600"/>
            <a:ext cx="1965960" cy="3429000"/>
            <a:chOff x="2918460" y="2514600"/>
            <a:chExt cx="1965960" cy="3429000"/>
          </a:xfrm>
        </p:grpSpPr>
        <p:sp>
          <p:nvSpPr>
            <p:cNvPr id="20" name="node08.surface"/>
            <p:cNvSpPr/>
            <p:nvPr/>
          </p:nvSpPr>
          <p:spPr>
            <a:xfrm>
              <a:off x="2918460" y="2514600"/>
              <a:ext cx="1965960" cy="3429000"/>
            </a:xfrm>
            <a:prstGeom prst="rect">
              <a:avLst/>
            </a:prstGeom>
            <a:solidFill>
              <a:srgbClr val="FFFFFF"/>
            </a:solidFill>
            <a:ln w="12700">
              <a:solidFill>
                <a:srgbClr val="CED7E6"/>
              </a:solidFill>
              <a:prstDash val="solid"/>
            </a:ln>
          </p:spPr>
        </p:sp>
      </p:grpSp>
      <p:grpSp>
        <p:nvGrpSpPr>
          <p:cNvPr id="68" name="node09"/>
          <p:cNvGrpSpPr/>
          <p:nvPr/>
        </p:nvGrpSpPr>
        <p:grpSpPr>
          <a:xfrm>
            <a:off x="3070860" y="2667000"/>
            <a:ext cx="1661160" cy="952500"/>
            <a:chOff x="3070860" y="2667000"/>
            <a:chExt cx="1661160" cy="952500"/>
          </a:xfrm>
        </p:grpSpPr>
        <p:sp>
          <p:nvSpPr>
            <p:cNvPr id="21" name="node09.text"/>
            <p:cNvSpPr/>
            <p:nvPr/>
          </p:nvSpPr>
          <p:spPr>
            <a:xfrm>
              <a:off x="3070860" y="2667000"/>
              <a:ext cx="1661160" cy="952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Agree the patterns, workspace rules and data sharing standards that every environment follows.</a:t>
              </a:r>
              <a:endParaRPr lang="en-US" sz="1100" spc="0" kern="0" b="0" i="0" dirty="0">
                <a:solidFill>
                  <a:srgbClr val="070154"/>
                </a:solidFill>
                <a:latin typeface="IBM Plex Sans"/>
                <a:ea typeface="IBM Plex Sans"/>
                <a:cs typeface="IBM Plex Sans"/>
              </a:endParaRPr>
            </a:p>
          </p:txBody>
        </p:sp>
      </p:grpSp>
      <p:sp>
        <p:nvSpPr>
          <p:cNvPr id="22" name="node10"/>
          <p:cNvSpPr/>
          <p:nvPr/>
        </p:nvSpPr>
        <p:spPr>
          <a:xfrm>
            <a:off x="3070860" y="4343400"/>
            <a:ext cx="1661160" cy="9525"/>
          </a:xfrm>
          <a:prstGeom prst="rect">
            <a:avLst/>
          </a:prstGeom>
          <a:solidFill>
            <a:srgbClr val="CED7E6"/>
          </a:solidFill>
          <a:ln>
            <a:noFill/>
          </a:ln>
        </p:spPr>
      </p:sp>
      <p:grpSp>
        <p:nvGrpSpPr>
          <p:cNvPr id="69" name="node11"/>
          <p:cNvGrpSpPr/>
          <p:nvPr/>
        </p:nvGrpSpPr>
        <p:grpSpPr>
          <a:xfrm>
            <a:off x="3070860" y="4495800"/>
            <a:ext cx="1661160" cy="139700"/>
            <a:chOff x="3070860" y="4495800"/>
            <a:chExt cx="1661160" cy="139700"/>
          </a:xfrm>
        </p:grpSpPr>
        <p:sp>
          <p:nvSpPr>
            <p:cNvPr id="23" name="node11.text"/>
            <p:cNvSpPr/>
            <p:nvPr/>
          </p:nvSpPr>
          <p:spPr>
            <a:xfrm>
              <a:off x="3070860" y="44958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KEY RISKS</a:t>
              </a:r>
              <a:endParaRPr lang="en-US" sz="800" spc="48" kern="0" b="0" i="0" dirty="0">
                <a:solidFill>
                  <a:srgbClr val="50658E"/>
                </a:solidFill>
                <a:latin typeface="IBM Plex Mono Medium"/>
                <a:ea typeface="IBM Plex Mono Medium"/>
                <a:cs typeface="IBM Plex Mono Medium"/>
              </a:endParaRPr>
            </a:p>
          </p:txBody>
        </p:sp>
      </p:grpSp>
      <p:grpSp>
        <p:nvGrpSpPr>
          <p:cNvPr id="70" name="node12"/>
          <p:cNvGrpSpPr/>
          <p:nvPr/>
        </p:nvGrpSpPr>
        <p:grpSpPr>
          <a:xfrm>
            <a:off x="3070860" y="4724400"/>
            <a:ext cx="1661160" cy="901700"/>
            <a:chOff x="3070860" y="4724400"/>
            <a:chExt cx="1661160" cy="901700"/>
          </a:xfrm>
        </p:grpSpPr>
        <p:sp>
          <p:nvSpPr>
            <p:cNvPr id="24" name="node12.source-001.bullet"/>
            <p:cNvSpPr/>
            <p:nvPr/>
          </p:nvSpPr>
          <p:spPr>
            <a:xfrm>
              <a:off x="3070860" y="4813300"/>
              <a:ext cx="38100" cy="38100"/>
            </a:xfrm>
            <a:prstGeom prst="rect">
              <a:avLst/>
            </a:prstGeom>
            <a:solidFill>
              <a:srgbClr val="070154"/>
            </a:solidFill>
            <a:ln>
              <a:noFill/>
            </a:ln>
          </p:spPr>
        </p:sp>
        <p:sp>
          <p:nvSpPr>
            <p:cNvPr id="25" name="node12.source-001.text"/>
            <p:cNvSpPr/>
            <p:nvPr/>
          </p:nvSpPr>
          <p:spPr>
            <a:xfrm>
              <a:off x="3223260" y="47244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Standards are ignored in practice</a:t>
              </a:r>
              <a:endParaRPr lang="en-US" sz="1200" spc="0" kern="0" b="0" i="0" dirty="0">
                <a:solidFill>
                  <a:srgbClr val="070154"/>
                </a:solidFill>
                <a:latin typeface="IBM Plex Sans"/>
                <a:ea typeface="IBM Plex Sans"/>
                <a:cs typeface="IBM Plex Sans"/>
              </a:endParaRPr>
            </a:p>
          </p:txBody>
        </p:sp>
        <p:sp>
          <p:nvSpPr>
            <p:cNvPr id="26" name="node12.source-002.bullet"/>
            <p:cNvSpPr/>
            <p:nvPr/>
          </p:nvSpPr>
          <p:spPr>
            <a:xfrm>
              <a:off x="3070860" y="5283200"/>
              <a:ext cx="38100" cy="38100"/>
            </a:xfrm>
            <a:prstGeom prst="rect">
              <a:avLst/>
            </a:prstGeom>
            <a:solidFill>
              <a:srgbClr val="070154"/>
            </a:solidFill>
            <a:ln>
              <a:noFill/>
            </a:ln>
          </p:spPr>
        </p:sp>
        <p:sp>
          <p:nvSpPr>
            <p:cNvPr id="27" name="node12.source-002.text"/>
            <p:cNvSpPr/>
            <p:nvPr/>
          </p:nvSpPr>
          <p:spPr>
            <a:xfrm>
              <a:off x="3223260" y="51943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Exceptions outnumber patterns</a:t>
              </a:r>
              <a:endParaRPr lang="en-US" sz="1200" spc="0" kern="0" b="0" i="0" dirty="0">
                <a:solidFill>
                  <a:srgbClr val="070154"/>
                </a:solidFill>
                <a:latin typeface="IBM Plex Sans"/>
                <a:ea typeface="IBM Plex Sans"/>
                <a:cs typeface="IBM Plex Sans"/>
              </a:endParaRPr>
            </a:p>
          </p:txBody>
        </p:sp>
      </p:grpSp>
      <p:grpSp>
        <p:nvGrpSpPr>
          <p:cNvPr id="71" name="node13"/>
          <p:cNvGrpSpPr/>
          <p:nvPr/>
        </p:nvGrpSpPr>
        <p:grpSpPr>
          <a:xfrm>
            <a:off x="5113020" y="1600200"/>
            <a:ext cx="1965960" cy="914400"/>
            <a:chOff x="5113020" y="1600200"/>
            <a:chExt cx="1965960" cy="914400"/>
          </a:xfrm>
        </p:grpSpPr>
        <p:sp>
          <p:nvSpPr>
            <p:cNvPr id="28" name="node13.container"/>
            <p:cNvSpPr/>
            <p:nvPr/>
          </p:nvSpPr>
          <p:spPr>
            <a:xfrm>
              <a:off x="5113020" y="1600200"/>
              <a:ext cx="1965960" cy="914400"/>
            </a:xfrm>
            <a:prstGeom prst="rect">
              <a:avLst/>
            </a:prstGeom>
            <a:solidFill>
              <a:srgbClr val="070154"/>
            </a:solidFill>
            <a:ln>
              <a:noFill/>
            </a:ln>
          </p:spPr>
        </p:sp>
        <p:sp>
          <p:nvSpPr>
            <p:cNvPr id="29" name="node13.number"/>
            <p:cNvSpPr/>
            <p:nvPr/>
          </p:nvSpPr>
          <p:spPr>
            <a:xfrm>
              <a:off x="526542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03</a:t>
              </a:r>
              <a:endParaRPr lang="en-US" sz="1600" spc="0" kern="0" b="0" i="0" dirty="0">
                <a:solidFill>
                  <a:srgbClr val="F900D3"/>
                </a:solidFill>
                <a:latin typeface="IBM Plex Mono SemiBold"/>
                <a:ea typeface="IBM Plex Mono SemiBold"/>
                <a:cs typeface="IBM Plex Mono SemiBold"/>
              </a:endParaRPr>
            </a:p>
          </p:txBody>
        </p:sp>
        <p:sp>
          <p:nvSpPr>
            <p:cNvPr id="30" name="node13.title"/>
            <p:cNvSpPr/>
            <p:nvPr/>
          </p:nvSpPr>
          <p:spPr>
            <a:xfrm>
              <a:off x="5636895" y="1790954"/>
              <a:ext cx="1289685"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Industrialize delivery</a:t>
              </a:r>
              <a:endParaRPr lang="en-US" sz="1200" spc="0" kern="0" b="0" i="0" dirty="0">
                <a:solidFill>
                  <a:srgbClr val="FFFFFF"/>
                </a:solidFill>
                <a:latin typeface="IBM Plex Sans"/>
                <a:ea typeface="IBM Plex Sans"/>
                <a:cs typeface="IBM Plex Sans"/>
              </a:endParaRPr>
            </a:p>
          </p:txBody>
        </p:sp>
      </p:grpSp>
      <p:grpSp>
        <p:nvGrpSpPr>
          <p:cNvPr id="72" name="node14"/>
          <p:cNvGrpSpPr/>
          <p:nvPr/>
        </p:nvGrpSpPr>
        <p:grpSpPr>
          <a:xfrm>
            <a:off x="5113020" y="2514600"/>
            <a:ext cx="1965960" cy="3429000"/>
            <a:chOff x="5113020" y="2514600"/>
            <a:chExt cx="1965960" cy="3429000"/>
          </a:xfrm>
        </p:grpSpPr>
        <p:sp>
          <p:nvSpPr>
            <p:cNvPr id="31" name="node14.surface"/>
            <p:cNvSpPr/>
            <p:nvPr/>
          </p:nvSpPr>
          <p:spPr>
            <a:xfrm>
              <a:off x="5113020" y="2514600"/>
              <a:ext cx="1965960" cy="3429000"/>
            </a:xfrm>
            <a:prstGeom prst="rect">
              <a:avLst/>
            </a:prstGeom>
            <a:solidFill>
              <a:srgbClr val="FFFFFF"/>
            </a:solidFill>
            <a:ln w="12700">
              <a:solidFill>
                <a:srgbClr val="CED7E6"/>
              </a:solidFill>
              <a:prstDash val="solid"/>
            </a:ln>
          </p:spPr>
        </p:sp>
      </p:grpSp>
      <p:grpSp>
        <p:nvGrpSpPr>
          <p:cNvPr id="73" name="node15"/>
          <p:cNvGrpSpPr/>
          <p:nvPr/>
        </p:nvGrpSpPr>
        <p:grpSpPr>
          <a:xfrm>
            <a:off x="5265420" y="2667000"/>
            <a:ext cx="1661160" cy="762000"/>
            <a:chOff x="5265420" y="2667000"/>
            <a:chExt cx="1661160" cy="762000"/>
          </a:xfrm>
        </p:grpSpPr>
        <p:sp>
          <p:nvSpPr>
            <p:cNvPr id="32" name="node15.text"/>
            <p:cNvSpPr/>
            <p:nvPr/>
          </p:nvSpPr>
          <p:spPr>
            <a:xfrm>
              <a:off x="5265420" y="2667000"/>
              <a:ext cx="1661160" cy="762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Automate provisioning, release and monitoring so a new workload goes live without a project.</a:t>
              </a:r>
              <a:endParaRPr lang="en-US" sz="1100" spc="0" kern="0" b="0" i="0" dirty="0">
                <a:solidFill>
                  <a:srgbClr val="070154"/>
                </a:solidFill>
                <a:latin typeface="IBM Plex Sans"/>
                <a:ea typeface="IBM Plex Sans"/>
                <a:cs typeface="IBM Plex Sans"/>
              </a:endParaRPr>
            </a:p>
          </p:txBody>
        </p:sp>
      </p:grpSp>
      <p:sp>
        <p:nvSpPr>
          <p:cNvPr id="33" name="node16"/>
          <p:cNvSpPr/>
          <p:nvPr/>
        </p:nvSpPr>
        <p:spPr>
          <a:xfrm>
            <a:off x="5265420" y="4343400"/>
            <a:ext cx="1661160" cy="9525"/>
          </a:xfrm>
          <a:prstGeom prst="rect">
            <a:avLst/>
          </a:prstGeom>
          <a:solidFill>
            <a:srgbClr val="CED7E6"/>
          </a:solidFill>
          <a:ln>
            <a:noFill/>
          </a:ln>
        </p:spPr>
      </p:sp>
      <p:grpSp>
        <p:nvGrpSpPr>
          <p:cNvPr id="74" name="node17"/>
          <p:cNvGrpSpPr/>
          <p:nvPr/>
        </p:nvGrpSpPr>
        <p:grpSpPr>
          <a:xfrm>
            <a:off x="5265420" y="4495800"/>
            <a:ext cx="1661160" cy="139700"/>
            <a:chOff x="5265420" y="4495800"/>
            <a:chExt cx="1661160" cy="139700"/>
          </a:xfrm>
        </p:grpSpPr>
        <p:sp>
          <p:nvSpPr>
            <p:cNvPr id="34" name="node17.text"/>
            <p:cNvSpPr/>
            <p:nvPr/>
          </p:nvSpPr>
          <p:spPr>
            <a:xfrm>
              <a:off x="5265420" y="44958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KEY RISKS</a:t>
              </a:r>
              <a:endParaRPr lang="en-US" sz="800" spc="48" kern="0" b="0" i="0" dirty="0">
                <a:solidFill>
                  <a:srgbClr val="50658E"/>
                </a:solidFill>
                <a:latin typeface="IBM Plex Mono Medium"/>
                <a:ea typeface="IBM Plex Mono Medium"/>
                <a:cs typeface="IBM Plex Mono Medium"/>
              </a:endParaRPr>
            </a:p>
          </p:txBody>
        </p:sp>
      </p:grpSp>
      <p:grpSp>
        <p:nvGrpSpPr>
          <p:cNvPr id="75" name="node18"/>
          <p:cNvGrpSpPr/>
          <p:nvPr/>
        </p:nvGrpSpPr>
        <p:grpSpPr>
          <a:xfrm>
            <a:off x="5265420" y="4724400"/>
            <a:ext cx="1661160" cy="901700"/>
            <a:chOff x="5265420" y="4724400"/>
            <a:chExt cx="1661160" cy="901700"/>
          </a:xfrm>
        </p:grpSpPr>
        <p:sp>
          <p:nvSpPr>
            <p:cNvPr id="35" name="node18.source-001.bullet"/>
            <p:cNvSpPr/>
            <p:nvPr/>
          </p:nvSpPr>
          <p:spPr>
            <a:xfrm>
              <a:off x="5265420" y="4813300"/>
              <a:ext cx="38100" cy="38100"/>
            </a:xfrm>
            <a:prstGeom prst="rect">
              <a:avLst/>
            </a:prstGeom>
            <a:solidFill>
              <a:srgbClr val="070154"/>
            </a:solidFill>
            <a:ln>
              <a:noFill/>
            </a:ln>
          </p:spPr>
        </p:sp>
        <p:sp>
          <p:nvSpPr>
            <p:cNvPr id="36" name="node18.source-001.text"/>
            <p:cNvSpPr/>
            <p:nvPr/>
          </p:nvSpPr>
          <p:spPr>
            <a:xfrm>
              <a:off x="5417820" y="47244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It stays a project, not a service</a:t>
              </a:r>
              <a:endParaRPr lang="en-US" sz="1200" spc="0" kern="0" b="0" i="0" dirty="0">
                <a:solidFill>
                  <a:srgbClr val="070154"/>
                </a:solidFill>
                <a:latin typeface="IBM Plex Sans"/>
                <a:ea typeface="IBM Plex Sans"/>
                <a:cs typeface="IBM Plex Sans"/>
              </a:endParaRPr>
            </a:p>
          </p:txBody>
        </p:sp>
        <p:sp>
          <p:nvSpPr>
            <p:cNvPr id="37" name="node18.source-002.bullet"/>
            <p:cNvSpPr/>
            <p:nvPr/>
          </p:nvSpPr>
          <p:spPr>
            <a:xfrm>
              <a:off x="5265420" y="5283200"/>
              <a:ext cx="38100" cy="38100"/>
            </a:xfrm>
            <a:prstGeom prst="rect">
              <a:avLst/>
            </a:prstGeom>
            <a:solidFill>
              <a:srgbClr val="070154"/>
            </a:solidFill>
            <a:ln>
              <a:noFill/>
            </a:ln>
          </p:spPr>
        </p:sp>
        <p:sp>
          <p:nvSpPr>
            <p:cNvPr id="38" name="node18.source-002.text"/>
            <p:cNvSpPr/>
            <p:nvPr/>
          </p:nvSpPr>
          <p:spPr>
            <a:xfrm>
              <a:off x="5417820" y="51943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Manual steps slow every launch</a:t>
              </a:r>
              <a:endParaRPr lang="en-US" sz="1200" spc="0" kern="0" b="0" i="0" dirty="0">
                <a:solidFill>
                  <a:srgbClr val="070154"/>
                </a:solidFill>
                <a:latin typeface="IBM Plex Sans"/>
                <a:ea typeface="IBM Plex Sans"/>
                <a:cs typeface="IBM Plex Sans"/>
              </a:endParaRPr>
            </a:p>
          </p:txBody>
        </p:sp>
      </p:grpSp>
      <p:grpSp>
        <p:nvGrpSpPr>
          <p:cNvPr id="76" name="node19"/>
          <p:cNvGrpSpPr/>
          <p:nvPr/>
        </p:nvGrpSpPr>
        <p:grpSpPr>
          <a:xfrm>
            <a:off x="7307580" y="1600200"/>
            <a:ext cx="1965960" cy="914400"/>
            <a:chOff x="7307580" y="1600200"/>
            <a:chExt cx="1965960" cy="914400"/>
          </a:xfrm>
        </p:grpSpPr>
        <p:sp>
          <p:nvSpPr>
            <p:cNvPr id="39" name="node19.container"/>
            <p:cNvSpPr/>
            <p:nvPr/>
          </p:nvSpPr>
          <p:spPr>
            <a:xfrm>
              <a:off x="7307580" y="1600200"/>
              <a:ext cx="1965960" cy="914400"/>
            </a:xfrm>
            <a:prstGeom prst="rect">
              <a:avLst/>
            </a:prstGeom>
            <a:solidFill>
              <a:srgbClr val="070154"/>
            </a:solidFill>
            <a:ln>
              <a:noFill/>
            </a:ln>
          </p:spPr>
        </p:sp>
        <p:sp>
          <p:nvSpPr>
            <p:cNvPr id="40" name="node19.number"/>
            <p:cNvSpPr/>
            <p:nvPr/>
          </p:nvSpPr>
          <p:spPr>
            <a:xfrm>
              <a:off x="745998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04</a:t>
              </a:r>
              <a:endParaRPr lang="en-US" sz="1600" spc="0" kern="0" b="0" i="0" dirty="0">
                <a:solidFill>
                  <a:srgbClr val="F900D3"/>
                </a:solidFill>
                <a:latin typeface="IBM Plex Mono SemiBold"/>
                <a:ea typeface="IBM Plex Mono SemiBold"/>
                <a:cs typeface="IBM Plex Mono SemiBold"/>
              </a:endParaRPr>
            </a:p>
          </p:txBody>
        </p:sp>
        <p:sp>
          <p:nvSpPr>
            <p:cNvPr id="41" name="node19.title"/>
            <p:cNvSpPr/>
            <p:nvPr/>
          </p:nvSpPr>
          <p:spPr>
            <a:xfrm>
              <a:off x="7831455" y="1790954"/>
              <a:ext cx="1289685"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Drive adoption and ownership</a:t>
              </a:r>
              <a:endParaRPr lang="en-US" sz="1200" spc="0" kern="0" b="0" i="0" dirty="0">
                <a:solidFill>
                  <a:srgbClr val="FFFFFF"/>
                </a:solidFill>
                <a:latin typeface="IBM Plex Sans"/>
                <a:ea typeface="IBM Plex Sans"/>
                <a:cs typeface="IBM Plex Sans"/>
              </a:endParaRPr>
            </a:p>
          </p:txBody>
        </p:sp>
      </p:grpSp>
      <p:grpSp>
        <p:nvGrpSpPr>
          <p:cNvPr id="77" name="node20"/>
          <p:cNvGrpSpPr/>
          <p:nvPr/>
        </p:nvGrpSpPr>
        <p:grpSpPr>
          <a:xfrm>
            <a:off x="7307580" y="2514600"/>
            <a:ext cx="1965960" cy="3429000"/>
            <a:chOff x="7307580" y="2514600"/>
            <a:chExt cx="1965960" cy="3429000"/>
          </a:xfrm>
        </p:grpSpPr>
        <p:sp>
          <p:nvSpPr>
            <p:cNvPr id="42" name="node20.surface"/>
            <p:cNvSpPr/>
            <p:nvPr/>
          </p:nvSpPr>
          <p:spPr>
            <a:xfrm>
              <a:off x="7307580" y="2514600"/>
              <a:ext cx="1965960" cy="3429000"/>
            </a:xfrm>
            <a:prstGeom prst="rect">
              <a:avLst/>
            </a:prstGeom>
            <a:solidFill>
              <a:srgbClr val="FFFFFF"/>
            </a:solidFill>
            <a:ln w="12700">
              <a:solidFill>
                <a:srgbClr val="CED7E6"/>
              </a:solidFill>
              <a:prstDash val="solid"/>
            </a:ln>
          </p:spPr>
        </p:sp>
      </p:grpSp>
      <p:grpSp>
        <p:nvGrpSpPr>
          <p:cNvPr id="78" name="node21"/>
          <p:cNvGrpSpPr/>
          <p:nvPr/>
        </p:nvGrpSpPr>
        <p:grpSpPr>
          <a:xfrm>
            <a:off x="7459980" y="2667000"/>
            <a:ext cx="1661160" cy="952500"/>
            <a:chOff x="7459980" y="2667000"/>
            <a:chExt cx="1661160" cy="952500"/>
          </a:xfrm>
        </p:grpSpPr>
        <p:sp>
          <p:nvSpPr>
            <p:cNvPr id="43" name="node21.text"/>
            <p:cNvSpPr/>
            <p:nvPr/>
          </p:nvSpPr>
          <p:spPr>
            <a:xfrm>
              <a:off x="7459980" y="2667000"/>
              <a:ext cx="1661160" cy="952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Open intake, training and a self-service path, then hand day-to-day ownership to Northfield teams.</a:t>
              </a:r>
              <a:endParaRPr lang="en-US" sz="1100" spc="0" kern="0" b="0" i="0" dirty="0">
                <a:solidFill>
                  <a:srgbClr val="070154"/>
                </a:solidFill>
                <a:latin typeface="IBM Plex Sans"/>
                <a:ea typeface="IBM Plex Sans"/>
                <a:cs typeface="IBM Plex Sans"/>
              </a:endParaRPr>
            </a:p>
          </p:txBody>
        </p:sp>
      </p:grpSp>
      <p:sp>
        <p:nvSpPr>
          <p:cNvPr id="44" name="node22"/>
          <p:cNvSpPr/>
          <p:nvPr/>
        </p:nvSpPr>
        <p:spPr>
          <a:xfrm>
            <a:off x="7459980" y="4343400"/>
            <a:ext cx="1661160" cy="9525"/>
          </a:xfrm>
          <a:prstGeom prst="rect">
            <a:avLst/>
          </a:prstGeom>
          <a:solidFill>
            <a:srgbClr val="CED7E6"/>
          </a:solidFill>
          <a:ln>
            <a:noFill/>
          </a:ln>
        </p:spPr>
      </p:sp>
      <p:grpSp>
        <p:nvGrpSpPr>
          <p:cNvPr id="79" name="node23"/>
          <p:cNvGrpSpPr/>
          <p:nvPr/>
        </p:nvGrpSpPr>
        <p:grpSpPr>
          <a:xfrm>
            <a:off x="7459980" y="4495800"/>
            <a:ext cx="1661160" cy="139700"/>
            <a:chOff x="7459980" y="4495800"/>
            <a:chExt cx="1661160" cy="139700"/>
          </a:xfrm>
        </p:grpSpPr>
        <p:sp>
          <p:nvSpPr>
            <p:cNvPr id="45" name="node23.text"/>
            <p:cNvSpPr/>
            <p:nvPr/>
          </p:nvSpPr>
          <p:spPr>
            <a:xfrm>
              <a:off x="7459980" y="44958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KEY RISKS</a:t>
              </a:r>
              <a:endParaRPr lang="en-US" sz="800" spc="48" kern="0" b="0" i="0" dirty="0">
                <a:solidFill>
                  <a:srgbClr val="50658E"/>
                </a:solidFill>
                <a:latin typeface="IBM Plex Mono Medium"/>
                <a:ea typeface="IBM Plex Mono Medium"/>
                <a:cs typeface="IBM Plex Mono Medium"/>
              </a:endParaRPr>
            </a:p>
          </p:txBody>
        </p:sp>
      </p:grpSp>
      <p:grpSp>
        <p:nvGrpSpPr>
          <p:cNvPr id="80" name="node24"/>
          <p:cNvGrpSpPr/>
          <p:nvPr/>
        </p:nvGrpSpPr>
        <p:grpSpPr>
          <a:xfrm>
            <a:off x="7459980" y="4724400"/>
            <a:ext cx="1661160" cy="901700"/>
            <a:chOff x="7459980" y="4724400"/>
            <a:chExt cx="1661160" cy="901700"/>
          </a:xfrm>
        </p:grpSpPr>
        <p:sp>
          <p:nvSpPr>
            <p:cNvPr id="46" name="node24.source-001.bullet"/>
            <p:cNvSpPr/>
            <p:nvPr/>
          </p:nvSpPr>
          <p:spPr>
            <a:xfrm>
              <a:off x="7459980" y="4813300"/>
              <a:ext cx="38100" cy="38100"/>
            </a:xfrm>
            <a:prstGeom prst="rect">
              <a:avLst/>
            </a:prstGeom>
            <a:solidFill>
              <a:srgbClr val="070154"/>
            </a:solidFill>
            <a:ln>
              <a:noFill/>
            </a:ln>
          </p:spPr>
        </p:sp>
        <p:sp>
          <p:nvSpPr>
            <p:cNvPr id="47" name="node24.source-001.text"/>
            <p:cNvSpPr/>
            <p:nvPr/>
          </p:nvSpPr>
          <p:spPr>
            <a:xfrm>
              <a:off x="7612380" y="47244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Adoption stalls at capacity limits</a:t>
              </a:r>
              <a:endParaRPr lang="en-US" sz="1200" spc="0" kern="0" b="0" i="0" dirty="0">
                <a:solidFill>
                  <a:srgbClr val="070154"/>
                </a:solidFill>
                <a:latin typeface="IBM Plex Sans"/>
                <a:ea typeface="IBM Plex Sans"/>
                <a:cs typeface="IBM Plex Sans"/>
              </a:endParaRPr>
            </a:p>
          </p:txBody>
        </p:sp>
        <p:sp>
          <p:nvSpPr>
            <p:cNvPr id="48" name="node24.source-002.bullet"/>
            <p:cNvSpPr/>
            <p:nvPr/>
          </p:nvSpPr>
          <p:spPr>
            <a:xfrm>
              <a:off x="7459980" y="5283200"/>
              <a:ext cx="38100" cy="38100"/>
            </a:xfrm>
            <a:prstGeom prst="rect">
              <a:avLst/>
            </a:prstGeom>
            <a:solidFill>
              <a:srgbClr val="070154"/>
            </a:solidFill>
            <a:ln>
              <a:noFill/>
            </a:ln>
          </p:spPr>
        </p:sp>
        <p:sp>
          <p:nvSpPr>
            <p:cNvPr id="49" name="node24.source-002.text"/>
            <p:cNvSpPr/>
            <p:nvPr/>
          </p:nvSpPr>
          <p:spPr>
            <a:xfrm>
              <a:off x="7612380" y="51943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 are never named</a:t>
              </a:r>
              <a:endParaRPr lang="en-US" sz="1200" spc="0" kern="0" b="0" i="0" dirty="0">
                <a:solidFill>
                  <a:srgbClr val="070154"/>
                </a:solidFill>
                <a:latin typeface="IBM Plex Sans"/>
                <a:ea typeface="IBM Plex Sans"/>
                <a:cs typeface="IBM Plex Sans"/>
              </a:endParaRPr>
            </a:p>
          </p:txBody>
        </p:sp>
      </p:grpSp>
      <p:grpSp>
        <p:nvGrpSpPr>
          <p:cNvPr id="81" name="node25"/>
          <p:cNvGrpSpPr/>
          <p:nvPr/>
        </p:nvGrpSpPr>
        <p:grpSpPr>
          <a:xfrm>
            <a:off x="9502140" y="1600200"/>
            <a:ext cx="1965960" cy="914400"/>
            <a:chOff x="9502140" y="1600200"/>
            <a:chExt cx="1965960" cy="914400"/>
          </a:xfrm>
        </p:grpSpPr>
        <p:sp>
          <p:nvSpPr>
            <p:cNvPr id="50" name="node25.container"/>
            <p:cNvSpPr/>
            <p:nvPr/>
          </p:nvSpPr>
          <p:spPr>
            <a:xfrm>
              <a:off x="9502140" y="1600200"/>
              <a:ext cx="1965960" cy="914400"/>
            </a:xfrm>
            <a:prstGeom prst="rect">
              <a:avLst/>
            </a:prstGeom>
            <a:solidFill>
              <a:srgbClr val="070154"/>
            </a:solidFill>
            <a:ln>
              <a:noFill/>
            </a:ln>
          </p:spPr>
        </p:sp>
        <p:sp>
          <p:nvSpPr>
            <p:cNvPr id="51" name="node25.number"/>
            <p:cNvSpPr/>
            <p:nvPr/>
          </p:nvSpPr>
          <p:spPr>
            <a:xfrm>
              <a:off x="965454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05</a:t>
              </a:r>
              <a:endParaRPr lang="en-US" sz="1600" spc="0" kern="0" b="0" i="0" dirty="0">
                <a:solidFill>
                  <a:srgbClr val="F900D3"/>
                </a:solidFill>
                <a:latin typeface="IBM Plex Mono SemiBold"/>
                <a:ea typeface="IBM Plex Mono SemiBold"/>
                <a:cs typeface="IBM Plex Mono SemiBold"/>
              </a:endParaRPr>
            </a:p>
          </p:txBody>
        </p:sp>
        <p:sp>
          <p:nvSpPr>
            <p:cNvPr id="52" name="node25.title"/>
            <p:cNvSpPr/>
            <p:nvPr/>
          </p:nvSpPr>
          <p:spPr>
            <a:xfrm>
              <a:off x="10026015" y="1790954"/>
              <a:ext cx="1289685"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Prove value and cost</a:t>
              </a:r>
              <a:endParaRPr lang="en-US" sz="1200" spc="0" kern="0" b="0" i="0" dirty="0">
                <a:solidFill>
                  <a:srgbClr val="FFFFFF"/>
                </a:solidFill>
                <a:latin typeface="IBM Plex Sans"/>
                <a:ea typeface="IBM Plex Sans"/>
                <a:cs typeface="IBM Plex Sans"/>
              </a:endParaRPr>
            </a:p>
          </p:txBody>
        </p:sp>
      </p:grpSp>
      <p:grpSp>
        <p:nvGrpSpPr>
          <p:cNvPr id="82" name="node26"/>
          <p:cNvGrpSpPr/>
          <p:nvPr/>
        </p:nvGrpSpPr>
        <p:grpSpPr>
          <a:xfrm>
            <a:off x="9502140" y="2514600"/>
            <a:ext cx="1965960" cy="3429000"/>
            <a:chOff x="9502140" y="2514600"/>
            <a:chExt cx="1965960" cy="3429000"/>
          </a:xfrm>
        </p:grpSpPr>
        <p:sp>
          <p:nvSpPr>
            <p:cNvPr id="53" name="node26.surface"/>
            <p:cNvSpPr/>
            <p:nvPr/>
          </p:nvSpPr>
          <p:spPr>
            <a:xfrm>
              <a:off x="9502140" y="2514600"/>
              <a:ext cx="1965960" cy="3429000"/>
            </a:xfrm>
            <a:prstGeom prst="rect">
              <a:avLst/>
            </a:prstGeom>
            <a:solidFill>
              <a:srgbClr val="FFFFFF"/>
            </a:solidFill>
            <a:ln w="12700">
              <a:solidFill>
                <a:srgbClr val="CED7E6"/>
              </a:solidFill>
              <a:prstDash val="solid"/>
            </a:ln>
          </p:spPr>
        </p:sp>
      </p:grpSp>
      <p:grpSp>
        <p:nvGrpSpPr>
          <p:cNvPr id="83" name="node27"/>
          <p:cNvGrpSpPr/>
          <p:nvPr/>
        </p:nvGrpSpPr>
        <p:grpSpPr>
          <a:xfrm>
            <a:off x="9654540" y="2667000"/>
            <a:ext cx="1661160" cy="762000"/>
            <a:chOff x="9654540" y="2667000"/>
            <a:chExt cx="1661160" cy="762000"/>
          </a:xfrm>
        </p:grpSpPr>
        <p:sp>
          <p:nvSpPr>
            <p:cNvPr id="54" name="node27.text"/>
            <p:cNvSpPr/>
            <p:nvPr/>
          </p:nvSpPr>
          <p:spPr>
            <a:xfrm>
              <a:off x="9654540" y="2667000"/>
              <a:ext cx="1661160" cy="762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Baseline what workloads cost today, track savings against plan and report value to sponsors.</a:t>
              </a:r>
              <a:endParaRPr lang="en-US" sz="1100" spc="0" kern="0" b="0" i="0" dirty="0">
                <a:solidFill>
                  <a:srgbClr val="070154"/>
                </a:solidFill>
                <a:latin typeface="IBM Plex Sans"/>
                <a:ea typeface="IBM Plex Sans"/>
                <a:cs typeface="IBM Plex Sans"/>
              </a:endParaRPr>
            </a:p>
          </p:txBody>
        </p:sp>
      </p:grpSp>
      <p:sp>
        <p:nvSpPr>
          <p:cNvPr id="55" name="node28"/>
          <p:cNvSpPr/>
          <p:nvPr/>
        </p:nvSpPr>
        <p:spPr>
          <a:xfrm>
            <a:off x="9654540" y="4343400"/>
            <a:ext cx="1661160" cy="9525"/>
          </a:xfrm>
          <a:prstGeom prst="rect">
            <a:avLst/>
          </a:prstGeom>
          <a:solidFill>
            <a:srgbClr val="CED7E6"/>
          </a:solidFill>
          <a:ln>
            <a:noFill/>
          </a:ln>
        </p:spPr>
      </p:sp>
      <p:grpSp>
        <p:nvGrpSpPr>
          <p:cNvPr id="84" name="node29"/>
          <p:cNvGrpSpPr/>
          <p:nvPr/>
        </p:nvGrpSpPr>
        <p:grpSpPr>
          <a:xfrm>
            <a:off x="9654540" y="4495800"/>
            <a:ext cx="1661160" cy="139700"/>
            <a:chOff x="9654540" y="4495800"/>
            <a:chExt cx="1661160" cy="139700"/>
          </a:xfrm>
        </p:grpSpPr>
        <p:sp>
          <p:nvSpPr>
            <p:cNvPr id="56" name="node29.text"/>
            <p:cNvSpPr/>
            <p:nvPr/>
          </p:nvSpPr>
          <p:spPr>
            <a:xfrm>
              <a:off x="9654540" y="4495800"/>
              <a:ext cx="16611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KEY RISKS</a:t>
              </a:r>
              <a:endParaRPr lang="en-US" sz="800" spc="48" kern="0" b="0" i="0" dirty="0">
                <a:solidFill>
                  <a:srgbClr val="50658E"/>
                </a:solidFill>
                <a:latin typeface="IBM Plex Mono Medium"/>
                <a:ea typeface="IBM Plex Mono Medium"/>
                <a:cs typeface="IBM Plex Mono Medium"/>
              </a:endParaRPr>
            </a:p>
          </p:txBody>
        </p:sp>
      </p:grpSp>
      <p:grpSp>
        <p:nvGrpSpPr>
          <p:cNvPr id="85" name="node30"/>
          <p:cNvGrpSpPr/>
          <p:nvPr/>
        </p:nvGrpSpPr>
        <p:grpSpPr>
          <a:xfrm>
            <a:off x="9654540" y="4724400"/>
            <a:ext cx="1661160" cy="901700"/>
            <a:chOff x="9654540" y="4724400"/>
            <a:chExt cx="1661160" cy="901700"/>
          </a:xfrm>
        </p:grpSpPr>
        <p:sp>
          <p:nvSpPr>
            <p:cNvPr id="57" name="node30.source-001.bullet"/>
            <p:cNvSpPr/>
            <p:nvPr/>
          </p:nvSpPr>
          <p:spPr>
            <a:xfrm>
              <a:off x="9654540" y="4813300"/>
              <a:ext cx="38100" cy="38100"/>
            </a:xfrm>
            <a:prstGeom prst="rect">
              <a:avLst/>
            </a:prstGeom>
            <a:solidFill>
              <a:srgbClr val="070154"/>
            </a:solidFill>
            <a:ln>
              <a:noFill/>
            </a:ln>
          </p:spPr>
        </p:sp>
        <p:sp>
          <p:nvSpPr>
            <p:cNvPr id="58" name="node30.source-001.text"/>
            <p:cNvSpPr/>
            <p:nvPr/>
          </p:nvSpPr>
          <p:spPr>
            <a:xfrm>
              <a:off x="9806940" y="47244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Costs rise faster than usage</a:t>
              </a:r>
              <a:endParaRPr lang="en-US" sz="1200" spc="0" kern="0" b="0" i="0" dirty="0">
                <a:solidFill>
                  <a:srgbClr val="070154"/>
                </a:solidFill>
                <a:latin typeface="IBM Plex Sans"/>
                <a:ea typeface="IBM Plex Sans"/>
                <a:cs typeface="IBM Plex Sans"/>
              </a:endParaRPr>
            </a:p>
          </p:txBody>
        </p:sp>
        <p:sp>
          <p:nvSpPr>
            <p:cNvPr id="59" name="node30.source-002.bullet"/>
            <p:cNvSpPr/>
            <p:nvPr/>
          </p:nvSpPr>
          <p:spPr>
            <a:xfrm>
              <a:off x="9654540" y="5283200"/>
              <a:ext cx="38100" cy="38100"/>
            </a:xfrm>
            <a:prstGeom prst="rect">
              <a:avLst/>
            </a:prstGeom>
            <a:solidFill>
              <a:srgbClr val="070154"/>
            </a:solidFill>
            <a:ln>
              <a:noFill/>
            </a:ln>
          </p:spPr>
        </p:sp>
        <p:sp>
          <p:nvSpPr>
            <p:cNvPr id="60" name="node30.source-002.text"/>
            <p:cNvSpPr/>
            <p:nvPr/>
          </p:nvSpPr>
          <p:spPr>
            <a:xfrm>
              <a:off x="9806940" y="5194300"/>
              <a:ext cx="150876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Value is never shown to funders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ource-15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BUILD AND SUSTAIN</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6145125" y="733532"/>
            <a:ext cx="327021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Shared context supports both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Build and Sustain</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98</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1600200"/>
            <a:ext cx="3429000" cy="3429000"/>
            <a:chOff x="723900" y="1600200"/>
            <a:chExt cx="3429000" cy="3429000"/>
          </a:xfrm>
        </p:grpSpPr>
        <p:sp>
          <p:nvSpPr>
            <p:cNvPr id="7" name="node01.container"/>
            <p:cNvSpPr/>
            <p:nvPr/>
          </p:nvSpPr>
          <p:spPr>
            <a:xfrm>
              <a:off x="723900" y="1600200"/>
              <a:ext cx="3429000" cy="3429000"/>
            </a:xfrm>
            <a:prstGeom prst="rect">
              <a:avLst/>
            </a:prstGeom>
            <a:solidFill>
              <a:srgbClr val="E8EEF8"/>
            </a:solidFill>
            <a:ln>
              <a:noFill/>
            </a:ln>
          </p:spPr>
        </p:sp>
        <p:sp>
          <p:nvSpPr>
            <p:cNvPr id="8" name="node01.edge"/>
            <p:cNvSpPr/>
            <p:nvPr/>
          </p:nvSpPr>
          <p:spPr>
            <a:xfrm>
              <a:off x="723900" y="1600200"/>
              <a:ext cx="76200" cy="3429000"/>
            </a:xfrm>
            <a:prstGeom prst="rect">
              <a:avLst/>
            </a:prstGeom>
            <a:solidFill>
              <a:srgbClr val="0047FF"/>
            </a:solidFill>
            <a:ln>
              <a:noFill/>
            </a:ln>
          </p:spPr>
        </p:sp>
        <p:sp>
          <p:nvSpPr>
            <p:cNvPr id="9" name="node01.label"/>
            <p:cNvSpPr/>
            <p:nvPr/>
          </p:nvSpPr>
          <p:spPr>
            <a:xfrm>
              <a:off x="1028700" y="1828800"/>
              <a:ext cx="2895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SHARED FOUNDATION</a:t>
              </a:r>
              <a:endParaRPr lang="en-US" sz="800" spc="48" kern="0" b="0" i="0" dirty="0">
                <a:solidFill>
                  <a:srgbClr val="0047FF"/>
                </a:solidFill>
                <a:latin typeface="IBM Plex Mono Medium"/>
                <a:ea typeface="IBM Plex Mono Medium"/>
                <a:cs typeface="IBM Plex Mono Medium"/>
              </a:endParaRPr>
            </a:p>
          </p:txBody>
        </p:sp>
        <p:sp>
          <p:nvSpPr>
            <p:cNvPr id="10" name="node01.body.item-001.bullets.item-001.marker"/>
            <p:cNvSpPr/>
            <p:nvPr/>
          </p:nvSpPr>
          <p:spPr>
            <a:xfrm>
              <a:off x="1028700" y="2133600"/>
              <a:ext cx="38100" cy="38100"/>
            </a:xfrm>
            <a:prstGeom prst="rect">
              <a:avLst/>
            </a:prstGeom>
            <a:solidFill>
              <a:srgbClr val="070154"/>
            </a:solidFill>
            <a:ln>
              <a:noFill/>
            </a:ln>
          </p:spPr>
        </p:sp>
        <p:sp>
          <p:nvSpPr>
            <p:cNvPr id="11" name="node01.body.item-001.bullets.item-001.text"/>
            <p:cNvSpPr/>
            <p:nvPr/>
          </p:nvSpPr>
          <p:spPr>
            <a:xfrm>
              <a:off x="1181100" y="2044700"/>
              <a:ext cx="2743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Source-backed evidence</a:t>
              </a:r>
              <a:r>
                <a:rPr lang="en-US" sz="1200" spc="0" kern="0" b="0" i="0" dirty="0">
                  <a:solidFill>
                    <a:srgbClr val="50658E"/>
                  </a:solidFill>
                  <a:latin typeface="IBM Plex Sans"/>
                  <a:ea typeface="IBM Plex Sans"/>
                  <a:cs typeface="IBM Plex Sans"/>
                </a:rPr>
                <a:t xml:space="preserve"> from code and data.</a:t>
              </a:r>
              <a:endParaRPr lang="en-US" sz="1200" spc="0" kern="0" b="0" i="0" dirty="0">
                <a:solidFill>
                  <a:srgbClr val="070154"/>
                </a:solidFill>
                <a:latin typeface="IBM Plex Sans"/>
                <a:ea typeface="IBM Plex Sans"/>
                <a:cs typeface="IBM Plex Sans"/>
              </a:endParaRPr>
            </a:p>
          </p:txBody>
        </p:sp>
        <p:sp>
          <p:nvSpPr>
            <p:cNvPr id="12" name="node01.body.item-001.bullets.item-002.marker"/>
            <p:cNvSpPr/>
            <p:nvPr/>
          </p:nvSpPr>
          <p:spPr>
            <a:xfrm>
              <a:off x="1028700" y="2603500"/>
              <a:ext cx="38100" cy="38100"/>
            </a:xfrm>
            <a:prstGeom prst="rect">
              <a:avLst/>
            </a:prstGeom>
            <a:solidFill>
              <a:srgbClr val="070154"/>
            </a:solidFill>
            <a:ln>
              <a:noFill/>
            </a:ln>
          </p:spPr>
        </p:sp>
        <p:sp>
          <p:nvSpPr>
            <p:cNvPr id="13" name="node01.body.item-001.bullets.item-002.text"/>
            <p:cNvSpPr/>
            <p:nvPr/>
          </p:nvSpPr>
          <p:spPr>
            <a:xfrm>
              <a:off x="1181100" y="2514600"/>
              <a:ext cx="2743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Validated process context</a:t>
              </a:r>
              <a:r>
                <a:rPr lang="en-US" sz="1200" spc="0" kern="0" b="0" i="0" dirty="0">
                  <a:solidFill>
                    <a:srgbClr val="50658E"/>
                  </a:solidFill>
                  <a:latin typeface="IBM Plex Sans"/>
                  <a:ea typeface="IBM Plex Sans"/>
                  <a:cs typeface="IBM Plex Sans"/>
                </a:rPr>
                <a:t xml:space="preserve"> owned by the business.</a:t>
              </a:r>
              <a:endParaRPr lang="en-US" sz="1200" spc="0" kern="0" b="0" i="0" dirty="0">
                <a:solidFill>
                  <a:srgbClr val="070154"/>
                </a:solidFill>
                <a:latin typeface="IBM Plex Sans"/>
                <a:ea typeface="IBM Plex Sans"/>
                <a:cs typeface="IBM Plex Sans"/>
              </a:endParaRPr>
            </a:p>
          </p:txBody>
        </p:sp>
        <p:sp>
          <p:nvSpPr>
            <p:cNvPr id="14" name="node01.body.item-001.bullets.item-003.marker"/>
            <p:cNvSpPr/>
            <p:nvPr/>
          </p:nvSpPr>
          <p:spPr>
            <a:xfrm>
              <a:off x="1028700" y="3073400"/>
              <a:ext cx="38100" cy="38100"/>
            </a:xfrm>
            <a:prstGeom prst="rect">
              <a:avLst/>
            </a:prstGeom>
            <a:solidFill>
              <a:srgbClr val="070154"/>
            </a:solidFill>
            <a:ln>
              <a:noFill/>
            </a:ln>
          </p:spPr>
        </p:sp>
        <p:sp>
          <p:nvSpPr>
            <p:cNvPr id="15" name="node01.body.item-001.bullets.item-003.text"/>
            <p:cNvSpPr/>
            <p:nvPr/>
          </p:nvSpPr>
          <p:spPr>
            <a:xfrm>
              <a:off x="1181100" y="2984500"/>
              <a:ext cx="2743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Approved decisions</a:t>
              </a:r>
              <a:r>
                <a:rPr lang="en-US" sz="1200" spc="0" kern="0" b="0" i="0" dirty="0">
                  <a:solidFill>
                    <a:srgbClr val="50658E"/>
                  </a:solidFill>
                  <a:latin typeface="IBM Plex Sans"/>
                  <a:ea typeface="IBM Plex Sans"/>
                  <a:cs typeface="IBM Plex Sans"/>
                </a:rPr>
                <a:t xml:space="preserve"> and current artifacts.</a:t>
              </a:r>
              <a:endParaRPr lang="en-US" sz="1200" spc="0" kern="0" b="0" i="0" dirty="0">
                <a:solidFill>
                  <a:srgbClr val="070154"/>
                </a:solidFill>
                <a:latin typeface="IBM Plex Sans"/>
                <a:ea typeface="IBM Plex Sans"/>
                <a:cs typeface="IBM Plex Sans"/>
              </a:endParaRPr>
            </a:p>
          </p:txBody>
        </p:sp>
        <p:sp>
          <p:nvSpPr>
            <p:cNvPr id="16" name="node01.body.item-001.bullets.item-004.marker"/>
            <p:cNvSpPr/>
            <p:nvPr/>
          </p:nvSpPr>
          <p:spPr>
            <a:xfrm>
              <a:off x="1028700" y="3543300"/>
              <a:ext cx="38100" cy="38100"/>
            </a:xfrm>
            <a:prstGeom prst="rect">
              <a:avLst/>
            </a:prstGeom>
            <a:solidFill>
              <a:srgbClr val="070154"/>
            </a:solidFill>
            <a:ln>
              <a:noFill/>
            </a:ln>
          </p:spPr>
        </p:sp>
        <p:sp>
          <p:nvSpPr>
            <p:cNvPr id="17" name="node01.body.item-001.bullets.item-004.text"/>
            <p:cNvSpPr/>
            <p:nvPr/>
          </p:nvSpPr>
          <p:spPr>
            <a:xfrm>
              <a:off x="1181100" y="3454400"/>
              <a:ext cx="2743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Review and test results</a:t>
              </a:r>
              <a:r>
                <a:rPr lang="en-US" sz="1200" spc="0" kern="0" b="0" i="0" dirty="0">
                  <a:solidFill>
                    <a:srgbClr val="50658E"/>
                  </a:solidFill>
                  <a:latin typeface="IBM Plex Sans"/>
                  <a:ea typeface="IBM Plex Sans"/>
                  <a:cs typeface="IBM Plex Sans"/>
                </a:rPr>
                <a:t xml:space="preserve"> kept beside the evidence.</a:t>
              </a:r>
              <a:endParaRPr lang="en-US" sz="1200" spc="0" kern="0" b="0" i="0" dirty="0">
                <a:solidFill>
                  <a:srgbClr val="070154"/>
                </a:solidFill>
                <a:latin typeface="IBM Plex Sans"/>
                <a:ea typeface="IBM Plex Sans"/>
                <a:cs typeface="IBM Plex Sans"/>
              </a:endParaRPr>
            </a:p>
          </p:txBody>
        </p:sp>
        <p:sp>
          <p:nvSpPr>
            <p:cNvPr id="18" name="node01.body.item-002.paragraph"/>
            <p:cNvSpPr/>
            <p:nvPr/>
          </p:nvSpPr>
          <p:spPr>
            <a:xfrm>
              <a:off x="1028700" y="3962400"/>
              <a:ext cx="2895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Governed retrieval connects the foundation to bounded work.</a:t>
              </a:r>
              <a:endParaRPr lang="en-US" sz="1200" spc="0" kern="0" b="0" i="0" dirty="0">
                <a:solidFill>
                  <a:srgbClr val="50658E"/>
                </a:solidFill>
                <a:latin typeface="IBM Plex Sans"/>
                <a:ea typeface="IBM Plex Sans"/>
                <a:cs typeface="IBM Plex Sans"/>
              </a:endParaRPr>
            </a:p>
          </p:txBody>
        </p:sp>
      </p:grpSp>
      <p:grpSp>
        <p:nvGrpSpPr>
          <p:cNvPr id="34" name="node02"/>
          <p:cNvGrpSpPr/>
          <p:nvPr/>
        </p:nvGrpSpPr>
        <p:grpSpPr>
          <a:xfrm>
            <a:off x="4381500" y="1600200"/>
            <a:ext cx="7086600" cy="1600200"/>
            <a:chOff x="4381500" y="1600200"/>
            <a:chExt cx="7086600" cy="1600200"/>
          </a:xfrm>
        </p:grpSpPr>
        <p:sp>
          <p:nvSpPr>
            <p:cNvPr id="19" name="node02.surface"/>
            <p:cNvSpPr/>
            <p:nvPr/>
          </p:nvSpPr>
          <p:spPr>
            <a:xfrm>
              <a:off x="4381500" y="1600200"/>
              <a:ext cx="7086600" cy="1600200"/>
            </a:xfrm>
            <a:prstGeom prst="rect">
              <a:avLst/>
            </a:prstGeom>
            <a:solidFill>
              <a:srgbClr val="070154"/>
            </a:solidFill>
            <a:ln>
              <a:noFill/>
            </a:ln>
          </p:spPr>
        </p:sp>
      </p:grpSp>
      <p:grpSp>
        <p:nvGrpSpPr>
          <p:cNvPr id="35" name="node03"/>
          <p:cNvGrpSpPr/>
          <p:nvPr/>
        </p:nvGrpSpPr>
        <p:grpSpPr>
          <a:xfrm>
            <a:off x="4610100" y="1752600"/>
            <a:ext cx="6629400" cy="266700"/>
            <a:chOff x="4610100" y="1752600"/>
            <a:chExt cx="6629400" cy="266700"/>
          </a:xfrm>
        </p:grpSpPr>
        <p:sp>
          <p:nvSpPr>
            <p:cNvPr id="20" name="node03.text"/>
            <p:cNvSpPr/>
            <p:nvPr/>
          </p:nvSpPr>
          <p:spPr>
            <a:xfrm>
              <a:off x="4610100" y="1752600"/>
              <a:ext cx="6629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Build</a:t>
              </a:r>
              <a:endParaRPr lang="en-US" sz="1600" spc="-16" kern="0" b="0" i="0" dirty="0">
                <a:solidFill>
                  <a:srgbClr val="FFFFFF"/>
                </a:solidFill>
                <a:latin typeface="IBM Plex Sans SemiBold"/>
                <a:ea typeface="IBM Plex Sans SemiBold"/>
                <a:cs typeface="IBM Plex Sans SemiBold"/>
              </a:endParaRPr>
            </a:p>
          </p:txBody>
        </p:sp>
      </p:grpSp>
      <p:grpSp>
        <p:nvGrpSpPr>
          <p:cNvPr id="36" name="node04"/>
          <p:cNvGrpSpPr/>
          <p:nvPr/>
        </p:nvGrpSpPr>
        <p:grpSpPr>
          <a:xfrm>
            <a:off x="4610100" y="2133600"/>
            <a:ext cx="3200400" cy="139700"/>
            <a:chOff x="4610100" y="2133600"/>
            <a:chExt cx="3200400" cy="139700"/>
          </a:xfrm>
        </p:grpSpPr>
        <p:sp>
          <p:nvSpPr>
            <p:cNvPr id="21" name="node04.text"/>
            <p:cNvSpPr/>
            <p:nvPr/>
          </p:nvSpPr>
          <p:spPr>
            <a:xfrm>
              <a:off x="4610100" y="21336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HOW CONTEXT IS USED</a:t>
              </a:r>
              <a:endParaRPr lang="en-US" sz="800" spc="48" kern="0" b="0" i="0" dirty="0">
                <a:solidFill>
                  <a:srgbClr val="F900D3"/>
                </a:solidFill>
                <a:latin typeface="IBM Plex Mono Medium"/>
                <a:ea typeface="IBM Plex Mono Medium"/>
                <a:cs typeface="IBM Plex Mono Medium"/>
              </a:endParaRPr>
            </a:p>
          </p:txBody>
        </p:sp>
      </p:grpSp>
      <p:grpSp>
        <p:nvGrpSpPr>
          <p:cNvPr id="37" name="node05"/>
          <p:cNvGrpSpPr/>
          <p:nvPr/>
        </p:nvGrpSpPr>
        <p:grpSpPr>
          <a:xfrm>
            <a:off x="4610100" y="2336800"/>
            <a:ext cx="3200400" cy="571500"/>
            <a:chOff x="4610100" y="2336800"/>
            <a:chExt cx="3200400" cy="571500"/>
          </a:xfrm>
        </p:grpSpPr>
        <p:sp>
          <p:nvSpPr>
            <p:cNvPr id="22" name="node05.text"/>
            <p:cNvSpPr/>
            <p:nvPr/>
          </p:nvSpPr>
          <p:spPr>
            <a:xfrm>
              <a:off x="4610100" y="2336800"/>
              <a:ext cx="3200400" cy="571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Retrieve process, rules, requirements and open questions for a bounded design, coding, testing or cutover task.</a:t>
              </a:r>
              <a:endParaRPr lang="en-US" sz="1100" spc="0" kern="0" b="0" i="0" dirty="0">
                <a:solidFill>
                  <a:srgbClr val="FFFFFF"/>
                </a:solidFill>
                <a:latin typeface="IBM Plex Sans"/>
                <a:ea typeface="IBM Plex Sans"/>
                <a:cs typeface="IBM Plex Sans"/>
              </a:endParaRPr>
            </a:p>
          </p:txBody>
        </p:sp>
      </p:grpSp>
      <p:grpSp>
        <p:nvGrpSpPr>
          <p:cNvPr id="38" name="node06"/>
          <p:cNvGrpSpPr/>
          <p:nvPr/>
        </p:nvGrpSpPr>
        <p:grpSpPr>
          <a:xfrm>
            <a:off x="8039100" y="2133600"/>
            <a:ext cx="3200400" cy="139700"/>
            <a:chOff x="8039100" y="2133600"/>
            <a:chExt cx="3200400" cy="139700"/>
          </a:xfrm>
        </p:grpSpPr>
        <p:sp>
          <p:nvSpPr>
            <p:cNvPr id="23" name="node06.text"/>
            <p:cNvSpPr/>
            <p:nvPr/>
          </p:nvSpPr>
          <p:spPr>
            <a:xfrm>
              <a:off x="8039100" y="21336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VALUE OPPORTUNITY</a:t>
              </a:r>
              <a:endParaRPr lang="en-US" sz="800" spc="48" kern="0" b="0" i="0" dirty="0">
                <a:solidFill>
                  <a:srgbClr val="FFFFFF"/>
                </a:solidFill>
                <a:latin typeface="IBM Plex Mono Medium"/>
                <a:ea typeface="IBM Plex Mono Medium"/>
                <a:cs typeface="IBM Plex Mono Medium"/>
              </a:endParaRPr>
            </a:p>
          </p:txBody>
        </p:sp>
      </p:grpSp>
      <p:grpSp>
        <p:nvGrpSpPr>
          <p:cNvPr id="39" name="node07"/>
          <p:cNvGrpSpPr/>
          <p:nvPr/>
        </p:nvGrpSpPr>
        <p:grpSpPr>
          <a:xfrm>
            <a:off x="8039100" y="2336800"/>
            <a:ext cx="3200400" cy="381000"/>
            <a:chOff x="8039100" y="2336800"/>
            <a:chExt cx="3200400" cy="381000"/>
          </a:xfrm>
        </p:grpSpPr>
        <p:sp>
          <p:nvSpPr>
            <p:cNvPr id="24" name="node07.text"/>
            <p:cNvSpPr/>
            <p:nvPr/>
          </p:nvSpPr>
          <p:spPr>
            <a:xfrm>
              <a:off x="8039100" y="2336800"/>
              <a:ext cx="3200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Warmer handoffs, faster prototyping, stronger traceability and earlier visibility of gaps.</a:t>
              </a:r>
              <a:endParaRPr lang="en-US" sz="1100" spc="0" kern="0" b="0" i="0" dirty="0">
                <a:solidFill>
                  <a:srgbClr val="FFFFFF"/>
                </a:solidFill>
                <a:latin typeface="IBM Plex Sans"/>
                <a:ea typeface="IBM Plex Sans"/>
                <a:cs typeface="IBM Plex Sans"/>
              </a:endParaRPr>
            </a:p>
          </p:txBody>
        </p:sp>
      </p:grpSp>
      <p:grpSp>
        <p:nvGrpSpPr>
          <p:cNvPr id="40" name="node08"/>
          <p:cNvGrpSpPr/>
          <p:nvPr/>
        </p:nvGrpSpPr>
        <p:grpSpPr>
          <a:xfrm>
            <a:off x="4381500" y="3429000"/>
            <a:ext cx="7086600" cy="1600200"/>
            <a:chOff x="4381500" y="3429000"/>
            <a:chExt cx="7086600" cy="1600200"/>
          </a:xfrm>
        </p:grpSpPr>
        <p:sp>
          <p:nvSpPr>
            <p:cNvPr id="25" name="node08.surface"/>
            <p:cNvSpPr/>
            <p:nvPr/>
          </p:nvSpPr>
          <p:spPr>
            <a:xfrm>
              <a:off x="4381500" y="3429000"/>
              <a:ext cx="7086600" cy="1600200"/>
            </a:xfrm>
            <a:prstGeom prst="rect">
              <a:avLst/>
            </a:prstGeom>
            <a:solidFill>
              <a:srgbClr val="E8EEF8"/>
            </a:solidFill>
            <a:ln>
              <a:noFill/>
            </a:ln>
          </p:spPr>
        </p:sp>
      </p:grpSp>
      <p:grpSp>
        <p:nvGrpSpPr>
          <p:cNvPr id="41" name="node09"/>
          <p:cNvGrpSpPr/>
          <p:nvPr/>
        </p:nvGrpSpPr>
        <p:grpSpPr>
          <a:xfrm>
            <a:off x="4610100" y="3581400"/>
            <a:ext cx="6629400" cy="266700"/>
            <a:chOff x="4610100" y="3581400"/>
            <a:chExt cx="6629400" cy="266700"/>
          </a:xfrm>
        </p:grpSpPr>
        <p:sp>
          <p:nvSpPr>
            <p:cNvPr id="26" name="node09.text"/>
            <p:cNvSpPr/>
            <p:nvPr/>
          </p:nvSpPr>
          <p:spPr>
            <a:xfrm>
              <a:off x="4610100" y="3581400"/>
              <a:ext cx="6629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Sustain</a:t>
              </a:r>
              <a:endParaRPr lang="en-US" sz="1600" spc="-16" kern="0" b="0" i="0" dirty="0">
                <a:solidFill>
                  <a:srgbClr val="070154"/>
                </a:solidFill>
                <a:latin typeface="IBM Plex Sans SemiBold"/>
                <a:ea typeface="IBM Plex Sans SemiBold"/>
                <a:cs typeface="IBM Plex Sans SemiBold"/>
              </a:endParaRPr>
            </a:p>
          </p:txBody>
        </p:sp>
      </p:grpSp>
      <p:grpSp>
        <p:nvGrpSpPr>
          <p:cNvPr id="42" name="node10"/>
          <p:cNvGrpSpPr/>
          <p:nvPr/>
        </p:nvGrpSpPr>
        <p:grpSpPr>
          <a:xfrm>
            <a:off x="4610100" y="3962400"/>
            <a:ext cx="3200400" cy="139700"/>
            <a:chOff x="4610100" y="3962400"/>
            <a:chExt cx="3200400" cy="139700"/>
          </a:xfrm>
        </p:grpSpPr>
        <p:sp>
          <p:nvSpPr>
            <p:cNvPr id="27" name="node10.text"/>
            <p:cNvSpPr/>
            <p:nvPr/>
          </p:nvSpPr>
          <p:spPr>
            <a:xfrm>
              <a:off x="4610100" y="39624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HOW CONTEXT IS USED</a:t>
              </a:r>
              <a:endParaRPr lang="en-US" sz="800" spc="48" kern="0" b="0" i="0" dirty="0">
                <a:solidFill>
                  <a:srgbClr val="0047FF"/>
                </a:solidFill>
                <a:latin typeface="IBM Plex Mono Medium"/>
                <a:ea typeface="IBM Plex Mono Medium"/>
                <a:cs typeface="IBM Plex Mono Medium"/>
              </a:endParaRPr>
            </a:p>
          </p:txBody>
        </p:sp>
      </p:grpSp>
      <p:grpSp>
        <p:nvGrpSpPr>
          <p:cNvPr id="43" name="node11"/>
          <p:cNvGrpSpPr/>
          <p:nvPr/>
        </p:nvGrpSpPr>
        <p:grpSpPr>
          <a:xfrm>
            <a:off x="4610100" y="4165600"/>
            <a:ext cx="3200400" cy="571500"/>
            <a:chOff x="4610100" y="4165600"/>
            <a:chExt cx="3200400" cy="571500"/>
          </a:xfrm>
        </p:grpSpPr>
        <p:sp>
          <p:nvSpPr>
            <p:cNvPr id="28" name="node11.text"/>
            <p:cNvSpPr/>
            <p:nvPr/>
          </p:nvSpPr>
          <p:spPr>
            <a:xfrm>
              <a:off x="4610100" y="4165600"/>
              <a:ext cx="3200400" cy="571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Connect bug reports and change requests to documented intent, architecture and tests for impact analysis.</a:t>
              </a:r>
              <a:endParaRPr lang="en-US" sz="1100" spc="0" kern="0" b="0" i="0" dirty="0">
                <a:solidFill>
                  <a:srgbClr val="070154"/>
                </a:solidFill>
                <a:latin typeface="IBM Plex Sans"/>
                <a:ea typeface="IBM Plex Sans"/>
                <a:cs typeface="IBM Plex Sans"/>
              </a:endParaRPr>
            </a:p>
          </p:txBody>
        </p:sp>
      </p:grpSp>
      <p:grpSp>
        <p:nvGrpSpPr>
          <p:cNvPr id="44" name="node12"/>
          <p:cNvGrpSpPr/>
          <p:nvPr/>
        </p:nvGrpSpPr>
        <p:grpSpPr>
          <a:xfrm>
            <a:off x="8039100" y="3962400"/>
            <a:ext cx="3200400" cy="139700"/>
            <a:chOff x="8039100" y="3962400"/>
            <a:chExt cx="3200400" cy="139700"/>
          </a:xfrm>
        </p:grpSpPr>
        <p:sp>
          <p:nvSpPr>
            <p:cNvPr id="29" name="node12.text"/>
            <p:cNvSpPr/>
            <p:nvPr/>
          </p:nvSpPr>
          <p:spPr>
            <a:xfrm>
              <a:off x="8039100" y="39624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VALUE OPPORTUNITY</a:t>
              </a:r>
              <a:endParaRPr lang="en-US" sz="800" spc="48" kern="0" b="0" i="0" dirty="0">
                <a:solidFill>
                  <a:srgbClr val="0047FF"/>
                </a:solidFill>
                <a:latin typeface="IBM Plex Mono Medium"/>
                <a:ea typeface="IBM Plex Mono Medium"/>
                <a:cs typeface="IBM Plex Mono Medium"/>
              </a:endParaRPr>
            </a:p>
          </p:txBody>
        </p:sp>
      </p:grpSp>
      <p:grpSp>
        <p:nvGrpSpPr>
          <p:cNvPr id="45" name="node13"/>
          <p:cNvGrpSpPr/>
          <p:nvPr/>
        </p:nvGrpSpPr>
        <p:grpSpPr>
          <a:xfrm>
            <a:off x="8039100" y="4165600"/>
            <a:ext cx="3200400" cy="571500"/>
            <a:chOff x="8039100" y="4165600"/>
            <a:chExt cx="3200400" cy="571500"/>
          </a:xfrm>
        </p:grpSpPr>
        <p:sp>
          <p:nvSpPr>
            <p:cNvPr id="30" name="node13.text"/>
            <p:cNvSpPr/>
            <p:nvPr/>
          </p:nvSpPr>
          <p:spPr>
            <a:xfrm>
              <a:off x="8039100" y="4165600"/>
              <a:ext cx="3200400" cy="571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Faster investigation, better knowledge preservation and less maintenance effort over time.</a:t>
              </a:r>
              <a:endParaRPr lang="en-US" sz="1100" spc="0" kern="0" b="0" i="0" dirty="0">
                <a:solidFill>
                  <a:srgbClr val="070154"/>
                </a:solidFill>
                <a:latin typeface="IBM Plex Sans"/>
                <a:ea typeface="IBM Plex Sans"/>
                <a:cs typeface="IBM Plex Sans"/>
              </a:endParaRPr>
            </a:p>
          </p:txBody>
        </p:sp>
      </p:grpSp>
      <p:grpSp>
        <p:nvGrpSpPr>
          <p:cNvPr id="46" name="node14"/>
          <p:cNvGrpSpPr/>
          <p:nvPr/>
        </p:nvGrpSpPr>
        <p:grpSpPr>
          <a:xfrm>
            <a:off x="723900" y="5257800"/>
            <a:ext cx="10744200" cy="457200"/>
            <a:chOff x="723900" y="5257800"/>
            <a:chExt cx="10744200" cy="457200"/>
          </a:xfrm>
        </p:grpSpPr>
        <p:sp>
          <p:nvSpPr>
            <p:cNvPr id="31" name="node14.surface"/>
            <p:cNvSpPr/>
            <p:nvPr/>
          </p:nvSpPr>
          <p:spPr>
            <a:xfrm>
              <a:off x="723900" y="5257800"/>
              <a:ext cx="10744200" cy="457200"/>
            </a:xfrm>
            <a:prstGeom prst="rect">
              <a:avLst/>
            </a:prstGeom>
            <a:solidFill>
              <a:srgbClr val="070154"/>
            </a:solidFill>
            <a:ln>
              <a:noFill/>
            </a:ln>
          </p:spPr>
        </p:sp>
        <p:sp>
          <p:nvSpPr>
            <p:cNvPr id="32" name="node14.text"/>
            <p:cNvSpPr/>
            <p:nvPr/>
          </p:nvSpPr>
          <p:spPr>
            <a:xfrm>
              <a:off x="876300" y="5391150"/>
              <a:ext cx="10439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The context layer compounds in value only while teams keep it current, governed and source-linked.</a:t>
              </a:r>
              <a:endParaRPr lang="en-US" sz="1100" spc="0" kern="0" b="0" i="0" dirty="0">
                <a:solidFill>
                  <a:srgbClr val="FFFFFF"/>
                </a:solidFill>
                <a:latin typeface="IBM Plex Sans"/>
                <a:ea typeface="IBM Plex Sans"/>
                <a:cs typeface="IBM Plex Sans"/>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ource-33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 · PHASE 1</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patterns define the lakehouse role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analysis of the Northfield data estate.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99</a:t>
            </a:fld>
            <a:endParaRPr lang="en-US" sz="700" spc="0" kern="0" b="0" i="0" dirty="0">
              <a:solidFill>
                <a:srgbClr val="070154"/>
              </a:solidFill>
              <a:latin typeface="IBM Plex Mono SemiBold"/>
              <a:ea typeface="IBM Plex Mono SemiBold"/>
              <a:cs typeface="IBM Plex Mono SemiBold"/>
            </a:endParaRPr>
          </a:p>
        </p:txBody>
      </p:sp>
      <p:grpSp>
        <p:nvGrpSpPr>
          <p:cNvPr id="43" name="node01"/>
          <p:cNvGrpSpPr/>
          <p:nvPr/>
        </p:nvGrpSpPr>
        <p:grpSpPr>
          <a:xfrm>
            <a:off x="723900" y="1600200"/>
            <a:ext cx="8001000" cy="457200"/>
            <a:chOff x="723900" y="1600200"/>
            <a:chExt cx="8001000" cy="457200"/>
          </a:xfrm>
        </p:grpSpPr>
        <p:sp>
          <p:nvSpPr>
            <p:cNvPr id="7" name="node01.surface"/>
            <p:cNvSpPr/>
            <p:nvPr/>
          </p:nvSpPr>
          <p:spPr>
            <a:xfrm>
              <a:off x="723900" y="1600200"/>
              <a:ext cx="8001000" cy="457200"/>
            </a:xfrm>
            <a:prstGeom prst="rect">
              <a:avLst/>
            </a:prstGeom>
            <a:solidFill>
              <a:srgbClr val="E8EEF8"/>
            </a:solidFill>
            <a:ln>
              <a:noFill/>
            </a:ln>
          </p:spPr>
        </p:sp>
        <p:sp>
          <p:nvSpPr>
            <p:cNvPr id="8" name="node01.text"/>
            <p:cNvSpPr/>
            <p:nvPr/>
          </p:nvSpPr>
          <p:spPr>
            <a:xfrm>
              <a:off x="876300" y="1733550"/>
              <a:ext cx="7696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Pattern 1: Lakehouse as the analytics layer over the existing warehouse</a:t>
              </a:r>
              <a:endParaRPr lang="en-US" sz="1100" spc="0" kern="0" b="0" i="0" dirty="0">
                <a:solidFill>
                  <a:srgbClr val="070154"/>
                </a:solidFill>
                <a:latin typeface="IBM Plex Sans"/>
                <a:ea typeface="IBM Plex Sans"/>
                <a:cs typeface="IBM Plex Sans"/>
              </a:endParaRPr>
            </a:p>
          </p:txBody>
        </p:sp>
      </p:grpSp>
      <p:grpSp>
        <p:nvGrpSpPr>
          <p:cNvPr id="44" name="node02"/>
          <p:cNvGrpSpPr/>
          <p:nvPr/>
        </p:nvGrpSpPr>
        <p:grpSpPr>
          <a:xfrm>
            <a:off x="8953500" y="1600200"/>
            <a:ext cx="2514600" cy="457200"/>
            <a:chOff x="8953500" y="1600200"/>
            <a:chExt cx="2514600" cy="457200"/>
          </a:xfrm>
        </p:grpSpPr>
        <p:sp>
          <p:nvSpPr>
            <p:cNvPr id="9" name="node02.surface"/>
            <p:cNvSpPr/>
            <p:nvPr/>
          </p:nvSpPr>
          <p:spPr>
            <a:xfrm>
              <a:off x="8953500" y="1600200"/>
              <a:ext cx="2514600" cy="457200"/>
            </a:xfrm>
            <a:prstGeom prst="rect">
              <a:avLst/>
            </a:prstGeom>
            <a:solidFill>
              <a:srgbClr val="E8EEF8"/>
            </a:solidFill>
            <a:ln>
              <a:noFill/>
            </a:ln>
          </p:spPr>
        </p:sp>
        <p:sp>
          <p:nvSpPr>
            <p:cNvPr id="10" name="node02.text"/>
            <p:cNvSpPr/>
            <p:nvPr/>
          </p:nvSpPr>
          <p:spPr>
            <a:xfrm>
              <a:off x="9105900" y="1733550"/>
              <a:ext cx="2209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Key decisions to validate</a:t>
              </a:r>
              <a:endParaRPr lang="en-US" sz="1100" spc="0" kern="0" b="0" i="0" dirty="0">
                <a:solidFill>
                  <a:srgbClr val="070154"/>
                </a:solidFill>
                <a:latin typeface="IBM Plex Sans"/>
                <a:ea typeface="IBM Plex Sans"/>
                <a:cs typeface="IBM Plex Sans"/>
              </a:endParaRPr>
            </a:p>
          </p:txBody>
        </p:sp>
      </p:grpSp>
      <p:grpSp>
        <p:nvGrpSpPr>
          <p:cNvPr id="45" name="node03"/>
          <p:cNvGrpSpPr/>
          <p:nvPr/>
        </p:nvGrpSpPr>
        <p:grpSpPr>
          <a:xfrm>
            <a:off x="952500" y="2209800"/>
            <a:ext cx="7620000" cy="266700"/>
            <a:chOff x="952500" y="2209800"/>
            <a:chExt cx="7620000" cy="266700"/>
          </a:xfrm>
        </p:grpSpPr>
        <p:sp>
          <p:nvSpPr>
            <p:cNvPr id="11" name="node03.text"/>
            <p:cNvSpPr/>
            <p:nvPr/>
          </p:nvSpPr>
          <p:spPr>
            <a:xfrm>
              <a:off x="952500" y="2209800"/>
              <a:ext cx="7620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Curated warehouse → Semantic services → BI layer</a:t>
              </a:r>
              <a:endParaRPr lang="en-US" sz="1600" spc="-16" kern="0" b="0" i="0" dirty="0">
                <a:solidFill>
                  <a:srgbClr val="070154"/>
                </a:solidFill>
                <a:latin typeface="IBM Plex Sans SemiBold"/>
                <a:ea typeface="IBM Plex Sans SemiBold"/>
                <a:cs typeface="IBM Plex Sans SemiBold"/>
              </a:endParaRPr>
            </a:p>
          </p:txBody>
        </p:sp>
      </p:grpSp>
      <p:grpSp>
        <p:nvGrpSpPr>
          <p:cNvPr id="46" name="node04"/>
          <p:cNvGrpSpPr/>
          <p:nvPr/>
        </p:nvGrpSpPr>
        <p:grpSpPr>
          <a:xfrm>
            <a:off x="952500" y="2590800"/>
            <a:ext cx="7620000" cy="190500"/>
            <a:chOff x="952500" y="2590800"/>
            <a:chExt cx="7620000" cy="190500"/>
          </a:xfrm>
        </p:grpSpPr>
        <p:sp>
          <p:nvSpPr>
            <p:cNvPr id="12" name="node04.text"/>
            <p:cNvSpPr/>
            <p:nvPr/>
          </p:nvSpPr>
          <p:spPr>
            <a:xfrm>
              <a:off x="952500" y="2590800"/>
              <a:ext cx="7620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ROLE: Native analytics and consumption over data governed in the warehouse</a:t>
              </a:r>
              <a:endParaRPr lang="en-US" sz="1100" spc="0" kern="0" b="0" i="0" dirty="0">
                <a:solidFill>
                  <a:srgbClr val="50658E"/>
                </a:solidFill>
                <a:latin typeface="IBM Plex Sans"/>
                <a:ea typeface="IBM Plex Sans"/>
                <a:cs typeface="IBM Plex Sans"/>
              </a:endParaRPr>
            </a:p>
          </p:txBody>
        </p:sp>
      </p:grpSp>
      <p:grpSp>
        <p:nvGrpSpPr>
          <p:cNvPr id="47" name="node05"/>
          <p:cNvGrpSpPr/>
          <p:nvPr/>
        </p:nvGrpSpPr>
        <p:grpSpPr>
          <a:xfrm>
            <a:off x="8953500" y="2133600"/>
            <a:ext cx="2514600" cy="723900"/>
            <a:chOff x="8953500" y="2133600"/>
            <a:chExt cx="2514600" cy="723900"/>
          </a:xfrm>
        </p:grpSpPr>
        <p:sp>
          <p:nvSpPr>
            <p:cNvPr id="13" name="node05.source-001.bullet"/>
            <p:cNvSpPr/>
            <p:nvPr/>
          </p:nvSpPr>
          <p:spPr>
            <a:xfrm>
              <a:off x="8953500" y="2222500"/>
              <a:ext cx="38100" cy="38100"/>
            </a:xfrm>
            <a:prstGeom prst="rect">
              <a:avLst/>
            </a:prstGeom>
            <a:solidFill>
              <a:srgbClr val="070154"/>
            </a:solidFill>
            <a:ln>
              <a:noFill/>
            </a:ln>
          </p:spPr>
        </p:sp>
        <p:sp>
          <p:nvSpPr>
            <p:cNvPr id="14" name="node05.source-001.text"/>
            <p:cNvSpPr/>
            <p:nvPr/>
          </p:nvSpPr>
          <p:spPr>
            <a:xfrm>
              <a:off x="9105900" y="2133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access versus movement</a:t>
              </a:r>
              <a:endParaRPr lang="en-US" sz="1200" spc="0" kern="0" b="0" i="0" dirty="0">
                <a:solidFill>
                  <a:srgbClr val="070154"/>
                </a:solidFill>
                <a:latin typeface="IBM Plex Sans"/>
                <a:ea typeface="IBM Plex Sans"/>
                <a:cs typeface="IBM Plex Sans"/>
              </a:endParaRPr>
            </a:p>
          </p:txBody>
        </p:sp>
        <p:sp>
          <p:nvSpPr>
            <p:cNvPr id="15" name="node05.source-002.bullet"/>
            <p:cNvSpPr/>
            <p:nvPr/>
          </p:nvSpPr>
          <p:spPr>
            <a:xfrm>
              <a:off x="8953500" y="2476500"/>
              <a:ext cx="38100" cy="38100"/>
            </a:xfrm>
            <a:prstGeom prst="rect">
              <a:avLst/>
            </a:prstGeom>
            <a:solidFill>
              <a:srgbClr val="070154"/>
            </a:solidFill>
            <a:ln>
              <a:noFill/>
            </a:ln>
          </p:spPr>
        </p:sp>
        <p:sp>
          <p:nvSpPr>
            <p:cNvPr id="16" name="node05.source-002.text"/>
            <p:cNvSpPr/>
            <p:nvPr/>
          </p:nvSpPr>
          <p:spPr>
            <a:xfrm>
              <a:off x="9105900" y="2387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Semantic model ownership</a:t>
              </a:r>
              <a:endParaRPr lang="en-US" sz="1200" spc="0" kern="0" b="0" i="0" dirty="0">
                <a:solidFill>
                  <a:srgbClr val="070154"/>
                </a:solidFill>
                <a:latin typeface="IBM Plex Sans"/>
                <a:ea typeface="IBM Plex Sans"/>
                <a:cs typeface="IBM Plex Sans"/>
              </a:endParaRPr>
            </a:p>
          </p:txBody>
        </p:sp>
        <p:sp>
          <p:nvSpPr>
            <p:cNvPr id="17" name="node05.source-003.bullet"/>
            <p:cNvSpPr/>
            <p:nvPr/>
          </p:nvSpPr>
          <p:spPr>
            <a:xfrm>
              <a:off x="8953500" y="2730500"/>
              <a:ext cx="38100" cy="38100"/>
            </a:xfrm>
            <a:prstGeom prst="rect">
              <a:avLst/>
            </a:prstGeom>
            <a:solidFill>
              <a:srgbClr val="070154"/>
            </a:solidFill>
            <a:ln>
              <a:noFill/>
            </a:ln>
          </p:spPr>
        </p:sp>
        <p:sp>
          <p:nvSpPr>
            <p:cNvPr id="18" name="node05.source-003.text"/>
            <p:cNvSpPr/>
            <p:nvPr/>
          </p:nvSpPr>
          <p:spPr>
            <a:xfrm>
              <a:off x="9105900" y="2641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Security and lineage</a:t>
              </a:r>
              <a:endParaRPr lang="en-US" sz="1200" spc="0" kern="0" b="0" i="0" dirty="0">
                <a:solidFill>
                  <a:srgbClr val="070154"/>
                </a:solidFill>
                <a:latin typeface="IBM Plex Sans"/>
                <a:ea typeface="IBM Plex Sans"/>
                <a:cs typeface="IBM Plex Sans"/>
              </a:endParaRPr>
            </a:p>
          </p:txBody>
        </p:sp>
      </p:grpSp>
      <p:grpSp>
        <p:nvGrpSpPr>
          <p:cNvPr id="48" name="node06"/>
          <p:cNvGrpSpPr/>
          <p:nvPr/>
        </p:nvGrpSpPr>
        <p:grpSpPr>
          <a:xfrm>
            <a:off x="723900" y="2971800"/>
            <a:ext cx="8001000" cy="457200"/>
            <a:chOff x="723900" y="2971800"/>
            <a:chExt cx="8001000" cy="457200"/>
          </a:xfrm>
        </p:grpSpPr>
        <p:sp>
          <p:nvSpPr>
            <p:cNvPr id="19" name="node06.surface"/>
            <p:cNvSpPr/>
            <p:nvPr/>
          </p:nvSpPr>
          <p:spPr>
            <a:xfrm>
              <a:off x="723900" y="2971800"/>
              <a:ext cx="8001000" cy="457200"/>
            </a:xfrm>
            <a:prstGeom prst="rect">
              <a:avLst/>
            </a:prstGeom>
            <a:solidFill>
              <a:srgbClr val="CED7E6"/>
            </a:solidFill>
            <a:ln>
              <a:noFill/>
            </a:ln>
          </p:spPr>
        </p:sp>
        <p:sp>
          <p:nvSpPr>
            <p:cNvPr id="20" name="node06.text"/>
            <p:cNvSpPr/>
            <p:nvPr/>
          </p:nvSpPr>
          <p:spPr>
            <a:xfrm>
              <a:off x="876300" y="3105150"/>
              <a:ext cx="7696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Pattern 2: Lakehouse as the consumption layer for the engineering platform</a:t>
              </a:r>
              <a:endParaRPr lang="en-US" sz="1100" spc="0" kern="0" b="0" i="0" dirty="0">
                <a:solidFill>
                  <a:srgbClr val="070154"/>
                </a:solidFill>
                <a:latin typeface="IBM Plex Sans"/>
                <a:ea typeface="IBM Plex Sans"/>
                <a:cs typeface="IBM Plex Sans"/>
              </a:endParaRPr>
            </a:p>
          </p:txBody>
        </p:sp>
      </p:grpSp>
      <p:grpSp>
        <p:nvGrpSpPr>
          <p:cNvPr id="49" name="node07"/>
          <p:cNvGrpSpPr/>
          <p:nvPr/>
        </p:nvGrpSpPr>
        <p:grpSpPr>
          <a:xfrm>
            <a:off x="8953500" y="2971800"/>
            <a:ext cx="2514600" cy="457200"/>
            <a:chOff x="8953500" y="2971800"/>
            <a:chExt cx="2514600" cy="457200"/>
          </a:xfrm>
        </p:grpSpPr>
        <p:sp>
          <p:nvSpPr>
            <p:cNvPr id="21" name="node07.surface"/>
            <p:cNvSpPr/>
            <p:nvPr/>
          </p:nvSpPr>
          <p:spPr>
            <a:xfrm>
              <a:off x="8953500" y="2971800"/>
              <a:ext cx="2514600" cy="457200"/>
            </a:xfrm>
            <a:prstGeom prst="rect">
              <a:avLst/>
            </a:prstGeom>
            <a:solidFill>
              <a:srgbClr val="CED7E6"/>
            </a:solidFill>
            <a:ln>
              <a:noFill/>
            </a:ln>
          </p:spPr>
        </p:sp>
        <p:sp>
          <p:nvSpPr>
            <p:cNvPr id="22" name="node07.text"/>
            <p:cNvSpPr/>
            <p:nvPr/>
          </p:nvSpPr>
          <p:spPr>
            <a:xfrm>
              <a:off x="9105900" y="3105150"/>
              <a:ext cx="2209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Key decisions to validate</a:t>
              </a:r>
              <a:endParaRPr lang="en-US" sz="1100" spc="0" kern="0" b="0" i="0" dirty="0">
                <a:solidFill>
                  <a:srgbClr val="070154"/>
                </a:solidFill>
                <a:latin typeface="IBM Plex Sans"/>
                <a:ea typeface="IBM Plex Sans"/>
                <a:cs typeface="IBM Plex Sans"/>
              </a:endParaRPr>
            </a:p>
          </p:txBody>
        </p:sp>
      </p:grpSp>
      <p:grpSp>
        <p:nvGrpSpPr>
          <p:cNvPr id="50" name="node08"/>
          <p:cNvGrpSpPr/>
          <p:nvPr/>
        </p:nvGrpSpPr>
        <p:grpSpPr>
          <a:xfrm>
            <a:off x="952500" y="3581400"/>
            <a:ext cx="7620000" cy="266700"/>
            <a:chOff x="952500" y="3581400"/>
            <a:chExt cx="7620000" cy="266700"/>
          </a:xfrm>
        </p:grpSpPr>
        <p:sp>
          <p:nvSpPr>
            <p:cNvPr id="23" name="node08.text"/>
            <p:cNvSpPr/>
            <p:nvPr/>
          </p:nvSpPr>
          <p:spPr>
            <a:xfrm>
              <a:off x="952500" y="3581400"/>
              <a:ext cx="7620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Engineering platform → Curated layer → BI layer</a:t>
              </a:r>
              <a:endParaRPr lang="en-US" sz="1600" spc="-16" kern="0" b="0" i="0" dirty="0">
                <a:solidFill>
                  <a:srgbClr val="070154"/>
                </a:solidFill>
                <a:latin typeface="IBM Plex Sans SemiBold"/>
                <a:ea typeface="IBM Plex Sans SemiBold"/>
                <a:cs typeface="IBM Plex Sans SemiBold"/>
              </a:endParaRPr>
            </a:p>
          </p:txBody>
        </p:sp>
      </p:grpSp>
      <p:grpSp>
        <p:nvGrpSpPr>
          <p:cNvPr id="51" name="node09"/>
          <p:cNvGrpSpPr/>
          <p:nvPr/>
        </p:nvGrpSpPr>
        <p:grpSpPr>
          <a:xfrm>
            <a:off x="952500" y="3962400"/>
            <a:ext cx="7620000" cy="190500"/>
            <a:chOff x="952500" y="3962400"/>
            <a:chExt cx="7620000" cy="190500"/>
          </a:xfrm>
        </p:grpSpPr>
        <p:sp>
          <p:nvSpPr>
            <p:cNvPr id="24" name="node09.text"/>
            <p:cNvSpPr/>
            <p:nvPr/>
          </p:nvSpPr>
          <p:spPr>
            <a:xfrm>
              <a:off x="952500" y="3962400"/>
              <a:ext cx="7620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ROLE: Business consumption while engineering and curation stay put</a:t>
              </a:r>
              <a:endParaRPr lang="en-US" sz="1100" spc="0" kern="0" b="0" i="0" dirty="0">
                <a:solidFill>
                  <a:srgbClr val="50658E"/>
                </a:solidFill>
                <a:latin typeface="IBM Plex Sans"/>
                <a:ea typeface="IBM Plex Sans"/>
                <a:cs typeface="IBM Plex Sans"/>
              </a:endParaRPr>
            </a:p>
          </p:txBody>
        </p:sp>
      </p:grpSp>
      <p:grpSp>
        <p:nvGrpSpPr>
          <p:cNvPr id="52" name="node10"/>
          <p:cNvGrpSpPr/>
          <p:nvPr/>
        </p:nvGrpSpPr>
        <p:grpSpPr>
          <a:xfrm>
            <a:off x="8953500" y="3505200"/>
            <a:ext cx="2514600" cy="723900"/>
            <a:chOff x="8953500" y="3505200"/>
            <a:chExt cx="2514600" cy="723900"/>
          </a:xfrm>
        </p:grpSpPr>
        <p:sp>
          <p:nvSpPr>
            <p:cNvPr id="25" name="node10.source-001.bullet"/>
            <p:cNvSpPr/>
            <p:nvPr/>
          </p:nvSpPr>
          <p:spPr>
            <a:xfrm>
              <a:off x="8953500" y="3594100"/>
              <a:ext cx="38100" cy="38100"/>
            </a:xfrm>
            <a:prstGeom prst="rect">
              <a:avLst/>
            </a:prstGeom>
            <a:solidFill>
              <a:srgbClr val="070154"/>
            </a:solidFill>
            <a:ln>
              <a:noFill/>
            </a:ln>
          </p:spPr>
        </p:sp>
        <p:sp>
          <p:nvSpPr>
            <p:cNvPr id="26" name="node10.source-001.text"/>
            <p:cNvSpPr/>
            <p:nvPr/>
          </p:nvSpPr>
          <p:spPr>
            <a:xfrm>
              <a:off x="9105900" y="3505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formats and shortcuts</a:t>
              </a:r>
              <a:endParaRPr lang="en-US" sz="1200" spc="0" kern="0" b="0" i="0" dirty="0">
                <a:solidFill>
                  <a:srgbClr val="070154"/>
                </a:solidFill>
                <a:latin typeface="IBM Plex Sans"/>
                <a:ea typeface="IBM Plex Sans"/>
                <a:cs typeface="IBM Plex Sans"/>
              </a:endParaRPr>
            </a:p>
          </p:txBody>
        </p:sp>
        <p:sp>
          <p:nvSpPr>
            <p:cNvPr id="27" name="node10.source-002.bullet"/>
            <p:cNvSpPr/>
            <p:nvPr/>
          </p:nvSpPr>
          <p:spPr>
            <a:xfrm>
              <a:off x="8953500" y="3848100"/>
              <a:ext cx="38100" cy="38100"/>
            </a:xfrm>
            <a:prstGeom prst="rect">
              <a:avLst/>
            </a:prstGeom>
            <a:solidFill>
              <a:srgbClr val="070154"/>
            </a:solidFill>
            <a:ln>
              <a:noFill/>
            </a:ln>
          </p:spPr>
        </p:sp>
        <p:sp>
          <p:nvSpPr>
            <p:cNvPr id="28" name="node10.source-002.text"/>
            <p:cNvSpPr/>
            <p:nvPr/>
          </p:nvSpPr>
          <p:spPr>
            <a:xfrm>
              <a:off x="9105900" y="3759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Metadata and lineage sync</a:t>
              </a:r>
              <a:endParaRPr lang="en-US" sz="1200" spc="0" kern="0" b="0" i="0" dirty="0">
                <a:solidFill>
                  <a:srgbClr val="070154"/>
                </a:solidFill>
                <a:latin typeface="IBM Plex Sans"/>
                <a:ea typeface="IBM Plex Sans"/>
                <a:cs typeface="IBM Plex Sans"/>
              </a:endParaRPr>
            </a:p>
          </p:txBody>
        </p:sp>
        <p:sp>
          <p:nvSpPr>
            <p:cNvPr id="29" name="node10.source-003.bullet"/>
            <p:cNvSpPr/>
            <p:nvPr/>
          </p:nvSpPr>
          <p:spPr>
            <a:xfrm>
              <a:off x="8953500" y="4102100"/>
              <a:ext cx="38100" cy="38100"/>
            </a:xfrm>
            <a:prstGeom prst="rect">
              <a:avLst/>
            </a:prstGeom>
            <a:solidFill>
              <a:srgbClr val="070154"/>
            </a:solidFill>
            <a:ln>
              <a:noFill/>
            </a:ln>
          </p:spPr>
        </p:sp>
        <p:sp>
          <p:nvSpPr>
            <p:cNvPr id="30" name="node10.source-003.text"/>
            <p:cNvSpPr/>
            <p:nvPr/>
          </p:nvSpPr>
          <p:spPr>
            <a:xfrm>
              <a:off x="9105900" y="4013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Curated layer ownership</a:t>
              </a:r>
              <a:endParaRPr lang="en-US" sz="1200" spc="0" kern="0" b="0" i="0" dirty="0">
                <a:solidFill>
                  <a:srgbClr val="070154"/>
                </a:solidFill>
                <a:latin typeface="IBM Plex Sans"/>
                <a:ea typeface="IBM Plex Sans"/>
                <a:cs typeface="IBM Plex Sans"/>
              </a:endParaRPr>
            </a:p>
          </p:txBody>
        </p:sp>
      </p:grpSp>
      <p:grpSp>
        <p:nvGrpSpPr>
          <p:cNvPr id="53" name="node11"/>
          <p:cNvGrpSpPr/>
          <p:nvPr/>
        </p:nvGrpSpPr>
        <p:grpSpPr>
          <a:xfrm>
            <a:off x="723900" y="4343400"/>
            <a:ext cx="8001000" cy="457200"/>
            <a:chOff x="723900" y="4343400"/>
            <a:chExt cx="8001000" cy="457200"/>
          </a:xfrm>
        </p:grpSpPr>
        <p:sp>
          <p:nvSpPr>
            <p:cNvPr id="31" name="node11.surface"/>
            <p:cNvSpPr/>
            <p:nvPr/>
          </p:nvSpPr>
          <p:spPr>
            <a:xfrm>
              <a:off x="723900" y="4343400"/>
              <a:ext cx="8001000" cy="457200"/>
            </a:xfrm>
            <a:prstGeom prst="rect">
              <a:avLst/>
            </a:prstGeom>
            <a:solidFill>
              <a:srgbClr val="070154"/>
            </a:solidFill>
            <a:ln>
              <a:noFill/>
            </a:ln>
          </p:spPr>
        </p:sp>
        <p:sp>
          <p:nvSpPr>
            <p:cNvPr id="32" name="node11.text"/>
            <p:cNvSpPr/>
            <p:nvPr/>
          </p:nvSpPr>
          <p:spPr>
            <a:xfrm>
              <a:off x="876300" y="4476750"/>
              <a:ext cx="7696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Pattern 3: End-to-end lakehouse platform</a:t>
              </a:r>
              <a:endParaRPr lang="en-US" sz="1100" spc="0" kern="0" b="0" i="0" dirty="0">
                <a:solidFill>
                  <a:srgbClr val="FFFFFF"/>
                </a:solidFill>
                <a:latin typeface="IBM Plex Sans"/>
                <a:ea typeface="IBM Plex Sans"/>
                <a:cs typeface="IBM Plex Sans"/>
              </a:endParaRPr>
            </a:p>
          </p:txBody>
        </p:sp>
      </p:grpSp>
      <p:grpSp>
        <p:nvGrpSpPr>
          <p:cNvPr id="54" name="node12"/>
          <p:cNvGrpSpPr/>
          <p:nvPr/>
        </p:nvGrpSpPr>
        <p:grpSpPr>
          <a:xfrm>
            <a:off x="8953500" y="4343400"/>
            <a:ext cx="2514600" cy="457200"/>
            <a:chOff x="8953500" y="4343400"/>
            <a:chExt cx="2514600" cy="457200"/>
          </a:xfrm>
        </p:grpSpPr>
        <p:sp>
          <p:nvSpPr>
            <p:cNvPr id="33" name="node12.surface"/>
            <p:cNvSpPr/>
            <p:nvPr/>
          </p:nvSpPr>
          <p:spPr>
            <a:xfrm>
              <a:off x="8953500" y="4343400"/>
              <a:ext cx="2514600" cy="457200"/>
            </a:xfrm>
            <a:prstGeom prst="rect">
              <a:avLst/>
            </a:prstGeom>
            <a:solidFill>
              <a:srgbClr val="070154"/>
            </a:solidFill>
            <a:ln>
              <a:noFill/>
            </a:ln>
          </p:spPr>
        </p:sp>
        <p:sp>
          <p:nvSpPr>
            <p:cNvPr id="34" name="node12.text"/>
            <p:cNvSpPr/>
            <p:nvPr/>
          </p:nvSpPr>
          <p:spPr>
            <a:xfrm>
              <a:off x="9105900" y="4476750"/>
              <a:ext cx="2209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Key decisions to validate</a:t>
              </a:r>
              <a:endParaRPr lang="en-US" sz="1100" spc="0" kern="0" b="0" i="0" dirty="0">
                <a:solidFill>
                  <a:srgbClr val="FFFFFF"/>
                </a:solidFill>
                <a:latin typeface="IBM Plex Sans"/>
                <a:ea typeface="IBM Plex Sans"/>
                <a:cs typeface="IBM Plex Sans"/>
              </a:endParaRPr>
            </a:p>
          </p:txBody>
        </p:sp>
      </p:grpSp>
      <p:grpSp>
        <p:nvGrpSpPr>
          <p:cNvPr id="55" name="node13"/>
          <p:cNvGrpSpPr/>
          <p:nvPr/>
        </p:nvGrpSpPr>
        <p:grpSpPr>
          <a:xfrm>
            <a:off x="952500" y="4953000"/>
            <a:ext cx="7620000" cy="266700"/>
            <a:chOff x="952500" y="4953000"/>
            <a:chExt cx="7620000" cy="266700"/>
          </a:xfrm>
        </p:grpSpPr>
        <p:sp>
          <p:nvSpPr>
            <p:cNvPr id="35" name="node13.text"/>
            <p:cNvSpPr/>
            <p:nvPr/>
          </p:nvSpPr>
          <p:spPr>
            <a:xfrm>
              <a:off x="952500" y="4953000"/>
              <a:ext cx="7620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Ingestion and engineering → Lakehouse → Semantic and reporting</a:t>
              </a:r>
              <a:endParaRPr lang="en-US" sz="1600" spc="-16" kern="0" b="0" i="0" dirty="0">
                <a:solidFill>
                  <a:srgbClr val="070154"/>
                </a:solidFill>
                <a:latin typeface="IBM Plex Sans SemiBold"/>
                <a:ea typeface="IBM Plex Sans SemiBold"/>
                <a:cs typeface="IBM Plex Sans SemiBold"/>
              </a:endParaRPr>
            </a:p>
          </p:txBody>
        </p:sp>
      </p:grpSp>
      <p:grpSp>
        <p:nvGrpSpPr>
          <p:cNvPr id="56" name="node14"/>
          <p:cNvGrpSpPr/>
          <p:nvPr/>
        </p:nvGrpSpPr>
        <p:grpSpPr>
          <a:xfrm>
            <a:off x="952500" y="5334000"/>
            <a:ext cx="7620000" cy="190500"/>
            <a:chOff x="952500" y="5334000"/>
            <a:chExt cx="7620000" cy="190500"/>
          </a:xfrm>
        </p:grpSpPr>
        <p:sp>
          <p:nvSpPr>
            <p:cNvPr id="36" name="node14.text"/>
            <p:cNvSpPr/>
            <p:nvPr/>
          </p:nvSpPr>
          <p:spPr>
            <a:xfrm>
              <a:off x="952500" y="5334000"/>
              <a:ext cx="7620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ROLE: One platform for qualified net-new workloads</a:t>
              </a:r>
              <a:endParaRPr lang="en-US" sz="1100" spc="0" kern="0" b="0" i="0" dirty="0">
                <a:solidFill>
                  <a:srgbClr val="50658E"/>
                </a:solidFill>
                <a:latin typeface="IBM Plex Sans"/>
                <a:ea typeface="IBM Plex Sans"/>
                <a:cs typeface="IBM Plex Sans"/>
              </a:endParaRPr>
            </a:p>
          </p:txBody>
        </p:sp>
      </p:grpSp>
      <p:grpSp>
        <p:nvGrpSpPr>
          <p:cNvPr id="57" name="node15"/>
          <p:cNvGrpSpPr/>
          <p:nvPr/>
        </p:nvGrpSpPr>
        <p:grpSpPr>
          <a:xfrm>
            <a:off x="8953500" y="4876800"/>
            <a:ext cx="2514600" cy="723900"/>
            <a:chOff x="8953500" y="4876800"/>
            <a:chExt cx="2514600" cy="723900"/>
          </a:xfrm>
        </p:grpSpPr>
        <p:sp>
          <p:nvSpPr>
            <p:cNvPr id="37" name="node15.source-001.bullet"/>
            <p:cNvSpPr/>
            <p:nvPr/>
          </p:nvSpPr>
          <p:spPr>
            <a:xfrm>
              <a:off x="8953500" y="4965700"/>
              <a:ext cx="38100" cy="38100"/>
            </a:xfrm>
            <a:prstGeom prst="rect">
              <a:avLst/>
            </a:prstGeom>
            <a:solidFill>
              <a:srgbClr val="070154"/>
            </a:solidFill>
            <a:ln>
              <a:noFill/>
            </a:ln>
          </p:spPr>
        </p:sp>
        <p:sp>
          <p:nvSpPr>
            <p:cNvPr id="38" name="node15.source-001.text"/>
            <p:cNvSpPr/>
            <p:nvPr/>
          </p:nvSpPr>
          <p:spPr>
            <a:xfrm>
              <a:off x="9105900" y="48768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Fit with placement criteria</a:t>
              </a:r>
              <a:endParaRPr lang="en-US" sz="1200" spc="0" kern="0" b="0" i="0" dirty="0">
                <a:solidFill>
                  <a:srgbClr val="070154"/>
                </a:solidFill>
                <a:latin typeface="IBM Plex Sans"/>
                <a:ea typeface="IBM Plex Sans"/>
                <a:cs typeface="IBM Plex Sans"/>
              </a:endParaRPr>
            </a:p>
          </p:txBody>
        </p:sp>
        <p:sp>
          <p:nvSpPr>
            <p:cNvPr id="39" name="node15.source-002.bullet"/>
            <p:cNvSpPr/>
            <p:nvPr/>
          </p:nvSpPr>
          <p:spPr>
            <a:xfrm>
              <a:off x="8953500" y="5219700"/>
              <a:ext cx="38100" cy="38100"/>
            </a:xfrm>
            <a:prstGeom prst="rect">
              <a:avLst/>
            </a:prstGeom>
            <a:solidFill>
              <a:srgbClr val="070154"/>
            </a:solidFill>
            <a:ln>
              <a:noFill/>
            </a:ln>
          </p:spPr>
        </p:sp>
        <p:sp>
          <p:nvSpPr>
            <p:cNvPr id="40" name="node15.source-002.text"/>
            <p:cNvSpPr/>
            <p:nvPr/>
          </p:nvSpPr>
          <p:spPr>
            <a:xfrm>
              <a:off x="9105900" y="51308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Capacity and isolation</a:t>
              </a:r>
              <a:endParaRPr lang="en-US" sz="1200" spc="0" kern="0" b="0" i="0" dirty="0">
                <a:solidFill>
                  <a:srgbClr val="070154"/>
                </a:solidFill>
                <a:latin typeface="IBM Plex Sans"/>
                <a:ea typeface="IBM Plex Sans"/>
                <a:cs typeface="IBM Plex Sans"/>
              </a:endParaRPr>
            </a:p>
          </p:txBody>
        </p:sp>
        <p:sp>
          <p:nvSpPr>
            <p:cNvPr id="41" name="node15.source-003.bullet"/>
            <p:cNvSpPr/>
            <p:nvPr/>
          </p:nvSpPr>
          <p:spPr>
            <a:xfrm>
              <a:off x="8953500" y="5473700"/>
              <a:ext cx="38100" cy="38100"/>
            </a:xfrm>
            <a:prstGeom prst="rect">
              <a:avLst/>
            </a:prstGeom>
            <a:solidFill>
              <a:srgbClr val="070154"/>
            </a:solidFill>
            <a:ln>
              <a:noFill/>
            </a:ln>
          </p:spPr>
        </p:sp>
        <p:sp>
          <p:nvSpPr>
            <p:cNvPr id="42" name="node15.source-003.text"/>
            <p:cNvSpPr/>
            <p:nvPr/>
          </p:nvSpPr>
          <p:spPr>
            <a:xfrm>
              <a:off x="9105900" y="53848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Engineering standards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ource-41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PERSPECTIVE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platform is generally available when Northfield can run it as one owned service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100</a:t>
            </a:fld>
            <a:endParaRPr lang="en-US" sz="700" spc="0" kern="0" b="0" i="0" dirty="0">
              <a:solidFill>
                <a:srgbClr val="070154"/>
              </a:solidFill>
              <a:latin typeface="IBM Plex Mono SemiBold"/>
              <a:ea typeface="IBM Plex Mono SemiBold"/>
              <a:cs typeface="IBM Plex Mono SemiBold"/>
            </a:endParaRPr>
          </a:p>
        </p:txBody>
      </p:sp>
      <p:grpSp>
        <p:nvGrpSpPr>
          <p:cNvPr id="53" name="node01"/>
          <p:cNvGrpSpPr/>
          <p:nvPr/>
        </p:nvGrpSpPr>
        <p:grpSpPr>
          <a:xfrm>
            <a:off x="723900" y="2057400"/>
            <a:ext cx="3429000" cy="3657600"/>
            <a:chOff x="723900" y="2057400"/>
            <a:chExt cx="3429000" cy="3657600"/>
          </a:xfrm>
        </p:grpSpPr>
        <p:sp>
          <p:nvSpPr>
            <p:cNvPr id="6" name="node01.surface"/>
            <p:cNvSpPr/>
            <p:nvPr/>
          </p:nvSpPr>
          <p:spPr>
            <a:xfrm>
              <a:off x="723900" y="2057400"/>
              <a:ext cx="3429000" cy="3657600"/>
            </a:xfrm>
            <a:prstGeom prst="rect">
              <a:avLst/>
            </a:prstGeom>
            <a:solidFill>
              <a:srgbClr val="070154"/>
            </a:solidFill>
            <a:ln>
              <a:noFill/>
            </a:ln>
          </p:spPr>
        </p:sp>
      </p:grpSp>
      <p:grpSp>
        <p:nvGrpSpPr>
          <p:cNvPr id="54" name="node02"/>
          <p:cNvGrpSpPr/>
          <p:nvPr/>
        </p:nvGrpSpPr>
        <p:grpSpPr>
          <a:xfrm>
            <a:off x="952500" y="2286000"/>
            <a:ext cx="2971800" cy="990600"/>
            <a:chOff x="952500" y="2286000"/>
            <a:chExt cx="2971800" cy="990600"/>
          </a:xfrm>
        </p:grpSpPr>
        <p:sp>
          <p:nvSpPr>
            <p:cNvPr id="7" name="node02.text"/>
            <p:cNvSpPr/>
            <p:nvPr/>
          </p:nvSpPr>
          <p:spPr>
            <a:xfrm>
              <a:off x="952500" y="2286000"/>
              <a:ext cx="2971800" cy="9906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FFFFF"/>
                  </a:solidFill>
                  <a:latin typeface="IBM Plex Sans SemiBold"/>
                  <a:ea typeface="IBM Plex Sans SemiBold"/>
                  <a:cs typeface="IBM Plex Sans SemiBold"/>
                </a:rPr>
                <a:t>Ready for GA when Northfield can confidently</a:t>
              </a:r>
              <a:endParaRPr lang="en-US" sz="2100" spc="-32" kern="0" b="0" i="0" dirty="0">
                <a:solidFill>
                  <a:srgbClr val="FFFFFF"/>
                </a:solidFill>
                <a:latin typeface="IBM Plex Sans SemiBold"/>
                <a:ea typeface="IBM Plex Sans SemiBold"/>
                <a:cs typeface="IBM Plex Sans SemiBold"/>
              </a:endParaRPr>
            </a:p>
          </p:txBody>
        </p:sp>
      </p:grpSp>
      <p:grpSp>
        <p:nvGrpSpPr>
          <p:cNvPr id="55" name="node03"/>
          <p:cNvGrpSpPr/>
          <p:nvPr/>
        </p:nvGrpSpPr>
        <p:grpSpPr>
          <a:xfrm>
            <a:off x="952500" y="3505200"/>
            <a:ext cx="2971800" cy="660400"/>
            <a:chOff x="952500" y="3505200"/>
            <a:chExt cx="2971800" cy="660400"/>
          </a:xfrm>
        </p:grpSpPr>
        <p:sp>
          <p:nvSpPr>
            <p:cNvPr id="8" name="node03.text"/>
            <p:cNvSpPr/>
            <p:nvPr/>
          </p:nvSpPr>
          <p:spPr>
            <a:xfrm>
              <a:off x="952500" y="3505200"/>
              <a:ext cx="29718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900D3"/>
                  </a:solidFill>
                  <a:latin typeface="IBM Plex Sans SemiBold"/>
                  <a:ea typeface="IBM Plex Sans SemiBold"/>
                  <a:cs typeface="IBM Plex Sans SemiBold"/>
                </a:rPr>
                <a:t>say yes to the next qualified workload</a:t>
              </a:r>
              <a:endParaRPr lang="en-US" sz="2100" spc="-32" kern="0" b="0" i="0" dirty="0">
                <a:solidFill>
                  <a:srgbClr val="F900D3"/>
                </a:solidFill>
                <a:latin typeface="IBM Plex Sans SemiBold"/>
                <a:ea typeface="IBM Plex Sans SemiBold"/>
                <a:cs typeface="IBM Plex Sans SemiBold"/>
              </a:endParaRPr>
            </a:p>
          </p:txBody>
        </p:sp>
      </p:grpSp>
      <p:grpSp>
        <p:nvGrpSpPr>
          <p:cNvPr id="56" name="node04"/>
          <p:cNvGrpSpPr/>
          <p:nvPr/>
        </p:nvGrpSpPr>
        <p:grpSpPr>
          <a:xfrm>
            <a:off x="952500" y="4419600"/>
            <a:ext cx="2971800" cy="381000"/>
            <a:chOff x="952500" y="4419600"/>
            <a:chExt cx="2971800" cy="381000"/>
          </a:xfrm>
        </p:grpSpPr>
        <p:sp>
          <p:nvSpPr>
            <p:cNvPr id="9" name="node04.text"/>
            <p:cNvSpPr/>
            <p:nvPr/>
          </p:nvSpPr>
          <p:spPr>
            <a:xfrm>
              <a:off x="952500" y="4419600"/>
              <a:ext cx="2971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and fulfill the request through one standard enterprise service.</a:t>
              </a:r>
              <a:endParaRPr lang="en-US" sz="1100" spc="0" kern="0" b="0" i="0" dirty="0">
                <a:solidFill>
                  <a:srgbClr val="CED7E6"/>
                </a:solidFill>
                <a:latin typeface="IBM Plex Sans"/>
                <a:ea typeface="IBM Plex Sans"/>
                <a:cs typeface="IBM Plex Sans"/>
              </a:endParaRPr>
            </a:p>
          </p:txBody>
        </p:sp>
      </p:grpSp>
      <p:grpSp>
        <p:nvGrpSpPr>
          <p:cNvPr id="57" name="node05"/>
          <p:cNvGrpSpPr/>
          <p:nvPr/>
        </p:nvGrpSpPr>
        <p:grpSpPr>
          <a:xfrm>
            <a:off x="4381500" y="2057400"/>
            <a:ext cx="7086600" cy="3657600"/>
            <a:chOff x="4381500" y="2057400"/>
            <a:chExt cx="7086600" cy="3657600"/>
          </a:xfrm>
        </p:grpSpPr>
        <p:sp>
          <p:nvSpPr>
            <p:cNvPr id="10" name="node05.surface"/>
            <p:cNvSpPr/>
            <p:nvPr/>
          </p:nvSpPr>
          <p:spPr>
            <a:xfrm>
              <a:off x="4381500" y="2057400"/>
              <a:ext cx="7086600" cy="3657600"/>
            </a:xfrm>
            <a:prstGeom prst="rect">
              <a:avLst/>
            </a:prstGeom>
            <a:solidFill>
              <a:srgbClr val="E8EEF8"/>
            </a:solidFill>
            <a:ln>
              <a:noFill/>
            </a:ln>
          </p:spPr>
        </p:sp>
      </p:grpSp>
      <p:grpSp>
        <p:nvGrpSpPr>
          <p:cNvPr id="58" name="node06"/>
          <p:cNvGrpSpPr/>
          <p:nvPr/>
        </p:nvGrpSpPr>
        <p:grpSpPr>
          <a:xfrm>
            <a:off x="4610100" y="2133600"/>
            <a:ext cx="3200400" cy="266700"/>
            <a:chOff x="4610100" y="2133600"/>
            <a:chExt cx="3200400" cy="266700"/>
          </a:xfrm>
        </p:grpSpPr>
        <p:sp>
          <p:nvSpPr>
            <p:cNvPr id="11" name="node06.text"/>
            <p:cNvSpPr/>
            <p:nvPr/>
          </p:nvSpPr>
          <p:spPr>
            <a:xfrm>
              <a:off x="4610100" y="21336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Architecture approved</a:t>
              </a:r>
              <a:endParaRPr lang="en-US" sz="1600" spc="-16" kern="0" b="0" i="0" dirty="0">
                <a:solidFill>
                  <a:srgbClr val="070154"/>
                </a:solidFill>
                <a:latin typeface="IBM Plex Sans SemiBold"/>
                <a:ea typeface="IBM Plex Sans SemiBold"/>
                <a:cs typeface="IBM Plex Sans SemiBold"/>
              </a:endParaRPr>
            </a:p>
          </p:txBody>
        </p:sp>
      </p:grpSp>
      <p:grpSp>
        <p:nvGrpSpPr>
          <p:cNvPr id="59" name="node07"/>
          <p:cNvGrpSpPr/>
          <p:nvPr/>
        </p:nvGrpSpPr>
        <p:grpSpPr>
          <a:xfrm>
            <a:off x="4610100" y="2438400"/>
            <a:ext cx="3200400" cy="723900"/>
            <a:chOff x="4610100" y="2438400"/>
            <a:chExt cx="3200400" cy="723900"/>
          </a:xfrm>
        </p:grpSpPr>
        <p:sp>
          <p:nvSpPr>
            <p:cNvPr id="12" name="node07.source-001.bullet"/>
            <p:cNvSpPr/>
            <p:nvPr/>
          </p:nvSpPr>
          <p:spPr>
            <a:xfrm>
              <a:off x="4610100" y="2527300"/>
              <a:ext cx="38100" cy="38100"/>
            </a:xfrm>
            <a:prstGeom prst="rect">
              <a:avLst/>
            </a:prstGeom>
            <a:solidFill>
              <a:srgbClr val="070154"/>
            </a:solidFill>
            <a:ln>
              <a:noFill/>
            </a:ln>
          </p:spPr>
        </p:sp>
        <p:sp>
          <p:nvSpPr>
            <p:cNvPr id="13" name="node07.source-001.text"/>
            <p:cNvSpPr/>
            <p:nvPr/>
          </p:nvSpPr>
          <p:spPr>
            <a:xfrm>
              <a:off x="4762500" y="2438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Role in the data estate is clear</a:t>
              </a:r>
              <a:endParaRPr lang="en-US" sz="1200" spc="0" kern="0" b="0" i="0" dirty="0">
                <a:solidFill>
                  <a:srgbClr val="070154"/>
                </a:solidFill>
                <a:latin typeface="IBM Plex Sans"/>
                <a:ea typeface="IBM Plex Sans"/>
                <a:cs typeface="IBM Plex Sans"/>
              </a:endParaRPr>
            </a:p>
          </p:txBody>
        </p:sp>
        <p:sp>
          <p:nvSpPr>
            <p:cNvPr id="14" name="node07.source-002.bullet"/>
            <p:cNvSpPr/>
            <p:nvPr/>
          </p:nvSpPr>
          <p:spPr>
            <a:xfrm>
              <a:off x="4610100" y="2781300"/>
              <a:ext cx="38100" cy="38100"/>
            </a:xfrm>
            <a:prstGeom prst="rect">
              <a:avLst/>
            </a:prstGeom>
            <a:solidFill>
              <a:srgbClr val="070154"/>
            </a:solidFill>
            <a:ln>
              <a:noFill/>
            </a:ln>
          </p:spPr>
        </p:sp>
        <p:sp>
          <p:nvSpPr>
            <p:cNvPr id="15" name="node07.source-002.text"/>
            <p:cNvSpPr/>
            <p:nvPr/>
          </p:nvSpPr>
          <p:spPr>
            <a:xfrm>
              <a:off x="4762500" y="2692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Placement criteria documented</a:t>
              </a:r>
              <a:endParaRPr lang="en-US" sz="1200" spc="0" kern="0" b="0" i="0" dirty="0">
                <a:solidFill>
                  <a:srgbClr val="070154"/>
                </a:solidFill>
                <a:latin typeface="IBM Plex Sans"/>
                <a:ea typeface="IBM Plex Sans"/>
                <a:cs typeface="IBM Plex Sans"/>
              </a:endParaRPr>
            </a:p>
          </p:txBody>
        </p:sp>
        <p:sp>
          <p:nvSpPr>
            <p:cNvPr id="16" name="node07.source-003.bullet"/>
            <p:cNvSpPr/>
            <p:nvPr/>
          </p:nvSpPr>
          <p:spPr>
            <a:xfrm>
              <a:off x="4610100" y="3035300"/>
              <a:ext cx="38100" cy="38100"/>
            </a:xfrm>
            <a:prstGeom prst="rect">
              <a:avLst/>
            </a:prstGeom>
            <a:solidFill>
              <a:srgbClr val="070154"/>
            </a:solidFill>
            <a:ln>
              <a:noFill/>
            </a:ln>
          </p:spPr>
        </p:sp>
        <p:sp>
          <p:nvSpPr>
            <p:cNvPr id="17" name="node07.source-003.text"/>
            <p:cNvSpPr/>
            <p:nvPr/>
          </p:nvSpPr>
          <p:spPr>
            <a:xfrm>
              <a:off x="4762500" y="2946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Approved patterns established</a:t>
              </a:r>
              <a:endParaRPr lang="en-US" sz="1200" spc="0" kern="0" b="0" i="0" dirty="0">
                <a:solidFill>
                  <a:srgbClr val="070154"/>
                </a:solidFill>
                <a:latin typeface="IBM Plex Sans"/>
                <a:ea typeface="IBM Plex Sans"/>
                <a:cs typeface="IBM Plex Sans"/>
              </a:endParaRPr>
            </a:p>
          </p:txBody>
        </p:sp>
      </p:grpSp>
      <p:grpSp>
        <p:nvGrpSpPr>
          <p:cNvPr id="60" name="node08"/>
          <p:cNvGrpSpPr/>
          <p:nvPr/>
        </p:nvGrpSpPr>
        <p:grpSpPr>
          <a:xfrm>
            <a:off x="8039100" y="2133600"/>
            <a:ext cx="3200400" cy="266700"/>
            <a:chOff x="8039100" y="2133600"/>
            <a:chExt cx="3200400" cy="266700"/>
          </a:xfrm>
        </p:grpSpPr>
        <p:sp>
          <p:nvSpPr>
            <p:cNvPr id="18" name="node08.text"/>
            <p:cNvSpPr/>
            <p:nvPr/>
          </p:nvSpPr>
          <p:spPr>
            <a:xfrm>
              <a:off x="8039100" y="21336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Secure and governed</a:t>
              </a:r>
              <a:endParaRPr lang="en-US" sz="1600" spc="-16" kern="0" b="0" i="0" dirty="0">
                <a:solidFill>
                  <a:srgbClr val="070154"/>
                </a:solidFill>
                <a:latin typeface="IBM Plex Sans SemiBold"/>
                <a:ea typeface="IBM Plex Sans SemiBold"/>
                <a:cs typeface="IBM Plex Sans SemiBold"/>
              </a:endParaRPr>
            </a:p>
          </p:txBody>
        </p:sp>
      </p:grpSp>
      <p:grpSp>
        <p:nvGrpSpPr>
          <p:cNvPr id="61" name="node09"/>
          <p:cNvGrpSpPr/>
          <p:nvPr/>
        </p:nvGrpSpPr>
        <p:grpSpPr>
          <a:xfrm>
            <a:off x="8039100" y="2438400"/>
            <a:ext cx="3200400" cy="723900"/>
            <a:chOff x="8039100" y="2438400"/>
            <a:chExt cx="3200400" cy="723900"/>
          </a:xfrm>
        </p:grpSpPr>
        <p:sp>
          <p:nvSpPr>
            <p:cNvPr id="19" name="node09.source-001.bullet"/>
            <p:cNvSpPr/>
            <p:nvPr/>
          </p:nvSpPr>
          <p:spPr>
            <a:xfrm>
              <a:off x="8039100" y="2527300"/>
              <a:ext cx="38100" cy="38100"/>
            </a:xfrm>
            <a:prstGeom prst="rect">
              <a:avLst/>
            </a:prstGeom>
            <a:solidFill>
              <a:srgbClr val="070154"/>
            </a:solidFill>
            <a:ln>
              <a:noFill/>
            </a:ln>
          </p:spPr>
        </p:sp>
        <p:sp>
          <p:nvSpPr>
            <p:cNvPr id="20" name="node09.source-001.text"/>
            <p:cNvSpPr/>
            <p:nvPr/>
          </p:nvSpPr>
          <p:spPr>
            <a:xfrm>
              <a:off x="8191500" y="2438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Identity and workspace segmentation</a:t>
              </a:r>
              <a:endParaRPr lang="en-US" sz="1200" spc="0" kern="0" b="0" i="0" dirty="0">
                <a:solidFill>
                  <a:srgbClr val="070154"/>
                </a:solidFill>
                <a:latin typeface="IBM Plex Sans"/>
                <a:ea typeface="IBM Plex Sans"/>
                <a:cs typeface="IBM Plex Sans"/>
              </a:endParaRPr>
            </a:p>
          </p:txBody>
        </p:sp>
        <p:sp>
          <p:nvSpPr>
            <p:cNvPr id="21" name="node09.source-002.bullet"/>
            <p:cNvSpPr/>
            <p:nvPr/>
          </p:nvSpPr>
          <p:spPr>
            <a:xfrm>
              <a:off x="8039100" y="2781300"/>
              <a:ext cx="38100" cy="38100"/>
            </a:xfrm>
            <a:prstGeom prst="rect">
              <a:avLst/>
            </a:prstGeom>
            <a:solidFill>
              <a:srgbClr val="070154"/>
            </a:solidFill>
            <a:ln>
              <a:noFill/>
            </a:ln>
          </p:spPr>
        </p:sp>
        <p:sp>
          <p:nvSpPr>
            <p:cNvPr id="22" name="node09.source-002.text"/>
            <p:cNvSpPr/>
            <p:nvPr/>
          </p:nvSpPr>
          <p:spPr>
            <a:xfrm>
              <a:off x="8191500" y="2692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Lineage and catalog integration</a:t>
              </a:r>
              <a:endParaRPr lang="en-US" sz="1200" spc="0" kern="0" b="0" i="0" dirty="0">
                <a:solidFill>
                  <a:srgbClr val="070154"/>
                </a:solidFill>
                <a:latin typeface="IBM Plex Sans"/>
                <a:ea typeface="IBM Plex Sans"/>
                <a:cs typeface="IBM Plex Sans"/>
              </a:endParaRPr>
            </a:p>
          </p:txBody>
        </p:sp>
        <p:sp>
          <p:nvSpPr>
            <p:cNvPr id="23" name="node09.source-003.bullet"/>
            <p:cNvSpPr/>
            <p:nvPr/>
          </p:nvSpPr>
          <p:spPr>
            <a:xfrm>
              <a:off x="8039100" y="3035300"/>
              <a:ext cx="38100" cy="38100"/>
            </a:xfrm>
            <a:prstGeom prst="rect">
              <a:avLst/>
            </a:prstGeom>
            <a:solidFill>
              <a:srgbClr val="070154"/>
            </a:solidFill>
            <a:ln>
              <a:noFill/>
            </a:ln>
          </p:spPr>
        </p:sp>
        <p:sp>
          <p:nvSpPr>
            <p:cNvPr id="24" name="node09.source-003.text"/>
            <p:cNvSpPr/>
            <p:nvPr/>
          </p:nvSpPr>
          <p:spPr>
            <a:xfrm>
              <a:off x="8191500" y="2946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Controls tested, remediation defined</a:t>
              </a:r>
              <a:endParaRPr lang="en-US" sz="1200" spc="0" kern="0" b="0" i="0" dirty="0">
                <a:solidFill>
                  <a:srgbClr val="070154"/>
                </a:solidFill>
                <a:latin typeface="IBM Plex Sans"/>
                <a:ea typeface="IBM Plex Sans"/>
                <a:cs typeface="IBM Plex Sans"/>
              </a:endParaRPr>
            </a:p>
          </p:txBody>
        </p:sp>
      </p:grpSp>
      <p:grpSp>
        <p:nvGrpSpPr>
          <p:cNvPr id="62" name="node10"/>
          <p:cNvGrpSpPr/>
          <p:nvPr/>
        </p:nvGrpSpPr>
        <p:grpSpPr>
          <a:xfrm>
            <a:off x="4610100" y="3352800"/>
            <a:ext cx="3200400" cy="266700"/>
            <a:chOff x="4610100" y="3352800"/>
            <a:chExt cx="3200400" cy="266700"/>
          </a:xfrm>
        </p:grpSpPr>
        <p:sp>
          <p:nvSpPr>
            <p:cNvPr id="25" name="node10.text"/>
            <p:cNvSpPr/>
            <p:nvPr/>
          </p:nvSpPr>
          <p:spPr>
            <a:xfrm>
              <a:off x="4610100" y="33528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Automated and repeatable</a:t>
              </a:r>
              <a:endParaRPr lang="en-US" sz="1600" spc="-16" kern="0" b="0" i="0" dirty="0">
                <a:solidFill>
                  <a:srgbClr val="070154"/>
                </a:solidFill>
                <a:latin typeface="IBM Plex Sans SemiBold"/>
                <a:ea typeface="IBM Plex Sans SemiBold"/>
                <a:cs typeface="IBM Plex Sans SemiBold"/>
              </a:endParaRPr>
            </a:p>
          </p:txBody>
        </p:sp>
      </p:grpSp>
      <p:grpSp>
        <p:nvGrpSpPr>
          <p:cNvPr id="63" name="node11"/>
          <p:cNvGrpSpPr/>
          <p:nvPr/>
        </p:nvGrpSpPr>
        <p:grpSpPr>
          <a:xfrm>
            <a:off x="4610100" y="3657600"/>
            <a:ext cx="3200400" cy="723900"/>
            <a:chOff x="4610100" y="3657600"/>
            <a:chExt cx="3200400" cy="723900"/>
          </a:xfrm>
        </p:grpSpPr>
        <p:sp>
          <p:nvSpPr>
            <p:cNvPr id="26" name="node11.source-001.bullet"/>
            <p:cNvSpPr/>
            <p:nvPr/>
          </p:nvSpPr>
          <p:spPr>
            <a:xfrm>
              <a:off x="4610100" y="3746500"/>
              <a:ext cx="38100" cy="38100"/>
            </a:xfrm>
            <a:prstGeom prst="rect">
              <a:avLst/>
            </a:prstGeom>
            <a:solidFill>
              <a:srgbClr val="070154"/>
            </a:solidFill>
            <a:ln>
              <a:noFill/>
            </a:ln>
          </p:spPr>
        </p:sp>
        <p:sp>
          <p:nvSpPr>
            <p:cNvPr id="27" name="node11.source-001.text"/>
            <p:cNvSpPr/>
            <p:nvPr/>
          </p:nvSpPr>
          <p:spPr>
            <a:xfrm>
              <a:off x="4762500" y="36576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Environments provisioned consistently</a:t>
              </a:r>
              <a:endParaRPr lang="en-US" sz="1200" spc="0" kern="0" b="0" i="0" dirty="0">
                <a:solidFill>
                  <a:srgbClr val="070154"/>
                </a:solidFill>
                <a:latin typeface="IBM Plex Sans"/>
                <a:ea typeface="IBM Plex Sans"/>
                <a:cs typeface="IBM Plex Sans"/>
              </a:endParaRPr>
            </a:p>
          </p:txBody>
        </p:sp>
        <p:sp>
          <p:nvSpPr>
            <p:cNvPr id="28" name="node11.source-002.bullet"/>
            <p:cNvSpPr/>
            <p:nvPr/>
          </p:nvSpPr>
          <p:spPr>
            <a:xfrm>
              <a:off x="4610100" y="4000500"/>
              <a:ext cx="38100" cy="38100"/>
            </a:xfrm>
            <a:prstGeom prst="rect">
              <a:avLst/>
            </a:prstGeom>
            <a:solidFill>
              <a:srgbClr val="070154"/>
            </a:solidFill>
            <a:ln>
              <a:noFill/>
            </a:ln>
          </p:spPr>
        </p:sp>
        <p:sp>
          <p:nvSpPr>
            <p:cNvPr id="29" name="node11.source-002.text"/>
            <p:cNvSpPr/>
            <p:nvPr/>
          </p:nvSpPr>
          <p:spPr>
            <a:xfrm>
              <a:off x="4762500" y="39116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Policies embedded in automation</a:t>
              </a:r>
              <a:endParaRPr lang="en-US" sz="1200" spc="0" kern="0" b="0" i="0" dirty="0">
                <a:solidFill>
                  <a:srgbClr val="070154"/>
                </a:solidFill>
                <a:latin typeface="IBM Plex Sans"/>
                <a:ea typeface="IBM Plex Sans"/>
                <a:cs typeface="IBM Plex Sans"/>
              </a:endParaRPr>
            </a:p>
          </p:txBody>
        </p:sp>
        <p:sp>
          <p:nvSpPr>
            <p:cNvPr id="30" name="node11.source-003.bullet"/>
            <p:cNvSpPr/>
            <p:nvPr/>
          </p:nvSpPr>
          <p:spPr>
            <a:xfrm>
              <a:off x="4610100" y="4254500"/>
              <a:ext cx="38100" cy="38100"/>
            </a:xfrm>
            <a:prstGeom prst="rect">
              <a:avLst/>
            </a:prstGeom>
            <a:solidFill>
              <a:srgbClr val="070154"/>
            </a:solidFill>
            <a:ln>
              <a:noFill/>
            </a:ln>
          </p:spPr>
        </p:sp>
        <p:sp>
          <p:nvSpPr>
            <p:cNvPr id="31" name="node11.source-003.text"/>
            <p:cNvSpPr/>
            <p:nvPr/>
          </p:nvSpPr>
          <p:spPr>
            <a:xfrm>
              <a:off x="4762500" y="41656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Manual activities kept to a minimum</a:t>
              </a:r>
              <a:endParaRPr lang="en-US" sz="1200" spc="0" kern="0" b="0" i="0" dirty="0">
                <a:solidFill>
                  <a:srgbClr val="070154"/>
                </a:solidFill>
                <a:latin typeface="IBM Plex Sans"/>
                <a:ea typeface="IBM Plex Sans"/>
                <a:cs typeface="IBM Plex Sans"/>
              </a:endParaRPr>
            </a:p>
          </p:txBody>
        </p:sp>
      </p:grpSp>
      <p:grpSp>
        <p:nvGrpSpPr>
          <p:cNvPr id="64" name="node12"/>
          <p:cNvGrpSpPr/>
          <p:nvPr/>
        </p:nvGrpSpPr>
        <p:grpSpPr>
          <a:xfrm>
            <a:off x="8039100" y="3352800"/>
            <a:ext cx="3200400" cy="266700"/>
            <a:chOff x="8039100" y="3352800"/>
            <a:chExt cx="3200400" cy="266700"/>
          </a:xfrm>
        </p:grpSpPr>
        <p:sp>
          <p:nvSpPr>
            <p:cNvPr id="32" name="node12.text"/>
            <p:cNvSpPr/>
            <p:nvPr/>
          </p:nvSpPr>
          <p:spPr>
            <a:xfrm>
              <a:off x="8039100" y="33528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Observable and supportable</a:t>
              </a:r>
              <a:endParaRPr lang="en-US" sz="1600" spc="-16" kern="0" b="0" i="0" dirty="0">
                <a:solidFill>
                  <a:srgbClr val="070154"/>
                </a:solidFill>
                <a:latin typeface="IBM Plex Sans SemiBold"/>
                <a:ea typeface="IBM Plex Sans SemiBold"/>
                <a:cs typeface="IBM Plex Sans SemiBold"/>
              </a:endParaRPr>
            </a:p>
          </p:txBody>
        </p:sp>
      </p:grpSp>
      <p:grpSp>
        <p:nvGrpSpPr>
          <p:cNvPr id="65" name="node13"/>
          <p:cNvGrpSpPr/>
          <p:nvPr/>
        </p:nvGrpSpPr>
        <p:grpSpPr>
          <a:xfrm>
            <a:off x="8039100" y="3657600"/>
            <a:ext cx="3200400" cy="723900"/>
            <a:chOff x="8039100" y="3657600"/>
            <a:chExt cx="3200400" cy="723900"/>
          </a:xfrm>
        </p:grpSpPr>
        <p:sp>
          <p:nvSpPr>
            <p:cNvPr id="33" name="node13.source-001.bullet"/>
            <p:cNvSpPr/>
            <p:nvPr/>
          </p:nvSpPr>
          <p:spPr>
            <a:xfrm>
              <a:off x="8039100" y="3746500"/>
              <a:ext cx="38100" cy="38100"/>
            </a:xfrm>
            <a:prstGeom prst="rect">
              <a:avLst/>
            </a:prstGeom>
            <a:solidFill>
              <a:srgbClr val="070154"/>
            </a:solidFill>
            <a:ln>
              <a:noFill/>
            </a:ln>
          </p:spPr>
        </p:sp>
        <p:sp>
          <p:nvSpPr>
            <p:cNvPr id="34" name="node13.source-001.text"/>
            <p:cNvSpPr/>
            <p:nvPr/>
          </p:nvSpPr>
          <p:spPr>
            <a:xfrm>
              <a:off x="8191500" y="36576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Health, usage and cost visible</a:t>
              </a:r>
              <a:endParaRPr lang="en-US" sz="1200" spc="0" kern="0" b="0" i="0" dirty="0">
                <a:solidFill>
                  <a:srgbClr val="070154"/>
                </a:solidFill>
                <a:latin typeface="IBM Plex Sans"/>
                <a:ea typeface="IBM Plex Sans"/>
                <a:cs typeface="IBM Plex Sans"/>
              </a:endParaRPr>
            </a:p>
          </p:txBody>
        </p:sp>
        <p:sp>
          <p:nvSpPr>
            <p:cNvPr id="35" name="node13.source-002.bullet"/>
            <p:cNvSpPr/>
            <p:nvPr/>
          </p:nvSpPr>
          <p:spPr>
            <a:xfrm>
              <a:off x="8039100" y="4000500"/>
              <a:ext cx="38100" cy="38100"/>
            </a:xfrm>
            <a:prstGeom prst="rect">
              <a:avLst/>
            </a:prstGeom>
            <a:solidFill>
              <a:srgbClr val="070154"/>
            </a:solidFill>
            <a:ln>
              <a:noFill/>
            </a:ln>
          </p:spPr>
        </p:sp>
        <p:sp>
          <p:nvSpPr>
            <p:cNvPr id="36" name="node13.source-002.text"/>
            <p:cNvSpPr/>
            <p:nvPr/>
          </p:nvSpPr>
          <p:spPr>
            <a:xfrm>
              <a:off x="8191500" y="39116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Alerting and runbooks in place</a:t>
              </a:r>
              <a:endParaRPr lang="en-US" sz="1200" spc="0" kern="0" b="0" i="0" dirty="0">
                <a:solidFill>
                  <a:srgbClr val="070154"/>
                </a:solidFill>
                <a:latin typeface="IBM Plex Sans"/>
                <a:ea typeface="IBM Plex Sans"/>
                <a:cs typeface="IBM Plex Sans"/>
              </a:endParaRPr>
            </a:p>
          </p:txBody>
        </p:sp>
        <p:sp>
          <p:nvSpPr>
            <p:cNvPr id="37" name="node13.source-003.bullet"/>
            <p:cNvSpPr/>
            <p:nvPr/>
          </p:nvSpPr>
          <p:spPr>
            <a:xfrm>
              <a:off x="8039100" y="4254500"/>
              <a:ext cx="38100" cy="38100"/>
            </a:xfrm>
            <a:prstGeom prst="rect">
              <a:avLst/>
            </a:prstGeom>
            <a:solidFill>
              <a:srgbClr val="070154"/>
            </a:solidFill>
            <a:ln>
              <a:noFill/>
            </a:ln>
          </p:spPr>
        </p:sp>
        <p:sp>
          <p:nvSpPr>
            <p:cNvPr id="38" name="node13.source-003.text"/>
            <p:cNvSpPr/>
            <p:nvPr/>
          </p:nvSpPr>
          <p:spPr>
            <a:xfrm>
              <a:off x="8191500" y="41656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Ownership and support established</a:t>
              </a:r>
              <a:endParaRPr lang="en-US" sz="1200" spc="0" kern="0" b="0" i="0" dirty="0">
                <a:solidFill>
                  <a:srgbClr val="070154"/>
                </a:solidFill>
                <a:latin typeface="IBM Plex Sans"/>
                <a:ea typeface="IBM Plex Sans"/>
                <a:cs typeface="IBM Plex Sans"/>
              </a:endParaRPr>
            </a:p>
          </p:txBody>
        </p:sp>
      </p:grpSp>
      <p:grpSp>
        <p:nvGrpSpPr>
          <p:cNvPr id="66" name="node14"/>
          <p:cNvGrpSpPr/>
          <p:nvPr/>
        </p:nvGrpSpPr>
        <p:grpSpPr>
          <a:xfrm>
            <a:off x="4610100" y="4572000"/>
            <a:ext cx="3200400" cy="266700"/>
            <a:chOff x="4610100" y="4572000"/>
            <a:chExt cx="3200400" cy="266700"/>
          </a:xfrm>
        </p:grpSpPr>
        <p:sp>
          <p:nvSpPr>
            <p:cNvPr id="39" name="node14.text"/>
            <p:cNvSpPr/>
            <p:nvPr/>
          </p:nvSpPr>
          <p:spPr>
            <a:xfrm>
              <a:off x="4610100" y="45720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Adoptable and consumable</a:t>
              </a:r>
              <a:endParaRPr lang="en-US" sz="1600" spc="-16" kern="0" b="0" i="0" dirty="0">
                <a:solidFill>
                  <a:srgbClr val="070154"/>
                </a:solidFill>
                <a:latin typeface="IBM Plex Sans SemiBold"/>
                <a:ea typeface="IBM Plex Sans SemiBold"/>
                <a:cs typeface="IBM Plex Sans SemiBold"/>
              </a:endParaRPr>
            </a:p>
          </p:txBody>
        </p:sp>
      </p:grpSp>
      <p:grpSp>
        <p:nvGrpSpPr>
          <p:cNvPr id="67" name="node15"/>
          <p:cNvGrpSpPr/>
          <p:nvPr/>
        </p:nvGrpSpPr>
        <p:grpSpPr>
          <a:xfrm>
            <a:off x="4610100" y="4876800"/>
            <a:ext cx="3200400" cy="723900"/>
            <a:chOff x="4610100" y="4876800"/>
            <a:chExt cx="3200400" cy="723900"/>
          </a:xfrm>
        </p:grpSpPr>
        <p:sp>
          <p:nvSpPr>
            <p:cNvPr id="40" name="node15.source-001.bullet"/>
            <p:cNvSpPr/>
            <p:nvPr/>
          </p:nvSpPr>
          <p:spPr>
            <a:xfrm>
              <a:off x="4610100" y="4965700"/>
              <a:ext cx="38100" cy="38100"/>
            </a:xfrm>
            <a:prstGeom prst="rect">
              <a:avLst/>
            </a:prstGeom>
            <a:solidFill>
              <a:srgbClr val="070154"/>
            </a:solidFill>
            <a:ln>
              <a:noFill/>
            </a:ln>
          </p:spPr>
        </p:sp>
        <p:sp>
          <p:nvSpPr>
            <p:cNvPr id="41" name="node15.source-001.text"/>
            <p:cNvSpPr/>
            <p:nvPr/>
          </p:nvSpPr>
          <p:spPr>
            <a:xfrm>
              <a:off x="4762500" y="4876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Clear intake and onboarding</a:t>
              </a:r>
              <a:endParaRPr lang="en-US" sz="1200" spc="0" kern="0" b="0" i="0" dirty="0">
                <a:solidFill>
                  <a:srgbClr val="070154"/>
                </a:solidFill>
                <a:latin typeface="IBM Plex Sans"/>
                <a:ea typeface="IBM Plex Sans"/>
                <a:cs typeface="IBM Plex Sans"/>
              </a:endParaRPr>
            </a:p>
          </p:txBody>
        </p:sp>
        <p:sp>
          <p:nvSpPr>
            <p:cNvPr id="42" name="node15.source-002.bullet"/>
            <p:cNvSpPr/>
            <p:nvPr/>
          </p:nvSpPr>
          <p:spPr>
            <a:xfrm>
              <a:off x="4610100" y="5219700"/>
              <a:ext cx="38100" cy="38100"/>
            </a:xfrm>
            <a:prstGeom prst="rect">
              <a:avLst/>
            </a:prstGeom>
            <a:solidFill>
              <a:srgbClr val="070154"/>
            </a:solidFill>
            <a:ln>
              <a:noFill/>
            </a:ln>
          </p:spPr>
        </p:sp>
        <p:sp>
          <p:nvSpPr>
            <p:cNvPr id="43" name="node15.source-002.text"/>
            <p:cNvSpPr/>
            <p:nvPr/>
          </p:nvSpPr>
          <p:spPr>
            <a:xfrm>
              <a:off x="4762500" y="5130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Documentation and training ready</a:t>
              </a:r>
              <a:endParaRPr lang="en-US" sz="1200" spc="0" kern="0" b="0" i="0" dirty="0">
                <a:solidFill>
                  <a:srgbClr val="070154"/>
                </a:solidFill>
                <a:latin typeface="IBM Plex Sans"/>
                <a:ea typeface="IBM Plex Sans"/>
                <a:cs typeface="IBM Plex Sans"/>
              </a:endParaRPr>
            </a:p>
          </p:txBody>
        </p:sp>
        <p:sp>
          <p:nvSpPr>
            <p:cNvPr id="44" name="node15.source-003.bullet"/>
            <p:cNvSpPr/>
            <p:nvPr/>
          </p:nvSpPr>
          <p:spPr>
            <a:xfrm>
              <a:off x="4610100" y="5473700"/>
              <a:ext cx="38100" cy="38100"/>
            </a:xfrm>
            <a:prstGeom prst="rect">
              <a:avLst/>
            </a:prstGeom>
            <a:solidFill>
              <a:srgbClr val="070154"/>
            </a:solidFill>
            <a:ln>
              <a:noFill/>
            </a:ln>
          </p:spPr>
        </p:sp>
        <p:sp>
          <p:nvSpPr>
            <p:cNvPr id="45" name="node15.source-003.text"/>
            <p:cNvSpPr/>
            <p:nvPr/>
          </p:nvSpPr>
          <p:spPr>
            <a:xfrm>
              <a:off x="4762500" y="5384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Teams know when to use it</a:t>
              </a:r>
              <a:endParaRPr lang="en-US" sz="1200" spc="0" kern="0" b="0" i="0" dirty="0">
                <a:solidFill>
                  <a:srgbClr val="070154"/>
                </a:solidFill>
                <a:latin typeface="IBM Plex Sans"/>
                <a:ea typeface="IBM Plex Sans"/>
                <a:cs typeface="IBM Plex Sans"/>
              </a:endParaRPr>
            </a:p>
          </p:txBody>
        </p:sp>
      </p:grpSp>
      <p:grpSp>
        <p:nvGrpSpPr>
          <p:cNvPr id="68" name="node16"/>
          <p:cNvGrpSpPr/>
          <p:nvPr/>
        </p:nvGrpSpPr>
        <p:grpSpPr>
          <a:xfrm>
            <a:off x="8039100" y="4572000"/>
            <a:ext cx="3200400" cy="266700"/>
            <a:chOff x="8039100" y="4572000"/>
            <a:chExt cx="3200400" cy="266700"/>
          </a:xfrm>
        </p:grpSpPr>
        <p:sp>
          <p:nvSpPr>
            <p:cNvPr id="46" name="node16.text"/>
            <p:cNvSpPr/>
            <p:nvPr/>
          </p:nvSpPr>
          <p:spPr>
            <a:xfrm>
              <a:off x="8039100" y="45720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Owned and sustainable</a:t>
              </a:r>
              <a:endParaRPr lang="en-US" sz="1600" spc="-16" kern="0" b="0" i="0" dirty="0">
                <a:solidFill>
                  <a:srgbClr val="070154"/>
                </a:solidFill>
                <a:latin typeface="IBM Plex Sans SemiBold"/>
                <a:ea typeface="IBM Plex Sans SemiBold"/>
                <a:cs typeface="IBM Plex Sans SemiBold"/>
              </a:endParaRPr>
            </a:p>
          </p:txBody>
        </p:sp>
      </p:grpSp>
      <p:grpSp>
        <p:nvGrpSpPr>
          <p:cNvPr id="69" name="node17"/>
          <p:cNvGrpSpPr/>
          <p:nvPr/>
        </p:nvGrpSpPr>
        <p:grpSpPr>
          <a:xfrm>
            <a:off x="8039100" y="4876800"/>
            <a:ext cx="3200400" cy="723900"/>
            <a:chOff x="8039100" y="4876800"/>
            <a:chExt cx="3200400" cy="723900"/>
          </a:xfrm>
        </p:grpSpPr>
        <p:sp>
          <p:nvSpPr>
            <p:cNvPr id="47" name="node17.source-001.bullet"/>
            <p:cNvSpPr/>
            <p:nvPr/>
          </p:nvSpPr>
          <p:spPr>
            <a:xfrm>
              <a:off x="8039100" y="4965700"/>
              <a:ext cx="38100" cy="38100"/>
            </a:xfrm>
            <a:prstGeom prst="rect">
              <a:avLst/>
            </a:prstGeom>
            <a:solidFill>
              <a:srgbClr val="070154"/>
            </a:solidFill>
            <a:ln>
              <a:noFill/>
            </a:ln>
          </p:spPr>
        </p:sp>
        <p:sp>
          <p:nvSpPr>
            <p:cNvPr id="48" name="node17.source-001.text"/>
            <p:cNvSpPr/>
            <p:nvPr/>
          </p:nvSpPr>
          <p:spPr>
            <a:xfrm>
              <a:off x="8191500" y="4876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Roles and decision rights clear</a:t>
              </a:r>
              <a:endParaRPr lang="en-US" sz="1200" spc="0" kern="0" b="0" i="0" dirty="0">
                <a:solidFill>
                  <a:srgbClr val="070154"/>
                </a:solidFill>
                <a:latin typeface="IBM Plex Sans"/>
                <a:ea typeface="IBM Plex Sans"/>
                <a:cs typeface="IBM Plex Sans"/>
              </a:endParaRPr>
            </a:p>
          </p:txBody>
        </p:sp>
        <p:sp>
          <p:nvSpPr>
            <p:cNvPr id="49" name="node17.source-002.bullet"/>
            <p:cNvSpPr/>
            <p:nvPr/>
          </p:nvSpPr>
          <p:spPr>
            <a:xfrm>
              <a:off x="8039100" y="5219700"/>
              <a:ext cx="38100" cy="38100"/>
            </a:xfrm>
            <a:prstGeom prst="rect">
              <a:avLst/>
            </a:prstGeom>
            <a:solidFill>
              <a:srgbClr val="070154"/>
            </a:solidFill>
            <a:ln>
              <a:noFill/>
            </a:ln>
          </p:spPr>
        </p:sp>
        <p:sp>
          <p:nvSpPr>
            <p:cNvPr id="50" name="node17.source-002.text"/>
            <p:cNvSpPr/>
            <p:nvPr/>
          </p:nvSpPr>
          <p:spPr>
            <a:xfrm>
              <a:off x="8191500" y="5130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Northfield teams can operate it</a:t>
              </a:r>
              <a:endParaRPr lang="en-US" sz="1200" spc="0" kern="0" b="0" i="0" dirty="0">
                <a:solidFill>
                  <a:srgbClr val="070154"/>
                </a:solidFill>
                <a:latin typeface="IBM Plex Sans"/>
                <a:ea typeface="IBM Plex Sans"/>
                <a:cs typeface="IBM Plex Sans"/>
              </a:endParaRPr>
            </a:p>
          </p:txBody>
        </p:sp>
        <p:sp>
          <p:nvSpPr>
            <p:cNvPr id="51" name="node17.source-003.bullet"/>
            <p:cNvSpPr/>
            <p:nvPr/>
          </p:nvSpPr>
          <p:spPr>
            <a:xfrm>
              <a:off x="8039100" y="5473700"/>
              <a:ext cx="38100" cy="38100"/>
            </a:xfrm>
            <a:prstGeom prst="rect">
              <a:avLst/>
            </a:prstGeom>
            <a:solidFill>
              <a:srgbClr val="070154"/>
            </a:solidFill>
            <a:ln>
              <a:noFill/>
            </a:ln>
          </p:spPr>
        </p:sp>
        <p:sp>
          <p:nvSpPr>
            <p:cNvPr id="52" name="node17.source-003.text"/>
            <p:cNvSpPr/>
            <p:nvPr/>
          </p:nvSpPr>
          <p:spPr>
            <a:xfrm>
              <a:off x="8191500" y="5384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Chargeback mechanisms in place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ource-418">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PERSPECTIVE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GA means Northfield runs it as one owned service</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101</a:t>
            </a:fld>
            <a:endParaRPr lang="en-US" sz="700" spc="0" kern="0" b="0" i="0" dirty="0">
              <a:solidFill>
                <a:srgbClr val="070154"/>
              </a:solidFill>
              <a:latin typeface="IBM Plex Mono SemiBold"/>
              <a:ea typeface="IBM Plex Mono SemiBold"/>
              <a:cs typeface="IBM Plex Mono SemiBold"/>
            </a:endParaRPr>
          </a:p>
        </p:txBody>
      </p:sp>
      <p:grpSp>
        <p:nvGrpSpPr>
          <p:cNvPr id="53" name="node01"/>
          <p:cNvGrpSpPr/>
          <p:nvPr/>
        </p:nvGrpSpPr>
        <p:grpSpPr>
          <a:xfrm>
            <a:off x="723900" y="2286000"/>
            <a:ext cx="3429000" cy="3429000"/>
            <a:chOff x="723900" y="2286000"/>
            <a:chExt cx="3429000" cy="3429000"/>
          </a:xfrm>
        </p:grpSpPr>
        <p:sp>
          <p:nvSpPr>
            <p:cNvPr id="6" name="node01.surface"/>
            <p:cNvSpPr/>
            <p:nvPr/>
          </p:nvSpPr>
          <p:spPr>
            <a:xfrm>
              <a:off x="723900" y="2286000"/>
              <a:ext cx="3429000" cy="3429000"/>
            </a:xfrm>
            <a:prstGeom prst="rect">
              <a:avLst/>
            </a:prstGeom>
            <a:solidFill>
              <a:srgbClr val="070154"/>
            </a:solidFill>
            <a:ln>
              <a:noFill/>
            </a:ln>
          </p:spPr>
        </p:sp>
      </p:grpSp>
      <p:grpSp>
        <p:nvGrpSpPr>
          <p:cNvPr id="54" name="node02"/>
          <p:cNvGrpSpPr/>
          <p:nvPr/>
        </p:nvGrpSpPr>
        <p:grpSpPr>
          <a:xfrm>
            <a:off x="952500" y="2514600"/>
            <a:ext cx="2971800" cy="990600"/>
            <a:chOff x="952500" y="2514600"/>
            <a:chExt cx="2971800" cy="990600"/>
          </a:xfrm>
        </p:grpSpPr>
        <p:sp>
          <p:nvSpPr>
            <p:cNvPr id="7" name="node02.text"/>
            <p:cNvSpPr/>
            <p:nvPr/>
          </p:nvSpPr>
          <p:spPr>
            <a:xfrm>
              <a:off x="952500" y="2514600"/>
              <a:ext cx="2971800" cy="9906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FFFFF"/>
                  </a:solidFill>
                  <a:latin typeface="IBM Plex Sans SemiBold"/>
                  <a:ea typeface="IBM Plex Sans SemiBold"/>
                  <a:cs typeface="IBM Plex Sans SemiBold"/>
                </a:rPr>
                <a:t>Ready for GA when Northfield can confidently</a:t>
              </a:r>
              <a:endParaRPr lang="en-US" sz="2100" spc="-32" kern="0" b="0" i="0" dirty="0">
                <a:solidFill>
                  <a:srgbClr val="FFFFFF"/>
                </a:solidFill>
                <a:latin typeface="IBM Plex Sans SemiBold"/>
                <a:ea typeface="IBM Plex Sans SemiBold"/>
                <a:cs typeface="IBM Plex Sans SemiBold"/>
              </a:endParaRPr>
            </a:p>
          </p:txBody>
        </p:sp>
      </p:grpSp>
      <p:grpSp>
        <p:nvGrpSpPr>
          <p:cNvPr id="55" name="node03"/>
          <p:cNvGrpSpPr/>
          <p:nvPr/>
        </p:nvGrpSpPr>
        <p:grpSpPr>
          <a:xfrm>
            <a:off x="952500" y="3657600"/>
            <a:ext cx="2971800" cy="660400"/>
            <a:chOff x="952500" y="3657600"/>
            <a:chExt cx="2971800" cy="660400"/>
          </a:xfrm>
        </p:grpSpPr>
        <p:sp>
          <p:nvSpPr>
            <p:cNvPr id="8" name="node03.text"/>
            <p:cNvSpPr/>
            <p:nvPr/>
          </p:nvSpPr>
          <p:spPr>
            <a:xfrm>
              <a:off x="952500" y="3657600"/>
              <a:ext cx="29718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900D3"/>
                  </a:solidFill>
                  <a:latin typeface="IBM Plex Sans SemiBold"/>
                  <a:ea typeface="IBM Plex Sans SemiBold"/>
                  <a:cs typeface="IBM Plex Sans SemiBold"/>
                </a:rPr>
                <a:t>say yes to the next qualified workload</a:t>
              </a:r>
              <a:endParaRPr lang="en-US" sz="2100" spc="-32" kern="0" b="0" i="0" dirty="0">
                <a:solidFill>
                  <a:srgbClr val="F900D3"/>
                </a:solidFill>
                <a:latin typeface="IBM Plex Sans SemiBold"/>
                <a:ea typeface="IBM Plex Sans SemiBold"/>
                <a:cs typeface="IBM Plex Sans SemiBold"/>
              </a:endParaRPr>
            </a:p>
          </p:txBody>
        </p:sp>
      </p:grpSp>
      <p:grpSp>
        <p:nvGrpSpPr>
          <p:cNvPr id="56" name="node04"/>
          <p:cNvGrpSpPr/>
          <p:nvPr/>
        </p:nvGrpSpPr>
        <p:grpSpPr>
          <a:xfrm>
            <a:off x="952500" y="4800600"/>
            <a:ext cx="2971800" cy="381000"/>
            <a:chOff x="952500" y="4800600"/>
            <a:chExt cx="2971800" cy="381000"/>
          </a:xfrm>
        </p:grpSpPr>
        <p:sp>
          <p:nvSpPr>
            <p:cNvPr id="9" name="node04.text"/>
            <p:cNvSpPr/>
            <p:nvPr/>
          </p:nvSpPr>
          <p:spPr>
            <a:xfrm>
              <a:off x="952500" y="4800600"/>
              <a:ext cx="2971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and fulfill the request through one standard enterprise service.</a:t>
              </a:r>
              <a:endParaRPr lang="en-US" sz="1100" spc="0" kern="0" b="0" i="0" dirty="0">
                <a:solidFill>
                  <a:srgbClr val="CED7E6"/>
                </a:solidFill>
                <a:latin typeface="IBM Plex Sans"/>
                <a:ea typeface="IBM Plex Sans"/>
                <a:cs typeface="IBM Plex Sans"/>
              </a:endParaRPr>
            </a:p>
          </p:txBody>
        </p:sp>
      </p:grpSp>
      <p:grpSp>
        <p:nvGrpSpPr>
          <p:cNvPr id="57" name="node05"/>
          <p:cNvGrpSpPr/>
          <p:nvPr/>
        </p:nvGrpSpPr>
        <p:grpSpPr>
          <a:xfrm>
            <a:off x="4381500" y="457200"/>
            <a:ext cx="7086600" cy="5257800"/>
            <a:chOff x="4381500" y="457200"/>
            <a:chExt cx="7086600" cy="5257800"/>
          </a:xfrm>
        </p:grpSpPr>
        <p:sp>
          <p:nvSpPr>
            <p:cNvPr id="10" name="node05.surface"/>
            <p:cNvSpPr/>
            <p:nvPr/>
          </p:nvSpPr>
          <p:spPr>
            <a:xfrm>
              <a:off x="4381500" y="457200"/>
              <a:ext cx="7086600" cy="5257800"/>
            </a:xfrm>
            <a:prstGeom prst="rect">
              <a:avLst/>
            </a:prstGeom>
            <a:solidFill>
              <a:srgbClr val="E8EEF8"/>
            </a:solidFill>
            <a:ln>
              <a:noFill/>
            </a:ln>
          </p:spPr>
        </p:sp>
      </p:grpSp>
      <p:grpSp>
        <p:nvGrpSpPr>
          <p:cNvPr id="58" name="node06"/>
          <p:cNvGrpSpPr/>
          <p:nvPr/>
        </p:nvGrpSpPr>
        <p:grpSpPr>
          <a:xfrm>
            <a:off x="4610100" y="685800"/>
            <a:ext cx="3200400" cy="266700"/>
            <a:chOff x="4610100" y="685800"/>
            <a:chExt cx="3200400" cy="266700"/>
          </a:xfrm>
        </p:grpSpPr>
        <p:sp>
          <p:nvSpPr>
            <p:cNvPr id="11" name="node06.text"/>
            <p:cNvSpPr/>
            <p:nvPr/>
          </p:nvSpPr>
          <p:spPr>
            <a:xfrm>
              <a:off x="4610100" y="6858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Architecture approved</a:t>
              </a:r>
              <a:endParaRPr lang="en-US" sz="1600" spc="-16" kern="0" b="0" i="0" dirty="0">
                <a:solidFill>
                  <a:srgbClr val="070154"/>
                </a:solidFill>
                <a:latin typeface="IBM Plex Sans SemiBold"/>
                <a:ea typeface="IBM Plex Sans SemiBold"/>
                <a:cs typeface="IBM Plex Sans SemiBold"/>
              </a:endParaRPr>
            </a:p>
          </p:txBody>
        </p:sp>
      </p:grpSp>
      <p:grpSp>
        <p:nvGrpSpPr>
          <p:cNvPr id="59" name="node07"/>
          <p:cNvGrpSpPr/>
          <p:nvPr/>
        </p:nvGrpSpPr>
        <p:grpSpPr>
          <a:xfrm>
            <a:off x="4610100" y="990600"/>
            <a:ext cx="3200400" cy="723900"/>
            <a:chOff x="4610100" y="990600"/>
            <a:chExt cx="3200400" cy="723900"/>
          </a:xfrm>
        </p:grpSpPr>
        <p:sp>
          <p:nvSpPr>
            <p:cNvPr id="12" name="node07.source-001.bullet"/>
            <p:cNvSpPr/>
            <p:nvPr/>
          </p:nvSpPr>
          <p:spPr>
            <a:xfrm>
              <a:off x="4610100" y="1079500"/>
              <a:ext cx="38100" cy="38100"/>
            </a:xfrm>
            <a:prstGeom prst="rect">
              <a:avLst/>
            </a:prstGeom>
            <a:solidFill>
              <a:srgbClr val="070154"/>
            </a:solidFill>
            <a:ln>
              <a:noFill/>
            </a:ln>
          </p:spPr>
        </p:sp>
        <p:sp>
          <p:nvSpPr>
            <p:cNvPr id="13" name="node07.source-001.text"/>
            <p:cNvSpPr/>
            <p:nvPr/>
          </p:nvSpPr>
          <p:spPr>
            <a:xfrm>
              <a:off x="4762500" y="9906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Role in the data estate is clear</a:t>
              </a:r>
              <a:endParaRPr lang="en-US" sz="1200" spc="0" kern="0" b="0" i="0" dirty="0">
                <a:solidFill>
                  <a:srgbClr val="070154"/>
                </a:solidFill>
                <a:latin typeface="IBM Plex Sans"/>
                <a:ea typeface="IBM Plex Sans"/>
                <a:cs typeface="IBM Plex Sans"/>
              </a:endParaRPr>
            </a:p>
          </p:txBody>
        </p:sp>
        <p:sp>
          <p:nvSpPr>
            <p:cNvPr id="14" name="node07.source-002.bullet"/>
            <p:cNvSpPr/>
            <p:nvPr/>
          </p:nvSpPr>
          <p:spPr>
            <a:xfrm>
              <a:off x="4610100" y="1333500"/>
              <a:ext cx="38100" cy="38100"/>
            </a:xfrm>
            <a:prstGeom prst="rect">
              <a:avLst/>
            </a:prstGeom>
            <a:solidFill>
              <a:srgbClr val="070154"/>
            </a:solidFill>
            <a:ln>
              <a:noFill/>
            </a:ln>
          </p:spPr>
        </p:sp>
        <p:sp>
          <p:nvSpPr>
            <p:cNvPr id="15" name="node07.source-002.text"/>
            <p:cNvSpPr/>
            <p:nvPr/>
          </p:nvSpPr>
          <p:spPr>
            <a:xfrm>
              <a:off x="4762500" y="12446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Placement criteria documented</a:t>
              </a:r>
              <a:endParaRPr lang="en-US" sz="1200" spc="0" kern="0" b="0" i="0" dirty="0">
                <a:solidFill>
                  <a:srgbClr val="070154"/>
                </a:solidFill>
                <a:latin typeface="IBM Plex Sans"/>
                <a:ea typeface="IBM Plex Sans"/>
                <a:cs typeface="IBM Plex Sans"/>
              </a:endParaRPr>
            </a:p>
          </p:txBody>
        </p:sp>
        <p:sp>
          <p:nvSpPr>
            <p:cNvPr id="16" name="node07.source-003.bullet"/>
            <p:cNvSpPr/>
            <p:nvPr/>
          </p:nvSpPr>
          <p:spPr>
            <a:xfrm>
              <a:off x="4610100" y="1587500"/>
              <a:ext cx="38100" cy="38100"/>
            </a:xfrm>
            <a:prstGeom prst="rect">
              <a:avLst/>
            </a:prstGeom>
            <a:solidFill>
              <a:srgbClr val="070154"/>
            </a:solidFill>
            <a:ln>
              <a:noFill/>
            </a:ln>
          </p:spPr>
        </p:sp>
        <p:sp>
          <p:nvSpPr>
            <p:cNvPr id="17" name="node07.source-003.text"/>
            <p:cNvSpPr/>
            <p:nvPr/>
          </p:nvSpPr>
          <p:spPr>
            <a:xfrm>
              <a:off x="4762500" y="14986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Approved patterns established</a:t>
              </a:r>
              <a:endParaRPr lang="en-US" sz="1200" spc="0" kern="0" b="0" i="0" dirty="0">
                <a:solidFill>
                  <a:srgbClr val="070154"/>
                </a:solidFill>
                <a:latin typeface="IBM Plex Sans"/>
                <a:ea typeface="IBM Plex Sans"/>
                <a:cs typeface="IBM Plex Sans"/>
              </a:endParaRPr>
            </a:p>
          </p:txBody>
        </p:sp>
      </p:grpSp>
      <p:grpSp>
        <p:nvGrpSpPr>
          <p:cNvPr id="60" name="node08"/>
          <p:cNvGrpSpPr/>
          <p:nvPr/>
        </p:nvGrpSpPr>
        <p:grpSpPr>
          <a:xfrm>
            <a:off x="8039100" y="685800"/>
            <a:ext cx="3200400" cy="266700"/>
            <a:chOff x="8039100" y="685800"/>
            <a:chExt cx="3200400" cy="266700"/>
          </a:xfrm>
        </p:grpSpPr>
        <p:sp>
          <p:nvSpPr>
            <p:cNvPr id="18" name="node08.text"/>
            <p:cNvSpPr/>
            <p:nvPr/>
          </p:nvSpPr>
          <p:spPr>
            <a:xfrm>
              <a:off x="8039100" y="6858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Secure and governed</a:t>
              </a:r>
              <a:endParaRPr lang="en-US" sz="1600" spc="-16" kern="0" b="0" i="0" dirty="0">
                <a:solidFill>
                  <a:srgbClr val="070154"/>
                </a:solidFill>
                <a:latin typeface="IBM Plex Sans SemiBold"/>
                <a:ea typeface="IBM Plex Sans SemiBold"/>
                <a:cs typeface="IBM Plex Sans SemiBold"/>
              </a:endParaRPr>
            </a:p>
          </p:txBody>
        </p:sp>
      </p:grpSp>
      <p:grpSp>
        <p:nvGrpSpPr>
          <p:cNvPr id="61" name="node09"/>
          <p:cNvGrpSpPr/>
          <p:nvPr/>
        </p:nvGrpSpPr>
        <p:grpSpPr>
          <a:xfrm>
            <a:off x="8039100" y="990600"/>
            <a:ext cx="3200400" cy="723900"/>
            <a:chOff x="8039100" y="990600"/>
            <a:chExt cx="3200400" cy="723900"/>
          </a:xfrm>
        </p:grpSpPr>
        <p:sp>
          <p:nvSpPr>
            <p:cNvPr id="19" name="node09.source-001.bullet"/>
            <p:cNvSpPr/>
            <p:nvPr/>
          </p:nvSpPr>
          <p:spPr>
            <a:xfrm>
              <a:off x="8039100" y="1079500"/>
              <a:ext cx="38100" cy="38100"/>
            </a:xfrm>
            <a:prstGeom prst="rect">
              <a:avLst/>
            </a:prstGeom>
            <a:solidFill>
              <a:srgbClr val="070154"/>
            </a:solidFill>
            <a:ln>
              <a:noFill/>
            </a:ln>
          </p:spPr>
        </p:sp>
        <p:sp>
          <p:nvSpPr>
            <p:cNvPr id="20" name="node09.source-001.text"/>
            <p:cNvSpPr/>
            <p:nvPr/>
          </p:nvSpPr>
          <p:spPr>
            <a:xfrm>
              <a:off x="8191500" y="9906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Identity and workspace segmentation</a:t>
              </a:r>
              <a:endParaRPr lang="en-US" sz="1200" spc="0" kern="0" b="0" i="0" dirty="0">
                <a:solidFill>
                  <a:srgbClr val="070154"/>
                </a:solidFill>
                <a:latin typeface="IBM Plex Sans"/>
                <a:ea typeface="IBM Plex Sans"/>
                <a:cs typeface="IBM Plex Sans"/>
              </a:endParaRPr>
            </a:p>
          </p:txBody>
        </p:sp>
        <p:sp>
          <p:nvSpPr>
            <p:cNvPr id="21" name="node09.source-002.bullet"/>
            <p:cNvSpPr/>
            <p:nvPr/>
          </p:nvSpPr>
          <p:spPr>
            <a:xfrm>
              <a:off x="8039100" y="1333500"/>
              <a:ext cx="38100" cy="38100"/>
            </a:xfrm>
            <a:prstGeom prst="rect">
              <a:avLst/>
            </a:prstGeom>
            <a:solidFill>
              <a:srgbClr val="070154"/>
            </a:solidFill>
            <a:ln>
              <a:noFill/>
            </a:ln>
          </p:spPr>
        </p:sp>
        <p:sp>
          <p:nvSpPr>
            <p:cNvPr id="22" name="node09.source-002.text"/>
            <p:cNvSpPr/>
            <p:nvPr/>
          </p:nvSpPr>
          <p:spPr>
            <a:xfrm>
              <a:off x="8191500" y="12446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Lineage and catalog integration</a:t>
              </a:r>
              <a:endParaRPr lang="en-US" sz="1200" spc="0" kern="0" b="0" i="0" dirty="0">
                <a:solidFill>
                  <a:srgbClr val="070154"/>
                </a:solidFill>
                <a:latin typeface="IBM Plex Sans"/>
                <a:ea typeface="IBM Plex Sans"/>
                <a:cs typeface="IBM Plex Sans"/>
              </a:endParaRPr>
            </a:p>
          </p:txBody>
        </p:sp>
        <p:sp>
          <p:nvSpPr>
            <p:cNvPr id="23" name="node09.source-003.bullet"/>
            <p:cNvSpPr/>
            <p:nvPr/>
          </p:nvSpPr>
          <p:spPr>
            <a:xfrm>
              <a:off x="8039100" y="1587500"/>
              <a:ext cx="38100" cy="38100"/>
            </a:xfrm>
            <a:prstGeom prst="rect">
              <a:avLst/>
            </a:prstGeom>
            <a:solidFill>
              <a:srgbClr val="070154"/>
            </a:solidFill>
            <a:ln>
              <a:noFill/>
            </a:ln>
          </p:spPr>
        </p:sp>
        <p:sp>
          <p:nvSpPr>
            <p:cNvPr id="24" name="node09.source-003.text"/>
            <p:cNvSpPr/>
            <p:nvPr/>
          </p:nvSpPr>
          <p:spPr>
            <a:xfrm>
              <a:off x="8191500" y="14986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Controls tested, remediation defined</a:t>
              </a:r>
              <a:endParaRPr lang="en-US" sz="1200" spc="0" kern="0" b="0" i="0" dirty="0">
                <a:solidFill>
                  <a:srgbClr val="070154"/>
                </a:solidFill>
                <a:latin typeface="IBM Plex Sans"/>
                <a:ea typeface="IBM Plex Sans"/>
                <a:cs typeface="IBM Plex Sans"/>
              </a:endParaRPr>
            </a:p>
          </p:txBody>
        </p:sp>
      </p:grpSp>
      <p:grpSp>
        <p:nvGrpSpPr>
          <p:cNvPr id="62" name="node10"/>
          <p:cNvGrpSpPr/>
          <p:nvPr/>
        </p:nvGrpSpPr>
        <p:grpSpPr>
          <a:xfrm>
            <a:off x="4610100" y="2286000"/>
            <a:ext cx="3200400" cy="266700"/>
            <a:chOff x="4610100" y="2286000"/>
            <a:chExt cx="3200400" cy="266700"/>
          </a:xfrm>
        </p:grpSpPr>
        <p:sp>
          <p:nvSpPr>
            <p:cNvPr id="25" name="node10.text"/>
            <p:cNvSpPr/>
            <p:nvPr/>
          </p:nvSpPr>
          <p:spPr>
            <a:xfrm>
              <a:off x="4610100" y="22860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Automated and repeatable</a:t>
              </a:r>
              <a:endParaRPr lang="en-US" sz="1600" spc="-16" kern="0" b="0" i="0" dirty="0">
                <a:solidFill>
                  <a:srgbClr val="070154"/>
                </a:solidFill>
                <a:latin typeface="IBM Plex Sans SemiBold"/>
                <a:ea typeface="IBM Plex Sans SemiBold"/>
                <a:cs typeface="IBM Plex Sans SemiBold"/>
              </a:endParaRPr>
            </a:p>
          </p:txBody>
        </p:sp>
      </p:grpSp>
      <p:grpSp>
        <p:nvGrpSpPr>
          <p:cNvPr id="63" name="node11"/>
          <p:cNvGrpSpPr/>
          <p:nvPr/>
        </p:nvGrpSpPr>
        <p:grpSpPr>
          <a:xfrm>
            <a:off x="4610100" y="2590800"/>
            <a:ext cx="3200400" cy="723900"/>
            <a:chOff x="4610100" y="2590800"/>
            <a:chExt cx="3200400" cy="723900"/>
          </a:xfrm>
        </p:grpSpPr>
        <p:sp>
          <p:nvSpPr>
            <p:cNvPr id="26" name="node11.source-001.bullet"/>
            <p:cNvSpPr/>
            <p:nvPr/>
          </p:nvSpPr>
          <p:spPr>
            <a:xfrm>
              <a:off x="4610100" y="2679700"/>
              <a:ext cx="38100" cy="38100"/>
            </a:xfrm>
            <a:prstGeom prst="rect">
              <a:avLst/>
            </a:prstGeom>
            <a:solidFill>
              <a:srgbClr val="070154"/>
            </a:solidFill>
            <a:ln>
              <a:noFill/>
            </a:ln>
          </p:spPr>
        </p:sp>
        <p:sp>
          <p:nvSpPr>
            <p:cNvPr id="27" name="node11.source-001.text"/>
            <p:cNvSpPr/>
            <p:nvPr/>
          </p:nvSpPr>
          <p:spPr>
            <a:xfrm>
              <a:off x="4762500" y="2590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Environments provisioned consistently</a:t>
              </a:r>
              <a:endParaRPr lang="en-US" sz="1200" spc="0" kern="0" b="0" i="0" dirty="0">
                <a:solidFill>
                  <a:srgbClr val="070154"/>
                </a:solidFill>
                <a:latin typeface="IBM Plex Sans"/>
                <a:ea typeface="IBM Plex Sans"/>
                <a:cs typeface="IBM Plex Sans"/>
              </a:endParaRPr>
            </a:p>
          </p:txBody>
        </p:sp>
        <p:sp>
          <p:nvSpPr>
            <p:cNvPr id="28" name="node11.source-002.bullet"/>
            <p:cNvSpPr/>
            <p:nvPr/>
          </p:nvSpPr>
          <p:spPr>
            <a:xfrm>
              <a:off x="4610100" y="2933700"/>
              <a:ext cx="38100" cy="38100"/>
            </a:xfrm>
            <a:prstGeom prst="rect">
              <a:avLst/>
            </a:prstGeom>
            <a:solidFill>
              <a:srgbClr val="070154"/>
            </a:solidFill>
            <a:ln>
              <a:noFill/>
            </a:ln>
          </p:spPr>
        </p:sp>
        <p:sp>
          <p:nvSpPr>
            <p:cNvPr id="29" name="node11.source-002.text"/>
            <p:cNvSpPr/>
            <p:nvPr/>
          </p:nvSpPr>
          <p:spPr>
            <a:xfrm>
              <a:off x="4762500" y="2844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Policies embedded in automation</a:t>
              </a:r>
              <a:endParaRPr lang="en-US" sz="1200" spc="0" kern="0" b="0" i="0" dirty="0">
                <a:solidFill>
                  <a:srgbClr val="070154"/>
                </a:solidFill>
                <a:latin typeface="IBM Plex Sans"/>
                <a:ea typeface="IBM Plex Sans"/>
                <a:cs typeface="IBM Plex Sans"/>
              </a:endParaRPr>
            </a:p>
          </p:txBody>
        </p:sp>
        <p:sp>
          <p:nvSpPr>
            <p:cNvPr id="30" name="node11.source-003.bullet"/>
            <p:cNvSpPr/>
            <p:nvPr/>
          </p:nvSpPr>
          <p:spPr>
            <a:xfrm>
              <a:off x="4610100" y="3187700"/>
              <a:ext cx="38100" cy="38100"/>
            </a:xfrm>
            <a:prstGeom prst="rect">
              <a:avLst/>
            </a:prstGeom>
            <a:solidFill>
              <a:srgbClr val="070154"/>
            </a:solidFill>
            <a:ln>
              <a:noFill/>
            </a:ln>
          </p:spPr>
        </p:sp>
        <p:sp>
          <p:nvSpPr>
            <p:cNvPr id="31" name="node11.source-003.text"/>
            <p:cNvSpPr/>
            <p:nvPr/>
          </p:nvSpPr>
          <p:spPr>
            <a:xfrm>
              <a:off x="4762500" y="3098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Manual activities kept to a minimum</a:t>
              </a:r>
              <a:endParaRPr lang="en-US" sz="1200" spc="0" kern="0" b="0" i="0" dirty="0">
                <a:solidFill>
                  <a:srgbClr val="070154"/>
                </a:solidFill>
                <a:latin typeface="IBM Plex Sans"/>
                <a:ea typeface="IBM Plex Sans"/>
                <a:cs typeface="IBM Plex Sans"/>
              </a:endParaRPr>
            </a:p>
          </p:txBody>
        </p:sp>
      </p:grpSp>
      <p:grpSp>
        <p:nvGrpSpPr>
          <p:cNvPr id="64" name="node12"/>
          <p:cNvGrpSpPr/>
          <p:nvPr/>
        </p:nvGrpSpPr>
        <p:grpSpPr>
          <a:xfrm>
            <a:off x="8039100" y="2286000"/>
            <a:ext cx="3200400" cy="266700"/>
            <a:chOff x="8039100" y="2286000"/>
            <a:chExt cx="3200400" cy="266700"/>
          </a:xfrm>
        </p:grpSpPr>
        <p:sp>
          <p:nvSpPr>
            <p:cNvPr id="32" name="node12.text"/>
            <p:cNvSpPr/>
            <p:nvPr/>
          </p:nvSpPr>
          <p:spPr>
            <a:xfrm>
              <a:off x="8039100" y="22860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Observable and supportable</a:t>
              </a:r>
              <a:endParaRPr lang="en-US" sz="1600" spc="-16" kern="0" b="0" i="0" dirty="0">
                <a:solidFill>
                  <a:srgbClr val="070154"/>
                </a:solidFill>
                <a:latin typeface="IBM Plex Sans SemiBold"/>
                <a:ea typeface="IBM Plex Sans SemiBold"/>
                <a:cs typeface="IBM Plex Sans SemiBold"/>
              </a:endParaRPr>
            </a:p>
          </p:txBody>
        </p:sp>
      </p:grpSp>
      <p:grpSp>
        <p:nvGrpSpPr>
          <p:cNvPr id="65" name="node13"/>
          <p:cNvGrpSpPr/>
          <p:nvPr/>
        </p:nvGrpSpPr>
        <p:grpSpPr>
          <a:xfrm>
            <a:off x="8039100" y="2590800"/>
            <a:ext cx="3200400" cy="723900"/>
            <a:chOff x="8039100" y="2590800"/>
            <a:chExt cx="3200400" cy="723900"/>
          </a:xfrm>
        </p:grpSpPr>
        <p:sp>
          <p:nvSpPr>
            <p:cNvPr id="33" name="node13.source-001.bullet"/>
            <p:cNvSpPr/>
            <p:nvPr/>
          </p:nvSpPr>
          <p:spPr>
            <a:xfrm>
              <a:off x="8039100" y="2679700"/>
              <a:ext cx="38100" cy="38100"/>
            </a:xfrm>
            <a:prstGeom prst="rect">
              <a:avLst/>
            </a:prstGeom>
            <a:solidFill>
              <a:srgbClr val="070154"/>
            </a:solidFill>
            <a:ln>
              <a:noFill/>
            </a:ln>
          </p:spPr>
        </p:sp>
        <p:sp>
          <p:nvSpPr>
            <p:cNvPr id="34" name="node13.source-001.text"/>
            <p:cNvSpPr/>
            <p:nvPr/>
          </p:nvSpPr>
          <p:spPr>
            <a:xfrm>
              <a:off x="8191500" y="2590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Health, usage and cost visible</a:t>
              </a:r>
              <a:endParaRPr lang="en-US" sz="1200" spc="0" kern="0" b="0" i="0" dirty="0">
                <a:solidFill>
                  <a:srgbClr val="070154"/>
                </a:solidFill>
                <a:latin typeface="IBM Plex Sans"/>
                <a:ea typeface="IBM Plex Sans"/>
                <a:cs typeface="IBM Plex Sans"/>
              </a:endParaRPr>
            </a:p>
          </p:txBody>
        </p:sp>
        <p:sp>
          <p:nvSpPr>
            <p:cNvPr id="35" name="node13.source-002.bullet"/>
            <p:cNvSpPr/>
            <p:nvPr/>
          </p:nvSpPr>
          <p:spPr>
            <a:xfrm>
              <a:off x="8039100" y="2933700"/>
              <a:ext cx="38100" cy="38100"/>
            </a:xfrm>
            <a:prstGeom prst="rect">
              <a:avLst/>
            </a:prstGeom>
            <a:solidFill>
              <a:srgbClr val="070154"/>
            </a:solidFill>
            <a:ln>
              <a:noFill/>
            </a:ln>
          </p:spPr>
        </p:sp>
        <p:sp>
          <p:nvSpPr>
            <p:cNvPr id="36" name="node13.source-002.text"/>
            <p:cNvSpPr/>
            <p:nvPr/>
          </p:nvSpPr>
          <p:spPr>
            <a:xfrm>
              <a:off x="8191500" y="2844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Alerting and runbooks in place</a:t>
              </a:r>
              <a:endParaRPr lang="en-US" sz="1200" spc="0" kern="0" b="0" i="0" dirty="0">
                <a:solidFill>
                  <a:srgbClr val="070154"/>
                </a:solidFill>
                <a:latin typeface="IBM Plex Sans"/>
                <a:ea typeface="IBM Plex Sans"/>
                <a:cs typeface="IBM Plex Sans"/>
              </a:endParaRPr>
            </a:p>
          </p:txBody>
        </p:sp>
        <p:sp>
          <p:nvSpPr>
            <p:cNvPr id="37" name="node13.source-003.bullet"/>
            <p:cNvSpPr/>
            <p:nvPr/>
          </p:nvSpPr>
          <p:spPr>
            <a:xfrm>
              <a:off x="8039100" y="3187700"/>
              <a:ext cx="38100" cy="38100"/>
            </a:xfrm>
            <a:prstGeom prst="rect">
              <a:avLst/>
            </a:prstGeom>
            <a:solidFill>
              <a:srgbClr val="070154"/>
            </a:solidFill>
            <a:ln>
              <a:noFill/>
            </a:ln>
          </p:spPr>
        </p:sp>
        <p:sp>
          <p:nvSpPr>
            <p:cNvPr id="38" name="node13.source-003.text"/>
            <p:cNvSpPr/>
            <p:nvPr/>
          </p:nvSpPr>
          <p:spPr>
            <a:xfrm>
              <a:off x="8191500" y="3098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Ownership and support established</a:t>
              </a:r>
              <a:endParaRPr lang="en-US" sz="1200" spc="0" kern="0" b="0" i="0" dirty="0">
                <a:solidFill>
                  <a:srgbClr val="070154"/>
                </a:solidFill>
                <a:latin typeface="IBM Plex Sans"/>
                <a:ea typeface="IBM Plex Sans"/>
                <a:cs typeface="IBM Plex Sans"/>
              </a:endParaRPr>
            </a:p>
          </p:txBody>
        </p:sp>
      </p:grpSp>
      <p:grpSp>
        <p:nvGrpSpPr>
          <p:cNvPr id="66" name="node14"/>
          <p:cNvGrpSpPr/>
          <p:nvPr/>
        </p:nvGrpSpPr>
        <p:grpSpPr>
          <a:xfrm>
            <a:off x="4610100" y="3886200"/>
            <a:ext cx="3200400" cy="266700"/>
            <a:chOff x="4610100" y="3886200"/>
            <a:chExt cx="3200400" cy="266700"/>
          </a:xfrm>
        </p:grpSpPr>
        <p:sp>
          <p:nvSpPr>
            <p:cNvPr id="39" name="node14.text"/>
            <p:cNvSpPr/>
            <p:nvPr/>
          </p:nvSpPr>
          <p:spPr>
            <a:xfrm>
              <a:off x="4610100" y="38862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Adoptable and consumable</a:t>
              </a:r>
              <a:endParaRPr lang="en-US" sz="1600" spc="-16" kern="0" b="0" i="0" dirty="0">
                <a:solidFill>
                  <a:srgbClr val="070154"/>
                </a:solidFill>
                <a:latin typeface="IBM Plex Sans SemiBold"/>
                <a:ea typeface="IBM Plex Sans SemiBold"/>
                <a:cs typeface="IBM Plex Sans SemiBold"/>
              </a:endParaRPr>
            </a:p>
          </p:txBody>
        </p:sp>
      </p:grpSp>
      <p:grpSp>
        <p:nvGrpSpPr>
          <p:cNvPr id="67" name="node15"/>
          <p:cNvGrpSpPr/>
          <p:nvPr/>
        </p:nvGrpSpPr>
        <p:grpSpPr>
          <a:xfrm>
            <a:off x="4610100" y="4191000"/>
            <a:ext cx="3200400" cy="723900"/>
            <a:chOff x="4610100" y="4191000"/>
            <a:chExt cx="3200400" cy="723900"/>
          </a:xfrm>
        </p:grpSpPr>
        <p:sp>
          <p:nvSpPr>
            <p:cNvPr id="40" name="node15.source-001.bullet"/>
            <p:cNvSpPr/>
            <p:nvPr/>
          </p:nvSpPr>
          <p:spPr>
            <a:xfrm>
              <a:off x="4610100" y="4279900"/>
              <a:ext cx="38100" cy="38100"/>
            </a:xfrm>
            <a:prstGeom prst="rect">
              <a:avLst/>
            </a:prstGeom>
            <a:solidFill>
              <a:srgbClr val="070154"/>
            </a:solidFill>
            <a:ln>
              <a:noFill/>
            </a:ln>
          </p:spPr>
        </p:sp>
        <p:sp>
          <p:nvSpPr>
            <p:cNvPr id="41" name="node15.source-001.text"/>
            <p:cNvSpPr/>
            <p:nvPr/>
          </p:nvSpPr>
          <p:spPr>
            <a:xfrm>
              <a:off x="4762500" y="41910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Clear intake and onboarding</a:t>
              </a:r>
              <a:endParaRPr lang="en-US" sz="1200" spc="0" kern="0" b="0" i="0" dirty="0">
                <a:solidFill>
                  <a:srgbClr val="070154"/>
                </a:solidFill>
                <a:latin typeface="IBM Plex Sans"/>
                <a:ea typeface="IBM Plex Sans"/>
                <a:cs typeface="IBM Plex Sans"/>
              </a:endParaRPr>
            </a:p>
          </p:txBody>
        </p:sp>
        <p:sp>
          <p:nvSpPr>
            <p:cNvPr id="42" name="node15.source-002.bullet"/>
            <p:cNvSpPr/>
            <p:nvPr/>
          </p:nvSpPr>
          <p:spPr>
            <a:xfrm>
              <a:off x="4610100" y="4533900"/>
              <a:ext cx="38100" cy="38100"/>
            </a:xfrm>
            <a:prstGeom prst="rect">
              <a:avLst/>
            </a:prstGeom>
            <a:solidFill>
              <a:srgbClr val="070154"/>
            </a:solidFill>
            <a:ln>
              <a:noFill/>
            </a:ln>
          </p:spPr>
        </p:sp>
        <p:sp>
          <p:nvSpPr>
            <p:cNvPr id="43" name="node15.source-002.text"/>
            <p:cNvSpPr/>
            <p:nvPr/>
          </p:nvSpPr>
          <p:spPr>
            <a:xfrm>
              <a:off x="4762500" y="44450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Documentation and training ready</a:t>
              </a:r>
              <a:endParaRPr lang="en-US" sz="1200" spc="0" kern="0" b="0" i="0" dirty="0">
                <a:solidFill>
                  <a:srgbClr val="070154"/>
                </a:solidFill>
                <a:latin typeface="IBM Plex Sans"/>
                <a:ea typeface="IBM Plex Sans"/>
                <a:cs typeface="IBM Plex Sans"/>
              </a:endParaRPr>
            </a:p>
          </p:txBody>
        </p:sp>
        <p:sp>
          <p:nvSpPr>
            <p:cNvPr id="44" name="node15.source-003.bullet"/>
            <p:cNvSpPr/>
            <p:nvPr/>
          </p:nvSpPr>
          <p:spPr>
            <a:xfrm>
              <a:off x="4610100" y="4787900"/>
              <a:ext cx="38100" cy="38100"/>
            </a:xfrm>
            <a:prstGeom prst="rect">
              <a:avLst/>
            </a:prstGeom>
            <a:solidFill>
              <a:srgbClr val="070154"/>
            </a:solidFill>
            <a:ln>
              <a:noFill/>
            </a:ln>
          </p:spPr>
        </p:sp>
        <p:sp>
          <p:nvSpPr>
            <p:cNvPr id="45" name="node15.source-003.text"/>
            <p:cNvSpPr/>
            <p:nvPr/>
          </p:nvSpPr>
          <p:spPr>
            <a:xfrm>
              <a:off x="4762500" y="46990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Teams know when to use it</a:t>
              </a:r>
              <a:endParaRPr lang="en-US" sz="1200" spc="0" kern="0" b="0" i="0" dirty="0">
                <a:solidFill>
                  <a:srgbClr val="070154"/>
                </a:solidFill>
                <a:latin typeface="IBM Plex Sans"/>
                <a:ea typeface="IBM Plex Sans"/>
                <a:cs typeface="IBM Plex Sans"/>
              </a:endParaRPr>
            </a:p>
          </p:txBody>
        </p:sp>
      </p:grpSp>
      <p:grpSp>
        <p:nvGrpSpPr>
          <p:cNvPr id="68" name="node16"/>
          <p:cNvGrpSpPr/>
          <p:nvPr/>
        </p:nvGrpSpPr>
        <p:grpSpPr>
          <a:xfrm>
            <a:off x="8039100" y="3886200"/>
            <a:ext cx="3200400" cy="266700"/>
            <a:chOff x="8039100" y="3886200"/>
            <a:chExt cx="3200400" cy="266700"/>
          </a:xfrm>
        </p:grpSpPr>
        <p:sp>
          <p:nvSpPr>
            <p:cNvPr id="46" name="node16.text"/>
            <p:cNvSpPr/>
            <p:nvPr/>
          </p:nvSpPr>
          <p:spPr>
            <a:xfrm>
              <a:off x="8039100" y="38862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Owned and sustainable</a:t>
              </a:r>
              <a:endParaRPr lang="en-US" sz="1600" spc="-16" kern="0" b="0" i="0" dirty="0">
                <a:solidFill>
                  <a:srgbClr val="070154"/>
                </a:solidFill>
                <a:latin typeface="IBM Plex Sans SemiBold"/>
                <a:ea typeface="IBM Plex Sans SemiBold"/>
                <a:cs typeface="IBM Plex Sans SemiBold"/>
              </a:endParaRPr>
            </a:p>
          </p:txBody>
        </p:sp>
      </p:grpSp>
      <p:grpSp>
        <p:nvGrpSpPr>
          <p:cNvPr id="69" name="node17"/>
          <p:cNvGrpSpPr/>
          <p:nvPr/>
        </p:nvGrpSpPr>
        <p:grpSpPr>
          <a:xfrm>
            <a:off x="8039100" y="4191000"/>
            <a:ext cx="3200400" cy="723900"/>
            <a:chOff x="8039100" y="4191000"/>
            <a:chExt cx="3200400" cy="723900"/>
          </a:xfrm>
        </p:grpSpPr>
        <p:sp>
          <p:nvSpPr>
            <p:cNvPr id="47" name="node17.source-001.bullet"/>
            <p:cNvSpPr/>
            <p:nvPr/>
          </p:nvSpPr>
          <p:spPr>
            <a:xfrm>
              <a:off x="8039100" y="4279900"/>
              <a:ext cx="38100" cy="38100"/>
            </a:xfrm>
            <a:prstGeom prst="rect">
              <a:avLst/>
            </a:prstGeom>
            <a:solidFill>
              <a:srgbClr val="070154"/>
            </a:solidFill>
            <a:ln>
              <a:noFill/>
            </a:ln>
          </p:spPr>
        </p:sp>
        <p:sp>
          <p:nvSpPr>
            <p:cNvPr id="48" name="node17.source-001.text"/>
            <p:cNvSpPr/>
            <p:nvPr/>
          </p:nvSpPr>
          <p:spPr>
            <a:xfrm>
              <a:off x="8191500" y="41910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Roles and decision rights clear</a:t>
              </a:r>
              <a:endParaRPr lang="en-US" sz="1200" spc="0" kern="0" b="0" i="0" dirty="0">
                <a:solidFill>
                  <a:srgbClr val="070154"/>
                </a:solidFill>
                <a:latin typeface="IBM Plex Sans"/>
                <a:ea typeface="IBM Plex Sans"/>
                <a:cs typeface="IBM Plex Sans"/>
              </a:endParaRPr>
            </a:p>
          </p:txBody>
        </p:sp>
        <p:sp>
          <p:nvSpPr>
            <p:cNvPr id="49" name="node17.source-002.bullet"/>
            <p:cNvSpPr/>
            <p:nvPr/>
          </p:nvSpPr>
          <p:spPr>
            <a:xfrm>
              <a:off x="8039100" y="4533900"/>
              <a:ext cx="38100" cy="38100"/>
            </a:xfrm>
            <a:prstGeom prst="rect">
              <a:avLst/>
            </a:prstGeom>
            <a:solidFill>
              <a:srgbClr val="070154"/>
            </a:solidFill>
            <a:ln>
              <a:noFill/>
            </a:ln>
          </p:spPr>
        </p:sp>
        <p:sp>
          <p:nvSpPr>
            <p:cNvPr id="50" name="node17.source-002.text"/>
            <p:cNvSpPr/>
            <p:nvPr/>
          </p:nvSpPr>
          <p:spPr>
            <a:xfrm>
              <a:off x="8191500" y="44450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Northfield teams can operate it</a:t>
              </a:r>
              <a:endParaRPr lang="en-US" sz="1200" spc="0" kern="0" b="0" i="0" dirty="0">
                <a:solidFill>
                  <a:srgbClr val="070154"/>
                </a:solidFill>
                <a:latin typeface="IBM Plex Sans"/>
                <a:ea typeface="IBM Plex Sans"/>
                <a:cs typeface="IBM Plex Sans"/>
              </a:endParaRPr>
            </a:p>
          </p:txBody>
        </p:sp>
        <p:sp>
          <p:nvSpPr>
            <p:cNvPr id="51" name="node17.source-003.bullet"/>
            <p:cNvSpPr/>
            <p:nvPr/>
          </p:nvSpPr>
          <p:spPr>
            <a:xfrm>
              <a:off x="8039100" y="4787900"/>
              <a:ext cx="38100" cy="38100"/>
            </a:xfrm>
            <a:prstGeom prst="rect">
              <a:avLst/>
            </a:prstGeom>
            <a:solidFill>
              <a:srgbClr val="070154"/>
            </a:solidFill>
            <a:ln>
              <a:noFill/>
            </a:ln>
          </p:spPr>
        </p:sp>
        <p:sp>
          <p:nvSpPr>
            <p:cNvPr id="52" name="node17.source-003.text"/>
            <p:cNvSpPr/>
            <p:nvPr/>
          </p:nvSpPr>
          <p:spPr>
            <a:xfrm>
              <a:off x="8191500" y="46990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Chargeback mechanisms in place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ource-337">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 · PHASE 3</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Governance runs through rollout and optimization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1 Designed to align with Northfield’s governance structure, data enablement team and operational support functions.</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102</a:t>
            </a:fld>
            <a:endParaRPr lang="en-US" sz="700" spc="0" kern="0" b="0" i="0" dirty="0">
              <a:solidFill>
                <a:srgbClr val="070154"/>
              </a:solidFill>
              <a:latin typeface="IBM Plex Mono SemiBold"/>
              <a:ea typeface="IBM Plex Mono SemiBold"/>
              <a:cs typeface="IBM Plex Mono SemiBold"/>
            </a:endParaRPr>
          </a:p>
        </p:txBody>
      </p:sp>
      <p:grpSp>
        <p:nvGrpSpPr>
          <p:cNvPr id="48" name="node01"/>
          <p:cNvGrpSpPr/>
          <p:nvPr/>
        </p:nvGrpSpPr>
        <p:grpSpPr>
          <a:xfrm>
            <a:off x="723900" y="685800"/>
            <a:ext cx="2514600" cy="596900"/>
            <a:chOff x="723900" y="685800"/>
            <a:chExt cx="2514600" cy="596900"/>
          </a:xfrm>
        </p:grpSpPr>
        <p:sp>
          <p:nvSpPr>
            <p:cNvPr id="7" name="node01.bar"/>
            <p:cNvSpPr/>
            <p:nvPr/>
          </p:nvSpPr>
          <p:spPr>
            <a:xfrm>
              <a:off x="723900" y="685800"/>
              <a:ext cx="2514600" cy="76200"/>
            </a:xfrm>
            <a:prstGeom prst="rect">
              <a:avLst/>
            </a:prstGeom>
            <a:solidFill>
              <a:srgbClr val="F900D3"/>
            </a:solidFill>
            <a:ln>
              <a:noFill/>
            </a:ln>
          </p:spPr>
        </p:sp>
        <p:sp>
          <p:nvSpPr>
            <p:cNvPr id="8" name="node01.number"/>
            <p:cNvSpPr/>
            <p:nvPr/>
          </p:nvSpPr>
          <p:spPr>
            <a:xfrm>
              <a:off x="723900" y="876300"/>
              <a:ext cx="49034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PHASE 3</a:t>
              </a:r>
              <a:endParaRPr lang="en-US" sz="800" spc="48" kern="0" b="0" i="0" dirty="0">
                <a:solidFill>
                  <a:srgbClr val="F900D3"/>
                </a:solidFill>
                <a:latin typeface="IBM Plex Mono Medium"/>
                <a:ea typeface="IBM Plex Mono Medium"/>
                <a:cs typeface="IBM Plex Mono Medium"/>
              </a:endParaRPr>
            </a:p>
          </p:txBody>
        </p:sp>
        <p:sp>
          <p:nvSpPr>
            <p:cNvPr id="9" name="node01.duration"/>
            <p:cNvSpPr/>
            <p:nvPr/>
          </p:nvSpPr>
          <p:spPr>
            <a:xfrm>
              <a:off x="2482472" y="876300"/>
              <a:ext cx="756028" cy="139700"/>
            </a:xfrm>
            <a:prstGeom prst="rect">
              <a:avLst/>
            </a:prstGeom>
            <a:noFill/>
            <a:ln/>
          </p:spPr>
          <p:txBody>
            <a:bodyPr wrap="square" lIns="0" tIns="0" rIns="0" bIns="0" rtlCol="0" anchor="t"/>
            <a:lstStyle/>
            <a:p>
              <a:pPr algn="r" indent="0" marL="0">
                <a:lnSpc>
                  <a:spcPts val="1100"/>
                </a:lnSpc>
                <a:buNone/>
              </a:pPr>
              <a:r>
                <a:rPr lang="en-US" sz="800" spc="48" kern="0" b="0" i="0" dirty="0">
                  <a:solidFill>
                    <a:srgbClr val="CED7E6"/>
                  </a:solidFill>
                  <a:latin typeface="IBM Plex Mono Medium"/>
                  <a:ea typeface="IBM Plex Mono Medium"/>
                  <a:cs typeface="IBM Plex Mono Medium"/>
                </a:rPr>
                <a:t>WEEKS 35–42</a:t>
              </a:r>
              <a:endParaRPr lang="en-US" sz="800" spc="48" kern="0" b="0" i="0" dirty="0">
                <a:solidFill>
                  <a:srgbClr val="CED7E6"/>
                </a:solidFill>
                <a:latin typeface="IBM Plex Mono Medium"/>
                <a:ea typeface="IBM Plex Mono Medium"/>
                <a:cs typeface="IBM Plex Mono Medium"/>
              </a:endParaRPr>
            </a:p>
          </p:txBody>
        </p:sp>
        <p:sp>
          <p:nvSpPr>
            <p:cNvPr id="10" name="node01.title"/>
            <p:cNvSpPr/>
            <p:nvPr/>
          </p:nvSpPr>
          <p:spPr>
            <a:xfrm>
              <a:off x="723900" y="10160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General availability</a:t>
              </a:r>
              <a:endParaRPr lang="en-US" sz="1600" spc="-16" kern="0" b="0" i="0" dirty="0">
                <a:solidFill>
                  <a:srgbClr val="FFFFFF"/>
                </a:solidFill>
                <a:latin typeface="IBM Plex Sans SemiBold"/>
                <a:ea typeface="IBM Plex Sans SemiBold"/>
                <a:cs typeface="IBM Plex Sans SemiBold"/>
              </a:endParaRPr>
            </a:p>
          </p:txBody>
        </p:sp>
      </p:grpSp>
      <p:grpSp>
        <p:nvGrpSpPr>
          <p:cNvPr id="49" name="node02"/>
          <p:cNvGrpSpPr/>
          <p:nvPr/>
        </p:nvGrpSpPr>
        <p:grpSpPr>
          <a:xfrm>
            <a:off x="723900" y="2057400"/>
            <a:ext cx="2514600" cy="660400"/>
            <a:chOff x="723900" y="2057400"/>
            <a:chExt cx="2514600" cy="660400"/>
          </a:xfrm>
        </p:grpSpPr>
        <p:sp>
          <p:nvSpPr>
            <p:cNvPr id="11" name="node02.text"/>
            <p:cNvSpPr/>
            <p:nvPr/>
          </p:nvSpPr>
          <p:spPr>
            <a:xfrm>
              <a:off x="723900" y="2057400"/>
              <a:ext cx="25146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FFFFF"/>
                  </a:solidFill>
                  <a:latin typeface="IBM Plex Sans SemiBold"/>
                  <a:ea typeface="IBM Plex Sans SemiBold"/>
                  <a:cs typeface="IBM Plex Sans SemiBold"/>
                </a:rPr>
                <a:t>Make governance executable</a:t>
              </a:r>
              <a:endParaRPr lang="en-US" sz="2100" spc="-32" kern="0" b="0" i="0" dirty="0">
                <a:solidFill>
                  <a:srgbClr val="FFFFFF"/>
                </a:solidFill>
                <a:latin typeface="IBM Plex Sans SemiBold"/>
                <a:ea typeface="IBM Plex Sans SemiBold"/>
                <a:cs typeface="IBM Plex Sans SemiBold"/>
              </a:endParaRPr>
            </a:p>
          </p:txBody>
        </p:sp>
      </p:grpSp>
      <p:grpSp>
        <p:nvGrpSpPr>
          <p:cNvPr id="50" name="node03"/>
          <p:cNvGrpSpPr/>
          <p:nvPr/>
        </p:nvGrpSpPr>
        <p:grpSpPr>
          <a:xfrm>
            <a:off x="723900" y="2971800"/>
            <a:ext cx="2514600" cy="571500"/>
            <a:chOff x="723900" y="2971800"/>
            <a:chExt cx="2514600" cy="571500"/>
          </a:xfrm>
        </p:grpSpPr>
        <p:sp>
          <p:nvSpPr>
            <p:cNvPr id="12" name="node03.text"/>
            <p:cNvSpPr/>
            <p:nvPr/>
          </p:nvSpPr>
          <p:spPr>
            <a:xfrm>
              <a:off x="723900" y="2971800"/>
              <a:ext cx="2514600" cy="571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Scale depends on clear decision rights, auditable controls and operational handoffs, not one-time enablement.</a:t>
              </a:r>
              <a:endParaRPr lang="en-US" sz="1100" spc="0" kern="0" b="0" i="0" dirty="0">
                <a:solidFill>
                  <a:srgbClr val="CED7E6"/>
                </a:solidFill>
                <a:latin typeface="IBM Plex Sans"/>
                <a:ea typeface="IBM Plex Sans"/>
                <a:cs typeface="IBM Plex Sans"/>
              </a:endParaRPr>
            </a:p>
          </p:txBody>
        </p:sp>
      </p:grpSp>
      <p:grpSp>
        <p:nvGrpSpPr>
          <p:cNvPr id="51" name="node04"/>
          <p:cNvGrpSpPr/>
          <p:nvPr/>
        </p:nvGrpSpPr>
        <p:grpSpPr>
          <a:xfrm>
            <a:off x="723900" y="4038600"/>
            <a:ext cx="2514600" cy="1231900"/>
            <a:chOff x="723900" y="4038600"/>
            <a:chExt cx="2514600" cy="1231900"/>
          </a:xfrm>
        </p:grpSpPr>
        <p:sp>
          <p:nvSpPr>
            <p:cNvPr id="13" name="node04.source-001.bullet"/>
            <p:cNvSpPr/>
            <p:nvPr/>
          </p:nvSpPr>
          <p:spPr>
            <a:xfrm>
              <a:off x="723900" y="4127500"/>
              <a:ext cx="38100" cy="38100"/>
            </a:xfrm>
            <a:prstGeom prst="rect">
              <a:avLst/>
            </a:prstGeom>
            <a:solidFill>
              <a:srgbClr val="FFFFFF"/>
            </a:solidFill>
            <a:ln>
              <a:noFill/>
            </a:ln>
          </p:spPr>
        </p:sp>
        <p:sp>
          <p:nvSpPr>
            <p:cNvPr id="14" name="node04.source-001.text"/>
            <p:cNvSpPr/>
            <p:nvPr/>
          </p:nvSpPr>
          <p:spPr>
            <a:xfrm>
              <a:off x="876300" y="4038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Named approvers per decision</a:t>
              </a:r>
              <a:endParaRPr lang="en-US" sz="1200" spc="0" kern="0" b="0" i="0" dirty="0">
                <a:solidFill>
                  <a:srgbClr val="FFFFFF"/>
                </a:solidFill>
                <a:latin typeface="IBM Plex Sans"/>
                <a:ea typeface="IBM Plex Sans"/>
                <a:cs typeface="IBM Plex Sans"/>
              </a:endParaRPr>
            </a:p>
          </p:txBody>
        </p:sp>
        <p:sp>
          <p:nvSpPr>
            <p:cNvPr id="15" name="node04.source-002.bullet"/>
            <p:cNvSpPr/>
            <p:nvPr/>
          </p:nvSpPr>
          <p:spPr>
            <a:xfrm>
              <a:off x="723900" y="4381500"/>
              <a:ext cx="38100" cy="38100"/>
            </a:xfrm>
            <a:prstGeom prst="rect">
              <a:avLst/>
            </a:prstGeom>
            <a:solidFill>
              <a:srgbClr val="FFFFFF"/>
            </a:solidFill>
            <a:ln>
              <a:noFill/>
            </a:ln>
          </p:spPr>
        </p:sp>
        <p:sp>
          <p:nvSpPr>
            <p:cNvPr id="16" name="node04.source-002.text"/>
            <p:cNvSpPr/>
            <p:nvPr/>
          </p:nvSpPr>
          <p:spPr>
            <a:xfrm>
              <a:off x="876300" y="4292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SLA tracking on every request</a:t>
              </a:r>
              <a:endParaRPr lang="en-US" sz="1200" spc="0" kern="0" b="0" i="0" dirty="0">
                <a:solidFill>
                  <a:srgbClr val="FFFFFF"/>
                </a:solidFill>
                <a:latin typeface="IBM Plex Sans"/>
                <a:ea typeface="IBM Plex Sans"/>
                <a:cs typeface="IBM Plex Sans"/>
              </a:endParaRPr>
            </a:p>
          </p:txBody>
        </p:sp>
        <p:sp>
          <p:nvSpPr>
            <p:cNvPr id="17" name="node04.source-003.bullet"/>
            <p:cNvSpPr/>
            <p:nvPr/>
          </p:nvSpPr>
          <p:spPr>
            <a:xfrm>
              <a:off x="723900" y="4635500"/>
              <a:ext cx="38100" cy="38100"/>
            </a:xfrm>
            <a:prstGeom prst="rect">
              <a:avLst/>
            </a:prstGeom>
            <a:solidFill>
              <a:srgbClr val="FFFFFF"/>
            </a:solidFill>
            <a:ln>
              <a:noFill/>
            </a:ln>
          </p:spPr>
        </p:sp>
        <p:sp>
          <p:nvSpPr>
            <p:cNvPr id="18" name="node04.source-003.text"/>
            <p:cNvSpPr/>
            <p:nvPr/>
          </p:nvSpPr>
          <p:spPr>
            <a:xfrm>
              <a:off x="876300" y="4546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Access controls by pattern</a:t>
              </a:r>
              <a:endParaRPr lang="en-US" sz="1200" spc="0" kern="0" b="0" i="0" dirty="0">
                <a:solidFill>
                  <a:srgbClr val="FFFFFF"/>
                </a:solidFill>
                <a:latin typeface="IBM Plex Sans"/>
                <a:ea typeface="IBM Plex Sans"/>
                <a:cs typeface="IBM Plex Sans"/>
              </a:endParaRPr>
            </a:p>
          </p:txBody>
        </p:sp>
        <p:sp>
          <p:nvSpPr>
            <p:cNvPr id="19" name="node04.source-004.bullet"/>
            <p:cNvSpPr/>
            <p:nvPr/>
          </p:nvSpPr>
          <p:spPr>
            <a:xfrm>
              <a:off x="723900" y="4889500"/>
              <a:ext cx="38100" cy="38100"/>
            </a:xfrm>
            <a:prstGeom prst="rect">
              <a:avLst/>
            </a:prstGeom>
            <a:solidFill>
              <a:srgbClr val="FFFFFF"/>
            </a:solidFill>
            <a:ln>
              <a:noFill/>
            </a:ln>
          </p:spPr>
        </p:sp>
        <p:sp>
          <p:nvSpPr>
            <p:cNvPr id="20" name="node04.source-004.text"/>
            <p:cNvSpPr/>
            <p:nvPr/>
          </p:nvSpPr>
          <p:spPr>
            <a:xfrm>
              <a:off x="876300" y="4800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Adoption measured by team</a:t>
              </a:r>
              <a:endParaRPr lang="en-US" sz="1200" spc="0" kern="0" b="0" i="0" dirty="0">
                <a:solidFill>
                  <a:srgbClr val="FFFFFF"/>
                </a:solidFill>
                <a:latin typeface="IBM Plex Sans"/>
                <a:ea typeface="IBM Plex Sans"/>
                <a:cs typeface="IBM Plex Sans"/>
              </a:endParaRPr>
            </a:p>
          </p:txBody>
        </p:sp>
        <p:sp>
          <p:nvSpPr>
            <p:cNvPr id="21" name="node04.source-005.bullet"/>
            <p:cNvSpPr/>
            <p:nvPr/>
          </p:nvSpPr>
          <p:spPr>
            <a:xfrm>
              <a:off x="723900" y="5143500"/>
              <a:ext cx="38100" cy="38100"/>
            </a:xfrm>
            <a:prstGeom prst="rect">
              <a:avLst/>
            </a:prstGeom>
            <a:solidFill>
              <a:srgbClr val="FFFFFF"/>
            </a:solidFill>
            <a:ln>
              <a:noFill/>
            </a:ln>
          </p:spPr>
        </p:sp>
        <p:sp>
          <p:nvSpPr>
            <p:cNvPr id="22" name="node04.source-005.text"/>
            <p:cNvSpPr/>
            <p:nvPr/>
          </p:nvSpPr>
          <p:spPr>
            <a:xfrm>
              <a:off x="876300" y="5054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Exceptions reviewed quarterly</a:t>
              </a:r>
              <a:endParaRPr lang="en-US" sz="1200" spc="0" kern="0" b="0" i="0" dirty="0">
                <a:solidFill>
                  <a:srgbClr val="FFFFFF"/>
                </a:solidFill>
                <a:latin typeface="IBM Plex Sans"/>
                <a:ea typeface="IBM Plex Sans"/>
                <a:cs typeface="IBM Plex Sans"/>
              </a:endParaRPr>
            </a:p>
          </p:txBody>
        </p:sp>
      </p:grpSp>
      <p:grpSp>
        <p:nvGrpSpPr>
          <p:cNvPr id="52" name="node05"/>
          <p:cNvGrpSpPr/>
          <p:nvPr/>
        </p:nvGrpSpPr>
        <p:grpSpPr>
          <a:xfrm>
            <a:off x="4381500" y="2057400"/>
            <a:ext cx="7086600" cy="139700"/>
            <a:chOff x="4381500" y="2057400"/>
            <a:chExt cx="7086600" cy="139700"/>
          </a:xfrm>
        </p:grpSpPr>
        <p:sp>
          <p:nvSpPr>
            <p:cNvPr id="23" name="node05.text"/>
            <p:cNvSpPr/>
            <p:nvPr/>
          </p:nvSpPr>
          <p:spPr>
            <a:xfrm>
              <a:off x="4381500" y="20574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TWO CRITICAL PATHWAYS TO OPERATIONALIZE PLATFORM GOVERNANCE</a:t>
              </a:r>
              <a:endParaRPr lang="en-US" sz="800" spc="48" kern="0" b="0" i="0" dirty="0">
                <a:solidFill>
                  <a:srgbClr val="0047FF"/>
                </a:solidFill>
                <a:latin typeface="IBM Plex Mono Medium"/>
                <a:ea typeface="IBM Plex Mono Medium"/>
                <a:cs typeface="IBM Plex Mono Medium"/>
              </a:endParaRPr>
            </a:p>
          </p:txBody>
        </p:sp>
      </p:grpSp>
      <p:grpSp>
        <p:nvGrpSpPr>
          <p:cNvPr id="53" name="node06"/>
          <p:cNvGrpSpPr/>
          <p:nvPr/>
        </p:nvGrpSpPr>
        <p:grpSpPr>
          <a:xfrm>
            <a:off x="4381500" y="2286000"/>
            <a:ext cx="7086600" cy="266700"/>
            <a:chOff x="4381500" y="2286000"/>
            <a:chExt cx="7086600" cy="266700"/>
          </a:xfrm>
        </p:grpSpPr>
        <p:sp>
          <p:nvSpPr>
            <p:cNvPr id="24" name="node06.text"/>
            <p:cNvSpPr/>
            <p:nvPr/>
          </p:nvSpPr>
          <p:spPr>
            <a:xfrm>
              <a:off x="4381500" y="2286000"/>
              <a:ext cx="7086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01  Request intake: team to approved pattern access</a:t>
              </a:r>
              <a:endParaRPr lang="en-US" sz="1600" spc="-16" kern="0" b="0" i="0" dirty="0">
                <a:solidFill>
                  <a:srgbClr val="070154"/>
                </a:solidFill>
                <a:latin typeface="IBM Plex Sans SemiBold"/>
                <a:ea typeface="IBM Plex Sans SemiBold"/>
                <a:cs typeface="IBM Plex Sans SemiBold"/>
              </a:endParaRPr>
            </a:p>
          </p:txBody>
        </p:sp>
      </p:grpSp>
      <p:grpSp>
        <p:nvGrpSpPr>
          <p:cNvPr id="54" name="node07"/>
          <p:cNvGrpSpPr/>
          <p:nvPr/>
        </p:nvGrpSpPr>
        <p:grpSpPr>
          <a:xfrm>
            <a:off x="4381500" y="2743200"/>
            <a:ext cx="1524000" cy="685800"/>
            <a:chOff x="4381500" y="2743200"/>
            <a:chExt cx="1524000" cy="685800"/>
          </a:xfrm>
        </p:grpSpPr>
        <p:sp>
          <p:nvSpPr>
            <p:cNvPr id="25" name="node07.surface"/>
            <p:cNvSpPr/>
            <p:nvPr/>
          </p:nvSpPr>
          <p:spPr>
            <a:xfrm>
              <a:off x="4381500" y="2743200"/>
              <a:ext cx="1524000" cy="685800"/>
            </a:xfrm>
            <a:custGeom>
              <a:avLst/>
              <a:gdLst/>
              <a:ahLst/>
              <a:cxnLst/>
              <a:rect l="l" t="t" r="r" b="b"/>
              <a:pathLst>
                <a:path w="1524000" h="685800">
                  <a:moveTo>
                    <a:pt x="0" y="0"/>
                  </a:moveTo>
                  <a:lnTo>
                    <a:pt x="1295400" y="0"/>
                  </a:lnTo>
                  <a:lnTo>
                    <a:pt x="1524000" y="342900"/>
                  </a:lnTo>
                  <a:lnTo>
                    <a:pt x="1295400" y="685800"/>
                  </a:lnTo>
                  <a:lnTo>
                    <a:pt x="0" y="685800"/>
                  </a:lnTo>
                  <a:close/>
                </a:path>
              </a:pathLst>
            </a:custGeom>
            <a:solidFill>
              <a:srgbClr val="E8EEF8"/>
            </a:solidFill>
            <a:ln>
              <a:noFill/>
            </a:ln>
          </p:spPr>
        </p:sp>
        <p:sp>
          <p:nvSpPr>
            <p:cNvPr id="26" name="node07.text"/>
            <p:cNvSpPr/>
            <p:nvPr/>
          </p:nvSpPr>
          <p:spPr>
            <a:xfrm>
              <a:off x="4533900" y="2990850"/>
              <a:ext cx="1066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Team identified</a:t>
              </a:r>
              <a:endParaRPr lang="en-US" sz="1100" spc="0" kern="0" b="0" i="0" dirty="0">
                <a:solidFill>
                  <a:srgbClr val="070154"/>
                </a:solidFill>
                <a:latin typeface="IBM Plex Sans"/>
                <a:ea typeface="IBM Plex Sans"/>
                <a:cs typeface="IBM Plex Sans"/>
              </a:endParaRPr>
            </a:p>
          </p:txBody>
        </p:sp>
      </p:grpSp>
      <p:grpSp>
        <p:nvGrpSpPr>
          <p:cNvPr id="55" name="node08"/>
          <p:cNvGrpSpPr/>
          <p:nvPr/>
        </p:nvGrpSpPr>
        <p:grpSpPr>
          <a:xfrm>
            <a:off x="5753100" y="2743200"/>
            <a:ext cx="1524000" cy="685800"/>
            <a:chOff x="5753100" y="2743200"/>
            <a:chExt cx="1524000" cy="685800"/>
          </a:xfrm>
        </p:grpSpPr>
        <p:sp>
          <p:nvSpPr>
            <p:cNvPr id="27" name="node08.surface"/>
            <p:cNvSpPr/>
            <p:nvPr/>
          </p:nvSpPr>
          <p:spPr>
            <a:xfrm>
              <a:off x="5753100" y="27432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E8EEF8"/>
            </a:solidFill>
            <a:ln>
              <a:noFill/>
            </a:ln>
          </p:spPr>
        </p:sp>
        <p:sp>
          <p:nvSpPr>
            <p:cNvPr id="28" name="node08.text"/>
            <p:cNvSpPr/>
            <p:nvPr/>
          </p:nvSpPr>
          <p:spPr>
            <a:xfrm>
              <a:off x="6134100" y="2895600"/>
              <a:ext cx="838200" cy="3810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Pattern mapping</a:t>
              </a:r>
              <a:endParaRPr lang="en-US" sz="1100" spc="0" kern="0" b="0" i="0" dirty="0">
                <a:solidFill>
                  <a:srgbClr val="070154"/>
                </a:solidFill>
                <a:latin typeface="IBM Plex Sans"/>
                <a:ea typeface="IBM Plex Sans"/>
                <a:cs typeface="IBM Plex Sans"/>
              </a:endParaRPr>
            </a:p>
          </p:txBody>
        </p:sp>
      </p:grpSp>
      <p:grpSp>
        <p:nvGrpSpPr>
          <p:cNvPr id="56" name="node09"/>
          <p:cNvGrpSpPr/>
          <p:nvPr/>
        </p:nvGrpSpPr>
        <p:grpSpPr>
          <a:xfrm>
            <a:off x="7124700" y="2743200"/>
            <a:ext cx="1524000" cy="685800"/>
            <a:chOff x="7124700" y="2743200"/>
            <a:chExt cx="1524000" cy="685800"/>
          </a:xfrm>
        </p:grpSpPr>
        <p:sp>
          <p:nvSpPr>
            <p:cNvPr id="29" name="node09.surface"/>
            <p:cNvSpPr/>
            <p:nvPr/>
          </p:nvSpPr>
          <p:spPr>
            <a:xfrm>
              <a:off x="7124700" y="27432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E8EEF8"/>
            </a:solidFill>
            <a:ln>
              <a:noFill/>
            </a:ln>
          </p:spPr>
        </p:sp>
        <p:sp>
          <p:nvSpPr>
            <p:cNvPr id="30" name="node09.text"/>
            <p:cNvSpPr/>
            <p:nvPr/>
          </p:nvSpPr>
          <p:spPr>
            <a:xfrm>
              <a:off x="7505700" y="2895600"/>
              <a:ext cx="838200" cy="3810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Security approval</a:t>
              </a:r>
              <a:endParaRPr lang="en-US" sz="1100" spc="0" kern="0" b="0" i="0" dirty="0">
                <a:solidFill>
                  <a:srgbClr val="070154"/>
                </a:solidFill>
                <a:latin typeface="IBM Plex Sans"/>
                <a:ea typeface="IBM Plex Sans"/>
                <a:cs typeface="IBM Plex Sans"/>
              </a:endParaRPr>
            </a:p>
          </p:txBody>
        </p:sp>
      </p:grpSp>
      <p:grpSp>
        <p:nvGrpSpPr>
          <p:cNvPr id="57" name="node10"/>
          <p:cNvGrpSpPr/>
          <p:nvPr/>
        </p:nvGrpSpPr>
        <p:grpSpPr>
          <a:xfrm>
            <a:off x="8496300" y="2743200"/>
            <a:ext cx="1524000" cy="685800"/>
            <a:chOff x="8496300" y="2743200"/>
            <a:chExt cx="1524000" cy="685800"/>
          </a:xfrm>
        </p:grpSpPr>
        <p:sp>
          <p:nvSpPr>
            <p:cNvPr id="31" name="node10.surface"/>
            <p:cNvSpPr/>
            <p:nvPr/>
          </p:nvSpPr>
          <p:spPr>
            <a:xfrm>
              <a:off x="8496300" y="27432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E8EEF8"/>
            </a:solidFill>
            <a:ln>
              <a:noFill/>
            </a:ln>
          </p:spPr>
        </p:sp>
        <p:sp>
          <p:nvSpPr>
            <p:cNvPr id="32" name="node10.text"/>
            <p:cNvSpPr/>
            <p:nvPr/>
          </p:nvSpPr>
          <p:spPr>
            <a:xfrm>
              <a:off x="8877300" y="2990850"/>
              <a:ext cx="838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Provisioning</a:t>
              </a:r>
              <a:endParaRPr lang="en-US" sz="1100" spc="0" kern="0" b="0" i="0" dirty="0">
                <a:solidFill>
                  <a:srgbClr val="070154"/>
                </a:solidFill>
                <a:latin typeface="IBM Plex Sans"/>
                <a:ea typeface="IBM Plex Sans"/>
                <a:cs typeface="IBM Plex Sans"/>
              </a:endParaRPr>
            </a:p>
          </p:txBody>
        </p:sp>
      </p:grpSp>
      <p:grpSp>
        <p:nvGrpSpPr>
          <p:cNvPr id="58" name="node11"/>
          <p:cNvGrpSpPr/>
          <p:nvPr/>
        </p:nvGrpSpPr>
        <p:grpSpPr>
          <a:xfrm>
            <a:off x="9867900" y="2743200"/>
            <a:ext cx="1524000" cy="685800"/>
            <a:chOff x="9867900" y="2743200"/>
            <a:chExt cx="1524000" cy="685800"/>
          </a:xfrm>
        </p:grpSpPr>
        <p:sp>
          <p:nvSpPr>
            <p:cNvPr id="33" name="node11.surface"/>
            <p:cNvSpPr/>
            <p:nvPr/>
          </p:nvSpPr>
          <p:spPr>
            <a:xfrm>
              <a:off x="9867900" y="27432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E8EEF8"/>
            </a:solidFill>
            <a:ln>
              <a:noFill/>
            </a:ln>
          </p:spPr>
        </p:sp>
        <p:sp>
          <p:nvSpPr>
            <p:cNvPr id="34" name="node11.text"/>
            <p:cNvSpPr/>
            <p:nvPr/>
          </p:nvSpPr>
          <p:spPr>
            <a:xfrm>
              <a:off x="10248900" y="2990850"/>
              <a:ext cx="838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SLA tracking</a:t>
              </a:r>
              <a:endParaRPr lang="en-US" sz="1100" spc="0" kern="0" b="0" i="0" dirty="0">
                <a:solidFill>
                  <a:srgbClr val="070154"/>
                </a:solidFill>
                <a:latin typeface="IBM Plex Sans"/>
                <a:ea typeface="IBM Plex Sans"/>
                <a:cs typeface="IBM Plex Sans"/>
              </a:endParaRPr>
            </a:p>
          </p:txBody>
        </p:sp>
      </p:grpSp>
      <p:grpSp>
        <p:nvGrpSpPr>
          <p:cNvPr id="59" name="node12"/>
          <p:cNvGrpSpPr/>
          <p:nvPr/>
        </p:nvGrpSpPr>
        <p:grpSpPr>
          <a:xfrm>
            <a:off x="4381500" y="3657600"/>
            <a:ext cx="7086600" cy="266700"/>
            <a:chOff x="4381500" y="3657600"/>
            <a:chExt cx="7086600" cy="266700"/>
          </a:xfrm>
        </p:grpSpPr>
        <p:sp>
          <p:nvSpPr>
            <p:cNvPr id="35" name="node12.text"/>
            <p:cNvSpPr/>
            <p:nvPr/>
          </p:nvSpPr>
          <p:spPr>
            <a:xfrm>
              <a:off x="4381500" y="3657600"/>
              <a:ext cx="7086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02  Use-case intake: idea to governed build</a:t>
              </a:r>
              <a:endParaRPr lang="en-US" sz="1600" spc="-16" kern="0" b="0" i="0" dirty="0">
                <a:solidFill>
                  <a:srgbClr val="070154"/>
                </a:solidFill>
                <a:latin typeface="IBM Plex Sans SemiBold"/>
                <a:ea typeface="IBM Plex Sans SemiBold"/>
                <a:cs typeface="IBM Plex Sans SemiBold"/>
              </a:endParaRPr>
            </a:p>
          </p:txBody>
        </p:sp>
      </p:grpSp>
      <p:grpSp>
        <p:nvGrpSpPr>
          <p:cNvPr id="60" name="node13"/>
          <p:cNvGrpSpPr/>
          <p:nvPr/>
        </p:nvGrpSpPr>
        <p:grpSpPr>
          <a:xfrm>
            <a:off x="4381500" y="4114800"/>
            <a:ext cx="1524000" cy="685800"/>
            <a:chOff x="4381500" y="4114800"/>
            <a:chExt cx="1524000" cy="685800"/>
          </a:xfrm>
        </p:grpSpPr>
        <p:sp>
          <p:nvSpPr>
            <p:cNvPr id="36" name="node13.surface"/>
            <p:cNvSpPr/>
            <p:nvPr/>
          </p:nvSpPr>
          <p:spPr>
            <a:xfrm>
              <a:off x="4381500" y="4114800"/>
              <a:ext cx="1524000" cy="685800"/>
            </a:xfrm>
            <a:custGeom>
              <a:avLst/>
              <a:gdLst/>
              <a:ahLst/>
              <a:cxnLst/>
              <a:rect l="l" t="t" r="r" b="b"/>
              <a:pathLst>
                <a:path w="1524000" h="685800">
                  <a:moveTo>
                    <a:pt x="0" y="0"/>
                  </a:moveTo>
                  <a:lnTo>
                    <a:pt x="1295400" y="0"/>
                  </a:lnTo>
                  <a:lnTo>
                    <a:pt x="1524000" y="342900"/>
                  </a:lnTo>
                  <a:lnTo>
                    <a:pt x="1295400" y="685800"/>
                  </a:lnTo>
                  <a:lnTo>
                    <a:pt x="0" y="685800"/>
                  </a:lnTo>
                  <a:close/>
                </a:path>
              </a:pathLst>
            </a:custGeom>
            <a:solidFill>
              <a:srgbClr val="070154"/>
            </a:solidFill>
            <a:ln>
              <a:noFill/>
            </a:ln>
          </p:spPr>
        </p:sp>
        <p:sp>
          <p:nvSpPr>
            <p:cNvPr id="37" name="node13.text"/>
            <p:cNvSpPr/>
            <p:nvPr/>
          </p:nvSpPr>
          <p:spPr>
            <a:xfrm>
              <a:off x="4533900" y="4267200"/>
              <a:ext cx="1066800" cy="3810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Use-case proposal</a:t>
              </a:r>
              <a:endParaRPr lang="en-US" sz="1100" spc="0" kern="0" b="0" i="0" dirty="0">
                <a:solidFill>
                  <a:srgbClr val="FFFFFF"/>
                </a:solidFill>
                <a:latin typeface="IBM Plex Sans"/>
                <a:ea typeface="IBM Plex Sans"/>
                <a:cs typeface="IBM Plex Sans"/>
              </a:endParaRPr>
            </a:p>
          </p:txBody>
        </p:sp>
      </p:grpSp>
      <p:grpSp>
        <p:nvGrpSpPr>
          <p:cNvPr id="61" name="node14"/>
          <p:cNvGrpSpPr/>
          <p:nvPr/>
        </p:nvGrpSpPr>
        <p:grpSpPr>
          <a:xfrm>
            <a:off x="5753100" y="4114800"/>
            <a:ext cx="1524000" cy="685800"/>
            <a:chOff x="5753100" y="4114800"/>
            <a:chExt cx="1524000" cy="685800"/>
          </a:xfrm>
        </p:grpSpPr>
        <p:sp>
          <p:nvSpPr>
            <p:cNvPr id="38" name="node14.surface"/>
            <p:cNvSpPr/>
            <p:nvPr/>
          </p:nvSpPr>
          <p:spPr>
            <a:xfrm>
              <a:off x="5753100" y="41148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070154"/>
            </a:solidFill>
            <a:ln>
              <a:noFill/>
            </a:ln>
          </p:spPr>
        </p:sp>
        <p:sp>
          <p:nvSpPr>
            <p:cNvPr id="39" name="node14.text"/>
            <p:cNvSpPr/>
            <p:nvPr/>
          </p:nvSpPr>
          <p:spPr>
            <a:xfrm>
              <a:off x="6134100" y="4267200"/>
              <a:ext cx="838200" cy="3810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Governance review</a:t>
              </a:r>
              <a:endParaRPr lang="en-US" sz="1100" spc="0" kern="0" b="0" i="0" dirty="0">
                <a:solidFill>
                  <a:srgbClr val="FFFFFF"/>
                </a:solidFill>
                <a:latin typeface="IBM Plex Sans"/>
                <a:ea typeface="IBM Plex Sans"/>
                <a:cs typeface="IBM Plex Sans"/>
              </a:endParaRPr>
            </a:p>
          </p:txBody>
        </p:sp>
      </p:grpSp>
      <p:grpSp>
        <p:nvGrpSpPr>
          <p:cNvPr id="62" name="node15"/>
          <p:cNvGrpSpPr/>
          <p:nvPr/>
        </p:nvGrpSpPr>
        <p:grpSpPr>
          <a:xfrm>
            <a:off x="7124700" y="4114800"/>
            <a:ext cx="1524000" cy="685800"/>
            <a:chOff x="7124700" y="4114800"/>
            <a:chExt cx="1524000" cy="685800"/>
          </a:xfrm>
        </p:grpSpPr>
        <p:sp>
          <p:nvSpPr>
            <p:cNvPr id="40" name="node15.surface"/>
            <p:cNvSpPr/>
            <p:nvPr/>
          </p:nvSpPr>
          <p:spPr>
            <a:xfrm>
              <a:off x="7124700" y="41148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070154"/>
            </a:solidFill>
            <a:ln>
              <a:noFill/>
            </a:ln>
          </p:spPr>
        </p:sp>
        <p:sp>
          <p:nvSpPr>
            <p:cNvPr id="41" name="node15.text"/>
            <p:cNvSpPr/>
            <p:nvPr/>
          </p:nvSpPr>
          <p:spPr>
            <a:xfrm>
              <a:off x="7505700" y="4267200"/>
              <a:ext cx="838200" cy="3810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Risk assessment</a:t>
              </a:r>
              <a:endParaRPr lang="en-US" sz="1100" spc="0" kern="0" b="0" i="0" dirty="0">
                <a:solidFill>
                  <a:srgbClr val="FFFFFF"/>
                </a:solidFill>
                <a:latin typeface="IBM Plex Sans"/>
                <a:ea typeface="IBM Plex Sans"/>
                <a:cs typeface="IBM Plex Sans"/>
              </a:endParaRPr>
            </a:p>
          </p:txBody>
        </p:sp>
      </p:grpSp>
      <p:grpSp>
        <p:nvGrpSpPr>
          <p:cNvPr id="63" name="node16"/>
          <p:cNvGrpSpPr/>
          <p:nvPr/>
        </p:nvGrpSpPr>
        <p:grpSpPr>
          <a:xfrm>
            <a:off x="8496300" y="4114800"/>
            <a:ext cx="1524000" cy="685800"/>
            <a:chOff x="8496300" y="4114800"/>
            <a:chExt cx="1524000" cy="685800"/>
          </a:xfrm>
        </p:grpSpPr>
        <p:sp>
          <p:nvSpPr>
            <p:cNvPr id="42" name="node16.surface"/>
            <p:cNvSpPr/>
            <p:nvPr/>
          </p:nvSpPr>
          <p:spPr>
            <a:xfrm>
              <a:off x="8496300" y="41148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070154"/>
            </a:solidFill>
            <a:ln>
              <a:noFill/>
            </a:ln>
          </p:spPr>
        </p:sp>
        <p:sp>
          <p:nvSpPr>
            <p:cNvPr id="43" name="node16.text"/>
            <p:cNvSpPr/>
            <p:nvPr/>
          </p:nvSpPr>
          <p:spPr>
            <a:xfrm>
              <a:off x="8877300" y="4267200"/>
              <a:ext cx="838200" cy="3810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Approved deploy</a:t>
              </a:r>
              <a:endParaRPr lang="en-US" sz="1100" spc="0" kern="0" b="0" i="0" dirty="0">
                <a:solidFill>
                  <a:srgbClr val="FFFFFF"/>
                </a:solidFill>
                <a:latin typeface="IBM Plex Sans"/>
                <a:ea typeface="IBM Plex Sans"/>
                <a:cs typeface="IBM Plex Sans"/>
              </a:endParaRPr>
            </a:p>
          </p:txBody>
        </p:sp>
      </p:grpSp>
      <p:grpSp>
        <p:nvGrpSpPr>
          <p:cNvPr id="64" name="node17"/>
          <p:cNvGrpSpPr/>
          <p:nvPr/>
        </p:nvGrpSpPr>
        <p:grpSpPr>
          <a:xfrm>
            <a:off x="9867900" y="4114800"/>
            <a:ext cx="1524000" cy="685800"/>
            <a:chOff x="9867900" y="4114800"/>
            <a:chExt cx="1524000" cy="685800"/>
          </a:xfrm>
        </p:grpSpPr>
        <p:sp>
          <p:nvSpPr>
            <p:cNvPr id="44" name="node17.surface"/>
            <p:cNvSpPr/>
            <p:nvPr/>
          </p:nvSpPr>
          <p:spPr>
            <a:xfrm>
              <a:off x="9867900" y="41148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070154"/>
            </a:solidFill>
            <a:ln>
              <a:noFill/>
            </a:ln>
          </p:spPr>
        </p:sp>
        <p:sp>
          <p:nvSpPr>
            <p:cNvPr id="45" name="node17.text"/>
            <p:cNvSpPr/>
            <p:nvPr/>
          </p:nvSpPr>
          <p:spPr>
            <a:xfrm>
              <a:off x="10248900" y="4362450"/>
              <a:ext cx="838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Monitoring</a:t>
              </a:r>
              <a:endParaRPr lang="en-US" sz="1100" spc="0" kern="0" b="0" i="0" dirty="0">
                <a:solidFill>
                  <a:srgbClr val="FFFFFF"/>
                </a:solidFill>
                <a:latin typeface="IBM Plex Sans"/>
                <a:ea typeface="IBM Plex Sans"/>
                <a:cs typeface="IBM Plex Sans"/>
              </a:endParaRPr>
            </a:p>
          </p:txBody>
        </p:sp>
      </p:grpSp>
      <p:grpSp>
        <p:nvGrpSpPr>
          <p:cNvPr id="65" name="node18"/>
          <p:cNvGrpSpPr/>
          <p:nvPr/>
        </p:nvGrpSpPr>
        <p:grpSpPr>
          <a:xfrm>
            <a:off x="4381500" y="5029200"/>
            <a:ext cx="7086600" cy="457200"/>
            <a:chOff x="4381500" y="5029200"/>
            <a:chExt cx="7086600" cy="457200"/>
          </a:xfrm>
        </p:grpSpPr>
        <p:sp>
          <p:nvSpPr>
            <p:cNvPr id="46" name="node18.surface"/>
            <p:cNvSpPr/>
            <p:nvPr/>
          </p:nvSpPr>
          <p:spPr>
            <a:xfrm>
              <a:off x="4381500" y="5029200"/>
              <a:ext cx="7086600" cy="457200"/>
            </a:xfrm>
            <a:prstGeom prst="rect">
              <a:avLst/>
            </a:prstGeom>
            <a:solidFill>
              <a:srgbClr val="F900D3"/>
            </a:solidFill>
            <a:ln>
              <a:noFill/>
            </a:ln>
          </p:spPr>
        </p:sp>
        <p:sp>
          <p:nvSpPr>
            <p:cNvPr id="47" name="node18.text"/>
            <p:cNvSpPr/>
            <p:nvPr/>
          </p:nvSpPr>
          <p:spPr>
            <a:xfrm>
              <a:off x="4533900" y="5162550"/>
              <a:ext cx="6781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Result: controlled scale, approval-only tool access and a repeatable model.</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ource-34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SDLC is the slice of the PDLC from Define to Optimize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103</a:t>
            </a:fld>
            <a:endParaRPr lang="en-US" sz="700" spc="0" kern="0" b="0" i="0" dirty="0">
              <a:solidFill>
                <a:srgbClr val="070154"/>
              </a:solidFill>
              <a:latin typeface="IBM Plex Mono SemiBold"/>
              <a:ea typeface="IBM Plex Mono SemiBold"/>
              <a:cs typeface="IBM Plex Mono SemiBold"/>
            </a:endParaRPr>
          </a:p>
        </p:txBody>
      </p:sp>
      <p:grpSp>
        <p:nvGrpSpPr>
          <p:cNvPr id="66" name="node01"/>
          <p:cNvGrpSpPr/>
          <p:nvPr/>
        </p:nvGrpSpPr>
        <p:grpSpPr>
          <a:xfrm>
            <a:off x="4453179" y="1600200"/>
            <a:ext cx="5757621" cy="457200"/>
            <a:chOff x="4453179" y="1600200"/>
            <a:chExt cx="5757621" cy="457200"/>
          </a:xfrm>
        </p:grpSpPr>
        <p:sp>
          <p:nvSpPr>
            <p:cNvPr id="6" name="node01.segment-1"/>
            <p:cNvSpPr/>
            <p:nvPr/>
          </p:nvSpPr>
          <p:spPr>
            <a:xfrm>
              <a:off x="10210800" y="1600200"/>
              <a:ext cx="0" cy="457200"/>
            </a:xfrm>
            <a:custGeom>
              <a:avLst/>
              <a:gdLst/>
              <a:ahLst/>
              <a:cxnLst/>
              <a:rect l="l" t="t" r="r" b="b"/>
              <a:pathLst>
                <a:path h="457200">
                  <a:moveTo>
                    <a:pt x="0" y="457200"/>
                  </a:moveTo>
                  <a:lnTo>
                    <a:pt x="0" y="0"/>
                  </a:lnTo>
                </a:path>
              </a:pathLst>
            </a:custGeom>
            <a:ln w="12700">
              <a:solidFill>
                <a:srgbClr val="0047FF"/>
              </a:solidFill>
              <a:prstDash val="dash"/>
            </a:ln>
          </p:spPr>
        </p:sp>
        <p:sp>
          <p:nvSpPr>
            <p:cNvPr id="7" name="node01.segment-2"/>
            <p:cNvSpPr/>
            <p:nvPr/>
          </p:nvSpPr>
          <p:spPr>
            <a:xfrm>
              <a:off x="4495800" y="1600200"/>
              <a:ext cx="5715000" cy="0"/>
            </a:xfrm>
            <a:custGeom>
              <a:avLst/>
              <a:gdLst/>
              <a:ahLst/>
              <a:cxnLst/>
              <a:rect l="l" t="t" r="r" b="b"/>
              <a:pathLst>
                <a:path w="5715000">
                  <a:moveTo>
                    <a:pt x="5715000" y="0"/>
                  </a:moveTo>
                  <a:lnTo>
                    <a:pt x="0" y="0"/>
                  </a:lnTo>
                </a:path>
              </a:pathLst>
            </a:custGeom>
            <a:ln w="12700">
              <a:solidFill>
                <a:srgbClr val="0047FF"/>
              </a:solidFill>
              <a:prstDash val="dash"/>
            </a:ln>
          </p:spPr>
        </p:sp>
        <p:sp>
          <p:nvSpPr>
            <p:cNvPr id="8" name="node01.segment-3"/>
            <p:cNvSpPr/>
            <p:nvPr/>
          </p:nvSpPr>
          <p:spPr>
            <a:xfrm>
              <a:off x="4495800" y="1600200"/>
              <a:ext cx="0" cy="457200"/>
            </a:xfrm>
            <a:custGeom>
              <a:avLst/>
              <a:gdLst/>
              <a:ahLst/>
              <a:cxnLst/>
              <a:rect l="l" t="t" r="r" b="b"/>
              <a:pathLst>
                <a:path h="457200">
                  <a:moveTo>
                    <a:pt x="0" y="0"/>
                  </a:moveTo>
                  <a:lnTo>
                    <a:pt x="0" y="457200"/>
                  </a:lnTo>
                </a:path>
              </a:pathLst>
            </a:custGeom>
            <a:ln w="12700">
              <a:solidFill>
                <a:srgbClr val="0047FF"/>
              </a:solidFill>
              <a:prstDash val="dash"/>
            </a:ln>
          </p:spPr>
        </p:sp>
        <p:sp>
          <p:nvSpPr>
            <p:cNvPr id="9" name="node01.head-end.0"/>
            <p:cNvSpPr/>
            <p:nvPr/>
          </p:nvSpPr>
          <p:spPr>
            <a:xfrm>
              <a:off x="4453179" y="1979383"/>
              <a:ext cx="42621" cy="78017"/>
            </a:xfrm>
            <a:custGeom>
              <a:avLst/>
              <a:gdLst/>
              <a:ahLst/>
              <a:cxnLst/>
              <a:rect l="l" t="t" r="r" b="b"/>
              <a:pathLst>
                <a:path w="42621" h="78017">
                  <a:moveTo>
                    <a:pt x="42621" y="78017"/>
                  </a:moveTo>
                  <a:lnTo>
                    <a:pt x="0" y="0"/>
                  </a:lnTo>
                </a:path>
              </a:pathLst>
            </a:custGeom>
            <a:ln w="12700">
              <a:solidFill>
                <a:srgbClr val="0047FF"/>
              </a:solidFill>
              <a:prstDash val="solid"/>
            </a:ln>
          </p:spPr>
        </p:sp>
        <p:sp>
          <p:nvSpPr>
            <p:cNvPr id="10" name="node01.head-end.1"/>
            <p:cNvSpPr/>
            <p:nvPr/>
          </p:nvSpPr>
          <p:spPr>
            <a:xfrm>
              <a:off x="4495800" y="1979383"/>
              <a:ext cx="42621" cy="78017"/>
            </a:xfrm>
            <a:custGeom>
              <a:avLst/>
              <a:gdLst/>
              <a:ahLst/>
              <a:cxnLst/>
              <a:rect l="l" t="t" r="r" b="b"/>
              <a:pathLst>
                <a:path w="42621" h="78017">
                  <a:moveTo>
                    <a:pt x="0" y="78017"/>
                  </a:moveTo>
                  <a:lnTo>
                    <a:pt x="42621" y="0"/>
                  </a:lnTo>
                </a:path>
              </a:pathLst>
            </a:custGeom>
            <a:ln w="12700">
              <a:solidFill>
                <a:srgbClr val="0047FF"/>
              </a:solidFill>
              <a:prstDash val="solid"/>
            </a:ln>
          </p:spPr>
        </p:sp>
      </p:grpSp>
      <p:grpSp>
        <p:nvGrpSpPr>
          <p:cNvPr id="67" name="node02"/>
          <p:cNvGrpSpPr/>
          <p:nvPr/>
        </p:nvGrpSpPr>
        <p:grpSpPr>
          <a:xfrm>
            <a:off x="4910379" y="1828800"/>
            <a:ext cx="2557221" cy="228600"/>
            <a:chOff x="4910379" y="1828800"/>
            <a:chExt cx="2557221" cy="228600"/>
          </a:xfrm>
        </p:grpSpPr>
        <p:sp>
          <p:nvSpPr>
            <p:cNvPr id="11" name="node02.segment-1"/>
            <p:cNvSpPr/>
            <p:nvPr/>
          </p:nvSpPr>
          <p:spPr>
            <a:xfrm>
              <a:off x="7467600" y="1828800"/>
              <a:ext cx="0" cy="228600"/>
            </a:xfrm>
            <a:custGeom>
              <a:avLst/>
              <a:gdLst/>
              <a:ahLst/>
              <a:cxnLst/>
              <a:rect l="l" t="t" r="r" b="b"/>
              <a:pathLst>
                <a:path h="228600">
                  <a:moveTo>
                    <a:pt x="0" y="228600"/>
                  </a:moveTo>
                  <a:lnTo>
                    <a:pt x="0" y="0"/>
                  </a:lnTo>
                </a:path>
              </a:pathLst>
            </a:custGeom>
            <a:ln w="12700">
              <a:solidFill>
                <a:srgbClr val="0047FF"/>
              </a:solidFill>
              <a:prstDash val="dash"/>
            </a:ln>
          </p:spPr>
        </p:sp>
        <p:sp>
          <p:nvSpPr>
            <p:cNvPr id="12" name="node02.segment-2"/>
            <p:cNvSpPr/>
            <p:nvPr/>
          </p:nvSpPr>
          <p:spPr>
            <a:xfrm>
              <a:off x="4953000" y="1828800"/>
              <a:ext cx="2514600" cy="0"/>
            </a:xfrm>
            <a:custGeom>
              <a:avLst/>
              <a:gdLst/>
              <a:ahLst/>
              <a:cxnLst/>
              <a:rect l="l" t="t" r="r" b="b"/>
              <a:pathLst>
                <a:path w="2514600">
                  <a:moveTo>
                    <a:pt x="2514600" y="0"/>
                  </a:moveTo>
                  <a:lnTo>
                    <a:pt x="0" y="0"/>
                  </a:lnTo>
                </a:path>
              </a:pathLst>
            </a:custGeom>
            <a:ln w="12700">
              <a:solidFill>
                <a:srgbClr val="0047FF"/>
              </a:solidFill>
              <a:prstDash val="dash"/>
            </a:ln>
          </p:spPr>
        </p:sp>
        <p:sp>
          <p:nvSpPr>
            <p:cNvPr id="13" name="node02.segment-3"/>
            <p:cNvSpPr/>
            <p:nvPr/>
          </p:nvSpPr>
          <p:spPr>
            <a:xfrm>
              <a:off x="4953000" y="1828800"/>
              <a:ext cx="0" cy="228600"/>
            </a:xfrm>
            <a:custGeom>
              <a:avLst/>
              <a:gdLst/>
              <a:ahLst/>
              <a:cxnLst/>
              <a:rect l="l" t="t" r="r" b="b"/>
              <a:pathLst>
                <a:path h="228600">
                  <a:moveTo>
                    <a:pt x="0" y="0"/>
                  </a:moveTo>
                  <a:lnTo>
                    <a:pt x="0" y="228600"/>
                  </a:lnTo>
                </a:path>
              </a:pathLst>
            </a:custGeom>
            <a:ln w="12700">
              <a:solidFill>
                <a:srgbClr val="0047FF"/>
              </a:solidFill>
              <a:prstDash val="dash"/>
            </a:ln>
          </p:spPr>
        </p:sp>
        <p:sp>
          <p:nvSpPr>
            <p:cNvPr id="14" name="node02.head-end.0"/>
            <p:cNvSpPr/>
            <p:nvPr/>
          </p:nvSpPr>
          <p:spPr>
            <a:xfrm>
              <a:off x="4910379" y="1979383"/>
              <a:ext cx="42621" cy="78017"/>
            </a:xfrm>
            <a:custGeom>
              <a:avLst/>
              <a:gdLst/>
              <a:ahLst/>
              <a:cxnLst/>
              <a:rect l="l" t="t" r="r" b="b"/>
              <a:pathLst>
                <a:path w="42621" h="78017">
                  <a:moveTo>
                    <a:pt x="42621" y="78017"/>
                  </a:moveTo>
                  <a:lnTo>
                    <a:pt x="0" y="0"/>
                  </a:lnTo>
                </a:path>
              </a:pathLst>
            </a:custGeom>
            <a:ln w="12700">
              <a:solidFill>
                <a:srgbClr val="0047FF"/>
              </a:solidFill>
              <a:prstDash val="solid"/>
            </a:ln>
          </p:spPr>
        </p:sp>
        <p:sp>
          <p:nvSpPr>
            <p:cNvPr id="15" name="node02.head-end.1"/>
            <p:cNvSpPr/>
            <p:nvPr/>
          </p:nvSpPr>
          <p:spPr>
            <a:xfrm>
              <a:off x="4953000" y="1979383"/>
              <a:ext cx="42621" cy="78017"/>
            </a:xfrm>
            <a:custGeom>
              <a:avLst/>
              <a:gdLst/>
              <a:ahLst/>
              <a:cxnLst/>
              <a:rect l="l" t="t" r="r" b="b"/>
              <a:pathLst>
                <a:path w="42621" h="78017">
                  <a:moveTo>
                    <a:pt x="0" y="78017"/>
                  </a:moveTo>
                  <a:lnTo>
                    <a:pt x="42621" y="0"/>
                  </a:lnTo>
                </a:path>
              </a:pathLst>
            </a:custGeom>
            <a:ln w="12700">
              <a:solidFill>
                <a:srgbClr val="0047FF"/>
              </a:solidFill>
              <a:prstDash val="solid"/>
            </a:ln>
          </p:spPr>
        </p:sp>
      </p:grpSp>
      <p:grpSp>
        <p:nvGrpSpPr>
          <p:cNvPr id="68" name="node03"/>
          <p:cNvGrpSpPr/>
          <p:nvPr/>
        </p:nvGrpSpPr>
        <p:grpSpPr>
          <a:xfrm>
            <a:off x="723900" y="2057400"/>
            <a:ext cx="2514600" cy="1371600"/>
            <a:chOff x="723900" y="2057400"/>
            <a:chExt cx="2514600" cy="1371600"/>
          </a:xfrm>
        </p:grpSpPr>
        <p:sp>
          <p:nvSpPr>
            <p:cNvPr id="16" name="node03.container"/>
            <p:cNvSpPr/>
            <p:nvPr/>
          </p:nvSpPr>
          <p:spPr>
            <a:xfrm>
              <a:off x="723900" y="2057400"/>
              <a:ext cx="2514600" cy="1371600"/>
            </a:xfrm>
            <a:prstGeom prst="rect">
              <a:avLst/>
            </a:prstGeom>
            <a:solidFill>
              <a:srgbClr val="E8EEF8"/>
            </a:solidFill>
            <a:ln>
              <a:noFill/>
            </a:ln>
          </p:spPr>
        </p:sp>
        <p:sp>
          <p:nvSpPr>
            <p:cNvPr id="17" name="node03.label"/>
            <p:cNvSpPr/>
            <p:nvPr/>
          </p:nvSpPr>
          <p:spPr>
            <a:xfrm>
              <a:off x="876300" y="22098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RIGHT PROBLEM</a:t>
              </a:r>
              <a:endParaRPr lang="en-US" sz="800" spc="48" kern="0" b="0" i="0" dirty="0">
                <a:solidFill>
                  <a:srgbClr val="0047FF"/>
                </a:solidFill>
                <a:latin typeface="IBM Plex Mono Medium"/>
                <a:ea typeface="IBM Plex Mono Medium"/>
                <a:cs typeface="IBM Plex Mono Medium"/>
              </a:endParaRPr>
            </a:p>
          </p:txBody>
        </p:sp>
        <p:sp>
          <p:nvSpPr>
            <p:cNvPr id="18" name="node03.title"/>
            <p:cNvSpPr/>
            <p:nvPr/>
          </p:nvSpPr>
          <p:spPr>
            <a:xfrm>
              <a:off x="876300" y="2425700"/>
              <a:ext cx="2209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Identify</a:t>
              </a:r>
              <a:endParaRPr lang="en-US" sz="1600" spc="-16" kern="0" b="0" i="0" dirty="0">
                <a:solidFill>
                  <a:srgbClr val="070154"/>
                </a:solidFill>
                <a:latin typeface="IBM Plex Sans SemiBold"/>
                <a:ea typeface="IBM Plex Sans SemiBold"/>
                <a:cs typeface="IBM Plex Sans SemiBold"/>
              </a:endParaRPr>
            </a:p>
          </p:txBody>
        </p:sp>
        <p:sp>
          <p:nvSpPr>
            <p:cNvPr id="19" name="node03.body.item-001.paragraph"/>
            <p:cNvSpPr/>
            <p:nvPr/>
          </p:nvSpPr>
          <p:spPr>
            <a:xfrm>
              <a:off x="876300" y="28448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Find the problems worth solving.</a:t>
              </a:r>
              <a:endParaRPr lang="en-US" sz="1200" spc="0" kern="0" b="0" i="0" dirty="0">
                <a:solidFill>
                  <a:srgbClr val="50658E"/>
                </a:solidFill>
                <a:latin typeface="IBM Plex Sans"/>
                <a:ea typeface="IBM Plex Sans"/>
                <a:cs typeface="IBM Plex Sans"/>
              </a:endParaRPr>
            </a:p>
          </p:txBody>
        </p:sp>
      </p:grpSp>
      <p:grpSp>
        <p:nvGrpSpPr>
          <p:cNvPr id="69" name="node04"/>
          <p:cNvGrpSpPr/>
          <p:nvPr/>
        </p:nvGrpSpPr>
        <p:grpSpPr>
          <a:xfrm>
            <a:off x="3467100" y="2057400"/>
            <a:ext cx="2514600" cy="1371600"/>
            <a:chOff x="3467100" y="2057400"/>
            <a:chExt cx="2514600" cy="1371600"/>
          </a:xfrm>
        </p:grpSpPr>
        <p:sp>
          <p:nvSpPr>
            <p:cNvPr id="20" name="node04.container"/>
            <p:cNvSpPr/>
            <p:nvPr/>
          </p:nvSpPr>
          <p:spPr>
            <a:xfrm>
              <a:off x="3467100" y="2057400"/>
              <a:ext cx="2514600" cy="1371600"/>
            </a:xfrm>
            <a:prstGeom prst="rect">
              <a:avLst/>
            </a:prstGeom>
            <a:solidFill>
              <a:srgbClr val="070154"/>
            </a:solidFill>
            <a:ln>
              <a:noFill/>
            </a:ln>
          </p:spPr>
        </p:sp>
        <p:sp>
          <p:nvSpPr>
            <p:cNvPr id="21" name="node04.label"/>
            <p:cNvSpPr/>
            <p:nvPr/>
          </p:nvSpPr>
          <p:spPr>
            <a:xfrm>
              <a:off x="3619500" y="22098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RIGHT SOLUTION</a:t>
              </a:r>
              <a:endParaRPr lang="en-US" sz="800" spc="48" kern="0" b="0" i="0" dirty="0">
                <a:solidFill>
                  <a:srgbClr val="F900D3"/>
                </a:solidFill>
                <a:latin typeface="IBM Plex Mono Medium"/>
                <a:ea typeface="IBM Plex Mono Medium"/>
                <a:cs typeface="IBM Plex Mono Medium"/>
              </a:endParaRPr>
            </a:p>
          </p:txBody>
        </p:sp>
        <p:sp>
          <p:nvSpPr>
            <p:cNvPr id="22" name="node04.title"/>
            <p:cNvSpPr/>
            <p:nvPr/>
          </p:nvSpPr>
          <p:spPr>
            <a:xfrm>
              <a:off x="3619500" y="2425700"/>
              <a:ext cx="2209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Define</a:t>
              </a:r>
              <a:endParaRPr lang="en-US" sz="1600" spc="-16" kern="0" b="0" i="0" dirty="0">
                <a:solidFill>
                  <a:srgbClr val="FFFFFF"/>
                </a:solidFill>
                <a:latin typeface="IBM Plex Sans SemiBold"/>
                <a:ea typeface="IBM Plex Sans SemiBold"/>
                <a:cs typeface="IBM Plex Sans SemiBold"/>
              </a:endParaRPr>
            </a:p>
          </p:txBody>
        </p:sp>
        <p:sp>
          <p:nvSpPr>
            <p:cNvPr id="23" name="node04.body.item-001.paragraph"/>
            <p:cNvSpPr/>
            <p:nvPr/>
          </p:nvSpPr>
          <p:spPr>
            <a:xfrm>
              <a:off x="3619500" y="28448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Shape the product and the plan.</a:t>
              </a:r>
              <a:endParaRPr lang="en-US" sz="1200" spc="0" kern="0" b="0" i="0" dirty="0">
                <a:solidFill>
                  <a:srgbClr val="CED7E6"/>
                </a:solidFill>
                <a:latin typeface="IBM Plex Sans"/>
                <a:ea typeface="IBM Plex Sans"/>
                <a:cs typeface="IBM Plex Sans"/>
              </a:endParaRPr>
            </a:p>
          </p:txBody>
        </p:sp>
      </p:grpSp>
      <p:grpSp>
        <p:nvGrpSpPr>
          <p:cNvPr id="70" name="node05"/>
          <p:cNvGrpSpPr/>
          <p:nvPr/>
        </p:nvGrpSpPr>
        <p:grpSpPr>
          <a:xfrm>
            <a:off x="6210300" y="2057400"/>
            <a:ext cx="2514600" cy="1371600"/>
            <a:chOff x="6210300" y="2057400"/>
            <a:chExt cx="2514600" cy="1371600"/>
          </a:xfrm>
        </p:grpSpPr>
        <p:sp>
          <p:nvSpPr>
            <p:cNvPr id="24" name="node05.container"/>
            <p:cNvSpPr/>
            <p:nvPr/>
          </p:nvSpPr>
          <p:spPr>
            <a:xfrm>
              <a:off x="6210300" y="2057400"/>
              <a:ext cx="2514600" cy="1371600"/>
            </a:xfrm>
            <a:prstGeom prst="rect">
              <a:avLst/>
            </a:prstGeom>
            <a:solidFill>
              <a:srgbClr val="070154"/>
            </a:solidFill>
            <a:ln>
              <a:noFill/>
            </a:ln>
          </p:spPr>
        </p:sp>
        <p:sp>
          <p:nvSpPr>
            <p:cNvPr id="25" name="node05.label"/>
            <p:cNvSpPr/>
            <p:nvPr/>
          </p:nvSpPr>
          <p:spPr>
            <a:xfrm>
              <a:off x="6362700" y="22098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BUILT RIGHT</a:t>
              </a:r>
              <a:endParaRPr lang="en-US" sz="800" spc="48" kern="0" b="0" i="0" dirty="0">
                <a:solidFill>
                  <a:srgbClr val="F900D3"/>
                </a:solidFill>
                <a:latin typeface="IBM Plex Mono Medium"/>
                <a:ea typeface="IBM Plex Mono Medium"/>
                <a:cs typeface="IBM Plex Mono Medium"/>
              </a:endParaRPr>
            </a:p>
          </p:txBody>
        </p:sp>
        <p:sp>
          <p:nvSpPr>
            <p:cNvPr id="26" name="node05.title"/>
            <p:cNvSpPr/>
            <p:nvPr/>
          </p:nvSpPr>
          <p:spPr>
            <a:xfrm>
              <a:off x="6362700" y="2425700"/>
              <a:ext cx="2209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Build</a:t>
              </a:r>
              <a:endParaRPr lang="en-US" sz="1600" spc="-16" kern="0" b="0" i="0" dirty="0">
                <a:solidFill>
                  <a:srgbClr val="FFFFFF"/>
                </a:solidFill>
                <a:latin typeface="IBM Plex Sans SemiBold"/>
                <a:ea typeface="IBM Plex Sans SemiBold"/>
                <a:cs typeface="IBM Plex Sans SemiBold"/>
              </a:endParaRPr>
            </a:p>
          </p:txBody>
        </p:sp>
        <p:sp>
          <p:nvSpPr>
            <p:cNvPr id="27" name="node05.body.item-001.paragraph"/>
            <p:cNvSpPr/>
            <p:nvPr/>
          </p:nvSpPr>
          <p:spPr>
            <a:xfrm>
              <a:off x="6362700" y="28448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Ship tested software in releases.</a:t>
              </a:r>
              <a:endParaRPr lang="en-US" sz="1200" spc="0" kern="0" b="0" i="0" dirty="0">
                <a:solidFill>
                  <a:srgbClr val="CED7E6"/>
                </a:solidFill>
                <a:latin typeface="IBM Plex Sans"/>
                <a:ea typeface="IBM Plex Sans"/>
                <a:cs typeface="IBM Plex Sans"/>
              </a:endParaRPr>
            </a:p>
          </p:txBody>
        </p:sp>
      </p:grpSp>
      <p:grpSp>
        <p:nvGrpSpPr>
          <p:cNvPr id="71" name="node06"/>
          <p:cNvGrpSpPr/>
          <p:nvPr/>
        </p:nvGrpSpPr>
        <p:grpSpPr>
          <a:xfrm>
            <a:off x="8953500" y="2057400"/>
            <a:ext cx="2514600" cy="1371600"/>
            <a:chOff x="8953500" y="2057400"/>
            <a:chExt cx="2514600" cy="1371600"/>
          </a:xfrm>
        </p:grpSpPr>
        <p:sp>
          <p:nvSpPr>
            <p:cNvPr id="28" name="node06.container"/>
            <p:cNvSpPr/>
            <p:nvPr/>
          </p:nvSpPr>
          <p:spPr>
            <a:xfrm>
              <a:off x="8953500" y="2057400"/>
              <a:ext cx="2514600" cy="1371600"/>
            </a:xfrm>
            <a:prstGeom prst="rect">
              <a:avLst/>
            </a:prstGeom>
            <a:solidFill>
              <a:srgbClr val="070154"/>
            </a:solidFill>
            <a:ln>
              <a:noFill/>
            </a:ln>
          </p:spPr>
        </p:sp>
        <p:sp>
          <p:nvSpPr>
            <p:cNvPr id="29" name="node06.label"/>
            <p:cNvSpPr/>
            <p:nvPr/>
          </p:nvSpPr>
          <p:spPr>
            <a:xfrm>
              <a:off x="9105900" y="22098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PROVEN VALUE</a:t>
              </a:r>
              <a:endParaRPr lang="en-US" sz="800" spc="48" kern="0" b="0" i="0" dirty="0">
                <a:solidFill>
                  <a:srgbClr val="F900D3"/>
                </a:solidFill>
                <a:latin typeface="IBM Plex Mono Medium"/>
                <a:ea typeface="IBM Plex Mono Medium"/>
                <a:cs typeface="IBM Plex Mono Medium"/>
              </a:endParaRPr>
            </a:p>
          </p:txBody>
        </p:sp>
        <p:sp>
          <p:nvSpPr>
            <p:cNvPr id="30" name="node06.title"/>
            <p:cNvSpPr/>
            <p:nvPr/>
          </p:nvSpPr>
          <p:spPr>
            <a:xfrm>
              <a:off x="9105900" y="2425700"/>
              <a:ext cx="2209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Optimize</a:t>
              </a:r>
              <a:endParaRPr lang="en-US" sz="1600" spc="-16" kern="0" b="0" i="0" dirty="0">
                <a:solidFill>
                  <a:srgbClr val="FFFFFF"/>
                </a:solidFill>
                <a:latin typeface="IBM Plex Sans SemiBold"/>
                <a:ea typeface="IBM Plex Sans SemiBold"/>
                <a:cs typeface="IBM Plex Sans SemiBold"/>
              </a:endParaRPr>
            </a:p>
          </p:txBody>
        </p:sp>
        <p:sp>
          <p:nvSpPr>
            <p:cNvPr id="31" name="node06.body.item-001.paragraph"/>
            <p:cNvSpPr/>
            <p:nvPr/>
          </p:nvSpPr>
          <p:spPr>
            <a:xfrm>
              <a:off x="9105900" y="28448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Prove value, then improve.</a:t>
              </a:r>
              <a:endParaRPr lang="en-US" sz="1200" spc="0" kern="0" b="0" i="0" dirty="0">
                <a:solidFill>
                  <a:srgbClr val="CED7E6"/>
                </a:solidFill>
                <a:latin typeface="IBM Plex Sans"/>
                <a:ea typeface="IBM Plex Sans"/>
                <a:cs typeface="IBM Plex Sans"/>
              </a:endParaRPr>
            </a:p>
          </p:txBody>
        </p:sp>
      </p:grpSp>
      <p:grpSp>
        <p:nvGrpSpPr>
          <p:cNvPr id="72" name="node07"/>
          <p:cNvGrpSpPr/>
          <p:nvPr/>
        </p:nvGrpSpPr>
        <p:grpSpPr>
          <a:xfrm>
            <a:off x="3457575" y="3762375"/>
            <a:ext cx="8020050" cy="434975"/>
            <a:chOff x="3457575" y="3762375"/>
            <a:chExt cx="8020050" cy="434975"/>
          </a:xfrm>
        </p:grpSpPr>
        <p:sp>
          <p:nvSpPr>
            <p:cNvPr id="32" name="node07.stroke-1"/>
            <p:cNvSpPr/>
            <p:nvPr/>
          </p:nvSpPr>
          <p:spPr>
            <a:xfrm>
              <a:off x="3467100" y="3771900"/>
              <a:ext cx="0" cy="114300"/>
            </a:xfrm>
            <a:custGeom>
              <a:avLst/>
              <a:gdLst/>
              <a:ahLst/>
              <a:cxnLst/>
              <a:rect l="l" t="t" r="r" b="b"/>
              <a:pathLst>
                <a:path h="114300">
                  <a:moveTo>
                    <a:pt x="0" y="0"/>
                  </a:moveTo>
                  <a:lnTo>
                    <a:pt x="0" y="114300"/>
                  </a:lnTo>
                </a:path>
              </a:pathLst>
            </a:custGeom>
            <a:ln w="19050">
              <a:solidFill>
                <a:srgbClr val="0047FF"/>
              </a:solidFill>
              <a:prstDash val="solid"/>
            </a:ln>
          </p:spPr>
        </p:sp>
        <p:sp>
          <p:nvSpPr>
            <p:cNvPr id="33" name="node07.stroke-2"/>
            <p:cNvSpPr/>
            <p:nvPr/>
          </p:nvSpPr>
          <p:spPr>
            <a:xfrm>
              <a:off x="3467100" y="3886200"/>
              <a:ext cx="8001000" cy="0"/>
            </a:xfrm>
            <a:custGeom>
              <a:avLst/>
              <a:gdLst/>
              <a:ahLst/>
              <a:cxnLst/>
              <a:rect l="l" t="t" r="r" b="b"/>
              <a:pathLst>
                <a:path w="8001000">
                  <a:moveTo>
                    <a:pt x="0" y="0"/>
                  </a:moveTo>
                  <a:lnTo>
                    <a:pt x="8001000" y="0"/>
                  </a:lnTo>
                </a:path>
              </a:pathLst>
            </a:custGeom>
            <a:ln w="19050">
              <a:solidFill>
                <a:srgbClr val="0047FF"/>
              </a:solidFill>
              <a:prstDash val="solid"/>
            </a:ln>
          </p:spPr>
        </p:sp>
        <p:sp>
          <p:nvSpPr>
            <p:cNvPr id="34" name="node07.stroke-3"/>
            <p:cNvSpPr/>
            <p:nvPr/>
          </p:nvSpPr>
          <p:spPr>
            <a:xfrm>
              <a:off x="11468100" y="37719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35" name="node07.stroke-4"/>
            <p:cNvSpPr/>
            <p:nvPr/>
          </p:nvSpPr>
          <p:spPr>
            <a:xfrm>
              <a:off x="7467600" y="3886200"/>
              <a:ext cx="0" cy="114300"/>
            </a:xfrm>
            <a:custGeom>
              <a:avLst/>
              <a:gdLst/>
              <a:ahLst/>
              <a:cxnLst/>
              <a:rect l="l" t="t" r="r" b="b"/>
              <a:pathLst>
                <a:path h="114300">
                  <a:moveTo>
                    <a:pt x="0" y="0"/>
                  </a:moveTo>
                  <a:lnTo>
                    <a:pt x="0" y="114300"/>
                  </a:lnTo>
                </a:path>
              </a:pathLst>
            </a:custGeom>
            <a:ln w="19050">
              <a:solidFill>
                <a:srgbClr val="0047FF"/>
              </a:solidFill>
              <a:prstDash val="solid"/>
            </a:ln>
          </p:spPr>
        </p:sp>
        <p:sp>
          <p:nvSpPr>
            <p:cNvPr id="36" name="node07.label.part-1"/>
            <p:cNvSpPr/>
            <p:nvPr/>
          </p:nvSpPr>
          <p:spPr>
            <a:xfrm>
              <a:off x="3467100" y="4057650"/>
              <a:ext cx="8001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SDLC RUNS INSIDE THE PDLC, FROM DEFINE TO OPTIMIZE</a:t>
              </a:r>
              <a:endParaRPr lang="en-US" sz="800" spc="48" kern="0" b="0" i="0" dirty="0">
                <a:solidFill>
                  <a:srgbClr val="0047FF"/>
                </a:solidFill>
                <a:latin typeface="IBM Plex Mono SemiBold"/>
                <a:ea typeface="IBM Plex Mono SemiBold"/>
                <a:cs typeface="IBM Plex Mono SemiBold"/>
              </a:endParaRPr>
            </a:p>
          </p:txBody>
        </p:sp>
      </p:grpSp>
      <p:grpSp>
        <p:nvGrpSpPr>
          <p:cNvPr id="73" name="node08"/>
          <p:cNvGrpSpPr/>
          <p:nvPr/>
        </p:nvGrpSpPr>
        <p:grpSpPr>
          <a:xfrm>
            <a:off x="3467100" y="4572000"/>
            <a:ext cx="1371600" cy="685800"/>
            <a:chOff x="3467100" y="4572000"/>
            <a:chExt cx="1371600" cy="685800"/>
          </a:xfrm>
        </p:grpSpPr>
        <p:sp>
          <p:nvSpPr>
            <p:cNvPr id="37" name="node08.container"/>
            <p:cNvSpPr/>
            <p:nvPr/>
          </p:nvSpPr>
          <p:spPr>
            <a:xfrm>
              <a:off x="3467100" y="4572000"/>
              <a:ext cx="1371600" cy="685800"/>
            </a:xfrm>
            <a:prstGeom prst="rect">
              <a:avLst/>
            </a:prstGeom>
            <a:solidFill>
              <a:srgbClr val="05013F"/>
            </a:solidFill>
            <a:ln>
              <a:noFill/>
            </a:ln>
          </p:spPr>
        </p:sp>
        <p:sp>
          <p:nvSpPr>
            <p:cNvPr id="38" name="node08.label"/>
            <p:cNvSpPr/>
            <p:nvPr/>
          </p:nvSpPr>
          <p:spPr>
            <a:xfrm>
              <a:off x="3543300" y="4648200"/>
              <a:ext cx="1219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IN DEFINE</a:t>
              </a:r>
              <a:endParaRPr lang="en-US" sz="800" spc="48" kern="0" b="0" i="0" dirty="0">
                <a:solidFill>
                  <a:srgbClr val="F900D3"/>
                </a:solidFill>
                <a:latin typeface="IBM Plex Mono Medium"/>
                <a:ea typeface="IBM Plex Mono Medium"/>
                <a:cs typeface="IBM Plex Mono Medium"/>
              </a:endParaRPr>
            </a:p>
          </p:txBody>
        </p:sp>
        <p:sp>
          <p:nvSpPr>
            <p:cNvPr id="39" name="node08.title"/>
            <p:cNvSpPr/>
            <p:nvPr/>
          </p:nvSpPr>
          <p:spPr>
            <a:xfrm>
              <a:off x="3543300" y="4864100"/>
              <a:ext cx="1219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Design</a:t>
              </a:r>
              <a:endParaRPr lang="en-US" sz="1200" spc="0" kern="0" b="0" i="0" dirty="0">
                <a:solidFill>
                  <a:srgbClr val="FFFFFF"/>
                </a:solidFill>
                <a:latin typeface="IBM Plex Sans"/>
                <a:ea typeface="IBM Plex Sans"/>
                <a:cs typeface="IBM Plex Sans"/>
              </a:endParaRPr>
            </a:p>
          </p:txBody>
        </p:sp>
      </p:grpSp>
      <p:grpSp>
        <p:nvGrpSpPr>
          <p:cNvPr id="74" name="node09"/>
          <p:cNvGrpSpPr/>
          <p:nvPr/>
        </p:nvGrpSpPr>
        <p:grpSpPr>
          <a:xfrm>
            <a:off x="5067300" y="4572000"/>
            <a:ext cx="1371600" cy="685800"/>
            <a:chOff x="5067300" y="4572000"/>
            <a:chExt cx="1371600" cy="685800"/>
          </a:xfrm>
        </p:grpSpPr>
        <p:sp>
          <p:nvSpPr>
            <p:cNvPr id="40" name="node09.container"/>
            <p:cNvSpPr/>
            <p:nvPr/>
          </p:nvSpPr>
          <p:spPr>
            <a:xfrm>
              <a:off x="5067300" y="4572000"/>
              <a:ext cx="1371600" cy="685800"/>
            </a:xfrm>
            <a:prstGeom prst="rect">
              <a:avLst/>
            </a:prstGeom>
            <a:solidFill>
              <a:srgbClr val="05013F"/>
            </a:solidFill>
            <a:ln>
              <a:noFill/>
            </a:ln>
          </p:spPr>
        </p:sp>
        <p:sp>
          <p:nvSpPr>
            <p:cNvPr id="41" name="node09.label"/>
            <p:cNvSpPr/>
            <p:nvPr/>
          </p:nvSpPr>
          <p:spPr>
            <a:xfrm>
              <a:off x="5143500" y="4648200"/>
              <a:ext cx="1219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IN BUILD</a:t>
              </a:r>
              <a:endParaRPr lang="en-US" sz="800" spc="48" kern="0" b="0" i="0" dirty="0">
                <a:solidFill>
                  <a:srgbClr val="F900D3"/>
                </a:solidFill>
                <a:latin typeface="IBM Plex Mono Medium"/>
                <a:ea typeface="IBM Plex Mono Medium"/>
                <a:cs typeface="IBM Plex Mono Medium"/>
              </a:endParaRPr>
            </a:p>
          </p:txBody>
        </p:sp>
        <p:sp>
          <p:nvSpPr>
            <p:cNvPr id="42" name="node09.title"/>
            <p:cNvSpPr/>
            <p:nvPr/>
          </p:nvSpPr>
          <p:spPr>
            <a:xfrm>
              <a:off x="5143500" y="4864100"/>
              <a:ext cx="1219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Build</a:t>
              </a:r>
              <a:endParaRPr lang="en-US" sz="1200" spc="0" kern="0" b="0" i="0" dirty="0">
                <a:solidFill>
                  <a:srgbClr val="FFFFFF"/>
                </a:solidFill>
                <a:latin typeface="IBM Plex Sans"/>
                <a:ea typeface="IBM Plex Sans"/>
                <a:cs typeface="IBM Plex Sans"/>
              </a:endParaRPr>
            </a:p>
          </p:txBody>
        </p:sp>
      </p:grpSp>
      <p:grpSp>
        <p:nvGrpSpPr>
          <p:cNvPr id="75" name="node10"/>
          <p:cNvGrpSpPr/>
          <p:nvPr/>
        </p:nvGrpSpPr>
        <p:grpSpPr>
          <a:xfrm>
            <a:off x="6667500" y="4572000"/>
            <a:ext cx="1371600" cy="685800"/>
            <a:chOff x="6667500" y="4572000"/>
            <a:chExt cx="1371600" cy="685800"/>
          </a:xfrm>
        </p:grpSpPr>
        <p:sp>
          <p:nvSpPr>
            <p:cNvPr id="43" name="node10.container"/>
            <p:cNvSpPr/>
            <p:nvPr/>
          </p:nvSpPr>
          <p:spPr>
            <a:xfrm>
              <a:off x="6667500" y="4572000"/>
              <a:ext cx="1371600" cy="685800"/>
            </a:xfrm>
            <a:prstGeom prst="rect">
              <a:avLst/>
            </a:prstGeom>
            <a:solidFill>
              <a:srgbClr val="05013F"/>
            </a:solidFill>
            <a:ln>
              <a:noFill/>
            </a:ln>
          </p:spPr>
        </p:sp>
        <p:sp>
          <p:nvSpPr>
            <p:cNvPr id="44" name="node10.label"/>
            <p:cNvSpPr/>
            <p:nvPr/>
          </p:nvSpPr>
          <p:spPr>
            <a:xfrm>
              <a:off x="6743700" y="4648200"/>
              <a:ext cx="1219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IN BUILD</a:t>
              </a:r>
              <a:endParaRPr lang="en-US" sz="800" spc="48" kern="0" b="0" i="0" dirty="0">
                <a:solidFill>
                  <a:srgbClr val="F900D3"/>
                </a:solidFill>
                <a:latin typeface="IBM Plex Mono Medium"/>
                <a:ea typeface="IBM Plex Mono Medium"/>
                <a:cs typeface="IBM Plex Mono Medium"/>
              </a:endParaRPr>
            </a:p>
          </p:txBody>
        </p:sp>
        <p:sp>
          <p:nvSpPr>
            <p:cNvPr id="45" name="node10.title"/>
            <p:cNvSpPr/>
            <p:nvPr/>
          </p:nvSpPr>
          <p:spPr>
            <a:xfrm>
              <a:off x="6743700" y="4864100"/>
              <a:ext cx="1219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Test</a:t>
              </a:r>
              <a:endParaRPr lang="en-US" sz="1200" spc="0" kern="0" b="0" i="0" dirty="0">
                <a:solidFill>
                  <a:srgbClr val="FFFFFF"/>
                </a:solidFill>
                <a:latin typeface="IBM Plex Sans"/>
                <a:ea typeface="IBM Plex Sans"/>
                <a:cs typeface="IBM Plex Sans"/>
              </a:endParaRPr>
            </a:p>
          </p:txBody>
        </p:sp>
      </p:grpSp>
      <p:grpSp>
        <p:nvGrpSpPr>
          <p:cNvPr id="76" name="node11"/>
          <p:cNvGrpSpPr/>
          <p:nvPr/>
        </p:nvGrpSpPr>
        <p:grpSpPr>
          <a:xfrm>
            <a:off x="8267700" y="4572000"/>
            <a:ext cx="1371600" cy="685800"/>
            <a:chOff x="8267700" y="4572000"/>
            <a:chExt cx="1371600" cy="685800"/>
          </a:xfrm>
        </p:grpSpPr>
        <p:sp>
          <p:nvSpPr>
            <p:cNvPr id="46" name="node11.container"/>
            <p:cNvSpPr/>
            <p:nvPr/>
          </p:nvSpPr>
          <p:spPr>
            <a:xfrm>
              <a:off x="8267700" y="4572000"/>
              <a:ext cx="1371600" cy="685800"/>
            </a:xfrm>
            <a:prstGeom prst="rect">
              <a:avLst/>
            </a:prstGeom>
            <a:solidFill>
              <a:srgbClr val="05013F"/>
            </a:solidFill>
            <a:ln>
              <a:noFill/>
            </a:ln>
          </p:spPr>
        </p:sp>
        <p:sp>
          <p:nvSpPr>
            <p:cNvPr id="47" name="node11.label"/>
            <p:cNvSpPr/>
            <p:nvPr/>
          </p:nvSpPr>
          <p:spPr>
            <a:xfrm>
              <a:off x="8343900" y="4648200"/>
              <a:ext cx="1219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IN BUILD</a:t>
              </a:r>
              <a:endParaRPr lang="en-US" sz="800" spc="48" kern="0" b="0" i="0" dirty="0">
                <a:solidFill>
                  <a:srgbClr val="F900D3"/>
                </a:solidFill>
                <a:latin typeface="IBM Plex Mono Medium"/>
                <a:ea typeface="IBM Plex Mono Medium"/>
                <a:cs typeface="IBM Plex Mono Medium"/>
              </a:endParaRPr>
            </a:p>
          </p:txBody>
        </p:sp>
        <p:sp>
          <p:nvSpPr>
            <p:cNvPr id="48" name="node11.title"/>
            <p:cNvSpPr/>
            <p:nvPr/>
          </p:nvSpPr>
          <p:spPr>
            <a:xfrm>
              <a:off x="8343900" y="4864100"/>
              <a:ext cx="1219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Verify</a:t>
              </a:r>
              <a:endParaRPr lang="en-US" sz="1200" spc="0" kern="0" b="0" i="0" dirty="0">
                <a:solidFill>
                  <a:srgbClr val="FFFFFF"/>
                </a:solidFill>
                <a:latin typeface="IBM Plex Sans"/>
                <a:ea typeface="IBM Plex Sans"/>
                <a:cs typeface="IBM Plex Sans"/>
              </a:endParaRPr>
            </a:p>
          </p:txBody>
        </p:sp>
      </p:grpSp>
      <p:grpSp>
        <p:nvGrpSpPr>
          <p:cNvPr id="77" name="node12"/>
          <p:cNvGrpSpPr/>
          <p:nvPr/>
        </p:nvGrpSpPr>
        <p:grpSpPr>
          <a:xfrm>
            <a:off x="9867900" y="4572000"/>
            <a:ext cx="1371600" cy="685800"/>
            <a:chOff x="9867900" y="4572000"/>
            <a:chExt cx="1371600" cy="685800"/>
          </a:xfrm>
        </p:grpSpPr>
        <p:sp>
          <p:nvSpPr>
            <p:cNvPr id="49" name="node12.container"/>
            <p:cNvSpPr/>
            <p:nvPr/>
          </p:nvSpPr>
          <p:spPr>
            <a:xfrm>
              <a:off x="9867900" y="4572000"/>
              <a:ext cx="1371600" cy="685800"/>
            </a:xfrm>
            <a:prstGeom prst="rect">
              <a:avLst/>
            </a:prstGeom>
            <a:solidFill>
              <a:srgbClr val="05013F"/>
            </a:solidFill>
            <a:ln>
              <a:noFill/>
            </a:ln>
          </p:spPr>
        </p:sp>
        <p:sp>
          <p:nvSpPr>
            <p:cNvPr id="50" name="node12.label"/>
            <p:cNvSpPr/>
            <p:nvPr/>
          </p:nvSpPr>
          <p:spPr>
            <a:xfrm>
              <a:off x="9944100" y="4648200"/>
              <a:ext cx="1219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IN OPTIMIZE</a:t>
              </a:r>
              <a:endParaRPr lang="en-US" sz="800" spc="48" kern="0" b="0" i="0" dirty="0">
                <a:solidFill>
                  <a:srgbClr val="F900D3"/>
                </a:solidFill>
                <a:latin typeface="IBM Plex Mono Medium"/>
                <a:ea typeface="IBM Plex Mono Medium"/>
                <a:cs typeface="IBM Plex Mono Medium"/>
              </a:endParaRPr>
            </a:p>
          </p:txBody>
        </p:sp>
        <p:sp>
          <p:nvSpPr>
            <p:cNvPr id="51" name="node12.title"/>
            <p:cNvSpPr/>
            <p:nvPr/>
          </p:nvSpPr>
          <p:spPr>
            <a:xfrm>
              <a:off x="9944100" y="4864100"/>
              <a:ext cx="1219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Release</a:t>
              </a:r>
              <a:endParaRPr lang="en-US" sz="1200" spc="0" kern="0" b="0" i="0" dirty="0">
                <a:solidFill>
                  <a:srgbClr val="FFFFFF"/>
                </a:solidFill>
                <a:latin typeface="IBM Plex Sans"/>
                <a:ea typeface="IBM Plex Sans"/>
                <a:cs typeface="IBM Plex Sans"/>
              </a:endParaRPr>
            </a:p>
          </p:txBody>
        </p:sp>
      </p:grpSp>
      <p:grpSp>
        <p:nvGrpSpPr>
          <p:cNvPr id="78" name="node13"/>
          <p:cNvGrpSpPr/>
          <p:nvPr/>
        </p:nvGrpSpPr>
        <p:grpSpPr>
          <a:xfrm>
            <a:off x="5710479" y="5257800"/>
            <a:ext cx="1642821" cy="228600"/>
            <a:chOff x="5710479" y="5257800"/>
            <a:chExt cx="1642821" cy="228600"/>
          </a:xfrm>
        </p:grpSpPr>
        <p:sp>
          <p:nvSpPr>
            <p:cNvPr id="52" name="node13.segment-1"/>
            <p:cNvSpPr/>
            <p:nvPr/>
          </p:nvSpPr>
          <p:spPr>
            <a:xfrm>
              <a:off x="7353300" y="5257800"/>
              <a:ext cx="0" cy="228600"/>
            </a:xfrm>
            <a:custGeom>
              <a:avLst/>
              <a:gdLst/>
              <a:ahLst/>
              <a:cxnLst/>
              <a:rect l="l" t="t" r="r" b="b"/>
              <a:pathLst>
                <a:path h="228600">
                  <a:moveTo>
                    <a:pt x="0" y="0"/>
                  </a:moveTo>
                  <a:lnTo>
                    <a:pt x="0" y="228600"/>
                  </a:lnTo>
                </a:path>
              </a:pathLst>
            </a:custGeom>
            <a:ln w="12700">
              <a:solidFill>
                <a:srgbClr val="0047FF"/>
              </a:solidFill>
              <a:prstDash val="dash"/>
            </a:ln>
          </p:spPr>
        </p:sp>
        <p:sp>
          <p:nvSpPr>
            <p:cNvPr id="53" name="node13.segment-2"/>
            <p:cNvSpPr/>
            <p:nvPr/>
          </p:nvSpPr>
          <p:spPr>
            <a:xfrm>
              <a:off x="5753100" y="5486400"/>
              <a:ext cx="1600200" cy="0"/>
            </a:xfrm>
            <a:custGeom>
              <a:avLst/>
              <a:gdLst/>
              <a:ahLst/>
              <a:cxnLst/>
              <a:rect l="l" t="t" r="r" b="b"/>
              <a:pathLst>
                <a:path w="1600200">
                  <a:moveTo>
                    <a:pt x="1600200" y="0"/>
                  </a:moveTo>
                  <a:lnTo>
                    <a:pt x="0" y="0"/>
                  </a:lnTo>
                </a:path>
              </a:pathLst>
            </a:custGeom>
            <a:ln w="12700">
              <a:solidFill>
                <a:srgbClr val="0047FF"/>
              </a:solidFill>
              <a:prstDash val="dash"/>
            </a:ln>
          </p:spPr>
        </p:sp>
        <p:sp>
          <p:nvSpPr>
            <p:cNvPr id="54" name="node13.segment-3"/>
            <p:cNvSpPr/>
            <p:nvPr/>
          </p:nvSpPr>
          <p:spPr>
            <a:xfrm>
              <a:off x="5753100" y="5257800"/>
              <a:ext cx="0" cy="228600"/>
            </a:xfrm>
            <a:custGeom>
              <a:avLst/>
              <a:gdLst/>
              <a:ahLst/>
              <a:cxnLst/>
              <a:rect l="l" t="t" r="r" b="b"/>
              <a:pathLst>
                <a:path h="228600">
                  <a:moveTo>
                    <a:pt x="0" y="228600"/>
                  </a:moveTo>
                  <a:lnTo>
                    <a:pt x="0" y="0"/>
                  </a:lnTo>
                </a:path>
              </a:pathLst>
            </a:custGeom>
            <a:ln w="12700">
              <a:solidFill>
                <a:srgbClr val="0047FF"/>
              </a:solidFill>
              <a:prstDash val="dash"/>
            </a:ln>
          </p:spPr>
        </p:sp>
        <p:sp>
          <p:nvSpPr>
            <p:cNvPr id="55" name="node13.head-end.0"/>
            <p:cNvSpPr/>
            <p:nvPr/>
          </p:nvSpPr>
          <p:spPr>
            <a:xfrm>
              <a:off x="5753100" y="5257800"/>
              <a:ext cx="42621" cy="78017"/>
            </a:xfrm>
            <a:custGeom>
              <a:avLst/>
              <a:gdLst/>
              <a:ahLst/>
              <a:cxnLst/>
              <a:rect l="l" t="t" r="r" b="b"/>
              <a:pathLst>
                <a:path w="42621" h="78017">
                  <a:moveTo>
                    <a:pt x="0" y="0"/>
                  </a:moveTo>
                  <a:lnTo>
                    <a:pt x="42621" y="78017"/>
                  </a:lnTo>
                </a:path>
              </a:pathLst>
            </a:custGeom>
            <a:ln w="12700">
              <a:solidFill>
                <a:srgbClr val="0047FF"/>
              </a:solidFill>
              <a:prstDash val="solid"/>
            </a:ln>
          </p:spPr>
        </p:sp>
        <p:sp>
          <p:nvSpPr>
            <p:cNvPr id="56" name="node13.head-end.1"/>
            <p:cNvSpPr/>
            <p:nvPr/>
          </p:nvSpPr>
          <p:spPr>
            <a:xfrm>
              <a:off x="5710479" y="5257800"/>
              <a:ext cx="42621" cy="78017"/>
            </a:xfrm>
            <a:custGeom>
              <a:avLst/>
              <a:gdLst/>
              <a:ahLst/>
              <a:cxnLst/>
              <a:rect l="l" t="t" r="r" b="b"/>
              <a:pathLst>
                <a:path w="42621" h="78017">
                  <a:moveTo>
                    <a:pt x="42621" y="0"/>
                  </a:moveTo>
                  <a:lnTo>
                    <a:pt x="0" y="78017"/>
                  </a:lnTo>
                </a:path>
              </a:pathLst>
            </a:custGeom>
            <a:ln w="12700">
              <a:solidFill>
                <a:srgbClr val="0047FF"/>
              </a:solidFill>
              <a:prstDash val="solid"/>
            </a:ln>
          </p:spPr>
        </p:sp>
      </p:grpSp>
      <p:grpSp>
        <p:nvGrpSpPr>
          <p:cNvPr id="79" name="node14"/>
          <p:cNvGrpSpPr/>
          <p:nvPr/>
        </p:nvGrpSpPr>
        <p:grpSpPr>
          <a:xfrm>
            <a:off x="4110279" y="5257800"/>
            <a:ext cx="4843221" cy="457200"/>
            <a:chOff x="4110279" y="5257800"/>
            <a:chExt cx="4843221" cy="457200"/>
          </a:xfrm>
        </p:grpSpPr>
        <p:sp>
          <p:nvSpPr>
            <p:cNvPr id="57" name="node14.segment-1"/>
            <p:cNvSpPr/>
            <p:nvPr/>
          </p:nvSpPr>
          <p:spPr>
            <a:xfrm>
              <a:off x="8953500" y="5257800"/>
              <a:ext cx="0" cy="457200"/>
            </a:xfrm>
            <a:custGeom>
              <a:avLst/>
              <a:gdLst/>
              <a:ahLst/>
              <a:cxnLst/>
              <a:rect l="l" t="t" r="r" b="b"/>
              <a:pathLst>
                <a:path h="457200">
                  <a:moveTo>
                    <a:pt x="0" y="0"/>
                  </a:moveTo>
                  <a:lnTo>
                    <a:pt x="0" y="457200"/>
                  </a:lnTo>
                </a:path>
              </a:pathLst>
            </a:custGeom>
            <a:ln w="12700">
              <a:solidFill>
                <a:srgbClr val="0047FF"/>
              </a:solidFill>
              <a:prstDash val="dash"/>
            </a:ln>
          </p:spPr>
        </p:sp>
        <p:sp>
          <p:nvSpPr>
            <p:cNvPr id="58" name="node14.segment-2"/>
            <p:cNvSpPr/>
            <p:nvPr/>
          </p:nvSpPr>
          <p:spPr>
            <a:xfrm>
              <a:off x="4152900" y="5715000"/>
              <a:ext cx="4800600" cy="0"/>
            </a:xfrm>
            <a:custGeom>
              <a:avLst/>
              <a:gdLst/>
              <a:ahLst/>
              <a:cxnLst/>
              <a:rect l="l" t="t" r="r" b="b"/>
              <a:pathLst>
                <a:path w="4800600">
                  <a:moveTo>
                    <a:pt x="4800600" y="0"/>
                  </a:moveTo>
                  <a:lnTo>
                    <a:pt x="0" y="0"/>
                  </a:lnTo>
                </a:path>
              </a:pathLst>
            </a:custGeom>
            <a:ln w="12700">
              <a:solidFill>
                <a:srgbClr val="0047FF"/>
              </a:solidFill>
              <a:prstDash val="dash"/>
            </a:ln>
          </p:spPr>
        </p:sp>
        <p:sp>
          <p:nvSpPr>
            <p:cNvPr id="59" name="node14.segment-3"/>
            <p:cNvSpPr/>
            <p:nvPr/>
          </p:nvSpPr>
          <p:spPr>
            <a:xfrm>
              <a:off x="4152900" y="5257800"/>
              <a:ext cx="0" cy="457200"/>
            </a:xfrm>
            <a:custGeom>
              <a:avLst/>
              <a:gdLst/>
              <a:ahLst/>
              <a:cxnLst/>
              <a:rect l="l" t="t" r="r" b="b"/>
              <a:pathLst>
                <a:path h="457200">
                  <a:moveTo>
                    <a:pt x="0" y="457200"/>
                  </a:moveTo>
                  <a:lnTo>
                    <a:pt x="0" y="0"/>
                  </a:lnTo>
                </a:path>
              </a:pathLst>
            </a:custGeom>
            <a:ln w="12700">
              <a:solidFill>
                <a:srgbClr val="0047FF"/>
              </a:solidFill>
              <a:prstDash val="dash"/>
            </a:ln>
          </p:spPr>
        </p:sp>
        <p:sp>
          <p:nvSpPr>
            <p:cNvPr id="60" name="node14.head-end.0"/>
            <p:cNvSpPr/>
            <p:nvPr/>
          </p:nvSpPr>
          <p:spPr>
            <a:xfrm>
              <a:off x="4152900" y="5257800"/>
              <a:ext cx="42621" cy="78017"/>
            </a:xfrm>
            <a:custGeom>
              <a:avLst/>
              <a:gdLst/>
              <a:ahLst/>
              <a:cxnLst/>
              <a:rect l="l" t="t" r="r" b="b"/>
              <a:pathLst>
                <a:path w="42621" h="78017">
                  <a:moveTo>
                    <a:pt x="0" y="0"/>
                  </a:moveTo>
                  <a:lnTo>
                    <a:pt x="42621" y="78017"/>
                  </a:lnTo>
                </a:path>
              </a:pathLst>
            </a:custGeom>
            <a:ln w="12700">
              <a:solidFill>
                <a:srgbClr val="0047FF"/>
              </a:solidFill>
              <a:prstDash val="solid"/>
            </a:ln>
          </p:spPr>
        </p:sp>
        <p:sp>
          <p:nvSpPr>
            <p:cNvPr id="61" name="node14.head-end.1"/>
            <p:cNvSpPr/>
            <p:nvPr/>
          </p:nvSpPr>
          <p:spPr>
            <a:xfrm>
              <a:off x="4110279" y="5257800"/>
              <a:ext cx="42621" cy="78017"/>
            </a:xfrm>
            <a:custGeom>
              <a:avLst/>
              <a:gdLst/>
              <a:ahLst/>
              <a:cxnLst/>
              <a:rect l="l" t="t" r="r" b="b"/>
              <a:pathLst>
                <a:path w="42621" h="78017">
                  <a:moveTo>
                    <a:pt x="42621" y="0"/>
                  </a:moveTo>
                  <a:lnTo>
                    <a:pt x="0" y="78017"/>
                  </a:lnTo>
                </a:path>
              </a:pathLst>
            </a:custGeom>
            <a:ln w="12700">
              <a:solidFill>
                <a:srgbClr val="0047FF"/>
              </a:solidFill>
              <a:prstDash val="solid"/>
            </a:ln>
          </p:spPr>
        </p:sp>
      </p:grpSp>
      <p:grpSp>
        <p:nvGrpSpPr>
          <p:cNvPr id="80" name="node15"/>
          <p:cNvGrpSpPr/>
          <p:nvPr/>
        </p:nvGrpSpPr>
        <p:grpSpPr>
          <a:xfrm>
            <a:off x="723900" y="4000500"/>
            <a:ext cx="2514600" cy="139700"/>
            <a:chOff x="723900" y="4000500"/>
            <a:chExt cx="2514600" cy="139700"/>
          </a:xfrm>
        </p:grpSpPr>
        <p:sp>
          <p:nvSpPr>
            <p:cNvPr id="62" name="node15.text"/>
            <p:cNvSpPr/>
            <p:nvPr/>
          </p:nvSpPr>
          <p:spPr>
            <a:xfrm>
              <a:off x="723900" y="40005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PDLC: THE SUPERSET</a:t>
              </a:r>
              <a:endParaRPr lang="en-US" sz="800" spc="48" kern="0" b="0" i="0" dirty="0">
                <a:solidFill>
                  <a:srgbClr val="0047FF"/>
                </a:solidFill>
                <a:latin typeface="IBM Plex Mono Medium"/>
                <a:ea typeface="IBM Plex Mono Medium"/>
                <a:cs typeface="IBM Plex Mono Medium"/>
              </a:endParaRPr>
            </a:p>
          </p:txBody>
        </p:sp>
      </p:grpSp>
      <p:grpSp>
        <p:nvGrpSpPr>
          <p:cNvPr id="81" name="node16"/>
          <p:cNvGrpSpPr/>
          <p:nvPr/>
        </p:nvGrpSpPr>
        <p:grpSpPr>
          <a:xfrm>
            <a:off x="723900" y="4343400"/>
            <a:ext cx="2514600" cy="381000"/>
            <a:chOff x="723900" y="4343400"/>
            <a:chExt cx="2514600" cy="381000"/>
          </a:xfrm>
        </p:grpSpPr>
        <p:sp>
          <p:nvSpPr>
            <p:cNvPr id="63" name="node16.text"/>
            <p:cNvSpPr/>
            <p:nvPr/>
          </p:nvSpPr>
          <p:spPr>
            <a:xfrm>
              <a:off x="723900" y="4343400"/>
              <a:ext cx="2514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Four phases that loop back. Identify happens before engineering starts.</a:t>
              </a:r>
              <a:endParaRPr lang="en-US" sz="1100" spc="0" kern="0" b="0" i="0" dirty="0">
                <a:solidFill>
                  <a:srgbClr val="070154"/>
                </a:solidFill>
                <a:latin typeface="IBM Plex Sans"/>
                <a:ea typeface="IBM Plex Sans"/>
                <a:cs typeface="IBM Plex Sans"/>
              </a:endParaRPr>
            </a:p>
          </p:txBody>
        </p:sp>
      </p:grpSp>
      <p:grpSp>
        <p:nvGrpSpPr>
          <p:cNvPr id="82" name="node17"/>
          <p:cNvGrpSpPr/>
          <p:nvPr/>
        </p:nvGrpSpPr>
        <p:grpSpPr>
          <a:xfrm>
            <a:off x="723900" y="5143500"/>
            <a:ext cx="2514600" cy="139700"/>
            <a:chOff x="723900" y="5143500"/>
            <a:chExt cx="2514600" cy="139700"/>
          </a:xfrm>
        </p:grpSpPr>
        <p:sp>
          <p:nvSpPr>
            <p:cNvPr id="64" name="node17.text"/>
            <p:cNvSpPr/>
            <p:nvPr/>
          </p:nvSpPr>
          <p:spPr>
            <a:xfrm>
              <a:off x="723900" y="51435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SDLC: A SUBSET</a:t>
              </a:r>
              <a:endParaRPr lang="en-US" sz="800" spc="48" kern="0" b="0" i="0" dirty="0">
                <a:solidFill>
                  <a:srgbClr val="0047FF"/>
                </a:solidFill>
                <a:latin typeface="IBM Plex Mono Medium"/>
                <a:ea typeface="IBM Plex Mono Medium"/>
                <a:cs typeface="IBM Plex Mono Medium"/>
              </a:endParaRPr>
            </a:p>
          </p:txBody>
        </p:sp>
      </p:grpSp>
      <p:grpSp>
        <p:nvGrpSpPr>
          <p:cNvPr id="83" name="node18"/>
          <p:cNvGrpSpPr/>
          <p:nvPr/>
        </p:nvGrpSpPr>
        <p:grpSpPr>
          <a:xfrm>
            <a:off x="723900" y="5486400"/>
            <a:ext cx="2514600" cy="190500"/>
            <a:chOff x="723900" y="5486400"/>
            <a:chExt cx="2514600" cy="190500"/>
          </a:xfrm>
        </p:grpSpPr>
        <p:sp>
          <p:nvSpPr>
            <p:cNvPr id="65" name="node18.text"/>
            <p:cNvSpPr/>
            <p:nvPr/>
          </p:nvSpPr>
          <p:spPr>
            <a:xfrm>
              <a:off x="723900" y="54864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Five steps that loop back on defects.</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ource-347">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The SDLC is a slice of the PDLC</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104</a:t>
            </a:fld>
            <a:endParaRPr lang="en-US" sz="700" spc="0" kern="0" b="0" i="0" dirty="0">
              <a:solidFill>
                <a:srgbClr val="070154"/>
              </a:solidFill>
              <a:latin typeface="IBM Plex Mono SemiBold"/>
              <a:ea typeface="IBM Plex Mono SemiBold"/>
              <a:cs typeface="IBM Plex Mono SemiBold"/>
            </a:endParaRPr>
          </a:p>
        </p:txBody>
      </p:sp>
      <p:grpSp>
        <p:nvGrpSpPr>
          <p:cNvPr id="139" name="node01"/>
          <p:cNvGrpSpPr/>
          <p:nvPr/>
        </p:nvGrpSpPr>
        <p:grpSpPr>
          <a:xfrm>
            <a:off x="723900" y="2286000"/>
            <a:ext cx="3429000" cy="901700"/>
            <a:chOff x="723900" y="2286000"/>
            <a:chExt cx="3429000" cy="901700"/>
          </a:xfrm>
        </p:grpSpPr>
        <p:sp>
          <p:nvSpPr>
            <p:cNvPr id="6" name="node01.source-001.bullet"/>
            <p:cNvSpPr/>
            <p:nvPr/>
          </p:nvSpPr>
          <p:spPr>
            <a:xfrm>
              <a:off x="723900" y="2374900"/>
              <a:ext cx="38100" cy="38100"/>
            </a:xfrm>
            <a:prstGeom prst="rect">
              <a:avLst/>
            </a:prstGeom>
            <a:solidFill>
              <a:srgbClr val="070154"/>
            </a:solidFill>
            <a:ln>
              <a:noFill/>
            </a:ln>
          </p:spPr>
        </p:sp>
        <p:sp>
          <p:nvSpPr>
            <p:cNvPr id="7" name="node01.source-001.text"/>
            <p:cNvSpPr/>
            <p:nvPr/>
          </p:nvSpPr>
          <p:spPr>
            <a:xfrm>
              <a:off x="876300" y="22860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PDLC.</a:t>
              </a:r>
              <a:r>
                <a:rPr lang="en-US" sz="1200" spc="0" kern="0" b="0" i="0" dirty="0">
                  <a:solidFill>
                    <a:srgbClr val="50658E"/>
                  </a:solidFill>
                  <a:latin typeface="IBM Plex Sans"/>
                  <a:ea typeface="IBM Plex Sans"/>
                  <a:cs typeface="IBM Plex Sans"/>
                </a:rPr>
                <a:t xml:space="preserve"> The superset, from problem to proven value.</a:t>
              </a:r>
              <a:endParaRPr lang="en-US" sz="1200" spc="0" kern="0" b="0" i="0" dirty="0">
                <a:solidFill>
                  <a:srgbClr val="070154"/>
                </a:solidFill>
                <a:latin typeface="IBM Plex Sans"/>
                <a:ea typeface="IBM Plex Sans"/>
                <a:cs typeface="IBM Plex Sans"/>
              </a:endParaRPr>
            </a:p>
          </p:txBody>
        </p:sp>
        <p:sp>
          <p:nvSpPr>
            <p:cNvPr id="8" name="node01.source-002.bullet"/>
            <p:cNvSpPr/>
            <p:nvPr/>
          </p:nvSpPr>
          <p:spPr>
            <a:xfrm>
              <a:off x="723900" y="2844800"/>
              <a:ext cx="38100" cy="38100"/>
            </a:xfrm>
            <a:prstGeom prst="rect">
              <a:avLst/>
            </a:prstGeom>
            <a:solidFill>
              <a:srgbClr val="070154"/>
            </a:solidFill>
            <a:ln>
              <a:noFill/>
            </a:ln>
          </p:spPr>
        </p:sp>
        <p:sp>
          <p:nvSpPr>
            <p:cNvPr id="9" name="node01.source-002.text"/>
            <p:cNvSpPr/>
            <p:nvPr/>
          </p:nvSpPr>
          <p:spPr>
            <a:xfrm>
              <a:off x="876300" y="27559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SDLC.</a:t>
              </a:r>
              <a:r>
                <a:rPr lang="en-US" sz="1200" spc="0" kern="0" b="0" i="0" dirty="0">
                  <a:solidFill>
                    <a:srgbClr val="50658E"/>
                  </a:solidFill>
                  <a:latin typeface="IBM Plex Sans"/>
                  <a:ea typeface="IBM Plex Sans"/>
                  <a:cs typeface="IBM Plex Sans"/>
                </a:rPr>
                <a:t xml:space="preserve"> The subset that engineers and tests the product.</a:t>
              </a:r>
              <a:endParaRPr lang="en-US" sz="1200" spc="0" kern="0" b="0" i="0" dirty="0">
                <a:solidFill>
                  <a:srgbClr val="070154"/>
                </a:solidFill>
                <a:latin typeface="IBM Plex Sans"/>
                <a:ea typeface="IBM Plex Sans"/>
                <a:cs typeface="IBM Plex Sans"/>
              </a:endParaRPr>
            </a:p>
          </p:txBody>
        </p:sp>
      </p:grpSp>
      <p:grpSp>
        <p:nvGrpSpPr>
          <p:cNvPr id="140" name="node02"/>
          <p:cNvGrpSpPr/>
          <p:nvPr/>
        </p:nvGrpSpPr>
        <p:grpSpPr>
          <a:xfrm>
            <a:off x="723900" y="4343400"/>
            <a:ext cx="3429000" cy="1371600"/>
            <a:chOff x="723900" y="4343400"/>
            <a:chExt cx="3429000" cy="1371600"/>
          </a:xfrm>
        </p:grpSpPr>
        <p:sp>
          <p:nvSpPr>
            <p:cNvPr id="10" name="node02.container"/>
            <p:cNvSpPr/>
            <p:nvPr/>
          </p:nvSpPr>
          <p:spPr>
            <a:xfrm>
              <a:off x="723900" y="4343400"/>
              <a:ext cx="3429000" cy="1371600"/>
            </a:xfrm>
            <a:prstGeom prst="rect">
              <a:avLst/>
            </a:prstGeom>
            <a:solidFill>
              <a:srgbClr val="E8EEF8"/>
            </a:solidFill>
            <a:ln>
              <a:noFill/>
            </a:ln>
          </p:spPr>
        </p:sp>
        <p:sp>
          <p:nvSpPr>
            <p:cNvPr id="11" name="node02.label"/>
            <p:cNvSpPr/>
            <p:nvPr/>
          </p:nvSpPr>
          <p:spPr>
            <a:xfrm>
              <a:off x="876300" y="4495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WHERE THE SDLC SITS</a:t>
              </a:r>
              <a:endParaRPr lang="en-US" sz="800" spc="48" kern="0" b="0" i="0" dirty="0">
                <a:solidFill>
                  <a:srgbClr val="0047FF"/>
                </a:solidFill>
                <a:latin typeface="IBM Plex Mono Medium"/>
                <a:ea typeface="IBM Plex Mono Medium"/>
                <a:cs typeface="IBM Plex Mono Medium"/>
              </a:endParaRPr>
            </a:p>
          </p:txBody>
        </p:sp>
        <p:sp>
          <p:nvSpPr>
            <p:cNvPr id="12" name="node02.body.item-001.bullets.item-001.marker"/>
            <p:cNvSpPr/>
            <p:nvPr/>
          </p:nvSpPr>
          <p:spPr>
            <a:xfrm>
              <a:off x="876300" y="4800600"/>
              <a:ext cx="38100" cy="38100"/>
            </a:xfrm>
            <a:prstGeom prst="rect">
              <a:avLst/>
            </a:prstGeom>
            <a:solidFill>
              <a:srgbClr val="070154"/>
            </a:solidFill>
            <a:ln>
              <a:noFill/>
            </a:ln>
          </p:spPr>
        </p:sp>
        <p:sp>
          <p:nvSpPr>
            <p:cNvPr id="13" name="node02.body.item-001.bullets.item-001.text"/>
            <p:cNvSpPr/>
            <p:nvPr/>
          </p:nvSpPr>
          <p:spPr>
            <a:xfrm>
              <a:off x="1028700" y="47117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Design in Define</a:t>
              </a:r>
              <a:endParaRPr lang="en-US" sz="1200" spc="0" kern="0" b="0" i="0" dirty="0">
                <a:solidFill>
                  <a:srgbClr val="070154"/>
                </a:solidFill>
                <a:latin typeface="IBM Plex Sans"/>
                <a:ea typeface="IBM Plex Sans"/>
                <a:cs typeface="IBM Plex Sans"/>
              </a:endParaRPr>
            </a:p>
          </p:txBody>
        </p:sp>
        <p:sp>
          <p:nvSpPr>
            <p:cNvPr id="14" name="node02.body.item-001.bullets.item-002.marker"/>
            <p:cNvSpPr/>
            <p:nvPr/>
          </p:nvSpPr>
          <p:spPr>
            <a:xfrm>
              <a:off x="876300" y="5054600"/>
              <a:ext cx="38100" cy="38100"/>
            </a:xfrm>
            <a:prstGeom prst="rect">
              <a:avLst/>
            </a:prstGeom>
            <a:solidFill>
              <a:srgbClr val="070154"/>
            </a:solidFill>
            <a:ln>
              <a:noFill/>
            </a:ln>
          </p:spPr>
        </p:sp>
        <p:sp>
          <p:nvSpPr>
            <p:cNvPr id="15" name="node02.body.item-001.bullets.item-002.text"/>
            <p:cNvSpPr/>
            <p:nvPr/>
          </p:nvSpPr>
          <p:spPr>
            <a:xfrm>
              <a:off x="1028700" y="49657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Build, Test, Verify in Build</a:t>
              </a:r>
              <a:endParaRPr lang="en-US" sz="1200" spc="0" kern="0" b="0" i="0" dirty="0">
                <a:solidFill>
                  <a:srgbClr val="070154"/>
                </a:solidFill>
                <a:latin typeface="IBM Plex Sans"/>
                <a:ea typeface="IBM Plex Sans"/>
                <a:cs typeface="IBM Plex Sans"/>
              </a:endParaRPr>
            </a:p>
          </p:txBody>
        </p:sp>
        <p:sp>
          <p:nvSpPr>
            <p:cNvPr id="16" name="node02.body.item-001.bullets.item-003.marker"/>
            <p:cNvSpPr/>
            <p:nvPr/>
          </p:nvSpPr>
          <p:spPr>
            <a:xfrm>
              <a:off x="876300" y="5308600"/>
              <a:ext cx="38100" cy="38100"/>
            </a:xfrm>
            <a:prstGeom prst="rect">
              <a:avLst/>
            </a:prstGeom>
            <a:solidFill>
              <a:srgbClr val="070154"/>
            </a:solidFill>
            <a:ln>
              <a:noFill/>
            </a:ln>
          </p:spPr>
        </p:sp>
        <p:sp>
          <p:nvSpPr>
            <p:cNvPr id="17" name="node02.body.item-001.bullets.item-003.text"/>
            <p:cNvSpPr/>
            <p:nvPr/>
          </p:nvSpPr>
          <p:spPr>
            <a:xfrm>
              <a:off x="1028700" y="52197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Release in Optimize</a:t>
              </a:r>
              <a:endParaRPr lang="en-US" sz="1200" spc="0" kern="0" b="0" i="0" dirty="0">
                <a:solidFill>
                  <a:srgbClr val="070154"/>
                </a:solidFill>
                <a:latin typeface="IBM Plex Sans"/>
                <a:ea typeface="IBM Plex Sans"/>
                <a:cs typeface="IBM Plex Sans"/>
              </a:endParaRPr>
            </a:p>
          </p:txBody>
        </p:sp>
      </p:grpSp>
      <p:grpSp>
        <p:nvGrpSpPr>
          <p:cNvPr id="141" name="node03"/>
          <p:cNvGrpSpPr/>
          <p:nvPr/>
        </p:nvGrpSpPr>
        <p:grpSpPr>
          <a:xfrm>
            <a:off x="4381500" y="685800"/>
            <a:ext cx="7086600" cy="2514600"/>
            <a:chOff x="4381500" y="685800"/>
            <a:chExt cx="7086600" cy="2514600"/>
          </a:xfrm>
        </p:grpSpPr>
        <p:sp>
          <p:nvSpPr>
            <p:cNvPr id="18" name="node03.items.source-001.arc"/>
            <p:cNvSpPr/>
            <p:nvPr/>
          </p:nvSpPr>
          <p:spPr>
            <a:xfrm>
              <a:off x="8712434" y="990874"/>
              <a:ext cx="1861794" cy="581141"/>
            </a:xfrm>
            <a:custGeom>
              <a:avLst/>
              <a:gdLst/>
              <a:ahLst/>
              <a:cxnLst/>
              <a:rect l="l" t="t" r="r" b="b"/>
              <a:pathLst>
                <a:path w="1861794" h="581141">
                  <a:moveTo>
                    <a:pt x="0" y="0"/>
                  </a:moveTo>
                  <a:lnTo>
                    <a:pt x="103284" y="11004"/>
                  </a:lnTo>
                  <a:lnTo>
                    <a:pt x="205294" y="23353"/>
                  </a:lnTo>
                  <a:lnTo>
                    <a:pt x="305884" y="37031"/>
                  </a:lnTo>
                  <a:lnTo>
                    <a:pt x="404911" y="52017"/>
                  </a:lnTo>
                  <a:lnTo>
                    <a:pt x="502232" y="68290"/>
                  </a:lnTo>
                  <a:lnTo>
                    <a:pt x="597710" y="85828"/>
                  </a:lnTo>
                  <a:lnTo>
                    <a:pt x="691206" y="104604"/>
                  </a:lnTo>
                  <a:lnTo>
                    <a:pt x="782588" y="124592"/>
                  </a:lnTo>
                  <a:lnTo>
                    <a:pt x="871725" y="145763"/>
                  </a:lnTo>
                  <a:lnTo>
                    <a:pt x="958489" y="168088"/>
                  </a:lnTo>
                  <a:lnTo>
                    <a:pt x="1042757" y="191533"/>
                  </a:lnTo>
                  <a:lnTo>
                    <a:pt x="1124407" y="216067"/>
                  </a:lnTo>
                  <a:lnTo>
                    <a:pt x="1203323" y="241653"/>
                  </a:lnTo>
                  <a:lnTo>
                    <a:pt x="1279393" y="268254"/>
                  </a:lnTo>
                  <a:lnTo>
                    <a:pt x="1352507" y="295834"/>
                  </a:lnTo>
                  <a:lnTo>
                    <a:pt x="1422561" y="324353"/>
                  </a:lnTo>
                  <a:lnTo>
                    <a:pt x="1489455" y="353769"/>
                  </a:lnTo>
                  <a:lnTo>
                    <a:pt x="1553093" y="384041"/>
                  </a:lnTo>
                  <a:lnTo>
                    <a:pt x="1613384" y="415125"/>
                  </a:lnTo>
                  <a:lnTo>
                    <a:pt x="1670242" y="446978"/>
                  </a:lnTo>
                  <a:lnTo>
                    <a:pt x="1723586" y="479552"/>
                  </a:lnTo>
                  <a:lnTo>
                    <a:pt x="1773339" y="512803"/>
                  </a:lnTo>
                  <a:lnTo>
                    <a:pt x="1819431" y="546682"/>
                  </a:lnTo>
                  <a:lnTo>
                    <a:pt x="1861794" y="581141"/>
                  </a:lnTo>
                </a:path>
              </a:pathLst>
            </a:custGeom>
            <a:ln w="25400">
              <a:solidFill>
                <a:srgbClr val="070154"/>
              </a:solidFill>
              <a:prstDash val="solid"/>
            </a:ln>
          </p:spPr>
        </p:sp>
        <p:sp>
          <p:nvSpPr>
            <p:cNvPr id="19" name="node03.items.source-001.arc.cap-1"/>
            <p:cNvSpPr/>
            <p:nvPr/>
          </p:nvSpPr>
          <p:spPr>
            <a:xfrm>
              <a:off x="8699734" y="978174"/>
              <a:ext cx="25400" cy="25400"/>
            </a:xfrm>
            <a:prstGeom prst="ellipse">
              <a:avLst/>
            </a:prstGeom>
            <a:solidFill>
              <a:srgbClr val="070154"/>
            </a:solidFill>
            <a:ln>
              <a:noFill/>
            </a:ln>
          </p:spPr>
        </p:sp>
        <p:sp>
          <p:nvSpPr>
            <p:cNvPr id="20" name="node03.items.source-001.arc.cap-2"/>
            <p:cNvSpPr/>
            <p:nvPr/>
          </p:nvSpPr>
          <p:spPr>
            <a:xfrm>
              <a:off x="10561528" y="1559315"/>
              <a:ext cx="25400" cy="25400"/>
            </a:xfrm>
            <a:prstGeom prst="ellipse">
              <a:avLst/>
            </a:prstGeom>
            <a:solidFill>
              <a:srgbClr val="070154"/>
            </a:solidFill>
            <a:ln>
              <a:noFill/>
            </a:ln>
          </p:spPr>
        </p:sp>
        <p:sp>
          <p:nvSpPr>
            <p:cNvPr id="21" name="node03.items.source-001.arc.arrow-1"/>
            <p:cNvSpPr/>
            <p:nvPr/>
          </p:nvSpPr>
          <p:spPr>
            <a:xfrm>
              <a:off x="10461834" y="1551230"/>
              <a:ext cx="112394" cy="20785"/>
            </a:xfrm>
            <a:custGeom>
              <a:avLst/>
              <a:gdLst/>
              <a:ahLst/>
              <a:cxnLst/>
              <a:rect l="l" t="t" r="r" b="b"/>
              <a:pathLst>
                <a:path w="112394" h="20785">
                  <a:moveTo>
                    <a:pt x="112394" y="20785"/>
                  </a:moveTo>
                  <a:lnTo>
                    <a:pt x="0" y="0"/>
                  </a:lnTo>
                </a:path>
              </a:pathLst>
            </a:custGeom>
            <a:ln w="25400">
              <a:solidFill>
                <a:srgbClr val="070154"/>
              </a:solidFill>
              <a:prstDash val="solid"/>
            </a:ln>
          </p:spPr>
        </p:sp>
        <p:sp>
          <p:nvSpPr>
            <p:cNvPr id="22" name="node03.items.source-001.arc.arrow-1.cap-1"/>
            <p:cNvSpPr/>
            <p:nvPr/>
          </p:nvSpPr>
          <p:spPr>
            <a:xfrm>
              <a:off x="10561528" y="1559315"/>
              <a:ext cx="25400" cy="25400"/>
            </a:xfrm>
            <a:prstGeom prst="ellipse">
              <a:avLst/>
            </a:prstGeom>
            <a:solidFill>
              <a:srgbClr val="070154"/>
            </a:solidFill>
            <a:ln>
              <a:noFill/>
            </a:ln>
          </p:spPr>
        </p:sp>
        <p:sp>
          <p:nvSpPr>
            <p:cNvPr id="23" name="node03.items.source-001.arc.arrow-1.cap-2"/>
            <p:cNvSpPr/>
            <p:nvPr/>
          </p:nvSpPr>
          <p:spPr>
            <a:xfrm>
              <a:off x="10449134" y="1538530"/>
              <a:ext cx="25400" cy="25400"/>
            </a:xfrm>
            <a:prstGeom prst="ellipse">
              <a:avLst/>
            </a:prstGeom>
            <a:solidFill>
              <a:srgbClr val="070154"/>
            </a:solidFill>
            <a:ln>
              <a:noFill/>
            </a:ln>
          </p:spPr>
        </p:sp>
        <p:sp>
          <p:nvSpPr>
            <p:cNvPr id="24" name="node03.items.source-001.arc.arrow-2"/>
            <p:cNvSpPr/>
            <p:nvPr/>
          </p:nvSpPr>
          <p:spPr>
            <a:xfrm>
              <a:off x="10530991" y="1466208"/>
              <a:ext cx="43237" cy="105807"/>
            </a:xfrm>
            <a:custGeom>
              <a:avLst/>
              <a:gdLst/>
              <a:ahLst/>
              <a:cxnLst/>
              <a:rect l="l" t="t" r="r" b="b"/>
              <a:pathLst>
                <a:path w="43237" h="105807">
                  <a:moveTo>
                    <a:pt x="43237" y="105807"/>
                  </a:moveTo>
                  <a:lnTo>
                    <a:pt x="0" y="0"/>
                  </a:lnTo>
                </a:path>
              </a:pathLst>
            </a:custGeom>
            <a:ln w="25400">
              <a:solidFill>
                <a:srgbClr val="070154"/>
              </a:solidFill>
              <a:prstDash val="solid"/>
            </a:ln>
          </p:spPr>
        </p:sp>
        <p:sp>
          <p:nvSpPr>
            <p:cNvPr id="25" name="node03.items.source-001.arc.arrow-2.cap-1"/>
            <p:cNvSpPr/>
            <p:nvPr/>
          </p:nvSpPr>
          <p:spPr>
            <a:xfrm>
              <a:off x="10561528" y="1559315"/>
              <a:ext cx="25400" cy="25400"/>
            </a:xfrm>
            <a:prstGeom prst="ellipse">
              <a:avLst/>
            </a:prstGeom>
            <a:solidFill>
              <a:srgbClr val="070154"/>
            </a:solidFill>
            <a:ln>
              <a:noFill/>
            </a:ln>
          </p:spPr>
        </p:sp>
        <p:sp>
          <p:nvSpPr>
            <p:cNvPr id="26" name="node03.items.source-001.arc.arrow-2.cap-2"/>
            <p:cNvSpPr/>
            <p:nvPr/>
          </p:nvSpPr>
          <p:spPr>
            <a:xfrm>
              <a:off x="10518291" y="1453508"/>
              <a:ext cx="25400" cy="25400"/>
            </a:xfrm>
            <a:prstGeom prst="ellipse">
              <a:avLst/>
            </a:prstGeom>
            <a:solidFill>
              <a:srgbClr val="070154"/>
            </a:solidFill>
            <a:ln>
              <a:noFill/>
            </a:ln>
          </p:spPr>
        </p:sp>
        <p:sp>
          <p:nvSpPr>
            <p:cNvPr id="27" name="node03.items.source-002.arc"/>
            <p:cNvSpPr/>
            <p:nvPr/>
          </p:nvSpPr>
          <p:spPr>
            <a:xfrm>
              <a:off x="8712434" y="2314185"/>
              <a:ext cx="1861794" cy="581141"/>
            </a:xfrm>
            <a:custGeom>
              <a:avLst/>
              <a:gdLst/>
              <a:ahLst/>
              <a:cxnLst/>
              <a:rect l="l" t="t" r="r" b="b"/>
              <a:pathLst>
                <a:path w="1861794" h="581141">
                  <a:moveTo>
                    <a:pt x="1861794" y="0"/>
                  </a:moveTo>
                  <a:lnTo>
                    <a:pt x="1819431" y="34459"/>
                  </a:lnTo>
                  <a:lnTo>
                    <a:pt x="1773339" y="68338"/>
                  </a:lnTo>
                  <a:lnTo>
                    <a:pt x="1723586" y="101588"/>
                  </a:lnTo>
                  <a:lnTo>
                    <a:pt x="1670242" y="134163"/>
                  </a:lnTo>
                  <a:lnTo>
                    <a:pt x="1613384" y="166015"/>
                  </a:lnTo>
                  <a:lnTo>
                    <a:pt x="1553093" y="197100"/>
                  </a:lnTo>
                  <a:lnTo>
                    <a:pt x="1489455" y="227371"/>
                  </a:lnTo>
                  <a:lnTo>
                    <a:pt x="1422561" y="256788"/>
                  </a:lnTo>
                  <a:lnTo>
                    <a:pt x="1352507" y="285306"/>
                  </a:lnTo>
                  <a:lnTo>
                    <a:pt x="1279393" y="312886"/>
                  </a:lnTo>
                  <a:lnTo>
                    <a:pt x="1203323" y="339488"/>
                  </a:lnTo>
                  <a:lnTo>
                    <a:pt x="1124407" y="365074"/>
                  </a:lnTo>
                  <a:lnTo>
                    <a:pt x="1042757" y="389607"/>
                  </a:lnTo>
                  <a:lnTo>
                    <a:pt x="958489" y="413053"/>
                  </a:lnTo>
                  <a:lnTo>
                    <a:pt x="871725" y="435378"/>
                  </a:lnTo>
                  <a:lnTo>
                    <a:pt x="782588" y="456549"/>
                  </a:lnTo>
                  <a:lnTo>
                    <a:pt x="691206" y="476537"/>
                  </a:lnTo>
                  <a:lnTo>
                    <a:pt x="597710" y="495313"/>
                  </a:lnTo>
                  <a:lnTo>
                    <a:pt x="502232" y="512850"/>
                  </a:lnTo>
                  <a:lnTo>
                    <a:pt x="404911" y="529124"/>
                  </a:lnTo>
                  <a:lnTo>
                    <a:pt x="305884" y="544110"/>
                  </a:lnTo>
                  <a:lnTo>
                    <a:pt x="205294" y="557787"/>
                  </a:lnTo>
                  <a:lnTo>
                    <a:pt x="103284" y="570137"/>
                  </a:lnTo>
                  <a:lnTo>
                    <a:pt x="0" y="581141"/>
                  </a:lnTo>
                </a:path>
              </a:pathLst>
            </a:custGeom>
            <a:ln w="25400">
              <a:solidFill>
                <a:srgbClr val="070154"/>
              </a:solidFill>
              <a:prstDash val="solid"/>
            </a:ln>
          </p:spPr>
        </p:sp>
        <p:sp>
          <p:nvSpPr>
            <p:cNvPr id="28" name="node03.items.source-002.arc.cap-1"/>
            <p:cNvSpPr/>
            <p:nvPr/>
          </p:nvSpPr>
          <p:spPr>
            <a:xfrm>
              <a:off x="10561528" y="2301485"/>
              <a:ext cx="25400" cy="25400"/>
            </a:xfrm>
            <a:prstGeom prst="ellipse">
              <a:avLst/>
            </a:prstGeom>
            <a:solidFill>
              <a:srgbClr val="070154"/>
            </a:solidFill>
            <a:ln>
              <a:noFill/>
            </a:ln>
          </p:spPr>
        </p:sp>
        <p:sp>
          <p:nvSpPr>
            <p:cNvPr id="29" name="node03.items.source-002.arc.cap-2"/>
            <p:cNvSpPr/>
            <p:nvPr/>
          </p:nvSpPr>
          <p:spPr>
            <a:xfrm>
              <a:off x="8699734" y="2882626"/>
              <a:ext cx="25400" cy="25400"/>
            </a:xfrm>
            <a:prstGeom prst="ellipse">
              <a:avLst/>
            </a:prstGeom>
            <a:solidFill>
              <a:srgbClr val="070154"/>
            </a:solidFill>
            <a:ln>
              <a:noFill/>
            </a:ln>
          </p:spPr>
        </p:sp>
        <p:sp>
          <p:nvSpPr>
            <p:cNvPr id="30" name="node03.items.source-002.arc.arrow-1"/>
            <p:cNvSpPr/>
            <p:nvPr/>
          </p:nvSpPr>
          <p:spPr>
            <a:xfrm>
              <a:off x="8712434" y="2830209"/>
              <a:ext cx="93938" cy="65116"/>
            </a:xfrm>
            <a:custGeom>
              <a:avLst/>
              <a:gdLst/>
              <a:ahLst/>
              <a:cxnLst/>
              <a:rect l="l" t="t" r="r" b="b"/>
              <a:pathLst>
                <a:path w="93938" h="65116">
                  <a:moveTo>
                    <a:pt x="0" y="65116"/>
                  </a:moveTo>
                  <a:lnTo>
                    <a:pt x="93938" y="0"/>
                  </a:lnTo>
                </a:path>
              </a:pathLst>
            </a:custGeom>
            <a:ln w="25400">
              <a:solidFill>
                <a:srgbClr val="070154"/>
              </a:solidFill>
              <a:prstDash val="solid"/>
            </a:ln>
          </p:spPr>
        </p:sp>
        <p:sp>
          <p:nvSpPr>
            <p:cNvPr id="31" name="node03.items.source-002.arc.arrow-1.cap-1"/>
            <p:cNvSpPr/>
            <p:nvPr/>
          </p:nvSpPr>
          <p:spPr>
            <a:xfrm>
              <a:off x="8699734" y="2882626"/>
              <a:ext cx="25400" cy="25400"/>
            </a:xfrm>
            <a:prstGeom prst="ellipse">
              <a:avLst/>
            </a:prstGeom>
            <a:solidFill>
              <a:srgbClr val="070154"/>
            </a:solidFill>
            <a:ln>
              <a:noFill/>
            </a:ln>
          </p:spPr>
        </p:sp>
        <p:sp>
          <p:nvSpPr>
            <p:cNvPr id="32" name="node03.items.source-002.arc.arrow-1.cap-2"/>
            <p:cNvSpPr/>
            <p:nvPr/>
          </p:nvSpPr>
          <p:spPr>
            <a:xfrm>
              <a:off x="8793672" y="2817509"/>
              <a:ext cx="25400" cy="25400"/>
            </a:xfrm>
            <a:prstGeom prst="ellipse">
              <a:avLst/>
            </a:prstGeom>
            <a:solidFill>
              <a:srgbClr val="070154"/>
            </a:solidFill>
            <a:ln>
              <a:noFill/>
            </a:ln>
          </p:spPr>
        </p:sp>
        <p:sp>
          <p:nvSpPr>
            <p:cNvPr id="33" name="node03.items.source-002.arc.arrow-2"/>
            <p:cNvSpPr/>
            <p:nvPr/>
          </p:nvSpPr>
          <p:spPr>
            <a:xfrm>
              <a:off x="8712434" y="2895326"/>
              <a:ext cx="105548" cy="43864"/>
            </a:xfrm>
            <a:custGeom>
              <a:avLst/>
              <a:gdLst/>
              <a:ahLst/>
              <a:cxnLst/>
              <a:rect l="l" t="t" r="r" b="b"/>
              <a:pathLst>
                <a:path w="105548" h="43864">
                  <a:moveTo>
                    <a:pt x="0" y="0"/>
                  </a:moveTo>
                  <a:lnTo>
                    <a:pt x="105548" y="43864"/>
                  </a:lnTo>
                </a:path>
              </a:pathLst>
            </a:custGeom>
            <a:ln w="25400">
              <a:solidFill>
                <a:srgbClr val="070154"/>
              </a:solidFill>
              <a:prstDash val="solid"/>
            </a:ln>
          </p:spPr>
        </p:sp>
        <p:sp>
          <p:nvSpPr>
            <p:cNvPr id="34" name="node03.items.source-002.arc.arrow-2.cap-1"/>
            <p:cNvSpPr/>
            <p:nvPr/>
          </p:nvSpPr>
          <p:spPr>
            <a:xfrm>
              <a:off x="8699734" y="2882626"/>
              <a:ext cx="25400" cy="25400"/>
            </a:xfrm>
            <a:prstGeom prst="ellipse">
              <a:avLst/>
            </a:prstGeom>
            <a:solidFill>
              <a:srgbClr val="070154"/>
            </a:solidFill>
            <a:ln>
              <a:noFill/>
            </a:ln>
          </p:spPr>
        </p:sp>
        <p:sp>
          <p:nvSpPr>
            <p:cNvPr id="35" name="node03.items.source-002.arc.arrow-2.cap-2"/>
            <p:cNvSpPr/>
            <p:nvPr/>
          </p:nvSpPr>
          <p:spPr>
            <a:xfrm>
              <a:off x="8805282" y="2926489"/>
              <a:ext cx="25400" cy="25400"/>
            </a:xfrm>
            <a:prstGeom prst="ellipse">
              <a:avLst/>
            </a:prstGeom>
            <a:solidFill>
              <a:srgbClr val="070154"/>
            </a:solidFill>
            <a:ln>
              <a:noFill/>
            </a:ln>
          </p:spPr>
        </p:sp>
        <p:sp>
          <p:nvSpPr>
            <p:cNvPr id="36" name="node03.items.source-003.arc"/>
            <p:cNvSpPr/>
            <p:nvPr/>
          </p:nvSpPr>
          <p:spPr>
            <a:xfrm>
              <a:off x="5275372" y="2314185"/>
              <a:ext cx="1861794" cy="581141"/>
            </a:xfrm>
            <a:custGeom>
              <a:avLst/>
              <a:gdLst/>
              <a:ahLst/>
              <a:cxnLst/>
              <a:rect l="l" t="t" r="r" b="b"/>
              <a:pathLst>
                <a:path w="1861794" h="581141">
                  <a:moveTo>
                    <a:pt x="1861794" y="581141"/>
                  </a:moveTo>
                  <a:lnTo>
                    <a:pt x="1758510" y="570137"/>
                  </a:lnTo>
                  <a:lnTo>
                    <a:pt x="1656500" y="557787"/>
                  </a:lnTo>
                  <a:lnTo>
                    <a:pt x="1555910" y="544110"/>
                  </a:lnTo>
                  <a:lnTo>
                    <a:pt x="1456883" y="529124"/>
                  </a:lnTo>
                  <a:lnTo>
                    <a:pt x="1359562" y="512850"/>
                  </a:lnTo>
                  <a:lnTo>
                    <a:pt x="1264084" y="495313"/>
                  </a:lnTo>
                  <a:lnTo>
                    <a:pt x="1170588" y="476537"/>
                  </a:lnTo>
                  <a:lnTo>
                    <a:pt x="1079206" y="456549"/>
                  </a:lnTo>
                  <a:lnTo>
                    <a:pt x="990069" y="435378"/>
                  </a:lnTo>
                  <a:lnTo>
                    <a:pt x="903305" y="413053"/>
                  </a:lnTo>
                  <a:lnTo>
                    <a:pt x="819037" y="389607"/>
                  </a:lnTo>
                  <a:lnTo>
                    <a:pt x="737387" y="365074"/>
                  </a:lnTo>
                  <a:lnTo>
                    <a:pt x="658471" y="339488"/>
                  </a:lnTo>
                  <a:lnTo>
                    <a:pt x="582401" y="312886"/>
                  </a:lnTo>
                  <a:lnTo>
                    <a:pt x="509287" y="285306"/>
                  </a:lnTo>
                  <a:lnTo>
                    <a:pt x="439233" y="256788"/>
                  </a:lnTo>
                  <a:lnTo>
                    <a:pt x="372339" y="227371"/>
                  </a:lnTo>
                  <a:lnTo>
                    <a:pt x="308701" y="197100"/>
                  </a:lnTo>
                  <a:lnTo>
                    <a:pt x="248410" y="166015"/>
                  </a:lnTo>
                  <a:lnTo>
                    <a:pt x="191552" y="134163"/>
                  </a:lnTo>
                  <a:lnTo>
                    <a:pt x="138208" y="101588"/>
                  </a:lnTo>
                  <a:lnTo>
                    <a:pt x="88455" y="68338"/>
                  </a:lnTo>
                  <a:lnTo>
                    <a:pt x="42364" y="34459"/>
                  </a:lnTo>
                  <a:lnTo>
                    <a:pt x="0" y="0"/>
                  </a:lnTo>
                </a:path>
              </a:pathLst>
            </a:custGeom>
            <a:ln w="25400">
              <a:solidFill>
                <a:srgbClr val="070154"/>
              </a:solidFill>
              <a:prstDash val="solid"/>
            </a:ln>
          </p:spPr>
        </p:sp>
        <p:sp>
          <p:nvSpPr>
            <p:cNvPr id="37" name="node03.items.source-003.arc.cap-1"/>
            <p:cNvSpPr/>
            <p:nvPr/>
          </p:nvSpPr>
          <p:spPr>
            <a:xfrm>
              <a:off x="7124466" y="2882626"/>
              <a:ext cx="25400" cy="25400"/>
            </a:xfrm>
            <a:prstGeom prst="ellipse">
              <a:avLst/>
            </a:prstGeom>
            <a:solidFill>
              <a:srgbClr val="070154"/>
            </a:solidFill>
            <a:ln>
              <a:noFill/>
            </a:ln>
          </p:spPr>
        </p:sp>
        <p:sp>
          <p:nvSpPr>
            <p:cNvPr id="38" name="node03.items.source-003.arc.cap-2"/>
            <p:cNvSpPr/>
            <p:nvPr/>
          </p:nvSpPr>
          <p:spPr>
            <a:xfrm>
              <a:off x="5262672" y="2301485"/>
              <a:ext cx="25400" cy="25400"/>
            </a:xfrm>
            <a:prstGeom prst="ellipse">
              <a:avLst/>
            </a:prstGeom>
            <a:solidFill>
              <a:srgbClr val="070154"/>
            </a:solidFill>
            <a:ln>
              <a:noFill/>
            </a:ln>
          </p:spPr>
        </p:sp>
        <p:sp>
          <p:nvSpPr>
            <p:cNvPr id="39" name="node03.items.source-003.arc.arrow-1"/>
            <p:cNvSpPr/>
            <p:nvPr/>
          </p:nvSpPr>
          <p:spPr>
            <a:xfrm>
              <a:off x="5275372" y="2314185"/>
              <a:ext cx="112394" cy="20785"/>
            </a:xfrm>
            <a:custGeom>
              <a:avLst/>
              <a:gdLst/>
              <a:ahLst/>
              <a:cxnLst/>
              <a:rect l="l" t="t" r="r" b="b"/>
              <a:pathLst>
                <a:path w="112394" h="20785">
                  <a:moveTo>
                    <a:pt x="0" y="0"/>
                  </a:moveTo>
                  <a:lnTo>
                    <a:pt x="112394" y="20785"/>
                  </a:lnTo>
                </a:path>
              </a:pathLst>
            </a:custGeom>
            <a:ln w="25400">
              <a:solidFill>
                <a:srgbClr val="070154"/>
              </a:solidFill>
              <a:prstDash val="solid"/>
            </a:ln>
          </p:spPr>
        </p:sp>
        <p:sp>
          <p:nvSpPr>
            <p:cNvPr id="40" name="node03.items.source-003.arc.arrow-1.cap-1"/>
            <p:cNvSpPr/>
            <p:nvPr/>
          </p:nvSpPr>
          <p:spPr>
            <a:xfrm>
              <a:off x="5262672" y="2301485"/>
              <a:ext cx="25400" cy="25400"/>
            </a:xfrm>
            <a:prstGeom prst="ellipse">
              <a:avLst/>
            </a:prstGeom>
            <a:solidFill>
              <a:srgbClr val="070154"/>
            </a:solidFill>
            <a:ln>
              <a:noFill/>
            </a:ln>
          </p:spPr>
        </p:sp>
        <p:sp>
          <p:nvSpPr>
            <p:cNvPr id="41" name="node03.items.source-003.arc.arrow-1.cap-2"/>
            <p:cNvSpPr/>
            <p:nvPr/>
          </p:nvSpPr>
          <p:spPr>
            <a:xfrm>
              <a:off x="5375066" y="2322270"/>
              <a:ext cx="25400" cy="25400"/>
            </a:xfrm>
            <a:prstGeom prst="ellipse">
              <a:avLst/>
            </a:prstGeom>
            <a:solidFill>
              <a:srgbClr val="070154"/>
            </a:solidFill>
            <a:ln>
              <a:noFill/>
            </a:ln>
          </p:spPr>
        </p:sp>
        <p:sp>
          <p:nvSpPr>
            <p:cNvPr id="42" name="node03.items.source-003.arc.arrow-2"/>
            <p:cNvSpPr/>
            <p:nvPr/>
          </p:nvSpPr>
          <p:spPr>
            <a:xfrm>
              <a:off x="5275372" y="2314185"/>
              <a:ext cx="43237" cy="105807"/>
            </a:xfrm>
            <a:custGeom>
              <a:avLst/>
              <a:gdLst/>
              <a:ahLst/>
              <a:cxnLst/>
              <a:rect l="l" t="t" r="r" b="b"/>
              <a:pathLst>
                <a:path w="43237" h="105807">
                  <a:moveTo>
                    <a:pt x="0" y="0"/>
                  </a:moveTo>
                  <a:lnTo>
                    <a:pt x="43237" y="105807"/>
                  </a:lnTo>
                </a:path>
              </a:pathLst>
            </a:custGeom>
            <a:ln w="25400">
              <a:solidFill>
                <a:srgbClr val="070154"/>
              </a:solidFill>
              <a:prstDash val="solid"/>
            </a:ln>
          </p:spPr>
        </p:sp>
        <p:sp>
          <p:nvSpPr>
            <p:cNvPr id="43" name="node03.items.source-003.arc.arrow-2.cap-1"/>
            <p:cNvSpPr/>
            <p:nvPr/>
          </p:nvSpPr>
          <p:spPr>
            <a:xfrm>
              <a:off x="5262672" y="2301485"/>
              <a:ext cx="25400" cy="25400"/>
            </a:xfrm>
            <a:prstGeom prst="ellipse">
              <a:avLst/>
            </a:prstGeom>
            <a:solidFill>
              <a:srgbClr val="070154"/>
            </a:solidFill>
            <a:ln>
              <a:noFill/>
            </a:ln>
          </p:spPr>
        </p:sp>
        <p:sp>
          <p:nvSpPr>
            <p:cNvPr id="44" name="node03.items.source-003.arc.arrow-2.cap-2"/>
            <p:cNvSpPr/>
            <p:nvPr/>
          </p:nvSpPr>
          <p:spPr>
            <a:xfrm>
              <a:off x="5305909" y="2407292"/>
              <a:ext cx="25400" cy="25400"/>
            </a:xfrm>
            <a:prstGeom prst="ellipse">
              <a:avLst/>
            </a:prstGeom>
            <a:solidFill>
              <a:srgbClr val="070154"/>
            </a:solidFill>
            <a:ln>
              <a:noFill/>
            </a:ln>
          </p:spPr>
        </p:sp>
        <p:sp>
          <p:nvSpPr>
            <p:cNvPr id="45" name="node03.items.source-004.arc"/>
            <p:cNvSpPr/>
            <p:nvPr/>
          </p:nvSpPr>
          <p:spPr>
            <a:xfrm>
              <a:off x="5275372" y="990874"/>
              <a:ext cx="1861794" cy="581141"/>
            </a:xfrm>
            <a:custGeom>
              <a:avLst/>
              <a:gdLst/>
              <a:ahLst/>
              <a:cxnLst/>
              <a:rect l="l" t="t" r="r" b="b"/>
              <a:pathLst>
                <a:path w="1861794" h="581141">
                  <a:moveTo>
                    <a:pt x="0" y="581141"/>
                  </a:moveTo>
                  <a:lnTo>
                    <a:pt x="42364" y="546682"/>
                  </a:lnTo>
                  <a:lnTo>
                    <a:pt x="88455" y="512803"/>
                  </a:lnTo>
                  <a:lnTo>
                    <a:pt x="138208" y="479552"/>
                  </a:lnTo>
                  <a:lnTo>
                    <a:pt x="191552" y="446978"/>
                  </a:lnTo>
                  <a:lnTo>
                    <a:pt x="248410" y="415125"/>
                  </a:lnTo>
                  <a:lnTo>
                    <a:pt x="308701" y="384041"/>
                  </a:lnTo>
                  <a:lnTo>
                    <a:pt x="372339" y="353769"/>
                  </a:lnTo>
                  <a:lnTo>
                    <a:pt x="439233" y="324353"/>
                  </a:lnTo>
                  <a:lnTo>
                    <a:pt x="509287" y="295834"/>
                  </a:lnTo>
                  <a:lnTo>
                    <a:pt x="582401" y="268254"/>
                  </a:lnTo>
                  <a:lnTo>
                    <a:pt x="658471" y="241653"/>
                  </a:lnTo>
                  <a:lnTo>
                    <a:pt x="737387" y="216067"/>
                  </a:lnTo>
                  <a:lnTo>
                    <a:pt x="819037" y="191533"/>
                  </a:lnTo>
                  <a:lnTo>
                    <a:pt x="903305" y="168088"/>
                  </a:lnTo>
                  <a:lnTo>
                    <a:pt x="990069" y="145763"/>
                  </a:lnTo>
                  <a:lnTo>
                    <a:pt x="1079206" y="124592"/>
                  </a:lnTo>
                  <a:lnTo>
                    <a:pt x="1170588" y="104604"/>
                  </a:lnTo>
                  <a:lnTo>
                    <a:pt x="1264084" y="85828"/>
                  </a:lnTo>
                  <a:lnTo>
                    <a:pt x="1359562" y="68290"/>
                  </a:lnTo>
                  <a:lnTo>
                    <a:pt x="1456883" y="52017"/>
                  </a:lnTo>
                  <a:lnTo>
                    <a:pt x="1555910" y="37031"/>
                  </a:lnTo>
                  <a:lnTo>
                    <a:pt x="1656500" y="23353"/>
                  </a:lnTo>
                  <a:lnTo>
                    <a:pt x="1758510" y="11004"/>
                  </a:lnTo>
                  <a:lnTo>
                    <a:pt x="1861794" y="0"/>
                  </a:lnTo>
                </a:path>
              </a:pathLst>
            </a:custGeom>
            <a:ln w="25400">
              <a:solidFill>
                <a:srgbClr val="070154"/>
              </a:solidFill>
              <a:prstDash val="solid"/>
            </a:ln>
          </p:spPr>
        </p:sp>
        <p:sp>
          <p:nvSpPr>
            <p:cNvPr id="46" name="node03.items.source-004.arc.cap-1"/>
            <p:cNvSpPr/>
            <p:nvPr/>
          </p:nvSpPr>
          <p:spPr>
            <a:xfrm>
              <a:off x="5262672" y="1559315"/>
              <a:ext cx="25400" cy="25400"/>
            </a:xfrm>
            <a:prstGeom prst="ellipse">
              <a:avLst/>
            </a:prstGeom>
            <a:solidFill>
              <a:srgbClr val="070154"/>
            </a:solidFill>
            <a:ln>
              <a:noFill/>
            </a:ln>
          </p:spPr>
        </p:sp>
        <p:sp>
          <p:nvSpPr>
            <p:cNvPr id="47" name="node03.items.source-004.arc.cap-2"/>
            <p:cNvSpPr/>
            <p:nvPr/>
          </p:nvSpPr>
          <p:spPr>
            <a:xfrm>
              <a:off x="7124466" y="978174"/>
              <a:ext cx="25400" cy="25400"/>
            </a:xfrm>
            <a:prstGeom prst="ellipse">
              <a:avLst/>
            </a:prstGeom>
            <a:solidFill>
              <a:srgbClr val="070154"/>
            </a:solidFill>
            <a:ln>
              <a:noFill/>
            </a:ln>
          </p:spPr>
        </p:sp>
        <p:sp>
          <p:nvSpPr>
            <p:cNvPr id="48" name="node03.items.source-004.arc.arrow-1"/>
            <p:cNvSpPr/>
            <p:nvPr/>
          </p:nvSpPr>
          <p:spPr>
            <a:xfrm>
              <a:off x="7043228" y="990874"/>
              <a:ext cx="93938" cy="65116"/>
            </a:xfrm>
            <a:custGeom>
              <a:avLst/>
              <a:gdLst/>
              <a:ahLst/>
              <a:cxnLst/>
              <a:rect l="l" t="t" r="r" b="b"/>
              <a:pathLst>
                <a:path w="93938" h="65116">
                  <a:moveTo>
                    <a:pt x="93938" y="0"/>
                  </a:moveTo>
                  <a:lnTo>
                    <a:pt x="0" y="65116"/>
                  </a:lnTo>
                </a:path>
              </a:pathLst>
            </a:custGeom>
            <a:ln w="25400">
              <a:solidFill>
                <a:srgbClr val="070154"/>
              </a:solidFill>
              <a:prstDash val="solid"/>
            </a:ln>
          </p:spPr>
        </p:sp>
        <p:sp>
          <p:nvSpPr>
            <p:cNvPr id="49" name="node03.items.source-004.arc.arrow-1.cap-1"/>
            <p:cNvSpPr/>
            <p:nvPr/>
          </p:nvSpPr>
          <p:spPr>
            <a:xfrm>
              <a:off x="7124466" y="978174"/>
              <a:ext cx="25400" cy="25400"/>
            </a:xfrm>
            <a:prstGeom prst="ellipse">
              <a:avLst/>
            </a:prstGeom>
            <a:solidFill>
              <a:srgbClr val="070154"/>
            </a:solidFill>
            <a:ln>
              <a:noFill/>
            </a:ln>
          </p:spPr>
        </p:sp>
        <p:sp>
          <p:nvSpPr>
            <p:cNvPr id="50" name="node03.items.source-004.arc.arrow-1.cap-2"/>
            <p:cNvSpPr/>
            <p:nvPr/>
          </p:nvSpPr>
          <p:spPr>
            <a:xfrm>
              <a:off x="7030528" y="1043291"/>
              <a:ext cx="25400" cy="25400"/>
            </a:xfrm>
            <a:prstGeom prst="ellipse">
              <a:avLst/>
            </a:prstGeom>
            <a:solidFill>
              <a:srgbClr val="070154"/>
            </a:solidFill>
            <a:ln>
              <a:noFill/>
            </a:ln>
          </p:spPr>
        </p:sp>
        <p:sp>
          <p:nvSpPr>
            <p:cNvPr id="51" name="node03.items.source-004.arc.arrow-2"/>
            <p:cNvSpPr/>
            <p:nvPr/>
          </p:nvSpPr>
          <p:spPr>
            <a:xfrm>
              <a:off x="7031618" y="947011"/>
              <a:ext cx="105548" cy="43864"/>
            </a:xfrm>
            <a:custGeom>
              <a:avLst/>
              <a:gdLst/>
              <a:ahLst/>
              <a:cxnLst/>
              <a:rect l="l" t="t" r="r" b="b"/>
              <a:pathLst>
                <a:path w="105548" h="43864">
                  <a:moveTo>
                    <a:pt x="105548" y="43864"/>
                  </a:moveTo>
                  <a:lnTo>
                    <a:pt x="0" y="0"/>
                  </a:lnTo>
                </a:path>
              </a:pathLst>
            </a:custGeom>
            <a:ln w="25400">
              <a:solidFill>
                <a:srgbClr val="070154"/>
              </a:solidFill>
              <a:prstDash val="solid"/>
            </a:ln>
          </p:spPr>
        </p:sp>
        <p:sp>
          <p:nvSpPr>
            <p:cNvPr id="52" name="node03.items.source-004.arc.arrow-2.cap-1"/>
            <p:cNvSpPr/>
            <p:nvPr/>
          </p:nvSpPr>
          <p:spPr>
            <a:xfrm>
              <a:off x="7124466" y="978174"/>
              <a:ext cx="25400" cy="25400"/>
            </a:xfrm>
            <a:prstGeom prst="ellipse">
              <a:avLst/>
            </a:prstGeom>
            <a:solidFill>
              <a:srgbClr val="070154"/>
            </a:solidFill>
            <a:ln>
              <a:noFill/>
            </a:ln>
          </p:spPr>
        </p:sp>
        <p:sp>
          <p:nvSpPr>
            <p:cNvPr id="53" name="node03.items.source-004.arc.arrow-2.cap-2"/>
            <p:cNvSpPr/>
            <p:nvPr/>
          </p:nvSpPr>
          <p:spPr>
            <a:xfrm>
              <a:off x="7018918" y="934311"/>
              <a:ext cx="25400" cy="25400"/>
            </a:xfrm>
            <a:prstGeom prst="ellipse">
              <a:avLst/>
            </a:prstGeom>
            <a:solidFill>
              <a:srgbClr val="070154"/>
            </a:solidFill>
            <a:ln>
              <a:noFill/>
            </a:ln>
          </p:spPr>
        </p:sp>
        <p:sp>
          <p:nvSpPr>
            <p:cNvPr id="54" name="node03.loops.source-001.curve"/>
            <p:cNvSpPr/>
            <p:nvPr/>
          </p:nvSpPr>
          <p:spPr>
            <a:xfrm>
              <a:off x="5829300" y="1378458"/>
              <a:ext cx="4191000" cy="326898"/>
            </a:xfrm>
            <a:custGeom>
              <a:avLst/>
              <a:gdLst/>
              <a:ahLst/>
              <a:cxnLst/>
              <a:rect l="l" t="t" r="r" b="b"/>
              <a:pathLst>
                <a:path w="4191000" h="326898">
                  <a:moveTo>
                    <a:pt x="0" y="326898"/>
                  </a:moveTo>
                  <a:quadBezTo>
                    <a:pt x="2095500" y="-326898"/>
                    <a:pt x="4191000" y="326898"/>
                  </a:quadBezTo>
                </a:path>
              </a:pathLst>
            </a:custGeom>
            <a:ln w="19050">
              <a:solidFill>
                <a:srgbClr val="0047FF"/>
              </a:solidFill>
              <a:prstDash val="dash"/>
            </a:ln>
          </p:spPr>
        </p:sp>
        <p:sp>
          <p:nvSpPr>
            <p:cNvPr id="55" name="node03.loops.source-001.arrow-1"/>
            <p:cNvSpPr/>
            <p:nvPr/>
          </p:nvSpPr>
          <p:spPr>
            <a:xfrm>
              <a:off x="9908625" y="1705356"/>
              <a:ext cx="111675" cy="24354"/>
            </a:xfrm>
            <a:custGeom>
              <a:avLst/>
              <a:gdLst/>
              <a:ahLst/>
              <a:cxnLst/>
              <a:rect l="l" t="t" r="r" b="b"/>
              <a:pathLst>
                <a:path w="111675" h="24354">
                  <a:moveTo>
                    <a:pt x="111675" y="0"/>
                  </a:moveTo>
                  <a:lnTo>
                    <a:pt x="0" y="24354"/>
                  </a:lnTo>
                </a:path>
              </a:pathLst>
            </a:custGeom>
            <a:ln w="25400">
              <a:solidFill>
                <a:srgbClr val="0047FF"/>
              </a:solidFill>
              <a:prstDash val="solid"/>
            </a:ln>
          </p:spPr>
        </p:sp>
        <p:sp>
          <p:nvSpPr>
            <p:cNvPr id="56" name="node03.loops.source-001.arrow-1.cap-1"/>
            <p:cNvSpPr/>
            <p:nvPr/>
          </p:nvSpPr>
          <p:spPr>
            <a:xfrm>
              <a:off x="10007600" y="1692656"/>
              <a:ext cx="25400" cy="25400"/>
            </a:xfrm>
            <a:prstGeom prst="ellipse">
              <a:avLst/>
            </a:prstGeom>
            <a:solidFill>
              <a:srgbClr val="0047FF"/>
            </a:solidFill>
            <a:ln>
              <a:noFill/>
            </a:ln>
          </p:spPr>
        </p:sp>
        <p:sp>
          <p:nvSpPr>
            <p:cNvPr id="57" name="node03.loops.source-001.arrow-1.cap-2"/>
            <p:cNvSpPr/>
            <p:nvPr/>
          </p:nvSpPr>
          <p:spPr>
            <a:xfrm>
              <a:off x="9895925" y="1717010"/>
              <a:ext cx="25400" cy="25400"/>
            </a:xfrm>
            <a:prstGeom prst="ellipse">
              <a:avLst/>
            </a:prstGeom>
            <a:solidFill>
              <a:srgbClr val="0047FF"/>
            </a:solidFill>
            <a:ln>
              <a:noFill/>
            </a:ln>
          </p:spPr>
        </p:sp>
        <p:sp>
          <p:nvSpPr>
            <p:cNvPr id="58" name="node03.loops.source-001.arrow-2"/>
            <p:cNvSpPr/>
            <p:nvPr/>
          </p:nvSpPr>
          <p:spPr>
            <a:xfrm>
              <a:off x="9939468" y="1624543"/>
              <a:ext cx="80832" cy="80813"/>
            </a:xfrm>
            <a:custGeom>
              <a:avLst/>
              <a:gdLst/>
              <a:ahLst/>
              <a:cxnLst/>
              <a:rect l="l" t="t" r="r" b="b"/>
              <a:pathLst>
                <a:path w="80832" h="80813">
                  <a:moveTo>
                    <a:pt x="80832" y="80813"/>
                  </a:moveTo>
                  <a:lnTo>
                    <a:pt x="0" y="0"/>
                  </a:lnTo>
                </a:path>
              </a:pathLst>
            </a:custGeom>
            <a:ln w="25400">
              <a:solidFill>
                <a:srgbClr val="0047FF"/>
              </a:solidFill>
              <a:prstDash val="solid"/>
            </a:ln>
          </p:spPr>
        </p:sp>
        <p:sp>
          <p:nvSpPr>
            <p:cNvPr id="59" name="node03.loops.source-001.arrow-2.cap-1"/>
            <p:cNvSpPr/>
            <p:nvPr/>
          </p:nvSpPr>
          <p:spPr>
            <a:xfrm>
              <a:off x="10007600" y="1692656"/>
              <a:ext cx="25400" cy="25400"/>
            </a:xfrm>
            <a:prstGeom prst="ellipse">
              <a:avLst/>
            </a:prstGeom>
            <a:solidFill>
              <a:srgbClr val="0047FF"/>
            </a:solidFill>
            <a:ln>
              <a:noFill/>
            </a:ln>
          </p:spPr>
        </p:sp>
        <p:sp>
          <p:nvSpPr>
            <p:cNvPr id="60" name="node03.loops.source-001.arrow-2.cap-2"/>
            <p:cNvSpPr/>
            <p:nvPr/>
          </p:nvSpPr>
          <p:spPr>
            <a:xfrm>
              <a:off x="9926768" y="1611843"/>
              <a:ext cx="25400" cy="25400"/>
            </a:xfrm>
            <a:prstGeom prst="ellipse">
              <a:avLst/>
            </a:prstGeom>
            <a:solidFill>
              <a:srgbClr val="0047FF"/>
            </a:solidFill>
            <a:ln>
              <a:noFill/>
            </a:ln>
          </p:spPr>
        </p:sp>
        <p:sp>
          <p:nvSpPr>
            <p:cNvPr id="61" name="node03.loops.source-002.curve"/>
            <p:cNvSpPr/>
            <p:nvPr/>
          </p:nvSpPr>
          <p:spPr>
            <a:xfrm>
              <a:off x="8254512" y="2031153"/>
              <a:ext cx="1765788" cy="559647"/>
            </a:xfrm>
            <a:custGeom>
              <a:avLst/>
              <a:gdLst/>
              <a:ahLst/>
              <a:cxnLst/>
              <a:rect l="l" t="t" r="r" b="b"/>
              <a:pathLst>
                <a:path w="1765788" h="559647">
                  <a:moveTo>
                    <a:pt x="0" y="559647"/>
                  </a:moveTo>
                  <a:quadBezTo>
                    <a:pt x="384663" y="159597"/>
                    <a:pt x="1765788" y="0"/>
                  </a:quadBezTo>
                </a:path>
              </a:pathLst>
            </a:custGeom>
            <a:ln w="19050">
              <a:solidFill>
                <a:srgbClr val="0047FF"/>
              </a:solidFill>
              <a:prstDash val="dash"/>
            </a:ln>
          </p:spPr>
        </p:sp>
        <p:sp>
          <p:nvSpPr>
            <p:cNvPr id="62" name="node03.loops.source-002.arrow-1"/>
            <p:cNvSpPr/>
            <p:nvPr/>
          </p:nvSpPr>
          <p:spPr>
            <a:xfrm>
              <a:off x="9927462" y="2031153"/>
              <a:ext cx="92838" cy="66675"/>
            </a:xfrm>
            <a:custGeom>
              <a:avLst/>
              <a:gdLst/>
              <a:ahLst/>
              <a:cxnLst/>
              <a:rect l="l" t="t" r="r" b="b"/>
              <a:pathLst>
                <a:path w="92838" h="66675">
                  <a:moveTo>
                    <a:pt x="92838" y="0"/>
                  </a:moveTo>
                  <a:lnTo>
                    <a:pt x="0" y="66675"/>
                  </a:lnTo>
                </a:path>
              </a:pathLst>
            </a:custGeom>
            <a:ln w="25400">
              <a:solidFill>
                <a:srgbClr val="0047FF"/>
              </a:solidFill>
              <a:prstDash val="solid"/>
            </a:ln>
          </p:spPr>
        </p:sp>
        <p:sp>
          <p:nvSpPr>
            <p:cNvPr id="63" name="node03.loops.source-002.arrow-1.cap-1"/>
            <p:cNvSpPr/>
            <p:nvPr/>
          </p:nvSpPr>
          <p:spPr>
            <a:xfrm>
              <a:off x="10007600" y="2018453"/>
              <a:ext cx="25400" cy="25400"/>
            </a:xfrm>
            <a:prstGeom prst="ellipse">
              <a:avLst/>
            </a:prstGeom>
            <a:solidFill>
              <a:srgbClr val="0047FF"/>
            </a:solidFill>
            <a:ln>
              <a:noFill/>
            </a:ln>
          </p:spPr>
        </p:sp>
        <p:sp>
          <p:nvSpPr>
            <p:cNvPr id="64" name="node03.loops.source-002.arrow-1.cap-2"/>
            <p:cNvSpPr/>
            <p:nvPr/>
          </p:nvSpPr>
          <p:spPr>
            <a:xfrm>
              <a:off x="9914762" y="2085129"/>
              <a:ext cx="25400" cy="25400"/>
            </a:xfrm>
            <a:prstGeom prst="ellipse">
              <a:avLst/>
            </a:prstGeom>
            <a:solidFill>
              <a:srgbClr val="0047FF"/>
            </a:solidFill>
            <a:ln>
              <a:noFill/>
            </a:ln>
          </p:spPr>
        </p:sp>
        <p:sp>
          <p:nvSpPr>
            <p:cNvPr id="65" name="node03.loops.source-002.arrow-2"/>
            <p:cNvSpPr/>
            <p:nvPr/>
          </p:nvSpPr>
          <p:spPr>
            <a:xfrm>
              <a:off x="9914034" y="1989058"/>
              <a:ext cx="106266" cy="42096"/>
            </a:xfrm>
            <a:custGeom>
              <a:avLst/>
              <a:gdLst/>
              <a:ahLst/>
              <a:cxnLst/>
              <a:rect l="l" t="t" r="r" b="b"/>
              <a:pathLst>
                <a:path w="106266" h="42096">
                  <a:moveTo>
                    <a:pt x="106266" y="42096"/>
                  </a:moveTo>
                  <a:lnTo>
                    <a:pt x="0" y="0"/>
                  </a:lnTo>
                </a:path>
              </a:pathLst>
            </a:custGeom>
            <a:ln w="25400">
              <a:solidFill>
                <a:srgbClr val="0047FF"/>
              </a:solidFill>
              <a:prstDash val="solid"/>
            </a:ln>
          </p:spPr>
        </p:sp>
        <p:sp>
          <p:nvSpPr>
            <p:cNvPr id="66" name="node03.loops.source-002.arrow-2.cap-1"/>
            <p:cNvSpPr/>
            <p:nvPr/>
          </p:nvSpPr>
          <p:spPr>
            <a:xfrm>
              <a:off x="10007600" y="2018453"/>
              <a:ext cx="25400" cy="25400"/>
            </a:xfrm>
            <a:prstGeom prst="ellipse">
              <a:avLst/>
            </a:prstGeom>
            <a:solidFill>
              <a:srgbClr val="0047FF"/>
            </a:solidFill>
            <a:ln>
              <a:noFill/>
            </a:ln>
          </p:spPr>
        </p:sp>
        <p:sp>
          <p:nvSpPr>
            <p:cNvPr id="67" name="node03.loops.source-002.arrow-2.cap-2"/>
            <p:cNvSpPr/>
            <p:nvPr/>
          </p:nvSpPr>
          <p:spPr>
            <a:xfrm>
              <a:off x="9901334" y="1976358"/>
              <a:ext cx="25400" cy="25400"/>
            </a:xfrm>
            <a:prstGeom prst="ellipse">
              <a:avLst/>
            </a:prstGeom>
            <a:solidFill>
              <a:srgbClr val="0047FF"/>
            </a:solidFill>
            <a:ln>
              <a:noFill/>
            </a:ln>
          </p:spPr>
        </p:sp>
        <p:sp>
          <p:nvSpPr>
            <p:cNvPr id="68" name="node03.center.label"/>
            <p:cNvSpPr/>
            <p:nvPr/>
          </p:nvSpPr>
          <p:spPr>
            <a:xfrm>
              <a:off x="6438900" y="1527175"/>
              <a:ext cx="2971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PDLC</a:t>
              </a:r>
              <a:endParaRPr lang="en-US" sz="800" spc="48" kern="0" b="0" i="0" dirty="0">
                <a:solidFill>
                  <a:srgbClr val="0047FF"/>
                </a:solidFill>
                <a:latin typeface="IBM Plex Mono SemiBold"/>
                <a:ea typeface="IBM Plex Mono SemiBold"/>
                <a:cs typeface="IBM Plex Mono SemiBold"/>
              </a:endParaRPr>
            </a:p>
          </p:txBody>
        </p:sp>
        <p:sp>
          <p:nvSpPr>
            <p:cNvPr id="69" name="node03.items.source-001.surface"/>
            <p:cNvSpPr/>
            <p:nvPr/>
          </p:nvSpPr>
          <p:spPr>
            <a:xfrm>
              <a:off x="7239000" y="685800"/>
              <a:ext cx="1371600" cy="533400"/>
            </a:xfrm>
            <a:prstGeom prst="rect">
              <a:avLst/>
            </a:prstGeom>
            <a:solidFill>
              <a:srgbClr val="E8EEF8"/>
            </a:solidFill>
            <a:ln>
              <a:noFill/>
            </a:ln>
          </p:spPr>
        </p:sp>
        <p:sp>
          <p:nvSpPr>
            <p:cNvPr id="70" name="node03.items.source-001.label"/>
            <p:cNvSpPr/>
            <p:nvPr/>
          </p:nvSpPr>
          <p:spPr>
            <a:xfrm>
              <a:off x="7391400" y="8445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Identify</a:t>
              </a:r>
              <a:endParaRPr lang="en-US" sz="1200" spc="0" kern="0" b="0" i="0" dirty="0">
                <a:solidFill>
                  <a:srgbClr val="070154"/>
                </a:solidFill>
                <a:latin typeface="IBM Plex Sans SemiBold"/>
                <a:ea typeface="IBM Plex Sans SemiBold"/>
                <a:cs typeface="IBM Plex Sans SemiBold"/>
              </a:endParaRPr>
            </a:p>
          </p:txBody>
        </p:sp>
        <p:sp>
          <p:nvSpPr>
            <p:cNvPr id="71" name="node03.items.source-002.surface"/>
            <p:cNvSpPr/>
            <p:nvPr/>
          </p:nvSpPr>
          <p:spPr>
            <a:xfrm>
              <a:off x="10096500" y="1676400"/>
              <a:ext cx="1371600" cy="533400"/>
            </a:xfrm>
            <a:prstGeom prst="rect">
              <a:avLst/>
            </a:prstGeom>
            <a:solidFill>
              <a:srgbClr val="070154"/>
            </a:solidFill>
            <a:ln>
              <a:noFill/>
            </a:ln>
          </p:spPr>
        </p:sp>
        <p:sp>
          <p:nvSpPr>
            <p:cNvPr id="72" name="node03.items.source-002.label"/>
            <p:cNvSpPr/>
            <p:nvPr/>
          </p:nvSpPr>
          <p:spPr>
            <a:xfrm>
              <a:off x="10248900" y="18351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Define</a:t>
              </a:r>
              <a:endParaRPr lang="en-US" sz="1200" spc="0" kern="0" b="0" i="0" dirty="0">
                <a:solidFill>
                  <a:srgbClr val="FFFFFF"/>
                </a:solidFill>
                <a:latin typeface="IBM Plex Sans SemiBold"/>
                <a:ea typeface="IBM Plex Sans SemiBold"/>
                <a:cs typeface="IBM Plex Sans SemiBold"/>
              </a:endParaRPr>
            </a:p>
          </p:txBody>
        </p:sp>
        <p:sp>
          <p:nvSpPr>
            <p:cNvPr id="73" name="node03.items.source-003.surface"/>
            <p:cNvSpPr/>
            <p:nvPr/>
          </p:nvSpPr>
          <p:spPr>
            <a:xfrm>
              <a:off x="7239000" y="2667000"/>
              <a:ext cx="1371600" cy="533400"/>
            </a:xfrm>
            <a:prstGeom prst="rect">
              <a:avLst/>
            </a:prstGeom>
            <a:solidFill>
              <a:srgbClr val="070154"/>
            </a:solidFill>
            <a:ln>
              <a:noFill/>
            </a:ln>
          </p:spPr>
        </p:sp>
        <p:sp>
          <p:nvSpPr>
            <p:cNvPr id="74" name="node03.items.source-003.label"/>
            <p:cNvSpPr/>
            <p:nvPr/>
          </p:nvSpPr>
          <p:spPr>
            <a:xfrm>
              <a:off x="7391400" y="28257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Build</a:t>
              </a:r>
              <a:endParaRPr lang="en-US" sz="1200" spc="0" kern="0" b="0" i="0" dirty="0">
                <a:solidFill>
                  <a:srgbClr val="FFFFFF"/>
                </a:solidFill>
                <a:latin typeface="IBM Plex Sans SemiBold"/>
                <a:ea typeface="IBM Plex Sans SemiBold"/>
                <a:cs typeface="IBM Plex Sans SemiBold"/>
              </a:endParaRPr>
            </a:p>
          </p:txBody>
        </p:sp>
        <p:sp>
          <p:nvSpPr>
            <p:cNvPr id="75" name="node03.items.source-004.surface"/>
            <p:cNvSpPr/>
            <p:nvPr/>
          </p:nvSpPr>
          <p:spPr>
            <a:xfrm>
              <a:off x="4381500" y="1676400"/>
              <a:ext cx="1371600" cy="533400"/>
            </a:xfrm>
            <a:prstGeom prst="rect">
              <a:avLst/>
            </a:prstGeom>
            <a:solidFill>
              <a:srgbClr val="070154"/>
            </a:solidFill>
            <a:ln>
              <a:noFill/>
            </a:ln>
          </p:spPr>
        </p:sp>
        <p:sp>
          <p:nvSpPr>
            <p:cNvPr id="76" name="node03.items.source-004.label"/>
            <p:cNvSpPr/>
            <p:nvPr/>
          </p:nvSpPr>
          <p:spPr>
            <a:xfrm>
              <a:off x="4533900" y="18351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Optimize</a:t>
              </a:r>
              <a:endParaRPr lang="en-US" sz="1200" spc="0" kern="0" b="0" i="0" dirty="0">
                <a:solidFill>
                  <a:srgbClr val="FFFFFF"/>
                </a:solidFill>
                <a:latin typeface="IBM Plex Sans SemiBold"/>
                <a:ea typeface="IBM Plex Sans SemiBold"/>
                <a:cs typeface="IBM Plex Sans SemiBold"/>
              </a:endParaRPr>
            </a:p>
          </p:txBody>
        </p:sp>
      </p:grpSp>
      <p:grpSp>
        <p:nvGrpSpPr>
          <p:cNvPr id="142" name="node04"/>
          <p:cNvGrpSpPr/>
          <p:nvPr/>
        </p:nvGrpSpPr>
        <p:grpSpPr>
          <a:xfrm>
            <a:off x="4381500" y="3429000"/>
            <a:ext cx="7086600" cy="139700"/>
            <a:chOff x="4381500" y="3429000"/>
            <a:chExt cx="7086600" cy="139700"/>
          </a:xfrm>
        </p:grpSpPr>
        <p:sp>
          <p:nvSpPr>
            <p:cNvPr id="77" name="node04.text"/>
            <p:cNvSpPr/>
            <p:nvPr/>
          </p:nvSpPr>
          <p:spPr>
            <a:xfrm>
              <a:off x="4381500" y="34290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SDLC RUNS FROM DEFINE TO OPTIMIZE</a:t>
              </a:r>
              <a:endParaRPr lang="en-US" sz="800" spc="48" kern="0" b="0" i="0" dirty="0">
                <a:solidFill>
                  <a:srgbClr val="0047FF"/>
                </a:solidFill>
                <a:latin typeface="IBM Plex Mono Medium"/>
                <a:ea typeface="IBM Plex Mono Medium"/>
                <a:cs typeface="IBM Plex Mono Medium"/>
              </a:endParaRPr>
            </a:p>
          </p:txBody>
        </p:sp>
      </p:grpSp>
      <p:grpSp>
        <p:nvGrpSpPr>
          <p:cNvPr id="143" name="node05"/>
          <p:cNvGrpSpPr/>
          <p:nvPr/>
        </p:nvGrpSpPr>
        <p:grpSpPr>
          <a:xfrm>
            <a:off x="4381500" y="3657600"/>
            <a:ext cx="7086600" cy="2286000"/>
            <a:chOff x="4381500" y="3657600"/>
            <a:chExt cx="7086600" cy="2286000"/>
          </a:xfrm>
        </p:grpSpPr>
        <p:sp>
          <p:nvSpPr>
            <p:cNvPr id="78" name="node05.items.source-001.arc"/>
            <p:cNvSpPr/>
            <p:nvPr/>
          </p:nvSpPr>
          <p:spPr>
            <a:xfrm>
              <a:off x="8712434" y="3921622"/>
              <a:ext cx="1433061" cy="303527"/>
            </a:xfrm>
            <a:custGeom>
              <a:avLst/>
              <a:gdLst/>
              <a:ahLst/>
              <a:cxnLst/>
              <a:rect l="l" t="t" r="r" b="b"/>
              <a:pathLst>
                <a:path w="1433061" h="303527">
                  <a:moveTo>
                    <a:pt x="0" y="0"/>
                  </a:moveTo>
                  <a:lnTo>
                    <a:pt x="69651" y="6699"/>
                  </a:lnTo>
                  <a:lnTo>
                    <a:pt x="138747" y="13963"/>
                  </a:lnTo>
                  <a:lnTo>
                    <a:pt x="207242" y="21788"/>
                  </a:lnTo>
                  <a:lnTo>
                    <a:pt x="275093" y="30168"/>
                  </a:lnTo>
                  <a:lnTo>
                    <a:pt x="342256" y="39098"/>
                  </a:lnTo>
                  <a:lnTo>
                    <a:pt x="408686" y="48572"/>
                  </a:lnTo>
                  <a:lnTo>
                    <a:pt x="474342" y="58583"/>
                  </a:lnTo>
                  <a:lnTo>
                    <a:pt x="539180" y="69127"/>
                  </a:lnTo>
                  <a:lnTo>
                    <a:pt x="603159" y="80194"/>
                  </a:lnTo>
                  <a:lnTo>
                    <a:pt x="666237" y="91780"/>
                  </a:lnTo>
                  <a:lnTo>
                    <a:pt x="728372" y="103875"/>
                  </a:lnTo>
                  <a:lnTo>
                    <a:pt x="789526" y="116472"/>
                  </a:lnTo>
                  <a:lnTo>
                    <a:pt x="849658" y="129564"/>
                  </a:lnTo>
                  <a:lnTo>
                    <a:pt x="908730" y="143141"/>
                  </a:lnTo>
                  <a:lnTo>
                    <a:pt x="966702" y="157194"/>
                  </a:lnTo>
                  <a:lnTo>
                    <a:pt x="1023538" y="171715"/>
                  </a:lnTo>
                  <a:lnTo>
                    <a:pt x="1079201" y="186695"/>
                  </a:lnTo>
                  <a:lnTo>
                    <a:pt x="1133654" y="202122"/>
                  </a:lnTo>
                  <a:lnTo>
                    <a:pt x="1186863" y="217988"/>
                  </a:lnTo>
                  <a:lnTo>
                    <a:pt x="1238793" y="234283"/>
                  </a:lnTo>
                  <a:lnTo>
                    <a:pt x="1289410" y="250995"/>
                  </a:lnTo>
                  <a:lnTo>
                    <a:pt x="1338681" y="268114"/>
                  </a:lnTo>
                  <a:lnTo>
                    <a:pt x="1386575" y="285628"/>
                  </a:lnTo>
                  <a:lnTo>
                    <a:pt x="1433061" y="303527"/>
                  </a:lnTo>
                </a:path>
              </a:pathLst>
            </a:custGeom>
            <a:ln w="25400">
              <a:solidFill>
                <a:srgbClr val="070154"/>
              </a:solidFill>
              <a:prstDash val="solid"/>
            </a:ln>
          </p:spPr>
        </p:sp>
        <p:sp>
          <p:nvSpPr>
            <p:cNvPr id="79" name="node05.items.source-001.arc.cap-1"/>
            <p:cNvSpPr/>
            <p:nvPr/>
          </p:nvSpPr>
          <p:spPr>
            <a:xfrm>
              <a:off x="8699734" y="3908922"/>
              <a:ext cx="25400" cy="25400"/>
            </a:xfrm>
            <a:prstGeom prst="ellipse">
              <a:avLst/>
            </a:prstGeom>
            <a:solidFill>
              <a:srgbClr val="070154"/>
            </a:solidFill>
            <a:ln>
              <a:noFill/>
            </a:ln>
          </p:spPr>
        </p:sp>
        <p:sp>
          <p:nvSpPr>
            <p:cNvPr id="80" name="node05.items.source-001.arc.cap-2"/>
            <p:cNvSpPr/>
            <p:nvPr/>
          </p:nvSpPr>
          <p:spPr>
            <a:xfrm>
              <a:off x="10132795" y="4212449"/>
              <a:ext cx="25400" cy="25400"/>
            </a:xfrm>
            <a:prstGeom prst="ellipse">
              <a:avLst/>
            </a:prstGeom>
            <a:solidFill>
              <a:srgbClr val="070154"/>
            </a:solidFill>
            <a:ln>
              <a:noFill/>
            </a:ln>
          </p:spPr>
        </p:sp>
        <p:sp>
          <p:nvSpPr>
            <p:cNvPr id="81" name="node05.items.source-001.arc.arrow-1"/>
            <p:cNvSpPr/>
            <p:nvPr/>
          </p:nvSpPr>
          <p:spPr>
            <a:xfrm>
              <a:off x="10032196" y="4225149"/>
              <a:ext cx="113299" cy="15095"/>
            </a:xfrm>
            <a:custGeom>
              <a:avLst/>
              <a:gdLst/>
              <a:ahLst/>
              <a:cxnLst/>
              <a:rect l="l" t="t" r="r" b="b"/>
              <a:pathLst>
                <a:path w="113299" h="15095">
                  <a:moveTo>
                    <a:pt x="113299" y="0"/>
                  </a:moveTo>
                  <a:lnTo>
                    <a:pt x="0" y="15095"/>
                  </a:lnTo>
                </a:path>
              </a:pathLst>
            </a:custGeom>
            <a:ln w="25400">
              <a:solidFill>
                <a:srgbClr val="070154"/>
              </a:solidFill>
              <a:prstDash val="solid"/>
            </a:ln>
          </p:spPr>
        </p:sp>
        <p:sp>
          <p:nvSpPr>
            <p:cNvPr id="82" name="node05.items.source-001.arc.arrow-1.cap-1"/>
            <p:cNvSpPr/>
            <p:nvPr/>
          </p:nvSpPr>
          <p:spPr>
            <a:xfrm>
              <a:off x="10132795" y="4212449"/>
              <a:ext cx="25400" cy="25400"/>
            </a:xfrm>
            <a:prstGeom prst="ellipse">
              <a:avLst/>
            </a:prstGeom>
            <a:solidFill>
              <a:srgbClr val="070154"/>
            </a:solidFill>
            <a:ln>
              <a:noFill/>
            </a:ln>
          </p:spPr>
        </p:sp>
        <p:sp>
          <p:nvSpPr>
            <p:cNvPr id="83" name="node05.items.source-001.arc.arrow-1.cap-2"/>
            <p:cNvSpPr/>
            <p:nvPr/>
          </p:nvSpPr>
          <p:spPr>
            <a:xfrm>
              <a:off x="10019496" y="4227545"/>
              <a:ext cx="25400" cy="25400"/>
            </a:xfrm>
            <a:prstGeom prst="ellipse">
              <a:avLst/>
            </a:prstGeom>
            <a:solidFill>
              <a:srgbClr val="070154"/>
            </a:solidFill>
            <a:ln>
              <a:noFill/>
            </a:ln>
          </p:spPr>
        </p:sp>
        <p:sp>
          <p:nvSpPr>
            <p:cNvPr id="84" name="node05.items.source-001.arc.arrow-2"/>
            <p:cNvSpPr/>
            <p:nvPr/>
          </p:nvSpPr>
          <p:spPr>
            <a:xfrm>
              <a:off x="10071577" y="4137968"/>
              <a:ext cx="73918" cy="87182"/>
            </a:xfrm>
            <a:custGeom>
              <a:avLst/>
              <a:gdLst/>
              <a:ahLst/>
              <a:cxnLst/>
              <a:rect l="l" t="t" r="r" b="b"/>
              <a:pathLst>
                <a:path w="73918" h="87182">
                  <a:moveTo>
                    <a:pt x="73918" y="87182"/>
                  </a:moveTo>
                  <a:lnTo>
                    <a:pt x="0" y="0"/>
                  </a:lnTo>
                </a:path>
              </a:pathLst>
            </a:custGeom>
            <a:ln w="25400">
              <a:solidFill>
                <a:srgbClr val="070154"/>
              </a:solidFill>
              <a:prstDash val="solid"/>
            </a:ln>
          </p:spPr>
        </p:sp>
        <p:sp>
          <p:nvSpPr>
            <p:cNvPr id="85" name="node05.items.source-001.arc.arrow-2.cap-1"/>
            <p:cNvSpPr/>
            <p:nvPr/>
          </p:nvSpPr>
          <p:spPr>
            <a:xfrm>
              <a:off x="10132795" y="4212449"/>
              <a:ext cx="25400" cy="25400"/>
            </a:xfrm>
            <a:prstGeom prst="ellipse">
              <a:avLst/>
            </a:prstGeom>
            <a:solidFill>
              <a:srgbClr val="070154"/>
            </a:solidFill>
            <a:ln>
              <a:noFill/>
            </a:ln>
          </p:spPr>
        </p:sp>
        <p:sp>
          <p:nvSpPr>
            <p:cNvPr id="86" name="node05.items.source-001.arc.arrow-2.cap-2"/>
            <p:cNvSpPr/>
            <p:nvPr/>
          </p:nvSpPr>
          <p:spPr>
            <a:xfrm>
              <a:off x="10058877" y="4125268"/>
              <a:ext cx="25400" cy="25400"/>
            </a:xfrm>
            <a:prstGeom prst="ellipse">
              <a:avLst/>
            </a:prstGeom>
            <a:solidFill>
              <a:srgbClr val="070154"/>
            </a:solidFill>
            <a:ln>
              <a:noFill/>
            </a:ln>
          </p:spPr>
        </p:sp>
        <p:sp>
          <p:nvSpPr>
            <p:cNvPr id="87" name="node05.items.source-002.arc"/>
            <p:cNvSpPr/>
            <p:nvPr/>
          </p:nvSpPr>
          <p:spPr>
            <a:xfrm>
              <a:off x="10236566" y="4848456"/>
              <a:ext cx="541818" cy="489615"/>
            </a:xfrm>
            <a:custGeom>
              <a:avLst/>
              <a:gdLst/>
              <a:ahLst/>
              <a:cxnLst/>
              <a:rect l="l" t="t" r="r" b="b"/>
              <a:pathLst>
                <a:path w="541818" h="489615">
                  <a:moveTo>
                    <a:pt x="541818" y="0"/>
                  </a:moveTo>
                  <a:lnTo>
                    <a:pt x="537408" y="21898"/>
                  </a:lnTo>
                  <a:lnTo>
                    <a:pt x="531356" y="43756"/>
                  </a:lnTo>
                  <a:lnTo>
                    <a:pt x="523668" y="65561"/>
                  </a:lnTo>
                  <a:lnTo>
                    <a:pt x="514347" y="87301"/>
                  </a:lnTo>
                  <a:lnTo>
                    <a:pt x="503398" y="108963"/>
                  </a:lnTo>
                  <a:lnTo>
                    <a:pt x="490828" y="130535"/>
                  </a:lnTo>
                  <a:lnTo>
                    <a:pt x="476644" y="152004"/>
                  </a:lnTo>
                  <a:lnTo>
                    <a:pt x="460854" y="173357"/>
                  </a:lnTo>
                  <a:lnTo>
                    <a:pt x="443467" y="194584"/>
                  </a:lnTo>
                  <a:lnTo>
                    <a:pt x="424494" y="215671"/>
                  </a:lnTo>
                  <a:lnTo>
                    <a:pt x="403945" y="236606"/>
                  </a:lnTo>
                  <a:lnTo>
                    <a:pt x="381832" y="257377"/>
                  </a:lnTo>
                  <a:lnTo>
                    <a:pt x="358168" y="277972"/>
                  </a:lnTo>
                  <a:lnTo>
                    <a:pt x="332966" y="298380"/>
                  </a:lnTo>
                  <a:lnTo>
                    <a:pt x="306241" y="318589"/>
                  </a:lnTo>
                  <a:lnTo>
                    <a:pt x="278008" y="338586"/>
                  </a:lnTo>
                  <a:lnTo>
                    <a:pt x="248284" y="358361"/>
                  </a:lnTo>
                  <a:lnTo>
                    <a:pt x="217086" y="377902"/>
                  </a:lnTo>
                  <a:lnTo>
                    <a:pt x="184431" y="397198"/>
                  </a:lnTo>
                  <a:lnTo>
                    <a:pt x="150339" y="416237"/>
                  </a:lnTo>
                  <a:lnTo>
                    <a:pt x="114829" y="435009"/>
                  </a:lnTo>
                  <a:lnTo>
                    <a:pt x="77922" y="453503"/>
                  </a:lnTo>
                  <a:lnTo>
                    <a:pt x="39638" y="471709"/>
                  </a:lnTo>
                  <a:lnTo>
                    <a:pt x="0" y="489615"/>
                  </a:lnTo>
                </a:path>
              </a:pathLst>
            </a:custGeom>
            <a:ln w="25400">
              <a:solidFill>
                <a:srgbClr val="070154"/>
              </a:solidFill>
              <a:prstDash val="solid"/>
            </a:ln>
          </p:spPr>
        </p:sp>
        <p:sp>
          <p:nvSpPr>
            <p:cNvPr id="88" name="node05.items.source-002.arc.cap-1"/>
            <p:cNvSpPr/>
            <p:nvPr/>
          </p:nvSpPr>
          <p:spPr>
            <a:xfrm>
              <a:off x="10765684" y="4835756"/>
              <a:ext cx="25400" cy="25400"/>
            </a:xfrm>
            <a:prstGeom prst="ellipse">
              <a:avLst/>
            </a:prstGeom>
            <a:solidFill>
              <a:srgbClr val="070154"/>
            </a:solidFill>
            <a:ln>
              <a:noFill/>
            </a:ln>
          </p:spPr>
        </p:sp>
        <p:sp>
          <p:nvSpPr>
            <p:cNvPr id="89" name="node05.items.source-002.arc.cap-2"/>
            <p:cNvSpPr/>
            <p:nvPr/>
          </p:nvSpPr>
          <p:spPr>
            <a:xfrm>
              <a:off x="10223866" y="5325371"/>
              <a:ext cx="25400" cy="25400"/>
            </a:xfrm>
            <a:prstGeom prst="ellipse">
              <a:avLst/>
            </a:prstGeom>
            <a:solidFill>
              <a:srgbClr val="070154"/>
            </a:solidFill>
            <a:ln>
              <a:noFill/>
            </a:ln>
          </p:spPr>
        </p:sp>
        <p:sp>
          <p:nvSpPr>
            <p:cNvPr id="90" name="node05.items.source-002.arc.arrow-1"/>
            <p:cNvSpPr/>
            <p:nvPr/>
          </p:nvSpPr>
          <p:spPr>
            <a:xfrm>
              <a:off x="10236566" y="5246836"/>
              <a:ext cx="68853" cy="91234"/>
            </a:xfrm>
            <a:custGeom>
              <a:avLst/>
              <a:gdLst/>
              <a:ahLst/>
              <a:cxnLst/>
              <a:rect l="l" t="t" r="r" b="b"/>
              <a:pathLst>
                <a:path w="68853" h="91234">
                  <a:moveTo>
                    <a:pt x="0" y="91234"/>
                  </a:moveTo>
                  <a:lnTo>
                    <a:pt x="68853" y="0"/>
                  </a:lnTo>
                </a:path>
              </a:pathLst>
            </a:custGeom>
            <a:ln w="25400">
              <a:solidFill>
                <a:srgbClr val="070154"/>
              </a:solidFill>
              <a:prstDash val="solid"/>
            </a:ln>
          </p:spPr>
        </p:sp>
        <p:sp>
          <p:nvSpPr>
            <p:cNvPr id="91" name="node05.items.source-002.arc.arrow-1.cap-1"/>
            <p:cNvSpPr/>
            <p:nvPr/>
          </p:nvSpPr>
          <p:spPr>
            <a:xfrm>
              <a:off x="10223866" y="5325371"/>
              <a:ext cx="25400" cy="25400"/>
            </a:xfrm>
            <a:prstGeom prst="ellipse">
              <a:avLst/>
            </a:prstGeom>
            <a:solidFill>
              <a:srgbClr val="070154"/>
            </a:solidFill>
            <a:ln>
              <a:noFill/>
            </a:ln>
          </p:spPr>
        </p:sp>
        <p:sp>
          <p:nvSpPr>
            <p:cNvPr id="92" name="node05.items.source-002.arc.arrow-1.cap-2"/>
            <p:cNvSpPr/>
            <p:nvPr/>
          </p:nvSpPr>
          <p:spPr>
            <a:xfrm>
              <a:off x="10292719" y="5234136"/>
              <a:ext cx="25400" cy="25400"/>
            </a:xfrm>
            <a:prstGeom prst="ellipse">
              <a:avLst/>
            </a:prstGeom>
            <a:solidFill>
              <a:srgbClr val="070154"/>
            </a:solidFill>
            <a:ln>
              <a:noFill/>
            </a:ln>
          </p:spPr>
        </p:sp>
        <p:sp>
          <p:nvSpPr>
            <p:cNvPr id="93" name="node05.items.source-002.arc.arrow-2"/>
            <p:cNvSpPr/>
            <p:nvPr/>
          </p:nvSpPr>
          <p:spPr>
            <a:xfrm>
              <a:off x="10236566" y="5338071"/>
              <a:ext cx="113973" cy="8644"/>
            </a:xfrm>
            <a:custGeom>
              <a:avLst/>
              <a:gdLst/>
              <a:ahLst/>
              <a:cxnLst/>
              <a:rect l="l" t="t" r="r" b="b"/>
              <a:pathLst>
                <a:path w="113973" h="8644">
                  <a:moveTo>
                    <a:pt x="0" y="0"/>
                  </a:moveTo>
                  <a:lnTo>
                    <a:pt x="113973" y="8644"/>
                  </a:lnTo>
                </a:path>
              </a:pathLst>
            </a:custGeom>
            <a:ln w="25400">
              <a:solidFill>
                <a:srgbClr val="070154"/>
              </a:solidFill>
              <a:prstDash val="solid"/>
            </a:ln>
          </p:spPr>
        </p:sp>
        <p:sp>
          <p:nvSpPr>
            <p:cNvPr id="94" name="node05.items.source-002.arc.arrow-2.cap-1"/>
            <p:cNvSpPr/>
            <p:nvPr/>
          </p:nvSpPr>
          <p:spPr>
            <a:xfrm>
              <a:off x="10223866" y="5325371"/>
              <a:ext cx="25400" cy="25400"/>
            </a:xfrm>
            <a:prstGeom prst="ellipse">
              <a:avLst/>
            </a:prstGeom>
            <a:solidFill>
              <a:srgbClr val="070154"/>
            </a:solidFill>
            <a:ln>
              <a:noFill/>
            </a:ln>
          </p:spPr>
        </p:sp>
        <p:sp>
          <p:nvSpPr>
            <p:cNvPr id="95" name="node05.items.source-002.arc.arrow-2.cap-2"/>
            <p:cNvSpPr/>
            <p:nvPr/>
          </p:nvSpPr>
          <p:spPr>
            <a:xfrm>
              <a:off x="10337839" y="5334015"/>
              <a:ext cx="25400" cy="25400"/>
            </a:xfrm>
            <a:prstGeom prst="ellipse">
              <a:avLst/>
            </a:prstGeom>
            <a:solidFill>
              <a:srgbClr val="070154"/>
            </a:solidFill>
            <a:ln>
              <a:noFill/>
            </a:ln>
          </p:spPr>
        </p:sp>
        <p:sp>
          <p:nvSpPr>
            <p:cNvPr id="96" name="node05.items.source-003.arc"/>
            <p:cNvSpPr/>
            <p:nvPr/>
          </p:nvSpPr>
          <p:spPr>
            <a:xfrm>
              <a:off x="7330692" y="5670246"/>
              <a:ext cx="1477124" cy="44719"/>
            </a:xfrm>
            <a:custGeom>
              <a:avLst/>
              <a:gdLst/>
              <a:ahLst/>
              <a:cxnLst/>
              <a:rect l="l" t="t" r="r" b="b"/>
              <a:pathLst>
                <a:path w="1477124" h="44719">
                  <a:moveTo>
                    <a:pt x="1477124" y="0"/>
                  </a:moveTo>
                  <a:lnTo>
                    <a:pt x="1417628" y="5957"/>
                  </a:lnTo>
                  <a:lnTo>
                    <a:pt x="1357741" y="11498"/>
                  </a:lnTo>
                  <a:lnTo>
                    <a:pt x="1297491" y="16619"/>
                  </a:lnTo>
                  <a:lnTo>
                    <a:pt x="1236905" y="21318"/>
                  </a:lnTo>
                  <a:lnTo>
                    <a:pt x="1176014" y="25593"/>
                  </a:lnTo>
                  <a:lnTo>
                    <a:pt x="1114846" y="29442"/>
                  </a:lnTo>
                  <a:lnTo>
                    <a:pt x="1053430" y="32863"/>
                  </a:lnTo>
                  <a:lnTo>
                    <a:pt x="991795" y="35855"/>
                  </a:lnTo>
                  <a:lnTo>
                    <a:pt x="929971" y="38416"/>
                  </a:lnTo>
                  <a:lnTo>
                    <a:pt x="867987" y="40544"/>
                  </a:lnTo>
                  <a:lnTo>
                    <a:pt x="805873" y="42239"/>
                  </a:lnTo>
                  <a:lnTo>
                    <a:pt x="743658" y="43501"/>
                  </a:lnTo>
                  <a:lnTo>
                    <a:pt x="681371" y="44327"/>
                  </a:lnTo>
                  <a:lnTo>
                    <a:pt x="619044" y="44719"/>
                  </a:lnTo>
                  <a:lnTo>
                    <a:pt x="556704" y="44676"/>
                  </a:lnTo>
                  <a:lnTo>
                    <a:pt x="494382" y="44197"/>
                  </a:lnTo>
                  <a:lnTo>
                    <a:pt x="432108" y="43283"/>
                  </a:lnTo>
                  <a:lnTo>
                    <a:pt x="369911" y="41935"/>
                  </a:lnTo>
                  <a:lnTo>
                    <a:pt x="307820" y="40153"/>
                  </a:lnTo>
                  <a:lnTo>
                    <a:pt x="245866" y="37938"/>
                  </a:lnTo>
                  <a:lnTo>
                    <a:pt x="184077" y="35291"/>
                  </a:lnTo>
                  <a:lnTo>
                    <a:pt x="122484" y="32213"/>
                  </a:lnTo>
                  <a:lnTo>
                    <a:pt x="61115" y="28707"/>
                  </a:lnTo>
                  <a:lnTo>
                    <a:pt x="0" y="24772"/>
                  </a:lnTo>
                </a:path>
              </a:pathLst>
            </a:custGeom>
            <a:ln w="25400">
              <a:solidFill>
                <a:srgbClr val="070154"/>
              </a:solidFill>
              <a:prstDash val="solid"/>
            </a:ln>
          </p:spPr>
        </p:sp>
        <p:sp>
          <p:nvSpPr>
            <p:cNvPr id="97" name="node05.items.source-003.arc.cap-1"/>
            <p:cNvSpPr/>
            <p:nvPr/>
          </p:nvSpPr>
          <p:spPr>
            <a:xfrm>
              <a:off x="8795116" y="5657546"/>
              <a:ext cx="25400" cy="25400"/>
            </a:xfrm>
            <a:prstGeom prst="ellipse">
              <a:avLst/>
            </a:prstGeom>
            <a:solidFill>
              <a:srgbClr val="070154"/>
            </a:solidFill>
            <a:ln>
              <a:noFill/>
            </a:ln>
          </p:spPr>
        </p:sp>
        <p:sp>
          <p:nvSpPr>
            <p:cNvPr id="98" name="node05.items.source-003.arc.cap-2"/>
            <p:cNvSpPr/>
            <p:nvPr/>
          </p:nvSpPr>
          <p:spPr>
            <a:xfrm>
              <a:off x="7317992" y="5682318"/>
              <a:ext cx="25400" cy="25400"/>
            </a:xfrm>
            <a:prstGeom prst="ellipse">
              <a:avLst/>
            </a:prstGeom>
            <a:solidFill>
              <a:srgbClr val="070154"/>
            </a:solidFill>
            <a:ln>
              <a:noFill/>
            </a:ln>
          </p:spPr>
        </p:sp>
        <p:sp>
          <p:nvSpPr>
            <p:cNvPr id="99" name="node05.items.source-003.arc.arrow-1"/>
            <p:cNvSpPr/>
            <p:nvPr/>
          </p:nvSpPr>
          <p:spPr>
            <a:xfrm>
              <a:off x="7330692" y="5646777"/>
              <a:ext cx="103621" cy="48241"/>
            </a:xfrm>
            <a:custGeom>
              <a:avLst/>
              <a:gdLst/>
              <a:ahLst/>
              <a:cxnLst/>
              <a:rect l="l" t="t" r="r" b="b"/>
              <a:pathLst>
                <a:path w="103621" h="48241">
                  <a:moveTo>
                    <a:pt x="0" y="48241"/>
                  </a:moveTo>
                  <a:lnTo>
                    <a:pt x="103621" y="0"/>
                  </a:lnTo>
                </a:path>
              </a:pathLst>
            </a:custGeom>
            <a:ln w="25400">
              <a:solidFill>
                <a:srgbClr val="070154"/>
              </a:solidFill>
              <a:prstDash val="solid"/>
            </a:ln>
          </p:spPr>
        </p:sp>
        <p:sp>
          <p:nvSpPr>
            <p:cNvPr id="100" name="node05.items.source-003.arc.arrow-1.cap-1"/>
            <p:cNvSpPr/>
            <p:nvPr/>
          </p:nvSpPr>
          <p:spPr>
            <a:xfrm>
              <a:off x="7317992" y="5682318"/>
              <a:ext cx="25400" cy="25400"/>
            </a:xfrm>
            <a:prstGeom prst="ellipse">
              <a:avLst/>
            </a:prstGeom>
            <a:solidFill>
              <a:srgbClr val="070154"/>
            </a:solidFill>
            <a:ln>
              <a:noFill/>
            </a:ln>
          </p:spPr>
        </p:sp>
        <p:sp>
          <p:nvSpPr>
            <p:cNvPr id="101" name="node05.items.source-003.arc.arrow-1.cap-2"/>
            <p:cNvSpPr/>
            <p:nvPr/>
          </p:nvSpPr>
          <p:spPr>
            <a:xfrm>
              <a:off x="7421613" y="5634077"/>
              <a:ext cx="25400" cy="25400"/>
            </a:xfrm>
            <a:prstGeom prst="ellipse">
              <a:avLst/>
            </a:prstGeom>
            <a:solidFill>
              <a:srgbClr val="070154"/>
            </a:solidFill>
            <a:ln>
              <a:noFill/>
            </a:ln>
          </p:spPr>
        </p:sp>
        <p:sp>
          <p:nvSpPr>
            <p:cNvPr id="102" name="node05.items.source-003.arc.arrow-2"/>
            <p:cNvSpPr/>
            <p:nvPr/>
          </p:nvSpPr>
          <p:spPr>
            <a:xfrm>
              <a:off x="7330692" y="5695018"/>
              <a:ext cx="96580" cy="61129"/>
            </a:xfrm>
            <a:custGeom>
              <a:avLst/>
              <a:gdLst/>
              <a:ahLst/>
              <a:cxnLst/>
              <a:rect l="l" t="t" r="r" b="b"/>
              <a:pathLst>
                <a:path w="96580" h="61129">
                  <a:moveTo>
                    <a:pt x="0" y="0"/>
                  </a:moveTo>
                  <a:lnTo>
                    <a:pt x="96580" y="61129"/>
                  </a:lnTo>
                </a:path>
              </a:pathLst>
            </a:custGeom>
            <a:ln w="25400">
              <a:solidFill>
                <a:srgbClr val="070154"/>
              </a:solidFill>
              <a:prstDash val="solid"/>
            </a:ln>
          </p:spPr>
        </p:sp>
        <p:sp>
          <p:nvSpPr>
            <p:cNvPr id="103" name="node05.items.source-003.arc.arrow-2.cap-1"/>
            <p:cNvSpPr/>
            <p:nvPr/>
          </p:nvSpPr>
          <p:spPr>
            <a:xfrm>
              <a:off x="7317992" y="5682318"/>
              <a:ext cx="25400" cy="25400"/>
            </a:xfrm>
            <a:prstGeom prst="ellipse">
              <a:avLst/>
            </a:prstGeom>
            <a:solidFill>
              <a:srgbClr val="070154"/>
            </a:solidFill>
            <a:ln>
              <a:noFill/>
            </a:ln>
          </p:spPr>
        </p:sp>
        <p:sp>
          <p:nvSpPr>
            <p:cNvPr id="104" name="node05.items.source-003.arc.arrow-2.cap-2"/>
            <p:cNvSpPr/>
            <p:nvPr/>
          </p:nvSpPr>
          <p:spPr>
            <a:xfrm>
              <a:off x="7414572" y="5743448"/>
              <a:ext cx="25400" cy="25400"/>
            </a:xfrm>
            <a:prstGeom prst="ellipse">
              <a:avLst/>
            </a:prstGeom>
            <a:solidFill>
              <a:srgbClr val="070154"/>
            </a:solidFill>
            <a:ln>
              <a:noFill/>
            </a:ln>
          </p:spPr>
        </p:sp>
        <p:sp>
          <p:nvSpPr>
            <p:cNvPr id="105" name="node05.items.source-004.arc"/>
            <p:cNvSpPr/>
            <p:nvPr/>
          </p:nvSpPr>
          <p:spPr>
            <a:xfrm>
              <a:off x="5088599" y="4912037"/>
              <a:ext cx="361533" cy="345763"/>
            </a:xfrm>
            <a:custGeom>
              <a:avLst/>
              <a:gdLst/>
              <a:ahLst/>
              <a:cxnLst/>
              <a:rect l="l" t="t" r="r" b="b"/>
              <a:pathLst>
                <a:path w="361533" h="345763">
                  <a:moveTo>
                    <a:pt x="361533" y="345763"/>
                  </a:moveTo>
                  <a:lnTo>
                    <a:pt x="337983" y="332454"/>
                  </a:lnTo>
                  <a:lnTo>
                    <a:pt x="315132" y="319021"/>
                  </a:lnTo>
                  <a:lnTo>
                    <a:pt x="292986" y="305468"/>
                  </a:lnTo>
                  <a:lnTo>
                    <a:pt x="271551" y="291798"/>
                  </a:lnTo>
                  <a:lnTo>
                    <a:pt x="250834" y="278016"/>
                  </a:lnTo>
                  <a:lnTo>
                    <a:pt x="230841" y="264124"/>
                  </a:lnTo>
                  <a:lnTo>
                    <a:pt x="211576" y="250127"/>
                  </a:lnTo>
                  <a:lnTo>
                    <a:pt x="193045" y="236030"/>
                  </a:lnTo>
                  <a:lnTo>
                    <a:pt x="175254" y="221834"/>
                  </a:lnTo>
                  <a:lnTo>
                    <a:pt x="158207" y="207546"/>
                  </a:lnTo>
                  <a:lnTo>
                    <a:pt x="141910" y="193169"/>
                  </a:lnTo>
                  <a:lnTo>
                    <a:pt x="126366" y="178706"/>
                  </a:lnTo>
                  <a:lnTo>
                    <a:pt x="111580" y="164162"/>
                  </a:lnTo>
                  <a:lnTo>
                    <a:pt x="97557" y="149541"/>
                  </a:lnTo>
                  <a:lnTo>
                    <a:pt x="84299" y="134847"/>
                  </a:lnTo>
                  <a:lnTo>
                    <a:pt x="71812" y="120084"/>
                  </a:lnTo>
                  <a:lnTo>
                    <a:pt x="60097" y="105257"/>
                  </a:lnTo>
                  <a:lnTo>
                    <a:pt x="49160" y="90368"/>
                  </a:lnTo>
                  <a:lnTo>
                    <a:pt x="39002" y="75424"/>
                  </a:lnTo>
                  <a:lnTo>
                    <a:pt x="29627" y="60427"/>
                  </a:lnTo>
                  <a:lnTo>
                    <a:pt x="21037" y="45382"/>
                  </a:lnTo>
                  <a:lnTo>
                    <a:pt x="13234" y="30293"/>
                  </a:lnTo>
                  <a:lnTo>
                    <a:pt x="6221" y="15164"/>
                  </a:lnTo>
                  <a:lnTo>
                    <a:pt x="0" y="0"/>
                  </a:lnTo>
                </a:path>
              </a:pathLst>
            </a:custGeom>
            <a:ln w="25400">
              <a:solidFill>
                <a:srgbClr val="070154"/>
              </a:solidFill>
              <a:prstDash val="solid"/>
            </a:ln>
          </p:spPr>
        </p:sp>
        <p:sp>
          <p:nvSpPr>
            <p:cNvPr id="106" name="node05.items.source-004.arc.cap-1"/>
            <p:cNvSpPr/>
            <p:nvPr/>
          </p:nvSpPr>
          <p:spPr>
            <a:xfrm>
              <a:off x="5437432" y="5245100"/>
              <a:ext cx="25400" cy="25400"/>
            </a:xfrm>
            <a:prstGeom prst="ellipse">
              <a:avLst/>
            </a:prstGeom>
            <a:solidFill>
              <a:srgbClr val="070154"/>
            </a:solidFill>
            <a:ln>
              <a:noFill/>
            </a:ln>
          </p:spPr>
        </p:sp>
        <p:sp>
          <p:nvSpPr>
            <p:cNvPr id="107" name="node05.items.source-004.arc.cap-2"/>
            <p:cNvSpPr/>
            <p:nvPr/>
          </p:nvSpPr>
          <p:spPr>
            <a:xfrm>
              <a:off x="5075899" y="4899337"/>
              <a:ext cx="25400" cy="25400"/>
            </a:xfrm>
            <a:prstGeom prst="ellipse">
              <a:avLst/>
            </a:prstGeom>
            <a:solidFill>
              <a:srgbClr val="070154"/>
            </a:solidFill>
            <a:ln>
              <a:noFill/>
            </a:ln>
          </p:spPr>
        </p:sp>
        <p:sp>
          <p:nvSpPr>
            <p:cNvPr id="108" name="node05.items.source-004.arc.arrow-1"/>
            <p:cNvSpPr/>
            <p:nvPr/>
          </p:nvSpPr>
          <p:spPr>
            <a:xfrm>
              <a:off x="5088599" y="4912037"/>
              <a:ext cx="88770" cy="72002"/>
            </a:xfrm>
            <a:custGeom>
              <a:avLst/>
              <a:gdLst/>
              <a:ahLst/>
              <a:cxnLst/>
              <a:rect l="l" t="t" r="r" b="b"/>
              <a:pathLst>
                <a:path w="88770" h="72002">
                  <a:moveTo>
                    <a:pt x="0" y="0"/>
                  </a:moveTo>
                  <a:lnTo>
                    <a:pt x="88770" y="72002"/>
                  </a:lnTo>
                </a:path>
              </a:pathLst>
            </a:custGeom>
            <a:ln w="25400">
              <a:solidFill>
                <a:srgbClr val="070154"/>
              </a:solidFill>
              <a:prstDash val="solid"/>
            </a:ln>
          </p:spPr>
        </p:sp>
        <p:sp>
          <p:nvSpPr>
            <p:cNvPr id="109" name="node05.items.source-004.arc.arrow-1.cap-1"/>
            <p:cNvSpPr/>
            <p:nvPr/>
          </p:nvSpPr>
          <p:spPr>
            <a:xfrm>
              <a:off x="5075899" y="4899337"/>
              <a:ext cx="25400" cy="25400"/>
            </a:xfrm>
            <a:prstGeom prst="ellipse">
              <a:avLst/>
            </a:prstGeom>
            <a:solidFill>
              <a:srgbClr val="070154"/>
            </a:solidFill>
            <a:ln>
              <a:noFill/>
            </a:ln>
          </p:spPr>
        </p:sp>
        <p:sp>
          <p:nvSpPr>
            <p:cNvPr id="110" name="node05.items.source-004.arc.arrow-1.cap-2"/>
            <p:cNvSpPr/>
            <p:nvPr/>
          </p:nvSpPr>
          <p:spPr>
            <a:xfrm>
              <a:off x="5164670" y="4971340"/>
              <a:ext cx="25400" cy="25400"/>
            </a:xfrm>
            <a:prstGeom prst="ellipse">
              <a:avLst/>
            </a:prstGeom>
            <a:solidFill>
              <a:srgbClr val="070154"/>
            </a:solidFill>
            <a:ln>
              <a:noFill/>
            </a:ln>
          </p:spPr>
        </p:sp>
        <p:sp>
          <p:nvSpPr>
            <p:cNvPr id="111" name="node05.items.source-004.arc.arrow-2"/>
            <p:cNvSpPr/>
            <p:nvPr/>
          </p:nvSpPr>
          <p:spPr>
            <a:xfrm>
              <a:off x="5075974" y="4912037"/>
              <a:ext cx="12625" cy="113601"/>
            </a:xfrm>
            <a:custGeom>
              <a:avLst/>
              <a:gdLst/>
              <a:ahLst/>
              <a:cxnLst/>
              <a:rect l="l" t="t" r="r" b="b"/>
              <a:pathLst>
                <a:path w="12625" h="113601">
                  <a:moveTo>
                    <a:pt x="12625" y="0"/>
                  </a:moveTo>
                  <a:lnTo>
                    <a:pt x="0" y="113601"/>
                  </a:lnTo>
                </a:path>
              </a:pathLst>
            </a:custGeom>
            <a:ln w="25400">
              <a:solidFill>
                <a:srgbClr val="070154"/>
              </a:solidFill>
              <a:prstDash val="solid"/>
            </a:ln>
          </p:spPr>
        </p:sp>
        <p:sp>
          <p:nvSpPr>
            <p:cNvPr id="112" name="node05.items.source-004.arc.arrow-2.cap-1"/>
            <p:cNvSpPr/>
            <p:nvPr/>
          </p:nvSpPr>
          <p:spPr>
            <a:xfrm>
              <a:off x="5075899" y="4899337"/>
              <a:ext cx="25400" cy="25400"/>
            </a:xfrm>
            <a:prstGeom prst="ellipse">
              <a:avLst/>
            </a:prstGeom>
            <a:solidFill>
              <a:srgbClr val="070154"/>
            </a:solidFill>
            <a:ln>
              <a:noFill/>
            </a:ln>
          </p:spPr>
        </p:sp>
        <p:sp>
          <p:nvSpPr>
            <p:cNvPr id="113" name="node05.items.source-004.arc.arrow-2.cap-2"/>
            <p:cNvSpPr/>
            <p:nvPr/>
          </p:nvSpPr>
          <p:spPr>
            <a:xfrm>
              <a:off x="5063274" y="5012938"/>
              <a:ext cx="25400" cy="25400"/>
            </a:xfrm>
            <a:prstGeom prst="ellipse">
              <a:avLst/>
            </a:prstGeom>
            <a:solidFill>
              <a:srgbClr val="070154"/>
            </a:solidFill>
            <a:ln>
              <a:noFill/>
            </a:ln>
          </p:spPr>
        </p:sp>
        <p:sp>
          <p:nvSpPr>
            <p:cNvPr id="114" name="node05.loops.source-001.curve"/>
            <p:cNvSpPr/>
            <p:nvPr/>
          </p:nvSpPr>
          <p:spPr>
            <a:xfrm>
              <a:off x="9587416" y="4822835"/>
              <a:ext cx="337578" cy="412730"/>
            </a:xfrm>
            <a:custGeom>
              <a:avLst/>
              <a:gdLst/>
              <a:ahLst/>
              <a:cxnLst/>
              <a:rect l="l" t="t" r="r" b="b"/>
              <a:pathLst>
                <a:path w="337578" h="412730">
                  <a:moveTo>
                    <a:pt x="552" y="412730"/>
                  </a:moveTo>
                  <a:quadBezTo>
                    <a:pt x="-13651" y="149215"/>
                    <a:pt x="337578" y="0"/>
                  </a:quadBezTo>
                </a:path>
              </a:pathLst>
            </a:custGeom>
            <a:ln w="19050">
              <a:solidFill>
                <a:srgbClr val="0047FF"/>
              </a:solidFill>
              <a:prstDash val="dash"/>
            </a:ln>
          </p:spPr>
        </p:sp>
        <p:sp>
          <p:nvSpPr>
            <p:cNvPr id="115" name="node05.loops.source-001.arrow-1"/>
            <p:cNvSpPr/>
            <p:nvPr/>
          </p:nvSpPr>
          <p:spPr>
            <a:xfrm>
              <a:off x="9855902" y="4822835"/>
              <a:ext cx="69091" cy="91054"/>
            </a:xfrm>
            <a:custGeom>
              <a:avLst/>
              <a:gdLst/>
              <a:ahLst/>
              <a:cxnLst/>
              <a:rect l="l" t="t" r="r" b="b"/>
              <a:pathLst>
                <a:path w="69091" h="91054">
                  <a:moveTo>
                    <a:pt x="69091" y="0"/>
                  </a:moveTo>
                  <a:lnTo>
                    <a:pt x="0" y="91054"/>
                  </a:lnTo>
                </a:path>
              </a:pathLst>
            </a:custGeom>
            <a:ln w="25400">
              <a:solidFill>
                <a:srgbClr val="0047FF"/>
              </a:solidFill>
              <a:prstDash val="solid"/>
            </a:ln>
          </p:spPr>
        </p:sp>
        <p:sp>
          <p:nvSpPr>
            <p:cNvPr id="116" name="node05.loops.source-001.arrow-1.cap-1"/>
            <p:cNvSpPr/>
            <p:nvPr/>
          </p:nvSpPr>
          <p:spPr>
            <a:xfrm>
              <a:off x="9912294" y="4810135"/>
              <a:ext cx="25400" cy="25400"/>
            </a:xfrm>
            <a:prstGeom prst="ellipse">
              <a:avLst/>
            </a:prstGeom>
            <a:solidFill>
              <a:srgbClr val="0047FF"/>
            </a:solidFill>
            <a:ln>
              <a:noFill/>
            </a:ln>
          </p:spPr>
        </p:sp>
        <p:sp>
          <p:nvSpPr>
            <p:cNvPr id="117" name="node05.loops.source-001.arrow-1.cap-2"/>
            <p:cNvSpPr/>
            <p:nvPr/>
          </p:nvSpPr>
          <p:spPr>
            <a:xfrm>
              <a:off x="9843202" y="4901189"/>
              <a:ext cx="25400" cy="25400"/>
            </a:xfrm>
            <a:prstGeom prst="ellipse">
              <a:avLst/>
            </a:prstGeom>
            <a:solidFill>
              <a:srgbClr val="0047FF"/>
            </a:solidFill>
            <a:ln>
              <a:noFill/>
            </a:ln>
          </p:spPr>
        </p:sp>
        <p:sp>
          <p:nvSpPr>
            <p:cNvPr id="118" name="node05.loops.source-001.arrow-2"/>
            <p:cNvSpPr/>
            <p:nvPr/>
          </p:nvSpPr>
          <p:spPr>
            <a:xfrm>
              <a:off x="9811044" y="4813893"/>
              <a:ext cx="113950" cy="8942"/>
            </a:xfrm>
            <a:custGeom>
              <a:avLst/>
              <a:gdLst/>
              <a:ahLst/>
              <a:cxnLst/>
              <a:rect l="l" t="t" r="r" b="b"/>
              <a:pathLst>
                <a:path w="113950" h="8942">
                  <a:moveTo>
                    <a:pt x="113950" y="8942"/>
                  </a:moveTo>
                  <a:lnTo>
                    <a:pt x="0" y="0"/>
                  </a:lnTo>
                </a:path>
              </a:pathLst>
            </a:custGeom>
            <a:ln w="25400">
              <a:solidFill>
                <a:srgbClr val="0047FF"/>
              </a:solidFill>
              <a:prstDash val="solid"/>
            </a:ln>
          </p:spPr>
        </p:sp>
        <p:sp>
          <p:nvSpPr>
            <p:cNvPr id="119" name="node05.loops.source-001.arrow-2.cap-1"/>
            <p:cNvSpPr/>
            <p:nvPr/>
          </p:nvSpPr>
          <p:spPr>
            <a:xfrm>
              <a:off x="9912294" y="4810135"/>
              <a:ext cx="25400" cy="25400"/>
            </a:xfrm>
            <a:prstGeom prst="ellipse">
              <a:avLst/>
            </a:prstGeom>
            <a:solidFill>
              <a:srgbClr val="0047FF"/>
            </a:solidFill>
            <a:ln>
              <a:noFill/>
            </a:ln>
          </p:spPr>
        </p:sp>
        <p:sp>
          <p:nvSpPr>
            <p:cNvPr id="120" name="node05.loops.source-001.arrow-2.cap-2"/>
            <p:cNvSpPr/>
            <p:nvPr/>
          </p:nvSpPr>
          <p:spPr>
            <a:xfrm>
              <a:off x="9798344" y="4801193"/>
              <a:ext cx="25400" cy="25400"/>
            </a:xfrm>
            <a:prstGeom prst="ellipse">
              <a:avLst/>
            </a:prstGeom>
            <a:solidFill>
              <a:srgbClr val="0047FF"/>
            </a:solidFill>
            <a:ln>
              <a:noFill/>
            </a:ln>
          </p:spPr>
        </p:sp>
        <p:sp>
          <p:nvSpPr>
            <p:cNvPr id="121" name="node05.loops.source-002.curve"/>
            <p:cNvSpPr/>
            <p:nvPr/>
          </p:nvSpPr>
          <p:spPr>
            <a:xfrm>
              <a:off x="6642548" y="4191000"/>
              <a:ext cx="1056106" cy="1044565"/>
            </a:xfrm>
            <a:custGeom>
              <a:avLst/>
              <a:gdLst/>
              <a:ahLst/>
              <a:cxnLst/>
              <a:rect l="l" t="t" r="r" b="b"/>
              <a:pathLst>
                <a:path w="1056106" h="1044565">
                  <a:moveTo>
                    <a:pt x="0" y="1044565"/>
                  </a:moveTo>
                  <a:quadBezTo>
                    <a:pt x="652403" y="544112"/>
                    <a:pt x="1056106" y="0"/>
                  </a:quadBezTo>
                </a:path>
              </a:pathLst>
            </a:custGeom>
            <a:ln w="19050">
              <a:solidFill>
                <a:srgbClr val="0047FF"/>
              </a:solidFill>
              <a:prstDash val="dash"/>
            </a:ln>
          </p:spPr>
        </p:sp>
        <p:sp>
          <p:nvSpPr>
            <p:cNvPr id="122" name="node05.loops.source-002.arrow-1"/>
            <p:cNvSpPr/>
            <p:nvPr/>
          </p:nvSpPr>
          <p:spPr>
            <a:xfrm>
              <a:off x="7681769" y="4191000"/>
              <a:ext cx="16886" cy="113046"/>
            </a:xfrm>
            <a:custGeom>
              <a:avLst/>
              <a:gdLst/>
              <a:ahLst/>
              <a:cxnLst/>
              <a:rect l="l" t="t" r="r" b="b"/>
              <a:pathLst>
                <a:path w="16886" h="113046">
                  <a:moveTo>
                    <a:pt x="16886" y="0"/>
                  </a:moveTo>
                  <a:lnTo>
                    <a:pt x="0" y="113046"/>
                  </a:lnTo>
                </a:path>
              </a:pathLst>
            </a:custGeom>
            <a:ln w="25400">
              <a:solidFill>
                <a:srgbClr val="0047FF"/>
              </a:solidFill>
              <a:prstDash val="solid"/>
            </a:ln>
          </p:spPr>
        </p:sp>
        <p:sp>
          <p:nvSpPr>
            <p:cNvPr id="123" name="node05.loops.source-002.arrow-1.cap-1"/>
            <p:cNvSpPr/>
            <p:nvPr/>
          </p:nvSpPr>
          <p:spPr>
            <a:xfrm>
              <a:off x="7685954" y="4178300"/>
              <a:ext cx="25400" cy="25400"/>
            </a:xfrm>
            <a:prstGeom prst="ellipse">
              <a:avLst/>
            </a:prstGeom>
            <a:solidFill>
              <a:srgbClr val="0047FF"/>
            </a:solidFill>
            <a:ln>
              <a:noFill/>
            </a:ln>
          </p:spPr>
        </p:sp>
        <p:sp>
          <p:nvSpPr>
            <p:cNvPr id="124" name="node05.loops.source-002.arrow-1.cap-2"/>
            <p:cNvSpPr/>
            <p:nvPr/>
          </p:nvSpPr>
          <p:spPr>
            <a:xfrm>
              <a:off x="7669069" y="4291346"/>
              <a:ext cx="25400" cy="25400"/>
            </a:xfrm>
            <a:prstGeom prst="ellipse">
              <a:avLst/>
            </a:prstGeom>
            <a:solidFill>
              <a:srgbClr val="0047FF"/>
            </a:solidFill>
            <a:ln>
              <a:noFill/>
            </a:ln>
          </p:spPr>
        </p:sp>
        <p:sp>
          <p:nvSpPr>
            <p:cNvPr id="125" name="node05.loops.source-002.arrow-2"/>
            <p:cNvSpPr/>
            <p:nvPr/>
          </p:nvSpPr>
          <p:spPr>
            <a:xfrm>
              <a:off x="7594406" y="4191000"/>
              <a:ext cx="104248" cy="46870"/>
            </a:xfrm>
            <a:custGeom>
              <a:avLst/>
              <a:gdLst/>
              <a:ahLst/>
              <a:cxnLst/>
              <a:rect l="l" t="t" r="r" b="b"/>
              <a:pathLst>
                <a:path w="104248" h="46870">
                  <a:moveTo>
                    <a:pt x="104248" y="0"/>
                  </a:moveTo>
                  <a:lnTo>
                    <a:pt x="0" y="46870"/>
                  </a:lnTo>
                </a:path>
              </a:pathLst>
            </a:custGeom>
            <a:ln w="25400">
              <a:solidFill>
                <a:srgbClr val="0047FF"/>
              </a:solidFill>
              <a:prstDash val="solid"/>
            </a:ln>
          </p:spPr>
        </p:sp>
        <p:sp>
          <p:nvSpPr>
            <p:cNvPr id="126" name="node05.loops.source-002.arrow-2.cap-1"/>
            <p:cNvSpPr/>
            <p:nvPr/>
          </p:nvSpPr>
          <p:spPr>
            <a:xfrm>
              <a:off x="7685954" y="4178300"/>
              <a:ext cx="25400" cy="25400"/>
            </a:xfrm>
            <a:prstGeom prst="ellipse">
              <a:avLst/>
            </a:prstGeom>
            <a:solidFill>
              <a:srgbClr val="0047FF"/>
            </a:solidFill>
            <a:ln>
              <a:noFill/>
            </a:ln>
          </p:spPr>
        </p:sp>
        <p:sp>
          <p:nvSpPr>
            <p:cNvPr id="127" name="node05.loops.source-002.arrow-2.cap-2"/>
            <p:cNvSpPr/>
            <p:nvPr/>
          </p:nvSpPr>
          <p:spPr>
            <a:xfrm>
              <a:off x="7581706" y="4225170"/>
              <a:ext cx="25400" cy="25400"/>
            </a:xfrm>
            <a:prstGeom prst="ellipse">
              <a:avLst/>
            </a:prstGeom>
            <a:solidFill>
              <a:srgbClr val="0047FF"/>
            </a:solidFill>
            <a:ln>
              <a:noFill/>
            </a:ln>
          </p:spPr>
        </p:sp>
        <p:sp>
          <p:nvSpPr>
            <p:cNvPr id="128" name="node05.center.label"/>
            <p:cNvSpPr/>
            <p:nvPr/>
          </p:nvSpPr>
          <p:spPr>
            <a:xfrm>
              <a:off x="6438900" y="4384675"/>
              <a:ext cx="2971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SDLC</a:t>
              </a:r>
              <a:endParaRPr lang="en-US" sz="800" spc="48" kern="0" b="0" i="0" dirty="0">
                <a:solidFill>
                  <a:srgbClr val="0047FF"/>
                </a:solidFill>
                <a:latin typeface="IBM Plex Mono SemiBold"/>
                <a:ea typeface="IBM Plex Mono SemiBold"/>
                <a:cs typeface="IBM Plex Mono SemiBold"/>
              </a:endParaRPr>
            </a:p>
          </p:txBody>
        </p:sp>
        <p:sp>
          <p:nvSpPr>
            <p:cNvPr id="129" name="node05.items.source-001.surface"/>
            <p:cNvSpPr/>
            <p:nvPr/>
          </p:nvSpPr>
          <p:spPr>
            <a:xfrm>
              <a:off x="7239000" y="3657600"/>
              <a:ext cx="1371600" cy="457200"/>
            </a:xfrm>
            <a:prstGeom prst="rect">
              <a:avLst/>
            </a:prstGeom>
            <a:solidFill>
              <a:srgbClr val="070154"/>
            </a:solidFill>
            <a:ln>
              <a:noFill/>
            </a:ln>
          </p:spPr>
        </p:sp>
        <p:sp>
          <p:nvSpPr>
            <p:cNvPr id="130" name="node05.items.source-001.label"/>
            <p:cNvSpPr/>
            <p:nvPr/>
          </p:nvSpPr>
          <p:spPr>
            <a:xfrm>
              <a:off x="7391400" y="37782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Design</a:t>
              </a:r>
              <a:endParaRPr lang="en-US" sz="1200" spc="0" kern="0" b="0" i="0" dirty="0">
                <a:solidFill>
                  <a:srgbClr val="FFFFFF"/>
                </a:solidFill>
                <a:latin typeface="IBM Plex Sans SemiBold"/>
                <a:ea typeface="IBM Plex Sans SemiBold"/>
                <a:cs typeface="IBM Plex Sans SemiBold"/>
              </a:endParaRPr>
            </a:p>
          </p:txBody>
        </p:sp>
        <p:sp>
          <p:nvSpPr>
            <p:cNvPr id="131" name="node05.items.source-002.surface"/>
            <p:cNvSpPr/>
            <p:nvPr/>
          </p:nvSpPr>
          <p:spPr>
            <a:xfrm>
              <a:off x="9956644" y="4289435"/>
              <a:ext cx="1371600" cy="457200"/>
            </a:xfrm>
            <a:prstGeom prst="rect">
              <a:avLst/>
            </a:prstGeom>
            <a:solidFill>
              <a:srgbClr val="070154"/>
            </a:solidFill>
            <a:ln>
              <a:noFill/>
            </a:ln>
          </p:spPr>
        </p:sp>
        <p:sp>
          <p:nvSpPr>
            <p:cNvPr id="132" name="node05.items.source-002.label"/>
            <p:cNvSpPr/>
            <p:nvPr/>
          </p:nvSpPr>
          <p:spPr>
            <a:xfrm>
              <a:off x="10109044" y="4410085"/>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Build</a:t>
              </a:r>
              <a:endParaRPr lang="en-US" sz="1200" spc="0" kern="0" b="0" i="0" dirty="0">
                <a:solidFill>
                  <a:srgbClr val="FFFFFF"/>
                </a:solidFill>
                <a:latin typeface="IBM Plex Sans SemiBold"/>
                <a:ea typeface="IBM Plex Sans SemiBold"/>
                <a:cs typeface="IBM Plex Sans SemiBold"/>
              </a:endParaRPr>
            </a:p>
          </p:txBody>
        </p:sp>
        <p:sp>
          <p:nvSpPr>
            <p:cNvPr id="133" name="node05.items.source-003.surface"/>
            <p:cNvSpPr/>
            <p:nvPr/>
          </p:nvSpPr>
          <p:spPr>
            <a:xfrm>
              <a:off x="8918596" y="5311765"/>
              <a:ext cx="1371600" cy="457200"/>
            </a:xfrm>
            <a:prstGeom prst="rect">
              <a:avLst/>
            </a:prstGeom>
            <a:solidFill>
              <a:srgbClr val="070154"/>
            </a:solidFill>
            <a:ln>
              <a:noFill/>
            </a:ln>
          </p:spPr>
        </p:sp>
        <p:sp>
          <p:nvSpPr>
            <p:cNvPr id="134" name="node05.items.source-003.label"/>
            <p:cNvSpPr/>
            <p:nvPr/>
          </p:nvSpPr>
          <p:spPr>
            <a:xfrm>
              <a:off x="9070996" y="5432415"/>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Test</a:t>
              </a:r>
              <a:endParaRPr lang="en-US" sz="1200" spc="0" kern="0" b="0" i="0" dirty="0">
                <a:solidFill>
                  <a:srgbClr val="FFFFFF"/>
                </a:solidFill>
                <a:latin typeface="IBM Plex Sans SemiBold"/>
                <a:ea typeface="IBM Plex Sans SemiBold"/>
                <a:cs typeface="IBM Plex Sans SemiBold"/>
              </a:endParaRPr>
            </a:p>
          </p:txBody>
        </p:sp>
        <p:sp>
          <p:nvSpPr>
            <p:cNvPr id="135" name="node05.items.source-004.surface"/>
            <p:cNvSpPr/>
            <p:nvPr/>
          </p:nvSpPr>
          <p:spPr>
            <a:xfrm>
              <a:off x="5559404" y="5311765"/>
              <a:ext cx="1371600" cy="457200"/>
            </a:xfrm>
            <a:prstGeom prst="rect">
              <a:avLst/>
            </a:prstGeom>
            <a:solidFill>
              <a:srgbClr val="070154"/>
            </a:solidFill>
            <a:ln>
              <a:noFill/>
            </a:ln>
          </p:spPr>
        </p:sp>
        <p:sp>
          <p:nvSpPr>
            <p:cNvPr id="136" name="node05.items.source-004.label"/>
            <p:cNvSpPr/>
            <p:nvPr/>
          </p:nvSpPr>
          <p:spPr>
            <a:xfrm>
              <a:off x="5711804" y="5432415"/>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Verify</a:t>
              </a:r>
              <a:endParaRPr lang="en-US" sz="1200" spc="0" kern="0" b="0" i="0" dirty="0">
                <a:solidFill>
                  <a:srgbClr val="FFFFFF"/>
                </a:solidFill>
                <a:latin typeface="IBM Plex Sans SemiBold"/>
                <a:ea typeface="IBM Plex Sans SemiBold"/>
                <a:cs typeface="IBM Plex Sans SemiBold"/>
              </a:endParaRPr>
            </a:p>
          </p:txBody>
        </p:sp>
        <p:sp>
          <p:nvSpPr>
            <p:cNvPr id="137" name="node05.items.source-005.surface"/>
            <p:cNvSpPr/>
            <p:nvPr/>
          </p:nvSpPr>
          <p:spPr>
            <a:xfrm>
              <a:off x="4521356" y="4289435"/>
              <a:ext cx="1371600" cy="457200"/>
            </a:xfrm>
            <a:prstGeom prst="rect">
              <a:avLst/>
            </a:prstGeom>
            <a:solidFill>
              <a:srgbClr val="070154"/>
            </a:solidFill>
            <a:ln>
              <a:noFill/>
            </a:ln>
          </p:spPr>
        </p:sp>
        <p:sp>
          <p:nvSpPr>
            <p:cNvPr id="138" name="node05.items.source-005.label"/>
            <p:cNvSpPr/>
            <p:nvPr/>
          </p:nvSpPr>
          <p:spPr>
            <a:xfrm>
              <a:off x="4673756" y="4410085"/>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Release</a:t>
              </a:r>
              <a:endParaRPr lang="en-US" sz="1200" spc="0"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ource-36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Define turns a ranked problem into a plan</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105</a:t>
            </a:fld>
            <a:endParaRPr lang="en-US" sz="700" spc="0" kern="0" b="0" i="0" dirty="0">
              <a:solidFill>
                <a:srgbClr val="070154"/>
              </a:solidFill>
              <a:latin typeface="IBM Plex Mono SemiBold"/>
              <a:ea typeface="IBM Plex Mono SemiBold"/>
              <a:cs typeface="IBM Plex Mono SemiBold"/>
            </a:endParaRPr>
          </a:p>
        </p:txBody>
      </p:sp>
      <p:grpSp>
        <p:nvGrpSpPr>
          <p:cNvPr id="82" name="node01"/>
          <p:cNvGrpSpPr/>
          <p:nvPr/>
        </p:nvGrpSpPr>
        <p:grpSpPr>
          <a:xfrm>
            <a:off x="723900" y="1600200"/>
            <a:ext cx="3886200" cy="3886200"/>
            <a:chOff x="723900" y="1600200"/>
            <a:chExt cx="3886200" cy="3886200"/>
          </a:xfrm>
        </p:grpSpPr>
        <p:sp>
          <p:nvSpPr>
            <p:cNvPr id="6" name="node01.items.source-001.arc"/>
            <p:cNvSpPr/>
            <p:nvPr/>
          </p:nvSpPr>
          <p:spPr>
            <a:xfrm>
              <a:off x="3423662" y="2174039"/>
              <a:ext cx="473163" cy="1012796"/>
            </a:xfrm>
            <a:custGeom>
              <a:avLst/>
              <a:gdLst/>
              <a:ahLst/>
              <a:cxnLst/>
              <a:rect l="l" t="t" r="r" b="b"/>
              <a:pathLst>
                <a:path w="473163" h="1012796">
                  <a:moveTo>
                    <a:pt x="0" y="0"/>
                  </a:moveTo>
                  <a:lnTo>
                    <a:pt x="29598" y="31369"/>
                  </a:lnTo>
                  <a:lnTo>
                    <a:pt x="58498" y="63926"/>
                  </a:lnTo>
                  <a:lnTo>
                    <a:pt x="86672" y="97645"/>
                  </a:lnTo>
                  <a:lnTo>
                    <a:pt x="114097" y="132493"/>
                  </a:lnTo>
                  <a:lnTo>
                    <a:pt x="140748" y="168441"/>
                  </a:lnTo>
                  <a:lnTo>
                    <a:pt x="166602" y="205457"/>
                  </a:lnTo>
                  <a:lnTo>
                    <a:pt x="191634" y="243507"/>
                  </a:lnTo>
                  <a:lnTo>
                    <a:pt x="215824" y="282557"/>
                  </a:lnTo>
                  <a:lnTo>
                    <a:pt x="239149" y="322574"/>
                  </a:lnTo>
                  <a:lnTo>
                    <a:pt x="261589" y="363521"/>
                  </a:lnTo>
                  <a:lnTo>
                    <a:pt x="283124" y="405362"/>
                  </a:lnTo>
                  <a:lnTo>
                    <a:pt x="303734" y="448060"/>
                  </a:lnTo>
                  <a:lnTo>
                    <a:pt x="323402" y="491577"/>
                  </a:lnTo>
                  <a:lnTo>
                    <a:pt x="342110" y="535874"/>
                  </a:lnTo>
                  <a:lnTo>
                    <a:pt x="359841" y="580912"/>
                  </a:lnTo>
                  <a:lnTo>
                    <a:pt x="376579" y="626651"/>
                  </a:lnTo>
                  <a:lnTo>
                    <a:pt x="392310" y="673050"/>
                  </a:lnTo>
                  <a:lnTo>
                    <a:pt x="407020" y="720068"/>
                  </a:lnTo>
                  <a:lnTo>
                    <a:pt x="420695" y="767662"/>
                  </a:lnTo>
                  <a:lnTo>
                    <a:pt x="433324" y="815792"/>
                  </a:lnTo>
                  <a:lnTo>
                    <a:pt x="444895" y="864413"/>
                  </a:lnTo>
                  <a:lnTo>
                    <a:pt x="455398" y="913484"/>
                  </a:lnTo>
                  <a:lnTo>
                    <a:pt x="464823" y="962959"/>
                  </a:lnTo>
                  <a:lnTo>
                    <a:pt x="473163" y="1012796"/>
                  </a:lnTo>
                </a:path>
              </a:pathLst>
            </a:custGeom>
            <a:ln w="25400">
              <a:solidFill>
                <a:srgbClr val="070154"/>
              </a:solidFill>
              <a:prstDash val="solid"/>
            </a:ln>
          </p:spPr>
        </p:sp>
        <p:sp>
          <p:nvSpPr>
            <p:cNvPr id="7" name="node01.items.source-001.arc.cap-1"/>
            <p:cNvSpPr/>
            <p:nvPr/>
          </p:nvSpPr>
          <p:spPr>
            <a:xfrm>
              <a:off x="3410962" y="2161339"/>
              <a:ext cx="25400" cy="25400"/>
            </a:xfrm>
            <a:prstGeom prst="ellipse">
              <a:avLst/>
            </a:prstGeom>
            <a:solidFill>
              <a:srgbClr val="070154"/>
            </a:solidFill>
            <a:ln>
              <a:noFill/>
            </a:ln>
          </p:spPr>
        </p:sp>
        <p:sp>
          <p:nvSpPr>
            <p:cNvPr id="8" name="node01.items.source-001.arc.cap-2"/>
            <p:cNvSpPr/>
            <p:nvPr/>
          </p:nvSpPr>
          <p:spPr>
            <a:xfrm>
              <a:off x="3884125" y="3174135"/>
              <a:ext cx="25400" cy="25400"/>
            </a:xfrm>
            <a:prstGeom prst="ellipse">
              <a:avLst/>
            </a:prstGeom>
            <a:solidFill>
              <a:srgbClr val="070154"/>
            </a:solidFill>
            <a:ln>
              <a:noFill/>
            </a:ln>
          </p:spPr>
        </p:sp>
        <p:sp>
          <p:nvSpPr>
            <p:cNvPr id="9" name="node01.items.source-001.arc.arrow-1"/>
            <p:cNvSpPr/>
            <p:nvPr/>
          </p:nvSpPr>
          <p:spPr>
            <a:xfrm>
              <a:off x="3826223" y="3096947"/>
              <a:ext cx="70602" cy="89888"/>
            </a:xfrm>
            <a:custGeom>
              <a:avLst/>
              <a:gdLst/>
              <a:ahLst/>
              <a:cxnLst/>
              <a:rect l="l" t="t" r="r" b="b"/>
              <a:pathLst>
                <a:path w="70602" h="89888">
                  <a:moveTo>
                    <a:pt x="70602" y="89888"/>
                  </a:moveTo>
                  <a:lnTo>
                    <a:pt x="0" y="0"/>
                  </a:lnTo>
                </a:path>
              </a:pathLst>
            </a:custGeom>
            <a:ln w="25400">
              <a:solidFill>
                <a:srgbClr val="070154"/>
              </a:solidFill>
              <a:prstDash val="solid"/>
            </a:ln>
          </p:spPr>
        </p:sp>
        <p:sp>
          <p:nvSpPr>
            <p:cNvPr id="10" name="node01.items.source-001.arc.arrow-1.cap-1"/>
            <p:cNvSpPr/>
            <p:nvPr/>
          </p:nvSpPr>
          <p:spPr>
            <a:xfrm>
              <a:off x="3884125" y="3174135"/>
              <a:ext cx="25400" cy="25400"/>
            </a:xfrm>
            <a:prstGeom prst="ellipse">
              <a:avLst/>
            </a:prstGeom>
            <a:solidFill>
              <a:srgbClr val="070154"/>
            </a:solidFill>
            <a:ln>
              <a:noFill/>
            </a:ln>
          </p:spPr>
        </p:sp>
        <p:sp>
          <p:nvSpPr>
            <p:cNvPr id="11" name="node01.items.source-001.arc.arrow-1.cap-2"/>
            <p:cNvSpPr/>
            <p:nvPr/>
          </p:nvSpPr>
          <p:spPr>
            <a:xfrm>
              <a:off x="3813523" y="3084247"/>
              <a:ext cx="25400" cy="25400"/>
            </a:xfrm>
            <a:prstGeom prst="ellipse">
              <a:avLst/>
            </a:prstGeom>
            <a:solidFill>
              <a:srgbClr val="070154"/>
            </a:solidFill>
            <a:ln>
              <a:noFill/>
            </a:ln>
          </p:spPr>
        </p:sp>
        <p:sp>
          <p:nvSpPr>
            <p:cNvPr id="12" name="node01.items.source-001.arc.arrow-2"/>
            <p:cNvSpPr/>
            <p:nvPr/>
          </p:nvSpPr>
          <p:spPr>
            <a:xfrm>
              <a:off x="3896825" y="3078859"/>
              <a:ext cx="37492" cy="107976"/>
            </a:xfrm>
            <a:custGeom>
              <a:avLst/>
              <a:gdLst/>
              <a:ahLst/>
              <a:cxnLst/>
              <a:rect l="l" t="t" r="r" b="b"/>
              <a:pathLst>
                <a:path w="37492" h="107976">
                  <a:moveTo>
                    <a:pt x="0" y="107976"/>
                  </a:moveTo>
                  <a:lnTo>
                    <a:pt x="37492" y="0"/>
                  </a:lnTo>
                </a:path>
              </a:pathLst>
            </a:custGeom>
            <a:ln w="25400">
              <a:solidFill>
                <a:srgbClr val="070154"/>
              </a:solidFill>
              <a:prstDash val="solid"/>
            </a:ln>
          </p:spPr>
        </p:sp>
        <p:sp>
          <p:nvSpPr>
            <p:cNvPr id="13" name="node01.items.source-001.arc.arrow-2.cap-1"/>
            <p:cNvSpPr/>
            <p:nvPr/>
          </p:nvSpPr>
          <p:spPr>
            <a:xfrm>
              <a:off x="3884125" y="3174135"/>
              <a:ext cx="25400" cy="25400"/>
            </a:xfrm>
            <a:prstGeom prst="ellipse">
              <a:avLst/>
            </a:prstGeom>
            <a:solidFill>
              <a:srgbClr val="070154"/>
            </a:solidFill>
            <a:ln>
              <a:noFill/>
            </a:ln>
          </p:spPr>
        </p:sp>
        <p:sp>
          <p:nvSpPr>
            <p:cNvPr id="14" name="node01.items.source-001.arc.arrow-2.cap-2"/>
            <p:cNvSpPr/>
            <p:nvPr/>
          </p:nvSpPr>
          <p:spPr>
            <a:xfrm>
              <a:off x="3921617" y="3066159"/>
              <a:ext cx="25400" cy="25400"/>
            </a:xfrm>
            <a:prstGeom prst="ellipse">
              <a:avLst/>
            </a:prstGeom>
            <a:solidFill>
              <a:srgbClr val="070154"/>
            </a:solidFill>
            <a:ln>
              <a:noFill/>
            </a:ln>
          </p:spPr>
        </p:sp>
        <p:sp>
          <p:nvSpPr>
            <p:cNvPr id="15" name="node01.items.source-002.arc"/>
            <p:cNvSpPr/>
            <p:nvPr/>
          </p:nvSpPr>
          <p:spPr>
            <a:xfrm>
              <a:off x="3423662" y="3899765"/>
              <a:ext cx="473163" cy="1012796"/>
            </a:xfrm>
            <a:custGeom>
              <a:avLst/>
              <a:gdLst/>
              <a:ahLst/>
              <a:cxnLst/>
              <a:rect l="l" t="t" r="r" b="b"/>
              <a:pathLst>
                <a:path w="473163" h="1012796">
                  <a:moveTo>
                    <a:pt x="473163" y="0"/>
                  </a:moveTo>
                  <a:lnTo>
                    <a:pt x="464823" y="49837"/>
                  </a:lnTo>
                  <a:lnTo>
                    <a:pt x="455398" y="99312"/>
                  </a:lnTo>
                  <a:lnTo>
                    <a:pt x="444895" y="148383"/>
                  </a:lnTo>
                  <a:lnTo>
                    <a:pt x="433324" y="197004"/>
                  </a:lnTo>
                  <a:lnTo>
                    <a:pt x="420695" y="245134"/>
                  </a:lnTo>
                  <a:lnTo>
                    <a:pt x="407020" y="292728"/>
                  </a:lnTo>
                  <a:lnTo>
                    <a:pt x="392310" y="339746"/>
                  </a:lnTo>
                  <a:lnTo>
                    <a:pt x="376579" y="386145"/>
                  </a:lnTo>
                  <a:lnTo>
                    <a:pt x="359841" y="431884"/>
                  </a:lnTo>
                  <a:lnTo>
                    <a:pt x="342110" y="476922"/>
                  </a:lnTo>
                  <a:lnTo>
                    <a:pt x="323402" y="521219"/>
                  </a:lnTo>
                  <a:lnTo>
                    <a:pt x="303734" y="564736"/>
                  </a:lnTo>
                  <a:lnTo>
                    <a:pt x="283124" y="607434"/>
                  </a:lnTo>
                  <a:lnTo>
                    <a:pt x="261589" y="649275"/>
                  </a:lnTo>
                  <a:lnTo>
                    <a:pt x="239149" y="690222"/>
                  </a:lnTo>
                  <a:lnTo>
                    <a:pt x="215824" y="730239"/>
                  </a:lnTo>
                  <a:lnTo>
                    <a:pt x="191634" y="769289"/>
                  </a:lnTo>
                  <a:lnTo>
                    <a:pt x="166602" y="807339"/>
                  </a:lnTo>
                  <a:lnTo>
                    <a:pt x="140748" y="844355"/>
                  </a:lnTo>
                  <a:lnTo>
                    <a:pt x="114097" y="880303"/>
                  </a:lnTo>
                  <a:lnTo>
                    <a:pt x="86672" y="915151"/>
                  </a:lnTo>
                  <a:lnTo>
                    <a:pt x="58498" y="948870"/>
                  </a:lnTo>
                  <a:lnTo>
                    <a:pt x="29598" y="981427"/>
                  </a:lnTo>
                  <a:lnTo>
                    <a:pt x="0" y="1012796"/>
                  </a:lnTo>
                </a:path>
              </a:pathLst>
            </a:custGeom>
            <a:ln w="25400">
              <a:solidFill>
                <a:srgbClr val="070154"/>
              </a:solidFill>
              <a:prstDash val="solid"/>
            </a:ln>
          </p:spPr>
        </p:sp>
        <p:sp>
          <p:nvSpPr>
            <p:cNvPr id="16" name="node01.items.source-002.arc.cap-1"/>
            <p:cNvSpPr/>
            <p:nvPr/>
          </p:nvSpPr>
          <p:spPr>
            <a:xfrm>
              <a:off x="3884125" y="3887065"/>
              <a:ext cx="25400" cy="25400"/>
            </a:xfrm>
            <a:prstGeom prst="ellipse">
              <a:avLst/>
            </a:prstGeom>
            <a:solidFill>
              <a:srgbClr val="070154"/>
            </a:solidFill>
            <a:ln>
              <a:noFill/>
            </a:ln>
          </p:spPr>
        </p:sp>
        <p:sp>
          <p:nvSpPr>
            <p:cNvPr id="17" name="node01.items.source-002.arc.cap-2"/>
            <p:cNvSpPr/>
            <p:nvPr/>
          </p:nvSpPr>
          <p:spPr>
            <a:xfrm>
              <a:off x="3410962" y="4899861"/>
              <a:ext cx="25400" cy="25400"/>
            </a:xfrm>
            <a:prstGeom prst="ellipse">
              <a:avLst/>
            </a:prstGeom>
            <a:solidFill>
              <a:srgbClr val="070154"/>
            </a:solidFill>
            <a:ln>
              <a:noFill/>
            </a:ln>
          </p:spPr>
        </p:sp>
        <p:sp>
          <p:nvSpPr>
            <p:cNvPr id="18" name="node01.items.source-002.arc.arrow-1"/>
            <p:cNvSpPr/>
            <p:nvPr/>
          </p:nvSpPr>
          <p:spPr>
            <a:xfrm>
              <a:off x="3423662" y="4801996"/>
              <a:ext cx="28983" cy="110564"/>
            </a:xfrm>
            <a:custGeom>
              <a:avLst/>
              <a:gdLst/>
              <a:ahLst/>
              <a:cxnLst/>
              <a:rect l="l" t="t" r="r" b="b"/>
              <a:pathLst>
                <a:path w="28983" h="110564">
                  <a:moveTo>
                    <a:pt x="0" y="110564"/>
                  </a:moveTo>
                  <a:lnTo>
                    <a:pt x="28983" y="0"/>
                  </a:lnTo>
                </a:path>
              </a:pathLst>
            </a:custGeom>
            <a:ln w="25400">
              <a:solidFill>
                <a:srgbClr val="070154"/>
              </a:solidFill>
              <a:prstDash val="solid"/>
            </a:ln>
          </p:spPr>
        </p:sp>
        <p:sp>
          <p:nvSpPr>
            <p:cNvPr id="19" name="node01.items.source-002.arc.arrow-1.cap-1"/>
            <p:cNvSpPr/>
            <p:nvPr/>
          </p:nvSpPr>
          <p:spPr>
            <a:xfrm>
              <a:off x="3410962" y="4899861"/>
              <a:ext cx="25400" cy="25400"/>
            </a:xfrm>
            <a:prstGeom prst="ellipse">
              <a:avLst/>
            </a:prstGeom>
            <a:solidFill>
              <a:srgbClr val="070154"/>
            </a:solidFill>
            <a:ln>
              <a:noFill/>
            </a:ln>
          </p:spPr>
        </p:sp>
        <p:sp>
          <p:nvSpPr>
            <p:cNvPr id="20" name="node01.items.source-002.arc.arrow-1.cap-2"/>
            <p:cNvSpPr/>
            <p:nvPr/>
          </p:nvSpPr>
          <p:spPr>
            <a:xfrm>
              <a:off x="3439945" y="4789296"/>
              <a:ext cx="25400" cy="25400"/>
            </a:xfrm>
            <a:prstGeom prst="ellipse">
              <a:avLst/>
            </a:prstGeom>
            <a:solidFill>
              <a:srgbClr val="070154"/>
            </a:solidFill>
            <a:ln>
              <a:noFill/>
            </a:ln>
          </p:spPr>
        </p:sp>
        <p:sp>
          <p:nvSpPr>
            <p:cNvPr id="21" name="node01.items.source-002.arc.arrow-2"/>
            <p:cNvSpPr/>
            <p:nvPr/>
          </p:nvSpPr>
          <p:spPr>
            <a:xfrm>
              <a:off x="3423662" y="4877211"/>
              <a:ext cx="108696" cy="35350"/>
            </a:xfrm>
            <a:custGeom>
              <a:avLst/>
              <a:gdLst/>
              <a:ahLst/>
              <a:cxnLst/>
              <a:rect l="l" t="t" r="r" b="b"/>
              <a:pathLst>
                <a:path w="108696" h="35350">
                  <a:moveTo>
                    <a:pt x="0" y="35350"/>
                  </a:moveTo>
                  <a:lnTo>
                    <a:pt x="108696" y="0"/>
                  </a:lnTo>
                </a:path>
              </a:pathLst>
            </a:custGeom>
            <a:ln w="25400">
              <a:solidFill>
                <a:srgbClr val="070154"/>
              </a:solidFill>
              <a:prstDash val="solid"/>
            </a:ln>
          </p:spPr>
        </p:sp>
        <p:sp>
          <p:nvSpPr>
            <p:cNvPr id="22" name="node01.items.source-002.arc.arrow-2.cap-1"/>
            <p:cNvSpPr/>
            <p:nvPr/>
          </p:nvSpPr>
          <p:spPr>
            <a:xfrm>
              <a:off x="3410962" y="4899861"/>
              <a:ext cx="25400" cy="25400"/>
            </a:xfrm>
            <a:prstGeom prst="ellipse">
              <a:avLst/>
            </a:prstGeom>
            <a:solidFill>
              <a:srgbClr val="070154"/>
            </a:solidFill>
            <a:ln>
              <a:noFill/>
            </a:ln>
          </p:spPr>
        </p:sp>
        <p:sp>
          <p:nvSpPr>
            <p:cNvPr id="23" name="node01.items.source-002.arc.arrow-2.cap-2"/>
            <p:cNvSpPr/>
            <p:nvPr/>
          </p:nvSpPr>
          <p:spPr>
            <a:xfrm>
              <a:off x="3519658" y="4864511"/>
              <a:ext cx="25400" cy="25400"/>
            </a:xfrm>
            <a:prstGeom prst="ellipse">
              <a:avLst/>
            </a:prstGeom>
            <a:solidFill>
              <a:srgbClr val="070154"/>
            </a:solidFill>
            <a:ln>
              <a:noFill/>
            </a:ln>
          </p:spPr>
        </p:sp>
        <p:sp>
          <p:nvSpPr>
            <p:cNvPr id="24" name="node01.items.source-003.arc"/>
            <p:cNvSpPr/>
            <p:nvPr/>
          </p:nvSpPr>
          <p:spPr>
            <a:xfrm>
              <a:off x="1437175" y="3899765"/>
              <a:ext cx="473163" cy="1012796"/>
            </a:xfrm>
            <a:custGeom>
              <a:avLst/>
              <a:gdLst/>
              <a:ahLst/>
              <a:cxnLst/>
              <a:rect l="l" t="t" r="r" b="b"/>
              <a:pathLst>
                <a:path w="473163" h="1012796">
                  <a:moveTo>
                    <a:pt x="473163" y="1012796"/>
                  </a:moveTo>
                  <a:lnTo>
                    <a:pt x="443565" y="981427"/>
                  </a:lnTo>
                  <a:lnTo>
                    <a:pt x="414665" y="948870"/>
                  </a:lnTo>
                  <a:lnTo>
                    <a:pt x="386491" y="915151"/>
                  </a:lnTo>
                  <a:lnTo>
                    <a:pt x="359066" y="880303"/>
                  </a:lnTo>
                  <a:lnTo>
                    <a:pt x="332415" y="844355"/>
                  </a:lnTo>
                  <a:lnTo>
                    <a:pt x="306561" y="807339"/>
                  </a:lnTo>
                  <a:lnTo>
                    <a:pt x="281529" y="769289"/>
                  </a:lnTo>
                  <a:lnTo>
                    <a:pt x="257339" y="730239"/>
                  </a:lnTo>
                  <a:lnTo>
                    <a:pt x="234014" y="690222"/>
                  </a:lnTo>
                  <a:lnTo>
                    <a:pt x="211574" y="649275"/>
                  </a:lnTo>
                  <a:lnTo>
                    <a:pt x="190039" y="607434"/>
                  </a:lnTo>
                  <a:lnTo>
                    <a:pt x="169429" y="564736"/>
                  </a:lnTo>
                  <a:lnTo>
                    <a:pt x="149761" y="521219"/>
                  </a:lnTo>
                  <a:lnTo>
                    <a:pt x="131053" y="476922"/>
                  </a:lnTo>
                  <a:lnTo>
                    <a:pt x="113322" y="431884"/>
                  </a:lnTo>
                  <a:lnTo>
                    <a:pt x="96584" y="386145"/>
                  </a:lnTo>
                  <a:lnTo>
                    <a:pt x="80853" y="339746"/>
                  </a:lnTo>
                  <a:lnTo>
                    <a:pt x="66143" y="292728"/>
                  </a:lnTo>
                  <a:lnTo>
                    <a:pt x="52468" y="245134"/>
                  </a:lnTo>
                  <a:lnTo>
                    <a:pt x="39839" y="197004"/>
                  </a:lnTo>
                  <a:lnTo>
                    <a:pt x="28268" y="148383"/>
                  </a:lnTo>
                  <a:lnTo>
                    <a:pt x="17765" y="99312"/>
                  </a:lnTo>
                  <a:lnTo>
                    <a:pt x="8340" y="49837"/>
                  </a:lnTo>
                  <a:lnTo>
                    <a:pt x="0" y="0"/>
                  </a:lnTo>
                </a:path>
              </a:pathLst>
            </a:custGeom>
            <a:ln w="25400">
              <a:solidFill>
                <a:srgbClr val="070154"/>
              </a:solidFill>
              <a:prstDash val="solid"/>
            </a:ln>
          </p:spPr>
        </p:sp>
        <p:sp>
          <p:nvSpPr>
            <p:cNvPr id="25" name="node01.items.source-003.arc.cap-1"/>
            <p:cNvSpPr/>
            <p:nvPr/>
          </p:nvSpPr>
          <p:spPr>
            <a:xfrm>
              <a:off x="1897638" y="4899861"/>
              <a:ext cx="25400" cy="25400"/>
            </a:xfrm>
            <a:prstGeom prst="ellipse">
              <a:avLst/>
            </a:prstGeom>
            <a:solidFill>
              <a:srgbClr val="070154"/>
            </a:solidFill>
            <a:ln>
              <a:noFill/>
            </a:ln>
          </p:spPr>
        </p:sp>
        <p:sp>
          <p:nvSpPr>
            <p:cNvPr id="26" name="node01.items.source-003.arc.cap-2"/>
            <p:cNvSpPr/>
            <p:nvPr/>
          </p:nvSpPr>
          <p:spPr>
            <a:xfrm>
              <a:off x="1424475" y="3887065"/>
              <a:ext cx="25400" cy="25400"/>
            </a:xfrm>
            <a:prstGeom prst="ellipse">
              <a:avLst/>
            </a:prstGeom>
            <a:solidFill>
              <a:srgbClr val="070154"/>
            </a:solidFill>
            <a:ln>
              <a:noFill/>
            </a:ln>
          </p:spPr>
        </p:sp>
        <p:sp>
          <p:nvSpPr>
            <p:cNvPr id="27" name="node01.items.source-003.arc.arrow-1"/>
            <p:cNvSpPr/>
            <p:nvPr/>
          </p:nvSpPr>
          <p:spPr>
            <a:xfrm>
              <a:off x="1437175" y="3899765"/>
              <a:ext cx="70602" cy="89888"/>
            </a:xfrm>
            <a:custGeom>
              <a:avLst/>
              <a:gdLst/>
              <a:ahLst/>
              <a:cxnLst/>
              <a:rect l="l" t="t" r="r" b="b"/>
              <a:pathLst>
                <a:path w="70602" h="89888">
                  <a:moveTo>
                    <a:pt x="0" y="0"/>
                  </a:moveTo>
                  <a:lnTo>
                    <a:pt x="70602" y="89888"/>
                  </a:lnTo>
                </a:path>
              </a:pathLst>
            </a:custGeom>
            <a:ln w="25400">
              <a:solidFill>
                <a:srgbClr val="070154"/>
              </a:solidFill>
              <a:prstDash val="solid"/>
            </a:ln>
          </p:spPr>
        </p:sp>
        <p:sp>
          <p:nvSpPr>
            <p:cNvPr id="28" name="node01.items.source-003.arc.arrow-1.cap-1"/>
            <p:cNvSpPr/>
            <p:nvPr/>
          </p:nvSpPr>
          <p:spPr>
            <a:xfrm>
              <a:off x="1424475" y="3887065"/>
              <a:ext cx="25400" cy="25400"/>
            </a:xfrm>
            <a:prstGeom prst="ellipse">
              <a:avLst/>
            </a:prstGeom>
            <a:solidFill>
              <a:srgbClr val="070154"/>
            </a:solidFill>
            <a:ln>
              <a:noFill/>
            </a:ln>
          </p:spPr>
        </p:sp>
        <p:sp>
          <p:nvSpPr>
            <p:cNvPr id="29" name="node01.items.source-003.arc.arrow-1.cap-2"/>
            <p:cNvSpPr/>
            <p:nvPr/>
          </p:nvSpPr>
          <p:spPr>
            <a:xfrm>
              <a:off x="1495077" y="3976953"/>
              <a:ext cx="25400" cy="25400"/>
            </a:xfrm>
            <a:prstGeom prst="ellipse">
              <a:avLst/>
            </a:prstGeom>
            <a:solidFill>
              <a:srgbClr val="070154"/>
            </a:solidFill>
            <a:ln>
              <a:noFill/>
            </a:ln>
          </p:spPr>
        </p:sp>
        <p:sp>
          <p:nvSpPr>
            <p:cNvPr id="30" name="node01.items.source-003.arc.arrow-2"/>
            <p:cNvSpPr/>
            <p:nvPr/>
          </p:nvSpPr>
          <p:spPr>
            <a:xfrm>
              <a:off x="1399683" y="3899765"/>
              <a:ext cx="37492" cy="107976"/>
            </a:xfrm>
            <a:custGeom>
              <a:avLst/>
              <a:gdLst/>
              <a:ahLst/>
              <a:cxnLst/>
              <a:rect l="l" t="t" r="r" b="b"/>
              <a:pathLst>
                <a:path w="37492" h="107976">
                  <a:moveTo>
                    <a:pt x="37492" y="0"/>
                  </a:moveTo>
                  <a:lnTo>
                    <a:pt x="0" y="107976"/>
                  </a:lnTo>
                </a:path>
              </a:pathLst>
            </a:custGeom>
            <a:ln w="25400">
              <a:solidFill>
                <a:srgbClr val="070154"/>
              </a:solidFill>
              <a:prstDash val="solid"/>
            </a:ln>
          </p:spPr>
        </p:sp>
        <p:sp>
          <p:nvSpPr>
            <p:cNvPr id="31" name="node01.items.source-003.arc.arrow-2.cap-1"/>
            <p:cNvSpPr/>
            <p:nvPr/>
          </p:nvSpPr>
          <p:spPr>
            <a:xfrm>
              <a:off x="1424475" y="3887065"/>
              <a:ext cx="25400" cy="25400"/>
            </a:xfrm>
            <a:prstGeom prst="ellipse">
              <a:avLst/>
            </a:prstGeom>
            <a:solidFill>
              <a:srgbClr val="070154"/>
            </a:solidFill>
            <a:ln>
              <a:noFill/>
            </a:ln>
          </p:spPr>
        </p:sp>
        <p:sp>
          <p:nvSpPr>
            <p:cNvPr id="32" name="node01.items.source-003.arc.arrow-2.cap-2"/>
            <p:cNvSpPr/>
            <p:nvPr/>
          </p:nvSpPr>
          <p:spPr>
            <a:xfrm>
              <a:off x="1386983" y="3995041"/>
              <a:ext cx="25400" cy="25400"/>
            </a:xfrm>
            <a:prstGeom prst="ellipse">
              <a:avLst/>
            </a:prstGeom>
            <a:solidFill>
              <a:srgbClr val="070154"/>
            </a:solidFill>
            <a:ln>
              <a:noFill/>
            </a:ln>
          </p:spPr>
        </p:sp>
        <p:sp>
          <p:nvSpPr>
            <p:cNvPr id="33" name="node01.items.source-004.arc"/>
            <p:cNvSpPr/>
            <p:nvPr/>
          </p:nvSpPr>
          <p:spPr>
            <a:xfrm>
              <a:off x="1437175" y="2174039"/>
              <a:ext cx="473163" cy="1012796"/>
            </a:xfrm>
            <a:custGeom>
              <a:avLst/>
              <a:gdLst/>
              <a:ahLst/>
              <a:cxnLst/>
              <a:rect l="l" t="t" r="r" b="b"/>
              <a:pathLst>
                <a:path w="473163" h="1012796">
                  <a:moveTo>
                    <a:pt x="0" y="1012796"/>
                  </a:moveTo>
                  <a:lnTo>
                    <a:pt x="8340" y="962959"/>
                  </a:lnTo>
                  <a:lnTo>
                    <a:pt x="17765" y="913484"/>
                  </a:lnTo>
                  <a:lnTo>
                    <a:pt x="28268" y="864413"/>
                  </a:lnTo>
                  <a:lnTo>
                    <a:pt x="39839" y="815792"/>
                  </a:lnTo>
                  <a:lnTo>
                    <a:pt x="52468" y="767662"/>
                  </a:lnTo>
                  <a:lnTo>
                    <a:pt x="66143" y="720068"/>
                  </a:lnTo>
                  <a:lnTo>
                    <a:pt x="80853" y="673050"/>
                  </a:lnTo>
                  <a:lnTo>
                    <a:pt x="96584" y="626651"/>
                  </a:lnTo>
                  <a:lnTo>
                    <a:pt x="113322" y="580912"/>
                  </a:lnTo>
                  <a:lnTo>
                    <a:pt x="131053" y="535874"/>
                  </a:lnTo>
                  <a:lnTo>
                    <a:pt x="149761" y="491577"/>
                  </a:lnTo>
                  <a:lnTo>
                    <a:pt x="169429" y="448060"/>
                  </a:lnTo>
                  <a:lnTo>
                    <a:pt x="190039" y="405362"/>
                  </a:lnTo>
                  <a:lnTo>
                    <a:pt x="211574" y="363521"/>
                  </a:lnTo>
                  <a:lnTo>
                    <a:pt x="234014" y="322574"/>
                  </a:lnTo>
                  <a:lnTo>
                    <a:pt x="257339" y="282557"/>
                  </a:lnTo>
                  <a:lnTo>
                    <a:pt x="281529" y="243507"/>
                  </a:lnTo>
                  <a:lnTo>
                    <a:pt x="306561" y="205457"/>
                  </a:lnTo>
                  <a:lnTo>
                    <a:pt x="332415" y="168441"/>
                  </a:lnTo>
                  <a:lnTo>
                    <a:pt x="359066" y="132493"/>
                  </a:lnTo>
                  <a:lnTo>
                    <a:pt x="386491" y="97645"/>
                  </a:lnTo>
                  <a:lnTo>
                    <a:pt x="414665" y="63926"/>
                  </a:lnTo>
                  <a:lnTo>
                    <a:pt x="443565" y="31369"/>
                  </a:lnTo>
                  <a:lnTo>
                    <a:pt x="473163" y="0"/>
                  </a:lnTo>
                </a:path>
              </a:pathLst>
            </a:custGeom>
            <a:ln w="25400">
              <a:solidFill>
                <a:srgbClr val="070154"/>
              </a:solidFill>
              <a:prstDash val="solid"/>
            </a:ln>
          </p:spPr>
        </p:sp>
        <p:sp>
          <p:nvSpPr>
            <p:cNvPr id="34" name="node01.items.source-004.arc.cap-1"/>
            <p:cNvSpPr/>
            <p:nvPr/>
          </p:nvSpPr>
          <p:spPr>
            <a:xfrm>
              <a:off x="1424475" y="3174135"/>
              <a:ext cx="25400" cy="25400"/>
            </a:xfrm>
            <a:prstGeom prst="ellipse">
              <a:avLst/>
            </a:prstGeom>
            <a:solidFill>
              <a:srgbClr val="070154"/>
            </a:solidFill>
            <a:ln>
              <a:noFill/>
            </a:ln>
          </p:spPr>
        </p:sp>
        <p:sp>
          <p:nvSpPr>
            <p:cNvPr id="35" name="node01.items.source-004.arc.cap-2"/>
            <p:cNvSpPr/>
            <p:nvPr/>
          </p:nvSpPr>
          <p:spPr>
            <a:xfrm>
              <a:off x="1897638" y="2161339"/>
              <a:ext cx="25400" cy="25400"/>
            </a:xfrm>
            <a:prstGeom prst="ellipse">
              <a:avLst/>
            </a:prstGeom>
            <a:solidFill>
              <a:srgbClr val="070154"/>
            </a:solidFill>
            <a:ln>
              <a:noFill/>
            </a:ln>
          </p:spPr>
        </p:sp>
        <p:sp>
          <p:nvSpPr>
            <p:cNvPr id="36" name="node01.items.source-004.arc.arrow-1"/>
            <p:cNvSpPr/>
            <p:nvPr/>
          </p:nvSpPr>
          <p:spPr>
            <a:xfrm>
              <a:off x="1881355" y="2174039"/>
              <a:ext cx="28983" cy="110564"/>
            </a:xfrm>
            <a:custGeom>
              <a:avLst/>
              <a:gdLst/>
              <a:ahLst/>
              <a:cxnLst/>
              <a:rect l="l" t="t" r="r" b="b"/>
              <a:pathLst>
                <a:path w="28983" h="110564">
                  <a:moveTo>
                    <a:pt x="28983" y="0"/>
                  </a:moveTo>
                  <a:lnTo>
                    <a:pt x="0" y="110564"/>
                  </a:lnTo>
                </a:path>
              </a:pathLst>
            </a:custGeom>
            <a:ln w="25400">
              <a:solidFill>
                <a:srgbClr val="070154"/>
              </a:solidFill>
              <a:prstDash val="solid"/>
            </a:ln>
          </p:spPr>
        </p:sp>
        <p:sp>
          <p:nvSpPr>
            <p:cNvPr id="37" name="node01.items.source-004.arc.arrow-1.cap-1"/>
            <p:cNvSpPr/>
            <p:nvPr/>
          </p:nvSpPr>
          <p:spPr>
            <a:xfrm>
              <a:off x="1897638" y="2161339"/>
              <a:ext cx="25400" cy="25400"/>
            </a:xfrm>
            <a:prstGeom prst="ellipse">
              <a:avLst/>
            </a:prstGeom>
            <a:solidFill>
              <a:srgbClr val="070154"/>
            </a:solidFill>
            <a:ln>
              <a:noFill/>
            </a:ln>
          </p:spPr>
        </p:sp>
        <p:sp>
          <p:nvSpPr>
            <p:cNvPr id="38" name="node01.items.source-004.arc.arrow-1.cap-2"/>
            <p:cNvSpPr/>
            <p:nvPr/>
          </p:nvSpPr>
          <p:spPr>
            <a:xfrm>
              <a:off x="1868655" y="2271904"/>
              <a:ext cx="25400" cy="25400"/>
            </a:xfrm>
            <a:prstGeom prst="ellipse">
              <a:avLst/>
            </a:prstGeom>
            <a:solidFill>
              <a:srgbClr val="070154"/>
            </a:solidFill>
            <a:ln>
              <a:noFill/>
            </a:ln>
          </p:spPr>
        </p:sp>
        <p:sp>
          <p:nvSpPr>
            <p:cNvPr id="39" name="node01.items.source-004.arc.arrow-2"/>
            <p:cNvSpPr/>
            <p:nvPr/>
          </p:nvSpPr>
          <p:spPr>
            <a:xfrm>
              <a:off x="1801642" y="2174039"/>
              <a:ext cx="108696" cy="35350"/>
            </a:xfrm>
            <a:custGeom>
              <a:avLst/>
              <a:gdLst/>
              <a:ahLst/>
              <a:cxnLst/>
              <a:rect l="l" t="t" r="r" b="b"/>
              <a:pathLst>
                <a:path w="108696" h="35350">
                  <a:moveTo>
                    <a:pt x="108696" y="0"/>
                  </a:moveTo>
                  <a:lnTo>
                    <a:pt x="0" y="35350"/>
                  </a:lnTo>
                </a:path>
              </a:pathLst>
            </a:custGeom>
            <a:ln w="25400">
              <a:solidFill>
                <a:srgbClr val="070154"/>
              </a:solidFill>
              <a:prstDash val="solid"/>
            </a:ln>
          </p:spPr>
        </p:sp>
        <p:sp>
          <p:nvSpPr>
            <p:cNvPr id="40" name="node01.items.source-004.arc.arrow-2.cap-1"/>
            <p:cNvSpPr/>
            <p:nvPr/>
          </p:nvSpPr>
          <p:spPr>
            <a:xfrm>
              <a:off x="1897638" y="2161339"/>
              <a:ext cx="25400" cy="25400"/>
            </a:xfrm>
            <a:prstGeom prst="ellipse">
              <a:avLst/>
            </a:prstGeom>
            <a:solidFill>
              <a:srgbClr val="070154"/>
            </a:solidFill>
            <a:ln>
              <a:noFill/>
            </a:ln>
          </p:spPr>
        </p:sp>
        <p:sp>
          <p:nvSpPr>
            <p:cNvPr id="41" name="node01.items.source-004.arc.arrow-2.cap-2"/>
            <p:cNvSpPr/>
            <p:nvPr/>
          </p:nvSpPr>
          <p:spPr>
            <a:xfrm>
              <a:off x="1788942" y="2196689"/>
              <a:ext cx="25400" cy="25400"/>
            </a:xfrm>
            <a:prstGeom prst="ellipse">
              <a:avLst/>
            </a:prstGeom>
            <a:solidFill>
              <a:srgbClr val="070154"/>
            </a:solidFill>
            <a:ln>
              <a:noFill/>
            </a:ln>
          </p:spPr>
        </p:sp>
        <p:sp>
          <p:nvSpPr>
            <p:cNvPr id="42" name="node01.center.label"/>
            <p:cNvSpPr/>
            <p:nvPr/>
          </p:nvSpPr>
          <p:spPr>
            <a:xfrm>
              <a:off x="2095500" y="3127375"/>
              <a:ext cx="1143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PDLC</a:t>
              </a:r>
              <a:endParaRPr lang="en-US" sz="800" spc="48" kern="0" b="0" i="0" dirty="0">
                <a:solidFill>
                  <a:srgbClr val="0047FF"/>
                </a:solidFill>
                <a:latin typeface="IBM Plex Mono SemiBold"/>
                <a:ea typeface="IBM Plex Mono SemiBold"/>
                <a:cs typeface="IBM Plex Mono SemiBold"/>
              </a:endParaRPr>
            </a:p>
          </p:txBody>
        </p:sp>
        <p:sp>
          <p:nvSpPr>
            <p:cNvPr id="43" name="node01.items.source-001.surface"/>
            <p:cNvSpPr/>
            <p:nvPr/>
          </p:nvSpPr>
          <p:spPr>
            <a:xfrm>
              <a:off x="1981200" y="1600200"/>
              <a:ext cx="1371600" cy="457200"/>
            </a:xfrm>
            <a:prstGeom prst="rect">
              <a:avLst/>
            </a:prstGeom>
            <a:solidFill>
              <a:srgbClr val="E8EEF8"/>
            </a:solidFill>
            <a:ln>
              <a:noFill/>
            </a:ln>
          </p:spPr>
        </p:sp>
        <p:sp>
          <p:nvSpPr>
            <p:cNvPr id="44" name="node01.items.source-001.label"/>
            <p:cNvSpPr/>
            <p:nvPr/>
          </p:nvSpPr>
          <p:spPr>
            <a:xfrm>
              <a:off x="2133600" y="17208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Identify</a:t>
              </a:r>
              <a:endParaRPr lang="en-US" sz="1200" spc="0" kern="0" b="0" i="0" dirty="0">
                <a:solidFill>
                  <a:srgbClr val="070154"/>
                </a:solidFill>
                <a:latin typeface="IBM Plex Sans SemiBold"/>
                <a:ea typeface="IBM Plex Sans SemiBold"/>
                <a:cs typeface="IBM Plex Sans SemiBold"/>
              </a:endParaRPr>
            </a:p>
          </p:txBody>
        </p:sp>
        <p:sp>
          <p:nvSpPr>
            <p:cNvPr id="45" name="node01.items.source-002.surface"/>
            <p:cNvSpPr/>
            <p:nvPr/>
          </p:nvSpPr>
          <p:spPr>
            <a:xfrm>
              <a:off x="3238500" y="3314700"/>
              <a:ext cx="1371600" cy="457200"/>
            </a:xfrm>
            <a:prstGeom prst="rect">
              <a:avLst/>
            </a:prstGeom>
            <a:solidFill>
              <a:srgbClr val="070154"/>
            </a:solidFill>
            <a:ln>
              <a:noFill/>
            </a:ln>
          </p:spPr>
        </p:sp>
        <p:sp>
          <p:nvSpPr>
            <p:cNvPr id="46" name="node01.items.source-002.label"/>
            <p:cNvSpPr/>
            <p:nvPr/>
          </p:nvSpPr>
          <p:spPr>
            <a:xfrm>
              <a:off x="3390900" y="34353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Define</a:t>
              </a:r>
              <a:endParaRPr lang="en-US" sz="1200" spc="0" kern="0" b="0" i="0" dirty="0">
                <a:solidFill>
                  <a:srgbClr val="FFFFFF"/>
                </a:solidFill>
                <a:latin typeface="IBM Plex Sans SemiBold"/>
                <a:ea typeface="IBM Plex Sans SemiBold"/>
                <a:cs typeface="IBM Plex Sans SemiBold"/>
              </a:endParaRPr>
            </a:p>
          </p:txBody>
        </p:sp>
        <p:sp>
          <p:nvSpPr>
            <p:cNvPr id="47" name="node01.items.source-003.surface"/>
            <p:cNvSpPr/>
            <p:nvPr/>
          </p:nvSpPr>
          <p:spPr>
            <a:xfrm>
              <a:off x="1981200" y="5029200"/>
              <a:ext cx="1371600" cy="457200"/>
            </a:xfrm>
            <a:prstGeom prst="rect">
              <a:avLst/>
            </a:prstGeom>
            <a:solidFill>
              <a:srgbClr val="E8EEF8"/>
            </a:solidFill>
            <a:ln>
              <a:noFill/>
            </a:ln>
          </p:spPr>
        </p:sp>
        <p:sp>
          <p:nvSpPr>
            <p:cNvPr id="48" name="node01.items.source-003.label"/>
            <p:cNvSpPr/>
            <p:nvPr/>
          </p:nvSpPr>
          <p:spPr>
            <a:xfrm>
              <a:off x="2133600" y="51498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Build</a:t>
              </a:r>
              <a:endParaRPr lang="en-US" sz="1200" spc="0" kern="0" b="0" i="0" dirty="0">
                <a:solidFill>
                  <a:srgbClr val="070154"/>
                </a:solidFill>
                <a:latin typeface="IBM Plex Sans SemiBold"/>
                <a:ea typeface="IBM Plex Sans SemiBold"/>
                <a:cs typeface="IBM Plex Sans SemiBold"/>
              </a:endParaRPr>
            </a:p>
          </p:txBody>
        </p:sp>
        <p:sp>
          <p:nvSpPr>
            <p:cNvPr id="49" name="node01.items.source-004.surface"/>
            <p:cNvSpPr/>
            <p:nvPr/>
          </p:nvSpPr>
          <p:spPr>
            <a:xfrm>
              <a:off x="723900" y="3314700"/>
              <a:ext cx="1371600" cy="457200"/>
            </a:xfrm>
            <a:prstGeom prst="rect">
              <a:avLst/>
            </a:prstGeom>
            <a:solidFill>
              <a:srgbClr val="E8EEF8"/>
            </a:solidFill>
            <a:ln>
              <a:noFill/>
            </a:ln>
          </p:spPr>
        </p:sp>
        <p:sp>
          <p:nvSpPr>
            <p:cNvPr id="50" name="node01.items.source-004.label"/>
            <p:cNvSpPr/>
            <p:nvPr/>
          </p:nvSpPr>
          <p:spPr>
            <a:xfrm>
              <a:off x="876300" y="34353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Optimize</a:t>
              </a:r>
              <a:endParaRPr lang="en-US" sz="1200" spc="0" kern="0" b="0" i="0" dirty="0">
                <a:solidFill>
                  <a:srgbClr val="070154"/>
                </a:solidFill>
                <a:latin typeface="IBM Plex Sans SemiBold"/>
                <a:ea typeface="IBM Plex Sans SemiBold"/>
                <a:cs typeface="IBM Plex Sans SemiBold"/>
              </a:endParaRPr>
            </a:p>
          </p:txBody>
        </p:sp>
      </p:grpSp>
      <p:grpSp>
        <p:nvGrpSpPr>
          <p:cNvPr id="83" name="node02"/>
          <p:cNvGrpSpPr/>
          <p:nvPr/>
        </p:nvGrpSpPr>
        <p:grpSpPr>
          <a:xfrm>
            <a:off x="723900" y="5600700"/>
            <a:ext cx="3886200" cy="190500"/>
            <a:chOff x="723900" y="5600700"/>
            <a:chExt cx="3886200" cy="190500"/>
          </a:xfrm>
        </p:grpSpPr>
        <p:sp>
          <p:nvSpPr>
            <p:cNvPr id="51" name="node02.text"/>
            <p:cNvSpPr/>
            <p:nvPr/>
          </p:nvSpPr>
          <p:spPr>
            <a:xfrm>
              <a:off x="723900" y="5600700"/>
              <a:ext cx="3886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Dark phase is the one shown on the right.</a:t>
              </a:r>
              <a:endParaRPr lang="en-US" sz="1100" spc="0" kern="0" b="0" i="0" dirty="0">
                <a:solidFill>
                  <a:srgbClr val="50658E"/>
                </a:solidFill>
                <a:latin typeface="IBM Plex Sans"/>
                <a:ea typeface="IBM Plex Sans"/>
                <a:cs typeface="IBM Plex Sans"/>
              </a:endParaRPr>
            </a:p>
          </p:txBody>
        </p:sp>
      </p:grpSp>
      <p:grpSp>
        <p:nvGrpSpPr>
          <p:cNvPr id="84" name="node03"/>
          <p:cNvGrpSpPr/>
          <p:nvPr/>
        </p:nvGrpSpPr>
        <p:grpSpPr>
          <a:xfrm>
            <a:off x="4838700" y="1600200"/>
            <a:ext cx="6629400" cy="139700"/>
            <a:chOff x="4838700" y="1600200"/>
            <a:chExt cx="6629400" cy="139700"/>
          </a:xfrm>
        </p:grpSpPr>
        <p:sp>
          <p:nvSpPr>
            <p:cNvPr id="52" name="node03.text"/>
            <p:cNvSpPr/>
            <p:nvPr/>
          </p:nvSpPr>
          <p:spPr>
            <a:xfrm>
              <a:off x="4838700" y="1600200"/>
              <a:ext cx="6629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PHASE 2 OF 4 · RIGHT SOLUTION</a:t>
              </a:r>
              <a:endParaRPr lang="en-US" sz="800" spc="48" kern="0" b="0" i="0" dirty="0">
                <a:solidFill>
                  <a:srgbClr val="0047FF"/>
                </a:solidFill>
                <a:latin typeface="IBM Plex Mono Medium"/>
                <a:ea typeface="IBM Plex Mono Medium"/>
                <a:cs typeface="IBM Plex Mono Medium"/>
              </a:endParaRPr>
            </a:p>
          </p:txBody>
        </p:sp>
      </p:grpSp>
      <p:grpSp>
        <p:nvGrpSpPr>
          <p:cNvPr id="85" name="node04"/>
          <p:cNvGrpSpPr/>
          <p:nvPr/>
        </p:nvGrpSpPr>
        <p:grpSpPr>
          <a:xfrm>
            <a:off x="4838700" y="1905000"/>
            <a:ext cx="6629400" cy="330200"/>
            <a:chOff x="4838700" y="1905000"/>
            <a:chExt cx="6629400" cy="330200"/>
          </a:xfrm>
        </p:grpSpPr>
        <p:sp>
          <p:nvSpPr>
            <p:cNvPr id="53" name="node04.text"/>
            <p:cNvSpPr/>
            <p:nvPr/>
          </p:nvSpPr>
          <p:spPr>
            <a:xfrm>
              <a:off x="4838700" y="1905000"/>
              <a:ext cx="66294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Define</a:t>
              </a:r>
              <a:endParaRPr lang="en-US" sz="2100" spc="-32" kern="0" b="0" i="0" dirty="0">
                <a:solidFill>
                  <a:srgbClr val="070154"/>
                </a:solidFill>
                <a:latin typeface="IBM Plex Sans SemiBold"/>
                <a:ea typeface="IBM Plex Sans SemiBold"/>
                <a:cs typeface="IBM Plex Sans SemiBold"/>
              </a:endParaRPr>
            </a:p>
          </p:txBody>
        </p:sp>
      </p:grpSp>
      <p:grpSp>
        <p:nvGrpSpPr>
          <p:cNvPr id="86" name="node05"/>
          <p:cNvGrpSpPr/>
          <p:nvPr/>
        </p:nvGrpSpPr>
        <p:grpSpPr>
          <a:xfrm>
            <a:off x="4838700" y="2362200"/>
            <a:ext cx="6629400" cy="215900"/>
            <a:chOff x="4838700" y="2362200"/>
            <a:chExt cx="6629400" cy="215900"/>
          </a:xfrm>
        </p:grpSpPr>
        <p:sp>
          <p:nvSpPr>
            <p:cNvPr id="54" name="node05.text"/>
            <p:cNvSpPr/>
            <p:nvPr/>
          </p:nvSpPr>
          <p:spPr>
            <a:xfrm>
              <a:off x="4838700" y="2362200"/>
              <a:ext cx="662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Shape the product, the patient experience and the delivery plan with clinicians.</a:t>
              </a:r>
              <a:endParaRPr lang="en-US" sz="1200" spc="0" kern="0" b="0" i="0" dirty="0">
                <a:solidFill>
                  <a:srgbClr val="070154"/>
                </a:solidFill>
                <a:latin typeface="IBM Plex Sans"/>
                <a:ea typeface="IBM Plex Sans"/>
                <a:cs typeface="IBM Plex Sans"/>
              </a:endParaRPr>
            </a:p>
          </p:txBody>
        </p:sp>
      </p:grpSp>
      <p:grpSp>
        <p:nvGrpSpPr>
          <p:cNvPr id="87" name="node06"/>
          <p:cNvGrpSpPr/>
          <p:nvPr/>
        </p:nvGrpSpPr>
        <p:grpSpPr>
          <a:xfrm>
            <a:off x="4838700" y="2971800"/>
            <a:ext cx="2057400" cy="2057400"/>
            <a:chOff x="4838700" y="2971800"/>
            <a:chExt cx="2057400" cy="2057400"/>
          </a:xfrm>
        </p:grpSpPr>
        <p:sp>
          <p:nvSpPr>
            <p:cNvPr id="55" name="node06.container"/>
            <p:cNvSpPr/>
            <p:nvPr/>
          </p:nvSpPr>
          <p:spPr>
            <a:xfrm>
              <a:off x="4838700" y="2971800"/>
              <a:ext cx="2057400" cy="2057400"/>
            </a:xfrm>
            <a:prstGeom prst="rect">
              <a:avLst/>
            </a:prstGeom>
            <a:solidFill>
              <a:srgbClr val="E8EEF8"/>
            </a:solidFill>
            <a:ln>
              <a:noFill/>
            </a:ln>
          </p:spPr>
        </p:sp>
        <p:sp>
          <p:nvSpPr>
            <p:cNvPr id="56" name="node06.label"/>
            <p:cNvSpPr/>
            <p:nvPr/>
          </p:nvSpPr>
          <p:spPr>
            <a:xfrm>
              <a:off x="4991100" y="3124200"/>
              <a:ext cx="1752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ACTIVITIES</a:t>
              </a:r>
              <a:endParaRPr lang="en-US" sz="800" spc="48" kern="0" b="0" i="0" dirty="0">
                <a:solidFill>
                  <a:srgbClr val="0047FF"/>
                </a:solidFill>
                <a:latin typeface="IBM Plex Mono Medium"/>
                <a:ea typeface="IBM Plex Mono Medium"/>
                <a:cs typeface="IBM Plex Mono Medium"/>
              </a:endParaRPr>
            </a:p>
          </p:txBody>
        </p:sp>
        <p:sp>
          <p:nvSpPr>
            <p:cNvPr id="57" name="node06.body.item-001.bullets.item-001.marker"/>
            <p:cNvSpPr/>
            <p:nvPr/>
          </p:nvSpPr>
          <p:spPr>
            <a:xfrm>
              <a:off x="4991100" y="3429000"/>
              <a:ext cx="38100" cy="38100"/>
            </a:xfrm>
            <a:prstGeom prst="rect">
              <a:avLst/>
            </a:prstGeom>
            <a:solidFill>
              <a:srgbClr val="070154"/>
            </a:solidFill>
            <a:ln>
              <a:noFill/>
            </a:ln>
          </p:spPr>
        </p:sp>
        <p:sp>
          <p:nvSpPr>
            <p:cNvPr id="58" name="node06.body.item-001.bullets.item-001.text"/>
            <p:cNvSpPr/>
            <p:nvPr/>
          </p:nvSpPr>
          <p:spPr>
            <a:xfrm>
              <a:off x="5143500" y="3340100"/>
              <a:ext cx="1600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Shape the vision and prototypes</a:t>
              </a:r>
              <a:endParaRPr lang="en-US" sz="1200" spc="0" kern="0" b="0" i="0" dirty="0">
                <a:solidFill>
                  <a:srgbClr val="070154"/>
                </a:solidFill>
                <a:latin typeface="IBM Plex Sans"/>
                <a:ea typeface="IBM Plex Sans"/>
                <a:cs typeface="IBM Plex Sans"/>
              </a:endParaRPr>
            </a:p>
          </p:txBody>
        </p:sp>
        <p:sp>
          <p:nvSpPr>
            <p:cNvPr id="59" name="node06.body.item-001.bullets.item-002.marker"/>
            <p:cNvSpPr/>
            <p:nvPr/>
          </p:nvSpPr>
          <p:spPr>
            <a:xfrm>
              <a:off x="4991100" y="3898900"/>
              <a:ext cx="38100" cy="38100"/>
            </a:xfrm>
            <a:prstGeom prst="rect">
              <a:avLst/>
            </a:prstGeom>
            <a:solidFill>
              <a:srgbClr val="070154"/>
            </a:solidFill>
            <a:ln>
              <a:noFill/>
            </a:ln>
          </p:spPr>
        </p:sp>
        <p:sp>
          <p:nvSpPr>
            <p:cNvPr id="60" name="node06.body.item-001.bullets.item-002.text"/>
            <p:cNvSpPr/>
            <p:nvPr/>
          </p:nvSpPr>
          <p:spPr>
            <a:xfrm>
              <a:off x="5143500" y="3810000"/>
              <a:ext cx="1600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Design the booking journeys</a:t>
              </a:r>
              <a:endParaRPr lang="en-US" sz="1200" spc="0" kern="0" b="0" i="0" dirty="0">
                <a:solidFill>
                  <a:srgbClr val="070154"/>
                </a:solidFill>
                <a:latin typeface="IBM Plex Sans"/>
                <a:ea typeface="IBM Plex Sans"/>
                <a:cs typeface="IBM Plex Sans"/>
              </a:endParaRPr>
            </a:p>
          </p:txBody>
        </p:sp>
        <p:sp>
          <p:nvSpPr>
            <p:cNvPr id="61" name="node06.body.item-001.bullets.item-003.marker"/>
            <p:cNvSpPr/>
            <p:nvPr/>
          </p:nvSpPr>
          <p:spPr>
            <a:xfrm>
              <a:off x="4991100" y="4368800"/>
              <a:ext cx="38100" cy="38100"/>
            </a:xfrm>
            <a:prstGeom prst="rect">
              <a:avLst/>
            </a:prstGeom>
            <a:solidFill>
              <a:srgbClr val="070154"/>
            </a:solidFill>
            <a:ln>
              <a:noFill/>
            </a:ln>
          </p:spPr>
        </p:sp>
        <p:sp>
          <p:nvSpPr>
            <p:cNvPr id="62" name="node06.body.item-001.bullets.item-003.text"/>
            <p:cNvSpPr/>
            <p:nvPr/>
          </p:nvSpPr>
          <p:spPr>
            <a:xfrm>
              <a:off x="5143500" y="42799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Plan releases and risks</a:t>
              </a:r>
              <a:endParaRPr lang="en-US" sz="1200" spc="0" kern="0" b="0" i="0" dirty="0">
                <a:solidFill>
                  <a:srgbClr val="070154"/>
                </a:solidFill>
                <a:latin typeface="IBM Plex Sans"/>
                <a:ea typeface="IBM Plex Sans"/>
                <a:cs typeface="IBM Plex Sans"/>
              </a:endParaRPr>
            </a:p>
          </p:txBody>
        </p:sp>
      </p:grpSp>
      <p:grpSp>
        <p:nvGrpSpPr>
          <p:cNvPr id="88" name="node07"/>
          <p:cNvGrpSpPr/>
          <p:nvPr/>
        </p:nvGrpSpPr>
        <p:grpSpPr>
          <a:xfrm>
            <a:off x="7124700" y="2971800"/>
            <a:ext cx="2057400" cy="2057400"/>
            <a:chOff x="7124700" y="2971800"/>
            <a:chExt cx="2057400" cy="2057400"/>
          </a:xfrm>
        </p:grpSpPr>
        <p:sp>
          <p:nvSpPr>
            <p:cNvPr id="63" name="node07.container"/>
            <p:cNvSpPr/>
            <p:nvPr/>
          </p:nvSpPr>
          <p:spPr>
            <a:xfrm>
              <a:off x="7124700" y="2971800"/>
              <a:ext cx="2057400" cy="2057400"/>
            </a:xfrm>
            <a:prstGeom prst="rect">
              <a:avLst/>
            </a:prstGeom>
            <a:solidFill>
              <a:srgbClr val="E8EEF8"/>
            </a:solidFill>
            <a:ln>
              <a:noFill/>
            </a:ln>
          </p:spPr>
        </p:sp>
        <p:sp>
          <p:nvSpPr>
            <p:cNvPr id="64" name="node07.label"/>
            <p:cNvSpPr/>
            <p:nvPr/>
          </p:nvSpPr>
          <p:spPr>
            <a:xfrm>
              <a:off x="7277100" y="3124200"/>
              <a:ext cx="1752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OUTPUTS</a:t>
              </a:r>
              <a:endParaRPr lang="en-US" sz="800" spc="48" kern="0" b="0" i="0" dirty="0">
                <a:solidFill>
                  <a:srgbClr val="0047FF"/>
                </a:solidFill>
                <a:latin typeface="IBM Plex Mono Medium"/>
                <a:ea typeface="IBM Plex Mono Medium"/>
                <a:cs typeface="IBM Plex Mono Medium"/>
              </a:endParaRPr>
            </a:p>
          </p:txBody>
        </p:sp>
        <p:sp>
          <p:nvSpPr>
            <p:cNvPr id="65" name="node07.body.item-001.bullets.item-001.marker"/>
            <p:cNvSpPr/>
            <p:nvPr/>
          </p:nvSpPr>
          <p:spPr>
            <a:xfrm>
              <a:off x="7277100" y="3429000"/>
              <a:ext cx="38100" cy="38100"/>
            </a:xfrm>
            <a:prstGeom prst="rect">
              <a:avLst/>
            </a:prstGeom>
            <a:solidFill>
              <a:srgbClr val="070154"/>
            </a:solidFill>
            <a:ln>
              <a:noFill/>
            </a:ln>
          </p:spPr>
        </p:sp>
        <p:sp>
          <p:nvSpPr>
            <p:cNvPr id="66" name="node07.body.item-001.bullets.item-001.text"/>
            <p:cNvSpPr/>
            <p:nvPr/>
          </p:nvSpPr>
          <p:spPr>
            <a:xfrm>
              <a:off x="7429500" y="33401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Product vision</a:t>
              </a:r>
              <a:endParaRPr lang="en-US" sz="1200" spc="0" kern="0" b="0" i="0" dirty="0">
                <a:solidFill>
                  <a:srgbClr val="070154"/>
                </a:solidFill>
                <a:latin typeface="IBM Plex Sans"/>
                <a:ea typeface="IBM Plex Sans"/>
                <a:cs typeface="IBM Plex Sans"/>
              </a:endParaRPr>
            </a:p>
          </p:txBody>
        </p:sp>
        <p:sp>
          <p:nvSpPr>
            <p:cNvPr id="67" name="node07.body.item-001.bullets.item-002.marker"/>
            <p:cNvSpPr/>
            <p:nvPr/>
          </p:nvSpPr>
          <p:spPr>
            <a:xfrm>
              <a:off x="7277100" y="3683000"/>
              <a:ext cx="38100" cy="38100"/>
            </a:xfrm>
            <a:prstGeom prst="rect">
              <a:avLst/>
            </a:prstGeom>
            <a:solidFill>
              <a:srgbClr val="070154"/>
            </a:solidFill>
            <a:ln>
              <a:noFill/>
            </a:ln>
          </p:spPr>
        </p:sp>
        <p:sp>
          <p:nvSpPr>
            <p:cNvPr id="68" name="node07.body.item-001.bullets.item-002.text"/>
            <p:cNvSpPr/>
            <p:nvPr/>
          </p:nvSpPr>
          <p:spPr>
            <a:xfrm>
              <a:off x="7429500" y="35941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Release plan</a:t>
              </a:r>
              <a:endParaRPr lang="en-US" sz="1200" spc="0" kern="0" b="0" i="0" dirty="0">
                <a:solidFill>
                  <a:srgbClr val="070154"/>
                </a:solidFill>
                <a:latin typeface="IBM Plex Sans"/>
                <a:ea typeface="IBM Plex Sans"/>
                <a:cs typeface="IBM Plex Sans"/>
              </a:endParaRPr>
            </a:p>
          </p:txBody>
        </p:sp>
        <p:sp>
          <p:nvSpPr>
            <p:cNvPr id="69" name="node07.body.item-001.bullets.item-003.marker"/>
            <p:cNvSpPr/>
            <p:nvPr/>
          </p:nvSpPr>
          <p:spPr>
            <a:xfrm>
              <a:off x="7277100" y="3937000"/>
              <a:ext cx="38100" cy="38100"/>
            </a:xfrm>
            <a:prstGeom prst="rect">
              <a:avLst/>
            </a:prstGeom>
            <a:solidFill>
              <a:srgbClr val="070154"/>
            </a:solidFill>
            <a:ln>
              <a:noFill/>
            </a:ln>
          </p:spPr>
        </p:sp>
        <p:sp>
          <p:nvSpPr>
            <p:cNvPr id="70" name="node07.body.item-001.bullets.item-003.text"/>
            <p:cNvSpPr/>
            <p:nvPr/>
          </p:nvSpPr>
          <p:spPr>
            <a:xfrm>
              <a:off x="7429500" y="38481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Architecture</a:t>
              </a:r>
              <a:endParaRPr lang="en-US" sz="1200" spc="0" kern="0" b="0" i="0" dirty="0">
                <a:solidFill>
                  <a:srgbClr val="070154"/>
                </a:solidFill>
                <a:latin typeface="IBM Plex Sans"/>
                <a:ea typeface="IBM Plex Sans"/>
                <a:cs typeface="IBM Plex Sans"/>
              </a:endParaRPr>
            </a:p>
          </p:txBody>
        </p:sp>
      </p:grpSp>
      <p:grpSp>
        <p:nvGrpSpPr>
          <p:cNvPr id="89" name="node08"/>
          <p:cNvGrpSpPr/>
          <p:nvPr/>
        </p:nvGrpSpPr>
        <p:grpSpPr>
          <a:xfrm>
            <a:off x="9410700" y="2971800"/>
            <a:ext cx="2057400" cy="2057400"/>
            <a:chOff x="9410700" y="2971800"/>
            <a:chExt cx="2057400" cy="2057400"/>
          </a:xfrm>
        </p:grpSpPr>
        <p:sp>
          <p:nvSpPr>
            <p:cNvPr id="71" name="node08.container"/>
            <p:cNvSpPr/>
            <p:nvPr/>
          </p:nvSpPr>
          <p:spPr>
            <a:xfrm>
              <a:off x="9417050" y="2978150"/>
              <a:ext cx="2044700" cy="2044700"/>
            </a:xfrm>
            <a:prstGeom prst="rect">
              <a:avLst/>
            </a:prstGeom>
            <a:solidFill>
              <a:srgbClr val="FFFFFF"/>
            </a:solidFill>
            <a:ln w="12700">
              <a:solidFill>
                <a:srgbClr val="CED7E6"/>
              </a:solidFill>
              <a:prstDash val="solid"/>
            </a:ln>
          </p:spPr>
        </p:sp>
        <p:sp>
          <p:nvSpPr>
            <p:cNvPr id="72" name="node08.label"/>
            <p:cNvSpPr/>
            <p:nvPr/>
          </p:nvSpPr>
          <p:spPr>
            <a:xfrm>
              <a:off x="9563100" y="3124200"/>
              <a:ext cx="1752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ROLES</a:t>
              </a:r>
              <a:endParaRPr lang="en-US" sz="800" spc="48" kern="0" b="0" i="0" dirty="0">
                <a:solidFill>
                  <a:srgbClr val="0047FF"/>
                </a:solidFill>
                <a:latin typeface="IBM Plex Mono Medium"/>
                <a:ea typeface="IBM Plex Mono Medium"/>
                <a:cs typeface="IBM Plex Mono Medium"/>
              </a:endParaRPr>
            </a:p>
          </p:txBody>
        </p:sp>
        <p:sp>
          <p:nvSpPr>
            <p:cNvPr id="73" name="node08.body.item-001.bullets.item-001.marker"/>
            <p:cNvSpPr/>
            <p:nvPr/>
          </p:nvSpPr>
          <p:spPr>
            <a:xfrm>
              <a:off x="9563100" y="3429000"/>
              <a:ext cx="38100" cy="38100"/>
            </a:xfrm>
            <a:prstGeom prst="rect">
              <a:avLst/>
            </a:prstGeom>
            <a:solidFill>
              <a:srgbClr val="070154"/>
            </a:solidFill>
            <a:ln>
              <a:noFill/>
            </a:ln>
          </p:spPr>
        </p:sp>
        <p:sp>
          <p:nvSpPr>
            <p:cNvPr id="74" name="node08.body.item-001.bullets.item-001.text"/>
            <p:cNvSpPr/>
            <p:nvPr/>
          </p:nvSpPr>
          <p:spPr>
            <a:xfrm>
              <a:off x="9715500" y="33401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Product owner</a:t>
              </a:r>
              <a:endParaRPr lang="en-US" sz="1200" spc="0" kern="0" b="0" i="0" dirty="0">
                <a:solidFill>
                  <a:srgbClr val="070154"/>
                </a:solidFill>
                <a:latin typeface="IBM Plex Sans"/>
                <a:ea typeface="IBM Plex Sans"/>
                <a:cs typeface="IBM Plex Sans"/>
              </a:endParaRPr>
            </a:p>
          </p:txBody>
        </p:sp>
        <p:sp>
          <p:nvSpPr>
            <p:cNvPr id="75" name="node08.body.item-001.bullets.item-002.marker"/>
            <p:cNvSpPr/>
            <p:nvPr/>
          </p:nvSpPr>
          <p:spPr>
            <a:xfrm>
              <a:off x="9563100" y="3683000"/>
              <a:ext cx="38100" cy="38100"/>
            </a:xfrm>
            <a:prstGeom prst="rect">
              <a:avLst/>
            </a:prstGeom>
            <a:solidFill>
              <a:srgbClr val="070154"/>
            </a:solidFill>
            <a:ln>
              <a:noFill/>
            </a:ln>
          </p:spPr>
        </p:sp>
        <p:sp>
          <p:nvSpPr>
            <p:cNvPr id="76" name="node08.body.item-001.bullets.item-002.text"/>
            <p:cNvSpPr/>
            <p:nvPr/>
          </p:nvSpPr>
          <p:spPr>
            <a:xfrm>
              <a:off x="9715500" y="35941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Solution architect</a:t>
              </a:r>
              <a:endParaRPr lang="en-US" sz="1200" spc="0" kern="0" b="0" i="0" dirty="0">
                <a:solidFill>
                  <a:srgbClr val="070154"/>
                </a:solidFill>
                <a:latin typeface="IBM Plex Sans"/>
                <a:ea typeface="IBM Plex Sans"/>
                <a:cs typeface="IBM Plex Sans"/>
              </a:endParaRPr>
            </a:p>
          </p:txBody>
        </p:sp>
        <p:sp>
          <p:nvSpPr>
            <p:cNvPr id="77" name="node08.body.item-001.bullets.item-003.marker"/>
            <p:cNvSpPr/>
            <p:nvPr/>
          </p:nvSpPr>
          <p:spPr>
            <a:xfrm>
              <a:off x="9563100" y="3937000"/>
              <a:ext cx="38100" cy="38100"/>
            </a:xfrm>
            <a:prstGeom prst="rect">
              <a:avLst/>
            </a:prstGeom>
            <a:solidFill>
              <a:srgbClr val="070154"/>
            </a:solidFill>
            <a:ln>
              <a:noFill/>
            </a:ln>
          </p:spPr>
        </p:sp>
        <p:sp>
          <p:nvSpPr>
            <p:cNvPr id="78" name="node08.body.item-001.bullets.item-003.text"/>
            <p:cNvSpPr/>
            <p:nvPr/>
          </p:nvSpPr>
          <p:spPr>
            <a:xfrm>
              <a:off x="9715500" y="38481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UX designer</a:t>
              </a:r>
              <a:endParaRPr lang="en-US" sz="1200" spc="0" kern="0" b="0" i="0" dirty="0">
                <a:solidFill>
                  <a:srgbClr val="070154"/>
                </a:solidFill>
                <a:latin typeface="IBM Plex Sans"/>
                <a:ea typeface="IBM Plex Sans"/>
                <a:cs typeface="IBM Plex Sans"/>
              </a:endParaRPr>
            </a:p>
          </p:txBody>
        </p:sp>
      </p:grpSp>
      <p:grpSp>
        <p:nvGrpSpPr>
          <p:cNvPr id="90" name="node09"/>
          <p:cNvGrpSpPr/>
          <p:nvPr/>
        </p:nvGrpSpPr>
        <p:grpSpPr>
          <a:xfrm>
            <a:off x="4838700" y="5257800"/>
            <a:ext cx="6629400" cy="685800"/>
            <a:chOff x="4838700" y="5257800"/>
            <a:chExt cx="6629400" cy="685800"/>
          </a:xfrm>
        </p:grpSpPr>
        <p:sp>
          <p:nvSpPr>
            <p:cNvPr id="79" name="node09.container"/>
            <p:cNvSpPr/>
            <p:nvPr/>
          </p:nvSpPr>
          <p:spPr>
            <a:xfrm>
              <a:off x="4838700" y="5257800"/>
              <a:ext cx="6629400" cy="685800"/>
            </a:xfrm>
            <a:prstGeom prst="rect">
              <a:avLst/>
            </a:prstGeom>
            <a:solidFill>
              <a:srgbClr val="070154"/>
            </a:solidFill>
            <a:ln>
              <a:noFill/>
            </a:ln>
          </p:spPr>
        </p:sp>
        <p:sp>
          <p:nvSpPr>
            <p:cNvPr id="80" name="node09.label"/>
            <p:cNvSpPr/>
            <p:nvPr/>
          </p:nvSpPr>
          <p:spPr>
            <a:xfrm>
              <a:off x="4953000" y="5372100"/>
              <a:ext cx="6400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EXIT GATE</a:t>
              </a:r>
              <a:endParaRPr lang="en-US" sz="800" spc="48" kern="0" b="0" i="0" dirty="0">
                <a:solidFill>
                  <a:srgbClr val="F900D3"/>
                </a:solidFill>
                <a:latin typeface="IBM Plex Mono Medium"/>
                <a:ea typeface="IBM Plex Mono Medium"/>
                <a:cs typeface="IBM Plex Mono Medium"/>
              </a:endParaRPr>
            </a:p>
          </p:txBody>
        </p:sp>
        <p:sp>
          <p:nvSpPr>
            <p:cNvPr id="81" name="node09.body.item-001.paragraph"/>
            <p:cNvSpPr/>
            <p:nvPr/>
          </p:nvSpPr>
          <p:spPr>
            <a:xfrm>
              <a:off x="4953000" y="5588000"/>
              <a:ext cx="640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Approved scope and plan</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ource-35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Build ships tested software in small releases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106</a:t>
            </a:fld>
            <a:endParaRPr lang="en-US" sz="700" spc="0" kern="0" b="0" i="0" dirty="0">
              <a:solidFill>
                <a:srgbClr val="070154"/>
              </a:solidFill>
              <a:latin typeface="IBM Plex Mono SemiBold"/>
              <a:ea typeface="IBM Plex Mono SemiBold"/>
              <a:cs typeface="IBM Plex Mono SemiBold"/>
            </a:endParaRPr>
          </a:p>
        </p:txBody>
      </p:sp>
      <p:grpSp>
        <p:nvGrpSpPr>
          <p:cNvPr id="82" name="node01"/>
          <p:cNvGrpSpPr/>
          <p:nvPr/>
        </p:nvGrpSpPr>
        <p:grpSpPr>
          <a:xfrm>
            <a:off x="723900" y="1600200"/>
            <a:ext cx="3886200" cy="3886200"/>
            <a:chOff x="723900" y="1600200"/>
            <a:chExt cx="3886200" cy="3886200"/>
          </a:xfrm>
        </p:grpSpPr>
        <p:sp>
          <p:nvSpPr>
            <p:cNvPr id="6" name="node01.items.source-001.arc"/>
            <p:cNvSpPr/>
            <p:nvPr/>
          </p:nvSpPr>
          <p:spPr>
            <a:xfrm>
              <a:off x="3423662" y="2174039"/>
              <a:ext cx="473163" cy="1012796"/>
            </a:xfrm>
            <a:custGeom>
              <a:avLst/>
              <a:gdLst/>
              <a:ahLst/>
              <a:cxnLst/>
              <a:rect l="l" t="t" r="r" b="b"/>
              <a:pathLst>
                <a:path w="473163" h="1012796">
                  <a:moveTo>
                    <a:pt x="0" y="0"/>
                  </a:moveTo>
                  <a:lnTo>
                    <a:pt x="29598" y="31369"/>
                  </a:lnTo>
                  <a:lnTo>
                    <a:pt x="58498" y="63926"/>
                  </a:lnTo>
                  <a:lnTo>
                    <a:pt x="86672" y="97645"/>
                  </a:lnTo>
                  <a:lnTo>
                    <a:pt x="114097" y="132493"/>
                  </a:lnTo>
                  <a:lnTo>
                    <a:pt x="140748" y="168441"/>
                  </a:lnTo>
                  <a:lnTo>
                    <a:pt x="166602" y="205457"/>
                  </a:lnTo>
                  <a:lnTo>
                    <a:pt x="191634" y="243507"/>
                  </a:lnTo>
                  <a:lnTo>
                    <a:pt x="215824" y="282557"/>
                  </a:lnTo>
                  <a:lnTo>
                    <a:pt x="239149" y="322574"/>
                  </a:lnTo>
                  <a:lnTo>
                    <a:pt x="261589" y="363521"/>
                  </a:lnTo>
                  <a:lnTo>
                    <a:pt x="283124" y="405362"/>
                  </a:lnTo>
                  <a:lnTo>
                    <a:pt x="303734" y="448060"/>
                  </a:lnTo>
                  <a:lnTo>
                    <a:pt x="323402" y="491577"/>
                  </a:lnTo>
                  <a:lnTo>
                    <a:pt x="342110" y="535874"/>
                  </a:lnTo>
                  <a:lnTo>
                    <a:pt x="359841" y="580912"/>
                  </a:lnTo>
                  <a:lnTo>
                    <a:pt x="376579" y="626651"/>
                  </a:lnTo>
                  <a:lnTo>
                    <a:pt x="392310" y="673050"/>
                  </a:lnTo>
                  <a:lnTo>
                    <a:pt x="407020" y="720068"/>
                  </a:lnTo>
                  <a:lnTo>
                    <a:pt x="420695" y="767662"/>
                  </a:lnTo>
                  <a:lnTo>
                    <a:pt x="433324" y="815792"/>
                  </a:lnTo>
                  <a:lnTo>
                    <a:pt x="444895" y="864413"/>
                  </a:lnTo>
                  <a:lnTo>
                    <a:pt x="455398" y="913484"/>
                  </a:lnTo>
                  <a:lnTo>
                    <a:pt x="464823" y="962959"/>
                  </a:lnTo>
                  <a:lnTo>
                    <a:pt x="473163" y="1012796"/>
                  </a:lnTo>
                </a:path>
              </a:pathLst>
            </a:custGeom>
            <a:ln w="25400">
              <a:solidFill>
                <a:srgbClr val="070154"/>
              </a:solidFill>
              <a:prstDash val="solid"/>
            </a:ln>
          </p:spPr>
        </p:sp>
        <p:sp>
          <p:nvSpPr>
            <p:cNvPr id="7" name="node01.items.source-001.arc.cap-1"/>
            <p:cNvSpPr/>
            <p:nvPr/>
          </p:nvSpPr>
          <p:spPr>
            <a:xfrm>
              <a:off x="3410962" y="2161339"/>
              <a:ext cx="25400" cy="25400"/>
            </a:xfrm>
            <a:prstGeom prst="ellipse">
              <a:avLst/>
            </a:prstGeom>
            <a:solidFill>
              <a:srgbClr val="070154"/>
            </a:solidFill>
            <a:ln>
              <a:noFill/>
            </a:ln>
          </p:spPr>
        </p:sp>
        <p:sp>
          <p:nvSpPr>
            <p:cNvPr id="8" name="node01.items.source-001.arc.cap-2"/>
            <p:cNvSpPr/>
            <p:nvPr/>
          </p:nvSpPr>
          <p:spPr>
            <a:xfrm>
              <a:off x="3884125" y="3174135"/>
              <a:ext cx="25400" cy="25400"/>
            </a:xfrm>
            <a:prstGeom prst="ellipse">
              <a:avLst/>
            </a:prstGeom>
            <a:solidFill>
              <a:srgbClr val="070154"/>
            </a:solidFill>
            <a:ln>
              <a:noFill/>
            </a:ln>
          </p:spPr>
        </p:sp>
        <p:sp>
          <p:nvSpPr>
            <p:cNvPr id="9" name="node01.items.source-001.arc.arrow-1"/>
            <p:cNvSpPr/>
            <p:nvPr/>
          </p:nvSpPr>
          <p:spPr>
            <a:xfrm>
              <a:off x="3826223" y="3096947"/>
              <a:ext cx="70602" cy="89888"/>
            </a:xfrm>
            <a:custGeom>
              <a:avLst/>
              <a:gdLst/>
              <a:ahLst/>
              <a:cxnLst/>
              <a:rect l="l" t="t" r="r" b="b"/>
              <a:pathLst>
                <a:path w="70602" h="89888">
                  <a:moveTo>
                    <a:pt x="70602" y="89888"/>
                  </a:moveTo>
                  <a:lnTo>
                    <a:pt x="0" y="0"/>
                  </a:lnTo>
                </a:path>
              </a:pathLst>
            </a:custGeom>
            <a:ln w="25400">
              <a:solidFill>
                <a:srgbClr val="070154"/>
              </a:solidFill>
              <a:prstDash val="solid"/>
            </a:ln>
          </p:spPr>
        </p:sp>
        <p:sp>
          <p:nvSpPr>
            <p:cNvPr id="10" name="node01.items.source-001.arc.arrow-1.cap-1"/>
            <p:cNvSpPr/>
            <p:nvPr/>
          </p:nvSpPr>
          <p:spPr>
            <a:xfrm>
              <a:off x="3884125" y="3174135"/>
              <a:ext cx="25400" cy="25400"/>
            </a:xfrm>
            <a:prstGeom prst="ellipse">
              <a:avLst/>
            </a:prstGeom>
            <a:solidFill>
              <a:srgbClr val="070154"/>
            </a:solidFill>
            <a:ln>
              <a:noFill/>
            </a:ln>
          </p:spPr>
        </p:sp>
        <p:sp>
          <p:nvSpPr>
            <p:cNvPr id="11" name="node01.items.source-001.arc.arrow-1.cap-2"/>
            <p:cNvSpPr/>
            <p:nvPr/>
          </p:nvSpPr>
          <p:spPr>
            <a:xfrm>
              <a:off x="3813523" y="3084247"/>
              <a:ext cx="25400" cy="25400"/>
            </a:xfrm>
            <a:prstGeom prst="ellipse">
              <a:avLst/>
            </a:prstGeom>
            <a:solidFill>
              <a:srgbClr val="070154"/>
            </a:solidFill>
            <a:ln>
              <a:noFill/>
            </a:ln>
          </p:spPr>
        </p:sp>
        <p:sp>
          <p:nvSpPr>
            <p:cNvPr id="12" name="node01.items.source-001.arc.arrow-2"/>
            <p:cNvSpPr/>
            <p:nvPr/>
          </p:nvSpPr>
          <p:spPr>
            <a:xfrm>
              <a:off x="3896825" y="3078859"/>
              <a:ext cx="37492" cy="107976"/>
            </a:xfrm>
            <a:custGeom>
              <a:avLst/>
              <a:gdLst/>
              <a:ahLst/>
              <a:cxnLst/>
              <a:rect l="l" t="t" r="r" b="b"/>
              <a:pathLst>
                <a:path w="37492" h="107976">
                  <a:moveTo>
                    <a:pt x="0" y="107976"/>
                  </a:moveTo>
                  <a:lnTo>
                    <a:pt x="37492" y="0"/>
                  </a:lnTo>
                </a:path>
              </a:pathLst>
            </a:custGeom>
            <a:ln w="25400">
              <a:solidFill>
                <a:srgbClr val="070154"/>
              </a:solidFill>
              <a:prstDash val="solid"/>
            </a:ln>
          </p:spPr>
        </p:sp>
        <p:sp>
          <p:nvSpPr>
            <p:cNvPr id="13" name="node01.items.source-001.arc.arrow-2.cap-1"/>
            <p:cNvSpPr/>
            <p:nvPr/>
          </p:nvSpPr>
          <p:spPr>
            <a:xfrm>
              <a:off x="3884125" y="3174135"/>
              <a:ext cx="25400" cy="25400"/>
            </a:xfrm>
            <a:prstGeom prst="ellipse">
              <a:avLst/>
            </a:prstGeom>
            <a:solidFill>
              <a:srgbClr val="070154"/>
            </a:solidFill>
            <a:ln>
              <a:noFill/>
            </a:ln>
          </p:spPr>
        </p:sp>
        <p:sp>
          <p:nvSpPr>
            <p:cNvPr id="14" name="node01.items.source-001.arc.arrow-2.cap-2"/>
            <p:cNvSpPr/>
            <p:nvPr/>
          </p:nvSpPr>
          <p:spPr>
            <a:xfrm>
              <a:off x="3921617" y="3066159"/>
              <a:ext cx="25400" cy="25400"/>
            </a:xfrm>
            <a:prstGeom prst="ellipse">
              <a:avLst/>
            </a:prstGeom>
            <a:solidFill>
              <a:srgbClr val="070154"/>
            </a:solidFill>
            <a:ln>
              <a:noFill/>
            </a:ln>
          </p:spPr>
        </p:sp>
        <p:sp>
          <p:nvSpPr>
            <p:cNvPr id="15" name="node01.items.source-002.arc"/>
            <p:cNvSpPr/>
            <p:nvPr/>
          </p:nvSpPr>
          <p:spPr>
            <a:xfrm>
              <a:off x="3423662" y="3899765"/>
              <a:ext cx="473163" cy="1012796"/>
            </a:xfrm>
            <a:custGeom>
              <a:avLst/>
              <a:gdLst/>
              <a:ahLst/>
              <a:cxnLst/>
              <a:rect l="l" t="t" r="r" b="b"/>
              <a:pathLst>
                <a:path w="473163" h="1012796">
                  <a:moveTo>
                    <a:pt x="473163" y="0"/>
                  </a:moveTo>
                  <a:lnTo>
                    <a:pt x="464823" y="49837"/>
                  </a:lnTo>
                  <a:lnTo>
                    <a:pt x="455398" y="99312"/>
                  </a:lnTo>
                  <a:lnTo>
                    <a:pt x="444895" y="148383"/>
                  </a:lnTo>
                  <a:lnTo>
                    <a:pt x="433324" y="197004"/>
                  </a:lnTo>
                  <a:lnTo>
                    <a:pt x="420695" y="245134"/>
                  </a:lnTo>
                  <a:lnTo>
                    <a:pt x="407020" y="292728"/>
                  </a:lnTo>
                  <a:lnTo>
                    <a:pt x="392310" y="339746"/>
                  </a:lnTo>
                  <a:lnTo>
                    <a:pt x="376579" y="386145"/>
                  </a:lnTo>
                  <a:lnTo>
                    <a:pt x="359841" y="431884"/>
                  </a:lnTo>
                  <a:lnTo>
                    <a:pt x="342110" y="476922"/>
                  </a:lnTo>
                  <a:lnTo>
                    <a:pt x="323402" y="521219"/>
                  </a:lnTo>
                  <a:lnTo>
                    <a:pt x="303734" y="564736"/>
                  </a:lnTo>
                  <a:lnTo>
                    <a:pt x="283124" y="607434"/>
                  </a:lnTo>
                  <a:lnTo>
                    <a:pt x="261589" y="649275"/>
                  </a:lnTo>
                  <a:lnTo>
                    <a:pt x="239149" y="690222"/>
                  </a:lnTo>
                  <a:lnTo>
                    <a:pt x="215824" y="730239"/>
                  </a:lnTo>
                  <a:lnTo>
                    <a:pt x="191634" y="769289"/>
                  </a:lnTo>
                  <a:lnTo>
                    <a:pt x="166602" y="807339"/>
                  </a:lnTo>
                  <a:lnTo>
                    <a:pt x="140748" y="844355"/>
                  </a:lnTo>
                  <a:lnTo>
                    <a:pt x="114097" y="880303"/>
                  </a:lnTo>
                  <a:lnTo>
                    <a:pt x="86672" y="915151"/>
                  </a:lnTo>
                  <a:lnTo>
                    <a:pt x="58498" y="948870"/>
                  </a:lnTo>
                  <a:lnTo>
                    <a:pt x="29598" y="981427"/>
                  </a:lnTo>
                  <a:lnTo>
                    <a:pt x="0" y="1012796"/>
                  </a:lnTo>
                </a:path>
              </a:pathLst>
            </a:custGeom>
            <a:ln w="25400">
              <a:solidFill>
                <a:srgbClr val="070154"/>
              </a:solidFill>
              <a:prstDash val="solid"/>
            </a:ln>
          </p:spPr>
        </p:sp>
        <p:sp>
          <p:nvSpPr>
            <p:cNvPr id="16" name="node01.items.source-002.arc.cap-1"/>
            <p:cNvSpPr/>
            <p:nvPr/>
          </p:nvSpPr>
          <p:spPr>
            <a:xfrm>
              <a:off x="3884125" y="3887065"/>
              <a:ext cx="25400" cy="25400"/>
            </a:xfrm>
            <a:prstGeom prst="ellipse">
              <a:avLst/>
            </a:prstGeom>
            <a:solidFill>
              <a:srgbClr val="070154"/>
            </a:solidFill>
            <a:ln>
              <a:noFill/>
            </a:ln>
          </p:spPr>
        </p:sp>
        <p:sp>
          <p:nvSpPr>
            <p:cNvPr id="17" name="node01.items.source-002.arc.cap-2"/>
            <p:cNvSpPr/>
            <p:nvPr/>
          </p:nvSpPr>
          <p:spPr>
            <a:xfrm>
              <a:off x="3410962" y="4899861"/>
              <a:ext cx="25400" cy="25400"/>
            </a:xfrm>
            <a:prstGeom prst="ellipse">
              <a:avLst/>
            </a:prstGeom>
            <a:solidFill>
              <a:srgbClr val="070154"/>
            </a:solidFill>
            <a:ln>
              <a:noFill/>
            </a:ln>
          </p:spPr>
        </p:sp>
        <p:sp>
          <p:nvSpPr>
            <p:cNvPr id="18" name="node01.items.source-002.arc.arrow-1"/>
            <p:cNvSpPr/>
            <p:nvPr/>
          </p:nvSpPr>
          <p:spPr>
            <a:xfrm>
              <a:off x="3423662" y="4801996"/>
              <a:ext cx="28983" cy="110564"/>
            </a:xfrm>
            <a:custGeom>
              <a:avLst/>
              <a:gdLst/>
              <a:ahLst/>
              <a:cxnLst/>
              <a:rect l="l" t="t" r="r" b="b"/>
              <a:pathLst>
                <a:path w="28983" h="110564">
                  <a:moveTo>
                    <a:pt x="0" y="110564"/>
                  </a:moveTo>
                  <a:lnTo>
                    <a:pt x="28983" y="0"/>
                  </a:lnTo>
                </a:path>
              </a:pathLst>
            </a:custGeom>
            <a:ln w="25400">
              <a:solidFill>
                <a:srgbClr val="070154"/>
              </a:solidFill>
              <a:prstDash val="solid"/>
            </a:ln>
          </p:spPr>
        </p:sp>
        <p:sp>
          <p:nvSpPr>
            <p:cNvPr id="19" name="node01.items.source-002.arc.arrow-1.cap-1"/>
            <p:cNvSpPr/>
            <p:nvPr/>
          </p:nvSpPr>
          <p:spPr>
            <a:xfrm>
              <a:off x="3410962" y="4899861"/>
              <a:ext cx="25400" cy="25400"/>
            </a:xfrm>
            <a:prstGeom prst="ellipse">
              <a:avLst/>
            </a:prstGeom>
            <a:solidFill>
              <a:srgbClr val="070154"/>
            </a:solidFill>
            <a:ln>
              <a:noFill/>
            </a:ln>
          </p:spPr>
        </p:sp>
        <p:sp>
          <p:nvSpPr>
            <p:cNvPr id="20" name="node01.items.source-002.arc.arrow-1.cap-2"/>
            <p:cNvSpPr/>
            <p:nvPr/>
          </p:nvSpPr>
          <p:spPr>
            <a:xfrm>
              <a:off x="3439945" y="4789296"/>
              <a:ext cx="25400" cy="25400"/>
            </a:xfrm>
            <a:prstGeom prst="ellipse">
              <a:avLst/>
            </a:prstGeom>
            <a:solidFill>
              <a:srgbClr val="070154"/>
            </a:solidFill>
            <a:ln>
              <a:noFill/>
            </a:ln>
          </p:spPr>
        </p:sp>
        <p:sp>
          <p:nvSpPr>
            <p:cNvPr id="21" name="node01.items.source-002.arc.arrow-2"/>
            <p:cNvSpPr/>
            <p:nvPr/>
          </p:nvSpPr>
          <p:spPr>
            <a:xfrm>
              <a:off x="3423662" y="4877211"/>
              <a:ext cx="108696" cy="35350"/>
            </a:xfrm>
            <a:custGeom>
              <a:avLst/>
              <a:gdLst/>
              <a:ahLst/>
              <a:cxnLst/>
              <a:rect l="l" t="t" r="r" b="b"/>
              <a:pathLst>
                <a:path w="108696" h="35350">
                  <a:moveTo>
                    <a:pt x="0" y="35350"/>
                  </a:moveTo>
                  <a:lnTo>
                    <a:pt x="108696" y="0"/>
                  </a:lnTo>
                </a:path>
              </a:pathLst>
            </a:custGeom>
            <a:ln w="25400">
              <a:solidFill>
                <a:srgbClr val="070154"/>
              </a:solidFill>
              <a:prstDash val="solid"/>
            </a:ln>
          </p:spPr>
        </p:sp>
        <p:sp>
          <p:nvSpPr>
            <p:cNvPr id="22" name="node01.items.source-002.arc.arrow-2.cap-1"/>
            <p:cNvSpPr/>
            <p:nvPr/>
          </p:nvSpPr>
          <p:spPr>
            <a:xfrm>
              <a:off x="3410962" y="4899861"/>
              <a:ext cx="25400" cy="25400"/>
            </a:xfrm>
            <a:prstGeom prst="ellipse">
              <a:avLst/>
            </a:prstGeom>
            <a:solidFill>
              <a:srgbClr val="070154"/>
            </a:solidFill>
            <a:ln>
              <a:noFill/>
            </a:ln>
          </p:spPr>
        </p:sp>
        <p:sp>
          <p:nvSpPr>
            <p:cNvPr id="23" name="node01.items.source-002.arc.arrow-2.cap-2"/>
            <p:cNvSpPr/>
            <p:nvPr/>
          </p:nvSpPr>
          <p:spPr>
            <a:xfrm>
              <a:off x="3519658" y="4864511"/>
              <a:ext cx="25400" cy="25400"/>
            </a:xfrm>
            <a:prstGeom prst="ellipse">
              <a:avLst/>
            </a:prstGeom>
            <a:solidFill>
              <a:srgbClr val="070154"/>
            </a:solidFill>
            <a:ln>
              <a:noFill/>
            </a:ln>
          </p:spPr>
        </p:sp>
        <p:sp>
          <p:nvSpPr>
            <p:cNvPr id="24" name="node01.items.source-003.arc"/>
            <p:cNvSpPr/>
            <p:nvPr/>
          </p:nvSpPr>
          <p:spPr>
            <a:xfrm>
              <a:off x="1437175" y="3899765"/>
              <a:ext cx="473163" cy="1012796"/>
            </a:xfrm>
            <a:custGeom>
              <a:avLst/>
              <a:gdLst/>
              <a:ahLst/>
              <a:cxnLst/>
              <a:rect l="l" t="t" r="r" b="b"/>
              <a:pathLst>
                <a:path w="473163" h="1012796">
                  <a:moveTo>
                    <a:pt x="473163" y="1012796"/>
                  </a:moveTo>
                  <a:lnTo>
                    <a:pt x="443565" y="981427"/>
                  </a:lnTo>
                  <a:lnTo>
                    <a:pt x="414665" y="948870"/>
                  </a:lnTo>
                  <a:lnTo>
                    <a:pt x="386491" y="915151"/>
                  </a:lnTo>
                  <a:lnTo>
                    <a:pt x="359066" y="880303"/>
                  </a:lnTo>
                  <a:lnTo>
                    <a:pt x="332415" y="844355"/>
                  </a:lnTo>
                  <a:lnTo>
                    <a:pt x="306561" y="807339"/>
                  </a:lnTo>
                  <a:lnTo>
                    <a:pt x="281529" y="769289"/>
                  </a:lnTo>
                  <a:lnTo>
                    <a:pt x="257339" y="730239"/>
                  </a:lnTo>
                  <a:lnTo>
                    <a:pt x="234014" y="690222"/>
                  </a:lnTo>
                  <a:lnTo>
                    <a:pt x="211574" y="649275"/>
                  </a:lnTo>
                  <a:lnTo>
                    <a:pt x="190039" y="607434"/>
                  </a:lnTo>
                  <a:lnTo>
                    <a:pt x="169429" y="564736"/>
                  </a:lnTo>
                  <a:lnTo>
                    <a:pt x="149761" y="521219"/>
                  </a:lnTo>
                  <a:lnTo>
                    <a:pt x="131053" y="476922"/>
                  </a:lnTo>
                  <a:lnTo>
                    <a:pt x="113322" y="431884"/>
                  </a:lnTo>
                  <a:lnTo>
                    <a:pt x="96584" y="386145"/>
                  </a:lnTo>
                  <a:lnTo>
                    <a:pt x="80853" y="339746"/>
                  </a:lnTo>
                  <a:lnTo>
                    <a:pt x="66143" y="292728"/>
                  </a:lnTo>
                  <a:lnTo>
                    <a:pt x="52468" y="245134"/>
                  </a:lnTo>
                  <a:lnTo>
                    <a:pt x="39839" y="197004"/>
                  </a:lnTo>
                  <a:lnTo>
                    <a:pt x="28268" y="148383"/>
                  </a:lnTo>
                  <a:lnTo>
                    <a:pt x="17765" y="99312"/>
                  </a:lnTo>
                  <a:lnTo>
                    <a:pt x="8340" y="49837"/>
                  </a:lnTo>
                  <a:lnTo>
                    <a:pt x="0" y="0"/>
                  </a:lnTo>
                </a:path>
              </a:pathLst>
            </a:custGeom>
            <a:ln w="25400">
              <a:solidFill>
                <a:srgbClr val="070154"/>
              </a:solidFill>
              <a:prstDash val="solid"/>
            </a:ln>
          </p:spPr>
        </p:sp>
        <p:sp>
          <p:nvSpPr>
            <p:cNvPr id="25" name="node01.items.source-003.arc.cap-1"/>
            <p:cNvSpPr/>
            <p:nvPr/>
          </p:nvSpPr>
          <p:spPr>
            <a:xfrm>
              <a:off x="1897638" y="4899861"/>
              <a:ext cx="25400" cy="25400"/>
            </a:xfrm>
            <a:prstGeom prst="ellipse">
              <a:avLst/>
            </a:prstGeom>
            <a:solidFill>
              <a:srgbClr val="070154"/>
            </a:solidFill>
            <a:ln>
              <a:noFill/>
            </a:ln>
          </p:spPr>
        </p:sp>
        <p:sp>
          <p:nvSpPr>
            <p:cNvPr id="26" name="node01.items.source-003.arc.cap-2"/>
            <p:cNvSpPr/>
            <p:nvPr/>
          </p:nvSpPr>
          <p:spPr>
            <a:xfrm>
              <a:off x="1424475" y="3887065"/>
              <a:ext cx="25400" cy="25400"/>
            </a:xfrm>
            <a:prstGeom prst="ellipse">
              <a:avLst/>
            </a:prstGeom>
            <a:solidFill>
              <a:srgbClr val="070154"/>
            </a:solidFill>
            <a:ln>
              <a:noFill/>
            </a:ln>
          </p:spPr>
        </p:sp>
        <p:sp>
          <p:nvSpPr>
            <p:cNvPr id="27" name="node01.items.source-003.arc.arrow-1"/>
            <p:cNvSpPr/>
            <p:nvPr/>
          </p:nvSpPr>
          <p:spPr>
            <a:xfrm>
              <a:off x="1437175" y="3899765"/>
              <a:ext cx="70602" cy="89888"/>
            </a:xfrm>
            <a:custGeom>
              <a:avLst/>
              <a:gdLst/>
              <a:ahLst/>
              <a:cxnLst/>
              <a:rect l="l" t="t" r="r" b="b"/>
              <a:pathLst>
                <a:path w="70602" h="89888">
                  <a:moveTo>
                    <a:pt x="0" y="0"/>
                  </a:moveTo>
                  <a:lnTo>
                    <a:pt x="70602" y="89888"/>
                  </a:lnTo>
                </a:path>
              </a:pathLst>
            </a:custGeom>
            <a:ln w="25400">
              <a:solidFill>
                <a:srgbClr val="070154"/>
              </a:solidFill>
              <a:prstDash val="solid"/>
            </a:ln>
          </p:spPr>
        </p:sp>
        <p:sp>
          <p:nvSpPr>
            <p:cNvPr id="28" name="node01.items.source-003.arc.arrow-1.cap-1"/>
            <p:cNvSpPr/>
            <p:nvPr/>
          </p:nvSpPr>
          <p:spPr>
            <a:xfrm>
              <a:off x="1424475" y="3887065"/>
              <a:ext cx="25400" cy="25400"/>
            </a:xfrm>
            <a:prstGeom prst="ellipse">
              <a:avLst/>
            </a:prstGeom>
            <a:solidFill>
              <a:srgbClr val="070154"/>
            </a:solidFill>
            <a:ln>
              <a:noFill/>
            </a:ln>
          </p:spPr>
        </p:sp>
        <p:sp>
          <p:nvSpPr>
            <p:cNvPr id="29" name="node01.items.source-003.arc.arrow-1.cap-2"/>
            <p:cNvSpPr/>
            <p:nvPr/>
          </p:nvSpPr>
          <p:spPr>
            <a:xfrm>
              <a:off x="1495077" y="3976953"/>
              <a:ext cx="25400" cy="25400"/>
            </a:xfrm>
            <a:prstGeom prst="ellipse">
              <a:avLst/>
            </a:prstGeom>
            <a:solidFill>
              <a:srgbClr val="070154"/>
            </a:solidFill>
            <a:ln>
              <a:noFill/>
            </a:ln>
          </p:spPr>
        </p:sp>
        <p:sp>
          <p:nvSpPr>
            <p:cNvPr id="30" name="node01.items.source-003.arc.arrow-2"/>
            <p:cNvSpPr/>
            <p:nvPr/>
          </p:nvSpPr>
          <p:spPr>
            <a:xfrm>
              <a:off x="1399683" y="3899765"/>
              <a:ext cx="37492" cy="107976"/>
            </a:xfrm>
            <a:custGeom>
              <a:avLst/>
              <a:gdLst/>
              <a:ahLst/>
              <a:cxnLst/>
              <a:rect l="l" t="t" r="r" b="b"/>
              <a:pathLst>
                <a:path w="37492" h="107976">
                  <a:moveTo>
                    <a:pt x="37492" y="0"/>
                  </a:moveTo>
                  <a:lnTo>
                    <a:pt x="0" y="107976"/>
                  </a:lnTo>
                </a:path>
              </a:pathLst>
            </a:custGeom>
            <a:ln w="25400">
              <a:solidFill>
                <a:srgbClr val="070154"/>
              </a:solidFill>
              <a:prstDash val="solid"/>
            </a:ln>
          </p:spPr>
        </p:sp>
        <p:sp>
          <p:nvSpPr>
            <p:cNvPr id="31" name="node01.items.source-003.arc.arrow-2.cap-1"/>
            <p:cNvSpPr/>
            <p:nvPr/>
          </p:nvSpPr>
          <p:spPr>
            <a:xfrm>
              <a:off x="1424475" y="3887065"/>
              <a:ext cx="25400" cy="25400"/>
            </a:xfrm>
            <a:prstGeom prst="ellipse">
              <a:avLst/>
            </a:prstGeom>
            <a:solidFill>
              <a:srgbClr val="070154"/>
            </a:solidFill>
            <a:ln>
              <a:noFill/>
            </a:ln>
          </p:spPr>
        </p:sp>
        <p:sp>
          <p:nvSpPr>
            <p:cNvPr id="32" name="node01.items.source-003.arc.arrow-2.cap-2"/>
            <p:cNvSpPr/>
            <p:nvPr/>
          </p:nvSpPr>
          <p:spPr>
            <a:xfrm>
              <a:off x="1386983" y="3995041"/>
              <a:ext cx="25400" cy="25400"/>
            </a:xfrm>
            <a:prstGeom prst="ellipse">
              <a:avLst/>
            </a:prstGeom>
            <a:solidFill>
              <a:srgbClr val="070154"/>
            </a:solidFill>
            <a:ln>
              <a:noFill/>
            </a:ln>
          </p:spPr>
        </p:sp>
        <p:sp>
          <p:nvSpPr>
            <p:cNvPr id="33" name="node01.items.source-004.arc"/>
            <p:cNvSpPr/>
            <p:nvPr/>
          </p:nvSpPr>
          <p:spPr>
            <a:xfrm>
              <a:off x="1437175" y="2174039"/>
              <a:ext cx="473163" cy="1012796"/>
            </a:xfrm>
            <a:custGeom>
              <a:avLst/>
              <a:gdLst/>
              <a:ahLst/>
              <a:cxnLst/>
              <a:rect l="l" t="t" r="r" b="b"/>
              <a:pathLst>
                <a:path w="473163" h="1012796">
                  <a:moveTo>
                    <a:pt x="0" y="1012796"/>
                  </a:moveTo>
                  <a:lnTo>
                    <a:pt x="8340" y="962959"/>
                  </a:lnTo>
                  <a:lnTo>
                    <a:pt x="17765" y="913484"/>
                  </a:lnTo>
                  <a:lnTo>
                    <a:pt x="28268" y="864413"/>
                  </a:lnTo>
                  <a:lnTo>
                    <a:pt x="39839" y="815792"/>
                  </a:lnTo>
                  <a:lnTo>
                    <a:pt x="52468" y="767662"/>
                  </a:lnTo>
                  <a:lnTo>
                    <a:pt x="66143" y="720068"/>
                  </a:lnTo>
                  <a:lnTo>
                    <a:pt x="80853" y="673050"/>
                  </a:lnTo>
                  <a:lnTo>
                    <a:pt x="96584" y="626651"/>
                  </a:lnTo>
                  <a:lnTo>
                    <a:pt x="113322" y="580912"/>
                  </a:lnTo>
                  <a:lnTo>
                    <a:pt x="131053" y="535874"/>
                  </a:lnTo>
                  <a:lnTo>
                    <a:pt x="149761" y="491577"/>
                  </a:lnTo>
                  <a:lnTo>
                    <a:pt x="169429" y="448060"/>
                  </a:lnTo>
                  <a:lnTo>
                    <a:pt x="190039" y="405362"/>
                  </a:lnTo>
                  <a:lnTo>
                    <a:pt x="211574" y="363521"/>
                  </a:lnTo>
                  <a:lnTo>
                    <a:pt x="234014" y="322574"/>
                  </a:lnTo>
                  <a:lnTo>
                    <a:pt x="257339" y="282557"/>
                  </a:lnTo>
                  <a:lnTo>
                    <a:pt x="281529" y="243507"/>
                  </a:lnTo>
                  <a:lnTo>
                    <a:pt x="306561" y="205457"/>
                  </a:lnTo>
                  <a:lnTo>
                    <a:pt x="332415" y="168441"/>
                  </a:lnTo>
                  <a:lnTo>
                    <a:pt x="359066" y="132493"/>
                  </a:lnTo>
                  <a:lnTo>
                    <a:pt x="386491" y="97645"/>
                  </a:lnTo>
                  <a:lnTo>
                    <a:pt x="414665" y="63926"/>
                  </a:lnTo>
                  <a:lnTo>
                    <a:pt x="443565" y="31369"/>
                  </a:lnTo>
                  <a:lnTo>
                    <a:pt x="473163" y="0"/>
                  </a:lnTo>
                </a:path>
              </a:pathLst>
            </a:custGeom>
            <a:ln w="25400">
              <a:solidFill>
                <a:srgbClr val="070154"/>
              </a:solidFill>
              <a:prstDash val="solid"/>
            </a:ln>
          </p:spPr>
        </p:sp>
        <p:sp>
          <p:nvSpPr>
            <p:cNvPr id="34" name="node01.items.source-004.arc.cap-1"/>
            <p:cNvSpPr/>
            <p:nvPr/>
          </p:nvSpPr>
          <p:spPr>
            <a:xfrm>
              <a:off x="1424475" y="3174135"/>
              <a:ext cx="25400" cy="25400"/>
            </a:xfrm>
            <a:prstGeom prst="ellipse">
              <a:avLst/>
            </a:prstGeom>
            <a:solidFill>
              <a:srgbClr val="070154"/>
            </a:solidFill>
            <a:ln>
              <a:noFill/>
            </a:ln>
          </p:spPr>
        </p:sp>
        <p:sp>
          <p:nvSpPr>
            <p:cNvPr id="35" name="node01.items.source-004.arc.cap-2"/>
            <p:cNvSpPr/>
            <p:nvPr/>
          </p:nvSpPr>
          <p:spPr>
            <a:xfrm>
              <a:off x="1897638" y="2161339"/>
              <a:ext cx="25400" cy="25400"/>
            </a:xfrm>
            <a:prstGeom prst="ellipse">
              <a:avLst/>
            </a:prstGeom>
            <a:solidFill>
              <a:srgbClr val="070154"/>
            </a:solidFill>
            <a:ln>
              <a:noFill/>
            </a:ln>
          </p:spPr>
        </p:sp>
        <p:sp>
          <p:nvSpPr>
            <p:cNvPr id="36" name="node01.items.source-004.arc.arrow-1"/>
            <p:cNvSpPr/>
            <p:nvPr/>
          </p:nvSpPr>
          <p:spPr>
            <a:xfrm>
              <a:off x="1881355" y="2174039"/>
              <a:ext cx="28983" cy="110564"/>
            </a:xfrm>
            <a:custGeom>
              <a:avLst/>
              <a:gdLst/>
              <a:ahLst/>
              <a:cxnLst/>
              <a:rect l="l" t="t" r="r" b="b"/>
              <a:pathLst>
                <a:path w="28983" h="110564">
                  <a:moveTo>
                    <a:pt x="28983" y="0"/>
                  </a:moveTo>
                  <a:lnTo>
                    <a:pt x="0" y="110564"/>
                  </a:lnTo>
                </a:path>
              </a:pathLst>
            </a:custGeom>
            <a:ln w="25400">
              <a:solidFill>
                <a:srgbClr val="070154"/>
              </a:solidFill>
              <a:prstDash val="solid"/>
            </a:ln>
          </p:spPr>
        </p:sp>
        <p:sp>
          <p:nvSpPr>
            <p:cNvPr id="37" name="node01.items.source-004.arc.arrow-1.cap-1"/>
            <p:cNvSpPr/>
            <p:nvPr/>
          </p:nvSpPr>
          <p:spPr>
            <a:xfrm>
              <a:off x="1897638" y="2161339"/>
              <a:ext cx="25400" cy="25400"/>
            </a:xfrm>
            <a:prstGeom prst="ellipse">
              <a:avLst/>
            </a:prstGeom>
            <a:solidFill>
              <a:srgbClr val="070154"/>
            </a:solidFill>
            <a:ln>
              <a:noFill/>
            </a:ln>
          </p:spPr>
        </p:sp>
        <p:sp>
          <p:nvSpPr>
            <p:cNvPr id="38" name="node01.items.source-004.arc.arrow-1.cap-2"/>
            <p:cNvSpPr/>
            <p:nvPr/>
          </p:nvSpPr>
          <p:spPr>
            <a:xfrm>
              <a:off x="1868655" y="2271904"/>
              <a:ext cx="25400" cy="25400"/>
            </a:xfrm>
            <a:prstGeom prst="ellipse">
              <a:avLst/>
            </a:prstGeom>
            <a:solidFill>
              <a:srgbClr val="070154"/>
            </a:solidFill>
            <a:ln>
              <a:noFill/>
            </a:ln>
          </p:spPr>
        </p:sp>
        <p:sp>
          <p:nvSpPr>
            <p:cNvPr id="39" name="node01.items.source-004.arc.arrow-2"/>
            <p:cNvSpPr/>
            <p:nvPr/>
          </p:nvSpPr>
          <p:spPr>
            <a:xfrm>
              <a:off x="1801642" y="2174039"/>
              <a:ext cx="108696" cy="35350"/>
            </a:xfrm>
            <a:custGeom>
              <a:avLst/>
              <a:gdLst/>
              <a:ahLst/>
              <a:cxnLst/>
              <a:rect l="l" t="t" r="r" b="b"/>
              <a:pathLst>
                <a:path w="108696" h="35350">
                  <a:moveTo>
                    <a:pt x="108696" y="0"/>
                  </a:moveTo>
                  <a:lnTo>
                    <a:pt x="0" y="35350"/>
                  </a:lnTo>
                </a:path>
              </a:pathLst>
            </a:custGeom>
            <a:ln w="25400">
              <a:solidFill>
                <a:srgbClr val="070154"/>
              </a:solidFill>
              <a:prstDash val="solid"/>
            </a:ln>
          </p:spPr>
        </p:sp>
        <p:sp>
          <p:nvSpPr>
            <p:cNvPr id="40" name="node01.items.source-004.arc.arrow-2.cap-1"/>
            <p:cNvSpPr/>
            <p:nvPr/>
          </p:nvSpPr>
          <p:spPr>
            <a:xfrm>
              <a:off x="1897638" y="2161339"/>
              <a:ext cx="25400" cy="25400"/>
            </a:xfrm>
            <a:prstGeom prst="ellipse">
              <a:avLst/>
            </a:prstGeom>
            <a:solidFill>
              <a:srgbClr val="070154"/>
            </a:solidFill>
            <a:ln>
              <a:noFill/>
            </a:ln>
          </p:spPr>
        </p:sp>
        <p:sp>
          <p:nvSpPr>
            <p:cNvPr id="41" name="node01.items.source-004.arc.arrow-2.cap-2"/>
            <p:cNvSpPr/>
            <p:nvPr/>
          </p:nvSpPr>
          <p:spPr>
            <a:xfrm>
              <a:off x="1788942" y="2196689"/>
              <a:ext cx="25400" cy="25400"/>
            </a:xfrm>
            <a:prstGeom prst="ellipse">
              <a:avLst/>
            </a:prstGeom>
            <a:solidFill>
              <a:srgbClr val="070154"/>
            </a:solidFill>
            <a:ln>
              <a:noFill/>
            </a:ln>
          </p:spPr>
        </p:sp>
        <p:sp>
          <p:nvSpPr>
            <p:cNvPr id="42" name="node01.center.label"/>
            <p:cNvSpPr/>
            <p:nvPr/>
          </p:nvSpPr>
          <p:spPr>
            <a:xfrm>
              <a:off x="2095500" y="3127375"/>
              <a:ext cx="1143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PDLC</a:t>
              </a:r>
              <a:endParaRPr lang="en-US" sz="800" spc="48" kern="0" b="0" i="0" dirty="0">
                <a:solidFill>
                  <a:srgbClr val="0047FF"/>
                </a:solidFill>
                <a:latin typeface="IBM Plex Mono SemiBold"/>
                <a:ea typeface="IBM Plex Mono SemiBold"/>
                <a:cs typeface="IBM Plex Mono SemiBold"/>
              </a:endParaRPr>
            </a:p>
          </p:txBody>
        </p:sp>
        <p:sp>
          <p:nvSpPr>
            <p:cNvPr id="43" name="node01.items.source-001.surface"/>
            <p:cNvSpPr/>
            <p:nvPr/>
          </p:nvSpPr>
          <p:spPr>
            <a:xfrm>
              <a:off x="1981200" y="1600200"/>
              <a:ext cx="1371600" cy="457200"/>
            </a:xfrm>
            <a:prstGeom prst="rect">
              <a:avLst/>
            </a:prstGeom>
            <a:solidFill>
              <a:srgbClr val="E8EEF8"/>
            </a:solidFill>
            <a:ln>
              <a:noFill/>
            </a:ln>
          </p:spPr>
        </p:sp>
        <p:sp>
          <p:nvSpPr>
            <p:cNvPr id="44" name="node01.items.source-001.label"/>
            <p:cNvSpPr/>
            <p:nvPr/>
          </p:nvSpPr>
          <p:spPr>
            <a:xfrm>
              <a:off x="2133600" y="17208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Identify</a:t>
              </a:r>
              <a:endParaRPr lang="en-US" sz="1200" spc="0" kern="0" b="0" i="0" dirty="0">
                <a:solidFill>
                  <a:srgbClr val="070154"/>
                </a:solidFill>
                <a:latin typeface="IBM Plex Sans SemiBold"/>
                <a:ea typeface="IBM Plex Sans SemiBold"/>
                <a:cs typeface="IBM Plex Sans SemiBold"/>
              </a:endParaRPr>
            </a:p>
          </p:txBody>
        </p:sp>
        <p:sp>
          <p:nvSpPr>
            <p:cNvPr id="45" name="node01.items.source-002.surface"/>
            <p:cNvSpPr/>
            <p:nvPr/>
          </p:nvSpPr>
          <p:spPr>
            <a:xfrm>
              <a:off x="3238500" y="3314700"/>
              <a:ext cx="1371600" cy="457200"/>
            </a:xfrm>
            <a:prstGeom prst="rect">
              <a:avLst/>
            </a:prstGeom>
            <a:solidFill>
              <a:srgbClr val="E8EEF8"/>
            </a:solidFill>
            <a:ln>
              <a:noFill/>
            </a:ln>
          </p:spPr>
        </p:sp>
        <p:sp>
          <p:nvSpPr>
            <p:cNvPr id="46" name="node01.items.source-002.label"/>
            <p:cNvSpPr/>
            <p:nvPr/>
          </p:nvSpPr>
          <p:spPr>
            <a:xfrm>
              <a:off x="3390900" y="34353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Define</a:t>
              </a:r>
              <a:endParaRPr lang="en-US" sz="1200" spc="0" kern="0" b="0" i="0" dirty="0">
                <a:solidFill>
                  <a:srgbClr val="070154"/>
                </a:solidFill>
                <a:latin typeface="IBM Plex Sans SemiBold"/>
                <a:ea typeface="IBM Plex Sans SemiBold"/>
                <a:cs typeface="IBM Plex Sans SemiBold"/>
              </a:endParaRPr>
            </a:p>
          </p:txBody>
        </p:sp>
        <p:sp>
          <p:nvSpPr>
            <p:cNvPr id="47" name="node01.items.source-003.surface"/>
            <p:cNvSpPr/>
            <p:nvPr/>
          </p:nvSpPr>
          <p:spPr>
            <a:xfrm>
              <a:off x="1981200" y="5029200"/>
              <a:ext cx="1371600" cy="457200"/>
            </a:xfrm>
            <a:prstGeom prst="rect">
              <a:avLst/>
            </a:prstGeom>
            <a:solidFill>
              <a:srgbClr val="070154"/>
            </a:solidFill>
            <a:ln>
              <a:noFill/>
            </a:ln>
          </p:spPr>
        </p:sp>
        <p:sp>
          <p:nvSpPr>
            <p:cNvPr id="48" name="node01.items.source-003.label"/>
            <p:cNvSpPr/>
            <p:nvPr/>
          </p:nvSpPr>
          <p:spPr>
            <a:xfrm>
              <a:off x="2133600" y="51498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Build</a:t>
              </a:r>
              <a:endParaRPr lang="en-US" sz="1200" spc="0" kern="0" b="0" i="0" dirty="0">
                <a:solidFill>
                  <a:srgbClr val="FFFFFF"/>
                </a:solidFill>
                <a:latin typeface="IBM Plex Sans SemiBold"/>
                <a:ea typeface="IBM Plex Sans SemiBold"/>
                <a:cs typeface="IBM Plex Sans SemiBold"/>
              </a:endParaRPr>
            </a:p>
          </p:txBody>
        </p:sp>
        <p:sp>
          <p:nvSpPr>
            <p:cNvPr id="49" name="node01.items.source-004.surface"/>
            <p:cNvSpPr/>
            <p:nvPr/>
          </p:nvSpPr>
          <p:spPr>
            <a:xfrm>
              <a:off x="723900" y="3314700"/>
              <a:ext cx="1371600" cy="457200"/>
            </a:xfrm>
            <a:prstGeom prst="rect">
              <a:avLst/>
            </a:prstGeom>
            <a:solidFill>
              <a:srgbClr val="E8EEF8"/>
            </a:solidFill>
            <a:ln>
              <a:noFill/>
            </a:ln>
          </p:spPr>
        </p:sp>
        <p:sp>
          <p:nvSpPr>
            <p:cNvPr id="50" name="node01.items.source-004.label"/>
            <p:cNvSpPr/>
            <p:nvPr/>
          </p:nvSpPr>
          <p:spPr>
            <a:xfrm>
              <a:off x="876300" y="3435350"/>
              <a:ext cx="1066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Optimize</a:t>
              </a:r>
              <a:endParaRPr lang="en-US" sz="1200" spc="0" kern="0" b="0" i="0" dirty="0">
                <a:solidFill>
                  <a:srgbClr val="070154"/>
                </a:solidFill>
                <a:latin typeface="IBM Plex Sans SemiBold"/>
                <a:ea typeface="IBM Plex Sans SemiBold"/>
                <a:cs typeface="IBM Plex Sans SemiBold"/>
              </a:endParaRPr>
            </a:p>
          </p:txBody>
        </p:sp>
      </p:grpSp>
      <p:grpSp>
        <p:nvGrpSpPr>
          <p:cNvPr id="83" name="node02"/>
          <p:cNvGrpSpPr/>
          <p:nvPr/>
        </p:nvGrpSpPr>
        <p:grpSpPr>
          <a:xfrm>
            <a:off x="723900" y="5600700"/>
            <a:ext cx="3886200" cy="190500"/>
            <a:chOff x="723900" y="5600700"/>
            <a:chExt cx="3886200" cy="190500"/>
          </a:xfrm>
        </p:grpSpPr>
        <p:sp>
          <p:nvSpPr>
            <p:cNvPr id="51" name="node02.text"/>
            <p:cNvSpPr/>
            <p:nvPr/>
          </p:nvSpPr>
          <p:spPr>
            <a:xfrm>
              <a:off x="723900" y="5600700"/>
              <a:ext cx="3886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Dark phase is the one shown on the right.</a:t>
              </a:r>
              <a:endParaRPr lang="en-US" sz="1100" spc="0" kern="0" b="0" i="0" dirty="0">
                <a:solidFill>
                  <a:srgbClr val="50658E"/>
                </a:solidFill>
                <a:latin typeface="IBM Plex Sans"/>
                <a:ea typeface="IBM Plex Sans"/>
                <a:cs typeface="IBM Plex Sans"/>
              </a:endParaRPr>
            </a:p>
          </p:txBody>
        </p:sp>
      </p:grpSp>
      <p:grpSp>
        <p:nvGrpSpPr>
          <p:cNvPr id="84" name="node03"/>
          <p:cNvGrpSpPr/>
          <p:nvPr/>
        </p:nvGrpSpPr>
        <p:grpSpPr>
          <a:xfrm>
            <a:off x="4838700" y="1600200"/>
            <a:ext cx="6629400" cy="139700"/>
            <a:chOff x="4838700" y="1600200"/>
            <a:chExt cx="6629400" cy="139700"/>
          </a:xfrm>
        </p:grpSpPr>
        <p:sp>
          <p:nvSpPr>
            <p:cNvPr id="52" name="node03.text"/>
            <p:cNvSpPr/>
            <p:nvPr/>
          </p:nvSpPr>
          <p:spPr>
            <a:xfrm>
              <a:off x="4838700" y="1600200"/>
              <a:ext cx="6629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PHASE 3 OF 4 · BUILT RIGHT</a:t>
              </a:r>
              <a:endParaRPr lang="en-US" sz="800" spc="48" kern="0" b="0" i="0" dirty="0">
                <a:solidFill>
                  <a:srgbClr val="0047FF"/>
                </a:solidFill>
                <a:latin typeface="IBM Plex Mono Medium"/>
                <a:ea typeface="IBM Plex Mono Medium"/>
                <a:cs typeface="IBM Plex Mono Medium"/>
              </a:endParaRPr>
            </a:p>
          </p:txBody>
        </p:sp>
      </p:grpSp>
      <p:grpSp>
        <p:nvGrpSpPr>
          <p:cNvPr id="85" name="node04"/>
          <p:cNvGrpSpPr/>
          <p:nvPr/>
        </p:nvGrpSpPr>
        <p:grpSpPr>
          <a:xfrm>
            <a:off x="4838700" y="1905000"/>
            <a:ext cx="6629400" cy="330200"/>
            <a:chOff x="4838700" y="1905000"/>
            <a:chExt cx="6629400" cy="330200"/>
          </a:xfrm>
        </p:grpSpPr>
        <p:sp>
          <p:nvSpPr>
            <p:cNvPr id="53" name="node04.text"/>
            <p:cNvSpPr/>
            <p:nvPr/>
          </p:nvSpPr>
          <p:spPr>
            <a:xfrm>
              <a:off x="4838700" y="1905000"/>
              <a:ext cx="66294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Build</a:t>
              </a:r>
              <a:endParaRPr lang="en-US" sz="2100" spc="-32" kern="0" b="0" i="0" dirty="0">
                <a:solidFill>
                  <a:srgbClr val="070154"/>
                </a:solidFill>
                <a:latin typeface="IBM Plex Sans SemiBold"/>
                <a:ea typeface="IBM Plex Sans SemiBold"/>
                <a:cs typeface="IBM Plex Sans SemiBold"/>
              </a:endParaRPr>
            </a:p>
          </p:txBody>
        </p:sp>
      </p:grpSp>
      <p:grpSp>
        <p:nvGrpSpPr>
          <p:cNvPr id="86" name="node05"/>
          <p:cNvGrpSpPr/>
          <p:nvPr/>
        </p:nvGrpSpPr>
        <p:grpSpPr>
          <a:xfrm>
            <a:off x="4838700" y="2362200"/>
            <a:ext cx="6629400" cy="215900"/>
            <a:chOff x="4838700" y="2362200"/>
            <a:chExt cx="6629400" cy="215900"/>
          </a:xfrm>
        </p:grpSpPr>
        <p:sp>
          <p:nvSpPr>
            <p:cNvPr id="54" name="node05.text"/>
            <p:cNvSpPr/>
            <p:nvPr/>
          </p:nvSpPr>
          <p:spPr>
            <a:xfrm>
              <a:off x="4838700" y="2362200"/>
              <a:ext cx="662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Deliver the patient app and scheduling platform in two-week sprints with automated checks.</a:t>
              </a:r>
              <a:endParaRPr lang="en-US" sz="1200" spc="0" kern="0" b="0" i="0" dirty="0">
                <a:solidFill>
                  <a:srgbClr val="070154"/>
                </a:solidFill>
                <a:latin typeface="IBM Plex Sans"/>
                <a:ea typeface="IBM Plex Sans"/>
                <a:cs typeface="IBM Plex Sans"/>
              </a:endParaRPr>
            </a:p>
          </p:txBody>
        </p:sp>
      </p:grpSp>
      <p:grpSp>
        <p:nvGrpSpPr>
          <p:cNvPr id="87" name="node06"/>
          <p:cNvGrpSpPr/>
          <p:nvPr/>
        </p:nvGrpSpPr>
        <p:grpSpPr>
          <a:xfrm>
            <a:off x="4838700" y="2971800"/>
            <a:ext cx="2057400" cy="2057400"/>
            <a:chOff x="4838700" y="2971800"/>
            <a:chExt cx="2057400" cy="2057400"/>
          </a:xfrm>
        </p:grpSpPr>
        <p:sp>
          <p:nvSpPr>
            <p:cNvPr id="55" name="node06.container"/>
            <p:cNvSpPr/>
            <p:nvPr/>
          </p:nvSpPr>
          <p:spPr>
            <a:xfrm>
              <a:off x="4838700" y="2971800"/>
              <a:ext cx="2057400" cy="2057400"/>
            </a:xfrm>
            <a:prstGeom prst="rect">
              <a:avLst/>
            </a:prstGeom>
            <a:solidFill>
              <a:srgbClr val="E8EEF8"/>
            </a:solidFill>
            <a:ln>
              <a:noFill/>
            </a:ln>
          </p:spPr>
        </p:sp>
        <p:sp>
          <p:nvSpPr>
            <p:cNvPr id="56" name="node06.label"/>
            <p:cNvSpPr/>
            <p:nvPr/>
          </p:nvSpPr>
          <p:spPr>
            <a:xfrm>
              <a:off x="4991100" y="3124200"/>
              <a:ext cx="1752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ACTIVITIES</a:t>
              </a:r>
              <a:endParaRPr lang="en-US" sz="800" spc="48" kern="0" b="0" i="0" dirty="0">
                <a:solidFill>
                  <a:srgbClr val="0047FF"/>
                </a:solidFill>
                <a:latin typeface="IBM Plex Mono Medium"/>
                <a:ea typeface="IBM Plex Mono Medium"/>
                <a:cs typeface="IBM Plex Mono Medium"/>
              </a:endParaRPr>
            </a:p>
          </p:txBody>
        </p:sp>
        <p:sp>
          <p:nvSpPr>
            <p:cNvPr id="57" name="node06.body.item-001.bullets.item-001.marker"/>
            <p:cNvSpPr/>
            <p:nvPr/>
          </p:nvSpPr>
          <p:spPr>
            <a:xfrm>
              <a:off x="4991100" y="3429000"/>
              <a:ext cx="38100" cy="38100"/>
            </a:xfrm>
            <a:prstGeom prst="rect">
              <a:avLst/>
            </a:prstGeom>
            <a:solidFill>
              <a:srgbClr val="070154"/>
            </a:solidFill>
            <a:ln>
              <a:noFill/>
            </a:ln>
          </p:spPr>
        </p:sp>
        <p:sp>
          <p:nvSpPr>
            <p:cNvPr id="58" name="node06.body.item-001.bullets.item-001.text"/>
            <p:cNvSpPr/>
            <p:nvPr/>
          </p:nvSpPr>
          <p:spPr>
            <a:xfrm>
              <a:off x="5143500" y="3340100"/>
              <a:ext cx="1600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Build in two-week sprints</a:t>
              </a:r>
              <a:endParaRPr lang="en-US" sz="1200" spc="0" kern="0" b="0" i="0" dirty="0">
                <a:solidFill>
                  <a:srgbClr val="070154"/>
                </a:solidFill>
                <a:latin typeface="IBM Plex Sans"/>
                <a:ea typeface="IBM Plex Sans"/>
                <a:cs typeface="IBM Plex Sans"/>
              </a:endParaRPr>
            </a:p>
          </p:txBody>
        </p:sp>
        <p:sp>
          <p:nvSpPr>
            <p:cNvPr id="59" name="node06.body.item-001.bullets.item-002.marker"/>
            <p:cNvSpPr/>
            <p:nvPr/>
          </p:nvSpPr>
          <p:spPr>
            <a:xfrm>
              <a:off x="4991100" y="3898900"/>
              <a:ext cx="38100" cy="38100"/>
            </a:xfrm>
            <a:prstGeom prst="rect">
              <a:avLst/>
            </a:prstGeom>
            <a:solidFill>
              <a:srgbClr val="070154"/>
            </a:solidFill>
            <a:ln>
              <a:noFill/>
            </a:ln>
          </p:spPr>
        </p:sp>
        <p:sp>
          <p:nvSpPr>
            <p:cNvPr id="60" name="node06.body.item-001.bullets.item-002.text"/>
            <p:cNvSpPr/>
            <p:nvPr/>
          </p:nvSpPr>
          <p:spPr>
            <a:xfrm>
              <a:off x="5143500" y="3810000"/>
              <a:ext cx="1600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Automate tests and releases</a:t>
              </a:r>
              <a:endParaRPr lang="en-US" sz="1200" spc="0" kern="0" b="0" i="0" dirty="0">
                <a:solidFill>
                  <a:srgbClr val="070154"/>
                </a:solidFill>
                <a:latin typeface="IBM Plex Sans"/>
                <a:ea typeface="IBM Plex Sans"/>
                <a:cs typeface="IBM Plex Sans"/>
              </a:endParaRPr>
            </a:p>
          </p:txBody>
        </p:sp>
        <p:sp>
          <p:nvSpPr>
            <p:cNvPr id="61" name="node06.body.item-001.bullets.item-003.marker"/>
            <p:cNvSpPr/>
            <p:nvPr/>
          </p:nvSpPr>
          <p:spPr>
            <a:xfrm>
              <a:off x="4991100" y="4368800"/>
              <a:ext cx="38100" cy="38100"/>
            </a:xfrm>
            <a:prstGeom prst="rect">
              <a:avLst/>
            </a:prstGeom>
            <a:solidFill>
              <a:srgbClr val="070154"/>
            </a:solidFill>
            <a:ln>
              <a:noFill/>
            </a:ln>
          </p:spPr>
        </p:sp>
        <p:sp>
          <p:nvSpPr>
            <p:cNvPr id="62" name="node06.body.item-001.bullets.item-003.text"/>
            <p:cNvSpPr/>
            <p:nvPr/>
          </p:nvSpPr>
          <p:spPr>
            <a:xfrm>
              <a:off x="5143500" y="42799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Verify with clinicians</a:t>
              </a:r>
              <a:endParaRPr lang="en-US" sz="1200" spc="0" kern="0" b="0" i="0" dirty="0">
                <a:solidFill>
                  <a:srgbClr val="070154"/>
                </a:solidFill>
                <a:latin typeface="IBM Plex Sans"/>
                <a:ea typeface="IBM Plex Sans"/>
                <a:cs typeface="IBM Plex Sans"/>
              </a:endParaRPr>
            </a:p>
          </p:txBody>
        </p:sp>
      </p:grpSp>
      <p:grpSp>
        <p:nvGrpSpPr>
          <p:cNvPr id="88" name="node07"/>
          <p:cNvGrpSpPr/>
          <p:nvPr/>
        </p:nvGrpSpPr>
        <p:grpSpPr>
          <a:xfrm>
            <a:off x="7124700" y="2971800"/>
            <a:ext cx="2057400" cy="2057400"/>
            <a:chOff x="7124700" y="2971800"/>
            <a:chExt cx="2057400" cy="2057400"/>
          </a:xfrm>
        </p:grpSpPr>
        <p:sp>
          <p:nvSpPr>
            <p:cNvPr id="63" name="node07.container"/>
            <p:cNvSpPr/>
            <p:nvPr/>
          </p:nvSpPr>
          <p:spPr>
            <a:xfrm>
              <a:off x="7124700" y="2971800"/>
              <a:ext cx="2057400" cy="2057400"/>
            </a:xfrm>
            <a:prstGeom prst="rect">
              <a:avLst/>
            </a:prstGeom>
            <a:solidFill>
              <a:srgbClr val="E8EEF8"/>
            </a:solidFill>
            <a:ln>
              <a:noFill/>
            </a:ln>
          </p:spPr>
        </p:sp>
        <p:sp>
          <p:nvSpPr>
            <p:cNvPr id="64" name="node07.label"/>
            <p:cNvSpPr/>
            <p:nvPr/>
          </p:nvSpPr>
          <p:spPr>
            <a:xfrm>
              <a:off x="7277100" y="3124200"/>
              <a:ext cx="1752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OUTPUTS</a:t>
              </a:r>
              <a:endParaRPr lang="en-US" sz="800" spc="48" kern="0" b="0" i="0" dirty="0">
                <a:solidFill>
                  <a:srgbClr val="0047FF"/>
                </a:solidFill>
                <a:latin typeface="IBM Plex Mono Medium"/>
                <a:ea typeface="IBM Plex Mono Medium"/>
                <a:cs typeface="IBM Plex Mono Medium"/>
              </a:endParaRPr>
            </a:p>
          </p:txBody>
        </p:sp>
        <p:sp>
          <p:nvSpPr>
            <p:cNvPr id="65" name="node07.body.item-001.bullets.item-001.marker"/>
            <p:cNvSpPr/>
            <p:nvPr/>
          </p:nvSpPr>
          <p:spPr>
            <a:xfrm>
              <a:off x="7277100" y="3429000"/>
              <a:ext cx="38100" cy="38100"/>
            </a:xfrm>
            <a:prstGeom prst="rect">
              <a:avLst/>
            </a:prstGeom>
            <a:solidFill>
              <a:srgbClr val="070154"/>
            </a:solidFill>
            <a:ln>
              <a:noFill/>
            </a:ln>
          </p:spPr>
        </p:sp>
        <p:sp>
          <p:nvSpPr>
            <p:cNvPr id="66" name="node07.body.item-001.bullets.item-001.text"/>
            <p:cNvSpPr/>
            <p:nvPr/>
          </p:nvSpPr>
          <p:spPr>
            <a:xfrm>
              <a:off x="7429500" y="33401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Working releases</a:t>
              </a:r>
              <a:endParaRPr lang="en-US" sz="1200" spc="0" kern="0" b="0" i="0" dirty="0">
                <a:solidFill>
                  <a:srgbClr val="070154"/>
                </a:solidFill>
                <a:latin typeface="IBM Plex Sans"/>
                <a:ea typeface="IBM Plex Sans"/>
                <a:cs typeface="IBM Plex Sans"/>
              </a:endParaRPr>
            </a:p>
          </p:txBody>
        </p:sp>
        <p:sp>
          <p:nvSpPr>
            <p:cNvPr id="67" name="node07.body.item-001.bullets.item-002.marker"/>
            <p:cNvSpPr/>
            <p:nvPr/>
          </p:nvSpPr>
          <p:spPr>
            <a:xfrm>
              <a:off x="7277100" y="3683000"/>
              <a:ext cx="38100" cy="38100"/>
            </a:xfrm>
            <a:prstGeom prst="rect">
              <a:avLst/>
            </a:prstGeom>
            <a:solidFill>
              <a:srgbClr val="070154"/>
            </a:solidFill>
            <a:ln>
              <a:noFill/>
            </a:ln>
          </p:spPr>
        </p:sp>
        <p:sp>
          <p:nvSpPr>
            <p:cNvPr id="68" name="node07.body.item-001.bullets.item-002.text"/>
            <p:cNvSpPr/>
            <p:nvPr/>
          </p:nvSpPr>
          <p:spPr>
            <a:xfrm>
              <a:off x="7429500" y="35941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Test evidence</a:t>
              </a:r>
              <a:endParaRPr lang="en-US" sz="1200" spc="0" kern="0" b="0" i="0" dirty="0">
                <a:solidFill>
                  <a:srgbClr val="070154"/>
                </a:solidFill>
                <a:latin typeface="IBM Plex Sans"/>
                <a:ea typeface="IBM Plex Sans"/>
                <a:cs typeface="IBM Plex Sans"/>
              </a:endParaRPr>
            </a:p>
          </p:txBody>
        </p:sp>
        <p:sp>
          <p:nvSpPr>
            <p:cNvPr id="69" name="node07.body.item-001.bullets.item-003.marker"/>
            <p:cNvSpPr/>
            <p:nvPr/>
          </p:nvSpPr>
          <p:spPr>
            <a:xfrm>
              <a:off x="7277100" y="3937000"/>
              <a:ext cx="38100" cy="38100"/>
            </a:xfrm>
            <a:prstGeom prst="rect">
              <a:avLst/>
            </a:prstGeom>
            <a:solidFill>
              <a:srgbClr val="070154"/>
            </a:solidFill>
            <a:ln>
              <a:noFill/>
            </a:ln>
          </p:spPr>
        </p:sp>
        <p:sp>
          <p:nvSpPr>
            <p:cNvPr id="70" name="node07.body.item-001.bullets.item-003.text"/>
            <p:cNvSpPr/>
            <p:nvPr/>
          </p:nvSpPr>
          <p:spPr>
            <a:xfrm>
              <a:off x="7429500" y="38481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Release notes</a:t>
              </a:r>
              <a:endParaRPr lang="en-US" sz="1200" spc="0" kern="0" b="0" i="0" dirty="0">
                <a:solidFill>
                  <a:srgbClr val="070154"/>
                </a:solidFill>
                <a:latin typeface="IBM Plex Sans"/>
                <a:ea typeface="IBM Plex Sans"/>
                <a:cs typeface="IBM Plex Sans"/>
              </a:endParaRPr>
            </a:p>
          </p:txBody>
        </p:sp>
      </p:grpSp>
      <p:grpSp>
        <p:nvGrpSpPr>
          <p:cNvPr id="89" name="node08"/>
          <p:cNvGrpSpPr/>
          <p:nvPr/>
        </p:nvGrpSpPr>
        <p:grpSpPr>
          <a:xfrm>
            <a:off x="9410700" y="2971800"/>
            <a:ext cx="2057400" cy="2057400"/>
            <a:chOff x="9410700" y="2971800"/>
            <a:chExt cx="2057400" cy="2057400"/>
          </a:xfrm>
        </p:grpSpPr>
        <p:sp>
          <p:nvSpPr>
            <p:cNvPr id="71" name="node08.container"/>
            <p:cNvSpPr/>
            <p:nvPr/>
          </p:nvSpPr>
          <p:spPr>
            <a:xfrm>
              <a:off x="9417050" y="2978150"/>
              <a:ext cx="2044700" cy="2044700"/>
            </a:xfrm>
            <a:prstGeom prst="rect">
              <a:avLst/>
            </a:prstGeom>
            <a:solidFill>
              <a:srgbClr val="FFFFFF"/>
            </a:solidFill>
            <a:ln w="12700">
              <a:solidFill>
                <a:srgbClr val="CED7E6"/>
              </a:solidFill>
              <a:prstDash val="solid"/>
            </a:ln>
          </p:spPr>
        </p:sp>
        <p:sp>
          <p:nvSpPr>
            <p:cNvPr id="72" name="node08.label"/>
            <p:cNvSpPr/>
            <p:nvPr/>
          </p:nvSpPr>
          <p:spPr>
            <a:xfrm>
              <a:off x="9563100" y="3124200"/>
              <a:ext cx="1752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ROLES</a:t>
              </a:r>
              <a:endParaRPr lang="en-US" sz="800" spc="48" kern="0" b="0" i="0" dirty="0">
                <a:solidFill>
                  <a:srgbClr val="0047FF"/>
                </a:solidFill>
                <a:latin typeface="IBM Plex Mono Medium"/>
                <a:ea typeface="IBM Plex Mono Medium"/>
                <a:cs typeface="IBM Plex Mono Medium"/>
              </a:endParaRPr>
            </a:p>
          </p:txBody>
        </p:sp>
        <p:sp>
          <p:nvSpPr>
            <p:cNvPr id="73" name="node08.body.item-001.bullets.item-001.marker"/>
            <p:cNvSpPr/>
            <p:nvPr/>
          </p:nvSpPr>
          <p:spPr>
            <a:xfrm>
              <a:off x="9563100" y="3429000"/>
              <a:ext cx="38100" cy="38100"/>
            </a:xfrm>
            <a:prstGeom prst="rect">
              <a:avLst/>
            </a:prstGeom>
            <a:solidFill>
              <a:srgbClr val="070154"/>
            </a:solidFill>
            <a:ln>
              <a:noFill/>
            </a:ln>
          </p:spPr>
        </p:sp>
        <p:sp>
          <p:nvSpPr>
            <p:cNvPr id="74" name="node08.body.item-001.bullets.item-001.text"/>
            <p:cNvSpPr/>
            <p:nvPr/>
          </p:nvSpPr>
          <p:spPr>
            <a:xfrm>
              <a:off x="9715500" y="33401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Engineering lead</a:t>
              </a:r>
              <a:endParaRPr lang="en-US" sz="1200" spc="0" kern="0" b="0" i="0" dirty="0">
                <a:solidFill>
                  <a:srgbClr val="070154"/>
                </a:solidFill>
                <a:latin typeface="IBM Plex Sans"/>
                <a:ea typeface="IBM Plex Sans"/>
                <a:cs typeface="IBM Plex Sans"/>
              </a:endParaRPr>
            </a:p>
          </p:txBody>
        </p:sp>
        <p:sp>
          <p:nvSpPr>
            <p:cNvPr id="75" name="node08.body.item-001.bullets.item-002.marker"/>
            <p:cNvSpPr/>
            <p:nvPr/>
          </p:nvSpPr>
          <p:spPr>
            <a:xfrm>
              <a:off x="9563100" y="3683000"/>
              <a:ext cx="38100" cy="38100"/>
            </a:xfrm>
            <a:prstGeom prst="rect">
              <a:avLst/>
            </a:prstGeom>
            <a:solidFill>
              <a:srgbClr val="070154"/>
            </a:solidFill>
            <a:ln>
              <a:noFill/>
            </a:ln>
          </p:spPr>
        </p:sp>
        <p:sp>
          <p:nvSpPr>
            <p:cNvPr id="76" name="node08.body.item-001.bullets.item-002.text"/>
            <p:cNvSpPr/>
            <p:nvPr/>
          </p:nvSpPr>
          <p:spPr>
            <a:xfrm>
              <a:off x="9715500" y="35941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QA lead</a:t>
              </a:r>
              <a:endParaRPr lang="en-US" sz="1200" spc="0" kern="0" b="0" i="0" dirty="0">
                <a:solidFill>
                  <a:srgbClr val="070154"/>
                </a:solidFill>
                <a:latin typeface="IBM Plex Sans"/>
                <a:ea typeface="IBM Plex Sans"/>
                <a:cs typeface="IBM Plex Sans"/>
              </a:endParaRPr>
            </a:p>
          </p:txBody>
        </p:sp>
        <p:sp>
          <p:nvSpPr>
            <p:cNvPr id="77" name="node08.body.item-001.bullets.item-003.marker"/>
            <p:cNvSpPr/>
            <p:nvPr/>
          </p:nvSpPr>
          <p:spPr>
            <a:xfrm>
              <a:off x="9563100" y="3937000"/>
              <a:ext cx="38100" cy="38100"/>
            </a:xfrm>
            <a:prstGeom prst="rect">
              <a:avLst/>
            </a:prstGeom>
            <a:solidFill>
              <a:srgbClr val="070154"/>
            </a:solidFill>
            <a:ln>
              <a:noFill/>
            </a:ln>
          </p:spPr>
        </p:sp>
        <p:sp>
          <p:nvSpPr>
            <p:cNvPr id="78" name="node08.body.item-001.bullets.item-003.text"/>
            <p:cNvSpPr/>
            <p:nvPr/>
          </p:nvSpPr>
          <p:spPr>
            <a:xfrm>
              <a:off x="9715500" y="38481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Release manager</a:t>
              </a:r>
              <a:endParaRPr lang="en-US" sz="1200" spc="0" kern="0" b="0" i="0" dirty="0">
                <a:solidFill>
                  <a:srgbClr val="070154"/>
                </a:solidFill>
                <a:latin typeface="IBM Plex Sans"/>
                <a:ea typeface="IBM Plex Sans"/>
                <a:cs typeface="IBM Plex Sans"/>
              </a:endParaRPr>
            </a:p>
          </p:txBody>
        </p:sp>
      </p:grpSp>
      <p:grpSp>
        <p:nvGrpSpPr>
          <p:cNvPr id="90" name="node09"/>
          <p:cNvGrpSpPr/>
          <p:nvPr/>
        </p:nvGrpSpPr>
        <p:grpSpPr>
          <a:xfrm>
            <a:off x="4838700" y="5257800"/>
            <a:ext cx="6629400" cy="685800"/>
            <a:chOff x="4838700" y="5257800"/>
            <a:chExt cx="6629400" cy="685800"/>
          </a:xfrm>
        </p:grpSpPr>
        <p:sp>
          <p:nvSpPr>
            <p:cNvPr id="79" name="node09.container"/>
            <p:cNvSpPr/>
            <p:nvPr/>
          </p:nvSpPr>
          <p:spPr>
            <a:xfrm>
              <a:off x="4838700" y="5257800"/>
              <a:ext cx="6629400" cy="685800"/>
            </a:xfrm>
            <a:prstGeom prst="rect">
              <a:avLst/>
            </a:prstGeom>
            <a:solidFill>
              <a:srgbClr val="070154"/>
            </a:solidFill>
            <a:ln>
              <a:noFill/>
            </a:ln>
          </p:spPr>
        </p:sp>
        <p:sp>
          <p:nvSpPr>
            <p:cNvPr id="80" name="node09.label"/>
            <p:cNvSpPr/>
            <p:nvPr/>
          </p:nvSpPr>
          <p:spPr>
            <a:xfrm>
              <a:off x="4953000" y="5372100"/>
              <a:ext cx="6400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EXIT GATE</a:t>
              </a:r>
              <a:endParaRPr lang="en-US" sz="800" spc="48" kern="0" b="0" i="0" dirty="0">
                <a:solidFill>
                  <a:srgbClr val="F900D3"/>
                </a:solidFill>
                <a:latin typeface="IBM Plex Mono Medium"/>
                <a:ea typeface="IBM Plex Mono Medium"/>
                <a:cs typeface="IBM Plex Mono Medium"/>
              </a:endParaRPr>
            </a:p>
          </p:txBody>
        </p:sp>
        <p:sp>
          <p:nvSpPr>
            <p:cNvPr id="81" name="node09.body.item-001.paragraph"/>
            <p:cNvSpPr/>
            <p:nvPr/>
          </p:nvSpPr>
          <p:spPr>
            <a:xfrm>
              <a:off x="4953000" y="5588000"/>
              <a:ext cx="640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Release approved for patients</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ource-35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phase has three sub-phases; the SDLC covers six</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107</a:t>
            </a:fld>
            <a:endParaRPr lang="en-US" sz="700" spc="0" kern="0" b="0" i="0" dirty="0">
              <a:solidFill>
                <a:srgbClr val="070154"/>
              </a:solidFill>
              <a:latin typeface="IBM Plex Mono SemiBold"/>
              <a:ea typeface="IBM Plex Mono SemiBold"/>
              <a:cs typeface="IBM Plex Mono SemiBold"/>
            </a:endParaRPr>
          </a:p>
        </p:txBody>
      </p:sp>
      <p:grpSp>
        <p:nvGrpSpPr>
          <p:cNvPr id="62" name="node01"/>
          <p:cNvGrpSpPr/>
          <p:nvPr/>
        </p:nvGrpSpPr>
        <p:grpSpPr>
          <a:xfrm>
            <a:off x="4681779" y="1905000"/>
            <a:ext cx="5529021" cy="152400"/>
            <a:chOff x="4681779" y="1905000"/>
            <a:chExt cx="5529021" cy="152400"/>
          </a:xfrm>
        </p:grpSpPr>
        <p:sp>
          <p:nvSpPr>
            <p:cNvPr id="6" name="node01.segment-1"/>
            <p:cNvSpPr/>
            <p:nvPr/>
          </p:nvSpPr>
          <p:spPr>
            <a:xfrm>
              <a:off x="10210800" y="1905000"/>
              <a:ext cx="0" cy="152400"/>
            </a:xfrm>
            <a:custGeom>
              <a:avLst/>
              <a:gdLst/>
              <a:ahLst/>
              <a:cxnLst/>
              <a:rect l="l" t="t" r="r" b="b"/>
              <a:pathLst>
                <a:path h="152400">
                  <a:moveTo>
                    <a:pt x="0" y="152400"/>
                  </a:moveTo>
                  <a:lnTo>
                    <a:pt x="0" y="0"/>
                  </a:lnTo>
                </a:path>
              </a:pathLst>
            </a:custGeom>
            <a:ln w="12700">
              <a:solidFill>
                <a:srgbClr val="0047FF"/>
              </a:solidFill>
              <a:prstDash val="dash"/>
            </a:ln>
          </p:spPr>
        </p:sp>
        <p:sp>
          <p:nvSpPr>
            <p:cNvPr id="7" name="node01.segment-2"/>
            <p:cNvSpPr/>
            <p:nvPr/>
          </p:nvSpPr>
          <p:spPr>
            <a:xfrm>
              <a:off x="4724400" y="1905000"/>
              <a:ext cx="5486400" cy="0"/>
            </a:xfrm>
            <a:custGeom>
              <a:avLst/>
              <a:gdLst/>
              <a:ahLst/>
              <a:cxnLst/>
              <a:rect l="l" t="t" r="r" b="b"/>
              <a:pathLst>
                <a:path w="5486400">
                  <a:moveTo>
                    <a:pt x="5486400" y="0"/>
                  </a:moveTo>
                  <a:lnTo>
                    <a:pt x="0" y="0"/>
                  </a:lnTo>
                </a:path>
              </a:pathLst>
            </a:custGeom>
            <a:ln w="12700">
              <a:solidFill>
                <a:srgbClr val="0047FF"/>
              </a:solidFill>
              <a:prstDash val="dash"/>
            </a:ln>
          </p:spPr>
        </p:sp>
        <p:sp>
          <p:nvSpPr>
            <p:cNvPr id="8" name="node01.segment-3"/>
            <p:cNvSpPr/>
            <p:nvPr/>
          </p:nvSpPr>
          <p:spPr>
            <a:xfrm>
              <a:off x="4724400" y="1905000"/>
              <a:ext cx="0" cy="152400"/>
            </a:xfrm>
            <a:custGeom>
              <a:avLst/>
              <a:gdLst/>
              <a:ahLst/>
              <a:cxnLst/>
              <a:rect l="l" t="t" r="r" b="b"/>
              <a:pathLst>
                <a:path h="152400">
                  <a:moveTo>
                    <a:pt x="0" y="0"/>
                  </a:moveTo>
                  <a:lnTo>
                    <a:pt x="0" y="152400"/>
                  </a:lnTo>
                </a:path>
              </a:pathLst>
            </a:custGeom>
            <a:ln w="12700">
              <a:solidFill>
                <a:srgbClr val="0047FF"/>
              </a:solidFill>
              <a:prstDash val="dash"/>
            </a:ln>
          </p:spPr>
        </p:sp>
        <p:sp>
          <p:nvSpPr>
            <p:cNvPr id="9" name="node01.head-end.0"/>
            <p:cNvSpPr/>
            <p:nvPr/>
          </p:nvSpPr>
          <p:spPr>
            <a:xfrm>
              <a:off x="4681779" y="1979383"/>
              <a:ext cx="42621" cy="78017"/>
            </a:xfrm>
            <a:custGeom>
              <a:avLst/>
              <a:gdLst/>
              <a:ahLst/>
              <a:cxnLst/>
              <a:rect l="l" t="t" r="r" b="b"/>
              <a:pathLst>
                <a:path w="42621" h="78017">
                  <a:moveTo>
                    <a:pt x="42621" y="78017"/>
                  </a:moveTo>
                  <a:lnTo>
                    <a:pt x="0" y="0"/>
                  </a:lnTo>
                </a:path>
              </a:pathLst>
            </a:custGeom>
            <a:ln w="12700">
              <a:solidFill>
                <a:srgbClr val="0047FF"/>
              </a:solidFill>
              <a:prstDash val="solid"/>
            </a:ln>
          </p:spPr>
        </p:sp>
        <p:sp>
          <p:nvSpPr>
            <p:cNvPr id="10" name="node01.head-end.1"/>
            <p:cNvSpPr/>
            <p:nvPr/>
          </p:nvSpPr>
          <p:spPr>
            <a:xfrm>
              <a:off x="4724400" y="1979383"/>
              <a:ext cx="42621" cy="78017"/>
            </a:xfrm>
            <a:custGeom>
              <a:avLst/>
              <a:gdLst/>
              <a:ahLst/>
              <a:cxnLst/>
              <a:rect l="l" t="t" r="r" b="b"/>
              <a:pathLst>
                <a:path w="42621" h="78017">
                  <a:moveTo>
                    <a:pt x="0" y="78017"/>
                  </a:moveTo>
                  <a:lnTo>
                    <a:pt x="42621" y="0"/>
                  </a:lnTo>
                </a:path>
              </a:pathLst>
            </a:custGeom>
            <a:ln w="12700">
              <a:solidFill>
                <a:srgbClr val="0047FF"/>
              </a:solidFill>
              <a:prstDash val="solid"/>
            </a:ln>
          </p:spPr>
        </p:sp>
      </p:grpSp>
      <p:grpSp>
        <p:nvGrpSpPr>
          <p:cNvPr id="63" name="node02"/>
          <p:cNvGrpSpPr/>
          <p:nvPr/>
        </p:nvGrpSpPr>
        <p:grpSpPr>
          <a:xfrm>
            <a:off x="723900" y="2057400"/>
            <a:ext cx="2514600" cy="914400"/>
            <a:chOff x="723900" y="2057400"/>
            <a:chExt cx="2514600" cy="914400"/>
          </a:xfrm>
        </p:grpSpPr>
        <p:sp>
          <p:nvSpPr>
            <p:cNvPr id="11" name="node02.container"/>
            <p:cNvSpPr/>
            <p:nvPr/>
          </p:nvSpPr>
          <p:spPr>
            <a:xfrm>
              <a:off x="723900" y="2057400"/>
              <a:ext cx="2514600" cy="914400"/>
            </a:xfrm>
            <a:prstGeom prst="rect">
              <a:avLst/>
            </a:prstGeom>
            <a:solidFill>
              <a:srgbClr val="05013F"/>
            </a:solidFill>
            <a:ln>
              <a:noFill/>
            </a:ln>
          </p:spPr>
        </p:sp>
        <p:sp>
          <p:nvSpPr>
            <p:cNvPr id="12" name="node02.label"/>
            <p:cNvSpPr/>
            <p:nvPr/>
          </p:nvSpPr>
          <p:spPr>
            <a:xfrm>
              <a:off x="876300" y="22098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RIGHT PROBLEM</a:t>
              </a:r>
              <a:endParaRPr lang="en-US" sz="800" spc="48" kern="0" b="0" i="0" dirty="0">
                <a:solidFill>
                  <a:srgbClr val="F900D3"/>
                </a:solidFill>
                <a:latin typeface="IBM Plex Mono Medium"/>
                <a:ea typeface="IBM Plex Mono Medium"/>
                <a:cs typeface="IBM Plex Mono Medium"/>
              </a:endParaRPr>
            </a:p>
          </p:txBody>
        </p:sp>
        <p:sp>
          <p:nvSpPr>
            <p:cNvPr id="13" name="node02.title"/>
            <p:cNvSpPr/>
            <p:nvPr/>
          </p:nvSpPr>
          <p:spPr>
            <a:xfrm>
              <a:off x="876300" y="2425700"/>
              <a:ext cx="2209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Identify</a:t>
              </a:r>
              <a:endParaRPr lang="en-US" sz="1600" spc="-16" kern="0" b="0" i="0" dirty="0">
                <a:solidFill>
                  <a:srgbClr val="FFFFFF"/>
                </a:solidFill>
                <a:latin typeface="IBM Plex Sans SemiBold"/>
                <a:ea typeface="IBM Plex Sans SemiBold"/>
                <a:cs typeface="IBM Plex Sans SemiBold"/>
              </a:endParaRPr>
            </a:p>
          </p:txBody>
        </p:sp>
      </p:grpSp>
      <p:grpSp>
        <p:nvGrpSpPr>
          <p:cNvPr id="64" name="node03"/>
          <p:cNvGrpSpPr/>
          <p:nvPr/>
        </p:nvGrpSpPr>
        <p:grpSpPr>
          <a:xfrm>
            <a:off x="723900" y="3200400"/>
            <a:ext cx="2514600" cy="685800"/>
            <a:chOff x="723900" y="3200400"/>
            <a:chExt cx="2514600" cy="685800"/>
          </a:xfrm>
        </p:grpSpPr>
        <p:sp>
          <p:nvSpPr>
            <p:cNvPr id="14" name="node03.container"/>
            <p:cNvSpPr/>
            <p:nvPr/>
          </p:nvSpPr>
          <p:spPr>
            <a:xfrm>
              <a:off x="723900" y="3200400"/>
              <a:ext cx="2514600" cy="685800"/>
            </a:xfrm>
            <a:prstGeom prst="rect">
              <a:avLst/>
            </a:prstGeom>
            <a:solidFill>
              <a:srgbClr val="E8EEF8"/>
            </a:solidFill>
            <a:ln>
              <a:noFill/>
            </a:ln>
          </p:spPr>
        </p:sp>
        <p:sp>
          <p:nvSpPr>
            <p:cNvPr id="15" name="node03.label"/>
            <p:cNvSpPr/>
            <p:nvPr/>
          </p:nvSpPr>
          <p:spPr>
            <a:xfrm>
              <a:off x="800100" y="32766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PRODUCT</a:t>
              </a:r>
              <a:endParaRPr lang="en-US" sz="800" spc="48" kern="0" b="0" i="0" dirty="0">
                <a:solidFill>
                  <a:srgbClr val="0047FF"/>
                </a:solidFill>
                <a:latin typeface="IBM Plex Mono Medium"/>
                <a:ea typeface="IBM Plex Mono Medium"/>
                <a:cs typeface="IBM Plex Mono Medium"/>
              </a:endParaRPr>
            </a:p>
          </p:txBody>
        </p:sp>
        <p:sp>
          <p:nvSpPr>
            <p:cNvPr id="16" name="node03.title"/>
            <p:cNvSpPr/>
            <p:nvPr/>
          </p:nvSpPr>
          <p:spPr>
            <a:xfrm>
              <a:off x="800100" y="34925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Discover needs</a:t>
              </a:r>
              <a:endParaRPr lang="en-US" sz="1200" spc="0" kern="0" b="0" i="0" dirty="0">
                <a:solidFill>
                  <a:srgbClr val="070154"/>
                </a:solidFill>
                <a:latin typeface="IBM Plex Sans"/>
                <a:ea typeface="IBM Plex Sans"/>
                <a:cs typeface="IBM Plex Sans"/>
              </a:endParaRPr>
            </a:p>
          </p:txBody>
        </p:sp>
      </p:grpSp>
      <p:grpSp>
        <p:nvGrpSpPr>
          <p:cNvPr id="65" name="node04"/>
          <p:cNvGrpSpPr/>
          <p:nvPr/>
        </p:nvGrpSpPr>
        <p:grpSpPr>
          <a:xfrm>
            <a:off x="723900" y="4114800"/>
            <a:ext cx="2514600" cy="685800"/>
            <a:chOff x="723900" y="4114800"/>
            <a:chExt cx="2514600" cy="685800"/>
          </a:xfrm>
        </p:grpSpPr>
        <p:sp>
          <p:nvSpPr>
            <p:cNvPr id="17" name="node04.container"/>
            <p:cNvSpPr/>
            <p:nvPr/>
          </p:nvSpPr>
          <p:spPr>
            <a:xfrm>
              <a:off x="723900" y="4114800"/>
              <a:ext cx="2514600" cy="685800"/>
            </a:xfrm>
            <a:prstGeom prst="rect">
              <a:avLst/>
            </a:prstGeom>
            <a:solidFill>
              <a:srgbClr val="E8EEF8"/>
            </a:solidFill>
            <a:ln>
              <a:noFill/>
            </a:ln>
          </p:spPr>
        </p:sp>
        <p:sp>
          <p:nvSpPr>
            <p:cNvPr id="18" name="node04.label"/>
            <p:cNvSpPr/>
            <p:nvPr/>
          </p:nvSpPr>
          <p:spPr>
            <a:xfrm>
              <a:off x="800100" y="41910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PRODUCT</a:t>
              </a:r>
              <a:endParaRPr lang="en-US" sz="800" spc="48" kern="0" b="0" i="0" dirty="0">
                <a:solidFill>
                  <a:srgbClr val="0047FF"/>
                </a:solidFill>
                <a:latin typeface="IBM Plex Mono Medium"/>
                <a:ea typeface="IBM Plex Mono Medium"/>
                <a:cs typeface="IBM Plex Mono Medium"/>
              </a:endParaRPr>
            </a:p>
          </p:txBody>
        </p:sp>
        <p:sp>
          <p:nvSpPr>
            <p:cNvPr id="19" name="node04.title"/>
            <p:cNvSpPr/>
            <p:nvPr/>
          </p:nvSpPr>
          <p:spPr>
            <a:xfrm>
              <a:off x="800100" y="4406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Size the opportunity</a:t>
              </a:r>
              <a:endParaRPr lang="en-US" sz="1200" spc="0" kern="0" b="0" i="0" dirty="0">
                <a:solidFill>
                  <a:srgbClr val="070154"/>
                </a:solidFill>
                <a:latin typeface="IBM Plex Sans"/>
                <a:ea typeface="IBM Plex Sans"/>
                <a:cs typeface="IBM Plex Sans"/>
              </a:endParaRPr>
            </a:p>
          </p:txBody>
        </p:sp>
      </p:grpSp>
      <p:grpSp>
        <p:nvGrpSpPr>
          <p:cNvPr id="66" name="node05"/>
          <p:cNvGrpSpPr/>
          <p:nvPr/>
        </p:nvGrpSpPr>
        <p:grpSpPr>
          <a:xfrm>
            <a:off x="723900" y="5029200"/>
            <a:ext cx="2514600" cy="685800"/>
            <a:chOff x="723900" y="5029200"/>
            <a:chExt cx="2514600" cy="685800"/>
          </a:xfrm>
        </p:grpSpPr>
        <p:sp>
          <p:nvSpPr>
            <p:cNvPr id="20" name="node05.container"/>
            <p:cNvSpPr/>
            <p:nvPr/>
          </p:nvSpPr>
          <p:spPr>
            <a:xfrm>
              <a:off x="723900" y="5029200"/>
              <a:ext cx="2514600" cy="685800"/>
            </a:xfrm>
            <a:prstGeom prst="rect">
              <a:avLst/>
            </a:prstGeom>
            <a:solidFill>
              <a:srgbClr val="E8EEF8"/>
            </a:solidFill>
            <a:ln>
              <a:noFill/>
            </a:ln>
          </p:spPr>
        </p:sp>
        <p:sp>
          <p:nvSpPr>
            <p:cNvPr id="21" name="node05.label"/>
            <p:cNvSpPr/>
            <p:nvPr/>
          </p:nvSpPr>
          <p:spPr>
            <a:xfrm>
              <a:off x="800100" y="51054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PRODUCT</a:t>
              </a:r>
              <a:endParaRPr lang="en-US" sz="800" spc="48" kern="0" b="0" i="0" dirty="0">
                <a:solidFill>
                  <a:srgbClr val="0047FF"/>
                </a:solidFill>
                <a:latin typeface="IBM Plex Mono Medium"/>
                <a:ea typeface="IBM Plex Mono Medium"/>
                <a:cs typeface="IBM Plex Mono Medium"/>
              </a:endParaRPr>
            </a:p>
          </p:txBody>
        </p:sp>
        <p:sp>
          <p:nvSpPr>
            <p:cNvPr id="22" name="node05.title"/>
            <p:cNvSpPr/>
            <p:nvPr/>
          </p:nvSpPr>
          <p:spPr>
            <a:xfrm>
              <a:off x="800100" y="53213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Prioritize bets</a:t>
              </a:r>
              <a:endParaRPr lang="en-US" sz="1200" spc="0" kern="0" b="0" i="0" dirty="0">
                <a:solidFill>
                  <a:srgbClr val="070154"/>
                </a:solidFill>
                <a:latin typeface="IBM Plex Sans"/>
                <a:ea typeface="IBM Plex Sans"/>
                <a:cs typeface="IBM Plex Sans"/>
              </a:endParaRPr>
            </a:p>
          </p:txBody>
        </p:sp>
      </p:grpSp>
      <p:grpSp>
        <p:nvGrpSpPr>
          <p:cNvPr id="67" name="node06"/>
          <p:cNvGrpSpPr/>
          <p:nvPr/>
        </p:nvGrpSpPr>
        <p:grpSpPr>
          <a:xfrm>
            <a:off x="3467100" y="2057400"/>
            <a:ext cx="2514600" cy="914400"/>
            <a:chOff x="3467100" y="2057400"/>
            <a:chExt cx="2514600" cy="914400"/>
          </a:xfrm>
        </p:grpSpPr>
        <p:sp>
          <p:nvSpPr>
            <p:cNvPr id="23" name="node06.container"/>
            <p:cNvSpPr/>
            <p:nvPr/>
          </p:nvSpPr>
          <p:spPr>
            <a:xfrm>
              <a:off x="3467100" y="2057400"/>
              <a:ext cx="2514600" cy="914400"/>
            </a:xfrm>
            <a:prstGeom prst="rect">
              <a:avLst/>
            </a:prstGeom>
            <a:solidFill>
              <a:srgbClr val="05013F"/>
            </a:solidFill>
            <a:ln>
              <a:noFill/>
            </a:ln>
          </p:spPr>
        </p:sp>
        <p:sp>
          <p:nvSpPr>
            <p:cNvPr id="24" name="node06.label"/>
            <p:cNvSpPr/>
            <p:nvPr/>
          </p:nvSpPr>
          <p:spPr>
            <a:xfrm>
              <a:off x="3619500" y="22098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RIGHT SOLUTION</a:t>
              </a:r>
              <a:endParaRPr lang="en-US" sz="800" spc="48" kern="0" b="0" i="0" dirty="0">
                <a:solidFill>
                  <a:srgbClr val="F900D3"/>
                </a:solidFill>
                <a:latin typeface="IBM Plex Mono Medium"/>
                <a:ea typeface="IBM Plex Mono Medium"/>
                <a:cs typeface="IBM Plex Mono Medium"/>
              </a:endParaRPr>
            </a:p>
          </p:txBody>
        </p:sp>
        <p:sp>
          <p:nvSpPr>
            <p:cNvPr id="25" name="node06.title"/>
            <p:cNvSpPr/>
            <p:nvPr/>
          </p:nvSpPr>
          <p:spPr>
            <a:xfrm>
              <a:off x="3619500" y="2425700"/>
              <a:ext cx="2209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Define</a:t>
              </a:r>
              <a:endParaRPr lang="en-US" sz="1600" spc="-16" kern="0" b="0" i="0" dirty="0">
                <a:solidFill>
                  <a:srgbClr val="FFFFFF"/>
                </a:solidFill>
                <a:latin typeface="IBM Plex Sans SemiBold"/>
                <a:ea typeface="IBM Plex Sans SemiBold"/>
                <a:cs typeface="IBM Plex Sans SemiBold"/>
              </a:endParaRPr>
            </a:p>
          </p:txBody>
        </p:sp>
      </p:grpSp>
      <p:grpSp>
        <p:nvGrpSpPr>
          <p:cNvPr id="68" name="node07"/>
          <p:cNvGrpSpPr/>
          <p:nvPr/>
        </p:nvGrpSpPr>
        <p:grpSpPr>
          <a:xfrm>
            <a:off x="3467100" y="3200400"/>
            <a:ext cx="2514600" cy="685800"/>
            <a:chOff x="3467100" y="3200400"/>
            <a:chExt cx="2514600" cy="685800"/>
          </a:xfrm>
        </p:grpSpPr>
        <p:sp>
          <p:nvSpPr>
            <p:cNvPr id="26" name="node07.container"/>
            <p:cNvSpPr/>
            <p:nvPr/>
          </p:nvSpPr>
          <p:spPr>
            <a:xfrm>
              <a:off x="3467100" y="3200400"/>
              <a:ext cx="2514600" cy="685800"/>
            </a:xfrm>
            <a:prstGeom prst="rect">
              <a:avLst/>
            </a:prstGeom>
            <a:solidFill>
              <a:srgbClr val="E8EEF8"/>
            </a:solidFill>
            <a:ln>
              <a:noFill/>
            </a:ln>
          </p:spPr>
        </p:sp>
        <p:sp>
          <p:nvSpPr>
            <p:cNvPr id="27" name="node07.label"/>
            <p:cNvSpPr/>
            <p:nvPr/>
          </p:nvSpPr>
          <p:spPr>
            <a:xfrm>
              <a:off x="3543300" y="32766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PRODUCT</a:t>
              </a:r>
              <a:endParaRPr lang="en-US" sz="800" spc="48" kern="0" b="0" i="0" dirty="0">
                <a:solidFill>
                  <a:srgbClr val="0047FF"/>
                </a:solidFill>
                <a:latin typeface="IBM Plex Mono Medium"/>
                <a:ea typeface="IBM Plex Mono Medium"/>
                <a:cs typeface="IBM Plex Mono Medium"/>
              </a:endParaRPr>
            </a:p>
          </p:txBody>
        </p:sp>
        <p:sp>
          <p:nvSpPr>
            <p:cNvPr id="28" name="node07.title"/>
            <p:cNvSpPr/>
            <p:nvPr/>
          </p:nvSpPr>
          <p:spPr>
            <a:xfrm>
              <a:off x="3543300" y="34925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Shape the solution</a:t>
              </a:r>
              <a:endParaRPr lang="en-US" sz="1200" spc="0" kern="0" b="0" i="0" dirty="0">
                <a:solidFill>
                  <a:srgbClr val="070154"/>
                </a:solidFill>
                <a:latin typeface="IBM Plex Sans"/>
                <a:ea typeface="IBM Plex Sans"/>
                <a:cs typeface="IBM Plex Sans"/>
              </a:endParaRPr>
            </a:p>
          </p:txBody>
        </p:sp>
      </p:grpSp>
      <p:grpSp>
        <p:nvGrpSpPr>
          <p:cNvPr id="69" name="node08"/>
          <p:cNvGrpSpPr/>
          <p:nvPr/>
        </p:nvGrpSpPr>
        <p:grpSpPr>
          <a:xfrm>
            <a:off x="3467100" y="4114800"/>
            <a:ext cx="2514600" cy="685800"/>
            <a:chOff x="3467100" y="4114800"/>
            <a:chExt cx="2514600" cy="685800"/>
          </a:xfrm>
        </p:grpSpPr>
        <p:sp>
          <p:nvSpPr>
            <p:cNvPr id="29" name="node08.container"/>
            <p:cNvSpPr/>
            <p:nvPr/>
          </p:nvSpPr>
          <p:spPr>
            <a:xfrm>
              <a:off x="3467100" y="4114800"/>
              <a:ext cx="2514600" cy="685800"/>
            </a:xfrm>
            <a:prstGeom prst="rect">
              <a:avLst/>
            </a:prstGeom>
            <a:solidFill>
              <a:srgbClr val="070154"/>
            </a:solidFill>
            <a:ln>
              <a:noFill/>
            </a:ln>
          </p:spPr>
        </p:sp>
        <p:sp>
          <p:nvSpPr>
            <p:cNvPr id="30" name="node08.label"/>
            <p:cNvSpPr/>
            <p:nvPr/>
          </p:nvSpPr>
          <p:spPr>
            <a:xfrm>
              <a:off x="3543300" y="41910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DESIGN</a:t>
              </a:r>
              <a:endParaRPr lang="en-US" sz="800" spc="48" kern="0" b="0" i="0" dirty="0">
                <a:solidFill>
                  <a:srgbClr val="F900D3"/>
                </a:solidFill>
                <a:latin typeface="IBM Plex Mono Medium"/>
                <a:ea typeface="IBM Plex Mono Medium"/>
                <a:cs typeface="IBM Plex Mono Medium"/>
              </a:endParaRPr>
            </a:p>
          </p:txBody>
        </p:sp>
        <p:sp>
          <p:nvSpPr>
            <p:cNvPr id="31" name="node08.title"/>
            <p:cNvSpPr/>
            <p:nvPr/>
          </p:nvSpPr>
          <p:spPr>
            <a:xfrm>
              <a:off x="3543300" y="4406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Design the experience</a:t>
              </a:r>
              <a:endParaRPr lang="en-US" sz="1200" spc="0" kern="0" b="0" i="0" dirty="0">
                <a:solidFill>
                  <a:srgbClr val="FFFFFF"/>
                </a:solidFill>
                <a:latin typeface="IBM Plex Sans"/>
                <a:ea typeface="IBM Plex Sans"/>
                <a:cs typeface="IBM Plex Sans"/>
              </a:endParaRPr>
            </a:p>
          </p:txBody>
        </p:sp>
      </p:grpSp>
      <p:grpSp>
        <p:nvGrpSpPr>
          <p:cNvPr id="70" name="node09"/>
          <p:cNvGrpSpPr/>
          <p:nvPr/>
        </p:nvGrpSpPr>
        <p:grpSpPr>
          <a:xfrm>
            <a:off x="3467100" y="5029200"/>
            <a:ext cx="2514600" cy="685800"/>
            <a:chOff x="3467100" y="5029200"/>
            <a:chExt cx="2514600" cy="685800"/>
          </a:xfrm>
        </p:grpSpPr>
        <p:sp>
          <p:nvSpPr>
            <p:cNvPr id="32" name="node09.container"/>
            <p:cNvSpPr/>
            <p:nvPr/>
          </p:nvSpPr>
          <p:spPr>
            <a:xfrm>
              <a:off x="3467100" y="5029200"/>
              <a:ext cx="2514600" cy="685800"/>
            </a:xfrm>
            <a:prstGeom prst="rect">
              <a:avLst/>
            </a:prstGeom>
            <a:solidFill>
              <a:srgbClr val="070154"/>
            </a:solidFill>
            <a:ln>
              <a:noFill/>
            </a:ln>
          </p:spPr>
        </p:sp>
        <p:sp>
          <p:nvSpPr>
            <p:cNvPr id="33" name="node09.label"/>
            <p:cNvSpPr/>
            <p:nvPr/>
          </p:nvSpPr>
          <p:spPr>
            <a:xfrm>
              <a:off x="3543300" y="51054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DESIGN</a:t>
              </a:r>
              <a:endParaRPr lang="en-US" sz="800" spc="48" kern="0" b="0" i="0" dirty="0">
                <a:solidFill>
                  <a:srgbClr val="F900D3"/>
                </a:solidFill>
                <a:latin typeface="IBM Plex Mono Medium"/>
                <a:ea typeface="IBM Plex Mono Medium"/>
                <a:cs typeface="IBM Plex Mono Medium"/>
              </a:endParaRPr>
            </a:p>
          </p:txBody>
        </p:sp>
        <p:sp>
          <p:nvSpPr>
            <p:cNvPr id="34" name="node09.title"/>
            <p:cNvSpPr/>
            <p:nvPr/>
          </p:nvSpPr>
          <p:spPr>
            <a:xfrm>
              <a:off x="3543300" y="53213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Plan the delivery</a:t>
              </a:r>
              <a:endParaRPr lang="en-US" sz="1200" spc="0" kern="0" b="0" i="0" dirty="0">
                <a:solidFill>
                  <a:srgbClr val="FFFFFF"/>
                </a:solidFill>
                <a:latin typeface="IBM Plex Sans"/>
                <a:ea typeface="IBM Plex Sans"/>
                <a:cs typeface="IBM Plex Sans"/>
              </a:endParaRPr>
            </a:p>
          </p:txBody>
        </p:sp>
      </p:grpSp>
      <p:grpSp>
        <p:nvGrpSpPr>
          <p:cNvPr id="71" name="node10"/>
          <p:cNvGrpSpPr/>
          <p:nvPr/>
        </p:nvGrpSpPr>
        <p:grpSpPr>
          <a:xfrm>
            <a:off x="6210300" y="2057400"/>
            <a:ext cx="2514600" cy="914400"/>
            <a:chOff x="6210300" y="2057400"/>
            <a:chExt cx="2514600" cy="914400"/>
          </a:xfrm>
        </p:grpSpPr>
        <p:sp>
          <p:nvSpPr>
            <p:cNvPr id="35" name="node10.container"/>
            <p:cNvSpPr/>
            <p:nvPr/>
          </p:nvSpPr>
          <p:spPr>
            <a:xfrm>
              <a:off x="6210300" y="2057400"/>
              <a:ext cx="2514600" cy="914400"/>
            </a:xfrm>
            <a:prstGeom prst="rect">
              <a:avLst/>
            </a:prstGeom>
            <a:solidFill>
              <a:srgbClr val="05013F"/>
            </a:solidFill>
            <a:ln>
              <a:noFill/>
            </a:ln>
          </p:spPr>
        </p:sp>
        <p:sp>
          <p:nvSpPr>
            <p:cNvPr id="36" name="node10.label"/>
            <p:cNvSpPr/>
            <p:nvPr/>
          </p:nvSpPr>
          <p:spPr>
            <a:xfrm>
              <a:off x="6362700" y="22098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BUILT RIGHT</a:t>
              </a:r>
              <a:endParaRPr lang="en-US" sz="800" spc="48" kern="0" b="0" i="0" dirty="0">
                <a:solidFill>
                  <a:srgbClr val="F900D3"/>
                </a:solidFill>
                <a:latin typeface="IBM Plex Mono Medium"/>
                <a:ea typeface="IBM Plex Mono Medium"/>
                <a:cs typeface="IBM Plex Mono Medium"/>
              </a:endParaRPr>
            </a:p>
          </p:txBody>
        </p:sp>
        <p:sp>
          <p:nvSpPr>
            <p:cNvPr id="37" name="node10.title"/>
            <p:cNvSpPr/>
            <p:nvPr/>
          </p:nvSpPr>
          <p:spPr>
            <a:xfrm>
              <a:off x="6362700" y="2425700"/>
              <a:ext cx="2209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Build</a:t>
              </a:r>
              <a:endParaRPr lang="en-US" sz="1600" spc="-16" kern="0" b="0" i="0" dirty="0">
                <a:solidFill>
                  <a:srgbClr val="FFFFFF"/>
                </a:solidFill>
                <a:latin typeface="IBM Plex Sans SemiBold"/>
                <a:ea typeface="IBM Plex Sans SemiBold"/>
                <a:cs typeface="IBM Plex Sans SemiBold"/>
              </a:endParaRPr>
            </a:p>
          </p:txBody>
        </p:sp>
      </p:grpSp>
      <p:grpSp>
        <p:nvGrpSpPr>
          <p:cNvPr id="72" name="node11"/>
          <p:cNvGrpSpPr/>
          <p:nvPr/>
        </p:nvGrpSpPr>
        <p:grpSpPr>
          <a:xfrm>
            <a:off x="6210300" y="3200400"/>
            <a:ext cx="2514600" cy="685800"/>
            <a:chOff x="6210300" y="3200400"/>
            <a:chExt cx="2514600" cy="685800"/>
          </a:xfrm>
        </p:grpSpPr>
        <p:sp>
          <p:nvSpPr>
            <p:cNvPr id="38" name="node11.container"/>
            <p:cNvSpPr/>
            <p:nvPr/>
          </p:nvSpPr>
          <p:spPr>
            <a:xfrm>
              <a:off x="6210300" y="3200400"/>
              <a:ext cx="2514600" cy="685800"/>
            </a:xfrm>
            <a:prstGeom prst="rect">
              <a:avLst/>
            </a:prstGeom>
            <a:solidFill>
              <a:srgbClr val="070154"/>
            </a:solidFill>
            <a:ln>
              <a:noFill/>
            </a:ln>
          </p:spPr>
        </p:sp>
        <p:sp>
          <p:nvSpPr>
            <p:cNvPr id="39" name="node11.label"/>
            <p:cNvSpPr/>
            <p:nvPr/>
          </p:nvSpPr>
          <p:spPr>
            <a:xfrm>
              <a:off x="6286500" y="32766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BUILD</a:t>
              </a:r>
              <a:endParaRPr lang="en-US" sz="800" spc="48" kern="0" b="0" i="0" dirty="0">
                <a:solidFill>
                  <a:srgbClr val="F900D3"/>
                </a:solidFill>
                <a:latin typeface="IBM Plex Mono Medium"/>
                <a:ea typeface="IBM Plex Mono Medium"/>
                <a:cs typeface="IBM Plex Mono Medium"/>
              </a:endParaRPr>
            </a:p>
          </p:txBody>
        </p:sp>
        <p:sp>
          <p:nvSpPr>
            <p:cNvPr id="40" name="node11.title"/>
            <p:cNvSpPr/>
            <p:nvPr/>
          </p:nvSpPr>
          <p:spPr>
            <a:xfrm>
              <a:off x="6286500" y="34925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Develop and integrate</a:t>
              </a:r>
              <a:endParaRPr lang="en-US" sz="1200" spc="0" kern="0" b="0" i="0" dirty="0">
                <a:solidFill>
                  <a:srgbClr val="FFFFFF"/>
                </a:solidFill>
                <a:latin typeface="IBM Plex Sans"/>
                <a:ea typeface="IBM Plex Sans"/>
                <a:cs typeface="IBM Plex Sans"/>
              </a:endParaRPr>
            </a:p>
          </p:txBody>
        </p:sp>
      </p:grpSp>
      <p:grpSp>
        <p:nvGrpSpPr>
          <p:cNvPr id="73" name="node12"/>
          <p:cNvGrpSpPr/>
          <p:nvPr/>
        </p:nvGrpSpPr>
        <p:grpSpPr>
          <a:xfrm>
            <a:off x="6210300" y="4114800"/>
            <a:ext cx="2514600" cy="685800"/>
            <a:chOff x="6210300" y="4114800"/>
            <a:chExt cx="2514600" cy="685800"/>
          </a:xfrm>
        </p:grpSpPr>
        <p:sp>
          <p:nvSpPr>
            <p:cNvPr id="41" name="node12.container"/>
            <p:cNvSpPr/>
            <p:nvPr/>
          </p:nvSpPr>
          <p:spPr>
            <a:xfrm>
              <a:off x="6210300" y="4114800"/>
              <a:ext cx="2514600" cy="685800"/>
            </a:xfrm>
            <a:prstGeom prst="rect">
              <a:avLst/>
            </a:prstGeom>
            <a:solidFill>
              <a:srgbClr val="070154"/>
            </a:solidFill>
            <a:ln>
              <a:noFill/>
            </a:ln>
          </p:spPr>
        </p:sp>
        <p:sp>
          <p:nvSpPr>
            <p:cNvPr id="42" name="node12.label"/>
            <p:cNvSpPr/>
            <p:nvPr/>
          </p:nvSpPr>
          <p:spPr>
            <a:xfrm>
              <a:off x="6286500" y="41910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TEST</a:t>
              </a:r>
              <a:endParaRPr lang="en-US" sz="800" spc="48" kern="0" b="0" i="0" dirty="0">
                <a:solidFill>
                  <a:srgbClr val="F900D3"/>
                </a:solidFill>
                <a:latin typeface="IBM Plex Mono Medium"/>
                <a:ea typeface="IBM Plex Mono Medium"/>
                <a:cs typeface="IBM Plex Mono Medium"/>
              </a:endParaRPr>
            </a:p>
          </p:txBody>
        </p:sp>
        <p:sp>
          <p:nvSpPr>
            <p:cNvPr id="43" name="node12.title"/>
            <p:cNvSpPr/>
            <p:nvPr/>
          </p:nvSpPr>
          <p:spPr>
            <a:xfrm>
              <a:off x="6286500" y="4406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Test the increments</a:t>
              </a:r>
              <a:endParaRPr lang="en-US" sz="1200" spc="0" kern="0" b="0" i="0" dirty="0">
                <a:solidFill>
                  <a:srgbClr val="FFFFFF"/>
                </a:solidFill>
                <a:latin typeface="IBM Plex Sans"/>
                <a:ea typeface="IBM Plex Sans"/>
                <a:cs typeface="IBM Plex Sans"/>
              </a:endParaRPr>
            </a:p>
          </p:txBody>
        </p:sp>
      </p:grpSp>
      <p:grpSp>
        <p:nvGrpSpPr>
          <p:cNvPr id="74" name="node13"/>
          <p:cNvGrpSpPr/>
          <p:nvPr/>
        </p:nvGrpSpPr>
        <p:grpSpPr>
          <a:xfrm>
            <a:off x="6210300" y="5029200"/>
            <a:ext cx="2514600" cy="685800"/>
            <a:chOff x="6210300" y="5029200"/>
            <a:chExt cx="2514600" cy="685800"/>
          </a:xfrm>
        </p:grpSpPr>
        <p:sp>
          <p:nvSpPr>
            <p:cNvPr id="44" name="node13.container"/>
            <p:cNvSpPr/>
            <p:nvPr/>
          </p:nvSpPr>
          <p:spPr>
            <a:xfrm>
              <a:off x="6210300" y="5029200"/>
              <a:ext cx="2514600" cy="685800"/>
            </a:xfrm>
            <a:prstGeom prst="rect">
              <a:avLst/>
            </a:prstGeom>
            <a:solidFill>
              <a:srgbClr val="070154"/>
            </a:solidFill>
            <a:ln>
              <a:noFill/>
            </a:ln>
          </p:spPr>
        </p:sp>
        <p:sp>
          <p:nvSpPr>
            <p:cNvPr id="45" name="node13.label"/>
            <p:cNvSpPr/>
            <p:nvPr/>
          </p:nvSpPr>
          <p:spPr>
            <a:xfrm>
              <a:off x="6286500" y="51054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VERIFY</a:t>
              </a:r>
              <a:endParaRPr lang="en-US" sz="800" spc="48" kern="0" b="0" i="0" dirty="0">
                <a:solidFill>
                  <a:srgbClr val="F900D3"/>
                </a:solidFill>
                <a:latin typeface="IBM Plex Mono Medium"/>
                <a:ea typeface="IBM Plex Mono Medium"/>
                <a:cs typeface="IBM Plex Mono Medium"/>
              </a:endParaRPr>
            </a:p>
          </p:txBody>
        </p:sp>
        <p:sp>
          <p:nvSpPr>
            <p:cNvPr id="46" name="node13.title"/>
            <p:cNvSpPr/>
            <p:nvPr/>
          </p:nvSpPr>
          <p:spPr>
            <a:xfrm>
              <a:off x="6286500" y="53213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Verify with clinicians</a:t>
              </a:r>
              <a:endParaRPr lang="en-US" sz="1200" spc="0" kern="0" b="0" i="0" dirty="0">
                <a:solidFill>
                  <a:srgbClr val="FFFFFF"/>
                </a:solidFill>
                <a:latin typeface="IBM Plex Sans"/>
                <a:ea typeface="IBM Plex Sans"/>
                <a:cs typeface="IBM Plex Sans"/>
              </a:endParaRPr>
            </a:p>
          </p:txBody>
        </p:sp>
      </p:grpSp>
      <p:grpSp>
        <p:nvGrpSpPr>
          <p:cNvPr id="75" name="node14"/>
          <p:cNvGrpSpPr/>
          <p:nvPr/>
        </p:nvGrpSpPr>
        <p:grpSpPr>
          <a:xfrm>
            <a:off x="8953500" y="2057400"/>
            <a:ext cx="2514600" cy="914400"/>
            <a:chOff x="8953500" y="2057400"/>
            <a:chExt cx="2514600" cy="914400"/>
          </a:xfrm>
        </p:grpSpPr>
        <p:sp>
          <p:nvSpPr>
            <p:cNvPr id="47" name="node14.container"/>
            <p:cNvSpPr/>
            <p:nvPr/>
          </p:nvSpPr>
          <p:spPr>
            <a:xfrm>
              <a:off x="8953500" y="2057400"/>
              <a:ext cx="2514600" cy="914400"/>
            </a:xfrm>
            <a:prstGeom prst="rect">
              <a:avLst/>
            </a:prstGeom>
            <a:solidFill>
              <a:srgbClr val="05013F"/>
            </a:solidFill>
            <a:ln>
              <a:noFill/>
            </a:ln>
          </p:spPr>
        </p:sp>
        <p:sp>
          <p:nvSpPr>
            <p:cNvPr id="48" name="node14.label"/>
            <p:cNvSpPr/>
            <p:nvPr/>
          </p:nvSpPr>
          <p:spPr>
            <a:xfrm>
              <a:off x="9105900" y="22098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PROVEN VALUE</a:t>
              </a:r>
              <a:endParaRPr lang="en-US" sz="800" spc="48" kern="0" b="0" i="0" dirty="0">
                <a:solidFill>
                  <a:srgbClr val="F900D3"/>
                </a:solidFill>
                <a:latin typeface="IBM Plex Mono Medium"/>
                <a:ea typeface="IBM Plex Mono Medium"/>
                <a:cs typeface="IBM Plex Mono Medium"/>
              </a:endParaRPr>
            </a:p>
          </p:txBody>
        </p:sp>
        <p:sp>
          <p:nvSpPr>
            <p:cNvPr id="49" name="node14.title"/>
            <p:cNvSpPr/>
            <p:nvPr/>
          </p:nvSpPr>
          <p:spPr>
            <a:xfrm>
              <a:off x="9105900" y="2425700"/>
              <a:ext cx="2209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Optimize</a:t>
              </a:r>
              <a:endParaRPr lang="en-US" sz="1600" spc="-16" kern="0" b="0" i="0" dirty="0">
                <a:solidFill>
                  <a:srgbClr val="FFFFFF"/>
                </a:solidFill>
                <a:latin typeface="IBM Plex Sans SemiBold"/>
                <a:ea typeface="IBM Plex Sans SemiBold"/>
                <a:cs typeface="IBM Plex Sans SemiBold"/>
              </a:endParaRPr>
            </a:p>
          </p:txBody>
        </p:sp>
      </p:grpSp>
      <p:grpSp>
        <p:nvGrpSpPr>
          <p:cNvPr id="76" name="node15"/>
          <p:cNvGrpSpPr/>
          <p:nvPr/>
        </p:nvGrpSpPr>
        <p:grpSpPr>
          <a:xfrm>
            <a:off x="8953500" y="3200400"/>
            <a:ext cx="2514600" cy="685800"/>
            <a:chOff x="8953500" y="3200400"/>
            <a:chExt cx="2514600" cy="685800"/>
          </a:xfrm>
        </p:grpSpPr>
        <p:sp>
          <p:nvSpPr>
            <p:cNvPr id="50" name="node15.container"/>
            <p:cNvSpPr/>
            <p:nvPr/>
          </p:nvSpPr>
          <p:spPr>
            <a:xfrm>
              <a:off x="8953500" y="3200400"/>
              <a:ext cx="2514600" cy="685800"/>
            </a:xfrm>
            <a:prstGeom prst="rect">
              <a:avLst/>
            </a:prstGeom>
            <a:solidFill>
              <a:srgbClr val="070154"/>
            </a:solidFill>
            <a:ln>
              <a:noFill/>
            </a:ln>
          </p:spPr>
        </p:sp>
        <p:sp>
          <p:nvSpPr>
            <p:cNvPr id="51" name="node15.label"/>
            <p:cNvSpPr/>
            <p:nvPr/>
          </p:nvSpPr>
          <p:spPr>
            <a:xfrm>
              <a:off x="9029700" y="32766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RELEASE</a:t>
              </a:r>
              <a:endParaRPr lang="en-US" sz="800" spc="48" kern="0" b="0" i="0" dirty="0">
                <a:solidFill>
                  <a:srgbClr val="F900D3"/>
                </a:solidFill>
                <a:latin typeface="IBM Plex Mono Medium"/>
                <a:ea typeface="IBM Plex Mono Medium"/>
                <a:cs typeface="IBM Plex Mono Medium"/>
              </a:endParaRPr>
            </a:p>
          </p:txBody>
        </p:sp>
        <p:sp>
          <p:nvSpPr>
            <p:cNvPr id="52" name="node15.title"/>
            <p:cNvSpPr/>
            <p:nvPr/>
          </p:nvSpPr>
          <p:spPr>
            <a:xfrm>
              <a:off x="9029700" y="34925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Release and stabilize</a:t>
              </a:r>
              <a:endParaRPr lang="en-US" sz="1200" spc="0" kern="0" b="0" i="0" dirty="0">
                <a:solidFill>
                  <a:srgbClr val="FFFFFF"/>
                </a:solidFill>
                <a:latin typeface="IBM Plex Sans"/>
                <a:ea typeface="IBM Plex Sans"/>
                <a:cs typeface="IBM Plex Sans"/>
              </a:endParaRPr>
            </a:p>
          </p:txBody>
        </p:sp>
      </p:grpSp>
      <p:grpSp>
        <p:nvGrpSpPr>
          <p:cNvPr id="77" name="node16"/>
          <p:cNvGrpSpPr/>
          <p:nvPr/>
        </p:nvGrpSpPr>
        <p:grpSpPr>
          <a:xfrm>
            <a:off x="8953500" y="4114800"/>
            <a:ext cx="2514600" cy="685800"/>
            <a:chOff x="8953500" y="4114800"/>
            <a:chExt cx="2514600" cy="685800"/>
          </a:xfrm>
        </p:grpSpPr>
        <p:sp>
          <p:nvSpPr>
            <p:cNvPr id="53" name="node16.container"/>
            <p:cNvSpPr/>
            <p:nvPr/>
          </p:nvSpPr>
          <p:spPr>
            <a:xfrm>
              <a:off x="8953500" y="4114800"/>
              <a:ext cx="2514600" cy="685800"/>
            </a:xfrm>
            <a:prstGeom prst="rect">
              <a:avLst/>
            </a:prstGeom>
            <a:solidFill>
              <a:srgbClr val="E8EEF8"/>
            </a:solidFill>
            <a:ln>
              <a:noFill/>
            </a:ln>
          </p:spPr>
        </p:sp>
        <p:sp>
          <p:nvSpPr>
            <p:cNvPr id="54" name="node16.label"/>
            <p:cNvSpPr/>
            <p:nvPr/>
          </p:nvSpPr>
          <p:spPr>
            <a:xfrm>
              <a:off x="9029700" y="41910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PRODUCT</a:t>
              </a:r>
              <a:endParaRPr lang="en-US" sz="800" spc="48" kern="0" b="0" i="0" dirty="0">
                <a:solidFill>
                  <a:srgbClr val="0047FF"/>
                </a:solidFill>
                <a:latin typeface="IBM Plex Mono Medium"/>
                <a:ea typeface="IBM Plex Mono Medium"/>
                <a:cs typeface="IBM Plex Mono Medium"/>
              </a:endParaRPr>
            </a:p>
          </p:txBody>
        </p:sp>
        <p:sp>
          <p:nvSpPr>
            <p:cNvPr id="55" name="node16.title"/>
            <p:cNvSpPr/>
            <p:nvPr/>
          </p:nvSpPr>
          <p:spPr>
            <a:xfrm>
              <a:off x="9029700" y="4406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Measure adoption</a:t>
              </a:r>
              <a:endParaRPr lang="en-US" sz="1200" spc="0" kern="0" b="0" i="0" dirty="0">
                <a:solidFill>
                  <a:srgbClr val="070154"/>
                </a:solidFill>
                <a:latin typeface="IBM Plex Sans"/>
                <a:ea typeface="IBM Plex Sans"/>
                <a:cs typeface="IBM Plex Sans"/>
              </a:endParaRPr>
            </a:p>
          </p:txBody>
        </p:sp>
      </p:grpSp>
      <p:grpSp>
        <p:nvGrpSpPr>
          <p:cNvPr id="78" name="node17"/>
          <p:cNvGrpSpPr/>
          <p:nvPr/>
        </p:nvGrpSpPr>
        <p:grpSpPr>
          <a:xfrm>
            <a:off x="8953500" y="5029200"/>
            <a:ext cx="2514600" cy="685800"/>
            <a:chOff x="8953500" y="5029200"/>
            <a:chExt cx="2514600" cy="685800"/>
          </a:xfrm>
        </p:grpSpPr>
        <p:sp>
          <p:nvSpPr>
            <p:cNvPr id="56" name="node17.container"/>
            <p:cNvSpPr/>
            <p:nvPr/>
          </p:nvSpPr>
          <p:spPr>
            <a:xfrm>
              <a:off x="8953500" y="5029200"/>
              <a:ext cx="2514600" cy="685800"/>
            </a:xfrm>
            <a:prstGeom prst="rect">
              <a:avLst/>
            </a:prstGeom>
            <a:solidFill>
              <a:srgbClr val="E8EEF8"/>
            </a:solidFill>
            <a:ln>
              <a:noFill/>
            </a:ln>
          </p:spPr>
        </p:sp>
        <p:sp>
          <p:nvSpPr>
            <p:cNvPr id="57" name="node17.label"/>
            <p:cNvSpPr/>
            <p:nvPr/>
          </p:nvSpPr>
          <p:spPr>
            <a:xfrm>
              <a:off x="9029700" y="51054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PRODUCT</a:t>
              </a:r>
              <a:endParaRPr lang="en-US" sz="800" spc="48" kern="0" b="0" i="0" dirty="0">
                <a:solidFill>
                  <a:srgbClr val="0047FF"/>
                </a:solidFill>
                <a:latin typeface="IBM Plex Mono Medium"/>
                <a:ea typeface="IBM Plex Mono Medium"/>
                <a:cs typeface="IBM Plex Mono Medium"/>
              </a:endParaRPr>
            </a:p>
          </p:txBody>
        </p:sp>
        <p:sp>
          <p:nvSpPr>
            <p:cNvPr id="58" name="node17.title"/>
            <p:cNvSpPr/>
            <p:nvPr/>
          </p:nvSpPr>
          <p:spPr>
            <a:xfrm>
              <a:off x="9029700" y="53213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Improve and scale</a:t>
              </a:r>
              <a:endParaRPr lang="en-US" sz="1200" spc="0" kern="0" b="0" i="0" dirty="0">
                <a:solidFill>
                  <a:srgbClr val="070154"/>
                </a:solidFill>
                <a:latin typeface="IBM Plex Sans"/>
                <a:ea typeface="IBM Plex Sans"/>
                <a:cs typeface="IBM Plex Sans"/>
              </a:endParaRPr>
            </a:p>
          </p:txBody>
        </p:sp>
      </p:grpSp>
      <p:grpSp>
        <p:nvGrpSpPr>
          <p:cNvPr id="79" name="node18"/>
          <p:cNvGrpSpPr/>
          <p:nvPr/>
        </p:nvGrpSpPr>
        <p:grpSpPr>
          <a:xfrm>
            <a:off x="723900" y="1600200"/>
            <a:ext cx="228600" cy="228600"/>
            <a:chOff x="723900" y="1600200"/>
            <a:chExt cx="228600" cy="228600"/>
          </a:xfrm>
        </p:grpSpPr>
        <p:sp>
          <p:nvSpPr>
            <p:cNvPr id="59" name="node18.surface"/>
            <p:cNvSpPr/>
            <p:nvPr/>
          </p:nvSpPr>
          <p:spPr>
            <a:xfrm>
              <a:off x="723900" y="1600200"/>
              <a:ext cx="228600" cy="228600"/>
            </a:xfrm>
            <a:prstGeom prst="rect">
              <a:avLst/>
            </a:prstGeom>
            <a:solidFill>
              <a:srgbClr val="070154"/>
            </a:solidFill>
            <a:ln>
              <a:noFill/>
            </a:ln>
          </p:spPr>
        </p:sp>
      </p:grpSp>
      <p:grpSp>
        <p:nvGrpSpPr>
          <p:cNvPr id="80" name="node19"/>
          <p:cNvGrpSpPr/>
          <p:nvPr/>
        </p:nvGrpSpPr>
        <p:grpSpPr>
          <a:xfrm>
            <a:off x="1066800" y="1600200"/>
            <a:ext cx="3429000" cy="190500"/>
            <a:chOff x="1066800" y="1600200"/>
            <a:chExt cx="3429000" cy="190500"/>
          </a:xfrm>
        </p:grpSpPr>
        <p:sp>
          <p:nvSpPr>
            <p:cNvPr id="60" name="node19.text"/>
            <p:cNvSpPr/>
            <p:nvPr/>
          </p:nvSpPr>
          <p:spPr>
            <a:xfrm>
              <a:off x="1066800" y="16002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Dark tile: an SDLC step</a:t>
              </a:r>
              <a:endParaRPr lang="en-US" sz="1100" spc="0" kern="0" b="0" i="0" dirty="0">
                <a:solidFill>
                  <a:srgbClr val="50658E"/>
                </a:solidFill>
                <a:latin typeface="IBM Plex Sans"/>
                <a:ea typeface="IBM Plex Sans"/>
                <a:cs typeface="IBM Plex Sans"/>
              </a:endParaRPr>
            </a:p>
          </p:txBody>
        </p:sp>
      </p:grpSp>
      <p:grpSp>
        <p:nvGrpSpPr>
          <p:cNvPr id="81" name="node20"/>
          <p:cNvGrpSpPr/>
          <p:nvPr/>
        </p:nvGrpSpPr>
        <p:grpSpPr>
          <a:xfrm>
            <a:off x="4953000" y="1600200"/>
            <a:ext cx="5080000" cy="190500"/>
            <a:chOff x="4953000" y="1600200"/>
            <a:chExt cx="5080000" cy="190500"/>
          </a:xfrm>
        </p:grpSpPr>
        <p:sp>
          <p:nvSpPr>
            <p:cNvPr id="61" name="node20.text"/>
            <p:cNvSpPr/>
            <p:nvPr/>
          </p:nvSpPr>
          <p:spPr>
            <a:xfrm>
              <a:off x="4953000" y="1600200"/>
              <a:ext cx="5080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Optimize loops back to Define</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ource-08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Every layer has a clear build owner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the client product inventory.</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108</a:t>
            </a:fld>
            <a:endParaRPr lang="en-US" sz="700" spc="0" kern="0" b="0" i="0" dirty="0">
              <a:solidFill>
                <a:srgbClr val="070154"/>
              </a:solidFill>
              <a:latin typeface="IBM Plex Mono SemiBold"/>
              <a:ea typeface="IBM Plex Mono SemiBold"/>
              <a:cs typeface="IBM Plex Mono SemiBold"/>
            </a:endParaRPr>
          </a:p>
        </p:txBody>
      </p:sp>
      <p:grpSp>
        <p:nvGrpSpPr>
          <p:cNvPr id="73" name="node01"/>
          <p:cNvGrpSpPr/>
          <p:nvPr/>
        </p:nvGrpSpPr>
        <p:grpSpPr>
          <a:xfrm>
            <a:off x="723900" y="1600200"/>
            <a:ext cx="1600200" cy="800100"/>
            <a:chOff x="723900" y="1600200"/>
            <a:chExt cx="1600200" cy="800100"/>
          </a:xfrm>
        </p:grpSpPr>
        <p:sp>
          <p:nvSpPr>
            <p:cNvPr id="7" name="node01.surface"/>
            <p:cNvSpPr/>
            <p:nvPr/>
          </p:nvSpPr>
          <p:spPr>
            <a:xfrm>
              <a:off x="723900" y="1600200"/>
              <a:ext cx="1600200" cy="800100"/>
            </a:xfrm>
            <a:prstGeom prst="rect">
              <a:avLst/>
            </a:prstGeom>
            <a:solidFill>
              <a:srgbClr val="05013F"/>
            </a:solidFill>
            <a:ln>
              <a:noFill/>
            </a:ln>
          </p:spPr>
        </p:sp>
        <p:sp>
          <p:nvSpPr>
            <p:cNvPr id="8" name="node01.text"/>
            <p:cNvSpPr/>
            <p:nvPr/>
          </p:nvSpPr>
          <p:spPr>
            <a:xfrm>
              <a:off x="876300" y="1892300"/>
              <a:ext cx="129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Experiences</a:t>
              </a:r>
              <a:endParaRPr lang="en-US" sz="1200" spc="0" kern="0" b="0" i="0" dirty="0">
                <a:solidFill>
                  <a:srgbClr val="FFFFFF"/>
                </a:solidFill>
                <a:latin typeface="IBM Plex Sans"/>
                <a:ea typeface="IBM Plex Sans"/>
                <a:cs typeface="IBM Plex Sans"/>
              </a:endParaRPr>
            </a:p>
          </p:txBody>
        </p:sp>
      </p:grpSp>
      <p:grpSp>
        <p:nvGrpSpPr>
          <p:cNvPr id="74" name="node02"/>
          <p:cNvGrpSpPr/>
          <p:nvPr/>
        </p:nvGrpSpPr>
        <p:grpSpPr>
          <a:xfrm>
            <a:off x="2552700" y="1600200"/>
            <a:ext cx="2286000" cy="800100"/>
            <a:chOff x="2552700" y="1600200"/>
            <a:chExt cx="2286000" cy="800100"/>
          </a:xfrm>
        </p:grpSpPr>
        <p:sp>
          <p:nvSpPr>
            <p:cNvPr id="9" name="node02.container"/>
            <p:cNvSpPr/>
            <p:nvPr/>
          </p:nvSpPr>
          <p:spPr>
            <a:xfrm>
              <a:off x="2552700" y="1600200"/>
              <a:ext cx="2286000" cy="800100"/>
            </a:xfrm>
            <a:prstGeom prst="rect">
              <a:avLst/>
            </a:prstGeom>
            <a:solidFill>
              <a:srgbClr val="070154"/>
            </a:solidFill>
            <a:ln>
              <a:noFill/>
            </a:ln>
          </p:spPr>
        </p:sp>
        <p:sp>
          <p:nvSpPr>
            <p:cNvPr id="10" name="node02.title"/>
            <p:cNvSpPr/>
            <p:nvPr/>
          </p:nvSpPr>
          <p:spPr>
            <a:xfrm>
              <a:off x="2628900" y="16764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Patient app</a:t>
              </a:r>
              <a:endParaRPr lang="en-US" sz="1200" spc="0" kern="0" b="0" i="0" dirty="0">
                <a:solidFill>
                  <a:srgbClr val="FFFFFF"/>
                </a:solidFill>
                <a:latin typeface="IBM Plex Sans"/>
                <a:ea typeface="IBM Plex Sans"/>
                <a:cs typeface="IBM Plex Sans"/>
              </a:endParaRPr>
            </a:p>
          </p:txBody>
        </p:sp>
        <p:sp>
          <p:nvSpPr>
            <p:cNvPr id="11" name="node02.body.item-001.paragraph"/>
            <p:cNvSpPr/>
            <p:nvPr/>
          </p:nvSpPr>
          <p:spPr>
            <a:xfrm>
              <a:off x="2628900" y="20447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Live on iOS and Android</a:t>
              </a:r>
              <a:endParaRPr lang="en-US" sz="1200" spc="0" kern="0" b="0" i="0" dirty="0">
                <a:solidFill>
                  <a:srgbClr val="CED7E6"/>
                </a:solidFill>
                <a:latin typeface="IBM Plex Sans"/>
                <a:ea typeface="IBM Plex Sans"/>
                <a:cs typeface="IBM Plex Sans"/>
              </a:endParaRPr>
            </a:p>
          </p:txBody>
        </p:sp>
      </p:grpSp>
      <p:grpSp>
        <p:nvGrpSpPr>
          <p:cNvPr id="75" name="node03"/>
          <p:cNvGrpSpPr/>
          <p:nvPr/>
        </p:nvGrpSpPr>
        <p:grpSpPr>
          <a:xfrm>
            <a:off x="5067300" y="1600200"/>
            <a:ext cx="2286000" cy="800100"/>
            <a:chOff x="5067300" y="1600200"/>
            <a:chExt cx="2286000" cy="800100"/>
          </a:xfrm>
        </p:grpSpPr>
        <p:sp>
          <p:nvSpPr>
            <p:cNvPr id="12" name="node03.container"/>
            <p:cNvSpPr/>
            <p:nvPr/>
          </p:nvSpPr>
          <p:spPr>
            <a:xfrm>
              <a:off x="5067300" y="1600200"/>
              <a:ext cx="2286000" cy="800100"/>
            </a:xfrm>
            <a:prstGeom prst="rect">
              <a:avLst/>
            </a:prstGeom>
            <a:solidFill>
              <a:srgbClr val="CED7E6"/>
            </a:solidFill>
            <a:ln>
              <a:noFill/>
            </a:ln>
          </p:spPr>
        </p:sp>
        <p:sp>
          <p:nvSpPr>
            <p:cNvPr id="13" name="node03.title"/>
            <p:cNvSpPr/>
            <p:nvPr/>
          </p:nvSpPr>
          <p:spPr>
            <a:xfrm>
              <a:off x="5143500" y="16764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Clinician console</a:t>
              </a:r>
              <a:endParaRPr lang="en-US" sz="1200" spc="0" kern="0" b="0" i="0" dirty="0">
                <a:solidFill>
                  <a:srgbClr val="070154"/>
                </a:solidFill>
                <a:latin typeface="IBM Plex Sans"/>
                <a:ea typeface="IBM Plex Sans"/>
                <a:cs typeface="IBM Plex Sans"/>
              </a:endParaRPr>
            </a:p>
          </p:txBody>
        </p:sp>
        <p:sp>
          <p:nvSpPr>
            <p:cNvPr id="14" name="node03.body.item-001.paragraph"/>
            <p:cNvSpPr/>
            <p:nvPr/>
          </p:nvSpPr>
          <p:spPr>
            <a:xfrm>
              <a:off x="5143500" y="20447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 redesign</a:t>
              </a:r>
              <a:endParaRPr lang="en-US" sz="1200" spc="0" kern="0" b="0" i="0" dirty="0">
                <a:solidFill>
                  <a:srgbClr val="070154"/>
                </a:solidFill>
                <a:latin typeface="IBM Plex Sans"/>
                <a:ea typeface="IBM Plex Sans"/>
                <a:cs typeface="IBM Plex Sans"/>
              </a:endParaRPr>
            </a:p>
          </p:txBody>
        </p:sp>
      </p:grpSp>
      <p:grpSp>
        <p:nvGrpSpPr>
          <p:cNvPr id="76" name="node04"/>
          <p:cNvGrpSpPr/>
          <p:nvPr/>
        </p:nvGrpSpPr>
        <p:grpSpPr>
          <a:xfrm>
            <a:off x="7581900" y="1600200"/>
            <a:ext cx="2286000" cy="800100"/>
            <a:chOff x="7581900" y="1600200"/>
            <a:chExt cx="2286000" cy="800100"/>
          </a:xfrm>
        </p:grpSpPr>
        <p:sp>
          <p:nvSpPr>
            <p:cNvPr id="15" name="node04.container"/>
            <p:cNvSpPr/>
            <p:nvPr/>
          </p:nvSpPr>
          <p:spPr>
            <a:xfrm>
              <a:off x="7581900" y="1600200"/>
              <a:ext cx="2286000" cy="800100"/>
            </a:xfrm>
            <a:prstGeom prst="rect">
              <a:avLst/>
            </a:prstGeom>
            <a:solidFill>
              <a:srgbClr val="E8EEF8"/>
            </a:solidFill>
            <a:ln>
              <a:noFill/>
            </a:ln>
          </p:spPr>
        </p:sp>
        <p:sp>
          <p:nvSpPr>
            <p:cNvPr id="16" name="node04.title"/>
            <p:cNvSpPr/>
            <p:nvPr/>
          </p:nvSpPr>
          <p:spPr>
            <a:xfrm>
              <a:off x="7658100" y="16764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Kiosk check-in</a:t>
              </a:r>
              <a:endParaRPr lang="en-US" sz="1200" spc="0" kern="0" b="0" i="0" dirty="0">
                <a:solidFill>
                  <a:srgbClr val="070154"/>
                </a:solidFill>
                <a:latin typeface="IBM Plex Sans"/>
                <a:ea typeface="IBM Plex Sans"/>
                <a:cs typeface="IBM Plex Sans"/>
              </a:endParaRPr>
            </a:p>
          </p:txBody>
        </p:sp>
        <p:sp>
          <p:nvSpPr>
            <p:cNvPr id="17" name="node04.body.item-001.paragraph"/>
            <p:cNvSpPr/>
            <p:nvPr/>
          </p:nvSpPr>
          <p:spPr>
            <a:xfrm>
              <a:off x="7658100" y="20447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Pilot at 6 clinics</a:t>
              </a:r>
              <a:endParaRPr lang="en-US" sz="1200" spc="0" kern="0" b="0" i="0" dirty="0">
                <a:solidFill>
                  <a:srgbClr val="50658E"/>
                </a:solidFill>
                <a:latin typeface="IBM Plex Sans"/>
                <a:ea typeface="IBM Plex Sans"/>
                <a:cs typeface="IBM Plex Sans"/>
              </a:endParaRPr>
            </a:p>
          </p:txBody>
        </p:sp>
      </p:grpSp>
      <p:grpSp>
        <p:nvGrpSpPr>
          <p:cNvPr id="77" name="node05"/>
          <p:cNvGrpSpPr/>
          <p:nvPr/>
        </p:nvGrpSpPr>
        <p:grpSpPr>
          <a:xfrm>
            <a:off x="723900" y="2514600"/>
            <a:ext cx="1600200" cy="800100"/>
            <a:chOff x="723900" y="2514600"/>
            <a:chExt cx="1600200" cy="800100"/>
          </a:xfrm>
        </p:grpSpPr>
        <p:sp>
          <p:nvSpPr>
            <p:cNvPr id="18" name="node05.surface"/>
            <p:cNvSpPr/>
            <p:nvPr/>
          </p:nvSpPr>
          <p:spPr>
            <a:xfrm>
              <a:off x="723900" y="2514600"/>
              <a:ext cx="1600200" cy="800100"/>
            </a:xfrm>
            <a:prstGeom prst="rect">
              <a:avLst/>
            </a:prstGeom>
            <a:solidFill>
              <a:srgbClr val="05013F"/>
            </a:solidFill>
            <a:ln>
              <a:noFill/>
            </a:ln>
          </p:spPr>
        </p:sp>
        <p:sp>
          <p:nvSpPr>
            <p:cNvPr id="19" name="node05.text"/>
            <p:cNvSpPr/>
            <p:nvPr/>
          </p:nvSpPr>
          <p:spPr>
            <a:xfrm>
              <a:off x="876300" y="2806700"/>
              <a:ext cx="129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Product services</a:t>
              </a:r>
              <a:endParaRPr lang="en-US" sz="1200" spc="0" kern="0" b="0" i="0" dirty="0">
                <a:solidFill>
                  <a:srgbClr val="FFFFFF"/>
                </a:solidFill>
                <a:latin typeface="IBM Plex Sans"/>
                <a:ea typeface="IBM Plex Sans"/>
                <a:cs typeface="IBM Plex Sans"/>
              </a:endParaRPr>
            </a:p>
          </p:txBody>
        </p:sp>
      </p:grpSp>
      <p:grpSp>
        <p:nvGrpSpPr>
          <p:cNvPr id="78" name="node06"/>
          <p:cNvGrpSpPr/>
          <p:nvPr/>
        </p:nvGrpSpPr>
        <p:grpSpPr>
          <a:xfrm>
            <a:off x="2552700" y="2514600"/>
            <a:ext cx="2286000" cy="800100"/>
            <a:chOff x="2552700" y="2514600"/>
            <a:chExt cx="2286000" cy="800100"/>
          </a:xfrm>
        </p:grpSpPr>
        <p:sp>
          <p:nvSpPr>
            <p:cNvPr id="20" name="node06.container"/>
            <p:cNvSpPr/>
            <p:nvPr/>
          </p:nvSpPr>
          <p:spPr>
            <a:xfrm>
              <a:off x="2552700" y="2514600"/>
              <a:ext cx="2286000" cy="800100"/>
            </a:xfrm>
            <a:prstGeom prst="rect">
              <a:avLst/>
            </a:prstGeom>
            <a:solidFill>
              <a:srgbClr val="CED7E6"/>
            </a:solidFill>
            <a:ln>
              <a:noFill/>
            </a:ln>
          </p:spPr>
        </p:sp>
        <p:sp>
          <p:nvSpPr>
            <p:cNvPr id="21" name="node06.title"/>
            <p:cNvSpPr/>
            <p:nvPr/>
          </p:nvSpPr>
          <p:spPr>
            <a:xfrm>
              <a:off x="2628900" y="25908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Scheduling engine</a:t>
              </a:r>
              <a:endParaRPr lang="en-US" sz="1200" spc="0" kern="0" b="0" i="0" dirty="0">
                <a:solidFill>
                  <a:srgbClr val="070154"/>
                </a:solidFill>
                <a:latin typeface="IBM Plex Sans"/>
                <a:ea typeface="IBM Plex Sans"/>
                <a:cs typeface="IBM Plex Sans"/>
              </a:endParaRPr>
            </a:p>
          </p:txBody>
        </p:sp>
        <p:sp>
          <p:nvSpPr>
            <p:cNvPr id="22" name="node06.body.item-001.paragraph"/>
            <p:cNvSpPr/>
            <p:nvPr/>
          </p:nvSpPr>
          <p:spPr>
            <a:xfrm>
              <a:off x="2628900" y="29591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Rebuilding for waitlists</a:t>
              </a:r>
              <a:endParaRPr lang="en-US" sz="1200" spc="0" kern="0" b="0" i="0" dirty="0">
                <a:solidFill>
                  <a:srgbClr val="070154"/>
                </a:solidFill>
                <a:latin typeface="IBM Plex Sans"/>
                <a:ea typeface="IBM Plex Sans"/>
                <a:cs typeface="IBM Plex Sans"/>
              </a:endParaRPr>
            </a:p>
          </p:txBody>
        </p:sp>
      </p:grpSp>
      <p:grpSp>
        <p:nvGrpSpPr>
          <p:cNvPr id="79" name="node07"/>
          <p:cNvGrpSpPr/>
          <p:nvPr/>
        </p:nvGrpSpPr>
        <p:grpSpPr>
          <a:xfrm>
            <a:off x="5067300" y="2514600"/>
            <a:ext cx="2286000" cy="800100"/>
            <a:chOff x="5067300" y="2514600"/>
            <a:chExt cx="2286000" cy="800100"/>
          </a:xfrm>
        </p:grpSpPr>
        <p:sp>
          <p:nvSpPr>
            <p:cNvPr id="23" name="node07.container"/>
            <p:cNvSpPr/>
            <p:nvPr/>
          </p:nvSpPr>
          <p:spPr>
            <a:xfrm>
              <a:off x="5073650" y="2520950"/>
              <a:ext cx="2273300" cy="787400"/>
            </a:xfrm>
            <a:prstGeom prst="rect">
              <a:avLst/>
            </a:prstGeom>
            <a:solidFill>
              <a:srgbClr val="FFFFFF"/>
            </a:solidFill>
            <a:ln w="12700">
              <a:solidFill>
                <a:srgbClr val="CED7E6"/>
              </a:solidFill>
              <a:prstDash val="solid"/>
            </a:ln>
          </p:spPr>
        </p:sp>
        <p:sp>
          <p:nvSpPr>
            <p:cNvPr id="24" name="node07.title"/>
            <p:cNvSpPr/>
            <p:nvPr/>
          </p:nvSpPr>
          <p:spPr>
            <a:xfrm>
              <a:off x="5143500" y="25908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Messaging</a:t>
              </a:r>
              <a:endParaRPr lang="en-US" sz="1200" spc="0" kern="0" b="0" i="0" dirty="0">
                <a:solidFill>
                  <a:srgbClr val="070154"/>
                </a:solidFill>
                <a:latin typeface="IBM Plex Sans"/>
                <a:ea typeface="IBM Plex Sans"/>
                <a:cs typeface="IBM Plex Sans"/>
              </a:endParaRPr>
            </a:p>
          </p:txBody>
        </p:sp>
        <p:sp>
          <p:nvSpPr>
            <p:cNvPr id="25" name="node07.body.item-001.paragraph"/>
            <p:cNvSpPr/>
            <p:nvPr/>
          </p:nvSpPr>
          <p:spPr>
            <a:xfrm>
              <a:off x="5143500" y="29591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Vendor-managed</a:t>
              </a:r>
              <a:endParaRPr lang="en-US" sz="1200" spc="0" kern="0" b="0" i="0" dirty="0">
                <a:solidFill>
                  <a:srgbClr val="50658E"/>
                </a:solidFill>
                <a:latin typeface="IBM Plex Sans"/>
                <a:ea typeface="IBM Plex Sans"/>
                <a:cs typeface="IBM Plex Sans"/>
              </a:endParaRPr>
            </a:p>
          </p:txBody>
        </p:sp>
      </p:grpSp>
      <p:grpSp>
        <p:nvGrpSpPr>
          <p:cNvPr id="80" name="node08"/>
          <p:cNvGrpSpPr/>
          <p:nvPr/>
        </p:nvGrpSpPr>
        <p:grpSpPr>
          <a:xfrm>
            <a:off x="7581900" y="2514600"/>
            <a:ext cx="2286000" cy="800100"/>
            <a:chOff x="7581900" y="2514600"/>
            <a:chExt cx="2286000" cy="800100"/>
          </a:xfrm>
        </p:grpSpPr>
        <p:sp>
          <p:nvSpPr>
            <p:cNvPr id="26" name="node08.container"/>
            <p:cNvSpPr/>
            <p:nvPr/>
          </p:nvSpPr>
          <p:spPr>
            <a:xfrm>
              <a:off x="7581900" y="2514600"/>
              <a:ext cx="2286000" cy="800100"/>
            </a:xfrm>
            <a:prstGeom prst="rect">
              <a:avLst/>
            </a:prstGeom>
            <a:solidFill>
              <a:srgbClr val="070154"/>
            </a:solidFill>
            <a:ln>
              <a:noFill/>
            </a:ln>
          </p:spPr>
        </p:sp>
        <p:sp>
          <p:nvSpPr>
            <p:cNvPr id="27" name="node08.title"/>
            <p:cNvSpPr/>
            <p:nvPr/>
          </p:nvSpPr>
          <p:spPr>
            <a:xfrm>
              <a:off x="7658100" y="25908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Billing and payments</a:t>
              </a:r>
              <a:endParaRPr lang="en-US" sz="1200" spc="0" kern="0" b="0" i="0" dirty="0">
                <a:solidFill>
                  <a:srgbClr val="FFFFFF"/>
                </a:solidFill>
                <a:latin typeface="IBM Plex Sans"/>
                <a:ea typeface="IBM Plex Sans"/>
                <a:cs typeface="IBM Plex Sans"/>
              </a:endParaRPr>
            </a:p>
          </p:txBody>
        </p:sp>
        <p:sp>
          <p:nvSpPr>
            <p:cNvPr id="28" name="node08.body.item-001.paragraph"/>
            <p:cNvSpPr/>
            <p:nvPr/>
          </p:nvSpPr>
          <p:spPr>
            <a:xfrm>
              <a:off x="7658100" y="29591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Enhancing</a:t>
              </a:r>
              <a:endParaRPr lang="en-US" sz="1200" spc="0" kern="0" b="0" i="0" dirty="0">
                <a:solidFill>
                  <a:srgbClr val="CED7E6"/>
                </a:solidFill>
                <a:latin typeface="IBM Plex Sans"/>
                <a:ea typeface="IBM Plex Sans"/>
                <a:cs typeface="IBM Plex Sans"/>
              </a:endParaRPr>
            </a:p>
          </p:txBody>
        </p:sp>
      </p:grpSp>
      <p:grpSp>
        <p:nvGrpSpPr>
          <p:cNvPr id="81" name="node09"/>
          <p:cNvGrpSpPr/>
          <p:nvPr/>
        </p:nvGrpSpPr>
        <p:grpSpPr>
          <a:xfrm>
            <a:off x="723900" y="3429000"/>
            <a:ext cx="1600200" cy="800100"/>
            <a:chOff x="723900" y="3429000"/>
            <a:chExt cx="1600200" cy="800100"/>
          </a:xfrm>
        </p:grpSpPr>
        <p:sp>
          <p:nvSpPr>
            <p:cNvPr id="29" name="node09.surface"/>
            <p:cNvSpPr/>
            <p:nvPr/>
          </p:nvSpPr>
          <p:spPr>
            <a:xfrm>
              <a:off x="723900" y="3429000"/>
              <a:ext cx="1600200" cy="800100"/>
            </a:xfrm>
            <a:prstGeom prst="rect">
              <a:avLst/>
            </a:prstGeom>
            <a:solidFill>
              <a:srgbClr val="05013F"/>
            </a:solidFill>
            <a:ln>
              <a:noFill/>
            </a:ln>
          </p:spPr>
        </p:sp>
        <p:sp>
          <p:nvSpPr>
            <p:cNvPr id="30" name="node09.text"/>
            <p:cNvSpPr/>
            <p:nvPr/>
          </p:nvSpPr>
          <p:spPr>
            <a:xfrm>
              <a:off x="876300" y="3613150"/>
              <a:ext cx="1295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Data and integration</a:t>
              </a:r>
              <a:endParaRPr lang="en-US" sz="1200" spc="0" kern="0" b="0" i="0" dirty="0">
                <a:solidFill>
                  <a:srgbClr val="FFFFFF"/>
                </a:solidFill>
                <a:latin typeface="IBM Plex Sans"/>
                <a:ea typeface="IBM Plex Sans"/>
                <a:cs typeface="IBM Plex Sans"/>
              </a:endParaRPr>
            </a:p>
          </p:txBody>
        </p:sp>
      </p:grpSp>
      <p:grpSp>
        <p:nvGrpSpPr>
          <p:cNvPr id="82" name="node10"/>
          <p:cNvGrpSpPr/>
          <p:nvPr/>
        </p:nvGrpSpPr>
        <p:grpSpPr>
          <a:xfrm>
            <a:off x="2552700" y="3429000"/>
            <a:ext cx="2286000" cy="800100"/>
            <a:chOff x="2552700" y="3429000"/>
            <a:chExt cx="2286000" cy="800100"/>
          </a:xfrm>
        </p:grpSpPr>
        <p:sp>
          <p:nvSpPr>
            <p:cNvPr id="31" name="node10.container"/>
            <p:cNvSpPr/>
            <p:nvPr/>
          </p:nvSpPr>
          <p:spPr>
            <a:xfrm>
              <a:off x="2552700" y="3429000"/>
              <a:ext cx="2286000" cy="800100"/>
            </a:xfrm>
            <a:prstGeom prst="rect">
              <a:avLst/>
            </a:prstGeom>
            <a:solidFill>
              <a:srgbClr val="CED7E6"/>
            </a:solidFill>
            <a:ln>
              <a:noFill/>
            </a:ln>
          </p:spPr>
        </p:sp>
        <p:sp>
          <p:nvSpPr>
            <p:cNvPr id="32" name="node10.title"/>
            <p:cNvSpPr/>
            <p:nvPr/>
          </p:nvSpPr>
          <p:spPr>
            <a:xfrm>
              <a:off x="2628900" y="35052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EHR and FHIR APIs</a:t>
              </a:r>
              <a:endParaRPr lang="en-US" sz="1200" spc="0" kern="0" b="0" i="0" dirty="0">
                <a:solidFill>
                  <a:srgbClr val="070154"/>
                </a:solidFill>
                <a:latin typeface="IBM Plex Sans"/>
                <a:ea typeface="IBM Plex Sans"/>
                <a:cs typeface="IBM Plex Sans"/>
              </a:endParaRPr>
            </a:p>
          </p:txBody>
        </p:sp>
        <p:sp>
          <p:nvSpPr>
            <p:cNvPr id="33" name="node10.body.item-001.paragraph"/>
            <p:cNvSpPr/>
            <p:nvPr/>
          </p:nvSpPr>
          <p:spPr>
            <a:xfrm>
              <a:off x="2628900" y="38735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Two vendors in scope</a:t>
              </a:r>
              <a:endParaRPr lang="en-US" sz="1200" spc="0" kern="0" b="0" i="0" dirty="0">
                <a:solidFill>
                  <a:srgbClr val="070154"/>
                </a:solidFill>
                <a:latin typeface="IBM Plex Sans"/>
                <a:ea typeface="IBM Plex Sans"/>
                <a:cs typeface="IBM Plex Sans"/>
              </a:endParaRPr>
            </a:p>
          </p:txBody>
        </p:sp>
      </p:grpSp>
      <p:grpSp>
        <p:nvGrpSpPr>
          <p:cNvPr id="83" name="node11"/>
          <p:cNvGrpSpPr/>
          <p:nvPr/>
        </p:nvGrpSpPr>
        <p:grpSpPr>
          <a:xfrm>
            <a:off x="5067300" y="3429000"/>
            <a:ext cx="2286000" cy="800100"/>
            <a:chOff x="5067300" y="3429000"/>
            <a:chExt cx="2286000" cy="800100"/>
          </a:xfrm>
        </p:grpSpPr>
        <p:sp>
          <p:nvSpPr>
            <p:cNvPr id="34" name="node11.container"/>
            <p:cNvSpPr/>
            <p:nvPr/>
          </p:nvSpPr>
          <p:spPr>
            <a:xfrm>
              <a:off x="5067300" y="3429000"/>
              <a:ext cx="2286000" cy="800100"/>
            </a:xfrm>
            <a:prstGeom prst="rect">
              <a:avLst/>
            </a:prstGeom>
            <a:solidFill>
              <a:srgbClr val="CED7E6"/>
            </a:solidFill>
            <a:ln>
              <a:noFill/>
            </a:ln>
          </p:spPr>
        </p:sp>
        <p:sp>
          <p:nvSpPr>
            <p:cNvPr id="35" name="node11.title"/>
            <p:cNvSpPr/>
            <p:nvPr/>
          </p:nvSpPr>
          <p:spPr>
            <a:xfrm>
              <a:off x="5143500" y="35052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Event stream</a:t>
              </a:r>
              <a:endParaRPr lang="en-US" sz="1200" spc="0" kern="0" b="0" i="0" dirty="0">
                <a:solidFill>
                  <a:srgbClr val="070154"/>
                </a:solidFill>
                <a:latin typeface="IBM Plex Sans"/>
                <a:ea typeface="IBM Plex Sans"/>
                <a:cs typeface="IBM Plex Sans"/>
              </a:endParaRPr>
            </a:p>
          </p:txBody>
        </p:sp>
        <p:sp>
          <p:nvSpPr>
            <p:cNvPr id="36" name="node11.body.item-001.paragraph"/>
            <p:cNvSpPr/>
            <p:nvPr/>
          </p:nvSpPr>
          <p:spPr>
            <a:xfrm>
              <a:off x="5143500" y="38735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New in 2026</a:t>
              </a:r>
              <a:endParaRPr lang="en-US" sz="1200" spc="0" kern="0" b="0" i="0" dirty="0">
                <a:solidFill>
                  <a:srgbClr val="070154"/>
                </a:solidFill>
                <a:latin typeface="IBM Plex Sans"/>
                <a:ea typeface="IBM Plex Sans"/>
                <a:cs typeface="IBM Plex Sans"/>
              </a:endParaRPr>
            </a:p>
          </p:txBody>
        </p:sp>
      </p:grpSp>
      <p:grpSp>
        <p:nvGrpSpPr>
          <p:cNvPr id="84" name="node12"/>
          <p:cNvGrpSpPr/>
          <p:nvPr/>
        </p:nvGrpSpPr>
        <p:grpSpPr>
          <a:xfrm>
            <a:off x="7581900" y="3429000"/>
            <a:ext cx="2286000" cy="800100"/>
            <a:chOff x="7581900" y="3429000"/>
            <a:chExt cx="2286000" cy="800100"/>
          </a:xfrm>
        </p:grpSpPr>
        <p:sp>
          <p:nvSpPr>
            <p:cNvPr id="37" name="node12.container"/>
            <p:cNvSpPr/>
            <p:nvPr/>
          </p:nvSpPr>
          <p:spPr>
            <a:xfrm>
              <a:off x="7581900" y="3429000"/>
              <a:ext cx="2286000" cy="800100"/>
            </a:xfrm>
            <a:prstGeom prst="rect">
              <a:avLst/>
            </a:prstGeom>
            <a:solidFill>
              <a:srgbClr val="070154"/>
            </a:solidFill>
            <a:ln>
              <a:noFill/>
            </a:ln>
          </p:spPr>
        </p:sp>
        <p:sp>
          <p:nvSpPr>
            <p:cNvPr id="38" name="node12.title"/>
            <p:cNvSpPr/>
            <p:nvPr/>
          </p:nvSpPr>
          <p:spPr>
            <a:xfrm>
              <a:off x="7658100" y="35052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Patient data store</a:t>
              </a:r>
              <a:endParaRPr lang="en-US" sz="1200" spc="0" kern="0" b="0" i="0" dirty="0">
                <a:solidFill>
                  <a:srgbClr val="FFFFFF"/>
                </a:solidFill>
                <a:latin typeface="IBM Plex Sans"/>
                <a:ea typeface="IBM Plex Sans"/>
                <a:cs typeface="IBM Plex Sans"/>
              </a:endParaRPr>
            </a:p>
          </p:txBody>
        </p:sp>
        <p:sp>
          <p:nvSpPr>
            <p:cNvPr id="39" name="node12.body.item-001.paragraph"/>
            <p:cNvSpPr/>
            <p:nvPr/>
          </p:nvSpPr>
          <p:spPr>
            <a:xfrm>
              <a:off x="7658100" y="38735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Owned by Northfield</a:t>
              </a:r>
              <a:endParaRPr lang="en-US" sz="1200" spc="0" kern="0" b="0" i="0" dirty="0">
                <a:solidFill>
                  <a:srgbClr val="CED7E6"/>
                </a:solidFill>
                <a:latin typeface="IBM Plex Sans"/>
                <a:ea typeface="IBM Plex Sans"/>
                <a:cs typeface="IBM Plex Sans"/>
              </a:endParaRPr>
            </a:p>
          </p:txBody>
        </p:sp>
      </p:grpSp>
      <p:grpSp>
        <p:nvGrpSpPr>
          <p:cNvPr id="85" name="node13"/>
          <p:cNvGrpSpPr/>
          <p:nvPr/>
        </p:nvGrpSpPr>
        <p:grpSpPr>
          <a:xfrm>
            <a:off x="723900" y="4343400"/>
            <a:ext cx="1600200" cy="800100"/>
            <a:chOff x="723900" y="4343400"/>
            <a:chExt cx="1600200" cy="800100"/>
          </a:xfrm>
        </p:grpSpPr>
        <p:sp>
          <p:nvSpPr>
            <p:cNvPr id="40" name="node13.surface"/>
            <p:cNvSpPr/>
            <p:nvPr/>
          </p:nvSpPr>
          <p:spPr>
            <a:xfrm>
              <a:off x="723900" y="4343400"/>
              <a:ext cx="1600200" cy="800100"/>
            </a:xfrm>
            <a:prstGeom prst="rect">
              <a:avLst/>
            </a:prstGeom>
            <a:solidFill>
              <a:srgbClr val="05013F"/>
            </a:solidFill>
            <a:ln>
              <a:noFill/>
            </a:ln>
          </p:spPr>
        </p:sp>
        <p:sp>
          <p:nvSpPr>
            <p:cNvPr id="41" name="node13.text"/>
            <p:cNvSpPr/>
            <p:nvPr/>
          </p:nvSpPr>
          <p:spPr>
            <a:xfrm>
              <a:off x="876300" y="4527550"/>
              <a:ext cx="1295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Platform and operations</a:t>
              </a:r>
              <a:endParaRPr lang="en-US" sz="1200" spc="0" kern="0" b="0" i="0" dirty="0">
                <a:solidFill>
                  <a:srgbClr val="FFFFFF"/>
                </a:solidFill>
                <a:latin typeface="IBM Plex Sans"/>
                <a:ea typeface="IBM Plex Sans"/>
                <a:cs typeface="IBM Plex Sans"/>
              </a:endParaRPr>
            </a:p>
          </p:txBody>
        </p:sp>
      </p:grpSp>
      <p:grpSp>
        <p:nvGrpSpPr>
          <p:cNvPr id="86" name="node14"/>
          <p:cNvGrpSpPr/>
          <p:nvPr/>
        </p:nvGrpSpPr>
        <p:grpSpPr>
          <a:xfrm>
            <a:off x="2552700" y="4343400"/>
            <a:ext cx="2286000" cy="800100"/>
            <a:chOff x="2552700" y="4343400"/>
            <a:chExt cx="2286000" cy="800100"/>
          </a:xfrm>
        </p:grpSpPr>
        <p:sp>
          <p:nvSpPr>
            <p:cNvPr id="42" name="node14.container"/>
            <p:cNvSpPr/>
            <p:nvPr/>
          </p:nvSpPr>
          <p:spPr>
            <a:xfrm>
              <a:off x="2552700" y="4343400"/>
              <a:ext cx="2286000" cy="800100"/>
            </a:xfrm>
            <a:prstGeom prst="rect">
              <a:avLst/>
            </a:prstGeom>
            <a:solidFill>
              <a:srgbClr val="CED7E6"/>
            </a:solidFill>
            <a:ln>
              <a:noFill/>
            </a:ln>
          </p:spPr>
        </p:sp>
        <p:sp>
          <p:nvSpPr>
            <p:cNvPr id="43" name="node14.title"/>
            <p:cNvSpPr/>
            <p:nvPr/>
          </p:nvSpPr>
          <p:spPr>
            <a:xfrm>
              <a:off x="2628900" y="44196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Release pipeline</a:t>
              </a:r>
              <a:endParaRPr lang="en-US" sz="1200" spc="0" kern="0" b="0" i="0" dirty="0">
                <a:solidFill>
                  <a:srgbClr val="070154"/>
                </a:solidFill>
                <a:latin typeface="IBM Plex Sans"/>
                <a:ea typeface="IBM Plex Sans"/>
                <a:cs typeface="IBM Plex Sans"/>
              </a:endParaRPr>
            </a:p>
          </p:txBody>
        </p:sp>
        <p:sp>
          <p:nvSpPr>
            <p:cNvPr id="44" name="node14.body.item-001.paragraph"/>
            <p:cNvSpPr/>
            <p:nvPr/>
          </p:nvSpPr>
          <p:spPr>
            <a:xfrm>
              <a:off x="2628900" y="47879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Weekly releases</a:t>
              </a:r>
              <a:endParaRPr lang="en-US" sz="1200" spc="0" kern="0" b="0" i="0" dirty="0">
                <a:solidFill>
                  <a:srgbClr val="070154"/>
                </a:solidFill>
                <a:latin typeface="IBM Plex Sans"/>
                <a:ea typeface="IBM Plex Sans"/>
                <a:cs typeface="IBM Plex Sans"/>
              </a:endParaRPr>
            </a:p>
          </p:txBody>
        </p:sp>
      </p:grpSp>
      <p:grpSp>
        <p:nvGrpSpPr>
          <p:cNvPr id="87" name="node15"/>
          <p:cNvGrpSpPr/>
          <p:nvPr/>
        </p:nvGrpSpPr>
        <p:grpSpPr>
          <a:xfrm>
            <a:off x="5067300" y="4343400"/>
            <a:ext cx="2286000" cy="800100"/>
            <a:chOff x="5067300" y="4343400"/>
            <a:chExt cx="2286000" cy="800100"/>
          </a:xfrm>
        </p:grpSpPr>
        <p:sp>
          <p:nvSpPr>
            <p:cNvPr id="45" name="node15.container"/>
            <p:cNvSpPr/>
            <p:nvPr/>
          </p:nvSpPr>
          <p:spPr>
            <a:xfrm>
              <a:off x="5067300" y="4343400"/>
              <a:ext cx="2286000" cy="800100"/>
            </a:xfrm>
            <a:prstGeom prst="rect">
              <a:avLst/>
            </a:prstGeom>
            <a:solidFill>
              <a:srgbClr val="CED7E6"/>
            </a:solidFill>
            <a:ln>
              <a:noFill/>
            </a:ln>
          </p:spPr>
        </p:sp>
        <p:sp>
          <p:nvSpPr>
            <p:cNvPr id="46" name="node15.title"/>
            <p:cNvSpPr/>
            <p:nvPr/>
          </p:nvSpPr>
          <p:spPr>
            <a:xfrm>
              <a:off x="5143500" y="44196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Observability</a:t>
              </a:r>
              <a:endParaRPr lang="en-US" sz="1200" spc="0" kern="0" b="0" i="0" dirty="0">
                <a:solidFill>
                  <a:srgbClr val="070154"/>
                </a:solidFill>
                <a:latin typeface="IBM Plex Sans"/>
                <a:ea typeface="IBM Plex Sans"/>
                <a:cs typeface="IBM Plex Sans"/>
              </a:endParaRPr>
            </a:p>
          </p:txBody>
        </p:sp>
        <p:sp>
          <p:nvSpPr>
            <p:cNvPr id="47" name="node15.body.item-001.paragraph"/>
            <p:cNvSpPr/>
            <p:nvPr/>
          </p:nvSpPr>
          <p:spPr>
            <a:xfrm>
              <a:off x="5143500" y="47879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New in 2026</a:t>
              </a:r>
              <a:endParaRPr lang="en-US" sz="1200" spc="0" kern="0" b="0" i="0" dirty="0">
                <a:solidFill>
                  <a:srgbClr val="070154"/>
                </a:solidFill>
                <a:latin typeface="IBM Plex Sans"/>
                <a:ea typeface="IBM Plex Sans"/>
                <a:cs typeface="IBM Plex Sans"/>
              </a:endParaRPr>
            </a:p>
          </p:txBody>
        </p:sp>
      </p:grpSp>
      <p:grpSp>
        <p:nvGrpSpPr>
          <p:cNvPr id="88" name="node16"/>
          <p:cNvGrpSpPr/>
          <p:nvPr/>
        </p:nvGrpSpPr>
        <p:grpSpPr>
          <a:xfrm>
            <a:off x="7581900" y="4343400"/>
            <a:ext cx="2286000" cy="800100"/>
            <a:chOff x="7581900" y="4343400"/>
            <a:chExt cx="2286000" cy="800100"/>
          </a:xfrm>
        </p:grpSpPr>
        <p:sp>
          <p:nvSpPr>
            <p:cNvPr id="48" name="node16.container"/>
            <p:cNvSpPr/>
            <p:nvPr/>
          </p:nvSpPr>
          <p:spPr>
            <a:xfrm>
              <a:off x="7581900" y="4343400"/>
              <a:ext cx="2286000" cy="800100"/>
            </a:xfrm>
            <a:prstGeom prst="rect">
              <a:avLst/>
            </a:prstGeom>
            <a:solidFill>
              <a:srgbClr val="070154"/>
            </a:solidFill>
            <a:ln>
              <a:noFill/>
            </a:ln>
          </p:spPr>
        </p:sp>
        <p:sp>
          <p:nvSpPr>
            <p:cNvPr id="49" name="node16.title"/>
            <p:cNvSpPr/>
            <p:nvPr/>
          </p:nvSpPr>
          <p:spPr>
            <a:xfrm>
              <a:off x="7658100" y="44196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Access and audit</a:t>
              </a:r>
              <a:endParaRPr lang="en-US" sz="1200" spc="0" kern="0" b="0" i="0" dirty="0">
                <a:solidFill>
                  <a:srgbClr val="FFFFFF"/>
                </a:solidFill>
                <a:latin typeface="IBM Plex Sans"/>
                <a:ea typeface="IBM Plex Sans"/>
                <a:cs typeface="IBM Plex Sans"/>
              </a:endParaRPr>
            </a:p>
          </p:txBody>
        </p:sp>
        <p:sp>
          <p:nvSpPr>
            <p:cNvPr id="50" name="node16.body.item-001.paragraph"/>
            <p:cNvSpPr/>
            <p:nvPr/>
          </p:nvSpPr>
          <p:spPr>
            <a:xfrm>
              <a:off x="7658100" y="47879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Owned by Northfield</a:t>
              </a:r>
              <a:endParaRPr lang="en-US" sz="1200" spc="0" kern="0" b="0" i="0" dirty="0">
                <a:solidFill>
                  <a:srgbClr val="CED7E6"/>
                </a:solidFill>
                <a:latin typeface="IBM Plex Sans"/>
                <a:ea typeface="IBM Plex Sans"/>
                <a:cs typeface="IBM Plex Sans"/>
              </a:endParaRPr>
            </a:p>
          </p:txBody>
        </p:sp>
      </p:grpSp>
      <p:grpSp>
        <p:nvGrpSpPr>
          <p:cNvPr id="89" name="node17"/>
          <p:cNvGrpSpPr/>
          <p:nvPr/>
        </p:nvGrpSpPr>
        <p:grpSpPr>
          <a:xfrm>
            <a:off x="10096500" y="1600200"/>
            <a:ext cx="1371600" cy="3543300"/>
            <a:chOff x="10096500" y="1600200"/>
            <a:chExt cx="1371600" cy="3543300"/>
          </a:xfrm>
        </p:grpSpPr>
        <p:sp>
          <p:nvSpPr>
            <p:cNvPr id="51" name="node17.container"/>
            <p:cNvSpPr/>
            <p:nvPr/>
          </p:nvSpPr>
          <p:spPr>
            <a:xfrm>
              <a:off x="10096500" y="1600200"/>
              <a:ext cx="1371600" cy="3543300"/>
            </a:xfrm>
            <a:prstGeom prst="rect">
              <a:avLst/>
            </a:prstGeom>
            <a:solidFill>
              <a:srgbClr val="E8EEF8"/>
            </a:solidFill>
            <a:ln>
              <a:noFill/>
            </a:ln>
          </p:spPr>
        </p:sp>
        <p:sp>
          <p:nvSpPr>
            <p:cNvPr id="52" name="node17.label"/>
            <p:cNvSpPr/>
            <p:nvPr/>
          </p:nvSpPr>
          <p:spPr>
            <a:xfrm>
              <a:off x="10248900" y="1752600"/>
              <a:ext cx="1066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CROSS-CUTTING</a:t>
              </a:r>
              <a:endParaRPr lang="en-US" sz="800" spc="48" kern="0" b="0" i="0" dirty="0">
                <a:solidFill>
                  <a:srgbClr val="0047FF"/>
                </a:solidFill>
                <a:latin typeface="IBM Plex Mono Medium"/>
                <a:ea typeface="IBM Plex Mono Medium"/>
                <a:cs typeface="IBM Plex Mono Medium"/>
              </a:endParaRPr>
            </a:p>
          </p:txBody>
        </p:sp>
        <p:sp>
          <p:nvSpPr>
            <p:cNvPr id="53" name="node17.body.item-001.bullets.item-001.marker"/>
            <p:cNvSpPr/>
            <p:nvPr/>
          </p:nvSpPr>
          <p:spPr>
            <a:xfrm>
              <a:off x="10248900" y="2057400"/>
              <a:ext cx="38100" cy="38100"/>
            </a:xfrm>
            <a:prstGeom prst="rect">
              <a:avLst/>
            </a:prstGeom>
            <a:solidFill>
              <a:srgbClr val="070154"/>
            </a:solidFill>
            <a:ln>
              <a:noFill/>
            </a:ln>
          </p:spPr>
        </p:sp>
        <p:sp>
          <p:nvSpPr>
            <p:cNvPr id="54" name="node17.body.item-001.bullets.item-001.text"/>
            <p:cNvSpPr/>
            <p:nvPr/>
          </p:nvSpPr>
          <p:spPr>
            <a:xfrm>
              <a:off x="10401300" y="1968500"/>
              <a:ext cx="914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Security and privacy</a:t>
              </a:r>
              <a:endParaRPr lang="en-US" sz="1200" spc="0" kern="0" b="0" i="0" dirty="0">
                <a:solidFill>
                  <a:srgbClr val="070154"/>
                </a:solidFill>
                <a:latin typeface="IBM Plex Sans"/>
                <a:ea typeface="IBM Plex Sans"/>
                <a:cs typeface="IBM Plex Sans"/>
              </a:endParaRPr>
            </a:p>
          </p:txBody>
        </p:sp>
        <p:sp>
          <p:nvSpPr>
            <p:cNvPr id="55" name="node17.body.item-001.bullets.item-002.marker"/>
            <p:cNvSpPr/>
            <p:nvPr/>
          </p:nvSpPr>
          <p:spPr>
            <a:xfrm>
              <a:off x="10248900" y="2527300"/>
              <a:ext cx="38100" cy="38100"/>
            </a:xfrm>
            <a:prstGeom prst="rect">
              <a:avLst/>
            </a:prstGeom>
            <a:solidFill>
              <a:srgbClr val="070154"/>
            </a:solidFill>
            <a:ln>
              <a:noFill/>
            </a:ln>
          </p:spPr>
        </p:sp>
        <p:sp>
          <p:nvSpPr>
            <p:cNvPr id="56" name="node17.body.item-001.bullets.item-002.text"/>
            <p:cNvSpPr/>
            <p:nvPr/>
          </p:nvSpPr>
          <p:spPr>
            <a:xfrm>
              <a:off x="10401300" y="2438400"/>
              <a:ext cx="914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HIPAA controls</a:t>
              </a:r>
              <a:endParaRPr lang="en-US" sz="1200" spc="0" kern="0" b="0" i="0" dirty="0">
                <a:solidFill>
                  <a:srgbClr val="070154"/>
                </a:solidFill>
                <a:latin typeface="IBM Plex Sans"/>
                <a:ea typeface="IBM Plex Sans"/>
                <a:cs typeface="IBM Plex Sans"/>
              </a:endParaRPr>
            </a:p>
          </p:txBody>
        </p:sp>
        <p:sp>
          <p:nvSpPr>
            <p:cNvPr id="57" name="node17.body.item-001.bullets.item-003.marker"/>
            <p:cNvSpPr/>
            <p:nvPr/>
          </p:nvSpPr>
          <p:spPr>
            <a:xfrm>
              <a:off x="10248900" y="2997200"/>
              <a:ext cx="38100" cy="38100"/>
            </a:xfrm>
            <a:prstGeom prst="rect">
              <a:avLst/>
            </a:prstGeom>
            <a:solidFill>
              <a:srgbClr val="070154"/>
            </a:solidFill>
            <a:ln>
              <a:noFill/>
            </a:ln>
          </p:spPr>
        </p:sp>
        <p:sp>
          <p:nvSpPr>
            <p:cNvPr id="58" name="node17.body.item-001.bullets.item-003.text"/>
            <p:cNvSpPr/>
            <p:nvPr/>
          </p:nvSpPr>
          <p:spPr>
            <a:xfrm>
              <a:off x="10401300" y="2908300"/>
              <a:ext cx="914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Accessibility</a:t>
              </a:r>
              <a:endParaRPr lang="en-US" sz="1200" spc="0" kern="0" b="0" i="0" dirty="0">
                <a:solidFill>
                  <a:srgbClr val="070154"/>
                </a:solidFill>
                <a:latin typeface="IBM Plex Sans"/>
                <a:ea typeface="IBM Plex Sans"/>
                <a:cs typeface="IBM Plex Sans"/>
              </a:endParaRPr>
            </a:p>
          </p:txBody>
        </p:sp>
        <p:sp>
          <p:nvSpPr>
            <p:cNvPr id="59" name="node17.body.item-001.bullets.item-004.marker"/>
            <p:cNvSpPr/>
            <p:nvPr/>
          </p:nvSpPr>
          <p:spPr>
            <a:xfrm>
              <a:off x="10248900" y="3251200"/>
              <a:ext cx="38100" cy="38100"/>
            </a:xfrm>
            <a:prstGeom prst="rect">
              <a:avLst/>
            </a:prstGeom>
            <a:solidFill>
              <a:srgbClr val="070154"/>
            </a:solidFill>
            <a:ln>
              <a:noFill/>
            </a:ln>
          </p:spPr>
        </p:sp>
        <p:sp>
          <p:nvSpPr>
            <p:cNvPr id="60" name="node17.body.item-001.bullets.item-004.text"/>
            <p:cNvSpPr/>
            <p:nvPr/>
          </p:nvSpPr>
          <p:spPr>
            <a:xfrm>
              <a:off x="10401300" y="3162300"/>
              <a:ext cx="914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Audit trail</a:t>
              </a:r>
              <a:endParaRPr lang="en-US" sz="1200" spc="0" kern="0" b="0" i="0" dirty="0">
                <a:solidFill>
                  <a:srgbClr val="070154"/>
                </a:solidFill>
                <a:latin typeface="IBM Plex Sans"/>
                <a:ea typeface="IBM Plex Sans"/>
                <a:cs typeface="IBM Plex Sans"/>
              </a:endParaRPr>
            </a:p>
          </p:txBody>
        </p:sp>
        <p:sp>
          <p:nvSpPr>
            <p:cNvPr id="61" name="node17.body.item-001.bullets.item-005.marker"/>
            <p:cNvSpPr/>
            <p:nvPr/>
          </p:nvSpPr>
          <p:spPr>
            <a:xfrm>
              <a:off x="10248900" y="3505200"/>
              <a:ext cx="38100" cy="38100"/>
            </a:xfrm>
            <a:prstGeom prst="rect">
              <a:avLst/>
            </a:prstGeom>
            <a:solidFill>
              <a:srgbClr val="070154"/>
            </a:solidFill>
            <a:ln>
              <a:noFill/>
            </a:ln>
          </p:spPr>
        </p:sp>
        <p:sp>
          <p:nvSpPr>
            <p:cNvPr id="62" name="node17.body.item-001.bullets.item-005.text"/>
            <p:cNvSpPr/>
            <p:nvPr/>
          </p:nvSpPr>
          <p:spPr>
            <a:xfrm>
              <a:off x="10401300" y="3416300"/>
              <a:ext cx="914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Design system</a:t>
              </a:r>
              <a:endParaRPr lang="en-US" sz="1200" spc="0" kern="0" b="0" i="0" dirty="0">
                <a:solidFill>
                  <a:srgbClr val="070154"/>
                </a:solidFill>
                <a:latin typeface="IBM Plex Sans"/>
                <a:ea typeface="IBM Plex Sans"/>
                <a:cs typeface="IBM Plex Sans"/>
              </a:endParaRPr>
            </a:p>
          </p:txBody>
        </p:sp>
        <p:sp>
          <p:nvSpPr>
            <p:cNvPr id="63" name="node17.body.item-001.bullets.item-006.marker"/>
            <p:cNvSpPr/>
            <p:nvPr/>
          </p:nvSpPr>
          <p:spPr>
            <a:xfrm>
              <a:off x="10248900" y="3975100"/>
              <a:ext cx="38100" cy="38100"/>
            </a:xfrm>
            <a:prstGeom prst="rect">
              <a:avLst/>
            </a:prstGeom>
            <a:solidFill>
              <a:srgbClr val="070154"/>
            </a:solidFill>
            <a:ln>
              <a:noFill/>
            </a:ln>
          </p:spPr>
        </p:sp>
        <p:sp>
          <p:nvSpPr>
            <p:cNvPr id="64" name="node17.body.item-001.bullets.item-006.text"/>
            <p:cNvSpPr/>
            <p:nvPr/>
          </p:nvSpPr>
          <p:spPr>
            <a:xfrm>
              <a:off x="10401300" y="3886200"/>
              <a:ext cx="914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Cost tracking</a:t>
              </a:r>
              <a:endParaRPr lang="en-US" sz="1200" spc="0" kern="0" b="0" i="0" dirty="0">
                <a:solidFill>
                  <a:srgbClr val="070154"/>
                </a:solidFill>
                <a:latin typeface="IBM Plex Sans"/>
                <a:ea typeface="IBM Plex Sans"/>
                <a:cs typeface="IBM Plex Sans"/>
              </a:endParaRPr>
            </a:p>
          </p:txBody>
        </p:sp>
      </p:grpSp>
      <p:grpSp>
        <p:nvGrpSpPr>
          <p:cNvPr id="90" name="node18"/>
          <p:cNvGrpSpPr/>
          <p:nvPr/>
        </p:nvGrpSpPr>
        <p:grpSpPr>
          <a:xfrm>
            <a:off x="723900" y="5257800"/>
            <a:ext cx="228600" cy="228600"/>
            <a:chOff x="723900" y="5257800"/>
            <a:chExt cx="228600" cy="228600"/>
          </a:xfrm>
        </p:grpSpPr>
        <p:sp>
          <p:nvSpPr>
            <p:cNvPr id="65" name="node18.surface"/>
            <p:cNvSpPr/>
            <p:nvPr/>
          </p:nvSpPr>
          <p:spPr>
            <a:xfrm>
              <a:off x="723900" y="5257800"/>
              <a:ext cx="228600" cy="228600"/>
            </a:xfrm>
            <a:prstGeom prst="rect">
              <a:avLst/>
            </a:prstGeom>
            <a:solidFill>
              <a:srgbClr val="CED7E6"/>
            </a:solidFill>
            <a:ln>
              <a:noFill/>
            </a:ln>
          </p:spPr>
        </p:sp>
      </p:grpSp>
      <p:grpSp>
        <p:nvGrpSpPr>
          <p:cNvPr id="91" name="node19"/>
          <p:cNvGrpSpPr/>
          <p:nvPr/>
        </p:nvGrpSpPr>
        <p:grpSpPr>
          <a:xfrm>
            <a:off x="1066800" y="5257800"/>
            <a:ext cx="1371600" cy="190500"/>
            <a:chOff x="1066800" y="5257800"/>
            <a:chExt cx="1371600" cy="190500"/>
          </a:xfrm>
        </p:grpSpPr>
        <p:sp>
          <p:nvSpPr>
            <p:cNvPr id="66" name="node19.text"/>
            <p:cNvSpPr/>
            <p:nvPr/>
          </p:nvSpPr>
          <p:spPr>
            <a:xfrm>
              <a:off x="1066800" y="52578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West Monroe builds</a:t>
              </a:r>
              <a:endParaRPr lang="en-US" sz="1100" spc="0" kern="0" b="0" i="0" dirty="0">
                <a:solidFill>
                  <a:srgbClr val="50658E"/>
                </a:solidFill>
                <a:latin typeface="IBM Plex Sans"/>
                <a:ea typeface="IBM Plex Sans"/>
                <a:cs typeface="IBM Plex Sans"/>
              </a:endParaRPr>
            </a:p>
          </p:txBody>
        </p:sp>
      </p:grpSp>
      <p:grpSp>
        <p:nvGrpSpPr>
          <p:cNvPr id="92" name="node20"/>
          <p:cNvGrpSpPr/>
          <p:nvPr/>
        </p:nvGrpSpPr>
        <p:grpSpPr>
          <a:xfrm>
            <a:off x="2781300" y="5257800"/>
            <a:ext cx="228600" cy="228600"/>
            <a:chOff x="2781300" y="5257800"/>
            <a:chExt cx="228600" cy="228600"/>
          </a:xfrm>
        </p:grpSpPr>
        <p:sp>
          <p:nvSpPr>
            <p:cNvPr id="67" name="node20.surface"/>
            <p:cNvSpPr/>
            <p:nvPr/>
          </p:nvSpPr>
          <p:spPr>
            <a:xfrm>
              <a:off x="2781300" y="5257800"/>
              <a:ext cx="228600" cy="228600"/>
            </a:xfrm>
            <a:prstGeom prst="rect">
              <a:avLst/>
            </a:prstGeom>
            <a:solidFill>
              <a:srgbClr val="070154"/>
            </a:solidFill>
            <a:ln>
              <a:noFill/>
            </a:ln>
          </p:spPr>
        </p:sp>
      </p:grpSp>
      <p:grpSp>
        <p:nvGrpSpPr>
          <p:cNvPr id="93" name="node21"/>
          <p:cNvGrpSpPr/>
          <p:nvPr/>
        </p:nvGrpSpPr>
        <p:grpSpPr>
          <a:xfrm>
            <a:off x="3124200" y="5257800"/>
            <a:ext cx="1600200" cy="190500"/>
            <a:chOff x="3124200" y="5257800"/>
            <a:chExt cx="1600200" cy="190500"/>
          </a:xfrm>
        </p:grpSpPr>
        <p:sp>
          <p:nvSpPr>
            <p:cNvPr id="68" name="node21.text"/>
            <p:cNvSpPr/>
            <p:nvPr/>
          </p:nvSpPr>
          <p:spPr>
            <a:xfrm>
              <a:off x="3124200" y="52578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Northfield team builds</a:t>
              </a:r>
              <a:endParaRPr lang="en-US" sz="1100" spc="0" kern="0" b="0" i="0" dirty="0">
                <a:solidFill>
                  <a:srgbClr val="50658E"/>
                </a:solidFill>
                <a:latin typeface="IBM Plex Sans"/>
                <a:ea typeface="IBM Plex Sans"/>
                <a:cs typeface="IBM Plex Sans"/>
              </a:endParaRPr>
            </a:p>
          </p:txBody>
        </p:sp>
      </p:grpSp>
      <p:grpSp>
        <p:nvGrpSpPr>
          <p:cNvPr id="94" name="node22"/>
          <p:cNvGrpSpPr/>
          <p:nvPr/>
        </p:nvGrpSpPr>
        <p:grpSpPr>
          <a:xfrm>
            <a:off x="5067300" y="5257800"/>
            <a:ext cx="228600" cy="228600"/>
            <a:chOff x="5067300" y="5257800"/>
            <a:chExt cx="228600" cy="228600"/>
          </a:xfrm>
        </p:grpSpPr>
        <p:sp>
          <p:nvSpPr>
            <p:cNvPr id="69" name="node22.surface"/>
            <p:cNvSpPr/>
            <p:nvPr/>
          </p:nvSpPr>
          <p:spPr>
            <a:xfrm>
              <a:off x="5067300" y="5257800"/>
              <a:ext cx="228600" cy="228600"/>
            </a:xfrm>
            <a:prstGeom prst="rect">
              <a:avLst/>
            </a:prstGeom>
            <a:solidFill>
              <a:srgbClr val="E8EEF8"/>
            </a:solidFill>
            <a:ln>
              <a:noFill/>
            </a:ln>
          </p:spPr>
        </p:sp>
      </p:grpSp>
      <p:grpSp>
        <p:nvGrpSpPr>
          <p:cNvPr id="95" name="node23"/>
          <p:cNvGrpSpPr/>
          <p:nvPr/>
        </p:nvGrpSpPr>
        <p:grpSpPr>
          <a:xfrm>
            <a:off x="5410200" y="5257800"/>
            <a:ext cx="457200" cy="190500"/>
            <a:chOff x="5410200" y="5257800"/>
            <a:chExt cx="457200" cy="190500"/>
          </a:xfrm>
        </p:grpSpPr>
        <p:sp>
          <p:nvSpPr>
            <p:cNvPr id="70" name="node23.text"/>
            <p:cNvSpPr/>
            <p:nvPr/>
          </p:nvSpPr>
          <p:spPr>
            <a:xfrm>
              <a:off x="5410200" y="52578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Pilot</a:t>
              </a:r>
              <a:endParaRPr lang="en-US" sz="1100" spc="0" kern="0" b="0" i="0" dirty="0">
                <a:solidFill>
                  <a:srgbClr val="50658E"/>
                </a:solidFill>
                <a:latin typeface="IBM Plex Sans"/>
                <a:ea typeface="IBM Plex Sans"/>
                <a:cs typeface="IBM Plex Sans"/>
              </a:endParaRPr>
            </a:p>
          </p:txBody>
        </p:sp>
      </p:grpSp>
      <p:grpSp>
        <p:nvGrpSpPr>
          <p:cNvPr id="96" name="node24"/>
          <p:cNvGrpSpPr/>
          <p:nvPr/>
        </p:nvGrpSpPr>
        <p:grpSpPr>
          <a:xfrm>
            <a:off x="6210300" y="5257800"/>
            <a:ext cx="228600" cy="228600"/>
            <a:chOff x="6210300" y="5257800"/>
            <a:chExt cx="228600" cy="228600"/>
          </a:xfrm>
        </p:grpSpPr>
        <p:sp>
          <p:nvSpPr>
            <p:cNvPr id="71" name="node24.surface"/>
            <p:cNvSpPr/>
            <p:nvPr/>
          </p:nvSpPr>
          <p:spPr>
            <a:xfrm>
              <a:off x="6216650" y="5264150"/>
              <a:ext cx="215900" cy="215900"/>
            </a:xfrm>
            <a:prstGeom prst="rect">
              <a:avLst/>
            </a:prstGeom>
            <a:solidFill>
              <a:srgbClr val="FFFFFF"/>
            </a:solidFill>
            <a:ln w="12700">
              <a:solidFill>
                <a:srgbClr val="CED7E6"/>
              </a:solidFill>
              <a:prstDash val="solid"/>
            </a:ln>
          </p:spPr>
        </p:sp>
      </p:grpSp>
      <p:grpSp>
        <p:nvGrpSpPr>
          <p:cNvPr id="97" name="node25"/>
          <p:cNvGrpSpPr/>
          <p:nvPr/>
        </p:nvGrpSpPr>
        <p:grpSpPr>
          <a:xfrm>
            <a:off x="6553200" y="5257800"/>
            <a:ext cx="685800" cy="190500"/>
            <a:chOff x="6553200" y="5257800"/>
            <a:chExt cx="685800" cy="190500"/>
          </a:xfrm>
        </p:grpSpPr>
        <p:sp>
          <p:nvSpPr>
            <p:cNvPr id="72" name="node25.text"/>
            <p:cNvSpPr/>
            <p:nvPr/>
          </p:nvSpPr>
          <p:spPr>
            <a:xfrm>
              <a:off x="6553200" y="5257800"/>
              <a:ext cx="685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Vendor</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ource-082">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APP CAPABILITIES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Access is live; care and billing carry the backlog</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109</a:t>
            </a:fld>
            <a:endParaRPr lang="en-US" sz="700" spc="0" kern="0" b="0" i="0" dirty="0">
              <a:solidFill>
                <a:srgbClr val="070154"/>
              </a:solidFill>
              <a:latin typeface="IBM Plex Mono SemiBold"/>
              <a:ea typeface="IBM Plex Mono SemiBold"/>
              <a:cs typeface="IBM Plex Mono SemiBold"/>
            </a:endParaRPr>
          </a:p>
        </p:txBody>
      </p:sp>
      <p:grpSp>
        <p:nvGrpSpPr>
          <p:cNvPr id="84" name="node01"/>
          <p:cNvGrpSpPr/>
          <p:nvPr/>
        </p:nvGrpSpPr>
        <p:grpSpPr>
          <a:xfrm>
            <a:off x="723900" y="2286000"/>
            <a:ext cx="3429000" cy="1371600"/>
            <a:chOff x="723900" y="2286000"/>
            <a:chExt cx="3429000" cy="1371600"/>
          </a:xfrm>
        </p:grpSpPr>
        <p:sp>
          <p:nvSpPr>
            <p:cNvPr id="6" name="node01.source-001.bullet"/>
            <p:cNvSpPr/>
            <p:nvPr/>
          </p:nvSpPr>
          <p:spPr>
            <a:xfrm>
              <a:off x="723900" y="2374900"/>
              <a:ext cx="38100" cy="38100"/>
            </a:xfrm>
            <a:prstGeom prst="rect">
              <a:avLst/>
            </a:prstGeom>
            <a:solidFill>
              <a:srgbClr val="070154"/>
            </a:solidFill>
            <a:ln>
              <a:noFill/>
            </a:ln>
          </p:spPr>
        </p:sp>
        <p:sp>
          <p:nvSpPr>
            <p:cNvPr id="7" name="node01.source-001.text"/>
            <p:cNvSpPr/>
            <p:nvPr/>
          </p:nvSpPr>
          <p:spPr>
            <a:xfrm>
              <a:off x="876300" y="22860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Live</a:t>
              </a:r>
              <a:r>
                <a:rPr lang="en-US" sz="1200" spc="0" kern="0" b="0" i="0" dirty="0">
                  <a:solidFill>
                    <a:srgbClr val="50658E"/>
                  </a:solidFill>
                  <a:latin typeface="IBM Plex Sans"/>
                  <a:ea typeface="IBM Plex Sans"/>
                  <a:cs typeface="IBM Plex Sans"/>
                </a:rPr>
                <a:t xml:space="preserve"> booking, billing basics and the medication list.</a:t>
              </a:r>
              <a:endParaRPr lang="en-US" sz="1200" spc="0" kern="0" b="0" i="0" dirty="0">
                <a:solidFill>
                  <a:srgbClr val="070154"/>
                </a:solidFill>
                <a:latin typeface="IBM Plex Sans"/>
                <a:ea typeface="IBM Plex Sans"/>
                <a:cs typeface="IBM Plex Sans"/>
              </a:endParaRPr>
            </a:p>
          </p:txBody>
        </p:sp>
        <p:sp>
          <p:nvSpPr>
            <p:cNvPr id="8" name="node01.source-002.bullet"/>
            <p:cNvSpPr/>
            <p:nvPr/>
          </p:nvSpPr>
          <p:spPr>
            <a:xfrm>
              <a:off x="723900" y="2844800"/>
              <a:ext cx="38100" cy="38100"/>
            </a:xfrm>
            <a:prstGeom prst="rect">
              <a:avLst/>
            </a:prstGeom>
            <a:solidFill>
              <a:srgbClr val="070154"/>
            </a:solidFill>
            <a:ln>
              <a:noFill/>
            </a:ln>
          </p:spPr>
        </p:sp>
        <p:sp>
          <p:nvSpPr>
            <p:cNvPr id="9" name="node01.source-002.text"/>
            <p:cNvSpPr/>
            <p:nvPr/>
          </p:nvSpPr>
          <p:spPr>
            <a:xfrm>
              <a:off x="876300" y="27559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In build</a:t>
              </a:r>
              <a:r>
                <a:rPr lang="en-US" sz="1200" spc="0" kern="0" b="0" i="0" dirty="0">
                  <a:solidFill>
                    <a:srgbClr val="50658E"/>
                  </a:solidFill>
                  <a:latin typeface="IBM Plex Sans"/>
                  <a:ea typeface="IBM Plex Sans"/>
                  <a:cs typeface="IBM Plex Sans"/>
                </a:rPr>
                <a:t xml:space="preserve"> care plans, messaging and payment plans.</a:t>
              </a:r>
              <a:endParaRPr lang="en-US" sz="1200" spc="0" kern="0" b="0" i="0" dirty="0">
                <a:solidFill>
                  <a:srgbClr val="070154"/>
                </a:solidFill>
                <a:latin typeface="IBM Plex Sans"/>
                <a:ea typeface="IBM Plex Sans"/>
                <a:cs typeface="IBM Plex Sans"/>
              </a:endParaRPr>
            </a:p>
          </p:txBody>
        </p:sp>
        <p:sp>
          <p:nvSpPr>
            <p:cNvPr id="10" name="node01.source-003.bullet"/>
            <p:cNvSpPr/>
            <p:nvPr/>
          </p:nvSpPr>
          <p:spPr>
            <a:xfrm>
              <a:off x="723900" y="3314700"/>
              <a:ext cx="38100" cy="38100"/>
            </a:xfrm>
            <a:prstGeom prst="rect">
              <a:avLst/>
            </a:prstGeom>
            <a:solidFill>
              <a:srgbClr val="070154"/>
            </a:solidFill>
            <a:ln>
              <a:noFill/>
            </a:ln>
          </p:spPr>
        </p:sp>
        <p:sp>
          <p:nvSpPr>
            <p:cNvPr id="11" name="node01.source-003.text"/>
            <p:cNvSpPr/>
            <p:nvPr/>
          </p:nvSpPr>
          <p:spPr>
            <a:xfrm>
              <a:off x="876300" y="32258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Open</a:t>
              </a:r>
              <a:r>
                <a:rPr lang="en-US" sz="1200" spc="0" kern="0" b="0" i="0" dirty="0">
                  <a:solidFill>
                    <a:srgbClr val="50658E"/>
                  </a:solidFill>
                  <a:latin typeface="IBM Plex Sans"/>
                  <a:ea typeface="IBM Plex Sans"/>
                  <a:cs typeface="IBM Plex Sans"/>
                </a:rPr>
                <a:t xml:space="preserve"> kiosk, wayfinding and the community programs.</a:t>
              </a:r>
              <a:endParaRPr lang="en-US" sz="1200" spc="0" kern="0" b="0" i="0" dirty="0">
                <a:solidFill>
                  <a:srgbClr val="070154"/>
                </a:solidFill>
                <a:latin typeface="IBM Plex Sans"/>
                <a:ea typeface="IBM Plex Sans"/>
                <a:cs typeface="IBM Plex Sans"/>
              </a:endParaRPr>
            </a:p>
          </p:txBody>
        </p:sp>
      </p:grpSp>
      <p:grpSp>
        <p:nvGrpSpPr>
          <p:cNvPr id="85" name="node02"/>
          <p:cNvGrpSpPr/>
          <p:nvPr/>
        </p:nvGrpSpPr>
        <p:grpSpPr>
          <a:xfrm>
            <a:off x="723900" y="3886200"/>
            <a:ext cx="228600" cy="228600"/>
            <a:chOff x="723900" y="3886200"/>
            <a:chExt cx="228600" cy="228600"/>
          </a:xfrm>
        </p:grpSpPr>
        <p:sp>
          <p:nvSpPr>
            <p:cNvPr id="12" name="node02.surface"/>
            <p:cNvSpPr/>
            <p:nvPr/>
          </p:nvSpPr>
          <p:spPr>
            <a:xfrm>
              <a:off x="723900" y="3886200"/>
              <a:ext cx="228600" cy="228600"/>
            </a:xfrm>
            <a:prstGeom prst="rect">
              <a:avLst/>
            </a:prstGeom>
            <a:solidFill>
              <a:srgbClr val="070154"/>
            </a:solidFill>
            <a:ln>
              <a:noFill/>
            </a:ln>
          </p:spPr>
        </p:sp>
      </p:grpSp>
      <p:grpSp>
        <p:nvGrpSpPr>
          <p:cNvPr id="86" name="node03"/>
          <p:cNvGrpSpPr/>
          <p:nvPr/>
        </p:nvGrpSpPr>
        <p:grpSpPr>
          <a:xfrm>
            <a:off x="1066800" y="3886200"/>
            <a:ext cx="457200" cy="190500"/>
            <a:chOff x="1066800" y="3886200"/>
            <a:chExt cx="457200" cy="190500"/>
          </a:xfrm>
        </p:grpSpPr>
        <p:sp>
          <p:nvSpPr>
            <p:cNvPr id="13" name="node03.text"/>
            <p:cNvSpPr/>
            <p:nvPr/>
          </p:nvSpPr>
          <p:spPr>
            <a:xfrm>
              <a:off x="1066800" y="3886200"/>
              <a:ext cx="457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Live</a:t>
              </a:r>
              <a:endParaRPr lang="en-US" sz="1100" spc="0" kern="0" b="0" i="0" dirty="0">
                <a:solidFill>
                  <a:srgbClr val="50658E"/>
                </a:solidFill>
                <a:latin typeface="IBM Plex Sans"/>
                <a:ea typeface="IBM Plex Sans"/>
                <a:cs typeface="IBM Plex Sans"/>
              </a:endParaRPr>
            </a:p>
          </p:txBody>
        </p:sp>
      </p:grpSp>
      <p:grpSp>
        <p:nvGrpSpPr>
          <p:cNvPr id="87" name="node04"/>
          <p:cNvGrpSpPr/>
          <p:nvPr/>
        </p:nvGrpSpPr>
        <p:grpSpPr>
          <a:xfrm>
            <a:off x="723900" y="4343400"/>
            <a:ext cx="228600" cy="228600"/>
            <a:chOff x="723900" y="4343400"/>
            <a:chExt cx="228600" cy="228600"/>
          </a:xfrm>
        </p:grpSpPr>
        <p:sp>
          <p:nvSpPr>
            <p:cNvPr id="14" name="node04.surface"/>
            <p:cNvSpPr/>
            <p:nvPr/>
          </p:nvSpPr>
          <p:spPr>
            <a:xfrm>
              <a:off x="723900" y="4343400"/>
              <a:ext cx="228600" cy="228600"/>
            </a:xfrm>
            <a:prstGeom prst="rect">
              <a:avLst/>
            </a:prstGeom>
            <a:solidFill>
              <a:srgbClr val="CED7E6"/>
            </a:solidFill>
            <a:ln>
              <a:noFill/>
            </a:ln>
          </p:spPr>
        </p:sp>
      </p:grpSp>
      <p:grpSp>
        <p:nvGrpSpPr>
          <p:cNvPr id="88" name="node05"/>
          <p:cNvGrpSpPr/>
          <p:nvPr/>
        </p:nvGrpSpPr>
        <p:grpSpPr>
          <a:xfrm>
            <a:off x="1066800" y="4343400"/>
            <a:ext cx="2286000" cy="190500"/>
            <a:chOff x="1066800" y="4343400"/>
            <a:chExt cx="2286000" cy="190500"/>
          </a:xfrm>
        </p:grpSpPr>
        <p:sp>
          <p:nvSpPr>
            <p:cNvPr id="15" name="node05.text"/>
            <p:cNvSpPr/>
            <p:nvPr/>
          </p:nvSpPr>
          <p:spPr>
            <a:xfrm>
              <a:off x="1066800" y="43434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In build</a:t>
              </a:r>
              <a:endParaRPr lang="en-US" sz="1100" spc="0" kern="0" b="0" i="0" dirty="0">
                <a:solidFill>
                  <a:srgbClr val="50658E"/>
                </a:solidFill>
                <a:latin typeface="IBM Plex Sans"/>
                <a:ea typeface="IBM Plex Sans"/>
                <a:cs typeface="IBM Plex Sans"/>
              </a:endParaRPr>
            </a:p>
          </p:txBody>
        </p:sp>
      </p:grpSp>
      <p:grpSp>
        <p:nvGrpSpPr>
          <p:cNvPr id="89" name="node06"/>
          <p:cNvGrpSpPr/>
          <p:nvPr/>
        </p:nvGrpSpPr>
        <p:grpSpPr>
          <a:xfrm>
            <a:off x="723900" y="4800600"/>
            <a:ext cx="228600" cy="228600"/>
            <a:chOff x="723900" y="4800600"/>
            <a:chExt cx="228600" cy="228600"/>
          </a:xfrm>
        </p:grpSpPr>
        <p:sp>
          <p:nvSpPr>
            <p:cNvPr id="16" name="node06.surface"/>
            <p:cNvSpPr/>
            <p:nvPr/>
          </p:nvSpPr>
          <p:spPr>
            <a:xfrm>
              <a:off x="723900" y="4800600"/>
              <a:ext cx="228600" cy="228600"/>
            </a:xfrm>
            <a:prstGeom prst="rect">
              <a:avLst/>
            </a:prstGeom>
            <a:solidFill>
              <a:srgbClr val="E8EEF8"/>
            </a:solidFill>
            <a:ln>
              <a:noFill/>
            </a:ln>
          </p:spPr>
        </p:sp>
      </p:grpSp>
      <p:grpSp>
        <p:nvGrpSpPr>
          <p:cNvPr id="90" name="node07"/>
          <p:cNvGrpSpPr/>
          <p:nvPr/>
        </p:nvGrpSpPr>
        <p:grpSpPr>
          <a:xfrm>
            <a:off x="1066800" y="4800600"/>
            <a:ext cx="2286000" cy="190500"/>
            <a:chOff x="1066800" y="4800600"/>
            <a:chExt cx="2286000" cy="190500"/>
          </a:xfrm>
        </p:grpSpPr>
        <p:sp>
          <p:nvSpPr>
            <p:cNvPr id="17" name="node07.text"/>
            <p:cNvSpPr/>
            <p:nvPr/>
          </p:nvSpPr>
          <p:spPr>
            <a:xfrm>
              <a:off x="1066800" y="48006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Planned 2026</a:t>
              </a:r>
              <a:endParaRPr lang="en-US" sz="1100" spc="0" kern="0" b="0" i="0" dirty="0">
                <a:solidFill>
                  <a:srgbClr val="50658E"/>
                </a:solidFill>
                <a:latin typeface="IBM Plex Sans"/>
                <a:ea typeface="IBM Plex Sans"/>
                <a:cs typeface="IBM Plex Sans"/>
              </a:endParaRPr>
            </a:p>
          </p:txBody>
        </p:sp>
      </p:grpSp>
      <p:grpSp>
        <p:nvGrpSpPr>
          <p:cNvPr id="91" name="node08"/>
          <p:cNvGrpSpPr/>
          <p:nvPr/>
        </p:nvGrpSpPr>
        <p:grpSpPr>
          <a:xfrm>
            <a:off x="723900" y="5257800"/>
            <a:ext cx="228600" cy="228600"/>
            <a:chOff x="723900" y="5257800"/>
            <a:chExt cx="228600" cy="228600"/>
          </a:xfrm>
        </p:grpSpPr>
        <p:sp>
          <p:nvSpPr>
            <p:cNvPr id="18" name="node08.surface"/>
            <p:cNvSpPr/>
            <p:nvPr/>
          </p:nvSpPr>
          <p:spPr>
            <a:xfrm>
              <a:off x="730250" y="5264150"/>
              <a:ext cx="215900" cy="215900"/>
            </a:xfrm>
            <a:prstGeom prst="rect">
              <a:avLst/>
            </a:prstGeom>
            <a:solidFill>
              <a:srgbClr val="FFFFFF"/>
            </a:solidFill>
            <a:ln w="12700">
              <a:solidFill>
                <a:srgbClr val="CED7E6"/>
              </a:solidFill>
              <a:prstDash val="solid"/>
            </a:ln>
          </p:spPr>
        </p:sp>
      </p:grpSp>
      <p:grpSp>
        <p:nvGrpSpPr>
          <p:cNvPr id="92" name="node09"/>
          <p:cNvGrpSpPr/>
          <p:nvPr/>
        </p:nvGrpSpPr>
        <p:grpSpPr>
          <a:xfrm>
            <a:off x="1066800" y="5257800"/>
            <a:ext cx="2286000" cy="190500"/>
            <a:chOff x="1066800" y="5257800"/>
            <a:chExt cx="2286000" cy="190500"/>
          </a:xfrm>
        </p:grpSpPr>
        <p:sp>
          <p:nvSpPr>
            <p:cNvPr id="19" name="node09.text"/>
            <p:cNvSpPr/>
            <p:nvPr/>
          </p:nvSpPr>
          <p:spPr>
            <a:xfrm>
              <a:off x="1066800" y="52578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Not started</a:t>
              </a:r>
              <a:endParaRPr lang="en-US" sz="1100" spc="0" kern="0" b="0" i="0" dirty="0">
                <a:solidFill>
                  <a:srgbClr val="50658E"/>
                </a:solidFill>
                <a:latin typeface="IBM Plex Sans"/>
                <a:ea typeface="IBM Plex Sans"/>
                <a:cs typeface="IBM Plex Sans"/>
              </a:endParaRPr>
            </a:p>
          </p:txBody>
        </p:sp>
      </p:grpSp>
      <p:grpSp>
        <p:nvGrpSpPr>
          <p:cNvPr id="93" name="node10"/>
          <p:cNvGrpSpPr/>
          <p:nvPr/>
        </p:nvGrpSpPr>
        <p:grpSpPr>
          <a:xfrm>
            <a:off x="4381500" y="457200"/>
            <a:ext cx="1600200" cy="266700"/>
            <a:chOff x="4381500" y="457200"/>
            <a:chExt cx="1600200" cy="266700"/>
          </a:xfrm>
        </p:grpSpPr>
        <p:sp>
          <p:nvSpPr>
            <p:cNvPr id="20" name="node10.text"/>
            <p:cNvSpPr/>
            <p:nvPr/>
          </p:nvSpPr>
          <p:spPr>
            <a:xfrm>
              <a:off x="4381500" y="4572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Access</a:t>
              </a:r>
              <a:endParaRPr lang="en-US" sz="1600" spc="-16" kern="0" b="0" i="0" dirty="0">
                <a:solidFill>
                  <a:srgbClr val="070154"/>
                </a:solidFill>
                <a:latin typeface="IBM Plex Sans SemiBold"/>
                <a:ea typeface="IBM Plex Sans SemiBold"/>
                <a:cs typeface="IBM Plex Sans SemiBold"/>
              </a:endParaRPr>
            </a:p>
          </p:txBody>
        </p:sp>
      </p:grpSp>
      <p:sp>
        <p:nvSpPr>
          <p:cNvPr id="21" name="node11"/>
          <p:cNvSpPr/>
          <p:nvPr/>
        </p:nvSpPr>
        <p:spPr>
          <a:xfrm>
            <a:off x="4381500" y="914400"/>
            <a:ext cx="1600200" cy="19050"/>
          </a:xfrm>
          <a:prstGeom prst="rect">
            <a:avLst/>
          </a:prstGeom>
          <a:solidFill>
            <a:srgbClr val="CED7E6"/>
          </a:solidFill>
          <a:ln>
            <a:noFill/>
          </a:ln>
        </p:spPr>
      </p:sp>
      <p:grpSp>
        <p:nvGrpSpPr>
          <p:cNvPr id="94" name="node12"/>
          <p:cNvGrpSpPr/>
          <p:nvPr/>
        </p:nvGrpSpPr>
        <p:grpSpPr>
          <a:xfrm>
            <a:off x="4381500" y="1143000"/>
            <a:ext cx="1600200" cy="571500"/>
            <a:chOff x="4381500" y="1143000"/>
            <a:chExt cx="1600200" cy="571500"/>
          </a:xfrm>
        </p:grpSpPr>
        <p:sp>
          <p:nvSpPr>
            <p:cNvPr id="22" name="node12.surface"/>
            <p:cNvSpPr/>
            <p:nvPr/>
          </p:nvSpPr>
          <p:spPr>
            <a:xfrm>
              <a:off x="4381500" y="1143000"/>
              <a:ext cx="1600200" cy="571500"/>
            </a:xfrm>
            <a:prstGeom prst="rect">
              <a:avLst/>
            </a:prstGeom>
            <a:solidFill>
              <a:srgbClr val="070154"/>
            </a:solidFill>
            <a:ln>
              <a:noFill/>
            </a:ln>
          </p:spPr>
        </p:sp>
        <p:sp>
          <p:nvSpPr>
            <p:cNvPr id="23" name="node12.text"/>
            <p:cNvSpPr/>
            <p:nvPr/>
          </p:nvSpPr>
          <p:spPr>
            <a:xfrm>
              <a:off x="4533900" y="13335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Find a provider</a:t>
              </a:r>
              <a:endParaRPr lang="en-US" sz="1100" spc="0" kern="0" b="0" i="0" dirty="0">
                <a:solidFill>
                  <a:srgbClr val="FFFFFF"/>
                </a:solidFill>
                <a:latin typeface="IBM Plex Sans"/>
                <a:ea typeface="IBM Plex Sans"/>
                <a:cs typeface="IBM Plex Sans"/>
              </a:endParaRPr>
            </a:p>
          </p:txBody>
        </p:sp>
      </p:grpSp>
      <p:grpSp>
        <p:nvGrpSpPr>
          <p:cNvPr id="95" name="node13"/>
          <p:cNvGrpSpPr/>
          <p:nvPr/>
        </p:nvGrpSpPr>
        <p:grpSpPr>
          <a:xfrm>
            <a:off x="4381500" y="1828800"/>
            <a:ext cx="1600200" cy="571500"/>
            <a:chOff x="4381500" y="1828800"/>
            <a:chExt cx="1600200" cy="571500"/>
          </a:xfrm>
        </p:grpSpPr>
        <p:sp>
          <p:nvSpPr>
            <p:cNvPr id="24" name="node13.surface"/>
            <p:cNvSpPr/>
            <p:nvPr/>
          </p:nvSpPr>
          <p:spPr>
            <a:xfrm>
              <a:off x="4381500" y="1828800"/>
              <a:ext cx="1600200" cy="571500"/>
            </a:xfrm>
            <a:prstGeom prst="rect">
              <a:avLst/>
            </a:prstGeom>
            <a:solidFill>
              <a:srgbClr val="070154"/>
            </a:solidFill>
            <a:ln>
              <a:noFill/>
            </a:ln>
          </p:spPr>
        </p:sp>
        <p:sp>
          <p:nvSpPr>
            <p:cNvPr id="25" name="node13.text"/>
            <p:cNvSpPr/>
            <p:nvPr/>
          </p:nvSpPr>
          <p:spPr>
            <a:xfrm>
              <a:off x="4533900" y="20193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Self-scheduling</a:t>
              </a:r>
              <a:endParaRPr lang="en-US" sz="1100" spc="0" kern="0" b="0" i="0" dirty="0">
                <a:solidFill>
                  <a:srgbClr val="FFFFFF"/>
                </a:solidFill>
                <a:latin typeface="IBM Plex Sans"/>
                <a:ea typeface="IBM Plex Sans"/>
                <a:cs typeface="IBM Plex Sans"/>
              </a:endParaRPr>
            </a:p>
          </p:txBody>
        </p:sp>
      </p:grpSp>
      <p:grpSp>
        <p:nvGrpSpPr>
          <p:cNvPr id="96" name="node14"/>
          <p:cNvGrpSpPr/>
          <p:nvPr/>
        </p:nvGrpSpPr>
        <p:grpSpPr>
          <a:xfrm>
            <a:off x="4381500" y="2514600"/>
            <a:ext cx="1600200" cy="571500"/>
            <a:chOff x="4381500" y="2514600"/>
            <a:chExt cx="1600200" cy="571500"/>
          </a:xfrm>
        </p:grpSpPr>
        <p:sp>
          <p:nvSpPr>
            <p:cNvPr id="26" name="node14.surface"/>
            <p:cNvSpPr/>
            <p:nvPr/>
          </p:nvSpPr>
          <p:spPr>
            <a:xfrm>
              <a:off x="4381500" y="2514600"/>
              <a:ext cx="1600200" cy="571500"/>
            </a:xfrm>
            <a:prstGeom prst="rect">
              <a:avLst/>
            </a:prstGeom>
            <a:solidFill>
              <a:srgbClr val="CED7E6"/>
            </a:solidFill>
            <a:ln>
              <a:noFill/>
            </a:ln>
          </p:spPr>
        </p:sp>
        <p:sp>
          <p:nvSpPr>
            <p:cNvPr id="27" name="node14.text"/>
            <p:cNvSpPr/>
            <p:nvPr/>
          </p:nvSpPr>
          <p:spPr>
            <a:xfrm>
              <a:off x="4533900" y="2609850"/>
              <a:ext cx="1295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Waitlist and cancellations</a:t>
              </a:r>
              <a:endParaRPr lang="en-US" sz="1100" spc="0" kern="0" b="0" i="0" dirty="0">
                <a:solidFill>
                  <a:srgbClr val="070154"/>
                </a:solidFill>
                <a:latin typeface="IBM Plex Sans"/>
                <a:ea typeface="IBM Plex Sans"/>
                <a:cs typeface="IBM Plex Sans"/>
              </a:endParaRPr>
            </a:p>
          </p:txBody>
        </p:sp>
      </p:grpSp>
      <p:grpSp>
        <p:nvGrpSpPr>
          <p:cNvPr id="97" name="node15"/>
          <p:cNvGrpSpPr/>
          <p:nvPr/>
        </p:nvGrpSpPr>
        <p:grpSpPr>
          <a:xfrm>
            <a:off x="4381500" y="3200400"/>
            <a:ext cx="1600200" cy="571500"/>
            <a:chOff x="4381500" y="3200400"/>
            <a:chExt cx="1600200" cy="571500"/>
          </a:xfrm>
        </p:grpSpPr>
        <p:sp>
          <p:nvSpPr>
            <p:cNvPr id="28" name="node15.surface"/>
            <p:cNvSpPr/>
            <p:nvPr/>
          </p:nvSpPr>
          <p:spPr>
            <a:xfrm>
              <a:off x="4381500" y="3200400"/>
              <a:ext cx="1600200" cy="571500"/>
            </a:xfrm>
            <a:prstGeom prst="rect">
              <a:avLst/>
            </a:prstGeom>
            <a:solidFill>
              <a:srgbClr val="070154"/>
            </a:solidFill>
            <a:ln>
              <a:noFill/>
            </a:ln>
          </p:spPr>
        </p:sp>
        <p:sp>
          <p:nvSpPr>
            <p:cNvPr id="29" name="node15.text"/>
            <p:cNvSpPr/>
            <p:nvPr/>
          </p:nvSpPr>
          <p:spPr>
            <a:xfrm>
              <a:off x="4533900" y="33909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Virtual visit join</a:t>
              </a:r>
              <a:endParaRPr lang="en-US" sz="1100" spc="0" kern="0" b="0" i="0" dirty="0">
                <a:solidFill>
                  <a:srgbClr val="FFFFFF"/>
                </a:solidFill>
                <a:latin typeface="IBM Plex Sans"/>
                <a:ea typeface="IBM Plex Sans"/>
                <a:cs typeface="IBM Plex Sans"/>
              </a:endParaRPr>
            </a:p>
          </p:txBody>
        </p:sp>
      </p:grpSp>
      <p:grpSp>
        <p:nvGrpSpPr>
          <p:cNvPr id="98" name="node16"/>
          <p:cNvGrpSpPr/>
          <p:nvPr/>
        </p:nvGrpSpPr>
        <p:grpSpPr>
          <a:xfrm>
            <a:off x="4381500" y="3886200"/>
            <a:ext cx="1600200" cy="571500"/>
            <a:chOff x="4381500" y="3886200"/>
            <a:chExt cx="1600200" cy="571500"/>
          </a:xfrm>
        </p:grpSpPr>
        <p:sp>
          <p:nvSpPr>
            <p:cNvPr id="30" name="node16.surface"/>
            <p:cNvSpPr/>
            <p:nvPr/>
          </p:nvSpPr>
          <p:spPr>
            <a:xfrm>
              <a:off x="4381500" y="3886200"/>
              <a:ext cx="1600200" cy="571500"/>
            </a:xfrm>
            <a:prstGeom prst="rect">
              <a:avLst/>
            </a:prstGeom>
            <a:solidFill>
              <a:srgbClr val="E8EEF8"/>
            </a:solidFill>
            <a:ln>
              <a:noFill/>
            </a:ln>
          </p:spPr>
        </p:sp>
        <p:sp>
          <p:nvSpPr>
            <p:cNvPr id="31" name="node16.text"/>
            <p:cNvSpPr/>
            <p:nvPr/>
          </p:nvSpPr>
          <p:spPr>
            <a:xfrm>
              <a:off x="4533900" y="40767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Pre-visit forms</a:t>
              </a:r>
              <a:endParaRPr lang="en-US" sz="1100" spc="0" kern="0" b="0" i="0" dirty="0">
                <a:solidFill>
                  <a:srgbClr val="070154"/>
                </a:solidFill>
                <a:latin typeface="IBM Plex Sans"/>
                <a:ea typeface="IBM Plex Sans"/>
                <a:cs typeface="IBM Plex Sans"/>
              </a:endParaRPr>
            </a:p>
          </p:txBody>
        </p:sp>
      </p:grpSp>
      <p:grpSp>
        <p:nvGrpSpPr>
          <p:cNvPr id="99" name="node17"/>
          <p:cNvGrpSpPr/>
          <p:nvPr/>
        </p:nvGrpSpPr>
        <p:grpSpPr>
          <a:xfrm>
            <a:off x="4381500" y="4572000"/>
            <a:ext cx="1600200" cy="571500"/>
            <a:chOff x="4381500" y="4572000"/>
            <a:chExt cx="1600200" cy="571500"/>
          </a:xfrm>
        </p:grpSpPr>
        <p:sp>
          <p:nvSpPr>
            <p:cNvPr id="32" name="node17.surface"/>
            <p:cNvSpPr/>
            <p:nvPr/>
          </p:nvSpPr>
          <p:spPr>
            <a:xfrm>
              <a:off x="4387850" y="4578350"/>
              <a:ext cx="1587500" cy="558800"/>
            </a:xfrm>
            <a:prstGeom prst="rect">
              <a:avLst/>
            </a:prstGeom>
            <a:solidFill>
              <a:srgbClr val="FFFFFF"/>
            </a:solidFill>
            <a:ln w="12700">
              <a:solidFill>
                <a:srgbClr val="CED7E6"/>
              </a:solidFill>
              <a:prstDash val="solid"/>
            </a:ln>
          </p:spPr>
        </p:sp>
        <p:sp>
          <p:nvSpPr>
            <p:cNvPr id="33" name="node17.text"/>
            <p:cNvSpPr/>
            <p:nvPr/>
          </p:nvSpPr>
          <p:spPr>
            <a:xfrm>
              <a:off x="4533900" y="47625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Kiosk check-in</a:t>
              </a:r>
              <a:endParaRPr lang="en-US" sz="1100" spc="0" kern="0" b="0" i="0" dirty="0">
                <a:solidFill>
                  <a:srgbClr val="070154"/>
                </a:solidFill>
                <a:latin typeface="IBM Plex Sans"/>
                <a:ea typeface="IBM Plex Sans"/>
                <a:cs typeface="IBM Plex Sans"/>
              </a:endParaRPr>
            </a:p>
          </p:txBody>
        </p:sp>
      </p:grpSp>
      <p:grpSp>
        <p:nvGrpSpPr>
          <p:cNvPr id="100" name="node18"/>
          <p:cNvGrpSpPr/>
          <p:nvPr/>
        </p:nvGrpSpPr>
        <p:grpSpPr>
          <a:xfrm>
            <a:off x="4381500" y="5257800"/>
            <a:ext cx="1600200" cy="571500"/>
            <a:chOff x="4381500" y="5257800"/>
            <a:chExt cx="1600200" cy="571500"/>
          </a:xfrm>
        </p:grpSpPr>
        <p:sp>
          <p:nvSpPr>
            <p:cNvPr id="34" name="node18.surface"/>
            <p:cNvSpPr/>
            <p:nvPr/>
          </p:nvSpPr>
          <p:spPr>
            <a:xfrm>
              <a:off x="4387850" y="5264150"/>
              <a:ext cx="1587500" cy="558800"/>
            </a:xfrm>
            <a:prstGeom prst="rect">
              <a:avLst/>
            </a:prstGeom>
            <a:solidFill>
              <a:srgbClr val="FFFFFF"/>
            </a:solidFill>
            <a:ln w="12700">
              <a:solidFill>
                <a:srgbClr val="CED7E6"/>
              </a:solidFill>
              <a:prstDash val="solid"/>
            </a:ln>
          </p:spPr>
        </p:sp>
        <p:sp>
          <p:nvSpPr>
            <p:cNvPr id="35" name="node18.text"/>
            <p:cNvSpPr/>
            <p:nvPr/>
          </p:nvSpPr>
          <p:spPr>
            <a:xfrm>
              <a:off x="4533900" y="54483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Wayfinding</a:t>
              </a:r>
              <a:endParaRPr lang="en-US" sz="1100" spc="0" kern="0" b="0" i="0" dirty="0">
                <a:solidFill>
                  <a:srgbClr val="070154"/>
                </a:solidFill>
                <a:latin typeface="IBM Plex Sans"/>
                <a:ea typeface="IBM Plex Sans"/>
                <a:cs typeface="IBM Plex Sans"/>
              </a:endParaRPr>
            </a:p>
          </p:txBody>
        </p:sp>
      </p:grpSp>
      <p:grpSp>
        <p:nvGrpSpPr>
          <p:cNvPr id="101" name="node19"/>
          <p:cNvGrpSpPr/>
          <p:nvPr/>
        </p:nvGrpSpPr>
        <p:grpSpPr>
          <a:xfrm>
            <a:off x="6210300" y="457200"/>
            <a:ext cx="1600200" cy="266700"/>
            <a:chOff x="6210300" y="457200"/>
            <a:chExt cx="1600200" cy="266700"/>
          </a:xfrm>
        </p:grpSpPr>
        <p:sp>
          <p:nvSpPr>
            <p:cNvPr id="36" name="node19.text"/>
            <p:cNvSpPr/>
            <p:nvPr/>
          </p:nvSpPr>
          <p:spPr>
            <a:xfrm>
              <a:off x="6210300" y="4572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Care</a:t>
              </a:r>
              <a:endParaRPr lang="en-US" sz="1600" spc="-16" kern="0" b="0" i="0" dirty="0">
                <a:solidFill>
                  <a:srgbClr val="070154"/>
                </a:solidFill>
                <a:latin typeface="IBM Plex Sans SemiBold"/>
                <a:ea typeface="IBM Plex Sans SemiBold"/>
                <a:cs typeface="IBM Plex Sans SemiBold"/>
              </a:endParaRPr>
            </a:p>
          </p:txBody>
        </p:sp>
      </p:grpSp>
      <p:sp>
        <p:nvSpPr>
          <p:cNvPr id="37" name="node20"/>
          <p:cNvSpPr/>
          <p:nvPr/>
        </p:nvSpPr>
        <p:spPr>
          <a:xfrm>
            <a:off x="6210300" y="914400"/>
            <a:ext cx="1600200" cy="19050"/>
          </a:xfrm>
          <a:prstGeom prst="rect">
            <a:avLst/>
          </a:prstGeom>
          <a:solidFill>
            <a:srgbClr val="CED7E6"/>
          </a:solidFill>
          <a:ln>
            <a:noFill/>
          </a:ln>
        </p:spPr>
      </p:sp>
      <p:grpSp>
        <p:nvGrpSpPr>
          <p:cNvPr id="102" name="node21"/>
          <p:cNvGrpSpPr/>
          <p:nvPr/>
        </p:nvGrpSpPr>
        <p:grpSpPr>
          <a:xfrm>
            <a:off x="6210300" y="1143000"/>
            <a:ext cx="1600200" cy="571500"/>
            <a:chOff x="6210300" y="1143000"/>
            <a:chExt cx="1600200" cy="571500"/>
          </a:xfrm>
        </p:grpSpPr>
        <p:sp>
          <p:nvSpPr>
            <p:cNvPr id="38" name="node21.surface"/>
            <p:cNvSpPr/>
            <p:nvPr/>
          </p:nvSpPr>
          <p:spPr>
            <a:xfrm>
              <a:off x="6210300" y="1143000"/>
              <a:ext cx="1600200" cy="571500"/>
            </a:xfrm>
            <a:prstGeom prst="rect">
              <a:avLst/>
            </a:prstGeom>
            <a:solidFill>
              <a:srgbClr val="CED7E6"/>
            </a:solidFill>
            <a:ln>
              <a:noFill/>
            </a:ln>
          </p:spPr>
        </p:sp>
        <p:sp>
          <p:nvSpPr>
            <p:cNvPr id="39" name="node21.text"/>
            <p:cNvSpPr/>
            <p:nvPr/>
          </p:nvSpPr>
          <p:spPr>
            <a:xfrm>
              <a:off x="6362700" y="13335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Care plans</a:t>
              </a:r>
              <a:endParaRPr lang="en-US" sz="1100" spc="0" kern="0" b="0" i="0" dirty="0">
                <a:solidFill>
                  <a:srgbClr val="070154"/>
                </a:solidFill>
                <a:latin typeface="IBM Plex Sans"/>
                <a:ea typeface="IBM Plex Sans"/>
                <a:cs typeface="IBM Plex Sans"/>
              </a:endParaRPr>
            </a:p>
          </p:txBody>
        </p:sp>
      </p:grpSp>
      <p:grpSp>
        <p:nvGrpSpPr>
          <p:cNvPr id="103" name="node22"/>
          <p:cNvGrpSpPr/>
          <p:nvPr/>
        </p:nvGrpSpPr>
        <p:grpSpPr>
          <a:xfrm>
            <a:off x="6210300" y="1828800"/>
            <a:ext cx="1600200" cy="571500"/>
            <a:chOff x="6210300" y="1828800"/>
            <a:chExt cx="1600200" cy="571500"/>
          </a:xfrm>
        </p:grpSpPr>
        <p:sp>
          <p:nvSpPr>
            <p:cNvPr id="40" name="node22.surface"/>
            <p:cNvSpPr/>
            <p:nvPr/>
          </p:nvSpPr>
          <p:spPr>
            <a:xfrm>
              <a:off x="6210300" y="1828800"/>
              <a:ext cx="1600200" cy="571500"/>
            </a:xfrm>
            <a:prstGeom prst="rect">
              <a:avLst/>
            </a:prstGeom>
            <a:solidFill>
              <a:srgbClr val="070154"/>
            </a:solidFill>
            <a:ln>
              <a:noFill/>
            </a:ln>
          </p:spPr>
        </p:sp>
        <p:sp>
          <p:nvSpPr>
            <p:cNvPr id="41" name="node22.text"/>
            <p:cNvSpPr/>
            <p:nvPr/>
          </p:nvSpPr>
          <p:spPr>
            <a:xfrm>
              <a:off x="6362700" y="20193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Medication list</a:t>
              </a:r>
              <a:endParaRPr lang="en-US" sz="1100" spc="0" kern="0" b="0" i="0" dirty="0">
                <a:solidFill>
                  <a:srgbClr val="FFFFFF"/>
                </a:solidFill>
                <a:latin typeface="IBM Plex Sans"/>
                <a:ea typeface="IBM Plex Sans"/>
                <a:cs typeface="IBM Plex Sans"/>
              </a:endParaRPr>
            </a:p>
          </p:txBody>
        </p:sp>
      </p:grpSp>
      <p:grpSp>
        <p:nvGrpSpPr>
          <p:cNvPr id="104" name="node23"/>
          <p:cNvGrpSpPr/>
          <p:nvPr/>
        </p:nvGrpSpPr>
        <p:grpSpPr>
          <a:xfrm>
            <a:off x="6210300" y="2514600"/>
            <a:ext cx="1600200" cy="571500"/>
            <a:chOff x="6210300" y="2514600"/>
            <a:chExt cx="1600200" cy="571500"/>
          </a:xfrm>
        </p:grpSpPr>
        <p:sp>
          <p:nvSpPr>
            <p:cNvPr id="42" name="node23.surface"/>
            <p:cNvSpPr/>
            <p:nvPr/>
          </p:nvSpPr>
          <p:spPr>
            <a:xfrm>
              <a:off x="6210300" y="2514600"/>
              <a:ext cx="1600200" cy="571500"/>
            </a:xfrm>
            <a:prstGeom prst="rect">
              <a:avLst/>
            </a:prstGeom>
            <a:solidFill>
              <a:srgbClr val="070154"/>
            </a:solidFill>
            <a:ln>
              <a:noFill/>
            </a:ln>
          </p:spPr>
        </p:sp>
        <p:sp>
          <p:nvSpPr>
            <p:cNvPr id="43" name="node23.text"/>
            <p:cNvSpPr/>
            <p:nvPr/>
          </p:nvSpPr>
          <p:spPr>
            <a:xfrm>
              <a:off x="6362700" y="27051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Lab results</a:t>
              </a:r>
              <a:endParaRPr lang="en-US" sz="1100" spc="0" kern="0" b="0" i="0" dirty="0">
                <a:solidFill>
                  <a:srgbClr val="FFFFFF"/>
                </a:solidFill>
                <a:latin typeface="IBM Plex Sans"/>
                <a:ea typeface="IBM Plex Sans"/>
                <a:cs typeface="IBM Plex Sans"/>
              </a:endParaRPr>
            </a:p>
          </p:txBody>
        </p:sp>
      </p:grpSp>
      <p:grpSp>
        <p:nvGrpSpPr>
          <p:cNvPr id="105" name="node24"/>
          <p:cNvGrpSpPr/>
          <p:nvPr/>
        </p:nvGrpSpPr>
        <p:grpSpPr>
          <a:xfrm>
            <a:off x="6210300" y="3200400"/>
            <a:ext cx="1600200" cy="571500"/>
            <a:chOff x="6210300" y="3200400"/>
            <a:chExt cx="1600200" cy="571500"/>
          </a:xfrm>
        </p:grpSpPr>
        <p:sp>
          <p:nvSpPr>
            <p:cNvPr id="44" name="node24.surface"/>
            <p:cNvSpPr/>
            <p:nvPr/>
          </p:nvSpPr>
          <p:spPr>
            <a:xfrm>
              <a:off x="6210300" y="3200400"/>
              <a:ext cx="1600200" cy="571500"/>
            </a:xfrm>
            <a:prstGeom prst="rect">
              <a:avLst/>
            </a:prstGeom>
            <a:solidFill>
              <a:srgbClr val="CED7E6"/>
            </a:solidFill>
            <a:ln>
              <a:noFill/>
            </a:ln>
          </p:spPr>
        </p:sp>
        <p:sp>
          <p:nvSpPr>
            <p:cNvPr id="45" name="node24.text"/>
            <p:cNvSpPr/>
            <p:nvPr/>
          </p:nvSpPr>
          <p:spPr>
            <a:xfrm>
              <a:off x="6362700" y="33909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Secure messaging</a:t>
              </a:r>
              <a:endParaRPr lang="en-US" sz="1100" spc="0" kern="0" b="0" i="0" dirty="0">
                <a:solidFill>
                  <a:srgbClr val="070154"/>
                </a:solidFill>
                <a:latin typeface="IBM Plex Sans"/>
                <a:ea typeface="IBM Plex Sans"/>
                <a:cs typeface="IBM Plex Sans"/>
              </a:endParaRPr>
            </a:p>
          </p:txBody>
        </p:sp>
      </p:grpSp>
      <p:grpSp>
        <p:nvGrpSpPr>
          <p:cNvPr id="106" name="node25"/>
          <p:cNvGrpSpPr/>
          <p:nvPr/>
        </p:nvGrpSpPr>
        <p:grpSpPr>
          <a:xfrm>
            <a:off x="6210300" y="3886200"/>
            <a:ext cx="1600200" cy="571500"/>
            <a:chOff x="6210300" y="3886200"/>
            <a:chExt cx="1600200" cy="571500"/>
          </a:xfrm>
        </p:grpSpPr>
        <p:sp>
          <p:nvSpPr>
            <p:cNvPr id="46" name="node25.surface"/>
            <p:cNvSpPr/>
            <p:nvPr/>
          </p:nvSpPr>
          <p:spPr>
            <a:xfrm>
              <a:off x="6210300" y="3886200"/>
              <a:ext cx="1600200" cy="571500"/>
            </a:xfrm>
            <a:prstGeom prst="rect">
              <a:avLst/>
            </a:prstGeom>
            <a:solidFill>
              <a:srgbClr val="E8EEF8"/>
            </a:solidFill>
            <a:ln>
              <a:noFill/>
            </a:ln>
          </p:spPr>
        </p:sp>
        <p:sp>
          <p:nvSpPr>
            <p:cNvPr id="47" name="node25.text"/>
            <p:cNvSpPr/>
            <p:nvPr/>
          </p:nvSpPr>
          <p:spPr>
            <a:xfrm>
              <a:off x="6362700" y="40767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Remote monitoring</a:t>
              </a:r>
              <a:endParaRPr lang="en-US" sz="1100" spc="0" kern="0" b="0" i="0" dirty="0">
                <a:solidFill>
                  <a:srgbClr val="070154"/>
                </a:solidFill>
                <a:latin typeface="IBM Plex Sans"/>
                <a:ea typeface="IBM Plex Sans"/>
                <a:cs typeface="IBM Plex Sans"/>
              </a:endParaRPr>
            </a:p>
          </p:txBody>
        </p:sp>
      </p:grpSp>
      <p:grpSp>
        <p:nvGrpSpPr>
          <p:cNvPr id="107" name="node26"/>
          <p:cNvGrpSpPr/>
          <p:nvPr/>
        </p:nvGrpSpPr>
        <p:grpSpPr>
          <a:xfrm>
            <a:off x="6210300" y="4572000"/>
            <a:ext cx="1600200" cy="571500"/>
            <a:chOff x="6210300" y="4572000"/>
            <a:chExt cx="1600200" cy="571500"/>
          </a:xfrm>
        </p:grpSpPr>
        <p:sp>
          <p:nvSpPr>
            <p:cNvPr id="48" name="node26.surface"/>
            <p:cNvSpPr/>
            <p:nvPr/>
          </p:nvSpPr>
          <p:spPr>
            <a:xfrm>
              <a:off x="6210300" y="4572000"/>
              <a:ext cx="1600200" cy="571500"/>
            </a:xfrm>
            <a:prstGeom prst="rect">
              <a:avLst/>
            </a:prstGeom>
            <a:solidFill>
              <a:srgbClr val="070154"/>
            </a:solidFill>
            <a:ln>
              <a:noFill/>
            </a:ln>
          </p:spPr>
        </p:sp>
        <p:sp>
          <p:nvSpPr>
            <p:cNvPr id="49" name="node26.text"/>
            <p:cNvSpPr/>
            <p:nvPr/>
          </p:nvSpPr>
          <p:spPr>
            <a:xfrm>
              <a:off x="6362700" y="47625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Visit summaries</a:t>
              </a:r>
              <a:endParaRPr lang="en-US" sz="1100" spc="0" kern="0" b="0" i="0" dirty="0">
                <a:solidFill>
                  <a:srgbClr val="FFFFFF"/>
                </a:solidFill>
                <a:latin typeface="IBM Plex Sans"/>
                <a:ea typeface="IBM Plex Sans"/>
                <a:cs typeface="IBM Plex Sans"/>
              </a:endParaRPr>
            </a:p>
          </p:txBody>
        </p:sp>
      </p:grpSp>
      <p:grpSp>
        <p:nvGrpSpPr>
          <p:cNvPr id="108" name="node27"/>
          <p:cNvGrpSpPr/>
          <p:nvPr/>
        </p:nvGrpSpPr>
        <p:grpSpPr>
          <a:xfrm>
            <a:off x="6210300" y="5257800"/>
            <a:ext cx="1600200" cy="571500"/>
            <a:chOff x="6210300" y="5257800"/>
            <a:chExt cx="1600200" cy="571500"/>
          </a:xfrm>
        </p:grpSpPr>
        <p:sp>
          <p:nvSpPr>
            <p:cNvPr id="50" name="node27.surface"/>
            <p:cNvSpPr/>
            <p:nvPr/>
          </p:nvSpPr>
          <p:spPr>
            <a:xfrm>
              <a:off x="6210300" y="5257800"/>
              <a:ext cx="1600200" cy="571500"/>
            </a:xfrm>
            <a:prstGeom prst="rect">
              <a:avLst/>
            </a:prstGeom>
            <a:solidFill>
              <a:srgbClr val="CED7E6"/>
            </a:solidFill>
            <a:ln>
              <a:noFill/>
            </a:ln>
          </p:spPr>
        </p:sp>
        <p:sp>
          <p:nvSpPr>
            <p:cNvPr id="51" name="node27.text"/>
            <p:cNvSpPr/>
            <p:nvPr/>
          </p:nvSpPr>
          <p:spPr>
            <a:xfrm>
              <a:off x="6362700" y="54483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Allergy list</a:t>
              </a:r>
              <a:endParaRPr lang="en-US" sz="1100" spc="0" kern="0" b="0" i="0" dirty="0">
                <a:solidFill>
                  <a:srgbClr val="070154"/>
                </a:solidFill>
                <a:latin typeface="IBM Plex Sans"/>
                <a:ea typeface="IBM Plex Sans"/>
                <a:cs typeface="IBM Plex Sans"/>
              </a:endParaRPr>
            </a:p>
          </p:txBody>
        </p:sp>
      </p:grpSp>
      <p:grpSp>
        <p:nvGrpSpPr>
          <p:cNvPr id="109" name="node28"/>
          <p:cNvGrpSpPr/>
          <p:nvPr/>
        </p:nvGrpSpPr>
        <p:grpSpPr>
          <a:xfrm>
            <a:off x="8039100" y="457200"/>
            <a:ext cx="1600200" cy="266700"/>
            <a:chOff x="8039100" y="457200"/>
            <a:chExt cx="1600200" cy="266700"/>
          </a:xfrm>
        </p:grpSpPr>
        <p:sp>
          <p:nvSpPr>
            <p:cNvPr id="52" name="node28.text"/>
            <p:cNvSpPr/>
            <p:nvPr/>
          </p:nvSpPr>
          <p:spPr>
            <a:xfrm>
              <a:off x="8039100" y="4572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Billing</a:t>
              </a:r>
              <a:endParaRPr lang="en-US" sz="1600" spc="-16" kern="0" b="0" i="0" dirty="0">
                <a:solidFill>
                  <a:srgbClr val="070154"/>
                </a:solidFill>
                <a:latin typeface="IBM Plex Sans SemiBold"/>
                <a:ea typeface="IBM Plex Sans SemiBold"/>
                <a:cs typeface="IBM Plex Sans SemiBold"/>
              </a:endParaRPr>
            </a:p>
          </p:txBody>
        </p:sp>
      </p:grpSp>
      <p:sp>
        <p:nvSpPr>
          <p:cNvPr id="53" name="node29"/>
          <p:cNvSpPr/>
          <p:nvPr/>
        </p:nvSpPr>
        <p:spPr>
          <a:xfrm>
            <a:off x="8039100" y="914400"/>
            <a:ext cx="1600200" cy="19050"/>
          </a:xfrm>
          <a:prstGeom prst="rect">
            <a:avLst/>
          </a:prstGeom>
          <a:solidFill>
            <a:srgbClr val="CED7E6"/>
          </a:solidFill>
          <a:ln>
            <a:noFill/>
          </a:ln>
        </p:spPr>
      </p:sp>
      <p:grpSp>
        <p:nvGrpSpPr>
          <p:cNvPr id="110" name="node30"/>
          <p:cNvGrpSpPr/>
          <p:nvPr/>
        </p:nvGrpSpPr>
        <p:grpSpPr>
          <a:xfrm>
            <a:off x="8039100" y="1143000"/>
            <a:ext cx="1600200" cy="571500"/>
            <a:chOff x="8039100" y="1143000"/>
            <a:chExt cx="1600200" cy="571500"/>
          </a:xfrm>
        </p:grpSpPr>
        <p:sp>
          <p:nvSpPr>
            <p:cNvPr id="54" name="node30.surface"/>
            <p:cNvSpPr/>
            <p:nvPr/>
          </p:nvSpPr>
          <p:spPr>
            <a:xfrm>
              <a:off x="8039100" y="1143000"/>
              <a:ext cx="1600200" cy="571500"/>
            </a:xfrm>
            <a:prstGeom prst="rect">
              <a:avLst/>
            </a:prstGeom>
            <a:solidFill>
              <a:srgbClr val="070154"/>
            </a:solidFill>
            <a:ln>
              <a:noFill/>
            </a:ln>
          </p:spPr>
        </p:sp>
        <p:sp>
          <p:nvSpPr>
            <p:cNvPr id="55" name="node30.text"/>
            <p:cNvSpPr/>
            <p:nvPr/>
          </p:nvSpPr>
          <p:spPr>
            <a:xfrm>
              <a:off x="8191500" y="13335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Statements</a:t>
              </a:r>
              <a:endParaRPr lang="en-US" sz="1100" spc="0" kern="0" b="0" i="0" dirty="0">
                <a:solidFill>
                  <a:srgbClr val="FFFFFF"/>
                </a:solidFill>
                <a:latin typeface="IBM Plex Sans"/>
                <a:ea typeface="IBM Plex Sans"/>
                <a:cs typeface="IBM Plex Sans"/>
              </a:endParaRPr>
            </a:p>
          </p:txBody>
        </p:sp>
      </p:grpSp>
      <p:grpSp>
        <p:nvGrpSpPr>
          <p:cNvPr id="111" name="node31"/>
          <p:cNvGrpSpPr/>
          <p:nvPr/>
        </p:nvGrpSpPr>
        <p:grpSpPr>
          <a:xfrm>
            <a:off x="8039100" y="1828800"/>
            <a:ext cx="1600200" cy="571500"/>
            <a:chOff x="8039100" y="1828800"/>
            <a:chExt cx="1600200" cy="571500"/>
          </a:xfrm>
        </p:grpSpPr>
        <p:sp>
          <p:nvSpPr>
            <p:cNvPr id="56" name="node31.surface"/>
            <p:cNvSpPr/>
            <p:nvPr/>
          </p:nvSpPr>
          <p:spPr>
            <a:xfrm>
              <a:off x="8039100" y="1828800"/>
              <a:ext cx="1600200" cy="571500"/>
            </a:xfrm>
            <a:prstGeom prst="rect">
              <a:avLst/>
            </a:prstGeom>
            <a:solidFill>
              <a:srgbClr val="070154"/>
            </a:solidFill>
            <a:ln>
              <a:noFill/>
            </a:ln>
          </p:spPr>
        </p:sp>
        <p:sp>
          <p:nvSpPr>
            <p:cNvPr id="57" name="node31.text"/>
            <p:cNvSpPr/>
            <p:nvPr/>
          </p:nvSpPr>
          <p:spPr>
            <a:xfrm>
              <a:off x="8191500" y="20193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Pay online</a:t>
              </a:r>
              <a:endParaRPr lang="en-US" sz="1100" spc="0" kern="0" b="0" i="0" dirty="0">
                <a:solidFill>
                  <a:srgbClr val="FFFFFF"/>
                </a:solidFill>
                <a:latin typeface="IBM Plex Sans"/>
                <a:ea typeface="IBM Plex Sans"/>
                <a:cs typeface="IBM Plex Sans"/>
              </a:endParaRPr>
            </a:p>
          </p:txBody>
        </p:sp>
      </p:grpSp>
      <p:grpSp>
        <p:nvGrpSpPr>
          <p:cNvPr id="112" name="node32"/>
          <p:cNvGrpSpPr/>
          <p:nvPr/>
        </p:nvGrpSpPr>
        <p:grpSpPr>
          <a:xfrm>
            <a:off x="8039100" y="2514600"/>
            <a:ext cx="1600200" cy="571500"/>
            <a:chOff x="8039100" y="2514600"/>
            <a:chExt cx="1600200" cy="571500"/>
          </a:xfrm>
        </p:grpSpPr>
        <p:sp>
          <p:nvSpPr>
            <p:cNvPr id="58" name="node32.surface"/>
            <p:cNvSpPr/>
            <p:nvPr/>
          </p:nvSpPr>
          <p:spPr>
            <a:xfrm>
              <a:off x="8039100" y="2514600"/>
              <a:ext cx="1600200" cy="571500"/>
            </a:xfrm>
            <a:prstGeom prst="rect">
              <a:avLst/>
            </a:prstGeom>
            <a:solidFill>
              <a:srgbClr val="CED7E6"/>
            </a:solidFill>
            <a:ln>
              <a:noFill/>
            </a:ln>
          </p:spPr>
        </p:sp>
        <p:sp>
          <p:nvSpPr>
            <p:cNvPr id="59" name="node32.text"/>
            <p:cNvSpPr/>
            <p:nvPr/>
          </p:nvSpPr>
          <p:spPr>
            <a:xfrm>
              <a:off x="8191500" y="27051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Payment plans</a:t>
              </a:r>
              <a:endParaRPr lang="en-US" sz="1100" spc="0" kern="0" b="0" i="0" dirty="0">
                <a:solidFill>
                  <a:srgbClr val="070154"/>
                </a:solidFill>
                <a:latin typeface="IBM Plex Sans"/>
                <a:ea typeface="IBM Plex Sans"/>
                <a:cs typeface="IBM Plex Sans"/>
              </a:endParaRPr>
            </a:p>
          </p:txBody>
        </p:sp>
      </p:grpSp>
      <p:grpSp>
        <p:nvGrpSpPr>
          <p:cNvPr id="113" name="node33"/>
          <p:cNvGrpSpPr/>
          <p:nvPr/>
        </p:nvGrpSpPr>
        <p:grpSpPr>
          <a:xfrm>
            <a:off x="8039100" y="3200400"/>
            <a:ext cx="1600200" cy="571500"/>
            <a:chOff x="8039100" y="3200400"/>
            <a:chExt cx="1600200" cy="571500"/>
          </a:xfrm>
        </p:grpSpPr>
        <p:sp>
          <p:nvSpPr>
            <p:cNvPr id="60" name="node33.surface"/>
            <p:cNvSpPr/>
            <p:nvPr/>
          </p:nvSpPr>
          <p:spPr>
            <a:xfrm>
              <a:off x="8039100" y="3200400"/>
              <a:ext cx="1600200" cy="571500"/>
            </a:xfrm>
            <a:prstGeom prst="rect">
              <a:avLst/>
            </a:prstGeom>
            <a:solidFill>
              <a:srgbClr val="E8EEF8"/>
            </a:solidFill>
            <a:ln>
              <a:noFill/>
            </a:ln>
          </p:spPr>
        </p:sp>
        <p:sp>
          <p:nvSpPr>
            <p:cNvPr id="61" name="node33.text"/>
            <p:cNvSpPr/>
            <p:nvPr/>
          </p:nvSpPr>
          <p:spPr>
            <a:xfrm>
              <a:off x="8191500" y="33909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Cost estimates</a:t>
              </a:r>
              <a:endParaRPr lang="en-US" sz="1100" spc="0" kern="0" b="0" i="0" dirty="0">
                <a:solidFill>
                  <a:srgbClr val="070154"/>
                </a:solidFill>
                <a:latin typeface="IBM Plex Sans"/>
                <a:ea typeface="IBM Plex Sans"/>
                <a:cs typeface="IBM Plex Sans"/>
              </a:endParaRPr>
            </a:p>
          </p:txBody>
        </p:sp>
      </p:grpSp>
      <p:grpSp>
        <p:nvGrpSpPr>
          <p:cNvPr id="114" name="node34"/>
          <p:cNvGrpSpPr/>
          <p:nvPr/>
        </p:nvGrpSpPr>
        <p:grpSpPr>
          <a:xfrm>
            <a:off x="8039100" y="3886200"/>
            <a:ext cx="1600200" cy="571500"/>
            <a:chOff x="8039100" y="3886200"/>
            <a:chExt cx="1600200" cy="571500"/>
          </a:xfrm>
        </p:grpSpPr>
        <p:sp>
          <p:nvSpPr>
            <p:cNvPr id="62" name="node34.surface"/>
            <p:cNvSpPr/>
            <p:nvPr/>
          </p:nvSpPr>
          <p:spPr>
            <a:xfrm>
              <a:off x="8039100" y="3886200"/>
              <a:ext cx="1600200" cy="571500"/>
            </a:xfrm>
            <a:prstGeom prst="rect">
              <a:avLst/>
            </a:prstGeom>
            <a:solidFill>
              <a:srgbClr val="CED7E6"/>
            </a:solidFill>
            <a:ln>
              <a:noFill/>
            </a:ln>
          </p:spPr>
        </p:sp>
        <p:sp>
          <p:nvSpPr>
            <p:cNvPr id="63" name="node34.text"/>
            <p:cNvSpPr/>
            <p:nvPr/>
          </p:nvSpPr>
          <p:spPr>
            <a:xfrm>
              <a:off x="8191500" y="3981450"/>
              <a:ext cx="1295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Insurance card capture</a:t>
              </a:r>
              <a:endParaRPr lang="en-US" sz="1100" spc="0" kern="0" b="0" i="0" dirty="0">
                <a:solidFill>
                  <a:srgbClr val="070154"/>
                </a:solidFill>
                <a:latin typeface="IBM Plex Sans"/>
                <a:ea typeface="IBM Plex Sans"/>
                <a:cs typeface="IBM Plex Sans"/>
              </a:endParaRPr>
            </a:p>
          </p:txBody>
        </p:sp>
      </p:grpSp>
      <p:grpSp>
        <p:nvGrpSpPr>
          <p:cNvPr id="115" name="node35"/>
          <p:cNvGrpSpPr/>
          <p:nvPr/>
        </p:nvGrpSpPr>
        <p:grpSpPr>
          <a:xfrm>
            <a:off x="8039100" y="4572000"/>
            <a:ext cx="1600200" cy="571500"/>
            <a:chOff x="8039100" y="4572000"/>
            <a:chExt cx="1600200" cy="571500"/>
          </a:xfrm>
        </p:grpSpPr>
        <p:sp>
          <p:nvSpPr>
            <p:cNvPr id="64" name="node35.surface"/>
            <p:cNvSpPr/>
            <p:nvPr/>
          </p:nvSpPr>
          <p:spPr>
            <a:xfrm>
              <a:off x="8039100" y="4572000"/>
              <a:ext cx="1600200" cy="571500"/>
            </a:xfrm>
            <a:prstGeom prst="rect">
              <a:avLst/>
            </a:prstGeom>
            <a:solidFill>
              <a:srgbClr val="E8EEF8"/>
            </a:solidFill>
            <a:ln>
              <a:noFill/>
            </a:ln>
          </p:spPr>
        </p:sp>
        <p:sp>
          <p:nvSpPr>
            <p:cNvPr id="65" name="node35.text"/>
            <p:cNvSpPr/>
            <p:nvPr/>
          </p:nvSpPr>
          <p:spPr>
            <a:xfrm>
              <a:off x="8191500" y="47625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Financial aid</a:t>
              </a:r>
              <a:endParaRPr lang="en-US" sz="1100" spc="0" kern="0" b="0" i="0" dirty="0">
                <a:solidFill>
                  <a:srgbClr val="070154"/>
                </a:solidFill>
                <a:latin typeface="IBM Plex Sans"/>
                <a:ea typeface="IBM Plex Sans"/>
                <a:cs typeface="IBM Plex Sans"/>
              </a:endParaRPr>
            </a:p>
          </p:txBody>
        </p:sp>
      </p:grpSp>
      <p:grpSp>
        <p:nvGrpSpPr>
          <p:cNvPr id="116" name="node36"/>
          <p:cNvGrpSpPr/>
          <p:nvPr/>
        </p:nvGrpSpPr>
        <p:grpSpPr>
          <a:xfrm>
            <a:off x="8039100" y="5257800"/>
            <a:ext cx="1600200" cy="571500"/>
            <a:chOff x="8039100" y="5257800"/>
            <a:chExt cx="1600200" cy="571500"/>
          </a:xfrm>
        </p:grpSpPr>
        <p:sp>
          <p:nvSpPr>
            <p:cNvPr id="66" name="node36.surface"/>
            <p:cNvSpPr/>
            <p:nvPr/>
          </p:nvSpPr>
          <p:spPr>
            <a:xfrm>
              <a:off x="8045450" y="5264150"/>
              <a:ext cx="1587500" cy="558800"/>
            </a:xfrm>
            <a:prstGeom prst="rect">
              <a:avLst/>
            </a:prstGeom>
            <a:solidFill>
              <a:srgbClr val="FFFFFF"/>
            </a:solidFill>
            <a:ln w="12700">
              <a:solidFill>
                <a:srgbClr val="CED7E6"/>
              </a:solidFill>
              <a:prstDash val="solid"/>
            </a:ln>
          </p:spPr>
        </p:sp>
        <p:sp>
          <p:nvSpPr>
            <p:cNvPr id="67" name="node36.text"/>
            <p:cNvSpPr/>
            <p:nvPr/>
          </p:nvSpPr>
          <p:spPr>
            <a:xfrm>
              <a:off x="8191500" y="54483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Autopay</a:t>
              </a:r>
              <a:endParaRPr lang="en-US" sz="1100" spc="0" kern="0" b="0" i="0" dirty="0">
                <a:solidFill>
                  <a:srgbClr val="070154"/>
                </a:solidFill>
                <a:latin typeface="IBM Plex Sans"/>
                <a:ea typeface="IBM Plex Sans"/>
                <a:cs typeface="IBM Plex Sans"/>
              </a:endParaRPr>
            </a:p>
          </p:txBody>
        </p:sp>
      </p:grpSp>
      <p:grpSp>
        <p:nvGrpSpPr>
          <p:cNvPr id="117" name="node37"/>
          <p:cNvGrpSpPr/>
          <p:nvPr/>
        </p:nvGrpSpPr>
        <p:grpSpPr>
          <a:xfrm>
            <a:off x="9867900" y="457200"/>
            <a:ext cx="1600200" cy="266700"/>
            <a:chOff x="9867900" y="457200"/>
            <a:chExt cx="1600200" cy="266700"/>
          </a:xfrm>
        </p:grpSpPr>
        <p:sp>
          <p:nvSpPr>
            <p:cNvPr id="68" name="node37.text"/>
            <p:cNvSpPr/>
            <p:nvPr/>
          </p:nvSpPr>
          <p:spPr>
            <a:xfrm>
              <a:off x="9867900" y="4572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Engagement</a:t>
              </a:r>
              <a:endParaRPr lang="en-US" sz="1600" spc="-16" kern="0" b="0" i="0" dirty="0">
                <a:solidFill>
                  <a:srgbClr val="070154"/>
                </a:solidFill>
                <a:latin typeface="IBM Plex Sans SemiBold"/>
                <a:ea typeface="IBM Plex Sans SemiBold"/>
                <a:cs typeface="IBM Plex Sans SemiBold"/>
              </a:endParaRPr>
            </a:p>
          </p:txBody>
        </p:sp>
      </p:grpSp>
      <p:sp>
        <p:nvSpPr>
          <p:cNvPr id="69" name="node38"/>
          <p:cNvSpPr/>
          <p:nvPr/>
        </p:nvSpPr>
        <p:spPr>
          <a:xfrm>
            <a:off x="9867900" y="914400"/>
            <a:ext cx="1600200" cy="19050"/>
          </a:xfrm>
          <a:prstGeom prst="rect">
            <a:avLst/>
          </a:prstGeom>
          <a:solidFill>
            <a:srgbClr val="CED7E6"/>
          </a:solidFill>
          <a:ln>
            <a:noFill/>
          </a:ln>
        </p:spPr>
      </p:sp>
      <p:grpSp>
        <p:nvGrpSpPr>
          <p:cNvPr id="118" name="node39"/>
          <p:cNvGrpSpPr/>
          <p:nvPr/>
        </p:nvGrpSpPr>
        <p:grpSpPr>
          <a:xfrm>
            <a:off x="9867900" y="1143000"/>
            <a:ext cx="1600200" cy="571500"/>
            <a:chOff x="9867900" y="1143000"/>
            <a:chExt cx="1600200" cy="571500"/>
          </a:xfrm>
        </p:grpSpPr>
        <p:sp>
          <p:nvSpPr>
            <p:cNvPr id="70" name="node39.surface"/>
            <p:cNvSpPr/>
            <p:nvPr/>
          </p:nvSpPr>
          <p:spPr>
            <a:xfrm>
              <a:off x="9867900" y="1143000"/>
              <a:ext cx="1600200" cy="571500"/>
            </a:xfrm>
            <a:prstGeom prst="rect">
              <a:avLst/>
            </a:prstGeom>
            <a:solidFill>
              <a:srgbClr val="070154"/>
            </a:solidFill>
            <a:ln>
              <a:noFill/>
            </a:ln>
          </p:spPr>
        </p:sp>
        <p:sp>
          <p:nvSpPr>
            <p:cNvPr id="71" name="node39.text"/>
            <p:cNvSpPr/>
            <p:nvPr/>
          </p:nvSpPr>
          <p:spPr>
            <a:xfrm>
              <a:off x="10020300" y="13335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Reminders</a:t>
              </a:r>
              <a:endParaRPr lang="en-US" sz="1100" spc="0" kern="0" b="0" i="0" dirty="0">
                <a:solidFill>
                  <a:srgbClr val="FFFFFF"/>
                </a:solidFill>
                <a:latin typeface="IBM Plex Sans"/>
                <a:ea typeface="IBM Plex Sans"/>
                <a:cs typeface="IBM Plex Sans"/>
              </a:endParaRPr>
            </a:p>
          </p:txBody>
        </p:sp>
      </p:grpSp>
      <p:grpSp>
        <p:nvGrpSpPr>
          <p:cNvPr id="119" name="node40"/>
          <p:cNvGrpSpPr/>
          <p:nvPr/>
        </p:nvGrpSpPr>
        <p:grpSpPr>
          <a:xfrm>
            <a:off x="9867900" y="1828800"/>
            <a:ext cx="1600200" cy="571500"/>
            <a:chOff x="9867900" y="1828800"/>
            <a:chExt cx="1600200" cy="571500"/>
          </a:xfrm>
        </p:grpSpPr>
        <p:sp>
          <p:nvSpPr>
            <p:cNvPr id="72" name="node40.surface"/>
            <p:cNvSpPr/>
            <p:nvPr/>
          </p:nvSpPr>
          <p:spPr>
            <a:xfrm>
              <a:off x="9867900" y="1828800"/>
              <a:ext cx="1600200" cy="571500"/>
            </a:xfrm>
            <a:prstGeom prst="rect">
              <a:avLst/>
            </a:prstGeom>
            <a:solidFill>
              <a:srgbClr val="CED7E6"/>
            </a:solidFill>
            <a:ln>
              <a:noFill/>
            </a:ln>
          </p:spPr>
        </p:sp>
        <p:sp>
          <p:nvSpPr>
            <p:cNvPr id="73" name="node40.text"/>
            <p:cNvSpPr/>
            <p:nvPr/>
          </p:nvSpPr>
          <p:spPr>
            <a:xfrm>
              <a:off x="10020300" y="20193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Proxy access</a:t>
              </a:r>
              <a:endParaRPr lang="en-US" sz="1100" spc="0" kern="0" b="0" i="0" dirty="0">
                <a:solidFill>
                  <a:srgbClr val="070154"/>
                </a:solidFill>
                <a:latin typeface="IBM Plex Sans"/>
                <a:ea typeface="IBM Plex Sans"/>
                <a:cs typeface="IBM Plex Sans"/>
              </a:endParaRPr>
            </a:p>
          </p:txBody>
        </p:sp>
      </p:grpSp>
      <p:grpSp>
        <p:nvGrpSpPr>
          <p:cNvPr id="120" name="node41"/>
          <p:cNvGrpSpPr/>
          <p:nvPr/>
        </p:nvGrpSpPr>
        <p:grpSpPr>
          <a:xfrm>
            <a:off x="9867900" y="2514600"/>
            <a:ext cx="1600200" cy="571500"/>
            <a:chOff x="9867900" y="2514600"/>
            <a:chExt cx="1600200" cy="571500"/>
          </a:xfrm>
        </p:grpSpPr>
        <p:sp>
          <p:nvSpPr>
            <p:cNvPr id="74" name="node41.surface"/>
            <p:cNvSpPr/>
            <p:nvPr/>
          </p:nvSpPr>
          <p:spPr>
            <a:xfrm>
              <a:off x="9867900" y="2514600"/>
              <a:ext cx="1600200" cy="571500"/>
            </a:xfrm>
            <a:prstGeom prst="rect">
              <a:avLst/>
            </a:prstGeom>
            <a:solidFill>
              <a:srgbClr val="E8EEF8"/>
            </a:solidFill>
            <a:ln>
              <a:noFill/>
            </a:ln>
          </p:spPr>
        </p:sp>
        <p:sp>
          <p:nvSpPr>
            <p:cNvPr id="75" name="node41.text"/>
            <p:cNvSpPr/>
            <p:nvPr/>
          </p:nvSpPr>
          <p:spPr>
            <a:xfrm>
              <a:off x="10020300" y="27051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Feedback surveys</a:t>
              </a:r>
              <a:endParaRPr lang="en-US" sz="1100" spc="0" kern="0" b="0" i="0" dirty="0">
                <a:solidFill>
                  <a:srgbClr val="070154"/>
                </a:solidFill>
                <a:latin typeface="IBM Plex Sans"/>
                <a:ea typeface="IBM Plex Sans"/>
                <a:cs typeface="IBM Plex Sans"/>
              </a:endParaRPr>
            </a:p>
          </p:txBody>
        </p:sp>
      </p:grpSp>
      <p:grpSp>
        <p:nvGrpSpPr>
          <p:cNvPr id="121" name="node42"/>
          <p:cNvGrpSpPr/>
          <p:nvPr/>
        </p:nvGrpSpPr>
        <p:grpSpPr>
          <a:xfrm>
            <a:off x="9867900" y="3200400"/>
            <a:ext cx="1600200" cy="571500"/>
            <a:chOff x="9867900" y="3200400"/>
            <a:chExt cx="1600200" cy="571500"/>
          </a:xfrm>
        </p:grpSpPr>
        <p:sp>
          <p:nvSpPr>
            <p:cNvPr id="76" name="node42.surface"/>
            <p:cNvSpPr/>
            <p:nvPr/>
          </p:nvSpPr>
          <p:spPr>
            <a:xfrm>
              <a:off x="9867900" y="3200400"/>
              <a:ext cx="1600200" cy="571500"/>
            </a:xfrm>
            <a:prstGeom prst="rect">
              <a:avLst/>
            </a:prstGeom>
            <a:solidFill>
              <a:srgbClr val="E8EEF8"/>
            </a:solidFill>
            <a:ln>
              <a:noFill/>
            </a:ln>
          </p:spPr>
        </p:sp>
        <p:sp>
          <p:nvSpPr>
            <p:cNvPr id="77" name="node42.text"/>
            <p:cNvSpPr/>
            <p:nvPr/>
          </p:nvSpPr>
          <p:spPr>
            <a:xfrm>
              <a:off x="10020300" y="33909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Health content</a:t>
              </a:r>
              <a:endParaRPr lang="en-US" sz="1100" spc="0" kern="0" b="0" i="0" dirty="0">
                <a:solidFill>
                  <a:srgbClr val="070154"/>
                </a:solidFill>
                <a:latin typeface="IBM Plex Sans"/>
                <a:ea typeface="IBM Plex Sans"/>
                <a:cs typeface="IBM Plex Sans"/>
              </a:endParaRPr>
            </a:p>
          </p:txBody>
        </p:sp>
      </p:grpSp>
      <p:grpSp>
        <p:nvGrpSpPr>
          <p:cNvPr id="122" name="node43"/>
          <p:cNvGrpSpPr/>
          <p:nvPr/>
        </p:nvGrpSpPr>
        <p:grpSpPr>
          <a:xfrm>
            <a:off x="9867900" y="3886200"/>
            <a:ext cx="1600200" cy="571500"/>
            <a:chOff x="9867900" y="3886200"/>
            <a:chExt cx="1600200" cy="571500"/>
          </a:xfrm>
        </p:grpSpPr>
        <p:sp>
          <p:nvSpPr>
            <p:cNvPr id="78" name="node43.surface"/>
            <p:cNvSpPr/>
            <p:nvPr/>
          </p:nvSpPr>
          <p:spPr>
            <a:xfrm>
              <a:off x="9874250" y="3892550"/>
              <a:ext cx="1587500" cy="558800"/>
            </a:xfrm>
            <a:prstGeom prst="rect">
              <a:avLst/>
            </a:prstGeom>
            <a:solidFill>
              <a:srgbClr val="FFFFFF"/>
            </a:solidFill>
            <a:ln w="12700">
              <a:solidFill>
                <a:srgbClr val="CED7E6"/>
              </a:solidFill>
              <a:prstDash val="solid"/>
            </a:ln>
          </p:spPr>
        </p:sp>
        <p:sp>
          <p:nvSpPr>
            <p:cNvPr id="79" name="node43.text"/>
            <p:cNvSpPr/>
            <p:nvPr/>
          </p:nvSpPr>
          <p:spPr>
            <a:xfrm>
              <a:off x="10020300" y="3981450"/>
              <a:ext cx="1295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Community programs</a:t>
              </a:r>
              <a:endParaRPr lang="en-US" sz="1100" spc="0" kern="0" b="0" i="0" dirty="0">
                <a:solidFill>
                  <a:srgbClr val="070154"/>
                </a:solidFill>
                <a:latin typeface="IBM Plex Sans"/>
                <a:ea typeface="IBM Plex Sans"/>
                <a:cs typeface="IBM Plex Sans"/>
              </a:endParaRPr>
            </a:p>
          </p:txBody>
        </p:sp>
      </p:grpSp>
      <p:grpSp>
        <p:nvGrpSpPr>
          <p:cNvPr id="123" name="node44"/>
          <p:cNvGrpSpPr/>
          <p:nvPr/>
        </p:nvGrpSpPr>
        <p:grpSpPr>
          <a:xfrm>
            <a:off x="9867900" y="4572000"/>
            <a:ext cx="1600200" cy="571500"/>
            <a:chOff x="9867900" y="4572000"/>
            <a:chExt cx="1600200" cy="571500"/>
          </a:xfrm>
        </p:grpSpPr>
        <p:sp>
          <p:nvSpPr>
            <p:cNvPr id="80" name="node44.surface"/>
            <p:cNvSpPr/>
            <p:nvPr/>
          </p:nvSpPr>
          <p:spPr>
            <a:xfrm>
              <a:off x="9867900" y="4572000"/>
              <a:ext cx="1600200" cy="571500"/>
            </a:xfrm>
            <a:prstGeom prst="rect">
              <a:avLst/>
            </a:prstGeom>
            <a:solidFill>
              <a:srgbClr val="070154"/>
            </a:solidFill>
            <a:ln>
              <a:noFill/>
            </a:ln>
          </p:spPr>
        </p:sp>
        <p:sp>
          <p:nvSpPr>
            <p:cNvPr id="81" name="node44.text"/>
            <p:cNvSpPr/>
            <p:nvPr/>
          </p:nvSpPr>
          <p:spPr>
            <a:xfrm>
              <a:off x="10020300" y="47625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Notifications</a:t>
              </a:r>
              <a:endParaRPr lang="en-US" sz="1100" spc="0" kern="0" b="0" i="0" dirty="0">
                <a:solidFill>
                  <a:srgbClr val="FFFFFF"/>
                </a:solidFill>
                <a:latin typeface="IBM Plex Sans"/>
                <a:ea typeface="IBM Plex Sans"/>
                <a:cs typeface="IBM Plex Sans"/>
              </a:endParaRPr>
            </a:p>
          </p:txBody>
        </p:sp>
      </p:grpSp>
      <p:grpSp>
        <p:nvGrpSpPr>
          <p:cNvPr id="124" name="node45"/>
          <p:cNvGrpSpPr/>
          <p:nvPr/>
        </p:nvGrpSpPr>
        <p:grpSpPr>
          <a:xfrm>
            <a:off x="9867900" y="5257800"/>
            <a:ext cx="1600200" cy="571500"/>
            <a:chOff x="9867900" y="5257800"/>
            <a:chExt cx="1600200" cy="571500"/>
          </a:xfrm>
        </p:grpSpPr>
        <p:sp>
          <p:nvSpPr>
            <p:cNvPr id="82" name="node45.surface"/>
            <p:cNvSpPr/>
            <p:nvPr/>
          </p:nvSpPr>
          <p:spPr>
            <a:xfrm>
              <a:off x="9874250" y="5264150"/>
              <a:ext cx="1587500" cy="558800"/>
            </a:xfrm>
            <a:prstGeom prst="rect">
              <a:avLst/>
            </a:prstGeom>
            <a:solidFill>
              <a:srgbClr val="FFFFFF"/>
            </a:solidFill>
            <a:ln w="12700">
              <a:solidFill>
                <a:srgbClr val="CED7E6"/>
              </a:solidFill>
              <a:prstDash val="solid"/>
            </a:ln>
          </p:spPr>
        </p:sp>
        <p:sp>
          <p:nvSpPr>
            <p:cNvPr id="83" name="node45.text"/>
            <p:cNvSpPr/>
            <p:nvPr/>
          </p:nvSpPr>
          <p:spPr>
            <a:xfrm>
              <a:off x="10020300" y="54483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Language choice</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ource-282">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Three phases, twelve subtracks, four gates</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110</a:t>
            </a:fld>
            <a:endParaRPr lang="en-US" sz="700" spc="0" kern="0" b="0" i="0" dirty="0">
              <a:solidFill>
                <a:srgbClr val="070154"/>
              </a:solidFill>
              <a:latin typeface="IBM Plex Mono SemiBold"/>
              <a:ea typeface="IBM Plex Mono SemiBold"/>
              <a:cs typeface="IBM Plex Mono SemiBold"/>
            </a:endParaRPr>
          </a:p>
        </p:txBody>
      </p:sp>
      <p:grpSp>
        <p:nvGrpSpPr>
          <p:cNvPr id="64" name="node01"/>
          <p:cNvGrpSpPr/>
          <p:nvPr/>
        </p:nvGrpSpPr>
        <p:grpSpPr>
          <a:xfrm>
            <a:off x="723900" y="2286000"/>
            <a:ext cx="3429000" cy="647700"/>
            <a:chOff x="723900" y="2286000"/>
            <a:chExt cx="3429000" cy="647700"/>
          </a:xfrm>
        </p:grpSpPr>
        <p:sp>
          <p:nvSpPr>
            <p:cNvPr id="6" name="node01.text"/>
            <p:cNvSpPr/>
            <p:nvPr/>
          </p:nvSpPr>
          <p:spPr>
            <a:xfrm>
              <a:off x="723900" y="2286000"/>
              <a:ext cx="3429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Northfield's scheduling and billing estate moves through the same three phases, each closed by a gate the steering group signs.</a:t>
              </a:r>
              <a:endParaRPr lang="en-US" sz="1200" spc="0" kern="0" b="0" i="0" dirty="0">
                <a:solidFill>
                  <a:srgbClr val="50658E"/>
                </a:solidFill>
                <a:latin typeface="IBM Plex Sans"/>
                <a:ea typeface="IBM Plex Sans"/>
                <a:cs typeface="IBM Plex Sans"/>
              </a:endParaRPr>
            </a:p>
          </p:txBody>
        </p:sp>
      </p:grpSp>
      <p:grpSp>
        <p:nvGrpSpPr>
          <p:cNvPr id="65" name="node02"/>
          <p:cNvGrpSpPr/>
          <p:nvPr/>
        </p:nvGrpSpPr>
        <p:grpSpPr>
          <a:xfrm>
            <a:off x="723900" y="3657600"/>
            <a:ext cx="3429000" cy="2057400"/>
            <a:chOff x="723900" y="3657600"/>
            <a:chExt cx="3429000" cy="2057400"/>
          </a:xfrm>
        </p:grpSpPr>
        <p:sp>
          <p:nvSpPr>
            <p:cNvPr id="7" name="node02.container"/>
            <p:cNvSpPr/>
            <p:nvPr/>
          </p:nvSpPr>
          <p:spPr>
            <a:xfrm>
              <a:off x="723900" y="3657600"/>
              <a:ext cx="3429000" cy="2057400"/>
            </a:xfrm>
            <a:prstGeom prst="rect">
              <a:avLst/>
            </a:prstGeom>
            <a:solidFill>
              <a:srgbClr val="E8EEF8"/>
            </a:solidFill>
            <a:ln>
              <a:noFill/>
            </a:ln>
          </p:spPr>
        </p:sp>
        <p:sp>
          <p:nvSpPr>
            <p:cNvPr id="8" name="node02.edge"/>
            <p:cNvSpPr/>
            <p:nvPr/>
          </p:nvSpPr>
          <p:spPr>
            <a:xfrm>
              <a:off x="723900" y="3657600"/>
              <a:ext cx="38100" cy="2057400"/>
            </a:xfrm>
            <a:prstGeom prst="rect">
              <a:avLst/>
            </a:prstGeom>
            <a:solidFill>
              <a:srgbClr val="070154"/>
            </a:solidFill>
            <a:ln>
              <a:noFill/>
            </a:ln>
          </p:spPr>
        </p:sp>
        <p:sp>
          <p:nvSpPr>
            <p:cNvPr id="9" name="node02.label"/>
            <p:cNvSpPr/>
            <p:nvPr/>
          </p:nvSpPr>
          <p:spPr>
            <a:xfrm>
              <a:off x="914400" y="3810000"/>
              <a:ext cx="30861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FOUR GATES</a:t>
              </a:r>
              <a:endParaRPr lang="en-US" sz="800" spc="48" kern="0" b="0" i="0" dirty="0">
                <a:solidFill>
                  <a:srgbClr val="0047FF"/>
                </a:solidFill>
                <a:latin typeface="IBM Plex Mono Medium"/>
                <a:ea typeface="IBM Plex Mono Medium"/>
                <a:cs typeface="IBM Plex Mono Medium"/>
              </a:endParaRPr>
            </a:p>
          </p:txBody>
        </p:sp>
        <p:sp>
          <p:nvSpPr>
            <p:cNvPr id="10" name="node02.title"/>
            <p:cNvSpPr/>
            <p:nvPr/>
          </p:nvSpPr>
          <p:spPr>
            <a:xfrm>
              <a:off x="914400" y="4025900"/>
              <a:ext cx="30861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Exit gates</a:t>
              </a:r>
              <a:endParaRPr lang="en-US" sz="1600" spc="-16" kern="0" b="0" i="0" dirty="0">
                <a:solidFill>
                  <a:srgbClr val="070154"/>
                </a:solidFill>
                <a:latin typeface="IBM Plex Sans SemiBold"/>
                <a:ea typeface="IBM Plex Sans SemiBold"/>
                <a:cs typeface="IBM Plex Sans SemiBold"/>
              </a:endParaRPr>
            </a:p>
          </p:txBody>
        </p:sp>
        <p:sp>
          <p:nvSpPr>
            <p:cNvPr id="11" name="node02.body.item-001.bullets.item-001.marker"/>
            <p:cNvSpPr/>
            <p:nvPr/>
          </p:nvSpPr>
          <p:spPr>
            <a:xfrm>
              <a:off x="914400" y="4533900"/>
              <a:ext cx="38100" cy="38100"/>
            </a:xfrm>
            <a:prstGeom prst="rect">
              <a:avLst/>
            </a:prstGeom>
            <a:solidFill>
              <a:srgbClr val="070154"/>
            </a:solidFill>
            <a:ln>
              <a:noFill/>
            </a:ln>
          </p:spPr>
        </p:sp>
        <p:sp>
          <p:nvSpPr>
            <p:cNvPr id="12" name="node02.body.item-001.bullets.item-001.text"/>
            <p:cNvSpPr/>
            <p:nvPr/>
          </p:nvSpPr>
          <p:spPr>
            <a:xfrm>
              <a:off x="1066800" y="44450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G1 · Portfolio decision</a:t>
              </a:r>
              <a:endParaRPr lang="en-US" sz="1200" spc="0" kern="0" b="0" i="0" dirty="0">
                <a:solidFill>
                  <a:srgbClr val="070154"/>
                </a:solidFill>
                <a:latin typeface="IBM Plex Sans"/>
                <a:ea typeface="IBM Plex Sans"/>
                <a:cs typeface="IBM Plex Sans"/>
              </a:endParaRPr>
            </a:p>
          </p:txBody>
        </p:sp>
        <p:sp>
          <p:nvSpPr>
            <p:cNvPr id="13" name="node02.body.item-001.bullets.item-002.marker"/>
            <p:cNvSpPr/>
            <p:nvPr/>
          </p:nvSpPr>
          <p:spPr>
            <a:xfrm>
              <a:off x="914400" y="4787900"/>
              <a:ext cx="38100" cy="38100"/>
            </a:xfrm>
            <a:prstGeom prst="rect">
              <a:avLst/>
            </a:prstGeom>
            <a:solidFill>
              <a:srgbClr val="070154"/>
            </a:solidFill>
            <a:ln>
              <a:noFill/>
            </a:ln>
          </p:spPr>
        </p:sp>
        <p:sp>
          <p:nvSpPr>
            <p:cNvPr id="14" name="node02.body.item-001.bullets.item-002.text"/>
            <p:cNvSpPr/>
            <p:nvPr/>
          </p:nvSpPr>
          <p:spPr>
            <a:xfrm>
              <a:off x="1066800" y="46990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G2 · Architecture and funding</a:t>
              </a:r>
              <a:endParaRPr lang="en-US" sz="1200" spc="0" kern="0" b="0" i="0" dirty="0">
                <a:solidFill>
                  <a:srgbClr val="070154"/>
                </a:solidFill>
                <a:latin typeface="IBM Plex Sans"/>
                <a:ea typeface="IBM Plex Sans"/>
                <a:cs typeface="IBM Plex Sans"/>
              </a:endParaRPr>
            </a:p>
          </p:txBody>
        </p:sp>
        <p:sp>
          <p:nvSpPr>
            <p:cNvPr id="15" name="node02.body.item-001.bullets.item-003.marker"/>
            <p:cNvSpPr/>
            <p:nvPr/>
          </p:nvSpPr>
          <p:spPr>
            <a:xfrm>
              <a:off x="914400" y="5041900"/>
              <a:ext cx="38100" cy="38100"/>
            </a:xfrm>
            <a:prstGeom prst="rect">
              <a:avLst/>
            </a:prstGeom>
            <a:solidFill>
              <a:srgbClr val="070154"/>
            </a:solidFill>
            <a:ln>
              <a:noFill/>
            </a:ln>
          </p:spPr>
        </p:sp>
        <p:sp>
          <p:nvSpPr>
            <p:cNvPr id="16" name="node02.body.item-001.bullets.item-003.text"/>
            <p:cNvSpPr/>
            <p:nvPr/>
          </p:nvSpPr>
          <p:spPr>
            <a:xfrm>
              <a:off x="1066800" y="49530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G3 · Cutover readiness</a:t>
              </a:r>
              <a:endParaRPr lang="en-US" sz="1200" spc="0" kern="0" b="0" i="0" dirty="0">
                <a:solidFill>
                  <a:srgbClr val="070154"/>
                </a:solidFill>
                <a:latin typeface="IBM Plex Sans"/>
                <a:ea typeface="IBM Plex Sans"/>
                <a:cs typeface="IBM Plex Sans"/>
              </a:endParaRPr>
            </a:p>
          </p:txBody>
        </p:sp>
        <p:sp>
          <p:nvSpPr>
            <p:cNvPr id="17" name="node02.body.item-001.bullets.item-004.marker"/>
            <p:cNvSpPr/>
            <p:nvPr/>
          </p:nvSpPr>
          <p:spPr>
            <a:xfrm>
              <a:off x="914400" y="5295900"/>
              <a:ext cx="38100" cy="38100"/>
            </a:xfrm>
            <a:prstGeom prst="rect">
              <a:avLst/>
            </a:prstGeom>
            <a:solidFill>
              <a:srgbClr val="070154"/>
            </a:solidFill>
            <a:ln>
              <a:noFill/>
            </a:ln>
          </p:spPr>
        </p:sp>
        <p:sp>
          <p:nvSpPr>
            <p:cNvPr id="18" name="node02.body.item-001.bullets.item-004.text"/>
            <p:cNvSpPr/>
            <p:nvPr/>
          </p:nvSpPr>
          <p:spPr>
            <a:xfrm>
              <a:off x="1066800" y="52070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G4 · Steady-state handover</a:t>
              </a:r>
              <a:endParaRPr lang="en-US" sz="1200" spc="0" kern="0" b="0" i="0" dirty="0">
                <a:solidFill>
                  <a:srgbClr val="070154"/>
                </a:solidFill>
                <a:latin typeface="IBM Plex Sans"/>
                <a:ea typeface="IBM Plex Sans"/>
                <a:cs typeface="IBM Plex Sans"/>
              </a:endParaRPr>
            </a:p>
          </p:txBody>
        </p:sp>
      </p:grpSp>
      <p:grpSp>
        <p:nvGrpSpPr>
          <p:cNvPr id="66" name="node03"/>
          <p:cNvGrpSpPr/>
          <p:nvPr/>
        </p:nvGrpSpPr>
        <p:grpSpPr>
          <a:xfrm>
            <a:off x="4381500" y="457200"/>
            <a:ext cx="1600200" cy="1600200"/>
            <a:chOff x="4381500" y="457200"/>
            <a:chExt cx="1600200" cy="1600200"/>
          </a:xfrm>
        </p:grpSpPr>
        <p:sp>
          <p:nvSpPr>
            <p:cNvPr id="19" name="node03.surface"/>
            <p:cNvSpPr/>
            <p:nvPr/>
          </p:nvSpPr>
          <p:spPr>
            <a:xfrm>
              <a:off x="4381500" y="457200"/>
              <a:ext cx="1600200" cy="1600200"/>
            </a:xfrm>
            <a:prstGeom prst="rect">
              <a:avLst/>
            </a:prstGeom>
            <a:solidFill>
              <a:srgbClr val="070154"/>
            </a:solidFill>
            <a:ln>
              <a:noFill/>
            </a:ln>
          </p:spPr>
        </p:sp>
      </p:grpSp>
      <p:grpSp>
        <p:nvGrpSpPr>
          <p:cNvPr id="67" name="node04"/>
          <p:cNvGrpSpPr/>
          <p:nvPr/>
        </p:nvGrpSpPr>
        <p:grpSpPr>
          <a:xfrm>
            <a:off x="4533900" y="609600"/>
            <a:ext cx="1295400" cy="266700"/>
            <a:chOff x="4533900" y="609600"/>
            <a:chExt cx="1295400" cy="266700"/>
          </a:xfrm>
        </p:grpSpPr>
        <p:sp>
          <p:nvSpPr>
            <p:cNvPr id="20" name="node04.text"/>
            <p:cNvSpPr/>
            <p:nvPr/>
          </p:nvSpPr>
          <p:spPr>
            <a:xfrm>
              <a:off x="4533900" y="609600"/>
              <a:ext cx="12954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01</a:t>
              </a:r>
              <a:endParaRPr lang="en-US" sz="1600" spc="0" kern="0" b="0" i="0" dirty="0">
                <a:solidFill>
                  <a:srgbClr val="F900D3"/>
                </a:solidFill>
                <a:latin typeface="IBM Plex Mono SemiBold"/>
                <a:ea typeface="IBM Plex Mono SemiBold"/>
                <a:cs typeface="IBM Plex Mono SemiBold"/>
              </a:endParaRPr>
            </a:p>
          </p:txBody>
        </p:sp>
      </p:grpSp>
      <p:grpSp>
        <p:nvGrpSpPr>
          <p:cNvPr id="68" name="node05"/>
          <p:cNvGrpSpPr/>
          <p:nvPr/>
        </p:nvGrpSpPr>
        <p:grpSpPr>
          <a:xfrm>
            <a:off x="4533900" y="990600"/>
            <a:ext cx="1295400" cy="266700"/>
            <a:chOff x="4533900" y="990600"/>
            <a:chExt cx="1295400" cy="266700"/>
          </a:xfrm>
        </p:grpSpPr>
        <p:sp>
          <p:nvSpPr>
            <p:cNvPr id="21" name="node05.text"/>
            <p:cNvSpPr/>
            <p:nvPr/>
          </p:nvSpPr>
          <p:spPr>
            <a:xfrm>
              <a:off x="4533900" y="990600"/>
              <a:ext cx="1295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Rationalize</a:t>
              </a:r>
              <a:endParaRPr lang="en-US" sz="1600" spc="-16" kern="0" b="0" i="0" dirty="0">
                <a:solidFill>
                  <a:srgbClr val="FFFFFF"/>
                </a:solidFill>
                <a:latin typeface="IBM Plex Sans SemiBold"/>
                <a:ea typeface="IBM Plex Sans SemiBold"/>
                <a:cs typeface="IBM Plex Sans SemiBold"/>
              </a:endParaRPr>
            </a:p>
          </p:txBody>
        </p:sp>
      </p:grpSp>
      <p:grpSp>
        <p:nvGrpSpPr>
          <p:cNvPr id="69" name="node06"/>
          <p:cNvGrpSpPr/>
          <p:nvPr/>
        </p:nvGrpSpPr>
        <p:grpSpPr>
          <a:xfrm>
            <a:off x="6210300" y="457200"/>
            <a:ext cx="2514600" cy="685800"/>
            <a:chOff x="6210300" y="457200"/>
            <a:chExt cx="2514600" cy="685800"/>
          </a:xfrm>
        </p:grpSpPr>
        <p:sp>
          <p:nvSpPr>
            <p:cNvPr id="22" name="node06.surface"/>
            <p:cNvSpPr/>
            <p:nvPr/>
          </p:nvSpPr>
          <p:spPr>
            <a:xfrm>
              <a:off x="6210300" y="457200"/>
              <a:ext cx="2514600" cy="685800"/>
            </a:xfrm>
            <a:prstGeom prst="rect">
              <a:avLst/>
            </a:prstGeom>
            <a:solidFill>
              <a:srgbClr val="E8EEF8"/>
            </a:solidFill>
            <a:ln>
              <a:noFill/>
            </a:ln>
          </p:spPr>
        </p:sp>
      </p:grpSp>
      <p:grpSp>
        <p:nvGrpSpPr>
          <p:cNvPr id="70" name="node07"/>
          <p:cNvGrpSpPr/>
          <p:nvPr/>
        </p:nvGrpSpPr>
        <p:grpSpPr>
          <a:xfrm>
            <a:off x="6324600" y="533400"/>
            <a:ext cx="2286000" cy="215900"/>
            <a:chOff x="6324600" y="533400"/>
            <a:chExt cx="2286000" cy="215900"/>
          </a:xfrm>
        </p:grpSpPr>
        <p:sp>
          <p:nvSpPr>
            <p:cNvPr id="23" name="node07.text"/>
            <p:cNvSpPr/>
            <p:nvPr/>
          </p:nvSpPr>
          <p:spPr>
            <a:xfrm>
              <a:off x="6324600" y="5334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Portfolio assessment</a:t>
              </a:r>
              <a:endParaRPr lang="en-US" sz="1200" spc="0" kern="0" b="0" i="0" dirty="0">
                <a:solidFill>
                  <a:srgbClr val="070154"/>
                </a:solidFill>
                <a:latin typeface="IBM Plex Sans"/>
                <a:ea typeface="IBM Plex Sans"/>
                <a:cs typeface="IBM Plex Sans"/>
              </a:endParaRPr>
            </a:p>
          </p:txBody>
        </p:sp>
      </p:grpSp>
      <p:grpSp>
        <p:nvGrpSpPr>
          <p:cNvPr id="71" name="node08"/>
          <p:cNvGrpSpPr/>
          <p:nvPr/>
        </p:nvGrpSpPr>
        <p:grpSpPr>
          <a:xfrm>
            <a:off x="6324600" y="800100"/>
            <a:ext cx="2286000" cy="190500"/>
            <a:chOff x="6324600" y="800100"/>
            <a:chExt cx="2286000" cy="190500"/>
          </a:xfrm>
        </p:grpSpPr>
        <p:sp>
          <p:nvSpPr>
            <p:cNvPr id="24" name="node08.text"/>
            <p:cNvSpPr/>
            <p:nvPr/>
          </p:nvSpPr>
          <p:spPr>
            <a:xfrm>
              <a:off x="6324600" y="8001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Score 140 applications</a:t>
              </a:r>
              <a:endParaRPr lang="en-US" sz="1100" spc="0" kern="0" b="0" i="0" dirty="0">
                <a:solidFill>
                  <a:srgbClr val="50658E"/>
                </a:solidFill>
                <a:latin typeface="IBM Plex Sans"/>
                <a:ea typeface="IBM Plex Sans"/>
                <a:cs typeface="IBM Plex Sans"/>
              </a:endParaRPr>
            </a:p>
          </p:txBody>
        </p:sp>
      </p:grpSp>
      <p:grpSp>
        <p:nvGrpSpPr>
          <p:cNvPr id="72" name="node09"/>
          <p:cNvGrpSpPr/>
          <p:nvPr/>
        </p:nvGrpSpPr>
        <p:grpSpPr>
          <a:xfrm>
            <a:off x="8953500" y="457200"/>
            <a:ext cx="2514600" cy="685800"/>
            <a:chOff x="8953500" y="457200"/>
            <a:chExt cx="2514600" cy="685800"/>
          </a:xfrm>
        </p:grpSpPr>
        <p:sp>
          <p:nvSpPr>
            <p:cNvPr id="25" name="node09.surface"/>
            <p:cNvSpPr/>
            <p:nvPr/>
          </p:nvSpPr>
          <p:spPr>
            <a:xfrm>
              <a:off x="8953500" y="457200"/>
              <a:ext cx="2514600" cy="685800"/>
            </a:xfrm>
            <a:prstGeom prst="rect">
              <a:avLst/>
            </a:prstGeom>
            <a:solidFill>
              <a:srgbClr val="E8EEF8"/>
            </a:solidFill>
            <a:ln>
              <a:noFill/>
            </a:ln>
          </p:spPr>
        </p:sp>
      </p:grpSp>
      <p:grpSp>
        <p:nvGrpSpPr>
          <p:cNvPr id="73" name="node10"/>
          <p:cNvGrpSpPr/>
          <p:nvPr/>
        </p:nvGrpSpPr>
        <p:grpSpPr>
          <a:xfrm>
            <a:off x="9067800" y="533400"/>
            <a:ext cx="2286000" cy="215900"/>
            <a:chOff x="9067800" y="533400"/>
            <a:chExt cx="2286000" cy="215900"/>
          </a:xfrm>
        </p:grpSpPr>
        <p:sp>
          <p:nvSpPr>
            <p:cNvPr id="26" name="node10.text"/>
            <p:cNvSpPr/>
            <p:nvPr/>
          </p:nvSpPr>
          <p:spPr>
            <a:xfrm>
              <a:off x="9067800" y="5334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Application rationalization</a:t>
              </a:r>
              <a:endParaRPr lang="en-US" sz="1200" spc="0" kern="0" b="0" i="0" dirty="0">
                <a:solidFill>
                  <a:srgbClr val="070154"/>
                </a:solidFill>
                <a:latin typeface="IBM Plex Sans"/>
                <a:ea typeface="IBM Plex Sans"/>
                <a:cs typeface="IBM Plex Sans"/>
              </a:endParaRPr>
            </a:p>
          </p:txBody>
        </p:sp>
      </p:grpSp>
      <p:grpSp>
        <p:nvGrpSpPr>
          <p:cNvPr id="74" name="node11"/>
          <p:cNvGrpSpPr/>
          <p:nvPr/>
        </p:nvGrpSpPr>
        <p:grpSpPr>
          <a:xfrm>
            <a:off x="9067800" y="800100"/>
            <a:ext cx="2286000" cy="190500"/>
            <a:chOff x="9067800" y="800100"/>
            <a:chExt cx="2286000" cy="190500"/>
          </a:xfrm>
        </p:grpSpPr>
        <p:sp>
          <p:nvSpPr>
            <p:cNvPr id="27" name="node11.text"/>
            <p:cNvSpPr/>
            <p:nvPr/>
          </p:nvSpPr>
          <p:spPr>
            <a:xfrm>
              <a:off x="9067800" y="8001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Retire, keep, move, rebuild</a:t>
              </a:r>
              <a:endParaRPr lang="en-US" sz="1100" spc="0" kern="0" b="0" i="0" dirty="0">
                <a:solidFill>
                  <a:srgbClr val="50658E"/>
                </a:solidFill>
                <a:latin typeface="IBM Plex Sans"/>
                <a:ea typeface="IBM Plex Sans"/>
                <a:cs typeface="IBM Plex Sans"/>
              </a:endParaRPr>
            </a:p>
          </p:txBody>
        </p:sp>
      </p:grpSp>
      <p:grpSp>
        <p:nvGrpSpPr>
          <p:cNvPr id="75" name="node12"/>
          <p:cNvGrpSpPr/>
          <p:nvPr/>
        </p:nvGrpSpPr>
        <p:grpSpPr>
          <a:xfrm>
            <a:off x="6210300" y="1371600"/>
            <a:ext cx="2514600" cy="685800"/>
            <a:chOff x="6210300" y="1371600"/>
            <a:chExt cx="2514600" cy="685800"/>
          </a:xfrm>
        </p:grpSpPr>
        <p:sp>
          <p:nvSpPr>
            <p:cNvPr id="28" name="node12.surface"/>
            <p:cNvSpPr/>
            <p:nvPr/>
          </p:nvSpPr>
          <p:spPr>
            <a:xfrm>
              <a:off x="6210300" y="1371600"/>
              <a:ext cx="2514600" cy="685800"/>
            </a:xfrm>
            <a:prstGeom prst="rect">
              <a:avLst/>
            </a:prstGeom>
            <a:solidFill>
              <a:srgbClr val="E8EEF8"/>
            </a:solidFill>
            <a:ln>
              <a:noFill/>
            </a:ln>
          </p:spPr>
        </p:sp>
      </p:grpSp>
      <p:grpSp>
        <p:nvGrpSpPr>
          <p:cNvPr id="76" name="node13"/>
          <p:cNvGrpSpPr/>
          <p:nvPr/>
        </p:nvGrpSpPr>
        <p:grpSpPr>
          <a:xfrm>
            <a:off x="6324600" y="1447800"/>
            <a:ext cx="2286000" cy="215900"/>
            <a:chOff x="6324600" y="1447800"/>
            <a:chExt cx="2286000" cy="215900"/>
          </a:xfrm>
        </p:grpSpPr>
        <p:sp>
          <p:nvSpPr>
            <p:cNvPr id="29" name="node13.text"/>
            <p:cNvSpPr/>
            <p:nvPr/>
          </p:nvSpPr>
          <p:spPr>
            <a:xfrm>
              <a:off x="6324600" y="14478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Target architecture</a:t>
              </a:r>
              <a:endParaRPr lang="en-US" sz="1200" spc="0" kern="0" b="0" i="0" dirty="0">
                <a:solidFill>
                  <a:srgbClr val="070154"/>
                </a:solidFill>
                <a:latin typeface="IBM Plex Sans"/>
                <a:ea typeface="IBM Plex Sans"/>
                <a:cs typeface="IBM Plex Sans"/>
              </a:endParaRPr>
            </a:p>
          </p:txBody>
        </p:sp>
      </p:grpSp>
      <p:grpSp>
        <p:nvGrpSpPr>
          <p:cNvPr id="77" name="node14"/>
          <p:cNvGrpSpPr/>
          <p:nvPr/>
        </p:nvGrpSpPr>
        <p:grpSpPr>
          <a:xfrm>
            <a:off x="6324600" y="1714500"/>
            <a:ext cx="2286000" cy="190500"/>
            <a:chOff x="6324600" y="1714500"/>
            <a:chExt cx="2286000" cy="190500"/>
          </a:xfrm>
        </p:grpSpPr>
        <p:sp>
          <p:nvSpPr>
            <p:cNvPr id="30" name="node14.text"/>
            <p:cNvSpPr/>
            <p:nvPr/>
          </p:nvSpPr>
          <p:spPr>
            <a:xfrm>
              <a:off x="6324600" y="17145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Scheduling, billing design</a:t>
              </a:r>
              <a:endParaRPr lang="en-US" sz="1100" spc="0" kern="0" b="0" i="0" dirty="0">
                <a:solidFill>
                  <a:srgbClr val="50658E"/>
                </a:solidFill>
                <a:latin typeface="IBM Plex Sans"/>
                <a:ea typeface="IBM Plex Sans"/>
                <a:cs typeface="IBM Plex Sans"/>
              </a:endParaRPr>
            </a:p>
          </p:txBody>
        </p:sp>
      </p:grpSp>
      <p:grpSp>
        <p:nvGrpSpPr>
          <p:cNvPr id="78" name="node15"/>
          <p:cNvGrpSpPr/>
          <p:nvPr/>
        </p:nvGrpSpPr>
        <p:grpSpPr>
          <a:xfrm>
            <a:off x="8953500" y="1371600"/>
            <a:ext cx="2514600" cy="685800"/>
            <a:chOff x="8953500" y="1371600"/>
            <a:chExt cx="2514600" cy="685800"/>
          </a:xfrm>
        </p:grpSpPr>
        <p:sp>
          <p:nvSpPr>
            <p:cNvPr id="31" name="node15.surface"/>
            <p:cNvSpPr/>
            <p:nvPr/>
          </p:nvSpPr>
          <p:spPr>
            <a:xfrm>
              <a:off x="8953500" y="1371600"/>
              <a:ext cx="2514600" cy="685800"/>
            </a:xfrm>
            <a:prstGeom prst="rect">
              <a:avLst/>
            </a:prstGeom>
            <a:solidFill>
              <a:srgbClr val="E8EEF8"/>
            </a:solidFill>
            <a:ln>
              <a:noFill/>
            </a:ln>
          </p:spPr>
        </p:sp>
      </p:grpSp>
      <p:grpSp>
        <p:nvGrpSpPr>
          <p:cNvPr id="79" name="node16"/>
          <p:cNvGrpSpPr/>
          <p:nvPr/>
        </p:nvGrpSpPr>
        <p:grpSpPr>
          <a:xfrm>
            <a:off x="9067800" y="1447800"/>
            <a:ext cx="2286000" cy="215900"/>
            <a:chOff x="9067800" y="1447800"/>
            <a:chExt cx="2286000" cy="215900"/>
          </a:xfrm>
        </p:grpSpPr>
        <p:sp>
          <p:nvSpPr>
            <p:cNvPr id="32" name="node16.text"/>
            <p:cNvSpPr/>
            <p:nvPr/>
          </p:nvSpPr>
          <p:spPr>
            <a:xfrm>
              <a:off x="9067800" y="14478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Business case</a:t>
              </a:r>
              <a:endParaRPr lang="en-US" sz="1200" spc="0" kern="0" b="0" i="0" dirty="0">
                <a:solidFill>
                  <a:srgbClr val="070154"/>
                </a:solidFill>
                <a:latin typeface="IBM Plex Sans"/>
                <a:ea typeface="IBM Plex Sans"/>
                <a:cs typeface="IBM Plex Sans"/>
              </a:endParaRPr>
            </a:p>
          </p:txBody>
        </p:sp>
      </p:grpSp>
      <p:grpSp>
        <p:nvGrpSpPr>
          <p:cNvPr id="80" name="node17"/>
          <p:cNvGrpSpPr/>
          <p:nvPr/>
        </p:nvGrpSpPr>
        <p:grpSpPr>
          <a:xfrm>
            <a:off x="9067800" y="1714500"/>
            <a:ext cx="2286000" cy="190500"/>
            <a:chOff x="9067800" y="1714500"/>
            <a:chExt cx="2286000" cy="190500"/>
          </a:xfrm>
        </p:grpSpPr>
        <p:sp>
          <p:nvSpPr>
            <p:cNvPr id="33" name="node17.text"/>
            <p:cNvSpPr/>
            <p:nvPr/>
          </p:nvSpPr>
          <p:spPr>
            <a:xfrm>
              <a:off x="9067800" y="17145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Cost, risk, benefit by wave</a:t>
              </a:r>
              <a:endParaRPr lang="en-US" sz="1100" spc="0" kern="0" b="0" i="0" dirty="0">
                <a:solidFill>
                  <a:srgbClr val="50658E"/>
                </a:solidFill>
                <a:latin typeface="IBM Plex Sans"/>
                <a:ea typeface="IBM Plex Sans"/>
                <a:cs typeface="IBM Plex Sans"/>
              </a:endParaRPr>
            </a:p>
          </p:txBody>
        </p:sp>
      </p:grpSp>
      <p:grpSp>
        <p:nvGrpSpPr>
          <p:cNvPr id="81" name="node18"/>
          <p:cNvGrpSpPr/>
          <p:nvPr/>
        </p:nvGrpSpPr>
        <p:grpSpPr>
          <a:xfrm>
            <a:off x="4381500" y="2286000"/>
            <a:ext cx="1600200" cy="1600200"/>
            <a:chOff x="4381500" y="2286000"/>
            <a:chExt cx="1600200" cy="1600200"/>
          </a:xfrm>
        </p:grpSpPr>
        <p:sp>
          <p:nvSpPr>
            <p:cNvPr id="34" name="node18.surface"/>
            <p:cNvSpPr/>
            <p:nvPr/>
          </p:nvSpPr>
          <p:spPr>
            <a:xfrm>
              <a:off x="4381500" y="2286000"/>
              <a:ext cx="1600200" cy="1600200"/>
            </a:xfrm>
            <a:prstGeom prst="rect">
              <a:avLst/>
            </a:prstGeom>
            <a:solidFill>
              <a:srgbClr val="CED7E6"/>
            </a:solidFill>
            <a:ln>
              <a:noFill/>
            </a:ln>
          </p:spPr>
        </p:sp>
      </p:grpSp>
      <p:grpSp>
        <p:nvGrpSpPr>
          <p:cNvPr id="82" name="node19"/>
          <p:cNvGrpSpPr/>
          <p:nvPr/>
        </p:nvGrpSpPr>
        <p:grpSpPr>
          <a:xfrm>
            <a:off x="4533900" y="2438400"/>
            <a:ext cx="1295400" cy="266700"/>
            <a:chOff x="4533900" y="2438400"/>
            <a:chExt cx="1295400" cy="266700"/>
          </a:xfrm>
        </p:grpSpPr>
        <p:sp>
          <p:nvSpPr>
            <p:cNvPr id="35" name="node19.text"/>
            <p:cNvSpPr/>
            <p:nvPr/>
          </p:nvSpPr>
          <p:spPr>
            <a:xfrm>
              <a:off x="4533900" y="2438400"/>
              <a:ext cx="12954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grpSp>
      <p:grpSp>
        <p:nvGrpSpPr>
          <p:cNvPr id="83" name="node20"/>
          <p:cNvGrpSpPr/>
          <p:nvPr/>
        </p:nvGrpSpPr>
        <p:grpSpPr>
          <a:xfrm>
            <a:off x="4533900" y="2819400"/>
            <a:ext cx="1295400" cy="266700"/>
            <a:chOff x="4533900" y="2819400"/>
            <a:chExt cx="1295400" cy="266700"/>
          </a:xfrm>
        </p:grpSpPr>
        <p:sp>
          <p:nvSpPr>
            <p:cNvPr id="36" name="node20.text"/>
            <p:cNvSpPr/>
            <p:nvPr/>
          </p:nvSpPr>
          <p:spPr>
            <a:xfrm>
              <a:off x="4533900" y="2819400"/>
              <a:ext cx="1295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Build</a:t>
              </a:r>
              <a:endParaRPr lang="en-US" sz="1600" spc="-16" kern="0" b="0" i="0" dirty="0">
                <a:solidFill>
                  <a:srgbClr val="070154"/>
                </a:solidFill>
                <a:latin typeface="IBM Plex Sans SemiBold"/>
                <a:ea typeface="IBM Plex Sans SemiBold"/>
                <a:cs typeface="IBM Plex Sans SemiBold"/>
              </a:endParaRPr>
            </a:p>
          </p:txBody>
        </p:sp>
      </p:grpSp>
      <p:grpSp>
        <p:nvGrpSpPr>
          <p:cNvPr id="84" name="node21"/>
          <p:cNvGrpSpPr/>
          <p:nvPr/>
        </p:nvGrpSpPr>
        <p:grpSpPr>
          <a:xfrm>
            <a:off x="6210300" y="2286000"/>
            <a:ext cx="2514600" cy="685800"/>
            <a:chOff x="6210300" y="2286000"/>
            <a:chExt cx="2514600" cy="685800"/>
          </a:xfrm>
        </p:grpSpPr>
        <p:sp>
          <p:nvSpPr>
            <p:cNvPr id="37" name="node21.surface"/>
            <p:cNvSpPr/>
            <p:nvPr/>
          </p:nvSpPr>
          <p:spPr>
            <a:xfrm>
              <a:off x="6210300" y="2286000"/>
              <a:ext cx="2514600" cy="685800"/>
            </a:xfrm>
            <a:prstGeom prst="rect">
              <a:avLst/>
            </a:prstGeom>
            <a:solidFill>
              <a:srgbClr val="E8EEF8"/>
            </a:solidFill>
            <a:ln>
              <a:noFill/>
            </a:ln>
          </p:spPr>
        </p:sp>
      </p:grpSp>
      <p:grpSp>
        <p:nvGrpSpPr>
          <p:cNvPr id="85" name="node22"/>
          <p:cNvGrpSpPr/>
          <p:nvPr/>
        </p:nvGrpSpPr>
        <p:grpSpPr>
          <a:xfrm>
            <a:off x="6324600" y="2362200"/>
            <a:ext cx="2286000" cy="215900"/>
            <a:chOff x="6324600" y="2362200"/>
            <a:chExt cx="2286000" cy="215900"/>
          </a:xfrm>
        </p:grpSpPr>
        <p:sp>
          <p:nvSpPr>
            <p:cNvPr id="38" name="node22.text"/>
            <p:cNvSpPr/>
            <p:nvPr/>
          </p:nvSpPr>
          <p:spPr>
            <a:xfrm>
              <a:off x="6324600" y="23622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Re-platform</a:t>
              </a:r>
              <a:endParaRPr lang="en-US" sz="1200" spc="0" kern="0" b="0" i="0" dirty="0">
                <a:solidFill>
                  <a:srgbClr val="070154"/>
                </a:solidFill>
                <a:latin typeface="IBM Plex Sans"/>
                <a:ea typeface="IBM Plex Sans"/>
                <a:cs typeface="IBM Plex Sans"/>
              </a:endParaRPr>
            </a:p>
          </p:txBody>
        </p:sp>
      </p:grpSp>
      <p:grpSp>
        <p:nvGrpSpPr>
          <p:cNvPr id="86" name="node23"/>
          <p:cNvGrpSpPr/>
          <p:nvPr/>
        </p:nvGrpSpPr>
        <p:grpSpPr>
          <a:xfrm>
            <a:off x="6324600" y="2628900"/>
            <a:ext cx="2286000" cy="190500"/>
            <a:chOff x="6324600" y="2628900"/>
            <a:chExt cx="2286000" cy="190500"/>
          </a:xfrm>
        </p:grpSpPr>
        <p:sp>
          <p:nvSpPr>
            <p:cNvPr id="39" name="node23.text"/>
            <p:cNvSpPr/>
            <p:nvPr/>
          </p:nvSpPr>
          <p:spPr>
            <a:xfrm>
              <a:off x="6324600" y="26289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Move to the landing zone</a:t>
              </a:r>
              <a:endParaRPr lang="en-US" sz="1100" spc="0" kern="0" b="0" i="0" dirty="0">
                <a:solidFill>
                  <a:srgbClr val="50658E"/>
                </a:solidFill>
                <a:latin typeface="IBM Plex Sans"/>
                <a:ea typeface="IBM Plex Sans"/>
                <a:cs typeface="IBM Plex Sans"/>
              </a:endParaRPr>
            </a:p>
          </p:txBody>
        </p:sp>
      </p:grpSp>
      <p:grpSp>
        <p:nvGrpSpPr>
          <p:cNvPr id="87" name="node24"/>
          <p:cNvGrpSpPr/>
          <p:nvPr/>
        </p:nvGrpSpPr>
        <p:grpSpPr>
          <a:xfrm>
            <a:off x="8953500" y="2286000"/>
            <a:ext cx="2514600" cy="685800"/>
            <a:chOff x="8953500" y="2286000"/>
            <a:chExt cx="2514600" cy="685800"/>
          </a:xfrm>
        </p:grpSpPr>
        <p:sp>
          <p:nvSpPr>
            <p:cNvPr id="40" name="node24.surface"/>
            <p:cNvSpPr/>
            <p:nvPr/>
          </p:nvSpPr>
          <p:spPr>
            <a:xfrm>
              <a:off x="8953500" y="2286000"/>
              <a:ext cx="2514600" cy="685800"/>
            </a:xfrm>
            <a:prstGeom prst="rect">
              <a:avLst/>
            </a:prstGeom>
            <a:solidFill>
              <a:srgbClr val="E8EEF8"/>
            </a:solidFill>
            <a:ln>
              <a:noFill/>
            </a:ln>
          </p:spPr>
        </p:sp>
      </p:grpSp>
      <p:grpSp>
        <p:nvGrpSpPr>
          <p:cNvPr id="88" name="node25"/>
          <p:cNvGrpSpPr/>
          <p:nvPr/>
        </p:nvGrpSpPr>
        <p:grpSpPr>
          <a:xfrm>
            <a:off x="9067800" y="2362200"/>
            <a:ext cx="2286000" cy="215900"/>
            <a:chOff x="9067800" y="2362200"/>
            <a:chExt cx="2286000" cy="215900"/>
          </a:xfrm>
        </p:grpSpPr>
        <p:sp>
          <p:nvSpPr>
            <p:cNvPr id="41" name="node25.text"/>
            <p:cNvSpPr/>
            <p:nvPr/>
          </p:nvSpPr>
          <p:spPr>
            <a:xfrm>
              <a:off x="9067800" y="23622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Refactor</a:t>
              </a:r>
              <a:endParaRPr lang="en-US" sz="1200" spc="0" kern="0" b="0" i="0" dirty="0">
                <a:solidFill>
                  <a:srgbClr val="070154"/>
                </a:solidFill>
                <a:latin typeface="IBM Plex Sans"/>
                <a:ea typeface="IBM Plex Sans"/>
                <a:cs typeface="IBM Plex Sans"/>
              </a:endParaRPr>
            </a:p>
          </p:txBody>
        </p:sp>
      </p:grpSp>
      <p:grpSp>
        <p:nvGrpSpPr>
          <p:cNvPr id="89" name="node26"/>
          <p:cNvGrpSpPr/>
          <p:nvPr/>
        </p:nvGrpSpPr>
        <p:grpSpPr>
          <a:xfrm>
            <a:off x="9067800" y="2628900"/>
            <a:ext cx="2286000" cy="190500"/>
            <a:chOff x="9067800" y="2628900"/>
            <a:chExt cx="2286000" cy="190500"/>
          </a:xfrm>
        </p:grpSpPr>
        <p:sp>
          <p:nvSpPr>
            <p:cNvPr id="42" name="node26.text"/>
            <p:cNvSpPr/>
            <p:nvPr/>
          </p:nvSpPr>
          <p:spPr>
            <a:xfrm>
              <a:off x="9067800" y="26289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Split the billing monolith</a:t>
              </a:r>
              <a:endParaRPr lang="en-US" sz="1100" spc="0" kern="0" b="0" i="0" dirty="0">
                <a:solidFill>
                  <a:srgbClr val="50658E"/>
                </a:solidFill>
                <a:latin typeface="IBM Plex Sans"/>
                <a:ea typeface="IBM Plex Sans"/>
                <a:cs typeface="IBM Plex Sans"/>
              </a:endParaRPr>
            </a:p>
          </p:txBody>
        </p:sp>
      </p:grpSp>
      <p:grpSp>
        <p:nvGrpSpPr>
          <p:cNvPr id="90" name="node27"/>
          <p:cNvGrpSpPr/>
          <p:nvPr/>
        </p:nvGrpSpPr>
        <p:grpSpPr>
          <a:xfrm>
            <a:off x="6210300" y="3200400"/>
            <a:ext cx="2514600" cy="685800"/>
            <a:chOff x="6210300" y="3200400"/>
            <a:chExt cx="2514600" cy="685800"/>
          </a:xfrm>
        </p:grpSpPr>
        <p:sp>
          <p:nvSpPr>
            <p:cNvPr id="43" name="node27.surface"/>
            <p:cNvSpPr/>
            <p:nvPr/>
          </p:nvSpPr>
          <p:spPr>
            <a:xfrm>
              <a:off x="6210300" y="3200400"/>
              <a:ext cx="2514600" cy="685800"/>
            </a:xfrm>
            <a:prstGeom prst="rect">
              <a:avLst/>
            </a:prstGeom>
            <a:solidFill>
              <a:srgbClr val="E8EEF8"/>
            </a:solidFill>
            <a:ln>
              <a:noFill/>
            </a:ln>
          </p:spPr>
        </p:sp>
      </p:grpSp>
      <p:grpSp>
        <p:nvGrpSpPr>
          <p:cNvPr id="91" name="node28"/>
          <p:cNvGrpSpPr/>
          <p:nvPr/>
        </p:nvGrpSpPr>
        <p:grpSpPr>
          <a:xfrm>
            <a:off x="6324600" y="3276600"/>
            <a:ext cx="2286000" cy="215900"/>
            <a:chOff x="6324600" y="3276600"/>
            <a:chExt cx="2286000" cy="215900"/>
          </a:xfrm>
        </p:grpSpPr>
        <p:sp>
          <p:nvSpPr>
            <p:cNvPr id="44" name="node28.text"/>
            <p:cNvSpPr/>
            <p:nvPr/>
          </p:nvSpPr>
          <p:spPr>
            <a:xfrm>
              <a:off x="6324600" y="32766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migration</a:t>
              </a:r>
              <a:endParaRPr lang="en-US" sz="1200" spc="0" kern="0" b="0" i="0" dirty="0">
                <a:solidFill>
                  <a:srgbClr val="070154"/>
                </a:solidFill>
                <a:latin typeface="IBM Plex Sans"/>
                <a:ea typeface="IBM Plex Sans"/>
                <a:cs typeface="IBM Plex Sans"/>
              </a:endParaRPr>
            </a:p>
          </p:txBody>
        </p:sp>
      </p:grpSp>
      <p:grpSp>
        <p:nvGrpSpPr>
          <p:cNvPr id="92" name="node29"/>
          <p:cNvGrpSpPr/>
          <p:nvPr/>
        </p:nvGrpSpPr>
        <p:grpSpPr>
          <a:xfrm>
            <a:off x="6324600" y="3543300"/>
            <a:ext cx="2286000" cy="190500"/>
            <a:chOff x="6324600" y="3543300"/>
            <a:chExt cx="2286000" cy="190500"/>
          </a:xfrm>
        </p:grpSpPr>
        <p:sp>
          <p:nvSpPr>
            <p:cNvPr id="45" name="node29.text"/>
            <p:cNvSpPr/>
            <p:nvPr/>
          </p:nvSpPr>
          <p:spPr>
            <a:xfrm>
              <a:off x="6324600" y="35433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Reconciled patient data</a:t>
              </a:r>
              <a:endParaRPr lang="en-US" sz="1100" spc="0" kern="0" b="0" i="0" dirty="0">
                <a:solidFill>
                  <a:srgbClr val="50658E"/>
                </a:solidFill>
                <a:latin typeface="IBM Plex Sans"/>
                <a:ea typeface="IBM Plex Sans"/>
                <a:cs typeface="IBM Plex Sans"/>
              </a:endParaRPr>
            </a:p>
          </p:txBody>
        </p:sp>
      </p:grpSp>
      <p:grpSp>
        <p:nvGrpSpPr>
          <p:cNvPr id="93" name="node30"/>
          <p:cNvGrpSpPr/>
          <p:nvPr/>
        </p:nvGrpSpPr>
        <p:grpSpPr>
          <a:xfrm>
            <a:off x="8953500" y="3200400"/>
            <a:ext cx="2514600" cy="685800"/>
            <a:chOff x="8953500" y="3200400"/>
            <a:chExt cx="2514600" cy="685800"/>
          </a:xfrm>
        </p:grpSpPr>
        <p:sp>
          <p:nvSpPr>
            <p:cNvPr id="46" name="node30.surface"/>
            <p:cNvSpPr/>
            <p:nvPr/>
          </p:nvSpPr>
          <p:spPr>
            <a:xfrm>
              <a:off x="8953500" y="3200400"/>
              <a:ext cx="2514600" cy="685800"/>
            </a:xfrm>
            <a:prstGeom prst="rect">
              <a:avLst/>
            </a:prstGeom>
            <a:solidFill>
              <a:srgbClr val="E8EEF8"/>
            </a:solidFill>
            <a:ln>
              <a:noFill/>
            </a:ln>
          </p:spPr>
        </p:sp>
      </p:grpSp>
      <p:grpSp>
        <p:nvGrpSpPr>
          <p:cNvPr id="94" name="node31"/>
          <p:cNvGrpSpPr/>
          <p:nvPr/>
        </p:nvGrpSpPr>
        <p:grpSpPr>
          <a:xfrm>
            <a:off x="9067800" y="3276600"/>
            <a:ext cx="2286000" cy="215900"/>
            <a:chOff x="9067800" y="3276600"/>
            <a:chExt cx="2286000" cy="215900"/>
          </a:xfrm>
        </p:grpSpPr>
        <p:sp>
          <p:nvSpPr>
            <p:cNvPr id="47" name="node31.text"/>
            <p:cNvSpPr/>
            <p:nvPr/>
          </p:nvSpPr>
          <p:spPr>
            <a:xfrm>
              <a:off x="9067800" y="32766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Cutover</a:t>
              </a:r>
              <a:endParaRPr lang="en-US" sz="1200" spc="0" kern="0" b="0" i="0" dirty="0">
                <a:solidFill>
                  <a:srgbClr val="070154"/>
                </a:solidFill>
                <a:latin typeface="IBM Plex Sans"/>
                <a:ea typeface="IBM Plex Sans"/>
                <a:cs typeface="IBM Plex Sans"/>
              </a:endParaRPr>
            </a:p>
          </p:txBody>
        </p:sp>
      </p:grpSp>
      <p:grpSp>
        <p:nvGrpSpPr>
          <p:cNvPr id="95" name="node32"/>
          <p:cNvGrpSpPr/>
          <p:nvPr/>
        </p:nvGrpSpPr>
        <p:grpSpPr>
          <a:xfrm>
            <a:off x="9067800" y="3543300"/>
            <a:ext cx="2286000" cy="190500"/>
            <a:chOff x="9067800" y="3543300"/>
            <a:chExt cx="2286000" cy="190500"/>
          </a:xfrm>
        </p:grpSpPr>
        <p:sp>
          <p:nvSpPr>
            <p:cNvPr id="48" name="node32.text"/>
            <p:cNvSpPr/>
            <p:nvPr/>
          </p:nvSpPr>
          <p:spPr>
            <a:xfrm>
              <a:off x="9067800" y="35433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Waves, rehearsals, go-live</a:t>
              </a:r>
              <a:endParaRPr lang="en-US" sz="1100" spc="0" kern="0" b="0" i="0" dirty="0">
                <a:solidFill>
                  <a:srgbClr val="50658E"/>
                </a:solidFill>
                <a:latin typeface="IBM Plex Sans"/>
                <a:ea typeface="IBM Plex Sans"/>
                <a:cs typeface="IBM Plex Sans"/>
              </a:endParaRPr>
            </a:p>
          </p:txBody>
        </p:sp>
      </p:grpSp>
      <p:grpSp>
        <p:nvGrpSpPr>
          <p:cNvPr id="96" name="node33"/>
          <p:cNvGrpSpPr/>
          <p:nvPr/>
        </p:nvGrpSpPr>
        <p:grpSpPr>
          <a:xfrm>
            <a:off x="4381500" y="4114800"/>
            <a:ext cx="1600200" cy="1600200"/>
            <a:chOff x="4381500" y="4114800"/>
            <a:chExt cx="1600200" cy="1600200"/>
          </a:xfrm>
        </p:grpSpPr>
        <p:sp>
          <p:nvSpPr>
            <p:cNvPr id="49" name="node33.surface"/>
            <p:cNvSpPr/>
            <p:nvPr/>
          </p:nvSpPr>
          <p:spPr>
            <a:xfrm>
              <a:off x="4381500" y="4114800"/>
              <a:ext cx="1600200" cy="1600200"/>
            </a:xfrm>
            <a:prstGeom prst="rect">
              <a:avLst/>
            </a:prstGeom>
            <a:solidFill>
              <a:srgbClr val="E8EEF8"/>
            </a:solidFill>
            <a:ln>
              <a:noFill/>
            </a:ln>
          </p:spPr>
        </p:sp>
      </p:grpSp>
      <p:grpSp>
        <p:nvGrpSpPr>
          <p:cNvPr id="97" name="node34"/>
          <p:cNvGrpSpPr/>
          <p:nvPr/>
        </p:nvGrpSpPr>
        <p:grpSpPr>
          <a:xfrm>
            <a:off x="4533900" y="4267200"/>
            <a:ext cx="1295400" cy="266700"/>
            <a:chOff x="4533900" y="4267200"/>
            <a:chExt cx="1295400" cy="266700"/>
          </a:xfrm>
        </p:grpSpPr>
        <p:sp>
          <p:nvSpPr>
            <p:cNvPr id="50" name="node34.text"/>
            <p:cNvSpPr/>
            <p:nvPr/>
          </p:nvSpPr>
          <p:spPr>
            <a:xfrm>
              <a:off x="4533900" y="4267200"/>
              <a:ext cx="12954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grpSp>
      <p:grpSp>
        <p:nvGrpSpPr>
          <p:cNvPr id="98" name="node35"/>
          <p:cNvGrpSpPr/>
          <p:nvPr/>
        </p:nvGrpSpPr>
        <p:grpSpPr>
          <a:xfrm>
            <a:off x="4533900" y="4648200"/>
            <a:ext cx="1295400" cy="266700"/>
            <a:chOff x="4533900" y="4648200"/>
            <a:chExt cx="1295400" cy="266700"/>
          </a:xfrm>
        </p:grpSpPr>
        <p:sp>
          <p:nvSpPr>
            <p:cNvPr id="51" name="node35.text"/>
            <p:cNvSpPr/>
            <p:nvPr/>
          </p:nvSpPr>
          <p:spPr>
            <a:xfrm>
              <a:off x="4533900" y="4648200"/>
              <a:ext cx="1295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Sustain</a:t>
              </a:r>
              <a:endParaRPr lang="en-US" sz="1600" spc="-16" kern="0" b="0" i="0" dirty="0">
                <a:solidFill>
                  <a:srgbClr val="070154"/>
                </a:solidFill>
                <a:latin typeface="IBM Plex Sans SemiBold"/>
                <a:ea typeface="IBM Plex Sans SemiBold"/>
                <a:cs typeface="IBM Plex Sans SemiBold"/>
              </a:endParaRPr>
            </a:p>
          </p:txBody>
        </p:sp>
      </p:grpSp>
      <p:grpSp>
        <p:nvGrpSpPr>
          <p:cNvPr id="99" name="node36"/>
          <p:cNvGrpSpPr/>
          <p:nvPr/>
        </p:nvGrpSpPr>
        <p:grpSpPr>
          <a:xfrm>
            <a:off x="6210300" y="4114800"/>
            <a:ext cx="2514600" cy="685800"/>
            <a:chOff x="6210300" y="4114800"/>
            <a:chExt cx="2514600" cy="685800"/>
          </a:xfrm>
        </p:grpSpPr>
        <p:sp>
          <p:nvSpPr>
            <p:cNvPr id="52" name="node36.surface"/>
            <p:cNvSpPr/>
            <p:nvPr/>
          </p:nvSpPr>
          <p:spPr>
            <a:xfrm>
              <a:off x="6210300" y="4114800"/>
              <a:ext cx="2514600" cy="685800"/>
            </a:xfrm>
            <a:prstGeom prst="rect">
              <a:avLst/>
            </a:prstGeom>
            <a:solidFill>
              <a:srgbClr val="E8EEF8"/>
            </a:solidFill>
            <a:ln>
              <a:noFill/>
            </a:ln>
          </p:spPr>
        </p:sp>
      </p:grpSp>
      <p:grpSp>
        <p:nvGrpSpPr>
          <p:cNvPr id="100" name="node37"/>
          <p:cNvGrpSpPr/>
          <p:nvPr/>
        </p:nvGrpSpPr>
        <p:grpSpPr>
          <a:xfrm>
            <a:off x="6324600" y="4191000"/>
            <a:ext cx="2286000" cy="215900"/>
            <a:chOff x="6324600" y="4191000"/>
            <a:chExt cx="2286000" cy="215900"/>
          </a:xfrm>
        </p:grpSpPr>
        <p:sp>
          <p:nvSpPr>
            <p:cNvPr id="53" name="node37.text"/>
            <p:cNvSpPr/>
            <p:nvPr/>
          </p:nvSpPr>
          <p:spPr>
            <a:xfrm>
              <a:off x="6324600" y="41910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 and operate</a:t>
              </a:r>
              <a:endParaRPr lang="en-US" sz="1200" spc="0" kern="0" b="0" i="0" dirty="0">
                <a:solidFill>
                  <a:srgbClr val="070154"/>
                </a:solidFill>
                <a:latin typeface="IBM Plex Sans"/>
                <a:ea typeface="IBM Plex Sans"/>
                <a:cs typeface="IBM Plex Sans"/>
              </a:endParaRPr>
            </a:p>
          </p:txBody>
        </p:sp>
      </p:grpSp>
      <p:grpSp>
        <p:nvGrpSpPr>
          <p:cNvPr id="101" name="node38"/>
          <p:cNvGrpSpPr/>
          <p:nvPr/>
        </p:nvGrpSpPr>
        <p:grpSpPr>
          <a:xfrm>
            <a:off x="6324600" y="4457700"/>
            <a:ext cx="2286000" cy="190500"/>
            <a:chOff x="6324600" y="4457700"/>
            <a:chExt cx="2286000" cy="190500"/>
          </a:xfrm>
        </p:grpSpPr>
        <p:sp>
          <p:nvSpPr>
            <p:cNvPr id="54" name="node38.text"/>
            <p:cNvSpPr/>
            <p:nvPr/>
          </p:nvSpPr>
          <p:spPr>
            <a:xfrm>
              <a:off x="6324600" y="44577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Monitoring and support</a:t>
              </a:r>
              <a:endParaRPr lang="en-US" sz="1100" spc="0" kern="0" b="0" i="0" dirty="0">
                <a:solidFill>
                  <a:srgbClr val="50658E"/>
                </a:solidFill>
                <a:latin typeface="IBM Plex Sans"/>
                <a:ea typeface="IBM Plex Sans"/>
                <a:cs typeface="IBM Plex Sans"/>
              </a:endParaRPr>
            </a:p>
          </p:txBody>
        </p:sp>
      </p:grpSp>
      <p:grpSp>
        <p:nvGrpSpPr>
          <p:cNvPr id="102" name="node39"/>
          <p:cNvGrpSpPr/>
          <p:nvPr/>
        </p:nvGrpSpPr>
        <p:grpSpPr>
          <a:xfrm>
            <a:off x="8953500" y="4114800"/>
            <a:ext cx="2514600" cy="685800"/>
            <a:chOff x="8953500" y="4114800"/>
            <a:chExt cx="2514600" cy="685800"/>
          </a:xfrm>
        </p:grpSpPr>
        <p:sp>
          <p:nvSpPr>
            <p:cNvPr id="55" name="node39.surface"/>
            <p:cNvSpPr/>
            <p:nvPr/>
          </p:nvSpPr>
          <p:spPr>
            <a:xfrm>
              <a:off x="8953500" y="4114800"/>
              <a:ext cx="2514600" cy="685800"/>
            </a:xfrm>
            <a:prstGeom prst="rect">
              <a:avLst/>
            </a:prstGeom>
            <a:solidFill>
              <a:srgbClr val="E8EEF8"/>
            </a:solidFill>
            <a:ln>
              <a:noFill/>
            </a:ln>
          </p:spPr>
        </p:sp>
      </p:grpSp>
      <p:grpSp>
        <p:nvGrpSpPr>
          <p:cNvPr id="103" name="node40"/>
          <p:cNvGrpSpPr/>
          <p:nvPr/>
        </p:nvGrpSpPr>
        <p:grpSpPr>
          <a:xfrm>
            <a:off x="9067800" y="4191000"/>
            <a:ext cx="2286000" cy="215900"/>
            <a:chOff x="9067800" y="4191000"/>
            <a:chExt cx="2286000" cy="215900"/>
          </a:xfrm>
        </p:grpSpPr>
        <p:sp>
          <p:nvSpPr>
            <p:cNvPr id="56" name="node40.text"/>
            <p:cNvSpPr/>
            <p:nvPr/>
          </p:nvSpPr>
          <p:spPr>
            <a:xfrm>
              <a:off x="9067800" y="41910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Optimize</a:t>
              </a:r>
              <a:endParaRPr lang="en-US" sz="1200" spc="0" kern="0" b="0" i="0" dirty="0">
                <a:solidFill>
                  <a:srgbClr val="070154"/>
                </a:solidFill>
                <a:latin typeface="IBM Plex Sans"/>
                <a:ea typeface="IBM Plex Sans"/>
                <a:cs typeface="IBM Plex Sans"/>
              </a:endParaRPr>
            </a:p>
          </p:txBody>
        </p:sp>
      </p:grpSp>
      <p:grpSp>
        <p:nvGrpSpPr>
          <p:cNvPr id="104" name="node41"/>
          <p:cNvGrpSpPr/>
          <p:nvPr/>
        </p:nvGrpSpPr>
        <p:grpSpPr>
          <a:xfrm>
            <a:off x="9067800" y="4457700"/>
            <a:ext cx="2286000" cy="190500"/>
            <a:chOff x="9067800" y="4457700"/>
            <a:chExt cx="2286000" cy="190500"/>
          </a:xfrm>
        </p:grpSpPr>
        <p:sp>
          <p:nvSpPr>
            <p:cNvPr id="57" name="node41.text"/>
            <p:cNvSpPr/>
            <p:nvPr/>
          </p:nvSpPr>
          <p:spPr>
            <a:xfrm>
              <a:off x="9067800" y="44577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Tune cost and capacity</a:t>
              </a:r>
              <a:endParaRPr lang="en-US" sz="1100" spc="0" kern="0" b="0" i="0" dirty="0">
                <a:solidFill>
                  <a:srgbClr val="50658E"/>
                </a:solidFill>
                <a:latin typeface="IBM Plex Sans"/>
                <a:ea typeface="IBM Plex Sans"/>
                <a:cs typeface="IBM Plex Sans"/>
              </a:endParaRPr>
            </a:p>
          </p:txBody>
        </p:sp>
      </p:grpSp>
      <p:grpSp>
        <p:nvGrpSpPr>
          <p:cNvPr id="105" name="node42"/>
          <p:cNvGrpSpPr/>
          <p:nvPr/>
        </p:nvGrpSpPr>
        <p:grpSpPr>
          <a:xfrm>
            <a:off x="6210300" y="5029200"/>
            <a:ext cx="2514600" cy="685800"/>
            <a:chOff x="6210300" y="5029200"/>
            <a:chExt cx="2514600" cy="685800"/>
          </a:xfrm>
        </p:grpSpPr>
        <p:sp>
          <p:nvSpPr>
            <p:cNvPr id="58" name="node42.surface"/>
            <p:cNvSpPr/>
            <p:nvPr/>
          </p:nvSpPr>
          <p:spPr>
            <a:xfrm>
              <a:off x="6210300" y="5029200"/>
              <a:ext cx="2514600" cy="685800"/>
            </a:xfrm>
            <a:prstGeom prst="rect">
              <a:avLst/>
            </a:prstGeom>
            <a:solidFill>
              <a:srgbClr val="E8EEF8"/>
            </a:solidFill>
            <a:ln>
              <a:noFill/>
            </a:ln>
          </p:spPr>
        </p:sp>
      </p:grpSp>
      <p:grpSp>
        <p:nvGrpSpPr>
          <p:cNvPr id="106" name="node43"/>
          <p:cNvGrpSpPr/>
          <p:nvPr/>
        </p:nvGrpSpPr>
        <p:grpSpPr>
          <a:xfrm>
            <a:off x="6324600" y="5105400"/>
            <a:ext cx="2286000" cy="215900"/>
            <a:chOff x="6324600" y="5105400"/>
            <a:chExt cx="2286000" cy="215900"/>
          </a:xfrm>
        </p:grpSpPr>
        <p:sp>
          <p:nvSpPr>
            <p:cNvPr id="59" name="node43.text"/>
            <p:cNvSpPr/>
            <p:nvPr/>
          </p:nvSpPr>
          <p:spPr>
            <a:xfrm>
              <a:off x="6324600" y="51054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Modernization governance</a:t>
              </a:r>
              <a:endParaRPr lang="en-US" sz="1200" spc="0" kern="0" b="0" i="0" dirty="0">
                <a:solidFill>
                  <a:srgbClr val="070154"/>
                </a:solidFill>
                <a:latin typeface="IBM Plex Sans"/>
                <a:ea typeface="IBM Plex Sans"/>
                <a:cs typeface="IBM Plex Sans"/>
              </a:endParaRPr>
            </a:p>
          </p:txBody>
        </p:sp>
      </p:grpSp>
      <p:grpSp>
        <p:nvGrpSpPr>
          <p:cNvPr id="107" name="node44"/>
          <p:cNvGrpSpPr/>
          <p:nvPr/>
        </p:nvGrpSpPr>
        <p:grpSpPr>
          <a:xfrm>
            <a:off x="6324600" y="5372100"/>
            <a:ext cx="2286000" cy="190500"/>
            <a:chOff x="6324600" y="5372100"/>
            <a:chExt cx="2286000" cy="190500"/>
          </a:xfrm>
        </p:grpSpPr>
        <p:sp>
          <p:nvSpPr>
            <p:cNvPr id="60" name="node44.text"/>
            <p:cNvSpPr/>
            <p:nvPr/>
          </p:nvSpPr>
          <p:spPr>
            <a:xfrm>
              <a:off x="6324600" y="53721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Standards and funding</a:t>
              </a:r>
              <a:endParaRPr lang="en-US" sz="1100" spc="0" kern="0" b="0" i="0" dirty="0">
                <a:solidFill>
                  <a:srgbClr val="50658E"/>
                </a:solidFill>
                <a:latin typeface="IBM Plex Sans"/>
                <a:ea typeface="IBM Plex Sans"/>
                <a:cs typeface="IBM Plex Sans"/>
              </a:endParaRPr>
            </a:p>
          </p:txBody>
        </p:sp>
      </p:grpSp>
      <p:grpSp>
        <p:nvGrpSpPr>
          <p:cNvPr id="108" name="node45"/>
          <p:cNvGrpSpPr/>
          <p:nvPr/>
        </p:nvGrpSpPr>
        <p:grpSpPr>
          <a:xfrm>
            <a:off x="8953500" y="5029200"/>
            <a:ext cx="2514600" cy="685800"/>
            <a:chOff x="8953500" y="5029200"/>
            <a:chExt cx="2514600" cy="685800"/>
          </a:xfrm>
        </p:grpSpPr>
        <p:sp>
          <p:nvSpPr>
            <p:cNvPr id="61" name="node45.surface"/>
            <p:cNvSpPr/>
            <p:nvPr/>
          </p:nvSpPr>
          <p:spPr>
            <a:xfrm>
              <a:off x="8953500" y="5029200"/>
              <a:ext cx="2514600" cy="685800"/>
            </a:xfrm>
            <a:prstGeom prst="rect">
              <a:avLst/>
            </a:prstGeom>
            <a:solidFill>
              <a:srgbClr val="E8EEF8"/>
            </a:solidFill>
            <a:ln>
              <a:noFill/>
            </a:ln>
          </p:spPr>
        </p:sp>
      </p:grpSp>
      <p:grpSp>
        <p:nvGrpSpPr>
          <p:cNvPr id="109" name="node46"/>
          <p:cNvGrpSpPr/>
          <p:nvPr/>
        </p:nvGrpSpPr>
        <p:grpSpPr>
          <a:xfrm>
            <a:off x="9067800" y="5105400"/>
            <a:ext cx="2286000" cy="215900"/>
            <a:chOff x="9067800" y="5105400"/>
            <a:chExt cx="2286000" cy="215900"/>
          </a:xfrm>
        </p:grpSpPr>
        <p:sp>
          <p:nvSpPr>
            <p:cNvPr id="62" name="node46.text"/>
            <p:cNvSpPr/>
            <p:nvPr/>
          </p:nvSpPr>
          <p:spPr>
            <a:xfrm>
              <a:off x="9067800" y="51054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Continuous modernization</a:t>
              </a:r>
              <a:endParaRPr lang="en-US" sz="1200" spc="0" kern="0" b="0" i="0" dirty="0">
                <a:solidFill>
                  <a:srgbClr val="070154"/>
                </a:solidFill>
                <a:latin typeface="IBM Plex Sans"/>
                <a:ea typeface="IBM Plex Sans"/>
                <a:cs typeface="IBM Plex Sans"/>
              </a:endParaRPr>
            </a:p>
          </p:txBody>
        </p:sp>
      </p:grpSp>
      <p:grpSp>
        <p:nvGrpSpPr>
          <p:cNvPr id="110" name="node47"/>
          <p:cNvGrpSpPr/>
          <p:nvPr/>
        </p:nvGrpSpPr>
        <p:grpSpPr>
          <a:xfrm>
            <a:off x="9067800" y="5372100"/>
            <a:ext cx="2286000" cy="190500"/>
            <a:chOff x="9067800" y="5372100"/>
            <a:chExt cx="2286000" cy="190500"/>
          </a:xfrm>
        </p:grpSpPr>
        <p:sp>
          <p:nvSpPr>
            <p:cNvPr id="63" name="node47.text"/>
            <p:cNvSpPr/>
            <p:nvPr/>
          </p:nvSpPr>
          <p:spPr>
            <a:xfrm>
              <a:off x="9067800" y="53721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Keep the estate current</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ource-012">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ACTIVITIES BY PHASE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Who leads each activity in each phase</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111</a:t>
            </a:fld>
            <a:endParaRPr lang="en-US" sz="700" spc="0" kern="0" b="0" i="0" dirty="0">
              <a:solidFill>
                <a:srgbClr val="070154"/>
              </a:solidFill>
              <a:latin typeface="IBM Plex Mono SemiBold"/>
              <a:ea typeface="IBM Plex Mono SemiBold"/>
              <a:cs typeface="IBM Plex Mono SemiBold"/>
            </a:endParaRPr>
          </a:p>
        </p:txBody>
      </p:sp>
      <p:grpSp>
        <p:nvGrpSpPr>
          <p:cNvPr id="30" name="node01"/>
          <p:cNvGrpSpPr/>
          <p:nvPr/>
        </p:nvGrpSpPr>
        <p:grpSpPr>
          <a:xfrm>
            <a:off x="723900" y="2286000"/>
            <a:ext cx="3429000" cy="647700"/>
            <a:chOff x="723900" y="2286000"/>
            <a:chExt cx="3429000" cy="647700"/>
          </a:xfrm>
        </p:grpSpPr>
        <p:sp>
          <p:nvSpPr>
            <p:cNvPr id="6" name="node01.text"/>
            <p:cNvSpPr/>
            <p:nvPr/>
          </p:nvSpPr>
          <p:spPr>
            <a:xfrm>
              <a:off x="723900" y="2286000"/>
              <a:ext cx="3429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Every activity has a West Monroe lead and a named Northfield owner, so decisions and handovers never wait on a role that is unclear.</a:t>
              </a:r>
              <a:endParaRPr lang="en-US" sz="1200" spc="0" kern="0" b="0" i="0" dirty="0">
                <a:solidFill>
                  <a:srgbClr val="50658E"/>
                </a:solidFill>
                <a:latin typeface="IBM Plex Sans"/>
                <a:ea typeface="IBM Plex Sans"/>
                <a:cs typeface="IBM Plex Sans"/>
              </a:endParaRPr>
            </a:p>
          </p:txBody>
        </p:sp>
      </p:grpSp>
      <p:grpSp>
        <p:nvGrpSpPr>
          <p:cNvPr id="31" name="node02"/>
          <p:cNvGrpSpPr/>
          <p:nvPr/>
        </p:nvGrpSpPr>
        <p:grpSpPr>
          <a:xfrm>
            <a:off x="723900" y="3886200"/>
            <a:ext cx="3429000" cy="1828800"/>
            <a:chOff x="723900" y="3886200"/>
            <a:chExt cx="3429000" cy="1828800"/>
          </a:xfrm>
        </p:grpSpPr>
        <p:sp>
          <p:nvSpPr>
            <p:cNvPr id="7" name="node02.container"/>
            <p:cNvSpPr/>
            <p:nvPr/>
          </p:nvSpPr>
          <p:spPr>
            <a:xfrm>
              <a:off x="723900" y="3886200"/>
              <a:ext cx="3429000" cy="1828800"/>
            </a:xfrm>
            <a:prstGeom prst="rect">
              <a:avLst/>
            </a:prstGeom>
            <a:solidFill>
              <a:srgbClr val="E8EEF8"/>
            </a:solidFill>
            <a:ln>
              <a:noFill/>
            </a:ln>
          </p:spPr>
        </p:sp>
        <p:sp>
          <p:nvSpPr>
            <p:cNvPr id="8" name="node02.edge"/>
            <p:cNvSpPr/>
            <p:nvPr/>
          </p:nvSpPr>
          <p:spPr>
            <a:xfrm>
              <a:off x="723900" y="3886200"/>
              <a:ext cx="38100" cy="1828800"/>
            </a:xfrm>
            <a:prstGeom prst="rect">
              <a:avLst/>
            </a:prstGeom>
            <a:solidFill>
              <a:srgbClr val="070154"/>
            </a:solidFill>
            <a:ln>
              <a:noFill/>
            </a:ln>
          </p:spPr>
        </p:sp>
        <p:sp>
          <p:nvSpPr>
            <p:cNvPr id="9" name="node02.label"/>
            <p:cNvSpPr/>
            <p:nvPr/>
          </p:nvSpPr>
          <p:spPr>
            <a:xfrm>
              <a:off x="914400" y="4038600"/>
              <a:ext cx="30861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HOW WE WORK</a:t>
              </a:r>
              <a:endParaRPr lang="en-US" sz="800" spc="48" kern="0" b="0" i="0" dirty="0">
                <a:solidFill>
                  <a:srgbClr val="0047FF"/>
                </a:solidFill>
                <a:latin typeface="IBM Plex Mono Medium"/>
                <a:ea typeface="IBM Plex Mono Medium"/>
                <a:cs typeface="IBM Plex Mono Medium"/>
              </a:endParaRPr>
            </a:p>
          </p:txBody>
        </p:sp>
        <p:sp>
          <p:nvSpPr>
            <p:cNvPr id="10" name="node02.title"/>
            <p:cNvSpPr/>
            <p:nvPr/>
          </p:nvSpPr>
          <p:spPr>
            <a:xfrm>
              <a:off x="914400" y="4254500"/>
              <a:ext cx="30861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Ownership rule</a:t>
              </a:r>
              <a:endParaRPr lang="en-US" sz="1600" spc="-16" kern="0" b="0" i="0" dirty="0">
                <a:solidFill>
                  <a:srgbClr val="070154"/>
                </a:solidFill>
                <a:latin typeface="IBM Plex Sans SemiBold"/>
                <a:ea typeface="IBM Plex Sans SemiBold"/>
                <a:cs typeface="IBM Plex Sans SemiBold"/>
              </a:endParaRPr>
            </a:p>
          </p:txBody>
        </p:sp>
        <p:sp>
          <p:nvSpPr>
            <p:cNvPr id="11" name="node02.body.item-001.bullets.item-001.marker"/>
            <p:cNvSpPr/>
            <p:nvPr/>
          </p:nvSpPr>
          <p:spPr>
            <a:xfrm>
              <a:off x="914400" y="4762500"/>
              <a:ext cx="38100" cy="38100"/>
            </a:xfrm>
            <a:prstGeom prst="rect">
              <a:avLst/>
            </a:prstGeom>
            <a:solidFill>
              <a:srgbClr val="070154"/>
            </a:solidFill>
            <a:ln>
              <a:noFill/>
            </a:ln>
          </p:spPr>
        </p:sp>
        <p:sp>
          <p:nvSpPr>
            <p:cNvPr id="12" name="node02.body.item-001.bullets.item-001.text"/>
            <p:cNvSpPr/>
            <p:nvPr/>
          </p:nvSpPr>
          <p:spPr>
            <a:xfrm>
              <a:off x="1066800" y="46736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owner on each side</a:t>
              </a:r>
              <a:endParaRPr lang="en-US" sz="1200" spc="0" kern="0" b="0" i="0" dirty="0">
                <a:solidFill>
                  <a:srgbClr val="070154"/>
                </a:solidFill>
                <a:latin typeface="IBM Plex Sans"/>
                <a:ea typeface="IBM Plex Sans"/>
                <a:cs typeface="IBM Plex Sans"/>
              </a:endParaRPr>
            </a:p>
          </p:txBody>
        </p:sp>
        <p:sp>
          <p:nvSpPr>
            <p:cNvPr id="13" name="node02.body.item-001.bullets.item-002.marker"/>
            <p:cNvSpPr/>
            <p:nvPr/>
          </p:nvSpPr>
          <p:spPr>
            <a:xfrm>
              <a:off x="914400" y="5016500"/>
              <a:ext cx="38100" cy="38100"/>
            </a:xfrm>
            <a:prstGeom prst="rect">
              <a:avLst/>
            </a:prstGeom>
            <a:solidFill>
              <a:srgbClr val="070154"/>
            </a:solidFill>
            <a:ln>
              <a:noFill/>
            </a:ln>
          </p:spPr>
        </p:sp>
        <p:sp>
          <p:nvSpPr>
            <p:cNvPr id="14" name="node02.body.item-001.bullets.item-002.text"/>
            <p:cNvSpPr/>
            <p:nvPr/>
          </p:nvSpPr>
          <p:spPr>
            <a:xfrm>
              <a:off x="1066800" y="49276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 signs the phase gate</a:t>
              </a:r>
              <a:endParaRPr lang="en-US" sz="1200" spc="0" kern="0" b="0" i="0" dirty="0">
                <a:solidFill>
                  <a:srgbClr val="070154"/>
                </a:solidFill>
                <a:latin typeface="IBM Plex Sans"/>
                <a:ea typeface="IBM Plex Sans"/>
                <a:cs typeface="IBM Plex Sans"/>
              </a:endParaRPr>
            </a:p>
          </p:txBody>
        </p:sp>
        <p:sp>
          <p:nvSpPr>
            <p:cNvPr id="15" name="node02.body.item-001.bullets.item-003.marker"/>
            <p:cNvSpPr/>
            <p:nvPr/>
          </p:nvSpPr>
          <p:spPr>
            <a:xfrm>
              <a:off x="914400" y="5270500"/>
              <a:ext cx="38100" cy="38100"/>
            </a:xfrm>
            <a:prstGeom prst="rect">
              <a:avLst/>
            </a:prstGeom>
            <a:solidFill>
              <a:srgbClr val="070154"/>
            </a:solidFill>
            <a:ln>
              <a:noFill/>
            </a:ln>
          </p:spPr>
        </p:sp>
        <p:sp>
          <p:nvSpPr>
            <p:cNvPr id="16" name="node02.body.item-001.bullets.item-003.text"/>
            <p:cNvSpPr/>
            <p:nvPr/>
          </p:nvSpPr>
          <p:spPr>
            <a:xfrm>
              <a:off x="1066800" y="51816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Escalate within two days</a:t>
              </a:r>
              <a:endParaRPr lang="en-US" sz="1200" spc="0" kern="0" b="0" i="0" dirty="0">
                <a:solidFill>
                  <a:srgbClr val="070154"/>
                </a:solidFill>
                <a:latin typeface="IBM Plex Sans"/>
                <a:ea typeface="IBM Plex Sans"/>
                <a:cs typeface="IBM Plex Sans"/>
              </a:endParaRPr>
            </a:p>
          </p:txBody>
        </p:sp>
      </p:grpSp>
      <p:grpSp>
        <p:nvGrpSpPr>
          <p:cNvPr id="32" name="node03"/>
          <p:cNvGrpSpPr/>
          <p:nvPr/>
        </p:nvGrpSpPr>
        <p:grpSpPr>
          <a:xfrm>
            <a:off x="4381500" y="457200"/>
            <a:ext cx="7086600" cy="5384800"/>
            <a:chOff x="4381500" y="457200"/>
            <a:chExt cx="7086600" cy="5384800"/>
          </a:xfrm>
        </p:grpSpPr>
        <p:graphicFrame>
          <p:nvGraphicFramePr>
            <p:cNvPr id="17" name="node03.native"/>
            <p:cNvGraphicFramePr>
              <a:graphicFrameLocks noGrp="1"/>
            </p:cNvGraphicFramePr>
            <p:nvPr>
              <p:extLst>
                <p:ext uri="{D42A27DB-BD31-4B8C-83A1-F6EECF244321}">
                  <p14:modId xmlns:p14="http://schemas.microsoft.com/office/powerpoint/2010/main" val="1579011935"/>
                </p:ext>
              </p:extLst>
            </p:nvPr>
          </p:nvGraphicFramePr>
          <p:xfrm>
            <a:off x="4381500" y="457200"/>
            <a:ext cx="7086600" cy="5384800"/>
          </p:xfrm>
          <a:graphic>
            <a:graphicData uri="http://schemas.openxmlformats.org/drawingml/2006/table">
              <a:tbl>
                <a:tblPr/>
                <a:tblGrid>
                  <a:gridCol w="1981200"/>
                  <a:gridCol w="1295400"/>
                  <a:gridCol w="1295400"/>
                  <a:gridCol w="1371600"/>
                  <a:gridCol w="11430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ACTIVITY</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PHASE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WEST MONROE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NORTHFIELD</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WKS</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191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Application scoring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Medium"/>
                            <a:ea typeface="IBM Plex Mono Medium"/>
                            <a:cs typeface="IBM Plex Mono Medium"/>
                          </a:defRPr>
                        </a:pPr>
                        <a:r>
                          <a:rPr lang="en-US" sz="800" spc="48" kern="0" b="0" i="0" dirty="0">
                            <a:solidFill>
                              <a:srgbClr val="070154"/>
                            </a:solidFill>
                            <a:latin typeface="IBM Plex Mono Medium"/>
                            <a:ea typeface="IBM Plex Mono Medium"/>
                            <a:cs typeface="IBM Plex Mono Medium"/>
                          </a:rPr>
                          <a:t xml:space="preserve">RATIONALIZE</a:t>
                        </a:r>
                        <a:endParaRPr lang="en-US" sz="800" spc="48"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Portfolio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App owners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4</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Disposition workshops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Medium"/>
                            <a:ea typeface="IBM Plex Mono Medium"/>
                            <a:cs typeface="IBM Plex Mono Medium"/>
                          </a:defRPr>
                        </a:pPr>
                        <a:r>
                          <a:rPr lang="en-US" sz="800" spc="48" kern="0" b="0" i="0" dirty="0">
                            <a:solidFill>
                              <a:srgbClr val="070154"/>
                            </a:solidFill>
                            <a:latin typeface="IBM Plex Mono Medium"/>
                            <a:ea typeface="IBM Plex Mono Medium"/>
                            <a:cs typeface="IBM Plex Mono Medium"/>
                          </a:rPr>
                          <a:t xml:space="preserve">RATIONALIZE</a:t>
                        </a:r>
                        <a:endParaRPr lang="en-US" sz="800" spc="48"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Strategy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CIO office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4</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Target design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Medium"/>
                            <a:ea typeface="IBM Plex Mono Medium"/>
                            <a:cs typeface="IBM Plex Mono Medium"/>
                          </a:defRPr>
                        </a:pPr>
                        <a:r>
                          <a:rPr lang="en-US" sz="800" spc="48" kern="0" b="0" i="0" dirty="0">
                            <a:solidFill>
                              <a:srgbClr val="070154"/>
                            </a:solidFill>
                            <a:latin typeface="IBM Plex Mono Medium"/>
                            <a:ea typeface="IBM Plex Mono Medium"/>
                            <a:cs typeface="IBM Plex Mono Medium"/>
                          </a:rPr>
                          <a:t xml:space="preserve">RATIONALIZE</a:t>
                        </a:r>
                        <a:endParaRPr lang="en-US" sz="800" spc="48"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Architect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Architecture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4</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Funding case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Medium"/>
                            <a:ea typeface="IBM Plex Mono Medium"/>
                            <a:cs typeface="IBM Plex Mono Medium"/>
                          </a:defRPr>
                        </a:pPr>
                        <a:r>
                          <a:rPr lang="en-US" sz="800" spc="48" kern="0" b="0" i="0" dirty="0">
                            <a:solidFill>
                              <a:srgbClr val="070154"/>
                            </a:solidFill>
                            <a:latin typeface="IBM Plex Mono Medium"/>
                            <a:ea typeface="IBM Plex Mono Medium"/>
                            <a:cs typeface="IBM Plex Mono Medium"/>
                          </a:rPr>
                          <a:t xml:space="preserve">RATIONALIZE</a:t>
                        </a:r>
                        <a:endParaRPr lang="en-US" sz="800" spc="48"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Lead partner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Finance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Landing zone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Medium"/>
                            <a:ea typeface="IBM Plex Mono Medium"/>
                            <a:cs typeface="IBM Plex Mono Medium"/>
                          </a:defRPr>
                        </a:pPr>
                        <a:r>
                          <a:rPr lang="en-US" sz="800" spc="48" kern="0" b="0" i="0" dirty="0">
                            <a:solidFill>
                              <a:srgbClr val="070154"/>
                            </a:solidFill>
                            <a:latin typeface="IBM Plex Mono Medium"/>
                            <a:ea typeface="IBM Plex Mono Medium"/>
                            <a:cs typeface="IBM Plex Mono Medium"/>
                          </a:rPr>
                          <a:t xml:space="preserve">BUILD</a:t>
                        </a:r>
                        <a:endParaRPr lang="en-US" sz="800" spc="48"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Cloud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Infrastructure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Billing refactor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Medium"/>
                            <a:ea typeface="IBM Plex Mono Medium"/>
                            <a:cs typeface="IBM Plex Mono Medium"/>
                          </a:defRPr>
                        </a:pPr>
                        <a:r>
                          <a:rPr lang="en-US" sz="800" spc="48" kern="0" b="0" i="0" dirty="0">
                            <a:solidFill>
                              <a:srgbClr val="070154"/>
                            </a:solidFill>
                            <a:latin typeface="IBM Plex Mono Medium"/>
                            <a:ea typeface="IBM Plex Mono Medium"/>
                            <a:cs typeface="IBM Plex Mono Medium"/>
                          </a:rPr>
                          <a:t xml:space="preserve">BUILD</a:t>
                        </a:r>
                        <a:endParaRPr lang="en-US" sz="800" spc="48"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Tech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Revenue cycle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Data reconciliation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Medium"/>
                            <a:ea typeface="IBM Plex Mono Medium"/>
                            <a:cs typeface="IBM Plex Mono Medium"/>
                          </a:defRPr>
                        </a:pPr>
                        <a:r>
                          <a:rPr lang="en-US" sz="800" spc="48" kern="0" b="0" i="0" dirty="0">
                            <a:solidFill>
                              <a:srgbClr val="070154"/>
                            </a:solidFill>
                            <a:latin typeface="IBM Plex Mono Medium"/>
                            <a:ea typeface="IBM Plex Mono Medium"/>
                            <a:cs typeface="IBM Plex Mono Medium"/>
                          </a:rPr>
                          <a:t xml:space="preserve">BUILD</a:t>
                        </a:r>
                        <a:endParaRPr lang="en-US" sz="800" spc="48"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Data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Data stewards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Wave cutover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Medium"/>
                            <a:ea typeface="IBM Plex Mono Medium"/>
                            <a:cs typeface="IBM Plex Mono Medium"/>
                          </a:defRPr>
                        </a:pPr>
                        <a:r>
                          <a:rPr lang="en-US" sz="800" spc="48" kern="0" b="0" i="0" dirty="0">
                            <a:solidFill>
                              <a:srgbClr val="070154"/>
                            </a:solidFill>
                            <a:latin typeface="IBM Plex Mono Medium"/>
                            <a:ea typeface="IBM Plex Mono Medium"/>
                            <a:cs typeface="IBM Plex Mono Medium"/>
                          </a:rPr>
                          <a:t xml:space="preserve">BUILD</a:t>
                        </a:r>
                        <a:endParaRPr lang="en-US" sz="800" spc="48"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Delivery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Patient access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6</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Hypercare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Medium"/>
                            <a:ea typeface="IBM Plex Mono Medium"/>
                            <a:cs typeface="IBM Plex Mono Medium"/>
                          </a:defRPr>
                        </a:pPr>
                        <a:r>
                          <a:rPr lang="en-US" sz="800" spc="48" kern="0" b="0" i="0" dirty="0">
                            <a:solidFill>
                              <a:srgbClr val="070154"/>
                            </a:solidFill>
                            <a:latin typeface="IBM Plex Mono Medium"/>
                            <a:ea typeface="IBM Plex Mono Medium"/>
                            <a:cs typeface="IBM Plex Mono Medium"/>
                          </a:rPr>
                          <a:t xml:space="preserve">SUSTAIN</a:t>
                        </a:r>
                        <a:endParaRPr lang="en-US" sz="800" spc="48"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Support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Service desk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Quarterly tuning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Medium"/>
                            <a:ea typeface="IBM Plex Mono Medium"/>
                            <a:cs typeface="IBM Plex Mono Medium"/>
                          </a:defRPr>
                        </a:pPr>
                        <a:r>
                          <a:rPr lang="en-US" sz="800" spc="48" kern="0" b="0" i="0" dirty="0">
                            <a:solidFill>
                              <a:srgbClr val="070154"/>
                            </a:solidFill>
                            <a:latin typeface="IBM Plex Mono Medium"/>
                            <a:ea typeface="IBM Plex Mono Medium"/>
                            <a:cs typeface="IBM Plex Mono Medium"/>
                          </a:rPr>
                          <a:t xml:space="preserve">SUSTAIN</a:t>
                        </a:r>
                        <a:endParaRPr lang="en-US" sz="800" spc="48"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Cloud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Infrastructure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4</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Governance charter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Medium"/>
                            <a:ea typeface="IBM Plex Mono Medium"/>
                            <a:cs typeface="IBM Plex Mono Medium"/>
                          </a:defRPr>
                        </a:pPr>
                        <a:r>
                          <a:rPr lang="en-US" sz="800" spc="48" kern="0" b="0" i="0" dirty="0">
                            <a:solidFill>
                              <a:srgbClr val="070154"/>
                            </a:solidFill>
                            <a:latin typeface="IBM Plex Mono Medium"/>
                            <a:ea typeface="IBM Plex Mono Medium"/>
                            <a:cs typeface="IBM Plex Mono Medium"/>
                          </a:rPr>
                          <a:t xml:space="preserve">SUSTAIN</a:t>
                        </a:r>
                        <a:endParaRPr lang="en-US" sz="800" spc="48"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Strategy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CIO office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4</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Modernization backlog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Medium"/>
                            <a:ea typeface="IBM Plex Mono Medium"/>
                            <a:cs typeface="IBM Plex Mono Medium"/>
                          </a:defRPr>
                        </a:pPr>
                        <a:r>
                          <a:rPr lang="en-US" sz="800" spc="48" kern="0" b="0" i="0" dirty="0">
                            <a:solidFill>
                              <a:srgbClr val="070154"/>
                            </a:solidFill>
                            <a:latin typeface="IBM Plex Mono Medium"/>
                            <a:ea typeface="IBM Plex Mono Medium"/>
                            <a:cs typeface="IBM Plex Mono Medium"/>
                          </a:rPr>
                          <a:t xml:space="preserve">SUSTAIN</a:t>
                        </a:r>
                        <a:endParaRPr lang="en-US" sz="800" spc="48"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Portfolio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Product leads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Ongoing</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18" name="node03.row.item-001.p.outline"/>
            <p:cNvSpPr/>
            <p:nvPr/>
          </p:nvSpPr>
          <p:spPr>
            <a:xfrm>
              <a:off x="6515100" y="952500"/>
              <a:ext cx="857628" cy="139700"/>
            </a:xfrm>
            <a:prstGeom prst="rect">
              <a:avLst/>
            </a:prstGeom>
            <a:ln w="9525">
              <a:solidFill>
                <a:srgbClr val="070154"/>
              </a:solidFill>
              <a:prstDash val="solid"/>
            </a:ln>
          </p:spPr>
        </p:sp>
        <p:sp>
          <p:nvSpPr>
            <p:cNvPr id="19" name="node03.row.item-002.p.outline"/>
            <p:cNvSpPr/>
            <p:nvPr/>
          </p:nvSpPr>
          <p:spPr>
            <a:xfrm>
              <a:off x="6515100" y="1371600"/>
              <a:ext cx="857628" cy="139700"/>
            </a:xfrm>
            <a:prstGeom prst="rect">
              <a:avLst/>
            </a:prstGeom>
            <a:ln w="9525">
              <a:solidFill>
                <a:srgbClr val="070154"/>
              </a:solidFill>
              <a:prstDash val="solid"/>
            </a:ln>
          </p:spPr>
        </p:sp>
        <p:sp>
          <p:nvSpPr>
            <p:cNvPr id="20" name="node03.row.item-003.p.outline"/>
            <p:cNvSpPr/>
            <p:nvPr/>
          </p:nvSpPr>
          <p:spPr>
            <a:xfrm>
              <a:off x="6515100" y="1790700"/>
              <a:ext cx="857628" cy="139700"/>
            </a:xfrm>
            <a:prstGeom prst="rect">
              <a:avLst/>
            </a:prstGeom>
            <a:ln w="9525">
              <a:solidFill>
                <a:srgbClr val="070154"/>
              </a:solidFill>
              <a:prstDash val="solid"/>
            </a:ln>
          </p:spPr>
        </p:sp>
        <p:sp>
          <p:nvSpPr>
            <p:cNvPr id="21" name="node03.row.item-004.p.outline"/>
            <p:cNvSpPr/>
            <p:nvPr/>
          </p:nvSpPr>
          <p:spPr>
            <a:xfrm>
              <a:off x="6515100" y="2209800"/>
              <a:ext cx="857628" cy="139700"/>
            </a:xfrm>
            <a:prstGeom prst="rect">
              <a:avLst/>
            </a:prstGeom>
            <a:ln w="9525">
              <a:solidFill>
                <a:srgbClr val="070154"/>
              </a:solidFill>
              <a:prstDash val="solid"/>
            </a:ln>
          </p:spPr>
        </p:sp>
        <p:sp>
          <p:nvSpPr>
            <p:cNvPr id="22" name="node03.row.item-005.p.outline"/>
            <p:cNvSpPr/>
            <p:nvPr/>
          </p:nvSpPr>
          <p:spPr>
            <a:xfrm>
              <a:off x="6515100" y="2628900"/>
              <a:ext cx="459104" cy="139700"/>
            </a:xfrm>
            <a:prstGeom prst="rect">
              <a:avLst/>
            </a:prstGeom>
            <a:ln w="9525">
              <a:solidFill>
                <a:srgbClr val="070154"/>
              </a:solidFill>
              <a:prstDash val="solid"/>
            </a:ln>
          </p:spPr>
        </p:sp>
        <p:sp>
          <p:nvSpPr>
            <p:cNvPr id="23" name="node03.row.item-006.p.outline"/>
            <p:cNvSpPr/>
            <p:nvPr/>
          </p:nvSpPr>
          <p:spPr>
            <a:xfrm>
              <a:off x="6515100" y="3048000"/>
              <a:ext cx="459104" cy="139700"/>
            </a:xfrm>
            <a:prstGeom prst="rect">
              <a:avLst/>
            </a:prstGeom>
            <a:ln w="9525">
              <a:solidFill>
                <a:srgbClr val="070154"/>
              </a:solidFill>
              <a:prstDash val="solid"/>
            </a:ln>
          </p:spPr>
        </p:sp>
        <p:sp>
          <p:nvSpPr>
            <p:cNvPr id="24" name="node03.row.item-007.p.outline"/>
            <p:cNvSpPr/>
            <p:nvPr/>
          </p:nvSpPr>
          <p:spPr>
            <a:xfrm>
              <a:off x="6515100" y="3467100"/>
              <a:ext cx="459104" cy="139700"/>
            </a:xfrm>
            <a:prstGeom prst="rect">
              <a:avLst/>
            </a:prstGeom>
            <a:ln w="9525">
              <a:solidFill>
                <a:srgbClr val="070154"/>
              </a:solidFill>
              <a:prstDash val="solid"/>
            </a:ln>
          </p:spPr>
        </p:sp>
        <p:sp>
          <p:nvSpPr>
            <p:cNvPr id="25" name="node03.row.item-008.p.outline"/>
            <p:cNvSpPr/>
            <p:nvPr/>
          </p:nvSpPr>
          <p:spPr>
            <a:xfrm>
              <a:off x="6515100" y="3886200"/>
              <a:ext cx="459104" cy="139700"/>
            </a:xfrm>
            <a:prstGeom prst="rect">
              <a:avLst/>
            </a:prstGeom>
            <a:ln w="9525">
              <a:solidFill>
                <a:srgbClr val="070154"/>
              </a:solidFill>
              <a:prstDash val="solid"/>
            </a:ln>
          </p:spPr>
        </p:sp>
        <p:sp>
          <p:nvSpPr>
            <p:cNvPr id="26" name="node03.row.item-009.p.outline"/>
            <p:cNvSpPr/>
            <p:nvPr/>
          </p:nvSpPr>
          <p:spPr>
            <a:xfrm>
              <a:off x="6515100" y="4305300"/>
              <a:ext cx="591945" cy="139700"/>
            </a:xfrm>
            <a:prstGeom prst="rect">
              <a:avLst/>
            </a:prstGeom>
            <a:ln w="9525">
              <a:solidFill>
                <a:srgbClr val="070154"/>
              </a:solidFill>
              <a:prstDash val="solid"/>
            </a:ln>
          </p:spPr>
        </p:sp>
        <p:sp>
          <p:nvSpPr>
            <p:cNvPr id="27" name="node03.row.item-010.p.outline"/>
            <p:cNvSpPr/>
            <p:nvPr/>
          </p:nvSpPr>
          <p:spPr>
            <a:xfrm>
              <a:off x="6515100" y="4724400"/>
              <a:ext cx="591945" cy="139700"/>
            </a:xfrm>
            <a:prstGeom prst="rect">
              <a:avLst/>
            </a:prstGeom>
            <a:ln w="9525">
              <a:solidFill>
                <a:srgbClr val="070154"/>
              </a:solidFill>
              <a:prstDash val="solid"/>
            </a:ln>
          </p:spPr>
        </p:sp>
        <p:sp>
          <p:nvSpPr>
            <p:cNvPr id="28" name="node03.row.item-011.p.outline"/>
            <p:cNvSpPr/>
            <p:nvPr/>
          </p:nvSpPr>
          <p:spPr>
            <a:xfrm>
              <a:off x="6515100" y="5143500"/>
              <a:ext cx="591945" cy="139700"/>
            </a:xfrm>
            <a:prstGeom prst="rect">
              <a:avLst/>
            </a:prstGeom>
            <a:ln w="9525">
              <a:solidFill>
                <a:srgbClr val="070154"/>
              </a:solidFill>
              <a:prstDash val="solid"/>
            </a:ln>
          </p:spPr>
        </p:sp>
        <p:sp>
          <p:nvSpPr>
            <p:cNvPr id="29" name="node03.row.item-012.p.outline"/>
            <p:cNvSpPr/>
            <p:nvPr/>
          </p:nvSpPr>
          <p:spPr>
            <a:xfrm>
              <a:off x="6515100" y="5562600"/>
              <a:ext cx="591945" cy="139700"/>
            </a:xfrm>
            <a:prstGeom prst="rect">
              <a:avLst/>
            </a:prstGeom>
            <a:ln w="9525">
              <a:solidFill>
                <a:srgbClr val="070154"/>
              </a:solidFill>
              <a:prstDash val="solid"/>
            </a:ln>
          </p:spPr>
        </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ource-227">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INTELLIO ASSETS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Twenty-four accelerators by segment and phase</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112</a:t>
            </a:fld>
            <a:endParaRPr lang="en-US" sz="700" spc="0" kern="0" b="0" i="0" dirty="0">
              <a:solidFill>
                <a:srgbClr val="070154"/>
              </a:solidFill>
              <a:latin typeface="IBM Plex Mono SemiBold"/>
              <a:ea typeface="IBM Plex Mono SemiBold"/>
              <a:cs typeface="IBM Plex Mono SemiBold"/>
            </a:endParaRPr>
          </a:p>
        </p:txBody>
      </p:sp>
      <p:grpSp>
        <p:nvGrpSpPr>
          <p:cNvPr id="80" name="node01"/>
          <p:cNvGrpSpPr/>
          <p:nvPr/>
        </p:nvGrpSpPr>
        <p:grpSpPr>
          <a:xfrm>
            <a:off x="723900" y="2286000"/>
            <a:ext cx="3429000" cy="647700"/>
            <a:chOff x="723900" y="2286000"/>
            <a:chExt cx="3429000" cy="647700"/>
          </a:xfrm>
        </p:grpSpPr>
        <p:sp>
          <p:nvSpPr>
            <p:cNvPr id="6" name="node01.text"/>
            <p:cNvSpPr/>
            <p:nvPr/>
          </p:nvSpPr>
          <p:spPr>
            <a:xfrm>
              <a:off x="723900" y="2286000"/>
              <a:ext cx="3429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Read down a column to follow one phase through the PDLC, or across a row to see everything available in a segment.</a:t>
              </a:r>
              <a:endParaRPr lang="en-US" sz="1200" spc="0" kern="0" b="0" i="0" dirty="0">
                <a:solidFill>
                  <a:srgbClr val="50658E"/>
                </a:solidFill>
                <a:latin typeface="IBM Plex Sans"/>
                <a:ea typeface="IBM Plex Sans"/>
                <a:cs typeface="IBM Plex Sans"/>
              </a:endParaRPr>
            </a:p>
          </p:txBody>
        </p:sp>
      </p:grpSp>
      <p:grpSp>
        <p:nvGrpSpPr>
          <p:cNvPr id="81" name="node02"/>
          <p:cNvGrpSpPr/>
          <p:nvPr/>
        </p:nvGrpSpPr>
        <p:grpSpPr>
          <a:xfrm>
            <a:off x="723900" y="3657600"/>
            <a:ext cx="3429000" cy="1828800"/>
            <a:chOff x="723900" y="3657600"/>
            <a:chExt cx="3429000" cy="1828800"/>
          </a:xfrm>
        </p:grpSpPr>
        <p:sp>
          <p:nvSpPr>
            <p:cNvPr id="7" name="node02.container"/>
            <p:cNvSpPr/>
            <p:nvPr/>
          </p:nvSpPr>
          <p:spPr>
            <a:xfrm>
              <a:off x="723900" y="3657600"/>
              <a:ext cx="3429000" cy="1828800"/>
            </a:xfrm>
            <a:prstGeom prst="rect">
              <a:avLst/>
            </a:prstGeom>
            <a:solidFill>
              <a:srgbClr val="E8EEF8"/>
            </a:solidFill>
            <a:ln>
              <a:noFill/>
            </a:ln>
          </p:spPr>
        </p:sp>
        <p:sp>
          <p:nvSpPr>
            <p:cNvPr id="8" name="node02.edge"/>
            <p:cNvSpPr/>
            <p:nvPr/>
          </p:nvSpPr>
          <p:spPr>
            <a:xfrm>
              <a:off x="723900" y="3657600"/>
              <a:ext cx="38100" cy="1828800"/>
            </a:xfrm>
            <a:prstGeom prst="rect">
              <a:avLst/>
            </a:prstGeom>
            <a:solidFill>
              <a:srgbClr val="070154"/>
            </a:solidFill>
            <a:ln>
              <a:noFill/>
            </a:ln>
          </p:spPr>
        </p:sp>
        <p:sp>
          <p:nvSpPr>
            <p:cNvPr id="9" name="node02.label"/>
            <p:cNvSpPr/>
            <p:nvPr/>
          </p:nvSpPr>
          <p:spPr>
            <a:xfrm>
              <a:off x="914400" y="3810000"/>
              <a:ext cx="30861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HOW TO USE</a:t>
              </a:r>
              <a:endParaRPr lang="en-US" sz="800" spc="48" kern="0" b="0" i="0" dirty="0">
                <a:solidFill>
                  <a:srgbClr val="0047FF"/>
                </a:solidFill>
                <a:latin typeface="IBM Plex Mono Medium"/>
                <a:ea typeface="IBM Plex Mono Medium"/>
                <a:cs typeface="IBM Plex Mono Medium"/>
              </a:endParaRPr>
            </a:p>
          </p:txBody>
        </p:sp>
        <p:sp>
          <p:nvSpPr>
            <p:cNvPr id="10" name="node02.title"/>
            <p:cNvSpPr/>
            <p:nvPr/>
          </p:nvSpPr>
          <p:spPr>
            <a:xfrm>
              <a:off x="914400" y="4025900"/>
              <a:ext cx="30861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Two accelerators each</a:t>
              </a:r>
              <a:endParaRPr lang="en-US" sz="1600" spc="-16" kern="0" b="0" i="0" dirty="0">
                <a:solidFill>
                  <a:srgbClr val="070154"/>
                </a:solidFill>
                <a:latin typeface="IBM Plex Sans SemiBold"/>
                <a:ea typeface="IBM Plex Sans SemiBold"/>
                <a:cs typeface="IBM Plex Sans SemiBold"/>
              </a:endParaRPr>
            </a:p>
          </p:txBody>
        </p:sp>
        <p:sp>
          <p:nvSpPr>
            <p:cNvPr id="11" name="node02.body.item-001.bullets.item-001.marker"/>
            <p:cNvSpPr/>
            <p:nvPr/>
          </p:nvSpPr>
          <p:spPr>
            <a:xfrm>
              <a:off x="914400" y="4533900"/>
              <a:ext cx="38100" cy="38100"/>
            </a:xfrm>
            <a:prstGeom prst="rect">
              <a:avLst/>
            </a:prstGeom>
            <a:solidFill>
              <a:srgbClr val="070154"/>
            </a:solidFill>
            <a:ln>
              <a:noFill/>
            </a:ln>
          </p:spPr>
        </p:sp>
        <p:sp>
          <p:nvSpPr>
            <p:cNvPr id="12" name="node02.body.item-001.bullets.item-001.text"/>
            <p:cNvSpPr/>
            <p:nvPr/>
          </p:nvSpPr>
          <p:spPr>
            <a:xfrm>
              <a:off x="1066800" y="44450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Start with the first in every cell</a:t>
              </a:r>
              <a:endParaRPr lang="en-US" sz="1200" spc="0" kern="0" b="0" i="0" dirty="0">
                <a:solidFill>
                  <a:srgbClr val="070154"/>
                </a:solidFill>
                <a:latin typeface="IBM Plex Sans"/>
                <a:ea typeface="IBM Plex Sans"/>
                <a:cs typeface="IBM Plex Sans"/>
              </a:endParaRPr>
            </a:p>
          </p:txBody>
        </p:sp>
        <p:sp>
          <p:nvSpPr>
            <p:cNvPr id="13" name="node02.body.item-001.bullets.item-002.marker"/>
            <p:cNvSpPr/>
            <p:nvPr/>
          </p:nvSpPr>
          <p:spPr>
            <a:xfrm>
              <a:off x="914400" y="4787900"/>
              <a:ext cx="38100" cy="38100"/>
            </a:xfrm>
            <a:prstGeom prst="rect">
              <a:avLst/>
            </a:prstGeom>
            <a:solidFill>
              <a:srgbClr val="070154"/>
            </a:solidFill>
            <a:ln>
              <a:noFill/>
            </a:ln>
          </p:spPr>
        </p:sp>
        <p:sp>
          <p:nvSpPr>
            <p:cNvPr id="14" name="node02.body.item-001.bullets.item-002.text"/>
            <p:cNvSpPr/>
            <p:nvPr/>
          </p:nvSpPr>
          <p:spPr>
            <a:xfrm>
              <a:off x="1066800" y="46990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Add the second as scope grows</a:t>
              </a:r>
              <a:endParaRPr lang="en-US" sz="1200" spc="0" kern="0" b="0" i="0" dirty="0">
                <a:solidFill>
                  <a:srgbClr val="070154"/>
                </a:solidFill>
                <a:latin typeface="IBM Plex Sans"/>
                <a:ea typeface="IBM Plex Sans"/>
                <a:cs typeface="IBM Plex Sans"/>
              </a:endParaRPr>
            </a:p>
          </p:txBody>
        </p:sp>
        <p:sp>
          <p:nvSpPr>
            <p:cNvPr id="15" name="node02.body.item-001.bullets.item-003.marker"/>
            <p:cNvSpPr/>
            <p:nvPr/>
          </p:nvSpPr>
          <p:spPr>
            <a:xfrm>
              <a:off x="914400" y="5041900"/>
              <a:ext cx="38100" cy="38100"/>
            </a:xfrm>
            <a:prstGeom prst="rect">
              <a:avLst/>
            </a:prstGeom>
            <a:solidFill>
              <a:srgbClr val="070154"/>
            </a:solidFill>
            <a:ln>
              <a:noFill/>
            </a:ln>
          </p:spPr>
        </p:sp>
        <p:sp>
          <p:nvSpPr>
            <p:cNvPr id="16" name="node02.body.item-001.bullets.item-003.text"/>
            <p:cNvSpPr/>
            <p:nvPr/>
          </p:nvSpPr>
          <p:spPr>
            <a:xfrm>
              <a:off x="1066800" y="49530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Both ship with playbooks</a:t>
              </a:r>
              <a:endParaRPr lang="en-US" sz="1200" spc="0" kern="0" b="0" i="0" dirty="0">
                <a:solidFill>
                  <a:srgbClr val="070154"/>
                </a:solidFill>
                <a:latin typeface="IBM Plex Sans"/>
                <a:ea typeface="IBM Plex Sans"/>
                <a:cs typeface="IBM Plex Sans"/>
              </a:endParaRPr>
            </a:p>
          </p:txBody>
        </p:sp>
      </p:grpSp>
      <p:grpSp>
        <p:nvGrpSpPr>
          <p:cNvPr id="82" name="node03"/>
          <p:cNvGrpSpPr/>
          <p:nvPr/>
        </p:nvGrpSpPr>
        <p:grpSpPr>
          <a:xfrm>
            <a:off x="5524500" y="457200"/>
            <a:ext cx="1828800" cy="457200"/>
            <a:chOff x="5524500" y="457200"/>
            <a:chExt cx="1828800" cy="457200"/>
          </a:xfrm>
        </p:grpSpPr>
        <p:sp>
          <p:nvSpPr>
            <p:cNvPr id="17" name="node03.surface"/>
            <p:cNvSpPr/>
            <p:nvPr/>
          </p:nvSpPr>
          <p:spPr>
            <a:xfrm>
              <a:off x="5524500" y="457200"/>
              <a:ext cx="1828800" cy="457200"/>
            </a:xfrm>
            <a:custGeom>
              <a:avLst/>
              <a:gdLst/>
              <a:ahLst/>
              <a:cxnLst/>
              <a:rect l="l" t="t" r="r" b="b"/>
              <a:pathLst>
                <a:path w="1828800" h="457200">
                  <a:moveTo>
                    <a:pt x="0" y="0"/>
                  </a:moveTo>
                  <a:lnTo>
                    <a:pt x="1676400" y="0"/>
                  </a:lnTo>
                  <a:lnTo>
                    <a:pt x="1828800" y="228600"/>
                  </a:lnTo>
                  <a:lnTo>
                    <a:pt x="1676400" y="457200"/>
                  </a:lnTo>
                  <a:lnTo>
                    <a:pt x="0" y="457200"/>
                  </a:lnTo>
                  <a:close/>
                </a:path>
              </a:pathLst>
            </a:custGeom>
            <a:solidFill>
              <a:srgbClr val="070154"/>
            </a:solidFill>
            <a:ln>
              <a:noFill/>
            </a:ln>
          </p:spPr>
        </p:sp>
        <p:sp>
          <p:nvSpPr>
            <p:cNvPr id="18" name="node03.text"/>
            <p:cNvSpPr/>
            <p:nvPr/>
          </p:nvSpPr>
          <p:spPr>
            <a:xfrm>
              <a:off x="5676900" y="577850"/>
              <a:ext cx="14478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a:ea typeface="IBM Plex Sans"/>
                  <a:cs typeface="IBM Plex Sans"/>
                </a:rPr>
                <a:t>Rationalize</a:t>
              </a:r>
              <a:endParaRPr lang="en-US" sz="1200" spc="0" kern="0" b="0" i="0" dirty="0">
                <a:solidFill>
                  <a:srgbClr val="FFFFFF"/>
                </a:solidFill>
                <a:latin typeface="IBM Plex Sans"/>
                <a:ea typeface="IBM Plex Sans"/>
                <a:cs typeface="IBM Plex Sans"/>
              </a:endParaRPr>
            </a:p>
          </p:txBody>
        </p:sp>
      </p:grpSp>
      <p:grpSp>
        <p:nvGrpSpPr>
          <p:cNvPr id="83" name="node04"/>
          <p:cNvGrpSpPr/>
          <p:nvPr/>
        </p:nvGrpSpPr>
        <p:grpSpPr>
          <a:xfrm>
            <a:off x="7581900" y="457200"/>
            <a:ext cx="1828800" cy="457200"/>
            <a:chOff x="7581900" y="457200"/>
            <a:chExt cx="1828800" cy="457200"/>
          </a:xfrm>
        </p:grpSpPr>
        <p:sp>
          <p:nvSpPr>
            <p:cNvPr id="19" name="node04.surface"/>
            <p:cNvSpPr/>
            <p:nvPr/>
          </p:nvSpPr>
          <p:spPr>
            <a:xfrm>
              <a:off x="7581900" y="457200"/>
              <a:ext cx="1828800" cy="457200"/>
            </a:xfrm>
            <a:custGeom>
              <a:avLst/>
              <a:gdLst/>
              <a:ahLst/>
              <a:cxnLst/>
              <a:rect l="l" t="t" r="r" b="b"/>
              <a:pathLst>
                <a:path w="1828800" h="457200">
                  <a:moveTo>
                    <a:pt x="0" y="0"/>
                  </a:moveTo>
                  <a:lnTo>
                    <a:pt x="1676400" y="0"/>
                  </a:lnTo>
                  <a:lnTo>
                    <a:pt x="1828800" y="228600"/>
                  </a:lnTo>
                  <a:lnTo>
                    <a:pt x="1676400" y="457200"/>
                  </a:lnTo>
                  <a:lnTo>
                    <a:pt x="0" y="457200"/>
                  </a:lnTo>
                  <a:lnTo>
                    <a:pt x="152400" y="228600"/>
                  </a:lnTo>
                  <a:close/>
                </a:path>
              </a:pathLst>
            </a:custGeom>
            <a:solidFill>
              <a:srgbClr val="CED7E6"/>
            </a:solidFill>
            <a:ln>
              <a:noFill/>
            </a:ln>
          </p:spPr>
        </p:sp>
        <p:sp>
          <p:nvSpPr>
            <p:cNvPr id="20" name="node04.text"/>
            <p:cNvSpPr/>
            <p:nvPr/>
          </p:nvSpPr>
          <p:spPr>
            <a:xfrm>
              <a:off x="7886700" y="577850"/>
              <a:ext cx="12954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a:ea typeface="IBM Plex Sans"/>
                  <a:cs typeface="IBM Plex Sans"/>
                </a:rPr>
                <a:t>Build</a:t>
              </a:r>
              <a:endParaRPr lang="en-US" sz="1200" spc="0" kern="0" b="0" i="0" dirty="0">
                <a:solidFill>
                  <a:srgbClr val="070154"/>
                </a:solidFill>
                <a:latin typeface="IBM Plex Sans"/>
                <a:ea typeface="IBM Plex Sans"/>
                <a:cs typeface="IBM Plex Sans"/>
              </a:endParaRPr>
            </a:p>
          </p:txBody>
        </p:sp>
      </p:grpSp>
      <p:grpSp>
        <p:nvGrpSpPr>
          <p:cNvPr id="84" name="node05"/>
          <p:cNvGrpSpPr/>
          <p:nvPr/>
        </p:nvGrpSpPr>
        <p:grpSpPr>
          <a:xfrm>
            <a:off x="9639300" y="457200"/>
            <a:ext cx="1828800" cy="457200"/>
            <a:chOff x="9639300" y="457200"/>
            <a:chExt cx="1828800" cy="457200"/>
          </a:xfrm>
        </p:grpSpPr>
        <p:sp>
          <p:nvSpPr>
            <p:cNvPr id="21" name="node05.surface"/>
            <p:cNvSpPr/>
            <p:nvPr/>
          </p:nvSpPr>
          <p:spPr>
            <a:xfrm>
              <a:off x="9639300" y="457200"/>
              <a:ext cx="1828800" cy="457200"/>
            </a:xfrm>
            <a:custGeom>
              <a:avLst/>
              <a:gdLst/>
              <a:ahLst/>
              <a:cxnLst/>
              <a:rect l="l" t="t" r="r" b="b"/>
              <a:pathLst>
                <a:path w="1828800" h="457200">
                  <a:moveTo>
                    <a:pt x="0" y="0"/>
                  </a:moveTo>
                  <a:lnTo>
                    <a:pt x="1676400" y="0"/>
                  </a:lnTo>
                  <a:lnTo>
                    <a:pt x="1828800" y="228600"/>
                  </a:lnTo>
                  <a:lnTo>
                    <a:pt x="1676400" y="457200"/>
                  </a:lnTo>
                  <a:lnTo>
                    <a:pt x="0" y="457200"/>
                  </a:lnTo>
                  <a:lnTo>
                    <a:pt x="152400" y="228600"/>
                  </a:lnTo>
                  <a:close/>
                </a:path>
              </a:pathLst>
            </a:custGeom>
            <a:solidFill>
              <a:srgbClr val="E8EEF8"/>
            </a:solidFill>
            <a:ln>
              <a:noFill/>
            </a:ln>
          </p:spPr>
        </p:sp>
        <p:sp>
          <p:nvSpPr>
            <p:cNvPr id="22" name="node05.text"/>
            <p:cNvSpPr/>
            <p:nvPr/>
          </p:nvSpPr>
          <p:spPr>
            <a:xfrm>
              <a:off x="9944100" y="577850"/>
              <a:ext cx="12954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a:ea typeface="IBM Plex Sans"/>
                  <a:cs typeface="IBM Plex Sans"/>
                </a:rPr>
                <a:t>Sustain</a:t>
              </a:r>
              <a:endParaRPr lang="en-US" sz="1200" spc="0" kern="0" b="0" i="0" dirty="0">
                <a:solidFill>
                  <a:srgbClr val="070154"/>
                </a:solidFill>
                <a:latin typeface="IBM Plex Sans"/>
                <a:ea typeface="IBM Plex Sans"/>
                <a:cs typeface="IBM Plex Sans"/>
              </a:endParaRPr>
            </a:p>
          </p:txBody>
        </p:sp>
      </p:grpSp>
      <p:grpSp>
        <p:nvGrpSpPr>
          <p:cNvPr id="85" name="node06"/>
          <p:cNvGrpSpPr/>
          <p:nvPr/>
        </p:nvGrpSpPr>
        <p:grpSpPr>
          <a:xfrm>
            <a:off x="4381500" y="1143000"/>
            <a:ext cx="914400" cy="838200"/>
            <a:chOff x="4381500" y="1143000"/>
            <a:chExt cx="914400" cy="838200"/>
          </a:xfrm>
        </p:grpSpPr>
        <p:sp>
          <p:nvSpPr>
            <p:cNvPr id="23" name="node06.surface"/>
            <p:cNvSpPr/>
            <p:nvPr/>
          </p:nvSpPr>
          <p:spPr>
            <a:xfrm>
              <a:off x="4381500" y="1143000"/>
              <a:ext cx="914400" cy="838200"/>
            </a:xfrm>
            <a:prstGeom prst="rect">
              <a:avLst/>
            </a:prstGeom>
            <a:solidFill>
              <a:srgbClr val="05013F"/>
            </a:solidFill>
            <a:ln>
              <a:noFill/>
            </a:ln>
          </p:spPr>
        </p:sp>
        <p:sp>
          <p:nvSpPr>
            <p:cNvPr id="24" name="node06.text"/>
            <p:cNvSpPr/>
            <p:nvPr/>
          </p:nvSpPr>
          <p:spPr>
            <a:xfrm>
              <a:off x="4457700" y="1466850"/>
              <a:ext cx="762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Identify</a:t>
              </a:r>
              <a:endParaRPr lang="en-US" sz="1100" spc="0" kern="0" b="0" i="0" dirty="0">
                <a:solidFill>
                  <a:srgbClr val="FFFFFF"/>
                </a:solidFill>
                <a:latin typeface="IBM Plex Sans"/>
                <a:ea typeface="IBM Plex Sans"/>
                <a:cs typeface="IBM Plex Sans"/>
              </a:endParaRPr>
            </a:p>
          </p:txBody>
        </p:sp>
      </p:grpSp>
      <p:grpSp>
        <p:nvGrpSpPr>
          <p:cNvPr id="86" name="node07"/>
          <p:cNvGrpSpPr/>
          <p:nvPr/>
        </p:nvGrpSpPr>
        <p:grpSpPr>
          <a:xfrm>
            <a:off x="5524500" y="1143000"/>
            <a:ext cx="1828800" cy="381000"/>
            <a:chOff x="5524500" y="1143000"/>
            <a:chExt cx="1828800" cy="381000"/>
          </a:xfrm>
        </p:grpSpPr>
        <p:sp>
          <p:nvSpPr>
            <p:cNvPr id="25" name="node07.surface"/>
            <p:cNvSpPr/>
            <p:nvPr/>
          </p:nvSpPr>
          <p:spPr>
            <a:xfrm>
              <a:off x="5524500" y="1143000"/>
              <a:ext cx="1828800" cy="381000"/>
            </a:xfrm>
            <a:prstGeom prst="rect">
              <a:avLst/>
            </a:prstGeom>
            <a:solidFill>
              <a:srgbClr val="070154"/>
            </a:solidFill>
            <a:ln>
              <a:noFill/>
            </a:ln>
          </p:spPr>
        </p:sp>
        <p:sp>
          <p:nvSpPr>
            <p:cNvPr id="26" name="node07.text"/>
            <p:cNvSpPr/>
            <p:nvPr/>
          </p:nvSpPr>
          <p:spPr>
            <a:xfrm>
              <a:off x="5676900" y="12382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Portfolio Analyzer</a:t>
              </a:r>
              <a:endParaRPr lang="en-US" sz="1100" spc="0" kern="0" b="0" i="0" dirty="0">
                <a:solidFill>
                  <a:srgbClr val="FFFFFF"/>
                </a:solidFill>
                <a:latin typeface="IBM Plex Sans"/>
                <a:ea typeface="IBM Plex Sans"/>
                <a:cs typeface="IBM Plex Sans"/>
              </a:endParaRPr>
            </a:p>
          </p:txBody>
        </p:sp>
      </p:grpSp>
      <p:grpSp>
        <p:nvGrpSpPr>
          <p:cNvPr id="87" name="node08"/>
          <p:cNvGrpSpPr/>
          <p:nvPr/>
        </p:nvGrpSpPr>
        <p:grpSpPr>
          <a:xfrm>
            <a:off x="5524500" y="1600200"/>
            <a:ext cx="1828800" cy="381000"/>
            <a:chOff x="5524500" y="1600200"/>
            <a:chExt cx="1828800" cy="381000"/>
          </a:xfrm>
        </p:grpSpPr>
        <p:sp>
          <p:nvSpPr>
            <p:cNvPr id="27" name="node08.surface"/>
            <p:cNvSpPr/>
            <p:nvPr/>
          </p:nvSpPr>
          <p:spPr>
            <a:xfrm>
              <a:off x="5524500" y="1600200"/>
              <a:ext cx="1828800" cy="381000"/>
            </a:xfrm>
            <a:prstGeom prst="rect">
              <a:avLst/>
            </a:prstGeom>
            <a:solidFill>
              <a:srgbClr val="070154"/>
            </a:solidFill>
            <a:ln>
              <a:noFill/>
            </a:ln>
          </p:spPr>
        </p:sp>
        <p:sp>
          <p:nvSpPr>
            <p:cNvPr id="28" name="node08.text"/>
            <p:cNvSpPr/>
            <p:nvPr/>
          </p:nvSpPr>
          <p:spPr>
            <a:xfrm>
              <a:off x="5676900" y="16954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Dependency Mapper</a:t>
              </a:r>
              <a:endParaRPr lang="en-US" sz="1100" spc="0" kern="0" b="0" i="0" dirty="0">
                <a:solidFill>
                  <a:srgbClr val="FFFFFF"/>
                </a:solidFill>
                <a:latin typeface="IBM Plex Sans"/>
                <a:ea typeface="IBM Plex Sans"/>
                <a:cs typeface="IBM Plex Sans"/>
              </a:endParaRPr>
            </a:p>
          </p:txBody>
        </p:sp>
      </p:grpSp>
      <p:grpSp>
        <p:nvGrpSpPr>
          <p:cNvPr id="88" name="node09"/>
          <p:cNvGrpSpPr/>
          <p:nvPr/>
        </p:nvGrpSpPr>
        <p:grpSpPr>
          <a:xfrm>
            <a:off x="7581900" y="1143000"/>
            <a:ext cx="1828800" cy="381000"/>
            <a:chOff x="7581900" y="1143000"/>
            <a:chExt cx="1828800" cy="381000"/>
          </a:xfrm>
        </p:grpSpPr>
        <p:sp>
          <p:nvSpPr>
            <p:cNvPr id="29" name="node09.surface"/>
            <p:cNvSpPr/>
            <p:nvPr/>
          </p:nvSpPr>
          <p:spPr>
            <a:xfrm>
              <a:off x="7581900" y="1143000"/>
              <a:ext cx="1828800" cy="381000"/>
            </a:xfrm>
            <a:prstGeom prst="rect">
              <a:avLst/>
            </a:prstGeom>
            <a:solidFill>
              <a:srgbClr val="CED7E6"/>
            </a:solidFill>
            <a:ln>
              <a:noFill/>
            </a:ln>
          </p:spPr>
        </p:sp>
        <p:sp>
          <p:nvSpPr>
            <p:cNvPr id="30" name="node09.text"/>
            <p:cNvSpPr/>
            <p:nvPr/>
          </p:nvSpPr>
          <p:spPr>
            <a:xfrm>
              <a:off x="7734300" y="12382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Code Scanner</a:t>
              </a:r>
              <a:endParaRPr lang="en-US" sz="1100" spc="0" kern="0" b="0" i="0" dirty="0">
                <a:solidFill>
                  <a:srgbClr val="070154"/>
                </a:solidFill>
                <a:latin typeface="IBM Plex Sans"/>
                <a:ea typeface="IBM Plex Sans"/>
                <a:cs typeface="IBM Plex Sans"/>
              </a:endParaRPr>
            </a:p>
          </p:txBody>
        </p:sp>
      </p:grpSp>
      <p:grpSp>
        <p:nvGrpSpPr>
          <p:cNvPr id="89" name="node10"/>
          <p:cNvGrpSpPr/>
          <p:nvPr/>
        </p:nvGrpSpPr>
        <p:grpSpPr>
          <a:xfrm>
            <a:off x="7581900" y="1600200"/>
            <a:ext cx="1828800" cy="381000"/>
            <a:chOff x="7581900" y="1600200"/>
            <a:chExt cx="1828800" cy="381000"/>
          </a:xfrm>
        </p:grpSpPr>
        <p:sp>
          <p:nvSpPr>
            <p:cNvPr id="31" name="node10.surface"/>
            <p:cNvSpPr/>
            <p:nvPr/>
          </p:nvSpPr>
          <p:spPr>
            <a:xfrm>
              <a:off x="7581900" y="1600200"/>
              <a:ext cx="1828800" cy="381000"/>
            </a:xfrm>
            <a:prstGeom prst="rect">
              <a:avLst/>
            </a:prstGeom>
            <a:solidFill>
              <a:srgbClr val="CED7E6"/>
            </a:solidFill>
            <a:ln>
              <a:noFill/>
            </a:ln>
          </p:spPr>
        </p:sp>
        <p:sp>
          <p:nvSpPr>
            <p:cNvPr id="32" name="node10.text"/>
            <p:cNvSpPr/>
            <p:nvPr/>
          </p:nvSpPr>
          <p:spPr>
            <a:xfrm>
              <a:off x="7734300" y="16954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Interface Profiler</a:t>
              </a:r>
              <a:endParaRPr lang="en-US" sz="1100" spc="0" kern="0" b="0" i="0" dirty="0">
                <a:solidFill>
                  <a:srgbClr val="070154"/>
                </a:solidFill>
                <a:latin typeface="IBM Plex Sans"/>
                <a:ea typeface="IBM Plex Sans"/>
                <a:cs typeface="IBM Plex Sans"/>
              </a:endParaRPr>
            </a:p>
          </p:txBody>
        </p:sp>
      </p:grpSp>
      <p:grpSp>
        <p:nvGrpSpPr>
          <p:cNvPr id="90" name="node11"/>
          <p:cNvGrpSpPr/>
          <p:nvPr/>
        </p:nvGrpSpPr>
        <p:grpSpPr>
          <a:xfrm>
            <a:off x="9639300" y="1143000"/>
            <a:ext cx="1828800" cy="381000"/>
            <a:chOff x="9639300" y="1143000"/>
            <a:chExt cx="1828800" cy="381000"/>
          </a:xfrm>
        </p:grpSpPr>
        <p:sp>
          <p:nvSpPr>
            <p:cNvPr id="33" name="node11.surface"/>
            <p:cNvSpPr/>
            <p:nvPr/>
          </p:nvSpPr>
          <p:spPr>
            <a:xfrm>
              <a:off x="9639300" y="1143000"/>
              <a:ext cx="1828800" cy="381000"/>
            </a:xfrm>
            <a:prstGeom prst="rect">
              <a:avLst/>
            </a:prstGeom>
            <a:solidFill>
              <a:srgbClr val="E8EEF8"/>
            </a:solidFill>
            <a:ln>
              <a:noFill/>
            </a:ln>
          </p:spPr>
        </p:sp>
        <p:sp>
          <p:nvSpPr>
            <p:cNvPr id="34" name="node11.text"/>
            <p:cNvSpPr/>
            <p:nvPr/>
          </p:nvSpPr>
          <p:spPr>
            <a:xfrm>
              <a:off x="9791700" y="12382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Estate Monitor</a:t>
              </a:r>
              <a:endParaRPr lang="en-US" sz="1100" spc="0" kern="0" b="0" i="0" dirty="0">
                <a:solidFill>
                  <a:srgbClr val="070154"/>
                </a:solidFill>
                <a:latin typeface="IBM Plex Sans"/>
                <a:ea typeface="IBM Plex Sans"/>
                <a:cs typeface="IBM Plex Sans"/>
              </a:endParaRPr>
            </a:p>
          </p:txBody>
        </p:sp>
      </p:grpSp>
      <p:grpSp>
        <p:nvGrpSpPr>
          <p:cNvPr id="91" name="node12"/>
          <p:cNvGrpSpPr/>
          <p:nvPr/>
        </p:nvGrpSpPr>
        <p:grpSpPr>
          <a:xfrm>
            <a:off x="9639300" y="1600200"/>
            <a:ext cx="1828800" cy="381000"/>
            <a:chOff x="9639300" y="1600200"/>
            <a:chExt cx="1828800" cy="381000"/>
          </a:xfrm>
        </p:grpSpPr>
        <p:sp>
          <p:nvSpPr>
            <p:cNvPr id="35" name="node12.surface"/>
            <p:cNvSpPr/>
            <p:nvPr/>
          </p:nvSpPr>
          <p:spPr>
            <a:xfrm>
              <a:off x="9639300" y="1600200"/>
              <a:ext cx="1828800" cy="381000"/>
            </a:xfrm>
            <a:prstGeom prst="rect">
              <a:avLst/>
            </a:prstGeom>
            <a:solidFill>
              <a:srgbClr val="E8EEF8"/>
            </a:solidFill>
            <a:ln>
              <a:noFill/>
            </a:ln>
          </p:spPr>
        </p:sp>
        <p:sp>
          <p:nvSpPr>
            <p:cNvPr id="36" name="node12.text"/>
            <p:cNvSpPr/>
            <p:nvPr/>
          </p:nvSpPr>
          <p:spPr>
            <a:xfrm>
              <a:off x="9791700" y="16954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Drift Alerts</a:t>
              </a:r>
              <a:endParaRPr lang="en-US" sz="1100" spc="0" kern="0" b="0" i="0" dirty="0">
                <a:solidFill>
                  <a:srgbClr val="070154"/>
                </a:solidFill>
                <a:latin typeface="IBM Plex Sans"/>
                <a:ea typeface="IBM Plex Sans"/>
                <a:cs typeface="IBM Plex Sans"/>
              </a:endParaRPr>
            </a:p>
          </p:txBody>
        </p:sp>
      </p:grpSp>
      <p:grpSp>
        <p:nvGrpSpPr>
          <p:cNvPr id="92" name="node13"/>
          <p:cNvGrpSpPr/>
          <p:nvPr/>
        </p:nvGrpSpPr>
        <p:grpSpPr>
          <a:xfrm>
            <a:off x="4381500" y="2286000"/>
            <a:ext cx="914400" cy="838200"/>
            <a:chOff x="4381500" y="2286000"/>
            <a:chExt cx="914400" cy="838200"/>
          </a:xfrm>
        </p:grpSpPr>
        <p:sp>
          <p:nvSpPr>
            <p:cNvPr id="37" name="node13.surface"/>
            <p:cNvSpPr/>
            <p:nvPr/>
          </p:nvSpPr>
          <p:spPr>
            <a:xfrm>
              <a:off x="4381500" y="2286000"/>
              <a:ext cx="914400" cy="838200"/>
            </a:xfrm>
            <a:prstGeom prst="rect">
              <a:avLst/>
            </a:prstGeom>
            <a:solidFill>
              <a:srgbClr val="05013F"/>
            </a:solidFill>
            <a:ln>
              <a:noFill/>
            </a:ln>
          </p:spPr>
        </p:sp>
        <p:sp>
          <p:nvSpPr>
            <p:cNvPr id="38" name="node13.text"/>
            <p:cNvSpPr/>
            <p:nvPr/>
          </p:nvSpPr>
          <p:spPr>
            <a:xfrm>
              <a:off x="4457700" y="2609850"/>
              <a:ext cx="762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Define</a:t>
              </a:r>
              <a:endParaRPr lang="en-US" sz="1100" spc="0" kern="0" b="0" i="0" dirty="0">
                <a:solidFill>
                  <a:srgbClr val="FFFFFF"/>
                </a:solidFill>
                <a:latin typeface="IBM Plex Sans"/>
                <a:ea typeface="IBM Plex Sans"/>
                <a:cs typeface="IBM Plex Sans"/>
              </a:endParaRPr>
            </a:p>
          </p:txBody>
        </p:sp>
      </p:grpSp>
      <p:grpSp>
        <p:nvGrpSpPr>
          <p:cNvPr id="93" name="node14"/>
          <p:cNvGrpSpPr/>
          <p:nvPr/>
        </p:nvGrpSpPr>
        <p:grpSpPr>
          <a:xfrm>
            <a:off x="5524500" y="2286000"/>
            <a:ext cx="1828800" cy="381000"/>
            <a:chOff x="5524500" y="2286000"/>
            <a:chExt cx="1828800" cy="381000"/>
          </a:xfrm>
        </p:grpSpPr>
        <p:sp>
          <p:nvSpPr>
            <p:cNvPr id="39" name="node14.surface"/>
            <p:cNvSpPr/>
            <p:nvPr/>
          </p:nvSpPr>
          <p:spPr>
            <a:xfrm>
              <a:off x="5524500" y="2286000"/>
              <a:ext cx="1828800" cy="381000"/>
            </a:xfrm>
            <a:prstGeom prst="rect">
              <a:avLst/>
            </a:prstGeom>
            <a:solidFill>
              <a:srgbClr val="070154"/>
            </a:solidFill>
            <a:ln>
              <a:noFill/>
            </a:ln>
          </p:spPr>
        </p:sp>
        <p:sp>
          <p:nvSpPr>
            <p:cNvPr id="40" name="node14.text"/>
            <p:cNvSpPr/>
            <p:nvPr/>
          </p:nvSpPr>
          <p:spPr>
            <a:xfrm>
              <a:off x="5676900" y="23812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Disposition Modeler</a:t>
              </a:r>
              <a:endParaRPr lang="en-US" sz="1100" spc="0" kern="0" b="0" i="0" dirty="0">
                <a:solidFill>
                  <a:srgbClr val="FFFFFF"/>
                </a:solidFill>
                <a:latin typeface="IBM Plex Sans"/>
                <a:ea typeface="IBM Plex Sans"/>
                <a:cs typeface="IBM Plex Sans"/>
              </a:endParaRPr>
            </a:p>
          </p:txBody>
        </p:sp>
      </p:grpSp>
      <p:grpSp>
        <p:nvGrpSpPr>
          <p:cNvPr id="94" name="node15"/>
          <p:cNvGrpSpPr/>
          <p:nvPr/>
        </p:nvGrpSpPr>
        <p:grpSpPr>
          <a:xfrm>
            <a:off x="5524500" y="2743200"/>
            <a:ext cx="1828800" cy="381000"/>
            <a:chOff x="5524500" y="2743200"/>
            <a:chExt cx="1828800" cy="381000"/>
          </a:xfrm>
        </p:grpSpPr>
        <p:sp>
          <p:nvSpPr>
            <p:cNvPr id="41" name="node15.surface"/>
            <p:cNvSpPr/>
            <p:nvPr/>
          </p:nvSpPr>
          <p:spPr>
            <a:xfrm>
              <a:off x="5524500" y="2743200"/>
              <a:ext cx="1828800" cy="381000"/>
            </a:xfrm>
            <a:prstGeom prst="rect">
              <a:avLst/>
            </a:prstGeom>
            <a:solidFill>
              <a:srgbClr val="070154"/>
            </a:solidFill>
            <a:ln>
              <a:noFill/>
            </a:ln>
          </p:spPr>
        </p:sp>
        <p:sp>
          <p:nvSpPr>
            <p:cNvPr id="42" name="node15.text"/>
            <p:cNvSpPr/>
            <p:nvPr/>
          </p:nvSpPr>
          <p:spPr>
            <a:xfrm>
              <a:off x="5676900" y="28384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Risk Scorer</a:t>
              </a:r>
              <a:endParaRPr lang="en-US" sz="1100" spc="0" kern="0" b="0" i="0" dirty="0">
                <a:solidFill>
                  <a:srgbClr val="FFFFFF"/>
                </a:solidFill>
                <a:latin typeface="IBM Plex Sans"/>
                <a:ea typeface="IBM Plex Sans"/>
                <a:cs typeface="IBM Plex Sans"/>
              </a:endParaRPr>
            </a:p>
          </p:txBody>
        </p:sp>
      </p:grpSp>
      <p:grpSp>
        <p:nvGrpSpPr>
          <p:cNvPr id="95" name="node16"/>
          <p:cNvGrpSpPr/>
          <p:nvPr/>
        </p:nvGrpSpPr>
        <p:grpSpPr>
          <a:xfrm>
            <a:off x="7581900" y="2286000"/>
            <a:ext cx="1828800" cy="381000"/>
            <a:chOff x="7581900" y="2286000"/>
            <a:chExt cx="1828800" cy="381000"/>
          </a:xfrm>
        </p:grpSpPr>
        <p:sp>
          <p:nvSpPr>
            <p:cNvPr id="43" name="node16.surface"/>
            <p:cNvSpPr/>
            <p:nvPr/>
          </p:nvSpPr>
          <p:spPr>
            <a:xfrm>
              <a:off x="7581900" y="2286000"/>
              <a:ext cx="1828800" cy="381000"/>
            </a:xfrm>
            <a:prstGeom prst="rect">
              <a:avLst/>
            </a:prstGeom>
            <a:solidFill>
              <a:srgbClr val="CED7E6"/>
            </a:solidFill>
            <a:ln>
              <a:noFill/>
            </a:ln>
          </p:spPr>
        </p:sp>
        <p:sp>
          <p:nvSpPr>
            <p:cNvPr id="44" name="node16.text"/>
            <p:cNvSpPr/>
            <p:nvPr/>
          </p:nvSpPr>
          <p:spPr>
            <a:xfrm>
              <a:off x="7734300" y="23812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Migration Planner</a:t>
              </a:r>
              <a:endParaRPr lang="en-US" sz="1100" spc="0" kern="0" b="0" i="0" dirty="0">
                <a:solidFill>
                  <a:srgbClr val="070154"/>
                </a:solidFill>
                <a:latin typeface="IBM Plex Sans"/>
                <a:ea typeface="IBM Plex Sans"/>
                <a:cs typeface="IBM Plex Sans"/>
              </a:endParaRPr>
            </a:p>
          </p:txBody>
        </p:sp>
      </p:grpSp>
      <p:grpSp>
        <p:nvGrpSpPr>
          <p:cNvPr id="96" name="node17"/>
          <p:cNvGrpSpPr/>
          <p:nvPr/>
        </p:nvGrpSpPr>
        <p:grpSpPr>
          <a:xfrm>
            <a:off x="7581900" y="2743200"/>
            <a:ext cx="1828800" cy="381000"/>
            <a:chOff x="7581900" y="2743200"/>
            <a:chExt cx="1828800" cy="381000"/>
          </a:xfrm>
        </p:grpSpPr>
        <p:sp>
          <p:nvSpPr>
            <p:cNvPr id="45" name="node17.surface"/>
            <p:cNvSpPr/>
            <p:nvPr/>
          </p:nvSpPr>
          <p:spPr>
            <a:xfrm>
              <a:off x="7581900" y="2743200"/>
              <a:ext cx="1828800" cy="381000"/>
            </a:xfrm>
            <a:prstGeom prst="rect">
              <a:avLst/>
            </a:prstGeom>
            <a:solidFill>
              <a:srgbClr val="CED7E6"/>
            </a:solidFill>
            <a:ln>
              <a:noFill/>
            </a:ln>
          </p:spPr>
        </p:sp>
        <p:sp>
          <p:nvSpPr>
            <p:cNvPr id="46" name="node17.text"/>
            <p:cNvSpPr/>
            <p:nvPr/>
          </p:nvSpPr>
          <p:spPr>
            <a:xfrm>
              <a:off x="7734300" y="28384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Cutover Playbooks</a:t>
              </a:r>
              <a:endParaRPr lang="en-US" sz="1100" spc="0" kern="0" b="0" i="0" dirty="0">
                <a:solidFill>
                  <a:srgbClr val="070154"/>
                </a:solidFill>
                <a:latin typeface="IBM Plex Sans"/>
                <a:ea typeface="IBM Plex Sans"/>
                <a:cs typeface="IBM Plex Sans"/>
              </a:endParaRPr>
            </a:p>
          </p:txBody>
        </p:sp>
      </p:grpSp>
      <p:grpSp>
        <p:nvGrpSpPr>
          <p:cNvPr id="97" name="node18"/>
          <p:cNvGrpSpPr/>
          <p:nvPr/>
        </p:nvGrpSpPr>
        <p:grpSpPr>
          <a:xfrm>
            <a:off x="9639300" y="2286000"/>
            <a:ext cx="1828800" cy="381000"/>
            <a:chOff x="9639300" y="2286000"/>
            <a:chExt cx="1828800" cy="381000"/>
          </a:xfrm>
        </p:grpSpPr>
        <p:sp>
          <p:nvSpPr>
            <p:cNvPr id="47" name="node18.surface"/>
            <p:cNvSpPr/>
            <p:nvPr/>
          </p:nvSpPr>
          <p:spPr>
            <a:xfrm>
              <a:off x="9639300" y="2286000"/>
              <a:ext cx="1828800" cy="381000"/>
            </a:xfrm>
            <a:prstGeom prst="rect">
              <a:avLst/>
            </a:prstGeom>
            <a:solidFill>
              <a:srgbClr val="E8EEF8"/>
            </a:solidFill>
            <a:ln>
              <a:noFill/>
            </a:ln>
          </p:spPr>
        </p:sp>
        <p:sp>
          <p:nvSpPr>
            <p:cNvPr id="48" name="node18.text"/>
            <p:cNvSpPr/>
            <p:nvPr/>
          </p:nvSpPr>
          <p:spPr>
            <a:xfrm>
              <a:off x="9791700" y="23812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Service Playbooks</a:t>
              </a:r>
              <a:endParaRPr lang="en-US" sz="1100" spc="0" kern="0" b="0" i="0" dirty="0">
                <a:solidFill>
                  <a:srgbClr val="070154"/>
                </a:solidFill>
                <a:latin typeface="IBM Plex Sans"/>
                <a:ea typeface="IBM Plex Sans"/>
                <a:cs typeface="IBM Plex Sans"/>
              </a:endParaRPr>
            </a:p>
          </p:txBody>
        </p:sp>
      </p:grpSp>
      <p:grpSp>
        <p:nvGrpSpPr>
          <p:cNvPr id="98" name="node19"/>
          <p:cNvGrpSpPr/>
          <p:nvPr/>
        </p:nvGrpSpPr>
        <p:grpSpPr>
          <a:xfrm>
            <a:off x="9639300" y="2743200"/>
            <a:ext cx="1828800" cy="381000"/>
            <a:chOff x="9639300" y="2743200"/>
            <a:chExt cx="1828800" cy="381000"/>
          </a:xfrm>
        </p:grpSpPr>
        <p:sp>
          <p:nvSpPr>
            <p:cNvPr id="49" name="node19.surface"/>
            <p:cNvSpPr/>
            <p:nvPr/>
          </p:nvSpPr>
          <p:spPr>
            <a:xfrm>
              <a:off x="9639300" y="2743200"/>
              <a:ext cx="1828800" cy="381000"/>
            </a:xfrm>
            <a:prstGeom prst="rect">
              <a:avLst/>
            </a:prstGeom>
            <a:solidFill>
              <a:srgbClr val="E8EEF8"/>
            </a:solidFill>
            <a:ln>
              <a:noFill/>
            </a:ln>
          </p:spPr>
        </p:sp>
        <p:sp>
          <p:nvSpPr>
            <p:cNvPr id="50" name="node19.text"/>
            <p:cNvSpPr/>
            <p:nvPr/>
          </p:nvSpPr>
          <p:spPr>
            <a:xfrm>
              <a:off x="9791700" y="28384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SLO Designer</a:t>
              </a:r>
              <a:endParaRPr lang="en-US" sz="1100" spc="0" kern="0" b="0" i="0" dirty="0">
                <a:solidFill>
                  <a:srgbClr val="070154"/>
                </a:solidFill>
                <a:latin typeface="IBM Plex Sans"/>
                <a:ea typeface="IBM Plex Sans"/>
                <a:cs typeface="IBM Plex Sans"/>
              </a:endParaRPr>
            </a:p>
          </p:txBody>
        </p:sp>
      </p:grpSp>
      <p:grpSp>
        <p:nvGrpSpPr>
          <p:cNvPr id="99" name="node20"/>
          <p:cNvGrpSpPr/>
          <p:nvPr/>
        </p:nvGrpSpPr>
        <p:grpSpPr>
          <a:xfrm>
            <a:off x="4381500" y="3429000"/>
            <a:ext cx="914400" cy="838200"/>
            <a:chOff x="4381500" y="3429000"/>
            <a:chExt cx="914400" cy="838200"/>
          </a:xfrm>
        </p:grpSpPr>
        <p:sp>
          <p:nvSpPr>
            <p:cNvPr id="51" name="node20.surface"/>
            <p:cNvSpPr/>
            <p:nvPr/>
          </p:nvSpPr>
          <p:spPr>
            <a:xfrm>
              <a:off x="4381500" y="3429000"/>
              <a:ext cx="914400" cy="838200"/>
            </a:xfrm>
            <a:prstGeom prst="rect">
              <a:avLst/>
            </a:prstGeom>
            <a:solidFill>
              <a:srgbClr val="05013F"/>
            </a:solidFill>
            <a:ln>
              <a:noFill/>
            </a:ln>
          </p:spPr>
        </p:sp>
        <p:sp>
          <p:nvSpPr>
            <p:cNvPr id="52" name="node20.text"/>
            <p:cNvSpPr/>
            <p:nvPr/>
          </p:nvSpPr>
          <p:spPr>
            <a:xfrm>
              <a:off x="4457700" y="3752850"/>
              <a:ext cx="762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Build</a:t>
              </a:r>
              <a:endParaRPr lang="en-US" sz="1100" spc="0" kern="0" b="0" i="0" dirty="0">
                <a:solidFill>
                  <a:srgbClr val="FFFFFF"/>
                </a:solidFill>
                <a:latin typeface="IBM Plex Sans"/>
                <a:ea typeface="IBM Plex Sans"/>
                <a:cs typeface="IBM Plex Sans"/>
              </a:endParaRPr>
            </a:p>
          </p:txBody>
        </p:sp>
      </p:grpSp>
      <p:grpSp>
        <p:nvGrpSpPr>
          <p:cNvPr id="100" name="node21"/>
          <p:cNvGrpSpPr/>
          <p:nvPr/>
        </p:nvGrpSpPr>
        <p:grpSpPr>
          <a:xfrm>
            <a:off x="5524500" y="3429000"/>
            <a:ext cx="1828800" cy="381000"/>
            <a:chOff x="5524500" y="3429000"/>
            <a:chExt cx="1828800" cy="381000"/>
          </a:xfrm>
        </p:grpSpPr>
        <p:sp>
          <p:nvSpPr>
            <p:cNvPr id="53" name="node21.surface"/>
            <p:cNvSpPr/>
            <p:nvPr/>
          </p:nvSpPr>
          <p:spPr>
            <a:xfrm>
              <a:off x="5524500" y="3429000"/>
              <a:ext cx="1828800" cy="381000"/>
            </a:xfrm>
            <a:prstGeom prst="rect">
              <a:avLst/>
            </a:prstGeom>
            <a:solidFill>
              <a:srgbClr val="070154"/>
            </a:solidFill>
            <a:ln>
              <a:noFill/>
            </a:ln>
          </p:spPr>
        </p:sp>
        <p:sp>
          <p:nvSpPr>
            <p:cNvPr id="54" name="node21.text"/>
            <p:cNvSpPr/>
            <p:nvPr/>
          </p:nvSpPr>
          <p:spPr>
            <a:xfrm>
              <a:off x="5676900" y="35242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Target Blueprints</a:t>
              </a:r>
              <a:endParaRPr lang="en-US" sz="1100" spc="0" kern="0" b="0" i="0" dirty="0">
                <a:solidFill>
                  <a:srgbClr val="FFFFFF"/>
                </a:solidFill>
                <a:latin typeface="IBM Plex Sans"/>
                <a:ea typeface="IBM Plex Sans"/>
                <a:cs typeface="IBM Plex Sans"/>
              </a:endParaRPr>
            </a:p>
          </p:txBody>
        </p:sp>
      </p:grpSp>
      <p:grpSp>
        <p:nvGrpSpPr>
          <p:cNvPr id="101" name="node22"/>
          <p:cNvGrpSpPr/>
          <p:nvPr/>
        </p:nvGrpSpPr>
        <p:grpSpPr>
          <a:xfrm>
            <a:off x="5524500" y="3886200"/>
            <a:ext cx="1828800" cy="381000"/>
            <a:chOff x="5524500" y="3886200"/>
            <a:chExt cx="1828800" cy="381000"/>
          </a:xfrm>
        </p:grpSpPr>
        <p:sp>
          <p:nvSpPr>
            <p:cNvPr id="55" name="node22.surface"/>
            <p:cNvSpPr/>
            <p:nvPr/>
          </p:nvSpPr>
          <p:spPr>
            <a:xfrm>
              <a:off x="5524500" y="3886200"/>
              <a:ext cx="1828800" cy="381000"/>
            </a:xfrm>
            <a:prstGeom prst="rect">
              <a:avLst/>
            </a:prstGeom>
            <a:solidFill>
              <a:srgbClr val="070154"/>
            </a:solidFill>
            <a:ln>
              <a:noFill/>
            </a:ln>
          </p:spPr>
        </p:sp>
        <p:sp>
          <p:nvSpPr>
            <p:cNvPr id="56" name="node22.text"/>
            <p:cNvSpPr/>
            <p:nvPr/>
          </p:nvSpPr>
          <p:spPr>
            <a:xfrm>
              <a:off x="5676900" y="39814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Architecture Linter</a:t>
              </a:r>
              <a:endParaRPr lang="en-US" sz="1100" spc="0" kern="0" b="0" i="0" dirty="0">
                <a:solidFill>
                  <a:srgbClr val="FFFFFF"/>
                </a:solidFill>
                <a:latin typeface="IBM Plex Sans"/>
                <a:ea typeface="IBM Plex Sans"/>
                <a:cs typeface="IBM Plex Sans"/>
              </a:endParaRPr>
            </a:p>
          </p:txBody>
        </p:sp>
      </p:grpSp>
      <p:grpSp>
        <p:nvGrpSpPr>
          <p:cNvPr id="102" name="node23"/>
          <p:cNvGrpSpPr/>
          <p:nvPr/>
        </p:nvGrpSpPr>
        <p:grpSpPr>
          <a:xfrm>
            <a:off x="7581900" y="3429000"/>
            <a:ext cx="1828800" cy="381000"/>
            <a:chOff x="7581900" y="3429000"/>
            <a:chExt cx="1828800" cy="381000"/>
          </a:xfrm>
        </p:grpSpPr>
        <p:sp>
          <p:nvSpPr>
            <p:cNvPr id="57" name="node23.surface"/>
            <p:cNvSpPr/>
            <p:nvPr/>
          </p:nvSpPr>
          <p:spPr>
            <a:xfrm>
              <a:off x="7581900" y="3429000"/>
              <a:ext cx="1828800" cy="381000"/>
            </a:xfrm>
            <a:prstGeom prst="rect">
              <a:avLst/>
            </a:prstGeom>
            <a:solidFill>
              <a:srgbClr val="CED7E6"/>
            </a:solidFill>
            <a:ln>
              <a:noFill/>
            </a:ln>
          </p:spPr>
        </p:sp>
        <p:sp>
          <p:nvSpPr>
            <p:cNvPr id="58" name="node23.text"/>
            <p:cNvSpPr/>
            <p:nvPr/>
          </p:nvSpPr>
          <p:spPr>
            <a:xfrm>
              <a:off x="7734300" y="35242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Replatform Kit</a:t>
              </a:r>
              <a:endParaRPr lang="en-US" sz="1100" spc="0" kern="0" b="0" i="0" dirty="0">
                <a:solidFill>
                  <a:srgbClr val="070154"/>
                </a:solidFill>
                <a:latin typeface="IBM Plex Sans"/>
                <a:ea typeface="IBM Plex Sans"/>
                <a:cs typeface="IBM Plex Sans"/>
              </a:endParaRPr>
            </a:p>
          </p:txBody>
        </p:sp>
      </p:grpSp>
      <p:grpSp>
        <p:nvGrpSpPr>
          <p:cNvPr id="103" name="node24"/>
          <p:cNvGrpSpPr/>
          <p:nvPr/>
        </p:nvGrpSpPr>
        <p:grpSpPr>
          <a:xfrm>
            <a:off x="7581900" y="3886200"/>
            <a:ext cx="1828800" cy="381000"/>
            <a:chOff x="7581900" y="3886200"/>
            <a:chExt cx="1828800" cy="381000"/>
          </a:xfrm>
        </p:grpSpPr>
        <p:sp>
          <p:nvSpPr>
            <p:cNvPr id="59" name="node24.surface"/>
            <p:cNvSpPr/>
            <p:nvPr/>
          </p:nvSpPr>
          <p:spPr>
            <a:xfrm>
              <a:off x="7581900" y="3886200"/>
              <a:ext cx="1828800" cy="381000"/>
            </a:xfrm>
            <a:prstGeom prst="rect">
              <a:avLst/>
            </a:prstGeom>
            <a:solidFill>
              <a:srgbClr val="CED7E6"/>
            </a:solidFill>
            <a:ln>
              <a:noFill/>
            </a:ln>
          </p:spPr>
        </p:sp>
        <p:sp>
          <p:nvSpPr>
            <p:cNvPr id="60" name="node24.text"/>
            <p:cNvSpPr/>
            <p:nvPr/>
          </p:nvSpPr>
          <p:spPr>
            <a:xfrm>
              <a:off x="7734300" y="39814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Test Harness</a:t>
              </a:r>
              <a:endParaRPr lang="en-US" sz="1100" spc="0" kern="0" b="0" i="0" dirty="0">
                <a:solidFill>
                  <a:srgbClr val="070154"/>
                </a:solidFill>
                <a:latin typeface="IBM Plex Sans"/>
                <a:ea typeface="IBM Plex Sans"/>
                <a:cs typeface="IBM Plex Sans"/>
              </a:endParaRPr>
            </a:p>
          </p:txBody>
        </p:sp>
      </p:grpSp>
      <p:grpSp>
        <p:nvGrpSpPr>
          <p:cNvPr id="104" name="node25"/>
          <p:cNvGrpSpPr/>
          <p:nvPr/>
        </p:nvGrpSpPr>
        <p:grpSpPr>
          <a:xfrm>
            <a:off x="9639300" y="3429000"/>
            <a:ext cx="1828800" cy="381000"/>
            <a:chOff x="9639300" y="3429000"/>
            <a:chExt cx="1828800" cy="381000"/>
          </a:xfrm>
        </p:grpSpPr>
        <p:sp>
          <p:nvSpPr>
            <p:cNvPr id="61" name="node25.surface"/>
            <p:cNvSpPr/>
            <p:nvPr/>
          </p:nvSpPr>
          <p:spPr>
            <a:xfrm>
              <a:off x="9639300" y="3429000"/>
              <a:ext cx="1828800" cy="381000"/>
            </a:xfrm>
            <a:prstGeom prst="rect">
              <a:avLst/>
            </a:prstGeom>
            <a:solidFill>
              <a:srgbClr val="E8EEF8"/>
            </a:solidFill>
            <a:ln>
              <a:noFill/>
            </a:ln>
          </p:spPr>
        </p:sp>
        <p:sp>
          <p:nvSpPr>
            <p:cNvPr id="62" name="node25.text"/>
            <p:cNvSpPr/>
            <p:nvPr/>
          </p:nvSpPr>
          <p:spPr>
            <a:xfrm>
              <a:off x="9791700" y="35242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Release Factory</a:t>
              </a:r>
              <a:endParaRPr lang="en-US" sz="1100" spc="0" kern="0" b="0" i="0" dirty="0">
                <a:solidFill>
                  <a:srgbClr val="070154"/>
                </a:solidFill>
                <a:latin typeface="IBM Plex Sans"/>
                <a:ea typeface="IBM Plex Sans"/>
                <a:cs typeface="IBM Plex Sans"/>
              </a:endParaRPr>
            </a:p>
          </p:txBody>
        </p:sp>
      </p:grpSp>
      <p:grpSp>
        <p:nvGrpSpPr>
          <p:cNvPr id="105" name="node26"/>
          <p:cNvGrpSpPr/>
          <p:nvPr/>
        </p:nvGrpSpPr>
        <p:grpSpPr>
          <a:xfrm>
            <a:off x="9639300" y="3886200"/>
            <a:ext cx="1828800" cy="381000"/>
            <a:chOff x="9639300" y="3886200"/>
            <a:chExt cx="1828800" cy="381000"/>
          </a:xfrm>
        </p:grpSpPr>
        <p:sp>
          <p:nvSpPr>
            <p:cNvPr id="63" name="node26.surface"/>
            <p:cNvSpPr/>
            <p:nvPr/>
          </p:nvSpPr>
          <p:spPr>
            <a:xfrm>
              <a:off x="9639300" y="3886200"/>
              <a:ext cx="1828800" cy="381000"/>
            </a:xfrm>
            <a:prstGeom prst="rect">
              <a:avLst/>
            </a:prstGeom>
            <a:solidFill>
              <a:srgbClr val="E8EEF8"/>
            </a:solidFill>
            <a:ln>
              <a:noFill/>
            </a:ln>
          </p:spPr>
        </p:sp>
        <p:sp>
          <p:nvSpPr>
            <p:cNvPr id="64" name="node26.text"/>
            <p:cNvSpPr/>
            <p:nvPr/>
          </p:nvSpPr>
          <p:spPr>
            <a:xfrm>
              <a:off x="9791700" y="39814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Runbook Automator</a:t>
              </a:r>
              <a:endParaRPr lang="en-US" sz="1100" spc="0" kern="0" b="0" i="0" dirty="0">
                <a:solidFill>
                  <a:srgbClr val="070154"/>
                </a:solidFill>
                <a:latin typeface="IBM Plex Sans"/>
                <a:ea typeface="IBM Plex Sans"/>
                <a:cs typeface="IBM Plex Sans"/>
              </a:endParaRPr>
            </a:p>
          </p:txBody>
        </p:sp>
      </p:grpSp>
      <p:grpSp>
        <p:nvGrpSpPr>
          <p:cNvPr id="106" name="node27"/>
          <p:cNvGrpSpPr/>
          <p:nvPr/>
        </p:nvGrpSpPr>
        <p:grpSpPr>
          <a:xfrm>
            <a:off x="4381500" y="4572000"/>
            <a:ext cx="914400" cy="838200"/>
            <a:chOff x="4381500" y="4572000"/>
            <a:chExt cx="914400" cy="838200"/>
          </a:xfrm>
        </p:grpSpPr>
        <p:sp>
          <p:nvSpPr>
            <p:cNvPr id="65" name="node27.surface"/>
            <p:cNvSpPr/>
            <p:nvPr/>
          </p:nvSpPr>
          <p:spPr>
            <a:xfrm>
              <a:off x="4381500" y="4572000"/>
              <a:ext cx="914400" cy="838200"/>
            </a:xfrm>
            <a:prstGeom prst="rect">
              <a:avLst/>
            </a:prstGeom>
            <a:solidFill>
              <a:srgbClr val="05013F"/>
            </a:solidFill>
            <a:ln>
              <a:noFill/>
            </a:ln>
          </p:spPr>
        </p:sp>
        <p:sp>
          <p:nvSpPr>
            <p:cNvPr id="66" name="node27.text"/>
            <p:cNvSpPr/>
            <p:nvPr/>
          </p:nvSpPr>
          <p:spPr>
            <a:xfrm>
              <a:off x="4457700" y="4895850"/>
              <a:ext cx="762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Optimize</a:t>
              </a:r>
              <a:endParaRPr lang="en-US" sz="1100" spc="0" kern="0" b="0" i="0" dirty="0">
                <a:solidFill>
                  <a:srgbClr val="FFFFFF"/>
                </a:solidFill>
                <a:latin typeface="IBM Plex Sans"/>
                <a:ea typeface="IBM Plex Sans"/>
                <a:cs typeface="IBM Plex Sans"/>
              </a:endParaRPr>
            </a:p>
          </p:txBody>
        </p:sp>
      </p:grpSp>
      <p:grpSp>
        <p:nvGrpSpPr>
          <p:cNvPr id="107" name="node28"/>
          <p:cNvGrpSpPr/>
          <p:nvPr/>
        </p:nvGrpSpPr>
        <p:grpSpPr>
          <a:xfrm>
            <a:off x="5524500" y="4572000"/>
            <a:ext cx="1828800" cy="381000"/>
            <a:chOff x="5524500" y="4572000"/>
            <a:chExt cx="1828800" cy="381000"/>
          </a:xfrm>
        </p:grpSpPr>
        <p:sp>
          <p:nvSpPr>
            <p:cNvPr id="67" name="node28.surface"/>
            <p:cNvSpPr/>
            <p:nvPr/>
          </p:nvSpPr>
          <p:spPr>
            <a:xfrm>
              <a:off x="5524500" y="4572000"/>
              <a:ext cx="1828800" cy="381000"/>
            </a:xfrm>
            <a:prstGeom prst="rect">
              <a:avLst/>
            </a:prstGeom>
            <a:solidFill>
              <a:srgbClr val="070154"/>
            </a:solidFill>
            <a:ln>
              <a:noFill/>
            </a:ln>
          </p:spPr>
        </p:sp>
        <p:sp>
          <p:nvSpPr>
            <p:cNvPr id="68" name="node28.text"/>
            <p:cNvSpPr/>
            <p:nvPr/>
          </p:nvSpPr>
          <p:spPr>
            <a:xfrm>
              <a:off x="5676900" y="46672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Value Tracker</a:t>
              </a:r>
              <a:endParaRPr lang="en-US" sz="1100" spc="0" kern="0" b="0" i="0" dirty="0">
                <a:solidFill>
                  <a:srgbClr val="FFFFFF"/>
                </a:solidFill>
                <a:latin typeface="IBM Plex Sans"/>
                <a:ea typeface="IBM Plex Sans"/>
                <a:cs typeface="IBM Plex Sans"/>
              </a:endParaRPr>
            </a:p>
          </p:txBody>
        </p:sp>
      </p:grpSp>
      <p:grpSp>
        <p:nvGrpSpPr>
          <p:cNvPr id="108" name="node29"/>
          <p:cNvGrpSpPr/>
          <p:nvPr/>
        </p:nvGrpSpPr>
        <p:grpSpPr>
          <a:xfrm>
            <a:off x="5524500" y="5029200"/>
            <a:ext cx="1828800" cy="381000"/>
            <a:chOff x="5524500" y="5029200"/>
            <a:chExt cx="1828800" cy="381000"/>
          </a:xfrm>
        </p:grpSpPr>
        <p:sp>
          <p:nvSpPr>
            <p:cNvPr id="69" name="node29.surface"/>
            <p:cNvSpPr/>
            <p:nvPr/>
          </p:nvSpPr>
          <p:spPr>
            <a:xfrm>
              <a:off x="5524500" y="5029200"/>
              <a:ext cx="1828800" cy="381000"/>
            </a:xfrm>
            <a:prstGeom prst="rect">
              <a:avLst/>
            </a:prstGeom>
            <a:solidFill>
              <a:srgbClr val="070154"/>
            </a:solidFill>
            <a:ln>
              <a:noFill/>
            </a:ln>
          </p:spPr>
        </p:sp>
        <p:sp>
          <p:nvSpPr>
            <p:cNvPr id="70" name="node29.text"/>
            <p:cNvSpPr/>
            <p:nvPr/>
          </p:nvSpPr>
          <p:spPr>
            <a:xfrm>
              <a:off x="5676900" y="51244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Benefit Dashboard</a:t>
              </a:r>
              <a:endParaRPr lang="en-US" sz="1100" spc="0" kern="0" b="0" i="0" dirty="0">
                <a:solidFill>
                  <a:srgbClr val="FFFFFF"/>
                </a:solidFill>
                <a:latin typeface="IBM Plex Sans"/>
                <a:ea typeface="IBM Plex Sans"/>
                <a:cs typeface="IBM Plex Sans"/>
              </a:endParaRPr>
            </a:p>
          </p:txBody>
        </p:sp>
      </p:grpSp>
      <p:grpSp>
        <p:nvGrpSpPr>
          <p:cNvPr id="109" name="node30"/>
          <p:cNvGrpSpPr/>
          <p:nvPr/>
        </p:nvGrpSpPr>
        <p:grpSpPr>
          <a:xfrm>
            <a:off x="7581900" y="4572000"/>
            <a:ext cx="1828800" cy="381000"/>
            <a:chOff x="7581900" y="4572000"/>
            <a:chExt cx="1828800" cy="381000"/>
          </a:xfrm>
        </p:grpSpPr>
        <p:sp>
          <p:nvSpPr>
            <p:cNvPr id="71" name="node30.surface"/>
            <p:cNvSpPr/>
            <p:nvPr/>
          </p:nvSpPr>
          <p:spPr>
            <a:xfrm>
              <a:off x="7581900" y="4572000"/>
              <a:ext cx="1828800" cy="381000"/>
            </a:xfrm>
            <a:prstGeom prst="rect">
              <a:avLst/>
            </a:prstGeom>
            <a:solidFill>
              <a:srgbClr val="CED7E6"/>
            </a:solidFill>
            <a:ln>
              <a:noFill/>
            </a:ln>
          </p:spPr>
        </p:sp>
        <p:sp>
          <p:nvSpPr>
            <p:cNvPr id="72" name="node30.text"/>
            <p:cNvSpPr/>
            <p:nvPr/>
          </p:nvSpPr>
          <p:spPr>
            <a:xfrm>
              <a:off x="7734300" y="46672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Data Mover</a:t>
              </a:r>
              <a:endParaRPr lang="en-US" sz="1100" spc="0" kern="0" b="0" i="0" dirty="0">
                <a:solidFill>
                  <a:srgbClr val="070154"/>
                </a:solidFill>
                <a:latin typeface="IBM Plex Sans"/>
                <a:ea typeface="IBM Plex Sans"/>
                <a:cs typeface="IBM Plex Sans"/>
              </a:endParaRPr>
            </a:p>
          </p:txBody>
        </p:sp>
      </p:grpSp>
      <p:grpSp>
        <p:nvGrpSpPr>
          <p:cNvPr id="110" name="node31"/>
          <p:cNvGrpSpPr/>
          <p:nvPr/>
        </p:nvGrpSpPr>
        <p:grpSpPr>
          <a:xfrm>
            <a:off x="7581900" y="5029200"/>
            <a:ext cx="1828800" cy="381000"/>
            <a:chOff x="7581900" y="5029200"/>
            <a:chExt cx="1828800" cy="381000"/>
          </a:xfrm>
        </p:grpSpPr>
        <p:sp>
          <p:nvSpPr>
            <p:cNvPr id="73" name="node31.surface"/>
            <p:cNvSpPr/>
            <p:nvPr/>
          </p:nvSpPr>
          <p:spPr>
            <a:xfrm>
              <a:off x="7581900" y="5029200"/>
              <a:ext cx="1828800" cy="381000"/>
            </a:xfrm>
            <a:prstGeom prst="rect">
              <a:avLst/>
            </a:prstGeom>
            <a:solidFill>
              <a:srgbClr val="CED7E6"/>
            </a:solidFill>
            <a:ln>
              <a:noFill/>
            </a:ln>
          </p:spPr>
        </p:sp>
        <p:sp>
          <p:nvSpPr>
            <p:cNvPr id="74" name="node31.text"/>
            <p:cNvSpPr/>
            <p:nvPr/>
          </p:nvSpPr>
          <p:spPr>
            <a:xfrm>
              <a:off x="7734300" y="51244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Reconciler</a:t>
              </a:r>
              <a:endParaRPr lang="en-US" sz="1100" spc="0" kern="0" b="0" i="0" dirty="0">
                <a:solidFill>
                  <a:srgbClr val="070154"/>
                </a:solidFill>
                <a:latin typeface="IBM Plex Sans"/>
                <a:ea typeface="IBM Plex Sans"/>
                <a:cs typeface="IBM Plex Sans"/>
              </a:endParaRPr>
            </a:p>
          </p:txBody>
        </p:sp>
      </p:grpSp>
      <p:grpSp>
        <p:nvGrpSpPr>
          <p:cNvPr id="111" name="node32"/>
          <p:cNvGrpSpPr/>
          <p:nvPr/>
        </p:nvGrpSpPr>
        <p:grpSpPr>
          <a:xfrm>
            <a:off x="9639300" y="4572000"/>
            <a:ext cx="1828800" cy="381000"/>
            <a:chOff x="9639300" y="4572000"/>
            <a:chExt cx="1828800" cy="381000"/>
          </a:xfrm>
        </p:grpSpPr>
        <p:sp>
          <p:nvSpPr>
            <p:cNvPr id="75" name="node32.surface"/>
            <p:cNvSpPr/>
            <p:nvPr/>
          </p:nvSpPr>
          <p:spPr>
            <a:xfrm>
              <a:off x="9639300" y="4572000"/>
              <a:ext cx="1828800" cy="381000"/>
            </a:xfrm>
            <a:prstGeom prst="rect">
              <a:avLst/>
            </a:prstGeom>
            <a:solidFill>
              <a:srgbClr val="E8EEF8"/>
            </a:solidFill>
            <a:ln>
              <a:noFill/>
            </a:ln>
          </p:spPr>
        </p:sp>
        <p:sp>
          <p:nvSpPr>
            <p:cNvPr id="76" name="node32.text"/>
            <p:cNvSpPr/>
            <p:nvPr/>
          </p:nvSpPr>
          <p:spPr>
            <a:xfrm>
              <a:off x="9791700" y="46672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FinOps Optimizer</a:t>
              </a:r>
              <a:endParaRPr lang="en-US" sz="1100" spc="0" kern="0" b="0" i="0" dirty="0">
                <a:solidFill>
                  <a:srgbClr val="070154"/>
                </a:solidFill>
                <a:latin typeface="IBM Plex Sans"/>
                <a:ea typeface="IBM Plex Sans"/>
                <a:cs typeface="IBM Plex Sans"/>
              </a:endParaRPr>
            </a:p>
          </p:txBody>
        </p:sp>
      </p:grpSp>
      <p:grpSp>
        <p:nvGrpSpPr>
          <p:cNvPr id="112" name="node33"/>
          <p:cNvGrpSpPr/>
          <p:nvPr/>
        </p:nvGrpSpPr>
        <p:grpSpPr>
          <a:xfrm>
            <a:off x="9639300" y="5029200"/>
            <a:ext cx="1828800" cy="381000"/>
            <a:chOff x="9639300" y="5029200"/>
            <a:chExt cx="1828800" cy="381000"/>
          </a:xfrm>
        </p:grpSpPr>
        <p:sp>
          <p:nvSpPr>
            <p:cNvPr id="77" name="node33.surface"/>
            <p:cNvSpPr/>
            <p:nvPr/>
          </p:nvSpPr>
          <p:spPr>
            <a:xfrm>
              <a:off x="9639300" y="5029200"/>
              <a:ext cx="1828800" cy="381000"/>
            </a:xfrm>
            <a:prstGeom prst="rect">
              <a:avLst/>
            </a:prstGeom>
            <a:solidFill>
              <a:srgbClr val="E8EEF8"/>
            </a:solidFill>
            <a:ln>
              <a:noFill/>
            </a:ln>
          </p:spPr>
        </p:sp>
        <p:sp>
          <p:nvSpPr>
            <p:cNvPr id="78" name="node33.text"/>
            <p:cNvSpPr/>
            <p:nvPr/>
          </p:nvSpPr>
          <p:spPr>
            <a:xfrm>
              <a:off x="9791700" y="5124450"/>
              <a:ext cx="1524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Capacity Forecaster</a:t>
              </a:r>
              <a:endParaRPr lang="en-US" sz="1100" spc="0" kern="0" b="0" i="0" dirty="0">
                <a:solidFill>
                  <a:srgbClr val="070154"/>
                </a:solidFill>
                <a:latin typeface="IBM Plex Sans"/>
                <a:ea typeface="IBM Plex Sans"/>
                <a:cs typeface="IBM Plex Sans"/>
              </a:endParaRPr>
            </a:p>
          </p:txBody>
        </p:sp>
      </p:grpSp>
      <p:grpSp>
        <p:nvGrpSpPr>
          <p:cNvPr id="113" name="node34"/>
          <p:cNvGrpSpPr/>
          <p:nvPr/>
        </p:nvGrpSpPr>
        <p:grpSpPr>
          <a:xfrm>
            <a:off x="723900" y="5562600"/>
            <a:ext cx="3429000" cy="304800"/>
            <a:chOff x="723900" y="5562600"/>
            <a:chExt cx="3429000" cy="304800"/>
          </a:xfrm>
        </p:grpSpPr>
        <p:sp>
          <p:nvSpPr>
            <p:cNvPr id="79" name="node34.text"/>
            <p:cNvSpPr/>
            <p:nvPr/>
          </p:nvSpPr>
          <p:spPr>
            <a:xfrm>
              <a:off x="723900" y="55626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the current catalog before use.</a:t>
              </a:r>
              <a:endParaRPr lang="en-US" sz="900" spc="0" kern="0" b="0" i="0" dirty="0">
                <a:solidFill>
                  <a:srgbClr val="50658E"/>
                </a:solidFill>
                <a:latin typeface="IBM Plex Sans"/>
                <a:ea typeface="IBM Plex Sans"/>
                <a:cs typeface="IBM Plex Sans"/>
              </a:endParaRPr>
            </a:p>
          </p:txBody>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ource-27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LIFECYCLE</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4541676" y="733532"/>
            <a:ext cx="3362475"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Each phase ends in a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concrete outcome</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113</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723900" y="1600200"/>
            <a:ext cx="3429000" cy="914400"/>
            <a:chOff x="723900" y="1600200"/>
            <a:chExt cx="3429000" cy="914400"/>
          </a:xfrm>
        </p:grpSpPr>
        <p:sp>
          <p:nvSpPr>
            <p:cNvPr id="7" name="node01.surface"/>
            <p:cNvSpPr/>
            <p:nvPr/>
          </p:nvSpPr>
          <p:spPr>
            <a:xfrm>
              <a:off x="723900" y="1600200"/>
              <a:ext cx="3429000" cy="914400"/>
            </a:xfrm>
            <a:prstGeom prst="rect">
              <a:avLst/>
            </a:prstGeom>
            <a:solidFill>
              <a:srgbClr val="070154"/>
            </a:solidFill>
            <a:ln>
              <a:noFill/>
            </a:ln>
          </p:spPr>
        </p:sp>
      </p:grpSp>
      <p:grpSp>
        <p:nvGrpSpPr>
          <p:cNvPr id="53" name="node02"/>
          <p:cNvGrpSpPr/>
          <p:nvPr/>
        </p:nvGrpSpPr>
        <p:grpSpPr>
          <a:xfrm>
            <a:off x="876300" y="1676400"/>
            <a:ext cx="3124200" cy="266700"/>
            <a:chOff x="876300" y="1676400"/>
            <a:chExt cx="3124200" cy="266700"/>
          </a:xfrm>
        </p:grpSpPr>
        <p:sp>
          <p:nvSpPr>
            <p:cNvPr id="8" name="node02.text"/>
            <p:cNvSpPr/>
            <p:nvPr/>
          </p:nvSpPr>
          <p:spPr>
            <a:xfrm>
              <a:off x="876300" y="1676400"/>
              <a:ext cx="31242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01</a:t>
              </a:r>
              <a:endParaRPr lang="en-US" sz="1600" spc="0" kern="0" b="0" i="0" dirty="0">
                <a:solidFill>
                  <a:srgbClr val="F900D3"/>
                </a:solidFill>
                <a:latin typeface="IBM Plex Mono SemiBold"/>
                <a:ea typeface="IBM Plex Mono SemiBold"/>
                <a:cs typeface="IBM Plex Mono SemiBold"/>
              </a:endParaRPr>
            </a:p>
          </p:txBody>
        </p:sp>
      </p:grpSp>
      <p:grpSp>
        <p:nvGrpSpPr>
          <p:cNvPr id="54" name="node03"/>
          <p:cNvGrpSpPr/>
          <p:nvPr/>
        </p:nvGrpSpPr>
        <p:grpSpPr>
          <a:xfrm>
            <a:off x="876300" y="2019300"/>
            <a:ext cx="3124200" cy="266700"/>
            <a:chOff x="876300" y="2019300"/>
            <a:chExt cx="3124200" cy="266700"/>
          </a:xfrm>
        </p:grpSpPr>
        <p:sp>
          <p:nvSpPr>
            <p:cNvPr id="9" name="node03.text"/>
            <p:cNvSpPr/>
            <p:nvPr/>
          </p:nvSpPr>
          <p:spPr>
            <a:xfrm>
              <a:off x="876300" y="20193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Rationalize</a:t>
              </a:r>
              <a:endParaRPr lang="en-US" sz="1600" spc="-16" kern="0" b="0" i="0" dirty="0">
                <a:solidFill>
                  <a:srgbClr val="FFFFFF"/>
                </a:solidFill>
                <a:latin typeface="IBM Plex Sans SemiBold"/>
                <a:ea typeface="IBM Plex Sans SemiBold"/>
                <a:cs typeface="IBM Plex Sans SemiBold"/>
              </a:endParaRPr>
            </a:p>
          </p:txBody>
        </p:sp>
      </p:grpSp>
      <p:grpSp>
        <p:nvGrpSpPr>
          <p:cNvPr id="55" name="node04"/>
          <p:cNvGrpSpPr/>
          <p:nvPr/>
        </p:nvGrpSpPr>
        <p:grpSpPr>
          <a:xfrm>
            <a:off x="723900" y="2705100"/>
            <a:ext cx="3429000" cy="431800"/>
            <a:chOff x="723900" y="2705100"/>
            <a:chExt cx="3429000" cy="431800"/>
          </a:xfrm>
        </p:grpSpPr>
        <p:sp>
          <p:nvSpPr>
            <p:cNvPr id="10" name="node04.text"/>
            <p:cNvSpPr/>
            <p:nvPr/>
          </p:nvSpPr>
          <p:spPr>
            <a:xfrm>
              <a:off x="723900" y="2705100"/>
              <a:ext cx="3429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Decide what to modernize, in what order, and why it pays back.</a:t>
              </a:r>
              <a:endParaRPr lang="en-US" sz="1200" spc="0" kern="0" b="0" i="0" dirty="0">
                <a:solidFill>
                  <a:srgbClr val="50658E"/>
                </a:solidFill>
                <a:latin typeface="IBM Plex Sans"/>
                <a:ea typeface="IBM Plex Sans"/>
                <a:cs typeface="IBM Plex Sans"/>
              </a:endParaRPr>
            </a:p>
          </p:txBody>
        </p:sp>
      </p:grpSp>
      <p:grpSp>
        <p:nvGrpSpPr>
          <p:cNvPr id="56" name="node05"/>
          <p:cNvGrpSpPr/>
          <p:nvPr/>
        </p:nvGrpSpPr>
        <p:grpSpPr>
          <a:xfrm>
            <a:off x="723900" y="3390900"/>
            <a:ext cx="3429000" cy="977900"/>
            <a:chOff x="723900" y="3390900"/>
            <a:chExt cx="3429000" cy="977900"/>
          </a:xfrm>
        </p:grpSpPr>
        <p:sp>
          <p:nvSpPr>
            <p:cNvPr id="11" name="node05.source-001.bullet"/>
            <p:cNvSpPr/>
            <p:nvPr/>
          </p:nvSpPr>
          <p:spPr>
            <a:xfrm>
              <a:off x="723900" y="3479800"/>
              <a:ext cx="38100" cy="38100"/>
            </a:xfrm>
            <a:prstGeom prst="rect">
              <a:avLst/>
            </a:prstGeom>
            <a:solidFill>
              <a:srgbClr val="070154"/>
            </a:solidFill>
            <a:ln>
              <a:noFill/>
            </a:ln>
          </p:spPr>
        </p:sp>
        <p:sp>
          <p:nvSpPr>
            <p:cNvPr id="12" name="node05.source-001.text"/>
            <p:cNvSpPr/>
            <p:nvPr/>
          </p:nvSpPr>
          <p:spPr>
            <a:xfrm>
              <a:off x="876300" y="3390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Portfolio assessment</a:t>
              </a:r>
              <a:endParaRPr lang="en-US" sz="1200" spc="0" kern="0" b="0" i="0" dirty="0">
                <a:solidFill>
                  <a:srgbClr val="070154"/>
                </a:solidFill>
                <a:latin typeface="IBM Plex Sans"/>
                <a:ea typeface="IBM Plex Sans"/>
                <a:cs typeface="IBM Plex Sans"/>
              </a:endParaRPr>
            </a:p>
          </p:txBody>
        </p:sp>
        <p:sp>
          <p:nvSpPr>
            <p:cNvPr id="13" name="node05.source-002.bullet"/>
            <p:cNvSpPr/>
            <p:nvPr/>
          </p:nvSpPr>
          <p:spPr>
            <a:xfrm>
              <a:off x="723900" y="3733800"/>
              <a:ext cx="38100" cy="38100"/>
            </a:xfrm>
            <a:prstGeom prst="rect">
              <a:avLst/>
            </a:prstGeom>
            <a:solidFill>
              <a:srgbClr val="070154"/>
            </a:solidFill>
            <a:ln>
              <a:noFill/>
            </a:ln>
          </p:spPr>
        </p:sp>
        <p:sp>
          <p:nvSpPr>
            <p:cNvPr id="14" name="node05.source-002.text"/>
            <p:cNvSpPr/>
            <p:nvPr/>
          </p:nvSpPr>
          <p:spPr>
            <a:xfrm>
              <a:off x="876300" y="3644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Application rationalization</a:t>
              </a:r>
              <a:endParaRPr lang="en-US" sz="1200" spc="0" kern="0" b="0" i="0" dirty="0">
                <a:solidFill>
                  <a:srgbClr val="070154"/>
                </a:solidFill>
                <a:latin typeface="IBM Plex Sans"/>
                <a:ea typeface="IBM Plex Sans"/>
                <a:cs typeface="IBM Plex Sans"/>
              </a:endParaRPr>
            </a:p>
          </p:txBody>
        </p:sp>
        <p:sp>
          <p:nvSpPr>
            <p:cNvPr id="15" name="node05.source-003.bullet"/>
            <p:cNvSpPr/>
            <p:nvPr/>
          </p:nvSpPr>
          <p:spPr>
            <a:xfrm>
              <a:off x="723900" y="3987800"/>
              <a:ext cx="38100" cy="38100"/>
            </a:xfrm>
            <a:prstGeom prst="rect">
              <a:avLst/>
            </a:prstGeom>
            <a:solidFill>
              <a:srgbClr val="070154"/>
            </a:solidFill>
            <a:ln>
              <a:noFill/>
            </a:ln>
          </p:spPr>
        </p:sp>
        <p:sp>
          <p:nvSpPr>
            <p:cNvPr id="16" name="node05.source-003.text"/>
            <p:cNvSpPr/>
            <p:nvPr/>
          </p:nvSpPr>
          <p:spPr>
            <a:xfrm>
              <a:off x="876300" y="3898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Target architecture</a:t>
              </a:r>
              <a:endParaRPr lang="en-US" sz="1200" spc="0" kern="0" b="0" i="0" dirty="0">
                <a:solidFill>
                  <a:srgbClr val="070154"/>
                </a:solidFill>
                <a:latin typeface="IBM Plex Sans"/>
                <a:ea typeface="IBM Plex Sans"/>
                <a:cs typeface="IBM Plex Sans"/>
              </a:endParaRPr>
            </a:p>
          </p:txBody>
        </p:sp>
        <p:sp>
          <p:nvSpPr>
            <p:cNvPr id="17" name="node05.source-004.bullet"/>
            <p:cNvSpPr/>
            <p:nvPr/>
          </p:nvSpPr>
          <p:spPr>
            <a:xfrm>
              <a:off x="723900" y="4241800"/>
              <a:ext cx="38100" cy="38100"/>
            </a:xfrm>
            <a:prstGeom prst="rect">
              <a:avLst/>
            </a:prstGeom>
            <a:solidFill>
              <a:srgbClr val="070154"/>
            </a:solidFill>
            <a:ln>
              <a:noFill/>
            </a:ln>
          </p:spPr>
        </p:sp>
        <p:sp>
          <p:nvSpPr>
            <p:cNvPr id="18" name="node05.source-004.text"/>
            <p:cNvSpPr/>
            <p:nvPr/>
          </p:nvSpPr>
          <p:spPr>
            <a:xfrm>
              <a:off x="876300" y="4152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Business case</a:t>
              </a:r>
              <a:endParaRPr lang="en-US" sz="1200" spc="0" kern="0" b="0" i="0" dirty="0">
                <a:solidFill>
                  <a:srgbClr val="070154"/>
                </a:solidFill>
                <a:latin typeface="IBM Plex Sans"/>
                <a:ea typeface="IBM Plex Sans"/>
                <a:cs typeface="IBM Plex Sans"/>
              </a:endParaRPr>
            </a:p>
          </p:txBody>
        </p:sp>
      </p:grpSp>
      <p:grpSp>
        <p:nvGrpSpPr>
          <p:cNvPr id="57" name="node06"/>
          <p:cNvGrpSpPr/>
          <p:nvPr/>
        </p:nvGrpSpPr>
        <p:grpSpPr>
          <a:xfrm>
            <a:off x="723900" y="5029200"/>
            <a:ext cx="3429000" cy="914400"/>
            <a:chOff x="723900" y="5029200"/>
            <a:chExt cx="3429000" cy="914400"/>
          </a:xfrm>
        </p:grpSpPr>
        <p:sp>
          <p:nvSpPr>
            <p:cNvPr id="19" name="node06.container"/>
            <p:cNvSpPr/>
            <p:nvPr/>
          </p:nvSpPr>
          <p:spPr>
            <a:xfrm>
              <a:off x="723900" y="5029200"/>
              <a:ext cx="3429000" cy="914400"/>
            </a:xfrm>
            <a:prstGeom prst="rect">
              <a:avLst/>
            </a:prstGeom>
            <a:solidFill>
              <a:srgbClr val="E8EEF8"/>
            </a:solidFill>
            <a:ln>
              <a:noFill/>
            </a:ln>
          </p:spPr>
        </p:sp>
        <p:sp>
          <p:nvSpPr>
            <p:cNvPr id="20" name="node06.label"/>
            <p:cNvSpPr/>
            <p:nvPr/>
          </p:nvSpPr>
          <p:spPr>
            <a:xfrm>
              <a:off x="838200" y="51435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OUTCOME</a:t>
              </a:r>
              <a:endParaRPr lang="en-US" sz="800" spc="48" kern="0" b="0" i="0" dirty="0">
                <a:solidFill>
                  <a:srgbClr val="0047FF"/>
                </a:solidFill>
                <a:latin typeface="IBM Plex Mono Medium"/>
                <a:ea typeface="IBM Plex Mono Medium"/>
                <a:cs typeface="IBM Plex Mono Medium"/>
              </a:endParaRPr>
            </a:p>
          </p:txBody>
        </p:sp>
        <p:sp>
          <p:nvSpPr>
            <p:cNvPr id="21" name="node06.body.item-001.paragraph"/>
            <p:cNvSpPr/>
            <p:nvPr/>
          </p:nvSpPr>
          <p:spPr>
            <a:xfrm>
              <a:off x="838200" y="5359400"/>
              <a:ext cx="3200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 funded roadmap: every application has a disposition and a wave.</a:t>
              </a:r>
              <a:endParaRPr lang="en-US" sz="1200" spc="0" kern="0" b="0" i="0" dirty="0">
                <a:solidFill>
                  <a:srgbClr val="50658E"/>
                </a:solidFill>
                <a:latin typeface="IBM Plex Sans"/>
                <a:ea typeface="IBM Plex Sans"/>
                <a:cs typeface="IBM Plex Sans"/>
              </a:endParaRPr>
            </a:p>
          </p:txBody>
        </p:sp>
      </p:grpSp>
      <p:grpSp>
        <p:nvGrpSpPr>
          <p:cNvPr id="58" name="node07"/>
          <p:cNvGrpSpPr/>
          <p:nvPr/>
        </p:nvGrpSpPr>
        <p:grpSpPr>
          <a:xfrm>
            <a:off x="4381500" y="1600200"/>
            <a:ext cx="3429000" cy="914400"/>
            <a:chOff x="4381500" y="1600200"/>
            <a:chExt cx="3429000" cy="914400"/>
          </a:xfrm>
        </p:grpSpPr>
        <p:sp>
          <p:nvSpPr>
            <p:cNvPr id="22" name="node07.surface"/>
            <p:cNvSpPr/>
            <p:nvPr/>
          </p:nvSpPr>
          <p:spPr>
            <a:xfrm>
              <a:off x="4381500" y="1600200"/>
              <a:ext cx="3429000" cy="914400"/>
            </a:xfrm>
            <a:prstGeom prst="rect">
              <a:avLst/>
            </a:prstGeom>
            <a:solidFill>
              <a:srgbClr val="CED7E6"/>
            </a:solidFill>
            <a:ln>
              <a:noFill/>
            </a:ln>
          </p:spPr>
        </p:sp>
      </p:grpSp>
      <p:grpSp>
        <p:nvGrpSpPr>
          <p:cNvPr id="59" name="node08"/>
          <p:cNvGrpSpPr/>
          <p:nvPr/>
        </p:nvGrpSpPr>
        <p:grpSpPr>
          <a:xfrm>
            <a:off x="4533900" y="1676400"/>
            <a:ext cx="3124200" cy="266700"/>
            <a:chOff x="4533900" y="1676400"/>
            <a:chExt cx="3124200" cy="266700"/>
          </a:xfrm>
        </p:grpSpPr>
        <p:sp>
          <p:nvSpPr>
            <p:cNvPr id="23" name="node08.text"/>
            <p:cNvSpPr/>
            <p:nvPr/>
          </p:nvSpPr>
          <p:spPr>
            <a:xfrm>
              <a:off x="4533900" y="1676400"/>
              <a:ext cx="31242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grpSp>
      <p:grpSp>
        <p:nvGrpSpPr>
          <p:cNvPr id="60" name="node09"/>
          <p:cNvGrpSpPr/>
          <p:nvPr/>
        </p:nvGrpSpPr>
        <p:grpSpPr>
          <a:xfrm>
            <a:off x="4533900" y="2019300"/>
            <a:ext cx="3124200" cy="266700"/>
            <a:chOff x="4533900" y="2019300"/>
            <a:chExt cx="3124200" cy="266700"/>
          </a:xfrm>
        </p:grpSpPr>
        <p:sp>
          <p:nvSpPr>
            <p:cNvPr id="24" name="node09.text"/>
            <p:cNvSpPr/>
            <p:nvPr/>
          </p:nvSpPr>
          <p:spPr>
            <a:xfrm>
              <a:off x="4533900" y="20193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Build</a:t>
              </a:r>
              <a:endParaRPr lang="en-US" sz="1600" spc="-16" kern="0" b="0" i="0" dirty="0">
                <a:solidFill>
                  <a:srgbClr val="070154"/>
                </a:solidFill>
                <a:latin typeface="IBM Plex Sans SemiBold"/>
                <a:ea typeface="IBM Plex Sans SemiBold"/>
                <a:cs typeface="IBM Plex Sans SemiBold"/>
              </a:endParaRPr>
            </a:p>
          </p:txBody>
        </p:sp>
      </p:grpSp>
      <p:grpSp>
        <p:nvGrpSpPr>
          <p:cNvPr id="61" name="node10"/>
          <p:cNvGrpSpPr/>
          <p:nvPr/>
        </p:nvGrpSpPr>
        <p:grpSpPr>
          <a:xfrm>
            <a:off x="4381500" y="2705100"/>
            <a:ext cx="3429000" cy="431800"/>
            <a:chOff x="4381500" y="2705100"/>
            <a:chExt cx="3429000" cy="431800"/>
          </a:xfrm>
        </p:grpSpPr>
        <p:sp>
          <p:nvSpPr>
            <p:cNvPr id="25" name="node10.text"/>
            <p:cNvSpPr/>
            <p:nvPr/>
          </p:nvSpPr>
          <p:spPr>
            <a:xfrm>
              <a:off x="4381500" y="2705100"/>
              <a:ext cx="3429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Move the chosen applications and data onto the new platform, safely.</a:t>
              </a:r>
              <a:endParaRPr lang="en-US" sz="1200" spc="0" kern="0" b="0" i="0" dirty="0">
                <a:solidFill>
                  <a:srgbClr val="50658E"/>
                </a:solidFill>
                <a:latin typeface="IBM Plex Sans"/>
                <a:ea typeface="IBM Plex Sans"/>
                <a:cs typeface="IBM Plex Sans"/>
              </a:endParaRPr>
            </a:p>
          </p:txBody>
        </p:sp>
      </p:grpSp>
      <p:grpSp>
        <p:nvGrpSpPr>
          <p:cNvPr id="62" name="node11"/>
          <p:cNvGrpSpPr/>
          <p:nvPr/>
        </p:nvGrpSpPr>
        <p:grpSpPr>
          <a:xfrm>
            <a:off x="4381500" y="3390900"/>
            <a:ext cx="3429000" cy="977900"/>
            <a:chOff x="4381500" y="3390900"/>
            <a:chExt cx="3429000" cy="977900"/>
          </a:xfrm>
        </p:grpSpPr>
        <p:sp>
          <p:nvSpPr>
            <p:cNvPr id="26" name="node11.source-001.bullet"/>
            <p:cNvSpPr/>
            <p:nvPr/>
          </p:nvSpPr>
          <p:spPr>
            <a:xfrm>
              <a:off x="4381500" y="3479800"/>
              <a:ext cx="38100" cy="38100"/>
            </a:xfrm>
            <a:prstGeom prst="rect">
              <a:avLst/>
            </a:prstGeom>
            <a:solidFill>
              <a:srgbClr val="070154"/>
            </a:solidFill>
            <a:ln>
              <a:noFill/>
            </a:ln>
          </p:spPr>
        </p:sp>
        <p:sp>
          <p:nvSpPr>
            <p:cNvPr id="27" name="node11.source-001.text"/>
            <p:cNvSpPr/>
            <p:nvPr/>
          </p:nvSpPr>
          <p:spPr>
            <a:xfrm>
              <a:off x="4533900" y="3390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Re-platform</a:t>
              </a:r>
              <a:endParaRPr lang="en-US" sz="1200" spc="0" kern="0" b="0" i="0" dirty="0">
                <a:solidFill>
                  <a:srgbClr val="070154"/>
                </a:solidFill>
                <a:latin typeface="IBM Plex Sans"/>
                <a:ea typeface="IBM Plex Sans"/>
                <a:cs typeface="IBM Plex Sans"/>
              </a:endParaRPr>
            </a:p>
          </p:txBody>
        </p:sp>
        <p:sp>
          <p:nvSpPr>
            <p:cNvPr id="28" name="node11.source-002.bullet"/>
            <p:cNvSpPr/>
            <p:nvPr/>
          </p:nvSpPr>
          <p:spPr>
            <a:xfrm>
              <a:off x="4381500" y="3733800"/>
              <a:ext cx="38100" cy="38100"/>
            </a:xfrm>
            <a:prstGeom prst="rect">
              <a:avLst/>
            </a:prstGeom>
            <a:solidFill>
              <a:srgbClr val="070154"/>
            </a:solidFill>
            <a:ln>
              <a:noFill/>
            </a:ln>
          </p:spPr>
        </p:sp>
        <p:sp>
          <p:nvSpPr>
            <p:cNvPr id="29" name="node11.source-002.text"/>
            <p:cNvSpPr/>
            <p:nvPr/>
          </p:nvSpPr>
          <p:spPr>
            <a:xfrm>
              <a:off x="4533900" y="3644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Refactor</a:t>
              </a:r>
              <a:endParaRPr lang="en-US" sz="1200" spc="0" kern="0" b="0" i="0" dirty="0">
                <a:solidFill>
                  <a:srgbClr val="070154"/>
                </a:solidFill>
                <a:latin typeface="IBM Plex Sans"/>
                <a:ea typeface="IBM Plex Sans"/>
                <a:cs typeface="IBM Plex Sans"/>
              </a:endParaRPr>
            </a:p>
          </p:txBody>
        </p:sp>
        <p:sp>
          <p:nvSpPr>
            <p:cNvPr id="30" name="node11.source-003.bullet"/>
            <p:cNvSpPr/>
            <p:nvPr/>
          </p:nvSpPr>
          <p:spPr>
            <a:xfrm>
              <a:off x="4381500" y="3987800"/>
              <a:ext cx="38100" cy="38100"/>
            </a:xfrm>
            <a:prstGeom prst="rect">
              <a:avLst/>
            </a:prstGeom>
            <a:solidFill>
              <a:srgbClr val="070154"/>
            </a:solidFill>
            <a:ln>
              <a:noFill/>
            </a:ln>
          </p:spPr>
        </p:sp>
        <p:sp>
          <p:nvSpPr>
            <p:cNvPr id="31" name="node11.source-003.text"/>
            <p:cNvSpPr/>
            <p:nvPr/>
          </p:nvSpPr>
          <p:spPr>
            <a:xfrm>
              <a:off x="4533900" y="3898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migration</a:t>
              </a:r>
              <a:endParaRPr lang="en-US" sz="1200" spc="0" kern="0" b="0" i="0" dirty="0">
                <a:solidFill>
                  <a:srgbClr val="070154"/>
                </a:solidFill>
                <a:latin typeface="IBM Plex Sans"/>
                <a:ea typeface="IBM Plex Sans"/>
                <a:cs typeface="IBM Plex Sans"/>
              </a:endParaRPr>
            </a:p>
          </p:txBody>
        </p:sp>
        <p:sp>
          <p:nvSpPr>
            <p:cNvPr id="32" name="node11.source-004.bullet"/>
            <p:cNvSpPr/>
            <p:nvPr/>
          </p:nvSpPr>
          <p:spPr>
            <a:xfrm>
              <a:off x="4381500" y="4241800"/>
              <a:ext cx="38100" cy="38100"/>
            </a:xfrm>
            <a:prstGeom prst="rect">
              <a:avLst/>
            </a:prstGeom>
            <a:solidFill>
              <a:srgbClr val="070154"/>
            </a:solidFill>
            <a:ln>
              <a:noFill/>
            </a:ln>
          </p:spPr>
        </p:sp>
        <p:sp>
          <p:nvSpPr>
            <p:cNvPr id="33" name="node11.source-004.text"/>
            <p:cNvSpPr/>
            <p:nvPr/>
          </p:nvSpPr>
          <p:spPr>
            <a:xfrm>
              <a:off x="4533900" y="4152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Cutover</a:t>
              </a:r>
              <a:endParaRPr lang="en-US" sz="1200" spc="0" kern="0" b="0" i="0" dirty="0">
                <a:solidFill>
                  <a:srgbClr val="070154"/>
                </a:solidFill>
                <a:latin typeface="IBM Plex Sans"/>
                <a:ea typeface="IBM Plex Sans"/>
                <a:cs typeface="IBM Plex Sans"/>
              </a:endParaRPr>
            </a:p>
          </p:txBody>
        </p:sp>
      </p:grpSp>
      <p:grpSp>
        <p:nvGrpSpPr>
          <p:cNvPr id="63" name="node12"/>
          <p:cNvGrpSpPr/>
          <p:nvPr/>
        </p:nvGrpSpPr>
        <p:grpSpPr>
          <a:xfrm>
            <a:off x="4381500" y="5029200"/>
            <a:ext cx="3429000" cy="914400"/>
            <a:chOff x="4381500" y="5029200"/>
            <a:chExt cx="3429000" cy="914400"/>
          </a:xfrm>
        </p:grpSpPr>
        <p:sp>
          <p:nvSpPr>
            <p:cNvPr id="34" name="node12.container"/>
            <p:cNvSpPr/>
            <p:nvPr/>
          </p:nvSpPr>
          <p:spPr>
            <a:xfrm>
              <a:off x="4381500" y="5029200"/>
              <a:ext cx="3429000" cy="914400"/>
            </a:xfrm>
            <a:prstGeom prst="rect">
              <a:avLst/>
            </a:prstGeom>
            <a:solidFill>
              <a:srgbClr val="E8EEF8"/>
            </a:solidFill>
            <a:ln>
              <a:noFill/>
            </a:ln>
          </p:spPr>
        </p:sp>
        <p:sp>
          <p:nvSpPr>
            <p:cNvPr id="35" name="node12.label"/>
            <p:cNvSpPr/>
            <p:nvPr/>
          </p:nvSpPr>
          <p:spPr>
            <a:xfrm>
              <a:off x="4495800" y="51435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OUTCOME</a:t>
              </a:r>
              <a:endParaRPr lang="en-US" sz="800" spc="48" kern="0" b="0" i="0" dirty="0">
                <a:solidFill>
                  <a:srgbClr val="0047FF"/>
                </a:solidFill>
                <a:latin typeface="IBM Plex Mono Medium"/>
                <a:ea typeface="IBM Plex Mono Medium"/>
                <a:cs typeface="IBM Plex Mono Medium"/>
              </a:endParaRPr>
            </a:p>
          </p:txBody>
        </p:sp>
        <p:sp>
          <p:nvSpPr>
            <p:cNvPr id="36" name="node12.body.item-001.paragraph"/>
            <p:cNvSpPr/>
            <p:nvPr/>
          </p:nvSpPr>
          <p:spPr>
            <a:xfrm>
              <a:off x="4495800" y="5359400"/>
              <a:ext cx="3200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Applications live on the new platform with their data reconciled.</a:t>
              </a:r>
              <a:endParaRPr lang="en-US" sz="1200" spc="0" kern="0" b="0" i="0" dirty="0">
                <a:solidFill>
                  <a:srgbClr val="50658E"/>
                </a:solidFill>
                <a:latin typeface="IBM Plex Sans"/>
                <a:ea typeface="IBM Plex Sans"/>
                <a:cs typeface="IBM Plex Sans"/>
              </a:endParaRPr>
            </a:p>
          </p:txBody>
        </p:sp>
      </p:grpSp>
      <p:grpSp>
        <p:nvGrpSpPr>
          <p:cNvPr id="64" name="node13"/>
          <p:cNvGrpSpPr/>
          <p:nvPr/>
        </p:nvGrpSpPr>
        <p:grpSpPr>
          <a:xfrm>
            <a:off x="8039100" y="1600200"/>
            <a:ext cx="3429000" cy="914400"/>
            <a:chOff x="8039100" y="1600200"/>
            <a:chExt cx="3429000" cy="914400"/>
          </a:xfrm>
        </p:grpSpPr>
        <p:sp>
          <p:nvSpPr>
            <p:cNvPr id="37" name="node13.surface"/>
            <p:cNvSpPr/>
            <p:nvPr/>
          </p:nvSpPr>
          <p:spPr>
            <a:xfrm>
              <a:off x="8039100" y="1600200"/>
              <a:ext cx="3429000" cy="914400"/>
            </a:xfrm>
            <a:prstGeom prst="rect">
              <a:avLst/>
            </a:prstGeom>
            <a:solidFill>
              <a:srgbClr val="E8EEF8"/>
            </a:solidFill>
            <a:ln>
              <a:noFill/>
            </a:ln>
          </p:spPr>
        </p:sp>
      </p:grpSp>
      <p:grpSp>
        <p:nvGrpSpPr>
          <p:cNvPr id="65" name="node14"/>
          <p:cNvGrpSpPr/>
          <p:nvPr/>
        </p:nvGrpSpPr>
        <p:grpSpPr>
          <a:xfrm>
            <a:off x="8191500" y="1676400"/>
            <a:ext cx="3124200" cy="266700"/>
            <a:chOff x="8191500" y="1676400"/>
            <a:chExt cx="3124200" cy="266700"/>
          </a:xfrm>
        </p:grpSpPr>
        <p:sp>
          <p:nvSpPr>
            <p:cNvPr id="38" name="node14.text"/>
            <p:cNvSpPr/>
            <p:nvPr/>
          </p:nvSpPr>
          <p:spPr>
            <a:xfrm>
              <a:off x="8191500" y="1676400"/>
              <a:ext cx="31242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grpSp>
      <p:grpSp>
        <p:nvGrpSpPr>
          <p:cNvPr id="66" name="node15"/>
          <p:cNvGrpSpPr/>
          <p:nvPr/>
        </p:nvGrpSpPr>
        <p:grpSpPr>
          <a:xfrm>
            <a:off x="8191500" y="2019300"/>
            <a:ext cx="3124200" cy="266700"/>
            <a:chOff x="8191500" y="2019300"/>
            <a:chExt cx="3124200" cy="266700"/>
          </a:xfrm>
        </p:grpSpPr>
        <p:sp>
          <p:nvSpPr>
            <p:cNvPr id="39" name="node15.text"/>
            <p:cNvSpPr/>
            <p:nvPr/>
          </p:nvSpPr>
          <p:spPr>
            <a:xfrm>
              <a:off x="8191500" y="20193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Sustain</a:t>
              </a:r>
              <a:endParaRPr lang="en-US" sz="1600" spc="-16" kern="0" b="0" i="0" dirty="0">
                <a:solidFill>
                  <a:srgbClr val="070154"/>
                </a:solidFill>
                <a:latin typeface="IBM Plex Sans SemiBold"/>
                <a:ea typeface="IBM Plex Sans SemiBold"/>
                <a:cs typeface="IBM Plex Sans SemiBold"/>
              </a:endParaRPr>
            </a:p>
          </p:txBody>
        </p:sp>
      </p:grpSp>
      <p:grpSp>
        <p:nvGrpSpPr>
          <p:cNvPr id="67" name="node16"/>
          <p:cNvGrpSpPr/>
          <p:nvPr/>
        </p:nvGrpSpPr>
        <p:grpSpPr>
          <a:xfrm>
            <a:off x="8039100" y="2705100"/>
            <a:ext cx="3429000" cy="431800"/>
            <a:chOff x="8039100" y="2705100"/>
            <a:chExt cx="3429000" cy="431800"/>
          </a:xfrm>
        </p:grpSpPr>
        <p:sp>
          <p:nvSpPr>
            <p:cNvPr id="40" name="node16.text"/>
            <p:cNvSpPr/>
            <p:nvPr/>
          </p:nvSpPr>
          <p:spPr>
            <a:xfrm>
              <a:off x="8039100" y="2705100"/>
              <a:ext cx="3429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Run the new estate well and keep it from aging into the next legacy.</a:t>
              </a:r>
              <a:endParaRPr lang="en-US" sz="1200" spc="0" kern="0" b="0" i="0" dirty="0">
                <a:solidFill>
                  <a:srgbClr val="50658E"/>
                </a:solidFill>
                <a:latin typeface="IBM Plex Sans"/>
                <a:ea typeface="IBM Plex Sans"/>
                <a:cs typeface="IBM Plex Sans"/>
              </a:endParaRPr>
            </a:p>
          </p:txBody>
        </p:sp>
      </p:grpSp>
      <p:grpSp>
        <p:nvGrpSpPr>
          <p:cNvPr id="68" name="node17"/>
          <p:cNvGrpSpPr/>
          <p:nvPr/>
        </p:nvGrpSpPr>
        <p:grpSpPr>
          <a:xfrm>
            <a:off x="8039100" y="3390900"/>
            <a:ext cx="3429000" cy="977900"/>
            <a:chOff x="8039100" y="3390900"/>
            <a:chExt cx="3429000" cy="977900"/>
          </a:xfrm>
        </p:grpSpPr>
        <p:sp>
          <p:nvSpPr>
            <p:cNvPr id="41" name="node17.source-001.bullet"/>
            <p:cNvSpPr/>
            <p:nvPr/>
          </p:nvSpPr>
          <p:spPr>
            <a:xfrm>
              <a:off x="8039100" y="3479800"/>
              <a:ext cx="38100" cy="38100"/>
            </a:xfrm>
            <a:prstGeom prst="rect">
              <a:avLst/>
            </a:prstGeom>
            <a:solidFill>
              <a:srgbClr val="070154"/>
            </a:solidFill>
            <a:ln>
              <a:noFill/>
            </a:ln>
          </p:spPr>
        </p:sp>
        <p:sp>
          <p:nvSpPr>
            <p:cNvPr id="42" name="node17.source-001.text"/>
            <p:cNvSpPr/>
            <p:nvPr/>
          </p:nvSpPr>
          <p:spPr>
            <a:xfrm>
              <a:off x="8191500" y="3390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 and operate</a:t>
              </a:r>
              <a:endParaRPr lang="en-US" sz="1200" spc="0" kern="0" b="0" i="0" dirty="0">
                <a:solidFill>
                  <a:srgbClr val="070154"/>
                </a:solidFill>
                <a:latin typeface="IBM Plex Sans"/>
                <a:ea typeface="IBM Plex Sans"/>
                <a:cs typeface="IBM Plex Sans"/>
              </a:endParaRPr>
            </a:p>
          </p:txBody>
        </p:sp>
        <p:sp>
          <p:nvSpPr>
            <p:cNvPr id="43" name="node17.source-002.bullet"/>
            <p:cNvSpPr/>
            <p:nvPr/>
          </p:nvSpPr>
          <p:spPr>
            <a:xfrm>
              <a:off x="8039100" y="3733800"/>
              <a:ext cx="38100" cy="38100"/>
            </a:xfrm>
            <a:prstGeom prst="rect">
              <a:avLst/>
            </a:prstGeom>
            <a:solidFill>
              <a:srgbClr val="070154"/>
            </a:solidFill>
            <a:ln>
              <a:noFill/>
            </a:ln>
          </p:spPr>
        </p:sp>
        <p:sp>
          <p:nvSpPr>
            <p:cNvPr id="44" name="node17.source-002.text"/>
            <p:cNvSpPr/>
            <p:nvPr/>
          </p:nvSpPr>
          <p:spPr>
            <a:xfrm>
              <a:off x="8191500" y="3644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Optimize</a:t>
              </a:r>
              <a:endParaRPr lang="en-US" sz="1200" spc="0" kern="0" b="0" i="0" dirty="0">
                <a:solidFill>
                  <a:srgbClr val="070154"/>
                </a:solidFill>
                <a:latin typeface="IBM Plex Sans"/>
                <a:ea typeface="IBM Plex Sans"/>
                <a:cs typeface="IBM Plex Sans"/>
              </a:endParaRPr>
            </a:p>
          </p:txBody>
        </p:sp>
        <p:sp>
          <p:nvSpPr>
            <p:cNvPr id="45" name="node17.source-003.bullet"/>
            <p:cNvSpPr/>
            <p:nvPr/>
          </p:nvSpPr>
          <p:spPr>
            <a:xfrm>
              <a:off x="8039100" y="3987800"/>
              <a:ext cx="38100" cy="38100"/>
            </a:xfrm>
            <a:prstGeom prst="rect">
              <a:avLst/>
            </a:prstGeom>
            <a:solidFill>
              <a:srgbClr val="070154"/>
            </a:solidFill>
            <a:ln>
              <a:noFill/>
            </a:ln>
          </p:spPr>
        </p:sp>
        <p:sp>
          <p:nvSpPr>
            <p:cNvPr id="46" name="node17.source-003.text"/>
            <p:cNvSpPr/>
            <p:nvPr/>
          </p:nvSpPr>
          <p:spPr>
            <a:xfrm>
              <a:off x="8191500" y="3898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Modernization governance</a:t>
              </a:r>
              <a:endParaRPr lang="en-US" sz="1200" spc="0" kern="0" b="0" i="0" dirty="0">
                <a:solidFill>
                  <a:srgbClr val="070154"/>
                </a:solidFill>
                <a:latin typeface="IBM Plex Sans"/>
                <a:ea typeface="IBM Plex Sans"/>
                <a:cs typeface="IBM Plex Sans"/>
              </a:endParaRPr>
            </a:p>
          </p:txBody>
        </p:sp>
        <p:sp>
          <p:nvSpPr>
            <p:cNvPr id="47" name="node17.source-004.bullet"/>
            <p:cNvSpPr/>
            <p:nvPr/>
          </p:nvSpPr>
          <p:spPr>
            <a:xfrm>
              <a:off x="8039100" y="4241800"/>
              <a:ext cx="38100" cy="38100"/>
            </a:xfrm>
            <a:prstGeom prst="rect">
              <a:avLst/>
            </a:prstGeom>
            <a:solidFill>
              <a:srgbClr val="070154"/>
            </a:solidFill>
            <a:ln>
              <a:noFill/>
            </a:ln>
          </p:spPr>
        </p:sp>
        <p:sp>
          <p:nvSpPr>
            <p:cNvPr id="48" name="node17.source-004.text"/>
            <p:cNvSpPr/>
            <p:nvPr/>
          </p:nvSpPr>
          <p:spPr>
            <a:xfrm>
              <a:off x="8191500" y="4152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Continuous modernization</a:t>
              </a:r>
              <a:endParaRPr lang="en-US" sz="1200" spc="0" kern="0" b="0" i="0" dirty="0">
                <a:solidFill>
                  <a:srgbClr val="070154"/>
                </a:solidFill>
                <a:latin typeface="IBM Plex Sans"/>
                <a:ea typeface="IBM Plex Sans"/>
                <a:cs typeface="IBM Plex Sans"/>
              </a:endParaRPr>
            </a:p>
          </p:txBody>
        </p:sp>
      </p:grpSp>
      <p:grpSp>
        <p:nvGrpSpPr>
          <p:cNvPr id="69" name="node18"/>
          <p:cNvGrpSpPr/>
          <p:nvPr/>
        </p:nvGrpSpPr>
        <p:grpSpPr>
          <a:xfrm>
            <a:off x="8039100" y="5029200"/>
            <a:ext cx="3429000" cy="914400"/>
            <a:chOff x="8039100" y="5029200"/>
            <a:chExt cx="3429000" cy="914400"/>
          </a:xfrm>
        </p:grpSpPr>
        <p:sp>
          <p:nvSpPr>
            <p:cNvPr id="49" name="node18.container"/>
            <p:cNvSpPr/>
            <p:nvPr/>
          </p:nvSpPr>
          <p:spPr>
            <a:xfrm>
              <a:off x="8039100" y="5029200"/>
              <a:ext cx="3429000" cy="914400"/>
            </a:xfrm>
            <a:prstGeom prst="rect">
              <a:avLst/>
            </a:prstGeom>
            <a:solidFill>
              <a:srgbClr val="E8EEF8"/>
            </a:solidFill>
            <a:ln>
              <a:noFill/>
            </a:ln>
          </p:spPr>
        </p:sp>
        <p:sp>
          <p:nvSpPr>
            <p:cNvPr id="50" name="node18.label"/>
            <p:cNvSpPr/>
            <p:nvPr/>
          </p:nvSpPr>
          <p:spPr>
            <a:xfrm>
              <a:off x="8153400" y="51435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OUTCOME</a:t>
              </a:r>
              <a:endParaRPr lang="en-US" sz="800" spc="48" kern="0" b="0" i="0" dirty="0">
                <a:solidFill>
                  <a:srgbClr val="0047FF"/>
                </a:solidFill>
                <a:latin typeface="IBM Plex Mono Medium"/>
                <a:ea typeface="IBM Plex Mono Medium"/>
                <a:cs typeface="IBM Plex Mono Medium"/>
              </a:endParaRPr>
            </a:p>
          </p:txBody>
        </p:sp>
        <p:sp>
          <p:nvSpPr>
            <p:cNvPr id="51" name="node18.body.item-001.paragraph"/>
            <p:cNvSpPr/>
            <p:nvPr/>
          </p:nvSpPr>
          <p:spPr>
            <a:xfrm>
              <a:off x="8153400" y="5359400"/>
              <a:ext cx="3200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 run model and a pipeline that keep the estate current.</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ource-27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LIFECYCLE</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4703601" y="733532"/>
            <a:ext cx="139390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Every phase opens on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criteria</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and closes at a gate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114</a:t>
            </a:fld>
            <a:endParaRPr lang="en-US" sz="700" spc="0" kern="0" b="0" i="0" dirty="0">
              <a:solidFill>
                <a:srgbClr val="070154"/>
              </a:solidFill>
              <a:latin typeface="IBM Plex Mono SemiBold"/>
              <a:ea typeface="IBM Plex Mono SemiBold"/>
              <a:cs typeface="IBM Plex Mono SemiBold"/>
            </a:endParaRPr>
          </a:p>
        </p:txBody>
      </p:sp>
      <p:grpSp>
        <p:nvGrpSpPr>
          <p:cNvPr id="64" name="node01"/>
          <p:cNvGrpSpPr/>
          <p:nvPr/>
        </p:nvGrpSpPr>
        <p:grpSpPr>
          <a:xfrm>
            <a:off x="723900" y="1600200"/>
            <a:ext cx="3429000" cy="685800"/>
            <a:chOff x="723900" y="1600200"/>
            <a:chExt cx="3429000" cy="685800"/>
          </a:xfrm>
        </p:grpSpPr>
        <p:sp>
          <p:nvSpPr>
            <p:cNvPr id="7" name="node01.surface"/>
            <p:cNvSpPr/>
            <p:nvPr/>
          </p:nvSpPr>
          <p:spPr>
            <a:xfrm>
              <a:off x="723900" y="1600200"/>
              <a:ext cx="3429000" cy="685800"/>
            </a:xfrm>
            <a:prstGeom prst="rect">
              <a:avLst/>
            </a:prstGeom>
            <a:solidFill>
              <a:srgbClr val="070154"/>
            </a:solidFill>
            <a:ln>
              <a:noFill/>
            </a:ln>
          </p:spPr>
        </p:sp>
      </p:grpSp>
      <p:grpSp>
        <p:nvGrpSpPr>
          <p:cNvPr id="65" name="node02"/>
          <p:cNvGrpSpPr/>
          <p:nvPr/>
        </p:nvGrpSpPr>
        <p:grpSpPr>
          <a:xfrm>
            <a:off x="876300" y="1752600"/>
            <a:ext cx="3124200" cy="266700"/>
            <a:chOff x="876300" y="1752600"/>
            <a:chExt cx="3124200" cy="266700"/>
          </a:xfrm>
        </p:grpSpPr>
        <p:sp>
          <p:nvSpPr>
            <p:cNvPr id="8" name="node02.text"/>
            <p:cNvSpPr/>
            <p:nvPr/>
          </p:nvSpPr>
          <p:spPr>
            <a:xfrm>
              <a:off x="876300" y="17526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1  Rationalize</a:t>
              </a:r>
              <a:endParaRPr lang="en-US" sz="1600" spc="-16" kern="0" b="0" i="0" dirty="0">
                <a:solidFill>
                  <a:srgbClr val="FFFFFF"/>
                </a:solidFill>
                <a:latin typeface="IBM Plex Sans SemiBold"/>
                <a:ea typeface="IBM Plex Sans SemiBold"/>
                <a:cs typeface="IBM Plex Sans SemiBold"/>
              </a:endParaRPr>
            </a:p>
          </p:txBody>
        </p:sp>
      </p:grpSp>
      <p:grpSp>
        <p:nvGrpSpPr>
          <p:cNvPr id="66" name="node03"/>
          <p:cNvGrpSpPr/>
          <p:nvPr/>
        </p:nvGrpSpPr>
        <p:grpSpPr>
          <a:xfrm>
            <a:off x="723900" y="2438400"/>
            <a:ext cx="3429000" cy="139700"/>
            <a:chOff x="723900" y="2438400"/>
            <a:chExt cx="3429000" cy="139700"/>
          </a:xfrm>
        </p:grpSpPr>
        <p:sp>
          <p:nvSpPr>
            <p:cNvPr id="9" name="node03.text"/>
            <p:cNvSpPr/>
            <p:nvPr/>
          </p:nvSpPr>
          <p:spPr>
            <a:xfrm>
              <a:off x="723900" y="24384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ENTRY CRITERIA</a:t>
              </a:r>
              <a:endParaRPr lang="en-US" sz="800" spc="48" kern="0" b="0" i="0" dirty="0">
                <a:solidFill>
                  <a:srgbClr val="50658E"/>
                </a:solidFill>
                <a:latin typeface="IBM Plex Mono Medium"/>
                <a:ea typeface="IBM Plex Mono Medium"/>
                <a:cs typeface="IBM Plex Mono Medium"/>
              </a:endParaRPr>
            </a:p>
          </p:txBody>
        </p:sp>
      </p:grpSp>
      <p:grpSp>
        <p:nvGrpSpPr>
          <p:cNvPr id="67" name="node04"/>
          <p:cNvGrpSpPr/>
          <p:nvPr/>
        </p:nvGrpSpPr>
        <p:grpSpPr>
          <a:xfrm>
            <a:off x="723900" y="2705100"/>
            <a:ext cx="3429000" cy="723900"/>
            <a:chOff x="723900" y="2705100"/>
            <a:chExt cx="3429000" cy="723900"/>
          </a:xfrm>
        </p:grpSpPr>
        <p:sp>
          <p:nvSpPr>
            <p:cNvPr id="10" name="node04.source-001.bullet"/>
            <p:cNvSpPr/>
            <p:nvPr/>
          </p:nvSpPr>
          <p:spPr>
            <a:xfrm>
              <a:off x="723900" y="2794000"/>
              <a:ext cx="38100" cy="38100"/>
            </a:xfrm>
            <a:prstGeom prst="rect">
              <a:avLst/>
            </a:prstGeom>
            <a:solidFill>
              <a:srgbClr val="070154"/>
            </a:solidFill>
            <a:ln>
              <a:noFill/>
            </a:ln>
          </p:spPr>
        </p:sp>
        <p:sp>
          <p:nvSpPr>
            <p:cNvPr id="11" name="node04.source-001.text"/>
            <p:cNvSpPr/>
            <p:nvPr/>
          </p:nvSpPr>
          <p:spPr>
            <a:xfrm>
              <a:off x="876300" y="2705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Mandate and sponsor named</a:t>
              </a:r>
              <a:endParaRPr lang="en-US" sz="1200" spc="0" kern="0" b="0" i="0" dirty="0">
                <a:solidFill>
                  <a:srgbClr val="070154"/>
                </a:solidFill>
                <a:latin typeface="IBM Plex Sans"/>
                <a:ea typeface="IBM Plex Sans"/>
                <a:cs typeface="IBM Plex Sans"/>
              </a:endParaRPr>
            </a:p>
          </p:txBody>
        </p:sp>
        <p:sp>
          <p:nvSpPr>
            <p:cNvPr id="12" name="node04.source-002.bullet"/>
            <p:cNvSpPr/>
            <p:nvPr/>
          </p:nvSpPr>
          <p:spPr>
            <a:xfrm>
              <a:off x="723900" y="3048000"/>
              <a:ext cx="38100" cy="38100"/>
            </a:xfrm>
            <a:prstGeom prst="rect">
              <a:avLst/>
            </a:prstGeom>
            <a:solidFill>
              <a:srgbClr val="070154"/>
            </a:solidFill>
            <a:ln>
              <a:noFill/>
            </a:ln>
          </p:spPr>
        </p:sp>
        <p:sp>
          <p:nvSpPr>
            <p:cNvPr id="13" name="node04.source-002.text"/>
            <p:cNvSpPr/>
            <p:nvPr/>
          </p:nvSpPr>
          <p:spPr>
            <a:xfrm>
              <a:off x="876300" y="2959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Application data accessible</a:t>
              </a:r>
              <a:endParaRPr lang="en-US" sz="1200" spc="0" kern="0" b="0" i="0" dirty="0">
                <a:solidFill>
                  <a:srgbClr val="070154"/>
                </a:solidFill>
                <a:latin typeface="IBM Plex Sans"/>
                <a:ea typeface="IBM Plex Sans"/>
                <a:cs typeface="IBM Plex Sans"/>
              </a:endParaRPr>
            </a:p>
          </p:txBody>
        </p:sp>
        <p:sp>
          <p:nvSpPr>
            <p:cNvPr id="14" name="node04.source-003.bullet"/>
            <p:cNvSpPr/>
            <p:nvPr/>
          </p:nvSpPr>
          <p:spPr>
            <a:xfrm>
              <a:off x="723900" y="3302000"/>
              <a:ext cx="38100" cy="38100"/>
            </a:xfrm>
            <a:prstGeom prst="rect">
              <a:avLst/>
            </a:prstGeom>
            <a:solidFill>
              <a:srgbClr val="070154"/>
            </a:solidFill>
            <a:ln>
              <a:noFill/>
            </a:ln>
          </p:spPr>
        </p:sp>
        <p:sp>
          <p:nvSpPr>
            <p:cNvPr id="15" name="node04.source-003.text"/>
            <p:cNvSpPr/>
            <p:nvPr/>
          </p:nvSpPr>
          <p:spPr>
            <a:xfrm>
              <a:off x="876300" y="3213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Budget for discovery released</a:t>
              </a:r>
              <a:endParaRPr lang="en-US" sz="1200" spc="0" kern="0" b="0" i="0" dirty="0">
                <a:solidFill>
                  <a:srgbClr val="070154"/>
                </a:solidFill>
                <a:latin typeface="IBM Plex Sans"/>
                <a:ea typeface="IBM Plex Sans"/>
                <a:cs typeface="IBM Plex Sans"/>
              </a:endParaRPr>
            </a:p>
          </p:txBody>
        </p:sp>
      </p:grpSp>
      <p:grpSp>
        <p:nvGrpSpPr>
          <p:cNvPr id="68" name="node05"/>
          <p:cNvGrpSpPr/>
          <p:nvPr/>
        </p:nvGrpSpPr>
        <p:grpSpPr>
          <a:xfrm>
            <a:off x="723900" y="3657600"/>
            <a:ext cx="3429000" cy="139700"/>
            <a:chOff x="723900" y="3657600"/>
            <a:chExt cx="3429000" cy="139700"/>
          </a:xfrm>
        </p:grpSpPr>
        <p:sp>
          <p:nvSpPr>
            <p:cNvPr id="16" name="node05.text"/>
            <p:cNvSpPr/>
            <p:nvPr/>
          </p:nvSpPr>
          <p:spPr>
            <a:xfrm>
              <a:off x="723900" y="36576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EXIT CRITERIA</a:t>
              </a:r>
              <a:endParaRPr lang="en-US" sz="800" spc="48" kern="0" b="0" i="0" dirty="0">
                <a:solidFill>
                  <a:srgbClr val="50658E"/>
                </a:solidFill>
                <a:latin typeface="IBM Plex Mono Medium"/>
                <a:ea typeface="IBM Plex Mono Medium"/>
                <a:cs typeface="IBM Plex Mono Medium"/>
              </a:endParaRPr>
            </a:p>
          </p:txBody>
        </p:sp>
      </p:grpSp>
      <p:grpSp>
        <p:nvGrpSpPr>
          <p:cNvPr id="69" name="node06"/>
          <p:cNvGrpSpPr/>
          <p:nvPr/>
        </p:nvGrpSpPr>
        <p:grpSpPr>
          <a:xfrm>
            <a:off x="723900" y="3924300"/>
            <a:ext cx="3429000" cy="469900"/>
            <a:chOff x="723900" y="3924300"/>
            <a:chExt cx="3429000" cy="469900"/>
          </a:xfrm>
        </p:grpSpPr>
        <p:sp>
          <p:nvSpPr>
            <p:cNvPr id="17" name="node06.source-001.bullet"/>
            <p:cNvSpPr/>
            <p:nvPr/>
          </p:nvSpPr>
          <p:spPr>
            <a:xfrm>
              <a:off x="723900" y="4013200"/>
              <a:ext cx="38100" cy="38100"/>
            </a:xfrm>
            <a:prstGeom prst="rect">
              <a:avLst/>
            </a:prstGeom>
            <a:solidFill>
              <a:srgbClr val="070154"/>
            </a:solidFill>
            <a:ln>
              <a:noFill/>
            </a:ln>
          </p:spPr>
        </p:sp>
        <p:sp>
          <p:nvSpPr>
            <p:cNvPr id="18" name="node06.source-001.text"/>
            <p:cNvSpPr/>
            <p:nvPr/>
          </p:nvSpPr>
          <p:spPr>
            <a:xfrm>
              <a:off x="876300" y="39243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Every application dispositioned</a:t>
              </a:r>
              <a:endParaRPr lang="en-US" sz="1200" spc="0" kern="0" b="0" i="0" dirty="0">
                <a:solidFill>
                  <a:srgbClr val="070154"/>
                </a:solidFill>
                <a:latin typeface="IBM Plex Sans"/>
                <a:ea typeface="IBM Plex Sans"/>
                <a:cs typeface="IBM Plex Sans"/>
              </a:endParaRPr>
            </a:p>
          </p:txBody>
        </p:sp>
        <p:sp>
          <p:nvSpPr>
            <p:cNvPr id="19" name="node06.source-002.bullet"/>
            <p:cNvSpPr/>
            <p:nvPr/>
          </p:nvSpPr>
          <p:spPr>
            <a:xfrm>
              <a:off x="723900" y="4267200"/>
              <a:ext cx="38100" cy="38100"/>
            </a:xfrm>
            <a:prstGeom prst="rect">
              <a:avLst/>
            </a:prstGeom>
            <a:solidFill>
              <a:srgbClr val="070154"/>
            </a:solidFill>
            <a:ln>
              <a:noFill/>
            </a:ln>
          </p:spPr>
        </p:sp>
        <p:sp>
          <p:nvSpPr>
            <p:cNvPr id="20" name="node06.source-002.text"/>
            <p:cNvSpPr/>
            <p:nvPr/>
          </p:nvSpPr>
          <p:spPr>
            <a:xfrm>
              <a:off x="876300" y="41783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Business case agreed by finance</a:t>
              </a:r>
              <a:endParaRPr lang="en-US" sz="1200" spc="0" kern="0" b="0" i="0" dirty="0">
                <a:solidFill>
                  <a:srgbClr val="070154"/>
                </a:solidFill>
                <a:latin typeface="IBM Plex Sans"/>
                <a:ea typeface="IBM Plex Sans"/>
                <a:cs typeface="IBM Plex Sans"/>
              </a:endParaRPr>
            </a:p>
          </p:txBody>
        </p:sp>
      </p:grpSp>
      <p:grpSp>
        <p:nvGrpSpPr>
          <p:cNvPr id="70" name="node07"/>
          <p:cNvGrpSpPr/>
          <p:nvPr/>
        </p:nvGrpSpPr>
        <p:grpSpPr>
          <a:xfrm>
            <a:off x="723900" y="4533900"/>
            <a:ext cx="3429000" cy="139700"/>
            <a:chOff x="723900" y="4533900"/>
            <a:chExt cx="3429000" cy="139700"/>
          </a:xfrm>
        </p:grpSpPr>
        <p:sp>
          <p:nvSpPr>
            <p:cNvPr id="21" name="node07.text"/>
            <p:cNvSpPr/>
            <p:nvPr/>
          </p:nvSpPr>
          <p:spPr>
            <a:xfrm>
              <a:off x="723900" y="45339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GATES</a:t>
              </a:r>
              <a:endParaRPr lang="en-US" sz="800" spc="48" kern="0" b="0" i="0" dirty="0">
                <a:solidFill>
                  <a:srgbClr val="50658E"/>
                </a:solidFill>
                <a:latin typeface="IBM Plex Mono Medium"/>
                <a:ea typeface="IBM Plex Mono Medium"/>
                <a:cs typeface="IBM Plex Mono Medium"/>
              </a:endParaRPr>
            </a:p>
          </p:txBody>
        </p:sp>
      </p:grpSp>
      <p:grpSp>
        <p:nvGrpSpPr>
          <p:cNvPr id="71" name="node08"/>
          <p:cNvGrpSpPr/>
          <p:nvPr/>
        </p:nvGrpSpPr>
        <p:grpSpPr>
          <a:xfrm>
            <a:off x="723900" y="4800600"/>
            <a:ext cx="3429000" cy="457200"/>
            <a:chOff x="723900" y="4800600"/>
            <a:chExt cx="3429000" cy="457200"/>
          </a:xfrm>
        </p:grpSpPr>
        <p:sp>
          <p:nvSpPr>
            <p:cNvPr id="22" name="node08.surface"/>
            <p:cNvSpPr/>
            <p:nvPr/>
          </p:nvSpPr>
          <p:spPr>
            <a:xfrm>
              <a:off x="723900" y="4800600"/>
              <a:ext cx="3429000" cy="457200"/>
            </a:xfrm>
            <a:prstGeom prst="rect">
              <a:avLst/>
            </a:prstGeom>
            <a:solidFill>
              <a:srgbClr val="05013F"/>
            </a:solidFill>
            <a:ln>
              <a:noFill/>
            </a:ln>
          </p:spPr>
        </p:sp>
        <p:sp>
          <p:nvSpPr>
            <p:cNvPr id="23" name="node08.text"/>
            <p:cNvSpPr/>
            <p:nvPr/>
          </p:nvSpPr>
          <p:spPr>
            <a:xfrm>
              <a:off x="876300" y="493395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G1  Portfolio decision</a:t>
              </a:r>
              <a:endParaRPr lang="en-US" sz="1100" spc="0" kern="0" b="0" i="0" dirty="0">
                <a:solidFill>
                  <a:srgbClr val="FFFFFF"/>
                </a:solidFill>
                <a:latin typeface="IBM Plex Sans"/>
                <a:ea typeface="IBM Plex Sans"/>
                <a:cs typeface="IBM Plex Sans"/>
              </a:endParaRPr>
            </a:p>
          </p:txBody>
        </p:sp>
      </p:grpSp>
      <p:grpSp>
        <p:nvGrpSpPr>
          <p:cNvPr id="72" name="node09"/>
          <p:cNvGrpSpPr/>
          <p:nvPr/>
        </p:nvGrpSpPr>
        <p:grpSpPr>
          <a:xfrm>
            <a:off x="723900" y="5486400"/>
            <a:ext cx="3429000" cy="457200"/>
            <a:chOff x="723900" y="5486400"/>
            <a:chExt cx="3429000" cy="457200"/>
          </a:xfrm>
        </p:grpSpPr>
        <p:sp>
          <p:nvSpPr>
            <p:cNvPr id="24" name="node09.surface"/>
            <p:cNvSpPr/>
            <p:nvPr/>
          </p:nvSpPr>
          <p:spPr>
            <a:xfrm>
              <a:off x="723900" y="5486400"/>
              <a:ext cx="3429000" cy="457200"/>
            </a:xfrm>
            <a:prstGeom prst="rect">
              <a:avLst/>
            </a:prstGeom>
            <a:solidFill>
              <a:srgbClr val="05013F"/>
            </a:solidFill>
            <a:ln>
              <a:noFill/>
            </a:ln>
          </p:spPr>
        </p:sp>
        <p:sp>
          <p:nvSpPr>
            <p:cNvPr id="25" name="node09.text"/>
            <p:cNvSpPr/>
            <p:nvPr/>
          </p:nvSpPr>
          <p:spPr>
            <a:xfrm>
              <a:off x="876300" y="561975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G2  Architecture and funding</a:t>
              </a:r>
              <a:endParaRPr lang="en-US" sz="1100" spc="0" kern="0" b="0" i="0" dirty="0">
                <a:solidFill>
                  <a:srgbClr val="FFFFFF"/>
                </a:solidFill>
                <a:latin typeface="IBM Plex Sans"/>
                <a:ea typeface="IBM Plex Sans"/>
                <a:cs typeface="IBM Plex Sans"/>
              </a:endParaRPr>
            </a:p>
          </p:txBody>
        </p:sp>
      </p:grpSp>
      <p:grpSp>
        <p:nvGrpSpPr>
          <p:cNvPr id="73" name="node10"/>
          <p:cNvGrpSpPr/>
          <p:nvPr/>
        </p:nvGrpSpPr>
        <p:grpSpPr>
          <a:xfrm>
            <a:off x="4381500" y="1600200"/>
            <a:ext cx="3429000" cy="685800"/>
            <a:chOff x="4381500" y="1600200"/>
            <a:chExt cx="3429000" cy="685800"/>
          </a:xfrm>
        </p:grpSpPr>
        <p:sp>
          <p:nvSpPr>
            <p:cNvPr id="26" name="node10.surface"/>
            <p:cNvSpPr/>
            <p:nvPr/>
          </p:nvSpPr>
          <p:spPr>
            <a:xfrm>
              <a:off x="4381500" y="1600200"/>
              <a:ext cx="3429000" cy="685800"/>
            </a:xfrm>
            <a:prstGeom prst="rect">
              <a:avLst/>
            </a:prstGeom>
            <a:solidFill>
              <a:srgbClr val="CED7E6"/>
            </a:solidFill>
            <a:ln>
              <a:noFill/>
            </a:ln>
          </p:spPr>
        </p:sp>
      </p:grpSp>
      <p:grpSp>
        <p:nvGrpSpPr>
          <p:cNvPr id="74" name="node11"/>
          <p:cNvGrpSpPr/>
          <p:nvPr/>
        </p:nvGrpSpPr>
        <p:grpSpPr>
          <a:xfrm>
            <a:off x="4533900" y="1752600"/>
            <a:ext cx="3124200" cy="266700"/>
            <a:chOff x="4533900" y="1752600"/>
            <a:chExt cx="3124200" cy="266700"/>
          </a:xfrm>
        </p:grpSpPr>
        <p:sp>
          <p:nvSpPr>
            <p:cNvPr id="27" name="node11.text"/>
            <p:cNvSpPr/>
            <p:nvPr/>
          </p:nvSpPr>
          <p:spPr>
            <a:xfrm>
              <a:off x="4533900" y="17526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2  Build</a:t>
              </a:r>
              <a:endParaRPr lang="en-US" sz="1600" spc="-16" kern="0" b="0" i="0" dirty="0">
                <a:solidFill>
                  <a:srgbClr val="070154"/>
                </a:solidFill>
                <a:latin typeface="IBM Plex Sans SemiBold"/>
                <a:ea typeface="IBM Plex Sans SemiBold"/>
                <a:cs typeface="IBM Plex Sans SemiBold"/>
              </a:endParaRPr>
            </a:p>
          </p:txBody>
        </p:sp>
      </p:grpSp>
      <p:grpSp>
        <p:nvGrpSpPr>
          <p:cNvPr id="75" name="node12"/>
          <p:cNvGrpSpPr/>
          <p:nvPr/>
        </p:nvGrpSpPr>
        <p:grpSpPr>
          <a:xfrm>
            <a:off x="4381500" y="2438400"/>
            <a:ext cx="3429000" cy="139700"/>
            <a:chOff x="4381500" y="2438400"/>
            <a:chExt cx="3429000" cy="139700"/>
          </a:xfrm>
        </p:grpSpPr>
        <p:sp>
          <p:nvSpPr>
            <p:cNvPr id="28" name="node12.text"/>
            <p:cNvSpPr/>
            <p:nvPr/>
          </p:nvSpPr>
          <p:spPr>
            <a:xfrm>
              <a:off x="4381500" y="24384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ENTRY CRITERIA</a:t>
              </a:r>
              <a:endParaRPr lang="en-US" sz="800" spc="48" kern="0" b="0" i="0" dirty="0">
                <a:solidFill>
                  <a:srgbClr val="50658E"/>
                </a:solidFill>
                <a:latin typeface="IBM Plex Mono Medium"/>
                <a:ea typeface="IBM Plex Mono Medium"/>
                <a:cs typeface="IBM Plex Mono Medium"/>
              </a:endParaRPr>
            </a:p>
          </p:txBody>
        </p:sp>
      </p:grpSp>
      <p:grpSp>
        <p:nvGrpSpPr>
          <p:cNvPr id="76" name="node13"/>
          <p:cNvGrpSpPr/>
          <p:nvPr/>
        </p:nvGrpSpPr>
        <p:grpSpPr>
          <a:xfrm>
            <a:off x="4381500" y="2705100"/>
            <a:ext cx="3429000" cy="723900"/>
            <a:chOff x="4381500" y="2705100"/>
            <a:chExt cx="3429000" cy="723900"/>
          </a:xfrm>
        </p:grpSpPr>
        <p:sp>
          <p:nvSpPr>
            <p:cNvPr id="29" name="node13.source-001.bullet"/>
            <p:cNvSpPr/>
            <p:nvPr/>
          </p:nvSpPr>
          <p:spPr>
            <a:xfrm>
              <a:off x="4381500" y="2794000"/>
              <a:ext cx="38100" cy="38100"/>
            </a:xfrm>
            <a:prstGeom prst="rect">
              <a:avLst/>
            </a:prstGeom>
            <a:solidFill>
              <a:srgbClr val="070154"/>
            </a:solidFill>
            <a:ln>
              <a:noFill/>
            </a:ln>
          </p:spPr>
        </p:sp>
        <p:sp>
          <p:nvSpPr>
            <p:cNvPr id="30" name="node13.source-001.text"/>
            <p:cNvSpPr/>
            <p:nvPr/>
          </p:nvSpPr>
          <p:spPr>
            <a:xfrm>
              <a:off x="4533900" y="2705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Roadmap and funding approved</a:t>
              </a:r>
              <a:endParaRPr lang="en-US" sz="1200" spc="0" kern="0" b="0" i="0" dirty="0">
                <a:solidFill>
                  <a:srgbClr val="070154"/>
                </a:solidFill>
                <a:latin typeface="IBM Plex Sans"/>
                <a:ea typeface="IBM Plex Sans"/>
                <a:cs typeface="IBM Plex Sans"/>
              </a:endParaRPr>
            </a:p>
          </p:txBody>
        </p:sp>
        <p:sp>
          <p:nvSpPr>
            <p:cNvPr id="31" name="node13.source-002.bullet"/>
            <p:cNvSpPr/>
            <p:nvPr/>
          </p:nvSpPr>
          <p:spPr>
            <a:xfrm>
              <a:off x="4381500" y="3048000"/>
              <a:ext cx="38100" cy="38100"/>
            </a:xfrm>
            <a:prstGeom prst="rect">
              <a:avLst/>
            </a:prstGeom>
            <a:solidFill>
              <a:srgbClr val="070154"/>
            </a:solidFill>
            <a:ln>
              <a:noFill/>
            </a:ln>
          </p:spPr>
        </p:sp>
        <p:sp>
          <p:nvSpPr>
            <p:cNvPr id="32" name="node13.source-002.text"/>
            <p:cNvSpPr/>
            <p:nvPr/>
          </p:nvSpPr>
          <p:spPr>
            <a:xfrm>
              <a:off x="4533900" y="2959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Target architecture signed</a:t>
              </a:r>
              <a:endParaRPr lang="en-US" sz="1200" spc="0" kern="0" b="0" i="0" dirty="0">
                <a:solidFill>
                  <a:srgbClr val="070154"/>
                </a:solidFill>
                <a:latin typeface="IBM Plex Sans"/>
                <a:ea typeface="IBM Plex Sans"/>
                <a:cs typeface="IBM Plex Sans"/>
              </a:endParaRPr>
            </a:p>
          </p:txBody>
        </p:sp>
        <p:sp>
          <p:nvSpPr>
            <p:cNvPr id="33" name="node13.source-003.bullet"/>
            <p:cNvSpPr/>
            <p:nvPr/>
          </p:nvSpPr>
          <p:spPr>
            <a:xfrm>
              <a:off x="4381500" y="3302000"/>
              <a:ext cx="38100" cy="38100"/>
            </a:xfrm>
            <a:prstGeom prst="rect">
              <a:avLst/>
            </a:prstGeom>
            <a:solidFill>
              <a:srgbClr val="070154"/>
            </a:solidFill>
            <a:ln>
              <a:noFill/>
            </a:ln>
          </p:spPr>
        </p:sp>
        <p:sp>
          <p:nvSpPr>
            <p:cNvPr id="34" name="node13.source-003.text"/>
            <p:cNvSpPr/>
            <p:nvPr/>
          </p:nvSpPr>
          <p:spPr>
            <a:xfrm>
              <a:off x="4533900" y="3213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Wave 1 team in place</a:t>
              </a:r>
              <a:endParaRPr lang="en-US" sz="1200" spc="0" kern="0" b="0" i="0" dirty="0">
                <a:solidFill>
                  <a:srgbClr val="070154"/>
                </a:solidFill>
                <a:latin typeface="IBM Plex Sans"/>
                <a:ea typeface="IBM Plex Sans"/>
                <a:cs typeface="IBM Plex Sans"/>
              </a:endParaRPr>
            </a:p>
          </p:txBody>
        </p:sp>
      </p:grpSp>
      <p:grpSp>
        <p:nvGrpSpPr>
          <p:cNvPr id="77" name="node14"/>
          <p:cNvGrpSpPr/>
          <p:nvPr/>
        </p:nvGrpSpPr>
        <p:grpSpPr>
          <a:xfrm>
            <a:off x="4381500" y="3657600"/>
            <a:ext cx="3429000" cy="139700"/>
            <a:chOff x="4381500" y="3657600"/>
            <a:chExt cx="3429000" cy="139700"/>
          </a:xfrm>
        </p:grpSpPr>
        <p:sp>
          <p:nvSpPr>
            <p:cNvPr id="35" name="node14.text"/>
            <p:cNvSpPr/>
            <p:nvPr/>
          </p:nvSpPr>
          <p:spPr>
            <a:xfrm>
              <a:off x="4381500" y="36576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EXIT CRITERIA</a:t>
              </a:r>
              <a:endParaRPr lang="en-US" sz="800" spc="48" kern="0" b="0" i="0" dirty="0">
                <a:solidFill>
                  <a:srgbClr val="50658E"/>
                </a:solidFill>
                <a:latin typeface="IBM Plex Mono Medium"/>
                <a:ea typeface="IBM Plex Mono Medium"/>
                <a:cs typeface="IBM Plex Mono Medium"/>
              </a:endParaRPr>
            </a:p>
          </p:txBody>
        </p:sp>
      </p:grpSp>
      <p:grpSp>
        <p:nvGrpSpPr>
          <p:cNvPr id="78" name="node15"/>
          <p:cNvGrpSpPr/>
          <p:nvPr/>
        </p:nvGrpSpPr>
        <p:grpSpPr>
          <a:xfrm>
            <a:off x="4381500" y="3924300"/>
            <a:ext cx="3429000" cy="469900"/>
            <a:chOff x="4381500" y="3924300"/>
            <a:chExt cx="3429000" cy="469900"/>
          </a:xfrm>
        </p:grpSpPr>
        <p:sp>
          <p:nvSpPr>
            <p:cNvPr id="36" name="node15.source-001.bullet"/>
            <p:cNvSpPr/>
            <p:nvPr/>
          </p:nvSpPr>
          <p:spPr>
            <a:xfrm>
              <a:off x="4381500" y="4013200"/>
              <a:ext cx="38100" cy="38100"/>
            </a:xfrm>
            <a:prstGeom prst="rect">
              <a:avLst/>
            </a:prstGeom>
            <a:solidFill>
              <a:srgbClr val="070154"/>
            </a:solidFill>
            <a:ln>
              <a:noFill/>
            </a:ln>
          </p:spPr>
        </p:sp>
        <p:sp>
          <p:nvSpPr>
            <p:cNvPr id="37" name="node15.source-001.text"/>
            <p:cNvSpPr/>
            <p:nvPr/>
          </p:nvSpPr>
          <p:spPr>
            <a:xfrm>
              <a:off x="4533900" y="39243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Rollback rehearsed and passed</a:t>
              </a:r>
              <a:endParaRPr lang="en-US" sz="1200" spc="0" kern="0" b="0" i="0" dirty="0">
                <a:solidFill>
                  <a:srgbClr val="070154"/>
                </a:solidFill>
                <a:latin typeface="IBM Plex Sans"/>
                <a:ea typeface="IBM Plex Sans"/>
                <a:cs typeface="IBM Plex Sans"/>
              </a:endParaRPr>
            </a:p>
          </p:txBody>
        </p:sp>
        <p:sp>
          <p:nvSpPr>
            <p:cNvPr id="38" name="node15.source-002.bullet"/>
            <p:cNvSpPr/>
            <p:nvPr/>
          </p:nvSpPr>
          <p:spPr>
            <a:xfrm>
              <a:off x="4381500" y="4267200"/>
              <a:ext cx="38100" cy="38100"/>
            </a:xfrm>
            <a:prstGeom prst="rect">
              <a:avLst/>
            </a:prstGeom>
            <a:solidFill>
              <a:srgbClr val="070154"/>
            </a:solidFill>
            <a:ln>
              <a:noFill/>
            </a:ln>
          </p:spPr>
        </p:sp>
        <p:sp>
          <p:nvSpPr>
            <p:cNvPr id="39" name="node15.source-002.text"/>
            <p:cNvSpPr/>
            <p:nvPr/>
          </p:nvSpPr>
          <p:spPr>
            <a:xfrm>
              <a:off x="4533900" y="41783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reconciled to the penny</a:t>
              </a:r>
              <a:endParaRPr lang="en-US" sz="1200" spc="0" kern="0" b="0" i="0" dirty="0">
                <a:solidFill>
                  <a:srgbClr val="070154"/>
                </a:solidFill>
                <a:latin typeface="IBM Plex Sans"/>
                <a:ea typeface="IBM Plex Sans"/>
                <a:cs typeface="IBM Plex Sans"/>
              </a:endParaRPr>
            </a:p>
          </p:txBody>
        </p:sp>
      </p:grpSp>
      <p:grpSp>
        <p:nvGrpSpPr>
          <p:cNvPr id="79" name="node16"/>
          <p:cNvGrpSpPr/>
          <p:nvPr/>
        </p:nvGrpSpPr>
        <p:grpSpPr>
          <a:xfrm>
            <a:off x="4381500" y="4533900"/>
            <a:ext cx="3429000" cy="139700"/>
            <a:chOff x="4381500" y="4533900"/>
            <a:chExt cx="3429000" cy="139700"/>
          </a:xfrm>
        </p:grpSpPr>
        <p:sp>
          <p:nvSpPr>
            <p:cNvPr id="40" name="node16.text"/>
            <p:cNvSpPr/>
            <p:nvPr/>
          </p:nvSpPr>
          <p:spPr>
            <a:xfrm>
              <a:off x="4381500" y="45339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GATES</a:t>
              </a:r>
              <a:endParaRPr lang="en-US" sz="800" spc="48" kern="0" b="0" i="0" dirty="0">
                <a:solidFill>
                  <a:srgbClr val="50658E"/>
                </a:solidFill>
                <a:latin typeface="IBM Plex Mono Medium"/>
                <a:ea typeface="IBM Plex Mono Medium"/>
                <a:cs typeface="IBM Plex Mono Medium"/>
              </a:endParaRPr>
            </a:p>
          </p:txBody>
        </p:sp>
      </p:grpSp>
      <p:grpSp>
        <p:nvGrpSpPr>
          <p:cNvPr id="80" name="node17"/>
          <p:cNvGrpSpPr/>
          <p:nvPr/>
        </p:nvGrpSpPr>
        <p:grpSpPr>
          <a:xfrm>
            <a:off x="4381500" y="4800600"/>
            <a:ext cx="3429000" cy="457200"/>
            <a:chOff x="4381500" y="4800600"/>
            <a:chExt cx="3429000" cy="457200"/>
          </a:xfrm>
        </p:grpSpPr>
        <p:sp>
          <p:nvSpPr>
            <p:cNvPr id="41" name="node17.surface"/>
            <p:cNvSpPr/>
            <p:nvPr/>
          </p:nvSpPr>
          <p:spPr>
            <a:xfrm>
              <a:off x="4381500" y="4800600"/>
              <a:ext cx="3429000" cy="457200"/>
            </a:xfrm>
            <a:prstGeom prst="rect">
              <a:avLst/>
            </a:prstGeom>
            <a:solidFill>
              <a:srgbClr val="05013F"/>
            </a:solidFill>
            <a:ln>
              <a:noFill/>
            </a:ln>
          </p:spPr>
        </p:sp>
        <p:sp>
          <p:nvSpPr>
            <p:cNvPr id="42" name="node17.text"/>
            <p:cNvSpPr/>
            <p:nvPr/>
          </p:nvSpPr>
          <p:spPr>
            <a:xfrm>
              <a:off x="4533900" y="493395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G3  Cutover readiness</a:t>
              </a:r>
              <a:endParaRPr lang="en-US" sz="1100" spc="0" kern="0" b="0" i="0" dirty="0">
                <a:solidFill>
                  <a:srgbClr val="FFFFFF"/>
                </a:solidFill>
                <a:latin typeface="IBM Plex Sans"/>
                <a:ea typeface="IBM Plex Sans"/>
                <a:cs typeface="IBM Plex Sans"/>
              </a:endParaRPr>
            </a:p>
          </p:txBody>
        </p:sp>
      </p:grpSp>
      <p:grpSp>
        <p:nvGrpSpPr>
          <p:cNvPr id="81" name="node18"/>
          <p:cNvGrpSpPr/>
          <p:nvPr/>
        </p:nvGrpSpPr>
        <p:grpSpPr>
          <a:xfrm>
            <a:off x="4381500" y="5486400"/>
            <a:ext cx="3429000" cy="457200"/>
            <a:chOff x="4381500" y="5486400"/>
            <a:chExt cx="3429000" cy="457200"/>
          </a:xfrm>
        </p:grpSpPr>
        <p:sp>
          <p:nvSpPr>
            <p:cNvPr id="43" name="node18.surface"/>
            <p:cNvSpPr/>
            <p:nvPr/>
          </p:nvSpPr>
          <p:spPr>
            <a:xfrm>
              <a:off x="4381500" y="5486400"/>
              <a:ext cx="3429000" cy="457200"/>
            </a:xfrm>
            <a:prstGeom prst="rect">
              <a:avLst/>
            </a:prstGeom>
            <a:solidFill>
              <a:srgbClr val="05013F"/>
            </a:solidFill>
            <a:ln>
              <a:noFill/>
            </a:ln>
          </p:spPr>
        </p:sp>
        <p:sp>
          <p:nvSpPr>
            <p:cNvPr id="44" name="node18.text"/>
            <p:cNvSpPr/>
            <p:nvPr/>
          </p:nvSpPr>
          <p:spPr>
            <a:xfrm>
              <a:off x="4533900" y="561975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G4  Steady-state handover</a:t>
              </a:r>
              <a:endParaRPr lang="en-US" sz="1100" spc="0" kern="0" b="0" i="0" dirty="0">
                <a:solidFill>
                  <a:srgbClr val="FFFFFF"/>
                </a:solidFill>
                <a:latin typeface="IBM Plex Sans"/>
                <a:ea typeface="IBM Plex Sans"/>
                <a:cs typeface="IBM Plex Sans"/>
              </a:endParaRPr>
            </a:p>
          </p:txBody>
        </p:sp>
      </p:grpSp>
      <p:grpSp>
        <p:nvGrpSpPr>
          <p:cNvPr id="82" name="node19"/>
          <p:cNvGrpSpPr/>
          <p:nvPr/>
        </p:nvGrpSpPr>
        <p:grpSpPr>
          <a:xfrm>
            <a:off x="8039100" y="1600200"/>
            <a:ext cx="3429000" cy="685800"/>
            <a:chOff x="8039100" y="1600200"/>
            <a:chExt cx="3429000" cy="685800"/>
          </a:xfrm>
        </p:grpSpPr>
        <p:sp>
          <p:nvSpPr>
            <p:cNvPr id="45" name="node19.surface"/>
            <p:cNvSpPr/>
            <p:nvPr/>
          </p:nvSpPr>
          <p:spPr>
            <a:xfrm>
              <a:off x="8039100" y="1600200"/>
              <a:ext cx="3429000" cy="685800"/>
            </a:xfrm>
            <a:prstGeom prst="rect">
              <a:avLst/>
            </a:prstGeom>
            <a:solidFill>
              <a:srgbClr val="E8EEF8"/>
            </a:solidFill>
            <a:ln>
              <a:noFill/>
            </a:ln>
          </p:spPr>
        </p:sp>
      </p:grpSp>
      <p:grpSp>
        <p:nvGrpSpPr>
          <p:cNvPr id="83" name="node20"/>
          <p:cNvGrpSpPr/>
          <p:nvPr/>
        </p:nvGrpSpPr>
        <p:grpSpPr>
          <a:xfrm>
            <a:off x="8191500" y="1752600"/>
            <a:ext cx="3124200" cy="266700"/>
            <a:chOff x="8191500" y="1752600"/>
            <a:chExt cx="3124200" cy="266700"/>
          </a:xfrm>
        </p:grpSpPr>
        <p:sp>
          <p:nvSpPr>
            <p:cNvPr id="46" name="node20.text"/>
            <p:cNvSpPr/>
            <p:nvPr/>
          </p:nvSpPr>
          <p:spPr>
            <a:xfrm>
              <a:off x="8191500" y="17526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3  Sustain</a:t>
              </a:r>
              <a:endParaRPr lang="en-US" sz="1600" spc="-16" kern="0" b="0" i="0" dirty="0">
                <a:solidFill>
                  <a:srgbClr val="070154"/>
                </a:solidFill>
                <a:latin typeface="IBM Plex Sans SemiBold"/>
                <a:ea typeface="IBM Plex Sans SemiBold"/>
                <a:cs typeface="IBM Plex Sans SemiBold"/>
              </a:endParaRPr>
            </a:p>
          </p:txBody>
        </p:sp>
      </p:grpSp>
      <p:grpSp>
        <p:nvGrpSpPr>
          <p:cNvPr id="84" name="node21"/>
          <p:cNvGrpSpPr/>
          <p:nvPr/>
        </p:nvGrpSpPr>
        <p:grpSpPr>
          <a:xfrm>
            <a:off x="8039100" y="2438400"/>
            <a:ext cx="3429000" cy="139700"/>
            <a:chOff x="8039100" y="2438400"/>
            <a:chExt cx="3429000" cy="139700"/>
          </a:xfrm>
        </p:grpSpPr>
        <p:sp>
          <p:nvSpPr>
            <p:cNvPr id="47" name="node21.text"/>
            <p:cNvSpPr/>
            <p:nvPr/>
          </p:nvSpPr>
          <p:spPr>
            <a:xfrm>
              <a:off x="8039100" y="24384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ENTRY CRITERIA</a:t>
              </a:r>
              <a:endParaRPr lang="en-US" sz="800" spc="48" kern="0" b="0" i="0" dirty="0">
                <a:solidFill>
                  <a:srgbClr val="50658E"/>
                </a:solidFill>
                <a:latin typeface="IBM Plex Mono Medium"/>
                <a:ea typeface="IBM Plex Mono Medium"/>
                <a:cs typeface="IBM Plex Mono Medium"/>
              </a:endParaRPr>
            </a:p>
          </p:txBody>
        </p:sp>
      </p:grpSp>
      <p:grpSp>
        <p:nvGrpSpPr>
          <p:cNvPr id="85" name="node22"/>
          <p:cNvGrpSpPr/>
          <p:nvPr/>
        </p:nvGrpSpPr>
        <p:grpSpPr>
          <a:xfrm>
            <a:off x="8039100" y="2705100"/>
            <a:ext cx="3429000" cy="723900"/>
            <a:chOff x="8039100" y="2705100"/>
            <a:chExt cx="3429000" cy="723900"/>
          </a:xfrm>
        </p:grpSpPr>
        <p:sp>
          <p:nvSpPr>
            <p:cNvPr id="48" name="node22.source-001.bullet"/>
            <p:cNvSpPr/>
            <p:nvPr/>
          </p:nvSpPr>
          <p:spPr>
            <a:xfrm>
              <a:off x="8039100" y="2794000"/>
              <a:ext cx="38100" cy="38100"/>
            </a:xfrm>
            <a:prstGeom prst="rect">
              <a:avLst/>
            </a:prstGeom>
            <a:solidFill>
              <a:srgbClr val="070154"/>
            </a:solidFill>
            <a:ln>
              <a:noFill/>
            </a:ln>
          </p:spPr>
        </p:sp>
        <p:sp>
          <p:nvSpPr>
            <p:cNvPr id="49" name="node22.source-001.text"/>
            <p:cNvSpPr/>
            <p:nvPr/>
          </p:nvSpPr>
          <p:spPr>
            <a:xfrm>
              <a:off x="8191500" y="2705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Cutover complete, hypercare done</a:t>
              </a:r>
              <a:endParaRPr lang="en-US" sz="1200" spc="0" kern="0" b="0" i="0" dirty="0">
                <a:solidFill>
                  <a:srgbClr val="070154"/>
                </a:solidFill>
                <a:latin typeface="IBM Plex Sans"/>
                <a:ea typeface="IBM Plex Sans"/>
                <a:cs typeface="IBM Plex Sans"/>
              </a:endParaRPr>
            </a:p>
          </p:txBody>
        </p:sp>
        <p:sp>
          <p:nvSpPr>
            <p:cNvPr id="50" name="node22.source-002.bullet"/>
            <p:cNvSpPr/>
            <p:nvPr/>
          </p:nvSpPr>
          <p:spPr>
            <a:xfrm>
              <a:off x="8039100" y="3048000"/>
              <a:ext cx="38100" cy="38100"/>
            </a:xfrm>
            <a:prstGeom prst="rect">
              <a:avLst/>
            </a:prstGeom>
            <a:solidFill>
              <a:srgbClr val="070154"/>
            </a:solidFill>
            <a:ln>
              <a:noFill/>
            </a:ln>
          </p:spPr>
        </p:sp>
        <p:sp>
          <p:nvSpPr>
            <p:cNvPr id="51" name="node22.source-002.text"/>
            <p:cNvSpPr/>
            <p:nvPr/>
          </p:nvSpPr>
          <p:spPr>
            <a:xfrm>
              <a:off x="8191500" y="2959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Runbooks accepted by support</a:t>
              </a:r>
              <a:endParaRPr lang="en-US" sz="1200" spc="0" kern="0" b="0" i="0" dirty="0">
                <a:solidFill>
                  <a:srgbClr val="070154"/>
                </a:solidFill>
                <a:latin typeface="IBM Plex Sans"/>
                <a:ea typeface="IBM Plex Sans"/>
                <a:cs typeface="IBM Plex Sans"/>
              </a:endParaRPr>
            </a:p>
          </p:txBody>
        </p:sp>
        <p:sp>
          <p:nvSpPr>
            <p:cNvPr id="52" name="node22.source-003.bullet"/>
            <p:cNvSpPr/>
            <p:nvPr/>
          </p:nvSpPr>
          <p:spPr>
            <a:xfrm>
              <a:off x="8039100" y="3302000"/>
              <a:ext cx="38100" cy="38100"/>
            </a:xfrm>
            <a:prstGeom prst="rect">
              <a:avLst/>
            </a:prstGeom>
            <a:solidFill>
              <a:srgbClr val="070154"/>
            </a:solidFill>
            <a:ln>
              <a:noFill/>
            </a:ln>
          </p:spPr>
        </p:sp>
        <p:sp>
          <p:nvSpPr>
            <p:cNvPr id="53" name="node22.source-003.text"/>
            <p:cNvSpPr/>
            <p:nvPr/>
          </p:nvSpPr>
          <p:spPr>
            <a:xfrm>
              <a:off x="8191500" y="3213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 budget transferred</a:t>
              </a:r>
              <a:endParaRPr lang="en-US" sz="1200" spc="0" kern="0" b="0" i="0" dirty="0">
                <a:solidFill>
                  <a:srgbClr val="070154"/>
                </a:solidFill>
                <a:latin typeface="IBM Plex Sans"/>
                <a:ea typeface="IBM Plex Sans"/>
                <a:cs typeface="IBM Plex Sans"/>
              </a:endParaRPr>
            </a:p>
          </p:txBody>
        </p:sp>
      </p:grpSp>
      <p:grpSp>
        <p:nvGrpSpPr>
          <p:cNvPr id="86" name="node23"/>
          <p:cNvGrpSpPr/>
          <p:nvPr/>
        </p:nvGrpSpPr>
        <p:grpSpPr>
          <a:xfrm>
            <a:off x="8039100" y="3657600"/>
            <a:ext cx="3429000" cy="139700"/>
            <a:chOff x="8039100" y="3657600"/>
            <a:chExt cx="3429000" cy="139700"/>
          </a:xfrm>
        </p:grpSpPr>
        <p:sp>
          <p:nvSpPr>
            <p:cNvPr id="54" name="node23.text"/>
            <p:cNvSpPr/>
            <p:nvPr/>
          </p:nvSpPr>
          <p:spPr>
            <a:xfrm>
              <a:off x="8039100" y="36576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EXIT CRITERIA</a:t>
              </a:r>
              <a:endParaRPr lang="en-US" sz="800" spc="48" kern="0" b="0" i="0" dirty="0">
                <a:solidFill>
                  <a:srgbClr val="50658E"/>
                </a:solidFill>
                <a:latin typeface="IBM Plex Mono Medium"/>
                <a:ea typeface="IBM Plex Mono Medium"/>
                <a:cs typeface="IBM Plex Mono Medium"/>
              </a:endParaRPr>
            </a:p>
          </p:txBody>
        </p:sp>
      </p:grpSp>
      <p:grpSp>
        <p:nvGrpSpPr>
          <p:cNvPr id="87" name="node24"/>
          <p:cNvGrpSpPr/>
          <p:nvPr/>
        </p:nvGrpSpPr>
        <p:grpSpPr>
          <a:xfrm>
            <a:off x="8039100" y="3924300"/>
            <a:ext cx="3429000" cy="469900"/>
            <a:chOff x="8039100" y="3924300"/>
            <a:chExt cx="3429000" cy="469900"/>
          </a:xfrm>
        </p:grpSpPr>
        <p:sp>
          <p:nvSpPr>
            <p:cNvPr id="55" name="node24.source-001.bullet"/>
            <p:cNvSpPr/>
            <p:nvPr/>
          </p:nvSpPr>
          <p:spPr>
            <a:xfrm>
              <a:off x="8039100" y="4013200"/>
              <a:ext cx="38100" cy="38100"/>
            </a:xfrm>
            <a:prstGeom prst="rect">
              <a:avLst/>
            </a:prstGeom>
            <a:solidFill>
              <a:srgbClr val="070154"/>
            </a:solidFill>
            <a:ln>
              <a:noFill/>
            </a:ln>
          </p:spPr>
        </p:sp>
        <p:sp>
          <p:nvSpPr>
            <p:cNvPr id="56" name="node24.source-001.text"/>
            <p:cNvSpPr/>
            <p:nvPr/>
          </p:nvSpPr>
          <p:spPr>
            <a:xfrm>
              <a:off x="8191500" y="39243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Service levels met two quarters</a:t>
              </a:r>
              <a:endParaRPr lang="en-US" sz="1200" spc="0" kern="0" b="0" i="0" dirty="0">
                <a:solidFill>
                  <a:srgbClr val="070154"/>
                </a:solidFill>
                <a:latin typeface="IBM Plex Sans"/>
                <a:ea typeface="IBM Plex Sans"/>
                <a:cs typeface="IBM Plex Sans"/>
              </a:endParaRPr>
            </a:p>
          </p:txBody>
        </p:sp>
        <p:sp>
          <p:nvSpPr>
            <p:cNvPr id="57" name="node24.source-002.bullet"/>
            <p:cNvSpPr/>
            <p:nvPr/>
          </p:nvSpPr>
          <p:spPr>
            <a:xfrm>
              <a:off x="8039100" y="4267200"/>
              <a:ext cx="38100" cy="38100"/>
            </a:xfrm>
            <a:prstGeom prst="rect">
              <a:avLst/>
            </a:prstGeom>
            <a:solidFill>
              <a:srgbClr val="070154"/>
            </a:solidFill>
            <a:ln>
              <a:noFill/>
            </a:ln>
          </p:spPr>
        </p:sp>
        <p:sp>
          <p:nvSpPr>
            <p:cNvPr id="58" name="node24.source-002.text"/>
            <p:cNvSpPr/>
            <p:nvPr/>
          </p:nvSpPr>
          <p:spPr>
            <a:xfrm>
              <a:off x="8191500" y="41783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Next-wave candidates ranked</a:t>
              </a:r>
              <a:endParaRPr lang="en-US" sz="1200" spc="0" kern="0" b="0" i="0" dirty="0">
                <a:solidFill>
                  <a:srgbClr val="070154"/>
                </a:solidFill>
                <a:latin typeface="IBM Plex Sans"/>
                <a:ea typeface="IBM Plex Sans"/>
                <a:cs typeface="IBM Plex Sans"/>
              </a:endParaRPr>
            </a:p>
          </p:txBody>
        </p:sp>
      </p:grpSp>
      <p:grpSp>
        <p:nvGrpSpPr>
          <p:cNvPr id="88" name="node25"/>
          <p:cNvGrpSpPr/>
          <p:nvPr/>
        </p:nvGrpSpPr>
        <p:grpSpPr>
          <a:xfrm>
            <a:off x="8039100" y="4533900"/>
            <a:ext cx="3429000" cy="139700"/>
            <a:chOff x="8039100" y="4533900"/>
            <a:chExt cx="3429000" cy="139700"/>
          </a:xfrm>
        </p:grpSpPr>
        <p:sp>
          <p:nvSpPr>
            <p:cNvPr id="59" name="node25.text"/>
            <p:cNvSpPr/>
            <p:nvPr/>
          </p:nvSpPr>
          <p:spPr>
            <a:xfrm>
              <a:off x="8039100" y="45339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GATES</a:t>
              </a:r>
              <a:endParaRPr lang="en-US" sz="800" spc="48" kern="0" b="0" i="0" dirty="0">
                <a:solidFill>
                  <a:srgbClr val="50658E"/>
                </a:solidFill>
                <a:latin typeface="IBM Plex Mono Medium"/>
                <a:ea typeface="IBM Plex Mono Medium"/>
                <a:cs typeface="IBM Plex Mono Medium"/>
              </a:endParaRPr>
            </a:p>
          </p:txBody>
        </p:sp>
      </p:grpSp>
      <p:grpSp>
        <p:nvGrpSpPr>
          <p:cNvPr id="89" name="node26"/>
          <p:cNvGrpSpPr/>
          <p:nvPr/>
        </p:nvGrpSpPr>
        <p:grpSpPr>
          <a:xfrm>
            <a:off x="8039100" y="4800600"/>
            <a:ext cx="3429000" cy="457200"/>
            <a:chOff x="8039100" y="4800600"/>
            <a:chExt cx="3429000" cy="457200"/>
          </a:xfrm>
        </p:grpSpPr>
        <p:sp>
          <p:nvSpPr>
            <p:cNvPr id="60" name="node26.surface"/>
            <p:cNvSpPr/>
            <p:nvPr/>
          </p:nvSpPr>
          <p:spPr>
            <a:xfrm>
              <a:off x="8039100" y="4800600"/>
              <a:ext cx="3429000" cy="457200"/>
            </a:xfrm>
            <a:prstGeom prst="rect">
              <a:avLst/>
            </a:prstGeom>
            <a:solidFill>
              <a:srgbClr val="05013F"/>
            </a:solidFill>
            <a:ln>
              <a:noFill/>
            </a:ln>
          </p:spPr>
        </p:sp>
        <p:sp>
          <p:nvSpPr>
            <p:cNvPr id="61" name="node26.text"/>
            <p:cNvSpPr/>
            <p:nvPr/>
          </p:nvSpPr>
          <p:spPr>
            <a:xfrm>
              <a:off x="8191500" y="493395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Quarterly health review</a:t>
              </a:r>
              <a:endParaRPr lang="en-US" sz="1100" spc="0" kern="0" b="0" i="0" dirty="0">
                <a:solidFill>
                  <a:srgbClr val="FFFFFF"/>
                </a:solidFill>
                <a:latin typeface="IBM Plex Sans"/>
                <a:ea typeface="IBM Plex Sans"/>
                <a:cs typeface="IBM Plex Sans"/>
              </a:endParaRPr>
            </a:p>
          </p:txBody>
        </p:sp>
      </p:grpSp>
      <p:grpSp>
        <p:nvGrpSpPr>
          <p:cNvPr id="90" name="node27"/>
          <p:cNvGrpSpPr/>
          <p:nvPr/>
        </p:nvGrpSpPr>
        <p:grpSpPr>
          <a:xfrm>
            <a:off x="8039100" y="5486400"/>
            <a:ext cx="3429000" cy="457200"/>
            <a:chOff x="8039100" y="5486400"/>
            <a:chExt cx="3429000" cy="457200"/>
          </a:xfrm>
        </p:grpSpPr>
        <p:sp>
          <p:nvSpPr>
            <p:cNvPr id="62" name="node27.surface"/>
            <p:cNvSpPr/>
            <p:nvPr/>
          </p:nvSpPr>
          <p:spPr>
            <a:xfrm>
              <a:off x="8039100" y="5486400"/>
              <a:ext cx="3429000" cy="457200"/>
            </a:xfrm>
            <a:prstGeom prst="rect">
              <a:avLst/>
            </a:prstGeom>
            <a:solidFill>
              <a:srgbClr val="05013F"/>
            </a:solidFill>
            <a:ln>
              <a:noFill/>
            </a:ln>
          </p:spPr>
        </p:sp>
        <p:sp>
          <p:nvSpPr>
            <p:cNvPr id="63" name="node27.text"/>
            <p:cNvSpPr/>
            <p:nvPr/>
          </p:nvSpPr>
          <p:spPr>
            <a:xfrm>
              <a:off x="8191500" y="561975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Annual re-rationalization</a:t>
              </a:r>
              <a:endParaRPr lang="en-US" sz="1100" spc="0" kern="0" b="0" i="0" dirty="0">
                <a:solidFill>
                  <a:srgbClr val="FFFFFF"/>
                </a:solidFill>
                <a:latin typeface="IBM Plex Sans"/>
                <a:ea typeface="IBM Plex Sans"/>
                <a:cs typeface="IBM Plex Sans"/>
              </a:endParaRPr>
            </a:p>
          </p:txBody>
        </p:sp>
      </p:gr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ource-284">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Each phase has its own leads and Intellio accelerators</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115</a:t>
            </a:fld>
            <a:endParaRPr lang="en-US" sz="700" spc="0" kern="0" b="0" i="0" dirty="0">
              <a:solidFill>
                <a:srgbClr val="070154"/>
              </a:solidFill>
              <a:latin typeface="IBM Plex Mono SemiBold"/>
              <a:ea typeface="IBM Plex Mono SemiBold"/>
              <a:cs typeface="IBM Plex Mono SemiBold"/>
            </a:endParaRPr>
          </a:p>
        </p:txBody>
      </p:sp>
      <p:grpSp>
        <p:nvGrpSpPr>
          <p:cNvPr id="60" name="node01"/>
          <p:cNvGrpSpPr/>
          <p:nvPr/>
        </p:nvGrpSpPr>
        <p:grpSpPr>
          <a:xfrm>
            <a:off x="8039100" y="2286000"/>
            <a:ext cx="3429000" cy="647700"/>
            <a:chOff x="8039100" y="2286000"/>
            <a:chExt cx="3429000" cy="647700"/>
          </a:xfrm>
        </p:grpSpPr>
        <p:sp>
          <p:nvSpPr>
            <p:cNvPr id="6" name="node01.text"/>
            <p:cNvSpPr/>
            <p:nvPr/>
          </p:nvSpPr>
          <p:spPr>
            <a:xfrm>
              <a:off x="8039100" y="2286000"/>
              <a:ext cx="3429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Northfield's team and the Intellio accelerators change with each phase, but the three leads stay constant.</a:t>
              </a:r>
              <a:endParaRPr lang="en-US" sz="1200" spc="0" kern="0" b="0" i="0" dirty="0">
                <a:solidFill>
                  <a:srgbClr val="50658E"/>
                </a:solidFill>
                <a:latin typeface="IBM Plex Sans"/>
                <a:ea typeface="IBM Plex Sans"/>
                <a:cs typeface="IBM Plex Sans"/>
              </a:endParaRPr>
            </a:p>
          </p:txBody>
        </p:sp>
      </p:grpSp>
      <p:grpSp>
        <p:nvGrpSpPr>
          <p:cNvPr id="61" name="node02"/>
          <p:cNvGrpSpPr/>
          <p:nvPr/>
        </p:nvGrpSpPr>
        <p:grpSpPr>
          <a:xfrm>
            <a:off x="8039100" y="3429000"/>
            <a:ext cx="3429000" cy="1828800"/>
            <a:chOff x="8039100" y="3429000"/>
            <a:chExt cx="3429000" cy="1828800"/>
          </a:xfrm>
        </p:grpSpPr>
        <p:sp>
          <p:nvSpPr>
            <p:cNvPr id="7" name="node02.container"/>
            <p:cNvSpPr/>
            <p:nvPr/>
          </p:nvSpPr>
          <p:spPr>
            <a:xfrm>
              <a:off x="8039100" y="3429000"/>
              <a:ext cx="3429000" cy="1828800"/>
            </a:xfrm>
            <a:prstGeom prst="rect">
              <a:avLst/>
            </a:prstGeom>
            <a:solidFill>
              <a:srgbClr val="E8EEF8"/>
            </a:solidFill>
            <a:ln>
              <a:noFill/>
            </a:ln>
          </p:spPr>
        </p:sp>
        <p:sp>
          <p:nvSpPr>
            <p:cNvPr id="8" name="node02.edge"/>
            <p:cNvSpPr/>
            <p:nvPr/>
          </p:nvSpPr>
          <p:spPr>
            <a:xfrm>
              <a:off x="8039100" y="3429000"/>
              <a:ext cx="38100" cy="1828800"/>
            </a:xfrm>
            <a:prstGeom prst="rect">
              <a:avLst/>
            </a:prstGeom>
            <a:solidFill>
              <a:srgbClr val="070154"/>
            </a:solidFill>
            <a:ln>
              <a:noFill/>
            </a:ln>
          </p:spPr>
        </p:sp>
        <p:sp>
          <p:nvSpPr>
            <p:cNvPr id="9" name="node02.label"/>
            <p:cNvSpPr/>
            <p:nvPr/>
          </p:nvSpPr>
          <p:spPr>
            <a:xfrm>
              <a:off x="8229600" y="3581400"/>
              <a:ext cx="30861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HOW TO READ</a:t>
              </a:r>
              <a:endParaRPr lang="en-US" sz="800" spc="48" kern="0" b="0" i="0" dirty="0">
                <a:solidFill>
                  <a:srgbClr val="0047FF"/>
                </a:solidFill>
                <a:latin typeface="IBM Plex Mono Medium"/>
                <a:ea typeface="IBM Plex Mono Medium"/>
                <a:cs typeface="IBM Plex Mono Medium"/>
              </a:endParaRPr>
            </a:p>
          </p:txBody>
        </p:sp>
        <p:sp>
          <p:nvSpPr>
            <p:cNvPr id="10" name="node02.title"/>
            <p:cNvSpPr/>
            <p:nvPr/>
          </p:nvSpPr>
          <p:spPr>
            <a:xfrm>
              <a:off x="8229600" y="3797300"/>
              <a:ext cx="30861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Reading the rows</a:t>
              </a:r>
              <a:endParaRPr lang="en-US" sz="1600" spc="-16" kern="0" b="0" i="0" dirty="0">
                <a:solidFill>
                  <a:srgbClr val="070154"/>
                </a:solidFill>
                <a:latin typeface="IBM Plex Sans SemiBold"/>
                <a:ea typeface="IBM Plex Sans SemiBold"/>
                <a:cs typeface="IBM Plex Sans SemiBold"/>
              </a:endParaRPr>
            </a:p>
          </p:txBody>
        </p:sp>
        <p:sp>
          <p:nvSpPr>
            <p:cNvPr id="11" name="node02.body.item-001.bullets.item-001.marker"/>
            <p:cNvSpPr/>
            <p:nvPr/>
          </p:nvSpPr>
          <p:spPr>
            <a:xfrm>
              <a:off x="8229600" y="4305300"/>
              <a:ext cx="38100" cy="38100"/>
            </a:xfrm>
            <a:prstGeom prst="rect">
              <a:avLst/>
            </a:prstGeom>
            <a:solidFill>
              <a:srgbClr val="070154"/>
            </a:solidFill>
            <a:ln>
              <a:noFill/>
            </a:ln>
          </p:spPr>
        </p:sp>
        <p:sp>
          <p:nvSpPr>
            <p:cNvPr id="12" name="node02.body.item-001.bullets.item-001.text"/>
            <p:cNvSpPr/>
            <p:nvPr/>
          </p:nvSpPr>
          <p:spPr>
            <a:xfrm>
              <a:off x="8382000" y="42164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Roles lead through the handoff</a:t>
              </a:r>
              <a:endParaRPr lang="en-US" sz="1200" spc="0" kern="0" b="0" i="0" dirty="0">
                <a:solidFill>
                  <a:srgbClr val="070154"/>
                </a:solidFill>
                <a:latin typeface="IBM Plex Sans"/>
                <a:ea typeface="IBM Plex Sans"/>
                <a:cs typeface="IBM Plex Sans"/>
              </a:endParaRPr>
            </a:p>
          </p:txBody>
        </p:sp>
        <p:sp>
          <p:nvSpPr>
            <p:cNvPr id="13" name="node02.body.item-001.bullets.item-002.marker"/>
            <p:cNvSpPr/>
            <p:nvPr/>
          </p:nvSpPr>
          <p:spPr>
            <a:xfrm>
              <a:off x="8229600" y="4559300"/>
              <a:ext cx="38100" cy="38100"/>
            </a:xfrm>
            <a:prstGeom prst="rect">
              <a:avLst/>
            </a:prstGeom>
            <a:solidFill>
              <a:srgbClr val="070154"/>
            </a:solidFill>
            <a:ln>
              <a:noFill/>
            </a:ln>
          </p:spPr>
        </p:sp>
        <p:sp>
          <p:nvSpPr>
            <p:cNvPr id="14" name="node02.body.item-001.bullets.item-002.text"/>
            <p:cNvSpPr/>
            <p:nvPr/>
          </p:nvSpPr>
          <p:spPr>
            <a:xfrm>
              <a:off x="8382000" y="44704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Accelerators are tuned to the estate</a:t>
              </a:r>
              <a:endParaRPr lang="en-US" sz="1200" spc="0" kern="0" b="0" i="0" dirty="0">
                <a:solidFill>
                  <a:srgbClr val="070154"/>
                </a:solidFill>
                <a:latin typeface="IBM Plex Sans"/>
                <a:ea typeface="IBM Plex Sans"/>
                <a:cs typeface="IBM Plex Sans"/>
              </a:endParaRPr>
            </a:p>
          </p:txBody>
        </p:sp>
        <p:sp>
          <p:nvSpPr>
            <p:cNvPr id="15" name="node02.body.item-001.bullets.item-003.marker"/>
            <p:cNvSpPr/>
            <p:nvPr/>
          </p:nvSpPr>
          <p:spPr>
            <a:xfrm>
              <a:off x="8229600" y="4813300"/>
              <a:ext cx="38100" cy="38100"/>
            </a:xfrm>
            <a:prstGeom prst="rect">
              <a:avLst/>
            </a:prstGeom>
            <a:solidFill>
              <a:srgbClr val="070154"/>
            </a:solidFill>
            <a:ln>
              <a:noFill/>
            </a:ln>
          </p:spPr>
        </p:sp>
        <p:sp>
          <p:nvSpPr>
            <p:cNvPr id="16" name="node02.body.item-001.bullets.item-003.text"/>
            <p:cNvSpPr/>
            <p:nvPr/>
          </p:nvSpPr>
          <p:spPr>
            <a:xfrm>
              <a:off x="8382000" y="47244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Each phase closes at a gate</a:t>
              </a:r>
              <a:endParaRPr lang="en-US" sz="1200" spc="0" kern="0" b="0" i="0" dirty="0">
                <a:solidFill>
                  <a:srgbClr val="070154"/>
                </a:solidFill>
                <a:latin typeface="IBM Plex Sans"/>
                <a:ea typeface="IBM Plex Sans"/>
                <a:cs typeface="IBM Plex Sans"/>
              </a:endParaRPr>
            </a:p>
          </p:txBody>
        </p:sp>
      </p:grpSp>
      <p:grpSp>
        <p:nvGrpSpPr>
          <p:cNvPr id="62" name="node03"/>
          <p:cNvGrpSpPr/>
          <p:nvPr/>
        </p:nvGrpSpPr>
        <p:grpSpPr>
          <a:xfrm>
            <a:off x="723900" y="457200"/>
            <a:ext cx="1600200" cy="1600200"/>
            <a:chOff x="723900" y="457200"/>
            <a:chExt cx="1600200" cy="1600200"/>
          </a:xfrm>
        </p:grpSpPr>
        <p:sp>
          <p:nvSpPr>
            <p:cNvPr id="17" name="node03.surface"/>
            <p:cNvSpPr/>
            <p:nvPr/>
          </p:nvSpPr>
          <p:spPr>
            <a:xfrm>
              <a:off x="723900" y="457200"/>
              <a:ext cx="1600200" cy="1600200"/>
            </a:xfrm>
            <a:prstGeom prst="rect">
              <a:avLst/>
            </a:prstGeom>
            <a:solidFill>
              <a:srgbClr val="070154"/>
            </a:solidFill>
            <a:ln>
              <a:noFill/>
            </a:ln>
          </p:spPr>
        </p:sp>
      </p:grpSp>
      <p:grpSp>
        <p:nvGrpSpPr>
          <p:cNvPr id="63" name="node04"/>
          <p:cNvGrpSpPr/>
          <p:nvPr/>
        </p:nvGrpSpPr>
        <p:grpSpPr>
          <a:xfrm>
            <a:off x="876300" y="609600"/>
            <a:ext cx="1295400" cy="266700"/>
            <a:chOff x="876300" y="609600"/>
            <a:chExt cx="1295400" cy="266700"/>
          </a:xfrm>
        </p:grpSpPr>
        <p:sp>
          <p:nvSpPr>
            <p:cNvPr id="18" name="node04.text"/>
            <p:cNvSpPr/>
            <p:nvPr/>
          </p:nvSpPr>
          <p:spPr>
            <a:xfrm>
              <a:off x="876300" y="609600"/>
              <a:ext cx="12954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01</a:t>
              </a:r>
              <a:endParaRPr lang="en-US" sz="1600" spc="0" kern="0" b="0" i="0" dirty="0">
                <a:solidFill>
                  <a:srgbClr val="F900D3"/>
                </a:solidFill>
                <a:latin typeface="IBM Plex Mono SemiBold"/>
                <a:ea typeface="IBM Plex Mono SemiBold"/>
                <a:cs typeface="IBM Plex Mono SemiBold"/>
              </a:endParaRPr>
            </a:p>
          </p:txBody>
        </p:sp>
      </p:grpSp>
      <p:grpSp>
        <p:nvGrpSpPr>
          <p:cNvPr id="64" name="node05"/>
          <p:cNvGrpSpPr/>
          <p:nvPr/>
        </p:nvGrpSpPr>
        <p:grpSpPr>
          <a:xfrm>
            <a:off x="876300" y="990600"/>
            <a:ext cx="1295400" cy="266700"/>
            <a:chOff x="876300" y="990600"/>
            <a:chExt cx="1295400" cy="266700"/>
          </a:xfrm>
        </p:grpSpPr>
        <p:sp>
          <p:nvSpPr>
            <p:cNvPr id="19" name="node05.text"/>
            <p:cNvSpPr/>
            <p:nvPr/>
          </p:nvSpPr>
          <p:spPr>
            <a:xfrm>
              <a:off x="876300" y="990600"/>
              <a:ext cx="1295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Rationalize</a:t>
              </a:r>
              <a:endParaRPr lang="en-US" sz="1600" spc="-16" kern="0" b="0" i="0" dirty="0">
                <a:solidFill>
                  <a:srgbClr val="FFFFFF"/>
                </a:solidFill>
                <a:latin typeface="IBM Plex Sans SemiBold"/>
                <a:ea typeface="IBM Plex Sans SemiBold"/>
                <a:cs typeface="IBM Plex Sans SemiBold"/>
              </a:endParaRPr>
            </a:p>
          </p:txBody>
        </p:sp>
      </p:grpSp>
      <p:grpSp>
        <p:nvGrpSpPr>
          <p:cNvPr id="65" name="node06"/>
          <p:cNvGrpSpPr/>
          <p:nvPr/>
        </p:nvGrpSpPr>
        <p:grpSpPr>
          <a:xfrm>
            <a:off x="2552700" y="457200"/>
            <a:ext cx="5257800" cy="1600200"/>
            <a:chOff x="2552700" y="457200"/>
            <a:chExt cx="5257800" cy="1600200"/>
          </a:xfrm>
        </p:grpSpPr>
        <p:sp>
          <p:nvSpPr>
            <p:cNvPr id="20" name="node06.surface"/>
            <p:cNvSpPr/>
            <p:nvPr/>
          </p:nvSpPr>
          <p:spPr>
            <a:xfrm>
              <a:off x="2552700" y="457200"/>
              <a:ext cx="5257800" cy="1600200"/>
            </a:xfrm>
            <a:prstGeom prst="rect">
              <a:avLst/>
            </a:prstGeom>
            <a:solidFill>
              <a:srgbClr val="E8EEF8"/>
            </a:solidFill>
            <a:ln>
              <a:noFill/>
            </a:ln>
          </p:spPr>
        </p:sp>
      </p:grpSp>
      <p:grpSp>
        <p:nvGrpSpPr>
          <p:cNvPr id="66" name="node07"/>
          <p:cNvGrpSpPr/>
          <p:nvPr/>
        </p:nvGrpSpPr>
        <p:grpSpPr>
          <a:xfrm>
            <a:off x="2705100" y="571500"/>
            <a:ext cx="2286000" cy="139700"/>
            <a:chOff x="2705100" y="571500"/>
            <a:chExt cx="2286000" cy="139700"/>
          </a:xfrm>
        </p:grpSpPr>
        <p:sp>
          <p:nvSpPr>
            <p:cNvPr id="21" name="node07.text"/>
            <p:cNvSpPr/>
            <p:nvPr/>
          </p:nvSpPr>
          <p:spPr>
            <a:xfrm>
              <a:off x="2705100" y="5715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LEAD ROLES</a:t>
              </a:r>
              <a:endParaRPr lang="en-US" sz="800" spc="48" kern="0" b="0" i="0" dirty="0">
                <a:solidFill>
                  <a:srgbClr val="50658E"/>
                </a:solidFill>
                <a:latin typeface="IBM Plex Mono Medium"/>
                <a:ea typeface="IBM Plex Mono Medium"/>
                <a:cs typeface="IBM Plex Mono Medium"/>
              </a:endParaRPr>
            </a:p>
          </p:txBody>
        </p:sp>
      </p:grpSp>
      <p:grpSp>
        <p:nvGrpSpPr>
          <p:cNvPr id="67" name="node08"/>
          <p:cNvGrpSpPr/>
          <p:nvPr/>
        </p:nvGrpSpPr>
        <p:grpSpPr>
          <a:xfrm>
            <a:off x="5295900" y="571500"/>
            <a:ext cx="2362200" cy="139700"/>
            <a:chOff x="5295900" y="571500"/>
            <a:chExt cx="2362200" cy="139700"/>
          </a:xfrm>
        </p:grpSpPr>
        <p:sp>
          <p:nvSpPr>
            <p:cNvPr id="22" name="node08.text"/>
            <p:cNvSpPr/>
            <p:nvPr/>
          </p:nvSpPr>
          <p:spPr>
            <a:xfrm>
              <a:off x="5295900" y="5715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INTELLIO ACCELERATORS</a:t>
              </a:r>
              <a:endParaRPr lang="en-US" sz="800" spc="48" kern="0" b="0" i="0" dirty="0">
                <a:solidFill>
                  <a:srgbClr val="50658E"/>
                </a:solidFill>
                <a:latin typeface="IBM Plex Mono Medium"/>
                <a:ea typeface="IBM Plex Mono Medium"/>
                <a:cs typeface="IBM Plex Mono Medium"/>
              </a:endParaRPr>
            </a:p>
          </p:txBody>
        </p:sp>
      </p:grpSp>
      <p:grpSp>
        <p:nvGrpSpPr>
          <p:cNvPr id="68" name="node09"/>
          <p:cNvGrpSpPr/>
          <p:nvPr/>
        </p:nvGrpSpPr>
        <p:grpSpPr>
          <a:xfrm>
            <a:off x="2705100" y="876300"/>
            <a:ext cx="2286000" cy="190500"/>
            <a:chOff x="2705100" y="876300"/>
            <a:chExt cx="2286000" cy="190500"/>
          </a:xfrm>
        </p:grpSpPr>
        <p:sp>
          <p:nvSpPr>
            <p:cNvPr id="23" name="node09.text"/>
            <p:cNvSpPr/>
            <p:nvPr/>
          </p:nvSpPr>
          <p:spPr>
            <a:xfrm>
              <a:off x="2705100" y="8763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Engagement lead</a:t>
              </a:r>
              <a:endParaRPr lang="en-US" sz="1100" spc="0" kern="0" b="0" i="0" dirty="0">
                <a:solidFill>
                  <a:srgbClr val="070154"/>
                </a:solidFill>
                <a:latin typeface="IBM Plex Sans"/>
                <a:ea typeface="IBM Plex Sans"/>
                <a:cs typeface="IBM Plex Sans"/>
              </a:endParaRPr>
            </a:p>
          </p:txBody>
        </p:sp>
      </p:grpSp>
      <p:grpSp>
        <p:nvGrpSpPr>
          <p:cNvPr id="69" name="node10"/>
          <p:cNvGrpSpPr/>
          <p:nvPr/>
        </p:nvGrpSpPr>
        <p:grpSpPr>
          <a:xfrm>
            <a:off x="5295900" y="876300"/>
            <a:ext cx="2362200" cy="190500"/>
            <a:chOff x="5295900" y="876300"/>
            <a:chExt cx="2362200" cy="190500"/>
          </a:xfrm>
        </p:grpSpPr>
        <p:sp>
          <p:nvSpPr>
            <p:cNvPr id="24" name="node10.text"/>
            <p:cNvSpPr/>
            <p:nvPr/>
          </p:nvSpPr>
          <p:spPr>
            <a:xfrm>
              <a:off x="5295900" y="8763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Portfolio Scan</a:t>
              </a:r>
              <a:endParaRPr lang="en-US" sz="1100" spc="0" kern="0" b="0" i="0" dirty="0">
                <a:solidFill>
                  <a:srgbClr val="070154"/>
                </a:solidFill>
                <a:latin typeface="IBM Plex Sans"/>
                <a:ea typeface="IBM Plex Sans"/>
                <a:cs typeface="IBM Plex Sans"/>
              </a:endParaRPr>
            </a:p>
          </p:txBody>
        </p:sp>
      </p:grpSp>
      <p:grpSp>
        <p:nvGrpSpPr>
          <p:cNvPr id="70" name="node11"/>
          <p:cNvGrpSpPr/>
          <p:nvPr/>
        </p:nvGrpSpPr>
        <p:grpSpPr>
          <a:xfrm>
            <a:off x="2705100" y="1143000"/>
            <a:ext cx="2286000" cy="190500"/>
            <a:chOff x="2705100" y="1143000"/>
            <a:chExt cx="2286000" cy="190500"/>
          </a:xfrm>
        </p:grpSpPr>
        <p:sp>
          <p:nvSpPr>
            <p:cNvPr id="25" name="node11.text"/>
            <p:cNvSpPr/>
            <p:nvPr/>
          </p:nvSpPr>
          <p:spPr>
            <a:xfrm>
              <a:off x="2705100" y="11430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Enterprise architect</a:t>
              </a:r>
              <a:endParaRPr lang="en-US" sz="1100" spc="0" kern="0" b="0" i="0" dirty="0">
                <a:solidFill>
                  <a:srgbClr val="070154"/>
                </a:solidFill>
                <a:latin typeface="IBM Plex Sans"/>
                <a:ea typeface="IBM Plex Sans"/>
                <a:cs typeface="IBM Plex Sans"/>
              </a:endParaRPr>
            </a:p>
          </p:txBody>
        </p:sp>
      </p:grpSp>
      <p:grpSp>
        <p:nvGrpSpPr>
          <p:cNvPr id="71" name="node12"/>
          <p:cNvGrpSpPr/>
          <p:nvPr/>
        </p:nvGrpSpPr>
        <p:grpSpPr>
          <a:xfrm>
            <a:off x="5295900" y="1143000"/>
            <a:ext cx="2362200" cy="190500"/>
            <a:chOff x="5295900" y="1143000"/>
            <a:chExt cx="2362200" cy="190500"/>
          </a:xfrm>
        </p:grpSpPr>
        <p:sp>
          <p:nvSpPr>
            <p:cNvPr id="26" name="node12.text"/>
            <p:cNvSpPr/>
            <p:nvPr/>
          </p:nvSpPr>
          <p:spPr>
            <a:xfrm>
              <a:off x="5295900" y="11430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Disposition Scorecard</a:t>
              </a:r>
              <a:endParaRPr lang="en-US" sz="1100" spc="0" kern="0" b="0" i="0" dirty="0">
                <a:solidFill>
                  <a:srgbClr val="070154"/>
                </a:solidFill>
                <a:latin typeface="IBM Plex Sans"/>
                <a:ea typeface="IBM Plex Sans"/>
                <a:cs typeface="IBM Plex Sans"/>
              </a:endParaRPr>
            </a:p>
          </p:txBody>
        </p:sp>
      </p:grpSp>
      <p:grpSp>
        <p:nvGrpSpPr>
          <p:cNvPr id="72" name="node13"/>
          <p:cNvGrpSpPr/>
          <p:nvPr/>
        </p:nvGrpSpPr>
        <p:grpSpPr>
          <a:xfrm>
            <a:off x="2705100" y="1409700"/>
            <a:ext cx="2286000" cy="190500"/>
            <a:chOff x="2705100" y="1409700"/>
            <a:chExt cx="2286000" cy="190500"/>
          </a:xfrm>
        </p:grpSpPr>
        <p:sp>
          <p:nvSpPr>
            <p:cNvPr id="27" name="node13.text"/>
            <p:cNvSpPr/>
            <p:nvPr/>
          </p:nvSpPr>
          <p:spPr>
            <a:xfrm>
              <a:off x="2705100" y="14097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Portfolio analyst</a:t>
              </a:r>
              <a:endParaRPr lang="en-US" sz="1100" spc="0" kern="0" b="0" i="0" dirty="0">
                <a:solidFill>
                  <a:srgbClr val="070154"/>
                </a:solidFill>
                <a:latin typeface="IBM Plex Sans"/>
                <a:ea typeface="IBM Plex Sans"/>
                <a:cs typeface="IBM Plex Sans"/>
              </a:endParaRPr>
            </a:p>
          </p:txBody>
        </p:sp>
      </p:grpSp>
      <p:grpSp>
        <p:nvGrpSpPr>
          <p:cNvPr id="73" name="node14"/>
          <p:cNvGrpSpPr/>
          <p:nvPr/>
        </p:nvGrpSpPr>
        <p:grpSpPr>
          <a:xfrm>
            <a:off x="5295900" y="1409700"/>
            <a:ext cx="2362200" cy="190500"/>
            <a:chOff x="5295900" y="1409700"/>
            <a:chExt cx="2362200" cy="190500"/>
          </a:xfrm>
        </p:grpSpPr>
        <p:sp>
          <p:nvSpPr>
            <p:cNvPr id="28" name="node14.text"/>
            <p:cNvSpPr/>
            <p:nvPr/>
          </p:nvSpPr>
          <p:spPr>
            <a:xfrm>
              <a:off x="5295900" y="14097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Reference Architecture Kit</a:t>
              </a:r>
              <a:endParaRPr lang="en-US" sz="1100" spc="0" kern="0" b="0" i="0" dirty="0">
                <a:solidFill>
                  <a:srgbClr val="070154"/>
                </a:solidFill>
                <a:latin typeface="IBM Plex Sans"/>
                <a:ea typeface="IBM Plex Sans"/>
                <a:cs typeface="IBM Plex Sans"/>
              </a:endParaRPr>
            </a:p>
          </p:txBody>
        </p:sp>
      </p:grpSp>
      <p:grpSp>
        <p:nvGrpSpPr>
          <p:cNvPr id="74" name="node15"/>
          <p:cNvGrpSpPr/>
          <p:nvPr/>
        </p:nvGrpSpPr>
        <p:grpSpPr>
          <a:xfrm>
            <a:off x="2705100" y="1676400"/>
            <a:ext cx="2286000" cy="190500"/>
            <a:chOff x="2705100" y="1676400"/>
            <a:chExt cx="2286000" cy="190500"/>
          </a:xfrm>
        </p:grpSpPr>
        <p:sp>
          <p:nvSpPr>
            <p:cNvPr id="29" name="node15.text"/>
            <p:cNvSpPr/>
            <p:nvPr/>
          </p:nvSpPr>
          <p:spPr>
            <a:xfrm>
              <a:off x="2705100" y="16764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Finance partner</a:t>
              </a:r>
              <a:endParaRPr lang="en-US" sz="1100" spc="0" kern="0" b="0" i="0" dirty="0">
                <a:solidFill>
                  <a:srgbClr val="070154"/>
                </a:solidFill>
                <a:latin typeface="IBM Plex Sans"/>
                <a:ea typeface="IBM Plex Sans"/>
                <a:cs typeface="IBM Plex Sans"/>
              </a:endParaRPr>
            </a:p>
          </p:txBody>
        </p:sp>
      </p:grpSp>
      <p:grpSp>
        <p:nvGrpSpPr>
          <p:cNvPr id="75" name="node16"/>
          <p:cNvGrpSpPr/>
          <p:nvPr/>
        </p:nvGrpSpPr>
        <p:grpSpPr>
          <a:xfrm>
            <a:off x="5295900" y="1676400"/>
            <a:ext cx="2362200" cy="190500"/>
            <a:chOff x="5295900" y="1676400"/>
            <a:chExt cx="2362200" cy="190500"/>
          </a:xfrm>
        </p:grpSpPr>
        <p:sp>
          <p:nvSpPr>
            <p:cNvPr id="30" name="node16.text"/>
            <p:cNvSpPr/>
            <p:nvPr/>
          </p:nvSpPr>
          <p:spPr>
            <a:xfrm>
              <a:off x="5295900" y="16764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Business Case Model</a:t>
              </a:r>
              <a:endParaRPr lang="en-US" sz="1100" spc="0" kern="0" b="0" i="0" dirty="0">
                <a:solidFill>
                  <a:srgbClr val="070154"/>
                </a:solidFill>
                <a:latin typeface="IBM Plex Sans"/>
                <a:ea typeface="IBM Plex Sans"/>
                <a:cs typeface="IBM Plex Sans"/>
              </a:endParaRPr>
            </a:p>
          </p:txBody>
        </p:sp>
      </p:grpSp>
      <p:grpSp>
        <p:nvGrpSpPr>
          <p:cNvPr id="76" name="node17"/>
          <p:cNvGrpSpPr/>
          <p:nvPr/>
        </p:nvGrpSpPr>
        <p:grpSpPr>
          <a:xfrm>
            <a:off x="723900" y="2286000"/>
            <a:ext cx="1600200" cy="1600200"/>
            <a:chOff x="723900" y="2286000"/>
            <a:chExt cx="1600200" cy="1600200"/>
          </a:xfrm>
        </p:grpSpPr>
        <p:sp>
          <p:nvSpPr>
            <p:cNvPr id="31" name="node17.surface"/>
            <p:cNvSpPr/>
            <p:nvPr/>
          </p:nvSpPr>
          <p:spPr>
            <a:xfrm>
              <a:off x="723900" y="2286000"/>
              <a:ext cx="1600200" cy="1600200"/>
            </a:xfrm>
            <a:prstGeom prst="rect">
              <a:avLst/>
            </a:prstGeom>
            <a:solidFill>
              <a:srgbClr val="CED7E6"/>
            </a:solidFill>
            <a:ln>
              <a:noFill/>
            </a:ln>
          </p:spPr>
        </p:sp>
      </p:grpSp>
      <p:grpSp>
        <p:nvGrpSpPr>
          <p:cNvPr id="77" name="node18"/>
          <p:cNvGrpSpPr/>
          <p:nvPr/>
        </p:nvGrpSpPr>
        <p:grpSpPr>
          <a:xfrm>
            <a:off x="876300" y="2438400"/>
            <a:ext cx="1295400" cy="266700"/>
            <a:chOff x="876300" y="2438400"/>
            <a:chExt cx="1295400" cy="266700"/>
          </a:xfrm>
        </p:grpSpPr>
        <p:sp>
          <p:nvSpPr>
            <p:cNvPr id="32" name="node18.text"/>
            <p:cNvSpPr/>
            <p:nvPr/>
          </p:nvSpPr>
          <p:spPr>
            <a:xfrm>
              <a:off x="876300" y="2438400"/>
              <a:ext cx="12954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grpSp>
      <p:grpSp>
        <p:nvGrpSpPr>
          <p:cNvPr id="78" name="node19"/>
          <p:cNvGrpSpPr/>
          <p:nvPr/>
        </p:nvGrpSpPr>
        <p:grpSpPr>
          <a:xfrm>
            <a:off x="876300" y="2819400"/>
            <a:ext cx="1295400" cy="266700"/>
            <a:chOff x="876300" y="2819400"/>
            <a:chExt cx="1295400" cy="266700"/>
          </a:xfrm>
        </p:grpSpPr>
        <p:sp>
          <p:nvSpPr>
            <p:cNvPr id="33" name="node19.text"/>
            <p:cNvSpPr/>
            <p:nvPr/>
          </p:nvSpPr>
          <p:spPr>
            <a:xfrm>
              <a:off x="876300" y="2819400"/>
              <a:ext cx="1295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Build</a:t>
              </a:r>
              <a:endParaRPr lang="en-US" sz="1600" spc="-16" kern="0" b="0" i="0" dirty="0">
                <a:solidFill>
                  <a:srgbClr val="070154"/>
                </a:solidFill>
                <a:latin typeface="IBM Plex Sans SemiBold"/>
                <a:ea typeface="IBM Plex Sans SemiBold"/>
                <a:cs typeface="IBM Plex Sans SemiBold"/>
              </a:endParaRPr>
            </a:p>
          </p:txBody>
        </p:sp>
      </p:grpSp>
      <p:grpSp>
        <p:nvGrpSpPr>
          <p:cNvPr id="79" name="node20"/>
          <p:cNvGrpSpPr/>
          <p:nvPr/>
        </p:nvGrpSpPr>
        <p:grpSpPr>
          <a:xfrm>
            <a:off x="2552700" y="2286000"/>
            <a:ext cx="5257800" cy="1600200"/>
            <a:chOff x="2552700" y="2286000"/>
            <a:chExt cx="5257800" cy="1600200"/>
          </a:xfrm>
        </p:grpSpPr>
        <p:sp>
          <p:nvSpPr>
            <p:cNvPr id="34" name="node20.surface"/>
            <p:cNvSpPr/>
            <p:nvPr/>
          </p:nvSpPr>
          <p:spPr>
            <a:xfrm>
              <a:off x="2552700" y="2286000"/>
              <a:ext cx="5257800" cy="1600200"/>
            </a:xfrm>
            <a:prstGeom prst="rect">
              <a:avLst/>
            </a:prstGeom>
            <a:solidFill>
              <a:srgbClr val="E8EEF8"/>
            </a:solidFill>
            <a:ln>
              <a:noFill/>
            </a:ln>
          </p:spPr>
        </p:sp>
      </p:grpSp>
      <p:grpSp>
        <p:nvGrpSpPr>
          <p:cNvPr id="80" name="node21"/>
          <p:cNvGrpSpPr/>
          <p:nvPr/>
        </p:nvGrpSpPr>
        <p:grpSpPr>
          <a:xfrm>
            <a:off x="2705100" y="2400300"/>
            <a:ext cx="2286000" cy="139700"/>
            <a:chOff x="2705100" y="2400300"/>
            <a:chExt cx="2286000" cy="139700"/>
          </a:xfrm>
        </p:grpSpPr>
        <p:sp>
          <p:nvSpPr>
            <p:cNvPr id="35" name="node21.text"/>
            <p:cNvSpPr/>
            <p:nvPr/>
          </p:nvSpPr>
          <p:spPr>
            <a:xfrm>
              <a:off x="2705100" y="24003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LEAD ROLES</a:t>
              </a:r>
              <a:endParaRPr lang="en-US" sz="800" spc="48" kern="0" b="0" i="0" dirty="0">
                <a:solidFill>
                  <a:srgbClr val="50658E"/>
                </a:solidFill>
                <a:latin typeface="IBM Plex Mono Medium"/>
                <a:ea typeface="IBM Plex Mono Medium"/>
                <a:cs typeface="IBM Plex Mono Medium"/>
              </a:endParaRPr>
            </a:p>
          </p:txBody>
        </p:sp>
      </p:grpSp>
      <p:grpSp>
        <p:nvGrpSpPr>
          <p:cNvPr id="81" name="node22"/>
          <p:cNvGrpSpPr/>
          <p:nvPr/>
        </p:nvGrpSpPr>
        <p:grpSpPr>
          <a:xfrm>
            <a:off x="5295900" y="2400300"/>
            <a:ext cx="2362200" cy="139700"/>
            <a:chOff x="5295900" y="2400300"/>
            <a:chExt cx="2362200" cy="139700"/>
          </a:xfrm>
        </p:grpSpPr>
        <p:sp>
          <p:nvSpPr>
            <p:cNvPr id="36" name="node22.text"/>
            <p:cNvSpPr/>
            <p:nvPr/>
          </p:nvSpPr>
          <p:spPr>
            <a:xfrm>
              <a:off x="5295900" y="24003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INTELLIO ACCELERATORS</a:t>
              </a:r>
              <a:endParaRPr lang="en-US" sz="800" spc="48" kern="0" b="0" i="0" dirty="0">
                <a:solidFill>
                  <a:srgbClr val="50658E"/>
                </a:solidFill>
                <a:latin typeface="IBM Plex Mono Medium"/>
                <a:ea typeface="IBM Plex Mono Medium"/>
                <a:cs typeface="IBM Plex Mono Medium"/>
              </a:endParaRPr>
            </a:p>
          </p:txBody>
        </p:sp>
      </p:grpSp>
      <p:grpSp>
        <p:nvGrpSpPr>
          <p:cNvPr id="82" name="node23"/>
          <p:cNvGrpSpPr/>
          <p:nvPr/>
        </p:nvGrpSpPr>
        <p:grpSpPr>
          <a:xfrm>
            <a:off x="2705100" y="2705100"/>
            <a:ext cx="2286000" cy="190500"/>
            <a:chOff x="2705100" y="2705100"/>
            <a:chExt cx="2286000" cy="190500"/>
          </a:xfrm>
        </p:grpSpPr>
        <p:sp>
          <p:nvSpPr>
            <p:cNvPr id="37" name="node23.text"/>
            <p:cNvSpPr/>
            <p:nvPr/>
          </p:nvSpPr>
          <p:spPr>
            <a:xfrm>
              <a:off x="2705100" y="27051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Delivery lead</a:t>
              </a:r>
              <a:endParaRPr lang="en-US" sz="1100" spc="0" kern="0" b="0" i="0" dirty="0">
                <a:solidFill>
                  <a:srgbClr val="070154"/>
                </a:solidFill>
                <a:latin typeface="IBM Plex Sans"/>
                <a:ea typeface="IBM Plex Sans"/>
                <a:cs typeface="IBM Plex Sans"/>
              </a:endParaRPr>
            </a:p>
          </p:txBody>
        </p:sp>
      </p:grpSp>
      <p:grpSp>
        <p:nvGrpSpPr>
          <p:cNvPr id="83" name="node24"/>
          <p:cNvGrpSpPr/>
          <p:nvPr/>
        </p:nvGrpSpPr>
        <p:grpSpPr>
          <a:xfrm>
            <a:off x="5295900" y="2705100"/>
            <a:ext cx="2362200" cy="190500"/>
            <a:chOff x="5295900" y="2705100"/>
            <a:chExt cx="2362200" cy="190500"/>
          </a:xfrm>
        </p:grpSpPr>
        <p:sp>
          <p:nvSpPr>
            <p:cNvPr id="38" name="node24.text"/>
            <p:cNvSpPr/>
            <p:nvPr/>
          </p:nvSpPr>
          <p:spPr>
            <a:xfrm>
              <a:off x="5295900" y="27051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Landing Zone Blueprint</a:t>
              </a:r>
              <a:endParaRPr lang="en-US" sz="1100" spc="0" kern="0" b="0" i="0" dirty="0">
                <a:solidFill>
                  <a:srgbClr val="070154"/>
                </a:solidFill>
                <a:latin typeface="IBM Plex Sans"/>
                <a:ea typeface="IBM Plex Sans"/>
                <a:cs typeface="IBM Plex Sans"/>
              </a:endParaRPr>
            </a:p>
          </p:txBody>
        </p:sp>
      </p:grpSp>
      <p:grpSp>
        <p:nvGrpSpPr>
          <p:cNvPr id="84" name="node25"/>
          <p:cNvGrpSpPr/>
          <p:nvPr/>
        </p:nvGrpSpPr>
        <p:grpSpPr>
          <a:xfrm>
            <a:off x="2705100" y="2971800"/>
            <a:ext cx="2286000" cy="190500"/>
            <a:chOff x="2705100" y="2971800"/>
            <a:chExt cx="2286000" cy="190500"/>
          </a:xfrm>
        </p:grpSpPr>
        <p:sp>
          <p:nvSpPr>
            <p:cNvPr id="39" name="node25.text"/>
            <p:cNvSpPr/>
            <p:nvPr/>
          </p:nvSpPr>
          <p:spPr>
            <a:xfrm>
              <a:off x="2705100" y="29718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Cloud engineer</a:t>
              </a:r>
              <a:endParaRPr lang="en-US" sz="1100" spc="0" kern="0" b="0" i="0" dirty="0">
                <a:solidFill>
                  <a:srgbClr val="070154"/>
                </a:solidFill>
                <a:latin typeface="IBM Plex Sans"/>
                <a:ea typeface="IBM Plex Sans"/>
                <a:cs typeface="IBM Plex Sans"/>
              </a:endParaRPr>
            </a:p>
          </p:txBody>
        </p:sp>
      </p:grpSp>
      <p:grpSp>
        <p:nvGrpSpPr>
          <p:cNvPr id="85" name="node26"/>
          <p:cNvGrpSpPr/>
          <p:nvPr/>
        </p:nvGrpSpPr>
        <p:grpSpPr>
          <a:xfrm>
            <a:off x="5295900" y="2971800"/>
            <a:ext cx="2362200" cy="190500"/>
            <a:chOff x="5295900" y="2971800"/>
            <a:chExt cx="2362200" cy="190500"/>
          </a:xfrm>
        </p:grpSpPr>
        <p:sp>
          <p:nvSpPr>
            <p:cNvPr id="40" name="node26.text"/>
            <p:cNvSpPr/>
            <p:nvPr/>
          </p:nvSpPr>
          <p:spPr>
            <a:xfrm>
              <a:off x="5295900" y="29718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Refactor Toolkit</a:t>
              </a:r>
              <a:endParaRPr lang="en-US" sz="1100" spc="0" kern="0" b="0" i="0" dirty="0">
                <a:solidFill>
                  <a:srgbClr val="070154"/>
                </a:solidFill>
                <a:latin typeface="IBM Plex Sans"/>
                <a:ea typeface="IBM Plex Sans"/>
                <a:cs typeface="IBM Plex Sans"/>
              </a:endParaRPr>
            </a:p>
          </p:txBody>
        </p:sp>
      </p:grpSp>
      <p:grpSp>
        <p:nvGrpSpPr>
          <p:cNvPr id="86" name="node27"/>
          <p:cNvGrpSpPr/>
          <p:nvPr/>
        </p:nvGrpSpPr>
        <p:grpSpPr>
          <a:xfrm>
            <a:off x="2705100" y="3238500"/>
            <a:ext cx="2286000" cy="190500"/>
            <a:chOff x="2705100" y="3238500"/>
            <a:chExt cx="2286000" cy="190500"/>
          </a:xfrm>
        </p:grpSpPr>
        <p:sp>
          <p:nvSpPr>
            <p:cNvPr id="41" name="node27.text"/>
            <p:cNvSpPr/>
            <p:nvPr/>
          </p:nvSpPr>
          <p:spPr>
            <a:xfrm>
              <a:off x="2705100" y="32385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Data engineer</a:t>
              </a:r>
              <a:endParaRPr lang="en-US" sz="1100" spc="0" kern="0" b="0" i="0" dirty="0">
                <a:solidFill>
                  <a:srgbClr val="070154"/>
                </a:solidFill>
                <a:latin typeface="IBM Plex Sans"/>
                <a:ea typeface="IBM Plex Sans"/>
                <a:cs typeface="IBM Plex Sans"/>
              </a:endParaRPr>
            </a:p>
          </p:txBody>
        </p:sp>
      </p:grpSp>
      <p:grpSp>
        <p:nvGrpSpPr>
          <p:cNvPr id="87" name="node28"/>
          <p:cNvGrpSpPr/>
          <p:nvPr/>
        </p:nvGrpSpPr>
        <p:grpSpPr>
          <a:xfrm>
            <a:off x="5295900" y="3238500"/>
            <a:ext cx="2362200" cy="190500"/>
            <a:chOff x="5295900" y="3238500"/>
            <a:chExt cx="2362200" cy="190500"/>
          </a:xfrm>
        </p:grpSpPr>
        <p:sp>
          <p:nvSpPr>
            <p:cNvPr id="42" name="node28.text"/>
            <p:cNvSpPr/>
            <p:nvPr/>
          </p:nvSpPr>
          <p:spPr>
            <a:xfrm>
              <a:off x="5295900" y="32385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Data Reconciler</a:t>
              </a:r>
              <a:endParaRPr lang="en-US" sz="1100" spc="0" kern="0" b="0" i="0" dirty="0">
                <a:solidFill>
                  <a:srgbClr val="070154"/>
                </a:solidFill>
                <a:latin typeface="IBM Plex Sans"/>
                <a:ea typeface="IBM Plex Sans"/>
                <a:cs typeface="IBM Plex Sans"/>
              </a:endParaRPr>
            </a:p>
          </p:txBody>
        </p:sp>
      </p:grpSp>
      <p:grpSp>
        <p:nvGrpSpPr>
          <p:cNvPr id="88" name="node29"/>
          <p:cNvGrpSpPr/>
          <p:nvPr/>
        </p:nvGrpSpPr>
        <p:grpSpPr>
          <a:xfrm>
            <a:off x="2705100" y="3505200"/>
            <a:ext cx="2286000" cy="190500"/>
            <a:chOff x="2705100" y="3505200"/>
            <a:chExt cx="2286000" cy="190500"/>
          </a:xfrm>
        </p:grpSpPr>
        <p:sp>
          <p:nvSpPr>
            <p:cNvPr id="43" name="node29.text"/>
            <p:cNvSpPr/>
            <p:nvPr/>
          </p:nvSpPr>
          <p:spPr>
            <a:xfrm>
              <a:off x="2705100" y="35052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Quality lead</a:t>
              </a:r>
              <a:endParaRPr lang="en-US" sz="1100" spc="0" kern="0" b="0" i="0" dirty="0">
                <a:solidFill>
                  <a:srgbClr val="070154"/>
                </a:solidFill>
                <a:latin typeface="IBM Plex Sans"/>
                <a:ea typeface="IBM Plex Sans"/>
                <a:cs typeface="IBM Plex Sans"/>
              </a:endParaRPr>
            </a:p>
          </p:txBody>
        </p:sp>
      </p:grpSp>
      <p:grpSp>
        <p:nvGrpSpPr>
          <p:cNvPr id="89" name="node30"/>
          <p:cNvGrpSpPr/>
          <p:nvPr/>
        </p:nvGrpSpPr>
        <p:grpSpPr>
          <a:xfrm>
            <a:off x="5295900" y="3505200"/>
            <a:ext cx="2362200" cy="190500"/>
            <a:chOff x="5295900" y="3505200"/>
            <a:chExt cx="2362200" cy="190500"/>
          </a:xfrm>
        </p:grpSpPr>
        <p:sp>
          <p:nvSpPr>
            <p:cNvPr id="44" name="node30.text"/>
            <p:cNvSpPr/>
            <p:nvPr/>
          </p:nvSpPr>
          <p:spPr>
            <a:xfrm>
              <a:off x="5295900" y="35052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Cutover Runbook</a:t>
              </a:r>
              <a:endParaRPr lang="en-US" sz="1100" spc="0" kern="0" b="0" i="0" dirty="0">
                <a:solidFill>
                  <a:srgbClr val="070154"/>
                </a:solidFill>
                <a:latin typeface="IBM Plex Sans"/>
                <a:ea typeface="IBM Plex Sans"/>
                <a:cs typeface="IBM Plex Sans"/>
              </a:endParaRPr>
            </a:p>
          </p:txBody>
        </p:sp>
      </p:grpSp>
      <p:grpSp>
        <p:nvGrpSpPr>
          <p:cNvPr id="90" name="node31"/>
          <p:cNvGrpSpPr/>
          <p:nvPr/>
        </p:nvGrpSpPr>
        <p:grpSpPr>
          <a:xfrm>
            <a:off x="723900" y="4114800"/>
            <a:ext cx="1600200" cy="1600200"/>
            <a:chOff x="723900" y="4114800"/>
            <a:chExt cx="1600200" cy="1600200"/>
          </a:xfrm>
        </p:grpSpPr>
        <p:sp>
          <p:nvSpPr>
            <p:cNvPr id="45" name="node31.surface"/>
            <p:cNvSpPr/>
            <p:nvPr/>
          </p:nvSpPr>
          <p:spPr>
            <a:xfrm>
              <a:off x="723900" y="4114800"/>
              <a:ext cx="1600200" cy="1600200"/>
            </a:xfrm>
            <a:prstGeom prst="rect">
              <a:avLst/>
            </a:prstGeom>
            <a:solidFill>
              <a:srgbClr val="E8EEF8"/>
            </a:solidFill>
            <a:ln>
              <a:noFill/>
            </a:ln>
          </p:spPr>
        </p:sp>
      </p:grpSp>
      <p:grpSp>
        <p:nvGrpSpPr>
          <p:cNvPr id="91" name="node32"/>
          <p:cNvGrpSpPr/>
          <p:nvPr/>
        </p:nvGrpSpPr>
        <p:grpSpPr>
          <a:xfrm>
            <a:off x="876300" y="4267200"/>
            <a:ext cx="1295400" cy="266700"/>
            <a:chOff x="876300" y="4267200"/>
            <a:chExt cx="1295400" cy="266700"/>
          </a:xfrm>
        </p:grpSpPr>
        <p:sp>
          <p:nvSpPr>
            <p:cNvPr id="46" name="node32.text"/>
            <p:cNvSpPr/>
            <p:nvPr/>
          </p:nvSpPr>
          <p:spPr>
            <a:xfrm>
              <a:off x="876300" y="4267200"/>
              <a:ext cx="12954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grpSp>
      <p:grpSp>
        <p:nvGrpSpPr>
          <p:cNvPr id="92" name="node33"/>
          <p:cNvGrpSpPr/>
          <p:nvPr/>
        </p:nvGrpSpPr>
        <p:grpSpPr>
          <a:xfrm>
            <a:off x="876300" y="4648200"/>
            <a:ext cx="1295400" cy="266700"/>
            <a:chOff x="876300" y="4648200"/>
            <a:chExt cx="1295400" cy="266700"/>
          </a:xfrm>
        </p:grpSpPr>
        <p:sp>
          <p:nvSpPr>
            <p:cNvPr id="47" name="node33.text"/>
            <p:cNvSpPr/>
            <p:nvPr/>
          </p:nvSpPr>
          <p:spPr>
            <a:xfrm>
              <a:off x="876300" y="4648200"/>
              <a:ext cx="1295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Sustain</a:t>
              </a:r>
              <a:endParaRPr lang="en-US" sz="1600" spc="-16" kern="0" b="0" i="0" dirty="0">
                <a:solidFill>
                  <a:srgbClr val="070154"/>
                </a:solidFill>
                <a:latin typeface="IBM Plex Sans SemiBold"/>
                <a:ea typeface="IBM Plex Sans SemiBold"/>
                <a:cs typeface="IBM Plex Sans SemiBold"/>
              </a:endParaRPr>
            </a:p>
          </p:txBody>
        </p:sp>
      </p:grpSp>
      <p:grpSp>
        <p:nvGrpSpPr>
          <p:cNvPr id="93" name="node34"/>
          <p:cNvGrpSpPr/>
          <p:nvPr/>
        </p:nvGrpSpPr>
        <p:grpSpPr>
          <a:xfrm>
            <a:off x="2552700" y="4114800"/>
            <a:ext cx="5257800" cy="1600200"/>
            <a:chOff x="2552700" y="4114800"/>
            <a:chExt cx="5257800" cy="1600200"/>
          </a:xfrm>
        </p:grpSpPr>
        <p:sp>
          <p:nvSpPr>
            <p:cNvPr id="48" name="node34.surface"/>
            <p:cNvSpPr/>
            <p:nvPr/>
          </p:nvSpPr>
          <p:spPr>
            <a:xfrm>
              <a:off x="2552700" y="4114800"/>
              <a:ext cx="5257800" cy="1600200"/>
            </a:xfrm>
            <a:prstGeom prst="rect">
              <a:avLst/>
            </a:prstGeom>
            <a:solidFill>
              <a:srgbClr val="E8EEF8"/>
            </a:solidFill>
            <a:ln>
              <a:noFill/>
            </a:ln>
          </p:spPr>
        </p:sp>
      </p:grpSp>
      <p:grpSp>
        <p:nvGrpSpPr>
          <p:cNvPr id="94" name="node35"/>
          <p:cNvGrpSpPr/>
          <p:nvPr/>
        </p:nvGrpSpPr>
        <p:grpSpPr>
          <a:xfrm>
            <a:off x="2705100" y="4229100"/>
            <a:ext cx="2286000" cy="139700"/>
            <a:chOff x="2705100" y="4229100"/>
            <a:chExt cx="2286000" cy="139700"/>
          </a:xfrm>
        </p:grpSpPr>
        <p:sp>
          <p:nvSpPr>
            <p:cNvPr id="49" name="node35.text"/>
            <p:cNvSpPr/>
            <p:nvPr/>
          </p:nvSpPr>
          <p:spPr>
            <a:xfrm>
              <a:off x="2705100" y="42291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LEAD ROLES</a:t>
              </a:r>
              <a:endParaRPr lang="en-US" sz="800" spc="48" kern="0" b="0" i="0" dirty="0">
                <a:solidFill>
                  <a:srgbClr val="50658E"/>
                </a:solidFill>
                <a:latin typeface="IBM Plex Mono Medium"/>
                <a:ea typeface="IBM Plex Mono Medium"/>
                <a:cs typeface="IBM Plex Mono Medium"/>
              </a:endParaRPr>
            </a:p>
          </p:txBody>
        </p:sp>
      </p:grpSp>
      <p:grpSp>
        <p:nvGrpSpPr>
          <p:cNvPr id="95" name="node36"/>
          <p:cNvGrpSpPr/>
          <p:nvPr/>
        </p:nvGrpSpPr>
        <p:grpSpPr>
          <a:xfrm>
            <a:off x="5295900" y="4229100"/>
            <a:ext cx="2362200" cy="139700"/>
            <a:chOff x="5295900" y="4229100"/>
            <a:chExt cx="2362200" cy="139700"/>
          </a:xfrm>
        </p:grpSpPr>
        <p:sp>
          <p:nvSpPr>
            <p:cNvPr id="50" name="node36.text"/>
            <p:cNvSpPr/>
            <p:nvPr/>
          </p:nvSpPr>
          <p:spPr>
            <a:xfrm>
              <a:off x="5295900" y="42291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INTELLIO ACCELERATORS</a:t>
              </a:r>
              <a:endParaRPr lang="en-US" sz="800" spc="48" kern="0" b="0" i="0" dirty="0">
                <a:solidFill>
                  <a:srgbClr val="50658E"/>
                </a:solidFill>
                <a:latin typeface="IBM Plex Mono Medium"/>
                <a:ea typeface="IBM Plex Mono Medium"/>
                <a:cs typeface="IBM Plex Mono Medium"/>
              </a:endParaRPr>
            </a:p>
          </p:txBody>
        </p:sp>
      </p:grpSp>
      <p:grpSp>
        <p:nvGrpSpPr>
          <p:cNvPr id="96" name="node37"/>
          <p:cNvGrpSpPr/>
          <p:nvPr/>
        </p:nvGrpSpPr>
        <p:grpSpPr>
          <a:xfrm>
            <a:off x="2705100" y="4533900"/>
            <a:ext cx="2286000" cy="190500"/>
            <a:chOff x="2705100" y="4533900"/>
            <a:chExt cx="2286000" cy="190500"/>
          </a:xfrm>
        </p:grpSpPr>
        <p:sp>
          <p:nvSpPr>
            <p:cNvPr id="51" name="node37.text"/>
            <p:cNvSpPr/>
            <p:nvPr/>
          </p:nvSpPr>
          <p:spPr>
            <a:xfrm>
              <a:off x="2705100" y="45339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Service owner</a:t>
              </a:r>
              <a:endParaRPr lang="en-US" sz="1100" spc="0" kern="0" b="0" i="0" dirty="0">
                <a:solidFill>
                  <a:srgbClr val="070154"/>
                </a:solidFill>
                <a:latin typeface="IBM Plex Sans"/>
                <a:ea typeface="IBM Plex Sans"/>
                <a:cs typeface="IBM Plex Sans"/>
              </a:endParaRPr>
            </a:p>
          </p:txBody>
        </p:sp>
      </p:grpSp>
      <p:grpSp>
        <p:nvGrpSpPr>
          <p:cNvPr id="97" name="node38"/>
          <p:cNvGrpSpPr/>
          <p:nvPr/>
        </p:nvGrpSpPr>
        <p:grpSpPr>
          <a:xfrm>
            <a:off x="5295900" y="4533900"/>
            <a:ext cx="2362200" cy="190500"/>
            <a:chOff x="5295900" y="4533900"/>
            <a:chExt cx="2362200" cy="190500"/>
          </a:xfrm>
        </p:grpSpPr>
        <p:sp>
          <p:nvSpPr>
            <p:cNvPr id="52" name="node38.text"/>
            <p:cNvSpPr/>
            <p:nvPr/>
          </p:nvSpPr>
          <p:spPr>
            <a:xfrm>
              <a:off x="5295900" y="45339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Operations Playbook</a:t>
              </a:r>
              <a:endParaRPr lang="en-US" sz="1100" spc="0" kern="0" b="0" i="0" dirty="0">
                <a:solidFill>
                  <a:srgbClr val="070154"/>
                </a:solidFill>
                <a:latin typeface="IBM Plex Sans"/>
                <a:ea typeface="IBM Plex Sans"/>
                <a:cs typeface="IBM Plex Sans"/>
              </a:endParaRPr>
            </a:p>
          </p:txBody>
        </p:sp>
      </p:grpSp>
      <p:grpSp>
        <p:nvGrpSpPr>
          <p:cNvPr id="98" name="node39"/>
          <p:cNvGrpSpPr/>
          <p:nvPr/>
        </p:nvGrpSpPr>
        <p:grpSpPr>
          <a:xfrm>
            <a:off x="2705100" y="4800600"/>
            <a:ext cx="2286000" cy="190500"/>
            <a:chOff x="2705100" y="4800600"/>
            <a:chExt cx="2286000" cy="190500"/>
          </a:xfrm>
        </p:grpSpPr>
        <p:sp>
          <p:nvSpPr>
            <p:cNvPr id="53" name="node39.text"/>
            <p:cNvSpPr/>
            <p:nvPr/>
          </p:nvSpPr>
          <p:spPr>
            <a:xfrm>
              <a:off x="2705100" y="48006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Site reliability lead</a:t>
              </a:r>
              <a:endParaRPr lang="en-US" sz="1100" spc="0" kern="0" b="0" i="0" dirty="0">
                <a:solidFill>
                  <a:srgbClr val="070154"/>
                </a:solidFill>
                <a:latin typeface="IBM Plex Sans"/>
                <a:ea typeface="IBM Plex Sans"/>
                <a:cs typeface="IBM Plex Sans"/>
              </a:endParaRPr>
            </a:p>
          </p:txBody>
        </p:sp>
      </p:grpSp>
      <p:grpSp>
        <p:nvGrpSpPr>
          <p:cNvPr id="99" name="node40"/>
          <p:cNvGrpSpPr/>
          <p:nvPr/>
        </p:nvGrpSpPr>
        <p:grpSpPr>
          <a:xfrm>
            <a:off x="5295900" y="4800600"/>
            <a:ext cx="2362200" cy="190500"/>
            <a:chOff x="5295900" y="4800600"/>
            <a:chExt cx="2362200" cy="190500"/>
          </a:xfrm>
        </p:grpSpPr>
        <p:sp>
          <p:nvSpPr>
            <p:cNvPr id="54" name="node40.text"/>
            <p:cNvSpPr/>
            <p:nvPr/>
          </p:nvSpPr>
          <p:spPr>
            <a:xfrm>
              <a:off x="5295900" y="48006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Cost Optimizer</a:t>
              </a:r>
              <a:endParaRPr lang="en-US" sz="1100" spc="0" kern="0" b="0" i="0" dirty="0">
                <a:solidFill>
                  <a:srgbClr val="070154"/>
                </a:solidFill>
                <a:latin typeface="IBM Plex Sans"/>
                <a:ea typeface="IBM Plex Sans"/>
                <a:cs typeface="IBM Plex Sans"/>
              </a:endParaRPr>
            </a:p>
          </p:txBody>
        </p:sp>
      </p:grpSp>
      <p:grpSp>
        <p:nvGrpSpPr>
          <p:cNvPr id="100" name="node41"/>
          <p:cNvGrpSpPr/>
          <p:nvPr/>
        </p:nvGrpSpPr>
        <p:grpSpPr>
          <a:xfrm>
            <a:off x="2705100" y="5067300"/>
            <a:ext cx="2286000" cy="190500"/>
            <a:chOff x="2705100" y="5067300"/>
            <a:chExt cx="2286000" cy="190500"/>
          </a:xfrm>
        </p:grpSpPr>
        <p:sp>
          <p:nvSpPr>
            <p:cNvPr id="55" name="node41.text"/>
            <p:cNvSpPr/>
            <p:nvPr/>
          </p:nvSpPr>
          <p:spPr>
            <a:xfrm>
              <a:off x="2705100" y="50673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FinOps analyst</a:t>
              </a:r>
              <a:endParaRPr lang="en-US" sz="1100" spc="0" kern="0" b="0" i="0" dirty="0">
                <a:solidFill>
                  <a:srgbClr val="070154"/>
                </a:solidFill>
                <a:latin typeface="IBM Plex Sans"/>
                <a:ea typeface="IBM Plex Sans"/>
                <a:cs typeface="IBM Plex Sans"/>
              </a:endParaRPr>
            </a:p>
          </p:txBody>
        </p:sp>
      </p:grpSp>
      <p:grpSp>
        <p:nvGrpSpPr>
          <p:cNvPr id="101" name="node42"/>
          <p:cNvGrpSpPr/>
          <p:nvPr/>
        </p:nvGrpSpPr>
        <p:grpSpPr>
          <a:xfrm>
            <a:off x="5295900" y="5067300"/>
            <a:ext cx="2362200" cy="190500"/>
            <a:chOff x="5295900" y="5067300"/>
            <a:chExt cx="2362200" cy="190500"/>
          </a:xfrm>
        </p:grpSpPr>
        <p:sp>
          <p:nvSpPr>
            <p:cNvPr id="56" name="node42.text"/>
            <p:cNvSpPr/>
            <p:nvPr/>
          </p:nvSpPr>
          <p:spPr>
            <a:xfrm>
              <a:off x="5295900" y="50673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Governance Cadence Kit</a:t>
              </a:r>
              <a:endParaRPr lang="en-US" sz="1100" spc="0" kern="0" b="0" i="0" dirty="0">
                <a:solidFill>
                  <a:srgbClr val="070154"/>
                </a:solidFill>
                <a:latin typeface="IBM Plex Sans"/>
                <a:ea typeface="IBM Plex Sans"/>
                <a:cs typeface="IBM Plex Sans"/>
              </a:endParaRPr>
            </a:p>
          </p:txBody>
        </p:sp>
      </p:grpSp>
      <p:grpSp>
        <p:nvGrpSpPr>
          <p:cNvPr id="102" name="node43"/>
          <p:cNvGrpSpPr/>
          <p:nvPr/>
        </p:nvGrpSpPr>
        <p:grpSpPr>
          <a:xfrm>
            <a:off x="2705100" y="5334000"/>
            <a:ext cx="2286000" cy="190500"/>
            <a:chOff x="2705100" y="5334000"/>
            <a:chExt cx="2286000" cy="190500"/>
          </a:xfrm>
        </p:grpSpPr>
        <p:sp>
          <p:nvSpPr>
            <p:cNvPr id="57" name="node43.text"/>
            <p:cNvSpPr/>
            <p:nvPr/>
          </p:nvSpPr>
          <p:spPr>
            <a:xfrm>
              <a:off x="2705100" y="53340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Change lead</a:t>
              </a:r>
              <a:endParaRPr lang="en-US" sz="1100" spc="0" kern="0" b="0" i="0" dirty="0">
                <a:solidFill>
                  <a:srgbClr val="070154"/>
                </a:solidFill>
                <a:latin typeface="IBM Plex Sans"/>
                <a:ea typeface="IBM Plex Sans"/>
                <a:cs typeface="IBM Plex Sans"/>
              </a:endParaRPr>
            </a:p>
          </p:txBody>
        </p:sp>
      </p:grpSp>
      <p:grpSp>
        <p:nvGrpSpPr>
          <p:cNvPr id="103" name="node44"/>
          <p:cNvGrpSpPr/>
          <p:nvPr/>
        </p:nvGrpSpPr>
        <p:grpSpPr>
          <a:xfrm>
            <a:off x="5295900" y="5334000"/>
            <a:ext cx="2362200" cy="190500"/>
            <a:chOff x="5295900" y="5334000"/>
            <a:chExt cx="2362200" cy="190500"/>
          </a:xfrm>
        </p:grpSpPr>
        <p:sp>
          <p:nvSpPr>
            <p:cNvPr id="58" name="node44.text"/>
            <p:cNvSpPr/>
            <p:nvPr/>
          </p:nvSpPr>
          <p:spPr>
            <a:xfrm>
              <a:off x="5295900" y="53340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Modernization Radar</a:t>
              </a:r>
              <a:endParaRPr lang="en-US" sz="1100" spc="0" kern="0" b="0" i="0" dirty="0">
                <a:solidFill>
                  <a:srgbClr val="070154"/>
                </a:solidFill>
                <a:latin typeface="IBM Plex Sans"/>
                <a:ea typeface="IBM Plex Sans"/>
                <a:cs typeface="IBM Plex Sans"/>
              </a:endParaRPr>
            </a:p>
          </p:txBody>
        </p:sp>
      </p:grpSp>
      <p:grpSp>
        <p:nvGrpSpPr>
          <p:cNvPr id="104" name="node45"/>
          <p:cNvGrpSpPr/>
          <p:nvPr/>
        </p:nvGrpSpPr>
        <p:grpSpPr>
          <a:xfrm>
            <a:off x="8039100" y="5486400"/>
            <a:ext cx="3429000" cy="304800"/>
            <a:chOff x="8039100" y="5486400"/>
            <a:chExt cx="3429000" cy="304800"/>
          </a:xfrm>
        </p:grpSpPr>
        <p:sp>
          <p:nvSpPr>
            <p:cNvPr id="59" name="node45.text"/>
            <p:cNvSpPr/>
            <p:nvPr/>
          </p:nvSpPr>
          <p:spPr>
            <a:xfrm>
              <a:off x="8039100" y="54864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the current catalog before use.</a:t>
              </a:r>
              <a:endParaRPr lang="en-US" sz="900" spc="0" kern="0" b="0" i="0" dirty="0">
                <a:solidFill>
                  <a:srgbClr val="50658E"/>
                </a:solidFill>
                <a:latin typeface="IBM Plex Sans"/>
                <a:ea typeface="IBM Plex Sans"/>
                <a:cs typeface="IBM Plex Sans"/>
              </a:endParaRPr>
            </a:p>
          </p:txBody>
        </p:sp>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ource-280">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phases, one lifecycle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116</a:t>
            </a:fld>
            <a:endParaRPr lang="en-US" sz="700" spc="0" kern="0" b="0" i="0" dirty="0">
              <a:solidFill>
                <a:srgbClr val="070154"/>
              </a:solidFill>
              <a:latin typeface="IBM Plex Mono SemiBold"/>
              <a:ea typeface="IBM Plex Mono SemiBold"/>
              <a:cs typeface="IBM Plex Mono SemiBold"/>
            </a:endParaRPr>
          </a:p>
        </p:txBody>
      </p:sp>
      <p:grpSp>
        <p:nvGrpSpPr>
          <p:cNvPr id="50" name="node01"/>
          <p:cNvGrpSpPr/>
          <p:nvPr/>
        </p:nvGrpSpPr>
        <p:grpSpPr>
          <a:xfrm>
            <a:off x="723900" y="1600200"/>
            <a:ext cx="2514600" cy="139700"/>
            <a:chOff x="723900" y="1600200"/>
            <a:chExt cx="2514600" cy="139700"/>
          </a:xfrm>
        </p:grpSpPr>
        <p:sp>
          <p:nvSpPr>
            <p:cNvPr id="6" name="node01.text"/>
            <p:cNvSpPr/>
            <p:nvPr/>
          </p:nvSpPr>
          <p:spPr>
            <a:xfrm>
              <a:off x="723900" y="1600200"/>
              <a:ext cx="25146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F900D3"/>
                  </a:solidFill>
                  <a:latin typeface="IBM Plex Mono SemiBold"/>
                  <a:ea typeface="IBM Plex Mono SemiBold"/>
                  <a:cs typeface="IBM Plex Mono SemiBold"/>
                </a:rPr>
                <a:t>THE IDEA</a:t>
              </a:r>
              <a:endParaRPr lang="en-US" sz="900" spc="72" kern="0" b="0" i="0" dirty="0">
                <a:solidFill>
                  <a:srgbClr val="F900D3"/>
                </a:solidFill>
                <a:latin typeface="IBM Plex Mono SemiBold"/>
                <a:ea typeface="IBM Plex Mono SemiBold"/>
                <a:cs typeface="IBM Plex Mono SemiBold"/>
              </a:endParaRPr>
            </a:p>
          </p:txBody>
        </p:sp>
      </p:grpSp>
      <p:grpSp>
        <p:nvGrpSpPr>
          <p:cNvPr id="51" name="node02"/>
          <p:cNvGrpSpPr/>
          <p:nvPr/>
        </p:nvGrpSpPr>
        <p:grpSpPr>
          <a:xfrm>
            <a:off x="723900" y="1828800"/>
            <a:ext cx="2514600" cy="660400"/>
            <a:chOff x="723900" y="1828800"/>
            <a:chExt cx="2514600" cy="660400"/>
          </a:xfrm>
        </p:grpSpPr>
        <p:sp>
          <p:nvSpPr>
            <p:cNvPr id="7" name="node02.text"/>
            <p:cNvSpPr/>
            <p:nvPr/>
          </p:nvSpPr>
          <p:spPr>
            <a:xfrm>
              <a:off x="723900" y="1828800"/>
              <a:ext cx="25146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FFFFF"/>
                  </a:solidFill>
                  <a:latin typeface="IBM Plex Sans SemiBold"/>
                  <a:ea typeface="IBM Plex Sans SemiBold"/>
                  <a:cs typeface="IBM Plex Sans SemiBold"/>
                </a:rPr>
                <a:t>Decide, deliver, then keep it current</a:t>
              </a:r>
              <a:endParaRPr lang="en-US" sz="2100" spc="-32" kern="0" b="0" i="0" dirty="0">
                <a:solidFill>
                  <a:srgbClr val="FFFFFF"/>
                </a:solidFill>
                <a:latin typeface="IBM Plex Sans SemiBold"/>
                <a:ea typeface="IBM Plex Sans SemiBold"/>
                <a:cs typeface="IBM Plex Sans SemiBold"/>
              </a:endParaRPr>
            </a:p>
          </p:txBody>
        </p:sp>
      </p:grpSp>
      <p:grpSp>
        <p:nvGrpSpPr>
          <p:cNvPr id="52" name="node03"/>
          <p:cNvGrpSpPr/>
          <p:nvPr/>
        </p:nvGrpSpPr>
        <p:grpSpPr>
          <a:xfrm>
            <a:off x="723900" y="3200400"/>
            <a:ext cx="2514600" cy="571500"/>
            <a:chOff x="723900" y="3200400"/>
            <a:chExt cx="2514600" cy="571500"/>
          </a:xfrm>
        </p:grpSpPr>
        <p:sp>
          <p:nvSpPr>
            <p:cNvPr id="8" name="node03.text"/>
            <p:cNvSpPr/>
            <p:nvPr/>
          </p:nvSpPr>
          <p:spPr>
            <a:xfrm>
              <a:off x="723900" y="3200400"/>
              <a:ext cx="2514600" cy="571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Most estates modernize once and then age. The lifecycle makes the third phase as deliberate as the first two.</a:t>
              </a:r>
              <a:endParaRPr lang="en-US" sz="1100" spc="0" kern="0" b="0" i="0" dirty="0">
                <a:solidFill>
                  <a:srgbClr val="CED7E6"/>
                </a:solidFill>
                <a:latin typeface="IBM Plex Sans"/>
                <a:ea typeface="IBM Plex Sans"/>
                <a:cs typeface="IBM Plex Sans"/>
              </a:endParaRPr>
            </a:p>
          </p:txBody>
        </p:sp>
      </p:grpSp>
      <p:grpSp>
        <p:nvGrpSpPr>
          <p:cNvPr id="53" name="node04"/>
          <p:cNvGrpSpPr/>
          <p:nvPr/>
        </p:nvGrpSpPr>
        <p:grpSpPr>
          <a:xfrm>
            <a:off x="723900" y="4572000"/>
            <a:ext cx="2514600" cy="509969"/>
            <a:chOff x="723900" y="4572000"/>
            <a:chExt cx="2514600" cy="509969"/>
          </a:xfrm>
        </p:grpSpPr>
        <p:sp>
          <p:nvSpPr>
            <p:cNvPr id="9" name="node04.text"/>
            <p:cNvSpPr/>
            <p:nvPr/>
          </p:nvSpPr>
          <p:spPr>
            <a:xfrm>
              <a:off x="723900" y="4572000"/>
              <a:ext cx="25146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F900D3"/>
                  </a:solidFill>
                  <a:latin typeface="IBM Plex Mono SemiBold"/>
                  <a:ea typeface="IBM Plex Mono SemiBold"/>
                  <a:cs typeface="IBM Plex Mono SemiBold"/>
                </a:rPr>
                <a:t>12</a:t>
              </a:r>
              <a:endParaRPr lang="en-US" sz="4000" spc="-80" kern="0" b="0" i="0" dirty="0">
                <a:solidFill>
                  <a:srgbClr val="F900D3"/>
                </a:solidFill>
                <a:latin typeface="IBM Plex Mono SemiBold"/>
                <a:ea typeface="IBM Plex Mono SemiBold"/>
                <a:cs typeface="IBM Plex Mono SemiBold"/>
              </a:endParaRPr>
            </a:p>
          </p:txBody>
        </p:sp>
      </p:grpSp>
      <p:grpSp>
        <p:nvGrpSpPr>
          <p:cNvPr id="54" name="node05"/>
          <p:cNvGrpSpPr/>
          <p:nvPr/>
        </p:nvGrpSpPr>
        <p:grpSpPr>
          <a:xfrm>
            <a:off x="723900" y="5181600"/>
            <a:ext cx="2514600" cy="190500"/>
            <a:chOff x="723900" y="5181600"/>
            <a:chExt cx="2514600" cy="190500"/>
          </a:xfrm>
        </p:grpSpPr>
        <p:sp>
          <p:nvSpPr>
            <p:cNvPr id="10" name="node05.text"/>
            <p:cNvSpPr/>
            <p:nvPr/>
          </p:nvSpPr>
          <p:spPr>
            <a:xfrm>
              <a:off x="723900" y="51816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subtracks across three phases</a:t>
              </a:r>
              <a:endParaRPr lang="en-US" sz="1100" spc="0" kern="0" b="0" i="0" dirty="0">
                <a:solidFill>
                  <a:srgbClr val="CED7E6"/>
                </a:solidFill>
                <a:latin typeface="IBM Plex Sans"/>
                <a:ea typeface="IBM Plex Sans"/>
                <a:cs typeface="IBM Plex Sans"/>
              </a:endParaRPr>
            </a:p>
          </p:txBody>
        </p:sp>
      </p:grpSp>
      <p:grpSp>
        <p:nvGrpSpPr>
          <p:cNvPr id="55" name="node06"/>
          <p:cNvGrpSpPr/>
          <p:nvPr/>
        </p:nvGrpSpPr>
        <p:grpSpPr>
          <a:xfrm>
            <a:off x="4381500" y="1600200"/>
            <a:ext cx="1600200" cy="1143000"/>
            <a:chOff x="4381500" y="1600200"/>
            <a:chExt cx="1600200" cy="1143000"/>
          </a:xfrm>
        </p:grpSpPr>
        <p:sp>
          <p:nvSpPr>
            <p:cNvPr id="11" name="node06.surface"/>
            <p:cNvSpPr/>
            <p:nvPr/>
          </p:nvSpPr>
          <p:spPr>
            <a:xfrm>
              <a:off x="4381500" y="1600200"/>
              <a:ext cx="1600200" cy="1143000"/>
            </a:xfrm>
            <a:prstGeom prst="rect">
              <a:avLst/>
            </a:prstGeom>
            <a:solidFill>
              <a:srgbClr val="070154"/>
            </a:solidFill>
            <a:ln>
              <a:noFill/>
            </a:ln>
          </p:spPr>
        </p:sp>
      </p:grpSp>
      <p:grpSp>
        <p:nvGrpSpPr>
          <p:cNvPr id="56" name="node07"/>
          <p:cNvGrpSpPr/>
          <p:nvPr/>
        </p:nvGrpSpPr>
        <p:grpSpPr>
          <a:xfrm>
            <a:off x="4533900" y="1714500"/>
            <a:ext cx="1295400" cy="266700"/>
            <a:chOff x="4533900" y="1714500"/>
            <a:chExt cx="1295400" cy="266700"/>
          </a:xfrm>
        </p:grpSpPr>
        <p:sp>
          <p:nvSpPr>
            <p:cNvPr id="12" name="node07.text"/>
            <p:cNvSpPr/>
            <p:nvPr/>
          </p:nvSpPr>
          <p:spPr>
            <a:xfrm>
              <a:off x="4533900" y="1714500"/>
              <a:ext cx="1295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Rationalize</a:t>
              </a:r>
              <a:endParaRPr lang="en-US" sz="1600" spc="-16" kern="0" b="0" i="0" dirty="0">
                <a:solidFill>
                  <a:srgbClr val="FFFFFF"/>
                </a:solidFill>
                <a:latin typeface="IBM Plex Sans SemiBold"/>
                <a:ea typeface="IBM Plex Sans SemiBold"/>
                <a:cs typeface="IBM Plex Sans SemiBold"/>
              </a:endParaRPr>
            </a:p>
          </p:txBody>
        </p:sp>
      </p:grpSp>
      <p:grpSp>
        <p:nvGrpSpPr>
          <p:cNvPr id="57" name="node08"/>
          <p:cNvGrpSpPr/>
          <p:nvPr/>
        </p:nvGrpSpPr>
        <p:grpSpPr>
          <a:xfrm>
            <a:off x="4533900" y="2171700"/>
            <a:ext cx="1295400" cy="190500"/>
            <a:chOff x="4533900" y="2171700"/>
            <a:chExt cx="1295400" cy="190500"/>
          </a:xfrm>
        </p:grpSpPr>
        <p:sp>
          <p:nvSpPr>
            <p:cNvPr id="13" name="node08.text"/>
            <p:cNvSpPr/>
            <p:nvPr/>
          </p:nvSpPr>
          <p:spPr>
            <a:xfrm>
              <a:off x="4533900" y="21717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Decide</a:t>
              </a:r>
              <a:endParaRPr lang="en-US" sz="1100" spc="0" kern="0" b="0" i="0" dirty="0">
                <a:solidFill>
                  <a:srgbClr val="CED7E6"/>
                </a:solidFill>
                <a:latin typeface="IBM Plex Sans"/>
                <a:ea typeface="IBM Plex Sans"/>
                <a:cs typeface="IBM Plex Sans"/>
              </a:endParaRPr>
            </a:p>
          </p:txBody>
        </p:sp>
      </p:grpSp>
      <p:grpSp>
        <p:nvGrpSpPr>
          <p:cNvPr id="58" name="node09"/>
          <p:cNvGrpSpPr/>
          <p:nvPr/>
        </p:nvGrpSpPr>
        <p:grpSpPr>
          <a:xfrm>
            <a:off x="6210300" y="1600200"/>
            <a:ext cx="5257800" cy="1143000"/>
            <a:chOff x="6210300" y="1600200"/>
            <a:chExt cx="5257800" cy="1143000"/>
          </a:xfrm>
        </p:grpSpPr>
        <p:sp>
          <p:nvSpPr>
            <p:cNvPr id="14" name="node09.surface"/>
            <p:cNvSpPr/>
            <p:nvPr/>
          </p:nvSpPr>
          <p:spPr>
            <a:xfrm>
              <a:off x="6210300" y="1600200"/>
              <a:ext cx="5257800" cy="1143000"/>
            </a:xfrm>
            <a:prstGeom prst="rect">
              <a:avLst/>
            </a:prstGeom>
            <a:solidFill>
              <a:srgbClr val="E8EEF8"/>
            </a:solidFill>
            <a:ln>
              <a:noFill/>
            </a:ln>
          </p:spPr>
        </p:sp>
      </p:grpSp>
      <p:grpSp>
        <p:nvGrpSpPr>
          <p:cNvPr id="59" name="node10"/>
          <p:cNvGrpSpPr/>
          <p:nvPr/>
        </p:nvGrpSpPr>
        <p:grpSpPr>
          <a:xfrm>
            <a:off x="6362700" y="1676400"/>
            <a:ext cx="4953000" cy="215900"/>
            <a:chOff x="6362700" y="1676400"/>
            <a:chExt cx="4953000" cy="215900"/>
          </a:xfrm>
        </p:grpSpPr>
        <p:sp>
          <p:nvSpPr>
            <p:cNvPr id="15" name="node10.text"/>
            <p:cNvSpPr/>
            <p:nvPr/>
          </p:nvSpPr>
          <p:spPr>
            <a:xfrm>
              <a:off x="6362700" y="1676400"/>
              <a:ext cx="4953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What to modernize, in what order</a:t>
              </a:r>
              <a:endParaRPr lang="en-US" sz="1200" spc="0" kern="0" b="0" i="0" dirty="0">
                <a:solidFill>
                  <a:srgbClr val="070154"/>
                </a:solidFill>
                <a:latin typeface="IBM Plex Sans"/>
                <a:ea typeface="IBM Plex Sans"/>
                <a:cs typeface="IBM Plex Sans"/>
              </a:endParaRPr>
            </a:p>
          </p:txBody>
        </p:sp>
      </p:grpSp>
      <p:grpSp>
        <p:nvGrpSpPr>
          <p:cNvPr id="60" name="node11"/>
          <p:cNvGrpSpPr/>
          <p:nvPr/>
        </p:nvGrpSpPr>
        <p:grpSpPr>
          <a:xfrm>
            <a:off x="6362700" y="2057400"/>
            <a:ext cx="2438400" cy="469900"/>
            <a:chOff x="6362700" y="2057400"/>
            <a:chExt cx="2438400" cy="469900"/>
          </a:xfrm>
        </p:grpSpPr>
        <p:sp>
          <p:nvSpPr>
            <p:cNvPr id="16" name="node11.source-001.bullet"/>
            <p:cNvSpPr/>
            <p:nvPr/>
          </p:nvSpPr>
          <p:spPr>
            <a:xfrm>
              <a:off x="6362700" y="2146300"/>
              <a:ext cx="38100" cy="38100"/>
            </a:xfrm>
            <a:prstGeom prst="rect">
              <a:avLst/>
            </a:prstGeom>
            <a:solidFill>
              <a:srgbClr val="070154"/>
            </a:solidFill>
            <a:ln>
              <a:noFill/>
            </a:ln>
          </p:spPr>
        </p:sp>
        <p:sp>
          <p:nvSpPr>
            <p:cNvPr id="17" name="node11.source-001.text"/>
            <p:cNvSpPr/>
            <p:nvPr/>
          </p:nvSpPr>
          <p:spPr>
            <a:xfrm>
              <a:off x="6515100" y="20574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Portfolio assessment</a:t>
              </a:r>
              <a:endParaRPr lang="en-US" sz="1200" spc="0" kern="0" b="0" i="0" dirty="0">
                <a:solidFill>
                  <a:srgbClr val="070154"/>
                </a:solidFill>
                <a:latin typeface="IBM Plex Sans"/>
                <a:ea typeface="IBM Plex Sans"/>
                <a:cs typeface="IBM Plex Sans"/>
              </a:endParaRPr>
            </a:p>
          </p:txBody>
        </p:sp>
        <p:sp>
          <p:nvSpPr>
            <p:cNvPr id="18" name="node11.source-002.bullet"/>
            <p:cNvSpPr/>
            <p:nvPr/>
          </p:nvSpPr>
          <p:spPr>
            <a:xfrm>
              <a:off x="6362700" y="2400300"/>
              <a:ext cx="38100" cy="38100"/>
            </a:xfrm>
            <a:prstGeom prst="rect">
              <a:avLst/>
            </a:prstGeom>
            <a:solidFill>
              <a:srgbClr val="070154"/>
            </a:solidFill>
            <a:ln>
              <a:noFill/>
            </a:ln>
          </p:spPr>
        </p:sp>
        <p:sp>
          <p:nvSpPr>
            <p:cNvPr id="19" name="node11.source-002.text"/>
            <p:cNvSpPr/>
            <p:nvPr/>
          </p:nvSpPr>
          <p:spPr>
            <a:xfrm>
              <a:off x="6515100" y="23114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Application rationalization</a:t>
              </a:r>
              <a:endParaRPr lang="en-US" sz="1200" spc="0" kern="0" b="0" i="0" dirty="0">
                <a:solidFill>
                  <a:srgbClr val="070154"/>
                </a:solidFill>
                <a:latin typeface="IBM Plex Sans"/>
                <a:ea typeface="IBM Plex Sans"/>
                <a:cs typeface="IBM Plex Sans"/>
              </a:endParaRPr>
            </a:p>
          </p:txBody>
        </p:sp>
      </p:grpSp>
      <p:grpSp>
        <p:nvGrpSpPr>
          <p:cNvPr id="61" name="node12"/>
          <p:cNvGrpSpPr/>
          <p:nvPr/>
        </p:nvGrpSpPr>
        <p:grpSpPr>
          <a:xfrm>
            <a:off x="8953500" y="2057400"/>
            <a:ext cx="2438400" cy="469900"/>
            <a:chOff x="8953500" y="2057400"/>
            <a:chExt cx="2438400" cy="469900"/>
          </a:xfrm>
        </p:grpSpPr>
        <p:sp>
          <p:nvSpPr>
            <p:cNvPr id="20" name="node12.source-001.bullet"/>
            <p:cNvSpPr/>
            <p:nvPr/>
          </p:nvSpPr>
          <p:spPr>
            <a:xfrm>
              <a:off x="8953500" y="2146300"/>
              <a:ext cx="38100" cy="38100"/>
            </a:xfrm>
            <a:prstGeom prst="rect">
              <a:avLst/>
            </a:prstGeom>
            <a:solidFill>
              <a:srgbClr val="070154"/>
            </a:solidFill>
            <a:ln>
              <a:noFill/>
            </a:ln>
          </p:spPr>
        </p:sp>
        <p:sp>
          <p:nvSpPr>
            <p:cNvPr id="21" name="node12.source-001.text"/>
            <p:cNvSpPr/>
            <p:nvPr/>
          </p:nvSpPr>
          <p:spPr>
            <a:xfrm>
              <a:off x="9105900" y="20574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Target architecture</a:t>
              </a:r>
              <a:endParaRPr lang="en-US" sz="1200" spc="0" kern="0" b="0" i="0" dirty="0">
                <a:solidFill>
                  <a:srgbClr val="070154"/>
                </a:solidFill>
                <a:latin typeface="IBM Plex Sans"/>
                <a:ea typeface="IBM Plex Sans"/>
                <a:cs typeface="IBM Plex Sans"/>
              </a:endParaRPr>
            </a:p>
          </p:txBody>
        </p:sp>
        <p:sp>
          <p:nvSpPr>
            <p:cNvPr id="22" name="node12.source-002.bullet"/>
            <p:cNvSpPr/>
            <p:nvPr/>
          </p:nvSpPr>
          <p:spPr>
            <a:xfrm>
              <a:off x="8953500" y="2400300"/>
              <a:ext cx="38100" cy="38100"/>
            </a:xfrm>
            <a:prstGeom prst="rect">
              <a:avLst/>
            </a:prstGeom>
            <a:solidFill>
              <a:srgbClr val="070154"/>
            </a:solidFill>
            <a:ln>
              <a:noFill/>
            </a:ln>
          </p:spPr>
        </p:sp>
        <p:sp>
          <p:nvSpPr>
            <p:cNvPr id="23" name="node12.source-002.text"/>
            <p:cNvSpPr/>
            <p:nvPr/>
          </p:nvSpPr>
          <p:spPr>
            <a:xfrm>
              <a:off x="9105900" y="23114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Business case</a:t>
              </a:r>
              <a:endParaRPr lang="en-US" sz="1200" spc="0" kern="0" b="0" i="0" dirty="0">
                <a:solidFill>
                  <a:srgbClr val="070154"/>
                </a:solidFill>
                <a:latin typeface="IBM Plex Sans"/>
                <a:ea typeface="IBM Plex Sans"/>
                <a:cs typeface="IBM Plex Sans"/>
              </a:endParaRPr>
            </a:p>
          </p:txBody>
        </p:sp>
      </p:grpSp>
      <p:grpSp>
        <p:nvGrpSpPr>
          <p:cNvPr id="62" name="node13"/>
          <p:cNvGrpSpPr/>
          <p:nvPr/>
        </p:nvGrpSpPr>
        <p:grpSpPr>
          <a:xfrm>
            <a:off x="4381500" y="3200400"/>
            <a:ext cx="1600200" cy="1143000"/>
            <a:chOff x="4381500" y="3200400"/>
            <a:chExt cx="1600200" cy="1143000"/>
          </a:xfrm>
        </p:grpSpPr>
        <p:sp>
          <p:nvSpPr>
            <p:cNvPr id="24" name="node13.surface"/>
            <p:cNvSpPr/>
            <p:nvPr/>
          </p:nvSpPr>
          <p:spPr>
            <a:xfrm>
              <a:off x="4381500" y="3200400"/>
              <a:ext cx="1600200" cy="1143000"/>
            </a:xfrm>
            <a:prstGeom prst="rect">
              <a:avLst/>
            </a:prstGeom>
            <a:solidFill>
              <a:srgbClr val="CED7E6"/>
            </a:solidFill>
            <a:ln>
              <a:noFill/>
            </a:ln>
          </p:spPr>
        </p:sp>
      </p:grpSp>
      <p:grpSp>
        <p:nvGrpSpPr>
          <p:cNvPr id="63" name="node14"/>
          <p:cNvGrpSpPr/>
          <p:nvPr/>
        </p:nvGrpSpPr>
        <p:grpSpPr>
          <a:xfrm>
            <a:off x="4533900" y="3314700"/>
            <a:ext cx="1295400" cy="266700"/>
            <a:chOff x="4533900" y="3314700"/>
            <a:chExt cx="1295400" cy="266700"/>
          </a:xfrm>
        </p:grpSpPr>
        <p:sp>
          <p:nvSpPr>
            <p:cNvPr id="25" name="node14.text"/>
            <p:cNvSpPr/>
            <p:nvPr/>
          </p:nvSpPr>
          <p:spPr>
            <a:xfrm>
              <a:off x="4533900" y="3314700"/>
              <a:ext cx="1295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Build</a:t>
              </a:r>
              <a:endParaRPr lang="en-US" sz="1600" spc="-16" kern="0" b="0" i="0" dirty="0">
                <a:solidFill>
                  <a:srgbClr val="070154"/>
                </a:solidFill>
                <a:latin typeface="IBM Plex Sans SemiBold"/>
                <a:ea typeface="IBM Plex Sans SemiBold"/>
                <a:cs typeface="IBM Plex Sans SemiBold"/>
              </a:endParaRPr>
            </a:p>
          </p:txBody>
        </p:sp>
      </p:grpSp>
      <p:grpSp>
        <p:nvGrpSpPr>
          <p:cNvPr id="64" name="node15"/>
          <p:cNvGrpSpPr/>
          <p:nvPr/>
        </p:nvGrpSpPr>
        <p:grpSpPr>
          <a:xfrm>
            <a:off x="4533900" y="3771900"/>
            <a:ext cx="1295400" cy="190500"/>
            <a:chOff x="4533900" y="3771900"/>
            <a:chExt cx="1295400" cy="190500"/>
          </a:xfrm>
        </p:grpSpPr>
        <p:sp>
          <p:nvSpPr>
            <p:cNvPr id="26" name="node15.text"/>
            <p:cNvSpPr/>
            <p:nvPr/>
          </p:nvSpPr>
          <p:spPr>
            <a:xfrm>
              <a:off x="4533900" y="37719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Deliver</a:t>
              </a:r>
              <a:endParaRPr lang="en-US" sz="1100" spc="0" kern="0" b="0" i="0" dirty="0">
                <a:solidFill>
                  <a:srgbClr val="50658E"/>
                </a:solidFill>
                <a:latin typeface="IBM Plex Sans"/>
                <a:ea typeface="IBM Plex Sans"/>
                <a:cs typeface="IBM Plex Sans"/>
              </a:endParaRPr>
            </a:p>
          </p:txBody>
        </p:sp>
      </p:grpSp>
      <p:grpSp>
        <p:nvGrpSpPr>
          <p:cNvPr id="65" name="node16"/>
          <p:cNvGrpSpPr/>
          <p:nvPr/>
        </p:nvGrpSpPr>
        <p:grpSpPr>
          <a:xfrm>
            <a:off x="6210300" y="3200400"/>
            <a:ext cx="5257800" cy="1143000"/>
            <a:chOff x="6210300" y="3200400"/>
            <a:chExt cx="5257800" cy="1143000"/>
          </a:xfrm>
        </p:grpSpPr>
        <p:sp>
          <p:nvSpPr>
            <p:cNvPr id="27" name="node16.surface"/>
            <p:cNvSpPr/>
            <p:nvPr/>
          </p:nvSpPr>
          <p:spPr>
            <a:xfrm>
              <a:off x="6210300" y="3200400"/>
              <a:ext cx="5257800" cy="1143000"/>
            </a:xfrm>
            <a:prstGeom prst="rect">
              <a:avLst/>
            </a:prstGeom>
            <a:solidFill>
              <a:srgbClr val="E8EEF8"/>
            </a:solidFill>
            <a:ln>
              <a:noFill/>
            </a:ln>
          </p:spPr>
        </p:sp>
      </p:grpSp>
      <p:grpSp>
        <p:nvGrpSpPr>
          <p:cNvPr id="66" name="node17"/>
          <p:cNvGrpSpPr/>
          <p:nvPr/>
        </p:nvGrpSpPr>
        <p:grpSpPr>
          <a:xfrm>
            <a:off x="6362700" y="3276600"/>
            <a:ext cx="4953000" cy="215900"/>
            <a:chOff x="6362700" y="3276600"/>
            <a:chExt cx="4953000" cy="215900"/>
          </a:xfrm>
        </p:grpSpPr>
        <p:sp>
          <p:nvSpPr>
            <p:cNvPr id="28" name="node17.text"/>
            <p:cNvSpPr/>
            <p:nvPr/>
          </p:nvSpPr>
          <p:spPr>
            <a:xfrm>
              <a:off x="6362700" y="3276600"/>
              <a:ext cx="4953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Move applications and data safely</a:t>
              </a:r>
              <a:endParaRPr lang="en-US" sz="1200" spc="0" kern="0" b="0" i="0" dirty="0">
                <a:solidFill>
                  <a:srgbClr val="070154"/>
                </a:solidFill>
                <a:latin typeface="IBM Plex Sans"/>
                <a:ea typeface="IBM Plex Sans"/>
                <a:cs typeface="IBM Plex Sans"/>
              </a:endParaRPr>
            </a:p>
          </p:txBody>
        </p:sp>
      </p:grpSp>
      <p:grpSp>
        <p:nvGrpSpPr>
          <p:cNvPr id="67" name="node18"/>
          <p:cNvGrpSpPr/>
          <p:nvPr/>
        </p:nvGrpSpPr>
        <p:grpSpPr>
          <a:xfrm>
            <a:off x="6362700" y="3657600"/>
            <a:ext cx="2438400" cy="469900"/>
            <a:chOff x="6362700" y="3657600"/>
            <a:chExt cx="2438400" cy="469900"/>
          </a:xfrm>
        </p:grpSpPr>
        <p:sp>
          <p:nvSpPr>
            <p:cNvPr id="29" name="node18.source-001.bullet"/>
            <p:cNvSpPr/>
            <p:nvPr/>
          </p:nvSpPr>
          <p:spPr>
            <a:xfrm>
              <a:off x="6362700" y="3746500"/>
              <a:ext cx="38100" cy="38100"/>
            </a:xfrm>
            <a:prstGeom prst="rect">
              <a:avLst/>
            </a:prstGeom>
            <a:solidFill>
              <a:srgbClr val="070154"/>
            </a:solidFill>
            <a:ln>
              <a:noFill/>
            </a:ln>
          </p:spPr>
        </p:sp>
        <p:sp>
          <p:nvSpPr>
            <p:cNvPr id="30" name="node18.source-001.text"/>
            <p:cNvSpPr/>
            <p:nvPr/>
          </p:nvSpPr>
          <p:spPr>
            <a:xfrm>
              <a:off x="6515100" y="36576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Re-platform</a:t>
              </a:r>
              <a:endParaRPr lang="en-US" sz="1200" spc="0" kern="0" b="0" i="0" dirty="0">
                <a:solidFill>
                  <a:srgbClr val="070154"/>
                </a:solidFill>
                <a:latin typeface="IBM Plex Sans"/>
                <a:ea typeface="IBM Plex Sans"/>
                <a:cs typeface="IBM Plex Sans"/>
              </a:endParaRPr>
            </a:p>
          </p:txBody>
        </p:sp>
        <p:sp>
          <p:nvSpPr>
            <p:cNvPr id="31" name="node18.source-002.bullet"/>
            <p:cNvSpPr/>
            <p:nvPr/>
          </p:nvSpPr>
          <p:spPr>
            <a:xfrm>
              <a:off x="6362700" y="4000500"/>
              <a:ext cx="38100" cy="38100"/>
            </a:xfrm>
            <a:prstGeom prst="rect">
              <a:avLst/>
            </a:prstGeom>
            <a:solidFill>
              <a:srgbClr val="070154"/>
            </a:solidFill>
            <a:ln>
              <a:noFill/>
            </a:ln>
          </p:spPr>
        </p:sp>
        <p:sp>
          <p:nvSpPr>
            <p:cNvPr id="32" name="node18.source-002.text"/>
            <p:cNvSpPr/>
            <p:nvPr/>
          </p:nvSpPr>
          <p:spPr>
            <a:xfrm>
              <a:off x="6515100" y="39116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Refactor</a:t>
              </a:r>
              <a:endParaRPr lang="en-US" sz="1200" spc="0" kern="0" b="0" i="0" dirty="0">
                <a:solidFill>
                  <a:srgbClr val="070154"/>
                </a:solidFill>
                <a:latin typeface="IBM Plex Sans"/>
                <a:ea typeface="IBM Plex Sans"/>
                <a:cs typeface="IBM Plex Sans"/>
              </a:endParaRPr>
            </a:p>
          </p:txBody>
        </p:sp>
      </p:grpSp>
      <p:grpSp>
        <p:nvGrpSpPr>
          <p:cNvPr id="68" name="node19"/>
          <p:cNvGrpSpPr/>
          <p:nvPr/>
        </p:nvGrpSpPr>
        <p:grpSpPr>
          <a:xfrm>
            <a:off x="8953500" y="3657600"/>
            <a:ext cx="2438400" cy="469900"/>
            <a:chOff x="8953500" y="3657600"/>
            <a:chExt cx="2438400" cy="469900"/>
          </a:xfrm>
        </p:grpSpPr>
        <p:sp>
          <p:nvSpPr>
            <p:cNvPr id="33" name="node19.source-001.bullet"/>
            <p:cNvSpPr/>
            <p:nvPr/>
          </p:nvSpPr>
          <p:spPr>
            <a:xfrm>
              <a:off x="8953500" y="3746500"/>
              <a:ext cx="38100" cy="38100"/>
            </a:xfrm>
            <a:prstGeom prst="rect">
              <a:avLst/>
            </a:prstGeom>
            <a:solidFill>
              <a:srgbClr val="070154"/>
            </a:solidFill>
            <a:ln>
              <a:noFill/>
            </a:ln>
          </p:spPr>
        </p:sp>
        <p:sp>
          <p:nvSpPr>
            <p:cNvPr id="34" name="node19.source-001.text"/>
            <p:cNvSpPr/>
            <p:nvPr/>
          </p:nvSpPr>
          <p:spPr>
            <a:xfrm>
              <a:off x="9105900" y="36576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migration</a:t>
              </a:r>
              <a:endParaRPr lang="en-US" sz="1200" spc="0" kern="0" b="0" i="0" dirty="0">
                <a:solidFill>
                  <a:srgbClr val="070154"/>
                </a:solidFill>
                <a:latin typeface="IBM Plex Sans"/>
                <a:ea typeface="IBM Plex Sans"/>
                <a:cs typeface="IBM Plex Sans"/>
              </a:endParaRPr>
            </a:p>
          </p:txBody>
        </p:sp>
        <p:sp>
          <p:nvSpPr>
            <p:cNvPr id="35" name="node19.source-002.bullet"/>
            <p:cNvSpPr/>
            <p:nvPr/>
          </p:nvSpPr>
          <p:spPr>
            <a:xfrm>
              <a:off x="8953500" y="4000500"/>
              <a:ext cx="38100" cy="38100"/>
            </a:xfrm>
            <a:prstGeom prst="rect">
              <a:avLst/>
            </a:prstGeom>
            <a:solidFill>
              <a:srgbClr val="070154"/>
            </a:solidFill>
            <a:ln>
              <a:noFill/>
            </a:ln>
          </p:spPr>
        </p:sp>
        <p:sp>
          <p:nvSpPr>
            <p:cNvPr id="36" name="node19.source-002.text"/>
            <p:cNvSpPr/>
            <p:nvPr/>
          </p:nvSpPr>
          <p:spPr>
            <a:xfrm>
              <a:off x="9105900" y="39116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Cutover</a:t>
              </a:r>
              <a:endParaRPr lang="en-US" sz="1200" spc="0" kern="0" b="0" i="0" dirty="0">
                <a:solidFill>
                  <a:srgbClr val="070154"/>
                </a:solidFill>
                <a:latin typeface="IBM Plex Sans"/>
                <a:ea typeface="IBM Plex Sans"/>
                <a:cs typeface="IBM Plex Sans"/>
              </a:endParaRPr>
            </a:p>
          </p:txBody>
        </p:sp>
      </p:grpSp>
      <p:grpSp>
        <p:nvGrpSpPr>
          <p:cNvPr id="69" name="node20"/>
          <p:cNvGrpSpPr/>
          <p:nvPr/>
        </p:nvGrpSpPr>
        <p:grpSpPr>
          <a:xfrm>
            <a:off x="4381500" y="4800600"/>
            <a:ext cx="1600200" cy="1143000"/>
            <a:chOff x="4381500" y="4800600"/>
            <a:chExt cx="1600200" cy="1143000"/>
          </a:xfrm>
        </p:grpSpPr>
        <p:sp>
          <p:nvSpPr>
            <p:cNvPr id="37" name="node20.surface"/>
            <p:cNvSpPr/>
            <p:nvPr/>
          </p:nvSpPr>
          <p:spPr>
            <a:xfrm>
              <a:off x="4381500" y="4800600"/>
              <a:ext cx="1600200" cy="1143000"/>
            </a:xfrm>
            <a:prstGeom prst="rect">
              <a:avLst/>
            </a:prstGeom>
            <a:solidFill>
              <a:srgbClr val="E8EEF8"/>
            </a:solidFill>
            <a:ln>
              <a:noFill/>
            </a:ln>
          </p:spPr>
        </p:sp>
      </p:grpSp>
      <p:grpSp>
        <p:nvGrpSpPr>
          <p:cNvPr id="70" name="node21"/>
          <p:cNvGrpSpPr/>
          <p:nvPr/>
        </p:nvGrpSpPr>
        <p:grpSpPr>
          <a:xfrm>
            <a:off x="4533900" y="4914900"/>
            <a:ext cx="1295400" cy="266700"/>
            <a:chOff x="4533900" y="4914900"/>
            <a:chExt cx="1295400" cy="266700"/>
          </a:xfrm>
        </p:grpSpPr>
        <p:sp>
          <p:nvSpPr>
            <p:cNvPr id="38" name="node21.text"/>
            <p:cNvSpPr/>
            <p:nvPr/>
          </p:nvSpPr>
          <p:spPr>
            <a:xfrm>
              <a:off x="4533900" y="4914900"/>
              <a:ext cx="1295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Sustain</a:t>
              </a:r>
              <a:endParaRPr lang="en-US" sz="1600" spc="-16" kern="0" b="0" i="0" dirty="0">
                <a:solidFill>
                  <a:srgbClr val="070154"/>
                </a:solidFill>
                <a:latin typeface="IBM Plex Sans SemiBold"/>
                <a:ea typeface="IBM Plex Sans SemiBold"/>
                <a:cs typeface="IBM Plex Sans SemiBold"/>
              </a:endParaRPr>
            </a:p>
          </p:txBody>
        </p:sp>
      </p:grpSp>
      <p:grpSp>
        <p:nvGrpSpPr>
          <p:cNvPr id="71" name="node22"/>
          <p:cNvGrpSpPr/>
          <p:nvPr/>
        </p:nvGrpSpPr>
        <p:grpSpPr>
          <a:xfrm>
            <a:off x="4533900" y="5372100"/>
            <a:ext cx="1295400" cy="190500"/>
            <a:chOff x="4533900" y="5372100"/>
            <a:chExt cx="1295400" cy="190500"/>
          </a:xfrm>
        </p:grpSpPr>
        <p:sp>
          <p:nvSpPr>
            <p:cNvPr id="39" name="node22.text"/>
            <p:cNvSpPr/>
            <p:nvPr/>
          </p:nvSpPr>
          <p:spPr>
            <a:xfrm>
              <a:off x="4533900" y="5372100"/>
              <a:ext cx="1295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Run</a:t>
              </a:r>
              <a:endParaRPr lang="en-US" sz="1100" spc="0" kern="0" b="0" i="0" dirty="0">
                <a:solidFill>
                  <a:srgbClr val="50658E"/>
                </a:solidFill>
                <a:latin typeface="IBM Plex Sans"/>
                <a:ea typeface="IBM Plex Sans"/>
                <a:cs typeface="IBM Plex Sans"/>
              </a:endParaRPr>
            </a:p>
          </p:txBody>
        </p:sp>
      </p:grpSp>
      <p:grpSp>
        <p:nvGrpSpPr>
          <p:cNvPr id="72" name="node23"/>
          <p:cNvGrpSpPr/>
          <p:nvPr/>
        </p:nvGrpSpPr>
        <p:grpSpPr>
          <a:xfrm>
            <a:off x="6210300" y="4800600"/>
            <a:ext cx="5257800" cy="1143000"/>
            <a:chOff x="6210300" y="4800600"/>
            <a:chExt cx="5257800" cy="1143000"/>
          </a:xfrm>
        </p:grpSpPr>
        <p:sp>
          <p:nvSpPr>
            <p:cNvPr id="40" name="node23.surface"/>
            <p:cNvSpPr/>
            <p:nvPr/>
          </p:nvSpPr>
          <p:spPr>
            <a:xfrm>
              <a:off x="6210300" y="4800600"/>
              <a:ext cx="5257800" cy="1143000"/>
            </a:xfrm>
            <a:prstGeom prst="rect">
              <a:avLst/>
            </a:prstGeom>
            <a:solidFill>
              <a:srgbClr val="E8EEF8"/>
            </a:solidFill>
            <a:ln>
              <a:noFill/>
            </a:ln>
          </p:spPr>
        </p:sp>
      </p:grpSp>
      <p:grpSp>
        <p:nvGrpSpPr>
          <p:cNvPr id="73" name="node24"/>
          <p:cNvGrpSpPr/>
          <p:nvPr/>
        </p:nvGrpSpPr>
        <p:grpSpPr>
          <a:xfrm>
            <a:off x="6362700" y="4876800"/>
            <a:ext cx="4953000" cy="215900"/>
            <a:chOff x="6362700" y="4876800"/>
            <a:chExt cx="4953000" cy="215900"/>
          </a:xfrm>
        </p:grpSpPr>
        <p:sp>
          <p:nvSpPr>
            <p:cNvPr id="41" name="node24.text"/>
            <p:cNvSpPr/>
            <p:nvPr/>
          </p:nvSpPr>
          <p:spPr>
            <a:xfrm>
              <a:off x="6362700" y="4876800"/>
              <a:ext cx="4953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 it well, keep it current</a:t>
              </a:r>
              <a:endParaRPr lang="en-US" sz="1200" spc="0" kern="0" b="0" i="0" dirty="0">
                <a:solidFill>
                  <a:srgbClr val="070154"/>
                </a:solidFill>
                <a:latin typeface="IBM Plex Sans"/>
                <a:ea typeface="IBM Plex Sans"/>
                <a:cs typeface="IBM Plex Sans"/>
              </a:endParaRPr>
            </a:p>
          </p:txBody>
        </p:sp>
      </p:grpSp>
      <p:grpSp>
        <p:nvGrpSpPr>
          <p:cNvPr id="74" name="node25"/>
          <p:cNvGrpSpPr/>
          <p:nvPr/>
        </p:nvGrpSpPr>
        <p:grpSpPr>
          <a:xfrm>
            <a:off x="6362700" y="5257800"/>
            <a:ext cx="2438400" cy="469900"/>
            <a:chOff x="6362700" y="5257800"/>
            <a:chExt cx="2438400" cy="469900"/>
          </a:xfrm>
        </p:grpSpPr>
        <p:sp>
          <p:nvSpPr>
            <p:cNvPr id="42" name="node25.source-001.bullet"/>
            <p:cNvSpPr/>
            <p:nvPr/>
          </p:nvSpPr>
          <p:spPr>
            <a:xfrm>
              <a:off x="6362700" y="5346700"/>
              <a:ext cx="38100" cy="38100"/>
            </a:xfrm>
            <a:prstGeom prst="rect">
              <a:avLst/>
            </a:prstGeom>
            <a:solidFill>
              <a:srgbClr val="070154"/>
            </a:solidFill>
            <a:ln>
              <a:noFill/>
            </a:ln>
          </p:spPr>
        </p:sp>
        <p:sp>
          <p:nvSpPr>
            <p:cNvPr id="43" name="node25.source-001.text"/>
            <p:cNvSpPr/>
            <p:nvPr/>
          </p:nvSpPr>
          <p:spPr>
            <a:xfrm>
              <a:off x="6515100" y="52578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 and operate</a:t>
              </a:r>
              <a:endParaRPr lang="en-US" sz="1200" spc="0" kern="0" b="0" i="0" dirty="0">
                <a:solidFill>
                  <a:srgbClr val="070154"/>
                </a:solidFill>
                <a:latin typeface="IBM Plex Sans"/>
                <a:ea typeface="IBM Plex Sans"/>
                <a:cs typeface="IBM Plex Sans"/>
              </a:endParaRPr>
            </a:p>
          </p:txBody>
        </p:sp>
        <p:sp>
          <p:nvSpPr>
            <p:cNvPr id="44" name="node25.source-002.bullet"/>
            <p:cNvSpPr/>
            <p:nvPr/>
          </p:nvSpPr>
          <p:spPr>
            <a:xfrm>
              <a:off x="6362700" y="5600700"/>
              <a:ext cx="38100" cy="38100"/>
            </a:xfrm>
            <a:prstGeom prst="rect">
              <a:avLst/>
            </a:prstGeom>
            <a:solidFill>
              <a:srgbClr val="070154"/>
            </a:solidFill>
            <a:ln>
              <a:noFill/>
            </a:ln>
          </p:spPr>
        </p:sp>
        <p:sp>
          <p:nvSpPr>
            <p:cNvPr id="45" name="node25.source-002.text"/>
            <p:cNvSpPr/>
            <p:nvPr/>
          </p:nvSpPr>
          <p:spPr>
            <a:xfrm>
              <a:off x="6515100" y="55118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Optimize</a:t>
              </a:r>
              <a:endParaRPr lang="en-US" sz="1200" spc="0" kern="0" b="0" i="0" dirty="0">
                <a:solidFill>
                  <a:srgbClr val="070154"/>
                </a:solidFill>
                <a:latin typeface="IBM Plex Sans"/>
                <a:ea typeface="IBM Plex Sans"/>
                <a:cs typeface="IBM Plex Sans"/>
              </a:endParaRPr>
            </a:p>
          </p:txBody>
        </p:sp>
      </p:grpSp>
      <p:grpSp>
        <p:nvGrpSpPr>
          <p:cNvPr id="75" name="node26"/>
          <p:cNvGrpSpPr/>
          <p:nvPr/>
        </p:nvGrpSpPr>
        <p:grpSpPr>
          <a:xfrm>
            <a:off x="8953500" y="5257800"/>
            <a:ext cx="2438400" cy="469900"/>
            <a:chOff x="8953500" y="5257800"/>
            <a:chExt cx="2438400" cy="469900"/>
          </a:xfrm>
        </p:grpSpPr>
        <p:sp>
          <p:nvSpPr>
            <p:cNvPr id="46" name="node26.source-001.bullet"/>
            <p:cNvSpPr/>
            <p:nvPr/>
          </p:nvSpPr>
          <p:spPr>
            <a:xfrm>
              <a:off x="8953500" y="5346700"/>
              <a:ext cx="38100" cy="38100"/>
            </a:xfrm>
            <a:prstGeom prst="rect">
              <a:avLst/>
            </a:prstGeom>
            <a:solidFill>
              <a:srgbClr val="070154"/>
            </a:solidFill>
            <a:ln>
              <a:noFill/>
            </a:ln>
          </p:spPr>
        </p:sp>
        <p:sp>
          <p:nvSpPr>
            <p:cNvPr id="47" name="node26.source-001.text"/>
            <p:cNvSpPr/>
            <p:nvPr/>
          </p:nvSpPr>
          <p:spPr>
            <a:xfrm>
              <a:off x="9105900" y="52578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Modernization governance</a:t>
              </a:r>
              <a:endParaRPr lang="en-US" sz="1200" spc="0" kern="0" b="0" i="0" dirty="0">
                <a:solidFill>
                  <a:srgbClr val="070154"/>
                </a:solidFill>
                <a:latin typeface="IBM Plex Sans"/>
                <a:ea typeface="IBM Plex Sans"/>
                <a:cs typeface="IBM Plex Sans"/>
              </a:endParaRPr>
            </a:p>
          </p:txBody>
        </p:sp>
        <p:sp>
          <p:nvSpPr>
            <p:cNvPr id="48" name="node26.source-002.bullet"/>
            <p:cNvSpPr/>
            <p:nvPr/>
          </p:nvSpPr>
          <p:spPr>
            <a:xfrm>
              <a:off x="8953500" y="5600700"/>
              <a:ext cx="38100" cy="38100"/>
            </a:xfrm>
            <a:prstGeom prst="rect">
              <a:avLst/>
            </a:prstGeom>
            <a:solidFill>
              <a:srgbClr val="070154"/>
            </a:solidFill>
            <a:ln>
              <a:noFill/>
            </a:ln>
          </p:spPr>
        </p:sp>
        <p:sp>
          <p:nvSpPr>
            <p:cNvPr id="49" name="node26.source-002.text"/>
            <p:cNvSpPr/>
            <p:nvPr/>
          </p:nvSpPr>
          <p:spPr>
            <a:xfrm>
              <a:off x="9105900" y="55118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Continuous modernization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ource-301">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MATURITY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Most of the gain comes late in the climb</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117</a:t>
            </a:fld>
            <a:endParaRPr lang="en-US" sz="700" spc="0" kern="0" b="0" i="0" dirty="0">
              <a:solidFill>
                <a:srgbClr val="070154"/>
              </a:solidFill>
              <a:latin typeface="IBM Plex Mono SemiBold"/>
              <a:ea typeface="IBM Plex Mono SemiBold"/>
              <a:cs typeface="IBM Plex Mono SemiBold"/>
            </a:endParaRPr>
          </a:p>
        </p:txBody>
      </p:sp>
      <p:grpSp>
        <p:nvGrpSpPr>
          <p:cNvPr id="47" name="node01"/>
          <p:cNvGrpSpPr/>
          <p:nvPr/>
        </p:nvGrpSpPr>
        <p:grpSpPr>
          <a:xfrm>
            <a:off x="4479925" y="457200"/>
            <a:ext cx="6905006" cy="5257800"/>
            <a:chOff x="4479925" y="457200"/>
            <a:chExt cx="6905006" cy="5257800"/>
          </a:xfrm>
        </p:grpSpPr>
        <p:sp>
          <p:nvSpPr>
            <p:cNvPr id="6" name="node01.curve"/>
            <p:cNvSpPr/>
            <p:nvPr/>
          </p:nvSpPr>
          <p:spPr>
            <a:xfrm>
              <a:off x="4495800" y="697230"/>
              <a:ext cx="6858000" cy="4320540"/>
            </a:xfrm>
            <a:custGeom>
              <a:avLst/>
              <a:gdLst/>
              <a:ahLst/>
              <a:cxnLst/>
              <a:rect l="l" t="t" r="r" b="b"/>
              <a:pathLst>
                <a:path w="6858000" h="4320540">
                  <a:moveTo>
                    <a:pt x="0" y="4320540"/>
                  </a:moveTo>
                  <a:lnTo>
                    <a:pt x="114300" y="4315771"/>
                  </a:lnTo>
                  <a:lnTo>
                    <a:pt x="228600" y="4310656"/>
                  </a:lnTo>
                  <a:lnTo>
                    <a:pt x="342900" y="4305170"/>
                  </a:lnTo>
                  <a:lnTo>
                    <a:pt x="457200" y="4299286"/>
                  </a:lnTo>
                  <a:lnTo>
                    <a:pt x="571500" y="4292976"/>
                  </a:lnTo>
                  <a:lnTo>
                    <a:pt x="685800" y="4286208"/>
                  </a:lnTo>
                  <a:lnTo>
                    <a:pt x="800100" y="4278949"/>
                  </a:lnTo>
                  <a:lnTo>
                    <a:pt x="914400" y="4271164"/>
                  </a:lnTo>
                  <a:lnTo>
                    <a:pt x="1028700" y="4262815"/>
                  </a:lnTo>
                  <a:lnTo>
                    <a:pt x="1143000" y="4253860"/>
                  </a:lnTo>
                  <a:lnTo>
                    <a:pt x="1257300" y="4244256"/>
                  </a:lnTo>
                  <a:lnTo>
                    <a:pt x="1371600" y="4233956"/>
                  </a:lnTo>
                  <a:lnTo>
                    <a:pt x="1485900" y="4222908"/>
                  </a:lnTo>
                  <a:lnTo>
                    <a:pt x="1600200" y="4211060"/>
                  </a:lnTo>
                  <a:lnTo>
                    <a:pt x="1714500" y="4198352"/>
                  </a:lnTo>
                  <a:lnTo>
                    <a:pt x="1828800" y="4184724"/>
                  </a:lnTo>
                  <a:lnTo>
                    <a:pt x="1943100" y="4170106"/>
                  </a:lnTo>
                  <a:lnTo>
                    <a:pt x="2057400" y="4154430"/>
                  </a:lnTo>
                  <a:lnTo>
                    <a:pt x="2171700" y="4137616"/>
                  </a:lnTo>
                  <a:lnTo>
                    <a:pt x="2286000" y="4119583"/>
                  </a:lnTo>
                  <a:lnTo>
                    <a:pt x="2400300" y="4100243"/>
                  </a:lnTo>
                  <a:lnTo>
                    <a:pt x="2514600" y="4079500"/>
                  </a:lnTo>
                  <a:lnTo>
                    <a:pt x="2628900" y="4057254"/>
                  </a:lnTo>
                  <a:lnTo>
                    <a:pt x="2743200" y="4033394"/>
                  </a:lnTo>
                  <a:lnTo>
                    <a:pt x="2857500" y="4007804"/>
                  </a:lnTo>
                  <a:lnTo>
                    <a:pt x="2971800" y="3980359"/>
                  </a:lnTo>
                  <a:lnTo>
                    <a:pt x="3086100" y="3950924"/>
                  </a:lnTo>
                  <a:lnTo>
                    <a:pt x="3200400" y="3919355"/>
                  </a:lnTo>
                  <a:lnTo>
                    <a:pt x="3314700" y="3885496"/>
                  </a:lnTo>
                  <a:lnTo>
                    <a:pt x="3429000" y="3849183"/>
                  </a:lnTo>
                  <a:lnTo>
                    <a:pt x="3543300" y="3810236"/>
                  </a:lnTo>
                  <a:lnTo>
                    <a:pt x="3657600" y="3768466"/>
                  </a:lnTo>
                  <a:lnTo>
                    <a:pt x="3771900" y="3723667"/>
                  </a:lnTo>
                  <a:lnTo>
                    <a:pt x="3886200" y="3675619"/>
                  </a:lnTo>
                  <a:lnTo>
                    <a:pt x="4000500" y="3624088"/>
                  </a:lnTo>
                  <a:lnTo>
                    <a:pt x="4114800" y="3568820"/>
                  </a:lnTo>
                  <a:lnTo>
                    <a:pt x="4229100" y="3509545"/>
                  </a:lnTo>
                  <a:lnTo>
                    <a:pt x="4343400" y="3445972"/>
                  </a:lnTo>
                  <a:lnTo>
                    <a:pt x="4457700" y="3377790"/>
                  </a:lnTo>
                  <a:lnTo>
                    <a:pt x="4572000" y="3304663"/>
                  </a:lnTo>
                  <a:lnTo>
                    <a:pt x="4686300" y="3226235"/>
                  </a:lnTo>
                  <a:lnTo>
                    <a:pt x="4800600" y="3142119"/>
                  </a:lnTo>
                  <a:lnTo>
                    <a:pt x="4914900" y="3051905"/>
                  </a:lnTo>
                  <a:lnTo>
                    <a:pt x="5029200" y="2955149"/>
                  </a:lnTo>
                  <a:lnTo>
                    <a:pt x="5143500" y="2851378"/>
                  </a:lnTo>
                  <a:lnTo>
                    <a:pt x="5257800" y="2740083"/>
                  </a:lnTo>
                  <a:lnTo>
                    <a:pt x="5372100" y="2620717"/>
                  </a:lnTo>
                  <a:lnTo>
                    <a:pt x="5486400" y="2492697"/>
                  </a:lnTo>
                  <a:lnTo>
                    <a:pt x="5600700" y="2355394"/>
                  </a:lnTo>
                  <a:lnTo>
                    <a:pt x="5715000" y="2208136"/>
                  </a:lnTo>
                  <a:lnTo>
                    <a:pt x="5829300" y="2050200"/>
                  </a:lnTo>
                  <a:lnTo>
                    <a:pt x="5943600" y="1880812"/>
                  </a:lnTo>
                  <a:lnTo>
                    <a:pt x="6057900" y="1699143"/>
                  </a:lnTo>
                  <a:lnTo>
                    <a:pt x="6172200" y="1504301"/>
                  </a:lnTo>
                  <a:lnTo>
                    <a:pt x="6286500" y="1295331"/>
                  </a:lnTo>
                  <a:lnTo>
                    <a:pt x="6400800" y="1071210"/>
                  </a:lnTo>
                  <a:lnTo>
                    <a:pt x="6515100" y="830837"/>
                  </a:lnTo>
                  <a:lnTo>
                    <a:pt x="6629400" y="573036"/>
                  </a:lnTo>
                  <a:lnTo>
                    <a:pt x="6743700" y="296542"/>
                  </a:lnTo>
                  <a:lnTo>
                    <a:pt x="6858000" y="0"/>
                  </a:lnTo>
                </a:path>
              </a:pathLst>
            </a:custGeom>
            <a:ln w="31750">
              <a:solidFill>
                <a:srgbClr val="070154"/>
              </a:solidFill>
              <a:prstDash val="solid"/>
            </a:ln>
          </p:spPr>
        </p:sp>
        <p:sp>
          <p:nvSpPr>
            <p:cNvPr id="7" name="node01.curve.cap-1"/>
            <p:cNvSpPr/>
            <p:nvPr/>
          </p:nvSpPr>
          <p:spPr>
            <a:xfrm>
              <a:off x="4479925" y="5001895"/>
              <a:ext cx="31750" cy="31750"/>
            </a:xfrm>
            <a:prstGeom prst="ellipse">
              <a:avLst/>
            </a:prstGeom>
            <a:solidFill>
              <a:srgbClr val="070154"/>
            </a:solidFill>
            <a:ln>
              <a:noFill/>
            </a:ln>
          </p:spPr>
        </p:sp>
        <p:sp>
          <p:nvSpPr>
            <p:cNvPr id="8" name="node01.curve.cap-2"/>
            <p:cNvSpPr/>
            <p:nvPr/>
          </p:nvSpPr>
          <p:spPr>
            <a:xfrm>
              <a:off x="11337925" y="681355"/>
              <a:ext cx="31750" cy="31750"/>
            </a:xfrm>
            <a:prstGeom prst="ellipse">
              <a:avLst/>
            </a:prstGeom>
            <a:solidFill>
              <a:srgbClr val="070154"/>
            </a:solidFill>
            <a:ln>
              <a:noFill/>
            </a:ln>
          </p:spPr>
        </p:sp>
        <p:sp>
          <p:nvSpPr>
            <p:cNvPr id="9" name="node01.arrow-1"/>
            <p:cNvSpPr/>
            <p:nvPr/>
          </p:nvSpPr>
          <p:spPr>
            <a:xfrm>
              <a:off x="11353800" y="697230"/>
              <a:ext cx="15256" cy="126080"/>
            </a:xfrm>
            <a:custGeom>
              <a:avLst/>
              <a:gdLst/>
              <a:ahLst/>
              <a:cxnLst/>
              <a:rect l="l" t="t" r="r" b="b"/>
              <a:pathLst>
                <a:path w="15256" h="126080">
                  <a:moveTo>
                    <a:pt x="0" y="0"/>
                  </a:moveTo>
                  <a:lnTo>
                    <a:pt x="15256" y="126080"/>
                  </a:lnTo>
                </a:path>
              </a:pathLst>
            </a:custGeom>
            <a:ln w="31750">
              <a:solidFill>
                <a:srgbClr val="070154"/>
              </a:solidFill>
              <a:prstDash val="solid"/>
            </a:ln>
          </p:spPr>
        </p:sp>
        <p:sp>
          <p:nvSpPr>
            <p:cNvPr id="10" name="node01.arrow-1.cap-1"/>
            <p:cNvSpPr/>
            <p:nvPr/>
          </p:nvSpPr>
          <p:spPr>
            <a:xfrm>
              <a:off x="11337925" y="681355"/>
              <a:ext cx="31750" cy="31750"/>
            </a:xfrm>
            <a:prstGeom prst="ellipse">
              <a:avLst/>
            </a:prstGeom>
            <a:solidFill>
              <a:srgbClr val="070154"/>
            </a:solidFill>
            <a:ln>
              <a:noFill/>
            </a:ln>
          </p:spPr>
        </p:sp>
        <p:sp>
          <p:nvSpPr>
            <p:cNvPr id="11" name="node01.arrow-1.cap-2"/>
            <p:cNvSpPr/>
            <p:nvPr/>
          </p:nvSpPr>
          <p:spPr>
            <a:xfrm>
              <a:off x="11353181" y="807435"/>
              <a:ext cx="31750" cy="31750"/>
            </a:xfrm>
            <a:prstGeom prst="ellipse">
              <a:avLst/>
            </a:prstGeom>
            <a:solidFill>
              <a:srgbClr val="070154"/>
            </a:solidFill>
            <a:ln>
              <a:noFill/>
            </a:ln>
          </p:spPr>
        </p:sp>
        <p:sp>
          <p:nvSpPr>
            <p:cNvPr id="12" name="node01.arrow-2"/>
            <p:cNvSpPr/>
            <p:nvPr/>
          </p:nvSpPr>
          <p:spPr>
            <a:xfrm>
              <a:off x="11255950" y="697230"/>
              <a:ext cx="97850" cy="80959"/>
            </a:xfrm>
            <a:custGeom>
              <a:avLst/>
              <a:gdLst/>
              <a:ahLst/>
              <a:cxnLst/>
              <a:rect l="l" t="t" r="r" b="b"/>
              <a:pathLst>
                <a:path w="97850" h="80959">
                  <a:moveTo>
                    <a:pt x="97850" y="0"/>
                  </a:moveTo>
                  <a:lnTo>
                    <a:pt x="0" y="80959"/>
                  </a:lnTo>
                </a:path>
              </a:pathLst>
            </a:custGeom>
            <a:ln w="31750">
              <a:solidFill>
                <a:srgbClr val="070154"/>
              </a:solidFill>
              <a:prstDash val="solid"/>
            </a:ln>
          </p:spPr>
        </p:sp>
        <p:sp>
          <p:nvSpPr>
            <p:cNvPr id="13" name="node01.arrow-2.cap-1"/>
            <p:cNvSpPr/>
            <p:nvPr/>
          </p:nvSpPr>
          <p:spPr>
            <a:xfrm>
              <a:off x="11337925" y="681355"/>
              <a:ext cx="31750" cy="31750"/>
            </a:xfrm>
            <a:prstGeom prst="ellipse">
              <a:avLst/>
            </a:prstGeom>
            <a:solidFill>
              <a:srgbClr val="070154"/>
            </a:solidFill>
            <a:ln>
              <a:noFill/>
            </a:ln>
          </p:spPr>
        </p:sp>
        <p:sp>
          <p:nvSpPr>
            <p:cNvPr id="14" name="node01.arrow-2.cap-2"/>
            <p:cNvSpPr/>
            <p:nvPr/>
          </p:nvSpPr>
          <p:spPr>
            <a:xfrm>
              <a:off x="11240075" y="762314"/>
              <a:ext cx="31750" cy="31750"/>
            </a:xfrm>
            <a:prstGeom prst="ellipse">
              <a:avLst/>
            </a:prstGeom>
            <a:solidFill>
              <a:srgbClr val="070154"/>
            </a:solidFill>
            <a:ln>
              <a:noFill/>
            </a:ln>
          </p:spPr>
        </p:sp>
        <p:sp>
          <p:nvSpPr>
            <p:cNvPr id="15" name="node01.axis"/>
            <p:cNvSpPr/>
            <p:nvPr/>
          </p:nvSpPr>
          <p:spPr>
            <a:xfrm>
              <a:off x="4495800" y="5562600"/>
              <a:ext cx="6858000" cy="0"/>
            </a:xfrm>
            <a:custGeom>
              <a:avLst/>
              <a:gdLst/>
              <a:ahLst/>
              <a:cxnLst/>
              <a:rect l="l" t="t" r="r" b="b"/>
              <a:pathLst>
                <a:path w="6858000">
                  <a:moveTo>
                    <a:pt x="0" y="0"/>
                  </a:moveTo>
                  <a:lnTo>
                    <a:pt x="6858000" y="0"/>
                  </a:lnTo>
                </a:path>
              </a:pathLst>
            </a:custGeom>
            <a:ln w="12700">
              <a:solidFill>
                <a:srgbClr val="070154"/>
              </a:solidFill>
              <a:prstDash val="solid"/>
            </a:ln>
          </p:spPr>
        </p:sp>
        <p:sp>
          <p:nvSpPr>
            <p:cNvPr id="16" name="node01.axis.arrow"/>
            <p:cNvSpPr/>
            <p:nvPr/>
          </p:nvSpPr>
          <p:spPr>
            <a:xfrm>
              <a:off x="11264900" y="5511800"/>
              <a:ext cx="88900" cy="101600"/>
            </a:xfrm>
            <a:custGeom>
              <a:avLst/>
              <a:gdLst/>
              <a:ahLst/>
              <a:cxnLst/>
              <a:rect l="l" t="t" r="r" b="b"/>
              <a:pathLst>
                <a:path w="88900" h="101600">
                  <a:moveTo>
                    <a:pt x="0" y="0"/>
                  </a:moveTo>
                  <a:lnTo>
                    <a:pt x="88900" y="50800"/>
                  </a:lnTo>
                  <a:lnTo>
                    <a:pt x="0" y="101600"/>
                  </a:lnTo>
                </a:path>
              </a:pathLst>
            </a:custGeom>
            <a:ln w="12700">
              <a:solidFill>
                <a:srgbClr val="070154"/>
              </a:solidFill>
              <a:prstDash val="solid"/>
            </a:ln>
          </p:spPr>
        </p:sp>
        <p:sp>
          <p:nvSpPr>
            <p:cNvPr id="17" name="node01.axis.label-bg"/>
            <p:cNvSpPr/>
            <p:nvPr/>
          </p:nvSpPr>
          <p:spPr>
            <a:xfrm>
              <a:off x="6781800" y="5486400"/>
              <a:ext cx="2286000" cy="139700"/>
            </a:xfrm>
            <a:prstGeom prst="rect">
              <a:avLst/>
            </a:prstGeom>
            <a:solidFill>
              <a:srgbClr val="FFFFFF"/>
            </a:solidFill>
            <a:ln>
              <a:noFill/>
            </a:ln>
          </p:spPr>
        </p:sp>
        <p:sp>
          <p:nvSpPr>
            <p:cNvPr id="18" name="node01.axis.label"/>
            <p:cNvSpPr/>
            <p:nvPr/>
          </p:nvSpPr>
          <p:spPr>
            <a:xfrm>
              <a:off x="6781800" y="5486400"/>
              <a:ext cx="2286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MATURITY</a:t>
              </a:r>
              <a:endParaRPr lang="en-US" sz="800" spc="48" kern="0" b="0" i="0" dirty="0">
                <a:solidFill>
                  <a:srgbClr val="070154"/>
                </a:solidFill>
                <a:latin typeface="IBM Plex Mono SemiBold"/>
                <a:ea typeface="IBM Plex Mono SemiBold"/>
                <a:cs typeface="IBM Plex Mono SemiBold"/>
              </a:endParaRPr>
            </a:p>
          </p:txBody>
        </p:sp>
        <p:sp>
          <p:nvSpPr>
            <p:cNvPr id="19" name="node01.stages.source-001.circle"/>
            <p:cNvSpPr/>
            <p:nvPr/>
          </p:nvSpPr>
          <p:spPr>
            <a:xfrm>
              <a:off x="4699000" y="4862700"/>
              <a:ext cx="279400" cy="279400"/>
            </a:xfrm>
            <a:prstGeom prst="ellipse">
              <a:avLst/>
            </a:prstGeom>
            <a:solidFill>
              <a:srgbClr val="FFFFFF"/>
            </a:solidFill>
            <a:ln w="25400">
              <a:solidFill>
                <a:srgbClr val="070154"/>
              </a:solidFill>
              <a:prstDash val="solid"/>
            </a:ln>
          </p:spPr>
        </p:sp>
        <p:sp>
          <p:nvSpPr>
            <p:cNvPr id="20" name="node01.stages.source-001.number"/>
            <p:cNvSpPr/>
            <p:nvPr/>
          </p:nvSpPr>
          <p:spPr>
            <a:xfrm>
              <a:off x="4711700" y="485000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1.tick"/>
            <p:cNvSpPr/>
            <p:nvPr/>
          </p:nvSpPr>
          <p:spPr>
            <a:xfrm>
              <a:off x="4832350" y="4621400"/>
              <a:ext cx="12700" cy="228600"/>
            </a:xfrm>
            <a:prstGeom prst="rect">
              <a:avLst/>
            </a:prstGeom>
            <a:solidFill>
              <a:srgbClr val="070154"/>
            </a:solidFill>
            <a:ln>
              <a:noFill/>
            </a:ln>
          </p:spPr>
        </p:sp>
        <p:sp>
          <p:nvSpPr>
            <p:cNvPr id="22" name="node01.stages.source-001.label"/>
            <p:cNvSpPr/>
            <p:nvPr/>
          </p:nvSpPr>
          <p:spPr>
            <a:xfrm>
              <a:off x="4686300" y="4189600"/>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SemiBold"/>
                  <a:ea typeface="IBM Plex Mono SemiBold"/>
                  <a:cs typeface="IBM Plex Mono SemiBold"/>
                </a:rPr>
                <a:t>AD HOC</a:t>
              </a:r>
              <a:endParaRPr lang="en-US" sz="800" spc="48" kern="0" b="0" i="0" dirty="0">
                <a:solidFill>
                  <a:srgbClr val="0047FF"/>
                </a:solidFill>
                <a:latin typeface="IBM Plex Mono SemiBold"/>
                <a:ea typeface="IBM Plex Mono SemiBold"/>
                <a:cs typeface="IBM Plex Mono SemiBold"/>
              </a:endParaRPr>
            </a:p>
          </p:txBody>
        </p:sp>
        <p:sp>
          <p:nvSpPr>
            <p:cNvPr id="23" name="node01.stages.source-001.text"/>
            <p:cNvSpPr/>
            <p:nvPr/>
          </p:nvSpPr>
          <p:spPr>
            <a:xfrm>
              <a:off x="4686300" y="43801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Varies by person.</a:t>
              </a:r>
              <a:endParaRPr lang="en-US" sz="1100" spc="0" kern="0" b="0" i="0" dirty="0">
                <a:solidFill>
                  <a:srgbClr val="070154"/>
                </a:solidFill>
                <a:latin typeface="IBM Plex Sans"/>
                <a:ea typeface="IBM Plex Sans"/>
                <a:cs typeface="IBM Plex Sans"/>
              </a:endParaRPr>
            </a:p>
          </p:txBody>
        </p:sp>
        <p:sp>
          <p:nvSpPr>
            <p:cNvPr id="24" name="node01.stages.source-002.circle"/>
            <p:cNvSpPr/>
            <p:nvPr/>
          </p:nvSpPr>
          <p:spPr>
            <a:xfrm>
              <a:off x="6687820" y="4669539"/>
              <a:ext cx="279400" cy="279400"/>
            </a:xfrm>
            <a:prstGeom prst="ellipse">
              <a:avLst/>
            </a:prstGeom>
            <a:solidFill>
              <a:srgbClr val="070154"/>
            </a:solidFill>
            <a:ln w="25400">
              <a:solidFill>
                <a:srgbClr val="070154"/>
              </a:solidFill>
              <a:prstDash val="solid"/>
            </a:ln>
          </p:spPr>
        </p:sp>
        <p:sp>
          <p:nvSpPr>
            <p:cNvPr id="25" name="node01.stages.source-002.number"/>
            <p:cNvSpPr/>
            <p:nvPr/>
          </p:nvSpPr>
          <p:spPr>
            <a:xfrm>
              <a:off x="6700520" y="4656839"/>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FFFFFF"/>
                  </a:solidFill>
                  <a:latin typeface="IBM Plex Mono SemiBold"/>
                  <a:ea typeface="IBM Plex Mono SemiBold"/>
                  <a:cs typeface="IBM Plex Mono SemiBold"/>
                </a:rPr>
                <a:t>2</a:t>
              </a:r>
              <a:endParaRPr lang="en-US" sz="1100" spc="0" kern="0" b="0" i="0" dirty="0">
                <a:solidFill>
                  <a:srgbClr val="FFFFFF"/>
                </a:solidFill>
                <a:latin typeface="IBM Plex Mono SemiBold"/>
                <a:ea typeface="IBM Plex Mono SemiBold"/>
                <a:cs typeface="IBM Plex Mono SemiBold"/>
              </a:endParaRPr>
            </a:p>
          </p:txBody>
        </p:sp>
        <p:sp>
          <p:nvSpPr>
            <p:cNvPr id="26" name="node01.stages.source-002.tick"/>
            <p:cNvSpPr/>
            <p:nvPr/>
          </p:nvSpPr>
          <p:spPr>
            <a:xfrm>
              <a:off x="6821170" y="4428239"/>
              <a:ext cx="12700" cy="228600"/>
            </a:xfrm>
            <a:prstGeom prst="rect">
              <a:avLst/>
            </a:prstGeom>
            <a:solidFill>
              <a:srgbClr val="070154"/>
            </a:solidFill>
            <a:ln>
              <a:noFill/>
            </a:ln>
          </p:spPr>
        </p:sp>
        <p:sp>
          <p:nvSpPr>
            <p:cNvPr id="27" name="node01.stages.source-002.label"/>
            <p:cNvSpPr/>
            <p:nvPr/>
          </p:nvSpPr>
          <p:spPr>
            <a:xfrm>
              <a:off x="6675120" y="3996439"/>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SemiBold"/>
                  <a:ea typeface="IBM Plex Mono SemiBold"/>
                  <a:cs typeface="IBM Plex Mono SemiBold"/>
                </a:rPr>
                <a:t>DEFINED</a:t>
              </a:r>
              <a:endParaRPr lang="en-US" sz="800" spc="48" kern="0" b="0" i="0" dirty="0">
                <a:solidFill>
                  <a:srgbClr val="0047FF"/>
                </a:solidFill>
                <a:latin typeface="IBM Plex Mono SemiBold"/>
                <a:ea typeface="IBM Plex Mono SemiBold"/>
                <a:cs typeface="IBM Plex Mono SemiBold"/>
              </a:endParaRPr>
            </a:p>
          </p:txBody>
        </p:sp>
        <p:sp>
          <p:nvSpPr>
            <p:cNvPr id="28" name="node01.stages.source-002.text"/>
            <p:cNvSpPr/>
            <p:nvPr/>
          </p:nvSpPr>
          <p:spPr>
            <a:xfrm>
              <a:off x="6675120" y="4186939"/>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Written standards.</a:t>
              </a:r>
              <a:endParaRPr lang="en-US" sz="1100" spc="0" kern="0" b="0" i="0" dirty="0">
                <a:solidFill>
                  <a:srgbClr val="070154"/>
                </a:solidFill>
                <a:latin typeface="IBM Plex Sans"/>
                <a:ea typeface="IBM Plex Sans"/>
                <a:cs typeface="IBM Plex Sans"/>
              </a:endParaRPr>
            </a:p>
          </p:txBody>
        </p:sp>
        <p:sp>
          <p:nvSpPr>
            <p:cNvPr id="29" name="node01.stages.source-003.circle"/>
            <p:cNvSpPr/>
            <p:nvPr/>
          </p:nvSpPr>
          <p:spPr>
            <a:xfrm>
              <a:off x="8470900" y="4126350"/>
              <a:ext cx="279400" cy="279400"/>
            </a:xfrm>
            <a:prstGeom prst="ellipse">
              <a:avLst/>
            </a:prstGeom>
            <a:solidFill>
              <a:srgbClr val="FFFFFF"/>
            </a:solidFill>
            <a:ln w="25400">
              <a:solidFill>
                <a:srgbClr val="070154"/>
              </a:solidFill>
              <a:prstDash val="solid"/>
            </a:ln>
          </p:spPr>
        </p:sp>
        <p:sp>
          <p:nvSpPr>
            <p:cNvPr id="30" name="node01.stages.source-003.number"/>
            <p:cNvSpPr/>
            <p:nvPr/>
          </p:nvSpPr>
          <p:spPr>
            <a:xfrm>
              <a:off x="8483600" y="411365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31" name="node01.stages.source-003.tick"/>
            <p:cNvSpPr/>
            <p:nvPr/>
          </p:nvSpPr>
          <p:spPr>
            <a:xfrm>
              <a:off x="8604250" y="3377050"/>
              <a:ext cx="12700" cy="736600"/>
            </a:xfrm>
            <a:prstGeom prst="rect">
              <a:avLst/>
            </a:prstGeom>
            <a:solidFill>
              <a:srgbClr val="070154"/>
            </a:solidFill>
            <a:ln>
              <a:noFill/>
            </a:ln>
          </p:spPr>
        </p:sp>
        <p:sp>
          <p:nvSpPr>
            <p:cNvPr id="32" name="node01.stages.source-003.label"/>
            <p:cNvSpPr/>
            <p:nvPr/>
          </p:nvSpPr>
          <p:spPr>
            <a:xfrm>
              <a:off x="7747000" y="2945250"/>
              <a:ext cx="1371600" cy="139700"/>
            </a:xfrm>
            <a:prstGeom prst="rect">
              <a:avLst/>
            </a:prstGeom>
            <a:noFill/>
            <a:ln/>
          </p:spPr>
          <p:txBody>
            <a:bodyPr wrap="square" lIns="0" tIns="0" rIns="0" bIns="0" rtlCol="0" anchor="t"/>
            <a:lstStyle/>
            <a:p>
              <a:pPr algn="r" indent="0" marL="0">
                <a:lnSpc>
                  <a:spcPts val="1100"/>
                </a:lnSpc>
                <a:buNone/>
              </a:pPr>
              <a:r>
                <a:rPr lang="en-US" sz="800" spc="48" kern="0" b="0" i="0" dirty="0">
                  <a:solidFill>
                    <a:srgbClr val="0047FF"/>
                  </a:solidFill>
                  <a:latin typeface="IBM Plex Mono SemiBold"/>
                  <a:ea typeface="IBM Plex Mono SemiBold"/>
                  <a:cs typeface="IBM Plex Mono SemiBold"/>
                </a:rPr>
                <a:t>MANAGED</a:t>
              </a:r>
              <a:endParaRPr lang="en-US" sz="800" spc="48" kern="0" b="0" i="0" dirty="0">
                <a:solidFill>
                  <a:srgbClr val="0047FF"/>
                </a:solidFill>
                <a:latin typeface="IBM Plex Mono SemiBold"/>
                <a:ea typeface="IBM Plex Mono SemiBold"/>
                <a:cs typeface="IBM Plex Mono SemiBold"/>
              </a:endParaRPr>
            </a:p>
          </p:txBody>
        </p:sp>
        <p:sp>
          <p:nvSpPr>
            <p:cNvPr id="33" name="node01.stages.source-003.text"/>
            <p:cNvSpPr/>
            <p:nvPr/>
          </p:nvSpPr>
          <p:spPr>
            <a:xfrm>
              <a:off x="7747000" y="3135750"/>
              <a:ext cx="1371600" cy="190500"/>
            </a:xfrm>
            <a:prstGeom prst="rect">
              <a:avLst/>
            </a:prstGeom>
            <a:noFill/>
            <a:ln/>
          </p:spPr>
          <p:txBody>
            <a:bodyPr wrap="square" lIns="0" tIns="0" rIns="0" bIns="0" rtlCol="0" anchor="t"/>
            <a:lstStyle/>
            <a:p>
              <a:pPr algn="r" indent="0" marL="0">
                <a:lnSpc>
                  <a:spcPts val="1500"/>
                </a:lnSpc>
                <a:buNone/>
              </a:pPr>
              <a:r>
                <a:rPr lang="en-US" sz="1100" spc="0" kern="0" b="0" i="0" dirty="0">
                  <a:solidFill>
                    <a:srgbClr val="070154"/>
                  </a:solidFill>
                  <a:latin typeface="IBM Plex Sans"/>
                  <a:ea typeface="IBM Plex Sans"/>
                  <a:cs typeface="IBM Plex Sans"/>
                </a:rPr>
                <a:t>Measured results.</a:t>
              </a:r>
              <a:endParaRPr lang="en-US" sz="1100" spc="0" kern="0" b="0" i="0" dirty="0">
                <a:solidFill>
                  <a:srgbClr val="070154"/>
                </a:solidFill>
                <a:latin typeface="IBM Plex Sans"/>
                <a:ea typeface="IBM Plex Sans"/>
                <a:cs typeface="IBM Plex Sans"/>
              </a:endParaRPr>
            </a:p>
          </p:txBody>
        </p:sp>
        <p:sp>
          <p:nvSpPr>
            <p:cNvPr id="34" name="node01.stages.source-004.circle"/>
            <p:cNvSpPr/>
            <p:nvPr/>
          </p:nvSpPr>
          <p:spPr>
            <a:xfrm>
              <a:off x="10116820" y="2703815"/>
              <a:ext cx="279400" cy="279400"/>
            </a:xfrm>
            <a:prstGeom prst="ellipse">
              <a:avLst/>
            </a:prstGeom>
            <a:solidFill>
              <a:srgbClr val="FFFFFF"/>
            </a:solidFill>
            <a:ln w="25400">
              <a:solidFill>
                <a:srgbClr val="070154"/>
              </a:solidFill>
              <a:prstDash val="solid"/>
            </a:ln>
          </p:spPr>
        </p:sp>
        <p:sp>
          <p:nvSpPr>
            <p:cNvPr id="35" name="node01.stages.source-004.number"/>
            <p:cNvSpPr/>
            <p:nvPr/>
          </p:nvSpPr>
          <p:spPr>
            <a:xfrm>
              <a:off x="10129520" y="2691115"/>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6" name="node01.stages.source-004.tick"/>
            <p:cNvSpPr/>
            <p:nvPr/>
          </p:nvSpPr>
          <p:spPr>
            <a:xfrm>
              <a:off x="10250170" y="1954515"/>
              <a:ext cx="12700" cy="736600"/>
            </a:xfrm>
            <a:prstGeom prst="rect">
              <a:avLst/>
            </a:prstGeom>
            <a:solidFill>
              <a:srgbClr val="070154"/>
            </a:solidFill>
            <a:ln>
              <a:noFill/>
            </a:ln>
          </p:spPr>
        </p:sp>
        <p:sp>
          <p:nvSpPr>
            <p:cNvPr id="37" name="node01.stages.source-004.label"/>
            <p:cNvSpPr/>
            <p:nvPr/>
          </p:nvSpPr>
          <p:spPr>
            <a:xfrm>
              <a:off x="9392920" y="1522715"/>
              <a:ext cx="1371600" cy="139700"/>
            </a:xfrm>
            <a:prstGeom prst="rect">
              <a:avLst/>
            </a:prstGeom>
            <a:noFill/>
            <a:ln/>
          </p:spPr>
          <p:txBody>
            <a:bodyPr wrap="square" lIns="0" tIns="0" rIns="0" bIns="0" rtlCol="0" anchor="t"/>
            <a:lstStyle/>
            <a:p>
              <a:pPr algn="r" indent="0" marL="0">
                <a:lnSpc>
                  <a:spcPts val="1100"/>
                </a:lnSpc>
                <a:buNone/>
              </a:pPr>
              <a:r>
                <a:rPr lang="en-US" sz="800" spc="48" kern="0" b="0" i="0" dirty="0">
                  <a:solidFill>
                    <a:srgbClr val="0047FF"/>
                  </a:solidFill>
                  <a:latin typeface="IBM Plex Mono SemiBold"/>
                  <a:ea typeface="IBM Plex Mono SemiBold"/>
                  <a:cs typeface="IBM Plex Mono SemiBold"/>
                </a:rPr>
                <a:t>OPTIMIZED</a:t>
              </a:r>
              <a:endParaRPr lang="en-US" sz="800" spc="48" kern="0" b="0" i="0" dirty="0">
                <a:solidFill>
                  <a:srgbClr val="0047FF"/>
                </a:solidFill>
                <a:latin typeface="IBM Plex Mono SemiBold"/>
                <a:ea typeface="IBM Plex Mono SemiBold"/>
                <a:cs typeface="IBM Plex Mono SemiBold"/>
              </a:endParaRPr>
            </a:p>
          </p:txBody>
        </p:sp>
        <p:sp>
          <p:nvSpPr>
            <p:cNvPr id="38" name="node01.stages.source-004.text"/>
            <p:cNvSpPr/>
            <p:nvPr/>
          </p:nvSpPr>
          <p:spPr>
            <a:xfrm>
              <a:off x="9392920" y="1713215"/>
              <a:ext cx="1371600" cy="190500"/>
            </a:xfrm>
            <a:prstGeom prst="rect">
              <a:avLst/>
            </a:prstGeom>
            <a:noFill/>
            <a:ln/>
          </p:spPr>
          <p:txBody>
            <a:bodyPr wrap="square" lIns="0" tIns="0" rIns="0" bIns="0" rtlCol="0" anchor="t"/>
            <a:lstStyle/>
            <a:p>
              <a:pPr algn="r" indent="0" marL="0">
                <a:lnSpc>
                  <a:spcPts val="1500"/>
                </a:lnSpc>
                <a:buNone/>
              </a:pPr>
              <a:r>
                <a:rPr lang="en-US" sz="1100" spc="0" kern="0" b="0" i="0" dirty="0">
                  <a:solidFill>
                    <a:srgbClr val="070154"/>
                  </a:solidFill>
                  <a:latin typeface="IBM Plex Sans"/>
                  <a:ea typeface="IBM Plex Sans"/>
                  <a:cs typeface="IBM Plex Sans"/>
                </a:rPr>
                <a:t>Shared learning.</a:t>
              </a:r>
              <a:endParaRPr lang="en-US" sz="1100" spc="0" kern="0" b="0" i="0" dirty="0">
                <a:solidFill>
                  <a:srgbClr val="070154"/>
                </a:solidFill>
                <a:latin typeface="IBM Plex Sans"/>
                <a:ea typeface="IBM Plex Sans"/>
                <a:cs typeface="IBM Plex Sans"/>
              </a:endParaRPr>
            </a:p>
          </p:txBody>
        </p:sp>
      </p:grpSp>
      <p:grpSp>
        <p:nvGrpSpPr>
          <p:cNvPr id="48" name="node02"/>
          <p:cNvGrpSpPr/>
          <p:nvPr/>
        </p:nvGrpSpPr>
        <p:grpSpPr>
          <a:xfrm>
            <a:off x="723900" y="2514600"/>
            <a:ext cx="3429000" cy="266700"/>
            <a:chOff x="723900" y="2514600"/>
            <a:chExt cx="3429000" cy="266700"/>
          </a:xfrm>
        </p:grpSpPr>
        <p:sp>
          <p:nvSpPr>
            <p:cNvPr id="39" name="node02.text"/>
            <p:cNvSpPr/>
            <p:nvPr/>
          </p:nvSpPr>
          <p:spPr>
            <a:xfrm>
              <a:off x="723900" y="25146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How to read it</a:t>
              </a:r>
              <a:endParaRPr lang="en-US" sz="1600" spc="-16" kern="0" b="0" i="0" dirty="0">
                <a:solidFill>
                  <a:srgbClr val="070154"/>
                </a:solidFill>
                <a:latin typeface="IBM Plex Sans SemiBold"/>
                <a:ea typeface="IBM Plex Sans SemiBold"/>
                <a:cs typeface="IBM Plex Sans SemiBold"/>
              </a:endParaRPr>
            </a:p>
          </p:txBody>
        </p:sp>
      </p:grpSp>
      <p:grpSp>
        <p:nvGrpSpPr>
          <p:cNvPr id="49" name="node03"/>
          <p:cNvGrpSpPr/>
          <p:nvPr/>
        </p:nvGrpSpPr>
        <p:grpSpPr>
          <a:xfrm>
            <a:off x="723900" y="2971800"/>
            <a:ext cx="3429000" cy="431800"/>
            <a:chOff x="723900" y="2971800"/>
            <a:chExt cx="3429000" cy="431800"/>
          </a:xfrm>
        </p:grpSpPr>
        <p:sp>
          <p:nvSpPr>
            <p:cNvPr id="40" name="node03.text"/>
            <p:cNvSpPr/>
            <p:nvPr/>
          </p:nvSpPr>
          <p:spPr>
            <a:xfrm>
              <a:off x="723900" y="2971800"/>
              <a:ext cx="3429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The curve stays flat while teams build habits, then rises once the practice is shared.</a:t>
              </a:r>
              <a:endParaRPr lang="en-US" sz="1200" spc="0" kern="0" b="0" i="0" dirty="0">
                <a:solidFill>
                  <a:srgbClr val="070154"/>
                </a:solidFill>
                <a:latin typeface="IBM Plex Sans"/>
                <a:ea typeface="IBM Plex Sans"/>
                <a:cs typeface="IBM Plex Sans"/>
              </a:endParaRPr>
            </a:p>
          </p:txBody>
        </p:sp>
      </p:grpSp>
      <p:grpSp>
        <p:nvGrpSpPr>
          <p:cNvPr id="50" name="node04"/>
          <p:cNvGrpSpPr/>
          <p:nvPr/>
        </p:nvGrpSpPr>
        <p:grpSpPr>
          <a:xfrm>
            <a:off x="723900" y="3886200"/>
            <a:ext cx="3429000" cy="723900"/>
            <a:chOff x="723900" y="3886200"/>
            <a:chExt cx="3429000" cy="723900"/>
          </a:xfrm>
        </p:grpSpPr>
        <p:sp>
          <p:nvSpPr>
            <p:cNvPr id="41" name="node04.source-001.bullet"/>
            <p:cNvSpPr/>
            <p:nvPr/>
          </p:nvSpPr>
          <p:spPr>
            <a:xfrm>
              <a:off x="723900" y="3975100"/>
              <a:ext cx="38100" cy="38100"/>
            </a:xfrm>
            <a:prstGeom prst="rect">
              <a:avLst/>
            </a:prstGeom>
            <a:solidFill>
              <a:srgbClr val="070154"/>
            </a:solidFill>
            <a:ln>
              <a:noFill/>
            </a:ln>
          </p:spPr>
        </p:sp>
        <p:sp>
          <p:nvSpPr>
            <p:cNvPr id="42" name="node04.source-001.text"/>
            <p:cNvSpPr/>
            <p:nvPr/>
          </p:nvSpPr>
          <p:spPr>
            <a:xfrm>
              <a:off x="876300" y="3886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Early stages cost effort and show little</a:t>
              </a:r>
              <a:endParaRPr lang="en-US" sz="1200" spc="0" kern="0" b="0" i="0" dirty="0">
                <a:solidFill>
                  <a:srgbClr val="070154"/>
                </a:solidFill>
                <a:latin typeface="IBM Plex Sans"/>
                <a:ea typeface="IBM Plex Sans"/>
                <a:cs typeface="IBM Plex Sans"/>
              </a:endParaRPr>
            </a:p>
          </p:txBody>
        </p:sp>
        <p:sp>
          <p:nvSpPr>
            <p:cNvPr id="43" name="node04.source-002.bullet"/>
            <p:cNvSpPr/>
            <p:nvPr/>
          </p:nvSpPr>
          <p:spPr>
            <a:xfrm>
              <a:off x="723900" y="4229100"/>
              <a:ext cx="38100" cy="38100"/>
            </a:xfrm>
            <a:prstGeom prst="rect">
              <a:avLst/>
            </a:prstGeom>
            <a:solidFill>
              <a:srgbClr val="070154"/>
            </a:solidFill>
            <a:ln>
              <a:noFill/>
            </a:ln>
          </p:spPr>
        </p:sp>
        <p:sp>
          <p:nvSpPr>
            <p:cNvPr id="44" name="node04.source-002.text"/>
            <p:cNvSpPr/>
            <p:nvPr/>
          </p:nvSpPr>
          <p:spPr>
            <a:xfrm>
              <a:off x="876300" y="4140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Stage three is the inflection</a:t>
              </a:r>
              <a:endParaRPr lang="en-US" sz="1200" spc="0" kern="0" b="0" i="0" dirty="0">
                <a:solidFill>
                  <a:srgbClr val="070154"/>
                </a:solidFill>
                <a:latin typeface="IBM Plex Sans"/>
                <a:ea typeface="IBM Plex Sans"/>
                <a:cs typeface="IBM Plex Sans"/>
              </a:endParaRPr>
            </a:p>
          </p:txBody>
        </p:sp>
        <p:sp>
          <p:nvSpPr>
            <p:cNvPr id="45" name="node04.source-003.bullet"/>
            <p:cNvSpPr/>
            <p:nvPr/>
          </p:nvSpPr>
          <p:spPr>
            <a:xfrm>
              <a:off x="723900" y="4483100"/>
              <a:ext cx="38100" cy="38100"/>
            </a:xfrm>
            <a:prstGeom prst="rect">
              <a:avLst/>
            </a:prstGeom>
            <a:solidFill>
              <a:srgbClr val="070154"/>
            </a:solidFill>
            <a:ln>
              <a:noFill/>
            </a:ln>
          </p:spPr>
        </p:sp>
        <p:sp>
          <p:nvSpPr>
            <p:cNvPr id="46" name="node04.source-003.text"/>
            <p:cNvSpPr/>
            <p:nvPr/>
          </p:nvSpPr>
          <p:spPr>
            <a:xfrm>
              <a:off x="876300" y="4394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Northfield is at stage two today</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ource-295">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AI-NATIVE PDLC</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Maturity has two axes: how wide and how deep</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118</a:t>
            </a:fld>
            <a:endParaRPr lang="en-US" sz="700" spc="0" kern="0" b="0" i="0" dirty="0">
              <a:solidFill>
                <a:srgbClr val="070154"/>
              </a:solidFill>
              <a:latin typeface="IBM Plex Mono SemiBold"/>
              <a:ea typeface="IBM Plex Mono SemiBold"/>
              <a:cs typeface="IBM Plex Mono SemiBold"/>
            </a:endParaRPr>
          </a:p>
        </p:txBody>
      </p:sp>
      <p:grpSp>
        <p:nvGrpSpPr>
          <p:cNvPr id="46" name="node01"/>
          <p:cNvGrpSpPr/>
          <p:nvPr/>
        </p:nvGrpSpPr>
        <p:grpSpPr>
          <a:xfrm>
            <a:off x="4381500" y="457200"/>
            <a:ext cx="7086600" cy="139700"/>
            <a:chOff x="4381500" y="457200"/>
            <a:chExt cx="7086600" cy="139700"/>
          </a:xfrm>
        </p:grpSpPr>
        <p:sp>
          <p:nvSpPr>
            <p:cNvPr id="6" name="node01.text"/>
            <p:cNvSpPr/>
            <p:nvPr/>
          </p:nvSpPr>
          <p:spPr>
            <a:xfrm>
              <a:off x="4381500" y="4572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DEPTH OF INTEGRATION</a:t>
              </a:r>
              <a:endParaRPr lang="en-US" sz="800" spc="48" kern="0" b="0" i="0" dirty="0">
                <a:solidFill>
                  <a:srgbClr val="50658E"/>
                </a:solidFill>
                <a:latin typeface="IBM Plex Mono Medium"/>
                <a:ea typeface="IBM Plex Mono Medium"/>
                <a:cs typeface="IBM Plex Mono Medium"/>
              </a:endParaRPr>
            </a:p>
          </p:txBody>
        </p:sp>
      </p:grpSp>
      <p:grpSp>
        <p:nvGrpSpPr>
          <p:cNvPr id="47" name="node02"/>
          <p:cNvGrpSpPr/>
          <p:nvPr/>
        </p:nvGrpSpPr>
        <p:grpSpPr>
          <a:xfrm>
            <a:off x="4381500" y="762000"/>
            <a:ext cx="7086600" cy="4114800"/>
            <a:chOff x="4381500" y="762000"/>
            <a:chExt cx="7086600" cy="4114800"/>
          </a:xfrm>
        </p:grpSpPr>
        <p:sp>
          <p:nvSpPr>
            <p:cNvPr id="7" name="node02.cols.slot-001"/>
            <p:cNvSpPr/>
            <p:nvPr/>
          </p:nvSpPr>
          <p:spPr>
            <a:xfrm>
              <a:off x="6210300" y="762000"/>
              <a:ext cx="1676400"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SemiBold"/>
                  <a:ea typeface="IBM Plex Mono SemiBold"/>
                  <a:cs typeface="IBM Plex Mono SemiBold"/>
                </a:rPr>
                <a:t>PRODUCT TEAMS</a:t>
              </a:r>
              <a:endParaRPr lang="en-US" sz="800" spc="48" kern="0" b="0" i="0" dirty="0">
                <a:solidFill>
                  <a:srgbClr val="50658E"/>
                </a:solidFill>
                <a:latin typeface="IBM Plex Mono SemiBold"/>
                <a:ea typeface="IBM Plex Mono SemiBold"/>
                <a:cs typeface="IBM Plex Mono SemiBold"/>
              </a:endParaRPr>
            </a:p>
          </p:txBody>
        </p:sp>
        <p:sp>
          <p:nvSpPr>
            <p:cNvPr id="8" name="node02.cols.slot-002"/>
            <p:cNvSpPr/>
            <p:nvPr/>
          </p:nvSpPr>
          <p:spPr>
            <a:xfrm>
              <a:off x="8001000" y="762000"/>
              <a:ext cx="1676400"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SemiBold"/>
                  <a:ea typeface="IBM Plex Mono SemiBold"/>
                  <a:cs typeface="IBM Plex Mono SemiBold"/>
                </a:rPr>
                <a:t>ENGINEERING AND SRE</a:t>
              </a:r>
              <a:endParaRPr lang="en-US" sz="800" spc="48" kern="0" b="0" i="0" dirty="0">
                <a:solidFill>
                  <a:srgbClr val="50658E"/>
                </a:solidFill>
                <a:latin typeface="IBM Plex Mono SemiBold"/>
                <a:ea typeface="IBM Plex Mono SemiBold"/>
                <a:cs typeface="IBM Plex Mono SemiBold"/>
              </a:endParaRPr>
            </a:p>
          </p:txBody>
        </p:sp>
        <p:sp>
          <p:nvSpPr>
            <p:cNvPr id="9" name="node02.cols.slot-003"/>
            <p:cNvSpPr/>
            <p:nvPr/>
          </p:nvSpPr>
          <p:spPr>
            <a:xfrm>
              <a:off x="9791700" y="762000"/>
              <a:ext cx="1676400"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SemiBold"/>
                  <a:ea typeface="IBM Plex Mono SemiBold"/>
                  <a:cs typeface="IBM Plex Mono SemiBold"/>
                </a:rPr>
                <a:t>WIDER ORGANIZATION</a:t>
              </a:r>
              <a:endParaRPr lang="en-US" sz="800" spc="48" kern="0" b="0" i="0" dirty="0">
                <a:solidFill>
                  <a:srgbClr val="50658E"/>
                </a:solidFill>
                <a:latin typeface="IBM Plex Mono SemiBold"/>
                <a:ea typeface="IBM Plex Mono SemiBold"/>
                <a:cs typeface="IBM Plex Mono SemiBold"/>
              </a:endParaRPr>
            </a:p>
          </p:txBody>
        </p:sp>
        <p:sp>
          <p:nvSpPr>
            <p:cNvPr id="10" name="node02.rows.slot-001.label"/>
            <p:cNvSpPr/>
            <p:nvPr/>
          </p:nvSpPr>
          <p:spPr>
            <a:xfrm>
              <a:off x="4381500" y="1263650"/>
              <a:ext cx="1676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5  SELF-IMPROVING</a:t>
              </a:r>
              <a:endParaRPr lang="en-US" sz="800" spc="48" kern="0" b="0" i="0" dirty="0">
                <a:solidFill>
                  <a:srgbClr val="070154"/>
                </a:solidFill>
                <a:latin typeface="IBM Plex Mono SemiBold"/>
                <a:ea typeface="IBM Plex Mono SemiBold"/>
                <a:cs typeface="IBM Plex Mono SemiBold"/>
              </a:endParaRPr>
            </a:p>
          </p:txBody>
        </p:sp>
        <p:sp>
          <p:nvSpPr>
            <p:cNvPr id="11" name="node02.rows.slot-001.cells.slot-001.surface"/>
            <p:cNvSpPr/>
            <p:nvPr/>
          </p:nvSpPr>
          <p:spPr>
            <a:xfrm>
              <a:off x="6216650" y="996950"/>
              <a:ext cx="1663700" cy="673100"/>
            </a:xfrm>
            <a:prstGeom prst="rect">
              <a:avLst/>
            </a:prstGeom>
            <a:solidFill>
              <a:srgbClr val="FFFFFF"/>
            </a:solidFill>
            <a:ln w="12700">
              <a:solidFill>
                <a:srgbClr val="CED7E6"/>
              </a:solidFill>
              <a:prstDash val="solid"/>
            </a:ln>
          </p:spPr>
        </p:sp>
        <p:sp>
          <p:nvSpPr>
            <p:cNvPr id="12" name="node02.rows.slot-001.cells.slot-002.surface"/>
            <p:cNvSpPr/>
            <p:nvPr/>
          </p:nvSpPr>
          <p:spPr>
            <a:xfrm>
              <a:off x="8007350" y="996950"/>
              <a:ext cx="1663700" cy="673100"/>
            </a:xfrm>
            <a:prstGeom prst="rect">
              <a:avLst/>
            </a:prstGeom>
            <a:solidFill>
              <a:srgbClr val="FFFFFF"/>
            </a:solidFill>
            <a:ln w="12700">
              <a:solidFill>
                <a:srgbClr val="CED7E6"/>
              </a:solidFill>
              <a:prstDash val="solid"/>
            </a:ln>
          </p:spPr>
        </p:sp>
        <p:sp>
          <p:nvSpPr>
            <p:cNvPr id="13" name="node02.rows.slot-001.cells.slot-003.surface"/>
            <p:cNvSpPr/>
            <p:nvPr/>
          </p:nvSpPr>
          <p:spPr>
            <a:xfrm>
              <a:off x="9798050" y="996950"/>
              <a:ext cx="1663700" cy="673100"/>
            </a:xfrm>
            <a:prstGeom prst="rect">
              <a:avLst/>
            </a:prstGeom>
            <a:solidFill>
              <a:srgbClr val="FFFFFF"/>
            </a:solidFill>
            <a:ln w="12700">
              <a:solidFill>
                <a:srgbClr val="CED7E6"/>
              </a:solidFill>
              <a:prstDash val="solid"/>
            </a:ln>
          </p:spPr>
        </p:sp>
        <p:sp>
          <p:nvSpPr>
            <p:cNvPr id="14" name="node02.rows.slot-002.label"/>
            <p:cNvSpPr/>
            <p:nvPr/>
          </p:nvSpPr>
          <p:spPr>
            <a:xfrm>
              <a:off x="4381500" y="2063750"/>
              <a:ext cx="1676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4  INTEGRATED FLOW</a:t>
              </a:r>
              <a:endParaRPr lang="en-US" sz="800" spc="48" kern="0" b="0" i="0" dirty="0">
                <a:solidFill>
                  <a:srgbClr val="070154"/>
                </a:solidFill>
                <a:latin typeface="IBM Plex Mono SemiBold"/>
                <a:ea typeface="IBM Plex Mono SemiBold"/>
                <a:cs typeface="IBM Plex Mono SemiBold"/>
              </a:endParaRPr>
            </a:p>
          </p:txBody>
        </p:sp>
        <p:sp>
          <p:nvSpPr>
            <p:cNvPr id="15" name="node02.rows.slot-002.cells.slot-001.surface"/>
            <p:cNvSpPr/>
            <p:nvPr/>
          </p:nvSpPr>
          <p:spPr>
            <a:xfrm>
              <a:off x="6210300" y="1790700"/>
              <a:ext cx="1676400" cy="685800"/>
            </a:xfrm>
            <a:prstGeom prst="rect">
              <a:avLst/>
            </a:prstGeom>
            <a:solidFill>
              <a:srgbClr val="070154"/>
            </a:solidFill>
            <a:ln>
              <a:noFill/>
            </a:ln>
          </p:spPr>
        </p:sp>
        <p:sp>
          <p:nvSpPr>
            <p:cNvPr id="16" name="node02.rows.slot-002.cells.slot-001.text"/>
            <p:cNvSpPr/>
            <p:nvPr/>
          </p:nvSpPr>
          <p:spPr>
            <a:xfrm>
              <a:off x="6261100" y="2038350"/>
              <a:ext cx="157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Target</a:t>
              </a:r>
              <a:endParaRPr lang="en-US" sz="1100" spc="0" kern="0" b="0" i="0" dirty="0">
                <a:solidFill>
                  <a:srgbClr val="FFFFFF"/>
                </a:solidFill>
                <a:latin typeface="IBM Plex Sans"/>
                <a:ea typeface="IBM Plex Sans"/>
                <a:cs typeface="IBM Plex Sans"/>
              </a:endParaRPr>
            </a:p>
          </p:txBody>
        </p:sp>
        <p:sp>
          <p:nvSpPr>
            <p:cNvPr id="17" name="node02.rows.slot-002.cells.slot-002.surface"/>
            <p:cNvSpPr/>
            <p:nvPr/>
          </p:nvSpPr>
          <p:spPr>
            <a:xfrm>
              <a:off x="8007350" y="1797050"/>
              <a:ext cx="1663700" cy="673100"/>
            </a:xfrm>
            <a:prstGeom prst="rect">
              <a:avLst/>
            </a:prstGeom>
            <a:solidFill>
              <a:srgbClr val="FFFFFF"/>
            </a:solidFill>
            <a:ln w="12700">
              <a:solidFill>
                <a:srgbClr val="CED7E6"/>
              </a:solidFill>
              <a:prstDash val="solid"/>
            </a:ln>
          </p:spPr>
        </p:sp>
        <p:sp>
          <p:nvSpPr>
            <p:cNvPr id="18" name="node02.rows.slot-002.cells.slot-003.surface"/>
            <p:cNvSpPr/>
            <p:nvPr/>
          </p:nvSpPr>
          <p:spPr>
            <a:xfrm>
              <a:off x="9798050" y="1797050"/>
              <a:ext cx="1663700" cy="673100"/>
            </a:xfrm>
            <a:prstGeom prst="rect">
              <a:avLst/>
            </a:prstGeom>
            <a:solidFill>
              <a:srgbClr val="FFFFFF"/>
            </a:solidFill>
            <a:ln w="12700">
              <a:solidFill>
                <a:srgbClr val="CED7E6"/>
              </a:solidFill>
              <a:prstDash val="solid"/>
            </a:ln>
          </p:spPr>
        </p:sp>
        <p:sp>
          <p:nvSpPr>
            <p:cNvPr id="19" name="node02.rows.slot-003.label"/>
            <p:cNvSpPr/>
            <p:nvPr/>
          </p:nvSpPr>
          <p:spPr>
            <a:xfrm>
              <a:off x="4381500" y="2863850"/>
              <a:ext cx="1676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3  TEAM PRACTICE</a:t>
              </a:r>
              <a:endParaRPr lang="en-US" sz="800" spc="48" kern="0" b="0" i="0" dirty="0">
                <a:solidFill>
                  <a:srgbClr val="070154"/>
                </a:solidFill>
                <a:latin typeface="IBM Plex Mono SemiBold"/>
                <a:ea typeface="IBM Plex Mono SemiBold"/>
                <a:cs typeface="IBM Plex Mono SemiBold"/>
              </a:endParaRPr>
            </a:p>
          </p:txBody>
        </p:sp>
        <p:sp>
          <p:nvSpPr>
            <p:cNvPr id="20" name="node02.rows.slot-003.cells.slot-001.surface"/>
            <p:cNvSpPr/>
            <p:nvPr/>
          </p:nvSpPr>
          <p:spPr>
            <a:xfrm>
              <a:off x="6210300" y="2590800"/>
              <a:ext cx="1676400" cy="685800"/>
            </a:xfrm>
            <a:prstGeom prst="rect">
              <a:avLst/>
            </a:prstGeom>
            <a:solidFill>
              <a:srgbClr val="CED7E6"/>
            </a:solidFill>
            <a:ln>
              <a:noFill/>
            </a:ln>
          </p:spPr>
        </p:sp>
        <p:sp>
          <p:nvSpPr>
            <p:cNvPr id="21" name="node02.rows.slot-003.cells.slot-001.text"/>
            <p:cNvSpPr/>
            <p:nvPr/>
          </p:nvSpPr>
          <p:spPr>
            <a:xfrm>
              <a:off x="6261100" y="2838450"/>
              <a:ext cx="157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Today</a:t>
              </a:r>
              <a:endParaRPr lang="en-US" sz="1100" spc="0" kern="0" b="0" i="0" dirty="0">
                <a:solidFill>
                  <a:srgbClr val="070154"/>
                </a:solidFill>
                <a:latin typeface="IBM Plex Sans"/>
                <a:ea typeface="IBM Plex Sans"/>
                <a:cs typeface="IBM Plex Sans"/>
              </a:endParaRPr>
            </a:p>
          </p:txBody>
        </p:sp>
        <p:sp>
          <p:nvSpPr>
            <p:cNvPr id="22" name="node02.rows.slot-003.cells.slot-002.surface"/>
            <p:cNvSpPr/>
            <p:nvPr/>
          </p:nvSpPr>
          <p:spPr>
            <a:xfrm>
              <a:off x="8001000" y="2590800"/>
              <a:ext cx="1676400" cy="685800"/>
            </a:xfrm>
            <a:prstGeom prst="rect">
              <a:avLst/>
            </a:prstGeom>
            <a:solidFill>
              <a:srgbClr val="070154"/>
            </a:solidFill>
            <a:ln>
              <a:noFill/>
            </a:ln>
          </p:spPr>
        </p:sp>
        <p:sp>
          <p:nvSpPr>
            <p:cNvPr id="23" name="node02.rows.slot-003.cells.slot-002.text"/>
            <p:cNvSpPr/>
            <p:nvPr/>
          </p:nvSpPr>
          <p:spPr>
            <a:xfrm>
              <a:off x="8051800" y="2838450"/>
              <a:ext cx="157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Target</a:t>
              </a:r>
              <a:endParaRPr lang="en-US" sz="1100" spc="0" kern="0" b="0" i="0" dirty="0">
                <a:solidFill>
                  <a:srgbClr val="FFFFFF"/>
                </a:solidFill>
                <a:latin typeface="IBM Plex Sans"/>
                <a:ea typeface="IBM Plex Sans"/>
                <a:cs typeface="IBM Plex Sans"/>
              </a:endParaRPr>
            </a:p>
          </p:txBody>
        </p:sp>
        <p:sp>
          <p:nvSpPr>
            <p:cNvPr id="24" name="node02.rows.slot-003.cells.slot-003.surface"/>
            <p:cNvSpPr/>
            <p:nvPr/>
          </p:nvSpPr>
          <p:spPr>
            <a:xfrm>
              <a:off x="9798050" y="2597150"/>
              <a:ext cx="1663700" cy="673100"/>
            </a:xfrm>
            <a:prstGeom prst="rect">
              <a:avLst/>
            </a:prstGeom>
            <a:solidFill>
              <a:srgbClr val="FFFFFF"/>
            </a:solidFill>
            <a:ln w="12700">
              <a:solidFill>
                <a:srgbClr val="CED7E6"/>
              </a:solidFill>
              <a:prstDash val="solid"/>
            </a:ln>
          </p:spPr>
        </p:sp>
        <p:sp>
          <p:nvSpPr>
            <p:cNvPr id="25" name="node02.rows.slot-004.label"/>
            <p:cNvSpPr/>
            <p:nvPr/>
          </p:nvSpPr>
          <p:spPr>
            <a:xfrm>
              <a:off x="4381500" y="3663950"/>
              <a:ext cx="1676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2  AI-ASSISTED</a:t>
              </a:r>
              <a:endParaRPr lang="en-US" sz="800" spc="48" kern="0" b="0" i="0" dirty="0">
                <a:solidFill>
                  <a:srgbClr val="070154"/>
                </a:solidFill>
                <a:latin typeface="IBM Plex Mono SemiBold"/>
                <a:ea typeface="IBM Plex Mono SemiBold"/>
                <a:cs typeface="IBM Plex Mono SemiBold"/>
              </a:endParaRPr>
            </a:p>
          </p:txBody>
        </p:sp>
        <p:sp>
          <p:nvSpPr>
            <p:cNvPr id="26" name="node02.rows.slot-004.cells.slot-001.surface"/>
            <p:cNvSpPr/>
            <p:nvPr/>
          </p:nvSpPr>
          <p:spPr>
            <a:xfrm>
              <a:off x="6210300" y="3390900"/>
              <a:ext cx="1676400" cy="685800"/>
            </a:xfrm>
            <a:prstGeom prst="rect">
              <a:avLst/>
            </a:prstGeom>
            <a:solidFill>
              <a:srgbClr val="E8EEF8"/>
            </a:solidFill>
            <a:ln>
              <a:noFill/>
            </a:ln>
          </p:spPr>
        </p:sp>
        <p:sp>
          <p:nvSpPr>
            <p:cNvPr id="27" name="node02.rows.slot-004.cells.slot-002.surface"/>
            <p:cNvSpPr/>
            <p:nvPr/>
          </p:nvSpPr>
          <p:spPr>
            <a:xfrm>
              <a:off x="8001000" y="3390900"/>
              <a:ext cx="1676400" cy="685800"/>
            </a:xfrm>
            <a:prstGeom prst="rect">
              <a:avLst/>
            </a:prstGeom>
            <a:solidFill>
              <a:srgbClr val="CED7E6"/>
            </a:solidFill>
            <a:ln>
              <a:noFill/>
            </a:ln>
          </p:spPr>
        </p:sp>
        <p:sp>
          <p:nvSpPr>
            <p:cNvPr id="28" name="node02.rows.slot-004.cells.slot-002.text"/>
            <p:cNvSpPr/>
            <p:nvPr/>
          </p:nvSpPr>
          <p:spPr>
            <a:xfrm>
              <a:off x="8051800" y="3638550"/>
              <a:ext cx="157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Today</a:t>
              </a:r>
              <a:endParaRPr lang="en-US" sz="1100" spc="0" kern="0" b="0" i="0" dirty="0">
                <a:solidFill>
                  <a:srgbClr val="070154"/>
                </a:solidFill>
                <a:latin typeface="IBM Plex Sans"/>
                <a:ea typeface="IBM Plex Sans"/>
                <a:cs typeface="IBM Plex Sans"/>
              </a:endParaRPr>
            </a:p>
          </p:txBody>
        </p:sp>
        <p:sp>
          <p:nvSpPr>
            <p:cNvPr id="29" name="node02.rows.slot-004.cells.slot-003.surface"/>
            <p:cNvSpPr/>
            <p:nvPr/>
          </p:nvSpPr>
          <p:spPr>
            <a:xfrm>
              <a:off x="9791700" y="3390900"/>
              <a:ext cx="1676400" cy="685800"/>
            </a:xfrm>
            <a:prstGeom prst="rect">
              <a:avLst/>
            </a:prstGeom>
            <a:solidFill>
              <a:srgbClr val="070154"/>
            </a:solidFill>
            <a:ln>
              <a:noFill/>
            </a:ln>
          </p:spPr>
        </p:sp>
        <p:sp>
          <p:nvSpPr>
            <p:cNvPr id="30" name="node02.rows.slot-004.cells.slot-003.text"/>
            <p:cNvSpPr/>
            <p:nvPr/>
          </p:nvSpPr>
          <p:spPr>
            <a:xfrm>
              <a:off x="9842500" y="3638550"/>
              <a:ext cx="157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Target</a:t>
              </a:r>
              <a:endParaRPr lang="en-US" sz="1100" spc="0" kern="0" b="0" i="0" dirty="0">
                <a:solidFill>
                  <a:srgbClr val="FFFFFF"/>
                </a:solidFill>
                <a:latin typeface="IBM Plex Sans"/>
                <a:ea typeface="IBM Plex Sans"/>
                <a:cs typeface="IBM Plex Sans"/>
              </a:endParaRPr>
            </a:p>
          </p:txBody>
        </p:sp>
        <p:sp>
          <p:nvSpPr>
            <p:cNvPr id="31" name="node02.rows.slot-005.label"/>
            <p:cNvSpPr/>
            <p:nvPr/>
          </p:nvSpPr>
          <p:spPr>
            <a:xfrm>
              <a:off x="4381500" y="4464050"/>
              <a:ext cx="1676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1  MANUAL</a:t>
              </a:r>
              <a:endParaRPr lang="en-US" sz="800" spc="48" kern="0" b="0" i="0" dirty="0">
                <a:solidFill>
                  <a:srgbClr val="070154"/>
                </a:solidFill>
                <a:latin typeface="IBM Plex Mono SemiBold"/>
                <a:ea typeface="IBM Plex Mono SemiBold"/>
                <a:cs typeface="IBM Plex Mono SemiBold"/>
              </a:endParaRPr>
            </a:p>
          </p:txBody>
        </p:sp>
        <p:sp>
          <p:nvSpPr>
            <p:cNvPr id="32" name="node02.rows.slot-005.cells.slot-001.surface"/>
            <p:cNvSpPr/>
            <p:nvPr/>
          </p:nvSpPr>
          <p:spPr>
            <a:xfrm>
              <a:off x="6210300" y="4191000"/>
              <a:ext cx="1676400" cy="685800"/>
            </a:xfrm>
            <a:prstGeom prst="rect">
              <a:avLst/>
            </a:prstGeom>
            <a:solidFill>
              <a:srgbClr val="E8EEF8"/>
            </a:solidFill>
            <a:ln>
              <a:noFill/>
            </a:ln>
          </p:spPr>
        </p:sp>
        <p:sp>
          <p:nvSpPr>
            <p:cNvPr id="33" name="node02.rows.slot-005.cells.slot-002.surface"/>
            <p:cNvSpPr/>
            <p:nvPr/>
          </p:nvSpPr>
          <p:spPr>
            <a:xfrm>
              <a:off x="8001000" y="4191000"/>
              <a:ext cx="1676400" cy="685800"/>
            </a:xfrm>
            <a:prstGeom prst="rect">
              <a:avLst/>
            </a:prstGeom>
            <a:solidFill>
              <a:srgbClr val="E8EEF8"/>
            </a:solidFill>
            <a:ln>
              <a:noFill/>
            </a:ln>
          </p:spPr>
        </p:sp>
        <p:sp>
          <p:nvSpPr>
            <p:cNvPr id="34" name="node02.rows.slot-005.cells.slot-003.surface"/>
            <p:cNvSpPr/>
            <p:nvPr/>
          </p:nvSpPr>
          <p:spPr>
            <a:xfrm>
              <a:off x="9791700" y="4191000"/>
              <a:ext cx="1676400" cy="685800"/>
            </a:xfrm>
            <a:prstGeom prst="rect">
              <a:avLst/>
            </a:prstGeom>
            <a:solidFill>
              <a:srgbClr val="CED7E6"/>
            </a:solidFill>
            <a:ln>
              <a:noFill/>
            </a:ln>
          </p:spPr>
        </p:sp>
        <p:sp>
          <p:nvSpPr>
            <p:cNvPr id="35" name="node02.rows.slot-005.cells.slot-003.text"/>
            <p:cNvSpPr/>
            <p:nvPr/>
          </p:nvSpPr>
          <p:spPr>
            <a:xfrm>
              <a:off x="9842500" y="4438650"/>
              <a:ext cx="1574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Today</a:t>
              </a:r>
              <a:endParaRPr lang="en-US" sz="1100" spc="0" kern="0" b="0" i="0" dirty="0">
                <a:solidFill>
                  <a:srgbClr val="070154"/>
                </a:solidFill>
                <a:latin typeface="IBM Plex Sans"/>
                <a:ea typeface="IBM Plex Sans"/>
                <a:cs typeface="IBM Plex Sans"/>
              </a:endParaRPr>
            </a:p>
          </p:txBody>
        </p:sp>
      </p:grpSp>
      <p:grpSp>
        <p:nvGrpSpPr>
          <p:cNvPr id="48" name="node03"/>
          <p:cNvGrpSpPr/>
          <p:nvPr/>
        </p:nvGrpSpPr>
        <p:grpSpPr>
          <a:xfrm>
            <a:off x="4381500" y="5105400"/>
            <a:ext cx="7086600" cy="139700"/>
            <a:chOff x="4381500" y="5105400"/>
            <a:chExt cx="7086600" cy="139700"/>
          </a:xfrm>
        </p:grpSpPr>
        <p:sp>
          <p:nvSpPr>
            <p:cNvPr id="36" name="node03.text"/>
            <p:cNvSpPr/>
            <p:nvPr/>
          </p:nvSpPr>
          <p:spPr>
            <a:xfrm>
              <a:off x="4381500" y="51054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BREADTH ACROSS THE ORGANIZATION</a:t>
              </a:r>
              <a:endParaRPr lang="en-US" sz="800" spc="48" kern="0" b="0" i="0" dirty="0">
                <a:solidFill>
                  <a:srgbClr val="50658E"/>
                </a:solidFill>
                <a:latin typeface="IBM Plex Mono Medium"/>
                <a:ea typeface="IBM Plex Mono Medium"/>
                <a:cs typeface="IBM Plex Mono Medium"/>
              </a:endParaRPr>
            </a:p>
          </p:txBody>
        </p:sp>
      </p:grpSp>
      <p:grpSp>
        <p:nvGrpSpPr>
          <p:cNvPr id="49" name="node04"/>
          <p:cNvGrpSpPr/>
          <p:nvPr/>
        </p:nvGrpSpPr>
        <p:grpSpPr>
          <a:xfrm>
            <a:off x="4381500" y="5410200"/>
            <a:ext cx="7086600" cy="190500"/>
            <a:chOff x="4381500" y="5410200"/>
            <a:chExt cx="7086600" cy="190500"/>
          </a:xfrm>
        </p:grpSpPr>
        <p:sp>
          <p:nvSpPr>
            <p:cNvPr id="37" name="node04.text"/>
            <p:cNvSpPr/>
            <p:nvPr/>
          </p:nvSpPr>
          <p:spPr>
            <a:xfrm>
              <a:off x="4381500" y="5410200"/>
              <a:ext cx="7086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Shaded cells are stages already reached.</a:t>
              </a:r>
              <a:endParaRPr lang="en-US" sz="1100" spc="0" kern="0" b="0" i="0" dirty="0">
                <a:solidFill>
                  <a:srgbClr val="50658E"/>
                </a:solidFill>
                <a:latin typeface="IBM Plex Sans"/>
                <a:ea typeface="IBM Plex Sans"/>
                <a:cs typeface="IBM Plex Sans"/>
              </a:endParaRPr>
            </a:p>
          </p:txBody>
        </p:sp>
      </p:grpSp>
      <p:grpSp>
        <p:nvGrpSpPr>
          <p:cNvPr id="50" name="node05"/>
          <p:cNvGrpSpPr/>
          <p:nvPr/>
        </p:nvGrpSpPr>
        <p:grpSpPr>
          <a:xfrm>
            <a:off x="723900" y="2514600"/>
            <a:ext cx="3429000" cy="266700"/>
            <a:chOff x="723900" y="2514600"/>
            <a:chExt cx="3429000" cy="266700"/>
          </a:xfrm>
        </p:grpSpPr>
        <p:sp>
          <p:nvSpPr>
            <p:cNvPr id="38" name="node05.text"/>
            <p:cNvSpPr/>
            <p:nvPr/>
          </p:nvSpPr>
          <p:spPr>
            <a:xfrm>
              <a:off x="723900" y="25146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Go deep, then go wide</a:t>
              </a:r>
              <a:endParaRPr lang="en-US" sz="1600" spc="-16" kern="0" b="0" i="0" dirty="0">
                <a:solidFill>
                  <a:srgbClr val="070154"/>
                </a:solidFill>
                <a:latin typeface="IBM Plex Sans SemiBold"/>
                <a:ea typeface="IBM Plex Sans SemiBold"/>
                <a:cs typeface="IBM Plex Sans SemiBold"/>
              </a:endParaRPr>
            </a:p>
          </p:txBody>
        </p:sp>
      </p:grpSp>
      <p:grpSp>
        <p:nvGrpSpPr>
          <p:cNvPr id="51" name="node06"/>
          <p:cNvGrpSpPr/>
          <p:nvPr/>
        </p:nvGrpSpPr>
        <p:grpSpPr>
          <a:xfrm>
            <a:off x="723900" y="3200400"/>
            <a:ext cx="3429000" cy="431800"/>
            <a:chOff x="723900" y="3200400"/>
            <a:chExt cx="3429000" cy="431800"/>
          </a:xfrm>
        </p:grpSpPr>
        <p:sp>
          <p:nvSpPr>
            <p:cNvPr id="39" name="node06.text"/>
            <p:cNvSpPr/>
            <p:nvPr/>
          </p:nvSpPr>
          <p:spPr>
            <a:xfrm>
              <a:off x="723900" y="3200400"/>
              <a:ext cx="3429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Depth is how far AI is built into the workflow. Breadth is how many functions share it.</a:t>
              </a:r>
              <a:endParaRPr lang="en-US" sz="1200" spc="0" kern="0" b="0" i="0" dirty="0">
                <a:solidFill>
                  <a:srgbClr val="070154"/>
                </a:solidFill>
                <a:latin typeface="IBM Plex Sans"/>
                <a:ea typeface="IBM Plex Sans"/>
                <a:cs typeface="IBM Plex Sans"/>
              </a:endParaRPr>
            </a:p>
          </p:txBody>
        </p:sp>
      </p:grpSp>
      <p:grpSp>
        <p:nvGrpSpPr>
          <p:cNvPr id="52" name="node07"/>
          <p:cNvGrpSpPr/>
          <p:nvPr/>
        </p:nvGrpSpPr>
        <p:grpSpPr>
          <a:xfrm>
            <a:off x="723900" y="4267200"/>
            <a:ext cx="3429000" cy="723900"/>
            <a:chOff x="723900" y="4267200"/>
            <a:chExt cx="3429000" cy="723900"/>
          </a:xfrm>
        </p:grpSpPr>
        <p:sp>
          <p:nvSpPr>
            <p:cNvPr id="40" name="node07.source-001.bullet"/>
            <p:cNvSpPr/>
            <p:nvPr/>
          </p:nvSpPr>
          <p:spPr>
            <a:xfrm>
              <a:off x="723900" y="4356100"/>
              <a:ext cx="38100" cy="38100"/>
            </a:xfrm>
            <a:prstGeom prst="rect">
              <a:avLst/>
            </a:prstGeom>
            <a:solidFill>
              <a:srgbClr val="070154"/>
            </a:solidFill>
            <a:ln>
              <a:noFill/>
            </a:ln>
          </p:spPr>
        </p:sp>
        <p:sp>
          <p:nvSpPr>
            <p:cNvPr id="41" name="node07.source-001.text"/>
            <p:cNvSpPr/>
            <p:nvPr/>
          </p:nvSpPr>
          <p:spPr>
            <a:xfrm>
              <a:off x="876300" y="4267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Product teams lead at stage three</a:t>
              </a:r>
              <a:endParaRPr lang="en-US" sz="1200" spc="0" kern="0" b="0" i="0" dirty="0">
                <a:solidFill>
                  <a:srgbClr val="070154"/>
                </a:solidFill>
                <a:latin typeface="IBM Plex Sans"/>
                <a:ea typeface="IBM Plex Sans"/>
                <a:cs typeface="IBM Plex Sans"/>
              </a:endParaRPr>
            </a:p>
          </p:txBody>
        </p:sp>
        <p:sp>
          <p:nvSpPr>
            <p:cNvPr id="42" name="node07.source-002.bullet"/>
            <p:cNvSpPr/>
            <p:nvPr/>
          </p:nvSpPr>
          <p:spPr>
            <a:xfrm>
              <a:off x="723900" y="4610100"/>
              <a:ext cx="38100" cy="38100"/>
            </a:xfrm>
            <a:prstGeom prst="rect">
              <a:avLst/>
            </a:prstGeom>
            <a:solidFill>
              <a:srgbClr val="070154"/>
            </a:solidFill>
            <a:ln>
              <a:noFill/>
            </a:ln>
          </p:spPr>
        </p:sp>
        <p:sp>
          <p:nvSpPr>
            <p:cNvPr id="43" name="node07.source-002.text"/>
            <p:cNvSpPr/>
            <p:nvPr/>
          </p:nvSpPr>
          <p:spPr>
            <a:xfrm>
              <a:off x="876300" y="4521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Engineering and SRE follow one stage behind</a:t>
              </a:r>
              <a:endParaRPr lang="en-US" sz="1200" spc="0" kern="0" b="0" i="0" dirty="0">
                <a:solidFill>
                  <a:srgbClr val="070154"/>
                </a:solidFill>
                <a:latin typeface="IBM Plex Sans"/>
                <a:ea typeface="IBM Plex Sans"/>
                <a:cs typeface="IBM Plex Sans"/>
              </a:endParaRPr>
            </a:p>
          </p:txBody>
        </p:sp>
        <p:sp>
          <p:nvSpPr>
            <p:cNvPr id="44" name="node07.source-003.bullet"/>
            <p:cNvSpPr/>
            <p:nvPr/>
          </p:nvSpPr>
          <p:spPr>
            <a:xfrm>
              <a:off x="723900" y="4864100"/>
              <a:ext cx="38100" cy="38100"/>
            </a:xfrm>
            <a:prstGeom prst="rect">
              <a:avLst/>
            </a:prstGeom>
            <a:solidFill>
              <a:srgbClr val="070154"/>
            </a:solidFill>
            <a:ln>
              <a:noFill/>
            </a:ln>
          </p:spPr>
        </p:sp>
        <p:sp>
          <p:nvSpPr>
            <p:cNvPr id="45" name="node07.source-003.text"/>
            <p:cNvSpPr/>
            <p:nvPr/>
          </p:nvSpPr>
          <p:spPr>
            <a:xfrm>
              <a:off x="876300" y="4775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Support and go-to-market start at stage one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ource-29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COACHING PLAN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steps move Northfield from stage one to five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119</a:t>
            </a:fld>
            <a:endParaRPr lang="en-US" sz="700" spc="0" kern="0" b="0" i="0" dirty="0">
              <a:solidFill>
                <a:srgbClr val="070154"/>
              </a:solidFill>
              <a:latin typeface="IBM Plex Mono SemiBold"/>
              <a:ea typeface="IBM Plex Mono SemiBold"/>
              <a:cs typeface="IBM Plex Mono SemiBold"/>
            </a:endParaRPr>
          </a:p>
        </p:txBody>
      </p:sp>
      <p:grpSp>
        <p:nvGrpSpPr>
          <p:cNvPr id="62" name="node01"/>
          <p:cNvGrpSpPr/>
          <p:nvPr/>
        </p:nvGrpSpPr>
        <p:grpSpPr>
          <a:xfrm>
            <a:off x="723900" y="1600200"/>
            <a:ext cx="2819400" cy="685800"/>
            <a:chOff x="723900" y="1600200"/>
            <a:chExt cx="2819400" cy="685800"/>
          </a:xfrm>
        </p:grpSpPr>
        <p:sp>
          <p:nvSpPr>
            <p:cNvPr id="6" name="node01.surface"/>
            <p:cNvSpPr/>
            <p:nvPr/>
          </p:nvSpPr>
          <p:spPr>
            <a:xfrm>
              <a:off x="723900" y="1600200"/>
              <a:ext cx="2819400" cy="685800"/>
            </a:xfrm>
            <a:custGeom>
              <a:avLst/>
              <a:gdLst/>
              <a:ahLst/>
              <a:cxnLst/>
              <a:rect l="l" t="t" r="r" b="b"/>
              <a:pathLst>
                <a:path w="2819400" h="685800">
                  <a:moveTo>
                    <a:pt x="0" y="0"/>
                  </a:moveTo>
                  <a:lnTo>
                    <a:pt x="2590800" y="0"/>
                  </a:lnTo>
                  <a:lnTo>
                    <a:pt x="2819400" y="342900"/>
                  </a:lnTo>
                  <a:lnTo>
                    <a:pt x="2590800" y="685800"/>
                  </a:lnTo>
                  <a:lnTo>
                    <a:pt x="0" y="685800"/>
                  </a:lnTo>
                  <a:close/>
                </a:path>
              </a:pathLst>
            </a:custGeom>
            <a:solidFill>
              <a:srgbClr val="070154"/>
            </a:solidFill>
            <a:ln>
              <a:noFill/>
            </a:ln>
          </p:spPr>
        </p:sp>
        <p:sp>
          <p:nvSpPr>
            <p:cNvPr id="7" name="node01.number"/>
            <p:cNvSpPr/>
            <p:nvPr/>
          </p:nvSpPr>
          <p:spPr>
            <a:xfrm>
              <a:off x="876300" y="1809750"/>
              <a:ext cx="122364"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1</a:t>
              </a:r>
              <a:endParaRPr lang="en-US" sz="1600" spc="0" kern="0" b="0" i="0" dirty="0">
                <a:solidFill>
                  <a:srgbClr val="F900D3"/>
                </a:solidFill>
                <a:latin typeface="IBM Plex Mono SemiBold"/>
                <a:ea typeface="IBM Plex Mono SemiBold"/>
                <a:cs typeface="IBM Plex Mono SemiBold"/>
              </a:endParaRPr>
            </a:p>
          </p:txBody>
        </p:sp>
        <p:sp>
          <p:nvSpPr>
            <p:cNvPr id="8" name="node01.text"/>
            <p:cNvSpPr/>
            <p:nvPr/>
          </p:nvSpPr>
          <p:spPr>
            <a:xfrm>
              <a:off x="1112965" y="1847850"/>
              <a:ext cx="2125536"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SemiBold"/>
                  <a:ea typeface="IBM Plex Sans SemiBold"/>
                  <a:cs typeface="IBM Plex Sans SemiBold"/>
                </a:rPr>
                <a:t>Assess</a:t>
              </a:r>
              <a:endParaRPr lang="en-US" sz="1100" spc="0" kern="0" b="0" i="0" dirty="0">
                <a:solidFill>
                  <a:srgbClr val="FFFFFF"/>
                </a:solidFill>
                <a:latin typeface="IBM Plex Sans SemiBold"/>
                <a:ea typeface="IBM Plex Sans SemiBold"/>
                <a:cs typeface="IBM Plex Sans SemiBold"/>
              </a:endParaRPr>
            </a:p>
          </p:txBody>
        </p:sp>
      </p:grpSp>
      <p:grpSp>
        <p:nvGrpSpPr>
          <p:cNvPr id="63" name="node02"/>
          <p:cNvGrpSpPr/>
          <p:nvPr/>
        </p:nvGrpSpPr>
        <p:grpSpPr>
          <a:xfrm>
            <a:off x="723900" y="2514600"/>
            <a:ext cx="2514600" cy="139700"/>
            <a:chOff x="723900" y="2514600"/>
            <a:chExt cx="2514600" cy="139700"/>
          </a:xfrm>
        </p:grpSpPr>
        <p:sp>
          <p:nvSpPr>
            <p:cNvPr id="9" name="node02.text"/>
            <p:cNvSpPr/>
            <p:nvPr/>
          </p:nvSpPr>
          <p:spPr>
            <a:xfrm>
              <a:off x="723900" y="2514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STAGE 1 → 2</a:t>
              </a:r>
              <a:endParaRPr lang="en-US" sz="800" spc="48" kern="0" b="0" i="0" dirty="0">
                <a:solidFill>
                  <a:srgbClr val="0047FF"/>
                </a:solidFill>
                <a:latin typeface="IBM Plex Mono Medium"/>
                <a:ea typeface="IBM Plex Mono Medium"/>
                <a:cs typeface="IBM Plex Mono Medium"/>
              </a:endParaRPr>
            </a:p>
          </p:txBody>
        </p:sp>
      </p:grpSp>
      <p:grpSp>
        <p:nvGrpSpPr>
          <p:cNvPr id="64" name="node03"/>
          <p:cNvGrpSpPr/>
          <p:nvPr/>
        </p:nvGrpSpPr>
        <p:grpSpPr>
          <a:xfrm>
            <a:off x="723900" y="2819400"/>
            <a:ext cx="2514600" cy="939800"/>
            <a:chOff x="723900" y="2819400"/>
            <a:chExt cx="2514600" cy="939800"/>
          </a:xfrm>
        </p:grpSpPr>
        <p:sp>
          <p:nvSpPr>
            <p:cNvPr id="10" name="node03.source-001.bullet"/>
            <p:cNvSpPr/>
            <p:nvPr/>
          </p:nvSpPr>
          <p:spPr>
            <a:xfrm>
              <a:off x="723900" y="2908300"/>
              <a:ext cx="38100" cy="38100"/>
            </a:xfrm>
            <a:prstGeom prst="rect">
              <a:avLst/>
            </a:prstGeom>
            <a:solidFill>
              <a:srgbClr val="070154"/>
            </a:solidFill>
            <a:ln>
              <a:noFill/>
            </a:ln>
          </p:spPr>
        </p:sp>
        <p:sp>
          <p:nvSpPr>
            <p:cNvPr id="11" name="node03.source-001.text"/>
            <p:cNvSpPr/>
            <p:nvPr/>
          </p:nvSpPr>
          <p:spPr>
            <a:xfrm>
              <a:off x="876300" y="28194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Baseline each team on seven capabilities</a:t>
              </a:r>
              <a:endParaRPr lang="en-US" sz="1200" spc="0" kern="0" b="0" i="0" dirty="0">
                <a:solidFill>
                  <a:srgbClr val="070154"/>
                </a:solidFill>
                <a:latin typeface="IBM Plex Sans"/>
                <a:ea typeface="IBM Plex Sans"/>
                <a:cs typeface="IBM Plex Sans"/>
              </a:endParaRPr>
            </a:p>
          </p:txBody>
        </p:sp>
        <p:sp>
          <p:nvSpPr>
            <p:cNvPr id="12" name="node03.source-002.bullet"/>
            <p:cNvSpPr/>
            <p:nvPr/>
          </p:nvSpPr>
          <p:spPr>
            <a:xfrm>
              <a:off x="723900" y="3378200"/>
              <a:ext cx="38100" cy="38100"/>
            </a:xfrm>
            <a:prstGeom prst="rect">
              <a:avLst/>
            </a:prstGeom>
            <a:solidFill>
              <a:srgbClr val="070154"/>
            </a:solidFill>
            <a:ln>
              <a:noFill/>
            </a:ln>
          </p:spPr>
        </p:sp>
        <p:sp>
          <p:nvSpPr>
            <p:cNvPr id="13" name="node03.source-002.text"/>
            <p:cNvSpPr/>
            <p:nvPr/>
          </p:nvSpPr>
          <p:spPr>
            <a:xfrm>
              <a:off x="876300" y="32893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Pick two pilot teams</a:t>
              </a:r>
              <a:endParaRPr lang="en-US" sz="1200" spc="0" kern="0" b="0" i="0" dirty="0">
                <a:solidFill>
                  <a:srgbClr val="070154"/>
                </a:solidFill>
                <a:latin typeface="IBM Plex Sans"/>
                <a:ea typeface="IBM Plex Sans"/>
                <a:cs typeface="IBM Plex Sans"/>
              </a:endParaRPr>
            </a:p>
          </p:txBody>
        </p:sp>
        <p:sp>
          <p:nvSpPr>
            <p:cNvPr id="14" name="node03.source-003.bullet"/>
            <p:cNvSpPr/>
            <p:nvPr/>
          </p:nvSpPr>
          <p:spPr>
            <a:xfrm>
              <a:off x="723900" y="3632200"/>
              <a:ext cx="38100" cy="38100"/>
            </a:xfrm>
            <a:prstGeom prst="rect">
              <a:avLst/>
            </a:prstGeom>
            <a:solidFill>
              <a:srgbClr val="070154"/>
            </a:solidFill>
            <a:ln>
              <a:noFill/>
            </a:ln>
          </p:spPr>
        </p:sp>
        <p:sp>
          <p:nvSpPr>
            <p:cNvPr id="15" name="node03.source-003.text"/>
            <p:cNvSpPr/>
            <p:nvPr/>
          </p:nvSpPr>
          <p:spPr>
            <a:xfrm>
              <a:off x="876300" y="35433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Set the target stage</a:t>
              </a:r>
              <a:endParaRPr lang="en-US" sz="1200" spc="0" kern="0" b="0" i="0" dirty="0">
                <a:solidFill>
                  <a:srgbClr val="070154"/>
                </a:solidFill>
                <a:latin typeface="IBM Plex Sans"/>
                <a:ea typeface="IBM Plex Sans"/>
                <a:cs typeface="IBM Plex Sans"/>
              </a:endParaRPr>
            </a:p>
          </p:txBody>
        </p:sp>
      </p:grpSp>
      <p:grpSp>
        <p:nvGrpSpPr>
          <p:cNvPr id="65" name="node04"/>
          <p:cNvGrpSpPr/>
          <p:nvPr/>
        </p:nvGrpSpPr>
        <p:grpSpPr>
          <a:xfrm>
            <a:off x="723900" y="4572000"/>
            <a:ext cx="2514600" cy="1143000"/>
            <a:chOff x="723900" y="4572000"/>
            <a:chExt cx="2514600" cy="1143000"/>
          </a:xfrm>
        </p:grpSpPr>
        <p:sp>
          <p:nvSpPr>
            <p:cNvPr id="16" name="node04.container"/>
            <p:cNvSpPr/>
            <p:nvPr/>
          </p:nvSpPr>
          <p:spPr>
            <a:xfrm>
              <a:off x="723900" y="4572000"/>
              <a:ext cx="2514600" cy="1143000"/>
            </a:xfrm>
            <a:prstGeom prst="rect">
              <a:avLst/>
            </a:prstGeom>
            <a:solidFill>
              <a:srgbClr val="E8EEF8"/>
            </a:solidFill>
            <a:ln>
              <a:noFill/>
            </a:ln>
          </p:spPr>
        </p:sp>
        <p:sp>
          <p:nvSpPr>
            <p:cNvPr id="17" name="node04.edge"/>
            <p:cNvSpPr/>
            <p:nvPr/>
          </p:nvSpPr>
          <p:spPr>
            <a:xfrm>
              <a:off x="723900" y="4572000"/>
              <a:ext cx="2514600" cy="38100"/>
            </a:xfrm>
            <a:prstGeom prst="rect">
              <a:avLst/>
            </a:prstGeom>
            <a:solidFill>
              <a:srgbClr val="0047FF"/>
            </a:solidFill>
            <a:ln>
              <a:noFill/>
            </a:ln>
          </p:spPr>
        </p:sp>
        <p:sp>
          <p:nvSpPr>
            <p:cNvPr id="18" name="node04.label"/>
            <p:cNvSpPr/>
            <p:nvPr/>
          </p:nvSpPr>
          <p:spPr>
            <a:xfrm>
              <a:off x="838200" y="47244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DONE WHEN</a:t>
              </a:r>
              <a:endParaRPr lang="en-US" sz="800" spc="48" kern="0" b="0" i="0" dirty="0">
                <a:solidFill>
                  <a:srgbClr val="0047FF"/>
                </a:solidFill>
                <a:latin typeface="IBM Plex Mono Medium"/>
                <a:ea typeface="IBM Plex Mono Medium"/>
                <a:cs typeface="IBM Plex Mono Medium"/>
              </a:endParaRPr>
            </a:p>
          </p:txBody>
        </p:sp>
        <p:sp>
          <p:nvSpPr>
            <p:cNvPr id="19" name="node04.body.item-001.paragraph"/>
            <p:cNvSpPr/>
            <p:nvPr/>
          </p:nvSpPr>
          <p:spPr>
            <a:xfrm>
              <a:off x="838200" y="49403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Every team has a scored baseline</a:t>
              </a:r>
              <a:endParaRPr lang="en-US" sz="1200" spc="0" kern="0" b="0" i="0" dirty="0">
                <a:solidFill>
                  <a:srgbClr val="50658E"/>
                </a:solidFill>
                <a:latin typeface="IBM Plex Sans"/>
                <a:ea typeface="IBM Plex Sans"/>
                <a:cs typeface="IBM Plex Sans"/>
              </a:endParaRPr>
            </a:p>
          </p:txBody>
        </p:sp>
      </p:grpSp>
      <p:grpSp>
        <p:nvGrpSpPr>
          <p:cNvPr id="66" name="node05"/>
          <p:cNvGrpSpPr/>
          <p:nvPr/>
        </p:nvGrpSpPr>
        <p:grpSpPr>
          <a:xfrm>
            <a:off x="3467100" y="1600200"/>
            <a:ext cx="2819400" cy="685800"/>
            <a:chOff x="3467100" y="1600200"/>
            <a:chExt cx="2819400" cy="685800"/>
          </a:xfrm>
        </p:grpSpPr>
        <p:sp>
          <p:nvSpPr>
            <p:cNvPr id="20" name="node05.surface"/>
            <p:cNvSpPr/>
            <p:nvPr/>
          </p:nvSpPr>
          <p:spPr>
            <a:xfrm>
              <a:off x="3467100" y="1600200"/>
              <a:ext cx="2819400" cy="685800"/>
            </a:xfrm>
            <a:custGeom>
              <a:avLst/>
              <a:gdLst/>
              <a:ahLst/>
              <a:cxnLst/>
              <a:rect l="l" t="t" r="r" b="b"/>
              <a:pathLst>
                <a:path w="2819400" h="685800">
                  <a:moveTo>
                    <a:pt x="0" y="0"/>
                  </a:moveTo>
                  <a:lnTo>
                    <a:pt x="2590800" y="0"/>
                  </a:lnTo>
                  <a:lnTo>
                    <a:pt x="2819400" y="342900"/>
                  </a:lnTo>
                  <a:lnTo>
                    <a:pt x="2590800" y="685800"/>
                  </a:lnTo>
                  <a:lnTo>
                    <a:pt x="0" y="685800"/>
                  </a:lnTo>
                  <a:lnTo>
                    <a:pt x="228600" y="342900"/>
                  </a:lnTo>
                  <a:close/>
                </a:path>
              </a:pathLst>
            </a:custGeom>
            <a:solidFill>
              <a:srgbClr val="070154"/>
            </a:solidFill>
            <a:ln>
              <a:noFill/>
            </a:ln>
          </p:spPr>
        </p:sp>
        <p:sp>
          <p:nvSpPr>
            <p:cNvPr id="21" name="node05.number"/>
            <p:cNvSpPr/>
            <p:nvPr/>
          </p:nvSpPr>
          <p:spPr>
            <a:xfrm>
              <a:off x="3771900" y="1809750"/>
              <a:ext cx="122364"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2</a:t>
              </a:r>
              <a:endParaRPr lang="en-US" sz="1600" spc="0" kern="0" b="0" i="0" dirty="0">
                <a:solidFill>
                  <a:srgbClr val="F900D3"/>
                </a:solidFill>
                <a:latin typeface="IBM Plex Mono SemiBold"/>
                <a:ea typeface="IBM Plex Mono SemiBold"/>
                <a:cs typeface="IBM Plex Mono SemiBold"/>
              </a:endParaRPr>
            </a:p>
          </p:txBody>
        </p:sp>
        <p:sp>
          <p:nvSpPr>
            <p:cNvPr id="22" name="node05.text"/>
            <p:cNvSpPr/>
            <p:nvPr/>
          </p:nvSpPr>
          <p:spPr>
            <a:xfrm>
              <a:off x="4008565" y="1847850"/>
              <a:ext cx="1973136"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SemiBold"/>
                  <a:ea typeface="IBM Plex Sans SemiBold"/>
                  <a:cs typeface="IBM Plex Sans SemiBold"/>
                </a:rPr>
                <a:t>Pilot</a:t>
              </a:r>
              <a:endParaRPr lang="en-US" sz="1100" spc="0" kern="0" b="0" i="0" dirty="0">
                <a:solidFill>
                  <a:srgbClr val="FFFFFF"/>
                </a:solidFill>
                <a:latin typeface="IBM Plex Sans SemiBold"/>
                <a:ea typeface="IBM Plex Sans SemiBold"/>
                <a:cs typeface="IBM Plex Sans SemiBold"/>
              </a:endParaRPr>
            </a:p>
          </p:txBody>
        </p:sp>
      </p:grpSp>
      <p:grpSp>
        <p:nvGrpSpPr>
          <p:cNvPr id="67" name="node06"/>
          <p:cNvGrpSpPr/>
          <p:nvPr/>
        </p:nvGrpSpPr>
        <p:grpSpPr>
          <a:xfrm>
            <a:off x="3467100" y="2514600"/>
            <a:ext cx="2514600" cy="139700"/>
            <a:chOff x="3467100" y="2514600"/>
            <a:chExt cx="2514600" cy="139700"/>
          </a:xfrm>
        </p:grpSpPr>
        <p:sp>
          <p:nvSpPr>
            <p:cNvPr id="23" name="node06.text"/>
            <p:cNvSpPr/>
            <p:nvPr/>
          </p:nvSpPr>
          <p:spPr>
            <a:xfrm>
              <a:off x="3467100" y="2514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STAGE 2 → 3</a:t>
              </a:r>
              <a:endParaRPr lang="en-US" sz="800" spc="48" kern="0" b="0" i="0" dirty="0">
                <a:solidFill>
                  <a:srgbClr val="0047FF"/>
                </a:solidFill>
                <a:latin typeface="IBM Plex Mono Medium"/>
                <a:ea typeface="IBM Plex Mono Medium"/>
                <a:cs typeface="IBM Plex Mono Medium"/>
              </a:endParaRPr>
            </a:p>
          </p:txBody>
        </p:sp>
      </p:grpSp>
      <p:grpSp>
        <p:nvGrpSpPr>
          <p:cNvPr id="68" name="node07"/>
          <p:cNvGrpSpPr/>
          <p:nvPr/>
        </p:nvGrpSpPr>
        <p:grpSpPr>
          <a:xfrm>
            <a:off x="3467100" y="2819400"/>
            <a:ext cx="2514600" cy="939800"/>
            <a:chOff x="3467100" y="2819400"/>
            <a:chExt cx="2514600" cy="939800"/>
          </a:xfrm>
        </p:grpSpPr>
        <p:sp>
          <p:nvSpPr>
            <p:cNvPr id="24" name="node07.source-001.bullet"/>
            <p:cNvSpPr/>
            <p:nvPr/>
          </p:nvSpPr>
          <p:spPr>
            <a:xfrm>
              <a:off x="3467100" y="2908300"/>
              <a:ext cx="38100" cy="38100"/>
            </a:xfrm>
            <a:prstGeom prst="rect">
              <a:avLst/>
            </a:prstGeom>
            <a:solidFill>
              <a:srgbClr val="070154"/>
            </a:solidFill>
            <a:ln>
              <a:noFill/>
            </a:ln>
          </p:spPr>
        </p:sp>
        <p:sp>
          <p:nvSpPr>
            <p:cNvPr id="25" name="node07.source-001.text"/>
            <p:cNvSpPr/>
            <p:nvPr/>
          </p:nvSpPr>
          <p:spPr>
            <a:xfrm>
              <a:off x="3619500" y="2819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Pair coaches with pilot teams</a:t>
              </a:r>
              <a:endParaRPr lang="en-US" sz="1200" spc="0" kern="0" b="0" i="0" dirty="0">
                <a:solidFill>
                  <a:srgbClr val="070154"/>
                </a:solidFill>
                <a:latin typeface="IBM Plex Sans"/>
                <a:ea typeface="IBM Plex Sans"/>
                <a:cs typeface="IBM Plex Sans"/>
              </a:endParaRPr>
            </a:p>
          </p:txBody>
        </p:sp>
        <p:sp>
          <p:nvSpPr>
            <p:cNvPr id="26" name="node07.source-002.bullet"/>
            <p:cNvSpPr/>
            <p:nvPr/>
          </p:nvSpPr>
          <p:spPr>
            <a:xfrm>
              <a:off x="3467100" y="3162300"/>
              <a:ext cx="38100" cy="38100"/>
            </a:xfrm>
            <a:prstGeom prst="rect">
              <a:avLst/>
            </a:prstGeom>
            <a:solidFill>
              <a:srgbClr val="070154"/>
            </a:solidFill>
            <a:ln>
              <a:noFill/>
            </a:ln>
          </p:spPr>
        </p:sp>
        <p:sp>
          <p:nvSpPr>
            <p:cNvPr id="27" name="node07.source-002.text"/>
            <p:cNvSpPr/>
            <p:nvPr/>
          </p:nvSpPr>
          <p:spPr>
            <a:xfrm>
              <a:off x="3619500" y="30734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Build shared workflows and prompts</a:t>
              </a:r>
              <a:endParaRPr lang="en-US" sz="1200" spc="0" kern="0" b="0" i="0" dirty="0">
                <a:solidFill>
                  <a:srgbClr val="070154"/>
                </a:solidFill>
                <a:latin typeface="IBM Plex Sans"/>
                <a:ea typeface="IBM Plex Sans"/>
                <a:cs typeface="IBM Plex Sans"/>
              </a:endParaRPr>
            </a:p>
          </p:txBody>
        </p:sp>
        <p:sp>
          <p:nvSpPr>
            <p:cNvPr id="28" name="node07.source-003.bullet"/>
            <p:cNvSpPr/>
            <p:nvPr/>
          </p:nvSpPr>
          <p:spPr>
            <a:xfrm>
              <a:off x="3467100" y="3632200"/>
              <a:ext cx="38100" cy="38100"/>
            </a:xfrm>
            <a:prstGeom prst="rect">
              <a:avLst/>
            </a:prstGeom>
            <a:solidFill>
              <a:srgbClr val="070154"/>
            </a:solidFill>
            <a:ln>
              <a:noFill/>
            </a:ln>
          </p:spPr>
        </p:sp>
        <p:sp>
          <p:nvSpPr>
            <p:cNvPr id="29" name="node07.source-003.text"/>
            <p:cNvSpPr/>
            <p:nvPr/>
          </p:nvSpPr>
          <p:spPr>
            <a:xfrm>
              <a:off x="3619500" y="35433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Name a workflow owner</a:t>
              </a:r>
              <a:endParaRPr lang="en-US" sz="1200" spc="0" kern="0" b="0" i="0" dirty="0">
                <a:solidFill>
                  <a:srgbClr val="070154"/>
                </a:solidFill>
                <a:latin typeface="IBM Plex Sans"/>
                <a:ea typeface="IBM Plex Sans"/>
                <a:cs typeface="IBM Plex Sans"/>
              </a:endParaRPr>
            </a:p>
          </p:txBody>
        </p:sp>
      </p:grpSp>
      <p:grpSp>
        <p:nvGrpSpPr>
          <p:cNvPr id="69" name="node08"/>
          <p:cNvGrpSpPr/>
          <p:nvPr/>
        </p:nvGrpSpPr>
        <p:grpSpPr>
          <a:xfrm>
            <a:off x="3467100" y="4572000"/>
            <a:ext cx="2514600" cy="1143000"/>
            <a:chOff x="3467100" y="4572000"/>
            <a:chExt cx="2514600" cy="1143000"/>
          </a:xfrm>
        </p:grpSpPr>
        <p:sp>
          <p:nvSpPr>
            <p:cNvPr id="30" name="node08.container"/>
            <p:cNvSpPr/>
            <p:nvPr/>
          </p:nvSpPr>
          <p:spPr>
            <a:xfrm>
              <a:off x="3467100" y="4572000"/>
              <a:ext cx="2514600" cy="1143000"/>
            </a:xfrm>
            <a:prstGeom prst="rect">
              <a:avLst/>
            </a:prstGeom>
            <a:solidFill>
              <a:srgbClr val="E8EEF8"/>
            </a:solidFill>
            <a:ln>
              <a:noFill/>
            </a:ln>
          </p:spPr>
        </p:sp>
        <p:sp>
          <p:nvSpPr>
            <p:cNvPr id="31" name="node08.edge"/>
            <p:cNvSpPr/>
            <p:nvPr/>
          </p:nvSpPr>
          <p:spPr>
            <a:xfrm>
              <a:off x="3467100" y="4572000"/>
              <a:ext cx="2514600" cy="38100"/>
            </a:xfrm>
            <a:prstGeom prst="rect">
              <a:avLst/>
            </a:prstGeom>
            <a:solidFill>
              <a:srgbClr val="0047FF"/>
            </a:solidFill>
            <a:ln>
              <a:noFill/>
            </a:ln>
          </p:spPr>
        </p:sp>
        <p:sp>
          <p:nvSpPr>
            <p:cNvPr id="32" name="node08.label"/>
            <p:cNvSpPr/>
            <p:nvPr/>
          </p:nvSpPr>
          <p:spPr>
            <a:xfrm>
              <a:off x="3581400" y="47244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DONE WHEN</a:t>
              </a:r>
              <a:endParaRPr lang="en-US" sz="800" spc="48" kern="0" b="0" i="0" dirty="0">
                <a:solidFill>
                  <a:srgbClr val="0047FF"/>
                </a:solidFill>
                <a:latin typeface="IBM Plex Mono Medium"/>
                <a:ea typeface="IBM Plex Mono Medium"/>
                <a:cs typeface="IBM Plex Mono Medium"/>
              </a:endParaRPr>
            </a:p>
          </p:txBody>
        </p:sp>
        <p:sp>
          <p:nvSpPr>
            <p:cNvPr id="33" name="node08.body.item-001.paragraph"/>
            <p:cNvSpPr/>
            <p:nvPr/>
          </p:nvSpPr>
          <p:spPr>
            <a:xfrm>
              <a:off x="3581400" y="4940300"/>
              <a:ext cx="2286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Pilot teams reuse one shared workflow</a:t>
              </a:r>
              <a:endParaRPr lang="en-US" sz="1200" spc="0" kern="0" b="0" i="0" dirty="0">
                <a:solidFill>
                  <a:srgbClr val="50658E"/>
                </a:solidFill>
                <a:latin typeface="IBM Plex Sans"/>
                <a:ea typeface="IBM Plex Sans"/>
                <a:cs typeface="IBM Plex Sans"/>
              </a:endParaRPr>
            </a:p>
          </p:txBody>
        </p:sp>
      </p:grpSp>
      <p:grpSp>
        <p:nvGrpSpPr>
          <p:cNvPr id="70" name="node09"/>
          <p:cNvGrpSpPr/>
          <p:nvPr/>
        </p:nvGrpSpPr>
        <p:grpSpPr>
          <a:xfrm>
            <a:off x="6210300" y="1600200"/>
            <a:ext cx="2819400" cy="685800"/>
            <a:chOff x="6210300" y="1600200"/>
            <a:chExt cx="2819400" cy="685800"/>
          </a:xfrm>
        </p:grpSpPr>
        <p:sp>
          <p:nvSpPr>
            <p:cNvPr id="34" name="node09.surface"/>
            <p:cNvSpPr/>
            <p:nvPr/>
          </p:nvSpPr>
          <p:spPr>
            <a:xfrm>
              <a:off x="6210300" y="1600200"/>
              <a:ext cx="2819400" cy="685800"/>
            </a:xfrm>
            <a:custGeom>
              <a:avLst/>
              <a:gdLst/>
              <a:ahLst/>
              <a:cxnLst/>
              <a:rect l="l" t="t" r="r" b="b"/>
              <a:pathLst>
                <a:path w="2819400" h="685800">
                  <a:moveTo>
                    <a:pt x="0" y="0"/>
                  </a:moveTo>
                  <a:lnTo>
                    <a:pt x="2590800" y="0"/>
                  </a:lnTo>
                  <a:lnTo>
                    <a:pt x="2819400" y="342900"/>
                  </a:lnTo>
                  <a:lnTo>
                    <a:pt x="2590800" y="685800"/>
                  </a:lnTo>
                  <a:lnTo>
                    <a:pt x="0" y="685800"/>
                  </a:lnTo>
                  <a:lnTo>
                    <a:pt x="228600" y="342900"/>
                  </a:lnTo>
                  <a:close/>
                </a:path>
              </a:pathLst>
            </a:custGeom>
            <a:solidFill>
              <a:srgbClr val="070154"/>
            </a:solidFill>
            <a:ln>
              <a:noFill/>
            </a:ln>
          </p:spPr>
        </p:sp>
        <p:sp>
          <p:nvSpPr>
            <p:cNvPr id="35" name="node09.number"/>
            <p:cNvSpPr/>
            <p:nvPr/>
          </p:nvSpPr>
          <p:spPr>
            <a:xfrm>
              <a:off x="6515100" y="1809750"/>
              <a:ext cx="122364"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3</a:t>
              </a:r>
              <a:endParaRPr lang="en-US" sz="1600" spc="0" kern="0" b="0" i="0" dirty="0">
                <a:solidFill>
                  <a:srgbClr val="F900D3"/>
                </a:solidFill>
                <a:latin typeface="IBM Plex Mono SemiBold"/>
                <a:ea typeface="IBM Plex Mono SemiBold"/>
                <a:cs typeface="IBM Plex Mono SemiBold"/>
              </a:endParaRPr>
            </a:p>
          </p:txBody>
        </p:sp>
        <p:sp>
          <p:nvSpPr>
            <p:cNvPr id="36" name="node09.text"/>
            <p:cNvSpPr/>
            <p:nvPr/>
          </p:nvSpPr>
          <p:spPr>
            <a:xfrm>
              <a:off x="6751765" y="1847850"/>
              <a:ext cx="1973136"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SemiBold"/>
                  <a:ea typeface="IBM Plex Sans SemiBold"/>
                  <a:cs typeface="IBM Plex Sans SemiBold"/>
                </a:rPr>
                <a:t>Embed</a:t>
              </a:r>
              <a:endParaRPr lang="en-US" sz="1100" spc="0" kern="0" b="0" i="0" dirty="0">
                <a:solidFill>
                  <a:srgbClr val="FFFFFF"/>
                </a:solidFill>
                <a:latin typeface="IBM Plex Sans SemiBold"/>
                <a:ea typeface="IBM Plex Sans SemiBold"/>
                <a:cs typeface="IBM Plex Sans SemiBold"/>
              </a:endParaRPr>
            </a:p>
          </p:txBody>
        </p:sp>
      </p:grpSp>
      <p:grpSp>
        <p:nvGrpSpPr>
          <p:cNvPr id="71" name="node10"/>
          <p:cNvGrpSpPr/>
          <p:nvPr/>
        </p:nvGrpSpPr>
        <p:grpSpPr>
          <a:xfrm>
            <a:off x="6210300" y="2514600"/>
            <a:ext cx="2514600" cy="139700"/>
            <a:chOff x="6210300" y="2514600"/>
            <a:chExt cx="2514600" cy="139700"/>
          </a:xfrm>
        </p:grpSpPr>
        <p:sp>
          <p:nvSpPr>
            <p:cNvPr id="37" name="node10.text"/>
            <p:cNvSpPr/>
            <p:nvPr/>
          </p:nvSpPr>
          <p:spPr>
            <a:xfrm>
              <a:off x="6210300" y="2514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STAGE 3 → 4</a:t>
              </a:r>
              <a:endParaRPr lang="en-US" sz="800" spc="48" kern="0" b="0" i="0" dirty="0">
                <a:solidFill>
                  <a:srgbClr val="0047FF"/>
                </a:solidFill>
                <a:latin typeface="IBM Plex Mono Medium"/>
                <a:ea typeface="IBM Plex Mono Medium"/>
                <a:cs typeface="IBM Plex Mono Medium"/>
              </a:endParaRPr>
            </a:p>
          </p:txBody>
        </p:sp>
      </p:grpSp>
      <p:grpSp>
        <p:nvGrpSpPr>
          <p:cNvPr id="72" name="node11"/>
          <p:cNvGrpSpPr/>
          <p:nvPr/>
        </p:nvGrpSpPr>
        <p:grpSpPr>
          <a:xfrm>
            <a:off x="6210300" y="2819400"/>
            <a:ext cx="2514600" cy="939800"/>
            <a:chOff x="6210300" y="2819400"/>
            <a:chExt cx="2514600" cy="939800"/>
          </a:xfrm>
        </p:grpSpPr>
        <p:sp>
          <p:nvSpPr>
            <p:cNvPr id="38" name="node11.source-001.bullet"/>
            <p:cNvSpPr/>
            <p:nvPr/>
          </p:nvSpPr>
          <p:spPr>
            <a:xfrm>
              <a:off x="6210300" y="2908300"/>
              <a:ext cx="38100" cy="38100"/>
            </a:xfrm>
            <a:prstGeom prst="rect">
              <a:avLst/>
            </a:prstGeom>
            <a:solidFill>
              <a:srgbClr val="070154"/>
            </a:solidFill>
            <a:ln>
              <a:noFill/>
            </a:ln>
          </p:spPr>
        </p:sp>
        <p:sp>
          <p:nvSpPr>
            <p:cNvPr id="39" name="node11.source-001.text"/>
            <p:cNvSpPr/>
            <p:nvPr/>
          </p:nvSpPr>
          <p:spPr>
            <a:xfrm>
              <a:off x="6362700" y="28194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Connect agents to PM tool, repo and CI</a:t>
              </a:r>
              <a:endParaRPr lang="en-US" sz="1200" spc="0" kern="0" b="0" i="0" dirty="0">
                <a:solidFill>
                  <a:srgbClr val="070154"/>
                </a:solidFill>
                <a:latin typeface="IBM Plex Sans"/>
                <a:ea typeface="IBM Plex Sans"/>
                <a:cs typeface="IBM Plex Sans"/>
              </a:endParaRPr>
            </a:p>
          </p:txBody>
        </p:sp>
        <p:sp>
          <p:nvSpPr>
            <p:cNvPr id="40" name="node11.source-002.bullet"/>
            <p:cNvSpPr/>
            <p:nvPr/>
          </p:nvSpPr>
          <p:spPr>
            <a:xfrm>
              <a:off x="6210300" y="3378200"/>
              <a:ext cx="38100" cy="38100"/>
            </a:xfrm>
            <a:prstGeom prst="rect">
              <a:avLst/>
            </a:prstGeom>
            <a:solidFill>
              <a:srgbClr val="070154"/>
            </a:solidFill>
            <a:ln>
              <a:noFill/>
            </a:ln>
          </p:spPr>
        </p:sp>
        <p:sp>
          <p:nvSpPr>
            <p:cNvPr id="41" name="node11.source-002.text"/>
            <p:cNvSpPr/>
            <p:nvPr/>
          </p:nvSpPr>
          <p:spPr>
            <a:xfrm>
              <a:off x="6362700" y="32893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Add risk-based approval gates</a:t>
              </a:r>
              <a:endParaRPr lang="en-US" sz="1200" spc="0" kern="0" b="0" i="0" dirty="0">
                <a:solidFill>
                  <a:srgbClr val="070154"/>
                </a:solidFill>
                <a:latin typeface="IBM Plex Sans"/>
                <a:ea typeface="IBM Plex Sans"/>
                <a:cs typeface="IBM Plex Sans"/>
              </a:endParaRPr>
            </a:p>
          </p:txBody>
        </p:sp>
        <p:sp>
          <p:nvSpPr>
            <p:cNvPr id="42" name="node11.source-003.bullet"/>
            <p:cNvSpPr/>
            <p:nvPr/>
          </p:nvSpPr>
          <p:spPr>
            <a:xfrm>
              <a:off x="6210300" y="3632200"/>
              <a:ext cx="38100" cy="38100"/>
            </a:xfrm>
            <a:prstGeom prst="rect">
              <a:avLst/>
            </a:prstGeom>
            <a:solidFill>
              <a:srgbClr val="070154"/>
            </a:solidFill>
            <a:ln>
              <a:noFill/>
            </a:ln>
          </p:spPr>
        </p:sp>
        <p:sp>
          <p:nvSpPr>
            <p:cNvPr id="43" name="node11.source-003.text"/>
            <p:cNvSpPr/>
            <p:nvPr/>
          </p:nvSpPr>
          <p:spPr>
            <a:xfrm>
              <a:off x="6362700" y="35433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Train the next teams</a:t>
              </a:r>
              <a:endParaRPr lang="en-US" sz="1200" spc="0" kern="0" b="0" i="0" dirty="0">
                <a:solidFill>
                  <a:srgbClr val="070154"/>
                </a:solidFill>
                <a:latin typeface="IBM Plex Sans"/>
                <a:ea typeface="IBM Plex Sans"/>
                <a:cs typeface="IBM Plex Sans"/>
              </a:endParaRPr>
            </a:p>
          </p:txBody>
        </p:sp>
      </p:grpSp>
      <p:grpSp>
        <p:nvGrpSpPr>
          <p:cNvPr id="73" name="node12"/>
          <p:cNvGrpSpPr/>
          <p:nvPr/>
        </p:nvGrpSpPr>
        <p:grpSpPr>
          <a:xfrm>
            <a:off x="6210300" y="4572000"/>
            <a:ext cx="2514600" cy="1143000"/>
            <a:chOff x="6210300" y="4572000"/>
            <a:chExt cx="2514600" cy="1143000"/>
          </a:xfrm>
        </p:grpSpPr>
        <p:sp>
          <p:nvSpPr>
            <p:cNvPr id="44" name="node12.container"/>
            <p:cNvSpPr/>
            <p:nvPr/>
          </p:nvSpPr>
          <p:spPr>
            <a:xfrm>
              <a:off x="6210300" y="4572000"/>
              <a:ext cx="2514600" cy="1143000"/>
            </a:xfrm>
            <a:prstGeom prst="rect">
              <a:avLst/>
            </a:prstGeom>
            <a:solidFill>
              <a:srgbClr val="E8EEF8"/>
            </a:solidFill>
            <a:ln>
              <a:noFill/>
            </a:ln>
          </p:spPr>
        </p:sp>
        <p:sp>
          <p:nvSpPr>
            <p:cNvPr id="45" name="node12.edge"/>
            <p:cNvSpPr/>
            <p:nvPr/>
          </p:nvSpPr>
          <p:spPr>
            <a:xfrm>
              <a:off x="6210300" y="4572000"/>
              <a:ext cx="2514600" cy="38100"/>
            </a:xfrm>
            <a:prstGeom prst="rect">
              <a:avLst/>
            </a:prstGeom>
            <a:solidFill>
              <a:srgbClr val="0047FF"/>
            </a:solidFill>
            <a:ln>
              <a:noFill/>
            </a:ln>
          </p:spPr>
        </p:sp>
        <p:sp>
          <p:nvSpPr>
            <p:cNvPr id="46" name="node12.label"/>
            <p:cNvSpPr/>
            <p:nvPr/>
          </p:nvSpPr>
          <p:spPr>
            <a:xfrm>
              <a:off x="6324600" y="47244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DONE WHEN</a:t>
              </a:r>
              <a:endParaRPr lang="en-US" sz="800" spc="48" kern="0" b="0" i="0" dirty="0">
                <a:solidFill>
                  <a:srgbClr val="0047FF"/>
                </a:solidFill>
                <a:latin typeface="IBM Plex Mono Medium"/>
                <a:ea typeface="IBM Plex Mono Medium"/>
                <a:cs typeface="IBM Plex Mono Medium"/>
              </a:endParaRPr>
            </a:p>
          </p:txBody>
        </p:sp>
        <p:sp>
          <p:nvSpPr>
            <p:cNvPr id="47" name="node12.body.item-001.paragraph"/>
            <p:cNvSpPr/>
            <p:nvPr/>
          </p:nvSpPr>
          <p:spPr>
            <a:xfrm>
              <a:off x="6324600" y="4940300"/>
              <a:ext cx="2286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Handoffs run through agents with review</a:t>
              </a:r>
              <a:endParaRPr lang="en-US" sz="1200" spc="0" kern="0" b="0" i="0" dirty="0">
                <a:solidFill>
                  <a:srgbClr val="50658E"/>
                </a:solidFill>
                <a:latin typeface="IBM Plex Sans"/>
                <a:ea typeface="IBM Plex Sans"/>
                <a:cs typeface="IBM Plex Sans"/>
              </a:endParaRPr>
            </a:p>
          </p:txBody>
        </p:sp>
      </p:grpSp>
      <p:grpSp>
        <p:nvGrpSpPr>
          <p:cNvPr id="74" name="node13"/>
          <p:cNvGrpSpPr/>
          <p:nvPr/>
        </p:nvGrpSpPr>
        <p:grpSpPr>
          <a:xfrm>
            <a:off x="8953500" y="1600200"/>
            <a:ext cx="2514600" cy="685800"/>
            <a:chOff x="8953500" y="1600200"/>
            <a:chExt cx="2514600" cy="685800"/>
          </a:xfrm>
        </p:grpSpPr>
        <p:sp>
          <p:nvSpPr>
            <p:cNvPr id="48" name="node13.surface"/>
            <p:cNvSpPr/>
            <p:nvPr/>
          </p:nvSpPr>
          <p:spPr>
            <a:xfrm>
              <a:off x="8953500" y="1600200"/>
              <a:ext cx="2514600" cy="685800"/>
            </a:xfrm>
            <a:custGeom>
              <a:avLst/>
              <a:gdLst/>
              <a:ahLst/>
              <a:cxnLst/>
              <a:rect l="l" t="t" r="r" b="b"/>
              <a:pathLst>
                <a:path w="2514600" h="685800">
                  <a:moveTo>
                    <a:pt x="0" y="0"/>
                  </a:moveTo>
                  <a:lnTo>
                    <a:pt x="2286000" y="0"/>
                  </a:lnTo>
                  <a:lnTo>
                    <a:pt x="2514600" y="342900"/>
                  </a:lnTo>
                  <a:lnTo>
                    <a:pt x="2286000" y="685800"/>
                  </a:lnTo>
                  <a:lnTo>
                    <a:pt x="0" y="685800"/>
                  </a:lnTo>
                  <a:lnTo>
                    <a:pt x="228600" y="342900"/>
                  </a:lnTo>
                  <a:close/>
                </a:path>
              </a:pathLst>
            </a:custGeom>
            <a:solidFill>
              <a:srgbClr val="070154"/>
            </a:solidFill>
            <a:ln>
              <a:noFill/>
            </a:ln>
          </p:spPr>
        </p:sp>
        <p:sp>
          <p:nvSpPr>
            <p:cNvPr id="49" name="node13.number"/>
            <p:cNvSpPr/>
            <p:nvPr/>
          </p:nvSpPr>
          <p:spPr>
            <a:xfrm>
              <a:off x="9258300" y="1809750"/>
              <a:ext cx="122364"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4</a:t>
              </a:r>
              <a:endParaRPr lang="en-US" sz="1600" spc="0" kern="0" b="0" i="0" dirty="0">
                <a:solidFill>
                  <a:srgbClr val="F900D3"/>
                </a:solidFill>
                <a:latin typeface="IBM Plex Mono SemiBold"/>
                <a:ea typeface="IBM Plex Mono SemiBold"/>
                <a:cs typeface="IBM Plex Mono SemiBold"/>
              </a:endParaRPr>
            </a:p>
          </p:txBody>
        </p:sp>
        <p:sp>
          <p:nvSpPr>
            <p:cNvPr id="50" name="node13.text"/>
            <p:cNvSpPr/>
            <p:nvPr/>
          </p:nvSpPr>
          <p:spPr>
            <a:xfrm>
              <a:off x="9494965" y="1847850"/>
              <a:ext cx="1668336"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SemiBold"/>
                  <a:ea typeface="IBM Plex Sans SemiBold"/>
                  <a:cs typeface="IBM Plex Sans SemiBold"/>
                </a:rPr>
                <a:t>Extend</a:t>
              </a:r>
              <a:endParaRPr lang="en-US" sz="1100" spc="0" kern="0" b="0" i="0" dirty="0">
                <a:solidFill>
                  <a:srgbClr val="FFFFFF"/>
                </a:solidFill>
                <a:latin typeface="IBM Plex Sans SemiBold"/>
                <a:ea typeface="IBM Plex Sans SemiBold"/>
                <a:cs typeface="IBM Plex Sans SemiBold"/>
              </a:endParaRPr>
            </a:p>
          </p:txBody>
        </p:sp>
      </p:grpSp>
      <p:grpSp>
        <p:nvGrpSpPr>
          <p:cNvPr id="75" name="node14"/>
          <p:cNvGrpSpPr/>
          <p:nvPr/>
        </p:nvGrpSpPr>
        <p:grpSpPr>
          <a:xfrm>
            <a:off x="8953500" y="2514600"/>
            <a:ext cx="2514600" cy="139700"/>
            <a:chOff x="8953500" y="2514600"/>
            <a:chExt cx="2514600" cy="139700"/>
          </a:xfrm>
        </p:grpSpPr>
        <p:sp>
          <p:nvSpPr>
            <p:cNvPr id="51" name="node14.text"/>
            <p:cNvSpPr/>
            <p:nvPr/>
          </p:nvSpPr>
          <p:spPr>
            <a:xfrm>
              <a:off x="8953500" y="2514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STAGE 4 → 5</a:t>
              </a:r>
              <a:endParaRPr lang="en-US" sz="800" spc="48" kern="0" b="0" i="0" dirty="0">
                <a:solidFill>
                  <a:srgbClr val="0047FF"/>
                </a:solidFill>
                <a:latin typeface="IBM Plex Mono Medium"/>
                <a:ea typeface="IBM Plex Mono Medium"/>
                <a:cs typeface="IBM Plex Mono Medium"/>
              </a:endParaRPr>
            </a:p>
          </p:txBody>
        </p:sp>
      </p:grpSp>
      <p:grpSp>
        <p:nvGrpSpPr>
          <p:cNvPr id="76" name="node15"/>
          <p:cNvGrpSpPr/>
          <p:nvPr/>
        </p:nvGrpSpPr>
        <p:grpSpPr>
          <a:xfrm>
            <a:off x="8953500" y="2819400"/>
            <a:ext cx="2514600" cy="1155700"/>
            <a:chOff x="8953500" y="2819400"/>
            <a:chExt cx="2514600" cy="1155700"/>
          </a:xfrm>
        </p:grpSpPr>
        <p:sp>
          <p:nvSpPr>
            <p:cNvPr id="52" name="node15.source-001.bullet"/>
            <p:cNvSpPr/>
            <p:nvPr/>
          </p:nvSpPr>
          <p:spPr>
            <a:xfrm>
              <a:off x="8953500" y="2908300"/>
              <a:ext cx="38100" cy="38100"/>
            </a:xfrm>
            <a:prstGeom prst="rect">
              <a:avLst/>
            </a:prstGeom>
            <a:solidFill>
              <a:srgbClr val="070154"/>
            </a:solidFill>
            <a:ln>
              <a:noFill/>
            </a:ln>
          </p:spPr>
        </p:sp>
        <p:sp>
          <p:nvSpPr>
            <p:cNvPr id="53" name="node15.source-001.text"/>
            <p:cNvSpPr/>
            <p:nvPr/>
          </p:nvSpPr>
          <p:spPr>
            <a:xfrm>
              <a:off x="9105900" y="28194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Add telemetry and monitoring agents</a:t>
              </a:r>
              <a:endParaRPr lang="en-US" sz="1200" spc="0" kern="0" b="0" i="0" dirty="0">
                <a:solidFill>
                  <a:srgbClr val="070154"/>
                </a:solidFill>
                <a:latin typeface="IBM Plex Sans"/>
                <a:ea typeface="IBM Plex Sans"/>
                <a:cs typeface="IBM Plex Sans"/>
              </a:endParaRPr>
            </a:p>
          </p:txBody>
        </p:sp>
        <p:sp>
          <p:nvSpPr>
            <p:cNvPr id="54" name="node15.source-002.bullet"/>
            <p:cNvSpPr/>
            <p:nvPr/>
          </p:nvSpPr>
          <p:spPr>
            <a:xfrm>
              <a:off x="8953500" y="3378200"/>
              <a:ext cx="38100" cy="38100"/>
            </a:xfrm>
            <a:prstGeom prst="rect">
              <a:avLst/>
            </a:prstGeom>
            <a:solidFill>
              <a:srgbClr val="070154"/>
            </a:solidFill>
            <a:ln>
              <a:noFill/>
            </a:ln>
          </p:spPr>
        </p:sp>
        <p:sp>
          <p:nvSpPr>
            <p:cNvPr id="55" name="node15.source-002.text"/>
            <p:cNvSpPr/>
            <p:nvPr/>
          </p:nvSpPr>
          <p:spPr>
            <a:xfrm>
              <a:off x="9105900" y="32893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Extend to engineering, SRE and support</a:t>
              </a:r>
              <a:endParaRPr lang="en-US" sz="1200" spc="0" kern="0" b="0" i="0" dirty="0">
                <a:solidFill>
                  <a:srgbClr val="070154"/>
                </a:solidFill>
                <a:latin typeface="IBM Plex Sans"/>
                <a:ea typeface="IBM Plex Sans"/>
                <a:cs typeface="IBM Plex Sans"/>
              </a:endParaRPr>
            </a:p>
          </p:txBody>
        </p:sp>
        <p:sp>
          <p:nvSpPr>
            <p:cNvPr id="56" name="node15.source-003.bullet"/>
            <p:cNvSpPr/>
            <p:nvPr/>
          </p:nvSpPr>
          <p:spPr>
            <a:xfrm>
              <a:off x="8953500" y="3848100"/>
              <a:ext cx="38100" cy="38100"/>
            </a:xfrm>
            <a:prstGeom prst="rect">
              <a:avLst/>
            </a:prstGeom>
            <a:solidFill>
              <a:srgbClr val="070154"/>
            </a:solidFill>
            <a:ln>
              <a:noFill/>
            </a:ln>
          </p:spPr>
        </p:sp>
        <p:sp>
          <p:nvSpPr>
            <p:cNvPr id="57" name="node15.source-003.text"/>
            <p:cNvSpPr/>
            <p:nvPr/>
          </p:nvSpPr>
          <p:spPr>
            <a:xfrm>
              <a:off x="9105900" y="3759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Hand the practice to Northfield</a:t>
              </a:r>
              <a:endParaRPr lang="en-US" sz="1200" spc="0" kern="0" b="0" i="0" dirty="0">
                <a:solidFill>
                  <a:srgbClr val="070154"/>
                </a:solidFill>
                <a:latin typeface="IBM Plex Sans"/>
                <a:ea typeface="IBM Plex Sans"/>
                <a:cs typeface="IBM Plex Sans"/>
              </a:endParaRPr>
            </a:p>
          </p:txBody>
        </p:sp>
      </p:grpSp>
      <p:grpSp>
        <p:nvGrpSpPr>
          <p:cNvPr id="77" name="node16"/>
          <p:cNvGrpSpPr/>
          <p:nvPr/>
        </p:nvGrpSpPr>
        <p:grpSpPr>
          <a:xfrm>
            <a:off x="8953500" y="4572000"/>
            <a:ext cx="2514600" cy="1143000"/>
            <a:chOff x="8953500" y="4572000"/>
            <a:chExt cx="2514600" cy="1143000"/>
          </a:xfrm>
        </p:grpSpPr>
        <p:sp>
          <p:nvSpPr>
            <p:cNvPr id="58" name="node16.container"/>
            <p:cNvSpPr/>
            <p:nvPr/>
          </p:nvSpPr>
          <p:spPr>
            <a:xfrm>
              <a:off x="8953500" y="4572000"/>
              <a:ext cx="2514600" cy="1143000"/>
            </a:xfrm>
            <a:prstGeom prst="rect">
              <a:avLst/>
            </a:prstGeom>
            <a:solidFill>
              <a:srgbClr val="E8EEF8"/>
            </a:solidFill>
            <a:ln>
              <a:noFill/>
            </a:ln>
          </p:spPr>
        </p:sp>
        <p:sp>
          <p:nvSpPr>
            <p:cNvPr id="59" name="node16.edge"/>
            <p:cNvSpPr/>
            <p:nvPr/>
          </p:nvSpPr>
          <p:spPr>
            <a:xfrm>
              <a:off x="8953500" y="4572000"/>
              <a:ext cx="2514600" cy="38100"/>
            </a:xfrm>
            <a:prstGeom prst="rect">
              <a:avLst/>
            </a:prstGeom>
            <a:solidFill>
              <a:srgbClr val="0047FF"/>
            </a:solidFill>
            <a:ln>
              <a:noFill/>
            </a:ln>
          </p:spPr>
        </p:sp>
        <p:sp>
          <p:nvSpPr>
            <p:cNvPr id="60" name="node16.label"/>
            <p:cNvSpPr/>
            <p:nvPr/>
          </p:nvSpPr>
          <p:spPr>
            <a:xfrm>
              <a:off x="9067800" y="4724400"/>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DONE WHEN</a:t>
              </a:r>
              <a:endParaRPr lang="en-US" sz="800" spc="48" kern="0" b="0" i="0" dirty="0">
                <a:solidFill>
                  <a:srgbClr val="0047FF"/>
                </a:solidFill>
                <a:latin typeface="IBM Plex Mono Medium"/>
                <a:ea typeface="IBM Plex Mono Medium"/>
                <a:cs typeface="IBM Plex Mono Medium"/>
              </a:endParaRPr>
            </a:p>
          </p:txBody>
        </p:sp>
        <p:sp>
          <p:nvSpPr>
            <p:cNvPr id="61" name="node16.body.item-001.paragraph"/>
            <p:cNvSpPr/>
            <p:nvPr/>
          </p:nvSpPr>
          <p:spPr>
            <a:xfrm>
              <a:off x="9067800" y="4940300"/>
              <a:ext cx="2286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Skills improve from delivery data</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ource-29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AI-NATIVE PDLC</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lessons shape the climb to AI-native delivery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120</a:t>
            </a:fld>
            <a:endParaRPr lang="en-US" sz="700" spc="0" kern="0" b="0" i="0" dirty="0">
              <a:solidFill>
                <a:srgbClr val="070154"/>
              </a:solidFill>
              <a:latin typeface="IBM Plex Mono SemiBold"/>
              <a:ea typeface="IBM Plex Mono SemiBold"/>
              <a:cs typeface="IBM Plex Mono SemiBold"/>
            </a:endParaRPr>
          </a:p>
        </p:txBody>
      </p:sp>
      <p:grpSp>
        <p:nvGrpSpPr>
          <p:cNvPr id="56" name="node01"/>
          <p:cNvGrpSpPr/>
          <p:nvPr/>
        </p:nvGrpSpPr>
        <p:grpSpPr>
          <a:xfrm>
            <a:off x="708025" y="1600200"/>
            <a:ext cx="7118350" cy="4114800"/>
            <a:chOff x="708025" y="1600200"/>
            <a:chExt cx="7118350" cy="4114800"/>
          </a:xfrm>
        </p:grpSpPr>
        <p:sp>
          <p:nvSpPr>
            <p:cNvPr id="6" name="node01.curve"/>
            <p:cNvSpPr/>
            <p:nvPr/>
          </p:nvSpPr>
          <p:spPr>
            <a:xfrm>
              <a:off x="723900" y="2072640"/>
              <a:ext cx="7086600" cy="3017520"/>
            </a:xfrm>
            <a:custGeom>
              <a:avLst/>
              <a:gdLst/>
              <a:ahLst/>
              <a:cxnLst/>
              <a:rect l="l" t="t" r="r" b="b"/>
              <a:pathLst>
                <a:path w="7086600" h="3017520">
                  <a:moveTo>
                    <a:pt x="0" y="3017520"/>
                  </a:moveTo>
                  <a:lnTo>
                    <a:pt x="118110" y="3014189"/>
                  </a:lnTo>
                  <a:lnTo>
                    <a:pt x="236220" y="3010617"/>
                  </a:lnTo>
                  <a:lnTo>
                    <a:pt x="354330" y="3006785"/>
                  </a:lnTo>
                  <a:lnTo>
                    <a:pt x="472440" y="3002676"/>
                  </a:lnTo>
                  <a:lnTo>
                    <a:pt x="590550" y="2998269"/>
                  </a:lnTo>
                  <a:lnTo>
                    <a:pt x="708660" y="2993542"/>
                  </a:lnTo>
                  <a:lnTo>
                    <a:pt x="826770" y="2988472"/>
                  </a:lnTo>
                  <a:lnTo>
                    <a:pt x="944880" y="2983035"/>
                  </a:lnTo>
                  <a:lnTo>
                    <a:pt x="1062990" y="2977204"/>
                  </a:lnTo>
                  <a:lnTo>
                    <a:pt x="1181100" y="2970950"/>
                  </a:lnTo>
                  <a:lnTo>
                    <a:pt x="1299210" y="2964242"/>
                  </a:lnTo>
                  <a:lnTo>
                    <a:pt x="1417320" y="2957048"/>
                  </a:lnTo>
                  <a:lnTo>
                    <a:pt x="1535430" y="2949333"/>
                  </a:lnTo>
                  <a:lnTo>
                    <a:pt x="1653540" y="2941058"/>
                  </a:lnTo>
                  <a:lnTo>
                    <a:pt x="1771650" y="2932183"/>
                  </a:lnTo>
                  <a:lnTo>
                    <a:pt x="1889760" y="2922664"/>
                  </a:lnTo>
                  <a:lnTo>
                    <a:pt x="2007870" y="2912455"/>
                  </a:lnTo>
                  <a:lnTo>
                    <a:pt x="2125980" y="2901506"/>
                  </a:lnTo>
                  <a:lnTo>
                    <a:pt x="2244090" y="2889764"/>
                  </a:lnTo>
                  <a:lnTo>
                    <a:pt x="2362200" y="2877169"/>
                  </a:lnTo>
                  <a:lnTo>
                    <a:pt x="2480310" y="2863662"/>
                  </a:lnTo>
                  <a:lnTo>
                    <a:pt x="2598420" y="2849175"/>
                  </a:lnTo>
                  <a:lnTo>
                    <a:pt x="2716530" y="2833638"/>
                  </a:lnTo>
                  <a:lnTo>
                    <a:pt x="2834640" y="2816974"/>
                  </a:lnTo>
                  <a:lnTo>
                    <a:pt x="2952750" y="2799102"/>
                  </a:lnTo>
                  <a:lnTo>
                    <a:pt x="3070860" y="2779933"/>
                  </a:lnTo>
                  <a:lnTo>
                    <a:pt x="3188970" y="2759376"/>
                  </a:lnTo>
                  <a:lnTo>
                    <a:pt x="3307080" y="2737327"/>
                  </a:lnTo>
                  <a:lnTo>
                    <a:pt x="3425190" y="2713680"/>
                  </a:lnTo>
                  <a:lnTo>
                    <a:pt x="3543300" y="2688318"/>
                  </a:lnTo>
                  <a:lnTo>
                    <a:pt x="3661410" y="2661117"/>
                  </a:lnTo>
                  <a:lnTo>
                    <a:pt x="3779520" y="2631944"/>
                  </a:lnTo>
                  <a:lnTo>
                    <a:pt x="3897630" y="2600656"/>
                  </a:lnTo>
                  <a:lnTo>
                    <a:pt x="4015740" y="2567099"/>
                  </a:lnTo>
                  <a:lnTo>
                    <a:pt x="4133850" y="2531109"/>
                  </a:lnTo>
                  <a:lnTo>
                    <a:pt x="4251960" y="2492509"/>
                  </a:lnTo>
                  <a:lnTo>
                    <a:pt x="4370070" y="2451111"/>
                  </a:lnTo>
                  <a:lnTo>
                    <a:pt x="4488180" y="2406711"/>
                  </a:lnTo>
                  <a:lnTo>
                    <a:pt x="4606290" y="2359091"/>
                  </a:lnTo>
                  <a:lnTo>
                    <a:pt x="4724400" y="2308019"/>
                  </a:lnTo>
                  <a:lnTo>
                    <a:pt x="4842510" y="2253243"/>
                  </a:lnTo>
                  <a:lnTo>
                    <a:pt x="4960620" y="2194496"/>
                  </a:lnTo>
                  <a:lnTo>
                    <a:pt x="5078730" y="2131489"/>
                  </a:lnTo>
                  <a:lnTo>
                    <a:pt x="5196840" y="2063914"/>
                  </a:lnTo>
                  <a:lnTo>
                    <a:pt x="5314950" y="1991439"/>
                  </a:lnTo>
                  <a:lnTo>
                    <a:pt x="5433060" y="1913708"/>
                  </a:lnTo>
                  <a:lnTo>
                    <a:pt x="5551170" y="1830342"/>
                  </a:lnTo>
                  <a:lnTo>
                    <a:pt x="5669280" y="1740931"/>
                  </a:lnTo>
                  <a:lnTo>
                    <a:pt x="5787390" y="1645037"/>
                  </a:lnTo>
                  <a:lnTo>
                    <a:pt x="5905500" y="1542190"/>
                  </a:lnTo>
                  <a:lnTo>
                    <a:pt x="6023610" y="1431886"/>
                  </a:lnTo>
                  <a:lnTo>
                    <a:pt x="6141720" y="1313583"/>
                  </a:lnTo>
                  <a:lnTo>
                    <a:pt x="6259830" y="1186703"/>
                  </a:lnTo>
                  <a:lnTo>
                    <a:pt x="6377940" y="1050623"/>
                  </a:lnTo>
                  <a:lnTo>
                    <a:pt x="6496050" y="904676"/>
                  </a:lnTo>
                  <a:lnTo>
                    <a:pt x="6614160" y="748146"/>
                  </a:lnTo>
                  <a:lnTo>
                    <a:pt x="6732270" y="580267"/>
                  </a:lnTo>
                  <a:lnTo>
                    <a:pt x="6850380" y="400216"/>
                  </a:lnTo>
                  <a:lnTo>
                    <a:pt x="6968490" y="207109"/>
                  </a:lnTo>
                  <a:lnTo>
                    <a:pt x="7086600" y="0"/>
                  </a:lnTo>
                </a:path>
              </a:pathLst>
            </a:custGeom>
            <a:ln w="31750">
              <a:solidFill>
                <a:srgbClr val="070154"/>
              </a:solidFill>
              <a:prstDash val="solid"/>
            </a:ln>
          </p:spPr>
        </p:sp>
        <p:sp>
          <p:nvSpPr>
            <p:cNvPr id="7" name="node01.curve.cap-1"/>
            <p:cNvSpPr/>
            <p:nvPr/>
          </p:nvSpPr>
          <p:spPr>
            <a:xfrm>
              <a:off x="708025" y="5074285"/>
              <a:ext cx="31750" cy="31750"/>
            </a:xfrm>
            <a:prstGeom prst="ellipse">
              <a:avLst/>
            </a:prstGeom>
            <a:solidFill>
              <a:srgbClr val="070154"/>
            </a:solidFill>
            <a:ln>
              <a:noFill/>
            </a:ln>
          </p:spPr>
        </p:sp>
        <p:sp>
          <p:nvSpPr>
            <p:cNvPr id="8" name="node01.curve.cap-2"/>
            <p:cNvSpPr/>
            <p:nvPr/>
          </p:nvSpPr>
          <p:spPr>
            <a:xfrm>
              <a:off x="7794625" y="2056765"/>
              <a:ext cx="31750" cy="31750"/>
            </a:xfrm>
            <a:prstGeom prst="ellipse">
              <a:avLst/>
            </a:prstGeom>
            <a:solidFill>
              <a:srgbClr val="070154"/>
            </a:solidFill>
            <a:ln>
              <a:noFill/>
            </a:ln>
          </p:spPr>
        </p:sp>
        <p:sp>
          <p:nvSpPr>
            <p:cNvPr id="9" name="node01.arrow-1"/>
            <p:cNvSpPr/>
            <p:nvPr/>
          </p:nvSpPr>
          <p:spPr>
            <a:xfrm>
              <a:off x="7806284" y="2072640"/>
              <a:ext cx="4216" cy="126930"/>
            </a:xfrm>
            <a:custGeom>
              <a:avLst/>
              <a:gdLst/>
              <a:ahLst/>
              <a:cxnLst/>
              <a:rect l="l" t="t" r="r" b="b"/>
              <a:pathLst>
                <a:path w="4216" h="126930">
                  <a:moveTo>
                    <a:pt x="4216" y="0"/>
                  </a:moveTo>
                  <a:lnTo>
                    <a:pt x="0" y="126930"/>
                  </a:lnTo>
                </a:path>
              </a:pathLst>
            </a:custGeom>
            <a:ln w="31750">
              <a:solidFill>
                <a:srgbClr val="070154"/>
              </a:solidFill>
              <a:prstDash val="solid"/>
            </a:ln>
          </p:spPr>
        </p:sp>
        <p:sp>
          <p:nvSpPr>
            <p:cNvPr id="10" name="node01.arrow-1.cap-1"/>
            <p:cNvSpPr/>
            <p:nvPr/>
          </p:nvSpPr>
          <p:spPr>
            <a:xfrm>
              <a:off x="7794625" y="2056765"/>
              <a:ext cx="31750" cy="31750"/>
            </a:xfrm>
            <a:prstGeom prst="ellipse">
              <a:avLst/>
            </a:prstGeom>
            <a:solidFill>
              <a:srgbClr val="070154"/>
            </a:solidFill>
            <a:ln>
              <a:noFill/>
            </a:ln>
          </p:spPr>
        </p:sp>
        <p:sp>
          <p:nvSpPr>
            <p:cNvPr id="11" name="node01.arrow-1.cap-2"/>
            <p:cNvSpPr/>
            <p:nvPr/>
          </p:nvSpPr>
          <p:spPr>
            <a:xfrm>
              <a:off x="7790409" y="2183695"/>
              <a:ext cx="31750" cy="31750"/>
            </a:xfrm>
            <a:prstGeom prst="ellipse">
              <a:avLst/>
            </a:prstGeom>
            <a:solidFill>
              <a:srgbClr val="070154"/>
            </a:solidFill>
            <a:ln>
              <a:noFill/>
            </a:ln>
          </p:spPr>
        </p:sp>
        <p:sp>
          <p:nvSpPr>
            <p:cNvPr id="12" name="node01.arrow-2"/>
            <p:cNvSpPr/>
            <p:nvPr/>
          </p:nvSpPr>
          <p:spPr>
            <a:xfrm>
              <a:off x="7701414" y="2072640"/>
              <a:ext cx="109086" cy="65033"/>
            </a:xfrm>
            <a:custGeom>
              <a:avLst/>
              <a:gdLst/>
              <a:ahLst/>
              <a:cxnLst/>
              <a:rect l="l" t="t" r="r" b="b"/>
              <a:pathLst>
                <a:path w="109086" h="65033">
                  <a:moveTo>
                    <a:pt x="109086" y="0"/>
                  </a:moveTo>
                  <a:lnTo>
                    <a:pt x="0" y="65033"/>
                  </a:lnTo>
                </a:path>
              </a:pathLst>
            </a:custGeom>
            <a:ln w="31750">
              <a:solidFill>
                <a:srgbClr val="070154"/>
              </a:solidFill>
              <a:prstDash val="solid"/>
            </a:ln>
          </p:spPr>
        </p:sp>
        <p:sp>
          <p:nvSpPr>
            <p:cNvPr id="13" name="node01.arrow-2.cap-1"/>
            <p:cNvSpPr/>
            <p:nvPr/>
          </p:nvSpPr>
          <p:spPr>
            <a:xfrm>
              <a:off x="7794625" y="2056765"/>
              <a:ext cx="31750" cy="31750"/>
            </a:xfrm>
            <a:prstGeom prst="ellipse">
              <a:avLst/>
            </a:prstGeom>
            <a:solidFill>
              <a:srgbClr val="070154"/>
            </a:solidFill>
            <a:ln>
              <a:noFill/>
            </a:ln>
          </p:spPr>
        </p:sp>
        <p:sp>
          <p:nvSpPr>
            <p:cNvPr id="14" name="node01.arrow-2.cap-2"/>
            <p:cNvSpPr/>
            <p:nvPr/>
          </p:nvSpPr>
          <p:spPr>
            <a:xfrm>
              <a:off x="7685539" y="2121798"/>
              <a:ext cx="31750" cy="31750"/>
            </a:xfrm>
            <a:prstGeom prst="ellipse">
              <a:avLst/>
            </a:prstGeom>
            <a:solidFill>
              <a:srgbClr val="070154"/>
            </a:solidFill>
            <a:ln>
              <a:noFill/>
            </a:ln>
          </p:spPr>
        </p:sp>
        <p:sp>
          <p:nvSpPr>
            <p:cNvPr id="15" name="node01.axis"/>
            <p:cNvSpPr/>
            <p:nvPr/>
          </p:nvSpPr>
          <p:spPr>
            <a:xfrm>
              <a:off x="723900" y="5562600"/>
              <a:ext cx="7086600" cy="0"/>
            </a:xfrm>
            <a:custGeom>
              <a:avLst/>
              <a:gdLst/>
              <a:ahLst/>
              <a:cxnLst/>
              <a:rect l="l" t="t" r="r" b="b"/>
              <a:pathLst>
                <a:path w="7086600">
                  <a:moveTo>
                    <a:pt x="0" y="0"/>
                  </a:moveTo>
                  <a:lnTo>
                    <a:pt x="7086600" y="0"/>
                  </a:lnTo>
                </a:path>
              </a:pathLst>
            </a:custGeom>
            <a:ln w="12700">
              <a:solidFill>
                <a:srgbClr val="070154"/>
              </a:solidFill>
              <a:prstDash val="solid"/>
            </a:ln>
          </p:spPr>
        </p:sp>
        <p:sp>
          <p:nvSpPr>
            <p:cNvPr id="16" name="node01.axis.arrow"/>
            <p:cNvSpPr/>
            <p:nvPr/>
          </p:nvSpPr>
          <p:spPr>
            <a:xfrm>
              <a:off x="7721600" y="5511800"/>
              <a:ext cx="88900" cy="101600"/>
            </a:xfrm>
            <a:custGeom>
              <a:avLst/>
              <a:gdLst/>
              <a:ahLst/>
              <a:cxnLst/>
              <a:rect l="l" t="t" r="r" b="b"/>
              <a:pathLst>
                <a:path w="88900" h="101600">
                  <a:moveTo>
                    <a:pt x="0" y="0"/>
                  </a:moveTo>
                  <a:lnTo>
                    <a:pt x="88900" y="50800"/>
                  </a:lnTo>
                  <a:lnTo>
                    <a:pt x="0" y="101600"/>
                  </a:lnTo>
                </a:path>
              </a:pathLst>
            </a:custGeom>
            <a:ln w="12700">
              <a:solidFill>
                <a:srgbClr val="070154"/>
              </a:solidFill>
              <a:prstDash val="solid"/>
            </a:ln>
          </p:spPr>
        </p:sp>
        <p:sp>
          <p:nvSpPr>
            <p:cNvPr id="17" name="node01.axis.label-bg"/>
            <p:cNvSpPr/>
            <p:nvPr/>
          </p:nvSpPr>
          <p:spPr>
            <a:xfrm>
              <a:off x="3124200" y="5486400"/>
              <a:ext cx="2286000" cy="139700"/>
            </a:xfrm>
            <a:prstGeom prst="rect">
              <a:avLst/>
            </a:prstGeom>
            <a:solidFill>
              <a:srgbClr val="FFFFFF"/>
            </a:solidFill>
            <a:ln>
              <a:noFill/>
            </a:ln>
          </p:spPr>
        </p:sp>
        <p:sp>
          <p:nvSpPr>
            <p:cNvPr id="18" name="node01.axis.label"/>
            <p:cNvSpPr/>
            <p:nvPr/>
          </p:nvSpPr>
          <p:spPr>
            <a:xfrm>
              <a:off x="3124200" y="5486400"/>
              <a:ext cx="2286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INCREASING SCOPE</a:t>
              </a:r>
              <a:endParaRPr lang="en-US" sz="800" spc="48" kern="0" b="0" i="0" dirty="0">
                <a:solidFill>
                  <a:srgbClr val="070154"/>
                </a:solidFill>
                <a:latin typeface="IBM Plex Mono SemiBold"/>
                <a:ea typeface="IBM Plex Mono SemiBold"/>
                <a:cs typeface="IBM Plex Mono SemiBold"/>
              </a:endParaRPr>
            </a:p>
          </p:txBody>
        </p:sp>
        <p:sp>
          <p:nvSpPr>
            <p:cNvPr id="19" name="node01.stages.source-001.circle"/>
            <p:cNvSpPr/>
            <p:nvPr/>
          </p:nvSpPr>
          <p:spPr>
            <a:xfrm>
              <a:off x="938530" y="4939725"/>
              <a:ext cx="279400" cy="279400"/>
            </a:xfrm>
            <a:prstGeom prst="ellipse">
              <a:avLst/>
            </a:prstGeom>
            <a:solidFill>
              <a:srgbClr val="FFFFFF"/>
            </a:solidFill>
            <a:ln w="25400">
              <a:solidFill>
                <a:srgbClr val="070154"/>
              </a:solidFill>
              <a:prstDash val="solid"/>
            </a:ln>
          </p:spPr>
        </p:sp>
        <p:sp>
          <p:nvSpPr>
            <p:cNvPr id="20" name="node01.stages.source-001.number"/>
            <p:cNvSpPr/>
            <p:nvPr/>
          </p:nvSpPr>
          <p:spPr>
            <a:xfrm>
              <a:off x="951230" y="4927025"/>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1.tick"/>
            <p:cNvSpPr/>
            <p:nvPr/>
          </p:nvSpPr>
          <p:spPr>
            <a:xfrm>
              <a:off x="1071880" y="4698425"/>
              <a:ext cx="12700" cy="228600"/>
            </a:xfrm>
            <a:prstGeom prst="rect">
              <a:avLst/>
            </a:prstGeom>
            <a:solidFill>
              <a:srgbClr val="070154"/>
            </a:solidFill>
            <a:ln>
              <a:noFill/>
            </a:ln>
          </p:spPr>
        </p:sp>
        <p:sp>
          <p:nvSpPr>
            <p:cNvPr id="22" name="node01.stages.source-001.label"/>
            <p:cNvSpPr/>
            <p:nvPr/>
          </p:nvSpPr>
          <p:spPr>
            <a:xfrm>
              <a:off x="925830" y="4076125"/>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SemiBold"/>
                  <a:ea typeface="IBM Plex Mono SemiBold"/>
                  <a:cs typeface="IBM Plex Mono SemiBold"/>
                </a:rPr>
                <a:t>MANUAL</a:t>
              </a:r>
              <a:endParaRPr lang="en-US" sz="800" spc="48" kern="0" b="0" i="0" dirty="0">
                <a:solidFill>
                  <a:srgbClr val="0047FF"/>
                </a:solidFill>
                <a:latin typeface="IBM Plex Mono SemiBold"/>
                <a:ea typeface="IBM Plex Mono SemiBold"/>
                <a:cs typeface="IBM Plex Mono SemiBold"/>
              </a:endParaRPr>
            </a:p>
          </p:txBody>
        </p:sp>
        <p:sp>
          <p:nvSpPr>
            <p:cNvPr id="23" name="node01.stages.source-001.text"/>
            <p:cNvSpPr/>
            <p:nvPr/>
          </p:nvSpPr>
          <p:spPr>
            <a:xfrm>
              <a:off x="925830" y="4266625"/>
              <a:ext cx="1371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People do the work end to end.</a:t>
              </a:r>
              <a:endParaRPr lang="en-US" sz="1100" spc="0" kern="0" b="0" i="0" dirty="0">
                <a:solidFill>
                  <a:srgbClr val="070154"/>
                </a:solidFill>
                <a:latin typeface="IBM Plex Sans"/>
                <a:ea typeface="IBM Plex Sans"/>
                <a:cs typeface="IBM Plex Sans"/>
              </a:endParaRPr>
            </a:p>
          </p:txBody>
        </p:sp>
        <p:sp>
          <p:nvSpPr>
            <p:cNvPr id="24" name="node01.stages.source-002.circle"/>
            <p:cNvSpPr/>
            <p:nvPr/>
          </p:nvSpPr>
          <p:spPr>
            <a:xfrm>
              <a:off x="2355850" y="4865123"/>
              <a:ext cx="279400" cy="279400"/>
            </a:xfrm>
            <a:prstGeom prst="ellipse">
              <a:avLst/>
            </a:prstGeom>
            <a:solidFill>
              <a:srgbClr val="FFFFFF"/>
            </a:solidFill>
            <a:ln w="25400">
              <a:solidFill>
                <a:srgbClr val="070154"/>
              </a:solidFill>
              <a:prstDash val="solid"/>
            </a:ln>
          </p:spPr>
        </p:sp>
        <p:sp>
          <p:nvSpPr>
            <p:cNvPr id="25" name="node01.stages.source-002.number"/>
            <p:cNvSpPr/>
            <p:nvPr/>
          </p:nvSpPr>
          <p:spPr>
            <a:xfrm>
              <a:off x="2368550" y="4852423"/>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6" name="node01.stages.source-002.tick"/>
            <p:cNvSpPr/>
            <p:nvPr/>
          </p:nvSpPr>
          <p:spPr>
            <a:xfrm>
              <a:off x="2489200" y="4623823"/>
              <a:ext cx="12700" cy="228600"/>
            </a:xfrm>
            <a:prstGeom prst="rect">
              <a:avLst/>
            </a:prstGeom>
            <a:solidFill>
              <a:srgbClr val="070154"/>
            </a:solidFill>
            <a:ln>
              <a:noFill/>
            </a:ln>
          </p:spPr>
        </p:sp>
        <p:sp>
          <p:nvSpPr>
            <p:cNvPr id="27" name="node01.stages.source-002.label"/>
            <p:cNvSpPr/>
            <p:nvPr/>
          </p:nvSpPr>
          <p:spPr>
            <a:xfrm>
              <a:off x="2343150" y="4001523"/>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SemiBold"/>
                  <a:ea typeface="IBM Plex Mono SemiBold"/>
                  <a:cs typeface="IBM Plex Mono SemiBold"/>
                </a:rPr>
                <a:t>AI-ASSISTED</a:t>
              </a:r>
              <a:endParaRPr lang="en-US" sz="800" spc="48" kern="0" b="0" i="0" dirty="0">
                <a:solidFill>
                  <a:srgbClr val="0047FF"/>
                </a:solidFill>
                <a:latin typeface="IBM Plex Mono SemiBold"/>
                <a:ea typeface="IBM Plex Mono SemiBold"/>
                <a:cs typeface="IBM Plex Mono SemiBold"/>
              </a:endParaRPr>
            </a:p>
          </p:txBody>
        </p:sp>
        <p:sp>
          <p:nvSpPr>
            <p:cNvPr id="28" name="node01.stages.source-002.text"/>
            <p:cNvSpPr/>
            <p:nvPr/>
          </p:nvSpPr>
          <p:spPr>
            <a:xfrm>
              <a:off x="2343150" y="4192023"/>
              <a:ext cx="1371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AI helps with bounded tasks.</a:t>
              </a:r>
              <a:endParaRPr lang="en-US" sz="1100" spc="0" kern="0" b="0" i="0" dirty="0">
                <a:solidFill>
                  <a:srgbClr val="070154"/>
                </a:solidFill>
                <a:latin typeface="IBM Plex Sans"/>
                <a:ea typeface="IBM Plex Sans"/>
                <a:cs typeface="IBM Plex Sans"/>
              </a:endParaRPr>
            </a:p>
          </p:txBody>
        </p:sp>
        <p:sp>
          <p:nvSpPr>
            <p:cNvPr id="29" name="node01.stages.source-003.circle"/>
            <p:cNvSpPr/>
            <p:nvPr/>
          </p:nvSpPr>
          <p:spPr>
            <a:xfrm>
              <a:off x="3844036" y="4679272"/>
              <a:ext cx="279400" cy="279400"/>
            </a:xfrm>
            <a:prstGeom prst="ellipse">
              <a:avLst/>
            </a:prstGeom>
            <a:solidFill>
              <a:srgbClr val="FFFFFF"/>
            </a:solidFill>
            <a:ln w="25400">
              <a:solidFill>
                <a:srgbClr val="070154"/>
              </a:solidFill>
              <a:prstDash val="solid"/>
            </a:ln>
          </p:spPr>
        </p:sp>
        <p:sp>
          <p:nvSpPr>
            <p:cNvPr id="30" name="node01.stages.source-003.number"/>
            <p:cNvSpPr/>
            <p:nvPr/>
          </p:nvSpPr>
          <p:spPr>
            <a:xfrm>
              <a:off x="3856736" y="4666572"/>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31" name="node01.stages.source-003.tick"/>
            <p:cNvSpPr/>
            <p:nvPr/>
          </p:nvSpPr>
          <p:spPr>
            <a:xfrm>
              <a:off x="3977386" y="4437972"/>
              <a:ext cx="12700" cy="228600"/>
            </a:xfrm>
            <a:prstGeom prst="rect">
              <a:avLst/>
            </a:prstGeom>
            <a:solidFill>
              <a:srgbClr val="070154"/>
            </a:solidFill>
            <a:ln>
              <a:noFill/>
            </a:ln>
          </p:spPr>
        </p:sp>
        <p:sp>
          <p:nvSpPr>
            <p:cNvPr id="32" name="node01.stages.source-003.label"/>
            <p:cNvSpPr/>
            <p:nvPr/>
          </p:nvSpPr>
          <p:spPr>
            <a:xfrm>
              <a:off x="3831336" y="3815672"/>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SemiBold"/>
                  <a:ea typeface="IBM Plex Mono SemiBold"/>
                  <a:cs typeface="IBM Plex Mono SemiBold"/>
                </a:rPr>
                <a:t>REPEATABLE</a:t>
              </a:r>
              <a:endParaRPr lang="en-US" sz="800" spc="48" kern="0" b="0" i="0" dirty="0">
                <a:solidFill>
                  <a:srgbClr val="0047FF"/>
                </a:solidFill>
                <a:latin typeface="IBM Plex Mono SemiBold"/>
                <a:ea typeface="IBM Plex Mono SemiBold"/>
                <a:cs typeface="IBM Plex Mono SemiBold"/>
              </a:endParaRPr>
            </a:p>
          </p:txBody>
        </p:sp>
        <p:sp>
          <p:nvSpPr>
            <p:cNvPr id="33" name="node01.stages.source-003.text"/>
            <p:cNvSpPr/>
            <p:nvPr/>
          </p:nvSpPr>
          <p:spPr>
            <a:xfrm>
              <a:off x="3831336" y="4006172"/>
              <a:ext cx="1371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Teams reuse shared workflows.</a:t>
              </a:r>
              <a:endParaRPr lang="en-US" sz="1100" spc="0" kern="0" b="0" i="0" dirty="0">
                <a:solidFill>
                  <a:srgbClr val="070154"/>
                </a:solidFill>
                <a:latin typeface="IBM Plex Sans"/>
                <a:ea typeface="IBM Plex Sans"/>
                <a:cs typeface="IBM Plex Sans"/>
              </a:endParaRPr>
            </a:p>
          </p:txBody>
        </p:sp>
        <p:sp>
          <p:nvSpPr>
            <p:cNvPr id="34" name="node01.stages.source-004.circle"/>
            <p:cNvSpPr/>
            <p:nvPr/>
          </p:nvSpPr>
          <p:spPr>
            <a:xfrm>
              <a:off x="5261356" y="4261818"/>
              <a:ext cx="279400" cy="279400"/>
            </a:xfrm>
            <a:prstGeom prst="ellipse">
              <a:avLst/>
            </a:prstGeom>
            <a:solidFill>
              <a:srgbClr val="FFFFFF"/>
            </a:solidFill>
            <a:ln w="25400">
              <a:solidFill>
                <a:srgbClr val="070154"/>
              </a:solidFill>
              <a:prstDash val="solid"/>
            </a:ln>
          </p:spPr>
        </p:sp>
        <p:sp>
          <p:nvSpPr>
            <p:cNvPr id="35" name="node01.stages.source-004.number"/>
            <p:cNvSpPr/>
            <p:nvPr/>
          </p:nvSpPr>
          <p:spPr>
            <a:xfrm>
              <a:off x="5274056" y="4249118"/>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6" name="node01.stages.source-004.tick"/>
            <p:cNvSpPr/>
            <p:nvPr/>
          </p:nvSpPr>
          <p:spPr>
            <a:xfrm>
              <a:off x="5394706" y="3512518"/>
              <a:ext cx="12700" cy="736600"/>
            </a:xfrm>
            <a:prstGeom prst="rect">
              <a:avLst/>
            </a:prstGeom>
            <a:solidFill>
              <a:srgbClr val="070154"/>
            </a:solidFill>
            <a:ln>
              <a:noFill/>
            </a:ln>
          </p:spPr>
        </p:sp>
        <p:sp>
          <p:nvSpPr>
            <p:cNvPr id="37" name="node01.stages.source-004.label"/>
            <p:cNvSpPr/>
            <p:nvPr/>
          </p:nvSpPr>
          <p:spPr>
            <a:xfrm>
              <a:off x="4537456" y="2890218"/>
              <a:ext cx="1371600" cy="139700"/>
            </a:xfrm>
            <a:prstGeom prst="rect">
              <a:avLst/>
            </a:prstGeom>
            <a:noFill/>
            <a:ln/>
          </p:spPr>
          <p:txBody>
            <a:bodyPr wrap="square" lIns="0" tIns="0" rIns="0" bIns="0" rtlCol="0" anchor="t"/>
            <a:lstStyle/>
            <a:p>
              <a:pPr algn="r" indent="0" marL="0">
                <a:lnSpc>
                  <a:spcPts val="1100"/>
                </a:lnSpc>
                <a:buNone/>
              </a:pPr>
              <a:r>
                <a:rPr lang="en-US" sz="800" spc="48" kern="0" b="0" i="0" dirty="0">
                  <a:solidFill>
                    <a:srgbClr val="0047FF"/>
                  </a:solidFill>
                  <a:latin typeface="IBM Plex Mono SemiBold"/>
                  <a:ea typeface="IBM Plex Mono SemiBold"/>
                  <a:cs typeface="IBM Plex Mono SemiBold"/>
                </a:rPr>
                <a:t>INTEGRATED</a:t>
              </a:r>
              <a:endParaRPr lang="en-US" sz="800" spc="48" kern="0" b="0" i="0" dirty="0">
                <a:solidFill>
                  <a:srgbClr val="0047FF"/>
                </a:solidFill>
                <a:latin typeface="IBM Plex Mono SemiBold"/>
                <a:ea typeface="IBM Plex Mono SemiBold"/>
                <a:cs typeface="IBM Plex Mono SemiBold"/>
              </a:endParaRPr>
            </a:p>
          </p:txBody>
        </p:sp>
        <p:sp>
          <p:nvSpPr>
            <p:cNvPr id="38" name="node01.stages.source-004.text"/>
            <p:cNvSpPr/>
            <p:nvPr/>
          </p:nvSpPr>
          <p:spPr>
            <a:xfrm>
              <a:off x="4537456" y="3080718"/>
              <a:ext cx="1371600" cy="381000"/>
            </a:xfrm>
            <a:prstGeom prst="rect">
              <a:avLst/>
            </a:prstGeom>
            <a:noFill/>
            <a:ln/>
          </p:spPr>
          <p:txBody>
            <a:bodyPr wrap="square" lIns="0" tIns="0" rIns="0" bIns="0" rtlCol="0" anchor="t"/>
            <a:lstStyle/>
            <a:p>
              <a:pPr algn="r" indent="0" marL="0">
                <a:lnSpc>
                  <a:spcPts val="1500"/>
                </a:lnSpc>
                <a:buNone/>
              </a:pPr>
              <a:r>
                <a:rPr lang="en-US" sz="1100" spc="0" kern="0" b="0" i="0" dirty="0">
                  <a:solidFill>
                    <a:srgbClr val="070154"/>
                  </a:solidFill>
                  <a:latin typeface="IBM Plex Sans"/>
                  <a:ea typeface="IBM Plex Sans"/>
                  <a:cs typeface="IBM Plex Sans"/>
                </a:rPr>
                <a:t>People and agents coordinate.</a:t>
              </a:r>
              <a:endParaRPr lang="en-US" sz="1100" spc="0" kern="0" b="0" i="0" dirty="0">
                <a:solidFill>
                  <a:srgbClr val="070154"/>
                </a:solidFill>
                <a:latin typeface="IBM Plex Sans"/>
                <a:ea typeface="IBM Plex Sans"/>
                <a:cs typeface="IBM Plex Sans"/>
              </a:endParaRPr>
            </a:p>
          </p:txBody>
        </p:sp>
        <p:sp>
          <p:nvSpPr>
            <p:cNvPr id="39" name="node01.stages.source-005.circle"/>
            <p:cNvSpPr/>
            <p:nvPr/>
          </p:nvSpPr>
          <p:spPr>
            <a:xfrm>
              <a:off x="6536944" y="3431932"/>
              <a:ext cx="279400" cy="279400"/>
            </a:xfrm>
            <a:prstGeom prst="ellipse">
              <a:avLst/>
            </a:prstGeom>
            <a:solidFill>
              <a:srgbClr val="FFFFFF"/>
            </a:solidFill>
            <a:ln w="25400">
              <a:solidFill>
                <a:srgbClr val="070154"/>
              </a:solidFill>
              <a:prstDash val="solid"/>
            </a:ln>
          </p:spPr>
        </p:sp>
        <p:sp>
          <p:nvSpPr>
            <p:cNvPr id="40" name="node01.stages.source-005.number"/>
            <p:cNvSpPr/>
            <p:nvPr/>
          </p:nvSpPr>
          <p:spPr>
            <a:xfrm>
              <a:off x="6549644" y="3419232"/>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5</a:t>
              </a:r>
              <a:endParaRPr lang="en-US" sz="1100" spc="0" kern="0" b="0" i="0" dirty="0">
                <a:solidFill>
                  <a:srgbClr val="070154"/>
                </a:solidFill>
                <a:latin typeface="IBM Plex Mono SemiBold"/>
                <a:ea typeface="IBM Plex Mono SemiBold"/>
                <a:cs typeface="IBM Plex Mono SemiBold"/>
              </a:endParaRPr>
            </a:p>
          </p:txBody>
        </p:sp>
        <p:sp>
          <p:nvSpPr>
            <p:cNvPr id="41" name="node01.stages.source-005.tick"/>
            <p:cNvSpPr/>
            <p:nvPr/>
          </p:nvSpPr>
          <p:spPr>
            <a:xfrm>
              <a:off x="6670294" y="2682632"/>
              <a:ext cx="12700" cy="736600"/>
            </a:xfrm>
            <a:prstGeom prst="rect">
              <a:avLst/>
            </a:prstGeom>
            <a:solidFill>
              <a:srgbClr val="070154"/>
            </a:solidFill>
            <a:ln>
              <a:noFill/>
            </a:ln>
          </p:spPr>
        </p:sp>
        <p:sp>
          <p:nvSpPr>
            <p:cNvPr id="42" name="node01.stages.source-005.label"/>
            <p:cNvSpPr/>
            <p:nvPr/>
          </p:nvSpPr>
          <p:spPr>
            <a:xfrm>
              <a:off x="5813044" y="2060332"/>
              <a:ext cx="1371600" cy="139700"/>
            </a:xfrm>
            <a:prstGeom prst="rect">
              <a:avLst/>
            </a:prstGeom>
            <a:noFill/>
            <a:ln/>
          </p:spPr>
          <p:txBody>
            <a:bodyPr wrap="square" lIns="0" tIns="0" rIns="0" bIns="0" rtlCol="0" anchor="t"/>
            <a:lstStyle/>
            <a:p>
              <a:pPr algn="r" indent="0" marL="0">
                <a:lnSpc>
                  <a:spcPts val="1100"/>
                </a:lnSpc>
                <a:buNone/>
              </a:pPr>
              <a:r>
                <a:rPr lang="en-US" sz="800" spc="48" kern="0" b="0" i="0" dirty="0">
                  <a:solidFill>
                    <a:srgbClr val="0047FF"/>
                  </a:solidFill>
                  <a:latin typeface="IBM Plex Mono SemiBold"/>
                  <a:ea typeface="IBM Plex Mono SemiBold"/>
                  <a:cs typeface="IBM Plex Mono SemiBold"/>
                </a:rPr>
                <a:t>SELF-IMPROVING</a:t>
              </a:r>
              <a:endParaRPr lang="en-US" sz="800" spc="48" kern="0" b="0" i="0" dirty="0">
                <a:solidFill>
                  <a:srgbClr val="0047FF"/>
                </a:solidFill>
                <a:latin typeface="IBM Plex Mono SemiBold"/>
                <a:ea typeface="IBM Plex Mono SemiBold"/>
                <a:cs typeface="IBM Plex Mono SemiBold"/>
              </a:endParaRPr>
            </a:p>
          </p:txBody>
        </p:sp>
        <p:sp>
          <p:nvSpPr>
            <p:cNvPr id="43" name="node01.stages.source-005.text"/>
            <p:cNvSpPr/>
            <p:nvPr/>
          </p:nvSpPr>
          <p:spPr>
            <a:xfrm>
              <a:off x="5813044" y="2250832"/>
              <a:ext cx="1371600" cy="381000"/>
            </a:xfrm>
            <a:prstGeom prst="rect">
              <a:avLst/>
            </a:prstGeom>
            <a:noFill/>
            <a:ln/>
          </p:spPr>
          <p:txBody>
            <a:bodyPr wrap="square" lIns="0" tIns="0" rIns="0" bIns="0" rtlCol="0" anchor="t"/>
            <a:lstStyle/>
            <a:p>
              <a:pPr algn="r" indent="0" marL="0">
                <a:lnSpc>
                  <a:spcPts val="1500"/>
                </a:lnSpc>
                <a:buNone/>
              </a:pPr>
              <a:r>
                <a:rPr lang="en-US" sz="1100" spc="0" kern="0" b="0" i="0" dirty="0">
                  <a:solidFill>
                    <a:srgbClr val="070154"/>
                  </a:solidFill>
                  <a:latin typeface="IBM Plex Sans"/>
                  <a:ea typeface="IBM Plex Sans"/>
                  <a:cs typeface="IBM Plex Sans"/>
                </a:rPr>
                <a:t>Telemetry refines shared skills.</a:t>
              </a:r>
              <a:endParaRPr lang="en-US" sz="1100" spc="0" kern="0" b="0" i="0" dirty="0">
                <a:solidFill>
                  <a:srgbClr val="070154"/>
                </a:solidFill>
                <a:latin typeface="IBM Plex Sans"/>
                <a:ea typeface="IBM Plex Sans"/>
                <a:cs typeface="IBM Plex Sans"/>
              </a:endParaRPr>
            </a:p>
          </p:txBody>
        </p:sp>
      </p:grpSp>
      <p:grpSp>
        <p:nvGrpSpPr>
          <p:cNvPr id="57" name="node02"/>
          <p:cNvGrpSpPr/>
          <p:nvPr/>
        </p:nvGrpSpPr>
        <p:grpSpPr>
          <a:xfrm>
            <a:off x="8039100" y="1600200"/>
            <a:ext cx="3429000" cy="1295400"/>
            <a:chOff x="8039100" y="1600200"/>
            <a:chExt cx="3429000" cy="1295400"/>
          </a:xfrm>
        </p:grpSpPr>
        <p:sp>
          <p:nvSpPr>
            <p:cNvPr id="44" name="node02.container"/>
            <p:cNvSpPr/>
            <p:nvPr/>
          </p:nvSpPr>
          <p:spPr>
            <a:xfrm>
              <a:off x="8039100" y="1600200"/>
              <a:ext cx="3429000" cy="1295400"/>
            </a:xfrm>
            <a:prstGeom prst="rect">
              <a:avLst/>
            </a:prstGeom>
            <a:solidFill>
              <a:srgbClr val="E8EEF8"/>
            </a:solidFill>
            <a:ln>
              <a:noFill/>
            </a:ln>
          </p:spPr>
        </p:sp>
        <p:sp>
          <p:nvSpPr>
            <p:cNvPr id="45" name="node02.label"/>
            <p:cNvSpPr/>
            <p:nvPr/>
          </p:nvSpPr>
          <p:spPr>
            <a:xfrm>
              <a:off x="81915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INSIGHT 1</a:t>
              </a:r>
              <a:endParaRPr lang="en-US" sz="800" spc="48" kern="0" b="0" i="0" dirty="0">
                <a:solidFill>
                  <a:srgbClr val="0047FF"/>
                </a:solidFill>
                <a:latin typeface="IBM Plex Mono Medium"/>
                <a:ea typeface="IBM Plex Mono Medium"/>
                <a:cs typeface="IBM Plex Mono Medium"/>
              </a:endParaRPr>
            </a:p>
          </p:txBody>
        </p:sp>
        <p:sp>
          <p:nvSpPr>
            <p:cNvPr id="46" name="node02.title"/>
            <p:cNvSpPr/>
            <p:nvPr/>
          </p:nvSpPr>
          <p:spPr>
            <a:xfrm>
              <a:off x="8191500" y="19685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WORKFLOWS BEFORE TOOLS</a:t>
              </a:r>
              <a:endParaRPr lang="en-US" sz="800" spc="48" kern="0" b="0" i="0" dirty="0">
                <a:solidFill>
                  <a:srgbClr val="070154"/>
                </a:solidFill>
                <a:latin typeface="IBM Plex Mono Medium"/>
                <a:ea typeface="IBM Plex Mono Medium"/>
                <a:cs typeface="IBM Plex Mono Medium"/>
              </a:endParaRPr>
            </a:p>
          </p:txBody>
        </p:sp>
        <p:sp>
          <p:nvSpPr>
            <p:cNvPr id="47" name="node02.body.item-001.paragraph"/>
            <p:cNvSpPr/>
            <p:nvPr/>
          </p:nvSpPr>
          <p:spPr>
            <a:xfrm>
              <a:off x="8191500" y="22606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Gains stall until teams share workflows, not just licenses.</a:t>
              </a:r>
              <a:endParaRPr lang="en-US" sz="1200" spc="0" kern="0" b="0" i="0" dirty="0">
                <a:solidFill>
                  <a:srgbClr val="50658E"/>
                </a:solidFill>
                <a:latin typeface="IBM Plex Sans"/>
                <a:ea typeface="IBM Plex Sans"/>
                <a:cs typeface="IBM Plex Sans"/>
              </a:endParaRPr>
            </a:p>
          </p:txBody>
        </p:sp>
      </p:grpSp>
      <p:grpSp>
        <p:nvGrpSpPr>
          <p:cNvPr id="58" name="node03"/>
          <p:cNvGrpSpPr/>
          <p:nvPr/>
        </p:nvGrpSpPr>
        <p:grpSpPr>
          <a:xfrm>
            <a:off x="8039100" y="2971800"/>
            <a:ext cx="3429000" cy="1295400"/>
            <a:chOff x="8039100" y="2971800"/>
            <a:chExt cx="3429000" cy="1295400"/>
          </a:xfrm>
        </p:grpSpPr>
        <p:sp>
          <p:nvSpPr>
            <p:cNvPr id="48" name="node03.container"/>
            <p:cNvSpPr/>
            <p:nvPr/>
          </p:nvSpPr>
          <p:spPr>
            <a:xfrm>
              <a:off x="8039100" y="2971800"/>
              <a:ext cx="3429000" cy="1295400"/>
            </a:xfrm>
            <a:prstGeom prst="rect">
              <a:avLst/>
            </a:prstGeom>
            <a:solidFill>
              <a:srgbClr val="E8EEF8"/>
            </a:solidFill>
            <a:ln>
              <a:noFill/>
            </a:ln>
          </p:spPr>
        </p:sp>
        <p:sp>
          <p:nvSpPr>
            <p:cNvPr id="49" name="node03.label"/>
            <p:cNvSpPr/>
            <p:nvPr/>
          </p:nvSpPr>
          <p:spPr>
            <a:xfrm>
              <a:off x="8191500" y="31242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INSIGHT 2</a:t>
              </a:r>
              <a:endParaRPr lang="en-US" sz="800" spc="48" kern="0" b="0" i="0" dirty="0">
                <a:solidFill>
                  <a:srgbClr val="0047FF"/>
                </a:solidFill>
                <a:latin typeface="IBM Plex Mono Medium"/>
                <a:ea typeface="IBM Plex Mono Medium"/>
                <a:cs typeface="IBM Plex Mono Medium"/>
              </a:endParaRPr>
            </a:p>
          </p:txBody>
        </p:sp>
        <p:sp>
          <p:nvSpPr>
            <p:cNvPr id="50" name="node03.title"/>
            <p:cNvSpPr/>
            <p:nvPr/>
          </p:nvSpPr>
          <p:spPr>
            <a:xfrm>
              <a:off x="8191500" y="33401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REVIEW KEEPS PACE</a:t>
              </a:r>
              <a:endParaRPr lang="en-US" sz="800" spc="48" kern="0" b="0" i="0" dirty="0">
                <a:solidFill>
                  <a:srgbClr val="070154"/>
                </a:solidFill>
                <a:latin typeface="IBM Plex Mono Medium"/>
                <a:ea typeface="IBM Plex Mono Medium"/>
                <a:cs typeface="IBM Plex Mono Medium"/>
              </a:endParaRPr>
            </a:p>
          </p:txBody>
        </p:sp>
        <p:sp>
          <p:nvSpPr>
            <p:cNvPr id="51" name="node03.body.item-001.paragraph"/>
            <p:cNvSpPr/>
            <p:nvPr/>
          </p:nvSpPr>
          <p:spPr>
            <a:xfrm>
              <a:off x="8191500" y="36322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Defined review lets agents take on more of the work safely.</a:t>
              </a:r>
              <a:endParaRPr lang="en-US" sz="1200" spc="0" kern="0" b="0" i="0" dirty="0">
                <a:solidFill>
                  <a:srgbClr val="50658E"/>
                </a:solidFill>
                <a:latin typeface="IBM Plex Sans"/>
                <a:ea typeface="IBM Plex Sans"/>
                <a:cs typeface="IBM Plex Sans"/>
              </a:endParaRPr>
            </a:p>
          </p:txBody>
        </p:sp>
      </p:grpSp>
      <p:grpSp>
        <p:nvGrpSpPr>
          <p:cNvPr id="59" name="node04"/>
          <p:cNvGrpSpPr/>
          <p:nvPr/>
        </p:nvGrpSpPr>
        <p:grpSpPr>
          <a:xfrm>
            <a:off x="8039100" y="4343400"/>
            <a:ext cx="3429000" cy="1295400"/>
            <a:chOff x="8039100" y="4343400"/>
            <a:chExt cx="3429000" cy="1295400"/>
          </a:xfrm>
        </p:grpSpPr>
        <p:sp>
          <p:nvSpPr>
            <p:cNvPr id="52" name="node04.container"/>
            <p:cNvSpPr/>
            <p:nvPr/>
          </p:nvSpPr>
          <p:spPr>
            <a:xfrm>
              <a:off x="8039100" y="4343400"/>
              <a:ext cx="3429000" cy="1295400"/>
            </a:xfrm>
            <a:prstGeom prst="rect">
              <a:avLst/>
            </a:prstGeom>
            <a:solidFill>
              <a:srgbClr val="E8EEF8"/>
            </a:solidFill>
            <a:ln>
              <a:noFill/>
            </a:ln>
          </p:spPr>
        </p:sp>
        <p:sp>
          <p:nvSpPr>
            <p:cNvPr id="53" name="node04.label"/>
            <p:cNvSpPr/>
            <p:nvPr/>
          </p:nvSpPr>
          <p:spPr>
            <a:xfrm>
              <a:off x="8191500" y="4495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INSIGHT 3</a:t>
              </a:r>
              <a:endParaRPr lang="en-US" sz="800" spc="48" kern="0" b="0" i="0" dirty="0">
                <a:solidFill>
                  <a:srgbClr val="0047FF"/>
                </a:solidFill>
                <a:latin typeface="IBM Plex Mono Medium"/>
                <a:ea typeface="IBM Plex Mono Medium"/>
                <a:cs typeface="IBM Plex Mono Medium"/>
              </a:endParaRPr>
            </a:p>
          </p:txBody>
        </p:sp>
        <p:sp>
          <p:nvSpPr>
            <p:cNvPr id="54" name="node04.title"/>
            <p:cNvSpPr/>
            <p:nvPr/>
          </p:nvSpPr>
          <p:spPr>
            <a:xfrm>
              <a:off x="8191500" y="47117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TELEMETRY IS THE UNLOCK</a:t>
              </a:r>
              <a:endParaRPr lang="en-US" sz="800" spc="48" kern="0" b="0" i="0" dirty="0">
                <a:solidFill>
                  <a:srgbClr val="070154"/>
                </a:solidFill>
                <a:latin typeface="IBM Plex Mono Medium"/>
                <a:ea typeface="IBM Plex Mono Medium"/>
                <a:cs typeface="IBM Plex Mono Medium"/>
              </a:endParaRPr>
            </a:p>
          </p:txBody>
        </p:sp>
        <p:sp>
          <p:nvSpPr>
            <p:cNvPr id="55" name="node04.body.item-001.paragraph"/>
            <p:cNvSpPr/>
            <p:nvPr/>
          </p:nvSpPr>
          <p:spPr>
            <a:xfrm>
              <a:off x="8191500" y="50038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Self-improvement needs delivery data agents can learn from.</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ource-29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CURRENT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Northfield is at stage three; stage four needs three moves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121</a:t>
            </a:fld>
            <a:endParaRPr lang="en-US" sz="700" spc="0" kern="0" b="0" i="0" dirty="0">
              <a:solidFill>
                <a:srgbClr val="070154"/>
              </a:solidFill>
              <a:latin typeface="IBM Plex Mono SemiBold"/>
              <a:ea typeface="IBM Plex Mono SemiBold"/>
              <a:cs typeface="IBM Plex Mono SemiBold"/>
            </a:endParaRPr>
          </a:p>
        </p:txBody>
      </p:sp>
      <p:grpSp>
        <p:nvGrpSpPr>
          <p:cNvPr id="59" name="node01"/>
          <p:cNvGrpSpPr/>
          <p:nvPr/>
        </p:nvGrpSpPr>
        <p:grpSpPr>
          <a:xfrm>
            <a:off x="708025" y="1600200"/>
            <a:ext cx="7118350" cy="4114800"/>
            <a:chOff x="708025" y="1600200"/>
            <a:chExt cx="7118350" cy="4114800"/>
          </a:xfrm>
        </p:grpSpPr>
        <p:sp>
          <p:nvSpPr>
            <p:cNvPr id="6" name="node01.curve"/>
            <p:cNvSpPr/>
            <p:nvPr/>
          </p:nvSpPr>
          <p:spPr>
            <a:xfrm>
              <a:off x="723900" y="2072640"/>
              <a:ext cx="7086600" cy="3017520"/>
            </a:xfrm>
            <a:custGeom>
              <a:avLst/>
              <a:gdLst/>
              <a:ahLst/>
              <a:cxnLst/>
              <a:rect l="l" t="t" r="r" b="b"/>
              <a:pathLst>
                <a:path w="7086600" h="3017520">
                  <a:moveTo>
                    <a:pt x="0" y="3017520"/>
                  </a:moveTo>
                  <a:lnTo>
                    <a:pt x="118110" y="3014189"/>
                  </a:lnTo>
                  <a:lnTo>
                    <a:pt x="236220" y="3010617"/>
                  </a:lnTo>
                  <a:lnTo>
                    <a:pt x="354330" y="3006785"/>
                  </a:lnTo>
                  <a:lnTo>
                    <a:pt x="472440" y="3002676"/>
                  </a:lnTo>
                  <a:lnTo>
                    <a:pt x="590550" y="2998269"/>
                  </a:lnTo>
                  <a:lnTo>
                    <a:pt x="708660" y="2993542"/>
                  </a:lnTo>
                  <a:lnTo>
                    <a:pt x="826770" y="2988472"/>
                  </a:lnTo>
                  <a:lnTo>
                    <a:pt x="944880" y="2983035"/>
                  </a:lnTo>
                  <a:lnTo>
                    <a:pt x="1062990" y="2977204"/>
                  </a:lnTo>
                  <a:lnTo>
                    <a:pt x="1181100" y="2970950"/>
                  </a:lnTo>
                  <a:lnTo>
                    <a:pt x="1299210" y="2964242"/>
                  </a:lnTo>
                  <a:lnTo>
                    <a:pt x="1417320" y="2957048"/>
                  </a:lnTo>
                  <a:lnTo>
                    <a:pt x="1535430" y="2949333"/>
                  </a:lnTo>
                  <a:lnTo>
                    <a:pt x="1653540" y="2941058"/>
                  </a:lnTo>
                  <a:lnTo>
                    <a:pt x="1771650" y="2932183"/>
                  </a:lnTo>
                  <a:lnTo>
                    <a:pt x="1889760" y="2922664"/>
                  </a:lnTo>
                  <a:lnTo>
                    <a:pt x="2007870" y="2912455"/>
                  </a:lnTo>
                  <a:lnTo>
                    <a:pt x="2125980" y="2901506"/>
                  </a:lnTo>
                  <a:lnTo>
                    <a:pt x="2244090" y="2889764"/>
                  </a:lnTo>
                  <a:lnTo>
                    <a:pt x="2362200" y="2877169"/>
                  </a:lnTo>
                  <a:lnTo>
                    <a:pt x="2480310" y="2863662"/>
                  </a:lnTo>
                  <a:lnTo>
                    <a:pt x="2598420" y="2849175"/>
                  </a:lnTo>
                  <a:lnTo>
                    <a:pt x="2716530" y="2833638"/>
                  </a:lnTo>
                  <a:lnTo>
                    <a:pt x="2834640" y="2816974"/>
                  </a:lnTo>
                  <a:lnTo>
                    <a:pt x="2952750" y="2799102"/>
                  </a:lnTo>
                  <a:lnTo>
                    <a:pt x="3070860" y="2779933"/>
                  </a:lnTo>
                  <a:lnTo>
                    <a:pt x="3188970" y="2759376"/>
                  </a:lnTo>
                  <a:lnTo>
                    <a:pt x="3307080" y="2737327"/>
                  </a:lnTo>
                  <a:lnTo>
                    <a:pt x="3425190" y="2713680"/>
                  </a:lnTo>
                  <a:lnTo>
                    <a:pt x="3543300" y="2688318"/>
                  </a:lnTo>
                  <a:lnTo>
                    <a:pt x="3661410" y="2661117"/>
                  </a:lnTo>
                  <a:lnTo>
                    <a:pt x="3779520" y="2631944"/>
                  </a:lnTo>
                  <a:lnTo>
                    <a:pt x="3897630" y="2600656"/>
                  </a:lnTo>
                  <a:lnTo>
                    <a:pt x="4015740" y="2567099"/>
                  </a:lnTo>
                  <a:lnTo>
                    <a:pt x="4133850" y="2531109"/>
                  </a:lnTo>
                  <a:lnTo>
                    <a:pt x="4251960" y="2492509"/>
                  </a:lnTo>
                  <a:lnTo>
                    <a:pt x="4370070" y="2451111"/>
                  </a:lnTo>
                  <a:lnTo>
                    <a:pt x="4488180" y="2406711"/>
                  </a:lnTo>
                  <a:lnTo>
                    <a:pt x="4606290" y="2359091"/>
                  </a:lnTo>
                  <a:lnTo>
                    <a:pt x="4724400" y="2308019"/>
                  </a:lnTo>
                  <a:lnTo>
                    <a:pt x="4842510" y="2253243"/>
                  </a:lnTo>
                  <a:lnTo>
                    <a:pt x="4960620" y="2194496"/>
                  </a:lnTo>
                  <a:lnTo>
                    <a:pt x="5078730" y="2131489"/>
                  </a:lnTo>
                  <a:lnTo>
                    <a:pt x="5196840" y="2063914"/>
                  </a:lnTo>
                  <a:lnTo>
                    <a:pt x="5314950" y="1991439"/>
                  </a:lnTo>
                  <a:lnTo>
                    <a:pt x="5433060" y="1913708"/>
                  </a:lnTo>
                  <a:lnTo>
                    <a:pt x="5551170" y="1830342"/>
                  </a:lnTo>
                  <a:lnTo>
                    <a:pt x="5669280" y="1740931"/>
                  </a:lnTo>
                  <a:lnTo>
                    <a:pt x="5787390" y="1645037"/>
                  </a:lnTo>
                  <a:lnTo>
                    <a:pt x="5905500" y="1542190"/>
                  </a:lnTo>
                  <a:lnTo>
                    <a:pt x="6023610" y="1431886"/>
                  </a:lnTo>
                  <a:lnTo>
                    <a:pt x="6141720" y="1313583"/>
                  </a:lnTo>
                  <a:lnTo>
                    <a:pt x="6259830" y="1186703"/>
                  </a:lnTo>
                  <a:lnTo>
                    <a:pt x="6377940" y="1050623"/>
                  </a:lnTo>
                  <a:lnTo>
                    <a:pt x="6496050" y="904676"/>
                  </a:lnTo>
                  <a:lnTo>
                    <a:pt x="6614160" y="748146"/>
                  </a:lnTo>
                  <a:lnTo>
                    <a:pt x="6732270" y="580267"/>
                  </a:lnTo>
                  <a:lnTo>
                    <a:pt x="6850380" y="400216"/>
                  </a:lnTo>
                  <a:lnTo>
                    <a:pt x="6968490" y="207109"/>
                  </a:lnTo>
                  <a:lnTo>
                    <a:pt x="7086600" y="0"/>
                  </a:lnTo>
                </a:path>
              </a:pathLst>
            </a:custGeom>
            <a:ln w="31750">
              <a:solidFill>
                <a:srgbClr val="070154"/>
              </a:solidFill>
              <a:prstDash val="solid"/>
            </a:ln>
          </p:spPr>
        </p:sp>
        <p:sp>
          <p:nvSpPr>
            <p:cNvPr id="7" name="node01.curve.cap-1"/>
            <p:cNvSpPr/>
            <p:nvPr/>
          </p:nvSpPr>
          <p:spPr>
            <a:xfrm>
              <a:off x="708025" y="5074285"/>
              <a:ext cx="31750" cy="31750"/>
            </a:xfrm>
            <a:prstGeom prst="ellipse">
              <a:avLst/>
            </a:prstGeom>
            <a:solidFill>
              <a:srgbClr val="070154"/>
            </a:solidFill>
            <a:ln>
              <a:noFill/>
            </a:ln>
          </p:spPr>
        </p:sp>
        <p:sp>
          <p:nvSpPr>
            <p:cNvPr id="8" name="node01.curve.cap-2"/>
            <p:cNvSpPr/>
            <p:nvPr/>
          </p:nvSpPr>
          <p:spPr>
            <a:xfrm>
              <a:off x="7794625" y="2056765"/>
              <a:ext cx="31750" cy="31750"/>
            </a:xfrm>
            <a:prstGeom prst="ellipse">
              <a:avLst/>
            </a:prstGeom>
            <a:solidFill>
              <a:srgbClr val="070154"/>
            </a:solidFill>
            <a:ln>
              <a:noFill/>
            </a:ln>
          </p:spPr>
        </p:sp>
        <p:sp>
          <p:nvSpPr>
            <p:cNvPr id="9" name="node01.arrow-1"/>
            <p:cNvSpPr/>
            <p:nvPr/>
          </p:nvSpPr>
          <p:spPr>
            <a:xfrm>
              <a:off x="7806284" y="2072640"/>
              <a:ext cx="4216" cy="126930"/>
            </a:xfrm>
            <a:custGeom>
              <a:avLst/>
              <a:gdLst/>
              <a:ahLst/>
              <a:cxnLst/>
              <a:rect l="l" t="t" r="r" b="b"/>
              <a:pathLst>
                <a:path w="4216" h="126930">
                  <a:moveTo>
                    <a:pt x="4216" y="0"/>
                  </a:moveTo>
                  <a:lnTo>
                    <a:pt x="0" y="126930"/>
                  </a:lnTo>
                </a:path>
              </a:pathLst>
            </a:custGeom>
            <a:ln w="31750">
              <a:solidFill>
                <a:srgbClr val="070154"/>
              </a:solidFill>
              <a:prstDash val="solid"/>
            </a:ln>
          </p:spPr>
        </p:sp>
        <p:sp>
          <p:nvSpPr>
            <p:cNvPr id="10" name="node01.arrow-1.cap-1"/>
            <p:cNvSpPr/>
            <p:nvPr/>
          </p:nvSpPr>
          <p:spPr>
            <a:xfrm>
              <a:off x="7794625" y="2056765"/>
              <a:ext cx="31750" cy="31750"/>
            </a:xfrm>
            <a:prstGeom prst="ellipse">
              <a:avLst/>
            </a:prstGeom>
            <a:solidFill>
              <a:srgbClr val="070154"/>
            </a:solidFill>
            <a:ln>
              <a:noFill/>
            </a:ln>
          </p:spPr>
        </p:sp>
        <p:sp>
          <p:nvSpPr>
            <p:cNvPr id="11" name="node01.arrow-1.cap-2"/>
            <p:cNvSpPr/>
            <p:nvPr/>
          </p:nvSpPr>
          <p:spPr>
            <a:xfrm>
              <a:off x="7790409" y="2183695"/>
              <a:ext cx="31750" cy="31750"/>
            </a:xfrm>
            <a:prstGeom prst="ellipse">
              <a:avLst/>
            </a:prstGeom>
            <a:solidFill>
              <a:srgbClr val="070154"/>
            </a:solidFill>
            <a:ln>
              <a:noFill/>
            </a:ln>
          </p:spPr>
        </p:sp>
        <p:sp>
          <p:nvSpPr>
            <p:cNvPr id="12" name="node01.arrow-2"/>
            <p:cNvSpPr/>
            <p:nvPr/>
          </p:nvSpPr>
          <p:spPr>
            <a:xfrm>
              <a:off x="7701414" y="2072640"/>
              <a:ext cx="109086" cy="65033"/>
            </a:xfrm>
            <a:custGeom>
              <a:avLst/>
              <a:gdLst/>
              <a:ahLst/>
              <a:cxnLst/>
              <a:rect l="l" t="t" r="r" b="b"/>
              <a:pathLst>
                <a:path w="109086" h="65033">
                  <a:moveTo>
                    <a:pt x="109086" y="0"/>
                  </a:moveTo>
                  <a:lnTo>
                    <a:pt x="0" y="65033"/>
                  </a:lnTo>
                </a:path>
              </a:pathLst>
            </a:custGeom>
            <a:ln w="31750">
              <a:solidFill>
                <a:srgbClr val="070154"/>
              </a:solidFill>
              <a:prstDash val="solid"/>
            </a:ln>
          </p:spPr>
        </p:sp>
        <p:sp>
          <p:nvSpPr>
            <p:cNvPr id="13" name="node01.arrow-2.cap-1"/>
            <p:cNvSpPr/>
            <p:nvPr/>
          </p:nvSpPr>
          <p:spPr>
            <a:xfrm>
              <a:off x="7794625" y="2056765"/>
              <a:ext cx="31750" cy="31750"/>
            </a:xfrm>
            <a:prstGeom prst="ellipse">
              <a:avLst/>
            </a:prstGeom>
            <a:solidFill>
              <a:srgbClr val="070154"/>
            </a:solidFill>
            <a:ln>
              <a:noFill/>
            </a:ln>
          </p:spPr>
        </p:sp>
        <p:sp>
          <p:nvSpPr>
            <p:cNvPr id="14" name="node01.arrow-2.cap-2"/>
            <p:cNvSpPr/>
            <p:nvPr/>
          </p:nvSpPr>
          <p:spPr>
            <a:xfrm>
              <a:off x="7685539" y="2121798"/>
              <a:ext cx="31750" cy="31750"/>
            </a:xfrm>
            <a:prstGeom prst="ellipse">
              <a:avLst/>
            </a:prstGeom>
            <a:solidFill>
              <a:srgbClr val="070154"/>
            </a:solidFill>
            <a:ln>
              <a:noFill/>
            </a:ln>
          </p:spPr>
        </p:sp>
        <p:sp>
          <p:nvSpPr>
            <p:cNvPr id="15" name="node01.axis"/>
            <p:cNvSpPr/>
            <p:nvPr/>
          </p:nvSpPr>
          <p:spPr>
            <a:xfrm>
              <a:off x="723900" y="5562600"/>
              <a:ext cx="7086600" cy="0"/>
            </a:xfrm>
            <a:custGeom>
              <a:avLst/>
              <a:gdLst/>
              <a:ahLst/>
              <a:cxnLst/>
              <a:rect l="l" t="t" r="r" b="b"/>
              <a:pathLst>
                <a:path w="7086600">
                  <a:moveTo>
                    <a:pt x="0" y="0"/>
                  </a:moveTo>
                  <a:lnTo>
                    <a:pt x="7086600" y="0"/>
                  </a:lnTo>
                </a:path>
              </a:pathLst>
            </a:custGeom>
            <a:ln w="12700">
              <a:solidFill>
                <a:srgbClr val="070154"/>
              </a:solidFill>
              <a:prstDash val="solid"/>
            </a:ln>
          </p:spPr>
        </p:sp>
        <p:sp>
          <p:nvSpPr>
            <p:cNvPr id="16" name="node01.axis.arrow"/>
            <p:cNvSpPr/>
            <p:nvPr/>
          </p:nvSpPr>
          <p:spPr>
            <a:xfrm>
              <a:off x="7721600" y="5511800"/>
              <a:ext cx="88900" cy="101600"/>
            </a:xfrm>
            <a:custGeom>
              <a:avLst/>
              <a:gdLst/>
              <a:ahLst/>
              <a:cxnLst/>
              <a:rect l="l" t="t" r="r" b="b"/>
              <a:pathLst>
                <a:path w="88900" h="101600">
                  <a:moveTo>
                    <a:pt x="0" y="0"/>
                  </a:moveTo>
                  <a:lnTo>
                    <a:pt x="88900" y="50800"/>
                  </a:lnTo>
                  <a:lnTo>
                    <a:pt x="0" y="101600"/>
                  </a:lnTo>
                </a:path>
              </a:pathLst>
            </a:custGeom>
            <a:ln w="12700">
              <a:solidFill>
                <a:srgbClr val="070154"/>
              </a:solidFill>
              <a:prstDash val="solid"/>
            </a:ln>
          </p:spPr>
        </p:sp>
        <p:sp>
          <p:nvSpPr>
            <p:cNvPr id="17" name="node01.axis.label-bg"/>
            <p:cNvSpPr/>
            <p:nvPr/>
          </p:nvSpPr>
          <p:spPr>
            <a:xfrm>
              <a:off x="3124200" y="5486400"/>
              <a:ext cx="2286000" cy="139700"/>
            </a:xfrm>
            <a:prstGeom prst="rect">
              <a:avLst/>
            </a:prstGeom>
            <a:solidFill>
              <a:srgbClr val="FFFFFF"/>
            </a:solidFill>
            <a:ln>
              <a:noFill/>
            </a:ln>
          </p:spPr>
        </p:sp>
        <p:sp>
          <p:nvSpPr>
            <p:cNvPr id="18" name="node01.axis.label"/>
            <p:cNvSpPr/>
            <p:nvPr/>
          </p:nvSpPr>
          <p:spPr>
            <a:xfrm>
              <a:off x="3124200" y="5486400"/>
              <a:ext cx="2286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INCREASING SCOPE</a:t>
              </a:r>
              <a:endParaRPr lang="en-US" sz="800" spc="48" kern="0" b="0" i="0" dirty="0">
                <a:solidFill>
                  <a:srgbClr val="070154"/>
                </a:solidFill>
                <a:latin typeface="IBM Plex Mono SemiBold"/>
                <a:ea typeface="IBM Plex Mono SemiBold"/>
                <a:cs typeface="IBM Plex Mono SemiBold"/>
              </a:endParaRPr>
            </a:p>
          </p:txBody>
        </p:sp>
        <p:sp>
          <p:nvSpPr>
            <p:cNvPr id="19" name="node01.stages.source-001.circle"/>
            <p:cNvSpPr/>
            <p:nvPr/>
          </p:nvSpPr>
          <p:spPr>
            <a:xfrm>
              <a:off x="938530" y="4939725"/>
              <a:ext cx="279400" cy="279400"/>
            </a:xfrm>
            <a:prstGeom prst="ellipse">
              <a:avLst/>
            </a:prstGeom>
            <a:solidFill>
              <a:srgbClr val="FFFFFF"/>
            </a:solidFill>
            <a:ln w="25400">
              <a:solidFill>
                <a:srgbClr val="070154"/>
              </a:solidFill>
              <a:prstDash val="solid"/>
            </a:ln>
          </p:spPr>
        </p:sp>
        <p:sp>
          <p:nvSpPr>
            <p:cNvPr id="20" name="node01.stages.source-001.number"/>
            <p:cNvSpPr/>
            <p:nvPr/>
          </p:nvSpPr>
          <p:spPr>
            <a:xfrm>
              <a:off x="951230" y="4927025"/>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1.tick"/>
            <p:cNvSpPr/>
            <p:nvPr/>
          </p:nvSpPr>
          <p:spPr>
            <a:xfrm>
              <a:off x="1071880" y="4698425"/>
              <a:ext cx="12700" cy="228600"/>
            </a:xfrm>
            <a:prstGeom prst="rect">
              <a:avLst/>
            </a:prstGeom>
            <a:solidFill>
              <a:srgbClr val="070154"/>
            </a:solidFill>
            <a:ln>
              <a:noFill/>
            </a:ln>
          </p:spPr>
        </p:sp>
        <p:sp>
          <p:nvSpPr>
            <p:cNvPr id="22" name="node01.stages.source-001.label"/>
            <p:cNvSpPr/>
            <p:nvPr/>
          </p:nvSpPr>
          <p:spPr>
            <a:xfrm>
              <a:off x="925830" y="4076125"/>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SemiBold"/>
                  <a:ea typeface="IBM Plex Mono SemiBold"/>
                  <a:cs typeface="IBM Plex Mono SemiBold"/>
                </a:rPr>
                <a:t>MANUAL</a:t>
              </a:r>
              <a:endParaRPr lang="en-US" sz="800" spc="48" kern="0" b="0" i="0" dirty="0">
                <a:solidFill>
                  <a:srgbClr val="0047FF"/>
                </a:solidFill>
                <a:latin typeface="IBM Plex Mono SemiBold"/>
                <a:ea typeface="IBM Plex Mono SemiBold"/>
                <a:cs typeface="IBM Plex Mono SemiBold"/>
              </a:endParaRPr>
            </a:p>
          </p:txBody>
        </p:sp>
        <p:sp>
          <p:nvSpPr>
            <p:cNvPr id="23" name="node01.stages.source-001.text"/>
            <p:cNvSpPr/>
            <p:nvPr/>
          </p:nvSpPr>
          <p:spPr>
            <a:xfrm>
              <a:off x="925830" y="4266625"/>
              <a:ext cx="1371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People do the work end to end.</a:t>
              </a:r>
              <a:endParaRPr lang="en-US" sz="1100" spc="0" kern="0" b="0" i="0" dirty="0">
                <a:solidFill>
                  <a:srgbClr val="070154"/>
                </a:solidFill>
                <a:latin typeface="IBM Plex Sans"/>
                <a:ea typeface="IBM Plex Sans"/>
                <a:cs typeface="IBM Plex Sans"/>
              </a:endParaRPr>
            </a:p>
          </p:txBody>
        </p:sp>
        <p:sp>
          <p:nvSpPr>
            <p:cNvPr id="24" name="node01.stages.source-002.circle"/>
            <p:cNvSpPr/>
            <p:nvPr/>
          </p:nvSpPr>
          <p:spPr>
            <a:xfrm>
              <a:off x="2355850" y="4865123"/>
              <a:ext cx="279400" cy="279400"/>
            </a:xfrm>
            <a:prstGeom prst="ellipse">
              <a:avLst/>
            </a:prstGeom>
            <a:solidFill>
              <a:srgbClr val="FFFFFF"/>
            </a:solidFill>
            <a:ln w="25400">
              <a:solidFill>
                <a:srgbClr val="070154"/>
              </a:solidFill>
              <a:prstDash val="solid"/>
            </a:ln>
          </p:spPr>
        </p:sp>
        <p:sp>
          <p:nvSpPr>
            <p:cNvPr id="25" name="node01.stages.source-002.number"/>
            <p:cNvSpPr/>
            <p:nvPr/>
          </p:nvSpPr>
          <p:spPr>
            <a:xfrm>
              <a:off x="2368550" y="4852423"/>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6" name="node01.stages.source-002.tick"/>
            <p:cNvSpPr/>
            <p:nvPr/>
          </p:nvSpPr>
          <p:spPr>
            <a:xfrm>
              <a:off x="2489200" y="4623823"/>
              <a:ext cx="12700" cy="228600"/>
            </a:xfrm>
            <a:prstGeom prst="rect">
              <a:avLst/>
            </a:prstGeom>
            <a:solidFill>
              <a:srgbClr val="070154"/>
            </a:solidFill>
            <a:ln>
              <a:noFill/>
            </a:ln>
          </p:spPr>
        </p:sp>
        <p:sp>
          <p:nvSpPr>
            <p:cNvPr id="27" name="node01.stages.source-002.label"/>
            <p:cNvSpPr/>
            <p:nvPr/>
          </p:nvSpPr>
          <p:spPr>
            <a:xfrm>
              <a:off x="2343150" y="4001523"/>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SemiBold"/>
                  <a:ea typeface="IBM Plex Mono SemiBold"/>
                  <a:cs typeface="IBM Plex Mono SemiBold"/>
                </a:rPr>
                <a:t>AI-ASSISTED</a:t>
              </a:r>
              <a:endParaRPr lang="en-US" sz="800" spc="48" kern="0" b="0" i="0" dirty="0">
                <a:solidFill>
                  <a:srgbClr val="0047FF"/>
                </a:solidFill>
                <a:latin typeface="IBM Plex Mono SemiBold"/>
                <a:ea typeface="IBM Plex Mono SemiBold"/>
                <a:cs typeface="IBM Plex Mono SemiBold"/>
              </a:endParaRPr>
            </a:p>
          </p:txBody>
        </p:sp>
        <p:sp>
          <p:nvSpPr>
            <p:cNvPr id="28" name="node01.stages.source-002.text"/>
            <p:cNvSpPr/>
            <p:nvPr/>
          </p:nvSpPr>
          <p:spPr>
            <a:xfrm>
              <a:off x="2343150" y="4192023"/>
              <a:ext cx="1371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AI helps with bounded tasks.</a:t>
              </a:r>
              <a:endParaRPr lang="en-US" sz="1100" spc="0" kern="0" b="0" i="0" dirty="0">
                <a:solidFill>
                  <a:srgbClr val="070154"/>
                </a:solidFill>
                <a:latin typeface="IBM Plex Sans"/>
                <a:ea typeface="IBM Plex Sans"/>
                <a:cs typeface="IBM Plex Sans"/>
              </a:endParaRPr>
            </a:p>
          </p:txBody>
        </p:sp>
        <p:sp>
          <p:nvSpPr>
            <p:cNvPr id="29" name="node01.stages.source-003.circle"/>
            <p:cNvSpPr/>
            <p:nvPr/>
          </p:nvSpPr>
          <p:spPr>
            <a:xfrm>
              <a:off x="3844036" y="4679272"/>
              <a:ext cx="279400" cy="279400"/>
            </a:xfrm>
            <a:prstGeom prst="ellipse">
              <a:avLst/>
            </a:prstGeom>
            <a:solidFill>
              <a:srgbClr val="070154"/>
            </a:solidFill>
            <a:ln w="25400">
              <a:solidFill>
                <a:srgbClr val="070154"/>
              </a:solidFill>
              <a:prstDash val="solid"/>
            </a:ln>
          </p:spPr>
        </p:sp>
        <p:sp>
          <p:nvSpPr>
            <p:cNvPr id="30" name="node01.stages.source-003.number"/>
            <p:cNvSpPr/>
            <p:nvPr/>
          </p:nvSpPr>
          <p:spPr>
            <a:xfrm>
              <a:off x="3856736" y="4666572"/>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FFFFFF"/>
                  </a:solidFill>
                  <a:latin typeface="IBM Plex Mono SemiBold"/>
                  <a:ea typeface="IBM Plex Mono SemiBold"/>
                  <a:cs typeface="IBM Plex Mono SemiBold"/>
                </a:rPr>
                <a:t>3</a:t>
              </a:r>
              <a:endParaRPr lang="en-US" sz="1100" spc="0" kern="0" b="0" i="0" dirty="0">
                <a:solidFill>
                  <a:srgbClr val="FFFFFF"/>
                </a:solidFill>
                <a:latin typeface="IBM Plex Mono SemiBold"/>
                <a:ea typeface="IBM Plex Mono SemiBold"/>
                <a:cs typeface="IBM Plex Mono SemiBold"/>
              </a:endParaRPr>
            </a:p>
          </p:txBody>
        </p:sp>
        <p:sp>
          <p:nvSpPr>
            <p:cNvPr id="31" name="node01.stages.source-003.tick"/>
            <p:cNvSpPr/>
            <p:nvPr/>
          </p:nvSpPr>
          <p:spPr>
            <a:xfrm>
              <a:off x="3977386" y="4437972"/>
              <a:ext cx="12700" cy="228600"/>
            </a:xfrm>
            <a:prstGeom prst="rect">
              <a:avLst/>
            </a:prstGeom>
            <a:solidFill>
              <a:srgbClr val="070154"/>
            </a:solidFill>
            <a:ln>
              <a:noFill/>
            </a:ln>
          </p:spPr>
        </p:sp>
        <p:sp>
          <p:nvSpPr>
            <p:cNvPr id="32" name="node01.stages.source-003.label"/>
            <p:cNvSpPr/>
            <p:nvPr/>
          </p:nvSpPr>
          <p:spPr>
            <a:xfrm>
              <a:off x="3831336" y="3815672"/>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SemiBold"/>
                  <a:ea typeface="IBM Plex Mono SemiBold"/>
                  <a:cs typeface="IBM Plex Mono SemiBold"/>
                </a:rPr>
                <a:t>REPEATABLE</a:t>
              </a:r>
              <a:endParaRPr lang="en-US" sz="800" spc="48" kern="0" b="0" i="0" dirty="0">
                <a:solidFill>
                  <a:srgbClr val="0047FF"/>
                </a:solidFill>
                <a:latin typeface="IBM Plex Mono SemiBold"/>
                <a:ea typeface="IBM Plex Mono SemiBold"/>
                <a:cs typeface="IBM Plex Mono SemiBold"/>
              </a:endParaRPr>
            </a:p>
          </p:txBody>
        </p:sp>
        <p:sp>
          <p:nvSpPr>
            <p:cNvPr id="33" name="node01.stages.source-003.text"/>
            <p:cNvSpPr/>
            <p:nvPr/>
          </p:nvSpPr>
          <p:spPr>
            <a:xfrm>
              <a:off x="3831336" y="4006172"/>
              <a:ext cx="1371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Teams reuse shared workflows.</a:t>
              </a:r>
              <a:endParaRPr lang="en-US" sz="1100" spc="0" kern="0" b="0" i="0" dirty="0">
                <a:solidFill>
                  <a:srgbClr val="070154"/>
                </a:solidFill>
                <a:latin typeface="IBM Plex Sans"/>
                <a:ea typeface="IBM Plex Sans"/>
                <a:cs typeface="IBM Plex Sans"/>
              </a:endParaRPr>
            </a:p>
          </p:txBody>
        </p:sp>
        <p:sp>
          <p:nvSpPr>
            <p:cNvPr id="34" name="node01.stages.source-004.circle"/>
            <p:cNvSpPr/>
            <p:nvPr/>
          </p:nvSpPr>
          <p:spPr>
            <a:xfrm>
              <a:off x="5261356" y="4261818"/>
              <a:ext cx="279400" cy="279400"/>
            </a:xfrm>
            <a:prstGeom prst="ellipse">
              <a:avLst/>
            </a:prstGeom>
            <a:solidFill>
              <a:srgbClr val="FFFFFF"/>
            </a:solidFill>
            <a:ln w="25400">
              <a:solidFill>
                <a:srgbClr val="070154"/>
              </a:solidFill>
              <a:prstDash val="solid"/>
            </a:ln>
          </p:spPr>
        </p:sp>
        <p:sp>
          <p:nvSpPr>
            <p:cNvPr id="35" name="node01.stages.source-004.number"/>
            <p:cNvSpPr/>
            <p:nvPr/>
          </p:nvSpPr>
          <p:spPr>
            <a:xfrm>
              <a:off x="5274056" y="4249118"/>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6" name="node01.stages.source-004.tick"/>
            <p:cNvSpPr/>
            <p:nvPr/>
          </p:nvSpPr>
          <p:spPr>
            <a:xfrm>
              <a:off x="5394706" y="3512518"/>
              <a:ext cx="12700" cy="736600"/>
            </a:xfrm>
            <a:prstGeom prst="rect">
              <a:avLst/>
            </a:prstGeom>
            <a:solidFill>
              <a:srgbClr val="070154"/>
            </a:solidFill>
            <a:ln>
              <a:noFill/>
            </a:ln>
          </p:spPr>
        </p:sp>
        <p:sp>
          <p:nvSpPr>
            <p:cNvPr id="37" name="node01.stages.source-004.label"/>
            <p:cNvSpPr/>
            <p:nvPr/>
          </p:nvSpPr>
          <p:spPr>
            <a:xfrm>
              <a:off x="4537456" y="2890218"/>
              <a:ext cx="1371600" cy="139700"/>
            </a:xfrm>
            <a:prstGeom prst="rect">
              <a:avLst/>
            </a:prstGeom>
            <a:noFill/>
            <a:ln/>
          </p:spPr>
          <p:txBody>
            <a:bodyPr wrap="square" lIns="0" tIns="0" rIns="0" bIns="0" rtlCol="0" anchor="t"/>
            <a:lstStyle/>
            <a:p>
              <a:pPr algn="r" indent="0" marL="0">
                <a:lnSpc>
                  <a:spcPts val="1100"/>
                </a:lnSpc>
                <a:buNone/>
              </a:pPr>
              <a:r>
                <a:rPr lang="en-US" sz="800" spc="48" kern="0" b="0" i="0" dirty="0">
                  <a:solidFill>
                    <a:srgbClr val="0047FF"/>
                  </a:solidFill>
                  <a:latin typeface="IBM Plex Mono SemiBold"/>
                  <a:ea typeface="IBM Plex Mono SemiBold"/>
                  <a:cs typeface="IBM Plex Mono SemiBold"/>
                </a:rPr>
                <a:t>INTEGRATED</a:t>
              </a:r>
              <a:endParaRPr lang="en-US" sz="800" spc="48" kern="0" b="0" i="0" dirty="0">
                <a:solidFill>
                  <a:srgbClr val="0047FF"/>
                </a:solidFill>
                <a:latin typeface="IBM Plex Mono SemiBold"/>
                <a:ea typeface="IBM Plex Mono SemiBold"/>
                <a:cs typeface="IBM Plex Mono SemiBold"/>
              </a:endParaRPr>
            </a:p>
          </p:txBody>
        </p:sp>
        <p:sp>
          <p:nvSpPr>
            <p:cNvPr id="38" name="node01.stages.source-004.text"/>
            <p:cNvSpPr/>
            <p:nvPr/>
          </p:nvSpPr>
          <p:spPr>
            <a:xfrm>
              <a:off x="4537456" y="3080718"/>
              <a:ext cx="1371600" cy="381000"/>
            </a:xfrm>
            <a:prstGeom prst="rect">
              <a:avLst/>
            </a:prstGeom>
            <a:noFill/>
            <a:ln/>
          </p:spPr>
          <p:txBody>
            <a:bodyPr wrap="square" lIns="0" tIns="0" rIns="0" bIns="0" rtlCol="0" anchor="t"/>
            <a:lstStyle/>
            <a:p>
              <a:pPr algn="r" indent="0" marL="0">
                <a:lnSpc>
                  <a:spcPts val="1500"/>
                </a:lnSpc>
                <a:buNone/>
              </a:pPr>
              <a:r>
                <a:rPr lang="en-US" sz="1100" spc="0" kern="0" b="0" i="0" dirty="0">
                  <a:solidFill>
                    <a:srgbClr val="070154"/>
                  </a:solidFill>
                  <a:latin typeface="IBM Plex Sans"/>
                  <a:ea typeface="IBM Plex Sans"/>
                  <a:cs typeface="IBM Plex Sans"/>
                </a:rPr>
                <a:t>People and agents coordinate.</a:t>
              </a:r>
              <a:endParaRPr lang="en-US" sz="1100" spc="0" kern="0" b="0" i="0" dirty="0">
                <a:solidFill>
                  <a:srgbClr val="070154"/>
                </a:solidFill>
                <a:latin typeface="IBM Plex Sans"/>
                <a:ea typeface="IBM Plex Sans"/>
                <a:cs typeface="IBM Plex Sans"/>
              </a:endParaRPr>
            </a:p>
          </p:txBody>
        </p:sp>
        <p:sp>
          <p:nvSpPr>
            <p:cNvPr id="39" name="node01.stages.source-005.circle"/>
            <p:cNvSpPr/>
            <p:nvPr/>
          </p:nvSpPr>
          <p:spPr>
            <a:xfrm>
              <a:off x="6536944" y="3431932"/>
              <a:ext cx="279400" cy="279400"/>
            </a:xfrm>
            <a:prstGeom prst="ellipse">
              <a:avLst/>
            </a:prstGeom>
            <a:solidFill>
              <a:srgbClr val="FFFFFF"/>
            </a:solidFill>
            <a:ln w="25400">
              <a:solidFill>
                <a:srgbClr val="070154"/>
              </a:solidFill>
              <a:prstDash val="solid"/>
            </a:ln>
          </p:spPr>
        </p:sp>
        <p:sp>
          <p:nvSpPr>
            <p:cNvPr id="40" name="node01.stages.source-005.number"/>
            <p:cNvSpPr/>
            <p:nvPr/>
          </p:nvSpPr>
          <p:spPr>
            <a:xfrm>
              <a:off x="6549644" y="3419232"/>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5</a:t>
              </a:r>
              <a:endParaRPr lang="en-US" sz="1100" spc="0" kern="0" b="0" i="0" dirty="0">
                <a:solidFill>
                  <a:srgbClr val="070154"/>
                </a:solidFill>
                <a:latin typeface="IBM Plex Mono SemiBold"/>
                <a:ea typeface="IBM Plex Mono SemiBold"/>
                <a:cs typeface="IBM Plex Mono SemiBold"/>
              </a:endParaRPr>
            </a:p>
          </p:txBody>
        </p:sp>
        <p:sp>
          <p:nvSpPr>
            <p:cNvPr id="41" name="node01.stages.source-005.tick"/>
            <p:cNvSpPr/>
            <p:nvPr/>
          </p:nvSpPr>
          <p:spPr>
            <a:xfrm>
              <a:off x="6670294" y="2682632"/>
              <a:ext cx="12700" cy="736600"/>
            </a:xfrm>
            <a:prstGeom prst="rect">
              <a:avLst/>
            </a:prstGeom>
            <a:solidFill>
              <a:srgbClr val="070154"/>
            </a:solidFill>
            <a:ln>
              <a:noFill/>
            </a:ln>
          </p:spPr>
        </p:sp>
        <p:sp>
          <p:nvSpPr>
            <p:cNvPr id="42" name="node01.stages.source-005.label"/>
            <p:cNvSpPr/>
            <p:nvPr/>
          </p:nvSpPr>
          <p:spPr>
            <a:xfrm>
              <a:off x="5813044" y="2060332"/>
              <a:ext cx="1371600" cy="139700"/>
            </a:xfrm>
            <a:prstGeom prst="rect">
              <a:avLst/>
            </a:prstGeom>
            <a:noFill/>
            <a:ln/>
          </p:spPr>
          <p:txBody>
            <a:bodyPr wrap="square" lIns="0" tIns="0" rIns="0" bIns="0" rtlCol="0" anchor="t"/>
            <a:lstStyle/>
            <a:p>
              <a:pPr algn="r" indent="0" marL="0">
                <a:lnSpc>
                  <a:spcPts val="1100"/>
                </a:lnSpc>
                <a:buNone/>
              </a:pPr>
              <a:r>
                <a:rPr lang="en-US" sz="800" spc="48" kern="0" b="0" i="0" dirty="0">
                  <a:solidFill>
                    <a:srgbClr val="0047FF"/>
                  </a:solidFill>
                  <a:latin typeface="IBM Plex Mono SemiBold"/>
                  <a:ea typeface="IBM Plex Mono SemiBold"/>
                  <a:cs typeface="IBM Plex Mono SemiBold"/>
                </a:rPr>
                <a:t>SELF-IMPROVING</a:t>
              </a:r>
              <a:endParaRPr lang="en-US" sz="800" spc="48" kern="0" b="0" i="0" dirty="0">
                <a:solidFill>
                  <a:srgbClr val="0047FF"/>
                </a:solidFill>
                <a:latin typeface="IBM Plex Mono SemiBold"/>
                <a:ea typeface="IBM Plex Mono SemiBold"/>
                <a:cs typeface="IBM Plex Mono SemiBold"/>
              </a:endParaRPr>
            </a:p>
          </p:txBody>
        </p:sp>
        <p:sp>
          <p:nvSpPr>
            <p:cNvPr id="43" name="node01.stages.source-005.text"/>
            <p:cNvSpPr/>
            <p:nvPr/>
          </p:nvSpPr>
          <p:spPr>
            <a:xfrm>
              <a:off x="5813044" y="2250832"/>
              <a:ext cx="1371600" cy="381000"/>
            </a:xfrm>
            <a:prstGeom prst="rect">
              <a:avLst/>
            </a:prstGeom>
            <a:noFill/>
            <a:ln/>
          </p:spPr>
          <p:txBody>
            <a:bodyPr wrap="square" lIns="0" tIns="0" rIns="0" bIns="0" rtlCol="0" anchor="t"/>
            <a:lstStyle/>
            <a:p>
              <a:pPr algn="r" indent="0" marL="0">
                <a:lnSpc>
                  <a:spcPts val="1500"/>
                </a:lnSpc>
                <a:buNone/>
              </a:pPr>
              <a:r>
                <a:rPr lang="en-US" sz="1100" spc="0" kern="0" b="0" i="0" dirty="0">
                  <a:solidFill>
                    <a:srgbClr val="070154"/>
                  </a:solidFill>
                  <a:latin typeface="IBM Plex Sans"/>
                  <a:ea typeface="IBM Plex Sans"/>
                  <a:cs typeface="IBM Plex Sans"/>
                </a:rPr>
                <a:t>Telemetry refines shared skills.</a:t>
              </a:r>
              <a:endParaRPr lang="en-US" sz="1100" spc="0" kern="0" b="0" i="0" dirty="0">
                <a:solidFill>
                  <a:srgbClr val="070154"/>
                </a:solidFill>
                <a:latin typeface="IBM Plex Sans"/>
                <a:ea typeface="IBM Plex Sans"/>
                <a:cs typeface="IBM Plex Sans"/>
              </a:endParaRPr>
            </a:p>
          </p:txBody>
        </p:sp>
        <p:sp>
          <p:nvSpPr>
            <p:cNvPr id="44" name="node01.here.tick"/>
            <p:cNvSpPr/>
            <p:nvPr/>
          </p:nvSpPr>
          <p:spPr>
            <a:xfrm>
              <a:off x="3974211" y="4971372"/>
              <a:ext cx="19050" cy="152400"/>
            </a:xfrm>
            <a:prstGeom prst="rect">
              <a:avLst/>
            </a:prstGeom>
            <a:solidFill>
              <a:srgbClr val="F900D3"/>
            </a:solidFill>
            <a:ln>
              <a:noFill/>
            </a:ln>
          </p:spPr>
        </p:sp>
        <p:sp>
          <p:nvSpPr>
            <p:cNvPr id="45" name="node01.here.tag"/>
            <p:cNvSpPr/>
            <p:nvPr/>
          </p:nvSpPr>
          <p:spPr>
            <a:xfrm>
              <a:off x="3496311" y="5123772"/>
              <a:ext cx="974849" cy="190500"/>
            </a:xfrm>
            <a:prstGeom prst="rect">
              <a:avLst/>
            </a:prstGeom>
            <a:solidFill>
              <a:srgbClr val="F900D3"/>
            </a:solidFill>
            <a:ln>
              <a:noFill/>
            </a:ln>
          </p:spPr>
        </p:sp>
        <p:sp>
          <p:nvSpPr>
            <p:cNvPr id="46" name="node01.here.label"/>
            <p:cNvSpPr/>
            <p:nvPr/>
          </p:nvSpPr>
          <p:spPr>
            <a:xfrm>
              <a:off x="3572511" y="5149172"/>
              <a:ext cx="822449"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YOU ARE HERE</a:t>
              </a:r>
              <a:endParaRPr lang="en-US" sz="800" spc="48" kern="0" b="0" i="0" dirty="0">
                <a:solidFill>
                  <a:srgbClr val="070154"/>
                </a:solidFill>
                <a:latin typeface="IBM Plex Mono SemiBold"/>
                <a:ea typeface="IBM Plex Mono SemiBold"/>
                <a:cs typeface="IBM Plex Mono SemiBold"/>
              </a:endParaRPr>
            </a:p>
          </p:txBody>
        </p:sp>
      </p:grpSp>
      <p:grpSp>
        <p:nvGrpSpPr>
          <p:cNvPr id="60" name="node02"/>
          <p:cNvGrpSpPr/>
          <p:nvPr/>
        </p:nvGrpSpPr>
        <p:grpSpPr>
          <a:xfrm>
            <a:off x="8039100" y="1600200"/>
            <a:ext cx="3429000" cy="1295400"/>
            <a:chOff x="8039100" y="1600200"/>
            <a:chExt cx="3429000" cy="1295400"/>
          </a:xfrm>
        </p:grpSpPr>
        <p:sp>
          <p:nvSpPr>
            <p:cNvPr id="47" name="node02.container"/>
            <p:cNvSpPr/>
            <p:nvPr/>
          </p:nvSpPr>
          <p:spPr>
            <a:xfrm>
              <a:off x="8039100" y="1600200"/>
              <a:ext cx="3429000" cy="1295400"/>
            </a:xfrm>
            <a:prstGeom prst="rect">
              <a:avLst/>
            </a:prstGeom>
            <a:solidFill>
              <a:srgbClr val="E8EEF8"/>
            </a:solidFill>
            <a:ln>
              <a:noFill/>
            </a:ln>
          </p:spPr>
        </p:sp>
        <p:sp>
          <p:nvSpPr>
            <p:cNvPr id="48" name="node02.label"/>
            <p:cNvSpPr/>
            <p:nvPr/>
          </p:nvSpPr>
          <p:spPr>
            <a:xfrm>
              <a:off x="81915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TO REACH STAGE FOUR</a:t>
              </a:r>
              <a:endParaRPr lang="en-US" sz="800" spc="48" kern="0" b="0" i="0" dirty="0">
                <a:solidFill>
                  <a:srgbClr val="0047FF"/>
                </a:solidFill>
                <a:latin typeface="IBM Plex Mono Medium"/>
                <a:ea typeface="IBM Plex Mono Medium"/>
                <a:cs typeface="IBM Plex Mono Medium"/>
              </a:endParaRPr>
            </a:p>
          </p:txBody>
        </p:sp>
        <p:sp>
          <p:nvSpPr>
            <p:cNvPr id="49" name="node02.title"/>
            <p:cNvSpPr/>
            <p:nvPr/>
          </p:nvSpPr>
          <p:spPr>
            <a:xfrm>
              <a:off x="8191500" y="19685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NAME ONE OWNER PER WORKFLOW</a:t>
              </a:r>
              <a:endParaRPr lang="en-US" sz="800" spc="48" kern="0" b="0" i="0" dirty="0">
                <a:solidFill>
                  <a:srgbClr val="070154"/>
                </a:solidFill>
                <a:latin typeface="IBM Plex Mono Medium"/>
                <a:ea typeface="IBM Plex Mono Medium"/>
                <a:cs typeface="IBM Plex Mono Medium"/>
              </a:endParaRPr>
            </a:p>
          </p:txBody>
        </p:sp>
        <p:sp>
          <p:nvSpPr>
            <p:cNvPr id="50" name="node02.body.item-001.paragraph"/>
            <p:cNvSpPr/>
            <p:nvPr/>
          </p:nvSpPr>
          <p:spPr>
            <a:xfrm>
              <a:off x="8191500" y="22606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Each shared workflow needs an accountable owner and a review step.</a:t>
              </a:r>
              <a:endParaRPr lang="en-US" sz="1200" spc="0" kern="0" b="0" i="0" dirty="0">
                <a:solidFill>
                  <a:srgbClr val="50658E"/>
                </a:solidFill>
                <a:latin typeface="IBM Plex Sans"/>
                <a:ea typeface="IBM Plex Sans"/>
                <a:cs typeface="IBM Plex Sans"/>
              </a:endParaRPr>
            </a:p>
          </p:txBody>
        </p:sp>
      </p:grpSp>
      <p:grpSp>
        <p:nvGrpSpPr>
          <p:cNvPr id="61" name="node03"/>
          <p:cNvGrpSpPr/>
          <p:nvPr/>
        </p:nvGrpSpPr>
        <p:grpSpPr>
          <a:xfrm>
            <a:off x="8039100" y="2971800"/>
            <a:ext cx="3429000" cy="1295400"/>
            <a:chOff x="8039100" y="2971800"/>
            <a:chExt cx="3429000" cy="1295400"/>
          </a:xfrm>
        </p:grpSpPr>
        <p:sp>
          <p:nvSpPr>
            <p:cNvPr id="51" name="node03.container"/>
            <p:cNvSpPr/>
            <p:nvPr/>
          </p:nvSpPr>
          <p:spPr>
            <a:xfrm>
              <a:off x="8039100" y="2971800"/>
              <a:ext cx="3429000" cy="1295400"/>
            </a:xfrm>
            <a:prstGeom prst="rect">
              <a:avLst/>
            </a:prstGeom>
            <a:solidFill>
              <a:srgbClr val="E8EEF8"/>
            </a:solidFill>
            <a:ln>
              <a:noFill/>
            </a:ln>
          </p:spPr>
        </p:sp>
        <p:sp>
          <p:nvSpPr>
            <p:cNvPr id="52" name="node03.label"/>
            <p:cNvSpPr/>
            <p:nvPr/>
          </p:nvSpPr>
          <p:spPr>
            <a:xfrm>
              <a:off x="8191500" y="31242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TO REACH STAGE FOUR</a:t>
              </a:r>
              <a:endParaRPr lang="en-US" sz="800" spc="48" kern="0" b="0" i="0" dirty="0">
                <a:solidFill>
                  <a:srgbClr val="0047FF"/>
                </a:solidFill>
                <a:latin typeface="IBM Plex Mono Medium"/>
                <a:ea typeface="IBM Plex Mono Medium"/>
                <a:cs typeface="IBM Plex Mono Medium"/>
              </a:endParaRPr>
            </a:p>
          </p:txBody>
        </p:sp>
        <p:sp>
          <p:nvSpPr>
            <p:cNvPr id="53" name="node03.title"/>
            <p:cNvSpPr/>
            <p:nvPr/>
          </p:nvSpPr>
          <p:spPr>
            <a:xfrm>
              <a:off x="8191500" y="33401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DEFINE THE HANDOFFS</a:t>
              </a:r>
              <a:endParaRPr lang="en-US" sz="800" spc="48" kern="0" b="0" i="0" dirty="0">
                <a:solidFill>
                  <a:srgbClr val="070154"/>
                </a:solidFill>
                <a:latin typeface="IBM Plex Mono Medium"/>
                <a:ea typeface="IBM Plex Mono Medium"/>
                <a:cs typeface="IBM Plex Mono Medium"/>
              </a:endParaRPr>
            </a:p>
          </p:txBody>
        </p:sp>
        <p:sp>
          <p:nvSpPr>
            <p:cNvPr id="54" name="node03.body.item-001.paragraph"/>
            <p:cNvSpPr/>
            <p:nvPr/>
          </p:nvSpPr>
          <p:spPr>
            <a:xfrm>
              <a:off x="8191500" y="36322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Write down where agents hand work to people and back.</a:t>
              </a:r>
              <a:endParaRPr lang="en-US" sz="1200" spc="0" kern="0" b="0" i="0" dirty="0">
                <a:solidFill>
                  <a:srgbClr val="50658E"/>
                </a:solidFill>
                <a:latin typeface="IBM Plex Sans"/>
                <a:ea typeface="IBM Plex Sans"/>
                <a:cs typeface="IBM Plex Sans"/>
              </a:endParaRPr>
            </a:p>
          </p:txBody>
        </p:sp>
      </p:grpSp>
      <p:grpSp>
        <p:nvGrpSpPr>
          <p:cNvPr id="62" name="node04"/>
          <p:cNvGrpSpPr/>
          <p:nvPr/>
        </p:nvGrpSpPr>
        <p:grpSpPr>
          <a:xfrm>
            <a:off x="8039100" y="4343400"/>
            <a:ext cx="3429000" cy="1295400"/>
            <a:chOff x="8039100" y="4343400"/>
            <a:chExt cx="3429000" cy="1295400"/>
          </a:xfrm>
        </p:grpSpPr>
        <p:sp>
          <p:nvSpPr>
            <p:cNvPr id="55" name="node04.container"/>
            <p:cNvSpPr/>
            <p:nvPr/>
          </p:nvSpPr>
          <p:spPr>
            <a:xfrm>
              <a:off x="8039100" y="4343400"/>
              <a:ext cx="3429000" cy="1295400"/>
            </a:xfrm>
            <a:prstGeom prst="rect">
              <a:avLst/>
            </a:prstGeom>
            <a:solidFill>
              <a:srgbClr val="E8EEF8"/>
            </a:solidFill>
            <a:ln>
              <a:noFill/>
            </a:ln>
          </p:spPr>
        </p:sp>
        <p:sp>
          <p:nvSpPr>
            <p:cNvPr id="56" name="node04.label"/>
            <p:cNvSpPr/>
            <p:nvPr/>
          </p:nvSpPr>
          <p:spPr>
            <a:xfrm>
              <a:off x="8191500" y="4495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TO REACH STAGE FOUR</a:t>
              </a:r>
              <a:endParaRPr lang="en-US" sz="800" spc="48" kern="0" b="0" i="0" dirty="0">
                <a:solidFill>
                  <a:srgbClr val="0047FF"/>
                </a:solidFill>
                <a:latin typeface="IBM Plex Mono Medium"/>
                <a:ea typeface="IBM Plex Mono Medium"/>
                <a:cs typeface="IBM Plex Mono Medium"/>
              </a:endParaRPr>
            </a:p>
          </p:txBody>
        </p:sp>
        <p:sp>
          <p:nvSpPr>
            <p:cNvPr id="57" name="node04.title"/>
            <p:cNvSpPr/>
            <p:nvPr/>
          </p:nvSpPr>
          <p:spPr>
            <a:xfrm>
              <a:off x="8191500" y="47117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MEASURE CYCLE TIME</a:t>
              </a:r>
              <a:endParaRPr lang="en-US" sz="800" spc="48" kern="0" b="0" i="0" dirty="0">
                <a:solidFill>
                  <a:srgbClr val="070154"/>
                </a:solidFill>
                <a:latin typeface="IBM Plex Mono Medium"/>
                <a:ea typeface="IBM Plex Mono Medium"/>
                <a:cs typeface="IBM Plex Mono Medium"/>
              </a:endParaRPr>
            </a:p>
          </p:txBody>
        </p:sp>
        <p:sp>
          <p:nvSpPr>
            <p:cNvPr id="58" name="node04.body.item-001.paragraph"/>
            <p:cNvSpPr/>
            <p:nvPr/>
          </p:nvSpPr>
          <p:spPr>
            <a:xfrm>
              <a:off x="8191500" y="50038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Track one flow metric so gains show up in delivery.</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ource-01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ARCHITECTURE DECISION RECORD</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8203430" y="733532"/>
            <a:ext cx="3210075"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ADR-014: Route clinical events through a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shared event bus</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122</a:t>
            </a:fld>
            <a:endParaRPr lang="en-US" sz="700" spc="0" kern="0" b="0" i="0" dirty="0">
              <a:solidFill>
                <a:srgbClr val="070154"/>
              </a:solidFill>
              <a:latin typeface="IBM Plex Mono SemiBold"/>
              <a:ea typeface="IBM Plex Mono SemiBold"/>
              <a:cs typeface="IBM Plex Mono SemiBold"/>
            </a:endParaRPr>
          </a:p>
        </p:txBody>
      </p:sp>
      <p:grpSp>
        <p:nvGrpSpPr>
          <p:cNvPr id="35" name="node01"/>
          <p:cNvGrpSpPr/>
          <p:nvPr/>
        </p:nvGrpSpPr>
        <p:grpSpPr>
          <a:xfrm>
            <a:off x="723900" y="1600200"/>
            <a:ext cx="2514600" cy="139700"/>
            <a:chOff x="723900" y="1600200"/>
            <a:chExt cx="2514600" cy="139700"/>
          </a:xfrm>
        </p:grpSpPr>
        <p:sp>
          <p:nvSpPr>
            <p:cNvPr id="7" name="node01.text"/>
            <p:cNvSpPr/>
            <p:nvPr/>
          </p:nvSpPr>
          <p:spPr>
            <a:xfrm>
              <a:off x="7239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STATUS</a:t>
              </a:r>
              <a:endParaRPr lang="en-US" sz="800" spc="48" kern="0" b="0" i="0" dirty="0">
                <a:solidFill>
                  <a:srgbClr val="50658E"/>
                </a:solidFill>
                <a:latin typeface="IBM Plex Mono Medium"/>
                <a:ea typeface="IBM Plex Mono Medium"/>
                <a:cs typeface="IBM Plex Mono Medium"/>
              </a:endParaRPr>
            </a:p>
          </p:txBody>
        </p:sp>
      </p:grpSp>
      <p:grpSp>
        <p:nvGrpSpPr>
          <p:cNvPr id="36" name="node02"/>
          <p:cNvGrpSpPr/>
          <p:nvPr/>
        </p:nvGrpSpPr>
        <p:grpSpPr>
          <a:xfrm>
            <a:off x="723900" y="1828800"/>
            <a:ext cx="1600200" cy="457200"/>
            <a:chOff x="723900" y="1828800"/>
            <a:chExt cx="1600200" cy="457200"/>
          </a:xfrm>
        </p:grpSpPr>
        <p:sp>
          <p:nvSpPr>
            <p:cNvPr id="8" name="node02.surface"/>
            <p:cNvSpPr/>
            <p:nvPr/>
          </p:nvSpPr>
          <p:spPr>
            <a:xfrm>
              <a:off x="723900" y="1828800"/>
              <a:ext cx="1600200" cy="457200"/>
            </a:xfrm>
            <a:prstGeom prst="rect">
              <a:avLst/>
            </a:prstGeom>
            <a:solidFill>
              <a:srgbClr val="070154"/>
            </a:solidFill>
            <a:ln>
              <a:noFill/>
            </a:ln>
          </p:spPr>
        </p:sp>
        <p:sp>
          <p:nvSpPr>
            <p:cNvPr id="9" name="node02.text"/>
            <p:cNvSpPr/>
            <p:nvPr/>
          </p:nvSpPr>
          <p:spPr>
            <a:xfrm>
              <a:off x="876300" y="1987550"/>
              <a:ext cx="1295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ACCEPTED</a:t>
              </a:r>
              <a:endParaRPr lang="en-US" sz="800" spc="48" kern="0" b="0" i="0" dirty="0">
                <a:solidFill>
                  <a:srgbClr val="FFFFFF"/>
                </a:solidFill>
                <a:latin typeface="IBM Plex Mono Medium"/>
                <a:ea typeface="IBM Plex Mono Medium"/>
                <a:cs typeface="IBM Plex Mono Medium"/>
              </a:endParaRPr>
            </a:p>
          </p:txBody>
        </p:sp>
      </p:grpSp>
      <p:grpSp>
        <p:nvGrpSpPr>
          <p:cNvPr id="37" name="node03"/>
          <p:cNvGrpSpPr/>
          <p:nvPr/>
        </p:nvGrpSpPr>
        <p:grpSpPr>
          <a:xfrm>
            <a:off x="3467100" y="1600200"/>
            <a:ext cx="2514600" cy="139700"/>
            <a:chOff x="3467100" y="1600200"/>
            <a:chExt cx="2514600" cy="139700"/>
          </a:xfrm>
        </p:grpSpPr>
        <p:sp>
          <p:nvSpPr>
            <p:cNvPr id="10" name="node03.text"/>
            <p:cNvSpPr/>
            <p:nvPr/>
          </p:nvSpPr>
          <p:spPr>
            <a:xfrm>
              <a:off x="34671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DATE</a:t>
              </a:r>
              <a:endParaRPr lang="en-US" sz="800" spc="48" kern="0" b="0" i="0" dirty="0">
                <a:solidFill>
                  <a:srgbClr val="50658E"/>
                </a:solidFill>
                <a:latin typeface="IBM Plex Mono Medium"/>
                <a:ea typeface="IBM Plex Mono Medium"/>
                <a:cs typeface="IBM Plex Mono Medium"/>
              </a:endParaRPr>
            </a:p>
          </p:txBody>
        </p:sp>
      </p:grpSp>
      <p:grpSp>
        <p:nvGrpSpPr>
          <p:cNvPr id="38" name="node04"/>
          <p:cNvGrpSpPr/>
          <p:nvPr/>
        </p:nvGrpSpPr>
        <p:grpSpPr>
          <a:xfrm>
            <a:off x="3467100" y="1828800"/>
            <a:ext cx="2514600" cy="266700"/>
            <a:chOff x="3467100" y="1828800"/>
            <a:chExt cx="2514600" cy="266700"/>
          </a:xfrm>
        </p:grpSpPr>
        <p:sp>
          <p:nvSpPr>
            <p:cNvPr id="11" name="node04.text"/>
            <p:cNvSpPr/>
            <p:nvPr/>
          </p:nvSpPr>
          <p:spPr>
            <a:xfrm>
              <a:off x="3467100" y="18288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12 Sep 2026</a:t>
              </a:r>
              <a:endParaRPr lang="en-US" sz="1600" spc="-16" kern="0" b="0" i="0" dirty="0">
                <a:solidFill>
                  <a:srgbClr val="070154"/>
                </a:solidFill>
                <a:latin typeface="IBM Plex Sans SemiBold"/>
                <a:ea typeface="IBM Plex Sans SemiBold"/>
                <a:cs typeface="IBM Plex Sans SemiBold"/>
              </a:endParaRPr>
            </a:p>
          </p:txBody>
        </p:sp>
      </p:grpSp>
      <p:grpSp>
        <p:nvGrpSpPr>
          <p:cNvPr id="39" name="node05"/>
          <p:cNvGrpSpPr/>
          <p:nvPr/>
        </p:nvGrpSpPr>
        <p:grpSpPr>
          <a:xfrm>
            <a:off x="6210300" y="1600200"/>
            <a:ext cx="2514600" cy="139700"/>
            <a:chOff x="6210300" y="1600200"/>
            <a:chExt cx="2514600" cy="139700"/>
          </a:xfrm>
        </p:grpSpPr>
        <p:sp>
          <p:nvSpPr>
            <p:cNvPr id="12" name="node05.text"/>
            <p:cNvSpPr/>
            <p:nvPr/>
          </p:nvSpPr>
          <p:spPr>
            <a:xfrm>
              <a:off x="62103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DECIDERS</a:t>
              </a:r>
              <a:endParaRPr lang="en-US" sz="800" spc="48" kern="0" b="0" i="0" dirty="0">
                <a:solidFill>
                  <a:srgbClr val="50658E"/>
                </a:solidFill>
                <a:latin typeface="IBM Plex Mono Medium"/>
                <a:ea typeface="IBM Plex Mono Medium"/>
                <a:cs typeface="IBM Plex Mono Medium"/>
              </a:endParaRPr>
            </a:p>
          </p:txBody>
        </p:sp>
      </p:grpSp>
      <p:grpSp>
        <p:nvGrpSpPr>
          <p:cNvPr id="40" name="node06"/>
          <p:cNvGrpSpPr/>
          <p:nvPr/>
        </p:nvGrpSpPr>
        <p:grpSpPr>
          <a:xfrm>
            <a:off x="6210300" y="1828800"/>
            <a:ext cx="2514600" cy="190500"/>
            <a:chOff x="6210300" y="1828800"/>
            <a:chExt cx="2514600" cy="190500"/>
          </a:xfrm>
        </p:grpSpPr>
        <p:sp>
          <p:nvSpPr>
            <p:cNvPr id="13" name="node06.text"/>
            <p:cNvSpPr/>
            <p:nvPr/>
          </p:nvSpPr>
          <p:spPr>
            <a:xfrm>
              <a:off x="6210300" y="18288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Architecture review board</a:t>
              </a:r>
              <a:endParaRPr lang="en-US" sz="1100" spc="0" kern="0" b="0" i="0" dirty="0">
                <a:solidFill>
                  <a:srgbClr val="070154"/>
                </a:solidFill>
                <a:latin typeface="IBM Plex Sans"/>
                <a:ea typeface="IBM Plex Sans"/>
                <a:cs typeface="IBM Plex Sans"/>
              </a:endParaRPr>
            </a:p>
          </p:txBody>
        </p:sp>
      </p:grpSp>
      <p:grpSp>
        <p:nvGrpSpPr>
          <p:cNvPr id="41" name="node07"/>
          <p:cNvGrpSpPr/>
          <p:nvPr/>
        </p:nvGrpSpPr>
        <p:grpSpPr>
          <a:xfrm>
            <a:off x="8953500" y="1600200"/>
            <a:ext cx="2514600" cy="139700"/>
            <a:chOff x="8953500" y="1600200"/>
            <a:chExt cx="2514600" cy="139700"/>
          </a:xfrm>
        </p:grpSpPr>
        <p:sp>
          <p:nvSpPr>
            <p:cNvPr id="14" name="node07.text"/>
            <p:cNvSpPr/>
            <p:nvPr/>
          </p:nvSpPr>
          <p:spPr>
            <a:xfrm>
              <a:off x="89535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SUPERSEDES</a:t>
              </a:r>
              <a:endParaRPr lang="en-US" sz="800" spc="48" kern="0" b="0" i="0" dirty="0">
                <a:solidFill>
                  <a:srgbClr val="50658E"/>
                </a:solidFill>
                <a:latin typeface="IBM Plex Mono Medium"/>
                <a:ea typeface="IBM Plex Mono Medium"/>
                <a:cs typeface="IBM Plex Mono Medium"/>
              </a:endParaRPr>
            </a:p>
          </p:txBody>
        </p:sp>
      </p:grpSp>
      <p:grpSp>
        <p:nvGrpSpPr>
          <p:cNvPr id="42" name="node08"/>
          <p:cNvGrpSpPr/>
          <p:nvPr/>
        </p:nvGrpSpPr>
        <p:grpSpPr>
          <a:xfrm>
            <a:off x="8953500" y="1828800"/>
            <a:ext cx="2514600" cy="190500"/>
            <a:chOff x="8953500" y="1828800"/>
            <a:chExt cx="2514600" cy="190500"/>
          </a:xfrm>
        </p:grpSpPr>
        <p:sp>
          <p:nvSpPr>
            <p:cNvPr id="15" name="node08.text"/>
            <p:cNvSpPr/>
            <p:nvPr/>
          </p:nvSpPr>
          <p:spPr>
            <a:xfrm>
              <a:off x="8953500" y="18288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ADR-009 Point-to-point HL7 feeds</a:t>
              </a:r>
              <a:endParaRPr lang="en-US" sz="1100" spc="0" kern="0" b="0" i="0" dirty="0">
                <a:solidFill>
                  <a:srgbClr val="070154"/>
                </a:solidFill>
                <a:latin typeface="IBM Plex Sans"/>
                <a:ea typeface="IBM Plex Sans"/>
                <a:cs typeface="IBM Plex Sans"/>
              </a:endParaRPr>
            </a:p>
          </p:txBody>
        </p:sp>
      </p:grpSp>
      <p:sp>
        <p:nvSpPr>
          <p:cNvPr id="16" name="node09"/>
          <p:cNvSpPr/>
          <p:nvPr/>
        </p:nvSpPr>
        <p:spPr>
          <a:xfrm>
            <a:off x="723900" y="2514600"/>
            <a:ext cx="10744200" cy="9525"/>
          </a:xfrm>
          <a:prstGeom prst="rect">
            <a:avLst/>
          </a:prstGeom>
          <a:solidFill>
            <a:srgbClr val="CED7E6"/>
          </a:solidFill>
          <a:ln>
            <a:noFill/>
          </a:ln>
        </p:spPr>
      </p:sp>
      <p:grpSp>
        <p:nvGrpSpPr>
          <p:cNvPr id="43" name="node10"/>
          <p:cNvGrpSpPr/>
          <p:nvPr/>
        </p:nvGrpSpPr>
        <p:grpSpPr>
          <a:xfrm>
            <a:off x="723900" y="2743200"/>
            <a:ext cx="3429000" cy="139700"/>
            <a:chOff x="723900" y="2743200"/>
            <a:chExt cx="3429000" cy="139700"/>
          </a:xfrm>
        </p:grpSpPr>
        <p:sp>
          <p:nvSpPr>
            <p:cNvPr id="17" name="node10.text"/>
            <p:cNvSpPr/>
            <p:nvPr/>
          </p:nvSpPr>
          <p:spPr>
            <a:xfrm>
              <a:off x="723900" y="2743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CONTEXT</a:t>
              </a:r>
              <a:endParaRPr lang="en-US" sz="800" spc="48" kern="0" b="0" i="0" dirty="0">
                <a:solidFill>
                  <a:srgbClr val="50658E"/>
                </a:solidFill>
                <a:latin typeface="IBM Plex Mono Medium"/>
                <a:ea typeface="IBM Plex Mono Medium"/>
                <a:cs typeface="IBM Plex Mono Medium"/>
              </a:endParaRPr>
            </a:p>
          </p:txBody>
        </p:sp>
      </p:grpSp>
      <p:grpSp>
        <p:nvGrpSpPr>
          <p:cNvPr id="44" name="node11"/>
          <p:cNvGrpSpPr/>
          <p:nvPr/>
        </p:nvGrpSpPr>
        <p:grpSpPr>
          <a:xfrm>
            <a:off x="723900" y="2971800"/>
            <a:ext cx="3429000" cy="863600"/>
            <a:chOff x="723900" y="2971800"/>
            <a:chExt cx="3429000" cy="863600"/>
          </a:xfrm>
        </p:grpSpPr>
        <p:sp>
          <p:nvSpPr>
            <p:cNvPr id="18" name="node11.text"/>
            <p:cNvSpPr/>
            <p:nvPr/>
          </p:nvSpPr>
          <p:spPr>
            <a:xfrm>
              <a:off x="723900" y="2971800"/>
              <a:ext cx="3429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Northfield runs 14 clinical and revenue systems, and every pair that exchanges data has its own interface. The 61 feeds fail in different ways, and each new system adds more.</a:t>
              </a:r>
              <a:endParaRPr lang="en-US" sz="1200" spc="0" kern="0" b="0" i="0" dirty="0">
                <a:solidFill>
                  <a:srgbClr val="070154"/>
                </a:solidFill>
                <a:latin typeface="IBM Plex Sans"/>
                <a:ea typeface="IBM Plex Sans"/>
                <a:cs typeface="IBM Plex Sans"/>
              </a:endParaRPr>
            </a:p>
          </p:txBody>
        </p:sp>
      </p:grpSp>
      <p:grpSp>
        <p:nvGrpSpPr>
          <p:cNvPr id="45" name="node12"/>
          <p:cNvGrpSpPr/>
          <p:nvPr/>
        </p:nvGrpSpPr>
        <p:grpSpPr>
          <a:xfrm>
            <a:off x="4381500" y="2743200"/>
            <a:ext cx="3429000" cy="2286000"/>
            <a:chOff x="4381500" y="2743200"/>
            <a:chExt cx="3429000" cy="2286000"/>
          </a:xfrm>
        </p:grpSpPr>
        <p:sp>
          <p:nvSpPr>
            <p:cNvPr id="19" name="node12.container"/>
            <p:cNvSpPr/>
            <p:nvPr/>
          </p:nvSpPr>
          <p:spPr>
            <a:xfrm>
              <a:off x="4381500" y="2743200"/>
              <a:ext cx="3429000" cy="2286000"/>
            </a:xfrm>
            <a:prstGeom prst="rect">
              <a:avLst/>
            </a:prstGeom>
            <a:solidFill>
              <a:srgbClr val="E8EEF8"/>
            </a:solidFill>
            <a:ln>
              <a:noFill/>
            </a:ln>
          </p:spPr>
        </p:sp>
        <p:sp>
          <p:nvSpPr>
            <p:cNvPr id="20" name="node12.edge"/>
            <p:cNvSpPr/>
            <p:nvPr/>
          </p:nvSpPr>
          <p:spPr>
            <a:xfrm>
              <a:off x="4381500" y="2743200"/>
              <a:ext cx="3429000" cy="76200"/>
            </a:xfrm>
            <a:prstGeom prst="rect">
              <a:avLst/>
            </a:prstGeom>
            <a:solidFill>
              <a:srgbClr val="0047FF"/>
            </a:solidFill>
            <a:ln>
              <a:noFill/>
            </a:ln>
          </p:spPr>
        </p:sp>
        <p:sp>
          <p:nvSpPr>
            <p:cNvPr id="21" name="node12.label"/>
            <p:cNvSpPr/>
            <p:nvPr/>
          </p:nvSpPr>
          <p:spPr>
            <a:xfrm>
              <a:off x="4610100" y="30480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DECISION</a:t>
              </a:r>
              <a:endParaRPr lang="en-US" sz="800" spc="48" kern="0" b="0" i="0" dirty="0">
                <a:solidFill>
                  <a:srgbClr val="0047FF"/>
                </a:solidFill>
                <a:latin typeface="IBM Plex Mono Medium"/>
                <a:ea typeface="IBM Plex Mono Medium"/>
                <a:cs typeface="IBM Plex Mono Medium"/>
              </a:endParaRPr>
            </a:p>
          </p:txBody>
        </p:sp>
        <p:sp>
          <p:nvSpPr>
            <p:cNvPr id="22" name="node12.body.item-001.paragraph"/>
            <p:cNvSpPr/>
            <p:nvPr/>
          </p:nvSpPr>
          <p:spPr>
            <a:xfrm>
              <a:off x="4610100" y="3263900"/>
              <a:ext cx="29718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Publish clinical and revenue events to one managed event bus. Systems subscribe to the events they need, so a new feed no longer changes the sending system.</a:t>
              </a:r>
              <a:endParaRPr lang="en-US" sz="1200" spc="0" kern="0" b="0" i="0" dirty="0">
                <a:solidFill>
                  <a:srgbClr val="50658E"/>
                </a:solidFill>
                <a:latin typeface="IBM Plex Sans"/>
                <a:ea typeface="IBM Plex Sans"/>
                <a:cs typeface="IBM Plex Sans"/>
              </a:endParaRPr>
            </a:p>
          </p:txBody>
        </p:sp>
      </p:grpSp>
      <p:grpSp>
        <p:nvGrpSpPr>
          <p:cNvPr id="46" name="node13"/>
          <p:cNvGrpSpPr/>
          <p:nvPr/>
        </p:nvGrpSpPr>
        <p:grpSpPr>
          <a:xfrm>
            <a:off x="8039100" y="2743200"/>
            <a:ext cx="3429000" cy="139700"/>
            <a:chOff x="8039100" y="2743200"/>
            <a:chExt cx="3429000" cy="139700"/>
          </a:xfrm>
        </p:grpSpPr>
        <p:sp>
          <p:nvSpPr>
            <p:cNvPr id="23" name="node13.text"/>
            <p:cNvSpPr/>
            <p:nvPr/>
          </p:nvSpPr>
          <p:spPr>
            <a:xfrm>
              <a:off x="8039100" y="2743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POSITIVE CONSEQUENCES</a:t>
              </a:r>
              <a:endParaRPr lang="en-US" sz="800" spc="48" kern="0" b="0" i="0" dirty="0">
                <a:solidFill>
                  <a:srgbClr val="50658E"/>
                </a:solidFill>
                <a:latin typeface="IBM Plex Mono Medium"/>
                <a:ea typeface="IBM Plex Mono Medium"/>
                <a:cs typeface="IBM Plex Mono Medium"/>
              </a:endParaRPr>
            </a:p>
          </p:txBody>
        </p:sp>
      </p:grpSp>
      <p:grpSp>
        <p:nvGrpSpPr>
          <p:cNvPr id="47" name="node14"/>
          <p:cNvGrpSpPr/>
          <p:nvPr/>
        </p:nvGrpSpPr>
        <p:grpSpPr>
          <a:xfrm>
            <a:off x="8039100" y="2971800"/>
            <a:ext cx="3429000" cy="469900"/>
            <a:chOff x="8039100" y="2971800"/>
            <a:chExt cx="3429000" cy="469900"/>
          </a:xfrm>
        </p:grpSpPr>
        <p:sp>
          <p:nvSpPr>
            <p:cNvPr id="24" name="node14.source-001.bullet"/>
            <p:cNvSpPr/>
            <p:nvPr/>
          </p:nvSpPr>
          <p:spPr>
            <a:xfrm>
              <a:off x="8039100" y="3060700"/>
              <a:ext cx="38100" cy="38100"/>
            </a:xfrm>
            <a:prstGeom prst="rect">
              <a:avLst/>
            </a:prstGeom>
            <a:solidFill>
              <a:srgbClr val="070154"/>
            </a:solidFill>
            <a:ln>
              <a:noFill/>
            </a:ln>
          </p:spPr>
        </p:sp>
        <p:sp>
          <p:nvSpPr>
            <p:cNvPr id="25" name="node14.source-001.text"/>
            <p:cNvSpPr/>
            <p:nvPr/>
          </p:nvSpPr>
          <p:spPr>
            <a:xfrm>
              <a:off x="8191500" y="2971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place to monitor and replay every event</a:t>
              </a:r>
              <a:endParaRPr lang="en-US" sz="1200" spc="0" kern="0" b="0" i="0" dirty="0">
                <a:solidFill>
                  <a:srgbClr val="070154"/>
                </a:solidFill>
                <a:latin typeface="IBM Plex Sans"/>
                <a:ea typeface="IBM Plex Sans"/>
                <a:cs typeface="IBM Plex Sans"/>
              </a:endParaRPr>
            </a:p>
          </p:txBody>
        </p:sp>
        <p:sp>
          <p:nvSpPr>
            <p:cNvPr id="26" name="node14.source-002.bullet"/>
            <p:cNvSpPr/>
            <p:nvPr/>
          </p:nvSpPr>
          <p:spPr>
            <a:xfrm>
              <a:off x="8039100" y="3314700"/>
              <a:ext cx="38100" cy="38100"/>
            </a:xfrm>
            <a:prstGeom prst="rect">
              <a:avLst/>
            </a:prstGeom>
            <a:solidFill>
              <a:srgbClr val="070154"/>
            </a:solidFill>
            <a:ln>
              <a:noFill/>
            </a:ln>
          </p:spPr>
        </p:sp>
        <p:sp>
          <p:nvSpPr>
            <p:cNvPr id="27" name="node14.source-002.text"/>
            <p:cNvSpPr/>
            <p:nvPr/>
          </p:nvSpPr>
          <p:spPr>
            <a:xfrm>
              <a:off x="8191500" y="3225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New systems connect in weeks, not quarters</a:t>
              </a:r>
              <a:endParaRPr lang="en-US" sz="1200" spc="0" kern="0" b="0" i="0" dirty="0">
                <a:solidFill>
                  <a:srgbClr val="070154"/>
                </a:solidFill>
                <a:latin typeface="IBM Plex Sans"/>
                <a:ea typeface="IBM Plex Sans"/>
                <a:cs typeface="IBM Plex Sans"/>
              </a:endParaRPr>
            </a:p>
          </p:txBody>
        </p:sp>
      </p:grpSp>
      <p:grpSp>
        <p:nvGrpSpPr>
          <p:cNvPr id="48" name="node15"/>
          <p:cNvGrpSpPr/>
          <p:nvPr/>
        </p:nvGrpSpPr>
        <p:grpSpPr>
          <a:xfrm>
            <a:off x="8039100" y="3886200"/>
            <a:ext cx="3429000" cy="139700"/>
            <a:chOff x="8039100" y="3886200"/>
            <a:chExt cx="3429000" cy="139700"/>
          </a:xfrm>
        </p:grpSpPr>
        <p:sp>
          <p:nvSpPr>
            <p:cNvPr id="28" name="node15.text"/>
            <p:cNvSpPr/>
            <p:nvPr/>
          </p:nvSpPr>
          <p:spPr>
            <a:xfrm>
              <a:off x="8039100" y="3886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NEGATIVE CONSEQUENCES</a:t>
              </a:r>
              <a:endParaRPr lang="en-US" sz="800" spc="48" kern="0" b="0" i="0" dirty="0">
                <a:solidFill>
                  <a:srgbClr val="50658E"/>
                </a:solidFill>
                <a:latin typeface="IBM Plex Mono Medium"/>
                <a:ea typeface="IBM Plex Mono Medium"/>
                <a:cs typeface="IBM Plex Mono Medium"/>
              </a:endParaRPr>
            </a:p>
          </p:txBody>
        </p:sp>
      </p:grpSp>
      <p:grpSp>
        <p:nvGrpSpPr>
          <p:cNvPr id="49" name="node16"/>
          <p:cNvGrpSpPr/>
          <p:nvPr/>
        </p:nvGrpSpPr>
        <p:grpSpPr>
          <a:xfrm>
            <a:off x="8039100" y="4114800"/>
            <a:ext cx="3429000" cy="685800"/>
            <a:chOff x="8039100" y="4114800"/>
            <a:chExt cx="3429000" cy="685800"/>
          </a:xfrm>
        </p:grpSpPr>
        <p:sp>
          <p:nvSpPr>
            <p:cNvPr id="29" name="node16.source-001.bullet"/>
            <p:cNvSpPr/>
            <p:nvPr/>
          </p:nvSpPr>
          <p:spPr>
            <a:xfrm>
              <a:off x="8039100" y="4203700"/>
              <a:ext cx="38100" cy="38100"/>
            </a:xfrm>
            <a:prstGeom prst="rect">
              <a:avLst/>
            </a:prstGeom>
            <a:solidFill>
              <a:srgbClr val="070154"/>
            </a:solidFill>
            <a:ln>
              <a:noFill/>
            </a:ln>
          </p:spPr>
        </p:sp>
        <p:sp>
          <p:nvSpPr>
            <p:cNvPr id="30" name="node16.source-001.text"/>
            <p:cNvSpPr/>
            <p:nvPr/>
          </p:nvSpPr>
          <p:spPr>
            <a:xfrm>
              <a:off x="8191500" y="41148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The platform team must run a new service around the clock</a:t>
              </a:r>
              <a:endParaRPr lang="en-US" sz="1200" spc="0" kern="0" b="0" i="0" dirty="0">
                <a:solidFill>
                  <a:srgbClr val="070154"/>
                </a:solidFill>
                <a:latin typeface="IBM Plex Sans"/>
                <a:ea typeface="IBM Plex Sans"/>
                <a:cs typeface="IBM Plex Sans"/>
              </a:endParaRPr>
            </a:p>
          </p:txBody>
        </p:sp>
        <p:sp>
          <p:nvSpPr>
            <p:cNvPr id="31" name="node16.source-002.bullet"/>
            <p:cNvSpPr/>
            <p:nvPr/>
          </p:nvSpPr>
          <p:spPr>
            <a:xfrm>
              <a:off x="8039100" y="4673600"/>
              <a:ext cx="38100" cy="38100"/>
            </a:xfrm>
            <a:prstGeom prst="rect">
              <a:avLst/>
            </a:prstGeom>
            <a:solidFill>
              <a:srgbClr val="070154"/>
            </a:solidFill>
            <a:ln>
              <a:noFill/>
            </a:ln>
          </p:spPr>
        </p:sp>
        <p:sp>
          <p:nvSpPr>
            <p:cNvPr id="32" name="node16.source-002.text"/>
            <p:cNvSpPr/>
            <p:nvPr/>
          </p:nvSpPr>
          <p:spPr>
            <a:xfrm>
              <a:off x="8191500" y="45847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Interface teams need training in event design</a:t>
              </a:r>
              <a:endParaRPr lang="en-US" sz="1200" spc="0" kern="0" b="0" i="0" dirty="0">
                <a:solidFill>
                  <a:srgbClr val="070154"/>
                </a:solidFill>
                <a:latin typeface="IBM Plex Sans"/>
                <a:ea typeface="IBM Plex Sans"/>
                <a:cs typeface="IBM Plex Sans"/>
              </a:endParaRPr>
            </a:p>
          </p:txBody>
        </p:sp>
      </p:grpSp>
      <p:grpSp>
        <p:nvGrpSpPr>
          <p:cNvPr id="50" name="node17"/>
          <p:cNvGrpSpPr/>
          <p:nvPr/>
        </p:nvGrpSpPr>
        <p:grpSpPr>
          <a:xfrm>
            <a:off x="723900" y="5257800"/>
            <a:ext cx="10744200" cy="685800"/>
            <a:chOff x="723900" y="5257800"/>
            <a:chExt cx="10744200" cy="685800"/>
          </a:xfrm>
        </p:grpSpPr>
        <p:sp>
          <p:nvSpPr>
            <p:cNvPr id="33" name="node17.surface"/>
            <p:cNvSpPr/>
            <p:nvPr/>
          </p:nvSpPr>
          <p:spPr>
            <a:xfrm>
              <a:off x="723900" y="5257800"/>
              <a:ext cx="10744200" cy="685800"/>
            </a:xfrm>
            <a:prstGeom prst="rect">
              <a:avLst/>
            </a:prstGeom>
            <a:solidFill>
              <a:srgbClr val="E8EEF8"/>
            </a:solidFill>
            <a:ln>
              <a:noFill/>
            </a:ln>
          </p:spPr>
        </p:sp>
        <p:sp>
          <p:nvSpPr>
            <p:cNvPr id="34" name="node17.text"/>
            <p:cNvSpPr/>
            <p:nvPr/>
          </p:nvSpPr>
          <p:spPr>
            <a:xfrm>
              <a:off x="876300" y="5505450"/>
              <a:ext cx="1043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Review in September 2027, or sooner if feed incidents rise.</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ource-016">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ARCHITECTURE DECISION RECORD</a:t>
            </a:r>
            <a:endParaRPr lang="en-US" sz="1000" spc="80" kern="0" b="0" i="0" dirty="0">
              <a:solidFill>
                <a:srgbClr val="0047FF"/>
              </a:solidFill>
              <a:latin typeface="IBM Plex Mono SemiBold"/>
              <a:ea typeface="IBM Plex Mono SemiBold"/>
              <a:cs typeface="IBM Plex Mono SemiBold"/>
            </a:endParaRPr>
          </a:p>
        </p:txBody>
      </p:sp>
      <p:pic>
        <p:nvPicPr>
          <p:cNvPr id="4" name="title.mark-002-002" descr="highlight-1; canonical SHA256=b0048aa39744978d339a9910f5cc1482814a8a0eae4c5a63e1f80d6a2885b314">    </p:cNvPr>
          <p:cNvPicPr>
            <a:picLocks noChangeAspect="1"/>
          </p:cNvPicPr>
          <p:nvPr/>
        </p:nvPicPr>
        <p:blipFill>
          <a:blip r:embed="rId1"/>
          <a:stretch>
            <a:fillRect/>
          </a:stretch>
        </p:blipFill>
        <p:spPr>
          <a:xfrm>
            <a:off x="6159831" y="1190732"/>
            <a:ext cx="2104722" cy="374904"/>
          </a:xfrm>
          <a:prstGeom prst="rect">
            <a:avLst/>
          </a:prstGeom>
        </p:spPr>
      </p:pic>
      <p:sp>
        <p:nvSpPr>
          <p:cNvPr id="5"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ADR-014: Route clinical events </a:t>
            </a:r>
            <a:br>
              <a:rPr lang="en-US" sz="3200" spc="-64" kern="0" b="0" i="0" dirty="0">
                <a:solidFill>
                  <a:srgbClr val="070154"/>
                </a:solidFill>
                <a:latin typeface="IBM Plex Sans SemiBold"/>
                <a:ea typeface="IBM Plex Sans SemiBold"/>
                <a:cs typeface="IBM Plex Sans SemiBold"/>
              </a:rPr>
            </a:br>
            <a:r>
              <a:rPr lang="en-US" sz="3200" spc="-64" kern="0" b="0" i="0" dirty="0">
                <a:solidFill>
                  <a:srgbClr val="070154"/>
                </a:solidFill>
                <a:latin typeface="IBM Plex Sans SemiBold"/>
                <a:ea typeface="IBM Plex Sans SemiBold"/>
                <a:cs typeface="IBM Plex Sans SemiBold"/>
              </a:rPr>
              <a:t xml:space="preserve">through a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shared bus</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123</a:t>
            </a:fld>
            <a:endParaRPr lang="en-US" sz="700" spc="0" kern="0" b="0" i="0" dirty="0">
              <a:solidFill>
                <a:srgbClr val="070154"/>
              </a:solidFill>
              <a:latin typeface="IBM Plex Mono SemiBold"/>
              <a:ea typeface="IBM Plex Mono SemiBold"/>
              <a:cs typeface="IBM Plex Mono SemiBold"/>
            </a:endParaRPr>
          </a:p>
        </p:txBody>
      </p:sp>
      <p:grpSp>
        <p:nvGrpSpPr>
          <p:cNvPr id="35" name="node01"/>
          <p:cNvGrpSpPr/>
          <p:nvPr/>
        </p:nvGrpSpPr>
        <p:grpSpPr>
          <a:xfrm>
            <a:off x="723900" y="1600200"/>
            <a:ext cx="2514600" cy="139700"/>
            <a:chOff x="723900" y="1600200"/>
            <a:chExt cx="2514600" cy="139700"/>
          </a:xfrm>
        </p:grpSpPr>
        <p:sp>
          <p:nvSpPr>
            <p:cNvPr id="7" name="node01.text"/>
            <p:cNvSpPr/>
            <p:nvPr/>
          </p:nvSpPr>
          <p:spPr>
            <a:xfrm>
              <a:off x="7239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ADR</a:t>
              </a:r>
              <a:endParaRPr lang="en-US" sz="800" spc="48" kern="0" b="0" i="0" dirty="0">
                <a:solidFill>
                  <a:srgbClr val="CED7E6"/>
                </a:solidFill>
                <a:latin typeface="IBM Plex Mono Medium"/>
                <a:ea typeface="IBM Plex Mono Medium"/>
                <a:cs typeface="IBM Plex Mono Medium"/>
              </a:endParaRPr>
            </a:p>
          </p:txBody>
        </p:sp>
      </p:grpSp>
      <p:grpSp>
        <p:nvGrpSpPr>
          <p:cNvPr id="36" name="node02"/>
          <p:cNvGrpSpPr/>
          <p:nvPr/>
        </p:nvGrpSpPr>
        <p:grpSpPr>
          <a:xfrm>
            <a:off x="723900" y="1828800"/>
            <a:ext cx="2514600" cy="382461"/>
            <a:chOff x="723900" y="1828800"/>
            <a:chExt cx="2514600" cy="382461"/>
          </a:xfrm>
        </p:grpSpPr>
        <p:sp>
          <p:nvSpPr>
            <p:cNvPr id="8" name="node02.text"/>
            <p:cNvSpPr/>
            <p:nvPr/>
          </p:nvSpPr>
          <p:spPr>
            <a:xfrm>
              <a:off x="723900" y="1828800"/>
              <a:ext cx="25146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FFFFF"/>
                  </a:solidFill>
                  <a:latin typeface="IBM Plex Mono SemiBold"/>
                  <a:ea typeface="IBM Plex Mono SemiBold"/>
                  <a:cs typeface="IBM Plex Mono SemiBold"/>
                </a:rPr>
                <a:t>014</a:t>
              </a:r>
              <a:endParaRPr lang="en-US" sz="3000" spc="-60" kern="0" b="0" i="0" dirty="0">
                <a:solidFill>
                  <a:srgbClr val="FFFFFF"/>
                </a:solidFill>
                <a:latin typeface="IBM Plex Mono SemiBold"/>
                <a:ea typeface="IBM Plex Mono SemiBold"/>
                <a:cs typeface="IBM Plex Mono SemiBold"/>
              </a:endParaRPr>
            </a:p>
          </p:txBody>
        </p:sp>
      </p:grpSp>
      <p:grpSp>
        <p:nvGrpSpPr>
          <p:cNvPr id="37" name="node03"/>
          <p:cNvGrpSpPr/>
          <p:nvPr/>
        </p:nvGrpSpPr>
        <p:grpSpPr>
          <a:xfrm>
            <a:off x="723900" y="2514600"/>
            <a:ext cx="2514600" cy="139700"/>
            <a:chOff x="723900" y="2514600"/>
            <a:chExt cx="2514600" cy="139700"/>
          </a:xfrm>
        </p:grpSpPr>
        <p:sp>
          <p:nvSpPr>
            <p:cNvPr id="9" name="node03.text"/>
            <p:cNvSpPr/>
            <p:nvPr/>
          </p:nvSpPr>
          <p:spPr>
            <a:xfrm>
              <a:off x="723900" y="2514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STATUS</a:t>
              </a:r>
              <a:endParaRPr lang="en-US" sz="800" spc="48" kern="0" b="0" i="0" dirty="0">
                <a:solidFill>
                  <a:srgbClr val="CED7E6"/>
                </a:solidFill>
                <a:latin typeface="IBM Plex Mono Medium"/>
                <a:ea typeface="IBM Plex Mono Medium"/>
                <a:cs typeface="IBM Plex Mono Medium"/>
              </a:endParaRPr>
            </a:p>
          </p:txBody>
        </p:sp>
      </p:grpSp>
      <p:grpSp>
        <p:nvGrpSpPr>
          <p:cNvPr id="38" name="node04"/>
          <p:cNvGrpSpPr/>
          <p:nvPr/>
        </p:nvGrpSpPr>
        <p:grpSpPr>
          <a:xfrm>
            <a:off x="723900" y="2743200"/>
            <a:ext cx="1600200" cy="457200"/>
            <a:chOff x="723900" y="2743200"/>
            <a:chExt cx="1600200" cy="457200"/>
          </a:xfrm>
        </p:grpSpPr>
        <p:sp>
          <p:nvSpPr>
            <p:cNvPr id="10" name="node04.surface"/>
            <p:cNvSpPr/>
            <p:nvPr/>
          </p:nvSpPr>
          <p:spPr>
            <a:xfrm>
              <a:off x="723900" y="2743200"/>
              <a:ext cx="1600200" cy="457200"/>
            </a:xfrm>
            <a:prstGeom prst="rect">
              <a:avLst/>
            </a:prstGeom>
            <a:solidFill>
              <a:srgbClr val="E8EEF8"/>
            </a:solidFill>
            <a:ln>
              <a:noFill/>
            </a:ln>
          </p:spPr>
        </p:sp>
        <p:sp>
          <p:nvSpPr>
            <p:cNvPr id="11" name="node04.text"/>
            <p:cNvSpPr/>
            <p:nvPr/>
          </p:nvSpPr>
          <p:spPr>
            <a:xfrm>
              <a:off x="876300" y="2901950"/>
              <a:ext cx="1295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ACCEPTED</a:t>
              </a:r>
              <a:endParaRPr lang="en-US" sz="800" spc="48" kern="0" b="0" i="0" dirty="0">
                <a:solidFill>
                  <a:srgbClr val="070154"/>
                </a:solidFill>
                <a:latin typeface="IBM Plex Mono Medium"/>
                <a:ea typeface="IBM Plex Mono Medium"/>
                <a:cs typeface="IBM Plex Mono Medium"/>
              </a:endParaRPr>
            </a:p>
          </p:txBody>
        </p:sp>
      </p:grpSp>
      <p:sp>
        <p:nvSpPr>
          <p:cNvPr id="12" name="node05"/>
          <p:cNvSpPr/>
          <p:nvPr/>
        </p:nvSpPr>
        <p:spPr>
          <a:xfrm>
            <a:off x="723900" y="3429000"/>
            <a:ext cx="2514600" cy="9525"/>
          </a:xfrm>
          <a:prstGeom prst="rect">
            <a:avLst/>
          </a:prstGeom>
          <a:solidFill>
            <a:srgbClr val="50658E"/>
          </a:solidFill>
          <a:ln>
            <a:noFill/>
          </a:ln>
        </p:spPr>
      </p:sp>
      <p:grpSp>
        <p:nvGrpSpPr>
          <p:cNvPr id="39" name="node06"/>
          <p:cNvGrpSpPr/>
          <p:nvPr/>
        </p:nvGrpSpPr>
        <p:grpSpPr>
          <a:xfrm>
            <a:off x="723900" y="3657600"/>
            <a:ext cx="2514600" cy="139700"/>
            <a:chOff x="723900" y="3657600"/>
            <a:chExt cx="2514600" cy="139700"/>
          </a:xfrm>
        </p:grpSpPr>
        <p:sp>
          <p:nvSpPr>
            <p:cNvPr id="13" name="node06.text"/>
            <p:cNvSpPr/>
            <p:nvPr/>
          </p:nvSpPr>
          <p:spPr>
            <a:xfrm>
              <a:off x="723900" y="3657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DATE</a:t>
              </a:r>
              <a:endParaRPr lang="en-US" sz="800" spc="48" kern="0" b="0" i="0" dirty="0">
                <a:solidFill>
                  <a:srgbClr val="CED7E6"/>
                </a:solidFill>
                <a:latin typeface="IBM Plex Mono Medium"/>
                <a:ea typeface="IBM Plex Mono Medium"/>
                <a:cs typeface="IBM Plex Mono Medium"/>
              </a:endParaRPr>
            </a:p>
          </p:txBody>
        </p:sp>
      </p:grpSp>
      <p:grpSp>
        <p:nvGrpSpPr>
          <p:cNvPr id="40" name="node07"/>
          <p:cNvGrpSpPr/>
          <p:nvPr/>
        </p:nvGrpSpPr>
        <p:grpSpPr>
          <a:xfrm>
            <a:off x="723900" y="3886200"/>
            <a:ext cx="2514600" cy="190500"/>
            <a:chOff x="723900" y="3886200"/>
            <a:chExt cx="2514600" cy="190500"/>
          </a:xfrm>
        </p:grpSpPr>
        <p:sp>
          <p:nvSpPr>
            <p:cNvPr id="14" name="node07.text"/>
            <p:cNvSpPr/>
            <p:nvPr/>
          </p:nvSpPr>
          <p:spPr>
            <a:xfrm>
              <a:off x="723900" y="38862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12 Sep 2026</a:t>
              </a:r>
              <a:endParaRPr lang="en-US" sz="1100" spc="0" kern="0" b="0" i="0" dirty="0">
                <a:solidFill>
                  <a:srgbClr val="FFFFFF"/>
                </a:solidFill>
                <a:latin typeface="IBM Plex Sans"/>
                <a:ea typeface="IBM Plex Sans"/>
                <a:cs typeface="IBM Plex Sans"/>
              </a:endParaRPr>
            </a:p>
          </p:txBody>
        </p:sp>
      </p:grpSp>
      <p:grpSp>
        <p:nvGrpSpPr>
          <p:cNvPr id="41" name="node08"/>
          <p:cNvGrpSpPr/>
          <p:nvPr/>
        </p:nvGrpSpPr>
        <p:grpSpPr>
          <a:xfrm>
            <a:off x="723900" y="4343400"/>
            <a:ext cx="2514600" cy="139700"/>
            <a:chOff x="723900" y="4343400"/>
            <a:chExt cx="2514600" cy="139700"/>
          </a:xfrm>
        </p:grpSpPr>
        <p:sp>
          <p:nvSpPr>
            <p:cNvPr id="15" name="node08.text"/>
            <p:cNvSpPr/>
            <p:nvPr/>
          </p:nvSpPr>
          <p:spPr>
            <a:xfrm>
              <a:off x="723900" y="43434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DECIDERS</a:t>
              </a:r>
              <a:endParaRPr lang="en-US" sz="800" spc="48" kern="0" b="0" i="0" dirty="0">
                <a:solidFill>
                  <a:srgbClr val="CED7E6"/>
                </a:solidFill>
                <a:latin typeface="IBM Plex Mono Medium"/>
                <a:ea typeface="IBM Plex Mono Medium"/>
                <a:cs typeface="IBM Plex Mono Medium"/>
              </a:endParaRPr>
            </a:p>
          </p:txBody>
        </p:sp>
      </p:grpSp>
      <p:grpSp>
        <p:nvGrpSpPr>
          <p:cNvPr id="42" name="node09"/>
          <p:cNvGrpSpPr/>
          <p:nvPr/>
        </p:nvGrpSpPr>
        <p:grpSpPr>
          <a:xfrm>
            <a:off x="723900" y="4572000"/>
            <a:ext cx="2514600" cy="190500"/>
            <a:chOff x="723900" y="4572000"/>
            <a:chExt cx="2514600" cy="190500"/>
          </a:xfrm>
        </p:grpSpPr>
        <p:sp>
          <p:nvSpPr>
            <p:cNvPr id="16" name="node09.text"/>
            <p:cNvSpPr/>
            <p:nvPr/>
          </p:nvSpPr>
          <p:spPr>
            <a:xfrm>
              <a:off x="723900" y="45720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Architecture review board</a:t>
              </a:r>
              <a:endParaRPr lang="en-US" sz="1100" spc="0" kern="0" b="0" i="0" dirty="0">
                <a:solidFill>
                  <a:srgbClr val="FFFFFF"/>
                </a:solidFill>
                <a:latin typeface="IBM Plex Sans"/>
                <a:ea typeface="IBM Plex Sans"/>
                <a:cs typeface="IBM Plex Sans"/>
              </a:endParaRPr>
            </a:p>
          </p:txBody>
        </p:sp>
      </p:grpSp>
      <p:grpSp>
        <p:nvGrpSpPr>
          <p:cNvPr id="43" name="node10"/>
          <p:cNvGrpSpPr/>
          <p:nvPr/>
        </p:nvGrpSpPr>
        <p:grpSpPr>
          <a:xfrm>
            <a:off x="723900" y="5029200"/>
            <a:ext cx="2514600" cy="139700"/>
            <a:chOff x="723900" y="5029200"/>
            <a:chExt cx="2514600" cy="139700"/>
          </a:xfrm>
        </p:grpSpPr>
        <p:sp>
          <p:nvSpPr>
            <p:cNvPr id="17" name="node10.text"/>
            <p:cNvSpPr/>
            <p:nvPr/>
          </p:nvSpPr>
          <p:spPr>
            <a:xfrm>
              <a:off x="723900" y="5029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SUPERSEDES</a:t>
              </a:r>
              <a:endParaRPr lang="en-US" sz="800" spc="48" kern="0" b="0" i="0" dirty="0">
                <a:solidFill>
                  <a:srgbClr val="CED7E6"/>
                </a:solidFill>
                <a:latin typeface="IBM Plex Mono Medium"/>
                <a:ea typeface="IBM Plex Mono Medium"/>
                <a:cs typeface="IBM Plex Mono Medium"/>
              </a:endParaRPr>
            </a:p>
          </p:txBody>
        </p:sp>
      </p:grpSp>
      <p:grpSp>
        <p:nvGrpSpPr>
          <p:cNvPr id="44" name="node11"/>
          <p:cNvGrpSpPr/>
          <p:nvPr/>
        </p:nvGrpSpPr>
        <p:grpSpPr>
          <a:xfrm>
            <a:off x="723900" y="5257800"/>
            <a:ext cx="2514600" cy="190500"/>
            <a:chOff x="723900" y="5257800"/>
            <a:chExt cx="2514600" cy="190500"/>
          </a:xfrm>
        </p:grpSpPr>
        <p:sp>
          <p:nvSpPr>
            <p:cNvPr id="18" name="node11.text"/>
            <p:cNvSpPr/>
            <p:nvPr/>
          </p:nvSpPr>
          <p:spPr>
            <a:xfrm>
              <a:off x="723900" y="52578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ADR-009 Point-to-point HL7 feeds</a:t>
              </a:r>
              <a:endParaRPr lang="en-US" sz="1100" spc="0" kern="0" b="0" i="0" dirty="0">
                <a:solidFill>
                  <a:srgbClr val="FFFFFF"/>
                </a:solidFill>
                <a:latin typeface="IBM Plex Sans"/>
                <a:ea typeface="IBM Plex Sans"/>
                <a:cs typeface="IBM Plex Sans"/>
              </a:endParaRPr>
            </a:p>
          </p:txBody>
        </p:sp>
      </p:grpSp>
      <p:grpSp>
        <p:nvGrpSpPr>
          <p:cNvPr id="45" name="node12"/>
          <p:cNvGrpSpPr/>
          <p:nvPr/>
        </p:nvGrpSpPr>
        <p:grpSpPr>
          <a:xfrm>
            <a:off x="4381500" y="2057400"/>
            <a:ext cx="7086600" cy="139700"/>
            <a:chOff x="4381500" y="2057400"/>
            <a:chExt cx="7086600" cy="139700"/>
          </a:xfrm>
        </p:grpSpPr>
        <p:sp>
          <p:nvSpPr>
            <p:cNvPr id="19" name="node12.text"/>
            <p:cNvSpPr/>
            <p:nvPr/>
          </p:nvSpPr>
          <p:spPr>
            <a:xfrm>
              <a:off x="4381500" y="20574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CONTEXT</a:t>
              </a:r>
              <a:endParaRPr lang="en-US" sz="800" spc="48" kern="0" b="0" i="0" dirty="0">
                <a:solidFill>
                  <a:srgbClr val="50658E"/>
                </a:solidFill>
                <a:latin typeface="IBM Plex Mono Medium"/>
                <a:ea typeface="IBM Plex Mono Medium"/>
                <a:cs typeface="IBM Plex Mono Medium"/>
              </a:endParaRPr>
            </a:p>
          </p:txBody>
        </p:sp>
      </p:grpSp>
      <p:grpSp>
        <p:nvGrpSpPr>
          <p:cNvPr id="46" name="node13"/>
          <p:cNvGrpSpPr/>
          <p:nvPr/>
        </p:nvGrpSpPr>
        <p:grpSpPr>
          <a:xfrm>
            <a:off x="4381500" y="2286000"/>
            <a:ext cx="7086600" cy="431800"/>
            <a:chOff x="4381500" y="2286000"/>
            <a:chExt cx="7086600" cy="431800"/>
          </a:xfrm>
        </p:grpSpPr>
        <p:sp>
          <p:nvSpPr>
            <p:cNvPr id="20" name="node13.text"/>
            <p:cNvSpPr/>
            <p:nvPr/>
          </p:nvSpPr>
          <p:spPr>
            <a:xfrm>
              <a:off x="4381500" y="2286000"/>
              <a:ext cx="708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Northfield runs 14 clinical and revenue systems, and every pair that exchanges data has its own interface. The 61 feeds fail in different ways, and each new system adds more.</a:t>
              </a:r>
              <a:endParaRPr lang="en-US" sz="1200" spc="0" kern="0" b="0" i="0" dirty="0">
                <a:solidFill>
                  <a:srgbClr val="070154"/>
                </a:solidFill>
                <a:latin typeface="IBM Plex Sans"/>
                <a:ea typeface="IBM Plex Sans"/>
                <a:cs typeface="IBM Plex Sans"/>
              </a:endParaRPr>
            </a:p>
          </p:txBody>
        </p:sp>
      </p:grpSp>
      <p:grpSp>
        <p:nvGrpSpPr>
          <p:cNvPr id="47" name="node14"/>
          <p:cNvGrpSpPr/>
          <p:nvPr/>
        </p:nvGrpSpPr>
        <p:grpSpPr>
          <a:xfrm>
            <a:off x="4381500" y="3200400"/>
            <a:ext cx="7086600" cy="1143000"/>
            <a:chOff x="4381500" y="3200400"/>
            <a:chExt cx="7086600" cy="1143000"/>
          </a:xfrm>
        </p:grpSpPr>
        <p:sp>
          <p:nvSpPr>
            <p:cNvPr id="21" name="node14.container"/>
            <p:cNvSpPr/>
            <p:nvPr/>
          </p:nvSpPr>
          <p:spPr>
            <a:xfrm>
              <a:off x="4381500" y="3200400"/>
              <a:ext cx="7086600" cy="1143000"/>
            </a:xfrm>
            <a:prstGeom prst="rect">
              <a:avLst/>
            </a:prstGeom>
            <a:solidFill>
              <a:srgbClr val="E8EEF8"/>
            </a:solidFill>
            <a:ln>
              <a:noFill/>
            </a:ln>
          </p:spPr>
        </p:sp>
        <p:sp>
          <p:nvSpPr>
            <p:cNvPr id="22" name="node14.edge"/>
            <p:cNvSpPr/>
            <p:nvPr/>
          </p:nvSpPr>
          <p:spPr>
            <a:xfrm>
              <a:off x="4381500" y="3200400"/>
              <a:ext cx="76200" cy="1143000"/>
            </a:xfrm>
            <a:prstGeom prst="rect">
              <a:avLst/>
            </a:prstGeom>
            <a:solidFill>
              <a:srgbClr val="0047FF"/>
            </a:solidFill>
            <a:ln>
              <a:noFill/>
            </a:ln>
          </p:spPr>
        </p:sp>
        <p:sp>
          <p:nvSpPr>
            <p:cNvPr id="23" name="node14.label"/>
            <p:cNvSpPr/>
            <p:nvPr/>
          </p:nvSpPr>
          <p:spPr>
            <a:xfrm>
              <a:off x="4686300" y="3429000"/>
              <a:ext cx="6553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DECISION</a:t>
              </a:r>
              <a:endParaRPr lang="en-US" sz="800" spc="48" kern="0" b="0" i="0" dirty="0">
                <a:solidFill>
                  <a:srgbClr val="0047FF"/>
                </a:solidFill>
                <a:latin typeface="IBM Plex Mono Medium"/>
                <a:ea typeface="IBM Plex Mono Medium"/>
                <a:cs typeface="IBM Plex Mono Medium"/>
              </a:endParaRPr>
            </a:p>
          </p:txBody>
        </p:sp>
        <p:sp>
          <p:nvSpPr>
            <p:cNvPr id="24" name="node14.body.item-001.paragraph"/>
            <p:cNvSpPr/>
            <p:nvPr/>
          </p:nvSpPr>
          <p:spPr>
            <a:xfrm>
              <a:off x="4686300" y="3644900"/>
              <a:ext cx="6553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Publish clinical and revenue events to one managed event bus. Systems subscribe to the events they need, so a new feed no longer changes the sending system.</a:t>
              </a:r>
              <a:endParaRPr lang="en-US" sz="1200" spc="0" kern="0" b="0" i="0" dirty="0">
                <a:solidFill>
                  <a:srgbClr val="50658E"/>
                </a:solidFill>
                <a:latin typeface="IBM Plex Sans"/>
                <a:ea typeface="IBM Plex Sans"/>
                <a:cs typeface="IBM Plex Sans"/>
              </a:endParaRPr>
            </a:p>
          </p:txBody>
        </p:sp>
      </p:grpSp>
      <p:grpSp>
        <p:nvGrpSpPr>
          <p:cNvPr id="48" name="node15"/>
          <p:cNvGrpSpPr/>
          <p:nvPr/>
        </p:nvGrpSpPr>
        <p:grpSpPr>
          <a:xfrm>
            <a:off x="4381500" y="4572000"/>
            <a:ext cx="3429000" cy="139700"/>
            <a:chOff x="4381500" y="4572000"/>
            <a:chExt cx="3429000" cy="139700"/>
          </a:xfrm>
        </p:grpSpPr>
        <p:sp>
          <p:nvSpPr>
            <p:cNvPr id="25" name="node15.text"/>
            <p:cNvSpPr/>
            <p:nvPr/>
          </p:nvSpPr>
          <p:spPr>
            <a:xfrm>
              <a:off x="4381500" y="4572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POSITIVE CONSEQUENCES</a:t>
              </a:r>
              <a:endParaRPr lang="en-US" sz="800" spc="48" kern="0" b="0" i="0" dirty="0">
                <a:solidFill>
                  <a:srgbClr val="50658E"/>
                </a:solidFill>
                <a:latin typeface="IBM Plex Mono Medium"/>
                <a:ea typeface="IBM Plex Mono Medium"/>
                <a:cs typeface="IBM Plex Mono Medium"/>
              </a:endParaRPr>
            </a:p>
          </p:txBody>
        </p:sp>
      </p:grpSp>
      <p:grpSp>
        <p:nvGrpSpPr>
          <p:cNvPr id="49" name="node16"/>
          <p:cNvGrpSpPr/>
          <p:nvPr/>
        </p:nvGrpSpPr>
        <p:grpSpPr>
          <a:xfrm>
            <a:off x="4381500" y="4800600"/>
            <a:ext cx="3429000" cy="469900"/>
            <a:chOff x="4381500" y="4800600"/>
            <a:chExt cx="3429000" cy="469900"/>
          </a:xfrm>
        </p:grpSpPr>
        <p:sp>
          <p:nvSpPr>
            <p:cNvPr id="26" name="node16.source-001.bullet"/>
            <p:cNvSpPr/>
            <p:nvPr/>
          </p:nvSpPr>
          <p:spPr>
            <a:xfrm>
              <a:off x="4381500" y="4889500"/>
              <a:ext cx="38100" cy="38100"/>
            </a:xfrm>
            <a:prstGeom prst="rect">
              <a:avLst/>
            </a:prstGeom>
            <a:solidFill>
              <a:srgbClr val="070154"/>
            </a:solidFill>
            <a:ln>
              <a:noFill/>
            </a:ln>
          </p:spPr>
        </p:sp>
        <p:sp>
          <p:nvSpPr>
            <p:cNvPr id="27" name="node16.source-001.text"/>
            <p:cNvSpPr/>
            <p:nvPr/>
          </p:nvSpPr>
          <p:spPr>
            <a:xfrm>
              <a:off x="4533900" y="4800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place to monitor and replay every event</a:t>
              </a:r>
              <a:endParaRPr lang="en-US" sz="1200" spc="0" kern="0" b="0" i="0" dirty="0">
                <a:solidFill>
                  <a:srgbClr val="070154"/>
                </a:solidFill>
                <a:latin typeface="IBM Plex Sans"/>
                <a:ea typeface="IBM Plex Sans"/>
                <a:cs typeface="IBM Plex Sans"/>
              </a:endParaRPr>
            </a:p>
          </p:txBody>
        </p:sp>
        <p:sp>
          <p:nvSpPr>
            <p:cNvPr id="28" name="node16.source-002.bullet"/>
            <p:cNvSpPr/>
            <p:nvPr/>
          </p:nvSpPr>
          <p:spPr>
            <a:xfrm>
              <a:off x="4381500" y="5143500"/>
              <a:ext cx="38100" cy="38100"/>
            </a:xfrm>
            <a:prstGeom prst="rect">
              <a:avLst/>
            </a:prstGeom>
            <a:solidFill>
              <a:srgbClr val="070154"/>
            </a:solidFill>
            <a:ln>
              <a:noFill/>
            </a:ln>
          </p:spPr>
        </p:sp>
        <p:sp>
          <p:nvSpPr>
            <p:cNvPr id="29" name="node16.source-002.text"/>
            <p:cNvSpPr/>
            <p:nvPr/>
          </p:nvSpPr>
          <p:spPr>
            <a:xfrm>
              <a:off x="4533900" y="505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New systems connect in weeks, not quarters</a:t>
              </a:r>
              <a:endParaRPr lang="en-US" sz="1200" spc="0" kern="0" b="0" i="0" dirty="0">
                <a:solidFill>
                  <a:srgbClr val="070154"/>
                </a:solidFill>
                <a:latin typeface="IBM Plex Sans"/>
                <a:ea typeface="IBM Plex Sans"/>
                <a:cs typeface="IBM Plex Sans"/>
              </a:endParaRPr>
            </a:p>
          </p:txBody>
        </p:sp>
      </p:grpSp>
      <p:grpSp>
        <p:nvGrpSpPr>
          <p:cNvPr id="50" name="node17"/>
          <p:cNvGrpSpPr/>
          <p:nvPr/>
        </p:nvGrpSpPr>
        <p:grpSpPr>
          <a:xfrm>
            <a:off x="8039100" y="4572000"/>
            <a:ext cx="3429000" cy="139700"/>
            <a:chOff x="8039100" y="4572000"/>
            <a:chExt cx="3429000" cy="139700"/>
          </a:xfrm>
        </p:grpSpPr>
        <p:sp>
          <p:nvSpPr>
            <p:cNvPr id="30" name="node17.text"/>
            <p:cNvSpPr/>
            <p:nvPr/>
          </p:nvSpPr>
          <p:spPr>
            <a:xfrm>
              <a:off x="8039100" y="4572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NEGATIVE CONSEQUENCES</a:t>
              </a:r>
              <a:endParaRPr lang="en-US" sz="800" spc="48" kern="0" b="0" i="0" dirty="0">
                <a:solidFill>
                  <a:srgbClr val="50658E"/>
                </a:solidFill>
                <a:latin typeface="IBM Plex Mono Medium"/>
                <a:ea typeface="IBM Plex Mono Medium"/>
                <a:cs typeface="IBM Plex Mono Medium"/>
              </a:endParaRPr>
            </a:p>
          </p:txBody>
        </p:sp>
      </p:grpSp>
      <p:grpSp>
        <p:nvGrpSpPr>
          <p:cNvPr id="51" name="node18"/>
          <p:cNvGrpSpPr/>
          <p:nvPr/>
        </p:nvGrpSpPr>
        <p:grpSpPr>
          <a:xfrm>
            <a:off x="8039100" y="4800600"/>
            <a:ext cx="3429000" cy="685800"/>
            <a:chOff x="8039100" y="4800600"/>
            <a:chExt cx="3429000" cy="685800"/>
          </a:xfrm>
        </p:grpSpPr>
        <p:sp>
          <p:nvSpPr>
            <p:cNvPr id="31" name="node18.source-001.bullet"/>
            <p:cNvSpPr/>
            <p:nvPr/>
          </p:nvSpPr>
          <p:spPr>
            <a:xfrm>
              <a:off x="8039100" y="4889500"/>
              <a:ext cx="38100" cy="38100"/>
            </a:xfrm>
            <a:prstGeom prst="rect">
              <a:avLst/>
            </a:prstGeom>
            <a:solidFill>
              <a:srgbClr val="070154"/>
            </a:solidFill>
            <a:ln>
              <a:noFill/>
            </a:ln>
          </p:spPr>
        </p:sp>
        <p:sp>
          <p:nvSpPr>
            <p:cNvPr id="32" name="node18.source-001.text"/>
            <p:cNvSpPr/>
            <p:nvPr/>
          </p:nvSpPr>
          <p:spPr>
            <a:xfrm>
              <a:off x="8191500" y="48006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The platform team must run a new service around the clock</a:t>
              </a:r>
              <a:endParaRPr lang="en-US" sz="1200" spc="0" kern="0" b="0" i="0" dirty="0">
                <a:solidFill>
                  <a:srgbClr val="070154"/>
                </a:solidFill>
                <a:latin typeface="IBM Plex Sans"/>
                <a:ea typeface="IBM Plex Sans"/>
                <a:cs typeface="IBM Plex Sans"/>
              </a:endParaRPr>
            </a:p>
          </p:txBody>
        </p:sp>
        <p:sp>
          <p:nvSpPr>
            <p:cNvPr id="33" name="node18.source-002.bullet"/>
            <p:cNvSpPr/>
            <p:nvPr/>
          </p:nvSpPr>
          <p:spPr>
            <a:xfrm>
              <a:off x="8039100" y="5359400"/>
              <a:ext cx="38100" cy="38100"/>
            </a:xfrm>
            <a:prstGeom prst="rect">
              <a:avLst/>
            </a:prstGeom>
            <a:solidFill>
              <a:srgbClr val="070154"/>
            </a:solidFill>
            <a:ln>
              <a:noFill/>
            </a:ln>
          </p:spPr>
        </p:sp>
        <p:sp>
          <p:nvSpPr>
            <p:cNvPr id="34" name="node18.source-002.text"/>
            <p:cNvSpPr/>
            <p:nvPr/>
          </p:nvSpPr>
          <p:spPr>
            <a:xfrm>
              <a:off x="8191500" y="52705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Interface teams need training in event design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ource-017">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ARCHITECTURE DECISION RECORD</a:t>
            </a:r>
            <a:endParaRPr lang="en-US" sz="1000" spc="80" kern="0" b="0" i="0" dirty="0">
              <a:solidFill>
                <a:srgbClr val="0047FF"/>
              </a:solidFill>
              <a:latin typeface="IBM Plex Mono SemiBold"/>
              <a:ea typeface="IBM Plex Mono SemiBold"/>
              <a:cs typeface="IBM Plex Mono SemiBold"/>
            </a:endParaRPr>
          </a:p>
        </p:txBody>
      </p:sp>
      <p:pic>
        <p:nvPicPr>
          <p:cNvPr id="4" name="title.mark-002-002" descr="highlight-1; canonical SHA256=b0048aa39744978d339a9910f5cc1482814a8a0eae4c5a63e1f80d6a2885b314">    </p:cNvPr>
          <p:cNvPicPr>
            <a:picLocks noChangeAspect="1"/>
          </p:cNvPicPr>
          <p:nvPr/>
        </p:nvPicPr>
        <p:blipFill>
          <a:blip r:embed="rId1"/>
          <a:stretch>
            <a:fillRect/>
          </a:stretch>
        </p:blipFill>
        <p:spPr>
          <a:xfrm>
            <a:off x="3055660" y="1106576"/>
            <a:ext cx="1021835" cy="312420"/>
          </a:xfrm>
          <a:prstGeom prst="rect">
            <a:avLst/>
          </a:prstGeom>
        </p:spPr>
      </p:pic>
      <p:pic>
        <p:nvPicPr>
          <p:cNvPr id="5" name="title.mark-002-003" descr="highlight-1; canonical SHA256=b0048aa39744978d339a9910f5cc1482814a8a0eae4c5a63e1f80d6a2885b314">    </p:cNvPr>
          <p:cNvPicPr>
            <a:picLocks noChangeAspect="1"/>
          </p:cNvPicPr>
          <p:nvPr/>
        </p:nvPicPr>
        <p:blipFill>
          <a:blip r:embed="rId2"/>
          <a:stretch>
            <a:fillRect/>
          </a:stretch>
        </p:blipFill>
        <p:spPr>
          <a:xfrm>
            <a:off x="693420" y="1487576"/>
            <a:ext cx="1399337" cy="312420"/>
          </a:xfrm>
          <a:prstGeom prst="rect">
            <a:avLst/>
          </a:prstGeom>
        </p:spPr>
      </p:pic>
      <p:sp>
        <p:nvSpPr>
          <p:cNvPr id="6"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 xml:space="preserve">ADR-014: Route clinical </a:t>
            </a:r>
            <a:br>
              <a:rPr lang="en-US" sz="2400" spc="-36" kern="0" b="0" i="0" dirty="0">
                <a:solidFill>
                  <a:srgbClr val="070154"/>
                </a:solidFill>
                <a:latin typeface="IBM Plex Sans SemiBold"/>
                <a:ea typeface="IBM Plex Sans SemiBold"/>
                <a:cs typeface="IBM Plex Sans SemiBold"/>
              </a:rPr>
            </a:br>
            <a:r>
              <a:rPr lang="en-US" sz="2400" spc="-36" kern="0" b="0" i="0" dirty="0">
                <a:solidFill>
                  <a:srgbClr val="070154"/>
                </a:solidFill>
                <a:latin typeface="IBM Plex Sans SemiBold"/>
                <a:ea typeface="IBM Plex Sans SemiBold"/>
                <a:cs typeface="IBM Plex Sans SemiBold"/>
              </a:rPr>
              <a:t xml:space="preserve">events through a </a:t>
            </a:r>
            <a:r>
              <a:rPr lang="en-US" sz="2400" spc="-443" kern="0" b="0" i="0" dirty="0">
                <a:solidFill>
                  <a:srgbClr val="070154"/>
                </a:solidFill>
                <a:latin typeface="IBM Plex Sans SemiBold"/>
                <a:ea typeface="IBM Plex Sans SemiBold"/>
                <a:cs typeface="IBM Plex Sans SemiBold"/>
              </a:rPr>
              <a:t xml:space="preserve"> </a:t>
            </a:r>
            <a:r>
              <a:rPr lang="en-US" sz="2400" spc="-36" kern="0" b="0" i="0" dirty="0">
                <a:solidFill>
                  <a:srgbClr val="070154"/>
                </a:solidFill>
                <a:latin typeface="IBM Plex Sans SemiBold"/>
                <a:ea typeface="IBM Plex Sans SemiBold"/>
                <a:cs typeface="IBM Plex Sans SemiBold"/>
              </a:rPr>
              <a:t xml:space="preserve">shared </a:t>
            </a:r>
            <a:br>
              <a:rPr lang="en-US" sz="2400" spc="-36" kern="0" b="0" i="0" dirty="0">
                <a:solidFill>
                  <a:srgbClr val="070154"/>
                </a:solidFill>
                <a:latin typeface="IBM Plex Sans SemiBold"/>
                <a:ea typeface="IBM Plex Sans SemiBold"/>
                <a:cs typeface="IBM Plex Sans SemiBold"/>
              </a:rPr>
            </a:br>
            <a:r>
              <a:rPr lang="en-US" sz="2400" spc="-36" kern="0" b="0" i="0" dirty="0">
                <a:solidFill>
                  <a:srgbClr val="070154"/>
                </a:solidFill>
                <a:latin typeface="IBM Plex Sans SemiBold"/>
                <a:ea typeface="IBM Plex Sans SemiBold"/>
                <a:cs typeface="IBM Plex Sans SemiBold"/>
              </a:rPr>
              <a:t xml:space="preserve">event bus</a:t>
            </a:r>
            <a:r>
              <a:rPr lang="en-US" sz="2400" spc="-443" kern="0" b="0" i="0" dirty="0">
                <a:solidFill>
                  <a:srgbClr val="070154"/>
                </a:solidFill>
                <a:latin typeface="IBM Plex Sans SemiBold"/>
                <a:ea typeface="IBM Plex Sans SemiBold"/>
                <a:cs typeface="IBM Plex Sans SemiBold"/>
              </a:rPr>
              <a:t xml:space="preserve"> </a:t>
            </a:r>
            <a:endParaRPr lang="en-US" sz="2400" spc="-36" kern="0" b="0" i="0" dirty="0">
              <a:solidFill>
                <a:srgbClr val="070154"/>
              </a:solidFill>
              <a:latin typeface="IBM Plex Sans SemiBold"/>
              <a:ea typeface="IBM Plex Sans SemiBold"/>
              <a:cs typeface="IBM Plex Sans SemiBold"/>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124</a:t>
            </a:fld>
            <a:endParaRPr lang="en-US" sz="700" spc="0" kern="0" b="0" i="0" dirty="0">
              <a:solidFill>
                <a:srgbClr val="070154"/>
              </a:solidFill>
              <a:latin typeface="IBM Plex Mono SemiBold"/>
              <a:ea typeface="IBM Plex Mono SemiBold"/>
              <a:cs typeface="IBM Plex Mono SemiBold"/>
            </a:endParaRPr>
          </a:p>
        </p:txBody>
      </p:sp>
      <p:grpSp>
        <p:nvGrpSpPr>
          <p:cNvPr id="39" name="node01"/>
          <p:cNvGrpSpPr/>
          <p:nvPr/>
        </p:nvGrpSpPr>
        <p:grpSpPr>
          <a:xfrm>
            <a:off x="723900" y="2286000"/>
            <a:ext cx="3429000" cy="139700"/>
            <a:chOff x="723900" y="2286000"/>
            <a:chExt cx="3429000" cy="139700"/>
          </a:xfrm>
        </p:grpSpPr>
        <p:sp>
          <p:nvSpPr>
            <p:cNvPr id="8" name="node01.text"/>
            <p:cNvSpPr/>
            <p:nvPr/>
          </p:nvSpPr>
          <p:spPr>
            <a:xfrm>
              <a:off x="723900" y="2286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STATUS</a:t>
              </a:r>
              <a:endParaRPr lang="en-US" sz="800" spc="48" kern="0" b="0" i="0" dirty="0">
                <a:solidFill>
                  <a:srgbClr val="50658E"/>
                </a:solidFill>
                <a:latin typeface="IBM Plex Mono Medium"/>
                <a:ea typeface="IBM Plex Mono Medium"/>
                <a:cs typeface="IBM Plex Mono Medium"/>
              </a:endParaRPr>
            </a:p>
          </p:txBody>
        </p:sp>
      </p:grpSp>
      <p:grpSp>
        <p:nvGrpSpPr>
          <p:cNvPr id="40" name="node02"/>
          <p:cNvGrpSpPr/>
          <p:nvPr/>
        </p:nvGrpSpPr>
        <p:grpSpPr>
          <a:xfrm>
            <a:off x="723900" y="2514600"/>
            <a:ext cx="1600200" cy="457200"/>
            <a:chOff x="723900" y="2514600"/>
            <a:chExt cx="1600200" cy="457200"/>
          </a:xfrm>
        </p:grpSpPr>
        <p:sp>
          <p:nvSpPr>
            <p:cNvPr id="9" name="node02.surface"/>
            <p:cNvSpPr/>
            <p:nvPr/>
          </p:nvSpPr>
          <p:spPr>
            <a:xfrm>
              <a:off x="723900" y="2514600"/>
              <a:ext cx="1600200" cy="457200"/>
            </a:xfrm>
            <a:prstGeom prst="rect">
              <a:avLst/>
            </a:prstGeom>
            <a:solidFill>
              <a:srgbClr val="070154"/>
            </a:solidFill>
            <a:ln>
              <a:noFill/>
            </a:ln>
          </p:spPr>
        </p:sp>
        <p:sp>
          <p:nvSpPr>
            <p:cNvPr id="10" name="node02.text"/>
            <p:cNvSpPr/>
            <p:nvPr/>
          </p:nvSpPr>
          <p:spPr>
            <a:xfrm>
              <a:off x="876300" y="2673350"/>
              <a:ext cx="1295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ACCEPTED</a:t>
              </a:r>
              <a:endParaRPr lang="en-US" sz="800" spc="48" kern="0" b="0" i="0" dirty="0">
                <a:solidFill>
                  <a:srgbClr val="FFFFFF"/>
                </a:solidFill>
                <a:latin typeface="IBM Plex Mono Medium"/>
                <a:ea typeface="IBM Plex Mono Medium"/>
                <a:cs typeface="IBM Plex Mono Medium"/>
              </a:endParaRPr>
            </a:p>
          </p:txBody>
        </p:sp>
      </p:grpSp>
      <p:grpSp>
        <p:nvGrpSpPr>
          <p:cNvPr id="41" name="node03"/>
          <p:cNvGrpSpPr/>
          <p:nvPr/>
        </p:nvGrpSpPr>
        <p:grpSpPr>
          <a:xfrm>
            <a:off x="723900" y="3200400"/>
            <a:ext cx="1574800" cy="139700"/>
            <a:chOff x="723900" y="3200400"/>
            <a:chExt cx="1574800" cy="139700"/>
          </a:xfrm>
        </p:grpSpPr>
        <p:sp>
          <p:nvSpPr>
            <p:cNvPr id="11" name="node03.text"/>
            <p:cNvSpPr/>
            <p:nvPr/>
          </p:nvSpPr>
          <p:spPr>
            <a:xfrm>
              <a:off x="723900" y="3200400"/>
              <a:ext cx="1574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DATE</a:t>
              </a:r>
              <a:endParaRPr lang="en-US" sz="800" spc="48" kern="0" b="0" i="0" dirty="0">
                <a:solidFill>
                  <a:srgbClr val="50658E"/>
                </a:solidFill>
                <a:latin typeface="IBM Plex Mono Medium"/>
                <a:ea typeface="IBM Plex Mono Medium"/>
                <a:cs typeface="IBM Plex Mono Medium"/>
              </a:endParaRPr>
            </a:p>
          </p:txBody>
        </p:sp>
      </p:grpSp>
      <p:grpSp>
        <p:nvGrpSpPr>
          <p:cNvPr id="42" name="node04"/>
          <p:cNvGrpSpPr/>
          <p:nvPr/>
        </p:nvGrpSpPr>
        <p:grpSpPr>
          <a:xfrm>
            <a:off x="723900" y="3429000"/>
            <a:ext cx="1574800" cy="190500"/>
            <a:chOff x="723900" y="3429000"/>
            <a:chExt cx="1574800" cy="190500"/>
          </a:xfrm>
        </p:grpSpPr>
        <p:sp>
          <p:nvSpPr>
            <p:cNvPr id="12" name="node04.text"/>
            <p:cNvSpPr/>
            <p:nvPr/>
          </p:nvSpPr>
          <p:spPr>
            <a:xfrm>
              <a:off x="723900" y="3429000"/>
              <a:ext cx="1574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12 Sep 2026</a:t>
              </a:r>
              <a:endParaRPr lang="en-US" sz="1100" spc="0" kern="0" b="0" i="0" dirty="0">
                <a:solidFill>
                  <a:srgbClr val="070154"/>
                </a:solidFill>
                <a:latin typeface="IBM Plex Sans"/>
                <a:ea typeface="IBM Plex Sans"/>
                <a:cs typeface="IBM Plex Sans"/>
              </a:endParaRPr>
            </a:p>
          </p:txBody>
        </p:sp>
      </p:grpSp>
      <p:grpSp>
        <p:nvGrpSpPr>
          <p:cNvPr id="43" name="node05"/>
          <p:cNvGrpSpPr/>
          <p:nvPr/>
        </p:nvGrpSpPr>
        <p:grpSpPr>
          <a:xfrm>
            <a:off x="2578100" y="3200400"/>
            <a:ext cx="1574800" cy="139700"/>
            <a:chOff x="2578100" y="3200400"/>
            <a:chExt cx="1574800" cy="139700"/>
          </a:xfrm>
        </p:grpSpPr>
        <p:sp>
          <p:nvSpPr>
            <p:cNvPr id="13" name="node05.text"/>
            <p:cNvSpPr/>
            <p:nvPr/>
          </p:nvSpPr>
          <p:spPr>
            <a:xfrm>
              <a:off x="2578100" y="3200400"/>
              <a:ext cx="1574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DECIDERS</a:t>
              </a:r>
              <a:endParaRPr lang="en-US" sz="800" spc="48" kern="0" b="0" i="0" dirty="0">
                <a:solidFill>
                  <a:srgbClr val="50658E"/>
                </a:solidFill>
                <a:latin typeface="IBM Plex Mono Medium"/>
                <a:ea typeface="IBM Plex Mono Medium"/>
                <a:cs typeface="IBM Plex Mono Medium"/>
              </a:endParaRPr>
            </a:p>
          </p:txBody>
        </p:sp>
      </p:grpSp>
      <p:grpSp>
        <p:nvGrpSpPr>
          <p:cNvPr id="44" name="node06"/>
          <p:cNvGrpSpPr/>
          <p:nvPr/>
        </p:nvGrpSpPr>
        <p:grpSpPr>
          <a:xfrm>
            <a:off x="2578100" y="3429000"/>
            <a:ext cx="1574800" cy="190500"/>
            <a:chOff x="2578100" y="3429000"/>
            <a:chExt cx="1574800" cy="190500"/>
          </a:xfrm>
        </p:grpSpPr>
        <p:sp>
          <p:nvSpPr>
            <p:cNvPr id="14" name="node06.text"/>
            <p:cNvSpPr/>
            <p:nvPr/>
          </p:nvSpPr>
          <p:spPr>
            <a:xfrm>
              <a:off x="2578100" y="3429000"/>
              <a:ext cx="1574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Architecture board</a:t>
              </a:r>
              <a:endParaRPr lang="en-US" sz="1100" spc="0" kern="0" b="0" i="0" dirty="0">
                <a:solidFill>
                  <a:srgbClr val="070154"/>
                </a:solidFill>
                <a:latin typeface="IBM Plex Sans"/>
                <a:ea typeface="IBM Plex Sans"/>
                <a:cs typeface="IBM Plex Sans"/>
              </a:endParaRPr>
            </a:p>
          </p:txBody>
        </p:sp>
      </p:grpSp>
      <p:grpSp>
        <p:nvGrpSpPr>
          <p:cNvPr id="45" name="node07"/>
          <p:cNvGrpSpPr/>
          <p:nvPr/>
        </p:nvGrpSpPr>
        <p:grpSpPr>
          <a:xfrm>
            <a:off x="723900" y="4114800"/>
            <a:ext cx="3429000" cy="139700"/>
            <a:chOff x="723900" y="4114800"/>
            <a:chExt cx="3429000" cy="139700"/>
          </a:xfrm>
        </p:grpSpPr>
        <p:sp>
          <p:nvSpPr>
            <p:cNvPr id="15" name="node07.text"/>
            <p:cNvSpPr/>
            <p:nvPr/>
          </p:nvSpPr>
          <p:spPr>
            <a:xfrm>
              <a:off x="723900" y="41148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SUPERSEDES</a:t>
              </a:r>
              <a:endParaRPr lang="en-US" sz="800" spc="48" kern="0" b="0" i="0" dirty="0">
                <a:solidFill>
                  <a:srgbClr val="50658E"/>
                </a:solidFill>
                <a:latin typeface="IBM Plex Mono Medium"/>
                <a:ea typeface="IBM Plex Mono Medium"/>
                <a:cs typeface="IBM Plex Mono Medium"/>
              </a:endParaRPr>
            </a:p>
          </p:txBody>
        </p:sp>
      </p:grpSp>
      <p:grpSp>
        <p:nvGrpSpPr>
          <p:cNvPr id="46" name="node08"/>
          <p:cNvGrpSpPr/>
          <p:nvPr/>
        </p:nvGrpSpPr>
        <p:grpSpPr>
          <a:xfrm>
            <a:off x="723900" y="4343400"/>
            <a:ext cx="3429000" cy="190500"/>
            <a:chOff x="723900" y="4343400"/>
            <a:chExt cx="3429000" cy="190500"/>
          </a:xfrm>
        </p:grpSpPr>
        <p:sp>
          <p:nvSpPr>
            <p:cNvPr id="16" name="node08.text"/>
            <p:cNvSpPr/>
            <p:nvPr/>
          </p:nvSpPr>
          <p:spPr>
            <a:xfrm>
              <a:off x="723900" y="43434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ADR-009 Point-to-point HL7 feeds</a:t>
              </a:r>
              <a:endParaRPr lang="en-US" sz="1100" spc="0" kern="0" b="0" i="0" dirty="0">
                <a:solidFill>
                  <a:srgbClr val="070154"/>
                </a:solidFill>
                <a:latin typeface="IBM Plex Sans"/>
                <a:ea typeface="IBM Plex Sans"/>
                <a:cs typeface="IBM Plex Sans"/>
              </a:endParaRPr>
            </a:p>
          </p:txBody>
        </p:sp>
      </p:grpSp>
      <p:grpSp>
        <p:nvGrpSpPr>
          <p:cNvPr id="47" name="node09"/>
          <p:cNvGrpSpPr/>
          <p:nvPr/>
        </p:nvGrpSpPr>
        <p:grpSpPr>
          <a:xfrm>
            <a:off x="723900" y="5029200"/>
            <a:ext cx="3429000" cy="914400"/>
            <a:chOff x="723900" y="5029200"/>
            <a:chExt cx="3429000" cy="914400"/>
          </a:xfrm>
        </p:grpSpPr>
        <p:sp>
          <p:nvSpPr>
            <p:cNvPr id="17" name="node09.surface"/>
            <p:cNvSpPr/>
            <p:nvPr/>
          </p:nvSpPr>
          <p:spPr>
            <a:xfrm>
              <a:off x="723900" y="5029200"/>
              <a:ext cx="3429000" cy="914400"/>
            </a:xfrm>
            <a:prstGeom prst="rect">
              <a:avLst/>
            </a:prstGeom>
            <a:solidFill>
              <a:srgbClr val="E8EEF8"/>
            </a:solidFill>
            <a:ln>
              <a:noFill/>
            </a:ln>
          </p:spPr>
        </p:sp>
        <p:sp>
          <p:nvSpPr>
            <p:cNvPr id="18" name="node09.text"/>
            <p:cNvSpPr/>
            <p:nvPr/>
          </p:nvSpPr>
          <p:spPr>
            <a:xfrm>
              <a:off x="876300" y="5295900"/>
              <a:ext cx="3124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Review in 12 months or when the platform team changes.</a:t>
              </a:r>
              <a:endParaRPr lang="en-US" sz="1100" spc="0" kern="0" b="0" i="0" dirty="0">
                <a:solidFill>
                  <a:srgbClr val="070154"/>
                </a:solidFill>
                <a:latin typeface="IBM Plex Sans"/>
                <a:ea typeface="IBM Plex Sans"/>
                <a:cs typeface="IBM Plex Sans"/>
              </a:endParaRPr>
            </a:p>
          </p:txBody>
        </p:sp>
      </p:grpSp>
      <p:grpSp>
        <p:nvGrpSpPr>
          <p:cNvPr id="48" name="node10"/>
          <p:cNvGrpSpPr/>
          <p:nvPr/>
        </p:nvGrpSpPr>
        <p:grpSpPr>
          <a:xfrm>
            <a:off x="4381500" y="457200"/>
            <a:ext cx="7086600" cy="139700"/>
            <a:chOff x="4381500" y="457200"/>
            <a:chExt cx="7086600" cy="139700"/>
          </a:xfrm>
        </p:grpSpPr>
        <p:sp>
          <p:nvSpPr>
            <p:cNvPr id="19" name="node10.text"/>
            <p:cNvSpPr/>
            <p:nvPr/>
          </p:nvSpPr>
          <p:spPr>
            <a:xfrm>
              <a:off x="4381500" y="4572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CONTEXT</a:t>
              </a:r>
              <a:endParaRPr lang="en-US" sz="800" spc="48" kern="0" b="0" i="0" dirty="0">
                <a:solidFill>
                  <a:srgbClr val="50658E"/>
                </a:solidFill>
                <a:latin typeface="IBM Plex Mono Medium"/>
                <a:ea typeface="IBM Plex Mono Medium"/>
                <a:cs typeface="IBM Plex Mono Medium"/>
              </a:endParaRPr>
            </a:p>
          </p:txBody>
        </p:sp>
      </p:grpSp>
      <p:grpSp>
        <p:nvGrpSpPr>
          <p:cNvPr id="49" name="node11"/>
          <p:cNvGrpSpPr/>
          <p:nvPr/>
        </p:nvGrpSpPr>
        <p:grpSpPr>
          <a:xfrm>
            <a:off x="4381500" y="685800"/>
            <a:ext cx="7086600" cy="431800"/>
            <a:chOff x="4381500" y="685800"/>
            <a:chExt cx="7086600" cy="431800"/>
          </a:xfrm>
        </p:grpSpPr>
        <p:sp>
          <p:nvSpPr>
            <p:cNvPr id="20" name="node11.text"/>
            <p:cNvSpPr/>
            <p:nvPr/>
          </p:nvSpPr>
          <p:spPr>
            <a:xfrm>
              <a:off x="4381500" y="685800"/>
              <a:ext cx="708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Northfield runs 14 clinical and revenue systems, and every pair that exchanges data has its own interface. The 61 feeds fail in different ways, and each new system adds more.</a:t>
              </a:r>
              <a:endParaRPr lang="en-US" sz="1200" spc="0" kern="0" b="0" i="0" dirty="0">
                <a:solidFill>
                  <a:srgbClr val="070154"/>
                </a:solidFill>
                <a:latin typeface="IBM Plex Sans"/>
                <a:ea typeface="IBM Plex Sans"/>
                <a:cs typeface="IBM Plex Sans"/>
              </a:endParaRPr>
            </a:p>
          </p:txBody>
        </p:sp>
      </p:grpSp>
      <p:grpSp>
        <p:nvGrpSpPr>
          <p:cNvPr id="50" name="node12"/>
          <p:cNvGrpSpPr/>
          <p:nvPr/>
        </p:nvGrpSpPr>
        <p:grpSpPr>
          <a:xfrm>
            <a:off x="4381500" y="1600200"/>
            <a:ext cx="7086600" cy="1600200"/>
            <a:chOff x="4381500" y="1600200"/>
            <a:chExt cx="7086600" cy="1600200"/>
          </a:xfrm>
        </p:grpSpPr>
        <p:sp>
          <p:nvSpPr>
            <p:cNvPr id="21" name="node12.container"/>
            <p:cNvSpPr/>
            <p:nvPr/>
          </p:nvSpPr>
          <p:spPr>
            <a:xfrm>
              <a:off x="4381500" y="1600200"/>
              <a:ext cx="7086600" cy="1600200"/>
            </a:xfrm>
            <a:prstGeom prst="rect">
              <a:avLst/>
            </a:prstGeom>
            <a:solidFill>
              <a:srgbClr val="E8EEF8"/>
            </a:solidFill>
            <a:ln>
              <a:noFill/>
            </a:ln>
          </p:spPr>
        </p:sp>
        <p:sp>
          <p:nvSpPr>
            <p:cNvPr id="22" name="node12.edge"/>
            <p:cNvSpPr/>
            <p:nvPr/>
          </p:nvSpPr>
          <p:spPr>
            <a:xfrm>
              <a:off x="4381500" y="1600200"/>
              <a:ext cx="76200" cy="1600200"/>
            </a:xfrm>
            <a:prstGeom prst="rect">
              <a:avLst/>
            </a:prstGeom>
            <a:solidFill>
              <a:srgbClr val="0047FF"/>
            </a:solidFill>
            <a:ln>
              <a:noFill/>
            </a:ln>
          </p:spPr>
        </p:sp>
        <p:sp>
          <p:nvSpPr>
            <p:cNvPr id="23" name="node12.label"/>
            <p:cNvSpPr/>
            <p:nvPr/>
          </p:nvSpPr>
          <p:spPr>
            <a:xfrm>
              <a:off x="4686300" y="1828800"/>
              <a:ext cx="6553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DECISION</a:t>
              </a:r>
              <a:endParaRPr lang="en-US" sz="800" spc="48" kern="0" b="0" i="0" dirty="0">
                <a:solidFill>
                  <a:srgbClr val="0047FF"/>
                </a:solidFill>
                <a:latin typeface="IBM Plex Mono Medium"/>
                <a:ea typeface="IBM Plex Mono Medium"/>
                <a:cs typeface="IBM Plex Mono Medium"/>
              </a:endParaRPr>
            </a:p>
          </p:txBody>
        </p:sp>
        <p:sp>
          <p:nvSpPr>
            <p:cNvPr id="24" name="node12.body.item-001.paragraph"/>
            <p:cNvSpPr/>
            <p:nvPr/>
          </p:nvSpPr>
          <p:spPr>
            <a:xfrm>
              <a:off x="4686300" y="2044700"/>
              <a:ext cx="6553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Publish clinical and revenue events to one managed event bus. Systems subscribe to the events they need, so a new feed no longer changes the sending system.</a:t>
              </a:r>
              <a:endParaRPr lang="en-US" sz="1200" spc="0" kern="0" b="0" i="0" dirty="0">
                <a:solidFill>
                  <a:srgbClr val="50658E"/>
                </a:solidFill>
                <a:latin typeface="IBM Plex Sans"/>
                <a:ea typeface="IBM Plex Sans"/>
                <a:cs typeface="IBM Plex Sans"/>
              </a:endParaRPr>
            </a:p>
          </p:txBody>
        </p:sp>
      </p:grpSp>
      <p:grpSp>
        <p:nvGrpSpPr>
          <p:cNvPr id="51" name="node13"/>
          <p:cNvGrpSpPr/>
          <p:nvPr/>
        </p:nvGrpSpPr>
        <p:grpSpPr>
          <a:xfrm>
            <a:off x="4381500" y="3657600"/>
            <a:ext cx="3429000" cy="139700"/>
            <a:chOff x="4381500" y="3657600"/>
            <a:chExt cx="3429000" cy="139700"/>
          </a:xfrm>
        </p:grpSpPr>
        <p:sp>
          <p:nvSpPr>
            <p:cNvPr id="25" name="node13.text"/>
            <p:cNvSpPr/>
            <p:nvPr/>
          </p:nvSpPr>
          <p:spPr>
            <a:xfrm>
              <a:off x="4381500" y="36576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POSITIVE CONSEQUENCES</a:t>
              </a:r>
              <a:endParaRPr lang="en-US" sz="800" spc="48" kern="0" b="0" i="0" dirty="0">
                <a:solidFill>
                  <a:srgbClr val="50658E"/>
                </a:solidFill>
                <a:latin typeface="IBM Plex Mono Medium"/>
                <a:ea typeface="IBM Plex Mono Medium"/>
                <a:cs typeface="IBM Plex Mono Medium"/>
              </a:endParaRPr>
            </a:p>
          </p:txBody>
        </p:sp>
      </p:grpSp>
      <p:grpSp>
        <p:nvGrpSpPr>
          <p:cNvPr id="52" name="node14"/>
          <p:cNvGrpSpPr/>
          <p:nvPr/>
        </p:nvGrpSpPr>
        <p:grpSpPr>
          <a:xfrm>
            <a:off x="4381500" y="3886200"/>
            <a:ext cx="3429000" cy="723900"/>
            <a:chOff x="4381500" y="3886200"/>
            <a:chExt cx="3429000" cy="723900"/>
          </a:xfrm>
        </p:grpSpPr>
        <p:sp>
          <p:nvSpPr>
            <p:cNvPr id="26" name="node14.source-001.bullet"/>
            <p:cNvSpPr/>
            <p:nvPr/>
          </p:nvSpPr>
          <p:spPr>
            <a:xfrm>
              <a:off x="4381500" y="3975100"/>
              <a:ext cx="38100" cy="38100"/>
            </a:xfrm>
            <a:prstGeom prst="rect">
              <a:avLst/>
            </a:prstGeom>
            <a:solidFill>
              <a:srgbClr val="070154"/>
            </a:solidFill>
            <a:ln>
              <a:noFill/>
            </a:ln>
          </p:spPr>
        </p:sp>
        <p:sp>
          <p:nvSpPr>
            <p:cNvPr id="27" name="node14.source-001.text"/>
            <p:cNvSpPr/>
            <p:nvPr/>
          </p:nvSpPr>
          <p:spPr>
            <a:xfrm>
              <a:off x="4533900" y="3886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place to monitor and replay every event</a:t>
              </a:r>
              <a:endParaRPr lang="en-US" sz="1200" spc="0" kern="0" b="0" i="0" dirty="0">
                <a:solidFill>
                  <a:srgbClr val="070154"/>
                </a:solidFill>
                <a:latin typeface="IBM Plex Sans"/>
                <a:ea typeface="IBM Plex Sans"/>
                <a:cs typeface="IBM Plex Sans"/>
              </a:endParaRPr>
            </a:p>
          </p:txBody>
        </p:sp>
        <p:sp>
          <p:nvSpPr>
            <p:cNvPr id="28" name="node14.source-002.bullet"/>
            <p:cNvSpPr/>
            <p:nvPr/>
          </p:nvSpPr>
          <p:spPr>
            <a:xfrm>
              <a:off x="4381500" y="4229100"/>
              <a:ext cx="38100" cy="38100"/>
            </a:xfrm>
            <a:prstGeom prst="rect">
              <a:avLst/>
            </a:prstGeom>
            <a:solidFill>
              <a:srgbClr val="070154"/>
            </a:solidFill>
            <a:ln>
              <a:noFill/>
            </a:ln>
          </p:spPr>
        </p:sp>
        <p:sp>
          <p:nvSpPr>
            <p:cNvPr id="29" name="node14.source-002.text"/>
            <p:cNvSpPr/>
            <p:nvPr/>
          </p:nvSpPr>
          <p:spPr>
            <a:xfrm>
              <a:off x="4533900" y="4140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New systems connect in weeks, not quarters</a:t>
              </a:r>
              <a:endParaRPr lang="en-US" sz="1200" spc="0" kern="0" b="0" i="0" dirty="0">
                <a:solidFill>
                  <a:srgbClr val="070154"/>
                </a:solidFill>
                <a:latin typeface="IBM Plex Sans"/>
                <a:ea typeface="IBM Plex Sans"/>
                <a:cs typeface="IBM Plex Sans"/>
              </a:endParaRPr>
            </a:p>
          </p:txBody>
        </p:sp>
        <p:sp>
          <p:nvSpPr>
            <p:cNvPr id="30" name="node14.source-003.bullet"/>
            <p:cNvSpPr/>
            <p:nvPr/>
          </p:nvSpPr>
          <p:spPr>
            <a:xfrm>
              <a:off x="4381500" y="4483100"/>
              <a:ext cx="38100" cy="38100"/>
            </a:xfrm>
            <a:prstGeom prst="rect">
              <a:avLst/>
            </a:prstGeom>
            <a:solidFill>
              <a:srgbClr val="070154"/>
            </a:solidFill>
            <a:ln>
              <a:noFill/>
            </a:ln>
          </p:spPr>
        </p:sp>
        <p:sp>
          <p:nvSpPr>
            <p:cNvPr id="31" name="node14.source-003.text"/>
            <p:cNvSpPr/>
            <p:nvPr/>
          </p:nvSpPr>
          <p:spPr>
            <a:xfrm>
              <a:off x="4533900" y="4394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Failed deliveries are visible in one dashboard</a:t>
              </a:r>
              <a:endParaRPr lang="en-US" sz="1200" spc="0" kern="0" b="0" i="0" dirty="0">
                <a:solidFill>
                  <a:srgbClr val="070154"/>
                </a:solidFill>
                <a:latin typeface="IBM Plex Sans"/>
                <a:ea typeface="IBM Plex Sans"/>
                <a:cs typeface="IBM Plex Sans"/>
              </a:endParaRPr>
            </a:p>
          </p:txBody>
        </p:sp>
      </p:grpSp>
      <p:grpSp>
        <p:nvGrpSpPr>
          <p:cNvPr id="53" name="node15"/>
          <p:cNvGrpSpPr/>
          <p:nvPr/>
        </p:nvGrpSpPr>
        <p:grpSpPr>
          <a:xfrm>
            <a:off x="8039100" y="3657600"/>
            <a:ext cx="3429000" cy="139700"/>
            <a:chOff x="8039100" y="3657600"/>
            <a:chExt cx="3429000" cy="139700"/>
          </a:xfrm>
        </p:grpSpPr>
        <p:sp>
          <p:nvSpPr>
            <p:cNvPr id="32" name="node15.text"/>
            <p:cNvSpPr/>
            <p:nvPr/>
          </p:nvSpPr>
          <p:spPr>
            <a:xfrm>
              <a:off x="8039100" y="36576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NEGATIVE CONSEQUENCES</a:t>
              </a:r>
              <a:endParaRPr lang="en-US" sz="800" spc="48" kern="0" b="0" i="0" dirty="0">
                <a:solidFill>
                  <a:srgbClr val="50658E"/>
                </a:solidFill>
                <a:latin typeface="IBM Plex Mono Medium"/>
                <a:ea typeface="IBM Plex Mono Medium"/>
                <a:cs typeface="IBM Plex Mono Medium"/>
              </a:endParaRPr>
            </a:p>
          </p:txBody>
        </p:sp>
      </p:grpSp>
      <p:grpSp>
        <p:nvGrpSpPr>
          <p:cNvPr id="54" name="node16"/>
          <p:cNvGrpSpPr/>
          <p:nvPr/>
        </p:nvGrpSpPr>
        <p:grpSpPr>
          <a:xfrm>
            <a:off x="8039100" y="3886200"/>
            <a:ext cx="3429000" cy="939800"/>
            <a:chOff x="8039100" y="3886200"/>
            <a:chExt cx="3429000" cy="939800"/>
          </a:xfrm>
        </p:grpSpPr>
        <p:sp>
          <p:nvSpPr>
            <p:cNvPr id="33" name="node16.source-001.bullet"/>
            <p:cNvSpPr/>
            <p:nvPr/>
          </p:nvSpPr>
          <p:spPr>
            <a:xfrm>
              <a:off x="8039100" y="3975100"/>
              <a:ext cx="38100" cy="38100"/>
            </a:xfrm>
            <a:prstGeom prst="rect">
              <a:avLst/>
            </a:prstGeom>
            <a:solidFill>
              <a:srgbClr val="070154"/>
            </a:solidFill>
            <a:ln>
              <a:noFill/>
            </a:ln>
          </p:spPr>
        </p:sp>
        <p:sp>
          <p:nvSpPr>
            <p:cNvPr id="34" name="node16.source-001.text"/>
            <p:cNvSpPr/>
            <p:nvPr/>
          </p:nvSpPr>
          <p:spPr>
            <a:xfrm>
              <a:off x="8191500" y="38862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The platform team must run a new service around the clock</a:t>
              </a:r>
              <a:endParaRPr lang="en-US" sz="1200" spc="0" kern="0" b="0" i="0" dirty="0">
                <a:solidFill>
                  <a:srgbClr val="070154"/>
                </a:solidFill>
                <a:latin typeface="IBM Plex Sans"/>
                <a:ea typeface="IBM Plex Sans"/>
                <a:cs typeface="IBM Plex Sans"/>
              </a:endParaRPr>
            </a:p>
          </p:txBody>
        </p:sp>
        <p:sp>
          <p:nvSpPr>
            <p:cNvPr id="35" name="node16.source-002.bullet"/>
            <p:cNvSpPr/>
            <p:nvPr/>
          </p:nvSpPr>
          <p:spPr>
            <a:xfrm>
              <a:off x="8039100" y="4445000"/>
              <a:ext cx="38100" cy="38100"/>
            </a:xfrm>
            <a:prstGeom prst="rect">
              <a:avLst/>
            </a:prstGeom>
            <a:solidFill>
              <a:srgbClr val="070154"/>
            </a:solidFill>
            <a:ln>
              <a:noFill/>
            </a:ln>
          </p:spPr>
        </p:sp>
        <p:sp>
          <p:nvSpPr>
            <p:cNvPr id="36" name="node16.source-002.text"/>
            <p:cNvSpPr/>
            <p:nvPr/>
          </p:nvSpPr>
          <p:spPr>
            <a:xfrm>
              <a:off x="8191500" y="4356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Interface teams need training in event design</a:t>
              </a:r>
              <a:endParaRPr lang="en-US" sz="1200" spc="0" kern="0" b="0" i="0" dirty="0">
                <a:solidFill>
                  <a:srgbClr val="070154"/>
                </a:solidFill>
                <a:latin typeface="IBM Plex Sans"/>
                <a:ea typeface="IBM Plex Sans"/>
                <a:cs typeface="IBM Plex Sans"/>
              </a:endParaRPr>
            </a:p>
          </p:txBody>
        </p:sp>
        <p:sp>
          <p:nvSpPr>
            <p:cNvPr id="37" name="node16.source-003.bullet"/>
            <p:cNvSpPr/>
            <p:nvPr/>
          </p:nvSpPr>
          <p:spPr>
            <a:xfrm>
              <a:off x="8039100" y="4699000"/>
              <a:ext cx="38100" cy="38100"/>
            </a:xfrm>
            <a:prstGeom prst="rect">
              <a:avLst/>
            </a:prstGeom>
            <a:solidFill>
              <a:srgbClr val="070154"/>
            </a:solidFill>
            <a:ln>
              <a:noFill/>
            </a:ln>
          </p:spPr>
        </p:sp>
        <p:sp>
          <p:nvSpPr>
            <p:cNvPr id="38" name="node16.source-003.text"/>
            <p:cNvSpPr/>
            <p:nvPr/>
          </p:nvSpPr>
          <p:spPr>
            <a:xfrm>
              <a:off x="8191500" y="4610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Short period of running both models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ource-33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OPTIONS CONSIDERED</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09673" y="1078992"/>
            <a:ext cx="1425569" cy="128611"/>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Three ways to connect 14 systems; </a:t>
            </a:r>
            <a:r>
              <a:rPr lang="en-US" sz="3200" spc="-64" kern="0" b="0" i="0" dirty="0">
                <a:solidFill>
                  <a:srgbClr val="070154"/>
                </a:solidFill>
                <a:latin typeface="IBM Plex Sans SemiBold"/>
                <a:ea typeface="IBM Plex Sans SemiBold"/>
                <a:cs typeface="IBM Plex Sans SemiBold"/>
              </a:rPr>
              <a:t xml:space="preserve">the bus</a:t>
            </a:r>
            <a:r>
              <a:rPr lang="en-US" sz="3200" spc="-64" kern="0" b="0" i="0" dirty="0">
                <a:solidFill>
                  <a:srgbClr val="070154"/>
                </a:solidFill>
                <a:latin typeface="IBM Plex Sans SemiBold"/>
                <a:ea typeface="IBM Plex Sans SemiBold"/>
                <a:cs typeface="IBM Plex Sans SemiBold"/>
              </a:rPr>
              <a:t xml:space="preserve"> wins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125</a:t>
            </a:fld>
            <a:endParaRPr lang="en-US" sz="700" spc="0" kern="0" b="0" i="0" dirty="0">
              <a:solidFill>
                <a:srgbClr val="070154"/>
              </a:solidFill>
              <a:latin typeface="IBM Plex Mono SemiBold"/>
              <a:ea typeface="IBM Plex Mono SemiBold"/>
              <a:cs typeface="IBM Plex Mono SemiBold"/>
            </a:endParaRPr>
          </a:p>
        </p:txBody>
      </p:sp>
      <p:grpSp>
        <p:nvGrpSpPr>
          <p:cNvPr id="60" name="node01"/>
          <p:cNvGrpSpPr/>
          <p:nvPr/>
        </p:nvGrpSpPr>
        <p:grpSpPr>
          <a:xfrm>
            <a:off x="723900" y="1600200"/>
            <a:ext cx="3429000" cy="3429000"/>
            <a:chOff x="723900" y="1600200"/>
            <a:chExt cx="3429000" cy="3429000"/>
          </a:xfrm>
        </p:grpSpPr>
        <p:sp>
          <p:nvSpPr>
            <p:cNvPr id="7" name="node01.container"/>
            <p:cNvSpPr/>
            <p:nvPr/>
          </p:nvSpPr>
          <p:spPr>
            <a:xfrm>
              <a:off x="730250" y="1606550"/>
              <a:ext cx="3416300" cy="3416300"/>
            </a:xfrm>
            <a:prstGeom prst="rect">
              <a:avLst/>
            </a:prstGeom>
            <a:solidFill>
              <a:srgbClr val="FFFFFF"/>
            </a:solidFill>
            <a:ln w="12700">
              <a:solidFill>
                <a:srgbClr val="CED7E6"/>
              </a:solidFill>
              <a:prstDash val="solid"/>
            </a:ln>
          </p:spPr>
        </p:sp>
        <p:sp>
          <p:nvSpPr>
            <p:cNvPr id="8" name="node01.label"/>
            <p:cNvSpPr/>
            <p:nvPr/>
          </p:nvSpPr>
          <p:spPr>
            <a:xfrm>
              <a:off x="952500" y="18288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OPTION A</a:t>
              </a:r>
              <a:endParaRPr lang="en-US" sz="800" spc="48" kern="0" b="0" i="0" dirty="0">
                <a:solidFill>
                  <a:srgbClr val="0047FF"/>
                </a:solidFill>
                <a:latin typeface="IBM Plex Mono Medium"/>
                <a:ea typeface="IBM Plex Mono Medium"/>
                <a:cs typeface="IBM Plex Mono Medium"/>
              </a:endParaRPr>
            </a:p>
          </p:txBody>
        </p:sp>
        <p:sp>
          <p:nvSpPr>
            <p:cNvPr id="9" name="node01.title"/>
            <p:cNvSpPr/>
            <p:nvPr/>
          </p:nvSpPr>
          <p:spPr>
            <a:xfrm>
              <a:off x="952500" y="20447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Keep point-to-point</a:t>
              </a:r>
              <a:endParaRPr lang="en-US" sz="1600" spc="-16" kern="0" b="0" i="0" dirty="0">
                <a:solidFill>
                  <a:srgbClr val="070154"/>
                </a:solidFill>
                <a:latin typeface="IBM Plex Sans SemiBold"/>
                <a:ea typeface="IBM Plex Sans SemiBold"/>
                <a:cs typeface="IBM Plex Sans SemiBold"/>
              </a:endParaRPr>
            </a:p>
          </p:txBody>
        </p:sp>
        <p:sp>
          <p:nvSpPr>
            <p:cNvPr id="10" name="node01.body.item-001.label"/>
            <p:cNvSpPr/>
            <p:nvPr/>
          </p:nvSpPr>
          <p:spPr>
            <a:xfrm>
              <a:off x="952500" y="24638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PROS</a:t>
              </a:r>
              <a:endParaRPr lang="en-US" sz="800" spc="48" kern="0" b="0" i="0" dirty="0">
                <a:solidFill>
                  <a:srgbClr val="0047FF"/>
                </a:solidFill>
                <a:latin typeface="IBM Plex Mono Medium"/>
                <a:ea typeface="IBM Plex Mono Medium"/>
                <a:cs typeface="IBM Plex Mono Medium"/>
              </a:endParaRPr>
            </a:p>
          </p:txBody>
        </p:sp>
        <p:sp>
          <p:nvSpPr>
            <p:cNvPr id="11" name="node01.body.item-002.bullets.item-001.marker"/>
            <p:cNvSpPr/>
            <p:nvPr/>
          </p:nvSpPr>
          <p:spPr>
            <a:xfrm>
              <a:off x="952500" y="2768600"/>
              <a:ext cx="38100" cy="38100"/>
            </a:xfrm>
            <a:prstGeom prst="rect">
              <a:avLst/>
            </a:prstGeom>
            <a:solidFill>
              <a:srgbClr val="070154"/>
            </a:solidFill>
            <a:ln>
              <a:noFill/>
            </a:ln>
          </p:spPr>
        </p:sp>
        <p:sp>
          <p:nvSpPr>
            <p:cNvPr id="12" name="node01.body.item-002.bullets.item-001.text"/>
            <p:cNvSpPr/>
            <p:nvPr/>
          </p:nvSpPr>
          <p:spPr>
            <a:xfrm>
              <a:off x="1104900" y="2679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Known to every interface team</a:t>
              </a:r>
              <a:endParaRPr lang="en-US" sz="1200" spc="0" kern="0" b="0" i="0" dirty="0">
                <a:solidFill>
                  <a:srgbClr val="070154"/>
                </a:solidFill>
                <a:latin typeface="IBM Plex Sans"/>
                <a:ea typeface="IBM Plex Sans"/>
                <a:cs typeface="IBM Plex Sans"/>
              </a:endParaRPr>
            </a:p>
          </p:txBody>
        </p:sp>
        <p:sp>
          <p:nvSpPr>
            <p:cNvPr id="13" name="node01.body.item-002.bullets.item-002.marker"/>
            <p:cNvSpPr/>
            <p:nvPr/>
          </p:nvSpPr>
          <p:spPr>
            <a:xfrm>
              <a:off x="952500" y="3022600"/>
              <a:ext cx="38100" cy="38100"/>
            </a:xfrm>
            <a:prstGeom prst="rect">
              <a:avLst/>
            </a:prstGeom>
            <a:solidFill>
              <a:srgbClr val="070154"/>
            </a:solidFill>
            <a:ln>
              <a:noFill/>
            </a:ln>
          </p:spPr>
        </p:sp>
        <p:sp>
          <p:nvSpPr>
            <p:cNvPr id="14" name="node01.body.item-002.bullets.item-002.text"/>
            <p:cNvSpPr/>
            <p:nvPr/>
          </p:nvSpPr>
          <p:spPr>
            <a:xfrm>
              <a:off x="1104900" y="2933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 new platform to run</a:t>
              </a:r>
              <a:endParaRPr lang="en-US" sz="1200" spc="0" kern="0" b="0" i="0" dirty="0">
                <a:solidFill>
                  <a:srgbClr val="070154"/>
                </a:solidFill>
                <a:latin typeface="IBM Plex Sans"/>
                <a:ea typeface="IBM Plex Sans"/>
                <a:cs typeface="IBM Plex Sans"/>
              </a:endParaRPr>
            </a:p>
          </p:txBody>
        </p:sp>
        <p:sp>
          <p:nvSpPr>
            <p:cNvPr id="15" name="node01.body.item-003.label"/>
            <p:cNvSpPr/>
            <p:nvPr/>
          </p:nvSpPr>
          <p:spPr>
            <a:xfrm>
              <a:off x="952500" y="32258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CONS</a:t>
              </a:r>
              <a:endParaRPr lang="en-US" sz="800" spc="48" kern="0" b="0" i="0" dirty="0">
                <a:solidFill>
                  <a:srgbClr val="0047FF"/>
                </a:solidFill>
                <a:latin typeface="IBM Plex Mono Medium"/>
                <a:ea typeface="IBM Plex Mono Medium"/>
                <a:cs typeface="IBM Plex Mono Medium"/>
              </a:endParaRPr>
            </a:p>
          </p:txBody>
        </p:sp>
        <p:sp>
          <p:nvSpPr>
            <p:cNvPr id="16" name="node01.body.item-004.bullets.item-001.marker"/>
            <p:cNvSpPr/>
            <p:nvPr/>
          </p:nvSpPr>
          <p:spPr>
            <a:xfrm>
              <a:off x="952500" y="3530600"/>
              <a:ext cx="38100" cy="38100"/>
            </a:xfrm>
            <a:prstGeom prst="rect">
              <a:avLst/>
            </a:prstGeom>
            <a:solidFill>
              <a:srgbClr val="070154"/>
            </a:solidFill>
            <a:ln>
              <a:noFill/>
            </a:ln>
          </p:spPr>
        </p:sp>
        <p:sp>
          <p:nvSpPr>
            <p:cNvPr id="17" name="node01.body.item-004.bullets.item-001.text"/>
            <p:cNvSpPr/>
            <p:nvPr/>
          </p:nvSpPr>
          <p:spPr>
            <a:xfrm>
              <a:off x="1104900" y="3441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Feeds grow with every new system</a:t>
              </a:r>
              <a:endParaRPr lang="en-US" sz="1200" spc="0" kern="0" b="0" i="0" dirty="0">
                <a:solidFill>
                  <a:srgbClr val="070154"/>
                </a:solidFill>
                <a:latin typeface="IBM Plex Sans"/>
                <a:ea typeface="IBM Plex Sans"/>
                <a:cs typeface="IBM Plex Sans"/>
              </a:endParaRPr>
            </a:p>
          </p:txBody>
        </p:sp>
        <p:sp>
          <p:nvSpPr>
            <p:cNvPr id="18" name="node01.body.item-004.bullets.item-002.marker"/>
            <p:cNvSpPr/>
            <p:nvPr/>
          </p:nvSpPr>
          <p:spPr>
            <a:xfrm>
              <a:off x="952500" y="3784600"/>
              <a:ext cx="38100" cy="38100"/>
            </a:xfrm>
            <a:prstGeom prst="rect">
              <a:avLst/>
            </a:prstGeom>
            <a:solidFill>
              <a:srgbClr val="070154"/>
            </a:solidFill>
            <a:ln>
              <a:noFill/>
            </a:ln>
          </p:spPr>
        </p:sp>
        <p:sp>
          <p:nvSpPr>
            <p:cNvPr id="19" name="node01.body.item-004.bullets.item-002.text"/>
            <p:cNvSpPr/>
            <p:nvPr/>
          </p:nvSpPr>
          <p:spPr>
            <a:xfrm>
              <a:off x="1104900" y="3695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Failures hard to trace</a:t>
              </a:r>
              <a:endParaRPr lang="en-US" sz="1200" spc="0" kern="0" b="0" i="0" dirty="0">
                <a:solidFill>
                  <a:srgbClr val="070154"/>
                </a:solidFill>
                <a:latin typeface="IBM Plex Sans"/>
                <a:ea typeface="IBM Plex Sans"/>
                <a:cs typeface="IBM Plex Sans"/>
              </a:endParaRPr>
            </a:p>
          </p:txBody>
        </p:sp>
        <p:sp>
          <p:nvSpPr>
            <p:cNvPr id="20" name="node01.fee.divider"/>
            <p:cNvSpPr/>
            <p:nvPr/>
          </p:nvSpPr>
          <p:spPr>
            <a:xfrm>
              <a:off x="952500" y="4194175"/>
              <a:ext cx="2971800" cy="9525"/>
            </a:xfrm>
            <a:prstGeom prst="rect">
              <a:avLst/>
            </a:prstGeom>
            <a:solidFill>
              <a:srgbClr val="CED7E6"/>
            </a:solidFill>
            <a:ln>
              <a:noFill/>
            </a:ln>
          </p:spPr>
        </p:sp>
        <p:sp>
          <p:nvSpPr>
            <p:cNvPr id="21" name="node01.fee.value"/>
            <p:cNvSpPr/>
            <p:nvPr/>
          </p:nvSpPr>
          <p:spPr>
            <a:xfrm>
              <a:off x="952500" y="4318000"/>
              <a:ext cx="29718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70154"/>
                  </a:solidFill>
                  <a:latin typeface="IBM Plex Mono SemiBold"/>
                  <a:ea typeface="IBM Plex Mono SemiBold"/>
                  <a:cs typeface="IBM Plex Mono SemiBold"/>
                </a:rPr>
                <a:t>2.6 / 5</a:t>
              </a:r>
              <a:endParaRPr lang="en-US" sz="1600" spc="0" kern="0" b="0" i="0" dirty="0">
                <a:solidFill>
                  <a:srgbClr val="070154"/>
                </a:solidFill>
                <a:latin typeface="IBM Plex Mono SemiBold"/>
                <a:ea typeface="IBM Plex Mono SemiBold"/>
                <a:cs typeface="IBM Plex Mono SemiBold"/>
              </a:endParaRPr>
            </a:p>
          </p:txBody>
        </p:sp>
        <p:sp>
          <p:nvSpPr>
            <p:cNvPr id="22" name="node01.fee.label"/>
            <p:cNvSpPr/>
            <p:nvPr/>
          </p:nvSpPr>
          <p:spPr>
            <a:xfrm>
              <a:off x="952500" y="46101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Fit 3 · Cost 2 · Risk 2</a:t>
              </a:r>
              <a:endParaRPr lang="en-US" sz="1100" spc="0" kern="0" b="0" i="0" dirty="0">
                <a:solidFill>
                  <a:srgbClr val="50658E"/>
                </a:solidFill>
                <a:latin typeface="IBM Plex Sans"/>
                <a:ea typeface="IBM Plex Sans"/>
                <a:cs typeface="IBM Plex Sans"/>
              </a:endParaRPr>
            </a:p>
          </p:txBody>
        </p:sp>
      </p:grpSp>
      <p:grpSp>
        <p:nvGrpSpPr>
          <p:cNvPr id="61" name="node02"/>
          <p:cNvGrpSpPr/>
          <p:nvPr/>
        </p:nvGrpSpPr>
        <p:grpSpPr>
          <a:xfrm>
            <a:off x="4381500" y="1600200"/>
            <a:ext cx="3429000" cy="3429000"/>
            <a:chOff x="4381500" y="1600200"/>
            <a:chExt cx="3429000" cy="3429000"/>
          </a:xfrm>
        </p:grpSpPr>
        <p:sp>
          <p:nvSpPr>
            <p:cNvPr id="23" name="node02.container"/>
            <p:cNvSpPr/>
            <p:nvPr/>
          </p:nvSpPr>
          <p:spPr>
            <a:xfrm>
              <a:off x="4381500" y="1600200"/>
              <a:ext cx="3429000" cy="3429000"/>
            </a:xfrm>
            <a:prstGeom prst="rect">
              <a:avLst/>
            </a:prstGeom>
            <a:solidFill>
              <a:srgbClr val="E8EEF8"/>
            </a:solidFill>
            <a:ln>
              <a:noFill/>
            </a:ln>
          </p:spPr>
        </p:sp>
        <p:sp>
          <p:nvSpPr>
            <p:cNvPr id="24" name="node02.edge"/>
            <p:cNvSpPr/>
            <p:nvPr/>
          </p:nvSpPr>
          <p:spPr>
            <a:xfrm>
              <a:off x="4381500" y="1600200"/>
              <a:ext cx="3429000" cy="38100"/>
            </a:xfrm>
            <a:prstGeom prst="rect">
              <a:avLst/>
            </a:prstGeom>
            <a:solidFill>
              <a:srgbClr val="0047FF"/>
            </a:solidFill>
            <a:ln>
              <a:noFill/>
            </a:ln>
          </p:spPr>
        </p:sp>
        <p:sp>
          <p:nvSpPr>
            <p:cNvPr id="25" name="node02.label"/>
            <p:cNvSpPr/>
            <p:nvPr/>
          </p:nvSpPr>
          <p:spPr>
            <a:xfrm>
              <a:off x="4610100" y="18669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OPTION B</a:t>
              </a:r>
              <a:endParaRPr lang="en-US" sz="800" spc="48" kern="0" b="0" i="0" dirty="0">
                <a:solidFill>
                  <a:srgbClr val="0047FF"/>
                </a:solidFill>
                <a:latin typeface="IBM Plex Mono Medium"/>
                <a:ea typeface="IBM Plex Mono Medium"/>
                <a:cs typeface="IBM Plex Mono Medium"/>
              </a:endParaRPr>
            </a:p>
          </p:txBody>
        </p:sp>
        <p:sp>
          <p:nvSpPr>
            <p:cNvPr id="26" name="node02.title"/>
            <p:cNvSpPr/>
            <p:nvPr/>
          </p:nvSpPr>
          <p:spPr>
            <a:xfrm>
              <a:off x="4610100" y="20828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Managed event bus</a:t>
              </a:r>
              <a:endParaRPr lang="en-US" sz="1600" spc="-16" kern="0" b="0" i="0" dirty="0">
                <a:solidFill>
                  <a:srgbClr val="070154"/>
                </a:solidFill>
                <a:latin typeface="IBM Plex Sans SemiBold"/>
                <a:ea typeface="IBM Plex Sans SemiBold"/>
                <a:cs typeface="IBM Plex Sans SemiBold"/>
              </a:endParaRPr>
            </a:p>
          </p:txBody>
        </p:sp>
        <p:sp>
          <p:nvSpPr>
            <p:cNvPr id="27" name="node02.body.item-001.label"/>
            <p:cNvSpPr/>
            <p:nvPr/>
          </p:nvSpPr>
          <p:spPr>
            <a:xfrm>
              <a:off x="4610100" y="25019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PROS</a:t>
              </a:r>
              <a:endParaRPr lang="en-US" sz="800" spc="48" kern="0" b="0" i="0" dirty="0">
                <a:solidFill>
                  <a:srgbClr val="0047FF"/>
                </a:solidFill>
                <a:latin typeface="IBM Plex Mono Medium"/>
                <a:ea typeface="IBM Plex Mono Medium"/>
                <a:cs typeface="IBM Plex Mono Medium"/>
              </a:endParaRPr>
            </a:p>
          </p:txBody>
        </p:sp>
        <p:sp>
          <p:nvSpPr>
            <p:cNvPr id="28" name="node02.body.item-002.bullets.item-001.marker"/>
            <p:cNvSpPr/>
            <p:nvPr/>
          </p:nvSpPr>
          <p:spPr>
            <a:xfrm>
              <a:off x="4610100" y="2806700"/>
              <a:ext cx="38100" cy="38100"/>
            </a:xfrm>
            <a:prstGeom prst="rect">
              <a:avLst/>
            </a:prstGeom>
            <a:solidFill>
              <a:srgbClr val="070154"/>
            </a:solidFill>
            <a:ln>
              <a:noFill/>
            </a:ln>
          </p:spPr>
        </p:sp>
        <p:sp>
          <p:nvSpPr>
            <p:cNvPr id="29" name="node02.body.item-002.bullets.item-001.text"/>
            <p:cNvSpPr/>
            <p:nvPr/>
          </p:nvSpPr>
          <p:spPr>
            <a:xfrm>
              <a:off x="4762500" y="2717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place to monitor and replay</a:t>
              </a:r>
              <a:endParaRPr lang="en-US" sz="1200" spc="0" kern="0" b="0" i="0" dirty="0">
                <a:solidFill>
                  <a:srgbClr val="070154"/>
                </a:solidFill>
                <a:latin typeface="IBM Plex Sans"/>
                <a:ea typeface="IBM Plex Sans"/>
                <a:cs typeface="IBM Plex Sans"/>
              </a:endParaRPr>
            </a:p>
          </p:txBody>
        </p:sp>
        <p:sp>
          <p:nvSpPr>
            <p:cNvPr id="30" name="node02.body.item-002.bullets.item-002.marker"/>
            <p:cNvSpPr/>
            <p:nvPr/>
          </p:nvSpPr>
          <p:spPr>
            <a:xfrm>
              <a:off x="4610100" y="3060700"/>
              <a:ext cx="38100" cy="38100"/>
            </a:xfrm>
            <a:prstGeom prst="rect">
              <a:avLst/>
            </a:prstGeom>
            <a:solidFill>
              <a:srgbClr val="070154"/>
            </a:solidFill>
            <a:ln>
              <a:noFill/>
            </a:ln>
          </p:spPr>
        </p:sp>
        <p:sp>
          <p:nvSpPr>
            <p:cNvPr id="31" name="node02.body.item-002.bullets.item-002.text"/>
            <p:cNvSpPr/>
            <p:nvPr/>
          </p:nvSpPr>
          <p:spPr>
            <a:xfrm>
              <a:off x="4762500" y="2971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New systems connect in weeks</a:t>
              </a:r>
              <a:endParaRPr lang="en-US" sz="1200" spc="0" kern="0" b="0" i="0" dirty="0">
                <a:solidFill>
                  <a:srgbClr val="070154"/>
                </a:solidFill>
                <a:latin typeface="IBM Plex Sans"/>
                <a:ea typeface="IBM Plex Sans"/>
                <a:cs typeface="IBM Plex Sans"/>
              </a:endParaRPr>
            </a:p>
          </p:txBody>
        </p:sp>
        <p:sp>
          <p:nvSpPr>
            <p:cNvPr id="32" name="node02.body.item-003.label"/>
            <p:cNvSpPr/>
            <p:nvPr/>
          </p:nvSpPr>
          <p:spPr>
            <a:xfrm>
              <a:off x="4610100" y="32639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CONS</a:t>
              </a:r>
              <a:endParaRPr lang="en-US" sz="800" spc="48" kern="0" b="0" i="0" dirty="0">
                <a:solidFill>
                  <a:srgbClr val="0047FF"/>
                </a:solidFill>
                <a:latin typeface="IBM Plex Mono Medium"/>
                <a:ea typeface="IBM Plex Mono Medium"/>
                <a:cs typeface="IBM Plex Mono Medium"/>
              </a:endParaRPr>
            </a:p>
          </p:txBody>
        </p:sp>
        <p:sp>
          <p:nvSpPr>
            <p:cNvPr id="33" name="node02.body.item-004.bullets.item-001.marker"/>
            <p:cNvSpPr/>
            <p:nvPr/>
          </p:nvSpPr>
          <p:spPr>
            <a:xfrm>
              <a:off x="4610100" y="3568700"/>
              <a:ext cx="38100" cy="38100"/>
            </a:xfrm>
            <a:prstGeom prst="rect">
              <a:avLst/>
            </a:prstGeom>
            <a:solidFill>
              <a:srgbClr val="070154"/>
            </a:solidFill>
            <a:ln>
              <a:noFill/>
            </a:ln>
          </p:spPr>
        </p:sp>
        <p:sp>
          <p:nvSpPr>
            <p:cNvPr id="34" name="node02.body.item-004.bullets.item-001.text"/>
            <p:cNvSpPr/>
            <p:nvPr/>
          </p:nvSpPr>
          <p:spPr>
            <a:xfrm>
              <a:off x="4762500" y="3479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 new service to operate</a:t>
              </a:r>
              <a:endParaRPr lang="en-US" sz="1200" spc="0" kern="0" b="0" i="0" dirty="0">
                <a:solidFill>
                  <a:srgbClr val="070154"/>
                </a:solidFill>
                <a:latin typeface="IBM Plex Sans"/>
                <a:ea typeface="IBM Plex Sans"/>
                <a:cs typeface="IBM Plex Sans"/>
              </a:endParaRPr>
            </a:p>
          </p:txBody>
        </p:sp>
        <p:sp>
          <p:nvSpPr>
            <p:cNvPr id="35" name="node02.body.item-004.bullets.item-002.marker"/>
            <p:cNvSpPr/>
            <p:nvPr/>
          </p:nvSpPr>
          <p:spPr>
            <a:xfrm>
              <a:off x="4610100" y="3822700"/>
              <a:ext cx="38100" cy="38100"/>
            </a:xfrm>
            <a:prstGeom prst="rect">
              <a:avLst/>
            </a:prstGeom>
            <a:solidFill>
              <a:srgbClr val="070154"/>
            </a:solidFill>
            <a:ln>
              <a:noFill/>
            </a:ln>
          </p:spPr>
        </p:sp>
        <p:sp>
          <p:nvSpPr>
            <p:cNvPr id="36" name="node02.body.item-004.bullets.item-002.text"/>
            <p:cNvSpPr/>
            <p:nvPr/>
          </p:nvSpPr>
          <p:spPr>
            <a:xfrm>
              <a:off x="4762500" y="3733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Event design skills needed</a:t>
              </a:r>
              <a:endParaRPr lang="en-US" sz="1200" spc="0" kern="0" b="0" i="0" dirty="0">
                <a:solidFill>
                  <a:srgbClr val="070154"/>
                </a:solidFill>
                <a:latin typeface="IBM Plex Sans"/>
                <a:ea typeface="IBM Plex Sans"/>
                <a:cs typeface="IBM Plex Sans"/>
              </a:endParaRPr>
            </a:p>
          </p:txBody>
        </p:sp>
        <p:sp>
          <p:nvSpPr>
            <p:cNvPr id="37" name="node02.fee.divider"/>
            <p:cNvSpPr/>
            <p:nvPr/>
          </p:nvSpPr>
          <p:spPr>
            <a:xfrm>
              <a:off x="4610100" y="4194175"/>
              <a:ext cx="2971800" cy="9525"/>
            </a:xfrm>
            <a:prstGeom prst="rect">
              <a:avLst/>
            </a:prstGeom>
            <a:solidFill>
              <a:srgbClr val="CED7E6"/>
            </a:solidFill>
            <a:ln>
              <a:noFill/>
            </a:ln>
          </p:spPr>
        </p:sp>
        <p:sp>
          <p:nvSpPr>
            <p:cNvPr id="38" name="node02.fee.value"/>
            <p:cNvSpPr/>
            <p:nvPr/>
          </p:nvSpPr>
          <p:spPr>
            <a:xfrm>
              <a:off x="4610100" y="4318000"/>
              <a:ext cx="29718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70154"/>
                  </a:solidFill>
                  <a:latin typeface="IBM Plex Mono SemiBold"/>
                  <a:ea typeface="IBM Plex Mono SemiBold"/>
                  <a:cs typeface="IBM Plex Mono SemiBold"/>
                </a:rPr>
                <a:t>4.1 / 5</a:t>
              </a:r>
              <a:endParaRPr lang="en-US" sz="1600" spc="0" kern="0" b="0" i="0" dirty="0">
                <a:solidFill>
                  <a:srgbClr val="070154"/>
                </a:solidFill>
                <a:latin typeface="IBM Plex Mono SemiBold"/>
                <a:ea typeface="IBM Plex Mono SemiBold"/>
                <a:cs typeface="IBM Plex Mono SemiBold"/>
              </a:endParaRPr>
            </a:p>
          </p:txBody>
        </p:sp>
        <p:sp>
          <p:nvSpPr>
            <p:cNvPr id="39" name="node02.fee.label"/>
            <p:cNvSpPr/>
            <p:nvPr/>
          </p:nvSpPr>
          <p:spPr>
            <a:xfrm>
              <a:off x="4610100" y="46101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Fit 5 · Cost 3 · Risk 4</a:t>
              </a:r>
              <a:endParaRPr lang="en-US" sz="1100" spc="0" kern="0" b="0" i="0" dirty="0">
                <a:solidFill>
                  <a:srgbClr val="50658E"/>
                </a:solidFill>
                <a:latin typeface="IBM Plex Sans"/>
                <a:ea typeface="IBM Plex Sans"/>
                <a:cs typeface="IBM Plex Sans"/>
              </a:endParaRPr>
            </a:p>
          </p:txBody>
        </p:sp>
        <p:sp>
          <p:nvSpPr>
            <p:cNvPr id="40" name="node02.tag-bg"/>
            <p:cNvSpPr/>
            <p:nvPr/>
          </p:nvSpPr>
          <p:spPr>
            <a:xfrm>
              <a:off x="7234175" y="1600200"/>
              <a:ext cx="576325" cy="215900"/>
            </a:xfrm>
            <a:prstGeom prst="rect">
              <a:avLst/>
            </a:prstGeom>
            <a:solidFill>
              <a:srgbClr val="0047FF"/>
            </a:solidFill>
            <a:ln>
              <a:noFill/>
            </a:ln>
          </p:spPr>
        </p:sp>
        <p:sp>
          <p:nvSpPr>
            <p:cNvPr id="41" name="node02.tag"/>
            <p:cNvSpPr/>
            <p:nvPr/>
          </p:nvSpPr>
          <p:spPr>
            <a:xfrm>
              <a:off x="7310375" y="1638300"/>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CHOSEN</a:t>
              </a:r>
              <a:endParaRPr lang="en-US" sz="800" spc="48" kern="0" b="0" i="0" dirty="0">
                <a:solidFill>
                  <a:srgbClr val="FFFFFF"/>
                </a:solidFill>
                <a:latin typeface="IBM Plex Mono SemiBold"/>
                <a:ea typeface="IBM Plex Mono SemiBold"/>
                <a:cs typeface="IBM Plex Mono SemiBold"/>
              </a:endParaRPr>
            </a:p>
          </p:txBody>
        </p:sp>
      </p:grpSp>
      <p:grpSp>
        <p:nvGrpSpPr>
          <p:cNvPr id="62" name="node03"/>
          <p:cNvGrpSpPr/>
          <p:nvPr/>
        </p:nvGrpSpPr>
        <p:grpSpPr>
          <a:xfrm>
            <a:off x="8039100" y="1600200"/>
            <a:ext cx="3429000" cy="3429000"/>
            <a:chOff x="8039100" y="1600200"/>
            <a:chExt cx="3429000" cy="3429000"/>
          </a:xfrm>
        </p:grpSpPr>
        <p:sp>
          <p:nvSpPr>
            <p:cNvPr id="42" name="node03.container"/>
            <p:cNvSpPr/>
            <p:nvPr/>
          </p:nvSpPr>
          <p:spPr>
            <a:xfrm>
              <a:off x="8045450" y="1606550"/>
              <a:ext cx="3416300" cy="3416300"/>
            </a:xfrm>
            <a:prstGeom prst="rect">
              <a:avLst/>
            </a:prstGeom>
            <a:solidFill>
              <a:srgbClr val="FFFFFF"/>
            </a:solidFill>
            <a:ln w="12700">
              <a:solidFill>
                <a:srgbClr val="CED7E6"/>
              </a:solidFill>
              <a:prstDash val="solid"/>
            </a:ln>
          </p:spPr>
        </p:sp>
        <p:sp>
          <p:nvSpPr>
            <p:cNvPr id="43" name="node03.label"/>
            <p:cNvSpPr/>
            <p:nvPr/>
          </p:nvSpPr>
          <p:spPr>
            <a:xfrm>
              <a:off x="8267700" y="18288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OPTION C</a:t>
              </a:r>
              <a:endParaRPr lang="en-US" sz="800" spc="48" kern="0" b="0" i="0" dirty="0">
                <a:solidFill>
                  <a:srgbClr val="0047FF"/>
                </a:solidFill>
                <a:latin typeface="IBM Plex Mono Medium"/>
                <a:ea typeface="IBM Plex Mono Medium"/>
                <a:cs typeface="IBM Plex Mono Medium"/>
              </a:endParaRPr>
            </a:p>
          </p:txBody>
        </p:sp>
        <p:sp>
          <p:nvSpPr>
            <p:cNvPr id="44" name="node03.title"/>
            <p:cNvSpPr/>
            <p:nvPr/>
          </p:nvSpPr>
          <p:spPr>
            <a:xfrm>
              <a:off x="8267700" y="20447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Integration platform suite</a:t>
              </a:r>
              <a:endParaRPr lang="en-US" sz="1600" spc="-16" kern="0" b="0" i="0" dirty="0">
                <a:solidFill>
                  <a:srgbClr val="070154"/>
                </a:solidFill>
                <a:latin typeface="IBM Plex Sans SemiBold"/>
                <a:ea typeface="IBM Plex Sans SemiBold"/>
                <a:cs typeface="IBM Plex Sans SemiBold"/>
              </a:endParaRPr>
            </a:p>
          </p:txBody>
        </p:sp>
        <p:sp>
          <p:nvSpPr>
            <p:cNvPr id="45" name="node03.body.item-001.label"/>
            <p:cNvSpPr/>
            <p:nvPr/>
          </p:nvSpPr>
          <p:spPr>
            <a:xfrm>
              <a:off x="8267700" y="24638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PROS</a:t>
              </a:r>
              <a:endParaRPr lang="en-US" sz="800" spc="48" kern="0" b="0" i="0" dirty="0">
                <a:solidFill>
                  <a:srgbClr val="0047FF"/>
                </a:solidFill>
                <a:latin typeface="IBM Plex Mono Medium"/>
                <a:ea typeface="IBM Plex Mono Medium"/>
                <a:cs typeface="IBM Plex Mono Medium"/>
              </a:endParaRPr>
            </a:p>
          </p:txBody>
        </p:sp>
        <p:sp>
          <p:nvSpPr>
            <p:cNvPr id="46" name="node03.body.item-002.bullets.item-001.marker"/>
            <p:cNvSpPr/>
            <p:nvPr/>
          </p:nvSpPr>
          <p:spPr>
            <a:xfrm>
              <a:off x="8267700" y="2768600"/>
              <a:ext cx="38100" cy="38100"/>
            </a:xfrm>
            <a:prstGeom prst="rect">
              <a:avLst/>
            </a:prstGeom>
            <a:solidFill>
              <a:srgbClr val="070154"/>
            </a:solidFill>
            <a:ln>
              <a:noFill/>
            </a:ln>
          </p:spPr>
        </p:sp>
        <p:sp>
          <p:nvSpPr>
            <p:cNvPr id="47" name="node03.body.item-002.bullets.item-001.text"/>
            <p:cNvSpPr/>
            <p:nvPr/>
          </p:nvSpPr>
          <p:spPr>
            <a:xfrm>
              <a:off x="8420100" y="2679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Rich tooling and connectors</a:t>
              </a:r>
              <a:endParaRPr lang="en-US" sz="1200" spc="0" kern="0" b="0" i="0" dirty="0">
                <a:solidFill>
                  <a:srgbClr val="070154"/>
                </a:solidFill>
                <a:latin typeface="IBM Plex Sans"/>
                <a:ea typeface="IBM Plex Sans"/>
                <a:cs typeface="IBM Plex Sans"/>
              </a:endParaRPr>
            </a:p>
          </p:txBody>
        </p:sp>
        <p:sp>
          <p:nvSpPr>
            <p:cNvPr id="48" name="node03.body.item-002.bullets.item-002.marker"/>
            <p:cNvSpPr/>
            <p:nvPr/>
          </p:nvSpPr>
          <p:spPr>
            <a:xfrm>
              <a:off x="8267700" y="3022600"/>
              <a:ext cx="38100" cy="38100"/>
            </a:xfrm>
            <a:prstGeom prst="rect">
              <a:avLst/>
            </a:prstGeom>
            <a:solidFill>
              <a:srgbClr val="070154"/>
            </a:solidFill>
            <a:ln>
              <a:noFill/>
            </a:ln>
          </p:spPr>
        </p:sp>
        <p:sp>
          <p:nvSpPr>
            <p:cNvPr id="49" name="node03.body.item-002.bullets.item-002.text"/>
            <p:cNvSpPr/>
            <p:nvPr/>
          </p:nvSpPr>
          <p:spPr>
            <a:xfrm>
              <a:off x="8420100" y="2933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Vendor-supported runtime</a:t>
              </a:r>
              <a:endParaRPr lang="en-US" sz="1200" spc="0" kern="0" b="0" i="0" dirty="0">
                <a:solidFill>
                  <a:srgbClr val="070154"/>
                </a:solidFill>
                <a:latin typeface="IBM Plex Sans"/>
                <a:ea typeface="IBM Plex Sans"/>
                <a:cs typeface="IBM Plex Sans"/>
              </a:endParaRPr>
            </a:p>
          </p:txBody>
        </p:sp>
        <p:sp>
          <p:nvSpPr>
            <p:cNvPr id="50" name="node03.body.item-003.label"/>
            <p:cNvSpPr/>
            <p:nvPr/>
          </p:nvSpPr>
          <p:spPr>
            <a:xfrm>
              <a:off x="8267700" y="32258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CONS</a:t>
              </a:r>
              <a:endParaRPr lang="en-US" sz="800" spc="48" kern="0" b="0" i="0" dirty="0">
                <a:solidFill>
                  <a:srgbClr val="0047FF"/>
                </a:solidFill>
                <a:latin typeface="IBM Plex Mono Medium"/>
                <a:ea typeface="IBM Plex Mono Medium"/>
                <a:cs typeface="IBM Plex Mono Medium"/>
              </a:endParaRPr>
            </a:p>
          </p:txBody>
        </p:sp>
        <p:sp>
          <p:nvSpPr>
            <p:cNvPr id="51" name="node03.body.item-004.bullets.item-001.marker"/>
            <p:cNvSpPr/>
            <p:nvPr/>
          </p:nvSpPr>
          <p:spPr>
            <a:xfrm>
              <a:off x="8267700" y="3530600"/>
              <a:ext cx="38100" cy="38100"/>
            </a:xfrm>
            <a:prstGeom prst="rect">
              <a:avLst/>
            </a:prstGeom>
            <a:solidFill>
              <a:srgbClr val="070154"/>
            </a:solidFill>
            <a:ln>
              <a:noFill/>
            </a:ln>
          </p:spPr>
        </p:sp>
        <p:sp>
          <p:nvSpPr>
            <p:cNvPr id="52" name="node03.body.item-004.bullets.item-001.text"/>
            <p:cNvSpPr/>
            <p:nvPr/>
          </p:nvSpPr>
          <p:spPr>
            <a:xfrm>
              <a:off x="8420100" y="3441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Highest licence cost</a:t>
              </a:r>
              <a:endParaRPr lang="en-US" sz="1200" spc="0" kern="0" b="0" i="0" dirty="0">
                <a:solidFill>
                  <a:srgbClr val="070154"/>
                </a:solidFill>
                <a:latin typeface="IBM Plex Sans"/>
                <a:ea typeface="IBM Plex Sans"/>
                <a:cs typeface="IBM Plex Sans"/>
              </a:endParaRPr>
            </a:p>
          </p:txBody>
        </p:sp>
        <p:sp>
          <p:nvSpPr>
            <p:cNvPr id="53" name="node03.body.item-004.bullets.item-002.marker"/>
            <p:cNvSpPr/>
            <p:nvPr/>
          </p:nvSpPr>
          <p:spPr>
            <a:xfrm>
              <a:off x="8267700" y="3784600"/>
              <a:ext cx="38100" cy="38100"/>
            </a:xfrm>
            <a:prstGeom prst="rect">
              <a:avLst/>
            </a:prstGeom>
            <a:solidFill>
              <a:srgbClr val="070154"/>
            </a:solidFill>
            <a:ln>
              <a:noFill/>
            </a:ln>
          </p:spPr>
        </p:sp>
        <p:sp>
          <p:nvSpPr>
            <p:cNvPr id="54" name="node03.body.item-004.bullets.item-002.text"/>
            <p:cNvSpPr/>
            <p:nvPr/>
          </p:nvSpPr>
          <p:spPr>
            <a:xfrm>
              <a:off x="8420100" y="36957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Locks flows into one product</a:t>
              </a:r>
              <a:endParaRPr lang="en-US" sz="1200" spc="0" kern="0" b="0" i="0" dirty="0">
                <a:solidFill>
                  <a:srgbClr val="070154"/>
                </a:solidFill>
                <a:latin typeface="IBM Plex Sans"/>
                <a:ea typeface="IBM Plex Sans"/>
                <a:cs typeface="IBM Plex Sans"/>
              </a:endParaRPr>
            </a:p>
          </p:txBody>
        </p:sp>
        <p:sp>
          <p:nvSpPr>
            <p:cNvPr id="55" name="node03.fee.divider"/>
            <p:cNvSpPr/>
            <p:nvPr/>
          </p:nvSpPr>
          <p:spPr>
            <a:xfrm>
              <a:off x="8267700" y="4194175"/>
              <a:ext cx="2971800" cy="9525"/>
            </a:xfrm>
            <a:prstGeom prst="rect">
              <a:avLst/>
            </a:prstGeom>
            <a:solidFill>
              <a:srgbClr val="CED7E6"/>
            </a:solidFill>
            <a:ln>
              <a:noFill/>
            </a:ln>
          </p:spPr>
        </p:sp>
        <p:sp>
          <p:nvSpPr>
            <p:cNvPr id="56" name="node03.fee.value"/>
            <p:cNvSpPr/>
            <p:nvPr/>
          </p:nvSpPr>
          <p:spPr>
            <a:xfrm>
              <a:off x="8267700" y="4318000"/>
              <a:ext cx="29718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70154"/>
                  </a:solidFill>
                  <a:latin typeface="IBM Plex Mono SemiBold"/>
                  <a:ea typeface="IBM Plex Mono SemiBold"/>
                  <a:cs typeface="IBM Plex Mono SemiBold"/>
                </a:rPr>
                <a:t>3.3 / 5</a:t>
              </a:r>
              <a:endParaRPr lang="en-US" sz="1600" spc="0" kern="0" b="0" i="0" dirty="0">
                <a:solidFill>
                  <a:srgbClr val="070154"/>
                </a:solidFill>
                <a:latin typeface="IBM Plex Mono SemiBold"/>
                <a:ea typeface="IBM Plex Mono SemiBold"/>
                <a:cs typeface="IBM Plex Mono SemiBold"/>
              </a:endParaRPr>
            </a:p>
          </p:txBody>
        </p:sp>
        <p:sp>
          <p:nvSpPr>
            <p:cNvPr id="57" name="node03.fee.label"/>
            <p:cNvSpPr/>
            <p:nvPr/>
          </p:nvSpPr>
          <p:spPr>
            <a:xfrm>
              <a:off x="8267700" y="46101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Fit 4 · Cost 2 · Risk 3</a:t>
              </a:r>
              <a:endParaRPr lang="en-US" sz="1100" spc="0" kern="0" b="0" i="0" dirty="0">
                <a:solidFill>
                  <a:srgbClr val="50658E"/>
                </a:solidFill>
                <a:latin typeface="IBM Plex Sans"/>
                <a:ea typeface="IBM Plex Sans"/>
                <a:cs typeface="IBM Plex Sans"/>
              </a:endParaRPr>
            </a:p>
          </p:txBody>
        </p:sp>
      </p:grpSp>
      <p:grpSp>
        <p:nvGrpSpPr>
          <p:cNvPr id="63" name="node04"/>
          <p:cNvGrpSpPr/>
          <p:nvPr/>
        </p:nvGrpSpPr>
        <p:grpSpPr>
          <a:xfrm>
            <a:off x="723900" y="5257800"/>
            <a:ext cx="10744200" cy="685800"/>
            <a:chOff x="723900" y="5257800"/>
            <a:chExt cx="10744200" cy="685800"/>
          </a:xfrm>
        </p:grpSpPr>
        <p:sp>
          <p:nvSpPr>
            <p:cNvPr id="58" name="node04.surface"/>
            <p:cNvSpPr/>
            <p:nvPr/>
          </p:nvSpPr>
          <p:spPr>
            <a:xfrm>
              <a:off x="723900" y="5257800"/>
              <a:ext cx="10744200" cy="685800"/>
            </a:xfrm>
            <a:prstGeom prst="rect">
              <a:avLst/>
            </a:prstGeom>
            <a:solidFill>
              <a:srgbClr val="070154"/>
            </a:solidFill>
            <a:ln>
              <a:noFill/>
            </a:ln>
          </p:spPr>
        </p:sp>
        <p:sp>
          <p:nvSpPr>
            <p:cNvPr id="59" name="node04.text"/>
            <p:cNvSpPr/>
            <p:nvPr/>
          </p:nvSpPr>
          <p:spPr>
            <a:xfrm>
              <a:off x="876300" y="5492750"/>
              <a:ext cx="1043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Why we chose it: Option B fits 14 systems at a manageable cost and removes the feed growth behind most incidents.</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ource-15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THE DECISION WAS MADE</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68113" y="1078992"/>
            <a:ext cx="1874462" cy="169109"/>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Six weeks from question to a decision on the </a:t>
            </a:r>
            <a:r>
              <a:rPr lang="en-US" sz="3200" spc="-64" kern="0" b="0" i="0" dirty="0">
                <a:solidFill>
                  <a:srgbClr val="070154"/>
                </a:solidFill>
                <a:latin typeface="IBM Plex Sans SemiBold"/>
                <a:ea typeface="IBM Plex Sans SemiBold"/>
                <a:cs typeface="IBM Plex Sans SemiBold"/>
              </a:rPr>
              <a:t xml:space="preserve">event bus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126</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723900" y="1638300"/>
            <a:ext cx="10515600" cy="736600"/>
            <a:chOff x="723900" y="1638300"/>
            <a:chExt cx="10515600" cy="736600"/>
          </a:xfrm>
        </p:grpSpPr>
        <p:sp>
          <p:nvSpPr>
            <p:cNvPr id="7" name="node01.base"/>
            <p:cNvSpPr/>
            <p:nvPr/>
          </p:nvSpPr>
          <p:spPr>
            <a:xfrm>
              <a:off x="800100" y="1714500"/>
              <a:ext cx="8595360" cy="0"/>
            </a:xfrm>
            <a:custGeom>
              <a:avLst/>
              <a:gdLst/>
              <a:ahLst/>
              <a:cxnLst/>
              <a:rect l="l" t="t" r="r" b="b"/>
              <a:pathLst>
                <a:path w="8595360">
                  <a:moveTo>
                    <a:pt x="0" y="0"/>
                  </a:moveTo>
                  <a:lnTo>
                    <a:pt x="8595360" y="0"/>
                  </a:lnTo>
                </a:path>
              </a:pathLst>
            </a:custGeom>
            <a:ln w="25400">
              <a:solidFill>
                <a:srgbClr val="CED7E6"/>
              </a:solidFill>
              <a:prstDash val="solid"/>
            </a:ln>
          </p:spPr>
        </p:sp>
        <p:sp>
          <p:nvSpPr>
            <p:cNvPr id="8" name="node01.steps.slot-001.marker"/>
            <p:cNvSpPr/>
            <p:nvPr/>
          </p:nvSpPr>
          <p:spPr>
            <a:xfrm>
              <a:off x="723900" y="1638300"/>
              <a:ext cx="152400" cy="152400"/>
            </a:xfrm>
            <a:prstGeom prst="rect">
              <a:avLst/>
            </a:prstGeom>
            <a:solidFill>
              <a:srgbClr val="070154"/>
            </a:solidFill>
            <a:ln>
              <a:noFill/>
            </a:ln>
          </p:spPr>
        </p:sp>
        <p:sp>
          <p:nvSpPr>
            <p:cNvPr id="9" name="node01.steps.slot-001.part-0"/>
            <p:cNvSpPr/>
            <p:nvPr/>
          </p:nvSpPr>
          <p:spPr>
            <a:xfrm>
              <a:off x="723900" y="1981200"/>
              <a:ext cx="192024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4 AUG</a:t>
              </a:r>
              <a:endParaRPr lang="en-US" sz="800" spc="48" kern="0" b="0" i="0" dirty="0">
                <a:solidFill>
                  <a:srgbClr val="0047FF"/>
                </a:solidFill>
                <a:latin typeface="IBM Plex Mono Medium"/>
                <a:ea typeface="IBM Plex Mono Medium"/>
                <a:cs typeface="IBM Plex Mono Medium"/>
              </a:endParaRPr>
            </a:p>
          </p:txBody>
        </p:sp>
        <p:sp>
          <p:nvSpPr>
            <p:cNvPr id="10" name="node01.steps.slot-001.part-1"/>
            <p:cNvSpPr/>
            <p:nvPr/>
          </p:nvSpPr>
          <p:spPr>
            <a:xfrm>
              <a:off x="723900" y="2159000"/>
              <a:ext cx="192024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Question raised</a:t>
              </a:r>
              <a:endParaRPr lang="en-US" sz="1200" spc="0" kern="0" b="0" i="0" dirty="0">
                <a:solidFill>
                  <a:srgbClr val="070154"/>
                </a:solidFill>
                <a:latin typeface="IBM Plex Sans SemiBold"/>
                <a:ea typeface="IBM Plex Sans SemiBold"/>
                <a:cs typeface="IBM Plex Sans SemiBold"/>
              </a:endParaRPr>
            </a:p>
          </p:txBody>
        </p:sp>
        <p:sp>
          <p:nvSpPr>
            <p:cNvPr id="11" name="node01.steps.slot-002.marker"/>
            <p:cNvSpPr/>
            <p:nvPr/>
          </p:nvSpPr>
          <p:spPr>
            <a:xfrm>
              <a:off x="2872740" y="1638300"/>
              <a:ext cx="152400" cy="152400"/>
            </a:xfrm>
            <a:prstGeom prst="rect">
              <a:avLst/>
            </a:prstGeom>
            <a:solidFill>
              <a:srgbClr val="070154"/>
            </a:solidFill>
            <a:ln>
              <a:noFill/>
            </a:ln>
          </p:spPr>
        </p:sp>
        <p:sp>
          <p:nvSpPr>
            <p:cNvPr id="12" name="node01.steps.slot-002.part-0"/>
            <p:cNvSpPr/>
            <p:nvPr/>
          </p:nvSpPr>
          <p:spPr>
            <a:xfrm>
              <a:off x="2872740" y="1981200"/>
              <a:ext cx="192024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11 AUG</a:t>
              </a:r>
              <a:endParaRPr lang="en-US" sz="800" spc="48" kern="0" b="0" i="0" dirty="0">
                <a:solidFill>
                  <a:srgbClr val="0047FF"/>
                </a:solidFill>
                <a:latin typeface="IBM Plex Mono Medium"/>
                <a:ea typeface="IBM Plex Mono Medium"/>
                <a:cs typeface="IBM Plex Mono Medium"/>
              </a:endParaRPr>
            </a:p>
          </p:txBody>
        </p:sp>
        <p:sp>
          <p:nvSpPr>
            <p:cNvPr id="13" name="node01.steps.slot-002.part-1"/>
            <p:cNvSpPr/>
            <p:nvPr/>
          </p:nvSpPr>
          <p:spPr>
            <a:xfrm>
              <a:off x="2872740" y="2159000"/>
              <a:ext cx="192024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Options framed</a:t>
              </a:r>
              <a:endParaRPr lang="en-US" sz="1200" spc="0" kern="0" b="0" i="0" dirty="0">
                <a:solidFill>
                  <a:srgbClr val="070154"/>
                </a:solidFill>
                <a:latin typeface="IBM Plex Sans SemiBold"/>
                <a:ea typeface="IBM Plex Sans SemiBold"/>
                <a:cs typeface="IBM Plex Sans SemiBold"/>
              </a:endParaRPr>
            </a:p>
          </p:txBody>
        </p:sp>
        <p:sp>
          <p:nvSpPr>
            <p:cNvPr id="14" name="node01.steps.slot-003.marker"/>
            <p:cNvSpPr/>
            <p:nvPr/>
          </p:nvSpPr>
          <p:spPr>
            <a:xfrm>
              <a:off x="5021580" y="1638300"/>
              <a:ext cx="152400" cy="152400"/>
            </a:xfrm>
            <a:prstGeom prst="rect">
              <a:avLst/>
            </a:prstGeom>
            <a:solidFill>
              <a:srgbClr val="070154"/>
            </a:solidFill>
            <a:ln>
              <a:noFill/>
            </a:ln>
          </p:spPr>
        </p:sp>
        <p:sp>
          <p:nvSpPr>
            <p:cNvPr id="15" name="node01.steps.slot-003.part-0"/>
            <p:cNvSpPr/>
            <p:nvPr/>
          </p:nvSpPr>
          <p:spPr>
            <a:xfrm>
              <a:off x="5021580" y="1981200"/>
              <a:ext cx="192024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4 SEP</a:t>
              </a:r>
              <a:endParaRPr lang="en-US" sz="800" spc="48" kern="0" b="0" i="0" dirty="0">
                <a:solidFill>
                  <a:srgbClr val="0047FF"/>
                </a:solidFill>
                <a:latin typeface="IBM Plex Mono Medium"/>
                <a:ea typeface="IBM Plex Mono Medium"/>
                <a:cs typeface="IBM Plex Mono Medium"/>
              </a:endParaRPr>
            </a:p>
          </p:txBody>
        </p:sp>
        <p:sp>
          <p:nvSpPr>
            <p:cNvPr id="16" name="node01.steps.slot-003.part-1"/>
            <p:cNvSpPr/>
            <p:nvPr/>
          </p:nvSpPr>
          <p:spPr>
            <a:xfrm>
              <a:off x="5021580" y="2159000"/>
              <a:ext cx="192024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Evaluation</a:t>
              </a:r>
              <a:endParaRPr lang="en-US" sz="1200" spc="0" kern="0" b="0" i="0" dirty="0">
                <a:solidFill>
                  <a:srgbClr val="070154"/>
                </a:solidFill>
                <a:latin typeface="IBM Plex Sans SemiBold"/>
                <a:ea typeface="IBM Plex Sans SemiBold"/>
                <a:cs typeface="IBM Plex Sans SemiBold"/>
              </a:endParaRPr>
            </a:p>
          </p:txBody>
        </p:sp>
        <p:sp>
          <p:nvSpPr>
            <p:cNvPr id="17" name="node01.steps.slot-004.marker"/>
            <p:cNvSpPr/>
            <p:nvPr/>
          </p:nvSpPr>
          <p:spPr>
            <a:xfrm>
              <a:off x="7170420" y="1638300"/>
              <a:ext cx="152400" cy="152400"/>
            </a:xfrm>
            <a:prstGeom prst="rect">
              <a:avLst/>
            </a:prstGeom>
            <a:solidFill>
              <a:srgbClr val="070154"/>
            </a:solidFill>
            <a:ln>
              <a:noFill/>
            </a:ln>
          </p:spPr>
        </p:sp>
        <p:sp>
          <p:nvSpPr>
            <p:cNvPr id="18" name="node01.steps.slot-004.part-0"/>
            <p:cNvSpPr/>
            <p:nvPr/>
          </p:nvSpPr>
          <p:spPr>
            <a:xfrm>
              <a:off x="7170420" y="1981200"/>
              <a:ext cx="192024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12 SEP</a:t>
              </a:r>
              <a:endParaRPr lang="en-US" sz="800" spc="48" kern="0" b="0" i="0" dirty="0">
                <a:solidFill>
                  <a:srgbClr val="0047FF"/>
                </a:solidFill>
                <a:latin typeface="IBM Plex Mono Medium"/>
                <a:ea typeface="IBM Plex Mono Medium"/>
                <a:cs typeface="IBM Plex Mono Medium"/>
              </a:endParaRPr>
            </a:p>
          </p:txBody>
        </p:sp>
        <p:sp>
          <p:nvSpPr>
            <p:cNvPr id="19" name="node01.steps.slot-004.part-1"/>
            <p:cNvSpPr/>
            <p:nvPr/>
          </p:nvSpPr>
          <p:spPr>
            <a:xfrm>
              <a:off x="7170420" y="2159000"/>
              <a:ext cx="192024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Decision</a:t>
              </a:r>
              <a:endParaRPr lang="en-US" sz="1200" spc="0" kern="0" b="0" i="0" dirty="0">
                <a:solidFill>
                  <a:srgbClr val="070154"/>
                </a:solidFill>
                <a:latin typeface="IBM Plex Sans SemiBold"/>
                <a:ea typeface="IBM Plex Sans SemiBold"/>
                <a:cs typeface="IBM Plex Sans SemiBold"/>
              </a:endParaRPr>
            </a:p>
          </p:txBody>
        </p:sp>
        <p:sp>
          <p:nvSpPr>
            <p:cNvPr id="20" name="node01.steps.slot-005.marker"/>
            <p:cNvSpPr/>
            <p:nvPr/>
          </p:nvSpPr>
          <p:spPr>
            <a:xfrm>
              <a:off x="9319260" y="1638300"/>
              <a:ext cx="152400" cy="152400"/>
            </a:xfrm>
            <a:prstGeom prst="rect">
              <a:avLst/>
            </a:prstGeom>
            <a:solidFill>
              <a:srgbClr val="FFFFFF"/>
            </a:solidFill>
            <a:ln w="12700">
              <a:solidFill>
                <a:srgbClr val="070154"/>
              </a:solidFill>
              <a:prstDash val="solid"/>
            </a:ln>
          </p:spPr>
        </p:sp>
        <p:sp>
          <p:nvSpPr>
            <p:cNvPr id="21" name="node01.steps.slot-005.part-0"/>
            <p:cNvSpPr/>
            <p:nvPr/>
          </p:nvSpPr>
          <p:spPr>
            <a:xfrm>
              <a:off x="9319260" y="1981200"/>
              <a:ext cx="192024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12 SEP 2027</a:t>
              </a:r>
              <a:endParaRPr lang="en-US" sz="800" spc="48" kern="0" b="0" i="0" dirty="0">
                <a:solidFill>
                  <a:srgbClr val="0047FF"/>
                </a:solidFill>
                <a:latin typeface="IBM Plex Mono Medium"/>
                <a:ea typeface="IBM Plex Mono Medium"/>
                <a:cs typeface="IBM Plex Mono Medium"/>
              </a:endParaRPr>
            </a:p>
          </p:txBody>
        </p:sp>
        <p:sp>
          <p:nvSpPr>
            <p:cNvPr id="22" name="node01.steps.slot-005.part-1"/>
            <p:cNvSpPr/>
            <p:nvPr/>
          </p:nvSpPr>
          <p:spPr>
            <a:xfrm>
              <a:off x="9319260" y="2159000"/>
              <a:ext cx="192024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Review date</a:t>
              </a:r>
              <a:endParaRPr lang="en-US" sz="1200" spc="0" kern="0" b="0" i="0" dirty="0">
                <a:solidFill>
                  <a:srgbClr val="070154"/>
                </a:solidFill>
                <a:latin typeface="IBM Plex Sans SemiBold"/>
                <a:ea typeface="IBM Plex Sans SemiBold"/>
                <a:cs typeface="IBM Plex Sans SemiBold"/>
              </a:endParaRPr>
            </a:p>
          </p:txBody>
        </p:sp>
      </p:grpSp>
      <p:grpSp>
        <p:nvGrpSpPr>
          <p:cNvPr id="58" name="node02"/>
          <p:cNvGrpSpPr/>
          <p:nvPr/>
        </p:nvGrpSpPr>
        <p:grpSpPr>
          <a:xfrm>
            <a:off x="723900" y="2514600"/>
            <a:ext cx="1905000" cy="381000"/>
            <a:chOff x="723900" y="2514600"/>
            <a:chExt cx="1905000" cy="381000"/>
          </a:xfrm>
        </p:grpSpPr>
        <p:sp>
          <p:nvSpPr>
            <p:cNvPr id="23" name="node02.text"/>
            <p:cNvSpPr/>
            <p:nvPr/>
          </p:nvSpPr>
          <p:spPr>
            <a:xfrm>
              <a:off x="723900" y="2514600"/>
              <a:ext cx="1905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Integration incidents reach the board.</a:t>
              </a:r>
              <a:endParaRPr lang="en-US" sz="1100" spc="0" kern="0" b="0" i="0" dirty="0">
                <a:solidFill>
                  <a:srgbClr val="070154"/>
                </a:solidFill>
                <a:latin typeface="IBM Plex Sans"/>
                <a:ea typeface="IBM Plex Sans"/>
                <a:cs typeface="IBM Plex Sans"/>
              </a:endParaRPr>
            </a:p>
          </p:txBody>
        </p:sp>
      </p:grpSp>
      <p:grpSp>
        <p:nvGrpSpPr>
          <p:cNvPr id="59" name="node03"/>
          <p:cNvGrpSpPr/>
          <p:nvPr/>
        </p:nvGrpSpPr>
        <p:grpSpPr>
          <a:xfrm>
            <a:off x="2870200" y="2514600"/>
            <a:ext cx="1905000" cy="381000"/>
            <a:chOff x="2870200" y="2514600"/>
            <a:chExt cx="1905000" cy="381000"/>
          </a:xfrm>
        </p:grpSpPr>
        <p:sp>
          <p:nvSpPr>
            <p:cNvPr id="24" name="node03.text"/>
            <p:cNvSpPr/>
            <p:nvPr/>
          </p:nvSpPr>
          <p:spPr>
            <a:xfrm>
              <a:off x="2870200" y="2514600"/>
              <a:ext cx="1905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Three options and criteria agreed.</a:t>
              </a:r>
              <a:endParaRPr lang="en-US" sz="1100" spc="0" kern="0" b="0" i="0" dirty="0">
                <a:solidFill>
                  <a:srgbClr val="070154"/>
                </a:solidFill>
                <a:latin typeface="IBM Plex Sans"/>
                <a:ea typeface="IBM Plex Sans"/>
                <a:cs typeface="IBM Plex Sans"/>
              </a:endParaRPr>
            </a:p>
          </p:txBody>
        </p:sp>
      </p:grpSp>
      <p:grpSp>
        <p:nvGrpSpPr>
          <p:cNvPr id="60" name="node04"/>
          <p:cNvGrpSpPr/>
          <p:nvPr/>
        </p:nvGrpSpPr>
        <p:grpSpPr>
          <a:xfrm>
            <a:off x="5016500" y="2514600"/>
            <a:ext cx="1905000" cy="381000"/>
            <a:chOff x="5016500" y="2514600"/>
            <a:chExt cx="1905000" cy="381000"/>
          </a:xfrm>
        </p:grpSpPr>
        <p:sp>
          <p:nvSpPr>
            <p:cNvPr id="25" name="node04.text"/>
            <p:cNvSpPr/>
            <p:nvPr/>
          </p:nvSpPr>
          <p:spPr>
            <a:xfrm>
              <a:off x="5016500" y="2514600"/>
              <a:ext cx="1905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Workshop scores and a cost model.</a:t>
              </a:r>
              <a:endParaRPr lang="en-US" sz="1100" spc="0" kern="0" b="0" i="0" dirty="0">
                <a:solidFill>
                  <a:srgbClr val="070154"/>
                </a:solidFill>
                <a:latin typeface="IBM Plex Sans"/>
                <a:ea typeface="IBM Plex Sans"/>
                <a:cs typeface="IBM Plex Sans"/>
              </a:endParaRPr>
            </a:p>
          </p:txBody>
        </p:sp>
      </p:grpSp>
      <p:grpSp>
        <p:nvGrpSpPr>
          <p:cNvPr id="61" name="node05"/>
          <p:cNvGrpSpPr/>
          <p:nvPr/>
        </p:nvGrpSpPr>
        <p:grpSpPr>
          <a:xfrm>
            <a:off x="7162800" y="2514600"/>
            <a:ext cx="1905000" cy="381000"/>
            <a:chOff x="7162800" y="2514600"/>
            <a:chExt cx="1905000" cy="381000"/>
          </a:xfrm>
        </p:grpSpPr>
        <p:sp>
          <p:nvSpPr>
            <p:cNvPr id="26" name="node05.text"/>
            <p:cNvSpPr/>
            <p:nvPr/>
          </p:nvSpPr>
          <p:spPr>
            <a:xfrm>
              <a:off x="7162800" y="2514600"/>
              <a:ext cx="1905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Review board accepts Option B.</a:t>
              </a:r>
              <a:endParaRPr lang="en-US" sz="1100" spc="0" kern="0" b="0" i="0" dirty="0">
                <a:solidFill>
                  <a:srgbClr val="070154"/>
                </a:solidFill>
                <a:latin typeface="IBM Plex Sans"/>
                <a:ea typeface="IBM Plex Sans"/>
                <a:cs typeface="IBM Plex Sans"/>
              </a:endParaRPr>
            </a:p>
          </p:txBody>
        </p:sp>
      </p:grpSp>
      <p:grpSp>
        <p:nvGrpSpPr>
          <p:cNvPr id="62" name="node06"/>
          <p:cNvGrpSpPr/>
          <p:nvPr/>
        </p:nvGrpSpPr>
        <p:grpSpPr>
          <a:xfrm>
            <a:off x="9309100" y="2514600"/>
            <a:ext cx="1905000" cy="381000"/>
            <a:chOff x="9309100" y="2514600"/>
            <a:chExt cx="1905000" cy="381000"/>
          </a:xfrm>
        </p:grpSpPr>
        <p:sp>
          <p:nvSpPr>
            <p:cNvPr id="27" name="node06.text"/>
            <p:cNvSpPr/>
            <p:nvPr/>
          </p:nvSpPr>
          <p:spPr>
            <a:xfrm>
              <a:off x="9309100" y="2514600"/>
              <a:ext cx="1905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Check cost and incident targets.</a:t>
              </a:r>
              <a:endParaRPr lang="en-US" sz="1100" spc="0" kern="0" b="0" i="0" dirty="0">
                <a:solidFill>
                  <a:srgbClr val="070154"/>
                </a:solidFill>
                <a:latin typeface="IBM Plex Sans"/>
                <a:ea typeface="IBM Plex Sans"/>
                <a:cs typeface="IBM Plex Sans"/>
              </a:endParaRPr>
            </a:p>
          </p:txBody>
        </p:sp>
      </p:grpSp>
      <p:sp>
        <p:nvSpPr>
          <p:cNvPr id="28" name="node07"/>
          <p:cNvSpPr/>
          <p:nvPr/>
        </p:nvSpPr>
        <p:spPr>
          <a:xfrm>
            <a:off x="723900" y="3429000"/>
            <a:ext cx="10744200" cy="9525"/>
          </a:xfrm>
          <a:prstGeom prst="rect">
            <a:avLst/>
          </a:prstGeom>
          <a:solidFill>
            <a:srgbClr val="CED7E6"/>
          </a:solidFill>
          <a:ln>
            <a:noFill/>
          </a:ln>
        </p:spPr>
      </p:sp>
      <p:grpSp>
        <p:nvGrpSpPr>
          <p:cNvPr id="63" name="node08"/>
          <p:cNvGrpSpPr/>
          <p:nvPr/>
        </p:nvGrpSpPr>
        <p:grpSpPr>
          <a:xfrm>
            <a:off x="723900" y="3657600"/>
            <a:ext cx="5257800" cy="139700"/>
            <a:chOff x="723900" y="3657600"/>
            <a:chExt cx="5257800" cy="139700"/>
          </a:xfrm>
        </p:grpSpPr>
        <p:sp>
          <p:nvSpPr>
            <p:cNvPr id="29" name="node08.text"/>
            <p:cNvSpPr/>
            <p:nvPr/>
          </p:nvSpPr>
          <p:spPr>
            <a:xfrm>
              <a:off x="723900" y="3657600"/>
              <a:ext cx="5257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WHO TOOK PART</a:t>
              </a:r>
              <a:endParaRPr lang="en-US" sz="800" spc="48" kern="0" b="0" i="0" dirty="0">
                <a:solidFill>
                  <a:srgbClr val="50658E"/>
                </a:solidFill>
                <a:latin typeface="IBM Plex Mono Medium"/>
                <a:ea typeface="IBM Plex Mono Medium"/>
                <a:cs typeface="IBM Plex Mono Medium"/>
              </a:endParaRPr>
            </a:p>
          </p:txBody>
        </p:sp>
      </p:grpSp>
      <p:grpSp>
        <p:nvGrpSpPr>
          <p:cNvPr id="64" name="node09"/>
          <p:cNvGrpSpPr/>
          <p:nvPr/>
        </p:nvGrpSpPr>
        <p:grpSpPr>
          <a:xfrm>
            <a:off x="6210300" y="3657600"/>
            <a:ext cx="5257800" cy="139700"/>
            <a:chOff x="6210300" y="3657600"/>
            <a:chExt cx="5257800" cy="139700"/>
          </a:xfrm>
        </p:grpSpPr>
        <p:sp>
          <p:nvSpPr>
            <p:cNvPr id="30" name="node09.text"/>
            <p:cNvSpPr/>
            <p:nvPr/>
          </p:nvSpPr>
          <p:spPr>
            <a:xfrm>
              <a:off x="6210300" y="3657600"/>
              <a:ext cx="5257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EVIDENCE REVIEWED</a:t>
              </a:r>
              <a:endParaRPr lang="en-US" sz="800" spc="48" kern="0" b="0" i="0" dirty="0">
                <a:solidFill>
                  <a:srgbClr val="50658E"/>
                </a:solidFill>
                <a:latin typeface="IBM Plex Mono Medium"/>
                <a:ea typeface="IBM Plex Mono Medium"/>
                <a:cs typeface="IBM Plex Mono Medium"/>
              </a:endParaRPr>
            </a:p>
          </p:txBody>
        </p:sp>
      </p:grpSp>
      <p:grpSp>
        <p:nvGrpSpPr>
          <p:cNvPr id="65" name="node10"/>
          <p:cNvGrpSpPr/>
          <p:nvPr/>
        </p:nvGrpSpPr>
        <p:grpSpPr>
          <a:xfrm>
            <a:off x="723900" y="4114800"/>
            <a:ext cx="2514600" cy="457200"/>
            <a:chOff x="723900" y="4114800"/>
            <a:chExt cx="2514600" cy="457200"/>
          </a:xfrm>
        </p:grpSpPr>
        <p:sp>
          <p:nvSpPr>
            <p:cNvPr id="31" name="node10.avatar"/>
            <p:cNvSpPr/>
            <p:nvPr/>
          </p:nvSpPr>
          <p:spPr>
            <a:xfrm>
              <a:off x="723900" y="4114800"/>
              <a:ext cx="457200" cy="457200"/>
            </a:xfrm>
            <a:prstGeom prst="rect">
              <a:avLst/>
            </a:prstGeom>
            <a:solidFill>
              <a:srgbClr val="070154"/>
            </a:solidFill>
            <a:ln>
              <a:noFill/>
            </a:ln>
          </p:spPr>
        </p:sp>
        <p:sp>
          <p:nvSpPr>
            <p:cNvPr id="32" name="node10.initials"/>
            <p:cNvSpPr/>
            <p:nvPr/>
          </p:nvSpPr>
          <p:spPr>
            <a:xfrm>
              <a:off x="723900" y="4235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MO</a:t>
              </a:r>
              <a:endParaRPr lang="en-US" sz="1200" spc="0" kern="0" b="0" i="0" dirty="0">
                <a:solidFill>
                  <a:srgbClr val="FFFFFF"/>
                </a:solidFill>
                <a:latin typeface="IBM Plex Sans SemiBold"/>
                <a:ea typeface="IBM Plex Sans SemiBold"/>
                <a:cs typeface="IBM Plex Sans SemiBold"/>
              </a:endParaRPr>
            </a:p>
          </p:txBody>
        </p:sp>
        <p:sp>
          <p:nvSpPr>
            <p:cNvPr id="33" name="node10.name"/>
            <p:cNvSpPr/>
            <p:nvPr/>
          </p:nvSpPr>
          <p:spPr>
            <a:xfrm>
              <a:off x="1333500" y="4121150"/>
              <a:ext cx="1905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Maya Okafor</a:t>
              </a:r>
              <a:endParaRPr lang="en-US" sz="1200" spc="0" kern="0" b="0" i="0" dirty="0">
                <a:solidFill>
                  <a:srgbClr val="070154"/>
                </a:solidFill>
                <a:latin typeface="IBM Plex Sans SemiBold"/>
                <a:ea typeface="IBM Plex Sans SemiBold"/>
                <a:cs typeface="IBM Plex Sans SemiBold"/>
              </a:endParaRPr>
            </a:p>
          </p:txBody>
        </p:sp>
        <p:sp>
          <p:nvSpPr>
            <p:cNvPr id="34" name="node10.role"/>
            <p:cNvSpPr/>
            <p:nvPr/>
          </p:nvSpPr>
          <p:spPr>
            <a:xfrm>
              <a:off x="1333500" y="4375150"/>
              <a:ext cx="1905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Chief architect</a:t>
              </a:r>
              <a:endParaRPr lang="en-US" sz="1100" spc="0" kern="0" b="0" i="0" dirty="0">
                <a:solidFill>
                  <a:srgbClr val="50658E"/>
                </a:solidFill>
                <a:latin typeface="IBM Plex Sans"/>
                <a:ea typeface="IBM Plex Sans"/>
                <a:cs typeface="IBM Plex Sans"/>
              </a:endParaRPr>
            </a:p>
          </p:txBody>
        </p:sp>
      </p:grpSp>
      <p:grpSp>
        <p:nvGrpSpPr>
          <p:cNvPr id="66" name="node11"/>
          <p:cNvGrpSpPr/>
          <p:nvPr/>
        </p:nvGrpSpPr>
        <p:grpSpPr>
          <a:xfrm>
            <a:off x="3467100" y="4114800"/>
            <a:ext cx="2514600" cy="457200"/>
            <a:chOff x="3467100" y="4114800"/>
            <a:chExt cx="2514600" cy="457200"/>
          </a:xfrm>
        </p:grpSpPr>
        <p:sp>
          <p:nvSpPr>
            <p:cNvPr id="35" name="node11.avatar"/>
            <p:cNvSpPr/>
            <p:nvPr/>
          </p:nvSpPr>
          <p:spPr>
            <a:xfrm>
              <a:off x="3467100" y="4114800"/>
              <a:ext cx="457200" cy="457200"/>
            </a:xfrm>
            <a:prstGeom prst="rect">
              <a:avLst/>
            </a:prstGeom>
            <a:solidFill>
              <a:srgbClr val="070154"/>
            </a:solidFill>
            <a:ln>
              <a:noFill/>
            </a:ln>
          </p:spPr>
        </p:sp>
        <p:sp>
          <p:nvSpPr>
            <p:cNvPr id="36" name="node11.initials"/>
            <p:cNvSpPr/>
            <p:nvPr/>
          </p:nvSpPr>
          <p:spPr>
            <a:xfrm>
              <a:off x="3467100" y="4235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LS</a:t>
              </a:r>
              <a:endParaRPr lang="en-US" sz="1200" spc="0" kern="0" b="0" i="0" dirty="0">
                <a:solidFill>
                  <a:srgbClr val="FFFFFF"/>
                </a:solidFill>
                <a:latin typeface="IBM Plex Sans SemiBold"/>
                <a:ea typeface="IBM Plex Sans SemiBold"/>
                <a:cs typeface="IBM Plex Sans SemiBold"/>
              </a:endParaRPr>
            </a:p>
          </p:txBody>
        </p:sp>
        <p:sp>
          <p:nvSpPr>
            <p:cNvPr id="37" name="node11.name"/>
            <p:cNvSpPr/>
            <p:nvPr/>
          </p:nvSpPr>
          <p:spPr>
            <a:xfrm>
              <a:off x="4076700" y="4121150"/>
              <a:ext cx="1905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Lena Soto</a:t>
              </a:r>
              <a:endParaRPr lang="en-US" sz="1200" spc="0" kern="0" b="0" i="0" dirty="0">
                <a:solidFill>
                  <a:srgbClr val="070154"/>
                </a:solidFill>
                <a:latin typeface="IBM Plex Sans SemiBold"/>
                <a:ea typeface="IBM Plex Sans SemiBold"/>
                <a:cs typeface="IBM Plex Sans SemiBold"/>
              </a:endParaRPr>
            </a:p>
          </p:txBody>
        </p:sp>
        <p:sp>
          <p:nvSpPr>
            <p:cNvPr id="38" name="node11.role"/>
            <p:cNvSpPr/>
            <p:nvPr/>
          </p:nvSpPr>
          <p:spPr>
            <a:xfrm>
              <a:off x="4076700" y="4375150"/>
              <a:ext cx="1905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Clinical informatics</a:t>
              </a:r>
              <a:endParaRPr lang="en-US" sz="1100" spc="0" kern="0" b="0" i="0" dirty="0">
                <a:solidFill>
                  <a:srgbClr val="50658E"/>
                </a:solidFill>
                <a:latin typeface="IBM Plex Sans"/>
                <a:ea typeface="IBM Plex Sans"/>
                <a:cs typeface="IBM Plex Sans"/>
              </a:endParaRPr>
            </a:p>
          </p:txBody>
        </p:sp>
      </p:grpSp>
      <p:grpSp>
        <p:nvGrpSpPr>
          <p:cNvPr id="67" name="node12"/>
          <p:cNvGrpSpPr/>
          <p:nvPr/>
        </p:nvGrpSpPr>
        <p:grpSpPr>
          <a:xfrm>
            <a:off x="723900" y="5029200"/>
            <a:ext cx="2514600" cy="457200"/>
            <a:chOff x="723900" y="5029200"/>
            <a:chExt cx="2514600" cy="457200"/>
          </a:xfrm>
        </p:grpSpPr>
        <p:sp>
          <p:nvSpPr>
            <p:cNvPr id="39" name="node12.avatar"/>
            <p:cNvSpPr/>
            <p:nvPr/>
          </p:nvSpPr>
          <p:spPr>
            <a:xfrm>
              <a:off x="723900" y="5029200"/>
              <a:ext cx="457200" cy="457200"/>
            </a:xfrm>
            <a:prstGeom prst="rect">
              <a:avLst/>
            </a:prstGeom>
            <a:solidFill>
              <a:srgbClr val="070154"/>
            </a:solidFill>
            <a:ln>
              <a:noFill/>
            </a:ln>
          </p:spPr>
        </p:sp>
        <p:sp>
          <p:nvSpPr>
            <p:cNvPr id="40" name="node12.initials"/>
            <p:cNvSpPr/>
            <p:nvPr/>
          </p:nvSpPr>
          <p:spPr>
            <a:xfrm>
              <a:off x="723900" y="51498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DH</a:t>
              </a:r>
              <a:endParaRPr lang="en-US" sz="1200" spc="0" kern="0" b="0" i="0" dirty="0">
                <a:solidFill>
                  <a:srgbClr val="FFFFFF"/>
                </a:solidFill>
                <a:latin typeface="IBM Plex Sans SemiBold"/>
                <a:ea typeface="IBM Plex Sans SemiBold"/>
                <a:cs typeface="IBM Plex Sans SemiBold"/>
              </a:endParaRPr>
            </a:p>
          </p:txBody>
        </p:sp>
        <p:sp>
          <p:nvSpPr>
            <p:cNvPr id="41" name="node12.name"/>
            <p:cNvSpPr/>
            <p:nvPr/>
          </p:nvSpPr>
          <p:spPr>
            <a:xfrm>
              <a:off x="1333500" y="5035550"/>
              <a:ext cx="1905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Dev Hartley</a:t>
              </a:r>
              <a:endParaRPr lang="en-US" sz="1200" spc="0" kern="0" b="0" i="0" dirty="0">
                <a:solidFill>
                  <a:srgbClr val="070154"/>
                </a:solidFill>
                <a:latin typeface="IBM Plex Sans SemiBold"/>
                <a:ea typeface="IBM Plex Sans SemiBold"/>
                <a:cs typeface="IBM Plex Sans SemiBold"/>
              </a:endParaRPr>
            </a:p>
          </p:txBody>
        </p:sp>
        <p:sp>
          <p:nvSpPr>
            <p:cNvPr id="42" name="node12.role"/>
            <p:cNvSpPr/>
            <p:nvPr/>
          </p:nvSpPr>
          <p:spPr>
            <a:xfrm>
              <a:off x="1333500" y="5289550"/>
              <a:ext cx="1905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Platform lead</a:t>
              </a:r>
              <a:endParaRPr lang="en-US" sz="1100" spc="0" kern="0" b="0" i="0" dirty="0">
                <a:solidFill>
                  <a:srgbClr val="50658E"/>
                </a:solidFill>
                <a:latin typeface="IBM Plex Sans"/>
                <a:ea typeface="IBM Plex Sans"/>
                <a:cs typeface="IBM Plex Sans"/>
              </a:endParaRPr>
            </a:p>
          </p:txBody>
        </p:sp>
      </p:grpSp>
      <p:grpSp>
        <p:nvGrpSpPr>
          <p:cNvPr id="68" name="node13"/>
          <p:cNvGrpSpPr/>
          <p:nvPr/>
        </p:nvGrpSpPr>
        <p:grpSpPr>
          <a:xfrm>
            <a:off x="3467100" y="5029200"/>
            <a:ext cx="2514600" cy="457200"/>
            <a:chOff x="3467100" y="5029200"/>
            <a:chExt cx="2514600" cy="457200"/>
          </a:xfrm>
        </p:grpSpPr>
        <p:sp>
          <p:nvSpPr>
            <p:cNvPr id="43" name="node13.avatar"/>
            <p:cNvSpPr/>
            <p:nvPr/>
          </p:nvSpPr>
          <p:spPr>
            <a:xfrm>
              <a:off x="3467100" y="5029200"/>
              <a:ext cx="457200" cy="457200"/>
            </a:xfrm>
            <a:prstGeom prst="rect">
              <a:avLst/>
            </a:prstGeom>
            <a:solidFill>
              <a:srgbClr val="070154"/>
            </a:solidFill>
            <a:ln>
              <a:noFill/>
            </a:ln>
          </p:spPr>
        </p:sp>
        <p:sp>
          <p:nvSpPr>
            <p:cNvPr id="44" name="node13.initials"/>
            <p:cNvSpPr/>
            <p:nvPr/>
          </p:nvSpPr>
          <p:spPr>
            <a:xfrm>
              <a:off x="3467100" y="51498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RK</a:t>
              </a:r>
              <a:endParaRPr lang="en-US" sz="1200" spc="0" kern="0" b="0" i="0" dirty="0">
                <a:solidFill>
                  <a:srgbClr val="FFFFFF"/>
                </a:solidFill>
                <a:latin typeface="IBM Plex Sans SemiBold"/>
                <a:ea typeface="IBM Plex Sans SemiBold"/>
                <a:cs typeface="IBM Plex Sans SemiBold"/>
              </a:endParaRPr>
            </a:p>
          </p:txBody>
        </p:sp>
        <p:sp>
          <p:nvSpPr>
            <p:cNvPr id="45" name="node13.name"/>
            <p:cNvSpPr/>
            <p:nvPr/>
          </p:nvSpPr>
          <p:spPr>
            <a:xfrm>
              <a:off x="4076700" y="5035550"/>
              <a:ext cx="1905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Rui Kato</a:t>
              </a:r>
              <a:endParaRPr lang="en-US" sz="1200" spc="0" kern="0" b="0" i="0" dirty="0">
                <a:solidFill>
                  <a:srgbClr val="070154"/>
                </a:solidFill>
                <a:latin typeface="IBM Plex Sans SemiBold"/>
                <a:ea typeface="IBM Plex Sans SemiBold"/>
                <a:cs typeface="IBM Plex Sans SemiBold"/>
              </a:endParaRPr>
            </a:p>
          </p:txBody>
        </p:sp>
        <p:sp>
          <p:nvSpPr>
            <p:cNvPr id="46" name="node13.role"/>
            <p:cNvSpPr/>
            <p:nvPr/>
          </p:nvSpPr>
          <p:spPr>
            <a:xfrm>
              <a:off x="4076700" y="5289550"/>
              <a:ext cx="1905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Finance partner</a:t>
              </a:r>
              <a:endParaRPr lang="en-US" sz="1100" spc="0" kern="0" b="0" i="0" dirty="0">
                <a:solidFill>
                  <a:srgbClr val="50658E"/>
                </a:solidFill>
                <a:latin typeface="IBM Plex Sans"/>
                <a:ea typeface="IBM Plex Sans"/>
                <a:cs typeface="IBM Plex Sans"/>
              </a:endParaRPr>
            </a:p>
          </p:txBody>
        </p:sp>
      </p:grpSp>
      <p:grpSp>
        <p:nvGrpSpPr>
          <p:cNvPr id="69" name="node14"/>
          <p:cNvGrpSpPr/>
          <p:nvPr/>
        </p:nvGrpSpPr>
        <p:grpSpPr>
          <a:xfrm>
            <a:off x="6210300" y="4114800"/>
            <a:ext cx="5257800" cy="1231900"/>
            <a:chOff x="6210300" y="4114800"/>
            <a:chExt cx="5257800" cy="1231900"/>
          </a:xfrm>
        </p:grpSpPr>
        <p:sp>
          <p:nvSpPr>
            <p:cNvPr id="47" name="node14.source-001.bullet"/>
            <p:cNvSpPr/>
            <p:nvPr/>
          </p:nvSpPr>
          <p:spPr>
            <a:xfrm>
              <a:off x="6210300" y="4203700"/>
              <a:ext cx="38100" cy="38100"/>
            </a:xfrm>
            <a:prstGeom prst="rect">
              <a:avLst/>
            </a:prstGeom>
            <a:solidFill>
              <a:srgbClr val="070154"/>
            </a:solidFill>
            <a:ln>
              <a:noFill/>
            </a:ln>
          </p:spPr>
        </p:sp>
        <p:sp>
          <p:nvSpPr>
            <p:cNvPr id="48" name="node14.source-001.text"/>
            <p:cNvSpPr/>
            <p:nvPr/>
          </p:nvSpPr>
          <p:spPr>
            <a:xfrm>
              <a:off x="6362700" y="41148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Integration incident log, last 12 months</a:t>
              </a:r>
              <a:endParaRPr lang="en-US" sz="1200" spc="0" kern="0" b="0" i="0" dirty="0">
                <a:solidFill>
                  <a:srgbClr val="070154"/>
                </a:solidFill>
                <a:latin typeface="IBM Plex Sans"/>
                <a:ea typeface="IBM Plex Sans"/>
                <a:cs typeface="IBM Plex Sans"/>
              </a:endParaRPr>
            </a:p>
          </p:txBody>
        </p:sp>
        <p:sp>
          <p:nvSpPr>
            <p:cNvPr id="49" name="node14.source-002.bullet"/>
            <p:cNvSpPr/>
            <p:nvPr/>
          </p:nvSpPr>
          <p:spPr>
            <a:xfrm>
              <a:off x="6210300" y="4457700"/>
              <a:ext cx="38100" cy="38100"/>
            </a:xfrm>
            <a:prstGeom prst="rect">
              <a:avLst/>
            </a:prstGeom>
            <a:solidFill>
              <a:srgbClr val="070154"/>
            </a:solidFill>
            <a:ln>
              <a:noFill/>
            </a:ln>
          </p:spPr>
        </p:sp>
        <p:sp>
          <p:nvSpPr>
            <p:cNvPr id="50" name="node14.source-002.text"/>
            <p:cNvSpPr/>
            <p:nvPr/>
          </p:nvSpPr>
          <p:spPr>
            <a:xfrm>
              <a:off x="6362700" y="43688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Cost model for all three options</a:t>
              </a:r>
              <a:endParaRPr lang="en-US" sz="1200" spc="0" kern="0" b="0" i="0" dirty="0">
                <a:solidFill>
                  <a:srgbClr val="070154"/>
                </a:solidFill>
                <a:latin typeface="IBM Plex Sans"/>
                <a:ea typeface="IBM Plex Sans"/>
                <a:cs typeface="IBM Plex Sans"/>
              </a:endParaRPr>
            </a:p>
          </p:txBody>
        </p:sp>
        <p:sp>
          <p:nvSpPr>
            <p:cNvPr id="51" name="node14.source-003.bullet"/>
            <p:cNvSpPr/>
            <p:nvPr/>
          </p:nvSpPr>
          <p:spPr>
            <a:xfrm>
              <a:off x="6210300" y="4711700"/>
              <a:ext cx="38100" cy="38100"/>
            </a:xfrm>
            <a:prstGeom prst="rect">
              <a:avLst/>
            </a:prstGeom>
            <a:solidFill>
              <a:srgbClr val="070154"/>
            </a:solidFill>
            <a:ln>
              <a:noFill/>
            </a:ln>
          </p:spPr>
        </p:sp>
        <p:sp>
          <p:nvSpPr>
            <p:cNvPr id="52" name="node14.source-003.text"/>
            <p:cNvSpPr/>
            <p:nvPr/>
          </p:nvSpPr>
          <p:spPr>
            <a:xfrm>
              <a:off x="6362700" y="46228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Architecture workshop scores</a:t>
              </a:r>
              <a:endParaRPr lang="en-US" sz="1200" spc="0" kern="0" b="0" i="0" dirty="0">
                <a:solidFill>
                  <a:srgbClr val="070154"/>
                </a:solidFill>
                <a:latin typeface="IBM Plex Sans"/>
                <a:ea typeface="IBM Plex Sans"/>
                <a:cs typeface="IBM Plex Sans"/>
              </a:endParaRPr>
            </a:p>
          </p:txBody>
        </p:sp>
        <p:sp>
          <p:nvSpPr>
            <p:cNvPr id="53" name="node14.source-004.bullet"/>
            <p:cNvSpPr/>
            <p:nvPr/>
          </p:nvSpPr>
          <p:spPr>
            <a:xfrm>
              <a:off x="6210300" y="4965700"/>
              <a:ext cx="38100" cy="38100"/>
            </a:xfrm>
            <a:prstGeom prst="rect">
              <a:avLst/>
            </a:prstGeom>
            <a:solidFill>
              <a:srgbClr val="070154"/>
            </a:solidFill>
            <a:ln>
              <a:noFill/>
            </a:ln>
          </p:spPr>
        </p:sp>
        <p:sp>
          <p:nvSpPr>
            <p:cNvPr id="54" name="node14.source-004.text"/>
            <p:cNvSpPr/>
            <p:nvPr/>
          </p:nvSpPr>
          <p:spPr>
            <a:xfrm>
              <a:off x="6362700" y="48768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Reference check with two peer systems</a:t>
              </a:r>
              <a:endParaRPr lang="en-US" sz="1200" spc="0" kern="0" b="0" i="0" dirty="0">
                <a:solidFill>
                  <a:srgbClr val="070154"/>
                </a:solidFill>
                <a:latin typeface="IBM Plex Sans"/>
                <a:ea typeface="IBM Plex Sans"/>
                <a:cs typeface="IBM Plex Sans"/>
              </a:endParaRPr>
            </a:p>
          </p:txBody>
        </p:sp>
        <p:sp>
          <p:nvSpPr>
            <p:cNvPr id="55" name="node14.source-005.bullet"/>
            <p:cNvSpPr/>
            <p:nvPr/>
          </p:nvSpPr>
          <p:spPr>
            <a:xfrm>
              <a:off x="6210300" y="5219700"/>
              <a:ext cx="38100" cy="38100"/>
            </a:xfrm>
            <a:prstGeom prst="rect">
              <a:avLst/>
            </a:prstGeom>
            <a:solidFill>
              <a:srgbClr val="070154"/>
            </a:solidFill>
            <a:ln>
              <a:noFill/>
            </a:ln>
          </p:spPr>
        </p:sp>
        <p:sp>
          <p:nvSpPr>
            <p:cNvPr id="56" name="node14.source-005.text"/>
            <p:cNvSpPr/>
            <p:nvPr/>
          </p:nvSpPr>
          <p:spPr>
            <a:xfrm>
              <a:off x="6362700" y="51308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Vendor briefings for Option C</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ource-15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THE DECISION WAS MADE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weeks from question to a decision</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314450"/>
          </a:xfrm>
          <a:prstGeom prst="rect">
            <a:avLst/>
          </a:prstGeom>
          <a:solidFill>
            <a:srgbClr val="E8EEF8"/>
          </a:solidFill>
          <a:ln>
            <a:noFill/>
          </a:ln>
        </p:spPr>
      </p:sp>
      <p:sp>
        <p:nvSpPr>
          <p:cNvPr id="6"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PRINCIPLES</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847850"/>
            <a:ext cx="228600" cy="1314450"/>
          </a:xfrm>
          <a:prstGeom prst="rect">
            <a:avLst/>
          </a:prstGeom>
          <a:solidFill>
            <a:srgbClr val="070154"/>
          </a:solidFill>
          <a:ln>
            <a:noFill/>
          </a:ln>
        </p:spPr>
      </p:sp>
      <p:sp>
        <p:nvSpPr>
          <p:cNvPr id="8"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DECISIONS</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3238500"/>
            <a:ext cx="228600" cy="1314450"/>
          </a:xfrm>
          <a:prstGeom prst="rect">
            <a:avLst/>
          </a:prstGeom>
          <a:solidFill>
            <a:srgbClr val="E8EEF8"/>
          </a:solidFill>
          <a:ln>
            <a:noFill/>
          </a:ln>
        </p:spPr>
      </p:sp>
      <p:sp>
        <p:nvSpPr>
          <p:cNvPr id="10"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STANDARDS</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4629150"/>
            <a:ext cx="228600" cy="1314450"/>
          </a:xfrm>
          <a:prstGeom prst="rect">
            <a:avLst/>
          </a:prstGeom>
          <a:solidFill>
            <a:srgbClr val="E8EEF8"/>
          </a:solidFill>
          <a:ln>
            <a:noFill/>
          </a:ln>
        </p:spPr>
      </p:sp>
      <p:sp>
        <p:nvSpPr>
          <p:cNvPr id="12"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ROADMAP</a:t>
            </a:r>
            <a:endParaRPr lang="en-US" sz="800" spc="80" kern="0" b="0" i="0" dirty="0">
              <a:solidFill>
                <a:srgbClr val="50658E"/>
              </a:solidFill>
              <a:latin typeface="IBM Plex Mono SemiBold"/>
              <a:ea typeface="IBM Plex Mono SemiBold"/>
              <a:cs typeface="IBM Plex Mono SemiBold"/>
            </a:endParaRPr>
          </a:p>
        </p:txBody>
      </p:sp>
      <p:sp>
        <p:nvSpPr>
          <p:cNvPr id="1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127</a:t>
            </a:fld>
            <a:endParaRPr lang="en-US" sz="700" spc="0" kern="0" b="0" i="0" dirty="0">
              <a:solidFill>
                <a:srgbClr val="070154"/>
              </a:solidFill>
              <a:latin typeface="IBM Plex Mono SemiBold"/>
              <a:ea typeface="IBM Plex Mono SemiBold"/>
              <a:cs typeface="IBM Plex Mono SemiBold"/>
            </a:endParaRPr>
          </a:p>
        </p:txBody>
      </p:sp>
      <p:grpSp>
        <p:nvGrpSpPr>
          <p:cNvPr id="60" name="node01"/>
          <p:cNvGrpSpPr/>
          <p:nvPr/>
        </p:nvGrpSpPr>
        <p:grpSpPr>
          <a:xfrm>
            <a:off x="762000" y="1638300"/>
            <a:ext cx="5219700" cy="3797300"/>
            <a:chOff x="762000" y="1638300"/>
            <a:chExt cx="5219700" cy="3797300"/>
          </a:xfrm>
        </p:grpSpPr>
        <p:sp>
          <p:nvSpPr>
            <p:cNvPr id="14" name="node01.base"/>
            <p:cNvSpPr/>
            <p:nvPr/>
          </p:nvSpPr>
          <p:spPr>
            <a:xfrm>
              <a:off x="838200" y="1752600"/>
              <a:ext cx="0" cy="3352800"/>
            </a:xfrm>
            <a:custGeom>
              <a:avLst/>
              <a:gdLst/>
              <a:ahLst/>
              <a:cxnLst/>
              <a:rect l="l" t="t" r="r" b="b"/>
              <a:pathLst>
                <a:path h="3352800">
                  <a:moveTo>
                    <a:pt x="0" y="0"/>
                  </a:moveTo>
                  <a:lnTo>
                    <a:pt x="0" y="3352800"/>
                  </a:lnTo>
                </a:path>
              </a:pathLst>
            </a:custGeom>
            <a:ln w="25400">
              <a:solidFill>
                <a:srgbClr val="CED7E6"/>
              </a:solidFill>
              <a:prstDash val="solid"/>
            </a:ln>
          </p:spPr>
        </p:sp>
        <p:sp>
          <p:nvSpPr>
            <p:cNvPr id="15" name="node01.steps.slot-001.marker"/>
            <p:cNvSpPr/>
            <p:nvPr/>
          </p:nvSpPr>
          <p:spPr>
            <a:xfrm>
              <a:off x="762000" y="1676400"/>
              <a:ext cx="152400" cy="152400"/>
            </a:xfrm>
            <a:prstGeom prst="rect">
              <a:avLst/>
            </a:prstGeom>
            <a:solidFill>
              <a:srgbClr val="070154"/>
            </a:solidFill>
            <a:ln>
              <a:noFill/>
            </a:ln>
          </p:spPr>
        </p:sp>
        <p:sp>
          <p:nvSpPr>
            <p:cNvPr id="16" name="node01.steps.slot-001.title"/>
            <p:cNvSpPr/>
            <p:nvPr/>
          </p:nvSpPr>
          <p:spPr>
            <a:xfrm>
              <a:off x="1181100" y="1638300"/>
              <a:ext cx="1160463"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Question raised</a:t>
              </a:r>
              <a:endParaRPr lang="en-US" sz="1200" spc="0" kern="0" b="0" i="0" dirty="0">
                <a:solidFill>
                  <a:srgbClr val="070154"/>
                </a:solidFill>
                <a:latin typeface="IBM Plex Sans SemiBold"/>
                <a:ea typeface="IBM Plex Sans SemiBold"/>
                <a:cs typeface="IBM Plex Sans SemiBold"/>
              </a:endParaRPr>
            </a:p>
          </p:txBody>
        </p:sp>
        <p:sp>
          <p:nvSpPr>
            <p:cNvPr id="17" name="node01.steps.slot-001.label"/>
            <p:cNvSpPr/>
            <p:nvPr/>
          </p:nvSpPr>
          <p:spPr>
            <a:xfrm>
              <a:off x="2493963" y="1702816"/>
              <a:ext cx="357504"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4 AUG</a:t>
              </a:r>
              <a:endParaRPr lang="en-US" sz="800" spc="48" kern="0" b="0" i="0" dirty="0">
                <a:solidFill>
                  <a:srgbClr val="0047FF"/>
                </a:solidFill>
                <a:latin typeface="IBM Plex Mono Medium"/>
                <a:ea typeface="IBM Plex Mono Medium"/>
                <a:cs typeface="IBM Plex Mono Medium"/>
              </a:endParaRPr>
            </a:p>
          </p:txBody>
        </p:sp>
        <p:sp>
          <p:nvSpPr>
            <p:cNvPr id="18" name="node01.steps.slot-001.description.part-0"/>
            <p:cNvSpPr/>
            <p:nvPr/>
          </p:nvSpPr>
          <p:spPr>
            <a:xfrm>
              <a:off x="1181100" y="1892300"/>
              <a:ext cx="4800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Integration incidents reach the board.</a:t>
              </a:r>
              <a:endParaRPr lang="en-US" sz="1100" spc="0" kern="0" b="0" i="0" dirty="0">
                <a:solidFill>
                  <a:srgbClr val="50658E"/>
                </a:solidFill>
                <a:latin typeface="IBM Plex Sans"/>
                <a:ea typeface="IBM Plex Sans"/>
                <a:cs typeface="IBM Plex Sans"/>
              </a:endParaRPr>
            </a:p>
          </p:txBody>
        </p:sp>
        <p:sp>
          <p:nvSpPr>
            <p:cNvPr id="19" name="node01.steps.slot-002.marker"/>
            <p:cNvSpPr/>
            <p:nvPr/>
          </p:nvSpPr>
          <p:spPr>
            <a:xfrm>
              <a:off x="762000" y="2514600"/>
              <a:ext cx="152400" cy="152400"/>
            </a:xfrm>
            <a:prstGeom prst="rect">
              <a:avLst/>
            </a:prstGeom>
            <a:solidFill>
              <a:srgbClr val="070154"/>
            </a:solidFill>
            <a:ln>
              <a:noFill/>
            </a:ln>
          </p:spPr>
        </p:sp>
        <p:sp>
          <p:nvSpPr>
            <p:cNvPr id="20" name="node01.steps.slot-002.title"/>
            <p:cNvSpPr/>
            <p:nvPr/>
          </p:nvSpPr>
          <p:spPr>
            <a:xfrm>
              <a:off x="1181100" y="2476500"/>
              <a:ext cx="114935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Options framed</a:t>
              </a:r>
              <a:endParaRPr lang="en-US" sz="1200" spc="0" kern="0" b="0" i="0" dirty="0">
                <a:solidFill>
                  <a:srgbClr val="070154"/>
                </a:solidFill>
                <a:latin typeface="IBM Plex Sans SemiBold"/>
                <a:ea typeface="IBM Plex Sans SemiBold"/>
                <a:cs typeface="IBM Plex Sans SemiBold"/>
              </a:endParaRPr>
            </a:p>
          </p:txBody>
        </p:sp>
        <p:sp>
          <p:nvSpPr>
            <p:cNvPr id="21" name="node01.steps.slot-002.label"/>
            <p:cNvSpPr/>
            <p:nvPr/>
          </p:nvSpPr>
          <p:spPr>
            <a:xfrm>
              <a:off x="2482850" y="25410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11 AUG</a:t>
              </a:r>
              <a:endParaRPr lang="en-US" sz="800" spc="48" kern="0" b="0" i="0" dirty="0">
                <a:solidFill>
                  <a:srgbClr val="0047FF"/>
                </a:solidFill>
                <a:latin typeface="IBM Plex Mono Medium"/>
                <a:ea typeface="IBM Plex Mono Medium"/>
                <a:cs typeface="IBM Plex Mono Medium"/>
              </a:endParaRPr>
            </a:p>
          </p:txBody>
        </p:sp>
        <p:sp>
          <p:nvSpPr>
            <p:cNvPr id="22" name="node01.steps.slot-002.description.part-0"/>
            <p:cNvSpPr/>
            <p:nvPr/>
          </p:nvSpPr>
          <p:spPr>
            <a:xfrm>
              <a:off x="1181100" y="2730500"/>
              <a:ext cx="4800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Three options and criteria agreed.</a:t>
              </a:r>
              <a:endParaRPr lang="en-US" sz="1100" spc="0" kern="0" b="0" i="0" dirty="0">
                <a:solidFill>
                  <a:srgbClr val="50658E"/>
                </a:solidFill>
                <a:latin typeface="IBM Plex Sans"/>
                <a:ea typeface="IBM Plex Sans"/>
                <a:cs typeface="IBM Plex Sans"/>
              </a:endParaRPr>
            </a:p>
          </p:txBody>
        </p:sp>
        <p:sp>
          <p:nvSpPr>
            <p:cNvPr id="23" name="node01.steps.slot-003.marker"/>
            <p:cNvSpPr/>
            <p:nvPr/>
          </p:nvSpPr>
          <p:spPr>
            <a:xfrm>
              <a:off x="762000" y="3352800"/>
              <a:ext cx="152400" cy="152400"/>
            </a:xfrm>
            <a:prstGeom prst="rect">
              <a:avLst/>
            </a:prstGeom>
            <a:solidFill>
              <a:srgbClr val="070154"/>
            </a:solidFill>
            <a:ln>
              <a:noFill/>
            </a:ln>
          </p:spPr>
        </p:sp>
        <p:sp>
          <p:nvSpPr>
            <p:cNvPr id="24" name="node01.steps.slot-003.title"/>
            <p:cNvSpPr/>
            <p:nvPr/>
          </p:nvSpPr>
          <p:spPr>
            <a:xfrm>
              <a:off x="1181100" y="3314700"/>
              <a:ext cx="800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Evaluation</a:t>
              </a:r>
              <a:endParaRPr lang="en-US" sz="1200" spc="0" kern="0" b="0" i="0" dirty="0">
                <a:solidFill>
                  <a:srgbClr val="070154"/>
                </a:solidFill>
                <a:latin typeface="IBM Plex Sans SemiBold"/>
                <a:ea typeface="IBM Plex Sans SemiBold"/>
                <a:cs typeface="IBM Plex Sans SemiBold"/>
              </a:endParaRPr>
            </a:p>
          </p:txBody>
        </p:sp>
        <p:sp>
          <p:nvSpPr>
            <p:cNvPr id="25" name="node01.steps.slot-003.label"/>
            <p:cNvSpPr/>
            <p:nvPr/>
          </p:nvSpPr>
          <p:spPr>
            <a:xfrm>
              <a:off x="2133600" y="3379216"/>
              <a:ext cx="357504"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4 SEP</a:t>
              </a:r>
              <a:endParaRPr lang="en-US" sz="800" spc="48" kern="0" b="0" i="0" dirty="0">
                <a:solidFill>
                  <a:srgbClr val="0047FF"/>
                </a:solidFill>
                <a:latin typeface="IBM Plex Mono Medium"/>
                <a:ea typeface="IBM Plex Mono Medium"/>
                <a:cs typeface="IBM Plex Mono Medium"/>
              </a:endParaRPr>
            </a:p>
          </p:txBody>
        </p:sp>
        <p:sp>
          <p:nvSpPr>
            <p:cNvPr id="26" name="node01.steps.slot-003.description.part-0"/>
            <p:cNvSpPr/>
            <p:nvPr/>
          </p:nvSpPr>
          <p:spPr>
            <a:xfrm>
              <a:off x="1181100" y="3568700"/>
              <a:ext cx="4800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Workshop scores and a cost model.</a:t>
              </a:r>
              <a:endParaRPr lang="en-US" sz="1100" spc="0" kern="0" b="0" i="0" dirty="0">
                <a:solidFill>
                  <a:srgbClr val="50658E"/>
                </a:solidFill>
                <a:latin typeface="IBM Plex Sans"/>
                <a:ea typeface="IBM Plex Sans"/>
                <a:cs typeface="IBM Plex Sans"/>
              </a:endParaRPr>
            </a:p>
          </p:txBody>
        </p:sp>
        <p:sp>
          <p:nvSpPr>
            <p:cNvPr id="27" name="node01.steps.slot-004.marker"/>
            <p:cNvSpPr/>
            <p:nvPr/>
          </p:nvSpPr>
          <p:spPr>
            <a:xfrm>
              <a:off x="762000" y="4191000"/>
              <a:ext cx="152400" cy="152400"/>
            </a:xfrm>
            <a:prstGeom prst="rect">
              <a:avLst/>
            </a:prstGeom>
            <a:solidFill>
              <a:srgbClr val="070154"/>
            </a:solidFill>
            <a:ln>
              <a:noFill/>
            </a:ln>
          </p:spPr>
        </p:sp>
        <p:sp>
          <p:nvSpPr>
            <p:cNvPr id="28" name="node01.steps.slot-004.title"/>
            <p:cNvSpPr/>
            <p:nvPr/>
          </p:nvSpPr>
          <p:spPr>
            <a:xfrm>
              <a:off x="1181100" y="4152900"/>
              <a:ext cx="652463"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Decision</a:t>
              </a:r>
              <a:endParaRPr lang="en-US" sz="1200" spc="0" kern="0" b="0" i="0" dirty="0">
                <a:solidFill>
                  <a:srgbClr val="070154"/>
                </a:solidFill>
                <a:latin typeface="IBM Plex Sans SemiBold"/>
                <a:ea typeface="IBM Plex Sans SemiBold"/>
                <a:cs typeface="IBM Plex Sans SemiBold"/>
              </a:endParaRPr>
            </a:p>
          </p:txBody>
        </p:sp>
        <p:sp>
          <p:nvSpPr>
            <p:cNvPr id="29" name="node01.steps.slot-004.label"/>
            <p:cNvSpPr/>
            <p:nvPr/>
          </p:nvSpPr>
          <p:spPr>
            <a:xfrm>
              <a:off x="1985963" y="42174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12 SEP</a:t>
              </a:r>
              <a:endParaRPr lang="en-US" sz="800" spc="48" kern="0" b="0" i="0" dirty="0">
                <a:solidFill>
                  <a:srgbClr val="0047FF"/>
                </a:solidFill>
                <a:latin typeface="IBM Plex Mono Medium"/>
                <a:ea typeface="IBM Plex Mono Medium"/>
                <a:cs typeface="IBM Plex Mono Medium"/>
              </a:endParaRPr>
            </a:p>
          </p:txBody>
        </p:sp>
        <p:sp>
          <p:nvSpPr>
            <p:cNvPr id="30" name="node01.steps.slot-004.description.part-0"/>
            <p:cNvSpPr/>
            <p:nvPr/>
          </p:nvSpPr>
          <p:spPr>
            <a:xfrm>
              <a:off x="1181100" y="4406900"/>
              <a:ext cx="4800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Review board accepts Option B.</a:t>
              </a:r>
              <a:endParaRPr lang="en-US" sz="1100" spc="0" kern="0" b="0" i="0" dirty="0">
                <a:solidFill>
                  <a:srgbClr val="50658E"/>
                </a:solidFill>
                <a:latin typeface="IBM Plex Sans"/>
                <a:ea typeface="IBM Plex Sans"/>
                <a:cs typeface="IBM Plex Sans"/>
              </a:endParaRPr>
            </a:p>
          </p:txBody>
        </p:sp>
        <p:sp>
          <p:nvSpPr>
            <p:cNvPr id="31" name="node01.steps.slot-005.marker"/>
            <p:cNvSpPr/>
            <p:nvPr/>
          </p:nvSpPr>
          <p:spPr>
            <a:xfrm>
              <a:off x="762000" y="5029200"/>
              <a:ext cx="152400" cy="152400"/>
            </a:xfrm>
            <a:prstGeom prst="rect">
              <a:avLst/>
            </a:prstGeom>
            <a:solidFill>
              <a:srgbClr val="FFFFFF"/>
            </a:solidFill>
            <a:ln w="12700">
              <a:solidFill>
                <a:srgbClr val="070154"/>
              </a:solidFill>
              <a:prstDash val="solid"/>
            </a:ln>
          </p:spPr>
        </p:sp>
        <p:sp>
          <p:nvSpPr>
            <p:cNvPr id="32" name="node01.steps.slot-005.title"/>
            <p:cNvSpPr/>
            <p:nvPr/>
          </p:nvSpPr>
          <p:spPr>
            <a:xfrm>
              <a:off x="1181100" y="4991100"/>
              <a:ext cx="927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Review date</a:t>
              </a:r>
              <a:endParaRPr lang="en-US" sz="1200" spc="0" kern="0" b="0" i="0" dirty="0">
                <a:solidFill>
                  <a:srgbClr val="070154"/>
                </a:solidFill>
                <a:latin typeface="IBM Plex Sans SemiBold"/>
                <a:ea typeface="IBM Plex Sans SemiBold"/>
                <a:cs typeface="IBM Plex Sans SemiBold"/>
              </a:endParaRPr>
            </a:p>
          </p:txBody>
        </p:sp>
        <p:sp>
          <p:nvSpPr>
            <p:cNvPr id="33" name="node01.steps.slot-005.label"/>
            <p:cNvSpPr/>
            <p:nvPr/>
          </p:nvSpPr>
          <p:spPr>
            <a:xfrm>
              <a:off x="2260600" y="5055616"/>
              <a:ext cx="756028"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12 SEP 2027</a:t>
              </a:r>
              <a:endParaRPr lang="en-US" sz="800" spc="48" kern="0" b="0" i="0" dirty="0">
                <a:solidFill>
                  <a:srgbClr val="0047FF"/>
                </a:solidFill>
                <a:latin typeface="IBM Plex Mono Medium"/>
                <a:ea typeface="IBM Plex Mono Medium"/>
                <a:cs typeface="IBM Plex Mono Medium"/>
              </a:endParaRPr>
            </a:p>
          </p:txBody>
        </p:sp>
        <p:sp>
          <p:nvSpPr>
            <p:cNvPr id="34" name="node01.steps.slot-005.description.part-0"/>
            <p:cNvSpPr/>
            <p:nvPr/>
          </p:nvSpPr>
          <p:spPr>
            <a:xfrm>
              <a:off x="1181100" y="5245100"/>
              <a:ext cx="4800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Check cost and incident targets.</a:t>
              </a:r>
              <a:endParaRPr lang="en-US" sz="1100" spc="0" kern="0" b="0" i="0" dirty="0">
                <a:solidFill>
                  <a:srgbClr val="50658E"/>
                </a:solidFill>
                <a:latin typeface="IBM Plex Sans"/>
                <a:ea typeface="IBM Plex Sans"/>
                <a:cs typeface="IBM Plex Sans"/>
              </a:endParaRPr>
            </a:p>
          </p:txBody>
        </p:sp>
      </p:grpSp>
      <p:grpSp>
        <p:nvGrpSpPr>
          <p:cNvPr id="61" name="node02"/>
          <p:cNvGrpSpPr/>
          <p:nvPr/>
        </p:nvGrpSpPr>
        <p:grpSpPr>
          <a:xfrm>
            <a:off x="6210300" y="1600200"/>
            <a:ext cx="5257800" cy="139700"/>
            <a:chOff x="6210300" y="1600200"/>
            <a:chExt cx="5257800" cy="139700"/>
          </a:xfrm>
        </p:grpSpPr>
        <p:sp>
          <p:nvSpPr>
            <p:cNvPr id="35" name="node02.text"/>
            <p:cNvSpPr/>
            <p:nvPr/>
          </p:nvSpPr>
          <p:spPr>
            <a:xfrm>
              <a:off x="6210300" y="1600200"/>
              <a:ext cx="5257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WHO TOOK PART</a:t>
              </a:r>
              <a:endParaRPr lang="en-US" sz="800" spc="48" kern="0" b="0" i="0" dirty="0">
                <a:solidFill>
                  <a:srgbClr val="50658E"/>
                </a:solidFill>
                <a:latin typeface="IBM Plex Mono Medium"/>
                <a:ea typeface="IBM Plex Mono Medium"/>
                <a:cs typeface="IBM Plex Mono Medium"/>
              </a:endParaRPr>
            </a:p>
          </p:txBody>
        </p:sp>
      </p:grpSp>
      <p:grpSp>
        <p:nvGrpSpPr>
          <p:cNvPr id="62" name="node03"/>
          <p:cNvGrpSpPr/>
          <p:nvPr/>
        </p:nvGrpSpPr>
        <p:grpSpPr>
          <a:xfrm>
            <a:off x="6210300" y="2057400"/>
            <a:ext cx="2514600" cy="457200"/>
            <a:chOff x="6210300" y="2057400"/>
            <a:chExt cx="2514600" cy="457200"/>
          </a:xfrm>
        </p:grpSpPr>
        <p:sp>
          <p:nvSpPr>
            <p:cNvPr id="36" name="node03.avatar"/>
            <p:cNvSpPr/>
            <p:nvPr/>
          </p:nvSpPr>
          <p:spPr>
            <a:xfrm>
              <a:off x="6210300" y="2057400"/>
              <a:ext cx="457200" cy="457200"/>
            </a:xfrm>
            <a:prstGeom prst="rect">
              <a:avLst/>
            </a:prstGeom>
            <a:solidFill>
              <a:srgbClr val="070154"/>
            </a:solidFill>
            <a:ln>
              <a:noFill/>
            </a:ln>
          </p:spPr>
        </p:sp>
        <p:sp>
          <p:nvSpPr>
            <p:cNvPr id="37" name="node03.initials"/>
            <p:cNvSpPr/>
            <p:nvPr/>
          </p:nvSpPr>
          <p:spPr>
            <a:xfrm>
              <a:off x="6210300" y="21780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MO</a:t>
              </a:r>
              <a:endParaRPr lang="en-US" sz="1200" spc="0" kern="0" b="0" i="0" dirty="0">
                <a:solidFill>
                  <a:srgbClr val="FFFFFF"/>
                </a:solidFill>
                <a:latin typeface="IBM Plex Sans SemiBold"/>
                <a:ea typeface="IBM Plex Sans SemiBold"/>
                <a:cs typeface="IBM Plex Sans SemiBold"/>
              </a:endParaRPr>
            </a:p>
          </p:txBody>
        </p:sp>
        <p:sp>
          <p:nvSpPr>
            <p:cNvPr id="38" name="node03.name"/>
            <p:cNvSpPr/>
            <p:nvPr/>
          </p:nvSpPr>
          <p:spPr>
            <a:xfrm>
              <a:off x="6819900" y="2063750"/>
              <a:ext cx="1905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Maya Okafor</a:t>
              </a:r>
              <a:endParaRPr lang="en-US" sz="1200" spc="0" kern="0" b="0" i="0" dirty="0">
                <a:solidFill>
                  <a:srgbClr val="070154"/>
                </a:solidFill>
                <a:latin typeface="IBM Plex Sans SemiBold"/>
                <a:ea typeface="IBM Plex Sans SemiBold"/>
                <a:cs typeface="IBM Plex Sans SemiBold"/>
              </a:endParaRPr>
            </a:p>
          </p:txBody>
        </p:sp>
        <p:sp>
          <p:nvSpPr>
            <p:cNvPr id="39" name="node03.role"/>
            <p:cNvSpPr/>
            <p:nvPr/>
          </p:nvSpPr>
          <p:spPr>
            <a:xfrm>
              <a:off x="6819900" y="2317750"/>
              <a:ext cx="1905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Chief architect</a:t>
              </a:r>
              <a:endParaRPr lang="en-US" sz="1100" spc="0" kern="0" b="0" i="0" dirty="0">
                <a:solidFill>
                  <a:srgbClr val="50658E"/>
                </a:solidFill>
                <a:latin typeface="IBM Plex Sans"/>
                <a:ea typeface="IBM Plex Sans"/>
                <a:cs typeface="IBM Plex Sans"/>
              </a:endParaRPr>
            </a:p>
          </p:txBody>
        </p:sp>
      </p:grpSp>
      <p:grpSp>
        <p:nvGrpSpPr>
          <p:cNvPr id="63" name="node04"/>
          <p:cNvGrpSpPr/>
          <p:nvPr/>
        </p:nvGrpSpPr>
        <p:grpSpPr>
          <a:xfrm>
            <a:off x="8953500" y="2057400"/>
            <a:ext cx="2514600" cy="457200"/>
            <a:chOff x="8953500" y="2057400"/>
            <a:chExt cx="2514600" cy="457200"/>
          </a:xfrm>
        </p:grpSpPr>
        <p:sp>
          <p:nvSpPr>
            <p:cNvPr id="40" name="node04.avatar"/>
            <p:cNvSpPr/>
            <p:nvPr/>
          </p:nvSpPr>
          <p:spPr>
            <a:xfrm>
              <a:off x="8953500" y="2057400"/>
              <a:ext cx="457200" cy="457200"/>
            </a:xfrm>
            <a:prstGeom prst="rect">
              <a:avLst/>
            </a:prstGeom>
            <a:solidFill>
              <a:srgbClr val="070154"/>
            </a:solidFill>
            <a:ln>
              <a:noFill/>
            </a:ln>
          </p:spPr>
        </p:sp>
        <p:sp>
          <p:nvSpPr>
            <p:cNvPr id="41" name="node04.initials"/>
            <p:cNvSpPr/>
            <p:nvPr/>
          </p:nvSpPr>
          <p:spPr>
            <a:xfrm>
              <a:off x="8953500" y="21780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LS</a:t>
              </a:r>
              <a:endParaRPr lang="en-US" sz="1200" spc="0" kern="0" b="0" i="0" dirty="0">
                <a:solidFill>
                  <a:srgbClr val="FFFFFF"/>
                </a:solidFill>
                <a:latin typeface="IBM Plex Sans SemiBold"/>
                <a:ea typeface="IBM Plex Sans SemiBold"/>
                <a:cs typeface="IBM Plex Sans SemiBold"/>
              </a:endParaRPr>
            </a:p>
          </p:txBody>
        </p:sp>
        <p:sp>
          <p:nvSpPr>
            <p:cNvPr id="42" name="node04.name"/>
            <p:cNvSpPr/>
            <p:nvPr/>
          </p:nvSpPr>
          <p:spPr>
            <a:xfrm>
              <a:off x="9563100" y="2063750"/>
              <a:ext cx="1905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Lena Soto</a:t>
              </a:r>
              <a:endParaRPr lang="en-US" sz="1200" spc="0" kern="0" b="0" i="0" dirty="0">
                <a:solidFill>
                  <a:srgbClr val="070154"/>
                </a:solidFill>
                <a:latin typeface="IBM Plex Sans SemiBold"/>
                <a:ea typeface="IBM Plex Sans SemiBold"/>
                <a:cs typeface="IBM Plex Sans SemiBold"/>
              </a:endParaRPr>
            </a:p>
          </p:txBody>
        </p:sp>
        <p:sp>
          <p:nvSpPr>
            <p:cNvPr id="43" name="node04.role"/>
            <p:cNvSpPr/>
            <p:nvPr/>
          </p:nvSpPr>
          <p:spPr>
            <a:xfrm>
              <a:off x="9563100" y="2317750"/>
              <a:ext cx="1905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Clinical informatics</a:t>
              </a:r>
              <a:endParaRPr lang="en-US" sz="1100" spc="0" kern="0" b="0" i="0" dirty="0">
                <a:solidFill>
                  <a:srgbClr val="50658E"/>
                </a:solidFill>
                <a:latin typeface="IBM Plex Sans"/>
                <a:ea typeface="IBM Plex Sans"/>
                <a:cs typeface="IBM Plex Sans"/>
              </a:endParaRPr>
            </a:p>
          </p:txBody>
        </p:sp>
      </p:grpSp>
      <p:grpSp>
        <p:nvGrpSpPr>
          <p:cNvPr id="64" name="node05"/>
          <p:cNvGrpSpPr/>
          <p:nvPr/>
        </p:nvGrpSpPr>
        <p:grpSpPr>
          <a:xfrm>
            <a:off x="6210300" y="2971800"/>
            <a:ext cx="2514600" cy="457200"/>
            <a:chOff x="6210300" y="2971800"/>
            <a:chExt cx="2514600" cy="457200"/>
          </a:xfrm>
        </p:grpSpPr>
        <p:sp>
          <p:nvSpPr>
            <p:cNvPr id="44" name="node05.avatar"/>
            <p:cNvSpPr/>
            <p:nvPr/>
          </p:nvSpPr>
          <p:spPr>
            <a:xfrm>
              <a:off x="6210300" y="2971800"/>
              <a:ext cx="457200" cy="457200"/>
            </a:xfrm>
            <a:prstGeom prst="rect">
              <a:avLst/>
            </a:prstGeom>
            <a:solidFill>
              <a:srgbClr val="070154"/>
            </a:solidFill>
            <a:ln>
              <a:noFill/>
            </a:ln>
          </p:spPr>
        </p:sp>
        <p:sp>
          <p:nvSpPr>
            <p:cNvPr id="45" name="node05.initials"/>
            <p:cNvSpPr/>
            <p:nvPr/>
          </p:nvSpPr>
          <p:spPr>
            <a:xfrm>
              <a:off x="6210300" y="3092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DH</a:t>
              </a:r>
              <a:endParaRPr lang="en-US" sz="1200" spc="0" kern="0" b="0" i="0" dirty="0">
                <a:solidFill>
                  <a:srgbClr val="FFFFFF"/>
                </a:solidFill>
                <a:latin typeface="IBM Plex Sans SemiBold"/>
                <a:ea typeface="IBM Plex Sans SemiBold"/>
                <a:cs typeface="IBM Plex Sans SemiBold"/>
              </a:endParaRPr>
            </a:p>
          </p:txBody>
        </p:sp>
        <p:sp>
          <p:nvSpPr>
            <p:cNvPr id="46" name="node05.name"/>
            <p:cNvSpPr/>
            <p:nvPr/>
          </p:nvSpPr>
          <p:spPr>
            <a:xfrm>
              <a:off x="6819900" y="2978150"/>
              <a:ext cx="1905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Dev Hartley</a:t>
              </a:r>
              <a:endParaRPr lang="en-US" sz="1200" spc="0" kern="0" b="0" i="0" dirty="0">
                <a:solidFill>
                  <a:srgbClr val="070154"/>
                </a:solidFill>
                <a:latin typeface="IBM Plex Sans SemiBold"/>
                <a:ea typeface="IBM Plex Sans SemiBold"/>
                <a:cs typeface="IBM Plex Sans SemiBold"/>
              </a:endParaRPr>
            </a:p>
          </p:txBody>
        </p:sp>
        <p:sp>
          <p:nvSpPr>
            <p:cNvPr id="47" name="node05.role"/>
            <p:cNvSpPr/>
            <p:nvPr/>
          </p:nvSpPr>
          <p:spPr>
            <a:xfrm>
              <a:off x="6819900" y="3232150"/>
              <a:ext cx="1905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Platform lead</a:t>
              </a:r>
              <a:endParaRPr lang="en-US" sz="1100" spc="0" kern="0" b="0" i="0" dirty="0">
                <a:solidFill>
                  <a:srgbClr val="50658E"/>
                </a:solidFill>
                <a:latin typeface="IBM Plex Sans"/>
                <a:ea typeface="IBM Plex Sans"/>
                <a:cs typeface="IBM Plex Sans"/>
              </a:endParaRPr>
            </a:p>
          </p:txBody>
        </p:sp>
      </p:grpSp>
      <p:grpSp>
        <p:nvGrpSpPr>
          <p:cNvPr id="65" name="node06"/>
          <p:cNvGrpSpPr/>
          <p:nvPr/>
        </p:nvGrpSpPr>
        <p:grpSpPr>
          <a:xfrm>
            <a:off x="8953500" y="2971800"/>
            <a:ext cx="2514600" cy="457200"/>
            <a:chOff x="8953500" y="2971800"/>
            <a:chExt cx="2514600" cy="457200"/>
          </a:xfrm>
        </p:grpSpPr>
        <p:sp>
          <p:nvSpPr>
            <p:cNvPr id="48" name="node06.avatar"/>
            <p:cNvSpPr/>
            <p:nvPr/>
          </p:nvSpPr>
          <p:spPr>
            <a:xfrm>
              <a:off x="8953500" y="2971800"/>
              <a:ext cx="457200" cy="457200"/>
            </a:xfrm>
            <a:prstGeom prst="rect">
              <a:avLst/>
            </a:prstGeom>
            <a:solidFill>
              <a:srgbClr val="070154"/>
            </a:solidFill>
            <a:ln>
              <a:noFill/>
            </a:ln>
          </p:spPr>
        </p:sp>
        <p:sp>
          <p:nvSpPr>
            <p:cNvPr id="49" name="node06.initials"/>
            <p:cNvSpPr/>
            <p:nvPr/>
          </p:nvSpPr>
          <p:spPr>
            <a:xfrm>
              <a:off x="8953500" y="3092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RK</a:t>
              </a:r>
              <a:endParaRPr lang="en-US" sz="1200" spc="0" kern="0" b="0" i="0" dirty="0">
                <a:solidFill>
                  <a:srgbClr val="FFFFFF"/>
                </a:solidFill>
                <a:latin typeface="IBM Plex Sans SemiBold"/>
                <a:ea typeface="IBM Plex Sans SemiBold"/>
                <a:cs typeface="IBM Plex Sans SemiBold"/>
              </a:endParaRPr>
            </a:p>
          </p:txBody>
        </p:sp>
        <p:sp>
          <p:nvSpPr>
            <p:cNvPr id="50" name="node06.name"/>
            <p:cNvSpPr/>
            <p:nvPr/>
          </p:nvSpPr>
          <p:spPr>
            <a:xfrm>
              <a:off x="9563100" y="2978150"/>
              <a:ext cx="1905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Rui Kato</a:t>
              </a:r>
              <a:endParaRPr lang="en-US" sz="1200" spc="0" kern="0" b="0" i="0" dirty="0">
                <a:solidFill>
                  <a:srgbClr val="070154"/>
                </a:solidFill>
                <a:latin typeface="IBM Plex Sans SemiBold"/>
                <a:ea typeface="IBM Plex Sans SemiBold"/>
                <a:cs typeface="IBM Plex Sans SemiBold"/>
              </a:endParaRPr>
            </a:p>
          </p:txBody>
        </p:sp>
        <p:sp>
          <p:nvSpPr>
            <p:cNvPr id="51" name="node06.role"/>
            <p:cNvSpPr/>
            <p:nvPr/>
          </p:nvSpPr>
          <p:spPr>
            <a:xfrm>
              <a:off x="9563100" y="3232150"/>
              <a:ext cx="1905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Finance partner</a:t>
              </a:r>
              <a:endParaRPr lang="en-US" sz="1100" spc="0" kern="0" b="0" i="0" dirty="0">
                <a:solidFill>
                  <a:srgbClr val="50658E"/>
                </a:solidFill>
                <a:latin typeface="IBM Plex Sans"/>
                <a:ea typeface="IBM Plex Sans"/>
                <a:cs typeface="IBM Plex Sans"/>
              </a:endParaRPr>
            </a:p>
          </p:txBody>
        </p:sp>
      </p:grpSp>
      <p:sp>
        <p:nvSpPr>
          <p:cNvPr id="52" name="node07"/>
          <p:cNvSpPr/>
          <p:nvPr/>
        </p:nvSpPr>
        <p:spPr>
          <a:xfrm>
            <a:off x="6210300" y="3886200"/>
            <a:ext cx="5257800" cy="9525"/>
          </a:xfrm>
          <a:prstGeom prst="rect">
            <a:avLst/>
          </a:prstGeom>
          <a:solidFill>
            <a:srgbClr val="CED7E6"/>
          </a:solidFill>
          <a:ln>
            <a:noFill/>
          </a:ln>
        </p:spPr>
      </p:sp>
      <p:grpSp>
        <p:nvGrpSpPr>
          <p:cNvPr id="66" name="node08"/>
          <p:cNvGrpSpPr/>
          <p:nvPr/>
        </p:nvGrpSpPr>
        <p:grpSpPr>
          <a:xfrm>
            <a:off x="6210300" y="4114800"/>
            <a:ext cx="5257800" cy="139700"/>
            <a:chOff x="6210300" y="4114800"/>
            <a:chExt cx="5257800" cy="139700"/>
          </a:xfrm>
        </p:grpSpPr>
        <p:sp>
          <p:nvSpPr>
            <p:cNvPr id="53" name="node08.text"/>
            <p:cNvSpPr/>
            <p:nvPr/>
          </p:nvSpPr>
          <p:spPr>
            <a:xfrm>
              <a:off x="6210300" y="4114800"/>
              <a:ext cx="5257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EVIDENCE REVIEWED</a:t>
              </a:r>
              <a:endParaRPr lang="en-US" sz="800" spc="48" kern="0" b="0" i="0" dirty="0">
                <a:solidFill>
                  <a:srgbClr val="50658E"/>
                </a:solidFill>
                <a:latin typeface="IBM Plex Mono Medium"/>
                <a:ea typeface="IBM Plex Mono Medium"/>
                <a:cs typeface="IBM Plex Mono Medium"/>
              </a:endParaRPr>
            </a:p>
          </p:txBody>
        </p:sp>
      </p:grpSp>
      <p:grpSp>
        <p:nvGrpSpPr>
          <p:cNvPr id="67" name="node09"/>
          <p:cNvGrpSpPr/>
          <p:nvPr/>
        </p:nvGrpSpPr>
        <p:grpSpPr>
          <a:xfrm>
            <a:off x="6210300" y="4343400"/>
            <a:ext cx="5257800" cy="723900"/>
            <a:chOff x="6210300" y="4343400"/>
            <a:chExt cx="5257800" cy="723900"/>
          </a:xfrm>
        </p:grpSpPr>
        <p:sp>
          <p:nvSpPr>
            <p:cNvPr id="54" name="node09.source-001.bullet"/>
            <p:cNvSpPr/>
            <p:nvPr/>
          </p:nvSpPr>
          <p:spPr>
            <a:xfrm>
              <a:off x="6210300" y="4432300"/>
              <a:ext cx="38100" cy="38100"/>
            </a:xfrm>
            <a:prstGeom prst="rect">
              <a:avLst/>
            </a:prstGeom>
            <a:solidFill>
              <a:srgbClr val="070154"/>
            </a:solidFill>
            <a:ln>
              <a:noFill/>
            </a:ln>
          </p:spPr>
        </p:sp>
        <p:sp>
          <p:nvSpPr>
            <p:cNvPr id="55" name="node09.source-001.text"/>
            <p:cNvSpPr/>
            <p:nvPr/>
          </p:nvSpPr>
          <p:spPr>
            <a:xfrm>
              <a:off x="6362700" y="4343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Integration incident log, last 12 months</a:t>
              </a:r>
              <a:endParaRPr lang="en-US" sz="1200" spc="0" kern="0" b="0" i="0" dirty="0">
                <a:solidFill>
                  <a:srgbClr val="070154"/>
                </a:solidFill>
                <a:latin typeface="IBM Plex Sans"/>
                <a:ea typeface="IBM Plex Sans"/>
                <a:cs typeface="IBM Plex Sans"/>
              </a:endParaRPr>
            </a:p>
          </p:txBody>
        </p:sp>
        <p:sp>
          <p:nvSpPr>
            <p:cNvPr id="56" name="node09.source-002.bullet"/>
            <p:cNvSpPr/>
            <p:nvPr/>
          </p:nvSpPr>
          <p:spPr>
            <a:xfrm>
              <a:off x="6210300" y="4686300"/>
              <a:ext cx="38100" cy="38100"/>
            </a:xfrm>
            <a:prstGeom prst="rect">
              <a:avLst/>
            </a:prstGeom>
            <a:solidFill>
              <a:srgbClr val="070154"/>
            </a:solidFill>
            <a:ln>
              <a:noFill/>
            </a:ln>
          </p:spPr>
        </p:sp>
        <p:sp>
          <p:nvSpPr>
            <p:cNvPr id="57" name="node09.source-002.text"/>
            <p:cNvSpPr/>
            <p:nvPr/>
          </p:nvSpPr>
          <p:spPr>
            <a:xfrm>
              <a:off x="6362700" y="4597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Cost model for all three options</a:t>
              </a:r>
              <a:endParaRPr lang="en-US" sz="1200" spc="0" kern="0" b="0" i="0" dirty="0">
                <a:solidFill>
                  <a:srgbClr val="070154"/>
                </a:solidFill>
                <a:latin typeface="IBM Plex Sans"/>
                <a:ea typeface="IBM Plex Sans"/>
                <a:cs typeface="IBM Plex Sans"/>
              </a:endParaRPr>
            </a:p>
          </p:txBody>
        </p:sp>
        <p:sp>
          <p:nvSpPr>
            <p:cNvPr id="58" name="node09.source-003.bullet"/>
            <p:cNvSpPr/>
            <p:nvPr/>
          </p:nvSpPr>
          <p:spPr>
            <a:xfrm>
              <a:off x="6210300" y="4940300"/>
              <a:ext cx="38100" cy="38100"/>
            </a:xfrm>
            <a:prstGeom prst="rect">
              <a:avLst/>
            </a:prstGeom>
            <a:solidFill>
              <a:srgbClr val="070154"/>
            </a:solidFill>
            <a:ln>
              <a:noFill/>
            </a:ln>
          </p:spPr>
        </p:sp>
        <p:sp>
          <p:nvSpPr>
            <p:cNvPr id="59" name="node09.source-003.text"/>
            <p:cNvSpPr/>
            <p:nvPr/>
          </p:nvSpPr>
          <p:spPr>
            <a:xfrm>
              <a:off x="6362700" y="4851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Architecture workshop scores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ource-51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SUPERSEDED DECISION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ADR-014 replaces the 2024 choice of point-to-point feeds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128</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1600200"/>
            <a:ext cx="4800600" cy="2286000"/>
            <a:chOff x="723900" y="1600200"/>
            <a:chExt cx="4800600" cy="2286000"/>
          </a:xfrm>
        </p:grpSpPr>
        <p:sp>
          <p:nvSpPr>
            <p:cNvPr id="6" name="node01.container"/>
            <p:cNvSpPr/>
            <p:nvPr/>
          </p:nvSpPr>
          <p:spPr>
            <a:xfrm>
              <a:off x="723900" y="1600200"/>
              <a:ext cx="4800600" cy="2286000"/>
            </a:xfrm>
            <a:prstGeom prst="rect">
              <a:avLst/>
            </a:prstGeom>
            <a:solidFill>
              <a:srgbClr val="E8EEF8"/>
            </a:solidFill>
            <a:ln>
              <a:noFill/>
            </a:ln>
          </p:spPr>
        </p:sp>
        <p:sp>
          <p:nvSpPr>
            <p:cNvPr id="7" name="node01.label"/>
            <p:cNvSpPr/>
            <p:nvPr/>
          </p:nvSpPr>
          <p:spPr>
            <a:xfrm>
              <a:off x="952500" y="1828800"/>
              <a:ext cx="4343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SUPERSEDED · ADR-009 · MAR 2024</a:t>
              </a:r>
              <a:endParaRPr lang="en-US" sz="800" spc="48" kern="0" b="0" i="0" dirty="0">
                <a:solidFill>
                  <a:srgbClr val="0047FF"/>
                </a:solidFill>
                <a:latin typeface="IBM Plex Mono Medium"/>
                <a:ea typeface="IBM Plex Mono Medium"/>
                <a:cs typeface="IBM Plex Mono Medium"/>
              </a:endParaRPr>
            </a:p>
          </p:txBody>
        </p:sp>
        <p:sp>
          <p:nvSpPr>
            <p:cNvPr id="8" name="node01.title"/>
            <p:cNvSpPr/>
            <p:nvPr/>
          </p:nvSpPr>
          <p:spPr>
            <a:xfrm>
              <a:off x="952500" y="2044700"/>
              <a:ext cx="4343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Point-to-point HL7 feeds</a:t>
              </a:r>
              <a:endParaRPr lang="en-US" sz="1600" spc="-16" kern="0" b="0" i="0" dirty="0">
                <a:solidFill>
                  <a:srgbClr val="070154"/>
                </a:solidFill>
                <a:latin typeface="IBM Plex Sans SemiBold"/>
                <a:ea typeface="IBM Plex Sans SemiBold"/>
                <a:cs typeface="IBM Plex Sans SemiBold"/>
              </a:endParaRPr>
            </a:p>
          </p:txBody>
        </p:sp>
        <p:sp>
          <p:nvSpPr>
            <p:cNvPr id="9" name="node01.body.item-001.bullets.item-001.marker"/>
            <p:cNvSpPr/>
            <p:nvPr/>
          </p:nvSpPr>
          <p:spPr>
            <a:xfrm>
              <a:off x="952500" y="2552700"/>
              <a:ext cx="38100" cy="38100"/>
            </a:xfrm>
            <a:prstGeom prst="rect">
              <a:avLst/>
            </a:prstGeom>
            <a:solidFill>
              <a:srgbClr val="070154"/>
            </a:solidFill>
            <a:ln>
              <a:noFill/>
            </a:ln>
          </p:spPr>
        </p:sp>
        <p:sp>
          <p:nvSpPr>
            <p:cNvPr id="10" name="node01.body.item-001.bullets.item-001.text"/>
            <p:cNvSpPr/>
            <p:nvPr/>
          </p:nvSpPr>
          <p:spPr>
            <a:xfrm>
              <a:off x="1104900" y="24638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Each system connects directly to the others</a:t>
              </a:r>
              <a:endParaRPr lang="en-US" sz="1200" spc="0" kern="0" b="0" i="0" dirty="0">
                <a:solidFill>
                  <a:srgbClr val="070154"/>
                </a:solidFill>
                <a:latin typeface="IBM Plex Sans"/>
                <a:ea typeface="IBM Plex Sans"/>
                <a:cs typeface="IBM Plex Sans"/>
              </a:endParaRPr>
            </a:p>
          </p:txBody>
        </p:sp>
        <p:sp>
          <p:nvSpPr>
            <p:cNvPr id="11" name="node01.body.item-001.bullets.item-002.marker"/>
            <p:cNvSpPr/>
            <p:nvPr/>
          </p:nvSpPr>
          <p:spPr>
            <a:xfrm>
              <a:off x="952500" y="2806700"/>
              <a:ext cx="38100" cy="38100"/>
            </a:xfrm>
            <a:prstGeom prst="rect">
              <a:avLst/>
            </a:prstGeom>
            <a:solidFill>
              <a:srgbClr val="070154"/>
            </a:solidFill>
            <a:ln>
              <a:noFill/>
            </a:ln>
          </p:spPr>
        </p:sp>
        <p:sp>
          <p:nvSpPr>
            <p:cNvPr id="12" name="node01.body.item-001.bullets.item-002.text"/>
            <p:cNvSpPr/>
            <p:nvPr/>
          </p:nvSpPr>
          <p:spPr>
            <a:xfrm>
              <a:off x="1104900" y="27178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Chosen when Northfield ran 6 systems</a:t>
              </a:r>
              <a:endParaRPr lang="en-US" sz="1200" spc="0" kern="0" b="0" i="0" dirty="0">
                <a:solidFill>
                  <a:srgbClr val="070154"/>
                </a:solidFill>
                <a:latin typeface="IBM Plex Sans"/>
                <a:ea typeface="IBM Plex Sans"/>
                <a:cs typeface="IBM Plex Sans"/>
              </a:endParaRPr>
            </a:p>
          </p:txBody>
        </p:sp>
        <p:sp>
          <p:nvSpPr>
            <p:cNvPr id="13" name="node01.body.item-001.bullets.item-003.marker"/>
            <p:cNvSpPr/>
            <p:nvPr/>
          </p:nvSpPr>
          <p:spPr>
            <a:xfrm>
              <a:off x="952500" y="3060700"/>
              <a:ext cx="38100" cy="38100"/>
            </a:xfrm>
            <a:prstGeom prst="rect">
              <a:avLst/>
            </a:prstGeom>
            <a:solidFill>
              <a:srgbClr val="070154"/>
            </a:solidFill>
            <a:ln>
              <a:noFill/>
            </a:ln>
          </p:spPr>
        </p:sp>
        <p:sp>
          <p:nvSpPr>
            <p:cNvPr id="14" name="node01.body.item-001.bullets.item-003.text"/>
            <p:cNvSpPr/>
            <p:nvPr/>
          </p:nvSpPr>
          <p:spPr>
            <a:xfrm>
              <a:off x="1104900" y="29718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Retired in 3 waves from Q1 2027</a:t>
              </a:r>
              <a:endParaRPr lang="en-US" sz="1200" spc="0" kern="0" b="0" i="0" dirty="0">
                <a:solidFill>
                  <a:srgbClr val="070154"/>
                </a:solidFill>
                <a:latin typeface="IBM Plex Sans"/>
                <a:ea typeface="IBM Plex Sans"/>
                <a:cs typeface="IBM Plex Sans"/>
              </a:endParaRPr>
            </a:p>
          </p:txBody>
        </p:sp>
      </p:grpSp>
      <p:grpSp>
        <p:nvGrpSpPr>
          <p:cNvPr id="34" name="node02"/>
          <p:cNvGrpSpPr/>
          <p:nvPr/>
        </p:nvGrpSpPr>
        <p:grpSpPr>
          <a:xfrm>
            <a:off x="5753100" y="2628900"/>
            <a:ext cx="685800" cy="129674"/>
            <a:chOff x="5753100" y="2628900"/>
            <a:chExt cx="685800" cy="129674"/>
          </a:xfrm>
        </p:grpSpPr>
        <p:pic>
          <p:nvPicPr>
            <p:cNvPr id="15" name="node02.mark" descr="arrow-straight; canonical SHA256=115a8f5079b158c346e9f9ca6c6eeecb7567bbab70f4cd058c365f09ed10290e;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53100" y="2628900"/>
              <a:ext cx="685800" cy="129674"/>
            </a:xfrm>
            <a:prstGeom prst="rect">
              <a:avLst/>
            </a:prstGeom>
          </p:spPr>
        </p:pic>
      </p:grpSp>
      <p:grpSp>
        <p:nvGrpSpPr>
          <p:cNvPr id="35" name="node03"/>
          <p:cNvGrpSpPr/>
          <p:nvPr/>
        </p:nvGrpSpPr>
        <p:grpSpPr>
          <a:xfrm>
            <a:off x="6667500" y="1600200"/>
            <a:ext cx="4800600" cy="2286000"/>
            <a:chOff x="6667500" y="1600200"/>
            <a:chExt cx="4800600" cy="2286000"/>
          </a:xfrm>
        </p:grpSpPr>
        <p:sp>
          <p:nvSpPr>
            <p:cNvPr id="16" name="node03.container"/>
            <p:cNvSpPr/>
            <p:nvPr/>
          </p:nvSpPr>
          <p:spPr>
            <a:xfrm>
              <a:off x="6667500" y="1600200"/>
              <a:ext cx="4800600" cy="2286000"/>
            </a:xfrm>
            <a:prstGeom prst="rect">
              <a:avLst/>
            </a:prstGeom>
            <a:solidFill>
              <a:srgbClr val="070154"/>
            </a:solidFill>
            <a:ln>
              <a:noFill/>
            </a:ln>
          </p:spPr>
        </p:sp>
        <p:sp>
          <p:nvSpPr>
            <p:cNvPr id="17" name="node03.label"/>
            <p:cNvSpPr/>
            <p:nvPr/>
          </p:nvSpPr>
          <p:spPr>
            <a:xfrm>
              <a:off x="6896100" y="1828800"/>
              <a:ext cx="4343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CURRENT · ADR-014 · SEP 2026</a:t>
              </a:r>
              <a:endParaRPr lang="en-US" sz="800" spc="48" kern="0" b="0" i="0" dirty="0">
                <a:solidFill>
                  <a:srgbClr val="F900D3"/>
                </a:solidFill>
                <a:latin typeface="IBM Plex Mono Medium"/>
                <a:ea typeface="IBM Plex Mono Medium"/>
                <a:cs typeface="IBM Plex Mono Medium"/>
              </a:endParaRPr>
            </a:p>
          </p:txBody>
        </p:sp>
        <p:sp>
          <p:nvSpPr>
            <p:cNvPr id="18" name="node03.title"/>
            <p:cNvSpPr/>
            <p:nvPr/>
          </p:nvSpPr>
          <p:spPr>
            <a:xfrm>
              <a:off x="6896100" y="2044700"/>
              <a:ext cx="4343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Shared event bus</a:t>
              </a:r>
              <a:endParaRPr lang="en-US" sz="1600" spc="-16" kern="0" b="0" i="0" dirty="0">
                <a:solidFill>
                  <a:srgbClr val="FFFFFF"/>
                </a:solidFill>
                <a:latin typeface="IBM Plex Sans SemiBold"/>
                <a:ea typeface="IBM Plex Sans SemiBold"/>
                <a:cs typeface="IBM Plex Sans SemiBold"/>
              </a:endParaRPr>
            </a:p>
          </p:txBody>
        </p:sp>
        <p:sp>
          <p:nvSpPr>
            <p:cNvPr id="19" name="node03.body.item-001.bullets.item-001.marker"/>
            <p:cNvSpPr/>
            <p:nvPr/>
          </p:nvSpPr>
          <p:spPr>
            <a:xfrm>
              <a:off x="6896100" y="2552700"/>
              <a:ext cx="38100" cy="38100"/>
            </a:xfrm>
            <a:prstGeom prst="rect">
              <a:avLst/>
            </a:prstGeom>
            <a:solidFill>
              <a:srgbClr val="FFFFFF"/>
            </a:solidFill>
            <a:ln>
              <a:noFill/>
            </a:ln>
          </p:spPr>
        </p:sp>
        <p:sp>
          <p:nvSpPr>
            <p:cNvPr id="20" name="node03.body.item-001.bullets.item-001.text"/>
            <p:cNvSpPr/>
            <p:nvPr/>
          </p:nvSpPr>
          <p:spPr>
            <a:xfrm>
              <a:off x="7048500" y="24638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Systems publish and subscribe to events</a:t>
              </a:r>
              <a:endParaRPr lang="en-US" sz="1200" spc="0" kern="0" b="0" i="0" dirty="0">
                <a:solidFill>
                  <a:srgbClr val="FFFFFF"/>
                </a:solidFill>
                <a:latin typeface="IBM Plex Sans"/>
                <a:ea typeface="IBM Plex Sans"/>
                <a:cs typeface="IBM Plex Sans"/>
              </a:endParaRPr>
            </a:p>
          </p:txBody>
        </p:sp>
        <p:sp>
          <p:nvSpPr>
            <p:cNvPr id="21" name="node03.body.item-001.bullets.item-002.marker"/>
            <p:cNvSpPr/>
            <p:nvPr/>
          </p:nvSpPr>
          <p:spPr>
            <a:xfrm>
              <a:off x="6896100" y="2806700"/>
              <a:ext cx="38100" cy="38100"/>
            </a:xfrm>
            <a:prstGeom prst="rect">
              <a:avLst/>
            </a:prstGeom>
            <a:solidFill>
              <a:srgbClr val="FFFFFF"/>
            </a:solidFill>
            <a:ln>
              <a:noFill/>
            </a:ln>
          </p:spPr>
        </p:sp>
        <p:sp>
          <p:nvSpPr>
            <p:cNvPr id="22" name="node03.body.item-001.bullets.item-002.text"/>
            <p:cNvSpPr/>
            <p:nvPr/>
          </p:nvSpPr>
          <p:spPr>
            <a:xfrm>
              <a:off x="7048500" y="27178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Fits 14 systems and growing</a:t>
              </a:r>
              <a:endParaRPr lang="en-US" sz="1200" spc="0" kern="0" b="0" i="0" dirty="0">
                <a:solidFill>
                  <a:srgbClr val="FFFFFF"/>
                </a:solidFill>
                <a:latin typeface="IBM Plex Sans"/>
                <a:ea typeface="IBM Plex Sans"/>
                <a:cs typeface="IBM Plex Sans"/>
              </a:endParaRPr>
            </a:p>
          </p:txBody>
        </p:sp>
        <p:sp>
          <p:nvSpPr>
            <p:cNvPr id="23" name="node03.body.item-001.bullets.item-003.marker"/>
            <p:cNvSpPr/>
            <p:nvPr/>
          </p:nvSpPr>
          <p:spPr>
            <a:xfrm>
              <a:off x="6896100" y="3060700"/>
              <a:ext cx="38100" cy="38100"/>
            </a:xfrm>
            <a:prstGeom prst="rect">
              <a:avLst/>
            </a:prstGeom>
            <a:solidFill>
              <a:srgbClr val="FFFFFF"/>
            </a:solidFill>
            <a:ln>
              <a:noFill/>
            </a:ln>
          </p:spPr>
        </p:sp>
        <p:sp>
          <p:nvSpPr>
            <p:cNvPr id="24" name="node03.body.item-001.bullets.item-003.text"/>
            <p:cNvSpPr/>
            <p:nvPr/>
          </p:nvSpPr>
          <p:spPr>
            <a:xfrm>
              <a:off x="7048500" y="29718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Owned by the platform team</a:t>
              </a:r>
              <a:endParaRPr lang="en-US" sz="1200" spc="0" kern="0" b="0" i="0" dirty="0">
                <a:solidFill>
                  <a:srgbClr val="FFFFFF"/>
                </a:solidFill>
                <a:latin typeface="IBM Plex Sans"/>
                <a:ea typeface="IBM Plex Sans"/>
                <a:cs typeface="IBM Plex Sans"/>
              </a:endParaRPr>
            </a:p>
          </p:txBody>
        </p:sp>
      </p:grpSp>
      <p:sp>
        <p:nvSpPr>
          <p:cNvPr id="25" name="node04"/>
          <p:cNvSpPr/>
          <p:nvPr/>
        </p:nvSpPr>
        <p:spPr>
          <a:xfrm>
            <a:off x="723900" y="4114800"/>
            <a:ext cx="10744200" cy="9525"/>
          </a:xfrm>
          <a:prstGeom prst="rect">
            <a:avLst/>
          </a:prstGeom>
          <a:solidFill>
            <a:srgbClr val="CED7E6"/>
          </a:solidFill>
          <a:ln>
            <a:noFill/>
          </a:ln>
        </p:spPr>
      </p:sp>
      <p:grpSp>
        <p:nvGrpSpPr>
          <p:cNvPr id="36" name="node05"/>
          <p:cNvGrpSpPr/>
          <p:nvPr/>
        </p:nvGrpSpPr>
        <p:grpSpPr>
          <a:xfrm>
            <a:off x="723900" y="4343400"/>
            <a:ext cx="10744200" cy="139700"/>
            <a:chOff x="723900" y="4343400"/>
            <a:chExt cx="10744200" cy="139700"/>
          </a:xfrm>
        </p:grpSpPr>
        <p:sp>
          <p:nvSpPr>
            <p:cNvPr id="26" name="node05.text"/>
            <p:cNvSpPr/>
            <p:nvPr/>
          </p:nvSpPr>
          <p:spPr>
            <a:xfrm>
              <a:off x="723900" y="4343400"/>
              <a:ext cx="1074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WHY IT CHANGED</a:t>
              </a:r>
              <a:endParaRPr lang="en-US" sz="800" spc="48" kern="0" b="0" i="0" dirty="0">
                <a:solidFill>
                  <a:srgbClr val="50658E"/>
                </a:solidFill>
                <a:latin typeface="IBM Plex Mono Medium"/>
                <a:ea typeface="IBM Plex Mono Medium"/>
                <a:cs typeface="IBM Plex Mono Medium"/>
              </a:endParaRPr>
            </a:p>
          </p:txBody>
        </p:sp>
      </p:grpSp>
      <p:grpSp>
        <p:nvGrpSpPr>
          <p:cNvPr id="37" name="node06"/>
          <p:cNvGrpSpPr/>
          <p:nvPr/>
        </p:nvGrpSpPr>
        <p:grpSpPr>
          <a:xfrm>
            <a:off x="723900" y="4572000"/>
            <a:ext cx="3429000" cy="774700"/>
            <a:chOff x="723900" y="4572000"/>
            <a:chExt cx="3429000" cy="774700"/>
          </a:xfrm>
        </p:grpSpPr>
        <p:sp>
          <p:nvSpPr>
            <p:cNvPr id="27" name="node06.title"/>
            <p:cNvSpPr/>
            <p:nvPr/>
          </p:nvSpPr>
          <p:spPr>
            <a:xfrm>
              <a:off x="723900" y="45720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The estate outgrew it</a:t>
              </a:r>
              <a:endParaRPr lang="en-US" sz="1600" spc="-16" kern="0" b="0" i="0" dirty="0">
                <a:solidFill>
                  <a:srgbClr val="070154"/>
                </a:solidFill>
                <a:latin typeface="IBM Plex Sans SemiBold"/>
                <a:ea typeface="IBM Plex Sans SemiBold"/>
                <a:cs typeface="IBM Plex Sans SemiBold"/>
              </a:endParaRPr>
            </a:p>
          </p:txBody>
        </p:sp>
        <p:sp>
          <p:nvSpPr>
            <p:cNvPr id="28" name="node06.body"/>
            <p:cNvSpPr/>
            <p:nvPr/>
          </p:nvSpPr>
          <p:spPr>
            <a:xfrm>
              <a:off x="723900" y="4914900"/>
              <a:ext cx="3429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Systems grew from 6 to 14 and feeds from 9 to 61.</a:t>
              </a:r>
              <a:endParaRPr lang="en-US" sz="1200" spc="0" kern="0" b="0" i="0" dirty="0">
                <a:solidFill>
                  <a:srgbClr val="50658E"/>
                </a:solidFill>
                <a:latin typeface="IBM Plex Sans"/>
                <a:ea typeface="IBM Plex Sans"/>
                <a:cs typeface="IBM Plex Sans"/>
              </a:endParaRPr>
            </a:p>
          </p:txBody>
        </p:sp>
      </p:grpSp>
      <p:grpSp>
        <p:nvGrpSpPr>
          <p:cNvPr id="38" name="node07"/>
          <p:cNvGrpSpPr/>
          <p:nvPr/>
        </p:nvGrpSpPr>
        <p:grpSpPr>
          <a:xfrm>
            <a:off x="4381500" y="4572000"/>
            <a:ext cx="3429000" cy="774700"/>
            <a:chOff x="4381500" y="4572000"/>
            <a:chExt cx="3429000" cy="774700"/>
          </a:xfrm>
        </p:grpSpPr>
        <p:sp>
          <p:nvSpPr>
            <p:cNvPr id="29" name="node07.title"/>
            <p:cNvSpPr/>
            <p:nvPr/>
          </p:nvSpPr>
          <p:spPr>
            <a:xfrm>
              <a:off x="4381500" y="45720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Incidents followed feeds</a:t>
              </a:r>
              <a:endParaRPr lang="en-US" sz="1600" spc="-16" kern="0" b="0" i="0" dirty="0">
                <a:solidFill>
                  <a:srgbClr val="070154"/>
                </a:solidFill>
                <a:latin typeface="IBM Plex Sans SemiBold"/>
                <a:ea typeface="IBM Plex Sans SemiBold"/>
                <a:cs typeface="IBM Plex Sans SemiBold"/>
              </a:endParaRPr>
            </a:p>
          </p:txBody>
        </p:sp>
        <p:sp>
          <p:nvSpPr>
            <p:cNvPr id="30" name="node07.body"/>
            <p:cNvSpPr/>
            <p:nvPr/>
          </p:nvSpPr>
          <p:spPr>
            <a:xfrm>
              <a:off x="4381500" y="4914900"/>
              <a:ext cx="3429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Most clinical interface incidents traced to one broken feed.</a:t>
              </a:r>
              <a:endParaRPr lang="en-US" sz="1200" spc="0" kern="0" b="0" i="0" dirty="0">
                <a:solidFill>
                  <a:srgbClr val="50658E"/>
                </a:solidFill>
                <a:latin typeface="IBM Plex Sans"/>
                <a:ea typeface="IBM Plex Sans"/>
                <a:cs typeface="IBM Plex Sans"/>
              </a:endParaRPr>
            </a:p>
          </p:txBody>
        </p:sp>
      </p:grpSp>
      <p:grpSp>
        <p:nvGrpSpPr>
          <p:cNvPr id="39" name="node08"/>
          <p:cNvGrpSpPr/>
          <p:nvPr/>
        </p:nvGrpSpPr>
        <p:grpSpPr>
          <a:xfrm>
            <a:off x="8039100" y="4572000"/>
            <a:ext cx="3429000" cy="774700"/>
            <a:chOff x="8039100" y="4572000"/>
            <a:chExt cx="3429000" cy="774700"/>
          </a:xfrm>
        </p:grpSpPr>
        <p:sp>
          <p:nvSpPr>
            <p:cNvPr id="31" name="node08.title"/>
            <p:cNvSpPr/>
            <p:nvPr/>
          </p:nvSpPr>
          <p:spPr>
            <a:xfrm>
              <a:off x="8039100" y="45720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Cost per feed rose</a:t>
              </a:r>
              <a:endParaRPr lang="en-US" sz="1600" spc="-16" kern="0" b="0" i="0" dirty="0">
                <a:solidFill>
                  <a:srgbClr val="070154"/>
                </a:solidFill>
                <a:latin typeface="IBM Plex Sans SemiBold"/>
                <a:ea typeface="IBM Plex Sans SemiBold"/>
                <a:cs typeface="IBM Plex Sans SemiBold"/>
              </a:endParaRPr>
            </a:p>
          </p:txBody>
        </p:sp>
        <p:sp>
          <p:nvSpPr>
            <p:cNvPr id="32" name="node08.body"/>
            <p:cNvSpPr/>
            <p:nvPr/>
          </p:nvSpPr>
          <p:spPr>
            <a:xfrm>
              <a:off x="8039100" y="4914900"/>
              <a:ext cx="3429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Each new feed took a quarter and a test cycle across teams.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ource-36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1434978" y="733532"/>
            <a:ext cx="2323608" cy="374904"/>
          </a:xfrm>
          <a:prstGeom prst="rect">
            <a:avLst/>
          </a:prstGeom>
        </p:spPr>
      </p:pic>
      <p:sp>
        <p:nvSpPr>
          <p:cNvPr id="5"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Our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three-phase</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approach turns a defined architecture into </a:t>
            </a:r>
            <a:br>
              <a:rPr lang="en-US" sz="3200" spc="-64" kern="0" b="0" i="0" dirty="0">
                <a:solidFill>
                  <a:srgbClr val="070154"/>
                </a:solidFill>
                <a:latin typeface="IBM Plex Sans SemiBold"/>
                <a:ea typeface="IBM Plex Sans SemiBold"/>
                <a:cs typeface="IBM Plex Sans SemiBold"/>
              </a:rPr>
            </a:br>
            <a:r>
              <a:rPr lang="en-US" sz="3200" spc="-64" kern="0" b="0" i="0" dirty="0">
                <a:solidFill>
                  <a:srgbClr val="070154"/>
                </a:solidFill>
                <a:latin typeface="IBM Plex Sans SemiBold"/>
                <a:ea typeface="IBM Plex Sans SemiBold"/>
                <a:cs typeface="IBM Plex Sans SemiBold"/>
              </a:rPr>
              <a:t xml:space="preserve">a Northfield-owned enterprise service</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Fixed platform scope is priced once; workload scope scales with the number of early adopters.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129</a:t>
            </a:fld>
            <a:endParaRPr lang="en-US" sz="700" spc="0" kern="0" b="0" i="0" dirty="0">
              <a:solidFill>
                <a:srgbClr val="070154"/>
              </a:solidFill>
              <a:latin typeface="IBM Plex Mono SemiBold"/>
              <a:ea typeface="IBM Plex Mono SemiBold"/>
              <a:cs typeface="IBM Plex Mono SemiBold"/>
            </a:endParaRPr>
          </a:p>
        </p:txBody>
      </p:sp>
      <p:grpSp>
        <p:nvGrpSpPr>
          <p:cNvPr id="62" name="node01"/>
          <p:cNvGrpSpPr/>
          <p:nvPr/>
        </p:nvGrpSpPr>
        <p:grpSpPr>
          <a:xfrm>
            <a:off x="723900" y="2057400"/>
            <a:ext cx="3810000" cy="457200"/>
            <a:chOff x="723900" y="2057400"/>
            <a:chExt cx="3810000" cy="457200"/>
          </a:xfrm>
        </p:grpSpPr>
        <p:sp>
          <p:nvSpPr>
            <p:cNvPr id="8" name="node01.surface"/>
            <p:cNvSpPr/>
            <p:nvPr/>
          </p:nvSpPr>
          <p:spPr>
            <a:xfrm>
              <a:off x="723900" y="2057400"/>
              <a:ext cx="3810000" cy="457200"/>
            </a:xfrm>
            <a:custGeom>
              <a:avLst/>
              <a:gdLst/>
              <a:ahLst/>
              <a:cxnLst/>
              <a:rect l="l" t="t" r="r" b="b"/>
              <a:pathLst>
                <a:path w="3810000" h="457200">
                  <a:moveTo>
                    <a:pt x="0" y="0"/>
                  </a:moveTo>
                  <a:lnTo>
                    <a:pt x="3657600" y="0"/>
                  </a:lnTo>
                  <a:lnTo>
                    <a:pt x="3810000" y="228600"/>
                  </a:lnTo>
                  <a:lnTo>
                    <a:pt x="3657600" y="457200"/>
                  </a:lnTo>
                  <a:lnTo>
                    <a:pt x="0" y="457200"/>
                  </a:lnTo>
                  <a:close/>
                </a:path>
              </a:pathLst>
            </a:custGeom>
            <a:solidFill>
              <a:srgbClr val="070154"/>
            </a:solidFill>
            <a:ln>
              <a:noFill/>
            </a:ln>
          </p:spPr>
        </p:sp>
        <p:sp>
          <p:nvSpPr>
            <p:cNvPr id="9" name="node01.text"/>
            <p:cNvSpPr/>
            <p:nvPr/>
          </p:nvSpPr>
          <p:spPr>
            <a:xfrm>
              <a:off x="876300" y="2216150"/>
              <a:ext cx="3429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WEEKS 0–16</a:t>
              </a:r>
              <a:endParaRPr lang="en-US" sz="800" spc="48" kern="0" b="0" i="0" dirty="0">
                <a:solidFill>
                  <a:srgbClr val="FFFFFF"/>
                </a:solidFill>
                <a:latin typeface="IBM Plex Mono Medium"/>
                <a:ea typeface="IBM Plex Mono Medium"/>
                <a:cs typeface="IBM Plex Mono Medium"/>
              </a:endParaRPr>
            </a:p>
          </p:txBody>
        </p:sp>
      </p:grpSp>
      <p:grpSp>
        <p:nvGrpSpPr>
          <p:cNvPr id="63" name="node02"/>
          <p:cNvGrpSpPr/>
          <p:nvPr/>
        </p:nvGrpSpPr>
        <p:grpSpPr>
          <a:xfrm>
            <a:off x="723900" y="2590800"/>
            <a:ext cx="3200400" cy="266700"/>
            <a:chOff x="723900" y="2590800"/>
            <a:chExt cx="3200400" cy="266700"/>
          </a:xfrm>
        </p:grpSpPr>
        <p:sp>
          <p:nvSpPr>
            <p:cNvPr id="10" name="node02.text"/>
            <p:cNvSpPr/>
            <p:nvPr/>
          </p:nvSpPr>
          <p:spPr>
            <a:xfrm>
              <a:off x="723900" y="2590800"/>
              <a:ext cx="32004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grpSp>
      <p:grpSp>
        <p:nvGrpSpPr>
          <p:cNvPr id="64" name="node03"/>
          <p:cNvGrpSpPr/>
          <p:nvPr/>
        </p:nvGrpSpPr>
        <p:grpSpPr>
          <a:xfrm>
            <a:off x="723900" y="2895600"/>
            <a:ext cx="3200400" cy="266700"/>
            <a:chOff x="723900" y="2895600"/>
            <a:chExt cx="3200400" cy="266700"/>
          </a:xfrm>
        </p:grpSpPr>
        <p:sp>
          <p:nvSpPr>
            <p:cNvPr id="11" name="node03.text"/>
            <p:cNvSpPr/>
            <p:nvPr/>
          </p:nvSpPr>
          <p:spPr>
            <a:xfrm>
              <a:off x="723900" y="28956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Data platform foundation</a:t>
              </a:r>
              <a:endParaRPr lang="en-US" sz="1600" spc="-16" kern="0" b="0" i="0" dirty="0">
                <a:solidFill>
                  <a:srgbClr val="070154"/>
                </a:solidFill>
                <a:latin typeface="IBM Plex Sans SemiBold"/>
                <a:ea typeface="IBM Plex Sans SemiBold"/>
                <a:cs typeface="IBM Plex Sans SemiBold"/>
              </a:endParaRPr>
            </a:p>
          </p:txBody>
        </p:sp>
      </p:grpSp>
      <p:grpSp>
        <p:nvGrpSpPr>
          <p:cNvPr id="65" name="node04"/>
          <p:cNvGrpSpPr/>
          <p:nvPr/>
        </p:nvGrpSpPr>
        <p:grpSpPr>
          <a:xfrm>
            <a:off x="723900" y="3352800"/>
            <a:ext cx="3200400" cy="139700"/>
            <a:chOff x="723900" y="3352800"/>
            <a:chExt cx="3200400" cy="139700"/>
          </a:xfrm>
        </p:grpSpPr>
        <p:sp>
          <p:nvSpPr>
            <p:cNvPr id="12" name="node04.text"/>
            <p:cNvSpPr/>
            <p:nvPr/>
          </p:nvSpPr>
          <p:spPr>
            <a:xfrm>
              <a:off x="723900" y="33528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KEY ACTIVITIES</a:t>
              </a:r>
              <a:endParaRPr lang="en-US" sz="800" spc="48" kern="0" b="0" i="0" dirty="0">
                <a:solidFill>
                  <a:srgbClr val="0047FF"/>
                </a:solidFill>
                <a:latin typeface="IBM Plex Mono Medium"/>
                <a:ea typeface="IBM Plex Mono Medium"/>
                <a:cs typeface="IBM Plex Mono Medium"/>
              </a:endParaRPr>
            </a:p>
          </p:txBody>
        </p:sp>
      </p:grpSp>
      <p:grpSp>
        <p:nvGrpSpPr>
          <p:cNvPr id="66" name="node05"/>
          <p:cNvGrpSpPr/>
          <p:nvPr/>
        </p:nvGrpSpPr>
        <p:grpSpPr>
          <a:xfrm>
            <a:off x="723900" y="3581400"/>
            <a:ext cx="3200400" cy="1231900"/>
            <a:chOff x="723900" y="3581400"/>
            <a:chExt cx="3200400" cy="1231900"/>
          </a:xfrm>
        </p:grpSpPr>
        <p:sp>
          <p:nvSpPr>
            <p:cNvPr id="13" name="node05.source-001.bullet"/>
            <p:cNvSpPr/>
            <p:nvPr/>
          </p:nvSpPr>
          <p:spPr>
            <a:xfrm>
              <a:off x="723900" y="3670300"/>
              <a:ext cx="38100" cy="38100"/>
            </a:xfrm>
            <a:prstGeom prst="rect">
              <a:avLst/>
            </a:prstGeom>
            <a:solidFill>
              <a:srgbClr val="070154"/>
            </a:solidFill>
            <a:ln>
              <a:noFill/>
            </a:ln>
          </p:spPr>
        </p:sp>
        <p:sp>
          <p:nvSpPr>
            <p:cNvPr id="14" name="node05.source-001.text"/>
            <p:cNvSpPr/>
            <p:nvPr/>
          </p:nvSpPr>
          <p:spPr>
            <a:xfrm>
              <a:off x="876300" y="3581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Define target architecture</a:t>
              </a:r>
              <a:endParaRPr lang="en-US" sz="1200" spc="0" kern="0" b="0" i="0" dirty="0">
                <a:solidFill>
                  <a:srgbClr val="070154"/>
                </a:solidFill>
                <a:latin typeface="IBM Plex Sans"/>
                <a:ea typeface="IBM Plex Sans"/>
                <a:cs typeface="IBM Plex Sans"/>
              </a:endParaRPr>
            </a:p>
          </p:txBody>
        </p:sp>
        <p:sp>
          <p:nvSpPr>
            <p:cNvPr id="15" name="node05.source-002.bullet"/>
            <p:cNvSpPr/>
            <p:nvPr/>
          </p:nvSpPr>
          <p:spPr>
            <a:xfrm>
              <a:off x="723900" y="3924300"/>
              <a:ext cx="38100" cy="38100"/>
            </a:xfrm>
            <a:prstGeom prst="rect">
              <a:avLst/>
            </a:prstGeom>
            <a:solidFill>
              <a:srgbClr val="070154"/>
            </a:solidFill>
            <a:ln>
              <a:noFill/>
            </a:ln>
          </p:spPr>
        </p:sp>
        <p:sp>
          <p:nvSpPr>
            <p:cNvPr id="16" name="node05.source-002.text"/>
            <p:cNvSpPr/>
            <p:nvPr/>
          </p:nvSpPr>
          <p:spPr>
            <a:xfrm>
              <a:off x="876300" y="3835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Set enterprise guardrails</a:t>
              </a:r>
              <a:endParaRPr lang="en-US" sz="1200" spc="0" kern="0" b="0" i="0" dirty="0">
                <a:solidFill>
                  <a:srgbClr val="070154"/>
                </a:solidFill>
                <a:latin typeface="IBM Plex Sans"/>
                <a:ea typeface="IBM Plex Sans"/>
                <a:cs typeface="IBM Plex Sans"/>
              </a:endParaRPr>
            </a:p>
          </p:txBody>
        </p:sp>
        <p:sp>
          <p:nvSpPr>
            <p:cNvPr id="17" name="node05.source-003.bullet"/>
            <p:cNvSpPr/>
            <p:nvPr/>
          </p:nvSpPr>
          <p:spPr>
            <a:xfrm>
              <a:off x="723900" y="4178300"/>
              <a:ext cx="38100" cy="38100"/>
            </a:xfrm>
            <a:prstGeom prst="rect">
              <a:avLst/>
            </a:prstGeom>
            <a:solidFill>
              <a:srgbClr val="070154"/>
            </a:solidFill>
            <a:ln>
              <a:noFill/>
            </a:ln>
          </p:spPr>
        </p:sp>
        <p:sp>
          <p:nvSpPr>
            <p:cNvPr id="18" name="node05.source-003.text"/>
            <p:cNvSpPr/>
            <p:nvPr/>
          </p:nvSpPr>
          <p:spPr>
            <a:xfrm>
              <a:off x="876300" y="4089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Establish ingestion patterns</a:t>
              </a:r>
              <a:endParaRPr lang="en-US" sz="1200" spc="0" kern="0" b="0" i="0" dirty="0">
                <a:solidFill>
                  <a:srgbClr val="070154"/>
                </a:solidFill>
                <a:latin typeface="IBM Plex Sans"/>
                <a:ea typeface="IBM Plex Sans"/>
                <a:cs typeface="IBM Plex Sans"/>
              </a:endParaRPr>
            </a:p>
          </p:txBody>
        </p:sp>
        <p:sp>
          <p:nvSpPr>
            <p:cNvPr id="19" name="node05.source-004.bullet"/>
            <p:cNvSpPr/>
            <p:nvPr/>
          </p:nvSpPr>
          <p:spPr>
            <a:xfrm>
              <a:off x="723900" y="4432300"/>
              <a:ext cx="38100" cy="38100"/>
            </a:xfrm>
            <a:prstGeom prst="rect">
              <a:avLst/>
            </a:prstGeom>
            <a:solidFill>
              <a:srgbClr val="070154"/>
            </a:solidFill>
            <a:ln>
              <a:noFill/>
            </a:ln>
          </p:spPr>
        </p:sp>
        <p:sp>
          <p:nvSpPr>
            <p:cNvPr id="20" name="node05.source-004.text"/>
            <p:cNvSpPr/>
            <p:nvPr/>
          </p:nvSpPr>
          <p:spPr>
            <a:xfrm>
              <a:off x="876300" y="4343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Validate patterns via pilots</a:t>
              </a:r>
              <a:endParaRPr lang="en-US" sz="1200" spc="0" kern="0" b="0" i="0" dirty="0">
                <a:solidFill>
                  <a:srgbClr val="070154"/>
                </a:solidFill>
                <a:latin typeface="IBM Plex Sans"/>
                <a:ea typeface="IBM Plex Sans"/>
                <a:cs typeface="IBM Plex Sans"/>
              </a:endParaRPr>
            </a:p>
          </p:txBody>
        </p:sp>
        <p:sp>
          <p:nvSpPr>
            <p:cNvPr id="21" name="node05.source-005.bullet"/>
            <p:cNvSpPr/>
            <p:nvPr/>
          </p:nvSpPr>
          <p:spPr>
            <a:xfrm>
              <a:off x="723900" y="4686300"/>
              <a:ext cx="38100" cy="38100"/>
            </a:xfrm>
            <a:prstGeom prst="rect">
              <a:avLst/>
            </a:prstGeom>
            <a:solidFill>
              <a:srgbClr val="070154"/>
            </a:solidFill>
            <a:ln>
              <a:noFill/>
            </a:ln>
          </p:spPr>
        </p:sp>
        <p:sp>
          <p:nvSpPr>
            <p:cNvPr id="22" name="node05.source-005.text"/>
            <p:cNvSpPr/>
            <p:nvPr/>
          </p:nvSpPr>
          <p:spPr>
            <a:xfrm>
              <a:off x="876300" y="4597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Choose early-adopter workloads</a:t>
              </a:r>
              <a:endParaRPr lang="en-US" sz="1200" spc="0" kern="0" b="0" i="0" dirty="0">
                <a:solidFill>
                  <a:srgbClr val="070154"/>
                </a:solidFill>
                <a:latin typeface="IBM Plex Sans"/>
                <a:ea typeface="IBM Plex Sans"/>
                <a:cs typeface="IBM Plex Sans"/>
              </a:endParaRPr>
            </a:p>
          </p:txBody>
        </p:sp>
      </p:grpSp>
      <p:grpSp>
        <p:nvGrpSpPr>
          <p:cNvPr id="67" name="node06"/>
          <p:cNvGrpSpPr/>
          <p:nvPr/>
        </p:nvGrpSpPr>
        <p:grpSpPr>
          <a:xfrm>
            <a:off x="723900" y="5181600"/>
            <a:ext cx="3200400" cy="139700"/>
            <a:chOff x="723900" y="5181600"/>
            <a:chExt cx="3200400" cy="139700"/>
          </a:xfrm>
        </p:grpSpPr>
        <p:sp>
          <p:nvSpPr>
            <p:cNvPr id="23" name="node06.text"/>
            <p:cNvSpPr/>
            <p:nvPr/>
          </p:nvSpPr>
          <p:spPr>
            <a:xfrm>
              <a:off x="723900" y="51816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OUTCOME</a:t>
              </a:r>
              <a:endParaRPr lang="en-US" sz="800" spc="48" kern="0" b="0" i="0" dirty="0">
                <a:solidFill>
                  <a:srgbClr val="0047FF"/>
                </a:solidFill>
                <a:latin typeface="IBM Plex Mono Medium"/>
                <a:ea typeface="IBM Plex Mono Medium"/>
                <a:cs typeface="IBM Plex Mono Medium"/>
              </a:endParaRPr>
            </a:p>
          </p:txBody>
        </p:sp>
      </p:grpSp>
      <p:grpSp>
        <p:nvGrpSpPr>
          <p:cNvPr id="68" name="node07"/>
          <p:cNvGrpSpPr/>
          <p:nvPr/>
        </p:nvGrpSpPr>
        <p:grpSpPr>
          <a:xfrm>
            <a:off x="723900" y="5410200"/>
            <a:ext cx="3200400" cy="215900"/>
            <a:chOff x="723900" y="5410200"/>
            <a:chExt cx="3200400" cy="215900"/>
          </a:xfrm>
        </p:grpSpPr>
        <p:sp>
          <p:nvSpPr>
            <p:cNvPr id="24" name="node07.source-001.bullet"/>
            <p:cNvSpPr/>
            <p:nvPr/>
          </p:nvSpPr>
          <p:spPr>
            <a:xfrm>
              <a:off x="723900" y="5499100"/>
              <a:ext cx="38100" cy="38100"/>
            </a:xfrm>
            <a:prstGeom prst="rect">
              <a:avLst/>
            </a:prstGeom>
            <a:solidFill>
              <a:srgbClr val="070154"/>
            </a:solidFill>
            <a:ln>
              <a:noFill/>
            </a:ln>
          </p:spPr>
        </p:sp>
        <p:sp>
          <p:nvSpPr>
            <p:cNvPr id="25" name="node07.source-001.text"/>
            <p:cNvSpPr/>
            <p:nvPr/>
          </p:nvSpPr>
          <p:spPr>
            <a:xfrm>
              <a:off x="876300" y="54102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Approved platform foundation</a:t>
              </a:r>
              <a:endParaRPr lang="en-US" sz="1200" spc="0" kern="0" b="0" i="0" dirty="0">
                <a:solidFill>
                  <a:srgbClr val="070154"/>
                </a:solidFill>
                <a:latin typeface="IBM Plex Sans"/>
                <a:ea typeface="IBM Plex Sans"/>
                <a:cs typeface="IBM Plex Sans"/>
              </a:endParaRPr>
            </a:p>
          </p:txBody>
        </p:sp>
      </p:grpSp>
      <p:grpSp>
        <p:nvGrpSpPr>
          <p:cNvPr id="69" name="node08"/>
          <p:cNvGrpSpPr/>
          <p:nvPr/>
        </p:nvGrpSpPr>
        <p:grpSpPr>
          <a:xfrm>
            <a:off x="4381500" y="2057400"/>
            <a:ext cx="3810000" cy="457200"/>
            <a:chOff x="4381500" y="2057400"/>
            <a:chExt cx="3810000" cy="457200"/>
          </a:xfrm>
        </p:grpSpPr>
        <p:sp>
          <p:nvSpPr>
            <p:cNvPr id="26" name="node08.surface"/>
            <p:cNvSpPr/>
            <p:nvPr/>
          </p:nvSpPr>
          <p:spPr>
            <a:xfrm>
              <a:off x="4381500" y="2057400"/>
              <a:ext cx="3810000" cy="457200"/>
            </a:xfrm>
            <a:custGeom>
              <a:avLst/>
              <a:gdLst/>
              <a:ahLst/>
              <a:cxnLst/>
              <a:rect l="l" t="t" r="r" b="b"/>
              <a:pathLst>
                <a:path w="3810000" h="457200">
                  <a:moveTo>
                    <a:pt x="0" y="0"/>
                  </a:moveTo>
                  <a:lnTo>
                    <a:pt x="3657600" y="0"/>
                  </a:lnTo>
                  <a:lnTo>
                    <a:pt x="3810000" y="228600"/>
                  </a:lnTo>
                  <a:lnTo>
                    <a:pt x="3657600" y="457200"/>
                  </a:lnTo>
                  <a:lnTo>
                    <a:pt x="0" y="457200"/>
                  </a:lnTo>
                  <a:lnTo>
                    <a:pt x="152400" y="228600"/>
                  </a:lnTo>
                  <a:close/>
                </a:path>
              </a:pathLst>
            </a:custGeom>
            <a:solidFill>
              <a:srgbClr val="CED7E6"/>
            </a:solidFill>
            <a:ln>
              <a:noFill/>
            </a:ln>
          </p:spPr>
        </p:sp>
        <p:sp>
          <p:nvSpPr>
            <p:cNvPr id="27" name="node08.text"/>
            <p:cNvSpPr/>
            <p:nvPr/>
          </p:nvSpPr>
          <p:spPr>
            <a:xfrm>
              <a:off x="4686300" y="2216150"/>
              <a:ext cx="32766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WEEKS 17–34</a:t>
              </a:r>
              <a:endParaRPr lang="en-US" sz="800" spc="48" kern="0" b="0" i="0" dirty="0">
                <a:solidFill>
                  <a:srgbClr val="070154"/>
                </a:solidFill>
                <a:latin typeface="IBM Plex Mono Medium"/>
                <a:ea typeface="IBM Plex Mono Medium"/>
                <a:cs typeface="IBM Plex Mono Medium"/>
              </a:endParaRPr>
            </a:p>
          </p:txBody>
        </p:sp>
      </p:grpSp>
      <p:grpSp>
        <p:nvGrpSpPr>
          <p:cNvPr id="70" name="node09"/>
          <p:cNvGrpSpPr/>
          <p:nvPr/>
        </p:nvGrpSpPr>
        <p:grpSpPr>
          <a:xfrm>
            <a:off x="4381500" y="2590800"/>
            <a:ext cx="3200400" cy="266700"/>
            <a:chOff x="4381500" y="2590800"/>
            <a:chExt cx="3200400" cy="266700"/>
          </a:xfrm>
        </p:grpSpPr>
        <p:sp>
          <p:nvSpPr>
            <p:cNvPr id="28" name="node09.text"/>
            <p:cNvSpPr/>
            <p:nvPr/>
          </p:nvSpPr>
          <p:spPr>
            <a:xfrm>
              <a:off x="4381500" y="2590800"/>
              <a:ext cx="32004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grpSp>
      <p:grpSp>
        <p:nvGrpSpPr>
          <p:cNvPr id="71" name="node10"/>
          <p:cNvGrpSpPr/>
          <p:nvPr/>
        </p:nvGrpSpPr>
        <p:grpSpPr>
          <a:xfrm>
            <a:off x="4381500" y="2895600"/>
            <a:ext cx="3200400" cy="266700"/>
            <a:chOff x="4381500" y="2895600"/>
            <a:chExt cx="3200400" cy="266700"/>
          </a:xfrm>
        </p:grpSpPr>
        <p:sp>
          <p:nvSpPr>
            <p:cNvPr id="29" name="node10.text"/>
            <p:cNvSpPr/>
            <p:nvPr/>
          </p:nvSpPr>
          <p:spPr>
            <a:xfrm>
              <a:off x="4381500" y="28956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Scale and early adoption</a:t>
              </a:r>
              <a:endParaRPr lang="en-US" sz="1600" spc="-16" kern="0" b="0" i="0" dirty="0">
                <a:solidFill>
                  <a:srgbClr val="070154"/>
                </a:solidFill>
                <a:latin typeface="IBM Plex Sans SemiBold"/>
                <a:ea typeface="IBM Plex Sans SemiBold"/>
                <a:cs typeface="IBM Plex Sans SemiBold"/>
              </a:endParaRPr>
            </a:p>
          </p:txBody>
        </p:sp>
      </p:grpSp>
      <p:grpSp>
        <p:nvGrpSpPr>
          <p:cNvPr id="72" name="node11"/>
          <p:cNvGrpSpPr/>
          <p:nvPr/>
        </p:nvGrpSpPr>
        <p:grpSpPr>
          <a:xfrm>
            <a:off x="4381500" y="3352800"/>
            <a:ext cx="3200400" cy="139700"/>
            <a:chOff x="4381500" y="3352800"/>
            <a:chExt cx="3200400" cy="139700"/>
          </a:xfrm>
        </p:grpSpPr>
        <p:sp>
          <p:nvSpPr>
            <p:cNvPr id="30" name="node11.text"/>
            <p:cNvSpPr/>
            <p:nvPr/>
          </p:nvSpPr>
          <p:spPr>
            <a:xfrm>
              <a:off x="4381500" y="33528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KEY ACTIVITIES</a:t>
              </a:r>
              <a:endParaRPr lang="en-US" sz="800" spc="48" kern="0" b="0" i="0" dirty="0">
                <a:solidFill>
                  <a:srgbClr val="0047FF"/>
                </a:solidFill>
                <a:latin typeface="IBM Plex Mono Medium"/>
                <a:ea typeface="IBM Plex Mono Medium"/>
                <a:cs typeface="IBM Plex Mono Medium"/>
              </a:endParaRPr>
            </a:p>
          </p:txBody>
        </p:sp>
      </p:grpSp>
      <p:grpSp>
        <p:nvGrpSpPr>
          <p:cNvPr id="73" name="node12"/>
          <p:cNvGrpSpPr/>
          <p:nvPr/>
        </p:nvGrpSpPr>
        <p:grpSpPr>
          <a:xfrm>
            <a:off x="4381500" y="3581400"/>
            <a:ext cx="3200400" cy="1231900"/>
            <a:chOff x="4381500" y="3581400"/>
            <a:chExt cx="3200400" cy="1231900"/>
          </a:xfrm>
        </p:grpSpPr>
        <p:sp>
          <p:nvSpPr>
            <p:cNvPr id="31" name="node12.source-001.bullet"/>
            <p:cNvSpPr/>
            <p:nvPr/>
          </p:nvSpPr>
          <p:spPr>
            <a:xfrm>
              <a:off x="4381500" y="3670300"/>
              <a:ext cx="38100" cy="38100"/>
            </a:xfrm>
            <a:prstGeom prst="rect">
              <a:avLst/>
            </a:prstGeom>
            <a:solidFill>
              <a:srgbClr val="070154"/>
            </a:solidFill>
            <a:ln>
              <a:noFill/>
            </a:ln>
          </p:spPr>
        </p:sp>
        <p:sp>
          <p:nvSpPr>
            <p:cNvPr id="32" name="node12.source-001.text"/>
            <p:cNvSpPr/>
            <p:nvPr/>
          </p:nvSpPr>
          <p:spPr>
            <a:xfrm>
              <a:off x="4533900" y="3581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Automate provisioning</a:t>
              </a:r>
              <a:endParaRPr lang="en-US" sz="1200" spc="0" kern="0" b="0" i="0" dirty="0">
                <a:solidFill>
                  <a:srgbClr val="070154"/>
                </a:solidFill>
                <a:latin typeface="IBM Plex Sans"/>
                <a:ea typeface="IBM Plex Sans"/>
                <a:cs typeface="IBM Plex Sans"/>
              </a:endParaRPr>
            </a:p>
          </p:txBody>
        </p:sp>
        <p:sp>
          <p:nvSpPr>
            <p:cNvPr id="33" name="node12.source-002.bullet"/>
            <p:cNvSpPr/>
            <p:nvPr/>
          </p:nvSpPr>
          <p:spPr>
            <a:xfrm>
              <a:off x="4381500" y="3924300"/>
              <a:ext cx="38100" cy="38100"/>
            </a:xfrm>
            <a:prstGeom prst="rect">
              <a:avLst/>
            </a:prstGeom>
            <a:solidFill>
              <a:srgbClr val="070154"/>
            </a:solidFill>
            <a:ln>
              <a:noFill/>
            </a:ln>
          </p:spPr>
        </p:sp>
        <p:sp>
          <p:nvSpPr>
            <p:cNvPr id="34" name="node12.source-002.text"/>
            <p:cNvSpPr/>
            <p:nvPr/>
          </p:nvSpPr>
          <p:spPr>
            <a:xfrm>
              <a:off x="4533900" y="3835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Operationalize governance</a:t>
              </a:r>
              <a:endParaRPr lang="en-US" sz="1200" spc="0" kern="0" b="0" i="0" dirty="0">
                <a:solidFill>
                  <a:srgbClr val="070154"/>
                </a:solidFill>
                <a:latin typeface="IBM Plex Sans"/>
                <a:ea typeface="IBM Plex Sans"/>
                <a:cs typeface="IBM Plex Sans"/>
              </a:endParaRPr>
            </a:p>
          </p:txBody>
        </p:sp>
        <p:sp>
          <p:nvSpPr>
            <p:cNvPr id="35" name="node12.source-003.bullet"/>
            <p:cNvSpPr/>
            <p:nvPr/>
          </p:nvSpPr>
          <p:spPr>
            <a:xfrm>
              <a:off x="4381500" y="4178300"/>
              <a:ext cx="38100" cy="38100"/>
            </a:xfrm>
            <a:prstGeom prst="rect">
              <a:avLst/>
            </a:prstGeom>
            <a:solidFill>
              <a:srgbClr val="070154"/>
            </a:solidFill>
            <a:ln>
              <a:noFill/>
            </a:ln>
          </p:spPr>
        </p:sp>
        <p:sp>
          <p:nvSpPr>
            <p:cNvPr id="36" name="node12.source-003.text"/>
            <p:cNvSpPr/>
            <p:nvPr/>
          </p:nvSpPr>
          <p:spPr>
            <a:xfrm>
              <a:off x="4533900" y="4089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Stand up support and cost controls</a:t>
              </a:r>
              <a:endParaRPr lang="en-US" sz="1200" spc="0" kern="0" b="0" i="0" dirty="0">
                <a:solidFill>
                  <a:srgbClr val="070154"/>
                </a:solidFill>
                <a:latin typeface="IBM Plex Sans"/>
                <a:ea typeface="IBM Plex Sans"/>
                <a:cs typeface="IBM Plex Sans"/>
              </a:endParaRPr>
            </a:p>
          </p:txBody>
        </p:sp>
        <p:sp>
          <p:nvSpPr>
            <p:cNvPr id="37" name="node12.source-004.bullet"/>
            <p:cNvSpPr/>
            <p:nvPr/>
          </p:nvSpPr>
          <p:spPr>
            <a:xfrm>
              <a:off x="4381500" y="4432300"/>
              <a:ext cx="38100" cy="38100"/>
            </a:xfrm>
            <a:prstGeom prst="rect">
              <a:avLst/>
            </a:prstGeom>
            <a:solidFill>
              <a:srgbClr val="070154"/>
            </a:solidFill>
            <a:ln>
              <a:noFill/>
            </a:ln>
          </p:spPr>
        </p:sp>
        <p:sp>
          <p:nvSpPr>
            <p:cNvPr id="38" name="node12.source-004.text"/>
            <p:cNvSpPr/>
            <p:nvPr/>
          </p:nvSpPr>
          <p:spPr>
            <a:xfrm>
              <a:off x="4533900" y="4343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Onboard early adopters</a:t>
              </a:r>
              <a:endParaRPr lang="en-US" sz="1200" spc="0" kern="0" b="0" i="0" dirty="0">
                <a:solidFill>
                  <a:srgbClr val="070154"/>
                </a:solidFill>
                <a:latin typeface="IBM Plex Sans"/>
                <a:ea typeface="IBM Plex Sans"/>
                <a:cs typeface="IBM Plex Sans"/>
              </a:endParaRPr>
            </a:p>
          </p:txBody>
        </p:sp>
        <p:sp>
          <p:nvSpPr>
            <p:cNvPr id="39" name="node12.source-005.bullet"/>
            <p:cNvSpPr/>
            <p:nvPr/>
          </p:nvSpPr>
          <p:spPr>
            <a:xfrm>
              <a:off x="4381500" y="4686300"/>
              <a:ext cx="38100" cy="38100"/>
            </a:xfrm>
            <a:prstGeom prst="rect">
              <a:avLst/>
            </a:prstGeom>
            <a:solidFill>
              <a:srgbClr val="070154"/>
            </a:solidFill>
            <a:ln>
              <a:noFill/>
            </a:ln>
          </p:spPr>
        </p:sp>
        <p:sp>
          <p:nvSpPr>
            <p:cNvPr id="40" name="node12.source-005.text"/>
            <p:cNvSpPr/>
            <p:nvPr/>
          </p:nvSpPr>
          <p:spPr>
            <a:xfrm>
              <a:off x="4533900" y="4597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Refine standards from pilots</a:t>
              </a:r>
              <a:endParaRPr lang="en-US" sz="1200" spc="0" kern="0" b="0" i="0" dirty="0">
                <a:solidFill>
                  <a:srgbClr val="070154"/>
                </a:solidFill>
                <a:latin typeface="IBM Plex Sans"/>
                <a:ea typeface="IBM Plex Sans"/>
                <a:cs typeface="IBM Plex Sans"/>
              </a:endParaRPr>
            </a:p>
          </p:txBody>
        </p:sp>
      </p:grpSp>
      <p:grpSp>
        <p:nvGrpSpPr>
          <p:cNvPr id="74" name="node13"/>
          <p:cNvGrpSpPr/>
          <p:nvPr/>
        </p:nvGrpSpPr>
        <p:grpSpPr>
          <a:xfrm>
            <a:off x="4381500" y="5181600"/>
            <a:ext cx="3200400" cy="139700"/>
            <a:chOff x="4381500" y="5181600"/>
            <a:chExt cx="3200400" cy="139700"/>
          </a:xfrm>
        </p:grpSpPr>
        <p:sp>
          <p:nvSpPr>
            <p:cNvPr id="41" name="node13.text"/>
            <p:cNvSpPr/>
            <p:nvPr/>
          </p:nvSpPr>
          <p:spPr>
            <a:xfrm>
              <a:off x="4381500" y="51816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OUTCOME</a:t>
              </a:r>
              <a:endParaRPr lang="en-US" sz="800" spc="48" kern="0" b="0" i="0" dirty="0">
                <a:solidFill>
                  <a:srgbClr val="0047FF"/>
                </a:solidFill>
                <a:latin typeface="IBM Plex Mono Medium"/>
                <a:ea typeface="IBM Plex Mono Medium"/>
                <a:cs typeface="IBM Plex Mono Medium"/>
              </a:endParaRPr>
            </a:p>
          </p:txBody>
        </p:sp>
      </p:grpSp>
      <p:grpSp>
        <p:nvGrpSpPr>
          <p:cNvPr id="75" name="node14"/>
          <p:cNvGrpSpPr/>
          <p:nvPr/>
        </p:nvGrpSpPr>
        <p:grpSpPr>
          <a:xfrm>
            <a:off x="4381500" y="5410200"/>
            <a:ext cx="3200400" cy="215900"/>
            <a:chOff x="4381500" y="5410200"/>
            <a:chExt cx="3200400" cy="215900"/>
          </a:xfrm>
        </p:grpSpPr>
        <p:sp>
          <p:nvSpPr>
            <p:cNvPr id="42" name="node14.source-001.bullet"/>
            <p:cNvSpPr/>
            <p:nvPr/>
          </p:nvSpPr>
          <p:spPr>
            <a:xfrm>
              <a:off x="4381500" y="5499100"/>
              <a:ext cx="38100" cy="38100"/>
            </a:xfrm>
            <a:prstGeom prst="rect">
              <a:avLst/>
            </a:prstGeom>
            <a:solidFill>
              <a:srgbClr val="070154"/>
            </a:solidFill>
            <a:ln>
              <a:noFill/>
            </a:ln>
          </p:spPr>
        </p:sp>
        <p:sp>
          <p:nvSpPr>
            <p:cNvPr id="43" name="node14.source-001.text"/>
            <p:cNvSpPr/>
            <p:nvPr/>
          </p:nvSpPr>
          <p:spPr>
            <a:xfrm>
              <a:off x="4533900" y="54102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Repeatable platform services</a:t>
              </a:r>
              <a:endParaRPr lang="en-US" sz="1200" spc="0" kern="0" b="0" i="0" dirty="0">
                <a:solidFill>
                  <a:srgbClr val="070154"/>
                </a:solidFill>
                <a:latin typeface="IBM Plex Sans"/>
                <a:ea typeface="IBM Plex Sans"/>
                <a:cs typeface="IBM Plex Sans"/>
              </a:endParaRPr>
            </a:p>
          </p:txBody>
        </p:sp>
      </p:grpSp>
      <p:grpSp>
        <p:nvGrpSpPr>
          <p:cNvPr id="76" name="node15"/>
          <p:cNvGrpSpPr/>
          <p:nvPr/>
        </p:nvGrpSpPr>
        <p:grpSpPr>
          <a:xfrm>
            <a:off x="8039100" y="2057400"/>
            <a:ext cx="3429000" cy="457200"/>
            <a:chOff x="8039100" y="2057400"/>
            <a:chExt cx="3429000" cy="457200"/>
          </a:xfrm>
        </p:grpSpPr>
        <p:sp>
          <p:nvSpPr>
            <p:cNvPr id="44" name="node15.surface"/>
            <p:cNvSpPr/>
            <p:nvPr/>
          </p:nvSpPr>
          <p:spPr>
            <a:xfrm>
              <a:off x="8039100" y="2057400"/>
              <a:ext cx="3429000" cy="457200"/>
            </a:xfrm>
            <a:custGeom>
              <a:avLst/>
              <a:gdLst/>
              <a:ahLst/>
              <a:cxnLst/>
              <a:rect l="l" t="t" r="r" b="b"/>
              <a:pathLst>
                <a:path w="3429000" h="457200">
                  <a:moveTo>
                    <a:pt x="0" y="0"/>
                  </a:moveTo>
                  <a:lnTo>
                    <a:pt x="3276600" y="0"/>
                  </a:lnTo>
                  <a:lnTo>
                    <a:pt x="3429000" y="228600"/>
                  </a:lnTo>
                  <a:lnTo>
                    <a:pt x="3276600" y="457200"/>
                  </a:lnTo>
                  <a:lnTo>
                    <a:pt x="0" y="457200"/>
                  </a:lnTo>
                  <a:lnTo>
                    <a:pt x="152400" y="228600"/>
                  </a:lnTo>
                  <a:close/>
                </a:path>
              </a:pathLst>
            </a:custGeom>
            <a:solidFill>
              <a:srgbClr val="F900D3"/>
            </a:solidFill>
            <a:ln>
              <a:noFill/>
            </a:ln>
          </p:spPr>
        </p:sp>
        <p:sp>
          <p:nvSpPr>
            <p:cNvPr id="45" name="node15.text"/>
            <p:cNvSpPr/>
            <p:nvPr/>
          </p:nvSpPr>
          <p:spPr>
            <a:xfrm>
              <a:off x="8343900" y="2216150"/>
              <a:ext cx="28956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WEEKS 30–42</a:t>
              </a:r>
              <a:endParaRPr lang="en-US" sz="800" spc="48" kern="0" b="0" i="0" dirty="0">
                <a:solidFill>
                  <a:srgbClr val="070154"/>
                </a:solidFill>
                <a:latin typeface="IBM Plex Mono Medium"/>
                <a:ea typeface="IBM Plex Mono Medium"/>
                <a:cs typeface="IBM Plex Mono Medium"/>
              </a:endParaRPr>
            </a:p>
          </p:txBody>
        </p:sp>
      </p:grpSp>
      <p:grpSp>
        <p:nvGrpSpPr>
          <p:cNvPr id="77" name="node16"/>
          <p:cNvGrpSpPr/>
          <p:nvPr/>
        </p:nvGrpSpPr>
        <p:grpSpPr>
          <a:xfrm>
            <a:off x="8039100" y="2590800"/>
            <a:ext cx="3200400" cy="266700"/>
            <a:chOff x="8039100" y="2590800"/>
            <a:chExt cx="3200400" cy="266700"/>
          </a:xfrm>
        </p:grpSpPr>
        <p:sp>
          <p:nvSpPr>
            <p:cNvPr id="46" name="node16.text"/>
            <p:cNvSpPr/>
            <p:nvPr/>
          </p:nvSpPr>
          <p:spPr>
            <a:xfrm>
              <a:off x="8039100" y="2590800"/>
              <a:ext cx="32004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grpSp>
      <p:grpSp>
        <p:nvGrpSpPr>
          <p:cNvPr id="78" name="node17"/>
          <p:cNvGrpSpPr/>
          <p:nvPr/>
        </p:nvGrpSpPr>
        <p:grpSpPr>
          <a:xfrm>
            <a:off x="8039100" y="2895600"/>
            <a:ext cx="3200400" cy="266700"/>
            <a:chOff x="8039100" y="2895600"/>
            <a:chExt cx="3200400" cy="266700"/>
          </a:xfrm>
        </p:grpSpPr>
        <p:sp>
          <p:nvSpPr>
            <p:cNvPr id="47" name="node17.text"/>
            <p:cNvSpPr/>
            <p:nvPr/>
          </p:nvSpPr>
          <p:spPr>
            <a:xfrm>
              <a:off x="8039100" y="2895600"/>
              <a:ext cx="3200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General availability</a:t>
              </a:r>
              <a:endParaRPr lang="en-US" sz="1600" spc="-16" kern="0" b="0" i="0" dirty="0">
                <a:solidFill>
                  <a:srgbClr val="070154"/>
                </a:solidFill>
                <a:latin typeface="IBM Plex Sans SemiBold"/>
                <a:ea typeface="IBM Plex Sans SemiBold"/>
                <a:cs typeface="IBM Plex Sans SemiBold"/>
              </a:endParaRPr>
            </a:p>
          </p:txBody>
        </p:sp>
      </p:grpSp>
      <p:grpSp>
        <p:nvGrpSpPr>
          <p:cNvPr id="79" name="node18"/>
          <p:cNvGrpSpPr/>
          <p:nvPr/>
        </p:nvGrpSpPr>
        <p:grpSpPr>
          <a:xfrm>
            <a:off x="8039100" y="3352800"/>
            <a:ext cx="3200400" cy="139700"/>
            <a:chOff x="8039100" y="3352800"/>
            <a:chExt cx="3200400" cy="139700"/>
          </a:xfrm>
        </p:grpSpPr>
        <p:sp>
          <p:nvSpPr>
            <p:cNvPr id="48" name="node18.text"/>
            <p:cNvSpPr/>
            <p:nvPr/>
          </p:nvSpPr>
          <p:spPr>
            <a:xfrm>
              <a:off x="8039100" y="33528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KEY ACTIVITIES</a:t>
              </a:r>
              <a:endParaRPr lang="en-US" sz="800" spc="48" kern="0" b="0" i="0" dirty="0">
                <a:solidFill>
                  <a:srgbClr val="0047FF"/>
                </a:solidFill>
                <a:latin typeface="IBM Plex Mono Medium"/>
                <a:ea typeface="IBM Plex Mono Medium"/>
                <a:cs typeface="IBM Plex Mono Medium"/>
              </a:endParaRPr>
            </a:p>
          </p:txBody>
        </p:sp>
      </p:grpSp>
      <p:grpSp>
        <p:nvGrpSpPr>
          <p:cNvPr id="80" name="node19"/>
          <p:cNvGrpSpPr/>
          <p:nvPr/>
        </p:nvGrpSpPr>
        <p:grpSpPr>
          <a:xfrm>
            <a:off x="8039100" y="3581400"/>
            <a:ext cx="3200400" cy="1231900"/>
            <a:chOff x="8039100" y="3581400"/>
            <a:chExt cx="3200400" cy="1231900"/>
          </a:xfrm>
        </p:grpSpPr>
        <p:sp>
          <p:nvSpPr>
            <p:cNvPr id="49" name="node19.source-001.bullet"/>
            <p:cNvSpPr/>
            <p:nvPr/>
          </p:nvSpPr>
          <p:spPr>
            <a:xfrm>
              <a:off x="8039100" y="3670300"/>
              <a:ext cx="38100" cy="38100"/>
            </a:xfrm>
            <a:prstGeom prst="rect">
              <a:avLst/>
            </a:prstGeom>
            <a:solidFill>
              <a:srgbClr val="070154"/>
            </a:solidFill>
            <a:ln>
              <a:noFill/>
            </a:ln>
          </p:spPr>
        </p:sp>
        <p:sp>
          <p:nvSpPr>
            <p:cNvPr id="50" name="node19.source-001.text"/>
            <p:cNvSpPr/>
            <p:nvPr/>
          </p:nvSpPr>
          <p:spPr>
            <a:xfrm>
              <a:off x="8191500" y="3581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Launch as a supported service</a:t>
              </a:r>
              <a:endParaRPr lang="en-US" sz="1200" spc="0" kern="0" b="0" i="0" dirty="0">
                <a:solidFill>
                  <a:srgbClr val="070154"/>
                </a:solidFill>
                <a:latin typeface="IBM Plex Sans"/>
                <a:ea typeface="IBM Plex Sans"/>
                <a:cs typeface="IBM Plex Sans"/>
              </a:endParaRPr>
            </a:p>
          </p:txBody>
        </p:sp>
        <p:sp>
          <p:nvSpPr>
            <p:cNvPr id="51" name="node19.source-002.bullet"/>
            <p:cNvSpPr/>
            <p:nvPr/>
          </p:nvSpPr>
          <p:spPr>
            <a:xfrm>
              <a:off x="8039100" y="3924300"/>
              <a:ext cx="38100" cy="38100"/>
            </a:xfrm>
            <a:prstGeom prst="rect">
              <a:avLst/>
            </a:prstGeom>
            <a:solidFill>
              <a:srgbClr val="070154"/>
            </a:solidFill>
            <a:ln>
              <a:noFill/>
            </a:ln>
          </p:spPr>
        </p:sp>
        <p:sp>
          <p:nvSpPr>
            <p:cNvPr id="52" name="node19.source-002.text"/>
            <p:cNvSpPr/>
            <p:nvPr/>
          </p:nvSpPr>
          <p:spPr>
            <a:xfrm>
              <a:off x="8191500" y="3835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Hand ownership to Northfield</a:t>
              </a:r>
              <a:endParaRPr lang="en-US" sz="1200" spc="0" kern="0" b="0" i="0" dirty="0">
                <a:solidFill>
                  <a:srgbClr val="070154"/>
                </a:solidFill>
                <a:latin typeface="IBM Plex Sans"/>
                <a:ea typeface="IBM Plex Sans"/>
                <a:cs typeface="IBM Plex Sans"/>
              </a:endParaRPr>
            </a:p>
          </p:txBody>
        </p:sp>
        <p:sp>
          <p:nvSpPr>
            <p:cNvPr id="53" name="node19.source-003.bullet"/>
            <p:cNvSpPr/>
            <p:nvPr/>
          </p:nvSpPr>
          <p:spPr>
            <a:xfrm>
              <a:off x="8039100" y="4178300"/>
              <a:ext cx="38100" cy="38100"/>
            </a:xfrm>
            <a:prstGeom prst="rect">
              <a:avLst/>
            </a:prstGeom>
            <a:solidFill>
              <a:srgbClr val="070154"/>
            </a:solidFill>
            <a:ln>
              <a:noFill/>
            </a:ln>
          </p:spPr>
        </p:sp>
        <p:sp>
          <p:nvSpPr>
            <p:cNvPr id="54" name="node19.source-003.text"/>
            <p:cNvSpPr/>
            <p:nvPr/>
          </p:nvSpPr>
          <p:spPr>
            <a:xfrm>
              <a:off x="8191500" y="4089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Transition operations and support</a:t>
              </a:r>
              <a:endParaRPr lang="en-US" sz="1200" spc="0" kern="0" b="0" i="0" dirty="0">
                <a:solidFill>
                  <a:srgbClr val="070154"/>
                </a:solidFill>
                <a:latin typeface="IBM Plex Sans"/>
                <a:ea typeface="IBM Plex Sans"/>
                <a:cs typeface="IBM Plex Sans"/>
              </a:endParaRPr>
            </a:p>
          </p:txBody>
        </p:sp>
        <p:sp>
          <p:nvSpPr>
            <p:cNvPr id="55" name="node19.source-004.bullet"/>
            <p:cNvSpPr/>
            <p:nvPr/>
          </p:nvSpPr>
          <p:spPr>
            <a:xfrm>
              <a:off x="8039100" y="4432300"/>
              <a:ext cx="38100" cy="38100"/>
            </a:xfrm>
            <a:prstGeom prst="rect">
              <a:avLst/>
            </a:prstGeom>
            <a:solidFill>
              <a:srgbClr val="070154"/>
            </a:solidFill>
            <a:ln>
              <a:noFill/>
            </a:ln>
          </p:spPr>
        </p:sp>
        <p:sp>
          <p:nvSpPr>
            <p:cNvPr id="56" name="node19.source-004.text"/>
            <p:cNvSpPr/>
            <p:nvPr/>
          </p:nvSpPr>
          <p:spPr>
            <a:xfrm>
              <a:off x="8191500" y="4343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Optimize cost and adoption</a:t>
              </a:r>
              <a:endParaRPr lang="en-US" sz="1200" spc="0" kern="0" b="0" i="0" dirty="0">
                <a:solidFill>
                  <a:srgbClr val="070154"/>
                </a:solidFill>
                <a:latin typeface="IBM Plex Sans"/>
                <a:ea typeface="IBM Plex Sans"/>
                <a:cs typeface="IBM Plex Sans"/>
              </a:endParaRPr>
            </a:p>
          </p:txBody>
        </p:sp>
        <p:sp>
          <p:nvSpPr>
            <p:cNvPr id="57" name="node19.source-005.bullet"/>
            <p:cNvSpPr/>
            <p:nvPr/>
          </p:nvSpPr>
          <p:spPr>
            <a:xfrm>
              <a:off x="8039100" y="4686300"/>
              <a:ext cx="38100" cy="38100"/>
            </a:xfrm>
            <a:prstGeom prst="rect">
              <a:avLst/>
            </a:prstGeom>
            <a:solidFill>
              <a:srgbClr val="070154"/>
            </a:solidFill>
            <a:ln>
              <a:noFill/>
            </a:ln>
          </p:spPr>
        </p:sp>
        <p:sp>
          <p:nvSpPr>
            <p:cNvPr id="58" name="node19.source-005.text"/>
            <p:cNvSpPr/>
            <p:nvPr/>
          </p:nvSpPr>
          <p:spPr>
            <a:xfrm>
              <a:off x="8191500" y="45974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Plan the next wave of teams</a:t>
              </a:r>
              <a:endParaRPr lang="en-US" sz="1200" spc="0" kern="0" b="0" i="0" dirty="0">
                <a:solidFill>
                  <a:srgbClr val="070154"/>
                </a:solidFill>
                <a:latin typeface="IBM Plex Sans"/>
                <a:ea typeface="IBM Plex Sans"/>
                <a:cs typeface="IBM Plex Sans"/>
              </a:endParaRPr>
            </a:p>
          </p:txBody>
        </p:sp>
      </p:grpSp>
      <p:grpSp>
        <p:nvGrpSpPr>
          <p:cNvPr id="81" name="node20"/>
          <p:cNvGrpSpPr/>
          <p:nvPr/>
        </p:nvGrpSpPr>
        <p:grpSpPr>
          <a:xfrm>
            <a:off x="8039100" y="5181600"/>
            <a:ext cx="3200400" cy="139700"/>
            <a:chOff x="8039100" y="5181600"/>
            <a:chExt cx="3200400" cy="139700"/>
          </a:xfrm>
        </p:grpSpPr>
        <p:sp>
          <p:nvSpPr>
            <p:cNvPr id="59" name="node20.text"/>
            <p:cNvSpPr/>
            <p:nvPr/>
          </p:nvSpPr>
          <p:spPr>
            <a:xfrm>
              <a:off x="8039100" y="51816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OUTCOME</a:t>
              </a:r>
              <a:endParaRPr lang="en-US" sz="800" spc="48" kern="0" b="0" i="0" dirty="0">
                <a:solidFill>
                  <a:srgbClr val="0047FF"/>
                </a:solidFill>
                <a:latin typeface="IBM Plex Mono Medium"/>
                <a:ea typeface="IBM Plex Mono Medium"/>
                <a:cs typeface="IBM Plex Mono Medium"/>
              </a:endParaRPr>
            </a:p>
          </p:txBody>
        </p:sp>
      </p:grpSp>
      <p:grpSp>
        <p:nvGrpSpPr>
          <p:cNvPr id="82" name="node21"/>
          <p:cNvGrpSpPr/>
          <p:nvPr/>
        </p:nvGrpSpPr>
        <p:grpSpPr>
          <a:xfrm>
            <a:off x="8039100" y="5410200"/>
            <a:ext cx="3200400" cy="215900"/>
            <a:chOff x="8039100" y="5410200"/>
            <a:chExt cx="3200400" cy="215900"/>
          </a:xfrm>
        </p:grpSpPr>
        <p:sp>
          <p:nvSpPr>
            <p:cNvPr id="60" name="node21.source-001.bullet"/>
            <p:cNvSpPr/>
            <p:nvPr/>
          </p:nvSpPr>
          <p:spPr>
            <a:xfrm>
              <a:off x="8039100" y="5499100"/>
              <a:ext cx="38100" cy="38100"/>
            </a:xfrm>
            <a:prstGeom prst="rect">
              <a:avLst/>
            </a:prstGeom>
            <a:solidFill>
              <a:srgbClr val="070154"/>
            </a:solidFill>
            <a:ln>
              <a:noFill/>
            </a:ln>
          </p:spPr>
        </p:sp>
        <p:sp>
          <p:nvSpPr>
            <p:cNvPr id="61" name="node21.source-001.text"/>
            <p:cNvSpPr/>
            <p:nvPr/>
          </p:nvSpPr>
          <p:spPr>
            <a:xfrm>
              <a:off x="8191500" y="54102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Platform ready to scale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ource-36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phases from baseline to a funded roadmap</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130</a:t>
            </a:fld>
            <a:endParaRPr lang="en-US" sz="700" spc="0" kern="0" b="0" i="0" dirty="0">
              <a:solidFill>
                <a:srgbClr val="070154"/>
              </a:solidFill>
              <a:latin typeface="IBM Plex Mono SemiBold"/>
              <a:ea typeface="IBM Plex Mono SemiBold"/>
              <a:cs typeface="IBM Plex Mono SemiBold"/>
            </a:endParaRPr>
          </a:p>
        </p:txBody>
      </p:sp>
      <p:grpSp>
        <p:nvGrpSpPr>
          <p:cNvPr id="78" name="node01"/>
          <p:cNvGrpSpPr/>
          <p:nvPr/>
        </p:nvGrpSpPr>
        <p:grpSpPr>
          <a:xfrm>
            <a:off x="723900" y="1600200"/>
            <a:ext cx="3429000" cy="685800"/>
            <a:chOff x="723900" y="1600200"/>
            <a:chExt cx="3429000" cy="685800"/>
          </a:xfrm>
        </p:grpSpPr>
        <p:sp>
          <p:nvSpPr>
            <p:cNvPr id="6" name="node01.surface"/>
            <p:cNvSpPr/>
            <p:nvPr/>
          </p:nvSpPr>
          <p:spPr>
            <a:xfrm>
              <a:off x="723900" y="1600200"/>
              <a:ext cx="3429000" cy="685800"/>
            </a:xfrm>
            <a:custGeom>
              <a:avLst/>
              <a:gdLst/>
              <a:ahLst/>
              <a:cxnLst/>
              <a:rect l="l" t="t" r="r" b="b"/>
              <a:pathLst>
                <a:path w="3429000" h="685800">
                  <a:moveTo>
                    <a:pt x="0" y="0"/>
                  </a:moveTo>
                  <a:lnTo>
                    <a:pt x="3200400" y="0"/>
                  </a:lnTo>
                  <a:lnTo>
                    <a:pt x="3429000" y="342900"/>
                  </a:lnTo>
                  <a:lnTo>
                    <a:pt x="3200400" y="685800"/>
                  </a:lnTo>
                  <a:lnTo>
                    <a:pt x="0" y="685800"/>
                  </a:lnTo>
                  <a:close/>
                </a:path>
              </a:pathLst>
            </a:custGeom>
            <a:solidFill>
              <a:srgbClr val="070154"/>
            </a:solidFill>
            <a:ln>
              <a:noFill/>
            </a:ln>
          </p:spPr>
        </p:sp>
        <p:sp>
          <p:nvSpPr>
            <p:cNvPr id="7" name="node01.text"/>
            <p:cNvSpPr/>
            <p:nvPr/>
          </p:nvSpPr>
          <p:spPr>
            <a:xfrm>
              <a:off x="876300" y="1809750"/>
              <a:ext cx="29718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Phase 1 · Baseline</a:t>
              </a:r>
              <a:endParaRPr lang="en-US" sz="1600" spc="-16" kern="0" b="0" i="0" dirty="0">
                <a:solidFill>
                  <a:srgbClr val="FFFFFF"/>
                </a:solidFill>
                <a:latin typeface="IBM Plex Sans SemiBold"/>
                <a:ea typeface="IBM Plex Sans SemiBold"/>
                <a:cs typeface="IBM Plex Sans SemiBold"/>
              </a:endParaRPr>
            </a:p>
          </p:txBody>
        </p:sp>
      </p:grpSp>
      <p:grpSp>
        <p:nvGrpSpPr>
          <p:cNvPr id="79" name="node02"/>
          <p:cNvGrpSpPr/>
          <p:nvPr/>
        </p:nvGrpSpPr>
        <p:grpSpPr>
          <a:xfrm>
            <a:off x="723900" y="2286000"/>
            <a:ext cx="3429000" cy="457200"/>
            <a:chOff x="723900" y="2286000"/>
            <a:chExt cx="3429000" cy="457200"/>
          </a:xfrm>
        </p:grpSpPr>
        <p:sp>
          <p:nvSpPr>
            <p:cNvPr id="8" name="node02.surface"/>
            <p:cNvSpPr/>
            <p:nvPr/>
          </p:nvSpPr>
          <p:spPr>
            <a:xfrm>
              <a:off x="723900" y="2286000"/>
              <a:ext cx="3429000" cy="457200"/>
            </a:xfrm>
            <a:prstGeom prst="rect">
              <a:avLst/>
            </a:prstGeom>
            <a:solidFill>
              <a:srgbClr val="CED7E6"/>
            </a:solidFill>
            <a:ln>
              <a:noFill/>
            </a:ln>
          </p:spPr>
        </p:sp>
        <p:sp>
          <p:nvSpPr>
            <p:cNvPr id="9" name="node02.text"/>
            <p:cNvSpPr/>
            <p:nvPr/>
          </p:nvSpPr>
          <p:spPr>
            <a:xfrm>
              <a:off x="876300" y="241935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6–8 weeks · establish the fact base</a:t>
              </a:r>
              <a:endParaRPr lang="en-US" sz="1100" spc="0" kern="0" b="0" i="0" dirty="0">
                <a:solidFill>
                  <a:srgbClr val="070154"/>
                </a:solidFill>
                <a:latin typeface="IBM Plex Sans"/>
                <a:ea typeface="IBM Plex Sans"/>
                <a:cs typeface="IBM Plex Sans"/>
              </a:endParaRPr>
            </a:p>
          </p:txBody>
        </p:sp>
      </p:grpSp>
      <p:grpSp>
        <p:nvGrpSpPr>
          <p:cNvPr id="80" name="node03"/>
          <p:cNvGrpSpPr/>
          <p:nvPr/>
        </p:nvGrpSpPr>
        <p:grpSpPr>
          <a:xfrm>
            <a:off x="723900" y="2743200"/>
            <a:ext cx="3429000" cy="1828800"/>
            <a:chOff x="723900" y="2743200"/>
            <a:chExt cx="3429000" cy="1828800"/>
          </a:xfrm>
        </p:grpSpPr>
        <p:sp>
          <p:nvSpPr>
            <p:cNvPr id="10" name="node03.container"/>
            <p:cNvSpPr/>
            <p:nvPr/>
          </p:nvSpPr>
          <p:spPr>
            <a:xfrm>
              <a:off x="723900" y="2743200"/>
              <a:ext cx="3429000" cy="1828800"/>
            </a:xfrm>
            <a:prstGeom prst="rect">
              <a:avLst/>
            </a:prstGeom>
            <a:solidFill>
              <a:srgbClr val="E8EEF8"/>
            </a:solidFill>
            <a:ln>
              <a:noFill/>
            </a:ln>
          </p:spPr>
        </p:sp>
        <p:sp>
          <p:nvSpPr>
            <p:cNvPr id="11" name="node03.label"/>
            <p:cNvSpPr/>
            <p:nvPr/>
          </p:nvSpPr>
          <p:spPr>
            <a:xfrm>
              <a:off x="876300" y="2895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ACTIVITIES</a:t>
              </a:r>
              <a:endParaRPr lang="en-US" sz="800" spc="48" kern="0" b="0" i="0" dirty="0">
                <a:solidFill>
                  <a:srgbClr val="0047FF"/>
                </a:solidFill>
                <a:latin typeface="IBM Plex Mono Medium"/>
                <a:ea typeface="IBM Plex Mono Medium"/>
                <a:cs typeface="IBM Plex Mono Medium"/>
              </a:endParaRPr>
            </a:p>
          </p:txBody>
        </p:sp>
        <p:sp>
          <p:nvSpPr>
            <p:cNvPr id="12" name="node03.body.item-001.bullets.item-001.marker"/>
            <p:cNvSpPr/>
            <p:nvPr/>
          </p:nvSpPr>
          <p:spPr>
            <a:xfrm>
              <a:off x="876300" y="3162300"/>
              <a:ext cx="38100" cy="38100"/>
            </a:xfrm>
            <a:prstGeom prst="rect">
              <a:avLst/>
            </a:prstGeom>
            <a:solidFill>
              <a:srgbClr val="070154"/>
            </a:solidFill>
            <a:ln>
              <a:noFill/>
            </a:ln>
          </p:spPr>
        </p:sp>
        <p:sp>
          <p:nvSpPr>
            <p:cNvPr id="13" name="node03.body.item-001.bullets.item-001.text"/>
            <p:cNvSpPr/>
            <p:nvPr/>
          </p:nvSpPr>
          <p:spPr>
            <a:xfrm>
              <a:off x="1028700" y="3073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Gather data and benchmarks</a:t>
              </a:r>
              <a:endParaRPr lang="en-US" sz="1200" spc="0" kern="0" b="0" i="0" dirty="0">
                <a:solidFill>
                  <a:srgbClr val="070154"/>
                </a:solidFill>
                <a:latin typeface="IBM Plex Sans"/>
                <a:ea typeface="IBM Plex Sans"/>
                <a:cs typeface="IBM Plex Sans"/>
              </a:endParaRPr>
            </a:p>
          </p:txBody>
        </p:sp>
        <p:sp>
          <p:nvSpPr>
            <p:cNvPr id="14" name="node03.body.item-001.bullets.item-002.marker"/>
            <p:cNvSpPr/>
            <p:nvPr/>
          </p:nvSpPr>
          <p:spPr>
            <a:xfrm>
              <a:off x="876300" y="3416300"/>
              <a:ext cx="38100" cy="38100"/>
            </a:xfrm>
            <a:prstGeom prst="rect">
              <a:avLst/>
            </a:prstGeom>
            <a:solidFill>
              <a:srgbClr val="070154"/>
            </a:solidFill>
            <a:ln>
              <a:noFill/>
            </a:ln>
          </p:spPr>
        </p:sp>
        <p:sp>
          <p:nvSpPr>
            <p:cNvPr id="15" name="node03.body.item-001.bullets.item-002.text"/>
            <p:cNvSpPr/>
            <p:nvPr/>
          </p:nvSpPr>
          <p:spPr>
            <a:xfrm>
              <a:off x="1028700" y="3327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Interview finance leaders</a:t>
              </a:r>
              <a:endParaRPr lang="en-US" sz="1200" spc="0" kern="0" b="0" i="0" dirty="0">
                <a:solidFill>
                  <a:srgbClr val="070154"/>
                </a:solidFill>
                <a:latin typeface="IBM Plex Sans"/>
                <a:ea typeface="IBM Plex Sans"/>
                <a:cs typeface="IBM Plex Sans"/>
              </a:endParaRPr>
            </a:p>
          </p:txBody>
        </p:sp>
        <p:sp>
          <p:nvSpPr>
            <p:cNvPr id="16" name="node03.body.item-001.bullets.item-003.marker"/>
            <p:cNvSpPr/>
            <p:nvPr/>
          </p:nvSpPr>
          <p:spPr>
            <a:xfrm>
              <a:off x="876300" y="3670300"/>
              <a:ext cx="38100" cy="38100"/>
            </a:xfrm>
            <a:prstGeom prst="rect">
              <a:avLst/>
            </a:prstGeom>
            <a:solidFill>
              <a:srgbClr val="070154"/>
            </a:solidFill>
            <a:ln>
              <a:noFill/>
            </a:ln>
          </p:spPr>
        </p:sp>
        <p:sp>
          <p:nvSpPr>
            <p:cNvPr id="17" name="node03.body.item-001.bullets.item-003.text"/>
            <p:cNvSpPr/>
            <p:nvPr/>
          </p:nvSpPr>
          <p:spPr>
            <a:xfrm>
              <a:off x="1028700" y="3581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Size the opportunity by function</a:t>
              </a:r>
              <a:endParaRPr lang="en-US" sz="1200" spc="0" kern="0" b="0" i="0" dirty="0">
                <a:solidFill>
                  <a:srgbClr val="070154"/>
                </a:solidFill>
                <a:latin typeface="IBM Plex Sans"/>
                <a:ea typeface="IBM Plex Sans"/>
                <a:cs typeface="IBM Plex Sans"/>
              </a:endParaRPr>
            </a:p>
          </p:txBody>
        </p:sp>
        <p:sp>
          <p:nvSpPr>
            <p:cNvPr id="18" name="node03.body.item-001.bullets.item-004.marker"/>
            <p:cNvSpPr/>
            <p:nvPr/>
          </p:nvSpPr>
          <p:spPr>
            <a:xfrm>
              <a:off x="876300" y="3924300"/>
              <a:ext cx="38100" cy="38100"/>
            </a:xfrm>
            <a:prstGeom prst="rect">
              <a:avLst/>
            </a:prstGeom>
            <a:solidFill>
              <a:srgbClr val="070154"/>
            </a:solidFill>
            <a:ln>
              <a:noFill/>
            </a:ln>
          </p:spPr>
        </p:sp>
        <p:sp>
          <p:nvSpPr>
            <p:cNvPr id="19" name="node03.body.item-001.bullets.item-004.text"/>
            <p:cNvSpPr/>
            <p:nvPr/>
          </p:nvSpPr>
          <p:spPr>
            <a:xfrm>
              <a:off x="1028700" y="3835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Map workflows and handoffs</a:t>
              </a:r>
              <a:endParaRPr lang="en-US" sz="1200" spc="0" kern="0" b="0" i="0" dirty="0">
                <a:solidFill>
                  <a:srgbClr val="070154"/>
                </a:solidFill>
                <a:latin typeface="IBM Plex Sans"/>
                <a:ea typeface="IBM Plex Sans"/>
                <a:cs typeface="IBM Plex Sans"/>
              </a:endParaRPr>
            </a:p>
          </p:txBody>
        </p:sp>
        <p:sp>
          <p:nvSpPr>
            <p:cNvPr id="20" name="node03.body.item-001.bullets.item-005.marker"/>
            <p:cNvSpPr/>
            <p:nvPr/>
          </p:nvSpPr>
          <p:spPr>
            <a:xfrm>
              <a:off x="876300" y="4178300"/>
              <a:ext cx="38100" cy="38100"/>
            </a:xfrm>
            <a:prstGeom prst="rect">
              <a:avLst/>
            </a:prstGeom>
            <a:solidFill>
              <a:srgbClr val="070154"/>
            </a:solidFill>
            <a:ln>
              <a:noFill/>
            </a:ln>
          </p:spPr>
        </p:sp>
        <p:sp>
          <p:nvSpPr>
            <p:cNvPr id="21" name="node03.body.item-001.bullets.item-005.text"/>
            <p:cNvSpPr/>
            <p:nvPr/>
          </p:nvSpPr>
          <p:spPr>
            <a:xfrm>
              <a:off x="1028700" y="4089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Test findings with sponsors</a:t>
              </a:r>
              <a:endParaRPr lang="en-US" sz="1200" spc="0" kern="0" b="0" i="0" dirty="0">
                <a:solidFill>
                  <a:srgbClr val="070154"/>
                </a:solidFill>
                <a:latin typeface="IBM Plex Sans"/>
                <a:ea typeface="IBM Plex Sans"/>
                <a:cs typeface="IBM Plex Sans"/>
              </a:endParaRPr>
            </a:p>
          </p:txBody>
        </p:sp>
      </p:grpSp>
      <p:grpSp>
        <p:nvGrpSpPr>
          <p:cNvPr id="81" name="node04"/>
          <p:cNvGrpSpPr/>
          <p:nvPr/>
        </p:nvGrpSpPr>
        <p:grpSpPr>
          <a:xfrm>
            <a:off x="723900" y="4572000"/>
            <a:ext cx="3429000" cy="1371600"/>
            <a:chOff x="723900" y="4572000"/>
            <a:chExt cx="3429000" cy="1371600"/>
          </a:xfrm>
        </p:grpSpPr>
        <p:sp>
          <p:nvSpPr>
            <p:cNvPr id="22" name="node04.container"/>
            <p:cNvSpPr/>
            <p:nvPr/>
          </p:nvSpPr>
          <p:spPr>
            <a:xfrm>
              <a:off x="730250" y="4578350"/>
              <a:ext cx="3416300" cy="1358900"/>
            </a:xfrm>
            <a:prstGeom prst="rect">
              <a:avLst/>
            </a:prstGeom>
            <a:solidFill>
              <a:srgbClr val="FFFFFF"/>
            </a:solidFill>
            <a:ln w="12700">
              <a:solidFill>
                <a:srgbClr val="CED7E6"/>
              </a:solidFill>
              <a:prstDash val="solid"/>
            </a:ln>
          </p:spPr>
        </p:sp>
        <p:sp>
          <p:nvSpPr>
            <p:cNvPr id="23" name="node04.label"/>
            <p:cNvSpPr/>
            <p:nvPr/>
          </p:nvSpPr>
          <p:spPr>
            <a:xfrm>
              <a:off x="876300" y="47244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DELIVERABLES</a:t>
              </a:r>
              <a:endParaRPr lang="en-US" sz="800" spc="48" kern="0" b="0" i="0" dirty="0">
                <a:solidFill>
                  <a:srgbClr val="0047FF"/>
                </a:solidFill>
                <a:latin typeface="IBM Plex Mono Medium"/>
                <a:ea typeface="IBM Plex Mono Medium"/>
                <a:cs typeface="IBM Plex Mono Medium"/>
              </a:endParaRPr>
            </a:p>
          </p:txBody>
        </p:sp>
        <p:sp>
          <p:nvSpPr>
            <p:cNvPr id="24" name="node04.body.item-001.bullets.item-001.marker"/>
            <p:cNvSpPr/>
            <p:nvPr/>
          </p:nvSpPr>
          <p:spPr>
            <a:xfrm>
              <a:off x="876300" y="4991100"/>
              <a:ext cx="38100" cy="38100"/>
            </a:xfrm>
            <a:prstGeom prst="rect">
              <a:avLst/>
            </a:prstGeom>
            <a:solidFill>
              <a:srgbClr val="070154"/>
            </a:solidFill>
            <a:ln>
              <a:noFill/>
            </a:ln>
          </p:spPr>
        </p:sp>
        <p:sp>
          <p:nvSpPr>
            <p:cNvPr id="25" name="node04.body.item-001.bullets.item-001.text"/>
            <p:cNvSpPr/>
            <p:nvPr/>
          </p:nvSpPr>
          <p:spPr>
            <a:xfrm>
              <a:off x="1028700" y="49022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Baseline and benchmark report</a:t>
              </a:r>
              <a:endParaRPr lang="en-US" sz="1200" spc="0" kern="0" b="0" i="0" dirty="0">
                <a:solidFill>
                  <a:srgbClr val="070154"/>
                </a:solidFill>
                <a:latin typeface="IBM Plex Sans"/>
                <a:ea typeface="IBM Plex Sans"/>
                <a:cs typeface="IBM Plex Sans"/>
              </a:endParaRPr>
            </a:p>
          </p:txBody>
        </p:sp>
        <p:sp>
          <p:nvSpPr>
            <p:cNvPr id="26" name="node04.body.item-001.bullets.item-002.marker"/>
            <p:cNvSpPr/>
            <p:nvPr/>
          </p:nvSpPr>
          <p:spPr>
            <a:xfrm>
              <a:off x="876300" y="5245100"/>
              <a:ext cx="38100" cy="38100"/>
            </a:xfrm>
            <a:prstGeom prst="rect">
              <a:avLst/>
            </a:prstGeom>
            <a:solidFill>
              <a:srgbClr val="070154"/>
            </a:solidFill>
            <a:ln>
              <a:noFill/>
            </a:ln>
          </p:spPr>
        </p:sp>
        <p:sp>
          <p:nvSpPr>
            <p:cNvPr id="27" name="node04.body.item-001.bullets.item-002.text"/>
            <p:cNvSpPr/>
            <p:nvPr/>
          </p:nvSpPr>
          <p:spPr>
            <a:xfrm>
              <a:off x="1028700" y="51562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Opportunity sizing model</a:t>
              </a:r>
              <a:endParaRPr lang="en-US" sz="1200" spc="0" kern="0" b="0" i="0" dirty="0">
                <a:solidFill>
                  <a:srgbClr val="070154"/>
                </a:solidFill>
                <a:latin typeface="IBM Plex Sans"/>
                <a:ea typeface="IBM Plex Sans"/>
                <a:cs typeface="IBM Plex Sans"/>
              </a:endParaRPr>
            </a:p>
          </p:txBody>
        </p:sp>
        <p:sp>
          <p:nvSpPr>
            <p:cNvPr id="28" name="node04.body.item-001.bullets.item-003.marker"/>
            <p:cNvSpPr/>
            <p:nvPr/>
          </p:nvSpPr>
          <p:spPr>
            <a:xfrm>
              <a:off x="876300" y="5499100"/>
              <a:ext cx="38100" cy="38100"/>
            </a:xfrm>
            <a:prstGeom prst="rect">
              <a:avLst/>
            </a:prstGeom>
            <a:solidFill>
              <a:srgbClr val="070154"/>
            </a:solidFill>
            <a:ln>
              <a:noFill/>
            </a:ln>
          </p:spPr>
        </p:sp>
        <p:sp>
          <p:nvSpPr>
            <p:cNvPr id="29" name="node04.body.item-001.bullets.item-003.text"/>
            <p:cNvSpPr/>
            <p:nvPr/>
          </p:nvSpPr>
          <p:spPr>
            <a:xfrm>
              <a:off x="1028700" y="54102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Fact-base readout</a:t>
              </a:r>
              <a:endParaRPr lang="en-US" sz="1200" spc="0" kern="0" b="0" i="0" dirty="0">
                <a:solidFill>
                  <a:srgbClr val="070154"/>
                </a:solidFill>
                <a:latin typeface="IBM Plex Sans"/>
                <a:ea typeface="IBM Plex Sans"/>
                <a:cs typeface="IBM Plex Sans"/>
              </a:endParaRPr>
            </a:p>
          </p:txBody>
        </p:sp>
      </p:grpSp>
      <p:grpSp>
        <p:nvGrpSpPr>
          <p:cNvPr id="82" name="node05"/>
          <p:cNvGrpSpPr/>
          <p:nvPr/>
        </p:nvGrpSpPr>
        <p:grpSpPr>
          <a:xfrm>
            <a:off x="4381500" y="1600200"/>
            <a:ext cx="3429000" cy="685800"/>
            <a:chOff x="4381500" y="1600200"/>
            <a:chExt cx="3429000" cy="685800"/>
          </a:xfrm>
        </p:grpSpPr>
        <p:sp>
          <p:nvSpPr>
            <p:cNvPr id="30" name="node05.surface"/>
            <p:cNvSpPr/>
            <p:nvPr/>
          </p:nvSpPr>
          <p:spPr>
            <a:xfrm>
              <a:off x="4381500" y="1600200"/>
              <a:ext cx="3429000" cy="685800"/>
            </a:xfrm>
            <a:custGeom>
              <a:avLst/>
              <a:gdLst/>
              <a:ahLst/>
              <a:cxnLst/>
              <a:rect l="l" t="t" r="r" b="b"/>
              <a:pathLst>
                <a:path w="3429000" h="685800">
                  <a:moveTo>
                    <a:pt x="0" y="0"/>
                  </a:moveTo>
                  <a:lnTo>
                    <a:pt x="3200400" y="0"/>
                  </a:lnTo>
                  <a:lnTo>
                    <a:pt x="3429000" y="342900"/>
                  </a:lnTo>
                  <a:lnTo>
                    <a:pt x="3200400" y="685800"/>
                  </a:lnTo>
                  <a:lnTo>
                    <a:pt x="0" y="685800"/>
                  </a:lnTo>
                  <a:lnTo>
                    <a:pt x="228600" y="342900"/>
                  </a:lnTo>
                  <a:close/>
                </a:path>
              </a:pathLst>
            </a:custGeom>
            <a:solidFill>
              <a:srgbClr val="070154"/>
            </a:solidFill>
            <a:ln>
              <a:noFill/>
            </a:ln>
          </p:spPr>
        </p:sp>
        <p:sp>
          <p:nvSpPr>
            <p:cNvPr id="31" name="node05.text"/>
            <p:cNvSpPr/>
            <p:nvPr/>
          </p:nvSpPr>
          <p:spPr>
            <a:xfrm>
              <a:off x="4762500" y="1809750"/>
              <a:ext cx="27432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Phase 2 · Design</a:t>
              </a:r>
              <a:endParaRPr lang="en-US" sz="1600" spc="-16" kern="0" b="0" i="0" dirty="0">
                <a:solidFill>
                  <a:srgbClr val="FFFFFF"/>
                </a:solidFill>
                <a:latin typeface="IBM Plex Sans SemiBold"/>
                <a:ea typeface="IBM Plex Sans SemiBold"/>
                <a:cs typeface="IBM Plex Sans SemiBold"/>
              </a:endParaRPr>
            </a:p>
          </p:txBody>
        </p:sp>
      </p:grpSp>
      <p:grpSp>
        <p:nvGrpSpPr>
          <p:cNvPr id="83" name="node06"/>
          <p:cNvGrpSpPr/>
          <p:nvPr/>
        </p:nvGrpSpPr>
        <p:grpSpPr>
          <a:xfrm>
            <a:off x="4381500" y="2286000"/>
            <a:ext cx="3429000" cy="457200"/>
            <a:chOff x="4381500" y="2286000"/>
            <a:chExt cx="3429000" cy="457200"/>
          </a:xfrm>
        </p:grpSpPr>
        <p:sp>
          <p:nvSpPr>
            <p:cNvPr id="32" name="node06.surface"/>
            <p:cNvSpPr/>
            <p:nvPr/>
          </p:nvSpPr>
          <p:spPr>
            <a:xfrm>
              <a:off x="4381500" y="2286000"/>
              <a:ext cx="3429000" cy="457200"/>
            </a:xfrm>
            <a:prstGeom prst="rect">
              <a:avLst/>
            </a:prstGeom>
            <a:solidFill>
              <a:srgbClr val="CED7E6"/>
            </a:solidFill>
            <a:ln>
              <a:noFill/>
            </a:ln>
          </p:spPr>
        </p:sp>
        <p:sp>
          <p:nvSpPr>
            <p:cNvPr id="33" name="node06.text"/>
            <p:cNvSpPr/>
            <p:nvPr/>
          </p:nvSpPr>
          <p:spPr>
            <a:xfrm>
              <a:off x="4533900" y="241935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2–3 weeks · shape the options</a:t>
              </a:r>
              <a:endParaRPr lang="en-US" sz="1100" spc="0" kern="0" b="0" i="0" dirty="0">
                <a:solidFill>
                  <a:srgbClr val="070154"/>
                </a:solidFill>
                <a:latin typeface="IBM Plex Sans"/>
                <a:ea typeface="IBM Plex Sans"/>
                <a:cs typeface="IBM Plex Sans"/>
              </a:endParaRPr>
            </a:p>
          </p:txBody>
        </p:sp>
      </p:grpSp>
      <p:grpSp>
        <p:nvGrpSpPr>
          <p:cNvPr id="84" name="node07"/>
          <p:cNvGrpSpPr/>
          <p:nvPr/>
        </p:nvGrpSpPr>
        <p:grpSpPr>
          <a:xfrm>
            <a:off x="4381500" y="2743200"/>
            <a:ext cx="3429000" cy="1828800"/>
            <a:chOff x="4381500" y="2743200"/>
            <a:chExt cx="3429000" cy="1828800"/>
          </a:xfrm>
        </p:grpSpPr>
        <p:sp>
          <p:nvSpPr>
            <p:cNvPr id="34" name="node07.container"/>
            <p:cNvSpPr/>
            <p:nvPr/>
          </p:nvSpPr>
          <p:spPr>
            <a:xfrm>
              <a:off x="4381500" y="2743200"/>
              <a:ext cx="3429000" cy="1828800"/>
            </a:xfrm>
            <a:prstGeom prst="rect">
              <a:avLst/>
            </a:prstGeom>
            <a:solidFill>
              <a:srgbClr val="E8EEF8"/>
            </a:solidFill>
            <a:ln>
              <a:noFill/>
            </a:ln>
          </p:spPr>
        </p:sp>
        <p:sp>
          <p:nvSpPr>
            <p:cNvPr id="35" name="node07.label"/>
            <p:cNvSpPr/>
            <p:nvPr/>
          </p:nvSpPr>
          <p:spPr>
            <a:xfrm>
              <a:off x="4533900" y="2895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ACTIVITIES</a:t>
              </a:r>
              <a:endParaRPr lang="en-US" sz="800" spc="48" kern="0" b="0" i="0" dirty="0">
                <a:solidFill>
                  <a:srgbClr val="0047FF"/>
                </a:solidFill>
                <a:latin typeface="IBM Plex Mono Medium"/>
                <a:ea typeface="IBM Plex Mono Medium"/>
                <a:cs typeface="IBM Plex Mono Medium"/>
              </a:endParaRPr>
            </a:p>
          </p:txBody>
        </p:sp>
        <p:sp>
          <p:nvSpPr>
            <p:cNvPr id="36" name="node07.body.item-001.bullets.item-001.marker"/>
            <p:cNvSpPr/>
            <p:nvPr/>
          </p:nvSpPr>
          <p:spPr>
            <a:xfrm>
              <a:off x="4533900" y="3162300"/>
              <a:ext cx="38100" cy="38100"/>
            </a:xfrm>
            <a:prstGeom prst="rect">
              <a:avLst/>
            </a:prstGeom>
            <a:solidFill>
              <a:srgbClr val="070154"/>
            </a:solidFill>
            <a:ln>
              <a:noFill/>
            </a:ln>
          </p:spPr>
        </p:sp>
        <p:sp>
          <p:nvSpPr>
            <p:cNvPr id="37" name="node07.body.item-001.bullets.item-001.text"/>
            <p:cNvSpPr/>
            <p:nvPr/>
          </p:nvSpPr>
          <p:spPr>
            <a:xfrm>
              <a:off x="4686300" y="3073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Develop recommendations per area</a:t>
              </a:r>
              <a:endParaRPr lang="en-US" sz="1200" spc="0" kern="0" b="0" i="0" dirty="0">
                <a:solidFill>
                  <a:srgbClr val="070154"/>
                </a:solidFill>
                <a:latin typeface="IBM Plex Sans"/>
                <a:ea typeface="IBM Plex Sans"/>
                <a:cs typeface="IBM Plex Sans"/>
              </a:endParaRPr>
            </a:p>
          </p:txBody>
        </p:sp>
        <p:sp>
          <p:nvSpPr>
            <p:cNvPr id="38" name="node07.body.item-001.bullets.item-002.marker"/>
            <p:cNvSpPr/>
            <p:nvPr/>
          </p:nvSpPr>
          <p:spPr>
            <a:xfrm>
              <a:off x="4533900" y="3416300"/>
              <a:ext cx="38100" cy="38100"/>
            </a:xfrm>
            <a:prstGeom prst="rect">
              <a:avLst/>
            </a:prstGeom>
            <a:solidFill>
              <a:srgbClr val="070154"/>
            </a:solidFill>
            <a:ln>
              <a:noFill/>
            </a:ln>
          </p:spPr>
        </p:sp>
        <p:sp>
          <p:nvSpPr>
            <p:cNvPr id="39" name="node07.body.item-001.bullets.item-002.text"/>
            <p:cNvSpPr/>
            <p:nvPr/>
          </p:nvSpPr>
          <p:spPr>
            <a:xfrm>
              <a:off x="4686300" y="3327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Set savings and value targets</a:t>
              </a:r>
              <a:endParaRPr lang="en-US" sz="1200" spc="0" kern="0" b="0" i="0" dirty="0">
                <a:solidFill>
                  <a:srgbClr val="070154"/>
                </a:solidFill>
                <a:latin typeface="IBM Plex Sans"/>
                <a:ea typeface="IBM Plex Sans"/>
                <a:cs typeface="IBM Plex Sans"/>
              </a:endParaRPr>
            </a:p>
          </p:txBody>
        </p:sp>
        <p:sp>
          <p:nvSpPr>
            <p:cNvPr id="40" name="node07.body.item-001.bullets.item-003.marker"/>
            <p:cNvSpPr/>
            <p:nvPr/>
          </p:nvSpPr>
          <p:spPr>
            <a:xfrm>
              <a:off x="4533900" y="3670300"/>
              <a:ext cx="38100" cy="38100"/>
            </a:xfrm>
            <a:prstGeom prst="rect">
              <a:avLst/>
            </a:prstGeom>
            <a:solidFill>
              <a:srgbClr val="070154"/>
            </a:solidFill>
            <a:ln>
              <a:noFill/>
            </a:ln>
          </p:spPr>
        </p:sp>
        <p:sp>
          <p:nvSpPr>
            <p:cNvPr id="41" name="node07.body.item-001.bullets.item-003.text"/>
            <p:cNvSpPr/>
            <p:nvPr/>
          </p:nvSpPr>
          <p:spPr>
            <a:xfrm>
              <a:off x="4686300" y="3581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Define the target mix of roles</a:t>
              </a:r>
              <a:endParaRPr lang="en-US" sz="1200" spc="0" kern="0" b="0" i="0" dirty="0">
                <a:solidFill>
                  <a:srgbClr val="070154"/>
                </a:solidFill>
                <a:latin typeface="IBM Plex Sans"/>
                <a:ea typeface="IBM Plex Sans"/>
                <a:cs typeface="IBM Plex Sans"/>
              </a:endParaRPr>
            </a:p>
          </p:txBody>
        </p:sp>
        <p:sp>
          <p:nvSpPr>
            <p:cNvPr id="42" name="node07.body.item-001.bullets.item-004.marker"/>
            <p:cNvSpPr/>
            <p:nvPr/>
          </p:nvSpPr>
          <p:spPr>
            <a:xfrm>
              <a:off x="4533900" y="3924300"/>
              <a:ext cx="38100" cy="38100"/>
            </a:xfrm>
            <a:prstGeom prst="rect">
              <a:avLst/>
            </a:prstGeom>
            <a:solidFill>
              <a:srgbClr val="070154"/>
            </a:solidFill>
            <a:ln>
              <a:noFill/>
            </a:ln>
          </p:spPr>
        </p:sp>
        <p:sp>
          <p:nvSpPr>
            <p:cNvPr id="43" name="node07.body.item-001.bullets.item-004.text"/>
            <p:cNvSpPr/>
            <p:nvPr/>
          </p:nvSpPr>
          <p:spPr>
            <a:xfrm>
              <a:off x="4686300" y="3835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Rank options by impact and effort</a:t>
              </a:r>
              <a:endParaRPr lang="en-US" sz="1200" spc="0" kern="0" b="0" i="0" dirty="0">
                <a:solidFill>
                  <a:srgbClr val="070154"/>
                </a:solidFill>
                <a:latin typeface="IBM Plex Sans"/>
                <a:ea typeface="IBM Plex Sans"/>
                <a:cs typeface="IBM Plex Sans"/>
              </a:endParaRPr>
            </a:p>
          </p:txBody>
        </p:sp>
        <p:sp>
          <p:nvSpPr>
            <p:cNvPr id="44" name="node07.body.item-001.bullets.item-005.marker"/>
            <p:cNvSpPr/>
            <p:nvPr/>
          </p:nvSpPr>
          <p:spPr>
            <a:xfrm>
              <a:off x="4533900" y="4178300"/>
              <a:ext cx="38100" cy="38100"/>
            </a:xfrm>
            <a:prstGeom prst="rect">
              <a:avLst/>
            </a:prstGeom>
            <a:solidFill>
              <a:srgbClr val="070154"/>
            </a:solidFill>
            <a:ln>
              <a:noFill/>
            </a:ln>
          </p:spPr>
        </p:sp>
        <p:sp>
          <p:nvSpPr>
            <p:cNvPr id="45" name="node07.body.item-001.bullets.item-005.text"/>
            <p:cNvSpPr/>
            <p:nvPr/>
          </p:nvSpPr>
          <p:spPr>
            <a:xfrm>
              <a:off x="4686300" y="4089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Align leaders on the options</a:t>
              </a:r>
              <a:endParaRPr lang="en-US" sz="1200" spc="0" kern="0" b="0" i="0" dirty="0">
                <a:solidFill>
                  <a:srgbClr val="070154"/>
                </a:solidFill>
                <a:latin typeface="IBM Plex Sans"/>
                <a:ea typeface="IBM Plex Sans"/>
                <a:cs typeface="IBM Plex Sans"/>
              </a:endParaRPr>
            </a:p>
          </p:txBody>
        </p:sp>
      </p:grpSp>
      <p:grpSp>
        <p:nvGrpSpPr>
          <p:cNvPr id="85" name="node08"/>
          <p:cNvGrpSpPr/>
          <p:nvPr/>
        </p:nvGrpSpPr>
        <p:grpSpPr>
          <a:xfrm>
            <a:off x="4381500" y="4572000"/>
            <a:ext cx="3429000" cy="1371600"/>
            <a:chOff x="4381500" y="4572000"/>
            <a:chExt cx="3429000" cy="1371600"/>
          </a:xfrm>
        </p:grpSpPr>
        <p:sp>
          <p:nvSpPr>
            <p:cNvPr id="46" name="node08.container"/>
            <p:cNvSpPr/>
            <p:nvPr/>
          </p:nvSpPr>
          <p:spPr>
            <a:xfrm>
              <a:off x="4387850" y="4578350"/>
              <a:ext cx="3416300" cy="1358900"/>
            </a:xfrm>
            <a:prstGeom prst="rect">
              <a:avLst/>
            </a:prstGeom>
            <a:solidFill>
              <a:srgbClr val="FFFFFF"/>
            </a:solidFill>
            <a:ln w="12700">
              <a:solidFill>
                <a:srgbClr val="CED7E6"/>
              </a:solidFill>
              <a:prstDash val="solid"/>
            </a:ln>
          </p:spPr>
        </p:sp>
        <p:sp>
          <p:nvSpPr>
            <p:cNvPr id="47" name="node08.label"/>
            <p:cNvSpPr/>
            <p:nvPr/>
          </p:nvSpPr>
          <p:spPr>
            <a:xfrm>
              <a:off x="4533900" y="47244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DELIVERABLES</a:t>
              </a:r>
              <a:endParaRPr lang="en-US" sz="800" spc="48" kern="0" b="0" i="0" dirty="0">
                <a:solidFill>
                  <a:srgbClr val="0047FF"/>
                </a:solidFill>
                <a:latin typeface="IBM Plex Mono Medium"/>
                <a:ea typeface="IBM Plex Mono Medium"/>
                <a:cs typeface="IBM Plex Mono Medium"/>
              </a:endParaRPr>
            </a:p>
          </p:txBody>
        </p:sp>
        <p:sp>
          <p:nvSpPr>
            <p:cNvPr id="48" name="node08.body.item-001.bullets.item-001.marker"/>
            <p:cNvSpPr/>
            <p:nvPr/>
          </p:nvSpPr>
          <p:spPr>
            <a:xfrm>
              <a:off x="4533900" y="4991100"/>
              <a:ext cx="38100" cy="38100"/>
            </a:xfrm>
            <a:prstGeom prst="rect">
              <a:avLst/>
            </a:prstGeom>
            <a:solidFill>
              <a:srgbClr val="070154"/>
            </a:solidFill>
            <a:ln>
              <a:noFill/>
            </a:ln>
          </p:spPr>
        </p:sp>
        <p:sp>
          <p:nvSpPr>
            <p:cNvPr id="49" name="node08.body.item-001.bullets.item-001.text"/>
            <p:cNvSpPr/>
            <p:nvPr/>
          </p:nvSpPr>
          <p:spPr>
            <a:xfrm>
              <a:off x="4686300" y="49022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Prioritized value opportunities</a:t>
              </a:r>
              <a:endParaRPr lang="en-US" sz="1200" spc="0" kern="0" b="0" i="0" dirty="0">
                <a:solidFill>
                  <a:srgbClr val="070154"/>
                </a:solidFill>
                <a:latin typeface="IBM Plex Sans"/>
                <a:ea typeface="IBM Plex Sans"/>
                <a:cs typeface="IBM Plex Sans"/>
              </a:endParaRPr>
            </a:p>
          </p:txBody>
        </p:sp>
        <p:sp>
          <p:nvSpPr>
            <p:cNvPr id="50" name="node08.body.item-001.bullets.item-002.marker"/>
            <p:cNvSpPr/>
            <p:nvPr/>
          </p:nvSpPr>
          <p:spPr>
            <a:xfrm>
              <a:off x="4533900" y="5245100"/>
              <a:ext cx="38100" cy="38100"/>
            </a:xfrm>
            <a:prstGeom prst="rect">
              <a:avLst/>
            </a:prstGeom>
            <a:solidFill>
              <a:srgbClr val="070154"/>
            </a:solidFill>
            <a:ln>
              <a:noFill/>
            </a:ln>
          </p:spPr>
        </p:sp>
        <p:sp>
          <p:nvSpPr>
            <p:cNvPr id="51" name="node08.body.item-001.bullets.item-002.text"/>
            <p:cNvSpPr/>
            <p:nvPr/>
          </p:nvSpPr>
          <p:spPr>
            <a:xfrm>
              <a:off x="4686300" y="51562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Target role-mix view</a:t>
              </a:r>
              <a:endParaRPr lang="en-US" sz="1200" spc="0" kern="0" b="0" i="0" dirty="0">
                <a:solidFill>
                  <a:srgbClr val="070154"/>
                </a:solidFill>
                <a:latin typeface="IBM Plex Sans"/>
                <a:ea typeface="IBM Plex Sans"/>
                <a:cs typeface="IBM Plex Sans"/>
              </a:endParaRPr>
            </a:p>
          </p:txBody>
        </p:sp>
        <p:sp>
          <p:nvSpPr>
            <p:cNvPr id="52" name="node08.body.item-001.bullets.item-003.marker"/>
            <p:cNvSpPr/>
            <p:nvPr/>
          </p:nvSpPr>
          <p:spPr>
            <a:xfrm>
              <a:off x="4533900" y="5499100"/>
              <a:ext cx="38100" cy="38100"/>
            </a:xfrm>
            <a:prstGeom prst="rect">
              <a:avLst/>
            </a:prstGeom>
            <a:solidFill>
              <a:srgbClr val="070154"/>
            </a:solidFill>
            <a:ln>
              <a:noFill/>
            </a:ln>
          </p:spPr>
        </p:sp>
        <p:sp>
          <p:nvSpPr>
            <p:cNvPr id="53" name="node08.body.item-001.bullets.item-003.text"/>
            <p:cNvSpPr/>
            <p:nvPr/>
          </p:nvSpPr>
          <p:spPr>
            <a:xfrm>
              <a:off x="4686300" y="54102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Value-target summary</a:t>
              </a:r>
              <a:endParaRPr lang="en-US" sz="1200" spc="0" kern="0" b="0" i="0" dirty="0">
                <a:solidFill>
                  <a:srgbClr val="070154"/>
                </a:solidFill>
                <a:latin typeface="IBM Plex Sans"/>
                <a:ea typeface="IBM Plex Sans"/>
                <a:cs typeface="IBM Plex Sans"/>
              </a:endParaRPr>
            </a:p>
          </p:txBody>
        </p:sp>
      </p:grpSp>
      <p:grpSp>
        <p:nvGrpSpPr>
          <p:cNvPr id="86" name="node09"/>
          <p:cNvGrpSpPr/>
          <p:nvPr/>
        </p:nvGrpSpPr>
        <p:grpSpPr>
          <a:xfrm>
            <a:off x="8039100" y="1600200"/>
            <a:ext cx="3429000" cy="685800"/>
            <a:chOff x="8039100" y="1600200"/>
            <a:chExt cx="3429000" cy="685800"/>
          </a:xfrm>
        </p:grpSpPr>
        <p:sp>
          <p:nvSpPr>
            <p:cNvPr id="54" name="node09.surface"/>
            <p:cNvSpPr/>
            <p:nvPr/>
          </p:nvSpPr>
          <p:spPr>
            <a:xfrm>
              <a:off x="8039100" y="1600200"/>
              <a:ext cx="3429000" cy="685800"/>
            </a:xfrm>
            <a:custGeom>
              <a:avLst/>
              <a:gdLst/>
              <a:ahLst/>
              <a:cxnLst/>
              <a:rect l="l" t="t" r="r" b="b"/>
              <a:pathLst>
                <a:path w="3429000" h="685800">
                  <a:moveTo>
                    <a:pt x="0" y="0"/>
                  </a:moveTo>
                  <a:lnTo>
                    <a:pt x="3200400" y="0"/>
                  </a:lnTo>
                  <a:lnTo>
                    <a:pt x="3429000" y="342900"/>
                  </a:lnTo>
                  <a:lnTo>
                    <a:pt x="3200400" y="685800"/>
                  </a:lnTo>
                  <a:lnTo>
                    <a:pt x="0" y="685800"/>
                  </a:lnTo>
                  <a:lnTo>
                    <a:pt x="228600" y="342900"/>
                  </a:lnTo>
                  <a:close/>
                </a:path>
              </a:pathLst>
            </a:custGeom>
            <a:solidFill>
              <a:srgbClr val="070154"/>
            </a:solidFill>
            <a:ln>
              <a:noFill/>
            </a:ln>
          </p:spPr>
        </p:sp>
        <p:sp>
          <p:nvSpPr>
            <p:cNvPr id="55" name="node09.text"/>
            <p:cNvSpPr/>
            <p:nvPr/>
          </p:nvSpPr>
          <p:spPr>
            <a:xfrm>
              <a:off x="8420100" y="1809750"/>
              <a:ext cx="27432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Phase 3 · Roadmap</a:t>
              </a:r>
              <a:endParaRPr lang="en-US" sz="1600" spc="-16" kern="0" b="0" i="0" dirty="0">
                <a:solidFill>
                  <a:srgbClr val="FFFFFF"/>
                </a:solidFill>
                <a:latin typeface="IBM Plex Sans SemiBold"/>
                <a:ea typeface="IBM Plex Sans SemiBold"/>
                <a:cs typeface="IBM Plex Sans SemiBold"/>
              </a:endParaRPr>
            </a:p>
          </p:txBody>
        </p:sp>
      </p:grpSp>
      <p:grpSp>
        <p:nvGrpSpPr>
          <p:cNvPr id="87" name="node10"/>
          <p:cNvGrpSpPr/>
          <p:nvPr/>
        </p:nvGrpSpPr>
        <p:grpSpPr>
          <a:xfrm>
            <a:off x="8039100" y="2286000"/>
            <a:ext cx="3429000" cy="457200"/>
            <a:chOff x="8039100" y="2286000"/>
            <a:chExt cx="3429000" cy="457200"/>
          </a:xfrm>
        </p:grpSpPr>
        <p:sp>
          <p:nvSpPr>
            <p:cNvPr id="56" name="node10.surface"/>
            <p:cNvSpPr/>
            <p:nvPr/>
          </p:nvSpPr>
          <p:spPr>
            <a:xfrm>
              <a:off x="8039100" y="2286000"/>
              <a:ext cx="3429000" cy="457200"/>
            </a:xfrm>
            <a:prstGeom prst="rect">
              <a:avLst/>
            </a:prstGeom>
            <a:solidFill>
              <a:srgbClr val="CED7E6"/>
            </a:solidFill>
            <a:ln>
              <a:noFill/>
            </a:ln>
          </p:spPr>
        </p:sp>
        <p:sp>
          <p:nvSpPr>
            <p:cNvPr id="57" name="node10.text"/>
            <p:cNvSpPr/>
            <p:nvPr/>
          </p:nvSpPr>
          <p:spPr>
            <a:xfrm>
              <a:off x="8191500" y="241935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1–2 weeks · agree the plan</a:t>
              </a:r>
              <a:endParaRPr lang="en-US" sz="1100" spc="0" kern="0" b="0" i="0" dirty="0">
                <a:solidFill>
                  <a:srgbClr val="070154"/>
                </a:solidFill>
                <a:latin typeface="IBM Plex Sans"/>
                <a:ea typeface="IBM Plex Sans"/>
                <a:cs typeface="IBM Plex Sans"/>
              </a:endParaRPr>
            </a:p>
          </p:txBody>
        </p:sp>
      </p:grpSp>
      <p:grpSp>
        <p:nvGrpSpPr>
          <p:cNvPr id="88" name="node11"/>
          <p:cNvGrpSpPr/>
          <p:nvPr/>
        </p:nvGrpSpPr>
        <p:grpSpPr>
          <a:xfrm>
            <a:off x="8039100" y="2743200"/>
            <a:ext cx="3429000" cy="1828800"/>
            <a:chOff x="8039100" y="2743200"/>
            <a:chExt cx="3429000" cy="1828800"/>
          </a:xfrm>
        </p:grpSpPr>
        <p:sp>
          <p:nvSpPr>
            <p:cNvPr id="58" name="node11.container"/>
            <p:cNvSpPr/>
            <p:nvPr/>
          </p:nvSpPr>
          <p:spPr>
            <a:xfrm>
              <a:off x="8039100" y="2743200"/>
              <a:ext cx="3429000" cy="1828800"/>
            </a:xfrm>
            <a:prstGeom prst="rect">
              <a:avLst/>
            </a:prstGeom>
            <a:solidFill>
              <a:srgbClr val="E8EEF8"/>
            </a:solidFill>
            <a:ln>
              <a:noFill/>
            </a:ln>
          </p:spPr>
        </p:sp>
        <p:sp>
          <p:nvSpPr>
            <p:cNvPr id="59" name="node11.label"/>
            <p:cNvSpPr/>
            <p:nvPr/>
          </p:nvSpPr>
          <p:spPr>
            <a:xfrm>
              <a:off x="8191500" y="2895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ACTIVITIES</a:t>
              </a:r>
              <a:endParaRPr lang="en-US" sz="800" spc="48" kern="0" b="0" i="0" dirty="0">
                <a:solidFill>
                  <a:srgbClr val="0047FF"/>
                </a:solidFill>
                <a:latin typeface="IBM Plex Mono Medium"/>
                <a:ea typeface="IBM Plex Mono Medium"/>
                <a:cs typeface="IBM Plex Mono Medium"/>
              </a:endParaRPr>
            </a:p>
          </p:txBody>
        </p:sp>
        <p:sp>
          <p:nvSpPr>
            <p:cNvPr id="60" name="node11.body.item-001.bullets.item-001.marker"/>
            <p:cNvSpPr/>
            <p:nvPr/>
          </p:nvSpPr>
          <p:spPr>
            <a:xfrm>
              <a:off x="8191500" y="3162300"/>
              <a:ext cx="38100" cy="38100"/>
            </a:xfrm>
            <a:prstGeom prst="rect">
              <a:avLst/>
            </a:prstGeom>
            <a:solidFill>
              <a:srgbClr val="070154"/>
            </a:solidFill>
            <a:ln>
              <a:noFill/>
            </a:ln>
          </p:spPr>
        </p:sp>
        <p:sp>
          <p:nvSpPr>
            <p:cNvPr id="61" name="node11.body.item-001.bullets.item-001.text"/>
            <p:cNvSpPr/>
            <p:nvPr/>
          </p:nvSpPr>
          <p:spPr>
            <a:xfrm>
              <a:off x="8343900" y="3073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Facilitate a trade-off workshop</a:t>
              </a:r>
              <a:endParaRPr lang="en-US" sz="1200" spc="0" kern="0" b="0" i="0" dirty="0">
                <a:solidFill>
                  <a:srgbClr val="070154"/>
                </a:solidFill>
                <a:latin typeface="IBM Plex Sans"/>
                <a:ea typeface="IBM Plex Sans"/>
                <a:cs typeface="IBM Plex Sans"/>
              </a:endParaRPr>
            </a:p>
          </p:txBody>
        </p:sp>
        <p:sp>
          <p:nvSpPr>
            <p:cNvPr id="62" name="node11.body.item-001.bullets.item-002.marker"/>
            <p:cNvSpPr/>
            <p:nvPr/>
          </p:nvSpPr>
          <p:spPr>
            <a:xfrm>
              <a:off x="8191500" y="3416300"/>
              <a:ext cx="38100" cy="38100"/>
            </a:xfrm>
            <a:prstGeom prst="rect">
              <a:avLst/>
            </a:prstGeom>
            <a:solidFill>
              <a:srgbClr val="070154"/>
            </a:solidFill>
            <a:ln>
              <a:noFill/>
            </a:ln>
          </p:spPr>
        </p:sp>
        <p:sp>
          <p:nvSpPr>
            <p:cNvPr id="63" name="node11.body.item-001.bullets.item-002.text"/>
            <p:cNvSpPr/>
            <p:nvPr/>
          </p:nvSpPr>
          <p:spPr>
            <a:xfrm>
              <a:off x="8343900" y="3327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Build the integrated roadmap</a:t>
              </a:r>
              <a:endParaRPr lang="en-US" sz="1200" spc="0" kern="0" b="0" i="0" dirty="0">
                <a:solidFill>
                  <a:srgbClr val="070154"/>
                </a:solidFill>
                <a:latin typeface="IBM Plex Sans"/>
                <a:ea typeface="IBM Plex Sans"/>
                <a:cs typeface="IBM Plex Sans"/>
              </a:endParaRPr>
            </a:p>
          </p:txBody>
        </p:sp>
        <p:sp>
          <p:nvSpPr>
            <p:cNvPr id="64" name="node11.body.item-001.bullets.item-003.marker"/>
            <p:cNvSpPr/>
            <p:nvPr/>
          </p:nvSpPr>
          <p:spPr>
            <a:xfrm>
              <a:off x="8191500" y="3670300"/>
              <a:ext cx="38100" cy="38100"/>
            </a:xfrm>
            <a:prstGeom prst="rect">
              <a:avLst/>
            </a:prstGeom>
            <a:solidFill>
              <a:srgbClr val="070154"/>
            </a:solidFill>
            <a:ln>
              <a:noFill/>
            </a:ln>
          </p:spPr>
        </p:sp>
        <p:sp>
          <p:nvSpPr>
            <p:cNvPr id="65" name="node11.body.item-001.bullets.item-003.text"/>
            <p:cNvSpPr/>
            <p:nvPr/>
          </p:nvSpPr>
          <p:spPr>
            <a:xfrm>
              <a:off x="8343900" y="3581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Sequence initiatives by value</a:t>
              </a:r>
              <a:endParaRPr lang="en-US" sz="1200" spc="0" kern="0" b="0" i="0" dirty="0">
                <a:solidFill>
                  <a:srgbClr val="070154"/>
                </a:solidFill>
                <a:latin typeface="IBM Plex Sans"/>
                <a:ea typeface="IBM Plex Sans"/>
                <a:cs typeface="IBM Plex Sans"/>
              </a:endParaRPr>
            </a:p>
          </p:txBody>
        </p:sp>
        <p:sp>
          <p:nvSpPr>
            <p:cNvPr id="66" name="node11.body.item-001.bullets.item-004.marker"/>
            <p:cNvSpPr/>
            <p:nvPr/>
          </p:nvSpPr>
          <p:spPr>
            <a:xfrm>
              <a:off x="8191500" y="3924300"/>
              <a:ext cx="38100" cy="38100"/>
            </a:xfrm>
            <a:prstGeom prst="rect">
              <a:avLst/>
            </a:prstGeom>
            <a:solidFill>
              <a:srgbClr val="070154"/>
            </a:solidFill>
            <a:ln>
              <a:noFill/>
            </a:ln>
          </p:spPr>
        </p:sp>
        <p:sp>
          <p:nvSpPr>
            <p:cNvPr id="67" name="node11.body.item-001.bullets.item-004.text"/>
            <p:cNvSpPr/>
            <p:nvPr/>
          </p:nvSpPr>
          <p:spPr>
            <a:xfrm>
              <a:off x="8343900" y="3835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Name owners and dependencies</a:t>
              </a:r>
              <a:endParaRPr lang="en-US" sz="1200" spc="0" kern="0" b="0" i="0" dirty="0">
                <a:solidFill>
                  <a:srgbClr val="070154"/>
                </a:solidFill>
                <a:latin typeface="IBM Plex Sans"/>
                <a:ea typeface="IBM Plex Sans"/>
                <a:cs typeface="IBM Plex Sans"/>
              </a:endParaRPr>
            </a:p>
          </p:txBody>
        </p:sp>
        <p:sp>
          <p:nvSpPr>
            <p:cNvPr id="68" name="node11.body.item-001.bullets.item-005.marker"/>
            <p:cNvSpPr/>
            <p:nvPr/>
          </p:nvSpPr>
          <p:spPr>
            <a:xfrm>
              <a:off x="8191500" y="4178300"/>
              <a:ext cx="38100" cy="38100"/>
            </a:xfrm>
            <a:prstGeom prst="rect">
              <a:avLst/>
            </a:prstGeom>
            <a:solidFill>
              <a:srgbClr val="070154"/>
            </a:solidFill>
            <a:ln>
              <a:noFill/>
            </a:ln>
          </p:spPr>
        </p:sp>
        <p:sp>
          <p:nvSpPr>
            <p:cNvPr id="69" name="node11.body.item-001.bullets.item-005.text"/>
            <p:cNvSpPr/>
            <p:nvPr/>
          </p:nvSpPr>
          <p:spPr>
            <a:xfrm>
              <a:off x="8343900" y="4089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Read out the priorities</a:t>
              </a:r>
              <a:endParaRPr lang="en-US" sz="1200" spc="0" kern="0" b="0" i="0" dirty="0">
                <a:solidFill>
                  <a:srgbClr val="070154"/>
                </a:solidFill>
                <a:latin typeface="IBM Plex Sans"/>
                <a:ea typeface="IBM Plex Sans"/>
                <a:cs typeface="IBM Plex Sans"/>
              </a:endParaRPr>
            </a:p>
          </p:txBody>
        </p:sp>
      </p:grpSp>
      <p:grpSp>
        <p:nvGrpSpPr>
          <p:cNvPr id="89" name="node12"/>
          <p:cNvGrpSpPr/>
          <p:nvPr/>
        </p:nvGrpSpPr>
        <p:grpSpPr>
          <a:xfrm>
            <a:off x="8039100" y="4572000"/>
            <a:ext cx="3429000" cy="1371600"/>
            <a:chOff x="8039100" y="4572000"/>
            <a:chExt cx="3429000" cy="1371600"/>
          </a:xfrm>
        </p:grpSpPr>
        <p:sp>
          <p:nvSpPr>
            <p:cNvPr id="70" name="node12.container"/>
            <p:cNvSpPr/>
            <p:nvPr/>
          </p:nvSpPr>
          <p:spPr>
            <a:xfrm>
              <a:off x="8045450" y="4578350"/>
              <a:ext cx="3416300" cy="1358900"/>
            </a:xfrm>
            <a:prstGeom prst="rect">
              <a:avLst/>
            </a:prstGeom>
            <a:solidFill>
              <a:srgbClr val="FFFFFF"/>
            </a:solidFill>
            <a:ln w="12700">
              <a:solidFill>
                <a:srgbClr val="CED7E6"/>
              </a:solidFill>
              <a:prstDash val="solid"/>
            </a:ln>
          </p:spPr>
        </p:sp>
        <p:sp>
          <p:nvSpPr>
            <p:cNvPr id="71" name="node12.label"/>
            <p:cNvSpPr/>
            <p:nvPr/>
          </p:nvSpPr>
          <p:spPr>
            <a:xfrm>
              <a:off x="8191500" y="47244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DELIVERABLES</a:t>
              </a:r>
              <a:endParaRPr lang="en-US" sz="800" spc="48" kern="0" b="0" i="0" dirty="0">
                <a:solidFill>
                  <a:srgbClr val="0047FF"/>
                </a:solidFill>
                <a:latin typeface="IBM Plex Mono Medium"/>
                <a:ea typeface="IBM Plex Mono Medium"/>
                <a:cs typeface="IBM Plex Mono Medium"/>
              </a:endParaRPr>
            </a:p>
          </p:txBody>
        </p:sp>
        <p:sp>
          <p:nvSpPr>
            <p:cNvPr id="72" name="node12.body.item-001.bullets.item-001.marker"/>
            <p:cNvSpPr/>
            <p:nvPr/>
          </p:nvSpPr>
          <p:spPr>
            <a:xfrm>
              <a:off x="8191500" y="4991100"/>
              <a:ext cx="38100" cy="38100"/>
            </a:xfrm>
            <a:prstGeom prst="rect">
              <a:avLst/>
            </a:prstGeom>
            <a:solidFill>
              <a:srgbClr val="070154"/>
            </a:solidFill>
            <a:ln>
              <a:noFill/>
            </a:ln>
          </p:spPr>
        </p:sp>
        <p:sp>
          <p:nvSpPr>
            <p:cNvPr id="73" name="node12.body.item-001.bullets.item-001.text"/>
            <p:cNvSpPr/>
            <p:nvPr/>
          </p:nvSpPr>
          <p:spPr>
            <a:xfrm>
              <a:off x="8343900" y="49022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Value-creation roadmap</a:t>
              </a:r>
              <a:endParaRPr lang="en-US" sz="1200" spc="0" kern="0" b="0" i="0" dirty="0">
                <a:solidFill>
                  <a:srgbClr val="070154"/>
                </a:solidFill>
                <a:latin typeface="IBM Plex Sans"/>
                <a:ea typeface="IBM Plex Sans"/>
                <a:cs typeface="IBM Plex Sans"/>
              </a:endParaRPr>
            </a:p>
          </p:txBody>
        </p:sp>
        <p:sp>
          <p:nvSpPr>
            <p:cNvPr id="74" name="node12.body.item-001.bullets.item-002.marker"/>
            <p:cNvSpPr/>
            <p:nvPr/>
          </p:nvSpPr>
          <p:spPr>
            <a:xfrm>
              <a:off x="8191500" y="5245100"/>
              <a:ext cx="38100" cy="38100"/>
            </a:xfrm>
            <a:prstGeom prst="rect">
              <a:avLst/>
            </a:prstGeom>
            <a:solidFill>
              <a:srgbClr val="070154"/>
            </a:solidFill>
            <a:ln>
              <a:noFill/>
            </a:ln>
          </p:spPr>
        </p:sp>
        <p:sp>
          <p:nvSpPr>
            <p:cNvPr id="75" name="node12.body.item-001.bullets.item-002.text"/>
            <p:cNvSpPr/>
            <p:nvPr/>
          </p:nvSpPr>
          <p:spPr>
            <a:xfrm>
              <a:off x="8343900" y="51562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Initiative owner register</a:t>
              </a:r>
              <a:endParaRPr lang="en-US" sz="1200" spc="0" kern="0" b="0" i="0" dirty="0">
                <a:solidFill>
                  <a:srgbClr val="070154"/>
                </a:solidFill>
                <a:latin typeface="IBM Plex Sans"/>
                <a:ea typeface="IBM Plex Sans"/>
                <a:cs typeface="IBM Plex Sans"/>
              </a:endParaRPr>
            </a:p>
          </p:txBody>
        </p:sp>
        <p:sp>
          <p:nvSpPr>
            <p:cNvPr id="76" name="node12.body.item-001.bullets.item-003.marker"/>
            <p:cNvSpPr/>
            <p:nvPr/>
          </p:nvSpPr>
          <p:spPr>
            <a:xfrm>
              <a:off x="8191500" y="5499100"/>
              <a:ext cx="38100" cy="38100"/>
            </a:xfrm>
            <a:prstGeom prst="rect">
              <a:avLst/>
            </a:prstGeom>
            <a:solidFill>
              <a:srgbClr val="070154"/>
            </a:solidFill>
            <a:ln>
              <a:noFill/>
            </a:ln>
          </p:spPr>
        </p:sp>
        <p:sp>
          <p:nvSpPr>
            <p:cNvPr id="77" name="node12.body.item-001.bullets.item-003.text"/>
            <p:cNvSpPr/>
            <p:nvPr/>
          </p:nvSpPr>
          <p:spPr>
            <a:xfrm>
              <a:off x="8343900" y="54102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Executive readout deck</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ource-356">
    <p:spTree>
      <p:nvGrpSpPr>
        <p:cNvPr id="1" name=""/>
        <p:cNvGrpSpPr/>
        <p:nvPr/>
      </p:nvGrpSpPr>
      <p:grpSpPr>
        <a:xfrm>
          <a:off x="0" y="0"/>
          <a:ext cx="0" cy="0"/>
          <a:chOff x="0" y="0"/>
          <a:chExt cx="0" cy="0"/>
        </a:xfrm>
      </p:grpSpPr>
      <p:sp>
        <p:nvSpPr>
          <p:cNvPr id="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131</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723900" y="457200"/>
            <a:ext cx="2514600" cy="139700"/>
            <a:chOff x="723900" y="457200"/>
            <a:chExt cx="2514600" cy="139700"/>
          </a:xfrm>
        </p:grpSpPr>
        <p:sp>
          <p:nvSpPr>
            <p:cNvPr id="4" name="node01.text"/>
            <p:cNvSpPr/>
            <p:nvPr/>
          </p:nvSpPr>
          <p:spPr>
            <a:xfrm>
              <a:off x="723900" y="457200"/>
              <a:ext cx="25146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F900D3"/>
                  </a:solidFill>
                  <a:latin typeface="IBM Plex Mono SemiBold"/>
                  <a:ea typeface="IBM Plex Mono SemiBold"/>
                  <a:cs typeface="IBM Plex Mono SemiBold"/>
                </a:rPr>
                <a:t>OUR APPROACH</a:t>
              </a:r>
              <a:endParaRPr lang="en-US" sz="900" spc="72" kern="0" b="0" i="0" dirty="0">
                <a:solidFill>
                  <a:srgbClr val="F900D3"/>
                </a:solidFill>
                <a:latin typeface="IBM Plex Mono SemiBold"/>
                <a:ea typeface="IBM Plex Mono SemiBold"/>
                <a:cs typeface="IBM Plex Mono SemiBold"/>
              </a:endParaRPr>
            </a:p>
          </p:txBody>
        </p:sp>
      </p:grpSp>
      <p:grpSp>
        <p:nvGrpSpPr>
          <p:cNvPr id="58" name="node02"/>
          <p:cNvGrpSpPr/>
          <p:nvPr/>
        </p:nvGrpSpPr>
        <p:grpSpPr>
          <a:xfrm>
            <a:off x="723900" y="762000"/>
            <a:ext cx="2514600" cy="266700"/>
            <a:chOff x="723900" y="762000"/>
            <a:chExt cx="2514600" cy="266700"/>
          </a:xfrm>
        </p:grpSpPr>
        <p:sp>
          <p:nvSpPr>
            <p:cNvPr id="5" name="node02.text"/>
            <p:cNvSpPr/>
            <p:nvPr/>
          </p:nvSpPr>
          <p:spPr>
            <a:xfrm>
              <a:off x="723900" y="7620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900D3"/>
                  </a:solidFill>
                  <a:latin typeface="IBM Plex Sans SemiBold"/>
                  <a:ea typeface="IBM Plex Sans SemiBold"/>
                  <a:cs typeface="IBM Plex Sans SemiBold"/>
                </a:rPr>
                <a:t>Phase 01</a:t>
              </a:r>
              <a:endParaRPr lang="en-US" sz="1600" spc="-16" kern="0" b="0" i="0" dirty="0">
                <a:solidFill>
                  <a:srgbClr val="F900D3"/>
                </a:solidFill>
                <a:latin typeface="IBM Plex Sans SemiBold"/>
                <a:ea typeface="IBM Plex Sans SemiBold"/>
                <a:cs typeface="IBM Plex Sans SemiBold"/>
              </a:endParaRPr>
            </a:p>
          </p:txBody>
        </p:sp>
      </p:grpSp>
      <p:grpSp>
        <p:nvGrpSpPr>
          <p:cNvPr id="59" name="node03"/>
          <p:cNvGrpSpPr/>
          <p:nvPr/>
        </p:nvGrpSpPr>
        <p:grpSpPr>
          <a:xfrm>
            <a:off x="723900" y="1066800"/>
            <a:ext cx="2514600" cy="660400"/>
            <a:chOff x="723900" y="1066800"/>
            <a:chExt cx="2514600" cy="660400"/>
          </a:xfrm>
        </p:grpSpPr>
        <p:sp>
          <p:nvSpPr>
            <p:cNvPr id="6" name="node03.text"/>
            <p:cNvSpPr/>
            <p:nvPr/>
          </p:nvSpPr>
          <p:spPr>
            <a:xfrm>
              <a:off x="723900" y="1066800"/>
              <a:ext cx="25146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FFFFF"/>
                  </a:solidFill>
                  <a:latin typeface="IBM Plex Sans SemiBold"/>
                  <a:ea typeface="IBM Plex Sans SemiBold"/>
                  <a:cs typeface="IBM Plex Sans SemiBold"/>
                </a:rPr>
                <a:t>Data Platform Foundation</a:t>
              </a:r>
              <a:endParaRPr lang="en-US" sz="2100" spc="-32" kern="0" b="0" i="0" dirty="0">
                <a:solidFill>
                  <a:srgbClr val="FFFFFF"/>
                </a:solidFill>
                <a:latin typeface="IBM Plex Sans SemiBold"/>
                <a:ea typeface="IBM Plex Sans SemiBold"/>
                <a:cs typeface="IBM Plex Sans SemiBold"/>
              </a:endParaRPr>
            </a:p>
          </p:txBody>
        </p:sp>
      </p:grpSp>
      <p:grpSp>
        <p:nvGrpSpPr>
          <p:cNvPr id="60" name="node04"/>
          <p:cNvGrpSpPr/>
          <p:nvPr/>
        </p:nvGrpSpPr>
        <p:grpSpPr>
          <a:xfrm>
            <a:off x="723900" y="1905000"/>
            <a:ext cx="2514600" cy="190500"/>
            <a:chOff x="723900" y="1905000"/>
            <a:chExt cx="2514600" cy="190500"/>
          </a:xfrm>
        </p:grpSpPr>
        <p:sp>
          <p:nvSpPr>
            <p:cNvPr id="7" name="node04.text"/>
            <p:cNvSpPr/>
            <p:nvPr/>
          </p:nvSpPr>
          <p:spPr>
            <a:xfrm>
              <a:off x="723900" y="19050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Weeks 0–16</a:t>
              </a:r>
              <a:endParaRPr lang="en-US" sz="1100" spc="0" kern="0" b="0" i="0" dirty="0">
                <a:solidFill>
                  <a:srgbClr val="CED7E6"/>
                </a:solidFill>
                <a:latin typeface="IBM Plex Sans"/>
                <a:ea typeface="IBM Plex Sans"/>
                <a:cs typeface="IBM Plex Sans"/>
              </a:endParaRPr>
            </a:p>
          </p:txBody>
        </p:sp>
      </p:grpSp>
      <p:grpSp>
        <p:nvGrpSpPr>
          <p:cNvPr id="61" name="node05"/>
          <p:cNvGrpSpPr/>
          <p:nvPr/>
        </p:nvGrpSpPr>
        <p:grpSpPr>
          <a:xfrm>
            <a:off x="723900" y="2286000"/>
            <a:ext cx="914400" cy="228600"/>
            <a:chOff x="723900" y="2286000"/>
            <a:chExt cx="914400" cy="228600"/>
          </a:xfrm>
        </p:grpSpPr>
        <p:sp>
          <p:nvSpPr>
            <p:cNvPr id="8" name="node05.surface"/>
            <p:cNvSpPr/>
            <p:nvPr/>
          </p:nvSpPr>
          <p:spPr>
            <a:xfrm>
              <a:off x="723900" y="2286000"/>
              <a:ext cx="914400" cy="228600"/>
            </a:xfrm>
            <a:custGeom>
              <a:avLst/>
              <a:gdLst/>
              <a:ahLst/>
              <a:cxnLst/>
              <a:rect l="l" t="t" r="r" b="b"/>
              <a:pathLst>
                <a:path w="914400" h="228600">
                  <a:moveTo>
                    <a:pt x="0" y="0"/>
                  </a:moveTo>
                  <a:lnTo>
                    <a:pt x="838200" y="0"/>
                  </a:lnTo>
                  <a:lnTo>
                    <a:pt x="914400" y="114300"/>
                  </a:lnTo>
                  <a:lnTo>
                    <a:pt x="838200" y="228600"/>
                  </a:lnTo>
                  <a:lnTo>
                    <a:pt x="0" y="228600"/>
                  </a:lnTo>
                  <a:close/>
                </a:path>
              </a:pathLst>
            </a:custGeom>
            <a:solidFill>
              <a:srgbClr val="F900D3"/>
            </a:solidFill>
            <a:ln>
              <a:noFill/>
            </a:ln>
          </p:spPr>
        </p:sp>
      </p:grpSp>
      <p:grpSp>
        <p:nvGrpSpPr>
          <p:cNvPr id="62" name="node06"/>
          <p:cNvGrpSpPr/>
          <p:nvPr/>
        </p:nvGrpSpPr>
        <p:grpSpPr>
          <a:xfrm>
            <a:off x="1638300" y="2286000"/>
            <a:ext cx="914400" cy="228600"/>
            <a:chOff x="1638300" y="2286000"/>
            <a:chExt cx="914400" cy="228600"/>
          </a:xfrm>
        </p:grpSpPr>
        <p:sp>
          <p:nvSpPr>
            <p:cNvPr id="9" name="node06.surface"/>
            <p:cNvSpPr/>
            <p:nvPr/>
          </p:nvSpPr>
          <p:spPr>
            <a:xfrm>
              <a:off x="1638300" y="2286000"/>
              <a:ext cx="914400" cy="228600"/>
            </a:xfrm>
            <a:custGeom>
              <a:avLst/>
              <a:gdLst/>
              <a:ahLst/>
              <a:cxnLst/>
              <a:rect l="l" t="t" r="r" b="b"/>
              <a:pathLst>
                <a:path w="914400" h="228600">
                  <a:moveTo>
                    <a:pt x="0" y="0"/>
                  </a:moveTo>
                  <a:lnTo>
                    <a:pt x="838200" y="0"/>
                  </a:lnTo>
                  <a:lnTo>
                    <a:pt x="914400" y="114300"/>
                  </a:lnTo>
                  <a:lnTo>
                    <a:pt x="838200" y="228600"/>
                  </a:lnTo>
                  <a:lnTo>
                    <a:pt x="0" y="228600"/>
                  </a:lnTo>
                  <a:lnTo>
                    <a:pt x="76200" y="114300"/>
                  </a:lnTo>
                  <a:close/>
                </a:path>
              </a:pathLst>
            </a:custGeom>
            <a:solidFill>
              <a:srgbClr val="CED7E6"/>
            </a:solidFill>
            <a:ln>
              <a:noFill/>
            </a:ln>
          </p:spPr>
        </p:sp>
      </p:grpSp>
      <p:grpSp>
        <p:nvGrpSpPr>
          <p:cNvPr id="63" name="node07"/>
          <p:cNvGrpSpPr/>
          <p:nvPr/>
        </p:nvGrpSpPr>
        <p:grpSpPr>
          <a:xfrm>
            <a:off x="2552700" y="2286000"/>
            <a:ext cx="685800" cy="228600"/>
            <a:chOff x="2552700" y="2286000"/>
            <a:chExt cx="685800" cy="228600"/>
          </a:xfrm>
        </p:grpSpPr>
        <p:sp>
          <p:nvSpPr>
            <p:cNvPr id="10" name="node07.surface"/>
            <p:cNvSpPr/>
            <p:nvPr/>
          </p:nvSpPr>
          <p:spPr>
            <a:xfrm>
              <a:off x="2552700" y="2286000"/>
              <a:ext cx="685800" cy="228600"/>
            </a:xfrm>
            <a:custGeom>
              <a:avLst/>
              <a:gdLst/>
              <a:ahLst/>
              <a:cxnLst/>
              <a:rect l="l" t="t" r="r" b="b"/>
              <a:pathLst>
                <a:path w="685800" h="228600">
                  <a:moveTo>
                    <a:pt x="0" y="0"/>
                  </a:moveTo>
                  <a:lnTo>
                    <a:pt x="609600" y="0"/>
                  </a:lnTo>
                  <a:lnTo>
                    <a:pt x="685800" y="114300"/>
                  </a:lnTo>
                  <a:lnTo>
                    <a:pt x="609600" y="228600"/>
                  </a:lnTo>
                  <a:lnTo>
                    <a:pt x="0" y="228600"/>
                  </a:lnTo>
                  <a:lnTo>
                    <a:pt x="76200" y="114300"/>
                  </a:lnTo>
                  <a:close/>
                </a:path>
              </a:pathLst>
            </a:custGeom>
            <a:solidFill>
              <a:srgbClr val="CED7E6"/>
            </a:solidFill>
            <a:ln>
              <a:noFill/>
            </a:ln>
          </p:spPr>
        </p:sp>
      </p:grpSp>
      <p:grpSp>
        <p:nvGrpSpPr>
          <p:cNvPr id="64" name="node08"/>
          <p:cNvGrpSpPr/>
          <p:nvPr/>
        </p:nvGrpSpPr>
        <p:grpSpPr>
          <a:xfrm>
            <a:off x="723900" y="2743200"/>
            <a:ext cx="2514600" cy="266700"/>
            <a:chOff x="723900" y="2743200"/>
            <a:chExt cx="2514600" cy="266700"/>
          </a:xfrm>
        </p:grpSpPr>
        <p:sp>
          <p:nvSpPr>
            <p:cNvPr id="11" name="node08.text"/>
            <p:cNvSpPr/>
            <p:nvPr/>
          </p:nvSpPr>
          <p:spPr>
            <a:xfrm>
              <a:off x="723900" y="27432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Objective</a:t>
              </a:r>
              <a:endParaRPr lang="en-US" sz="1600" spc="-16" kern="0" b="0" i="0" dirty="0">
                <a:solidFill>
                  <a:srgbClr val="FFFFFF"/>
                </a:solidFill>
                <a:latin typeface="IBM Plex Sans SemiBold"/>
                <a:ea typeface="IBM Plex Sans SemiBold"/>
                <a:cs typeface="IBM Plex Sans SemiBold"/>
              </a:endParaRPr>
            </a:p>
          </p:txBody>
        </p:sp>
      </p:grpSp>
      <p:grpSp>
        <p:nvGrpSpPr>
          <p:cNvPr id="65" name="node09"/>
          <p:cNvGrpSpPr/>
          <p:nvPr/>
        </p:nvGrpSpPr>
        <p:grpSpPr>
          <a:xfrm>
            <a:off x="723900" y="3086100"/>
            <a:ext cx="2514600" cy="762000"/>
            <a:chOff x="723900" y="3086100"/>
            <a:chExt cx="2514600" cy="762000"/>
          </a:xfrm>
        </p:grpSpPr>
        <p:sp>
          <p:nvSpPr>
            <p:cNvPr id="12" name="node09.text"/>
            <p:cNvSpPr/>
            <p:nvPr/>
          </p:nvSpPr>
          <p:spPr>
            <a:xfrm>
              <a:off x="723900" y="3086100"/>
              <a:ext cx="2514600" cy="762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Stand up and validate the enterprise data platform: target architecture, security, governance and onboarding patterns for the first finance workloads.</a:t>
              </a:r>
              <a:endParaRPr lang="en-US" sz="1100" spc="0" kern="0" b="0" i="0" dirty="0">
                <a:solidFill>
                  <a:srgbClr val="FFFFFF"/>
                </a:solidFill>
                <a:latin typeface="IBM Plex Sans"/>
                <a:ea typeface="IBM Plex Sans"/>
                <a:cs typeface="IBM Plex Sans"/>
              </a:endParaRPr>
            </a:p>
          </p:txBody>
        </p:sp>
      </p:grpSp>
      <p:grpSp>
        <p:nvGrpSpPr>
          <p:cNvPr id="66" name="node10"/>
          <p:cNvGrpSpPr/>
          <p:nvPr/>
        </p:nvGrpSpPr>
        <p:grpSpPr>
          <a:xfrm>
            <a:off x="723900" y="4572000"/>
            <a:ext cx="2514600" cy="266700"/>
            <a:chOff x="723900" y="4572000"/>
            <a:chExt cx="2514600" cy="266700"/>
          </a:xfrm>
        </p:grpSpPr>
        <p:sp>
          <p:nvSpPr>
            <p:cNvPr id="13" name="node10.text"/>
            <p:cNvSpPr/>
            <p:nvPr/>
          </p:nvSpPr>
          <p:spPr>
            <a:xfrm>
              <a:off x="723900" y="45720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Phase 01 exit</a:t>
              </a:r>
              <a:endParaRPr lang="en-US" sz="1600" spc="-16" kern="0" b="0" i="0" dirty="0">
                <a:solidFill>
                  <a:srgbClr val="FFFFFF"/>
                </a:solidFill>
                <a:latin typeface="IBM Plex Sans SemiBold"/>
                <a:ea typeface="IBM Plex Sans SemiBold"/>
                <a:cs typeface="IBM Plex Sans SemiBold"/>
              </a:endParaRPr>
            </a:p>
          </p:txBody>
        </p:sp>
      </p:grpSp>
      <p:grpSp>
        <p:nvGrpSpPr>
          <p:cNvPr id="67" name="node11"/>
          <p:cNvGrpSpPr/>
          <p:nvPr/>
        </p:nvGrpSpPr>
        <p:grpSpPr>
          <a:xfrm>
            <a:off x="723900" y="4914900"/>
            <a:ext cx="2514600" cy="977900"/>
            <a:chOff x="723900" y="4914900"/>
            <a:chExt cx="2514600" cy="977900"/>
          </a:xfrm>
        </p:grpSpPr>
        <p:sp>
          <p:nvSpPr>
            <p:cNvPr id="14" name="node11.source-001.bullet"/>
            <p:cNvSpPr/>
            <p:nvPr/>
          </p:nvSpPr>
          <p:spPr>
            <a:xfrm>
              <a:off x="723900" y="5003800"/>
              <a:ext cx="38100" cy="38100"/>
            </a:xfrm>
            <a:prstGeom prst="rect">
              <a:avLst/>
            </a:prstGeom>
            <a:solidFill>
              <a:srgbClr val="FFFFFF"/>
            </a:solidFill>
            <a:ln>
              <a:noFill/>
            </a:ln>
          </p:spPr>
        </p:sp>
        <p:sp>
          <p:nvSpPr>
            <p:cNvPr id="15" name="node11.source-001.text"/>
            <p:cNvSpPr/>
            <p:nvPr/>
          </p:nvSpPr>
          <p:spPr>
            <a:xfrm>
              <a:off x="876300" y="4914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Architecture patterns approved</a:t>
              </a:r>
              <a:endParaRPr lang="en-US" sz="1200" spc="0" kern="0" b="0" i="0" dirty="0">
                <a:solidFill>
                  <a:srgbClr val="FFFFFF"/>
                </a:solidFill>
                <a:latin typeface="IBM Plex Sans"/>
                <a:ea typeface="IBM Plex Sans"/>
                <a:cs typeface="IBM Plex Sans"/>
              </a:endParaRPr>
            </a:p>
          </p:txBody>
        </p:sp>
        <p:sp>
          <p:nvSpPr>
            <p:cNvPr id="16" name="node11.source-002.bullet"/>
            <p:cNvSpPr/>
            <p:nvPr/>
          </p:nvSpPr>
          <p:spPr>
            <a:xfrm>
              <a:off x="723900" y="5257800"/>
              <a:ext cx="38100" cy="38100"/>
            </a:xfrm>
            <a:prstGeom prst="rect">
              <a:avLst/>
            </a:prstGeom>
            <a:solidFill>
              <a:srgbClr val="FFFFFF"/>
            </a:solidFill>
            <a:ln>
              <a:noFill/>
            </a:ln>
          </p:spPr>
        </p:sp>
        <p:sp>
          <p:nvSpPr>
            <p:cNvPr id="17" name="node11.source-002.text"/>
            <p:cNvSpPr/>
            <p:nvPr/>
          </p:nvSpPr>
          <p:spPr>
            <a:xfrm>
              <a:off x="876300" y="5168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Foundation environments live</a:t>
              </a:r>
              <a:endParaRPr lang="en-US" sz="1200" spc="0" kern="0" b="0" i="0" dirty="0">
                <a:solidFill>
                  <a:srgbClr val="FFFFFF"/>
                </a:solidFill>
                <a:latin typeface="IBM Plex Sans"/>
                <a:ea typeface="IBM Plex Sans"/>
                <a:cs typeface="IBM Plex Sans"/>
              </a:endParaRPr>
            </a:p>
          </p:txBody>
        </p:sp>
        <p:sp>
          <p:nvSpPr>
            <p:cNvPr id="18" name="node11.source-003.bullet"/>
            <p:cNvSpPr/>
            <p:nvPr/>
          </p:nvSpPr>
          <p:spPr>
            <a:xfrm>
              <a:off x="723900" y="5511800"/>
              <a:ext cx="38100" cy="38100"/>
            </a:xfrm>
            <a:prstGeom prst="rect">
              <a:avLst/>
            </a:prstGeom>
            <a:solidFill>
              <a:srgbClr val="FFFFFF"/>
            </a:solidFill>
            <a:ln>
              <a:noFill/>
            </a:ln>
          </p:spPr>
        </p:sp>
        <p:sp>
          <p:nvSpPr>
            <p:cNvPr id="19" name="node11.source-003.text"/>
            <p:cNvSpPr/>
            <p:nvPr/>
          </p:nvSpPr>
          <p:spPr>
            <a:xfrm>
              <a:off x="876300" y="5422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Integrations demonstrated</a:t>
              </a:r>
              <a:endParaRPr lang="en-US" sz="1200" spc="0" kern="0" b="0" i="0" dirty="0">
                <a:solidFill>
                  <a:srgbClr val="FFFFFF"/>
                </a:solidFill>
                <a:latin typeface="IBM Plex Sans"/>
                <a:ea typeface="IBM Plex Sans"/>
                <a:cs typeface="IBM Plex Sans"/>
              </a:endParaRPr>
            </a:p>
          </p:txBody>
        </p:sp>
        <p:sp>
          <p:nvSpPr>
            <p:cNvPr id="20" name="node11.source-004.bullet"/>
            <p:cNvSpPr/>
            <p:nvPr/>
          </p:nvSpPr>
          <p:spPr>
            <a:xfrm>
              <a:off x="723900" y="5765800"/>
              <a:ext cx="38100" cy="38100"/>
            </a:xfrm>
            <a:prstGeom prst="rect">
              <a:avLst/>
            </a:prstGeom>
            <a:solidFill>
              <a:srgbClr val="FFFFFF"/>
            </a:solidFill>
            <a:ln>
              <a:noFill/>
            </a:ln>
          </p:spPr>
        </p:sp>
        <p:sp>
          <p:nvSpPr>
            <p:cNvPr id="21" name="node11.source-004.text"/>
            <p:cNvSpPr/>
            <p:nvPr/>
          </p:nvSpPr>
          <p:spPr>
            <a:xfrm>
              <a:off x="876300" y="5676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Three pilot workloads chosen</a:t>
              </a:r>
              <a:endParaRPr lang="en-US" sz="1200" spc="0" kern="0" b="0" i="0" dirty="0">
                <a:solidFill>
                  <a:srgbClr val="FFFFFF"/>
                </a:solidFill>
                <a:latin typeface="IBM Plex Sans"/>
                <a:ea typeface="IBM Plex Sans"/>
                <a:cs typeface="IBM Plex Sans"/>
              </a:endParaRPr>
            </a:p>
          </p:txBody>
        </p:sp>
      </p:grpSp>
      <p:grpSp>
        <p:nvGrpSpPr>
          <p:cNvPr id="68" name="node12"/>
          <p:cNvGrpSpPr/>
          <p:nvPr/>
        </p:nvGrpSpPr>
        <p:grpSpPr>
          <a:xfrm>
            <a:off x="4381500" y="685800"/>
            <a:ext cx="4800600" cy="5232400"/>
            <a:chOff x="4381500" y="685800"/>
            <a:chExt cx="4800600" cy="5232400"/>
          </a:xfrm>
        </p:grpSpPr>
        <p:graphicFrame>
          <p:nvGraphicFramePr>
            <p:cNvPr id="22" name="node12.native"/>
            <p:cNvGraphicFramePr>
              <a:graphicFrameLocks noGrp="1"/>
            </p:cNvGraphicFramePr>
            <p:nvPr>
              <p:extLst>
                <p:ext uri="{D42A27DB-BD31-4B8C-83A1-F6EECF244321}">
                  <p14:modId xmlns:p14="http://schemas.microsoft.com/office/powerpoint/2010/main" val="1579011935"/>
                </p:ext>
              </p:extLst>
            </p:nvPr>
          </p:nvGraphicFramePr>
          <p:xfrm>
            <a:off x="4381500" y="685800"/>
            <a:ext cx="4800600" cy="5232400"/>
          </p:xfrm>
          <a:graphic>
            <a:graphicData uri="http://schemas.openxmlformats.org/drawingml/2006/table">
              <a:tbl>
                <a:tblPr/>
                <a:tblGrid>
                  <a:gridCol w="990600"/>
                  <a:gridCol w="2209800"/>
                  <a:gridCol w="16002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STREAM</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ACTIVITIES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WORK PRODUCTS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1219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Design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Define target architecture and capacity</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Create the placement framework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Reference architecture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Placement framework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219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Build</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Configure environments and pipelines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Set up health and cost telemetry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Configured environments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Telemetry baseline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219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Govern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Define security and catalog patterns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Set lineage and classification rules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Access control framework</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Lineage standards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219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Launch</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Define the service catalog and onboarding</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Set adopter criteria; plan Phase 02</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Service catalog and kit</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Early-adopter cohort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69" name="node13"/>
          <p:cNvGrpSpPr/>
          <p:nvPr/>
        </p:nvGrpSpPr>
        <p:grpSpPr>
          <a:xfrm>
            <a:off x="9410700" y="685800"/>
            <a:ext cx="2057400" cy="266700"/>
            <a:chOff x="9410700" y="685800"/>
            <a:chExt cx="2057400" cy="266700"/>
          </a:xfrm>
        </p:grpSpPr>
        <p:sp>
          <p:nvSpPr>
            <p:cNvPr id="23" name="node13.text"/>
            <p:cNvSpPr/>
            <p:nvPr/>
          </p:nvSpPr>
          <p:spPr>
            <a:xfrm>
              <a:off x="9410700" y="685800"/>
              <a:ext cx="2057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Deliverables</a:t>
              </a:r>
              <a:endParaRPr lang="en-US" sz="1600" spc="-16" kern="0" b="0" i="0" dirty="0">
                <a:solidFill>
                  <a:srgbClr val="0047FF"/>
                </a:solidFill>
                <a:latin typeface="IBM Plex Sans SemiBold"/>
                <a:ea typeface="IBM Plex Sans SemiBold"/>
                <a:cs typeface="IBM Plex Sans SemiBold"/>
              </a:endParaRPr>
            </a:p>
          </p:txBody>
        </p:sp>
      </p:grpSp>
      <p:grpSp>
        <p:nvGrpSpPr>
          <p:cNvPr id="70" name="node14"/>
          <p:cNvGrpSpPr/>
          <p:nvPr/>
        </p:nvGrpSpPr>
        <p:grpSpPr>
          <a:xfrm>
            <a:off x="9410700" y="1371600"/>
            <a:ext cx="1600200" cy="914400"/>
            <a:chOff x="9410700" y="1371600"/>
            <a:chExt cx="1600200" cy="914400"/>
          </a:xfrm>
        </p:grpSpPr>
        <p:sp>
          <p:nvSpPr>
            <p:cNvPr id="24" name="node14.page-2.fill"/>
            <p:cNvSpPr/>
            <p:nvPr/>
          </p:nvSpPr>
          <p:spPr>
            <a:xfrm>
              <a:off x="9563100" y="1219200"/>
              <a:ext cx="1600200" cy="914400"/>
            </a:xfrm>
            <a:prstGeom prst="rect">
              <a:avLst/>
            </a:prstGeom>
            <a:solidFill>
              <a:srgbClr val="FFFFFF"/>
            </a:solidFill>
            <a:ln>
              <a:noFill/>
            </a:ln>
          </p:spPr>
        </p:sp>
        <p:sp>
          <p:nvSpPr>
            <p:cNvPr id="25" name="node14.page-2.border"/>
            <p:cNvSpPr/>
            <p:nvPr/>
          </p:nvSpPr>
          <p:spPr>
            <a:xfrm>
              <a:off x="9563100" y="1219200"/>
              <a:ext cx="1600200" cy="914400"/>
            </a:xfrm>
            <a:prstGeom prst="rect">
              <a:avLst/>
            </a:prstGeom>
            <a:ln w="9525">
              <a:solidFill>
                <a:srgbClr val="CED7E6"/>
              </a:solidFill>
              <a:prstDash val="solid"/>
            </a:ln>
          </p:spPr>
        </p:sp>
        <p:sp>
          <p:nvSpPr>
            <p:cNvPr id="26" name="node14.page-1.fill"/>
            <p:cNvSpPr/>
            <p:nvPr/>
          </p:nvSpPr>
          <p:spPr>
            <a:xfrm>
              <a:off x="9486900" y="1295400"/>
              <a:ext cx="1600200" cy="914400"/>
            </a:xfrm>
            <a:prstGeom prst="rect">
              <a:avLst/>
            </a:prstGeom>
            <a:solidFill>
              <a:srgbClr val="FFFFFF"/>
            </a:solidFill>
            <a:ln>
              <a:noFill/>
            </a:ln>
          </p:spPr>
        </p:sp>
        <p:sp>
          <p:nvSpPr>
            <p:cNvPr id="27" name="node14.page-1.border"/>
            <p:cNvSpPr/>
            <p:nvPr/>
          </p:nvSpPr>
          <p:spPr>
            <a:xfrm>
              <a:off x="9486900" y="1295400"/>
              <a:ext cx="1600200" cy="914400"/>
            </a:xfrm>
            <a:prstGeom prst="rect">
              <a:avLst/>
            </a:prstGeom>
            <a:ln w="9525">
              <a:solidFill>
                <a:srgbClr val="CED7E6"/>
              </a:solidFill>
              <a:prstDash val="solid"/>
            </a:ln>
          </p:spPr>
        </p:sp>
        <p:sp>
          <p:nvSpPr>
            <p:cNvPr id="28" name="node14.page.fill"/>
            <p:cNvSpPr/>
            <p:nvPr/>
          </p:nvSpPr>
          <p:spPr>
            <a:xfrm>
              <a:off x="9410700" y="1371600"/>
              <a:ext cx="1600200" cy="914400"/>
            </a:xfrm>
            <a:prstGeom prst="rect">
              <a:avLst/>
            </a:prstGeom>
            <a:solidFill>
              <a:srgbClr val="FFFFFF"/>
            </a:solidFill>
            <a:ln>
              <a:noFill/>
            </a:ln>
          </p:spPr>
        </p:sp>
        <p:sp>
          <p:nvSpPr>
            <p:cNvPr id="29" name="node14.page.border"/>
            <p:cNvSpPr/>
            <p:nvPr/>
          </p:nvSpPr>
          <p:spPr>
            <a:xfrm>
              <a:off x="9410700" y="1371600"/>
              <a:ext cx="1600200" cy="914400"/>
            </a:xfrm>
            <a:prstGeom prst="rect">
              <a:avLst/>
            </a:prstGeom>
            <a:ln w="9525">
              <a:solidFill>
                <a:srgbClr val="CED7E6"/>
              </a:solidFill>
              <a:prstDash val="solid"/>
            </a:ln>
          </p:spPr>
        </p:sp>
        <p:sp>
          <p:nvSpPr>
            <p:cNvPr id="30" name="node14.head"/>
            <p:cNvSpPr/>
            <p:nvPr/>
          </p:nvSpPr>
          <p:spPr>
            <a:xfrm>
              <a:off x="9522714" y="1483614"/>
              <a:ext cx="756895" cy="64008"/>
            </a:xfrm>
            <a:prstGeom prst="rect">
              <a:avLst/>
            </a:prstGeom>
            <a:solidFill>
              <a:srgbClr val="070154"/>
            </a:solidFill>
            <a:ln>
              <a:noFill/>
            </a:ln>
          </p:spPr>
        </p:sp>
        <p:sp>
          <p:nvSpPr>
            <p:cNvPr id="31" name="node14.box-1-1"/>
            <p:cNvSpPr/>
            <p:nvPr/>
          </p:nvSpPr>
          <p:spPr>
            <a:xfrm>
              <a:off x="9522714" y="1754886"/>
              <a:ext cx="424857" cy="109728"/>
            </a:xfrm>
            <a:prstGeom prst="rect">
              <a:avLst/>
            </a:prstGeom>
            <a:solidFill>
              <a:srgbClr val="CED7E6"/>
            </a:solidFill>
            <a:ln>
              <a:noFill/>
            </a:ln>
          </p:spPr>
        </p:sp>
        <p:sp>
          <p:nvSpPr>
            <p:cNvPr id="32" name="node14.box-1-2"/>
            <p:cNvSpPr/>
            <p:nvPr/>
          </p:nvSpPr>
          <p:spPr>
            <a:xfrm>
              <a:off x="9522714" y="1902714"/>
              <a:ext cx="424857" cy="109728"/>
            </a:xfrm>
            <a:prstGeom prst="rect">
              <a:avLst/>
            </a:prstGeom>
            <a:solidFill>
              <a:srgbClr val="CED7E6"/>
            </a:solidFill>
            <a:ln>
              <a:noFill/>
            </a:ln>
          </p:spPr>
        </p:sp>
        <p:sp>
          <p:nvSpPr>
            <p:cNvPr id="33" name="node14.box-2-1"/>
            <p:cNvSpPr/>
            <p:nvPr/>
          </p:nvSpPr>
          <p:spPr>
            <a:xfrm>
              <a:off x="9998371" y="1680972"/>
              <a:ext cx="424857" cy="109728"/>
            </a:xfrm>
            <a:prstGeom prst="rect">
              <a:avLst/>
            </a:prstGeom>
            <a:solidFill>
              <a:srgbClr val="070154"/>
            </a:solidFill>
            <a:ln>
              <a:noFill/>
            </a:ln>
          </p:spPr>
        </p:sp>
        <p:sp>
          <p:nvSpPr>
            <p:cNvPr id="34" name="node14.box-2-2"/>
            <p:cNvSpPr/>
            <p:nvPr/>
          </p:nvSpPr>
          <p:spPr>
            <a:xfrm>
              <a:off x="9998371" y="1828800"/>
              <a:ext cx="424857" cy="109728"/>
            </a:xfrm>
            <a:prstGeom prst="rect">
              <a:avLst/>
            </a:prstGeom>
            <a:solidFill>
              <a:srgbClr val="070154"/>
            </a:solidFill>
            <a:ln>
              <a:noFill/>
            </a:ln>
          </p:spPr>
        </p:sp>
        <p:sp>
          <p:nvSpPr>
            <p:cNvPr id="35" name="node14.box-2-3"/>
            <p:cNvSpPr/>
            <p:nvPr/>
          </p:nvSpPr>
          <p:spPr>
            <a:xfrm>
              <a:off x="9998371" y="1976628"/>
              <a:ext cx="424857" cy="109728"/>
            </a:xfrm>
            <a:prstGeom prst="rect">
              <a:avLst/>
            </a:prstGeom>
            <a:solidFill>
              <a:srgbClr val="070154"/>
            </a:solidFill>
            <a:ln>
              <a:noFill/>
            </a:ln>
          </p:spPr>
        </p:sp>
        <p:sp>
          <p:nvSpPr>
            <p:cNvPr id="36" name="node14.box-3-1"/>
            <p:cNvSpPr/>
            <p:nvPr/>
          </p:nvSpPr>
          <p:spPr>
            <a:xfrm>
              <a:off x="10474029" y="1754886"/>
              <a:ext cx="424857" cy="109728"/>
            </a:xfrm>
            <a:prstGeom prst="rect">
              <a:avLst/>
            </a:prstGeom>
            <a:solidFill>
              <a:srgbClr val="CED7E6"/>
            </a:solidFill>
            <a:ln>
              <a:noFill/>
            </a:ln>
          </p:spPr>
        </p:sp>
        <p:sp>
          <p:nvSpPr>
            <p:cNvPr id="37" name="node14.box-3-2"/>
            <p:cNvSpPr/>
            <p:nvPr/>
          </p:nvSpPr>
          <p:spPr>
            <a:xfrm>
              <a:off x="10474029" y="1902714"/>
              <a:ext cx="424857" cy="109728"/>
            </a:xfrm>
            <a:prstGeom prst="rect">
              <a:avLst/>
            </a:prstGeom>
            <a:solidFill>
              <a:srgbClr val="CED7E6"/>
            </a:solidFill>
            <a:ln>
              <a:noFill/>
            </a:ln>
          </p:spPr>
        </p:sp>
        <p:sp>
          <p:nvSpPr>
            <p:cNvPr id="38" name="node14.caption"/>
            <p:cNvSpPr/>
            <p:nvPr/>
          </p:nvSpPr>
          <p:spPr>
            <a:xfrm>
              <a:off x="9410700" y="2362200"/>
              <a:ext cx="1752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Onboarding framework</a:t>
              </a:r>
              <a:endParaRPr lang="en-US" sz="1100" spc="0" kern="0" b="0" i="0" dirty="0">
                <a:solidFill>
                  <a:srgbClr val="50658E"/>
                </a:solidFill>
                <a:latin typeface="IBM Plex Sans"/>
                <a:ea typeface="IBM Plex Sans"/>
                <a:cs typeface="IBM Plex Sans"/>
              </a:endParaRPr>
            </a:p>
          </p:txBody>
        </p:sp>
      </p:grpSp>
      <p:grpSp>
        <p:nvGrpSpPr>
          <p:cNvPr id="71" name="node15"/>
          <p:cNvGrpSpPr/>
          <p:nvPr/>
        </p:nvGrpSpPr>
        <p:grpSpPr>
          <a:xfrm>
            <a:off x="9410700" y="2971800"/>
            <a:ext cx="1600200" cy="914400"/>
            <a:chOff x="9410700" y="2971800"/>
            <a:chExt cx="1600200" cy="914400"/>
          </a:xfrm>
        </p:grpSpPr>
        <p:sp>
          <p:nvSpPr>
            <p:cNvPr id="39" name="node15.page-2.fill"/>
            <p:cNvSpPr/>
            <p:nvPr/>
          </p:nvSpPr>
          <p:spPr>
            <a:xfrm>
              <a:off x="9563100" y="2819400"/>
              <a:ext cx="1600200" cy="914400"/>
            </a:xfrm>
            <a:prstGeom prst="rect">
              <a:avLst/>
            </a:prstGeom>
            <a:solidFill>
              <a:srgbClr val="FFFFFF"/>
            </a:solidFill>
            <a:ln>
              <a:noFill/>
            </a:ln>
          </p:spPr>
        </p:sp>
        <p:sp>
          <p:nvSpPr>
            <p:cNvPr id="40" name="node15.page-2.border"/>
            <p:cNvSpPr/>
            <p:nvPr/>
          </p:nvSpPr>
          <p:spPr>
            <a:xfrm>
              <a:off x="9563100" y="2819400"/>
              <a:ext cx="1600200" cy="914400"/>
            </a:xfrm>
            <a:prstGeom prst="rect">
              <a:avLst/>
            </a:prstGeom>
            <a:ln w="9525">
              <a:solidFill>
                <a:srgbClr val="CED7E6"/>
              </a:solidFill>
              <a:prstDash val="solid"/>
            </a:ln>
          </p:spPr>
        </p:sp>
        <p:sp>
          <p:nvSpPr>
            <p:cNvPr id="41" name="node15.page-1.fill"/>
            <p:cNvSpPr/>
            <p:nvPr/>
          </p:nvSpPr>
          <p:spPr>
            <a:xfrm>
              <a:off x="9486900" y="2895600"/>
              <a:ext cx="1600200" cy="914400"/>
            </a:xfrm>
            <a:prstGeom prst="rect">
              <a:avLst/>
            </a:prstGeom>
            <a:solidFill>
              <a:srgbClr val="FFFFFF"/>
            </a:solidFill>
            <a:ln>
              <a:noFill/>
            </a:ln>
          </p:spPr>
        </p:sp>
        <p:sp>
          <p:nvSpPr>
            <p:cNvPr id="42" name="node15.page-1.border"/>
            <p:cNvSpPr/>
            <p:nvPr/>
          </p:nvSpPr>
          <p:spPr>
            <a:xfrm>
              <a:off x="9486900" y="2895600"/>
              <a:ext cx="1600200" cy="914400"/>
            </a:xfrm>
            <a:prstGeom prst="rect">
              <a:avLst/>
            </a:prstGeom>
            <a:ln w="9525">
              <a:solidFill>
                <a:srgbClr val="CED7E6"/>
              </a:solidFill>
              <a:prstDash val="solid"/>
            </a:ln>
          </p:spPr>
        </p:sp>
        <p:sp>
          <p:nvSpPr>
            <p:cNvPr id="43" name="node15.page.fill"/>
            <p:cNvSpPr/>
            <p:nvPr/>
          </p:nvSpPr>
          <p:spPr>
            <a:xfrm>
              <a:off x="9410700" y="2971800"/>
              <a:ext cx="1600200" cy="914400"/>
            </a:xfrm>
            <a:prstGeom prst="rect">
              <a:avLst/>
            </a:prstGeom>
            <a:solidFill>
              <a:srgbClr val="FFFFFF"/>
            </a:solidFill>
            <a:ln>
              <a:noFill/>
            </a:ln>
          </p:spPr>
        </p:sp>
        <p:sp>
          <p:nvSpPr>
            <p:cNvPr id="44" name="node15.page.border"/>
            <p:cNvSpPr/>
            <p:nvPr/>
          </p:nvSpPr>
          <p:spPr>
            <a:xfrm>
              <a:off x="9410700" y="2971800"/>
              <a:ext cx="1600200" cy="914400"/>
            </a:xfrm>
            <a:prstGeom prst="rect">
              <a:avLst/>
            </a:prstGeom>
            <a:ln w="9525">
              <a:solidFill>
                <a:srgbClr val="CED7E6"/>
              </a:solidFill>
              <a:prstDash val="solid"/>
            </a:ln>
          </p:spPr>
        </p:sp>
        <p:sp>
          <p:nvSpPr>
            <p:cNvPr id="45" name="node15.head"/>
            <p:cNvSpPr/>
            <p:nvPr/>
          </p:nvSpPr>
          <p:spPr>
            <a:xfrm>
              <a:off x="9522714" y="3083814"/>
              <a:ext cx="756895" cy="64008"/>
            </a:xfrm>
            <a:prstGeom prst="rect">
              <a:avLst/>
            </a:prstGeom>
            <a:solidFill>
              <a:srgbClr val="070154"/>
            </a:solidFill>
            <a:ln>
              <a:noFill/>
            </a:ln>
          </p:spPr>
        </p:sp>
        <p:sp>
          <p:nvSpPr>
            <p:cNvPr id="46" name="node15.line-1"/>
            <p:cNvSpPr/>
            <p:nvPr/>
          </p:nvSpPr>
          <p:spPr>
            <a:xfrm>
              <a:off x="9522714" y="3193542"/>
              <a:ext cx="1238555" cy="36576"/>
            </a:xfrm>
            <a:prstGeom prst="rect">
              <a:avLst/>
            </a:prstGeom>
            <a:solidFill>
              <a:srgbClr val="CED7E6"/>
            </a:solidFill>
            <a:ln>
              <a:noFill/>
            </a:ln>
          </p:spPr>
        </p:sp>
        <p:sp>
          <p:nvSpPr>
            <p:cNvPr id="47" name="node15.line-2"/>
            <p:cNvSpPr/>
            <p:nvPr/>
          </p:nvSpPr>
          <p:spPr>
            <a:xfrm>
              <a:off x="9522714" y="3275838"/>
              <a:ext cx="1032129" cy="36576"/>
            </a:xfrm>
            <a:prstGeom prst="rect">
              <a:avLst/>
            </a:prstGeom>
            <a:solidFill>
              <a:srgbClr val="CED7E6"/>
            </a:solidFill>
            <a:ln>
              <a:noFill/>
            </a:ln>
          </p:spPr>
        </p:sp>
        <p:sp>
          <p:nvSpPr>
            <p:cNvPr id="48" name="node15.line-3"/>
            <p:cNvSpPr/>
            <p:nvPr/>
          </p:nvSpPr>
          <p:spPr>
            <a:xfrm>
              <a:off x="9522714" y="3358134"/>
              <a:ext cx="1169746" cy="36576"/>
            </a:xfrm>
            <a:prstGeom prst="rect">
              <a:avLst/>
            </a:prstGeom>
            <a:solidFill>
              <a:srgbClr val="CED7E6"/>
            </a:solidFill>
            <a:ln>
              <a:noFill/>
            </a:ln>
          </p:spPr>
        </p:sp>
        <p:sp>
          <p:nvSpPr>
            <p:cNvPr id="49" name="node15.line-4"/>
            <p:cNvSpPr/>
            <p:nvPr/>
          </p:nvSpPr>
          <p:spPr>
            <a:xfrm>
              <a:off x="9522714" y="3440430"/>
              <a:ext cx="825703" cy="36576"/>
            </a:xfrm>
            <a:prstGeom prst="rect">
              <a:avLst/>
            </a:prstGeom>
            <a:solidFill>
              <a:srgbClr val="CED7E6"/>
            </a:solidFill>
            <a:ln>
              <a:noFill/>
            </a:ln>
          </p:spPr>
        </p:sp>
        <p:sp>
          <p:nvSpPr>
            <p:cNvPr id="50" name="node15.caption"/>
            <p:cNvSpPr/>
            <p:nvPr/>
          </p:nvSpPr>
          <p:spPr>
            <a:xfrm>
              <a:off x="9410700" y="3962400"/>
              <a:ext cx="1752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Reference design</a:t>
              </a:r>
              <a:endParaRPr lang="en-US" sz="1100" spc="0" kern="0" b="0" i="0" dirty="0">
                <a:solidFill>
                  <a:srgbClr val="50658E"/>
                </a:solidFill>
                <a:latin typeface="IBM Plex Sans"/>
                <a:ea typeface="IBM Plex Sans"/>
                <a:cs typeface="IBM Plex Sans"/>
              </a:endParaRPr>
            </a:p>
          </p:txBody>
        </p:sp>
      </p:grpSp>
      <p:grpSp>
        <p:nvGrpSpPr>
          <p:cNvPr id="72" name="node16"/>
          <p:cNvGrpSpPr/>
          <p:nvPr/>
        </p:nvGrpSpPr>
        <p:grpSpPr>
          <a:xfrm>
            <a:off x="9410700" y="4343400"/>
            <a:ext cx="2057400" cy="1600200"/>
            <a:chOff x="9410700" y="4343400"/>
            <a:chExt cx="2057400" cy="1600200"/>
          </a:xfrm>
        </p:grpSpPr>
        <p:sp>
          <p:nvSpPr>
            <p:cNvPr id="51" name="node16.container"/>
            <p:cNvSpPr/>
            <p:nvPr/>
          </p:nvSpPr>
          <p:spPr>
            <a:xfrm>
              <a:off x="9410700" y="4343400"/>
              <a:ext cx="2057400" cy="1600200"/>
            </a:xfrm>
            <a:prstGeom prst="rect">
              <a:avLst/>
            </a:prstGeom>
            <a:solidFill>
              <a:srgbClr val="E8EEF8"/>
            </a:solidFill>
            <a:ln>
              <a:noFill/>
            </a:ln>
          </p:spPr>
        </p:sp>
        <p:sp>
          <p:nvSpPr>
            <p:cNvPr id="52" name="node16.title"/>
            <p:cNvSpPr/>
            <p:nvPr/>
          </p:nvSpPr>
          <p:spPr>
            <a:xfrm>
              <a:off x="9563100" y="4495800"/>
              <a:ext cx="1752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Assumptions</a:t>
              </a:r>
              <a:endParaRPr lang="en-US" sz="1600" spc="-16" kern="0" b="0" i="0" dirty="0">
                <a:solidFill>
                  <a:srgbClr val="070154"/>
                </a:solidFill>
                <a:latin typeface="IBM Plex Sans SemiBold"/>
                <a:ea typeface="IBM Plex Sans SemiBold"/>
                <a:cs typeface="IBM Plex Sans SemiBold"/>
              </a:endParaRPr>
            </a:p>
          </p:txBody>
        </p:sp>
        <p:sp>
          <p:nvSpPr>
            <p:cNvPr id="53" name="node16.body.item-001.bullets.item-001.marker"/>
            <p:cNvSpPr/>
            <p:nvPr/>
          </p:nvSpPr>
          <p:spPr>
            <a:xfrm>
              <a:off x="9563100" y="5003800"/>
              <a:ext cx="38100" cy="38100"/>
            </a:xfrm>
            <a:prstGeom prst="rect">
              <a:avLst/>
            </a:prstGeom>
            <a:solidFill>
              <a:srgbClr val="070154"/>
            </a:solidFill>
            <a:ln>
              <a:noFill/>
            </a:ln>
          </p:spPr>
        </p:sp>
        <p:sp>
          <p:nvSpPr>
            <p:cNvPr id="54" name="node16.body.item-001.bullets.item-001.text"/>
            <p:cNvSpPr/>
            <p:nvPr/>
          </p:nvSpPr>
          <p:spPr>
            <a:xfrm>
              <a:off x="9715500" y="49149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Access is provided</a:t>
              </a:r>
              <a:endParaRPr lang="en-US" sz="1200" spc="0" kern="0" b="0" i="0" dirty="0">
                <a:solidFill>
                  <a:srgbClr val="070154"/>
                </a:solidFill>
                <a:latin typeface="IBM Plex Sans"/>
                <a:ea typeface="IBM Plex Sans"/>
                <a:cs typeface="IBM Plex Sans"/>
              </a:endParaRPr>
            </a:p>
          </p:txBody>
        </p:sp>
        <p:sp>
          <p:nvSpPr>
            <p:cNvPr id="55" name="node16.body.item-001.bullets.item-002.marker"/>
            <p:cNvSpPr/>
            <p:nvPr/>
          </p:nvSpPr>
          <p:spPr>
            <a:xfrm>
              <a:off x="9563100" y="5257800"/>
              <a:ext cx="38100" cy="38100"/>
            </a:xfrm>
            <a:prstGeom prst="rect">
              <a:avLst/>
            </a:prstGeom>
            <a:solidFill>
              <a:srgbClr val="070154"/>
            </a:solidFill>
            <a:ln>
              <a:noFill/>
            </a:ln>
          </p:spPr>
        </p:sp>
        <p:sp>
          <p:nvSpPr>
            <p:cNvPr id="56" name="node16.body.item-001.bullets.item-002.text"/>
            <p:cNvSpPr/>
            <p:nvPr/>
          </p:nvSpPr>
          <p:spPr>
            <a:xfrm>
              <a:off x="9715500" y="5168900"/>
              <a:ext cx="1600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Pilots test patterns only</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ource-354">
    <p:spTree>
      <p:nvGrpSpPr>
        <p:cNvPr id="1" name=""/>
        <p:cNvGrpSpPr/>
        <p:nvPr/>
      </p:nvGrpSpPr>
      <p:grpSpPr>
        <a:xfrm>
          <a:off x="0" y="0"/>
          <a:ext cx="0" cy="0"/>
          <a:chOff x="0" y="0"/>
          <a:chExt cx="0" cy="0"/>
        </a:xfrm>
      </p:grpSpPr>
      <p:sp>
        <p:nvSpPr>
          <p:cNvPr id="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132</a:t>
            </a:fld>
            <a:endParaRPr lang="en-US" sz="700" spc="0" kern="0" b="0" i="0" dirty="0">
              <a:solidFill>
                <a:srgbClr val="070154"/>
              </a:solidFill>
              <a:latin typeface="IBM Plex Mono SemiBold"/>
              <a:ea typeface="IBM Plex Mono SemiBold"/>
              <a:cs typeface="IBM Plex Mono SemiBold"/>
            </a:endParaRPr>
          </a:p>
        </p:txBody>
      </p:sp>
      <p:grpSp>
        <p:nvGrpSpPr>
          <p:cNvPr id="80" name="node01"/>
          <p:cNvGrpSpPr/>
          <p:nvPr/>
        </p:nvGrpSpPr>
        <p:grpSpPr>
          <a:xfrm>
            <a:off x="723900" y="457200"/>
            <a:ext cx="2514600" cy="139700"/>
            <a:chOff x="723900" y="457200"/>
            <a:chExt cx="2514600" cy="139700"/>
          </a:xfrm>
        </p:grpSpPr>
        <p:sp>
          <p:nvSpPr>
            <p:cNvPr id="4" name="node01.text"/>
            <p:cNvSpPr/>
            <p:nvPr/>
          </p:nvSpPr>
          <p:spPr>
            <a:xfrm>
              <a:off x="723900" y="457200"/>
              <a:ext cx="25146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F900D3"/>
                  </a:solidFill>
                  <a:latin typeface="IBM Plex Mono SemiBold"/>
                  <a:ea typeface="IBM Plex Mono SemiBold"/>
                  <a:cs typeface="IBM Plex Mono SemiBold"/>
                </a:rPr>
                <a:t>OUR APPROACH</a:t>
              </a:r>
              <a:endParaRPr lang="en-US" sz="900" spc="72" kern="0" b="0" i="0" dirty="0">
                <a:solidFill>
                  <a:srgbClr val="F900D3"/>
                </a:solidFill>
                <a:latin typeface="IBM Plex Mono SemiBold"/>
                <a:ea typeface="IBM Plex Mono SemiBold"/>
                <a:cs typeface="IBM Plex Mono SemiBold"/>
              </a:endParaRPr>
            </a:p>
          </p:txBody>
        </p:sp>
      </p:grpSp>
      <p:grpSp>
        <p:nvGrpSpPr>
          <p:cNvPr id="81" name="node02"/>
          <p:cNvGrpSpPr/>
          <p:nvPr/>
        </p:nvGrpSpPr>
        <p:grpSpPr>
          <a:xfrm>
            <a:off x="723900" y="762000"/>
            <a:ext cx="2514600" cy="266700"/>
            <a:chOff x="723900" y="762000"/>
            <a:chExt cx="2514600" cy="266700"/>
          </a:xfrm>
        </p:grpSpPr>
        <p:sp>
          <p:nvSpPr>
            <p:cNvPr id="5" name="node02.text"/>
            <p:cNvSpPr/>
            <p:nvPr/>
          </p:nvSpPr>
          <p:spPr>
            <a:xfrm>
              <a:off x="723900" y="7620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900D3"/>
                  </a:solidFill>
                  <a:latin typeface="IBM Plex Sans SemiBold"/>
                  <a:ea typeface="IBM Plex Sans SemiBold"/>
                  <a:cs typeface="IBM Plex Sans SemiBold"/>
                </a:rPr>
                <a:t>Phase 01</a:t>
              </a:r>
              <a:endParaRPr lang="en-US" sz="1600" spc="-16" kern="0" b="0" i="0" dirty="0">
                <a:solidFill>
                  <a:srgbClr val="F900D3"/>
                </a:solidFill>
                <a:latin typeface="IBM Plex Sans SemiBold"/>
                <a:ea typeface="IBM Plex Sans SemiBold"/>
                <a:cs typeface="IBM Plex Sans SemiBold"/>
              </a:endParaRPr>
            </a:p>
          </p:txBody>
        </p:sp>
      </p:grpSp>
      <p:grpSp>
        <p:nvGrpSpPr>
          <p:cNvPr id="82" name="node03"/>
          <p:cNvGrpSpPr/>
          <p:nvPr/>
        </p:nvGrpSpPr>
        <p:grpSpPr>
          <a:xfrm>
            <a:off x="723900" y="1066800"/>
            <a:ext cx="2514600" cy="660400"/>
            <a:chOff x="723900" y="1066800"/>
            <a:chExt cx="2514600" cy="660400"/>
          </a:xfrm>
        </p:grpSpPr>
        <p:sp>
          <p:nvSpPr>
            <p:cNvPr id="6" name="node03.text"/>
            <p:cNvSpPr/>
            <p:nvPr/>
          </p:nvSpPr>
          <p:spPr>
            <a:xfrm>
              <a:off x="723900" y="1066800"/>
              <a:ext cx="25146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FFFFF"/>
                  </a:solidFill>
                  <a:latin typeface="IBM Plex Sans SemiBold"/>
                  <a:ea typeface="IBM Plex Sans SemiBold"/>
                  <a:cs typeface="IBM Plex Sans SemiBold"/>
                </a:rPr>
                <a:t>Data Platform Foundation</a:t>
              </a:r>
              <a:endParaRPr lang="en-US" sz="2100" spc="-32" kern="0" b="0" i="0" dirty="0">
                <a:solidFill>
                  <a:srgbClr val="FFFFFF"/>
                </a:solidFill>
                <a:latin typeface="IBM Plex Sans SemiBold"/>
                <a:ea typeface="IBM Plex Sans SemiBold"/>
                <a:cs typeface="IBM Plex Sans SemiBold"/>
              </a:endParaRPr>
            </a:p>
          </p:txBody>
        </p:sp>
      </p:grpSp>
      <p:grpSp>
        <p:nvGrpSpPr>
          <p:cNvPr id="83" name="node04"/>
          <p:cNvGrpSpPr/>
          <p:nvPr/>
        </p:nvGrpSpPr>
        <p:grpSpPr>
          <a:xfrm>
            <a:off x="723900" y="1905000"/>
            <a:ext cx="2514600" cy="190500"/>
            <a:chOff x="723900" y="1905000"/>
            <a:chExt cx="2514600" cy="190500"/>
          </a:xfrm>
        </p:grpSpPr>
        <p:sp>
          <p:nvSpPr>
            <p:cNvPr id="7" name="node04.text"/>
            <p:cNvSpPr/>
            <p:nvPr/>
          </p:nvSpPr>
          <p:spPr>
            <a:xfrm>
              <a:off x="723900" y="19050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Weeks 0–16</a:t>
              </a:r>
              <a:endParaRPr lang="en-US" sz="1100" spc="0" kern="0" b="0" i="0" dirty="0">
                <a:solidFill>
                  <a:srgbClr val="CED7E6"/>
                </a:solidFill>
                <a:latin typeface="IBM Plex Sans"/>
                <a:ea typeface="IBM Plex Sans"/>
                <a:cs typeface="IBM Plex Sans"/>
              </a:endParaRPr>
            </a:p>
          </p:txBody>
        </p:sp>
      </p:grpSp>
      <p:grpSp>
        <p:nvGrpSpPr>
          <p:cNvPr id="84" name="node05"/>
          <p:cNvGrpSpPr/>
          <p:nvPr/>
        </p:nvGrpSpPr>
        <p:grpSpPr>
          <a:xfrm>
            <a:off x="723900" y="2286000"/>
            <a:ext cx="914400" cy="228600"/>
            <a:chOff x="723900" y="2286000"/>
            <a:chExt cx="914400" cy="228600"/>
          </a:xfrm>
        </p:grpSpPr>
        <p:sp>
          <p:nvSpPr>
            <p:cNvPr id="8" name="node05.surface"/>
            <p:cNvSpPr/>
            <p:nvPr/>
          </p:nvSpPr>
          <p:spPr>
            <a:xfrm>
              <a:off x="723900" y="2286000"/>
              <a:ext cx="914400" cy="228600"/>
            </a:xfrm>
            <a:custGeom>
              <a:avLst/>
              <a:gdLst/>
              <a:ahLst/>
              <a:cxnLst/>
              <a:rect l="l" t="t" r="r" b="b"/>
              <a:pathLst>
                <a:path w="914400" h="228600">
                  <a:moveTo>
                    <a:pt x="0" y="0"/>
                  </a:moveTo>
                  <a:lnTo>
                    <a:pt x="838200" y="0"/>
                  </a:lnTo>
                  <a:lnTo>
                    <a:pt x="914400" y="114300"/>
                  </a:lnTo>
                  <a:lnTo>
                    <a:pt x="838200" y="228600"/>
                  </a:lnTo>
                  <a:lnTo>
                    <a:pt x="0" y="228600"/>
                  </a:lnTo>
                  <a:close/>
                </a:path>
              </a:pathLst>
            </a:custGeom>
            <a:solidFill>
              <a:srgbClr val="F900D3"/>
            </a:solidFill>
            <a:ln>
              <a:noFill/>
            </a:ln>
          </p:spPr>
        </p:sp>
      </p:grpSp>
      <p:grpSp>
        <p:nvGrpSpPr>
          <p:cNvPr id="85" name="node06"/>
          <p:cNvGrpSpPr/>
          <p:nvPr/>
        </p:nvGrpSpPr>
        <p:grpSpPr>
          <a:xfrm>
            <a:off x="1638300" y="2286000"/>
            <a:ext cx="914400" cy="228600"/>
            <a:chOff x="1638300" y="2286000"/>
            <a:chExt cx="914400" cy="228600"/>
          </a:xfrm>
        </p:grpSpPr>
        <p:sp>
          <p:nvSpPr>
            <p:cNvPr id="9" name="node06.surface"/>
            <p:cNvSpPr/>
            <p:nvPr/>
          </p:nvSpPr>
          <p:spPr>
            <a:xfrm>
              <a:off x="1638300" y="2286000"/>
              <a:ext cx="914400" cy="228600"/>
            </a:xfrm>
            <a:custGeom>
              <a:avLst/>
              <a:gdLst/>
              <a:ahLst/>
              <a:cxnLst/>
              <a:rect l="l" t="t" r="r" b="b"/>
              <a:pathLst>
                <a:path w="914400" h="228600">
                  <a:moveTo>
                    <a:pt x="0" y="0"/>
                  </a:moveTo>
                  <a:lnTo>
                    <a:pt x="838200" y="0"/>
                  </a:lnTo>
                  <a:lnTo>
                    <a:pt x="914400" y="114300"/>
                  </a:lnTo>
                  <a:lnTo>
                    <a:pt x="838200" y="228600"/>
                  </a:lnTo>
                  <a:lnTo>
                    <a:pt x="0" y="228600"/>
                  </a:lnTo>
                  <a:lnTo>
                    <a:pt x="76200" y="114300"/>
                  </a:lnTo>
                  <a:close/>
                </a:path>
              </a:pathLst>
            </a:custGeom>
            <a:solidFill>
              <a:srgbClr val="CED7E6"/>
            </a:solidFill>
            <a:ln>
              <a:noFill/>
            </a:ln>
          </p:spPr>
        </p:sp>
      </p:grpSp>
      <p:grpSp>
        <p:nvGrpSpPr>
          <p:cNvPr id="86" name="node07"/>
          <p:cNvGrpSpPr/>
          <p:nvPr/>
        </p:nvGrpSpPr>
        <p:grpSpPr>
          <a:xfrm>
            <a:off x="2552700" y="2286000"/>
            <a:ext cx="685800" cy="228600"/>
            <a:chOff x="2552700" y="2286000"/>
            <a:chExt cx="685800" cy="228600"/>
          </a:xfrm>
        </p:grpSpPr>
        <p:sp>
          <p:nvSpPr>
            <p:cNvPr id="10" name="node07.surface"/>
            <p:cNvSpPr/>
            <p:nvPr/>
          </p:nvSpPr>
          <p:spPr>
            <a:xfrm>
              <a:off x="2552700" y="2286000"/>
              <a:ext cx="685800" cy="228600"/>
            </a:xfrm>
            <a:custGeom>
              <a:avLst/>
              <a:gdLst/>
              <a:ahLst/>
              <a:cxnLst/>
              <a:rect l="l" t="t" r="r" b="b"/>
              <a:pathLst>
                <a:path w="685800" h="228600">
                  <a:moveTo>
                    <a:pt x="0" y="0"/>
                  </a:moveTo>
                  <a:lnTo>
                    <a:pt x="609600" y="0"/>
                  </a:lnTo>
                  <a:lnTo>
                    <a:pt x="685800" y="114300"/>
                  </a:lnTo>
                  <a:lnTo>
                    <a:pt x="609600" y="228600"/>
                  </a:lnTo>
                  <a:lnTo>
                    <a:pt x="0" y="228600"/>
                  </a:lnTo>
                  <a:lnTo>
                    <a:pt x="76200" y="114300"/>
                  </a:lnTo>
                  <a:close/>
                </a:path>
              </a:pathLst>
            </a:custGeom>
            <a:solidFill>
              <a:srgbClr val="CED7E6"/>
            </a:solidFill>
            <a:ln>
              <a:noFill/>
            </a:ln>
          </p:spPr>
        </p:sp>
      </p:grpSp>
      <p:grpSp>
        <p:nvGrpSpPr>
          <p:cNvPr id="87" name="node08"/>
          <p:cNvGrpSpPr/>
          <p:nvPr/>
        </p:nvGrpSpPr>
        <p:grpSpPr>
          <a:xfrm>
            <a:off x="723900" y="2667000"/>
            <a:ext cx="2463800" cy="266700"/>
            <a:chOff x="723900" y="2667000"/>
            <a:chExt cx="2463800" cy="266700"/>
          </a:xfrm>
        </p:grpSpPr>
        <p:sp>
          <p:nvSpPr>
            <p:cNvPr id="11" name="node08.text"/>
            <p:cNvSpPr/>
            <p:nvPr/>
          </p:nvSpPr>
          <p:spPr>
            <a:xfrm>
              <a:off x="723900" y="2667000"/>
              <a:ext cx="2463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Early-adopter scorecard</a:t>
              </a:r>
              <a:endParaRPr lang="en-US" sz="1600" spc="-16" kern="0" b="0" i="0" dirty="0">
                <a:solidFill>
                  <a:srgbClr val="FFFFFF"/>
                </a:solidFill>
                <a:latin typeface="IBM Plex Sans SemiBold"/>
                <a:ea typeface="IBM Plex Sans SemiBold"/>
                <a:cs typeface="IBM Plex Sans SemiBold"/>
              </a:endParaRPr>
            </a:p>
          </p:txBody>
        </p:sp>
      </p:grpSp>
      <p:grpSp>
        <p:nvGrpSpPr>
          <p:cNvPr id="88" name="node09"/>
          <p:cNvGrpSpPr/>
          <p:nvPr/>
        </p:nvGrpSpPr>
        <p:grpSpPr>
          <a:xfrm>
            <a:off x="723900" y="3352800"/>
            <a:ext cx="2514600" cy="139700"/>
            <a:chOff x="723900" y="3352800"/>
            <a:chExt cx="2514600" cy="139700"/>
          </a:xfrm>
        </p:grpSpPr>
        <p:sp>
          <p:nvSpPr>
            <p:cNvPr id="12" name="node09.text"/>
            <p:cNvSpPr/>
            <p:nvPr/>
          </p:nvSpPr>
          <p:spPr>
            <a:xfrm>
              <a:off x="723900" y="33528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STRATEGIC VALUE</a:t>
              </a:r>
              <a:endParaRPr lang="en-US" sz="800" spc="48" kern="0" b="0" i="0" dirty="0">
                <a:solidFill>
                  <a:srgbClr val="F900D3"/>
                </a:solidFill>
                <a:latin typeface="IBM Plex Mono Medium"/>
                <a:ea typeface="IBM Plex Mono Medium"/>
                <a:cs typeface="IBM Plex Mono Medium"/>
              </a:endParaRPr>
            </a:p>
          </p:txBody>
        </p:sp>
      </p:grpSp>
      <p:grpSp>
        <p:nvGrpSpPr>
          <p:cNvPr id="89" name="node10"/>
          <p:cNvGrpSpPr/>
          <p:nvPr/>
        </p:nvGrpSpPr>
        <p:grpSpPr>
          <a:xfrm>
            <a:off x="723900" y="3517900"/>
            <a:ext cx="2514600" cy="190500"/>
            <a:chOff x="723900" y="3517900"/>
            <a:chExt cx="2514600" cy="190500"/>
          </a:xfrm>
        </p:grpSpPr>
        <p:sp>
          <p:nvSpPr>
            <p:cNvPr id="13" name="node10.text"/>
            <p:cNvSpPr/>
            <p:nvPr/>
          </p:nvSpPr>
          <p:spPr>
            <a:xfrm>
              <a:off x="723900" y="35179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Outcomes and sponsorship</a:t>
              </a:r>
              <a:endParaRPr lang="en-US" sz="1100" spc="0" kern="0" b="0" i="0" dirty="0">
                <a:solidFill>
                  <a:srgbClr val="FFFFFF"/>
                </a:solidFill>
                <a:latin typeface="IBM Plex Sans"/>
                <a:ea typeface="IBM Plex Sans"/>
                <a:cs typeface="IBM Plex Sans"/>
              </a:endParaRPr>
            </a:p>
          </p:txBody>
        </p:sp>
      </p:grpSp>
      <p:sp>
        <p:nvSpPr>
          <p:cNvPr id="14" name="node11"/>
          <p:cNvSpPr/>
          <p:nvPr/>
        </p:nvSpPr>
        <p:spPr>
          <a:xfrm>
            <a:off x="723900" y="3797300"/>
            <a:ext cx="2514600" cy="9525"/>
          </a:xfrm>
          <a:prstGeom prst="rect">
            <a:avLst/>
          </a:prstGeom>
          <a:solidFill>
            <a:srgbClr val="50658E"/>
          </a:solidFill>
          <a:ln>
            <a:noFill/>
          </a:ln>
        </p:spPr>
      </p:sp>
      <p:grpSp>
        <p:nvGrpSpPr>
          <p:cNvPr id="90" name="node12"/>
          <p:cNvGrpSpPr/>
          <p:nvPr/>
        </p:nvGrpSpPr>
        <p:grpSpPr>
          <a:xfrm>
            <a:off x="723900" y="3835400"/>
            <a:ext cx="2514600" cy="139700"/>
            <a:chOff x="723900" y="3835400"/>
            <a:chExt cx="2514600" cy="139700"/>
          </a:xfrm>
        </p:grpSpPr>
        <p:sp>
          <p:nvSpPr>
            <p:cNvPr id="15" name="node12.text"/>
            <p:cNvSpPr/>
            <p:nvPr/>
          </p:nvSpPr>
          <p:spPr>
            <a:xfrm>
              <a:off x="723900" y="38354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PATTERN COVERAGE</a:t>
              </a:r>
              <a:endParaRPr lang="en-US" sz="800" spc="48" kern="0" b="0" i="0" dirty="0">
                <a:solidFill>
                  <a:srgbClr val="F900D3"/>
                </a:solidFill>
                <a:latin typeface="IBM Plex Mono Medium"/>
                <a:ea typeface="IBM Plex Mono Medium"/>
                <a:cs typeface="IBM Plex Mono Medium"/>
              </a:endParaRPr>
            </a:p>
          </p:txBody>
        </p:sp>
      </p:grpSp>
      <p:grpSp>
        <p:nvGrpSpPr>
          <p:cNvPr id="91" name="node13"/>
          <p:cNvGrpSpPr/>
          <p:nvPr/>
        </p:nvGrpSpPr>
        <p:grpSpPr>
          <a:xfrm>
            <a:off x="723900" y="4000500"/>
            <a:ext cx="2514600" cy="190500"/>
            <a:chOff x="723900" y="4000500"/>
            <a:chExt cx="2514600" cy="190500"/>
          </a:xfrm>
        </p:grpSpPr>
        <p:sp>
          <p:nvSpPr>
            <p:cNvPr id="16" name="node13.text"/>
            <p:cNvSpPr/>
            <p:nvPr/>
          </p:nvSpPr>
          <p:spPr>
            <a:xfrm>
              <a:off x="723900" y="40005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Warehouse, lakehouse or both</a:t>
              </a:r>
              <a:endParaRPr lang="en-US" sz="1100" spc="0" kern="0" b="0" i="0" dirty="0">
                <a:solidFill>
                  <a:srgbClr val="FFFFFF"/>
                </a:solidFill>
                <a:latin typeface="IBM Plex Sans"/>
                <a:ea typeface="IBM Plex Sans"/>
                <a:cs typeface="IBM Plex Sans"/>
              </a:endParaRPr>
            </a:p>
          </p:txBody>
        </p:sp>
      </p:grpSp>
      <p:sp>
        <p:nvSpPr>
          <p:cNvPr id="17" name="node14"/>
          <p:cNvSpPr/>
          <p:nvPr/>
        </p:nvSpPr>
        <p:spPr>
          <a:xfrm>
            <a:off x="723900" y="4279900"/>
            <a:ext cx="2514600" cy="9525"/>
          </a:xfrm>
          <a:prstGeom prst="rect">
            <a:avLst/>
          </a:prstGeom>
          <a:solidFill>
            <a:srgbClr val="50658E"/>
          </a:solidFill>
          <a:ln>
            <a:noFill/>
          </a:ln>
        </p:spPr>
      </p:sp>
      <p:grpSp>
        <p:nvGrpSpPr>
          <p:cNvPr id="92" name="node15"/>
          <p:cNvGrpSpPr/>
          <p:nvPr/>
        </p:nvGrpSpPr>
        <p:grpSpPr>
          <a:xfrm>
            <a:off x="723900" y="4318000"/>
            <a:ext cx="2514600" cy="139700"/>
            <a:chOff x="723900" y="4318000"/>
            <a:chExt cx="2514600" cy="139700"/>
          </a:xfrm>
        </p:grpSpPr>
        <p:sp>
          <p:nvSpPr>
            <p:cNvPr id="18" name="node15.text"/>
            <p:cNvSpPr/>
            <p:nvPr/>
          </p:nvSpPr>
          <p:spPr>
            <a:xfrm>
              <a:off x="723900" y="43180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TECHNICAL READINESS</a:t>
              </a:r>
              <a:endParaRPr lang="en-US" sz="800" spc="48" kern="0" b="0" i="0" dirty="0">
                <a:solidFill>
                  <a:srgbClr val="F900D3"/>
                </a:solidFill>
                <a:latin typeface="IBM Plex Mono Medium"/>
                <a:ea typeface="IBM Plex Mono Medium"/>
                <a:cs typeface="IBM Plex Mono Medium"/>
              </a:endParaRPr>
            </a:p>
          </p:txBody>
        </p:sp>
      </p:grpSp>
      <p:grpSp>
        <p:nvGrpSpPr>
          <p:cNvPr id="93" name="node16"/>
          <p:cNvGrpSpPr/>
          <p:nvPr/>
        </p:nvGrpSpPr>
        <p:grpSpPr>
          <a:xfrm>
            <a:off x="723900" y="4483100"/>
            <a:ext cx="2514600" cy="190500"/>
            <a:chOff x="723900" y="4483100"/>
            <a:chExt cx="2514600" cy="190500"/>
          </a:xfrm>
        </p:grpSpPr>
        <p:sp>
          <p:nvSpPr>
            <p:cNvPr id="19" name="node16.text"/>
            <p:cNvSpPr/>
            <p:nvPr/>
          </p:nvSpPr>
          <p:spPr>
            <a:xfrm>
              <a:off x="723900" y="44831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Data, security, dependencies</a:t>
              </a:r>
              <a:endParaRPr lang="en-US" sz="1100" spc="0" kern="0" b="0" i="0" dirty="0">
                <a:solidFill>
                  <a:srgbClr val="FFFFFF"/>
                </a:solidFill>
                <a:latin typeface="IBM Plex Sans"/>
                <a:ea typeface="IBM Plex Sans"/>
                <a:cs typeface="IBM Plex Sans"/>
              </a:endParaRPr>
            </a:p>
          </p:txBody>
        </p:sp>
      </p:grpSp>
      <p:sp>
        <p:nvSpPr>
          <p:cNvPr id="20" name="node17"/>
          <p:cNvSpPr/>
          <p:nvPr/>
        </p:nvSpPr>
        <p:spPr>
          <a:xfrm>
            <a:off x="723900" y="4762500"/>
            <a:ext cx="2514600" cy="9525"/>
          </a:xfrm>
          <a:prstGeom prst="rect">
            <a:avLst/>
          </a:prstGeom>
          <a:solidFill>
            <a:srgbClr val="50658E"/>
          </a:solidFill>
          <a:ln>
            <a:noFill/>
          </a:ln>
        </p:spPr>
      </p:sp>
      <p:grpSp>
        <p:nvGrpSpPr>
          <p:cNvPr id="94" name="node18"/>
          <p:cNvGrpSpPr/>
          <p:nvPr/>
        </p:nvGrpSpPr>
        <p:grpSpPr>
          <a:xfrm>
            <a:off x="723900" y="4800600"/>
            <a:ext cx="2514600" cy="139700"/>
            <a:chOff x="723900" y="4800600"/>
            <a:chExt cx="2514600" cy="139700"/>
          </a:xfrm>
        </p:grpSpPr>
        <p:sp>
          <p:nvSpPr>
            <p:cNvPr id="21" name="node18.text"/>
            <p:cNvSpPr/>
            <p:nvPr/>
          </p:nvSpPr>
          <p:spPr>
            <a:xfrm>
              <a:off x="723900" y="4800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TEAM READINESS</a:t>
              </a:r>
              <a:endParaRPr lang="en-US" sz="800" spc="48" kern="0" b="0" i="0" dirty="0">
                <a:solidFill>
                  <a:srgbClr val="F900D3"/>
                </a:solidFill>
                <a:latin typeface="IBM Plex Mono Medium"/>
                <a:ea typeface="IBM Plex Mono Medium"/>
                <a:cs typeface="IBM Plex Mono Medium"/>
              </a:endParaRPr>
            </a:p>
          </p:txBody>
        </p:sp>
      </p:grpSp>
      <p:grpSp>
        <p:nvGrpSpPr>
          <p:cNvPr id="95" name="node19"/>
          <p:cNvGrpSpPr/>
          <p:nvPr/>
        </p:nvGrpSpPr>
        <p:grpSpPr>
          <a:xfrm>
            <a:off x="723900" y="4965700"/>
            <a:ext cx="2514600" cy="190500"/>
            <a:chOff x="723900" y="4965700"/>
            <a:chExt cx="2514600" cy="190500"/>
          </a:xfrm>
        </p:grpSpPr>
        <p:sp>
          <p:nvSpPr>
            <p:cNvPr id="22" name="node19.text"/>
            <p:cNvSpPr/>
            <p:nvPr/>
          </p:nvSpPr>
          <p:spPr>
            <a:xfrm>
              <a:off x="723900" y="49657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Owner, engineers, timeline</a:t>
              </a:r>
              <a:endParaRPr lang="en-US" sz="1100" spc="0" kern="0" b="0" i="0" dirty="0">
                <a:solidFill>
                  <a:srgbClr val="FFFFFF"/>
                </a:solidFill>
                <a:latin typeface="IBM Plex Sans"/>
                <a:ea typeface="IBM Plex Sans"/>
                <a:cs typeface="IBM Plex Sans"/>
              </a:endParaRPr>
            </a:p>
          </p:txBody>
        </p:sp>
      </p:grpSp>
      <p:sp>
        <p:nvSpPr>
          <p:cNvPr id="23" name="node20"/>
          <p:cNvSpPr/>
          <p:nvPr/>
        </p:nvSpPr>
        <p:spPr>
          <a:xfrm>
            <a:off x="723900" y="5245100"/>
            <a:ext cx="2514600" cy="9525"/>
          </a:xfrm>
          <a:prstGeom prst="rect">
            <a:avLst/>
          </a:prstGeom>
          <a:solidFill>
            <a:srgbClr val="50658E"/>
          </a:solidFill>
          <a:ln>
            <a:noFill/>
          </a:ln>
        </p:spPr>
      </p:sp>
      <p:grpSp>
        <p:nvGrpSpPr>
          <p:cNvPr id="96" name="node21"/>
          <p:cNvGrpSpPr/>
          <p:nvPr/>
        </p:nvGrpSpPr>
        <p:grpSpPr>
          <a:xfrm>
            <a:off x="723900" y="5283200"/>
            <a:ext cx="2514600" cy="139700"/>
            <a:chOff x="723900" y="5283200"/>
            <a:chExt cx="2514600" cy="139700"/>
          </a:xfrm>
        </p:grpSpPr>
        <p:sp>
          <p:nvSpPr>
            <p:cNvPr id="24" name="node21.text"/>
            <p:cNvSpPr/>
            <p:nvPr/>
          </p:nvSpPr>
          <p:spPr>
            <a:xfrm>
              <a:off x="723900" y="5283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LEARNING VALUE</a:t>
              </a:r>
              <a:endParaRPr lang="en-US" sz="800" spc="48" kern="0" b="0" i="0" dirty="0">
                <a:solidFill>
                  <a:srgbClr val="F900D3"/>
                </a:solidFill>
                <a:latin typeface="IBM Plex Mono Medium"/>
                <a:ea typeface="IBM Plex Mono Medium"/>
                <a:cs typeface="IBM Plex Mono Medium"/>
              </a:endParaRPr>
            </a:p>
          </p:txBody>
        </p:sp>
      </p:grpSp>
      <p:grpSp>
        <p:nvGrpSpPr>
          <p:cNvPr id="97" name="node22"/>
          <p:cNvGrpSpPr/>
          <p:nvPr/>
        </p:nvGrpSpPr>
        <p:grpSpPr>
          <a:xfrm>
            <a:off x="723900" y="5448300"/>
            <a:ext cx="2514600" cy="190500"/>
            <a:chOff x="723900" y="5448300"/>
            <a:chExt cx="2514600" cy="190500"/>
          </a:xfrm>
        </p:grpSpPr>
        <p:sp>
          <p:nvSpPr>
            <p:cNvPr id="25" name="node22.text"/>
            <p:cNvSpPr/>
            <p:nvPr/>
          </p:nvSpPr>
          <p:spPr>
            <a:xfrm>
              <a:off x="723900" y="54483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Reusable patterns and controls</a:t>
              </a:r>
              <a:endParaRPr lang="en-US" sz="1100" spc="0" kern="0" b="0" i="0" dirty="0">
                <a:solidFill>
                  <a:srgbClr val="FFFFFF"/>
                </a:solidFill>
                <a:latin typeface="IBM Plex Sans"/>
                <a:ea typeface="IBM Plex Sans"/>
                <a:cs typeface="IBM Plex Sans"/>
              </a:endParaRPr>
            </a:p>
          </p:txBody>
        </p:sp>
      </p:grpSp>
      <p:sp>
        <p:nvSpPr>
          <p:cNvPr id="26" name="node23"/>
          <p:cNvSpPr/>
          <p:nvPr/>
        </p:nvSpPr>
        <p:spPr>
          <a:xfrm>
            <a:off x="723900" y="5727700"/>
            <a:ext cx="2514600" cy="9525"/>
          </a:xfrm>
          <a:prstGeom prst="rect">
            <a:avLst/>
          </a:prstGeom>
          <a:solidFill>
            <a:srgbClr val="50658E"/>
          </a:solidFill>
          <a:ln>
            <a:noFill/>
          </a:ln>
        </p:spPr>
      </p:sp>
      <p:grpSp>
        <p:nvGrpSpPr>
          <p:cNvPr id="98" name="node24"/>
          <p:cNvGrpSpPr/>
          <p:nvPr/>
        </p:nvGrpSpPr>
        <p:grpSpPr>
          <a:xfrm>
            <a:off x="4381500" y="685800"/>
            <a:ext cx="7086600" cy="330200"/>
            <a:chOff x="4381500" y="685800"/>
            <a:chExt cx="7086600" cy="330200"/>
          </a:xfrm>
        </p:grpSpPr>
        <p:sp>
          <p:nvSpPr>
            <p:cNvPr id="27" name="node24.text"/>
            <p:cNvSpPr/>
            <p:nvPr/>
          </p:nvSpPr>
          <p:spPr>
            <a:xfrm>
              <a:off x="4381500" y="685800"/>
              <a:ext cx="70866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Three workloads prove the platform patterns</a:t>
              </a:r>
              <a:endParaRPr lang="en-US" sz="2100" spc="-32" kern="0" b="0" i="0" dirty="0">
                <a:solidFill>
                  <a:srgbClr val="070154"/>
                </a:solidFill>
                <a:latin typeface="IBM Plex Sans SemiBold"/>
                <a:ea typeface="IBM Plex Sans SemiBold"/>
                <a:cs typeface="IBM Plex Sans SemiBold"/>
              </a:endParaRPr>
            </a:p>
          </p:txBody>
        </p:sp>
      </p:grpSp>
      <p:grpSp>
        <p:nvGrpSpPr>
          <p:cNvPr id="99" name="node25"/>
          <p:cNvGrpSpPr/>
          <p:nvPr/>
        </p:nvGrpSpPr>
        <p:grpSpPr>
          <a:xfrm>
            <a:off x="4381500" y="1143000"/>
            <a:ext cx="7086600" cy="190500"/>
            <a:chOff x="4381500" y="1143000"/>
            <a:chExt cx="7086600" cy="190500"/>
          </a:xfrm>
        </p:grpSpPr>
        <p:sp>
          <p:nvSpPr>
            <p:cNvPr id="28" name="node25.text"/>
            <p:cNvSpPr/>
            <p:nvPr/>
          </p:nvSpPr>
          <p:spPr>
            <a:xfrm>
              <a:off x="4381500" y="1143000"/>
              <a:ext cx="7086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Selected to maximize enterprise learning and to test each architecture pattern once.</a:t>
              </a:r>
              <a:endParaRPr lang="en-US" sz="1100" spc="0" kern="0" b="0" i="0" dirty="0">
                <a:solidFill>
                  <a:srgbClr val="50658E"/>
                </a:solidFill>
                <a:latin typeface="IBM Plex Sans"/>
                <a:ea typeface="IBM Plex Sans"/>
                <a:cs typeface="IBM Plex Sans"/>
              </a:endParaRPr>
            </a:p>
          </p:txBody>
        </p:sp>
      </p:grpSp>
      <p:grpSp>
        <p:nvGrpSpPr>
          <p:cNvPr id="100" name="node26"/>
          <p:cNvGrpSpPr/>
          <p:nvPr/>
        </p:nvGrpSpPr>
        <p:grpSpPr>
          <a:xfrm>
            <a:off x="4381500" y="1600200"/>
            <a:ext cx="2057400" cy="139700"/>
            <a:chOff x="4381500" y="1600200"/>
            <a:chExt cx="2057400" cy="139700"/>
          </a:xfrm>
        </p:grpSpPr>
        <p:sp>
          <p:nvSpPr>
            <p:cNvPr id="29" name="node26.text"/>
            <p:cNvSpPr/>
            <p:nvPr/>
          </p:nvSpPr>
          <p:spPr>
            <a:xfrm>
              <a:off x="4381500" y="16002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WAREHOUSE A TO PLATFORM</a:t>
              </a:r>
              <a:endParaRPr lang="en-US" sz="800" spc="48" kern="0" b="0" i="0" dirty="0">
                <a:solidFill>
                  <a:srgbClr val="0047FF"/>
                </a:solidFill>
                <a:latin typeface="IBM Plex Mono Medium"/>
                <a:ea typeface="IBM Plex Mono Medium"/>
                <a:cs typeface="IBM Plex Mono Medium"/>
              </a:endParaRPr>
            </a:p>
          </p:txBody>
        </p:sp>
      </p:grpSp>
      <p:grpSp>
        <p:nvGrpSpPr>
          <p:cNvPr id="101" name="node27"/>
          <p:cNvGrpSpPr/>
          <p:nvPr/>
        </p:nvGrpSpPr>
        <p:grpSpPr>
          <a:xfrm>
            <a:off x="4381500" y="1828800"/>
            <a:ext cx="2057400" cy="1600200"/>
            <a:chOff x="4381500" y="1828800"/>
            <a:chExt cx="2057400" cy="1600200"/>
          </a:xfrm>
        </p:grpSpPr>
        <p:sp>
          <p:nvSpPr>
            <p:cNvPr id="30" name="node27.container"/>
            <p:cNvSpPr/>
            <p:nvPr/>
          </p:nvSpPr>
          <p:spPr>
            <a:xfrm>
              <a:off x="4381500" y="1828800"/>
              <a:ext cx="2057400" cy="1600200"/>
            </a:xfrm>
            <a:prstGeom prst="rect">
              <a:avLst/>
            </a:prstGeom>
            <a:solidFill>
              <a:srgbClr val="E8EEF8"/>
            </a:solidFill>
            <a:ln>
              <a:noFill/>
            </a:ln>
          </p:spPr>
        </p:sp>
        <p:sp>
          <p:nvSpPr>
            <p:cNvPr id="31" name="node27.title"/>
            <p:cNvSpPr/>
            <p:nvPr/>
          </p:nvSpPr>
          <p:spPr>
            <a:xfrm>
              <a:off x="4533900" y="1981200"/>
              <a:ext cx="1752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Analytics</a:t>
              </a:r>
              <a:endParaRPr lang="en-US" sz="1600" spc="-16" kern="0" b="0" i="0" dirty="0">
                <a:solidFill>
                  <a:srgbClr val="070154"/>
                </a:solidFill>
                <a:latin typeface="IBM Plex Sans SemiBold"/>
                <a:ea typeface="IBM Plex Sans SemiBold"/>
                <a:cs typeface="IBM Plex Sans SemiBold"/>
              </a:endParaRPr>
            </a:p>
          </p:txBody>
        </p:sp>
        <p:sp>
          <p:nvSpPr>
            <p:cNvPr id="32" name="node27.body.item-001.paragraph"/>
            <p:cNvSpPr/>
            <p:nvPr/>
          </p:nvSpPr>
          <p:spPr>
            <a:xfrm>
              <a:off x="4533900" y="2400300"/>
              <a:ext cx="17526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Build analytics models on curated warehouse data.</a:t>
              </a:r>
              <a:endParaRPr lang="en-US" sz="1200" spc="0" kern="0" b="0" i="0" dirty="0">
                <a:solidFill>
                  <a:srgbClr val="50658E"/>
                </a:solidFill>
                <a:latin typeface="IBM Plex Sans"/>
                <a:ea typeface="IBM Plex Sans"/>
                <a:cs typeface="IBM Plex Sans"/>
              </a:endParaRPr>
            </a:p>
          </p:txBody>
        </p:sp>
      </p:grpSp>
      <p:grpSp>
        <p:nvGrpSpPr>
          <p:cNvPr id="102" name="node28"/>
          <p:cNvGrpSpPr/>
          <p:nvPr/>
        </p:nvGrpSpPr>
        <p:grpSpPr>
          <a:xfrm>
            <a:off x="4381500" y="3429000"/>
            <a:ext cx="2057400" cy="685800"/>
            <a:chOff x="4381500" y="3429000"/>
            <a:chExt cx="2057400" cy="685800"/>
          </a:xfrm>
        </p:grpSpPr>
        <p:sp>
          <p:nvSpPr>
            <p:cNvPr id="33" name="node28.surface"/>
            <p:cNvSpPr/>
            <p:nvPr/>
          </p:nvSpPr>
          <p:spPr>
            <a:xfrm>
              <a:off x="4381500" y="3429000"/>
              <a:ext cx="2057400" cy="685800"/>
            </a:xfrm>
            <a:prstGeom prst="rect">
              <a:avLst/>
            </a:prstGeom>
            <a:solidFill>
              <a:srgbClr val="070154"/>
            </a:solidFill>
            <a:ln>
              <a:noFill/>
            </a:ln>
          </p:spPr>
        </p:sp>
        <p:sp>
          <p:nvSpPr>
            <p:cNvPr id="34" name="node28.text"/>
            <p:cNvSpPr/>
            <p:nvPr/>
          </p:nvSpPr>
          <p:spPr>
            <a:xfrm>
              <a:off x="4533900" y="3581400"/>
              <a:ext cx="1752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Validates data movement and lineage.</a:t>
              </a:r>
              <a:endParaRPr lang="en-US" sz="1100" spc="0" kern="0" b="0" i="0" dirty="0">
                <a:solidFill>
                  <a:srgbClr val="FFFFFF"/>
                </a:solidFill>
                <a:latin typeface="IBM Plex Sans"/>
                <a:ea typeface="IBM Plex Sans"/>
                <a:cs typeface="IBM Plex Sans"/>
              </a:endParaRPr>
            </a:p>
          </p:txBody>
        </p:sp>
      </p:grpSp>
      <p:grpSp>
        <p:nvGrpSpPr>
          <p:cNvPr id="103" name="node29"/>
          <p:cNvGrpSpPr/>
          <p:nvPr/>
        </p:nvGrpSpPr>
        <p:grpSpPr>
          <a:xfrm>
            <a:off x="4381500" y="4343400"/>
            <a:ext cx="2057400" cy="1143000"/>
            <a:chOff x="4381500" y="4343400"/>
            <a:chExt cx="2057400" cy="1143000"/>
          </a:xfrm>
        </p:grpSpPr>
        <p:sp>
          <p:nvSpPr>
            <p:cNvPr id="35" name="node29.page.fill"/>
            <p:cNvSpPr/>
            <p:nvPr/>
          </p:nvSpPr>
          <p:spPr>
            <a:xfrm>
              <a:off x="4381500" y="4343400"/>
              <a:ext cx="2057400" cy="1143000"/>
            </a:xfrm>
            <a:prstGeom prst="rect">
              <a:avLst/>
            </a:prstGeom>
            <a:solidFill>
              <a:srgbClr val="FFFFFF"/>
            </a:solidFill>
            <a:ln>
              <a:noFill/>
            </a:ln>
          </p:spPr>
        </p:sp>
        <p:sp>
          <p:nvSpPr>
            <p:cNvPr id="36" name="node29.page.border"/>
            <p:cNvSpPr/>
            <p:nvPr/>
          </p:nvSpPr>
          <p:spPr>
            <a:xfrm>
              <a:off x="4381500" y="4343400"/>
              <a:ext cx="2057400" cy="1143000"/>
            </a:xfrm>
            <a:prstGeom prst="rect">
              <a:avLst/>
            </a:prstGeom>
            <a:ln w="9525">
              <a:solidFill>
                <a:srgbClr val="CED7E6"/>
              </a:solidFill>
              <a:prstDash val="solid"/>
            </a:ln>
          </p:spPr>
        </p:sp>
        <p:sp>
          <p:nvSpPr>
            <p:cNvPr id="37" name="node29.head"/>
            <p:cNvSpPr/>
            <p:nvPr/>
          </p:nvSpPr>
          <p:spPr>
            <a:xfrm>
              <a:off x="4525518" y="4487418"/>
              <a:ext cx="973150" cy="80010"/>
            </a:xfrm>
            <a:prstGeom prst="rect">
              <a:avLst/>
            </a:prstGeom>
            <a:solidFill>
              <a:srgbClr val="070154"/>
            </a:solidFill>
            <a:ln>
              <a:noFill/>
            </a:ln>
          </p:spPr>
        </p:sp>
        <p:sp>
          <p:nvSpPr>
            <p:cNvPr id="38" name="node29.box-1-1"/>
            <p:cNvSpPr/>
            <p:nvPr/>
          </p:nvSpPr>
          <p:spPr>
            <a:xfrm>
              <a:off x="4525518" y="4827270"/>
              <a:ext cx="555921" cy="137160"/>
            </a:xfrm>
            <a:prstGeom prst="rect">
              <a:avLst/>
            </a:prstGeom>
            <a:solidFill>
              <a:srgbClr val="CED7E6"/>
            </a:solidFill>
            <a:ln>
              <a:noFill/>
            </a:ln>
          </p:spPr>
        </p:sp>
        <p:sp>
          <p:nvSpPr>
            <p:cNvPr id="39" name="node29.box-1-2"/>
            <p:cNvSpPr/>
            <p:nvPr/>
          </p:nvSpPr>
          <p:spPr>
            <a:xfrm>
              <a:off x="4525518" y="5002530"/>
              <a:ext cx="555921" cy="137160"/>
            </a:xfrm>
            <a:prstGeom prst="rect">
              <a:avLst/>
            </a:prstGeom>
            <a:solidFill>
              <a:srgbClr val="CED7E6"/>
            </a:solidFill>
            <a:ln>
              <a:noFill/>
            </a:ln>
          </p:spPr>
        </p:sp>
        <p:sp>
          <p:nvSpPr>
            <p:cNvPr id="40" name="node29.box-2-1"/>
            <p:cNvSpPr/>
            <p:nvPr/>
          </p:nvSpPr>
          <p:spPr>
            <a:xfrm>
              <a:off x="5132239" y="4739640"/>
              <a:ext cx="555921" cy="137160"/>
            </a:xfrm>
            <a:prstGeom prst="rect">
              <a:avLst/>
            </a:prstGeom>
            <a:solidFill>
              <a:srgbClr val="070154"/>
            </a:solidFill>
            <a:ln>
              <a:noFill/>
            </a:ln>
          </p:spPr>
        </p:sp>
        <p:sp>
          <p:nvSpPr>
            <p:cNvPr id="41" name="node29.box-2-2"/>
            <p:cNvSpPr/>
            <p:nvPr/>
          </p:nvSpPr>
          <p:spPr>
            <a:xfrm>
              <a:off x="5132239" y="4914900"/>
              <a:ext cx="555921" cy="137160"/>
            </a:xfrm>
            <a:prstGeom prst="rect">
              <a:avLst/>
            </a:prstGeom>
            <a:solidFill>
              <a:srgbClr val="070154"/>
            </a:solidFill>
            <a:ln>
              <a:noFill/>
            </a:ln>
          </p:spPr>
        </p:sp>
        <p:sp>
          <p:nvSpPr>
            <p:cNvPr id="42" name="node29.box-2-3"/>
            <p:cNvSpPr/>
            <p:nvPr/>
          </p:nvSpPr>
          <p:spPr>
            <a:xfrm>
              <a:off x="5132239" y="5090160"/>
              <a:ext cx="555921" cy="137160"/>
            </a:xfrm>
            <a:prstGeom prst="rect">
              <a:avLst/>
            </a:prstGeom>
            <a:solidFill>
              <a:srgbClr val="070154"/>
            </a:solidFill>
            <a:ln>
              <a:noFill/>
            </a:ln>
          </p:spPr>
        </p:sp>
        <p:sp>
          <p:nvSpPr>
            <p:cNvPr id="43" name="node29.box-3-1"/>
            <p:cNvSpPr/>
            <p:nvPr/>
          </p:nvSpPr>
          <p:spPr>
            <a:xfrm>
              <a:off x="5738961" y="4827270"/>
              <a:ext cx="555921" cy="137160"/>
            </a:xfrm>
            <a:prstGeom prst="rect">
              <a:avLst/>
            </a:prstGeom>
            <a:solidFill>
              <a:srgbClr val="CED7E6"/>
            </a:solidFill>
            <a:ln>
              <a:noFill/>
            </a:ln>
          </p:spPr>
        </p:sp>
        <p:sp>
          <p:nvSpPr>
            <p:cNvPr id="44" name="node29.box-3-2"/>
            <p:cNvSpPr/>
            <p:nvPr/>
          </p:nvSpPr>
          <p:spPr>
            <a:xfrm>
              <a:off x="5738961" y="5002530"/>
              <a:ext cx="555921" cy="137160"/>
            </a:xfrm>
            <a:prstGeom prst="rect">
              <a:avLst/>
            </a:prstGeom>
            <a:solidFill>
              <a:srgbClr val="CED7E6"/>
            </a:solidFill>
            <a:ln>
              <a:noFill/>
            </a:ln>
          </p:spPr>
        </p:sp>
        <p:sp>
          <p:nvSpPr>
            <p:cNvPr id="45" name="node29.caption"/>
            <p:cNvSpPr/>
            <p:nvPr/>
          </p:nvSpPr>
          <p:spPr>
            <a:xfrm>
              <a:off x="4381500" y="5562600"/>
              <a:ext cx="2057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Warehouse A architecture</a:t>
              </a:r>
              <a:endParaRPr lang="en-US" sz="1100" spc="0" kern="0" b="0" i="0" dirty="0">
                <a:solidFill>
                  <a:srgbClr val="50658E"/>
                </a:solidFill>
                <a:latin typeface="IBM Plex Sans"/>
                <a:ea typeface="IBM Plex Sans"/>
                <a:cs typeface="IBM Plex Sans"/>
              </a:endParaRPr>
            </a:p>
          </p:txBody>
        </p:sp>
      </p:grpSp>
      <p:grpSp>
        <p:nvGrpSpPr>
          <p:cNvPr id="104" name="node30"/>
          <p:cNvGrpSpPr/>
          <p:nvPr/>
        </p:nvGrpSpPr>
        <p:grpSpPr>
          <a:xfrm>
            <a:off x="6896100" y="1600200"/>
            <a:ext cx="2057400" cy="139700"/>
            <a:chOff x="6896100" y="1600200"/>
            <a:chExt cx="2057400" cy="139700"/>
          </a:xfrm>
        </p:grpSpPr>
        <p:sp>
          <p:nvSpPr>
            <p:cNvPr id="46" name="node30.text"/>
            <p:cNvSpPr/>
            <p:nvPr/>
          </p:nvSpPr>
          <p:spPr>
            <a:xfrm>
              <a:off x="6896100" y="16002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LAKEHOUSE B TO PLATFORM</a:t>
              </a:r>
              <a:endParaRPr lang="en-US" sz="800" spc="48" kern="0" b="0" i="0" dirty="0">
                <a:solidFill>
                  <a:srgbClr val="0047FF"/>
                </a:solidFill>
                <a:latin typeface="IBM Plex Mono Medium"/>
                <a:ea typeface="IBM Plex Mono Medium"/>
                <a:cs typeface="IBM Plex Mono Medium"/>
              </a:endParaRPr>
            </a:p>
          </p:txBody>
        </p:sp>
      </p:grpSp>
      <p:grpSp>
        <p:nvGrpSpPr>
          <p:cNvPr id="105" name="node31"/>
          <p:cNvGrpSpPr/>
          <p:nvPr/>
        </p:nvGrpSpPr>
        <p:grpSpPr>
          <a:xfrm>
            <a:off x="6896100" y="1828800"/>
            <a:ext cx="2057400" cy="1600200"/>
            <a:chOff x="6896100" y="1828800"/>
            <a:chExt cx="2057400" cy="1600200"/>
          </a:xfrm>
        </p:grpSpPr>
        <p:sp>
          <p:nvSpPr>
            <p:cNvPr id="47" name="node31.container"/>
            <p:cNvSpPr/>
            <p:nvPr/>
          </p:nvSpPr>
          <p:spPr>
            <a:xfrm>
              <a:off x="6896100" y="1828800"/>
              <a:ext cx="2057400" cy="1600200"/>
            </a:xfrm>
            <a:prstGeom prst="rect">
              <a:avLst/>
            </a:prstGeom>
            <a:solidFill>
              <a:srgbClr val="E8EEF8"/>
            </a:solidFill>
            <a:ln>
              <a:noFill/>
            </a:ln>
          </p:spPr>
        </p:sp>
        <p:sp>
          <p:nvSpPr>
            <p:cNvPr id="48" name="node31.title"/>
            <p:cNvSpPr/>
            <p:nvPr/>
          </p:nvSpPr>
          <p:spPr>
            <a:xfrm>
              <a:off x="7048500" y="1981200"/>
              <a:ext cx="1752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Reporting</a:t>
              </a:r>
              <a:endParaRPr lang="en-US" sz="1600" spc="-16" kern="0" b="0" i="0" dirty="0">
                <a:solidFill>
                  <a:srgbClr val="070154"/>
                </a:solidFill>
                <a:latin typeface="IBM Plex Sans SemiBold"/>
                <a:ea typeface="IBM Plex Sans SemiBold"/>
                <a:cs typeface="IBM Plex Sans SemiBold"/>
              </a:endParaRPr>
            </a:p>
          </p:txBody>
        </p:sp>
        <p:sp>
          <p:nvSpPr>
            <p:cNvPr id="49" name="node31.body.item-001.paragraph"/>
            <p:cNvSpPr/>
            <p:nvPr/>
          </p:nvSpPr>
          <p:spPr>
            <a:xfrm>
              <a:off x="7048500" y="2400300"/>
              <a:ext cx="17526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Rebuild reports and dashboards on curated data.</a:t>
              </a:r>
              <a:endParaRPr lang="en-US" sz="1200" spc="0" kern="0" b="0" i="0" dirty="0">
                <a:solidFill>
                  <a:srgbClr val="50658E"/>
                </a:solidFill>
                <a:latin typeface="IBM Plex Sans"/>
                <a:ea typeface="IBM Plex Sans"/>
                <a:cs typeface="IBM Plex Sans"/>
              </a:endParaRPr>
            </a:p>
          </p:txBody>
        </p:sp>
      </p:grpSp>
      <p:grpSp>
        <p:nvGrpSpPr>
          <p:cNvPr id="106" name="node32"/>
          <p:cNvGrpSpPr/>
          <p:nvPr/>
        </p:nvGrpSpPr>
        <p:grpSpPr>
          <a:xfrm>
            <a:off x="6896100" y="3429000"/>
            <a:ext cx="2057400" cy="685800"/>
            <a:chOff x="6896100" y="3429000"/>
            <a:chExt cx="2057400" cy="685800"/>
          </a:xfrm>
        </p:grpSpPr>
        <p:sp>
          <p:nvSpPr>
            <p:cNvPr id="50" name="node32.surface"/>
            <p:cNvSpPr/>
            <p:nvPr/>
          </p:nvSpPr>
          <p:spPr>
            <a:xfrm>
              <a:off x="6896100" y="3429000"/>
              <a:ext cx="2057400" cy="685800"/>
            </a:xfrm>
            <a:prstGeom prst="rect">
              <a:avLst/>
            </a:prstGeom>
            <a:solidFill>
              <a:srgbClr val="070154"/>
            </a:solidFill>
            <a:ln>
              <a:noFill/>
            </a:ln>
          </p:spPr>
        </p:sp>
        <p:sp>
          <p:nvSpPr>
            <p:cNvPr id="51" name="node32.text"/>
            <p:cNvSpPr/>
            <p:nvPr/>
          </p:nvSpPr>
          <p:spPr>
            <a:xfrm>
              <a:off x="7048500" y="3581400"/>
              <a:ext cx="1752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Validates ownership of curated layers.</a:t>
              </a:r>
              <a:endParaRPr lang="en-US" sz="1100" spc="0" kern="0" b="0" i="0" dirty="0">
                <a:solidFill>
                  <a:srgbClr val="FFFFFF"/>
                </a:solidFill>
                <a:latin typeface="IBM Plex Sans"/>
                <a:ea typeface="IBM Plex Sans"/>
                <a:cs typeface="IBM Plex Sans"/>
              </a:endParaRPr>
            </a:p>
          </p:txBody>
        </p:sp>
      </p:grpSp>
      <p:grpSp>
        <p:nvGrpSpPr>
          <p:cNvPr id="107" name="node33"/>
          <p:cNvGrpSpPr/>
          <p:nvPr/>
        </p:nvGrpSpPr>
        <p:grpSpPr>
          <a:xfrm>
            <a:off x="6896100" y="4343400"/>
            <a:ext cx="2057400" cy="1143000"/>
            <a:chOff x="6896100" y="4343400"/>
            <a:chExt cx="2057400" cy="1143000"/>
          </a:xfrm>
        </p:grpSpPr>
        <p:sp>
          <p:nvSpPr>
            <p:cNvPr id="52" name="node33.page.fill"/>
            <p:cNvSpPr/>
            <p:nvPr/>
          </p:nvSpPr>
          <p:spPr>
            <a:xfrm>
              <a:off x="6896100" y="4343400"/>
              <a:ext cx="2057400" cy="1143000"/>
            </a:xfrm>
            <a:prstGeom prst="rect">
              <a:avLst/>
            </a:prstGeom>
            <a:solidFill>
              <a:srgbClr val="FFFFFF"/>
            </a:solidFill>
            <a:ln>
              <a:noFill/>
            </a:ln>
          </p:spPr>
        </p:sp>
        <p:sp>
          <p:nvSpPr>
            <p:cNvPr id="53" name="node33.page.border"/>
            <p:cNvSpPr/>
            <p:nvPr/>
          </p:nvSpPr>
          <p:spPr>
            <a:xfrm>
              <a:off x="6896100" y="4343400"/>
              <a:ext cx="2057400" cy="1143000"/>
            </a:xfrm>
            <a:prstGeom prst="rect">
              <a:avLst/>
            </a:prstGeom>
            <a:ln w="9525">
              <a:solidFill>
                <a:srgbClr val="CED7E6"/>
              </a:solidFill>
              <a:prstDash val="solid"/>
            </a:ln>
          </p:spPr>
        </p:sp>
        <p:sp>
          <p:nvSpPr>
            <p:cNvPr id="54" name="node33.head"/>
            <p:cNvSpPr/>
            <p:nvPr/>
          </p:nvSpPr>
          <p:spPr>
            <a:xfrm>
              <a:off x="7040118" y="4487418"/>
              <a:ext cx="973150" cy="80010"/>
            </a:xfrm>
            <a:prstGeom prst="rect">
              <a:avLst/>
            </a:prstGeom>
            <a:solidFill>
              <a:srgbClr val="070154"/>
            </a:solidFill>
            <a:ln>
              <a:noFill/>
            </a:ln>
          </p:spPr>
        </p:sp>
        <p:sp>
          <p:nvSpPr>
            <p:cNvPr id="55" name="node33.box-1-1"/>
            <p:cNvSpPr/>
            <p:nvPr/>
          </p:nvSpPr>
          <p:spPr>
            <a:xfrm>
              <a:off x="7040118" y="4827270"/>
              <a:ext cx="555921" cy="137160"/>
            </a:xfrm>
            <a:prstGeom prst="rect">
              <a:avLst/>
            </a:prstGeom>
            <a:solidFill>
              <a:srgbClr val="CED7E6"/>
            </a:solidFill>
            <a:ln>
              <a:noFill/>
            </a:ln>
          </p:spPr>
        </p:sp>
        <p:sp>
          <p:nvSpPr>
            <p:cNvPr id="56" name="node33.box-1-2"/>
            <p:cNvSpPr/>
            <p:nvPr/>
          </p:nvSpPr>
          <p:spPr>
            <a:xfrm>
              <a:off x="7040118" y="5002530"/>
              <a:ext cx="555921" cy="137160"/>
            </a:xfrm>
            <a:prstGeom prst="rect">
              <a:avLst/>
            </a:prstGeom>
            <a:solidFill>
              <a:srgbClr val="CED7E6"/>
            </a:solidFill>
            <a:ln>
              <a:noFill/>
            </a:ln>
          </p:spPr>
        </p:sp>
        <p:sp>
          <p:nvSpPr>
            <p:cNvPr id="57" name="node33.box-2-1"/>
            <p:cNvSpPr/>
            <p:nvPr/>
          </p:nvSpPr>
          <p:spPr>
            <a:xfrm>
              <a:off x="7646839" y="4739640"/>
              <a:ext cx="555921" cy="137160"/>
            </a:xfrm>
            <a:prstGeom prst="rect">
              <a:avLst/>
            </a:prstGeom>
            <a:solidFill>
              <a:srgbClr val="070154"/>
            </a:solidFill>
            <a:ln>
              <a:noFill/>
            </a:ln>
          </p:spPr>
        </p:sp>
        <p:sp>
          <p:nvSpPr>
            <p:cNvPr id="58" name="node33.box-2-2"/>
            <p:cNvSpPr/>
            <p:nvPr/>
          </p:nvSpPr>
          <p:spPr>
            <a:xfrm>
              <a:off x="7646839" y="4914900"/>
              <a:ext cx="555921" cy="137160"/>
            </a:xfrm>
            <a:prstGeom prst="rect">
              <a:avLst/>
            </a:prstGeom>
            <a:solidFill>
              <a:srgbClr val="070154"/>
            </a:solidFill>
            <a:ln>
              <a:noFill/>
            </a:ln>
          </p:spPr>
        </p:sp>
        <p:sp>
          <p:nvSpPr>
            <p:cNvPr id="59" name="node33.box-2-3"/>
            <p:cNvSpPr/>
            <p:nvPr/>
          </p:nvSpPr>
          <p:spPr>
            <a:xfrm>
              <a:off x="7646839" y="5090160"/>
              <a:ext cx="555921" cy="137160"/>
            </a:xfrm>
            <a:prstGeom prst="rect">
              <a:avLst/>
            </a:prstGeom>
            <a:solidFill>
              <a:srgbClr val="070154"/>
            </a:solidFill>
            <a:ln>
              <a:noFill/>
            </a:ln>
          </p:spPr>
        </p:sp>
        <p:sp>
          <p:nvSpPr>
            <p:cNvPr id="60" name="node33.box-3-1"/>
            <p:cNvSpPr/>
            <p:nvPr/>
          </p:nvSpPr>
          <p:spPr>
            <a:xfrm>
              <a:off x="8253561" y="4827270"/>
              <a:ext cx="555921" cy="137160"/>
            </a:xfrm>
            <a:prstGeom prst="rect">
              <a:avLst/>
            </a:prstGeom>
            <a:solidFill>
              <a:srgbClr val="CED7E6"/>
            </a:solidFill>
            <a:ln>
              <a:noFill/>
            </a:ln>
          </p:spPr>
        </p:sp>
        <p:sp>
          <p:nvSpPr>
            <p:cNvPr id="61" name="node33.box-3-2"/>
            <p:cNvSpPr/>
            <p:nvPr/>
          </p:nvSpPr>
          <p:spPr>
            <a:xfrm>
              <a:off x="8253561" y="5002530"/>
              <a:ext cx="555921" cy="137160"/>
            </a:xfrm>
            <a:prstGeom prst="rect">
              <a:avLst/>
            </a:prstGeom>
            <a:solidFill>
              <a:srgbClr val="CED7E6"/>
            </a:solidFill>
            <a:ln>
              <a:noFill/>
            </a:ln>
          </p:spPr>
        </p:sp>
        <p:sp>
          <p:nvSpPr>
            <p:cNvPr id="62" name="node33.caption"/>
            <p:cNvSpPr/>
            <p:nvPr/>
          </p:nvSpPr>
          <p:spPr>
            <a:xfrm>
              <a:off x="6896100" y="5562600"/>
              <a:ext cx="2057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Lakehouse B architecture</a:t>
              </a:r>
              <a:endParaRPr lang="en-US" sz="1100" spc="0" kern="0" b="0" i="0" dirty="0">
                <a:solidFill>
                  <a:srgbClr val="50658E"/>
                </a:solidFill>
                <a:latin typeface="IBM Plex Sans"/>
                <a:ea typeface="IBM Plex Sans"/>
                <a:cs typeface="IBM Plex Sans"/>
              </a:endParaRPr>
            </a:p>
          </p:txBody>
        </p:sp>
      </p:grpSp>
      <p:grpSp>
        <p:nvGrpSpPr>
          <p:cNvPr id="108" name="node34"/>
          <p:cNvGrpSpPr/>
          <p:nvPr/>
        </p:nvGrpSpPr>
        <p:grpSpPr>
          <a:xfrm>
            <a:off x="9410700" y="1600200"/>
            <a:ext cx="2057400" cy="139700"/>
            <a:chOff x="9410700" y="1600200"/>
            <a:chExt cx="2057400" cy="139700"/>
          </a:xfrm>
        </p:grpSpPr>
        <p:sp>
          <p:nvSpPr>
            <p:cNvPr id="63" name="node34.text"/>
            <p:cNvSpPr/>
            <p:nvPr/>
          </p:nvSpPr>
          <p:spPr>
            <a:xfrm>
              <a:off x="9410700" y="16002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END TO END ON PLATFORM</a:t>
              </a:r>
              <a:endParaRPr lang="en-US" sz="800" spc="48" kern="0" b="0" i="0" dirty="0">
                <a:solidFill>
                  <a:srgbClr val="0047FF"/>
                </a:solidFill>
                <a:latin typeface="IBM Plex Mono Medium"/>
                <a:ea typeface="IBM Plex Mono Medium"/>
                <a:cs typeface="IBM Plex Mono Medium"/>
              </a:endParaRPr>
            </a:p>
          </p:txBody>
        </p:sp>
      </p:grpSp>
      <p:grpSp>
        <p:nvGrpSpPr>
          <p:cNvPr id="109" name="node35"/>
          <p:cNvGrpSpPr/>
          <p:nvPr/>
        </p:nvGrpSpPr>
        <p:grpSpPr>
          <a:xfrm>
            <a:off x="9410700" y="1828800"/>
            <a:ext cx="2057400" cy="1600200"/>
            <a:chOff x="9410700" y="1828800"/>
            <a:chExt cx="2057400" cy="1600200"/>
          </a:xfrm>
        </p:grpSpPr>
        <p:sp>
          <p:nvSpPr>
            <p:cNvPr id="64" name="node35.container"/>
            <p:cNvSpPr/>
            <p:nvPr/>
          </p:nvSpPr>
          <p:spPr>
            <a:xfrm>
              <a:off x="9410700" y="1828800"/>
              <a:ext cx="2057400" cy="1600200"/>
            </a:xfrm>
            <a:prstGeom prst="rect">
              <a:avLst/>
            </a:prstGeom>
            <a:solidFill>
              <a:srgbClr val="E8EEF8"/>
            </a:solidFill>
            <a:ln>
              <a:noFill/>
            </a:ln>
          </p:spPr>
        </p:sp>
        <p:sp>
          <p:nvSpPr>
            <p:cNvPr id="65" name="node35.title"/>
            <p:cNvSpPr/>
            <p:nvPr/>
          </p:nvSpPr>
          <p:spPr>
            <a:xfrm>
              <a:off x="9563100" y="1981200"/>
              <a:ext cx="1752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Engineering</a:t>
              </a:r>
              <a:endParaRPr lang="en-US" sz="1600" spc="-16" kern="0" b="0" i="0" dirty="0">
                <a:solidFill>
                  <a:srgbClr val="070154"/>
                </a:solidFill>
                <a:latin typeface="IBM Plex Sans SemiBold"/>
                <a:ea typeface="IBM Plex Sans SemiBold"/>
                <a:cs typeface="IBM Plex Sans SemiBold"/>
              </a:endParaRPr>
            </a:p>
          </p:txBody>
        </p:sp>
        <p:sp>
          <p:nvSpPr>
            <p:cNvPr id="66" name="node35.body.item-001.paragraph"/>
            <p:cNvSpPr/>
            <p:nvPr/>
          </p:nvSpPr>
          <p:spPr>
            <a:xfrm>
              <a:off x="9563100" y="2400300"/>
              <a:ext cx="17526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Net-new ingestion, curation and BI for one use case.</a:t>
              </a:r>
              <a:endParaRPr lang="en-US" sz="1200" spc="0" kern="0" b="0" i="0" dirty="0">
                <a:solidFill>
                  <a:srgbClr val="50658E"/>
                </a:solidFill>
                <a:latin typeface="IBM Plex Sans"/>
                <a:ea typeface="IBM Plex Sans"/>
                <a:cs typeface="IBM Plex Sans"/>
              </a:endParaRPr>
            </a:p>
          </p:txBody>
        </p:sp>
      </p:grpSp>
      <p:grpSp>
        <p:nvGrpSpPr>
          <p:cNvPr id="110" name="node36"/>
          <p:cNvGrpSpPr/>
          <p:nvPr/>
        </p:nvGrpSpPr>
        <p:grpSpPr>
          <a:xfrm>
            <a:off x="9410700" y="3429000"/>
            <a:ext cx="2057400" cy="685800"/>
            <a:chOff x="9410700" y="3429000"/>
            <a:chExt cx="2057400" cy="685800"/>
          </a:xfrm>
        </p:grpSpPr>
        <p:sp>
          <p:nvSpPr>
            <p:cNvPr id="67" name="node36.surface"/>
            <p:cNvSpPr/>
            <p:nvPr/>
          </p:nvSpPr>
          <p:spPr>
            <a:xfrm>
              <a:off x="9410700" y="3429000"/>
              <a:ext cx="2057400" cy="685800"/>
            </a:xfrm>
            <a:prstGeom prst="rect">
              <a:avLst/>
            </a:prstGeom>
            <a:solidFill>
              <a:srgbClr val="070154"/>
            </a:solidFill>
            <a:ln>
              <a:noFill/>
            </a:ln>
          </p:spPr>
        </p:sp>
        <p:sp>
          <p:nvSpPr>
            <p:cNvPr id="68" name="node36.text"/>
            <p:cNvSpPr/>
            <p:nvPr/>
          </p:nvSpPr>
          <p:spPr>
            <a:xfrm>
              <a:off x="9563100" y="3581400"/>
              <a:ext cx="1752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Validates engineering standards.</a:t>
              </a:r>
              <a:endParaRPr lang="en-US" sz="1100" spc="0" kern="0" b="0" i="0" dirty="0">
                <a:solidFill>
                  <a:srgbClr val="FFFFFF"/>
                </a:solidFill>
                <a:latin typeface="IBM Plex Sans"/>
                <a:ea typeface="IBM Plex Sans"/>
                <a:cs typeface="IBM Plex Sans"/>
              </a:endParaRPr>
            </a:p>
          </p:txBody>
        </p:sp>
      </p:grpSp>
      <p:grpSp>
        <p:nvGrpSpPr>
          <p:cNvPr id="111" name="node37"/>
          <p:cNvGrpSpPr/>
          <p:nvPr/>
        </p:nvGrpSpPr>
        <p:grpSpPr>
          <a:xfrm>
            <a:off x="9410700" y="4343400"/>
            <a:ext cx="2057400" cy="1143000"/>
            <a:chOff x="9410700" y="4343400"/>
            <a:chExt cx="2057400" cy="1143000"/>
          </a:xfrm>
        </p:grpSpPr>
        <p:sp>
          <p:nvSpPr>
            <p:cNvPr id="69" name="node37.page.fill"/>
            <p:cNvSpPr/>
            <p:nvPr/>
          </p:nvSpPr>
          <p:spPr>
            <a:xfrm>
              <a:off x="9410700" y="4343400"/>
              <a:ext cx="2057400" cy="1143000"/>
            </a:xfrm>
            <a:prstGeom prst="rect">
              <a:avLst/>
            </a:prstGeom>
            <a:solidFill>
              <a:srgbClr val="FFFFFF"/>
            </a:solidFill>
            <a:ln>
              <a:noFill/>
            </a:ln>
          </p:spPr>
        </p:sp>
        <p:sp>
          <p:nvSpPr>
            <p:cNvPr id="70" name="node37.page.border"/>
            <p:cNvSpPr/>
            <p:nvPr/>
          </p:nvSpPr>
          <p:spPr>
            <a:xfrm>
              <a:off x="9410700" y="4343400"/>
              <a:ext cx="2057400" cy="1143000"/>
            </a:xfrm>
            <a:prstGeom prst="rect">
              <a:avLst/>
            </a:prstGeom>
            <a:ln w="9525">
              <a:solidFill>
                <a:srgbClr val="CED7E6"/>
              </a:solidFill>
              <a:prstDash val="solid"/>
            </a:ln>
          </p:spPr>
        </p:sp>
        <p:sp>
          <p:nvSpPr>
            <p:cNvPr id="71" name="node37.head"/>
            <p:cNvSpPr/>
            <p:nvPr/>
          </p:nvSpPr>
          <p:spPr>
            <a:xfrm>
              <a:off x="9554718" y="4487418"/>
              <a:ext cx="973150" cy="80010"/>
            </a:xfrm>
            <a:prstGeom prst="rect">
              <a:avLst/>
            </a:prstGeom>
            <a:solidFill>
              <a:srgbClr val="070154"/>
            </a:solidFill>
            <a:ln>
              <a:noFill/>
            </a:ln>
          </p:spPr>
        </p:sp>
        <p:sp>
          <p:nvSpPr>
            <p:cNvPr id="72" name="node37.box-1-1"/>
            <p:cNvSpPr/>
            <p:nvPr/>
          </p:nvSpPr>
          <p:spPr>
            <a:xfrm>
              <a:off x="9554718" y="4827270"/>
              <a:ext cx="555921" cy="137160"/>
            </a:xfrm>
            <a:prstGeom prst="rect">
              <a:avLst/>
            </a:prstGeom>
            <a:solidFill>
              <a:srgbClr val="CED7E6"/>
            </a:solidFill>
            <a:ln>
              <a:noFill/>
            </a:ln>
          </p:spPr>
        </p:sp>
        <p:sp>
          <p:nvSpPr>
            <p:cNvPr id="73" name="node37.box-1-2"/>
            <p:cNvSpPr/>
            <p:nvPr/>
          </p:nvSpPr>
          <p:spPr>
            <a:xfrm>
              <a:off x="9554718" y="5002530"/>
              <a:ext cx="555921" cy="137160"/>
            </a:xfrm>
            <a:prstGeom prst="rect">
              <a:avLst/>
            </a:prstGeom>
            <a:solidFill>
              <a:srgbClr val="CED7E6"/>
            </a:solidFill>
            <a:ln>
              <a:noFill/>
            </a:ln>
          </p:spPr>
        </p:sp>
        <p:sp>
          <p:nvSpPr>
            <p:cNvPr id="74" name="node37.box-2-1"/>
            <p:cNvSpPr/>
            <p:nvPr/>
          </p:nvSpPr>
          <p:spPr>
            <a:xfrm>
              <a:off x="10161439" y="4739640"/>
              <a:ext cx="555921" cy="137160"/>
            </a:xfrm>
            <a:prstGeom prst="rect">
              <a:avLst/>
            </a:prstGeom>
            <a:solidFill>
              <a:srgbClr val="070154"/>
            </a:solidFill>
            <a:ln>
              <a:noFill/>
            </a:ln>
          </p:spPr>
        </p:sp>
        <p:sp>
          <p:nvSpPr>
            <p:cNvPr id="75" name="node37.box-2-2"/>
            <p:cNvSpPr/>
            <p:nvPr/>
          </p:nvSpPr>
          <p:spPr>
            <a:xfrm>
              <a:off x="10161439" y="4914900"/>
              <a:ext cx="555921" cy="137160"/>
            </a:xfrm>
            <a:prstGeom prst="rect">
              <a:avLst/>
            </a:prstGeom>
            <a:solidFill>
              <a:srgbClr val="070154"/>
            </a:solidFill>
            <a:ln>
              <a:noFill/>
            </a:ln>
          </p:spPr>
        </p:sp>
        <p:sp>
          <p:nvSpPr>
            <p:cNvPr id="76" name="node37.box-2-3"/>
            <p:cNvSpPr/>
            <p:nvPr/>
          </p:nvSpPr>
          <p:spPr>
            <a:xfrm>
              <a:off x="10161439" y="5090160"/>
              <a:ext cx="555921" cy="137160"/>
            </a:xfrm>
            <a:prstGeom prst="rect">
              <a:avLst/>
            </a:prstGeom>
            <a:solidFill>
              <a:srgbClr val="070154"/>
            </a:solidFill>
            <a:ln>
              <a:noFill/>
            </a:ln>
          </p:spPr>
        </p:sp>
        <p:sp>
          <p:nvSpPr>
            <p:cNvPr id="77" name="node37.box-3-1"/>
            <p:cNvSpPr/>
            <p:nvPr/>
          </p:nvSpPr>
          <p:spPr>
            <a:xfrm>
              <a:off x="10768161" y="4827270"/>
              <a:ext cx="555921" cy="137160"/>
            </a:xfrm>
            <a:prstGeom prst="rect">
              <a:avLst/>
            </a:prstGeom>
            <a:solidFill>
              <a:srgbClr val="CED7E6"/>
            </a:solidFill>
            <a:ln>
              <a:noFill/>
            </a:ln>
          </p:spPr>
        </p:sp>
        <p:sp>
          <p:nvSpPr>
            <p:cNvPr id="78" name="node37.box-3-2"/>
            <p:cNvSpPr/>
            <p:nvPr/>
          </p:nvSpPr>
          <p:spPr>
            <a:xfrm>
              <a:off x="10768161" y="5002530"/>
              <a:ext cx="555921" cy="137160"/>
            </a:xfrm>
            <a:prstGeom prst="rect">
              <a:avLst/>
            </a:prstGeom>
            <a:solidFill>
              <a:srgbClr val="CED7E6"/>
            </a:solidFill>
            <a:ln>
              <a:noFill/>
            </a:ln>
          </p:spPr>
        </p:sp>
        <p:sp>
          <p:nvSpPr>
            <p:cNvPr id="79" name="node37.caption"/>
            <p:cNvSpPr/>
            <p:nvPr/>
          </p:nvSpPr>
          <p:spPr>
            <a:xfrm>
              <a:off x="9410700" y="5562600"/>
              <a:ext cx="2057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End-to-end architecture</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ource-35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Phase 3 hands platform ownership to the Northfield team</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133</a:t>
            </a:fld>
            <a:endParaRPr lang="en-US" sz="700" spc="0" kern="0" b="0" i="0" dirty="0">
              <a:solidFill>
                <a:srgbClr val="070154"/>
              </a:solidFill>
              <a:latin typeface="IBM Plex Mono SemiBold"/>
              <a:ea typeface="IBM Plex Mono SemiBold"/>
              <a:cs typeface="IBM Plex Mono SemiBold"/>
            </a:endParaRPr>
          </a:p>
        </p:txBody>
      </p:sp>
      <p:grpSp>
        <p:nvGrpSpPr>
          <p:cNvPr id="47" name="node01"/>
          <p:cNvGrpSpPr/>
          <p:nvPr/>
        </p:nvGrpSpPr>
        <p:grpSpPr>
          <a:xfrm>
            <a:off x="723900" y="1600200"/>
            <a:ext cx="2514600" cy="139700"/>
            <a:chOff x="723900" y="1600200"/>
            <a:chExt cx="2514600" cy="139700"/>
          </a:xfrm>
        </p:grpSpPr>
        <p:sp>
          <p:nvSpPr>
            <p:cNvPr id="6" name="node01.text"/>
            <p:cNvSpPr/>
            <p:nvPr/>
          </p:nvSpPr>
          <p:spPr>
            <a:xfrm>
              <a:off x="7239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PHASE 03 · WEEKS 35–42</a:t>
              </a:r>
              <a:endParaRPr lang="en-US" sz="800" spc="48" kern="0" b="0" i="0" dirty="0">
                <a:solidFill>
                  <a:srgbClr val="0047FF"/>
                </a:solidFill>
                <a:latin typeface="IBM Plex Mono Medium"/>
                <a:ea typeface="IBM Plex Mono Medium"/>
                <a:cs typeface="IBM Plex Mono Medium"/>
              </a:endParaRPr>
            </a:p>
          </p:txBody>
        </p:sp>
      </p:grpSp>
      <p:grpSp>
        <p:nvGrpSpPr>
          <p:cNvPr id="48" name="node02"/>
          <p:cNvGrpSpPr/>
          <p:nvPr/>
        </p:nvGrpSpPr>
        <p:grpSpPr>
          <a:xfrm>
            <a:off x="723900" y="1828800"/>
            <a:ext cx="2514600" cy="533400"/>
            <a:chOff x="723900" y="1828800"/>
            <a:chExt cx="2514600" cy="533400"/>
          </a:xfrm>
        </p:grpSpPr>
        <p:sp>
          <p:nvSpPr>
            <p:cNvPr id="7" name="node02.text"/>
            <p:cNvSpPr/>
            <p:nvPr/>
          </p:nvSpPr>
          <p:spPr>
            <a:xfrm>
              <a:off x="723900" y="1828800"/>
              <a:ext cx="25146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General availability and optimization</a:t>
              </a:r>
              <a:endParaRPr lang="en-US" sz="1600" spc="-16" kern="0" b="0" i="0" dirty="0">
                <a:solidFill>
                  <a:srgbClr val="070154"/>
                </a:solidFill>
                <a:latin typeface="IBM Plex Sans SemiBold"/>
                <a:ea typeface="IBM Plex Sans SemiBold"/>
                <a:cs typeface="IBM Plex Sans SemiBold"/>
              </a:endParaRPr>
            </a:p>
          </p:txBody>
        </p:sp>
      </p:grpSp>
      <p:grpSp>
        <p:nvGrpSpPr>
          <p:cNvPr id="49" name="node03"/>
          <p:cNvGrpSpPr/>
          <p:nvPr/>
        </p:nvGrpSpPr>
        <p:grpSpPr>
          <a:xfrm>
            <a:off x="723900" y="2743200"/>
            <a:ext cx="2286000" cy="1003300"/>
            <a:chOff x="723900" y="2743200"/>
            <a:chExt cx="2286000" cy="1003300"/>
          </a:xfrm>
        </p:grpSpPr>
        <p:sp>
          <p:nvSpPr>
            <p:cNvPr id="8" name="node03.base"/>
            <p:cNvSpPr/>
            <p:nvPr/>
          </p:nvSpPr>
          <p:spPr>
            <a:xfrm>
              <a:off x="800100" y="2857500"/>
              <a:ext cx="1676400" cy="0"/>
            </a:xfrm>
            <a:custGeom>
              <a:avLst/>
              <a:gdLst/>
              <a:ahLst/>
              <a:cxnLst/>
              <a:rect l="l" t="t" r="r" b="b"/>
              <a:pathLst>
                <a:path w="1676400">
                  <a:moveTo>
                    <a:pt x="0" y="0"/>
                  </a:moveTo>
                  <a:lnTo>
                    <a:pt x="1676400" y="0"/>
                  </a:lnTo>
                </a:path>
              </a:pathLst>
            </a:custGeom>
            <a:ln w="25400">
              <a:solidFill>
                <a:srgbClr val="CED7E6"/>
              </a:solidFill>
              <a:prstDash val="solid"/>
            </a:ln>
          </p:spPr>
        </p:sp>
        <p:sp>
          <p:nvSpPr>
            <p:cNvPr id="9" name="node03.done"/>
            <p:cNvSpPr/>
            <p:nvPr/>
          </p:nvSpPr>
          <p:spPr>
            <a:xfrm>
              <a:off x="800100" y="2857500"/>
              <a:ext cx="1676400" cy="0"/>
            </a:xfrm>
            <a:custGeom>
              <a:avLst/>
              <a:gdLst/>
              <a:ahLst/>
              <a:cxnLst/>
              <a:rect l="l" t="t" r="r" b="b"/>
              <a:pathLst>
                <a:path w="1676400">
                  <a:moveTo>
                    <a:pt x="0" y="0"/>
                  </a:moveTo>
                  <a:lnTo>
                    <a:pt x="1676400" y="0"/>
                  </a:lnTo>
                </a:path>
              </a:pathLst>
            </a:custGeom>
            <a:ln w="25400">
              <a:solidFill>
                <a:srgbClr val="070154"/>
              </a:solidFill>
              <a:prstDash val="solid"/>
            </a:ln>
          </p:spPr>
        </p:sp>
        <p:sp>
          <p:nvSpPr>
            <p:cNvPr id="10" name="node03.steps.slot-001.marker"/>
            <p:cNvSpPr/>
            <p:nvPr/>
          </p:nvSpPr>
          <p:spPr>
            <a:xfrm>
              <a:off x="723900" y="2781300"/>
              <a:ext cx="152400" cy="152400"/>
            </a:xfrm>
            <a:prstGeom prst="rect">
              <a:avLst/>
            </a:prstGeom>
            <a:solidFill>
              <a:srgbClr val="070154"/>
            </a:solidFill>
            <a:ln>
              <a:noFill/>
            </a:ln>
          </p:spPr>
        </p:sp>
        <p:sp>
          <p:nvSpPr>
            <p:cNvPr id="11" name="node03.steps.slot-001.part-0"/>
            <p:cNvSpPr/>
            <p:nvPr/>
          </p:nvSpPr>
          <p:spPr>
            <a:xfrm>
              <a:off x="723900" y="3124200"/>
              <a:ext cx="609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1–14</a:t>
              </a:r>
              <a:endParaRPr lang="en-US" sz="800" spc="48" kern="0" b="0" i="0" dirty="0">
                <a:solidFill>
                  <a:srgbClr val="0047FF"/>
                </a:solidFill>
                <a:latin typeface="IBM Plex Mono Medium"/>
                <a:ea typeface="IBM Plex Mono Medium"/>
                <a:cs typeface="IBM Plex Mono Medium"/>
              </a:endParaRPr>
            </a:p>
          </p:txBody>
        </p:sp>
        <p:sp>
          <p:nvSpPr>
            <p:cNvPr id="12" name="node03.steps.slot-001.part-1"/>
            <p:cNvSpPr/>
            <p:nvPr/>
          </p:nvSpPr>
          <p:spPr>
            <a:xfrm>
              <a:off x="723900" y="3302000"/>
              <a:ext cx="609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Build</a:t>
              </a:r>
              <a:endParaRPr lang="en-US" sz="1200" spc="0" kern="0" b="0" i="0" dirty="0">
                <a:solidFill>
                  <a:srgbClr val="070154"/>
                </a:solidFill>
                <a:latin typeface="IBM Plex Sans SemiBold"/>
                <a:ea typeface="IBM Plex Sans SemiBold"/>
                <a:cs typeface="IBM Plex Sans SemiBold"/>
              </a:endParaRPr>
            </a:p>
          </p:txBody>
        </p:sp>
        <p:sp>
          <p:nvSpPr>
            <p:cNvPr id="13" name="node03.steps.slot-002.marker"/>
            <p:cNvSpPr/>
            <p:nvPr/>
          </p:nvSpPr>
          <p:spPr>
            <a:xfrm>
              <a:off x="1562100" y="2781300"/>
              <a:ext cx="152400" cy="152400"/>
            </a:xfrm>
            <a:prstGeom prst="rect">
              <a:avLst/>
            </a:prstGeom>
            <a:solidFill>
              <a:srgbClr val="070154"/>
            </a:solidFill>
            <a:ln>
              <a:noFill/>
            </a:ln>
          </p:spPr>
        </p:sp>
        <p:sp>
          <p:nvSpPr>
            <p:cNvPr id="14" name="node03.steps.slot-002.part-0"/>
            <p:cNvSpPr/>
            <p:nvPr/>
          </p:nvSpPr>
          <p:spPr>
            <a:xfrm>
              <a:off x="1562100" y="3124200"/>
              <a:ext cx="609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15–34</a:t>
              </a:r>
              <a:endParaRPr lang="en-US" sz="800" spc="48" kern="0" b="0" i="0" dirty="0">
                <a:solidFill>
                  <a:srgbClr val="0047FF"/>
                </a:solidFill>
                <a:latin typeface="IBM Plex Mono Medium"/>
                <a:ea typeface="IBM Plex Mono Medium"/>
                <a:cs typeface="IBM Plex Mono Medium"/>
              </a:endParaRPr>
            </a:p>
          </p:txBody>
        </p:sp>
        <p:sp>
          <p:nvSpPr>
            <p:cNvPr id="15" name="node03.steps.slot-002.part-1"/>
            <p:cNvSpPr/>
            <p:nvPr/>
          </p:nvSpPr>
          <p:spPr>
            <a:xfrm>
              <a:off x="1562100" y="3302000"/>
              <a:ext cx="609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Scale</a:t>
              </a:r>
              <a:endParaRPr lang="en-US" sz="1200" spc="0" kern="0" b="0" i="0" dirty="0">
                <a:solidFill>
                  <a:srgbClr val="070154"/>
                </a:solidFill>
                <a:latin typeface="IBM Plex Sans SemiBold"/>
                <a:ea typeface="IBM Plex Sans SemiBold"/>
                <a:cs typeface="IBM Plex Sans SemiBold"/>
              </a:endParaRPr>
            </a:p>
          </p:txBody>
        </p:sp>
        <p:sp>
          <p:nvSpPr>
            <p:cNvPr id="16" name="node03.steps.slot-003.marker"/>
            <p:cNvSpPr/>
            <p:nvPr/>
          </p:nvSpPr>
          <p:spPr>
            <a:xfrm>
              <a:off x="2362200" y="2743200"/>
              <a:ext cx="228600" cy="228600"/>
            </a:xfrm>
            <a:prstGeom prst="rect">
              <a:avLst/>
            </a:prstGeom>
            <a:solidFill>
              <a:srgbClr val="F900D3"/>
            </a:solidFill>
            <a:ln>
              <a:noFill/>
            </a:ln>
          </p:spPr>
        </p:sp>
        <p:sp>
          <p:nvSpPr>
            <p:cNvPr id="17" name="node03.steps.slot-003.part-0"/>
            <p:cNvSpPr/>
            <p:nvPr/>
          </p:nvSpPr>
          <p:spPr>
            <a:xfrm>
              <a:off x="2400300" y="3124200"/>
              <a:ext cx="609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35–42</a:t>
              </a:r>
              <a:endParaRPr lang="en-US" sz="800" spc="48" kern="0" b="0" i="0" dirty="0">
                <a:solidFill>
                  <a:srgbClr val="0047FF"/>
                </a:solidFill>
                <a:latin typeface="IBM Plex Mono Medium"/>
                <a:ea typeface="IBM Plex Mono Medium"/>
                <a:cs typeface="IBM Plex Mono Medium"/>
              </a:endParaRPr>
            </a:p>
          </p:txBody>
        </p:sp>
        <p:sp>
          <p:nvSpPr>
            <p:cNvPr id="18" name="node03.steps.slot-003.part-1"/>
            <p:cNvSpPr/>
            <p:nvPr/>
          </p:nvSpPr>
          <p:spPr>
            <a:xfrm>
              <a:off x="2400300" y="3302000"/>
              <a:ext cx="609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Run</a:t>
              </a:r>
              <a:endParaRPr lang="en-US" sz="1200" spc="0" kern="0" b="0" i="0" dirty="0">
                <a:solidFill>
                  <a:srgbClr val="070154"/>
                </a:solidFill>
                <a:latin typeface="IBM Plex Sans SemiBold"/>
                <a:ea typeface="IBM Plex Sans SemiBold"/>
                <a:cs typeface="IBM Plex Sans SemiBold"/>
              </a:endParaRPr>
            </a:p>
          </p:txBody>
        </p:sp>
        <p:sp>
          <p:nvSpPr>
            <p:cNvPr id="19" name="node03.steps.slot-003.part-2"/>
            <p:cNvSpPr/>
            <p:nvPr/>
          </p:nvSpPr>
          <p:spPr>
            <a:xfrm>
              <a:off x="2400300" y="3556000"/>
              <a:ext cx="609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Current</a:t>
              </a:r>
              <a:endParaRPr lang="en-US" sz="1100" spc="0" kern="0" b="0" i="0" dirty="0">
                <a:solidFill>
                  <a:srgbClr val="50658E"/>
                </a:solidFill>
                <a:latin typeface="IBM Plex Sans"/>
                <a:ea typeface="IBM Plex Sans"/>
                <a:cs typeface="IBM Plex Sans"/>
              </a:endParaRPr>
            </a:p>
          </p:txBody>
        </p:sp>
      </p:grpSp>
      <p:grpSp>
        <p:nvGrpSpPr>
          <p:cNvPr id="50" name="node04"/>
          <p:cNvGrpSpPr/>
          <p:nvPr/>
        </p:nvGrpSpPr>
        <p:grpSpPr>
          <a:xfrm>
            <a:off x="723900" y="4114800"/>
            <a:ext cx="2514600" cy="1828800"/>
            <a:chOff x="723900" y="4114800"/>
            <a:chExt cx="2514600" cy="1828800"/>
          </a:xfrm>
        </p:grpSpPr>
        <p:sp>
          <p:nvSpPr>
            <p:cNvPr id="20" name="node04.container"/>
            <p:cNvSpPr/>
            <p:nvPr/>
          </p:nvSpPr>
          <p:spPr>
            <a:xfrm>
              <a:off x="723900" y="4114800"/>
              <a:ext cx="2514600" cy="1828800"/>
            </a:xfrm>
            <a:prstGeom prst="rect">
              <a:avLst/>
            </a:prstGeom>
            <a:solidFill>
              <a:srgbClr val="E8EEF8"/>
            </a:solidFill>
            <a:ln>
              <a:noFill/>
            </a:ln>
          </p:spPr>
        </p:sp>
        <p:sp>
          <p:nvSpPr>
            <p:cNvPr id="21" name="node04.label"/>
            <p:cNvSpPr/>
            <p:nvPr/>
          </p:nvSpPr>
          <p:spPr>
            <a:xfrm>
              <a:off x="876300" y="42672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EXIT CRITERIA</a:t>
              </a:r>
              <a:endParaRPr lang="en-US" sz="800" spc="48" kern="0" b="0" i="0" dirty="0">
                <a:solidFill>
                  <a:srgbClr val="0047FF"/>
                </a:solidFill>
                <a:latin typeface="IBM Plex Mono Medium"/>
                <a:ea typeface="IBM Plex Mono Medium"/>
                <a:cs typeface="IBM Plex Mono Medium"/>
              </a:endParaRPr>
            </a:p>
          </p:txBody>
        </p:sp>
        <p:sp>
          <p:nvSpPr>
            <p:cNvPr id="22" name="node04.body.item-001.bullets.item-001.marker"/>
            <p:cNvSpPr/>
            <p:nvPr/>
          </p:nvSpPr>
          <p:spPr>
            <a:xfrm>
              <a:off x="876300" y="4572000"/>
              <a:ext cx="38100" cy="38100"/>
            </a:xfrm>
            <a:prstGeom prst="rect">
              <a:avLst/>
            </a:prstGeom>
            <a:solidFill>
              <a:srgbClr val="070154"/>
            </a:solidFill>
            <a:ln>
              <a:noFill/>
            </a:ln>
          </p:spPr>
        </p:sp>
        <p:sp>
          <p:nvSpPr>
            <p:cNvPr id="23" name="node04.body.item-001.bullets.item-001.text"/>
            <p:cNvSpPr/>
            <p:nvPr/>
          </p:nvSpPr>
          <p:spPr>
            <a:xfrm>
              <a:off x="1028700" y="44831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Runbooks accepted</a:t>
              </a:r>
              <a:endParaRPr lang="en-US" sz="1200" spc="0" kern="0" b="0" i="0" dirty="0">
                <a:solidFill>
                  <a:srgbClr val="070154"/>
                </a:solidFill>
                <a:latin typeface="IBM Plex Sans"/>
                <a:ea typeface="IBM Plex Sans"/>
                <a:cs typeface="IBM Plex Sans"/>
              </a:endParaRPr>
            </a:p>
          </p:txBody>
        </p:sp>
        <p:sp>
          <p:nvSpPr>
            <p:cNvPr id="24" name="node04.body.item-001.bullets.item-002.marker"/>
            <p:cNvSpPr/>
            <p:nvPr/>
          </p:nvSpPr>
          <p:spPr>
            <a:xfrm>
              <a:off x="876300" y="4826000"/>
              <a:ext cx="38100" cy="38100"/>
            </a:xfrm>
            <a:prstGeom prst="rect">
              <a:avLst/>
            </a:prstGeom>
            <a:solidFill>
              <a:srgbClr val="070154"/>
            </a:solidFill>
            <a:ln>
              <a:noFill/>
            </a:ln>
          </p:spPr>
        </p:sp>
        <p:sp>
          <p:nvSpPr>
            <p:cNvPr id="25" name="node04.body.item-001.bullets.item-002.text"/>
            <p:cNvSpPr/>
            <p:nvPr/>
          </p:nvSpPr>
          <p:spPr>
            <a:xfrm>
              <a:off x="1028700" y="47371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Northfield on call</a:t>
              </a:r>
              <a:endParaRPr lang="en-US" sz="1200" spc="0" kern="0" b="0" i="0" dirty="0">
                <a:solidFill>
                  <a:srgbClr val="070154"/>
                </a:solidFill>
                <a:latin typeface="IBM Plex Sans"/>
                <a:ea typeface="IBM Plex Sans"/>
                <a:cs typeface="IBM Plex Sans"/>
              </a:endParaRPr>
            </a:p>
          </p:txBody>
        </p:sp>
        <p:sp>
          <p:nvSpPr>
            <p:cNvPr id="26" name="node04.body.item-001.bullets.item-003.marker"/>
            <p:cNvSpPr/>
            <p:nvPr/>
          </p:nvSpPr>
          <p:spPr>
            <a:xfrm>
              <a:off x="876300" y="5080000"/>
              <a:ext cx="38100" cy="38100"/>
            </a:xfrm>
            <a:prstGeom prst="rect">
              <a:avLst/>
            </a:prstGeom>
            <a:solidFill>
              <a:srgbClr val="070154"/>
            </a:solidFill>
            <a:ln>
              <a:noFill/>
            </a:ln>
          </p:spPr>
        </p:sp>
        <p:sp>
          <p:nvSpPr>
            <p:cNvPr id="27" name="node04.body.item-001.bullets.item-003.text"/>
            <p:cNvSpPr/>
            <p:nvPr/>
          </p:nvSpPr>
          <p:spPr>
            <a:xfrm>
              <a:off x="1028700" y="49911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Benefits tracked</a:t>
              </a:r>
              <a:endParaRPr lang="en-US" sz="1200" spc="0" kern="0" b="0" i="0" dirty="0">
                <a:solidFill>
                  <a:srgbClr val="070154"/>
                </a:solidFill>
                <a:latin typeface="IBM Plex Sans"/>
                <a:ea typeface="IBM Plex Sans"/>
                <a:cs typeface="IBM Plex Sans"/>
              </a:endParaRPr>
            </a:p>
          </p:txBody>
        </p:sp>
        <p:sp>
          <p:nvSpPr>
            <p:cNvPr id="28" name="node04.body.item-001.bullets.item-004.marker"/>
            <p:cNvSpPr/>
            <p:nvPr/>
          </p:nvSpPr>
          <p:spPr>
            <a:xfrm>
              <a:off x="876300" y="5334000"/>
              <a:ext cx="38100" cy="38100"/>
            </a:xfrm>
            <a:prstGeom prst="rect">
              <a:avLst/>
            </a:prstGeom>
            <a:solidFill>
              <a:srgbClr val="070154"/>
            </a:solidFill>
            <a:ln>
              <a:noFill/>
            </a:ln>
          </p:spPr>
        </p:sp>
        <p:sp>
          <p:nvSpPr>
            <p:cNvPr id="29" name="node04.body.item-001.bullets.item-004.text"/>
            <p:cNvSpPr/>
            <p:nvPr/>
          </p:nvSpPr>
          <p:spPr>
            <a:xfrm>
              <a:off x="1028700" y="52451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Risks transferred</a:t>
              </a:r>
              <a:endParaRPr lang="en-US" sz="1200" spc="0" kern="0" b="0" i="0" dirty="0">
                <a:solidFill>
                  <a:srgbClr val="070154"/>
                </a:solidFill>
                <a:latin typeface="IBM Plex Sans"/>
                <a:ea typeface="IBM Plex Sans"/>
                <a:cs typeface="IBM Plex Sans"/>
              </a:endParaRPr>
            </a:p>
          </p:txBody>
        </p:sp>
      </p:grpSp>
      <p:grpSp>
        <p:nvGrpSpPr>
          <p:cNvPr id="51" name="node05"/>
          <p:cNvGrpSpPr/>
          <p:nvPr/>
        </p:nvGrpSpPr>
        <p:grpSpPr>
          <a:xfrm>
            <a:off x="3467100" y="1600200"/>
            <a:ext cx="5257800" cy="1600200"/>
            <a:chOff x="3467100" y="1600200"/>
            <a:chExt cx="5257800" cy="1600200"/>
          </a:xfrm>
        </p:grpSpPr>
        <p:graphicFrame>
          <p:nvGraphicFramePr>
            <p:cNvPr id="30" name="node05.native" descr=""/>
            <p:cNvGraphicFramePr/>
            <p:nvPr/>
          </p:nvGraphicFramePr>
          <p:xfrm>
            <a:off x="3467100" y="1714500"/>
            <a:ext cx="5257800" cy="1485900"/>
          </p:xfrm>
          <a:graphic xmlns:a="http://schemas.openxmlformats.org/drawingml/2006/main">
            <a:graphicData uri="http://schemas.openxmlformats.org/drawingml/2006/chart">
              <c:chart xmlns:c="http://schemas.openxmlformats.org/drawingml/2006/chart" r:id="rId1"/>
            </a:graphicData>
          </a:graphic>
        </p:graphicFrame>
        <p:sp>
          <p:nvSpPr>
            <p:cNvPr id="31" name="node05.direct-1"/>
            <p:cNvSpPr/>
            <p:nvPr/>
          </p:nvSpPr>
          <p:spPr>
            <a:xfrm>
              <a:off x="7505700" y="1770063"/>
              <a:ext cx="1219200" cy="3873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Northfield effort · 7</a:t>
              </a:r>
              <a:endParaRPr lang="en-US" sz="1100" spc="0" kern="0" b="0" i="0" dirty="0">
                <a:solidFill>
                  <a:srgbClr val="070154"/>
                </a:solidFill>
                <a:latin typeface="IBM Plex Sans SemiBold"/>
                <a:ea typeface="IBM Plex Sans SemiBold"/>
                <a:cs typeface="IBM Plex Sans SemiBold"/>
              </a:endParaRPr>
            </a:p>
          </p:txBody>
        </p:sp>
        <p:sp>
          <p:nvSpPr>
            <p:cNvPr id="32" name="node05.direct-2"/>
            <p:cNvSpPr/>
            <p:nvPr/>
          </p:nvSpPr>
          <p:spPr>
            <a:xfrm>
              <a:off x="7505700" y="2555875"/>
              <a:ext cx="1219200" cy="3873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West Monroe effort · 2</a:t>
              </a:r>
              <a:endParaRPr lang="en-US" sz="1100" spc="0" kern="0" b="0" i="0" dirty="0">
                <a:solidFill>
                  <a:srgbClr val="070154"/>
                </a:solidFill>
                <a:latin typeface="IBM Plex Sans SemiBold"/>
                <a:ea typeface="IBM Plex Sans SemiBold"/>
                <a:cs typeface="IBM Plex Sans SemiBold"/>
              </a:endParaRPr>
            </a:p>
          </p:txBody>
        </p:sp>
      </p:grpSp>
      <p:grpSp>
        <p:nvGrpSpPr>
          <p:cNvPr id="52" name="node06"/>
          <p:cNvGrpSpPr/>
          <p:nvPr/>
        </p:nvGrpSpPr>
        <p:grpSpPr>
          <a:xfrm>
            <a:off x="8953500" y="1600200"/>
            <a:ext cx="2514600" cy="1600200"/>
            <a:chOff x="8953500" y="1600200"/>
            <a:chExt cx="2514600" cy="1600200"/>
          </a:xfrm>
        </p:grpSpPr>
        <p:sp>
          <p:nvSpPr>
            <p:cNvPr id="33" name="node06.surface"/>
            <p:cNvSpPr/>
            <p:nvPr/>
          </p:nvSpPr>
          <p:spPr>
            <a:xfrm>
              <a:off x="8953500" y="1600200"/>
              <a:ext cx="2514600" cy="1600200"/>
            </a:xfrm>
            <a:prstGeom prst="rect">
              <a:avLst/>
            </a:prstGeom>
            <a:solidFill>
              <a:srgbClr val="E8EEF8"/>
            </a:solidFill>
            <a:ln>
              <a:noFill/>
            </a:ln>
          </p:spPr>
        </p:sp>
        <p:sp>
          <p:nvSpPr>
            <p:cNvPr id="34" name="node06.text"/>
            <p:cNvSpPr/>
            <p:nvPr/>
          </p:nvSpPr>
          <p:spPr>
            <a:xfrm>
              <a:off x="9105900" y="1924050"/>
              <a:ext cx="2209800" cy="952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West Monroe tapers its driving role so the Northfield core team owns execution. Effort crosses at about week 30, when Northfield staff lead more work than West Monroe.</a:t>
              </a:r>
              <a:endParaRPr lang="en-US" sz="1100" spc="0" kern="0" b="0" i="0" dirty="0">
                <a:solidFill>
                  <a:srgbClr val="070154"/>
                </a:solidFill>
                <a:latin typeface="IBM Plex Sans"/>
                <a:ea typeface="IBM Plex Sans"/>
                <a:cs typeface="IBM Plex Sans"/>
              </a:endParaRPr>
            </a:p>
          </p:txBody>
        </p:sp>
      </p:grpSp>
      <p:grpSp>
        <p:nvGrpSpPr>
          <p:cNvPr id="53" name="node07"/>
          <p:cNvGrpSpPr/>
          <p:nvPr/>
        </p:nvGrpSpPr>
        <p:grpSpPr>
          <a:xfrm>
            <a:off x="3467100" y="3429000"/>
            <a:ext cx="3810000" cy="457200"/>
            <a:chOff x="3467100" y="3429000"/>
            <a:chExt cx="3810000" cy="457200"/>
          </a:xfrm>
        </p:grpSpPr>
        <p:sp>
          <p:nvSpPr>
            <p:cNvPr id="35" name="node07.surface"/>
            <p:cNvSpPr/>
            <p:nvPr/>
          </p:nvSpPr>
          <p:spPr>
            <a:xfrm>
              <a:off x="3467100" y="3429000"/>
              <a:ext cx="3810000" cy="457200"/>
            </a:xfrm>
            <a:custGeom>
              <a:avLst/>
              <a:gdLst/>
              <a:ahLst/>
              <a:cxnLst/>
              <a:rect l="l" t="t" r="r" b="b"/>
              <a:pathLst>
                <a:path w="3810000" h="457200">
                  <a:moveTo>
                    <a:pt x="0" y="0"/>
                  </a:moveTo>
                  <a:lnTo>
                    <a:pt x="3657600" y="0"/>
                  </a:lnTo>
                  <a:lnTo>
                    <a:pt x="3810000" y="228600"/>
                  </a:lnTo>
                  <a:lnTo>
                    <a:pt x="3657600" y="457200"/>
                  </a:lnTo>
                  <a:lnTo>
                    <a:pt x="0" y="457200"/>
                  </a:lnTo>
                  <a:close/>
                </a:path>
              </a:pathLst>
            </a:custGeom>
            <a:solidFill>
              <a:srgbClr val="CED7E6"/>
            </a:solidFill>
            <a:ln>
              <a:noFill/>
            </a:ln>
          </p:spPr>
        </p:sp>
        <p:sp>
          <p:nvSpPr>
            <p:cNvPr id="36" name="node07.text"/>
            <p:cNvSpPr/>
            <p:nvPr/>
          </p:nvSpPr>
          <p:spPr>
            <a:xfrm>
              <a:off x="3619500" y="3562350"/>
              <a:ext cx="3429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Phase 2 · Scalability and early adoption</a:t>
              </a:r>
              <a:endParaRPr lang="en-US" sz="1100" spc="0" kern="0" b="0" i="0" dirty="0">
                <a:solidFill>
                  <a:srgbClr val="070154"/>
                </a:solidFill>
                <a:latin typeface="IBM Plex Sans"/>
                <a:ea typeface="IBM Plex Sans"/>
                <a:cs typeface="IBM Plex Sans"/>
              </a:endParaRPr>
            </a:p>
          </p:txBody>
        </p:sp>
      </p:grpSp>
      <p:grpSp>
        <p:nvGrpSpPr>
          <p:cNvPr id="54" name="node08"/>
          <p:cNvGrpSpPr/>
          <p:nvPr/>
        </p:nvGrpSpPr>
        <p:grpSpPr>
          <a:xfrm>
            <a:off x="7353300" y="3429000"/>
            <a:ext cx="4114800" cy="457200"/>
            <a:chOff x="7353300" y="3429000"/>
            <a:chExt cx="4114800" cy="457200"/>
          </a:xfrm>
        </p:grpSpPr>
        <p:sp>
          <p:nvSpPr>
            <p:cNvPr id="37" name="node08.surface"/>
            <p:cNvSpPr/>
            <p:nvPr/>
          </p:nvSpPr>
          <p:spPr>
            <a:xfrm>
              <a:off x="7353300" y="3429000"/>
              <a:ext cx="4114800" cy="457200"/>
            </a:xfrm>
            <a:custGeom>
              <a:avLst/>
              <a:gdLst/>
              <a:ahLst/>
              <a:cxnLst/>
              <a:rect l="l" t="t" r="r" b="b"/>
              <a:pathLst>
                <a:path w="4114800" h="457200">
                  <a:moveTo>
                    <a:pt x="0" y="0"/>
                  </a:moveTo>
                  <a:lnTo>
                    <a:pt x="3962400" y="0"/>
                  </a:lnTo>
                  <a:lnTo>
                    <a:pt x="4114800" y="228600"/>
                  </a:lnTo>
                  <a:lnTo>
                    <a:pt x="3962400" y="457200"/>
                  </a:lnTo>
                  <a:lnTo>
                    <a:pt x="0" y="457200"/>
                  </a:lnTo>
                  <a:lnTo>
                    <a:pt x="152400" y="228600"/>
                  </a:lnTo>
                  <a:close/>
                </a:path>
              </a:pathLst>
            </a:custGeom>
            <a:solidFill>
              <a:srgbClr val="070154"/>
            </a:solidFill>
            <a:ln>
              <a:noFill/>
            </a:ln>
          </p:spPr>
        </p:sp>
        <p:sp>
          <p:nvSpPr>
            <p:cNvPr id="38" name="node08.text"/>
            <p:cNvSpPr/>
            <p:nvPr/>
          </p:nvSpPr>
          <p:spPr>
            <a:xfrm>
              <a:off x="7658100" y="3562350"/>
              <a:ext cx="3581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Phase 3 · General availability</a:t>
              </a:r>
              <a:endParaRPr lang="en-US" sz="1100" spc="0" kern="0" b="0" i="0" dirty="0">
                <a:solidFill>
                  <a:srgbClr val="FFFFFF"/>
                </a:solidFill>
                <a:latin typeface="IBM Plex Sans"/>
                <a:ea typeface="IBM Plex Sans"/>
                <a:cs typeface="IBM Plex Sans"/>
              </a:endParaRPr>
            </a:p>
          </p:txBody>
        </p:sp>
      </p:grpSp>
      <p:grpSp>
        <p:nvGrpSpPr>
          <p:cNvPr id="55" name="node09"/>
          <p:cNvGrpSpPr/>
          <p:nvPr/>
        </p:nvGrpSpPr>
        <p:grpSpPr>
          <a:xfrm>
            <a:off x="3467100" y="4114800"/>
            <a:ext cx="8001000" cy="228600"/>
            <a:chOff x="3467100" y="4114800"/>
            <a:chExt cx="8001000" cy="228600"/>
          </a:xfrm>
        </p:grpSpPr>
        <p:sp>
          <p:nvSpPr>
            <p:cNvPr id="39" name="node09.surface"/>
            <p:cNvSpPr/>
            <p:nvPr/>
          </p:nvSpPr>
          <p:spPr>
            <a:xfrm>
              <a:off x="3467100" y="4114800"/>
              <a:ext cx="8001000" cy="228600"/>
            </a:xfrm>
            <a:prstGeom prst="rect">
              <a:avLst/>
            </a:prstGeom>
            <a:solidFill>
              <a:srgbClr val="E8EEF8"/>
            </a:solidFill>
            <a:ln>
              <a:noFill/>
            </a:ln>
          </p:spPr>
        </p:sp>
        <p:sp>
          <p:nvSpPr>
            <p:cNvPr id="40" name="node09.text"/>
            <p:cNvSpPr/>
            <p:nvPr/>
          </p:nvSpPr>
          <p:spPr>
            <a:xfrm>
              <a:off x="3543300" y="4133850"/>
              <a:ext cx="7848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West Monroe team</a:t>
              </a:r>
              <a:endParaRPr lang="en-US" sz="1100" spc="0" kern="0" b="0" i="0" dirty="0">
                <a:solidFill>
                  <a:srgbClr val="070154"/>
                </a:solidFill>
                <a:latin typeface="IBM Plex Sans"/>
                <a:ea typeface="IBM Plex Sans"/>
                <a:cs typeface="IBM Plex Sans"/>
              </a:endParaRPr>
            </a:p>
          </p:txBody>
        </p:sp>
      </p:grpSp>
      <p:grpSp>
        <p:nvGrpSpPr>
          <p:cNvPr id="56" name="node10"/>
          <p:cNvGrpSpPr/>
          <p:nvPr/>
        </p:nvGrpSpPr>
        <p:grpSpPr>
          <a:xfrm>
            <a:off x="3467100" y="4419600"/>
            <a:ext cx="3733800" cy="381000"/>
            <a:chOff x="3467100" y="4419600"/>
            <a:chExt cx="3733800" cy="381000"/>
          </a:xfrm>
        </p:grpSpPr>
        <p:sp>
          <p:nvSpPr>
            <p:cNvPr id="41" name="node10.text"/>
            <p:cNvSpPr/>
            <p:nvPr/>
          </p:nvSpPr>
          <p:spPr>
            <a:xfrm>
              <a:off x="3467100" y="4419600"/>
              <a:ext cx="3733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Deploying provisioning and monitoring, and onboarding the first business units.</a:t>
              </a:r>
              <a:endParaRPr lang="en-US" sz="1100" spc="0" kern="0" b="0" i="0" dirty="0">
                <a:solidFill>
                  <a:srgbClr val="070154"/>
                </a:solidFill>
                <a:latin typeface="IBM Plex Sans"/>
                <a:ea typeface="IBM Plex Sans"/>
                <a:cs typeface="IBM Plex Sans"/>
              </a:endParaRPr>
            </a:p>
          </p:txBody>
        </p:sp>
      </p:grpSp>
      <p:grpSp>
        <p:nvGrpSpPr>
          <p:cNvPr id="57" name="node11"/>
          <p:cNvGrpSpPr/>
          <p:nvPr/>
        </p:nvGrpSpPr>
        <p:grpSpPr>
          <a:xfrm>
            <a:off x="7581900" y="4419600"/>
            <a:ext cx="3886200" cy="381000"/>
            <a:chOff x="7581900" y="4419600"/>
            <a:chExt cx="3886200" cy="381000"/>
          </a:xfrm>
        </p:grpSpPr>
        <p:sp>
          <p:nvSpPr>
            <p:cNvPr id="42" name="node11.text"/>
            <p:cNvSpPr/>
            <p:nvPr/>
          </p:nvSpPr>
          <p:spPr>
            <a:xfrm>
              <a:off x="7581900" y="4419600"/>
              <a:ext cx="3886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Optimizing performance, cost and adoption while transferring ownership and operations.</a:t>
              </a:r>
              <a:endParaRPr lang="en-US" sz="1100" spc="0" kern="0" b="0" i="0" dirty="0">
                <a:solidFill>
                  <a:srgbClr val="070154"/>
                </a:solidFill>
                <a:latin typeface="IBM Plex Sans"/>
                <a:ea typeface="IBM Plex Sans"/>
                <a:cs typeface="IBM Plex Sans"/>
              </a:endParaRPr>
            </a:p>
          </p:txBody>
        </p:sp>
      </p:grpSp>
      <p:grpSp>
        <p:nvGrpSpPr>
          <p:cNvPr id="58" name="node12"/>
          <p:cNvGrpSpPr/>
          <p:nvPr/>
        </p:nvGrpSpPr>
        <p:grpSpPr>
          <a:xfrm>
            <a:off x="3467100" y="5029200"/>
            <a:ext cx="8001000" cy="228600"/>
            <a:chOff x="3467100" y="5029200"/>
            <a:chExt cx="8001000" cy="228600"/>
          </a:xfrm>
        </p:grpSpPr>
        <p:sp>
          <p:nvSpPr>
            <p:cNvPr id="43" name="node12.surface"/>
            <p:cNvSpPr/>
            <p:nvPr/>
          </p:nvSpPr>
          <p:spPr>
            <a:xfrm>
              <a:off x="3467100" y="5029200"/>
              <a:ext cx="8001000" cy="228600"/>
            </a:xfrm>
            <a:prstGeom prst="rect">
              <a:avLst/>
            </a:prstGeom>
            <a:solidFill>
              <a:srgbClr val="E8EEF8"/>
            </a:solidFill>
            <a:ln>
              <a:noFill/>
            </a:ln>
          </p:spPr>
        </p:sp>
        <p:sp>
          <p:nvSpPr>
            <p:cNvPr id="44" name="node12.text"/>
            <p:cNvSpPr/>
            <p:nvPr/>
          </p:nvSpPr>
          <p:spPr>
            <a:xfrm>
              <a:off x="3543300" y="5048250"/>
              <a:ext cx="7848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Northfield team</a:t>
              </a:r>
              <a:endParaRPr lang="en-US" sz="1100" spc="0" kern="0" b="0" i="0" dirty="0">
                <a:solidFill>
                  <a:srgbClr val="070154"/>
                </a:solidFill>
                <a:latin typeface="IBM Plex Sans"/>
                <a:ea typeface="IBM Plex Sans"/>
                <a:cs typeface="IBM Plex Sans"/>
              </a:endParaRPr>
            </a:p>
          </p:txBody>
        </p:sp>
      </p:grpSp>
      <p:grpSp>
        <p:nvGrpSpPr>
          <p:cNvPr id="59" name="node13"/>
          <p:cNvGrpSpPr/>
          <p:nvPr/>
        </p:nvGrpSpPr>
        <p:grpSpPr>
          <a:xfrm>
            <a:off x="3467100" y="5334000"/>
            <a:ext cx="3733800" cy="381000"/>
            <a:chOff x="3467100" y="5334000"/>
            <a:chExt cx="3733800" cy="381000"/>
          </a:xfrm>
        </p:grpSpPr>
        <p:sp>
          <p:nvSpPr>
            <p:cNvPr id="45" name="node13.text"/>
            <p:cNvSpPr/>
            <p:nvPr/>
          </p:nvSpPr>
          <p:spPr>
            <a:xfrm>
              <a:off x="3467100" y="5334000"/>
              <a:ext cx="3733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Refining standards and overseeing the early adopter program.</a:t>
              </a:r>
              <a:endParaRPr lang="en-US" sz="1100" spc="0" kern="0" b="0" i="0" dirty="0">
                <a:solidFill>
                  <a:srgbClr val="070154"/>
                </a:solidFill>
                <a:latin typeface="IBM Plex Sans"/>
                <a:ea typeface="IBM Plex Sans"/>
                <a:cs typeface="IBM Plex Sans"/>
              </a:endParaRPr>
            </a:p>
          </p:txBody>
        </p:sp>
      </p:grpSp>
      <p:grpSp>
        <p:nvGrpSpPr>
          <p:cNvPr id="60" name="node14"/>
          <p:cNvGrpSpPr/>
          <p:nvPr/>
        </p:nvGrpSpPr>
        <p:grpSpPr>
          <a:xfrm>
            <a:off x="7581900" y="5334000"/>
            <a:ext cx="3886200" cy="381000"/>
            <a:chOff x="7581900" y="5334000"/>
            <a:chExt cx="3886200" cy="381000"/>
          </a:xfrm>
        </p:grpSpPr>
        <p:sp>
          <p:nvSpPr>
            <p:cNvPr id="46" name="node14.text"/>
            <p:cNvSpPr/>
            <p:nvPr/>
          </p:nvSpPr>
          <p:spPr>
            <a:xfrm>
              <a:off x="7581900" y="5334000"/>
              <a:ext cx="3886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Dedicated staff are learning to support the platform and beginning to lead.</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ource-35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PHASE 02 · WEEKS 17–34</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Evidence from three early adopters decides whether the platform is ready for general availability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134</a:t>
            </a:fld>
            <a:endParaRPr lang="en-US" sz="700" spc="0" kern="0" b="0" i="0" dirty="0">
              <a:solidFill>
                <a:srgbClr val="070154"/>
              </a:solidFill>
              <a:latin typeface="IBM Plex Mono SemiBold"/>
              <a:ea typeface="IBM Plex Mono SemiBold"/>
              <a:cs typeface="IBM Plex Mono SemiBold"/>
            </a:endParaRPr>
          </a:p>
        </p:txBody>
      </p:sp>
      <p:grpSp>
        <p:nvGrpSpPr>
          <p:cNvPr id="91" name="node01"/>
          <p:cNvGrpSpPr/>
          <p:nvPr/>
        </p:nvGrpSpPr>
        <p:grpSpPr>
          <a:xfrm>
            <a:off x="723900" y="2057400"/>
            <a:ext cx="1965960" cy="685800"/>
            <a:chOff x="723900" y="2057400"/>
            <a:chExt cx="1965960" cy="685800"/>
          </a:xfrm>
        </p:grpSpPr>
        <p:sp>
          <p:nvSpPr>
            <p:cNvPr id="6" name="node01.container"/>
            <p:cNvSpPr/>
            <p:nvPr/>
          </p:nvSpPr>
          <p:spPr>
            <a:xfrm>
              <a:off x="723900" y="2057400"/>
              <a:ext cx="1965960" cy="685800"/>
            </a:xfrm>
            <a:prstGeom prst="rect">
              <a:avLst/>
            </a:prstGeom>
            <a:solidFill>
              <a:srgbClr val="070154"/>
            </a:solidFill>
            <a:ln>
              <a:noFill/>
            </a:ln>
          </p:spPr>
        </p:sp>
        <p:sp>
          <p:nvSpPr>
            <p:cNvPr id="7" name="node01.number"/>
            <p:cNvSpPr/>
            <p:nvPr/>
          </p:nvSpPr>
          <p:spPr>
            <a:xfrm>
              <a:off x="876300" y="2209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01</a:t>
              </a:r>
              <a:endParaRPr lang="en-US" sz="1600" spc="0" kern="0" b="0" i="0" dirty="0">
                <a:solidFill>
                  <a:srgbClr val="F900D3"/>
                </a:solidFill>
                <a:latin typeface="IBM Plex Mono SemiBold"/>
                <a:ea typeface="IBM Plex Mono SemiBold"/>
                <a:cs typeface="IBM Plex Mono SemiBold"/>
              </a:endParaRPr>
            </a:p>
          </p:txBody>
        </p:sp>
        <p:sp>
          <p:nvSpPr>
            <p:cNvPr id="8" name="node01.title"/>
            <p:cNvSpPr/>
            <p:nvPr/>
          </p:nvSpPr>
          <p:spPr>
            <a:xfrm>
              <a:off x="1247775" y="2209546"/>
              <a:ext cx="128968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Platform</a:t>
              </a:r>
              <a:endParaRPr lang="en-US" sz="1600" spc="-16" kern="0" b="0" i="0" dirty="0">
                <a:solidFill>
                  <a:srgbClr val="FFFFFF"/>
                </a:solidFill>
                <a:latin typeface="IBM Plex Sans SemiBold"/>
                <a:ea typeface="IBM Plex Sans SemiBold"/>
                <a:cs typeface="IBM Plex Sans SemiBold"/>
              </a:endParaRPr>
            </a:p>
          </p:txBody>
        </p:sp>
      </p:grpSp>
      <p:grpSp>
        <p:nvGrpSpPr>
          <p:cNvPr id="92" name="node02"/>
          <p:cNvGrpSpPr/>
          <p:nvPr/>
        </p:nvGrpSpPr>
        <p:grpSpPr>
          <a:xfrm>
            <a:off x="723900" y="2895600"/>
            <a:ext cx="1965960" cy="139700"/>
            <a:chOff x="723900" y="2895600"/>
            <a:chExt cx="1965960" cy="139700"/>
          </a:xfrm>
        </p:grpSpPr>
        <p:sp>
          <p:nvSpPr>
            <p:cNvPr id="9" name="node02.text"/>
            <p:cNvSpPr/>
            <p:nvPr/>
          </p:nvSpPr>
          <p:spPr>
            <a:xfrm>
              <a:off x="723900" y="28956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EVIDENCE REQUIRED</a:t>
              </a:r>
              <a:endParaRPr lang="en-US" sz="800" spc="48" kern="0" b="0" i="0" dirty="0">
                <a:solidFill>
                  <a:srgbClr val="0047FF"/>
                </a:solidFill>
                <a:latin typeface="IBM Plex Mono Medium"/>
                <a:ea typeface="IBM Plex Mono Medium"/>
                <a:cs typeface="IBM Plex Mono Medium"/>
              </a:endParaRPr>
            </a:p>
          </p:txBody>
        </p:sp>
      </p:grpSp>
      <p:grpSp>
        <p:nvGrpSpPr>
          <p:cNvPr id="93" name="node03"/>
          <p:cNvGrpSpPr/>
          <p:nvPr/>
        </p:nvGrpSpPr>
        <p:grpSpPr>
          <a:xfrm>
            <a:off x="723900" y="3124200"/>
            <a:ext cx="1965960" cy="977900"/>
            <a:chOff x="723900" y="3124200"/>
            <a:chExt cx="1965960" cy="977900"/>
          </a:xfrm>
        </p:grpSpPr>
        <p:sp>
          <p:nvSpPr>
            <p:cNvPr id="10" name="node03.source-001.bullet"/>
            <p:cNvSpPr/>
            <p:nvPr/>
          </p:nvSpPr>
          <p:spPr>
            <a:xfrm>
              <a:off x="723900" y="3213100"/>
              <a:ext cx="38100" cy="38100"/>
            </a:xfrm>
            <a:prstGeom prst="rect">
              <a:avLst/>
            </a:prstGeom>
            <a:solidFill>
              <a:srgbClr val="070154"/>
            </a:solidFill>
            <a:ln>
              <a:noFill/>
            </a:ln>
          </p:spPr>
        </p:sp>
        <p:sp>
          <p:nvSpPr>
            <p:cNvPr id="11" name="node03.source-001.text"/>
            <p:cNvSpPr/>
            <p:nvPr/>
          </p:nvSpPr>
          <p:spPr>
            <a:xfrm>
              <a:off x="876300" y="3124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Patterns validated</a:t>
              </a:r>
              <a:endParaRPr lang="en-US" sz="1200" spc="0" kern="0" b="0" i="0" dirty="0">
                <a:solidFill>
                  <a:srgbClr val="070154"/>
                </a:solidFill>
                <a:latin typeface="IBM Plex Sans"/>
                <a:ea typeface="IBM Plex Sans"/>
                <a:cs typeface="IBM Plex Sans"/>
              </a:endParaRPr>
            </a:p>
          </p:txBody>
        </p:sp>
        <p:sp>
          <p:nvSpPr>
            <p:cNvPr id="12" name="node03.source-002.bullet"/>
            <p:cNvSpPr/>
            <p:nvPr/>
          </p:nvSpPr>
          <p:spPr>
            <a:xfrm>
              <a:off x="723900" y="3467100"/>
              <a:ext cx="38100" cy="38100"/>
            </a:xfrm>
            <a:prstGeom prst="rect">
              <a:avLst/>
            </a:prstGeom>
            <a:solidFill>
              <a:srgbClr val="070154"/>
            </a:solidFill>
            <a:ln>
              <a:noFill/>
            </a:ln>
          </p:spPr>
        </p:sp>
        <p:sp>
          <p:nvSpPr>
            <p:cNvPr id="13" name="node03.source-002.text"/>
            <p:cNvSpPr/>
            <p:nvPr/>
          </p:nvSpPr>
          <p:spPr>
            <a:xfrm>
              <a:off x="876300" y="3378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Integrations reliable</a:t>
              </a:r>
              <a:endParaRPr lang="en-US" sz="1200" spc="0" kern="0" b="0" i="0" dirty="0">
                <a:solidFill>
                  <a:srgbClr val="070154"/>
                </a:solidFill>
                <a:latin typeface="IBM Plex Sans"/>
                <a:ea typeface="IBM Plex Sans"/>
                <a:cs typeface="IBM Plex Sans"/>
              </a:endParaRPr>
            </a:p>
          </p:txBody>
        </p:sp>
        <p:sp>
          <p:nvSpPr>
            <p:cNvPr id="14" name="node03.source-003.bullet"/>
            <p:cNvSpPr/>
            <p:nvPr/>
          </p:nvSpPr>
          <p:spPr>
            <a:xfrm>
              <a:off x="723900" y="3721100"/>
              <a:ext cx="38100" cy="38100"/>
            </a:xfrm>
            <a:prstGeom prst="rect">
              <a:avLst/>
            </a:prstGeom>
            <a:solidFill>
              <a:srgbClr val="070154"/>
            </a:solidFill>
            <a:ln>
              <a:noFill/>
            </a:ln>
          </p:spPr>
        </p:sp>
        <p:sp>
          <p:nvSpPr>
            <p:cNvPr id="15" name="node03.source-003.text"/>
            <p:cNvSpPr/>
            <p:nvPr/>
          </p:nvSpPr>
          <p:spPr>
            <a:xfrm>
              <a:off x="876300" y="3632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Exceptions understood</a:t>
              </a:r>
              <a:endParaRPr lang="en-US" sz="1200" spc="0" kern="0" b="0" i="0" dirty="0">
                <a:solidFill>
                  <a:srgbClr val="070154"/>
                </a:solidFill>
                <a:latin typeface="IBM Plex Sans"/>
                <a:ea typeface="IBM Plex Sans"/>
                <a:cs typeface="IBM Plex Sans"/>
              </a:endParaRPr>
            </a:p>
          </p:txBody>
        </p:sp>
        <p:sp>
          <p:nvSpPr>
            <p:cNvPr id="16" name="node03.source-004.bullet"/>
            <p:cNvSpPr/>
            <p:nvPr/>
          </p:nvSpPr>
          <p:spPr>
            <a:xfrm>
              <a:off x="723900" y="3975100"/>
              <a:ext cx="38100" cy="38100"/>
            </a:xfrm>
            <a:prstGeom prst="rect">
              <a:avLst/>
            </a:prstGeom>
            <a:solidFill>
              <a:srgbClr val="070154"/>
            </a:solidFill>
            <a:ln>
              <a:noFill/>
            </a:ln>
          </p:spPr>
        </p:sp>
        <p:sp>
          <p:nvSpPr>
            <p:cNvPr id="17" name="node03.source-004.text"/>
            <p:cNvSpPr/>
            <p:nvPr/>
          </p:nvSpPr>
          <p:spPr>
            <a:xfrm>
              <a:off x="876300" y="3886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Standards adopted</a:t>
              </a:r>
              <a:endParaRPr lang="en-US" sz="1200" spc="0" kern="0" b="0" i="0" dirty="0">
                <a:solidFill>
                  <a:srgbClr val="070154"/>
                </a:solidFill>
                <a:latin typeface="IBM Plex Sans"/>
                <a:ea typeface="IBM Plex Sans"/>
                <a:cs typeface="IBM Plex Sans"/>
              </a:endParaRPr>
            </a:p>
          </p:txBody>
        </p:sp>
      </p:grpSp>
      <p:grpSp>
        <p:nvGrpSpPr>
          <p:cNvPr id="94" name="node04"/>
          <p:cNvGrpSpPr/>
          <p:nvPr/>
        </p:nvGrpSpPr>
        <p:grpSpPr>
          <a:xfrm>
            <a:off x="723900" y="4343400"/>
            <a:ext cx="1965960" cy="139700"/>
            <a:chOff x="723900" y="4343400"/>
            <a:chExt cx="1965960" cy="139700"/>
          </a:xfrm>
        </p:grpSpPr>
        <p:sp>
          <p:nvSpPr>
            <p:cNvPr id="18" name="node04.text"/>
            <p:cNvSpPr/>
            <p:nvPr/>
          </p:nvSpPr>
          <p:spPr>
            <a:xfrm>
              <a:off x="723900" y="43434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ILLUSTRATIVE EXIT</a:t>
              </a:r>
              <a:endParaRPr lang="en-US" sz="800" spc="48" kern="0" b="0" i="0" dirty="0">
                <a:solidFill>
                  <a:srgbClr val="0047FF"/>
                </a:solidFill>
                <a:latin typeface="IBM Plex Mono Medium"/>
                <a:ea typeface="IBM Plex Mono Medium"/>
                <a:cs typeface="IBM Plex Mono Medium"/>
              </a:endParaRPr>
            </a:p>
          </p:txBody>
        </p:sp>
      </p:grpSp>
      <p:grpSp>
        <p:nvGrpSpPr>
          <p:cNvPr id="95" name="node05"/>
          <p:cNvGrpSpPr/>
          <p:nvPr/>
        </p:nvGrpSpPr>
        <p:grpSpPr>
          <a:xfrm>
            <a:off x="723900" y="4572000"/>
            <a:ext cx="1965960" cy="685800"/>
            <a:chOff x="723900" y="4572000"/>
            <a:chExt cx="1965960" cy="685800"/>
          </a:xfrm>
        </p:grpSpPr>
        <p:sp>
          <p:nvSpPr>
            <p:cNvPr id="19" name="node05.surface"/>
            <p:cNvSpPr/>
            <p:nvPr/>
          </p:nvSpPr>
          <p:spPr>
            <a:xfrm>
              <a:off x="723900" y="4572000"/>
              <a:ext cx="1965960" cy="685800"/>
            </a:xfrm>
            <a:prstGeom prst="rect">
              <a:avLst/>
            </a:prstGeom>
            <a:solidFill>
              <a:srgbClr val="E8EEF8"/>
            </a:solidFill>
            <a:ln>
              <a:noFill/>
            </a:ln>
          </p:spPr>
        </p:sp>
        <p:sp>
          <p:nvSpPr>
            <p:cNvPr id="20" name="node05.text"/>
            <p:cNvSpPr/>
            <p:nvPr/>
          </p:nvSpPr>
          <p:spPr>
            <a:xfrm>
              <a:off x="876300" y="4724400"/>
              <a:ext cx="166116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Priority patterns approved for GA</a:t>
              </a:r>
              <a:endParaRPr lang="en-US" sz="1100" spc="0" kern="0" b="0" i="0" dirty="0">
                <a:solidFill>
                  <a:srgbClr val="070154"/>
                </a:solidFill>
                <a:latin typeface="IBM Plex Sans"/>
                <a:ea typeface="IBM Plex Sans"/>
                <a:cs typeface="IBM Plex Sans"/>
              </a:endParaRPr>
            </a:p>
          </p:txBody>
        </p:sp>
      </p:grpSp>
      <p:grpSp>
        <p:nvGrpSpPr>
          <p:cNvPr id="96" name="node06"/>
          <p:cNvGrpSpPr/>
          <p:nvPr/>
        </p:nvGrpSpPr>
        <p:grpSpPr>
          <a:xfrm>
            <a:off x="723900" y="5410200"/>
            <a:ext cx="1965960" cy="139700"/>
            <a:chOff x="723900" y="5410200"/>
            <a:chExt cx="1965960" cy="139700"/>
          </a:xfrm>
        </p:grpSpPr>
        <p:sp>
          <p:nvSpPr>
            <p:cNvPr id="21" name="node06.text"/>
            <p:cNvSpPr/>
            <p:nvPr/>
          </p:nvSpPr>
          <p:spPr>
            <a:xfrm>
              <a:off x="723900" y="54102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DECISION OWNER</a:t>
              </a:r>
              <a:endParaRPr lang="en-US" sz="800" spc="48" kern="0" b="0" i="0" dirty="0">
                <a:solidFill>
                  <a:srgbClr val="0047FF"/>
                </a:solidFill>
                <a:latin typeface="IBM Plex Mono Medium"/>
                <a:ea typeface="IBM Plex Mono Medium"/>
                <a:cs typeface="IBM Plex Mono Medium"/>
              </a:endParaRPr>
            </a:p>
          </p:txBody>
        </p:sp>
      </p:grpSp>
      <p:grpSp>
        <p:nvGrpSpPr>
          <p:cNvPr id="97" name="node07"/>
          <p:cNvGrpSpPr/>
          <p:nvPr/>
        </p:nvGrpSpPr>
        <p:grpSpPr>
          <a:xfrm>
            <a:off x="723900" y="5638800"/>
            <a:ext cx="1965960" cy="190500"/>
            <a:chOff x="723900" y="5638800"/>
            <a:chExt cx="1965960" cy="190500"/>
          </a:xfrm>
        </p:grpSpPr>
        <p:sp>
          <p:nvSpPr>
            <p:cNvPr id="22" name="node07.text"/>
            <p:cNvSpPr/>
            <p:nvPr/>
          </p:nvSpPr>
          <p:spPr>
            <a:xfrm>
              <a:off x="723900" y="5638800"/>
              <a:ext cx="19659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Chief architect</a:t>
              </a:r>
              <a:endParaRPr lang="en-US" sz="1100" spc="0" kern="0" b="0" i="0" dirty="0">
                <a:solidFill>
                  <a:srgbClr val="070154"/>
                </a:solidFill>
                <a:latin typeface="IBM Plex Sans"/>
                <a:ea typeface="IBM Plex Sans"/>
                <a:cs typeface="IBM Plex Sans"/>
              </a:endParaRPr>
            </a:p>
          </p:txBody>
        </p:sp>
      </p:grpSp>
      <p:grpSp>
        <p:nvGrpSpPr>
          <p:cNvPr id="98" name="node08"/>
          <p:cNvGrpSpPr/>
          <p:nvPr/>
        </p:nvGrpSpPr>
        <p:grpSpPr>
          <a:xfrm>
            <a:off x="2918460" y="2057400"/>
            <a:ext cx="1965960" cy="685800"/>
            <a:chOff x="2918460" y="2057400"/>
            <a:chExt cx="1965960" cy="685800"/>
          </a:xfrm>
        </p:grpSpPr>
        <p:sp>
          <p:nvSpPr>
            <p:cNvPr id="23" name="node08.container"/>
            <p:cNvSpPr/>
            <p:nvPr/>
          </p:nvSpPr>
          <p:spPr>
            <a:xfrm>
              <a:off x="2918460" y="2057400"/>
              <a:ext cx="1965960" cy="685800"/>
            </a:xfrm>
            <a:prstGeom prst="rect">
              <a:avLst/>
            </a:prstGeom>
            <a:solidFill>
              <a:srgbClr val="070154"/>
            </a:solidFill>
            <a:ln>
              <a:noFill/>
            </a:ln>
          </p:spPr>
        </p:sp>
        <p:sp>
          <p:nvSpPr>
            <p:cNvPr id="24" name="node08.number"/>
            <p:cNvSpPr/>
            <p:nvPr/>
          </p:nvSpPr>
          <p:spPr>
            <a:xfrm>
              <a:off x="3070860" y="2209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02</a:t>
              </a:r>
              <a:endParaRPr lang="en-US" sz="1600" spc="0" kern="0" b="0" i="0" dirty="0">
                <a:solidFill>
                  <a:srgbClr val="F900D3"/>
                </a:solidFill>
                <a:latin typeface="IBM Plex Mono SemiBold"/>
                <a:ea typeface="IBM Plex Mono SemiBold"/>
                <a:cs typeface="IBM Plex Mono SemiBold"/>
              </a:endParaRPr>
            </a:p>
          </p:txBody>
        </p:sp>
        <p:sp>
          <p:nvSpPr>
            <p:cNvPr id="25" name="node08.title"/>
            <p:cNvSpPr/>
            <p:nvPr/>
          </p:nvSpPr>
          <p:spPr>
            <a:xfrm>
              <a:off x="3442335" y="2209546"/>
              <a:ext cx="128968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Operations</a:t>
              </a:r>
              <a:endParaRPr lang="en-US" sz="1600" spc="-16" kern="0" b="0" i="0" dirty="0">
                <a:solidFill>
                  <a:srgbClr val="FFFFFF"/>
                </a:solidFill>
                <a:latin typeface="IBM Plex Sans SemiBold"/>
                <a:ea typeface="IBM Plex Sans SemiBold"/>
                <a:cs typeface="IBM Plex Sans SemiBold"/>
              </a:endParaRPr>
            </a:p>
          </p:txBody>
        </p:sp>
      </p:grpSp>
      <p:grpSp>
        <p:nvGrpSpPr>
          <p:cNvPr id="99" name="node09"/>
          <p:cNvGrpSpPr/>
          <p:nvPr/>
        </p:nvGrpSpPr>
        <p:grpSpPr>
          <a:xfrm>
            <a:off x="2918460" y="2895600"/>
            <a:ext cx="1965960" cy="139700"/>
            <a:chOff x="2918460" y="2895600"/>
            <a:chExt cx="1965960" cy="139700"/>
          </a:xfrm>
        </p:grpSpPr>
        <p:sp>
          <p:nvSpPr>
            <p:cNvPr id="26" name="node09.text"/>
            <p:cNvSpPr/>
            <p:nvPr/>
          </p:nvSpPr>
          <p:spPr>
            <a:xfrm>
              <a:off x="2918460" y="28956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EVIDENCE REQUIRED</a:t>
              </a:r>
              <a:endParaRPr lang="en-US" sz="800" spc="48" kern="0" b="0" i="0" dirty="0">
                <a:solidFill>
                  <a:srgbClr val="0047FF"/>
                </a:solidFill>
                <a:latin typeface="IBM Plex Mono Medium"/>
                <a:ea typeface="IBM Plex Mono Medium"/>
                <a:cs typeface="IBM Plex Mono Medium"/>
              </a:endParaRPr>
            </a:p>
          </p:txBody>
        </p:sp>
      </p:grpSp>
      <p:grpSp>
        <p:nvGrpSpPr>
          <p:cNvPr id="100" name="node10"/>
          <p:cNvGrpSpPr/>
          <p:nvPr/>
        </p:nvGrpSpPr>
        <p:grpSpPr>
          <a:xfrm>
            <a:off x="2918460" y="3124200"/>
            <a:ext cx="1965960" cy="977900"/>
            <a:chOff x="2918460" y="3124200"/>
            <a:chExt cx="1965960" cy="977900"/>
          </a:xfrm>
        </p:grpSpPr>
        <p:sp>
          <p:nvSpPr>
            <p:cNvPr id="27" name="node10.source-001.bullet"/>
            <p:cNvSpPr/>
            <p:nvPr/>
          </p:nvSpPr>
          <p:spPr>
            <a:xfrm>
              <a:off x="2918460" y="3213100"/>
              <a:ext cx="38100" cy="38100"/>
            </a:xfrm>
            <a:prstGeom prst="rect">
              <a:avLst/>
            </a:prstGeom>
            <a:solidFill>
              <a:srgbClr val="070154"/>
            </a:solidFill>
            <a:ln>
              <a:noFill/>
            </a:ln>
          </p:spPr>
        </p:sp>
        <p:sp>
          <p:nvSpPr>
            <p:cNvPr id="28" name="node10.source-001.text"/>
            <p:cNvSpPr/>
            <p:nvPr/>
          </p:nvSpPr>
          <p:spPr>
            <a:xfrm>
              <a:off x="3070860" y="3124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Provisioning automated</a:t>
              </a:r>
              <a:endParaRPr lang="en-US" sz="1200" spc="0" kern="0" b="0" i="0" dirty="0">
                <a:solidFill>
                  <a:srgbClr val="070154"/>
                </a:solidFill>
                <a:latin typeface="IBM Plex Sans"/>
                <a:ea typeface="IBM Plex Sans"/>
                <a:cs typeface="IBM Plex Sans"/>
              </a:endParaRPr>
            </a:p>
          </p:txBody>
        </p:sp>
        <p:sp>
          <p:nvSpPr>
            <p:cNvPr id="29" name="node10.source-002.bullet"/>
            <p:cNvSpPr/>
            <p:nvPr/>
          </p:nvSpPr>
          <p:spPr>
            <a:xfrm>
              <a:off x="2918460" y="3467100"/>
              <a:ext cx="38100" cy="38100"/>
            </a:xfrm>
            <a:prstGeom prst="rect">
              <a:avLst/>
            </a:prstGeom>
            <a:solidFill>
              <a:srgbClr val="070154"/>
            </a:solidFill>
            <a:ln>
              <a:noFill/>
            </a:ln>
          </p:spPr>
        </p:sp>
        <p:sp>
          <p:nvSpPr>
            <p:cNvPr id="30" name="node10.source-002.text"/>
            <p:cNvSpPr/>
            <p:nvPr/>
          </p:nvSpPr>
          <p:spPr>
            <a:xfrm>
              <a:off x="3070860" y="3378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Telemetry active</a:t>
              </a:r>
              <a:endParaRPr lang="en-US" sz="1200" spc="0" kern="0" b="0" i="0" dirty="0">
                <a:solidFill>
                  <a:srgbClr val="070154"/>
                </a:solidFill>
                <a:latin typeface="IBM Plex Sans"/>
                <a:ea typeface="IBM Plex Sans"/>
                <a:cs typeface="IBM Plex Sans"/>
              </a:endParaRPr>
            </a:p>
          </p:txBody>
        </p:sp>
        <p:sp>
          <p:nvSpPr>
            <p:cNvPr id="31" name="node10.source-003.bullet"/>
            <p:cNvSpPr/>
            <p:nvPr/>
          </p:nvSpPr>
          <p:spPr>
            <a:xfrm>
              <a:off x="2918460" y="3721100"/>
              <a:ext cx="38100" cy="38100"/>
            </a:xfrm>
            <a:prstGeom prst="rect">
              <a:avLst/>
            </a:prstGeom>
            <a:solidFill>
              <a:srgbClr val="070154"/>
            </a:solidFill>
            <a:ln>
              <a:noFill/>
            </a:ln>
          </p:spPr>
        </p:sp>
        <p:sp>
          <p:nvSpPr>
            <p:cNvPr id="32" name="node10.source-003.text"/>
            <p:cNvSpPr/>
            <p:nvPr/>
          </p:nvSpPr>
          <p:spPr>
            <a:xfrm>
              <a:off x="3070860" y="3632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Runbooks exercised</a:t>
              </a:r>
              <a:endParaRPr lang="en-US" sz="1200" spc="0" kern="0" b="0" i="0" dirty="0">
                <a:solidFill>
                  <a:srgbClr val="070154"/>
                </a:solidFill>
                <a:latin typeface="IBM Plex Sans"/>
                <a:ea typeface="IBM Plex Sans"/>
                <a:cs typeface="IBM Plex Sans"/>
              </a:endParaRPr>
            </a:p>
          </p:txBody>
        </p:sp>
        <p:sp>
          <p:nvSpPr>
            <p:cNvPr id="33" name="node10.source-004.bullet"/>
            <p:cNvSpPr/>
            <p:nvPr/>
          </p:nvSpPr>
          <p:spPr>
            <a:xfrm>
              <a:off x="2918460" y="3975100"/>
              <a:ext cx="38100" cy="38100"/>
            </a:xfrm>
            <a:prstGeom prst="rect">
              <a:avLst/>
            </a:prstGeom>
            <a:solidFill>
              <a:srgbClr val="070154"/>
            </a:solidFill>
            <a:ln>
              <a:noFill/>
            </a:ln>
          </p:spPr>
        </p:sp>
        <p:sp>
          <p:nvSpPr>
            <p:cNvPr id="34" name="node10.source-004.text"/>
            <p:cNvSpPr/>
            <p:nvPr/>
          </p:nvSpPr>
          <p:spPr>
            <a:xfrm>
              <a:off x="3070860" y="3886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Alerts routed</a:t>
              </a:r>
              <a:endParaRPr lang="en-US" sz="1200" spc="0" kern="0" b="0" i="0" dirty="0">
                <a:solidFill>
                  <a:srgbClr val="070154"/>
                </a:solidFill>
                <a:latin typeface="IBM Plex Sans"/>
                <a:ea typeface="IBM Plex Sans"/>
                <a:cs typeface="IBM Plex Sans"/>
              </a:endParaRPr>
            </a:p>
          </p:txBody>
        </p:sp>
      </p:grpSp>
      <p:grpSp>
        <p:nvGrpSpPr>
          <p:cNvPr id="101" name="node11"/>
          <p:cNvGrpSpPr/>
          <p:nvPr/>
        </p:nvGrpSpPr>
        <p:grpSpPr>
          <a:xfrm>
            <a:off x="2918460" y="4343400"/>
            <a:ext cx="1965960" cy="139700"/>
            <a:chOff x="2918460" y="4343400"/>
            <a:chExt cx="1965960" cy="139700"/>
          </a:xfrm>
        </p:grpSpPr>
        <p:sp>
          <p:nvSpPr>
            <p:cNvPr id="35" name="node11.text"/>
            <p:cNvSpPr/>
            <p:nvPr/>
          </p:nvSpPr>
          <p:spPr>
            <a:xfrm>
              <a:off x="2918460" y="43434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ILLUSTRATIVE EXIT</a:t>
              </a:r>
              <a:endParaRPr lang="en-US" sz="800" spc="48" kern="0" b="0" i="0" dirty="0">
                <a:solidFill>
                  <a:srgbClr val="0047FF"/>
                </a:solidFill>
                <a:latin typeface="IBM Plex Mono Medium"/>
                <a:ea typeface="IBM Plex Mono Medium"/>
                <a:cs typeface="IBM Plex Mono Medium"/>
              </a:endParaRPr>
            </a:p>
          </p:txBody>
        </p:sp>
      </p:grpSp>
      <p:grpSp>
        <p:nvGrpSpPr>
          <p:cNvPr id="102" name="node12"/>
          <p:cNvGrpSpPr/>
          <p:nvPr/>
        </p:nvGrpSpPr>
        <p:grpSpPr>
          <a:xfrm>
            <a:off x="2918460" y="4572000"/>
            <a:ext cx="1965960" cy="685800"/>
            <a:chOff x="2918460" y="4572000"/>
            <a:chExt cx="1965960" cy="685800"/>
          </a:xfrm>
        </p:grpSpPr>
        <p:sp>
          <p:nvSpPr>
            <p:cNvPr id="36" name="node12.surface"/>
            <p:cNvSpPr/>
            <p:nvPr/>
          </p:nvSpPr>
          <p:spPr>
            <a:xfrm>
              <a:off x="2918460" y="4572000"/>
              <a:ext cx="1965960" cy="685800"/>
            </a:xfrm>
            <a:prstGeom prst="rect">
              <a:avLst/>
            </a:prstGeom>
            <a:solidFill>
              <a:srgbClr val="E8EEF8"/>
            </a:solidFill>
            <a:ln>
              <a:noFill/>
            </a:ln>
          </p:spPr>
        </p:sp>
        <p:sp>
          <p:nvSpPr>
            <p:cNvPr id="37" name="node12.text"/>
            <p:cNvSpPr/>
            <p:nvPr/>
          </p:nvSpPr>
          <p:spPr>
            <a:xfrm>
              <a:off x="3070860" y="4819650"/>
              <a:ext cx="16611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Core services supportable</a:t>
              </a:r>
              <a:endParaRPr lang="en-US" sz="1100" spc="0" kern="0" b="0" i="0" dirty="0">
                <a:solidFill>
                  <a:srgbClr val="070154"/>
                </a:solidFill>
                <a:latin typeface="IBM Plex Sans"/>
                <a:ea typeface="IBM Plex Sans"/>
                <a:cs typeface="IBM Plex Sans"/>
              </a:endParaRPr>
            </a:p>
          </p:txBody>
        </p:sp>
      </p:grpSp>
      <p:grpSp>
        <p:nvGrpSpPr>
          <p:cNvPr id="103" name="node13"/>
          <p:cNvGrpSpPr/>
          <p:nvPr/>
        </p:nvGrpSpPr>
        <p:grpSpPr>
          <a:xfrm>
            <a:off x="2918460" y="5410200"/>
            <a:ext cx="1965960" cy="139700"/>
            <a:chOff x="2918460" y="5410200"/>
            <a:chExt cx="1965960" cy="139700"/>
          </a:xfrm>
        </p:grpSpPr>
        <p:sp>
          <p:nvSpPr>
            <p:cNvPr id="38" name="node13.text"/>
            <p:cNvSpPr/>
            <p:nvPr/>
          </p:nvSpPr>
          <p:spPr>
            <a:xfrm>
              <a:off x="2918460" y="54102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DECISION OWNER</a:t>
              </a:r>
              <a:endParaRPr lang="en-US" sz="800" spc="48" kern="0" b="0" i="0" dirty="0">
                <a:solidFill>
                  <a:srgbClr val="0047FF"/>
                </a:solidFill>
                <a:latin typeface="IBM Plex Mono Medium"/>
                <a:ea typeface="IBM Plex Mono Medium"/>
                <a:cs typeface="IBM Plex Mono Medium"/>
              </a:endParaRPr>
            </a:p>
          </p:txBody>
        </p:sp>
      </p:grpSp>
      <p:grpSp>
        <p:nvGrpSpPr>
          <p:cNvPr id="104" name="node14"/>
          <p:cNvGrpSpPr/>
          <p:nvPr/>
        </p:nvGrpSpPr>
        <p:grpSpPr>
          <a:xfrm>
            <a:off x="2918460" y="5638800"/>
            <a:ext cx="1965960" cy="190500"/>
            <a:chOff x="2918460" y="5638800"/>
            <a:chExt cx="1965960" cy="190500"/>
          </a:xfrm>
        </p:grpSpPr>
        <p:sp>
          <p:nvSpPr>
            <p:cNvPr id="39" name="node14.text"/>
            <p:cNvSpPr/>
            <p:nvPr/>
          </p:nvSpPr>
          <p:spPr>
            <a:xfrm>
              <a:off x="2918460" y="5638800"/>
              <a:ext cx="19659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Platform owner</a:t>
              </a:r>
              <a:endParaRPr lang="en-US" sz="1100" spc="0" kern="0" b="0" i="0" dirty="0">
                <a:solidFill>
                  <a:srgbClr val="070154"/>
                </a:solidFill>
                <a:latin typeface="IBM Plex Sans"/>
                <a:ea typeface="IBM Plex Sans"/>
                <a:cs typeface="IBM Plex Sans"/>
              </a:endParaRPr>
            </a:p>
          </p:txBody>
        </p:sp>
      </p:grpSp>
      <p:grpSp>
        <p:nvGrpSpPr>
          <p:cNvPr id="105" name="node15"/>
          <p:cNvGrpSpPr/>
          <p:nvPr/>
        </p:nvGrpSpPr>
        <p:grpSpPr>
          <a:xfrm>
            <a:off x="5113020" y="2057400"/>
            <a:ext cx="1965960" cy="685800"/>
            <a:chOff x="5113020" y="2057400"/>
            <a:chExt cx="1965960" cy="685800"/>
          </a:xfrm>
        </p:grpSpPr>
        <p:sp>
          <p:nvSpPr>
            <p:cNvPr id="40" name="node15.container"/>
            <p:cNvSpPr/>
            <p:nvPr/>
          </p:nvSpPr>
          <p:spPr>
            <a:xfrm>
              <a:off x="5113020" y="2057400"/>
              <a:ext cx="1965960" cy="685800"/>
            </a:xfrm>
            <a:prstGeom prst="rect">
              <a:avLst/>
            </a:prstGeom>
            <a:solidFill>
              <a:srgbClr val="070154"/>
            </a:solidFill>
            <a:ln>
              <a:noFill/>
            </a:ln>
          </p:spPr>
        </p:sp>
        <p:sp>
          <p:nvSpPr>
            <p:cNvPr id="41" name="node15.number"/>
            <p:cNvSpPr/>
            <p:nvPr/>
          </p:nvSpPr>
          <p:spPr>
            <a:xfrm>
              <a:off x="5265420" y="2209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03</a:t>
              </a:r>
              <a:endParaRPr lang="en-US" sz="1600" spc="0" kern="0" b="0" i="0" dirty="0">
                <a:solidFill>
                  <a:srgbClr val="F900D3"/>
                </a:solidFill>
                <a:latin typeface="IBM Plex Mono SemiBold"/>
                <a:ea typeface="IBM Plex Mono SemiBold"/>
                <a:cs typeface="IBM Plex Mono SemiBold"/>
              </a:endParaRPr>
            </a:p>
          </p:txBody>
        </p:sp>
        <p:sp>
          <p:nvSpPr>
            <p:cNvPr id="42" name="node15.title"/>
            <p:cNvSpPr/>
            <p:nvPr/>
          </p:nvSpPr>
          <p:spPr>
            <a:xfrm>
              <a:off x="5636895" y="2209546"/>
              <a:ext cx="128968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Governance</a:t>
              </a:r>
              <a:endParaRPr lang="en-US" sz="1600" spc="-16" kern="0" b="0" i="0" dirty="0">
                <a:solidFill>
                  <a:srgbClr val="FFFFFF"/>
                </a:solidFill>
                <a:latin typeface="IBM Plex Sans SemiBold"/>
                <a:ea typeface="IBM Plex Sans SemiBold"/>
                <a:cs typeface="IBM Plex Sans SemiBold"/>
              </a:endParaRPr>
            </a:p>
          </p:txBody>
        </p:sp>
      </p:grpSp>
      <p:grpSp>
        <p:nvGrpSpPr>
          <p:cNvPr id="106" name="node16"/>
          <p:cNvGrpSpPr/>
          <p:nvPr/>
        </p:nvGrpSpPr>
        <p:grpSpPr>
          <a:xfrm>
            <a:off x="5113020" y="2895600"/>
            <a:ext cx="1965960" cy="139700"/>
            <a:chOff x="5113020" y="2895600"/>
            <a:chExt cx="1965960" cy="139700"/>
          </a:xfrm>
        </p:grpSpPr>
        <p:sp>
          <p:nvSpPr>
            <p:cNvPr id="43" name="node16.text"/>
            <p:cNvSpPr/>
            <p:nvPr/>
          </p:nvSpPr>
          <p:spPr>
            <a:xfrm>
              <a:off x="5113020" y="28956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EVIDENCE REQUIRED</a:t>
              </a:r>
              <a:endParaRPr lang="en-US" sz="800" spc="48" kern="0" b="0" i="0" dirty="0">
                <a:solidFill>
                  <a:srgbClr val="0047FF"/>
                </a:solidFill>
                <a:latin typeface="IBM Plex Mono Medium"/>
                <a:ea typeface="IBM Plex Mono Medium"/>
                <a:cs typeface="IBM Plex Mono Medium"/>
              </a:endParaRPr>
            </a:p>
          </p:txBody>
        </p:sp>
      </p:grpSp>
      <p:grpSp>
        <p:nvGrpSpPr>
          <p:cNvPr id="107" name="node17"/>
          <p:cNvGrpSpPr/>
          <p:nvPr/>
        </p:nvGrpSpPr>
        <p:grpSpPr>
          <a:xfrm>
            <a:off x="5113020" y="3124200"/>
            <a:ext cx="1965960" cy="977900"/>
            <a:chOff x="5113020" y="3124200"/>
            <a:chExt cx="1965960" cy="977900"/>
          </a:xfrm>
        </p:grpSpPr>
        <p:sp>
          <p:nvSpPr>
            <p:cNvPr id="44" name="node17.source-001.bullet"/>
            <p:cNvSpPr/>
            <p:nvPr/>
          </p:nvSpPr>
          <p:spPr>
            <a:xfrm>
              <a:off x="5113020" y="3213100"/>
              <a:ext cx="38100" cy="38100"/>
            </a:xfrm>
            <a:prstGeom prst="rect">
              <a:avLst/>
            </a:prstGeom>
            <a:solidFill>
              <a:srgbClr val="070154"/>
            </a:solidFill>
            <a:ln>
              <a:noFill/>
            </a:ln>
          </p:spPr>
        </p:sp>
        <p:sp>
          <p:nvSpPr>
            <p:cNvPr id="45" name="node17.source-001.text"/>
            <p:cNvSpPr/>
            <p:nvPr/>
          </p:nvSpPr>
          <p:spPr>
            <a:xfrm>
              <a:off x="5265420" y="3124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Controls applied</a:t>
              </a:r>
              <a:endParaRPr lang="en-US" sz="1200" spc="0" kern="0" b="0" i="0" dirty="0">
                <a:solidFill>
                  <a:srgbClr val="070154"/>
                </a:solidFill>
                <a:latin typeface="IBM Plex Sans"/>
                <a:ea typeface="IBM Plex Sans"/>
                <a:cs typeface="IBM Plex Sans"/>
              </a:endParaRPr>
            </a:p>
          </p:txBody>
        </p:sp>
        <p:sp>
          <p:nvSpPr>
            <p:cNvPr id="46" name="node17.source-002.bullet"/>
            <p:cNvSpPr/>
            <p:nvPr/>
          </p:nvSpPr>
          <p:spPr>
            <a:xfrm>
              <a:off x="5113020" y="3467100"/>
              <a:ext cx="38100" cy="38100"/>
            </a:xfrm>
            <a:prstGeom prst="rect">
              <a:avLst/>
            </a:prstGeom>
            <a:solidFill>
              <a:srgbClr val="070154"/>
            </a:solidFill>
            <a:ln>
              <a:noFill/>
            </a:ln>
          </p:spPr>
        </p:sp>
        <p:sp>
          <p:nvSpPr>
            <p:cNvPr id="47" name="node17.source-002.text"/>
            <p:cNvSpPr/>
            <p:nvPr/>
          </p:nvSpPr>
          <p:spPr>
            <a:xfrm>
              <a:off x="5265420" y="3378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Lineage and evidence</a:t>
              </a:r>
              <a:endParaRPr lang="en-US" sz="1200" spc="0" kern="0" b="0" i="0" dirty="0">
                <a:solidFill>
                  <a:srgbClr val="070154"/>
                </a:solidFill>
                <a:latin typeface="IBM Plex Sans"/>
                <a:ea typeface="IBM Plex Sans"/>
                <a:cs typeface="IBM Plex Sans"/>
              </a:endParaRPr>
            </a:p>
          </p:txBody>
        </p:sp>
        <p:sp>
          <p:nvSpPr>
            <p:cNvPr id="48" name="node17.source-003.bullet"/>
            <p:cNvSpPr/>
            <p:nvPr/>
          </p:nvSpPr>
          <p:spPr>
            <a:xfrm>
              <a:off x="5113020" y="3721100"/>
              <a:ext cx="38100" cy="38100"/>
            </a:xfrm>
            <a:prstGeom prst="rect">
              <a:avLst/>
            </a:prstGeom>
            <a:solidFill>
              <a:srgbClr val="070154"/>
            </a:solidFill>
            <a:ln>
              <a:noFill/>
            </a:ln>
          </p:spPr>
        </p:sp>
        <p:sp>
          <p:nvSpPr>
            <p:cNvPr id="49" name="node17.source-003.text"/>
            <p:cNvSpPr/>
            <p:nvPr/>
          </p:nvSpPr>
          <p:spPr>
            <a:xfrm>
              <a:off x="5265420" y="3632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Access reviews done</a:t>
              </a:r>
              <a:endParaRPr lang="en-US" sz="1200" spc="0" kern="0" b="0" i="0" dirty="0">
                <a:solidFill>
                  <a:srgbClr val="070154"/>
                </a:solidFill>
                <a:latin typeface="IBM Plex Sans"/>
                <a:ea typeface="IBM Plex Sans"/>
                <a:cs typeface="IBM Plex Sans"/>
              </a:endParaRPr>
            </a:p>
          </p:txBody>
        </p:sp>
        <p:sp>
          <p:nvSpPr>
            <p:cNvPr id="50" name="node17.source-004.bullet"/>
            <p:cNvSpPr/>
            <p:nvPr/>
          </p:nvSpPr>
          <p:spPr>
            <a:xfrm>
              <a:off x="5113020" y="3975100"/>
              <a:ext cx="38100" cy="38100"/>
            </a:xfrm>
            <a:prstGeom prst="rect">
              <a:avLst/>
            </a:prstGeom>
            <a:solidFill>
              <a:srgbClr val="070154"/>
            </a:solidFill>
            <a:ln>
              <a:noFill/>
            </a:ln>
          </p:spPr>
        </p:sp>
        <p:sp>
          <p:nvSpPr>
            <p:cNvPr id="51" name="node17.source-004.text"/>
            <p:cNvSpPr/>
            <p:nvPr/>
          </p:nvSpPr>
          <p:spPr>
            <a:xfrm>
              <a:off x="5265420" y="3886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Gaps closed</a:t>
              </a:r>
              <a:endParaRPr lang="en-US" sz="1200" spc="0" kern="0" b="0" i="0" dirty="0">
                <a:solidFill>
                  <a:srgbClr val="070154"/>
                </a:solidFill>
                <a:latin typeface="IBM Plex Sans"/>
                <a:ea typeface="IBM Plex Sans"/>
                <a:cs typeface="IBM Plex Sans"/>
              </a:endParaRPr>
            </a:p>
          </p:txBody>
        </p:sp>
      </p:grpSp>
      <p:grpSp>
        <p:nvGrpSpPr>
          <p:cNvPr id="108" name="node18"/>
          <p:cNvGrpSpPr/>
          <p:nvPr/>
        </p:nvGrpSpPr>
        <p:grpSpPr>
          <a:xfrm>
            <a:off x="5113020" y="4343400"/>
            <a:ext cx="1965960" cy="139700"/>
            <a:chOff x="5113020" y="4343400"/>
            <a:chExt cx="1965960" cy="139700"/>
          </a:xfrm>
        </p:grpSpPr>
        <p:sp>
          <p:nvSpPr>
            <p:cNvPr id="52" name="node18.text"/>
            <p:cNvSpPr/>
            <p:nvPr/>
          </p:nvSpPr>
          <p:spPr>
            <a:xfrm>
              <a:off x="5113020" y="43434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ILLUSTRATIVE EXIT</a:t>
              </a:r>
              <a:endParaRPr lang="en-US" sz="800" spc="48" kern="0" b="0" i="0" dirty="0">
                <a:solidFill>
                  <a:srgbClr val="0047FF"/>
                </a:solidFill>
                <a:latin typeface="IBM Plex Mono Medium"/>
                <a:ea typeface="IBM Plex Mono Medium"/>
                <a:cs typeface="IBM Plex Mono Medium"/>
              </a:endParaRPr>
            </a:p>
          </p:txBody>
        </p:sp>
      </p:grpSp>
      <p:grpSp>
        <p:nvGrpSpPr>
          <p:cNvPr id="109" name="node19"/>
          <p:cNvGrpSpPr/>
          <p:nvPr/>
        </p:nvGrpSpPr>
        <p:grpSpPr>
          <a:xfrm>
            <a:off x="5113020" y="4572000"/>
            <a:ext cx="1965960" cy="685800"/>
            <a:chOff x="5113020" y="4572000"/>
            <a:chExt cx="1965960" cy="685800"/>
          </a:xfrm>
        </p:grpSpPr>
        <p:sp>
          <p:nvSpPr>
            <p:cNvPr id="53" name="node19.surface"/>
            <p:cNvSpPr/>
            <p:nvPr/>
          </p:nvSpPr>
          <p:spPr>
            <a:xfrm>
              <a:off x="5113020" y="4572000"/>
              <a:ext cx="1965960" cy="685800"/>
            </a:xfrm>
            <a:prstGeom prst="rect">
              <a:avLst/>
            </a:prstGeom>
            <a:solidFill>
              <a:srgbClr val="E8EEF8"/>
            </a:solidFill>
            <a:ln>
              <a:noFill/>
            </a:ln>
          </p:spPr>
        </p:sp>
        <p:sp>
          <p:nvSpPr>
            <p:cNvPr id="54" name="node19.text"/>
            <p:cNvSpPr/>
            <p:nvPr/>
          </p:nvSpPr>
          <p:spPr>
            <a:xfrm>
              <a:off x="5265420" y="4724400"/>
              <a:ext cx="166116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No unresolved critical gaps</a:t>
              </a:r>
              <a:endParaRPr lang="en-US" sz="1100" spc="0" kern="0" b="0" i="0" dirty="0">
                <a:solidFill>
                  <a:srgbClr val="070154"/>
                </a:solidFill>
                <a:latin typeface="IBM Plex Sans"/>
                <a:ea typeface="IBM Plex Sans"/>
                <a:cs typeface="IBM Plex Sans"/>
              </a:endParaRPr>
            </a:p>
          </p:txBody>
        </p:sp>
      </p:grpSp>
      <p:grpSp>
        <p:nvGrpSpPr>
          <p:cNvPr id="110" name="node20"/>
          <p:cNvGrpSpPr/>
          <p:nvPr/>
        </p:nvGrpSpPr>
        <p:grpSpPr>
          <a:xfrm>
            <a:off x="5113020" y="5410200"/>
            <a:ext cx="1965960" cy="139700"/>
            <a:chOff x="5113020" y="5410200"/>
            <a:chExt cx="1965960" cy="139700"/>
          </a:xfrm>
        </p:grpSpPr>
        <p:sp>
          <p:nvSpPr>
            <p:cNvPr id="55" name="node20.text"/>
            <p:cNvSpPr/>
            <p:nvPr/>
          </p:nvSpPr>
          <p:spPr>
            <a:xfrm>
              <a:off x="5113020" y="54102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DECISION OWNER</a:t>
              </a:r>
              <a:endParaRPr lang="en-US" sz="800" spc="48" kern="0" b="0" i="0" dirty="0">
                <a:solidFill>
                  <a:srgbClr val="0047FF"/>
                </a:solidFill>
                <a:latin typeface="IBM Plex Mono Medium"/>
                <a:ea typeface="IBM Plex Mono Medium"/>
                <a:cs typeface="IBM Plex Mono Medium"/>
              </a:endParaRPr>
            </a:p>
          </p:txBody>
        </p:sp>
      </p:grpSp>
      <p:grpSp>
        <p:nvGrpSpPr>
          <p:cNvPr id="111" name="node21"/>
          <p:cNvGrpSpPr/>
          <p:nvPr/>
        </p:nvGrpSpPr>
        <p:grpSpPr>
          <a:xfrm>
            <a:off x="5113020" y="5638800"/>
            <a:ext cx="1965960" cy="190500"/>
            <a:chOff x="5113020" y="5638800"/>
            <a:chExt cx="1965960" cy="190500"/>
          </a:xfrm>
        </p:grpSpPr>
        <p:sp>
          <p:nvSpPr>
            <p:cNvPr id="56" name="node21.text"/>
            <p:cNvSpPr/>
            <p:nvPr/>
          </p:nvSpPr>
          <p:spPr>
            <a:xfrm>
              <a:off x="5113020" y="5638800"/>
              <a:ext cx="19659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Governance lead</a:t>
              </a:r>
              <a:endParaRPr lang="en-US" sz="1100" spc="0" kern="0" b="0" i="0" dirty="0">
                <a:solidFill>
                  <a:srgbClr val="070154"/>
                </a:solidFill>
                <a:latin typeface="IBM Plex Sans"/>
                <a:ea typeface="IBM Plex Sans"/>
                <a:cs typeface="IBM Plex Sans"/>
              </a:endParaRPr>
            </a:p>
          </p:txBody>
        </p:sp>
      </p:grpSp>
      <p:grpSp>
        <p:nvGrpSpPr>
          <p:cNvPr id="112" name="node22"/>
          <p:cNvGrpSpPr/>
          <p:nvPr/>
        </p:nvGrpSpPr>
        <p:grpSpPr>
          <a:xfrm>
            <a:off x="7307580" y="2057400"/>
            <a:ext cx="1965960" cy="685800"/>
            <a:chOff x="7307580" y="2057400"/>
            <a:chExt cx="1965960" cy="685800"/>
          </a:xfrm>
        </p:grpSpPr>
        <p:sp>
          <p:nvSpPr>
            <p:cNvPr id="57" name="node22.container"/>
            <p:cNvSpPr/>
            <p:nvPr/>
          </p:nvSpPr>
          <p:spPr>
            <a:xfrm>
              <a:off x="7307580" y="2057400"/>
              <a:ext cx="1965960" cy="685800"/>
            </a:xfrm>
            <a:prstGeom prst="rect">
              <a:avLst/>
            </a:prstGeom>
            <a:solidFill>
              <a:srgbClr val="070154"/>
            </a:solidFill>
            <a:ln>
              <a:noFill/>
            </a:ln>
          </p:spPr>
        </p:sp>
        <p:sp>
          <p:nvSpPr>
            <p:cNvPr id="58" name="node22.number"/>
            <p:cNvSpPr/>
            <p:nvPr/>
          </p:nvSpPr>
          <p:spPr>
            <a:xfrm>
              <a:off x="7459980" y="2209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04</a:t>
              </a:r>
              <a:endParaRPr lang="en-US" sz="1600" spc="0" kern="0" b="0" i="0" dirty="0">
                <a:solidFill>
                  <a:srgbClr val="F900D3"/>
                </a:solidFill>
                <a:latin typeface="IBM Plex Mono SemiBold"/>
                <a:ea typeface="IBM Plex Mono SemiBold"/>
                <a:cs typeface="IBM Plex Mono SemiBold"/>
              </a:endParaRPr>
            </a:p>
          </p:txBody>
        </p:sp>
        <p:sp>
          <p:nvSpPr>
            <p:cNvPr id="59" name="node22.title"/>
            <p:cNvSpPr/>
            <p:nvPr/>
          </p:nvSpPr>
          <p:spPr>
            <a:xfrm>
              <a:off x="7831455" y="2209546"/>
              <a:ext cx="128968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Service</a:t>
              </a:r>
              <a:endParaRPr lang="en-US" sz="1600" spc="-16" kern="0" b="0" i="0" dirty="0">
                <a:solidFill>
                  <a:srgbClr val="FFFFFF"/>
                </a:solidFill>
                <a:latin typeface="IBM Plex Sans SemiBold"/>
                <a:ea typeface="IBM Plex Sans SemiBold"/>
                <a:cs typeface="IBM Plex Sans SemiBold"/>
              </a:endParaRPr>
            </a:p>
          </p:txBody>
        </p:sp>
      </p:grpSp>
      <p:grpSp>
        <p:nvGrpSpPr>
          <p:cNvPr id="113" name="node23"/>
          <p:cNvGrpSpPr/>
          <p:nvPr/>
        </p:nvGrpSpPr>
        <p:grpSpPr>
          <a:xfrm>
            <a:off x="7307580" y="2895600"/>
            <a:ext cx="1965960" cy="139700"/>
            <a:chOff x="7307580" y="2895600"/>
            <a:chExt cx="1965960" cy="139700"/>
          </a:xfrm>
        </p:grpSpPr>
        <p:sp>
          <p:nvSpPr>
            <p:cNvPr id="60" name="node23.text"/>
            <p:cNvSpPr/>
            <p:nvPr/>
          </p:nvSpPr>
          <p:spPr>
            <a:xfrm>
              <a:off x="7307580" y="28956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EVIDENCE REQUIRED</a:t>
              </a:r>
              <a:endParaRPr lang="en-US" sz="800" spc="48" kern="0" b="0" i="0" dirty="0">
                <a:solidFill>
                  <a:srgbClr val="0047FF"/>
                </a:solidFill>
                <a:latin typeface="IBM Plex Mono Medium"/>
                <a:ea typeface="IBM Plex Mono Medium"/>
                <a:cs typeface="IBM Plex Mono Medium"/>
              </a:endParaRPr>
            </a:p>
          </p:txBody>
        </p:sp>
      </p:grpSp>
      <p:grpSp>
        <p:nvGrpSpPr>
          <p:cNvPr id="114" name="node24"/>
          <p:cNvGrpSpPr/>
          <p:nvPr/>
        </p:nvGrpSpPr>
        <p:grpSpPr>
          <a:xfrm>
            <a:off x="7307580" y="3124200"/>
            <a:ext cx="1965960" cy="977900"/>
            <a:chOff x="7307580" y="3124200"/>
            <a:chExt cx="1965960" cy="977900"/>
          </a:xfrm>
        </p:grpSpPr>
        <p:sp>
          <p:nvSpPr>
            <p:cNvPr id="61" name="node24.source-001.bullet"/>
            <p:cNvSpPr/>
            <p:nvPr/>
          </p:nvSpPr>
          <p:spPr>
            <a:xfrm>
              <a:off x="7307580" y="3213100"/>
              <a:ext cx="38100" cy="38100"/>
            </a:xfrm>
            <a:prstGeom prst="rect">
              <a:avLst/>
            </a:prstGeom>
            <a:solidFill>
              <a:srgbClr val="070154"/>
            </a:solidFill>
            <a:ln>
              <a:noFill/>
            </a:ln>
          </p:spPr>
        </p:sp>
        <p:sp>
          <p:nvSpPr>
            <p:cNvPr id="62" name="node24.source-001.text"/>
            <p:cNvSpPr/>
            <p:nvPr/>
          </p:nvSpPr>
          <p:spPr>
            <a:xfrm>
              <a:off x="7459980" y="3124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Ownership clear</a:t>
              </a:r>
              <a:endParaRPr lang="en-US" sz="1200" spc="0" kern="0" b="0" i="0" dirty="0">
                <a:solidFill>
                  <a:srgbClr val="070154"/>
                </a:solidFill>
                <a:latin typeface="IBM Plex Sans"/>
                <a:ea typeface="IBM Plex Sans"/>
                <a:cs typeface="IBM Plex Sans"/>
              </a:endParaRPr>
            </a:p>
          </p:txBody>
        </p:sp>
        <p:sp>
          <p:nvSpPr>
            <p:cNvPr id="63" name="node24.source-002.bullet"/>
            <p:cNvSpPr/>
            <p:nvPr/>
          </p:nvSpPr>
          <p:spPr>
            <a:xfrm>
              <a:off x="7307580" y="3467100"/>
              <a:ext cx="38100" cy="38100"/>
            </a:xfrm>
            <a:prstGeom prst="rect">
              <a:avLst/>
            </a:prstGeom>
            <a:solidFill>
              <a:srgbClr val="070154"/>
            </a:solidFill>
            <a:ln>
              <a:noFill/>
            </a:ln>
          </p:spPr>
        </p:sp>
        <p:sp>
          <p:nvSpPr>
            <p:cNvPr id="64" name="node24.source-002.text"/>
            <p:cNvSpPr/>
            <p:nvPr/>
          </p:nvSpPr>
          <p:spPr>
            <a:xfrm>
              <a:off x="7459980" y="3378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Support tiers tested</a:t>
              </a:r>
              <a:endParaRPr lang="en-US" sz="1200" spc="0" kern="0" b="0" i="0" dirty="0">
                <a:solidFill>
                  <a:srgbClr val="070154"/>
                </a:solidFill>
                <a:latin typeface="IBM Plex Sans"/>
                <a:ea typeface="IBM Plex Sans"/>
                <a:cs typeface="IBM Plex Sans"/>
              </a:endParaRPr>
            </a:p>
          </p:txBody>
        </p:sp>
        <p:sp>
          <p:nvSpPr>
            <p:cNvPr id="65" name="node24.source-003.bullet"/>
            <p:cNvSpPr/>
            <p:nvPr/>
          </p:nvSpPr>
          <p:spPr>
            <a:xfrm>
              <a:off x="7307580" y="3721100"/>
              <a:ext cx="38100" cy="38100"/>
            </a:xfrm>
            <a:prstGeom prst="rect">
              <a:avLst/>
            </a:prstGeom>
            <a:solidFill>
              <a:srgbClr val="070154"/>
            </a:solidFill>
            <a:ln>
              <a:noFill/>
            </a:ln>
          </p:spPr>
        </p:sp>
        <p:sp>
          <p:nvSpPr>
            <p:cNvPr id="66" name="node24.source-003.text"/>
            <p:cNvSpPr/>
            <p:nvPr/>
          </p:nvSpPr>
          <p:spPr>
            <a:xfrm>
              <a:off x="7459980" y="3632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Onboarding working</a:t>
              </a:r>
              <a:endParaRPr lang="en-US" sz="1200" spc="0" kern="0" b="0" i="0" dirty="0">
                <a:solidFill>
                  <a:srgbClr val="070154"/>
                </a:solidFill>
                <a:latin typeface="IBM Plex Sans"/>
                <a:ea typeface="IBM Plex Sans"/>
                <a:cs typeface="IBM Plex Sans"/>
              </a:endParaRPr>
            </a:p>
          </p:txBody>
        </p:sp>
        <p:sp>
          <p:nvSpPr>
            <p:cNvPr id="67" name="node24.source-004.bullet"/>
            <p:cNvSpPr/>
            <p:nvPr/>
          </p:nvSpPr>
          <p:spPr>
            <a:xfrm>
              <a:off x="7307580" y="3975100"/>
              <a:ext cx="38100" cy="38100"/>
            </a:xfrm>
            <a:prstGeom prst="rect">
              <a:avLst/>
            </a:prstGeom>
            <a:solidFill>
              <a:srgbClr val="070154"/>
            </a:solidFill>
            <a:ln>
              <a:noFill/>
            </a:ln>
          </p:spPr>
        </p:sp>
        <p:sp>
          <p:nvSpPr>
            <p:cNvPr id="68" name="node24.source-004.text"/>
            <p:cNvSpPr/>
            <p:nvPr/>
          </p:nvSpPr>
          <p:spPr>
            <a:xfrm>
              <a:off x="7459980" y="3886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Handover agreed</a:t>
              </a:r>
              <a:endParaRPr lang="en-US" sz="1200" spc="0" kern="0" b="0" i="0" dirty="0">
                <a:solidFill>
                  <a:srgbClr val="070154"/>
                </a:solidFill>
                <a:latin typeface="IBM Plex Sans"/>
                <a:ea typeface="IBM Plex Sans"/>
                <a:cs typeface="IBM Plex Sans"/>
              </a:endParaRPr>
            </a:p>
          </p:txBody>
        </p:sp>
      </p:grpSp>
      <p:grpSp>
        <p:nvGrpSpPr>
          <p:cNvPr id="115" name="node25"/>
          <p:cNvGrpSpPr/>
          <p:nvPr/>
        </p:nvGrpSpPr>
        <p:grpSpPr>
          <a:xfrm>
            <a:off x="7307580" y="4343400"/>
            <a:ext cx="1965960" cy="139700"/>
            <a:chOff x="7307580" y="4343400"/>
            <a:chExt cx="1965960" cy="139700"/>
          </a:xfrm>
        </p:grpSpPr>
        <p:sp>
          <p:nvSpPr>
            <p:cNvPr id="69" name="node25.text"/>
            <p:cNvSpPr/>
            <p:nvPr/>
          </p:nvSpPr>
          <p:spPr>
            <a:xfrm>
              <a:off x="7307580" y="43434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ILLUSTRATIVE EXIT</a:t>
              </a:r>
              <a:endParaRPr lang="en-US" sz="800" spc="48" kern="0" b="0" i="0" dirty="0">
                <a:solidFill>
                  <a:srgbClr val="0047FF"/>
                </a:solidFill>
                <a:latin typeface="IBM Plex Mono Medium"/>
                <a:ea typeface="IBM Plex Mono Medium"/>
                <a:cs typeface="IBM Plex Mono Medium"/>
              </a:endParaRPr>
            </a:p>
          </p:txBody>
        </p:sp>
      </p:grpSp>
      <p:grpSp>
        <p:nvGrpSpPr>
          <p:cNvPr id="116" name="node26"/>
          <p:cNvGrpSpPr/>
          <p:nvPr/>
        </p:nvGrpSpPr>
        <p:grpSpPr>
          <a:xfrm>
            <a:off x="7307580" y="4572000"/>
            <a:ext cx="1965960" cy="685800"/>
            <a:chOff x="7307580" y="4572000"/>
            <a:chExt cx="1965960" cy="685800"/>
          </a:xfrm>
        </p:grpSpPr>
        <p:sp>
          <p:nvSpPr>
            <p:cNvPr id="70" name="node26.surface"/>
            <p:cNvSpPr/>
            <p:nvPr/>
          </p:nvSpPr>
          <p:spPr>
            <a:xfrm>
              <a:off x="7307580" y="4572000"/>
              <a:ext cx="1965960" cy="685800"/>
            </a:xfrm>
            <a:prstGeom prst="rect">
              <a:avLst/>
            </a:prstGeom>
            <a:solidFill>
              <a:srgbClr val="E8EEF8"/>
            </a:solidFill>
            <a:ln>
              <a:noFill/>
            </a:ln>
          </p:spPr>
        </p:sp>
        <p:sp>
          <p:nvSpPr>
            <p:cNvPr id="71" name="node26.text"/>
            <p:cNvSpPr/>
            <p:nvPr/>
          </p:nvSpPr>
          <p:spPr>
            <a:xfrm>
              <a:off x="7459980" y="4724400"/>
              <a:ext cx="166116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Support accepted by Northfield</a:t>
              </a:r>
              <a:endParaRPr lang="en-US" sz="1100" spc="0" kern="0" b="0" i="0" dirty="0">
                <a:solidFill>
                  <a:srgbClr val="070154"/>
                </a:solidFill>
                <a:latin typeface="IBM Plex Sans"/>
                <a:ea typeface="IBM Plex Sans"/>
                <a:cs typeface="IBM Plex Sans"/>
              </a:endParaRPr>
            </a:p>
          </p:txBody>
        </p:sp>
      </p:grpSp>
      <p:grpSp>
        <p:nvGrpSpPr>
          <p:cNvPr id="117" name="node27"/>
          <p:cNvGrpSpPr/>
          <p:nvPr/>
        </p:nvGrpSpPr>
        <p:grpSpPr>
          <a:xfrm>
            <a:off x="7307580" y="5410200"/>
            <a:ext cx="1965960" cy="139700"/>
            <a:chOff x="7307580" y="5410200"/>
            <a:chExt cx="1965960" cy="139700"/>
          </a:xfrm>
        </p:grpSpPr>
        <p:sp>
          <p:nvSpPr>
            <p:cNvPr id="72" name="node27.text"/>
            <p:cNvSpPr/>
            <p:nvPr/>
          </p:nvSpPr>
          <p:spPr>
            <a:xfrm>
              <a:off x="7307580" y="54102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DECISION OWNER</a:t>
              </a:r>
              <a:endParaRPr lang="en-US" sz="800" spc="48" kern="0" b="0" i="0" dirty="0">
                <a:solidFill>
                  <a:srgbClr val="0047FF"/>
                </a:solidFill>
                <a:latin typeface="IBM Plex Mono Medium"/>
                <a:ea typeface="IBM Plex Mono Medium"/>
                <a:cs typeface="IBM Plex Mono Medium"/>
              </a:endParaRPr>
            </a:p>
          </p:txBody>
        </p:sp>
      </p:grpSp>
      <p:grpSp>
        <p:nvGrpSpPr>
          <p:cNvPr id="118" name="node28"/>
          <p:cNvGrpSpPr/>
          <p:nvPr/>
        </p:nvGrpSpPr>
        <p:grpSpPr>
          <a:xfrm>
            <a:off x="7307580" y="5638800"/>
            <a:ext cx="1965960" cy="190500"/>
            <a:chOff x="7307580" y="5638800"/>
            <a:chExt cx="1965960" cy="190500"/>
          </a:xfrm>
        </p:grpSpPr>
        <p:sp>
          <p:nvSpPr>
            <p:cNvPr id="73" name="node28.text"/>
            <p:cNvSpPr/>
            <p:nvPr/>
          </p:nvSpPr>
          <p:spPr>
            <a:xfrm>
              <a:off x="7307580" y="5638800"/>
              <a:ext cx="19659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Service owner</a:t>
              </a:r>
              <a:endParaRPr lang="en-US" sz="1100" spc="0" kern="0" b="0" i="0" dirty="0">
                <a:solidFill>
                  <a:srgbClr val="070154"/>
                </a:solidFill>
                <a:latin typeface="IBM Plex Sans"/>
                <a:ea typeface="IBM Plex Sans"/>
                <a:cs typeface="IBM Plex Sans"/>
              </a:endParaRPr>
            </a:p>
          </p:txBody>
        </p:sp>
      </p:grpSp>
      <p:grpSp>
        <p:nvGrpSpPr>
          <p:cNvPr id="119" name="node29"/>
          <p:cNvGrpSpPr/>
          <p:nvPr/>
        </p:nvGrpSpPr>
        <p:grpSpPr>
          <a:xfrm>
            <a:off x="9502140" y="2057400"/>
            <a:ext cx="1965960" cy="685800"/>
            <a:chOff x="9502140" y="2057400"/>
            <a:chExt cx="1965960" cy="685800"/>
          </a:xfrm>
        </p:grpSpPr>
        <p:sp>
          <p:nvSpPr>
            <p:cNvPr id="74" name="node29.container"/>
            <p:cNvSpPr/>
            <p:nvPr/>
          </p:nvSpPr>
          <p:spPr>
            <a:xfrm>
              <a:off x="9502140" y="2057400"/>
              <a:ext cx="1965960" cy="685800"/>
            </a:xfrm>
            <a:prstGeom prst="rect">
              <a:avLst/>
            </a:prstGeom>
            <a:solidFill>
              <a:srgbClr val="070154"/>
            </a:solidFill>
            <a:ln>
              <a:noFill/>
            </a:ln>
          </p:spPr>
        </p:sp>
        <p:sp>
          <p:nvSpPr>
            <p:cNvPr id="75" name="node29.number"/>
            <p:cNvSpPr/>
            <p:nvPr/>
          </p:nvSpPr>
          <p:spPr>
            <a:xfrm>
              <a:off x="9654540" y="22098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05</a:t>
              </a:r>
              <a:endParaRPr lang="en-US" sz="1600" spc="0" kern="0" b="0" i="0" dirty="0">
                <a:solidFill>
                  <a:srgbClr val="F900D3"/>
                </a:solidFill>
                <a:latin typeface="IBM Plex Mono SemiBold"/>
                <a:ea typeface="IBM Plex Mono SemiBold"/>
                <a:cs typeface="IBM Plex Mono SemiBold"/>
              </a:endParaRPr>
            </a:p>
          </p:txBody>
        </p:sp>
        <p:sp>
          <p:nvSpPr>
            <p:cNvPr id="76" name="node29.title"/>
            <p:cNvSpPr/>
            <p:nvPr/>
          </p:nvSpPr>
          <p:spPr>
            <a:xfrm>
              <a:off x="10026015" y="2209546"/>
              <a:ext cx="128968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Financial</a:t>
              </a:r>
              <a:endParaRPr lang="en-US" sz="1600" spc="-16" kern="0" b="0" i="0" dirty="0">
                <a:solidFill>
                  <a:srgbClr val="FFFFFF"/>
                </a:solidFill>
                <a:latin typeface="IBM Plex Sans SemiBold"/>
                <a:ea typeface="IBM Plex Sans SemiBold"/>
                <a:cs typeface="IBM Plex Sans SemiBold"/>
              </a:endParaRPr>
            </a:p>
          </p:txBody>
        </p:sp>
      </p:grpSp>
      <p:grpSp>
        <p:nvGrpSpPr>
          <p:cNvPr id="120" name="node30"/>
          <p:cNvGrpSpPr/>
          <p:nvPr/>
        </p:nvGrpSpPr>
        <p:grpSpPr>
          <a:xfrm>
            <a:off x="9502140" y="2895600"/>
            <a:ext cx="1965960" cy="139700"/>
            <a:chOff x="9502140" y="2895600"/>
            <a:chExt cx="1965960" cy="139700"/>
          </a:xfrm>
        </p:grpSpPr>
        <p:sp>
          <p:nvSpPr>
            <p:cNvPr id="77" name="node30.text"/>
            <p:cNvSpPr/>
            <p:nvPr/>
          </p:nvSpPr>
          <p:spPr>
            <a:xfrm>
              <a:off x="9502140" y="28956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EVIDENCE REQUIRED</a:t>
              </a:r>
              <a:endParaRPr lang="en-US" sz="800" spc="48" kern="0" b="0" i="0" dirty="0">
                <a:solidFill>
                  <a:srgbClr val="0047FF"/>
                </a:solidFill>
                <a:latin typeface="IBM Plex Mono Medium"/>
                <a:ea typeface="IBM Plex Mono Medium"/>
                <a:cs typeface="IBM Plex Mono Medium"/>
              </a:endParaRPr>
            </a:p>
          </p:txBody>
        </p:sp>
      </p:grpSp>
      <p:grpSp>
        <p:nvGrpSpPr>
          <p:cNvPr id="121" name="node31"/>
          <p:cNvGrpSpPr/>
          <p:nvPr/>
        </p:nvGrpSpPr>
        <p:grpSpPr>
          <a:xfrm>
            <a:off x="9502140" y="3124200"/>
            <a:ext cx="1965960" cy="977900"/>
            <a:chOff x="9502140" y="3124200"/>
            <a:chExt cx="1965960" cy="977900"/>
          </a:xfrm>
        </p:grpSpPr>
        <p:sp>
          <p:nvSpPr>
            <p:cNvPr id="78" name="node31.source-001.bullet"/>
            <p:cNvSpPr/>
            <p:nvPr/>
          </p:nvSpPr>
          <p:spPr>
            <a:xfrm>
              <a:off x="9502140" y="3213100"/>
              <a:ext cx="38100" cy="38100"/>
            </a:xfrm>
            <a:prstGeom prst="rect">
              <a:avLst/>
            </a:prstGeom>
            <a:solidFill>
              <a:srgbClr val="070154"/>
            </a:solidFill>
            <a:ln>
              <a:noFill/>
            </a:ln>
          </p:spPr>
        </p:sp>
        <p:sp>
          <p:nvSpPr>
            <p:cNvPr id="79" name="node31.source-001.text"/>
            <p:cNvSpPr/>
            <p:nvPr/>
          </p:nvSpPr>
          <p:spPr>
            <a:xfrm>
              <a:off x="9654540" y="3124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Cost visible</a:t>
              </a:r>
              <a:endParaRPr lang="en-US" sz="1200" spc="0" kern="0" b="0" i="0" dirty="0">
                <a:solidFill>
                  <a:srgbClr val="070154"/>
                </a:solidFill>
                <a:latin typeface="IBM Plex Sans"/>
                <a:ea typeface="IBM Plex Sans"/>
                <a:cs typeface="IBM Plex Sans"/>
              </a:endParaRPr>
            </a:p>
          </p:txBody>
        </p:sp>
        <p:sp>
          <p:nvSpPr>
            <p:cNvPr id="80" name="node31.source-002.bullet"/>
            <p:cNvSpPr/>
            <p:nvPr/>
          </p:nvSpPr>
          <p:spPr>
            <a:xfrm>
              <a:off x="9502140" y="3467100"/>
              <a:ext cx="38100" cy="38100"/>
            </a:xfrm>
            <a:prstGeom prst="rect">
              <a:avLst/>
            </a:prstGeom>
            <a:solidFill>
              <a:srgbClr val="070154"/>
            </a:solidFill>
            <a:ln>
              <a:noFill/>
            </a:ln>
          </p:spPr>
        </p:sp>
        <p:sp>
          <p:nvSpPr>
            <p:cNvPr id="81" name="node31.source-002.text"/>
            <p:cNvSpPr/>
            <p:nvPr/>
          </p:nvSpPr>
          <p:spPr>
            <a:xfrm>
              <a:off x="9654540" y="3378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Demand forecastable</a:t>
              </a:r>
              <a:endParaRPr lang="en-US" sz="1200" spc="0" kern="0" b="0" i="0" dirty="0">
                <a:solidFill>
                  <a:srgbClr val="070154"/>
                </a:solidFill>
                <a:latin typeface="IBM Plex Sans"/>
                <a:ea typeface="IBM Plex Sans"/>
                <a:cs typeface="IBM Plex Sans"/>
              </a:endParaRPr>
            </a:p>
          </p:txBody>
        </p:sp>
        <p:sp>
          <p:nvSpPr>
            <p:cNvPr id="82" name="node31.source-003.bullet"/>
            <p:cNvSpPr/>
            <p:nvPr/>
          </p:nvSpPr>
          <p:spPr>
            <a:xfrm>
              <a:off x="9502140" y="3721100"/>
              <a:ext cx="38100" cy="38100"/>
            </a:xfrm>
            <a:prstGeom prst="rect">
              <a:avLst/>
            </a:prstGeom>
            <a:solidFill>
              <a:srgbClr val="070154"/>
            </a:solidFill>
            <a:ln>
              <a:noFill/>
            </a:ln>
          </p:spPr>
        </p:sp>
        <p:sp>
          <p:nvSpPr>
            <p:cNvPr id="83" name="node31.source-003.text"/>
            <p:cNvSpPr/>
            <p:nvPr/>
          </p:nvSpPr>
          <p:spPr>
            <a:xfrm>
              <a:off x="9654540" y="3632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Value demonstrated</a:t>
              </a:r>
              <a:endParaRPr lang="en-US" sz="1200" spc="0" kern="0" b="0" i="0" dirty="0">
                <a:solidFill>
                  <a:srgbClr val="070154"/>
                </a:solidFill>
                <a:latin typeface="IBM Plex Sans"/>
                <a:ea typeface="IBM Plex Sans"/>
                <a:cs typeface="IBM Plex Sans"/>
              </a:endParaRPr>
            </a:p>
          </p:txBody>
        </p:sp>
        <p:sp>
          <p:nvSpPr>
            <p:cNvPr id="84" name="node31.source-004.bullet"/>
            <p:cNvSpPr/>
            <p:nvPr/>
          </p:nvSpPr>
          <p:spPr>
            <a:xfrm>
              <a:off x="9502140" y="3975100"/>
              <a:ext cx="38100" cy="38100"/>
            </a:xfrm>
            <a:prstGeom prst="rect">
              <a:avLst/>
            </a:prstGeom>
            <a:solidFill>
              <a:srgbClr val="070154"/>
            </a:solidFill>
            <a:ln>
              <a:noFill/>
            </a:ln>
          </p:spPr>
        </p:sp>
        <p:sp>
          <p:nvSpPr>
            <p:cNvPr id="85" name="node31.source-004.text"/>
            <p:cNvSpPr/>
            <p:nvPr/>
          </p:nvSpPr>
          <p:spPr>
            <a:xfrm>
              <a:off x="9654540" y="3886200"/>
              <a:ext cx="181356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Savings tracked</a:t>
              </a:r>
              <a:endParaRPr lang="en-US" sz="1200" spc="0" kern="0" b="0" i="0" dirty="0">
                <a:solidFill>
                  <a:srgbClr val="070154"/>
                </a:solidFill>
                <a:latin typeface="IBM Plex Sans"/>
                <a:ea typeface="IBM Plex Sans"/>
                <a:cs typeface="IBM Plex Sans"/>
              </a:endParaRPr>
            </a:p>
          </p:txBody>
        </p:sp>
      </p:grpSp>
      <p:grpSp>
        <p:nvGrpSpPr>
          <p:cNvPr id="122" name="node32"/>
          <p:cNvGrpSpPr/>
          <p:nvPr/>
        </p:nvGrpSpPr>
        <p:grpSpPr>
          <a:xfrm>
            <a:off x="9502140" y="4343400"/>
            <a:ext cx="1965960" cy="139700"/>
            <a:chOff x="9502140" y="4343400"/>
            <a:chExt cx="1965960" cy="139700"/>
          </a:xfrm>
        </p:grpSpPr>
        <p:sp>
          <p:nvSpPr>
            <p:cNvPr id="86" name="node32.text"/>
            <p:cNvSpPr/>
            <p:nvPr/>
          </p:nvSpPr>
          <p:spPr>
            <a:xfrm>
              <a:off x="9502140" y="43434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ILLUSTRATIVE EXIT</a:t>
              </a:r>
              <a:endParaRPr lang="en-US" sz="800" spc="48" kern="0" b="0" i="0" dirty="0">
                <a:solidFill>
                  <a:srgbClr val="0047FF"/>
                </a:solidFill>
                <a:latin typeface="IBM Plex Mono Medium"/>
                <a:ea typeface="IBM Plex Mono Medium"/>
                <a:cs typeface="IBM Plex Mono Medium"/>
              </a:endParaRPr>
            </a:p>
          </p:txBody>
        </p:sp>
      </p:grpSp>
      <p:grpSp>
        <p:nvGrpSpPr>
          <p:cNvPr id="123" name="node33"/>
          <p:cNvGrpSpPr/>
          <p:nvPr/>
        </p:nvGrpSpPr>
        <p:grpSpPr>
          <a:xfrm>
            <a:off x="9502140" y="4572000"/>
            <a:ext cx="1965960" cy="685800"/>
            <a:chOff x="9502140" y="4572000"/>
            <a:chExt cx="1965960" cy="685800"/>
          </a:xfrm>
        </p:grpSpPr>
        <p:sp>
          <p:nvSpPr>
            <p:cNvPr id="87" name="node33.surface"/>
            <p:cNvSpPr/>
            <p:nvPr/>
          </p:nvSpPr>
          <p:spPr>
            <a:xfrm>
              <a:off x="9502140" y="4572000"/>
              <a:ext cx="1965960" cy="685800"/>
            </a:xfrm>
            <a:prstGeom prst="rect">
              <a:avLst/>
            </a:prstGeom>
            <a:solidFill>
              <a:srgbClr val="E8EEF8"/>
            </a:solidFill>
            <a:ln>
              <a:noFill/>
            </a:ln>
          </p:spPr>
        </p:sp>
        <p:sp>
          <p:nvSpPr>
            <p:cNvPr id="88" name="node33.text"/>
            <p:cNvSpPr/>
            <p:nvPr/>
          </p:nvSpPr>
          <p:spPr>
            <a:xfrm>
              <a:off x="9654540" y="4724400"/>
              <a:ext cx="166116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Sustainable operating basis</a:t>
              </a:r>
              <a:endParaRPr lang="en-US" sz="1100" spc="0" kern="0" b="0" i="0" dirty="0">
                <a:solidFill>
                  <a:srgbClr val="070154"/>
                </a:solidFill>
                <a:latin typeface="IBM Plex Sans"/>
                <a:ea typeface="IBM Plex Sans"/>
                <a:cs typeface="IBM Plex Sans"/>
              </a:endParaRPr>
            </a:p>
          </p:txBody>
        </p:sp>
      </p:grpSp>
      <p:grpSp>
        <p:nvGrpSpPr>
          <p:cNvPr id="124" name="node34"/>
          <p:cNvGrpSpPr/>
          <p:nvPr/>
        </p:nvGrpSpPr>
        <p:grpSpPr>
          <a:xfrm>
            <a:off x="9502140" y="5410200"/>
            <a:ext cx="1965960" cy="139700"/>
            <a:chOff x="9502140" y="5410200"/>
            <a:chExt cx="1965960" cy="139700"/>
          </a:xfrm>
        </p:grpSpPr>
        <p:sp>
          <p:nvSpPr>
            <p:cNvPr id="89" name="node34.text"/>
            <p:cNvSpPr/>
            <p:nvPr/>
          </p:nvSpPr>
          <p:spPr>
            <a:xfrm>
              <a:off x="9502140" y="5410200"/>
              <a:ext cx="196596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DECISION OWNER</a:t>
              </a:r>
              <a:endParaRPr lang="en-US" sz="800" spc="48" kern="0" b="0" i="0" dirty="0">
                <a:solidFill>
                  <a:srgbClr val="0047FF"/>
                </a:solidFill>
                <a:latin typeface="IBM Plex Mono Medium"/>
                <a:ea typeface="IBM Plex Mono Medium"/>
                <a:cs typeface="IBM Plex Mono Medium"/>
              </a:endParaRPr>
            </a:p>
          </p:txBody>
        </p:sp>
      </p:grpSp>
      <p:grpSp>
        <p:nvGrpSpPr>
          <p:cNvPr id="125" name="node35"/>
          <p:cNvGrpSpPr/>
          <p:nvPr/>
        </p:nvGrpSpPr>
        <p:grpSpPr>
          <a:xfrm>
            <a:off x="9502140" y="5638800"/>
            <a:ext cx="1965960" cy="190500"/>
            <a:chOff x="9502140" y="5638800"/>
            <a:chExt cx="1965960" cy="190500"/>
          </a:xfrm>
        </p:grpSpPr>
        <p:sp>
          <p:nvSpPr>
            <p:cNvPr id="90" name="node35.text"/>
            <p:cNvSpPr/>
            <p:nvPr/>
          </p:nvSpPr>
          <p:spPr>
            <a:xfrm>
              <a:off x="9502140" y="5638800"/>
              <a:ext cx="196596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Finance sponsor</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ource-49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OPTIONS</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5858355" y="733532"/>
            <a:ext cx="3355936"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Seven options, one common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decision language</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135</a:t>
            </a:fld>
            <a:endParaRPr lang="en-US" sz="700" spc="0" kern="0" b="0" i="0" dirty="0">
              <a:solidFill>
                <a:srgbClr val="070154"/>
              </a:solidFill>
              <a:latin typeface="IBM Plex Mono SemiBold"/>
              <a:ea typeface="IBM Plex Mono SemiBold"/>
              <a:cs typeface="IBM Plex Mono SemiBold"/>
            </a:endParaRPr>
          </a:p>
        </p:txBody>
      </p:sp>
      <p:grpSp>
        <p:nvGrpSpPr>
          <p:cNvPr id="64" name="node01"/>
          <p:cNvGrpSpPr/>
          <p:nvPr/>
        </p:nvGrpSpPr>
        <p:grpSpPr>
          <a:xfrm>
            <a:off x="723900" y="1600200"/>
            <a:ext cx="2743200" cy="139700"/>
            <a:chOff x="723900" y="1600200"/>
            <a:chExt cx="2743200" cy="139700"/>
          </a:xfrm>
        </p:grpSpPr>
        <p:sp>
          <p:nvSpPr>
            <p:cNvPr id="7" name="node01.text"/>
            <p:cNvSpPr/>
            <p:nvPr/>
          </p:nvSpPr>
          <p:spPr>
            <a:xfrm>
              <a:off x="723900" y="1600200"/>
              <a:ext cx="2743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KEEP OR RETIRE</a:t>
              </a:r>
              <a:endParaRPr lang="en-US" sz="800" spc="48" kern="0" b="0" i="0" dirty="0">
                <a:solidFill>
                  <a:srgbClr val="50658E"/>
                </a:solidFill>
                <a:latin typeface="IBM Plex Mono Medium"/>
                <a:ea typeface="IBM Plex Mono Medium"/>
                <a:cs typeface="IBM Plex Mono Medium"/>
              </a:endParaRPr>
            </a:p>
          </p:txBody>
        </p:sp>
      </p:grpSp>
      <p:sp>
        <p:nvSpPr>
          <p:cNvPr id="8" name="node02"/>
          <p:cNvSpPr/>
          <p:nvPr/>
        </p:nvSpPr>
        <p:spPr>
          <a:xfrm>
            <a:off x="723900" y="1905000"/>
            <a:ext cx="2743200" cy="38100"/>
          </a:xfrm>
          <a:prstGeom prst="rect">
            <a:avLst/>
          </a:prstGeom>
          <a:solidFill>
            <a:srgbClr val="0047FF"/>
          </a:solidFill>
          <a:ln>
            <a:noFill/>
          </a:ln>
        </p:spPr>
      </p:sp>
      <p:grpSp>
        <p:nvGrpSpPr>
          <p:cNvPr id="65" name="node03"/>
          <p:cNvGrpSpPr/>
          <p:nvPr/>
        </p:nvGrpSpPr>
        <p:grpSpPr>
          <a:xfrm>
            <a:off x="723900" y="2057400"/>
            <a:ext cx="1447800" cy="685800"/>
            <a:chOff x="723900" y="2057400"/>
            <a:chExt cx="1447800" cy="685800"/>
          </a:xfrm>
        </p:grpSpPr>
        <p:sp>
          <p:nvSpPr>
            <p:cNvPr id="9" name="node03.surface"/>
            <p:cNvSpPr/>
            <p:nvPr/>
          </p:nvSpPr>
          <p:spPr>
            <a:xfrm>
              <a:off x="723900" y="2057400"/>
              <a:ext cx="1447800" cy="685800"/>
            </a:xfrm>
            <a:custGeom>
              <a:avLst/>
              <a:gdLst/>
              <a:ahLst/>
              <a:cxnLst/>
              <a:rect l="l" t="t" r="r" b="b"/>
              <a:pathLst>
                <a:path w="1447800" h="685800">
                  <a:moveTo>
                    <a:pt x="0" y="0"/>
                  </a:moveTo>
                  <a:lnTo>
                    <a:pt x="1219200" y="0"/>
                  </a:lnTo>
                  <a:lnTo>
                    <a:pt x="1447800" y="342900"/>
                  </a:lnTo>
                  <a:lnTo>
                    <a:pt x="1219200" y="685800"/>
                  </a:lnTo>
                  <a:lnTo>
                    <a:pt x="0" y="685800"/>
                  </a:lnTo>
                  <a:close/>
                </a:path>
              </a:pathLst>
            </a:custGeom>
            <a:solidFill>
              <a:srgbClr val="070154"/>
            </a:solidFill>
            <a:ln>
              <a:noFill/>
            </a:ln>
          </p:spPr>
        </p:sp>
        <p:sp>
          <p:nvSpPr>
            <p:cNvPr id="10" name="node03.number"/>
            <p:cNvSpPr/>
            <p:nvPr/>
          </p:nvSpPr>
          <p:spPr>
            <a:xfrm>
              <a:off x="876300" y="2171700"/>
              <a:ext cx="990600" cy="266700"/>
            </a:xfrm>
            <a:prstGeom prst="rect">
              <a:avLst/>
            </a:prstGeom>
            <a:noFill/>
            <a:ln/>
          </p:spPr>
          <p:txBody>
            <a:bodyPr wrap="square" lIns="0" tIns="0" rIns="0" bIns="0" rtlCol="0" anchor="t"/>
            <a:lstStyle/>
            <a:p>
              <a:pPr algn="ctr" indent="0" marL="0">
                <a:lnSpc>
                  <a:spcPts val="2100"/>
                </a:lnSpc>
                <a:buNone/>
              </a:pPr>
              <a:r>
                <a:rPr lang="en-US" sz="1600" spc="0" kern="0" b="0" i="0" dirty="0">
                  <a:solidFill>
                    <a:srgbClr val="F900D3"/>
                  </a:solidFill>
                  <a:latin typeface="IBM Plex Mono SemiBold"/>
                  <a:ea typeface="IBM Plex Mono SemiBold"/>
                  <a:cs typeface="IBM Plex Mono SemiBold"/>
                </a:rPr>
                <a:t>1</a:t>
              </a:r>
              <a:endParaRPr lang="en-US" sz="1600" spc="0" kern="0" b="0" i="0" dirty="0">
                <a:solidFill>
                  <a:srgbClr val="F900D3"/>
                </a:solidFill>
                <a:latin typeface="IBM Plex Mono SemiBold"/>
                <a:ea typeface="IBM Plex Mono SemiBold"/>
                <a:cs typeface="IBM Plex Mono SemiBold"/>
              </a:endParaRPr>
            </a:p>
          </p:txBody>
        </p:sp>
        <p:sp>
          <p:nvSpPr>
            <p:cNvPr id="11" name="node03.text"/>
            <p:cNvSpPr/>
            <p:nvPr/>
          </p:nvSpPr>
          <p:spPr>
            <a:xfrm>
              <a:off x="876300" y="2438400"/>
              <a:ext cx="9906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SemiBold"/>
                  <a:ea typeface="IBM Plex Sans SemiBold"/>
                  <a:cs typeface="IBM Plex Sans SemiBold"/>
                </a:rPr>
                <a:t>Retain</a:t>
              </a:r>
              <a:endParaRPr lang="en-US" sz="1100" spc="0" kern="0" b="0" i="0" dirty="0">
                <a:solidFill>
                  <a:srgbClr val="FFFFFF"/>
                </a:solidFill>
                <a:latin typeface="IBM Plex Sans SemiBold"/>
                <a:ea typeface="IBM Plex Sans SemiBold"/>
                <a:cs typeface="IBM Plex Sans SemiBold"/>
              </a:endParaRPr>
            </a:p>
          </p:txBody>
        </p:sp>
      </p:grpSp>
      <p:grpSp>
        <p:nvGrpSpPr>
          <p:cNvPr id="66" name="node04"/>
          <p:cNvGrpSpPr/>
          <p:nvPr/>
        </p:nvGrpSpPr>
        <p:grpSpPr>
          <a:xfrm>
            <a:off x="723900" y="2895600"/>
            <a:ext cx="1295400" cy="381000"/>
            <a:chOff x="723900" y="2895600"/>
            <a:chExt cx="1295400" cy="381000"/>
          </a:xfrm>
        </p:grpSpPr>
        <p:sp>
          <p:nvSpPr>
            <p:cNvPr id="12" name="node04.text"/>
            <p:cNvSpPr/>
            <p:nvPr/>
          </p:nvSpPr>
          <p:spPr>
            <a:xfrm>
              <a:off x="723900" y="2895600"/>
              <a:ext cx="1295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Keep and manage deliberately</a:t>
              </a:r>
              <a:endParaRPr lang="en-US" sz="1100" spc="0" kern="0" b="0" i="0" dirty="0">
                <a:solidFill>
                  <a:srgbClr val="070154"/>
                </a:solidFill>
                <a:latin typeface="IBM Plex Sans"/>
                <a:ea typeface="IBM Plex Sans"/>
                <a:cs typeface="IBM Plex Sans"/>
              </a:endParaRPr>
            </a:p>
          </p:txBody>
        </p:sp>
      </p:grpSp>
      <p:grpSp>
        <p:nvGrpSpPr>
          <p:cNvPr id="67" name="node05"/>
          <p:cNvGrpSpPr/>
          <p:nvPr/>
        </p:nvGrpSpPr>
        <p:grpSpPr>
          <a:xfrm>
            <a:off x="723900" y="4343400"/>
            <a:ext cx="1295400" cy="1143000"/>
            <a:chOff x="723900" y="4343400"/>
            <a:chExt cx="1295400" cy="1143000"/>
          </a:xfrm>
        </p:grpSpPr>
        <p:sp>
          <p:nvSpPr>
            <p:cNvPr id="13" name="node05.container"/>
            <p:cNvSpPr/>
            <p:nvPr/>
          </p:nvSpPr>
          <p:spPr>
            <a:xfrm>
              <a:off x="723900" y="4343400"/>
              <a:ext cx="1295400" cy="1143000"/>
            </a:xfrm>
            <a:prstGeom prst="rect">
              <a:avLst/>
            </a:prstGeom>
            <a:solidFill>
              <a:srgbClr val="E8EEF8"/>
            </a:solidFill>
            <a:ln>
              <a:noFill/>
            </a:ln>
          </p:spPr>
        </p:sp>
        <p:sp>
          <p:nvSpPr>
            <p:cNvPr id="14" name="node05.edge"/>
            <p:cNvSpPr/>
            <p:nvPr/>
          </p:nvSpPr>
          <p:spPr>
            <a:xfrm>
              <a:off x="723900" y="4343400"/>
              <a:ext cx="1295400" cy="38100"/>
            </a:xfrm>
            <a:prstGeom prst="rect">
              <a:avLst/>
            </a:prstGeom>
            <a:solidFill>
              <a:srgbClr val="0047FF"/>
            </a:solidFill>
            <a:ln>
              <a:noFill/>
            </a:ln>
          </p:spPr>
        </p:sp>
        <p:sp>
          <p:nvSpPr>
            <p:cNvPr id="15" name="node05.body.item-001.paragraph"/>
            <p:cNvSpPr/>
            <p:nvPr/>
          </p:nvSpPr>
          <p:spPr>
            <a:xfrm>
              <a:off x="800100" y="4457700"/>
              <a:ext cx="1143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Scores cost and usage to confirm the keep</a:t>
              </a:r>
              <a:endParaRPr lang="en-US" sz="1200" spc="0" kern="0" b="0" i="0" dirty="0">
                <a:solidFill>
                  <a:srgbClr val="50658E"/>
                </a:solidFill>
                <a:latin typeface="IBM Plex Sans"/>
                <a:ea typeface="IBM Plex Sans"/>
                <a:cs typeface="IBM Plex Sans"/>
              </a:endParaRPr>
            </a:p>
          </p:txBody>
        </p:sp>
      </p:grpSp>
      <p:grpSp>
        <p:nvGrpSpPr>
          <p:cNvPr id="68" name="node06"/>
          <p:cNvGrpSpPr/>
          <p:nvPr/>
        </p:nvGrpSpPr>
        <p:grpSpPr>
          <a:xfrm>
            <a:off x="2095500" y="2057400"/>
            <a:ext cx="1371600" cy="685800"/>
            <a:chOff x="2095500" y="2057400"/>
            <a:chExt cx="1371600" cy="685800"/>
          </a:xfrm>
        </p:grpSpPr>
        <p:sp>
          <p:nvSpPr>
            <p:cNvPr id="16" name="node06.surface"/>
            <p:cNvSpPr/>
            <p:nvPr/>
          </p:nvSpPr>
          <p:spPr>
            <a:xfrm>
              <a:off x="2095500" y="2057400"/>
              <a:ext cx="1371600" cy="685800"/>
            </a:xfrm>
            <a:custGeom>
              <a:avLst/>
              <a:gdLst/>
              <a:ahLst/>
              <a:cxnLst/>
              <a:rect l="l" t="t" r="r" b="b"/>
              <a:pathLst>
                <a:path w="1371600" h="685800">
                  <a:moveTo>
                    <a:pt x="0" y="0"/>
                  </a:moveTo>
                  <a:lnTo>
                    <a:pt x="1143000" y="0"/>
                  </a:lnTo>
                  <a:lnTo>
                    <a:pt x="1371600" y="342900"/>
                  </a:lnTo>
                  <a:lnTo>
                    <a:pt x="1143000" y="685800"/>
                  </a:lnTo>
                  <a:lnTo>
                    <a:pt x="0" y="685800"/>
                  </a:lnTo>
                  <a:lnTo>
                    <a:pt x="228600" y="342900"/>
                  </a:lnTo>
                  <a:close/>
                </a:path>
              </a:pathLst>
            </a:custGeom>
            <a:solidFill>
              <a:srgbClr val="070154"/>
            </a:solidFill>
            <a:ln>
              <a:noFill/>
            </a:ln>
          </p:spPr>
        </p:sp>
        <p:sp>
          <p:nvSpPr>
            <p:cNvPr id="17" name="node06.number"/>
            <p:cNvSpPr/>
            <p:nvPr/>
          </p:nvSpPr>
          <p:spPr>
            <a:xfrm>
              <a:off x="2400300" y="2171700"/>
              <a:ext cx="762000" cy="266700"/>
            </a:xfrm>
            <a:prstGeom prst="rect">
              <a:avLst/>
            </a:prstGeom>
            <a:noFill/>
            <a:ln/>
          </p:spPr>
          <p:txBody>
            <a:bodyPr wrap="square" lIns="0" tIns="0" rIns="0" bIns="0" rtlCol="0" anchor="t"/>
            <a:lstStyle/>
            <a:p>
              <a:pPr algn="ctr" indent="0" marL="0">
                <a:lnSpc>
                  <a:spcPts val="2100"/>
                </a:lnSpc>
                <a:buNone/>
              </a:pPr>
              <a:r>
                <a:rPr lang="en-US" sz="1600" spc="0" kern="0" b="0" i="0" dirty="0">
                  <a:solidFill>
                    <a:srgbClr val="F900D3"/>
                  </a:solidFill>
                  <a:latin typeface="IBM Plex Mono SemiBold"/>
                  <a:ea typeface="IBM Plex Mono SemiBold"/>
                  <a:cs typeface="IBM Plex Mono SemiBold"/>
                </a:rPr>
                <a:t>2</a:t>
              </a:r>
              <a:endParaRPr lang="en-US" sz="1600" spc="0" kern="0" b="0" i="0" dirty="0">
                <a:solidFill>
                  <a:srgbClr val="F900D3"/>
                </a:solidFill>
                <a:latin typeface="IBM Plex Mono SemiBold"/>
                <a:ea typeface="IBM Plex Mono SemiBold"/>
                <a:cs typeface="IBM Plex Mono SemiBold"/>
              </a:endParaRPr>
            </a:p>
          </p:txBody>
        </p:sp>
        <p:sp>
          <p:nvSpPr>
            <p:cNvPr id="18" name="node06.text"/>
            <p:cNvSpPr/>
            <p:nvPr/>
          </p:nvSpPr>
          <p:spPr>
            <a:xfrm>
              <a:off x="2400300" y="2438400"/>
              <a:ext cx="762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SemiBold"/>
                  <a:ea typeface="IBM Plex Sans SemiBold"/>
                  <a:cs typeface="IBM Plex Sans SemiBold"/>
                </a:rPr>
                <a:t>Retire</a:t>
              </a:r>
              <a:endParaRPr lang="en-US" sz="1100" spc="0" kern="0" b="0" i="0" dirty="0">
                <a:solidFill>
                  <a:srgbClr val="FFFFFF"/>
                </a:solidFill>
                <a:latin typeface="IBM Plex Sans SemiBold"/>
                <a:ea typeface="IBM Plex Sans SemiBold"/>
                <a:cs typeface="IBM Plex Sans SemiBold"/>
              </a:endParaRPr>
            </a:p>
          </p:txBody>
        </p:sp>
      </p:grpSp>
      <p:grpSp>
        <p:nvGrpSpPr>
          <p:cNvPr id="69" name="node07"/>
          <p:cNvGrpSpPr/>
          <p:nvPr/>
        </p:nvGrpSpPr>
        <p:grpSpPr>
          <a:xfrm>
            <a:off x="2095500" y="2895600"/>
            <a:ext cx="1295400" cy="381000"/>
            <a:chOff x="2095500" y="2895600"/>
            <a:chExt cx="1295400" cy="381000"/>
          </a:xfrm>
        </p:grpSpPr>
        <p:sp>
          <p:nvSpPr>
            <p:cNvPr id="19" name="node07.text"/>
            <p:cNvSpPr/>
            <p:nvPr/>
          </p:nvSpPr>
          <p:spPr>
            <a:xfrm>
              <a:off x="2095500" y="2895600"/>
              <a:ext cx="1295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Remove obsolete software or work</a:t>
              </a:r>
              <a:endParaRPr lang="en-US" sz="1100" spc="0" kern="0" b="0" i="0" dirty="0">
                <a:solidFill>
                  <a:srgbClr val="070154"/>
                </a:solidFill>
                <a:latin typeface="IBM Plex Sans"/>
                <a:ea typeface="IBM Plex Sans"/>
                <a:cs typeface="IBM Plex Sans"/>
              </a:endParaRPr>
            </a:p>
          </p:txBody>
        </p:sp>
      </p:grpSp>
      <p:grpSp>
        <p:nvGrpSpPr>
          <p:cNvPr id="70" name="node08"/>
          <p:cNvGrpSpPr/>
          <p:nvPr/>
        </p:nvGrpSpPr>
        <p:grpSpPr>
          <a:xfrm>
            <a:off x="2095500" y="4343400"/>
            <a:ext cx="1295400" cy="1143000"/>
            <a:chOff x="2095500" y="4343400"/>
            <a:chExt cx="1295400" cy="1143000"/>
          </a:xfrm>
        </p:grpSpPr>
        <p:sp>
          <p:nvSpPr>
            <p:cNvPr id="20" name="node08.container"/>
            <p:cNvSpPr/>
            <p:nvPr/>
          </p:nvSpPr>
          <p:spPr>
            <a:xfrm>
              <a:off x="2095500" y="4343400"/>
              <a:ext cx="1295400" cy="1143000"/>
            </a:xfrm>
            <a:prstGeom prst="rect">
              <a:avLst/>
            </a:prstGeom>
            <a:solidFill>
              <a:srgbClr val="E8EEF8"/>
            </a:solidFill>
            <a:ln>
              <a:noFill/>
            </a:ln>
          </p:spPr>
        </p:sp>
        <p:sp>
          <p:nvSpPr>
            <p:cNvPr id="21" name="node08.edge"/>
            <p:cNvSpPr/>
            <p:nvPr/>
          </p:nvSpPr>
          <p:spPr>
            <a:xfrm>
              <a:off x="2095500" y="4343400"/>
              <a:ext cx="1295400" cy="38100"/>
            </a:xfrm>
            <a:prstGeom prst="rect">
              <a:avLst/>
            </a:prstGeom>
            <a:solidFill>
              <a:srgbClr val="0047FF"/>
            </a:solidFill>
            <a:ln>
              <a:noFill/>
            </a:ln>
          </p:spPr>
        </p:sp>
        <p:sp>
          <p:nvSpPr>
            <p:cNvPr id="22" name="node08.body.item-001.paragraph"/>
            <p:cNvSpPr/>
            <p:nvPr/>
          </p:nvSpPr>
          <p:spPr>
            <a:xfrm>
              <a:off x="2171700" y="4457700"/>
              <a:ext cx="1143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Finds dead code and unused features</a:t>
              </a:r>
              <a:endParaRPr lang="en-US" sz="1200" spc="0" kern="0" b="0" i="0" dirty="0">
                <a:solidFill>
                  <a:srgbClr val="50658E"/>
                </a:solidFill>
                <a:latin typeface="IBM Plex Sans"/>
                <a:ea typeface="IBM Plex Sans"/>
                <a:cs typeface="IBM Plex Sans"/>
              </a:endParaRPr>
            </a:p>
          </p:txBody>
        </p:sp>
      </p:grpSp>
      <p:grpSp>
        <p:nvGrpSpPr>
          <p:cNvPr id="71" name="node09"/>
          <p:cNvGrpSpPr/>
          <p:nvPr/>
        </p:nvGrpSpPr>
        <p:grpSpPr>
          <a:xfrm>
            <a:off x="3924300" y="1600200"/>
            <a:ext cx="4114800" cy="139700"/>
            <a:chOff x="3924300" y="1600200"/>
            <a:chExt cx="4114800" cy="139700"/>
          </a:xfrm>
        </p:grpSpPr>
        <p:sp>
          <p:nvSpPr>
            <p:cNvPr id="23" name="node09.text"/>
            <p:cNvSpPr/>
            <p:nvPr/>
          </p:nvSpPr>
          <p:spPr>
            <a:xfrm>
              <a:off x="3924300" y="1600200"/>
              <a:ext cx="4114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MOVE AND IMPROVE</a:t>
              </a:r>
              <a:endParaRPr lang="en-US" sz="800" spc="48" kern="0" b="0" i="0" dirty="0">
                <a:solidFill>
                  <a:srgbClr val="50658E"/>
                </a:solidFill>
                <a:latin typeface="IBM Plex Mono Medium"/>
                <a:ea typeface="IBM Plex Mono Medium"/>
                <a:cs typeface="IBM Plex Mono Medium"/>
              </a:endParaRPr>
            </a:p>
          </p:txBody>
        </p:sp>
      </p:grpSp>
      <p:sp>
        <p:nvSpPr>
          <p:cNvPr id="24" name="node10"/>
          <p:cNvSpPr/>
          <p:nvPr/>
        </p:nvSpPr>
        <p:spPr>
          <a:xfrm>
            <a:off x="3924300" y="1905000"/>
            <a:ext cx="4114800" cy="38100"/>
          </a:xfrm>
          <a:prstGeom prst="rect">
            <a:avLst/>
          </a:prstGeom>
          <a:solidFill>
            <a:srgbClr val="F900D3"/>
          </a:solidFill>
          <a:ln>
            <a:noFill/>
          </a:ln>
        </p:spPr>
      </p:sp>
      <p:grpSp>
        <p:nvGrpSpPr>
          <p:cNvPr id="72" name="node11"/>
          <p:cNvGrpSpPr/>
          <p:nvPr/>
        </p:nvGrpSpPr>
        <p:grpSpPr>
          <a:xfrm>
            <a:off x="3924300" y="2057400"/>
            <a:ext cx="1447800" cy="685800"/>
            <a:chOff x="3924300" y="2057400"/>
            <a:chExt cx="1447800" cy="685800"/>
          </a:xfrm>
        </p:grpSpPr>
        <p:sp>
          <p:nvSpPr>
            <p:cNvPr id="25" name="node11.surface"/>
            <p:cNvSpPr/>
            <p:nvPr/>
          </p:nvSpPr>
          <p:spPr>
            <a:xfrm>
              <a:off x="3924300" y="2057400"/>
              <a:ext cx="1447800" cy="685800"/>
            </a:xfrm>
            <a:custGeom>
              <a:avLst/>
              <a:gdLst/>
              <a:ahLst/>
              <a:cxnLst/>
              <a:rect l="l" t="t" r="r" b="b"/>
              <a:pathLst>
                <a:path w="1447800" h="685800">
                  <a:moveTo>
                    <a:pt x="0" y="0"/>
                  </a:moveTo>
                  <a:lnTo>
                    <a:pt x="1219200" y="0"/>
                  </a:lnTo>
                  <a:lnTo>
                    <a:pt x="1447800" y="342900"/>
                  </a:lnTo>
                  <a:lnTo>
                    <a:pt x="1219200" y="685800"/>
                  </a:lnTo>
                  <a:lnTo>
                    <a:pt x="0" y="685800"/>
                  </a:lnTo>
                  <a:close/>
                </a:path>
              </a:pathLst>
            </a:custGeom>
            <a:solidFill>
              <a:srgbClr val="070154"/>
            </a:solidFill>
            <a:ln>
              <a:noFill/>
            </a:ln>
          </p:spPr>
        </p:sp>
        <p:sp>
          <p:nvSpPr>
            <p:cNvPr id="26" name="node11.number"/>
            <p:cNvSpPr/>
            <p:nvPr/>
          </p:nvSpPr>
          <p:spPr>
            <a:xfrm>
              <a:off x="4076700" y="2171700"/>
              <a:ext cx="990600" cy="266700"/>
            </a:xfrm>
            <a:prstGeom prst="rect">
              <a:avLst/>
            </a:prstGeom>
            <a:noFill/>
            <a:ln/>
          </p:spPr>
          <p:txBody>
            <a:bodyPr wrap="square" lIns="0" tIns="0" rIns="0" bIns="0" rtlCol="0" anchor="t"/>
            <a:lstStyle/>
            <a:p>
              <a:pPr algn="ctr" indent="0" marL="0">
                <a:lnSpc>
                  <a:spcPts val="2100"/>
                </a:lnSpc>
                <a:buNone/>
              </a:pPr>
              <a:r>
                <a:rPr lang="en-US" sz="1600" spc="0" kern="0" b="0" i="0" dirty="0">
                  <a:solidFill>
                    <a:srgbClr val="F900D3"/>
                  </a:solidFill>
                  <a:latin typeface="IBM Plex Mono SemiBold"/>
                  <a:ea typeface="IBM Plex Mono SemiBold"/>
                  <a:cs typeface="IBM Plex Mono SemiBold"/>
                </a:rPr>
                <a:t>3</a:t>
              </a:r>
              <a:endParaRPr lang="en-US" sz="1600" spc="0" kern="0" b="0" i="0" dirty="0">
                <a:solidFill>
                  <a:srgbClr val="F900D3"/>
                </a:solidFill>
                <a:latin typeface="IBM Plex Mono SemiBold"/>
                <a:ea typeface="IBM Plex Mono SemiBold"/>
                <a:cs typeface="IBM Plex Mono SemiBold"/>
              </a:endParaRPr>
            </a:p>
          </p:txBody>
        </p:sp>
        <p:sp>
          <p:nvSpPr>
            <p:cNvPr id="27" name="node11.text"/>
            <p:cNvSpPr/>
            <p:nvPr/>
          </p:nvSpPr>
          <p:spPr>
            <a:xfrm>
              <a:off x="4076700" y="2438400"/>
              <a:ext cx="9906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SemiBold"/>
                  <a:ea typeface="IBM Plex Sans SemiBold"/>
                  <a:cs typeface="IBM Plex Sans SemiBold"/>
                </a:rPr>
                <a:t>Rehost</a:t>
              </a:r>
              <a:endParaRPr lang="en-US" sz="1100" spc="0" kern="0" b="0" i="0" dirty="0">
                <a:solidFill>
                  <a:srgbClr val="FFFFFF"/>
                </a:solidFill>
                <a:latin typeface="IBM Plex Sans SemiBold"/>
                <a:ea typeface="IBM Plex Sans SemiBold"/>
                <a:cs typeface="IBM Plex Sans SemiBold"/>
              </a:endParaRPr>
            </a:p>
          </p:txBody>
        </p:sp>
      </p:grpSp>
      <p:grpSp>
        <p:nvGrpSpPr>
          <p:cNvPr id="73" name="node12"/>
          <p:cNvGrpSpPr/>
          <p:nvPr/>
        </p:nvGrpSpPr>
        <p:grpSpPr>
          <a:xfrm>
            <a:off x="3924300" y="2895600"/>
            <a:ext cx="1295400" cy="381000"/>
            <a:chOff x="3924300" y="2895600"/>
            <a:chExt cx="1295400" cy="381000"/>
          </a:xfrm>
        </p:grpSpPr>
        <p:sp>
          <p:nvSpPr>
            <p:cNvPr id="28" name="node12.text"/>
            <p:cNvSpPr/>
            <p:nvPr/>
          </p:nvSpPr>
          <p:spPr>
            <a:xfrm>
              <a:off x="3924300" y="2895600"/>
              <a:ext cx="1295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Move infrastructure; limit change</a:t>
              </a:r>
              <a:endParaRPr lang="en-US" sz="1100" spc="0" kern="0" b="0" i="0" dirty="0">
                <a:solidFill>
                  <a:srgbClr val="070154"/>
                </a:solidFill>
                <a:latin typeface="IBM Plex Sans"/>
                <a:ea typeface="IBM Plex Sans"/>
                <a:cs typeface="IBM Plex Sans"/>
              </a:endParaRPr>
            </a:p>
          </p:txBody>
        </p:sp>
      </p:grpSp>
      <p:grpSp>
        <p:nvGrpSpPr>
          <p:cNvPr id="74" name="node13"/>
          <p:cNvGrpSpPr/>
          <p:nvPr/>
        </p:nvGrpSpPr>
        <p:grpSpPr>
          <a:xfrm>
            <a:off x="3924300" y="4343400"/>
            <a:ext cx="1295400" cy="1143000"/>
            <a:chOff x="3924300" y="4343400"/>
            <a:chExt cx="1295400" cy="1143000"/>
          </a:xfrm>
        </p:grpSpPr>
        <p:sp>
          <p:nvSpPr>
            <p:cNvPr id="29" name="node13.container"/>
            <p:cNvSpPr/>
            <p:nvPr/>
          </p:nvSpPr>
          <p:spPr>
            <a:xfrm>
              <a:off x="3924300" y="4343400"/>
              <a:ext cx="1295400" cy="1143000"/>
            </a:xfrm>
            <a:prstGeom prst="rect">
              <a:avLst/>
            </a:prstGeom>
            <a:solidFill>
              <a:srgbClr val="E8EEF8"/>
            </a:solidFill>
            <a:ln>
              <a:noFill/>
            </a:ln>
          </p:spPr>
        </p:sp>
        <p:sp>
          <p:nvSpPr>
            <p:cNvPr id="30" name="node13.edge"/>
            <p:cNvSpPr/>
            <p:nvPr/>
          </p:nvSpPr>
          <p:spPr>
            <a:xfrm>
              <a:off x="3924300" y="4343400"/>
              <a:ext cx="1295400" cy="38100"/>
            </a:xfrm>
            <a:prstGeom prst="rect">
              <a:avLst/>
            </a:prstGeom>
            <a:solidFill>
              <a:srgbClr val="F900D3"/>
            </a:solidFill>
            <a:ln>
              <a:noFill/>
            </a:ln>
          </p:spPr>
        </p:sp>
        <p:sp>
          <p:nvSpPr>
            <p:cNvPr id="31" name="node13.body.item-001.paragraph"/>
            <p:cNvSpPr/>
            <p:nvPr/>
          </p:nvSpPr>
          <p:spPr>
            <a:xfrm>
              <a:off x="4000500" y="4457700"/>
              <a:ext cx="1143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Maps dependencies and plans the move</a:t>
              </a:r>
              <a:endParaRPr lang="en-US" sz="1200" spc="0" kern="0" b="0" i="0" dirty="0">
                <a:solidFill>
                  <a:srgbClr val="50658E"/>
                </a:solidFill>
                <a:latin typeface="IBM Plex Sans"/>
                <a:ea typeface="IBM Plex Sans"/>
                <a:cs typeface="IBM Plex Sans"/>
              </a:endParaRPr>
            </a:p>
          </p:txBody>
        </p:sp>
      </p:grpSp>
      <p:grpSp>
        <p:nvGrpSpPr>
          <p:cNvPr id="75" name="node14"/>
          <p:cNvGrpSpPr/>
          <p:nvPr/>
        </p:nvGrpSpPr>
        <p:grpSpPr>
          <a:xfrm>
            <a:off x="5295900" y="2057400"/>
            <a:ext cx="1447800" cy="685800"/>
            <a:chOff x="5295900" y="2057400"/>
            <a:chExt cx="1447800" cy="685800"/>
          </a:xfrm>
        </p:grpSpPr>
        <p:sp>
          <p:nvSpPr>
            <p:cNvPr id="32" name="node14.surface"/>
            <p:cNvSpPr/>
            <p:nvPr/>
          </p:nvSpPr>
          <p:spPr>
            <a:xfrm>
              <a:off x="5295900" y="2057400"/>
              <a:ext cx="1447800" cy="685800"/>
            </a:xfrm>
            <a:custGeom>
              <a:avLst/>
              <a:gdLst/>
              <a:ahLst/>
              <a:cxnLst/>
              <a:rect l="l" t="t" r="r" b="b"/>
              <a:pathLst>
                <a:path w="1447800" h="685800">
                  <a:moveTo>
                    <a:pt x="0" y="0"/>
                  </a:moveTo>
                  <a:lnTo>
                    <a:pt x="1219200" y="0"/>
                  </a:lnTo>
                  <a:lnTo>
                    <a:pt x="1447800" y="342900"/>
                  </a:lnTo>
                  <a:lnTo>
                    <a:pt x="1219200" y="685800"/>
                  </a:lnTo>
                  <a:lnTo>
                    <a:pt x="0" y="685800"/>
                  </a:lnTo>
                  <a:lnTo>
                    <a:pt x="228600" y="342900"/>
                  </a:lnTo>
                  <a:close/>
                </a:path>
              </a:pathLst>
            </a:custGeom>
            <a:solidFill>
              <a:srgbClr val="070154"/>
            </a:solidFill>
            <a:ln>
              <a:noFill/>
            </a:ln>
          </p:spPr>
        </p:sp>
        <p:sp>
          <p:nvSpPr>
            <p:cNvPr id="33" name="node14.number"/>
            <p:cNvSpPr/>
            <p:nvPr/>
          </p:nvSpPr>
          <p:spPr>
            <a:xfrm>
              <a:off x="5600700" y="2171700"/>
              <a:ext cx="838200" cy="266700"/>
            </a:xfrm>
            <a:prstGeom prst="rect">
              <a:avLst/>
            </a:prstGeom>
            <a:noFill/>
            <a:ln/>
          </p:spPr>
          <p:txBody>
            <a:bodyPr wrap="square" lIns="0" tIns="0" rIns="0" bIns="0" rtlCol="0" anchor="t"/>
            <a:lstStyle/>
            <a:p>
              <a:pPr algn="ctr" indent="0" marL="0">
                <a:lnSpc>
                  <a:spcPts val="2100"/>
                </a:lnSpc>
                <a:buNone/>
              </a:pPr>
              <a:r>
                <a:rPr lang="en-US" sz="1600" spc="0" kern="0" b="0" i="0" dirty="0">
                  <a:solidFill>
                    <a:srgbClr val="F900D3"/>
                  </a:solidFill>
                  <a:latin typeface="IBM Plex Mono SemiBold"/>
                  <a:ea typeface="IBM Plex Mono SemiBold"/>
                  <a:cs typeface="IBM Plex Mono SemiBold"/>
                </a:rPr>
                <a:t>4</a:t>
              </a:r>
              <a:endParaRPr lang="en-US" sz="1600" spc="0" kern="0" b="0" i="0" dirty="0">
                <a:solidFill>
                  <a:srgbClr val="F900D3"/>
                </a:solidFill>
                <a:latin typeface="IBM Plex Mono SemiBold"/>
                <a:ea typeface="IBM Plex Mono SemiBold"/>
                <a:cs typeface="IBM Plex Mono SemiBold"/>
              </a:endParaRPr>
            </a:p>
          </p:txBody>
        </p:sp>
        <p:sp>
          <p:nvSpPr>
            <p:cNvPr id="34" name="node14.text"/>
            <p:cNvSpPr/>
            <p:nvPr/>
          </p:nvSpPr>
          <p:spPr>
            <a:xfrm>
              <a:off x="5600700" y="2438400"/>
              <a:ext cx="8382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SemiBold"/>
                  <a:ea typeface="IBM Plex Sans SemiBold"/>
                  <a:cs typeface="IBM Plex Sans SemiBold"/>
                </a:rPr>
                <a:t>Replatform</a:t>
              </a:r>
              <a:endParaRPr lang="en-US" sz="1100" spc="0" kern="0" b="0" i="0" dirty="0">
                <a:solidFill>
                  <a:srgbClr val="FFFFFF"/>
                </a:solidFill>
                <a:latin typeface="IBM Plex Sans SemiBold"/>
                <a:ea typeface="IBM Plex Sans SemiBold"/>
                <a:cs typeface="IBM Plex Sans SemiBold"/>
              </a:endParaRPr>
            </a:p>
          </p:txBody>
        </p:sp>
      </p:grpSp>
      <p:grpSp>
        <p:nvGrpSpPr>
          <p:cNvPr id="76" name="node15"/>
          <p:cNvGrpSpPr/>
          <p:nvPr/>
        </p:nvGrpSpPr>
        <p:grpSpPr>
          <a:xfrm>
            <a:off x="5295900" y="2895600"/>
            <a:ext cx="1295400" cy="381000"/>
            <a:chOff x="5295900" y="2895600"/>
            <a:chExt cx="1295400" cy="381000"/>
          </a:xfrm>
        </p:grpSpPr>
        <p:sp>
          <p:nvSpPr>
            <p:cNvPr id="35" name="node15.text"/>
            <p:cNvSpPr/>
            <p:nvPr/>
          </p:nvSpPr>
          <p:spPr>
            <a:xfrm>
              <a:off x="5295900" y="2895600"/>
              <a:ext cx="1295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Change the runtime; keep behavior</a:t>
              </a:r>
              <a:endParaRPr lang="en-US" sz="1100" spc="0" kern="0" b="0" i="0" dirty="0">
                <a:solidFill>
                  <a:srgbClr val="070154"/>
                </a:solidFill>
                <a:latin typeface="IBM Plex Sans"/>
                <a:ea typeface="IBM Plex Sans"/>
                <a:cs typeface="IBM Plex Sans"/>
              </a:endParaRPr>
            </a:p>
          </p:txBody>
        </p:sp>
      </p:grpSp>
      <p:grpSp>
        <p:nvGrpSpPr>
          <p:cNvPr id="77" name="node16"/>
          <p:cNvGrpSpPr/>
          <p:nvPr/>
        </p:nvGrpSpPr>
        <p:grpSpPr>
          <a:xfrm>
            <a:off x="5295900" y="4343400"/>
            <a:ext cx="1295400" cy="1143000"/>
            <a:chOff x="5295900" y="4343400"/>
            <a:chExt cx="1295400" cy="1143000"/>
          </a:xfrm>
        </p:grpSpPr>
        <p:sp>
          <p:nvSpPr>
            <p:cNvPr id="36" name="node16.container"/>
            <p:cNvSpPr/>
            <p:nvPr/>
          </p:nvSpPr>
          <p:spPr>
            <a:xfrm>
              <a:off x="5295900" y="4343400"/>
              <a:ext cx="1295400" cy="1143000"/>
            </a:xfrm>
            <a:prstGeom prst="rect">
              <a:avLst/>
            </a:prstGeom>
            <a:solidFill>
              <a:srgbClr val="E8EEF8"/>
            </a:solidFill>
            <a:ln>
              <a:noFill/>
            </a:ln>
          </p:spPr>
        </p:sp>
        <p:sp>
          <p:nvSpPr>
            <p:cNvPr id="37" name="node16.edge"/>
            <p:cNvSpPr/>
            <p:nvPr/>
          </p:nvSpPr>
          <p:spPr>
            <a:xfrm>
              <a:off x="5295900" y="4343400"/>
              <a:ext cx="1295400" cy="38100"/>
            </a:xfrm>
            <a:prstGeom prst="rect">
              <a:avLst/>
            </a:prstGeom>
            <a:solidFill>
              <a:srgbClr val="F900D3"/>
            </a:solidFill>
            <a:ln>
              <a:noFill/>
            </a:ln>
          </p:spPr>
        </p:sp>
        <p:sp>
          <p:nvSpPr>
            <p:cNvPr id="38" name="node16.body.item-001.paragraph"/>
            <p:cNvSpPr/>
            <p:nvPr/>
          </p:nvSpPr>
          <p:spPr>
            <a:xfrm>
              <a:off x="5372100" y="4457700"/>
              <a:ext cx="1143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Tests runtime changes against behavior</a:t>
              </a:r>
              <a:endParaRPr lang="en-US" sz="1200" spc="0" kern="0" b="0" i="0" dirty="0">
                <a:solidFill>
                  <a:srgbClr val="50658E"/>
                </a:solidFill>
                <a:latin typeface="IBM Plex Sans"/>
                <a:ea typeface="IBM Plex Sans"/>
                <a:cs typeface="IBM Plex Sans"/>
              </a:endParaRPr>
            </a:p>
          </p:txBody>
        </p:sp>
      </p:grpSp>
      <p:grpSp>
        <p:nvGrpSpPr>
          <p:cNvPr id="78" name="node17"/>
          <p:cNvGrpSpPr/>
          <p:nvPr/>
        </p:nvGrpSpPr>
        <p:grpSpPr>
          <a:xfrm>
            <a:off x="6667500" y="2057400"/>
            <a:ext cx="1371600" cy="685800"/>
            <a:chOff x="6667500" y="2057400"/>
            <a:chExt cx="1371600" cy="685800"/>
          </a:xfrm>
        </p:grpSpPr>
        <p:sp>
          <p:nvSpPr>
            <p:cNvPr id="39" name="node17.surface"/>
            <p:cNvSpPr/>
            <p:nvPr/>
          </p:nvSpPr>
          <p:spPr>
            <a:xfrm>
              <a:off x="6667500" y="2057400"/>
              <a:ext cx="1371600" cy="685800"/>
            </a:xfrm>
            <a:custGeom>
              <a:avLst/>
              <a:gdLst/>
              <a:ahLst/>
              <a:cxnLst/>
              <a:rect l="l" t="t" r="r" b="b"/>
              <a:pathLst>
                <a:path w="1371600" h="685800">
                  <a:moveTo>
                    <a:pt x="0" y="0"/>
                  </a:moveTo>
                  <a:lnTo>
                    <a:pt x="1143000" y="0"/>
                  </a:lnTo>
                  <a:lnTo>
                    <a:pt x="1371600" y="342900"/>
                  </a:lnTo>
                  <a:lnTo>
                    <a:pt x="1143000" y="685800"/>
                  </a:lnTo>
                  <a:lnTo>
                    <a:pt x="0" y="685800"/>
                  </a:lnTo>
                  <a:lnTo>
                    <a:pt x="228600" y="342900"/>
                  </a:lnTo>
                  <a:close/>
                </a:path>
              </a:pathLst>
            </a:custGeom>
            <a:solidFill>
              <a:srgbClr val="070154"/>
            </a:solidFill>
            <a:ln>
              <a:noFill/>
            </a:ln>
          </p:spPr>
        </p:sp>
        <p:sp>
          <p:nvSpPr>
            <p:cNvPr id="40" name="node17.number"/>
            <p:cNvSpPr/>
            <p:nvPr/>
          </p:nvSpPr>
          <p:spPr>
            <a:xfrm>
              <a:off x="6972300" y="2171700"/>
              <a:ext cx="762000" cy="266700"/>
            </a:xfrm>
            <a:prstGeom prst="rect">
              <a:avLst/>
            </a:prstGeom>
            <a:noFill/>
            <a:ln/>
          </p:spPr>
          <p:txBody>
            <a:bodyPr wrap="square" lIns="0" tIns="0" rIns="0" bIns="0" rtlCol="0" anchor="t"/>
            <a:lstStyle/>
            <a:p>
              <a:pPr algn="ctr" indent="0" marL="0">
                <a:lnSpc>
                  <a:spcPts val="2100"/>
                </a:lnSpc>
                <a:buNone/>
              </a:pPr>
              <a:r>
                <a:rPr lang="en-US" sz="1600" spc="0" kern="0" b="0" i="0" dirty="0">
                  <a:solidFill>
                    <a:srgbClr val="F900D3"/>
                  </a:solidFill>
                  <a:latin typeface="IBM Plex Mono SemiBold"/>
                  <a:ea typeface="IBM Plex Mono SemiBold"/>
                  <a:cs typeface="IBM Plex Mono SemiBold"/>
                </a:rPr>
                <a:t>5</a:t>
              </a:r>
              <a:endParaRPr lang="en-US" sz="1600" spc="0" kern="0" b="0" i="0" dirty="0">
                <a:solidFill>
                  <a:srgbClr val="F900D3"/>
                </a:solidFill>
                <a:latin typeface="IBM Plex Mono SemiBold"/>
                <a:ea typeface="IBM Plex Mono SemiBold"/>
                <a:cs typeface="IBM Plex Mono SemiBold"/>
              </a:endParaRPr>
            </a:p>
          </p:txBody>
        </p:sp>
        <p:sp>
          <p:nvSpPr>
            <p:cNvPr id="41" name="node17.text"/>
            <p:cNvSpPr/>
            <p:nvPr/>
          </p:nvSpPr>
          <p:spPr>
            <a:xfrm>
              <a:off x="6972300" y="2438400"/>
              <a:ext cx="7620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SemiBold"/>
                  <a:ea typeface="IBM Plex Sans SemiBold"/>
                  <a:cs typeface="IBM Plex Sans SemiBold"/>
                </a:rPr>
                <a:t>Refactor</a:t>
              </a:r>
              <a:endParaRPr lang="en-US" sz="1100" spc="0" kern="0" b="0" i="0" dirty="0">
                <a:solidFill>
                  <a:srgbClr val="FFFFFF"/>
                </a:solidFill>
                <a:latin typeface="IBM Plex Sans SemiBold"/>
                <a:ea typeface="IBM Plex Sans SemiBold"/>
                <a:cs typeface="IBM Plex Sans SemiBold"/>
              </a:endParaRPr>
            </a:p>
          </p:txBody>
        </p:sp>
      </p:grpSp>
      <p:grpSp>
        <p:nvGrpSpPr>
          <p:cNvPr id="79" name="node18"/>
          <p:cNvGrpSpPr/>
          <p:nvPr/>
        </p:nvGrpSpPr>
        <p:grpSpPr>
          <a:xfrm>
            <a:off x="6667500" y="2895600"/>
            <a:ext cx="1295400" cy="381000"/>
            <a:chOff x="6667500" y="2895600"/>
            <a:chExt cx="1295400" cy="381000"/>
          </a:xfrm>
        </p:grpSpPr>
        <p:sp>
          <p:nvSpPr>
            <p:cNvPr id="42" name="node18.text"/>
            <p:cNvSpPr/>
            <p:nvPr/>
          </p:nvSpPr>
          <p:spPr>
            <a:xfrm>
              <a:off x="6667500" y="2895600"/>
              <a:ext cx="1295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Improve structure; keep function</a:t>
              </a:r>
              <a:endParaRPr lang="en-US" sz="1100" spc="0" kern="0" b="0" i="0" dirty="0">
                <a:solidFill>
                  <a:srgbClr val="070154"/>
                </a:solidFill>
                <a:latin typeface="IBM Plex Sans"/>
                <a:ea typeface="IBM Plex Sans"/>
                <a:cs typeface="IBM Plex Sans"/>
              </a:endParaRPr>
            </a:p>
          </p:txBody>
        </p:sp>
      </p:grpSp>
      <p:grpSp>
        <p:nvGrpSpPr>
          <p:cNvPr id="80" name="node19"/>
          <p:cNvGrpSpPr/>
          <p:nvPr/>
        </p:nvGrpSpPr>
        <p:grpSpPr>
          <a:xfrm>
            <a:off x="6667500" y="4343400"/>
            <a:ext cx="1295400" cy="1143000"/>
            <a:chOff x="6667500" y="4343400"/>
            <a:chExt cx="1295400" cy="1143000"/>
          </a:xfrm>
        </p:grpSpPr>
        <p:sp>
          <p:nvSpPr>
            <p:cNvPr id="43" name="node19.container"/>
            <p:cNvSpPr/>
            <p:nvPr/>
          </p:nvSpPr>
          <p:spPr>
            <a:xfrm>
              <a:off x="6667500" y="4343400"/>
              <a:ext cx="1295400" cy="1143000"/>
            </a:xfrm>
            <a:prstGeom prst="rect">
              <a:avLst/>
            </a:prstGeom>
            <a:solidFill>
              <a:srgbClr val="E8EEF8"/>
            </a:solidFill>
            <a:ln>
              <a:noFill/>
            </a:ln>
          </p:spPr>
        </p:sp>
        <p:sp>
          <p:nvSpPr>
            <p:cNvPr id="44" name="node19.edge"/>
            <p:cNvSpPr/>
            <p:nvPr/>
          </p:nvSpPr>
          <p:spPr>
            <a:xfrm>
              <a:off x="6667500" y="4343400"/>
              <a:ext cx="1295400" cy="38100"/>
            </a:xfrm>
            <a:prstGeom prst="rect">
              <a:avLst/>
            </a:prstGeom>
            <a:solidFill>
              <a:srgbClr val="F900D3"/>
            </a:solidFill>
            <a:ln>
              <a:noFill/>
            </a:ln>
          </p:spPr>
        </p:sp>
        <p:sp>
          <p:nvSpPr>
            <p:cNvPr id="45" name="node19.body.item-001.paragraph"/>
            <p:cNvSpPr/>
            <p:nvPr/>
          </p:nvSpPr>
          <p:spPr>
            <a:xfrm>
              <a:off x="6743700" y="4457700"/>
              <a:ext cx="1143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Refactors in bulk with generated tests</a:t>
              </a:r>
              <a:endParaRPr lang="en-US" sz="1200" spc="0" kern="0" b="0" i="0" dirty="0">
                <a:solidFill>
                  <a:srgbClr val="50658E"/>
                </a:solidFill>
                <a:latin typeface="IBM Plex Sans"/>
                <a:ea typeface="IBM Plex Sans"/>
                <a:cs typeface="IBM Plex Sans"/>
              </a:endParaRPr>
            </a:p>
          </p:txBody>
        </p:sp>
      </p:grpSp>
      <p:grpSp>
        <p:nvGrpSpPr>
          <p:cNvPr id="81" name="node20"/>
          <p:cNvGrpSpPr/>
          <p:nvPr/>
        </p:nvGrpSpPr>
        <p:grpSpPr>
          <a:xfrm>
            <a:off x="8496300" y="1600200"/>
            <a:ext cx="2971800" cy="139700"/>
            <a:chOff x="8496300" y="1600200"/>
            <a:chExt cx="2971800" cy="139700"/>
          </a:xfrm>
        </p:grpSpPr>
        <p:sp>
          <p:nvSpPr>
            <p:cNvPr id="46" name="node20.text"/>
            <p:cNvSpPr/>
            <p:nvPr/>
          </p:nvSpPr>
          <p:spPr>
            <a:xfrm>
              <a:off x="8496300" y="16002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REBUILD THE DESIGN</a:t>
              </a:r>
              <a:endParaRPr lang="en-US" sz="800" spc="48" kern="0" b="0" i="0" dirty="0">
                <a:solidFill>
                  <a:srgbClr val="50658E"/>
                </a:solidFill>
                <a:latin typeface="IBM Plex Mono Medium"/>
                <a:ea typeface="IBM Plex Mono Medium"/>
                <a:cs typeface="IBM Plex Mono Medium"/>
              </a:endParaRPr>
            </a:p>
          </p:txBody>
        </p:sp>
      </p:grpSp>
      <p:sp>
        <p:nvSpPr>
          <p:cNvPr id="47" name="node21"/>
          <p:cNvSpPr/>
          <p:nvPr/>
        </p:nvSpPr>
        <p:spPr>
          <a:xfrm>
            <a:off x="8496300" y="1905000"/>
            <a:ext cx="2971800" cy="38100"/>
          </a:xfrm>
          <a:prstGeom prst="rect">
            <a:avLst/>
          </a:prstGeom>
          <a:solidFill>
            <a:srgbClr val="070154"/>
          </a:solidFill>
          <a:ln>
            <a:noFill/>
          </a:ln>
        </p:spPr>
      </p:sp>
      <p:grpSp>
        <p:nvGrpSpPr>
          <p:cNvPr id="82" name="node22"/>
          <p:cNvGrpSpPr/>
          <p:nvPr/>
        </p:nvGrpSpPr>
        <p:grpSpPr>
          <a:xfrm>
            <a:off x="8496300" y="2057400"/>
            <a:ext cx="1447800" cy="685800"/>
            <a:chOff x="8496300" y="2057400"/>
            <a:chExt cx="1447800" cy="685800"/>
          </a:xfrm>
        </p:grpSpPr>
        <p:sp>
          <p:nvSpPr>
            <p:cNvPr id="48" name="node22.surface"/>
            <p:cNvSpPr/>
            <p:nvPr/>
          </p:nvSpPr>
          <p:spPr>
            <a:xfrm>
              <a:off x="8496300" y="2057400"/>
              <a:ext cx="1447800" cy="685800"/>
            </a:xfrm>
            <a:custGeom>
              <a:avLst/>
              <a:gdLst/>
              <a:ahLst/>
              <a:cxnLst/>
              <a:rect l="l" t="t" r="r" b="b"/>
              <a:pathLst>
                <a:path w="1447800" h="685800">
                  <a:moveTo>
                    <a:pt x="0" y="0"/>
                  </a:moveTo>
                  <a:lnTo>
                    <a:pt x="1219200" y="0"/>
                  </a:lnTo>
                  <a:lnTo>
                    <a:pt x="1447800" y="342900"/>
                  </a:lnTo>
                  <a:lnTo>
                    <a:pt x="1219200" y="685800"/>
                  </a:lnTo>
                  <a:lnTo>
                    <a:pt x="0" y="685800"/>
                  </a:lnTo>
                  <a:close/>
                </a:path>
              </a:pathLst>
            </a:custGeom>
            <a:solidFill>
              <a:srgbClr val="070154"/>
            </a:solidFill>
            <a:ln>
              <a:noFill/>
            </a:ln>
          </p:spPr>
        </p:sp>
        <p:sp>
          <p:nvSpPr>
            <p:cNvPr id="49" name="node22.number"/>
            <p:cNvSpPr/>
            <p:nvPr/>
          </p:nvSpPr>
          <p:spPr>
            <a:xfrm>
              <a:off x="8648700" y="2171700"/>
              <a:ext cx="990600" cy="266700"/>
            </a:xfrm>
            <a:prstGeom prst="rect">
              <a:avLst/>
            </a:prstGeom>
            <a:noFill/>
            <a:ln/>
          </p:spPr>
          <p:txBody>
            <a:bodyPr wrap="square" lIns="0" tIns="0" rIns="0" bIns="0" rtlCol="0" anchor="t"/>
            <a:lstStyle/>
            <a:p>
              <a:pPr algn="ctr" indent="0" marL="0">
                <a:lnSpc>
                  <a:spcPts val="2100"/>
                </a:lnSpc>
                <a:buNone/>
              </a:pPr>
              <a:r>
                <a:rPr lang="en-US" sz="1600" spc="0" kern="0" b="0" i="0" dirty="0">
                  <a:solidFill>
                    <a:srgbClr val="F900D3"/>
                  </a:solidFill>
                  <a:latin typeface="IBM Plex Mono SemiBold"/>
                  <a:ea typeface="IBM Plex Mono SemiBold"/>
                  <a:cs typeface="IBM Plex Mono SemiBold"/>
                </a:rPr>
                <a:t>6</a:t>
              </a:r>
              <a:endParaRPr lang="en-US" sz="1600" spc="0" kern="0" b="0" i="0" dirty="0">
                <a:solidFill>
                  <a:srgbClr val="F900D3"/>
                </a:solidFill>
                <a:latin typeface="IBM Plex Mono SemiBold"/>
                <a:ea typeface="IBM Plex Mono SemiBold"/>
                <a:cs typeface="IBM Plex Mono SemiBold"/>
              </a:endParaRPr>
            </a:p>
          </p:txBody>
        </p:sp>
        <p:sp>
          <p:nvSpPr>
            <p:cNvPr id="50" name="node22.text"/>
            <p:cNvSpPr/>
            <p:nvPr/>
          </p:nvSpPr>
          <p:spPr>
            <a:xfrm>
              <a:off x="8648700" y="2438400"/>
              <a:ext cx="9906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SemiBold"/>
                  <a:ea typeface="IBM Plex Sans SemiBold"/>
                  <a:cs typeface="IBM Plex Sans SemiBold"/>
                </a:rPr>
                <a:t>Rearchitect</a:t>
              </a:r>
              <a:endParaRPr lang="en-US" sz="1100" spc="0" kern="0" b="0" i="0" dirty="0">
                <a:solidFill>
                  <a:srgbClr val="FFFFFF"/>
                </a:solidFill>
                <a:latin typeface="IBM Plex Sans SemiBold"/>
                <a:ea typeface="IBM Plex Sans SemiBold"/>
                <a:cs typeface="IBM Plex Sans SemiBold"/>
              </a:endParaRPr>
            </a:p>
          </p:txBody>
        </p:sp>
      </p:grpSp>
      <p:grpSp>
        <p:nvGrpSpPr>
          <p:cNvPr id="83" name="node23"/>
          <p:cNvGrpSpPr/>
          <p:nvPr/>
        </p:nvGrpSpPr>
        <p:grpSpPr>
          <a:xfrm>
            <a:off x="8496300" y="2895600"/>
            <a:ext cx="1295400" cy="381000"/>
            <a:chOff x="8496300" y="2895600"/>
            <a:chExt cx="1295400" cy="381000"/>
          </a:xfrm>
        </p:grpSpPr>
        <p:sp>
          <p:nvSpPr>
            <p:cNvPr id="51" name="node23.text"/>
            <p:cNvSpPr/>
            <p:nvPr/>
          </p:nvSpPr>
          <p:spPr>
            <a:xfrm>
              <a:off x="8496300" y="2895600"/>
              <a:ext cx="1295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Change structure and boundaries</a:t>
              </a:r>
              <a:endParaRPr lang="en-US" sz="1100" spc="0" kern="0" b="0" i="0" dirty="0">
                <a:solidFill>
                  <a:srgbClr val="070154"/>
                </a:solidFill>
                <a:latin typeface="IBM Plex Sans"/>
                <a:ea typeface="IBM Plex Sans"/>
                <a:cs typeface="IBM Plex Sans"/>
              </a:endParaRPr>
            </a:p>
          </p:txBody>
        </p:sp>
      </p:grpSp>
      <p:grpSp>
        <p:nvGrpSpPr>
          <p:cNvPr id="84" name="node24"/>
          <p:cNvGrpSpPr/>
          <p:nvPr/>
        </p:nvGrpSpPr>
        <p:grpSpPr>
          <a:xfrm>
            <a:off x="8496300" y="4343400"/>
            <a:ext cx="1295400" cy="1143000"/>
            <a:chOff x="8496300" y="4343400"/>
            <a:chExt cx="1295400" cy="1143000"/>
          </a:xfrm>
        </p:grpSpPr>
        <p:sp>
          <p:nvSpPr>
            <p:cNvPr id="52" name="node24.container"/>
            <p:cNvSpPr/>
            <p:nvPr/>
          </p:nvSpPr>
          <p:spPr>
            <a:xfrm>
              <a:off x="8496300" y="4343400"/>
              <a:ext cx="1295400" cy="1143000"/>
            </a:xfrm>
            <a:prstGeom prst="rect">
              <a:avLst/>
            </a:prstGeom>
            <a:solidFill>
              <a:srgbClr val="E8EEF8"/>
            </a:solidFill>
            <a:ln>
              <a:noFill/>
            </a:ln>
          </p:spPr>
        </p:sp>
        <p:sp>
          <p:nvSpPr>
            <p:cNvPr id="53" name="node24.edge"/>
            <p:cNvSpPr/>
            <p:nvPr/>
          </p:nvSpPr>
          <p:spPr>
            <a:xfrm>
              <a:off x="8496300" y="4343400"/>
              <a:ext cx="1295400" cy="38100"/>
            </a:xfrm>
            <a:prstGeom prst="rect">
              <a:avLst/>
            </a:prstGeom>
            <a:solidFill>
              <a:srgbClr val="070154"/>
            </a:solidFill>
            <a:ln>
              <a:noFill/>
            </a:ln>
          </p:spPr>
        </p:sp>
        <p:sp>
          <p:nvSpPr>
            <p:cNvPr id="54" name="node24.body.item-001.paragraph"/>
            <p:cNvSpPr/>
            <p:nvPr/>
          </p:nvSpPr>
          <p:spPr>
            <a:xfrm>
              <a:off x="8572500" y="4457700"/>
              <a:ext cx="1143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Recovers the design from code and evidence</a:t>
              </a:r>
              <a:endParaRPr lang="en-US" sz="1200" spc="0" kern="0" b="0" i="0" dirty="0">
                <a:solidFill>
                  <a:srgbClr val="50658E"/>
                </a:solidFill>
                <a:latin typeface="IBM Plex Sans"/>
                <a:ea typeface="IBM Plex Sans"/>
                <a:cs typeface="IBM Plex Sans"/>
              </a:endParaRPr>
            </a:p>
          </p:txBody>
        </p:sp>
      </p:grpSp>
      <p:grpSp>
        <p:nvGrpSpPr>
          <p:cNvPr id="85" name="node25"/>
          <p:cNvGrpSpPr/>
          <p:nvPr/>
        </p:nvGrpSpPr>
        <p:grpSpPr>
          <a:xfrm>
            <a:off x="9867900" y="2057400"/>
            <a:ext cx="1600200" cy="685800"/>
            <a:chOff x="9867900" y="2057400"/>
            <a:chExt cx="1600200" cy="685800"/>
          </a:xfrm>
        </p:grpSpPr>
        <p:sp>
          <p:nvSpPr>
            <p:cNvPr id="55" name="node25.surface"/>
            <p:cNvSpPr/>
            <p:nvPr/>
          </p:nvSpPr>
          <p:spPr>
            <a:xfrm>
              <a:off x="9867900" y="2057400"/>
              <a:ext cx="1600200" cy="685800"/>
            </a:xfrm>
            <a:custGeom>
              <a:avLst/>
              <a:gdLst/>
              <a:ahLst/>
              <a:cxnLst/>
              <a:rect l="l" t="t" r="r" b="b"/>
              <a:pathLst>
                <a:path w="1600200" h="685800">
                  <a:moveTo>
                    <a:pt x="0" y="0"/>
                  </a:moveTo>
                  <a:lnTo>
                    <a:pt x="1371600" y="0"/>
                  </a:lnTo>
                  <a:lnTo>
                    <a:pt x="1600200" y="342900"/>
                  </a:lnTo>
                  <a:lnTo>
                    <a:pt x="1371600" y="685800"/>
                  </a:lnTo>
                  <a:lnTo>
                    <a:pt x="0" y="685800"/>
                  </a:lnTo>
                  <a:lnTo>
                    <a:pt x="228600" y="342900"/>
                  </a:lnTo>
                  <a:close/>
                </a:path>
              </a:pathLst>
            </a:custGeom>
            <a:solidFill>
              <a:srgbClr val="070154"/>
            </a:solidFill>
            <a:ln>
              <a:noFill/>
            </a:ln>
          </p:spPr>
        </p:sp>
        <p:sp>
          <p:nvSpPr>
            <p:cNvPr id="56" name="node25.number"/>
            <p:cNvSpPr/>
            <p:nvPr/>
          </p:nvSpPr>
          <p:spPr>
            <a:xfrm>
              <a:off x="10172700" y="2171700"/>
              <a:ext cx="990600" cy="266700"/>
            </a:xfrm>
            <a:prstGeom prst="rect">
              <a:avLst/>
            </a:prstGeom>
            <a:noFill/>
            <a:ln/>
          </p:spPr>
          <p:txBody>
            <a:bodyPr wrap="square" lIns="0" tIns="0" rIns="0" bIns="0" rtlCol="0" anchor="t"/>
            <a:lstStyle/>
            <a:p>
              <a:pPr algn="ctr" indent="0" marL="0">
                <a:lnSpc>
                  <a:spcPts val="2100"/>
                </a:lnSpc>
                <a:buNone/>
              </a:pPr>
              <a:r>
                <a:rPr lang="en-US" sz="1600" spc="0" kern="0" b="0" i="0" dirty="0">
                  <a:solidFill>
                    <a:srgbClr val="F900D3"/>
                  </a:solidFill>
                  <a:latin typeface="IBM Plex Mono SemiBold"/>
                  <a:ea typeface="IBM Plex Mono SemiBold"/>
                  <a:cs typeface="IBM Plex Mono SemiBold"/>
                </a:rPr>
                <a:t>7</a:t>
              </a:r>
              <a:endParaRPr lang="en-US" sz="1600" spc="0" kern="0" b="0" i="0" dirty="0">
                <a:solidFill>
                  <a:srgbClr val="F900D3"/>
                </a:solidFill>
                <a:latin typeface="IBM Plex Mono SemiBold"/>
                <a:ea typeface="IBM Plex Mono SemiBold"/>
                <a:cs typeface="IBM Plex Mono SemiBold"/>
              </a:endParaRPr>
            </a:p>
          </p:txBody>
        </p:sp>
        <p:sp>
          <p:nvSpPr>
            <p:cNvPr id="57" name="node25.text"/>
            <p:cNvSpPr/>
            <p:nvPr/>
          </p:nvSpPr>
          <p:spPr>
            <a:xfrm>
              <a:off x="10172700" y="2438400"/>
              <a:ext cx="9906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SemiBold"/>
                  <a:ea typeface="IBM Plex Sans SemiBold"/>
                  <a:cs typeface="IBM Plex Sans SemiBold"/>
                </a:rPr>
                <a:t>Rebuild</a:t>
              </a:r>
              <a:endParaRPr lang="en-US" sz="1100" spc="0" kern="0" b="0" i="0" dirty="0">
                <a:solidFill>
                  <a:srgbClr val="FFFFFF"/>
                </a:solidFill>
                <a:latin typeface="IBM Plex Sans SemiBold"/>
                <a:ea typeface="IBM Plex Sans SemiBold"/>
                <a:cs typeface="IBM Plex Sans SemiBold"/>
              </a:endParaRPr>
            </a:p>
          </p:txBody>
        </p:sp>
      </p:grpSp>
      <p:grpSp>
        <p:nvGrpSpPr>
          <p:cNvPr id="86" name="node26"/>
          <p:cNvGrpSpPr/>
          <p:nvPr/>
        </p:nvGrpSpPr>
        <p:grpSpPr>
          <a:xfrm>
            <a:off x="9867900" y="2895600"/>
            <a:ext cx="1295400" cy="571500"/>
            <a:chOff x="9867900" y="2895600"/>
            <a:chExt cx="1295400" cy="571500"/>
          </a:xfrm>
        </p:grpSpPr>
        <p:sp>
          <p:nvSpPr>
            <p:cNvPr id="58" name="node26.text"/>
            <p:cNvSpPr/>
            <p:nvPr/>
          </p:nvSpPr>
          <p:spPr>
            <a:xfrm>
              <a:off x="9867900" y="2895600"/>
              <a:ext cx="1295400" cy="571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Redesign and rewrite the capability</a:t>
              </a:r>
              <a:endParaRPr lang="en-US" sz="1100" spc="0" kern="0" b="0" i="0" dirty="0">
                <a:solidFill>
                  <a:srgbClr val="070154"/>
                </a:solidFill>
                <a:latin typeface="IBM Plex Sans"/>
                <a:ea typeface="IBM Plex Sans"/>
                <a:cs typeface="IBM Plex Sans"/>
              </a:endParaRPr>
            </a:p>
          </p:txBody>
        </p:sp>
      </p:grpSp>
      <p:grpSp>
        <p:nvGrpSpPr>
          <p:cNvPr id="87" name="node27"/>
          <p:cNvGrpSpPr/>
          <p:nvPr/>
        </p:nvGrpSpPr>
        <p:grpSpPr>
          <a:xfrm>
            <a:off x="9867900" y="4343400"/>
            <a:ext cx="1600200" cy="1143000"/>
            <a:chOff x="9867900" y="4343400"/>
            <a:chExt cx="1600200" cy="1143000"/>
          </a:xfrm>
        </p:grpSpPr>
        <p:sp>
          <p:nvSpPr>
            <p:cNvPr id="59" name="node27.container"/>
            <p:cNvSpPr/>
            <p:nvPr/>
          </p:nvSpPr>
          <p:spPr>
            <a:xfrm>
              <a:off x="9867900" y="4343400"/>
              <a:ext cx="1600200" cy="1143000"/>
            </a:xfrm>
            <a:prstGeom prst="rect">
              <a:avLst/>
            </a:prstGeom>
            <a:solidFill>
              <a:srgbClr val="E8EEF8"/>
            </a:solidFill>
            <a:ln>
              <a:noFill/>
            </a:ln>
          </p:spPr>
        </p:sp>
        <p:sp>
          <p:nvSpPr>
            <p:cNvPr id="60" name="node27.edge"/>
            <p:cNvSpPr/>
            <p:nvPr/>
          </p:nvSpPr>
          <p:spPr>
            <a:xfrm>
              <a:off x="9867900" y="4343400"/>
              <a:ext cx="1600200" cy="38100"/>
            </a:xfrm>
            <a:prstGeom prst="rect">
              <a:avLst/>
            </a:prstGeom>
            <a:solidFill>
              <a:srgbClr val="070154"/>
            </a:solidFill>
            <a:ln>
              <a:noFill/>
            </a:ln>
          </p:spPr>
        </p:sp>
        <p:sp>
          <p:nvSpPr>
            <p:cNvPr id="61" name="node27.body.item-001.paragraph"/>
            <p:cNvSpPr/>
            <p:nvPr/>
          </p:nvSpPr>
          <p:spPr>
            <a:xfrm>
              <a:off x="9944100" y="4457700"/>
              <a:ext cx="14478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Generates code, tests and documentation</a:t>
              </a:r>
              <a:endParaRPr lang="en-US" sz="1200" spc="0" kern="0" b="0" i="0" dirty="0">
                <a:solidFill>
                  <a:srgbClr val="50658E"/>
                </a:solidFill>
                <a:latin typeface="IBM Plex Sans"/>
                <a:ea typeface="IBM Plex Sans"/>
                <a:cs typeface="IBM Plex Sans"/>
              </a:endParaRPr>
            </a:p>
          </p:txBody>
        </p:sp>
      </p:grpSp>
      <p:grpSp>
        <p:nvGrpSpPr>
          <p:cNvPr id="88" name="node28"/>
          <p:cNvGrpSpPr/>
          <p:nvPr/>
        </p:nvGrpSpPr>
        <p:grpSpPr>
          <a:xfrm>
            <a:off x="723900" y="3886200"/>
            <a:ext cx="10744200" cy="266700"/>
            <a:chOff x="723900" y="3886200"/>
            <a:chExt cx="10744200" cy="266700"/>
          </a:xfrm>
        </p:grpSpPr>
        <p:sp>
          <p:nvSpPr>
            <p:cNvPr id="62" name="node28.text"/>
            <p:cNvSpPr/>
            <p:nvPr/>
          </p:nvSpPr>
          <p:spPr>
            <a:xfrm>
              <a:off x="723900" y="3886200"/>
              <a:ext cx="1074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Where AI accelerates each option</a:t>
              </a:r>
              <a:endParaRPr lang="en-US" sz="1600" spc="-16" kern="0" b="0" i="0" dirty="0">
                <a:solidFill>
                  <a:srgbClr val="070154"/>
                </a:solidFill>
                <a:latin typeface="IBM Plex Sans SemiBold"/>
                <a:ea typeface="IBM Plex Sans SemiBold"/>
                <a:cs typeface="IBM Plex Sans SemiBold"/>
              </a:endParaRPr>
            </a:p>
          </p:txBody>
        </p:sp>
      </p:grpSp>
      <p:grpSp>
        <p:nvGrpSpPr>
          <p:cNvPr id="89" name="node29"/>
          <p:cNvGrpSpPr/>
          <p:nvPr/>
        </p:nvGrpSpPr>
        <p:grpSpPr>
          <a:xfrm>
            <a:off x="723900" y="5638800"/>
            <a:ext cx="10744200" cy="190500"/>
            <a:chOff x="723900" y="5638800"/>
            <a:chExt cx="10744200" cy="190500"/>
          </a:xfrm>
        </p:grpSpPr>
        <p:sp>
          <p:nvSpPr>
            <p:cNvPr id="63" name="node29.text"/>
            <p:cNvSpPr/>
            <p:nvPr/>
          </p:nvSpPr>
          <p:spPr>
            <a:xfrm>
              <a:off x="723900" y="5638800"/>
              <a:ext cx="1074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The framework still guides the decision; AI broadens the feasible set, and leaders remain accountable for the choice.</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ource-49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6635473" y="733532"/>
            <a:ext cx="3777833"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Three evidence streams become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one validated model</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1 Observation requires consent and appropriate privacy, security and retention controls.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136</a:t>
            </a:fld>
            <a:endParaRPr lang="en-US" sz="700" spc="0" kern="0" b="0" i="0" dirty="0">
              <a:solidFill>
                <a:srgbClr val="070154"/>
              </a:solidFill>
              <a:latin typeface="IBM Plex Mono SemiBold"/>
              <a:ea typeface="IBM Plex Mono SemiBold"/>
              <a:cs typeface="IBM Plex Mono SemiBold"/>
            </a:endParaRPr>
          </a:p>
        </p:txBody>
      </p:sp>
      <p:grpSp>
        <p:nvGrpSpPr>
          <p:cNvPr id="71" name="node01"/>
          <p:cNvGrpSpPr/>
          <p:nvPr/>
        </p:nvGrpSpPr>
        <p:grpSpPr>
          <a:xfrm>
            <a:off x="723900" y="1600200"/>
            <a:ext cx="3048000" cy="457200"/>
            <a:chOff x="723900" y="1600200"/>
            <a:chExt cx="3048000" cy="457200"/>
          </a:xfrm>
        </p:grpSpPr>
        <p:sp>
          <p:nvSpPr>
            <p:cNvPr id="8" name="node01.surface"/>
            <p:cNvSpPr/>
            <p:nvPr/>
          </p:nvSpPr>
          <p:spPr>
            <a:xfrm>
              <a:off x="723900" y="1600200"/>
              <a:ext cx="3048000" cy="457200"/>
            </a:xfrm>
            <a:custGeom>
              <a:avLst/>
              <a:gdLst/>
              <a:ahLst/>
              <a:cxnLst/>
              <a:rect l="l" t="t" r="r" b="b"/>
              <a:pathLst>
                <a:path w="3048000" h="457200">
                  <a:moveTo>
                    <a:pt x="0" y="0"/>
                  </a:moveTo>
                  <a:lnTo>
                    <a:pt x="2895600" y="0"/>
                  </a:lnTo>
                  <a:lnTo>
                    <a:pt x="3048000" y="228600"/>
                  </a:lnTo>
                  <a:lnTo>
                    <a:pt x="2895600" y="457200"/>
                  </a:lnTo>
                  <a:lnTo>
                    <a:pt x="0" y="457200"/>
                  </a:lnTo>
                  <a:close/>
                </a:path>
              </a:pathLst>
            </a:custGeom>
            <a:solidFill>
              <a:srgbClr val="CED7E6"/>
            </a:solidFill>
            <a:ln>
              <a:noFill/>
            </a:ln>
          </p:spPr>
        </p:sp>
        <p:sp>
          <p:nvSpPr>
            <p:cNvPr id="9" name="node01.number"/>
            <p:cNvSpPr/>
            <p:nvPr/>
          </p:nvSpPr>
          <p:spPr>
            <a:xfrm>
              <a:off x="876300" y="1695450"/>
              <a:ext cx="122364"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70154"/>
                  </a:solidFill>
                  <a:latin typeface="IBM Plex Mono SemiBold"/>
                  <a:ea typeface="IBM Plex Mono SemiBold"/>
                  <a:cs typeface="IBM Plex Mono SemiBold"/>
                </a:rPr>
                <a:t>1</a:t>
              </a:r>
              <a:endParaRPr lang="en-US" sz="1600" spc="0" kern="0" b="0" i="0" dirty="0">
                <a:solidFill>
                  <a:srgbClr val="070154"/>
                </a:solidFill>
                <a:latin typeface="IBM Plex Mono SemiBold"/>
                <a:ea typeface="IBM Plex Mono SemiBold"/>
                <a:cs typeface="IBM Plex Mono SemiBold"/>
              </a:endParaRPr>
            </a:p>
          </p:txBody>
        </p:sp>
        <p:sp>
          <p:nvSpPr>
            <p:cNvPr id="10" name="node01.text"/>
            <p:cNvSpPr/>
            <p:nvPr/>
          </p:nvSpPr>
          <p:spPr>
            <a:xfrm>
              <a:off x="1112965" y="1733550"/>
              <a:ext cx="2430336"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Gather evidence</a:t>
              </a:r>
              <a:endParaRPr lang="en-US" sz="1100" spc="0" kern="0" b="0" i="0" dirty="0">
                <a:solidFill>
                  <a:srgbClr val="070154"/>
                </a:solidFill>
                <a:latin typeface="IBM Plex Sans SemiBold"/>
                <a:ea typeface="IBM Plex Sans SemiBold"/>
                <a:cs typeface="IBM Plex Sans SemiBold"/>
              </a:endParaRPr>
            </a:p>
          </p:txBody>
        </p:sp>
      </p:grpSp>
      <p:grpSp>
        <p:nvGrpSpPr>
          <p:cNvPr id="72" name="node02"/>
          <p:cNvGrpSpPr/>
          <p:nvPr/>
        </p:nvGrpSpPr>
        <p:grpSpPr>
          <a:xfrm>
            <a:off x="3695700" y="1600200"/>
            <a:ext cx="2819400" cy="457200"/>
            <a:chOff x="3695700" y="1600200"/>
            <a:chExt cx="2819400" cy="457200"/>
          </a:xfrm>
        </p:grpSpPr>
        <p:sp>
          <p:nvSpPr>
            <p:cNvPr id="11" name="node02.surface"/>
            <p:cNvSpPr/>
            <p:nvPr/>
          </p:nvSpPr>
          <p:spPr>
            <a:xfrm>
              <a:off x="3695700" y="1600200"/>
              <a:ext cx="2819400" cy="457200"/>
            </a:xfrm>
            <a:custGeom>
              <a:avLst/>
              <a:gdLst/>
              <a:ahLst/>
              <a:cxnLst/>
              <a:rect l="l" t="t" r="r" b="b"/>
              <a:pathLst>
                <a:path w="2819400" h="457200">
                  <a:moveTo>
                    <a:pt x="0" y="0"/>
                  </a:moveTo>
                  <a:lnTo>
                    <a:pt x="2667000" y="0"/>
                  </a:lnTo>
                  <a:lnTo>
                    <a:pt x="2819400" y="228600"/>
                  </a:lnTo>
                  <a:lnTo>
                    <a:pt x="2667000" y="457200"/>
                  </a:lnTo>
                  <a:lnTo>
                    <a:pt x="0" y="457200"/>
                  </a:lnTo>
                  <a:lnTo>
                    <a:pt x="152400" y="228600"/>
                  </a:lnTo>
                  <a:close/>
                </a:path>
              </a:pathLst>
            </a:custGeom>
            <a:solidFill>
              <a:srgbClr val="070154"/>
            </a:solidFill>
            <a:ln>
              <a:noFill/>
            </a:ln>
          </p:spPr>
        </p:sp>
        <p:sp>
          <p:nvSpPr>
            <p:cNvPr id="12" name="node02.number"/>
            <p:cNvSpPr/>
            <p:nvPr/>
          </p:nvSpPr>
          <p:spPr>
            <a:xfrm>
              <a:off x="3924300" y="1695450"/>
              <a:ext cx="122364"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2</a:t>
              </a:r>
              <a:endParaRPr lang="en-US" sz="1600" spc="0" kern="0" b="0" i="0" dirty="0">
                <a:solidFill>
                  <a:srgbClr val="F900D3"/>
                </a:solidFill>
                <a:latin typeface="IBM Plex Mono SemiBold"/>
                <a:ea typeface="IBM Plex Mono SemiBold"/>
                <a:cs typeface="IBM Plex Mono SemiBold"/>
              </a:endParaRPr>
            </a:p>
          </p:txBody>
        </p:sp>
        <p:sp>
          <p:nvSpPr>
            <p:cNvPr id="13" name="node02.text"/>
            <p:cNvSpPr/>
            <p:nvPr/>
          </p:nvSpPr>
          <p:spPr>
            <a:xfrm>
              <a:off x="4160964" y="1733550"/>
              <a:ext cx="2125536"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SemiBold"/>
                  <a:ea typeface="IBM Plex Sans SemiBold"/>
                  <a:cs typeface="IBM Plex Sans SemiBold"/>
                </a:rPr>
                <a:t>Synthesize</a:t>
              </a:r>
              <a:endParaRPr lang="en-US" sz="1100" spc="0" kern="0" b="0" i="0" dirty="0">
                <a:solidFill>
                  <a:srgbClr val="FFFFFF"/>
                </a:solidFill>
                <a:latin typeface="IBM Plex Sans SemiBold"/>
                <a:ea typeface="IBM Plex Sans SemiBold"/>
                <a:cs typeface="IBM Plex Sans SemiBold"/>
              </a:endParaRPr>
            </a:p>
          </p:txBody>
        </p:sp>
      </p:grpSp>
      <p:grpSp>
        <p:nvGrpSpPr>
          <p:cNvPr id="73" name="node03"/>
          <p:cNvGrpSpPr/>
          <p:nvPr/>
        </p:nvGrpSpPr>
        <p:grpSpPr>
          <a:xfrm>
            <a:off x="6438900" y="1600200"/>
            <a:ext cx="2819400" cy="457200"/>
            <a:chOff x="6438900" y="1600200"/>
            <a:chExt cx="2819400" cy="457200"/>
          </a:xfrm>
        </p:grpSpPr>
        <p:sp>
          <p:nvSpPr>
            <p:cNvPr id="14" name="node03.surface"/>
            <p:cNvSpPr/>
            <p:nvPr/>
          </p:nvSpPr>
          <p:spPr>
            <a:xfrm>
              <a:off x="6438900" y="1600200"/>
              <a:ext cx="2819400" cy="457200"/>
            </a:xfrm>
            <a:custGeom>
              <a:avLst/>
              <a:gdLst/>
              <a:ahLst/>
              <a:cxnLst/>
              <a:rect l="l" t="t" r="r" b="b"/>
              <a:pathLst>
                <a:path w="2819400" h="457200">
                  <a:moveTo>
                    <a:pt x="0" y="0"/>
                  </a:moveTo>
                  <a:lnTo>
                    <a:pt x="2667000" y="0"/>
                  </a:lnTo>
                  <a:lnTo>
                    <a:pt x="2819400" y="228600"/>
                  </a:lnTo>
                  <a:lnTo>
                    <a:pt x="2667000" y="457200"/>
                  </a:lnTo>
                  <a:lnTo>
                    <a:pt x="0" y="457200"/>
                  </a:lnTo>
                  <a:lnTo>
                    <a:pt x="152400" y="228600"/>
                  </a:lnTo>
                  <a:close/>
                </a:path>
              </a:pathLst>
            </a:custGeom>
            <a:solidFill>
              <a:srgbClr val="CED7E6"/>
            </a:solidFill>
            <a:ln>
              <a:noFill/>
            </a:ln>
          </p:spPr>
        </p:sp>
        <p:sp>
          <p:nvSpPr>
            <p:cNvPr id="15" name="node03.number"/>
            <p:cNvSpPr/>
            <p:nvPr/>
          </p:nvSpPr>
          <p:spPr>
            <a:xfrm>
              <a:off x="6667500" y="1695450"/>
              <a:ext cx="122364"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70154"/>
                  </a:solidFill>
                  <a:latin typeface="IBM Plex Mono SemiBold"/>
                  <a:ea typeface="IBM Plex Mono SemiBold"/>
                  <a:cs typeface="IBM Plex Mono SemiBold"/>
                </a:rPr>
                <a:t>3</a:t>
              </a:r>
              <a:endParaRPr lang="en-US" sz="1600" spc="0" kern="0" b="0" i="0" dirty="0">
                <a:solidFill>
                  <a:srgbClr val="070154"/>
                </a:solidFill>
                <a:latin typeface="IBM Plex Mono SemiBold"/>
                <a:ea typeface="IBM Plex Mono SemiBold"/>
                <a:cs typeface="IBM Plex Mono SemiBold"/>
              </a:endParaRPr>
            </a:p>
          </p:txBody>
        </p:sp>
        <p:sp>
          <p:nvSpPr>
            <p:cNvPr id="16" name="node03.text"/>
            <p:cNvSpPr/>
            <p:nvPr/>
          </p:nvSpPr>
          <p:spPr>
            <a:xfrm>
              <a:off x="6904165" y="1733550"/>
              <a:ext cx="2125536"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Review</a:t>
              </a:r>
              <a:endParaRPr lang="en-US" sz="1100" spc="0" kern="0" b="0" i="0" dirty="0">
                <a:solidFill>
                  <a:srgbClr val="070154"/>
                </a:solidFill>
                <a:latin typeface="IBM Plex Sans SemiBold"/>
                <a:ea typeface="IBM Plex Sans SemiBold"/>
                <a:cs typeface="IBM Plex Sans SemiBold"/>
              </a:endParaRPr>
            </a:p>
          </p:txBody>
        </p:sp>
      </p:grpSp>
      <p:grpSp>
        <p:nvGrpSpPr>
          <p:cNvPr id="74" name="node04"/>
          <p:cNvGrpSpPr/>
          <p:nvPr/>
        </p:nvGrpSpPr>
        <p:grpSpPr>
          <a:xfrm>
            <a:off x="9182100" y="1600200"/>
            <a:ext cx="2286000" cy="457200"/>
            <a:chOff x="9182100" y="1600200"/>
            <a:chExt cx="2286000" cy="457200"/>
          </a:xfrm>
        </p:grpSpPr>
        <p:sp>
          <p:nvSpPr>
            <p:cNvPr id="17" name="node04.surface"/>
            <p:cNvSpPr/>
            <p:nvPr/>
          </p:nvSpPr>
          <p:spPr>
            <a:xfrm>
              <a:off x="9182100" y="1600200"/>
              <a:ext cx="2286000" cy="457200"/>
            </a:xfrm>
            <a:custGeom>
              <a:avLst/>
              <a:gdLst/>
              <a:ahLst/>
              <a:cxnLst/>
              <a:rect l="l" t="t" r="r" b="b"/>
              <a:pathLst>
                <a:path w="2286000" h="457200">
                  <a:moveTo>
                    <a:pt x="0" y="0"/>
                  </a:moveTo>
                  <a:lnTo>
                    <a:pt x="2133600" y="0"/>
                  </a:lnTo>
                  <a:lnTo>
                    <a:pt x="2286000" y="228600"/>
                  </a:lnTo>
                  <a:lnTo>
                    <a:pt x="2133600" y="457200"/>
                  </a:lnTo>
                  <a:lnTo>
                    <a:pt x="0" y="457200"/>
                  </a:lnTo>
                  <a:lnTo>
                    <a:pt x="152400" y="228600"/>
                  </a:lnTo>
                  <a:close/>
                </a:path>
              </a:pathLst>
            </a:custGeom>
            <a:solidFill>
              <a:srgbClr val="070154"/>
            </a:solidFill>
            <a:ln>
              <a:noFill/>
            </a:ln>
          </p:spPr>
        </p:sp>
        <p:sp>
          <p:nvSpPr>
            <p:cNvPr id="18" name="node04.number"/>
            <p:cNvSpPr/>
            <p:nvPr/>
          </p:nvSpPr>
          <p:spPr>
            <a:xfrm>
              <a:off x="9410700" y="1695450"/>
              <a:ext cx="122364"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4</a:t>
              </a:r>
              <a:endParaRPr lang="en-US" sz="1600" spc="0" kern="0" b="0" i="0" dirty="0">
                <a:solidFill>
                  <a:srgbClr val="F900D3"/>
                </a:solidFill>
                <a:latin typeface="IBM Plex Mono SemiBold"/>
                <a:ea typeface="IBM Plex Mono SemiBold"/>
                <a:cs typeface="IBM Plex Mono SemiBold"/>
              </a:endParaRPr>
            </a:p>
          </p:txBody>
        </p:sp>
        <p:sp>
          <p:nvSpPr>
            <p:cNvPr id="19" name="node04.text"/>
            <p:cNvSpPr/>
            <p:nvPr/>
          </p:nvSpPr>
          <p:spPr>
            <a:xfrm>
              <a:off x="9647365" y="1733550"/>
              <a:ext cx="1592136"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SemiBold"/>
                  <a:ea typeface="IBM Plex Sans SemiBold"/>
                  <a:cs typeface="IBM Plex Sans SemiBold"/>
                </a:rPr>
                <a:t>Activate</a:t>
              </a:r>
              <a:endParaRPr lang="en-US" sz="1100" spc="0" kern="0" b="0" i="0" dirty="0">
                <a:solidFill>
                  <a:srgbClr val="FFFFFF"/>
                </a:solidFill>
                <a:latin typeface="IBM Plex Sans SemiBold"/>
                <a:ea typeface="IBM Plex Sans SemiBold"/>
                <a:cs typeface="IBM Plex Sans SemiBold"/>
              </a:endParaRPr>
            </a:p>
          </p:txBody>
        </p:sp>
      </p:grpSp>
      <p:grpSp>
        <p:nvGrpSpPr>
          <p:cNvPr id="75" name="node05"/>
          <p:cNvGrpSpPr/>
          <p:nvPr/>
        </p:nvGrpSpPr>
        <p:grpSpPr>
          <a:xfrm>
            <a:off x="723900" y="2286000"/>
            <a:ext cx="2514600" cy="914400"/>
            <a:chOff x="723900" y="2286000"/>
            <a:chExt cx="2514600" cy="914400"/>
          </a:xfrm>
        </p:grpSpPr>
        <p:sp>
          <p:nvSpPr>
            <p:cNvPr id="20" name="node05.container"/>
            <p:cNvSpPr/>
            <p:nvPr/>
          </p:nvSpPr>
          <p:spPr>
            <a:xfrm>
              <a:off x="723900" y="2286000"/>
              <a:ext cx="2514600" cy="914400"/>
            </a:xfrm>
            <a:prstGeom prst="rect">
              <a:avLst/>
            </a:prstGeom>
            <a:solidFill>
              <a:srgbClr val="E8EEF8"/>
            </a:solidFill>
            <a:ln>
              <a:noFill/>
            </a:ln>
          </p:spPr>
        </p:sp>
        <p:sp>
          <p:nvSpPr>
            <p:cNvPr id="21" name="node05.edge"/>
            <p:cNvSpPr/>
            <p:nvPr/>
          </p:nvSpPr>
          <p:spPr>
            <a:xfrm>
              <a:off x="723900" y="2286000"/>
              <a:ext cx="38100" cy="914400"/>
            </a:xfrm>
            <a:prstGeom prst="rect">
              <a:avLst/>
            </a:prstGeom>
            <a:solidFill>
              <a:srgbClr val="F900D3"/>
            </a:solidFill>
            <a:ln>
              <a:noFill/>
            </a:ln>
          </p:spPr>
        </p:sp>
        <p:sp>
          <p:nvSpPr>
            <p:cNvPr id="22" name="node05.title"/>
            <p:cNvSpPr/>
            <p:nvPr/>
          </p:nvSpPr>
          <p:spPr>
            <a:xfrm>
              <a:off x="838200" y="2362200"/>
              <a:ext cx="23241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 xml:space="preserve">OBSERVED WORK</a:t>
              </a:r>
              <a:r>
                <a:rPr lang="en-US" sz="800" spc="-427" kern="0" b="0" i="0" dirty="0">
                  <a:solidFill>
                    <a:srgbClr val="070154"/>
                  </a:solidFill>
                  <a:latin typeface="IBM Plex Mono Medium"/>
                  <a:ea typeface="IBM Plex Mono Medium"/>
                  <a:cs typeface="IBM Plex Mono Medium"/>
                </a:rPr>
                <a:t xml:space="preserve"> </a:t>
              </a:r>
              <a:r>
                <a:rPr lang="en-US" sz="480" spc="48" kern="0" b="0" i="0" dirty="0" baseline="58333">
                  <a:solidFill>
                    <a:srgbClr val="0047FF"/>
                  </a:solidFill>
                  <a:latin typeface="IBM Plex Mono SemiBold"/>
                  <a:ea typeface="IBM Plex Mono SemiBold"/>
                  <a:cs typeface="IBM Plex Mono SemiBold"/>
                </a:rPr>
                <a:t xml:space="preserve">1</a:t>
              </a:r>
              <a:endParaRPr lang="en-US" sz="800" spc="48" kern="0" b="0" i="0" dirty="0">
                <a:solidFill>
                  <a:srgbClr val="070154"/>
                </a:solidFill>
                <a:latin typeface="IBM Plex Mono Medium"/>
                <a:ea typeface="IBM Plex Mono Medium"/>
                <a:cs typeface="IBM Plex Mono Medium"/>
              </a:endParaRPr>
            </a:p>
          </p:txBody>
        </p:sp>
        <p:sp>
          <p:nvSpPr>
            <p:cNvPr id="23" name="node05.body.item-001.paragraph"/>
            <p:cNvSpPr/>
            <p:nvPr/>
          </p:nvSpPr>
          <p:spPr>
            <a:xfrm>
              <a:off x="838200" y="2654300"/>
              <a:ext cx="2324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Recordings, traces and artifacts</a:t>
              </a:r>
              <a:endParaRPr lang="en-US" sz="1200" spc="0" kern="0" b="0" i="0" dirty="0">
                <a:solidFill>
                  <a:srgbClr val="50658E"/>
                </a:solidFill>
                <a:latin typeface="IBM Plex Sans"/>
                <a:ea typeface="IBM Plex Sans"/>
                <a:cs typeface="IBM Plex Sans"/>
              </a:endParaRPr>
            </a:p>
          </p:txBody>
        </p:sp>
      </p:grpSp>
      <p:grpSp>
        <p:nvGrpSpPr>
          <p:cNvPr id="76" name="node06"/>
          <p:cNvGrpSpPr/>
          <p:nvPr/>
        </p:nvGrpSpPr>
        <p:grpSpPr>
          <a:xfrm>
            <a:off x="3238500" y="2700579"/>
            <a:ext cx="457200" cy="85242"/>
            <a:chOff x="3238500" y="2700579"/>
            <a:chExt cx="457200" cy="85242"/>
          </a:xfrm>
        </p:grpSpPr>
        <p:sp>
          <p:nvSpPr>
            <p:cNvPr id="24" name="node06.segment-1"/>
            <p:cNvSpPr/>
            <p:nvPr/>
          </p:nvSpPr>
          <p:spPr>
            <a:xfrm>
              <a:off x="3238500" y="2743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25" name="node06.head-end.0"/>
            <p:cNvSpPr/>
            <p:nvPr/>
          </p:nvSpPr>
          <p:spPr>
            <a:xfrm>
              <a:off x="36176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26" name="node06.head-end.1"/>
            <p:cNvSpPr/>
            <p:nvPr/>
          </p:nvSpPr>
          <p:spPr>
            <a:xfrm>
              <a:off x="36176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77" name="node07"/>
          <p:cNvGrpSpPr/>
          <p:nvPr/>
        </p:nvGrpSpPr>
        <p:grpSpPr>
          <a:xfrm>
            <a:off x="723900" y="3429000"/>
            <a:ext cx="2514600" cy="914400"/>
            <a:chOff x="723900" y="3429000"/>
            <a:chExt cx="2514600" cy="914400"/>
          </a:xfrm>
        </p:grpSpPr>
        <p:sp>
          <p:nvSpPr>
            <p:cNvPr id="27" name="node07.container"/>
            <p:cNvSpPr/>
            <p:nvPr/>
          </p:nvSpPr>
          <p:spPr>
            <a:xfrm>
              <a:off x="723900" y="3429000"/>
              <a:ext cx="2514600" cy="914400"/>
            </a:xfrm>
            <a:prstGeom prst="rect">
              <a:avLst/>
            </a:prstGeom>
            <a:solidFill>
              <a:srgbClr val="E8EEF8"/>
            </a:solidFill>
            <a:ln>
              <a:noFill/>
            </a:ln>
          </p:spPr>
        </p:sp>
        <p:sp>
          <p:nvSpPr>
            <p:cNvPr id="28" name="node07.edge"/>
            <p:cNvSpPr/>
            <p:nvPr/>
          </p:nvSpPr>
          <p:spPr>
            <a:xfrm>
              <a:off x="723900" y="3429000"/>
              <a:ext cx="38100" cy="914400"/>
            </a:xfrm>
            <a:prstGeom prst="rect">
              <a:avLst/>
            </a:prstGeom>
            <a:solidFill>
              <a:srgbClr val="0047FF"/>
            </a:solidFill>
            <a:ln>
              <a:noFill/>
            </a:ln>
          </p:spPr>
        </p:sp>
        <p:sp>
          <p:nvSpPr>
            <p:cNvPr id="29" name="node07.title"/>
            <p:cNvSpPr/>
            <p:nvPr/>
          </p:nvSpPr>
          <p:spPr>
            <a:xfrm>
              <a:off x="838200" y="3505200"/>
              <a:ext cx="23241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ENCODED BEHAVIOR</a:t>
              </a:r>
              <a:endParaRPr lang="en-US" sz="800" spc="48" kern="0" b="0" i="0" dirty="0">
                <a:solidFill>
                  <a:srgbClr val="070154"/>
                </a:solidFill>
                <a:latin typeface="IBM Plex Mono Medium"/>
                <a:ea typeface="IBM Plex Mono Medium"/>
                <a:cs typeface="IBM Plex Mono Medium"/>
              </a:endParaRPr>
            </a:p>
          </p:txBody>
        </p:sp>
        <p:sp>
          <p:nvSpPr>
            <p:cNvPr id="30" name="node07.body.item-001.paragraph"/>
            <p:cNvSpPr/>
            <p:nvPr/>
          </p:nvSpPr>
          <p:spPr>
            <a:xfrm>
              <a:off x="838200" y="3797300"/>
              <a:ext cx="23241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Source, configuration, data and jobs</a:t>
              </a:r>
              <a:endParaRPr lang="en-US" sz="1200" spc="0" kern="0" b="0" i="0" dirty="0">
                <a:solidFill>
                  <a:srgbClr val="50658E"/>
                </a:solidFill>
                <a:latin typeface="IBM Plex Sans"/>
                <a:ea typeface="IBM Plex Sans"/>
                <a:cs typeface="IBM Plex Sans"/>
              </a:endParaRPr>
            </a:p>
          </p:txBody>
        </p:sp>
      </p:grpSp>
      <p:grpSp>
        <p:nvGrpSpPr>
          <p:cNvPr id="78" name="node08"/>
          <p:cNvGrpSpPr/>
          <p:nvPr/>
        </p:nvGrpSpPr>
        <p:grpSpPr>
          <a:xfrm>
            <a:off x="3238500" y="3843579"/>
            <a:ext cx="457200" cy="85242"/>
            <a:chOff x="3238500" y="3843579"/>
            <a:chExt cx="457200" cy="85242"/>
          </a:xfrm>
        </p:grpSpPr>
        <p:sp>
          <p:nvSpPr>
            <p:cNvPr id="31" name="node08.segment-1"/>
            <p:cNvSpPr/>
            <p:nvPr/>
          </p:nvSpPr>
          <p:spPr>
            <a:xfrm>
              <a:off x="3238500" y="3886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32" name="node08.head-end.0"/>
            <p:cNvSpPr/>
            <p:nvPr/>
          </p:nvSpPr>
          <p:spPr>
            <a:xfrm>
              <a:off x="3617683" y="3886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3" name="node08.head-end.1"/>
            <p:cNvSpPr/>
            <p:nvPr/>
          </p:nvSpPr>
          <p:spPr>
            <a:xfrm>
              <a:off x="3617683" y="3843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79" name="node09"/>
          <p:cNvGrpSpPr/>
          <p:nvPr/>
        </p:nvGrpSpPr>
        <p:grpSpPr>
          <a:xfrm>
            <a:off x="723900" y="4572000"/>
            <a:ext cx="2514600" cy="914400"/>
            <a:chOff x="723900" y="4572000"/>
            <a:chExt cx="2514600" cy="914400"/>
          </a:xfrm>
        </p:grpSpPr>
        <p:sp>
          <p:nvSpPr>
            <p:cNvPr id="34" name="node09.container"/>
            <p:cNvSpPr/>
            <p:nvPr/>
          </p:nvSpPr>
          <p:spPr>
            <a:xfrm>
              <a:off x="723900" y="4572000"/>
              <a:ext cx="2514600" cy="914400"/>
            </a:xfrm>
            <a:prstGeom prst="rect">
              <a:avLst/>
            </a:prstGeom>
            <a:solidFill>
              <a:srgbClr val="E8EEF8"/>
            </a:solidFill>
            <a:ln>
              <a:noFill/>
            </a:ln>
          </p:spPr>
        </p:sp>
        <p:sp>
          <p:nvSpPr>
            <p:cNvPr id="35" name="node09.edge"/>
            <p:cNvSpPr/>
            <p:nvPr/>
          </p:nvSpPr>
          <p:spPr>
            <a:xfrm>
              <a:off x="723900" y="4572000"/>
              <a:ext cx="38100" cy="914400"/>
            </a:xfrm>
            <a:prstGeom prst="rect">
              <a:avLst/>
            </a:prstGeom>
            <a:solidFill>
              <a:srgbClr val="070154"/>
            </a:solidFill>
            <a:ln>
              <a:noFill/>
            </a:ln>
          </p:spPr>
        </p:sp>
        <p:sp>
          <p:nvSpPr>
            <p:cNvPr id="36" name="node09.title"/>
            <p:cNvSpPr/>
            <p:nvPr/>
          </p:nvSpPr>
          <p:spPr>
            <a:xfrm>
              <a:off x="838200" y="4648200"/>
              <a:ext cx="23241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EXPERT CONTEXT</a:t>
              </a:r>
              <a:endParaRPr lang="en-US" sz="800" spc="48" kern="0" b="0" i="0" dirty="0">
                <a:solidFill>
                  <a:srgbClr val="070154"/>
                </a:solidFill>
                <a:latin typeface="IBM Plex Mono Medium"/>
                <a:ea typeface="IBM Plex Mono Medium"/>
                <a:cs typeface="IBM Plex Mono Medium"/>
              </a:endParaRPr>
            </a:p>
          </p:txBody>
        </p:sp>
        <p:sp>
          <p:nvSpPr>
            <p:cNvPr id="37" name="node09.body.item-001.paragraph"/>
            <p:cNvSpPr/>
            <p:nvPr/>
          </p:nvSpPr>
          <p:spPr>
            <a:xfrm>
              <a:off x="838200" y="4940300"/>
              <a:ext cx="23241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Interviews, policies and procedures</a:t>
              </a:r>
              <a:endParaRPr lang="en-US" sz="1200" spc="0" kern="0" b="0" i="0" dirty="0">
                <a:solidFill>
                  <a:srgbClr val="50658E"/>
                </a:solidFill>
                <a:latin typeface="IBM Plex Sans"/>
                <a:ea typeface="IBM Plex Sans"/>
                <a:cs typeface="IBM Plex Sans"/>
              </a:endParaRPr>
            </a:p>
          </p:txBody>
        </p:sp>
      </p:grpSp>
      <p:grpSp>
        <p:nvGrpSpPr>
          <p:cNvPr id="80" name="node10"/>
          <p:cNvGrpSpPr/>
          <p:nvPr/>
        </p:nvGrpSpPr>
        <p:grpSpPr>
          <a:xfrm>
            <a:off x="3238500" y="4986579"/>
            <a:ext cx="457200" cy="85242"/>
            <a:chOff x="3238500" y="4986579"/>
            <a:chExt cx="457200" cy="85242"/>
          </a:xfrm>
        </p:grpSpPr>
        <p:sp>
          <p:nvSpPr>
            <p:cNvPr id="38" name="node10.segment-1"/>
            <p:cNvSpPr/>
            <p:nvPr/>
          </p:nvSpPr>
          <p:spPr>
            <a:xfrm>
              <a:off x="3238500" y="5029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39" name="node10.head-end.0"/>
            <p:cNvSpPr/>
            <p:nvPr/>
          </p:nvSpPr>
          <p:spPr>
            <a:xfrm>
              <a:off x="3617683" y="5029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0" name="node10.head-end.1"/>
            <p:cNvSpPr/>
            <p:nvPr/>
          </p:nvSpPr>
          <p:spPr>
            <a:xfrm>
              <a:off x="3617683" y="4986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1" name="node11"/>
          <p:cNvGrpSpPr/>
          <p:nvPr/>
        </p:nvGrpSpPr>
        <p:grpSpPr>
          <a:xfrm>
            <a:off x="3695700" y="2286000"/>
            <a:ext cx="2286000" cy="3200400"/>
            <a:chOff x="3695700" y="2286000"/>
            <a:chExt cx="2286000" cy="3200400"/>
          </a:xfrm>
        </p:grpSpPr>
        <p:sp>
          <p:nvSpPr>
            <p:cNvPr id="41" name="node11.container"/>
            <p:cNvSpPr/>
            <p:nvPr/>
          </p:nvSpPr>
          <p:spPr>
            <a:xfrm>
              <a:off x="3695700" y="2286000"/>
              <a:ext cx="2286000" cy="3200400"/>
            </a:xfrm>
            <a:prstGeom prst="rect">
              <a:avLst/>
            </a:prstGeom>
            <a:solidFill>
              <a:srgbClr val="070154"/>
            </a:solidFill>
            <a:ln>
              <a:noFill/>
            </a:ln>
          </p:spPr>
        </p:sp>
        <p:sp>
          <p:nvSpPr>
            <p:cNvPr id="42" name="node11.title"/>
            <p:cNvSpPr/>
            <p:nvPr/>
          </p:nvSpPr>
          <p:spPr>
            <a:xfrm>
              <a:off x="3848100" y="2438400"/>
              <a:ext cx="1981200" cy="8001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AI builds a candidate process and logic model</a:t>
              </a:r>
              <a:endParaRPr lang="en-US" sz="1600" spc="-16" kern="0" b="0" i="0" dirty="0">
                <a:solidFill>
                  <a:srgbClr val="FFFFFF"/>
                </a:solidFill>
                <a:latin typeface="IBM Plex Sans SemiBold"/>
                <a:ea typeface="IBM Plex Sans SemiBold"/>
                <a:cs typeface="IBM Plex Sans SemiBold"/>
              </a:endParaRPr>
            </a:p>
          </p:txBody>
        </p:sp>
        <p:sp>
          <p:nvSpPr>
            <p:cNvPr id="43" name="node11.body.item-001.bullets.item-001.marker"/>
            <p:cNvSpPr/>
            <p:nvPr/>
          </p:nvSpPr>
          <p:spPr>
            <a:xfrm>
              <a:off x="3848100" y="3479800"/>
              <a:ext cx="38100" cy="38100"/>
            </a:xfrm>
            <a:prstGeom prst="rect">
              <a:avLst/>
            </a:prstGeom>
            <a:solidFill>
              <a:srgbClr val="FFFFFF"/>
            </a:solidFill>
            <a:ln>
              <a:noFill/>
            </a:ln>
          </p:spPr>
        </p:sp>
        <p:sp>
          <p:nvSpPr>
            <p:cNvPr id="44" name="node11.body.item-001.bullets.item-001.text"/>
            <p:cNvSpPr/>
            <p:nvPr/>
          </p:nvSpPr>
          <p:spPr>
            <a:xfrm>
              <a:off x="4000500" y="3390900"/>
              <a:ext cx="1828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Source-linked</a:t>
              </a:r>
              <a:endParaRPr lang="en-US" sz="1200" spc="0" kern="0" b="0" i="0" dirty="0">
                <a:solidFill>
                  <a:srgbClr val="FFFFFF"/>
                </a:solidFill>
                <a:latin typeface="IBM Plex Sans"/>
                <a:ea typeface="IBM Plex Sans"/>
                <a:cs typeface="IBM Plex Sans"/>
              </a:endParaRPr>
            </a:p>
          </p:txBody>
        </p:sp>
        <p:sp>
          <p:nvSpPr>
            <p:cNvPr id="45" name="node11.body.item-001.bullets.item-002.marker"/>
            <p:cNvSpPr/>
            <p:nvPr/>
          </p:nvSpPr>
          <p:spPr>
            <a:xfrm>
              <a:off x="3848100" y="3733800"/>
              <a:ext cx="38100" cy="38100"/>
            </a:xfrm>
            <a:prstGeom prst="rect">
              <a:avLst/>
            </a:prstGeom>
            <a:solidFill>
              <a:srgbClr val="FFFFFF"/>
            </a:solidFill>
            <a:ln>
              <a:noFill/>
            </a:ln>
          </p:spPr>
        </p:sp>
        <p:sp>
          <p:nvSpPr>
            <p:cNvPr id="46" name="node11.body.item-001.bullets.item-002.text"/>
            <p:cNvSpPr/>
            <p:nvPr/>
          </p:nvSpPr>
          <p:spPr>
            <a:xfrm>
              <a:off x="4000500" y="3644900"/>
              <a:ext cx="1828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Confidence-scored</a:t>
              </a:r>
              <a:endParaRPr lang="en-US" sz="1200" spc="0" kern="0" b="0" i="0" dirty="0">
                <a:solidFill>
                  <a:srgbClr val="FFFFFF"/>
                </a:solidFill>
                <a:latin typeface="IBM Plex Sans"/>
                <a:ea typeface="IBM Plex Sans"/>
                <a:cs typeface="IBM Plex Sans"/>
              </a:endParaRPr>
            </a:p>
          </p:txBody>
        </p:sp>
        <p:sp>
          <p:nvSpPr>
            <p:cNvPr id="47" name="node11.body.item-001.bullets.item-003.marker"/>
            <p:cNvSpPr/>
            <p:nvPr/>
          </p:nvSpPr>
          <p:spPr>
            <a:xfrm>
              <a:off x="3848100" y="3987800"/>
              <a:ext cx="38100" cy="38100"/>
            </a:xfrm>
            <a:prstGeom prst="rect">
              <a:avLst/>
            </a:prstGeom>
            <a:solidFill>
              <a:srgbClr val="FFFFFF"/>
            </a:solidFill>
            <a:ln>
              <a:noFill/>
            </a:ln>
          </p:spPr>
        </p:sp>
        <p:sp>
          <p:nvSpPr>
            <p:cNvPr id="48" name="node11.body.item-001.bullets.item-003.text"/>
            <p:cNvSpPr/>
            <p:nvPr/>
          </p:nvSpPr>
          <p:spPr>
            <a:xfrm>
              <a:off x="4000500" y="3898900"/>
              <a:ext cx="1828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Gaps flagged</a:t>
              </a:r>
              <a:endParaRPr lang="en-US" sz="1200" spc="0" kern="0" b="0" i="0" dirty="0">
                <a:solidFill>
                  <a:srgbClr val="FFFFFF"/>
                </a:solidFill>
                <a:latin typeface="IBM Plex Sans"/>
                <a:ea typeface="IBM Plex Sans"/>
                <a:cs typeface="IBM Plex Sans"/>
              </a:endParaRPr>
            </a:p>
          </p:txBody>
        </p:sp>
      </p:grpSp>
      <p:grpSp>
        <p:nvGrpSpPr>
          <p:cNvPr id="82" name="node12"/>
          <p:cNvGrpSpPr/>
          <p:nvPr/>
        </p:nvGrpSpPr>
        <p:grpSpPr>
          <a:xfrm>
            <a:off x="5981700" y="2700579"/>
            <a:ext cx="457200" cy="85242"/>
            <a:chOff x="5981700" y="2700579"/>
            <a:chExt cx="457200" cy="85242"/>
          </a:xfrm>
        </p:grpSpPr>
        <p:sp>
          <p:nvSpPr>
            <p:cNvPr id="49" name="node12.segment-1"/>
            <p:cNvSpPr/>
            <p:nvPr/>
          </p:nvSpPr>
          <p:spPr>
            <a:xfrm>
              <a:off x="5981700" y="2743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50" name="node12.head-end.0"/>
            <p:cNvSpPr/>
            <p:nvPr/>
          </p:nvSpPr>
          <p:spPr>
            <a:xfrm>
              <a:off x="63608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1" name="node12.head-end.1"/>
            <p:cNvSpPr/>
            <p:nvPr/>
          </p:nvSpPr>
          <p:spPr>
            <a:xfrm>
              <a:off x="63608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3" name="node13"/>
          <p:cNvGrpSpPr/>
          <p:nvPr/>
        </p:nvGrpSpPr>
        <p:grpSpPr>
          <a:xfrm>
            <a:off x="6438900" y="2286000"/>
            <a:ext cx="2286000" cy="914400"/>
            <a:chOff x="6438900" y="2286000"/>
            <a:chExt cx="2286000" cy="914400"/>
          </a:xfrm>
        </p:grpSpPr>
        <p:sp>
          <p:nvSpPr>
            <p:cNvPr id="52" name="node13.surface"/>
            <p:cNvSpPr/>
            <p:nvPr/>
          </p:nvSpPr>
          <p:spPr>
            <a:xfrm>
              <a:off x="6438900" y="2286000"/>
              <a:ext cx="2286000" cy="914400"/>
            </a:xfrm>
            <a:prstGeom prst="rect">
              <a:avLst/>
            </a:prstGeom>
            <a:solidFill>
              <a:srgbClr val="F900D3"/>
            </a:solidFill>
            <a:ln>
              <a:noFill/>
            </a:ln>
          </p:spPr>
        </p:sp>
        <p:sp>
          <p:nvSpPr>
            <p:cNvPr id="53" name="node13.text"/>
            <p:cNvSpPr/>
            <p:nvPr/>
          </p:nvSpPr>
          <p:spPr>
            <a:xfrm>
              <a:off x="6591300" y="2609850"/>
              <a:ext cx="19812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070154"/>
                  </a:solidFill>
                  <a:latin typeface="IBM Plex Sans SemiBold"/>
                  <a:ea typeface="IBM Plex Sans SemiBold"/>
                  <a:cs typeface="IBM Plex Sans SemiBold"/>
                </a:rPr>
                <a:t>Expert review</a:t>
              </a:r>
              <a:endParaRPr lang="en-US" sz="1600" spc="-16" kern="0" b="0" i="0" dirty="0">
                <a:solidFill>
                  <a:srgbClr val="070154"/>
                </a:solidFill>
                <a:latin typeface="IBM Plex Sans SemiBold"/>
                <a:ea typeface="IBM Plex Sans SemiBold"/>
                <a:cs typeface="IBM Plex Sans SemiBold"/>
              </a:endParaRPr>
            </a:p>
          </p:txBody>
        </p:sp>
      </p:grpSp>
      <p:grpSp>
        <p:nvGrpSpPr>
          <p:cNvPr id="84" name="node14"/>
          <p:cNvGrpSpPr/>
          <p:nvPr/>
        </p:nvGrpSpPr>
        <p:grpSpPr>
          <a:xfrm>
            <a:off x="6438900" y="3352800"/>
            <a:ext cx="2286000" cy="571500"/>
            <a:chOff x="6438900" y="3352800"/>
            <a:chExt cx="2286000" cy="571500"/>
          </a:xfrm>
        </p:grpSpPr>
        <p:sp>
          <p:nvSpPr>
            <p:cNvPr id="54" name="node14.text"/>
            <p:cNvSpPr/>
            <p:nvPr/>
          </p:nvSpPr>
          <p:spPr>
            <a:xfrm>
              <a:off x="6438900" y="3352800"/>
              <a:ext cx="2286000" cy="571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Operators and technology experts mark each item accurate, obsolete, material or missing.</a:t>
              </a:r>
              <a:endParaRPr lang="en-US" sz="1100" spc="0" kern="0" b="0" i="0" dirty="0">
                <a:solidFill>
                  <a:srgbClr val="070154"/>
                </a:solidFill>
                <a:latin typeface="IBM Plex Sans"/>
                <a:ea typeface="IBM Plex Sans"/>
                <a:cs typeface="IBM Plex Sans"/>
              </a:endParaRPr>
            </a:p>
          </p:txBody>
        </p:sp>
      </p:grpSp>
      <p:grpSp>
        <p:nvGrpSpPr>
          <p:cNvPr id="85" name="node15"/>
          <p:cNvGrpSpPr/>
          <p:nvPr/>
        </p:nvGrpSpPr>
        <p:grpSpPr>
          <a:xfrm>
            <a:off x="6438900" y="4343400"/>
            <a:ext cx="2286000" cy="381000"/>
            <a:chOff x="6438900" y="4343400"/>
            <a:chExt cx="2286000" cy="381000"/>
          </a:xfrm>
        </p:grpSpPr>
        <p:sp>
          <p:nvSpPr>
            <p:cNvPr id="55" name="node15.text"/>
            <p:cNvSpPr/>
            <p:nvPr/>
          </p:nvSpPr>
          <p:spPr>
            <a:xfrm>
              <a:off x="6438900" y="4343400"/>
              <a:ext cx="2286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Human judgment governs the model.</a:t>
              </a:r>
              <a:endParaRPr lang="en-US" sz="1100" spc="0" kern="0" b="0" i="0" dirty="0">
                <a:solidFill>
                  <a:srgbClr val="070154"/>
                </a:solidFill>
                <a:latin typeface="IBM Plex Sans"/>
                <a:ea typeface="IBM Plex Sans"/>
                <a:cs typeface="IBM Plex Sans"/>
              </a:endParaRPr>
            </a:p>
          </p:txBody>
        </p:sp>
      </p:grpSp>
      <p:grpSp>
        <p:nvGrpSpPr>
          <p:cNvPr id="86" name="node16"/>
          <p:cNvGrpSpPr/>
          <p:nvPr/>
        </p:nvGrpSpPr>
        <p:grpSpPr>
          <a:xfrm>
            <a:off x="8724900" y="2700579"/>
            <a:ext cx="457200" cy="85242"/>
            <a:chOff x="8724900" y="2700579"/>
            <a:chExt cx="457200" cy="85242"/>
          </a:xfrm>
        </p:grpSpPr>
        <p:sp>
          <p:nvSpPr>
            <p:cNvPr id="56" name="node16.segment-1"/>
            <p:cNvSpPr/>
            <p:nvPr/>
          </p:nvSpPr>
          <p:spPr>
            <a:xfrm>
              <a:off x="8724900" y="2743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57" name="node16.head-end.0"/>
            <p:cNvSpPr/>
            <p:nvPr/>
          </p:nvSpPr>
          <p:spPr>
            <a:xfrm>
              <a:off x="91040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8" name="node16.head-end.1"/>
            <p:cNvSpPr/>
            <p:nvPr/>
          </p:nvSpPr>
          <p:spPr>
            <a:xfrm>
              <a:off x="91040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7" name="node17"/>
          <p:cNvGrpSpPr/>
          <p:nvPr/>
        </p:nvGrpSpPr>
        <p:grpSpPr>
          <a:xfrm>
            <a:off x="9182100" y="2286000"/>
            <a:ext cx="2286000" cy="914400"/>
            <a:chOff x="9182100" y="2286000"/>
            <a:chExt cx="2286000" cy="914400"/>
          </a:xfrm>
        </p:grpSpPr>
        <p:sp>
          <p:nvSpPr>
            <p:cNvPr id="59" name="node17.surface"/>
            <p:cNvSpPr/>
            <p:nvPr/>
          </p:nvSpPr>
          <p:spPr>
            <a:xfrm>
              <a:off x="9182100" y="2286000"/>
              <a:ext cx="2286000" cy="914400"/>
            </a:xfrm>
            <a:prstGeom prst="rect">
              <a:avLst/>
            </a:prstGeom>
            <a:solidFill>
              <a:srgbClr val="070154"/>
            </a:solidFill>
            <a:ln>
              <a:noFill/>
            </a:ln>
          </p:spPr>
        </p:sp>
        <p:sp>
          <p:nvSpPr>
            <p:cNvPr id="60" name="node17.text"/>
            <p:cNvSpPr/>
            <p:nvPr/>
          </p:nvSpPr>
          <p:spPr>
            <a:xfrm>
              <a:off x="9334500" y="2609850"/>
              <a:ext cx="19812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Validated model</a:t>
              </a:r>
              <a:endParaRPr lang="en-US" sz="1600" spc="-16" kern="0" b="0" i="0" dirty="0">
                <a:solidFill>
                  <a:srgbClr val="FFFFFF"/>
                </a:solidFill>
                <a:latin typeface="IBM Plex Sans SemiBold"/>
                <a:ea typeface="IBM Plex Sans SemiBold"/>
                <a:cs typeface="IBM Plex Sans SemiBold"/>
              </a:endParaRPr>
            </a:p>
          </p:txBody>
        </p:sp>
      </p:grpSp>
      <p:grpSp>
        <p:nvGrpSpPr>
          <p:cNvPr id="88" name="node18"/>
          <p:cNvGrpSpPr/>
          <p:nvPr/>
        </p:nvGrpSpPr>
        <p:grpSpPr>
          <a:xfrm>
            <a:off x="9182100" y="3352800"/>
            <a:ext cx="2286000" cy="977900"/>
            <a:chOff x="9182100" y="3352800"/>
            <a:chExt cx="2286000" cy="977900"/>
          </a:xfrm>
        </p:grpSpPr>
        <p:sp>
          <p:nvSpPr>
            <p:cNvPr id="61" name="node18.source-001.bullet"/>
            <p:cNvSpPr/>
            <p:nvPr/>
          </p:nvSpPr>
          <p:spPr>
            <a:xfrm>
              <a:off x="9182100" y="3441700"/>
              <a:ext cx="38100" cy="38100"/>
            </a:xfrm>
            <a:prstGeom prst="rect">
              <a:avLst/>
            </a:prstGeom>
            <a:solidFill>
              <a:srgbClr val="070154"/>
            </a:solidFill>
            <a:ln>
              <a:noFill/>
            </a:ln>
          </p:spPr>
        </p:sp>
        <p:sp>
          <p:nvSpPr>
            <p:cNvPr id="62" name="node18.source-001.text"/>
            <p:cNvSpPr/>
            <p:nvPr/>
          </p:nvSpPr>
          <p:spPr>
            <a:xfrm>
              <a:off x="9334500" y="33528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Current-state process</a:t>
              </a:r>
              <a:endParaRPr lang="en-US" sz="1200" spc="0" kern="0" b="0" i="0" dirty="0">
                <a:solidFill>
                  <a:srgbClr val="070154"/>
                </a:solidFill>
                <a:latin typeface="IBM Plex Sans"/>
                <a:ea typeface="IBM Plex Sans"/>
                <a:cs typeface="IBM Plex Sans"/>
              </a:endParaRPr>
            </a:p>
          </p:txBody>
        </p:sp>
        <p:sp>
          <p:nvSpPr>
            <p:cNvPr id="63" name="node18.source-002.bullet"/>
            <p:cNvSpPr/>
            <p:nvPr/>
          </p:nvSpPr>
          <p:spPr>
            <a:xfrm>
              <a:off x="9182100" y="3695700"/>
              <a:ext cx="38100" cy="38100"/>
            </a:xfrm>
            <a:prstGeom prst="rect">
              <a:avLst/>
            </a:prstGeom>
            <a:solidFill>
              <a:srgbClr val="070154"/>
            </a:solidFill>
            <a:ln>
              <a:noFill/>
            </a:ln>
          </p:spPr>
        </p:sp>
        <p:sp>
          <p:nvSpPr>
            <p:cNvPr id="64" name="node18.source-002.text"/>
            <p:cNvSpPr/>
            <p:nvPr/>
          </p:nvSpPr>
          <p:spPr>
            <a:xfrm>
              <a:off x="9334500" y="36068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Business rules and exceptions</a:t>
              </a:r>
              <a:endParaRPr lang="en-US" sz="1200" spc="0" kern="0" b="0" i="0" dirty="0">
                <a:solidFill>
                  <a:srgbClr val="070154"/>
                </a:solidFill>
                <a:latin typeface="IBM Plex Sans"/>
                <a:ea typeface="IBM Plex Sans"/>
                <a:cs typeface="IBM Plex Sans"/>
              </a:endParaRPr>
            </a:p>
          </p:txBody>
        </p:sp>
        <p:sp>
          <p:nvSpPr>
            <p:cNvPr id="65" name="node18.source-003.bullet"/>
            <p:cNvSpPr/>
            <p:nvPr/>
          </p:nvSpPr>
          <p:spPr>
            <a:xfrm>
              <a:off x="9182100" y="3949700"/>
              <a:ext cx="38100" cy="38100"/>
            </a:xfrm>
            <a:prstGeom prst="rect">
              <a:avLst/>
            </a:prstGeom>
            <a:solidFill>
              <a:srgbClr val="070154"/>
            </a:solidFill>
            <a:ln>
              <a:noFill/>
            </a:ln>
          </p:spPr>
        </p:sp>
        <p:sp>
          <p:nvSpPr>
            <p:cNvPr id="66" name="node18.source-003.text"/>
            <p:cNvSpPr/>
            <p:nvPr/>
          </p:nvSpPr>
          <p:spPr>
            <a:xfrm>
              <a:off x="9334500" y="38608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Dependencies and risks</a:t>
              </a:r>
              <a:endParaRPr lang="en-US" sz="1200" spc="0" kern="0" b="0" i="0" dirty="0">
                <a:solidFill>
                  <a:srgbClr val="070154"/>
                </a:solidFill>
                <a:latin typeface="IBM Plex Sans"/>
                <a:ea typeface="IBM Plex Sans"/>
                <a:cs typeface="IBM Plex Sans"/>
              </a:endParaRPr>
            </a:p>
          </p:txBody>
        </p:sp>
        <p:sp>
          <p:nvSpPr>
            <p:cNvPr id="67" name="node18.source-004.bullet"/>
            <p:cNvSpPr/>
            <p:nvPr/>
          </p:nvSpPr>
          <p:spPr>
            <a:xfrm>
              <a:off x="9182100" y="4203700"/>
              <a:ext cx="38100" cy="38100"/>
            </a:xfrm>
            <a:prstGeom prst="rect">
              <a:avLst/>
            </a:prstGeom>
            <a:solidFill>
              <a:srgbClr val="070154"/>
            </a:solidFill>
            <a:ln>
              <a:noFill/>
            </a:ln>
          </p:spPr>
        </p:sp>
        <p:sp>
          <p:nvSpPr>
            <p:cNvPr id="68" name="node18.source-004.text"/>
            <p:cNvSpPr/>
            <p:nvPr/>
          </p:nvSpPr>
          <p:spPr>
            <a:xfrm>
              <a:off x="9334500" y="4114800"/>
              <a:ext cx="2133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decisions for design</a:t>
              </a:r>
              <a:endParaRPr lang="en-US" sz="1200" spc="0" kern="0" b="0" i="0" dirty="0">
                <a:solidFill>
                  <a:srgbClr val="070154"/>
                </a:solidFill>
                <a:latin typeface="IBM Plex Sans"/>
                <a:ea typeface="IBM Plex Sans"/>
                <a:cs typeface="IBM Plex Sans"/>
              </a:endParaRPr>
            </a:p>
          </p:txBody>
        </p:sp>
      </p:grpSp>
      <p:grpSp>
        <p:nvGrpSpPr>
          <p:cNvPr id="89" name="node19"/>
          <p:cNvGrpSpPr/>
          <p:nvPr/>
        </p:nvGrpSpPr>
        <p:grpSpPr>
          <a:xfrm>
            <a:off x="6438900" y="5029200"/>
            <a:ext cx="5029200" cy="457200"/>
            <a:chOff x="6438900" y="5029200"/>
            <a:chExt cx="5029200" cy="457200"/>
          </a:xfrm>
        </p:grpSpPr>
        <p:sp>
          <p:nvSpPr>
            <p:cNvPr id="69" name="node19.surface"/>
            <p:cNvSpPr/>
            <p:nvPr/>
          </p:nvSpPr>
          <p:spPr>
            <a:xfrm>
              <a:off x="6438900" y="5029200"/>
              <a:ext cx="5029200" cy="457200"/>
            </a:xfrm>
            <a:prstGeom prst="rect">
              <a:avLst/>
            </a:prstGeom>
            <a:solidFill>
              <a:srgbClr val="070154"/>
            </a:solidFill>
            <a:ln>
              <a:noFill/>
            </a:ln>
          </p:spPr>
        </p:sp>
        <p:sp>
          <p:nvSpPr>
            <p:cNvPr id="70" name="node19.text"/>
            <p:cNvSpPr/>
            <p:nvPr/>
          </p:nvSpPr>
          <p:spPr>
            <a:xfrm>
              <a:off x="6591300" y="5187950"/>
              <a:ext cx="47244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FEEDS TARGET DESIGN, PROTOTYPING AND TEST PLANNING</a:t>
              </a:r>
              <a:endParaRPr lang="en-US" sz="800" spc="48" kern="0" b="0" i="0" dirty="0">
                <a:solidFill>
                  <a:srgbClr val="FFFFFF"/>
                </a:solidFill>
                <a:latin typeface="IBM Plex Mono Medium"/>
                <a:ea typeface="IBM Plex Mono Medium"/>
                <a:cs typeface="IBM Plex Mono Medium"/>
              </a:endParaRPr>
            </a:p>
          </p:txBody>
        </p:sp>
      </p:gr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ource-43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first four milestones land inside 12 months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137</a:t>
            </a:fld>
            <a:endParaRPr lang="en-US" sz="700" spc="0" kern="0" b="0" i="0" dirty="0">
              <a:solidFill>
                <a:srgbClr val="070154"/>
              </a:solidFill>
              <a:latin typeface="IBM Plex Mono SemiBold"/>
              <a:ea typeface="IBM Plex Mono SemiBold"/>
              <a:cs typeface="IBM Plex Mono SemiBold"/>
            </a:endParaRPr>
          </a:p>
        </p:txBody>
      </p:sp>
      <p:grpSp>
        <p:nvGrpSpPr>
          <p:cNvPr id="47" name="node01"/>
          <p:cNvGrpSpPr/>
          <p:nvPr/>
        </p:nvGrpSpPr>
        <p:grpSpPr>
          <a:xfrm>
            <a:off x="723900" y="1600200"/>
            <a:ext cx="10744200" cy="2743200"/>
            <a:chOff x="723900" y="1600200"/>
            <a:chExt cx="10744200" cy="2743200"/>
          </a:xfrm>
        </p:grpSpPr>
        <p:sp>
          <p:nvSpPr>
            <p:cNvPr id="7" name="node01.road"/>
            <p:cNvSpPr/>
            <p:nvPr/>
          </p:nvSpPr>
          <p:spPr>
            <a:xfrm>
              <a:off x="952500" y="2419350"/>
              <a:ext cx="10287000" cy="1104900"/>
            </a:xfrm>
            <a:custGeom>
              <a:avLst/>
              <a:gdLst/>
              <a:ahLst/>
              <a:cxnLst/>
              <a:rect l="l" t="t" r="r" b="b"/>
              <a:pathLst>
                <a:path w="10287000" h="1104900">
                  <a:moveTo>
                    <a:pt x="0" y="1104900"/>
                  </a:moveTo>
                  <a:lnTo>
                    <a:pt x="86360" y="1103630"/>
                  </a:lnTo>
                  <a:lnTo>
                    <a:pt x="171450" y="1101090"/>
                  </a:lnTo>
                  <a:lnTo>
                    <a:pt x="257810" y="1098550"/>
                  </a:lnTo>
                  <a:lnTo>
                    <a:pt x="342900" y="1097280"/>
                  </a:lnTo>
                  <a:lnTo>
                    <a:pt x="429260" y="1094740"/>
                  </a:lnTo>
                  <a:lnTo>
                    <a:pt x="514350" y="1092200"/>
                  </a:lnTo>
                  <a:lnTo>
                    <a:pt x="600710" y="1089660"/>
                  </a:lnTo>
                  <a:lnTo>
                    <a:pt x="685800" y="1087120"/>
                  </a:lnTo>
                  <a:lnTo>
                    <a:pt x="772160" y="1084580"/>
                  </a:lnTo>
                  <a:lnTo>
                    <a:pt x="857250" y="1082040"/>
                  </a:lnTo>
                  <a:lnTo>
                    <a:pt x="943610" y="1079500"/>
                  </a:lnTo>
                  <a:lnTo>
                    <a:pt x="1028700" y="1075690"/>
                  </a:lnTo>
                  <a:lnTo>
                    <a:pt x="1115060" y="1071880"/>
                  </a:lnTo>
                  <a:lnTo>
                    <a:pt x="1200150" y="1068070"/>
                  </a:lnTo>
                  <a:lnTo>
                    <a:pt x="1286510" y="1064260"/>
                  </a:lnTo>
                  <a:lnTo>
                    <a:pt x="1371600" y="1060450"/>
                  </a:lnTo>
                  <a:lnTo>
                    <a:pt x="1457960" y="1055370"/>
                  </a:lnTo>
                  <a:lnTo>
                    <a:pt x="1543050" y="1051560"/>
                  </a:lnTo>
                  <a:lnTo>
                    <a:pt x="1629410" y="1046480"/>
                  </a:lnTo>
                  <a:lnTo>
                    <a:pt x="1714500" y="1040130"/>
                  </a:lnTo>
                  <a:lnTo>
                    <a:pt x="1800860" y="1035050"/>
                  </a:lnTo>
                  <a:lnTo>
                    <a:pt x="1885950" y="1028700"/>
                  </a:lnTo>
                  <a:lnTo>
                    <a:pt x="1972310" y="1022350"/>
                  </a:lnTo>
                  <a:lnTo>
                    <a:pt x="2057400" y="1016000"/>
                  </a:lnTo>
                  <a:lnTo>
                    <a:pt x="2143760" y="1008380"/>
                  </a:lnTo>
                  <a:lnTo>
                    <a:pt x="2228850" y="1000760"/>
                  </a:lnTo>
                  <a:lnTo>
                    <a:pt x="2315210" y="993140"/>
                  </a:lnTo>
                  <a:lnTo>
                    <a:pt x="2400300" y="984250"/>
                  </a:lnTo>
                  <a:lnTo>
                    <a:pt x="2486660" y="976630"/>
                  </a:lnTo>
                  <a:lnTo>
                    <a:pt x="2571750" y="966470"/>
                  </a:lnTo>
                  <a:lnTo>
                    <a:pt x="2658110" y="957580"/>
                  </a:lnTo>
                  <a:lnTo>
                    <a:pt x="2743200" y="947420"/>
                  </a:lnTo>
                  <a:lnTo>
                    <a:pt x="2829560" y="937260"/>
                  </a:lnTo>
                  <a:lnTo>
                    <a:pt x="2914650" y="927100"/>
                  </a:lnTo>
                  <a:lnTo>
                    <a:pt x="3001010" y="915670"/>
                  </a:lnTo>
                  <a:lnTo>
                    <a:pt x="3086100" y="905510"/>
                  </a:lnTo>
                  <a:lnTo>
                    <a:pt x="3172460" y="892810"/>
                  </a:lnTo>
                  <a:lnTo>
                    <a:pt x="3257550" y="881380"/>
                  </a:lnTo>
                  <a:lnTo>
                    <a:pt x="3343910" y="868680"/>
                  </a:lnTo>
                  <a:lnTo>
                    <a:pt x="3429000" y="855980"/>
                  </a:lnTo>
                  <a:lnTo>
                    <a:pt x="3515360" y="843280"/>
                  </a:lnTo>
                  <a:lnTo>
                    <a:pt x="3600450" y="830580"/>
                  </a:lnTo>
                  <a:lnTo>
                    <a:pt x="3686810" y="816610"/>
                  </a:lnTo>
                  <a:lnTo>
                    <a:pt x="3771900" y="802640"/>
                  </a:lnTo>
                  <a:lnTo>
                    <a:pt x="3858260" y="788670"/>
                  </a:lnTo>
                  <a:lnTo>
                    <a:pt x="3943350" y="773430"/>
                  </a:lnTo>
                  <a:lnTo>
                    <a:pt x="4029710" y="759460"/>
                  </a:lnTo>
                  <a:lnTo>
                    <a:pt x="4114800" y="744220"/>
                  </a:lnTo>
                  <a:lnTo>
                    <a:pt x="4201160" y="728980"/>
                  </a:lnTo>
                  <a:lnTo>
                    <a:pt x="4286250" y="713740"/>
                  </a:lnTo>
                  <a:lnTo>
                    <a:pt x="4372610" y="698500"/>
                  </a:lnTo>
                  <a:lnTo>
                    <a:pt x="4457700" y="681990"/>
                  </a:lnTo>
                  <a:lnTo>
                    <a:pt x="4544060" y="666750"/>
                  </a:lnTo>
                  <a:lnTo>
                    <a:pt x="4629150" y="650240"/>
                  </a:lnTo>
                  <a:lnTo>
                    <a:pt x="4715510" y="633730"/>
                  </a:lnTo>
                  <a:lnTo>
                    <a:pt x="4800600" y="618490"/>
                  </a:lnTo>
                  <a:lnTo>
                    <a:pt x="4886960" y="601980"/>
                  </a:lnTo>
                  <a:lnTo>
                    <a:pt x="4972050" y="585470"/>
                  </a:lnTo>
                  <a:lnTo>
                    <a:pt x="5058410" y="568960"/>
                  </a:lnTo>
                  <a:lnTo>
                    <a:pt x="5143500" y="552450"/>
                  </a:lnTo>
                  <a:lnTo>
                    <a:pt x="5229860" y="535940"/>
                  </a:lnTo>
                  <a:lnTo>
                    <a:pt x="5314950" y="519430"/>
                  </a:lnTo>
                  <a:lnTo>
                    <a:pt x="5401310" y="502920"/>
                  </a:lnTo>
                  <a:lnTo>
                    <a:pt x="5486400" y="486410"/>
                  </a:lnTo>
                  <a:lnTo>
                    <a:pt x="5572760" y="471170"/>
                  </a:lnTo>
                  <a:lnTo>
                    <a:pt x="5657850" y="454660"/>
                  </a:lnTo>
                  <a:lnTo>
                    <a:pt x="5744210" y="438150"/>
                  </a:lnTo>
                  <a:lnTo>
                    <a:pt x="5829300" y="422910"/>
                  </a:lnTo>
                  <a:lnTo>
                    <a:pt x="5915660" y="406400"/>
                  </a:lnTo>
                  <a:lnTo>
                    <a:pt x="6000750" y="391160"/>
                  </a:lnTo>
                  <a:lnTo>
                    <a:pt x="6087110" y="375920"/>
                  </a:lnTo>
                  <a:lnTo>
                    <a:pt x="6172200" y="360680"/>
                  </a:lnTo>
                  <a:lnTo>
                    <a:pt x="6258560" y="345440"/>
                  </a:lnTo>
                  <a:lnTo>
                    <a:pt x="6343650" y="331470"/>
                  </a:lnTo>
                  <a:lnTo>
                    <a:pt x="6430010" y="316230"/>
                  </a:lnTo>
                  <a:lnTo>
                    <a:pt x="6515100" y="302260"/>
                  </a:lnTo>
                  <a:lnTo>
                    <a:pt x="6601460" y="288290"/>
                  </a:lnTo>
                  <a:lnTo>
                    <a:pt x="6686550" y="274320"/>
                  </a:lnTo>
                  <a:lnTo>
                    <a:pt x="6772910" y="261620"/>
                  </a:lnTo>
                  <a:lnTo>
                    <a:pt x="6858000" y="248920"/>
                  </a:lnTo>
                  <a:lnTo>
                    <a:pt x="6944360" y="236220"/>
                  </a:lnTo>
                  <a:lnTo>
                    <a:pt x="7029450" y="223520"/>
                  </a:lnTo>
                  <a:lnTo>
                    <a:pt x="7115810" y="212090"/>
                  </a:lnTo>
                  <a:lnTo>
                    <a:pt x="7200900" y="199390"/>
                  </a:lnTo>
                  <a:lnTo>
                    <a:pt x="7287260" y="189230"/>
                  </a:lnTo>
                  <a:lnTo>
                    <a:pt x="7372350" y="177800"/>
                  </a:lnTo>
                  <a:lnTo>
                    <a:pt x="7458710" y="167640"/>
                  </a:lnTo>
                  <a:lnTo>
                    <a:pt x="7543800" y="157480"/>
                  </a:lnTo>
                  <a:lnTo>
                    <a:pt x="7630160" y="147320"/>
                  </a:lnTo>
                  <a:lnTo>
                    <a:pt x="7715250" y="138430"/>
                  </a:lnTo>
                  <a:lnTo>
                    <a:pt x="7801610" y="128270"/>
                  </a:lnTo>
                  <a:lnTo>
                    <a:pt x="7886700" y="120650"/>
                  </a:lnTo>
                  <a:lnTo>
                    <a:pt x="7973060" y="111760"/>
                  </a:lnTo>
                  <a:lnTo>
                    <a:pt x="8058150" y="104140"/>
                  </a:lnTo>
                  <a:lnTo>
                    <a:pt x="8144510" y="96520"/>
                  </a:lnTo>
                  <a:lnTo>
                    <a:pt x="8229600" y="88900"/>
                  </a:lnTo>
                  <a:lnTo>
                    <a:pt x="8315960" y="82550"/>
                  </a:lnTo>
                  <a:lnTo>
                    <a:pt x="8401050" y="76200"/>
                  </a:lnTo>
                  <a:lnTo>
                    <a:pt x="8487410" y="69850"/>
                  </a:lnTo>
                  <a:lnTo>
                    <a:pt x="8572500" y="64770"/>
                  </a:lnTo>
                  <a:lnTo>
                    <a:pt x="8658860" y="58420"/>
                  </a:lnTo>
                  <a:lnTo>
                    <a:pt x="8743950" y="53340"/>
                  </a:lnTo>
                  <a:lnTo>
                    <a:pt x="8830310" y="49530"/>
                  </a:lnTo>
                  <a:lnTo>
                    <a:pt x="8915400" y="44450"/>
                  </a:lnTo>
                  <a:lnTo>
                    <a:pt x="9001760" y="40640"/>
                  </a:lnTo>
                  <a:lnTo>
                    <a:pt x="9086850" y="36830"/>
                  </a:lnTo>
                  <a:lnTo>
                    <a:pt x="9173210" y="33020"/>
                  </a:lnTo>
                  <a:lnTo>
                    <a:pt x="9258300" y="29210"/>
                  </a:lnTo>
                  <a:lnTo>
                    <a:pt x="9344660" y="25400"/>
                  </a:lnTo>
                  <a:lnTo>
                    <a:pt x="9429750" y="22860"/>
                  </a:lnTo>
                  <a:lnTo>
                    <a:pt x="9516110" y="20320"/>
                  </a:lnTo>
                  <a:lnTo>
                    <a:pt x="9601200" y="17780"/>
                  </a:lnTo>
                  <a:lnTo>
                    <a:pt x="9687560" y="15240"/>
                  </a:lnTo>
                  <a:lnTo>
                    <a:pt x="9772650" y="12700"/>
                  </a:lnTo>
                  <a:lnTo>
                    <a:pt x="9859010" y="10160"/>
                  </a:lnTo>
                  <a:lnTo>
                    <a:pt x="9944100" y="7620"/>
                  </a:lnTo>
                  <a:lnTo>
                    <a:pt x="10030460" y="6350"/>
                  </a:lnTo>
                  <a:lnTo>
                    <a:pt x="10115550" y="3810"/>
                  </a:lnTo>
                  <a:lnTo>
                    <a:pt x="10201910" y="1270"/>
                  </a:lnTo>
                  <a:lnTo>
                    <a:pt x="10287000" y="0"/>
                  </a:lnTo>
                </a:path>
              </a:pathLst>
            </a:custGeom>
            <a:ln w="279400">
              <a:solidFill>
                <a:srgbClr val="070154"/>
              </a:solidFill>
              <a:prstDash val="solid"/>
              <a:round/>
            </a:ln>
          </p:spPr>
        </p:sp>
        <p:sp>
          <p:nvSpPr>
            <p:cNvPr id="8" name="node01.road.cap-1"/>
            <p:cNvSpPr/>
            <p:nvPr/>
          </p:nvSpPr>
          <p:spPr>
            <a:xfrm>
              <a:off x="812800" y="3384550"/>
              <a:ext cx="279400" cy="279400"/>
            </a:xfrm>
            <a:prstGeom prst="ellipse">
              <a:avLst/>
            </a:prstGeom>
            <a:solidFill>
              <a:srgbClr val="070154"/>
            </a:solidFill>
            <a:ln>
              <a:noFill/>
            </a:ln>
          </p:spPr>
        </p:sp>
        <p:sp>
          <p:nvSpPr>
            <p:cNvPr id="9" name="node01.road.cap-2"/>
            <p:cNvSpPr/>
            <p:nvPr/>
          </p:nvSpPr>
          <p:spPr>
            <a:xfrm>
              <a:off x="11099800" y="2279650"/>
              <a:ext cx="279400" cy="279400"/>
            </a:xfrm>
            <a:prstGeom prst="ellipse">
              <a:avLst/>
            </a:prstGeom>
            <a:solidFill>
              <a:srgbClr val="070154"/>
            </a:solidFill>
            <a:ln>
              <a:noFill/>
            </a:ln>
          </p:spPr>
        </p:sp>
        <p:sp>
          <p:nvSpPr>
            <p:cNvPr id="10" name="node01.centerline"/>
            <p:cNvSpPr/>
            <p:nvPr/>
          </p:nvSpPr>
          <p:spPr>
            <a:xfrm>
              <a:off x="952500" y="2419350"/>
              <a:ext cx="10287000" cy="1104900"/>
            </a:xfrm>
            <a:custGeom>
              <a:avLst/>
              <a:gdLst/>
              <a:ahLst/>
              <a:cxnLst/>
              <a:rect l="l" t="t" r="r" b="b"/>
              <a:pathLst>
                <a:path w="10287000" h="1104900">
                  <a:moveTo>
                    <a:pt x="0" y="1104900"/>
                  </a:moveTo>
                  <a:lnTo>
                    <a:pt x="86360" y="1103630"/>
                  </a:lnTo>
                  <a:lnTo>
                    <a:pt x="88890" y="1103554"/>
                  </a:lnTo>
                  <a:moveTo>
                    <a:pt x="177750" y="1100905"/>
                  </a:moveTo>
                  <a:lnTo>
                    <a:pt x="257810" y="1098550"/>
                  </a:lnTo>
                  <a:lnTo>
                    <a:pt x="266614" y="1098419"/>
                  </a:lnTo>
                  <a:moveTo>
                    <a:pt x="355500" y="1096909"/>
                  </a:moveTo>
                  <a:lnTo>
                    <a:pt x="429260" y="1094740"/>
                  </a:lnTo>
                  <a:lnTo>
                    <a:pt x="444362" y="1094289"/>
                  </a:lnTo>
                  <a:moveTo>
                    <a:pt x="533223" y="1091645"/>
                  </a:moveTo>
                  <a:lnTo>
                    <a:pt x="600710" y="1089660"/>
                  </a:lnTo>
                  <a:lnTo>
                    <a:pt x="622084" y="1089022"/>
                  </a:lnTo>
                  <a:moveTo>
                    <a:pt x="710945" y="1086380"/>
                  </a:moveTo>
                  <a:lnTo>
                    <a:pt x="772160" y="1084580"/>
                  </a:lnTo>
                  <a:lnTo>
                    <a:pt x="799806" y="1083755"/>
                  </a:lnTo>
                  <a:moveTo>
                    <a:pt x="888667" y="1081116"/>
                  </a:moveTo>
                  <a:lnTo>
                    <a:pt x="943610" y="1079500"/>
                  </a:lnTo>
                  <a:lnTo>
                    <a:pt x="977509" y="1077982"/>
                  </a:lnTo>
                  <a:moveTo>
                    <a:pt x="1066321" y="1074030"/>
                  </a:moveTo>
                  <a:lnTo>
                    <a:pt x="1115060" y="1071880"/>
                  </a:lnTo>
                  <a:lnTo>
                    <a:pt x="1155133" y="1070086"/>
                  </a:lnTo>
                  <a:moveTo>
                    <a:pt x="1243946" y="1066138"/>
                  </a:moveTo>
                  <a:lnTo>
                    <a:pt x="1286510" y="1064260"/>
                  </a:lnTo>
                  <a:lnTo>
                    <a:pt x="1332758" y="1062189"/>
                  </a:lnTo>
                  <a:moveTo>
                    <a:pt x="1421533" y="1057513"/>
                  </a:moveTo>
                  <a:lnTo>
                    <a:pt x="1457960" y="1055370"/>
                  </a:lnTo>
                  <a:lnTo>
                    <a:pt x="1510317" y="1053026"/>
                  </a:lnTo>
                  <a:moveTo>
                    <a:pt x="1599088" y="1048264"/>
                  </a:moveTo>
                  <a:lnTo>
                    <a:pt x="1629410" y="1046480"/>
                  </a:lnTo>
                  <a:lnTo>
                    <a:pt x="1687773" y="1042125"/>
                  </a:lnTo>
                  <a:moveTo>
                    <a:pt x="1776491" y="1036483"/>
                  </a:moveTo>
                  <a:lnTo>
                    <a:pt x="1800860" y="1035050"/>
                  </a:lnTo>
                  <a:lnTo>
                    <a:pt x="1865171" y="1030251"/>
                  </a:lnTo>
                  <a:moveTo>
                    <a:pt x="1953830" y="1023709"/>
                  </a:moveTo>
                  <a:lnTo>
                    <a:pt x="1972310" y="1022350"/>
                  </a:lnTo>
                  <a:lnTo>
                    <a:pt x="2042484" y="1017113"/>
                  </a:lnTo>
                  <a:moveTo>
                    <a:pt x="2131057" y="1009501"/>
                  </a:moveTo>
                  <a:lnTo>
                    <a:pt x="2143760" y="1008380"/>
                  </a:lnTo>
                  <a:lnTo>
                    <a:pt x="2219604" y="1001588"/>
                  </a:lnTo>
                  <a:moveTo>
                    <a:pt x="2308159" y="993762"/>
                  </a:moveTo>
                  <a:lnTo>
                    <a:pt x="2315210" y="993140"/>
                  </a:lnTo>
                  <a:lnTo>
                    <a:pt x="2396588" y="984638"/>
                  </a:lnTo>
                  <a:moveTo>
                    <a:pt x="2485139" y="976764"/>
                  </a:moveTo>
                  <a:lnTo>
                    <a:pt x="2486660" y="976630"/>
                  </a:lnTo>
                  <a:lnTo>
                    <a:pt x="2571750" y="966470"/>
                  </a:lnTo>
                  <a:lnTo>
                    <a:pt x="2573420" y="966298"/>
                  </a:lnTo>
                  <a:moveTo>
                    <a:pt x="2661845" y="957134"/>
                  </a:moveTo>
                  <a:lnTo>
                    <a:pt x="2743200" y="947420"/>
                  </a:lnTo>
                  <a:lnTo>
                    <a:pt x="2750120" y="946606"/>
                  </a:lnTo>
                  <a:moveTo>
                    <a:pt x="2838409" y="936203"/>
                  </a:moveTo>
                  <a:lnTo>
                    <a:pt x="2914650" y="927100"/>
                  </a:lnTo>
                  <a:lnTo>
                    <a:pt x="2926663" y="925510"/>
                  </a:lnTo>
                  <a:moveTo>
                    <a:pt x="3014816" y="914021"/>
                  </a:moveTo>
                  <a:lnTo>
                    <a:pt x="3086100" y="905510"/>
                  </a:lnTo>
                  <a:lnTo>
                    <a:pt x="3103028" y="903021"/>
                  </a:lnTo>
                  <a:moveTo>
                    <a:pt x="3191015" y="890318"/>
                  </a:moveTo>
                  <a:lnTo>
                    <a:pt x="3257550" y="881380"/>
                  </a:lnTo>
                  <a:lnTo>
                    <a:pt x="3279085" y="878213"/>
                  </a:lnTo>
                  <a:moveTo>
                    <a:pt x="3367032" y="865229"/>
                  </a:moveTo>
                  <a:lnTo>
                    <a:pt x="3429000" y="855980"/>
                  </a:lnTo>
                  <a:lnTo>
                    <a:pt x="3454966" y="852161"/>
                  </a:lnTo>
                  <a:moveTo>
                    <a:pt x="3542912" y="839168"/>
                  </a:moveTo>
                  <a:lnTo>
                    <a:pt x="3600450" y="830580"/>
                  </a:lnTo>
                  <a:lnTo>
                    <a:pt x="3630780" y="825674"/>
                  </a:lnTo>
                  <a:moveTo>
                    <a:pt x="3718527" y="811403"/>
                  </a:moveTo>
                  <a:lnTo>
                    <a:pt x="3771900" y="802640"/>
                  </a:lnTo>
                  <a:lnTo>
                    <a:pt x="3806266" y="797081"/>
                  </a:lnTo>
                  <a:moveTo>
                    <a:pt x="3893922" y="782283"/>
                  </a:moveTo>
                  <a:lnTo>
                    <a:pt x="3943350" y="773430"/>
                  </a:lnTo>
                  <a:lnTo>
                    <a:pt x="3981539" y="767252"/>
                  </a:lnTo>
                  <a:moveTo>
                    <a:pt x="4069185" y="752390"/>
                  </a:moveTo>
                  <a:lnTo>
                    <a:pt x="4114800" y="744220"/>
                  </a:lnTo>
                  <a:lnTo>
                    <a:pt x="4156712" y="736824"/>
                  </a:lnTo>
                  <a:moveTo>
                    <a:pt x="4244239" y="721264"/>
                  </a:moveTo>
                  <a:lnTo>
                    <a:pt x="4286250" y="713740"/>
                  </a:lnTo>
                  <a:lnTo>
                    <a:pt x="4331767" y="705708"/>
                  </a:lnTo>
                  <a:moveTo>
                    <a:pt x="4419168" y="689466"/>
                  </a:moveTo>
                  <a:lnTo>
                    <a:pt x="4457700" y="681990"/>
                  </a:lnTo>
                  <a:lnTo>
                    <a:pt x="4506594" y="673362"/>
                  </a:lnTo>
                  <a:moveTo>
                    <a:pt x="4593984" y="657063"/>
                  </a:moveTo>
                  <a:lnTo>
                    <a:pt x="4629150" y="650240"/>
                  </a:lnTo>
                  <a:lnTo>
                    <a:pt x="4681284" y="640273"/>
                  </a:lnTo>
                  <a:moveTo>
                    <a:pt x="4768717" y="624200"/>
                  </a:moveTo>
                  <a:lnTo>
                    <a:pt x="4800600" y="618490"/>
                  </a:lnTo>
                  <a:lnTo>
                    <a:pt x="4856105" y="607879"/>
                  </a:lnTo>
                  <a:moveTo>
                    <a:pt x="4943394" y="591030"/>
                  </a:moveTo>
                  <a:lnTo>
                    <a:pt x="4972050" y="585470"/>
                  </a:lnTo>
                  <a:lnTo>
                    <a:pt x="5030697" y="574258"/>
                  </a:lnTo>
                  <a:moveTo>
                    <a:pt x="5117984" y="557401"/>
                  </a:moveTo>
                  <a:lnTo>
                    <a:pt x="5143500" y="552450"/>
                  </a:lnTo>
                  <a:lnTo>
                    <a:pt x="5205289" y="540637"/>
                  </a:lnTo>
                  <a:moveTo>
                    <a:pt x="5292575" y="523771"/>
                  </a:moveTo>
                  <a:lnTo>
                    <a:pt x="5314950" y="519430"/>
                  </a:lnTo>
                  <a:lnTo>
                    <a:pt x="5379881" y="507017"/>
                  </a:lnTo>
                  <a:moveTo>
                    <a:pt x="5467165" y="490142"/>
                  </a:moveTo>
                  <a:lnTo>
                    <a:pt x="5486400" y="486410"/>
                  </a:lnTo>
                  <a:lnTo>
                    <a:pt x="5554652" y="474366"/>
                  </a:lnTo>
                  <a:moveTo>
                    <a:pt x="5641981" y="457739"/>
                  </a:moveTo>
                  <a:lnTo>
                    <a:pt x="5657850" y="454660"/>
                  </a:lnTo>
                  <a:lnTo>
                    <a:pt x="5729291" y="441002"/>
                  </a:lnTo>
                  <a:moveTo>
                    <a:pt x="5816767" y="425155"/>
                  </a:moveTo>
                  <a:lnTo>
                    <a:pt x="5829300" y="422910"/>
                  </a:lnTo>
                  <a:lnTo>
                    <a:pt x="5904112" y="408608"/>
                  </a:lnTo>
                  <a:moveTo>
                    <a:pt x="5991595" y="392800"/>
                  </a:moveTo>
                  <a:lnTo>
                    <a:pt x="6000750" y="391160"/>
                  </a:lnTo>
                  <a:lnTo>
                    <a:pt x="6079138" y="377327"/>
                  </a:lnTo>
                  <a:moveTo>
                    <a:pt x="6166649" y="361674"/>
                  </a:moveTo>
                  <a:lnTo>
                    <a:pt x="6172200" y="360680"/>
                  </a:lnTo>
                  <a:lnTo>
                    <a:pt x="6254194" y="346211"/>
                  </a:lnTo>
                  <a:moveTo>
                    <a:pt x="6341910" y="331756"/>
                  </a:moveTo>
                  <a:lnTo>
                    <a:pt x="6343650" y="331470"/>
                  </a:lnTo>
                  <a:lnTo>
                    <a:pt x="6429461" y="316327"/>
                  </a:lnTo>
                  <a:moveTo>
                    <a:pt x="6517186" y="301922"/>
                  </a:moveTo>
                  <a:lnTo>
                    <a:pt x="6601460" y="288290"/>
                  </a:lnTo>
                  <a:lnTo>
                    <a:pt x="6604944" y="287718"/>
                  </a:lnTo>
                  <a:moveTo>
                    <a:pt x="6692686" y="273418"/>
                  </a:moveTo>
                  <a:lnTo>
                    <a:pt x="6772910" y="261620"/>
                  </a:lnTo>
                  <a:lnTo>
                    <a:pt x="6780637" y="260467"/>
                  </a:lnTo>
                  <a:moveTo>
                    <a:pt x="6868567" y="247366"/>
                  </a:moveTo>
                  <a:lnTo>
                    <a:pt x="6944360" y="236220"/>
                  </a:lnTo>
                  <a:lnTo>
                    <a:pt x="6956517" y="234406"/>
                  </a:lnTo>
                  <a:moveTo>
                    <a:pt x="7044478" y="221531"/>
                  </a:moveTo>
                  <a:lnTo>
                    <a:pt x="7115810" y="212090"/>
                  </a:lnTo>
                  <a:lnTo>
                    <a:pt x="7132570" y="209588"/>
                  </a:lnTo>
                  <a:moveTo>
                    <a:pt x="7220578" y="197075"/>
                  </a:moveTo>
                  <a:lnTo>
                    <a:pt x="7287260" y="189230"/>
                  </a:lnTo>
                  <a:lnTo>
                    <a:pt x="7308824" y="186333"/>
                  </a:lnTo>
                  <a:moveTo>
                    <a:pt x="7396984" y="174902"/>
                  </a:moveTo>
                  <a:lnTo>
                    <a:pt x="7458710" y="167640"/>
                  </a:lnTo>
                  <a:lnTo>
                    <a:pt x="7485269" y="164469"/>
                  </a:lnTo>
                  <a:moveTo>
                    <a:pt x="7573548" y="153980"/>
                  </a:moveTo>
                  <a:lnTo>
                    <a:pt x="7630160" y="147320"/>
                  </a:lnTo>
                  <a:lnTo>
                    <a:pt x="7661885" y="144005"/>
                  </a:lnTo>
                  <a:moveTo>
                    <a:pt x="7750253" y="134312"/>
                  </a:moveTo>
                  <a:lnTo>
                    <a:pt x="7801610" y="128270"/>
                  </a:lnTo>
                  <a:lnTo>
                    <a:pt x="7838651" y="124953"/>
                  </a:lnTo>
                  <a:moveTo>
                    <a:pt x="7927145" y="116487"/>
                  </a:moveTo>
                  <a:lnTo>
                    <a:pt x="7973060" y="111760"/>
                  </a:lnTo>
                  <a:lnTo>
                    <a:pt x="8015632" y="107948"/>
                  </a:lnTo>
                  <a:moveTo>
                    <a:pt x="8104183" y="100078"/>
                  </a:moveTo>
                  <a:lnTo>
                    <a:pt x="8144510" y="96520"/>
                  </a:lnTo>
                  <a:lnTo>
                    <a:pt x="8192733" y="92201"/>
                  </a:lnTo>
                  <a:moveTo>
                    <a:pt x="8281346" y="85095"/>
                  </a:moveTo>
                  <a:lnTo>
                    <a:pt x="8315960" y="82550"/>
                  </a:lnTo>
                  <a:lnTo>
                    <a:pt x="8370002" y="78517"/>
                  </a:lnTo>
                  <a:moveTo>
                    <a:pt x="8458660" y="71964"/>
                  </a:moveTo>
                  <a:lnTo>
                    <a:pt x="8487410" y="69850"/>
                  </a:lnTo>
                  <a:lnTo>
                    <a:pt x="8547376" y="66270"/>
                  </a:lnTo>
                  <a:moveTo>
                    <a:pt x="8636060" y="60096"/>
                  </a:moveTo>
                  <a:lnTo>
                    <a:pt x="8658860" y="58420"/>
                  </a:lnTo>
                  <a:lnTo>
                    <a:pt x="8724781" y="54484"/>
                  </a:lnTo>
                  <a:moveTo>
                    <a:pt x="8813579" y="50268"/>
                  </a:moveTo>
                  <a:lnTo>
                    <a:pt x="8830310" y="49530"/>
                  </a:lnTo>
                  <a:lnTo>
                    <a:pt x="8902334" y="45230"/>
                  </a:lnTo>
                  <a:moveTo>
                    <a:pt x="8991138" y="41109"/>
                  </a:moveTo>
                  <a:lnTo>
                    <a:pt x="9001760" y="40640"/>
                  </a:lnTo>
                  <a:lnTo>
                    <a:pt x="9079949" y="37139"/>
                  </a:lnTo>
                  <a:moveTo>
                    <a:pt x="9168762" y="33216"/>
                  </a:moveTo>
                  <a:lnTo>
                    <a:pt x="9173210" y="33020"/>
                  </a:lnTo>
                  <a:lnTo>
                    <a:pt x="9257573" y="29243"/>
                  </a:lnTo>
                  <a:moveTo>
                    <a:pt x="9346388" y="25348"/>
                  </a:moveTo>
                  <a:lnTo>
                    <a:pt x="9429750" y="22860"/>
                  </a:lnTo>
                  <a:lnTo>
                    <a:pt x="9435248" y="22698"/>
                  </a:lnTo>
                  <a:moveTo>
                    <a:pt x="9524110" y="20081"/>
                  </a:moveTo>
                  <a:lnTo>
                    <a:pt x="9601200" y="17780"/>
                  </a:lnTo>
                  <a:lnTo>
                    <a:pt x="9612970" y="17434"/>
                  </a:lnTo>
                  <a:moveTo>
                    <a:pt x="9701832" y="14814"/>
                  </a:moveTo>
                  <a:lnTo>
                    <a:pt x="9772650" y="12700"/>
                  </a:lnTo>
                  <a:lnTo>
                    <a:pt x="9790692" y="12169"/>
                  </a:lnTo>
                  <a:moveTo>
                    <a:pt x="9879554" y="9547"/>
                  </a:moveTo>
                  <a:lnTo>
                    <a:pt x="9944100" y="7620"/>
                  </a:lnTo>
                  <a:lnTo>
                    <a:pt x="9968422" y="7262"/>
                  </a:lnTo>
                  <a:moveTo>
                    <a:pt x="10057304" y="5549"/>
                  </a:moveTo>
                  <a:lnTo>
                    <a:pt x="10115550" y="3810"/>
                  </a:lnTo>
                  <a:lnTo>
                    <a:pt x="10146165" y="2910"/>
                  </a:lnTo>
                  <a:moveTo>
                    <a:pt x="10235037" y="776"/>
                  </a:moveTo>
                  <a:lnTo>
                    <a:pt x="10287000" y="0"/>
                  </a:lnTo>
                </a:path>
              </a:pathLst>
            </a:custGeom>
            <a:ln w="19050">
              <a:solidFill>
                <a:srgbClr val="FFFFFF"/>
              </a:solidFill>
              <a:prstDash val="solid"/>
            </a:ln>
          </p:spPr>
        </p:sp>
        <p:sp>
          <p:nvSpPr>
            <p:cNvPr id="11" name="node01.milestones.source-001.pin"/>
            <p:cNvSpPr/>
            <p:nvPr/>
          </p:nvSpPr>
          <p:spPr>
            <a:xfrm>
              <a:off x="1417320" y="3356645"/>
              <a:ext cx="304800" cy="304800"/>
            </a:xfrm>
            <a:prstGeom prst="ellipse">
              <a:avLst/>
            </a:prstGeom>
            <a:solidFill>
              <a:srgbClr val="FFFFFF"/>
            </a:solidFill>
            <a:ln w="25400">
              <a:solidFill>
                <a:srgbClr val="070154"/>
              </a:solidFill>
              <a:prstDash val="solid"/>
            </a:ln>
          </p:spPr>
        </p:sp>
        <p:sp>
          <p:nvSpPr>
            <p:cNvPr id="12" name="node01.milestones.source-001.number"/>
            <p:cNvSpPr/>
            <p:nvPr/>
          </p:nvSpPr>
          <p:spPr>
            <a:xfrm>
              <a:off x="1430020" y="3369345"/>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13" name="node01.milestones.source-001.tick"/>
            <p:cNvSpPr/>
            <p:nvPr/>
          </p:nvSpPr>
          <p:spPr>
            <a:xfrm>
              <a:off x="1563370" y="3064545"/>
              <a:ext cx="12700" cy="279400"/>
            </a:xfrm>
            <a:prstGeom prst="rect">
              <a:avLst/>
            </a:prstGeom>
            <a:solidFill>
              <a:srgbClr val="070154"/>
            </a:solidFill>
            <a:ln>
              <a:noFill/>
            </a:ln>
          </p:spPr>
        </p:sp>
        <p:sp>
          <p:nvSpPr>
            <p:cNvPr id="14" name="node01.milestones.source-001.label.part-1"/>
            <p:cNvSpPr/>
            <p:nvPr/>
          </p:nvSpPr>
          <p:spPr>
            <a:xfrm>
              <a:off x="723900" y="2632745"/>
              <a:ext cx="2159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Q4 2026</a:t>
              </a:r>
              <a:endParaRPr lang="en-US" sz="800" spc="48" kern="0" b="0" i="0" dirty="0">
                <a:solidFill>
                  <a:srgbClr val="0047FF"/>
                </a:solidFill>
                <a:latin typeface="IBM Plex Mono SemiBold"/>
                <a:ea typeface="IBM Plex Mono SemiBold"/>
                <a:cs typeface="IBM Plex Mono SemiBold"/>
              </a:endParaRPr>
            </a:p>
          </p:txBody>
        </p:sp>
        <p:sp>
          <p:nvSpPr>
            <p:cNvPr id="15" name="node01.milestones.source-001.label.part-2"/>
            <p:cNvSpPr/>
            <p:nvPr/>
          </p:nvSpPr>
          <p:spPr>
            <a:xfrm>
              <a:off x="723900" y="2797845"/>
              <a:ext cx="21590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One sign-in</a:t>
              </a:r>
              <a:endParaRPr lang="en-US" sz="1200" spc="0" kern="0" b="0" i="0" dirty="0">
                <a:solidFill>
                  <a:srgbClr val="070154"/>
                </a:solidFill>
                <a:latin typeface="IBM Plex Sans SemiBold"/>
                <a:ea typeface="IBM Plex Sans SemiBold"/>
                <a:cs typeface="IBM Plex Sans SemiBold"/>
              </a:endParaRPr>
            </a:p>
          </p:txBody>
        </p:sp>
        <p:sp>
          <p:nvSpPr>
            <p:cNvPr id="16" name="node01.milestones.source-002.pin"/>
            <p:cNvSpPr/>
            <p:nvPr/>
          </p:nvSpPr>
          <p:spPr>
            <a:xfrm>
              <a:off x="4434840" y="3091588"/>
              <a:ext cx="304800" cy="304800"/>
            </a:xfrm>
            <a:prstGeom prst="ellipse">
              <a:avLst/>
            </a:prstGeom>
            <a:solidFill>
              <a:srgbClr val="FFFFFF"/>
            </a:solidFill>
            <a:ln w="25400">
              <a:solidFill>
                <a:srgbClr val="070154"/>
              </a:solidFill>
              <a:prstDash val="solid"/>
            </a:ln>
          </p:spPr>
        </p:sp>
        <p:sp>
          <p:nvSpPr>
            <p:cNvPr id="17" name="node01.milestones.source-002.number"/>
            <p:cNvSpPr/>
            <p:nvPr/>
          </p:nvSpPr>
          <p:spPr>
            <a:xfrm>
              <a:off x="4447540" y="3104288"/>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18" name="node01.milestones.source-002.tick"/>
            <p:cNvSpPr/>
            <p:nvPr/>
          </p:nvSpPr>
          <p:spPr>
            <a:xfrm>
              <a:off x="4580890" y="2799488"/>
              <a:ext cx="12700" cy="279400"/>
            </a:xfrm>
            <a:prstGeom prst="rect">
              <a:avLst/>
            </a:prstGeom>
            <a:solidFill>
              <a:srgbClr val="070154"/>
            </a:solidFill>
            <a:ln>
              <a:noFill/>
            </a:ln>
          </p:spPr>
        </p:sp>
        <p:sp>
          <p:nvSpPr>
            <p:cNvPr id="19" name="node01.milestones.source-002.label.part-1"/>
            <p:cNvSpPr/>
            <p:nvPr/>
          </p:nvSpPr>
          <p:spPr>
            <a:xfrm>
              <a:off x="3507740" y="2367688"/>
              <a:ext cx="2159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Q1 2027</a:t>
              </a:r>
              <a:endParaRPr lang="en-US" sz="800" spc="48" kern="0" b="0" i="0" dirty="0">
                <a:solidFill>
                  <a:srgbClr val="0047FF"/>
                </a:solidFill>
                <a:latin typeface="IBM Plex Mono SemiBold"/>
                <a:ea typeface="IBM Plex Mono SemiBold"/>
                <a:cs typeface="IBM Plex Mono SemiBold"/>
              </a:endParaRPr>
            </a:p>
          </p:txBody>
        </p:sp>
        <p:sp>
          <p:nvSpPr>
            <p:cNvPr id="20" name="node01.milestones.source-002.label.part-2"/>
            <p:cNvSpPr/>
            <p:nvPr/>
          </p:nvSpPr>
          <p:spPr>
            <a:xfrm>
              <a:off x="3507740" y="2532788"/>
              <a:ext cx="21590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Online scheduling</a:t>
              </a:r>
              <a:endParaRPr lang="en-US" sz="1200" spc="0" kern="0" b="0" i="0" dirty="0">
                <a:solidFill>
                  <a:srgbClr val="070154"/>
                </a:solidFill>
                <a:latin typeface="IBM Plex Sans SemiBold"/>
                <a:ea typeface="IBM Plex Sans SemiBold"/>
                <a:cs typeface="IBM Plex Sans SemiBold"/>
              </a:endParaRPr>
            </a:p>
          </p:txBody>
        </p:sp>
        <p:sp>
          <p:nvSpPr>
            <p:cNvPr id="21" name="node01.milestones.source-003.pin"/>
            <p:cNvSpPr/>
            <p:nvPr/>
          </p:nvSpPr>
          <p:spPr>
            <a:xfrm>
              <a:off x="7452360" y="2547212"/>
              <a:ext cx="304800" cy="304800"/>
            </a:xfrm>
            <a:prstGeom prst="ellipse">
              <a:avLst/>
            </a:prstGeom>
            <a:solidFill>
              <a:srgbClr val="FFFFFF"/>
            </a:solidFill>
            <a:ln w="25400">
              <a:solidFill>
                <a:srgbClr val="070154"/>
              </a:solidFill>
              <a:prstDash val="solid"/>
            </a:ln>
          </p:spPr>
        </p:sp>
        <p:sp>
          <p:nvSpPr>
            <p:cNvPr id="22" name="node01.milestones.source-003.number"/>
            <p:cNvSpPr/>
            <p:nvPr/>
          </p:nvSpPr>
          <p:spPr>
            <a:xfrm>
              <a:off x="7465060" y="2559912"/>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23" name="node01.milestones.source-003.tick"/>
            <p:cNvSpPr/>
            <p:nvPr/>
          </p:nvSpPr>
          <p:spPr>
            <a:xfrm>
              <a:off x="7598410" y="2864712"/>
              <a:ext cx="12700" cy="279400"/>
            </a:xfrm>
            <a:prstGeom prst="rect">
              <a:avLst/>
            </a:prstGeom>
            <a:solidFill>
              <a:srgbClr val="070154"/>
            </a:solidFill>
            <a:ln>
              <a:noFill/>
            </a:ln>
          </p:spPr>
        </p:sp>
        <p:sp>
          <p:nvSpPr>
            <p:cNvPr id="24" name="node01.milestones.source-003.label.part-1"/>
            <p:cNvSpPr/>
            <p:nvPr/>
          </p:nvSpPr>
          <p:spPr>
            <a:xfrm>
              <a:off x="6525260" y="3194912"/>
              <a:ext cx="2159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Q2 2027</a:t>
              </a:r>
              <a:endParaRPr lang="en-US" sz="800" spc="48" kern="0" b="0" i="0" dirty="0">
                <a:solidFill>
                  <a:srgbClr val="0047FF"/>
                </a:solidFill>
                <a:latin typeface="IBM Plex Mono SemiBold"/>
                <a:ea typeface="IBM Plex Mono SemiBold"/>
                <a:cs typeface="IBM Plex Mono SemiBold"/>
              </a:endParaRPr>
            </a:p>
          </p:txBody>
        </p:sp>
        <p:sp>
          <p:nvSpPr>
            <p:cNvPr id="25" name="node01.milestones.source-003.label.part-2"/>
            <p:cNvSpPr/>
            <p:nvPr/>
          </p:nvSpPr>
          <p:spPr>
            <a:xfrm>
              <a:off x="6525260" y="3360012"/>
              <a:ext cx="21590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Digital intake</a:t>
              </a:r>
              <a:endParaRPr lang="en-US" sz="1200" spc="0" kern="0" b="0" i="0" dirty="0">
                <a:solidFill>
                  <a:srgbClr val="070154"/>
                </a:solidFill>
                <a:latin typeface="IBM Plex Sans SemiBold"/>
                <a:ea typeface="IBM Plex Sans SemiBold"/>
                <a:cs typeface="IBM Plex Sans SemiBold"/>
              </a:endParaRPr>
            </a:p>
          </p:txBody>
        </p:sp>
        <p:sp>
          <p:nvSpPr>
            <p:cNvPr id="26" name="node01.milestones.source-004.pin"/>
            <p:cNvSpPr/>
            <p:nvPr/>
          </p:nvSpPr>
          <p:spPr>
            <a:xfrm>
              <a:off x="10469880" y="2282155"/>
              <a:ext cx="304800" cy="304800"/>
            </a:xfrm>
            <a:prstGeom prst="ellipse">
              <a:avLst/>
            </a:prstGeom>
            <a:solidFill>
              <a:srgbClr val="FFFFFF"/>
            </a:solidFill>
            <a:ln w="25400">
              <a:solidFill>
                <a:srgbClr val="070154"/>
              </a:solidFill>
              <a:prstDash val="solid"/>
            </a:ln>
          </p:spPr>
        </p:sp>
        <p:sp>
          <p:nvSpPr>
            <p:cNvPr id="27" name="node01.milestones.source-004.number"/>
            <p:cNvSpPr/>
            <p:nvPr/>
          </p:nvSpPr>
          <p:spPr>
            <a:xfrm>
              <a:off x="10482580" y="2294855"/>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28" name="node01.milestones.source-004.tick"/>
            <p:cNvSpPr/>
            <p:nvPr/>
          </p:nvSpPr>
          <p:spPr>
            <a:xfrm>
              <a:off x="10615930" y="2599655"/>
              <a:ext cx="12700" cy="279400"/>
            </a:xfrm>
            <a:prstGeom prst="rect">
              <a:avLst/>
            </a:prstGeom>
            <a:solidFill>
              <a:srgbClr val="070154"/>
            </a:solidFill>
            <a:ln>
              <a:noFill/>
            </a:ln>
          </p:spPr>
        </p:sp>
        <p:sp>
          <p:nvSpPr>
            <p:cNvPr id="29" name="node01.milestones.source-004.label.part-1"/>
            <p:cNvSpPr/>
            <p:nvPr/>
          </p:nvSpPr>
          <p:spPr>
            <a:xfrm>
              <a:off x="9309100" y="2929855"/>
              <a:ext cx="2159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Q3 2027</a:t>
              </a:r>
              <a:endParaRPr lang="en-US" sz="800" spc="48" kern="0" b="0" i="0" dirty="0">
                <a:solidFill>
                  <a:srgbClr val="0047FF"/>
                </a:solidFill>
                <a:latin typeface="IBM Plex Mono SemiBold"/>
                <a:ea typeface="IBM Plex Mono SemiBold"/>
                <a:cs typeface="IBM Plex Mono SemiBold"/>
              </a:endParaRPr>
            </a:p>
          </p:txBody>
        </p:sp>
        <p:sp>
          <p:nvSpPr>
            <p:cNvPr id="30" name="node01.milestones.source-004.label.part-2"/>
            <p:cNvSpPr/>
            <p:nvPr/>
          </p:nvSpPr>
          <p:spPr>
            <a:xfrm>
              <a:off x="9309100" y="3094955"/>
              <a:ext cx="21590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070154"/>
                  </a:solidFill>
                  <a:latin typeface="IBM Plex Sans SemiBold"/>
                  <a:ea typeface="IBM Plex Sans SemiBold"/>
                  <a:cs typeface="IBM Plex Sans SemiBold"/>
                </a:rPr>
                <a:t>Smart reminders</a:t>
              </a:r>
              <a:endParaRPr lang="en-US" sz="1200" spc="0" kern="0" b="0" i="0" dirty="0">
                <a:solidFill>
                  <a:srgbClr val="070154"/>
                </a:solidFill>
                <a:latin typeface="IBM Plex Sans SemiBold"/>
                <a:ea typeface="IBM Plex Sans SemiBold"/>
                <a:cs typeface="IBM Plex Sans SemiBold"/>
              </a:endParaRPr>
            </a:p>
          </p:txBody>
        </p:sp>
      </p:grpSp>
      <p:grpSp>
        <p:nvGrpSpPr>
          <p:cNvPr id="52" name="node02"/>
          <p:cNvGrpSpPr/>
          <p:nvPr/>
        </p:nvGrpSpPr>
        <p:grpSpPr>
          <a:xfrm>
            <a:off x="723900" y="4572000"/>
            <a:ext cx="10744200" cy="1143000"/>
            <a:chOff x="723900" y="4572000"/>
            <a:chExt cx="10744200" cy="1143000"/>
          </a:xfrm>
        </p:grpSpPr>
        <p:grpSp>
          <p:nvGrpSpPr>
            <p:cNvPr id="48" name="node02.item-001"/>
            <p:cNvGrpSpPr/>
            <p:nvPr/>
          </p:nvGrpSpPr>
          <p:grpSpPr>
            <a:xfrm>
              <a:off x="723900" y="4572000"/>
              <a:ext cx="2514600" cy="1143000"/>
              <a:chOff x="723900" y="4572000"/>
              <a:chExt cx="2514600" cy="1143000"/>
            </a:xfrm>
          </p:grpSpPr>
          <p:sp>
            <p:nvSpPr>
              <p:cNvPr id="31" name="node02.item-001.container"/>
              <p:cNvSpPr/>
              <p:nvPr/>
            </p:nvSpPr>
            <p:spPr>
              <a:xfrm>
                <a:off x="723900" y="4572000"/>
                <a:ext cx="2514600" cy="1143000"/>
              </a:xfrm>
              <a:prstGeom prst="rect">
                <a:avLst/>
              </a:prstGeom>
              <a:solidFill>
                <a:srgbClr val="E8EEF8"/>
              </a:solidFill>
              <a:ln>
                <a:noFill/>
              </a:ln>
            </p:spPr>
          </p:sp>
          <p:sp>
            <p:nvSpPr>
              <p:cNvPr id="32" name="node02.item-001.number"/>
              <p:cNvSpPr/>
              <p:nvPr/>
            </p:nvSpPr>
            <p:spPr>
              <a:xfrm>
                <a:off x="838200" y="46863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33" name="node02.item-001.title"/>
              <p:cNvSpPr/>
              <p:nvPr/>
            </p:nvSpPr>
            <p:spPr>
              <a:xfrm>
                <a:off x="1209675" y="4686046"/>
                <a:ext cx="19145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Sign-in</a:t>
                </a:r>
                <a:endParaRPr lang="en-US" sz="1600" spc="-16" kern="0" b="0" i="0" dirty="0">
                  <a:solidFill>
                    <a:srgbClr val="070154"/>
                  </a:solidFill>
                  <a:latin typeface="IBM Plex Sans SemiBold"/>
                  <a:ea typeface="IBM Plex Sans SemiBold"/>
                  <a:cs typeface="IBM Plex Sans SemiBold"/>
                </a:endParaRPr>
              </a:p>
            </p:txBody>
          </p:sp>
          <p:sp>
            <p:nvSpPr>
              <p:cNvPr id="34" name="node02.item-001.body.item-001.paragraph"/>
              <p:cNvSpPr/>
              <p:nvPr/>
            </p:nvSpPr>
            <p:spPr>
              <a:xfrm>
                <a:off x="838200" y="5105400"/>
                <a:ext cx="2286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Replaces three logins; 60% migrate in 90 days.</a:t>
                </a:r>
                <a:endParaRPr lang="en-US" sz="1200" spc="0" kern="0" b="0" i="0" dirty="0">
                  <a:solidFill>
                    <a:srgbClr val="50658E"/>
                  </a:solidFill>
                  <a:latin typeface="IBM Plex Sans"/>
                  <a:ea typeface="IBM Plex Sans"/>
                  <a:cs typeface="IBM Plex Sans"/>
                </a:endParaRPr>
              </a:p>
            </p:txBody>
          </p:sp>
        </p:grpSp>
        <p:grpSp>
          <p:nvGrpSpPr>
            <p:cNvPr id="49" name="node02.item-002"/>
            <p:cNvGrpSpPr/>
            <p:nvPr/>
          </p:nvGrpSpPr>
          <p:grpSpPr>
            <a:xfrm>
              <a:off x="3467100" y="4572000"/>
              <a:ext cx="2514600" cy="1143000"/>
              <a:chOff x="3467100" y="4572000"/>
              <a:chExt cx="2514600" cy="1143000"/>
            </a:xfrm>
          </p:grpSpPr>
          <p:sp>
            <p:nvSpPr>
              <p:cNvPr id="35" name="node02.item-002.container"/>
              <p:cNvSpPr/>
              <p:nvPr/>
            </p:nvSpPr>
            <p:spPr>
              <a:xfrm>
                <a:off x="3467100" y="4572000"/>
                <a:ext cx="2514600" cy="1143000"/>
              </a:xfrm>
              <a:prstGeom prst="rect">
                <a:avLst/>
              </a:prstGeom>
              <a:solidFill>
                <a:srgbClr val="E8EEF8"/>
              </a:solidFill>
              <a:ln>
                <a:noFill/>
              </a:ln>
            </p:spPr>
          </p:sp>
          <p:sp>
            <p:nvSpPr>
              <p:cNvPr id="36" name="node02.item-002.number"/>
              <p:cNvSpPr/>
              <p:nvPr/>
            </p:nvSpPr>
            <p:spPr>
              <a:xfrm>
                <a:off x="3581400" y="46863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37" name="node02.item-002.title"/>
              <p:cNvSpPr/>
              <p:nvPr/>
            </p:nvSpPr>
            <p:spPr>
              <a:xfrm>
                <a:off x="3952875" y="4686046"/>
                <a:ext cx="19145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Self-booking</a:t>
                </a:r>
                <a:endParaRPr lang="en-US" sz="1600" spc="-16" kern="0" b="0" i="0" dirty="0">
                  <a:solidFill>
                    <a:srgbClr val="070154"/>
                  </a:solidFill>
                  <a:latin typeface="IBM Plex Sans SemiBold"/>
                  <a:ea typeface="IBM Plex Sans SemiBold"/>
                  <a:cs typeface="IBM Plex Sans SemiBold"/>
                </a:endParaRPr>
              </a:p>
            </p:txBody>
          </p:sp>
          <p:sp>
            <p:nvSpPr>
              <p:cNvPr id="38" name="node02.item-002.body.item-001.paragraph"/>
              <p:cNvSpPr/>
              <p:nvPr/>
            </p:nvSpPr>
            <p:spPr>
              <a:xfrm>
                <a:off x="3581400" y="5105400"/>
                <a:ext cx="2286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Primary care first, then specialty clinics.</a:t>
                </a:r>
                <a:endParaRPr lang="en-US" sz="1200" spc="0" kern="0" b="0" i="0" dirty="0">
                  <a:solidFill>
                    <a:srgbClr val="50658E"/>
                  </a:solidFill>
                  <a:latin typeface="IBM Plex Sans"/>
                  <a:ea typeface="IBM Plex Sans"/>
                  <a:cs typeface="IBM Plex Sans"/>
                </a:endParaRPr>
              </a:p>
            </p:txBody>
          </p:sp>
        </p:grpSp>
        <p:grpSp>
          <p:nvGrpSpPr>
            <p:cNvPr id="50" name="node02.item-003"/>
            <p:cNvGrpSpPr/>
            <p:nvPr/>
          </p:nvGrpSpPr>
          <p:grpSpPr>
            <a:xfrm>
              <a:off x="6210300" y="4572000"/>
              <a:ext cx="2514600" cy="1143000"/>
              <a:chOff x="6210300" y="4572000"/>
              <a:chExt cx="2514600" cy="1143000"/>
            </a:xfrm>
          </p:grpSpPr>
          <p:sp>
            <p:nvSpPr>
              <p:cNvPr id="39" name="node02.item-003.container"/>
              <p:cNvSpPr/>
              <p:nvPr/>
            </p:nvSpPr>
            <p:spPr>
              <a:xfrm>
                <a:off x="6210300" y="4572000"/>
                <a:ext cx="2514600" cy="1143000"/>
              </a:xfrm>
              <a:prstGeom prst="rect">
                <a:avLst/>
              </a:prstGeom>
              <a:solidFill>
                <a:srgbClr val="E8EEF8"/>
              </a:solidFill>
              <a:ln>
                <a:noFill/>
              </a:ln>
            </p:spPr>
          </p:sp>
          <p:sp>
            <p:nvSpPr>
              <p:cNvPr id="40" name="node02.item-003.number"/>
              <p:cNvSpPr/>
              <p:nvPr/>
            </p:nvSpPr>
            <p:spPr>
              <a:xfrm>
                <a:off x="6324600" y="46863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41" name="node02.item-003.title"/>
              <p:cNvSpPr/>
              <p:nvPr/>
            </p:nvSpPr>
            <p:spPr>
              <a:xfrm>
                <a:off x="6696075" y="4686046"/>
                <a:ext cx="19145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Digital intake</a:t>
                </a:r>
                <a:endParaRPr lang="en-US" sz="1600" spc="-16" kern="0" b="0" i="0" dirty="0">
                  <a:solidFill>
                    <a:srgbClr val="070154"/>
                  </a:solidFill>
                  <a:latin typeface="IBM Plex Sans SemiBold"/>
                  <a:ea typeface="IBM Plex Sans SemiBold"/>
                  <a:cs typeface="IBM Plex Sans SemiBold"/>
                </a:endParaRPr>
              </a:p>
            </p:txBody>
          </p:sp>
          <p:sp>
            <p:nvSpPr>
              <p:cNvPr id="42" name="node02.item-003.body.item-001.paragraph"/>
              <p:cNvSpPr/>
              <p:nvPr/>
            </p:nvSpPr>
            <p:spPr>
              <a:xfrm>
                <a:off x="6324600" y="5105400"/>
                <a:ext cx="2286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Forms and coverage checks before arrival.</a:t>
                </a:r>
                <a:endParaRPr lang="en-US" sz="1200" spc="0" kern="0" b="0" i="0" dirty="0">
                  <a:solidFill>
                    <a:srgbClr val="50658E"/>
                  </a:solidFill>
                  <a:latin typeface="IBM Plex Sans"/>
                  <a:ea typeface="IBM Plex Sans"/>
                  <a:cs typeface="IBM Plex Sans"/>
                </a:endParaRPr>
              </a:p>
            </p:txBody>
          </p:sp>
        </p:grpSp>
        <p:grpSp>
          <p:nvGrpSpPr>
            <p:cNvPr id="51" name="node02.item-004"/>
            <p:cNvGrpSpPr/>
            <p:nvPr/>
          </p:nvGrpSpPr>
          <p:grpSpPr>
            <a:xfrm>
              <a:off x="8953500" y="4572000"/>
              <a:ext cx="2514600" cy="1143000"/>
              <a:chOff x="8953500" y="4572000"/>
              <a:chExt cx="2514600" cy="1143000"/>
            </a:xfrm>
          </p:grpSpPr>
          <p:sp>
            <p:nvSpPr>
              <p:cNvPr id="43" name="node02.item-004.container"/>
              <p:cNvSpPr/>
              <p:nvPr/>
            </p:nvSpPr>
            <p:spPr>
              <a:xfrm>
                <a:off x="8953500" y="4572000"/>
                <a:ext cx="2514600" cy="1143000"/>
              </a:xfrm>
              <a:prstGeom prst="rect">
                <a:avLst/>
              </a:prstGeom>
              <a:solidFill>
                <a:srgbClr val="E8EEF8"/>
              </a:solidFill>
              <a:ln>
                <a:noFill/>
              </a:ln>
            </p:spPr>
          </p:sp>
          <p:sp>
            <p:nvSpPr>
              <p:cNvPr id="44" name="node02.item-004.number"/>
              <p:cNvSpPr/>
              <p:nvPr/>
            </p:nvSpPr>
            <p:spPr>
              <a:xfrm>
                <a:off x="9067800" y="46863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04</a:t>
                </a:r>
                <a:endParaRPr lang="en-US" sz="1600" spc="0" kern="0" b="0" i="0" dirty="0">
                  <a:solidFill>
                    <a:srgbClr val="0047FF"/>
                  </a:solidFill>
                  <a:latin typeface="IBM Plex Mono SemiBold"/>
                  <a:ea typeface="IBM Plex Mono SemiBold"/>
                  <a:cs typeface="IBM Plex Mono SemiBold"/>
                </a:endParaRPr>
              </a:p>
            </p:txBody>
          </p:sp>
          <p:sp>
            <p:nvSpPr>
              <p:cNvPr id="45" name="node02.item-004.title"/>
              <p:cNvSpPr/>
              <p:nvPr/>
            </p:nvSpPr>
            <p:spPr>
              <a:xfrm>
                <a:off x="9439275" y="4686046"/>
                <a:ext cx="19145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Reminders</a:t>
                </a:r>
                <a:endParaRPr lang="en-US" sz="1600" spc="-16" kern="0" b="0" i="0" dirty="0">
                  <a:solidFill>
                    <a:srgbClr val="070154"/>
                  </a:solidFill>
                  <a:latin typeface="IBM Plex Sans SemiBold"/>
                  <a:ea typeface="IBM Plex Sans SemiBold"/>
                  <a:cs typeface="IBM Plex Sans SemiBold"/>
                </a:endParaRPr>
              </a:p>
            </p:txBody>
          </p:sp>
          <p:sp>
            <p:nvSpPr>
              <p:cNvPr id="46" name="node02.item-004.body.item-001.paragraph"/>
              <p:cNvSpPr/>
              <p:nvPr/>
            </p:nvSpPr>
            <p:spPr>
              <a:xfrm>
                <a:off x="9067800" y="5105400"/>
                <a:ext cx="2286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Two-way text cuts no-shows by a quarter.</a:t>
                </a:r>
                <a:endParaRPr lang="en-US" sz="1200" spc="0" kern="0" b="0" i="0" dirty="0">
                  <a:solidFill>
                    <a:srgbClr val="50658E"/>
                  </a:solidFill>
                  <a:latin typeface="IBM Plex Sans"/>
                  <a:ea typeface="IBM Plex Sans"/>
                  <a:cs typeface="IBM Plex Sans"/>
                </a:endParaRPr>
              </a:p>
            </p:txBody>
          </p:sp>
        </p:grpSp>
      </p:gr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ource-55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milestones in three phases carry the program to 2028</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138</a:t>
            </a:fld>
            <a:endParaRPr lang="en-US" sz="700" spc="0" kern="0" b="0" i="0" dirty="0">
              <a:solidFill>
                <a:srgbClr val="070154"/>
              </a:solidFill>
              <a:latin typeface="IBM Plex Mono SemiBold"/>
              <a:ea typeface="IBM Plex Mono SemiBold"/>
              <a:cs typeface="IBM Plex Mono SemiBold"/>
            </a:endParaRPr>
          </a:p>
        </p:txBody>
      </p:sp>
      <p:grpSp>
        <p:nvGrpSpPr>
          <p:cNvPr id="64" name="node01"/>
          <p:cNvGrpSpPr/>
          <p:nvPr/>
        </p:nvGrpSpPr>
        <p:grpSpPr>
          <a:xfrm>
            <a:off x="714375" y="1593850"/>
            <a:ext cx="3448050" cy="434975"/>
            <a:chOff x="714375" y="1593850"/>
            <a:chExt cx="3448050" cy="434975"/>
          </a:xfrm>
        </p:grpSpPr>
        <p:sp>
          <p:nvSpPr>
            <p:cNvPr id="7" name="node01.stroke-1"/>
            <p:cNvSpPr/>
            <p:nvPr/>
          </p:nvSpPr>
          <p:spPr>
            <a:xfrm>
              <a:off x="723900" y="19050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8" name="node01.stroke-2"/>
            <p:cNvSpPr/>
            <p:nvPr/>
          </p:nvSpPr>
          <p:spPr>
            <a:xfrm>
              <a:off x="723900" y="1905000"/>
              <a:ext cx="3429000" cy="0"/>
            </a:xfrm>
            <a:custGeom>
              <a:avLst/>
              <a:gdLst/>
              <a:ahLst/>
              <a:cxnLst/>
              <a:rect l="l" t="t" r="r" b="b"/>
              <a:pathLst>
                <a:path w="3429000">
                  <a:moveTo>
                    <a:pt x="0" y="0"/>
                  </a:moveTo>
                  <a:lnTo>
                    <a:pt x="3429000" y="0"/>
                  </a:lnTo>
                </a:path>
              </a:pathLst>
            </a:custGeom>
            <a:ln w="19050">
              <a:solidFill>
                <a:srgbClr val="0047FF"/>
              </a:solidFill>
              <a:prstDash val="solid"/>
            </a:ln>
          </p:spPr>
        </p:sp>
        <p:sp>
          <p:nvSpPr>
            <p:cNvPr id="9" name="node01.stroke-3"/>
            <p:cNvSpPr/>
            <p:nvPr/>
          </p:nvSpPr>
          <p:spPr>
            <a:xfrm>
              <a:off x="4152900" y="1905000"/>
              <a:ext cx="0" cy="114300"/>
            </a:xfrm>
            <a:custGeom>
              <a:avLst/>
              <a:gdLst/>
              <a:ahLst/>
              <a:cxnLst/>
              <a:rect l="l" t="t" r="r" b="b"/>
              <a:pathLst>
                <a:path h="114300">
                  <a:moveTo>
                    <a:pt x="0" y="0"/>
                  </a:moveTo>
                  <a:lnTo>
                    <a:pt x="0" y="114300"/>
                  </a:lnTo>
                </a:path>
              </a:pathLst>
            </a:custGeom>
            <a:ln w="19050">
              <a:solidFill>
                <a:srgbClr val="0047FF"/>
              </a:solidFill>
              <a:prstDash val="solid"/>
            </a:ln>
          </p:spPr>
        </p:sp>
        <p:sp>
          <p:nvSpPr>
            <p:cNvPr id="10" name="node01.stroke-4"/>
            <p:cNvSpPr/>
            <p:nvPr/>
          </p:nvSpPr>
          <p:spPr>
            <a:xfrm>
              <a:off x="2438400" y="17907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11" name="node01.label.part-1"/>
            <p:cNvSpPr/>
            <p:nvPr/>
          </p:nvSpPr>
          <p:spPr>
            <a:xfrm>
              <a:off x="723900" y="1593850"/>
              <a:ext cx="3429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FOUNDATION</a:t>
              </a:r>
              <a:endParaRPr lang="en-US" sz="800" spc="48" kern="0" b="0" i="0" dirty="0">
                <a:solidFill>
                  <a:srgbClr val="0047FF"/>
                </a:solidFill>
                <a:latin typeface="IBM Plex Mono SemiBold"/>
                <a:ea typeface="IBM Plex Mono SemiBold"/>
                <a:cs typeface="IBM Plex Mono SemiBold"/>
              </a:endParaRPr>
            </a:p>
          </p:txBody>
        </p:sp>
      </p:grpSp>
      <p:grpSp>
        <p:nvGrpSpPr>
          <p:cNvPr id="65" name="node02"/>
          <p:cNvGrpSpPr/>
          <p:nvPr/>
        </p:nvGrpSpPr>
        <p:grpSpPr>
          <a:xfrm>
            <a:off x="4371975" y="1593850"/>
            <a:ext cx="3448050" cy="434975"/>
            <a:chOff x="4371975" y="1593850"/>
            <a:chExt cx="3448050" cy="434975"/>
          </a:xfrm>
        </p:grpSpPr>
        <p:sp>
          <p:nvSpPr>
            <p:cNvPr id="12" name="node02.stroke-1"/>
            <p:cNvSpPr/>
            <p:nvPr/>
          </p:nvSpPr>
          <p:spPr>
            <a:xfrm>
              <a:off x="4381500" y="19050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13" name="node02.stroke-2"/>
            <p:cNvSpPr/>
            <p:nvPr/>
          </p:nvSpPr>
          <p:spPr>
            <a:xfrm>
              <a:off x="4381500" y="1905000"/>
              <a:ext cx="3429000" cy="0"/>
            </a:xfrm>
            <a:custGeom>
              <a:avLst/>
              <a:gdLst/>
              <a:ahLst/>
              <a:cxnLst/>
              <a:rect l="l" t="t" r="r" b="b"/>
              <a:pathLst>
                <a:path w="3429000">
                  <a:moveTo>
                    <a:pt x="0" y="0"/>
                  </a:moveTo>
                  <a:lnTo>
                    <a:pt x="3429000" y="0"/>
                  </a:lnTo>
                </a:path>
              </a:pathLst>
            </a:custGeom>
            <a:ln w="19050">
              <a:solidFill>
                <a:srgbClr val="0047FF"/>
              </a:solidFill>
              <a:prstDash val="solid"/>
            </a:ln>
          </p:spPr>
        </p:sp>
        <p:sp>
          <p:nvSpPr>
            <p:cNvPr id="14" name="node02.stroke-3"/>
            <p:cNvSpPr/>
            <p:nvPr/>
          </p:nvSpPr>
          <p:spPr>
            <a:xfrm>
              <a:off x="7810500" y="1905000"/>
              <a:ext cx="0" cy="114300"/>
            </a:xfrm>
            <a:custGeom>
              <a:avLst/>
              <a:gdLst/>
              <a:ahLst/>
              <a:cxnLst/>
              <a:rect l="l" t="t" r="r" b="b"/>
              <a:pathLst>
                <a:path h="114300">
                  <a:moveTo>
                    <a:pt x="0" y="0"/>
                  </a:moveTo>
                  <a:lnTo>
                    <a:pt x="0" y="114300"/>
                  </a:lnTo>
                </a:path>
              </a:pathLst>
            </a:custGeom>
            <a:ln w="19050">
              <a:solidFill>
                <a:srgbClr val="0047FF"/>
              </a:solidFill>
              <a:prstDash val="solid"/>
            </a:ln>
          </p:spPr>
        </p:sp>
        <p:sp>
          <p:nvSpPr>
            <p:cNvPr id="15" name="node02.stroke-4"/>
            <p:cNvSpPr/>
            <p:nvPr/>
          </p:nvSpPr>
          <p:spPr>
            <a:xfrm>
              <a:off x="6096000" y="17907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16" name="node02.label.part-1"/>
            <p:cNvSpPr/>
            <p:nvPr/>
          </p:nvSpPr>
          <p:spPr>
            <a:xfrm>
              <a:off x="4381500" y="1593850"/>
              <a:ext cx="3429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ADOPTION</a:t>
              </a:r>
              <a:endParaRPr lang="en-US" sz="800" spc="48" kern="0" b="0" i="0" dirty="0">
                <a:solidFill>
                  <a:srgbClr val="0047FF"/>
                </a:solidFill>
                <a:latin typeface="IBM Plex Mono SemiBold"/>
                <a:ea typeface="IBM Plex Mono SemiBold"/>
                <a:cs typeface="IBM Plex Mono SemiBold"/>
              </a:endParaRPr>
            </a:p>
          </p:txBody>
        </p:sp>
      </p:grpSp>
      <p:grpSp>
        <p:nvGrpSpPr>
          <p:cNvPr id="66" name="node03"/>
          <p:cNvGrpSpPr/>
          <p:nvPr/>
        </p:nvGrpSpPr>
        <p:grpSpPr>
          <a:xfrm>
            <a:off x="8029575" y="1593850"/>
            <a:ext cx="3448050" cy="434975"/>
            <a:chOff x="8029575" y="1593850"/>
            <a:chExt cx="3448050" cy="434975"/>
          </a:xfrm>
        </p:grpSpPr>
        <p:sp>
          <p:nvSpPr>
            <p:cNvPr id="17" name="node03.stroke-1"/>
            <p:cNvSpPr/>
            <p:nvPr/>
          </p:nvSpPr>
          <p:spPr>
            <a:xfrm>
              <a:off x="8039100" y="19050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18" name="node03.stroke-2"/>
            <p:cNvSpPr/>
            <p:nvPr/>
          </p:nvSpPr>
          <p:spPr>
            <a:xfrm>
              <a:off x="8039100" y="1905000"/>
              <a:ext cx="3429000" cy="0"/>
            </a:xfrm>
            <a:custGeom>
              <a:avLst/>
              <a:gdLst/>
              <a:ahLst/>
              <a:cxnLst/>
              <a:rect l="l" t="t" r="r" b="b"/>
              <a:pathLst>
                <a:path w="3429000">
                  <a:moveTo>
                    <a:pt x="0" y="0"/>
                  </a:moveTo>
                  <a:lnTo>
                    <a:pt x="3429000" y="0"/>
                  </a:lnTo>
                </a:path>
              </a:pathLst>
            </a:custGeom>
            <a:ln w="19050">
              <a:solidFill>
                <a:srgbClr val="0047FF"/>
              </a:solidFill>
              <a:prstDash val="solid"/>
            </a:ln>
          </p:spPr>
        </p:sp>
        <p:sp>
          <p:nvSpPr>
            <p:cNvPr id="19" name="node03.stroke-3"/>
            <p:cNvSpPr/>
            <p:nvPr/>
          </p:nvSpPr>
          <p:spPr>
            <a:xfrm>
              <a:off x="11468100" y="1905000"/>
              <a:ext cx="0" cy="114300"/>
            </a:xfrm>
            <a:custGeom>
              <a:avLst/>
              <a:gdLst/>
              <a:ahLst/>
              <a:cxnLst/>
              <a:rect l="l" t="t" r="r" b="b"/>
              <a:pathLst>
                <a:path h="114300">
                  <a:moveTo>
                    <a:pt x="0" y="0"/>
                  </a:moveTo>
                  <a:lnTo>
                    <a:pt x="0" y="114300"/>
                  </a:lnTo>
                </a:path>
              </a:pathLst>
            </a:custGeom>
            <a:ln w="19050">
              <a:solidFill>
                <a:srgbClr val="0047FF"/>
              </a:solidFill>
              <a:prstDash val="solid"/>
            </a:ln>
          </p:spPr>
        </p:sp>
        <p:sp>
          <p:nvSpPr>
            <p:cNvPr id="20" name="node03.stroke-4"/>
            <p:cNvSpPr/>
            <p:nvPr/>
          </p:nvSpPr>
          <p:spPr>
            <a:xfrm>
              <a:off x="9753600" y="17907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21" name="node03.label.part-1"/>
            <p:cNvSpPr/>
            <p:nvPr/>
          </p:nvSpPr>
          <p:spPr>
            <a:xfrm>
              <a:off x="8039100" y="1593850"/>
              <a:ext cx="3429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SCALE</a:t>
              </a:r>
              <a:endParaRPr lang="en-US" sz="800" spc="48" kern="0" b="0" i="0" dirty="0">
                <a:solidFill>
                  <a:srgbClr val="0047FF"/>
                </a:solidFill>
                <a:latin typeface="IBM Plex Mono SemiBold"/>
                <a:ea typeface="IBM Plex Mono SemiBold"/>
                <a:cs typeface="IBM Plex Mono SemiBold"/>
              </a:endParaRPr>
            </a:p>
          </p:txBody>
        </p:sp>
      </p:grpSp>
      <p:grpSp>
        <p:nvGrpSpPr>
          <p:cNvPr id="67" name="node04"/>
          <p:cNvGrpSpPr/>
          <p:nvPr/>
        </p:nvGrpSpPr>
        <p:grpSpPr>
          <a:xfrm>
            <a:off x="723900" y="2700579"/>
            <a:ext cx="10744200" cy="85242"/>
            <a:chOff x="723900" y="2700579"/>
            <a:chExt cx="10744200" cy="85242"/>
          </a:xfrm>
        </p:grpSpPr>
        <p:sp>
          <p:nvSpPr>
            <p:cNvPr id="22" name="node04.segment-1"/>
            <p:cNvSpPr/>
            <p:nvPr/>
          </p:nvSpPr>
          <p:spPr>
            <a:xfrm>
              <a:off x="723900" y="274320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23" name="node04.head-end.0"/>
            <p:cNvSpPr/>
            <p:nvPr/>
          </p:nvSpPr>
          <p:spPr>
            <a:xfrm>
              <a:off x="113900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24" name="node04.head-end.1"/>
            <p:cNvSpPr/>
            <p:nvPr/>
          </p:nvSpPr>
          <p:spPr>
            <a:xfrm>
              <a:off x="113900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68" name="node05"/>
          <p:cNvGrpSpPr/>
          <p:nvPr/>
        </p:nvGrpSpPr>
        <p:grpSpPr>
          <a:xfrm>
            <a:off x="723900" y="2133600"/>
            <a:ext cx="1600200" cy="139700"/>
            <a:chOff x="723900" y="2133600"/>
            <a:chExt cx="1600200" cy="139700"/>
          </a:xfrm>
        </p:grpSpPr>
        <p:sp>
          <p:nvSpPr>
            <p:cNvPr id="25" name="node05.text"/>
            <p:cNvSpPr/>
            <p:nvPr/>
          </p:nvSpPr>
          <p:spPr>
            <a:xfrm>
              <a:off x="723900" y="2133600"/>
              <a:ext cx="1600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Q4 2026</a:t>
              </a:r>
              <a:endParaRPr lang="en-US" sz="800" spc="48" kern="0" b="0" i="0" dirty="0">
                <a:solidFill>
                  <a:srgbClr val="0047FF"/>
                </a:solidFill>
                <a:latin typeface="IBM Plex Mono Medium"/>
                <a:ea typeface="IBM Plex Mono Medium"/>
                <a:cs typeface="IBM Plex Mono Medium"/>
              </a:endParaRPr>
            </a:p>
          </p:txBody>
        </p:sp>
      </p:grpSp>
      <p:grpSp>
        <p:nvGrpSpPr>
          <p:cNvPr id="69" name="node06"/>
          <p:cNvGrpSpPr/>
          <p:nvPr/>
        </p:nvGrpSpPr>
        <p:grpSpPr>
          <a:xfrm>
            <a:off x="723900" y="2514600"/>
            <a:ext cx="457200" cy="457200"/>
            <a:chOff x="723900" y="2514600"/>
            <a:chExt cx="457200" cy="457200"/>
          </a:xfrm>
        </p:grpSpPr>
        <p:sp>
          <p:nvSpPr>
            <p:cNvPr id="26" name="node06.surface"/>
            <p:cNvSpPr/>
            <p:nvPr/>
          </p:nvSpPr>
          <p:spPr>
            <a:xfrm>
              <a:off x="723900" y="2514600"/>
              <a:ext cx="457200" cy="457200"/>
            </a:xfrm>
            <a:prstGeom prst="rect">
              <a:avLst/>
            </a:prstGeom>
            <a:solidFill>
              <a:srgbClr val="070154"/>
            </a:solidFill>
            <a:ln>
              <a:noFill/>
            </a:ln>
          </p:spPr>
        </p:sp>
        <p:sp>
          <p:nvSpPr>
            <p:cNvPr id="27" name="node06.text"/>
            <p:cNvSpPr/>
            <p:nvPr/>
          </p:nvSpPr>
          <p:spPr>
            <a:xfrm>
              <a:off x="800100" y="26733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1</a:t>
              </a:r>
              <a:endParaRPr lang="en-US" sz="800" spc="48" kern="0" b="0" i="0" dirty="0">
                <a:solidFill>
                  <a:srgbClr val="FFFFFF"/>
                </a:solidFill>
                <a:latin typeface="IBM Plex Mono Medium"/>
                <a:ea typeface="IBM Plex Mono Medium"/>
                <a:cs typeface="IBM Plex Mono Medium"/>
              </a:endParaRPr>
            </a:p>
          </p:txBody>
        </p:sp>
      </p:grpSp>
      <p:grpSp>
        <p:nvGrpSpPr>
          <p:cNvPr id="70" name="node07"/>
          <p:cNvGrpSpPr/>
          <p:nvPr/>
        </p:nvGrpSpPr>
        <p:grpSpPr>
          <a:xfrm>
            <a:off x="723900" y="3200400"/>
            <a:ext cx="1600200" cy="774700"/>
            <a:chOff x="723900" y="3200400"/>
            <a:chExt cx="1600200" cy="774700"/>
          </a:xfrm>
        </p:grpSpPr>
        <p:sp>
          <p:nvSpPr>
            <p:cNvPr id="28" name="node07.title"/>
            <p:cNvSpPr/>
            <p:nvPr/>
          </p:nvSpPr>
          <p:spPr>
            <a:xfrm>
              <a:off x="723900" y="32004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One sign-in</a:t>
              </a:r>
              <a:endParaRPr lang="en-US" sz="1600" spc="-16" kern="0" b="0" i="0" dirty="0">
                <a:solidFill>
                  <a:srgbClr val="070154"/>
                </a:solidFill>
                <a:latin typeface="IBM Plex Sans SemiBold"/>
                <a:ea typeface="IBM Plex Sans SemiBold"/>
                <a:cs typeface="IBM Plex Sans SemiBold"/>
              </a:endParaRPr>
            </a:p>
          </p:txBody>
        </p:sp>
        <p:sp>
          <p:nvSpPr>
            <p:cNvPr id="29" name="node07.body"/>
            <p:cNvSpPr/>
            <p:nvPr/>
          </p:nvSpPr>
          <p:spPr>
            <a:xfrm>
              <a:off x="723900" y="3543300"/>
              <a:ext cx="1600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patient ID across channels.</a:t>
              </a:r>
              <a:endParaRPr lang="en-US" sz="1200" spc="0" kern="0" b="0" i="0" dirty="0">
                <a:solidFill>
                  <a:srgbClr val="50658E"/>
                </a:solidFill>
                <a:latin typeface="IBM Plex Sans"/>
                <a:ea typeface="IBM Plex Sans"/>
                <a:cs typeface="IBM Plex Sans"/>
              </a:endParaRPr>
            </a:p>
          </p:txBody>
        </p:sp>
      </p:grpSp>
      <p:grpSp>
        <p:nvGrpSpPr>
          <p:cNvPr id="71" name="node08"/>
          <p:cNvGrpSpPr/>
          <p:nvPr/>
        </p:nvGrpSpPr>
        <p:grpSpPr>
          <a:xfrm>
            <a:off x="2552700" y="2133600"/>
            <a:ext cx="1600200" cy="139700"/>
            <a:chOff x="2552700" y="2133600"/>
            <a:chExt cx="1600200" cy="139700"/>
          </a:xfrm>
        </p:grpSpPr>
        <p:sp>
          <p:nvSpPr>
            <p:cNvPr id="30" name="node08.text"/>
            <p:cNvSpPr/>
            <p:nvPr/>
          </p:nvSpPr>
          <p:spPr>
            <a:xfrm>
              <a:off x="2552700" y="2133600"/>
              <a:ext cx="1600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Q1 2027</a:t>
              </a:r>
              <a:endParaRPr lang="en-US" sz="800" spc="48" kern="0" b="0" i="0" dirty="0">
                <a:solidFill>
                  <a:srgbClr val="0047FF"/>
                </a:solidFill>
                <a:latin typeface="IBM Plex Mono Medium"/>
                <a:ea typeface="IBM Plex Mono Medium"/>
                <a:cs typeface="IBM Plex Mono Medium"/>
              </a:endParaRPr>
            </a:p>
          </p:txBody>
        </p:sp>
      </p:grpSp>
      <p:grpSp>
        <p:nvGrpSpPr>
          <p:cNvPr id="72" name="node09"/>
          <p:cNvGrpSpPr/>
          <p:nvPr/>
        </p:nvGrpSpPr>
        <p:grpSpPr>
          <a:xfrm>
            <a:off x="2552700" y="2514600"/>
            <a:ext cx="457200" cy="457200"/>
            <a:chOff x="2552700" y="2514600"/>
            <a:chExt cx="457200" cy="457200"/>
          </a:xfrm>
        </p:grpSpPr>
        <p:sp>
          <p:nvSpPr>
            <p:cNvPr id="31" name="node09.surface"/>
            <p:cNvSpPr/>
            <p:nvPr/>
          </p:nvSpPr>
          <p:spPr>
            <a:xfrm>
              <a:off x="2552700" y="2514600"/>
              <a:ext cx="457200" cy="457200"/>
            </a:xfrm>
            <a:prstGeom prst="rect">
              <a:avLst/>
            </a:prstGeom>
            <a:solidFill>
              <a:srgbClr val="070154"/>
            </a:solidFill>
            <a:ln>
              <a:noFill/>
            </a:ln>
          </p:spPr>
        </p:sp>
        <p:sp>
          <p:nvSpPr>
            <p:cNvPr id="32" name="node09.text"/>
            <p:cNvSpPr/>
            <p:nvPr/>
          </p:nvSpPr>
          <p:spPr>
            <a:xfrm>
              <a:off x="2628900" y="26733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2</a:t>
              </a:r>
              <a:endParaRPr lang="en-US" sz="800" spc="48" kern="0" b="0" i="0" dirty="0">
                <a:solidFill>
                  <a:srgbClr val="FFFFFF"/>
                </a:solidFill>
                <a:latin typeface="IBM Plex Mono Medium"/>
                <a:ea typeface="IBM Plex Mono Medium"/>
                <a:cs typeface="IBM Plex Mono Medium"/>
              </a:endParaRPr>
            </a:p>
          </p:txBody>
        </p:sp>
      </p:grpSp>
      <p:grpSp>
        <p:nvGrpSpPr>
          <p:cNvPr id="73" name="node10"/>
          <p:cNvGrpSpPr/>
          <p:nvPr/>
        </p:nvGrpSpPr>
        <p:grpSpPr>
          <a:xfrm>
            <a:off x="2552700" y="3200400"/>
            <a:ext cx="1600200" cy="774700"/>
            <a:chOff x="2552700" y="3200400"/>
            <a:chExt cx="1600200" cy="774700"/>
          </a:xfrm>
        </p:grpSpPr>
        <p:sp>
          <p:nvSpPr>
            <p:cNvPr id="33" name="node10.title"/>
            <p:cNvSpPr/>
            <p:nvPr/>
          </p:nvSpPr>
          <p:spPr>
            <a:xfrm>
              <a:off x="2552700" y="32004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Online booking</a:t>
              </a:r>
              <a:endParaRPr lang="en-US" sz="1600" spc="-16" kern="0" b="0" i="0" dirty="0">
                <a:solidFill>
                  <a:srgbClr val="070154"/>
                </a:solidFill>
                <a:latin typeface="IBM Plex Sans SemiBold"/>
                <a:ea typeface="IBM Plex Sans SemiBold"/>
                <a:cs typeface="IBM Plex Sans SemiBold"/>
              </a:endParaRPr>
            </a:p>
          </p:txBody>
        </p:sp>
        <p:sp>
          <p:nvSpPr>
            <p:cNvPr id="34" name="node10.body"/>
            <p:cNvSpPr/>
            <p:nvPr/>
          </p:nvSpPr>
          <p:spPr>
            <a:xfrm>
              <a:off x="2552700" y="3543300"/>
              <a:ext cx="1600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Primary care opens self-booking.</a:t>
              </a:r>
              <a:endParaRPr lang="en-US" sz="1200" spc="0" kern="0" b="0" i="0" dirty="0">
                <a:solidFill>
                  <a:srgbClr val="50658E"/>
                </a:solidFill>
                <a:latin typeface="IBM Plex Sans"/>
                <a:ea typeface="IBM Plex Sans"/>
                <a:cs typeface="IBM Plex Sans"/>
              </a:endParaRPr>
            </a:p>
          </p:txBody>
        </p:sp>
      </p:grpSp>
      <p:grpSp>
        <p:nvGrpSpPr>
          <p:cNvPr id="74" name="node11"/>
          <p:cNvGrpSpPr/>
          <p:nvPr/>
        </p:nvGrpSpPr>
        <p:grpSpPr>
          <a:xfrm>
            <a:off x="4381500" y="2133600"/>
            <a:ext cx="1600200" cy="139700"/>
            <a:chOff x="4381500" y="2133600"/>
            <a:chExt cx="1600200" cy="139700"/>
          </a:xfrm>
        </p:grpSpPr>
        <p:sp>
          <p:nvSpPr>
            <p:cNvPr id="35" name="node11.text"/>
            <p:cNvSpPr/>
            <p:nvPr/>
          </p:nvSpPr>
          <p:spPr>
            <a:xfrm>
              <a:off x="4381500" y="2133600"/>
              <a:ext cx="1600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Q2 2027</a:t>
              </a:r>
              <a:endParaRPr lang="en-US" sz="800" spc="48" kern="0" b="0" i="0" dirty="0">
                <a:solidFill>
                  <a:srgbClr val="0047FF"/>
                </a:solidFill>
                <a:latin typeface="IBM Plex Mono Medium"/>
                <a:ea typeface="IBM Plex Mono Medium"/>
                <a:cs typeface="IBM Plex Mono Medium"/>
              </a:endParaRPr>
            </a:p>
          </p:txBody>
        </p:sp>
      </p:grpSp>
      <p:grpSp>
        <p:nvGrpSpPr>
          <p:cNvPr id="75" name="node12"/>
          <p:cNvGrpSpPr/>
          <p:nvPr/>
        </p:nvGrpSpPr>
        <p:grpSpPr>
          <a:xfrm>
            <a:off x="4381500" y="2514600"/>
            <a:ext cx="457200" cy="457200"/>
            <a:chOff x="4381500" y="2514600"/>
            <a:chExt cx="457200" cy="457200"/>
          </a:xfrm>
        </p:grpSpPr>
        <p:sp>
          <p:nvSpPr>
            <p:cNvPr id="36" name="node12.surface"/>
            <p:cNvSpPr/>
            <p:nvPr/>
          </p:nvSpPr>
          <p:spPr>
            <a:xfrm>
              <a:off x="4381500" y="2514600"/>
              <a:ext cx="457200" cy="457200"/>
            </a:xfrm>
            <a:prstGeom prst="rect">
              <a:avLst/>
            </a:prstGeom>
            <a:solidFill>
              <a:srgbClr val="070154"/>
            </a:solidFill>
            <a:ln>
              <a:noFill/>
            </a:ln>
          </p:spPr>
        </p:sp>
        <p:sp>
          <p:nvSpPr>
            <p:cNvPr id="37" name="node12.text"/>
            <p:cNvSpPr/>
            <p:nvPr/>
          </p:nvSpPr>
          <p:spPr>
            <a:xfrm>
              <a:off x="4457700" y="26733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3</a:t>
              </a:r>
              <a:endParaRPr lang="en-US" sz="800" spc="48" kern="0" b="0" i="0" dirty="0">
                <a:solidFill>
                  <a:srgbClr val="FFFFFF"/>
                </a:solidFill>
                <a:latin typeface="IBM Plex Mono Medium"/>
                <a:ea typeface="IBM Plex Mono Medium"/>
                <a:cs typeface="IBM Plex Mono Medium"/>
              </a:endParaRPr>
            </a:p>
          </p:txBody>
        </p:sp>
      </p:grpSp>
      <p:grpSp>
        <p:nvGrpSpPr>
          <p:cNvPr id="76" name="node13"/>
          <p:cNvGrpSpPr/>
          <p:nvPr/>
        </p:nvGrpSpPr>
        <p:grpSpPr>
          <a:xfrm>
            <a:off x="4381500" y="3200400"/>
            <a:ext cx="1600200" cy="774700"/>
            <a:chOff x="4381500" y="3200400"/>
            <a:chExt cx="1600200" cy="774700"/>
          </a:xfrm>
        </p:grpSpPr>
        <p:sp>
          <p:nvSpPr>
            <p:cNvPr id="38" name="node13.title"/>
            <p:cNvSpPr/>
            <p:nvPr/>
          </p:nvSpPr>
          <p:spPr>
            <a:xfrm>
              <a:off x="4381500" y="32004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Digital intake</a:t>
              </a:r>
              <a:endParaRPr lang="en-US" sz="1600" spc="-16" kern="0" b="0" i="0" dirty="0">
                <a:solidFill>
                  <a:srgbClr val="070154"/>
                </a:solidFill>
                <a:latin typeface="IBM Plex Sans SemiBold"/>
                <a:ea typeface="IBM Plex Sans SemiBold"/>
                <a:cs typeface="IBM Plex Sans SemiBold"/>
              </a:endParaRPr>
            </a:p>
          </p:txBody>
        </p:sp>
        <p:sp>
          <p:nvSpPr>
            <p:cNvPr id="39" name="node13.body"/>
            <p:cNvSpPr/>
            <p:nvPr/>
          </p:nvSpPr>
          <p:spPr>
            <a:xfrm>
              <a:off x="4381500" y="3543300"/>
              <a:ext cx="1600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Forms and coverage before arrival.</a:t>
              </a:r>
              <a:endParaRPr lang="en-US" sz="1200" spc="0" kern="0" b="0" i="0" dirty="0">
                <a:solidFill>
                  <a:srgbClr val="50658E"/>
                </a:solidFill>
                <a:latin typeface="IBM Plex Sans"/>
                <a:ea typeface="IBM Plex Sans"/>
                <a:cs typeface="IBM Plex Sans"/>
              </a:endParaRPr>
            </a:p>
          </p:txBody>
        </p:sp>
      </p:grpSp>
      <p:grpSp>
        <p:nvGrpSpPr>
          <p:cNvPr id="77" name="node14"/>
          <p:cNvGrpSpPr/>
          <p:nvPr/>
        </p:nvGrpSpPr>
        <p:grpSpPr>
          <a:xfrm>
            <a:off x="6210300" y="2133600"/>
            <a:ext cx="1600200" cy="139700"/>
            <a:chOff x="6210300" y="2133600"/>
            <a:chExt cx="1600200" cy="139700"/>
          </a:xfrm>
        </p:grpSpPr>
        <p:sp>
          <p:nvSpPr>
            <p:cNvPr id="40" name="node14.text"/>
            <p:cNvSpPr/>
            <p:nvPr/>
          </p:nvSpPr>
          <p:spPr>
            <a:xfrm>
              <a:off x="6210300" y="2133600"/>
              <a:ext cx="1600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Q3 2027</a:t>
              </a:r>
              <a:endParaRPr lang="en-US" sz="800" spc="48" kern="0" b="0" i="0" dirty="0">
                <a:solidFill>
                  <a:srgbClr val="0047FF"/>
                </a:solidFill>
                <a:latin typeface="IBM Plex Mono Medium"/>
                <a:ea typeface="IBM Plex Mono Medium"/>
                <a:cs typeface="IBM Plex Mono Medium"/>
              </a:endParaRPr>
            </a:p>
          </p:txBody>
        </p:sp>
      </p:grpSp>
      <p:grpSp>
        <p:nvGrpSpPr>
          <p:cNvPr id="78" name="node15"/>
          <p:cNvGrpSpPr/>
          <p:nvPr/>
        </p:nvGrpSpPr>
        <p:grpSpPr>
          <a:xfrm>
            <a:off x="6210300" y="2514600"/>
            <a:ext cx="457200" cy="457200"/>
            <a:chOff x="6210300" y="2514600"/>
            <a:chExt cx="457200" cy="457200"/>
          </a:xfrm>
        </p:grpSpPr>
        <p:sp>
          <p:nvSpPr>
            <p:cNvPr id="41" name="node15.surface"/>
            <p:cNvSpPr/>
            <p:nvPr/>
          </p:nvSpPr>
          <p:spPr>
            <a:xfrm>
              <a:off x="6210300" y="2514600"/>
              <a:ext cx="457200" cy="457200"/>
            </a:xfrm>
            <a:prstGeom prst="rect">
              <a:avLst/>
            </a:prstGeom>
            <a:solidFill>
              <a:srgbClr val="070154"/>
            </a:solidFill>
            <a:ln>
              <a:noFill/>
            </a:ln>
          </p:spPr>
        </p:sp>
        <p:sp>
          <p:nvSpPr>
            <p:cNvPr id="42" name="node15.text"/>
            <p:cNvSpPr/>
            <p:nvPr/>
          </p:nvSpPr>
          <p:spPr>
            <a:xfrm>
              <a:off x="6286500" y="26733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4</a:t>
              </a:r>
              <a:endParaRPr lang="en-US" sz="800" spc="48" kern="0" b="0" i="0" dirty="0">
                <a:solidFill>
                  <a:srgbClr val="FFFFFF"/>
                </a:solidFill>
                <a:latin typeface="IBM Plex Mono Medium"/>
                <a:ea typeface="IBM Plex Mono Medium"/>
                <a:cs typeface="IBM Plex Mono Medium"/>
              </a:endParaRPr>
            </a:p>
          </p:txBody>
        </p:sp>
      </p:grpSp>
      <p:grpSp>
        <p:nvGrpSpPr>
          <p:cNvPr id="79" name="node16"/>
          <p:cNvGrpSpPr/>
          <p:nvPr/>
        </p:nvGrpSpPr>
        <p:grpSpPr>
          <a:xfrm>
            <a:off x="6210300" y="3200400"/>
            <a:ext cx="1600200" cy="558800"/>
            <a:chOff x="6210300" y="3200400"/>
            <a:chExt cx="1600200" cy="558800"/>
          </a:xfrm>
        </p:grpSpPr>
        <p:sp>
          <p:nvSpPr>
            <p:cNvPr id="43" name="node16.title"/>
            <p:cNvSpPr/>
            <p:nvPr/>
          </p:nvSpPr>
          <p:spPr>
            <a:xfrm>
              <a:off x="6210300" y="32004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Reminders</a:t>
              </a:r>
              <a:endParaRPr lang="en-US" sz="1600" spc="-16" kern="0" b="0" i="0" dirty="0">
                <a:solidFill>
                  <a:srgbClr val="070154"/>
                </a:solidFill>
                <a:latin typeface="IBM Plex Sans SemiBold"/>
                <a:ea typeface="IBM Plex Sans SemiBold"/>
                <a:cs typeface="IBM Plex Sans SemiBold"/>
              </a:endParaRPr>
            </a:p>
          </p:txBody>
        </p:sp>
        <p:sp>
          <p:nvSpPr>
            <p:cNvPr id="44" name="node16.body"/>
            <p:cNvSpPr/>
            <p:nvPr/>
          </p:nvSpPr>
          <p:spPr>
            <a:xfrm>
              <a:off x="6210300" y="35433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Two-way text prompts.</a:t>
              </a:r>
              <a:endParaRPr lang="en-US" sz="1200" spc="0" kern="0" b="0" i="0" dirty="0">
                <a:solidFill>
                  <a:srgbClr val="50658E"/>
                </a:solidFill>
                <a:latin typeface="IBM Plex Sans"/>
                <a:ea typeface="IBM Plex Sans"/>
                <a:cs typeface="IBM Plex Sans"/>
              </a:endParaRPr>
            </a:p>
          </p:txBody>
        </p:sp>
      </p:grpSp>
      <p:grpSp>
        <p:nvGrpSpPr>
          <p:cNvPr id="80" name="node17"/>
          <p:cNvGrpSpPr/>
          <p:nvPr/>
        </p:nvGrpSpPr>
        <p:grpSpPr>
          <a:xfrm>
            <a:off x="8039100" y="2133600"/>
            <a:ext cx="1600200" cy="139700"/>
            <a:chOff x="8039100" y="2133600"/>
            <a:chExt cx="1600200" cy="139700"/>
          </a:xfrm>
        </p:grpSpPr>
        <p:sp>
          <p:nvSpPr>
            <p:cNvPr id="45" name="node17.text"/>
            <p:cNvSpPr/>
            <p:nvPr/>
          </p:nvSpPr>
          <p:spPr>
            <a:xfrm>
              <a:off x="8039100" y="2133600"/>
              <a:ext cx="1600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Q4 2027</a:t>
              </a:r>
              <a:endParaRPr lang="en-US" sz="800" spc="48" kern="0" b="0" i="0" dirty="0">
                <a:solidFill>
                  <a:srgbClr val="0047FF"/>
                </a:solidFill>
                <a:latin typeface="IBM Plex Mono Medium"/>
                <a:ea typeface="IBM Plex Mono Medium"/>
                <a:cs typeface="IBM Plex Mono Medium"/>
              </a:endParaRPr>
            </a:p>
          </p:txBody>
        </p:sp>
      </p:grpSp>
      <p:grpSp>
        <p:nvGrpSpPr>
          <p:cNvPr id="81" name="node18"/>
          <p:cNvGrpSpPr/>
          <p:nvPr/>
        </p:nvGrpSpPr>
        <p:grpSpPr>
          <a:xfrm>
            <a:off x="8039100" y="2514600"/>
            <a:ext cx="457200" cy="457200"/>
            <a:chOff x="8039100" y="2514600"/>
            <a:chExt cx="457200" cy="457200"/>
          </a:xfrm>
        </p:grpSpPr>
        <p:sp>
          <p:nvSpPr>
            <p:cNvPr id="46" name="node18.surface"/>
            <p:cNvSpPr/>
            <p:nvPr/>
          </p:nvSpPr>
          <p:spPr>
            <a:xfrm>
              <a:off x="8039100" y="2514600"/>
              <a:ext cx="457200" cy="457200"/>
            </a:xfrm>
            <a:prstGeom prst="rect">
              <a:avLst/>
            </a:prstGeom>
            <a:solidFill>
              <a:srgbClr val="070154"/>
            </a:solidFill>
            <a:ln>
              <a:noFill/>
            </a:ln>
          </p:spPr>
        </p:sp>
        <p:sp>
          <p:nvSpPr>
            <p:cNvPr id="47" name="node18.text"/>
            <p:cNvSpPr/>
            <p:nvPr/>
          </p:nvSpPr>
          <p:spPr>
            <a:xfrm>
              <a:off x="8115300" y="26733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5</a:t>
              </a:r>
              <a:endParaRPr lang="en-US" sz="800" spc="48" kern="0" b="0" i="0" dirty="0">
                <a:solidFill>
                  <a:srgbClr val="FFFFFF"/>
                </a:solidFill>
                <a:latin typeface="IBM Plex Mono Medium"/>
                <a:ea typeface="IBM Plex Mono Medium"/>
                <a:cs typeface="IBM Plex Mono Medium"/>
              </a:endParaRPr>
            </a:p>
          </p:txBody>
        </p:sp>
      </p:grpSp>
      <p:grpSp>
        <p:nvGrpSpPr>
          <p:cNvPr id="82" name="node19"/>
          <p:cNvGrpSpPr/>
          <p:nvPr/>
        </p:nvGrpSpPr>
        <p:grpSpPr>
          <a:xfrm>
            <a:off x="8039100" y="3200400"/>
            <a:ext cx="1600200" cy="558800"/>
            <a:chOff x="8039100" y="3200400"/>
            <a:chExt cx="1600200" cy="558800"/>
          </a:xfrm>
        </p:grpSpPr>
        <p:sp>
          <p:nvSpPr>
            <p:cNvPr id="48" name="node19.title"/>
            <p:cNvSpPr/>
            <p:nvPr/>
          </p:nvSpPr>
          <p:spPr>
            <a:xfrm>
              <a:off x="8039100" y="32004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Virtual desk</a:t>
              </a:r>
              <a:endParaRPr lang="en-US" sz="1600" spc="-16" kern="0" b="0" i="0" dirty="0">
                <a:solidFill>
                  <a:srgbClr val="070154"/>
                </a:solidFill>
                <a:latin typeface="IBM Plex Sans SemiBold"/>
                <a:ea typeface="IBM Plex Sans SemiBold"/>
                <a:cs typeface="IBM Plex Sans SemiBold"/>
              </a:endParaRPr>
            </a:p>
          </p:txBody>
        </p:sp>
        <p:sp>
          <p:nvSpPr>
            <p:cNvPr id="49" name="node19.body"/>
            <p:cNvSpPr/>
            <p:nvPr/>
          </p:nvSpPr>
          <p:spPr>
            <a:xfrm>
              <a:off x="8039100" y="3543300"/>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Chat and video visits.</a:t>
              </a:r>
              <a:endParaRPr lang="en-US" sz="1200" spc="0" kern="0" b="0" i="0" dirty="0">
                <a:solidFill>
                  <a:srgbClr val="50658E"/>
                </a:solidFill>
                <a:latin typeface="IBM Plex Sans"/>
                <a:ea typeface="IBM Plex Sans"/>
                <a:cs typeface="IBM Plex Sans"/>
              </a:endParaRPr>
            </a:p>
          </p:txBody>
        </p:sp>
      </p:grpSp>
      <p:grpSp>
        <p:nvGrpSpPr>
          <p:cNvPr id="83" name="node20"/>
          <p:cNvGrpSpPr/>
          <p:nvPr/>
        </p:nvGrpSpPr>
        <p:grpSpPr>
          <a:xfrm>
            <a:off x="9867900" y="2133600"/>
            <a:ext cx="1600200" cy="139700"/>
            <a:chOff x="9867900" y="2133600"/>
            <a:chExt cx="1600200" cy="139700"/>
          </a:xfrm>
        </p:grpSpPr>
        <p:sp>
          <p:nvSpPr>
            <p:cNvPr id="50" name="node20.text"/>
            <p:cNvSpPr/>
            <p:nvPr/>
          </p:nvSpPr>
          <p:spPr>
            <a:xfrm>
              <a:off x="9867900" y="2133600"/>
              <a:ext cx="1600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Q1 2028</a:t>
              </a:r>
              <a:endParaRPr lang="en-US" sz="800" spc="48" kern="0" b="0" i="0" dirty="0">
                <a:solidFill>
                  <a:srgbClr val="0047FF"/>
                </a:solidFill>
                <a:latin typeface="IBM Plex Mono Medium"/>
                <a:ea typeface="IBM Plex Mono Medium"/>
                <a:cs typeface="IBM Plex Mono Medium"/>
              </a:endParaRPr>
            </a:p>
          </p:txBody>
        </p:sp>
      </p:grpSp>
      <p:grpSp>
        <p:nvGrpSpPr>
          <p:cNvPr id="84" name="node21"/>
          <p:cNvGrpSpPr/>
          <p:nvPr/>
        </p:nvGrpSpPr>
        <p:grpSpPr>
          <a:xfrm>
            <a:off x="9867900" y="2514600"/>
            <a:ext cx="457200" cy="457200"/>
            <a:chOff x="9867900" y="2514600"/>
            <a:chExt cx="457200" cy="457200"/>
          </a:xfrm>
        </p:grpSpPr>
        <p:sp>
          <p:nvSpPr>
            <p:cNvPr id="51" name="node21.surface"/>
            <p:cNvSpPr/>
            <p:nvPr/>
          </p:nvSpPr>
          <p:spPr>
            <a:xfrm>
              <a:off x="9867900" y="2514600"/>
              <a:ext cx="457200" cy="457200"/>
            </a:xfrm>
            <a:prstGeom prst="rect">
              <a:avLst/>
            </a:prstGeom>
            <a:solidFill>
              <a:srgbClr val="070154"/>
            </a:solidFill>
            <a:ln>
              <a:noFill/>
            </a:ln>
          </p:spPr>
        </p:sp>
        <p:sp>
          <p:nvSpPr>
            <p:cNvPr id="52" name="node21.text"/>
            <p:cNvSpPr/>
            <p:nvPr/>
          </p:nvSpPr>
          <p:spPr>
            <a:xfrm>
              <a:off x="9944100" y="26733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6</a:t>
              </a:r>
              <a:endParaRPr lang="en-US" sz="800" spc="48" kern="0" b="0" i="0" dirty="0">
                <a:solidFill>
                  <a:srgbClr val="FFFFFF"/>
                </a:solidFill>
                <a:latin typeface="IBM Plex Mono Medium"/>
                <a:ea typeface="IBM Plex Mono Medium"/>
                <a:cs typeface="IBM Plex Mono Medium"/>
              </a:endParaRPr>
            </a:p>
          </p:txBody>
        </p:sp>
      </p:grpSp>
      <p:grpSp>
        <p:nvGrpSpPr>
          <p:cNvPr id="85" name="node22"/>
          <p:cNvGrpSpPr/>
          <p:nvPr/>
        </p:nvGrpSpPr>
        <p:grpSpPr>
          <a:xfrm>
            <a:off x="9867900" y="3200400"/>
            <a:ext cx="1600200" cy="1041400"/>
            <a:chOff x="9867900" y="3200400"/>
            <a:chExt cx="1600200" cy="1041400"/>
          </a:xfrm>
        </p:grpSpPr>
        <p:sp>
          <p:nvSpPr>
            <p:cNvPr id="53" name="node22.title"/>
            <p:cNvSpPr/>
            <p:nvPr/>
          </p:nvSpPr>
          <p:spPr>
            <a:xfrm>
              <a:off x="9867900" y="3200400"/>
              <a:ext cx="16002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Personal journeys</a:t>
              </a:r>
              <a:endParaRPr lang="en-US" sz="1600" spc="-16" kern="0" b="0" i="0" dirty="0">
                <a:solidFill>
                  <a:srgbClr val="070154"/>
                </a:solidFill>
                <a:latin typeface="IBM Plex Sans SemiBold"/>
                <a:ea typeface="IBM Plex Sans SemiBold"/>
                <a:cs typeface="IBM Plex Sans SemiBold"/>
              </a:endParaRPr>
            </a:p>
          </p:txBody>
        </p:sp>
        <p:sp>
          <p:nvSpPr>
            <p:cNvPr id="54" name="node22.body"/>
            <p:cNvSpPr/>
            <p:nvPr/>
          </p:nvSpPr>
          <p:spPr>
            <a:xfrm>
              <a:off x="9867900" y="3810000"/>
              <a:ext cx="1600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Care paths for each patient.</a:t>
              </a:r>
              <a:endParaRPr lang="en-US" sz="1200" spc="0" kern="0" b="0" i="0" dirty="0">
                <a:solidFill>
                  <a:srgbClr val="50658E"/>
                </a:solidFill>
                <a:latin typeface="IBM Plex Sans"/>
                <a:ea typeface="IBM Plex Sans"/>
                <a:cs typeface="IBM Plex Sans"/>
              </a:endParaRPr>
            </a:p>
          </p:txBody>
        </p:sp>
      </p:grpSp>
      <p:grpSp>
        <p:nvGrpSpPr>
          <p:cNvPr id="89" name="node23"/>
          <p:cNvGrpSpPr/>
          <p:nvPr/>
        </p:nvGrpSpPr>
        <p:grpSpPr>
          <a:xfrm>
            <a:off x="723900" y="4800600"/>
            <a:ext cx="10744200" cy="914400"/>
            <a:chOff x="723900" y="4800600"/>
            <a:chExt cx="10744200" cy="914400"/>
          </a:xfrm>
        </p:grpSpPr>
        <p:grpSp>
          <p:nvGrpSpPr>
            <p:cNvPr id="86" name="node23.item-001"/>
            <p:cNvGrpSpPr/>
            <p:nvPr/>
          </p:nvGrpSpPr>
          <p:grpSpPr>
            <a:xfrm>
              <a:off x="723900" y="4800600"/>
              <a:ext cx="3429000" cy="914400"/>
              <a:chOff x="723900" y="4800600"/>
              <a:chExt cx="3429000" cy="914400"/>
            </a:xfrm>
          </p:grpSpPr>
          <p:sp>
            <p:nvSpPr>
              <p:cNvPr id="55" name="node23.item-001.container"/>
              <p:cNvSpPr/>
              <p:nvPr/>
            </p:nvSpPr>
            <p:spPr>
              <a:xfrm>
                <a:off x="723900" y="4800600"/>
                <a:ext cx="3429000" cy="914400"/>
              </a:xfrm>
              <a:prstGeom prst="rect">
                <a:avLst/>
              </a:prstGeom>
              <a:solidFill>
                <a:srgbClr val="E8EEF8"/>
              </a:solidFill>
              <a:ln>
                <a:noFill/>
              </a:ln>
            </p:spPr>
          </p:sp>
          <p:sp>
            <p:nvSpPr>
              <p:cNvPr id="56" name="node23.item-001.label"/>
              <p:cNvSpPr/>
              <p:nvPr/>
            </p:nvSpPr>
            <p:spPr>
              <a:xfrm>
                <a:off x="876300" y="49530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PHASE 1 · FOUNDATION</a:t>
                </a:r>
                <a:endParaRPr lang="en-US" sz="800" spc="48" kern="0" b="0" i="0" dirty="0">
                  <a:solidFill>
                    <a:srgbClr val="0047FF"/>
                  </a:solidFill>
                  <a:latin typeface="IBM Plex Mono Medium"/>
                  <a:ea typeface="IBM Plex Mono Medium"/>
                  <a:cs typeface="IBM Plex Mono Medium"/>
                </a:endParaRPr>
              </a:p>
            </p:txBody>
          </p:sp>
          <p:sp>
            <p:nvSpPr>
              <p:cNvPr id="57" name="node23.item-001.title"/>
              <p:cNvSpPr/>
              <p:nvPr/>
            </p:nvSpPr>
            <p:spPr>
              <a:xfrm>
                <a:off x="876300" y="51689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Exit: 60% on one sign-in</a:t>
                </a:r>
                <a:endParaRPr lang="en-US" sz="1600" spc="-16" kern="0" b="0" i="0" dirty="0">
                  <a:solidFill>
                    <a:srgbClr val="070154"/>
                  </a:solidFill>
                  <a:latin typeface="IBM Plex Sans SemiBold"/>
                  <a:ea typeface="IBM Plex Sans SemiBold"/>
                  <a:cs typeface="IBM Plex Sans SemiBold"/>
                </a:endParaRPr>
              </a:p>
            </p:txBody>
          </p:sp>
        </p:grpSp>
        <p:grpSp>
          <p:nvGrpSpPr>
            <p:cNvPr id="87" name="node23.item-002"/>
            <p:cNvGrpSpPr/>
            <p:nvPr/>
          </p:nvGrpSpPr>
          <p:grpSpPr>
            <a:xfrm>
              <a:off x="4381500" y="4800600"/>
              <a:ext cx="3429000" cy="914400"/>
              <a:chOff x="4381500" y="4800600"/>
              <a:chExt cx="3429000" cy="914400"/>
            </a:xfrm>
          </p:grpSpPr>
          <p:sp>
            <p:nvSpPr>
              <p:cNvPr id="58" name="node23.item-002.container"/>
              <p:cNvSpPr/>
              <p:nvPr/>
            </p:nvSpPr>
            <p:spPr>
              <a:xfrm>
                <a:off x="4381500" y="4800600"/>
                <a:ext cx="3429000" cy="914400"/>
              </a:xfrm>
              <a:prstGeom prst="rect">
                <a:avLst/>
              </a:prstGeom>
              <a:solidFill>
                <a:srgbClr val="E8EEF8"/>
              </a:solidFill>
              <a:ln>
                <a:noFill/>
              </a:ln>
            </p:spPr>
          </p:sp>
          <p:sp>
            <p:nvSpPr>
              <p:cNvPr id="59" name="node23.item-002.label"/>
              <p:cNvSpPr/>
              <p:nvPr/>
            </p:nvSpPr>
            <p:spPr>
              <a:xfrm>
                <a:off x="4533900" y="49530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PHASE 2 · ADOPTION</a:t>
                </a:r>
                <a:endParaRPr lang="en-US" sz="800" spc="48" kern="0" b="0" i="0" dirty="0">
                  <a:solidFill>
                    <a:srgbClr val="0047FF"/>
                  </a:solidFill>
                  <a:latin typeface="IBM Plex Mono Medium"/>
                  <a:ea typeface="IBM Plex Mono Medium"/>
                  <a:cs typeface="IBM Plex Mono Medium"/>
                </a:endParaRPr>
              </a:p>
            </p:txBody>
          </p:sp>
          <p:sp>
            <p:nvSpPr>
              <p:cNvPr id="60" name="node23.item-002.title"/>
              <p:cNvSpPr/>
              <p:nvPr/>
            </p:nvSpPr>
            <p:spPr>
              <a:xfrm>
                <a:off x="4533900" y="51689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Exit: 35% book online</a:t>
                </a:r>
                <a:endParaRPr lang="en-US" sz="1600" spc="-16" kern="0" b="0" i="0" dirty="0">
                  <a:solidFill>
                    <a:srgbClr val="070154"/>
                  </a:solidFill>
                  <a:latin typeface="IBM Plex Sans SemiBold"/>
                  <a:ea typeface="IBM Plex Sans SemiBold"/>
                  <a:cs typeface="IBM Plex Sans SemiBold"/>
                </a:endParaRPr>
              </a:p>
            </p:txBody>
          </p:sp>
        </p:grpSp>
        <p:grpSp>
          <p:nvGrpSpPr>
            <p:cNvPr id="88" name="node23.item-003"/>
            <p:cNvGrpSpPr/>
            <p:nvPr/>
          </p:nvGrpSpPr>
          <p:grpSpPr>
            <a:xfrm>
              <a:off x="8039100" y="4800600"/>
              <a:ext cx="3429000" cy="914400"/>
              <a:chOff x="8039100" y="4800600"/>
              <a:chExt cx="3429000" cy="914400"/>
            </a:xfrm>
          </p:grpSpPr>
          <p:sp>
            <p:nvSpPr>
              <p:cNvPr id="61" name="node23.item-003.container"/>
              <p:cNvSpPr/>
              <p:nvPr/>
            </p:nvSpPr>
            <p:spPr>
              <a:xfrm>
                <a:off x="8039100" y="4800600"/>
                <a:ext cx="3429000" cy="914400"/>
              </a:xfrm>
              <a:prstGeom prst="rect">
                <a:avLst/>
              </a:prstGeom>
              <a:solidFill>
                <a:srgbClr val="E8EEF8"/>
              </a:solidFill>
              <a:ln>
                <a:noFill/>
              </a:ln>
            </p:spPr>
          </p:sp>
          <p:sp>
            <p:nvSpPr>
              <p:cNvPr id="62" name="node23.item-003.label"/>
              <p:cNvSpPr/>
              <p:nvPr/>
            </p:nvSpPr>
            <p:spPr>
              <a:xfrm>
                <a:off x="8191500" y="49530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PHASE 3 · SCALE</a:t>
                </a:r>
                <a:endParaRPr lang="en-US" sz="800" spc="48" kern="0" b="0" i="0" dirty="0">
                  <a:solidFill>
                    <a:srgbClr val="0047FF"/>
                  </a:solidFill>
                  <a:latin typeface="IBM Plex Mono Medium"/>
                  <a:ea typeface="IBM Plex Mono Medium"/>
                  <a:cs typeface="IBM Plex Mono Medium"/>
                </a:endParaRPr>
              </a:p>
            </p:txBody>
          </p:sp>
          <p:sp>
            <p:nvSpPr>
              <p:cNvPr id="63" name="node23.item-003.title"/>
              <p:cNvSpPr/>
              <p:nvPr/>
            </p:nvSpPr>
            <p:spPr>
              <a:xfrm>
                <a:off x="8191500" y="51689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Exit: 20% fewer calls</a:t>
                </a:r>
                <a:endParaRPr lang="en-US" sz="1600" spc="-16" kern="0" b="0" i="0" dirty="0">
                  <a:solidFill>
                    <a:srgbClr val="070154"/>
                  </a:solidFill>
                  <a:latin typeface="IBM Plex Sans SemiBold"/>
                  <a:ea typeface="IBM Plex Sans SemiBold"/>
                  <a:cs typeface="IBM Plex Sans SemiBold"/>
                </a:endParaRPr>
              </a:p>
            </p:txBody>
          </p:sp>
        </p:grpSp>
      </p:gr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ource-44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capability group moves through three horizons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product council roadmap,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139</a:t>
            </a:fld>
            <a:endParaRPr lang="en-US" sz="700" spc="0" kern="0" b="0" i="0" dirty="0">
              <a:solidFill>
                <a:srgbClr val="070154"/>
              </a:solidFill>
              <a:latin typeface="IBM Plex Mono SemiBold"/>
              <a:ea typeface="IBM Plex Mono SemiBold"/>
              <a:cs typeface="IBM Plex Mono SemiBold"/>
            </a:endParaRPr>
          </a:p>
        </p:txBody>
      </p:sp>
      <p:grpSp>
        <p:nvGrpSpPr>
          <p:cNvPr id="108" name="node01"/>
          <p:cNvGrpSpPr/>
          <p:nvPr/>
        </p:nvGrpSpPr>
        <p:grpSpPr>
          <a:xfrm>
            <a:off x="2552700" y="1676400"/>
            <a:ext cx="2057400" cy="266700"/>
            <a:chOff x="2552700" y="1676400"/>
            <a:chExt cx="2057400" cy="266700"/>
          </a:xfrm>
        </p:grpSpPr>
        <p:sp>
          <p:nvSpPr>
            <p:cNvPr id="7" name="node01.text"/>
            <p:cNvSpPr/>
            <p:nvPr/>
          </p:nvSpPr>
          <p:spPr>
            <a:xfrm>
              <a:off x="2552700" y="1676400"/>
              <a:ext cx="2057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Access</a:t>
              </a:r>
              <a:endParaRPr lang="en-US" sz="1600" spc="-16" kern="0" b="0" i="0" dirty="0">
                <a:solidFill>
                  <a:srgbClr val="070154"/>
                </a:solidFill>
                <a:latin typeface="IBM Plex Sans SemiBold"/>
                <a:ea typeface="IBM Plex Sans SemiBold"/>
                <a:cs typeface="IBM Plex Sans SemiBold"/>
              </a:endParaRPr>
            </a:p>
          </p:txBody>
        </p:sp>
      </p:grpSp>
      <p:sp>
        <p:nvSpPr>
          <p:cNvPr id="8" name="node02"/>
          <p:cNvSpPr/>
          <p:nvPr/>
        </p:nvSpPr>
        <p:spPr>
          <a:xfrm>
            <a:off x="2552700" y="2057400"/>
            <a:ext cx="2057400" cy="19050"/>
          </a:xfrm>
          <a:prstGeom prst="rect">
            <a:avLst/>
          </a:prstGeom>
          <a:solidFill>
            <a:srgbClr val="CED7E6"/>
          </a:solidFill>
          <a:ln>
            <a:noFill/>
          </a:ln>
        </p:spPr>
      </p:sp>
      <p:grpSp>
        <p:nvGrpSpPr>
          <p:cNvPr id="109" name="node03"/>
          <p:cNvGrpSpPr/>
          <p:nvPr/>
        </p:nvGrpSpPr>
        <p:grpSpPr>
          <a:xfrm>
            <a:off x="4838700" y="1676400"/>
            <a:ext cx="2057400" cy="266700"/>
            <a:chOff x="4838700" y="1676400"/>
            <a:chExt cx="2057400" cy="266700"/>
          </a:xfrm>
        </p:grpSpPr>
        <p:sp>
          <p:nvSpPr>
            <p:cNvPr id="9" name="node03.text"/>
            <p:cNvSpPr/>
            <p:nvPr/>
          </p:nvSpPr>
          <p:spPr>
            <a:xfrm>
              <a:off x="4838700" y="1676400"/>
              <a:ext cx="2057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Care</a:t>
              </a:r>
              <a:endParaRPr lang="en-US" sz="1600" spc="-16" kern="0" b="0" i="0" dirty="0">
                <a:solidFill>
                  <a:srgbClr val="070154"/>
                </a:solidFill>
                <a:latin typeface="IBM Plex Sans SemiBold"/>
                <a:ea typeface="IBM Plex Sans SemiBold"/>
                <a:cs typeface="IBM Plex Sans SemiBold"/>
              </a:endParaRPr>
            </a:p>
          </p:txBody>
        </p:sp>
      </p:grpSp>
      <p:sp>
        <p:nvSpPr>
          <p:cNvPr id="10" name="node04"/>
          <p:cNvSpPr/>
          <p:nvPr/>
        </p:nvSpPr>
        <p:spPr>
          <a:xfrm>
            <a:off x="4838700" y="2057400"/>
            <a:ext cx="2057400" cy="19050"/>
          </a:xfrm>
          <a:prstGeom prst="rect">
            <a:avLst/>
          </a:prstGeom>
          <a:solidFill>
            <a:srgbClr val="CED7E6"/>
          </a:solidFill>
          <a:ln>
            <a:noFill/>
          </a:ln>
        </p:spPr>
      </p:sp>
      <p:grpSp>
        <p:nvGrpSpPr>
          <p:cNvPr id="110" name="node05"/>
          <p:cNvGrpSpPr/>
          <p:nvPr/>
        </p:nvGrpSpPr>
        <p:grpSpPr>
          <a:xfrm>
            <a:off x="7124700" y="1676400"/>
            <a:ext cx="2057400" cy="266700"/>
            <a:chOff x="7124700" y="1676400"/>
            <a:chExt cx="2057400" cy="266700"/>
          </a:xfrm>
        </p:grpSpPr>
        <p:sp>
          <p:nvSpPr>
            <p:cNvPr id="11" name="node05.text"/>
            <p:cNvSpPr/>
            <p:nvPr/>
          </p:nvSpPr>
          <p:spPr>
            <a:xfrm>
              <a:off x="7124700" y="1676400"/>
              <a:ext cx="2057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Billing</a:t>
              </a:r>
              <a:endParaRPr lang="en-US" sz="1600" spc="-16" kern="0" b="0" i="0" dirty="0">
                <a:solidFill>
                  <a:srgbClr val="070154"/>
                </a:solidFill>
                <a:latin typeface="IBM Plex Sans SemiBold"/>
                <a:ea typeface="IBM Plex Sans SemiBold"/>
                <a:cs typeface="IBM Plex Sans SemiBold"/>
              </a:endParaRPr>
            </a:p>
          </p:txBody>
        </p:sp>
      </p:grpSp>
      <p:sp>
        <p:nvSpPr>
          <p:cNvPr id="12" name="node06"/>
          <p:cNvSpPr/>
          <p:nvPr/>
        </p:nvSpPr>
        <p:spPr>
          <a:xfrm>
            <a:off x="7124700" y="2057400"/>
            <a:ext cx="2057400" cy="19050"/>
          </a:xfrm>
          <a:prstGeom prst="rect">
            <a:avLst/>
          </a:prstGeom>
          <a:solidFill>
            <a:srgbClr val="CED7E6"/>
          </a:solidFill>
          <a:ln>
            <a:noFill/>
          </a:ln>
        </p:spPr>
      </p:sp>
      <p:grpSp>
        <p:nvGrpSpPr>
          <p:cNvPr id="111" name="node07"/>
          <p:cNvGrpSpPr/>
          <p:nvPr/>
        </p:nvGrpSpPr>
        <p:grpSpPr>
          <a:xfrm>
            <a:off x="9410700" y="1676400"/>
            <a:ext cx="2057400" cy="266700"/>
            <a:chOff x="9410700" y="1676400"/>
            <a:chExt cx="2057400" cy="266700"/>
          </a:xfrm>
        </p:grpSpPr>
        <p:sp>
          <p:nvSpPr>
            <p:cNvPr id="13" name="node07.text"/>
            <p:cNvSpPr/>
            <p:nvPr/>
          </p:nvSpPr>
          <p:spPr>
            <a:xfrm>
              <a:off x="9410700" y="1676400"/>
              <a:ext cx="2057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Platform</a:t>
              </a:r>
              <a:endParaRPr lang="en-US" sz="1600" spc="-16" kern="0" b="0" i="0" dirty="0">
                <a:solidFill>
                  <a:srgbClr val="070154"/>
                </a:solidFill>
                <a:latin typeface="IBM Plex Sans SemiBold"/>
                <a:ea typeface="IBM Plex Sans SemiBold"/>
                <a:cs typeface="IBM Plex Sans SemiBold"/>
              </a:endParaRPr>
            </a:p>
          </p:txBody>
        </p:sp>
      </p:grpSp>
      <p:sp>
        <p:nvSpPr>
          <p:cNvPr id="14" name="node08"/>
          <p:cNvSpPr/>
          <p:nvPr/>
        </p:nvSpPr>
        <p:spPr>
          <a:xfrm>
            <a:off x="9410700" y="2057400"/>
            <a:ext cx="2057400" cy="19050"/>
          </a:xfrm>
          <a:prstGeom prst="rect">
            <a:avLst/>
          </a:prstGeom>
          <a:solidFill>
            <a:srgbClr val="CED7E6"/>
          </a:solidFill>
          <a:ln>
            <a:noFill/>
          </a:ln>
        </p:spPr>
      </p:sp>
      <p:grpSp>
        <p:nvGrpSpPr>
          <p:cNvPr id="112" name="node09"/>
          <p:cNvGrpSpPr/>
          <p:nvPr/>
        </p:nvGrpSpPr>
        <p:grpSpPr>
          <a:xfrm>
            <a:off x="723900" y="2286000"/>
            <a:ext cx="1600200" cy="685800"/>
            <a:chOff x="723900" y="2286000"/>
            <a:chExt cx="1600200" cy="685800"/>
          </a:xfrm>
        </p:grpSpPr>
        <p:sp>
          <p:nvSpPr>
            <p:cNvPr id="15" name="node09.surface"/>
            <p:cNvSpPr/>
            <p:nvPr/>
          </p:nvSpPr>
          <p:spPr>
            <a:xfrm>
              <a:off x="723900" y="2286000"/>
              <a:ext cx="1600200" cy="685800"/>
            </a:xfrm>
            <a:prstGeom prst="rect">
              <a:avLst/>
            </a:prstGeom>
            <a:solidFill>
              <a:srgbClr val="070154"/>
            </a:solidFill>
            <a:ln>
              <a:noFill/>
            </a:ln>
          </p:spPr>
        </p:sp>
        <p:sp>
          <p:nvSpPr>
            <p:cNvPr id="16" name="node09.text"/>
            <p:cNvSpPr/>
            <p:nvPr/>
          </p:nvSpPr>
          <p:spPr>
            <a:xfrm>
              <a:off x="876300" y="2495550"/>
              <a:ext cx="1295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Now</a:t>
              </a:r>
              <a:endParaRPr lang="en-US" sz="1600" spc="-16" kern="0" b="0" i="0" dirty="0">
                <a:solidFill>
                  <a:srgbClr val="FFFFFF"/>
                </a:solidFill>
                <a:latin typeface="IBM Plex Sans SemiBold"/>
                <a:ea typeface="IBM Plex Sans SemiBold"/>
                <a:cs typeface="IBM Plex Sans SemiBold"/>
              </a:endParaRPr>
            </a:p>
          </p:txBody>
        </p:sp>
      </p:grpSp>
      <p:grpSp>
        <p:nvGrpSpPr>
          <p:cNvPr id="113" name="node10"/>
          <p:cNvGrpSpPr/>
          <p:nvPr/>
        </p:nvGrpSpPr>
        <p:grpSpPr>
          <a:xfrm>
            <a:off x="723900" y="3048000"/>
            <a:ext cx="1600200" cy="139700"/>
            <a:chOff x="723900" y="3048000"/>
            <a:chExt cx="1600200" cy="139700"/>
          </a:xfrm>
        </p:grpSpPr>
        <p:sp>
          <p:nvSpPr>
            <p:cNvPr id="17" name="node10.text"/>
            <p:cNvSpPr/>
            <p:nvPr/>
          </p:nvSpPr>
          <p:spPr>
            <a:xfrm>
              <a:off x="723900" y="3048000"/>
              <a:ext cx="1600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NEXT 90 DAYS</a:t>
              </a:r>
              <a:endParaRPr lang="en-US" sz="800" spc="48" kern="0" b="0" i="0" dirty="0">
                <a:solidFill>
                  <a:srgbClr val="50658E"/>
                </a:solidFill>
                <a:latin typeface="IBM Plex Mono Medium"/>
                <a:ea typeface="IBM Plex Mono Medium"/>
                <a:cs typeface="IBM Plex Mono Medium"/>
              </a:endParaRPr>
            </a:p>
          </p:txBody>
        </p:sp>
      </p:grpSp>
      <p:grpSp>
        <p:nvGrpSpPr>
          <p:cNvPr id="114" name="node11"/>
          <p:cNvGrpSpPr/>
          <p:nvPr/>
        </p:nvGrpSpPr>
        <p:grpSpPr>
          <a:xfrm>
            <a:off x="2552700" y="2286000"/>
            <a:ext cx="2057400" cy="914400"/>
            <a:chOff x="2552700" y="2286000"/>
            <a:chExt cx="2057400" cy="914400"/>
          </a:xfrm>
        </p:grpSpPr>
        <p:sp>
          <p:nvSpPr>
            <p:cNvPr id="18" name="node11.container"/>
            <p:cNvSpPr/>
            <p:nvPr/>
          </p:nvSpPr>
          <p:spPr>
            <a:xfrm>
              <a:off x="2552700" y="2286000"/>
              <a:ext cx="2057400" cy="914400"/>
            </a:xfrm>
            <a:prstGeom prst="rect">
              <a:avLst/>
            </a:prstGeom>
            <a:solidFill>
              <a:srgbClr val="E8EEF8"/>
            </a:solidFill>
            <a:ln>
              <a:noFill/>
            </a:ln>
          </p:spPr>
        </p:sp>
        <p:sp>
          <p:nvSpPr>
            <p:cNvPr id="19" name="node11.body.item-001.bullets.item-001.marker"/>
            <p:cNvSpPr/>
            <p:nvPr/>
          </p:nvSpPr>
          <p:spPr>
            <a:xfrm>
              <a:off x="2628900" y="2451100"/>
              <a:ext cx="38100" cy="38100"/>
            </a:xfrm>
            <a:prstGeom prst="rect">
              <a:avLst/>
            </a:prstGeom>
            <a:solidFill>
              <a:srgbClr val="070154"/>
            </a:solidFill>
            <a:ln>
              <a:noFill/>
            </a:ln>
          </p:spPr>
        </p:sp>
        <p:sp>
          <p:nvSpPr>
            <p:cNvPr id="20" name="node11.body.item-001.bullets.item-001.text"/>
            <p:cNvSpPr/>
            <p:nvPr/>
          </p:nvSpPr>
          <p:spPr>
            <a:xfrm>
              <a:off x="2781300" y="2362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Self-scheduling</a:t>
              </a:r>
              <a:endParaRPr lang="en-US" sz="1200" spc="0" kern="0" b="0" i="0" dirty="0">
                <a:solidFill>
                  <a:srgbClr val="070154"/>
                </a:solidFill>
                <a:latin typeface="IBM Plex Sans"/>
                <a:ea typeface="IBM Plex Sans"/>
                <a:cs typeface="IBM Plex Sans"/>
              </a:endParaRPr>
            </a:p>
          </p:txBody>
        </p:sp>
        <p:sp>
          <p:nvSpPr>
            <p:cNvPr id="21" name="node11.body.item-001.bullets.item-002.marker"/>
            <p:cNvSpPr/>
            <p:nvPr/>
          </p:nvSpPr>
          <p:spPr>
            <a:xfrm>
              <a:off x="2628900" y="2705100"/>
              <a:ext cx="38100" cy="38100"/>
            </a:xfrm>
            <a:prstGeom prst="rect">
              <a:avLst/>
            </a:prstGeom>
            <a:solidFill>
              <a:srgbClr val="070154"/>
            </a:solidFill>
            <a:ln>
              <a:noFill/>
            </a:ln>
          </p:spPr>
        </p:sp>
        <p:sp>
          <p:nvSpPr>
            <p:cNvPr id="22" name="node11.body.item-001.bullets.item-002.text"/>
            <p:cNvSpPr/>
            <p:nvPr/>
          </p:nvSpPr>
          <p:spPr>
            <a:xfrm>
              <a:off x="2781300" y="2616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Waitlist</a:t>
              </a:r>
              <a:endParaRPr lang="en-US" sz="1200" spc="0" kern="0" b="0" i="0" dirty="0">
                <a:solidFill>
                  <a:srgbClr val="070154"/>
                </a:solidFill>
                <a:latin typeface="IBM Plex Sans"/>
                <a:ea typeface="IBM Plex Sans"/>
                <a:cs typeface="IBM Plex Sans"/>
              </a:endParaRPr>
            </a:p>
          </p:txBody>
        </p:sp>
        <p:sp>
          <p:nvSpPr>
            <p:cNvPr id="23" name="node11.body.item-001.bullets.item-003.marker"/>
            <p:cNvSpPr/>
            <p:nvPr/>
          </p:nvSpPr>
          <p:spPr>
            <a:xfrm>
              <a:off x="2628900" y="2959100"/>
              <a:ext cx="38100" cy="38100"/>
            </a:xfrm>
            <a:prstGeom prst="rect">
              <a:avLst/>
            </a:prstGeom>
            <a:solidFill>
              <a:srgbClr val="070154"/>
            </a:solidFill>
            <a:ln>
              <a:noFill/>
            </a:ln>
          </p:spPr>
        </p:sp>
        <p:sp>
          <p:nvSpPr>
            <p:cNvPr id="24" name="node11.body.item-001.bullets.item-003.text"/>
            <p:cNvSpPr/>
            <p:nvPr/>
          </p:nvSpPr>
          <p:spPr>
            <a:xfrm>
              <a:off x="2781300" y="2870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Provider search</a:t>
              </a:r>
              <a:endParaRPr lang="en-US" sz="1200" spc="0" kern="0" b="0" i="0" dirty="0">
                <a:solidFill>
                  <a:srgbClr val="070154"/>
                </a:solidFill>
                <a:latin typeface="IBM Plex Sans"/>
                <a:ea typeface="IBM Plex Sans"/>
                <a:cs typeface="IBM Plex Sans"/>
              </a:endParaRPr>
            </a:p>
          </p:txBody>
        </p:sp>
      </p:grpSp>
      <p:grpSp>
        <p:nvGrpSpPr>
          <p:cNvPr id="115" name="node12"/>
          <p:cNvGrpSpPr/>
          <p:nvPr/>
        </p:nvGrpSpPr>
        <p:grpSpPr>
          <a:xfrm>
            <a:off x="4838700" y="2286000"/>
            <a:ext cx="2057400" cy="914400"/>
            <a:chOff x="4838700" y="2286000"/>
            <a:chExt cx="2057400" cy="914400"/>
          </a:xfrm>
        </p:grpSpPr>
        <p:sp>
          <p:nvSpPr>
            <p:cNvPr id="25" name="node12.container"/>
            <p:cNvSpPr/>
            <p:nvPr/>
          </p:nvSpPr>
          <p:spPr>
            <a:xfrm>
              <a:off x="4838700" y="2286000"/>
              <a:ext cx="2057400" cy="914400"/>
            </a:xfrm>
            <a:prstGeom prst="rect">
              <a:avLst/>
            </a:prstGeom>
            <a:solidFill>
              <a:srgbClr val="E8EEF8"/>
            </a:solidFill>
            <a:ln>
              <a:noFill/>
            </a:ln>
          </p:spPr>
        </p:sp>
        <p:sp>
          <p:nvSpPr>
            <p:cNvPr id="26" name="node12.body.item-001.bullets.item-001.marker"/>
            <p:cNvSpPr/>
            <p:nvPr/>
          </p:nvSpPr>
          <p:spPr>
            <a:xfrm>
              <a:off x="4914900" y="2451100"/>
              <a:ext cx="38100" cy="38100"/>
            </a:xfrm>
            <a:prstGeom prst="rect">
              <a:avLst/>
            </a:prstGeom>
            <a:solidFill>
              <a:srgbClr val="070154"/>
            </a:solidFill>
            <a:ln>
              <a:noFill/>
            </a:ln>
          </p:spPr>
        </p:sp>
        <p:sp>
          <p:nvSpPr>
            <p:cNvPr id="27" name="node12.body.item-001.bullets.item-001.text"/>
            <p:cNvSpPr/>
            <p:nvPr/>
          </p:nvSpPr>
          <p:spPr>
            <a:xfrm>
              <a:off x="5067300" y="2362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Secure messaging triage</a:t>
              </a:r>
              <a:endParaRPr lang="en-US" sz="1200" spc="0" kern="0" b="0" i="0" dirty="0">
                <a:solidFill>
                  <a:srgbClr val="070154"/>
                </a:solidFill>
                <a:latin typeface="IBM Plex Sans"/>
                <a:ea typeface="IBM Plex Sans"/>
                <a:cs typeface="IBM Plex Sans"/>
              </a:endParaRPr>
            </a:p>
          </p:txBody>
        </p:sp>
        <p:sp>
          <p:nvSpPr>
            <p:cNvPr id="28" name="node12.body.item-001.bullets.item-002.marker"/>
            <p:cNvSpPr/>
            <p:nvPr/>
          </p:nvSpPr>
          <p:spPr>
            <a:xfrm>
              <a:off x="4914900" y="2705100"/>
              <a:ext cx="38100" cy="38100"/>
            </a:xfrm>
            <a:prstGeom prst="rect">
              <a:avLst/>
            </a:prstGeom>
            <a:solidFill>
              <a:srgbClr val="070154"/>
            </a:solidFill>
            <a:ln>
              <a:noFill/>
            </a:ln>
          </p:spPr>
        </p:sp>
        <p:sp>
          <p:nvSpPr>
            <p:cNvPr id="29" name="node12.body.item-001.bullets.item-002.text"/>
            <p:cNvSpPr/>
            <p:nvPr/>
          </p:nvSpPr>
          <p:spPr>
            <a:xfrm>
              <a:off x="5067300" y="2616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Lab alerts</a:t>
              </a:r>
              <a:endParaRPr lang="en-US" sz="1200" spc="0" kern="0" b="0" i="0" dirty="0">
                <a:solidFill>
                  <a:srgbClr val="070154"/>
                </a:solidFill>
                <a:latin typeface="IBM Plex Sans"/>
                <a:ea typeface="IBM Plex Sans"/>
                <a:cs typeface="IBM Plex Sans"/>
              </a:endParaRPr>
            </a:p>
          </p:txBody>
        </p:sp>
        <p:sp>
          <p:nvSpPr>
            <p:cNvPr id="30" name="node12.body.item-001.bullets.item-003.marker"/>
            <p:cNvSpPr/>
            <p:nvPr/>
          </p:nvSpPr>
          <p:spPr>
            <a:xfrm>
              <a:off x="4914900" y="2959100"/>
              <a:ext cx="38100" cy="38100"/>
            </a:xfrm>
            <a:prstGeom prst="rect">
              <a:avLst/>
            </a:prstGeom>
            <a:solidFill>
              <a:srgbClr val="070154"/>
            </a:solidFill>
            <a:ln>
              <a:noFill/>
            </a:ln>
          </p:spPr>
        </p:sp>
        <p:sp>
          <p:nvSpPr>
            <p:cNvPr id="31" name="node12.body.item-001.bullets.item-003.text"/>
            <p:cNvSpPr/>
            <p:nvPr/>
          </p:nvSpPr>
          <p:spPr>
            <a:xfrm>
              <a:off x="5067300" y="2870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Visit summaries</a:t>
              </a:r>
              <a:endParaRPr lang="en-US" sz="1200" spc="0" kern="0" b="0" i="0" dirty="0">
                <a:solidFill>
                  <a:srgbClr val="070154"/>
                </a:solidFill>
                <a:latin typeface="IBM Plex Sans"/>
                <a:ea typeface="IBM Plex Sans"/>
                <a:cs typeface="IBM Plex Sans"/>
              </a:endParaRPr>
            </a:p>
          </p:txBody>
        </p:sp>
      </p:grpSp>
      <p:grpSp>
        <p:nvGrpSpPr>
          <p:cNvPr id="116" name="node13"/>
          <p:cNvGrpSpPr/>
          <p:nvPr/>
        </p:nvGrpSpPr>
        <p:grpSpPr>
          <a:xfrm>
            <a:off x="7124700" y="2286000"/>
            <a:ext cx="2057400" cy="914400"/>
            <a:chOff x="7124700" y="2286000"/>
            <a:chExt cx="2057400" cy="914400"/>
          </a:xfrm>
        </p:grpSpPr>
        <p:sp>
          <p:nvSpPr>
            <p:cNvPr id="32" name="node13.container"/>
            <p:cNvSpPr/>
            <p:nvPr/>
          </p:nvSpPr>
          <p:spPr>
            <a:xfrm>
              <a:off x="7124700" y="2286000"/>
              <a:ext cx="2057400" cy="914400"/>
            </a:xfrm>
            <a:prstGeom prst="rect">
              <a:avLst/>
            </a:prstGeom>
            <a:solidFill>
              <a:srgbClr val="E8EEF8"/>
            </a:solidFill>
            <a:ln>
              <a:noFill/>
            </a:ln>
          </p:spPr>
        </p:sp>
        <p:sp>
          <p:nvSpPr>
            <p:cNvPr id="33" name="node13.body.item-001.bullets.item-001.marker"/>
            <p:cNvSpPr/>
            <p:nvPr/>
          </p:nvSpPr>
          <p:spPr>
            <a:xfrm>
              <a:off x="7200900" y="2451100"/>
              <a:ext cx="38100" cy="38100"/>
            </a:xfrm>
            <a:prstGeom prst="rect">
              <a:avLst/>
            </a:prstGeom>
            <a:solidFill>
              <a:srgbClr val="070154"/>
            </a:solidFill>
            <a:ln>
              <a:noFill/>
            </a:ln>
          </p:spPr>
        </p:sp>
        <p:sp>
          <p:nvSpPr>
            <p:cNvPr id="34" name="node13.body.item-001.bullets.item-001.text"/>
            <p:cNvSpPr/>
            <p:nvPr/>
          </p:nvSpPr>
          <p:spPr>
            <a:xfrm>
              <a:off x="7353300" y="2362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Pay online</a:t>
              </a:r>
              <a:endParaRPr lang="en-US" sz="1200" spc="0" kern="0" b="0" i="0" dirty="0">
                <a:solidFill>
                  <a:srgbClr val="070154"/>
                </a:solidFill>
                <a:latin typeface="IBM Plex Sans"/>
                <a:ea typeface="IBM Plex Sans"/>
                <a:cs typeface="IBM Plex Sans"/>
              </a:endParaRPr>
            </a:p>
          </p:txBody>
        </p:sp>
        <p:sp>
          <p:nvSpPr>
            <p:cNvPr id="35" name="node13.body.item-001.bullets.item-002.marker"/>
            <p:cNvSpPr/>
            <p:nvPr/>
          </p:nvSpPr>
          <p:spPr>
            <a:xfrm>
              <a:off x="7200900" y="2705100"/>
              <a:ext cx="38100" cy="38100"/>
            </a:xfrm>
            <a:prstGeom prst="rect">
              <a:avLst/>
            </a:prstGeom>
            <a:solidFill>
              <a:srgbClr val="070154"/>
            </a:solidFill>
            <a:ln>
              <a:noFill/>
            </a:ln>
          </p:spPr>
        </p:sp>
        <p:sp>
          <p:nvSpPr>
            <p:cNvPr id="36" name="node13.body.item-001.bullets.item-002.text"/>
            <p:cNvSpPr/>
            <p:nvPr/>
          </p:nvSpPr>
          <p:spPr>
            <a:xfrm>
              <a:off x="7353300" y="2616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Payment plans</a:t>
              </a:r>
              <a:endParaRPr lang="en-US" sz="1200" spc="0" kern="0" b="0" i="0" dirty="0">
                <a:solidFill>
                  <a:srgbClr val="070154"/>
                </a:solidFill>
                <a:latin typeface="IBM Plex Sans"/>
                <a:ea typeface="IBM Plex Sans"/>
                <a:cs typeface="IBM Plex Sans"/>
              </a:endParaRPr>
            </a:p>
          </p:txBody>
        </p:sp>
        <p:sp>
          <p:nvSpPr>
            <p:cNvPr id="37" name="node13.body.item-001.bullets.item-003.marker"/>
            <p:cNvSpPr/>
            <p:nvPr/>
          </p:nvSpPr>
          <p:spPr>
            <a:xfrm>
              <a:off x="7200900" y="2959100"/>
              <a:ext cx="38100" cy="38100"/>
            </a:xfrm>
            <a:prstGeom prst="rect">
              <a:avLst/>
            </a:prstGeom>
            <a:solidFill>
              <a:srgbClr val="070154"/>
            </a:solidFill>
            <a:ln>
              <a:noFill/>
            </a:ln>
          </p:spPr>
        </p:sp>
        <p:sp>
          <p:nvSpPr>
            <p:cNvPr id="38" name="node13.body.item-001.bullets.item-003.text"/>
            <p:cNvSpPr/>
            <p:nvPr/>
          </p:nvSpPr>
          <p:spPr>
            <a:xfrm>
              <a:off x="7353300" y="2870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Statement redesign</a:t>
              </a:r>
              <a:endParaRPr lang="en-US" sz="1200" spc="0" kern="0" b="0" i="0" dirty="0">
                <a:solidFill>
                  <a:srgbClr val="070154"/>
                </a:solidFill>
                <a:latin typeface="IBM Plex Sans"/>
                <a:ea typeface="IBM Plex Sans"/>
                <a:cs typeface="IBM Plex Sans"/>
              </a:endParaRPr>
            </a:p>
          </p:txBody>
        </p:sp>
      </p:grpSp>
      <p:grpSp>
        <p:nvGrpSpPr>
          <p:cNvPr id="117" name="node14"/>
          <p:cNvGrpSpPr/>
          <p:nvPr/>
        </p:nvGrpSpPr>
        <p:grpSpPr>
          <a:xfrm>
            <a:off x="9410700" y="2286000"/>
            <a:ext cx="2057400" cy="914400"/>
            <a:chOff x="9410700" y="2286000"/>
            <a:chExt cx="2057400" cy="914400"/>
          </a:xfrm>
        </p:grpSpPr>
        <p:sp>
          <p:nvSpPr>
            <p:cNvPr id="39" name="node14.container"/>
            <p:cNvSpPr/>
            <p:nvPr/>
          </p:nvSpPr>
          <p:spPr>
            <a:xfrm>
              <a:off x="9410700" y="2286000"/>
              <a:ext cx="2057400" cy="914400"/>
            </a:xfrm>
            <a:prstGeom prst="rect">
              <a:avLst/>
            </a:prstGeom>
            <a:solidFill>
              <a:srgbClr val="E8EEF8"/>
            </a:solidFill>
            <a:ln>
              <a:noFill/>
            </a:ln>
          </p:spPr>
        </p:sp>
        <p:sp>
          <p:nvSpPr>
            <p:cNvPr id="40" name="node14.body.item-001.bullets.item-001.marker"/>
            <p:cNvSpPr/>
            <p:nvPr/>
          </p:nvSpPr>
          <p:spPr>
            <a:xfrm>
              <a:off x="9486900" y="2451100"/>
              <a:ext cx="38100" cy="38100"/>
            </a:xfrm>
            <a:prstGeom prst="rect">
              <a:avLst/>
            </a:prstGeom>
            <a:solidFill>
              <a:srgbClr val="070154"/>
            </a:solidFill>
            <a:ln>
              <a:noFill/>
            </a:ln>
          </p:spPr>
        </p:sp>
        <p:sp>
          <p:nvSpPr>
            <p:cNvPr id="41" name="node14.body.item-001.bullets.item-001.text"/>
            <p:cNvSpPr/>
            <p:nvPr/>
          </p:nvSpPr>
          <p:spPr>
            <a:xfrm>
              <a:off x="9639300" y="2362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EHR hardening</a:t>
              </a:r>
              <a:endParaRPr lang="en-US" sz="1200" spc="0" kern="0" b="0" i="0" dirty="0">
                <a:solidFill>
                  <a:srgbClr val="070154"/>
                </a:solidFill>
                <a:latin typeface="IBM Plex Sans"/>
                <a:ea typeface="IBM Plex Sans"/>
                <a:cs typeface="IBM Plex Sans"/>
              </a:endParaRPr>
            </a:p>
          </p:txBody>
        </p:sp>
        <p:sp>
          <p:nvSpPr>
            <p:cNvPr id="42" name="node14.body.item-001.bullets.item-002.marker"/>
            <p:cNvSpPr/>
            <p:nvPr/>
          </p:nvSpPr>
          <p:spPr>
            <a:xfrm>
              <a:off x="9486900" y="2705100"/>
              <a:ext cx="38100" cy="38100"/>
            </a:xfrm>
            <a:prstGeom prst="rect">
              <a:avLst/>
            </a:prstGeom>
            <a:solidFill>
              <a:srgbClr val="070154"/>
            </a:solidFill>
            <a:ln>
              <a:noFill/>
            </a:ln>
          </p:spPr>
        </p:sp>
        <p:sp>
          <p:nvSpPr>
            <p:cNvPr id="43" name="node14.body.item-001.bullets.item-002.text"/>
            <p:cNvSpPr/>
            <p:nvPr/>
          </p:nvSpPr>
          <p:spPr>
            <a:xfrm>
              <a:off x="9639300" y="2616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Release pipeline</a:t>
              </a:r>
              <a:endParaRPr lang="en-US" sz="1200" spc="0" kern="0" b="0" i="0" dirty="0">
                <a:solidFill>
                  <a:srgbClr val="070154"/>
                </a:solidFill>
                <a:latin typeface="IBM Plex Sans"/>
                <a:ea typeface="IBM Plex Sans"/>
                <a:cs typeface="IBM Plex Sans"/>
              </a:endParaRPr>
            </a:p>
          </p:txBody>
        </p:sp>
        <p:sp>
          <p:nvSpPr>
            <p:cNvPr id="44" name="node14.body.item-001.bullets.item-003.marker"/>
            <p:cNvSpPr/>
            <p:nvPr/>
          </p:nvSpPr>
          <p:spPr>
            <a:xfrm>
              <a:off x="9486900" y="2959100"/>
              <a:ext cx="38100" cy="38100"/>
            </a:xfrm>
            <a:prstGeom prst="rect">
              <a:avLst/>
            </a:prstGeom>
            <a:solidFill>
              <a:srgbClr val="070154"/>
            </a:solidFill>
            <a:ln>
              <a:noFill/>
            </a:ln>
          </p:spPr>
        </p:sp>
        <p:sp>
          <p:nvSpPr>
            <p:cNvPr id="45" name="node14.body.item-001.bullets.item-003.text"/>
            <p:cNvSpPr/>
            <p:nvPr/>
          </p:nvSpPr>
          <p:spPr>
            <a:xfrm>
              <a:off x="9639300" y="2870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Crash reporting</a:t>
              </a:r>
              <a:endParaRPr lang="en-US" sz="1200" spc="0" kern="0" b="0" i="0" dirty="0">
                <a:solidFill>
                  <a:srgbClr val="070154"/>
                </a:solidFill>
                <a:latin typeface="IBM Plex Sans"/>
                <a:ea typeface="IBM Plex Sans"/>
                <a:cs typeface="IBM Plex Sans"/>
              </a:endParaRPr>
            </a:p>
          </p:txBody>
        </p:sp>
      </p:grpSp>
      <p:grpSp>
        <p:nvGrpSpPr>
          <p:cNvPr id="118" name="node15"/>
          <p:cNvGrpSpPr/>
          <p:nvPr/>
        </p:nvGrpSpPr>
        <p:grpSpPr>
          <a:xfrm>
            <a:off x="723900" y="3429000"/>
            <a:ext cx="1600200" cy="685800"/>
            <a:chOff x="723900" y="3429000"/>
            <a:chExt cx="1600200" cy="685800"/>
          </a:xfrm>
        </p:grpSpPr>
        <p:sp>
          <p:nvSpPr>
            <p:cNvPr id="46" name="node15.surface"/>
            <p:cNvSpPr/>
            <p:nvPr/>
          </p:nvSpPr>
          <p:spPr>
            <a:xfrm>
              <a:off x="723900" y="3429000"/>
              <a:ext cx="1600200" cy="685800"/>
            </a:xfrm>
            <a:prstGeom prst="rect">
              <a:avLst/>
            </a:prstGeom>
            <a:solidFill>
              <a:srgbClr val="CED7E6"/>
            </a:solidFill>
            <a:ln>
              <a:noFill/>
            </a:ln>
          </p:spPr>
        </p:sp>
        <p:sp>
          <p:nvSpPr>
            <p:cNvPr id="47" name="node15.text"/>
            <p:cNvSpPr/>
            <p:nvPr/>
          </p:nvSpPr>
          <p:spPr>
            <a:xfrm>
              <a:off x="876300" y="3638550"/>
              <a:ext cx="1295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Next</a:t>
              </a:r>
              <a:endParaRPr lang="en-US" sz="1600" spc="-16" kern="0" b="0" i="0" dirty="0">
                <a:solidFill>
                  <a:srgbClr val="070154"/>
                </a:solidFill>
                <a:latin typeface="IBM Plex Sans SemiBold"/>
                <a:ea typeface="IBM Plex Sans SemiBold"/>
                <a:cs typeface="IBM Plex Sans SemiBold"/>
              </a:endParaRPr>
            </a:p>
          </p:txBody>
        </p:sp>
      </p:grpSp>
      <p:grpSp>
        <p:nvGrpSpPr>
          <p:cNvPr id="119" name="node16"/>
          <p:cNvGrpSpPr/>
          <p:nvPr/>
        </p:nvGrpSpPr>
        <p:grpSpPr>
          <a:xfrm>
            <a:off x="723900" y="4191000"/>
            <a:ext cx="1600200" cy="139700"/>
            <a:chOff x="723900" y="4191000"/>
            <a:chExt cx="1600200" cy="139700"/>
          </a:xfrm>
        </p:grpSpPr>
        <p:sp>
          <p:nvSpPr>
            <p:cNvPr id="48" name="node16.text"/>
            <p:cNvSpPr/>
            <p:nvPr/>
          </p:nvSpPr>
          <p:spPr>
            <a:xfrm>
              <a:off x="723900" y="4191000"/>
              <a:ext cx="1600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TWO QUARTERS</a:t>
              </a:r>
              <a:endParaRPr lang="en-US" sz="800" spc="48" kern="0" b="0" i="0" dirty="0">
                <a:solidFill>
                  <a:srgbClr val="50658E"/>
                </a:solidFill>
                <a:latin typeface="IBM Plex Mono Medium"/>
                <a:ea typeface="IBM Plex Mono Medium"/>
                <a:cs typeface="IBM Plex Mono Medium"/>
              </a:endParaRPr>
            </a:p>
          </p:txBody>
        </p:sp>
      </p:grpSp>
      <p:grpSp>
        <p:nvGrpSpPr>
          <p:cNvPr id="120" name="node17"/>
          <p:cNvGrpSpPr/>
          <p:nvPr/>
        </p:nvGrpSpPr>
        <p:grpSpPr>
          <a:xfrm>
            <a:off x="2552700" y="3429000"/>
            <a:ext cx="2057400" cy="914400"/>
            <a:chOff x="2552700" y="3429000"/>
            <a:chExt cx="2057400" cy="914400"/>
          </a:xfrm>
        </p:grpSpPr>
        <p:sp>
          <p:nvSpPr>
            <p:cNvPr id="49" name="node17.container"/>
            <p:cNvSpPr/>
            <p:nvPr/>
          </p:nvSpPr>
          <p:spPr>
            <a:xfrm>
              <a:off x="2552700" y="3429000"/>
              <a:ext cx="2057400" cy="914400"/>
            </a:xfrm>
            <a:prstGeom prst="rect">
              <a:avLst/>
            </a:prstGeom>
            <a:solidFill>
              <a:srgbClr val="E8EEF8"/>
            </a:solidFill>
            <a:ln>
              <a:noFill/>
            </a:ln>
          </p:spPr>
        </p:sp>
        <p:sp>
          <p:nvSpPr>
            <p:cNvPr id="50" name="node17.body.item-001.bullets.item-001.marker"/>
            <p:cNvSpPr/>
            <p:nvPr/>
          </p:nvSpPr>
          <p:spPr>
            <a:xfrm>
              <a:off x="2628900" y="3594100"/>
              <a:ext cx="38100" cy="38100"/>
            </a:xfrm>
            <a:prstGeom prst="rect">
              <a:avLst/>
            </a:prstGeom>
            <a:solidFill>
              <a:srgbClr val="070154"/>
            </a:solidFill>
            <a:ln>
              <a:noFill/>
            </a:ln>
          </p:spPr>
        </p:sp>
        <p:sp>
          <p:nvSpPr>
            <p:cNvPr id="51" name="node17.body.item-001.bullets.item-001.text"/>
            <p:cNvSpPr/>
            <p:nvPr/>
          </p:nvSpPr>
          <p:spPr>
            <a:xfrm>
              <a:off x="2781300" y="3505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Pre-visit forms</a:t>
              </a:r>
              <a:endParaRPr lang="en-US" sz="1200" spc="0" kern="0" b="0" i="0" dirty="0">
                <a:solidFill>
                  <a:srgbClr val="070154"/>
                </a:solidFill>
                <a:latin typeface="IBM Plex Sans"/>
                <a:ea typeface="IBM Plex Sans"/>
                <a:cs typeface="IBM Plex Sans"/>
              </a:endParaRPr>
            </a:p>
          </p:txBody>
        </p:sp>
        <p:sp>
          <p:nvSpPr>
            <p:cNvPr id="52" name="node17.body.item-001.bullets.item-002.marker"/>
            <p:cNvSpPr/>
            <p:nvPr/>
          </p:nvSpPr>
          <p:spPr>
            <a:xfrm>
              <a:off x="2628900" y="3848100"/>
              <a:ext cx="38100" cy="38100"/>
            </a:xfrm>
            <a:prstGeom prst="rect">
              <a:avLst/>
            </a:prstGeom>
            <a:solidFill>
              <a:srgbClr val="070154"/>
            </a:solidFill>
            <a:ln>
              <a:noFill/>
            </a:ln>
          </p:spPr>
        </p:sp>
        <p:sp>
          <p:nvSpPr>
            <p:cNvPr id="53" name="node17.body.item-001.bullets.item-002.text"/>
            <p:cNvSpPr/>
            <p:nvPr/>
          </p:nvSpPr>
          <p:spPr>
            <a:xfrm>
              <a:off x="2781300" y="3759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Virtual visit v2</a:t>
              </a:r>
              <a:endParaRPr lang="en-US" sz="1200" spc="0" kern="0" b="0" i="0" dirty="0">
                <a:solidFill>
                  <a:srgbClr val="070154"/>
                </a:solidFill>
                <a:latin typeface="IBM Plex Sans"/>
                <a:ea typeface="IBM Plex Sans"/>
                <a:cs typeface="IBM Plex Sans"/>
              </a:endParaRPr>
            </a:p>
          </p:txBody>
        </p:sp>
        <p:sp>
          <p:nvSpPr>
            <p:cNvPr id="54" name="node17.body.item-001.bullets.item-003.marker"/>
            <p:cNvSpPr/>
            <p:nvPr/>
          </p:nvSpPr>
          <p:spPr>
            <a:xfrm>
              <a:off x="2628900" y="4102100"/>
              <a:ext cx="38100" cy="38100"/>
            </a:xfrm>
            <a:prstGeom prst="rect">
              <a:avLst/>
            </a:prstGeom>
            <a:solidFill>
              <a:srgbClr val="070154"/>
            </a:solidFill>
            <a:ln>
              <a:noFill/>
            </a:ln>
          </p:spPr>
        </p:sp>
        <p:sp>
          <p:nvSpPr>
            <p:cNvPr id="55" name="node17.body.item-001.bullets.item-003.text"/>
            <p:cNvSpPr/>
            <p:nvPr/>
          </p:nvSpPr>
          <p:spPr>
            <a:xfrm>
              <a:off x="2781300" y="4013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Reminders v2</a:t>
              </a:r>
              <a:endParaRPr lang="en-US" sz="1200" spc="0" kern="0" b="0" i="0" dirty="0">
                <a:solidFill>
                  <a:srgbClr val="070154"/>
                </a:solidFill>
                <a:latin typeface="IBM Plex Sans"/>
                <a:ea typeface="IBM Plex Sans"/>
                <a:cs typeface="IBM Plex Sans"/>
              </a:endParaRPr>
            </a:p>
          </p:txBody>
        </p:sp>
      </p:grpSp>
      <p:grpSp>
        <p:nvGrpSpPr>
          <p:cNvPr id="121" name="node18"/>
          <p:cNvGrpSpPr/>
          <p:nvPr/>
        </p:nvGrpSpPr>
        <p:grpSpPr>
          <a:xfrm>
            <a:off x="4838700" y="3429000"/>
            <a:ext cx="2057400" cy="914400"/>
            <a:chOff x="4838700" y="3429000"/>
            <a:chExt cx="2057400" cy="914400"/>
          </a:xfrm>
        </p:grpSpPr>
        <p:sp>
          <p:nvSpPr>
            <p:cNvPr id="56" name="node18.container"/>
            <p:cNvSpPr/>
            <p:nvPr/>
          </p:nvSpPr>
          <p:spPr>
            <a:xfrm>
              <a:off x="4838700" y="3429000"/>
              <a:ext cx="2057400" cy="914400"/>
            </a:xfrm>
            <a:prstGeom prst="rect">
              <a:avLst/>
            </a:prstGeom>
            <a:solidFill>
              <a:srgbClr val="E8EEF8"/>
            </a:solidFill>
            <a:ln>
              <a:noFill/>
            </a:ln>
          </p:spPr>
        </p:sp>
        <p:sp>
          <p:nvSpPr>
            <p:cNvPr id="57" name="node18.body.item-001.bullets.item-001.marker"/>
            <p:cNvSpPr/>
            <p:nvPr/>
          </p:nvSpPr>
          <p:spPr>
            <a:xfrm>
              <a:off x="4914900" y="3594100"/>
              <a:ext cx="38100" cy="38100"/>
            </a:xfrm>
            <a:prstGeom prst="rect">
              <a:avLst/>
            </a:prstGeom>
            <a:solidFill>
              <a:srgbClr val="070154"/>
            </a:solidFill>
            <a:ln>
              <a:noFill/>
            </a:ln>
          </p:spPr>
        </p:sp>
        <p:sp>
          <p:nvSpPr>
            <p:cNvPr id="58" name="node18.body.item-001.bullets.item-001.text"/>
            <p:cNvSpPr/>
            <p:nvPr/>
          </p:nvSpPr>
          <p:spPr>
            <a:xfrm>
              <a:off x="5067300" y="3505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Care plans</a:t>
              </a:r>
              <a:endParaRPr lang="en-US" sz="1200" spc="0" kern="0" b="0" i="0" dirty="0">
                <a:solidFill>
                  <a:srgbClr val="070154"/>
                </a:solidFill>
                <a:latin typeface="IBM Plex Sans"/>
                <a:ea typeface="IBM Plex Sans"/>
                <a:cs typeface="IBM Plex Sans"/>
              </a:endParaRPr>
            </a:p>
          </p:txBody>
        </p:sp>
        <p:sp>
          <p:nvSpPr>
            <p:cNvPr id="59" name="node18.body.item-001.bullets.item-002.marker"/>
            <p:cNvSpPr/>
            <p:nvPr/>
          </p:nvSpPr>
          <p:spPr>
            <a:xfrm>
              <a:off x="4914900" y="3848100"/>
              <a:ext cx="38100" cy="38100"/>
            </a:xfrm>
            <a:prstGeom prst="rect">
              <a:avLst/>
            </a:prstGeom>
            <a:solidFill>
              <a:srgbClr val="070154"/>
            </a:solidFill>
            <a:ln>
              <a:noFill/>
            </a:ln>
          </p:spPr>
        </p:sp>
        <p:sp>
          <p:nvSpPr>
            <p:cNvPr id="60" name="node18.body.item-001.bullets.item-002.text"/>
            <p:cNvSpPr/>
            <p:nvPr/>
          </p:nvSpPr>
          <p:spPr>
            <a:xfrm>
              <a:off x="5067300" y="3759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Remote monitoring</a:t>
              </a:r>
              <a:endParaRPr lang="en-US" sz="1200" spc="0" kern="0" b="0" i="0" dirty="0">
                <a:solidFill>
                  <a:srgbClr val="070154"/>
                </a:solidFill>
                <a:latin typeface="IBM Plex Sans"/>
                <a:ea typeface="IBM Plex Sans"/>
                <a:cs typeface="IBM Plex Sans"/>
              </a:endParaRPr>
            </a:p>
          </p:txBody>
        </p:sp>
        <p:sp>
          <p:nvSpPr>
            <p:cNvPr id="61" name="node18.body.item-001.bullets.item-003.marker"/>
            <p:cNvSpPr/>
            <p:nvPr/>
          </p:nvSpPr>
          <p:spPr>
            <a:xfrm>
              <a:off x="4914900" y="4102100"/>
              <a:ext cx="38100" cy="38100"/>
            </a:xfrm>
            <a:prstGeom prst="rect">
              <a:avLst/>
            </a:prstGeom>
            <a:solidFill>
              <a:srgbClr val="070154"/>
            </a:solidFill>
            <a:ln>
              <a:noFill/>
            </a:ln>
          </p:spPr>
        </p:sp>
        <p:sp>
          <p:nvSpPr>
            <p:cNvPr id="62" name="node18.body.item-001.bullets.item-003.text"/>
            <p:cNvSpPr/>
            <p:nvPr/>
          </p:nvSpPr>
          <p:spPr>
            <a:xfrm>
              <a:off x="5067300" y="4013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Risk flags</a:t>
              </a:r>
              <a:endParaRPr lang="en-US" sz="1200" spc="0" kern="0" b="0" i="0" dirty="0">
                <a:solidFill>
                  <a:srgbClr val="070154"/>
                </a:solidFill>
                <a:latin typeface="IBM Plex Sans"/>
                <a:ea typeface="IBM Plex Sans"/>
                <a:cs typeface="IBM Plex Sans"/>
              </a:endParaRPr>
            </a:p>
          </p:txBody>
        </p:sp>
      </p:grpSp>
      <p:grpSp>
        <p:nvGrpSpPr>
          <p:cNvPr id="122" name="node19"/>
          <p:cNvGrpSpPr/>
          <p:nvPr/>
        </p:nvGrpSpPr>
        <p:grpSpPr>
          <a:xfrm>
            <a:off x="7124700" y="3429000"/>
            <a:ext cx="2057400" cy="914400"/>
            <a:chOff x="7124700" y="3429000"/>
            <a:chExt cx="2057400" cy="914400"/>
          </a:xfrm>
        </p:grpSpPr>
        <p:sp>
          <p:nvSpPr>
            <p:cNvPr id="63" name="node19.container"/>
            <p:cNvSpPr/>
            <p:nvPr/>
          </p:nvSpPr>
          <p:spPr>
            <a:xfrm>
              <a:off x="7124700" y="3429000"/>
              <a:ext cx="2057400" cy="914400"/>
            </a:xfrm>
            <a:prstGeom prst="rect">
              <a:avLst/>
            </a:prstGeom>
            <a:solidFill>
              <a:srgbClr val="E8EEF8"/>
            </a:solidFill>
            <a:ln>
              <a:noFill/>
            </a:ln>
          </p:spPr>
        </p:sp>
        <p:sp>
          <p:nvSpPr>
            <p:cNvPr id="64" name="node19.body.item-001.bullets.item-001.marker"/>
            <p:cNvSpPr/>
            <p:nvPr/>
          </p:nvSpPr>
          <p:spPr>
            <a:xfrm>
              <a:off x="7200900" y="3594100"/>
              <a:ext cx="38100" cy="38100"/>
            </a:xfrm>
            <a:prstGeom prst="rect">
              <a:avLst/>
            </a:prstGeom>
            <a:solidFill>
              <a:srgbClr val="070154"/>
            </a:solidFill>
            <a:ln>
              <a:noFill/>
            </a:ln>
          </p:spPr>
        </p:sp>
        <p:sp>
          <p:nvSpPr>
            <p:cNvPr id="65" name="node19.body.item-001.bullets.item-001.text"/>
            <p:cNvSpPr/>
            <p:nvPr/>
          </p:nvSpPr>
          <p:spPr>
            <a:xfrm>
              <a:off x="7353300" y="3505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Cost estimates</a:t>
              </a:r>
              <a:endParaRPr lang="en-US" sz="1200" spc="0" kern="0" b="0" i="0" dirty="0">
                <a:solidFill>
                  <a:srgbClr val="070154"/>
                </a:solidFill>
                <a:latin typeface="IBM Plex Sans"/>
                <a:ea typeface="IBM Plex Sans"/>
                <a:cs typeface="IBM Plex Sans"/>
              </a:endParaRPr>
            </a:p>
          </p:txBody>
        </p:sp>
        <p:sp>
          <p:nvSpPr>
            <p:cNvPr id="66" name="node19.body.item-001.bullets.item-002.marker"/>
            <p:cNvSpPr/>
            <p:nvPr/>
          </p:nvSpPr>
          <p:spPr>
            <a:xfrm>
              <a:off x="7200900" y="3848100"/>
              <a:ext cx="38100" cy="38100"/>
            </a:xfrm>
            <a:prstGeom prst="rect">
              <a:avLst/>
            </a:prstGeom>
            <a:solidFill>
              <a:srgbClr val="070154"/>
            </a:solidFill>
            <a:ln>
              <a:noFill/>
            </a:ln>
          </p:spPr>
        </p:sp>
        <p:sp>
          <p:nvSpPr>
            <p:cNvPr id="67" name="node19.body.item-001.bullets.item-002.text"/>
            <p:cNvSpPr/>
            <p:nvPr/>
          </p:nvSpPr>
          <p:spPr>
            <a:xfrm>
              <a:off x="7353300" y="3759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Card capture</a:t>
              </a:r>
              <a:endParaRPr lang="en-US" sz="1200" spc="0" kern="0" b="0" i="0" dirty="0">
                <a:solidFill>
                  <a:srgbClr val="070154"/>
                </a:solidFill>
                <a:latin typeface="IBM Plex Sans"/>
                <a:ea typeface="IBM Plex Sans"/>
                <a:cs typeface="IBM Plex Sans"/>
              </a:endParaRPr>
            </a:p>
          </p:txBody>
        </p:sp>
        <p:sp>
          <p:nvSpPr>
            <p:cNvPr id="68" name="node19.body.item-001.bullets.item-003.marker"/>
            <p:cNvSpPr/>
            <p:nvPr/>
          </p:nvSpPr>
          <p:spPr>
            <a:xfrm>
              <a:off x="7200900" y="4102100"/>
              <a:ext cx="38100" cy="38100"/>
            </a:xfrm>
            <a:prstGeom prst="rect">
              <a:avLst/>
            </a:prstGeom>
            <a:solidFill>
              <a:srgbClr val="070154"/>
            </a:solidFill>
            <a:ln>
              <a:noFill/>
            </a:ln>
          </p:spPr>
        </p:sp>
        <p:sp>
          <p:nvSpPr>
            <p:cNvPr id="69" name="node19.body.item-001.bullets.item-003.text"/>
            <p:cNvSpPr/>
            <p:nvPr/>
          </p:nvSpPr>
          <p:spPr>
            <a:xfrm>
              <a:off x="7353300" y="4013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Refund tracking</a:t>
              </a:r>
              <a:endParaRPr lang="en-US" sz="1200" spc="0" kern="0" b="0" i="0" dirty="0">
                <a:solidFill>
                  <a:srgbClr val="070154"/>
                </a:solidFill>
                <a:latin typeface="IBM Plex Sans"/>
                <a:ea typeface="IBM Plex Sans"/>
                <a:cs typeface="IBM Plex Sans"/>
              </a:endParaRPr>
            </a:p>
          </p:txBody>
        </p:sp>
      </p:grpSp>
      <p:grpSp>
        <p:nvGrpSpPr>
          <p:cNvPr id="123" name="node20"/>
          <p:cNvGrpSpPr/>
          <p:nvPr/>
        </p:nvGrpSpPr>
        <p:grpSpPr>
          <a:xfrm>
            <a:off x="9410700" y="3429000"/>
            <a:ext cx="2057400" cy="914400"/>
            <a:chOff x="9410700" y="3429000"/>
            <a:chExt cx="2057400" cy="914400"/>
          </a:xfrm>
        </p:grpSpPr>
        <p:sp>
          <p:nvSpPr>
            <p:cNvPr id="70" name="node20.container"/>
            <p:cNvSpPr/>
            <p:nvPr/>
          </p:nvSpPr>
          <p:spPr>
            <a:xfrm>
              <a:off x="9410700" y="3429000"/>
              <a:ext cx="2057400" cy="914400"/>
            </a:xfrm>
            <a:prstGeom prst="rect">
              <a:avLst/>
            </a:prstGeom>
            <a:solidFill>
              <a:srgbClr val="E8EEF8"/>
            </a:solidFill>
            <a:ln>
              <a:noFill/>
            </a:ln>
          </p:spPr>
        </p:sp>
        <p:sp>
          <p:nvSpPr>
            <p:cNvPr id="71" name="node20.body.item-001.bullets.item-001.marker"/>
            <p:cNvSpPr/>
            <p:nvPr/>
          </p:nvSpPr>
          <p:spPr>
            <a:xfrm>
              <a:off x="9486900" y="3594100"/>
              <a:ext cx="38100" cy="38100"/>
            </a:xfrm>
            <a:prstGeom prst="rect">
              <a:avLst/>
            </a:prstGeom>
            <a:solidFill>
              <a:srgbClr val="070154"/>
            </a:solidFill>
            <a:ln>
              <a:noFill/>
            </a:ln>
          </p:spPr>
        </p:sp>
        <p:sp>
          <p:nvSpPr>
            <p:cNvPr id="72" name="node20.body.item-001.bullets.item-001.text"/>
            <p:cNvSpPr/>
            <p:nvPr/>
          </p:nvSpPr>
          <p:spPr>
            <a:xfrm>
              <a:off x="9639300" y="3505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Event stream</a:t>
              </a:r>
              <a:endParaRPr lang="en-US" sz="1200" spc="0" kern="0" b="0" i="0" dirty="0">
                <a:solidFill>
                  <a:srgbClr val="070154"/>
                </a:solidFill>
                <a:latin typeface="IBM Plex Sans"/>
                <a:ea typeface="IBM Plex Sans"/>
                <a:cs typeface="IBM Plex Sans"/>
              </a:endParaRPr>
            </a:p>
          </p:txBody>
        </p:sp>
        <p:sp>
          <p:nvSpPr>
            <p:cNvPr id="73" name="node20.body.item-001.bullets.item-002.marker"/>
            <p:cNvSpPr/>
            <p:nvPr/>
          </p:nvSpPr>
          <p:spPr>
            <a:xfrm>
              <a:off x="9486900" y="3848100"/>
              <a:ext cx="38100" cy="38100"/>
            </a:xfrm>
            <a:prstGeom prst="rect">
              <a:avLst/>
            </a:prstGeom>
            <a:solidFill>
              <a:srgbClr val="070154"/>
            </a:solidFill>
            <a:ln>
              <a:noFill/>
            </a:ln>
          </p:spPr>
        </p:sp>
        <p:sp>
          <p:nvSpPr>
            <p:cNvPr id="74" name="node20.body.item-001.bullets.item-002.text"/>
            <p:cNvSpPr/>
            <p:nvPr/>
          </p:nvSpPr>
          <p:spPr>
            <a:xfrm>
              <a:off x="9639300" y="3759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Observability</a:t>
              </a:r>
              <a:endParaRPr lang="en-US" sz="1200" spc="0" kern="0" b="0" i="0" dirty="0">
                <a:solidFill>
                  <a:srgbClr val="070154"/>
                </a:solidFill>
                <a:latin typeface="IBM Plex Sans"/>
                <a:ea typeface="IBM Plex Sans"/>
                <a:cs typeface="IBM Plex Sans"/>
              </a:endParaRPr>
            </a:p>
          </p:txBody>
        </p:sp>
        <p:sp>
          <p:nvSpPr>
            <p:cNvPr id="75" name="node20.body.item-001.bullets.item-003.marker"/>
            <p:cNvSpPr/>
            <p:nvPr/>
          </p:nvSpPr>
          <p:spPr>
            <a:xfrm>
              <a:off x="9486900" y="4102100"/>
              <a:ext cx="38100" cy="38100"/>
            </a:xfrm>
            <a:prstGeom prst="rect">
              <a:avLst/>
            </a:prstGeom>
            <a:solidFill>
              <a:srgbClr val="070154"/>
            </a:solidFill>
            <a:ln>
              <a:noFill/>
            </a:ln>
          </p:spPr>
        </p:sp>
        <p:sp>
          <p:nvSpPr>
            <p:cNvPr id="76" name="node20.body.item-001.bullets.item-003.text"/>
            <p:cNvSpPr/>
            <p:nvPr/>
          </p:nvSpPr>
          <p:spPr>
            <a:xfrm>
              <a:off x="9639300" y="4013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Test automation</a:t>
              </a:r>
              <a:endParaRPr lang="en-US" sz="1200" spc="0" kern="0" b="0" i="0" dirty="0">
                <a:solidFill>
                  <a:srgbClr val="070154"/>
                </a:solidFill>
                <a:latin typeface="IBM Plex Sans"/>
                <a:ea typeface="IBM Plex Sans"/>
                <a:cs typeface="IBM Plex Sans"/>
              </a:endParaRPr>
            </a:p>
          </p:txBody>
        </p:sp>
      </p:grpSp>
      <p:grpSp>
        <p:nvGrpSpPr>
          <p:cNvPr id="124" name="node21"/>
          <p:cNvGrpSpPr/>
          <p:nvPr/>
        </p:nvGrpSpPr>
        <p:grpSpPr>
          <a:xfrm>
            <a:off x="723900" y="4572000"/>
            <a:ext cx="1600200" cy="685800"/>
            <a:chOff x="723900" y="4572000"/>
            <a:chExt cx="1600200" cy="685800"/>
          </a:xfrm>
        </p:grpSpPr>
        <p:sp>
          <p:nvSpPr>
            <p:cNvPr id="77" name="node21.surface"/>
            <p:cNvSpPr/>
            <p:nvPr/>
          </p:nvSpPr>
          <p:spPr>
            <a:xfrm>
              <a:off x="723900" y="4572000"/>
              <a:ext cx="1600200" cy="685800"/>
            </a:xfrm>
            <a:prstGeom prst="rect">
              <a:avLst/>
            </a:prstGeom>
            <a:solidFill>
              <a:srgbClr val="E8EEF8"/>
            </a:solidFill>
            <a:ln>
              <a:noFill/>
            </a:ln>
          </p:spPr>
        </p:sp>
        <p:sp>
          <p:nvSpPr>
            <p:cNvPr id="78" name="node21.text"/>
            <p:cNvSpPr/>
            <p:nvPr/>
          </p:nvSpPr>
          <p:spPr>
            <a:xfrm>
              <a:off x="876300" y="4781550"/>
              <a:ext cx="1295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Later</a:t>
              </a:r>
              <a:endParaRPr lang="en-US" sz="1600" spc="-16" kern="0" b="0" i="0" dirty="0">
                <a:solidFill>
                  <a:srgbClr val="070154"/>
                </a:solidFill>
                <a:latin typeface="IBM Plex Sans SemiBold"/>
                <a:ea typeface="IBM Plex Sans SemiBold"/>
                <a:cs typeface="IBM Plex Sans SemiBold"/>
              </a:endParaRPr>
            </a:p>
          </p:txBody>
        </p:sp>
      </p:grpSp>
      <p:grpSp>
        <p:nvGrpSpPr>
          <p:cNvPr id="125" name="node22"/>
          <p:cNvGrpSpPr/>
          <p:nvPr/>
        </p:nvGrpSpPr>
        <p:grpSpPr>
          <a:xfrm>
            <a:off x="723900" y="5334000"/>
            <a:ext cx="1600200" cy="139700"/>
            <a:chOff x="723900" y="5334000"/>
            <a:chExt cx="1600200" cy="139700"/>
          </a:xfrm>
        </p:grpSpPr>
        <p:sp>
          <p:nvSpPr>
            <p:cNvPr id="79" name="node22.text"/>
            <p:cNvSpPr/>
            <p:nvPr/>
          </p:nvSpPr>
          <p:spPr>
            <a:xfrm>
              <a:off x="723900" y="5334000"/>
              <a:ext cx="1600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BEYOND SIX MONTHS</a:t>
              </a:r>
              <a:endParaRPr lang="en-US" sz="800" spc="48" kern="0" b="0" i="0" dirty="0">
                <a:solidFill>
                  <a:srgbClr val="50658E"/>
                </a:solidFill>
                <a:latin typeface="IBM Plex Mono Medium"/>
                <a:ea typeface="IBM Plex Mono Medium"/>
                <a:cs typeface="IBM Plex Mono Medium"/>
              </a:endParaRPr>
            </a:p>
          </p:txBody>
        </p:sp>
      </p:grpSp>
      <p:grpSp>
        <p:nvGrpSpPr>
          <p:cNvPr id="126" name="node23"/>
          <p:cNvGrpSpPr/>
          <p:nvPr/>
        </p:nvGrpSpPr>
        <p:grpSpPr>
          <a:xfrm>
            <a:off x="2552700" y="4572000"/>
            <a:ext cx="2057400" cy="914400"/>
            <a:chOff x="2552700" y="4572000"/>
            <a:chExt cx="2057400" cy="914400"/>
          </a:xfrm>
        </p:grpSpPr>
        <p:sp>
          <p:nvSpPr>
            <p:cNvPr id="80" name="node23.container"/>
            <p:cNvSpPr/>
            <p:nvPr/>
          </p:nvSpPr>
          <p:spPr>
            <a:xfrm>
              <a:off x="2559050" y="4578350"/>
              <a:ext cx="2044700" cy="901700"/>
            </a:xfrm>
            <a:prstGeom prst="rect">
              <a:avLst/>
            </a:prstGeom>
            <a:solidFill>
              <a:srgbClr val="FFFFFF"/>
            </a:solidFill>
            <a:ln w="12700">
              <a:solidFill>
                <a:srgbClr val="CED7E6"/>
              </a:solidFill>
              <a:prstDash val="solid"/>
            </a:ln>
          </p:spPr>
        </p:sp>
        <p:sp>
          <p:nvSpPr>
            <p:cNvPr id="81" name="node23.body.item-001.bullets.item-001.marker"/>
            <p:cNvSpPr/>
            <p:nvPr/>
          </p:nvSpPr>
          <p:spPr>
            <a:xfrm>
              <a:off x="2628900" y="4737100"/>
              <a:ext cx="38100" cy="38100"/>
            </a:xfrm>
            <a:prstGeom prst="rect">
              <a:avLst/>
            </a:prstGeom>
            <a:solidFill>
              <a:srgbClr val="070154"/>
            </a:solidFill>
            <a:ln>
              <a:noFill/>
            </a:ln>
          </p:spPr>
        </p:sp>
        <p:sp>
          <p:nvSpPr>
            <p:cNvPr id="82" name="node23.body.item-001.bullets.item-001.text"/>
            <p:cNvSpPr/>
            <p:nvPr/>
          </p:nvSpPr>
          <p:spPr>
            <a:xfrm>
              <a:off x="2781300" y="4648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Multilingual booking</a:t>
              </a:r>
              <a:endParaRPr lang="en-US" sz="1200" spc="0" kern="0" b="0" i="0" dirty="0">
                <a:solidFill>
                  <a:srgbClr val="070154"/>
                </a:solidFill>
                <a:latin typeface="IBM Plex Sans"/>
                <a:ea typeface="IBM Plex Sans"/>
                <a:cs typeface="IBM Plex Sans"/>
              </a:endParaRPr>
            </a:p>
          </p:txBody>
        </p:sp>
        <p:sp>
          <p:nvSpPr>
            <p:cNvPr id="83" name="node23.body.item-001.bullets.item-002.marker"/>
            <p:cNvSpPr/>
            <p:nvPr/>
          </p:nvSpPr>
          <p:spPr>
            <a:xfrm>
              <a:off x="2628900" y="4991100"/>
              <a:ext cx="38100" cy="38100"/>
            </a:xfrm>
            <a:prstGeom prst="rect">
              <a:avLst/>
            </a:prstGeom>
            <a:solidFill>
              <a:srgbClr val="070154"/>
            </a:solidFill>
            <a:ln>
              <a:noFill/>
            </a:ln>
          </p:spPr>
        </p:sp>
        <p:sp>
          <p:nvSpPr>
            <p:cNvPr id="84" name="node23.body.item-001.bullets.item-002.text"/>
            <p:cNvSpPr/>
            <p:nvPr/>
          </p:nvSpPr>
          <p:spPr>
            <a:xfrm>
              <a:off x="2781300" y="4902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Kiosk check-in</a:t>
              </a:r>
              <a:endParaRPr lang="en-US" sz="1200" spc="0" kern="0" b="0" i="0" dirty="0">
                <a:solidFill>
                  <a:srgbClr val="070154"/>
                </a:solidFill>
                <a:latin typeface="IBM Plex Sans"/>
                <a:ea typeface="IBM Plex Sans"/>
                <a:cs typeface="IBM Plex Sans"/>
              </a:endParaRPr>
            </a:p>
          </p:txBody>
        </p:sp>
        <p:sp>
          <p:nvSpPr>
            <p:cNvPr id="85" name="node23.body.item-001.bullets.item-003.marker"/>
            <p:cNvSpPr/>
            <p:nvPr/>
          </p:nvSpPr>
          <p:spPr>
            <a:xfrm>
              <a:off x="2628900" y="5245100"/>
              <a:ext cx="38100" cy="38100"/>
            </a:xfrm>
            <a:prstGeom prst="rect">
              <a:avLst/>
            </a:prstGeom>
            <a:solidFill>
              <a:srgbClr val="070154"/>
            </a:solidFill>
            <a:ln>
              <a:noFill/>
            </a:ln>
          </p:spPr>
        </p:sp>
        <p:sp>
          <p:nvSpPr>
            <p:cNvPr id="86" name="node23.body.item-001.bullets.item-003.text"/>
            <p:cNvSpPr/>
            <p:nvPr/>
          </p:nvSpPr>
          <p:spPr>
            <a:xfrm>
              <a:off x="2781300" y="5156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Group visits</a:t>
              </a:r>
              <a:endParaRPr lang="en-US" sz="1200" spc="0" kern="0" b="0" i="0" dirty="0">
                <a:solidFill>
                  <a:srgbClr val="070154"/>
                </a:solidFill>
                <a:latin typeface="IBM Plex Sans"/>
                <a:ea typeface="IBM Plex Sans"/>
                <a:cs typeface="IBM Plex Sans"/>
              </a:endParaRPr>
            </a:p>
          </p:txBody>
        </p:sp>
      </p:grpSp>
      <p:grpSp>
        <p:nvGrpSpPr>
          <p:cNvPr id="127" name="node24"/>
          <p:cNvGrpSpPr/>
          <p:nvPr/>
        </p:nvGrpSpPr>
        <p:grpSpPr>
          <a:xfrm>
            <a:off x="4838700" y="4572000"/>
            <a:ext cx="2057400" cy="914400"/>
            <a:chOff x="4838700" y="4572000"/>
            <a:chExt cx="2057400" cy="914400"/>
          </a:xfrm>
        </p:grpSpPr>
        <p:sp>
          <p:nvSpPr>
            <p:cNvPr id="87" name="node24.container"/>
            <p:cNvSpPr/>
            <p:nvPr/>
          </p:nvSpPr>
          <p:spPr>
            <a:xfrm>
              <a:off x="4845050" y="4578350"/>
              <a:ext cx="2044700" cy="901700"/>
            </a:xfrm>
            <a:prstGeom prst="rect">
              <a:avLst/>
            </a:prstGeom>
            <a:solidFill>
              <a:srgbClr val="FFFFFF"/>
            </a:solidFill>
            <a:ln w="12700">
              <a:solidFill>
                <a:srgbClr val="CED7E6"/>
              </a:solidFill>
              <a:prstDash val="solid"/>
            </a:ln>
          </p:spPr>
        </p:sp>
        <p:sp>
          <p:nvSpPr>
            <p:cNvPr id="88" name="node24.body.item-001.bullets.item-001.marker"/>
            <p:cNvSpPr/>
            <p:nvPr/>
          </p:nvSpPr>
          <p:spPr>
            <a:xfrm>
              <a:off x="4914900" y="4737100"/>
              <a:ext cx="38100" cy="38100"/>
            </a:xfrm>
            <a:prstGeom prst="rect">
              <a:avLst/>
            </a:prstGeom>
            <a:solidFill>
              <a:srgbClr val="070154"/>
            </a:solidFill>
            <a:ln>
              <a:noFill/>
            </a:ln>
          </p:spPr>
        </p:sp>
        <p:sp>
          <p:nvSpPr>
            <p:cNvPr id="89" name="node24.body.item-001.bullets.item-001.text"/>
            <p:cNvSpPr/>
            <p:nvPr/>
          </p:nvSpPr>
          <p:spPr>
            <a:xfrm>
              <a:off x="5067300" y="4648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Medication adherence</a:t>
              </a:r>
              <a:endParaRPr lang="en-US" sz="1200" spc="0" kern="0" b="0" i="0" dirty="0">
                <a:solidFill>
                  <a:srgbClr val="070154"/>
                </a:solidFill>
                <a:latin typeface="IBM Plex Sans"/>
                <a:ea typeface="IBM Plex Sans"/>
                <a:cs typeface="IBM Plex Sans"/>
              </a:endParaRPr>
            </a:p>
          </p:txBody>
        </p:sp>
        <p:sp>
          <p:nvSpPr>
            <p:cNvPr id="90" name="node24.body.item-001.bullets.item-002.marker"/>
            <p:cNvSpPr/>
            <p:nvPr/>
          </p:nvSpPr>
          <p:spPr>
            <a:xfrm>
              <a:off x="4914900" y="4991100"/>
              <a:ext cx="38100" cy="38100"/>
            </a:xfrm>
            <a:prstGeom prst="rect">
              <a:avLst/>
            </a:prstGeom>
            <a:solidFill>
              <a:srgbClr val="070154"/>
            </a:solidFill>
            <a:ln>
              <a:noFill/>
            </a:ln>
          </p:spPr>
        </p:sp>
        <p:sp>
          <p:nvSpPr>
            <p:cNvPr id="91" name="node24.body.item-001.bullets.item-002.text"/>
            <p:cNvSpPr/>
            <p:nvPr/>
          </p:nvSpPr>
          <p:spPr>
            <a:xfrm>
              <a:off x="5067300" y="4902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Proxy access</a:t>
              </a:r>
              <a:endParaRPr lang="en-US" sz="1200" spc="0" kern="0" b="0" i="0" dirty="0">
                <a:solidFill>
                  <a:srgbClr val="070154"/>
                </a:solidFill>
                <a:latin typeface="IBM Plex Sans"/>
                <a:ea typeface="IBM Plex Sans"/>
                <a:cs typeface="IBM Plex Sans"/>
              </a:endParaRPr>
            </a:p>
          </p:txBody>
        </p:sp>
        <p:sp>
          <p:nvSpPr>
            <p:cNvPr id="92" name="node24.body.item-001.bullets.item-003.marker"/>
            <p:cNvSpPr/>
            <p:nvPr/>
          </p:nvSpPr>
          <p:spPr>
            <a:xfrm>
              <a:off x="4914900" y="5245100"/>
              <a:ext cx="38100" cy="38100"/>
            </a:xfrm>
            <a:prstGeom prst="rect">
              <a:avLst/>
            </a:prstGeom>
            <a:solidFill>
              <a:srgbClr val="070154"/>
            </a:solidFill>
            <a:ln>
              <a:noFill/>
            </a:ln>
          </p:spPr>
        </p:sp>
        <p:sp>
          <p:nvSpPr>
            <p:cNvPr id="93" name="node24.body.item-001.bullets.item-003.text"/>
            <p:cNvSpPr/>
            <p:nvPr/>
          </p:nvSpPr>
          <p:spPr>
            <a:xfrm>
              <a:off x="5067300" y="5156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Wearable sync</a:t>
              </a:r>
              <a:endParaRPr lang="en-US" sz="1200" spc="0" kern="0" b="0" i="0" dirty="0">
                <a:solidFill>
                  <a:srgbClr val="070154"/>
                </a:solidFill>
                <a:latin typeface="IBM Plex Sans"/>
                <a:ea typeface="IBM Plex Sans"/>
                <a:cs typeface="IBM Plex Sans"/>
              </a:endParaRPr>
            </a:p>
          </p:txBody>
        </p:sp>
      </p:grpSp>
      <p:grpSp>
        <p:nvGrpSpPr>
          <p:cNvPr id="128" name="node25"/>
          <p:cNvGrpSpPr/>
          <p:nvPr/>
        </p:nvGrpSpPr>
        <p:grpSpPr>
          <a:xfrm>
            <a:off x="7124700" y="4572000"/>
            <a:ext cx="2057400" cy="914400"/>
            <a:chOff x="7124700" y="4572000"/>
            <a:chExt cx="2057400" cy="914400"/>
          </a:xfrm>
        </p:grpSpPr>
        <p:sp>
          <p:nvSpPr>
            <p:cNvPr id="94" name="node25.container"/>
            <p:cNvSpPr/>
            <p:nvPr/>
          </p:nvSpPr>
          <p:spPr>
            <a:xfrm>
              <a:off x="7131050" y="4578350"/>
              <a:ext cx="2044700" cy="901700"/>
            </a:xfrm>
            <a:prstGeom prst="rect">
              <a:avLst/>
            </a:prstGeom>
            <a:solidFill>
              <a:srgbClr val="FFFFFF"/>
            </a:solidFill>
            <a:ln w="12700">
              <a:solidFill>
                <a:srgbClr val="CED7E6"/>
              </a:solidFill>
              <a:prstDash val="solid"/>
            </a:ln>
          </p:spPr>
        </p:sp>
        <p:sp>
          <p:nvSpPr>
            <p:cNvPr id="95" name="node25.body.item-001.bullets.item-001.marker"/>
            <p:cNvSpPr/>
            <p:nvPr/>
          </p:nvSpPr>
          <p:spPr>
            <a:xfrm>
              <a:off x="7200900" y="4737100"/>
              <a:ext cx="38100" cy="38100"/>
            </a:xfrm>
            <a:prstGeom prst="rect">
              <a:avLst/>
            </a:prstGeom>
            <a:solidFill>
              <a:srgbClr val="070154"/>
            </a:solidFill>
            <a:ln>
              <a:noFill/>
            </a:ln>
          </p:spPr>
        </p:sp>
        <p:sp>
          <p:nvSpPr>
            <p:cNvPr id="96" name="node25.body.item-001.bullets.item-001.text"/>
            <p:cNvSpPr/>
            <p:nvPr/>
          </p:nvSpPr>
          <p:spPr>
            <a:xfrm>
              <a:off x="7353300" y="4648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Price transparency API</a:t>
              </a:r>
              <a:endParaRPr lang="en-US" sz="1200" spc="0" kern="0" b="0" i="0" dirty="0">
                <a:solidFill>
                  <a:srgbClr val="070154"/>
                </a:solidFill>
                <a:latin typeface="IBM Plex Sans"/>
                <a:ea typeface="IBM Plex Sans"/>
                <a:cs typeface="IBM Plex Sans"/>
              </a:endParaRPr>
            </a:p>
          </p:txBody>
        </p:sp>
        <p:sp>
          <p:nvSpPr>
            <p:cNvPr id="97" name="node25.body.item-001.bullets.item-002.marker"/>
            <p:cNvSpPr/>
            <p:nvPr/>
          </p:nvSpPr>
          <p:spPr>
            <a:xfrm>
              <a:off x="7200900" y="4991100"/>
              <a:ext cx="38100" cy="38100"/>
            </a:xfrm>
            <a:prstGeom prst="rect">
              <a:avLst/>
            </a:prstGeom>
            <a:solidFill>
              <a:srgbClr val="070154"/>
            </a:solidFill>
            <a:ln>
              <a:noFill/>
            </a:ln>
          </p:spPr>
        </p:sp>
        <p:sp>
          <p:nvSpPr>
            <p:cNvPr id="98" name="node25.body.item-001.bullets.item-002.text"/>
            <p:cNvSpPr/>
            <p:nvPr/>
          </p:nvSpPr>
          <p:spPr>
            <a:xfrm>
              <a:off x="7353300" y="4902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Estimate accuracy</a:t>
              </a:r>
              <a:endParaRPr lang="en-US" sz="1200" spc="0" kern="0" b="0" i="0" dirty="0">
                <a:solidFill>
                  <a:srgbClr val="070154"/>
                </a:solidFill>
                <a:latin typeface="IBM Plex Sans"/>
                <a:ea typeface="IBM Plex Sans"/>
                <a:cs typeface="IBM Plex Sans"/>
              </a:endParaRPr>
            </a:p>
          </p:txBody>
        </p:sp>
        <p:sp>
          <p:nvSpPr>
            <p:cNvPr id="99" name="node25.body.item-001.bullets.item-003.marker"/>
            <p:cNvSpPr/>
            <p:nvPr/>
          </p:nvSpPr>
          <p:spPr>
            <a:xfrm>
              <a:off x="7200900" y="5245100"/>
              <a:ext cx="38100" cy="38100"/>
            </a:xfrm>
            <a:prstGeom prst="rect">
              <a:avLst/>
            </a:prstGeom>
            <a:solidFill>
              <a:srgbClr val="070154"/>
            </a:solidFill>
            <a:ln>
              <a:noFill/>
            </a:ln>
          </p:spPr>
        </p:sp>
        <p:sp>
          <p:nvSpPr>
            <p:cNvPr id="100" name="node25.body.item-001.bullets.item-003.text"/>
            <p:cNvSpPr/>
            <p:nvPr/>
          </p:nvSpPr>
          <p:spPr>
            <a:xfrm>
              <a:off x="7353300" y="5156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Coverage checks</a:t>
              </a:r>
              <a:endParaRPr lang="en-US" sz="1200" spc="0" kern="0" b="0" i="0" dirty="0">
                <a:solidFill>
                  <a:srgbClr val="070154"/>
                </a:solidFill>
                <a:latin typeface="IBM Plex Sans"/>
                <a:ea typeface="IBM Plex Sans"/>
                <a:cs typeface="IBM Plex Sans"/>
              </a:endParaRPr>
            </a:p>
          </p:txBody>
        </p:sp>
      </p:grpSp>
      <p:grpSp>
        <p:nvGrpSpPr>
          <p:cNvPr id="129" name="node26"/>
          <p:cNvGrpSpPr/>
          <p:nvPr/>
        </p:nvGrpSpPr>
        <p:grpSpPr>
          <a:xfrm>
            <a:off x="9410700" y="4572000"/>
            <a:ext cx="2057400" cy="914400"/>
            <a:chOff x="9410700" y="4572000"/>
            <a:chExt cx="2057400" cy="914400"/>
          </a:xfrm>
        </p:grpSpPr>
        <p:sp>
          <p:nvSpPr>
            <p:cNvPr id="101" name="node26.container"/>
            <p:cNvSpPr/>
            <p:nvPr/>
          </p:nvSpPr>
          <p:spPr>
            <a:xfrm>
              <a:off x="9417050" y="4578350"/>
              <a:ext cx="2044700" cy="901700"/>
            </a:xfrm>
            <a:prstGeom prst="rect">
              <a:avLst/>
            </a:prstGeom>
            <a:solidFill>
              <a:srgbClr val="FFFFFF"/>
            </a:solidFill>
            <a:ln w="12700">
              <a:solidFill>
                <a:srgbClr val="CED7E6"/>
              </a:solidFill>
              <a:prstDash val="solid"/>
            </a:ln>
          </p:spPr>
        </p:sp>
        <p:sp>
          <p:nvSpPr>
            <p:cNvPr id="102" name="node26.body.item-001.bullets.item-001.marker"/>
            <p:cNvSpPr/>
            <p:nvPr/>
          </p:nvSpPr>
          <p:spPr>
            <a:xfrm>
              <a:off x="9486900" y="4737100"/>
              <a:ext cx="38100" cy="38100"/>
            </a:xfrm>
            <a:prstGeom prst="rect">
              <a:avLst/>
            </a:prstGeom>
            <a:solidFill>
              <a:srgbClr val="070154"/>
            </a:solidFill>
            <a:ln>
              <a:noFill/>
            </a:ln>
          </p:spPr>
        </p:sp>
        <p:sp>
          <p:nvSpPr>
            <p:cNvPr id="103" name="node26.body.item-001.bullets.item-001.text"/>
            <p:cNvSpPr/>
            <p:nvPr/>
          </p:nvSpPr>
          <p:spPr>
            <a:xfrm>
              <a:off x="9639300" y="4648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store re-platform</a:t>
              </a:r>
              <a:endParaRPr lang="en-US" sz="1200" spc="0" kern="0" b="0" i="0" dirty="0">
                <a:solidFill>
                  <a:srgbClr val="070154"/>
                </a:solidFill>
                <a:latin typeface="IBM Plex Sans"/>
                <a:ea typeface="IBM Plex Sans"/>
                <a:cs typeface="IBM Plex Sans"/>
              </a:endParaRPr>
            </a:p>
          </p:txBody>
        </p:sp>
        <p:sp>
          <p:nvSpPr>
            <p:cNvPr id="104" name="node26.body.item-001.bullets.item-002.marker"/>
            <p:cNvSpPr/>
            <p:nvPr/>
          </p:nvSpPr>
          <p:spPr>
            <a:xfrm>
              <a:off x="9486900" y="4991100"/>
              <a:ext cx="38100" cy="38100"/>
            </a:xfrm>
            <a:prstGeom prst="rect">
              <a:avLst/>
            </a:prstGeom>
            <a:solidFill>
              <a:srgbClr val="070154"/>
            </a:solidFill>
            <a:ln>
              <a:noFill/>
            </a:ln>
          </p:spPr>
        </p:sp>
        <p:sp>
          <p:nvSpPr>
            <p:cNvPr id="105" name="node26.body.item-001.bullets.item-002.text"/>
            <p:cNvSpPr/>
            <p:nvPr/>
          </p:nvSpPr>
          <p:spPr>
            <a:xfrm>
              <a:off x="9639300" y="4902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Zero-downtime release</a:t>
              </a:r>
              <a:endParaRPr lang="en-US" sz="1200" spc="0" kern="0" b="0" i="0" dirty="0">
                <a:solidFill>
                  <a:srgbClr val="070154"/>
                </a:solidFill>
                <a:latin typeface="IBM Plex Sans"/>
                <a:ea typeface="IBM Plex Sans"/>
                <a:cs typeface="IBM Plex Sans"/>
              </a:endParaRPr>
            </a:p>
          </p:txBody>
        </p:sp>
        <p:sp>
          <p:nvSpPr>
            <p:cNvPr id="106" name="node26.body.item-001.bullets.item-003.marker"/>
            <p:cNvSpPr/>
            <p:nvPr/>
          </p:nvSpPr>
          <p:spPr>
            <a:xfrm>
              <a:off x="9486900" y="5245100"/>
              <a:ext cx="38100" cy="38100"/>
            </a:xfrm>
            <a:prstGeom prst="rect">
              <a:avLst/>
            </a:prstGeom>
            <a:solidFill>
              <a:srgbClr val="070154"/>
            </a:solidFill>
            <a:ln>
              <a:noFill/>
            </a:ln>
          </p:spPr>
        </p:sp>
        <p:sp>
          <p:nvSpPr>
            <p:cNvPr id="107" name="node26.body.item-001.bullets.item-003.text"/>
            <p:cNvSpPr/>
            <p:nvPr/>
          </p:nvSpPr>
          <p:spPr>
            <a:xfrm>
              <a:off x="9639300" y="5156200"/>
              <a:ext cx="1752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Cost dashboards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ource-449">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Three horizons take the patient app from booking to care</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140</a:t>
            </a:fld>
            <a:endParaRPr lang="en-US" sz="700" spc="0" kern="0" b="0" i="0" dirty="0">
              <a:solidFill>
                <a:srgbClr val="070154"/>
              </a:solidFill>
              <a:latin typeface="IBM Plex Mono SemiBold"/>
              <a:ea typeface="IBM Plex Mono SemiBold"/>
              <a:cs typeface="IBM Plex Mono SemiBold"/>
            </a:endParaRPr>
          </a:p>
        </p:txBody>
      </p:sp>
      <p:grpSp>
        <p:nvGrpSpPr>
          <p:cNvPr id="67" name="node01"/>
          <p:cNvGrpSpPr/>
          <p:nvPr/>
        </p:nvGrpSpPr>
        <p:grpSpPr>
          <a:xfrm>
            <a:off x="723900" y="2286000"/>
            <a:ext cx="3429000" cy="723900"/>
            <a:chOff x="723900" y="2286000"/>
            <a:chExt cx="3429000" cy="723900"/>
          </a:xfrm>
        </p:grpSpPr>
        <p:sp>
          <p:nvSpPr>
            <p:cNvPr id="6" name="node01.source-001.bullet"/>
            <p:cNvSpPr/>
            <p:nvPr/>
          </p:nvSpPr>
          <p:spPr>
            <a:xfrm>
              <a:off x="723900" y="2374900"/>
              <a:ext cx="38100" cy="38100"/>
            </a:xfrm>
            <a:prstGeom prst="rect">
              <a:avLst/>
            </a:prstGeom>
            <a:solidFill>
              <a:srgbClr val="070154"/>
            </a:solidFill>
            <a:ln>
              <a:noFill/>
            </a:ln>
          </p:spPr>
        </p:sp>
        <p:sp>
          <p:nvSpPr>
            <p:cNvPr id="7" name="node01.source-001.text"/>
            <p:cNvSpPr/>
            <p:nvPr/>
          </p:nvSpPr>
          <p:spPr>
            <a:xfrm>
              <a:off x="876300" y="2286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Read across</a:t>
              </a:r>
              <a:r>
                <a:rPr lang="en-US" sz="1200" spc="0" kern="0" b="0" i="0" dirty="0">
                  <a:solidFill>
                    <a:srgbClr val="50658E"/>
                  </a:solidFill>
                  <a:latin typeface="IBM Plex Sans"/>
                  <a:ea typeface="IBM Plex Sans"/>
                  <a:cs typeface="IBM Plex Sans"/>
                </a:rPr>
                <a:t xml:space="preserve"> to see what ships and when.</a:t>
              </a:r>
              <a:endParaRPr lang="en-US" sz="1200" spc="0" kern="0" b="0" i="0" dirty="0">
                <a:solidFill>
                  <a:srgbClr val="070154"/>
                </a:solidFill>
                <a:latin typeface="IBM Plex Sans"/>
                <a:ea typeface="IBM Plex Sans"/>
                <a:cs typeface="IBM Plex Sans"/>
              </a:endParaRPr>
            </a:p>
          </p:txBody>
        </p:sp>
        <p:sp>
          <p:nvSpPr>
            <p:cNvPr id="8" name="node01.source-002.bullet"/>
            <p:cNvSpPr/>
            <p:nvPr/>
          </p:nvSpPr>
          <p:spPr>
            <a:xfrm>
              <a:off x="723900" y="2628900"/>
              <a:ext cx="38100" cy="38100"/>
            </a:xfrm>
            <a:prstGeom prst="rect">
              <a:avLst/>
            </a:prstGeom>
            <a:solidFill>
              <a:srgbClr val="070154"/>
            </a:solidFill>
            <a:ln>
              <a:noFill/>
            </a:ln>
          </p:spPr>
        </p:sp>
        <p:sp>
          <p:nvSpPr>
            <p:cNvPr id="9" name="node01.source-002.text"/>
            <p:cNvSpPr/>
            <p:nvPr/>
          </p:nvSpPr>
          <p:spPr>
            <a:xfrm>
              <a:off x="876300" y="2540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Read down</a:t>
              </a:r>
              <a:r>
                <a:rPr lang="en-US" sz="1200" spc="0" kern="0" b="0" i="0" dirty="0">
                  <a:solidFill>
                    <a:srgbClr val="50658E"/>
                  </a:solidFill>
                  <a:latin typeface="IBM Plex Sans"/>
                  <a:ea typeface="IBM Plex Sans"/>
                  <a:cs typeface="IBM Plex Sans"/>
                </a:rPr>
                <a:t xml:space="preserve"> to see how the product matures.</a:t>
              </a:r>
              <a:endParaRPr lang="en-US" sz="1200" spc="0" kern="0" b="0" i="0" dirty="0">
                <a:solidFill>
                  <a:srgbClr val="070154"/>
                </a:solidFill>
                <a:latin typeface="IBM Plex Sans"/>
                <a:ea typeface="IBM Plex Sans"/>
                <a:cs typeface="IBM Plex Sans"/>
              </a:endParaRPr>
            </a:p>
          </p:txBody>
        </p:sp>
        <p:sp>
          <p:nvSpPr>
            <p:cNvPr id="10" name="node01.source-003.bullet"/>
            <p:cNvSpPr/>
            <p:nvPr/>
          </p:nvSpPr>
          <p:spPr>
            <a:xfrm>
              <a:off x="723900" y="2882900"/>
              <a:ext cx="38100" cy="38100"/>
            </a:xfrm>
            <a:prstGeom prst="rect">
              <a:avLst/>
            </a:prstGeom>
            <a:solidFill>
              <a:srgbClr val="070154"/>
            </a:solidFill>
            <a:ln>
              <a:noFill/>
            </a:ln>
          </p:spPr>
        </p:sp>
        <p:sp>
          <p:nvSpPr>
            <p:cNvPr id="11" name="node01.source-003.text"/>
            <p:cNvSpPr/>
            <p:nvPr/>
          </p:nvSpPr>
          <p:spPr>
            <a:xfrm>
              <a:off x="876300" y="2794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Move items</a:t>
              </a:r>
              <a:r>
                <a:rPr lang="en-US" sz="1200" spc="0" kern="0" b="0" i="0" dirty="0">
                  <a:solidFill>
                    <a:srgbClr val="50658E"/>
                  </a:solidFill>
                  <a:latin typeface="IBM Plex Sans"/>
                  <a:ea typeface="IBM Plex Sans"/>
                  <a:cs typeface="IBM Plex Sans"/>
                </a:rPr>
                <a:t xml:space="preserve"> only through the product council.</a:t>
              </a:r>
              <a:endParaRPr lang="en-US" sz="1200" spc="0" kern="0" b="0" i="0" dirty="0">
                <a:solidFill>
                  <a:srgbClr val="070154"/>
                </a:solidFill>
                <a:latin typeface="IBM Plex Sans"/>
                <a:ea typeface="IBM Plex Sans"/>
                <a:cs typeface="IBM Plex Sans"/>
              </a:endParaRPr>
            </a:p>
          </p:txBody>
        </p:sp>
      </p:grpSp>
      <p:grpSp>
        <p:nvGrpSpPr>
          <p:cNvPr id="68" name="node02"/>
          <p:cNvGrpSpPr/>
          <p:nvPr/>
        </p:nvGrpSpPr>
        <p:grpSpPr>
          <a:xfrm>
            <a:off x="723900" y="5257800"/>
            <a:ext cx="3429000" cy="190500"/>
            <a:chOff x="723900" y="5257800"/>
            <a:chExt cx="3429000" cy="190500"/>
          </a:xfrm>
        </p:grpSpPr>
        <p:sp>
          <p:nvSpPr>
            <p:cNvPr id="12" name="node02.text"/>
            <p:cNvSpPr/>
            <p:nvPr/>
          </p:nvSpPr>
          <p:spPr>
            <a:xfrm>
              <a:off x="723900" y="52578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Horizons are planning commitments, not dates.</a:t>
              </a:r>
              <a:endParaRPr lang="en-US" sz="1100" spc="0" kern="0" b="0" i="0" dirty="0">
                <a:solidFill>
                  <a:srgbClr val="50658E"/>
                </a:solidFill>
                <a:latin typeface="IBM Plex Sans"/>
                <a:ea typeface="IBM Plex Sans"/>
                <a:cs typeface="IBM Plex Sans"/>
              </a:endParaRPr>
            </a:p>
          </p:txBody>
        </p:sp>
      </p:grpSp>
      <p:grpSp>
        <p:nvGrpSpPr>
          <p:cNvPr id="69" name="node03"/>
          <p:cNvGrpSpPr/>
          <p:nvPr/>
        </p:nvGrpSpPr>
        <p:grpSpPr>
          <a:xfrm>
            <a:off x="4381500" y="457200"/>
            <a:ext cx="1371600" cy="1600200"/>
            <a:chOff x="4381500" y="457200"/>
            <a:chExt cx="1371600" cy="1600200"/>
          </a:xfrm>
        </p:grpSpPr>
        <p:sp>
          <p:nvSpPr>
            <p:cNvPr id="13" name="node03.surface"/>
            <p:cNvSpPr/>
            <p:nvPr/>
          </p:nvSpPr>
          <p:spPr>
            <a:xfrm>
              <a:off x="4381500" y="457200"/>
              <a:ext cx="1371600" cy="1600200"/>
            </a:xfrm>
            <a:prstGeom prst="rect">
              <a:avLst/>
            </a:prstGeom>
            <a:solidFill>
              <a:srgbClr val="070154"/>
            </a:solidFill>
            <a:ln>
              <a:noFill/>
            </a:ln>
          </p:spPr>
        </p:sp>
        <p:sp>
          <p:nvSpPr>
            <p:cNvPr id="14" name="node03.text"/>
            <p:cNvSpPr/>
            <p:nvPr/>
          </p:nvSpPr>
          <p:spPr>
            <a:xfrm>
              <a:off x="4533900" y="1123950"/>
              <a:ext cx="1066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Now</a:t>
              </a:r>
              <a:endParaRPr lang="en-US" sz="1600" spc="-16" kern="0" b="0" i="0" dirty="0">
                <a:solidFill>
                  <a:srgbClr val="FFFFFF"/>
                </a:solidFill>
                <a:latin typeface="IBM Plex Sans SemiBold"/>
                <a:ea typeface="IBM Plex Sans SemiBold"/>
                <a:cs typeface="IBM Plex Sans SemiBold"/>
              </a:endParaRPr>
            </a:p>
          </p:txBody>
        </p:sp>
      </p:grpSp>
      <p:grpSp>
        <p:nvGrpSpPr>
          <p:cNvPr id="70" name="node04"/>
          <p:cNvGrpSpPr/>
          <p:nvPr/>
        </p:nvGrpSpPr>
        <p:grpSpPr>
          <a:xfrm>
            <a:off x="4533900" y="1524000"/>
            <a:ext cx="1143000" cy="139700"/>
            <a:chOff x="4533900" y="1524000"/>
            <a:chExt cx="1143000" cy="139700"/>
          </a:xfrm>
        </p:grpSpPr>
        <p:sp>
          <p:nvSpPr>
            <p:cNvPr id="15" name="node04.text"/>
            <p:cNvSpPr/>
            <p:nvPr/>
          </p:nvSpPr>
          <p:spPr>
            <a:xfrm>
              <a:off x="4533900" y="1524000"/>
              <a:ext cx="1143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NEXT 90 DAYS</a:t>
              </a:r>
              <a:endParaRPr lang="en-US" sz="800" spc="48" kern="0" b="0" i="0" dirty="0">
                <a:solidFill>
                  <a:srgbClr val="FFFFFF"/>
                </a:solidFill>
                <a:latin typeface="IBM Plex Mono Medium"/>
                <a:ea typeface="IBM Plex Mono Medium"/>
                <a:cs typeface="IBM Plex Mono Medium"/>
              </a:endParaRPr>
            </a:p>
          </p:txBody>
        </p:sp>
      </p:grpSp>
      <p:grpSp>
        <p:nvGrpSpPr>
          <p:cNvPr id="71" name="node05"/>
          <p:cNvGrpSpPr/>
          <p:nvPr/>
        </p:nvGrpSpPr>
        <p:grpSpPr>
          <a:xfrm>
            <a:off x="5981700" y="457200"/>
            <a:ext cx="5486400" cy="1600200"/>
            <a:chOff x="5981700" y="457200"/>
            <a:chExt cx="5486400" cy="1600200"/>
          </a:xfrm>
        </p:grpSpPr>
        <p:sp>
          <p:nvSpPr>
            <p:cNvPr id="16" name="node05.container"/>
            <p:cNvSpPr/>
            <p:nvPr/>
          </p:nvSpPr>
          <p:spPr>
            <a:xfrm>
              <a:off x="5981700" y="457200"/>
              <a:ext cx="5486400" cy="1600200"/>
            </a:xfrm>
            <a:prstGeom prst="rect">
              <a:avLst/>
            </a:prstGeom>
            <a:solidFill>
              <a:srgbClr val="E8EEF8"/>
            </a:solidFill>
            <a:ln>
              <a:noFill/>
            </a:ln>
          </p:spPr>
        </p:sp>
      </p:grpSp>
      <p:grpSp>
        <p:nvGrpSpPr>
          <p:cNvPr id="72" name="node06"/>
          <p:cNvGrpSpPr/>
          <p:nvPr/>
        </p:nvGrpSpPr>
        <p:grpSpPr>
          <a:xfrm>
            <a:off x="6210300" y="609600"/>
            <a:ext cx="2362200" cy="723900"/>
            <a:chOff x="6210300" y="609600"/>
            <a:chExt cx="2362200" cy="723900"/>
          </a:xfrm>
        </p:grpSpPr>
        <p:sp>
          <p:nvSpPr>
            <p:cNvPr id="17" name="node06.source-001.bullet"/>
            <p:cNvSpPr/>
            <p:nvPr/>
          </p:nvSpPr>
          <p:spPr>
            <a:xfrm>
              <a:off x="6210300" y="698500"/>
              <a:ext cx="38100" cy="38100"/>
            </a:xfrm>
            <a:prstGeom prst="rect">
              <a:avLst/>
            </a:prstGeom>
            <a:solidFill>
              <a:srgbClr val="070154"/>
            </a:solidFill>
            <a:ln>
              <a:noFill/>
            </a:ln>
          </p:spPr>
        </p:sp>
        <p:sp>
          <p:nvSpPr>
            <p:cNvPr id="18" name="node06.source-001.text"/>
            <p:cNvSpPr/>
            <p:nvPr/>
          </p:nvSpPr>
          <p:spPr>
            <a:xfrm>
              <a:off x="6362700" y="609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Self-scheduling</a:t>
              </a:r>
              <a:endParaRPr lang="en-US" sz="1200" spc="0" kern="0" b="0" i="0" dirty="0">
                <a:solidFill>
                  <a:srgbClr val="070154"/>
                </a:solidFill>
                <a:latin typeface="IBM Plex Sans"/>
                <a:ea typeface="IBM Plex Sans"/>
                <a:cs typeface="IBM Plex Sans"/>
              </a:endParaRPr>
            </a:p>
          </p:txBody>
        </p:sp>
        <p:sp>
          <p:nvSpPr>
            <p:cNvPr id="19" name="node06.source-002.bullet"/>
            <p:cNvSpPr/>
            <p:nvPr/>
          </p:nvSpPr>
          <p:spPr>
            <a:xfrm>
              <a:off x="6210300" y="952500"/>
              <a:ext cx="38100" cy="38100"/>
            </a:xfrm>
            <a:prstGeom prst="rect">
              <a:avLst/>
            </a:prstGeom>
            <a:solidFill>
              <a:srgbClr val="070154"/>
            </a:solidFill>
            <a:ln>
              <a:noFill/>
            </a:ln>
          </p:spPr>
        </p:sp>
        <p:sp>
          <p:nvSpPr>
            <p:cNvPr id="20" name="node06.source-002.text"/>
            <p:cNvSpPr/>
            <p:nvPr/>
          </p:nvSpPr>
          <p:spPr>
            <a:xfrm>
              <a:off x="6362700" y="863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Waitlist</a:t>
              </a:r>
              <a:endParaRPr lang="en-US" sz="1200" spc="0" kern="0" b="0" i="0" dirty="0">
                <a:solidFill>
                  <a:srgbClr val="070154"/>
                </a:solidFill>
                <a:latin typeface="IBM Plex Sans"/>
                <a:ea typeface="IBM Plex Sans"/>
                <a:cs typeface="IBM Plex Sans"/>
              </a:endParaRPr>
            </a:p>
          </p:txBody>
        </p:sp>
        <p:sp>
          <p:nvSpPr>
            <p:cNvPr id="21" name="node06.source-003.bullet"/>
            <p:cNvSpPr/>
            <p:nvPr/>
          </p:nvSpPr>
          <p:spPr>
            <a:xfrm>
              <a:off x="6210300" y="1206500"/>
              <a:ext cx="38100" cy="38100"/>
            </a:xfrm>
            <a:prstGeom prst="rect">
              <a:avLst/>
            </a:prstGeom>
            <a:solidFill>
              <a:srgbClr val="070154"/>
            </a:solidFill>
            <a:ln>
              <a:noFill/>
            </a:ln>
          </p:spPr>
        </p:sp>
        <p:sp>
          <p:nvSpPr>
            <p:cNvPr id="22" name="node06.source-003.text"/>
            <p:cNvSpPr/>
            <p:nvPr/>
          </p:nvSpPr>
          <p:spPr>
            <a:xfrm>
              <a:off x="6362700" y="1117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Messaging triage</a:t>
              </a:r>
              <a:endParaRPr lang="en-US" sz="1200" spc="0" kern="0" b="0" i="0" dirty="0">
                <a:solidFill>
                  <a:srgbClr val="070154"/>
                </a:solidFill>
                <a:latin typeface="IBM Plex Sans"/>
                <a:ea typeface="IBM Plex Sans"/>
                <a:cs typeface="IBM Plex Sans"/>
              </a:endParaRPr>
            </a:p>
          </p:txBody>
        </p:sp>
      </p:grpSp>
      <p:grpSp>
        <p:nvGrpSpPr>
          <p:cNvPr id="73" name="node07"/>
          <p:cNvGrpSpPr/>
          <p:nvPr/>
        </p:nvGrpSpPr>
        <p:grpSpPr>
          <a:xfrm>
            <a:off x="8953500" y="609600"/>
            <a:ext cx="2362200" cy="723900"/>
            <a:chOff x="8953500" y="609600"/>
            <a:chExt cx="2362200" cy="723900"/>
          </a:xfrm>
        </p:grpSpPr>
        <p:sp>
          <p:nvSpPr>
            <p:cNvPr id="23" name="node07.source-001.bullet"/>
            <p:cNvSpPr/>
            <p:nvPr/>
          </p:nvSpPr>
          <p:spPr>
            <a:xfrm>
              <a:off x="8953500" y="698500"/>
              <a:ext cx="38100" cy="38100"/>
            </a:xfrm>
            <a:prstGeom prst="rect">
              <a:avLst/>
            </a:prstGeom>
            <a:solidFill>
              <a:srgbClr val="070154"/>
            </a:solidFill>
            <a:ln>
              <a:noFill/>
            </a:ln>
          </p:spPr>
        </p:sp>
        <p:sp>
          <p:nvSpPr>
            <p:cNvPr id="24" name="node07.source-001.text"/>
            <p:cNvSpPr/>
            <p:nvPr/>
          </p:nvSpPr>
          <p:spPr>
            <a:xfrm>
              <a:off x="9105900" y="609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Pay online</a:t>
              </a:r>
              <a:endParaRPr lang="en-US" sz="1200" spc="0" kern="0" b="0" i="0" dirty="0">
                <a:solidFill>
                  <a:srgbClr val="070154"/>
                </a:solidFill>
                <a:latin typeface="IBM Plex Sans"/>
                <a:ea typeface="IBM Plex Sans"/>
                <a:cs typeface="IBM Plex Sans"/>
              </a:endParaRPr>
            </a:p>
          </p:txBody>
        </p:sp>
        <p:sp>
          <p:nvSpPr>
            <p:cNvPr id="25" name="node07.source-002.bullet"/>
            <p:cNvSpPr/>
            <p:nvPr/>
          </p:nvSpPr>
          <p:spPr>
            <a:xfrm>
              <a:off x="8953500" y="952500"/>
              <a:ext cx="38100" cy="38100"/>
            </a:xfrm>
            <a:prstGeom prst="rect">
              <a:avLst/>
            </a:prstGeom>
            <a:solidFill>
              <a:srgbClr val="070154"/>
            </a:solidFill>
            <a:ln>
              <a:noFill/>
            </a:ln>
          </p:spPr>
        </p:sp>
        <p:sp>
          <p:nvSpPr>
            <p:cNvPr id="26" name="node07.source-002.text"/>
            <p:cNvSpPr/>
            <p:nvPr/>
          </p:nvSpPr>
          <p:spPr>
            <a:xfrm>
              <a:off x="9105900" y="863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Payment plans</a:t>
              </a:r>
              <a:endParaRPr lang="en-US" sz="1200" spc="0" kern="0" b="0" i="0" dirty="0">
                <a:solidFill>
                  <a:srgbClr val="070154"/>
                </a:solidFill>
                <a:latin typeface="IBM Plex Sans"/>
                <a:ea typeface="IBM Plex Sans"/>
                <a:cs typeface="IBM Plex Sans"/>
              </a:endParaRPr>
            </a:p>
          </p:txBody>
        </p:sp>
        <p:sp>
          <p:nvSpPr>
            <p:cNvPr id="27" name="node07.source-003.bullet"/>
            <p:cNvSpPr/>
            <p:nvPr/>
          </p:nvSpPr>
          <p:spPr>
            <a:xfrm>
              <a:off x="8953500" y="1206500"/>
              <a:ext cx="38100" cy="38100"/>
            </a:xfrm>
            <a:prstGeom prst="rect">
              <a:avLst/>
            </a:prstGeom>
            <a:solidFill>
              <a:srgbClr val="070154"/>
            </a:solidFill>
            <a:ln>
              <a:noFill/>
            </a:ln>
          </p:spPr>
        </p:sp>
        <p:sp>
          <p:nvSpPr>
            <p:cNvPr id="28" name="node07.source-003.text"/>
            <p:cNvSpPr/>
            <p:nvPr/>
          </p:nvSpPr>
          <p:spPr>
            <a:xfrm>
              <a:off x="9105900" y="1117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EHR hardening</a:t>
              </a:r>
              <a:endParaRPr lang="en-US" sz="1200" spc="0" kern="0" b="0" i="0" dirty="0">
                <a:solidFill>
                  <a:srgbClr val="070154"/>
                </a:solidFill>
                <a:latin typeface="IBM Plex Sans"/>
                <a:ea typeface="IBM Plex Sans"/>
                <a:cs typeface="IBM Plex Sans"/>
              </a:endParaRPr>
            </a:p>
          </p:txBody>
        </p:sp>
      </p:grpSp>
      <p:sp>
        <p:nvSpPr>
          <p:cNvPr id="29" name="node08"/>
          <p:cNvSpPr/>
          <p:nvPr/>
        </p:nvSpPr>
        <p:spPr>
          <a:xfrm>
            <a:off x="6210300" y="1485900"/>
            <a:ext cx="5029200" cy="9525"/>
          </a:xfrm>
          <a:prstGeom prst="rect">
            <a:avLst/>
          </a:prstGeom>
          <a:solidFill>
            <a:srgbClr val="CED7E6"/>
          </a:solidFill>
          <a:ln>
            <a:noFill/>
          </a:ln>
        </p:spPr>
      </p:sp>
      <p:grpSp>
        <p:nvGrpSpPr>
          <p:cNvPr id="74" name="node09"/>
          <p:cNvGrpSpPr/>
          <p:nvPr/>
        </p:nvGrpSpPr>
        <p:grpSpPr>
          <a:xfrm>
            <a:off x="6210300" y="1600200"/>
            <a:ext cx="5029200" cy="190500"/>
            <a:chOff x="6210300" y="1600200"/>
            <a:chExt cx="5029200" cy="190500"/>
          </a:xfrm>
        </p:grpSpPr>
        <p:sp>
          <p:nvSpPr>
            <p:cNvPr id="30" name="node09.text"/>
            <p:cNvSpPr/>
            <p:nvPr/>
          </p:nvSpPr>
          <p:spPr>
            <a:xfrm>
              <a:off x="6210300" y="1600200"/>
              <a:ext cx="5029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047FF"/>
                  </a:solidFill>
                  <a:latin typeface="IBM Plex Sans"/>
                  <a:ea typeface="IBM Plex Sans"/>
                  <a:cs typeface="IBM Plex Sans"/>
                </a:rPr>
                <a:t>Outcome: bookings complete without a call</a:t>
              </a:r>
              <a:endParaRPr lang="en-US" sz="1100" spc="0" kern="0" b="0" i="0" dirty="0">
                <a:solidFill>
                  <a:srgbClr val="0047FF"/>
                </a:solidFill>
                <a:latin typeface="IBM Plex Sans"/>
                <a:ea typeface="IBM Plex Sans"/>
                <a:cs typeface="IBM Plex Sans"/>
              </a:endParaRPr>
            </a:p>
          </p:txBody>
        </p:sp>
      </p:grpSp>
      <p:grpSp>
        <p:nvGrpSpPr>
          <p:cNvPr id="75" name="node10"/>
          <p:cNvGrpSpPr/>
          <p:nvPr/>
        </p:nvGrpSpPr>
        <p:grpSpPr>
          <a:xfrm>
            <a:off x="4381500" y="2286000"/>
            <a:ext cx="1371600" cy="1600200"/>
            <a:chOff x="4381500" y="2286000"/>
            <a:chExt cx="1371600" cy="1600200"/>
          </a:xfrm>
        </p:grpSpPr>
        <p:sp>
          <p:nvSpPr>
            <p:cNvPr id="31" name="node10.surface"/>
            <p:cNvSpPr/>
            <p:nvPr/>
          </p:nvSpPr>
          <p:spPr>
            <a:xfrm>
              <a:off x="4381500" y="2286000"/>
              <a:ext cx="1371600" cy="1600200"/>
            </a:xfrm>
            <a:prstGeom prst="rect">
              <a:avLst/>
            </a:prstGeom>
            <a:solidFill>
              <a:srgbClr val="CED7E6"/>
            </a:solidFill>
            <a:ln>
              <a:noFill/>
            </a:ln>
          </p:spPr>
        </p:sp>
        <p:sp>
          <p:nvSpPr>
            <p:cNvPr id="32" name="node10.text"/>
            <p:cNvSpPr/>
            <p:nvPr/>
          </p:nvSpPr>
          <p:spPr>
            <a:xfrm>
              <a:off x="4533900" y="2952750"/>
              <a:ext cx="1066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Next</a:t>
              </a:r>
              <a:endParaRPr lang="en-US" sz="1600" spc="-16" kern="0" b="0" i="0" dirty="0">
                <a:solidFill>
                  <a:srgbClr val="070154"/>
                </a:solidFill>
                <a:latin typeface="IBM Plex Sans SemiBold"/>
                <a:ea typeface="IBM Plex Sans SemiBold"/>
                <a:cs typeface="IBM Plex Sans SemiBold"/>
              </a:endParaRPr>
            </a:p>
          </p:txBody>
        </p:sp>
      </p:grpSp>
      <p:grpSp>
        <p:nvGrpSpPr>
          <p:cNvPr id="76" name="node11"/>
          <p:cNvGrpSpPr/>
          <p:nvPr/>
        </p:nvGrpSpPr>
        <p:grpSpPr>
          <a:xfrm>
            <a:off x="4533900" y="3352800"/>
            <a:ext cx="1143000" cy="139700"/>
            <a:chOff x="4533900" y="3352800"/>
            <a:chExt cx="1143000" cy="139700"/>
          </a:xfrm>
        </p:grpSpPr>
        <p:sp>
          <p:nvSpPr>
            <p:cNvPr id="33" name="node11.text"/>
            <p:cNvSpPr/>
            <p:nvPr/>
          </p:nvSpPr>
          <p:spPr>
            <a:xfrm>
              <a:off x="4533900" y="3352800"/>
              <a:ext cx="1143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TWO QUARTERS</a:t>
              </a:r>
              <a:endParaRPr lang="en-US" sz="800" spc="48" kern="0" b="0" i="0" dirty="0">
                <a:solidFill>
                  <a:srgbClr val="070154"/>
                </a:solidFill>
                <a:latin typeface="IBM Plex Mono Medium"/>
                <a:ea typeface="IBM Plex Mono Medium"/>
                <a:cs typeface="IBM Plex Mono Medium"/>
              </a:endParaRPr>
            </a:p>
          </p:txBody>
        </p:sp>
      </p:grpSp>
      <p:grpSp>
        <p:nvGrpSpPr>
          <p:cNvPr id="77" name="node12"/>
          <p:cNvGrpSpPr/>
          <p:nvPr/>
        </p:nvGrpSpPr>
        <p:grpSpPr>
          <a:xfrm>
            <a:off x="5981700" y="2286000"/>
            <a:ext cx="5486400" cy="1600200"/>
            <a:chOff x="5981700" y="2286000"/>
            <a:chExt cx="5486400" cy="1600200"/>
          </a:xfrm>
        </p:grpSpPr>
        <p:sp>
          <p:nvSpPr>
            <p:cNvPr id="34" name="node12.container"/>
            <p:cNvSpPr/>
            <p:nvPr/>
          </p:nvSpPr>
          <p:spPr>
            <a:xfrm>
              <a:off x="5981700" y="2286000"/>
              <a:ext cx="5486400" cy="1600200"/>
            </a:xfrm>
            <a:prstGeom prst="rect">
              <a:avLst/>
            </a:prstGeom>
            <a:solidFill>
              <a:srgbClr val="E8EEF8"/>
            </a:solidFill>
            <a:ln>
              <a:noFill/>
            </a:ln>
          </p:spPr>
        </p:sp>
      </p:grpSp>
      <p:grpSp>
        <p:nvGrpSpPr>
          <p:cNvPr id="78" name="node13"/>
          <p:cNvGrpSpPr/>
          <p:nvPr/>
        </p:nvGrpSpPr>
        <p:grpSpPr>
          <a:xfrm>
            <a:off x="6210300" y="2438400"/>
            <a:ext cx="2362200" cy="723900"/>
            <a:chOff x="6210300" y="2438400"/>
            <a:chExt cx="2362200" cy="723900"/>
          </a:xfrm>
        </p:grpSpPr>
        <p:sp>
          <p:nvSpPr>
            <p:cNvPr id="35" name="node13.source-001.bullet"/>
            <p:cNvSpPr/>
            <p:nvPr/>
          </p:nvSpPr>
          <p:spPr>
            <a:xfrm>
              <a:off x="6210300" y="2527300"/>
              <a:ext cx="38100" cy="38100"/>
            </a:xfrm>
            <a:prstGeom prst="rect">
              <a:avLst/>
            </a:prstGeom>
            <a:solidFill>
              <a:srgbClr val="070154"/>
            </a:solidFill>
            <a:ln>
              <a:noFill/>
            </a:ln>
          </p:spPr>
        </p:sp>
        <p:sp>
          <p:nvSpPr>
            <p:cNvPr id="36" name="node13.source-001.text"/>
            <p:cNvSpPr/>
            <p:nvPr/>
          </p:nvSpPr>
          <p:spPr>
            <a:xfrm>
              <a:off x="6362700" y="24384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Care plans</a:t>
              </a:r>
              <a:endParaRPr lang="en-US" sz="1200" spc="0" kern="0" b="0" i="0" dirty="0">
                <a:solidFill>
                  <a:srgbClr val="070154"/>
                </a:solidFill>
                <a:latin typeface="IBM Plex Sans"/>
                <a:ea typeface="IBM Plex Sans"/>
                <a:cs typeface="IBM Plex Sans"/>
              </a:endParaRPr>
            </a:p>
          </p:txBody>
        </p:sp>
        <p:sp>
          <p:nvSpPr>
            <p:cNvPr id="37" name="node13.source-002.bullet"/>
            <p:cNvSpPr/>
            <p:nvPr/>
          </p:nvSpPr>
          <p:spPr>
            <a:xfrm>
              <a:off x="6210300" y="2781300"/>
              <a:ext cx="38100" cy="38100"/>
            </a:xfrm>
            <a:prstGeom prst="rect">
              <a:avLst/>
            </a:prstGeom>
            <a:solidFill>
              <a:srgbClr val="070154"/>
            </a:solidFill>
            <a:ln>
              <a:noFill/>
            </a:ln>
          </p:spPr>
        </p:sp>
        <p:sp>
          <p:nvSpPr>
            <p:cNvPr id="38" name="node13.source-002.text"/>
            <p:cNvSpPr/>
            <p:nvPr/>
          </p:nvSpPr>
          <p:spPr>
            <a:xfrm>
              <a:off x="6362700" y="26924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Remote monitoring</a:t>
              </a:r>
              <a:endParaRPr lang="en-US" sz="1200" spc="0" kern="0" b="0" i="0" dirty="0">
                <a:solidFill>
                  <a:srgbClr val="070154"/>
                </a:solidFill>
                <a:latin typeface="IBM Plex Sans"/>
                <a:ea typeface="IBM Plex Sans"/>
                <a:cs typeface="IBM Plex Sans"/>
              </a:endParaRPr>
            </a:p>
          </p:txBody>
        </p:sp>
        <p:sp>
          <p:nvSpPr>
            <p:cNvPr id="39" name="node13.source-003.bullet"/>
            <p:cNvSpPr/>
            <p:nvPr/>
          </p:nvSpPr>
          <p:spPr>
            <a:xfrm>
              <a:off x="6210300" y="3035300"/>
              <a:ext cx="38100" cy="38100"/>
            </a:xfrm>
            <a:prstGeom prst="rect">
              <a:avLst/>
            </a:prstGeom>
            <a:solidFill>
              <a:srgbClr val="070154"/>
            </a:solidFill>
            <a:ln>
              <a:noFill/>
            </a:ln>
          </p:spPr>
        </p:sp>
        <p:sp>
          <p:nvSpPr>
            <p:cNvPr id="40" name="node13.source-003.text"/>
            <p:cNvSpPr/>
            <p:nvPr/>
          </p:nvSpPr>
          <p:spPr>
            <a:xfrm>
              <a:off x="6362700" y="29464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Cost estimates</a:t>
              </a:r>
              <a:endParaRPr lang="en-US" sz="1200" spc="0" kern="0" b="0" i="0" dirty="0">
                <a:solidFill>
                  <a:srgbClr val="070154"/>
                </a:solidFill>
                <a:latin typeface="IBM Plex Sans"/>
                <a:ea typeface="IBM Plex Sans"/>
                <a:cs typeface="IBM Plex Sans"/>
              </a:endParaRPr>
            </a:p>
          </p:txBody>
        </p:sp>
      </p:grpSp>
      <p:grpSp>
        <p:nvGrpSpPr>
          <p:cNvPr id="79" name="node14"/>
          <p:cNvGrpSpPr/>
          <p:nvPr/>
        </p:nvGrpSpPr>
        <p:grpSpPr>
          <a:xfrm>
            <a:off x="8953500" y="2438400"/>
            <a:ext cx="2362200" cy="723900"/>
            <a:chOff x="8953500" y="2438400"/>
            <a:chExt cx="2362200" cy="723900"/>
          </a:xfrm>
        </p:grpSpPr>
        <p:sp>
          <p:nvSpPr>
            <p:cNvPr id="41" name="node14.source-001.bullet"/>
            <p:cNvSpPr/>
            <p:nvPr/>
          </p:nvSpPr>
          <p:spPr>
            <a:xfrm>
              <a:off x="8953500" y="2527300"/>
              <a:ext cx="38100" cy="38100"/>
            </a:xfrm>
            <a:prstGeom prst="rect">
              <a:avLst/>
            </a:prstGeom>
            <a:solidFill>
              <a:srgbClr val="070154"/>
            </a:solidFill>
            <a:ln>
              <a:noFill/>
            </a:ln>
          </p:spPr>
        </p:sp>
        <p:sp>
          <p:nvSpPr>
            <p:cNvPr id="42" name="node14.source-001.text"/>
            <p:cNvSpPr/>
            <p:nvPr/>
          </p:nvSpPr>
          <p:spPr>
            <a:xfrm>
              <a:off x="9105900" y="24384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Pre-visit forms</a:t>
              </a:r>
              <a:endParaRPr lang="en-US" sz="1200" spc="0" kern="0" b="0" i="0" dirty="0">
                <a:solidFill>
                  <a:srgbClr val="070154"/>
                </a:solidFill>
                <a:latin typeface="IBM Plex Sans"/>
                <a:ea typeface="IBM Plex Sans"/>
                <a:cs typeface="IBM Plex Sans"/>
              </a:endParaRPr>
            </a:p>
          </p:txBody>
        </p:sp>
        <p:sp>
          <p:nvSpPr>
            <p:cNvPr id="43" name="node14.source-002.bullet"/>
            <p:cNvSpPr/>
            <p:nvPr/>
          </p:nvSpPr>
          <p:spPr>
            <a:xfrm>
              <a:off x="8953500" y="2781300"/>
              <a:ext cx="38100" cy="38100"/>
            </a:xfrm>
            <a:prstGeom prst="rect">
              <a:avLst/>
            </a:prstGeom>
            <a:solidFill>
              <a:srgbClr val="070154"/>
            </a:solidFill>
            <a:ln>
              <a:noFill/>
            </a:ln>
          </p:spPr>
        </p:sp>
        <p:sp>
          <p:nvSpPr>
            <p:cNvPr id="44" name="node14.source-002.text"/>
            <p:cNvSpPr/>
            <p:nvPr/>
          </p:nvSpPr>
          <p:spPr>
            <a:xfrm>
              <a:off x="9105900" y="26924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Event stream</a:t>
              </a:r>
              <a:endParaRPr lang="en-US" sz="1200" spc="0" kern="0" b="0" i="0" dirty="0">
                <a:solidFill>
                  <a:srgbClr val="070154"/>
                </a:solidFill>
                <a:latin typeface="IBM Plex Sans"/>
                <a:ea typeface="IBM Plex Sans"/>
                <a:cs typeface="IBM Plex Sans"/>
              </a:endParaRPr>
            </a:p>
          </p:txBody>
        </p:sp>
        <p:sp>
          <p:nvSpPr>
            <p:cNvPr id="45" name="node14.source-003.bullet"/>
            <p:cNvSpPr/>
            <p:nvPr/>
          </p:nvSpPr>
          <p:spPr>
            <a:xfrm>
              <a:off x="8953500" y="3035300"/>
              <a:ext cx="38100" cy="38100"/>
            </a:xfrm>
            <a:prstGeom prst="rect">
              <a:avLst/>
            </a:prstGeom>
            <a:solidFill>
              <a:srgbClr val="070154"/>
            </a:solidFill>
            <a:ln>
              <a:noFill/>
            </a:ln>
          </p:spPr>
        </p:sp>
        <p:sp>
          <p:nvSpPr>
            <p:cNvPr id="46" name="node14.source-003.text"/>
            <p:cNvSpPr/>
            <p:nvPr/>
          </p:nvSpPr>
          <p:spPr>
            <a:xfrm>
              <a:off x="9105900" y="29464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Observability</a:t>
              </a:r>
              <a:endParaRPr lang="en-US" sz="1200" spc="0" kern="0" b="0" i="0" dirty="0">
                <a:solidFill>
                  <a:srgbClr val="070154"/>
                </a:solidFill>
                <a:latin typeface="IBM Plex Sans"/>
                <a:ea typeface="IBM Plex Sans"/>
                <a:cs typeface="IBM Plex Sans"/>
              </a:endParaRPr>
            </a:p>
          </p:txBody>
        </p:sp>
      </p:grpSp>
      <p:sp>
        <p:nvSpPr>
          <p:cNvPr id="47" name="node15"/>
          <p:cNvSpPr/>
          <p:nvPr/>
        </p:nvSpPr>
        <p:spPr>
          <a:xfrm>
            <a:off x="6210300" y="3314700"/>
            <a:ext cx="5029200" cy="9525"/>
          </a:xfrm>
          <a:prstGeom prst="rect">
            <a:avLst/>
          </a:prstGeom>
          <a:solidFill>
            <a:srgbClr val="CED7E6"/>
          </a:solidFill>
          <a:ln>
            <a:noFill/>
          </a:ln>
        </p:spPr>
      </p:sp>
      <p:grpSp>
        <p:nvGrpSpPr>
          <p:cNvPr id="80" name="node16"/>
          <p:cNvGrpSpPr/>
          <p:nvPr/>
        </p:nvGrpSpPr>
        <p:grpSpPr>
          <a:xfrm>
            <a:off x="6210300" y="3429000"/>
            <a:ext cx="5029200" cy="190500"/>
            <a:chOff x="6210300" y="3429000"/>
            <a:chExt cx="5029200" cy="190500"/>
          </a:xfrm>
        </p:grpSpPr>
        <p:sp>
          <p:nvSpPr>
            <p:cNvPr id="48" name="node16.text"/>
            <p:cNvSpPr/>
            <p:nvPr/>
          </p:nvSpPr>
          <p:spPr>
            <a:xfrm>
              <a:off x="6210300" y="3429000"/>
              <a:ext cx="5029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047FF"/>
                  </a:solidFill>
                  <a:latin typeface="IBM Plex Sans"/>
                  <a:ea typeface="IBM Plex Sans"/>
                  <a:cs typeface="IBM Plex Sans"/>
                </a:rPr>
                <a:t>Outcome: care continues between visits</a:t>
              </a:r>
              <a:endParaRPr lang="en-US" sz="1100" spc="0" kern="0" b="0" i="0" dirty="0">
                <a:solidFill>
                  <a:srgbClr val="0047FF"/>
                </a:solidFill>
                <a:latin typeface="IBM Plex Sans"/>
                <a:ea typeface="IBM Plex Sans"/>
                <a:cs typeface="IBM Plex Sans"/>
              </a:endParaRPr>
            </a:p>
          </p:txBody>
        </p:sp>
      </p:grpSp>
      <p:grpSp>
        <p:nvGrpSpPr>
          <p:cNvPr id="81" name="node17"/>
          <p:cNvGrpSpPr/>
          <p:nvPr/>
        </p:nvGrpSpPr>
        <p:grpSpPr>
          <a:xfrm>
            <a:off x="4381500" y="4114800"/>
            <a:ext cx="1371600" cy="1600200"/>
            <a:chOff x="4381500" y="4114800"/>
            <a:chExt cx="1371600" cy="1600200"/>
          </a:xfrm>
        </p:grpSpPr>
        <p:sp>
          <p:nvSpPr>
            <p:cNvPr id="49" name="node17.surface"/>
            <p:cNvSpPr/>
            <p:nvPr/>
          </p:nvSpPr>
          <p:spPr>
            <a:xfrm>
              <a:off x="4381500" y="4114800"/>
              <a:ext cx="1371600" cy="1600200"/>
            </a:xfrm>
            <a:prstGeom prst="rect">
              <a:avLst/>
            </a:prstGeom>
            <a:solidFill>
              <a:srgbClr val="E8EEF8"/>
            </a:solidFill>
            <a:ln>
              <a:noFill/>
            </a:ln>
          </p:spPr>
        </p:sp>
        <p:sp>
          <p:nvSpPr>
            <p:cNvPr id="50" name="node17.text"/>
            <p:cNvSpPr/>
            <p:nvPr/>
          </p:nvSpPr>
          <p:spPr>
            <a:xfrm>
              <a:off x="4533900" y="4781550"/>
              <a:ext cx="1066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Later</a:t>
              </a:r>
              <a:endParaRPr lang="en-US" sz="1600" spc="-16" kern="0" b="0" i="0" dirty="0">
                <a:solidFill>
                  <a:srgbClr val="070154"/>
                </a:solidFill>
                <a:latin typeface="IBM Plex Sans SemiBold"/>
                <a:ea typeface="IBM Plex Sans SemiBold"/>
                <a:cs typeface="IBM Plex Sans SemiBold"/>
              </a:endParaRPr>
            </a:p>
          </p:txBody>
        </p:sp>
      </p:grpSp>
      <p:grpSp>
        <p:nvGrpSpPr>
          <p:cNvPr id="82" name="node18"/>
          <p:cNvGrpSpPr/>
          <p:nvPr/>
        </p:nvGrpSpPr>
        <p:grpSpPr>
          <a:xfrm>
            <a:off x="4533900" y="5181600"/>
            <a:ext cx="1143000" cy="279400"/>
            <a:chOff x="4533900" y="5181600"/>
            <a:chExt cx="1143000" cy="279400"/>
          </a:xfrm>
        </p:grpSpPr>
        <p:sp>
          <p:nvSpPr>
            <p:cNvPr id="51" name="node18.text"/>
            <p:cNvSpPr/>
            <p:nvPr/>
          </p:nvSpPr>
          <p:spPr>
            <a:xfrm>
              <a:off x="4533900" y="5181600"/>
              <a:ext cx="1143000" cy="2794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Medium"/>
                  <a:ea typeface="IBM Plex Mono Medium"/>
                  <a:cs typeface="IBM Plex Mono Medium"/>
                </a:rPr>
                <a:t>SIX MONTHS AND BEYOND</a:t>
              </a:r>
              <a:endParaRPr lang="en-US" sz="800" spc="48" kern="0" b="0" i="0" dirty="0">
                <a:solidFill>
                  <a:srgbClr val="070154"/>
                </a:solidFill>
                <a:latin typeface="IBM Plex Mono Medium"/>
                <a:ea typeface="IBM Plex Mono Medium"/>
                <a:cs typeface="IBM Plex Mono Medium"/>
              </a:endParaRPr>
            </a:p>
          </p:txBody>
        </p:sp>
      </p:grpSp>
      <p:grpSp>
        <p:nvGrpSpPr>
          <p:cNvPr id="83" name="node19"/>
          <p:cNvGrpSpPr/>
          <p:nvPr/>
        </p:nvGrpSpPr>
        <p:grpSpPr>
          <a:xfrm>
            <a:off x="5981700" y="4114800"/>
            <a:ext cx="5486400" cy="1600200"/>
            <a:chOff x="5981700" y="4114800"/>
            <a:chExt cx="5486400" cy="1600200"/>
          </a:xfrm>
        </p:grpSpPr>
        <p:sp>
          <p:nvSpPr>
            <p:cNvPr id="52" name="node19.container"/>
            <p:cNvSpPr/>
            <p:nvPr/>
          </p:nvSpPr>
          <p:spPr>
            <a:xfrm>
              <a:off x="5988050" y="4121150"/>
              <a:ext cx="5473700" cy="1587500"/>
            </a:xfrm>
            <a:prstGeom prst="rect">
              <a:avLst/>
            </a:prstGeom>
            <a:solidFill>
              <a:srgbClr val="FFFFFF"/>
            </a:solidFill>
            <a:ln w="12700">
              <a:solidFill>
                <a:srgbClr val="CED7E6"/>
              </a:solidFill>
              <a:prstDash val="solid"/>
            </a:ln>
          </p:spPr>
        </p:sp>
      </p:grpSp>
      <p:grpSp>
        <p:nvGrpSpPr>
          <p:cNvPr id="84" name="node20"/>
          <p:cNvGrpSpPr/>
          <p:nvPr/>
        </p:nvGrpSpPr>
        <p:grpSpPr>
          <a:xfrm>
            <a:off x="6210300" y="4267200"/>
            <a:ext cx="2362200" cy="723900"/>
            <a:chOff x="6210300" y="4267200"/>
            <a:chExt cx="2362200" cy="723900"/>
          </a:xfrm>
        </p:grpSpPr>
        <p:sp>
          <p:nvSpPr>
            <p:cNvPr id="53" name="node20.source-001.bullet"/>
            <p:cNvSpPr/>
            <p:nvPr/>
          </p:nvSpPr>
          <p:spPr>
            <a:xfrm>
              <a:off x="6210300" y="4356100"/>
              <a:ext cx="38100" cy="38100"/>
            </a:xfrm>
            <a:prstGeom prst="rect">
              <a:avLst/>
            </a:prstGeom>
            <a:solidFill>
              <a:srgbClr val="070154"/>
            </a:solidFill>
            <a:ln>
              <a:noFill/>
            </a:ln>
          </p:spPr>
        </p:sp>
        <p:sp>
          <p:nvSpPr>
            <p:cNvPr id="54" name="node20.source-001.text"/>
            <p:cNvSpPr/>
            <p:nvPr/>
          </p:nvSpPr>
          <p:spPr>
            <a:xfrm>
              <a:off x="6362700" y="42672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Proxy access</a:t>
              </a:r>
              <a:endParaRPr lang="en-US" sz="1200" spc="0" kern="0" b="0" i="0" dirty="0">
                <a:solidFill>
                  <a:srgbClr val="070154"/>
                </a:solidFill>
                <a:latin typeface="IBM Plex Sans"/>
                <a:ea typeface="IBM Plex Sans"/>
                <a:cs typeface="IBM Plex Sans"/>
              </a:endParaRPr>
            </a:p>
          </p:txBody>
        </p:sp>
        <p:sp>
          <p:nvSpPr>
            <p:cNvPr id="55" name="node20.source-002.bullet"/>
            <p:cNvSpPr/>
            <p:nvPr/>
          </p:nvSpPr>
          <p:spPr>
            <a:xfrm>
              <a:off x="6210300" y="4610100"/>
              <a:ext cx="38100" cy="38100"/>
            </a:xfrm>
            <a:prstGeom prst="rect">
              <a:avLst/>
            </a:prstGeom>
            <a:solidFill>
              <a:srgbClr val="070154"/>
            </a:solidFill>
            <a:ln>
              <a:noFill/>
            </a:ln>
          </p:spPr>
        </p:sp>
        <p:sp>
          <p:nvSpPr>
            <p:cNvPr id="56" name="node20.source-002.text"/>
            <p:cNvSpPr/>
            <p:nvPr/>
          </p:nvSpPr>
          <p:spPr>
            <a:xfrm>
              <a:off x="6362700" y="45212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Multilingual booking</a:t>
              </a:r>
              <a:endParaRPr lang="en-US" sz="1200" spc="0" kern="0" b="0" i="0" dirty="0">
                <a:solidFill>
                  <a:srgbClr val="070154"/>
                </a:solidFill>
                <a:latin typeface="IBM Plex Sans"/>
                <a:ea typeface="IBM Plex Sans"/>
                <a:cs typeface="IBM Plex Sans"/>
              </a:endParaRPr>
            </a:p>
          </p:txBody>
        </p:sp>
        <p:sp>
          <p:nvSpPr>
            <p:cNvPr id="57" name="node20.source-003.bullet"/>
            <p:cNvSpPr/>
            <p:nvPr/>
          </p:nvSpPr>
          <p:spPr>
            <a:xfrm>
              <a:off x="6210300" y="4864100"/>
              <a:ext cx="38100" cy="38100"/>
            </a:xfrm>
            <a:prstGeom prst="rect">
              <a:avLst/>
            </a:prstGeom>
            <a:solidFill>
              <a:srgbClr val="070154"/>
            </a:solidFill>
            <a:ln>
              <a:noFill/>
            </a:ln>
          </p:spPr>
        </p:sp>
        <p:sp>
          <p:nvSpPr>
            <p:cNvPr id="58" name="node20.source-003.text"/>
            <p:cNvSpPr/>
            <p:nvPr/>
          </p:nvSpPr>
          <p:spPr>
            <a:xfrm>
              <a:off x="6362700" y="47752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Kiosk check-in</a:t>
              </a:r>
              <a:endParaRPr lang="en-US" sz="1200" spc="0" kern="0" b="0" i="0" dirty="0">
                <a:solidFill>
                  <a:srgbClr val="070154"/>
                </a:solidFill>
                <a:latin typeface="IBM Plex Sans"/>
                <a:ea typeface="IBM Plex Sans"/>
                <a:cs typeface="IBM Plex Sans"/>
              </a:endParaRPr>
            </a:p>
          </p:txBody>
        </p:sp>
      </p:grpSp>
      <p:grpSp>
        <p:nvGrpSpPr>
          <p:cNvPr id="85" name="node21"/>
          <p:cNvGrpSpPr/>
          <p:nvPr/>
        </p:nvGrpSpPr>
        <p:grpSpPr>
          <a:xfrm>
            <a:off x="8953500" y="4267200"/>
            <a:ext cx="2362200" cy="723900"/>
            <a:chOff x="8953500" y="4267200"/>
            <a:chExt cx="2362200" cy="723900"/>
          </a:xfrm>
        </p:grpSpPr>
        <p:sp>
          <p:nvSpPr>
            <p:cNvPr id="59" name="node21.source-001.bullet"/>
            <p:cNvSpPr/>
            <p:nvPr/>
          </p:nvSpPr>
          <p:spPr>
            <a:xfrm>
              <a:off x="8953500" y="4356100"/>
              <a:ext cx="38100" cy="38100"/>
            </a:xfrm>
            <a:prstGeom prst="rect">
              <a:avLst/>
            </a:prstGeom>
            <a:solidFill>
              <a:srgbClr val="070154"/>
            </a:solidFill>
            <a:ln>
              <a:noFill/>
            </a:ln>
          </p:spPr>
        </p:sp>
        <p:sp>
          <p:nvSpPr>
            <p:cNvPr id="60" name="node21.source-001.text"/>
            <p:cNvSpPr/>
            <p:nvPr/>
          </p:nvSpPr>
          <p:spPr>
            <a:xfrm>
              <a:off x="9105900" y="42672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Medication adherence</a:t>
              </a:r>
              <a:endParaRPr lang="en-US" sz="1200" spc="0" kern="0" b="0" i="0" dirty="0">
                <a:solidFill>
                  <a:srgbClr val="070154"/>
                </a:solidFill>
                <a:latin typeface="IBM Plex Sans"/>
                <a:ea typeface="IBM Plex Sans"/>
                <a:cs typeface="IBM Plex Sans"/>
              </a:endParaRPr>
            </a:p>
          </p:txBody>
        </p:sp>
        <p:sp>
          <p:nvSpPr>
            <p:cNvPr id="61" name="node21.source-002.bullet"/>
            <p:cNvSpPr/>
            <p:nvPr/>
          </p:nvSpPr>
          <p:spPr>
            <a:xfrm>
              <a:off x="8953500" y="4610100"/>
              <a:ext cx="38100" cy="38100"/>
            </a:xfrm>
            <a:prstGeom prst="rect">
              <a:avLst/>
            </a:prstGeom>
            <a:solidFill>
              <a:srgbClr val="070154"/>
            </a:solidFill>
            <a:ln>
              <a:noFill/>
            </a:ln>
          </p:spPr>
        </p:sp>
        <p:sp>
          <p:nvSpPr>
            <p:cNvPr id="62" name="node21.source-002.text"/>
            <p:cNvSpPr/>
            <p:nvPr/>
          </p:nvSpPr>
          <p:spPr>
            <a:xfrm>
              <a:off x="9105900" y="45212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No-show outreach</a:t>
              </a:r>
              <a:endParaRPr lang="en-US" sz="1200" spc="0" kern="0" b="0" i="0" dirty="0">
                <a:solidFill>
                  <a:srgbClr val="070154"/>
                </a:solidFill>
                <a:latin typeface="IBM Plex Sans"/>
                <a:ea typeface="IBM Plex Sans"/>
                <a:cs typeface="IBM Plex Sans"/>
              </a:endParaRPr>
            </a:p>
          </p:txBody>
        </p:sp>
        <p:sp>
          <p:nvSpPr>
            <p:cNvPr id="63" name="node21.source-003.bullet"/>
            <p:cNvSpPr/>
            <p:nvPr/>
          </p:nvSpPr>
          <p:spPr>
            <a:xfrm>
              <a:off x="8953500" y="4864100"/>
              <a:ext cx="38100" cy="38100"/>
            </a:xfrm>
            <a:prstGeom prst="rect">
              <a:avLst/>
            </a:prstGeom>
            <a:solidFill>
              <a:srgbClr val="070154"/>
            </a:solidFill>
            <a:ln>
              <a:noFill/>
            </a:ln>
          </p:spPr>
        </p:sp>
        <p:sp>
          <p:nvSpPr>
            <p:cNvPr id="64" name="node21.source-003.text"/>
            <p:cNvSpPr/>
            <p:nvPr/>
          </p:nvSpPr>
          <p:spPr>
            <a:xfrm>
              <a:off x="9105900" y="47752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store re-platform</a:t>
              </a:r>
              <a:endParaRPr lang="en-US" sz="1200" spc="0" kern="0" b="0" i="0" dirty="0">
                <a:solidFill>
                  <a:srgbClr val="070154"/>
                </a:solidFill>
                <a:latin typeface="IBM Plex Sans"/>
                <a:ea typeface="IBM Plex Sans"/>
                <a:cs typeface="IBM Plex Sans"/>
              </a:endParaRPr>
            </a:p>
          </p:txBody>
        </p:sp>
      </p:grpSp>
      <p:sp>
        <p:nvSpPr>
          <p:cNvPr id="65" name="node22"/>
          <p:cNvSpPr/>
          <p:nvPr/>
        </p:nvSpPr>
        <p:spPr>
          <a:xfrm>
            <a:off x="6210300" y="5143500"/>
            <a:ext cx="5029200" cy="9525"/>
          </a:xfrm>
          <a:prstGeom prst="rect">
            <a:avLst/>
          </a:prstGeom>
          <a:solidFill>
            <a:srgbClr val="CED7E6"/>
          </a:solidFill>
          <a:ln>
            <a:noFill/>
          </a:ln>
        </p:spPr>
      </p:sp>
      <p:grpSp>
        <p:nvGrpSpPr>
          <p:cNvPr id="86" name="node23"/>
          <p:cNvGrpSpPr/>
          <p:nvPr/>
        </p:nvGrpSpPr>
        <p:grpSpPr>
          <a:xfrm>
            <a:off x="6210300" y="5257800"/>
            <a:ext cx="5029200" cy="190500"/>
            <a:chOff x="6210300" y="5257800"/>
            <a:chExt cx="5029200" cy="190500"/>
          </a:xfrm>
        </p:grpSpPr>
        <p:sp>
          <p:nvSpPr>
            <p:cNvPr id="66" name="node23.text"/>
            <p:cNvSpPr/>
            <p:nvPr/>
          </p:nvSpPr>
          <p:spPr>
            <a:xfrm>
              <a:off x="6210300" y="5257800"/>
              <a:ext cx="5029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047FF"/>
                  </a:solidFill>
                  <a:latin typeface="IBM Plex Sans"/>
                  <a:ea typeface="IBM Plex Sans"/>
                  <a:cs typeface="IBM Plex Sans"/>
                </a:rPr>
                <a:t>Outcome: access reaches every community</a:t>
              </a:r>
              <a:endParaRPr lang="en-US" sz="1100" spc="0" kern="0" b="0" i="0" dirty="0">
                <a:solidFill>
                  <a:srgbClr val="0047FF"/>
                </a:solidFill>
                <a:latin typeface="IBM Plex Sans"/>
                <a:ea typeface="IBM Plex Sans"/>
                <a:cs typeface="IBM Plex Sans"/>
              </a:endParaRPr>
            </a:p>
          </p:txBody>
        </p:sp>
      </p:gr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ource-45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themes organise six bets across the horizons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141</a:t>
            </a:fld>
            <a:endParaRPr lang="en-US" sz="700" spc="0" kern="0" b="0" i="0" dirty="0">
              <a:solidFill>
                <a:srgbClr val="070154"/>
              </a:solidFill>
              <a:latin typeface="IBM Plex Mono SemiBold"/>
              <a:ea typeface="IBM Plex Mono SemiBold"/>
              <a:cs typeface="IBM Plex Mono SemiBold"/>
            </a:endParaRPr>
          </a:p>
        </p:txBody>
      </p:sp>
      <p:grpSp>
        <p:nvGrpSpPr>
          <p:cNvPr id="43" name="node01"/>
          <p:cNvGrpSpPr/>
          <p:nvPr/>
        </p:nvGrpSpPr>
        <p:grpSpPr>
          <a:xfrm>
            <a:off x="723900" y="1600200"/>
            <a:ext cx="3429000" cy="139700"/>
            <a:chOff x="723900" y="1600200"/>
            <a:chExt cx="3429000" cy="139700"/>
          </a:xfrm>
        </p:grpSpPr>
        <p:sp>
          <p:nvSpPr>
            <p:cNvPr id="6" name="node01.text"/>
            <p:cNvSpPr/>
            <p:nvPr/>
          </p:nvSpPr>
          <p:spPr>
            <a:xfrm>
              <a:off x="7239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THEME 1</a:t>
              </a:r>
              <a:endParaRPr lang="en-US" sz="800" spc="48" kern="0" b="0" i="0" dirty="0">
                <a:solidFill>
                  <a:srgbClr val="50658E"/>
                </a:solidFill>
                <a:latin typeface="IBM Plex Mono Medium"/>
                <a:ea typeface="IBM Plex Mono Medium"/>
                <a:cs typeface="IBM Plex Mono Medium"/>
              </a:endParaRPr>
            </a:p>
          </p:txBody>
        </p:sp>
      </p:grpSp>
      <p:grpSp>
        <p:nvGrpSpPr>
          <p:cNvPr id="44" name="node02"/>
          <p:cNvGrpSpPr/>
          <p:nvPr/>
        </p:nvGrpSpPr>
        <p:grpSpPr>
          <a:xfrm>
            <a:off x="723900" y="1828800"/>
            <a:ext cx="3429000" cy="266700"/>
            <a:chOff x="723900" y="1828800"/>
            <a:chExt cx="3429000" cy="266700"/>
          </a:xfrm>
        </p:grpSpPr>
        <p:sp>
          <p:nvSpPr>
            <p:cNvPr id="7" name="node02.text"/>
            <p:cNvSpPr/>
            <p:nvPr/>
          </p:nvSpPr>
          <p:spPr>
            <a:xfrm>
              <a:off x="723900" y="18288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Frictionless access</a:t>
              </a:r>
              <a:endParaRPr lang="en-US" sz="1600" spc="-16" kern="0" b="0" i="0" dirty="0">
                <a:solidFill>
                  <a:srgbClr val="070154"/>
                </a:solidFill>
                <a:latin typeface="IBM Plex Sans SemiBold"/>
                <a:ea typeface="IBM Plex Sans SemiBold"/>
                <a:cs typeface="IBM Plex Sans SemiBold"/>
              </a:endParaRPr>
            </a:p>
          </p:txBody>
        </p:sp>
      </p:grpSp>
      <p:sp>
        <p:nvSpPr>
          <p:cNvPr id="8" name="node03"/>
          <p:cNvSpPr/>
          <p:nvPr/>
        </p:nvSpPr>
        <p:spPr>
          <a:xfrm>
            <a:off x="723900" y="2286000"/>
            <a:ext cx="3429000" cy="19050"/>
          </a:xfrm>
          <a:prstGeom prst="rect">
            <a:avLst/>
          </a:prstGeom>
          <a:solidFill>
            <a:srgbClr val="CED7E6"/>
          </a:solidFill>
          <a:ln>
            <a:noFill/>
          </a:ln>
        </p:spPr>
      </p:sp>
      <p:grpSp>
        <p:nvGrpSpPr>
          <p:cNvPr id="45" name="node04"/>
          <p:cNvGrpSpPr/>
          <p:nvPr/>
        </p:nvGrpSpPr>
        <p:grpSpPr>
          <a:xfrm>
            <a:off x="723900" y="2400300"/>
            <a:ext cx="3429000" cy="190500"/>
            <a:chOff x="723900" y="2400300"/>
            <a:chExt cx="3429000" cy="190500"/>
          </a:xfrm>
        </p:grpSpPr>
        <p:sp>
          <p:nvSpPr>
            <p:cNvPr id="9" name="node04.text"/>
            <p:cNvSpPr/>
            <p:nvPr/>
          </p:nvSpPr>
          <p:spPr>
            <a:xfrm>
              <a:off x="723900" y="24003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Patients book, pay and message without a call.</a:t>
              </a:r>
              <a:endParaRPr lang="en-US" sz="1100" spc="0" kern="0" b="0" i="0" dirty="0">
                <a:solidFill>
                  <a:srgbClr val="50658E"/>
                </a:solidFill>
                <a:latin typeface="IBM Plex Sans"/>
                <a:ea typeface="IBM Plex Sans"/>
                <a:cs typeface="IBM Plex Sans"/>
              </a:endParaRPr>
            </a:p>
          </p:txBody>
        </p:sp>
      </p:grpSp>
      <p:grpSp>
        <p:nvGrpSpPr>
          <p:cNvPr id="46" name="node05"/>
          <p:cNvGrpSpPr/>
          <p:nvPr/>
        </p:nvGrpSpPr>
        <p:grpSpPr>
          <a:xfrm>
            <a:off x="723900" y="2971800"/>
            <a:ext cx="3429000" cy="1371600"/>
            <a:chOff x="723900" y="2971800"/>
            <a:chExt cx="3429000" cy="1371600"/>
          </a:xfrm>
        </p:grpSpPr>
        <p:sp>
          <p:nvSpPr>
            <p:cNvPr id="10" name="node05.container"/>
            <p:cNvSpPr/>
            <p:nvPr/>
          </p:nvSpPr>
          <p:spPr>
            <a:xfrm>
              <a:off x="723900" y="2971800"/>
              <a:ext cx="3429000" cy="1371600"/>
            </a:xfrm>
            <a:prstGeom prst="rect">
              <a:avLst/>
            </a:prstGeom>
            <a:solidFill>
              <a:srgbClr val="E8EEF8"/>
            </a:solidFill>
            <a:ln>
              <a:noFill/>
            </a:ln>
          </p:spPr>
        </p:sp>
        <p:sp>
          <p:nvSpPr>
            <p:cNvPr id="11" name="node05.edge"/>
            <p:cNvSpPr/>
            <p:nvPr/>
          </p:nvSpPr>
          <p:spPr>
            <a:xfrm>
              <a:off x="723900" y="2971800"/>
              <a:ext cx="76200" cy="1371600"/>
            </a:xfrm>
            <a:prstGeom prst="rect">
              <a:avLst/>
            </a:prstGeom>
            <a:solidFill>
              <a:srgbClr val="F900D3"/>
            </a:solidFill>
            <a:ln>
              <a:noFill/>
            </a:ln>
          </p:spPr>
        </p:sp>
        <p:sp>
          <p:nvSpPr>
            <p:cNvPr id="12" name="node05.label"/>
            <p:cNvSpPr/>
            <p:nvPr/>
          </p:nvSpPr>
          <p:spPr>
            <a:xfrm>
              <a:off x="914400" y="30861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NOW · KEY BET</a:t>
              </a:r>
              <a:endParaRPr lang="en-US" sz="800" spc="48" kern="0" b="0" i="0" dirty="0">
                <a:solidFill>
                  <a:srgbClr val="0047FF"/>
                </a:solidFill>
                <a:latin typeface="IBM Plex Mono Medium"/>
                <a:ea typeface="IBM Plex Mono Medium"/>
                <a:cs typeface="IBM Plex Mono Medium"/>
              </a:endParaRPr>
            </a:p>
          </p:txBody>
        </p:sp>
        <p:sp>
          <p:nvSpPr>
            <p:cNvPr id="13" name="node05.title"/>
            <p:cNvSpPr/>
            <p:nvPr/>
          </p:nvSpPr>
          <p:spPr>
            <a:xfrm>
              <a:off x="914400" y="3302000"/>
              <a:ext cx="312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Self-scheduling</a:t>
              </a:r>
              <a:endParaRPr lang="en-US" sz="1200" spc="0" kern="0" b="0" i="0" dirty="0">
                <a:solidFill>
                  <a:srgbClr val="070154"/>
                </a:solidFill>
                <a:latin typeface="IBM Plex Sans"/>
                <a:ea typeface="IBM Plex Sans"/>
                <a:cs typeface="IBM Plex Sans"/>
              </a:endParaRPr>
            </a:p>
          </p:txBody>
        </p:sp>
        <p:sp>
          <p:nvSpPr>
            <p:cNvPr id="14" name="node05.body.item-001.paragraph"/>
            <p:cNvSpPr/>
            <p:nvPr/>
          </p:nvSpPr>
          <p:spPr>
            <a:xfrm>
              <a:off x="914400" y="3670300"/>
              <a:ext cx="312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Primary care first, then specialties.</a:t>
              </a:r>
              <a:endParaRPr lang="en-US" sz="1200" spc="0" kern="0" b="0" i="0" dirty="0">
                <a:solidFill>
                  <a:srgbClr val="50658E"/>
                </a:solidFill>
                <a:latin typeface="IBM Plex Sans"/>
                <a:ea typeface="IBM Plex Sans"/>
                <a:cs typeface="IBM Plex Sans"/>
              </a:endParaRPr>
            </a:p>
          </p:txBody>
        </p:sp>
      </p:grpSp>
      <p:grpSp>
        <p:nvGrpSpPr>
          <p:cNvPr id="47" name="node06"/>
          <p:cNvGrpSpPr/>
          <p:nvPr/>
        </p:nvGrpSpPr>
        <p:grpSpPr>
          <a:xfrm>
            <a:off x="723900" y="4572000"/>
            <a:ext cx="3429000" cy="1371600"/>
            <a:chOff x="723900" y="4572000"/>
            <a:chExt cx="3429000" cy="1371600"/>
          </a:xfrm>
        </p:grpSpPr>
        <p:sp>
          <p:nvSpPr>
            <p:cNvPr id="15" name="node06.container"/>
            <p:cNvSpPr/>
            <p:nvPr/>
          </p:nvSpPr>
          <p:spPr>
            <a:xfrm>
              <a:off x="723900" y="4572000"/>
              <a:ext cx="3429000" cy="1371600"/>
            </a:xfrm>
            <a:prstGeom prst="rect">
              <a:avLst/>
            </a:prstGeom>
            <a:solidFill>
              <a:srgbClr val="E8EEF8"/>
            </a:solidFill>
            <a:ln>
              <a:noFill/>
            </a:ln>
          </p:spPr>
        </p:sp>
        <p:sp>
          <p:nvSpPr>
            <p:cNvPr id="16" name="node06.label"/>
            <p:cNvSpPr/>
            <p:nvPr/>
          </p:nvSpPr>
          <p:spPr>
            <a:xfrm>
              <a:off x="838200" y="46863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NEXT</a:t>
              </a:r>
              <a:endParaRPr lang="en-US" sz="800" spc="48" kern="0" b="0" i="0" dirty="0">
                <a:solidFill>
                  <a:srgbClr val="0047FF"/>
                </a:solidFill>
                <a:latin typeface="IBM Plex Mono Medium"/>
                <a:ea typeface="IBM Plex Mono Medium"/>
                <a:cs typeface="IBM Plex Mono Medium"/>
              </a:endParaRPr>
            </a:p>
          </p:txBody>
        </p:sp>
        <p:sp>
          <p:nvSpPr>
            <p:cNvPr id="17" name="node06.title"/>
            <p:cNvSpPr/>
            <p:nvPr/>
          </p:nvSpPr>
          <p:spPr>
            <a:xfrm>
              <a:off x="838200" y="4902200"/>
              <a:ext cx="320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Cost estimates</a:t>
              </a:r>
              <a:endParaRPr lang="en-US" sz="1200" spc="0" kern="0" b="0" i="0" dirty="0">
                <a:solidFill>
                  <a:srgbClr val="070154"/>
                </a:solidFill>
                <a:latin typeface="IBM Plex Sans"/>
                <a:ea typeface="IBM Plex Sans"/>
                <a:cs typeface="IBM Plex Sans"/>
              </a:endParaRPr>
            </a:p>
          </p:txBody>
        </p:sp>
        <p:sp>
          <p:nvSpPr>
            <p:cNvPr id="18" name="node06.body.item-001.paragraph"/>
            <p:cNvSpPr/>
            <p:nvPr/>
          </p:nvSpPr>
          <p:spPr>
            <a:xfrm>
              <a:off x="838200" y="5270500"/>
              <a:ext cx="320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Prices shown before the visit is booked.</a:t>
              </a:r>
              <a:endParaRPr lang="en-US" sz="1200" spc="0" kern="0" b="0" i="0" dirty="0">
                <a:solidFill>
                  <a:srgbClr val="50658E"/>
                </a:solidFill>
                <a:latin typeface="IBM Plex Sans"/>
                <a:ea typeface="IBM Plex Sans"/>
                <a:cs typeface="IBM Plex Sans"/>
              </a:endParaRPr>
            </a:p>
          </p:txBody>
        </p:sp>
      </p:grpSp>
      <p:grpSp>
        <p:nvGrpSpPr>
          <p:cNvPr id="48" name="node07"/>
          <p:cNvGrpSpPr/>
          <p:nvPr/>
        </p:nvGrpSpPr>
        <p:grpSpPr>
          <a:xfrm>
            <a:off x="4381500" y="1600200"/>
            <a:ext cx="3429000" cy="139700"/>
            <a:chOff x="4381500" y="1600200"/>
            <a:chExt cx="3429000" cy="139700"/>
          </a:xfrm>
        </p:grpSpPr>
        <p:sp>
          <p:nvSpPr>
            <p:cNvPr id="19" name="node07.text"/>
            <p:cNvSpPr/>
            <p:nvPr/>
          </p:nvSpPr>
          <p:spPr>
            <a:xfrm>
              <a:off x="43815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THEME 2</a:t>
              </a:r>
              <a:endParaRPr lang="en-US" sz="800" spc="48" kern="0" b="0" i="0" dirty="0">
                <a:solidFill>
                  <a:srgbClr val="50658E"/>
                </a:solidFill>
                <a:latin typeface="IBM Plex Mono Medium"/>
                <a:ea typeface="IBM Plex Mono Medium"/>
                <a:cs typeface="IBM Plex Mono Medium"/>
              </a:endParaRPr>
            </a:p>
          </p:txBody>
        </p:sp>
      </p:grpSp>
      <p:grpSp>
        <p:nvGrpSpPr>
          <p:cNvPr id="49" name="node08"/>
          <p:cNvGrpSpPr/>
          <p:nvPr/>
        </p:nvGrpSpPr>
        <p:grpSpPr>
          <a:xfrm>
            <a:off x="4381500" y="1828800"/>
            <a:ext cx="3429000" cy="266700"/>
            <a:chOff x="4381500" y="1828800"/>
            <a:chExt cx="3429000" cy="266700"/>
          </a:xfrm>
        </p:grpSpPr>
        <p:sp>
          <p:nvSpPr>
            <p:cNvPr id="20" name="node08.text"/>
            <p:cNvSpPr/>
            <p:nvPr/>
          </p:nvSpPr>
          <p:spPr>
            <a:xfrm>
              <a:off x="4381500" y="18288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Care between visits</a:t>
              </a:r>
              <a:endParaRPr lang="en-US" sz="1600" spc="-16" kern="0" b="0" i="0" dirty="0">
                <a:solidFill>
                  <a:srgbClr val="070154"/>
                </a:solidFill>
                <a:latin typeface="IBM Plex Sans SemiBold"/>
                <a:ea typeface="IBM Plex Sans SemiBold"/>
                <a:cs typeface="IBM Plex Sans SemiBold"/>
              </a:endParaRPr>
            </a:p>
          </p:txBody>
        </p:sp>
      </p:grpSp>
      <p:sp>
        <p:nvSpPr>
          <p:cNvPr id="21" name="node09"/>
          <p:cNvSpPr/>
          <p:nvPr/>
        </p:nvSpPr>
        <p:spPr>
          <a:xfrm>
            <a:off x="4381500" y="2286000"/>
            <a:ext cx="3429000" cy="19050"/>
          </a:xfrm>
          <a:prstGeom prst="rect">
            <a:avLst/>
          </a:prstGeom>
          <a:solidFill>
            <a:srgbClr val="CED7E6"/>
          </a:solidFill>
          <a:ln>
            <a:noFill/>
          </a:ln>
        </p:spPr>
      </p:sp>
      <p:grpSp>
        <p:nvGrpSpPr>
          <p:cNvPr id="50" name="node10"/>
          <p:cNvGrpSpPr/>
          <p:nvPr/>
        </p:nvGrpSpPr>
        <p:grpSpPr>
          <a:xfrm>
            <a:off x="4381500" y="2400300"/>
            <a:ext cx="3429000" cy="190500"/>
            <a:chOff x="4381500" y="2400300"/>
            <a:chExt cx="3429000" cy="190500"/>
          </a:xfrm>
        </p:grpSpPr>
        <p:sp>
          <p:nvSpPr>
            <p:cNvPr id="22" name="node10.text"/>
            <p:cNvSpPr/>
            <p:nvPr/>
          </p:nvSpPr>
          <p:spPr>
            <a:xfrm>
              <a:off x="4381500" y="24003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The app carries the care plan home.</a:t>
              </a:r>
              <a:endParaRPr lang="en-US" sz="1100" spc="0" kern="0" b="0" i="0" dirty="0">
                <a:solidFill>
                  <a:srgbClr val="50658E"/>
                </a:solidFill>
                <a:latin typeface="IBM Plex Sans"/>
                <a:ea typeface="IBM Plex Sans"/>
                <a:cs typeface="IBM Plex Sans"/>
              </a:endParaRPr>
            </a:p>
          </p:txBody>
        </p:sp>
      </p:grpSp>
      <p:grpSp>
        <p:nvGrpSpPr>
          <p:cNvPr id="51" name="node11"/>
          <p:cNvGrpSpPr/>
          <p:nvPr/>
        </p:nvGrpSpPr>
        <p:grpSpPr>
          <a:xfrm>
            <a:off x="4381500" y="2971800"/>
            <a:ext cx="3429000" cy="1371600"/>
            <a:chOff x="4381500" y="2971800"/>
            <a:chExt cx="3429000" cy="1371600"/>
          </a:xfrm>
        </p:grpSpPr>
        <p:sp>
          <p:nvSpPr>
            <p:cNvPr id="23" name="node11.container"/>
            <p:cNvSpPr/>
            <p:nvPr/>
          </p:nvSpPr>
          <p:spPr>
            <a:xfrm>
              <a:off x="4381500" y="2971800"/>
              <a:ext cx="3429000" cy="1371600"/>
            </a:xfrm>
            <a:prstGeom prst="rect">
              <a:avLst/>
            </a:prstGeom>
            <a:solidFill>
              <a:srgbClr val="E8EEF8"/>
            </a:solidFill>
            <a:ln>
              <a:noFill/>
            </a:ln>
          </p:spPr>
        </p:sp>
        <p:sp>
          <p:nvSpPr>
            <p:cNvPr id="24" name="node11.label"/>
            <p:cNvSpPr/>
            <p:nvPr/>
          </p:nvSpPr>
          <p:spPr>
            <a:xfrm>
              <a:off x="4495800" y="30861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NOW</a:t>
              </a:r>
              <a:endParaRPr lang="en-US" sz="800" spc="48" kern="0" b="0" i="0" dirty="0">
                <a:solidFill>
                  <a:srgbClr val="0047FF"/>
                </a:solidFill>
                <a:latin typeface="IBM Plex Mono Medium"/>
                <a:ea typeface="IBM Plex Mono Medium"/>
                <a:cs typeface="IBM Plex Mono Medium"/>
              </a:endParaRPr>
            </a:p>
          </p:txBody>
        </p:sp>
        <p:sp>
          <p:nvSpPr>
            <p:cNvPr id="25" name="node11.title"/>
            <p:cNvSpPr/>
            <p:nvPr/>
          </p:nvSpPr>
          <p:spPr>
            <a:xfrm>
              <a:off x="4495800" y="3302000"/>
              <a:ext cx="320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Messaging triage</a:t>
              </a:r>
              <a:endParaRPr lang="en-US" sz="1200" spc="0" kern="0" b="0" i="0" dirty="0">
                <a:solidFill>
                  <a:srgbClr val="070154"/>
                </a:solidFill>
                <a:latin typeface="IBM Plex Sans"/>
                <a:ea typeface="IBM Plex Sans"/>
                <a:cs typeface="IBM Plex Sans"/>
              </a:endParaRPr>
            </a:p>
          </p:txBody>
        </p:sp>
        <p:sp>
          <p:nvSpPr>
            <p:cNvPr id="26" name="node11.body.item-001.paragraph"/>
            <p:cNvSpPr/>
            <p:nvPr/>
          </p:nvSpPr>
          <p:spPr>
            <a:xfrm>
              <a:off x="4495800" y="3670300"/>
              <a:ext cx="320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Nurses route every message in one queue.</a:t>
              </a:r>
              <a:endParaRPr lang="en-US" sz="1200" spc="0" kern="0" b="0" i="0" dirty="0">
                <a:solidFill>
                  <a:srgbClr val="50658E"/>
                </a:solidFill>
                <a:latin typeface="IBM Plex Sans"/>
                <a:ea typeface="IBM Plex Sans"/>
                <a:cs typeface="IBM Plex Sans"/>
              </a:endParaRPr>
            </a:p>
          </p:txBody>
        </p:sp>
      </p:grpSp>
      <p:grpSp>
        <p:nvGrpSpPr>
          <p:cNvPr id="52" name="node12"/>
          <p:cNvGrpSpPr/>
          <p:nvPr/>
        </p:nvGrpSpPr>
        <p:grpSpPr>
          <a:xfrm>
            <a:off x="4381500" y="4572000"/>
            <a:ext cx="3429000" cy="1371600"/>
            <a:chOff x="4381500" y="4572000"/>
            <a:chExt cx="3429000" cy="1371600"/>
          </a:xfrm>
        </p:grpSpPr>
        <p:sp>
          <p:nvSpPr>
            <p:cNvPr id="27" name="node12.container"/>
            <p:cNvSpPr/>
            <p:nvPr/>
          </p:nvSpPr>
          <p:spPr>
            <a:xfrm>
              <a:off x="4381500" y="4572000"/>
              <a:ext cx="3429000" cy="1371600"/>
            </a:xfrm>
            <a:prstGeom prst="rect">
              <a:avLst/>
            </a:prstGeom>
            <a:solidFill>
              <a:srgbClr val="E8EEF8"/>
            </a:solidFill>
            <a:ln>
              <a:noFill/>
            </a:ln>
          </p:spPr>
        </p:sp>
        <p:sp>
          <p:nvSpPr>
            <p:cNvPr id="28" name="node12.label"/>
            <p:cNvSpPr/>
            <p:nvPr/>
          </p:nvSpPr>
          <p:spPr>
            <a:xfrm>
              <a:off x="4495800" y="46863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NEXT · KEY BET</a:t>
              </a:r>
              <a:endParaRPr lang="en-US" sz="800" spc="48" kern="0" b="0" i="0" dirty="0">
                <a:solidFill>
                  <a:srgbClr val="0047FF"/>
                </a:solidFill>
                <a:latin typeface="IBM Plex Mono Medium"/>
                <a:ea typeface="IBM Plex Mono Medium"/>
                <a:cs typeface="IBM Plex Mono Medium"/>
              </a:endParaRPr>
            </a:p>
          </p:txBody>
        </p:sp>
        <p:sp>
          <p:nvSpPr>
            <p:cNvPr id="29" name="node12.title"/>
            <p:cNvSpPr/>
            <p:nvPr/>
          </p:nvSpPr>
          <p:spPr>
            <a:xfrm>
              <a:off x="4495800" y="4902200"/>
              <a:ext cx="320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Remote monitoring</a:t>
              </a:r>
              <a:endParaRPr lang="en-US" sz="1200" spc="0" kern="0" b="0" i="0" dirty="0">
                <a:solidFill>
                  <a:srgbClr val="070154"/>
                </a:solidFill>
                <a:latin typeface="IBM Plex Sans"/>
                <a:ea typeface="IBM Plex Sans"/>
                <a:cs typeface="IBM Plex Sans"/>
              </a:endParaRPr>
            </a:p>
          </p:txBody>
        </p:sp>
        <p:sp>
          <p:nvSpPr>
            <p:cNvPr id="30" name="node12.body.item-001.paragraph"/>
            <p:cNvSpPr/>
            <p:nvPr/>
          </p:nvSpPr>
          <p:spPr>
            <a:xfrm>
              <a:off x="4495800" y="5270500"/>
              <a:ext cx="320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Pilot with chronic-care cohorts.</a:t>
              </a:r>
              <a:endParaRPr lang="en-US" sz="1200" spc="0" kern="0" b="0" i="0" dirty="0">
                <a:solidFill>
                  <a:srgbClr val="50658E"/>
                </a:solidFill>
                <a:latin typeface="IBM Plex Sans"/>
                <a:ea typeface="IBM Plex Sans"/>
                <a:cs typeface="IBM Plex Sans"/>
              </a:endParaRPr>
            </a:p>
          </p:txBody>
        </p:sp>
      </p:grpSp>
      <p:grpSp>
        <p:nvGrpSpPr>
          <p:cNvPr id="53" name="node13"/>
          <p:cNvGrpSpPr/>
          <p:nvPr/>
        </p:nvGrpSpPr>
        <p:grpSpPr>
          <a:xfrm>
            <a:off x="8039100" y="1600200"/>
            <a:ext cx="3429000" cy="139700"/>
            <a:chOff x="8039100" y="1600200"/>
            <a:chExt cx="3429000" cy="139700"/>
          </a:xfrm>
        </p:grpSpPr>
        <p:sp>
          <p:nvSpPr>
            <p:cNvPr id="31" name="node13.text"/>
            <p:cNvSpPr/>
            <p:nvPr/>
          </p:nvSpPr>
          <p:spPr>
            <a:xfrm>
              <a:off x="80391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THEME 3</a:t>
              </a:r>
              <a:endParaRPr lang="en-US" sz="800" spc="48" kern="0" b="0" i="0" dirty="0">
                <a:solidFill>
                  <a:srgbClr val="50658E"/>
                </a:solidFill>
                <a:latin typeface="IBM Plex Mono Medium"/>
                <a:ea typeface="IBM Plex Mono Medium"/>
                <a:cs typeface="IBM Plex Mono Medium"/>
              </a:endParaRPr>
            </a:p>
          </p:txBody>
        </p:sp>
      </p:grpSp>
      <p:grpSp>
        <p:nvGrpSpPr>
          <p:cNvPr id="54" name="node14"/>
          <p:cNvGrpSpPr/>
          <p:nvPr/>
        </p:nvGrpSpPr>
        <p:grpSpPr>
          <a:xfrm>
            <a:off x="8039100" y="1828800"/>
            <a:ext cx="3429000" cy="266700"/>
            <a:chOff x="8039100" y="1828800"/>
            <a:chExt cx="3429000" cy="266700"/>
          </a:xfrm>
        </p:grpSpPr>
        <p:sp>
          <p:nvSpPr>
            <p:cNvPr id="32" name="node14.text"/>
            <p:cNvSpPr/>
            <p:nvPr/>
          </p:nvSpPr>
          <p:spPr>
            <a:xfrm>
              <a:off x="8039100" y="18288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 platform that scales</a:t>
              </a:r>
              <a:endParaRPr lang="en-US" sz="1600" spc="-16" kern="0" b="0" i="0" dirty="0">
                <a:solidFill>
                  <a:srgbClr val="070154"/>
                </a:solidFill>
                <a:latin typeface="IBM Plex Sans SemiBold"/>
                <a:ea typeface="IBM Plex Sans SemiBold"/>
                <a:cs typeface="IBM Plex Sans SemiBold"/>
              </a:endParaRPr>
            </a:p>
          </p:txBody>
        </p:sp>
      </p:grpSp>
      <p:sp>
        <p:nvSpPr>
          <p:cNvPr id="33" name="node15"/>
          <p:cNvSpPr/>
          <p:nvPr/>
        </p:nvSpPr>
        <p:spPr>
          <a:xfrm>
            <a:off x="8039100" y="2286000"/>
            <a:ext cx="3429000" cy="19050"/>
          </a:xfrm>
          <a:prstGeom prst="rect">
            <a:avLst/>
          </a:prstGeom>
          <a:solidFill>
            <a:srgbClr val="CED7E6"/>
          </a:solidFill>
          <a:ln>
            <a:noFill/>
          </a:ln>
        </p:spPr>
      </p:sp>
      <p:grpSp>
        <p:nvGrpSpPr>
          <p:cNvPr id="55" name="node16"/>
          <p:cNvGrpSpPr/>
          <p:nvPr/>
        </p:nvGrpSpPr>
        <p:grpSpPr>
          <a:xfrm>
            <a:off x="8039100" y="2400300"/>
            <a:ext cx="3429000" cy="190500"/>
            <a:chOff x="8039100" y="2400300"/>
            <a:chExt cx="3429000" cy="190500"/>
          </a:xfrm>
        </p:grpSpPr>
        <p:sp>
          <p:nvSpPr>
            <p:cNvPr id="34" name="node16.text"/>
            <p:cNvSpPr/>
            <p:nvPr/>
          </p:nvSpPr>
          <p:spPr>
            <a:xfrm>
              <a:off x="8039100" y="24003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One data and release foundation for every product.</a:t>
              </a:r>
              <a:endParaRPr lang="en-US" sz="1100" spc="0" kern="0" b="0" i="0" dirty="0">
                <a:solidFill>
                  <a:srgbClr val="50658E"/>
                </a:solidFill>
                <a:latin typeface="IBM Plex Sans"/>
                <a:ea typeface="IBM Plex Sans"/>
                <a:cs typeface="IBM Plex Sans"/>
              </a:endParaRPr>
            </a:p>
          </p:txBody>
        </p:sp>
      </p:grpSp>
      <p:grpSp>
        <p:nvGrpSpPr>
          <p:cNvPr id="56" name="node17"/>
          <p:cNvGrpSpPr/>
          <p:nvPr/>
        </p:nvGrpSpPr>
        <p:grpSpPr>
          <a:xfrm>
            <a:off x="8039100" y="2971800"/>
            <a:ext cx="3429000" cy="1371600"/>
            <a:chOff x="8039100" y="2971800"/>
            <a:chExt cx="3429000" cy="1371600"/>
          </a:xfrm>
        </p:grpSpPr>
        <p:sp>
          <p:nvSpPr>
            <p:cNvPr id="35" name="node17.container"/>
            <p:cNvSpPr/>
            <p:nvPr/>
          </p:nvSpPr>
          <p:spPr>
            <a:xfrm>
              <a:off x="8039100" y="2971800"/>
              <a:ext cx="3429000" cy="1371600"/>
            </a:xfrm>
            <a:prstGeom prst="rect">
              <a:avLst/>
            </a:prstGeom>
            <a:solidFill>
              <a:srgbClr val="E8EEF8"/>
            </a:solidFill>
            <a:ln>
              <a:noFill/>
            </a:ln>
          </p:spPr>
        </p:sp>
        <p:sp>
          <p:nvSpPr>
            <p:cNvPr id="36" name="node17.label"/>
            <p:cNvSpPr/>
            <p:nvPr/>
          </p:nvSpPr>
          <p:spPr>
            <a:xfrm>
              <a:off x="8153400" y="30861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NOW</a:t>
              </a:r>
              <a:endParaRPr lang="en-US" sz="800" spc="48" kern="0" b="0" i="0" dirty="0">
                <a:solidFill>
                  <a:srgbClr val="0047FF"/>
                </a:solidFill>
                <a:latin typeface="IBM Plex Mono Medium"/>
                <a:ea typeface="IBM Plex Mono Medium"/>
                <a:cs typeface="IBM Plex Mono Medium"/>
              </a:endParaRPr>
            </a:p>
          </p:txBody>
        </p:sp>
        <p:sp>
          <p:nvSpPr>
            <p:cNvPr id="37" name="node17.title"/>
            <p:cNvSpPr/>
            <p:nvPr/>
          </p:nvSpPr>
          <p:spPr>
            <a:xfrm>
              <a:off x="8153400" y="3302000"/>
              <a:ext cx="320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EHR hardening</a:t>
              </a:r>
              <a:endParaRPr lang="en-US" sz="1200" spc="0" kern="0" b="0" i="0" dirty="0">
                <a:solidFill>
                  <a:srgbClr val="070154"/>
                </a:solidFill>
                <a:latin typeface="IBM Plex Sans"/>
                <a:ea typeface="IBM Plex Sans"/>
                <a:cs typeface="IBM Plex Sans"/>
              </a:endParaRPr>
            </a:p>
          </p:txBody>
        </p:sp>
        <p:sp>
          <p:nvSpPr>
            <p:cNvPr id="38" name="node17.body.item-001.paragraph"/>
            <p:cNvSpPr/>
            <p:nvPr/>
          </p:nvSpPr>
          <p:spPr>
            <a:xfrm>
              <a:off x="8153400" y="3670300"/>
              <a:ext cx="320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Two integrations stable at volume.</a:t>
              </a:r>
              <a:endParaRPr lang="en-US" sz="1200" spc="0" kern="0" b="0" i="0" dirty="0">
                <a:solidFill>
                  <a:srgbClr val="50658E"/>
                </a:solidFill>
                <a:latin typeface="IBM Plex Sans"/>
                <a:ea typeface="IBM Plex Sans"/>
                <a:cs typeface="IBM Plex Sans"/>
              </a:endParaRPr>
            </a:p>
          </p:txBody>
        </p:sp>
      </p:grpSp>
      <p:grpSp>
        <p:nvGrpSpPr>
          <p:cNvPr id="57" name="node18"/>
          <p:cNvGrpSpPr/>
          <p:nvPr/>
        </p:nvGrpSpPr>
        <p:grpSpPr>
          <a:xfrm>
            <a:off x="8039100" y="4572000"/>
            <a:ext cx="3429000" cy="1371600"/>
            <a:chOff x="8039100" y="4572000"/>
            <a:chExt cx="3429000" cy="1371600"/>
          </a:xfrm>
        </p:grpSpPr>
        <p:sp>
          <p:nvSpPr>
            <p:cNvPr id="39" name="node18.container"/>
            <p:cNvSpPr/>
            <p:nvPr/>
          </p:nvSpPr>
          <p:spPr>
            <a:xfrm>
              <a:off x="8045450" y="4578350"/>
              <a:ext cx="3416300" cy="1358900"/>
            </a:xfrm>
            <a:prstGeom prst="rect">
              <a:avLst/>
            </a:prstGeom>
            <a:solidFill>
              <a:srgbClr val="FFFFFF"/>
            </a:solidFill>
            <a:ln w="12700">
              <a:solidFill>
                <a:srgbClr val="CED7E6"/>
              </a:solidFill>
              <a:prstDash val="solid"/>
            </a:ln>
          </p:spPr>
        </p:sp>
        <p:sp>
          <p:nvSpPr>
            <p:cNvPr id="40" name="node18.label"/>
            <p:cNvSpPr/>
            <p:nvPr/>
          </p:nvSpPr>
          <p:spPr>
            <a:xfrm>
              <a:off x="8153400" y="46863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LATER</a:t>
              </a:r>
              <a:endParaRPr lang="en-US" sz="800" spc="48" kern="0" b="0" i="0" dirty="0">
                <a:solidFill>
                  <a:srgbClr val="0047FF"/>
                </a:solidFill>
                <a:latin typeface="IBM Plex Mono Medium"/>
                <a:ea typeface="IBM Plex Mono Medium"/>
                <a:cs typeface="IBM Plex Mono Medium"/>
              </a:endParaRPr>
            </a:p>
          </p:txBody>
        </p:sp>
        <p:sp>
          <p:nvSpPr>
            <p:cNvPr id="41" name="node18.title"/>
            <p:cNvSpPr/>
            <p:nvPr/>
          </p:nvSpPr>
          <p:spPr>
            <a:xfrm>
              <a:off x="8153400" y="4902200"/>
              <a:ext cx="320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store re-platform</a:t>
              </a:r>
              <a:endParaRPr lang="en-US" sz="1200" spc="0" kern="0" b="0" i="0" dirty="0">
                <a:solidFill>
                  <a:srgbClr val="070154"/>
                </a:solidFill>
                <a:latin typeface="IBM Plex Sans"/>
                <a:ea typeface="IBM Plex Sans"/>
                <a:cs typeface="IBM Plex Sans"/>
              </a:endParaRPr>
            </a:p>
          </p:txBody>
        </p:sp>
        <p:sp>
          <p:nvSpPr>
            <p:cNvPr id="42" name="node18.body.item-001.paragraph"/>
            <p:cNvSpPr/>
            <p:nvPr/>
          </p:nvSpPr>
          <p:spPr>
            <a:xfrm>
              <a:off x="8153400" y="5270500"/>
              <a:ext cx="320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Move to the shared patient data store.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ource-429">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Three tracks share one foundation</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142</a:t>
            </a:fld>
            <a:endParaRPr lang="en-US" sz="700" spc="0" kern="0" b="0" i="0" dirty="0">
              <a:solidFill>
                <a:srgbClr val="070154"/>
              </a:solidFill>
              <a:latin typeface="IBM Plex Mono SemiBold"/>
              <a:ea typeface="IBM Plex Mono SemiBold"/>
              <a:cs typeface="IBM Plex Mono SemiBold"/>
            </a:endParaRPr>
          </a:p>
        </p:txBody>
      </p:sp>
      <p:grpSp>
        <p:nvGrpSpPr>
          <p:cNvPr id="88" name="node01"/>
          <p:cNvGrpSpPr/>
          <p:nvPr/>
        </p:nvGrpSpPr>
        <p:grpSpPr>
          <a:xfrm>
            <a:off x="723900" y="2514600"/>
            <a:ext cx="3429000" cy="431800"/>
            <a:chOff x="723900" y="2514600"/>
            <a:chExt cx="3429000" cy="431800"/>
          </a:xfrm>
        </p:grpSpPr>
        <p:sp>
          <p:nvSpPr>
            <p:cNvPr id="7" name="node01.text"/>
            <p:cNvSpPr/>
            <p:nvPr/>
          </p:nvSpPr>
          <p:spPr>
            <a:xfrm>
              <a:off x="723900" y="2514600"/>
              <a:ext cx="3429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The foundation must land first. After that, access, revenue and clinical teams ship independently.</a:t>
              </a:r>
              <a:endParaRPr lang="en-US" sz="1200" spc="0" kern="0" b="0" i="0" dirty="0">
                <a:solidFill>
                  <a:srgbClr val="070154"/>
                </a:solidFill>
                <a:latin typeface="IBM Plex Sans"/>
                <a:ea typeface="IBM Plex Sans"/>
                <a:cs typeface="IBM Plex Sans"/>
              </a:endParaRPr>
            </a:p>
          </p:txBody>
        </p:sp>
      </p:grpSp>
      <p:grpSp>
        <p:nvGrpSpPr>
          <p:cNvPr id="89" name="node02"/>
          <p:cNvGrpSpPr/>
          <p:nvPr/>
        </p:nvGrpSpPr>
        <p:grpSpPr>
          <a:xfrm>
            <a:off x="723900" y="3657600"/>
            <a:ext cx="3429000" cy="228600"/>
            <a:chOff x="723900" y="3657600"/>
            <a:chExt cx="3429000" cy="228600"/>
          </a:xfrm>
        </p:grpSpPr>
        <p:sp>
          <p:nvSpPr>
            <p:cNvPr id="8" name="node02.label"/>
            <p:cNvSpPr/>
            <p:nvPr/>
          </p:nvSpPr>
          <p:spPr>
            <a:xfrm>
              <a:off x="723900" y="3657600"/>
              <a:ext cx="822449"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TRACK OWNERS</a:t>
              </a:r>
              <a:endParaRPr lang="en-US" sz="800" spc="48" kern="0" b="0" i="0" dirty="0">
                <a:solidFill>
                  <a:srgbClr val="50658E"/>
                </a:solidFill>
                <a:latin typeface="IBM Plex Mono Medium"/>
                <a:ea typeface="IBM Plex Mono Medium"/>
                <a:cs typeface="IBM Plex Mono Medium"/>
              </a:endParaRPr>
            </a:p>
          </p:txBody>
        </p:sp>
        <p:sp>
          <p:nvSpPr>
            <p:cNvPr id="9" name="node02.rule"/>
            <p:cNvSpPr/>
            <p:nvPr/>
          </p:nvSpPr>
          <p:spPr>
            <a:xfrm>
              <a:off x="1673349" y="3767138"/>
              <a:ext cx="2479551" cy="9525"/>
            </a:xfrm>
            <a:prstGeom prst="rect">
              <a:avLst/>
            </a:prstGeom>
            <a:solidFill>
              <a:srgbClr val="CED7E6"/>
            </a:solidFill>
            <a:ln>
              <a:noFill/>
            </a:ln>
          </p:spPr>
        </p:sp>
      </p:grpSp>
      <p:sp>
        <p:nvSpPr>
          <p:cNvPr id="10" name="node03"/>
          <p:cNvSpPr/>
          <p:nvPr/>
        </p:nvSpPr>
        <p:spPr>
          <a:xfrm>
            <a:off x="723900" y="3886200"/>
            <a:ext cx="3429000" cy="9525"/>
          </a:xfrm>
          <a:prstGeom prst="rect">
            <a:avLst/>
          </a:prstGeom>
          <a:solidFill>
            <a:srgbClr val="CED7E6"/>
          </a:solidFill>
          <a:ln>
            <a:noFill/>
          </a:ln>
        </p:spPr>
      </p:sp>
      <p:grpSp>
        <p:nvGrpSpPr>
          <p:cNvPr id="90" name="node04"/>
          <p:cNvGrpSpPr/>
          <p:nvPr/>
        </p:nvGrpSpPr>
        <p:grpSpPr>
          <a:xfrm>
            <a:off x="723900" y="3962400"/>
            <a:ext cx="3429000" cy="723900"/>
            <a:chOff x="723900" y="3962400"/>
            <a:chExt cx="3429000" cy="723900"/>
          </a:xfrm>
        </p:grpSpPr>
        <p:sp>
          <p:nvSpPr>
            <p:cNvPr id="11" name="node04.source-001.bullet"/>
            <p:cNvSpPr/>
            <p:nvPr/>
          </p:nvSpPr>
          <p:spPr>
            <a:xfrm>
              <a:off x="723900" y="4051300"/>
              <a:ext cx="38100" cy="38100"/>
            </a:xfrm>
            <a:prstGeom prst="rect">
              <a:avLst/>
            </a:prstGeom>
            <a:solidFill>
              <a:srgbClr val="070154"/>
            </a:solidFill>
            <a:ln>
              <a:noFill/>
            </a:ln>
          </p:spPr>
        </p:sp>
        <p:sp>
          <p:nvSpPr>
            <p:cNvPr id="12" name="node04.source-001.text"/>
            <p:cNvSpPr/>
            <p:nvPr/>
          </p:nvSpPr>
          <p:spPr>
            <a:xfrm>
              <a:off x="876300" y="3962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Access.</a:t>
              </a:r>
              <a:r>
                <a:rPr lang="en-US" sz="1200" spc="0" kern="0" b="0" i="0" dirty="0">
                  <a:solidFill>
                    <a:srgbClr val="50658E"/>
                  </a:solidFill>
                  <a:latin typeface="IBM Plex Sans"/>
                  <a:ea typeface="IBM Plex Sans"/>
                  <a:cs typeface="IBM Plex Sans"/>
                </a:rPr>
                <a:t xml:space="preserve"> Chief patient access officer.</a:t>
              </a:r>
              <a:endParaRPr lang="en-US" sz="1200" spc="0" kern="0" b="0" i="0" dirty="0">
                <a:solidFill>
                  <a:srgbClr val="070154"/>
                </a:solidFill>
                <a:latin typeface="IBM Plex Sans"/>
                <a:ea typeface="IBM Plex Sans"/>
                <a:cs typeface="IBM Plex Sans"/>
              </a:endParaRPr>
            </a:p>
          </p:txBody>
        </p:sp>
        <p:sp>
          <p:nvSpPr>
            <p:cNvPr id="13" name="node04.source-002.bullet"/>
            <p:cNvSpPr/>
            <p:nvPr/>
          </p:nvSpPr>
          <p:spPr>
            <a:xfrm>
              <a:off x="723900" y="4305300"/>
              <a:ext cx="38100" cy="38100"/>
            </a:xfrm>
            <a:prstGeom prst="rect">
              <a:avLst/>
            </a:prstGeom>
            <a:solidFill>
              <a:srgbClr val="070154"/>
            </a:solidFill>
            <a:ln>
              <a:noFill/>
            </a:ln>
          </p:spPr>
        </p:sp>
        <p:sp>
          <p:nvSpPr>
            <p:cNvPr id="14" name="node04.source-002.text"/>
            <p:cNvSpPr/>
            <p:nvPr/>
          </p:nvSpPr>
          <p:spPr>
            <a:xfrm>
              <a:off x="876300" y="4216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Revenue.</a:t>
              </a:r>
              <a:r>
                <a:rPr lang="en-US" sz="1200" spc="0" kern="0" b="0" i="0" dirty="0">
                  <a:solidFill>
                    <a:srgbClr val="50658E"/>
                  </a:solidFill>
                  <a:latin typeface="IBM Plex Sans"/>
                  <a:ea typeface="IBM Plex Sans"/>
                  <a:cs typeface="IBM Plex Sans"/>
                </a:rPr>
                <a:t xml:space="preserve"> VP revenue cycle.</a:t>
              </a:r>
              <a:endParaRPr lang="en-US" sz="1200" spc="0" kern="0" b="0" i="0" dirty="0">
                <a:solidFill>
                  <a:srgbClr val="070154"/>
                </a:solidFill>
                <a:latin typeface="IBM Plex Sans"/>
                <a:ea typeface="IBM Plex Sans"/>
                <a:cs typeface="IBM Plex Sans"/>
              </a:endParaRPr>
            </a:p>
          </p:txBody>
        </p:sp>
        <p:sp>
          <p:nvSpPr>
            <p:cNvPr id="15" name="node04.source-003.bullet"/>
            <p:cNvSpPr/>
            <p:nvPr/>
          </p:nvSpPr>
          <p:spPr>
            <a:xfrm>
              <a:off x="723900" y="4559300"/>
              <a:ext cx="38100" cy="38100"/>
            </a:xfrm>
            <a:prstGeom prst="rect">
              <a:avLst/>
            </a:prstGeom>
            <a:solidFill>
              <a:srgbClr val="070154"/>
            </a:solidFill>
            <a:ln>
              <a:noFill/>
            </a:ln>
          </p:spPr>
        </p:sp>
        <p:sp>
          <p:nvSpPr>
            <p:cNvPr id="16" name="node04.source-003.text"/>
            <p:cNvSpPr/>
            <p:nvPr/>
          </p:nvSpPr>
          <p:spPr>
            <a:xfrm>
              <a:off x="876300" y="4470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Clinical.</a:t>
              </a:r>
              <a:r>
                <a:rPr lang="en-US" sz="1200" spc="0" kern="0" b="0" i="0" dirty="0">
                  <a:solidFill>
                    <a:srgbClr val="50658E"/>
                  </a:solidFill>
                  <a:latin typeface="IBM Plex Sans"/>
                  <a:ea typeface="IBM Plex Sans"/>
                  <a:cs typeface="IBM Plex Sans"/>
                </a:rPr>
                <a:t xml:space="preserve"> Chief nursing informatics officer.</a:t>
              </a:r>
              <a:endParaRPr lang="en-US" sz="1200" spc="0" kern="0" b="0" i="0" dirty="0">
                <a:solidFill>
                  <a:srgbClr val="070154"/>
                </a:solidFill>
                <a:latin typeface="IBM Plex Sans"/>
                <a:ea typeface="IBM Plex Sans"/>
                <a:cs typeface="IBM Plex Sans"/>
              </a:endParaRPr>
            </a:p>
          </p:txBody>
        </p:sp>
      </p:grpSp>
      <p:grpSp>
        <p:nvGrpSpPr>
          <p:cNvPr id="91" name="node05"/>
          <p:cNvGrpSpPr/>
          <p:nvPr/>
        </p:nvGrpSpPr>
        <p:grpSpPr>
          <a:xfrm>
            <a:off x="723900" y="4953000"/>
            <a:ext cx="3429000" cy="228600"/>
            <a:chOff x="723900" y="4953000"/>
            <a:chExt cx="3429000" cy="228600"/>
          </a:xfrm>
        </p:grpSpPr>
        <p:sp>
          <p:nvSpPr>
            <p:cNvPr id="17" name="node05.label"/>
            <p:cNvSpPr/>
            <p:nvPr/>
          </p:nvSpPr>
          <p:spPr>
            <a:xfrm>
              <a:off x="723900" y="4953000"/>
              <a:ext cx="1220974"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BIGGEST DEPENDENCY</a:t>
              </a:r>
              <a:endParaRPr lang="en-US" sz="800" spc="48" kern="0" b="0" i="0" dirty="0">
                <a:solidFill>
                  <a:srgbClr val="50658E"/>
                </a:solidFill>
                <a:latin typeface="IBM Plex Mono Medium"/>
                <a:ea typeface="IBM Plex Mono Medium"/>
                <a:cs typeface="IBM Plex Mono Medium"/>
              </a:endParaRPr>
            </a:p>
          </p:txBody>
        </p:sp>
        <p:sp>
          <p:nvSpPr>
            <p:cNvPr id="18" name="node05.rule"/>
            <p:cNvSpPr/>
            <p:nvPr/>
          </p:nvSpPr>
          <p:spPr>
            <a:xfrm>
              <a:off x="2071874" y="5062538"/>
              <a:ext cx="2081026" cy="9525"/>
            </a:xfrm>
            <a:prstGeom prst="rect">
              <a:avLst/>
            </a:prstGeom>
            <a:solidFill>
              <a:srgbClr val="CED7E6"/>
            </a:solidFill>
            <a:ln>
              <a:noFill/>
            </a:ln>
          </p:spPr>
        </p:sp>
      </p:grpSp>
      <p:sp>
        <p:nvSpPr>
          <p:cNvPr id="19" name="node06"/>
          <p:cNvSpPr/>
          <p:nvPr/>
        </p:nvSpPr>
        <p:spPr>
          <a:xfrm>
            <a:off x="723900" y="5181600"/>
            <a:ext cx="3429000" cy="9525"/>
          </a:xfrm>
          <a:prstGeom prst="rect">
            <a:avLst/>
          </a:prstGeom>
          <a:solidFill>
            <a:srgbClr val="CED7E6"/>
          </a:solidFill>
          <a:ln>
            <a:noFill/>
          </a:ln>
        </p:spPr>
      </p:sp>
      <p:grpSp>
        <p:nvGrpSpPr>
          <p:cNvPr id="92" name="node07"/>
          <p:cNvGrpSpPr/>
          <p:nvPr/>
        </p:nvGrpSpPr>
        <p:grpSpPr>
          <a:xfrm>
            <a:off x="723900" y="5257800"/>
            <a:ext cx="3429000" cy="190500"/>
            <a:chOff x="723900" y="5257800"/>
            <a:chExt cx="3429000" cy="190500"/>
          </a:xfrm>
        </p:grpSpPr>
        <p:sp>
          <p:nvSpPr>
            <p:cNvPr id="20" name="node07.text"/>
            <p:cNvSpPr/>
            <p:nvPr/>
          </p:nvSpPr>
          <p:spPr>
            <a:xfrm>
              <a:off x="723900" y="52578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Single sign-in gates all three tracks.</a:t>
              </a:r>
              <a:endParaRPr lang="en-US" sz="1100" spc="0" kern="0" b="0" i="0" dirty="0">
                <a:solidFill>
                  <a:srgbClr val="070154"/>
                </a:solidFill>
                <a:latin typeface="IBM Plex Sans"/>
                <a:ea typeface="IBM Plex Sans"/>
                <a:cs typeface="IBM Plex Sans"/>
              </a:endParaRPr>
            </a:p>
          </p:txBody>
        </p:sp>
      </p:grpSp>
      <p:grpSp>
        <p:nvGrpSpPr>
          <p:cNvPr id="93" name="node08"/>
          <p:cNvGrpSpPr/>
          <p:nvPr/>
        </p:nvGrpSpPr>
        <p:grpSpPr>
          <a:xfrm>
            <a:off x="4381500" y="457200"/>
            <a:ext cx="7086600" cy="5257800"/>
            <a:chOff x="4381500" y="457200"/>
            <a:chExt cx="7086600" cy="5257800"/>
          </a:xfrm>
        </p:grpSpPr>
        <p:sp>
          <p:nvSpPr>
            <p:cNvPr id="21" name="node08.trunk.road"/>
            <p:cNvSpPr/>
            <p:nvPr/>
          </p:nvSpPr>
          <p:spPr>
            <a:xfrm>
              <a:off x="4559300" y="3086100"/>
              <a:ext cx="2231644" cy="0"/>
            </a:xfrm>
            <a:custGeom>
              <a:avLst/>
              <a:gdLst/>
              <a:ahLst/>
              <a:cxnLst/>
              <a:rect l="l" t="t" r="r" b="b"/>
              <a:pathLst>
                <a:path w="2231644">
                  <a:moveTo>
                    <a:pt x="0" y="0"/>
                  </a:moveTo>
                  <a:lnTo>
                    <a:pt x="2231644" y="0"/>
                  </a:lnTo>
                </a:path>
              </a:pathLst>
            </a:custGeom>
            <a:ln w="228600">
              <a:solidFill>
                <a:srgbClr val="070154"/>
              </a:solidFill>
              <a:prstDash val="solid"/>
              <a:round/>
            </a:ln>
          </p:spPr>
        </p:sp>
        <p:sp>
          <p:nvSpPr>
            <p:cNvPr id="22" name="node08.trunk.road.cap-1"/>
            <p:cNvSpPr/>
            <p:nvPr/>
          </p:nvSpPr>
          <p:spPr>
            <a:xfrm>
              <a:off x="4445000" y="2971800"/>
              <a:ext cx="228600" cy="228600"/>
            </a:xfrm>
            <a:prstGeom prst="ellipse">
              <a:avLst/>
            </a:prstGeom>
            <a:solidFill>
              <a:srgbClr val="070154"/>
            </a:solidFill>
            <a:ln>
              <a:noFill/>
            </a:ln>
          </p:spPr>
        </p:sp>
        <p:sp>
          <p:nvSpPr>
            <p:cNvPr id="23" name="node08.trunk.road.cap-2"/>
            <p:cNvSpPr/>
            <p:nvPr/>
          </p:nvSpPr>
          <p:spPr>
            <a:xfrm>
              <a:off x="6676644" y="2971800"/>
              <a:ext cx="228600" cy="228600"/>
            </a:xfrm>
            <a:prstGeom prst="ellipse">
              <a:avLst/>
            </a:prstGeom>
            <a:solidFill>
              <a:srgbClr val="070154"/>
            </a:solidFill>
            <a:ln>
              <a:noFill/>
            </a:ln>
          </p:spPr>
        </p:sp>
        <p:sp>
          <p:nvSpPr>
            <p:cNvPr id="24" name="node08.trunk.centerline"/>
            <p:cNvSpPr/>
            <p:nvPr/>
          </p:nvSpPr>
          <p:spPr>
            <a:xfrm>
              <a:off x="4559300" y="3086100"/>
              <a:ext cx="2231644" cy="0"/>
            </a:xfrm>
            <a:custGeom>
              <a:avLst/>
              <a:gdLst/>
              <a:ahLst/>
              <a:cxnLst/>
              <a:rect l="l" t="t" r="r" b="b"/>
              <a:pathLst>
                <a:path w="2231644">
                  <a:moveTo>
                    <a:pt x="0" y="0"/>
                  </a:moveTo>
                  <a:lnTo>
                    <a:pt x="88900" y="0"/>
                  </a:lnTo>
                  <a:moveTo>
                    <a:pt x="177800" y="0"/>
                  </a:moveTo>
                  <a:lnTo>
                    <a:pt x="266700" y="0"/>
                  </a:lnTo>
                  <a:moveTo>
                    <a:pt x="355600" y="0"/>
                  </a:moveTo>
                  <a:lnTo>
                    <a:pt x="444500" y="0"/>
                  </a:lnTo>
                  <a:moveTo>
                    <a:pt x="533400" y="0"/>
                  </a:moveTo>
                  <a:lnTo>
                    <a:pt x="622300" y="0"/>
                  </a:lnTo>
                  <a:moveTo>
                    <a:pt x="711200" y="0"/>
                  </a:moveTo>
                  <a:lnTo>
                    <a:pt x="800100" y="0"/>
                  </a:lnTo>
                  <a:moveTo>
                    <a:pt x="889000" y="0"/>
                  </a:moveTo>
                  <a:lnTo>
                    <a:pt x="977900" y="0"/>
                  </a:lnTo>
                  <a:moveTo>
                    <a:pt x="1066800" y="0"/>
                  </a:moveTo>
                  <a:lnTo>
                    <a:pt x="1155700" y="0"/>
                  </a:lnTo>
                  <a:moveTo>
                    <a:pt x="1244600" y="0"/>
                  </a:moveTo>
                  <a:lnTo>
                    <a:pt x="1333500" y="0"/>
                  </a:lnTo>
                  <a:moveTo>
                    <a:pt x="1422400" y="0"/>
                  </a:moveTo>
                  <a:lnTo>
                    <a:pt x="1511300" y="0"/>
                  </a:lnTo>
                  <a:moveTo>
                    <a:pt x="1600200" y="0"/>
                  </a:moveTo>
                  <a:lnTo>
                    <a:pt x="1689100" y="0"/>
                  </a:lnTo>
                  <a:moveTo>
                    <a:pt x="1778000" y="0"/>
                  </a:moveTo>
                  <a:lnTo>
                    <a:pt x="1866900" y="0"/>
                  </a:lnTo>
                  <a:moveTo>
                    <a:pt x="1955800" y="0"/>
                  </a:moveTo>
                  <a:lnTo>
                    <a:pt x="2044700" y="0"/>
                  </a:lnTo>
                  <a:moveTo>
                    <a:pt x="2133600" y="0"/>
                  </a:moveTo>
                  <a:lnTo>
                    <a:pt x="2222500" y="0"/>
                  </a:lnTo>
                </a:path>
              </a:pathLst>
            </a:custGeom>
            <a:ln w="19050">
              <a:solidFill>
                <a:srgbClr val="FFFFFF"/>
              </a:solidFill>
              <a:prstDash val="solid"/>
              <a:round/>
            </a:ln>
          </p:spPr>
        </p:sp>
        <p:sp>
          <p:nvSpPr>
            <p:cNvPr id="25" name="node08.branches.source-001.road"/>
            <p:cNvSpPr/>
            <p:nvPr/>
          </p:nvSpPr>
          <p:spPr>
            <a:xfrm>
              <a:off x="6790944" y="1193292"/>
              <a:ext cx="4499356" cy="1892808"/>
            </a:xfrm>
            <a:custGeom>
              <a:avLst/>
              <a:gdLst/>
              <a:ahLst/>
              <a:cxnLst/>
              <a:rect l="l" t="t" r="r" b="b"/>
              <a:pathLst>
                <a:path w="4499356" h="1892808">
                  <a:moveTo>
                    <a:pt x="0" y="1892808"/>
                  </a:moveTo>
                  <a:cubicBezTo>
                    <a:pt x="544422" y="1892808"/>
                    <a:pt x="445436" y="0"/>
                    <a:pt x="989858" y="0"/>
                  </a:cubicBezTo>
                  <a:lnTo>
                    <a:pt x="4499356" y="0"/>
                  </a:lnTo>
                </a:path>
              </a:pathLst>
            </a:custGeom>
            <a:ln w="228600">
              <a:solidFill>
                <a:srgbClr val="070154"/>
              </a:solidFill>
              <a:prstDash val="solid"/>
              <a:round/>
            </a:ln>
          </p:spPr>
        </p:sp>
        <p:sp>
          <p:nvSpPr>
            <p:cNvPr id="26" name="node08.branches.source-001.road.cap-1"/>
            <p:cNvSpPr/>
            <p:nvPr/>
          </p:nvSpPr>
          <p:spPr>
            <a:xfrm>
              <a:off x="6676644" y="2971800"/>
              <a:ext cx="228600" cy="228600"/>
            </a:xfrm>
            <a:prstGeom prst="ellipse">
              <a:avLst/>
            </a:prstGeom>
            <a:solidFill>
              <a:srgbClr val="070154"/>
            </a:solidFill>
            <a:ln>
              <a:noFill/>
            </a:ln>
          </p:spPr>
        </p:sp>
        <p:sp>
          <p:nvSpPr>
            <p:cNvPr id="27" name="node08.branches.source-001.road.cap-2"/>
            <p:cNvSpPr/>
            <p:nvPr/>
          </p:nvSpPr>
          <p:spPr>
            <a:xfrm>
              <a:off x="11176000" y="1078992"/>
              <a:ext cx="228600" cy="228600"/>
            </a:xfrm>
            <a:prstGeom prst="ellipse">
              <a:avLst/>
            </a:prstGeom>
            <a:solidFill>
              <a:srgbClr val="070154"/>
            </a:solidFill>
            <a:ln>
              <a:noFill/>
            </a:ln>
          </p:spPr>
        </p:sp>
        <p:sp>
          <p:nvSpPr>
            <p:cNvPr id="28" name="node08.branches.source-001.centerline"/>
            <p:cNvSpPr/>
            <p:nvPr/>
          </p:nvSpPr>
          <p:spPr>
            <a:xfrm>
              <a:off x="6790944" y="1193292"/>
              <a:ext cx="4499356" cy="1892808"/>
            </a:xfrm>
            <a:custGeom>
              <a:avLst/>
              <a:gdLst/>
              <a:ahLst/>
              <a:cxnLst/>
              <a:rect l="l" t="t" r="r" b="b"/>
              <a:pathLst>
                <a:path w="4499356" h="1892808">
                  <a:moveTo>
                    <a:pt x="0" y="1892808"/>
                  </a:moveTo>
                  <a:cubicBezTo>
                    <a:pt x="30831" y="1892808"/>
                    <a:pt x="59599" y="1886738"/>
                    <a:pt x="86537" y="1875285"/>
                  </a:cubicBezTo>
                  <a:moveTo>
                    <a:pt x="160583" y="1826840"/>
                  </a:moveTo>
                  <a:cubicBezTo>
                    <a:pt x="181295" y="1808105"/>
                    <a:pt x="200773" y="1785735"/>
                    <a:pt x="219173" y="1760197"/>
                  </a:cubicBezTo>
                  <a:moveTo>
                    <a:pt x="265935" y="1684664"/>
                  </a:moveTo>
                  <a:cubicBezTo>
                    <a:pt x="279386" y="1659702"/>
                    <a:pt x="292224" y="1632934"/>
                    <a:pt x="304532" y="1604608"/>
                  </a:cubicBezTo>
                  <a:moveTo>
                    <a:pt x="337450" y="1522040"/>
                  </a:moveTo>
                  <a:cubicBezTo>
                    <a:pt x="347401" y="1494974"/>
                    <a:pt x="357008" y="1466894"/>
                    <a:pt x="366326" y="1437967"/>
                  </a:cubicBezTo>
                  <a:moveTo>
                    <a:pt x="392275" y="1352942"/>
                  </a:moveTo>
                  <a:cubicBezTo>
                    <a:pt x="400401" y="1324936"/>
                    <a:pt x="408327" y="1296343"/>
                    <a:pt x="416098" y="1267294"/>
                  </a:cubicBezTo>
                  <a:moveTo>
                    <a:pt x="438398" y="1181237"/>
                  </a:moveTo>
                  <a:cubicBezTo>
                    <a:pt x="445577" y="1152730"/>
                    <a:pt x="452653" y="1123919"/>
                    <a:pt x="459664" y="1094918"/>
                  </a:cubicBezTo>
                  <a:moveTo>
                    <a:pt x="480306" y="1008448"/>
                  </a:moveTo>
                  <a:cubicBezTo>
                    <a:pt x="487115" y="979645"/>
                    <a:pt x="493899" y="950766"/>
                    <a:pt x="500693" y="921917"/>
                  </a:cubicBezTo>
                  <a:moveTo>
                    <a:pt x="521180" y="835410"/>
                  </a:moveTo>
                  <a:cubicBezTo>
                    <a:pt x="528103" y="806433"/>
                    <a:pt x="535072" y="777597"/>
                    <a:pt x="542128" y="749013"/>
                  </a:cubicBezTo>
                  <a:moveTo>
                    <a:pt x="563925" y="662827"/>
                  </a:moveTo>
                  <a:cubicBezTo>
                    <a:pt x="571476" y="633777"/>
                    <a:pt x="579161" y="605120"/>
                    <a:pt x="587021" y="576980"/>
                  </a:cubicBezTo>
                  <a:moveTo>
                    <a:pt x="611962" y="491653"/>
                  </a:moveTo>
                  <a:cubicBezTo>
                    <a:pt x="620854" y="462676"/>
                    <a:pt x="630000" y="434445"/>
                    <a:pt x="639453" y="407115"/>
                  </a:cubicBezTo>
                  <a:moveTo>
                    <a:pt x="670453" y="323804"/>
                  </a:moveTo>
                  <a:cubicBezTo>
                    <a:pt x="681928" y="295267"/>
                    <a:pt x="693864" y="268087"/>
                    <a:pt x="706338" y="242489"/>
                  </a:cubicBezTo>
                  <a:moveTo>
                    <a:pt x="749177" y="164641"/>
                  </a:moveTo>
                  <a:cubicBezTo>
                    <a:pt x="765863" y="138055"/>
                    <a:pt x="783464" y="114159"/>
                    <a:pt x="802115" y="93353"/>
                  </a:cubicBezTo>
                  <a:moveTo>
                    <a:pt x="869204" y="35459"/>
                  </a:moveTo>
                  <a:cubicBezTo>
                    <a:pt x="894787" y="19333"/>
                    <a:pt x="922125" y="8369"/>
                    <a:pt x="951457" y="3270"/>
                  </a:cubicBezTo>
                  <a:moveTo>
                    <a:pt x="1040171" y="0"/>
                  </a:moveTo>
                  <a:lnTo>
                    <a:pt x="1129071" y="0"/>
                  </a:lnTo>
                  <a:moveTo>
                    <a:pt x="1217971" y="0"/>
                  </a:moveTo>
                  <a:lnTo>
                    <a:pt x="1306871" y="0"/>
                  </a:lnTo>
                  <a:moveTo>
                    <a:pt x="1395771" y="0"/>
                  </a:moveTo>
                  <a:lnTo>
                    <a:pt x="1484671" y="0"/>
                  </a:lnTo>
                  <a:moveTo>
                    <a:pt x="1573571" y="0"/>
                  </a:moveTo>
                  <a:lnTo>
                    <a:pt x="1662471" y="0"/>
                  </a:lnTo>
                  <a:moveTo>
                    <a:pt x="1751371" y="0"/>
                  </a:moveTo>
                  <a:lnTo>
                    <a:pt x="1840271" y="0"/>
                  </a:lnTo>
                  <a:moveTo>
                    <a:pt x="1929171" y="0"/>
                  </a:moveTo>
                  <a:lnTo>
                    <a:pt x="2018071" y="0"/>
                  </a:lnTo>
                  <a:moveTo>
                    <a:pt x="2106971" y="0"/>
                  </a:moveTo>
                  <a:lnTo>
                    <a:pt x="2195871" y="0"/>
                  </a:lnTo>
                  <a:moveTo>
                    <a:pt x="2284771" y="0"/>
                  </a:moveTo>
                  <a:lnTo>
                    <a:pt x="2373671" y="0"/>
                  </a:lnTo>
                  <a:moveTo>
                    <a:pt x="2462571" y="0"/>
                  </a:moveTo>
                  <a:lnTo>
                    <a:pt x="2551471" y="0"/>
                  </a:lnTo>
                  <a:moveTo>
                    <a:pt x="2640371" y="0"/>
                  </a:moveTo>
                  <a:lnTo>
                    <a:pt x="2729271" y="0"/>
                  </a:lnTo>
                  <a:moveTo>
                    <a:pt x="2818171" y="0"/>
                  </a:moveTo>
                  <a:lnTo>
                    <a:pt x="2907071" y="0"/>
                  </a:lnTo>
                  <a:moveTo>
                    <a:pt x="2995971" y="0"/>
                  </a:moveTo>
                  <a:lnTo>
                    <a:pt x="3084871" y="0"/>
                  </a:lnTo>
                  <a:moveTo>
                    <a:pt x="3173771" y="0"/>
                  </a:moveTo>
                  <a:lnTo>
                    <a:pt x="3262671" y="0"/>
                  </a:lnTo>
                  <a:moveTo>
                    <a:pt x="3351571" y="0"/>
                  </a:moveTo>
                  <a:lnTo>
                    <a:pt x="3440471" y="0"/>
                  </a:lnTo>
                  <a:moveTo>
                    <a:pt x="3529371" y="0"/>
                  </a:moveTo>
                  <a:lnTo>
                    <a:pt x="3618271" y="0"/>
                  </a:lnTo>
                  <a:moveTo>
                    <a:pt x="3707171" y="0"/>
                  </a:moveTo>
                  <a:lnTo>
                    <a:pt x="3796071" y="0"/>
                  </a:lnTo>
                  <a:moveTo>
                    <a:pt x="3884971" y="0"/>
                  </a:moveTo>
                  <a:lnTo>
                    <a:pt x="3973871" y="0"/>
                  </a:lnTo>
                  <a:moveTo>
                    <a:pt x="4062771" y="0"/>
                  </a:moveTo>
                  <a:lnTo>
                    <a:pt x="4151671" y="0"/>
                  </a:lnTo>
                  <a:moveTo>
                    <a:pt x="4240571" y="0"/>
                  </a:moveTo>
                  <a:lnTo>
                    <a:pt x="4329471" y="0"/>
                  </a:lnTo>
                  <a:moveTo>
                    <a:pt x="4418371" y="0"/>
                  </a:moveTo>
                  <a:lnTo>
                    <a:pt x="4499356" y="0"/>
                  </a:lnTo>
                </a:path>
              </a:pathLst>
            </a:custGeom>
            <a:ln w="19050">
              <a:solidFill>
                <a:srgbClr val="FFFFFF"/>
              </a:solidFill>
              <a:prstDash val="solid"/>
              <a:round/>
            </a:ln>
          </p:spPr>
        </p:sp>
        <p:sp>
          <p:nvSpPr>
            <p:cNvPr id="29" name="node08.branches.source-002.road"/>
            <p:cNvSpPr/>
            <p:nvPr/>
          </p:nvSpPr>
          <p:spPr>
            <a:xfrm>
              <a:off x="6790944" y="2945892"/>
              <a:ext cx="4499356" cy="140208"/>
            </a:xfrm>
            <a:custGeom>
              <a:avLst/>
              <a:gdLst/>
              <a:ahLst/>
              <a:cxnLst/>
              <a:rect l="l" t="t" r="r" b="b"/>
              <a:pathLst>
                <a:path w="4499356" h="140208">
                  <a:moveTo>
                    <a:pt x="0" y="140208"/>
                  </a:moveTo>
                  <a:cubicBezTo>
                    <a:pt x="544422" y="140208"/>
                    <a:pt x="445436" y="0"/>
                    <a:pt x="989858" y="0"/>
                  </a:cubicBezTo>
                  <a:lnTo>
                    <a:pt x="4499356" y="0"/>
                  </a:lnTo>
                </a:path>
              </a:pathLst>
            </a:custGeom>
            <a:ln w="228600">
              <a:solidFill>
                <a:srgbClr val="070154"/>
              </a:solidFill>
              <a:prstDash val="solid"/>
              <a:round/>
            </a:ln>
          </p:spPr>
        </p:sp>
        <p:sp>
          <p:nvSpPr>
            <p:cNvPr id="30" name="node08.branches.source-002.road.cap-1"/>
            <p:cNvSpPr/>
            <p:nvPr/>
          </p:nvSpPr>
          <p:spPr>
            <a:xfrm>
              <a:off x="6676644" y="2971800"/>
              <a:ext cx="228600" cy="228600"/>
            </a:xfrm>
            <a:prstGeom prst="ellipse">
              <a:avLst/>
            </a:prstGeom>
            <a:solidFill>
              <a:srgbClr val="070154"/>
            </a:solidFill>
            <a:ln>
              <a:noFill/>
            </a:ln>
          </p:spPr>
        </p:sp>
        <p:sp>
          <p:nvSpPr>
            <p:cNvPr id="31" name="node08.branches.source-002.road.cap-2"/>
            <p:cNvSpPr/>
            <p:nvPr/>
          </p:nvSpPr>
          <p:spPr>
            <a:xfrm>
              <a:off x="11176000" y="2831592"/>
              <a:ext cx="228600" cy="228600"/>
            </a:xfrm>
            <a:prstGeom prst="ellipse">
              <a:avLst/>
            </a:prstGeom>
            <a:solidFill>
              <a:srgbClr val="070154"/>
            </a:solidFill>
            <a:ln>
              <a:noFill/>
            </a:ln>
          </p:spPr>
        </p:sp>
        <p:sp>
          <p:nvSpPr>
            <p:cNvPr id="32" name="node08.branches.source-002.centerline"/>
            <p:cNvSpPr/>
            <p:nvPr/>
          </p:nvSpPr>
          <p:spPr>
            <a:xfrm>
              <a:off x="6790944" y="2945892"/>
              <a:ext cx="4499356" cy="140208"/>
            </a:xfrm>
            <a:custGeom>
              <a:avLst/>
              <a:gdLst/>
              <a:ahLst/>
              <a:cxnLst/>
              <a:rect l="l" t="t" r="r" b="b"/>
              <a:pathLst>
                <a:path w="4499356" h="140208">
                  <a:moveTo>
                    <a:pt x="0" y="140208"/>
                  </a:moveTo>
                  <a:cubicBezTo>
                    <a:pt x="31729" y="140208"/>
                    <a:pt x="61273" y="139732"/>
                    <a:pt x="88886" y="138835"/>
                  </a:cubicBezTo>
                  <a:moveTo>
                    <a:pt x="177653" y="134096"/>
                  </a:moveTo>
                  <a:cubicBezTo>
                    <a:pt x="210001" y="131617"/>
                    <a:pt x="239244" y="128461"/>
                    <a:pt x="266049" y="124774"/>
                  </a:cubicBezTo>
                  <a:moveTo>
                    <a:pt x="353581" y="109366"/>
                  </a:moveTo>
                  <a:cubicBezTo>
                    <a:pt x="384969" y="102545"/>
                    <a:pt x="412999" y="94992"/>
                    <a:pt x="439635" y="87135"/>
                  </a:cubicBezTo>
                  <a:moveTo>
                    <a:pt x="524555" y="60838"/>
                  </a:moveTo>
                  <a:cubicBezTo>
                    <a:pt x="551532" y="52507"/>
                    <a:pt x="579325" y="44353"/>
                    <a:pt x="610145" y="36859"/>
                  </a:cubicBezTo>
                  <a:moveTo>
                    <a:pt x="697283" y="19374"/>
                  </a:moveTo>
                  <a:cubicBezTo>
                    <a:pt x="723949" y="15112"/>
                    <a:pt x="753087" y="11388"/>
                    <a:pt x="785484" y="8375"/>
                  </a:cubicBezTo>
                  <a:moveTo>
                    <a:pt x="874174" y="2400"/>
                  </a:moveTo>
                  <a:cubicBezTo>
                    <a:pt x="901688" y="1180"/>
                    <a:pt x="931213" y="398"/>
                    <a:pt x="963040" y="117"/>
                  </a:cubicBezTo>
                  <a:moveTo>
                    <a:pt x="1051941" y="0"/>
                  </a:moveTo>
                  <a:lnTo>
                    <a:pt x="1140841" y="0"/>
                  </a:lnTo>
                  <a:moveTo>
                    <a:pt x="1229741" y="0"/>
                  </a:moveTo>
                  <a:lnTo>
                    <a:pt x="1318641" y="0"/>
                  </a:lnTo>
                  <a:moveTo>
                    <a:pt x="1407541" y="0"/>
                  </a:moveTo>
                  <a:lnTo>
                    <a:pt x="1496441" y="0"/>
                  </a:lnTo>
                  <a:moveTo>
                    <a:pt x="1585341" y="0"/>
                  </a:moveTo>
                  <a:lnTo>
                    <a:pt x="1674241" y="0"/>
                  </a:lnTo>
                  <a:moveTo>
                    <a:pt x="1763141" y="0"/>
                  </a:moveTo>
                  <a:lnTo>
                    <a:pt x="1852041" y="0"/>
                  </a:lnTo>
                  <a:moveTo>
                    <a:pt x="1940941" y="0"/>
                  </a:moveTo>
                  <a:lnTo>
                    <a:pt x="2029841" y="0"/>
                  </a:lnTo>
                  <a:moveTo>
                    <a:pt x="2118741" y="0"/>
                  </a:moveTo>
                  <a:lnTo>
                    <a:pt x="2207641" y="0"/>
                  </a:lnTo>
                  <a:moveTo>
                    <a:pt x="2296541" y="0"/>
                  </a:moveTo>
                  <a:lnTo>
                    <a:pt x="2385441" y="0"/>
                  </a:lnTo>
                  <a:moveTo>
                    <a:pt x="2474341" y="0"/>
                  </a:moveTo>
                  <a:lnTo>
                    <a:pt x="2563241" y="0"/>
                  </a:lnTo>
                  <a:moveTo>
                    <a:pt x="2652141" y="0"/>
                  </a:moveTo>
                  <a:lnTo>
                    <a:pt x="2741041" y="0"/>
                  </a:lnTo>
                  <a:moveTo>
                    <a:pt x="2829941" y="0"/>
                  </a:moveTo>
                  <a:lnTo>
                    <a:pt x="2918841" y="0"/>
                  </a:lnTo>
                  <a:moveTo>
                    <a:pt x="3007741" y="0"/>
                  </a:moveTo>
                  <a:lnTo>
                    <a:pt x="3096641" y="0"/>
                  </a:lnTo>
                  <a:moveTo>
                    <a:pt x="3185541" y="0"/>
                  </a:moveTo>
                  <a:lnTo>
                    <a:pt x="3274441" y="0"/>
                  </a:lnTo>
                  <a:moveTo>
                    <a:pt x="3363341" y="0"/>
                  </a:moveTo>
                  <a:lnTo>
                    <a:pt x="3452241" y="0"/>
                  </a:lnTo>
                  <a:moveTo>
                    <a:pt x="3541141" y="0"/>
                  </a:moveTo>
                  <a:lnTo>
                    <a:pt x="3630041" y="0"/>
                  </a:lnTo>
                  <a:moveTo>
                    <a:pt x="3718941" y="0"/>
                  </a:moveTo>
                  <a:lnTo>
                    <a:pt x="3807841" y="0"/>
                  </a:lnTo>
                  <a:moveTo>
                    <a:pt x="3896741" y="0"/>
                  </a:moveTo>
                  <a:lnTo>
                    <a:pt x="3985641" y="0"/>
                  </a:lnTo>
                  <a:moveTo>
                    <a:pt x="4074541" y="0"/>
                  </a:moveTo>
                  <a:lnTo>
                    <a:pt x="4163441" y="0"/>
                  </a:lnTo>
                  <a:moveTo>
                    <a:pt x="4252341" y="0"/>
                  </a:moveTo>
                  <a:lnTo>
                    <a:pt x="4341241" y="0"/>
                  </a:lnTo>
                  <a:moveTo>
                    <a:pt x="4430141" y="0"/>
                  </a:moveTo>
                  <a:lnTo>
                    <a:pt x="4499356" y="0"/>
                  </a:lnTo>
                </a:path>
              </a:pathLst>
            </a:custGeom>
            <a:ln w="19050">
              <a:solidFill>
                <a:srgbClr val="FFFFFF"/>
              </a:solidFill>
              <a:prstDash val="solid"/>
              <a:round/>
            </a:ln>
          </p:spPr>
        </p:sp>
        <p:sp>
          <p:nvSpPr>
            <p:cNvPr id="33" name="node08.branches.source-003.road"/>
            <p:cNvSpPr/>
            <p:nvPr/>
          </p:nvSpPr>
          <p:spPr>
            <a:xfrm>
              <a:off x="6790944" y="3086100"/>
              <a:ext cx="4499356" cy="1612392"/>
            </a:xfrm>
            <a:custGeom>
              <a:avLst/>
              <a:gdLst/>
              <a:ahLst/>
              <a:cxnLst/>
              <a:rect l="l" t="t" r="r" b="b"/>
              <a:pathLst>
                <a:path w="4499356" h="1612392">
                  <a:moveTo>
                    <a:pt x="0" y="0"/>
                  </a:moveTo>
                  <a:cubicBezTo>
                    <a:pt x="544422" y="0"/>
                    <a:pt x="445436" y="1612392"/>
                    <a:pt x="989858" y="1612392"/>
                  </a:cubicBezTo>
                  <a:lnTo>
                    <a:pt x="4499356" y="1612392"/>
                  </a:lnTo>
                </a:path>
              </a:pathLst>
            </a:custGeom>
            <a:ln w="228600">
              <a:solidFill>
                <a:srgbClr val="070154"/>
              </a:solidFill>
              <a:prstDash val="solid"/>
              <a:round/>
            </a:ln>
          </p:spPr>
        </p:sp>
        <p:sp>
          <p:nvSpPr>
            <p:cNvPr id="34" name="node08.branches.source-003.road.cap-1"/>
            <p:cNvSpPr/>
            <p:nvPr/>
          </p:nvSpPr>
          <p:spPr>
            <a:xfrm>
              <a:off x="6676644" y="2971800"/>
              <a:ext cx="228600" cy="228600"/>
            </a:xfrm>
            <a:prstGeom prst="ellipse">
              <a:avLst/>
            </a:prstGeom>
            <a:solidFill>
              <a:srgbClr val="070154"/>
            </a:solidFill>
            <a:ln>
              <a:noFill/>
            </a:ln>
          </p:spPr>
        </p:sp>
        <p:sp>
          <p:nvSpPr>
            <p:cNvPr id="35" name="node08.branches.source-003.road.cap-2"/>
            <p:cNvSpPr/>
            <p:nvPr/>
          </p:nvSpPr>
          <p:spPr>
            <a:xfrm>
              <a:off x="11176000" y="4584192"/>
              <a:ext cx="228600" cy="228600"/>
            </a:xfrm>
            <a:prstGeom prst="ellipse">
              <a:avLst/>
            </a:prstGeom>
            <a:solidFill>
              <a:srgbClr val="070154"/>
            </a:solidFill>
            <a:ln>
              <a:noFill/>
            </a:ln>
          </p:spPr>
        </p:sp>
        <p:sp>
          <p:nvSpPr>
            <p:cNvPr id="36" name="node08.branches.source-003.centerline"/>
            <p:cNvSpPr/>
            <p:nvPr/>
          </p:nvSpPr>
          <p:spPr>
            <a:xfrm>
              <a:off x="6790944" y="3086100"/>
              <a:ext cx="4499356" cy="1612392"/>
            </a:xfrm>
            <a:custGeom>
              <a:avLst/>
              <a:gdLst/>
              <a:ahLst/>
              <a:cxnLst/>
              <a:rect l="l" t="t" r="r" b="b"/>
              <a:pathLst>
                <a:path w="4499356" h="1612392">
                  <a:moveTo>
                    <a:pt x="0" y="0"/>
                  </a:moveTo>
                  <a:cubicBezTo>
                    <a:pt x="31060" y="0"/>
                    <a:pt x="60025" y="5248"/>
                    <a:pt x="87135" y="15145"/>
                  </a:cubicBezTo>
                  <a:moveTo>
                    <a:pt x="164070" y="58920"/>
                  </a:moveTo>
                  <a:cubicBezTo>
                    <a:pt x="186258" y="76506"/>
                    <a:pt x="207018" y="97666"/>
                    <a:pt x="226552" y="121903"/>
                  </a:cubicBezTo>
                  <a:moveTo>
                    <a:pt x="276848" y="195117"/>
                  </a:moveTo>
                  <a:cubicBezTo>
                    <a:pt x="291381" y="219583"/>
                    <a:pt x="305189" y="245867"/>
                    <a:pt x="318387" y="273680"/>
                  </a:cubicBezTo>
                  <a:moveTo>
                    <a:pt x="353793" y="355209"/>
                  </a:moveTo>
                  <a:cubicBezTo>
                    <a:pt x="364523" y="382050"/>
                    <a:pt x="374860" y="409876"/>
                    <a:pt x="384884" y="438487"/>
                  </a:cubicBezTo>
                  <a:moveTo>
                    <a:pt x="412941" y="522841"/>
                  </a:moveTo>
                  <a:cubicBezTo>
                    <a:pt x="421780" y="550717"/>
                    <a:pt x="430414" y="579111"/>
                    <a:pt x="438904" y="607864"/>
                  </a:cubicBezTo>
                  <a:moveTo>
                    <a:pt x="463514" y="693289"/>
                  </a:moveTo>
                  <a:cubicBezTo>
                    <a:pt x="471530" y="721691"/>
                    <a:pt x="479470" y="750284"/>
                    <a:pt x="487392" y="778923"/>
                  </a:cubicBezTo>
                  <a:moveTo>
                    <a:pt x="511096" y="864604"/>
                  </a:moveTo>
                  <a:cubicBezTo>
                    <a:pt x="519062" y="893278"/>
                    <a:pt x="527069" y="921852"/>
                    <a:pt x="535173" y="950182"/>
                  </a:cubicBezTo>
                  <a:moveTo>
                    <a:pt x="560198" y="1035486"/>
                  </a:moveTo>
                  <a:cubicBezTo>
                    <a:pt x="568883" y="1064237"/>
                    <a:pt x="577738" y="1092563"/>
                    <a:pt x="586828" y="1120302"/>
                  </a:cubicBezTo>
                  <a:moveTo>
                    <a:pt x="615864" y="1204322"/>
                  </a:moveTo>
                  <a:cubicBezTo>
                    <a:pt x="626311" y="1232861"/>
                    <a:pt x="637113" y="1260510"/>
                    <a:pt x="648353" y="1287063"/>
                  </a:cubicBezTo>
                  <a:moveTo>
                    <a:pt x="685740" y="1367697"/>
                  </a:moveTo>
                  <a:cubicBezTo>
                    <a:pt x="699797" y="1395196"/>
                    <a:pt x="714545" y="1420964"/>
                    <a:pt x="730108" y="1444686"/>
                  </a:cubicBezTo>
                  <a:moveTo>
                    <a:pt x="784418" y="1514938"/>
                  </a:moveTo>
                  <a:cubicBezTo>
                    <a:pt x="805520" y="1537678"/>
                    <a:pt x="828009" y="1556945"/>
                    <a:pt x="852101" y="1572192"/>
                  </a:cubicBezTo>
                  <a:moveTo>
                    <a:pt x="933707" y="1606319"/>
                  </a:moveTo>
                  <a:cubicBezTo>
                    <a:pt x="951636" y="1610318"/>
                    <a:pt x="970333" y="1612392"/>
                    <a:pt x="989858" y="1612392"/>
                  </a:cubicBezTo>
                  <a:lnTo>
                    <a:pt x="1022167" y="1612392"/>
                  </a:lnTo>
                  <a:moveTo>
                    <a:pt x="1111067" y="1612392"/>
                  </a:moveTo>
                  <a:lnTo>
                    <a:pt x="1199967" y="1612392"/>
                  </a:lnTo>
                  <a:moveTo>
                    <a:pt x="1288867" y="1612392"/>
                  </a:moveTo>
                  <a:lnTo>
                    <a:pt x="1377767" y="1612392"/>
                  </a:lnTo>
                  <a:moveTo>
                    <a:pt x="1466667" y="1612392"/>
                  </a:moveTo>
                  <a:lnTo>
                    <a:pt x="1555567" y="1612392"/>
                  </a:lnTo>
                  <a:moveTo>
                    <a:pt x="1644467" y="1612392"/>
                  </a:moveTo>
                  <a:lnTo>
                    <a:pt x="1733367" y="1612392"/>
                  </a:lnTo>
                  <a:moveTo>
                    <a:pt x="1822267" y="1612392"/>
                  </a:moveTo>
                  <a:lnTo>
                    <a:pt x="1911167" y="1612392"/>
                  </a:lnTo>
                  <a:moveTo>
                    <a:pt x="2000067" y="1612392"/>
                  </a:moveTo>
                  <a:lnTo>
                    <a:pt x="2088967" y="1612392"/>
                  </a:lnTo>
                  <a:moveTo>
                    <a:pt x="2177867" y="1612392"/>
                  </a:moveTo>
                  <a:lnTo>
                    <a:pt x="2266767" y="1612392"/>
                  </a:lnTo>
                  <a:moveTo>
                    <a:pt x="2355667" y="1612392"/>
                  </a:moveTo>
                  <a:lnTo>
                    <a:pt x="2444567" y="1612392"/>
                  </a:lnTo>
                  <a:moveTo>
                    <a:pt x="2533467" y="1612392"/>
                  </a:moveTo>
                  <a:lnTo>
                    <a:pt x="2622367" y="1612392"/>
                  </a:lnTo>
                  <a:moveTo>
                    <a:pt x="2711267" y="1612392"/>
                  </a:moveTo>
                  <a:lnTo>
                    <a:pt x="2800167" y="1612392"/>
                  </a:lnTo>
                  <a:moveTo>
                    <a:pt x="2889067" y="1612392"/>
                  </a:moveTo>
                  <a:lnTo>
                    <a:pt x="2977967" y="1612392"/>
                  </a:lnTo>
                  <a:moveTo>
                    <a:pt x="3066867" y="1612392"/>
                  </a:moveTo>
                  <a:lnTo>
                    <a:pt x="3155767" y="1612392"/>
                  </a:lnTo>
                  <a:moveTo>
                    <a:pt x="3244667" y="1612392"/>
                  </a:moveTo>
                  <a:lnTo>
                    <a:pt x="3333567" y="1612392"/>
                  </a:lnTo>
                  <a:moveTo>
                    <a:pt x="3422467" y="1612392"/>
                  </a:moveTo>
                  <a:lnTo>
                    <a:pt x="3511367" y="1612392"/>
                  </a:lnTo>
                  <a:moveTo>
                    <a:pt x="3600267" y="1612392"/>
                  </a:moveTo>
                  <a:lnTo>
                    <a:pt x="3689167" y="1612392"/>
                  </a:lnTo>
                  <a:moveTo>
                    <a:pt x="3778067" y="1612392"/>
                  </a:moveTo>
                  <a:lnTo>
                    <a:pt x="3866967" y="1612392"/>
                  </a:lnTo>
                  <a:moveTo>
                    <a:pt x="3955867" y="1612392"/>
                  </a:moveTo>
                  <a:lnTo>
                    <a:pt x="4044767" y="1612392"/>
                  </a:lnTo>
                  <a:moveTo>
                    <a:pt x="4133667" y="1612392"/>
                  </a:moveTo>
                  <a:lnTo>
                    <a:pt x="4222567" y="1612392"/>
                  </a:lnTo>
                  <a:moveTo>
                    <a:pt x="4311467" y="1612392"/>
                  </a:moveTo>
                  <a:lnTo>
                    <a:pt x="4400367" y="1612392"/>
                  </a:lnTo>
                  <a:moveTo>
                    <a:pt x="4489267" y="1612392"/>
                  </a:moveTo>
                  <a:lnTo>
                    <a:pt x="4499356" y="1612392"/>
                  </a:lnTo>
                </a:path>
              </a:pathLst>
            </a:custGeom>
            <a:ln w="19050">
              <a:solidFill>
                <a:srgbClr val="FFFFFF"/>
              </a:solidFill>
              <a:prstDash val="solid"/>
              <a:round/>
            </a:ln>
          </p:spPr>
        </p:sp>
        <p:sp>
          <p:nvSpPr>
            <p:cNvPr id="37" name="node08.trunk.source-001.pin"/>
            <p:cNvSpPr/>
            <p:nvPr/>
          </p:nvSpPr>
          <p:spPr>
            <a:xfrm>
              <a:off x="5107686" y="2943225"/>
              <a:ext cx="285750" cy="285750"/>
            </a:xfrm>
            <a:prstGeom prst="ellipse">
              <a:avLst/>
            </a:prstGeom>
            <a:solidFill>
              <a:srgbClr val="FFFFFF"/>
            </a:solidFill>
            <a:ln w="19050">
              <a:solidFill>
                <a:srgbClr val="070154"/>
              </a:solidFill>
              <a:prstDash val="solid"/>
            </a:ln>
          </p:spPr>
        </p:sp>
        <p:sp>
          <p:nvSpPr>
            <p:cNvPr id="38" name="node08.trunk.source-001.number"/>
            <p:cNvSpPr/>
            <p:nvPr/>
          </p:nvSpPr>
          <p:spPr>
            <a:xfrm>
              <a:off x="5098161" y="29337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1</a:t>
              </a:r>
              <a:endParaRPr lang="en-US" sz="1000" spc="0" kern="0" b="0" i="0" dirty="0">
                <a:solidFill>
                  <a:srgbClr val="070154"/>
                </a:solidFill>
                <a:latin typeface="IBM Plex Mono SemiBold"/>
                <a:ea typeface="IBM Plex Mono SemiBold"/>
                <a:cs typeface="IBM Plex Mono SemiBold"/>
              </a:endParaRPr>
            </a:p>
          </p:txBody>
        </p:sp>
        <p:sp>
          <p:nvSpPr>
            <p:cNvPr id="39" name="node08.trunk.source-001.label.part-1"/>
            <p:cNvSpPr/>
            <p:nvPr/>
          </p:nvSpPr>
          <p:spPr>
            <a:xfrm>
              <a:off x="4838700" y="2143760"/>
              <a:ext cx="823722"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Q4 2026</a:t>
              </a:r>
              <a:endParaRPr lang="en-US" sz="800" spc="48" kern="0" b="0" i="0" dirty="0">
                <a:solidFill>
                  <a:srgbClr val="0047FF"/>
                </a:solidFill>
                <a:latin typeface="IBM Plex Mono SemiBold"/>
                <a:ea typeface="IBM Plex Mono SemiBold"/>
                <a:cs typeface="IBM Plex Mono SemiBold"/>
              </a:endParaRPr>
            </a:p>
          </p:txBody>
        </p:sp>
        <p:sp>
          <p:nvSpPr>
            <p:cNvPr id="40" name="node08.trunk.source-001.label.part-2"/>
            <p:cNvSpPr/>
            <p:nvPr/>
          </p:nvSpPr>
          <p:spPr>
            <a:xfrm>
              <a:off x="4838700" y="2308860"/>
              <a:ext cx="823722" cy="167640"/>
            </a:xfrm>
            <a:prstGeom prst="rect">
              <a:avLst/>
            </a:prstGeom>
            <a:noFill/>
            <a:ln/>
          </p:spPr>
          <p:txBody>
            <a:bodyPr wrap="square" lIns="0" tIns="0" rIns="0" bIns="0" rtlCol="0" anchor="t"/>
            <a:lstStyle/>
            <a:p>
              <a:pPr algn="ctr" indent="0" marL="0">
                <a:lnSpc>
                  <a:spcPts val="1320"/>
                </a:lnSpc>
                <a:buNone/>
              </a:pPr>
              <a:r>
                <a:rPr lang="en-US" sz="1100" spc="0" kern="0" b="0" i="0" dirty="0">
                  <a:solidFill>
                    <a:srgbClr val="070154"/>
                  </a:solidFill>
                  <a:latin typeface="IBM Plex Sans SemiBold"/>
                  <a:ea typeface="IBM Plex Sans SemiBold"/>
                  <a:cs typeface="IBM Plex Sans SemiBold"/>
                </a:rPr>
                <a:t>Data</a:t>
              </a:r>
              <a:endParaRPr lang="en-US" sz="1100" spc="0" kern="0" b="0" i="0" dirty="0">
                <a:solidFill>
                  <a:srgbClr val="070154"/>
                </a:solidFill>
                <a:latin typeface="IBM Plex Sans SemiBold"/>
                <a:ea typeface="IBM Plex Sans SemiBold"/>
                <a:cs typeface="IBM Plex Sans SemiBold"/>
              </a:endParaRPr>
            </a:p>
          </p:txBody>
        </p:sp>
        <p:sp>
          <p:nvSpPr>
            <p:cNvPr id="41" name="node08.trunk.source-001.label.part-3"/>
            <p:cNvSpPr/>
            <p:nvPr/>
          </p:nvSpPr>
          <p:spPr>
            <a:xfrm>
              <a:off x="4838700" y="2501900"/>
              <a:ext cx="823722" cy="355600"/>
            </a:xfrm>
            <a:prstGeom prst="rect">
              <a:avLst/>
            </a:prstGeom>
            <a:noFill/>
            <a:ln/>
          </p:spPr>
          <p:txBody>
            <a:bodyPr wrap="square" lIns="0" tIns="0" rIns="0" bIns="0" rtlCol="0" anchor="t"/>
            <a:lstStyle/>
            <a:p>
              <a:pPr algn="ctr" indent="0" marL="0">
                <a:lnSpc>
                  <a:spcPts val="1375"/>
                </a:lnSpc>
                <a:buNone/>
              </a:pPr>
              <a:r>
                <a:rPr lang="en-US" sz="1100" spc="0" kern="0" b="0" i="0" dirty="0">
                  <a:solidFill>
                    <a:srgbClr val="070154"/>
                  </a:solidFill>
                  <a:latin typeface="IBM Plex Sans"/>
                  <a:ea typeface="IBM Plex Sans"/>
                  <a:cs typeface="IBM Plex Sans"/>
                </a:rPr>
                <a:t>Patient index.</a:t>
              </a:r>
              <a:endParaRPr lang="en-US" sz="1100" spc="0" kern="0" b="0" i="0" dirty="0">
                <a:solidFill>
                  <a:srgbClr val="070154"/>
                </a:solidFill>
                <a:latin typeface="IBM Plex Sans"/>
                <a:ea typeface="IBM Plex Sans"/>
                <a:cs typeface="IBM Plex Sans"/>
              </a:endParaRPr>
            </a:p>
          </p:txBody>
        </p:sp>
        <p:sp>
          <p:nvSpPr>
            <p:cNvPr id="42" name="node08.trunk.source-002.pin"/>
            <p:cNvSpPr/>
            <p:nvPr/>
          </p:nvSpPr>
          <p:spPr>
            <a:xfrm>
              <a:off x="6033008" y="2943225"/>
              <a:ext cx="285750" cy="285750"/>
            </a:xfrm>
            <a:prstGeom prst="ellipse">
              <a:avLst/>
            </a:prstGeom>
            <a:solidFill>
              <a:srgbClr val="FFFFFF"/>
            </a:solidFill>
            <a:ln w="19050">
              <a:solidFill>
                <a:srgbClr val="070154"/>
              </a:solidFill>
              <a:prstDash val="solid"/>
            </a:ln>
          </p:spPr>
        </p:sp>
        <p:sp>
          <p:nvSpPr>
            <p:cNvPr id="43" name="node08.trunk.source-002.number"/>
            <p:cNvSpPr/>
            <p:nvPr/>
          </p:nvSpPr>
          <p:spPr>
            <a:xfrm>
              <a:off x="6023483" y="29337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2</a:t>
              </a:r>
              <a:endParaRPr lang="en-US" sz="1000" spc="0" kern="0" b="0" i="0" dirty="0">
                <a:solidFill>
                  <a:srgbClr val="070154"/>
                </a:solidFill>
                <a:latin typeface="IBM Plex Mono SemiBold"/>
                <a:ea typeface="IBM Plex Mono SemiBold"/>
                <a:cs typeface="IBM Plex Mono SemiBold"/>
              </a:endParaRPr>
            </a:p>
          </p:txBody>
        </p:sp>
        <p:sp>
          <p:nvSpPr>
            <p:cNvPr id="44" name="node08.trunk.source-002.label.part-1"/>
            <p:cNvSpPr/>
            <p:nvPr/>
          </p:nvSpPr>
          <p:spPr>
            <a:xfrm>
              <a:off x="5764022" y="3314700"/>
              <a:ext cx="823722"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Q1 2027</a:t>
              </a:r>
              <a:endParaRPr lang="en-US" sz="800" spc="48" kern="0" b="0" i="0" dirty="0">
                <a:solidFill>
                  <a:srgbClr val="0047FF"/>
                </a:solidFill>
                <a:latin typeface="IBM Plex Mono SemiBold"/>
                <a:ea typeface="IBM Plex Mono SemiBold"/>
                <a:cs typeface="IBM Plex Mono SemiBold"/>
              </a:endParaRPr>
            </a:p>
          </p:txBody>
        </p:sp>
        <p:sp>
          <p:nvSpPr>
            <p:cNvPr id="45" name="node08.trunk.source-002.label.part-2"/>
            <p:cNvSpPr/>
            <p:nvPr/>
          </p:nvSpPr>
          <p:spPr>
            <a:xfrm>
              <a:off x="5764022" y="3479800"/>
              <a:ext cx="823722" cy="167640"/>
            </a:xfrm>
            <a:prstGeom prst="rect">
              <a:avLst/>
            </a:prstGeom>
            <a:noFill/>
            <a:ln/>
          </p:spPr>
          <p:txBody>
            <a:bodyPr wrap="square" lIns="0" tIns="0" rIns="0" bIns="0" rtlCol="0" anchor="t"/>
            <a:lstStyle/>
            <a:p>
              <a:pPr algn="ctr" indent="0" marL="0">
                <a:lnSpc>
                  <a:spcPts val="1320"/>
                </a:lnSpc>
                <a:buNone/>
              </a:pPr>
              <a:r>
                <a:rPr lang="en-US" sz="1100" spc="0" kern="0" b="0" i="0" dirty="0">
                  <a:solidFill>
                    <a:srgbClr val="070154"/>
                  </a:solidFill>
                  <a:latin typeface="IBM Plex Sans SemiBold"/>
                  <a:ea typeface="IBM Plex Sans SemiBold"/>
                  <a:cs typeface="IBM Plex Sans SemiBold"/>
                </a:rPr>
                <a:t>Sign-in</a:t>
              </a:r>
              <a:endParaRPr lang="en-US" sz="1100" spc="0" kern="0" b="0" i="0" dirty="0">
                <a:solidFill>
                  <a:srgbClr val="070154"/>
                </a:solidFill>
                <a:latin typeface="IBM Plex Sans SemiBold"/>
                <a:ea typeface="IBM Plex Sans SemiBold"/>
                <a:cs typeface="IBM Plex Sans SemiBold"/>
              </a:endParaRPr>
            </a:p>
          </p:txBody>
        </p:sp>
        <p:sp>
          <p:nvSpPr>
            <p:cNvPr id="46" name="node08.trunk.source-002.label.part-3"/>
            <p:cNvSpPr/>
            <p:nvPr/>
          </p:nvSpPr>
          <p:spPr>
            <a:xfrm>
              <a:off x="5764022" y="3672840"/>
              <a:ext cx="823722" cy="177800"/>
            </a:xfrm>
            <a:prstGeom prst="rect">
              <a:avLst/>
            </a:prstGeom>
            <a:noFill/>
            <a:ln/>
          </p:spPr>
          <p:txBody>
            <a:bodyPr wrap="square" lIns="0" tIns="0" rIns="0" bIns="0" rtlCol="0" anchor="t"/>
            <a:lstStyle/>
            <a:p>
              <a:pPr algn="ctr" indent="0" marL="0">
                <a:lnSpc>
                  <a:spcPts val="1375"/>
                </a:lnSpc>
                <a:buNone/>
              </a:pPr>
              <a:r>
                <a:rPr lang="en-US" sz="1100" spc="0" kern="0" b="0" i="0" dirty="0">
                  <a:solidFill>
                    <a:srgbClr val="070154"/>
                  </a:solidFill>
                  <a:latin typeface="IBM Plex Sans"/>
                  <a:ea typeface="IBM Plex Sans"/>
                  <a:cs typeface="IBM Plex Sans"/>
                </a:rPr>
                <a:t>One ID.</a:t>
              </a:r>
              <a:endParaRPr lang="en-US" sz="1100" spc="0" kern="0" b="0" i="0" dirty="0">
                <a:solidFill>
                  <a:srgbClr val="070154"/>
                </a:solidFill>
                <a:latin typeface="IBM Plex Sans"/>
                <a:ea typeface="IBM Plex Sans"/>
                <a:cs typeface="IBM Plex Sans"/>
              </a:endParaRPr>
            </a:p>
          </p:txBody>
        </p:sp>
        <p:sp>
          <p:nvSpPr>
            <p:cNvPr id="47" name="node08.fork.split"/>
            <p:cNvSpPr/>
            <p:nvPr/>
          </p:nvSpPr>
          <p:spPr>
            <a:xfrm>
              <a:off x="6651244" y="2946400"/>
              <a:ext cx="279400" cy="279400"/>
            </a:xfrm>
            <a:prstGeom prst="rect">
              <a:avLst/>
            </a:prstGeom>
            <a:solidFill>
              <a:srgbClr val="070154"/>
            </a:solidFill>
            <a:ln w="38100">
              <a:solidFill>
                <a:srgbClr val="070154"/>
              </a:solidFill>
              <a:prstDash val="solid"/>
            </a:ln>
          </p:spPr>
        </p:sp>
        <p:sp>
          <p:nvSpPr>
            <p:cNvPr id="48" name="node08.fork.split.inset"/>
            <p:cNvSpPr/>
            <p:nvPr/>
          </p:nvSpPr>
          <p:spPr>
            <a:xfrm>
              <a:off x="6670294" y="2965450"/>
              <a:ext cx="241300" cy="241300"/>
            </a:xfrm>
            <a:prstGeom prst="rect">
              <a:avLst/>
            </a:prstGeom>
            <a:solidFill>
              <a:srgbClr val="070154"/>
            </a:solidFill>
            <a:ln w="38100">
              <a:solidFill>
                <a:srgbClr val="FFFFFF"/>
              </a:solidFill>
              <a:prstDash val="solid"/>
            </a:ln>
          </p:spPr>
        </p:sp>
        <p:sp>
          <p:nvSpPr>
            <p:cNvPr id="49" name="node08.fork.label.part-1"/>
            <p:cNvSpPr/>
            <p:nvPr/>
          </p:nvSpPr>
          <p:spPr>
            <a:xfrm>
              <a:off x="6257544" y="457200"/>
              <a:ext cx="1066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PARALLEL</a:t>
              </a:r>
              <a:endParaRPr lang="en-US" sz="800" spc="48" kern="0" b="0" i="0" dirty="0">
                <a:solidFill>
                  <a:srgbClr val="0047FF"/>
                </a:solidFill>
                <a:latin typeface="IBM Plex Mono SemiBold"/>
                <a:ea typeface="IBM Plex Mono SemiBold"/>
                <a:cs typeface="IBM Plex Mono SemiBold"/>
              </a:endParaRPr>
            </a:p>
          </p:txBody>
        </p:sp>
        <p:sp>
          <p:nvSpPr>
            <p:cNvPr id="50" name="node08.fork.label.part-2"/>
            <p:cNvSpPr/>
            <p:nvPr/>
          </p:nvSpPr>
          <p:spPr>
            <a:xfrm>
              <a:off x="6257544" y="622300"/>
              <a:ext cx="1066800" cy="36576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Foundation done</a:t>
              </a:r>
              <a:endParaRPr lang="en-US" sz="1200" spc="0" kern="0" b="0" i="0" dirty="0">
                <a:solidFill>
                  <a:srgbClr val="070154"/>
                </a:solidFill>
                <a:latin typeface="IBM Plex Sans SemiBold"/>
                <a:ea typeface="IBM Plex Sans SemiBold"/>
                <a:cs typeface="IBM Plex Sans SemiBold"/>
              </a:endParaRPr>
            </a:p>
          </p:txBody>
        </p:sp>
        <p:sp>
          <p:nvSpPr>
            <p:cNvPr id="51" name="node08.fork.label.part-3"/>
            <p:cNvSpPr/>
            <p:nvPr/>
          </p:nvSpPr>
          <p:spPr>
            <a:xfrm>
              <a:off x="6257544" y="1013460"/>
              <a:ext cx="1066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50658E"/>
                  </a:solidFill>
                  <a:latin typeface="IBM Plex Sans"/>
                  <a:ea typeface="IBM Plex Sans"/>
                  <a:cs typeface="IBM Plex Sans"/>
                </a:rPr>
                <a:t>Tracks start.</a:t>
              </a:r>
              <a:endParaRPr lang="en-US" sz="1100" spc="0" kern="0" b="0" i="0" dirty="0">
                <a:solidFill>
                  <a:srgbClr val="50658E"/>
                </a:solidFill>
                <a:latin typeface="IBM Plex Sans"/>
                <a:ea typeface="IBM Plex Sans"/>
                <a:cs typeface="IBM Plex Sans"/>
              </a:endParaRPr>
            </a:p>
          </p:txBody>
        </p:sp>
        <p:sp>
          <p:nvSpPr>
            <p:cNvPr id="52" name="node08.branches.source-001.title.part-1"/>
            <p:cNvSpPr/>
            <p:nvPr/>
          </p:nvSpPr>
          <p:spPr>
            <a:xfrm>
              <a:off x="8360048" y="756412"/>
              <a:ext cx="2930252" cy="233680"/>
            </a:xfrm>
            <a:prstGeom prst="rect">
              <a:avLst/>
            </a:prstGeom>
            <a:noFill/>
            <a:ln/>
          </p:spPr>
          <p:txBody>
            <a:bodyPr wrap="square" lIns="0" tIns="0" rIns="0" bIns="0" rtlCol="0" anchor="t"/>
            <a:lstStyle/>
            <a:p>
              <a:pPr algn="l" indent="0" marL="0">
                <a:lnSpc>
                  <a:spcPts val="1840"/>
                </a:lnSpc>
                <a:buNone/>
              </a:pPr>
              <a:r>
                <a:rPr lang="en-US" sz="1600" spc="-16" kern="0" b="0" i="0" dirty="0">
                  <a:solidFill>
                    <a:srgbClr val="070154"/>
                  </a:solidFill>
                  <a:latin typeface="IBM Plex Sans SemiBold"/>
                  <a:ea typeface="IBM Plex Sans SemiBold"/>
                  <a:cs typeface="IBM Plex Sans SemiBold"/>
                </a:rPr>
                <a:t>Patient access</a:t>
              </a:r>
              <a:endParaRPr lang="en-US" sz="1600" spc="-16" kern="0" b="0" i="0" dirty="0">
                <a:solidFill>
                  <a:srgbClr val="070154"/>
                </a:solidFill>
                <a:latin typeface="IBM Plex Sans SemiBold"/>
                <a:ea typeface="IBM Plex Sans SemiBold"/>
                <a:cs typeface="IBM Plex Sans SemiBold"/>
              </a:endParaRPr>
            </a:p>
          </p:txBody>
        </p:sp>
        <p:sp>
          <p:nvSpPr>
            <p:cNvPr id="53" name="node08.branches.source-001.tag"/>
            <p:cNvSpPr/>
            <p:nvPr/>
          </p:nvSpPr>
          <p:spPr>
            <a:xfrm>
              <a:off x="7780802" y="831342"/>
              <a:ext cx="49034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SemiBold"/>
                  <a:ea typeface="IBM Plex Mono SemiBold"/>
                  <a:cs typeface="IBM Plex Mono SemiBold"/>
                </a:rPr>
                <a:t>TRACK A</a:t>
              </a:r>
              <a:endParaRPr lang="en-US" sz="800" spc="48" kern="0" b="0" i="0" dirty="0">
                <a:solidFill>
                  <a:srgbClr val="0047FF"/>
                </a:solidFill>
                <a:latin typeface="IBM Plex Mono SemiBold"/>
                <a:ea typeface="IBM Plex Mono SemiBold"/>
                <a:cs typeface="IBM Plex Mono SemiBold"/>
              </a:endParaRPr>
            </a:p>
          </p:txBody>
        </p:sp>
        <p:sp>
          <p:nvSpPr>
            <p:cNvPr id="54" name="node08.branches.source-001.milestones.source-001.pin"/>
            <p:cNvSpPr/>
            <p:nvPr/>
          </p:nvSpPr>
          <p:spPr>
            <a:xfrm>
              <a:off x="8629602" y="1050417"/>
              <a:ext cx="285750" cy="285750"/>
            </a:xfrm>
            <a:prstGeom prst="ellipse">
              <a:avLst/>
            </a:prstGeom>
            <a:solidFill>
              <a:srgbClr val="FFFFFF"/>
            </a:solidFill>
            <a:ln w="19050">
              <a:solidFill>
                <a:srgbClr val="070154"/>
              </a:solidFill>
              <a:prstDash val="solid"/>
            </a:ln>
          </p:spPr>
        </p:sp>
        <p:sp>
          <p:nvSpPr>
            <p:cNvPr id="55" name="node08.branches.source-001.milestones.source-001.number"/>
            <p:cNvSpPr/>
            <p:nvPr/>
          </p:nvSpPr>
          <p:spPr>
            <a:xfrm>
              <a:off x="8620077" y="104089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A1</a:t>
              </a:r>
              <a:endParaRPr lang="en-US" sz="1000" spc="0" kern="0" b="0" i="0" dirty="0">
                <a:solidFill>
                  <a:srgbClr val="070154"/>
                </a:solidFill>
                <a:latin typeface="IBM Plex Mono SemiBold"/>
                <a:ea typeface="IBM Plex Mono SemiBold"/>
                <a:cs typeface="IBM Plex Mono SemiBold"/>
              </a:endParaRPr>
            </a:p>
          </p:txBody>
        </p:sp>
        <p:sp>
          <p:nvSpPr>
            <p:cNvPr id="56" name="node08.branches.source-001.milestones.source-001.label.part-1"/>
            <p:cNvSpPr/>
            <p:nvPr/>
          </p:nvSpPr>
          <p:spPr>
            <a:xfrm>
              <a:off x="7984002" y="1421892"/>
              <a:ext cx="1576949"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Q2 2027</a:t>
              </a:r>
              <a:endParaRPr lang="en-US" sz="800" spc="48" kern="0" b="0" i="0" dirty="0">
                <a:solidFill>
                  <a:srgbClr val="0047FF"/>
                </a:solidFill>
                <a:latin typeface="IBM Plex Mono SemiBold"/>
                <a:ea typeface="IBM Plex Mono SemiBold"/>
                <a:cs typeface="IBM Plex Mono SemiBold"/>
              </a:endParaRPr>
            </a:p>
          </p:txBody>
        </p:sp>
        <p:sp>
          <p:nvSpPr>
            <p:cNvPr id="57" name="node08.branches.source-001.milestones.source-001.label.part-2"/>
            <p:cNvSpPr/>
            <p:nvPr/>
          </p:nvSpPr>
          <p:spPr>
            <a:xfrm>
              <a:off x="7984002" y="1586992"/>
              <a:ext cx="1576949" cy="167640"/>
            </a:xfrm>
            <a:prstGeom prst="rect">
              <a:avLst/>
            </a:prstGeom>
            <a:noFill/>
            <a:ln/>
          </p:spPr>
          <p:txBody>
            <a:bodyPr wrap="square" lIns="0" tIns="0" rIns="0" bIns="0" rtlCol="0" anchor="t"/>
            <a:lstStyle/>
            <a:p>
              <a:pPr algn="ctr" indent="0" marL="0">
                <a:lnSpc>
                  <a:spcPts val="1320"/>
                </a:lnSpc>
                <a:buNone/>
              </a:pPr>
              <a:r>
                <a:rPr lang="en-US" sz="1100" spc="0" kern="0" b="0" i="0" dirty="0">
                  <a:solidFill>
                    <a:srgbClr val="070154"/>
                  </a:solidFill>
                  <a:latin typeface="IBM Plex Sans SemiBold"/>
                  <a:ea typeface="IBM Plex Sans SemiBold"/>
                  <a:cs typeface="IBM Plex Sans SemiBold"/>
                </a:rPr>
                <a:t>Self-scheduling</a:t>
              </a:r>
              <a:endParaRPr lang="en-US" sz="1100" spc="0" kern="0" b="0" i="0" dirty="0">
                <a:solidFill>
                  <a:srgbClr val="070154"/>
                </a:solidFill>
                <a:latin typeface="IBM Plex Sans SemiBold"/>
                <a:ea typeface="IBM Plex Sans SemiBold"/>
                <a:cs typeface="IBM Plex Sans SemiBold"/>
              </a:endParaRPr>
            </a:p>
          </p:txBody>
        </p:sp>
        <p:sp>
          <p:nvSpPr>
            <p:cNvPr id="58" name="node08.branches.source-001.milestones.source-001.label.part-3"/>
            <p:cNvSpPr/>
            <p:nvPr/>
          </p:nvSpPr>
          <p:spPr>
            <a:xfrm>
              <a:off x="7984002" y="1780032"/>
              <a:ext cx="1576949" cy="177800"/>
            </a:xfrm>
            <a:prstGeom prst="rect">
              <a:avLst/>
            </a:prstGeom>
            <a:noFill/>
            <a:ln/>
          </p:spPr>
          <p:txBody>
            <a:bodyPr wrap="square" lIns="0" tIns="0" rIns="0" bIns="0" rtlCol="0" anchor="t"/>
            <a:lstStyle/>
            <a:p>
              <a:pPr algn="ctr" indent="0" marL="0">
                <a:lnSpc>
                  <a:spcPts val="1375"/>
                </a:lnSpc>
                <a:buNone/>
              </a:pPr>
              <a:r>
                <a:rPr lang="en-US" sz="1100" spc="0" kern="0" b="0" i="0" dirty="0">
                  <a:solidFill>
                    <a:srgbClr val="070154"/>
                  </a:solidFill>
                  <a:latin typeface="IBM Plex Sans"/>
                  <a:ea typeface="IBM Plex Sans"/>
                  <a:cs typeface="IBM Plex Sans"/>
                </a:rPr>
                <a:t>Primary care first.</a:t>
              </a:r>
              <a:endParaRPr lang="en-US" sz="1100" spc="0" kern="0" b="0" i="0" dirty="0">
                <a:solidFill>
                  <a:srgbClr val="070154"/>
                </a:solidFill>
                <a:latin typeface="IBM Plex Sans"/>
                <a:ea typeface="IBM Plex Sans"/>
                <a:cs typeface="IBM Plex Sans"/>
              </a:endParaRPr>
            </a:p>
          </p:txBody>
        </p:sp>
        <p:sp>
          <p:nvSpPr>
            <p:cNvPr id="59" name="node08.branches.source-001.milestones.source-002.pin"/>
            <p:cNvSpPr/>
            <p:nvPr/>
          </p:nvSpPr>
          <p:spPr>
            <a:xfrm>
              <a:off x="10308151" y="1050417"/>
              <a:ext cx="285750" cy="285750"/>
            </a:xfrm>
            <a:prstGeom prst="ellipse">
              <a:avLst/>
            </a:prstGeom>
            <a:solidFill>
              <a:srgbClr val="FFFFFF"/>
            </a:solidFill>
            <a:ln w="19050">
              <a:solidFill>
                <a:srgbClr val="070154"/>
              </a:solidFill>
              <a:prstDash val="solid"/>
            </a:ln>
          </p:spPr>
        </p:sp>
        <p:sp>
          <p:nvSpPr>
            <p:cNvPr id="60" name="node08.branches.source-001.milestones.source-002.number"/>
            <p:cNvSpPr/>
            <p:nvPr/>
          </p:nvSpPr>
          <p:spPr>
            <a:xfrm>
              <a:off x="10298626" y="104089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A2</a:t>
              </a:r>
              <a:endParaRPr lang="en-US" sz="1000" spc="0" kern="0" b="0" i="0" dirty="0">
                <a:solidFill>
                  <a:srgbClr val="070154"/>
                </a:solidFill>
                <a:latin typeface="IBM Plex Mono SemiBold"/>
                <a:ea typeface="IBM Plex Mono SemiBold"/>
                <a:cs typeface="IBM Plex Mono SemiBold"/>
              </a:endParaRPr>
            </a:p>
          </p:txBody>
        </p:sp>
        <p:sp>
          <p:nvSpPr>
            <p:cNvPr id="61" name="node08.branches.source-001.milestones.source-002.label.part-1"/>
            <p:cNvSpPr/>
            <p:nvPr/>
          </p:nvSpPr>
          <p:spPr>
            <a:xfrm>
              <a:off x="9662551" y="1421892"/>
              <a:ext cx="1576949"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Q3 2027</a:t>
              </a:r>
              <a:endParaRPr lang="en-US" sz="800" spc="48" kern="0" b="0" i="0" dirty="0">
                <a:solidFill>
                  <a:srgbClr val="0047FF"/>
                </a:solidFill>
                <a:latin typeface="IBM Plex Mono SemiBold"/>
                <a:ea typeface="IBM Plex Mono SemiBold"/>
                <a:cs typeface="IBM Plex Mono SemiBold"/>
              </a:endParaRPr>
            </a:p>
          </p:txBody>
        </p:sp>
        <p:sp>
          <p:nvSpPr>
            <p:cNvPr id="62" name="node08.branches.source-001.milestones.source-002.label.part-2"/>
            <p:cNvSpPr/>
            <p:nvPr/>
          </p:nvSpPr>
          <p:spPr>
            <a:xfrm>
              <a:off x="9662551" y="1586992"/>
              <a:ext cx="1576949" cy="167640"/>
            </a:xfrm>
            <a:prstGeom prst="rect">
              <a:avLst/>
            </a:prstGeom>
            <a:noFill/>
            <a:ln/>
          </p:spPr>
          <p:txBody>
            <a:bodyPr wrap="square" lIns="0" tIns="0" rIns="0" bIns="0" rtlCol="0" anchor="t"/>
            <a:lstStyle/>
            <a:p>
              <a:pPr algn="ctr" indent="0" marL="0">
                <a:lnSpc>
                  <a:spcPts val="1320"/>
                </a:lnSpc>
                <a:buNone/>
              </a:pPr>
              <a:r>
                <a:rPr lang="en-US" sz="1100" spc="0" kern="0" b="0" i="0" dirty="0">
                  <a:solidFill>
                    <a:srgbClr val="070154"/>
                  </a:solidFill>
                  <a:latin typeface="IBM Plex Sans SemiBold"/>
                  <a:ea typeface="IBM Plex Sans SemiBold"/>
                  <a:cs typeface="IBM Plex Sans SemiBold"/>
                </a:rPr>
                <a:t>Digital intake</a:t>
              </a:r>
              <a:endParaRPr lang="en-US" sz="1100" spc="0" kern="0" b="0" i="0" dirty="0">
                <a:solidFill>
                  <a:srgbClr val="070154"/>
                </a:solidFill>
                <a:latin typeface="IBM Plex Sans SemiBold"/>
                <a:ea typeface="IBM Plex Sans SemiBold"/>
                <a:cs typeface="IBM Plex Sans SemiBold"/>
              </a:endParaRPr>
            </a:p>
          </p:txBody>
        </p:sp>
        <p:sp>
          <p:nvSpPr>
            <p:cNvPr id="63" name="node08.branches.source-001.milestones.source-002.label.part-3"/>
            <p:cNvSpPr/>
            <p:nvPr/>
          </p:nvSpPr>
          <p:spPr>
            <a:xfrm>
              <a:off x="9662551" y="1780032"/>
              <a:ext cx="1576949" cy="177800"/>
            </a:xfrm>
            <a:prstGeom prst="rect">
              <a:avLst/>
            </a:prstGeom>
            <a:noFill/>
            <a:ln/>
          </p:spPr>
          <p:txBody>
            <a:bodyPr wrap="square" lIns="0" tIns="0" rIns="0" bIns="0" rtlCol="0" anchor="t"/>
            <a:lstStyle/>
            <a:p>
              <a:pPr algn="ctr" indent="0" marL="0">
                <a:lnSpc>
                  <a:spcPts val="1375"/>
                </a:lnSpc>
                <a:buNone/>
              </a:pPr>
              <a:r>
                <a:rPr lang="en-US" sz="1100" spc="0" kern="0" b="0" i="0" dirty="0">
                  <a:solidFill>
                    <a:srgbClr val="070154"/>
                  </a:solidFill>
                  <a:latin typeface="IBM Plex Sans"/>
                  <a:ea typeface="IBM Plex Sans"/>
                  <a:cs typeface="IBM Plex Sans"/>
                </a:rPr>
                <a:t>Forms before arrival.</a:t>
              </a:r>
              <a:endParaRPr lang="en-US" sz="1100" spc="0" kern="0" b="0" i="0" dirty="0">
                <a:solidFill>
                  <a:srgbClr val="070154"/>
                </a:solidFill>
                <a:latin typeface="IBM Plex Sans"/>
                <a:ea typeface="IBM Plex Sans"/>
                <a:cs typeface="IBM Plex Sans"/>
              </a:endParaRPr>
            </a:p>
          </p:txBody>
        </p:sp>
        <p:sp>
          <p:nvSpPr>
            <p:cNvPr id="64" name="node08.branches.source-002.title.part-1"/>
            <p:cNvSpPr/>
            <p:nvPr/>
          </p:nvSpPr>
          <p:spPr>
            <a:xfrm>
              <a:off x="8360048" y="2509012"/>
              <a:ext cx="2930252" cy="233680"/>
            </a:xfrm>
            <a:prstGeom prst="rect">
              <a:avLst/>
            </a:prstGeom>
            <a:noFill/>
            <a:ln/>
          </p:spPr>
          <p:txBody>
            <a:bodyPr wrap="square" lIns="0" tIns="0" rIns="0" bIns="0" rtlCol="0" anchor="t"/>
            <a:lstStyle/>
            <a:p>
              <a:pPr algn="l" indent="0" marL="0">
                <a:lnSpc>
                  <a:spcPts val="1840"/>
                </a:lnSpc>
                <a:buNone/>
              </a:pPr>
              <a:r>
                <a:rPr lang="en-US" sz="1600" spc="-16" kern="0" b="0" i="0" dirty="0">
                  <a:solidFill>
                    <a:srgbClr val="070154"/>
                  </a:solidFill>
                  <a:latin typeface="IBM Plex Sans SemiBold"/>
                  <a:ea typeface="IBM Plex Sans SemiBold"/>
                  <a:cs typeface="IBM Plex Sans SemiBold"/>
                </a:rPr>
                <a:t>Revenue cycle</a:t>
              </a:r>
              <a:endParaRPr lang="en-US" sz="1600" spc="-16" kern="0" b="0" i="0" dirty="0">
                <a:solidFill>
                  <a:srgbClr val="070154"/>
                </a:solidFill>
                <a:latin typeface="IBM Plex Sans SemiBold"/>
                <a:ea typeface="IBM Plex Sans SemiBold"/>
                <a:cs typeface="IBM Plex Sans SemiBold"/>
              </a:endParaRPr>
            </a:p>
          </p:txBody>
        </p:sp>
        <p:sp>
          <p:nvSpPr>
            <p:cNvPr id="65" name="node08.branches.source-002.tag"/>
            <p:cNvSpPr/>
            <p:nvPr/>
          </p:nvSpPr>
          <p:spPr>
            <a:xfrm>
              <a:off x="7780802" y="2583942"/>
              <a:ext cx="49034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SemiBold"/>
                  <a:ea typeface="IBM Plex Mono SemiBold"/>
                  <a:cs typeface="IBM Plex Mono SemiBold"/>
                </a:rPr>
                <a:t>TRACK B</a:t>
              </a:r>
              <a:endParaRPr lang="en-US" sz="800" spc="48" kern="0" b="0" i="0" dirty="0">
                <a:solidFill>
                  <a:srgbClr val="0047FF"/>
                </a:solidFill>
                <a:latin typeface="IBM Plex Mono SemiBold"/>
                <a:ea typeface="IBM Plex Mono SemiBold"/>
                <a:cs typeface="IBM Plex Mono SemiBold"/>
              </a:endParaRPr>
            </a:p>
          </p:txBody>
        </p:sp>
        <p:sp>
          <p:nvSpPr>
            <p:cNvPr id="66" name="node08.branches.source-002.milestones.source-001.pin"/>
            <p:cNvSpPr/>
            <p:nvPr/>
          </p:nvSpPr>
          <p:spPr>
            <a:xfrm>
              <a:off x="8629602" y="2803017"/>
              <a:ext cx="285750" cy="285750"/>
            </a:xfrm>
            <a:prstGeom prst="ellipse">
              <a:avLst/>
            </a:prstGeom>
            <a:solidFill>
              <a:srgbClr val="FFFFFF"/>
            </a:solidFill>
            <a:ln w="19050">
              <a:solidFill>
                <a:srgbClr val="070154"/>
              </a:solidFill>
              <a:prstDash val="solid"/>
            </a:ln>
          </p:spPr>
        </p:sp>
        <p:sp>
          <p:nvSpPr>
            <p:cNvPr id="67" name="node08.branches.source-002.milestones.source-001.number"/>
            <p:cNvSpPr/>
            <p:nvPr/>
          </p:nvSpPr>
          <p:spPr>
            <a:xfrm>
              <a:off x="8620077" y="279349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B1</a:t>
              </a:r>
              <a:endParaRPr lang="en-US" sz="1000" spc="0" kern="0" b="0" i="0" dirty="0">
                <a:solidFill>
                  <a:srgbClr val="070154"/>
                </a:solidFill>
                <a:latin typeface="IBM Plex Mono SemiBold"/>
                <a:ea typeface="IBM Plex Mono SemiBold"/>
                <a:cs typeface="IBM Plex Mono SemiBold"/>
              </a:endParaRPr>
            </a:p>
          </p:txBody>
        </p:sp>
        <p:sp>
          <p:nvSpPr>
            <p:cNvPr id="68" name="node08.branches.source-002.milestones.source-001.label.part-1"/>
            <p:cNvSpPr/>
            <p:nvPr/>
          </p:nvSpPr>
          <p:spPr>
            <a:xfrm>
              <a:off x="7984002" y="3174492"/>
              <a:ext cx="1576949"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Q2 2027</a:t>
              </a:r>
              <a:endParaRPr lang="en-US" sz="800" spc="48" kern="0" b="0" i="0" dirty="0">
                <a:solidFill>
                  <a:srgbClr val="0047FF"/>
                </a:solidFill>
                <a:latin typeface="IBM Plex Mono SemiBold"/>
                <a:ea typeface="IBM Plex Mono SemiBold"/>
                <a:cs typeface="IBM Plex Mono SemiBold"/>
              </a:endParaRPr>
            </a:p>
          </p:txBody>
        </p:sp>
        <p:sp>
          <p:nvSpPr>
            <p:cNvPr id="69" name="node08.branches.source-002.milestones.source-001.label.part-2"/>
            <p:cNvSpPr/>
            <p:nvPr/>
          </p:nvSpPr>
          <p:spPr>
            <a:xfrm>
              <a:off x="7984002" y="3339592"/>
              <a:ext cx="1576949" cy="167640"/>
            </a:xfrm>
            <a:prstGeom prst="rect">
              <a:avLst/>
            </a:prstGeom>
            <a:noFill/>
            <a:ln/>
          </p:spPr>
          <p:txBody>
            <a:bodyPr wrap="square" lIns="0" tIns="0" rIns="0" bIns="0" rtlCol="0" anchor="t"/>
            <a:lstStyle/>
            <a:p>
              <a:pPr algn="ctr" indent="0" marL="0">
                <a:lnSpc>
                  <a:spcPts val="1320"/>
                </a:lnSpc>
                <a:buNone/>
              </a:pPr>
              <a:r>
                <a:rPr lang="en-US" sz="1100" spc="0" kern="0" b="0" i="0" dirty="0">
                  <a:solidFill>
                    <a:srgbClr val="070154"/>
                  </a:solidFill>
                  <a:latin typeface="IBM Plex Sans SemiBold"/>
                  <a:ea typeface="IBM Plex Sans SemiBold"/>
                  <a:cs typeface="IBM Plex Sans SemiBold"/>
                </a:rPr>
                <a:t>Price estimates</a:t>
              </a:r>
              <a:endParaRPr lang="en-US" sz="1100" spc="0" kern="0" b="0" i="0" dirty="0">
                <a:solidFill>
                  <a:srgbClr val="070154"/>
                </a:solidFill>
                <a:latin typeface="IBM Plex Sans SemiBold"/>
                <a:ea typeface="IBM Plex Sans SemiBold"/>
                <a:cs typeface="IBM Plex Sans SemiBold"/>
              </a:endParaRPr>
            </a:p>
          </p:txBody>
        </p:sp>
        <p:sp>
          <p:nvSpPr>
            <p:cNvPr id="70" name="node08.branches.source-002.milestones.source-001.label.part-3"/>
            <p:cNvSpPr/>
            <p:nvPr/>
          </p:nvSpPr>
          <p:spPr>
            <a:xfrm>
              <a:off x="7984002" y="3532632"/>
              <a:ext cx="1576949" cy="177800"/>
            </a:xfrm>
            <a:prstGeom prst="rect">
              <a:avLst/>
            </a:prstGeom>
            <a:noFill/>
            <a:ln/>
          </p:spPr>
          <p:txBody>
            <a:bodyPr wrap="square" lIns="0" tIns="0" rIns="0" bIns="0" rtlCol="0" anchor="t"/>
            <a:lstStyle/>
            <a:p>
              <a:pPr algn="ctr" indent="0" marL="0">
                <a:lnSpc>
                  <a:spcPts val="1375"/>
                </a:lnSpc>
                <a:buNone/>
              </a:pPr>
              <a:r>
                <a:rPr lang="en-US" sz="1100" spc="0" kern="0" b="0" i="0" dirty="0">
                  <a:solidFill>
                    <a:srgbClr val="070154"/>
                  </a:solidFill>
                  <a:latin typeface="IBM Plex Sans"/>
                  <a:ea typeface="IBM Plex Sans"/>
                  <a:cs typeface="IBM Plex Sans"/>
                </a:rPr>
                <a:t>Shown before booking.</a:t>
              </a:r>
              <a:endParaRPr lang="en-US" sz="1100" spc="0" kern="0" b="0" i="0" dirty="0">
                <a:solidFill>
                  <a:srgbClr val="070154"/>
                </a:solidFill>
                <a:latin typeface="IBM Plex Sans"/>
                <a:ea typeface="IBM Plex Sans"/>
                <a:cs typeface="IBM Plex Sans"/>
              </a:endParaRPr>
            </a:p>
          </p:txBody>
        </p:sp>
        <p:sp>
          <p:nvSpPr>
            <p:cNvPr id="71" name="node08.branches.source-002.milestones.source-002.pin"/>
            <p:cNvSpPr/>
            <p:nvPr/>
          </p:nvSpPr>
          <p:spPr>
            <a:xfrm>
              <a:off x="10308151" y="2803017"/>
              <a:ext cx="285750" cy="285750"/>
            </a:xfrm>
            <a:prstGeom prst="ellipse">
              <a:avLst/>
            </a:prstGeom>
            <a:solidFill>
              <a:srgbClr val="FFFFFF"/>
            </a:solidFill>
            <a:ln w="19050">
              <a:solidFill>
                <a:srgbClr val="070154"/>
              </a:solidFill>
              <a:prstDash val="solid"/>
            </a:ln>
          </p:spPr>
        </p:sp>
        <p:sp>
          <p:nvSpPr>
            <p:cNvPr id="72" name="node08.branches.source-002.milestones.source-002.number"/>
            <p:cNvSpPr/>
            <p:nvPr/>
          </p:nvSpPr>
          <p:spPr>
            <a:xfrm>
              <a:off x="10298626" y="279349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B2</a:t>
              </a:r>
              <a:endParaRPr lang="en-US" sz="1000" spc="0" kern="0" b="0" i="0" dirty="0">
                <a:solidFill>
                  <a:srgbClr val="070154"/>
                </a:solidFill>
                <a:latin typeface="IBM Plex Mono SemiBold"/>
                <a:ea typeface="IBM Plex Mono SemiBold"/>
                <a:cs typeface="IBM Plex Mono SemiBold"/>
              </a:endParaRPr>
            </a:p>
          </p:txBody>
        </p:sp>
        <p:sp>
          <p:nvSpPr>
            <p:cNvPr id="73" name="node08.branches.source-002.milestones.source-002.label.part-1"/>
            <p:cNvSpPr/>
            <p:nvPr/>
          </p:nvSpPr>
          <p:spPr>
            <a:xfrm>
              <a:off x="9662551" y="3174492"/>
              <a:ext cx="1576949"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Q4 2027</a:t>
              </a:r>
              <a:endParaRPr lang="en-US" sz="800" spc="48" kern="0" b="0" i="0" dirty="0">
                <a:solidFill>
                  <a:srgbClr val="0047FF"/>
                </a:solidFill>
                <a:latin typeface="IBM Plex Mono SemiBold"/>
                <a:ea typeface="IBM Plex Mono SemiBold"/>
                <a:cs typeface="IBM Plex Mono SemiBold"/>
              </a:endParaRPr>
            </a:p>
          </p:txBody>
        </p:sp>
        <p:sp>
          <p:nvSpPr>
            <p:cNvPr id="74" name="node08.branches.source-002.milestones.source-002.label.part-2"/>
            <p:cNvSpPr/>
            <p:nvPr/>
          </p:nvSpPr>
          <p:spPr>
            <a:xfrm>
              <a:off x="9662551" y="3339592"/>
              <a:ext cx="1576949" cy="167640"/>
            </a:xfrm>
            <a:prstGeom prst="rect">
              <a:avLst/>
            </a:prstGeom>
            <a:noFill/>
            <a:ln/>
          </p:spPr>
          <p:txBody>
            <a:bodyPr wrap="square" lIns="0" tIns="0" rIns="0" bIns="0" rtlCol="0" anchor="t"/>
            <a:lstStyle/>
            <a:p>
              <a:pPr algn="ctr" indent="0" marL="0">
                <a:lnSpc>
                  <a:spcPts val="1320"/>
                </a:lnSpc>
                <a:buNone/>
              </a:pPr>
              <a:r>
                <a:rPr lang="en-US" sz="1100" spc="0" kern="0" b="0" i="0" dirty="0">
                  <a:solidFill>
                    <a:srgbClr val="070154"/>
                  </a:solidFill>
                  <a:latin typeface="IBM Plex Sans SemiBold"/>
                  <a:ea typeface="IBM Plex Sans SemiBold"/>
                  <a:cs typeface="IBM Plex Sans SemiBold"/>
                </a:rPr>
                <a:t>Online payment</a:t>
              </a:r>
              <a:endParaRPr lang="en-US" sz="1100" spc="0" kern="0" b="0" i="0" dirty="0">
                <a:solidFill>
                  <a:srgbClr val="070154"/>
                </a:solidFill>
                <a:latin typeface="IBM Plex Sans SemiBold"/>
                <a:ea typeface="IBM Plex Sans SemiBold"/>
                <a:cs typeface="IBM Plex Sans SemiBold"/>
              </a:endParaRPr>
            </a:p>
          </p:txBody>
        </p:sp>
        <p:sp>
          <p:nvSpPr>
            <p:cNvPr id="75" name="node08.branches.source-002.milestones.source-002.label.part-3"/>
            <p:cNvSpPr/>
            <p:nvPr/>
          </p:nvSpPr>
          <p:spPr>
            <a:xfrm>
              <a:off x="9662551" y="3532632"/>
              <a:ext cx="1576949" cy="177800"/>
            </a:xfrm>
            <a:prstGeom prst="rect">
              <a:avLst/>
            </a:prstGeom>
            <a:noFill/>
            <a:ln/>
          </p:spPr>
          <p:txBody>
            <a:bodyPr wrap="square" lIns="0" tIns="0" rIns="0" bIns="0" rtlCol="0" anchor="t"/>
            <a:lstStyle/>
            <a:p>
              <a:pPr algn="ctr" indent="0" marL="0">
                <a:lnSpc>
                  <a:spcPts val="1375"/>
                </a:lnSpc>
                <a:buNone/>
              </a:pPr>
              <a:r>
                <a:rPr lang="en-US" sz="1100" spc="0" kern="0" b="0" i="0" dirty="0">
                  <a:solidFill>
                    <a:srgbClr val="070154"/>
                  </a:solidFill>
                  <a:latin typeface="IBM Plex Sans"/>
                  <a:ea typeface="IBM Plex Sans"/>
                  <a:cs typeface="IBM Plex Sans"/>
                </a:rPr>
                <a:t>Pay at the visit.</a:t>
              </a:r>
              <a:endParaRPr lang="en-US" sz="1100" spc="0" kern="0" b="0" i="0" dirty="0">
                <a:solidFill>
                  <a:srgbClr val="070154"/>
                </a:solidFill>
                <a:latin typeface="IBM Plex Sans"/>
                <a:ea typeface="IBM Plex Sans"/>
                <a:cs typeface="IBM Plex Sans"/>
              </a:endParaRPr>
            </a:p>
          </p:txBody>
        </p:sp>
        <p:sp>
          <p:nvSpPr>
            <p:cNvPr id="76" name="node08.branches.source-003.title.part-1"/>
            <p:cNvSpPr/>
            <p:nvPr/>
          </p:nvSpPr>
          <p:spPr>
            <a:xfrm>
              <a:off x="8360048" y="4261612"/>
              <a:ext cx="2930252" cy="233680"/>
            </a:xfrm>
            <a:prstGeom prst="rect">
              <a:avLst/>
            </a:prstGeom>
            <a:noFill/>
            <a:ln/>
          </p:spPr>
          <p:txBody>
            <a:bodyPr wrap="square" lIns="0" tIns="0" rIns="0" bIns="0" rtlCol="0" anchor="t"/>
            <a:lstStyle/>
            <a:p>
              <a:pPr algn="l" indent="0" marL="0">
                <a:lnSpc>
                  <a:spcPts val="1840"/>
                </a:lnSpc>
                <a:buNone/>
              </a:pPr>
              <a:r>
                <a:rPr lang="en-US" sz="1600" spc="-16" kern="0" b="0" i="0" dirty="0">
                  <a:solidFill>
                    <a:srgbClr val="070154"/>
                  </a:solidFill>
                  <a:latin typeface="IBM Plex Sans SemiBold"/>
                  <a:ea typeface="IBM Plex Sans SemiBold"/>
                  <a:cs typeface="IBM Plex Sans SemiBold"/>
                </a:rPr>
                <a:t>Clinical operations</a:t>
              </a:r>
              <a:endParaRPr lang="en-US" sz="1600" spc="-16" kern="0" b="0" i="0" dirty="0">
                <a:solidFill>
                  <a:srgbClr val="070154"/>
                </a:solidFill>
                <a:latin typeface="IBM Plex Sans SemiBold"/>
                <a:ea typeface="IBM Plex Sans SemiBold"/>
                <a:cs typeface="IBM Plex Sans SemiBold"/>
              </a:endParaRPr>
            </a:p>
          </p:txBody>
        </p:sp>
        <p:sp>
          <p:nvSpPr>
            <p:cNvPr id="77" name="node08.branches.source-003.tag"/>
            <p:cNvSpPr/>
            <p:nvPr/>
          </p:nvSpPr>
          <p:spPr>
            <a:xfrm>
              <a:off x="7780802" y="4336542"/>
              <a:ext cx="49034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SemiBold"/>
                  <a:ea typeface="IBM Plex Mono SemiBold"/>
                  <a:cs typeface="IBM Plex Mono SemiBold"/>
                </a:rPr>
                <a:t>TRACK C</a:t>
              </a:r>
              <a:endParaRPr lang="en-US" sz="800" spc="48" kern="0" b="0" i="0" dirty="0">
                <a:solidFill>
                  <a:srgbClr val="0047FF"/>
                </a:solidFill>
                <a:latin typeface="IBM Plex Mono SemiBold"/>
                <a:ea typeface="IBM Plex Mono SemiBold"/>
                <a:cs typeface="IBM Plex Mono SemiBold"/>
              </a:endParaRPr>
            </a:p>
          </p:txBody>
        </p:sp>
        <p:sp>
          <p:nvSpPr>
            <p:cNvPr id="78" name="node08.branches.source-003.milestones.source-001.pin"/>
            <p:cNvSpPr/>
            <p:nvPr/>
          </p:nvSpPr>
          <p:spPr>
            <a:xfrm>
              <a:off x="8629602" y="4555617"/>
              <a:ext cx="285750" cy="285750"/>
            </a:xfrm>
            <a:prstGeom prst="ellipse">
              <a:avLst/>
            </a:prstGeom>
            <a:solidFill>
              <a:srgbClr val="FFFFFF"/>
            </a:solidFill>
            <a:ln w="19050">
              <a:solidFill>
                <a:srgbClr val="070154"/>
              </a:solidFill>
              <a:prstDash val="solid"/>
            </a:ln>
          </p:spPr>
        </p:sp>
        <p:sp>
          <p:nvSpPr>
            <p:cNvPr id="79" name="node08.branches.source-003.milestones.source-001.number"/>
            <p:cNvSpPr/>
            <p:nvPr/>
          </p:nvSpPr>
          <p:spPr>
            <a:xfrm>
              <a:off x="8620077" y="454609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C1</a:t>
              </a:r>
              <a:endParaRPr lang="en-US" sz="1000" spc="0" kern="0" b="0" i="0" dirty="0">
                <a:solidFill>
                  <a:srgbClr val="070154"/>
                </a:solidFill>
                <a:latin typeface="IBM Plex Mono SemiBold"/>
                <a:ea typeface="IBM Plex Mono SemiBold"/>
                <a:cs typeface="IBM Plex Mono SemiBold"/>
              </a:endParaRPr>
            </a:p>
          </p:txBody>
        </p:sp>
        <p:sp>
          <p:nvSpPr>
            <p:cNvPr id="80" name="node08.branches.source-003.milestones.source-001.label.part-1"/>
            <p:cNvSpPr/>
            <p:nvPr/>
          </p:nvSpPr>
          <p:spPr>
            <a:xfrm>
              <a:off x="7984002" y="4927092"/>
              <a:ext cx="1576949"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Q3 2027</a:t>
              </a:r>
              <a:endParaRPr lang="en-US" sz="800" spc="48" kern="0" b="0" i="0" dirty="0">
                <a:solidFill>
                  <a:srgbClr val="0047FF"/>
                </a:solidFill>
                <a:latin typeface="IBM Plex Mono SemiBold"/>
                <a:ea typeface="IBM Plex Mono SemiBold"/>
                <a:cs typeface="IBM Plex Mono SemiBold"/>
              </a:endParaRPr>
            </a:p>
          </p:txBody>
        </p:sp>
        <p:sp>
          <p:nvSpPr>
            <p:cNvPr id="81" name="node08.branches.source-003.milestones.source-001.label.part-2"/>
            <p:cNvSpPr/>
            <p:nvPr/>
          </p:nvSpPr>
          <p:spPr>
            <a:xfrm>
              <a:off x="7984002" y="5092192"/>
              <a:ext cx="1576949" cy="167640"/>
            </a:xfrm>
            <a:prstGeom prst="rect">
              <a:avLst/>
            </a:prstGeom>
            <a:noFill/>
            <a:ln/>
          </p:spPr>
          <p:txBody>
            <a:bodyPr wrap="square" lIns="0" tIns="0" rIns="0" bIns="0" rtlCol="0" anchor="t"/>
            <a:lstStyle/>
            <a:p>
              <a:pPr algn="ctr" indent="0" marL="0">
                <a:lnSpc>
                  <a:spcPts val="1320"/>
                </a:lnSpc>
                <a:buNone/>
              </a:pPr>
              <a:r>
                <a:rPr lang="en-US" sz="1100" spc="0" kern="0" b="0" i="0" dirty="0">
                  <a:solidFill>
                    <a:srgbClr val="070154"/>
                  </a:solidFill>
                  <a:latin typeface="IBM Plex Sans SemiBold"/>
                  <a:ea typeface="IBM Plex Sans SemiBold"/>
                  <a:cs typeface="IBM Plex Sans SemiBold"/>
                </a:rPr>
                <a:t>Referral tracking</a:t>
              </a:r>
              <a:endParaRPr lang="en-US" sz="1100" spc="0" kern="0" b="0" i="0" dirty="0">
                <a:solidFill>
                  <a:srgbClr val="070154"/>
                </a:solidFill>
                <a:latin typeface="IBM Plex Sans SemiBold"/>
                <a:ea typeface="IBM Plex Sans SemiBold"/>
                <a:cs typeface="IBM Plex Sans SemiBold"/>
              </a:endParaRPr>
            </a:p>
          </p:txBody>
        </p:sp>
        <p:sp>
          <p:nvSpPr>
            <p:cNvPr id="82" name="node08.branches.source-003.milestones.source-001.label.part-3"/>
            <p:cNvSpPr/>
            <p:nvPr/>
          </p:nvSpPr>
          <p:spPr>
            <a:xfrm>
              <a:off x="7984002" y="5285232"/>
              <a:ext cx="1576949" cy="177800"/>
            </a:xfrm>
            <a:prstGeom prst="rect">
              <a:avLst/>
            </a:prstGeom>
            <a:noFill/>
            <a:ln/>
          </p:spPr>
          <p:txBody>
            <a:bodyPr wrap="square" lIns="0" tIns="0" rIns="0" bIns="0" rtlCol="0" anchor="t"/>
            <a:lstStyle/>
            <a:p>
              <a:pPr algn="ctr" indent="0" marL="0">
                <a:lnSpc>
                  <a:spcPts val="1375"/>
                </a:lnSpc>
                <a:buNone/>
              </a:pPr>
              <a:r>
                <a:rPr lang="en-US" sz="1100" spc="0" kern="0" b="0" i="0" dirty="0">
                  <a:solidFill>
                    <a:srgbClr val="070154"/>
                  </a:solidFill>
                  <a:latin typeface="IBM Plex Sans"/>
                  <a:ea typeface="IBM Plex Sans"/>
                  <a:cs typeface="IBM Plex Sans"/>
                </a:rPr>
                <a:t>One status view.</a:t>
              </a:r>
              <a:endParaRPr lang="en-US" sz="1100" spc="0" kern="0" b="0" i="0" dirty="0">
                <a:solidFill>
                  <a:srgbClr val="070154"/>
                </a:solidFill>
                <a:latin typeface="IBM Plex Sans"/>
                <a:ea typeface="IBM Plex Sans"/>
                <a:cs typeface="IBM Plex Sans"/>
              </a:endParaRPr>
            </a:p>
          </p:txBody>
        </p:sp>
        <p:sp>
          <p:nvSpPr>
            <p:cNvPr id="83" name="node08.branches.source-003.milestones.source-002.pin"/>
            <p:cNvSpPr/>
            <p:nvPr/>
          </p:nvSpPr>
          <p:spPr>
            <a:xfrm>
              <a:off x="10308151" y="4555617"/>
              <a:ext cx="285750" cy="285750"/>
            </a:xfrm>
            <a:prstGeom prst="ellipse">
              <a:avLst/>
            </a:prstGeom>
            <a:solidFill>
              <a:srgbClr val="FFFFFF"/>
            </a:solidFill>
            <a:ln w="19050">
              <a:solidFill>
                <a:srgbClr val="070154"/>
              </a:solidFill>
              <a:prstDash val="solid"/>
            </a:ln>
          </p:spPr>
        </p:sp>
        <p:sp>
          <p:nvSpPr>
            <p:cNvPr id="84" name="node08.branches.source-003.milestones.source-002.number"/>
            <p:cNvSpPr/>
            <p:nvPr/>
          </p:nvSpPr>
          <p:spPr>
            <a:xfrm>
              <a:off x="10298626" y="454609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C2</a:t>
              </a:r>
              <a:endParaRPr lang="en-US" sz="1000" spc="0" kern="0" b="0" i="0" dirty="0">
                <a:solidFill>
                  <a:srgbClr val="070154"/>
                </a:solidFill>
                <a:latin typeface="IBM Plex Mono SemiBold"/>
                <a:ea typeface="IBM Plex Mono SemiBold"/>
                <a:cs typeface="IBM Plex Mono SemiBold"/>
              </a:endParaRPr>
            </a:p>
          </p:txBody>
        </p:sp>
        <p:sp>
          <p:nvSpPr>
            <p:cNvPr id="85" name="node08.branches.source-003.milestones.source-002.label.part-1"/>
            <p:cNvSpPr/>
            <p:nvPr/>
          </p:nvSpPr>
          <p:spPr>
            <a:xfrm>
              <a:off x="9662551" y="4927092"/>
              <a:ext cx="1576949"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Q1 2028</a:t>
              </a:r>
              <a:endParaRPr lang="en-US" sz="800" spc="48" kern="0" b="0" i="0" dirty="0">
                <a:solidFill>
                  <a:srgbClr val="0047FF"/>
                </a:solidFill>
                <a:latin typeface="IBM Plex Mono SemiBold"/>
                <a:ea typeface="IBM Plex Mono SemiBold"/>
                <a:cs typeface="IBM Plex Mono SemiBold"/>
              </a:endParaRPr>
            </a:p>
          </p:txBody>
        </p:sp>
        <p:sp>
          <p:nvSpPr>
            <p:cNvPr id="86" name="node08.branches.source-003.milestones.source-002.label.part-2"/>
            <p:cNvSpPr/>
            <p:nvPr/>
          </p:nvSpPr>
          <p:spPr>
            <a:xfrm>
              <a:off x="9662551" y="5092192"/>
              <a:ext cx="1576949" cy="167640"/>
            </a:xfrm>
            <a:prstGeom prst="rect">
              <a:avLst/>
            </a:prstGeom>
            <a:noFill/>
            <a:ln/>
          </p:spPr>
          <p:txBody>
            <a:bodyPr wrap="square" lIns="0" tIns="0" rIns="0" bIns="0" rtlCol="0" anchor="t"/>
            <a:lstStyle/>
            <a:p>
              <a:pPr algn="ctr" indent="0" marL="0">
                <a:lnSpc>
                  <a:spcPts val="1320"/>
                </a:lnSpc>
                <a:buNone/>
              </a:pPr>
              <a:r>
                <a:rPr lang="en-US" sz="1100" spc="0" kern="0" b="0" i="0" dirty="0">
                  <a:solidFill>
                    <a:srgbClr val="070154"/>
                  </a:solidFill>
                  <a:latin typeface="IBM Plex Sans SemiBold"/>
                  <a:ea typeface="IBM Plex Sans SemiBold"/>
                  <a:cs typeface="IBM Plex Sans SemiBold"/>
                </a:rPr>
                <a:t>Care plans</a:t>
              </a:r>
              <a:endParaRPr lang="en-US" sz="1100" spc="0" kern="0" b="0" i="0" dirty="0">
                <a:solidFill>
                  <a:srgbClr val="070154"/>
                </a:solidFill>
                <a:latin typeface="IBM Plex Sans SemiBold"/>
                <a:ea typeface="IBM Plex Sans SemiBold"/>
                <a:cs typeface="IBM Plex Sans SemiBold"/>
              </a:endParaRPr>
            </a:p>
          </p:txBody>
        </p:sp>
        <p:sp>
          <p:nvSpPr>
            <p:cNvPr id="87" name="node08.branches.source-003.milestones.source-002.label.part-3"/>
            <p:cNvSpPr/>
            <p:nvPr/>
          </p:nvSpPr>
          <p:spPr>
            <a:xfrm>
              <a:off x="9662551" y="5285232"/>
              <a:ext cx="1576949" cy="177800"/>
            </a:xfrm>
            <a:prstGeom prst="rect">
              <a:avLst/>
            </a:prstGeom>
            <a:noFill/>
            <a:ln/>
          </p:spPr>
          <p:txBody>
            <a:bodyPr wrap="square" lIns="0" tIns="0" rIns="0" bIns="0" rtlCol="0" anchor="t"/>
            <a:lstStyle/>
            <a:p>
              <a:pPr algn="ctr" indent="0" marL="0">
                <a:lnSpc>
                  <a:spcPts val="1375"/>
                </a:lnSpc>
                <a:buNone/>
              </a:pPr>
              <a:r>
                <a:rPr lang="en-US" sz="1100" spc="0" kern="0" b="0" i="0" dirty="0">
                  <a:solidFill>
                    <a:srgbClr val="070154"/>
                  </a:solidFill>
                  <a:latin typeface="IBM Plex Sans"/>
                  <a:ea typeface="IBM Plex Sans"/>
                  <a:cs typeface="IBM Plex Sans"/>
                </a:rPr>
                <a:t>Shared in the app.</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ource-42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track has its own outcome, owner and dependency</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143</a:t>
            </a:fld>
            <a:endParaRPr lang="en-US" sz="700" spc="0" kern="0" b="0" i="0" dirty="0">
              <a:solidFill>
                <a:srgbClr val="070154"/>
              </a:solidFill>
              <a:latin typeface="IBM Plex Mono SemiBold"/>
              <a:ea typeface="IBM Plex Mono SemiBold"/>
              <a:cs typeface="IBM Plex Mono SemiBold"/>
            </a:endParaRPr>
          </a:p>
        </p:txBody>
      </p:sp>
      <p:grpSp>
        <p:nvGrpSpPr>
          <p:cNvPr id="71" name="node01"/>
          <p:cNvGrpSpPr/>
          <p:nvPr/>
        </p:nvGrpSpPr>
        <p:grpSpPr>
          <a:xfrm>
            <a:off x="723900" y="1600200"/>
            <a:ext cx="10744200" cy="2743200"/>
            <a:chOff x="723900" y="1600200"/>
            <a:chExt cx="10744200" cy="2743200"/>
          </a:xfrm>
        </p:grpSpPr>
        <p:sp>
          <p:nvSpPr>
            <p:cNvPr id="7" name="node01.trunk.road"/>
            <p:cNvSpPr/>
            <p:nvPr/>
          </p:nvSpPr>
          <p:spPr>
            <a:xfrm>
              <a:off x="901700" y="2971800"/>
              <a:ext cx="3045460" cy="0"/>
            </a:xfrm>
            <a:custGeom>
              <a:avLst/>
              <a:gdLst/>
              <a:ahLst/>
              <a:cxnLst/>
              <a:rect l="l" t="t" r="r" b="b"/>
              <a:pathLst>
                <a:path w="3045460">
                  <a:moveTo>
                    <a:pt x="0" y="0"/>
                  </a:moveTo>
                  <a:lnTo>
                    <a:pt x="3045460" y="0"/>
                  </a:lnTo>
                </a:path>
              </a:pathLst>
            </a:custGeom>
            <a:ln w="228600">
              <a:solidFill>
                <a:srgbClr val="070154"/>
              </a:solidFill>
              <a:prstDash val="solid"/>
              <a:round/>
            </a:ln>
          </p:spPr>
        </p:sp>
        <p:sp>
          <p:nvSpPr>
            <p:cNvPr id="8" name="node01.trunk.road.cap-1"/>
            <p:cNvSpPr/>
            <p:nvPr/>
          </p:nvSpPr>
          <p:spPr>
            <a:xfrm>
              <a:off x="787400" y="2857500"/>
              <a:ext cx="228600" cy="228600"/>
            </a:xfrm>
            <a:prstGeom prst="ellipse">
              <a:avLst/>
            </a:prstGeom>
            <a:solidFill>
              <a:srgbClr val="070154"/>
            </a:solidFill>
            <a:ln>
              <a:noFill/>
            </a:ln>
          </p:spPr>
        </p:sp>
        <p:sp>
          <p:nvSpPr>
            <p:cNvPr id="9" name="node01.trunk.road.cap-2"/>
            <p:cNvSpPr/>
            <p:nvPr/>
          </p:nvSpPr>
          <p:spPr>
            <a:xfrm>
              <a:off x="3832860" y="2857500"/>
              <a:ext cx="228600" cy="228600"/>
            </a:xfrm>
            <a:prstGeom prst="ellipse">
              <a:avLst/>
            </a:prstGeom>
            <a:solidFill>
              <a:srgbClr val="070154"/>
            </a:solidFill>
            <a:ln>
              <a:noFill/>
            </a:ln>
          </p:spPr>
        </p:sp>
        <p:sp>
          <p:nvSpPr>
            <p:cNvPr id="10" name="node01.trunk.centerline"/>
            <p:cNvSpPr/>
            <p:nvPr/>
          </p:nvSpPr>
          <p:spPr>
            <a:xfrm>
              <a:off x="901700" y="2971800"/>
              <a:ext cx="3045460" cy="0"/>
            </a:xfrm>
            <a:custGeom>
              <a:avLst/>
              <a:gdLst/>
              <a:ahLst/>
              <a:cxnLst/>
              <a:rect l="l" t="t" r="r" b="b"/>
              <a:pathLst>
                <a:path w="3045460">
                  <a:moveTo>
                    <a:pt x="0" y="0"/>
                  </a:moveTo>
                  <a:lnTo>
                    <a:pt x="88900" y="0"/>
                  </a:lnTo>
                  <a:moveTo>
                    <a:pt x="177800" y="0"/>
                  </a:moveTo>
                  <a:lnTo>
                    <a:pt x="266700" y="0"/>
                  </a:lnTo>
                  <a:moveTo>
                    <a:pt x="355600" y="0"/>
                  </a:moveTo>
                  <a:lnTo>
                    <a:pt x="444500" y="0"/>
                  </a:lnTo>
                  <a:moveTo>
                    <a:pt x="533400" y="0"/>
                  </a:moveTo>
                  <a:lnTo>
                    <a:pt x="622300" y="0"/>
                  </a:lnTo>
                  <a:moveTo>
                    <a:pt x="711200" y="0"/>
                  </a:moveTo>
                  <a:lnTo>
                    <a:pt x="800100" y="0"/>
                  </a:lnTo>
                  <a:moveTo>
                    <a:pt x="889000" y="0"/>
                  </a:moveTo>
                  <a:lnTo>
                    <a:pt x="977900" y="0"/>
                  </a:lnTo>
                  <a:moveTo>
                    <a:pt x="1066800" y="0"/>
                  </a:moveTo>
                  <a:lnTo>
                    <a:pt x="1155700" y="0"/>
                  </a:lnTo>
                  <a:moveTo>
                    <a:pt x="1244600" y="0"/>
                  </a:moveTo>
                  <a:lnTo>
                    <a:pt x="1333500" y="0"/>
                  </a:lnTo>
                  <a:moveTo>
                    <a:pt x="1422400" y="0"/>
                  </a:moveTo>
                  <a:lnTo>
                    <a:pt x="1511300" y="0"/>
                  </a:lnTo>
                  <a:moveTo>
                    <a:pt x="1600200" y="0"/>
                  </a:moveTo>
                  <a:lnTo>
                    <a:pt x="1689100" y="0"/>
                  </a:lnTo>
                  <a:moveTo>
                    <a:pt x="1778000" y="0"/>
                  </a:moveTo>
                  <a:lnTo>
                    <a:pt x="1866900" y="0"/>
                  </a:lnTo>
                  <a:moveTo>
                    <a:pt x="1955800" y="0"/>
                  </a:moveTo>
                  <a:lnTo>
                    <a:pt x="2044700" y="0"/>
                  </a:lnTo>
                  <a:moveTo>
                    <a:pt x="2133600" y="0"/>
                  </a:moveTo>
                  <a:lnTo>
                    <a:pt x="2222500" y="0"/>
                  </a:lnTo>
                  <a:moveTo>
                    <a:pt x="2311400" y="0"/>
                  </a:moveTo>
                  <a:lnTo>
                    <a:pt x="2400300" y="0"/>
                  </a:lnTo>
                  <a:moveTo>
                    <a:pt x="2489200" y="0"/>
                  </a:moveTo>
                  <a:lnTo>
                    <a:pt x="2578100" y="0"/>
                  </a:lnTo>
                  <a:moveTo>
                    <a:pt x="2667000" y="0"/>
                  </a:moveTo>
                  <a:lnTo>
                    <a:pt x="2755900" y="0"/>
                  </a:lnTo>
                  <a:moveTo>
                    <a:pt x="2844800" y="0"/>
                  </a:moveTo>
                  <a:lnTo>
                    <a:pt x="2933700" y="0"/>
                  </a:lnTo>
                  <a:moveTo>
                    <a:pt x="3022600" y="0"/>
                  </a:moveTo>
                  <a:lnTo>
                    <a:pt x="3045460" y="0"/>
                  </a:lnTo>
                </a:path>
              </a:pathLst>
            </a:custGeom>
            <a:ln w="19050">
              <a:solidFill>
                <a:srgbClr val="FFFFFF"/>
              </a:solidFill>
              <a:prstDash val="solid"/>
              <a:round/>
            </a:ln>
          </p:spPr>
        </p:sp>
        <p:sp>
          <p:nvSpPr>
            <p:cNvPr id="11" name="node01.branches.source-001.road"/>
            <p:cNvSpPr/>
            <p:nvPr/>
          </p:nvSpPr>
          <p:spPr>
            <a:xfrm>
              <a:off x="3947160" y="2176272"/>
              <a:ext cx="7343140" cy="795528"/>
            </a:xfrm>
            <a:custGeom>
              <a:avLst/>
              <a:gdLst/>
              <a:ahLst/>
              <a:cxnLst/>
              <a:rect l="l" t="t" r="r" b="b"/>
              <a:pathLst>
                <a:path w="7343140" h="795528">
                  <a:moveTo>
                    <a:pt x="0" y="795528"/>
                  </a:moveTo>
                  <a:cubicBezTo>
                    <a:pt x="754380" y="795528"/>
                    <a:pt x="617220" y="0"/>
                    <a:pt x="1371600" y="0"/>
                  </a:cubicBezTo>
                  <a:lnTo>
                    <a:pt x="7343140" y="0"/>
                  </a:lnTo>
                </a:path>
              </a:pathLst>
            </a:custGeom>
            <a:ln w="228600">
              <a:solidFill>
                <a:srgbClr val="070154"/>
              </a:solidFill>
              <a:prstDash val="solid"/>
              <a:round/>
            </a:ln>
          </p:spPr>
        </p:sp>
        <p:sp>
          <p:nvSpPr>
            <p:cNvPr id="12" name="node01.branches.source-001.road.cap-1"/>
            <p:cNvSpPr/>
            <p:nvPr/>
          </p:nvSpPr>
          <p:spPr>
            <a:xfrm>
              <a:off x="3832860" y="2857500"/>
              <a:ext cx="228600" cy="228600"/>
            </a:xfrm>
            <a:prstGeom prst="ellipse">
              <a:avLst/>
            </a:prstGeom>
            <a:solidFill>
              <a:srgbClr val="070154"/>
            </a:solidFill>
            <a:ln>
              <a:noFill/>
            </a:ln>
          </p:spPr>
        </p:sp>
        <p:sp>
          <p:nvSpPr>
            <p:cNvPr id="13" name="node01.branches.source-001.road.cap-2"/>
            <p:cNvSpPr/>
            <p:nvPr/>
          </p:nvSpPr>
          <p:spPr>
            <a:xfrm>
              <a:off x="11176000" y="2061972"/>
              <a:ext cx="228600" cy="228600"/>
            </a:xfrm>
            <a:prstGeom prst="ellipse">
              <a:avLst/>
            </a:prstGeom>
            <a:solidFill>
              <a:srgbClr val="070154"/>
            </a:solidFill>
            <a:ln>
              <a:noFill/>
            </a:ln>
          </p:spPr>
        </p:sp>
        <p:sp>
          <p:nvSpPr>
            <p:cNvPr id="14" name="node01.branches.source-001.centerline"/>
            <p:cNvSpPr/>
            <p:nvPr/>
          </p:nvSpPr>
          <p:spPr>
            <a:xfrm>
              <a:off x="3947160" y="2176272"/>
              <a:ext cx="7343140" cy="795528"/>
            </a:xfrm>
            <a:custGeom>
              <a:avLst/>
              <a:gdLst/>
              <a:ahLst/>
              <a:cxnLst/>
              <a:rect l="l" t="t" r="r" b="b"/>
              <a:pathLst>
                <a:path w="7343140" h="795528">
                  <a:moveTo>
                    <a:pt x="0" y="795528"/>
                  </a:moveTo>
                  <a:cubicBezTo>
                    <a:pt x="31064" y="795528"/>
                    <a:pt x="60617" y="794179"/>
                    <a:pt x="88782" y="791592"/>
                  </a:cubicBezTo>
                  <a:moveTo>
                    <a:pt x="176704" y="778742"/>
                  </a:moveTo>
                  <a:cubicBezTo>
                    <a:pt x="207014" y="772539"/>
                    <a:pt x="235525" y="764730"/>
                    <a:pt x="262451" y="755508"/>
                  </a:cubicBezTo>
                  <a:moveTo>
                    <a:pt x="344296" y="720986"/>
                  </a:moveTo>
                  <a:cubicBezTo>
                    <a:pt x="371359" y="707263"/>
                    <a:pt x="396667" y="691973"/>
                    <a:pt x="420537" y="675401"/>
                  </a:cubicBezTo>
                  <a:moveTo>
                    <a:pt x="490220" y="620286"/>
                  </a:moveTo>
                  <a:cubicBezTo>
                    <a:pt x="512439" y="600496"/>
                    <a:pt x="533444" y="579622"/>
                    <a:pt x="553598" y="557990"/>
                  </a:cubicBezTo>
                  <a:moveTo>
                    <a:pt x="612000" y="490983"/>
                  </a:moveTo>
                  <a:cubicBezTo>
                    <a:pt x="630831" y="468133"/>
                    <a:pt x="649175" y="444849"/>
                    <a:pt x="667395" y="421455"/>
                  </a:cubicBezTo>
                  <a:moveTo>
                    <a:pt x="722017" y="351315"/>
                  </a:moveTo>
                  <a:cubicBezTo>
                    <a:pt x="740365" y="328015"/>
                    <a:pt x="758955" y="304930"/>
                    <a:pt x="778152" y="282387"/>
                  </a:cubicBezTo>
                  <a:moveTo>
                    <a:pt x="837977" y="216654"/>
                  </a:moveTo>
                  <a:cubicBezTo>
                    <a:pt x="858668" y="195607"/>
                    <a:pt x="880323" y="175420"/>
                    <a:pt x="903303" y="156415"/>
                  </a:cubicBezTo>
                  <a:moveTo>
                    <a:pt x="975152" y="104165"/>
                  </a:moveTo>
                  <a:cubicBezTo>
                    <a:pt x="999628" y="88707"/>
                    <a:pt x="1025599" y="74585"/>
                    <a:pt x="1053370" y="62067"/>
                  </a:cubicBezTo>
                  <a:moveTo>
                    <a:pt x="1136685" y="31254"/>
                  </a:moveTo>
                  <a:cubicBezTo>
                    <a:pt x="1163928" y="23224"/>
                    <a:pt x="1192738" y="16593"/>
                    <a:pt x="1223312" y="11535"/>
                  </a:cubicBezTo>
                  <a:moveTo>
                    <a:pt x="1311634" y="1755"/>
                  </a:moveTo>
                  <a:cubicBezTo>
                    <a:pt x="1330979" y="596"/>
                    <a:pt x="1350956" y="0"/>
                    <a:pt x="1371600" y="0"/>
                  </a:cubicBezTo>
                  <a:lnTo>
                    <a:pt x="1400500" y="0"/>
                  </a:lnTo>
                  <a:moveTo>
                    <a:pt x="1489400" y="0"/>
                  </a:moveTo>
                  <a:lnTo>
                    <a:pt x="1578300" y="0"/>
                  </a:lnTo>
                  <a:moveTo>
                    <a:pt x="1667200" y="0"/>
                  </a:moveTo>
                  <a:lnTo>
                    <a:pt x="1756100" y="0"/>
                  </a:lnTo>
                  <a:moveTo>
                    <a:pt x="1845000" y="0"/>
                  </a:moveTo>
                  <a:lnTo>
                    <a:pt x="1933900" y="0"/>
                  </a:lnTo>
                  <a:moveTo>
                    <a:pt x="2022800" y="0"/>
                  </a:moveTo>
                  <a:lnTo>
                    <a:pt x="2111700" y="0"/>
                  </a:lnTo>
                  <a:moveTo>
                    <a:pt x="2200600" y="0"/>
                  </a:moveTo>
                  <a:lnTo>
                    <a:pt x="2289500" y="0"/>
                  </a:lnTo>
                  <a:moveTo>
                    <a:pt x="2378400" y="0"/>
                  </a:moveTo>
                  <a:lnTo>
                    <a:pt x="2467300" y="0"/>
                  </a:lnTo>
                  <a:moveTo>
                    <a:pt x="2556200" y="0"/>
                  </a:moveTo>
                  <a:lnTo>
                    <a:pt x="2645100" y="0"/>
                  </a:lnTo>
                  <a:moveTo>
                    <a:pt x="2734000" y="0"/>
                  </a:moveTo>
                  <a:lnTo>
                    <a:pt x="2822900" y="0"/>
                  </a:lnTo>
                  <a:moveTo>
                    <a:pt x="2911800" y="0"/>
                  </a:moveTo>
                  <a:lnTo>
                    <a:pt x="3000700" y="0"/>
                  </a:lnTo>
                  <a:moveTo>
                    <a:pt x="3089600" y="0"/>
                  </a:moveTo>
                  <a:lnTo>
                    <a:pt x="3178500" y="0"/>
                  </a:lnTo>
                  <a:moveTo>
                    <a:pt x="3267400" y="0"/>
                  </a:moveTo>
                  <a:lnTo>
                    <a:pt x="3356300" y="0"/>
                  </a:lnTo>
                  <a:moveTo>
                    <a:pt x="3445200" y="0"/>
                  </a:moveTo>
                  <a:lnTo>
                    <a:pt x="3534100" y="0"/>
                  </a:lnTo>
                  <a:moveTo>
                    <a:pt x="3623000" y="0"/>
                  </a:moveTo>
                  <a:lnTo>
                    <a:pt x="3711900" y="0"/>
                  </a:lnTo>
                  <a:moveTo>
                    <a:pt x="3800800" y="0"/>
                  </a:moveTo>
                  <a:lnTo>
                    <a:pt x="3889700" y="0"/>
                  </a:lnTo>
                  <a:moveTo>
                    <a:pt x="3978600" y="0"/>
                  </a:moveTo>
                  <a:lnTo>
                    <a:pt x="4067500" y="0"/>
                  </a:lnTo>
                  <a:moveTo>
                    <a:pt x="4156400" y="0"/>
                  </a:moveTo>
                  <a:lnTo>
                    <a:pt x="4245300" y="0"/>
                  </a:lnTo>
                  <a:moveTo>
                    <a:pt x="4334200" y="0"/>
                  </a:moveTo>
                  <a:lnTo>
                    <a:pt x="4423100" y="0"/>
                  </a:lnTo>
                  <a:moveTo>
                    <a:pt x="4512000" y="0"/>
                  </a:moveTo>
                  <a:lnTo>
                    <a:pt x="4600900" y="0"/>
                  </a:lnTo>
                  <a:moveTo>
                    <a:pt x="4689800" y="0"/>
                  </a:moveTo>
                  <a:lnTo>
                    <a:pt x="4778700" y="0"/>
                  </a:lnTo>
                  <a:moveTo>
                    <a:pt x="4867600" y="0"/>
                  </a:moveTo>
                  <a:lnTo>
                    <a:pt x="4956500" y="0"/>
                  </a:lnTo>
                  <a:moveTo>
                    <a:pt x="5045400" y="0"/>
                  </a:moveTo>
                  <a:lnTo>
                    <a:pt x="5134300" y="0"/>
                  </a:lnTo>
                  <a:moveTo>
                    <a:pt x="5223200" y="0"/>
                  </a:moveTo>
                  <a:lnTo>
                    <a:pt x="5312100" y="0"/>
                  </a:lnTo>
                  <a:moveTo>
                    <a:pt x="5401000" y="0"/>
                  </a:moveTo>
                  <a:lnTo>
                    <a:pt x="5489900" y="0"/>
                  </a:lnTo>
                  <a:moveTo>
                    <a:pt x="5578800" y="0"/>
                  </a:moveTo>
                  <a:lnTo>
                    <a:pt x="5667700" y="0"/>
                  </a:lnTo>
                  <a:moveTo>
                    <a:pt x="5756600" y="0"/>
                  </a:moveTo>
                  <a:lnTo>
                    <a:pt x="5845500" y="0"/>
                  </a:lnTo>
                  <a:moveTo>
                    <a:pt x="5934400" y="0"/>
                  </a:moveTo>
                  <a:lnTo>
                    <a:pt x="6023300" y="0"/>
                  </a:lnTo>
                  <a:moveTo>
                    <a:pt x="6112200" y="0"/>
                  </a:moveTo>
                  <a:lnTo>
                    <a:pt x="6201100" y="0"/>
                  </a:lnTo>
                  <a:moveTo>
                    <a:pt x="6290000" y="0"/>
                  </a:moveTo>
                  <a:lnTo>
                    <a:pt x="6378900" y="0"/>
                  </a:lnTo>
                  <a:moveTo>
                    <a:pt x="6467800" y="0"/>
                  </a:moveTo>
                  <a:lnTo>
                    <a:pt x="6556700" y="0"/>
                  </a:lnTo>
                  <a:moveTo>
                    <a:pt x="6645600" y="0"/>
                  </a:moveTo>
                  <a:lnTo>
                    <a:pt x="6734500" y="0"/>
                  </a:lnTo>
                  <a:moveTo>
                    <a:pt x="6823400" y="0"/>
                  </a:moveTo>
                  <a:lnTo>
                    <a:pt x="6912300" y="0"/>
                  </a:lnTo>
                  <a:moveTo>
                    <a:pt x="7001200" y="0"/>
                  </a:moveTo>
                  <a:lnTo>
                    <a:pt x="7090100" y="0"/>
                  </a:lnTo>
                  <a:moveTo>
                    <a:pt x="7179000" y="0"/>
                  </a:moveTo>
                  <a:lnTo>
                    <a:pt x="7267900" y="0"/>
                  </a:lnTo>
                </a:path>
              </a:pathLst>
            </a:custGeom>
            <a:ln w="19050">
              <a:solidFill>
                <a:srgbClr val="FFFFFF"/>
              </a:solidFill>
              <a:prstDash val="solid"/>
              <a:round/>
            </a:ln>
          </p:spPr>
        </p:sp>
        <p:sp>
          <p:nvSpPr>
            <p:cNvPr id="15" name="node01.branches.source-002.road"/>
            <p:cNvSpPr/>
            <p:nvPr/>
          </p:nvSpPr>
          <p:spPr>
            <a:xfrm>
              <a:off x="3947160" y="2971800"/>
              <a:ext cx="7343140" cy="576072"/>
            </a:xfrm>
            <a:custGeom>
              <a:avLst/>
              <a:gdLst/>
              <a:ahLst/>
              <a:cxnLst/>
              <a:rect l="l" t="t" r="r" b="b"/>
              <a:pathLst>
                <a:path w="7343140" h="576072">
                  <a:moveTo>
                    <a:pt x="0" y="0"/>
                  </a:moveTo>
                  <a:cubicBezTo>
                    <a:pt x="754380" y="0"/>
                    <a:pt x="617220" y="576072"/>
                    <a:pt x="1371600" y="576072"/>
                  </a:cubicBezTo>
                  <a:lnTo>
                    <a:pt x="7343140" y="576072"/>
                  </a:lnTo>
                </a:path>
              </a:pathLst>
            </a:custGeom>
            <a:ln w="228600">
              <a:solidFill>
                <a:srgbClr val="070154"/>
              </a:solidFill>
              <a:prstDash val="solid"/>
              <a:round/>
            </a:ln>
          </p:spPr>
        </p:sp>
        <p:sp>
          <p:nvSpPr>
            <p:cNvPr id="16" name="node01.branches.source-002.road.cap-1"/>
            <p:cNvSpPr/>
            <p:nvPr/>
          </p:nvSpPr>
          <p:spPr>
            <a:xfrm>
              <a:off x="3832860" y="2857500"/>
              <a:ext cx="228600" cy="228600"/>
            </a:xfrm>
            <a:prstGeom prst="ellipse">
              <a:avLst/>
            </a:prstGeom>
            <a:solidFill>
              <a:srgbClr val="070154"/>
            </a:solidFill>
            <a:ln>
              <a:noFill/>
            </a:ln>
          </p:spPr>
        </p:sp>
        <p:sp>
          <p:nvSpPr>
            <p:cNvPr id="17" name="node01.branches.source-002.road.cap-2"/>
            <p:cNvSpPr/>
            <p:nvPr/>
          </p:nvSpPr>
          <p:spPr>
            <a:xfrm>
              <a:off x="11176000" y="3433572"/>
              <a:ext cx="228600" cy="228600"/>
            </a:xfrm>
            <a:prstGeom prst="ellipse">
              <a:avLst/>
            </a:prstGeom>
            <a:solidFill>
              <a:srgbClr val="070154"/>
            </a:solidFill>
            <a:ln>
              <a:noFill/>
            </a:ln>
          </p:spPr>
        </p:sp>
        <p:sp>
          <p:nvSpPr>
            <p:cNvPr id="18" name="node01.branches.source-002.centerline"/>
            <p:cNvSpPr/>
            <p:nvPr/>
          </p:nvSpPr>
          <p:spPr>
            <a:xfrm>
              <a:off x="3947160" y="2971800"/>
              <a:ext cx="7343140" cy="576072"/>
            </a:xfrm>
            <a:custGeom>
              <a:avLst/>
              <a:gdLst/>
              <a:ahLst/>
              <a:cxnLst/>
              <a:rect l="l" t="t" r="r" b="b"/>
              <a:pathLst>
                <a:path w="7343140" h="576072">
                  <a:moveTo>
                    <a:pt x="0" y="0"/>
                  </a:moveTo>
                  <a:cubicBezTo>
                    <a:pt x="31085" y="0"/>
                    <a:pt x="60656" y="978"/>
                    <a:pt x="88839" y="2854"/>
                  </a:cubicBezTo>
                  <a:moveTo>
                    <a:pt x="177219" y="12232"/>
                  </a:moveTo>
                  <a:cubicBezTo>
                    <a:pt x="208067" y="16820"/>
                    <a:pt x="237051" y="22613"/>
                    <a:pt x="264396" y="29464"/>
                  </a:cubicBezTo>
                  <a:moveTo>
                    <a:pt x="349250" y="55818"/>
                  </a:moveTo>
                  <a:cubicBezTo>
                    <a:pt x="378175" y="66673"/>
                    <a:pt x="405086" y="78829"/>
                    <a:pt x="430379" y="92031"/>
                  </a:cubicBezTo>
                  <a:moveTo>
                    <a:pt x="506575" y="137731"/>
                  </a:moveTo>
                  <a:cubicBezTo>
                    <a:pt x="531548" y="154705"/>
                    <a:pt x="555025" y="172646"/>
                    <a:pt x="577564" y="191193"/>
                  </a:cubicBezTo>
                  <a:moveTo>
                    <a:pt x="644473" y="249712"/>
                  </a:moveTo>
                  <a:cubicBezTo>
                    <a:pt x="666371" y="269759"/>
                    <a:pt x="687878" y="290058"/>
                    <a:pt x="709611" y="310212"/>
                  </a:cubicBezTo>
                  <a:moveTo>
                    <a:pt x="775785" y="369568"/>
                  </a:moveTo>
                  <a:cubicBezTo>
                    <a:pt x="798037" y="388576"/>
                    <a:pt x="821088" y="407069"/>
                    <a:pt x="845512" y="424675"/>
                  </a:cubicBezTo>
                  <a:moveTo>
                    <a:pt x="920283" y="472677"/>
                  </a:moveTo>
                  <a:cubicBezTo>
                    <a:pt x="945207" y="486731"/>
                    <a:pt x="971700" y="499772"/>
                    <a:pt x="1000184" y="511525"/>
                  </a:cubicBezTo>
                  <a:moveTo>
                    <a:pt x="1084181" y="540485"/>
                  </a:moveTo>
                  <a:cubicBezTo>
                    <a:pt x="1111332" y="548132"/>
                    <a:pt x="1140144" y="554706"/>
                    <a:pt x="1170863" y="560049"/>
                  </a:cubicBezTo>
                  <a:moveTo>
                    <a:pt x="1259007" y="571398"/>
                  </a:moveTo>
                  <a:cubicBezTo>
                    <a:pt x="1287126" y="573841"/>
                    <a:pt x="1316670" y="575363"/>
                    <a:pt x="1347775" y="575877"/>
                  </a:cubicBezTo>
                  <a:moveTo>
                    <a:pt x="1436676" y="576072"/>
                  </a:moveTo>
                  <a:lnTo>
                    <a:pt x="1525576" y="576072"/>
                  </a:lnTo>
                  <a:moveTo>
                    <a:pt x="1614476" y="576072"/>
                  </a:moveTo>
                  <a:lnTo>
                    <a:pt x="1703376" y="576072"/>
                  </a:lnTo>
                  <a:moveTo>
                    <a:pt x="1792276" y="576072"/>
                  </a:moveTo>
                  <a:lnTo>
                    <a:pt x="1881176" y="576072"/>
                  </a:lnTo>
                  <a:moveTo>
                    <a:pt x="1970076" y="576072"/>
                  </a:moveTo>
                  <a:lnTo>
                    <a:pt x="2058976" y="576072"/>
                  </a:lnTo>
                  <a:moveTo>
                    <a:pt x="2147876" y="576072"/>
                  </a:moveTo>
                  <a:lnTo>
                    <a:pt x="2236776" y="576072"/>
                  </a:lnTo>
                  <a:moveTo>
                    <a:pt x="2325676" y="576072"/>
                  </a:moveTo>
                  <a:lnTo>
                    <a:pt x="2414576" y="576072"/>
                  </a:lnTo>
                  <a:moveTo>
                    <a:pt x="2503476" y="576072"/>
                  </a:moveTo>
                  <a:lnTo>
                    <a:pt x="2592376" y="576072"/>
                  </a:lnTo>
                  <a:moveTo>
                    <a:pt x="2681276" y="576072"/>
                  </a:moveTo>
                  <a:lnTo>
                    <a:pt x="2770176" y="576072"/>
                  </a:lnTo>
                  <a:moveTo>
                    <a:pt x="2859076" y="576072"/>
                  </a:moveTo>
                  <a:lnTo>
                    <a:pt x="2947976" y="576072"/>
                  </a:lnTo>
                  <a:moveTo>
                    <a:pt x="3036876" y="576072"/>
                  </a:moveTo>
                  <a:lnTo>
                    <a:pt x="3125776" y="576072"/>
                  </a:lnTo>
                  <a:moveTo>
                    <a:pt x="3214676" y="576072"/>
                  </a:moveTo>
                  <a:lnTo>
                    <a:pt x="3303576" y="576072"/>
                  </a:lnTo>
                  <a:moveTo>
                    <a:pt x="3392476" y="576072"/>
                  </a:moveTo>
                  <a:lnTo>
                    <a:pt x="3481376" y="576072"/>
                  </a:lnTo>
                  <a:moveTo>
                    <a:pt x="3570276" y="576072"/>
                  </a:moveTo>
                  <a:lnTo>
                    <a:pt x="3659176" y="576072"/>
                  </a:lnTo>
                  <a:moveTo>
                    <a:pt x="3748076" y="576072"/>
                  </a:moveTo>
                  <a:lnTo>
                    <a:pt x="3836976" y="576072"/>
                  </a:lnTo>
                  <a:moveTo>
                    <a:pt x="3925876" y="576072"/>
                  </a:moveTo>
                  <a:lnTo>
                    <a:pt x="4014776" y="576072"/>
                  </a:lnTo>
                  <a:moveTo>
                    <a:pt x="4103676" y="576072"/>
                  </a:moveTo>
                  <a:lnTo>
                    <a:pt x="4192576" y="576072"/>
                  </a:lnTo>
                  <a:moveTo>
                    <a:pt x="4281476" y="576072"/>
                  </a:moveTo>
                  <a:lnTo>
                    <a:pt x="4370376" y="576072"/>
                  </a:lnTo>
                  <a:moveTo>
                    <a:pt x="4459276" y="576072"/>
                  </a:moveTo>
                  <a:lnTo>
                    <a:pt x="4548176" y="576072"/>
                  </a:lnTo>
                  <a:moveTo>
                    <a:pt x="4637076" y="576072"/>
                  </a:moveTo>
                  <a:lnTo>
                    <a:pt x="4725976" y="576072"/>
                  </a:lnTo>
                  <a:moveTo>
                    <a:pt x="4814876" y="576072"/>
                  </a:moveTo>
                  <a:lnTo>
                    <a:pt x="4903776" y="576072"/>
                  </a:lnTo>
                  <a:moveTo>
                    <a:pt x="4992676" y="576072"/>
                  </a:moveTo>
                  <a:lnTo>
                    <a:pt x="5081576" y="576072"/>
                  </a:lnTo>
                  <a:moveTo>
                    <a:pt x="5170476" y="576072"/>
                  </a:moveTo>
                  <a:lnTo>
                    <a:pt x="5259376" y="576072"/>
                  </a:lnTo>
                  <a:moveTo>
                    <a:pt x="5348276" y="576072"/>
                  </a:moveTo>
                  <a:lnTo>
                    <a:pt x="5437176" y="576072"/>
                  </a:lnTo>
                  <a:moveTo>
                    <a:pt x="5526076" y="576072"/>
                  </a:moveTo>
                  <a:lnTo>
                    <a:pt x="5614976" y="576072"/>
                  </a:lnTo>
                  <a:moveTo>
                    <a:pt x="5703876" y="576072"/>
                  </a:moveTo>
                  <a:lnTo>
                    <a:pt x="5792776" y="576072"/>
                  </a:lnTo>
                  <a:moveTo>
                    <a:pt x="5881676" y="576072"/>
                  </a:moveTo>
                  <a:lnTo>
                    <a:pt x="5970576" y="576072"/>
                  </a:lnTo>
                  <a:moveTo>
                    <a:pt x="6059476" y="576072"/>
                  </a:moveTo>
                  <a:lnTo>
                    <a:pt x="6148376" y="576072"/>
                  </a:lnTo>
                  <a:moveTo>
                    <a:pt x="6237276" y="576072"/>
                  </a:moveTo>
                  <a:lnTo>
                    <a:pt x="6326176" y="576072"/>
                  </a:lnTo>
                  <a:moveTo>
                    <a:pt x="6415076" y="576072"/>
                  </a:moveTo>
                  <a:lnTo>
                    <a:pt x="6503976" y="576072"/>
                  </a:lnTo>
                  <a:moveTo>
                    <a:pt x="6592876" y="576072"/>
                  </a:moveTo>
                  <a:lnTo>
                    <a:pt x="6681776" y="576072"/>
                  </a:lnTo>
                  <a:moveTo>
                    <a:pt x="6770676" y="576072"/>
                  </a:moveTo>
                  <a:lnTo>
                    <a:pt x="6859576" y="576072"/>
                  </a:lnTo>
                  <a:moveTo>
                    <a:pt x="6948476" y="576072"/>
                  </a:moveTo>
                  <a:lnTo>
                    <a:pt x="7037376" y="576072"/>
                  </a:lnTo>
                  <a:moveTo>
                    <a:pt x="7126276" y="576072"/>
                  </a:moveTo>
                  <a:lnTo>
                    <a:pt x="7215176" y="576072"/>
                  </a:lnTo>
                  <a:moveTo>
                    <a:pt x="7304076" y="576072"/>
                  </a:moveTo>
                  <a:lnTo>
                    <a:pt x="7343140" y="576072"/>
                  </a:lnTo>
                </a:path>
              </a:pathLst>
            </a:custGeom>
            <a:ln w="19050">
              <a:solidFill>
                <a:srgbClr val="FFFFFF"/>
              </a:solidFill>
              <a:prstDash val="solid"/>
              <a:round/>
            </a:ln>
          </p:spPr>
        </p:sp>
        <p:sp>
          <p:nvSpPr>
            <p:cNvPr id="19" name="node01.trunk.source-001.pin"/>
            <p:cNvSpPr/>
            <p:nvPr/>
          </p:nvSpPr>
          <p:spPr>
            <a:xfrm>
              <a:off x="2319655" y="2828925"/>
              <a:ext cx="285750" cy="285750"/>
            </a:xfrm>
            <a:prstGeom prst="ellipse">
              <a:avLst/>
            </a:prstGeom>
            <a:solidFill>
              <a:srgbClr val="FFFFFF"/>
            </a:solidFill>
            <a:ln w="19050">
              <a:solidFill>
                <a:srgbClr val="070154"/>
              </a:solidFill>
              <a:prstDash val="solid"/>
            </a:ln>
          </p:spPr>
        </p:sp>
        <p:sp>
          <p:nvSpPr>
            <p:cNvPr id="20" name="node01.trunk.source-001.number"/>
            <p:cNvSpPr/>
            <p:nvPr/>
          </p:nvSpPr>
          <p:spPr>
            <a:xfrm>
              <a:off x="2310130" y="28194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1</a:t>
              </a:r>
              <a:endParaRPr lang="en-US" sz="1000" spc="0" kern="0" b="0" i="0" dirty="0">
                <a:solidFill>
                  <a:srgbClr val="070154"/>
                </a:solidFill>
                <a:latin typeface="IBM Plex Mono SemiBold"/>
                <a:ea typeface="IBM Plex Mono SemiBold"/>
                <a:cs typeface="IBM Plex Mono SemiBold"/>
              </a:endParaRPr>
            </a:p>
          </p:txBody>
        </p:sp>
        <p:sp>
          <p:nvSpPr>
            <p:cNvPr id="21" name="node01.trunk.source-001.label.part-1"/>
            <p:cNvSpPr/>
            <p:nvPr/>
          </p:nvSpPr>
          <p:spPr>
            <a:xfrm>
              <a:off x="1181100" y="2207260"/>
              <a:ext cx="256286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Q4 2026</a:t>
              </a:r>
              <a:endParaRPr lang="en-US" sz="800" spc="48" kern="0" b="0" i="0" dirty="0">
                <a:solidFill>
                  <a:srgbClr val="0047FF"/>
                </a:solidFill>
                <a:latin typeface="IBM Plex Mono SemiBold"/>
                <a:ea typeface="IBM Plex Mono SemiBold"/>
                <a:cs typeface="IBM Plex Mono SemiBold"/>
              </a:endParaRPr>
            </a:p>
          </p:txBody>
        </p:sp>
        <p:sp>
          <p:nvSpPr>
            <p:cNvPr id="22" name="node01.trunk.source-001.label.part-2"/>
            <p:cNvSpPr/>
            <p:nvPr/>
          </p:nvSpPr>
          <p:spPr>
            <a:xfrm>
              <a:off x="1181100" y="2372360"/>
              <a:ext cx="2562860" cy="167640"/>
            </a:xfrm>
            <a:prstGeom prst="rect">
              <a:avLst/>
            </a:prstGeom>
            <a:noFill/>
            <a:ln/>
          </p:spPr>
          <p:txBody>
            <a:bodyPr wrap="square" lIns="0" tIns="0" rIns="0" bIns="0" rtlCol="0" anchor="t"/>
            <a:lstStyle/>
            <a:p>
              <a:pPr algn="ctr" indent="0" marL="0">
                <a:lnSpc>
                  <a:spcPts val="1320"/>
                </a:lnSpc>
                <a:buNone/>
              </a:pPr>
              <a:r>
                <a:rPr lang="en-US" sz="1100" spc="0" kern="0" b="0" i="0" dirty="0">
                  <a:solidFill>
                    <a:srgbClr val="070154"/>
                  </a:solidFill>
                  <a:latin typeface="IBM Plex Sans SemiBold"/>
                  <a:ea typeface="IBM Plex Sans SemiBold"/>
                  <a:cs typeface="IBM Plex Sans SemiBold"/>
                </a:rPr>
                <a:t>Patient data foundation</a:t>
              </a:r>
              <a:endParaRPr lang="en-US" sz="1100" spc="0" kern="0" b="0" i="0" dirty="0">
                <a:solidFill>
                  <a:srgbClr val="070154"/>
                </a:solidFill>
                <a:latin typeface="IBM Plex Sans SemiBold"/>
                <a:ea typeface="IBM Plex Sans SemiBold"/>
                <a:cs typeface="IBM Plex Sans SemiBold"/>
              </a:endParaRPr>
            </a:p>
          </p:txBody>
        </p:sp>
        <p:sp>
          <p:nvSpPr>
            <p:cNvPr id="23" name="node01.trunk.source-001.label.part-3"/>
            <p:cNvSpPr/>
            <p:nvPr/>
          </p:nvSpPr>
          <p:spPr>
            <a:xfrm>
              <a:off x="1181100" y="2565400"/>
              <a:ext cx="2562860" cy="177800"/>
            </a:xfrm>
            <a:prstGeom prst="rect">
              <a:avLst/>
            </a:prstGeom>
            <a:noFill/>
            <a:ln/>
          </p:spPr>
          <p:txBody>
            <a:bodyPr wrap="square" lIns="0" tIns="0" rIns="0" bIns="0" rtlCol="0" anchor="t"/>
            <a:lstStyle/>
            <a:p>
              <a:pPr algn="ctr" indent="0" marL="0">
                <a:lnSpc>
                  <a:spcPts val="1375"/>
                </a:lnSpc>
                <a:buNone/>
              </a:pPr>
              <a:r>
                <a:rPr lang="en-US" sz="1100" spc="0" kern="0" b="0" i="0" dirty="0">
                  <a:solidFill>
                    <a:srgbClr val="070154"/>
                  </a:solidFill>
                  <a:latin typeface="IBM Plex Sans"/>
                  <a:ea typeface="IBM Plex Sans"/>
                  <a:cs typeface="IBM Plex Sans"/>
                </a:rPr>
                <a:t>One master patient index.</a:t>
              </a:r>
              <a:endParaRPr lang="en-US" sz="1100" spc="0" kern="0" b="0" i="0" dirty="0">
                <a:solidFill>
                  <a:srgbClr val="070154"/>
                </a:solidFill>
                <a:latin typeface="IBM Plex Sans"/>
                <a:ea typeface="IBM Plex Sans"/>
                <a:cs typeface="IBM Plex Sans"/>
              </a:endParaRPr>
            </a:p>
          </p:txBody>
        </p:sp>
        <p:sp>
          <p:nvSpPr>
            <p:cNvPr id="24" name="node01.fork.split"/>
            <p:cNvSpPr/>
            <p:nvPr/>
          </p:nvSpPr>
          <p:spPr>
            <a:xfrm>
              <a:off x="3807460" y="2832100"/>
              <a:ext cx="279400" cy="279400"/>
            </a:xfrm>
            <a:prstGeom prst="rect">
              <a:avLst/>
            </a:prstGeom>
            <a:solidFill>
              <a:srgbClr val="070154"/>
            </a:solidFill>
            <a:ln w="38100">
              <a:solidFill>
                <a:srgbClr val="070154"/>
              </a:solidFill>
              <a:prstDash val="solid"/>
            </a:ln>
          </p:spPr>
        </p:sp>
        <p:sp>
          <p:nvSpPr>
            <p:cNvPr id="25" name="node01.fork.split.inset"/>
            <p:cNvSpPr/>
            <p:nvPr/>
          </p:nvSpPr>
          <p:spPr>
            <a:xfrm>
              <a:off x="3826510" y="2851150"/>
              <a:ext cx="241300" cy="241300"/>
            </a:xfrm>
            <a:prstGeom prst="rect">
              <a:avLst/>
            </a:prstGeom>
            <a:solidFill>
              <a:srgbClr val="070154"/>
            </a:solidFill>
            <a:ln w="38100">
              <a:solidFill>
                <a:srgbClr val="FFFFFF"/>
              </a:solidFill>
              <a:prstDash val="solid"/>
            </a:ln>
          </p:spPr>
        </p:sp>
        <p:sp>
          <p:nvSpPr>
            <p:cNvPr id="26" name="node01.fork.label.part-1"/>
            <p:cNvSpPr/>
            <p:nvPr/>
          </p:nvSpPr>
          <p:spPr>
            <a:xfrm>
              <a:off x="2918460" y="1600200"/>
              <a:ext cx="20574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RUN IN PARALLEL</a:t>
              </a:r>
              <a:endParaRPr lang="en-US" sz="800" spc="48" kern="0" b="0" i="0" dirty="0">
                <a:solidFill>
                  <a:srgbClr val="0047FF"/>
                </a:solidFill>
                <a:latin typeface="IBM Plex Mono SemiBold"/>
                <a:ea typeface="IBM Plex Mono SemiBold"/>
                <a:cs typeface="IBM Plex Mono SemiBold"/>
              </a:endParaRPr>
            </a:p>
          </p:txBody>
        </p:sp>
        <p:sp>
          <p:nvSpPr>
            <p:cNvPr id="27" name="node01.fork.label.part-2"/>
            <p:cNvSpPr/>
            <p:nvPr/>
          </p:nvSpPr>
          <p:spPr>
            <a:xfrm>
              <a:off x="2918460" y="1765300"/>
              <a:ext cx="2057400" cy="18288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Foundation complete</a:t>
              </a:r>
              <a:endParaRPr lang="en-US" sz="1200" spc="0" kern="0" b="0" i="0" dirty="0">
                <a:solidFill>
                  <a:srgbClr val="070154"/>
                </a:solidFill>
                <a:latin typeface="IBM Plex Sans SemiBold"/>
                <a:ea typeface="IBM Plex Sans SemiBold"/>
                <a:cs typeface="IBM Plex Sans SemiBold"/>
              </a:endParaRPr>
            </a:p>
          </p:txBody>
        </p:sp>
        <p:sp>
          <p:nvSpPr>
            <p:cNvPr id="28" name="node01.fork.label.part-3"/>
            <p:cNvSpPr/>
            <p:nvPr/>
          </p:nvSpPr>
          <p:spPr>
            <a:xfrm>
              <a:off x="2918460" y="1973580"/>
              <a:ext cx="2057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50658E"/>
                  </a:solidFill>
                  <a:latin typeface="IBM Plex Sans"/>
                  <a:ea typeface="IBM Plex Sans"/>
                  <a:cs typeface="IBM Plex Sans"/>
                </a:rPr>
                <a:t>Tracks start together.</a:t>
              </a:r>
              <a:endParaRPr lang="en-US" sz="1100" spc="0" kern="0" b="0" i="0" dirty="0">
                <a:solidFill>
                  <a:srgbClr val="50658E"/>
                </a:solidFill>
                <a:latin typeface="IBM Plex Sans"/>
                <a:ea typeface="IBM Plex Sans"/>
                <a:cs typeface="IBM Plex Sans"/>
              </a:endParaRPr>
            </a:p>
          </p:txBody>
        </p:sp>
        <p:sp>
          <p:nvSpPr>
            <p:cNvPr id="29" name="node01.branches.source-001.title.part-1"/>
            <p:cNvSpPr/>
            <p:nvPr/>
          </p:nvSpPr>
          <p:spPr>
            <a:xfrm>
              <a:off x="5898005" y="1739392"/>
              <a:ext cx="4754755" cy="233680"/>
            </a:xfrm>
            <a:prstGeom prst="rect">
              <a:avLst/>
            </a:prstGeom>
            <a:noFill/>
            <a:ln/>
          </p:spPr>
          <p:txBody>
            <a:bodyPr wrap="square" lIns="0" tIns="0" rIns="0" bIns="0" rtlCol="0" anchor="t"/>
            <a:lstStyle/>
            <a:p>
              <a:pPr algn="l" indent="0" marL="0">
                <a:lnSpc>
                  <a:spcPts val="1840"/>
                </a:lnSpc>
                <a:buNone/>
              </a:pPr>
              <a:r>
                <a:rPr lang="en-US" sz="1600" spc="-16" kern="0" b="0" i="0" dirty="0">
                  <a:solidFill>
                    <a:srgbClr val="070154"/>
                  </a:solidFill>
                  <a:latin typeface="IBM Plex Sans SemiBold"/>
                  <a:ea typeface="IBM Plex Sans SemiBold"/>
                  <a:cs typeface="IBM Plex Sans SemiBold"/>
                </a:rPr>
                <a:t>Patient access</a:t>
              </a:r>
              <a:endParaRPr lang="en-US" sz="1600" spc="-16" kern="0" b="0" i="0" dirty="0">
                <a:solidFill>
                  <a:srgbClr val="070154"/>
                </a:solidFill>
                <a:latin typeface="IBM Plex Sans SemiBold"/>
                <a:ea typeface="IBM Plex Sans SemiBold"/>
                <a:cs typeface="IBM Plex Sans SemiBold"/>
              </a:endParaRPr>
            </a:p>
          </p:txBody>
        </p:sp>
        <p:sp>
          <p:nvSpPr>
            <p:cNvPr id="30" name="node01.branches.source-001.tag"/>
            <p:cNvSpPr/>
            <p:nvPr/>
          </p:nvSpPr>
          <p:spPr>
            <a:xfrm>
              <a:off x="5318760" y="1814322"/>
              <a:ext cx="49034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SemiBold"/>
                  <a:ea typeface="IBM Plex Mono SemiBold"/>
                  <a:cs typeface="IBM Plex Mono SemiBold"/>
                </a:rPr>
                <a:t>TRACK A</a:t>
              </a:r>
              <a:endParaRPr lang="en-US" sz="800" spc="48" kern="0" b="0" i="0" dirty="0">
                <a:solidFill>
                  <a:srgbClr val="0047FF"/>
                </a:solidFill>
                <a:latin typeface="IBM Plex Mono SemiBold"/>
                <a:ea typeface="IBM Plex Mono SemiBold"/>
                <a:cs typeface="IBM Plex Mono SemiBold"/>
              </a:endParaRPr>
            </a:p>
          </p:txBody>
        </p:sp>
        <p:sp>
          <p:nvSpPr>
            <p:cNvPr id="31" name="node01.branches.source-001.milestones.source-001.pin"/>
            <p:cNvSpPr/>
            <p:nvPr/>
          </p:nvSpPr>
          <p:spPr>
            <a:xfrm>
              <a:off x="6783070" y="2033397"/>
              <a:ext cx="285750" cy="285750"/>
            </a:xfrm>
            <a:prstGeom prst="ellipse">
              <a:avLst/>
            </a:prstGeom>
            <a:solidFill>
              <a:srgbClr val="FFFFFF"/>
            </a:solidFill>
            <a:ln w="19050">
              <a:solidFill>
                <a:srgbClr val="070154"/>
              </a:solidFill>
              <a:prstDash val="solid"/>
            </a:ln>
          </p:spPr>
        </p:sp>
        <p:sp>
          <p:nvSpPr>
            <p:cNvPr id="32" name="node01.branches.source-001.milestones.source-001.number"/>
            <p:cNvSpPr/>
            <p:nvPr/>
          </p:nvSpPr>
          <p:spPr>
            <a:xfrm>
              <a:off x="6773545" y="202387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A1</a:t>
              </a:r>
              <a:endParaRPr lang="en-US" sz="1000" spc="0" kern="0" b="0" i="0" dirty="0">
                <a:solidFill>
                  <a:srgbClr val="070154"/>
                </a:solidFill>
                <a:latin typeface="IBM Plex Mono SemiBold"/>
                <a:ea typeface="IBM Plex Mono SemiBold"/>
                <a:cs typeface="IBM Plex Mono SemiBold"/>
              </a:endParaRPr>
            </a:p>
          </p:txBody>
        </p:sp>
        <p:sp>
          <p:nvSpPr>
            <p:cNvPr id="33" name="node01.branches.source-001.milestones.source-001.label.part-1"/>
            <p:cNvSpPr/>
            <p:nvPr/>
          </p:nvSpPr>
          <p:spPr>
            <a:xfrm>
              <a:off x="5521960" y="2404872"/>
              <a:ext cx="280797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Q2 2027</a:t>
              </a:r>
              <a:endParaRPr lang="en-US" sz="800" spc="48" kern="0" b="0" i="0" dirty="0">
                <a:solidFill>
                  <a:srgbClr val="0047FF"/>
                </a:solidFill>
                <a:latin typeface="IBM Plex Mono SemiBold"/>
                <a:ea typeface="IBM Plex Mono SemiBold"/>
                <a:cs typeface="IBM Plex Mono SemiBold"/>
              </a:endParaRPr>
            </a:p>
          </p:txBody>
        </p:sp>
        <p:sp>
          <p:nvSpPr>
            <p:cNvPr id="34" name="node01.branches.source-001.milestones.source-001.label.part-2"/>
            <p:cNvSpPr/>
            <p:nvPr/>
          </p:nvSpPr>
          <p:spPr>
            <a:xfrm>
              <a:off x="5521960" y="2569972"/>
              <a:ext cx="2807970" cy="167640"/>
            </a:xfrm>
            <a:prstGeom prst="rect">
              <a:avLst/>
            </a:prstGeom>
            <a:noFill/>
            <a:ln/>
          </p:spPr>
          <p:txBody>
            <a:bodyPr wrap="square" lIns="0" tIns="0" rIns="0" bIns="0" rtlCol="0" anchor="t"/>
            <a:lstStyle/>
            <a:p>
              <a:pPr algn="ctr" indent="0" marL="0">
                <a:lnSpc>
                  <a:spcPts val="1320"/>
                </a:lnSpc>
                <a:buNone/>
              </a:pPr>
              <a:r>
                <a:rPr lang="en-US" sz="1100" spc="0" kern="0" b="0" i="0" dirty="0">
                  <a:solidFill>
                    <a:srgbClr val="070154"/>
                  </a:solidFill>
                  <a:latin typeface="IBM Plex Sans SemiBold"/>
                  <a:ea typeface="IBM Plex Sans SemiBold"/>
                  <a:cs typeface="IBM Plex Sans SemiBold"/>
                </a:rPr>
                <a:t>Self-scheduling</a:t>
              </a:r>
              <a:endParaRPr lang="en-US" sz="1100" spc="0" kern="0" b="0" i="0" dirty="0">
                <a:solidFill>
                  <a:srgbClr val="070154"/>
                </a:solidFill>
                <a:latin typeface="IBM Plex Sans SemiBold"/>
                <a:ea typeface="IBM Plex Sans SemiBold"/>
                <a:cs typeface="IBM Plex Sans SemiBold"/>
              </a:endParaRPr>
            </a:p>
          </p:txBody>
        </p:sp>
        <p:sp>
          <p:nvSpPr>
            <p:cNvPr id="35" name="node01.branches.source-001.milestones.source-001.label.part-3"/>
            <p:cNvSpPr/>
            <p:nvPr/>
          </p:nvSpPr>
          <p:spPr>
            <a:xfrm>
              <a:off x="5521960" y="2763012"/>
              <a:ext cx="2807970" cy="177800"/>
            </a:xfrm>
            <a:prstGeom prst="rect">
              <a:avLst/>
            </a:prstGeom>
            <a:noFill/>
            <a:ln/>
          </p:spPr>
          <p:txBody>
            <a:bodyPr wrap="square" lIns="0" tIns="0" rIns="0" bIns="0" rtlCol="0" anchor="t"/>
            <a:lstStyle/>
            <a:p>
              <a:pPr algn="ctr" indent="0" marL="0">
                <a:lnSpc>
                  <a:spcPts val="1375"/>
                </a:lnSpc>
                <a:buNone/>
              </a:pPr>
              <a:r>
                <a:rPr lang="en-US" sz="1100" spc="0" kern="0" b="0" i="0" dirty="0">
                  <a:solidFill>
                    <a:srgbClr val="070154"/>
                  </a:solidFill>
                  <a:latin typeface="IBM Plex Sans"/>
                  <a:ea typeface="IBM Plex Sans"/>
                  <a:cs typeface="IBM Plex Sans"/>
                </a:rPr>
                <a:t>Primary care first.</a:t>
              </a:r>
              <a:endParaRPr lang="en-US" sz="1100" spc="0" kern="0" b="0" i="0" dirty="0">
                <a:solidFill>
                  <a:srgbClr val="070154"/>
                </a:solidFill>
                <a:latin typeface="IBM Plex Sans"/>
                <a:ea typeface="IBM Plex Sans"/>
                <a:cs typeface="IBM Plex Sans"/>
              </a:endParaRPr>
            </a:p>
          </p:txBody>
        </p:sp>
        <p:sp>
          <p:nvSpPr>
            <p:cNvPr id="36" name="node01.branches.source-001.milestones.source-002.pin"/>
            <p:cNvSpPr/>
            <p:nvPr/>
          </p:nvSpPr>
          <p:spPr>
            <a:xfrm>
              <a:off x="9692640" y="2033397"/>
              <a:ext cx="285750" cy="285750"/>
            </a:xfrm>
            <a:prstGeom prst="ellipse">
              <a:avLst/>
            </a:prstGeom>
            <a:solidFill>
              <a:srgbClr val="FFFFFF"/>
            </a:solidFill>
            <a:ln w="19050">
              <a:solidFill>
                <a:srgbClr val="070154"/>
              </a:solidFill>
              <a:prstDash val="solid"/>
            </a:ln>
          </p:spPr>
        </p:sp>
        <p:sp>
          <p:nvSpPr>
            <p:cNvPr id="37" name="node01.branches.source-001.milestones.source-002.number"/>
            <p:cNvSpPr/>
            <p:nvPr/>
          </p:nvSpPr>
          <p:spPr>
            <a:xfrm>
              <a:off x="9683115" y="202387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A2</a:t>
              </a:r>
              <a:endParaRPr lang="en-US" sz="1000" spc="0" kern="0" b="0" i="0" dirty="0">
                <a:solidFill>
                  <a:srgbClr val="070154"/>
                </a:solidFill>
                <a:latin typeface="IBM Plex Mono SemiBold"/>
                <a:ea typeface="IBM Plex Mono SemiBold"/>
                <a:cs typeface="IBM Plex Mono SemiBold"/>
              </a:endParaRPr>
            </a:p>
          </p:txBody>
        </p:sp>
        <p:sp>
          <p:nvSpPr>
            <p:cNvPr id="38" name="node01.branches.source-001.milestones.source-002.label.part-1"/>
            <p:cNvSpPr/>
            <p:nvPr/>
          </p:nvSpPr>
          <p:spPr>
            <a:xfrm>
              <a:off x="8431530" y="2404872"/>
              <a:ext cx="280797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Q3 2027</a:t>
              </a:r>
              <a:endParaRPr lang="en-US" sz="800" spc="48" kern="0" b="0" i="0" dirty="0">
                <a:solidFill>
                  <a:srgbClr val="0047FF"/>
                </a:solidFill>
                <a:latin typeface="IBM Plex Mono SemiBold"/>
                <a:ea typeface="IBM Plex Mono SemiBold"/>
                <a:cs typeface="IBM Plex Mono SemiBold"/>
              </a:endParaRPr>
            </a:p>
          </p:txBody>
        </p:sp>
        <p:sp>
          <p:nvSpPr>
            <p:cNvPr id="39" name="node01.branches.source-001.milestones.source-002.label.part-2"/>
            <p:cNvSpPr/>
            <p:nvPr/>
          </p:nvSpPr>
          <p:spPr>
            <a:xfrm>
              <a:off x="8431530" y="2569972"/>
              <a:ext cx="2807970" cy="167640"/>
            </a:xfrm>
            <a:prstGeom prst="rect">
              <a:avLst/>
            </a:prstGeom>
            <a:noFill/>
            <a:ln/>
          </p:spPr>
          <p:txBody>
            <a:bodyPr wrap="square" lIns="0" tIns="0" rIns="0" bIns="0" rtlCol="0" anchor="t"/>
            <a:lstStyle/>
            <a:p>
              <a:pPr algn="ctr" indent="0" marL="0">
                <a:lnSpc>
                  <a:spcPts val="1320"/>
                </a:lnSpc>
                <a:buNone/>
              </a:pPr>
              <a:r>
                <a:rPr lang="en-US" sz="1100" spc="0" kern="0" b="0" i="0" dirty="0">
                  <a:solidFill>
                    <a:srgbClr val="070154"/>
                  </a:solidFill>
                  <a:latin typeface="IBM Plex Sans SemiBold"/>
                  <a:ea typeface="IBM Plex Sans SemiBold"/>
                  <a:cs typeface="IBM Plex Sans SemiBold"/>
                </a:rPr>
                <a:t>Digital intake</a:t>
              </a:r>
              <a:endParaRPr lang="en-US" sz="1100" spc="0" kern="0" b="0" i="0" dirty="0">
                <a:solidFill>
                  <a:srgbClr val="070154"/>
                </a:solidFill>
                <a:latin typeface="IBM Plex Sans SemiBold"/>
                <a:ea typeface="IBM Plex Sans SemiBold"/>
                <a:cs typeface="IBM Plex Sans SemiBold"/>
              </a:endParaRPr>
            </a:p>
          </p:txBody>
        </p:sp>
        <p:sp>
          <p:nvSpPr>
            <p:cNvPr id="40" name="node01.branches.source-001.milestones.source-002.label.part-3"/>
            <p:cNvSpPr/>
            <p:nvPr/>
          </p:nvSpPr>
          <p:spPr>
            <a:xfrm>
              <a:off x="8431530" y="2763012"/>
              <a:ext cx="2807970" cy="177800"/>
            </a:xfrm>
            <a:prstGeom prst="rect">
              <a:avLst/>
            </a:prstGeom>
            <a:noFill/>
            <a:ln/>
          </p:spPr>
          <p:txBody>
            <a:bodyPr wrap="square" lIns="0" tIns="0" rIns="0" bIns="0" rtlCol="0" anchor="t"/>
            <a:lstStyle/>
            <a:p>
              <a:pPr algn="ctr" indent="0" marL="0">
                <a:lnSpc>
                  <a:spcPts val="1375"/>
                </a:lnSpc>
                <a:buNone/>
              </a:pPr>
              <a:r>
                <a:rPr lang="en-US" sz="1100" spc="0" kern="0" b="0" i="0" dirty="0">
                  <a:solidFill>
                    <a:srgbClr val="070154"/>
                  </a:solidFill>
                  <a:latin typeface="IBM Plex Sans"/>
                  <a:ea typeface="IBM Plex Sans"/>
                  <a:cs typeface="IBM Plex Sans"/>
                </a:rPr>
                <a:t>Forms before arrival.</a:t>
              </a:r>
              <a:endParaRPr lang="en-US" sz="1100" spc="0" kern="0" b="0" i="0" dirty="0">
                <a:solidFill>
                  <a:srgbClr val="070154"/>
                </a:solidFill>
                <a:latin typeface="IBM Plex Sans"/>
                <a:ea typeface="IBM Plex Sans"/>
                <a:cs typeface="IBM Plex Sans"/>
              </a:endParaRPr>
            </a:p>
          </p:txBody>
        </p:sp>
        <p:sp>
          <p:nvSpPr>
            <p:cNvPr id="41" name="node01.branches.source-002.title.part-1"/>
            <p:cNvSpPr/>
            <p:nvPr/>
          </p:nvSpPr>
          <p:spPr>
            <a:xfrm>
              <a:off x="5898005" y="3110992"/>
              <a:ext cx="4754755" cy="233680"/>
            </a:xfrm>
            <a:prstGeom prst="rect">
              <a:avLst/>
            </a:prstGeom>
            <a:noFill/>
            <a:ln/>
          </p:spPr>
          <p:txBody>
            <a:bodyPr wrap="square" lIns="0" tIns="0" rIns="0" bIns="0" rtlCol="0" anchor="t"/>
            <a:lstStyle/>
            <a:p>
              <a:pPr algn="l" indent="0" marL="0">
                <a:lnSpc>
                  <a:spcPts val="1840"/>
                </a:lnSpc>
                <a:buNone/>
              </a:pPr>
              <a:r>
                <a:rPr lang="en-US" sz="1600" spc="-16" kern="0" b="0" i="0" dirty="0">
                  <a:solidFill>
                    <a:srgbClr val="070154"/>
                  </a:solidFill>
                  <a:latin typeface="IBM Plex Sans SemiBold"/>
                  <a:ea typeface="IBM Plex Sans SemiBold"/>
                  <a:cs typeface="IBM Plex Sans SemiBold"/>
                </a:rPr>
                <a:t>Revenue cycle</a:t>
              </a:r>
              <a:endParaRPr lang="en-US" sz="1600" spc="-16" kern="0" b="0" i="0" dirty="0">
                <a:solidFill>
                  <a:srgbClr val="070154"/>
                </a:solidFill>
                <a:latin typeface="IBM Plex Sans SemiBold"/>
                <a:ea typeface="IBM Plex Sans SemiBold"/>
                <a:cs typeface="IBM Plex Sans SemiBold"/>
              </a:endParaRPr>
            </a:p>
          </p:txBody>
        </p:sp>
        <p:sp>
          <p:nvSpPr>
            <p:cNvPr id="42" name="node01.branches.source-002.tag"/>
            <p:cNvSpPr/>
            <p:nvPr/>
          </p:nvSpPr>
          <p:spPr>
            <a:xfrm>
              <a:off x="5318760" y="3185922"/>
              <a:ext cx="49034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SemiBold"/>
                  <a:ea typeface="IBM Plex Mono SemiBold"/>
                  <a:cs typeface="IBM Plex Mono SemiBold"/>
                </a:rPr>
                <a:t>TRACK B</a:t>
              </a:r>
              <a:endParaRPr lang="en-US" sz="800" spc="48" kern="0" b="0" i="0" dirty="0">
                <a:solidFill>
                  <a:srgbClr val="0047FF"/>
                </a:solidFill>
                <a:latin typeface="IBM Plex Mono SemiBold"/>
                <a:ea typeface="IBM Plex Mono SemiBold"/>
                <a:cs typeface="IBM Plex Mono SemiBold"/>
              </a:endParaRPr>
            </a:p>
          </p:txBody>
        </p:sp>
        <p:sp>
          <p:nvSpPr>
            <p:cNvPr id="43" name="node01.branches.source-002.milestones.source-001.pin"/>
            <p:cNvSpPr/>
            <p:nvPr/>
          </p:nvSpPr>
          <p:spPr>
            <a:xfrm>
              <a:off x="6783070" y="3404997"/>
              <a:ext cx="285750" cy="285750"/>
            </a:xfrm>
            <a:prstGeom prst="ellipse">
              <a:avLst/>
            </a:prstGeom>
            <a:solidFill>
              <a:srgbClr val="FFFFFF"/>
            </a:solidFill>
            <a:ln w="19050">
              <a:solidFill>
                <a:srgbClr val="070154"/>
              </a:solidFill>
              <a:prstDash val="solid"/>
            </a:ln>
          </p:spPr>
        </p:sp>
        <p:sp>
          <p:nvSpPr>
            <p:cNvPr id="44" name="node01.branches.source-002.milestones.source-001.number"/>
            <p:cNvSpPr/>
            <p:nvPr/>
          </p:nvSpPr>
          <p:spPr>
            <a:xfrm>
              <a:off x="6773545" y="339547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B1</a:t>
              </a:r>
              <a:endParaRPr lang="en-US" sz="1000" spc="0" kern="0" b="0" i="0" dirty="0">
                <a:solidFill>
                  <a:srgbClr val="070154"/>
                </a:solidFill>
                <a:latin typeface="IBM Plex Mono SemiBold"/>
                <a:ea typeface="IBM Plex Mono SemiBold"/>
                <a:cs typeface="IBM Plex Mono SemiBold"/>
              </a:endParaRPr>
            </a:p>
          </p:txBody>
        </p:sp>
        <p:sp>
          <p:nvSpPr>
            <p:cNvPr id="45" name="node01.branches.source-002.milestones.source-001.label.part-1"/>
            <p:cNvSpPr/>
            <p:nvPr/>
          </p:nvSpPr>
          <p:spPr>
            <a:xfrm>
              <a:off x="5521960" y="3776472"/>
              <a:ext cx="280797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Q2 2027</a:t>
              </a:r>
              <a:endParaRPr lang="en-US" sz="800" spc="48" kern="0" b="0" i="0" dirty="0">
                <a:solidFill>
                  <a:srgbClr val="0047FF"/>
                </a:solidFill>
                <a:latin typeface="IBM Plex Mono SemiBold"/>
                <a:ea typeface="IBM Plex Mono SemiBold"/>
                <a:cs typeface="IBM Plex Mono SemiBold"/>
              </a:endParaRPr>
            </a:p>
          </p:txBody>
        </p:sp>
        <p:sp>
          <p:nvSpPr>
            <p:cNvPr id="46" name="node01.branches.source-002.milestones.source-001.label.part-2"/>
            <p:cNvSpPr/>
            <p:nvPr/>
          </p:nvSpPr>
          <p:spPr>
            <a:xfrm>
              <a:off x="5521960" y="3941572"/>
              <a:ext cx="2807970" cy="167640"/>
            </a:xfrm>
            <a:prstGeom prst="rect">
              <a:avLst/>
            </a:prstGeom>
            <a:noFill/>
            <a:ln/>
          </p:spPr>
          <p:txBody>
            <a:bodyPr wrap="square" lIns="0" tIns="0" rIns="0" bIns="0" rtlCol="0" anchor="t"/>
            <a:lstStyle/>
            <a:p>
              <a:pPr algn="ctr" indent="0" marL="0">
                <a:lnSpc>
                  <a:spcPts val="1320"/>
                </a:lnSpc>
                <a:buNone/>
              </a:pPr>
              <a:r>
                <a:rPr lang="en-US" sz="1100" spc="0" kern="0" b="0" i="0" dirty="0">
                  <a:solidFill>
                    <a:srgbClr val="070154"/>
                  </a:solidFill>
                  <a:latin typeface="IBM Plex Sans SemiBold"/>
                  <a:ea typeface="IBM Plex Sans SemiBold"/>
                  <a:cs typeface="IBM Plex Sans SemiBold"/>
                </a:rPr>
                <a:t>Price estimates</a:t>
              </a:r>
              <a:endParaRPr lang="en-US" sz="1100" spc="0" kern="0" b="0" i="0" dirty="0">
                <a:solidFill>
                  <a:srgbClr val="070154"/>
                </a:solidFill>
                <a:latin typeface="IBM Plex Sans SemiBold"/>
                <a:ea typeface="IBM Plex Sans SemiBold"/>
                <a:cs typeface="IBM Plex Sans SemiBold"/>
              </a:endParaRPr>
            </a:p>
          </p:txBody>
        </p:sp>
        <p:sp>
          <p:nvSpPr>
            <p:cNvPr id="47" name="node01.branches.source-002.milestones.source-001.label.part-3"/>
            <p:cNvSpPr/>
            <p:nvPr/>
          </p:nvSpPr>
          <p:spPr>
            <a:xfrm>
              <a:off x="5521960" y="4134612"/>
              <a:ext cx="2807970" cy="177800"/>
            </a:xfrm>
            <a:prstGeom prst="rect">
              <a:avLst/>
            </a:prstGeom>
            <a:noFill/>
            <a:ln/>
          </p:spPr>
          <p:txBody>
            <a:bodyPr wrap="square" lIns="0" tIns="0" rIns="0" bIns="0" rtlCol="0" anchor="t"/>
            <a:lstStyle/>
            <a:p>
              <a:pPr algn="ctr" indent="0" marL="0">
                <a:lnSpc>
                  <a:spcPts val="1375"/>
                </a:lnSpc>
                <a:buNone/>
              </a:pPr>
              <a:r>
                <a:rPr lang="en-US" sz="1100" spc="0" kern="0" b="0" i="0" dirty="0">
                  <a:solidFill>
                    <a:srgbClr val="070154"/>
                  </a:solidFill>
                  <a:latin typeface="IBM Plex Sans"/>
                  <a:ea typeface="IBM Plex Sans"/>
                  <a:cs typeface="IBM Plex Sans"/>
                </a:rPr>
                <a:t>Shown before booking.</a:t>
              </a:r>
              <a:endParaRPr lang="en-US" sz="1100" spc="0" kern="0" b="0" i="0" dirty="0">
                <a:solidFill>
                  <a:srgbClr val="070154"/>
                </a:solidFill>
                <a:latin typeface="IBM Plex Sans"/>
                <a:ea typeface="IBM Plex Sans"/>
                <a:cs typeface="IBM Plex Sans"/>
              </a:endParaRPr>
            </a:p>
          </p:txBody>
        </p:sp>
        <p:sp>
          <p:nvSpPr>
            <p:cNvPr id="48" name="node01.branches.source-002.milestones.source-002.pin"/>
            <p:cNvSpPr/>
            <p:nvPr/>
          </p:nvSpPr>
          <p:spPr>
            <a:xfrm>
              <a:off x="9692640" y="3404997"/>
              <a:ext cx="285750" cy="285750"/>
            </a:xfrm>
            <a:prstGeom prst="ellipse">
              <a:avLst/>
            </a:prstGeom>
            <a:solidFill>
              <a:srgbClr val="FFFFFF"/>
            </a:solidFill>
            <a:ln w="19050">
              <a:solidFill>
                <a:srgbClr val="070154"/>
              </a:solidFill>
              <a:prstDash val="solid"/>
            </a:ln>
          </p:spPr>
        </p:sp>
        <p:sp>
          <p:nvSpPr>
            <p:cNvPr id="49" name="node01.branches.source-002.milestones.source-002.number"/>
            <p:cNvSpPr/>
            <p:nvPr/>
          </p:nvSpPr>
          <p:spPr>
            <a:xfrm>
              <a:off x="9683115" y="339547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B2</a:t>
              </a:r>
              <a:endParaRPr lang="en-US" sz="1000" spc="0" kern="0" b="0" i="0" dirty="0">
                <a:solidFill>
                  <a:srgbClr val="070154"/>
                </a:solidFill>
                <a:latin typeface="IBM Plex Mono SemiBold"/>
                <a:ea typeface="IBM Plex Mono SemiBold"/>
                <a:cs typeface="IBM Plex Mono SemiBold"/>
              </a:endParaRPr>
            </a:p>
          </p:txBody>
        </p:sp>
        <p:sp>
          <p:nvSpPr>
            <p:cNvPr id="50" name="node01.branches.source-002.milestones.source-002.label.part-1"/>
            <p:cNvSpPr/>
            <p:nvPr/>
          </p:nvSpPr>
          <p:spPr>
            <a:xfrm>
              <a:off x="8431530" y="3776472"/>
              <a:ext cx="280797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047FF"/>
                  </a:solidFill>
                  <a:latin typeface="IBM Plex Mono SemiBold"/>
                  <a:ea typeface="IBM Plex Mono SemiBold"/>
                  <a:cs typeface="IBM Plex Mono SemiBold"/>
                </a:rPr>
                <a:t>Q4 2027</a:t>
              </a:r>
              <a:endParaRPr lang="en-US" sz="800" spc="48" kern="0" b="0" i="0" dirty="0">
                <a:solidFill>
                  <a:srgbClr val="0047FF"/>
                </a:solidFill>
                <a:latin typeface="IBM Plex Mono SemiBold"/>
                <a:ea typeface="IBM Plex Mono SemiBold"/>
                <a:cs typeface="IBM Plex Mono SemiBold"/>
              </a:endParaRPr>
            </a:p>
          </p:txBody>
        </p:sp>
        <p:sp>
          <p:nvSpPr>
            <p:cNvPr id="51" name="node01.branches.source-002.milestones.source-002.label.part-2"/>
            <p:cNvSpPr/>
            <p:nvPr/>
          </p:nvSpPr>
          <p:spPr>
            <a:xfrm>
              <a:off x="8431530" y="3941572"/>
              <a:ext cx="2807970" cy="167640"/>
            </a:xfrm>
            <a:prstGeom prst="rect">
              <a:avLst/>
            </a:prstGeom>
            <a:noFill/>
            <a:ln/>
          </p:spPr>
          <p:txBody>
            <a:bodyPr wrap="square" lIns="0" tIns="0" rIns="0" bIns="0" rtlCol="0" anchor="t"/>
            <a:lstStyle/>
            <a:p>
              <a:pPr algn="ctr" indent="0" marL="0">
                <a:lnSpc>
                  <a:spcPts val="1320"/>
                </a:lnSpc>
                <a:buNone/>
              </a:pPr>
              <a:r>
                <a:rPr lang="en-US" sz="1100" spc="0" kern="0" b="0" i="0" dirty="0">
                  <a:solidFill>
                    <a:srgbClr val="070154"/>
                  </a:solidFill>
                  <a:latin typeface="IBM Plex Sans SemiBold"/>
                  <a:ea typeface="IBM Plex Sans SemiBold"/>
                  <a:cs typeface="IBM Plex Sans SemiBold"/>
                </a:rPr>
                <a:t>Online payment</a:t>
              </a:r>
              <a:endParaRPr lang="en-US" sz="1100" spc="0" kern="0" b="0" i="0" dirty="0">
                <a:solidFill>
                  <a:srgbClr val="070154"/>
                </a:solidFill>
                <a:latin typeface="IBM Plex Sans SemiBold"/>
                <a:ea typeface="IBM Plex Sans SemiBold"/>
                <a:cs typeface="IBM Plex Sans SemiBold"/>
              </a:endParaRPr>
            </a:p>
          </p:txBody>
        </p:sp>
        <p:sp>
          <p:nvSpPr>
            <p:cNvPr id="52" name="node01.branches.source-002.milestones.source-002.label.part-3"/>
            <p:cNvSpPr/>
            <p:nvPr/>
          </p:nvSpPr>
          <p:spPr>
            <a:xfrm>
              <a:off x="8431530" y="4134612"/>
              <a:ext cx="2807970" cy="177800"/>
            </a:xfrm>
            <a:prstGeom prst="rect">
              <a:avLst/>
            </a:prstGeom>
            <a:noFill/>
            <a:ln/>
          </p:spPr>
          <p:txBody>
            <a:bodyPr wrap="square" lIns="0" tIns="0" rIns="0" bIns="0" rtlCol="0" anchor="t"/>
            <a:lstStyle/>
            <a:p>
              <a:pPr algn="ctr" indent="0" marL="0">
                <a:lnSpc>
                  <a:spcPts val="1375"/>
                </a:lnSpc>
                <a:buNone/>
              </a:pPr>
              <a:r>
                <a:rPr lang="en-US" sz="1100" spc="0" kern="0" b="0" i="0" dirty="0">
                  <a:solidFill>
                    <a:srgbClr val="070154"/>
                  </a:solidFill>
                  <a:latin typeface="IBM Plex Sans"/>
                  <a:ea typeface="IBM Plex Sans"/>
                  <a:cs typeface="IBM Plex Sans"/>
                </a:rPr>
                <a:t>Pay at the visit.</a:t>
              </a:r>
              <a:endParaRPr lang="en-US" sz="1100" spc="0" kern="0" b="0" i="0" dirty="0">
                <a:solidFill>
                  <a:srgbClr val="070154"/>
                </a:solidFill>
                <a:latin typeface="IBM Plex Sans"/>
                <a:ea typeface="IBM Plex Sans"/>
                <a:cs typeface="IBM Plex Sans"/>
              </a:endParaRPr>
            </a:p>
          </p:txBody>
        </p:sp>
      </p:grpSp>
      <p:grpSp>
        <p:nvGrpSpPr>
          <p:cNvPr id="72" name="node02"/>
          <p:cNvGrpSpPr/>
          <p:nvPr/>
        </p:nvGrpSpPr>
        <p:grpSpPr>
          <a:xfrm>
            <a:off x="723900" y="4419600"/>
            <a:ext cx="5257800" cy="228600"/>
            <a:chOff x="723900" y="4419600"/>
            <a:chExt cx="5257800" cy="228600"/>
          </a:xfrm>
        </p:grpSpPr>
        <p:sp>
          <p:nvSpPr>
            <p:cNvPr id="53" name="node02.label"/>
            <p:cNvSpPr/>
            <p:nvPr/>
          </p:nvSpPr>
          <p:spPr>
            <a:xfrm>
              <a:off x="723900" y="4419600"/>
              <a:ext cx="1619498"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TRACK A · PATIENT ACCESS</a:t>
              </a:r>
              <a:endParaRPr lang="en-US" sz="800" spc="48" kern="0" b="0" i="0" dirty="0">
                <a:solidFill>
                  <a:srgbClr val="50658E"/>
                </a:solidFill>
                <a:latin typeface="IBM Plex Mono Medium"/>
                <a:ea typeface="IBM Plex Mono Medium"/>
                <a:cs typeface="IBM Plex Mono Medium"/>
              </a:endParaRPr>
            </a:p>
          </p:txBody>
        </p:sp>
        <p:sp>
          <p:nvSpPr>
            <p:cNvPr id="54" name="node02.rule"/>
            <p:cNvSpPr/>
            <p:nvPr/>
          </p:nvSpPr>
          <p:spPr>
            <a:xfrm>
              <a:off x="2470398" y="4529138"/>
              <a:ext cx="3511302" cy="9525"/>
            </a:xfrm>
            <a:prstGeom prst="rect">
              <a:avLst/>
            </a:prstGeom>
            <a:solidFill>
              <a:srgbClr val="CED7E6"/>
            </a:solidFill>
            <a:ln>
              <a:noFill/>
            </a:ln>
          </p:spPr>
        </p:sp>
      </p:grpSp>
      <p:sp>
        <p:nvSpPr>
          <p:cNvPr id="55" name="node03"/>
          <p:cNvSpPr/>
          <p:nvPr/>
        </p:nvSpPr>
        <p:spPr>
          <a:xfrm>
            <a:off x="723900" y="4648200"/>
            <a:ext cx="5257800" cy="9525"/>
          </a:xfrm>
          <a:prstGeom prst="rect">
            <a:avLst/>
          </a:prstGeom>
          <a:solidFill>
            <a:srgbClr val="CED7E6"/>
          </a:solidFill>
          <a:ln>
            <a:noFill/>
          </a:ln>
        </p:spPr>
      </p:sp>
      <p:grpSp>
        <p:nvGrpSpPr>
          <p:cNvPr id="73" name="node04"/>
          <p:cNvGrpSpPr/>
          <p:nvPr/>
        </p:nvGrpSpPr>
        <p:grpSpPr>
          <a:xfrm>
            <a:off x="723900" y="4724400"/>
            <a:ext cx="5257800" cy="723900"/>
            <a:chOff x="723900" y="4724400"/>
            <a:chExt cx="5257800" cy="723900"/>
          </a:xfrm>
        </p:grpSpPr>
        <p:sp>
          <p:nvSpPr>
            <p:cNvPr id="56" name="node04.source-001.bullet"/>
            <p:cNvSpPr/>
            <p:nvPr/>
          </p:nvSpPr>
          <p:spPr>
            <a:xfrm>
              <a:off x="723900" y="4813300"/>
              <a:ext cx="38100" cy="38100"/>
            </a:xfrm>
            <a:prstGeom prst="rect">
              <a:avLst/>
            </a:prstGeom>
            <a:solidFill>
              <a:srgbClr val="070154"/>
            </a:solidFill>
            <a:ln>
              <a:noFill/>
            </a:ln>
          </p:spPr>
        </p:sp>
        <p:sp>
          <p:nvSpPr>
            <p:cNvPr id="57" name="node04.source-001.text"/>
            <p:cNvSpPr/>
            <p:nvPr/>
          </p:nvSpPr>
          <p:spPr>
            <a:xfrm>
              <a:off x="876300" y="4724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Outcomes.</a:t>
              </a:r>
              <a:r>
                <a:rPr lang="en-US" sz="1200" spc="0" kern="0" b="0" i="0" dirty="0">
                  <a:solidFill>
                    <a:srgbClr val="50658E"/>
                  </a:solidFill>
                  <a:latin typeface="IBM Plex Sans"/>
                  <a:ea typeface="IBM Plex Sans"/>
                  <a:cs typeface="IBM Plex Sans"/>
                </a:rPr>
                <a:t xml:space="preserve"> 70% of primary care visits booked online.</a:t>
              </a:r>
              <a:endParaRPr lang="en-US" sz="1200" spc="0" kern="0" b="0" i="0" dirty="0">
                <a:solidFill>
                  <a:srgbClr val="070154"/>
                </a:solidFill>
                <a:latin typeface="IBM Plex Sans"/>
                <a:ea typeface="IBM Plex Sans"/>
                <a:cs typeface="IBM Plex Sans"/>
              </a:endParaRPr>
            </a:p>
          </p:txBody>
        </p:sp>
        <p:sp>
          <p:nvSpPr>
            <p:cNvPr id="58" name="node04.source-002.bullet"/>
            <p:cNvSpPr/>
            <p:nvPr/>
          </p:nvSpPr>
          <p:spPr>
            <a:xfrm>
              <a:off x="723900" y="5067300"/>
              <a:ext cx="38100" cy="38100"/>
            </a:xfrm>
            <a:prstGeom prst="rect">
              <a:avLst/>
            </a:prstGeom>
            <a:solidFill>
              <a:srgbClr val="070154"/>
            </a:solidFill>
            <a:ln>
              <a:noFill/>
            </a:ln>
          </p:spPr>
        </p:sp>
        <p:sp>
          <p:nvSpPr>
            <p:cNvPr id="59" name="node04.source-002.text"/>
            <p:cNvSpPr/>
            <p:nvPr/>
          </p:nvSpPr>
          <p:spPr>
            <a:xfrm>
              <a:off x="876300" y="4978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Owner.</a:t>
              </a:r>
              <a:r>
                <a:rPr lang="en-US" sz="1200" spc="0" kern="0" b="0" i="0" dirty="0">
                  <a:solidFill>
                    <a:srgbClr val="50658E"/>
                  </a:solidFill>
                  <a:latin typeface="IBM Plex Sans"/>
                  <a:ea typeface="IBM Plex Sans"/>
                  <a:cs typeface="IBM Plex Sans"/>
                </a:rPr>
                <a:t xml:space="preserve"> Chief patient access officer, with the access squad.</a:t>
              </a:r>
              <a:endParaRPr lang="en-US" sz="1200" spc="0" kern="0" b="0" i="0" dirty="0">
                <a:solidFill>
                  <a:srgbClr val="070154"/>
                </a:solidFill>
                <a:latin typeface="IBM Plex Sans"/>
                <a:ea typeface="IBM Plex Sans"/>
                <a:cs typeface="IBM Plex Sans"/>
              </a:endParaRPr>
            </a:p>
          </p:txBody>
        </p:sp>
        <p:sp>
          <p:nvSpPr>
            <p:cNvPr id="60" name="node04.source-003.bullet"/>
            <p:cNvSpPr/>
            <p:nvPr/>
          </p:nvSpPr>
          <p:spPr>
            <a:xfrm>
              <a:off x="723900" y="5321300"/>
              <a:ext cx="38100" cy="38100"/>
            </a:xfrm>
            <a:prstGeom prst="rect">
              <a:avLst/>
            </a:prstGeom>
            <a:solidFill>
              <a:srgbClr val="070154"/>
            </a:solidFill>
            <a:ln>
              <a:noFill/>
            </a:ln>
          </p:spPr>
        </p:sp>
        <p:sp>
          <p:nvSpPr>
            <p:cNvPr id="61" name="node04.source-003.text"/>
            <p:cNvSpPr/>
            <p:nvPr/>
          </p:nvSpPr>
          <p:spPr>
            <a:xfrm>
              <a:off x="876300" y="5232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Depends on.</a:t>
              </a:r>
              <a:r>
                <a:rPr lang="en-US" sz="1200" spc="0" kern="0" b="0" i="0" dirty="0">
                  <a:solidFill>
                    <a:srgbClr val="50658E"/>
                  </a:solidFill>
                  <a:latin typeface="IBM Plex Sans"/>
                  <a:ea typeface="IBM Plex Sans"/>
                  <a:cs typeface="IBM Plex Sans"/>
                </a:rPr>
                <a:t xml:space="preserve"> Master patient index; single sign-in.</a:t>
              </a:r>
              <a:endParaRPr lang="en-US" sz="1200" spc="0" kern="0" b="0" i="0" dirty="0">
                <a:solidFill>
                  <a:srgbClr val="070154"/>
                </a:solidFill>
                <a:latin typeface="IBM Plex Sans"/>
                <a:ea typeface="IBM Plex Sans"/>
                <a:cs typeface="IBM Plex Sans"/>
              </a:endParaRPr>
            </a:p>
          </p:txBody>
        </p:sp>
      </p:grpSp>
      <p:grpSp>
        <p:nvGrpSpPr>
          <p:cNvPr id="74" name="node05"/>
          <p:cNvGrpSpPr/>
          <p:nvPr/>
        </p:nvGrpSpPr>
        <p:grpSpPr>
          <a:xfrm>
            <a:off x="6210300" y="4419600"/>
            <a:ext cx="5257800" cy="228600"/>
            <a:chOff x="6210300" y="4419600"/>
            <a:chExt cx="5257800" cy="228600"/>
          </a:xfrm>
        </p:grpSpPr>
        <p:sp>
          <p:nvSpPr>
            <p:cNvPr id="62" name="node05.label"/>
            <p:cNvSpPr/>
            <p:nvPr/>
          </p:nvSpPr>
          <p:spPr>
            <a:xfrm>
              <a:off x="6210300" y="4419600"/>
              <a:ext cx="155307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TRACK B · REVENUE CYCLE</a:t>
              </a:r>
              <a:endParaRPr lang="en-US" sz="800" spc="48" kern="0" b="0" i="0" dirty="0">
                <a:solidFill>
                  <a:srgbClr val="50658E"/>
                </a:solidFill>
                <a:latin typeface="IBM Plex Mono Medium"/>
                <a:ea typeface="IBM Plex Mono Medium"/>
                <a:cs typeface="IBM Plex Mono Medium"/>
              </a:endParaRPr>
            </a:p>
          </p:txBody>
        </p:sp>
        <p:sp>
          <p:nvSpPr>
            <p:cNvPr id="63" name="node05.rule"/>
            <p:cNvSpPr/>
            <p:nvPr/>
          </p:nvSpPr>
          <p:spPr>
            <a:xfrm>
              <a:off x="7890377" y="4529138"/>
              <a:ext cx="3577723" cy="9525"/>
            </a:xfrm>
            <a:prstGeom prst="rect">
              <a:avLst/>
            </a:prstGeom>
            <a:solidFill>
              <a:srgbClr val="CED7E6"/>
            </a:solidFill>
            <a:ln>
              <a:noFill/>
            </a:ln>
          </p:spPr>
        </p:sp>
      </p:grpSp>
      <p:sp>
        <p:nvSpPr>
          <p:cNvPr id="64" name="node06"/>
          <p:cNvSpPr/>
          <p:nvPr/>
        </p:nvSpPr>
        <p:spPr>
          <a:xfrm>
            <a:off x="6210300" y="4648200"/>
            <a:ext cx="5257800" cy="9525"/>
          </a:xfrm>
          <a:prstGeom prst="rect">
            <a:avLst/>
          </a:prstGeom>
          <a:solidFill>
            <a:srgbClr val="CED7E6"/>
          </a:solidFill>
          <a:ln>
            <a:noFill/>
          </a:ln>
        </p:spPr>
      </p:sp>
      <p:grpSp>
        <p:nvGrpSpPr>
          <p:cNvPr id="75" name="node07"/>
          <p:cNvGrpSpPr/>
          <p:nvPr/>
        </p:nvGrpSpPr>
        <p:grpSpPr>
          <a:xfrm>
            <a:off x="6210300" y="4724400"/>
            <a:ext cx="5257800" cy="723900"/>
            <a:chOff x="6210300" y="4724400"/>
            <a:chExt cx="5257800" cy="723900"/>
          </a:xfrm>
        </p:grpSpPr>
        <p:sp>
          <p:nvSpPr>
            <p:cNvPr id="65" name="node07.source-001.bullet"/>
            <p:cNvSpPr/>
            <p:nvPr/>
          </p:nvSpPr>
          <p:spPr>
            <a:xfrm>
              <a:off x="6210300" y="4813300"/>
              <a:ext cx="38100" cy="38100"/>
            </a:xfrm>
            <a:prstGeom prst="rect">
              <a:avLst/>
            </a:prstGeom>
            <a:solidFill>
              <a:srgbClr val="070154"/>
            </a:solidFill>
            <a:ln>
              <a:noFill/>
            </a:ln>
          </p:spPr>
        </p:sp>
        <p:sp>
          <p:nvSpPr>
            <p:cNvPr id="66" name="node07.source-001.text"/>
            <p:cNvSpPr/>
            <p:nvPr/>
          </p:nvSpPr>
          <p:spPr>
            <a:xfrm>
              <a:off x="6362700" y="4724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Outcomes.</a:t>
              </a:r>
              <a:r>
                <a:rPr lang="en-US" sz="1200" spc="0" kern="0" b="0" i="0" dirty="0">
                  <a:solidFill>
                    <a:srgbClr val="50658E"/>
                  </a:solidFill>
                  <a:latin typeface="IBM Plex Sans"/>
                  <a:ea typeface="IBM Plex Sans"/>
                  <a:cs typeface="IBM Plex Sans"/>
                </a:rPr>
                <a:t xml:space="preserve"> Estimates on 90% of scheduled visits.</a:t>
              </a:r>
              <a:endParaRPr lang="en-US" sz="1200" spc="0" kern="0" b="0" i="0" dirty="0">
                <a:solidFill>
                  <a:srgbClr val="070154"/>
                </a:solidFill>
                <a:latin typeface="IBM Plex Sans"/>
                <a:ea typeface="IBM Plex Sans"/>
                <a:cs typeface="IBM Plex Sans"/>
              </a:endParaRPr>
            </a:p>
          </p:txBody>
        </p:sp>
        <p:sp>
          <p:nvSpPr>
            <p:cNvPr id="67" name="node07.source-002.bullet"/>
            <p:cNvSpPr/>
            <p:nvPr/>
          </p:nvSpPr>
          <p:spPr>
            <a:xfrm>
              <a:off x="6210300" y="5067300"/>
              <a:ext cx="38100" cy="38100"/>
            </a:xfrm>
            <a:prstGeom prst="rect">
              <a:avLst/>
            </a:prstGeom>
            <a:solidFill>
              <a:srgbClr val="070154"/>
            </a:solidFill>
            <a:ln>
              <a:noFill/>
            </a:ln>
          </p:spPr>
        </p:sp>
        <p:sp>
          <p:nvSpPr>
            <p:cNvPr id="68" name="node07.source-002.text"/>
            <p:cNvSpPr/>
            <p:nvPr/>
          </p:nvSpPr>
          <p:spPr>
            <a:xfrm>
              <a:off x="6362700" y="4978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Owner.</a:t>
              </a:r>
              <a:r>
                <a:rPr lang="en-US" sz="1200" spc="0" kern="0" b="0" i="0" dirty="0">
                  <a:solidFill>
                    <a:srgbClr val="50658E"/>
                  </a:solidFill>
                  <a:latin typeface="IBM Plex Sans"/>
                  <a:ea typeface="IBM Plex Sans"/>
                  <a:cs typeface="IBM Plex Sans"/>
                </a:rPr>
                <a:t xml:space="preserve"> VP revenue cycle, with the billing squad.</a:t>
              </a:r>
              <a:endParaRPr lang="en-US" sz="1200" spc="0" kern="0" b="0" i="0" dirty="0">
                <a:solidFill>
                  <a:srgbClr val="070154"/>
                </a:solidFill>
                <a:latin typeface="IBM Plex Sans"/>
                <a:ea typeface="IBM Plex Sans"/>
                <a:cs typeface="IBM Plex Sans"/>
              </a:endParaRPr>
            </a:p>
          </p:txBody>
        </p:sp>
        <p:sp>
          <p:nvSpPr>
            <p:cNvPr id="69" name="node07.source-003.bullet"/>
            <p:cNvSpPr/>
            <p:nvPr/>
          </p:nvSpPr>
          <p:spPr>
            <a:xfrm>
              <a:off x="6210300" y="5321300"/>
              <a:ext cx="38100" cy="38100"/>
            </a:xfrm>
            <a:prstGeom prst="rect">
              <a:avLst/>
            </a:prstGeom>
            <a:solidFill>
              <a:srgbClr val="070154"/>
            </a:solidFill>
            <a:ln>
              <a:noFill/>
            </a:ln>
          </p:spPr>
        </p:sp>
        <p:sp>
          <p:nvSpPr>
            <p:cNvPr id="70" name="node07.source-003.text"/>
            <p:cNvSpPr/>
            <p:nvPr/>
          </p:nvSpPr>
          <p:spPr>
            <a:xfrm>
              <a:off x="6362700" y="5232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Depends on.</a:t>
              </a:r>
              <a:r>
                <a:rPr lang="en-US" sz="1200" spc="0" kern="0" b="0" i="0" dirty="0">
                  <a:solidFill>
                    <a:srgbClr val="50658E"/>
                  </a:solidFill>
                  <a:latin typeface="IBM Plex Sans"/>
                  <a:ea typeface="IBM Plex Sans"/>
                  <a:cs typeface="IBM Plex Sans"/>
                </a:rPr>
                <a:t xml:space="preserve"> Payer contract data loaded.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ource-43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DIGITAL FRONT DOOR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horizons build one front door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144</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089400"/>
            <a:chOff x="723900" y="1600200"/>
            <a:chExt cx="10744200" cy="40894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89400"/>
          </p:xfrm>
          <a:graphic>
            <a:graphicData uri="http://schemas.openxmlformats.org/drawingml/2006/table">
              <a:tbl>
                <a:tblPr/>
                <a:tblGrid>
                  <a:gridCol w="1143000"/>
                  <a:gridCol w="1905000"/>
                  <a:gridCol w="2590800"/>
                  <a:gridCol w="2362200"/>
                  <a:gridCol w="1600200"/>
                  <a:gridCol w="11430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HORIZON</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OBJECTIVE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KEY INITIATIVES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OUTCOMES AND KPIS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DEPENDENCIES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INVESTMENT</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12446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Now</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Q4 2026 to Q1 2027</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Lay the data foundation so every system agrees who the patient is.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Master patient index</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Single sign-in, patients and staff</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Scheduling event stream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Duplicates down 40%</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One ID at 100% of sites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EHR release 4.2</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Privacy sign-off</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$4.2M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2446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Next</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Q2 to Q3 2027</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Open the front door: patients book, register and see prices online.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Self-scheduling in primary care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Digital intake and consent</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Price estimates before booking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60% of visits booked online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Call volume down 25%</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Patient index live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Payer contract data loaded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$6.8M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2446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Later</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Q4 2027 to 2028</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Extend access across the care journey and personalize it.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Referral tracking end to end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Care plans in the app</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Virtual front desk and chat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No-show rate under 6%</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App use by 50% of patients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Event stream</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Clinical capacity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$5.5M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ource-439">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DIGITAL FRONT DOOR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Why the roadmap runs in this order</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145</a:t>
            </a:fld>
            <a:endParaRPr lang="en-US" sz="700" spc="0" kern="0" b="0" i="0" dirty="0">
              <a:solidFill>
                <a:srgbClr val="070154"/>
              </a:solidFill>
              <a:latin typeface="IBM Plex Mono SemiBold"/>
              <a:ea typeface="IBM Plex Mono SemiBold"/>
              <a:cs typeface="IBM Plex Mono SemiBold"/>
            </a:endParaRPr>
          </a:p>
        </p:txBody>
      </p:sp>
      <p:grpSp>
        <p:nvGrpSpPr>
          <p:cNvPr id="38" name="node01"/>
          <p:cNvGrpSpPr/>
          <p:nvPr/>
        </p:nvGrpSpPr>
        <p:grpSpPr>
          <a:xfrm>
            <a:off x="723900" y="2514600"/>
            <a:ext cx="3429000" cy="431800"/>
            <a:chOff x="723900" y="2514600"/>
            <a:chExt cx="3429000" cy="431800"/>
          </a:xfrm>
        </p:grpSpPr>
        <p:sp>
          <p:nvSpPr>
            <p:cNvPr id="7" name="node01.text"/>
            <p:cNvSpPr/>
            <p:nvPr/>
          </p:nvSpPr>
          <p:spPr>
            <a:xfrm>
              <a:off x="723900" y="2514600"/>
              <a:ext cx="3429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Patients feel the front door, but it only works once the data underneath it is trusted.</a:t>
              </a:r>
              <a:endParaRPr lang="en-US" sz="1200" spc="0" kern="0" b="0" i="0" dirty="0">
                <a:solidFill>
                  <a:srgbClr val="070154"/>
                </a:solidFill>
                <a:latin typeface="IBM Plex Sans"/>
                <a:ea typeface="IBM Plex Sans"/>
                <a:cs typeface="IBM Plex Sans"/>
              </a:endParaRPr>
            </a:p>
          </p:txBody>
        </p:sp>
      </p:grpSp>
      <p:grpSp>
        <p:nvGrpSpPr>
          <p:cNvPr id="39" name="node02"/>
          <p:cNvGrpSpPr/>
          <p:nvPr/>
        </p:nvGrpSpPr>
        <p:grpSpPr>
          <a:xfrm>
            <a:off x="723900" y="3657600"/>
            <a:ext cx="3429000" cy="1371600"/>
            <a:chOff x="723900" y="3657600"/>
            <a:chExt cx="3429000" cy="1371600"/>
          </a:xfrm>
        </p:grpSpPr>
        <p:sp>
          <p:nvSpPr>
            <p:cNvPr id="8" name="node02.source-001.bullet"/>
            <p:cNvSpPr/>
            <p:nvPr/>
          </p:nvSpPr>
          <p:spPr>
            <a:xfrm>
              <a:off x="723900" y="3746500"/>
              <a:ext cx="38100" cy="38100"/>
            </a:xfrm>
            <a:prstGeom prst="rect">
              <a:avLst/>
            </a:prstGeom>
            <a:solidFill>
              <a:srgbClr val="070154"/>
            </a:solidFill>
            <a:ln>
              <a:noFill/>
            </a:ln>
          </p:spPr>
        </p:sp>
        <p:sp>
          <p:nvSpPr>
            <p:cNvPr id="9" name="node02.source-001.text"/>
            <p:cNvSpPr/>
            <p:nvPr/>
          </p:nvSpPr>
          <p:spPr>
            <a:xfrm>
              <a:off x="876300" y="36576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Identity first.</a:t>
              </a:r>
              <a:r>
                <a:rPr lang="en-US" sz="1200" spc="0" kern="0" b="0" i="0" dirty="0">
                  <a:solidFill>
                    <a:srgbClr val="50658E"/>
                  </a:solidFill>
                  <a:latin typeface="IBM Plex Sans"/>
                  <a:ea typeface="IBM Plex Sans"/>
                  <a:cs typeface="IBM Plex Sans"/>
                </a:rPr>
                <a:t xml:space="preserve"> Every later feature needs one patient ID.</a:t>
              </a:r>
              <a:endParaRPr lang="en-US" sz="1200" spc="0" kern="0" b="0" i="0" dirty="0">
                <a:solidFill>
                  <a:srgbClr val="070154"/>
                </a:solidFill>
                <a:latin typeface="IBM Plex Sans"/>
                <a:ea typeface="IBM Plex Sans"/>
                <a:cs typeface="IBM Plex Sans"/>
              </a:endParaRPr>
            </a:p>
          </p:txBody>
        </p:sp>
        <p:sp>
          <p:nvSpPr>
            <p:cNvPr id="10" name="node02.source-002.bullet"/>
            <p:cNvSpPr/>
            <p:nvPr/>
          </p:nvSpPr>
          <p:spPr>
            <a:xfrm>
              <a:off x="723900" y="4216400"/>
              <a:ext cx="38100" cy="38100"/>
            </a:xfrm>
            <a:prstGeom prst="rect">
              <a:avLst/>
            </a:prstGeom>
            <a:solidFill>
              <a:srgbClr val="070154"/>
            </a:solidFill>
            <a:ln>
              <a:noFill/>
            </a:ln>
          </p:spPr>
        </p:sp>
        <p:sp>
          <p:nvSpPr>
            <p:cNvPr id="11" name="node02.source-002.text"/>
            <p:cNvSpPr/>
            <p:nvPr/>
          </p:nvSpPr>
          <p:spPr>
            <a:xfrm>
              <a:off x="876300" y="41275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Access before payment.</a:t>
              </a:r>
              <a:r>
                <a:rPr lang="en-US" sz="1200" spc="0" kern="0" b="0" i="0" dirty="0">
                  <a:solidFill>
                    <a:srgbClr val="50658E"/>
                  </a:solidFill>
                  <a:latin typeface="IBM Plex Sans"/>
                  <a:ea typeface="IBM Plex Sans"/>
                  <a:cs typeface="IBM Plex Sans"/>
                </a:rPr>
                <a:t xml:space="preserve"> Booking creates the demand that estimates and billing serve.</a:t>
              </a:r>
              <a:endParaRPr lang="en-US" sz="1200" spc="0" kern="0" b="0" i="0" dirty="0">
                <a:solidFill>
                  <a:srgbClr val="070154"/>
                </a:solidFill>
                <a:latin typeface="IBM Plex Sans"/>
                <a:ea typeface="IBM Plex Sans"/>
                <a:cs typeface="IBM Plex Sans"/>
              </a:endParaRPr>
            </a:p>
          </p:txBody>
        </p:sp>
        <p:sp>
          <p:nvSpPr>
            <p:cNvPr id="12" name="node02.source-003.bullet"/>
            <p:cNvSpPr/>
            <p:nvPr/>
          </p:nvSpPr>
          <p:spPr>
            <a:xfrm>
              <a:off x="723900" y="4686300"/>
              <a:ext cx="38100" cy="38100"/>
            </a:xfrm>
            <a:prstGeom prst="rect">
              <a:avLst/>
            </a:prstGeom>
            <a:solidFill>
              <a:srgbClr val="070154"/>
            </a:solidFill>
            <a:ln>
              <a:noFill/>
            </a:ln>
          </p:spPr>
        </p:sp>
        <p:sp>
          <p:nvSpPr>
            <p:cNvPr id="13" name="node02.source-003.text"/>
            <p:cNvSpPr/>
            <p:nvPr/>
          </p:nvSpPr>
          <p:spPr>
            <a:xfrm>
              <a:off x="876300" y="45974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Care last.</a:t>
              </a:r>
              <a:r>
                <a:rPr lang="en-US" sz="1200" spc="0" kern="0" b="0" i="0" dirty="0">
                  <a:solidFill>
                    <a:srgbClr val="50658E"/>
                  </a:solidFill>
                  <a:latin typeface="IBM Plex Sans"/>
                  <a:ea typeface="IBM Plex Sans"/>
                  <a:cs typeface="IBM Plex Sans"/>
                </a:rPr>
                <a:t xml:space="preserve"> Clinical workflows change slowest, so we start them early but ship them last.</a:t>
              </a:r>
              <a:endParaRPr lang="en-US" sz="1200" spc="0" kern="0" b="0" i="0" dirty="0">
                <a:solidFill>
                  <a:srgbClr val="070154"/>
                </a:solidFill>
                <a:latin typeface="IBM Plex Sans"/>
                <a:ea typeface="IBM Plex Sans"/>
                <a:cs typeface="IBM Plex Sans"/>
              </a:endParaRPr>
            </a:p>
          </p:txBody>
        </p:sp>
      </p:grpSp>
      <p:grpSp>
        <p:nvGrpSpPr>
          <p:cNvPr id="40" name="node03"/>
          <p:cNvGrpSpPr/>
          <p:nvPr/>
        </p:nvGrpSpPr>
        <p:grpSpPr>
          <a:xfrm>
            <a:off x="4381500" y="457200"/>
            <a:ext cx="7086600" cy="1600200"/>
            <a:chOff x="4381500" y="457200"/>
            <a:chExt cx="7086600" cy="1600200"/>
          </a:xfrm>
        </p:grpSpPr>
        <p:sp>
          <p:nvSpPr>
            <p:cNvPr id="14" name="node03.surface"/>
            <p:cNvSpPr/>
            <p:nvPr/>
          </p:nvSpPr>
          <p:spPr>
            <a:xfrm>
              <a:off x="4381500" y="457200"/>
              <a:ext cx="7086600" cy="1600200"/>
            </a:xfrm>
            <a:prstGeom prst="rect">
              <a:avLst/>
            </a:prstGeom>
            <a:solidFill>
              <a:srgbClr val="E8EEF8"/>
            </a:solidFill>
            <a:ln>
              <a:noFill/>
            </a:ln>
          </p:spPr>
        </p:sp>
      </p:grpSp>
      <p:grpSp>
        <p:nvGrpSpPr>
          <p:cNvPr id="41" name="node04"/>
          <p:cNvGrpSpPr/>
          <p:nvPr/>
        </p:nvGrpSpPr>
        <p:grpSpPr>
          <a:xfrm>
            <a:off x="4610100" y="685800"/>
            <a:ext cx="6629400" cy="139700"/>
            <a:chOff x="4610100" y="685800"/>
            <a:chExt cx="6629400" cy="139700"/>
          </a:xfrm>
        </p:grpSpPr>
        <p:sp>
          <p:nvSpPr>
            <p:cNvPr id="15" name="node04.text"/>
            <p:cNvSpPr/>
            <p:nvPr/>
          </p:nvSpPr>
          <p:spPr>
            <a:xfrm>
              <a:off x="4610100" y="685800"/>
              <a:ext cx="6629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NOW  ·  Q4 2026 TO Q1 2027</a:t>
              </a:r>
              <a:endParaRPr lang="en-US" sz="800" spc="48" kern="0" b="0" i="0" dirty="0">
                <a:solidFill>
                  <a:srgbClr val="0047FF"/>
                </a:solidFill>
                <a:latin typeface="IBM Plex Mono Medium"/>
                <a:ea typeface="IBM Plex Mono Medium"/>
                <a:cs typeface="IBM Plex Mono Medium"/>
              </a:endParaRPr>
            </a:p>
          </p:txBody>
        </p:sp>
      </p:grpSp>
      <p:grpSp>
        <p:nvGrpSpPr>
          <p:cNvPr id="42" name="node05"/>
          <p:cNvGrpSpPr/>
          <p:nvPr/>
        </p:nvGrpSpPr>
        <p:grpSpPr>
          <a:xfrm>
            <a:off x="4610100" y="990600"/>
            <a:ext cx="2057400" cy="139700"/>
            <a:chOff x="4610100" y="990600"/>
            <a:chExt cx="2057400" cy="139700"/>
          </a:xfrm>
        </p:grpSpPr>
        <p:sp>
          <p:nvSpPr>
            <p:cNvPr id="16" name="node05.text"/>
            <p:cNvSpPr/>
            <p:nvPr/>
          </p:nvSpPr>
          <p:spPr>
            <a:xfrm>
              <a:off x="4610100" y="9906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WHAT</a:t>
              </a:r>
              <a:endParaRPr lang="en-US" sz="800" spc="48" kern="0" b="0" i="0" dirty="0">
                <a:solidFill>
                  <a:srgbClr val="50658E"/>
                </a:solidFill>
                <a:latin typeface="IBM Plex Mono Medium"/>
                <a:ea typeface="IBM Plex Mono Medium"/>
                <a:cs typeface="IBM Plex Mono Medium"/>
              </a:endParaRPr>
            </a:p>
          </p:txBody>
        </p:sp>
      </p:grpSp>
      <p:grpSp>
        <p:nvGrpSpPr>
          <p:cNvPr id="43" name="node06"/>
          <p:cNvGrpSpPr/>
          <p:nvPr/>
        </p:nvGrpSpPr>
        <p:grpSpPr>
          <a:xfrm>
            <a:off x="4610100" y="1219200"/>
            <a:ext cx="2057400" cy="571500"/>
            <a:chOff x="4610100" y="1219200"/>
            <a:chExt cx="2057400" cy="571500"/>
          </a:xfrm>
        </p:grpSpPr>
        <p:sp>
          <p:nvSpPr>
            <p:cNvPr id="17" name="node06.text"/>
            <p:cNvSpPr/>
            <p:nvPr/>
          </p:nvSpPr>
          <p:spPr>
            <a:xfrm>
              <a:off x="4610100" y="1219200"/>
              <a:ext cx="2057400" cy="571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One master patient index and one sign-in across all six hospitals.</a:t>
              </a:r>
              <a:endParaRPr lang="en-US" sz="1100" spc="0" kern="0" b="0" i="0" dirty="0">
                <a:solidFill>
                  <a:srgbClr val="070154"/>
                </a:solidFill>
                <a:latin typeface="IBM Plex Sans"/>
                <a:ea typeface="IBM Plex Sans"/>
                <a:cs typeface="IBM Plex Sans"/>
              </a:endParaRPr>
            </a:p>
          </p:txBody>
        </p:sp>
      </p:grpSp>
      <p:grpSp>
        <p:nvGrpSpPr>
          <p:cNvPr id="44" name="node07"/>
          <p:cNvGrpSpPr/>
          <p:nvPr/>
        </p:nvGrpSpPr>
        <p:grpSpPr>
          <a:xfrm>
            <a:off x="6896100" y="990600"/>
            <a:ext cx="2057400" cy="139700"/>
            <a:chOff x="6896100" y="990600"/>
            <a:chExt cx="2057400" cy="139700"/>
          </a:xfrm>
        </p:grpSpPr>
        <p:sp>
          <p:nvSpPr>
            <p:cNvPr id="18" name="node07.text"/>
            <p:cNvSpPr/>
            <p:nvPr/>
          </p:nvSpPr>
          <p:spPr>
            <a:xfrm>
              <a:off x="6896100" y="9906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WHY NOW</a:t>
              </a:r>
              <a:endParaRPr lang="en-US" sz="800" spc="48" kern="0" b="0" i="0" dirty="0">
                <a:solidFill>
                  <a:srgbClr val="50658E"/>
                </a:solidFill>
                <a:latin typeface="IBM Plex Mono Medium"/>
                <a:ea typeface="IBM Plex Mono Medium"/>
                <a:cs typeface="IBM Plex Mono Medium"/>
              </a:endParaRPr>
            </a:p>
          </p:txBody>
        </p:sp>
      </p:grpSp>
      <p:grpSp>
        <p:nvGrpSpPr>
          <p:cNvPr id="45" name="node08"/>
          <p:cNvGrpSpPr/>
          <p:nvPr/>
        </p:nvGrpSpPr>
        <p:grpSpPr>
          <a:xfrm>
            <a:off x="6896100" y="1219200"/>
            <a:ext cx="2057400" cy="381000"/>
            <a:chOff x="6896100" y="1219200"/>
            <a:chExt cx="2057400" cy="381000"/>
          </a:xfrm>
        </p:grpSpPr>
        <p:sp>
          <p:nvSpPr>
            <p:cNvPr id="19" name="node08.text"/>
            <p:cNvSpPr/>
            <p:nvPr/>
          </p:nvSpPr>
          <p:spPr>
            <a:xfrm>
              <a:off x="6896100" y="1219200"/>
              <a:ext cx="2057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Two registration flows create duplicates and denials today.</a:t>
              </a:r>
              <a:endParaRPr lang="en-US" sz="1100" spc="0" kern="0" b="0" i="0" dirty="0">
                <a:solidFill>
                  <a:srgbClr val="070154"/>
                </a:solidFill>
                <a:latin typeface="IBM Plex Sans"/>
                <a:ea typeface="IBM Plex Sans"/>
                <a:cs typeface="IBM Plex Sans"/>
              </a:endParaRPr>
            </a:p>
          </p:txBody>
        </p:sp>
      </p:grpSp>
      <p:grpSp>
        <p:nvGrpSpPr>
          <p:cNvPr id="46" name="node09"/>
          <p:cNvGrpSpPr/>
          <p:nvPr/>
        </p:nvGrpSpPr>
        <p:grpSpPr>
          <a:xfrm>
            <a:off x="9182100" y="990600"/>
            <a:ext cx="2057400" cy="139700"/>
            <a:chOff x="9182100" y="990600"/>
            <a:chExt cx="2057400" cy="139700"/>
          </a:xfrm>
        </p:grpSpPr>
        <p:sp>
          <p:nvSpPr>
            <p:cNvPr id="20" name="node09.text"/>
            <p:cNvSpPr/>
            <p:nvPr/>
          </p:nvSpPr>
          <p:spPr>
            <a:xfrm>
              <a:off x="9182100" y="9906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UNLOCKS</a:t>
              </a:r>
              <a:endParaRPr lang="en-US" sz="800" spc="48" kern="0" b="0" i="0" dirty="0">
                <a:solidFill>
                  <a:srgbClr val="50658E"/>
                </a:solidFill>
                <a:latin typeface="IBM Plex Mono Medium"/>
                <a:ea typeface="IBM Plex Mono Medium"/>
                <a:cs typeface="IBM Plex Mono Medium"/>
              </a:endParaRPr>
            </a:p>
          </p:txBody>
        </p:sp>
      </p:grpSp>
      <p:grpSp>
        <p:nvGrpSpPr>
          <p:cNvPr id="47" name="node10"/>
          <p:cNvGrpSpPr/>
          <p:nvPr/>
        </p:nvGrpSpPr>
        <p:grpSpPr>
          <a:xfrm>
            <a:off x="9182100" y="1219200"/>
            <a:ext cx="2057400" cy="381000"/>
            <a:chOff x="9182100" y="1219200"/>
            <a:chExt cx="2057400" cy="381000"/>
          </a:xfrm>
        </p:grpSpPr>
        <p:sp>
          <p:nvSpPr>
            <p:cNvPr id="21" name="node10.text"/>
            <p:cNvSpPr/>
            <p:nvPr/>
          </p:nvSpPr>
          <p:spPr>
            <a:xfrm>
              <a:off x="9182100" y="1219200"/>
              <a:ext cx="2057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Self-service for every digital feature that follows.</a:t>
              </a:r>
              <a:endParaRPr lang="en-US" sz="1100" spc="0" kern="0" b="0" i="0" dirty="0">
                <a:solidFill>
                  <a:srgbClr val="070154"/>
                </a:solidFill>
                <a:latin typeface="IBM Plex Sans"/>
                <a:ea typeface="IBM Plex Sans"/>
                <a:cs typeface="IBM Plex Sans"/>
              </a:endParaRPr>
            </a:p>
          </p:txBody>
        </p:sp>
      </p:grpSp>
      <p:grpSp>
        <p:nvGrpSpPr>
          <p:cNvPr id="48" name="node11"/>
          <p:cNvGrpSpPr/>
          <p:nvPr/>
        </p:nvGrpSpPr>
        <p:grpSpPr>
          <a:xfrm>
            <a:off x="4381500" y="2286000"/>
            <a:ext cx="7086600" cy="1600200"/>
            <a:chOff x="4381500" y="2286000"/>
            <a:chExt cx="7086600" cy="1600200"/>
          </a:xfrm>
        </p:grpSpPr>
        <p:sp>
          <p:nvSpPr>
            <p:cNvPr id="22" name="node11.surface"/>
            <p:cNvSpPr/>
            <p:nvPr/>
          </p:nvSpPr>
          <p:spPr>
            <a:xfrm>
              <a:off x="4381500" y="2286000"/>
              <a:ext cx="7086600" cy="1600200"/>
            </a:xfrm>
            <a:prstGeom prst="rect">
              <a:avLst/>
            </a:prstGeom>
            <a:solidFill>
              <a:srgbClr val="E8EEF8"/>
            </a:solidFill>
            <a:ln>
              <a:noFill/>
            </a:ln>
          </p:spPr>
        </p:sp>
      </p:grpSp>
      <p:grpSp>
        <p:nvGrpSpPr>
          <p:cNvPr id="49" name="node12"/>
          <p:cNvGrpSpPr/>
          <p:nvPr/>
        </p:nvGrpSpPr>
        <p:grpSpPr>
          <a:xfrm>
            <a:off x="4610100" y="2514600"/>
            <a:ext cx="6629400" cy="139700"/>
            <a:chOff x="4610100" y="2514600"/>
            <a:chExt cx="6629400" cy="139700"/>
          </a:xfrm>
        </p:grpSpPr>
        <p:sp>
          <p:nvSpPr>
            <p:cNvPr id="23" name="node12.text"/>
            <p:cNvSpPr/>
            <p:nvPr/>
          </p:nvSpPr>
          <p:spPr>
            <a:xfrm>
              <a:off x="4610100" y="2514600"/>
              <a:ext cx="6629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NEXT  ·  Q2 TO Q3 2027</a:t>
              </a:r>
              <a:endParaRPr lang="en-US" sz="800" spc="48" kern="0" b="0" i="0" dirty="0">
                <a:solidFill>
                  <a:srgbClr val="0047FF"/>
                </a:solidFill>
                <a:latin typeface="IBM Plex Mono Medium"/>
                <a:ea typeface="IBM Plex Mono Medium"/>
                <a:cs typeface="IBM Plex Mono Medium"/>
              </a:endParaRPr>
            </a:p>
          </p:txBody>
        </p:sp>
      </p:grpSp>
      <p:grpSp>
        <p:nvGrpSpPr>
          <p:cNvPr id="50" name="node13"/>
          <p:cNvGrpSpPr/>
          <p:nvPr/>
        </p:nvGrpSpPr>
        <p:grpSpPr>
          <a:xfrm>
            <a:off x="4610100" y="2819400"/>
            <a:ext cx="2057400" cy="139700"/>
            <a:chOff x="4610100" y="2819400"/>
            <a:chExt cx="2057400" cy="139700"/>
          </a:xfrm>
        </p:grpSpPr>
        <p:sp>
          <p:nvSpPr>
            <p:cNvPr id="24" name="node13.text"/>
            <p:cNvSpPr/>
            <p:nvPr/>
          </p:nvSpPr>
          <p:spPr>
            <a:xfrm>
              <a:off x="4610100" y="28194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WHAT</a:t>
              </a:r>
              <a:endParaRPr lang="en-US" sz="800" spc="48" kern="0" b="0" i="0" dirty="0">
                <a:solidFill>
                  <a:srgbClr val="50658E"/>
                </a:solidFill>
                <a:latin typeface="IBM Plex Mono Medium"/>
                <a:ea typeface="IBM Plex Mono Medium"/>
                <a:cs typeface="IBM Plex Mono Medium"/>
              </a:endParaRPr>
            </a:p>
          </p:txBody>
        </p:sp>
      </p:grpSp>
      <p:grpSp>
        <p:nvGrpSpPr>
          <p:cNvPr id="51" name="node14"/>
          <p:cNvGrpSpPr/>
          <p:nvPr/>
        </p:nvGrpSpPr>
        <p:grpSpPr>
          <a:xfrm>
            <a:off x="4610100" y="3048000"/>
            <a:ext cx="2057400" cy="381000"/>
            <a:chOff x="4610100" y="3048000"/>
            <a:chExt cx="2057400" cy="381000"/>
          </a:xfrm>
        </p:grpSpPr>
        <p:sp>
          <p:nvSpPr>
            <p:cNvPr id="25" name="node14.text"/>
            <p:cNvSpPr/>
            <p:nvPr/>
          </p:nvSpPr>
          <p:spPr>
            <a:xfrm>
              <a:off x="4610100" y="3048000"/>
              <a:ext cx="2057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Online scheduling, digital intake and price estimates.</a:t>
              </a:r>
              <a:endParaRPr lang="en-US" sz="1100" spc="0" kern="0" b="0" i="0" dirty="0">
                <a:solidFill>
                  <a:srgbClr val="070154"/>
                </a:solidFill>
                <a:latin typeface="IBM Plex Sans"/>
                <a:ea typeface="IBM Plex Sans"/>
                <a:cs typeface="IBM Plex Sans"/>
              </a:endParaRPr>
            </a:p>
          </p:txBody>
        </p:sp>
      </p:grpSp>
      <p:grpSp>
        <p:nvGrpSpPr>
          <p:cNvPr id="52" name="node15"/>
          <p:cNvGrpSpPr/>
          <p:nvPr/>
        </p:nvGrpSpPr>
        <p:grpSpPr>
          <a:xfrm>
            <a:off x="6896100" y="2819400"/>
            <a:ext cx="2057400" cy="139700"/>
            <a:chOff x="6896100" y="2819400"/>
            <a:chExt cx="2057400" cy="139700"/>
          </a:xfrm>
        </p:grpSpPr>
        <p:sp>
          <p:nvSpPr>
            <p:cNvPr id="26" name="node15.text"/>
            <p:cNvSpPr/>
            <p:nvPr/>
          </p:nvSpPr>
          <p:spPr>
            <a:xfrm>
              <a:off x="6896100" y="28194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WHY NOW</a:t>
              </a:r>
              <a:endParaRPr lang="en-US" sz="800" spc="48" kern="0" b="0" i="0" dirty="0">
                <a:solidFill>
                  <a:srgbClr val="50658E"/>
                </a:solidFill>
                <a:latin typeface="IBM Plex Mono Medium"/>
                <a:ea typeface="IBM Plex Mono Medium"/>
                <a:cs typeface="IBM Plex Mono Medium"/>
              </a:endParaRPr>
            </a:p>
          </p:txBody>
        </p:sp>
      </p:grpSp>
      <p:grpSp>
        <p:nvGrpSpPr>
          <p:cNvPr id="53" name="node16"/>
          <p:cNvGrpSpPr/>
          <p:nvPr/>
        </p:nvGrpSpPr>
        <p:grpSpPr>
          <a:xfrm>
            <a:off x="6896100" y="3048000"/>
            <a:ext cx="2057400" cy="381000"/>
            <a:chOff x="6896100" y="3048000"/>
            <a:chExt cx="2057400" cy="381000"/>
          </a:xfrm>
        </p:grpSpPr>
        <p:sp>
          <p:nvSpPr>
            <p:cNvPr id="27" name="node16.text"/>
            <p:cNvSpPr/>
            <p:nvPr/>
          </p:nvSpPr>
          <p:spPr>
            <a:xfrm>
              <a:off x="6896100" y="3048000"/>
              <a:ext cx="2057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Patients ask for it, and competitors already offer it.</a:t>
              </a:r>
              <a:endParaRPr lang="en-US" sz="1100" spc="0" kern="0" b="0" i="0" dirty="0">
                <a:solidFill>
                  <a:srgbClr val="070154"/>
                </a:solidFill>
                <a:latin typeface="IBM Plex Sans"/>
                <a:ea typeface="IBM Plex Sans"/>
                <a:cs typeface="IBM Plex Sans"/>
              </a:endParaRPr>
            </a:p>
          </p:txBody>
        </p:sp>
      </p:grpSp>
      <p:grpSp>
        <p:nvGrpSpPr>
          <p:cNvPr id="54" name="node17"/>
          <p:cNvGrpSpPr/>
          <p:nvPr/>
        </p:nvGrpSpPr>
        <p:grpSpPr>
          <a:xfrm>
            <a:off x="9182100" y="2819400"/>
            <a:ext cx="2057400" cy="139700"/>
            <a:chOff x="9182100" y="2819400"/>
            <a:chExt cx="2057400" cy="139700"/>
          </a:xfrm>
        </p:grpSpPr>
        <p:sp>
          <p:nvSpPr>
            <p:cNvPr id="28" name="node17.text"/>
            <p:cNvSpPr/>
            <p:nvPr/>
          </p:nvSpPr>
          <p:spPr>
            <a:xfrm>
              <a:off x="9182100" y="28194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UNLOCKS</a:t>
              </a:r>
              <a:endParaRPr lang="en-US" sz="800" spc="48" kern="0" b="0" i="0" dirty="0">
                <a:solidFill>
                  <a:srgbClr val="50658E"/>
                </a:solidFill>
                <a:latin typeface="IBM Plex Mono Medium"/>
                <a:ea typeface="IBM Plex Mono Medium"/>
                <a:cs typeface="IBM Plex Mono Medium"/>
              </a:endParaRPr>
            </a:p>
          </p:txBody>
        </p:sp>
      </p:grpSp>
      <p:grpSp>
        <p:nvGrpSpPr>
          <p:cNvPr id="55" name="node18"/>
          <p:cNvGrpSpPr/>
          <p:nvPr/>
        </p:nvGrpSpPr>
        <p:grpSpPr>
          <a:xfrm>
            <a:off x="9182100" y="3048000"/>
            <a:ext cx="2057400" cy="381000"/>
            <a:chOff x="9182100" y="3048000"/>
            <a:chExt cx="2057400" cy="381000"/>
          </a:xfrm>
        </p:grpSpPr>
        <p:sp>
          <p:nvSpPr>
            <p:cNvPr id="29" name="node18.text"/>
            <p:cNvSpPr/>
            <p:nvPr/>
          </p:nvSpPr>
          <p:spPr>
            <a:xfrm>
              <a:off x="9182100" y="3048000"/>
              <a:ext cx="2057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Fewer calls, fewer no-shows and cleaner claims.</a:t>
              </a:r>
              <a:endParaRPr lang="en-US" sz="1100" spc="0" kern="0" b="0" i="0" dirty="0">
                <a:solidFill>
                  <a:srgbClr val="070154"/>
                </a:solidFill>
                <a:latin typeface="IBM Plex Sans"/>
                <a:ea typeface="IBM Plex Sans"/>
                <a:cs typeface="IBM Plex Sans"/>
              </a:endParaRPr>
            </a:p>
          </p:txBody>
        </p:sp>
      </p:grpSp>
      <p:grpSp>
        <p:nvGrpSpPr>
          <p:cNvPr id="56" name="node19"/>
          <p:cNvGrpSpPr/>
          <p:nvPr/>
        </p:nvGrpSpPr>
        <p:grpSpPr>
          <a:xfrm>
            <a:off x="4381500" y="4114800"/>
            <a:ext cx="7086600" cy="1600200"/>
            <a:chOff x="4381500" y="4114800"/>
            <a:chExt cx="7086600" cy="1600200"/>
          </a:xfrm>
        </p:grpSpPr>
        <p:sp>
          <p:nvSpPr>
            <p:cNvPr id="30" name="node19.surface"/>
            <p:cNvSpPr/>
            <p:nvPr/>
          </p:nvSpPr>
          <p:spPr>
            <a:xfrm>
              <a:off x="4381500" y="4114800"/>
              <a:ext cx="7086600" cy="1600200"/>
            </a:xfrm>
            <a:prstGeom prst="rect">
              <a:avLst/>
            </a:prstGeom>
            <a:solidFill>
              <a:srgbClr val="E8EEF8"/>
            </a:solidFill>
            <a:ln>
              <a:noFill/>
            </a:ln>
          </p:spPr>
        </p:sp>
      </p:grpSp>
      <p:grpSp>
        <p:nvGrpSpPr>
          <p:cNvPr id="57" name="node20"/>
          <p:cNvGrpSpPr/>
          <p:nvPr/>
        </p:nvGrpSpPr>
        <p:grpSpPr>
          <a:xfrm>
            <a:off x="4610100" y="4343400"/>
            <a:ext cx="6629400" cy="139700"/>
            <a:chOff x="4610100" y="4343400"/>
            <a:chExt cx="6629400" cy="139700"/>
          </a:xfrm>
        </p:grpSpPr>
        <p:sp>
          <p:nvSpPr>
            <p:cNvPr id="31" name="node20.text"/>
            <p:cNvSpPr/>
            <p:nvPr/>
          </p:nvSpPr>
          <p:spPr>
            <a:xfrm>
              <a:off x="4610100" y="4343400"/>
              <a:ext cx="6629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LATER  ·  Q4 2027 TO 2028</a:t>
              </a:r>
              <a:endParaRPr lang="en-US" sz="800" spc="48" kern="0" b="0" i="0" dirty="0">
                <a:solidFill>
                  <a:srgbClr val="0047FF"/>
                </a:solidFill>
                <a:latin typeface="IBM Plex Mono Medium"/>
                <a:ea typeface="IBM Plex Mono Medium"/>
                <a:cs typeface="IBM Plex Mono Medium"/>
              </a:endParaRPr>
            </a:p>
          </p:txBody>
        </p:sp>
      </p:grpSp>
      <p:grpSp>
        <p:nvGrpSpPr>
          <p:cNvPr id="58" name="node21"/>
          <p:cNvGrpSpPr/>
          <p:nvPr/>
        </p:nvGrpSpPr>
        <p:grpSpPr>
          <a:xfrm>
            <a:off x="4610100" y="4648200"/>
            <a:ext cx="2057400" cy="139700"/>
            <a:chOff x="4610100" y="4648200"/>
            <a:chExt cx="2057400" cy="139700"/>
          </a:xfrm>
        </p:grpSpPr>
        <p:sp>
          <p:nvSpPr>
            <p:cNvPr id="32" name="node21.text"/>
            <p:cNvSpPr/>
            <p:nvPr/>
          </p:nvSpPr>
          <p:spPr>
            <a:xfrm>
              <a:off x="4610100" y="46482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WHAT</a:t>
              </a:r>
              <a:endParaRPr lang="en-US" sz="800" spc="48" kern="0" b="0" i="0" dirty="0">
                <a:solidFill>
                  <a:srgbClr val="50658E"/>
                </a:solidFill>
                <a:latin typeface="IBM Plex Mono Medium"/>
                <a:ea typeface="IBM Plex Mono Medium"/>
                <a:cs typeface="IBM Plex Mono Medium"/>
              </a:endParaRPr>
            </a:p>
          </p:txBody>
        </p:sp>
      </p:grpSp>
      <p:grpSp>
        <p:nvGrpSpPr>
          <p:cNvPr id="59" name="node22"/>
          <p:cNvGrpSpPr/>
          <p:nvPr/>
        </p:nvGrpSpPr>
        <p:grpSpPr>
          <a:xfrm>
            <a:off x="4610100" y="4876800"/>
            <a:ext cx="2057400" cy="381000"/>
            <a:chOff x="4610100" y="4876800"/>
            <a:chExt cx="2057400" cy="381000"/>
          </a:xfrm>
        </p:grpSpPr>
        <p:sp>
          <p:nvSpPr>
            <p:cNvPr id="33" name="node22.text"/>
            <p:cNvSpPr/>
            <p:nvPr/>
          </p:nvSpPr>
          <p:spPr>
            <a:xfrm>
              <a:off x="4610100" y="4876800"/>
              <a:ext cx="2057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Referral tracking, care plans and a virtual front desk.</a:t>
              </a:r>
              <a:endParaRPr lang="en-US" sz="1100" spc="0" kern="0" b="0" i="0" dirty="0">
                <a:solidFill>
                  <a:srgbClr val="070154"/>
                </a:solidFill>
                <a:latin typeface="IBM Plex Sans"/>
                <a:ea typeface="IBM Plex Sans"/>
                <a:cs typeface="IBM Plex Sans"/>
              </a:endParaRPr>
            </a:p>
          </p:txBody>
        </p:sp>
      </p:grpSp>
      <p:grpSp>
        <p:nvGrpSpPr>
          <p:cNvPr id="60" name="node23"/>
          <p:cNvGrpSpPr/>
          <p:nvPr/>
        </p:nvGrpSpPr>
        <p:grpSpPr>
          <a:xfrm>
            <a:off x="6896100" y="4648200"/>
            <a:ext cx="2057400" cy="139700"/>
            <a:chOff x="6896100" y="4648200"/>
            <a:chExt cx="2057400" cy="139700"/>
          </a:xfrm>
        </p:grpSpPr>
        <p:sp>
          <p:nvSpPr>
            <p:cNvPr id="34" name="node23.text"/>
            <p:cNvSpPr/>
            <p:nvPr/>
          </p:nvSpPr>
          <p:spPr>
            <a:xfrm>
              <a:off x="6896100" y="46482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WHY NOW</a:t>
              </a:r>
              <a:endParaRPr lang="en-US" sz="800" spc="48" kern="0" b="0" i="0" dirty="0">
                <a:solidFill>
                  <a:srgbClr val="50658E"/>
                </a:solidFill>
                <a:latin typeface="IBM Plex Mono Medium"/>
                <a:ea typeface="IBM Plex Mono Medium"/>
                <a:cs typeface="IBM Plex Mono Medium"/>
              </a:endParaRPr>
            </a:p>
          </p:txBody>
        </p:sp>
      </p:grpSp>
      <p:grpSp>
        <p:nvGrpSpPr>
          <p:cNvPr id="61" name="node24"/>
          <p:cNvGrpSpPr/>
          <p:nvPr/>
        </p:nvGrpSpPr>
        <p:grpSpPr>
          <a:xfrm>
            <a:off x="6896100" y="4876800"/>
            <a:ext cx="2057400" cy="381000"/>
            <a:chOff x="6896100" y="4876800"/>
            <a:chExt cx="2057400" cy="381000"/>
          </a:xfrm>
        </p:grpSpPr>
        <p:sp>
          <p:nvSpPr>
            <p:cNvPr id="35" name="node24.text"/>
            <p:cNvSpPr/>
            <p:nvPr/>
          </p:nvSpPr>
          <p:spPr>
            <a:xfrm>
              <a:off x="6896100" y="4876800"/>
              <a:ext cx="2057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Not yet: it needs the event stream and clinical capacity.</a:t>
              </a:r>
              <a:endParaRPr lang="en-US" sz="1100" spc="0" kern="0" b="0" i="0" dirty="0">
                <a:solidFill>
                  <a:srgbClr val="070154"/>
                </a:solidFill>
                <a:latin typeface="IBM Plex Sans"/>
                <a:ea typeface="IBM Plex Sans"/>
                <a:cs typeface="IBM Plex Sans"/>
              </a:endParaRPr>
            </a:p>
          </p:txBody>
        </p:sp>
      </p:grpSp>
      <p:grpSp>
        <p:nvGrpSpPr>
          <p:cNvPr id="62" name="node25"/>
          <p:cNvGrpSpPr/>
          <p:nvPr/>
        </p:nvGrpSpPr>
        <p:grpSpPr>
          <a:xfrm>
            <a:off x="9182100" y="4648200"/>
            <a:ext cx="2057400" cy="139700"/>
            <a:chOff x="9182100" y="4648200"/>
            <a:chExt cx="2057400" cy="139700"/>
          </a:xfrm>
        </p:grpSpPr>
        <p:sp>
          <p:nvSpPr>
            <p:cNvPr id="36" name="node25.text"/>
            <p:cNvSpPr/>
            <p:nvPr/>
          </p:nvSpPr>
          <p:spPr>
            <a:xfrm>
              <a:off x="9182100" y="46482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UNLOCKS</a:t>
              </a:r>
              <a:endParaRPr lang="en-US" sz="800" spc="48" kern="0" b="0" i="0" dirty="0">
                <a:solidFill>
                  <a:srgbClr val="50658E"/>
                </a:solidFill>
                <a:latin typeface="IBM Plex Mono Medium"/>
                <a:ea typeface="IBM Plex Mono Medium"/>
                <a:cs typeface="IBM Plex Mono Medium"/>
              </a:endParaRPr>
            </a:p>
          </p:txBody>
        </p:sp>
      </p:grpSp>
      <p:grpSp>
        <p:nvGrpSpPr>
          <p:cNvPr id="63" name="node26"/>
          <p:cNvGrpSpPr/>
          <p:nvPr/>
        </p:nvGrpSpPr>
        <p:grpSpPr>
          <a:xfrm>
            <a:off x="9182100" y="4876800"/>
            <a:ext cx="2057400" cy="381000"/>
            <a:chOff x="9182100" y="4876800"/>
            <a:chExt cx="2057400" cy="381000"/>
          </a:xfrm>
        </p:grpSpPr>
        <p:sp>
          <p:nvSpPr>
            <p:cNvPr id="37" name="node26.text"/>
            <p:cNvSpPr/>
            <p:nvPr/>
          </p:nvSpPr>
          <p:spPr>
            <a:xfrm>
              <a:off x="9182100" y="4876800"/>
              <a:ext cx="2057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Care that continues between visits.</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ource-44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DIGITAL FRONT DOOR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wave starts and ends on evidence, not on the calendar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nav.section-01"/>
          <p:cNvSpPr/>
          <p:nvPr/>
        </p:nvSpPr>
        <p:spPr>
          <a:xfrm>
            <a:off x="266700" y="457200"/>
            <a:ext cx="228600" cy="1036320"/>
          </a:xfrm>
          <a:prstGeom prst="rect">
            <a:avLst/>
          </a:prstGeom>
          <a:solidFill>
            <a:srgbClr val="E8EEF8"/>
          </a:solidFill>
          <a:ln>
            <a:noFill/>
          </a:ln>
        </p:spPr>
      </p:sp>
      <p:sp>
        <p:nvSpPr>
          <p:cNvPr id="7"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STRATEGY</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569720"/>
            <a:ext cx="228600" cy="1036320"/>
          </a:xfrm>
          <a:prstGeom prst="rect">
            <a:avLst/>
          </a:prstGeom>
          <a:solidFill>
            <a:srgbClr val="E8EEF8"/>
          </a:solidFill>
          <a:ln>
            <a:noFill/>
          </a:ln>
        </p:spPr>
      </p:sp>
      <p:sp>
        <p:nvSpPr>
          <p:cNvPr id="9"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CAPABILITIES</a:t>
            </a:r>
            <a:endParaRPr lang="en-US" sz="800" spc="80" kern="0" b="0" i="0" dirty="0">
              <a:solidFill>
                <a:srgbClr val="50658E"/>
              </a:solidFill>
              <a:latin typeface="IBM Plex Mono SemiBold"/>
              <a:ea typeface="IBM Plex Mono SemiBold"/>
              <a:cs typeface="IBM Plex Mono SemiBold"/>
            </a:endParaRPr>
          </a:p>
        </p:txBody>
      </p:sp>
      <p:sp>
        <p:nvSpPr>
          <p:cNvPr id="10" name="nav.section-03"/>
          <p:cNvSpPr/>
          <p:nvPr/>
        </p:nvSpPr>
        <p:spPr>
          <a:xfrm>
            <a:off x="266700" y="2682240"/>
            <a:ext cx="228600" cy="1036320"/>
          </a:xfrm>
          <a:prstGeom prst="rect">
            <a:avLst/>
          </a:prstGeom>
          <a:solidFill>
            <a:srgbClr val="070154"/>
          </a:solidFill>
          <a:ln>
            <a:noFill/>
          </a:ln>
        </p:spPr>
      </p:sp>
      <p:sp>
        <p:nvSpPr>
          <p:cNvPr id="11"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ROADMAP</a:t>
            </a:r>
            <a:endParaRPr lang="en-US" sz="800" spc="80" kern="0" b="0" i="0" dirty="0">
              <a:solidFill>
                <a:srgbClr val="FFFFFF"/>
              </a:solidFill>
              <a:latin typeface="IBM Plex Mono SemiBold"/>
              <a:ea typeface="IBM Plex Mono SemiBold"/>
              <a:cs typeface="IBM Plex Mono SemiBold"/>
            </a:endParaRPr>
          </a:p>
        </p:txBody>
      </p:sp>
      <p:sp>
        <p:nvSpPr>
          <p:cNvPr id="12" name="nav.section-04"/>
          <p:cNvSpPr/>
          <p:nvPr/>
        </p:nvSpPr>
        <p:spPr>
          <a:xfrm>
            <a:off x="266700" y="3794760"/>
            <a:ext cx="228600" cy="1036320"/>
          </a:xfrm>
          <a:prstGeom prst="rect">
            <a:avLst/>
          </a:prstGeom>
          <a:solidFill>
            <a:srgbClr val="E8EEF8"/>
          </a:solidFill>
          <a:ln>
            <a:noFill/>
          </a:ln>
        </p:spPr>
      </p:sp>
      <p:sp>
        <p:nvSpPr>
          <p:cNvPr id="13"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DELIVERY</a:t>
            </a:r>
            <a:endParaRPr lang="en-US" sz="800" spc="80" kern="0" b="0" i="0" dirty="0">
              <a:solidFill>
                <a:srgbClr val="50658E"/>
              </a:solidFill>
              <a:latin typeface="IBM Plex Mono SemiBold"/>
              <a:ea typeface="IBM Plex Mono SemiBold"/>
              <a:cs typeface="IBM Plex Mono SemiBold"/>
            </a:endParaRPr>
          </a:p>
        </p:txBody>
      </p:sp>
      <p:sp>
        <p:nvSpPr>
          <p:cNvPr id="14" name="nav.section-05"/>
          <p:cNvSpPr/>
          <p:nvPr/>
        </p:nvSpPr>
        <p:spPr>
          <a:xfrm>
            <a:off x="266700" y="4907280"/>
            <a:ext cx="228600" cy="1036320"/>
          </a:xfrm>
          <a:prstGeom prst="rect">
            <a:avLst/>
          </a:prstGeom>
          <a:solidFill>
            <a:srgbClr val="E8EEF8"/>
          </a:solidFill>
          <a:ln>
            <a:noFill/>
          </a:ln>
        </p:spPr>
      </p:sp>
      <p:sp>
        <p:nvSpPr>
          <p:cNvPr id="15"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GOVERNANCE</a:t>
            </a:r>
            <a:endParaRPr lang="en-US" sz="800" spc="80" kern="0" b="0" i="0" dirty="0">
              <a:solidFill>
                <a:srgbClr val="50658E"/>
              </a:solidFill>
              <a:latin typeface="IBM Plex Mono SemiBold"/>
              <a:ea typeface="IBM Plex Mono SemiBold"/>
              <a:cs typeface="IBM Plex Mono SemiBold"/>
            </a:endParaRPr>
          </a:p>
        </p:txBody>
      </p:sp>
      <p:sp>
        <p:nvSpPr>
          <p:cNvPr id="1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146</a:t>
            </a:fld>
            <a:endParaRPr lang="en-US" sz="700" spc="0" kern="0" b="0" i="0" dirty="0">
              <a:solidFill>
                <a:srgbClr val="070154"/>
              </a:solidFill>
              <a:latin typeface="IBM Plex Mono SemiBold"/>
              <a:ea typeface="IBM Plex Mono SemiBold"/>
              <a:cs typeface="IBM Plex Mono SemiBold"/>
            </a:endParaRPr>
          </a:p>
        </p:txBody>
      </p:sp>
      <p:grpSp>
        <p:nvGrpSpPr>
          <p:cNvPr id="18" name="node01"/>
          <p:cNvGrpSpPr/>
          <p:nvPr/>
        </p:nvGrpSpPr>
        <p:grpSpPr>
          <a:xfrm>
            <a:off x="723900" y="2057400"/>
            <a:ext cx="10744200" cy="3657600"/>
            <a:chOff x="723900" y="2057400"/>
            <a:chExt cx="10744200" cy="3657600"/>
          </a:xfrm>
        </p:grpSpPr>
        <p:graphicFrame>
          <p:nvGraphicFramePr>
            <p:cNvPr id="17" name="node01.native"/>
            <p:cNvGraphicFramePr>
              <a:graphicFrameLocks noGrp="1"/>
            </p:cNvGraphicFramePr>
            <p:nvPr>
              <p:extLst>
                <p:ext uri="{D42A27DB-BD31-4B8C-83A1-F6EECF244321}">
                  <p14:modId xmlns:p14="http://schemas.microsoft.com/office/powerpoint/2010/main" val="1579011935"/>
                </p:ext>
              </p:extLst>
            </p:nvPr>
          </p:nvGraphicFramePr>
          <p:xfrm>
            <a:off x="723900" y="2057400"/>
            <a:ext cx="10744200" cy="3657600"/>
          </p:xfrm>
          <a:graphic>
            <a:graphicData uri="http://schemas.openxmlformats.org/drawingml/2006/table">
              <a:tbl>
                <a:tblPr/>
                <a:tblGrid>
                  <a:gridCol w="1219200"/>
                  <a:gridCol w="2209800"/>
                  <a:gridCol w="2362200"/>
                  <a:gridCol w="2413000"/>
                  <a:gridCol w="25400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WAVE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SCOPE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ENTRY CRITERIA</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EXIT CRITERIA</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DECISION GATE</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8255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Wave 1</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Foundation</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Master patient index</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Single sign-in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Funding approved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Privacy review signed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Duplicates down 40%</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Sign-in live at all sites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Access council confirms the data is trusted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255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Wave 2</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Access</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Self-scheduling</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Digital intake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Wave 1 exit met</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Two pilot clinics named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60% of visits booked online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Intake done for 50%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Executive team chooses buy or build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255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Wave 3</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Revenue</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Price estimates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Online payment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Payer data loaded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Billing squad staffed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Estimates on 90% of visits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Denials down 15%</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CFO signs off on rollout to all sites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255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Wave 4</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Clinical</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Referral tracking</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Care plans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Event stream at scale</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Clinical lead named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Every referral tracked</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Care plans in 3 service lines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Clinical council approves workflow changes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ource-436">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DIGITAL FRONT DOOR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Six decisions set the pace of the roadmap</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147</a:t>
            </a:fld>
            <a:endParaRPr lang="en-US" sz="700" spc="0" kern="0" b="0" i="0" dirty="0">
              <a:solidFill>
                <a:srgbClr val="070154"/>
              </a:solidFill>
              <a:latin typeface="IBM Plex Mono SemiBold"/>
              <a:ea typeface="IBM Plex Mono SemiBold"/>
              <a:cs typeface="IBM Plex Mono SemiBold"/>
            </a:endParaRPr>
          </a:p>
        </p:txBody>
      </p:sp>
      <p:grpSp>
        <p:nvGrpSpPr>
          <p:cNvPr id="30" name="node01"/>
          <p:cNvGrpSpPr/>
          <p:nvPr/>
        </p:nvGrpSpPr>
        <p:grpSpPr>
          <a:xfrm>
            <a:off x="723900" y="457200"/>
            <a:ext cx="7086600" cy="5232400"/>
            <a:chOff x="723900" y="457200"/>
            <a:chExt cx="7086600" cy="52324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457200"/>
            <a:ext cx="7086600" cy="5232400"/>
          </p:xfrm>
          <a:graphic>
            <a:graphicData uri="http://schemas.openxmlformats.org/drawingml/2006/table">
              <a:tbl>
                <a:tblPr/>
                <a:tblGrid>
                  <a:gridCol w="2133600"/>
                  <a:gridCol w="914400"/>
                  <a:gridCol w="1905000"/>
                  <a:gridCol w="21336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DECISION</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BY</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OWNER</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WHAT IT UNLOCKS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812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Fund the data foundation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Executive team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Wave 1 starts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12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Approve patient ID policy</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Privacy officer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Single sign-in at every site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12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Choose buy, build or partner</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Chief digital officer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Vendor selection and contracts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12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Set price estimate rules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VP revenue cycle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Estimates shown before booking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12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Agree clinical workflow changes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Clinical council</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Referral tracking and care plans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12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Decide on enterprise scale-out</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Executive team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Funding for 2028</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row.item-001.w.priority.fill"/>
            <p:cNvSpPr/>
            <p:nvPr/>
          </p:nvSpPr>
          <p:spPr>
            <a:xfrm>
              <a:off x="3060700" y="1123950"/>
              <a:ext cx="508000" cy="190500"/>
            </a:xfrm>
            <a:prstGeom prst="rect">
              <a:avLst/>
            </a:prstGeom>
            <a:solidFill>
              <a:srgbClr val="070154"/>
            </a:solidFill>
            <a:ln w="9525">
              <a:solidFill>
                <a:srgbClr val="070154"/>
              </a:solidFill>
              <a:prstDash val="solid"/>
            </a:ln>
          </p:spPr>
        </p:sp>
        <p:sp>
          <p:nvSpPr>
            <p:cNvPr id="9" name="node01.row.item-001.w.priority"/>
            <p:cNvSpPr/>
            <p:nvPr/>
          </p:nvSpPr>
          <p:spPr>
            <a:xfrm>
              <a:off x="3162300" y="11493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NOW</a:t>
              </a:r>
              <a:endParaRPr lang="en-US" sz="800" spc="48" kern="0" b="0" i="0" dirty="0">
                <a:solidFill>
                  <a:srgbClr val="FFFFFF"/>
                </a:solidFill>
                <a:latin typeface="IBM Plex Mono SemiBold"/>
                <a:ea typeface="IBM Plex Mono SemiBold"/>
                <a:cs typeface="IBM Plex Mono SemiBold"/>
              </a:endParaRPr>
            </a:p>
          </p:txBody>
        </p:sp>
        <p:sp>
          <p:nvSpPr>
            <p:cNvPr id="10" name="node01.row.item-002.w.priority.fill"/>
            <p:cNvSpPr/>
            <p:nvPr/>
          </p:nvSpPr>
          <p:spPr>
            <a:xfrm>
              <a:off x="3060700" y="1936750"/>
              <a:ext cx="508000" cy="190500"/>
            </a:xfrm>
            <a:prstGeom prst="rect">
              <a:avLst/>
            </a:prstGeom>
            <a:solidFill>
              <a:srgbClr val="070154"/>
            </a:solidFill>
            <a:ln w="9525">
              <a:solidFill>
                <a:srgbClr val="070154"/>
              </a:solidFill>
              <a:prstDash val="solid"/>
            </a:ln>
          </p:spPr>
        </p:sp>
        <p:sp>
          <p:nvSpPr>
            <p:cNvPr id="11" name="node01.row.item-002.w.priority"/>
            <p:cNvSpPr/>
            <p:nvPr/>
          </p:nvSpPr>
          <p:spPr>
            <a:xfrm>
              <a:off x="3162300" y="19621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NOW</a:t>
              </a:r>
              <a:endParaRPr lang="en-US" sz="800" spc="48" kern="0" b="0" i="0" dirty="0">
                <a:solidFill>
                  <a:srgbClr val="FFFFFF"/>
                </a:solidFill>
                <a:latin typeface="IBM Plex Mono SemiBold"/>
                <a:ea typeface="IBM Plex Mono SemiBold"/>
                <a:cs typeface="IBM Plex Mono SemiBold"/>
              </a:endParaRPr>
            </a:p>
          </p:txBody>
        </p:sp>
        <p:sp>
          <p:nvSpPr>
            <p:cNvPr id="12" name="node01.row.item-003.w.priority.fill"/>
            <p:cNvSpPr/>
            <p:nvPr/>
          </p:nvSpPr>
          <p:spPr>
            <a:xfrm>
              <a:off x="3060700" y="2749550"/>
              <a:ext cx="508000" cy="190500"/>
            </a:xfrm>
            <a:prstGeom prst="rect">
              <a:avLst/>
            </a:prstGeom>
            <a:solidFill>
              <a:srgbClr val="CED7E6"/>
            </a:solidFill>
            <a:ln w="9525">
              <a:solidFill>
                <a:srgbClr val="070154"/>
              </a:solidFill>
              <a:prstDash val="solid"/>
            </a:ln>
          </p:spPr>
        </p:sp>
        <p:sp>
          <p:nvSpPr>
            <p:cNvPr id="13" name="node01.row.item-003.w.priority"/>
            <p:cNvSpPr/>
            <p:nvPr/>
          </p:nvSpPr>
          <p:spPr>
            <a:xfrm>
              <a:off x="3162300" y="27749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NEXT</a:t>
              </a:r>
              <a:endParaRPr lang="en-US" sz="800" spc="48" kern="0" b="0" i="0" dirty="0">
                <a:solidFill>
                  <a:srgbClr val="070154"/>
                </a:solidFill>
                <a:latin typeface="IBM Plex Mono SemiBold"/>
                <a:ea typeface="IBM Plex Mono SemiBold"/>
                <a:cs typeface="IBM Plex Mono SemiBold"/>
              </a:endParaRPr>
            </a:p>
          </p:txBody>
        </p:sp>
        <p:sp>
          <p:nvSpPr>
            <p:cNvPr id="14" name="node01.row.item-004.w.priority.fill"/>
            <p:cNvSpPr/>
            <p:nvPr/>
          </p:nvSpPr>
          <p:spPr>
            <a:xfrm>
              <a:off x="3060700" y="3562350"/>
              <a:ext cx="508000" cy="190500"/>
            </a:xfrm>
            <a:prstGeom prst="rect">
              <a:avLst/>
            </a:prstGeom>
            <a:solidFill>
              <a:srgbClr val="CED7E6"/>
            </a:solidFill>
            <a:ln w="9525">
              <a:solidFill>
                <a:srgbClr val="070154"/>
              </a:solidFill>
              <a:prstDash val="solid"/>
            </a:ln>
          </p:spPr>
        </p:sp>
        <p:sp>
          <p:nvSpPr>
            <p:cNvPr id="15" name="node01.row.item-004.w.priority"/>
            <p:cNvSpPr/>
            <p:nvPr/>
          </p:nvSpPr>
          <p:spPr>
            <a:xfrm>
              <a:off x="3162300" y="35877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NEXT</a:t>
              </a:r>
              <a:endParaRPr lang="en-US" sz="800" spc="48" kern="0" b="0" i="0" dirty="0">
                <a:solidFill>
                  <a:srgbClr val="070154"/>
                </a:solidFill>
                <a:latin typeface="IBM Plex Mono SemiBold"/>
                <a:ea typeface="IBM Plex Mono SemiBold"/>
                <a:cs typeface="IBM Plex Mono SemiBold"/>
              </a:endParaRPr>
            </a:p>
          </p:txBody>
        </p:sp>
        <p:sp>
          <p:nvSpPr>
            <p:cNvPr id="16" name="node01.row.item-005.w.priority.fill"/>
            <p:cNvSpPr/>
            <p:nvPr/>
          </p:nvSpPr>
          <p:spPr>
            <a:xfrm>
              <a:off x="3034348" y="4375150"/>
              <a:ext cx="560704" cy="190500"/>
            </a:xfrm>
            <a:prstGeom prst="rect">
              <a:avLst/>
            </a:prstGeom>
            <a:ln w="9525">
              <a:solidFill>
                <a:srgbClr val="070154"/>
              </a:solidFill>
              <a:prstDash val="solid"/>
            </a:ln>
          </p:spPr>
        </p:sp>
        <p:sp>
          <p:nvSpPr>
            <p:cNvPr id="17" name="node01.row.item-005.w.priority"/>
            <p:cNvSpPr/>
            <p:nvPr/>
          </p:nvSpPr>
          <p:spPr>
            <a:xfrm>
              <a:off x="3135948" y="4400550"/>
              <a:ext cx="357504"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LATER</a:t>
              </a:r>
              <a:endParaRPr lang="en-US" sz="800" spc="48" kern="0" b="0" i="0" dirty="0">
                <a:solidFill>
                  <a:srgbClr val="070154"/>
                </a:solidFill>
                <a:latin typeface="IBM Plex Mono SemiBold"/>
                <a:ea typeface="IBM Plex Mono SemiBold"/>
                <a:cs typeface="IBM Plex Mono SemiBold"/>
              </a:endParaRPr>
            </a:p>
          </p:txBody>
        </p:sp>
        <p:sp>
          <p:nvSpPr>
            <p:cNvPr id="18" name="node01.row.item-006.w.priority.fill"/>
            <p:cNvSpPr/>
            <p:nvPr/>
          </p:nvSpPr>
          <p:spPr>
            <a:xfrm>
              <a:off x="3034348" y="5187950"/>
              <a:ext cx="560704" cy="190500"/>
            </a:xfrm>
            <a:prstGeom prst="rect">
              <a:avLst/>
            </a:prstGeom>
            <a:ln w="9525">
              <a:solidFill>
                <a:srgbClr val="070154"/>
              </a:solidFill>
              <a:prstDash val="solid"/>
            </a:ln>
          </p:spPr>
        </p:sp>
        <p:sp>
          <p:nvSpPr>
            <p:cNvPr id="19" name="node01.row.item-006.w.priority"/>
            <p:cNvSpPr/>
            <p:nvPr/>
          </p:nvSpPr>
          <p:spPr>
            <a:xfrm>
              <a:off x="3135948" y="5213350"/>
              <a:ext cx="357504"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LATER</a:t>
              </a:r>
              <a:endParaRPr lang="en-US" sz="800" spc="48" kern="0" b="0" i="0" dirty="0">
                <a:solidFill>
                  <a:srgbClr val="070154"/>
                </a:solidFill>
                <a:latin typeface="IBM Plex Mono SemiBold"/>
                <a:ea typeface="IBM Plex Mono SemiBold"/>
                <a:cs typeface="IBM Plex Mono SemiBold"/>
              </a:endParaRPr>
            </a:p>
          </p:txBody>
        </p:sp>
      </p:grpSp>
      <p:grpSp>
        <p:nvGrpSpPr>
          <p:cNvPr id="31" name="node02"/>
          <p:cNvGrpSpPr/>
          <p:nvPr/>
        </p:nvGrpSpPr>
        <p:grpSpPr>
          <a:xfrm>
            <a:off x="8039100" y="2514600"/>
            <a:ext cx="3429000" cy="431800"/>
            <a:chOff x="8039100" y="2514600"/>
            <a:chExt cx="3429000" cy="431800"/>
          </a:xfrm>
        </p:grpSpPr>
        <p:sp>
          <p:nvSpPr>
            <p:cNvPr id="20" name="node02.text"/>
            <p:cNvSpPr/>
            <p:nvPr/>
          </p:nvSpPr>
          <p:spPr>
            <a:xfrm>
              <a:off x="8039100" y="2514600"/>
              <a:ext cx="3429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 roadmap is a series of choices, each made by a named owner before work can start.</a:t>
              </a:r>
              <a:endParaRPr lang="en-US" sz="1200" spc="0" kern="0" b="0" i="0" dirty="0">
                <a:solidFill>
                  <a:srgbClr val="070154"/>
                </a:solidFill>
                <a:latin typeface="IBM Plex Sans"/>
                <a:ea typeface="IBM Plex Sans"/>
                <a:cs typeface="IBM Plex Sans"/>
              </a:endParaRPr>
            </a:p>
          </p:txBody>
        </p:sp>
      </p:grpSp>
      <p:grpSp>
        <p:nvGrpSpPr>
          <p:cNvPr id="32" name="node03"/>
          <p:cNvGrpSpPr/>
          <p:nvPr/>
        </p:nvGrpSpPr>
        <p:grpSpPr>
          <a:xfrm>
            <a:off x="8039100" y="3657600"/>
            <a:ext cx="3429000" cy="228600"/>
            <a:chOff x="8039100" y="3657600"/>
            <a:chExt cx="3429000" cy="228600"/>
          </a:xfrm>
        </p:grpSpPr>
        <p:sp>
          <p:nvSpPr>
            <p:cNvPr id="21" name="node03.label"/>
            <p:cNvSpPr/>
            <p:nvPr/>
          </p:nvSpPr>
          <p:spPr>
            <a:xfrm>
              <a:off x="8039100" y="3657600"/>
              <a:ext cx="148665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HOW DECISIONS ARE MADE</a:t>
              </a:r>
              <a:endParaRPr lang="en-US" sz="800" spc="48" kern="0" b="0" i="0" dirty="0">
                <a:solidFill>
                  <a:srgbClr val="50658E"/>
                </a:solidFill>
                <a:latin typeface="IBM Plex Mono Medium"/>
                <a:ea typeface="IBM Plex Mono Medium"/>
                <a:cs typeface="IBM Plex Mono Medium"/>
              </a:endParaRPr>
            </a:p>
          </p:txBody>
        </p:sp>
        <p:sp>
          <p:nvSpPr>
            <p:cNvPr id="22" name="node03.rule"/>
            <p:cNvSpPr/>
            <p:nvPr/>
          </p:nvSpPr>
          <p:spPr>
            <a:xfrm>
              <a:off x="9652757" y="3767138"/>
              <a:ext cx="1815343" cy="9525"/>
            </a:xfrm>
            <a:prstGeom prst="rect">
              <a:avLst/>
            </a:prstGeom>
            <a:solidFill>
              <a:srgbClr val="CED7E6"/>
            </a:solidFill>
            <a:ln>
              <a:noFill/>
            </a:ln>
          </p:spPr>
        </p:sp>
      </p:grpSp>
      <p:sp>
        <p:nvSpPr>
          <p:cNvPr id="23" name="node04"/>
          <p:cNvSpPr/>
          <p:nvPr/>
        </p:nvSpPr>
        <p:spPr>
          <a:xfrm>
            <a:off x="8039100" y="3886200"/>
            <a:ext cx="3429000" cy="9525"/>
          </a:xfrm>
          <a:prstGeom prst="rect">
            <a:avLst/>
          </a:prstGeom>
          <a:solidFill>
            <a:srgbClr val="CED7E6"/>
          </a:solidFill>
          <a:ln>
            <a:noFill/>
          </a:ln>
        </p:spPr>
      </p:sp>
      <p:grpSp>
        <p:nvGrpSpPr>
          <p:cNvPr id="33" name="node05"/>
          <p:cNvGrpSpPr/>
          <p:nvPr/>
        </p:nvGrpSpPr>
        <p:grpSpPr>
          <a:xfrm>
            <a:off x="8039100" y="3962400"/>
            <a:ext cx="3429000" cy="1155700"/>
            <a:chOff x="8039100" y="3962400"/>
            <a:chExt cx="3429000" cy="1155700"/>
          </a:xfrm>
        </p:grpSpPr>
        <p:sp>
          <p:nvSpPr>
            <p:cNvPr id="24" name="node05.source-001.bullet"/>
            <p:cNvSpPr/>
            <p:nvPr/>
          </p:nvSpPr>
          <p:spPr>
            <a:xfrm>
              <a:off x="8039100" y="4051300"/>
              <a:ext cx="38100" cy="38100"/>
            </a:xfrm>
            <a:prstGeom prst="rect">
              <a:avLst/>
            </a:prstGeom>
            <a:solidFill>
              <a:srgbClr val="070154"/>
            </a:solidFill>
            <a:ln>
              <a:noFill/>
            </a:ln>
          </p:spPr>
        </p:sp>
        <p:sp>
          <p:nvSpPr>
            <p:cNvPr id="25" name="node05.source-001.text"/>
            <p:cNvSpPr/>
            <p:nvPr/>
          </p:nvSpPr>
          <p:spPr>
            <a:xfrm>
              <a:off x="8191500" y="3962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Forum.</a:t>
              </a:r>
              <a:r>
                <a:rPr lang="en-US" sz="1200" spc="0" kern="0" b="0" i="0" dirty="0">
                  <a:solidFill>
                    <a:srgbClr val="50658E"/>
                  </a:solidFill>
                  <a:latin typeface="IBM Plex Sans"/>
                  <a:ea typeface="IBM Plex Sans"/>
                  <a:cs typeface="IBM Plex Sans"/>
                </a:rPr>
                <a:t xml:space="preserve"> Access council, monthly.</a:t>
              </a:r>
              <a:endParaRPr lang="en-US" sz="1200" spc="0" kern="0" b="0" i="0" dirty="0">
                <a:solidFill>
                  <a:srgbClr val="070154"/>
                </a:solidFill>
                <a:latin typeface="IBM Plex Sans"/>
                <a:ea typeface="IBM Plex Sans"/>
                <a:cs typeface="IBM Plex Sans"/>
              </a:endParaRPr>
            </a:p>
          </p:txBody>
        </p:sp>
        <p:sp>
          <p:nvSpPr>
            <p:cNvPr id="26" name="node05.source-002.bullet"/>
            <p:cNvSpPr/>
            <p:nvPr/>
          </p:nvSpPr>
          <p:spPr>
            <a:xfrm>
              <a:off x="8039100" y="4305300"/>
              <a:ext cx="38100" cy="38100"/>
            </a:xfrm>
            <a:prstGeom prst="rect">
              <a:avLst/>
            </a:prstGeom>
            <a:solidFill>
              <a:srgbClr val="070154"/>
            </a:solidFill>
            <a:ln>
              <a:noFill/>
            </a:ln>
          </p:spPr>
        </p:sp>
        <p:sp>
          <p:nvSpPr>
            <p:cNvPr id="27" name="node05.source-002.text"/>
            <p:cNvSpPr/>
            <p:nvPr/>
          </p:nvSpPr>
          <p:spPr>
            <a:xfrm>
              <a:off x="8191500" y="42164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Rule.</a:t>
              </a:r>
              <a:r>
                <a:rPr lang="en-US" sz="1200" spc="0" kern="0" b="0" i="0" dirty="0">
                  <a:solidFill>
                    <a:srgbClr val="50658E"/>
                  </a:solidFill>
                  <a:latin typeface="IBM Plex Sans"/>
                  <a:ea typeface="IBM Plex Sans"/>
                  <a:cs typeface="IBM Plex Sans"/>
                </a:rPr>
                <a:t xml:space="preserve"> No wave starts without its decision logged.</a:t>
              </a:r>
              <a:endParaRPr lang="en-US" sz="1200" spc="0" kern="0" b="0" i="0" dirty="0">
                <a:solidFill>
                  <a:srgbClr val="070154"/>
                </a:solidFill>
                <a:latin typeface="IBM Plex Sans"/>
                <a:ea typeface="IBM Plex Sans"/>
                <a:cs typeface="IBM Plex Sans"/>
              </a:endParaRPr>
            </a:p>
          </p:txBody>
        </p:sp>
        <p:sp>
          <p:nvSpPr>
            <p:cNvPr id="28" name="node05.source-003.bullet"/>
            <p:cNvSpPr/>
            <p:nvPr/>
          </p:nvSpPr>
          <p:spPr>
            <a:xfrm>
              <a:off x="8039100" y="4775200"/>
              <a:ext cx="38100" cy="38100"/>
            </a:xfrm>
            <a:prstGeom prst="rect">
              <a:avLst/>
            </a:prstGeom>
            <a:solidFill>
              <a:srgbClr val="070154"/>
            </a:solidFill>
            <a:ln>
              <a:noFill/>
            </a:ln>
          </p:spPr>
        </p:sp>
        <p:sp>
          <p:nvSpPr>
            <p:cNvPr id="29" name="node05.source-003.text"/>
            <p:cNvSpPr/>
            <p:nvPr/>
          </p:nvSpPr>
          <p:spPr>
            <a:xfrm>
              <a:off x="8191500" y="46863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Escalation.</a:t>
              </a:r>
              <a:r>
                <a:rPr lang="en-US" sz="1200" spc="0" kern="0" b="0" i="0" dirty="0">
                  <a:solidFill>
                    <a:srgbClr val="50658E"/>
                  </a:solidFill>
                  <a:latin typeface="IBM Plex Sans"/>
                  <a:ea typeface="IBM Plex Sans"/>
                  <a:cs typeface="IBM Plex Sans"/>
                </a:rPr>
                <a:t xml:space="preserve"> Late decisions move to the executive team within two weeks.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ource-52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5031646" y="733532"/>
            <a:ext cx="4583337"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We build together, then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Northfield takes the lead</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148</a:t>
            </a:fld>
            <a:endParaRPr lang="en-US" sz="700" spc="0" kern="0" b="0" i="0" dirty="0">
              <a:solidFill>
                <a:srgbClr val="070154"/>
              </a:solidFill>
              <a:latin typeface="IBM Plex Mono SemiBold"/>
              <a:ea typeface="IBM Plex Mono SemiBold"/>
              <a:cs typeface="IBM Plex Mono SemiBold"/>
            </a:endParaRPr>
          </a:p>
        </p:txBody>
      </p:sp>
      <p:grpSp>
        <p:nvGrpSpPr>
          <p:cNvPr id="27" name="node01"/>
          <p:cNvGrpSpPr/>
          <p:nvPr/>
        </p:nvGrpSpPr>
        <p:grpSpPr>
          <a:xfrm>
            <a:off x="723900" y="1600200"/>
            <a:ext cx="10744200" cy="4343400"/>
            <a:chOff x="723900" y="1600200"/>
            <a:chExt cx="10744200" cy="4343400"/>
          </a:xfrm>
        </p:grpSpPr>
        <p:sp>
          <p:nvSpPr>
            <p:cNvPr id="7" name="node01.series.source-001"/>
            <p:cNvSpPr/>
            <p:nvPr/>
          </p:nvSpPr>
          <p:spPr>
            <a:xfrm>
              <a:off x="723900" y="1600200"/>
              <a:ext cx="10744200" cy="3429000"/>
            </a:xfrm>
            <a:custGeom>
              <a:avLst/>
              <a:gdLst/>
              <a:ahLst/>
              <a:cxnLst/>
              <a:rect l="l" t="t" r="r" b="b"/>
              <a:pathLst>
                <a:path w="10744200" h="3429000">
                  <a:moveTo>
                    <a:pt x="0" y="3044136"/>
                  </a:moveTo>
                  <a:lnTo>
                    <a:pt x="44768" y="3042061"/>
                  </a:lnTo>
                  <a:lnTo>
                    <a:pt x="89535" y="3039853"/>
                  </a:lnTo>
                  <a:lnTo>
                    <a:pt x="134303" y="3037510"/>
                  </a:lnTo>
                  <a:lnTo>
                    <a:pt x="179070" y="3035027"/>
                  </a:lnTo>
                  <a:lnTo>
                    <a:pt x="223838" y="3032402"/>
                  </a:lnTo>
                  <a:lnTo>
                    <a:pt x="268605" y="3029632"/>
                  </a:lnTo>
                  <a:lnTo>
                    <a:pt x="313373" y="3026716"/>
                  </a:lnTo>
                  <a:lnTo>
                    <a:pt x="358140" y="3023652"/>
                  </a:lnTo>
                  <a:lnTo>
                    <a:pt x="402908" y="3020439"/>
                  </a:lnTo>
                  <a:lnTo>
                    <a:pt x="447675" y="3017076"/>
                  </a:lnTo>
                  <a:lnTo>
                    <a:pt x="492443" y="3013563"/>
                  </a:lnTo>
                  <a:lnTo>
                    <a:pt x="537210" y="3009901"/>
                  </a:lnTo>
                  <a:lnTo>
                    <a:pt x="581978" y="3006090"/>
                  </a:lnTo>
                  <a:lnTo>
                    <a:pt x="626745" y="3002131"/>
                  </a:lnTo>
                  <a:lnTo>
                    <a:pt x="671513" y="2998027"/>
                  </a:lnTo>
                  <a:lnTo>
                    <a:pt x="716280" y="2993780"/>
                  </a:lnTo>
                  <a:lnTo>
                    <a:pt x="761048" y="2989392"/>
                  </a:lnTo>
                  <a:lnTo>
                    <a:pt x="805815" y="2984866"/>
                  </a:lnTo>
                  <a:lnTo>
                    <a:pt x="850583" y="2980207"/>
                  </a:lnTo>
                  <a:lnTo>
                    <a:pt x="895350" y="2975419"/>
                  </a:lnTo>
                  <a:lnTo>
                    <a:pt x="940118" y="2970507"/>
                  </a:lnTo>
                  <a:lnTo>
                    <a:pt x="984885" y="2965475"/>
                  </a:lnTo>
                  <a:lnTo>
                    <a:pt x="1029653" y="2960330"/>
                  </a:lnTo>
                  <a:lnTo>
                    <a:pt x="1074420" y="2955077"/>
                  </a:lnTo>
                  <a:lnTo>
                    <a:pt x="1119188" y="2949722"/>
                  </a:lnTo>
                  <a:lnTo>
                    <a:pt x="1163955" y="2944274"/>
                  </a:lnTo>
                  <a:lnTo>
                    <a:pt x="1208723" y="2938738"/>
                  </a:lnTo>
                  <a:lnTo>
                    <a:pt x="1253490" y="2933121"/>
                  </a:lnTo>
                  <a:lnTo>
                    <a:pt x="1298258" y="2927433"/>
                  </a:lnTo>
                  <a:lnTo>
                    <a:pt x="1343025" y="2921679"/>
                  </a:lnTo>
                  <a:lnTo>
                    <a:pt x="1387793" y="2915868"/>
                  </a:lnTo>
                  <a:lnTo>
                    <a:pt x="1432560" y="2910008"/>
                  </a:lnTo>
                  <a:lnTo>
                    <a:pt x="1477328" y="2904108"/>
                  </a:lnTo>
                  <a:lnTo>
                    <a:pt x="1522095" y="2898175"/>
                  </a:lnTo>
                  <a:lnTo>
                    <a:pt x="1566863" y="2892219"/>
                  </a:lnTo>
                  <a:lnTo>
                    <a:pt x="1611630" y="2886247"/>
                  </a:lnTo>
                  <a:lnTo>
                    <a:pt x="1656398" y="2880269"/>
                  </a:lnTo>
                  <a:lnTo>
                    <a:pt x="1701165" y="2874292"/>
                  </a:lnTo>
                  <a:lnTo>
                    <a:pt x="1745932" y="2868325"/>
                  </a:lnTo>
                  <a:lnTo>
                    <a:pt x="1790700" y="2862376"/>
                  </a:lnTo>
                  <a:lnTo>
                    <a:pt x="1835468" y="2856453"/>
                  </a:lnTo>
                  <a:lnTo>
                    <a:pt x="1880235" y="2850563"/>
                  </a:lnTo>
                  <a:lnTo>
                    <a:pt x="1925002" y="2844714"/>
                  </a:lnTo>
                  <a:lnTo>
                    <a:pt x="1969770" y="2838914"/>
                  </a:lnTo>
                  <a:lnTo>
                    <a:pt x="2014538" y="2833168"/>
                  </a:lnTo>
                  <a:lnTo>
                    <a:pt x="2059305" y="2827484"/>
                  </a:lnTo>
                  <a:lnTo>
                    <a:pt x="2104073" y="2821868"/>
                  </a:lnTo>
                  <a:lnTo>
                    <a:pt x="2148840" y="2816325"/>
                  </a:lnTo>
                  <a:lnTo>
                    <a:pt x="2193608" y="2810861"/>
                  </a:lnTo>
                  <a:lnTo>
                    <a:pt x="2238375" y="2805479"/>
                  </a:lnTo>
                  <a:lnTo>
                    <a:pt x="2283143" y="2800185"/>
                  </a:lnTo>
                  <a:lnTo>
                    <a:pt x="2327910" y="2794982"/>
                  </a:lnTo>
                  <a:lnTo>
                    <a:pt x="2372678" y="2789874"/>
                  </a:lnTo>
                  <a:lnTo>
                    <a:pt x="2417445" y="2784862"/>
                  </a:lnTo>
                  <a:lnTo>
                    <a:pt x="2462213" y="2779948"/>
                  </a:lnTo>
                  <a:lnTo>
                    <a:pt x="2506980" y="2775135"/>
                  </a:lnTo>
                  <a:lnTo>
                    <a:pt x="2551748" y="2770422"/>
                  </a:lnTo>
                  <a:lnTo>
                    <a:pt x="2596515" y="2765810"/>
                  </a:lnTo>
                  <a:lnTo>
                    <a:pt x="2641283" y="2761297"/>
                  </a:lnTo>
                  <a:lnTo>
                    <a:pt x="2686050" y="2756884"/>
                  </a:lnTo>
                  <a:lnTo>
                    <a:pt x="2730818" y="2752569"/>
                  </a:lnTo>
                  <a:lnTo>
                    <a:pt x="2775585" y="2748350"/>
                  </a:lnTo>
                  <a:lnTo>
                    <a:pt x="2820353" y="2744224"/>
                  </a:lnTo>
                  <a:lnTo>
                    <a:pt x="2865120" y="2740189"/>
                  </a:lnTo>
                  <a:lnTo>
                    <a:pt x="2909887" y="2736241"/>
                  </a:lnTo>
                  <a:lnTo>
                    <a:pt x="2954655" y="2732376"/>
                  </a:lnTo>
                  <a:lnTo>
                    <a:pt x="2999423" y="2728589"/>
                  </a:lnTo>
                  <a:lnTo>
                    <a:pt x="3044190" y="2724877"/>
                  </a:lnTo>
                  <a:lnTo>
                    <a:pt x="3088958" y="2721234"/>
                  </a:lnTo>
                  <a:lnTo>
                    <a:pt x="3133725" y="2717654"/>
                  </a:lnTo>
                  <a:lnTo>
                    <a:pt x="3178493" y="2714131"/>
                  </a:lnTo>
                  <a:lnTo>
                    <a:pt x="3223260" y="2710660"/>
                  </a:lnTo>
                  <a:lnTo>
                    <a:pt x="3268028" y="2707235"/>
                  </a:lnTo>
                  <a:lnTo>
                    <a:pt x="3312795" y="2703851"/>
                  </a:lnTo>
                  <a:lnTo>
                    <a:pt x="3357563" y="2700502"/>
                  </a:lnTo>
                  <a:lnTo>
                    <a:pt x="3402330" y="2697181"/>
                  </a:lnTo>
                  <a:lnTo>
                    <a:pt x="3447098" y="2693885"/>
                  </a:lnTo>
                  <a:lnTo>
                    <a:pt x="3491865" y="2690606"/>
                  </a:lnTo>
                  <a:lnTo>
                    <a:pt x="3536633" y="2687340"/>
                  </a:lnTo>
                  <a:lnTo>
                    <a:pt x="3581400" y="2684079"/>
                  </a:lnTo>
                  <a:lnTo>
                    <a:pt x="3626168" y="2680816"/>
                  </a:lnTo>
                  <a:lnTo>
                    <a:pt x="3670935" y="2677547"/>
                  </a:lnTo>
                  <a:lnTo>
                    <a:pt x="3715703" y="2674265"/>
                  </a:lnTo>
                  <a:lnTo>
                    <a:pt x="3760470" y="2670967"/>
                  </a:lnTo>
                  <a:lnTo>
                    <a:pt x="3805237" y="2667645"/>
                  </a:lnTo>
                  <a:lnTo>
                    <a:pt x="3850005" y="2664297"/>
                  </a:lnTo>
                  <a:lnTo>
                    <a:pt x="3894773" y="2660915"/>
                  </a:lnTo>
                  <a:lnTo>
                    <a:pt x="3939540" y="2657496"/>
                  </a:lnTo>
                  <a:lnTo>
                    <a:pt x="3984308" y="2654034"/>
                  </a:lnTo>
                  <a:lnTo>
                    <a:pt x="4029075" y="2650521"/>
                  </a:lnTo>
                  <a:lnTo>
                    <a:pt x="4073843" y="2646953"/>
                  </a:lnTo>
                  <a:lnTo>
                    <a:pt x="4118610" y="2643323"/>
                  </a:lnTo>
                  <a:lnTo>
                    <a:pt x="4163377" y="2639624"/>
                  </a:lnTo>
                  <a:lnTo>
                    <a:pt x="4208145" y="2635850"/>
                  </a:lnTo>
                  <a:lnTo>
                    <a:pt x="4252913" y="2631994"/>
                  </a:lnTo>
                  <a:lnTo>
                    <a:pt x="4297680" y="2628047"/>
                  </a:lnTo>
                  <a:lnTo>
                    <a:pt x="4342448" y="2624001"/>
                  </a:lnTo>
                  <a:lnTo>
                    <a:pt x="4387215" y="2619848"/>
                  </a:lnTo>
                  <a:lnTo>
                    <a:pt x="4431983" y="2615577"/>
                  </a:lnTo>
                  <a:lnTo>
                    <a:pt x="4476750" y="2611178"/>
                  </a:lnTo>
                  <a:lnTo>
                    <a:pt x="4521518" y="2606639"/>
                  </a:lnTo>
                  <a:lnTo>
                    <a:pt x="4566285" y="2601948"/>
                  </a:lnTo>
                  <a:lnTo>
                    <a:pt x="4611053" y="2597092"/>
                  </a:lnTo>
                  <a:lnTo>
                    <a:pt x="4655820" y="2592057"/>
                  </a:lnTo>
                  <a:lnTo>
                    <a:pt x="4700588" y="2586828"/>
                  </a:lnTo>
                  <a:lnTo>
                    <a:pt x="4745355" y="2581391"/>
                  </a:lnTo>
                  <a:lnTo>
                    <a:pt x="4790123" y="2575727"/>
                  </a:lnTo>
                  <a:lnTo>
                    <a:pt x="4834890" y="2569822"/>
                  </a:lnTo>
                  <a:lnTo>
                    <a:pt x="4879658" y="2563656"/>
                  </a:lnTo>
                  <a:lnTo>
                    <a:pt x="4924425" y="2557213"/>
                  </a:lnTo>
                  <a:lnTo>
                    <a:pt x="4969193" y="2550474"/>
                  </a:lnTo>
                  <a:lnTo>
                    <a:pt x="5013960" y="2543420"/>
                  </a:lnTo>
                  <a:lnTo>
                    <a:pt x="5058728" y="2536031"/>
                  </a:lnTo>
                  <a:lnTo>
                    <a:pt x="5103495" y="2528287"/>
                  </a:lnTo>
                  <a:lnTo>
                    <a:pt x="5148263" y="2520170"/>
                  </a:lnTo>
                  <a:lnTo>
                    <a:pt x="5193030" y="2511660"/>
                  </a:lnTo>
                  <a:lnTo>
                    <a:pt x="5237798" y="2502738"/>
                  </a:lnTo>
                  <a:lnTo>
                    <a:pt x="5282565" y="2493384"/>
                  </a:lnTo>
                  <a:lnTo>
                    <a:pt x="5327333" y="2483581"/>
                  </a:lnTo>
                  <a:lnTo>
                    <a:pt x="5372100" y="2473315"/>
                  </a:lnTo>
                  <a:lnTo>
                    <a:pt x="5416868" y="2462569"/>
                  </a:lnTo>
                  <a:lnTo>
                    <a:pt x="5461635" y="2451328"/>
                  </a:lnTo>
                  <a:lnTo>
                    <a:pt x="5506403" y="2439580"/>
                  </a:lnTo>
                  <a:lnTo>
                    <a:pt x="5551170" y="2427310"/>
                  </a:lnTo>
                  <a:lnTo>
                    <a:pt x="5595938" y="2414511"/>
                  </a:lnTo>
                  <a:lnTo>
                    <a:pt x="5640705" y="2401171"/>
                  </a:lnTo>
                  <a:lnTo>
                    <a:pt x="5685473" y="2387286"/>
                  </a:lnTo>
                  <a:lnTo>
                    <a:pt x="5730240" y="2372850"/>
                  </a:lnTo>
                  <a:lnTo>
                    <a:pt x="5775008" y="2357860"/>
                  </a:lnTo>
                  <a:lnTo>
                    <a:pt x="5819775" y="2342317"/>
                  </a:lnTo>
                  <a:lnTo>
                    <a:pt x="5864543" y="2326225"/>
                  </a:lnTo>
                  <a:lnTo>
                    <a:pt x="5909310" y="2309587"/>
                  </a:lnTo>
                  <a:lnTo>
                    <a:pt x="5954078" y="2292411"/>
                  </a:lnTo>
                  <a:lnTo>
                    <a:pt x="5998845" y="2274706"/>
                  </a:lnTo>
                  <a:lnTo>
                    <a:pt x="6043613" y="2256484"/>
                  </a:lnTo>
                  <a:lnTo>
                    <a:pt x="6088380" y="2237759"/>
                  </a:lnTo>
                  <a:lnTo>
                    <a:pt x="6133148" y="2218547"/>
                  </a:lnTo>
                  <a:lnTo>
                    <a:pt x="6177915" y="2198867"/>
                  </a:lnTo>
                  <a:lnTo>
                    <a:pt x="6222683" y="2178741"/>
                  </a:lnTo>
                  <a:lnTo>
                    <a:pt x="6267450" y="2158190"/>
                  </a:lnTo>
                  <a:lnTo>
                    <a:pt x="6312218" y="2137238"/>
                  </a:lnTo>
                  <a:lnTo>
                    <a:pt x="6356985" y="2115913"/>
                  </a:lnTo>
                  <a:lnTo>
                    <a:pt x="6401753" y="2094244"/>
                  </a:lnTo>
                  <a:lnTo>
                    <a:pt x="6446520" y="2072261"/>
                  </a:lnTo>
                  <a:lnTo>
                    <a:pt x="6491287" y="2049995"/>
                  </a:lnTo>
                  <a:lnTo>
                    <a:pt x="6536055" y="2027480"/>
                  </a:lnTo>
                  <a:lnTo>
                    <a:pt x="6580823" y="2004749"/>
                  </a:lnTo>
                  <a:lnTo>
                    <a:pt x="6625590" y="1981838"/>
                  </a:lnTo>
                  <a:lnTo>
                    <a:pt x="6670358" y="1958783"/>
                  </a:lnTo>
                  <a:lnTo>
                    <a:pt x="6715125" y="1935619"/>
                  </a:lnTo>
                  <a:lnTo>
                    <a:pt x="6759893" y="1912382"/>
                  </a:lnTo>
                  <a:lnTo>
                    <a:pt x="6804660" y="1889110"/>
                  </a:lnTo>
                  <a:lnTo>
                    <a:pt x="6849427" y="1865838"/>
                  </a:lnTo>
                  <a:lnTo>
                    <a:pt x="6894195" y="1842603"/>
                  </a:lnTo>
                  <a:lnTo>
                    <a:pt x="6938963" y="1819438"/>
                  </a:lnTo>
                  <a:lnTo>
                    <a:pt x="6983730" y="1796380"/>
                  </a:lnTo>
                  <a:lnTo>
                    <a:pt x="7028497" y="1773460"/>
                  </a:lnTo>
                  <a:lnTo>
                    <a:pt x="7073265" y="1750711"/>
                  </a:lnTo>
                  <a:lnTo>
                    <a:pt x="7118033" y="1728164"/>
                  </a:lnTo>
                  <a:lnTo>
                    <a:pt x="7162800" y="1705850"/>
                  </a:lnTo>
                  <a:lnTo>
                    <a:pt x="7207568" y="1683796"/>
                  </a:lnTo>
                  <a:lnTo>
                    <a:pt x="7252335" y="1662028"/>
                  </a:lnTo>
                  <a:lnTo>
                    <a:pt x="7297103" y="1640569"/>
                  </a:lnTo>
                  <a:lnTo>
                    <a:pt x="7341870" y="1619442"/>
                  </a:lnTo>
                  <a:lnTo>
                    <a:pt x="7386638" y="1598666"/>
                  </a:lnTo>
                  <a:lnTo>
                    <a:pt x="7431405" y="1578258"/>
                  </a:lnTo>
                  <a:lnTo>
                    <a:pt x="7476173" y="1558234"/>
                  </a:lnTo>
                  <a:lnTo>
                    <a:pt x="7520940" y="1538605"/>
                  </a:lnTo>
                  <a:lnTo>
                    <a:pt x="7565708" y="1519384"/>
                  </a:lnTo>
                  <a:lnTo>
                    <a:pt x="7610475" y="1500575"/>
                  </a:lnTo>
                  <a:lnTo>
                    <a:pt x="7655242" y="1482186"/>
                  </a:lnTo>
                  <a:lnTo>
                    <a:pt x="7700010" y="1464218"/>
                  </a:lnTo>
                  <a:lnTo>
                    <a:pt x="7744778" y="1446674"/>
                  </a:lnTo>
                  <a:lnTo>
                    <a:pt x="7789545" y="1429554"/>
                  </a:lnTo>
                  <a:lnTo>
                    <a:pt x="7834313" y="1412853"/>
                  </a:lnTo>
                  <a:lnTo>
                    <a:pt x="7879080" y="1396567"/>
                  </a:lnTo>
                  <a:lnTo>
                    <a:pt x="7923848" y="1380688"/>
                  </a:lnTo>
                  <a:lnTo>
                    <a:pt x="7968615" y="1365209"/>
                  </a:lnTo>
                  <a:lnTo>
                    <a:pt x="8013383" y="1350118"/>
                  </a:lnTo>
                  <a:lnTo>
                    <a:pt x="8058150" y="1335406"/>
                  </a:lnTo>
                  <a:lnTo>
                    <a:pt x="8102918" y="1321061"/>
                  </a:lnTo>
                  <a:lnTo>
                    <a:pt x="8147685" y="1307070"/>
                  </a:lnTo>
                  <a:lnTo>
                    <a:pt x="8192453" y="1293421"/>
                  </a:lnTo>
                  <a:lnTo>
                    <a:pt x="8237220" y="1280100"/>
                  </a:lnTo>
                  <a:lnTo>
                    <a:pt x="8281987" y="1267092"/>
                  </a:lnTo>
                  <a:lnTo>
                    <a:pt x="8326755" y="1254382"/>
                  </a:lnTo>
                  <a:lnTo>
                    <a:pt x="8371522" y="1241956"/>
                  </a:lnTo>
                  <a:lnTo>
                    <a:pt x="8416290" y="1229797"/>
                  </a:lnTo>
                  <a:lnTo>
                    <a:pt x="8461058" y="1217892"/>
                  </a:lnTo>
                  <a:lnTo>
                    <a:pt x="8505825" y="1206229"/>
                  </a:lnTo>
                  <a:lnTo>
                    <a:pt x="8550593" y="1194793"/>
                  </a:lnTo>
                  <a:lnTo>
                    <a:pt x="8595360" y="1183572"/>
                  </a:lnTo>
                  <a:lnTo>
                    <a:pt x="8640128" y="1172557"/>
                  </a:lnTo>
                  <a:lnTo>
                    <a:pt x="8684895" y="1161734"/>
                  </a:lnTo>
                  <a:lnTo>
                    <a:pt x="8729663" y="1151095"/>
                  </a:lnTo>
                  <a:lnTo>
                    <a:pt x="8774430" y="1140630"/>
                  </a:lnTo>
                  <a:lnTo>
                    <a:pt x="8819198" y="1130330"/>
                  </a:lnTo>
                  <a:lnTo>
                    <a:pt x="8863965" y="1120187"/>
                  </a:lnTo>
                  <a:lnTo>
                    <a:pt x="8908733" y="1110195"/>
                  </a:lnTo>
                  <a:lnTo>
                    <a:pt x="8953500" y="1100349"/>
                  </a:lnTo>
                  <a:lnTo>
                    <a:pt x="8998268" y="1090642"/>
                  </a:lnTo>
                  <a:lnTo>
                    <a:pt x="9043035" y="1081071"/>
                  </a:lnTo>
                  <a:lnTo>
                    <a:pt x="9087803" y="1071634"/>
                  </a:lnTo>
                  <a:lnTo>
                    <a:pt x="9132570" y="1062326"/>
                  </a:lnTo>
                  <a:lnTo>
                    <a:pt x="9177338" y="1053147"/>
                  </a:lnTo>
                  <a:lnTo>
                    <a:pt x="9222105" y="1044095"/>
                  </a:lnTo>
                  <a:lnTo>
                    <a:pt x="9266873" y="1035168"/>
                  </a:lnTo>
                  <a:lnTo>
                    <a:pt x="9311640" y="1026368"/>
                  </a:lnTo>
                  <a:lnTo>
                    <a:pt x="9356408" y="1017693"/>
                  </a:lnTo>
                  <a:lnTo>
                    <a:pt x="9401175" y="1009145"/>
                  </a:lnTo>
                  <a:lnTo>
                    <a:pt x="9445943" y="1000725"/>
                  </a:lnTo>
                  <a:lnTo>
                    <a:pt x="9490710" y="992433"/>
                  </a:lnTo>
                  <a:lnTo>
                    <a:pt x="9535478" y="984270"/>
                  </a:lnTo>
                  <a:lnTo>
                    <a:pt x="9580245" y="976239"/>
                  </a:lnTo>
                  <a:lnTo>
                    <a:pt x="9625013" y="968341"/>
                  </a:lnTo>
                  <a:lnTo>
                    <a:pt x="9669780" y="960578"/>
                  </a:lnTo>
                  <a:lnTo>
                    <a:pt x="9714548" y="952954"/>
                  </a:lnTo>
                  <a:lnTo>
                    <a:pt x="9759315" y="945471"/>
                  </a:lnTo>
                  <a:lnTo>
                    <a:pt x="9804083" y="938131"/>
                  </a:lnTo>
                  <a:lnTo>
                    <a:pt x="9848850" y="930937"/>
                  </a:lnTo>
                  <a:lnTo>
                    <a:pt x="9893618" y="923893"/>
                  </a:lnTo>
                  <a:lnTo>
                    <a:pt x="9938385" y="917001"/>
                  </a:lnTo>
                  <a:lnTo>
                    <a:pt x="9983153" y="910262"/>
                  </a:lnTo>
                  <a:lnTo>
                    <a:pt x="10027920" y="903680"/>
                  </a:lnTo>
                  <a:lnTo>
                    <a:pt x="10072688" y="897257"/>
                  </a:lnTo>
                  <a:lnTo>
                    <a:pt x="10117455" y="890998"/>
                  </a:lnTo>
                  <a:lnTo>
                    <a:pt x="10162223" y="884905"/>
                  </a:lnTo>
                  <a:lnTo>
                    <a:pt x="10206990" y="878981"/>
                  </a:lnTo>
                  <a:lnTo>
                    <a:pt x="10251758" y="873230"/>
                  </a:lnTo>
                  <a:lnTo>
                    <a:pt x="10296525" y="867655"/>
                  </a:lnTo>
                  <a:lnTo>
                    <a:pt x="10341293" y="862257"/>
                  </a:lnTo>
                  <a:lnTo>
                    <a:pt x="10386060" y="857040"/>
                  </a:lnTo>
                  <a:lnTo>
                    <a:pt x="10430828" y="852003"/>
                  </a:lnTo>
                  <a:lnTo>
                    <a:pt x="10475595" y="847149"/>
                  </a:lnTo>
                  <a:lnTo>
                    <a:pt x="10520363" y="842479"/>
                  </a:lnTo>
                  <a:lnTo>
                    <a:pt x="10565130" y="837994"/>
                  </a:lnTo>
                  <a:lnTo>
                    <a:pt x="10609898" y="833696"/>
                  </a:lnTo>
                  <a:lnTo>
                    <a:pt x="10654665" y="829584"/>
                  </a:lnTo>
                  <a:lnTo>
                    <a:pt x="10699433" y="825659"/>
                  </a:lnTo>
                  <a:lnTo>
                    <a:pt x="10744200" y="821919"/>
                  </a:lnTo>
                  <a:lnTo>
                    <a:pt x="10744200" y="3429000"/>
                  </a:lnTo>
                  <a:lnTo>
                    <a:pt x="10699433" y="3429000"/>
                  </a:lnTo>
                  <a:lnTo>
                    <a:pt x="10654665" y="3429000"/>
                  </a:lnTo>
                  <a:lnTo>
                    <a:pt x="10609898" y="3429000"/>
                  </a:lnTo>
                  <a:lnTo>
                    <a:pt x="10565130" y="3429000"/>
                  </a:lnTo>
                  <a:lnTo>
                    <a:pt x="10520363" y="3429000"/>
                  </a:lnTo>
                  <a:lnTo>
                    <a:pt x="10475595" y="3429000"/>
                  </a:lnTo>
                  <a:lnTo>
                    <a:pt x="10430828" y="3429000"/>
                  </a:lnTo>
                  <a:lnTo>
                    <a:pt x="10386060" y="3429000"/>
                  </a:lnTo>
                  <a:lnTo>
                    <a:pt x="10341293" y="3429000"/>
                  </a:lnTo>
                  <a:lnTo>
                    <a:pt x="10296525" y="3429000"/>
                  </a:lnTo>
                  <a:lnTo>
                    <a:pt x="10251758" y="3429000"/>
                  </a:lnTo>
                  <a:lnTo>
                    <a:pt x="10206990" y="3429000"/>
                  </a:lnTo>
                  <a:lnTo>
                    <a:pt x="10162223" y="3429000"/>
                  </a:lnTo>
                  <a:lnTo>
                    <a:pt x="10117455" y="3429000"/>
                  </a:lnTo>
                  <a:lnTo>
                    <a:pt x="10072688" y="3429000"/>
                  </a:lnTo>
                  <a:lnTo>
                    <a:pt x="10027920" y="3429000"/>
                  </a:lnTo>
                  <a:lnTo>
                    <a:pt x="9983153" y="3429000"/>
                  </a:lnTo>
                  <a:lnTo>
                    <a:pt x="9938385" y="3429000"/>
                  </a:lnTo>
                  <a:lnTo>
                    <a:pt x="9893618" y="3429000"/>
                  </a:lnTo>
                  <a:lnTo>
                    <a:pt x="9848850" y="3429000"/>
                  </a:lnTo>
                  <a:lnTo>
                    <a:pt x="9804083" y="3429000"/>
                  </a:lnTo>
                  <a:lnTo>
                    <a:pt x="9759315" y="3429000"/>
                  </a:lnTo>
                  <a:lnTo>
                    <a:pt x="9714548" y="3429000"/>
                  </a:lnTo>
                  <a:lnTo>
                    <a:pt x="9669780" y="3429000"/>
                  </a:lnTo>
                  <a:lnTo>
                    <a:pt x="9625013" y="3429000"/>
                  </a:lnTo>
                  <a:lnTo>
                    <a:pt x="9580245" y="3429000"/>
                  </a:lnTo>
                  <a:lnTo>
                    <a:pt x="9535478" y="3429000"/>
                  </a:lnTo>
                  <a:lnTo>
                    <a:pt x="9490710" y="3429000"/>
                  </a:lnTo>
                  <a:lnTo>
                    <a:pt x="9445943" y="3429000"/>
                  </a:lnTo>
                  <a:lnTo>
                    <a:pt x="9401175" y="3429000"/>
                  </a:lnTo>
                  <a:lnTo>
                    <a:pt x="9356408" y="3429000"/>
                  </a:lnTo>
                  <a:lnTo>
                    <a:pt x="9311640" y="3429000"/>
                  </a:lnTo>
                  <a:lnTo>
                    <a:pt x="9266873" y="3429000"/>
                  </a:lnTo>
                  <a:lnTo>
                    <a:pt x="9222105" y="3429000"/>
                  </a:lnTo>
                  <a:lnTo>
                    <a:pt x="9177338" y="3429000"/>
                  </a:lnTo>
                  <a:lnTo>
                    <a:pt x="9132570" y="3429000"/>
                  </a:lnTo>
                  <a:lnTo>
                    <a:pt x="9087803" y="3429000"/>
                  </a:lnTo>
                  <a:lnTo>
                    <a:pt x="9043035" y="3429000"/>
                  </a:lnTo>
                  <a:lnTo>
                    <a:pt x="8998268" y="3429000"/>
                  </a:lnTo>
                  <a:lnTo>
                    <a:pt x="8953500" y="3429000"/>
                  </a:lnTo>
                  <a:lnTo>
                    <a:pt x="8908733" y="3429000"/>
                  </a:lnTo>
                  <a:lnTo>
                    <a:pt x="8863965" y="3429000"/>
                  </a:lnTo>
                  <a:lnTo>
                    <a:pt x="8819198" y="3429000"/>
                  </a:lnTo>
                  <a:lnTo>
                    <a:pt x="8774430" y="3429000"/>
                  </a:lnTo>
                  <a:lnTo>
                    <a:pt x="8729663" y="3429000"/>
                  </a:lnTo>
                  <a:lnTo>
                    <a:pt x="8684895" y="3429000"/>
                  </a:lnTo>
                  <a:lnTo>
                    <a:pt x="8640128" y="3429000"/>
                  </a:lnTo>
                  <a:lnTo>
                    <a:pt x="8595360" y="3429000"/>
                  </a:lnTo>
                  <a:lnTo>
                    <a:pt x="8550593" y="3429000"/>
                  </a:lnTo>
                  <a:lnTo>
                    <a:pt x="8505825" y="3429000"/>
                  </a:lnTo>
                  <a:lnTo>
                    <a:pt x="8461058" y="3429000"/>
                  </a:lnTo>
                  <a:lnTo>
                    <a:pt x="8416290" y="3429000"/>
                  </a:lnTo>
                  <a:lnTo>
                    <a:pt x="8371522" y="3429000"/>
                  </a:lnTo>
                  <a:lnTo>
                    <a:pt x="8326755" y="3429000"/>
                  </a:lnTo>
                  <a:lnTo>
                    <a:pt x="8281987" y="3429000"/>
                  </a:lnTo>
                  <a:lnTo>
                    <a:pt x="8237220" y="3429000"/>
                  </a:lnTo>
                  <a:lnTo>
                    <a:pt x="8192453" y="3429000"/>
                  </a:lnTo>
                  <a:lnTo>
                    <a:pt x="8147685" y="3429000"/>
                  </a:lnTo>
                  <a:lnTo>
                    <a:pt x="8102918" y="3429000"/>
                  </a:lnTo>
                  <a:lnTo>
                    <a:pt x="8058150" y="3429000"/>
                  </a:lnTo>
                  <a:lnTo>
                    <a:pt x="8013383" y="3429000"/>
                  </a:lnTo>
                  <a:lnTo>
                    <a:pt x="7968615" y="3429000"/>
                  </a:lnTo>
                  <a:lnTo>
                    <a:pt x="7923848" y="3429000"/>
                  </a:lnTo>
                  <a:lnTo>
                    <a:pt x="7879080" y="3429000"/>
                  </a:lnTo>
                  <a:lnTo>
                    <a:pt x="7834313" y="3429000"/>
                  </a:lnTo>
                  <a:lnTo>
                    <a:pt x="7789545" y="3429000"/>
                  </a:lnTo>
                  <a:lnTo>
                    <a:pt x="7744778" y="3429000"/>
                  </a:lnTo>
                  <a:lnTo>
                    <a:pt x="7700010" y="3429000"/>
                  </a:lnTo>
                  <a:lnTo>
                    <a:pt x="7655242" y="3429000"/>
                  </a:lnTo>
                  <a:lnTo>
                    <a:pt x="7610475" y="3429000"/>
                  </a:lnTo>
                  <a:lnTo>
                    <a:pt x="7565708" y="3429000"/>
                  </a:lnTo>
                  <a:lnTo>
                    <a:pt x="7520940" y="3429000"/>
                  </a:lnTo>
                  <a:lnTo>
                    <a:pt x="7476173" y="3429000"/>
                  </a:lnTo>
                  <a:lnTo>
                    <a:pt x="7431405" y="3429000"/>
                  </a:lnTo>
                  <a:lnTo>
                    <a:pt x="7386638" y="3429000"/>
                  </a:lnTo>
                  <a:lnTo>
                    <a:pt x="7341870" y="3429000"/>
                  </a:lnTo>
                  <a:lnTo>
                    <a:pt x="7297103" y="3429000"/>
                  </a:lnTo>
                  <a:lnTo>
                    <a:pt x="7252335" y="3429000"/>
                  </a:lnTo>
                  <a:lnTo>
                    <a:pt x="7207568" y="3429000"/>
                  </a:lnTo>
                  <a:lnTo>
                    <a:pt x="7162800" y="3429000"/>
                  </a:lnTo>
                  <a:lnTo>
                    <a:pt x="7118033" y="3429000"/>
                  </a:lnTo>
                  <a:lnTo>
                    <a:pt x="7073265" y="3429000"/>
                  </a:lnTo>
                  <a:lnTo>
                    <a:pt x="7028497" y="3429000"/>
                  </a:lnTo>
                  <a:lnTo>
                    <a:pt x="6983730" y="3429000"/>
                  </a:lnTo>
                  <a:lnTo>
                    <a:pt x="6938963" y="3429000"/>
                  </a:lnTo>
                  <a:lnTo>
                    <a:pt x="6894195" y="3429000"/>
                  </a:lnTo>
                  <a:lnTo>
                    <a:pt x="6849427" y="3429000"/>
                  </a:lnTo>
                  <a:lnTo>
                    <a:pt x="6804660" y="3429000"/>
                  </a:lnTo>
                  <a:lnTo>
                    <a:pt x="6759893" y="3429000"/>
                  </a:lnTo>
                  <a:lnTo>
                    <a:pt x="6715125" y="3429000"/>
                  </a:lnTo>
                  <a:lnTo>
                    <a:pt x="6670358" y="3429000"/>
                  </a:lnTo>
                  <a:lnTo>
                    <a:pt x="6625590" y="3429000"/>
                  </a:lnTo>
                  <a:lnTo>
                    <a:pt x="6580823" y="3429000"/>
                  </a:lnTo>
                  <a:lnTo>
                    <a:pt x="6536055" y="3429000"/>
                  </a:lnTo>
                  <a:lnTo>
                    <a:pt x="6491287" y="3429000"/>
                  </a:lnTo>
                  <a:lnTo>
                    <a:pt x="6446520" y="3429000"/>
                  </a:lnTo>
                  <a:lnTo>
                    <a:pt x="6401753" y="3429000"/>
                  </a:lnTo>
                  <a:lnTo>
                    <a:pt x="6356985" y="3429000"/>
                  </a:lnTo>
                  <a:lnTo>
                    <a:pt x="6312218" y="3429000"/>
                  </a:lnTo>
                  <a:lnTo>
                    <a:pt x="6267450" y="3429000"/>
                  </a:lnTo>
                  <a:lnTo>
                    <a:pt x="6222683" y="3429000"/>
                  </a:lnTo>
                  <a:lnTo>
                    <a:pt x="6177915" y="3429000"/>
                  </a:lnTo>
                  <a:lnTo>
                    <a:pt x="6133148" y="3429000"/>
                  </a:lnTo>
                  <a:lnTo>
                    <a:pt x="6088380" y="3429000"/>
                  </a:lnTo>
                  <a:lnTo>
                    <a:pt x="6043613" y="3429000"/>
                  </a:lnTo>
                  <a:lnTo>
                    <a:pt x="5998845" y="3429000"/>
                  </a:lnTo>
                  <a:lnTo>
                    <a:pt x="5954078" y="3429000"/>
                  </a:lnTo>
                  <a:lnTo>
                    <a:pt x="5909310" y="3429000"/>
                  </a:lnTo>
                  <a:lnTo>
                    <a:pt x="5864543" y="3429000"/>
                  </a:lnTo>
                  <a:lnTo>
                    <a:pt x="5819775" y="3429000"/>
                  </a:lnTo>
                  <a:lnTo>
                    <a:pt x="5775008" y="3429000"/>
                  </a:lnTo>
                  <a:lnTo>
                    <a:pt x="5730240" y="3429000"/>
                  </a:lnTo>
                  <a:lnTo>
                    <a:pt x="5685473" y="3429000"/>
                  </a:lnTo>
                  <a:lnTo>
                    <a:pt x="5640705" y="3429000"/>
                  </a:lnTo>
                  <a:lnTo>
                    <a:pt x="5595938" y="3429000"/>
                  </a:lnTo>
                  <a:lnTo>
                    <a:pt x="5551170" y="3429000"/>
                  </a:lnTo>
                  <a:lnTo>
                    <a:pt x="5506403" y="3429000"/>
                  </a:lnTo>
                  <a:lnTo>
                    <a:pt x="5461635" y="3429000"/>
                  </a:lnTo>
                  <a:lnTo>
                    <a:pt x="5416868" y="3429000"/>
                  </a:lnTo>
                  <a:lnTo>
                    <a:pt x="5372100" y="3429000"/>
                  </a:lnTo>
                  <a:lnTo>
                    <a:pt x="5327333" y="3429000"/>
                  </a:lnTo>
                  <a:lnTo>
                    <a:pt x="5282565" y="3429000"/>
                  </a:lnTo>
                  <a:lnTo>
                    <a:pt x="5237798" y="3429000"/>
                  </a:lnTo>
                  <a:lnTo>
                    <a:pt x="5193030" y="3429000"/>
                  </a:lnTo>
                  <a:lnTo>
                    <a:pt x="5148263" y="3429000"/>
                  </a:lnTo>
                  <a:lnTo>
                    <a:pt x="5103495" y="3429000"/>
                  </a:lnTo>
                  <a:lnTo>
                    <a:pt x="5058728" y="3429000"/>
                  </a:lnTo>
                  <a:lnTo>
                    <a:pt x="5013960" y="3429000"/>
                  </a:lnTo>
                  <a:lnTo>
                    <a:pt x="4969193" y="3429000"/>
                  </a:lnTo>
                  <a:lnTo>
                    <a:pt x="4924425" y="3429000"/>
                  </a:lnTo>
                  <a:lnTo>
                    <a:pt x="4879658" y="3429000"/>
                  </a:lnTo>
                  <a:lnTo>
                    <a:pt x="4834890" y="3429000"/>
                  </a:lnTo>
                  <a:lnTo>
                    <a:pt x="4790123" y="3429000"/>
                  </a:lnTo>
                  <a:lnTo>
                    <a:pt x="4745355" y="3429000"/>
                  </a:lnTo>
                  <a:lnTo>
                    <a:pt x="4700588" y="3429000"/>
                  </a:lnTo>
                  <a:lnTo>
                    <a:pt x="4655820" y="3429000"/>
                  </a:lnTo>
                  <a:lnTo>
                    <a:pt x="4611053" y="3429000"/>
                  </a:lnTo>
                  <a:lnTo>
                    <a:pt x="4566285" y="3429000"/>
                  </a:lnTo>
                  <a:lnTo>
                    <a:pt x="4521518" y="3429000"/>
                  </a:lnTo>
                  <a:lnTo>
                    <a:pt x="4476750" y="3429000"/>
                  </a:lnTo>
                  <a:lnTo>
                    <a:pt x="4431983" y="3429000"/>
                  </a:lnTo>
                  <a:lnTo>
                    <a:pt x="4387215" y="3429000"/>
                  </a:lnTo>
                  <a:lnTo>
                    <a:pt x="4342448" y="3429000"/>
                  </a:lnTo>
                  <a:lnTo>
                    <a:pt x="4297680" y="3429000"/>
                  </a:lnTo>
                  <a:lnTo>
                    <a:pt x="4252913" y="3429000"/>
                  </a:lnTo>
                  <a:lnTo>
                    <a:pt x="4208145" y="3429000"/>
                  </a:lnTo>
                  <a:lnTo>
                    <a:pt x="4163377" y="3429000"/>
                  </a:lnTo>
                  <a:lnTo>
                    <a:pt x="4118610" y="3429000"/>
                  </a:lnTo>
                  <a:lnTo>
                    <a:pt x="4073843" y="3429000"/>
                  </a:lnTo>
                  <a:lnTo>
                    <a:pt x="4029075" y="3429000"/>
                  </a:lnTo>
                  <a:lnTo>
                    <a:pt x="3984308" y="3429000"/>
                  </a:lnTo>
                  <a:lnTo>
                    <a:pt x="3939540" y="3429000"/>
                  </a:lnTo>
                  <a:lnTo>
                    <a:pt x="3894773" y="3429000"/>
                  </a:lnTo>
                  <a:lnTo>
                    <a:pt x="3850005" y="3429000"/>
                  </a:lnTo>
                  <a:lnTo>
                    <a:pt x="3805237" y="3429000"/>
                  </a:lnTo>
                  <a:lnTo>
                    <a:pt x="3760470" y="3429000"/>
                  </a:lnTo>
                  <a:lnTo>
                    <a:pt x="3715703" y="3429000"/>
                  </a:lnTo>
                  <a:lnTo>
                    <a:pt x="3670935" y="3429000"/>
                  </a:lnTo>
                  <a:lnTo>
                    <a:pt x="3626168" y="3429000"/>
                  </a:lnTo>
                  <a:lnTo>
                    <a:pt x="3581400" y="3429000"/>
                  </a:lnTo>
                  <a:lnTo>
                    <a:pt x="3536633" y="3429000"/>
                  </a:lnTo>
                  <a:lnTo>
                    <a:pt x="3491865" y="3429000"/>
                  </a:lnTo>
                  <a:lnTo>
                    <a:pt x="3447098" y="3429000"/>
                  </a:lnTo>
                  <a:lnTo>
                    <a:pt x="3402330" y="3429000"/>
                  </a:lnTo>
                  <a:lnTo>
                    <a:pt x="3357563" y="3429000"/>
                  </a:lnTo>
                  <a:lnTo>
                    <a:pt x="3312795" y="3429000"/>
                  </a:lnTo>
                  <a:lnTo>
                    <a:pt x="3268028" y="3429000"/>
                  </a:lnTo>
                  <a:lnTo>
                    <a:pt x="3223260" y="3429000"/>
                  </a:lnTo>
                  <a:lnTo>
                    <a:pt x="3178493" y="3429000"/>
                  </a:lnTo>
                  <a:lnTo>
                    <a:pt x="3133725" y="3429000"/>
                  </a:lnTo>
                  <a:lnTo>
                    <a:pt x="3088958" y="3429000"/>
                  </a:lnTo>
                  <a:lnTo>
                    <a:pt x="3044190" y="3429000"/>
                  </a:lnTo>
                  <a:lnTo>
                    <a:pt x="2999423" y="3429000"/>
                  </a:lnTo>
                  <a:lnTo>
                    <a:pt x="2954655" y="3429000"/>
                  </a:lnTo>
                  <a:lnTo>
                    <a:pt x="2909887" y="3429000"/>
                  </a:lnTo>
                  <a:lnTo>
                    <a:pt x="2865120" y="3429000"/>
                  </a:lnTo>
                  <a:lnTo>
                    <a:pt x="2820353" y="3429000"/>
                  </a:lnTo>
                  <a:lnTo>
                    <a:pt x="2775585" y="3429000"/>
                  </a:lnTo>
                  <a:lnTo>
                    <a:pt x="2730818" y="3429000"/>
                  </a:lnTo>
                  <a:lnTo>
                    <a:pt x="2686050" y="3429000"/>
                  </a:lnTo>
                  <a:lnTo>
                    <a:pt x="2641283" y="3429000"/>
                  </a:lnTo>
                  <a:lnTo>
                    <a:pt x="2596515" y="3429000"/>
                  </a:lnTo>
                  <a:lnTo>
                    <a:pt x="2551748" y="3429000"/>
                  </a:lnTo>
                  <a:lnTo>
                    <a:pt x="2506980" y="3429000"/>
                  </a:lnTo>
                  <a:lnTo>
                    <a:pt x="2462213" y="3429000"/>
                  </a:lnTo>
                  <a:lnTo>
                    <a:pt x="2417445" y="3429000"/>
                  </a:lnTo>
                  <a:lnTo>
                    <a:pt x="2372678" y="3429000"/>
                  </a:lnTo>
                  <a:lnTo>
                    <a:pt x="2327910" y="3429000"/>
                  </a:lnTo>
                  <a:lnTo>
                    <a:pt x="2283143" y="3429000"/>
                  </a:lnTo>
                  <a:lnTo>
                    <a:pt x="2238375" y="3429000"/>
                  </a:lnTo>
                  <a:lnTo>
                    <a:pt x="2193608" y="3429000"/>
                  </a:lnTo>
                  <a:lnTo>
                    <a:pt x="2148840" y="3429000"/>
                  </a:lnTo>
                  <a:lnTo>
                    <a:pt x="2104073" y="3429000"/>
                  </a:lnTo>
                  <a:lnTo>
                    <a:pt x="2059305" y="3429000"/>
                  </a:lnTo>
                  <a:lnTo>
                    <a:pt x="2014538" y="3429000"/>
                  </a:lnTo>
                  <a:lnTo>
                    <a:pt x="1969770" y="3429000"/>
                  </a:lnTo>
                  <a:lnTo>
                    <a:pt x="1925002" y="3429000"/>
                  </a:lnTo>
                  <a:lnTo>
                    <a:pt x="1880235" y="3429000"/>
                  </a:lnTo>
                  <a:lnTo>
                    <a:pt x="1835468" y="3429000"/>
                  </a:lnTo>
                  <a:lnTo>
                    <a:pt x="1790700" y="3429000"/>
                  </a:lnTo>
                  <a:lnTo>
                    <a:pt x="1745932" y="3429000"/>
                  </a:lnTo>
                  <a:lnTo>
                    <a:pt x="1701165" y="3429000"/>
                  </a:lnTo>
                  <a:lnTo>
                    <a:pt x="1656398" y="3429000"/>
                  </a:lnTo>
                  <a:lnTo>
                    <a:pt x="1611630" y="3429000"/>
                  </a:lnTo>
                  <a:lnTo>
                    <a:pt x="1566863" y="3429000"/>
                  </a:lnTo>
                  <a:lnTo>
                    <a:pt x="1522095" y="3429000"/>
                  </a:lnTo>
                  <a:lnTo>
                    <a:pt x="1477328" y="3429000"/>
                  </a:lnTo>
                  <a:lnTo>
                    <a:pt x="1432560" y="3429000"/>
                  </a:lnTo>
                  <a:lnTo>
                    <a:pt x="1387793" y="3429000"/>
                  </a:lnTo>
                  <a:lnTo>
                    <a:pt x="1343025" y="3429000"/>
                  </a:lnTo>
                  <a:lnTo>
                    <a:pt x="1298258" y="3429000"/>
                  </a:lnTo>
                  <a:lnTo>
                    <a:pt x="1253490" y="3429000"/>
                  </a:lnTo>
                  <a:lnTo>
                    <a:pt x="1208723" y="3429000"/>
                  </a:lnTo>
                  <a:lnTo>
                    <a:pt x="1163955" y="3429000"/>
                  </a:lnTo>
                  <a:lnTo>
                    <a:pt x="1119188" y="3429000"/>
                  </a:lnTo>
                  <a:lnTo>
                    <a:pt x="1074420" y="3429000"/>
                  </a:lnTo>
                  <a:lnTo>
                    <a:pt x="1029653" y="3429000"/>
                  </a:lnTo>
                  <a:lnTo>
                    <a:pt x="984885" y="3429000"/>
                  </a:lnTo>
                  <a:lnTo>
                    <a:pt x="940118" y="3429000"/>
                  </a:lnTo>
                  <a:lnTo>
                    <a:pt x="895350" y="3429000"/>
                  </a:lnTo>
                  <a:lnTo>
                    <a:pt x="850583" y="3429000"/>
                  </a:lnTo>
                  <a:lnTo>
                    <a:pt x="805815" y="3429000"/>
                  </a:lnTo>
                  <a:lnTo>
                    <a:pt x="761048" y="3429000"/>
                  </a:lnTo>
                  <a:lnTo>
                    <a:pt x="716280" y="3429000"/>
                  </a:lnTo>
                  <a:lnTo>
                    <a:pt x="671513" y="3429000"/>
                  </a:lnTo>
                  <a:lnTo>
                    <a:pt x="626745" y="3429000"/>
                  </a:lnTo>
                  <a:lnTo>
                    <a:pt x="581978" y="3429000"/>
                  </a:lnTo>
                  <a:lnTo>
                    <a:pt x="537210" y="3429000"/>
                  </a:lnTo>
                  <a:lnTo>
                    <a:pt x="492443" y="3429000"/>
                  </a:lnTo>
                  <a:lnTo>
                    <a:pt x="447675" y="3429000"/>
                  </a:lnTo>
                  <a:lnTo>
                    <a:pt x="402908" y="3429000"/>
                  </a:lnTo>
                  <a:lnTo>
                    <a:pt x="358140" y="3429000"/>
                  </a:lnTo>
                  <a:lnTo>
                    <a:pt x="313373" y="3429000"/>
                  </a:lnTo>
                  <a:lnTo>
                    <a:pt x="268605" y="3429000"/>
                  </a:lnTo>
                  <a:lnTo>
                    <a:pt x="223838" y="3429000"/>
                  </a:lnTo>
                  <a:lnTo>
                    <a:pt x="179070" y="3429000"/>
                  </a:lnTo>
                  <a:lnTo>
                    <a:pt x="134303" y="3429000"/>
                  </a:lnTo>
                  <a:lnTo>
                    <a:pt x="89535" y="3429000"/>
                  </a:lnTo>
                  <a:lnTo>
                    <a:pt x="44768" y="3429000"/>
                  </a:lnTo>
                  <a:lnTo>
                    <a:pt x="0" y="3429000"/>
                  </a:lnTo>
                  <a:close/>
                </a:path>
              </a:pathLst>
            </a:custGeom>
            <a:solidFill>
              <a:srgbClr val="CED7E6"/>
            </a:solidFill>
            <a:ln>
              <a:noFill/>
            </a:ln>
          </p:spPr>
        </p:sp>
        <p:sp>
          <p:nvSpPr>
            <p:cNvPr id="8" name="node01.series.source-002"/>
            <p:cNvSpPr/>
            <p:nvPr/>
          </p:nvSpPr>
          <p:spPr>
            <a:xfrm>
              <a:off x="723900" y="1600200"/>
              <a:ext cx="10744200" cy="3429000"/>
            </a:xfrm>
            <a:custGeom>
              <a:avLst/>
              <a:gdLst/>
              <a:ahLst/>
              <a:cxnLst/>
              <a:rect l="l" t="t" r="r" b="b"/>
              <a:pathLst>
                <a:path w="10744200" h="3429000">
                  <a:moveTo>
                    <a:pt x="0" y="2651564"/>
                  </a:moveTo>
                  <a:lnTo>
                    <a:pt x="44768" y="2646704"/>
                  </a:lnTo>
                  <a:lnTo>
                    <a:pt x="89535" y="2641512"/>
                  </a:lnTo>
                  <a:lnTo>
                    <a:pt x="134303" y="2635972"/>
                  </a:lnTo>
                  <a:lnTo>
                    <a:pt x="179070" y="2630070"/>
                  </a:lnTo>
                  <a:lnTo>
                    <a:pt x="223838" y="2623791"/>
                  </a:lnTo>
                  <a:lnTo>
                    <a:pt x="268605" y="2617120"/>
                  </a:lnTo>
                  <a:lnTo>
                    <a:pt x="313373" y="2610041"/>
                  </a:lnTo>
                  <a:lnTo>
                    <a:pt x="358140" y="2602538"/>
                  </a:lnTo>
                  <a:lnTo>
                    <a:pt x="402908" y="2594594"/>
                  </a:lnTo>
                  <a:lnTo>
                    <a:pt x="447675" y="2586195"/>
                  </a:lnTo>
                  <a:lnTo>
                    <a:pt x="492443" y="2577324"/>
                  </a:lnTo>
                  <a:lnTo>
                    <a:pt x="537210" y="2567964"/>
                  </a:lnTo>
                  <a:lnTo>
                    <a:pt x="581978" y="2558097"/>
                  </a:lnTo>
                  <a:lnTo>
                    <a:pt x="626745" y="2547707"/>
                  </a:lnTo>
                  <a:lnTo>
                    <a:pt x="671513" y="2536775"/>
                  </a:lnTo>
                  <a:lnTo>
                    <a:pt x="716280" y="2525285"/>
                  </a:lnTo>
                  <a:lnTo>
                    <a:pt x="761048" y="2513217"/>
                  </a:lnTo>
                  <a:lnTo>
                    <a:pt x="805815" y="2500554"/>
                  </a:lnTo>
                  <a:lnTo>
                    <a:pt x="850583" y="2487278"/>
                  </a:lnTo>
                  <a:lnTo>
                    <a:pt x="895350" y="2473377"/>
                  </a:lnTo>
                  <a:lnTo>
                    <a:pt x="940118" y="2458833"/>
                  </a:lnTo>
                  <a:lnTo>
                    <a:pt x="984885" y="2443632"/>
                  </a:lnTo>
                  <a:lnTo>
                    <a:pt x="1029653" y="2427759"/>
                  </a:lnTo>
                  <a:lnTo>
                    <a:pt x="1074420" y="2411198"/>
                  </a:lnTo>
                  <a:lnTo>
                    <a:pt x="1119188" y="2393938"/>
                  </a:lnTo>
                  <a:lnTo>
                    <a:pt x="1163955" y="2375967"/>
                  </a:lnTo>
                  <a:lnTo>
                    <a:pt x="1208723" y="2357275"/>
                  </a:lnTo>
                  <a:lnTo>
                    <a:pt x="1253490" y="2337852"/>
                  </a:lnTo>
                  <a:lnTo>
                    <a:pt x="1298258" y="2317693"/>
                  </a:lnTo>
                  <a:lnTo>
                    <a:pt x="1343025" y="2296796"/>
                  </a:lnTo>
                  <a:lnTo>
                    <a:pt x="1387793" y="2275159"/>
                  </a:lnTo>
                  <a:lnTo>
                    <a:pt x="1432560" y="2252782"/>
                  </a:lnTo>
                  <a:lnTo>
                    <a:pt x="1477328" y="2229670"/>
                  </a:lnTo>
                  <a:lnTo>
                    <a:pt x="1522095" y="2205827"/>
                  </a:lnTo>
                  <a:lnTo>
                    <a:pt x="1566863" y="2181263"/>
                  </a:lnTo>
                  <a:lnTo>
                    <a:pt x="1611630" y="2155990"/>
                  </a:lnTo>
                  <a:lnTo>
                    <a:pt x="1656398" y="2130022"/>
                  </a:lnTo>
                  <a:lnTo>
                    <a:pt x="1701165" y="2103378"/>
                  </a:lnTo>
                  <a:lnTo>
                    <a:pt x="1745932" y="2076080"/>
                  </a:lnTo>
                  <a:lnTo>
                    <a:pt x="1790700" y="2048152"/>
                  </a:lnTo>
                  <a:lnTo>
                    <a:pt x="1835468" y="2019622"/>
                  </a:lnTo>
                  <a:lnTo>
                    <a:pt x="1880235" y="1990521"/>
                  </a:lnTo>
                  <a:lnTo>
                    <a:pt x="1925002" y="1960882"/>
                  </a:lnTo>
                  <a:lnTo>
                    <a:pt x="1969770" y="1930744"/>
                  </a:lnTo>
                  <a:lnTo>
                    <a:pt x="2014538" y="1900146"/>
                  </a:lnTo>
                  <a:lnTo>
                    <a:pt x="2059305" y="1869131"/>
                  </a:lnTo>
                  <a:lnTo>
                    <a:pt x="2104073" y="1837745"/>
                  </a:lnTo>
                  <a:lnTo>
                    <a:pt x="2148840" y="1806034"/>
                  </a:lnTo>
                  <a:lnTo>
                    <a:pt x="2193608" y="1774048"/>
                  </a:lnTo>
                  <a:lnTo>
                    <a:pt x="2238375" y="1741840"/>
                  </a:lnTo>
                  <a:lnTo>
                    <a:pt x="2283143" y="1709461"/>
                  </a:lnTo>
                  <a:lnTo>
                    <a:pt x="2327910" y="1676966"/>
                  </a:lnTo>
                  <a:lnTo>
                    <a:pt x="2372678" y="1644411"/>
                  </a:lnTo>
                  <a:lnTo>
                    <a:pt x="2417445" y="1611851"/>
                  </a:lnTo>
                  <a:lnTo>
                    <a:pt x="2462213" y="1579341"/>
                  </a:lnTo>
                  <a:lnTo>
                    <a:pt x="2506980" y="1546938"/>
                  </a:lnTo>
                  <a:lnTo>
                    <a:pt x="2551748" y="1514695"/>
                  </a:lnTo>
                  <a:lnTo>
                    <a:pt x="2596515" y="1482668"/>
                  </a:lnTo>
                  <a:lnTo>
                    <a:pt x="2641283" y="1450909"/>
                  </a:lnTo>
                  <a:lnTo>
                    <a:pt x="2686050" y="1419471"/>
                  </a:lnTo>
                  <a:lnTo>
                    <a:pt x="2730818" y="1388404"/>
                  </a:lnTo>
                  <a:lnTo>
                    <a:pt x="2775585" y="1357755"/>
                  </a:lnTo>
                  <a:lnTo>
                    <a:pt x="2820353" y="1327572"/>
                  </a:lnTo>
                  <a:lnTo>
                    <a:pt x="2865120" y="1297897"/>
                  </a:lnTo>
                  <a:lnTo>
                    <a:pt x="2909887" y="1268771"/>
                  </a:lnTo>
                  <a:lnTo>
                    <a:pt x="2954655" y="1240230"/>
                  </a:lnTo>
                  <a:lnTo>
                    <a:pt x="2999423" y="1212308"/>
                  </a:lnTo>
                  <a:lnTo>
                    <a:pt x="3044190" y="1185036"/>
                  </a:lnTo>
                  <a:lnTo>
                    <a:pt x="3088958" y="1158442"/>
                  </a:lnTo>
                  <a:lnTo>
                    <a:pt x="3133725" y="1132549"/>
                  </a:lnTo>
                  <a:lnTo>
                    <a:pt x="3178493" y="1107377"/>
                  </a:lnTo>
                  <a:lnTo>
                    <a:pt x="3223260" y="1082944"/>
                  </a:lnTo>
                  <a:lnTo>
                    <a:pt x="3268028" y="1059262"/>
                  </a:lnTo>
                  <a:lnTo>
                    <a:pt x="3312795" y="1036341"/>
                  </a:lnTo>
                  <a:lnTo>
                    <a:pt x="3357563" y="1014187"/>
                  </a:lnTo>
                  <a:lnTo>
                    <a:pt x="3402330" y="992802"/>
                  </a:lnTo>
                  <a:lnTo>
                    <a:pt x="3447098" y="972187"/>
                  </a:lnTo>
                  <a:lnTo>
                    <a:pt x="3491865" y="952338"/>
                  </a:lnTo>
                  <a:lnTo>
                    <a:pt x="3536633" y="933248"/>
                  </a:lnTo>
                  <a:lnTo>
                    <a:pt x="3581400" y="914908"/>
                  </a:lnTo>
                  <a:lnTo>
                    <a:pt x="3626168" y="897306"/>
                  </a:lnTo>
                  <a:lnTo>
                    <a:pt x="3670935" y="880430"/>
                  </a:lnTo>
                  <a:lnTo>
                    <a:pt x="3715703" y="864264"/>
                  </a:lnTo>
                  <a:lnTo>
                    <a:pt x="3760470" y="848792"/>
                  </a:lnTo>
                  <a:lnTo>
                    <a:pt x="3805237" y="833994"/>
                  </a:lnTo>
                  <a:lnTo>
                    <a:pt x="3850005" y="819849"/>
                  </a:lnTo>
                  <a:lnTo>
                    <a:pt x="3894773" y="806335"/>
                  </a:lnTo>
                  <a:lnTo>
                    <a:pt x="3939540" y="793429"/>
                  </a:lnTo>
                  <a:lnTo>
                    <a:pt x="3984308" y="781109"/>
                  </a:lnTo>
                  <a:lnTo>
                    <a:pt x="4029075" y="769350"/>
                  </a:lnTo>
                  <a:lnTo>
                    <a:pt x="4073843" y="758128"/>
                  </a:lnTo>
                  <a:lnTo>
                    <a:pt x="4118610" y="747420"/>
                  </a:lnTo>
                  <a:lnTo>
                    <a:pt x="4163377" y="737205"/>
                  </a:lnTo>
                  <a:lnTo>
                    <a:pt x="4208145" y="727460"/>
                  </a:lnTo>
                  <a:lnTo>
                    <a:pt x="4252913" y="718162"/>
                  </a:lnTo>
                  <a:lnTo>
                    <a:pt x="4297680" y="709288"/>
                  </a:lnTo>
                  <a:lnTo>
                    <a:pt x="4342448" y="700817"/>
                  </a:lnTo>
                  <a:lnTo>
                    <a:pt x="4387215" y="692727"/>
                  </a:lnTo>
                  <a:lnTo>
                    <a:pt x="4431983" y="684999"/>
                  </a:lnTo>
                  <a:lnTo>
                    <a:pt x="4476750" y="677612"/>
                  </a:lnTo>
                  <a:lnTo>
                    <a:pt x="4521518" y="670548"/>
                  </a:lnTo>
                  <a:lnTo>
                    <a:pt x="4566285" y="663788"/>
                  </a:lnTo>
                  <a:lnTo>
                    <a:pt x="4611053" y="657318"/>
                  </a:lnTo>
                  <a:lnTo>
                    <a:pt x="4655820" y="651120"/>
                  </a:lnTo>
                  <a:lnTo>
                    <a:pt x="4700588" y="645180"/>
                  </a:lnTo>
                  <a:lnTo>
                    <a:pt x="4745355" y="639483"/>
                  </a:lnTo>
                  <a:lnTo>
                    <a:pt x="4790123" y="634014"/>
                  </a:lnTo>
                  <a:lnTo>
                    <a:pt x="4834890" y="628761"/>
                  </a:lnTo>
                  <a:lnTo>
                    <a:pt x="4879658" y="623710"/>
                  </a:lnTo>
                  <a:lnTo>
                    <a:pt x="4924425" y="618846"/>
                  </a:lnTo>
                  <a:lnTo>
                    <a:pt x="4969193" y="614159"/>
                  </a:lnTo>
                  <a:lnTo>
                    <a:pt x="5013960" y="609633"/>
                  </a:lnTo>
                  <a:lnTo>
                    <a:pt x="5058728" y="605257"/>
                  </a:lnTo>
                  <a:lnTo>
                    <a:pt x="5103495" y="601017"/>
                  </a:lnTo>
                  <a:lnTo>
                    <a:pt x="5148263" y="596902"/>
                  </a:lnTo>
                  <a:lnTo>
                    <a:pt x="5193030" y="592899"/>
                  </a:lnTo>
                  <a:lnTo>
                    <a:pt x="5237798" y="588995"/>
                  </a:lnTo>
                  <a:lnTo>
                    <a:pt x="5282565" y="585177"/>
                  </a:lnTo>
                  <a:lnTo>
                    <a:pt x="5327333" y="581433"/>
                  </a:lnTo>
                  <a:lnTo>
                    <a:pt x="5372100" y="577751"/>
                  </a:lnTo>
                  <a:lnTo>
                    <a:pt x="5416868" y="574120"/>
                  </a:lnTo>
                  <a:lnTo>
                    <a:pt x="5461635" y="570524"/>
                  </a:lnTo>
                  <a:lnTo>
                    <a:pt x="5506403" y="566947"/>
                  </a:lnTo>
                  <a:lnTo>
                    <a:pt x="5551170" y="563376"/>
                  </a:lnTo>
                  <a:lnTo>
                    <a:pt x="5595938" y="559795"/>
                  </a:lnTo>
                  <a:lnTo>
                    <a:pt x="5640705" y="556191"/>
                  </a:lnTo>
                  <a:lnTo>
                    <a:pt x="5685473" y="552551"/>
                  </a:lnTo>
                  <a:lnTo>
                    <a:pt x="5730240" y="548859"/>
                  </a:lnTo>
                  <a:lnTo>
                    <a:pt x="5775008" y="545102"/>
                  </a:lnTo>
                  <a:lnTo>
                    <a:pt x="5819775" y="541268"/>
                  </a:lnTo>
                  <a:lnTo>
                    <a:pt x="5864543" y="537345"/>
                  </a:lnTo>
                  <a:lnTo>
                    <a:pt x="5909310" y="533320"/>
                  </a:lnTo>
                  <a:lnTo>
                    <a:pt x="5954078" y="529176"/>
                  </a:lnTo>
                  <a:lnTo>
                    <a:pt x="5998845" y="524904"/>
                  </a:lnTo>
                  <a:lnTo>
                    <a:pt x="6043613" y="520492"/>
                  </a:lnTo>
                  <a:lnTo>
                    <a:pt x="6088380" y="515930"/>
                  </a:lnTo>
                  <a:lnTo>
                    <a:pt x="6133148" y="511210"/>
                  </a:lnTo>
                  <a:lnTo>
                    <a:pt x="6177915" y="506324"/>
                  </a:lnTo>
                  <a:lnTo>
                    <a:pt x="6222683" y="501264"/>
                  </a:lnTo>
                  <a:lnTo>
                    <a:pt x="6267450" y="496026"/>
                  </a:lnTo>
                  <a:lnTo>
                    <a:pt x="6312218" y="490604"/>
                  </a:lnTo>
                  <a:lnTo>
                    <a:pt x="6356985" y="484996"/>
                  </a:lnTo>
                  <a:lnTo>
                    <a:pt x="6401753" y="479203"/>
                  </a:lnTo>
                  <a:lnTo>
                    <a:pt x="6446520" y="473224"/>
                  </a:lnTo>
                  <a:lnTo>
                    <a:pt x="6491287" y="467064"/>
                  </a:lnTo>
                  <a:lnTo>
                    <a:pt x="6536055" y="460726"/>
                  </a:lnTo>
                  <a:lnTo>
                    <a:pt x="6580823" y="454218"/>
                  </a:lnTo>
                  <a:lnTo>
                    <a:pt x="6625590" y="447549"/>
                  </a:lnTo>
                  <a:lnTo>
                    <a:pt x="6670358" y="440730"/>
                  </a:lnTo>
                  <a:lnTo>
                    <a:pt x="6715125" y="433772"/>
                  </a:lnTo>
                  <a:lnTo>
                    <a:pt x="6759893" y="426690"/>
                  </a:lnTo>
                  <a:lnTo>
                    <a:pt x="6804660" y="419500"/>
                  </a:lnTo>
                  <a:lnTo>
                    <a:pt x="6849427" y="412221"/>
                  </a:lnTo>
                  <a:lnTo>
                    <a:pt x="6894195" y="404873"/>
                  </a:lnTo>
                  <a:lnTo>
                    <a:pt x="6938963" y="397476"/>
                  </a:lnTo>
                  <a:lnTo>
                    <a:pt x="6983730" y="390055"/>
                  </a:lnTo>
                  <a:lnTo>
                    <a:pt x="7028497" y="382633"/>
                  </a:lnTo>
                  <a:lnTo>
                    <a:pt x="7073265" y="375236"/>
                  </a:lnTo>
                  <a:lnTo>
                    <a:pt x="7118033" y="367889"/>
                  </a:lnTo>
                  <a:lnTo>
                    <a:pt x="7162800" y="360619"/>
                  </a:lnTo>
                  <a:lnTo>
                    <a:pt x="7207568" y="353454"/>
                  </a:lnTo>
                  <a:lnTo>
                    <a:pt x="7252335" y="346419"/>
                  </a:lnTo>
                  <a:lnTo>
                    <a:pt x="7297103" y="339542"/>
                  </a:lnTo>
                  <a:lnTo>
                    <a:pt x="7341870" y="332849"/>
                  </a:lnTo>
                  <a:lnTo>
                    <a:pt x="7386638" y="326366"/>
                  </a:lnTo>
                  <a:lnTo>
                    <a:pt x="7431405" y="320119"/>
                  </a:lnTo>
                  <a:lnTo>
                    <a:pt x="7476173" y="314130"/>
                  </a:lnTo>
                  <a:lnTo>
                    <a:pt x="7520940" y="308424"/>
                  </a:lnTo>
                  <a:lnTo>
                    <a:pt x="7565708" y="303020"/>
                  </a:lnTo>
                  <a:lnTo>
                    <a:pt x="7610475" y="297939"/>
                  </a:lnTo>
                  <a:lnTo>
                    <a:pt x="7655242" y="293197"/>
                  </a:lnTo>
                  <a:lnTo>
                    <a:pt x="7700010" y="288809"/>
                  </a:lnTo>
                  <a:lnTo>
                    <a:pt x="7744778" y="284788"/>
                  </a:lnTo>
                  <a:lnTo>
                    <a:pt x="7789545" y="281143"/>
                  </a:lnTo>
                  <a:lnTo>
                    <a:pt x="7834313" y="277883"/>
                  </a:lnTo>
                  <a:lnTo>
                    <a:pt x="7879080" y="275012"/>
                  </a:lnTo>
                  <a:lnTo>
                    <a:pt x="7923848" y="272533"/>
                  </a:lnTo>
                  <a:lnTo>
                    <a:pt x="7968615" y="270446"/>
                  </a:lnTo>
                  <a:lnTo>
                    <a:pt x="8013383" y="268748"/>
                  </a:lnTo>
                  <a:lnTo>
                    <a:pt x="8058150" y="267433"/>
                  </a:lnTo>
                  <a:lnTo>
                    <a:pt x="8102918" y="266495"/>
                  </a:lnTo>
                  <a:lnTo>
                    <a:pt x="8147685" y="265923"/>
                  </a:lnTo>
                  <a:lnTo>
                    <a:pt x="8192453" y="265706"/>
                  </a:lnTo>
                  <a:lnTo>
                    <a:pt x="8237220" y="265831"/>
                  </a:lnTo>
                  <a:lnTo>
                    <a:pt x="8281987" y="266282"/>
                  </a:lnTo>
                  <a:lnTo>
                    <a:pt x="8326755" y="267041"/>
                  </a:lnTo>
                  <a:lnTo>
                    <a:pt x="8371522" y="268091"/>
                  </a:lnTo>
                  <a:lnTo>
                    <a:pt x="8416290" y="269413"/>
                  </a:lnTo>
                  <a:lnTo>
                    <a:pt x="8461058" y="270986"/>
                  </a:lnTo>
                  <a:lnTo>
                    <a:pt x="8505825" y="272790"/>
                  </a:lnTo>
                  <a:lnTo>
                    <a:pt x="8550593" y="274804"/>
                  </a:lnTo>
                  <a:lnTo>
                    <a:pt x="8595360" y="277006"/>
                  </a:lnTo>
                  <a:lnTo>
                    <a:pt x="8640128" y="279377"/>
                  </a:lnTo>
                  <a:lnTo>
                    <a:pt x="8684895" y="281896"/>
                  </a:lnTo>
                  <a:lnTo>
                    <a:pt x="8729663" y="284543"/>
                  </a:lnTo>
                  <a:lnTo>
                    <a:pt x="8774430" y="287298"/>
                  </a:lnTo>
                  <a:lnTo>
                    <a:pt x="8819198" y="290143"/>
                  </a:lnTo>
                  <a:lnTo>
                    <a:pt x="8863965" y="293061"/>
                  </a:lnTo>
                  <a:lnTo>
                    <a:pt x="8908733" y="296035"/>
                  </a:lnTo>
                  <a:lnTo>
                    <a:pt x="8953500" y="299050"/>
                  </a:lnTo>
                  <a:lnTo>
                    <a:pt x="8998268" y="302092"/>
                  </a:lnTo>
                  <a:lnTo>
                    <a:pt x="9043035" y="305149"/>
                  </a:lnTo>
                  <a:lnTo>
                    <a:pt x="9087803" y="308209"/>
                  </a:lnTo>
                  <a:lnTo>
                    <a:pt x="9132570" y="311264"/>
                  </a:lnTo>
                  <a:lnTo>
                    <a:pt x="9177338" y="314304"/>
                  </a:lnTo>
                  <a:lnTo>
                    <a:pt x="9222105" y="317321"/>
                  </a:lnTo>
                  <a:lnTo>
                    <a:pt x="9266873" y="320308"/>
                  </a:lnTo>
                  <a:lnTo>
                    <a:pt x="9311640" y="323262"/>
                  </a:lnTo>
                  <a:lnTo>
                    <a:pt x="9356408" y="326176"/>
                  </a:lnTo>
                  <a:lnTo>
                    <a:pt x="9401175" y="329049"/>
                  </a:lnTo>
                  <a:lnTo>
                    <a:pt x="9445943" y="331876"/>
                  </a:lnTo>
                  <a:lnTo>
                    <a:pt x="9490710" y="334658"/>
                  </a:lnTo>
                  <a:lnTo>
                    <a:pt x="9535478" y="337394"/>
                  </a:lnTo>
                  <a:lnTo>
                    <a:pt x="9580245" y="340083"/>
                  </a:lnTo>
                  <a:lnTo>
                    <a:pt x="9625013" y="342725"/>
                  </a:lnTo>
                  <a:lnTo>
                    <a:pt x="9669780" y="345320"/>
                  </a:lnTo>
                  <a:lnTo>
                    <a:pt x="9714548" y="347869"/>
                  </a:lnTo>
                  <a:lnTo>
                    <a:pt x="9759315" y="350372"/>
                  </a:lnTo>
                  <a:lnTo>
                    <a:pt x="9804083" y="352830"/>
                  </a:lnTo>
                  <a:lnTo>
                    <a:pt x="9848850" y="355242"/>
                  </a:lnTo>
                  <a:lnTo>
                    <a:pt x="9893618" y="357611"/>
                  </a:lnTo>
                  <a:lnTo>
                    <a:pt x="9938385" y="359936"/>
                  </a:lnTo>
                  <a:lnTo>
                    <a:pt x="9983153" y="362215"/>
                  </a:lnTo>
                  <a:lnTo>
                    <a:pt x="10027920" y="364449"/>
                  </a:lnTo>
                  <a:lnTo>
                    <a:pt x="10072688" y="366637"/>
                  </a:lnTo>
                  <a:lnTo>
                    <a:pt x="10117455" y="368780"/>
                  </a:lnTo>
                  <a:lnTo>
                    <a:pt x="10162223" y="370879"/>
                  </a:lnTo>
                  <a:lnTo>
                    <a:pt x="10206990" y="372932"/>
                  </a:lnTo>
                  <a:lnTo>
                    <a:pt x="10251758" y="374939"/>
                  </a:lnTo>
                  <a:lnTo>
                    <a:pt x="10296525" y="376899"/>
                  </a:lnTo>
                  <a:lnTo>
                    <a:pt x="10341293" y="378812"/>
                  </a:lnTo>
                  <a:lnTo>
                    <a:pt x="10386060" y="380675"/>
                  </a:lnTo>
                  <a:lnTo>
                    <a:pt x="10430828" y="382486"/>
                  </a:lnTo>
                  <a:lnTo>
                    <a:pt x="10475595" y="384242"/>
                  </a:lnTo>
                  <a:lnTo>
                    <a:pt x="10520363" y="385944"/>
                  </a:lnTo>
                  <a:lnTo>
                    <a:pt x="10565130" y="387589"/>
                  </a:lnTo>
                  <a:lnTo>
                    <a:pt x="10609898" y="389178"/>
                  </a:lnTo>
                  <a:lnTo>
                    <a:pt x="10654665" y="390709"/>
                  </a:lnTo>
                  <a:lnTo>
                    <a:pt x="10699433" y="392181"/>
                  </a:lnTo>
                  <a:lnTo>
                    <a:pt x="10744200" y="393594"/>
                  </a:lnTo>
                  <a:lnTo>
                    <a:pt x="10744200" y="821919"/>
                  </a:lnTo>
                  <a:lnTo>
                    <a:pt x="10699433" y="825659"/>
                  </a:lnTo>
                  <a:lnTo>
                    <a:pt x="10654665" y="829584"/>
                  </a:lnTo>
                  <a:lnTo>
                    <a:pt x="10609898" y="833696"/>
                  </a:lnTo>
                  <a:lnTo>
                    <a:pt x="10565130" y="837994"/>
                  </a:lnTo>
                  <a:lnTo>
                    <a:pt x="10520363" y="842479"/>
                  </a:lnTo>
                  <a:lnTo>
                    <a:pt x="10475595" y="847149"/>
                  </a:lnTo>
                  <a:lnTo>
                    <a:pt x="10430828" y="852003"/>
                  </a:lnTo>
                  <a:lnTo>
                    <a:pt x="10386060" y="857040"/>
                  </a:lnTo>
                  <a:lnTo>
                    <a:pt x="10341293" y="862257"/>
                  </a:lnTo>
                  <a:lnTo>
                    <a:pt x="10296525" y="867655"/>
                  </a:lnTo>
                  <a:lnTo>
                    <a:pt x="10251758" y="873230"/>
                  </a:lnTo>
                  <a:lnTo>
                    <a:pt x="10206990" y="878981"/>
                  </a:lnTo>
                  <a:lnTo>
                    <a:pt x="10162223" y="884905"/>
                  </a:lnTo>
                  <a:lnTo>
                    <a:pt x="10117455" y="890998"/>
                  </a:lnTo>
                  <a:lnTo>
                    <a:pt x="10072688" y="897257"/>
                  </a:lnTo>
                  <a:lnTo>
                    <a:pt x="10027920" y="903680"/>
                  </a:lnTo>
                  <a:lnTo>
                    <a:pt x="9983153" y="910262"/>
                  </a:lnTo>
                  <a:lnTo>
                    <a:pt x="9938385" y="917001"/>
                  </a:lnTo>
                  <a:lnTo>
                    <a:pt x="9893618" y="923893"/>
                  </a:lnTo>
                  <a:lnTo>
                    <a:pt x="9848850" y="930937"/>
                  </a:lnTo>
                  <a:lnTo>
                    <a:pt x="9804083" y="938131"/>
                  </a:lnTo>
                  <a:lnTo>
                    <a:pt x="9759315" y="945471"/>
                  </a:lnTo>
                  <a:lnTo>
                    <a:pt x="9714548" y="952954"/>
                  </a:lnTo>
                  <a:lnTo>
                    <a:pt x="9669780" y="960578"/>
                  </a:lnTo>
                  <a:lnTo>
                    <a:pt x="9625013" y="968341"/>
                  </a:lnTo>
                  <a:lnTo>
                    <a:pt x="9580245" y="976239"/>
                  </a:lnTo>
                  <a:lnTo>
                    <a:pt x="9535478" y="984270"/>
                  </a:lnTo>
                  <a:lnTo>
                    <a:pt x="9490710" y="992433"/>
                  </a:lnTo>
                  <a:lnTo>
                    <a:pt x="9445943" y="1000725"/>
                  </a:lnTo>
                  <a:lnTo>
                    <a:pt x="9401175" y="1009145"/>
                  </a:lnTo>
                  <a:lnTo>
                    <a:pt x="9356408" y="1017693"/>
                  </a:lnTo>
                  <a:lnTo>
                    <a:pt x="9311640" y="1026368"/>
                  </a:lnTo>
                  <a:lnTo>
                    <a:pt x="9266873" y="1035168"/>
                  </a:lnTo>
                  <a:lnTo>
                    <a:pt x="9222105" y="1044095"/>
                  </a:lnTo>
                  <a:lnTo>
                    <a:pt x="9177338" y="1053147"/>
                  </a:lnTo>
                  <a:lnTo>
                    <a:pt x="9132570" y="1062326"/>
                  </a:lnTo>
                  <a:lnTo>
                    <a:pt x="9087803" y="1071634"/>
                  </a:lnTo>
                  <a:lnTo>
                    <a:pt x="9043035" y="1081071"/>
                  </a:lnTo>
                  <a:lnTo>
                    <a:pt x="8998268" y="1090642"/>
                  </a:lnTo>
                  <a:lnTo>
                    <a:pt x="8953500" y="1100349"/>
                  </a:lnTo>
                  <a:lnTo>
                    <a:pt x="8908733" y="1110195"/>
                  </a:lnTo>
                  <a:lnTo>
                    <a:pt x="8863965" y="1120187"/>
                  </a:lnTo>
                  <a:lnTo>
                    <a:pt x="8819198" y="1130330"/>
                  </a:lnTo>
                  <a:lnTo>
                    <a:pt x="8774430" y="1140630"/>
                  </a:lnTo>
                  <a:lnTo>
                    <a:pt x="8729663" y="1151095"/>
                  </a:lnTo>
                  <a:lnTo>
                    <a:pt x="8684895" y="1161734"/>
                  </a:lnTo>
                  <a:lnTo>
                    <a:pt x="8640128" y="1172557"/>
                  </a:lnTo>
                  <a:lnTo>
                    <a:pt x="8595360" y="1183572"/>
                  </a:lnTo>
                  <a:lnTo>
                    <a:pt x="8550593" y="1194793"/>
                  </a:lnTo>
                  <a:lnTo>
                    <a:pt x="8505825" y="1206229"/>
                  </a:lnTo>
                  <a:lnTo>
                    <a:pt x="8461058" y="1217892"/>
                  </a:lnTo>
                  <a:lnTo>
                    <a:pt x="8416290" y="1229797"/>
                  </a:lnTo>
                  <a:lnTo>
                    <a:pt x="8371522" y="1241956"/>
                  </a:lnTo>
                  <a:lnTo>
                    <a:pt x="8326755" y="1254382"/>
                  </a:lnTo>
                  <a:lnTo>
                    <a:pt x="8281987" y="1267092"/>
                  </a:lnTo>
                  <a:lnTo>
                    <a:pt x="8237220" y="1280100"/>
                  </a:lnTo>
                  <a:lnTo>
                    <a:pt x="8192453" y="1293421"/>
                  </a:lnTo>
                  <a:lnTo>
                    <a:pt x="8147685" y="1307070"/>
                  </a:lnTo>
                  <a:lnTo>
                    <a:pt x="8102918" y="1321061"/>
                  </a:lnTo>
                  <a:lnTo>
                    <a:pt x="8058150" y="1335406"/>
                  </a:lnTo>
                  <a:lnTo>
                    <a:pt x="8013383" y="1350118"/>
                  </a:lnTo>
                  <a:lnTo>
                    <a:pt x="7968615" y="1365209"/>
                  </a:lnTo>
                  <a:lnTo>
                    <a:pt x="7923848" y="1380688"/>
                  </a:lnTo>
                  <a:lnTo>
                    <a:pt x="7879080" y="1396567"/>
                  </a:lnTo>
                  <a:lnTo>
                    <a:pt x="7834313" y="1412853"/>
                  </a:lnTo>
                  <a:lnTo>
                    <a:pt x="7789545" y="1429554"/>
                  </a:lnTo>
                  <a:lnTo>
                    <a:pt x="7744778" y="1446674"/>
                  </a:lnTo>
                  <a:lnTo>
                    <a:pt x="7700010" y="1464218"/>
                  </a:lnTo>
                  <a:lnTo>
                    <a:pt x="7655242" y="1482186"/>
                  </a:lnTo>
                  <a:lnTo>
                    <a:pt x="7610475" y="1500575"/>
                  </a:lnTo>
                  <a:lnTo>
                    <a:pt x="7565708" y="1519384"/>
                  </a:lnTo>
                  <a:lnTo>
                    <a:pt x="7520940" y="1538605"/>
                  </a:lnTo>
                  <a:lnTo>
                    <a:pt x="7476173" y="1558234"/>
                  </a:lnTo>
                  <a:lnTo>
                    <a:pt x="7431405" y="1578258"/>
                  </a:lnTo>
                  <a:lnTo>
                    <a:pt x="7386638" y="1598666"/>
                  </a:lnTo>
                  <a:lnTo>
                    <a:pt x="7341870" y="1619442"/>
                  </a:lnTo>
                  <a:lnTo>
                    <a:pt x="7297103" y="1640569"/>
                  </a:lnTo>
                  <a:lnTo>
                    <a:pt x="7252335" y="1662028"/>
                  </a:lnTo>
                  <a:lnTo>
                    <a:pt x="7207568" y="1683796"/>
                  </a:lnTo>
                  <a:lnTo>
                    <a:pt x="7162800" y="1705850"/>
                  </a:lnTo>
                  <a:lnTo>
                    <a:pt x="7118033" y="1728164"/>
                  </a:lnTo>
                  <a:lnTo>
                    <a:pt x="7073265" y="1750711"/>
                  </a:lnTo>
                  <a:lnTo>
                    <a:pt x="7028497" y="1773460"/>
                  </a:lnTo>
                  <a:lnTo>
                    <a:pt x="6983730" y="1796380"/>
                  </a:lnTo>
                  <a:lnTo>
                    <a:pt x="6938963" y="1819438"/>
                  </a:lnTo>
                  <a:lnTo>
                    <a:pt x="6894195" y="1842603"/>
                  </a:lnTo>
                  <a:lnTo>
                    <a:pt x="6849427" y="1865838"/>
                  </a:lnTo>
                  <a:lnTo>
                    <a:pt x="6804660" y="1889110"/>
                  </a:lnTo>
                  <a:lnTo>
                    <a:pt x="6759893" y="1912382"/>
                  </a:lnTo>
                  <a:lnTo>
                    <a:pt x="6715125" y="1935619"/>
                  </a:lnTo>
                  <a:lnTo>
                    <a:pt x="6670358" y="1958783"/>
                  </a:lnTo>
                  <a:lnTo>
                    <a:pt x="6625590" y="1981838"/>
                  </a:lnTo>
                  <a:lnTo>
                    <a:pt x="6580823" y="2004749"/>
                  </a:lnTo>
                  <a:lnTo>
                    <a:pt x="6536055" y="2027480"/>
                  </a:lnTo>
                  <a:lnTo>
                    <a:pt x="6491287" y="2049995"/>
                  </a:lnTo>
                  <a:lnTo>
                    <a:pt x="6446520" y="2072261"/>
                  </a:lnTo>
                  <a:lnTo>
                    <a:pt x="6401753" y="2094244"/>
                  </a:lnTo>
                  <a:lnTo>
                    <a:pt x="6356985" y="2115913"/>
                  </a:lnTo>
                  <a:lnTo>
                    <a:pt x="6312218" y="2137238"/>
                  </a:lnTo>
                  <a:lnTo>
                    <a:pt x="6267450" y="2158190"/>
                  </a:lnTo>
                  <a:lnTo>
                    <a:pt x="6222683" y="2178741"/>
                  </a:lnTo>
                  <a:lnTo>
                    <a:pt x="6177915" y="2198867"/>
                  </a:lnTo>
                  <a:lnTo>
                    <a:pt x="6133148" y="2218547"/>
                  </a:lnTo>
                  <a:lnTo>
                    <a:pt x="6088380" y="2237759"/>
                  </a:lnTo>
                  <a:lnTo>
                    <a:pt x="6043613" y="2256484"/>
                  </a:lnTo>
                  <a:lnTo>
                    <a:pt x="5998845" y="2274706"/>
                  </a:lnTo>
                  <a:lnTo>
                    <a:pt x="5954078" y="2292411"/>
                  </a:lnTo>
                  <a:lnTo>
                    <a:pt x="5909310" y="2309587"/>
                  </a:lnTo>
                  <a:lnTo>
                    <a:pt x="5864543" y="2326225"/>
                  </a:lnTo>
                  <a:lnTo>
                    <a:pt x="5819775" y="2342317"/>
                  </a:lnTo>
                  <a:lnTo>
                    <a:pt x="5775008" y="2357860"/>
                  </a:lnTo>
                  <a:lnTo>
                    <a:pt x="5730240" y="2372850"/>
                  </a:lnTo>
                  <a:lnTo>
                    <a:pt x="5685473" y="2387286"/>
                  </a:lnTo>
                  <a:lnTo>
                    <a:pt x="5640705" y="2401171"/>
                  </a:lnTo>
                  <a:lnTo>
                    <a:pt x="5595938" y="2414511"/>
                  </a:lnTo>
                  <a:lnTo>
                    <a:pt x="5551170" y="2427310"/>
                  </a:lnTo>
                  <a:lnTo>
                    <a:pt x="5506403" y="2439580"/>
                  </a:lnTo>
                  <a:lnTo>
                    <a:pt x="5461635" y="2451328"/>
                  </a:lnTo>
                  <a:lnTo>
                    <a:pt x="5416868" y="2462569"/>
                  </a:lnTo>
                  <a:lnTo>
                    <a:pt x="5372100" y="2473315"/>
                  </a:lnTo>
                  <a:lnTo>
                    <a:pt x="5327333" y="2483581"/>
                  </a:lnTo>
                  <a:lnTo>
                    <a:pt x="5282565" y="2493384"/>
                  </a:lnTo>
                  <a:lnTo>
                    <a:pt x="5237798" y="2502738"/>
                  </a:lnTo>
                  <a:lnTo>
                    <a:pt x="5193030" y="2511660"/>
                  </a:lnTo>
                  <a:lnTo>
                    <a:pt x="5148263" y="2520170"/>
                  </a:lnTo>
                  <a:lnTo>
                    <a:pt x="5103495" y="2528287"/>
                  </a:lnTo>
                  <a:lnTo>
                    <a:pt x="5058728" y="2536031"/>
                  </a:lnTo>
                  <a:lnTo>
                    <a:pt x="5013960" y="2543420"/>
                  </a:lnTo>
                  <a:lnTo>
                    <a:pt x="4969193" y="2550474"/>
                  </a:lnTo>
                  <a:lnTo>
                    <a:pt x="4924425" y="2557213"/>
                  </a:lnTo>
                  <a:lnTo>
                    <a:pt x="4879658" y="2563656"/>
                  </a:lnTo>
                  <a:lnTo>
                    <a:pt x="4834890" y="2569822"/>
                  </a:lnTo>
                  <a:lnTo>
                    <a:pt x="4790123" y="2575727"/>
                  </a:lnTo>
                  <a:lnTo>
                    <a:pt x="4745355" y="2581391"/>
                  </a:lnTo>
                  <a:lnTo>
                    <a:pt x="4700588" y="2586828"/>
                  </a:lnTo>
                  <a:lnTo>
                    <a:pt x="4655820" y="2592057"/>
                  </a:lnTo>
                  <a:lnTo>
                    <a:pt x="4611053" y="2597092"/>
                  </a:lnTo>
                  <a:lnTo>
                    <a:pt x="4566285" y="2601948"/>
                  </a:lnTo>
                  <a:lnTo>
                    <a:pt x="4521518" y="2606639"/>
                  </a:lnTo>
                  <a:lnTo>
                    <a:pt x="4476750" y="2611178"/>
                  </a:lnTo>
                  <a:lnTo>
                    <a:pt x="4431983" y="2615577"/>
                  </a:lnTo>
                  <a:lnTo>
                    <a:pt x="4387215" y="2619848"/>
                  </a:lnTo>
                  <a:lnTo>
                    <a:pt x="4342448" y="2624001"/>
                  </a:lnTo>
                  <a:lnTo>
                    <a:pt x="4297680" y="2628047"/>
                  </a:lnTo>
                  <a:lnTo>
                    <a:pt x="4252913" y="2631994"/>
                  </a:lnTo>
                  <a:lnTo>
                    <a:pt x="4208145" y="2635850"/>
                  </a:lnTo>
                  <a:lnTo>
                    <a:pt x="4163377" y="2639624"/>
                  </a:lnTo>
                  <a:lnTo>
                    <a:pt x="4118610" y="2643323"/>
                  </a:lnTo>
                  <a:lnTo>
                    <a:pt x="4073843" y="2646953"/>
                  </a:lnTo>
                  <a:lnTo>
                    <a:pt x="4029075" y="2650521"/>
                  </a:lnTo>
                  <a:lnTo>
                    <a:pt x="3984308" y="2654034"/>
                  </a:lnTo>
                  <a:lnTo>
                    <a:pt x="3939540" y="2657496"/>
                  </a:lnTo>
                  <a:lnTo>
                    <a:pt x="3894773" y="2660915"/>
                  </a:lnTo>
                  <a:lnTo>
                    <a:pt x="3850005" y="2664297"/>
                  </a:lnTo>
                  <a:lnTo>
                    <a:pt x="3805237" y="2667645"/>
                  </a:lnTo>
                  <a:lnTo>
                    <a:pt x="3760470" y="2670967"/>
                  </a:lnTo>
                  <a:lnTo>
                    <a:pt x="3715703" y="2674265"/>
                  </a:lnTo>
                  <a:lnTo>
                    <a:pt x="3670935" y="2677547"/>
                  </a:lnTo>
                  <a:lnTo>
                    <a:pt x="3626168" y="2680816"/>
                  </a:lnTo>
                  <a:lnTo>
                    <a:pt x="3581400" y="2684079"/>
                  </a:lnTo>
                  <a:lnTo>
                    <a:pt x="3536633" y="2687340"/>
                  </a:lnTo>
                  <a:lnTo>
                    <a:pt x="3491865" y="2690606"/>
                  </a:lnTo>
                  <a:lnTo>
                    <a:pt x="3447098" y="2693885"/>
                  </a:lnTo>
                  <a:lnTo>
                    <a:pt x="3402330" y="2697181"/>
                  </a:lnTo>
                  <a:lnTo>
                    <a:pt x="3357563" y="2700502"/>
                  </a:lnTo>
                  <a:lnTo>
                    <a:pt x="3312795" y="2703851"/>
                  </a:lnTo>
                  <a:lnTo>
                    <a:pt x="3268028" y="2707235"/>
                  </a:lnTo>
                  <a:lnTo>
                    <a:pt x="3223260" y="2710660"/>
                  </a:lnTo>
                  <a:lnTo>
                    <a:pt x="3178493" y="2714131"/>
                  </a:lnTo>
                  <a:lnTo>
                    <a:pt x="3133725" y="2717654"/>
                  </a:lnTo>
                  <a:lnTo>
                    <a:pt x="3088958" y="2721234"/>
                  </a:lnTo>
                  <a:lnTo>
                    <a:pt x="3044190" y="2724877"/>
                  </a:lnTo>
                  <a:lnTo>
                    <a:pt x="2999423" y="2728589"/>
                  </a:lnTo>
                  <a:lnTo>
                    <a:pt x="2954655" y="2732376"/>
                  </a:lnTo>
                  <a:lnTo>
                    <a:pt x="2909887" y="2736241"/>
                  </a:lnTo>
                  <a:lnTo>
                    <a:pt x="2865120" y="2740189"/>
                  </a:lnTo>
                  <a:lnTo>
                    <a:pt x="2820353" y="2744224"/>
                  </a:lnTo>
                  <a:lnTo>
                    <a:pt x="2775585" y="2748350"/>
                  </a:lnTo>
                  <a:lnTo>
                    <a:pt x="2730818" y="2752569"/>
                  </a:lnTo>
                  <a:lnTo>
                    <a:pt x="2686050" y="2756884"/>
                  </a:lnTo>
                  <a:lnTo>
                    <a:pt x="2641283" y="2761297"/>
                  </a:lnTo>
                  <a:lnTo>
                    <a:pt x="2596515" y="2765810"/>
                  </a:lnTo>
                  <a:lnTo>
                    <a:pt x="2551748" y="2770422"/>
                  </a:lnTo>
                  <a:lnTo>
                    <a:pt x="2506980" y="2775135"/>
                  </a:lnTo>
                  <a:lnTo>
                    <a:pt x="2462213" y="2779948"/>
                  </a:lnTo>
                  <a:lnTo>
                    <a:pt x="2417445" y="2784862"/>
                  </a:lnTo>
                  <a:lnTo>
                    <a:pt x="2372678" y="2789874"/>
                  </a:lnTo>
                  <a:lnTo>
                    <a:pt x="2327910" y="2794982"/>
                  </a:lnTo>
                  <a:lnTo>
                    <a:pt x="2283143" y="2800185"/>
                  </a:lnTo>
                  <a:lnTo>
                    <a:pt x="2238375" y="2805479"/>
                  </a:lnTo>
                  <a:lnTo>
                    <a:pt x="2193608" y="2810861"/>
                  </a:lnTo>
                  <a:lnTo>
                    <a:pt x="2148840" y="2816325"/>
                  </a:lnTo>
                  <a:lnTo>
                    <a:pt x="2104073" y="2821868"/>
                  </a:lnTo>
                  <a:lnTo>
                    <a:pt x="2059305" y="2827484"/>
                  </a:lnTo>
                  <a:lnTo>
                    <a:pt x="2014538" y="2833168"/>
                  </a:lnTo>
                  <a:lnTo>
                    <a:pt x="1969770" y="2838914"/>
                  </a:lnTo>
                  <a:lnTo>
                    <a:pt x="1925002" y="2844714"/>
                  </a:lnTo>
                  <a:lnTo>
                    <a:pt x="1880235" y="2850563"/>
                  </a:lnTo>
                  <a:lnTo>
                    <a:pt x="1835468" y="2856453"/>
                  </a:lnTo>
                  <a:lnTo>
                    <a:pt x="1790700" y="2862376"/>
                  </a:lnTo>
                  <a:lnTo>
                    <a:pt x="1745932" y="2868325"/>
                  </a:lnTo>
                  <a:lnTo>
                    <a:pt x="1701165" y="2874292"/>
                  </a:lnTo>
                  <a:lnTo>
                    <a:pt x="1656398" y="2880269"/>
                  </a:lnTo>
                  <a:lnTo>
                    <a:pt x="1611630" y="2886247"/>
                  </a:lnTo>
                  <a:lnTo>
                    <a:pt x="1566863" y="2892219"/>
                  </a:lnTo>
                  <a:lnTo>
                    <a:pt x="1522095" y="2898175"/>
                  </a:lnTo>
                  <a:lnTo>
                    <a:pt x="1477328" y="2904108"/>
                  </a:lnTo>
                  <a:lnTo>
                    <a:pt x="1432560" y="2910008"/>
                  </a:lnTo>
                  <a:lnTo>
                    <a:pt x="1387793" y="2915868"/>
                  </a:lnTo>
                  <a:lnTo>
                    <a:pt x="1343025" y="2921679"/>
                  </a:lnTo>
                  <a:lnTo>
                    <a:pt x="1298258" y="2927433"/>
                  </a:lnTo>
                  <a:lnTo>
                    <a:pt x="1253490" y="2933121"/>
                  </a:lnTo>
                  <a:lnTo>
                    <a:pt x="1208723" y="2938738"/>
                  </a:lnTo>
                  <a:lnTo>
                    <a:pt x="1163955" y="2944274"/>
                  </a:lnTo>
                  <a:lnTo>
                    <a:pt x="1119188" y="2949722"/>
                  </a:lnTo>
                  <a:lnTo>
                    <a:pt x="1074420" y="2955077"/>
                  </a:lnTo>
                  <a:lnTo>
                    <a:pt x="1029653" y="2960330"/>
                  </a:lnTo>
                  <a:lnTo>
                    <a:pt x="984885" y="2965475"/>
                  </a:lnTo>
                  <a:lnTo>
                    <a:pt x="940118" y="2970507"/>
                  </a:lnTo>
                  <a:lnTo>
                    <a:pt x="895350" y="2975419"/>
                  </a:lnTo>
                  <a:lnTo>
                    <a:pt x="850583" y="2980207"/>
                  </a:lnTo>
                  <a:lnTo>
                    <a:pt x="805815" y="2984866"/>
                  </a:lnTo>
                  <a:lnTo>
                    <a:pt x="761048" y="2989392"/>
                  </a:lnTo>
                  <a:lnTo>
                    <a:pt x="716280" y="2993780"/>
                  </a:lnTo>
                  <a:lnTo>
                    <a:pt x="671513" y="2998027"/>
                  </a:lnTo>
                  <a:lnTo>
                    <a:pt x="626745" y="3002131"/>
                  </a:lnTo>
                  <a:lnTo>
                    <a:pt x="581978" y="3006090"/>
                  </a:lnTo>
                  <a:lnTo>
                    <a:pt x="537210" y="3009901"/>
                  </a:lnTo>
                  <a:lnTo>
                    <a:pt x="492443" y="3013563"/>
                  </a:lnTo>
                  <a:lnTo>
                    <a:pt x="447675" y="3017076"/>
                  </a:lnTo>
                  <a:lnTo>
                    <a:pt x="402908" y="3020439"/>
                  </a:lnTo>
                  <a:lnTo>
                    <a:pt x="358140" y="3023652"/>
                  </a:lnTo>
                  <a:lnTo>
                    <a:pt x="313373" y="3026716"/>
                  </a:lnTo>
                  <a:lnTo>
                    <a:pt x="268605" y="3029632"/>
                  </a:lnTo>
                  <a:lnTo>
                    <a:pt x="223838" y="3032402"/>
                  </a:lnTo>
                  <a:lnTo>
                    <a:pt x="179070" y="3035027"/>
                  </a:lnTo>
                  <a:lnTo>
                    <a:pt x="134303" y="3037510"/>
                  </a:lnTo>
                  <a:lnTo>
                    <a:pt x="89535" y="3039853"/>
                  </a:lnTo>
                  <a:lnTo>
                    <a:pt x="44768" y="3042061"/>
                  </a:lnTo>
                  <a:lnTo>
                    <a:pt x="0" y="3044136"/>
                  </a:lnTo>
                  <a:close/>
                </a:path>
              </a:pathLst>
            </a:custGeom>
            <a:solidFill>
              <a:srgbClr val="070154"/>
            </a:solidFill>
            <a:ln>
              <a:noFill/>
            </a:ln>
          </p:spPr>
        </p:sp>
        <p:sp>
          <p:nvSpPr>
            <p:cNvPr id="9" name="node01.phases.source-001.label"/>
            <p:cNvSpPr/>
            <p:nvPr/>
          </p:nvSpPr>
          <p:spPr>
            <a:xfrm>
              <a:off x="838200" y="5143500"/>
              <a:ext cx="3352800" cy="8001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FORMING</a:t>
              </a:r>
              <a:endParaRPr lang="en-US" sz="900" spc="72" kern="0" b="0" i="0" dirty="0">
                <a:solidFill>
                  <a:srgbClr val="0047FF"/>
                </a:solidFill>
                <a:latin typeface="IBM Plex Mono SemiBold"/>
                <a:ea typeface="IBM Plex Mono SemiBold"/>
                <a:cs typeface="IBM Plex Mono SemiBold"/>
              </a:endParaRPr>
            </a:p>
          </p:txBody>
        </p:sp>
        <p:sp>
          <p:nvSpPr>
            <p:cNvPr id="10" name="node01.phases.source-001.sub"/>
            <p:cNvSpPr/>
            <p:nvPr/>
          </p:nvSpPr>
          <p:spPr>
            <a:xfrm>
              <a:off x="838200" y="5308600"/>
              <a:ext cx="3352800" cy="635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Diagnose the estate and benchmark the baseline.</a:t>
              </a:r>
              <a:endParaRPr lang="en-US" sz="1100" spc="0" kern="0" b="0" i="0" dirty="0">
                <a:solidFill>
                  <a:srgbClr val="50658E"/>
                </a:solidFill>
                <a:latin typeface="IBM Plex Sans"/>
                <a:ea typeface="IBM Plex Sans"/>
                <a:cs typeface="IBM Plex Sans"/>
              </a:endParaRPr>
            </a:p>
          </p:txBody>
        </p:sp>
        <p:sp>
          <p:nvSpPr>
            <p:cNvPr id="11" name="node01.phases.source-002.rule"/>
            <p:cNvSpPr/>
            <p:nvPr/>
          </p:nvSpPr>
          <p:spPr>
            <a:xfrm>
              <a:off x="4305300" y="1600200"/>
              <a:ext cx="0" cy="4343400"/>
            </a:xfrm>
            <a:prstGeom prst="line">
              <a:avLst/>
            </a:prstGeom>
            <a:noFill/>
            <a:ln w="9525">
              <a:solidFill>
                <a:srgbClr val="97A4BA"/>
              </a:solidFill>
              <a:prstDash val="solid"/>
            </a:ln>
          </p:spPr>
        </p:sp>
        <p:sp>
          <p:nvSpPr>
            <p:cNvPr id="12" name="node01.phases.source-002.label"/>
            <p:cNvSpPr/>
            <p:nvPr/>
          </p:nvSpPr>
          <p:spPr>
            <a:xfrm>
              <a:off x="4419600" y="5143500"/>
              <a:ext cx="3352800" cy="8001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NORMING AND PERFORMING</a:t>
              </a:r>
              <a:endParaRPr lang="en-US" sz="900" spc="72" kern="0" b="0" i="0" dirty="0">
                <a:solidFill>
                  <a:srgbClr val="0047FF"/>
                </a:solidFill>
                <a:latin typeface="IBM Plex Mono SemiBold"/>
                <a:ea typeface="IBM Plex Mono SemiBold"/>
                <a:cs typeface="IBM Plex Mono SemiBold"/>
              </a:endParaRPr>
            </a:p>
          </p:txBody>
        </p:sp>
        <p:sp>
          <p:nvSpPr>
            <p:cNvPr id="13" name="node01.phases.source-002.sub"/>
            <p:cNvSpPr/>
            <p:nvPr/>
          </p:nvSpPr>
          <p:spPr>
            <a:xfrm>
              <a:off x="4419600" y="5308600"/>
              <a:ext cx="3352800" cy="635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Establish the standard we all build to.</a:t>
              </a:r>
              <a:endParaRPr lang="en-US" sz="1100" spc="0" kern="0" b="0" i="0" dirty="0">
                <a:solidFill>
                  <a:srgbClr val="50658E"/>
                </a:solidFill>
                <a:latin typeface="IBM Plex Sans"/>
                <a:ea typeface="IBM Plex Sans"/>
                <a:cs typeface="IBM Plex Sans"/>
              </a:endParaRPr>
            </a:p>
          </p:txBody>
        </p:sp>
        <p:sp>
          <p:nvSpPr>
            <p:cNvPr id="14" name="node01.phases.source-003.rule"/>
            <p:cNvSpPr/>
            <p:nvPr/>
          </p:nvSpPr>
          <p:spPr>
            <a:xfrm>
              <a:off x="7886700" y="1600200"/>
              <a:ext cx="0" cy="4343400"/>
            </a:xfrm>
            <a:prstGeom prst="line">
              <a:avLst/>
            </a:prstGeom>
            <a:noFill/>
            <a:ln w="9525">
              <a:solidFill>
                <a:srgbClr val="97A4BA"/>
              </a:solidFill>
              <a:prstDash val="solid"/>
            </a:ln>
          </p:spPr>
        </p:sp>
        <p:sp>
          <p:nvSpPr>
            <p:cNvPr id="15" name="node01.phases.source-003.label"/>
            <p:cNvSpPr/>
            <p:nvPr/>
          </p:nvSpPr>
          <p:spPr>
            <a:xfrm>
              <a:off x="8001000" y="5143500"/>
              <a:ext cx="3352800" cy="8001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OPTIMIZING AND SUSTAINING</a:t>
              </a:r>
              <a:endParaRPr lang="en-US" sz="900" spc="72" kern="0" b="0" i="0" dirty="0">
                <a:solidFill>
                  <a:srgbClr val="0047FF"/>
                </a:solidFill>
                <a:latin typeface="IBM Plex Mono SemiBold"/>
                <a:ea typeface="IBM Plex Mono SemiBold"/>
                <a:cs typeface="IBM Plex Mono SemiBold"/>
              </a:endParaRPr>
            </a:p>
          </p:txBody>
        </p:sp>
        <p:sp>
          <p:nvSpPr>
            <p:cNvPr id="16" name="node01.phases.source-003.sub"/>
            <p:cNvSpPr/>
            <p:nvPr/>
          </p:nvSpPr>
          <p:spPr>
            <a:xfrm>
              <a:off x="8001000" y="5308600"/>
              <a:ext cx="3352800" cy="635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Scale the model and hand over the run.</a:t>
              </a:r>
              <a:endParaRPr lang="en-US" sz="1100" spc="0" kern="0" b="0" i="0" dirty="0">
                <a:solidFill>
                  <a:srgbClr val="50658E"/>
                </a:solidFill>
                <a:latin typeface="IBM Plex Sans"/>
                <a:ea typeface="IBM Plex Sans"/>
                <a:cs typeface="IBM Plex Sans"/>
              </a:endParaRPr>
            </a:p>
          </p:txBody>
        </p:sp>
        <p:sp>
          <p:nvSpPr>
            <p:cNvPr id="17" name="node01.series.source-001.label"/>
            <p:cNvSpPr/>
            <p:nvPr/>
          </p:nvSpPr>
          <p:spPr>
            <a:xfrm>
              <a:off x="1752600" y="4644288"/>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NORTHFIELD TEAM</a:t>
              </a:r>
              <a:endParaRPr lang="en-US" sz="800" spc="48" kern="0" b="0" i="0" dirty="0">
                <a:solidFill>
                  <a:srgbClr val="070154"/>
                </a:solidFill>
                <a:latin typeface="IBM Plex Mono SemiBold"/>
                <a:ea typeface="IBM Plex Mono SemiBold"/>
                <a:cs typeface="IBM Plex Mono SemiBold"/>
              </a:endParaRPr>
            </a:p>
          </p:txBody>
        </p:sp>
      </p:grpSp>
      <p:grpSp>
        <p:nvGrpSpPr>
          <p:cNvPr id="28" name="node02"/>
          <p:cNvGrpSpPr/>
          <p:nvPr/>
        </p:nvGrpSpPr>
        <p:grpSpPr>
          <a:xfrm>
            <a:off x="723900" y="1600200"/>
            <a:ext cx="3200400" cy="863600"/>
            <a:chOff x="723900" y="1600200"/>
            <a:chExt cx="3200400" cy="863600"/>
          </a:xfrm>
        </p:grpSpPr>
        <p:sp>
          <p:nvSpPr>
            <p:cNvPr id="18" name="node02.text"/>
            <p:cNvSpPr/>
            <p:nvPr/>
          </p:nvSpPr>
          <p:spPr>
            <a:xfrm>
              <a:off x="723900" y="1600200"/>
              <a:ext cx="32004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 lead the first sprints with a lean team. We stand up the architecture and delivery practices. Northfield colleagues join us from day one.</a:t>
              </a:r>
              <a:endParaRPr lang="en-US" sz="1200" spc="0" kern="0" b="0" i="0" dirty="0">
                <a:solidFill>
                  <a:srgbClr val="070154"/>
                </a:solidFill>
                <a:latin typeface="IBM Plex Sans"/>
                <a:ea typeface="IBM Plex Sans"/>
                <a:cs typeface="IBM Plex Sans"/>
              </a:endParaRPr>
            </a:p>
          </p:txBody>
        </p:sp>
      </p:grpSp>
      <p:grpSp>
        <p:nvGrpSpPr>
          <p:cNvPr id="29" name="node03"/>
          <p:cNvGrpSpPr/>
          <p:nvPr/>
        </p:nvGrpSpPr>
        <p:grpSpPr>
          <a:xfrm>
            <a:off x="4457700" y="2667000"/>
            <a:ext cx="3200400" cy="139700"/>
            <a:chOff x="4457700" y="2667000"/>
            <a:chExt cx="3200400" cy="139700"/>
          </a:xfrm>
        </p:grpSpPr>
        <p:sp>
          <p:nvSpPr>
            <p:cNvPr id="19" name="node03.text"/>
            <p:cNvSpPr/>
            <p:nvPr/>
          </p:nvSpPr>
          <p:spPr>
            <a:xfrm>
              <a:off x="4457700" y="26670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WEST MONROE</a:t>
              </a:r>
              <a:endParaRPr lang="en-US" sz="800" spc="48" kern="0" b="0" i="0" dirty="0">
                <a:solidFill>
                  <a:srgbClr val="FFFFFF"/>
                </a:solidFill>
                <a:latin typeface="IBM Plex Mono Medium"/>
                <a:ea typeface="IBM Plex Mono Medium"/>
                <a:cs typeface="IBM Plex Mono Medium"/>
              </a:endParaRPr>
            </a:p>
          </p:txBody>
        </p:sp>
      </p:grpSp>
      <p:grpSp>
        <p:nvGrpSpPr>
          <p:cNvPr id="30" name="node04"/>
          <p:cNvGrpSpPr/>
          <p:nvPr/>
        </p:nvGrpSpPr>
        <p:grpSpPr>
          <a:xfrm>
            <a:off x="4457700" y="2895600"/>
            <a:ext cx="2743200" cy="939800"/>
            <a:chOff x="4457700" y="2895600"/>
            <a:chExt cx="2743200" cy="939800"/>
          </a:xfrm>
        </p:grpSpPr>
        <p:sp>
          <p:nvSpPr>
            <p:cNvPr id="20" name="node04.source-001.bullet"/>
            <p:cNvSpPr/>
            <p:nvPr/>
          </p:nvSpPr>
          <p:spPr>
            <a:xfrm>
              <a:off x="4457700" y="2984500"/>
              <a:ext cx="38100" cy="38100"/>
            </a:xfrm>
            <a:prstGeom prst="rect">
              <a:avLst/>
            </a:prstGeom>
            <a:solidFill>
              <a:srgbClr val="FFFFFF"/>
            </a:solidFill>
            <a:ln>
              <a:noFill/>
            </a:ln>
          </p:spPr>
        </p:sp>
        <p:sp>
          <p:nvSpPr>
            <p:cNvPr id="21" name="node04.source-001.text"/>
            <p:cNvSpPr/>
            <p:nvPr/>
          </p:nvSpPr>
          <p:spPr>
            <a:xfrm>
              <a:off x="4610100" y="2895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We scale up to build faster</a:t>
              </a:r>
              <a:endParaRPr lang="en-US" sz="1200" spc="0" kern="0" b="0" i="0" dirty="0">
                <a:solidFill>
                  <a:srgbClr val="FFFFFF"/>
                </a:solidFill>
                <a:latin typeface="IBM Plex Sans"/>
                <a:ea typeface="IBM Plex Sans"/>
                <a:cs typeface="IBM Plex Sans"/>
              </a:endParaRPr>
            </a:p>
          </p:txBody>
        </p:sp>
        <p:sp>
          <p:nvSpPr>
            <p:cNvPr id="22" name="node04.source-002.bullet"/>
            <p:cNvSpPr/>
            <p:nvPr/>
          </p:nvSpPr>
          <p:spPr>
            <a:xfrm>
              <a:off x="4457700" y="3238500"/>
              <a:ext cx="38100" cy="38100"/>
            </a:xfrm>
            <a:prstGeom prst="rect">
              <a:avLst/>
            </a:prstGeom>
            <a:solidFill>
              <a:srgbClr val="FFFFFF"/>
            </a:solidFill>
            <a:ln>
              <a:noFill/>
            </a:ln>
          </p:spPr>
        </p:sp>
        <p:sp>
          <p:nvSpPr>
            <p:cNvPr id="23" name="node04.source-002.text"/>
            <p:cNvSpPr/>
            <p:nvPr/>
          </p:nvSpPr>
          <p:spPr>
            <a:xfrm>
              <a:off x="4610100" y="31496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Northfield engineers pair with us on every release</a:t>
              </a:r>
              <a:endParaRPr lang="en-US" sz="1200" spc="0" kern="0" b="0" i="0" dirty="0">
                <a:solidFill>
                  <a:srgbClr val="FFFFFF"/>
                </a:solidFill>
                <a:latin typeface="IBM Plex Sans"/>
                <a:ea typeface="IBM Plex Sans"/>
                <a:cs typeface="IBM Plex Sans"/>
              </a:endParaRPr>
            </a:p>
          </p:txBody>
        </p:sp>
        <p:sp>
          <p:nvSpPr>
            <p:cNvPr id="24" name="node04.source-003.bullet"/>
            <p:cNvSpPr/>
            <p:nvPr/>
          </p:nvSpPr>
          <p:spPr>
            <a:xfrm>
              <a:off x="4457700" y="3708400"/>
              <a:ext cx="38100" cy="38100"/>
            </a:xfrm>
            <a:prstGeom prst="rect">
              <a:avLst/>
            </a:prstGeom>
            <a:solidFill>
              <a:srgbClr val="FFFFFF"/>
            </a:solidFill>
            <a:ln>
              <a:noFill/>
            </a:ln>
          </p:spPr>
        </p:sp>
        <p:sp>
          <p:nvSpPr>
            <p:cNvPr id="25" name="node04.source-003.text"/>
            <p:cNvSpPr/>
            <p:nvPr/>
          </p:nvSpPr>
          <p:spPr>
            <a:xfrm>
              <a:off x="4610100" y="36195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Coaching is part of each sprint</a:t>
              </a:r>
              <a:endParaRPr lang="en-US" sz="1200" spc="0" kern="0" b="0" i="0" dirty="0">
                <a:solidFill>
                  <a:srgbClr val="FFFFFF"/>
                </a:solidFill>
                <a:latin typeface="IBM Plex Sans"/>
                <a:ea typeface="IBM Plex Sans"/>
                <a:cs typeface="IBM Plex Sans"/>
              </a:endParaRPr>
            </a:p>
          </p:txBody>
        </p:sp>
      </p:grpSp>
      <p:grpSp>
        <p:nvGrpSpPr>
          <p:cNvPr id="31" name="node05"/>
          <p:cNvGrpSpPr/>
          <p:nvPr/>
        </p:nvGrpSpPr>
        <p:grpSpPr>
          <a:xfrm>
            <a:off x="8496300" y="3200400"/>
            <a:ext cx="2743200" cy="863600"/>
            <a:chOff x="8496300" y="3200400"/>
            <a:chExt cx="2743200" cy="863600"/>
          </a:xfrm>
        </p:grpSpPr>
        <p:sp>
          <p:nvSpPr>
            <p:cNvPr id="26" name="node05.text"/>
            <p:cNvSpPr/>
            <p:nvPr/>
          </p:nvSpPr>
          <p:spPr>
            <a:xfrm>
              <a:off x="8496300" y="3200400"/>
              <a:ext cx="27432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Northfield owns the platform and the roadmap. We step back to a small group on call. Handover is complete when you no longer need us.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ource-52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5188808" y="733532"/>
            <a:ext cx="469465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Agents cut our team and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Northfield's maintenance</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149</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723900" y="1600200"/>
            <a:ext cx="10744200" cy="4343400"/>
            <a:chOff x="723900" y="1600200"/>
            <a:chExt cx="10744200" cy="4343400"/>
          </a:xfrm>
        </p:grpSpPr>
        <p:sp>
          <p:nvSpPr>
            <p:cNvPr id="7" name="node01.series.source-001"/>
            <p:cNvSpPr/>
            <p:nvPr/>
          </p:nvSpPr>
          <p:spPr>
            <a:xfrm>
              <a:off x="723900" y="1600200"/>
              <a:ext cx="10744200" cy="3429000"/>
            </a:xfrm>
            <a:custGeom>
              <a:avLst/>
              <a:gdLst/>
              <a:ahLst/>
              <a:cxnLst/>
              <a:rect l="l" t="t" r="r" b="b"/>
              <a:pathLst>
                <a:path w="10744200" h="3429000">
                  <a:moveTo>
                    <a:pt x="0" y="3105786"/>
                  </a:moveTo>
                  <a:lnTo>
                    <a:pt x="44768" y="3104326"/>
                  </a:lnTo>
                  <a:lnTo>
                    <a:pt x="89535" y="3102785"/>
                  </a:lnTo>
                  <a:lnTo>
                    <a:pt x="134303" y="3101160"/>
                  </a:lnTo>
                  <a:lnTo>
                    <a:pt x="179070" y="3099453"/>
                  </a:lnTo>
                  <a:lnTo>
                    <a:pt x="223838" y="3097661"/>
                  </a:lnTo>
                  <a:lnTo>
                    <a:pt x="268605" y="3095787"/>
                  </a:lnTo>
                  <a:lnTo>
                    <a:pt x="313373" y="3093830"/>
                  </a:lnTo>
                  <a:lnTo>
                    <a:pt x="358140" y="3091792"/>
                  </a:lnTo>
                  <a:lnTo>
                    <a:pt x="402908" y="3089674"/>
                  </a:lnTo>
                  <a:lnTo>
                    <a:pt x="447675" y="3087478"/>
                  </a:lnTo>
                  <a:lnTo>
                    <a:pt x="492443" y="3085205"/>
                  </a:lnTo>
                  <a:lnTo>
                    <a:pt x="537210" y="3082858"/>
                  </a:lnTo>
                  <a:lnTo>
                    <a:pt x="581978" y="3080440"/>
                  </a:lnTo>
                  <a:lnTo>
                    <a:pt x="626745" y="3077954"/>
                  </a:lnTo>
                  <a:lnTo>
                    <a:pt x="671513" y="3075403"/>
                  </a:lnTo>
                  <a:lnTo>
                    <a:pt x="716280" y="3072791"/>
                  </a:lnTo>
                  <a:lnTo>
                    <a:pt x="761048" y="3070121"/>
                  </a:lnTo>
                  <a:lnTo>
                    <a:pt x="805815" y="3067398"/>
                  </a:lnTo>
                  <a:lnTo>
                    <a:pt x="850583" y="3064626"/>
                  </a:lnTo>
                  <a:lnTo>
                    <a:pt x="895350" y="3061809"/>
                  </a:lnTo>
                  <a:lnTo>
                    <a:pt x="940118" y="3058950"/>
                  </a:lnTo>
                  <a:lnTo>
                    <a:pt x="984885" y="3056056"/>
                  </a:lnTo>
                  <a:lnTo>
                    <a:pt x="1029653" y="3053129"/>
                  </a:lnTo>
                  <a:lnTo>
                    <a:pt x="1074420" y="3050174"/>
                  </a:lnTo>
                  <a:lnTo>
                    <a:pt x="1119188" y="3047196"/>
                  </a:lnTo>
                  <a:lnTo>
                    <a:pt x="1163955" y="3044198"/>
                  </a:lnTo>
                  <a:lnTo>
                    <a:pt x="1208723" y="3041184"/>
                  </a:lnTo>
                  <a:lnTo>
                    <a:pt x="1253490" y="3038157"/>
                  </a:lnTo>
                  <a:lnTo>
                    <a:pt x="1298258" y="3035121"/>
                  </a:lnTo>
                  <a:lnTo>
                    <a:pt x="1343025" y="3032080"/>
                  </a:lnTo>
                  <a:lnTo>
                    <a:pt x="1387793" y="3029035"/>
                  </a:lnTo>
                  <a:lnTo>
                    <a:pt x="1432560" y="3025989"/>
                  </a:lnTo>
                  <a:lnTo>
                    <a:pt x="1477328" y="3022945"/>
                  </a:lnTo>
                  <a:lnTo>
                    <a:pt x="1522095" y="3019903"/>
                  </a:lnTo>
                  <a:lnTo>
                    <a:pt x="1566863" y="3016865"/>
                  </a:lnTo>
                  <a:lnTo>
                    <a:pt x="1611630" y="3013831"/>
                  </a:lnTo>
                  <a:lnTo>
                    <a:pt x="1656398" y="3010803"/>
                  </a:lnTo>
                  <a:lnTo>
                    <a:pt x="1701165" y="3007779"/>
                  </a:lnTo>
                  <a:lnTo>
                    <a:pt x="1745932" y="3004760"/>
                  </a:lnTo>
                  <a:lnTo>
                    <a:pt x="1790700" y="3001746"/>
                  </a:lnTo>
                  <a:lnTo>
                    <a:pt x="1835468" y="2998735"/>
                  </a:lnTo>
                  <a:lnTo>
                    <a:pt x="1880235" y="2995726"/>
                  </a:lnTo>
                  <a:lnTo>
                    <a:pt x="1925002" y="2992718"/>
                  </a:lnTo>
                  <a:lnTo>
                    <a:pt x="1969770" y="2989708"/>
                  </a:lnTo>
                  <a:lnTo>
                    <a:pt x="2014538" y="2986696"/>
                  </a:lnTo>
                  <a:lnTo>
                    <a:pt x="2059305" y="2983678"/>
                  </a:lnTo>
                  <a:lnTo>
                    <a:pt x="2104073" y="2980652"/>
                  </a:lnTo>
                  <a:lnTo>
                    <a:pt x="2148840" y="2977616"/>
                  </a:lnTo>
                  <a:lnTo>
                    <a:pt x="2193608" y="2974569"/>
                  </a:lnTo>
                  <a:lnTo>
                    <a:pt x="2238375" y="2971506"/>
                  </a:lnTo>
                  <a:lnTo>
                    <a:pt x="2283143" y="2968428"/>
                  </a:lnTo>
                  <a:lnTo>
                    <a:pt x="2327910" y="2965331"/>
                  </a:lnTo>
                  <a:lnTo>
                    <a:pt x="2372678" y="2962215"/>
                  </a:lnTo>
                  <a:lnTo>
                    <a:pt x="2417445" y="2959077"/>
                  </a:lnTo>
                  <a:lnTo>
                    <a:pt x="2462213" y="2955917"/>
                  </a:lnTo>
                  <a:lnTo>
                    <a:pt x="2506980" y="2952733"/>
                  </a:lnTo>
                  <a:lnTo>
                    <a:pt x="2551748" y="2949525"/>
                  </a:lnTo>
                  <a:lnTo>
                    <a:pt x="2596515" y="2946292"/>
                  </a:lnTo>
                  <a:lnTo>
                    <a:pt x="2641283" y="2943035"/>
                  </a:lnTo>
                  <a:lnTo>
                    <a:pt x="2686050" y="2939755"/>
                  </a:lnTo>
                  <a:lnTo>
                    <a:pt x="2730818" y="2936452"/>
                  </a:lnTo>
                  <a:lnTo>
                    <a:pt x="2775585" y="2933128"/>
                  </a:lnTo>
                  <a:lnTo>
                    <a:pt x="2820353" y="2929786"/>
                  </a:lnTo>
                  <a:lnTo>
                    <a:pt x="2865120" y="2926427"/>
                  </a:lnTo>
                  <a:lnTo>
                    <a:pt x="2909887" y="2923055"/>
                  </a:lnTo>
                  <a:lnTo>
                    <a:pt x="2954655" y="2919672"/>
                  </a:lnTo>
                  <a:lnTo>
                    <a:pt x="2999423" y="2916283"/>
                  </a:lnTo>
                  <a:lnTo>
                    <a:pt x="3044190" y="2912890"/>
                  </a:lnTo>
                  <a:lnTo>
                    <a:pt x="3088958" y="2909499"/>
                  </a:lnTo>
                  <a:lnTo>
                    <a:pt x="3133725" y="2906114"/>
                  </a:lnTo>
                  <a:lnTo>
                    <a:pt x="3178493" y="2902740"/>
                  </a:lnTo>
                  <a:lnTo>
                    <a:pt x="3223260" y="2899381"/>
                  </a:lnTo>
                  <a:lnTo>
                    <a:pt x="3268028" y="2896044"/>
                  </a:lnTo>
                  <a:lnTo>
                    <a:pt x="3312795" y="2892734"/>
                  </a:lnTo>
                  <a:lnTo>
                    <a:pt x="3357563" y="2889455"/>
                  </a:lnTo>
                  <a:lnTo>
                    <a:pt x="3402330" y="2886214"/>
                  </a:lnTo>
                  <a:lnTo>
                    <a:pt x="3447098" y="2883016"/>
                  </a:lnTo>
                  <a:lnTo>
                    <a:pt x="3491865" y="2879866"/>
                  </a:lnTo>
                  <a:lnTo>
                    <a:pt x="3536633" y="2876769"/>
                  </a:lnTo>
                  <a:lnTo>
                    <a:pt x="3581400" y="2873731"/>
                  </a:lnTo>
                  <a:lnTo>
                    <a:pt x="3626168" y="2870757"/>
                  </a:lnTo>
                  <a:lnTo>
                    <a:pt x="3670935" y="2867851"/>
                  </a:lnTo>
                  <a:lnTo>
                    <a:pt x="3715703" y="2865017"/>
                  </a:lnTo>
                  <a:lnTo>
                    <a:pt x="3760470" y="2862260"/>
                  </a:lnTo>
                  <a:lnTo>
                    <a:pt x="3805237" y="2859583"/>
                  </a:lnTo>
                  <a:lnTo>
                    <a:pt x="3850005" y="2856989"/>
                  </a:lnTo>
                  <a:lnTo>
                    <a:pt x="3894773" y="2854482"/>
                  </a:lnTo>
                  <a:lnTo>
                    <a:pt x="3939540" y="2852064"/>
                  </a:lnTo>
                  <a:lnTo>
                    <a:pt x="3984308" y="2849737"/>
                  </a:lnTo>
                  <a:lnTo>
                    <a:pt x="4029075" y="2847504"/>
                  </a:lnTo>
                  <a:lnTo>
                    <a:pt x="4073843" y="2845365"/>
                  </a:lnTo>
                  <a:lnTo>
                    <a:pt x="4118610" y="2843321"/>
                  </a:lnTo>
                  <a:lnTo>
                    <a:pt x="4163377" y="2841372"/>
                  </a:lnTo>
                  <a:lnTo>
                    <a:pt x="4208145" y="2839518"/>
                  </a:lnTo>
                  <a:lnTo>
                    <a:pt x="4252913" y="2837759"/>
                  </a:lnTo>
                  <a:lnTo>
                    <a:pt x="4297680" y="2836095"/>
                  </a:lnTo>
                  <a:lnTo>
                    <a:pt x="4342448" y="2834523"/>
                  </a:lnTo>
                  <a:lnTo>
                    <a:pt x="4387215" y="2833044"/>
                  </a:lnTo>
                  <a:lnTo>
                    <a:pt x="4431983" y="2831654"/>
                  </a:lnTo>
                  <a:lnTo>
                    <a:pt x="4476750" y="2830352"/>
                  </a:lnTo>
                  <a:lnTo>
                    <a:pt x="4521518" y="2829136"/>
                  </a:lnTo>
                  <a:lnTo>
                    <a:pt x="4566285" y="2828004"/>
                  </a:lnTo>
                  <a:lnTo>
                    <a:pt x="4611053" y="2826953"/>
                  </a:lnTo>
                  <a:lnTo>
                    <a:pt x="4655820" y="2825980"/>
                  </a:lnTo>
                  <a:lnTo>
                    <a:pt x="4700588" y="2825082"/>
                  </a:lnTo>
                  <a:lnTo>
                    <a:pt x="4745355" y="2824257"/>
                  </a:lnTo>
                  <a:lnTo>
                    <a:pt x="4790123" y="2823501"/>
                  </a:lnTo>
                  <a:lnTo>
                    <a:pt x="4834890" y="2822810"/>
                  </a:lnTo>
                  <a:lnTo>
                    <a:pt x="4879658" y="2822183"/>
                  </a:lnTo>
                  <a:lnTo>
                    <a:pt x="4924425" y="2821615"/>
                  </a:lnTo>
                  <a:lnTo>
                    <a:pt x="4969193" y="2821105"/>
                  </a:lnTo>
                  <a:lnTo>
                    <a:pt x="5013960" y="2820649"/>
                  </a:lnTo>
                  <a:lnTo>
                    <a:pt x="5058728" y="2820245"/>
                  </a:lnTo>
                  <a:lnTo>
                    <a:pt x="5103495" y="2819890"/>
                  </a:lnTo>
                  <a:lnTo>
                    <a:pt x="5148263" y="2819582"/>
                  </a:lnTo>
                  <a:lnTo>
                    <a:pt x="5193030" y="2819319"/>
                  </a:lnTo>
                  <a:lnTo>
                    <a:pt x="5237798" y="2819098"/>
                  </a:lnTo>
                  <a:lnTo>
                    <a:pt x="5282565" y="2818917"/>
                  </a:lnTo>
                  <a:lnTo>
                    <a:pt x="5327333" y="2818776"/>
                  </a:lnTo>
                  <a:lnTo>
                    <a:pt x="5372100" y="2818672"/>
                  </a:lnTo>
                  <a:lnTo>
                    <a:pt x="5416868" y="2818605"/>
                  </a:lnTo>
                  <a:lnTo>
                    <a:pt x="5461635" y="2818573"/>
                  </a:lnTo>
                  <a:lnTo>
                    <a:pt x="5506403" y="2818576"/>
                  </a:lnTo>
                  <a:lnTo>
                    <a:pt x="5551170" y="2818614"/>
                  </a:lnTo>
                  <a:lnTo>
                    <a:pt x="5595938" y="2818685"/>
                  </a:lnTo>
                  <a:lnTo>
                    <a:pt x="5640705" y="2818791"/>
                  </a:lnTo>
                  <a:lnTo>
                    <a:pt x="5685473" y="2818930"/>
                  </a:lnTo>
                  <a:lnTo>
                    <a:pt x="5730240" y="2819105"/>
                  </a:lnTo>
                  <a:lnTo>
                    <a:pt x="5775008" y="2819314"/>
                  </a:lnTo>
                  <a:lnTo>
                    <a:pt x="5819775" y="2819559"/>
                  </a:lnTo>
                  <a:lnTo>
                    <a:pt x="5864543" y="2819841"/>
                  </a:lnTo>
                  <a:lnTo>
                    <a:pt x="5909310" y="2820160"/>
                  </a:lnTo>
                  <a:lnTo>
                    <a:pt x="5954078" y="2820517"/>
                  </a:lnTo>
                  <a:lnTo>
                    <a:pt x="5998845" y="2820914"/>
                  </a:lnTo>
                  <a:lnTo>
                    <a:pt x="6043613" y="2821352"/>
                  </a:lnTo>
                  <a:lnTo>
                    <a:pt x="6088380" y="2821832"/>
                  </a:lnTo>
                  <a:lnTo>
                    <a:pt x="6133148" y="2822355"/>
                  </a:lnTo>
                  <a:lnTo>
                    <a:pt x="6177915" y="2822924"/>
                  </a:lnTo>
                  <a:lnTo>
                    <a:pt x="6222683" y="2823539"/>
                  </a:lnTo>
                  <a:lnTo>
                    <a:pt x="6267450" y="2824202"/>
                  </a:lnTo>
                  <a:lnTo>
                    <a:pt x="6312218" y="2824914"/>
                  </a:lnTo>
                  <a:lnTo>
                    <a:pt x="6356985" y="2825676"/>
                  </a:lnTo>
                  <a:lnTo>
                    <a:pt x="6401753" y="2826489"/>
                  </a:lnTo>
                  <a:lnTo>
                    <a:pt x="6446520" y="2827354"/>
                  </a:lnTo>
                  <a:lnTo>
                    <a:pt x="6491287" y="2828272"/>
                  </a:lnTo>
                  <a:lnTo>
                    <a:pt x="6536055" y="2829243"/>
                  </a:lnTo>
                  <a:lnTo>
                    <a:pt x="6580823" y="2830270"/>
                  </a:lnTo>
                  <a:lnTo>
                    <a:pt x="6625590" y="2831351"/>
                  </a:lnTo>
                  <a:lnTo>
                    <a:pt x="6670358" y="2832487"/>
                  </a:lnTo>
                  <a:lnTo>
                    <a:pt x="6715125" y="2833680"/>
                  </a:lnTo>
                  <a:lnTo>
                    <a:pt x="6759893" y="2834929"/>
                  </a:lnTo>
                  <a:lnTo>
                    <a:pt x="6804660" y="2836235"/>
                  </a:lnTo>
                  <a:lnTo>
                    <a:pt x="6849427" y="2837595"/>
                  </a:lnTo>
                  <a:lnTo>
                    <a:pt x="6894195" y="2839011"/>
                  </a:lnTo>
                  <a:lnTo>
                    <a:pt x="6938963" y="2840481"/>
                  </a:lnTo>
                  <a:lnTo>
                    <a:pt x="6983730" y="2842004"/>
                  </a:lnTo>
                  <a:lnTo>
                    <a:pt x="7028497" y="2843580"/>
                  </a:lnTo>
                  <a:lnTo>
                    <a:pt x="7073265" y="2845206"/>
                  </a:lnTo>
                  <a:lnTo>
                    <a:pt x="7118033" y="2846882"/>
                  </a:lnTo>
                  <a:lnTo>
                    <a:pt x="7162800" y="2848606"/>
                  </a:lnTo>
                  <a:lnTo>
                    <a:pt x="7207568" y="2850376"/>
                  </a:lnTo>
                  <a:lnTo>
                    <a:pt x="7252335" y="2852192"/>
                  </a:lnTo>
                  <a:lnTo>
                    <a:pt x="7297103" y="2854050"/>
                  </a:lnTo>
                  <a:lnTo>
                    <a:pt x="7341870" y="2855950"/>
                  </a:lnTo>
                  <a:lnTo>
                    <a:pt x="7386638" y="2857889"/>
                  </a:lnTo>
                  <a:lnTo>
                    <a:pt x="7431405" y="2859865"/>
                  </a:lnTo>
                  <a:lnTo>
                    <a:pt x="7476173" y="2861877"/>
                  </a:lnTo>
                  <a:lnTo>
                    <a:pt x="7520940" y="2863923"/>
                  </a:lnTo>
                  <a:lnTo>
                    <a:pt x="7565708" y="2866000"/>
                  </a:lnTo>
                  <a:lnTo>
                    <a:pt x="7610475" y="2868108"/>
                  </a:lnTo>
                  <a:lnTo>
                    <a:pt x="7655242" y="2870244"/>
                  </a:lnTo>
                  <a:lnTo>
                    <a:pt x="7700010" y="2872408"/>
                  </a:lnTo>
                  <a:lnTo>
                    <a:pt x="7744778" y="2874598"/>
                  </a:lnTo>
                  <a:lnTo>
                    <a:pt x="7789545" y="2876814"/>
                  </a:lnTo>
                  <a:lnTo>
                    <a:pt x="7834313" y="2879055"/>
                  </a:lnTo>
                  <a:lnTo>
                    <a:pt x="7879080" y="2881321"/>
                  </a:lnTo>
                  <a:lnTo>
                    <a:pt x="7923848" y="2883612"/>
                  </a:lnTo>
                  <a:lnTo>
                    <a:pt x="7968615" y="2885928"/>
                  </a:lnTo>
                  <a:lnTo>
                    <a:pt x="8013383" y="2888269"/>
                  </a:lnTo>
                  <a:lnTo>
                    <a:pt x="8058150" y="2890637"/>
                  </a:lnTo>
                  <a:lnTo>
                    <a:pt x="8102918" y="2893032"/>
                  </a:lnTo>
                  <a:lnTo>
                    <a:pt x="8147685" y="2895456"/>
                  </a:lnTo>
                  <a:lnTo>
                    <a:pt x="8192453" y="2897910"/>
                  </a:lnTo>
                  <a:lnTo>
                    <a:pt x="8237220" y="2900397"/>
                  </a:lnTo>
                  <a:lnTo>
                    <a:pt x="8281987" y="2902919"/>
                  </a:lnTo>
                  <a:lnTo>
                    <a:pt x="8326755" y="2905479"/>
                  </a:lnTo>
                  <a:lnTo>
                    <a:pt x="8371522" y="2908079"/>
                  </a:lnTo>
                  <a:lnTo>
                    <a:pt x="8416290" y="2910723"/>
                  </a:lnTo>
                  <a:lnTo>
                    <a:pt x="8461058" y="2913413"/>
                  </a:lnTo>
                  <a:lnTo>
                    <a:pt x="8505825" y="2916152"/>
                  </a:lnTo>
                  <a:lnTo>
                    <a:pt x="8550593" y="2918944"/>
                  </a:lnTo>
                  <a:lnTo>
                    <a:pt x="8595360" y="2921791"/>
                  </a:lnTo>
                  <a:lnTo>
                    <a:pt x="8640128" y="2924696"/>
                  </a:lnTo>
                  <a:lnTo>
                    <a:pt x="8684895" y="2927663"/>
                  </a:lnTo>
                  <a:lnTo>
                    <a:pt x="8729663" y="2930694"/>
                  </a:lnTo>
                  <a:lnTo>
                    <a:pt x="8774430" y="2933792"/>
                  </a:lnTo>
                  <a:lnTo>
                    <a:pt x="8819198" y="2936958"/>
                  </a:lnTo>
                  <a:lnTo>
                    <a:pt x="8863965" y="2940196"/>
                  </a:lnTo>
                  <a:lnTo>
                    <a:pt x="8908733" y="2943505"/>
                  </a:lnTo>
                  <a:lnTo>
                    <a:pt x="8953500" y="2946888"/>
                  </a:lnTo>
                  <a:lnTo>
                    <a:pt x="8998268" y="2950345"/>
                  </a:lnTo>
                  <a:lnTo>
                    <a:pt x="9043035" y="2953876"/>
                  </a:lnTo>
                  <a:lnTo>
                    <a:pt x="9087803" y="2957480"/>
                  </a:lnTo>
                  <a:lnTo>
                    <a:pt x="9132570" y="2961155"/>
                  </a:lnTo>
                  <a:lnTo>
                    <a:pt x="9177338" y="2964902"/>
                  </a:lnTo>
                  <a:lnTo>
                    <a:pt x="9222105" y="2968716"/>
                  </a:lnTo>
                  <a:lnTo>
                    <a:pt x="9266873" y="2972595"/>
                  </a:lnTo>
                  <a:lnTo>
                    <a:pt x="9311640" y="2976536"/>
                  </a:lnTo>
                  <a:lnTo>
                    <a:pt x="9356408" y="2980534"/>
                  </a:lnTo>
                  <a:lnTo>
                    <a:pt x="9401175" y="2984585"/>
                  </a:lnTo>
                  <a:lnTo>
                    <a:pt x="9445943" y="2988682"/>
                  </a:lnTo>
                  <a:lnTo>
                    <a:pt x="9490710" y="2992821"/>
                  </a:lnTo>
                  <a:lnTo>
                    <a:pt x="9535478" y="2996993"/>
                  </a:lnTo>
                  <a:lnTo>
                    <a:pt x="9580245" y="3001194"/>
                  </a:lnTo>
                  <a:lnTo>
                    <a:pt x="9625013" y="3005414"/>
                  </a:lnTo>
                  <a:lnTo>
                    <a:pt x="9669780" y="3009646"/>
                  </a:lnTo>
                  <a:lnTo>
                    <a:pt x="9714548" y="3013883"/>
                  </a:lnTo>
                  <a:lnTo>
                    <a:pt x="9759315" y="3018116"/>
                  </a:lnTo>
                  <a:lnTo>
                    <a:pt x="9804083" y="3022336"/>
                  </a:lnTo>
                  <a:lnTo>
                    <a:pt x="9848850" y="3026535"/>
                  </a:lnTo>
                  <a:lnTo>
                    <a:pt x="9893618" y="3030704"/>
                  </a:lnTo>
                  <a:lnTo>
                    <a:pt x="9938385" y="3034835"/>
                  </a:lnTo>
                  <a:lnTo>
                    <a:pt x="9983153" y="3038918"/>
                  </a:lnTo>
                  <a:lnTo>
                    <a:pt x="10027920" y="3042947"/>
                  </a:lnTo>
                  <a:lnTo>
                    <a:pt x="10072688" y="3046912"/>
                  </a:lnTo>
                  <a:lnTo>
                    <a:pt x="10117455" y="3050806"/>
                  </a:lnTo>
                  <a:lnTo>
                    <a:pt x="10162223" y="3054622"/>
                  </a:lnTo>
                  <a:lnTo>
                    <a:pt x="10206990" y="3058352"/>
                  </a:lnTo>
                  <a:lnTo>
                    <a:pt x="10251758" y="3061990"/>
                  </a:lnTo>
                  <a:lnTo>
                    <a:pt x="10296525" y="3065530"/>
                  </a:lnTo>
                  <a:lnTo>
                    <a:pt x="10341293" y="3068966"/>
                  </a:lnTo>
                  <a:lnTo>
                    <a:pt x="10386060" y="3072293"/>
                  </a:lnTo>
                  <a:lnTo>
                    <a:pt x="10430828" y="3075508"/>
                  </a:lnTo>
                  <a:lnTo>
                    <a:pt x="10475595" y="3078607"/>
                  </a:lnTo>
                  <a:lnTo>
                    <a:pt x="10520363" y="3081586"/>
                  </a:lnTo>
                  <a:lnTo>
                    <a:pt x="10565130" y="3084443"/>
                  </a:lnTo>
                  <a:lnTo>
                    <a:pt x="10609898" y="3087176"/>
                  </a:lnTo>
                  <a:lnTo>
                    <a:pt x="10654665" y="3089785"/>
                  </a:lnTo>
                  <a:lnTo>
                    <a:pt x="10699433" y="3092268"/>
                  </a:lnTo>
                  <a:lnTo>
                    <a:pt x="10744200" y="3094626"/>
                  </a:lnTo>
                  <a:lnTo>
                    <a:pt x="10744200" y="3429000"/>
                  </a:lnTo>
                  <a:lnTo>
                    <a:pt x="10699433" y="3429000"/>
                  </a:lnTo>
                  <a:lnTo>
                    <a:pt x="10654665" y="3429000"/>
                  </a:lnTo>
                  <a:lnTo>
                    <a:pt x="10609898" y="3429000"/>
                  </a:lnTo>
                  <a:lnTo>
                    <a:pt x="10565130" y="3429000"/>
                  </a:lnTo>
                  <a:lnTo>
                    <a:pt x="10520363" y="3429000"/>
                  </a:lnTo>
                  <a:lnTo>
                    <a:pt x="10475595" y="3429000"/>
                  </a:lnTo>
                  <a:lnTo>
                    <a:pt x="10430828" y="3429000"/>
                  </a:lnTo>
                  <a:lnTo>
                    <a:pt x="10386060" y="3429000"/>
                  </a:lnTo>
                  <a:lnTo>
                    <a:pt x="10341293" y="3429000"/>
                  </a:lnTo>
                  <a:lnTo>
                    <a:pt x="10296525" y="3429000"/>
                  </a:lnTo>
                  <a:lnTo>
                    <a:pt x="10251758" y="3429000"/>
                  </a:lnTo>
                  <a:lnTo>
                    <a:pt x="10206990" y="3429000"/>
                  </a:lnTo>
                  <a:lnTo>
                    <a:pt x="10162223" y="3429000"/>
                  </a:lnTo>
                  <a:lnTo>
                    <a:pt x="10117455" y="3429000"/>
                  </a:lnTo>
                  <a:lnTo>
                    <a:pt x="10072688" y="3429000"/>
                  </a:lnTo>
                  <a:lnTo>
                    <a:pt x="10027920" y="3429000"/>
                  </a:lnTo>
                  <a:lnTo>
                    <a:pt x="9983153" y="3429000"/>
                  </a:lnTo>
                  <a:lnTo>
                    <a:pt x="9938385" y="3429000"/>
                  </a:lnTo>
                  <a:lnTo>
                    <a:pt x="9893618" y="3429000"/>
                  </a:lnTo>
                  <a:lnTo>
                    <a:pt x="9848850" y="3429000"/>
                  </a:lnTo>
                  <a:lnTo>
                    <a:pt x="9804083" y="3429000"/>
                  </a:lnTo>
                  <a:lnTo>
                    <a:pt x="9759315" y="3429000"/>
                  </a:lnTo>
                  <a:lnTo>
                    <a:pt x="9714548" y="3429000"/>
                  </a:lnTo>
                  <a:lnTo>
                    <a:pt x="9669780" y="3429000"/>
                  </a:lnTo>
                  <a:lnTo>
                    <a:pt x="9625013" y="3429000"/>
                  </a:lnTo>
                  <a:lnTo>
                    <a:pt x="9580245" y="3429000"/>
                  </a:lnTo>
                  <a:lnTo>
                    <a:pt x="9535478" y="3429000"/>
                  </a:lnTo>
                  <a:lnTo>
                    <a:pt x="9490710" y="3429000"/>
                  </a:lnTo>
                  <a:lnTo>
                    <a:pt x="9445943" y="3429000"/>
                  </a:lnTo>
                  <a:lnTo>
                    <a:pt x="9401175" y="3429000"/>
                  </a:lnTo>
                  <a:lnTo>
                    <a:pt x="9356408" y="3429000"/>
                  </a:lnTo>
                  <a:lnTo>
                    <a:pt x="9311640" y="3429000"/>
                  </a:lnTo>
                  <a:lnTo>
                    <a:pt x="9266873" y="3429000"/>
                  </a:lnTo>
                  <a:lnTo>
                    <a:pt x="9222105" y="3429000"/>
                  </a:lnTo>
                  <a:lnTo>
                    <a:pt x="9177338" y="3429000"/>
                  </a:lnTo>
                  <a:lnTo>
                    <a:pt x="9132570" y="3429000"/>
                  </a:lnTo>
                  <a:lnTo>
                    <a:pt x="9087803" y="3429000"/>
                  </a:lnTo>
                  <a:lnTo>
                    <a:pt x="9043035" y="3429000"/>
                  </a:lnTo>
                  <a:lnTo>
                    <a:pt x="8998268" y="3429000"/>
                  </a:lnTo>
                  <a:lnTo>
                    <a:pt x="8953500" y="3429000"/>
                  </a:lnTo>
                  <a:lnTo>
                    <a:pt x="8908733" y="3429000"/>
                  </a:lnTo>
                  <a:lnTo>
                    <a:pt x="8863965" y="3429000"/>
                  </a:lnTo>
                  <a:lnTo>
                    <a:pt x="8819198" y="3429000"/>
                  </a:lnTo>
                  <a:lnTo>
                    <a:pt x="8774430" y="3429000"/>
                  </a:lnTo>
                  <a:lnTo>
                    <a:pt x="8729663" y="3429000"/>
                  </a:lnTo>
                  <a:lnTo>
                    <a:pt x="8684895" y="3429000"/>
                  </a:lnTo>
                  <a:lnTo>
                    <a:pt x="8640128" y="3429000"/>
                  </a:lnTo>
                  <a:lnTo>
                    <a:pt x="8595360" y="3429000"/>
                  </a:lnTo>
                  <a:lnTo>
                    <a:pt x="8550593" y="3429000"/>
                  </a:lnTo>
                  <a:lnTo>
                    <a:pt x="8505825" y="3429000"/>
                  </a:lnTo>
                  <a:lnTo>
                    <a:pt x="8461058" y="3429000"/>
                  </a:lnTo>
                  <a:lnTo>
                    <a:pt x="8416290" y="3429000"/>
                  </a:lnTo>
                  <a:lnTo>
                    <a:pt x="8371522" y="3429000"/>
                  </a:lnTo>
                  <a:lnTo>
                    <a:pt x="8326755" y="3429000"/>
                  </a:lnTo>
                  <a:lnTo>
                    <a:pt x="8281987" y="3429000"/>
                  </a:lnTo>
                  <a:lnTo>
                    <a:pt x="8237220" y="3429000"/>
                  </a:lnTo>
                  <a:lnTo>
                    <a:pt x="8192453" y="3429000"/>
                  </a:lnTo>
                  <a:lnTo>
                    <a:pt x="8147685" y="3429000"/>
                  </a:lnTo>
                  <a:lnTo>
                    <a:pt x="8102918" y="3429000"/>
                  </a:lnTo>
                  <a:lnTo>
                    <a:pt x="8058150" y="3429000"/>
                  </a:lnTo>
                  <a:lnTo>
                    <a:pt x="8013383" y="3429000"/>
                  </a:lnTo>
                  <a:lnTo>
                    <a:pt x="7968615" y="3429000"/>
                  </a:lnTo>
                  <a:lnTo>
                    <a:pt x="7923848" y="3429000"/>
                  </a:lnTo>
                  <a:lnTo>
                    <a:pt x="7879080" y="3429000"/>
                  </a:lnTo>
                  <a:lnTo>
                    <a:pt x="7834313" y="3429000"/>
                  </a:lnTo>
                  <a:lnTo>
                    <a:pt x="7789545" y="3429000"/>
                  </a:lnTo>
                  <a:lnTo>
                    <a:pt x="7744778" y="3429000"/>
                  </a:lnTo>
                  <a:lnTo>
                    <a:pt x="7700010" y="3429000"/>
                  </a:lnTo>
                  <a:lnTo>
                    <a:pt x="7655242" y="3429000"/>
                  </a:lnTo>
                  <a:lnTo>
                    <a:pt x="7610475" y="3429000"/>
                  </a:lnTo>
                  <a:lnTo>
                    <a:pt x="7565708" y="3429000"/>
                  </a:lnTo>
                  <a:lnTo>
                    <a:pt x="7520940" y="3429000"/>
                  </a:lnTo>
                  <a:lnTo>
                    <a:pt x="7476173" y="3429000"/>
                  </a:lnTo>
                  <a:lnTo>
                    <a:pt x="7431405" y="3429000"/>
                  </a:lnTo>
                  <a:lnTo>
                    <a:pt x="7386638" y="3429000"/>
                  </a:lnTo>
                  <a:lnTo>
                    <a:pt x="7341870" y="3429000"/>
                  </a:lnTo>
                  <a:lnTo>
                    <a:pt x="7297103" y="3429000"/>
                  </a:lnTo>
                  <a:lnTo>
                    <a:pt x="7252335" y="3429000"/>
                  </a:lnTo>
                  <a:lnTo>
                    <a:pt x="7207568" y="3429000"/>
                  </a:lnTo>
                  <a:lnTo>
                    <a:pt x="7162800" y="3429000"/>
                  </a:lnTo>
                  <a:lnTo>
                    <a:pt x="7118033" y="3429000"/>
                  </a:lnTo>
                  <a:lnTo>
                    <a:pt x="7073265" y="3429000"/>
                  </a:lnTo>
                  <a:lnTo>
                    <a:pt x="7028497" y="3429000"/>
                  </a:lnTo>
                  <a:lnTo>
                    <a:pt x="6983730" y="3429000"/>
                  </a:lnTo>
                  <a:lnTo>
                    <a:pt x="6938963" y="3429000"/>
                  </a:lnTo>
                  <a:lnTo>
                    <a:pt x="6894195" y="3429000"/>
                  </a:lnTo>
                  <a:lnTo>
                    <a:pt x="6849427" y="3429000"/>
                  </a:lnTo>
                  <a:lnTo>
                    <a:pt x="6804660" y="3429000"/>
                  </a:lnTo>
                  <a:lnTo>
                    <a:pt x="6759893" y="3429000"/>
                  </a:lnTo>
                  <a:lnTo>
                    <a:pt x="6715125" y="3429000"/>
                  </a:lnTo>
                  <a:lnTo>
                    <a:pt x="6670358" y="3429000"/>
                  </a:lnTo>
                  <a:lnTo>
                    <a:pt x="6625590" y="3429000"/>
                  </a:lnTo>
                  <a:lnTo>
                    <a:pt x="6580823" y="3429000"/>
                  </a:lnTo>
                  <a:lnTo>
                    <a:pt x="6536055" y="3429000"/>
                  </a:lnTo>
                  <a:lnTo>
                    <a:pt x="6491287" y="3429000"/>
                  </a:lnTo>
                  <a:lnTo>
                    <a:pt x="6446520" y="3429000"/>
                  </a:lnTo>
                  <a:lnTo>
                    <a:pt x="6401753" y="3429000"/>
                  </a:lnTo>
                  <a:lnTo>
                    <a:pt x="6356985" y="3429000"/>
                  </a:lnTo>
                  <a:lnTo>
                    <a:pt x="6312218" y="3429000"/>
                  </a:lnTo>
                  <a:lnTo>
                    <a:pt x="6267450" y="3429000"/>
                  </a:lnTo>
                  <a:lnTo>
                    <a:pt x="6222683" y="3429000"/>
                  </a:lnTo>
                  <a:lnTo>
                    <a:pt x="6177915" y="3429000"/>
                  </a:lnTo>
                  <a:lnTo>
                    <a:pt x="6133148" y="3429000"/>
                  </a:lnTo>
                  <a:lnTo>
                    <a:pt x="6088380" y="3429000"/>
                  </a:lnTo>
                  <a:lnTo>
                    <a:pt x="6043613" y="3429000"/>
                  </a:lnTo>
                  <a:lnTo>
                    <a:pt x="5998845" y="3429000"/>
                  </a:lnTo>
                  <a:lnTo>
                    <a:pt x="5954078" y="3429000"/>
                  </a:lnTo>
                  <a:lnTo>
                    <a:pt x="5909310" y="3429000"/>
                  </a:lnTo>
                  <a:lnTo>
                    <a:pt x="5864543" y="3429000"/>
                  </a:lnTo>
                  <a:lnTo>
                    <a:pt x="5819775" y="3429000"/>
                  </a:lnTo>
                  <a:lnTo>
                    <a:pt x="5775008" y="3429000"/>
                  </a:lnTo>
                  <a:lnTo>
                    <a:pt x="5730240" y="3429000"/>
                  </a:lnTo>
                  <a:lnTo>
                    <a:pt x="5685473" y="3429000"/>
                  </a:lnTo>
                  <a:lnTo>
                    <a:pt x="5640705" y="3429000"/>
                  </a:lnTo>
                  <a:lnTo>
                    <a:pt x="5595938" y="3429000"/>
                  </a:lnTo>
                  <a:lnTo>
                    <a:pt x="5551170" y="3429000"/>
                  </a:lnTo>
                  <a:lnTo>
                    <a:pt x="5506403" y="3429000"/>
                  </a:lnTo>
                  <a:lnTo>
                    <a:pt x="5461635" y="3429000"/>
                  </a:lnTo>
                  <a:lnTo>
                    <a:pt x="5416868" y="3429000"/>
                  </a:lnTo>
                  <a:lnTo>
                    <a:pt x="5372100" y="3429000"/>
                  </a:lnTo>
                  <a:lnTo>
                    <a:pt x="5327333" y="3429000"/>
                  </a:lnTo>
                  <a:lnTo>
                    <a:pt x="5282565" y="3429000"/>
                  </a:lnTo>
                  <a:lnTo>
                    <a:pt x="5237798" y="3429000"/>
                  </a:lnTo>
                  <a:lnTo>
                    <a:pt x="5193030" y="3429000"/>
                  </a:lnTo>
                  <a:lnTo>
                    <a:pt x="5148263" y="3429000"/>
                  </a:lnTo>
                  <a:lnTo>
                    <a:pt x="5103495" y="3429000"/>
                  </a:lnTo>
                  <a:lnTo>
                    <a:pt x="5058728" y="3429000"/>
                  </a:lnTo>
                  <a:lnTo>
                    <a:pt x="5013960" y="3429000"/>
                  </a:lnTo>
                  <a:lnTo>
                    <a:pt x="4969193" y="3429000"/>
                  </a:lnTo>
                  <a:lnTo>
                    <a:pt x="4924425" y="3429000"/>
                  </a:lnTo>
                  <a:lnTo>
                    <a:pt x="4879658" y="3429000"/>
                  </a:lnTo>
                  <a:lnTo>
                    <a:pt x="4834890" y="3429000"/>
                  </a:lnTo>
                  <a:lnTo>
                    <a:pt x="4790123" y="3429000"/>
                  </a:lnTo>
                  <a:lnTo>
                    <a:pt x="4745355" y="3429000"/>
                  </a:lnTo>
                  <a:lnTo>
                    <a:pt x="4700588" y="3429000"/>
                  </a:lnTo>
                  <a:lnTo>
                    <a:pt x="4655820" y="3429000"/>
                  </a:lnTo>
                  <a:lnTo>
                    <a:pt x="4611053" y="3429000"/>
                  </a:lnTo>
                  <a:lnTo>
                    <a:pt x="4566285" y="3429000"/>
                  </a:lnTo>
                  <a:lnTo>
                    <a:pt x="4521518" y="3429000"/>
                  </a:lnTo>
                  <a:lnTo>
                    <a:pt x="4476750" y="3429000"/>
                  </a:lnTo>
                  <a:lnTo>
                    <a:pt x="4431983" y="3429000"/>
                  </a:lnTo>
                  <a:lnTo>
                    <a:pt x="4387215" y="3429000"/>
                  </a:lnTo>
                  <a:lnTo>
                    <a:pt x="4342448" y="3429000"/>
                  </a:lnTo>
                  <a:lnTo>
                    <a:pt x="4297680" y="3429000"/>
                  </a:lnTo>
                  <a:lnTo>
                    <a:pt x="4252913" y="3429000"/>
                  </a:lnTo>
                  <a:lnTo>
                    <a:pt x="4208145" y="3429000"/>
                  </a:lnTo>
                  <a:lnTo>
                    <a:pt x="4163377" y="3429000"/>
                  </a:lnTo>
                  <a:lnTo>
                    <a:pt x="4118610" y="3429000"/>
                  </a:lnTo>
                  <a:lnTo>
                    <a:pt x="4073843" y="3429000"/>
                  </a:lnTo>
                  <a:lnTo>
                    <a:pt x="4029075" y="3429000"/>
                  </a:lnTo>
                  <a:lnTo>
                    <a:pt x="3984308" y="3429000"/>
                  </a:lnTo>
                  <a:lnTo>
                    <a:pt x="3939540" y="3429000"/>
                  </a:lnTo>
                  <a:lnTo>
                    <a:pt x="3894773" y="3429000"/>
                  </a:lnTo>
                  <a:lnTo>
                    <a:pt x="3850005" y="3429000"/>
                  </a:lnTo>
                  <a:lnTo>
                    <a:pt x="3805237" y="3429000"/>
                  </a:lnTo>
                  <a:lnTo>
                    <a:pt x="3760470" y="3429000"/>
                  </a:lnTo>
                  <a:lnTo>
                    <a:pt x="3715703" y="3429000"/>
                  </a:lnTo>
                  <a:lnTo>
                    <a:pt x="3670935" y="3429000"/>
                  </a:lnTo>
                  <a:lnTo>
                    <a:pt x="3626168" y="3429000"/>
                  </a:lnTo>
                  <a:lnTo>
                    <a:pt x="3581400" y="3429000"/>
                  </a:lnTo>
                  <a:lnTo>
                    <a:pt x="3536633" y="3429000"/>
                  </a:lnTo>
                  <a:lnTo>
                    <a:pt x="3491865" y="3429000"/>
                  </a:lnTo>
                  <a:lnTo>
                    <a:pt x="3447098" y="3429000"/>
                  </a:lnTo>
                  <a:lnTo>
                    <a:pt x="3402330" y="3429000"/>
                  </a:lnTo>
                  <a:lnTo>
                    <a:pt x="3357563" y="3429000"/>
                  </a:lnTo>
                  <a:lnTo>
                    <a:pt x="3312795" y="3429000"/>
                  </a:lnTo>
                  <a:lnTo>
                    <a:pt x="3268028" y="3429000"/>
                  </a:lnTo>
                  <a:lnTo>
                    <a:pt x="3223260" y="3429000"/>
                  </a:lnTo>
                  <a:lnTo>
                    <a:pt x="3178493" y="3429000"/>
                  </a:lnTo>
                  <a:lnTo>
                    <a:pt x="3133725" y="3429000"/>
                  </a:lnTo>
                  <a:lnTo>
                    <a:pt x="3088958" y="3429000"/>
                  </a:lnTo>
                  <a:lnTo>
                    <a:pt x="3044190" y="3429000"/>
                  </a:lnTo>
                  <a:lnTo>
                    <a:pt x="2999423" y="3429000"/>
                  </a:lnTo>
                  <a:lnTo>
                    <a:pt x="2954655" y="3429000"/>
                  </a:lnTo>
                  <a:lnTo>
                    <a:pt x="2909887" y="3429000"/>
                  </a:lnTo>
                  <a:lnTo>
                    <a:pt x="2865120" y="3429000"/>
                  </a:lnTo>
                  <a:lnTo>
                    <a:pt x="2820353" y="3429000"/>
                  </a:lnTo>
                  <a:lnTo>
                    <a:pt x="2775585" y="3429000"/>
                  </a:lnTo>
                  <a:lnTo>
                    <a:pt x="2730818" y="3429000"/>
                  </a:lnTo>
                  <a:lnTo>
                    <a:pt x="2686050" y="3429000"/>
                  </a:lnTo>
                  <a:lnTo>
                    <a:pt x="2641283" y="3429000"/>
                  </a:lnTo>
                  <a:lnTo>
                    <a:pt x="2596515" y="3429000"/>
                  </a:lnTo>
                  <a:lnTo>
                    <a:pt x="2551748" y="3429000"/>
                  </a:lnTo>
                  <a:lnTo>
                    <a:pt x="2506980" y="3429000"/>
                  </a:lnTo>
                  <a:lnTo>
                    <a:pt x="2462213" y="3429000"/>
                  </a:lnTo>
                  <a:lnTo>
                    <a:pt x="2417445" y="3429000"/>
                  </a:lnTo>
                  <a:lnTo>
                    <a:pt x="2372678" y="3429000"/>
                  </a:lnTo>
                  <a:lnTo>
                    <a:pt x="2327910" y="3429000"/>
                  </a:lnTo>
                  <a:lnTo>
                    <a:pt x="2283143" y="3429000"/>
                  </a:lnTo>
                  <a:lnTo>
                    <a:pt x="2238375" y="3429000"/>
                  </a:lnTo>
                  <a:lnTo>
                    <a:pt x="2193608" y="3429000"/>
                  </a:lnTo>
                  <a:lnTo>
                    <a:pt x="2148840" y="3429000"/>
                  </a:lnTo>
                  <a:lnTo>
                    <a:pt x="2104073" y="3429000"/>
                  </a:lnTo>
                  <a:lnTo>
                    <a:pt x="2059305" y="3429000"/>
                  </a:lnTo>
                  <a:lnTo>
                    <a:pt x="2014538" y="3429000"/>
                  </a:lnTo>
                  <a:lnTo>
                    <a:pt x="1969770" y="3429000"/>
                  </a:lnTo>
                  <a:lnTo>
                    <a:pt x="1925002" y="3429000"/>
                  </a:lnTo>
                  <a:lnTo>
                    <a:pt x="1880235" y="3429000"/>
                  </a:lnTo>
                  <a:lnTo>
                    <a:pt x="1835468" y="3429000"/>
                  </a:lnTo>
                  <a:lnTo>
                    <a:pt x="1790700" y="3429000"/>
                  </a:lnTo>
                  <a:lnTo>
                    <a:pt x="1745932" y="3429000"/>
                  </a:lnTo>
                  <a:lnTo>
                    <a:pt x="1701165" y="3429000"/>
                  </a:lnTo>
                  <a:lnTo>
                    <a:pt x="1656398" y="3429000"/>
                  </a:lnTo>
                  <a:lnTo>
                    <a:pt x="1611630" y="3429000"/>
                  </a:lnTo>
                  <a:lnTo>
                    <a:pt x="1566863" y="3429000"/>
                  </a:lnTo>
                  <a:lnTo>
                    <a:pt x="1522095" y="3429000"/>
                  </a:lnTo>
                  <a:lnTo>
                    <a:pt x="1477328" y="3429000"/>
                  </a:lnTo>
                  <a:lnTo>
                    <a:pt x="1432560" y="3429000"/>
                  </a:lnTo>
                  <a:lnTo>
                    <a:pt x="1387793" y="3429000"/>
                  </a:lnTo>
                  <a:lnTo>
                    <a:pt x="1343025" y="3429000"/>
                  </a:lnTo>
                  <a:lnTo>
                    <a:pt x="1298258" y="3429000"/>
                  </a:lnTo>
                  <a:lnTo>
                    <a:pt x="1253490" y="3429000"/>
                  </a:lnTo>
                  <a:lnTo>
                    <a:pt x="1208723" y="3429000"/>
                  </a:lnTo>
                  <a:lnTo>
                    <a:pt x="1163955" y="3429000"/>
                  </a:lnTo>
                  <a:lnTo>
                    <a:pt x="1119188" y="3429000"/>
                  </a:lnTo>
                  <a:lnTo>
                    <a:pt x="1074420" y="3429000"/>
                  </a:lnTo>
                  <a:lnTo>
                    <a:pt x="1029653" y="3429000"/>
                  </a:lnTo>
                  <a:lnTo>
                    <a:pt x="984885" y="3429000"/>
                  </a:lnTo>
                  <a:lnTo>
                    <a:pt x="940118" y="3429000"/>
                  </a:lnTo>
                  <a:lnTo>
                    <a:pt x="895350" y="3429000"/>
                  </a:lnTo>
                  <a:lnTo>
                    <a:pt x="850583" y="3429000"/>
                  </a:lnTo>
                  <a:lnTo>
                    <a:pt x="805815" y="3429000"/>
                  </a:lnTo>
                  <a:lnTo>
                    <a:pt x="761048" y="3429000"/>
                  </a:lnTo>
                  <a:lnTo>
                    <a:pt x="716280" y="3429000"/>
                  </a:lnTo>
                  <a:lnTo>
                    <a:pt x="671513" y="3429000"/>
                  </a:lnTo>
                  <a:lnTo>
                    <a:pt x="626745" y="3429000"/>
                  </a:lnTo>
                  <a:lnTo>
                    <a:pt x="581978" y="3429000"/>
                  </a:lnTo>
                  <a:lnTo>
                    <a:pt x="537210" y="3429000"/>
                  </a:lnTo>
                  <a:lnTo>
                    <a:pt x="492443" y="3429000"/>
                  </a:lnTo>
                  <a:lnTo>
                    <a:pt x="447675" y="3429000"/>
                  </a:lnTo>
                  <a:lnTo>
                    <a:pt x="402908" y="3429000"/>
                  </a:lnTo>
                  <a:lnTo>
                    <a:pt x="358140" y="3429000"/>
                  </a:lnTo>
                  <a:lnTo>
                    <a:pt x="313373" y="3429000"/>
                  </a:lnTo>
                  <a:lnTo>
                    <a:pt x="268605" y="3429000"/>
                  </a:lnTo>
                  <a:lnTo>
                    <a:pt x="223838" y="3429000"/>
                  </a:lnTo>
                  <a:lnTo>
                    <a:pt x="179070" y="3429000"/>
                  </a:lnTo>
                  <a:lnTo>
                    <a:pt x="134303" y="3429000"/>
                  </a:lnTo>
                  <a:lnTo>
                    <a:pt x="89535" y="3429000"/>
                  </a:lnTo>
                  <a:lnTo>
                    <a:pt x="44768" y="3429000"/>
                  </a:lnTo>
                  <a:lnTo>
                    <a:pt x="0" y="3429000"/>
                  </a:lnTo>
                  <a:close/>
                </a:path>
              </a:pathLst>
            </a:custGeom>
            <a:solidFill>
              <a:srgbClr val="CED7E6"/>
            </a:solidFill>
            <a:ln>
              <a:noFill/>
            </a:ln>
          </p:spPr>
        </p:sp>
        <p:sp>
          <p:nvSpPr>
            <p:cNvPr id="8" name="node01.series.source-002"/>
            <p:cNvSpPr/>
            <p:nvPr/>
          </p:nvSpPr>
          <p:spPr>
            <a:xfrm>
              <a:off x="723900" y="1600200"/>
              <a:ext cx="10744200" cy="3429000"/>
            </a:xfrm>
            <a:custGeom>
              <a:avLst/>
              <a:gdLst/>
              <a:ahLst/>
              <a:cxnLst/>
              <a:rect l="l" t="t" r="r" b="b"/>
              <a:pathLst>
                <a:path w="10744200" h="3429000">
                  <a:moveTo>
                    <a:pt x="0" y="2736669"/>
                  </a:moveTo>
                  <a:lnTo>
                    <a:pt x="44768" y="2729493"/>
                  </a:lnTo>
                  <a:lnTo>
                    <a:pt x="89535" y="2721838"/>
                  </a:lnTo>
                  <a:lnTo>
                    <a:pt x="134303" y="2713685"/>
                  </a:lnTo>
                  <a:lnTo>
                    <a:pt x="179070" y="2705018"/>
                  </a:lnTo>
                  <a:lnTo>
                    <a:pt x="223838" y="2695817"/>
                  </a:lnTo>
                  <a:lnTo>
                    <a:pt x="268605" y="2686067"/>
                  </a:lnTo>
                  <a:lnTo>
                    <a:pt x="313373" y="2675748"/>
                  </a:lnTo>
                  <a:lnTo>
                    <a:pt x="358140" y="2664846"/>
                  </a:lnTo>
                  <a:lnTo>
                    <a:pt x="402908" y="2653345"/>
                  </a:lnTo>
                  <a:lnTo>
                    <a:pt x="447675" y="2641231"/>
                  </a:lnTo>
                  <a:lnTo>
                    <a:pt x="492443" y="2628491"/>
                  </a:lnTo>
                  <a:lnTo>
                    <a:pt x="537210" y="2615113"/>
                  </a:lnTo>
                  <a:lnTo>
                    <a:pt x="581978" y="2601083"/>
                  </a:lnTo>
                  <a:lnTo>
                    <a:pt x="626745" y="2586393"/>
                  </a:lnTo>
                  <a:lnTo>
                    <a:pt x="671513" y="2571032"/>
                  </a:lnTo>
                  <a:lnTo>
                    <a:pt x="716280" y="2554993"/>
                  </a:lnTo>
                  <a:lnTo>
                    <a:pt x="761048" y="2538270"/>
                  </a:lnTo>
                  <a:lnTo>
                    <a:pt x="805815" y="2520857"/>
                  </a:lnTo>
                  <a:lnTo>
                    <a:pt x="850583" y="2502753"/>
                  </a:lnTo>
                  <a:lnTo>
                    <a:pt x="895350" y="2483958"/>
                  </a:lnTo>
                  <a:lnTo>
                    <a:pt x="940118" y="2464475"/>
                  </a:lnTo>
                  <a:lnTo>
                    <a:pt x="984885" y="2444307"/>
                  </a:lnTo>
                  <a:lnTo>
                    <a:pt x="1029653" y="2423458"/>
                  </a:lnTo>
                  <a:lnTo>
                    <a:pt x="1074420" y="2401938"/>
                  </a:lnTo>
                  <a:lnTo>
                    <a:pt x="1119188" y="2379754"/>
                  </a:lnTo>
                  <a:lnTo>
                    <a:pt x="1163955" y="2356919"/>
                  </a:lnTo>
                  <a:lnTo>
                    <a:pt x="1208723" y="2333447"/>
                  </a:lnTo>
                  <a:lnTo>
                    <a:pt x="1253490" y="2309355"/>
                  </a:lnTo>
                  <a:lnTo>
                    <a:pt x="1298258" y="2284660"/>
                  </a:lnTo>
                  <a:lnTo>
                    <a:pt x="1343025" y="2259384"/>
                  </a:lnTo>
                  <a:lnTo>
                    <a:pt x="1387793" y="2233552"/>
                  </a:lnTo>
                  <a:lnTo>
                    <a:pt x="1432560" y="2207187"/>
                  </a:lnTo>
                  <a:lnTo>
                    <a:pt x="1477328" y="2180319"/>
                  </a:lnTo>
                  <a:lnTo>
                    <a:pt x="1522095" y="2152974"/>
                  </a:lnTo>
                  <a:lnTo>
                    <a:pt x="1566863" y="2125186"/>
                  </a:lnTo>
                  <a:lnTo>
                    <a:pt x="1611630" y="2096988"/>
                  </a:lnTo>
                  <a:lnTo>
                    <a:pt x="1656398" y="2068413"/>
                  </a:lnTo>
                  <a:lnTo>
                    <a:pt x="1701165" y="2039499"/>
                  </a:lnTo>
                  <a:lnTo>
                    <a:pt x="1745932" y="2010283"/>
                  </a:lnTo>
                  <a:lnTo>
                    <a:pt x="1790700" y="1980806"/>
                  </a:lnTo>
                  <a:lnTo>
                    <a:pt x="1835468" y="1951108"/>
                  </a:lnTo>
                  <a:lnTo>
                    <a:pt x="1880235" y="1921230"/>
                  </a:lnTo>
                  <a:lnTo>
                    <a:pt x="1925002" y="1891214"/>
                  </a:lnTo>
                  <a:lnTo>
                    <a:pt x="1969770" y="1861105"/>
                  </a:lnTo>
                  <a:lnTo>
                    <a:pt x="2014538" y="1830946"/>
                  </a:lnTo>
                  <a:lnTo>
                    <a:pt x="2059305" y="1800780"/>
                  </a:lnTo>
                  <a:lnTo>
                    <a:pt x="2104073" y="1770653"/>
                  </a:lnTo>
                  <a:lnTo>
                    <a:pt x="2148840" y="1740607"/>
                  </a:lnTo>
                  <a:lnTo>
                    <a:pt x="2193608" y="1710688"/>
                  </a:lnTo>
                  <a:lnTo>
                    <a:pt x="2238375" y="1680938"/>
                  </a:lnTo>
                  <a:lnTo>
                    <a:pt x="2283143" y="1651402"/>
                  </a:lnTo>
                  <a:lnTo>
                    <a:pt x="2327910" y="1622121"/>
                  </a:lnTo>
                  <a:lnTo>
                    <a:pt x="2372678" y="1593139"/>
                  </a:lnTo>
                  <a:lnTo>
                    <a:pt x="2417445" y="1564497"/>
                  </a:lnTo>
                  <a:lnTo>
                    <a:pt x="2462213" y="1536232"/>
                  </a:lnTo>
                  <a:lnTo>
                    <a:pt x="2506980" y="1508383"/>
                  </a:lnTo>
                  <a:lnTo>
                    <a:pt x="2551748" y="1480986"/>
                  </a:lnTo>
                  <a:lnTo>
                    <a:pt x="2596515" y="1454075"/>
                  </a:lnTo>
                  <a:lnTo>
                    <a:pt x="2641283" y="1427683"/>
                  </a:lnTo>
                  <a:lnTo>
                    <a:pt x="2686050" y="1401841"/>
                  </a:lnTo>
                  <a:lnTo>
                    <a:pt x="2730818" y="1376577"/>
                  </a:lnTo>
                  <a:lnTo>
                    <a:pt x="2775585" y="1351918"/>
                  </a:lnTo>
                  <a:lnTo>
                    <a:pt x="2820353" y="1327888"/>
                  </a:lnTo>
                  <a:lnTo>
                    <a:pt x="2865120" y="1304509"/>
                  </a:lnTo>
                  <a:lnTo>
                    <a:pt x="2909887" y="1281801"/>
                  </a:lnTo>
                  <a:lnTo>
                    <a:pt x="2954655" y="1259780"/>
                  </a:lnTo>
                  <a:lnTo>
                    <a:pt x="2999423" y="1238462"/>
                  </a:lnTo>
                  <a:lnTo>
                    <a:pt x="3044190" y="1217858"/>
                  </a:lnTo>
                  <a:lnTo>
                    <a:pt x="3088958" y="1197977"/>
                  </a:lnTo>
                  <a:lnTo>
                    <a:pt x="3133725" y="1178828"/>
                  </a:lnTo>
                  <a:lnTo>
                    <a:pt x="3178493" y="1160414"/>
                  </a:lnTo>
                  <a:lnTo>
                    <a:pt x="3223260" y="1142737"/>
                  </a:lnTo>
                  <a:lnTo>
                    <a:pt x="3268028" y="1125801"/>
                  </a:lnTo>
                  <a:lnTo>
                    <a:pt x="3312795" y="1109602"/>
                  </a:lnTo>
                  <a:lnTo>
                    <a:pt x="3357563" y="1094135"/>
                  </a:lnTo>
                  <a:lnTo>
                    <a:pt x="3402330" y="1079392"/>
                  </a:lnTo>
                  <a:lnTo>
                    <a:pt x="3447098" y="1065365"/>
                  </a:lnTo>
                  <a:lnTo>
                    <a:pt x="3491865" y="1052042"/>
                  </a:lnTo>
                  <a:lnTo>
                    <a:pt x="3536633" y="1039411"/>
                  </a:lnTo>
                  <a:lnTo>
                    <a:pt x="3581400" y="1027456"/>
                  </a:lnTo>
                  <a:lnTo>
                    <a:pt x="3626168" y="1016162"/>
                  </a:lnTo>
                  <a:lnTo>
                    <a:pt x="3670935" y="1005512"/>
                  </a:lnTo>
                  <a:lnTo>
                    <a:pt x="3715703" y="995489"/>
                  </a:lnTo>
                  <a:lnTo>
                    <a:pt x="3760470" y="986073"/>
                  </a:lnTo>
                  <a:lnTo>
                    <a:pt x="3805237" y="977244"/>
                  </a:lnTo>
                  <a:lnTo>
                    <a:pt x="3850005" y="968980"/>
                  </a:lnTo>
                  <a:lnTo>
                    <a:pt x="3894773" y="961260"/>
                  </a:lnTo>
                  <a:lnTo>
                    <a:pt x="3939540" y="954061"/>
                  </a:lnTo>
                  <a:lnTo>
                    <a:pt x="3984308" y="947360"/>
                  </a:lnTo>
                  <a:lnTo>
                    <a:pt x="4029075" y="941136"/>
                  </a:lnTo>
                  <a:lnTo>
                    <a:pt x="4073843" y="935367"/>
                  </a:lnTo>
                  <a:lnTo>
                    <a:pt x="4118610" y="930030"/>
                  </a:lnTo>
                  <a:lnTo>
                    <a:pt x="4163377" y="925102"/>
                  </a:lnTo>
                  <a:lnTo>
                    <a:pt x="4208145" y="920563"/>
                  </a:lnTo>
                  <a:lnTo>
                    <a:pt x="4252913" y="916391"/>
                  </a:lnTo>
                  <a:lnTo>
                    <a:pt x="4297680" y="912564"/>
                  </a:lnTo>
                  <a:lnTo>
                    <a:pt x="4342448" y="909064"/>
                  </a:lnTo>
                  <a:lnTo>
                    <a:pt x="4387215" y="905869"/>
                  </a:lnTo>
                  <a:lnTo>
                    <a:pt x="4431983" y="902961"/>
                  </a:lnTo>
                  <a:lnTo>
                    <a:pt x="4476750" y="900328"/>
                  </a:lnTo>
                  <a:lnTo>
                    <a:pt x="4521518" y="897954"/>
                  </a:lnTo>
                  <a:lnTo>
                    <a:pt x="4566285" y="895824"/>
                  </a:lnTo>
                  <a:lnTo>
                    <a:pt x="4611053" y="893923"/>
                  </a:lnTo>
                  <a:lnTo>
                    <a:pt x="4655820" y="892240"/>
                  </a:lnTo>
                  <a:lnTo>
                    <a:pt x="4700588" y="890762"/>
                  </a:lnTo>
                  <a:lnTo>
                    <a:pt x="4745355" y="889481"/>
                  </a:lnTo>
                  <a:lnTo>
                    <a:pt x="4790123" y="888387"/>
                  </a:lnTo>
                  <a:lnTo>
                    <a:pt x="4834890" y="887473"/>
                  </a:lnTo>
                  <a:lnTo>
                    <a:pt x="4879658" y="886733"/>
                  </a:lnTo>
                  <a:lnTo>
                    <a:pt x="4924425" y="886166"/>
                  </a:lnTo>
                  <a:lnTo>
                    <a:pt x="4969193" y="885769"/>
                  </a:lnTo>
                  <a:lnTo>
                    <a:pt x="5013960" y="885543"/>
                  </a:lnTo>
                  <a:lnTo>
                    <a:pt x="5058728" y="885487"/>
                  </a:lnTo>
                  <a:lnTo>
                    <a:pt x="5103495" y="885602"/>
                  </a:lnTo>
                  <a:lnTo>
                    <a:pt x="5148263" y="885894"/>
                  </a:lnTo>
                  <a:lnTo>
                    <a:pt x="5193030" y="886369"/>
                  </a:lnTo>
                  <a:lnTo>
                    <a:pt x="5237798" y="887035"/>
                  </a:lnTo>
                  <a:lnTo>
                    <a:pt x="5282565" y="887903"/>
                  </a:lnTo>
                  <a:lnTo>
                    <a:pt x="5327333" y="888982"/>
                  </a:lnTo>
                  <a:lnTo>
                    <a:pt x="5372100" y="890287"/>
                  </a:lnTo>
                  <a:lnTo>
                    <a:pt x="5416868" y="891832"/>
                  </a:lnTo>
                  <a:lnTo>
                    <a:pt x="5461635" y="893636"/>
                  </a:lnTo>
                  <a:lnTo>
                    <a:pt x="5506403" y="895711"/>
                  </a:lnTo>
                  <a:lnTo>
                    <a:pt x="5551170" y="898080"/>
                  </a:lnTo>
                  <a:lnTo>
                    <a:pt x="5595938" y="900764"/>
                  </a:lnTo>
                  <a:lnTo>
                    <a:pt x="5640705" y="903788"/>
                  </a:lnTo>
                  <a:lnTo>
                    <a:pt x="5685473" y="907176"/>
                  </a:lnTo>
                  <a:lnTo>
                    <a:pt x="5730240" y="910954"/>
                  </a:lnTo>
                  <a:lnTo>
                    <a:pt x="5775008" y="915150"/>
                  </a:lnTo>
                  <a:lnTo>
                    <a:pt x="5819775" y="919791"/>
                  </a:lnTo>
                  <a:lnTo>
                    <a:pt x="5864543" y="924904"/>
                  </a:lnTo>
                  <a:lnTo>
                    <a:pt x="5909310" y="930520"/>
                  </a:lnTo>
                  <a:lnTo>
                    <a:pt x="5954078" y="936668"/>
                  </a:lnTo>
                  <a:lnTo>
                    <a:pt x="5998845" y="943380"/>
                  </a:lnTo>
                  <a:lnTo>
                    <a:pt x="6043613" y="950685"/>
                  </a:lnTo>
                  <a:lnTo>
                    <a:pt x="6088380" y="958615"/>
                  </a:lnTo>
                  <a:lnTo>
                    <a:pt x="6133148" y="967200"/>
                  </a:lnTo>
                  <a:lnTo>
                    <a:pt x="6177915" y="976471"/>
                  </a:lnTo>
                  <a:lnTo>
                    <a:pt x="6222683" y="986457"/>
                  </a:lnTo>
                  <a:lnTo>
                    <a:pt x="6267450" y="997180"/>
                  </a:lnTo>
                  <a:lnTo>
                    <a:pt x="6312218" y="1008666"/>
                  </a:lnTo>
                  <a:lnTo>
                    <a:pt x="6356985" y="1020939"/>
                  </a:lnTo>
                  <a:lnTo>
                    <a:pt x="6401753" y="1034020"/>
                  </a:lnTo>
                  <a:lnTo>
                    <a:pt x="6446520" y="1047928"/>
                  </a:lnTo>
                  <a:lnTo>
                    <a:pt x="6491287" y="1062682"/>
                  </a:lnTo>
                  <a:lnTo>
                    <a:pt x="6536055" y="1078294"/>
                  </a:lnTo>
                  <a:lnTo>
                    <a:pt x="6580823" y="1094777"/>
                  </a:lnTo>
                  <a:lnTo>
                    <a:pt x="6625590" y="1112138"/>
                  </a:lnTo>
                  <a:lnTo>
                    <a:pt x="6670358" y="1130381"/>
                  </a:lnTo>
                  <a:lnTo>
                    <a:pt x="6715125" y="1149507"/>
                  </a:lnTo>
                  <a:lnTo>
                    <a:pt x="6759893" y="1169513"/>
                  </a:lnTo>
                  <a:lnTo>
                    <a:pt x="6804660" y="1190393"/>
                  </a:lnTo>
                  <a:lnTo>
                    <a:pt x="6849427" y="1212133"/>
                  </a:lnTo>
                  <a:lnTo>
                    <a:pt x="6894195" y="1234721"/>
                  </a:lnTo>
                  <a:lnTo>
                    <a:pt x="6938963" y="1258136"/>
                  </a:lnTo>
                  <a:lnTo>
                    <a:pt x="6983730" y="1282355"/>
                  </a:lnTo>
                  <a:lnTo>
                    <a:pt x="7028497" y="1307350"/>
                  </a:lnTo>
                  <a:lnTo>
                    <a:pt x="7073265" y="1333091"/>
                  </a:lnTo>
                  <a:lnTo>
                    <a:pt x="7118033" y="1359542"/>
                  </a:lnTo>
                  <a:lnTo>
                    <a:pt x="7162800" y="1386665"/>
                  </a:lnTo>
                  <a:lnTo>
                    <a:pt x="7207568" y="1414419"/>
                  </a:lnTo>
                  <a:lnTo>
                    <a:pt x="7252335" y="1442758"/>
                  </a:lnTo>
                  <a:lnTo>
                    <a:pt x="7297103" y="1471634"/>
                  </a:lnTo>
                  <a:lnTo>
                    <a:pt x="7341870" y="1500995"/>
                  </a:lnTo>
                  <a:lnTo>
                    <a:pt x="7386638" y="1530788"/>
                  </a:lnTo>
                  <a:lnTo>
                    <a:pt x="7431405" y="1560957"/>
                  </a:lnTo>
                  <a:lnTo>
                    <a:pt x="7476173" y="1591446"/>
                  </a:lnTo>
                  <a:lnTo>
                    <a:pt x="7520940" y="1622194"/>
                  </a:lnTo>
                  <a:lnTo>
                    <a:pt x="7565708" y="1653144"/>
                  </a:lnTo>
                  <a:lnTo>
                    <a:pt x="7610475" y="1684234"/>
                  </a:lnTo>
                  <a:lnTo>
                    <a:pt x="7655242" y="1715403"/>
                  </a:lnTo>
                  <a:lnTo>
                    <a:pt x="7700010" y="1746593"/>
                  </a:lnTo>
                  <a:lnTo>
                    <a:pt x="7744778" y="1777742"/>
                  </a:lnTo>
                  <a:lnTo>
                    <a:pt x="7789545" y="1808793"/>
                  </a:lnTo>
                  <a:lnTo>
                    <a:pt x="7834313" y="1839688"/>
                  </a:lnTo>
                  <a:lnTo>
                    <a:pt x="7879080" y="1870373"/>
                  </a:lnTo>
                  <a:lnTo>
                    <a:pt x="7923848" y="1900794"/>
                  </a:lnTo>
                  <a:lnTo>
                    <a:pt x="7968615" y="1930900"/>
                  </a:lnTo>
                  <a:lnTo>
                    <a:pt x="8013383" y="1960644"/>
                  </a:lnTo>
                  <a:lnTo>
                    <a:pt x="8058150" y="1989980"/>
                  </a:lnTo>
                  <a:lnTo>
                    <a:pt x="8102918" y="2018866"/>
                  </a:lnTo>
                  <a:lnTo>
                    <a:pt x="8147685" y="2047263"/>
                  </a:lnTo>
                  <a:lnTo>
                    <a:pt x="8192453" y="2075138"/>
                  </a:lnTo>
                  <a:lnTo>
                    <a:pt x="8237220" y="2102460"/>
                  </a:lnTo>
                  <a:lnTo>
                    <a:pt x="8281987" y="2129202"/>
                  </a:lnTo>
                  <a:lnTo>
                    <a:pt x="8326755" y="2155341"/>
                  </a:lnTo>
                  <a:lnTo>
                    <a:pt x="8371522" y="2180860"/>
                  </a:lnTo>
                  <a:lnTo>
                    <a:pt x="8416290" y="2205743"/>
                  </a:lnTo>
                  <a:lnTo>
                    <a:pt x="8461058" y="2229980"/>
                  </a:lnTo>
                  <a:lnTo>
                    <a:pt x="8505825" y="2253562"/>
                  </a:lnTo>
                  <a:lnTo>
                    <a:pt x="8550593" y="2276488"/>
                  </a:lnTo>
                  <a:lnTo>
                    <a:pt x="8595360" y="2298757"/>
                  </a:lnTo>
                  <a:lnTo>
                    <a:pt x="8640128" y="2320371"/>
                  </a:lnTo>
                  <a:lnTo>
                    <a:pt x="8684895" y="2341337"/>
                  </a:lnTo>
                  <a:lnTo>
                    <a:pt x="8729663" y="2361667"/>
                  </a:lnTo>
                  <a:lnTo>
                    <a:pt x="8774430" y="2381371"/>
                  </a:lnTo>
                  <a:lnTo>
                    <a:pt x="8819198" y="2400465"/>
                  </a:lnTo>
                  <a:lnTo>
                    <a:pt x="8863965" y="2418965"/>
                  </a:lnTo>
                  <a:lnTo>
                    <a:pt x="8908733" y="2436890"/>
                  </a:lnTo>
                  <a:lnTo>
                    <a:pt x="8953500" y="2454259"/>
                  </a:lnTo>
                  <a:lnTo>
                    <a:pt x="8998268" y="2471093"/>
                  </a:lnTo>
                  <a:lnTo>
                    <a:pt x="9043035" y="2487414"/>
                  </a:lnTo>
                  <a:lnTo>
                    <a:pt x="9087803" y="2503239"/>
                  </a:lnTo>
                  <a:lnTo>
                    <a:pt x="9132570" y="2518591"/>
                  </a:lnTo>
                  <a:lnTo>
                    <a:pt x="9177338" y="2533491"/>
                  </a:lnTo>
                  <a:lnTo>
                    <a:pt x="9222105" y="2547963"/>
                  </a:lnTo>
                  <a:lnTo>
                    <a:pt x="9266873" y="2562027"/>
                  </a:lnTo>
                  <a:lnTo>
                    <a:pt x="9311640" y="2575705"/>
                  </a:lnTo>
                  <a:lnTo>
                    <a:pt x="9356408" y="2589014"/>
                  </a:lnTo>
                  <a:lnTo>
                    <a:pt x="9401175" y="2601973"/>
                  </a:lnTo>
                  <a:lnTo>
                    <a:pt x="9445943" y="2614599"/>
                  </a:lnTo>
                  <a:lnTo>
                    <a:pt x="9490710" y="2626906"/>
                  </a:lnTo>
                  <a:lnTo>
                    <a:pt x="9535478" y="2638905"/>
                  </a:lnTo>
                  <a:lnTo>
                    <a:pt x="9580245" y="2650609"/>
                  </a:lnTo>
                  <a:lnTo>
                    <a:pt x="9625013" y="2662029"/>
                  </a:lnTo>
                  <a:lnTo>
                    <a:pt x="9669780" y="2673172"/>
                  </a:lnTo>
                  <a:lnTo>
                    <a:pt x="9714548" y="2684048"/>
                  </a:lnTo>
                  <a:lnTo>
                    <a:pt x="9759315" y="2694660"/>
                  </a:lnTo>
                  <a:lnTo>
                    <a:pt x="9804083" y="2705015"/>
                  </a:lnTo>
                  <a:lnTo>
                    <a:pt x="9848850" y="2715114"/>
                  </a:lnTo>
                  <a:lnTo>
                    <a:pt x="9893618" y="2724959"/>
                  </a:lnTo>
                  <a:lnTo>
                    <a:pt x="9938385" y="2734552"/>
                  </a:lnTo>
                  <a:lnTo>
                    <a:pt x="9983153" y="2743892"/>
                  </a:lnTo>
                  <a:lnTo>
                    <a:pt x="10027920" y="2752977"/>
                  </a:lnTo>
                  <a:lnTo>
                    <a:pt x="10072688" y="2761806"/>
                  </a:lnTo>
                  <a:lnTo>
                    <a:pt x="10117455" y="2770377"/>
                  </a:lnTo>
                  <a:lnTo>
                    <a:pt x="10162223" y="2778687"/>
                  </a:lnTo>
                  <a:lnTo>
                    <a:pt x="10206990" y="2786733"/>
                  </a:lnTo>
                  <a:lnTo>
                    <a:pt x="10251758" y="2794514"/>
                  </a:lnTo>
                  <a:lnTo>
                    <a:pt x="10296525" y="2802025"/>
                  </a:lnTo>
                  <a:lnTo>
                    <a:pt x="10341293" y="2809264"/>
                  </a:lnTo>
                  <a:lnTo>
                    <a:pt x="10386060" y="2816231"/>
                  </a:lnTo>
                  <a:lnTo>
                    <a:pt x="10430828" y="2822924"/>
                  </a:lnTo>
                  <a:lnTo>
                    <a:pt x="10475595" y="2829343"/>
                  </a:lnTo>
                  <a:lnTo>
                    <a:pt x="10520363" y="2835487"/>
                  </a:lnTo>
                  <a:lnTo>
                    <a:pt x="10565130" y="2841355"/>
                  </a:lnTo>
                  <a:lnTo>
                    <a:pt x="10609898" y="2846949"/>
                  </a:lnTo>
                  <a:lnTo>
                    <a:pt x="10654665" y="2852269"/>
                  </a:lnTo>
                  <a:lnTo>
                    <a:pt x="10699433" y="2857318"/>
                  </a:lnTo>
                  <a:lnTo>
                    <a:pt x="10744200" y="2862099"/>
                  </a:lnTo>
                  <a:lnTo>
                    <a:pt x="10744200" y="3094626"/>
                  </a:lnTo>
                  <a:lnTo>
                    <a:pt x="10699433" y="3092268"/>
                  </a:lnTo>
                  <a:lnTo>
                    <a:pt x="10654665" y="3089785"/>
                  </a:lnTo>
                  <a:lnTo>
                    <a:pt x="10609898" y="3087176"/>
                  </a:lnTo>
                  <a:lnTo>
                    <a:pt x="10565130" y="3084443"/>
                  </a:lnTo>
                  <a:lnTo>
                    <a:pt x="10520363" y="3081586"/>
                  </a:lnTo>
                  <a:lnTo>
                    <a:pt x="10475595" y="3078607"/>
                  </a:lnTo>
                  <a:lnTo>
                    <a:pt x="10430828" y="3075508"/>
                  </a:lnTo>
                  <a:lnTo>
                    <a:pt x="10386060" y="3072293"/>
                  </a:lnTo>
                  <a:lnTo>
                    <a:pt x="10341293" y="3068966"/>
                  </a:lnTo>
                  <a:lnTo>
                    <a:pt x="10296525" y="3065530"/>
                  </a:lnTo>
                  <a:lnTo>
                    <a:pt x="10251758" y="3061990"/>
                  </a:lnTo>
                  <a:lnTo>
                    <a:pt x="10206990" y="3058352"/>
                  </a:lnTo>
                  <a:lnTo>
                    <a:pt x="10162223" y="3054622"/>
                  </a:lnTo>
                  <a:lnTo>
                    <a:pt x="10117455" y="3050806"/>
                  </a:lnTo>
                  <a:lnTo>
                    <a:pt x="10072688" y="3046912"/>
                  </a:lnTo>
                  <a:lnTo>
                    <a:pt x="10027920" y="3042947"/>
                  </a:lnTo>
                  <a:lnTo>
                    <a:pt x="9983153" y="3038918"/>
                  </a:lnTo>
                  <a:lnTo>
                    <a:pt x="9938385" y="3034835"/>
                  </a:lnTo>
                  <a:lnTo>
                    <a:pt x="9893618" y="3030704"/>
                  </a:lnTo>
                  <a:lnTo>
                    <a:pt x="9848850" y="3026535"/>
                  </a:lnTo>
                  <a:lnTo>
                    <a:pt x="9804083" y="3022336"/>
                  </a:lnTo>
                  <a:lnTo>
                    <a:pt x="9759315" y="3018116"/>
                  </a:lnTo>
                  <a:lnTo>
                    <a:pt x="9714548" y="3013883"/>
                  </a:lnTo>
                  <a:lnTo>
                    <a:pt x="9669780" y="3009646"/>
                  </a:lnTo>
                  <a:lnTo>
                    <a:pt x="9625013" y="3005414"/>
                  </a:lnTo>
                  <a:lnTo>
                    <a:pt x="9580245" y="3001194"/>
                  </a:lnTo>
                  <a:lnTo>
                    <a:pt x="9535478" y="2996993"/>
                  </a:lnTo>
                  <a:lnTo>
                    <a:pt x="9490710" y="2992821"/>
                  </a:lnTo>
                  <a:lnTo>
                    <a:pt x="9445943" y="2988682"/>
                  </a:lnTo>
                  <a:lnTo>
                    <a:pt x="9401175" y="2984585"/>
                  </a:lnTo>
                  <a:lnTo>
                    <a:pt x="9356408" y="2980534"/>
                  </a:lnTo>
                  <a:lnTo>
                    <a:pt x="9311640" y="2976536"/>
                  </a:lnTo>
                  <a:lnTo>
                    <a:pt x="9266873" y="2972595"/>
                  </a:lnTo>
                  <a:lnTo>
                    <a:pt x="9222105" y="2968716"/>
                  </a:lnTo>
                  <a:lnTo>
                    <a:pt x="9177338" y="2964902"/>
                  </a:lnTo>
                  <a:lnTo>
                    <a:pt x="9132570" y="2961155"/>
                  </a:lnTo>
                  <a:lnTo>
                    <a:pt x="9087803" y="2957480"/>
                  </a:lnTo>
                  <a:lnTo>
                    <a:pt x="9043035" y="2953876"/>
                  </a:lnTo>
                  <a:lnTo>
                    <a:pt x="8998268" y="2950345"/>
                  </a:lnTo>
                  <a:lnTo>
                    <a:pt x="8953500" y="2946888"/>
                  </a:lnTo>
                  <a:lnTo>
                    <a:pt x="8908733" y="2943505"/>
                  </a:lnTo>
                  <a:lnTo>
                    <a:pt x="8863965" y="2940196"/>
                  </a:lnTo>
                  <a:lnTo>
                    <a:pt x="8819198" y="2936958"/>
                  </a:lnTo>
                  <a:lnTo>
                    <a:pt x="8774430" y="2933792"/>
                  </a:lnTo>
                  <a:lnTo>
                    <a:pt x="8729663" y="2930694"/>
                  </a:lnTo>
                  <a:lnTo>
                    <a:pt x="8684895" y="2927663"/>
                  </a:lnTo>
                  <a:lnTo>
                    <a:pt x="8640128" y="2924696"/>
                  </a:lnTo>
                  <a:lnTo>
                    <a:pt x="8595360" y="2921791"/>
                  </a:lnTo>
                  <a:lnTo>
                    <a:pt x="8550593" y="2918944"/>
                  </a:lnTo>
                  <a:lnTo>
                    <a:pt x="8505825" y="2916152"/>
                  </a:lnTo>
                  <a:lnTo>
                    <a:pt x="8461058" y="2913413"/>
                  </a:lnTo>
                  <a:lnTo>
                    <a:pt x="8416290" y="2910723"/>
                  </a:lnTo>
                  <a:lnTo>
                    <a:pt x="8371522" y="2908079"/>
                  </a:lnTo>
                  <a:lnTo>
                    <a:pt x="8326755" y="2905479"/>
                  </a:lnTo>
                  <a:lnTo>
                    <a:pt x="8281987" y="2902919"/>
                  </a:lnTo>
                  <a:lnTo>
                    <a:pt x="8237220" y="2900397"/>
                  </a:lnTo>
                  <a:lnTo>
                    <a:pt x="8192453" y="2897910"/>
                  </a:lnTo>
                  <a:lnTo>
                    <a:pt x="8147685" y="2895456"/>
                  </a:lnTo>
                  <a:lnTo>
                    <a:pt x="8102918" y="2893032"/>
                  </a:lnTo>
                  <a:lnTo>
                    <a:pt x="8058150" y="2890637"/>
                  </a:lnTo>
                  <a:lnTo>
                    <a:pt x="8013383" y="2888269"/>
                  </a:lnTo>
                  <a:lnTo>
                    <a:pt x="7968615" y="2885928"/>
                  </a:lnTo>
                  <a:lnTo>
                    <a:pt x="7923848" y="2883612"/>
                  </a:lnTo>
                  <a:lnTo>
                    <a:pt x="7879080" y="2881321"/>
                  </a:lnTo>
                  <a:lnTo>
                    <a:pt x="7834313" y="2879055"/>
                  </a:lnTo>
                  <a:lnTo>
                    <a:pt x="7789545" y="2876814"/>
                  </a:lnTo>
                  <a:lnTo>
                    <a:pt x="7744778" y="2874598"/>
                  </a:lnTo>
                  <a:lnTo>
                    <a:pt x="7700010" y="2872408"/>
                  </a:lnTo>
                  <a:lnTo>
                    <a:pt x="7655242" y="2870244"/>
                  </a:lnTo>
                  <a:lnTo>
                    <a:pt x="7610475" y="2868108"/>
                  </a:lnTo>
                  <a:lnTo>
                    <a:pt x="7565708" y="2866000"/>
                  </a:lnTo>
                  <a:lnTo>
                    <a:pt x="7520940" y="2863923"/>
                  </a:lnTo>
                  <a:lnTo>
                    <a:pt x="7476173" y="2861877"/>
                  </a:lnTo>
                  <a:lnTo>
                    <a:pt x="7431405" y="2859865"/>
                  </a:lnTo>
                  <a:lnTo>
                    <a:pt x="7386638" y="2857889"/>
                  </a:lnTo>
                  <a:lnTo>
                    <a:pt x="7341870" y="2855950"/>
                  </a:lnTo>
                  <a:lnTo>
                    <a:pt x="7297103" y="2854050"/>
                  </a:lnTo>
                  <a:lnTo>
                    <a:pt x="7252335" y="2852192"/>
                  </a:lnTo>
                  <a:lnTo>
                    <a:pt x="7207568" y="2850376"/>
                  </a:lnTo>
                  <a:lnTo>
                    <a:pt x="7162800" y="2848606"/>
                  </a:lnTo>
                  <a:lnTo>
                    <a:pt x="7118033" y="2846882"/>
                  </a:lnTo>
                  <a:lnTo>
                    <a:pt x="7073265" y="2845206"/>
                  </a:lnTo>
                  <a:lnTo>
                    <a:pt x="7028497" y="2843580"/>
                  </a:lnTo>
                  <a:lnTo>
                    <a:pt x="6983730" y="2842004"/>
                  </a:lnTo>
                  <a:lnTo>
                    <a:pt x="6938963" y="2840481"/>
                  </a:lnTo>
                  <a:lnTo>
                    <a:pt x="6894195" y="2839011"/>
                  </a:lnTo>
                  <a:lnTo>
                    <a:pt x="6849427" y="2837595"/>
                  </a:lnTo>
                  <a:lnTo>
                    <a:pt x="6804660" y="2836235"/>
                  </a:lnTo>
                  <a:lnTo>
                    <a:pt x="6759893" y="2834929"/>
                  </a:lnTo>
                  <a:lnTo>
                    <a:pt x="6715125" y="2833680"/>
                  </a:lnTo>
                  <a:lnTo>
                    <a:pt x="6670358" y="2832487"/>
                  </a:lnTo>
                  <a:lnTo>
                    <a:pt x="6625590" y="2831351"/>
                  </a:lnTo>
                  <a:lnTo>
                    <a:pt x="6580823" y="2830270"/>
                  </a:lnTo>
                  <a:lnTo>
                    <a:pt x="6536055" y="2829243"/>
                  </a:lnTo>
                  <a:lnTo>
                    <a:pt x="6491287" y="2828272"/>
                  </a:lnTo>
                  <a:lnTo>
                    <a:pt x="6446520" y="2827354"/>
                  </a:lnTo>
                  <a:lnTo>
                    <a:pt x="6401753" y="2826489"/>
                  </a:lnTo>
                  <a:lnTo>
                    <a:pt x="6356985" y="2825676"/>
                  </a:lnTo>
                  <a:lnTo>
                    <a:pt x="6312218" y="2824914"/>
                  </a:lnTo>
                  <a:lnTo>
                    <a:pt x="6267450" y="2824202"/>
                  </a:lnTo>
                  <a:lnTo>
                    <a:pt x="6222683" y="2823539"/>
                  </a:lnTo>
                  <a:lnTo>
                    <a:pt x="6177915" y="2822924"/>
                  </a:lnTo>
                  <a:lnTo>
                    <a:pt x="6133148" y="2822355"/>
                  </a:lnTo>
                  <a:lnTo>
                    <a:pt x="6088380" y="2821832"/>
                  </a:lnTo>
                  <a:lnTo>
                    <a:pt x="6043613" y="2821352"/>
                  </a:lnTo>
                  <a:lnTo>
                    <a:pt x="5998845" y="2820914"/>
                  </a:lnTo>
                  <a:lnTo>
                    <a:pt x="5954078" y="2820517"/>
                  </a:lnTo>
                  <a:lnTo>
                    <a:pt x="5909310" y="2820160"/>
                  </a:lnTo>
                  <a:lnTo>
                    <a:pt x="5864543" y="2819841"/>
                  </a:lnTo>
                  <a:lnTo>
                    <a:pt x="5819775" y="2819559"/>
                  </a:lnTo>
                  <a:lnTo>
                    <a:pt x="5775008" y="2819314"/>
                  </a:lnTo>
                  <a:lnTo>
                    <a:pt x="5730240" y="2819105"/>
                  </a:lnTo>
                  <a:lnTo>
                    <a:pt x="5685473" y="2818930"/>
                  </a:lnTo>
                  <a:lnTo>
                    <a:pt x="5640705" y="2818791"/>
                  </a:lnTo>
                  <a:lnTo>
                    <a:pt x="5595938" y="2818685"/>
                  </a:lnTo>
                  <a:lnTo>
                    <a:pt x="5551170" y="2818614"/>
                  </a:lnTo>
                  <a:lnTo>
                    <a:pt x="5506403" y="2818576"/>
                  </a:lnTo>
                  <a:lnTo>
                    <a:pt x="5461635" y="2818573"/>
                  </a:lnTo>
                  <a:lnTo>
                    <a:pt x="5416868" y="2818605"/>
                  </a:lnTo>
                  <a:lnTo>
                    <a:pt x="5372100" y="2818672"/>
                  </a:lnTo>
                  <a:lnTo>
                    <a:pt x="5327333" y="2818776"/>
                  </a:lnTo>
                  <a:lnTo>
                    <a:pt x="5282565" y="2818917"/>
                  </a:lnTo>
                  <a:lnTo>
                    <a:pt x="5237798" y="2819098"/>
                  </a:lnTo>
                  <a:lnTo>
                    <a:pt x="5193030" y="2819319"/>
                  </a:lnTo>
                  <a:lnTo>
                    <a:pt x="5148263" y="2819582"/>
                  </a:lnTo>
                  <a:lnTo>
                    <a:pt x="5103495" y="2819890"/>
                  </a:lnTo>
                  <a:lnTo>
                    <a:pt x="5058728" y="2820245"/>
                  </a:lnTo>
                  <a:lnTo>
                    <a:pt x="5013960" y="2820649"/>
                  </a:lnTo>
                  <a:lnTo>
                    <a:pt x="4969193" y="2821105"/>
                  </a:lnTo>
                  <a:lnTo>
                    <a:pt x="4924425" y="2821615"/>
                  </a:lnTo>
                  <a:lnTo>
                    <a:pt x="4879658" y="2822183"/>
                  </a:lnTo>
                  <a:lnTo>
                    <a:pt x="4834890" y="2822810"/>
                  </a:lnTo>
                  <a:lnTo>
                    <a:pt x="4790123" y="2823501"/>
                  </a:lnTo>
                  <a:lnTo>
                    <a:pt x="4745355" y="2824257"/>
                  </a:lnTo>
                  <a:lnTo>
                    <a:pt x="4700588" y="2825082"/>
                  </a:lnTo>
                  <a:lnTo>
                    <a:pt x="4655820" y="2825980"/>
                  </a:lnTo>
                  <a:lnTo>
                    <a:pt x="4611053" y="2826953"/>
                  </a:lnTo>
                  <a:lnTo>
                    <a:pt x="4566285" y="2828004"/>
                  </a:lnTo>
                  <a:lnTo>
                    <a:pt x="4521518" y="2829136"/>
                  </a:lnTo>
                  <a:lnTo>
                    <a:pt x="4476750" y="2830352"/>
                  </a:lnTo>
                  <a:lnTo>
                    <a:pt x="4431983" y="2831654"/>
                  </a:lnTo>
                  <a:lnTo>
                    <a:pt x="4387215" y="2833044"/>
                  </a:lnTo>
                  <a:lnTo>
                    <a:pt x="4342448" y="2834523"/>
                  </a:lnTo>
                  <a:lnTo>
                    <a:pt x="4297680" y="2836095"/>
                  </a:lnTo>
                  <a:lnTo>
                    <a:pt x="4252913" y="2837759"/>
                  </a:lnTo>
                  <a:lnTo>
                    <a:pt x="4208145" y="2839518"/>
                  </a:lnTo>
                  <a:lnTo>
                    <a:pt x="4163377" y="2841372"/>
                  </a:lnTo>
                  <a:lnTo>
                    <a:pt x="4118610" y="2843321"/>
                  </a:lnTo>
                  <a:lnTo>
                    <a:pt x="4073843" y="2845365"/>
                  </a:lnTo>
                  <a:lnTo>
                    <a:pt x="4029075" y="2847504"/>
                  </a:lnTo>
                  <a:lnTo>
                    <a:pt x="3984308" y="2849737"/>
                  </a:lnTo>
                  <a:lnTo>
                    <a:pt x="3939540" y="2852064"/>
                  </a:lnTo>
                  <a:lnTo>
                    <a:pt x="3894773" y="2854482"/>
                  </a:lnTo>
                  <a:lnTo>
                    <a:pt x="3850005" y="2856989"/>
                  </a:lnTo>
                  <a:lnTo>
                    <a:pt x="3805237" y="2859583"/>
                  </a:lnTo>
                  <a:lnTo>
                    <a:pt x="3760470" y="2862260"/>
                  </a:lnTo>
                  <a:lnTo>
                    <a:pt x="3715703" y="2865017"/>
                  </a:lnTo>
                  <a:lnTo>
                    <a:pt x="3670935" y="2867851"/>
                  </a:lnTo>
                  <a:lnTo>
                    <a:pt x="3626168" y="2870757"/>
                  </a:lnTo>
                  <a:lnTo>
                    <a:pt x="3581400" y="2873731"/>
                  </a:lnTo>
                  <a:lnTo>
                    <a:pt x="3536633" y="2876769"/>
                  </a:lnTo>
                  <a:lnTo>
                    <a:pt x="3491865" y="2879866"/>
                  </a:lnTo>
                  <a:lnTo>
                    <a:pt x="3447098" y="2883016"/>
                  </a:lnTo>
                  <a:lnTo>
                    <a:pt x="3402330" y="2886214"/>
                  </a:lnTo>
                  <a:lnTo>
                    <a:pt x="3357563" y="2889455"/>
                  </a:lnTo>
                  <a:lnTo>
                    <a:pt x="3312795" y="2892734"/>
                  </a:lnTo>
                  <a:lnTo>
                    <a:pt x="3268028" y="2896044"/>
                  </a:lnTo>
                  <a:lnTo>
                    <a:pt x="3223260" y="2899381"/>
                  </a:lnTo>
                  <a:lnTo>
                    <a:pt x="3178493" y="2902740"/>
                  </a:lnTo>
                  <a:lnTo>
                    <a:pt x="3133725" y="2906114"/>
                  </a:lnTo>
                  <a:lnTo>
                    <a:pt x="3088958" y="2909499"/>
                  </a:lnTo>
                  <a:lnTo>
                    <a:pt x="3044190" y="2912890"/>
                  </a:lnTo>
                  <a:lnTo>
                    <a:pt x="2999423" y="2916283"/>
                  </a:lnTo>
                  <a:lnTo>
                    <a:pt x="2954655" y="2919672"/>
                  </a:lnTo>
                  <a:lnTo>
                    <a:pt x="2909887" y="2923055"/>
                  </a:lnTo>
                  <a:lnTo>
                    <a:pt x="2865120" y="2926427"/>
                  </a:lnTo>
                  <a:lnTo>
                    <a:pt x="2820353" y="2929786"/>
                  </a:lnTo>
                  <a:lnTo>
                    <a:pt x="2775585" y="2933128"/>
                  </a:lnTo>
                  <a:lnTo>
                    <a:pt x="2730818" y="2936452"/>
                  </a:lnTo>
                  <a:lnTo>
                    <a:pt x="2686050" y="2939755"/>
                  </a:lnTo>
                  <a:lnTo>
                    <a:pt x="2641283" y="2943035"/>
                  </a:lnTo>
                  <a:lnTo>
                    <a:pt x="2596515" y="2946292"/>
                  </a:lnTo>
                  <a:lnTo>
                    <a:pt x="2551748" y="2949525"/>
                  </a:lnTo>
                  <a:lnTo>
                    <a:pt x="2506980" y="2952733"/>
                  </a:lnTo>
                  <a:lnTo>
                    <a:pt x="2462213" y="2955917"/>
                  </a:lnTo>
                  <a:lnTo>
                    <a:pt x="2417445" y="2959077"/>
                  </a:lnTo>
                  <a:lnTo>
                    <a:pt x="2372678" y="2962215"/>
                  </a:lnTo>
                  <a:lnTo>
                    <a:pt x="2327910" y="2965331"/>
                  </a:lnTo>
                  <a:lnTo>
                    <a:pt x="2283143" y="2968428"/>
                  </a:lnTo>
                  <a:lnTo>
                    <a:pt x="2238375" y="2971506"/>
                  </a:lnTo>
                  <a:lnTo>
                    <a:pt x="2193608" y="2974569"/>
                  </a:lnTo>
                  <a:lnTo>
                    <a:pt x="2148840" y="2977616"/>
                  </a:lnTo>
                  <a:lnTo>
                    <a:pt x="2104073" y="2980652"/>
                  </a:lnTo>
                  <a:lnTo>
                    <a:pt x="2059305" y="2983678"/>
                  </a:lnTo>
                  <a:lnTo>
                    <a:pt x="2014538" y="2986696"/>
                  </a:lnTo>
                  <a:lnTo>
                    <a:pt x="1969770" y="2989708"/>
                  </a:lnTo>
                  <a:lnTo>
                    <a:pt x="1925002" y="2992718"/>
                  </a:lnTo>
                  <a:lnTo>
                    <a:pt x="1880235" y="2995726"/>
                  </a:lnTo>
                  <a:lnTo>
                    <a:pt x="1835468" y="2998735"/>
                  </a:lnTo>
                  <a:lnTo>
                    <a:pt x="1790700" y="3001746"/>
                  </a:lnTo>
                  <a:lnTo>
                    <a:pt x="1745932" y="3004760"/>
                  </a:lnTo>
                  <a:lnTo>
                    <a:pt x="1701165" y="3007779"/>
                  </a:lnTo>
                  <a:lnTo>
                    <a:pt x="1656398" y="3010803"/>
                  </a:lnTo>
                  <a:lnTo>
                    <a:pt x="1611630" y="3013831"/>
                  </a:lnTo>
                  <a:lnTo>
                    <a:pt x="1566863" y="3016865"/>
                  </a:lnTo>
                  <a:lnTo>
                    <a:pt x="1522095" y="3019903"/>
                  </a:lnTo>
                  <a:lnTo>
                    <a:pt x="1477328" y="3022945"/>
                  </a:lnTo>
                  <a:lnTo>
                    <a:pt x="1432560" y="3025989"/>
                  </a:lnTo>
                  <a:lnTo>
                    <a:pt x="1387793" y="3029035"/>
                  </a:lnTo>
                  <a:lnTo>
                    <a:pt x="1343025" y="3032080"/>
                  </a:lnTo>
                  <a:lnTo>
                    <a:pt x="1298258" y="3035121"/>
                  </a:lnTo>
                  <a:lnTo>
                    <a:pt x="1253490" y="3038157"/>
                  </a:lnTo>
                  <a:lnTo>
                    <a:pt x="1208723" y="3041184"/>
                  </a:lnTo>
                  <a:lnTo>
                    <a:pt x="1163955" y="3044198"/>
                  </a:lnTo>
                  <a:lnTo>
                    <a:pt x="1119188" y="3047196"/>
                  </a:lnTo>
                  <a:lnTo>
                    <a:pt x="1074420" y="3050174"/>
                  </a:lnTo>
                  <a:lnTo>
                    <a:pt x="1029653" y="3053129"/>
                  </a:lnTo>
                  <a:lnTo>
                    <a:pt x="984885" y="3056056"/>
                  </a:lnTo>
                  <a:lnTo>
                    <a:pt x="940118" y="3058950"/>
                  </a:lnTo>
                  <a:lnTo>
                    <a:pt x="895350" y="3061809"/>
                  </a:lnTo>
                  <a:lnTo>
                    <a:pt x="850583" y="3064626"/>
                  </a:lnTo>
                  <a:lnTo>
                    <a:pt x="805815" y="3067398"/>
                  </a:lnTo>
                  <a:lnTo>
                    <a:pt x="761048" y="3070121"/>
                  </a:lnTo>
                  <a:lnTo>
                    <a:pt x="716280" y="3072791"/>
                  </a:lnTo>
                  <a:lnTo>
                    <a:pt x="671513" y="3075403"/>
                  </a:lnTo>
                  <a:lnTo>
                    <a:pt x="626745" y="3077954"/>
                  </a:lnTo>
                  <a:lnTo>
                    <a:pt x="581978" y="3080440"/>
                  </a:lnTo>
                  <a:lnTo>
                    <a:pt x="537210" y="3082858"/>
                  </a:lnTo>
                  <a:lnTo>
                    <a:pt x="492443" y="3085205"/>
                  </a:lnTo>
                  <a:lnTo>
                    <a:pt x="447675" y="3087478"/>
                  </a:lnTo>
                  <a:lnTo>
                    <a:pt x="402908" y="3089674"/>
                  </a:lnTo>
                  <a:lnTo>
                    <a:pt x="358140" y="3091792"/>
                  </a:lnTo>
                  <a:lnTo>
                    <a:pt x="313373" y="3093830"/>
                  </a:lnTo>
                  <a:lnTo>
                    <a:pt x="268605" y="3095787"/>
                  </a:lnTo>
                  <a:lnTo>
                    <a:pt x="223838" y="3097661"/>
                  </a:lnTo>
                  <a:lnTo>
                    <a:pt x="179070" y="3099453"/>
                  </a:lnTo>
                  <a:lnTo>
                    <a:pt x="134303" y="3101160"/>
                  </a:lnTo>
                  <a:lnTo>
                    <a:pt x="89535" y="3102785"/>
                  </a:lnTo>
                  <a:lnTo>
                    <a:pt x="44768" y="3104326"/>
                  </a:lnTo>
                  <a:lnTo>
                    <a:pt x="0" y="3105786"/>
                  </a:lnTo>
                  <a:close/>
                </a:path>
              </a:pathLst>
            </a:custGeom>
            <a:solidFill>
              <a:srgbClr val="070154"/>
            </a:solidFill>
            <a:ln>
              <a:noFill/>
            </a:ln>
          </p:spPr>
        </p:sp>
        <p:sp>
          <p:nvSpPr>
            <p:cNvPr id="9" name="node01.series.source-003"/>
            <p:cNvSpPr/>
            <p:nvPr/>
          </p:nvSpPr>
          <p:spPr>
            <a:xfrm>
              <a:off x="723900" y="1600200"/>
              <a:ext cx="10744200" cy="3429000"/>
            </a:xfrm>
            <a:custGeom>
              <a:avLst/>
              <a:gdLst/>
              <a:ahLst/>
              <a:cxnLst/>
              <a:rect l="l" t="t" r="r" b="b"/>
              <a:pathLst>
                <a:path w="10744200" h="3429000">
                  <a:moveTo>
                    <a:pt x="0" y="2729754"/>
                  </a:moveTo>
                  <a:lnTo>
                    <a:pt x="44768" y="2721963"/>
                  </a:lnTo>
                  <a:lnTo>
                    <a:pt x="89535" y="2713654"/>
                  </a:lnTo>
                  <a:lnTo>
                    <a:pt x="134303" y="2704810"/>
                  </a:lnTo>
                  <a:lnTo>
                    <a:pt x="179070" y="2695411"/>
                  </a:lnTo>
                  <a:lnTo>
                    <a:pt x="223838" y="2685440"/>
                  </a:lnTo>
                  <a:lnTo>
                    <a:pt x="268605" y="2674878"/>
                  </a:lnTo>
                  <a:lnTo>
                    <a:pt x="313373" y="2663708"/>
                  </a:lnTo>
                  <a:lnTo>
                    <a:pt x="358140" y="2651914"/>
                  </a:lnTo>
                  <a:lnTo>
                    <a:pt x="402908" y="2639481"/>
                  </a:lnTo>
                  <a:lnTo>
                    <a:pt x="447675" y="2626394"/>
                  </a:lnTo>
                  <a:lnTo>
                    <a:pt x="492443" y="2612641"/>
                  </a:lnTo>
                  <a:lnTo>
                    <a:pt x="537210" y="2598209"/>
                  </a:lnTo>
                  <a:lnTo>
                    <a:pt x="581978" y="2583088"/>
                  </a:lnTo>
                  <a:lnTo>
                    <a:pt x="626745" y="2567267"/>
                  </a:lnTo>
                  <a:lnTo>
                    <a:pt x="671513" y="2550738"/>
                  </a:lnTo>
                  <a:lnTo>
                    <a:pt x="716280" y="2533495"/>
                  </a:lnTo>
                  <a:lnTo>
                    <a:pt x="761048" y="2515532"/>
                  </a:lnTo>
                  <a:lnTo>
                    <a:pt x="805815" y="2496845"/>
                  </a:lnTo>
                  <a:lnTo>
                    <a:pt x="850583" y="2477434"/>
                  </a:lnTo>
                  <a:lnTo>
                    <a:pt x="895350" y="2457301"/>
                  </a:lnTo>
                  <a:lnTo>
                    <a:pt x="940118" y="2436450"/>
                  </a:lnTo>
                  <a:lnTo>
                    <a:pt x="984885" y="2414883"/>
                  </a:lnTo>
                  <a:lnTo>
                    <a:pt x="1029653" y="2392610"/>
                  </a:lnTo>
                  <a:lnTo>
                    <a:pt x="1074420" y="2369638"/>
                  </a:lnTo>
                  <a:lnTo>
                    <a:pt x="1119188" y="2345979"/>
                  </a:lnTo>
                  <a:lnTo>
                    <a:pt x="1163955" y="2321646"/>
                  </a:lnTo>
                  <a:lnTo>
                    <a:pt x="1208723" y="2296655"/>
                  </a:lnTo>
                  <a:lnTo>
                    <a:pt x="1253490" y="2271022"/>
                  </a:lnTo>
                  <a:lnTo>
                    <a:pt x="1298258" y="2244768"/>
                  </a:lnTo>
                  <a:lnTo>
                    <a:pt x="1343025" y="2217916"/>
                  </a:lnTo>
                  <a:lnTo>
                    <a:pt x="1387793" y="2190490"/>
                  </a:lnTo>
                  <a:lnTo>
                    <a:pt x="1432560" y="2162516"/>
                  </a:lnTo>
                  <a:lnTo>
                    <a:pt x="1477328" y="2134022"/>
                  </a:lnTo>
                  <a:lnTo>
                    <a:pt x="1522095" y="2105037"/>
                  </a:lnTo>
                  <a:lnTo>
                    <a:pt x="1566863" y="2075593"/>
                  </a:lnTo>
                  <a:lnTo>
                    <a:pt x="1611630" y="2045723"/>
                  </a:lnTo>
                  <a:lnTo>
                    <a:pt x="1656398" y="2015461"/>
                  </a:lnTo>
                  <a:lnTo>
                    <a:pt x="1701165" y="1984843"/>
                  </a:lnTo>
                  <a:lnTo>
                    <a:pt x="1745932" y="1953906"/>
                  </a:lnTo>
                  <a:lnTo>
                    <a:pt x="1790700" y="1922688"/>
                  </a:lnTo>
                  <a:lnTo>
                    <a:pt x="1835468" y="1891229"/>
                  </a:lnTo>
                  <a:lnTo>
                    <a:pt x="1880235" y="1859567"/>
                  </a:lnTo>
                  <a:lnTo>
                    <a:pt x="1925002" y="1827744"/>
                  </a:lnTo>
                  <a:lnTo>
                    <a:pt x="1969770" y="1795800"/>
                  </a:lnTo>
                  <a:lnTo>
                    <a:pt x="2014538" y="1763775"/>
                  </a:lnTo>
                  <a:lnTo>
                    <a:pt x="2059305" y="1731710"/>
                  </a:lnTo>
                  <a:lnTo>
                    <a:pt x="2104073" y="1699647"/>
                  </a:lnTo>
                  <a:lnTo>
                    <a:pt x="2148840" y="1667625"/>
                  </a:lnTo>
                  <a:lnTo>
                    <a:pt x="2193608" y="1635685"/>
                  </a:lnTo>
                  <a:lnTo>
                    <a:pt x="2238375" y="1603867"/>
                  </a:lnTo>
                  <a:lnTo>
                    <a:pt x="2283143" y="1572211"/>
                  </a:lnTo>
                  <a:lnTo>
                    <a:pt x="2327910" y="1540754"/>
                  </a:lnTo>
                  <a:lnTo>
                    <a:pt x="2372678" y="1509536"/>
                  </a:lnTo>
                  <a:lnTo>
                    <a:pt x="2417445" y="1478592"/>
                  </a:lnTo>
                  <a:lnTo>
                    <a:pt x="2462213" y="1447958"/>
                  </a:lnTo>
                  <a:lnTo>
                    <a:pt x="2506980" y="1417667"/>
                  </a:lnTo>
                  <a:lnTo>
                    <a:pt x="2551748" y="1387751"/>
                  </a:lnTo>
                  <a:lnTo>
                    <a:pt x="2596515" y="1358241"/>
                  </a:lnTo>
                  <a:lnTo>
                    <a:pt x="2641283" y="1329165"/>
                  </a:lnTo>
                  <a:lnTo>
                    <a:pt x="2686050" y="1300550"/>
                  </a:lnTo>
                  <a:lnTo>
                    <a:pt x="2730818" y="1272421"/>
                  </a:lnTo>
                  <a:lnTo>
                    <a:pt x="2775585" y="1244802"/>
                  </a:lnTo>
                  <a:lnTo>
                    <a:pt x="2820353" y="1217715"/>
                  </a:lnTo>
                  <a:lnTo>
                    <a:pt x="2865120" y="1191180"/>
                  </a:lnTo>
                  <a:lnTo>
                    <a:pt x="2909887" y="1165214"/>
                  </a:lnTo>
                  <a:lnTo>
                    <a:pt x="2954655" y="1139833"/>
                  </a:lnTo>
                  <a:lnTo>
                    <a:pt x="2999423" y="1115051"/>
                  </a:lnTo>
                  <a:lnTo>
                    <a:pt x="3044190" y="1090880"/>
                  </a:lnTo>
                  <a:lnTo>
                    <a:pt x="3088958" y="1067330"/>
                  </a:lnTo>
                  <a:lnTo>
                    <a:pt x="3133725" y="1044408"/>
                  </a:lnTo>
                  <a:lnTo>
                    <a:pt x="3178493" y="1022118"/>
                  </a:lnTo>
                  <a:lnTo>
                    <a:pt x="3223260" y="1000466"/>
                  </a:lnTo>
                  <a:lnTo>
                    <a:pt x="3268028" y="979455"/>
                  </a:lnTo>
                  <a:lnTo>
                    <a:pt x="3312795" y="959084"/>
                  </a:lnTo>
                  <a:lnTo>
                    <a:pt x="3357563" y="939352"/>
                  </a:lnTo>
                  <a:lnTo>
                    <a:pt x="3402330" y="920253"/>
                  </a:lnTo>
                  <a:lnTo>
                    <a:pt x="3447098" y="901782"/>
                  </a:lnTo>
                  <a:lnTo>
                    <a:pt x="3491865" y="883931"/>
                  </a:lnTo>
                  <a:lnTo>
                    <a:pt x="3536633" y="866690"/>
                  </a:lnTo>
                  <a:lnTo>
                    <a:pt x="3581400" y="850050"/>
                  </a:lnTo>
                  <a:lnTo>
                    <a:pt x="3626168" y="833997"/>
                  </a:lnTo>
                  <a:lnTo>
                    <a:pt x="3670935" y="818519"/>
                  </a:lnTo>
                  <a:lnTo>
                    <a:pt x="3715703" y="803602"/>
                  </a:lnTo>
                  <a:lnTo>
                    <a:pt x="3760470" y="789231"/>
                  </a:lnTo>
                  <a:lnTo>
                    <a:pt x="3805237" y="775386"/>
                  </a:lnTo>
                  <a:lnTo>
                    <a:pt x="3850005" y="762051"/>
                  </a:lnTo>
                  <a:lnTo>
                    <a:pt x="3894773" y="749205"/>
                  </a:lnTo>
                  <a:lnTo>
                    <a:pt x="3939540" y="736829"/>
                  </a:lnTo>
                  <a:lnTo>
                    <a:pt x="3984308" y="724900"/>
                  </a:lnTo>
                  <a:lnTo>
                    <a:pt x="4029075" y="713399"/>
                  </a:lnTo>
                  <a:lnTo>
                    <a:pt x="4073843" y="702305"/>
                  </a:lnTo>
                  <a:lnTo>
                    <a:pt x="4118610" y="691594"/>
                  </a:lnTo>
                  <a:lnTo>
                    <a:pt x="4163377" y="681245"/>
                  </a:lnTo>
                  <a:lnTo>
                    <a:pt x="4208145" y="671235"/>
                  </a:lnTo>
                  <a:lnTo>
                    <a:pt x="4252913" y="661541"/>
                  </a:lnTo>
                  <a:lnTo>
                    <a:pt x="4297680" y="652139"/>
                  </a:lnTo>
                  <a:lnTo>
                    <a:pt x="4342448" y="643008"/>
                  </a:lnTo>
                  <a:lnTo>
                    <a:pt x="4387215" y="634124"/>
                  </a:lnTo>
                  <a:lnTo>
                    <a:pt x="4431983" y="625466"/>
                  </a:lnTo>
                  <a:lnTo>
                    <a:pt x="4476750" y="617012"/>
                  </a:lnTo>
                  <a:lnTo>
                    <a:pt x="4521518" y="608740"/>
                  </a:lnTo>
                  <a:lnTo>
                    <a:pt x="4566285" y="600632"/>
                  </a:lnTo>
                  <a:lnTo>
                    <a:pt x="4611053" y="592666"/>
                  </a:lnTo>
                  <a:lnTo>
                    <a:pt x="4655820" y="584824"/>
                  </a:lnTo>
                  <a:lnTo>
                    <a:pt x="4700588" y="577090"/>
                  </a:lnTo>
                  <a:lnTo>
                    <a:pt x="4745355" y="569446"/>
                  </a:lnTo>
                  <a:lnTo>
                    <a:pt x="4790123" y="561877"/>
                  </a:lnTo>
                  <a:lnTo>
                    <a:pt x="4834890" y="554370"/>
                  </a:lnTo>
                  <a:lnTo>
                    <a:pt x="4879658" y="546913"/>
                  </a:lnTo>
                  <a:lnTo>
                    <a:pt x="4924425" y="539494"/>
                  </a:lnTo>
                  <a:lnTo>
                    <a:pt x="4969193" y="532103"/>
                  </a:lnTo>
                  <a:lnTo>
                    <a:pt x="5013960" y="524734"/>
                  </a:lnTo>
                  <a:lnTo>
                    <a:pt x="5058728" y="517378"/>
                  </a:lnTo>
                  <a:lnTo>
                    <a:pt x="5103495" y="510031"/>
                  </a:lnTo>
                  <a:lnTo>
                    <a:pt x="5148263" y="502690"/>
                  </a:lnTo>
                  <a:lnTo>
                    <a:pt x="5193030" y="495352"/>
                  </a:lnTo>
                  <a:lnTo>
                    <a:pt x="5237798" y="488020"/>
                  </a:lnTo>
                  <a:lnTo>
                    <a:pt x="5282565" y="480693"/>
                  </a:lnTo>
                  <a:lnTo>
                    <a:pt x="5327333" y="473375"/>
                  </a:lnTo>
                  <a:lnTo>
                    <a:pt x="5372100" y="466070"/>
                  </a:lnTo>
                  <a:lnTo>
                    <a:pt x="5416868" y="458785"/>
                  </a:lnTo>
                  <a:lnTo>
                    <a:pt x="5461635" y="451525"/>
                  </a:lnTo>
                  <a:lnTo>
                    <a:pt x="5506403" y="444295"/>
                  </a:lnTo>
                  <a:lnTo>
                    <a:pt x="5551170" y="437106"/>
                  </a:lnTo>
                  <a:lnTo>
                    <a:pt x="5595938" y="429967"/>
                  </a:lnTo>
                  <a:lnTo>
                    <a:pt x="5640705" y="422888"/>
                  </a:lnTo>
                  <a:lnTo>
                    <a:pt x="5685473" y="415881"/>
                  </a:lnTo>
                  <a:lnTo>
                    <a:pt x="5730240" y="408957"/>
                  </a:lnTo>
                  <a:lnTo>
                    <a:pt x="5775008" y="402127"/>
                  </a:lnTo>
                  <a:lnTo>
                    <a:pt x="5819775" y="395403"/>
                  </a:lnTo>
                  <a:lnTo>
                    <a:pt x="5864543" y="388796"/>
                  </a:lnTo>
                  <a:lnTo>
                    <a:pt x="5909310" y="382319"/>
                  </a:lnTo>
                  <a:lnTo>
                    <a:pt x="5954078" y="375980"/>
                  </a:lnTo>
                  <a:lnTo>
                    <a:pt x="5998845" y="369790"/>
                  </a:lnTo>
                  <a:lnTo>
                    <a:pt x="6043613" y="363761"/>
                  </a:lnTo>
                  <a:lnTo>
                    <a:pt x="6088380" y="357900"/>
                  </a:lnTo>
                  <a:lnTo>
                    <a:pt x="6133148" y="352216"/>
                  </a:lnTo>
                  <a:lnTo>
                    <a:pt x="6177915" y="346718"/>
                  </a:lnTo>
                  <a:lnTo>
                    <a:pt x="6222683" y="341412"/>
                  </a:lnTo>
                  <a:lnTo>
                    <a:pt x="6267450" y="336304"/>
                  </a:lnTo>
                  <a:lnTo>
                    <a:pt x="6312218" y="331399"/>
                  </a:lnTo>
                  <a:lnTo>
                    <a:pt x="6356985" y="326700"/>
                  </a:lnTo>
                  <a:lnTo>
                    <a:pt x="6401753" y="322210"/>
                  </a:lnTo>
                  <a:lnTo>
                    <a:pt x="6446520" y="317930"/>
                  </a:lnTo>
                  <a:lnTo>
                    <a:pt x="6491287" y="313861"/>
                  </a:lnTo>
                  <a:lnTo>
                    <a:pt x="6536055" y="310002"/>
                  </a:lnTo>
                  <a:lnTo>
                    <a:pt x="6580823" y="306353"/>
                  </a:lnTo>
                  <a:lnTo>
                    <a:pt x="6625590" y="302910"/>
                  </a:lnTo>
                  <a:lnTo>
                    <a:pt x="6670358" y="299672"/>
                  </a:lnTo>
                  <a:lnTo>
                    <a:pt x="6715125" y="296634"/>
                  </a:lnTo>
                  <a:lnTo>
                    <a:pt x="6759893" y="293792"/>
                  </a:lnTo>
                  <a:lnTo>
                    <a:pt x="6804660" y="291139"/>
                  </a:lnTo>
                  <a:lnTo>
                    <a:pt x="6849427" y="288670"/>
                  </a:lnTo>
                  <a:lnTo>
                    <a:pt x="6894195" y="286378"/>
                  </a:lnTo>
                  <a:lnTo>
                    <a:pt x="6938963" y="284256"/>
                  </a:lnTo>
                  <a:lnTo>
                    <a:pt x="6983730" y="282297"/>
                  </a:lnTo>
                  <a:lnTo>
                    <a:pt x="7028497" y="280494"/>
                  </a:lnTo>
                  <a:lnTo>
                    <a:pt x="7073265" y="278839"/>
                  </a:lnTo>
                  <a:lnTo>
                    <a:pt x="7118033" y="277324"/>
                  </a:lnTo>
                  <a:lnTo>
                    <a:pt x="7162800" y="275942"/>
                  </a:lnTo>
                  <a:lnTo>
                    <a:pt x="7207568" y="274684"/>
                  </a:lnTo>
                  <a:lnTo>
                    <a:pt x="7252335" y="273544"/>
                  </a:lnTo>
                  <a:lnTo>
                    <a:pt x="7297103" y="272514"/>
                  </a:lnTo>
                  <a:lnTo>
                    <a:pt x="7341870" y="271587"/>
                  </a:lnTo>
                  <a:lnTo>
                    <a:pt x="7386638" y="270755"/>
                  </a:lnTo>
                  <a:lnTo>
                    <a:pt x="7431405" y="270011"/>
                  </a:lnTo>
                  <a:lnTo>
                    <a:pt x="7476173" y="269349"/>
                  </a:lnTo>
                  <a:lnTo>
                    <a:pt x="7520940" y="268761"/>
                  </a:lnTo>
                  <a:lnTo>
                    <a:pt x="7565708" y="268242"/>
                  </a:lnTo>
                  <a:lnTo>
                    <a:pt x="7610475" y="267785"/>
                  </a:lnTo>
                  <a:lnTo>
                    <a:pt x="7655242" y="267384"/>
                  </a:lnTo>
                  <a:lnTo>
                    <a:pt x="7700010" y="267035"/>
                  </a:lnTo>
                  <a:lnTo>
                    <a:pt x="7744778" y="266733"/>
                  </a:lnTo>
                  <a:lnTo>
                    <a:pt x="7789545" y="266473"/>
                  </a:lnTo>
                  <a:lnTo>
                    <a:pt x="7834313" y="266252"/>
                  </a:lnTo>
                  <a:lnTo>
                    <a:pt x="7879080" y="266064"/>
                  </a:lnTo>
                  <a:lnTo>
                    <a:pt x="7923848" y="265906"/>
                  </a:lnTo>
                  <a:lnTo>
                    <a:pt x="7968615" y="265775"/>
                  </a:lnTo>
                  <a:lnTo>
                    <a:pt x="8013383" y="265667"/>
                  </a:lnTo>
                  <a:lnTo>
                    <a:pt x="8058150" y="265580"/>
                  </a:lnTo>
                  <a:lnTo>
                    <a:pt x="8102918" y="265511"/>
                  </a:lnTo>
                  <a:lnTo>
                    <a:pt x="8147685" y="265458"/>
                  </a:lnTo>
                  <a:lnTo>
                    <a:pt x="8192453" y="265417"/>
                  </a:lnTo>
                  <a:lnTo>
                    <a:pt x="8237220" y="265388"/>
                  </a:lnTo>
                  <a:lnTo>
                    <a:pt x="8281987" y="265367"/>
                  </a:lnTo>
                  <a:lnTo>
                    <a:pt x="8326755" y="265355"/>
                  </a:lnTo>
                  <a:lnTo>
                    <a:pt x="8371522" y="265350"/>
                  </a:lnTo>
                  <a:lnTo>
                    <a:pt x="8416290" y="265349"/>
                  </a:lnTo>
                  <a:lnTo>
                    <a:pt x="8461058" y="265353"/>
                  </a:lnTo>
                  <a:lnTo>
                    <a:pt x="8505825" y="265361"/>
                  </a:lnTo>
                  <a:lnTo>
                    <a:pt x="8550593" y="265371"/>
                  </a:lnTo>
                  <a:lnTo>
                    <a:pt x="8595360" y="265382"/>
                  </a:lnTo>
                  <a:lnTo>
                    <a:pt x="8640128" y="265394"/>
                  </a:lnTo>
                  <a:lnTo>
                    <a:pt x="8684895" y="265404"/>
                  </a:lnTo>
                  <a:lnTo>
                    <a:pt x="8729663" y="265414"/>
                  </a:lnTo>
                  <a:lnTo>
                    <a:pt x="8774430" y="265423"/>
                  </a:lnTo>
                  <a:lnTo>
                    <a:pt x="8819198" y="265430"/>
                  </a:lnTo>
                  <a:lnTo>
                    <a:pt x="8863965" y="265437"/>
                  </a:lnTo>
                  <a:lnTo>
                    <a:pt x="8908733" y="265441"/>
                  </a:lnTo>
                  <a:lnTo>
                    <a:pt x="8953500" y="265445"/>
                  </a:lnTo>
                  <a:lnTo>
                    <a:pt x="8998268" y="265446"/>
                  </a:lnTo>
                  <a:lnTo>
                    <a:pt x="9043035" y="265446"/>
                  </a:lnTo>
                  <a:lnTo>
                    <a:pt x="9087803" y="265445"/>
                  </a:lnTo>
                  <a:lnTo>
                    <a:pt x="9132570" y="265441"/>
                  </a:lnTo>
                  <a:lnTo>
                    <a:pt x="9177338" y="265437"/>
                  </a:lnTo>
                  <a:lnTo>
                    <a:pt x="9222105" y="265430"/>
                  </a:lnTo>
                  <a:lnTo>
                    <a:pt x="9266873" y="265422"/>
                  </a:lnTo>
                  <a:lnTo>
                    <a:pt x="9311640" y="265413"/>
                  </a:lnTo>
                  <a:lnTo>
                    <a:pt x="9356408" y="265403"/>
                  </a:lnTo>
                  <a:lnTo>
                    <a:pt x="9401175" y="265392"/>
                  </a:lnTo>
                  <a:lnTo>
                    <a:pt x="9445943" y="265379"/>
                  </a:lnTo>
                  <a:lnTo>
                    <a:pt x="9490710" y="265366"/>
                  </a:lnTo>
                  <a:lnTo>
                    <a:pt x="9535478" y="265353"/>
                  </a:lnTo>
                  <a:lnTo>
                    <a:pt x="9580245" y="265338"/>
                  </a:lnTo>
                  <a:lnTo>
                    <a:pt x="9625013" y="265324"/>
                  </a:lnTo>
                  <a:lnTo>
                    <a:pt x="9669780" y="265309"/>
                  </a:lnTo>
                  <a:lnTo>
                    <a:pt x="9714548" y="265293"/>
                  </a:lnTo>
                  <a:lnTo>
                    <a:pt x="9759315" y="265278"/>
                  </a:lnTo>
                  <a:lnTo>
                    <a:pt x="9804083" y="265263"/>
                  </a:lnTo>
                  <a:lnTo>
                    <a:pt x="9848850" y="265248"/>
                  </a:lnTo>
                  <a:lnTo>
                    <a:pt x="9893618" y="265234"/>
                  </a:lnTo>
                  <a:lnTo>
                    <a:pt x="9938385" y="265219"/>
                  </a:lnTo>
                  <a:lnTo>
                    <a:pt x="9983153" y="265206"/>
                  </a:lnTo>
                  <a:lnTo>
                    <a:pt x="10027920" y="265192"/>
                  </a:lnTo>
                  <a:lnTo>
                    <a:pt x="10072688" y="265180"/>
                  </a:lnTo>
                  <a:lnTo>
                    <a:pt x="10117455" y="265168"/>
                  </a:lnTo>
                  <a:lnTo>
                    <a:pt x="10162223" y="265157"/>
                  </a:lnTo>
                  <a:lnTo>
                    <a:pt x="10206990" y="265147"/>
                  </a:lnTo>
                  <a:lnTo>
                    <a:pt x="10251758" y="265138"/>
                  </a:lnTo>
                  <a:lnTo>
                    <a:pt x="10296525" y="265130"/>
                  </a:lnTo>
                  <a:lnTo>
                    <a:pt x="10341293" y="265122"/>
                  </a:lnTo>
                  <a:lnTo>
                    <a:pt x="10386060" y="265116"/>
                  </a:lnTo>
                  <a:lnTo>
                    <a:pt x="10430828" y="265112"/>
                  </a:lnTo>
                  <a:lnTo>
                    <a:pt x="10475595" y="265108"/>
                  </a:lnTo>
                  <a:lnTo>
                    <a:pt x="10520363" y="265105"/>
                  </a:lnTo>
                  <a:lnTo>
                    <a:pt x="10565130" y="265104"/>
                  </a:lnTo>
                  <a:lnTo>
                    <a:pt x="10609898" y="265104"/>
                  </a:lnTo>
                  <a:lnTo>
                    <a:pt x="10654665" y="265105"/>
                  </a:lnTo>
                  <a:lnTo>
                    <a:pt x="10699433" y="265107"/>
                  </a:lnTo>
                  <a:lnTo>
                    <a:pt x="10744200" y="265109"/>
                  </a:lnTo>
                  <a:lnTo>
                    <a:pt x="10744200" y="2862099"/>
                  </a:lnTo>
                  <a:lnTo>
                    <a:pt x="10699433" y="2857318"/>
                  </a:lnTo>
                  <a:lnTo>
                    <a:pt x="10654665" y="2852269"/>
                  </a:lnTo>
                  <a:lnTo>
                    <a:pt x="10609898" y="2846949"/>
                  </a:lnTo>
                  <a:lnTo>
                    <a:pt x="10565130" y="2841355"/>
                  </a:lnTo>
                  <a:lnTo>
                    <a:pt x="10520363" y="2835487"/>
                  </a:lnTo>
                  <a:lnTo>
                    <a:pt x="10475595" y="2829343"/>
                  </a:lnTo>
                  <a:lnTo>
                    <a:pt x="10430828" y="2822924"/>
                  </a:lnTo>
                  <a:lnTo>
                    <a:pt x="10386060" y="2816231"/>
                  </a:lnTo>
                  <a:lnTo>
                    <a:pt x="10341293" y="2809264"/>
                  </a:lnTo>
                  <a:lnTo>
                    <a:pt x="10296525" y="2802025"/>
                  </a:lnTo>
                  <a:lnTo>
                    <a:pt x="10251758" y="2794514"/>
                  </a:lnTo>
                  <a:lnTo>
                    <a:pt x="10206990" y="2786733"/>
                  </a:lnTo>
                  <a:lnTo>
                    <a:pt x="10162223" y="2778687"/>
                  </a:lnTo>
                  <a:lnTo>
                    <a:pt x="10117455" y="2770377"/>
                  </a:lnTo>
                  <a:lnTo>
                    <a:pt x="10072688" y="2761806"/>
                  </a:lnTo>
                  <a:lnTo>
                    <a:pt x="10027920" y="2752977"/>
                  </a:lnTo>
                  <a:lnTo>
                    <a:pt x="9983153" y="2743892"/>
                  </a:lnTo>
                  <a:lnTo>
                    <a:pt x="9938385" y="2734552"/>
                  </a:lnTo>
                  <a:lnTo>
                    <a:pt x="9893618" y="2724959"/>
                  </a:lnTo>
                  <a:lnTo>
                    <a:pt x="9848850" y="2715114"/>
                  </a:lnTo>
                  <a:lnTo>
                    <a:pt x="9804083" y="2705015"/>
                  </a:lnTo>
                  <a:lnTo>
                    <a:pt x="9759315" y="2694660"/>
                  </a:lnTo>
                  <a:lnTo>
                    <a:pt x="9714548" y="2684048"/>
                  </a:lnTo>
                  <a:lnTo>
                    <a:pt x="9669780" y="2673172"/>
                  </a:lnTo>
                  <a:lnTo>
                    <a:pt x="9625013" y="2662029"/>
                  </a:lnTo>
                  <a:lnTo>
                    <a:pt x="9580245" y="2650609"/>
                  </a:lnTo>
                  <a:lnTo>
                    <a:pt x="9535478" y="2638905"/>
                  </a:lnTo>
                  <a:lnTo>
                    <a:pt x="9490710" y="2626906"/>
                  </a:lnTo>
                  <a:lnTo>
                    <a:pt x="9445943" y="2614599"/>
                  </a:lnTo>
                  <a:lnTo>
                    <a:pt x="9401175" y="2601973"/>
                  </a:lnTo>
                  <a:lnTo>
                    <a:pt x="9356408" y="2589014"/>
                  </a:lnTo>
                  <a:lnTo>
                    <a:pt x="9311640" y="2575705"/>
                  </a:lnTo>
                  <a:lnTo>
                    <a:pt x="9266873" y="2562027"/>
                  </a:lnTo>
                  <a:lnTo>
                    <a:pt x="9222105" y="2547963"/>
                  </a:lnTo>
                  <a:lnTo>
                    <a:pt x="9177338" y="2533491"/>
                  </a:lnTo>
                  <a:lnTo>
                    <a:pt x="9132570" y="2518591"/>
                  </a:lnTo>
                  <a:lnTo>
                    <a:pt x="9087803" y="2503239"/>
                  </a:lnTo>
                  <a:lnTo>
                    <a:pt x="9043035" y="2487414"/>
                  </a:lnTo>
                  <a:lnTo>
                    <a:pt x="8998268" y="2471093"/>
                  </a:lnTo>
                  <a:lnTo>
                    <a:pt x="8953500" y="2454259"/>
                  </a:lnTo>
                  <a:lnTo>
                    <a:pt x="8908733" y="2436890"/>
                  </a:lnTo>
                  <a:lnTo>
                    <a:pt x="8863965" y="2418965"/>
                  </a:lnTo>
                  <a:lnTo>
                    <a:pt x="8819198" y="2400465"/>
                  </a:lnTo>
                  <a:lnTo>
                    <a:pt x="8774430" y="2381371"/>
                  </a:lnTo>
                  <a:lnTo>
                    <a:pt x="8729663" y="2361667"/>
                  </a:lnTo>
                  <a:lnTo>
                    <a:pt x="8684895" y="2341337"/>
                  </a:lnTo>
                  <a:lnTo>
                    <a:pt x="8640128" y="2320371"/>
                  </a:lnTo>
                  <a:lnTo>
                    <a:pt x="8595360" y="2298757"/>
                  </a:lnTo>
                  <a:lnTo>
                    <a:pt x="8550593" y="2276488"/>
                  </a:lnTo>
                  <a:lnTo>
                    <a:pt x="8505825" y="2253562"/>
                  </a:lnTo>
                  <a:lnTo>
                    <a:pt x="8461058" y="2229980"/>
                  </a:lnTo>
                  <a:lnTo>
                    <a:pt x="8416290" y="2205743"/>
                  </a:lnTo>
                  <a:lnTo>
                    <a:pt x="8371522" y="2180860"/>
                  </a:lnTo>
                  <a:lnTo>
                    <a:pt x="8326755" y="2155341"/>
                  </a:lnTo>
                  <a:lnTo>
                    <a:pt x="8281987" y="2129202"/>
                  </a:lnTo>
                  <a:lnTo>
                    <a:pt x="8237220" y="2102460"/>
                  </a:lnTo>
                  <a:lnTo>
                    <a:pt x="8192453" y="2075138"/>
                  </a:lnTo>
                  <a:lnTo>
                    <a:pt x="8147685" y="2047263"/>
                  </a:lnTo>
                  <a:lnTo>
                    <a:pt x="8102918" y="2018866"/>
                  </a:lnTo>
                  <a:lnTo>
                    <a:pt x="8058150" y="1989980"/>
                  </a:lnTo>
                  <a:lnTo>
                    <a:pt x="8013383" y="1960644"/>
                  </a:lnTo>
                  <a:lnTo>
                    <a:pt x="7968615" y="1930900"/>
                  </a:lnTo>
                  <a:lnTo>
                    <a:pt x="7923848" y="1900794"/>
                  </a:lnTo>
                  <a:lnTo>
                    <a:pt x="7879080" y="1870373"/>
                  </a:lnTo>
                  <a:lnTo>
                    <a:pt x="7834313" y="1839688"/>
                  </a:lnTo>
                  <a:lnTo>
                    <a:pt x="7789545" y="1808793"/>
                  </a:lnTo>
                  <a:lnTo>
                    <a:pt x="7744778" y="1777742"/>
                  </a:lnTo>
                  <a:lnTo>
                    <a:pt x="7700010" y="1746593"/>
                  </a:lnTo>
                  <a:lnTo>
                    <a:pt x="7655242" y="1715403"/>
                  </a:lnTo>
                  <a:lnTo>
                    <a:pt x="7610475" y="1684234"/>
                  </a:lnTo>
                  <a:lnTo>
                    <a:pt x="7565708" y="1653144"/>
                  </a:lnTo>
                  <a:lnTo>
                    <a:pt x="7520940" y="1622194"/>
                  </a:lnTo>
                  <a:lnTo>
                    <a:pt x="7476173" y="1591446"/>
                  </a:lnTo>
                  <a:lnTo>
                    <a:pt x="7431405" y="1560957"/>
                  </a:lnTo>
                  <a:lnTo>
                    <a:pt x="7386638" y="1530788"/>
                  </a:lnTo>
                  <a:lnTo>
                    <a:pt x="7341870" y="1500995"/>
                  </a:lnTo>
                  <a:lnTo>
                    <a:pt x="7297103" y="1471634"/>
                  </a:lnTo>
                  <a:lnTo>
                    <a:pt x="7252335" y="1442758"/>
                  </a:lnTo>
                  <a:lnTo>
                    <a:pt x="7207568" y="1414419"/>
                  </a:lnTo>
                  <a:lnTo>
                    <a:pt x="7162800" y="1386665"/>
                  </a:lnTo>
                  <a:lnTo>
                    <a:pt x="7118033" y="1359542"/>
                  </a:lnTo>
                  <a:lnTo>
                    <a:pt x="7073265" y="1333091"/>
                  </a:lnTo>
                  <a:lnTo>
                    <a:pt x="7028497" y="1307350"/>
                  </a:lnTo>
                  <a:lnTo>
                    <a:pt x="6983730" y="1282355"/>
                  </a:lnTo>
                  <a:lnTo>
                    <a:pt x="6938963" y="1258136"/>
                  </a:lnTo>
                  <a:lnTo>
                    <a:pt x="6894195" y="1234721"/>
                  </a:lnTo>
                  <a:lnTo>
                    <a:pt x="6849427" y="1212133"/>
                  </a:lnTo>
                  <a:lnTo>
                    <a:pt x="6804660" y="1190393"/>
                  </a:lnTo>
                  <a:lnTo>
                    <a:pt x="6759893" y="1169513"/>
                  </a:lnTo>
                  <a:lnTo>
                    <a:pt x="6715125" y="1149507"/>
                  </a:lnTo>
                  <a:lnTo>
                    <a:pt x="6670358" y="1130381"/>
                  </a:lnTo>
                  <a:lnTo>
                    <a:pt x="6625590" y="1112138"/>
                  </a:lnTo>
                  <a:lnTo>
                    <a:pt x="6580823" y="1094777"/>
                  </a:lnTo>
                  <a:lnTo>
                    <a:pt x="6536055" y="1078294"/>
                  </a:lnTo>
                  <a:lnTo>
                    <a:pt x="6491287" y="1062682"/>
                  </a:lnTo>
                  <a:lnTo>
                    <a:pt x="6446520" y="1047928"/>
                  </a:lnTo>
                  <a:lnTo>
                    <a:pt x="6401753" y="1034020"/>
                  </a:lnTo>
                  <a:lnTo>
                    <a:pt x="6356985" y="1020939"/>
                  </a:lnTo>
                  <a:lnTo>
                    <a:pt x="6312218" y="1008666"/>
                  </a:lnTo>
                  <a:lnTo>
                    <a:pt x="6267450" y="997180"/>
                  </a:lnTo>
                  <a:lnTo>
                    <a:pt x="6222683" y="986457"/>
                  </a:lnTo>
                  <a:lnTo>
                    <a:pt x="6177915" y="976471"/>
                  </a:lnTo>
                  <a:lnTo>
                    <a:pt x="6133148" y="967200"/>
                  </a:lnTo>
                  <a:lnTo>
                    <a:pt x="6088380" y="958615"/>
                  </a:lnTo>
                  <a:lnTo>
                    <a:pt x="6043613" y="950685"/>
                  </a:lnTo>
                  <a:lnTo>
                    <a:pt x="5998845" y="943380"/>
                  </a:lnTo>
                  <a:lnTo>
                    <a:pt x="5954078" y="936668"/>
                  </a:lnTo>
                  <a:lnTo>
                    <a:pt x="5909310" y="930520"/>
                  </a:lnTo>
                  <a:lnTo>
                    <a:pt x="5864543" y="924904"/>
                  </a:lnTo>
                  <a:lnTo>
                    <a:pt x="5819775" y="919791"/>
                  </a:lnTo>
                  <a:lnTo>
                    <a:pt x="5775008" y="915150"/>
                  </a:lnTo>
                  <a:lnTo>
                    <a:pt x="5730240" y="910954"/>
                  </a:lnTo>
                  <a:lnTo>
                    <a:pt x="5685473" y="907176"/>
                  </a:lnTo>
                  <a:lnTo>
                    <a:pt x="5640705" y="903788"/>
                  </a:lnTo>
                  <a:lnTo>
                    <a:pt x="5595938" y="900764"/>
                  </a:lnTo>
                  <a:lnTo>
                    <a:pt x="5551170" y="898080"/>
                  </a:lnTo>
                  <a:lnTo>
                    <a:pt x="5506403" y="895711"/>
                  </a:lnTo>
                  <a:lnTo>
                    <a:pt x="5461635" y="893636"/>
                  </a:lnTo>
                  <a:lnTo>
                    <a:pt x="5416868" y="891832"/>
                  </a:lnTo>
                  <a:lnTo>
                    <a:pt x="5372100" y="890287"/>
                  </a:lnTo>
                  <a:lnTo>
                    <a:pt x="5327333" y="888982"/>
                  </a:lnTo>
                  <a:lnTo>
                    <a:pt x="5282565" y="887903"/>
                  </a:lnTo>
                  <a:lnTo>
                    <a:pt x="5237798" y="887035"/>
                  </a:lnTo>
                  <a:lnTo>
                    <a:pt x="5193030" y="886369"/>
                  </a:lnTo>
                  <a:lnTo>
                    <a:pt x="5148263" y="885894"/>
                  </a:lnTo>
                  <a:lnTo>
                    <a:pt x="5103495" y="885602"/>
                  </a:lnTo>
                  <a:lnTo>
                    <a:pt x="5058728" y="885487"/>
                  </a:lnTo>
                  <a:lnTo>
                    <a:pt x="5013960" y="885543"/>
                  </a:lnTo>
                  <a:lnTo>
                    <a:pt x="4969193" y="885769"/>
                  </a:lnTo>
                  <a:lnTo>
                    <a:pt x="4924425" y="886166"/>
                  </a:lnTo>
                  <a:lnTo>
                    <a:pt x="4879658" y="886733"/>
                  </a:lnTo>
                  <a:lnTo>
                    <a:pt x="4834890" y="887473"/>
                  </a:lnTo>
                  <a:lnTo>
                    <a:pt x="4790123" y="888387"/>
                  </a:lnTo>
                  <a:lnTo>
                    <a:pt x="4745355" y="889481"/>
                  </a:lnTo>
                  <a:lnTo>
                    <a:pt x="4700588" y="890762"/>
                  </a:lnTo>
                  <a:lnTo>
                    <a:pt x="4655820" y="892240"/>
                  </a:lnTo>
                  <a:lnTo>
                    <a:pt x="4611053" y="893923"/>
                  </a:lnTo>
                  <a:lnTo>
                    <a:pt x="4566285" y="895824"/>
                  </a:lnTo>
                  <a:lnTo>
                    <a:pt x="4521518" y="897954"/>
                  </a:lnTo>
                  <a:lnTo>
                    <a:pt x="4476750" y="900328"/>
                  </a:lnTo>
                  <a:lnTo>
                    <a:pt x="4431983" y="902961"/>
                  </a:lnTo>
                  <a:lnTo>
                    <a:pt x="4387215" y="905869"/>
                  </a:lnTo>
                  <a:lnTo>
                    <a:pt x="4342448" y="909064"/>
                  </a:lnTo>
                  <a:lnTo>
                    <a:pt x="4297680" y="912564"/>
                  </a:lnTo>
                  <a:lnTo>
                    <a:pt x="4252913" y="916391"/>
                  </a:lnTo>
                  <a:lnTo>
                    <a:pt x="4208145" y="920563"/>
                  </a:lnTo>
                  <a:lnTo>
                    <a:pt x="4163377" y="925102"/>
                  </a:lnTo>
                  <a:lnTo>
                    <a:pt x="4118610" y="930030"/>
                  </a:lnTo>
                  <a:lnTo>
                    <a:pt x="4073843" y="935367"/>
                  </a:lnTo>
                  <a:lnTo>
                    <a:pt x="4029075" y="941136"/>
                  </a:lnTo>
                  <a:lnTo>
                    <a:pt x="3984308" y="947360"/>
                  </a:lnTo>
                  <a:lnTo>
                    <a:pt x="3939540" y="954061"/>
                  </a:lnTo>
                  <a:lnTo>
                    <a:pt x="3894773" y="961260"/>
                  </a:lnTo>
                  <a:lnTo>
                    <a:pt x="3850005" y="968980"/>
                  </a:lnTo>
                  <a:lnTo>
                    <a:pt x="3805237" y="977244"/>
                  </a:lnTo>
                  <a:lnTo>
                    <a:pt x="3760470" y="986073"/>
                  </a:lnTo>
                  <a:lnTo>
                    <a:pt x="3715703" y="995489"/>
                  </a:lnTo>
                  <a:lnTo>
                    <a:pt x="3670935" y="1005512"/>
                  </a:lnTo>
                  <a:lnTo>
                    <a:pt x="3626168" y="1016162"/>
                  </a:lnTo>
                  <a:lnTo>
                    <a:pt x="3581400" y="1027456"/>
                  </a:lnTo>
                  <a:lnTo>
                    <a:pt x="3536633" y="1039411"/>
                  </a:lnTo>
                  <a:lnTo>
                    <a:pt x="3491865" y="1052042"/>
                  </a:lnTo>
                  <a:lnTo>
                    <a:pt x="3447098" y="1065365"/>
                  </a:lnTo>
                  <a:lnTo>
                    <a:pt x="3402330" y="1079392"/>
                  </a:lnTo>
                  <a:lnTo>
                    <a:pt x="3357563" y="1094135"/>
                  </a:lnTo>
                  <a:lnTo>
                    <a:pt x="3312795" y="1109602"/>
                  </a:lnTo>
                  <a:lnTo>
                    <a:pt x="3268028" y="1125801"/>
                  </a:lnTo>
                  <a:lnTo>
                    <a:pt x="3223260" y="1142737"/>
                  </a:lnTo>
                  <a:lnTo>
                    <a:pt x="3178493" y="1160414"/>
                  </a:lnTo>
                  <a:lnTo>
                    <a:pt x="3133725" y="1178828"/>
                  </a:lnTo>
                  <a:lnTo>
                    <a:pt x="3088958" y="1197977"/>
                  </a:lnTo>
                  <a:lnTo>
                    <a:pt x="3044190" y="1217858"/>
                  </a:lnTo>
                  <a:lnTo>
                    <a:pt x="2999423" y="1238462"/>
                  </a:lnTo>
                  <a:lnTo>
                    <a:pt x="2954655" y="1259780"/>
                  </a:lnTo>
                  <a:lnTo>
                    <a:pt x="2909887" y="1281801"/>
                  </a:lnTo>
                  <a:lnTo>
                    <a:pt x="2865120" y="1304509"/>
                  </a:lnTo>
                  <a:lnTo>
                    <a:pt x="2820353" y="1327888"/>
                  </a:lnTo>
                  <a:lnTo>
                    <a:pt x="2775585" y="1351918"/>
                  </a:lnTo>
                  <a:lnTo>
                    <a:pt x="2730818" y="1376577"/>
                  </a:lnTo>
                  <a:lnTo>
                    <a:pt x="2686050" y="1401841"/>
                  </a:lnTo>
                  <a:lnTo>
                    <a:pt x="2641283" y="1427683"/>
                  </a:lnTo>
                  <a:lnTo>
                    <a:pt x="2596515" y="1454075"/>
                  </a:lnTo>
                  <a:lnTo>
                    <a:pt x="2551748" y="1480986"/>
                  </a:lnTo>
                  <a:lnTo>
                    <a:pt x="2506980" y="1508383"/>
                  </a:lnTo>
                  <a:lnTo>
                    <a:pt x="2462213" y="1536232"/>
                  </a:lnTo>
                  <a:lnTo>
                    <a:pt x="2417445" y="1564497"/>
                  </a:lnTo>
                  <a:lnTo>
                    <a:pt x="2372678" y="1593139"/>
                  </a:lnTo>
                  <a:lnTo>
                    <a:pt x="2327910" y="1622121"/>
                  </a:lnTo>
                  <a:lnTo>
                    <a:pt x="2283143" y="1651402"/>
                  </a:lnTo>
                  <a:lnTo>
                    <a:pt x="2238375" y="1680938"/>
                  </a:lnTo>
                  <a:lnTo>
                    <a:pt x="2193608" y="1710688"/>
                  </a:lnTo>
                  <a:lnTo>
                    <a:pt x="2148840" y="1740607"/>
                  </a:lnTo>
                  <a:lnTo>
                    <a:pt x="2104073" y="1770653"/>
                  </a:lnTo>
                  <a:lnTo>
                    <a:pt x="2059305" y="1800780"/>
                  </a:lnTo>
                  <a:lnTo>
                    <a:pt x="2014538" y="1830946"/>
                  </a:lnTo>
                  <a:lnTo>
                    <a:pt x="1969770" y="1861105"/>
                  </a:lnTo>
                  <a:lnTo>
                    <a:pt x="1925002" y="1891214"/>
                  </a:lnTo>
                  <a:lnTo>
                    <a:pt x="1880235" y="1921230"/>
                  </a:lnTo>
                  <a:lnTo>
                    <a:pt x="1835468" y="1951108"/>
                  </a:lnTo>
                  <a:lnTo>
                    <a:pt x="1790700" y="1980806"/>
                  </a:lnTo>
                  <a:lnTo>
                    <a:pt x="1745932" y="2010283"/>
                  </a:lnTo>
                  <a:lnTo>
                    <a:pt x="1701165" y="2039499"/>
                  </a:lnTo>
                  <a:lnTo>
                    <a:pt x="1656398" y="2068413"/>
                  </a:lnTo>
                  <a:lnTo>
                    <a:pt x="1611630" y="2096988"/>
                  </a:lnTo>
                  <a:lnTo>
                    <a:pt x="1566863" y="2125186"/>
                  </a:lnTo>
                  <a:lnTo>
                    <a:pt x="1522095" y="2152974"/>
                  </a:lnTo>
                  <a:lnTo>
                    <a:pt x="1477328" y="2180319"/>
                  </a:lnTo>
                  <a:lnTo>
                    <a:pt x="1432560" y="2207187"/>
                  </a:lnTo>
                  <a:lnTo>
                    <a:pt x="1387793" y="2233552"/>
                  </a:lnTo>
                  <a:lnTo>
                    <a:pt x="1343025" y="2259384"/>
                  </a:lnTo>
                  <a:lnTo>
                    <a:pt x="1298258" y="2284660"/>
                  </a:lnTo>
                  <a:lnTo>
                    <a:pt x="1253490" y="2309355"/>
                  </a:lnTo>
                  <a:lnTo>
                    <a:pt x="1208723" y="2333447"/>
                  </a:lnTo>
                  <a:lnTo>
                    <a:pt x="1163955" y="2356919"/>
                  </a:lnTo>
                  <a:lnTo>
                    <a:pt x="1119188" y="2379754"/>
                  </a:lnTo>
                  <a:lnTo>
                    <a:pt x="1074420" y="2401938"/>
                  </a:lnTo>
                  <a:lnTo>
                    <a:pt x="1029653" y="2423458"/>
                  </a:lnTo>
                  <a:lnTo>
                    <a:pt x="984885" y="2444307"/>
                  </a:lnTo>
                  <a:lnTo>
                    <a:pt x="940118" y="2464475"/>
                  </a:lnTo>
                  <a:lnTo>
                    <a:pt x="895350" y="2483958"/>
                  </a:lnTo>
                  <a:lnTo>
                    <a:pt x="850583" y="2502753"/>
                  </a:lnTo>
                  <a:lnTo>
                    <a:pt x="805815" y="2520857"/>
                  </a:lnTo>
                  <a:lnTo>
                    <a:pt x="761048" y="2538270"/>
                  </a:lnTo>
                  <a:lnTo>
                    <a:pt x="716280" y="2554993"/>
                  </a:lnTo>
                  <a:lnTo>
                    <a:pt x="671513" y="2571032"/>
                  </a:lnTo>
                  <a:lnTo>
                    <a:pt x="626745" y="2586393"/>
                  </a:lnTo>
                  <a:lnTo>
                    <a:pt x="581978" y="2601083"/>
                  </a:lnTo>
                  <a:lnTo>
                    <a:pt x="537210" y="2615113"/>
                  </a:lnTo>
                  <a:lnTo>
                    <a:pt x="492443" y="2628491"/>
                  </a:lnTo>
                  <a:lnTo>
                    <a:pt x="447675" y="2641231"/>
                  </a:lnTo>
                  <a:lnTo>
                    <a:pt x="402908" y="2653345"/>
                  </a:lnTo>
                  <a:lnTo>
                    <a:pt x="358140" y="2664846"/>
                  </a:lnTo>
                  <a:lnTo>
                    <a:pt x="313373" y="2675748"/>
                  </a:lnTo>
                  <a:lnTo>
                    <a:pt x="268605" y="2686067"/>
                  </a:lnTo>
                  <a:lnTo>
                    <a:pt x="223838" y="2695817"/>
                  </a:lnTo>
                  <a:lnTo>
                    <a:pt x="179070" y="2705018"/>
                  </a:lnTo>
                  <a:lnTo>
                    <a:pt x="134303" y="2713685"/>
                  </a:lnTo>
                  <a:lnTo>
                    <a:pt x="89535" y="2721838"/>
                  </a:lnTo>
                  <a:lnTo>
                    <a:pt x="44768" y="2729493"/>
                  </a:lnTo>
                  <a:lnTo>
                    <a:pt x="0" y="2736669"/>
                  </a:lnTo>
                  <a:close/>
                </a:path>
              </a:pathLst>
            </a:custGeom>
            <a:solidFill>
              <a:srgbClr val="0047FF"/>
            </a:solidFill>
            <a:ln>
              <a:noFill/>
            </a:ln>
          </p:spPr>
        </p:sp>
        <p:sp>
          <p:nvSpPr>
            <p:cNvPr id="10" name="node01.phases.source-001.label"/>
            <p:cNvSpPr/>
            <p:nvPr/>
          </p:nvSpPr>
          <p:spPr>
            <a:xfrm>
              <a:off x="838200" y="5143500"/>
              <a:ext cx="3352800" cy="8001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FORMING</a:t>
              </a:r>
              <a:endParaRPr lang="en-US" sz="900" spc="72" kern="0" b="0" i="0" dirty="0">
                <a:solidFill>
                  <a:srgbClr val="0047FF"/>
                </a:solidFill>
                <a:latin typeface="IBM Plex Mono SemiBold"/>
                <a:ea typeface="IBM Plex Mono SemiBold"/>
                <a:cs typeface="IBM Plex Mono SemiBold"/>
              </a:endParaRPr>
            </a:p>
          </p:txBody>
        </p:sp>
        <p:sp>
          <p:nvSpPr>
            <p:cNvPr id="11" name="node01.phases.source-001.sub"/>
            <p:cNvSpPr/>
            <p:nvPr/>
          </p:nvSpPr>
          <p:spPr>
            <a:xfrm>
              <a:off x="838200" y="5308600"/>
              <a:ext cx="3352800" cy="635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Diagnose the estate and benchmark the baseline.</a:t>
              </a:r>
              <a:endParaRPr lang="en-US" sz="1100" spc="0" kern="0" b="0" i="0" dirty="0">
                <a:solidFill>
                  <a:srgbClr val="50658E"/>
                </a:solidFill>
                <a:latin typeface="IBM Plex Sans"/>
                <a:ea typeface="IBM Plex Sans"/>
                <a:cs typeface="IBM Plex Sans"/>
              </a:endParaRPr>
            </a:p>
          </p:txBody>
        </p:sp>
        <p:sp>
          <p:nvSpPr>
            <p:cNvPr id="12" name="node01.phases.source-002.rule"/>
            <p:cNvSpPr/>
            <p:nvPr/>
          </p:nvSpPr>
          <p:spPr>
            <a:xfrm>
              <a:off x="4305300" y="1600200"/>
              <a:ext cx="0" cy="4343400"/>
            </a:xfrm>
            <a:prstGeom prst="line">
              <a:avLst/>
            </a:prstGeom>
            <a:noFill/>
            <a:ln w="9525">
              <a:solidFill>
                <a:srgbClr val="97A4BA"/>
              </a:solidFill>
              <a:prstDash val="solid"/>
            </a:ln>
          </p:spPr>
        </p:sp>
        <p:sp>
          <p:nvSpPr>
            <p:cNvPr id="13" name="node01.phases.source-002.label"/>
            <p:cNvSpPr/>
            <p:nvPr/>
          </p:nvSpPr>
          <p:spPr>
            <a:xfrm>
              <a:off x="4419600" y="5143500"/>
              <a:ext cx="3352800" cy="8001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NORMING AND PERFORMING</a:t>
              </a:r>
              <a:endParaRPr lang="en-US" sz="900" spc="72" kern="0" b="0" i="0" dirty="0">
                <a:solidFill>
                  <a:srgbClr val="0047FF"/>
                </a:solidFill>
                <a:latin typeface="IBM Plex Mono SemiBold"/>
                <a:ea typeface="IBM Plex Mono SemiBold"/>
                <a:cs typeface="IBM Plex Mono SemiBold"/>
              </a:endParaRPr>
            </a:p>
          </p:txBody>
        </p:sp>
        <p:sp>
          <p:nvSpPr>
            <p:cNvPr id="14" name="node01.phases.source-002.sub"/>
            <p:cNvSpPr/>
            <p:nvPr/>
          </p:nvSpPr>
          <p:spPr>
            <a:xfrm>
              <a:off x="4419600" y="5308600"/>
              <a:ext cx="3352800" cy="635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Establish the standard we all build to.</a:t>
              </a:r>
              <a:endParaRPr lang="en-US" sz="1100" spc="0" kern="0" b="0" i="0" dirty="0">
                <a:solidFill>
                  <a:srgbClr val="50658E"/>
                </a:solidFill>
                <a:latin typeface="IBM Plex Sans"/>
                <a:ea typeface="IBM Plex Sans"/>
                <a:cs typeface="IBM Plex Sans"/>
              </a:endParaRPr>
            </a:p>
          </p:txBody>
        </p:sp>
        <p:sp>
          <p:nvSpPr>
            <p:cNvPr id="15" name="node01.phases.source-003.rule"/>
            <p:cNvSpPr/>
            <p:nvPr/>
          </p:nvSpPr>
          <p:spPr>
            <a:xfrm>
              <a:off x="7886700" y="1600200"/>
              <a:ext cx="0" cy="4343400"/>
            </a:xfrm>
            <a:prstGeom prst="line">
              <a:avLst/>
            </a:prstGeom>
            <a:noFill/>
            <a:ln w="9525">
              <a:solidFill>
                <a:srgbClr val="97A4BA"/>
              </a:solidFill>
              <a:prstDash val="solid"/>
            </a:ln>
          </p:spPr>
        </p:sp>
        <p:sp>
          <p:nvSpPr>
            <p:cNvPr id="16" name="node01.phases.source-003.label"/>
            <p:cNvSpPr/>
            <p:nvPr/>
          </p:nvSpPr>
          <p:spPr>
            <a:xfrm>
              <a:off x="8001000" y="5143500"/>
              <a:ext cx="3352800" cy="8001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OPTIMIZING AND SUSTAINING</a:t>
              </a:r>
              <a:endParaRPr lang="en-US" sz="900" spc="72" kern="0" b="0" i="0" dirty="0">
                <a:solidFill>
                  <a:srgbClr val="0047FF"/>
                </a:solidFill>
                <a:latin typeface="IBM Plex Mono SemiBold"/>
                <a:ea typeface="IBM Plex Mono SemiBold"/>
                <a:cs typeface="IBM Plex Mono SemiBold"/>
              </a:endParaRPr>
            </a:p>
          </p:txBody>
        </p:sp>
        <p:sp>
          <p:nvSpPr>
            <p:cNvPr id="17" name="node01.phases.source-003.sub"/>
            <p:cNvSpPr/>
            <p:nvPr/>
          </p:nvSpPr>
          <p:spPr>
            <a:xfrm>
              <a:off x="8001000" y="5308600"/>
              <a:ext cx="3352800" cy="635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Scale the model and hand over the run.</a:t>
              </a:r>
              <a:endParaRPr lang="en-US" sz="1100" spc="0" kern="0" b="0" i="0" dirty="0">
                <a:solidFill>
                  <a:srgbClr val="50658E"/>
                </a:solidFill>
                <a:latin typeface="IBM Plex Sans"/>
                <a:ea typeface="IBM Plex Sans"/>
                <a:cs typeface="IBM Plex Sans"/>
              </a:endParaRPr>
            </a:p>
          </p:txBody>
        </p:sp>
        <p:sp>
          <p:nvSpPr>
            <p:cNvPr id="18" name="node01.series.source-001.label"/>
            <p:cNvSpPr/>
            <p:nvPr/>
          </p:nvSpPr>
          <p:spPr>
            <a:xfrm>
              <a:off x="1752600" y="4713973"/>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NORTHFIELD TEAM</a:t>
              </a:r>
              <a:endParaRPr lang="en-US" sz="800" spc="48" kern="0" b="0" i="0" dirty="0">
                <a:solidFill>
                  <a:srgbClr val="070154"/>
                </a:solidFill>
                <a:latin typeface="IBM Plex Mono SemiBold"/>
                <a:ea typeface="IBM Plex Mono SemiBold"/>
                <a:cs typeface="IBM Plex Mono SemiBold"/>
              </a:endParaRPr>
            </a:p>
          </p:txBody>
        </p:sp>
      </p:grpSp>
      <p:grpSp>
        <p:nvGrpSpPr>
          <p:cNvPr id="35" name="node02"/>
          <p:cNvGrpSpPr/>
          <p:nvPr/>
        </p:nvGrpSpPr>
        <p:grpSpPr>
          <a:xfrm>
            <a:off x="723900" y="1600200"/>
            <a:ext cx="3200400" cy="647700"/>
            <a:chOff x="723900" y="1600200"/>
            <a:chExt cx="3200400" cy="647700"/>
          </a:xfrm>
        </p:grpSpPr>
        <p:sp>
          <p:nvSpPr>
            <p:cNvPr id="19" name="node02.text"/>
            <p:cNvSpPr/>
            <p:nvPr/>
          </p:nvSpPr>
          <p:spPr>
            <a:xfrm>
              <a:off x="723900" y="1600200"/>
              <a:ext cx="32004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Our team and Northfield's work side by side. We diagnose the estate and benchmark the baseline. Agents are not yet in the loop.</a:t>
              </a:r>
              <a:endParaRPr lang="en-US" sz="1200" spc="0" kern="0" b="0" i="0" dirty="0">
                <a:solidFill>
                  <a:srgbClr val="070154"/>
                </a:solidFill>
                <a:latin typeface="IBM Plex Sans"/>
                <a:ea typeface="IBM Plex Sans"/>
                <a:cs typeface="IBM Plex Sans"/>
              </a:endParaRPr>
            </a:p>
          </p:txBody>
        </p:sp>
      </p:grpSp>
      <p:grpSp>
        <p:nvGrpSpPr>
          <p:cNvPr id="36" name="node03"/>
          <p:cNvGrpSpPr/>
          <p:nvPr/>
        </p:nvGrpSpPr>
        <p:grpSpPr>
          <a:xfrm>
            <a:off x="4457700" y="2667000"/>
            <a:ext cx="3200400" cy="139700"/>
            <a:chOff x="4457700" y="2667000"/>
            <a:chExt cx="3200400" cy="139700"/>
          </a:xfrm>
        </p:grpSpPr>
        <p:sp>
          <p:nvSpPr>
            <p:cNvPr id="20" name="node03.text"/>
            <p:cNvSpPr/>
            <p:nvPr/>
          </p:nvSpPr>
          <p:spPr>
            <a:xfrm>
              <a:off x="4457700" y="26670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WEST MONROE</a:t>
              </a:r>
              <a:endParaRPr lang="en-US" sz="800" spc="48" kern="0" b="0" i="0" dirty="0">
                <a:solidFill>
                  <a:srgbClr val="FFFFFF"/>
                </a:solidFill>
                <a:latin typeface="IBM Plex Mono Medium"/>
                <a:ea typeface="IBM Plex Mono Medium"/>
                <a:cs typeface="IBM Plex Mono Medium"/>
              </a:endParaRPr>
            </a:p>
          </p:txBody>
        </p:sp>
      </p:grpSp>
      <p:grpSp>
        <p:nvGrpSpPr>
          <p:cNvPr id="37" name="node04"/>
          <p:cNvGrpSpPr/>
          <p:nvPr/>
        </p:nvGrpSpPr>
        <p:grpSpPr>
          <a:xfrm>
            <a:off x="4457700" y="2895600"/>
            <a:ext cx="2743200" cy="1155700"/>
            <a:chOff x="4457700" y="2895600"/>
            <a:chExt cx="2743200" cy="1155700"/>
          </a:xfrm>
        </p:grpSpPr>
        <p:sp>
          <p:nvSpPr>
            <p:cNvPr id="21" name="node04.source-001.bullet"/>
            <p:cNvSpPr/>
            <p:nvPr/>
          </p:nvSpPr>
          <p:spPr>
            <a:xfrm>
              <a:off x="4457700" y="2984500"/>
              <a:ext cx="38100" cy="38100"/>
            </a:xfrm>
            <a:prstGeom prst="rect">
              <a:avLst/>
            </a:prstGeom>
            <a:solidFill>
              <a:srgbClr val="FFFFFF"/>
            </a:solidFill>
            <a:ln>
              <a:noFill/>
            </a:ln>
          </p:spPr>
        </p:sp>
        <p:sp>
          <p:nvSpPr>
            <p:cNvPr id="22" name="node04.source-001.text"/>
            <p:cNvSpPr/>
            <p:nvPr/>
          </p:nvSpPr>
          <p:spPr>
            <a:xfrm>
              <a:off x="4610100" y="28956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We build and set the standard together</a:t>
              </a:r>
              <a:endParaRPr lang="en-US" sz="1200" spc="0" kern="0" b="0" i="0" dirty="0">
                <a:solidFill>
                  <a:srgbClr val="FFFFFF"/>
                </a:solidFill>
                <a:latin typeface="IBM Plex Sans"/>
                <a:ea typeface="IBM Plex Sans"/>
                <a:cs typeface="IBM Plex Sans"/>
              </a:endParaRPr>
            </a:p>
          </p:txBody>
        </p:sp>
        <p:sp>
          <p:nvSpPr>
            <p:cNvPr id="23" name="node04.source-002.bullet"/>
            <p:cNvSpPr/>
            <p:nvPr/>
          </p:nvSpPr>
          <p:spPr>
            <a:xfrm>
              <a:off x="4457700" y="3454400"/>
              <a:ext cx="38100" cy="38100"/>
            </a:xfrm>
            <a:prstGeom prst="rect">
              <a:avLst/>
            </a:prstGeom>
            <a:solidFill>
              <a:srgbClr val="FFFFFF"/>
            </a:solidFill>
            <a:ln>
              <a:noFill/>
            </a:ln>
          </p:spPr>
        </p:sp>
        <p:sp>
          <p:nvSpPr>
            <p:cNvPr id="24" name="node04.source-002.text"/>
            <p:cNvSpPr/>
            <p:nvPr/>
          </p:nvSpPr>
          <p:spPr>
            <a:xfrm>
              <a:off x="4610100" y="33655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Maintenance agents take on routine work</a:t>
              </a:r>
              <a:endParaRPr lang="en-US" sz="1200" spc="0" kern="0" b="0" i="0" dirty="0">
                <a:solidFill>
                  <a:srgbClr val="FFFFFF"/>
                </a:solidFill>
                <a:latin typeface="IBM Plex Sans"/>
                <a:ea typeface="IBM Plex Sans"/>
                <a:cs typeface="IBM Plex Sans"/>
              </a:endParaRPr>
            </a:p>
          </p:txBody>
        </p:sp>
        <p:sp>
          <p:nvSpPr>
            <p:cNvPr id="25" name="node04.source-003.bullet"/>
            <p:cNvSpPr/>
            <p:nvPr/>
          </p:nvSpPr>
          <p:spPr>
            <a:xfrm>
              <a:off x="4457700" y="3924300"/>
              <a:ext cx="38100" cy="38100"/>
            </a:xfrm>
            <a:prstGeom prst="rect">
              <a:avLst/>
            </a:prstGeom>
            <a:solidFill>
              <a:srgbClr val="FFFFFF"/>
            </a:solidFill>
            <a:ln>
              <a:noFill/>
            </a:ln>
          </p:spPr>
        </p:sp>
        <p:sp>
          <p:nvSpPr>
            <p:cNvPr id="26" name="node04.source-003.text"/>
            <p:cNvSpPr/>
            <p:nvPr/>
          </p:nvSpPr>
          <p:spPr>
            <a:xfrm>
              <a:off x="4610100" y="3835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Both teams reach their peak size</a:t>
              </a:r>
              <a:endParaRPr lang="en-US" sz="1200" spc="0" kern="0" b="0" i="0" dirty="0">
                <a:solidFill>
                  <a:srgbClr val="FFFFFF"/>
                </a:solidFill>
                <a:latin typeface="IBM Plex Sans"/>
                <a:ea typeface="IBM Plex Sans"/>
                <a:cs typeface="IBM Plex Sans"/>
              </a:endParaRPr>
            </a:p>
          </p:txBody>
        </p:sp>
      </p:grpSp>
      <p:grpSp>
        <p:nvGrpSpPr>
          <p:cNvPr id="38" name="node05"/>
          <p:cNvGrpSpPr/>
          <p:nvPr/>
        </p:nvGrpSpPr>
        <p:grpSpPr>
          <a:xfrm>
            <a:off x="8572500" y="1905000"/>
            <a:ext cx="3200400" cy="139700"/>
            <a:chOff x="8572500" y="1905000"/>
            <a:chExt cx="3200400" cy="139700"/>
          </a:xfrm>
        </p:grpSpPr>
        <p:sp>
          <p:nvSpPr>
            <p:cNvPr id="27" name="node05.text"/>
            <p:cNvSpPr/>
            <p:nvPr/>
          </p:nvSpPr>
          <p:spPr>
            <a:xfrm>
              <a:off x="8572500" y="19050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AI AGENTS</a:t>
              </a:r>
              <a:endParaRPr lang="en-US" sz="800" spc="48" kern="0" b="0" i="0" dirty="0">
                <a:solidFill>
                  <a:srgbClr val="FFFFFF"/>
                </a:solidFill>
                <a:latin typeface="IBM Plex Mono Medium"/>
                <a:ea typeface="IBM Plex Mono Medium"/>
                <a:cs typeface="IBM Plex Mono Medium"/>
              </a:endParaRPr>
            </a:p>
          </p:txBody>
        </p:sp>
      </p:grpSp>
      <p:grpSp>
        <p:nvGrpSpPr>
          <p:cNvPr id="39" name="node06"/>
          <p:cNvGrpSpPr/>
          <p:nvPr/>
        </p:nvGrpSpPr>
        <p:grpSpPr>
          <a:xfrm>
            <a:off x="8572500" y="2133600"/>
            <a:ext cx="2819400" cy="1155700"/>
            <a:chOff x="8572500" y="2133600"/>
            <a:chExt cx="2819400" cy="1155700"/>
          </a:xfrm>
        </p:grpSpPr>
        <p:sp>
          <p:nvSpPr>
            <p:cNvPr id="28" name="node06.source-001.bullet"/>
            <p:cNvSpPr/>
            <p:nvPr/>
          </p:nvSpPr>
          <p:spPr>
            <a:xfrm>
              <a:off x="8572500" y="2222500"/>
              <a:ext cx="38100" cy="38100"/>
            </a:xfrm>
            <a:prstGeom prst="rect">
              <a:avLst/>
            </a:prstGeom>
            <a:solidFill>
              <a:srgbClr val="FFFFFF"/>
            </a:solidFill>
            <a:ln>
              <a:noFill/>
            </a:ln>
          </p:spPr>
        </p:sp>
        <p:sp>
          <p:nvSpPr>
            <p:cNvPr id="29" name="node06.source-001.text"/>
            <p:cNvSpPr/>
            <p:nvPr/>
          </p:nvSpPr>
          <p:spPr>
            <a:xfrm>
              <a:off x="8724900" y="2133600"/>
              <a:ext cx="2667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Agents run maintenance and optimization</a:t>
              </a:r>
              <a:endParaRPr lang="en-US" sz="1200" spc="0" kern="0" b="0" i="0" dirty="0">
                <a:solidFill>
                  <a:srgbClr val="FFFFFF"/>
                </a:solidFill>
                <a:latin typeface="IBM Plex Sans"/>
                <a:ea typeface="IBM Plex Sans"/>
                <a:cs typeface="IBM Plex Sans"/>
              </a:endParaRPr>
            </a:p>
          </p:txBody>
        </p:sp>
        <p:sp>
          <p:nvSpPr>
            <p:cNvPr id="30" name="node06.source-002.bullet"/>
            <p:cNvSpPr/>
            <p:nvPr/>
          </p:nvSpPr>
          <p:spPr>
            <a:xfrm>
              <a:off x="8572500" y="2692400"/>
              <a:ext cx="38100" cy="38100"/>
            </a:xfrm>
            <a:prstGeom prst="rect">
              <a:avLst/>
            </a:prstGeom>
            <a:solidFill>
              <a:srgbClr val="FFFFFF"/>
            </a:solidFill>
            <a:ln>
              <a:noFill/>
            </a:ln>
          </p:spPr>
        </p:sp>
        <p:sp>
          <p:nvSpPr>
            <p:cNvPr id="31" name="node06.source-002.text"/>
            <p:cNvSpPr/>
            <p:nvPr/>
          </p:nvSpPr>
          <p:spPr>
            <a:xfrm>
              <a:off x="8724900" y="2603500"/>
              <a:ext cx="2667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Our team shrinks to a small group</a:t>
              </a:r>
              <a:endParaRPr lang="en-US" sz="1200" spc="0" kern="0" b="0" i="0" dirty="0">
                <a:solidFill>
                  <a:srgbClr val="FFFFFF"/>
                </a:solidFill>
                <a:latin typeface="IBM Plex Sans"/>
                <a:ea typeface="IBM Plex Sans"/>
                <a:cs typeface="IBM Plex Sans"/>
              </a:endParaRPr>
            </a:p>
          </p:txBody>
        </p:sp>
        <p:sp>
          <p:nvSpPr>
            <p:cNvPr id="32" name="node06.source-003.bullet"/>
            <p:cNvSpPr/>
            <p:nvPr/>
          </p:nvSpPr>
          <p:spPr>
            <a:xfrm>
              <a:off x="8572500" y="2946400"/>
              <a:ext cx="38100" cy="38100"/>
            </a:xfrm>
            <a:prstGeom prst="rect">
              <a:avLst/>
            </a:prstGeom>
            <a:solidFill>
              <a:srgbClr val="FFFFFF"/>
            </a:solidFill>
            <a:ln>
              <a:noFill/>
            </a:ln>
          </p:spPr>
        </p:sp>
        <p:sp>
          <p:nvSpPr>
            <p:cNvPr id="33" name="node06.source-003.text"/>
            <p:cNvSpPr/>
            <p:nvPr/>
          </p:nvSpPr>
          <p:spPr>
            <a:xfrm>
              <a:off x="8724900" y="2857500"/>
              <a:ext cx="2667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Northfield's maintenance load drops sharply</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ource-52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5188808" y="733532"/>
            <a:ext cx="469465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Agents cut our team and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Northfield's maintenance</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nav.section-01"/>
          <p:cNvSpPr/>
          <p:nvPr/>
        </p:nvSpPr>
        <p:spPr>
          <a:xfrm>
            <a:off x="266700" y="457200"/>
            <a:ext cx="228600" cy="1257300"/>
          </a:xfrm>
          <a:prstGeom prst="rect">
            <a:avLst/>
          </a:prstGeom>
          <a:solidFill>
            <a:srgbClr val="E8EEF8"/>
          </a:solidFill>
          <a:ln>
            <a:noFill/>
          </a:ln>
        </p:spPr>
      </p:sp>
      <p:sp>
        <p:nvSpPr>
          <p:cNvPr id="7" name="nav.label.section-01"/>
          <p:cNvSpPr/>
          <p:nvPr/>
        </p:nvSpPr>
        <p:spPr>
          <a:xfrm>
            <a:off x="266700" y="4572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790700"/>
            <a:ext cx="228600" cy="1257300"/>
          </a:xfrm>
          <a:prstGeom prst="rect">
            <a:avLst/>
          </a:prstGeom>
          <a:solidFill>
            <a:srgbClr val="070154"/>
          </a:solidFill>
          <a:ln>
            <a:noFill/>
          </a:ln>
        </p:spPr>
      </p:sp>
      <p:sp>
        <p:nvSpPr>
          <p:cNvPr id="9" name="nav.label.section-02"/>
          <p:cNvSpPr/>
          <p:nvPr/>
        </p:nvSpPr>
        <p:spPr>
          <a:xfrm>
            <a:off x="266700" y="17907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APPROACH</a:t>
            </a:r>
            <a:endParaRPr lang="en-US" sz="800" spc="80" kern="0" b="0" i="0" dirty="0">
              <a:solidFill>
                <a:srgbClr val="FFFFFF"/>
              </a:solidFill>
              <a:latin typeface="IBM Plex Mono SemiBold"/>
              <a:ea typeface="IBM Plex Mono SemiBold"/>
              <a:cs typeface="IBM Plex Mono SemiBold"/>
            </a:endParaRPr>
          </a:p>
        </p:txBody>
      </p:sp>
      <p:sp>
        <p:nvSpPr>
          <p:cNvPr id="10" name="nav.section-03"/>
          <p:cNvSpPr/>
          <p:nvPr/>
        </p:nvSpPr>
        <p:spPr>
          <a:xfrm>
            <a:off x="266700" y="3124200"/>
            <a:ext cx="228600" cy="1257300"/>
          </a:xfrm>
          <a:prstGeom prst="rect">
            <a:avLst/>
          </a:prstGeom>
          <a:solidFill>
            <a:srgbClr val="E8EEF8"/>
          </a:solidFill>
          <a:ln>
            <a:noFill/>
          </a:ln>
        </p:spPr>
      </p:sp>
      <p:sp>
        <p:nvSpPr>
          <p:cNvPr id="11" name="nav.label.section-03"/>
          <p:cNvSpPr/>
          <p:nvPr/>
        </p:nvSpPr>
        <p:spPr>
          <a:xfrm>
            <a:off x="266700" y="31242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2" name="nav.section-04"/>
          <p:cNvSpPr/>
          <p:nvPr/>
        </p:nvSpPr>
        <p:spPr>
          <a:xfrm>
            <a:off x="266700" y="4457700"/>
            <a:ext cx="228600" cy="1257300"/>
          </a:xfrm>
          <a:prstGeom prst="rect">
            <a:avLst/>
          </a:prstGeom>
          <a:solidFill>
            <a:srgbClr val="E8EEF8"/>
          </a:solidFill>
          <a:ln>
            <a:noFill/>
          </a:ln>
        </p:spPr>
      </p:sp>
      <p:sp>
        <p:nvSpPr>
          <p:cNvPr id="13" name="nav.label.section-04"/>
          <p:cNvSpPr/>
          <p:nvPr/>
        </p:nvSpPr>
        <p:spPr>
          <a:xfrm>
            <a:off x="266700" y="44577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4"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150</a:t>
            </a:fld>
            <a:endParaRPr lang="en-US" sz="700" spc="0" kern="0" b="0" i="0" dirty="0">
              <a:solidFill>
                <a:srgbClr val="070154"/>
              </a:solidFill>
              <a:latin typeface="IBM Plex Mono SemiBold"/>
              <a:ea typeface="IBM Plex Mono SemiBold"/>
              <a:cs typeface="IBM Plex Mono SemiBold"/>
            </a:endParaRPr>
          </a:p>
        </p:txBody>
      </p:sp>
      <p:grpSp>
        <p:nvGrpSpPr>
          <p:cNvPr id="42" name="node01"/>
          <p:cNvGrpSpPr/>
          <p:nvPr/>
        </p:nvGrpSpPr>
        <p:grpSpPr>
          <a:xfrm>
            <a:off x="723900" y="1600200"/>
            <a:ext cx="10744200" cy="4114800"/>
            <a:chOff x="723900" y="1600200"/>
            <a:chExt cx="10744200" cy="4114800"/>
          </a:xfrm>
        </p:grpSpPr>
        <p:sp>
          <p:nvSpPr>
            <p:cNvPr id="15" name="node01.series.source-001"/>
            <p:cNvSpPr/>
            <p:nvPr/>
          </p:nvSpPr>
          <p:spPr>
            <a:xfrm>
              <a:off x="723900" y="1600200"/>
              <a:ext cx="10744200" cy="3200400"/>
            </a:xfrm>
            <a:custGeom>
              <a:avLst/>
              <a:gdLst/>
              <a:ahLst/>
              <a:cxnLst/>
              <a:rect l="l" t="t" r="r" b="b"/>
              <a:pathLst>
                <a:path w="10744200" h="3200400">
                  <a:moveTo>
                    <a:pt x="0" y="2898733"/>
                  </a:moveTo>
                  <a:lnTo>
                    <a:pt x="44768" y="2897371"/>
                  </a:lnTo>
                  <a:lnTo>
                    <a:pt x="89535" y="2895933"/>
                  </a:lnTo>
                  <a:lnTo>
                    <a:pt x="134303" y="2894416"/>
                  </a:lnTo>
                  <a:lnTo>
                    <a:pt x="179070" y="2892822"/>
                  </a:lnTo>
                  <a:lnTo>
                    <a:pt x="223838" y="2891151"/>
                  </a:lnTo>
                  <a:lnTo>
                    <a:pt x="268605" y="2889401"/>
                  </a:lnTo>
                  <a:lnTo>
                    <a:pt x="313373" y="2887575"/>
                  </a:lnTo>
                  <a:lnTo>
                    <a:pt x="358140" y="2885673"/>
                  </a:lnTo>
                  <a:lnTo>
                    <a:pt x="402908" y="2883696"/>
                  </a:lnTo>
                  <a:lnTo>
                    <a:pt x="447675" y="2881646"/>
                  </a:lnTo>
                  <a:lnTo>
                    <a:pt x="492443" y="2879525"/>
                  </a:lnTo>
                  <a:lnTo>
                    <a:pt x="537210" y="2877334"/>
                  </a:lnTo>
                  <a:lnTo>
                    <a:pt x="581978" y="2875078"/>
                  </a:lnTo>
                  <a:lnTo>
                    <a:pt x="626745" y="2872757"/>
                  </a:lnTo>
                  <a:lnTo>
                    <a:pt x="671513" y="2870376"/>
                  </a:lnTo>
                  <a:lnTo>
                    <a:pt x="716280" y="2867938"/>
                  </a:lnTo>
                  <a:lnTo>
                    <a:pt x="761048" y="2865447"/>
                  </a:lnTo>
                  <a:lnTo>
                    <a:pt x="805815" y="2862905"/>
                  </a:lnTo>
                  <a:lnTo>
                    <a:pt x="850583" y="2860318"/>
                  </a:lnTo>
                  <a:lnTo>
                    <a:pt x="895350" y="2857688"/>
                  </a:lnTo>
                  <a:lnTo>
                    <a:pt x="940118" y="2855020"/>
                  </a:lnTo>
                  <a:lnTo>
                    <a:pt x="984885" y="2852319"/>
                  </a:lnTo>
                  <a:lnTo>
                    <a:pt x="1029653" y="2849587"/>
                  </a:lnTo>
                  <a:lnTo>
                    <a:pt x="1074420" y="2846829"/>
                  </a:lnTo>
                  <a:lnTo>
                    <a:pt x="1119188" y="2844050"/>
                  </a:lnTo>
                  <a:lnTo>
                    <a:pt x="1163955" y="2841251"/>
                  </a:lnTo>
                  <a:lnTo>
                    <a:pt x="1208723" y="2838438"/>
                  </a:lnTo>
                  <a:lnTo>
                    <a:pt x="1253490" y="2835613"/>
                  </a:lnTo>
                  <a:lnTo>
                    <a:pt x="1298258" y="2832780"/>
                  </a:lnTo>
                  <a:lnTo>
                    <a:pt x="1343025" y="2829941"/>
                  </a:lnTo>
                  <a:lnTo>
                    <a:pt x="1387793" y="2827099"/>
                  </a:lnTo>
                  <a:lnTo>
                    <a:pt x="1432560" y="2824257"/>
                  </a:lnTo>
                  <a:lnTo>
                    <a:pt x="1477328" y="2821415"/>
                  </a:lnTo>
                  <a:lnTo>
                    <a:pt x="1522095" y="2818576"/>
                  </a:lnTo>
                  <a:lnTo>
                    <a:pt x="1566863" y="2815740"/>
                  </a:lnTo>
                  <a:lnTo>
                    <a:pt x="1611630" y="2812909"/>
                  </a:lnTo>
                  <a:lnTo>
                    <a:pt x="1656398" y="2810083"/>
                  </a:lnTo>
                  <a:lnTo>
                    <a:pt x="1701165" y="2807261"/>
                  </a:lnTo>
                  <a:lnTo>
                    <a:pt x="1745932" y="2804443"/>
                  </a:lnTo>
                  <a:lnTo>
                    <a:pt x="1790700" y="2801630"/>
                  </a:lnTo>
                  <a:lnTo>
                    <a:pt x="1835468" y="2798819"/>
                  </a:lnTo>
                  <a:lnTo>
                    <a:pt x="1880235" y="2796011"/>
                  </a:lnTo>
                  <a:lnTo>
                    <a:pt x="1925002" y="2793203"/>
                  </a:lnTo>
                  <a:lnTo>
                    <a:pt x="1969770" y="2790394"/>
                  </a:lnTo>
                  <a:lnTo>
                    <a:pt x="2014538" y="2787583"/>
                  </a:lnTo>
                  <a:lnTo>
                    <a:pt x="2059305" y="2784766"/>
                  </a:lnTo>
                  <a:lnTo>
                    <a:pt x="2104073" y="2781942"/>
                  </a:lnTo>
                  <a:lnTo>
                    <a:pt x="2148840" y="2779108"/>
                  </a:lnTo>
                  <a:lnTo>
                    <a:pt x="2193608" y="2776264"/>
                  </a:lnTo>
                  <a:lnTo>
                    <a:pt x="2238375" y="2773406"/>
                  </a:lnTo>
                  <a:lnTo>
                    <a:pt x="2283143" y="2770533"/>
                  </a:lnTo>
                  <a:lnTo>
                    <a:pt x="2327910" y="2767643"/>
                  </a:lnTo>
                  <a:lnTo>
                    <a:pt x="2372678" y="2764734"/>
                  </a:lnTo>
                  <a:lnTo>
                    <a:pt x="2417445" y="2761805"/>
                  </a:lnTo>
                  <a:lnTo>
                    <a:pt x="2462213" y="2758856"/>
                  </a:lnTo>
                  <a:lnTo>
                    <a:pt x="2506980" y="2755884"/>
                  </a:lnTo>
                  <a:lnTo>
                    <a:pt x="2551748" y="2752890"/>
                  </a:lnTo>
                  <a:lnTo>
                    <a:pt x="2596515" y="2749873"/>
                  </a:lnTo>
                  <a:lnTo>
                    <a:pt x="2641283" y="2746833"/>
                  </a:lnTo>
                  <a:lnTo>
                    <a:pt x="2686050" y="2743771"/>
                  </a:lnTo>
                  <a:lnTo>
                    <a:pt x="2730818" y="2740689"/>
                  </a:lnTo>
                  <a:lnTo>
                    <a:pt x="2775585" y="2737587"/>
                  </a:lnTo>
                  <a:lnTo>
                    <a:pt x="2820353" y="2734467"/>
                  </a:lnTo>
                  <a:lnTo>
                    <a:pt x="2865120" y="2731332"/>
                  </a:lnTo>
                  <a:lnTo>
                    <a:pt x="2909887" y="2728185"/>
                  </a:lnTo>
                  <a:lnTo>
                    <a:pt x="2954655" y="2725027"/>
                  </a:lnTo>
                  <a:lnTo>
                    <a:pt x="2999423" y="2721864"/>
                  </a:lnTo>
                  <a:lnTo>
                    <a:pt x="3044190" y="2718697"/>
                  </a:lnTo>
                  <a:lnTo>
                    <a:pt x="3088958" y="2715533"/>
                  </a:lnTo>
                  <a:lnTo>
                    <a:pt x="3133725" y="2712373"/>
                  </a:lnTo>
                  <a:lnTo>
                    <a:pt x="3178493" y="2709224"/>
                  </a:lnTo>
                  <a:lnTo>
                    <a:pt x="3223260" y="2706089"/>
                  </a:lnTo>
                  <a:lnTo>
                    <a:pt x="3268028" y="2702975"/>
                  </a:lnTo>
                  <a:lnTo>
                    <a:pt x="3312795" y="2699885"/>
                  </a:lnTo>
                  <a:lnTo>
                    <a:pt x="3357563" y="2696825"/>
                  </a:lnTo>
                  <a:lnTo>
                    <a:pt x="3402330" y="2693800"/>
                  </a:lnTo>
                  <a:lnTo>
                    <a:pt x="3447098" y="2690815"/>
                  </a:lnTo>
                  <a:lnTo>
                    <a:pt x="3491865" y="2687875"/>
                  </a:lnTo>
                  <a:lnTo>
                    <a:pt x="3536633" y="2684985"/>
                  </a:lnTo>
                  <a:lnTo>
                    <a:pt x="3581400" y="2682149"/>
                  </a:lnTo>
                  <a:lnTo>
                    <a:pt x="3626168" y="2679373"/>
                  </a:lnTo>
                  <a:lnTo>
                    <a:pt x="3670935" y="2676661"/>
                  </a:lnTo>
                  <a:lnTo>
                    <a:pt x="3715703" y="2674016"/>
                  </a:lnTo>
                  <a:lnTo>
                    <a:pt x="3760470" y="2671442"/>
                  </a:lnTo>
                  <a:lnTo>
                    <a:pt x="3805237" y="2668944"/>
                  </a:lnTo>
                  <a:lnTo>
                    <a:pt x="3850005" y="2666523"/>
                  </a:lnTo>
                  <a:lnTo>
                    <a:pt x="3894773" y="2664183"/>
                  </a:lnTo>
                  <a:lnTo>
                    <a:pt x="3939540" y="2661927"/>
                  </a:lnTo>
                  <a:lnTo>
                    <a:pt x="3984308" y="2659755"/>
                  </a:lnTo>
                  <a:lnTo>
                    <a:pt x="4029075" y="2657670"/>
                  </a:lnTo>
                  <a:lnTo>
                    <a:pt x="4073843" y="2655674"/>
                  </a:lnTo>
                  <a:lnTo>
                    <a:pt x="4118610" y="2653766"/>
                  </a:lnTo>
                  <a:lnTo>
                    <a:pt x="4163377" y="2651947"/>
                  </a:lnTo>
                  <a:lnTo>
                    <a:pt x="4208145" y="2650217"/>
                  </a:lnTo>
                  <a:lnTo>
                    <a:pt x="4252913" y="2648575"/>
                  </a:lnTo>
                  <a:lnTo>
                    <a:pt x="4297680" y="2647022"/>
                  </a:lnTo>
                  <a:lnTo>
                    <a:pt x="4342448" y="2645555"/>
                  </a:lnTo>
                  <a:lnTo>
                    <a:pt x="4387215" y="2644174"/>
                  </a:lnTo>
                  <a:lnTo>
                    <a:pt x="4431983" y="2642877"/>
                  </a:lnTo>
                  <a:lnTo>
                    <a:pt x="4476750" y="2641662"/>
                  </a:lnTo>
                  <a:lnTo>
                    <a:pt x="4521518" y="2640527"/>
                  </a:lnTo>
                  <a:lnTo>
                    <a:pt x="4566285" y="2639471"/>
                  </a:lnTo>
                  <a:lnTo>
                    <a:pt x="4611053" y="2638489"/>
                  </a:lnTo>
                  <a:lnTo>
                    <a:pt x="4655820" y="2637581"/>
                  </a:lnTo>
                  <a:lnTo>
                    <a:pt x="4700588" y="2636744"/>
                  </a:lnTo>
                  <a:lnTo>
                    <a:pt x="4745355" y="2635973"/>
                  </a:lnTo>
                  <a:lnTo>
                    <a:pt x="4790123" y="2635267"/>
                  </a:lnTo>
                  <a:lnTo>
                    <a:pt x="4834890" y="2634623"/>
                  </a:lnTo>
                  <a:lnTo>
                    <a:pt x="4879658" y="2634037"/>
                  </a:lnTo>
                  <a:lnTo>
                    <a:pt x="4924425" y="2633508"/>
                  </a:lnTo>
                  <a:lnTo>
                    <a:pt x="4969193" y="2633031"/>
                  </a:lnTo>
                  <a:lnTo>
                    <a:pt x="5013960" y="2632606"/>
                  </a:lnTo>
                  <a:lnTo>
                    <a:pt x="5058728" y="2632229"/>
                  </a:lnTo>
                  <a:lnTo>
                    <a:pt x="5103495" y="2631897"/>
                  </a:lnTo>
                  <a:lnTo>
                    <a:pt x="5148263" y="2631610"/>
                  </a:lnTo>
                  <a:lnTo>
                    <a:pt x="5193030" y="2631364"/>
                  </a:lnTo>
                  <a:lnTo>
                    <a:pt x="5237798" y="2631158"/>
                  </a:lnTo>
                  <a:lnTo>
                    <a:pt x="5282565" y="2630989"/>
                  </a:lnTo>
                  <a:lnTo>
                    <a:pt x="5327333" y="2630857"/>
                  </a:lnTo>
                  <a:lnTo>
                    <a:pt x="5372100" y="2630761"/>
                  </a:lnTo>
                  <a:lnTo>
                    <a:pt x="5416868" y="2630698"/>
                  </a:lnTo>
                  <a:lnTo>
                    <a:pt x="5461635" y="2630668"/>
                  </a:lnTo>
                  <a:lnTo>
                    <a:pt x="5506403" y="2630671"/>
                  </a:lnTo>
                  <a:lnTo>
                    <a:pt x="5551170" y="2630706"/>
                  </a:lnTo>
                  <a:lnTo>
                    <a:pt x="5595938" y="2630773"/>
                  </a:lnTo>
                  <a:lnTo>
                    <a:pt x="5640705" y="2630871"/>
                  </a:lnTo>
                  <a:lnTo>
                    <a:pt x="5685473" y="2631002"/>
                  </a:lnTo>
                  <a:lnTo>
                    <a:pt x="5730240" y="2631165"/>
                  </a:lnTo>
                  <a:lnTo>
                    <a:pt x="5775008" y="2631360"/>
                  </a:lnTo>
                  <a:lnTo>
                    <a:pt x="5819775" y="2631589"/>
                  </a:lnTo>
                  <a:lnTo>
                    <a:pt x="5864543" y="2631852"/>
                  </a:lnTo>
                  <a:lnTo>
                    <a:pt x="5909310" y="2632149"/>
                  </a:lnTo>
                  <a:lnTo>
                    <a:pt x="5954078" y="2632483"/>
                  </a:lnTo>
                  <a:lnTo>
                    <a:pt x="5998845" y="2632853"/>
                  </a:lnTo>
                  <a:lnTo>
                    <a:pt x="6043613" y="2633262"/>
                  </a:lnTo>
                  <a:lnTo>
                    <a:pt x="6088380" y="2633710"/>
                  </a:lnTo>
                  <a:lnTo>
                    <a:pt x="6133148" y="2634198"/>
                  </a:lnTo>
                  <a:lnTo>
                    <a:pt x="6177915" y="2634729"/>
                  </a:lnTo>
                  <a:lnTo>
                    <a:pt x="6222683" y="2635303"/>
                  </a:lnTo>
                  <a:lnTo>
                    <a:pt x="6267450" y="2635922"/>
                  </a:lnTo>
                  <a:lnTo>
                    <a:pt x="6312218" y="2636586"/>
                  </a:lnTo>
                  <a:lnTo>
                    <a:pt x="6356985" y="2637298"/>
                  </a:lnTo>
                  <a:lnTo>
                    <a:pt x="6401753" y="2638056"/>
                  </a:lnTo>
                  <a:lnTo>
                    <a:pt x="6446520" y="2638864"/>
                  </a:lnTo>
                  <a:lnTo>
                    <a:pt x="6491287" y="2639720"/>
                  </a:lnTo>
                  <a:lnTo>
                    <a:pt x="6536055" y="2640627"/>
                  </a:lnTo>
                  <a:lnTo>
                    <a:pt x="6580823" y="2641585"/>
                  </a:lnTo>
                  <a:lnTo>
                    <a:pt x="6625590" y="2642594"/>
                  </a:lnTo>
                  <a:lnTo>
                    <a:pt x="6670358" y="2643655"/>
                  </a:lnTo>
                  <a:lnTo>
                    <a:pt x="6715125" y="2644768"/>
                  </a:lnTo>
                  <a:lnTo>
                    <a:pt x="6759893" y="2645934"/>
                  </a:lnTo>
                  <a:lnTo>
                    <a:pt x="6804660" y="2647152"/>
                  </a:lnTo>
                  <a:lnTo>
                    <a:pt x="6849427" y="2648422"/>
                  </a:lnTo>
                  <a:lnTo>
                    <a:pt x="6894195" y="2649744"/>
                  </a:lnTo>
                  <a:lnTo>
                    <a:pt x="6938963" y="2651116"/>
                  </a:lnTo>
                  <a:lnTo>
                    <a:pt x="6983730" y="2652537"/>
                  </a:lnTo>
                  <a:lnTo>
                    <a:pt x="7028497" y="2654008"/>
                  </a:lnTo>
                  <a:lnTo>
                    <a:pt x="7073265" y="2655526"/>
                  </a:lnTo>
                  <a:lnTo>
                    <a:pt x="7118033" y="2657090"/>
                  </a:lnTo>
                  <a:lnTo>
                    <a:pt x="7162800" y="2658699"/>
                  </a:lnTo>
                  <a:lnTo>
                    <a:pt x="7207568" y="2660351"/>
                  </a:lnTo>
                  <a:lnTo>
                    <a:pt x="7252335" y="2662046"/>
                  </a:lnTo>
                  <a:lnTo>
                    <a:pt x="7297103" y="2663780"/>
                  </a:lnTo>
                  <a:lnTo>
                    <a:pt x="7341870" y="2665553"/>
                  </a:lnTo>
                  <a:lnTo>
                    <a:pt x="7386638" y="2667363"/>
                  </a:lnTo>
                  <a:lnTo>
                    <a:pt x="7431405" y="2669208"/>
                  </a:lnTo>
                  <a:lnTo>
                    <a:pt x="7476173" y="2671085"/>
                  </a:lnTo>
                  <a:lnTo>
                    <a:pt x="7520940" y="2672994"/>
                  </a:lnTo>
                  <a:lnTo>
                    <a:pt x="7565708" y="2674933"/>
                  </a:lnTo>
                  <a:lnTo>
                    <a:pt x="7610475" y="2676900"/>
                  </a:lnTo>
                  <a:lnTo>
                    <a:pt x="7655242" y="2678894"/>
                  </a:lnTo>
                  <a:lnTo>
                    <a:pt x="7700010" y="2680914"/>
                  </a:lnTo>
                  <a:lnTo>
                    <a:pt x="7744778" y="2682958"/>
                  </a:lnTo>
                  <a:lnTo>
                    <a:pt x="7789545" y="2685027"/>
                  </a:lnTo>
                  <a:lnTo>
                    <a:pt x="7834313" y="2687118"/>
                  </a:lnTo>
                  <a:lnTo>
                    <a:pt x="7879080" y="2689233"/>
                  </a:lnTo>
                  <a:lnTo>
                    <a:pt x="7923848" y="2691371"/>
                  </a:lnTo>
                  <a:lnTo>
                    <a:pt x="7968615" y="2693533"/>
                  </a:lnTo>
                  <a:lnTo>
                    <a:pt x="8013383" y="2695718"/>
                  </a:lnTo>
                  <a:lnTo>
                    <a:pt x="8058150" y="2697928"/>
                  </a:lnTo>
                  <a:lnTo>
                    <a:pt x="8102918" y="2700163"/>
                  </a:lnTo>
                  <a:lnTo>
                    <a:pt x="8147685" y="2702426"/>
                  </a:lnTo>
                  <a:lnTo>
                    <a:pt x="8192453" y="2704716"/>
                  </a:lnTo>
                  <a:lnTo>
                    <a:pt x="8237220" y="2707037"/>
                  </a:lnTo>
                  <a:lnTo>
                    <a:pt x="8281987" y="2709391"/>
                  </a:lnTo>
                  <a:lnTo>
                    <a:pt x="8326755" y="2711780"/>
                  </a:lnTo>
                  <a:lnTo>
                    <a:pt x="8371522" y="2714207"/>
                  </a:lnTo>
                  <a:lnTo>
                    <a:pt x="8416290" y="2716675"/>
                  </a:lnTo>
                  <a:lnTo>
                    <a:pt x="8461058" y="2719186"/>
                  </a:lnTo>
                  <a:lnTo>
                    <a:pt x="8505825" y="2721742"/>
                  </a:lnTo>
                  <a:lnTo>
                    <a:pt x="8550593" y="2724348"/>
                  </a:lnTo>
                  <a:lnTo>
                    <a:pt x="8595360" y="2727005"/>
                  </a:lnTo>
                  <a:lnTo>
                    <a:pt x="8640128" y="2729717"/>
                  </a:lnTo>
                  <a:lnTo>
                    <a:pt x="8684895" y="2732486"/>
                  </a:lnTo>
                  <a:lnTo>
                    <a:pt x="8729663" y="2735315"/>
                  </a:lnTo>
                  <a:lnTo>
                    <a:pt x="8774430" y="2738206"/>
                  </a:lnTo>
                  <a:lnTo>
                    <a:pt x="8819198" y="2741161"/>
                  </a:lnTo>
                  <a:lnTo>
                    <a:pt x="8863965" y="2744183"/>
                  </a:lnTo>
                  <a:lnTo>
                    <a:pt x="8908733" y="2747272"/>
                  </a:lnTo>
                  <a:lnTo>
                    <a:pt x="8953500" y="2750429"/>
                  </a:lnTo>
                  <a:lnTo>
                    <a:pt x="8998268" y="2753655"/>
                  </a:lnTo>
                  <a:lnTo>
                    <a:pt x="9043035" y="2756951"/>
                  </a:lnTo>
                  <a:lnTo>
                    <a:pt x="9087803" y="2760314"/>
                  </a:lnTo>
                  <a:lnTo>
                    <a:pt x="9132570" y="2763745"/>
                  </a:lnTo>
                  <a:lnTo>
                    <a:pt x="9177338" y="2767242"/>
                  </a:lnTo>
                  <a:lnTo>
                    <a:pt x="9222105" y="2770802"/>
                  </a:lnTo>
                  <a:lnTo>
                    <a:pt x="9266873" y="2774422"/>
                  </a:lnTo>
                  <a:lnTo>
                    <a:pt x="9311640" y="2778100"/>
                  </a:lnTo>
                  <a:lnTo>
                    <a:pt x="9356408" y="2781832"/>
                  </a:lnTo>
                  <a:lnTo>
                    <a:pt x="9401175" y="2785612"/>
                  </a:lnTo>
                  <a:lnTo>
                    <a:pt x="9445943" y="2789437"/>
                  </a:lnTo>
                  <a:lnTo>
                    <a:pt x="9490710" y="2793299"/>
                  </a:lnTo>
                  <a:lnTo>
                    <a:pt x="9535478" y="2797194"/>
                  </a:lnTo>
                  <a:lnTo>
                    <a:pt x="9580245" y="2801114"/>
                  </a:lnTo>
                  <a:lnTo>
                    <a:pt x="9625013" y="2805053"/>
                  </a:lnTo>
                  <a:lnTo>
                    <a:pt x="9669780" y="2809003"/>
                  </a:lnTo>
                  <a:lnTo>
                    <a:pt x="9714548" y="2812957"/>
                  </a:lnTo>
                  <a:lnTo>
                    <a:pt x="9759315" y="2816908"/>
                  </a:lnTo>
                  <a:lnTo>
                    <a:pt x="9804083" y="2820847"/>
                  </a:lnTo>
                  <a:lnTo>
                    <a:pt x="9848850" y="2824766"/>
                  </a:lnTo>
                  <a:lnTo>
                    <a:pt x="9893618" y="2828657"/>
                  </a:lnTo>
                  <a:lnTo>
                    <a:pt x="9938385" y="2832512"/>
                  </a:lnTo>
                  <a:lnTo>
                    <a:pt x="9983153" y="2836324"/>
                  </a:lnTo>
                  <a:lnTo>
                    <a:pt x="10027920" y="2840084"/>
                  </a:lnTo>
                  <a:lnTo>
                    <a:pt x="10072688" y="2843785"/>
                  </a:lnTo>
                  <a:lnTo>
                    <a:pt x="10117455" y="2847419"/>
                  </a:lnTo>
                  <a:lnTo>
                    <a:pt x="10162223" y="2850981"/>
                  </a:lnTo>
                  <a:lnTo>
                    <a:pt x="10206990" y="2854462"/>
                  </a:lnTo>
                  <a:lnTo>
                    <a:pt x="10251758" y="2857857"/>
                  </a:lnTo>
                  <a:lnTo>
                    <a:pt x="10296525" y="2861161"/>
                  </a:lnTo>
                  <a:lnTo>
                    <a:pt x="10341293" y="2864368"/>
                  </a:lnTo>
                  <a:lnTo>
                    <a:pt x="10386060" y="2867474"/>
                  </a:lnTo>
                  <a:lnTo>
                    <a:pt x="10430828" y="2870474"/>
                  </a:lnTo>
                  <a:lnTo>
                    <a:pt x="10475595" y="2873366"/>
                  </a:lnTo>
                  <a:lnTo>
                    <a:pt x="10520363" y="2876147"/>
                  </a:lnTo>
                  <a:lnTo>
                    <a:pt x="10565130" y="2878813"/>
                  </a:lnTo>
                  <a:lnTo>
                    <a:pt x="10609898" y="2881364"/>
                  </a:lnTo>
                  <a:lnTo>
                    <a:pt x="10654665" y="2883799"/>
                  </a:lnTo>
                  <a:lnTo>
                    <a:pt x="10699433" y="2886117"/>
                  </a:lnTo>
                  <a:lnTo>
                    <a:pt x="10744200" y="2888317"/>
                  </a:lnTo>
                  <a:lnTo>
                    <a:pt x="10744200" y="3200400"/>
                  </a:lnTo>
                  <a:lnTo>
                    <a:pt x="10699433" y="3200400"/>
                  </a:lnTo>
                  <a:lnTo>
                    <a:pt x="10654665" y="3200400"/>
                  </a:lnTo>
                  <a:lnTo>
                    <a:pt x="10609898" y="3200400"/>
                  </a:lnTo>
                  <a:lnTo>
                    <a:pt x="10565130" y="3200400"/>
                  </a:lnTo>
                  <a:lnTo>
                    <a:pt x="10520363" y="3200400"/>
                  </a:lnTo>
                  <a:lnTo>
                    <a:pt x="10475595" y="3200400"/>
                  </a:lnTo>
                  <a:lnTo>
                    <a:pt x="10430828" y="3200400"/>
                  </a:lnTo>
                  <a:lnTo>
                    <a:pt x="10386060" y="3200400"/>
                  </a:lnTo>
                  <a:lnTo>
                    <a:pt x="10341293" y="3200400"/>
                  </a:lnTo>
                  <a:lnTo>
                    <a:pt x="10296525" y="3200400"/>
                  </a:lnTo>
                  <a:lnTo>
                    <a:pt x="10251758" y="3200400"/>
                  </a:lnTo>
                  <a:lnTo>
                    <a:pt x="10206990" y="3200400"/>
                  </a:lnTo>
                  <a:lnTo>
                    <a:pt x="10162223" y="3200400"/>
                  </a:lnTo>
                  <a:lnTo>
                    <a:pt x="10117455" y="3200400"/>
                  </a:lnTo>
                  <a:lnTo>
                    <a:pt x="10072688" y="3200400"/>
                  </a:lnTo>
                  <a:lnTo>
                    <a:pt x="10027920" y="3200400"/>
                  </a:lnTo>
                  <a:lnTo>
                    <a:pt x="9983153" y="3200400"/>
                  </a:lnTo>
                  <a:lnTo>
                    <a:pt x="9938385" y="3200400"/>
                  </a:lnTo>
                  <a:lnTo>
                    <a:pt x="9893618" y="3200400"/>
                  </a:lnTo>
                  <a:lnTo>
                    <a:pt x="9848850" y="3200400"/>
                  </a:lnTo>
                  <a:lnTo>
                    <a:pt x="9804083" y="3200400"/>
                  </a:lnTo>
                  <a:lnTo>
                    <a:pt x="9759315" y="3200400"/>
                  </a:lnTo>
                  <a:lnTo>
                    <a:pt x="9714548" y="3200400"/>
                  </a:lnTo>
                  <a:lnTo>
                    <a:pt x="9669780" y="3200400"/>
                  </a:lnTo>
                  <a:lnTo>
                    <a:pt x="9625013" y="3200400"/>
                  </a:lnTo>
                  <a:lnTo>
                    <a:pt x="9580245" y="3200400"/>
                  </a:lnTo>
                  <a:lnTo>
                    <a:pt x="9535478" y="3200400"/>
                  </a:lnTo>
                  <a:lnTo>
                    <a:pt x="9490710" y="3200400"/>
                  </a:lnTo>
                  <a:lnTo>
                    <a:pt x="9445943" y="3200400"/>
                  </a:lnTo>
                  <a:lnTo>
                    <a:pt x="9401175" y="3200400"/>
                  </a:lnTo>
                  <a:lnTo>
                    <a:pt x="9356408" y="3200400"/>
                  </a:lnTo>
                  <a:lnTo>
                    <a:pt x="9311640" y="3200400"/>
                  </a:lnTo>
                  <a:lnTo>
                    <a:pt x="9266873" y="3200400"/>
                  </a:lnTo>
                  <a:lnTo>
                    <a:pt x="9222105" y="3200400"/>
                  </a:lnTo>
                  <a:lnTo>
                    <a:pt x="9177338" y="3200400"/>
                  </a:lnTo>
                  <a:lnTo>
                    <a:pt x="9132570" y="3200400"/>
                  </a:lnTo>
                  <a:lnTo>
                    <a:pt x="9087803" y="3200400"/>
                  </a:lnTo>
                  <a:lnTo>
                    <a:pt x="9043035" y="3200400"/>
                  </a:lnTo>
                  <a:lnTo>
                    <a:pt x="8998268" y="3200400"/>
                  </a:lnTo>
                  <a:lnTo>
                    <a:pt x="8953500" y="3200400"/>
                  </a:lnTo>
                  <a:lnTo>
                    <a:pt x="8908733" y="3200400"/>
                  </a:lnTo>
                  <a:lnTo>
                    <a:pt x="8863965" y="3200400"/>
                  </a:lnTo>
                  <a:lnTo>
                    <a:pt x="8819198" y="3200400"/>
                  </a:lnTo>
                  <a:lnTo>
                    <a:pt x="8774430" y="3200400"/>
                  </a:lnTo>
                  <a:lnTo>
                    <a:pt x="8729663" y="3200400"/>
                  </a:lnTo>
                  <a:lnTo>
                    <a:pt x="8684895" y="3200400"/>
                  </a:lnTo>
                  <a:lnTo>
                    <a:pt x="8640128" y="3200400"/>
                  </a:lnTo>
                  <a:lnTo>
                    <a:pt x="8595360" y="3200400"/>
                  </a:lnTo>
                  <a:lnTo>
                    <a:pt x="8550593" y="3200400"/>
                  </a:lnTo>
                  <a:lnTo>
                    <a:pt x="8505825" y="3200400"/>
                  </a:lnTo>
                  <a:lnTo>
                    <a:pt x="8461058" y="3200400"/>
                  </a:lnTo>
                  <a:lnTo>
                    <a:pt x="8416290" y="3200400"/>
                  </a:lnTo>
                  <a:lnTo>
                    <a:pt x="8371522" y="3200400"/>
                  </a:lnTo>
                  <a:lnTo>
                    <a:pt x="8326755" y="3200400"/>
                  </a:lnTo>
                  <a:lnTo>
                    <a:pt x="8281987" y="3200400"/>
                  </a:lnTo>
                  <a:lnTo>
                    <a:pt x="8237220" y="3200400"/>
                  </a:lnTo>
                  <a:lnTo>
                    <a:pt x="8192453" y="3200400"/>
                  </a:lnTo>
                  <a:lnTo>
                    <a:pt x="8147685" y="3200400"/>
                  </a:lnTo>
                  <a:lnTo>
                    <a:pt x="8102918" y="3200400"/>
                  </a:lnTo>
                  <a:lnTo>
                    <a:pt x="8058150" y="3200400"/>
                  </a:lnTo>
                  <a:lnTo>
                    <a:pt x="8013383" y="3200400"/>
                  </a:lnTo>
                  <a:lnTo>
                    <a:pt x="7968615" y="3200400"/>
                  </a:lnTo>
                  <a:lnTo>
                    <a:pt x="7923848" y="3200400"/>
                  </a:lnTo>
                  <a:lnTo>
                    <a:pt x="7879080" y="3200400"/>
                  </a:lnTo>
                  <a:lnTo>
                    <a:pt x="7834313" y="3200400"/>
                  </a:lnTo>
                  <a:lnTo>
                    <a:pt x="7789545" y="3200400"/>
                  </a:lnTo>
                  <a:lnTo>
                    <a:pt x="7744778" y="3200400"/>
                  </a:lnTo>
                  <a:lnTo>
                    <a:pt x="7700010" y="3200400"/>
                  </a:lnTo>
                  <a:lnTo>
                    <a:pt x="7655242" y="3200400"/>
                  </a:lnTo>
                  <a:lnTo>
                    <a:pt x="7610475" y="3200400"/>
                  </a:lnTo>
                  <a:lnTo>
                    <a:pt x="7565708" y="3200400"/>
                  </a:lnTo>
                  <a:lnTo>
                    <a:pt x="7520940" y="3200400"/>
                  </a:lnTo>
                  <a:lnTo>
                    <a:pt x="7476173" y="3200400"/>
                  </a:lnTo>
                  <a:lnTo>
                    <a:pt x="7431405" y="3200400"/>
                  </a:lnTo>
                  <a:lnTo>
                    <a:pt x="7386638" y="3200400"/>
                  </a:lnTo>
                  <a:lnTo>
                    <a:pt x="7341870" y="3200400"/>
                  </a:lnTo>
                  <a:lnTo>
                    <a:pt x="7297103" y="3200400"/>
                  </a:lnTo>
                  <a:lnTo>
                    <a:pt x="7252335" y="3200400"/>
                  </a:lnTo>
                  <a:lnTo>
                    <a:pt x="7207568" y="3200400"/>
                  </a:lnTo>
                  <a:lnTo>
                    <a:pt x="7162800" y="3200400"/>
                  </a:lnTo>
                  <a:lnTo>
                    <a:pt x="7118033" y="3200400"/>
                  </a:lnTo>
                  <a:lnTo>
                    <a:pt x="7073265" y="3200400"/>
                  </a:lnTo>
                  <a:lnTo>
                    <a:pt x="7028497" y="3200400"/>
                  </a:lnTo>
                  <a:lnTo>
                    <a:pt x="6983730" y="3200400"/>
                  </a:lnTo>
                  <a:lnTo>
                    <a:pt x="6938963" y="3200400"/>
                  </a:lnTo>
                  <a:lnTo>
                    <a:pt x="6894195" y="3200400"/>
                  </a:lnTo>
                  <a:lnTo>
                    <a:pt x="6849427" y="3200400"/>
                  </a:lnTo>
                  <a:lnTo>
                    <a:pt x="6804660" y="3200400"/>
                  </a:lnTo>
                  <a:lnTo>
                    <a:pt x="6759893" y="3200400"/>
                  </a:lnTo>
                  <a:lnTo>
                    <a:pt x="6715125" y="3200400"/>
                  </a:lnTo>
                  <a:lnTo>
                    <a:pt x="6670358" y="3200400"/>
                  </a:lnTo>
                  <a:lnTo>
                    <a:pt x="6625590" y="3200400"/>
                  </a:lnTo>
                  <a:lnTo>
                    <a:pt x="6580823" y="3200400"/>
                  </a:lnTo>
                  <a:lnTo>
                    <a:pt x="6536055" y="3200400"/>
                  </a:lnTo>
                  <a:lnTo>
                    <a:pt x="6491287" y="3200400"/>
                  </a:lnTo>
                  <a:lnTo>
                    <a:pt x="6446520" y="3200400"/>
                  </a:lnTo>
                  <a:lnTo>
                    <a:pt x="6401753" y="3200400"/>
                  </a:lnTo>
                  <a:lnTo>
                    <a:pt x="6356985" y="3200400"/>
                  </a:lnTo>
                  <a:lnTo>
                    <a:pt x="6312218" y="3200400"/>
                  </a:lnTo>
                  <a:lnTo>
                    <a:pt x="6267450" y="3200400"/>
                  </a:lnTo>
                  <a:lnTo>
                    <a:pt x="6222683" y="3200400"/>
                  </a:lnTo>
                  <a:lnTo>
                    <a:pt x="6177915" y="3200400"/>
                  </a:lnTo>
                  <a:lnTo>
                    <a:pt x="6133148" y="3200400"/>
                  </a:lnTo>
                  <a:lnTo>
                    <a:pt x="6088380" y="3200400"/>
                  </a:lnTo>
                  <a:lnTo>
                    <a:pt x="6043613" y="3200400"/>
                  </a:lnTo>
                  <a:lnTo>
                    <a:pt x="5998845" y="3200400"/>
                  </a:lnTo>
                  <a:lnTo>
                    <a:pt x="5954078" y="3200400"/>
                  </a:lnTo>
                  <a:lnTo>
                    <a:pt x="5909310" y="3200400"/>
                  </a:lnTo>
                  <a:lnTo>
                    <a:pt x="5864543" y="3200400"/>
                  </a:lnTo>
                  <a:lnTo>
                    <a:pt x="5819775" y="3200400"/>
                  </a:lnTo>
                  <a:lnTo>
                    <a:pt x="5775008" y="3200400"/>
                  </a:lnTo>
                  <a:lnTo>
                    <a:pt x="5730240" y="3200400"/>
                  </a:lnTo>
                  <a:lnTo>
                    <a:pt x="5685473" y="3200400"/>
                  </a:lnTo>
                  <a:lnTo>
                    <a:pt x="5640705" y="3200400"/>
                  </a:lnTo>
                  <a:lnTo>
                    <a:pt x="5595938" y="3200400"/>
                  </a:lnTo>
                  <a:lnTo>
                    <a:pt x="5551170" y="3200400"/>
                  </a:lnTo>
                  <a:lnTo>
                    <a:pt x="5506403" y="3200400"/>
                  </a:lnTo>
                  <a:lnTo>
                    <a:pt x="5461635" y="3200400"/>
                  </a:lnTo>
                  <a:lnTo>
                    <a:pt x="5416868" y="3200400"/>
                  </a:lnTo>
                  <a:lnTo>
                    <a:pt x="5372100" y="3200400"/>
                  </a:lnTo>
                  <a:lnTo>
                    <a:pt x="5327333" y="3200400"/>
                  </a:lnTo>
                  <a:lnTo>
                    <a:pt x="5282565" y="3200400"/>
                  </a:lnTo>
                  <a:lnTo>
                    <a:pt x="5237798" y="3200400"/>
                  </a:lnTo>
                  <a:lnTo>
                    <a:pt x="5193030" y="3200400"/>
                  </a:lnTo>
                  <a:lnTo>
                    <a:pt x="5148263" y="3200400"/>
                  </a:lnTo>
                  <a:lnTo>
                    <a:pt x="5103495" y="3200400"/>
                  </a:lnTo>
                  <a:lnTo>
                    <a:pt x="5058728" y="3200400"/>
                  </a:lnTo>
                  <a:lnTo>
                    <a:pt x="5013960" y="3200400"/>
                  </a:lnTo>
                  <a:lnTo>
                    <a:pt x="4969193" y="3200400"/>
                  </a:lnTo>
                  <a:lnTo>
                    <a:pt x="4924425" y="3200400"/>
                  </a:lnTo>
                  <a:lnTo>
                    <a:pt x="4879658" y="3200400"/>
                  </a:lnTo>
                  <a:lnTo>
                    <a:pt x="4834890" y="3200400"/>
                  </a:lnTo>
                  <a:lnTo>
                    <a:pt x="4790123" y="3200400"/>
                  </a:lnTo>
                  <a:lnTo>
                    <a:pt x="4745355" y="3200400"/>
                  </a:lnTo>
                  <a:lnTo>
                    <a:pt x="4700588" y="3200400"/>
                  </a:lnTo>
                  <a:lnTo>
                    <a:pt x="4655820" y="3200400"/>
                  </a:lnTo>
                  <a:lnTo>
                    <a:pt x="4611053" y="3200400"/>
                  </a:lnTo>
                  <a:lnTo>
                    <a:pt x="4566285" y="3200400"/>
                  </a:lnTo>
                  <a:lnTo>
                    <a:pt x="4521518" y="3200400"/>
                  </a:lnTo>
                  <a:lnTo>
                    <a:pt x="4476750" y="3200400"/>
                  </a:lnTo>
                  <a:lnTo>
                    <a:pt x="4431983" y="3200400"/>
                  </a:lnTo>
                  <a:lnTo>
                    <a:pt x="4387215" y="3200400"/>
                  </a:lnTo>
                  <a:lnTo>
                    <a:pt x="4342448" y="3200400"/>
                  </a:lnTo>
                  <a:lnTo>
                    <a:pt x="4297680" y="3200400"/>
                  </a:lnTo>
                  <a:lnTo>
                    <a:pt x="4252913" y="3200400"/>
                  </a:lnTo>
                  <a:lnTo>
                    <a:pt x="4208145" y="3200400"/>
                  </a:lnTo>
                  <a:lnTo>
                    <a:pt x="4163377" y="3200400"/>
                  </a:lnTo>
                  <a:lnTo>
                    <a:pt x="4118610" y="3200400"/>
                  </a:lnTo>
                  <a:lnTo>
                    <a:pt x="4073843" y="3200400"/>
                  </a:lnTo>
                  <a:lnTo>
                    <a:pt x="4029075" y="3200400"/>
                  </a:lnTo>
                  <a:lnTo>
                    <a:pt x="3984308" y="3200400"/>
                  </a:lnTo>
                  <a:lnTo>
                    <a:pt x="3939540" y="3200400"/>
                  </a:lnTo>
                  <a:lnTo>
                    <a:pt x="3894773" y="3200400"/>
                  </a:lnTo>
                  <a:lnTo>
                    <a:pt x="3850005" y="3200400"/>
                  </a:lnTo>
                  <a:lnTo>
                    <a:pt x="3805237" y="3200400"/>
                  </a:lnTo>
                  <a:lnTo>
                    <a:pt x="3760470" y="3200400"/>
                  </a:lnTo>
                  <a:lnTo>
                    <a:pt x="3715703" y="3200400"/>
                  </a:lnTo>
                  <a:lnTo>
                    <a:pt x="3670935" y="3200400"/>
                  </a:lnTo>
                  <a:lnTo>
                    <a:pt x="3626168" y="3200400"/>
                  </a:lnTo>
                  <a:lnTo>
                    <a:pt x="3581400" y="3200400"/>
                  </a:lnTo>
                  <a:lnTo>
                    <a:pt x="3536633" y="3200400"/>
                  </a:lnTo>
                  <a:lnTo>
                    <a:pt x="3491865" y="3200400"/>
                  </a:lnTo>
                  <a:lnTo>
                    <a:pt x="3447098" y="3200400"/>
                  </a:lnTo>
                  <a:lnTo>
                    <a:pt x="3402330" y="3200400"/>
                  </a:lnTo>
                  <a:lnTo>
                    <a:pt x="3357563" y="3200400"/>
                  </a:lnTo>
                  <a:lnTo>
                    <a:pt x="3312795" y="3200400"/>
                  </a:lnTo>
                  <a:lnTo>
                    <a:pt x="3268028" y="3200400"/>
                  </a:lnTo>
                  <a:lnTo>
                    <a:pt x="3223260" y="3200400"/>
                  </a:lnTo>
                  <a:lnTo>
                    <a:pt x="3178493" y="3200400"/>
                  </a:lnTo>
                  <a:lnTo>
                    <a:pt x="3133725" y="3200400"/>
                  </a:lnTo>
                  <a:lnTo>
                    <a:pt x="3088958" y="3200400"/>
                  </a:lnTo>
                  <a:lnTo>
                    <a:pt x="3044190" y="3200400"/>
                  </a:lnTo>
                  <a:lnTo>
                    <a:pt x="2999423" y="3200400"/>
                  </a:lnTo>
                  <a:lnTo>
                    <a:pt x="2954655" y="3200400"/>
                  </a:lnTo>
                  <a:lnTo>
                    <a:pt x="2909887" y="3200400"/>
                  </a:lnTo>
                  <a:lnTo>
                    <a:pt x="2865120" y="3200400"/>
                  </a:lnTo>
                  <a:lnTo>
                    <a:pt x="2820353" y="3200400"/>
                  </a:lnTo>
                  <a:lnTo>
                    <a:pt x="2775585" y="3200400"/>
                  </a:lnTo>
                  <a:lnTo>
                    <a:pt x="2730818" y="3200400"/>
                  </a:lnTo>
                  <a:lnTo>
                    <a:pt x="2686050" y="3200400"/>
                  </a:lnTo>
                  <a:lnTo>
                    <a:pt x="2641283" y="3200400"/>
                  </a:lnTo>
                  <a:lnTo>
                    <a:pt x="2596515" y="3200400"/>
                  </a:lnTo>
                  <a:lnTo>
                    <a:pt x="2551748" y="3200400"/>
                  </a:lnTo>
                  <a:lnTo>
                    <a:pt x="2506980" y="3200400"/>
                  </a:lnTo>
                  <a:lnTo>
                    <a:pt x="2462213" y="3200400"/>
                  </a:lnTo>
                  <a:lnTo>
                    <a:pt x="2417445" y="3200400"/>
                  </a:lnTo>
                  <a:lnTo>
                    <a:pt x="2372678" y="3200400"/>
                  </a:lnTo>
                  <a:lnTo>
                    <a:pt x="2327910" y="3200400"/>
                  </a:lnTo>
                  <a:lnTo>
                    <a:pt x="2283143" y="3200400"/>
                  </a:lnTo>
                  <a:lnTo>
                    <a:pt x="2238375" y="3200400"/>
                  </a:lnTo>
                  <a:lnTo>
                    <a:pt x="2193608" y="3200400"/>
                  </a:lnTo>
                  <a:lnTo>
                    <a:pt x="2148840" y="3200400"/>
                  </a:lnTo>
                  <a:lnTo>
                    <a:pt x="2104073" y="3200400"/>
                  </a:lnTo>
                  <a:lnTo>
                    <a:pt x="2059305" y="3200400"/>
                  </a:lnTo>
                  <a:lnTo>
                    <a:pt x="2014538" y="3200400"/>
                  </a:lnTo>
                  <a:lnTo>
                    <a:pt x="1969770" y="3200400"/>
                  </a:lnTo>
                  <a:lnTo>
                    <a:pt x="1925002" y="3200400"/>
                  </a:lnTo>
                  <a:lnTo>
                    <a:pt x="1880235" y="3200400"/>
                  </a:lnTo>
                  <a:lnTo>
                    <a:pt x="1835468" y="3200400"/>
                  </a:lnTo>
                  <a:lnTo>
                    <a:pt x="1790700" y="3200400"/>
                  </a:lnTo>
                  <a:lnTo>
                    <a:pt x="1745932" y="3200400"/>
                  </a:lnTo>
                  <a:lnTo>
                    <a:pt x="1701165" y="3200400"/>
                  </a:lnTo>
                  <a:lnTo>
                    <a:pt x="1656398" y="3200400"/>
                  </a:lnTo>
                  <a:lnTo>
                    <a:pt x="1611630" y="3200400"/>
                  </a:lnTo>
                  <a:lnTo>
                    <a:pt x="1566863" y="3200400"/>
                  </a:lnTo>
                  <a:lnTo>
                    <a:pt x="1522095" y="3200400"/>
                  </a:lnTo>
                  <a:lnTo>
                    <a:pt x="1477328" y="3200400"/>
                  </a:lnTo>
                  <a:lnTo>
                    <a:pt x="1432560" y="3200400"/>
                  </a:lnTo>
                  <a:lnTo>
                    <a:pt x="1387793" y="3200400"/>
                  </a:lnTo>
                  <a:lnTo>
                    <a:pt x="1343025" y="3200400"/>
                  </a:lnTo>
                  <a:lnTo>
                    <a:pt x="1298258" y="3200400"/>
                  </a:lnTo>
                  <a:lnTo>
                    <a:pt x="1253490" y="3200400"/>
                  </a:lnTo>
                  <a:lnTo>
                    <a:pt x="1208723" y="3200400"/>
                  </a:lnTo>
                  <a:lnTo>
                    <a:pt x="1163955" y="3200400"/>
                  </a:lnTo>
                  <a:lnTo>
                    <a:pt x="1119188" y="3200400"/>
                  </a:lnTo>
                  <a:lnTo>
                    <a:pt x="1074420" y="3200400"/>
                  </a:lnTo>
                  <a:lnTo>
                    <a:pt x="1029653" y="3200400"/>
                  </a:lnTo>
                  <a:lnTo>
                    <a:pt x="984885" y="3200400"/>
                  </a:lnTo>
                  <a:lnTo>
                    <a:pt x="940118" y="3200400"/>
                  </a:lnTo>
                  <a:lnTo>
                    <a:pt x="895350" y="3200400"/>
                  </a:lnTo>
                  <a:lnTo>
                    <a:pt x="850583" y="3200400"/>
                  </a:lnTo>
                  <a:lnTo>
                    <a:pt x="805815" y="3200400"/>
                  </a:lnTo>
                  <a:lnTo>
                    <a:pt x="761048" y="3200400"/>
                  </a:lnTo>
                  <a:lnTo>
                    <a:pt x="716280" y="3200400"/>
                  </a:lnTo>
                  <a:lnTo>
                    <a:pt x="671513" y="3200400"/>
                  </a:lnTo>
                  <a:lnTo>
                    <a:pt x="626745" y="3200400"/>
                  </a:lnTo>
                  <a:lnTo>
                    <a:pt x="581978" y="3200400"/>
                  </a:lnTo>
                  <a:lnTo>
                    <a:pt x="537210" y="3200400"/>
                  </a:lnTo>
                  <a:lnTo>
                    <a:pt x="492443" y="3200400"/>
                  </a:lnTo>
                  <a:lnTo>
                    <a:pt x="447675" y="3200400"/>
                  </a:lnTo>
                  <a:lnTo>
                    <a:pt x="402908" y="3200400"/>
                  </a:lnTo>
                  <a:lnTo>
                    <a:pt x="358140" y="3200400"/>
                  </a:lnTo>
                  <a:lnTo>
                    <a:pt x="313373" y="3200400"/>
                  </a:lnTo>
                  <a:lnTo>
                    <a:pt x="268605" y="3200400"/>
                  </a:lnTo>
                  <a:lnTo>
                    <a:pt x="223838" y="3200400"/>
                  </a:lnTo>
                  <a:lnTo>
                    <a:pt x="179070" y="3200400"/>
                  </a:lnTo>
                  <a:lnTo>
                    <a:pt x="134303" y="3200400"/>
                  </a:lnTo>
                  <a:lnTo>
                    <a:pt x="89535" y="3200400"/>
                  </a:lnTo>
                  <a:lnTo>
                    <a:pt x="44768" y="3200400"/>
                  </a:lnTo>
                  <a:lnTo>
                    <a:pt x="0" y="3200400"/>
                  </a:lnTo>
                  <a:close/>
                </a:path>
              </a:pathLst>
            </a:custGeom>
            <a:solidFill>
              <a:srgbClr val="CED7E6"/>
            </a:solidFill>
            <a:ln>
              <a:noFill/>
            </a:ln>
          </p:spPr>
        </p:sp>
        <p:sp>
          <p:nvSpPr>
            <p:cNvPr id="16" name="node01.series.source-002"/>
            <p:cNvSpPr/>
            <p:nvPr/>
          </p:nvSpPr>
          <p:spPr>
            <a:xfrm>
              <a:off x="723900" y="1600200"/>
              <a:ext cx="10744200" cy="3200400"/>
            </a:xfrm>
            <a:custGeom>
              <a:avLst/>
              <a:gdLst/>
              <a:ahLst/>
              <a:cxnLst/>
              <a:rect l="l" t="t" r="r" b="b"/>
              <a:pathLst>
                <a:path w="10744200" h="3200400">
                  <a:moveTo>
                    <a:pt x="0" y="2554224"/>
                  </a:moveTo>
                  <a:lnTo>
                    <a:pt x="44768" y="2547526"/>
                  </a:lnTo>
                  <a:lnTo>
                    <a:pt x="89535" y="2540382"/>
                  </a:lnTo>
                  <a:lnTo>
                    <a:pt x="134303" y="2532773"/>
                  </a:lnTo>
                  <a:lnTo>
                    <a:pt x="179070" y="2524683"/>
                  </a:lnTo>
                  <a:lnTo>
                    <a:pt x="223838" y="2516096"/>
                  </a:lnTo>
                  <a:lnTo>
                    <a:pt x="268605" y="2506996"/>
                  </a:lnTo>
                  <a:lnTo>
                    <a:pt x="313373" y="2497365"/>
                  </a:lnTo>
                  <a:lnTo>
                    <a:pt x="358140" y="2487190"/>
                  </a:lnTo>
                  <a:lnTo>
                    <a:pt x="402908" y="2476455"/>
                  </a:lnTo>
                  <a:lnTo>
                    <a:pt x="447675" y="2465149"/>
                  </a:lnTo>
                  <a:lnTo>
                    <a:pt x="492443" y="2453259"/>
                  </a:lnTo>
                  <a:lnTo>
                    <a:pt x="537210" y="2440772"/>
                  </a:lnTo>
                  <a:lnTo>
                    <a:pt x="581978" y="2427678"/>
                  </a:lnTo>
                  <a:lnTo>
                    <a:pt x="626745" y="2413967"/>
                  </a:lnTo>
                  <a:lnTo>
                    <a:pt x="671513" y="2399630"/>
                  </a:lnTo>
                  <a:lnTo>
                    <a:pt x="716280" y="2384660"/>
                  </a:lnTo>
                  <a:lnTo>
                    <a:pt x="761048" y="2369052"/>
                  </a:lnTo>
                  <a:lnTo>
                    <a:pt x="805815" y="2352800"/>
                  </a:lnTo>
                  <a:lnTo>
                    <a:pt x="850583" y="2335902"/>
                  </a:lnTo>
                  <a:lnTo>
                    <a:pt x="895350" y="2318361"/>
                  </a:lnTo>
                  <a:lnTo>
                    <a:pt x="940118" y="2300177"/>
                  </a:lnTo>
                  <a:lnTo>
                    <a:pt x="984885" y="2281353"/>
                  </a:lnTo>
                  <a:lnTo>
                    <a:pt x="1029653" y="2261895"/>
                  </a:lnTo>
                  <a:lnTo>
                    <a:pt x="1074420" y="2241809"/>
                  </a:lnTo>
                  <a:lnTo>
                    <a:pt x="1119188" y="2221104"/>
                  </a:lnTo>
                  <a:lnTo>
                    <a:pt x="1163955" y="2199791"/>
                  </a:lnTo>
                  <a:lnTo>
                    <a:pt x="1208723" y="2177884"/>
                  </a:lnTo>
                  <a:lnTo>
                    <a:pt x="1253490" y="2155398"/>
                  </a:lnTo>
                  <a:lnTo>
                    <a:pt x="1298258" y="2132349"/>
                  </a:lnTo>
                  <a:lnTo>
                    <a:pt x="1343025" y="2108759"/>
                  </a:lnTo>
                  <a:lnTo>
                    <a:pt x="1387793" y="2084648"/>
                  </a:lnTo>
                  <a:lnTo>
                    <a:pt x="1432560" y="2060042"/>
                  </a:lnTo>
                  <a:lnTo>
                    <a:pt x="1477328" y="2034964"/>
                  </a:lnTo>
                  <a:lnTo>
                    <a:pt x="1522095" y="2009443"/>
                  </a:lnTo>
                  <a:lnTo>
                    <a:pt x="1566863" y="1983507"/>
                  </a:lnTo>
                  <a:lnTo>
                    <a:pt x="1611630" y="1957189"/>
                  </a:lnTo>
                  <a:lnTo>
                    <a:pt x="1656398" y="1930519"/>
                  </a:lnTo>
                  <a:lnTo>
                    <a:pt x="1701165" y="1903532"/>
                  </a:lnTo>
                  <a:lnTo>
                    <a:pt x="1745932" y="1876264"/>
                  </a:lnTo>
                  <a:lnTo>
                    <a:pt x="1790700" y="1848752"/>
                  </a:lnTo>
                  <a:lnTo>
                    <a:pt x="1835468" y="1821034"/>
                  </a:lnTo>
                  <a:lnTo>
                    <a:pt x="1880235" y="1793148"/>
                  </a:lnTo>
                  <a:lnTo>
                    <a:pt x="1925002" y="1765133"/>
                  </a:lnTo>
                  <a:lnTo>
                    <a:pt x="1969770" y="1737032"/>
                  </a:lnTo>
                  <a:lnTo>
                    <a:pt x="2014538" y="1708883"/>
                  </a:lnTo>
                  <a:lnTo>
                    <a:pt x="2059305" y="1680728"/>
                  </a:lnTo>
                  <a:lnTo>
                    <a:pt x="2104073" y="1652609"/>
                  </a:lnTo>
                  <a:lnTo>
                    <a:pt x="2148840" y="1624567"/>
                  </a:lnTo>
                  <a:lnTo>
                    <a:pt x="2193608" y="1596642"/>
                  </a:lnTo>
                  <a:lnTo>
                    <a:pt x="2238375" y="1568876"/>
                  </a:lnTo>
                  <a:lnTo>
                    <a:pt x="2283143" y="1541308"/>
                  </a:lnTo>
                  <a:lnTo>
                    <a:pt x="2327910" y="1513980"/>
                  </a:lnTo>
                  <a:lnTo>
                    <a:pt x="2372678" y="1486930"/>
                  </a:lnTo>
                  <a:lnTo>
                    <a:pt x="2417445" y="1460197"/>
                  </a:lnTo>
                  <a:lnTo>
                    <a:pt x="2462213" y="1433816"/>
                  </a:lnTo>
                  <a:lnTo>
                    <a:pt x="2506980" y="1407824"/>
                  </a:lnTo>
                  <a:lnTo>
                    <a:pt x="2551748" y="1382254"/>
                  </a:lnTo>
                  <a:lnTo>
                    <a:pt x="2596515" y="1357137"/>
                  </a:lnTo>
                  <a:lnTo>
                    <a:pt x="2641283" y="1332504"/>
                  </a:lnTo>
                  <a:lnTo>
                    <a:pt x="2686050" y="1308385"/>
                  </a:lnTo>
                  <a:lnTo>
                    <a:pt x="2730818" y="1284805"/>
                  </a:lnTo>
                  <a:lnTo>
                    <a:pt x="2775585" y="1261790"/>
                  </a:lnTo>
                  <a:lnTo>
                    <a:pt x="2820353" y="1239362"/>
                  </a:lnTo>
                  <a:lnTo>
                    <a:pt x="2865120" y="1217542"/>
                  </a:lnTo>
                  <a:lnTo>
                    <a:pt x="2909887" y="1196348"/>
                  </a:lnTo>
                  <a:lnTo>
                    <a:pt x="2954655" y="1175795"/>
                  </a:lnTo>
                  <a:lnTo>
                    <a:pt x="2999423" y="1155898"/>
                  </a:lnTo>
                  <a:lnTo>
                    <a:pt x="3044190" y="1136667"/>
                  </a:lnTo>
                  <a:lnTo>
                    <a:pt x="3088958" y="1118112"/>
                  </a:lnTo>
                  <a:lnTo>
                    <a:pt x="3133725" y="1100239"/>
                  </a:lnTo>
                  <a:lnTo>
                    <a:pt x="3178493" y="1083053"/>
                  </a:lnTo>
                  <a:lnTo>
                    <a:pt x="3223260" y="1066555"/>
                  </a:lnTo>
                  <a:lnTo>
                    <a:pt x="3268028" y="1050747"/>
                  </a:lnTo>
                  <a:lnTo>
                    <a:pt x="3312795" y="1035628"/>
                  </a:lnTo>
                  <a:lnTo>
                    <a:pt x="3357563" y="1021192"/>
                  </a:lnTo>
                  <a:lnTo>
                    <a:pt x="3402330" y="1007433"/>
                  </a:lnTo>
                  <a:lnTo>
                    <a:pt x="3447098" y="994341"/>
                  </a:lnTo>
                  <a:lnTo>
                    <a:pt x="3491865" y="981906"/>
                  </a:lnTo>
                  <a:lnTo>
                    <a:pt x="3536633" y="970116"/>
                  </a:lnTo>
                  <a:lnTo>
                    <a:pt x="3581400" y="958959"/>
                  </a:lnTo>
                  <a:lnTo>
                    <a:pt x="3626168" y="948418"/>
                  </a:lnTo>
                  <a:lnTo>
                    <a:pt x="3670935" y="938477"/>
                  </a:lnTo>
                  <a:lnTo>
                    <a:pt x="3715703" y="929123"/>
                  </a:lnTo>
                  <a:lnTo>
                    <a:pt x="3760470" y="920335"/>
                  </a:lnTo>
                  <a:lnTo>
                    <a:pt x="3805237" y="912094"/>
                  </a:lnTo>
                  <a:lnTo>
                    <a:pt x="3850005" y="904382"/>
                  </a:lnTo>
                  <a:lnTo>
                    <a:pt x="3894773" y="897176"/>
                  </a:lnTo>
                  <a:lnTo>
                    <a:pt x="3939540" y="890457"/>
                  </a:lnTo>
                  <a:lnTo>
                    <a:pt x="3984308" y="884203"/>
                  </a:lnTo>
                  <a:lnTo>
                    <a:pt x="4029075" y="878394"/>
                  </a:lnTo>
                  <a:lnTo>
                    <a:pt x="4073843" y="873009"/>
                  </a:lnTo>
                  <a:lnTo>
                    <a:pt x="4118610" y="868028"/>
                  </a:lnTo>
                  <a:lnTo>
                    <a:pt x="4163377" y="863429"/>
                  </a:lnTo>
                  <a:lnTo>
                    <a:pt x="4208145" y="859192"/>
                  </a:lnTo>
                  <a:lnTo>
                    <a:pt x="4252913" y="855298"/>
                  </a:lnTo>
                  <a:lnTo>
                    <a:pt x="4297680" y="851727"/>
                  </a:lnTo>
                  <a:lnTo>
                    <a:pt x="4342448" y="848459"/>
                  </a:lnTo>
                  <a:lnTo>
                    <a:pt x="4387215" y="845478"/>
                  </a:lnTo>
                  <a:lnTo>
                    <a:pt x="4431983" y="842764"/>
                  </a:lnTo>
                  <a:lnTo>
                    <a:pt x="4476750" y="840306"/>
                  </a:lnTo>
                  <a:lnTo>
                    <a:pt x="4521518" y="838090"/>
                  </a:lnTo>
                  <a:lnTo>
                    <a:pt x="4566285" y="836102"/>
                  </a:lnTo>
                  <a:lnTo>
                    <a:pt x="4611053" y="834328"/>
                  </a:lnTo>
                  <a:lnTo>
                    <a:pt x="4655820" y="832757"/>
                  </a:lnTo>
                  <a:lnTo>
                    <a:pt x="4700588" y="831378"/>
                  </a:lnTo>
                  <a:lnTo>
                    <a:pt x="4745355" y="830182"/>
                  </a:lnTo>
                  <a:lnTo>
                    <a:pt x="4790123" y="829161"/>
                  </a:lnTo>
                  <a:lnTo>
                    <a:pt x="4834890" y="828308"/>
                  </a:lnTo>
                  <a:lnTo>
                    <a:pt x="4879658" y="827617"/>
                  </a:lnTo>
                  <a:lnTo>
                    <a:pt x="4924425" y="827088"/>
                  </a:lnTo>
                  <a:lnTo>
                    <a:pt x="4969193" y="826718"/>
                  </a:lnTo>
                  <a:lnTo>
                    <a:pt x="5013960" y="826507"/>
                  </a:lnTo>
                  <a:lnTo>
                    <a:pt x="5058728" y="826454"/>
                  </a:lnTo>
                  <a:lnTo>
                    <a:pt x="5103495" y="826562"/>
                  </a:lnTo>
                  <a:lnTo>
                    <a:pt x="5148263" y="826834"/>
                  </a:lnTo>
                  <a:lnTo>
                    <a:pt x="5193030" y="827278"/>
                  </a:lnTo>
                  <a:lnTo>
                    <a:pt x="5237798" y="827900"/>
                  </a:lnTo>
                  <a:lnTo>
                    <a:pt x="5282565" y="828709"/>
                  </a:lnTo>
                  <a:lnTo>
                    <a:pt x="5327333" y="829716"/>
                  </a:lnTo>
                  <a:lnTo>
                    <a:pt x="5372100" y="830934"/>
                  </a:lnTo>
                  <a:lnTo>
                    <a:pt x="5416868" y="832377"/>
                  </a:lnTo>
                  <a:lnTo>
                    <a:pt x="5461635" y="834060"/>
                  </a:lnTo>
                  <a:lnTo>
                    <a:pt x="5506403" y="835997"/>
                  </a:lnTo>
                  <a:lnTo>
                    <a:pt x="5551170" y="838208"/>
                  </a:lnTo>
                  <a:lnTo>
                    <a:pt x="5595938" y="840714"/>
                  </a:lnTo>
                  <a:lnTo>
                    <a:pt x="5640705" y="843535"/>
                  </a:lnTo>
                  <a:lnTo>
                    <a:pt x="5685473" y="846697"/>
                  </a:lnTo>
                  <a:lnTo>
                    <a:pt x="5730240" y="850223"/>
                  </a:lnTo>
                  <a:lnTo>
                    <a:pt x="5775008" y="854140"/>
                  </a:lnTo>
                  <a:lnTo>
                    <a:pt x="5819775" y="858471"/>
                  </a:lnTo>
                  <a:lnTo>
                    <a:pt x="5864543" y="863244"/>
                  </a:lnTo>
                  <a:lnTo>
                    <a:pt x="5909310" y="868485"/>
                  </a:lnTo>
                  <a:lnTo>
                    <a:pt x="5954078" y="874224"/>
                  </a:lnTo>
                  <a:lnTo>
                    <a:pt x="5998845" y="880488"/>
                  </a:lnTo>
                  <a:lnTo>
                    <a:pt x="6043613" y="887306"/>
                  </a:lnTo>
                  <a:lnTo>
                    <a:pt x="6088380" y="894707"/>
                  </a:lnTo>
                  <a:lnTo>
                    <a:pt x="6133148" y="902720"/>
                  </a:lnTo>
                  <a:lnTo>
                    <a:pt x="6177915" y="911373"/>
                  </a:lnTo>
                  <a:lnTo>
                    <a:pt x="6222683" y="920693"/>
                  </a:lnTo>
                  <a:lnTo>
                    <a:pt x="6267450" y="930701"/>
                  </a:lnTo>
                  <a:lnTo>
                    <a:pt x="6312218" y="941422"/>
                  </a:lnTo>
                  <a:lnTo>
                    <a:pt x="6356985" y="952876"/>
                  </a:lnTo>
                  <a:lnTo>
                    <a:pt x="6401753" y="965085"/>
                  </a:lnTo>
                  <a:lnTo>
                    <a:pt x="6446520" y="978066"/>
                  </a:lnTo>
                  <a:lnTo>
                    <a:pt x="6491287" y="991836"/>
                  </a:lnTo>
                  <a:lnTo>
                    <a:pt x="6536055" y="1006408"/>
                  </a:lnTo>
                  <a:lnTo>
                    <a:pt x="6580823" y="1021792"/>
                  </a:lnTo>
                  <a:lnTo>
                    <a:pt x="6625590" y="1037995"/>
                  </a:lnTo>
                  <a:lnTo>
                    <a:pt x="6670358" y="1055022"/>
                  </a:lnTo>
                  <a:lnTo>
                    <a:pt x="6715125" y="1072873"/>
                  </a:lnTo>
                  <a:lnTo>
                    <a:pt x="6759893" y="1091546"/>
                  </a:lnTo>
                  <a:lnTo>
                    <a:pt x="6804660" y="1111033"/>
                  </a:lnTo>
                  <a:lnTo>
                    <a:pt x="6849427" y="1131325"/>
                  </a:lnTo>
                  <a:lnTo>
                    <a:pt x="6894195" y="1152406"/>
                  </a:lnTo>
                  <a:lnTo>
                    <a:pt x="6938963" y="1174260"/>
                  </a:lnTo>
                  <a:lnTo>
                    <a:pt x="6983730" y="1196864"/>
                  </a:lnTo>
                  <a:lnTo>
                    <a:pt x="7028497" y="1220193"/>
                  </a:lnTo>
                  <a:lnTo>
                    <a:pt x="7073265" y="1244218"/>
                  </a:lnTo>
                  <a:lnTo>
                    <a:pt x="7118033" y="1268906"/>
                  </a:lnTo>
                  <a:lnTo>
                    <a:pt x="7162800" y="1294221"/>
                  </a:lnTo>
                  <a:lnTo>
                    <a:pt x="7207568" y="1320125"/>
                  </a:lnTo>
                  <a:lnTo>
                    <a:pt x="7252335" y="1346574"/>
                  </a:lnTo>
                  <a:lnTo>
                    <a:pt x="7297103" y="1373525"/>
                  </a:lnTo>
                  <a:lnTo>
                    <a:pt x="7341870" y="1400929"/>
                  </a:lnTo>
                  <a:lnTo>
                    <a:pt x="7386638" y="1428735"/>
                  </a:lnTo>
                  <a:lnTo>
                    <a:pt x="7431405" y="1456893"/>
                  </a:lnTo>
                  <a:lnTo>
                    <a:pt x="7476173" y="1485349"/>
                  </a:lnTo>
                  <a:lnTo>
                    <a:pt x="7520940" y="1514048"/>
                  </a:lnTo>
                  <a:lnTo>
                    <a:pt x="7565708" y="1542934"/>
                  </a:lnTo>
                  <a:lnTo>
                    <a:pt x="7610475" y="1571952"/>
                  </a:lnTo>
                  <a:lnTo>
                    <a:pt x="7655242" y="1601043"/>
                  </a:lnTo>
                  <a:lnTo>
                    <a:pt x="7700010" y="1630153"/>
                  </a:lnTo>
                  <a:lnTo>
                    <a:pt x="7744778" y="1659226"/>
                  </a:lnTo>
                  <a:lnTo>
                    <a:pt x="7789545" y="1688207"/>
                  </a:lnTo>
                  <a:lnTo>
                    <a:pt x="7834313" y="1717042"/>
                  </a:lnTo>
                  <a:lnTo>
                    <a:pt x="7879080" y="1745681"/>
                  </a:lnTo>
                  <a:lnTo>
                    <a:pt x="7923848" y="1774074"/>
                  </a:lnTo>
                  <a:lnTo>
                    <a:pt x="7968615" y="1802173"/>
                  </a:lnTo>
                  <a:lnTo>
                    <a:pt x="8013383" y="1829935"/>
                  </a:lnTo>
                  <a:lnTo>
                    <a:pt x="8058150" y="1857315"/>
                  </a:lnTo>
                  <a:lnTo>
                    <a:pt x="8102918" y="1884275"/>
                  </a:lnTo>
                  <a:lnTo>
                    <a:pt x="8147685" y="1910779"/>
                  </a:lnTo>
                  <a:lnTo>
                    <a:pt x="8192453" y="1936796"/>
                  </a:lnTo>
                  <a:lnTo>
                    <a:pt x="8237220" y="1962296"/>
                  </a:lnTo>
                  <a:lnTo>
                    <a:pt x="8281987" y="1987255"/>
                  </a:lnTo>
                  <a:lnTo>
                    <a:pt x="8326755" y="2011652"/>
                  </a:lnTo>
                  <a:lnTo>
                    <a:pt x="8371522" y="2035469"/>
                  </a:lnTo>
                  <a:lnTo>
                    <a:pt x="8416290" y="2058693"/>
                  </a:lnTo>
                  <a:lnTo>
                    <a:pt x="8461058" y="2081314"/>
                  </a:lnTo>
                  <a:lnTo>
                    <a:pt x="8505825" y="2103325"/>
                  </a:lnTo>
                  <a:lnTo>
                    <a:pt x="8550593" y="2124722"/>
                  </a:lnTo>
                  <a:lnTo>
                    <a:pt x="8595360" y="2145506"/>
                  </a:lnTo>
                  <a:lnTo>
                    <a:pt x="8640128" y="2165679"/>
                  </a:lnTo>
                  <a:lnTo>
                    <a:pt x="8684895" y="2185248"/>
                  </a:lnTo>
                  <a:lnTo>
                    <a:pt x="8729663" y="2204222"/>
                  </a:lnTo>
                  <a:lnTo>
                    <a:pt x="8774430" y="2222613"/>
                  </a:lnTo>
                  <a:lnTo>
                    <a:pt x="8819198" y="2240434"/>
                  </a:lnTo>
                  <a:lnTo>
                    <a:pt x="8863965" y="2257700"/>
                  </a:lnTo>
                  <a:lnTo>
                    <a:pt x="8908733" y="2274430"/>
                  </a:lnTo>
                  <a:lnTo>
                    <a:pt x="8953500" y="2290642"/>
                  </a:lnTo>
                  <a:lnTo>
                    <a:pt x="8998268" y="2306354"/>
                  </a:lnTo>
                  <a:lnTo>
                    <a:pt x="9043035" y="2321587"/>
                  </a:lnTo>
                  <a:lnTo>
                    <a:pt x="9087803" y="2336356"/>
                  </a:lnTo>
                  <a:lnTo>
                    <a:pt x="9132570" y="2350684"/>
                  </a:lnTo>
                  <a:lnTo>
                    <a:pt x="9177338" y="2364592"/>
                  </a:lnTo>
                  <a:lnTo>
                    <a:pt x="9222105" y="2378099"/>
                  </a:lnTo>
                  <a:lnTo>
                    <a:pt x="9266873" y="2391226"/>
                  </a:lnTo>
                  <a:lnTo>
                    <a:pt x="9311640" y="2403991"/>
                  </a:lnTo>
                  <a:lnTo>
                    <a:pt x="9356408" y="2416413"/>
                  </a:lnTo>
                  <a:lnTo>
                    <a:pt x="9401175" y="2428508"/>
                  </a:lnTo>
                  <a:lnTo>
                    <a:pt x="9445943" y="2440292"/>
                  </a:lnTo>
                  <a:lnTo>
                    <a:pt x="9490710" y="2451779"/>
                  </a:lnTo>
                  <a:lnTo>
                    <a:pt x="9535478" y="2462978"/>
                  </a:lnTo>
                  <a:lnTo>
                    <a:pt x="9580245" y="2473902"/>
                  </a:lnTo>
                  <a:lnTo>
                    <a:pt x="9625013" y="2484560"/>
                  </a:lnTo>
                  <a:lnTo>
                    <a:pt x="9669780" y="2494961"/>
                  </a:lnTo>
                  <a:lnTo>
                    <a:pt x="9714548" y="2505111"/>
                  </a:lnTo>
                  <a:lnTo>
                    <a:pt x="9759315" y="2515016"/>
                  </a:lnTo>
                  <a:lnTo>
                    <a:pt x="9804083" y="2524680"/>
                  </a:lnTo>
                  <a:lnTo>
                    <a:pt x="9848850" y="2534106"/>
                  </a:lnTo>
                  <a:lnTo>
                    <a:pt x="9893618" y="2543295"/>
                  </a:lnTo>
                  <a:lnTo>
                    <a:pt x="9938385" y="2552249"/>
                  </a:lnTo>
                  <a:lnTo>
                    <a:pt x="9983153" y="2560965"/>
                  </a:lnTo>
                  <a:lnTo>
                    <a:pt x="10027920" y="2569445"/>
                  </a:lnTo>
                  <a:lnTo>
                    <a:pt x="10072688" y="2577685"/>
                  </a:lnTo>
                  <a:lnTo>
                    <a:pt x="10117455" y="2585685"/>
                  </a:lnTo>
                  <a:lnTo>
                    <a:pt x="10162223" y="2593441"/>
                  </a:lnTo>
                  <a:lnTo>
                    <a:pt x="10206990" y="2600951"/>
                  </a:lnTo>
                  <a:lnTo>
                    <a:pt x="10251758" y="2608213"/>
                  </a:lnTo>
                  <a:lnTo>
                    <a:pt x="10296525" y="2615223"/>
                  </a:lnTo>
                  <a:lnTo>
                    <a:pt x="10341293" y="2621980"/>
                  </a:lnTo>
                  <a:lnTo>
                    <a:pt x="10386060" y="2628482"/>
                  </a:lnTo>
                  <a:lnTo>
                    <a:pt x="10430828" y="2634729"/>
                  </a:lnTo>
                  <a:lnTo>
                    <a:pt x="10475595" y="2640720"/>
                  </a:lnTo>
                  <a:lnTo>
                    <a:pt x="10520363" y="2646454"/>
                  </a:lnTo>
                  <a:lnTo>
                    <a:pt x="10565130" y="2651932"/>
                  </a:lnTo>
                  <a:lnTo>
                    <a:pt x="10609898" y="2657152"/>
                  </a:lnTo>
                  <a:lnTo>
                    <a:pt x="10654665" y="2662118"/>
                  </a:lnTo>
                  <a:lnTo>
                    <a:pt x="10699433" y="2666830"/>
                  </a:lnTo>
                  <a:lnTo>
                    <a:pt x="10744200" y="2671292"/>
                  </a:lnTo>
                  <a:lnTo>
                    <a:pt x="10744200" y="2888317"/>
                  </a:lnTo>
                  <a:lnTo>
                    <a:pt x="10699433" y="2886117"/>
                  </a:lnTo>
                  <a:lnTo>
                    <a:pt x="10654665" y="2883799"/>
                  </a:lnTo>
                  <a:lnTo>
                    <a:pt x="10609898" y="2881364"/>
                  </a:lnTo>
                  <a:lnTo>
                    <a:pt x="10565130" y="2878813"/>
                  </a:lnTo>
                  <a:lnTo>
                    <a:pt x="10520363" y="2876147"/>
                  </a:lnTo>
                  <a:lnTo>
                    <a:pt x="10475595" y="2873366"/>
                  </a:lnTo>
                  <a:lnTo>
                    <a:pt x="10430828" y="2870474"/>
                  </a:lnTo>
                  <a:lnTo>
                    <a:pt x="10386060" y="2867474"/>
                  </a:lnTo>
                  <a:lnTo>
                    <a:pt x="10341293" y="2864368"/>
                  </a:lnTo>
                  <a:lnTo>
                    <a:pt x="10296525" y="2861161"/>
                  </a:lnTo>
                  <a:lnTo>
                    <a:pt x="10251758" y="2857857"/>
                  </a:lnTo>
                  <a:lnTo>
                    <a:pt x="10206990" y="2854462"/>
                  </a:lnTo>
                  <a:lnTo>
                    <a:pt x="10162223" y="2850981"/>
                  </a:lnTo>
                  <a:lnTo>
                    <a:pt x="10117455" y="2847419"/>
                  </a:lnTo>
                  <a:lnTo>
                    <a:pt x="10072688" y="2843785"/>
                  </a:lnTo>
                  <a:lnTo>
                    <a:pt x="10027920" y="2840084"/>
                  </a:lnTo>
                  <a:lnTo>
                    <a:pt x="9983153" y="2836324"/>
                  </a:lnTo>
                  <a:lnTo>
                    <a:pt x="9938385" y="2832512"/>
                  </a:lnTo>
                  <a:lnTo>
                    <a:pt x="9893618" y="2828657"/>
                  </a:lnTo>
                  <a:lnTo>
                    <a:pt x="9848850" y="2824766"/>
                  </a:lnTo>
                  <a:lnTo>
                    <a:pt x="9804083" y="2820847"/>
                  </a:lnTo>
                  <a:lnTo>
                    <a:pt x="9759315" y="2816908"/>
                  </a:lnTo>
                  <a:lnTo>
                    <a:pt x="9714548" y="2812957"/>
                  </a:lnTo>
                  <a:lnTo>
                    <a:pt x="9669780" y="2809003"/>
                  </a:lnTo>
                  <a:lnTo>
                    <a:pt x="9625013" y="2805053"/>
                  </a:lnTo>
                  <a:lnTo>
                    <a:pt x="9580245" y="2801114"/>
                  </a:lnTo>
                  <a:lnTo>
                    <a:pt x="9535478" y="2797194"/>
                  </a:lnTo>
                  <a:lnTo>
                    <a:pt x="9490710" y="2793299"/>
                  </a:lnTo>
                  <a:lnTo>
                    <a:pt x="9445943" y="2789437"/>
                  </a:lnTo>
                  <a:lnTo>
                    <a:pt x="9401175" y="2785612"/>
                  </a:lnTo>
                  <a:lnTo>
                    <a:pt x="9356408" y="2781832"/>
                  </a:lnTo>
                  <a:lnTo>
                    <a:pt x="9311640" y="2778100"/>
                  </a:lnTo>
                  <a:lnTo>
                    <a:pt x="9266873" y="2774422"/>
                  </a:lnTo>
                  <a:lnTo>
                    <a:pt x="9222105" y="2770802"/>
                  </a:lnTo>
                  <a:lnTo>
                    <a:pt x="9177338" y="2767242"/>
                  </a:lnTo>
                  <a:lnTo>
                    <a:pt x="9132570" y="2763745"/>
                  </a:lnTo>
                  <a:lnTo>
                    <a:pt x="9087803" y="2760314"/>
                  </a:lnTo>
                  <a:lnTo>
                    <a:pt x="9043035" y="2756951"/>
                  </a:lnTo>
                  <a:lnTo>
                    <a:pt x="8998268" y="2753655"/>
                  </a:lnTo>
                  <a:lnTo>
                    <a:pt x="8953500" y="2750429"/>
                  </a:lnTo>
                  <a:lnTo>
                    <a:pt x="8908733" y="2747272"/>
                  </a:lnTo>
                  <a:lnTo>
                    <a:pt x="8863965" y="2744183"/>
                  </a:lnTo>
                  <a:lnTo>
                    <a:pt x="8819198" y="2741161"/>
                  </a:lnTo>
                  <a:lnTo>
                    <a:pt x="8774430" y="2738206"/>
                  </a:lnTo>
                  <a:lnTo>
                    <a:pt x="8729663" y="2735315"/>
                  </a:lnTo>
                  <a:lnTo>
                    <a:pt x="8684895" y="2732486"/>
                  </a:lnTo>
                  <a:lnTo>
                    <a:pt x="8640128" y="2729717"/>
                  </a:lnTo>
                  <a:lnTo>
                    <a:pt x="8595360" y="2727005"/>
                  </a:lnTo>
                  <a:lnTo>
                    <a:pt x="8550593" y="2724348"/>
                  </a:lnTo>
                  <a:lnTo>
                    <a:pt x="8505825" y="2721742"/>
                  </a:lnTo>
                  <a:lnTo>
                    <a:pt x="8461058" y="2719186"/>
                  </a:lnTo>
                  <a:lnTo>
                    <a:pt x="8416290" y="2716675"/>
                  </a:lnTo>
                  <a:lnTo>
                    <a:pt x="8371522" y="2714207"/>
                  </a:lnTo>
                  <a:lnTo>
                    <a:pt x="8326755" y="2711780"/>
                  </a:lnTo>
                  <a:lnTo>
                    <a:pt x="8281987" y="2709391"/>
                  </a:lnTo>
                  <a:lnTo>
                    <a:pt x="8237220" y="2707037"/>
                  </a:lnTo>
                  <a:lnTo>
                    <a:pt x="8192453" y="2704716"/>
                  </a:lnTo>
                  <a:lnTo>
                    <a:pt x="8147685" y="2702426"/>
                  </a:lnTo>
                  <a:lnTo>
                    <a:pt x="8102918" y="2700163"/>
                  </a:lnTo>
                  <a:lnTo>
                    <a:pt x="8058150" y="2697928"/>
                  </a:lnTo>
                  <a:lnTo>
                    <a:pt x="8013383" y="2695718"/>
                  </a:lnTo>
                  <a:lnTo>
                    <a:pt x="7968615" y="2693533"/>
                  </a:lnTo>
                  <a:lnTo>
                    <a:pt x="7923848" y="2691371"/>
                  </a:lnTo>
                  <a:lnTo>
                    <a:pt x="7879080" y="2689233"/>
                  </a:lnTo>
                  <a:lnTo>
                    <a:pt x="7834313" y="2687118"/>
                  </a:lnTo>
                  <a:lnTo>
                    <a:pt x="7789545" y="2685027"/>
                  </a:lnTo>
                  <a:lnTo>
                    <a:pt x="7744778" y="2682958"/>
                  </a:lnTo>
                  <a:lnTo>
                    <a:pt x="7700010" y="2680914"/>
                  </a:lnTo>
                  <a:lnTo>
                    <a:pt x="7655242" y="2678894"/>
                  </a:lnTo>
                  <a:lnTo>
                    <a:pt x="7610475" y="2676900"/>
                  </a:lnTo>
                  <a:lnTo>
                    <a:pt x="7565708" y="2674933"/>
                  </a:lnTo>
                  <a:lnTo>
                    <a:pt x="7520940" y="2672994"/>
                  </a:lnTo>
                  <a:lnTo>
                    <a:pt x="7476173" y="2671085"/>
                  </a:lnTo>
                  <a:lnTo>
                    <a:pt x="7431405" y="2669208"/>
                  </a:lnTo>
                  <a:lnTo>
                    <a:pt x="7386638" y="2667363"/>
                  </a:lnTo>
                  <a:lnTo>
                    <a:pt x="7341870" y="2665553"/>
                  </a:lnTo>
                  <a:lnTo>
                    <a:pt x="7297103" y="2663780"/>
                  </a:lnTo>
                  <a:lnTo>
                    <a:pt x="7252335" y="2662046"/>
                  </a:lnTo>
                  <a:lnTo>
                    <a:pt x="7207568" y="2660351"/>
                  </a:lnTo>
                  <a:lnTo>
                    <a:pt x="7162800" y="2658699"/>
                  </a:lnTo>
                  <a:lnTo>
                    <a:pt x="7118033" y="2657090"/>
                  </a:lnTo>
                  <a:lnTo>
                    <a:pt x="7073265" y="2655526"/>
                  </a:lnTo>
                  <a:lnTo>
                    <a:pt x="7028497" y="2654008"/>
                  </a:lnTo>
                  <a:lnTo>
                    <a:pt x="6983730" y="2652537"/>
                  </a:lnTo>
                  <a:lnTo>
                    <a:pt x="6938963" y="2651116"/>
                  </a:lnTo>
                  <a:lnTo>
                    <a:pt x="6894195" y="2649744"/>
                  </a:lnTo>
                  <a:lnTo>
                    <a:pt x="6849427" y="2648422"/>
                  </a:lnTo>
                  <a:lnTo>
                    <a:pt x="6804660" y="2647152"/>
                  </a:lnTo>
                  <a:lnTo>
                    <a:pt x="6759893" y="2645934"/>
                  </a:lnTo>
                  <a:lnTo>
                    <a:pt x="6715125" y="2644768"/>
                  </a:lnTo>
                  <a:lnTo>
                    <a:pt x="6670358" y="2643655"/>
                  </a:lnTo>
                  <a:lnTo>
                    <a:pt x="6625590" y="2642594"/>
                  </a:lnTo>
                  <a:lnTo>
                    <a:pt x="6580823" y="2641585"/>
                  </a:lnTo>
                  <a:lnTo>
                    <a:pt x="6536055" y="2640627"/>
                  </a:lnTo>
                  <a:lnTo>
                    <a:pt x="6491287" y="2639720"/>
                  </a:lnTo>
                  <a:lnTo>
                    <a:pt x="6446520" y="2638864"/>
                  </a:lnTo>
                  <a:lnTo>
                    <a:pt x="6401753" y="2638056"/>
                  </a:lnTo>
                  <a:lnTo>
                    <a:pt x="6356985" y="2637298"/>
                  </a:lnTo>
                  <a:lnTo>
                    <a:pt x="6312218" y="2636586"/>
                  </a:lnTo>
                  <a:lnTo>
                    <a:pt x="6267450" y="2635922"/>
                  </a:lnTo>
                  <a:lnTo>
                    <a:pt x="6222683" y="2635303"/>
                  </a:lnTo>
                  <a:lnTo>
                    <a:pt x="6177915" y="2634729"/>
                  </a:lnTo>
                  <a:lnTo>
                    <a:pt x="6133148" y="2634198"/>
                  </a:lnTo>
                  <a:lnTo>
                    <a:pt x="6088380" y="2633710"/>
                  </a:lnTo>
                  <a:lnTo>
                    <a:pt x="6043613" y="2633262"/>
                  </a:lnTo>
                  <a:lnTo>
                    <a:pt x="5998845" y="2632853"/>
                  </a:lnTo>
                  <a:lnTo>
                    <a:pt x="5954078" y="2632483"/>
                  </a:lnTo>
                  <a:lnTo>
                    <a:pt x="5909310" y="2632149"/>
                  </a:lnTo>
                  <a:lnTo>
                    <a:pt x="5864543" y="2631852"/>
                  </a:lnTo>
                  <a:lnTo>
                    <a:pt x="5819775" y="2631589"/>
                  </a:lnTo>
                  <a:lnTo>
                    <a:pt x="5775008" y="2631360"/>
                  </a:lnTo>
                  <a:lnTo>
                    <a:pt x="5730240" y="2631165"/>
                  </a:lnTo>
                  <a:lnTo>
                    <a:pt x="5685473" y="2631002"/>
                  </a:lnTo>
                  <a:lnTo>
                    <a:pt x="5640705" y="2630871"/>
                  </a:lnTo>
                  <a:lnTo>
                    <a:pt x="5595938" y="2630773"/>
                  </a:lnTo>
                  <a:lnTo>
                    <a:pt x="5551170" y="2630706"/>
                  </a:lnTo>
                  <a:lnTo>
                    <a:pt x="5506403" y="2630671"/>
                  </a:lnTo>
                  <a:lnTo>
                    <a:pt x="5461635" y="2630668"/>
                  </a:lnTo>
                  <a:lnTo>
                    <a:pt x="5416868" y="2630698"/>
                  </a:lnTo>
                  <a:lnTo>
                    <a:pt x="5372100" y="2630761"/>
                  </a:lnTo>
                  <a:lnTo>
                    <a:pt x="5327333" y="2630857"/>
                  </a:lnTo>
                  <a:lnTo>
                    <a:pt x="5282565" y="2630989"/>
                  </a:lnTo>
                  <a:lnTo>
                    <a:pt x="5237798" y="2631158"/>
                  </a:lnTo>
                  <a:lnTo>
                    <a:pt x="5193030" y="2631364"/>
                  </a:lnTo>
                  <a:lnTo>
                    <a:pt x="5148263" y="2631610"/>
                  </a:lnTo>
                  <a:lnTo>
                    <a:pt x="5103495" y="2631897"/>
                  </a:lnTo>
                  <a:lnTo>
                    <a:pt x="5058728" y="2632229"/>
                  </a:lnTo>
                  <a:lnTo>
                    <a:pt x="5013960" y="2632606"/>
                  </a:lnTo>
                  <a:lnTo>
                    <a:pt x="4969193" y="2633031"/>
                  </a:lnTo>
                  <a:lnTo>
                    <a:pt x="4924425" y="2633508"/>
                  </a:lnTo>
                  <a:lnTo>
                    <a:pt x="4879658" y="2634037"/>
                  </a:lnTo>
                  <a:lnTo>
                    <a:pt x="4834890" y="2634623"/>
                  </a:lnTo>
                  <a:lnTo>
                    <a:pt x="4790123" y="2635267"/>
                  </a:lnTo>
                  <a:lnTo>
                    <a:pt x="4745355" y="2635973"/>
                  </a:lnTo>
                  <a:lnTo>
                    <a:pt x="4700588" y="2636744"/>
                  </a:lnTo>
                  <a:lnTo>
                    <a:pt x="4655820" y="2637581"/>
                  </a:lnTo>
                  <a:lnTo>
                    <a:pt x="4611053" y="2638489"/>
                  </a:lnTo>
                  <a:lnTo>
                    <a:pt x="4566285" y="2639471"/>
                  </a:lnTo>
                  <a:lnTo>
                    <a:pt x="4521518" y="2640527"/>
                  </a:lnTo>
                  <a:lnTo>
                    <a:pt x="4476750" y="2641662"/>
                  </a:lnTo>
                  <a:lnTo>
                    <a:pt x="4431983" y="2642877"/>
                  </a:lnTo>
                  <a:lnTo>
                    <a:pt x="4387215" y="2644174"/>
                  </a:lnTo>
                  <a:lnTo>
                    <a:pt x="4342448" y="2645555"/>
                  </a:lnTo>
                  <a:lnTo>
                    <a:pt x="4297680" y="2647022"/>
                  </a:lnTo>
                  <a:lnTo>
                    <a:pt x="4252913" y="2648575"/>
                  </a:lnTo>
                  <a:lnTo>
                    <a:pt x="4208145" y="2650217"/>
                  </a:lnTo>
                  <a:lnTo>
                    <a:pt x="4163377" y="2651947"/>
                  </a:lnTo>
                  <a:lnTo>
                    <a:pt x="4118610" y="2653766"/>
                  </a:lnTo>
                  <a:lnTo>
                    <a:pt x="4073843" y="2655674"/>
                  </a:lnTo>
                  <a:lnTo>
                    <a:pt x="4029075" y="2657670"/>
                  </a:lnTo>
                  <a:lnTo>
                    <a:pt x="3984308" y="2659755"/>
                  </a:lnTo>
                  <a:lnTo>
                    <a:pt x="3939540" y="2661927"/>
                  </a:lnTo>
                  <a:lnTo>
                    <a:pt x="3894773" y="2664183"/>
                  </a:lnTo>
                  <a:lnTo>
                    <a:pt x="3850005" y="2666523"/>
                  </a:lnTo>
                  <a:lnTo>
                    <a:pt x="3805237" y="2668944"/>
                  </a:lnTo>
                  <a:lnTo>
                    <a:pt x="3760470" y="2671442"/>
                  </a:lnTo>
                  <a:lnTo>
                    <a:pt x="3715703" y="2674016"/>
                  </a:lnTo>
                  <a:lnTo>
                    <a:pt x="3670935" y="2676661"/>
                  </a:lnTo>
                  <a:lnTo>
                    <a:pt x="3626168" y="2679373"/>
                  </a:lnTo>
                  <a:lnTo>
                    <a:pt x="3581400" y="2682149"/>
                  </a:lnTo>
                  <a:lnTo>
                    <a:pt x="3536633" y="2684985"/>
                  </a:lnTo>
                  <a:lnTo>
                    <a:pt x="3491865" y="2687875"/>
                  </a:lnTo>
                  <a:lnTo>
                    <a:pt x="3447098" y="2690815"/>
                  </a:lnTo>
                  <a:lnTo>
                    <a:pt x="3402330" y="2693800"/>
                  </a:lnTo>
                  <a:lnTo>
                    <a:pt x="3357563" y="2696825"/>
                  </a:lnTo>
                  <a:lnTo>
                    <a:pt x="3312795" y="2699885"/>
                  </a:lnTo>
                  <a:lnTo>
                    <a:pt x="3268028" y="2702975"/>
                  </a:lnTo>
                  <a:lnTo>
                    <a:pt x="3223260" y="2706089"/>
                  </a:lnTo>
                  <a:lnTo>
                    <a:pt x="3178493" y="2709224"/>
                  </a:lnTo>
                  <a:lnTo>
                    <a:pt x="3133725" y="2712373"/>
                  </a:lnTo>
                  <a:lnTo>
                    <a:pt x="3088958" y="2715533"/>
                  </a:lnTo>
                  <a:lnTo>
                    <a:pt x="3044190" y="2718697"/>
                  </a:lnTo>
                  <a:lnTo>
                    <a:pt x="2999423" y="2721864"/>
                  </a:lnTo>
                  <a:lnTo>
                    <a:pt x="2954655" y="2725027"/>
                  </a:lnTo>
                  <a:lnTo>
                    <a:pt x="2909887" y="2728185"/>
                  </a:lnTo>
                  <a:lnTo>
                    <a:pt x="2865120" y="2731332"/>
                  </a:lnTo>
                  <a:lnTo>
                    <a:pt x="2820353" y="2734467"/>
                  </a:lnTo>
                  <a:lnTo>
                    <a:pt x="2775585" y="2737587"/>
                  </a:lnTo>
                  <a:lnTo>
                    <a:pt x="2730818" y="2740689"/>
                  </a:lnTo>
                  <a:lnTo>
                    <a:pt x="2686050" y="2743771"/>
                  </a:lnTo>
                  <a:lnTo>
                    <a:pt x="2641283" y="2746833"/>
                  </a:lnTo>
                  <a:lnTo>
                    <a:pt x="2596515" y="2749873"/>
                  </a:lnTo>
                  <a:lnTo>
                    <a:pt x="2551748" y="2752890"/>
                  </a:lnTo>
                  <a:lnTo>
                    <a:pt x="2506980" y="2755884"/>
                  </a:lnTo>
                  <a:lnTo>
                    <a:pt x="2462213" y="2758856"/>
                  </a:lnTo>
                  <a:lnTo>
                    <a:pt x="2417445" y="2761805"/>
                  </a:lnTo>
                  <a:lnTo>
                    <a:pt x="2372678" y="2764734"/>
                  </a:lnTo>
                  <a:lnTo>
                    <a:pt x="2327910" y="2767643"/>
                  </a:lnTo>
                  <a:lnTo>
                    <a:pt x="2283143" y="2770533"/>
                  </a:lnTo>
                  <a:lnTo>
                    <a:pt x="2238375" y="2773406"/>
                  </a:lnTo>
                  <a:lnTo>
                    <a:pt x="2193608" y="2776264"/>
                  </a:lnTo>
                  <a:lnTo>
                    <a:pt x="2148840" y="2779108"/>
                  </a:lnTo>
                  <a:lnTo>
                    <a:pt x="2104073" y="2781942"/>
                  </a:lnTo>
                  <a:lnTo>
                    <a:pt x="2059305" y="2784766"/>
                  </a:lnTo>
                  <a:lnTo>
                    <a:pt x="2014538" y="2787583"/>
                  </a:lnTo>
                  <a:lnTo>
                    <a:pt x="1969770" y="2790394"/>
                  </a:lnTo>
                  <a:lnTo>
                    <a:pt x="1925002" y="2793203"/>
                  </a:lnTo>
                  <a:lnTo>
                    <a:pt x="1880235" y="2796011"/>
                  </a:lnTo>
                  <a:lnTo>
                    <a:pt x="1835468" y="2798819"/>
                  </a:lnTo>
                  <a:lnTo>
                    <a:pt x="1790700" y="2801630"/>
                  </a:lnTo>
                  <a:lnTo>
                    <a:pt x="1745932" y="2804443"/>
                  </a:lnTo>
                  <a:lnTo>
                    <a:pt x="1701165" y="2807261"/>
                  </a:lnTo>
                  <a:lnTo>
                    <a:pt x="1656398" y="2810083"/>
                  </a:lnTo>
                  <a:lnTo>
                    <a:pt x="1611630" y="2812909"/>
                  </a:lnTo>
                  <a:lnTo>
                    <a:pt x="1566863" y="2815740"/>
                  </a:lnTo>
                  <a:lnTo>
                    <a:pt x="1522095" y="2818576"/>
                  </a:lnTo>
                  <a:lnTo>
                    <a:pt x="1477328" y="2821415"/>
                  </a:lnTo>
                  <a:lnTo>
                    <a:pt x="1432560" y="2824257"/>
                  </a:lnTo>
                  <a:lnTo>
                    <a:pt x="1387793" y="2827099"/>
                  </a:lnTo>
                  <a:lnTo>
                    <a:pt x="1343025" y="2829941"/>
                  </a:lnTo>
                  <a:lnTo>
                    <a:pt x="1298258" y="2832780"/>
                  </a:lnTo>
                  <a:lnTo>
                    <a:pt x="1253490" y="2835613"/>
                  </a:lnTo>
                  <a:lnTo>
                    <a:pt x="1208723" y="2838438"/>
                  </a:lnTo>
                  <a:lnTo>
                    <a:pt x="1163955" y="2841251"/>
                  </a:lnTo>
                  <a:lnTo>
                    <a:pt x="1119188" y="2844050"/>
                  </a:lnTo>
                  <a:lnTo>
                    <a:pt x="1074420" y="2846829"/>
                  </a:lnTo>
                  <a:lnTo>
                    <a:pt x="1029653" y="2849587"/>
                  </a:lnTo>
                  <a:lnTo>
                    <a:pt x="984885" y="2852319"/>
                  </a:lnTo>
                  <a:lnTo>
                    <a:pt x="940118" y="2855020"/>
                  </a:lnTo>
                  <a:lnTo>
                    <a:pt x="895350" y="2857688"/>
                  </a:lnTo>
                  <a:lnTo>
                    <a:pt x="850583" y="2860318"/>
                  </a:lnTo>
                  <a:lnTo>
                    <a:pt x="805815" y="2862905"/>
                  </a:lnTo>
                  <a:lnTo>
                    <a:pt x="761048" y="2865447"/>
                  </a:lnTo>
                  <a:lnTo>
                    <a:pt x="716280" y="2867938"/>
                  </a:lnTo>
                  <a:lnTo>
                    <a:pt x="671513" y="2870376"/>
                  </a:lnTo>
                  <a:lnTo>
                    <a:pt x="626745" y="2872757"/>
                  </a:lnTo>
                  <a:lnTo>
                    <a:pt x="581978" y="2875078"/>
                  </a:lnTo>
                  <a:lnTo>
                    <a:pt x="537210" y="2877334"/>
                  </a:lnTo>
                  <a:lnTo>
                    <a:pt x="492443" y="2879525"/>
                  </a:lnTo>
                  <a:lnTo>
                    <a:pt x="447675" y="2881646"/>
                  </a:lnTo>
                  <a:lnTo>
                    <a:pt x="402908" y="2883696"/>
                  </a:lnTo>
                  <a:lnTo>
                    <a:pt x="358140" y="2885673"/>
                  </a:lnTo>
                  <a:lnTo>
                    <a:pt x="313373" y="2887575"/>
                  </a:lnTo>
                  <a:lnTo>
                    <a:pt x="268605" y="2889401"/>
                  </a:lnTo>
                  <a:lnTo>
                    <a:pt x="223838" y="2891151"/>
                  </a:lnTo>
                  <a:lnTo>
                    <a:pt x="179070" y="2892822"/>
                  </a:lnTo>
                  <a:lnTo>
                    <a:pt x="134303" y="2894416"/>
                  </a:lnTo>
                  <a:lnTo>
                    <a:pt x="89535" y="2895933"/>
                  </a:lnTo>
                  <a:lnTo>
                    <a:pt x="44768" y="2897371"/>
                  </a:lnTo>
                  <a:lnTo>
                    <a:pt x="0" y="2898733"/>
                  </a:lnTo>
                  <a:close/>
                </a:path>
              </a:pathLst>
            </a:custGeom>
            <a:solidFill>
              <a:srgbClr val="070154"/>
            </a:solidFill>
            <a:ln>
              <a:noFill/>
            </a:ln>
          </p:spPr>
        </p:sp>
        <p:sp>
          <p:nvSpPr>
            <p:cNvPr id="17" name="node01.series.source-003"/>
            <p:cNvSpPr/>
            <p:nvPr/>
          </p:nvSpPr>
          <p:spPr>
            <a:xfrm>
              <a:off x="723900" y="1600200"/>
              <a:ext cx="10744200" cy="3200400"/>
            </a:xfrm>
            <a:custGeom>
              <a:avLst/>
              <a:gdLst/>
              <a:ahLst/>
              <a:cxnLst/>
              <a:rect l="l" t="t" r="r" b="b"/>
              <a:pathLst>
                <a:path w="10744200" h="3200400">
                  <a:moveTo>
                    <a:pt x="0" y="2547771"/>
                  </a:moveTo>
                  <a:lnTo>
                    <a:pt x="44768" y="2540498"/>
                  </a:lnTo>
                  <a:lnTo>
                    <a:pt x="89535" y="2532744"/>
                  </a:lnTo>
                  <a:lnTo>
                    <a:pt x="134303" y="2524489"/>
                  </a:lnTo>
                  <a:lnTo>
                    <a:pt x="179070" y="2515717"/>
                  </a:lnTo>
                  <a:lnTo>
                    <a:pt x="223838" y="2506410"/>
                  </a:lnTo>
                  <a:lnTo>
                    <a:pt x="268605" y="2496553"/>
                  </a:lnTo>
                  <a:lnTo>
                    <a:pt x="313373" y="2486128"/>
                  </a:lnTo>
                  <a:lnTo>
                    <a:pt x="358140" y="2475120"/>
                  </a:lnTo>
                  <a:lnTo>
                    <a:pt x="402908" y="2463515"/>
                  </a:lnTo>
                  <a:lnTo>
                    <a:pt x="447675" y="2451301"/>
                  </a:lnTo>
                  <a:lnTo>
                    <a:pt x="492443" y="2438465"/>
                  </a:lnTo>
                  <a:lnTo>
                    <a:pt x="537210" y="2424995"/>
                  </a:lnTo>
                  <a:lnTo>
                    <a:pt x="581978" y="2410882"/>
                  </a:lnTo>
                  <a:lnTo>
                    <a:pt x="626745" y="2396116"/>
                  </a:lnTo>
                  <a:lnTo>
                    <a:pt x="671513" y="2380689"/>
                  </a:lnTo>
                  <a:lnTo>
                    <a:pt x="716280" y="2364595"/>
                  </a:lnTo>
                  <a:lnTo>
                    <a:pt x="761048" y="2347830"/>
                  </a:lnTo>
                  <a:lnTo>
                    <a:pt x="805815" y="2330389"/>
                  </a:lnTo>
                  <a:lnTo>
                    <a:pt x="850583" y="2312272"/>
                  </a:lnTo>
                  <a:lnTo>
                    <a:pt x="895350" y="2293481"/>
                  </a:lnTo>
                  <a:lnTo>
                    <a:pt x="940118" y="2274020"/>
                  </a:lnTo>
                  <a:lnTo>
                    <a:pt x="984885" y="2253891"/>
                  </a:lnTo>
                  <a:lnTo>
                    <a:pt x="1029653" y="2233103"/>
                  </a:lnTo>
                  <a:lnTo>
                    <a:pt x="1074420" y="2211662"/>
                  </a:lnTo>
                  <a:lnTo>
                    <a:pt x="1119188" y="2189581"/>
                  </a:lnTo>
                  <a:lnTo>
                    <a:pt x="1163955" y="2166870"/>
                  </a:lnTo>
                  <a:lnTo>
                    <a:pt x="1208723" y="2143544"/>
                  </a:lnTo>
                  <a:lnTo>
                    <a:pt x="1253490" y="2119621"/>
                  </a:lnTo>
                  <a:lnTo>
                    <a:pt x="1298258" y="2095117"/>
                  </a:lnTo>
                  <a:lnTo>
                    <a:pt x="1343025" y="2070055"/>
                  </a:lnTo>
                  <a:lnTo>
                    <a:pt x="1387793" y="2044458"/>
                  </a:lnTo>
                  <a:lnTo>
                    <a:pt x="1432560" y="2018349"/>
                  </a:lnTo>
                  <a:lnTo>
                    <a:pt x="1477328" y="1991754"/>
                  </a:lnTo>
                  <a:lnTo>
                    <a:pt x="1522095" y="1964701"/>
                  </a:lnTo>
                  <a:lnTo>
                    <a:pt x="1566863" y="1937220"/>
                  </a:lnTo>
                  <a:lnTo>
                    <a:pt x="1611630" y="1909342"/>
                  </a:lnTo>
                  <a:lnTo>
                    <a:pt x="1656398" y="1881097"/>
                  </a:lnTo>
                  <a:lnTo>
                    <a:pt x="1701165" y="1852520"/>
                  </a:lnTo>
                  <a:lnTo>
                    <a:pt x="1745932" y="1823645"/>
                  </a:lnTo>
                  <a:lnTo>
                    <a:pt x="1790700" y="1794509"/>
                  </a:lnTo>
                  <a:lnTo>
                    <a:pt x="1835468" y="1765147"/>
                  </a:lnTo>
                  <a:lnTo>
                    <a:pt x="1880235" y="1735596"/>
                  </a:lnTo>
                  <a:lnTo>
                    <a:pt x="1925002" y="1705895"/>
                  </a:lnTo>
                  <a:lnTo>
                    <a:pt x="1969770" y="1676080"/>
                  </a:lnTo>
                  <a:lnTo>
                    <a:pt x="2014538" y="1646190"/>
                  </a:lnTo>
                  <a:lnTo>
                    <a:pt x="2059305" y="1616263"/>
                  </a:lnTo>
                  <a:lnTo>
                    <a:pt x="2104073" y="1586337"/>
                  </a:lnTo>
                  <a:lnTo>
                    <a:pt x="2148840" y="1556450"/>
                  </a:lnTo>
                  <a:lnTo>
                    <a:pt x="2193608" y="1526640"/>
                  </a:lnTo>
                  <a:lnTo>
                    <a:pt x="2238375" y="1496943"/>
                  </a:lnTo>
                  <a:lnTo>
                    <a:pt x="2283143" y="1467397"/>
                  </a:lnTo>
                  <a:lnTo>
                    <a:pt x="2327910" y="1438037"/>
                  </a:lnTo>
                  <a:lnTo>
                    <a:pt x="2372678" y="1408900"/>
                  </a:lnTo>
                  <a:lnTo>
                    <a:pt x="2417445" y="1380020"/>
                  </a:lnTo>
                  <a:lnTo>
                    <a:pt x="2462213" y="1351428"/>
                  </a:lnTo>
                  <a:lnTo>
                    <a:pt x="2506980" y="1323156"/>
                  </a:lnTo>
                  <a:lnTo>
                    <a:pt x="2551748" y="1295234"/>
                  </a:lnTo>
                  <a:lnTo>
                    <a:pt x="2596515" y="1267691"/>
                  </a:lnTo>
                  <a:lnTo>
                    <a:pt x="2641283" y="1240554"/>
                  </a:lnTo>
                  <a:lnTo>
                    <a:pt x="2686050" y="1213847"/>
                  </a:lnTo>
                  <a:lnTo>
                    <a:pt x="2730818" y="1187593"/>
                  </a:lnTo>
                  <a:lnTo>
                    <a:pt x="2775585" y="1161816"/>
                  </a:lnTo>
                  <a:lnTo>
                    <a:pt x="2820353" y="1136534"/>
                  </a:lnTo>
                  <a:lnTo>
                    <a:pt x="2865120" y="1111768"/>
                  </a:lnTo>
                  <a:lnTo>
                    <a:pt x="2909887" y="1087533"/>
                  </a:lnTo>
                  <a:lnTo>
                    <a:pt x="2954655" y="1063844"/>
                  </a:lnTo>
                  <a:lnTo>
                    <a:pt x="2999423" y="1040714"/>
                  </a:lnTo>
                  <a:lnTo>
                    <a:pt x="3044190" y="1018155"/>
                  </a:lnTo>
                  <a:lnTo>
                    <a:pt x="3088958" y="996175"/>
                  </a:lnTo>
                  <a:lnTo>
                    <a:pt x="3133725" y="974781"/>
                  </a:lnTo>
                  <a:lnTo>
                    <a:pt x="3178493" y="953977"/>
                  </a:lnTo>
                  <a:lnTo>
                    <a:pt x="3223260" y="933768"/>
                  </a:lnTo>
                  <a:lnTo>
                    <a:pt x="3268028" y="914158"/>
                  </a:lnTo>
                  <a:lnTo>
                    <a:pt x="3312795" y="895145"/>
                  </a:lnTo>
                  <a:lnTo>
                    <a:pt x="3357563" y="876729"/>
                  </a:lnTo>
                  <a:lnTo>
                    <a:pt x="3402330" y="858903"/>
                  </a:lnTo>
                  <a:lnTo>
                    <a:pt x="3447098" y="841664"/>
                  </a:lnTo>
                  <a:lnTo>
                    <a:pt x="3491865" y="825002"/>
                  </a:lnTo>
                  <a:lnTo>
                    <a:pt x="3536633" y="808911"/>
                  </a:lnTo>
                  <a:lnTo>
                    <a:pt x="3581400" y="793380"/>
                  </a:lnTo>
                  <a:lnTo>
                    <a:pt x="3626168" y="778397"/>
                  </a:lnTo>
                  <a:lnTo>
                    <a:pt x="3670935" y="763951"/>
                  </a:lnTo>
                  <a:lnTo>
                    <a:pt x="3715703" y="750029"/>
                  </a:lnTo>
                  <a:lnTo>
                    <a:pt x="3760470" y="736615"/>
                  </a:lnTo>
                  <a:lnTo>
                    <a:pt x="3805237" y="723694"/>
                  </a:lnTo>
                  <a:lnTo>
                    <a:pt x="3850005" y="711248"/>
                  </a:lnTo>
                  <a:lnTo>
                    <a:pt x="3894773" y="699258"/>
                  </a:lnTo>
                  <a:lnTo>
                    <a:pt x="3939540" y="687707"/>
                  </a:lnTo>
                  <a:lnTo>
                    <a:pt x="3984308" y="676573"/>
                  </a:lnTo>
                  <a:lnTo>
                    <a:pt x="4029075" y="665839"/>
                  </a:lnTo>
                  <a:lnTo>
                    <a:pt x="4073843" y="655484"/>
                  </a:lnTo>
                  <a:lnTo>
                    <a:pt x="4118610" y="645488"/>
                  </a:lnTo>
                  <a:lnTo>
                    <a:pt x="4163377" y="635829"/>
                  </a:lnTo>
                  <a:lnTo>
                    <a:pt x="4208145" y="626486"/>
                  </a:lnTo>
                  <a:lnTo>
                    <a:pt x="4252913" y="617438"/>
                  </a:lnTo>
                  <a:lnTo>
                    <a:pt x="4297680" y="608664"/>
                  </a:lnTo>
                  <a:lnTo>
                    <a:pt x="4342448" y="600141"/>
                  </a:lnTo>
                  <a:lnTo>
                    <a:pt x="4387215" y="591849"/>
                  </a:lnTo>
                  <a:lnTo>
                    <a:pt x="4431983" y="583768"/>
                  </a:lnTo>
                  <a:lnTo>
                    <a:pt x="4476750" y="575877"/>
                  </a:lnTo>
                  <a:lnTo>
                    <a:pt x="4521518" y="568158"/>
                  </a:lnTo>
                  <a:lnTo>
                    <a:pt x="4566285" y="560590"/>
                  </a:lnTo>
                  <a:lnTo>
                    <a:pt x="4611053" y="553155"/>
                  </a:lnTo>
                  <a:lnTo>
                    <a:pt x="4655820" y="545836"/>
                  </a:lnTo>
                  <a:lnTo>
                    <a:pt x="4700588" y="538617"/>
                  </a:lnTo>
                  <a:lnTo>
                    <a:pt x="4745355" y="531483"/>
                  </a:lnTo>
                  <a:lnTo>
                    <a:pt x="4790123" y="524419"/>
                  </a:lnTo>
                  <a:lnTo>
                    <a:pt x="4834890" y="517412"/>
                  </a:lnTo>
                  <a:lnTo>
                    <a:pt x="4879658" y="510452"/>
                  </a:lnTo>
                  <a:lnTo>
                    <a:pt x="4924425" y="503527"/>
                  </a:lnTo>
                  <a:lnTo>
                    <a:pt x="4969193" y="496630"/>
                  </a:lnTo>
                  <a:lnTo>
                    <a:pt x="5013960" y="489752"/>
                  </a:lnTo>
                  <a:lnTo>
                    <a:pt x="5058728" y="482886"/>
                  </a:lnTo>
                  <a:lnTo>
                    <a:pt x="5103495" y="476029"/>
                  </a:lnTo>
                  <a:lnTo>
                    <a:pt x="5148263" y="469177"/>
                  </a:lnTo>
                  <a:lnTo>
                    <a:pt x="5193030" y="462329"/>
                  </a:lnTo>
                  <a:lnTo>
                    <a:pt x="5237798" y="455485"/>
                  </a:lnTo>
                  <a:lnTo>
                    <a:pt x="5282565" y="448647"/>
                  </a:lnTo>
                  <a:lnTo>
                    <a:pt x="5327333" y="441817"/>
                  </a:lnTo>
                  <a:lnTo>
                    <a:pt x="5372100" y="434999"/>
                  </a:lnTo>
                  <a:lnTo>
                    <a:pt x="5416868" y="428199"/>
                  </a:lnTo>
                  <a:lnTo>
                    <a:pt x="5461635" y="421423"/>
                  </a:lnTo>
                  <a:lnTo>
                    <a:pt x="5506403" y="414676"/>
                  </a:lnTo>
                  <a:lnTo>
                    <a:pt x="5551170" y="407966"/>
                  </a:lnTo>
                  <a:lnTo>
                    <a:pt x="5595938" y="401303"/>
                  </a:lnTo>
                  <a:lnTo>
                    <a:pt x="5640705" y="394696"/>
                  </a:lnTo>
                  <a:lnTo>
                    <a:pt x="5685473" y="388156"/>
                  </a:lnTo>
                  <a:lnTo>
                    <a:pt x="5730240" y="381693"/>
                  </a:lnTo>
                  <a:lnTo>
                    <a:pt x="5775008" y="375318"/>
                  </a:lnTo>
                  <a:lnTo>
                    <a:pt x="5819775" y="369043"/>
                  </a:lnTo>
                  <a:lnTo>
                    <a:pt x="5864543" y="362877"/>
                  </a:lnTo>
                  <a:lnTo>
                    <a:pt x="5909310" y="356831"/>
                  </a:lnTo>
                  <a:lnTo>
                    <a:pt x="5954078" y="350914"/>
                  </a:lnTo>
                  <a:lnTo>
                    <a:pt x="5998845" y="345138"/>
                  </a:lnTo>
                  <a:lnTo>
                    <a:pt x="6043613" y="339510"/>
                  </a:lnTo>
                  <a:lnTo>
                    <a:pt x="6088380" y="334040"/>
                  </a:lnTo>
                  <a:lnTo>
                    <a:pt x="6133148" y="328735"/>
                  </a:lnTo>
                  <a:lnTo>
                    <a:pt x="6177915" y="323604"/>
                  </a:lnTo>
                  <a:lnTo>
                    <a:pt x="6222683" y="318652"/>
                  </a:lnTo>
                  <a:lnTo>
                    <a:pt x="6267450" y="313884"/>
                  </a:lnTo>
                  <a:lnTo>
                    <a:pt x="6312218" y="309306"/>
                  </a:lnTo>
                  <a:lnTo>
                    <a:pt x="6356985" y="304920"/>
                  </a:lnTo>
                  <a:lnTo>
                    <a:pt x="6401753" y="300729"/>
                  </a:lnTo>
                  <a:lnTo>
                    <a:pt x="6446520" y="296735"/>
                  </a:lnTo>
                  <a:lnTo>
                    <a:pt x="6491287" y="292937"/>
                  </a:lnTo>
                  <a:lnTo>
                    <a:pt x="6536055" y="289335"/>
                  </a:lnTo>
                  <a:lnTo>
                    <a:pt x="6580823" y="285929"/>
                  </a:lnTo>
                  <a:lnTo>
                    <a:pt x="6625590" y="282716"/>
                  </a:lnTo>
                  <a:lnTo>
                    <a:pt x="6670358" y="279694"/>
                  </a:lnTo>
                  <a:lnTo>
                    <a:pt x="6715125" y="276859"/>
                  </a:lnTo>
                  <a:lnTo>
                    <a:pt x="6759893" y="274206"/>
                  </a:lnTo>
                  <a:lnTo>
                    <a:pt x="6804660" y="271730"/>
                  </a:lnTo>
                  <a:lnTo>
                    <a:pt x="6849427" y="269426"/>
                  </a:lnTo>
                  <a:lnTo>
                    <a:pt x="6894195" y="267286"/>
                  </a:lnTo>
                  <a:lnTo>
                    <a:pt x="6938963" y="265306"/>
                  </a:lnTo>
                  <a:lnTo>
                    <a:pt x="6983730" y="263477"/>
                  </a:lnTo>
                  <a:lnTo>
                    <a:pt x="7028497" y="261794"/>
                  </a:lnTo>
                  <a:lnTo>
                    <a:pt x="7073265" y="260250"/>
                  </a:lnTo>
                  <a:lnTo>
                    <a:pt x="7118033" y="258836"/>
                  </a:lnTo>
                  <a:lnTo>
                    <a:pt x="7162800" y="257546"/>
                  </a:lnTo>
                  <a:lnTo>
                    <a:pt x="7207568" y="256372"/>
                  </a:lnTo>
                  <a:lnTo>
                    <a:pt x="7252335" y="255308"/>
                  </a:lnTo>
                  <a:lnTo>
                    <a:pt x="7297103" y="254346"/>
                  </a:lnTo>
                  <a:lnTo>
                    <a:pt x="7341870" y="253481"/>
                  </a:lnTo>
                  <a:lnTo>
                    <a:pt x="7386638" y="252705"/>
                  </a:lnTo>
                  <a:lnTo>
                    <a:pt x="7431405" y="252011"/>
                  </a:lnTo>
                  <a:lnTo>
                    <a:pt x="7476173" y="251393"/>
                  </a:lnTo>
                  <a:lnTo>
                    <a:pt x="7520940" y="250844"/>
                  </a:lnTo>
                  <a:lnTo>
                    <a:pt x="7565708" y="250359"/>
                  </a:lnTo>
                  <a:lnTo>
                    <a:pt x="7610475" y="249933"/>
                  </a:lnTo>
                  <a:lnTo>
                    <a:pt x="7655242" y="249559"/>
                  </a:lnTo>
                  <a:lnTo>
                    <a:pt x="7700010" y="249233"/>
                  </a:lnTo>
                  <a:lnTo>
                    <a:pt x="7744778" y="248951"/>
                  </a:lnTo>
                  <a:lnTo>
                    <a:pt x="7789545" y="248708"/>
                  </a:lnTo>
                  <a:lnTo>
                    <a:pt x="7834313" y="248501"/>
                  </a:lnTo>
                  <a:lnTo>
                    <a:pt x="7879080" y="248326"/>
                  </a:lnTo>
                  <a:lnTo>
                    <a:pt x="7923848" y="248179"/>
                  </a:lnTo>
                  <a:lnTo>
                    <a:pt x="7968615" y="248057"/>
                  </a:lnTo>
                  <a:lnTo>
                    <a:pt x="8013383" y="247956"/>
                  </a:lnTo>
                  <a:lnTo>
                    <a:pt x="8058150" y="247875"/>
                  </a:lnTo>
                  <a:lnTo>
                    <a:pt x="8102918" y="247810"/>
                  </a:lnTo>
                  <a:lnTo>
                    <a:pt x="8147685" y="247760"/>
                  </a:lnTo>
                  <a:lnTo>
                    <a:pt x="8192453" y="247723"/>
                  </a:lnTo>
                  <a:lnTo>
                    <a:pt x="8237220" y="247695"/>
                  </a:lnTo>
                  <a:lnTo>
                    <a:pt x="8281987" y="247676"/>
                  </a:lnTo>
                  <a:lnTo>
                    <a:pt x="8326755" y="247665"/>
                  </a:lnTo>
                  <a:lnTo>
                    <a:pt x="8371522" y="247660"/>
                  </a:lnTo>
                  <a:lnTo>
                    <a:pt x="8416290" y="247659"/>
                  </a:lnTo>
                  <a:lnTo>
                    <a:pt x="8461058" y="247663"/>
                  </a:lnTo>
                  <a:lnTo>
                    <a:pt x="8505825" y="247670"/>
                  </a:lnTo>
                  <a:lnTo>
                    <a:pt x="8550593" y="247679"/>
                  </a:lnTo>
                  <a:lnTo>
                    <a:pt x="8595360" y="247690"/>
                  </a:lnTo>
                  <a:lnTo>
                    <a:pt x="8640128" y="247701"/>
                  </a:lnTo>
                  <a:lnTo>
                    <a:pt x="8684895" y="247711"/>
                  </a:lnTo>
                  <a:lnTo>
                    <a:pt x="8729663" y="247720"/>
                  </a:lnTo>
                  <a:lnTo>
                    <a:pt x="8774430" y="247728"/>
                  </a:lnTo>
                  <a:lnTo>
                    <a:pt x="8819198" y="247735"/>
                  </a:lnTo>
                  <a:lnTo>
                    <a:pt x="8863965" y="247741"/>
                  </a:lnTo>
                  <a:lnTo>
                    <a:pt x="8908733" y="247745"/>
                  </a:lnTo>
                  <a:lnTo>
                    <a:pt x="8953500" y="247748"/>
                  </a:lnTo>
                  <a:lnTo>
                    <a:pt x="8998268" y="247750"/>
                  </a:lnTo>
                  <a:lnTo>
                    <a:pt x="9043035" y="247750"/>
                  </a:lnTo>
                  <a:lnTo>
                    <a:pt x="9087803" y="247748"/>
                  </a:lnTo>
                  <a:lnTo>
                    <a:pt x="9132570" y="247745"/>
                  </a:lnTo>
                  <a:lnTo>
                    <a:pt x="9177338" y="247741"/>
                  </a:lnTo>
                  <a:lnTo>
                    <a:pt x="9222105" y="247735"/>
                  </a:lnTo>
                  <a:lnTo>
                    <a:pt x="9266873" y="247728"/>
                  </a:lnTo>
                  <a:lnTo>
                    <a:pt x="9311640" y="247719"/>
                  </a:lnTo>
                  <a:lnTo>
                    <a:pt x="9356408" y="247710"/>
                  </a:lnTo>
                  <a:lnTo>
                    <a:pt x="9401175" y="247699"/>
                  </a:lnTo>
                  <a:lnTo>
                    <a:pt x="9445943" y="247687"/>
                  </a:lnTo>
                  <a:lnTo>
                    <a:pt x="9490710" y="247675"/>
                  </a:lnTo>
                  <a:lnTo>
                    <a:pt x="9535478" y="247662"/>
                  </a:lnTo>
                  <a:lnTo>
                    <a:pt x="9580245" y="247649"/>
                  </a:lnTo>
                  <a:lnTo>
                    <a:pt x="9625013" y="247635"/>
                  </a:lnTo>
                  <a:lnTo>
                    <a:pt x="9669780" y="247621"/>
                  </a:lnTo>
                  <a:lnTo>
                    <a:pt x="9714548" y="247607"/>
                  </a:lnTo>
                  <a:lnTo>
                    <a:pt x="9759315" y="247593"/>
                  </a:lnTo>
                  <a:lnTo>
                    <a:pt x="9804083" y="247579"/>
                  </a:lnTo>
                  <a:lnTo>
                    <a:pt x="9848850" y="247565"/>
                  </a:lnTo>
                  <a:lnTo>
                    <a:pt x="9893618" y="247551"/>
                  </a:lnTo>
                  <a:lnTo>
                    <a:pt x="9938385" y="247538"/>
                  </a:lnTo>
                  <a:lnTo>
                    <a:pt x="9983153" y="247525"/>
                  </a:lnTo>
                  <a:lnTo>
                    <a:pt x="10027920" y="247513"/>
                  </a:lnTo>
                  <a:lnTo>
                    <a:pt x="10072688" y="247501"/>
                  </a:lnTo>
                  <a:lnTo>
                    <a:pt x="10117455" y="247490"/>
                  </a:lnTo>
                  <a:lnTo>
                    <a:pt x="10162223" y="247480"/>
                  </a:lnTo>
                  <a:lnTo>
                    <a:pt x="10206990" y="247470"/>
                  </a:lnTo>
                  <a:lnTo>
                    <a:pt x="10251758" y="247462"/>
                  </a:lnTo>
                  <a:lnTo>
                    <a:pt x="10296525" y="247454"/>
                  </a:lnTo>
                  <a:lnTo>
                    <a:pt x="10341293" y="247448"/>
                  </a:lnTo>
                  <a:lnTo>
                    <a:pt x="10386060" y="247442"/>
                  </a:lnTo>
                  <a:lnTo>
                    <a:pt x="10430828" y="247438"/>
                  </a:lnTo>
                  <a:lnTo>
                    <a:pt x="10475595" y="247434"/>
                  </a:lnTo>
                  <a:lnTo>
                    <a:pt x="10520363" y="247432"/>
                  </a:lnTo>
                  <a:lnTo>
                    <a:pt x="10565130" y="247430"/>
                  </a:lnTo>
                  <a:lnTo>
                    <a:pt x="10609898" y="247430"/>
                  </a:lnTo>
                  <a:lnTo>
                    <a:pt x="10654665" y="247431"/>
                  </a:lnTo>
                  <a:lnTo>
                    <a:pt x="10699433" y="247433"/>
                  </a:lnTo>
                  <a:lnTo>
                    <a:pt x="10744200" y="247435"/>
                  </a:lnTo>
                  <a:lnTo>
                    <a:pt x="10744200" y="2671292"/>
                  </a:lnTo>
                  <a:lnTo>
                    <a:pt x="10699433" y="2666830"/>
                  </a:lnTo>
                  <a:lnTo>
                    <a:pt x="10654665" y="2662118"/>
                  </a:lnTo>
                  <a:lnTo>
                    <a:pt x="10609898" y="2657152"/>
                  </a:lnTo>
                  <a:lnTo>
                    <a:pt x="10565130" y="2651932"/>
                  </a:lnTo>
                  <a:lnTo>
                    <a:pt x="10520363" y="2646454"/>
                  </a:lnTo>
                  <a:lnTo>
                    <a:pt x="10475595" y="2640720"/>
                  </a:lnTo>
                  <a:lnTo>
                    <a:pt x="10430828" y="2634729"/>
                  </a:lnTo>
                  <a:lnTo>
                    <a:pt x="10386060" y="2628482"/>
                  </a:lnTo>
                  <a:lnTo>
                    <a:pt x="10341293" y="2621980"/>
                  </a:lnTo>
                  <a:lnTo>
                    <a:pt x="10296525" y="2615223"/>
                  </a:lnTo>
                  <a:lnTo>
                    <a:pt x="10251758" y="2608213"/>
                  </a:lnTo>
                  <a:lnTo>
                    <a:pt x="10206990" y="2600951"/>
                  </a:lnTo>
                  <a:lnTo>
                    <a:pt x="10162223" y="2593441"/>
                  </a:lnTo>
                  <a:lnTo>
                    <a:pt x="10117455" y="2585685"/>
                  </a:lnTo>
                  <a:lnTo>
                    <a:pt x="10072688" y="2577685"/>
                  </a:lnTo>
                  <a:lnTo>
                    <a:pt x="10027920" y="2569445"/>
                  </a:lnTo>
                  <a:lnTo>
                    <a:pt x="9983153" y="2560965"/>
                  </a:lnTo>
                  <a:lnTo>
                    <a:pt x="9938385" y="2552249"/>
                  </a:lnTo>
                  <a:lnTo>
                    <a:pt x="9893618" y="2543295"/>
                  </a:lnTo>
                  <a:lnTo>
                    <a:pt x="9848850" y="2534106"/>
                  </a:lnTo>
                  <a:lnTo>
                    <a:pt x="9804083" y="2524680"/>
                  </a:lnTo>
                  <a:lnTo>
                    <a:pt x="9759315" y="2515016"/>
                  </a:lnTo>
                  <a:lnTo>
                    <a:pt x="9714548" y="2505111"/>
                  </a:lnTo>
                  <a:lnTo>
                    <a:pt x="9669780" y="2494961"/>
                  </a:lnTo>
                  <a:lnTo>
                    <a:pt x="9625013" y="2484560"/>
                  </a:lnTo>
                  <a:lnTo>
                    <a:pt x="9580245" y="2473902"/>
                  </a:lnTo>
                  <a:lnTo>
                    <a:pt x="9535478" y="2462978"/>
                  </a:lnTo>
                  <a:lnTo>
                    <a:pt x="9490710" y="2451779"/>
                  </a:lnTo>
                  <a:lnTo>
                    <a:pt x="9445943" y="2440292"/>
                  </a:lnTo>
                  <a:lnTo>
                    <a:pt x="9401175" y="2428508"/>
                  </a:lnTo>
                  <a:lnTo>
                    <a:pt x="9356408" y="2416413"/>
                  </a:lnTo>
                  <a:lnTo>
                    <a:pt x="9311640" y="2403991"/>
                  </a:lnTo>
                  <a:lnTo>
                    <a:pt x="9266873" y="2391226"/>
                  </a:lnTo>
                  <a:lnTo>
                    <a:pt x="9222105" y="2378099"/>
                  </a:lnTo>
                  <a:lnTo>
                    <a:pt x="9177338" y="2364592"/>
                  </a:lnTo>
                  <a:lnTo>
                    <a:pt x="9132570" y="2350684"/>
                  </a:lnTo>
                  <a:lnTo>
                    <a:pt x="9087803" y="2336356"/>
                  </a:lnTo>
                  <a:lnTo>
                    <a:pt x="9043035" y="2321587"/>
                  </a:lnTo>
                  <a:lnTo>
                    <a:pt x="8998268" y="2306354"/>
                  </a:lnTo>
                  <a:lnTo>
                    <a:pt x="8953500" y="2290642"/>
                  </a:lnTo>
                  <a:lnTo>
                    <a:pt x="8908733" y="2274430"/>
                  </a:lnTo>
                  <a:lnTo>
                    <a:pt x="8863965" y="2257700"/>
                  </a:lnTo>
                  <a:lnTo>
                    <a:pt x="8819198" y="2240434"/>
                  </a:lnTo>
                  <a:lnTo>
                    <a:pt x="8774430" y="2222613"/>
                  </a:lnTo>
                  <a:lnTo>
                    <a:pt x="8729663" y="2204222"/>
                  </a:lnTo>
                  <a:lnTo>
                    <a:pt x="8684895" y="2185248"/>
                  </a:lnTo>
                  <a:lnTo>
                    <a:pt x="8640128" y="2165679"/>
                  </a:lnTo>
                  <a:lnTo>
                    <a:pt x="8595360" y="2145506"/>
                  </a:lnTo>
                  <a:lnTo>
                    <a:pt x="8550593" y="2124722"/>
                  </a:lnTo>
                  <a:lnTo>
                    <a:pt x="8505825" y="2103325"/>
                  </a:lnTo>
                  <a:lnTo>
                    <a:pt x="8461058" y="2081314"/>
                  </a:lnTo>
                  <a:lnTo>
                    <a:pt x="8416290" y="2058693"/>
                  </a:lnTo>
                  <a:lnTo>
                    <a:pt x="8371522" y="2035469"/>
                  </a:lnTo>
                  <a:lnTo>
                    <a:pt x="8326755" y="2011652"/>
                  </a:lnTo>
                  <a:lnTo>
                    <a:pt x="8281987" y="1987255"/>
                  </a:lnTo>
                  <a:lnTo>
                    <a:pt x="8237220" y="1962296"/>
                  </a:lnTo>
                  <a:lnTo>
                    <a:pt x="8192453" y="1936796"/>
                  </a:lnTo>
                  <a:lnTo>
                    <a:pt x="8147685" y="1910779"/>
                  </a:lnTo>
                  <a:lnTo>
                    <a:pt x="8102918" y="1884275"/>
                  </a:lnTo>
                  <a:lnTo>
                    <a:pt x="8058150" y="1857315"/>
                  </a:lnTo>
                  <a:lnTo>
                    <a:pt x="8013383" y="1829935"/>
                  </a:lnTo>
                  <a:lnTo>
                    <a:pt x="7968615" y="1802173"/>
                  </a:lnTo>
                  <a:lnTo>
                    <a:pt x="7923848" y="1774074"/>
                  </a:lnTo>
                  <a:lnTo>
                    <a:pt x="7879080" y="1745681"/>
                  </a:lnTo>
                  <a:lnTo>
                    <a:pt x="7834313" y="1717042"/>
                  </a:lnTo>
                  <a:lnTo>
                    <a:pt x="7789545" y="1688207"/>
                  </a:lnTo>
                  <a:lnTo>
                    <a:pt x="7744778" y="1659226"/>
                  </a:lnTo>
                  <a:lnTo>
                    <a:pt x="7700010" y="1630153"/>
                  </a:lnTo>
                  <a:lnTo>
                    <a:pt x="7655242" y="1601043"/>
                  </a:lnTo>
                  <a:lnTo>
                    <a:pt x="7610475" y="1571952"/>
                  </a:lnTo>
                  <a:lnTo>
                    <a:pt x="7565708" y="1542934"/>
                  </a:lnTo>
                  <a:lnTo>
                    <a:pt x="7520940" y="1514048"/>
                  </a:lnTo>
                  <a:lnTo>
                    <a:pt x="7476173" y="1485349"/>
                  </a:lnTo>
                  <a:lnTo>
                    <a:pt x="7431405" y="1456893"/>
                  </a:lnTo>
                  <a:lnTo>
                    <a:pt x="7386638" y="1428735"/>
                  </a:lnTo>
                  <a:lnTo>
                    <a:pt x="7341870" y="1400929"/>
                  </a:lnTo>
                  <a:lnTo>
                    <a:pt x="7297103" y="1373525"/>
                  </a:lnTo>
                  <a:lnTo>
                    <a:pt x="7252335" y="1346574"/>
                  </a:lnTo>
                  <a:lnTo>
                    <a:pt x="7207568" y="1320125"/>
                  </a:lnTo>
                  <a:lnTo>
                    <a:pt x="7162800" y="1294221"/>
                  </a:lnTo>
                  <a:lnTo>
                    <a:pt x="7118033" y="1268906"/>
                  </a:lnTo>
                  <a:lnTo>
                    <a:pt x="7073265" y="1244218"/>
                  </a:lnTo>
                  <a:lnTo>
                    <a:pt x="7028497" y="1220193"/>
                  </a:lnTo>
                  <a:lnTo>
                    <a:pt x="6983730" y="1196864"/>
                  </a:lnTo>
                  <a:lnTo>
                    <a:pt x="6938963" y="1174260"/>
                  </a:lnTo>
                  <a:lnTo>
                    <a:pt x="6894195" y="1152406"/>
                  </a:lnTo>
                  <a:lnTo>
                    <a:pt x="6849427" y="1131325"/>
                  </a:lnTo>
                  <a:lnTo>
                    <a:pt x="6804660" y="1111033"/>
                  </a:lnTo>
                  <a:lnTo>
                    <a:pt x="6759893" y="1091546"/>
                  </a:lnTo>
                  <a:lnTo>
                    <a:pt x="6715125" y="1072873"/>
                  </a:lnTo>
                  <a:lnTo>
                    <a:pt x="6670358" y="1055022"/>
                  </a:lnTo>
                  <a:lnTo>
                    <a:pt x="6625590" y="1037995"/>
                  </a:lnTo>
                  <a:lnTo>
                    <a:pt x="6580823" y="1021792"/>
                  </a:lnTo>
                  <a:lnTo>
                    <a:pt x="6536055" y="1006408"/>
                  </a:lnTo>
                  <a:lnTo>
                    <a:pt x="6491287" y="991836"/>
                  </a:lnTo>
                  <a:lnTo>
                    <a:pt x="6446520" y="978066"/>
                  </a:lnTo>
                  <a:lnTo>
                    <a:pt x="6401753" y="965085"/>
                  </a:lnTo>
                  <a:lnTo>
                    <a:pt x="6356985" y="952876"/>
                  </a:lnTo>
                  <a:lnTo>
                    <a:pt x="6312218" y="941422"/>
                  </a:lnTo>
                  <a:lnTo>
                    <a:pt x="6267450" y="930701"/>
                  </a:lnTo>
                  <a:lnTo>
                    <a:pt x="6222683" y="920693"/>
                  </a:lnTo>
                  <a:lnTo>
                    <a:pt x="6177915" y="911373"/>
                  </a:lnTo>
                  <a:lnTo>
                    <a:pt x="6133148" y="902720"/>
                  </a:lnTo>
                  <a:lnTo>
                    <a:pt x="6088380" y="894707"/>
                  </a:lnTo>
                  <a:lnTo>
                    <a:pt x="6043613" y="887306"/>
                  </a:lnTo>
                  <a:lnTo>
                    <a:pt x="5998845" y="880488"/>
                  </a:lnTo>
                  <a:lnTo>
                    <a:pt x="5954078" y="874224"/>
                  </a:lnTo>
                  <a:lnTo>
                    <a:pt x="5909310" y="868485"/>
                  </a:lnTo>
                  <a:lnTo>
                    <a:pt x="5864543" y="863244"/>
                  </a:lnTo>
                  <a:lnTo>
                    <a:pt x="5819775" y="858471"/>
                  </a:lnTo>
                  <a:lnTo>
                    <a:pt x="5775008" y="854140"/>
                  </a:lnTo>
                  <a:lnTo>
                    <a:pt x="5730240" y="850223"/>
                  </a:lnTo>
                  <a:lnTo>
                    <a:pt x="5685473" y="846697"/>
                  </a:lnTo>
                  <a:lnTo>
                    <a:pt x="5640705" y="843535"/>
                  </a:lnTo>
                  <a:lnTo>
                    <a:pt x="5595938" y="840714"/>
                  </a:lnTo>
                  <a:lnTo>
                    <a:pt x="5551170" y="838208"/>
                  </a:lnTo>
                  <a:lnTo>
                    <a:pt x="5506403" y="835997"/>
                  </a:lnTo>
                  <a:lnTo>
                    <a:pt x="5461635" y="834060"/>
                  </a:lnTo>
                  <a:lnTo>
                    <a:pt x="5416868" y="832377"/>
                  </a:lnTo>
                  <a:lnTo>
                    <a:pt x="5372100" y="830934"/>
                  </a:lnTo>
                  <a:lnTo>
                    <a:pt x="5327333" y="829716"/>
                  </a:lnTo>
                  <a:lnTo>
                    <a:pt x="5282565" y="828709"/>
                  </a:lnTo>
                  <a:lnTo>
                    <a:pt x="5237798" y="827900"/>
                  </a:lnTo>
                  <a:lnTo>
                    <a:pt x="5193030" y="827278"/>
                  </a:lnTo>
                  <a:lnTo>
                    <a:pt x="5148263" y="826834"/>
                  </a:lnTo>
                  <a:lnTo>
                    <a:pt x="5103495" y="826562"/>
                  </a:lnTo>
                  <a:lnTo>
                    <a:pt x="5058728" y="826454"/>
                  </a:lnTo>
                  <a:lnTo>
                    <a:pt x="5013960" y="826507"/>
                  </a:lnTo>
                  <a:lnTo>
                    <a:pt x="4969193" y="826718"/>
                  </a:lnTo>
                  <a:lnTo>
                    <a:pt x="4924425" y="827088"/>
                  </a:lnTo>
                  <a:lnTo>
                    <a:pt x="4879658" y="827617"/>
                  </a:lnTo>
                  <a:lnTo>
                    <a:pt x="4834890" y="828308"/>
                  </a:lnTo>
                  <a:lnTo>
                    <a:pt x="4790123" y="829161"/>
                  </a:lnTo>
                  <a:lnTo>
                    <a:pt x="4745355" y="830182"/>
                  </a:lnTo>
                  <a:lnTo>
                    <a:pt x="4700588" y="831378"/>
                  </a:lnTo>
                  <a:lnTo>
                    <a:pt x="4655820" y="832757"/>
                  </a:lnTo>
                  <a:lnTo>
                    <a:pt x="4611053" y="834328"/>
                  </a:lnTo>
                  <a:lnTo>
                    <a:pt x="4566285" y="836102"/>
                  </a:lnTo>
                  <a:lnTo>
                    <a:pt x="4521518" y="838090"/>
                  </a:lnTo>
                  <a:lnTo>
                    <a:pt x="4476750" y="840306"/>
                  </a:lnTo>
                  <a:lnTo>
                    <a:pt x="4431983" y="842764"/>
                  </a:lnTo>
                  <a:lnTo>
                    <a:pt x="4387215" y="845478"/>
                  </a:lnTo>
                  <a:lnTo>
                    <a:pt x="4342448" y="848459"/>
                  </a:lnTo>
                  <a:lnTo>
                    <a:pt x="4297680" y="851727"/>
                  </a:lnTo>
                  <a:lnTo>
                    <a:pt x="4252913" y="855298"/>
                  </a:lnTo>
                  <a:lnTo>
                    <a:pt x="4208145" y="859192"/>
                  </a:lnTo>
                  <a:lnTo>
                    <a:pt x="4163377" y="863429"/>
                  </a:lnTo>
                  <a:lnTo>
                    <a:pt x="4118610" y="868028"/>
                  </a:lnTo>
                  <a:lnTo>
                    <a:pt x="4073843" y="873009"/>
                  </a:lnTo>
                  <a:lnTo>
                    <a:pt x="4029075" y="878394"/>
                  </a:lnTo>
                  <a:lnTo>
                    <a:pt x="3984308" y="884203"/>
                  </a:lnTo>
                  <a:lnTo>
                    <a:pt x="3939540" y="890457"/>
                  </a:lnTo>
                  <a:lnTo>
                    <a:pt x="3894773" y="897176"/>
                  </a:lnTo>
                  <a:lnTo>
                    <a:pt x="3850005" y="904382"/>
                  </a:lnTo>
                  <a:lnTo>
                    <a:pt x="3805237" y="912094"/>
                  </a:lnTo>
                  <a:lnTo>
                    <a:pt x="3760470" y="920335"/>
                  </a:lnTo>
                  <a:lnTo>
                    <a:pt x="3715703" y="929123"/>
                  </a:lnTo>
                  <a:lnTo>
                    <a:pt x="3670935" y="938477"/>
                  </a:lnTo>
                  <a:lnTo>
                    <a:pt x="3626168" y="948418"/>
                  </a:lnTo>
                  <a:lnTo>
                    <a:pt x="3581400" y="958959"/>
                  </a:lnTo>
                  <a:lnTo>
                    <a:pt x="3536633" y="970116"/>
                  </a:lnTo>
                  <a:lnTo>
                    <a:pt x="3491865" y="981906"/>
                  </a:lnTo>
                  <a:lnTo>
                    <a:pt x="3447098" y="994341"/>
                  </a:lnTo>
                  <a:lnTo>
                    <a:pt x="3402330" y="1007433"/>
                  </a:lnTo>
                  <a:lnTo>
                    <a:pt x="3357563" y="1021192"/>
                  </a:lnTo>
                  <a:lnTo>
                    <a:pt x="3312795" y="1035628"/>
                  </a:lnTo>
                  <a:lnTo>
                    <a:pt x="3268028" y="1050747"/>
                  </a:lnTo>
                  <a:lnTo>
                    <a:pt x="3223260" y="1066555"/>
                  </a:lnTo>
                  <a:lnTo>
                    <a:pt x="3178493" y="1083053"/>
                  </a:lnTo>
                  <a:lnTo>
                    <a:pt x="3133725" y="1100239"/>
                  </a:lnTo>
                  <a:lnTo>
                    <a:pt x="3088958" y="1118112"/>
                  </a:lnTo>
                  <a:lnTo>
                    <a:pt x="3044190" y="1136667"/>
                  </a:lnTo>
                  <a:lnTo>
                    <a:pt x="2999423" y="1155898"/>
                  </a:lnTo>
                  <a:lnTo>
                    <a:pt x="2954655" y="1175795"/>
                  </a:lnTo>
                  <a:lnTo>
                    <a:pt x="2909887" y="1196348"/>
                  </a:lnTo>
                  <a:lnTo>
                    <a:pt x="2865120" y="1217542"/>
                  </a:lnTo>
                  <a:lnTo>
                    <a:pt x="2820353" y="1239362"/>
                  </a:lnTo>
                  <a:lnTo>
                    <a:pt x="2775585" y="1261790"/>
                  </a:lnTo>
                  <a:lnTo>
                    <a:pt x="2730818" y="1284805"/>
                  </a:lnTo>
                  <a:lnTo>
                    <a:pt x="2686050" y="1308385"/>
                  </a:lnTo>
                  <a:lnTo>
                    <a:pt x="2641283" y="1332504"/>
                  </a:lnTo>
                  <a:lnTo>
                    <a:pt x="2596515" y="1357137"/>
                  </a:lnTo>
                  <a:lnTo>
                    <a:pt x="2551748" y="1382254"/>
                  </a:lnTo>
                  <a:lnTo>
                    <a:pt x="2506980" y="1407824"/>
                  </a:lnTo>
                  <a:lnTo>
                    <a:pt x="2462213" y="1433816"/>
                  </a:lnTo>
                  <a:lnTo>
                    <a:pt x="2417445" y="1460197"/>
                  </a:lnTo>
                  <a:lnTo>
                    <a:pt x="2372678" y="1486930"/>
                  </a:lnTo>
                  <a:lnTo>
                    <a:pt x="2327910" y="1513980"/>
                  </a:lnTo>
                  <a:lnTo>
                    <a:pt x="2283143" y="1541308"/>
                  </a:lnTo>
                  <a:lnTo>
                    <a:pt x="2238375" y="1568876"/>
                  </a:lnTo>
                  <a:lnTo>
                    <a:pt x="2193608" y="1596642"/>
                  </a:lnTo>
                  <a:lnTo>
                    <a:pt x="2148840" y="1624567"/>
                  </a:lnTo>
                  <a:lnTo>
                    <a:pt x="2104073" y="1652609"/>
                  </a:lnTo>
                  <a:lnTo>
                    <a:pt x="2059305" y="1680728"/>
                  </a:lnTo>
                  <a:lnTo>
                    <a:pt x="2014538" y="1708883"/>
                  </a:lnTo>
                  <a:lnTo>
                    <a:pt x="1969770" y="1737032"/>
                  </a:lnTo>
                  <a:lnTo>
                    <a:pt x="1925002" y="1765133"/>
                  </a:lnTo>
                  <a:lnTo>
                    <a:pt x="1880235" y="1793148"/>
                  </a:lnTo>
                  <a:lnTo>
                    <a:pt x="1835468" y="1821034"/>
                  </a:lnTo>
                  <a:lnTo>
                    <a:pt x="1790700" y="1848752"/>
                  </a:lnTo>
                  <a:lnTo>
                    <a:pt x="1745932" y="1876264"/>
                  </a:lnTo>
                  <a:lnTo>
                    <a:pt x="1701165" y="1903532"/>
                  </a:lnTo>
                  <a:lnTo>
                    <a:pt x="1656398" y="1930519"/>
                  </a:lnTo>
                  <a:lnTo>
                    <a:pt x="1611630" y="1957189"/>
                  </a:lnTo>
                  <a:lnTo>
                    <a:pt x="1566863" y="1983507"/>
                  </a:lnTo>
                  <a:lnTo>
                    <a:pt x="1522095" y="2009443"/>
                  </a:lnTo>
                  <a:lnTo>
                    <a:pt x="1477328" y="2034964"/>
                  </a:lnTo>
                  <a:lnTo>
                    <a:pt x="1432560" y="2060042"/>
                  </a:lnTo>
                  <a:lnTo>
                    <a:pt x="1387793" y="2084648"/>
                  </a:lnTo>
                  <a:lnTo>
                    <a:pt x="1343025" y="2108759"/>
                  </a:lnTo>
                  <a:lnTo>
                    <a:pt x="1298258" y="2132349"/>
                  </a:lnTo>
                  <a:lnTo>
                    <a:pt x="1253490" y="2155398"/>
                  </a:lnTo>
                  <a:lnTo>
                    <a:pt x="1208723" y="2177884"/>
                  </a:lnTo>
                  <a:lnTo>
                    <a:pt x="1163955" y="2199791"/>
                  </a:lnTo>
                  <a:lnTo>
                    <a:pt x="1119188" y="2221104"/>
                  </a:lnTo>
                  <a:lnTo>
                    <a:pt x="1074420" y="2241809"/>
                  </a:lnTo>
                  <a:lnTo>
                    <a:pt x="1029653" y="2261895"/>
                  </a:lnTo>
                  <a:lnTo>
                    <a:pt x="984885" y="2281353"/>
                  </a:lnTo>
                  <a:lnTo>
                    <a:pt x="940118" y="2300177"/>
                  </a:lnTo>
                  <a:lnTo>
                    <a:pt x="895350" y="2318361"/>
                  </a:lnTo>
                  <a:lnTo>
                    <a:pt x="850583" y="2335902"/>
                  </a:lnTo>
                  <a:lnTo>
                    <a:pt x="805815" y="2352800"/>
                  </a:lnTo>
                  <a:lnTo>
                    <a:pt x="761048" y="2369052"/>
                  </a:lnTo>
                  <a:lnTo>
                    <a:pt x="716280" y="2384660"/>
                  </a:lnTo>
                  <a:lnTo>
                    <a:pt x="671513" y="2399630"/>
                  </a:lnTo>
                  <a:lnTo>
                    <a:pt x="626745" y="2413967"/>
                  </a:lnTo>
                  <a:lnTo>
                    <a:pt x="581978" y="2427678"/>
                  </a:lnTo>
                  <a:lnTo>
                    <a:pt x="537210" y="2440772"/>
                  </a:lnTo>
                  <a:lnTo>
                    <a:pt x="492443" y="2453259"/>
                  </a:lnTo>
                  <a:lnTo>
                    <a:pt x="447675" y="2465149"/>
                  </a:lnTo>
                  <a:lnTo>
                    <a:pt x="402908" y="2476455"/>
                  </a:lnTo>
                  <a:lnTo>
                    <a:pt x="358140" y="2487190"/>
                  </a:lnTo>
                  <a:lnTo>
                    <a:pt x="313373" y="2497365"/>
                  </a:lnTo>
                  <a:lnTo>
                    <a:pt x="268605" y="2506996"/>
                  </a:lnTo>
                  <a:lnTo>
                    <a:pt x="223838" y="2516096"/>
                  </a:lnTo>
                  <a:lnTo>
                    <a:pt x="179070" y="2524683"/>
                  </a:lnTo>
                  <a:lnTo>
                    <a:pt x="134303" y="2532773"/>
                  </a:lnTo>
                  <a:lnTo>
                    <a:pt x="89535" y="2540382"/>
                  </a:lnTo>
                  <a:lnTo>
                    <a:pt x="44768" y="2547526"/>
                  </a:lnTo>
                  <a:lnTo>
                    <a:pt x="0" y="2554224"/>
                  </a:lnTo>
                  <a:close/>
                </a:path>
              </a:pathLst>
            </a:custGeom>
            <a:solidFill>
              <a:srgbClr val="0047FF"/>
            </a:solidFill>
            <a:ln>
              <a:noFill/>
            </a:ln>
          </p:spPr>
        </p:sp>
        <p:sp>
          <p:nvSpPr>
            <p:cNvPr id="18" name="node01.phases.source-001.label"/>
            <p:cNvSpPr/>
            <p:nvPr/>
          </p:nvSpPr>
          <p:spPr>
            <a:xfrm>
              <a:off x="838200" y="4914900"/>
              <a:ext cx="3352800" cy="8001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FORMING</a:t>
              </a:r>
              <a:endParaRPr lang="en-US" sz="900" spc="72" kern="0" b="0" i="0" dirty="0">
                <a:solidFill>
                  <a:srgbClr val="0047FF"/>
                </a:solidFill>
                <a:latin typeface="IBM Plex Mono SemiBold"/>
                <a:ea typeface="IBM Plex Mono SemiBold"/>
                <a:cs typeface="IBM Plex Mono SemiBold"/>
              </a:endParaRPr>
            </a:p>
          </p:txBody>
        </p:sp>
        <p:sp>
          <p:nvSpPr>
            <p:cNvPr id="19" name="node01.phases.source-001.sub"/>
            <p:cNvSpPr/>
            <p:nvPr/>
          </p:nvSpPr>
          <p:spPr>
            <a:xfrm>
              <a:off x="838200" y="5080000"/>
              <a:ext cx="3352800" cy="635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Diagnose the estate and benchmark the baseline.</a:t>
              </a:r>
              <a:endParaRPr lang="en-US" sz="1100" spc="0" kern="0" b="0" i="0" dirty="0">
                <a:solidFill>
                  <a:srgbClr val="50658E"/>
                </a:solidFill>
                <a:latin typeface="IBM Plex Sans"/>
                <a:ea typeface="IBM Plex Sans"/>
                <a:cs typeface="IBM Plex Sans"/>
              </a:endParaRPr>
            </a:p>
          </p:txBody>
        </p:sp>
        <p:sp>
          <p:nvSpPr>
            <p:cNvPr id="20" name="node01.phases.source-002.rule"/>
            <p:cNvSpPr/>
            <p:nvPr/>
          </p:nvSpPr>
          <p:spPr>
            <a:xfrm>
              <a:off x="4305300" y="1600200"/>
              <a:ext cx="0" cy="4114800"/>
            </a:xfrm>
            <a:prstGeom prst="line">
              <a:avLst/>
            </a:prstGeom>
            <a:noFill/>
            <a:ln w="9525">
              <a:solidFill>
                <a:srgbClr val="97A4BA"/>
              </a:solidFill>
              <a:prstDash val="solid"/>
            </a:ln>
          </p:spPr>
        </p:sp>
        <p:sp>
          <p:nvSpPr>
            <p:cNvPr id="21" name="node01.phases.source-002.label"/>
            <p:cNvSpPr/>
            <p:nvPr/>
          </p:nvSpPr>
          <p:spPr>
            <a:xfrm>
              <a:off x="4419600" y="4914900"/>
              <a:ext cx="3352800" cy="8001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NORMING AND PERFORMING</a:t>
              </a:r>
              <a:endParaRPr lang="en-US" sz="900" spc="72" kern="0" b="0" i="0" dirty="0">
                <a:solidFill>
                  <a:srgbClr val="0047FF"/>
                </a:solidFill>
                <a:latin typeface="IBM Plex Mono SemiBold"/>
                <a:ea typeface="IBM Plex Mono SemiBold"/>
                <a:cs typeface="IBM Plex Mono SemiBold"/>
              </a:endParaRPr>
            </a:p>
          </p:txBody>
        </p:sp>
        <p:sp>
          <p:nvSpPr>
            <p:cNvPr id="22" name="node01.phases.source-002.sub"/>
            <p:cNvSpPr/>
            <p:nvPr/>
          </p:nvSpPr>
          <p:spPr>
            <a:xfrm>
              <a:off x="4419600" y="5080000"/>
              <a:ext cx="3352800" cy="635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Establish the standard we all build to.</a:t>
              </a:r>
              <a:endParaRPr lang="en-US" sz="1100" spc="0" kern="0" b="0" i="0" dirty="0">
                <a:solidFill>
                  <a:srgbClr val="50658E"/>
                </a:solidFill>
                <a:latin typeface="IBM Plex Sans"/>
                <a:ea typeface="IBM Plex Sans"/>
                <a:cs typeface="IBM Plex Sans"/>
              </a:endParaRPr>
            </a:p>
          </p:txBody>
        </p:sp>
        <p:sp>
          <p:nvSpPr>
            <p:cNvPr id="23" name="node01.phases.source-003.rule"/>
            <p:cNvSpPr/>
            <p:nvPr/>
          </p:nvSpPr>
          <p:spPr>
            <a:xfrm>
              <a:off x="7886700" y="1600200"/>
              <a:ext cx="0" cy="4114800"/>
            </a:xfrm>
            <a:prstGeom prst="line">
              <a:avLst/>
            </a:prstGeom>
            <a:noFill/>
            <a:ln w="9525">
              <a:solidFill>
                <a:srgbClr val="97A4BA"/>
              </a:solidFill>
              <a:prstDash val="solid"/>
            </a:ln>
          </p:spPr>
        </p:sp>
        <p:sp>
          <p:nvSpPr>
            <p:cNvPr id="24" name="node01.phases.source-003.label"/>
            <p:cNvSpPr/>
            <p:nvPr/>
          </p:nvSpPr>
          <p:spPr>
            <a:xfrm>
              <a:off x="8001000" y="4914900"/>
              <a:ext cx="3352800" cy="8001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047FF"/>
                  </a:solidFill>
                  <a:latin typeface="IBM Plex Mono SemiBold"/>
                  <a:ea typeface="IBM Plex Mono SemiBold"/>
                  <a:cs typeface="IBM Plex Mono SemiBold"/>
                </a:rPr>
                <a:t>OPTIMIZING AND SUSTAINING</a:t>
              </a:r>
              <a:endParaRPr lang="en-US" sz="900" spc="72" kern="0" b="0" i="0" dirty="0">
                <a:solidFill>
                  <a:srgbClr val="0047FF"/>
                </a:solidFill>
                <a:latin typeface="IBM Plex Mono SemiBold"/>
                <a:ea typeface="IBM Plex Mono SemiBold"/>
                <a:cs typeface="IBM Plex Mono SemiBold"/>
              </a:endParaRPr>
            </a:p>
          </p:txBody>
        </p:sp>
        <p:sp>
          <p:nvSpPr>
            <p:cNvPr id="25" name="node01.phases.source-003.sub"/>
            <p:cNvSpPr/>
            <p:nvPr/>
          </p:nvSpPr>
          <p:spPr>
            <a:xfrm>
              <a:off x="8001000" y="5080000"/>
              <a:ext cx="3352800" cy="635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Scale the model and hand over the run.</a:t>
              </a:r>
              <a:endParaRPr lang="en-US" sz="1100" spc="0" kern="0" b="0" i="0" dirty="0">
                <a:solidFill>
                  <a:srgbClr val="50658E"/>
                </a:solidFill>
                <a:latin typeface="IBM Plex Sans"/>
                <a:ea typeface="IBM Plex Sans"/>
                <a:cs typeface="IBM Plex Sans"/>
              </a:endParaRPr>
            </a:p>
          </p:txBody>
        </p:sp>
        <p:sp>
          <p:nvSpPr>
            <p:cNvPr id="26" name="node01.series.source-001.label"/>
            <p:cNvSpPr/>
            <p:nvPr/>
          </p:nvSpPr>
          <p:spPr>
            <a:xfrm>
              <a:off x="1752600" y="4499615"/>
              <a:ext cx="2286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NORTHFIELD TEAM</a:t>
              </a:r>
              <a:endParaRPr lang="en-US" sz="800" spc="48" kern="0" b="0" i="0" dirty="0">
                <a:solidFill>
                  <a:srgbClr val="070154"/>
                </a:solidFill>
                <a:latin typeface="IBM Plex Mono SemiBold"/>
                <a:ea typeface="IBM Plex Mono SemiBold"/>
                <a:cs typeface="IBM Plex Mono SemiBold"/>
              </a:endParaRPr>
            </a:p>
          </p:txBody>
        </p:sp>
      </p:grpSp>
      <p:grpSp>
        <p:nvGrpSpPr>
          <p:cNvPr id="43" name="node02"/>
          <p:cNvGrpSpPr/>
          <p:nvPr/>
        </p:nvGrpSpPr>
        <p:grpSpPr>
          <a:xfrm>
            <a:off x="723900" y="1600200"/>
            <a:ext cx="3200400" cy="647700"/>
            <a:chOff x="723900" y="1600200"/>
            <a:chExt cx="3200400" cy="647700"/>
          </a:xfrm>
        </p:grpSpPr>
        <p:sp>
          <p:nvSpPr>
            <p:cNvPr id="27" name="node02.text"/>
            <p:cNvSpPr/>
            <p:nvPr/>
          </p:nvSpPr>
          <p:spPr>
            <a:xfrm>
              <a:off x="723900" y="1600200"/>
              <a:ext cx="32004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Our team and Northfield's work side by side. We diagnose the estate and benchmark the baseline. Agents are not yet in the loop.</a:t>
              </a:r>
              <a:endParaRPr lang="en-US" sz="1200" spc="0" kern="0" b="0" i="0" dirty="0">
                <a:solidFill>
                  <a:srgbClr val="070154"/>
                </a:solidFill>
                <a:latin typeface="IBM Plex Sans"/>
                <a:ea typeface="IBM Plex Sans"/>
                <a:cs typeface="IBM Plex Sans"/>
              </a:endParaRPr>
            </a:p>
          </p:txBody>
        </p:sp>
      </p:grpSp>
      <p:grpSp>
        <p:nvGrpSpPr>
          <p:cNvPr id="44" name="node03"/>
          <p:cNvGrpSpPr/>
          <p:nvPr/>
        </p:nvGrpSpPr>
        <p:grpSpPr>
          <a:xfrm>
            <a:off x="4457700" y="2667000"/>
            <a:ext cx="3200400" cy="139700"/>
            <a:chOff x="4457700" y="2667000"/>
            <a:chExt cx="3200400" cy="139700"/>
          </a:xfrm>
        </p:grpSpPr>
        <p:sp>
          <p:nvSpPr>
            <p:cNvPr id="28" name="node03.text"/>
            <p:cNvSpPr/>
            <p:nvPr/>
          </p:nvSpPr>
          <p:spPr>
            <a:xfrm>
              <a:off x="4457700" y="26670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WEST MONROE</a:t>
              </a:r>
              <a:endParaRPr lang="en-US" sz="800" spc="48" kern="0" b="0" i="0" dirty="0">
                <a:solidFill>
                  <a:srgbClr val="FFFFFF"/>
                </a:solidFill>
                <a:latin typeface="IBM Plex Mono Medium"/>
                <a:ea typeface="IBM Plex Mono Medium"/>
                <a:cs typeface="IBM Plex Mono Medium"/>
              </a:endParaRPr>
            </a:p>
          </p:txBody>
        </p:sp>
      </p:grpSp>
      <p:grpSp>
        <p:nvGrpSpPr>
          <p:cNvPr id="45" name="node04"/>
          <p:cNvGrpSpPr/>
          <p:nvPr/>
        </p:nvGrpSpPr>
        <p:grpSpPr>
          <a:xfrm>
            <a:off x="4457700" y="2895600"/>
            <a:ext cx="2743200" cy="1155700"/>
            <a:chOff x="4457700" y="2895600"/>
            <a:chExt cx="2743200" cy="1155700"/>
          </a:xfrm>
        </p:grpSpPr>
        <p:sp>
          <p:nvSpPr>
            <p:cNvPr id="29" name="node04.source-001.bullet"/>
            <p:cNvSpPr/>
            <p:nvPr/>
          </p:nvSpPr>
          <p:spPr>
            <a:xfrm>
              <a:off x="4457700" y="2984500"/>
              <a:ext cx="38100" cy="38100"/>
            </a:xfrm>
            <a:prstGeom prst="rect">
              <a:avLst/>
            </a:prstGeom>
            <a:solidFill>
              <a:srgbClr val="FFFFFF"/>
            </a:solidFill>
            <a:ln>
              <a:noFill/>
            </a:ln>
          </p:spPr>
        </p:sp>
        <p:sp>
          <p:nvSpPr>
            <p:cNvPr id="30" name="node04.source-001.text"/>
            <p:cNvSpPr/>
            <p:nvPr/>
          </p:nvSpPr>
          <p:spPr>
            <a:xfrm>
              <a:off x="4610100" y="28956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We build and set the standard together</a:t>
              </a:r>
              <a:endParaRPr lang="en-US" sz="1200" spc="0" kern="0" b="0" i="0" dirty="0">
                <a:solidFill>
                  <a:srgbClr val="FFFFFF"/>
                </a:solidFill>
                <a:latin typeface="IBM Plex Sans"/>
                <a:ea typeface="IBM Plex Sans"/>
                <a:cs typeface="IBM Plex Sans"/>
              </a:endParaRPr>
            </a:p>
          </p:txBody>
        </p:sp>
        <p:sp>
          <p:nvSpPr>
            <p:cNvPr id="31" name="node04.source-002.bullet"/>
            <p:cNvSpPr/>
            <p:nvPr/>
          </p:nvSpPr>
          <p:spPr>
            <a:xfrm>
              <a:off x="4457700" y="3454400"/>
              <a:ext cx="38100" cy="38100"/>
            </a:xfrm>
            <a:prstGeom prst="rect">
              <a:avLst/>
            </a:prstGeom>
            <a:solidFill>
              <a:srgbClr val="FFFFFF"/>
            </a:solidFill>
            <a:ln>
              <a:noFill/>
            </a:ln>
          </p:spPr>
        </p:sp>
        <p:sp>
          <p:nvSpPr>
            <p:cNvPr id="32" name="node04.source-002.text"/>
            <p:cNvSpPr/>
            <p:nvPr/>
          </p:nvSpPr>
          <p:spPr>
            <a:xfrm>
              <a:off x="4610100" y="3365500"/>
              <a:ext cx="2590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Maintenance agents take on routine work</a:t>
              </a:r>
              <a:endParaRPr lang="en-US" sz="1200" spc="0" kern="0" b="0" i="0" dirty="0">
                <a:solidFill>
                  <a:srgbClr val="FFFFFF"/>
                </a:solidFill>
                <a:latin typeface="IBM Plex Sans"/>
                <a:ea typeface="IBM Plex Sans"/>
                <a:cs typeface="IBM Plex Sans"/>
              </a:endParaRPr>
            </a:p>
          </p:txBody>
        </p:sp>
        <p:sp>
          <p:nvSpPr>
            <p:cNvPr id="33" name="node04.source-003.bullet"/>
            <p:cNvSpPr/>
            <p:nvPr/>
          </p:nvSpPr>
          <p:spPr>
            <a:xfrm>
              <a:off x="4457700" y="3924300"/>
              <a:ext cx="38100" cy="38100"/>
            </a:xfrm>
            <a:prstGeom prst="rect">
              <a:avLst/>
            </a:prstGeom>
            <a:solidFill>
              <a:srgbClr val="FFFFFF"/>
            </a:solidFill>
            <a:ln>
              <a:noFill/>
            </a:ln>
          </p:spPr>
        </p:sp>
        <p:sp>
          <p:nvSpPr>
            <p:cNvPr id="34" name="node04.source-003.text"/>
            <p:cNvSpPr/>
            <p:nvPr/>
          </p:nvSpPr>
          <p:spPr>
            <a:xfrm>
              <a:off x="4610100" y="3835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Both teams reach their peak size</a:t>
              </a:r>
              <a:endParaRPr lang="en-US" sz="1200" spc="0" kern="0" b="0" i="0" dirty="0">
                <a:solidFill>
                  <a:srgbClr val="FFFFFF"/>
                </a:solidFill>
                <a:latin typeface="IBM Plex Sans"/>
                <a:ea typeface="IBM Plex Sans"/>
                <a:cs typeface="IBM Plex Sans"/>
              </a:endParaRPr>
            </a:p>
          </p:txBody>
        </p:sp>
      </p:grpSp>
      <p:grpSp>
        <p:nvGrpSpPr>
          <p:cNvPr id="46" name="node05"/>
          <p:cNvGrpSpPr/>
          <p:nvPr/>
        </p:nvGrpSpPr>
        <p:grpSpPr>
          <a:xfrm>
            <a:off x="8572500" y="1905000"/>
            <a:ext cx="3200400" cy="139700"/>
            <a:chOff x="8572500" y="1905000"/>
            <a:chExt cx="3200400" cy="139700"/>
          </a:xfrm>
        </p:grpSpPr>
        <p:sp>
          <p:nvSpPr>
            <p:cNvPr id="35" name="node05.text"/>
            <p:cNvSpPr/>
            <p:nvPr/>
          </p:nvSpPr>
          <p:spPr>
            <a:xfrm>
              <a:off x="8572500" y="19050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AI AGENTS</a:t>
              </a:r>
              <a:endParaRPr lang="en-US" sz="800" spc="48" kern="0" b="0" i="0" dirty="0">
                <a:solidFill>
                  <a:srgbClr val="FFFFFF"/>
                </a:solidFill>
                <a:latin typeface="IBM Plex Mono Medium"/>
                <a:ea typeface="IBM Plex Mono Medium"/>
                <a:cs typeface="IBM Plex Mono Medium"/>
              </a:endParaRPr>
            </a:p>
          </p:txBody>
        </p:sp>
      </p:grpSp>
      <p:grpSp>
        <p:nvGrpSpPr>
          <p:cNvPr id="47" name="node06"/>
          <p:cNvGrpSpPr/>
          <p:nvPr/>
        </p:nvGrpSpPr>
        <p:grpSpPr>
          <a:xfrm>
            <a:off x="8572500" y="2133600"/>
            <a:ext cx="2819400" cy="1155700"/>
            <a:chOff x="8572500" y="2133600"/>
            <a:chExt cx="2819400" cy="1155700"/>
          </a:xfrm>
        </p:grpSpPr>
        <p:sp>
          <p:nvSpPr>
            <p:cNvPr id="36" name="node06.source-001.bullet"/>
            <p:cNvSpPr/>
            <p:nvPr/>
          </p:nvSpPr>
          <p:spPr>
            <a:xfrm>
              <a:off x="8572500" y="2222500"/>
              <a:ext cx="38100" cy="38100"/>
            </a:xfrm>
            <a:prstGeom prst="rect">
              <a:avLst/>
            </a:prstGeom>
            <a:solidFill>
              <a:srgbClr val="FFFFFF"/>
            </a:solidFill>
            <a:ln>
              <a:noFill/>
            </a:ln>
          </p:spPr>
        </p:sp>
        <p:sp>
          <p:nvSpPr>
            <p:cNvPr id="37" name="node06.source-001.text"/>
            <p:cNvSpPr/>
            <p:nvPr/>
          </p:nvSpPr>
          <p:spPr>
            <a:xfrm>
              <a:off x="8724900" y="2133600"/>
              <a:ext cx="2667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Agents run maintenance and optimization</a:t>
              </a:r>
              <a:endParaRPr lang="en-US" sz="1200" spc="0" kern="0" b="0" i="0" dirty="0">
                <a:solidFill>
                  <a:srgbClr val="FFFFFF"/>
                </a:solidFill>
                <a:latin typeface="IBM Plex Sans"/>
                <a:ea typeface="IBM Plex Sans"/>
                <a:cs typeface="IBM Plex Sans"/>
              </a:endParaRPr>
            </a:p>
          </p:txBody>
        </p:sp>
        <p:sp>
          <p:nvSpPr>
            <p:cNvPr id="38" name="node06.source-002.bullet"/>
            <p:cNvSpPr/>
            <p:nvPr/>
          </p:nvSpPr>
          <p:spPr>
            <a:xfrm>
              <a:off x="8572500" y="2692400"/>
              <a:ext cx="38100" cy="38100"/>
            </a:xfrm>
            <a:prstGeom prst="rect">
              <a:avLst/>
            </a:prstGeom>
            <a:solidFill>
              <a:srgbClr val="FFFFFF"/>
            </a:solidFill>
            <a:ln>
              <a:noFill/>
            </a:ln>
          </p:spPr>
        </p:sp>
        <p:sp>
          <p:nvSpPr>
            <p:cNvPr id="39" name="node06.source-002.text"/>
            <p:cNvSpPr/>
            <p:nvPr/>
          </p:nvSpPr>
          <p:spPr>
            <a:xfrm>
              <a:off x="8724900" y="2603500"/>
              <a:ext cx="2667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Our team shrinks to a small group</a:t>
              </a:r>
              <a:endParaRPr lang="en-US" sz="1200" spc="0" kern="0" b="0" i="0" dirty="0">
                <a:solidFill>
                  <a:srgbClr val="FFFFFF"/>
                </a:solidFill>
                <a:latin typeface="IBM Plex Sans"/>
                <a:ea typeface="IBM Plex Sans"/>
                <a:cs typeface="IBM Plex Sans"/>
              </a:endParaRPr>
            </a:p>
          </p:txBody>
        </p:sp>
        <p:sp>
          <p:nvSpPr>
            <p:cNvPr id="40" name="node06.source-003.bullet"/>
            <p:cNvSpPr/>
            <p:nvPr/>
          </p:nvSpPr>
          <p:spPr>
            <a:xfrm>
              <a:off x="8572500" y="2946400"/>
              <a:ext cx="38100" cy="38100"/>
            </a:xfrm>
            <a:prstGeom prst="rect">
              <a:avLst/>
            </a:prstGeom>
            <a:solidFill>
              <a:srgbClr val="FFFFFF"/>
            </a:solidFill>
            <a:ln>
              <a:noFill/>
            </a:ln>
          </p:spPr>
        </p:sp>
        <p:sp>
          <p:nvSpPr>
            <p:cNvPr id="41" name="node06.source-003.text"/>
            <p:cNvSpPr/>
            <p:nvPr/>
          </p:nvSpPr>
          <p:spPr>
            <a:xfrm>
              <a:off x="8724900" y="2857500"/>
              <a:ext cx="2667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Northfield's maintenance load drops sharply</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ource-250">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Finance and compliance answered fastest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151</a:t>
            </a:fld>
            <a:endParaRPr lang="en-US" sz="700" spc="0" kern="0" b="0" i="0" dirty="0">
              <a:solidFill>
                <a:srgbClr val="070154"/>
              </a:solidFill>
              <a:latin typeface="IBM Plex Mono SemiBold"/>
              <a:ea typeface="IBM Plex Mono SemiBold"/>
              <a:cs typeface="IBM Plex Mono SemiBold"/>
            </a:endParaRPr>
          </a:p>
        </p:txBody>
      </p:sp>
      <p:grpSp>
        <p:nvGrpSpPr>
          <p:cNvPr id="26" name="node01"/>
          <p:cNvGrpSpPr/>
          <p:nvPr/>
        </p:nvGrpSpPr>
        <p:grpSpPr>
          <a:xfrm>
            <a:off x="4381500" y="2057400"/>
            <a:ext cx="7086600" cy="3403600"/>
            <a:chOff x="4381500" y="2057400"/>
            <a:chExt cx="7086600" cy="34036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4381500" y="2057400"/>
            <a:ext cx="7086600" cy="3403600"/>
          </p:xfrm>
          <a:graphic>
            <a:graphicData uri="http://schemas.openxmlformats.org/drawingml/2006/table">
              <a:tbl>
                <a:tblPr/>
                <a:tblGrid>
                  <a:gridCol w="2133600"/>
                  <a:gridCol w="1295400"/>
                  <a:gridCol w="838200"/>
                  <a:gridCol w="1676400"/>
                  <a:gridCol w="11430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PERSON</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DEPARTMENT</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MET</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FOLLOW-UP REQUEST</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STATUS</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080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J. Alvarez</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VP Revenue Cycle</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Revenue cycle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Sep 8</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Denial reason-code extract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Received</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M. Chen</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Director, Patient Access</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Patient access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Sep 9</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Registration error log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Received</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 Okafor</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Chief Information Officer</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Sep 10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Application inventory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Pending</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 Patel</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Dir., Enterprise Apps</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Sep 11</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Interface and integration map</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Pending</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L. Brandt</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Chief Financial Officer</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Finance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Sep 15</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FY26 budget by department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Received</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 Moreau</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Controller</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Finance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Sep 16</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Month-end close calendar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Received</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row.item-001.s.status-mark"/>
            <p:cNvSpPr/>
            <p:nvPr/>
          </p:nvSpPr>
          <p:spPr>
            <a:xfrm>
              <a:off x="10483850" y="2622550"/>
              <a:ext cx="88900" cy="88900"/>
            </a:xfrm>
            <a:prstGeom prst="rect">
              <a:avLst/>
            </a:prstGeom>
            <a:solidFill>
              <a:srgbClr val="1DD566"/>
            </a:solidFill>
            <a:ln w="12700">
              <a:solidFill>
                <a:srgbClr val="070154"/>
              </a:solidFill>
              <a:prstDash val="solid"/>
            </a:ln>
          </p:spPr>
        </p:sp>
        <p:sp>
          <p:nvSpPr>
            <p:cNvPr id="9" name="node01.row.item-002.s.status-mark"/>
            <p:cNvSpPr/>
            <p:nvPr/>
          </p:nvSpPr>
          <p:spPr>
            <a:xfrm>
              <a:off x="10483850" y="3130550"/>
              <a:ext cx="88900" cy="88900"/>
            </a:xfrm>
            <a:prstGeom prst="rect">
              <a:avLst/>
            </a:prstGeom>
            <a:solidFill>
              <a:srgbClr val="1DD566"/>
            </a:solidFill>
            <a:ln w="12700">
              <a:solidFill>
                <a:srgbClr val="070154"/>
              </a:solidFill>
              <a:prstDash val="solid"/>
            </a:ln>
          </p:spPr>
        </p:sp>
        <p:sp>
          <p:nvSpPr>
            <p:cNvPr id="10" name="node01.row.item-003.s.status-mark"/>
            <p:cNvSpPr/>
            <p:nvPr/>
          </p:nvSpPr>
          <p:spPr>
            <a:xfrm>
              <a:off x="10483850" y="3638550"/>
              <a:ext cx="88900" cy="88900"/>
            </a:xfrm>
            <a:prstGeom prst="rect">
              <a:avLst/>
            </a:prstGeom>
            <a:solidFill>
              <a:srgbClr val="FFC700"/>
            </a:solidFill>
            <a:ln w="12700">
              <a:solidFill>
                <a:srgbClr val="070154"/>
              </a:solidFill>
              <a:prstDash val="solid"/>
            </a:ln>
          </p:spPr>
        </p:sp>
        <p:sp>
          <p:nvSpPr>
            <p:cNvPr id="11" name="node01.row.item-004.s.status-mark"/>
            <p:cNvSpPr/>
            <p:nvPr/>
          </p:nvSpPr>
          <p:spPr>
            <a:xfrm>
              <a:off x="10483850" y="4146550"/>
              <a:ext cx="88900" cy="88900"/>
            </a:xfrm>
            <a:prstGeom prst="rect">
              <a:avLst/>
            </a:prstGeom>
            <a:solidFill>
              <a:srgbClr val="FFC700"/>
            </a:solidFill>
            <a:ln w="12700">
              <a:solidFill>
                <a:srgbClr val="070154"/>
              </a:solidFill>
              <a:prstDash val="solid"/>
            </a:ln>
          </p:spPr>
        </p:sp>
        <p:sp>
          <p:nvSpPr>
            <p:cNvPr id="12" name="node01.row.item-005.s.status-mark"/>
            <p:cNvSpPr/>
            <p:nvPr/>
          </p:nvSpPr>
          <p:spPr>
            <a:xfrm>
              <a:off x="10483850" y="4654550"/>
              <a:ext cx="88900" cy="88900"/>
            </a:xfrm>
            <a:prstGeom prst="rect">
              <a:avLst/>
            </a:prstGeom>
            <a:solidFill>
              <a:srgbClr val="1DD566"/>
            </a:solidFill>
            <a:ln w="12700">
              <a:solidFill>
                <a:srgbClr val="070154"/>
              </a:solidFill>
              <a:prstDash val="solid"/>
            </a:ln>
          </p:spPr>
        </p:sp>
        <p:sp>
          <p:nvSpPr>
            <p:cNvPr id="13" name="node01.row.item-006.s.status-mark"/>
            <p:cNvSpPr/>
            <p:nvPr/>
          </p:nvSpPr>
          <p:spPr>
            <a:xfrm>
              <a:off x="10483850" y="5162550"/>
              <a:ext cx="88900" cy="88900"/>
            </a:xfrm>
            <a:prstGeom prst="rect">
              <a:avLst/>
            </a:prstGeom>
            <a:solidFill>
              <a:srgbClr val="1DD566"/>
            </a:solidFill>
            <a:ln w="12700">
              <a:solidFill>
                <a:srgbClr val="070154"/>
              </a:solidFill>
              <a:prstDash val="solid"/>
            </a:ln>
          </p:spPr>
        </p:sp>
      </p:grpSp>
      <p:grpSp>
        <p:nvGrpSpPr>
          <p:cNvPr id="27" name="node02"/>
          <p:cNvGrpSpPr/>
          <p:nvPr/>
        </p:nvGrpSpPr>
        <p:grpSpPr>
          <a:xfrm>
            <a:off x="723900" y="685800"/>
            <a:ext cx="3429000" cy="1841500"/>
            <a:chOff x="723900" y="685800"/>
            <a:chExt cx="3429000" cy="1841500"/>
          </a:xfrm>
        </p:grpSpPr>
        <p:sp>
          <p:nvSpPr>
            <p:cNvPr id="14" name="node02.source-001.bullet"/>
            <p:cNvSpPr/>
            <p:nvPr/>
          </p:nvSpPr>
          <p:spPr>
            <a:xfrm>
              <a:off x="723900" y="774700"/>
              <a:ext cx="38100" cy="38100"/>
            </a:xfrm>
            <a:prstGeom prst="rect">
              <a:avLst/>
            </a:prstGeom>
            <a:solidFill>
              <a:srgbClr val="070154"/>
            </a:solidFill>
            <a:ln>
              <a:noFill/>
            </a:ln>
          </p:spPr>
        </p:sp>
        <p:sp>
          <p:nvSpPr>
            <p:cNvPr id="15" name="node02.source-001.text"/>
            <p:cNvSpPr/>
            <p:nvPr/>
          </p:nvSpPr>
          <p:spPr>
            <a:xfrm>
              <a:off x="876300" y="6858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Finance and compliance.</a:t>
              </a:r>
              <a:r>
                <a:rPr lang="en-US" sz="1200" spc="0" kern="0" b="0" i="0" dirty="0">
                  <a:solidFill>
                    <a:srgbClr val="50658E"/>
                  </a:solidFill>
                  <a:latin typeface="IBM Plex Sans"/>
                  <a:ea typeface="IBM Plex Sans"/>
                  <a:cs typeface="IBM Plex Sans"/>
                </a:rPr>
                <a:t xml:space="preserve"> Every request met inside a week of the interview.</a:t>
              </a:r>
              <a:endParaRPr lang="en-US" sz="1200" spc="0" kern="0" b="0" i="0" dirty="0">
                <a:solidFill>
                  <a:srgbClr val="070154"/>
                </a:solidFill>
                <a:latin typeface="IBM Plex Sans"/>
                <a:ea typeface="IBM Plex Sans"/>
                <a:cs typeface="IBM Plex Sans"/>
              </a:endParaRPr>
            </a:p>
          </p:txBody>
        </p:sp>
        <p:sp>
          <p:nvSpPr>
            <p:cNvPr id="16" name="node02.source-002.bullet"/>
            <p:cNvSpPr/>
            <p:nvPr/>
          </p:nvSpPr>
          <p:spPr>
            <a:xfrm>
              <a:off x="723900" y="1244600"/>
              <a:ext cx="38100" cy="38100"/>
            </a:xfrm>
            <a:prstGeom prst="rect">
              <a:avLst/>
            </a:prstGeom>
            <a:solidFill>
              <a:srgbClr val="070154"/>
            </a:solidFill>
            <a:ln>
              <a:noFill/>
            </a:ln>
          </p:spPr>
        </p:sp>
        <p:sp>
          <p:nvSpPr>
            <p:cNvPr id="17" name="node02.source-002.text"/>
            <p:cNvSpPr/>
            <p:nvPr/>
          </p:nvSpPr>
          <p:spPr>
            <a:xfrm>
              <a:off x="876300" y="11557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Clinical operations.</a:t>
              </a:r>
              <a:r>
                <a:rPr lang="en-US" sz="1200" spc="0" kern="0" b="0" i="0" dirty="0">
                  <a:solidFill>
                    <a:srgbClr val="50658E"/>
                  </a:solidFill>
                  <a:latin typeface="IBM Plex Sans"/>
                  <a:ea typeface="IBM Plex Sans"/>
                  <a:cs typeface="IBM Plex Sans"/>
                </a:rPr>
                <a:t xml:space="preserve"> One request blocked pending CMO sponsor action.</a:t>
              </a:r>
              <a:endParaRPr lang="en-US" sz="1200" spc="0" kern="0" b="0" i="0" dirty="0">
                <a:solidFill>
                  <a:srgbClr val="070154"/>
                </a:solidFill>
                <a:latin typeface="IBM Plex Sans"/>
                <a:ea typeface="IBM Plex Sans"/>
                <a:cs typeface="IBM Plex Sans"/>
              </a:endParaRPr>
            </a:p>
          </p:txBody>
        </p:sp>
        <p:sp>
          <p:nvSpPr>
            <p:cNvPr id="18" name="node02.source-003.bullet"/>
            <p:cNvSpPr/>
            <p:nvPr/>
          </p:nvSpPr>
          <p:spPr>
            <a:xfrm>
              <a:off x="723900" y="1714500"/>
              <a:ext cx="38100" cy="38100"/>
            </a:xfrm>
            <a:prstGeom prst="rect">
              <a:avLst/>
            </a:prstGeom>
            <a:solidFill>
              <a:srgbClr val="070154"/>
            </a:solidFill>
            <a:ln>
              <a:noFill/>
            </a:ln>
          </p:spPr>
        </p:sp>
        <p:sp>
          <p:nvSpPr>
            <p:cNvPr id="19" name="node02.source-003.text"/>
            <p:cNvSpPr/>
            <p:nvPr/>
          </p:nvSpPr>
          <p:spPr>
            <a:xfrm>
              <a:off x="876300" y="16256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Patient access.</a:t>
              </a:r>
              <a:r>
                <a:rPr lang="en-US" sz="1200" spc="0" kern="0" b="0" i="0" dirty="0">
                  <a:solidFill>
                    <a:srgbClr val="50658E"/>
                  </a:solidFill>
                  <a:latin typeface="IBM Plex Sans"/>
                  <a:ea typeface="IBM Plex Sans"/>
                  <a:cs typeface="IBM Plex Sans"/>
                </a:rPr>
                <a:t xml:space="preserve"> Prior-authorization data is slow to arrive.</a:t>
              </a:r>
              <a:endParaRPr lang="en-US" sz="1200" spc="0" kern="0" b="0" i="0" dirty="0">
                <a:solidFill>
                  <a:srgbClr val="070154"/>
                </a:solidFill>
                <a:latin typeface="IBM Plex Sans"/>
                <a:ea typeface="IBM Plex Sans"/>
                <a:cs typeface="IBM Plex Sans"/>
              </a:endParaRPr>
            </a:p>
          </p:txBody>
        </p:sp>
        <p:sp>
          <p:nvSpPr>
            <p:cNvPr id="20" name="node02.source-004.bullet"/>
            <p:cNvSpPr/>
            <p:nvPr/>
          </p:nvSpPr>
          <p:spPr>
            <a:xfrm>
              <a:off x="723900" y="2184400"/>
              <a:ext cx="38100" cy="38100"/>
            </a:xfrm>
            <a:prstGeom prst="rect">
              <a:avLst/>
            </a:prstGeom>
            <a:solidFill>
              <a:srgbClr val="070154"/>
            </a:solidFill>
            <a:ln>
              <a:noFill/>
            </a:ln>
          </p:spPr>
        </p:sp>
        <p:sp>
          <p:nvSpPr>
            <p:cNvPr id="21" name="node02.source-004.text"/>
            <p:cNvSpPr/>
            <p:nvPr/>
          </p:nvSpPr>
          <p:spPr>
            <a:xfrm>
              <a:off x="876300" y="20955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IT.</a:t>
              </a:r>
              <a:r>
                <a:rPr lang="en-US" sz="1200" spc="0" kern="0" b="0" i="0" dirty="0">
                  <a:solidFill>
                    <a:srgbClr val="50658E"/>
                  </a:solidFill>
                  <a:latin typeface="IBM Plex Sans"/>
                  <a:ea typeface="IBM Plex Sans"/>
                  <a:cs typeface="IBM Plex Sans"/>
                </a:rPr>
                <a:t xml:space="preserve"> Two inventories are in progress, due next week.</a:t>
              </a:r>
              <a:endParaRPr lang="en-US" sz="1200" spc="0" kern="0" b="0" i="0" dirty="0">
                <a:solidFill>
                  <a:srgbClr val="070154"/>
                </a:solidFill>
                <a:latin typeface="IBM Plex Sans"/>
                <a:ea typeface="IBM Plex Sans"/>
                <a:cs typeface="IBM Plex Sans"/>
              </a:endParaRPr>
            </a:p>
          </p:txBody>
        </p:sp>
      </p:grpSp>
      <p:grpSp>
        <p:nvGrpSpPr>
          <p:cNvPr id="28" name="node03"/>
          <p:cNvGrpSpPr/>
          <p:nvPr/>
        </p:nvGrpSpPr>
        <p:grpSpPr>
          <a:xfrm>
            <a:off x="723900" y="3429000"/>
            <a:ext cx="3429000" cy="1475169"/>
            <a:chOff x="723900" y="3429000"/>
            <a:chExt cx="3429000" cy="1475169"/>
          </a:xfrm>
        </p:grpSpPr>
        <p:sp>
          <p:nvSpPr>
            <p:cNvPr id="22" name="node03.container"/>
            <p:cNvSpPr/>
            <p:nvPr/>
          </p:nvSpPr>
          <p:spPr>
            <a:xfrm>
              <a:off x="723900" y="3429000"/>
              <a:ext cx="3429000" cy="1475169"/>
            </a:xfrm>
            <a:prstGeom prst="rect">
              <a:avLst/>
            </a:prstGeom>
            <a:solidFill>
              <a:srgbClr val="F900D3"/>
            </a:solidFill>
            <a:ln>
              <a:noFill/>
            </a:ln>
          </p:spPr>
        </p:sp>
        <p:sp>
          <p:nvSpPr>
            <p:cNvPr id="23" name="node03.eyebrow"/>
            <p:cNvSpPr/>
            <p:nvPr/>
          </p:nvSpPr>
          <p:spPr>
            <a:xfrm>
              <a:off x="952500" y="3657600"/>
              <a:ext cx="29718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70154"/>
                  </a:solidFill>
                  <a:latin typeface="IBM Plex Mono SemiBold"/>
                  <a:ea typeface="IBM Plex Mono SemiBold"/>
                  <a:cs typeface="IBM Plex Mono SemiBold"/>
                </a:rPr>
                <a:t>REQUESTS MET</a:t>
              </a:r>
              <a:endParaRPr lang="en-US" sz="900" spc="72" kern="0" b="0" i="0" dirty="0">
                <a:solidFill>
                  <a:srgbClr val="070154"/>
                </a:solidFill>
                <a:latin typeface="IBM Plex Mono SemiBold"/>
                <a:ea typeface="IBM Plex Mono SemiBold"/>
                <a:cs typeface="IBM Plex Mono SemiBold"/>
              </a:endParaRPr>
            </a:p>
          </p:txBody>
        </p:sp>
        <p:sp>
          <p:nvSpPr>
            <p:cNvPr id="24" name="node03.metric.value"/>
            <p:cNvSpPr/>
            <p:nvPr/>
          </p:nvSpPr>
          <p:spPr>
            <a:xfrm>
              <a:off x="952500" y="3873500"/>
              <a:ext cx="29718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FFFFFF"/>
                  </a:solidFill>
                  <a:latin typeface="IBM Plex Mono SemiBold"/>
                  <a:ea typeface="IBM Plex Mono SemiBold"/>
                  <a:cs typeface="IBM Plex Mono SemiBold"/>
                </a:rPr>
                <a:t>5 of 12</a:t>
              </a:r>
              <a:endParaRPr lang="en-US" sz="4000" spc="-80" kern="0" b="0" i="0" dirty="0">
                <a:solidFill>
                  <a:srgbClr val="FFFFFF"/>
                </a:solidFill>
                <a:latin typeface="IBM Plex Mono SemiBold"/>
                <a:ea typeface="IBM Plex Mono SemiBold"/>
                <a:cs typeface="IBM Plex Mono SemiBold"/>
              </a:endParaRPr>
            </a:p>
          </p:txBody>
        </p:sp>
        <p:sp>
          <p:nvSpPr>
            <p:cNvPr id="25" name="node03.metric.label"/>
            <p:cNvSpPr/>
            <p:nvPr/>
          </p:nvSpPr>
          <p:spPr>
            <a:xfrm>
              <a:off x="952500" y="4459669"/>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with four pending and three open.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ource-25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Leaders agree on the problem and differ on the order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152</a:t>
            </a:fld>
            <a:endParaRPr lang="en-US" sz="700" spc="0" kern="0" b="0" i="0" dirty="0">
              <a:solidFill>
                <a:srgbClr val="070154"/>
              </a:solidFill>
              <a:latin typeface="IBM Plex Mono SemiBold"/>
              <a:ea typeface="IBM Plex Mono SemiBold"/>
              <a:cs typeface="IBM Plex Mono SemiBold"/>
            </a:endParaRPr>
          </a:p>
        </p:txBody>
      </p:sp>
      <p:grpSp>
        <p:nvGrpSpPr>
          <p:cNvPr id="61" name="node01"/>
          <p:cNvGrpSpPr/>
          <p:nvPr/>
        </p:nvGrpSpPr>
        <p:grpSpPr>
          <a:xfrm>
            <a:off x="723900" y="1600200"/>
            <a:ext cx="3429000" cy="1828800"/>
            <a:chOff x="723900" y="1600200"/>
            <a:chExt cx="3429000" cy="1828800"/>
          </a:xfrm>
        </p:grpSpPr>
        <p:sp>
          <p:nvSpPr>
            <p:cNvPr id="7" name="node01.container"/>
            <p:cNvSpPr/>
            <p:nvPr/>
          </p:nvSpPr>
          <p:spPr>
            <a:xfrm>
              <a:off x="723900" y="1600200"/>
              <a:ext cx="3429000" cy="1828800"/>
            </a:xfrm>
            <a:prstGeom prst="rect">
              <a:avLst/>
            </a:prstGeom>
            <a:solidFill>
              <a:srgbClr val="E8EEF8"/>
            </a:solidFill>
            <a:ln>
              <a:noFill/>
            </a:ln>
          </p:spPr>
        </p:sp>
        <p:sp>
          <p:nvSpPr>
            <p:cNvPr id="8" name="node01.label"/>
            <p:cNvSpPr/>
            <p:nvPr/>
          </p:nvSpPr>
          <p:spPr>
            <a:xfrm>
              <a:off x="8763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REVENUE CYCLE</a:t>
              </a:r>
              <a:endParaRPr lang="en-US" sz="800" spc="48" kern="0" b="0" i="0" dirty="0">
                <a:solidFill>
                  <a:srgbClr val="0047FF"/>
                </a:solidFill>
                <a:latin typeface="IBM Plex Mono Medium"/>
                <a:ea typeface="IBM Plex Mono Medium"/>
                <a:cs typeface="IBM Plex Mono Medium"/>
              </a:endParaRPr>
            </a:p>
          </p:txBody>
        </p:sp>
        <p:sp>
          <p:nvSpPr>
            <p:cNvPr id="9" name="node01.title"/>
            <p:cNvSpPr/>
            <p:nvPr/>
          </p:nvSpPr>
          <p:spPr>
            <a:xfrm>
              <a:off x="876300" y="196850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J. Alvarez, VP Revenue Cycle</a:t>
              </a:r>
              <a:endParaRPr lang="en-US" sz="1100" spc="0" kern="0" b="0" i="0" dirty="0">
                <a:solidFill>
                  <a:srgbClr val="070154"/>
                </a:solidFill>
                <a:latin typeface="IBM Plex Sans"/>
                <a:ea typeface="IBM Plex Sans"/>
                <a:cs typeface="IBM Plex Sans"/>
              </a:endParaRPr>
            </a:p>
          </p:txBody>
        </p:sp>
        <p:sp>
          <p:nvSpPr>
            <p:cNvPr id="10" name="node01.body.item-001.bullets.item-001.marker"/>
            <p:cNvSpPr/>
            <p:nvPr/>
          </p:nvSpPr>
          <p:spPr>
            <a:xfrm>
              <a:off x="876300" y="2400300"/>
              <a:ext cx="38100" cy="38100"/>
            </a:xfrm>
            <a:prstGeom prst="rect">
              <a:avLst/>
            </a:prstGeom>
            <a:solidFill>
              <a:srgbClr val="070154"/>
            </a:solidFill>
            <a:ln>
              <a:noFill/>
            </a:ln>
          </p:spPr>
        </p:sp>
        <p:sp>
          <p:nvSpPr>
            <p:cNvPr id="11" name="node01.body.item-001.bullets.item-001.text"/>
            <p:cNvSpPr/>
            <p:nvPr/>
          </p:nvSpPr>
          <p:spPr>
            <a:xfrm>
              <a:off x="1028700" y="2311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Denials rise on missing authorization</a:t>
              </a:r>
              <a:endParaRPr lang="en-US" sz="1200" spc="0" kern="0" b="0" i="0" dirty="0">
                <a:solidFill>
                  <a:srgbClr val="070154"/>
                </a:solidFill>
                <a:latin typeface="IBM Plex Sans"/>
                <a:ea typeface="IBM Plex Sans"/>
                <a:cs typeface="IBM Plex Sans"/>
              </a:endParaRPr>
            </a:p>
          </p:txBody>
        </p:sp>
        <p:sp>
          <p:nvSpPr>
            <p:cNvPr id="12" name="node01.body.item-001.bullets.item-002.marker"/>
            <p:cNvSpPr/>
            <p:nvPr/>
          </p:nvSpPr>
          <p:spPr>
            <a:xfrm>
              <a:off x="876300" y="2654300"/>
              <a:ext cx="38100" cy="38100"/>
            </a:xfrm>
            <a:prstGeom prst="rect">
              <a:avLst/>
            </a:prstGeom>
            <a:solidFill>
              <a:srgbClr val="070154"/>
            </a:solidFill>
            <a:ln>
              <a:noFill/>
            </a:ln>
          </p:spPr>
        </p:sp>
        <p:sp>
          <p:nvSpPr>
            <p:cNvPr id="13" name="node01.body.item-001.bullets.item-002.text"/>
            <p:cNvSpPr/>
            <p:nvPr/>
          </p:nvSpPr>
          <p:spPr>
            <a:xfrm>
              <a:off x="1028700" y="2565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Rework is manual after day 30</a:t>
              </a:r>
              <a:endParaRPr lang="en-US" sz="1200" spc="0" kern="0" b="0" i="0" dirty="0">
                <a:solidFill>
                  <a:srgbClr val="070154"/>
                </a:solidFill>
                <a:latin typeface="IBM Plex Sans"/>
                <a:ea typeface="IBM Plex Sans"/>
                <a:cs typeface="IBM Plex Sans"/>
              </a:endParaRPr>
            </a:p>
          </p:txBody>
        </p:sp>
        <p:sp>
          <p:nvSpPr>
            <p:cNvPr id="14" name="node01.body.item-001.bullets.item-003.marker"/>
            <p:cNvSpPr/>
            <p:nvPr/>
          </p:nvSpPr>
          <p:spPr>
            <a:xfrm>
              <a:off x="876300" y="2908300"/>
              <a:ext cx="38100" cy="38100"/>
            </a:xfrm>
            <a:prstGeom prst="rect">
              <a:avLst/>
            </a:prstGeom>
            <a:solidFill>
              <a:srgbClr val="070154"/>
            </a:solidFill>
            <a:ln>
              <a:noFill/>
            </a:ln>
          </p:spPr>
        </p:sp>
        <p:sp>
          <p:nvSpPr>
            <p:cNvPr id="15" name="node01.body.item-001.bullets.item-003.text"/>
            <p:cNvSpPr/>
            <p:nvPr/>
          </p:nvSpPr>
          <p:spPr>
            <a:xfrm>
              <a:off x="1028700" y="2819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Wants one work queue</a:t>
              </a:r>
              <a:endParaRPr lang="en-US" sz="1200" spc="0" kern="0" b="0" i="0" dirty="0">
                <a:solidFill>
                  <a:srgbClr val="070154"/>
                </a:solidFill>
                <a:latin typeface="IBM Plex Sans"/>
                <a:ea typeface="IBM Plex Sans"/>
                <a:cs typeface="IBM Plex Sans"/>
              </a:endParaRPr>
            </a:p>
          </p:txBody>
        </p:sp>
      </p:grpSp>
      <p:grpSp>
        <p:nvGrpSpPr>
          <p:cNvPr id="62" name="node02"/>
          <p:cNvGrpSpPr/>
          <p:nvPr/>
        </p:nvGrpSpPr>
        <p:grpSpPr>
          <a:xfrm>
            <a:off x="4381500" y="1600200"/>
            <a:ext cx="3429000" cy="1828800"/>
            <a:chOff x="4381500" y="1600200"/>
            <a:chExt cx="3429000" cy="1828800"/>
          </a:xfrm>
        </p:grpSpPr>
        <p:sp>
          <p:nvSpPr>
            <p:cNvPr id="16" name="node02.container"/>
            <p:cNvSpPr/>
            <p:nvPr/>
          </p:nvSpPr>
          <p:spPr>
            <a:xfrm>
              <a:off x="4381500" y="1600200"/>
              <a:ext cx="3429000" cy="1828800"/>
            </a:xfrm>
            <a:prstGeom prst="rect">
              <a:avLst/>
            </a:prstGeom>
            <a:solidFill>
              <a:srgbClr val="E8EEF8"/>
            </a:solidFill>
            <a:ln>
              <a:noFill/>
            </a:ln>
          </p:spPr>
        </p:sp>
        <p:sp>
          <p:nvSpPr>
            <p:cNvPr id="17" name="node02.label"/>
            <p:cNvSpPr/>
            <p:nvPr/>
          </p:nvSpPr>
          <p:spPr>
            <a:xfrm>
              <a:off x="45339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PATIENT ACCESS</a:t>
              </a:r>
              <a:endParaRPr lang="en-US" sz="800" spc="48" kern="0" b="0" i="0" dirty="0">
                <a:solidFill>
                  <a:srgbClr val="0047FF"/>
                </a:solidFill>
                <a:latin typeface="IBM Plex Mono Medium"/>
                <a:ea typeface="IBM Plex Mono Medium"/>
                <a:cs typeface="IBM Plex Mono Medium"/>
              </a:endParaRPr>
            </a:p>
          </p:txBody>
        </p:sp>
        <p:sp>
          <p:nvSpPr>
            <p:cNvPr id="18" name="node02.title"/>
            <p:cNvSpPr/>
            <p:nvPr/>
          </p:nvSpPr>
          <p:spPr>
            <a:xfrm>
              <a:off x="4533900" y="196850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M. Chen, Director</a:t>
              </a:r>
              <a:endParaRPr lang="en-US" sz="1100" spc="0" kern="0" b="0" i="0" dirty="0">
                <a:solidFill>
                  <a:srgbClr val="070154"/>
                </a:solidFill>
                <a:latin typeface="IBM Plex Sans"/>
                <a:ea typeface="IBM Plex Sans"/>
                <a:cs typeface="IBM Plex Sans"/>
              </a:endParaRPr>
            </a:p>
          </p:txBody>
        </p:sp>
        <p:sp>
          <p:nvSpPr>
            <p:cNvPr id="19" name="node02.body.item-001.bullets.item-001.marker"/>
            <p:cNvSpPr/>
            <p:nvPr/>
          </p:nvSpPr>
          <p:spPr>
            <a:xfrm>
              <a:off x="4533900" y="2400300"/>
              <a:ext cx="38100" cy="38100"/>
            </a:xfrm>
            <a:prstGeom prst="rect">
              <a:avLst/>
            </a:prstGeom>
            <a:solidFill>
              <a:srgbClr val="070154"/>
            </a:solidFill>
            <a:ln>
              <a:noFill/>
            </a:ln>
          </p:spPr>
        </p:sp>
        <p:sp>
          <p:nvSpPr>
            <p:cNvPr id="20" name="node02.body.item-001.bullets.item-001.text"/>
            <p:cNvSpPr/>
            <p:nvPr/>
          </p:nvSpPr>
          <p:spPr>
            <a:xfrm>
              <a:off x="4686300" y="2311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errors start at the front desk</a:t>
              </a:r>
              <a:endParaRPr lang="en-US" sz="1200" spc="0" kern="0" b="0" i="0" dirty="0">
                <a:solidFill>
                  <a:srgbClr val="070154"/>
                </a:solidFill>
                <a:latin typeface="IBM Plex Sans"/>
                <a:ea typeface="IBM Plex Sans"/>
                <a:cs typeface="IBM Plex Sans"/>
              </a:endParaRPr>
            </a:p>
          </p:txBody>
        </p:sp>
        <p:sp>
          <p:nvSpPr>
            <p:cNvPr id="21" name="node02.body.item-001.bullets.item-002.marker"/>
            <p:cNvSpPr/>
            <p:nvPr/>
          </p:nvSpPr>
          <p:spPr>
            <a:xfrm>
              <a:off x="4533900" y="2654300"/>
              <a:ext cx="38100" cy="38100"/>
            </a:xfrm>
            <a:prstGeom prst="rect">
              <a:avLst/>
            </a:prstGeom>
            <a:solidFill>
              <a:srgbClr val="070154"/>
            </a:solidFill>
            <a:ln>
              <a:noFill/>
            </a:ln>
          </p:spPr>
        </p:sp>
        <p:sp>
          <p:nvSpPr>
            <p:cNvPr id="22" name="node02.body.item-001.bullets.item-002.text"/>
            <p:cNvSpPr/>
            <p:nvPr/>
          </p:nvSpPr>
          <p:spPr>
            <a:xfrm>
              <a:off x="4686300" y="2565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Three scheduling tools in use</a:t>
              </a:r>
              <a:endParaRPr lang="en-US" sz="1200" spc="0" kern="0" b="0" i="0" dirty="0">
                <a:solidFill>
                  <a:srgbClr val="070154"/>
                </a:solidFill>
                <a:latin typeface="IBM Plex Sans"/>
                <a:ea typeface="IBM Plex Sans"/>
                <a:cs typeface="IBM Plex Sans"/>
              </a:endParaRPr>
            </a:p>
          </p:txBody>
        </p:sp>
        <p:sp>
          <p:nvSpPr>
            <p:cNvPr id="23" name="node02.body.item-001.bullets.item-003.marker"/>
            <p:cNvSpPr/>
            <p:nvPr/>
          </p:nvSpPr>
          <p:spPr>
            <a:xfrm>
              <a:off x="4533900" y="2908300"/>
              <a:ext cx="38100" cy="38100"/>
            </a:xfrm>
            <a:prstGeom prst="rect">
              <a:avLst/>
            </a:prstGeom>
            <a:solidFill>
              <a:srgbClr val="070154"/>
            </a:solidFill>
            <a:ln>
              <a:noFill/>
            </a:ln>
          </p:spPr>
        </p:sp>
        <p:sp>
          <p:nvSpPr>
            <p:cNvPr id="24" name="node02.body.item-001.bullets.item-003.text"/>
            <p:cNvSpPr/>
            <p:nvPr/>
          </p:nvSpPr>
          <p:spPr>
            <a:xfrm>
              <a:off x="4686300" y="2819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Asks for real-time eligibility</a:t>
              </a:r>
              <a:endParaRPr lang="en-US" sz="1200" spc="0" kern="0" b="0" i="0" dirty="0">
                <a:solidFill>
                  <a:srgbClr val="070154"/>
                </a:solidFill>
                <a:latin typeface="IBM Plex Sans"/>
                <a:ea typeface="IBM Plex Sans"/>
                <a:cs typeface="IBM Plex Sans"/>
              </a:endParaRPr>
            </a:p>
          </p:txBody>
        </p:sp>
      </p:grpSp>
      <p:grpSp>
        <p:nvGrpSpPr>
          <p:cNvPr id="63" name="node03"/>
          <p:cNvGrpSpPr/>
          <p:nvPr/>
        </p:nvGrpSpPr>
        <p:grpSpPr>
          <a:xfrm>
            <a:off x="8039100" y="1600200"/>
            <a:ext cx="3429000" cy="1828800"/>
            <a:chOff x="8039100" y="1600200"/>
            <a:chExt cx="3429000" cy="1828800"/>
          </a:xfrm>
        </p:grpSpPr>
        <p:sp>
          <p:nvSpPr>
            <p:cNvPr id="25" name="node03.container"/>
            <p:cNvSpPr/>
            <p:nvPr/>
          </p:nvSpPr>
          <p:spPr>
            <a:xfrm>
              <a:off x="8039100" y="1600200"/>
              <a:ext cx="3429000" cy="1828800"/>
            </a:xfrm>
            <a:prstGeom prst="rect">
              <a:avLst/>
            </a:prstGeom>
            <a:solidFill>
              <a:srgbClr val="E8EEF8"/>
            </a:solidFill>
            <a:ln>
              <a:noFill/>
            </a:ln>
          </p:spPr>
        </p:sp>
        <p:sp>
          <p:nvSpPr>
            <p:cNvPr id="26" name="node03.label"/>
            <p:cNvSpPr/>
            <p:nvPr/>
          </p:nvSpPr>
          <p:spPr>
            <a:xfrm>
              <a:off x="81915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IT</a:t>
              </a:r>
              <a:endParaRPr lang="en-US" sz="800" spc="48" kern="0" b="0" i="0" dirty="0">
                <a:solidFill>
                  <a:srgbClr val="0047FF"/>
                </a:solidFill>
                <a:latin typeface="IBM Plex Mono Medium"/>
                <a:ea typeface="IBM Plex Mono Medium"/>
                <a:cs typeface="IBM Plex Mono Medium"/>
              </a:endParaRPr>
            </a:p>
          </p:txBody>
        </p:sp>
        <p:sp>
          <p:nvSpPr>
            <p:cNvPr id="27" name="node03.title"/>
            <p:cNvSpPr/>
            <p:nvPr/>
          </p:nvSpPr>
          <p:spPr>
            <a:xfrm>
              <a:off x="8191500" y="196850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 Okafor, CIO</a:t>
              </a:r>
              <a:endParaRPr lang="en-US" sz="1100" spc="0" kern="0" b="0" i="0" dirty="0">
                <a:solidFill>
                  <a:srgbClr val="070154"/>
                </a:solidFill>
                <a:latin typeface="IBM Plex Sans"/>
                <a:ea typeface="IBM Plex Sans"/>
                <a:cs typeface="IBM Plex Sans"/>
              </a:endParaRPr>
            </a:p>
          </p:txBody>
        </p:sp>
        <p:sp>
          <p:nvSpPr>
            <p:cNvPr id="28" name="node03.body.item-001.bullets.item-001.marker"/>
            <p:cNvSpPr/>
            <p:nvPr/>
          </p:nvSpPr>
          <p:spPr>
            <a:xfrm>
              <a:off x="8191500" y="2400300"/>
              <a:ext cx="38100" cy="38100"/>
            </a:xfrm>
            <a:prstGeom prst="rect">
              <a:avLst/>
            </a:prstGeom>
            <a:solidFill>
              <a:srgbClr val="070154"/>
            </a:solidFill>
            <a:ln>
              <a:noFill/>
            </a:ln>
          </p:spPr>
        </p:sp>
        <p:sp>
          <p:nvSpPr>
            <p:cNvPr id="29" name="node03.body.item-001.bullets.item-001.text"/>
            <p:cNvSpPr/>
            <p:nvPr/>
          </p:nvSpPr>
          <p:spPr>
            <a:xfrm>
              <a:off x="8343900" y="2311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Two platforms near end of support</a:t>
              </a:r>
              <a:endParaRPr lang="en-US" sz="1200" spc="0" kern="0" b="0" i="0" dirty="0">
                <a:solidFill>
                  <a:srgbClr val="070154"/>
                </a:solidFill>
                <a:latin typeface="IBM Plex Sans"/>
                <a:ea typeface="IBM Plex Sans"/>
                <a:cs typeface="IBM Plex Sans"/>
              </a:endParaRPr>
            </a:p>
          </p:txBody>
        </p:sp>
        <p:sp>
          <p:nvSpPr>
            <p:cNvPr id="30" name="node03.body.item-001.bullets.item-002.marker"/>
            <p:cNvSpPr/>
            <p:nvPr/>
          </p:nvSpPr>
          <p:spPr>
            <a:xfrm>
              <a:off x="8191500" y="2654300"/>
              <a:ext cx="38100" cy="38100"/>
            </a:xfrm>
            <a:prstGeom prst="rect">
              <a:avLst/>
            </a:prstGeom>
            <a:solidFill>
              <a:srgbClr val="070154"/>
            </a:solidFill>
            <a:ln>
              <a:noFill/>
            </a:ln>
          </p:spPr>
        </p:sp>
        <p:sp>
          <p:nvSpPr>
            <p:cNvPr id="31" name="node03.body.item-001.bullets.item-002.text"/>
            <p:cNvSpPr/>
            <p:nvPr/>
          </p:nvSpPr>
          <p:spPr>
            <a:xfrm>
              <a:off x="8343900" y="2565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Integration is the main risk</a:t>
              </a:r>
              <a:endParaRPr lang="en-US" sz="1200" spc="0" kern="0" b="0" i="0" dirty="0">
                <a:solidFill>
                  <a:srgbClr val="070154"/>
                </a:solidFill>
                <a:latin typeface="IBM Plex Sans"/>
                <a:ea typeface="IBM Plex Sans"/>
                <a:cs typeface="IBM Plex Sans"/>
              </a:endParaRPr>
            </a:p>
          </p:txBody>
        </p:sp>
        <p:sp>
          <p:nvSpPr>
            <p:cNvPr id="32" name="node03.body.item-001.bullets.item-003.marker"/>
            <p:cNvSpPr/>
            <p:nvPr/>
          </p:nvSpPr>
          <p:spPr>
            <a:xfrm>
              <a:off x="8191500" y="2908300"/>
              <a:ext cx="38100" cy="38100"/>
            </a:xfrm>
            <a:prstGeom prst="rect">
              <a:avLst/>
            </a:prstGeom>
            <a:solidFill>
              <a:srgbClr val="070154"/>
            </a:solidFill>
            <a:ln>
              <a:noFill/>
            </a:ln>
          </p:spPr>
        </p:sp>
        <p:sp>
          <p:nvSpPr>
            <p:cNvPr id="33" name="node03.body.item-001.bullets.item-003.text"/>
            <p:cNvSpPr/>
            <p:nvPr/>
          </p:nvSpPr>
          <p:spPr>
            <a:xfrm>
              <a:off x="8343900" y="2819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Prefers phased cutover</a:t>
              </a:r>
              <a:endParaRPr lang="en-US" sz="1200" spc="0" kern="0" b="0" i="0" dirty="0">
                <a:solidFill>
                  <a:srgbClr val="070154"/>
                </a:solidFill>
                <a:latin typeface="IBM Plex Sans"/>
                <a:ea typeface="IBM Plex Sans"/>
                <a:cs typeface="IBM Plex Sans"/>
              </a:endParaRPr>
            </a:p>
          </p:txBody>
        </p:sp>
      </p:grpSp>
      <p:grpSp>
        <p:nvGrpSpPr>
          <p:cNvPr id="64" name="node04"/>
          <p:cNvGrpSpPr/>
          <p:nvPr/>
        </p:nvGrpSpPr>
        <p:grpSpPr>
          <a:xfrm>
            <a:off x="723900" y="3657600"/>
            <a:ext cx="3429000" cy="1828800"/>
            <a:chOff x="723900" y="3657600"/>
            <a:chExt cx="3429000" cy="1828800"/>
          </a:xfrm>
        </p:grpSpPr>
        <p:sp>
          <p:nvSpPr>
            <p:cNvPr id="34" name="node04.container"/>
            <p:cNvSpPr/>
            <p:nvPr/>
          </p:nvSpPr>
          <p:spPr>
            <a:xfrm>
              <a:off x="723900" y="3657600"/>
              <a:ext cx="3429000" cy="1828800"/>
            </a:xfrm>
            <a:prstGeom prst="rect">
              <a:avLst/>
            </a:prstGeom>
            <a:solidFill>
              <a:srgbClr val="E8EEF8"/>
            </a:solidFill>
            <a:ln>
              <a:noFill/>
            </a:ln>
          </p:spPr>
        </p:sp>
        <p:sp>
          <p:nvSpPr>
            <p:cNvPr id="35" name="node04.label"/>
            <p:cNvSpPr/>
            <p:nvPr/>
          </p:nvSpPr>
          <p:spPr>
            <a:xfrm>
              <a:off x="876300" y="38100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FINANCE</a:t>
              </a:r>
              <a:endParaRPr lang="en-US" sz="800" spc="48" kern="0" b="0" i="0" dirty="0">
                <a:solidFill>
                  <a:srgbClr val="0047FF"/>
                </a:solidFill>
                <a:latin typeface="IBM Plex Mono Medium"/>
                <a:ea typeface="IBM Plex Mono Medium"/>
                <a:cs typeface="IBM Plex Mono Medium"/>
              </a:endParaRPr>
            </a:p>
          </p:txBody>
        </p:sp>
        <p:sp>
          <p:nvSpPr>
            <p:cNvPr id="36" name="node04.title"/>
            <p:cNvSpPr/>
            <p:nvPr/>
          </p:nvSpPr>
          <p:spPr>
            <a:xfrm>
              <a:off x="876300" y="402590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 Brandt, CFO</a:t>
              </a:r>
              <a:endParaRPr lang="en-US" sz="1100" spc="0" kern="0" b="0" i="0" dirty="0">
                <a:solidFill>
                  <a:srgbClr val="070154"/>
                </a:solidFill>
                <a:latin typeface="IBM Plex Sans"/>
                <a:ea typeface="IBM Plex Sans"/>
                <a:cs typeface="IBM Plex Sans"/>
              </a:endParaRPr>
            </a:p>
          </p:txBody>
        </p:sp>
        <p:sp>
          <p:nvSpPr>
            <p:cNvPr id="37" name="node04.body.item-001.bullets.item-001.marker"/>
            <p:cNvSpPr/>
            <p:nvPr/>
          </p:nvSpPr>
          <p:spPr>
            <a:xfrm>
              <a:off x="876300" y="4457700"/>
              <a:ext cx="38100" cy="38100"/>
            </a:xfrm>
            <a:prstGeom prst="rect">
              <a:avLst/>
            </a:prstGeom>
            <a:solidFill>
              <a:srgbClr val="070154"/>
            </a:solidFill>
            <a:ln>
              <a:noFill/>
            </a:ln>
          </p:spPr>
        </p:sp>
        <p:sp>
          <p:nvSpPr>
            <p:cNvPr id="38" name="node04.body.item-001.bullets.item-001.text"/>
            <p:cNvSpPr/>
            <p:nvPr/>
          </p:nvSpPr>
          <p:spPr>
            <a:xfrm>
              <a:off x="1028700" y="4368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takes 12 days</a:t>
              </a:r>
              <a:endParaRPr lang="en-US" sz="1200" spc="0" kern="0" b="0" i="0" dirty="0">
                <a:solidFill>
                  <a:srgbClr val="070154"/>
                </a:solidFill>
                <a:latin typeface="IBM Plex Sans"/>
                <a:ea typeface="IBM Plex Sans"/>
                <a:cs typeface="IBM Plex Sans"/>
              </a:endParaRPr>
            </a:p>
          </p:txBody>
        </p:sp>
        <p:sp>
          <p:nvSpPr>
            <p:cNvPr id="39" name="node04.body.item-001.bullets.item-002.marker"/>
            <p:cNvSpPr/>
            <p:nvPr/>
          </p:nvSpPr>
          <p:spPr>
            <a:xfrm>
              <a:off x="876300" y="4711700"/>
              <a:ext cx="38100" cy="38100"/>
            </a:xfrm>
            <a:prstGeom prst="rect">
              <a:avLst/>
            </a:prstGeom>
            <a:solidFill>
              <a:srgbClr val="070154"/>
            </a:solidFill>
            <a:ln>
              <a:noFill/>
            </a:ln>
          </p:spPr>
        </p:sp>
        <p:sp>
          <p:nvSpPr>
            <p:cNvPr id="40" name="node04.body.item-001.bullets.item-002.text"/>
            <p:cNvSpPr/>
            <p:nvPr/>
          </p:nvSpPr>
          <p:spPr>
            <a:xfrm>
              <a:off x="1028700" y="4622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Sees denials as a cash lever</a:t>
              </a:r>
              <a:endParaRPr lang="en-US" sz="1200" spc="0" kern="0" b="0" i="0" dirty="0">
                <a:solidFill>
                  <a:srgbClr val="070154"/>
                </a:solidFill>
                <a:latin typeface="IBM Plex Sans"/>
                <a:ea typeface="IBM Plex Sans"/>
                <a:cs typeface="IBM Plex Sans"/>
              </a:endParaRPr>
            </a:p>
          </p:txBody>
        </p:sp>
        <p:sp>
          <p:nvSpPr>
            <p:cNvPr id="41" name="node04.body.item-001.bullets.item-003.marker"/>
            <p:cNvSpPr/>
            <p:nvPr/>
          </p:nvSpPr>
          <p:spPr>
            <a:xfrm>
              <a:off x="876300" y="4965700"/>
              <a:ext cx="38100" cy="38100"/>
            </a:xfrm>
            <a:prstGeom prst="rect">
              <a:avLst/>
            </a:prstGeom>
            <a:solidFill>
              <a:srgbClr val="070154"/>
            </a:solidFill>
            <a:ln>
              <a:noFill/>
            </a:ln>
          </p:spPr>
        </p:sp>
        <p:sp>
          <p:nvSpPr>
            <p:cNvPr id="42" name="node04.body.item-001.bullets.item-003.text"/>
            <p:cNvSpPr/>
            <p:nvPr/>
          </p:nvSpPr>
          <p:spPr>
            <a:xfrm>
              <a:off x="1028700" y="4876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Needs a case by January</a:t>
              </a:r>
              <a:endParaRPr lang="en-US" sz="1200" spc="0" kern="0" b="0" i="0" dirty="0">
                <a:solidFill>
                  <a:srgbClr val="070154"/>
                </a:solidFill>
                <a:latin typeface="IBM Plex Sans"/>
                <a:ea typeface="IBM Plex Sans"/>
                <a:cs typeface="IBM Plex Sans"/>
              </a:endParaRPr>
            </a:p>
          </p:txBody>
        </p:sp>
      </p:grpSp>
      <p:grpSp>
        <p:nvGrpSpPr>
          <p:cNvPr id="65" name="node05"/>
          <p:cNvGrpSpPr/>
          <p:nvPr/>
        </p:nvGrpSpPr>
        <p:grpSpPr>
          <a:xfrm>
            <a:off x="4381500" y="3657600"/>
            <a:ext cx="3429000" cy="1828800"/>
            <a:chOff x="4381500" y="3657600"/>
            <a:chExt cx="3429000" cy="1828800"/>
          </a:xfrm>
        </p:grpSpPr>
        <p:sp>
          <p:nvSpPr>
            <p:cNvPr id="43" name="node05.container"/>
            <p:cNvSpPr/>
            <p:nvPr/>
          </p:nvSpPr>
          <p:spPr>
            <a:xfrm>
              <a:off x="4381500" y="3657600"/>
              <a:ext cx="3429000" cy="1828800"/>
            </a:xfrm>
            <a:prstGeom prst="rect">
              <a:avLst/>
            </a:prstGeom>
            <a:solidFill>
              <a:srgbClr val="E8EEF8"/>
            </a:solidFill>
            <a:ln>
              <a:noFill/>
            </a:ln>
          </p:spPr>
        </p:sp>
        <p:sp>
          <p:nvSpPr>
            <p:cNvPr id="44" name="node05.label"/>
            <p:cNvSpPr/>
            <p:nvPr/>
          </p:nvSpPr>
          <p:spPr>
            <a:xfrm>
              <a:off x="4533900" y="38100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COMPLIANCE</a:t>
              </a:r>
              <a:endParaRPr lang="en-US" sz="800" spc="48" kern="0" b="0" i="0" dirty="0">
                <a:solidFill>
                  <a:srgbClr val="0047FF"/>
                </a:solidFill>
                <a:latin typeface="IBM Plex Mono Medium"/>
                <a:ea typeface="IBM Plex Mono Medium"/>
                <a:cs typeface="IBM Plex Mono Medium"/>
              </a:endParaRPr>
            </a:p>
          </p:txBody>
        </p:sp>
        <p:sp>
          <p:nvSpPr>
            <p:cNvPr id="45" name="node05.title"/>
            <p:cNvSpPr/>
            <p:nvPr/>
          </p:nvSpPr>
          <p:spPr>
            <a:xfrm>
              <a:off x="4533900" y="402590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K. Ito, Chief Compliance Officer</a:t>
              </a:r>
              <a:endParaRPr lang="en-US" sz="1100" spc="0" kern="0" b="0" i="0" dirty="0">
                <a:solidFill>
                  <a:srgbClr val="070154"/>
                </a:solidFill>
                <a:latin typeface="IBM Plex Sans"/>
                <a:ea typeface="IBM Plex Sans"/>
                <a:cs typeface="IBM Plex Sans"/>
              </a:endParaRPr>
            </a:p>
          </p:txBody>
        </p:sp>
        <p:sp>
          <p:nvSpPr>
            <p:cNvPr id="46" name="node05.body.item-001.bullets.item-001.marker"/>
            <p:cNvSpPr/>
            <p:nvPr/>
          </p:nvSpPr>
          <p:spPr>
            <a:xfrm>
              <a:off x="4533900" y="4457700"/>
              <a:ext cx="38100" cy="38100"/>
            </a:xfrm>
            <a:prstGeom prst="rect">
              <a:avLst/>
            </a:prstGeom>
            <a:solidFill>
              <a:srgbClr val="070154"/>
            </a:solidFill>
            <a:ln>
              <a:noFill/>
            </a:ln>
          </p:spPr>
        </p:sp>
        <p:sp>
          <p:nvSpPr>
            <p:cNvPr id="47" name="node05.body.item-001.bullets.item-001.text"/>
            <p:cNvSpPr/>
            <p:nvPr/>
          </p:nvSpPr>
          <p:spPr>
            <a:xfrm>
              <a:off x="4686300" y="4368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Audit findings repeat each year</a:t>
              </a:r>
              <a:endParaRPr lang="en-US" sz="1200" spc="0" kern="0" b="0" i="0" dirty="0">
                <a:solidFill>
                  <a:srgbClr val="070154"/>
                </a:solidFill>
                <a:latin typeface="IBM Plex Sans"/>
                <a:ea typeface="IBM Plex Sans"/>
                <a:cs typeface="IBM Plex Sans"/>
              </a:endParaRPr>
            </a:p>
          </p:txBody>
        </p:sp>
        <p:sp>
          <p:nvSpPr>
            <p:cNvPr id="48" name="node05.body.item-001.bullets.item-002.marker"/>
            <p:cNvSpPr/>
            <p:nvPr/>
          </p:nvSpPr>
          <p:spPr>
            <a:xfrm>
              <a:off x="4533900" y="4711700"/>
              <a:ext cx="38100" cy="38100"/>
            </a:xfrm>
            <a:prstGeom prst="rect">
              <a:avLst/>
            </a:prstGeom>
            <a:solidFill>
              <a:srgbClr val="070154"/>
            </a:solidFill>
            <a:ln>
              <a:noFill/>
            </a:ln>
          </p:spPr>
        </p:sp>
        <p:sp>
          <p:nvSpPr>
            <p:cNvPr id="49" name="node05.body.item-001.bullets.item-002.text"/>
            <p:cNvSpPr/>
            <p:nvPr/>
          </p:nvSpPr>
          <p:spPr>
            <a:xfrm>
              <a:off x="4686300" y="4622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Wants controls built in</a:t>
              </a:r>
              <a:endParaRPr lang="en-US" sz="1200" spc="0" kern="0" b="0" i="0" dirty="0">
                <a:solidFill>
                  <a:srgbClr val="070154"/>
                </a:solidFill>
                <a:latin typeface="IBM Plex Sans"/>
                <a:ea typeface="IBM Plex Sans"/>
                <a:cs typeface="IBM Plex Sans"/>
              </a:endParaRPr>
            </a:p>
          </p:txBody>
        </p:sp>
        <p:sp>
          <p:nvSpPr>
            <p:cNvPr id="50" name="node05.body.item-001.bullets.item-003.marker"/>
            <p:cNvSpPr/>
            <p:nvPr/>
          </p:nvSpPr>
          <p:spPr>
            <a:xfrm>
              <a:off x="4533900" y="4965700"/>
              <a:ext cx="38100" cy="38100"/>
            </a:xfrm>
            <a:prstGeom prst="rect">
              <a:avLst/>
            </a:prstGeom>
            <a:solidFill>
              <a:srgbClr val="070154"/>
            </a:solidFill>
            <a:ln>
              <a:noFill/>
            </a:ln>
          </p:spPr>
        </p:sp>
        <p:sp>
          <p:nvSpPr>
            <p:cNvPr id="51" name="node05.body.item-001.bullets.item-003.text"/>
            <p:cNvSpPr/>
            <p:nvPr/>
          </p:nvSpPr>
          <p:spPr>
            <a:xfrm>
              <a:off x="4686300" y="4876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to automation</a:t>
              </a:r>
              <a:endParaRPr lang="en-US" sz="1200" spc="0" kern="0" b="0" i="0" dirty="0">
                <a:solidFill>
                  <a:srgbClr val="070154"/>
                </a:solidFill>
                <a:latin typeface="IBM Plex Sans"/>
                <a:ea typeface="IBM Plex Sans"/>
                <a:cs typeface="IBM Plex Sans"/>
              </a:endParaRPr>
            </a:p>
          </p:txBody>
        </p:sp>
      </p:grpSp>
      <p:grpSp>
        <p:nvGrpSpPr>
          <p:cNvPr id="66" name="node06"/>
          <p:cNvGrpSpPr/>
          <p:nvPr/>
        </p:nvGrpSpPr>
        <p:grpSpPr>
          <a:xfrm>
            <a:off x="8039100" y="3657600"/>
            <a:ext cx="3429000" cy="1828800"/>
            <a:chOff x="8039100" y="3657600"/>
            <a:chExt cx="3429000" cy="1828800"/>
          </a:xfrm>
        </p:grpSpPr>
        <p:sp>
          <p:nvSpPr>
            <p:cNvPr id="52" name="node06.container"/>
            <p:cNvSpPr/>
            <p:nvPr/>
          </p:nvSpPr>
          <p:spPr>
            <a:xfrm>
              <a:off x="8039100" y="3657600"/>
              <a:ext cx="3429000" cy="1828800"/>
            </a:xfrm>
            <a:prstGeom prst="rect">
              <a:avLst/>
            </a:prstGeom>
            <a:solidFill>
              <a:srgbClr val="E8EEF8"/>
            </a:solidFill>
            <a:ln>
              <a:noFill/>
            </a:ln>
          </p:spPr>
        </p:sp>
        <p:sp>
          <p:nvSpPr>
            <p:cNvPr id="53" name="node06.label"/>
            <p:cNvSpPr/>
            <p:nvPr/>
          </p:nvSpPr>
          <p:spPr>
            <a:xfrm>
              <a:off x="8191500" y="38100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HIM</a:t>
              </a:r>
              <a:endParaRPr lang="en-US" sz="800" spc="48" kern="0" b="0" i="0" dirty="0">
                <a:solidFill>
                  <a:srgbClr val="0047FF"/>
                </a:solidFill>
                <a:latin typeface="IBM Plex Mono Medium"/>
                <a:ea typeface="IBM Plex Mono Medium"/>
                <a:cs typeface="IBM Plex Mono Medium"/>
              </a:endParaRPr>
            </a:p>
          </p:txBody>
        </p:sp>
        <p:sp>
          <p:nvSpPr>
            <p:cNvPr id="54" name="node06.title"/>
            <p:cNvSpPr/>
            <p:nvPr/>
          </p:nvSpPr>
          <p:spPr>
            <a:xfrm>
              <a:off x="8191500" y="402590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 Silva, Director</a:t>
              </a:r>
              <a:endParaRPr lang="en-US" sz="1100" spc="0" kern="0" b="0" i="0" dirty="0">
                <a:solidFill>
                  <a:srgbClr val="070154"/>
                </a:solidFill>
                <a:latin typeface="IBM Plex Sans"/>
                <a:ea typeface="IBM Plex Sans"/>
                <a:cs typeface="IBM Plex Sans"/>
              </a:endParaRPr>
            </a:p>
          </p:txBody>
        </p:sp>
        <p:sp>
          <p:nvSpPr>
            <p:cNvPr id="55" name="node06.body.item-001.bullets.item-001.marker"/>
            <p:cNvSpPr/>
            <p:nvPr/>
          </p:nvSpPr>
          <p:spPr>
            <a:xfrm>
              <a:off x="8191500" y="4457700"/>
              <a:ext cx="38100" cy="38100"/>
            </a:xfrm>
            <a:prstGeom prst="rect">
              <a:avLst/>
            </a:prstGeom>
            <a:solidFill>
              <a:srgbClr val="070154"/>
            </a:solidFill>
            <a:ln>
              <a:noFill/>
            </a:ln>
          </p:spPr>
        </p:sp>
        <p:sp>
          <p:nvSpPr>
            <p:cNvPr id="56" name="node06.body.item-001.bullets.item-001.text"/>
            <p:cNvSpPr/>
            <p:nvPr/>
          </p:nvSpPr>
          <p:spPr>
            <a:xfrm>
              <a:off x="8343900" y="4368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Coding backlog averages 9 days</a:t>
              </a:r>
              <a:endParaRPr lang="en-US" sz="1200" spc="0" kern="0" b="0" i="0" dirty="0">
                <a:solidFill>
                  <a:srgbClr val="070154"/>
                </a:solidFill>
                <a:latin typeface="IBM Plex Sans"/>
                <a:ea typeface="IBM Plex Sans"/>
                <a:cs typeface="IBM Plex Sans"/>
              </a:endParaRPr>
            </a:p>
          </p:txBody>
        </p:sp>
        <p:sp>
          <p:nvSpPr>
            <p:cNvPr id="57" name="node06.body.item-001.bullets.item-002.marker"/>
            <p:cNvSpPr/>
            <p:nvPr/>
          </p:nvSpPr>
          <p:spPr>
            <a:xfrm>
              <a:off x="8191500" y="4711700"/>
              <a:ext cx="38100" cy="38100"/>
            </a:xfrm>
            <a:prstGeom prst="rect">
              <a:avLst/>
            </a:prstGeom>
            <a:solidFill>
              <a:srgbClr val="070154"/>
            </a:solidFill>
            <a:ln>
              <a:noFill/>
            </a:ln>
          </p:spPr>
        </p:sp>
        <p:sp>
          <p:nvSpPr>
            <p:cNvPr id="58" name="node06.body.item-001.bullets.item-002.text"/>
            <p:cNvSpPr/>
            <p:nvPr/>
          </p:nvSpPr>
          <p:spPr>
            <a:xfrm>
              <a:off x="8343900" y="4622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Documentation gaps drive denials</a:t>
              </a:r>
              <a:endParaRPr lang="en-US" sz="1200" spc="0" kern="0" b="0" i="0" dirty="0">
                <a:solidFill>
                  <a:srgbClr val="070154"/>
                </a:solidFill>
                <a:latin typeface="IBM Plex Sans"/>
                <a:ea typeface="IBM Plex Sans"/>
                <a:cs typeface="IBM Plex Sans"/>
              </a:endParaRPr>
            </a:p>
          </p:txBody>
        </p:sp>
        <p:sp>
          <p:nvSpPr>
            <p:cNvPr id="59" name="node06.body.item-001.bullets.item-003.marker"/>
            <p:cNvSpPr/>
            <p:nvPr/>
          </p:nvSpPr>
          <p:spPr>
            <a:xfrm>
              <a:off x="8191500" y="4965700"/>
              <a:ext cx="38100" cy="38100"/>
            </a:xfrm>
            <a:prstGeom prst="rect">
              <a:avLst/>
            </a:prstGeom>
            <a:solidFill>
              <a:srgbClr val="070154"/>
            </a:solidFill>
            <a:ln>
              <a:noFill/>
            </a:ln>
          </p:spPr>
        </p:sp>
        <p:sp>
          <p:nvSpPr>
            <p:cNvPr id="60" name="node06.body.item-001.bullets.item-003.text"/>
            <p:cNvSpPr/>
            <p:nvPr/>
          </p:nvSpPr>
          <p:spPr>
            <a:xfrm>
              <a:off x="8343900" y="4876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Short two coders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ource-257">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What eight leaders told us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153</a:t>
            </a:fld>
            <a:endParaRPr lang="en-US" sz="700" spc="0" kern="0" b="0" i="0" dirty="0">
              <a:solidFill>
                <a:srgbClr val="070154"/>
              </a:solidFill>
              <a:latin typeface="IBM Plex Mono SemiBold"/>
              <a:ea typeface="IBM Plex Mono SemiBold"/>
              <a:cs typeface="IBM Plex Mono SemiBold"/>
            </a:endParaRPr>
          </a:p>
        </p:txBody>
      </p:sp>
      <p:grpSp>
        <p:nvGrpSpPr>
          <p:cNvPr id="36" name="node01"/>
          <p:cNvGrpSpPr/>
          <p:nvPr/>
        </p:nvGrpSpPr>
        <p:grpSpPr>
          <a:xfrm>
            <a:off x="723900" y="1600200"/>
            <a:ext cx="7086600" cy="1993900"/>
            <a:chOff x="723900" y="1600200"/>
            <a:chExt cx="7086600" cy="1993900"/>
          </a:xfrm>
        </p:grpSpPr>
        <p:sp>
          <p:nvSpPr>
            <p:cNvPr id="7" name="node01.source-001.bullet"/>
            <p:cNvSpPr/>
            <p:nvPr/>
          </p:nvSpPr>
          <p:spPr>
            <a:xfrm>
              <a:off x="723900" y="1689100"/>
              <a:ext cx="38100" cy="38100"/>
            </a:xfrm>
            <a:prstGeom prst="rect">
              <a:avLst/>
            </a:prstGeom>
            <a:solidFill>
              <a:srgbClr val="070154"/>
            </a:solidFill>
            <a:ln>
              <a:noFill/>
            </a:ln>
          </p:spPr>
        </p:sp>
        <p:sp>
          <p:nvSpPr>
            <p:cNvPr id="8" name="node01.source-001.text"/>
            <p:cNvSpPr/>
            <p:nvPr/>
          </p:nvSpPr>
          <p:spPr>
            <a:xfrm>
              <a:off x="876300" y="16002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J. Alvarez, VP Revenue Cycle.</a:t>
              </a:r>
              <a:r>
                <a:rPr lang="en-US" sz="1200" spc="0" kern="0" b="0" i="0" dirty="0">
                  <a:solidFill>
                    <a:srgbClr val="50658E"/>
                  </a:solidFill>
                  <a:latin typeface="IBM Plex Sans"/>
                  <a:ea typeface="IBM Plex Sans"/>
                  <a:cs typeface="IBM Plex Sans"/>
                </a:rPr>
                <a:t xml:space="preserve"> Denials start at authorization; rework after day 30 is manual.</a:t>
              </a:r>
              <a:endParaRPr lang="en-US" sz="1200" spc="0" kern="0" b="0" i="0" dirty="0">
                <a:solidFill>
                  <a:srgbClr val="070154"/>
                </a:solidFill>
                <a:latin typeface="IBM Plex Sans"/>
                <a:ea typeface="IBM Plex Sans"/>
                <a:cs typeface="IBM Plex Sans"/>
              </a:endParaRPr>
            </a:p>
          </p:txBody>
        </p:sp>
        <p:sp>
          <p:nvSpPr>
            <p:cNvPr id="9" name="node01.source-002.bullet"/>
            <p:cNvSpPr/>
            <p:nvPr/>
          </p:nvSpPr>
          <p:spPr>
            <a:xfrm>
              <a:off x="723900" y="1943100"/>
              <a:ext cx="38100" cy="38100"/>
            </a:xfrm>
            <a:prstGeom prst="rect">
              <a:avLst/>
            </a:prstGeom>
            <a:solidFill>
              <a:srgbClr val="070154"/>
            </a:solidFill>
            <a:ln>
              <a:noFill/>
            </a:ln>
          </p:spPr>
        </p:sp>
        <p:sp>
          <p:nvSpPr>
            <p:cNvPr id="10" name="node01.source-002.text"/>
            <p:cNvSpPr/>
            <p:nvPr/>
          </p:nvSpPr>
          <p:spPr>
            <a:xfrm>
              <a:off x="876300" y="18542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M. Chen, Patient Access.</a:t>
              </a:r>
              <a:r>
                <a:rPr lang="en-US" sz="1200" spc="0" kern="0" b="0" i="0" dirty="0">
                  <a:solidFill>
                    <a:srgbClr val="50658E"/>
                  </a:solidFill>
                  <a:latin typeface="IBM Plex Sans"/>
                  <a:ea typeface="IBM Plex Sans"/>
                  <a:cs typeface="IBM Plex Sans"/>
                </a:rPr>
                <a:t xml:space="preserve"> Registration errors begin at the front desk; three scheduling tools.</a:t>
              </a:r>
              <a:endParaRPr lang="en-US" sz="1200" spc="0" kern="0" b="0" i="0" dirty="0">
                <a:solidFill>
                  <a:srgbClr val="070154"/>
                </a:solidFill>
                <a:latin typeface="IBM Plex Sans"/>
                <a:ea typeface="IBM Plex Sans"/>
                <a:cs typeface="IBM Plex Sans"/>
              </a:endParaRPr>
            </a:p>
          </p:txBody>
        </p:sp>
        <p:sp>
          <p:nvSpPr>
            <p:cNvPr id="11" name="node01.source-003.bullet"/>
            <p:cNvSpPr/>
            <p:nvPr/>
          </p:nvSpPr>
          <p:spPr>
            <a:xfrm>
              <a:off x="723900" y="2197100"/>
              <a:ext cx="38100" cy="38100"/>
            </a:xfrm>
            <a:prstGeom prst="rect">
              <a:avLst/>
            </a:prstGeom>
            <a:solidFill>
              <a:srgbClr val="070154"/>
            </a:solidFill>
            <a:ln>
              <a:noFill/>
            </a:ln>
          </p:spPr>
        </p:sp>
        <p:sp>
          <p:nvSpPr>
            <p:cNvPr id="12" name="node01.source-003.text"/>
            <p:cNvSpPr/>
            <p:nvPr/>
          </p:nvSpPr>
          <p:spPr>
            <a:xfrm>
              <a:off x="876300" y="21082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 Okafor, CIO.</a:t>
              </a:r>
              <a:r>
                <a:rPr lang="en-US" sz="1200" spc="0" kern="0" b="0" i="0" dirty="0">
                  <a:solidFill>
                    <a:srgbClr val="50658E"/>
                  </a:solidFill>
                  <a:latin typeface="IBM Plex Sans"/>
                  <a:ea typeface="IBM Plex Sans"/>
                  <a:cs typeface="IBM Plex Sans"/>
                </a:rPr>
                <a:t xml:space="preserve"> Two platforms near end of support; integration is the main risk.</a:t>
              </a:r>
              <a:endParaRPr lang="en-US" sz="1200" spc="0" kern="0" b="0" i="0" dirty="0">
                <a:solidFill>
                  <a:srgbClr val="070154"/>
                </a:solidFill>
                <a:latin typeface="IBM Plex Sans"/>
                <a:ea typeface="IBM Plex Sans"/>
                <a:cs typeface="IBM Plex Sans"/>
              </a:endParaRPr>
            </a:p>
          </p:txBody>
        </p:sp>
        <p:sp>
          <p:nvSpPr>
            <p:cNvPr id="13" name="node01.source-004.bullet"/>
            <p:cNvSpPr/>
            <p:nvPr/>
          </p:nvSpPr>
          <p:spPr>
            <a:xfrm>
              <a:off x="723900" y="2451100"/>
              <a:ext cx="38100" cy="38100"/>
            </a:xfrm>
            <a:prstGeom prst="rect">
              <a:avLst/>
            </a:prstGeom>
            <a:solidFill>
              <a:srgbClr val="070154"/>
            </a:solidFill>
            <a:ln>
              <a:noFill/>
            </a:ln>
          </p:spPr>
        </p:sp>
        <p:sp>
          <p:nvSpPr>
            <p:cNvPr id="14" name="node01.source-004.text"/>
            <p:cNvSpPr/>
            <p:nvPr/>
          </p:nvSpPr>
          <p:spPr>
            <a:xfrm>
              <a:off x="876300" y="23622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L. Brandt, CFO.</a:t>
              </a:r>
              <a:r>
                <a:rPr lang="en-US" sz="1200" spc="0" kern="0" b="0" i="0" dirty="0">
                  <a:solidFill>
                    <a:srgbClr val="50658E"/>
                  </a:solidFill>
                  <a:latin typeface="IBM Plex Sans"/>
                  <a:ea typeface="IBM Plex Sans"/>
                  <a:cs typeface="IBM Plex Sans"/>
                </a:rPr>
                <a:t xml:space="preserve"> Close takes 12 days; wants a funded case by January.</a:t>
              </a:r>
              <a:endParaRPr lang="en-US" sz="1200" spc="0" kern="0" b="0" i="0" dirty="0">
                <a:solidFill>
                  <a:srgbClr val="070154"/>
                </a:solidFill>
                <a:latin typeface="IBM Plex Sans"/>
                <a:ea typeface="IBM Plex Sans"/>
                <a:cs typeface="IBM Plex Sans"/>
              </a:endParaRPr>
            </a:p>
          </p:txBody>
        </p:sp>
        <p:sp>
          <p:nvSpPr>
            <p:cNvPr id="15" name="node01.source-005.bullet"/>
            <p:cNvSpPr/>
            <p:nvPr/>
          </p:nvSpPr>
          <p:spPr>
            <a:xfrm>
              <a:off x="723900" y="2705100"/>
              <a:ext cx="38100" cy="38100"/>
            </a:xfrm>
            <a:prstGeom prst="rect">
              <a:avLst/>
            </a:prstGeom>
            <a:solidFill>
              <a:srgbClr val="070154"/>
            </a:solidFill>
            <a:ln>
              <a:noFill/>
            </a:ln>
          </p:spPr>
        </p:sp>
        <p:sp>
          <p:nvSpPr>
            <p:cNvPr id="16" name="node01.source-005.text"/>
            <p:cNvSpPr/>
            <p:nvPr/>
          </p:nvSpPr>
          <p:spPr>
            <a:xfrm>
              <a:off x="876300" y="26162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K. Ito, Compliance.</a:t>
              </a:r>
              <a:r>
                <a:rPr lang="en-US" sz="1200" spc="0" kern="0" b="0" i="0" dirty="0">
                  <a:solidFill>
                    <a:srgbClr val="50658E"/>
                  </a:solidFill>
                  <a:latin typeface="IBM Plex Sans"/>
                  <a:ea typeface="IBM Plex Sans"/>
                  <a:cs typeface="IBM Plex Sans"/>
                </a:rPr>
                <a:t xml:space="preserve"> Audit findings repeat; wants controls built into workflow.</a:t>
              </a:r>
              <a:endParaRPr lang="en-US" sz="1200" spc="0" kern="0" b="0" i="0" dirty="0">
                <a:solidFill>
                  <a:srgbClr val="070154"/>
                </a:solidFill>
                <a:latin typeface="IBM Plex Sans"/>
                <a:ea typeface="IBM Plex Sans"/>
                <a:cs typeface="IBM Plex Sans"/>
              </a:endParaRPr>
            </a:p>
          </p:txBody>
        </p:sp>
        <p:sp>
          <p:nvSpPr>
            <p:cNvPr id="17" name="node01.source-006.bullet"/>
            <p:cNvSpPr/>
            <p:nvPr/>
          </p:nvSpPr>
          <p:spPr>
            <a:xfrm>
              <a:off x="723900" y="2959100"/>
              <a:ext cx="38100" cy="38100"/>
            </a:xfrm>
            <a:prstGeom prst="rect">
              <a:avLst/>
            </a:prstGeom>
            <a:solidFill>
              <a:srgbClr val="070154"/>
            </a:solidFill>
            <a:ln>
              <a:noFill/>
            </a:ln>
          </p:spPr>
        </p:sp>
        <p:sp>
          <p:nvSpPr>
            <p:cNvPr id="18" name="node01.source-006.text"/>
            <p:cNvSpPr/>
            <p:nvPr/>
          </p:nvSpPr>
          <p:spPr>
            <a:xfrm>
              <a:off x="876300" y="28702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 Silva, HIM.</a:t>
              </a:r>
              <a:r>
                <a:rPr lang="en-US" sz="1200" spc="0" kern="0" b="0" i="0" dirty="0">
                  <a:solidFill>
                    <a:srgbClr val="50658E"/>
                  </a:solidFill>
                  <a:latin typeface="IBM Plex Sans"/>
                  <a:ea typeface="IBM Plex Sans"/>
                  <a:cs typeface="IBM Plex Sans"/>
                </a:rPr>
                <a:t xml:space="preserve"> Coding backlog averages 9 days; short two coders.</a:t>
              </a:r>
              <a:endParaRPr lang="en-US" sz="1200" spc="0" kern="0" b="0" i="0" dirty="0">
                <a:solidFill>
                  <a:srgbClr val="070154"/>
                </a:solidFill>
                <a:latin typeface="IBM Plex Sans"/>
                <a:ea typeface="IBM Plex Sans"/>
                <a:cs typeface="IBM Plex Sans"/>
              </a:endParaRPr>
            </a:p>
          </p:txBody>
        </p:sp>
        <p:sp>
          <p:nvSpPr>
            <p:cNvPr id="19" name="node01.source-007.bullet"/>
            <p:cNvSpPr/>
            <p:nvPr/>
          </p:nvSpPr>
          <p:spPr>
            <a:xfrm>
              <a:off x="723900" y="3213100"/>
              <a:ext cx="38100" cy="38100"/>
            </a:xfrm>
            <a:prstGeom prst="rect">
              <a:avLst/>
            </a:prstGeom>
            <a:solidFill>
              <a:srgbClr val="070154"/>
            </a:solidFill>
            <a:ln>
              <a:noFill/>
            </a:ln>
          </p:spPr>
        </p:sp>
        <p:sp>
          <p:nvSpPr>
            <p:cNvPr id="20" name="node01.source-007.text"/>
            <p:cNvSpPr/>
            <p:nvPr/>
          </p:nvSpPr>
          <p:spPr>
            <a:xfrm>
              <a:off x="876300" y="31242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T. Wallace, Clinical Ops.</a:t>
              </a:r>
              <a:r>
                <a:rPr lang="en-US" sz="1200" spc="0" kern="0" b="0" i="0" dirty="0">
                  <a:solidFill>
                    <a:srgbClr val="50658E"/>
                  </a:solidFill>
                  <a:latin typeface="IBM Plex Sans"/>
                  <a:ea typeface="IBM Plex Sans"/>
                  <a:cs typeface="IBM Plex Sans"/>
                </a:rPr>
                <a:t xml:space="preserve"> Staffing by unit varies; nurses re-key charge data.</a:t>
              </a:r>
              <a:endParaRPr lang="en-US" sz="1200" spc="0" kern="0" b="0" i="0" dirty="0">
                <a:solidFill>
                  <a:srgbClr val="070154"/>
                </a:solidFill>
                <a:latin typeface="IBM Plex Sans"/>
                <a:ea typeface="IBM Plex Sans"/>
                <a:cs typeface="IBM Plex Sans"/>
              </a:endParaRPr>
            </a:p>
          </p:txBody>
        </p:sp>
        <p:sp>
          <p:nvSpPr>
            <p:cNvPr id="21" name="node01.source-008.bullet"/>
            <p:cNvSpPr/>
            <p:nvPr/>
          </p:nvSpPr>
          <p:spPr>
            <a:xfrm>
              <a:off x="723900" y="3467100"/>
              <a:ext cx="38100" cy="38100"/>
            </a:xfrm>
            <a:prstGeom prst="rect">
              <a:avLst/>
            </a:prstGeom>
            <a:solidFill>
              <a:srgbClr val="070154"/>
            </a:solidFill>
            <a:ln>
              <a:noFill/>
            </a:ln>
          </p:spPr>
        </p:sp>
        <p:sp>
          <p:nvSpPr>
            <p:cNvPr id="22" name="node01.source-008.text"/>
            <p:cNvSpPr/>
            <p:nvPr/>
          </p:nvSpPr>
          <p:spPr>
            <a:xfrm>
              <a:off x="876300" y="33782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 Moreau, Controller.</a:t>
              </a:r>
              <a:r>
                <a:rPr lang="en-US" sz="1200" spc="0" kern="0" b="0" i="0" dirty="0">
                  <a:solidFill>
                    <a:srgbClr val="50658E"/>
                  </a:solidFill>
                  <a:latin typeface="IBM Plex Sans"/>
                  <a:ea typeface="IBM Plex Sans"/>
                  <a:cs typeface="IBM Plex Sans"/>
                </a:rPr>
                <a:t xml:space="preserve"> Manual journals at close; reconciliation lags a week.</a:t>
              </a:r>
              <a:endParaRPr lang="en-US" sz="1200" spc="0" kern="0" b="0" i="0" dirty="0">
                <a:solidFill>
                  <a:srgbClr val="070154"/>
                </a:solidFill>
                <a:latin typeface="IBM Plex Sans"/>
                <a:ea typeface="IBM Plex Sans"/>
                <a:cs typeface="IBM Plex Sans"/>
              </a:endParaRPr>
            </a:p>
          </p:txBody>
        </p:sp>
      </p:grpSp>
      <p:grpSp>
        <p:nvGrpSpPr>
          <p:cNvPr id="37" name="node02"/>
          <p:cNvGrpSpPr/>
          <p:nvPr/>
        </p:nvGrpSpPr>
        <p:grpSpPr>
          <a:xfrm>
            <a:off x="723900" y="4343400"/>
            <a:ext cx="7086600" cy="1371600"/>
            <a:chOff x="723900" y="4343400"/>
            <a:chExt cx="7086600" cy="1371600"/>
          </a:xfrm>
        </p:grpSpPr>
        <p:sp>
          <p:nvSpPr>
            <p:cNvPr id="23" name="node02.container"/>
            <p:cNvSpPr/>
            <p:nvPr/>
          </p:nvSpPr>
          <p:spPr>
            <a:xfrm>
              <a:off x="723900" y="4343400"/>
              <a:ext cx="7086600" cy="1371600"/>
            </a:xfrm>
            <a:prstGeom prst="rect">
              <a:avLst/>
            </a:prstGeom>
            <a:solidFill>
              <a:srgbClr val="E8EEF8"/>
            </a:solidFill>
            <a:ln>
              <a:noFill/>
            </a:ln>
          </p:spPr>
        </p:sp>
        <p:sp>
          <p:nvSpPr>
            <p:cNvPr id="24" name="node02.label"/>
            <p:cNvSpPr/>
            <p:nvPr/>
          </p:nvSpPr>
          <p:spPr>
            <a:xfrm>
              <a:off x="876300" y="4495800"/>
              <a:ext cx="678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HOW TO READ THIS</a:t>
              </a:r>
              <a:endParaRPr lang="en-US" sz="800" spc="48" kern="0" b="0" i="0" dirty="0">
                <a:solidFill>
                  <a:srgbClr val="0047FF"/>
                </a:solidFill>
                <a:latin typeface="IBM Plex Mono Medium"/>
                <a:ea typeface="IBM Plex Mono Medium"/>
                <a:cs typeface="IBM Plex Mono Medium"/>
              </a:endParaRPr>
            </a:p>
          </p:txBody>
        </p:sp>
        <p:sp>
          <p:nvSpPr>
            <p:cNvPr id="25" name="node02.title"/>
            <p:cNvSpPr/>
            <p:nvPr/>
          </p:nvSpPr>
          <p:spPr>
            <a:xfrm>
              <a:off x="876300" y="4711700"/>
              <a:ext cx="678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Four of eight put authorization and registration first</a:t>
              </a:r>
              <a:endParaRPr lang="en-US" sz="1600" spc="-16" kern="0" b="0" i="0" dirty="0">
                <a:solidFill>
                  <a:srgbClr val="070154"/>
                </a:solidFill>
                <a:latin typeface="IBM Plex Sans SemiBold"/>
                <a:ea typeface="IBM Plex Sans SemiBold"/>
                <a:cs typeface="IBM Plex Sans SemiBold"/>
              </a:endParaRPr>
            </a:p>
          </p:txBody>
        </p:sp>
        <p:sp>
          <p:nvSpPr>
            <p:cNvPr id="26" name="node02.body.item-001.paragraph"/>
            <p:cNvSpPr/>
            <p:nvPr/>
          </p:nvSpPr>
          <p:spPr>
            <a:xfrm>
              <a:off x="876300" y="5130800"/>
              <a:ext cx="6781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Finance, IT and compliance want a funded case, a phased cutover and built-in controls before any tool change.</a:t>
              </a:r>
              <a:endParaRPr lang="en-US" sz="1200" spc="0" kern="0" b="0" i="0" dirty="0">
                <a:solidFill>
                  <a:srgbClr val="50658E"/>
                </a:solidFill>
                <a:latin typeface="IBM Plex Sans"/>
                <a:ea typeface="IBM Plex Sans"/>
                <a:cs typeface="IBM Plex Sans"/>
              </a:endParaRPr>
            </a:p>
          </p:txBody>
        </p:sp>
      </p:grpSp>
      <p:grpSp>
        <p:nvGrpSpPr>
          <p:cNvPr id="38" name="node03"/>
          <p:cNvGrpSpPr/>
          <p:nvPr/>
        </p:nvGrpSpPr>
        <p:grpSpPr>
          <a:xfrm>
            <a:off x="8039100" y="457200"/>
            <a:ext cx="3429000" cy="1600200"/>
            <a:chOff x="8039100" y="457200"/>
            <a:chExt cx="3429000" cy="1600200"/>
          </a:xfrm>
        </p:grpSpPr>
        <p:sp>
          <p:nvSpPr>
            <p:cNvPr id="27" name="node03.container"/>
            <p:cNvSpPr/>
            <p:nvPr/>
          </p:nvSpPr>
          <p:spPr>
            <a:xfrm>
              <a:off x="8039100" y="457200"/>
              <a:ext cx="3429000" cy="1600200"/>
            </a:xfrm>
            <a:prstGeom prst="rect">
              <a:avLst/>
            </a:prstGeom>
            <a:solidFill>
              <a:srgbClr val="E8EEF8"/>
            </a:solidFill>
            <a:ln>
              <a:noFill/>
            </a:ln>
          </p:spPr>
        </p:sp>
        <p:sp>
          <p:nvSpPr>
            <p:cNvPr id="28" name="node03.metric.value"/>
            <p:cNvSpPr/>
            <p:nvPr/>
          </p:nvSpPr>
          <p:spPr>
            <a:xfrm>
              <a:off x="8191500" y="609600"/>
              <a:ext cx="3124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4 of 8</a:t>
              </a:r>
              <a:endParaRPr lang="en-US" sz="4000" spc="-80" kern="0" b="0" i="0" dirty="0">
                <a:solidFill>
                  <a:srgbClr val="070154"/>
                </a:solidFill>
                <a:latin typeface="IBM Plex Mono SemiBold"/>
                <a:ea typeface="IBM Plex Mono SemiBold"/>
                <a:cs typeface="IBM Plex Mono SemiBold"/>
              </a:endParaRPr>
            </a:p>
          </p:txBody>
        </p:sp>
        <p:sp>
          <p:nvSpPr>
            <p:cNvPr id="29" name="node03.metric.label"/>
            <p:cNvSpPr/>
            <p:nvPr/>
          </p:nvSpPr>
          <p:spPr>
            <a:xfrm>
              <a:off x="8191500" y="1195769"/>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name authorization and registration quality as the first fix</a:t>
              </a:r>
              <a:endParaRPr lang="en-US" sz="1200" spc="0" kern="0" b="0" i="0" dirty="0">
                <a:solidFill>
                  <a:srgbClr val="50658E"/>
                </a:solidFill>
                <a:latin typeface="IBM Plex Sans"/>
                <a:ea typeface="IBM Plex Sans"/>
                <a:cs typeface="IBM Plex Sans"/>
              </a:endParaRPr>
            </a:p>
          </p:txBody>
        </p:sp>
      </p:grpSp>
      <p:grpSp>
        <p:nvGrpSpPr>
          <p:cNvPr id="39" name="node04"/>
          <p:cNvGrpSpPr/>
          <p:nvPr/>
        </p:nvGrpSpPr>
        <p:grpSpPr>
          <a:xfrm>
            <a:off x="8039100" y="2286000"/>
            <a:ext cx="3429000" cy="1600200"/>
            <a:chOff x="8039100" y="2286000"/>
            <a:chExt cx="3429000" cy="1600200"/>
          </a:xfrm>
        </p:grpSpPr>
        <p:sp>
          <p:nvSpPr>
            <p:cNvPr id="30" name="node04.container"/>
            <p:cNvSpPr/>
            <p:nvPr/>
          </p:nvSpPr>
          <p:spPr>
            <a:xfrm>
              <a:off x="8039100" y="2286000"/>
              <a:ext cx="3429000" cy="1600200"/>
            </a:xfrm>
            <a:prstGeom prst="rect">
              <a:avLst/>
            </a:prstGeom>
            <a:solidFill>
              <a:srgbClr val="E8EEF8"/>
            </a:solidFill>
            <a:ln>
              <a:noFill/>
            </a:ln>
          </p:spPr>
        </p:sp>
        <p:sp>
          <p:nvSpPr>
            <p:cNvPr id="31" name="node04.metric.value"/>
            <p:cNvSpPr/>
            <p:nvPr/>
          </p:nvSpPr>
          <p:spPr>
            <a:xfrm>
              <a:off x="8191500" y="2438400"/>
              <a:ext cx="3124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3 of 8</a:t>
              </a:r>
              <a:endParaRPr lang="en-US" sz="4000" spc="-80" kern="0" b="0" i="0" dirty="0">
                <a:solidFill>
                  <a:srgbClr val="070154"/>
                </a:solidFill>
                <a:latin typeface="IBM Plex Mono SemiBold"/>
                <a:ea typeface="IBM Plex Mono SemiBold"/>
                <a:cs typeface="IBM Plex Mono SemiBold"/>
              </a:endParaRPr>
            </a:p>
          </p:txBody>
        </p:sp>
        <p:sp>
          <p:nvSpPr>
            <p:cNvPr id="32" name="node04.metric.label"/>
            <p:cNvSpPr/>
            <p:nvPr/>
          </p:nvSpPr>
          <p:spPr>
            <a:xfrm>
              <a:off x="8191500" y="3024569"/>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want controls and automation built into the workflow</a:t>
              </a:r>
              <a:endParaRPr lang="en-US" sz="1200" spc="0" kern="0" b="0" i="0" dirty="0">
                <a:solidFill>
                  <a:srgbClr val="50658E"/>
                </a:solidFill>
                <a:latin typeface="IBM Plex Sans"/>
                <a:ea typeface="IBM Plex Sans"/>
                <a:cs typeface="IBM Plex Sans"/>
              </a:endParaRPr>
            </a:p>
          </p:txBody>
        </p:sp>
      </p:grpSp>
      <p:grpSp>
        <p:nvGrpSpPr>
          <p:cNvPr id="40" name="node05"/>
          <p:cNvGrpSpPr/>
          <p:nvPr/>
        </p:nvGrpSpPr>
        <p:grpSpPr>
          <a:xfrm>
            <a:off x="8039100" y="4114800"/>
            <a:ext cx="3429000" cy="1600200"/>
            <a:chOff x="8039100" y="4114800"/>
            <a:chExt cx="3429000" cy="1600200"/>
          </a:xfrm>
        </p:grpSpPr>
        <p:sp>
          <p:nvSpPr>
            <p:cNvPr id="33" name="node05.container"/>
            <p:cNvSpPr/>
            <p:nvPr/>
          </p:nvSpPr>
          <p:spPr>
            <a:xfrm>
              <a:off x="8039100" y="4114800"/>
              <a:ext cx="3429000" cy="1600200"/>
            </a:xfrm>
            <a:prstGeom prst="rect">
              <a:avLst/>
            </a:prstGeom>
            <a:solidFill>
              <a:srgbClr val="E8EEF8"/>
            </a:solidFill>
            <a:ln>
              <a:noFill/>
            </a:ln>
          </p:spPr>
        </p:sp>
        <p:sp>
          <p:nvSpPr>
            <p:cNvPr id="34" name="node05.metric.value"/>
            <p:cNvSpPr/>
            <p:nvPr/>
          </p:nvSpPr>
          <p:spPr>
            <a:xfrm>
              <a:off x="8191500" y="4267200"/>
              <a:ext cx="3124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2 of 8</a:t>
              </a:r>
              <a:endParaRPr lang="en-US" sz="4000" spc="-80" kern="0" b="0" i="0" dirty="0">
                <a:solidFill>
                  <a:srgbClr val="070154"/>
                </a:solidFill>
                <a:latin typeface="IBM Plex Mono SemiBold"/>
                <a:ea typeface="IBM Plex Mono SemiBold"/>
                <a:cs typeface="IBM Plex Mono SemiBold"/>
              </a:endParaRPr>
            </a:p>
          </p:txBody>
        </p:sp>
        <p:sp>
          <p:nvSpPr>
            <p:cNvPr id="35" name="node05.metric.label"/>
            <p:cNvSpPr/>
            <p:nvPr/>
          </p:nvSpPr>
          <p:spPr>
            <a:xfrm>
              <a:off x="8191500" y="4853369"/>
              <a:ext cx="312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need a funded case before January</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ource-24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Fifteen more interviews run in three waves through October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154</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2057400"/>
            <a:ext cx="3429000" cy="3657600"/>
            <a:chOff x="723900" y="2057400"/>
            <a:chExt cx="3429000" cy="3657600"/>
          </a:xfrm>
        </p:grpSpPr>
        <p:sp>
          <p:nvSpPr>
            <p:cNvPr id="7" name="node01.container"/>
            <p:cNvSpPr/>
            <p:nvPr/>
          </p:nvSpPr>
          <p:spPr>
            <a:xfrm>
              <a:off x="730250" y="2063750"/>
              <a:ext cx="3416300" cy="3644900"/>
            </a:xfrm>
            <a:prstGeom prst="rect">
              <a:avLst/>
            </a:prstGeom>
            <a:solidFill>
              <a:srgbClr val="FFFFFF"/>
            </a:solidFill>
            <a:ln w="12700">
              <a:solidFill>
                <a:srgbClr val="CED7E6"/>
              </a:solidFill>
              <a:prstDash val="solid"/>
            </a:ln>
          </p:spPr>
        </p:sp>
        <p:sp>
          <p:nvSpPr>
            <p:cNvPr id="8" name="node01.band"/>
            <p:cNvSpPr/>
            <p:nvPr/>
          </p:nvSpPr>
          <p:spPr>
            <a:xfrm>
              <a:off x="723900" y="2057400"/>
              <a:ext cx="3429000" cy="787400"/>
            </a:xfrm>
            <a:prstGeom prst="rect">
              <a:avLst/>
            </a:prstGeom>
            <a:solidFill>
              <a:srgbClr val="070154"/>
            </a:solidFill>
            <a:ln>
              <a:noFill/>
            </a:ln>
          </p:spPr>
        </p:sp>
        <p:sp>
          <p:nvSpPr>
            <p:cNvPr id="9" name="node01.label"/>
            <p:cNvSpPr/>
            <p:nvPr/>
          </p:nvSpPr>
          <p:spPr>
            <a:xfrm>
              <a:off x="876300" y="2209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BY OCT 16</a:t>
              </a:r>
              <a:endParaRPr lang="en-US" sz="800" spc="48" kern="0" b="0" i="0" dirty="0">
                <a:solidFill>
                  <a:srgbClr val="F900D3"/>
                </a:solidFill>
                <a:latin typeface="IBM Plex Mono Medium"/>
                <a:ea typeface="IBM Plex Mono Medium"/>
                <a:cs typeface="IBM Plex Mono Medium"/>
              </a:endParaRPr>
            </a:p>
          </p:txBody>
        </p:sp>
        <p:sp>
          <p:nvSpPr>
            <p:cNvPr id="10" name="node01.title"/>
            <p:cNvSpPr/>
            <p:nvPr/>
          </p:nvSpPr>
          <p:spPr>
            <a:xfrm>
              <a:off x="876300" y="24257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Wave 1 · Executives</a:t>
              </a:r>
              <a:endParaRPr lang="en-US" sz="1600" spc="-16" kern="0" b="0" i="0" dirty="0">
                <a:solidFill>
                  <a:srgbClr val="FFFFFF"/>
                </a:solidFill>
                <a:latin typeface="IBM Plex Sans SemiBold"/>
                <a:ea typeface="IBM Plex Sans SemiBold"/>
                <a:cs typeface="IBM Plex Sans SemiBold"/>
              </a:endParaRPr>
            </a:p>
          </p:txBody>
        </p:sp>
        <p:sp>
          <p:nvSpPr>
            <p:cNvPr id="11" name="node01.body.item-001.bullets.item-001.marker"/>
            <p:cNvSpPr/>
            <p:nvPr/>
          </p:nvSpPr>
          <p:spPr>
            <a:xfrm>
              <a:off x="876300" y="2933700"/>
              <a:ext cx="38100" cy="38100"/>
            </a:xfrm>
            <a:prstGeom prst="rect">
              <a:avLst/>
            </a:prstGeom>
            <a:solidFill>
              <a:srgbClr val="070154"/>
            </a:solidFill>
            <a:ln>
              <a:noFill/>
            </a:ln>
          </p:spPr>
        </p:sp>
        <p:sp>
          <p:nvSpPr>
            <p:cNvPr id="12" name="node01.body.item-001.bullets.item-001.text"/>
            <p:cNvSpPr/>
            <p:nvPr/>
          </p:nvSpPr>
          <p:spPr>
            <a:xfrm>
              <a:off x="1028700" y="2844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Chief Nursing Officer</a:t>
              </a:r>
              <a:endParaRPr lang="en-US" sz="1200" spc="0" kern="0" b="0" i="0" dirty="0">
                <a:solidFill>
                  <a:srgbClr val="070154"/>
                </a:solidFill>
                <a:latin typeface="IBM Plex Sans"/>
                <a:ea typeface="IBM Plex Sans"/>
                <a:cs typeface="IBM Plex Sans"/>
              </a:endParaRPr>
            </a:p>
          </p:txBody>
        </p:sp>
        <p:sp>
          <p:nvSpPr>
            <p:cNvPr id="13" name="node01.body.item-001.bullets.item-001.sub.item-001.marker"/>
            <p:cNvSpPr/>
            <p:nvPr/>
          </p:nvSpPr>
          <p:spPr>
            <a:xfrm>
              <a:off x="1028700" y="3187700"/>
              <a:ext cx="38100" cy="38100"/>
            </a:xfrm>
            <a:prstGeom prst="rect">
              <a:avLst/>
            </a:prstGeom>
            <a:solidFill>
              <a:srgbClr val="070154"/>
            </a:solidFill>
            <a:ln>
              <a:noFill/>
            </a:ln>
          </p:spPr>
        </p:sp>
        <p:sp>
          <p:nvSpPr>
            <p:cNvPr id="14" name="node01.body.item-001.bullets.item-001.sub.item-001.text"/>
            <p:cNvSpPr/>
            <p:nvPr/>
          </p:nvSpPr>
          <p:spPr>
            <a:xfrm>
              <a:off x="1181100" y="3098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7 · Clinical priorities</a:t>
              </a:r>
              <a:endParaRPr lang="en-US" sz="1200" spc="0" kern="0" b="0" i="0" dirty="0">
                <a:solidFill>
                  <a:srgbClr val="070154"/>
                </a:solidFill>
                <a:latin typeface="IBM Plex Sans"/>
                <a:ea typeface="IBM Plex Sans"/>
                <a:cs typeface="IBM Plex Sans"/>
              </a:endParaRPr>
            </a:p>
          </p:txBody>
        </p:sp>
        <p:sp>
          <p:nvSpPr>
            <p:cNvPr id="15" name="node01.body.item-001.bullets.item-002.marker"/>
            <p:cNvSpPr/>
            <p:nvPr/>
          </p:nvSpPr>
          <p:spPr>
            <a:xfrm>
              <a:off x="876300" y="3441700"/>
              <a:ext cx="38100" cy="38100"/>
            </a:xfrm>
            <a:prstGeom prst="rect">
              <a:avLst/>
            </a:prstGeom>
            <a:solidFill>
              <a:srgbClr val="070154"/>
            </a:solidFill>
            <a:ln>
              <a:noFill/>
            </a:ln>
          </p:spPr>
        </p:sp>
        <p:sp>
          <p:nvSpPr>
            <p:cNvPr id="16" name="node01.body.item-001.bullets.item-002.text"/>
            <p:cNvSpPr/>
            <p:nvPr/>
          </p:nvSpPr>
          <p:spPr>
            <a:xfrm>
              <a:off x="1028700" y="3352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Chief Operating Officer</a:t>
              </a:r>
              <a:endParaRPr lang="en-US" sz="1200" spc="0" kern="0" b="0" i="0" dirty="0">
                <a:solidFill>
                  <a:srgbClr val="070154"/>
                </a:solidFill>
                <a:latin typeface="IBM Plex Sans"/>
                <a:ea typeface="IBM Plex Sans"/>
                <a:cs typeface="IBM Plex Sans"/>
              </a:endParaRPr>
            </a:p>
          </p:txBody>
        </p:sp>
        <p:sp>
          <p:nvSpPr>
            <p:cNvPr id="17" name="node01.body.item-001.bullets.item-002.sub.item-001.marker"/>
            <p:cNvSpPr/>
            <p:nvPr/>
          </p:nvSpPr>
          <p:spPr>
            <a:xfrm>
              <a:off x="1028700" y="3695700"/>
              <a:ext cx="38100" cy="38100"/>
            </a:xfrm>
            <a:prstGeom prst="rect">
              <a:avLst/>
            </a:prstGeom>
            <a:solidFill>
              <a:srgbClr val="070154"/>
            </a:solidFill>
            <a:ln>
              <a:noFill/>
            </a:ln>
          </p:spPr>
        </p:sp>
        <p:sp>
          <p:nvSpPr>
            <p:cNvPr id="18" name="node01.body.item-001.bullets.item-002.sub.item-001.text"/>
            <p:cNvSpPr/>
            <p:nvPr/>
          </p:nvSpPr>
          <p:spPr>
            <a:xfrm>
              <a:off x="1181100" y="3606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8 · Operating model</a:t>
              </a:r>
              <a:endParaRPr lang="en-US" sz="1200" spc="0" kern="0" b="0" i="0" dirty="0">
                <a:solidFill>
                  <a:srgbClr val="070154"/>
                </a:solidFill>
                <a:latin typeface="IBM Plex Sans"/>
                <a:ea typeface="IBM Plex Sans"/>
                <a:cs typeface="IBM Plex Sans"/>
              </a:endParaRPr>
            </a:p>
          </p:txBody>
        </p:sp>
        <p:sp>
          <p:nvSpPr>
            <p:cNvPr id="19" name="node01.body.item-001.bullets.item-003.marker"/>
            <p:cNvSpPr/>
            <p:nvPr/>
          </p:nvSpPr>
          <p:spPr>
            <a:xfrm>
              <a:off x="876300" y="3949700"/>
              <a:ext cx="38100" cy="38100"/>
            </a:xfrm>
            <a:prstGeom prst="rect">
              <a:avLst/>
            </a:prstGeom>
            <a:solidFill>
              <a:srgbClr val="070154"/>
            </a:solidFill>
            <a:ln>
              <a:noFill/>
            </a:ln>
          </p:spPr>
        </p:sp>
        <p:sp>
          <p:nvSpPr>
            <p:cNvPr id="20" name="node01.body.item-001.bullets.item-003.text"/>
            <p:cNvSpPr/>
            <p:nvPr/>
          </p:nvSpPr>
          <p:spPr>
            <a:xfrm>
              <a:off x="1028700" y="3860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VP Supply Chain</a:t>
              </a:r>
              <a:endParaRPr lang="en-US" sz="1200" spc="0" kern="0" b="0" i="0" dirty="0">
                <a:solidFill>
                  <a:srgbClr val="070154"/>
                </a:solidFill>
                <a:latin typeface="IBM Plex Sans"/>
                <a:ea typeface="IBM Plex Sans"/>
                <a:cs typeface="IBM Plex Sans"/>
              </a:endParaRPr>
            </a:p>
          </p:txBody>
        </p:sp>
        <p:sp>
          <p:nvSpPr>
            <p:cNvPr id="21" name="node01.body.item-001.bullets.item-003.sub.item-001.marker"/>
            <p:cNvSpPr/>
            <p:nvPr/>
          </p:nvSpPr>
          <p:spPr>
            <a:xfrm>
              <a:off x="1028700" y="4203700"/>
              <a:ext cx="38100" cy="38100"/>
            </a:xfrm>
            <a:prstGeom prst="rect">
              <a:avLst/>
            </a:prstGeom>
            <a:solidFill>
              <a:srgbClr val="070154"/>
            </a:solidFill>
            <a:ln>
              <a:noFill/>
            </a:ln>
          </p:spPr>
        </p:sp>
        <p:sp>
          <p:nvSpPr>
            <p:cNvPr id="22" name="node01.body.item-001.bullets.item-003.sub.item-001.text"/>
            <p:cNvSpPr/>
            <p:nvPr/>
          </p:nvSpPr>
          <p:spPr>
            <a:xfrm>
              <a:off x="1181100" y="4114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9 · Spend scope</a:t>
              </a:r>
              <a:endParaRPr lang="en-US" sz="1200" spc="0" kern="0" b="0" i="0" dirty="0">
                <a:solidFill>
                  <a:srgbClr val="070154"/>
                </a:solidFill>
                <a:latin typeface="IBM Plex Sans"/>
                <a:ea typeface="IBM Plex Sans"/>
                <a:cs typeface="IBM Plex Sans"/>
              </a:endParaRPr>
            </a:p>
          </p:txBody>
        </p:sp>
        <p:sp>
          <p:nvSpPr>
            <p:cNvPr id="23" name="node01.body.item-001.bullets.item-004.marker"/>
            <p:cNvSpPr/>
            <p:nvPr/>
          </p:nvSpPr>
          <p:spPr>
            <a:xfrm>
              <a:off x="876300" y="4457700"/>
              <a:ext cx="38100" cy="38100"/>
            </a:xfrm>
            <a:prstGeom prst="rect">
              <a:avLst/>
            </a:prstGeom>
            <a:solidFill>
              <a:srgbClr val="070154"/>
            </a:solidFill>
            <a:ln>
              <a:noFill/>
            </a:ln>
          </p:spPr>
        </p:sp>
        <p:sp>
          <p:nvSpPr>
            <p:cNvPr id="24" name="node01.body.item-001.bullets.item-004.text"/>
            <p:cNvSpPr/>
            <p:nvPr/>
          </p:nvSpPr>
          <p:spPr>
            <a:xfrm>
              <a:off x="1028700" y="4368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Chief Digital Officer</a:t>
              </a:r>
              <a:endParaRPr lang="en-US" sz="1200" spc="0" kern="0" b="0" i="0" dirty="0">
                <a:solidFill>
                  <a:srgbClr val="070154"/>
                </a:solidFill>
                <a:latin typeface="IBM Plex Sans"/>
                <a:ea typeface="IBM Plex Sans"/>
                <a:cs typeface="IBM Plex Sans"/>
              </a:endParaRPr>
            </a:p>
          </p:txBody>
        </p:sp>
        <p:sp>
          <p:nvSpPr>
            <p:cNvPr id="25" name="node01.body.item-001.bullets.item-004.sub.item-001.marker"/>
            <p:cNvSpPr/>
            <p:nvPr/>
          </p:nvSpPr>
          <p:spPr>
            <a:xfrm>
              <a:off x="1028700" y="4711700"/>
              <a:ext cx="38100" cy="38100"/>
            </a:xfrm>
            <a:prstGeom prst="rect">
              <a:avLst/>
            </a:prstGeom>
            <a:solidFill>
              <a:srgbClr val="070154"/>
            </a:solidFill>
            <a:ln>
              <a:noFill/>
            </a:ln>
          </p:spPr>
        </p:sp>
        <p:sp>
          <p:nvSpPr>
            <p:cNvPr id="26" name="node01.body.item-001.bullets.item-004.sub.item-001.text"/>
            <p:cNvSpPr/>
            <p:nvPr/>
          </p:nvSpPr>
          <p:spPr>
            <a:xfrm>
              <a:off x="1181100" y="4622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13 · Roadmap fit</a:t>
              </a:r>
              <a:endParaRPr lang="en-US" sz="1200" spc="0" kern="0" b="0" i="0" dirty="0">
                <a:solidFill>
                  <a:srgbClr val="070154"/>
                </a:solidFill>
                <a:latin typeface="IBM Plex Sans"/>
                <a:ea typeface="IBM Plex Sans"/>
                <a:cs typeface="IBM Plex Sans"/>
              </a:endParaRPr>
            </a:p>
          </p:txBody>
        </p:sp>
        <p:sp>
          <p:nvSpPr>
            <p:cNvPr id="27" name="node01.body.item-001.bullets.item-005.marker"/>
            <p:cNvSpPr/>
            <p:nvPr/>
          </p:nvSpPr>
          <p:spPr>
            <a:xfrm>
              <a:off x="876300" y="4965700"/>
              <a:ext cx="38100" cy="38100"/>
            </a:xfrm>
            <a:prstGeom prst="rect">
              <a:avLst/>
            </a:prstGeom>
            <a:solidFill>
              <a:srgbClr val="070154"/>
            </a:solidFill>
            <a:ln>
              <a:noFill/>
            </a:ln>
          </p:spPr>
        </p:sp>
        <p:sp>
          <p:nvSpPr>
            <p:cNvPr id="28" name="node01.body.item-001.bullets.item-005.text"/>
            <p:cNvSpPr/>
            <p:nvPr/>
          </p:nvSpPr>
          <p:spPr>
            <a:xfrm>
              <a:off x="1028700" y="4876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Board finance chair</a:t>
              </a:r>
              <a:endParaRPr lang="en-US" sz="1200" spc="0" kern="0" b="0" i="0" dirty="0">
                <a:solidFill>
                  <a:srgbClr val="070154"/>
                </a:solidFill>
                <a:latin typeface="IBM Plex Sans"/>
                <a:ea typeface="IBM Plex Sans"/>
                <a:cs typeface="IBM Plex Sans"/>
              </a:endParaRPr>
            </a:p>
          </p:txBody>
        </p:sp>
        <p:sp>
          <p:nvSpPr>
            <p:cNvPr id="29" name="node01.body.item-001.bullets.item-005.sub.item-001.marker"/>
            <p:cNvSpPr/>
            <p:nvPr/>
          </p:nvSpPr>
          <p:spPr>
            <a:xfrm>
              <a:off x="1028700" y="5219700"/>
              <a:ext cx="38100" cy="38100"/>
            </a:xfrm>
            <a:prstGeom prst="rect">
              <a:avLst/>
            </a:prstGeom>
            <a:solidFill>
              <a:srgbClr val="070154"/>
            </a:solidFill>
            <a:ln>
              <a:noFill/>
            </a:ln>
          </p:spPr>
        </p:sp>
        <p:sp>
          <p:nvSpPr>
            <p:cNvPr id="30" name="node01.body.item-001.bullets.item-005.sub.item-001.text"/>
            <p:cNvSpPr/>
            <p:nvPr/>
          </p:nvSpPr>
          <p:spPr>
            <a:xfrm>
              <a:off x="1181100" y="5130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15 · Funding view</a:t>
              </a:r>
              <a:endParaRPr lang="en-US" sz="1200" spc="0" kern="0" b="0" i="0" dirty="0">
                <a:solidFill>
                  <a:srgbClr val="070154"/>
                </a:solidFill>
                <a:latin typeface="IBM Plex Sans"/>
                <a:ea typeface="IBM Plex Sans"/>
                <a:cs typeface="IBM Plex Sans"/>
              </a:endParaRPr>
            </a:p>
          </p:txBody>
        </p:sp>
      </p:grpSp>
      <p:grpSp>
        <p:nvGrpSpPr>
          <p:cNvPr id="80" name="node02"/>
          <p:cNvGrpSpPr/>
          <p:nvPr/>
        </p:nvGrpSpPr>
        <p:grpSpPr>
          <a:xfrm>
            <a:off x="4381500" y="2057400"/>
            <a:ext cx="3429000" cy="3657600"/>
            <a:chOff x="4381500" y="2057400"/>
            <a:chExt cx="3429000" cy="3657600"/>
          </a:xfrm>
        </p:grpSpPr>
        <p:sp>
          <p:nvSpPr>
            <p:cNvPr id="31" name="node02.container"/>
            <p:cNvSpPr/>
            <p:nvPr/>
          </p:nvSpPr>
          <p:spPr>
            <a:xfrm>
              <a:off x="4387850" y="2063750"/>
              <a:ext cx="3416300" cy="3644900"/>
            </a:xfrm>
            <a:prstGeom prst="rect">
              <a:avLst/>
            </a:prstGeom>
            <a:solidFill>
              <a:srgbClr val="FFFFFF"/>
            </a:solidFill>
            <a:ln w="12700">
              <a:solidFill>
                <a:srgbClr val="CED7E6"/>
              </a:solidFill>
              <a:prstDash val="solid"/>
            </a:ln>
          </p:spPr>
        </p:sp>
        <p:sp>
          <p:nvSpPr>
            <p:cNvPr id="32" name="node02.band"/>
            <p:cNvSpPr/>
            <p:nvPr/>
          </p:nvSpPr>
          <p:spPr>
            <a:xfrm>
              <a:off x="4381500" y="2057400"/>
              <a:ext cx="3429000" cy="787400"/>
            </a:xfrm>
            <a:prstGeom prst="rect">
              <a:avLst/>
            </a:prstGeom>
            <a:solidFill>
              <a:srgbClr val="070154"/>
            </a:solidFill>
            <a:ln>
              <a:noFill/>
            </a:ln>
          </p:spPr>
        </p:sp>
        <p:sp>
          <p:nvSpPr>
            <p:cNvPr id="33" name="node02.label"/>
            <p:cNvSpPr/>
            <p:nvPr/>
          </p:nvSpPr>
          <p:spPr>
            <a:xfrm>
              <a:off x="4533900" y="2209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BY OCT 23</a:t>
              </a:r>
              <a:endParaRPr lang="en-US" sz="800" spc="48" kern="0" b="0" i="0" dirty="0">
                <a:solidFill>
                  <a:srgbClr val="F900D3"/>
                </a:solidFill>
                <a:latin typeface="IBM Plex Mono Medium"/>
                <a:ea typeface="IBM Plex Mono Medium"/>
                <a:cs typeface="IBM Plex Mono Medium"/>
              </a:endParaRPr>
            </a:p>
          </p:txBody>
        </p:sp>
        <p:sp>
          <p:nvSpPr>
            <p:cNvPr id="34" name="node02.title"/>
            <p:cNvSpPr/>
            <p:nvPr/>
          </p:nvSpPr>
          <p:spPr>
            <a:xfrm>
              <a:off x="4533900" y="24257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Wave 2 · Operational leaders</a:t>
              </a:r>
              <a:endParaRPr lang="en-US" sz="1600" spc="-16" kern="0" b="0" i="0" dirty="0">
                <a:solidFill>
                  <a:srgbClr val="FFFFFF"/>
                </a:solidFill>
                <a:latin typeface="IBM Plex Sans SemiBold"/>
                <a:ea typeface="IBM Plex Sans SemiBold"/>
                <a:cs typeface="IBM Plex Sans SemiBold"/>
              </a:endParaRPr>
            </a:p>
          </p:txBody>
        </p:sp>
        <p:sp>
          <p:nvSpPr>
            <p:cNvPr id="35" name="node02.body.item-001.bullets.item-001.marker"/>
            <p:cNvSpPr/>
            <p:nvPr/>
          </p:nvSpPr>
          <p:spPr>
            <a:xfrm>
              <a:off x="4533900" y="2933700"/>
              <a:ext cx="38100" cy="38100"/>
            </a:xfrm>
            <a:prstGeom prst="rect">
              <a:avLst/>
            </a:prstGeom>
            <a:solidFill>
              <a:srgbClr val="070154"/>
            </a:solidFill>
            <a:ln>
              <a:noFill/>
            </a:ln>
          </p:spPr>
        </p:sp>
        <p:sp>
          <p:nvSpPr>
            <p:cNvPr id="36" name="node02.body.item-001.bullets.item-001.text"/>
            <p:cNvSpPr/>
            <p:nvPr/>
          </p:nvSpPr>
          <p:spPr>
            <a:xfrm>
              <a:off x="4686300" y="2844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Director, Scheduling</a:t>
              </a:r>
              <a:endParaRPr lang="en-US" sz="1200" spc="0" kern="0" b="0" i="0" dirty="0">
                <a:solidFill>
                  <a:srgbClr val="070154"/>
                </a:solidFill>
                <a:latin typeface="IBM Plex Sans"/>
                <a:ea typeface="IBM Plex Sans"/>
                <a:cs typeface="IBM Plex Sans"/>
              </a:endParaRPr>
            </a:p>
          </p:txBody>
        </p:sp>
        <p:sp>
          <p:nvSpPr>
            <p:cNvPr id="37" name="node02.body.item-001.bullets.item-001.sub.item-001.marker"/>
            <p:cNvSpPr/>
            <p:nvPr/>
          </p:nvSpPr>
          <p:spPr>
            <a:xfrm>
              <a:off x="4686300" y="3187700"/>
              <a:ext cx="38100" cy="38100"/>
            </a:xfrm>
            <a:prstGeom prst="rect">
              <a:avLst/>
            </a:prstGeom>
            <a:solidFill>
              <a:srgbClr val="070154"/>
            </a:solidFill>
            <a:ln>
              <a:noFill/>
            </a:ln>
          </p:spPr>
        </p:sp>
        <p:sp>
          <p:nvSpPr>
            <p:cNvPr id="38" name="node02.body.item-001.bullets.item-001.sub.item-001.text"/>
            <p:cNvSpPr/>
            <p:nvPr/>
          </p:nvSpPr>
          <p:spPr>
            <a:xfrm>
              <a:off x="4838700" y="3098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17 · Template rules</a:t>
              </a:r>
              <a:endParaRPr lang="en-US" sz="1200" spc="0" kern="0" b="0" i="0" dirty="0">
                <a:solidFill>
                  <a:srgbClr val="070154"/>
                </a:solidFill>
                <a:latin typeface="IBM Plex Sans"/>
                <a:ea typeface="IBM Plex Sans"/>
                <a:cs typeface="IBM Plex Sans"/>
              </a:endParaRPr>
            </a:p>
          </p:txBody>
        </p:sp>
        <p:sp>
          <p:nvSpPr>
            <p:cNvPr id="39" name="node02.body.item-001.bullets.item-002.marker"/>
            <p:cNvSpPr/>
            <p:nvPr/>
          </p:nvSpPr>
          <p:spPr>
            <a:xfrm>
              <a:off x="4533900" y="3441700"/>
              <a:ext cx="38100" cy="38100"/>
            </a:xfrm>
            <a:prstGeom prst="rect">
              <a:avLst/>
            </a:prstGeom>
            <a:solidFill>
              <a:srgbClr val="070154"/>
            </a:solidFill>
            <a:ln>
              <a:noFill/>
            </a:ln>
          </p:spPr>
        </p:sp>
        <p:sp>
          <p:nvSpPr>
            <p:cNvPr id="40" name="node02.body.item-001.bullets.item-002.text"/>
            <p:cNvSpPr/>
            <p:nvPr/>
          </p:nvSpPr>
          <p:spPr>
            <a:xfrm>
              <a:off x="4686300" y="3352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Director, Billing</a:t>
              </a:r>
              <a:endParaRPr lang="en-US" sz="1200" spc="0" kern="0" b="0" i="0" dirty="0">
                <a:solidFill>
                  <a:srgbClr val="070154"/>
                </a:solidFill>
                <a:latin typeface="IBM Plex Sans"/>
                <a:ea typeface="IBM Plex Sans"/>
                <a:cs typeface="IBM Plex Sans"/>
              </a:endParaRPr>
            </a:p>
          </p:txBody>
        </p:sp>
        <p:sp>
          <p:nvSpPr>
            <p:cNvPr id="41" name="node02.body.item-001.bullets.item-002.sub.item-001.marker"/>
            <p:cNvSpPr/>
            <p:nvPr/>
          </p:nvSpPr>
          <p:spPr>
            <a:xfrm>
              <a:off x="4686300" y="3695700"/>
              <a:ext cx="38100" cy="38100"/>
            </a:xfrm>
            <a:prstGeom prst="rect">
              <a:avLst/>
            </a:prstGeom>
            <a:solidFill>
              <a:srgbClr val="070154"/>
            </a:solidFill>
            <a:ln>
              <a:noFill/>
            </a:ln>
          </p:spPr>
        </p:sp>
        <p:sp>
          <p:nvSpPr>
            <p:cNvPr id="42" name="node02.body.item-001.bullets.item-002.sub.item-001.text"/>
            <p:cNvSpPr/>
            <p:nvPr/>
          </p:nvSpPr>
          <p:spPr>
            <a:xfrm>
              <a:off x="4838700" y="3606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20 · Statement process</a:t>
              </a:r>
              <a:endParaRPr lang="en-US" sz="1200" spc="0" kern="0" b="0" i="0" dirty="0">
                <a:solidFill>
                  <a:srgbClr val="070154"/>
                </a:solidFill>
                <a:latin typeface="IBM Plex Sans"/>
                <a:ea typeface="IBM Plex Sans"/>
                <a:cs typeface="IBM Plex Sans"/>
              </a:endParaRPr>
            </a:p>
          </p:txBody>
        </p:sp>
        <p:sp>
          <p:nvSpPr>
            <p:cNvPr id="43" name="node02.body.item-001.bullets.item-003.marker"/>
            <p:cNvSpPr/>
            <p:nvPr/>
          </p:nvSpPr>
          <p:spPr>
            <a:xfrm>
              <a:off x="4533900" y="3949700"/>
              <a:ext cx="38100" cy="38100"/>
            </a:xfrm>
            <a:prstGeom prst="rect">
              <a:avLst/>
            </a:prstGeom>
            <a:solidFill>
              <a:srgbClr val="070154"/>
            </a:solidFill>
            <a:ln>
              <a:noFill/>
            </a:ln>
          </p:spPr>
        </p:sp>
        <p:sp>
          <p:nvSpPr>
            <p:cNvPr id="44" name="node02.body.item-001.bullets.item-003.text"/>
            <p:cNvSpPr/>
            <p:nvPr/>
          </p:nvSpPr>
          <p:spPr>
            <a:xfrm>
              <a:off x="4686300" y="3860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Mgr, Credentialing</a:t>
              </a:r>
              <a:endParaRPr lang="en-US" sz="1200" spc="0" kern="0" b="0" i="0" dirty="0">
                <a:solidFill>
                  <a:srgbClr val="070154"/>
                </a:solidFill>
                <a:latin typeface="IBM Plex Sans"/>
                <a:ea typeface="IBM Plex Sans"/>
                <a:cs typeface="IBM Plex Sans"/>
              </a:endParaRPr>
            </a:p>
          </p:txBody>
        </p:sp>
        <p:sp>
          <p:nvSpPr>
            <p:cNvPr id="45" name="node02.body.item-001.bullets.item-003.sub.item-001.marker"/>
            <p:cNvSpPr/>
            <p:nvPr/>
          </p:nvSpPr>
          <p:spPr>
            <a:xfrm>
              <a:off x="4686300" y="4203700"/>
              <a:ext cx="38100" cy="38100"/>
            </a:xfrm>
            <a:prstGeom prst="rect">
              <a:avLst/>
            </a:prstGeom>
            <a:solidFill>
              <a:srgbClr val="070154"/>
            </a:solidFill>
            <a:ln>
              <a:noFill/>
            </a:ln>
          </p:spPr>
        </p:sp>
        <p:sp>
          <p:nvSpPr>
            <p:cNvPr id="46" name="node02.body.item-001.bullets.item-003.sub.item-001.text"/>
            <p:cNvSpPr/>
            <p:nvPr/>
          </p:nvSpPr>
          <p:spPr>
            <a:xfrm>
              <a:off x="4838700" y="4114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21 · Payer enrollment</a:t>
              </a:r>
              <a:endParaRPr lang="en-US" sz="1200" spc="0" kern="0" b="0" i="0" dirty="0">
                <a:solidFill>
                  <a:srgbClr val="070154"/>
                </a:solidFill>
                <a:latin typeface="IBM Plex Sans"/>
                <a:ea typeface="IBM Plex Sans"/>
                <a:cs typeface="IBM Plex Sans"/>
              </a:endParaRPr>
            </a:p>
          </p:txBody>
        </p:sp>
        <p:sp>
          <p:nvSpPr>
            <p:cNvPr id="47" name="node02.body.item-001.bullets.item-004.marker"/>
            <p:cNvSpPr/>
            <p:nvPr/>
          </p:nvSpPr>
          <p:spPr>
            <a:xfrm>
              <a:off x="4533900" y="4457700"/>
              <a:ext cx="38100" cy="38100"/>
            </a:xfrm>
            <a:prstGeom prst="rect">
              <a:avLst/>
            </a:prstGeom>
            <a:solidFill>
              <a:srgbClr val="070154"/>
            </a:solidFill>
            <a:ln>
              <a:noFill/>
            </a:ln>
          </p:spPr>
        </p:sp>
        <p:sp>
          <p:nvSpPr>
            <p:cNvPr id="48" name="node02.body.item-001.bullets.item-004.text"/>
            <p:cNvSpPr/>
            <p:nvPr/>
          </p:nvSpPr>
          <p:spPr>
            <a:xfrm>
              <a:off x="4686300" y="4368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Dir., Quality</a:t>
              </a:r>
              <a:endParaRPr lang="en-US" sz="1200" spc="0" kern="0" b="0" i="0" dirty="0">
                <a:solidFill>
                  <a:srgbClr val="070154"/>
                </a:solidFill>
                <a:latin typeface="IBM Plex Sans"/>
                <a:ea typeface="IBM Plex Sans"/>
                <a:cs typeface="IBM Plex Sans"/>
              </a:endParaRPr>
            </a:p>
          </p:txBody>
        </p:sp>
        <p:sp>
          <p:nvSpPr>
            <p:cNvPr id="49" name="node02.body.item-001.bullets.item-004.sub.item-001.marker"/>
            <p:cNvSpPr/>
            <p:nvPr/>
          </p:nvSpPr>
          <p:spPr>
            <a:xfrm>
              <a:off x="4686300" y="4711700"/>
              <a:ext cx="38100" cy="38100"/>
            </a:xfrm>
            <a:prstGeom prst="rect">
              <a:avLst/>
            </a:prstGeom>
            <a:solidFill>
              <a:srgbClr val="070154"/>
            </a:solidFill>
            <a:ln>
              <a:noFill/>
            </a:ln>
          </p:spPr>
        </p:sp>
        <p:sp>
          <p:nvSpPr>
            <p:cNvPr id="50" name="node02.body.item-001.bullets.item-004.sub.item-001.text"/>
            <p:cNvSpPr/>
            <p:nvPr/>
          </p:nvSpPr>
          <p:spPr>
            <a:xfrm>
              <a:off x="4838700" y="4622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22 · Reporting load</a:t>
              </a:r>
              <a:endParaRPr lang="en-US" sz="1200" spc="0" kern="0" b="0" i="0" dirty="0">
                <a:solidFill>
                  <a:srgbClr val="070154"/>
                </a:solidFill>
                <a:latin typeface="IBM Plex Sans"/>
                <a:ea typeface="IBM Plex Sans"/>
                <a:cs typeface="IBM Plex Sans"/>
              </a:endParaRPr>
            </a:p>
          </p:txBody>
        </p:sp>
        <p:sp>
          <p:nvSpPr>
            <p:cNvPr id="51" name="node02.body.item-001.bullets.item-005.marker"/>
            <p:cNvSpPr/>
            <p:nvPr/>
          </p:nvSpPr>
          <p:spPr>
            <a:xfrm>
              <a:off x="4533900" y="4965700"/>
              <a:ext cx="38100" cy="38100"/>
            </a:xfrm>
            <a:prstGeom prst="rect">
              <a:avLst/>
            </a:prstGeom>
            <a:solidFill>
              <a:srgbClr val="070154"/>
            </a:solidFill>
            <a:ln>
              <a:noFill/>
            </a:ln>
          </p:spPr>
        </p:sp>
        <p:sp>
          <p:nvSpPr>
            <p:cNvPr id="52" name="node02.body.item-001.bullets.item-005.text"/>
            <p:cNvSpPr/>
            <p:nvPr/>
          </p:nvSpPr>
          <p:spPr>
            <a:xfrm>
              <a:off x="4686300" y="4876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Mgr, Cash Posting</a:t>
              </a:r>
              <a:endParaRPr lang="en-US" sz="1200" spc="0" kern="0" b="0" i="0" dirty="0">
                <a:solidFill>
                  <a:srgbClr val="070154"/>
                </a:solidFill>
                <a:latin typeface="IBM Plex Sans"/>
                <a:ea typeface="IBM Plex Sans"/>
                <a:cs typeface="IBM Plex Sans"/>
              </a:endParaRPr>
            </a:p>
          </p:txBody>
        </p:sp>
        <p:sp>
          <p:nvSpPr>
            <p:cNvPr id="53" name="node02.body.item-001.bullets.item-005.sub.item-001.marker"/>
            <p:cNvSpPr/>
            <p:nvPr/>
          </p:nvSpPr>
          <p:spPr>
            <a:xfrm>
              <a:off x="4686300" y="5219700"/>
              <a:ext cx="38100" cy="38100"/>
            </a:xfrm>
            <a:prstGeom prst="rect">
              <a:avLst/>
            </a:prstGeom>
            <a:solidFill>
              <a:srgbClr val="070154"/>
            </a:solidFill>
            <a:ln>
              <a:noFill/>
            </a:ln>
          </p:spPr>
        </p:sp>
        <p:sp>
          <p:nvSpPr>
            <p:cNvPr id="54" name="node02.body.item-001.bullets.item-005.sub.item-001.text"/>
            <p:cNvSpPr/>
            <p:nvPr/>
          </p:nvSpPr>
          <p:spPr>
            <a:xfrm>
              <a:off x="4838700" y="5130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23 · Posting lag</a:t>
              </a:r>
              <a:endParaRPr lang="en-US" sz="1200" spc="0" kern="0" b="0" i="0" dirty="0">
                <a:solidFill>
                  <a:srgbClr val="070154"/>
                </a:solidFill>
                <a:latin typeface="IBM Plex Sans"/>
                <a:ea typeface="IBM Plex Sans"/>
                <a:cs typeface="IBM Plex Sans"/>
              </a:endParaRPr>
            </a:p>
          </p:txBody>
        </p:sp>
      </p:grpSp>
      <p:grpSp>
        <p:nvGrpSpPr>
          <p:cNvPr id="81" name="node03"/>
          <p:cNvGrpSpPr/>
          <p:nvPr/>
        </p:nvGrpSpPr>
        <p:grpSpPr>
          <a:xfrm>
            <a:off x="8039100" y="2057400"/>
            <a:ext cx="3429000" cy="3657600"/>
            <a:chOff x="8039100" y="2057400"/>
            <a:chExt cx="3429000" cy="3657600"/>
          </a:xfrm>
        </p:grpSpPr>
        <p:sp>
          <p:nvSpPr>
            <p:cNvPr id="55" name="node03.container"/>
            <p:cNvSpPr/>
            <p:nvPr/>
          </p:nvSpPr>
          <p:spPr>
            <a:xfrm>
              <a:off x="8045450" y="2063750"/>
              <a:ext cx="3416300" cy="3644900"/>
            </a:xfrm>
            <a:prstGeom prst="rect">
              <a:avLst/>
            </a:prstGeom>
            <a:solidFill>
              <a:srgbClr val="FFFFFF"/>
            </a:solidFill>
            <a:ln w="12700">
              <a:solidFill>
                <a:srgbClr val="CED7E6"/>
              </a:solidFill>
              <a:prstDash val="solid"/>
            </a:ln>
          </p:spPr>
        </p:sp>
        <p:sp>
          <p:nvSpPr>
            <p:cNvPr id="56" name="node03.band"/>
            <p:cNvSpPr/>
            <p:nvPr/>
          </p:nvSpPr>
          <p:spPr>
            <a:xfrm>
              <a:off x="8039100" y="2057400"/>
              <a:ext cx="3429000" cy="787400"/>
            </a:xfrm>
            <a:prstGeom prst="rect">
              <a:avLst/>
            </a:prstGeom>
            <a:solidFill>
              <a:srgbClr val="070154"/>
            </a:solidFill>
            <a:ln>
              <a:noFill/>
            </a:ln>
          </p:spPr>
        </p:sp>
        <p:sp>
          <p:nvSpPr>
            <p:cNvPr id="57" name="node03.label"/>
            <p:cNvSpPr/>
            <p:nvPr/>
          </p:nvSpPr>
          <p:spPr>
            <a:xfrm>
              <a:off x="8191500" y="2209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BY OCT 30</a:t>
              </a:r>
              <a:endParaRPr lang="en-US" sz="800" spc="48" kern="0" b="0" i="0" dirty="0">
                <a:solidFill>
                  <a:srgbClr val="F900D3"/>
                </a:solidFill>
                <a:latin typeface="IBM Plex Mono Medium"/>
                <a:ea typeface="IBM Plex Mono Medium"/>
                <a:cs typeface="IBM Plex Mono Medium"/>
              </a:endParaRPr>
            </a:p>
          </p:txBody>
        </p:sp>
        <p:sp>
          <p:nvSpPr>
            <p:cNvPr id="58" name="node03.title"/>
            <p:cNvSpPr/>
            <p:nvPr/>
          </p:nvSpPr>
          <p:spPr>
            <a:xfrm>
              <a:off x="8191500" y="24257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Wave 3 · Front-line and SMEs</a:t>
              </a:r>
              <a:endParaRPr lang="en-US" sz="1600" spc="-16" kern="0" b="0" i="0" dirty="0">
                <a:solidFill>
                  <a:srgbClr val="FFFFFF"/>
                </a:solidFill>
                <a:latin typeface="IBM Plex Sans SemiBold"/>
                <a:ea typeface="IBM Plex Sans SemiBold"/>
                <a:cs typeface="IBM Plex Sans SemiBold"/>
              </a:endParaRPr>
            </a:p>
          </p:txBody>
        </p:sp>
        <p:sp>
          <p:nvSpPr>
            <p:cNvPr id="59" name="node03.body.item-001.bullets.item-001.marker"/>
            <p:cNvSpPr/>
            <p:nvPr/>
          </p:nvSpPr>
          <p:spPr>
            <a:xfrm>
              <a:off x="8191500" y="2933700"/>
              <a:ext cx="38100" cy="38100"/>
            </a:xfrm>
            <a:prstGeom prst="rect">
              <a:avLst/>
            </a:prstGeom>
            <a:solidFill>
              <a:srgbClr val="070154"/>
            </a:solidFill>
            <a:ln>
              <a:noFill/>
            </a:ln>
          </p:spPr>
        </p:sp>
        <p:sp>
          <p:nvSpPr>
            <p:cNvPr id="60" name="node03.body.item-001.bullets.item-001.text"/>
            <p:cNvSpPr/>
            <p:nvPr/>
          </p:nvSpPr>
          <p:spPr>
            <a:xfrm>
              <a:off x="8343900" y="2844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leads (3)</a:t>
              </a:r>
              <a:endParaRPr lang="en-US" sz="1200" spc="0" kern="0" b="0" i="0" dirty="0">
                <a:solidFill>
                  <a:srgbClr val="070154"/>
                </a:solidFill>
                <a:latin typeface="IBM Plex Sans"/>
                <a:ea typeface="IBM Plex Sans"/>
                <a:cs typeface="IBM Plex Sans"/>
              </a:endParaRPr>
            </a:p>
          </p:txBody>
        </p:sp>
        <p:sp>
          <p:nvSpPr>
            <p:cNvPr id="61" name="node03.body.item-001.bullets.item-001.sub.item-001.marker"/>
            <p:cNvSpPr/>
            <p:nvPr/>
          </p:nvSpPr>
          <p:spPr>
            <a:xfrm>
              <a:off x="8343900" y="3187700"/>
              <a:ext cx="38100" cy="38100"/>
            </a:xfrm>
            <a:prstGeom prst="rect">
              <a:avLst/>
            </a:prstGeom>
            <a:solidFill>
              <a:srgbClr val="070154"/>
            </a:solidFill>
            <a:ln>
              <a:noFill/>
            </a:ln>
          </p:spPr>
        </p:sp>
        <p:sp>
          <p:nvSpPr>
            <p:cNvPr id="62" name="node03.body.item-001.bullets.item-001.sub.item-001.text"/>
            <p:cNvSpPr/>
            <p:nvPr/>
          </p:nvSpPr>
          <p:spPr>
            <a:xfrm>
              <a:off x="8496300" y="3098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24 · Workflow walk</a:t>
              </a:r>
              <a:endParaRPr lang="en-US" sz="1200" spc="0" kern="0" b="0" i="0" dirty="0">
                <a:solidFill>
                  <a:srgbClr val="070154"/>
                </a:solidFill>
                <a:latin typeface="IBM Plex Sans"/>
                <a:ea typeface="IBM Plex Sans"/>
                <a:cs typeface="IBM Plex Sans"/>
              </a:endParaRPr>
            </a:p>
          </p:txBody>
        </p:sp>
        <p:sp>
          <p:nvSpPr>
            <p:cNvPr id="63" name="node03.body.item-001.bullets.item-002.marker"/>
            <p:cNvSpPr/>
            <p:nvPr/>
          </p:nvSpPr>
          <p:spPr>
            <a:xfrm>
              <a:off x="8191500" y="3441700"/>
              <a:ext cx="38100" cy="38100"/>
            </a:xfrm>
            <a:prstGeom prst="rect">
              <a:avLst/>
            </a:prstGeom>
            <a:solidFill>
              <a:srgbClr val="070154"/>
            </a:solidFill>
            <a:ln>
              <a:noFill/>
            </a:ln>
          </p:spPr>
        </p:sp>
        <p:sp>
          <p:nvSpPr>
            <p:cNvPr id="64" name="node03.body.item-001.bullets.item-002.text"/>
            <p:cNvSpPr/>
            <p:nvPr/>
          </p:nvSpPr>
          <p:spPr>
            <a:xfrm>
              <a:off x="8343900" y="3352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Coding specialists (4)</a:t>
              </a:r>
              <a:endParaRPr lang="en-US" sz="1200" spc="0" kern="0" b="0" i="0" dirty="0">
                <a:solidFill>
                  <a:srgbClr val="070154"/>
                </a:solidFill>
                <a:latin typeface="IBM Plex Sans"/>
                <a:ea typeface="IBM Plex Sans"/>
                <a:cs typeface="IBM Plex Sans"/>
              </a:endParaRPr>
            </a:p>
          </p:txBody>
        </p:sp>
        <p:sp>
          <p:nvSpPr>
            <p:cNvPr id="65" name="node03.body.item-001.bullets.item-002.sub.item-001.marker"/>
            <p:cNvSpPr/>
            <p:nvPr/>
          </p:nvSpPr>
          <p:spPr>
            <a:xfrm>
              <a:off x="8343900" y="3695700"/>
              <a:ext cx="38100" cy="38100"/>
            </a:xfrm>
            <a:prstGeom prst="rect">
              <a:avLst/>
            </a:prstGeom>
            <a:solidFill>
              <a:srgbClr val="070154"/>
            </a:solidFill>
            <a:ln>
              <a:noFill/>
            </a:ln>
          </p:spPr>
        </p:sp>
        <p:sp>
          <p:nvSpPr>
            <p:cNvPr id="66" name="node03.body.item-001.bullets.item-002.sub.item-001.text"/>
            <p:cNvSpPr/>
            <p:nvPr/>
          </p:nvSpPr>
          <p:spPr>
            <a:xfrm>
              <a:off x="8496300" y="3606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27 · Query volume</a:t>
              </a:r>
              <a:endParaRPr lang="en-US" sz="1200" spc="0" kern="0" b="0" i="0" dirty="0">
                <a:solidFill>
                  <a:srgbClr val="070154"/>
                </a:solidFill>
                <a:latin typeface="IBM Plex Sans"/>
                <a:ea typeface="IBM Plex Sans"/>
                <a:cs typeface="IBM Plex Sans"/>
              </a:endParaRPr>
            </a:p>
          </p:txBody>
        </p:sp>
        <p:sp>
          <p:nvSpPr>
            <p:cNvPr id="67" name="node03.body.item-001.bullets.item-003.marker"/>
            <p:cNvSpPr/>
            <p:nvPr/>
          </p:nvSpPr>
          <p:spPr>
            <a:xfrm>
              <a:off x="8191500" y="3949700"/>
              <a:ext cx="38100" cy="38100"/>
            </a:xfrm>
            <a:prstGeom prst="rect">
              <a:avLst/>
            </a:prstGeom>
            <a:solidFill>
              <a:srgbClr val="070154"/>
            </a:solidFill>
            <a:ln>
              <a:noFill/>
            </a:ln>
          </p:spPr>
        </p:sp>
        <p:sp>
          <p:nvSpPr>
            <p:cNvPr id="68" name="node03.body.item-001.bullets.item-003.text"/>
            <p:cNvSpPr/>
            <p:nvPr/>
          </p:nvSpPr>
          <p:spPr>
            <a:xfrm>
              <a:off x="8343900" y="3860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Denials analysts (3)</a:t>
              </a:r>
              <a:endParaRPr lang="en-US" sz="1200" spc="0" kern="0" b="0" i="0" dirty="0">
                <a:solidFill>
                  <a:srgbClr val="070154"/>
                </a:solidFill>
                <a:latin typeface="IBM Plex Sans"/>
                <a:ea typeface="IBM Plex Sans"/>
                <a:cs typeface="IBM Plex Sans"/>
              </a:endParaRPr>
            </a:p>
          </p:txBody>
        </p:sp>
        <p:sp>
          <p:nvSpPr>
            <p:cNvPr id="69" name="node03.body.item-001.bullets.item-003.sub.item-001.marker"/>
            <p:cNvSpPr/>
            <p:nvPr/>
          </p:nvSpPr>
          <p:spPr>
            <a:xfrm>
              <a:off x="8343900" y="4203700"/>
              <a:ext cx="38100" cy="38100"/>
            </a:xfrm>
            <a:prstGeom prst="rect">
              <a:avLst/>
            </a:prstGeom>
            <a:solidFill>
              <a:srgbClr val="070154"/>
            </a:solidFill>
            <a:ln>
              <a:noFill/>
            </a:ln>
          </p:spPr>
        </p:sp>
        <p:sp>
          <p:nvSpPr>
            <p:cNvPr id="70" name="node03.body.item-001.bullets.item-003.sub.item-001.text"/>
            <p:cNvSpPr/>
            <p:nvPr/>
          </p:nvSpPr>
          <p:spPr>
            <a:xfrm>
              <a:off x="8496300" y="4114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28 · Appeal tooling</a:t>
              </a:r>
              <a:endParaRPr lang="en-US" sz="1200" spc="0" kern="0" b="0" i="0" dirty="0">
                <a:solidFill>
                  <a:srgbClr val="070154"/>
                </a:solidFill>
                <a:latin typeface="IBM Plex Sans"/>
                <a:ea typeface="IBM Plex Sans"/>
                <a:cs typeface="IBM Plex Sans"/>
              </a:endParaRPr>
            </a:p>
          </p:txBody>
        </p:sp>
        <p:sp>
          <p:nvSpPr>
            <p:cNvPr id="71" name="node03.body.item-001.bullets.item-004.marker"/>
            <p:cNvSpPr/>
            <p:nvPr/>
          </p:nvSpPr>
          <p:spPr>
            <a:xfrm>
              <a:off x="8191500" y="4457700"/>
              <a:ext cx="38100" cy="38100"/>
            </a:xfrm>
            <a:prstGeom prst="rect">
              <a:avLst/>
            </a:prstGeom>
            <a:solidFill>
              <a:srgbClr val="070154"/>
            </a:solidFill>
            <a:ln>
              <a:noFill/>
            </a:ln>
          </p:spPr>
        </p:sp>
        <p:sp>
          <p:nvSpPr>
            <p:cNvPr id="72" name="node03.body.item-001.bullets.item-004.text"/>
            <p:cNvSpPr/>
            <p:nvPr/>
          </p:nvSpPr>
          <p:spPr>
            <a:xfrm>
              <a:off x="8343900" y="4368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Service desk lead</a:t>
              </a:r>
              <a:endParaRPr lang="en-US" sz="1200" spc="0" kern="0" b="0" i="0" dirty="0">
                <a:solidFill>
                  <a:srgbClr val="070154"/>
                </a:solidFill>
                <a:latin typeface="IBM Plex Sans"/>
                <a:ea typeface="IBM Plex Sans"/>
                <a:cs typeface="IBM Plex Sans"/>
              </a:endParaRPr>
            </a:p>
          </p:txBody>
        </p:sp>
        <p:sp>
          <p:nvSpPr>
            <p:cNvPr id="73" name="node03.body.item-001.bullets.item-004.sub.item-001.marker"/>
            <p:cNvSpPr/>
            <p:nvPr/>
          </p:nvSpPr>
          <p:spPr>
            <a:xfrm>
              <a:off x="8343900" y="4711700"/>
              <a:ext cx="38100" cy="38100"/>
            </a:xfrm>
            <a:prstGeom prst="rect">
              <a:avLst/>
            </a:prstGeom>
            <a:solidFill>
              <a:srgbClr val="070154"/>
            </a:solidFill>
            <a:ln>
              <a:noFill/>
            </a:ln>
          </p:spPr>
        </p:sp>
        <p:sp>
          <p:nvSpPr>
            <p:cNvPr id="74" name="node03.body.item-001.bullets.item-004.sub.item-001.text"/>
            <p:cNvSpPr/>
            <p:nvPr/>
          </p:nvSpPr>
          <p:spPr>
            <a:xfrm>
              <a:off x="8496300" y="4622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29 · Incident trends</a:t>
              </a:r>
              <a:endParaRPr lang="en-US" sz="1200" spc="0" kern="0" b="0" i="0" dirty="0">
                <a:solidFill>
                  <a:srgbClr val="070154"/>
                </a:solidFill>
                <a:latin typeface="IBM Plex Sans"/>
                <a:ea typeface="IBM Plex Sans"/>
                <a:cs typeface="IBM Plex Sans"/>
              </a:endParaRPr>
            </a:p>
          </p:txBody>
        </p:sp>
        <p:sp>
          <p:nvSpPr>
            <p:cNvPr id="75" name="node03.body.item-001.bullets.item-005.marker"/>
            <p:cNvSpPr/>
            <p:nvPr/>
          </p:nvSpPr>
          <p:spPr>
            <a:xfrm>
              <a:off x="8191500" y="4965700"/>
              <a:ext cx="38100" cy="38100"/>
            </a:xfrm>
            <a:prstGeom prst="rect">
              <a:avLst/>
            </a:prstGeom>
            <a:solidFill>
              <a:srgbClr val="070154"/>
            </a:solidFill>
            <a:ln>
              <a:noFill/>
            </a:ln>
          </p:spPr>
        </p:sp>
        <p:sp>
          <p:nvSpPr>
            <p:cNvPr id="76" name="node03.body.item-001.bullets.item-005.text"/>
            <p:cNvSpPr/>
            <p:nvPr/>
          </p:nvSpPr>
          <p:spPr>
            <a:xfrm>
              <a:off x="8343900" y="4876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Unit clerks (3)</a:t>
              </a:r>
              <a:endParaRPr lang="en-US" sz="1200" spc="0" kern="0" b="0" i="0" dirty="0">
                <a:solidFill>
                  <a:srgbClr val="070154"/>
                </a:solidFill>
                <a:latin typeface="IBM Plex Sans"/>
                <a:ea typeface="IBM Plex Sans"/>
                <a:cs typeface="IBM Plex Sans"/>
              </a:endParaRPr>
            </a:p>
          </p:txBody>
        </p:sp>
        <p:sp>
          <p:nvSpPr>
            <p:cNvPr id="77" name="node03.body.item-001.bullets.item-005.sub.item-001.marker"/>
            <p:cNvSpPr/>
            <p:nvPr/>
          </p:nvSpPr>
          <p:spPr>
            <a:xfrm>
              <a:off x="8343900" y="5219700"/>
              <a:ext cx="38100" cy="38100"/>
            </a:xfrm>
            <a:prstGeom prst="rect">
              <a:avLst/>
            </a:prstGeom>
            <a:solidFill>
              <a:srgbClr val="070154"/>
            </a:solidFill>
            <a:ln>
              <a:noFill/>
            </a:ln>
          </p:spPr>
        </p:sp>
        <p:sp>
          <p:nvSpPr>
            <p:cNvPr id="78" name="node03.body.item-001.bullets.item-005.sub.item-001.text"/>
            <p:cNvSpPr/>
            <p:nvPr/>
          </p:nvSpPr>
          <p:spPr>
            <a:xfrm>
              <a:off x="8496300" y="5130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30 · Charge capture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ource-231">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stakeholders have waited more than ten days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155</a:t>
            </a:fld>
            <a:endParaRPr lang="en-US" sz="700" spc="0" kern="0" b="0" i="0" dirty="0">
              <a:solidFill>
                <a:srgbClr val="FFFFFF"/>
              </a:solidFill>
              <a:latin typeface="IBM Plex Mono SemiBold"/>
              <a:ea typeface="IBM Plex Mono SemiBold"/>
              <a:cs typeface="IBM Plex Mono SemiBold"/>
            </a:endParaRPr>
          </a:p>
        </p:txBody>
      </p:sp>
      <p:grpSp>
        <p:nvGrpSpPr>
          <p:cNvPr id="25" name="node01"/>
          <p:cNvGrpSpPr/>
          <p:nvPr/>
        </p:nvGrpSpPr>
        <p:grpSpPr>
          <a:xfrm>
            <a:off x="723900" y="2057400"/>
            <a:ext cx="7086600" cy="3403600"/>
            <a:chOff x="723900" y="2057400"/>
            <a:chExt cx="7086600" cy="34036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2057400"/>
            <a:ext cx="7086600" cy="3403600"/>
          </p:xfrm>
          <a:graphic>
            <a:graphicData uri="http://schemas.openxmlformats.org/drawingml/2006/table">
              <a:tbl>
                <a:tblPr/>
                <a:tblGrid>
                  <a:gridCol w="2286000"/>
                  <a:gridCol w="1524000"/>
                  <a:gridCol w="609600"/>
                  <a:gridCol w="26670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STAKEHOLDER</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STATUS</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DAYS</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REASON</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080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Chief Medical Officer</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Clinical ops</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Blocked</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34</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Calendar blocked by assistant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 Access Supervisors</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Patient access</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 response</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 reply to three emails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VP Supply Chain</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Finance</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Rescheduled</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Rescheduled twice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Chief Digital Officer</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IT</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Rescheduled</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9</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Rescheduled; sponsor note due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Board finance chair</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Finance</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Awaiting date</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7</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Awaiting CFO routing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Dir., Revenue Integrity</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Revenue cycle</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Awaiting date</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5</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Rescheduled once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row.item-001.s.status-mark"/>
            <p:cNvSpPr/>
            <p:nvPr/>
          </p:nvSpPr>
          <p:spPr>
            <a:xfrm>
              <a:off x="3168650" y="2622550"/>
              <a:ext cx="88900" cy="88900"/>
            </a:xfrm>
            <a:prstGeom prst="rect">
              <a:avLst/>
            </a:prstGeom>
            <a:solidFill>
              <a:srgbClr val="F52C00"/>
            </a:solidFill>
            <a:ln w="12700">
              <a:solidFill>
                <a:srgbClr val="070154"/>
              </a:solidFill>
              <a:prstDash val="solid"/>
            </a:ln>
          </p:spPr>
        </p:sp>
        <p:sp>
          <p:nvSpPr>
            <p:cNvPr id="9" name="node01.row.item-002.s.status-mark"/>
            <p:cNvSpPr/>
            <p:nvPr/>
          </p:nvSpPr>
          <p:spPr>
            <a:xfrm>
              <a:off x="3168650" y="3130550"/>
              <a:ext cx="88900" cy="88900"/>
            </a:xfrm>
            <a:prstGeom prst="rect">
              <a:avLst/>
            </a:prstGeom>
            <a:solidFill>
              <a:srgbClr val="F52C00"/>
            </a:solidFill>
            <a:ln w="12700">
              <a:solidFill>
                <a:srgbClr val="070154"/>
              </a:solidFill>
              <a:prstDash val="solid"/>
            </a:ln>
          </p:spPr>
        </p:sp>
        <p:sp>
          <p:nvSpPr>
            <p:cNvPr id="10" name="node01.row.item-003.s.status-mark"/>
            <p:cNvSpPr/>
            <p:nvPr/>
          </p:nvSpPr>
          <p:spPr>
            <a:xfrm>
              <a:off x="3168650" y="3638550"/>
              <a:ext cx="88900" cy="88900"/>
            </a:xfrm>
            <a:prstGeom prst="rect">
              <a:avLst/>
            </a:prstGeom>
            <a:solidFill>
              <a:srgbClr val="FFC700"/>
            </a:solidFill>
            <a:ln w="12700">
              <a:solidFill>
                <a:srgbClr val="070154"/>
              </a:solidFill>
              <a:prstDash val="solid"/>
            </a:ln>
          </p:spPr>
        </p:sp>
        <p:sp>
          <p:nvSpPr>
            <p:cNvPr id="11" name="node01.row.item-004.s.status-mark"/>
            <p:cNvSpPr/>
            <p:nvPr/>
          </p:nvSpPr>
          <p:spPr>
            <a:xfrm>
              <a:off x="3168650" y="4146550"/>
              <a:ext cx="88900" cy="88900"/>
            </a:xfrm>
            <a:prstGeom prst="rect">
              <a:avLst/>
            </a:prstGeom>
            <a:solidFill>
              <a:srgbClr val="FFC700"/>
            </a:solidFill>
            <a:ln w="12700">
              <a:solidFill>
                <a:srgbClr val="070154"/>
              </a:solidFill>
              <a:prstDash val="solid"/>
            </a:ln>
          </p:spPr>
        </p:sp>
        <p:sp>
          <p:nvSpPr>
            <p:cNvPr id="12" name="node01.row.item-005.s.status-mark"/>
            <p:cNvSpPr/>
            <p:nvPr/>
          </p:nvSpPr>
          <p:spPr>
            <a:xfrm>
              <a:off x="3168650" y="4654550"/>
              <a:ext cx="88900" cy="88900"/>
            </a:xfrm>
            <a:prstGeom prst="rect">
              <a:avLst/>
            </a:prstGeom>
            <a:solidFill>
              <a:srgbClr val="0047FF"/>
            </a:solidFill>
            <a:ln w="12700">
              <a:solidFill>
                <a:srgbClr val="070154"/>
              </a:solidFill>
              <a:prstDash val="solid"/>
            </a:ln>
          </p:spPr>
        </p:sp>
        <p:sp>
          <p:nvSpPr>
            <p:cNvPr id="13" name="node01.row.item-006.s.status-mark"/>
            <p:cNvSpPr/>
            <p:nvPr/>
          </p:nvSpPr>
          <p:spPr>
            <a:xfrm>
              <a:off x="3168650" y="5162550"/>
              <a:ext cx="88900" cy="88900"/>
            </a:xfrm>
            <a:prstGeom prst="rect">
              <a:avLst/>
            </a:prstGeom>
            <a:solidFill>
              <a:srgbClr val="0047FF"/>
            </a:solidFill>
            <a:ln w="12700">
              <a:solidFill>
                <a:srgbClr val="070154"/>
              </a:solidFill>
              <a:prstDash val="solid"/>
            </a:ln>
          </p:spPr>
        </p:sp>
      </p:grpSp>
      <p:grpSp>
        <p:nvGrpSpPr>
          <p:cNvPr id="26" name="node02"/>
          <p:cNvGrpSpPr/>
          <p:nvPr/>
        </p:nvGrpSpPr>
        <p:grpSpPr>
          <a:xfrm>
            <a:off x="8953500" y="1600200"/>
            <a:ext cx="2514600" cy="139700"/>
            <a:chOff x="8953500" y="1600200"/>
            <a:chExt cx="2514600" cy="139700"/>
          </a:xfrm>
        </p:grpSpPr>
        <p:sp>
          <p:nvSpPr>
            <p:cNvPr id="14" name="node02.text"/>
            <p:cNvSpPr/>
            <p:nvPr/>
          </p:nvSpPr>
          <p:spPr>
            <a:xfrm>
              <a:off x="89535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ESCALATION ASKS</a:t>
              </a:r>
              <a:endParaRPr lang="en-US" sz="800" spc="48" kern="0" b="0" i="0" dirty="0">
                <a:solidFill>
                  <a:srgbClr val="CED7E6"/>
                </a:solidFill>
                <a:latin typeface="IBM Plex Mono Medium"/>
                <a:ea typeface="IBM Plex Mono Medium"/>
                <a:cs typeface="IBM Plex Mono Medium"/>
              </a:endParaRPr>
            </a:p>
          </p:txBody>
        </p:sp>
      </p:grpSp>
      <p:grpSp>
        <p:nvGrpSpPr>
          <p:cNvPr id="27" name="node03"/>
          <p:cNvGrpSpPr/>
          <p:nvPr/>
        </p:nvGrpSpPr>
        <p:grpSpPr>
          <a:xfrm>
            <a:off x="8953500" y="1905000"/>
            <a:ext cx="2514600" cy="509969"/>
            <a:chOff x="8953500" y="1905000"/>
            <a:chExt cx="2514600" cy="509969"/>
          </a:xfrm>
        </p:grpSpPr>
        <p:sp>
          <p:nvSpPr>
            <p:cNvPr id="15" name="node03.text"/>
            <p:cNvSpPr/>
            <p:nvPr/>
          </p:nvSpPr>
          <p:spPr>
            <a:xfrm>
              <a:off x="8953500" y="1905000"/>
              <a:ext cx="25146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FFFFFF"/>
                  </a:solidFill>
                  <a:latin typeface="IBM Plex Mono SemiBold"/>
                  <a:ea typeface="IBM Plex Mono SemiBold"/>
                  <a:cs typeface="IBM Plex Mono SemiBold"/>
                </a:rPr>
                <a:t>3</a:t>
              </a:r>
              <a:endParaRPr lang="en-US" sz="4000" spc="-80" kern="0" b="0" i="0" dirty="0">
                <a:solidFill>
                  <a:srgbClr val="FFFFFF"/>
                </a:solidFill>
                <a:latin typeface="IBM Plex Mono SemiBold"/>
                <a:ea typeface="IBM Plex Mono SemiBold"/>
                <a:cs typeface="IBM Plex Mono SemiBold"/>
              </a:endParaRPr>
            </a:p>
          </p:txBody>
        </p:sp>
      </p:grpSp>
      <p:grpSp>
        <p:nvGrpSpPr>
          <p:cNvPr id="28" name="node04"/>
          <p:cNvGrpSpPr/>
          <p:nvPr/>
        </p:nvGrpSpPr>
        <p:grpSpPr>
          <a:xfrm>
            <a:off x="8953500" y="2743200"/>
            <a:ext cx="2514600" cy="190500"/>
            <a:chOff x="8953500" y="2743200"/>
            <a:chExt cx="2514600" cy="190500"/>
          </a:xfrm>
        </p:grpSpPr>
        <p:sp>
          <p:nvSpPr>
            <p:cNvPr id="16" name="node04.text"/>
            <p:cNvSpPr/>
            <p:nvPr/>
          </p:nvSpPr>
          <p:spPr>
            <a:xfrm>
              <a:off x="8953500" y="27432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sponsor actions needed this week</a:t>
              </a:r>
              <a:endParaRPr lang="en-US" sz="1100" spc="0" kern="0" b="0" i="0" dirty="0">
                <a:solidFill>
                  <a:srgbClr val="CED7E6"/>
                </a:solidFill>
                <a:latin typeface="IBM Plex Sans"/>
                <a:ea typeface="IBM Plex Sans"/>
                <a:cs typeface="IBM Plex Sans"/>
              </a:endParaRPr>
            </a:p>
          </p:txBody>
        </p:sp>
      </p:grpSp>
      <p:sp>
        <p:nvSpPr>
          <p:cNvPr id="17" name="node05"/>
          <p:cNvSpPr/>
          <p:nvPr/>
        </p:nvSpPr>
        <p:spPr>
          <a:xfrm>
            <a:off x="8953500" y="3200400"/>
            <a:ext cx="2514600" cy="9525"/>
          </a:xfrm>
          <a:prstGeom prst="rect">
            <a:avLst/>
          </a:prstGeom>
          <a:solidFill>
            <a:srgbClr val="50658E"/>
          </a:solidFill>
          <a:ln>
            <a:noFill/>
          </a:ln>
        </p:spPr>
      </p:sp>
      <p:grpSp>
        <p:nvGrpSpPr>
          <p:cNvPr id="29" name="node06"/>
          <p:cNvGrpSpPr/>
          <p:nvPr/>
        </p:nvGrpSpPr>
        <p:grpSpPr>
          <a:xfrm>
            <a:off x="8953500" y="3429000"/>
            <a:ext cx="2514600" cy="1371600"/>
            <a:chOff x="8953500" y="3429000"/>
            <a:chExt cx="2514600" cy="1371600"/>
          </a:xfrm>
        </p:grpSpPr>
        <p:sp>
          <p:nvSpPr>
            <p:cNvPr id="18" name="node06.source-001.bullet"/>
            <p:cNvSpPr/>
            <p:nvPr/>
          </p:nvSpPr>
          <p:spPr>
            <a:xfrm>
              <a:off x="8953500" y="3517900"/>
              <a:ext cx="38100" cy="38100"/>
            </a:xfrm>
            <a:prstGeom prst="rect">
              <a:avLst/>
            </a:prstGeom>
            <a:solidFill>
              <a:srgbClr val="FFFFFF"/>
            </a:solidFill>
            <a:ln>
              <a:noFill/>
            </a:ln>
          </p:spPr>
        </p:sp>
        <p:sp>
          <p:nvSpPr>
            <p:cNvPr id="19" name="node06.source-001.text"/>
            <p:cNvSpPr/>
            <p:nvPr/>
          </p:nvSpPr>
          <p:spPr>
            <a:xfrm>
              <a:off x="9105900" y="34290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CEO office to hold 45 minutes for the CMO</a:t>
              </a:r>
              <a:endParaRPr lang="en-US" sz="1200" spc="0" kern="0" b="0" i="0" dirty="0">
                <a:solidFill>
                  <a:srgbClr val="FFFFFF"/>
                </a:solidFill>
                <a:latin typeface="IBM Plex Sans"/>
                <a:ea typeface="IBM Plex Sans"/>
                <a:cs typeface="IBM Plex Sans"/>
              </a:endParaRPr>
            </a:p>
          </p:txBody>
        </p:sp>
        <p:sp>
          <p:nvSpPr>
            <p:cNvPr id="20" name="node06.source-002.bullet"/>
            <p:cNvSpPr/>
            <p:nvPr/>
          </p:nvSpPr>
          <p:spPr>
            <a:xfrm>
              <a:off x="8953500" y="3987800"/>
              <a:ext cx="38100" cy="38100"/>
            </a:xfrm>
            <a:prstGeom prst="rect">
              <a:avLst/>
            </a:prstGeom>
            <a:solidFill>
              <a:srgbClr val="FFFFFF"/>
            </a:solidFill>
            <a:ln>
              <a:noFill/>
            </a:ln>
          </p:spPr>
        </p:sp>
        <p:sp>
          <p:nvSpPr>
            <p:cNvPr id="21" name="node06.source-002.text"/>
            <p:cNvSpPr/>
            <p:nvPr/>
          </p:nvSpPr>
          <p:spPr>
            <a:xfrm>
              <a:off x="9105900" y="38989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COO to release registrars for 60 minutes</a:t>
              </a:r>
              <a:endParaRPr lang="en-US" sz="1200" spc="0" kern="0" b="0" i="0" dirty="0">
                <a:solidFill>
                  <a:srgbClr val="FFFFFF"/>
                </a:solidFill>
                <a:latin typeface="IBM Plex Sans"/>
                <a:ea typeface="IBM Plex Sans"/>
                <a:cs typeface="IBM Plex Sans"/>
              </a:endParaRPr>
            </a:p>
          </p:txBody>
        </p:sp>
        <p:sp>
          <p:nvSpPr>
            <p:cNvPr id="22" name="node06.source-003.bullet"/>
            <p:cNvSpPr/>
            <p:nvPr/>
          </p:nvSpPr>
          <p:spPr>
            <a:xfrm>
              <a:off x="8953500" y="4457700"/>
              <a:ext cx="38100" cy="38100"/>
            </a:xfrm>
            <a:prstGeom prst="rect">
              <a:avLst/>
            </a:prstGeom>
            <a:solidFill>
              <a:srgbClr val="FFFFFF"/>
            </a:solidFill>
            <a:ln>
              <a:noFill/>
            </a:ln>
          </p:spPr>
        </p:sp>
        <p:sp>
          <p:nvSpPr>
            <p:cNvPr id="23" name="node06.source-003.text"/>
            <p:cNvSpPr/>
            <p:nvPr/>
          </p:nvSpPr>
          <p:spPr>
            <a:xfrm>
              <a:off x="9105900" y="43688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CFO to route the board chair request</a:t>
              </a:r>
              <a:endParaRPr lang="en-US" sz="1200" spc="0" kern="0" b="0" i="0" dirty="0">
                <a:solidFill>
                  <a:srgbClr val="FFFFFF"/>
                </a:solidFill>
                <a:latin typeface="IBM Plex Sans"/>
                <a:ea typeface="IBM Plex Sans"/>
                <a:cs typeface="IBM Plex Sans"/>
              </a:endParaRPr>
            </a:p>
          </p:txBody>
        </p:sp>
      </p:grpSp>
      <p:grpSp>
        <p:nvGrpSpPr>
          <p:cNvPr id="30" name="node07"/>
          <p:cNvGrpSpPr/>
          <p:nvPr/>
        </p:nvGrpSpPr>
        <p:grpSpPr>
          <a:xfrm>
            <a:off x="8953500" y="5029200"/>
            <a:ext cx="2514600" cy="381000"/>
            <a:chOff x="8953500" y="5029200"/>
            <a:chExt cx="2514600" cy="381000"/>
          </a:xfrm>
        </p:grpSpPr>
        <p:sp>
          <p:nvSpPr>
            <p:cNvPr id="24" name="node07.text"/>
            <p:cNvSpPr/>
            <p:nvPr/>
          </p:nvSpPr>
          <p:spPr>
            <a:xfrm>
              <a:off x="8953500" y="5029200"/>
              <a:ext cx="2514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Until then: clinical and front-end findings rest on documents only.</a:t>
              </a:r>
              <a:endParaRPr lang="en-US" sz="1100" spc="0" kern="0" b="0" i="0" dirty="0">
                <a:solidFill>
                  <a:srgbClr val="CED7E6"/>
                </a:solidFill>
                <a:latin typeface="IBM Plex Sans"/>
                <a:ea typeface="IBM Plex Sans"/>
                <a:cs typeface="IBM Plex Sans"/>
              </a:endParaRPr>
            </a:p>
          </p:txBody>
        </p:sp>
      </p:gr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ource-230">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stakeholders need a sponsor push</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156</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2057400"/>
            <a:ext cx="3429000" cy="1676400"/>
            <a:chOff x="723900" y="2057400"/>
            <a:chExt cx="3429000" cy="1676400"/>
          </a:xfrm>
        </p:grpSpPr>
        <p:sp>
          <p:nvSpPr>
            <p:cNvPr id="7" name="node01.container"/>
            <p:cNvSpPr/>
            <p:nvPr/>
          </p:nvSpPr>
          <p:spPr>
            <a:xfrm>
              <a:off x="730250" y="2063750"/>
              <a:ext cx="3416300" cy="1663700"/>
            </a:xfrm>
            <a:prstGeom prst="rect">
              <a:avLst/>
            </a:prstGeom>
            <a:solidFill>
              <a:srgbClr val="FFFFFF"/>
            </a:solidFill>
            <a:ln w="12700">
              <a:solidFill>
                <a:srgbClr val="CED7E6"/>
              </a:solidFill>
              <a:prstDash val="solid"/>
            </a:ln>
          </p:spPr>
        </p:sp>
        <p:sp>
          <p:nvSpPr>
            <p:cNvPr id="8" name="node01.edge"/>
            <p:cNvSpPr/>
            <p:nvPr/>
          </p:nvSpPr>
          <p:spPr>
            <a:xfrm>
              <a:off x="723900" y="2057400"/>
              <a:ext cx="38100" cy="1676400"/>
            </a:xfrm>
            <a:prstGeom prst="rect">
              <a:avLst/>
            </a:prstGeom>
            <a:solidFill>
              <a:srgbClr val="0047FF"/>
            </a:solidFill>
            <a:ln>
              <a:noFill/>
            </a:ln>
          </p:spPr>
        </p:sp>
        <p:sp>
          <p:nvSpPr>
            <p:cNvPr id="9" name="node01.label"/>
            <p:cNvSpPr/>
            <p:nvPr/>
          </p:nvSpPr>
          <p:spPr>
            <a:xfrm>
              <a:off x="914400" y="2209800"/>
              <a:ext cx="30861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BLOCKED · 34 DAYS</a:t>
              </a:r>
              <a:endParaRPr lang="en-US" sz="800" spc="48" kern="0" b="0" i="0" dirty="0">
                <a:solidFill>
                  <a:srgbClr val="0047FF"/>
                </a:solidFill>
                <a:latin typeface="IBM Plex Mono Medium"/>
                <a:ea typeface="IBM Plex Mono Medium"/>
                <a:cs typeface="IBM Plex Mono Medium"/>
              </a:endParaRPr>
            </a:p>
          </p:txBody>
        </p:sp>
        <p:sp>
          <p:nvSpPr>
            <p:cNvPr id="10" name="node01.title"/>
            <p:cNvSpPr/>
            <p:nvPr/>
          </p:nvSpPr>
          <p:spPr>
            <a:xfrm>
              <a:off x="914400" y="2425700"/>
              <a:ext cx="30861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Chief Medical Officer · Clinical ops</a:t>
              </a:r>
              <a:endParaRPr lang="en-US" sz="1100" spc="0" kern="0" b="0" i="0" dirty="0">
                <a:solidFill>
                  <a:srgbClr val="070154"/>
                </a:solidFill>
                <a:latin typeface="IBM Plex Sans"/>
                <a:ea typeface="IBM Plex Sans"/>
                <a:cs typeface="IBM Plex Sans"/>
              </a:endParaRPr>
            </a:p>
          </p:txBody>
        </p:sp>
        <p:sp>
          <p:nvSpPr>
            <p:cNvPr id="11" name="node01.body.item-001.bullets.item-001.marker"/>
            <p:cNvSpPr/>
            <p:nvPr/>
          </p:nvSpPr>
          <p:spPr>
            <a:xfrm>
              <a:off x="914400" y="2857500"/>
              <a:ext cx="38100" cy="38100"/>
            </a:xfrm>
            <a:prstGeom prst="rect">
              <a:avLst/>
            </a:prstGeom>
            <a:solidFill>
              <a:srgbClr val="070154"/>
            </a:solidFill>
            <a:ln>
              <a:noFill/>
            </a:ln>
          </p:spPr>
        </p:sp>
        <p:sp>
          <p:nvSpPr>
            <p:cNvPr id="12" name="node01.body.item-001.bullets.item-001.text"/>
            <p:cNvSpPr/>
            <p:nvPr/>
          </p:nvSpPr>
          <p:spPr>
            <a:xfrm>
              <a:off x="1066800" y="2768600"/>
              <a:ext cx="29337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Ask: CEO office holds 45 minutes</a:t>
              </a:r>
              <a:endParaRPr lang="en-US" sz="1200" spc="0" kern="0" b="0" i="0" dirty="0">
                <a:solidFill>
                  <a:srgbClr val="070154"/>
                </a:solidFill>
                <a:latin typeface="IBM Plex Sans"/>
                <a:ea typeface="IBM Plex Sans"/>
                <a:cs typeface="IBM Plex Sans"/>
              </a:endParaRPr>
            </a:p>
          </p:txBody>
        </p:sp>
        <p:sp>
          <p:nvSpPr>
            <p:cNvPr id="13" name="node01.body.item-001.bullets.item-002.marker"/>
            <p:cNvSpPr/>
            <p:nvPr/>
          </p:nvSpPr>
          <p:spPr>
            <a:xfrm>
              <a:off x="914400" y="3111500"/>
              <a:ext cx="38100" cy="38100"/>
            </a:xfrm>
            <a:prstGeom prst="rect">
              <a:avLst/>
            </a:prstGeom>
            <a:solidFill>
              <a:srgbClr val="070154"/>
            </a:solidFill>
            <a:ln>
              <a:noFill/>
            </a:ln>
          </p:spPr>
        </p:sp>
        <p:sp>
          <p:nvSpPr>
            <p:cNvPr id="14" name="node01.body.item-001.bullets.item-002.text"/>
            <p:cNvSpPr/>
            <p:nvPr/>
          </p:nvSpPr>
          <p:spPr>
            <a:xfrm>
              <a:off x="1066800" y="3022600"/>
              <a:ext cx="29337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who owns documentation standards</a:t>
              </a:r>
              <a:endParaRPr lang="en-US" sz="1200" spc="0" kern="0" b="0" i="0" dirty="0">
                <a:solidFill>
                  <a:srgbClr val="070154"/>
                </a:solidFill>
                <a:latin typeface="IBM Plex Sans"/>
                <a:ea typeface="IBM Plex Sans"/>
                <a:cs typeface="IBM Plex Sans"/>
              </a:endParaRPr>
            </a:p>
          </p:txBody>
        </p:sp>
      </p:grpSp>
      <p:grpSp>
        <p:nvGrpSpPr>
          <p:cNvPr id="50" name="node02"/>
          <p:cNvGrpSpPr/>
          <p:nvPr/>
        </p:nvGrpSpPr>
        <p:grpSpPr>
          <a:xfrm>
            <a:off x="4381500" y="2057400"/>
            <a:ext cx="3429000" cy="1676400"/>
            <a:chOff x="4381500" y="2057400"/>
            <a:chExt cx="3429000" cy="1676400"/>
          </a:xfrm>
        </p:grpSpPr>
        <p:sp>
          <p:nvSpPr>
            <p:cNvPr id="15" name="node02.container"/>
            <p:cNvSpPr/>
            <p:nvPr/>
          </p:nvSpPr>
          <p:spPr>
            <a:xfrm>
              <a:off x="4381500" y="2057400"/>
              <a:ext cx="3429000" cy="1676400"/>
            </a:xfrm>
            <a:prstGeom prst="rect">
              <a:avLst/>
            </a:prstGeom>
            <a:solidFill>
              <a:srgbClr val="E8EEF8"/>
            </a:solidFill>
            <a:ln>
              <a:noFill/>
            </a:ln>
          </p:spPr>
        </p:sp>
        <p:sp>
          <p:nvSpPr>
            <p:cNvPr id="16" name="node02.label"/>
            <p:cNvSpPr/>
            <p:nvPr/>
          </p:nvSpPr>
          <p:spPr>
            <a:xfrm>
              <a:off x="4533900" y="2209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NO RESPONSE · 21 DAYS</a:t>
              </a:r>
              <a:endParaRPr lang="en-US" sz="800" spc="48" kern="0" b="0" i="0" dirty="0">
                <a:solidFill>
                  <a:srgbClr val="0047FF"/>
                </a:solidFill>
                <a:latin typeface="IBM Plex Mono Medium"/>
                <a:ea typeface="IBM Plex Mono Medium"/>
                <a:cs typeface="IBM Plex Mono Medium"/>
              </a:endParaRPr>
            </a:p>
          </p:txBody>
        </p:sp>
        <p:sp>
          <p:nvSpPr>
            <p:cNvPr id="17" name="node02.title"/>
            <p:cNvSpPr/>
            <p:nvPr/>
          </p:nvSpPr>
          <p:spPr>
            <a:xfrm>
              <a:off x="4533900" y="242570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Patient Access Supervisors</a:t>
              </a:r>
              <a:endParaRPr lang="en-US" sz="1100" spc="0" kern="0" b="0" i="0" dirty="0">
                <a:solidFill>
                  <a:srgbClr val="070154"/>
                </a:solidFill>
                <a:latin typeface="IBM Plex Sans"/>
                <a:ea typeface="IBM Plex Sans"/>
                <a:cs typeface="IBM Plex Sans"/>
              </a:endParaRPr>
            </a:p>
          </p:txBody>
        </p:sp>
        <p:sp>
          <p:nvSpPr>
            <p:cNvPr id="18" name="node02.body.item-001.bullets.item-001.marker"/>
            <p:cNvSpPr/>
            <p:nvPr/>
          </p:nvSpPr>
          <p:spPr>
            <a:xfrm>
              <a:off x="4533900" y="2857500"/>
              <a:ext cx="38100" cy="38100"/>
            </a:xfrm>
            <a:prstGeom prst="rect">
              <a:avLst/>
            </a:prstGeom>
            <a:solidFill>
              <a:srgbClr val="070154"/>
            </a:solidFill>
            <a:ln>
              <a:noFill/>
            </a:ln>
          </p:spPr>
        </p:sp>
        <p:sp>
          <p:nvSpPr>
            <p:cNvPr id="19" name="node02.body.item-001.bullets.item-001.text"/>
            <p:cNvSpPr/>
            <p:nvPr/>
          </p:nvSpPr>
          <p:spPr>
            <a:xfrm>
              <a:off x="4686300" y="27686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Ask: COO releases team for 60 minutes</a:t>
              </a:r>
              <a:endParaRPr lang="en-US" sz="1200" spc="0" kern="0" b="0" i="0" dirty="0">
                <a:solidFill>
                  <a:srgbClr val="070154"/>
                </a:solidFill>
                <a:latin typeface="IBM Plex Sans"/>
                <a:ea typeface="IBM Plex Sans"/>
                <a:cs typeface="IBM Plex Sans"/>
              </a:endParaRPr>
            </a:p>
          </p:txBody>
        </p:sp>
        <p:sp>
          <p:nvSpPr>
            <p:cNvPr id="20" name="node02.body.item-001.bullets.item-002.marker"/>
            <p:cNvSpPr/>
            <p:nvPr/>
          </p:nvSpPr>
          <p:spPr>
            <a:xfrm>
              <a:off x="4533900" y="3111500"/>
              <a:ext cx="38100" cy="38100"/>
            </a:xfrm>
            <a:prstGeom prst="rect">
              <a:avLst/>
            </a:prstGeom>
            <a:solidFill>
              <a:srgbClr val="070154"/>
            </a:solidFill>
            <a:ln>
              <a:noFill/>
            </a:ln>
          </p:spPr>
        </p:sp>
        <p:sp>
          <p:nvSpPr>
            <p:cNvPr id="21" name="node02.body.item-001.bullets.item-002.text"/>
            <p:cNvSpPr/>
            <p:nvPr/>
          </p:nvSpPr>
          <p:spPr>
            <a:xfrm>
              <a:off x="4686300" y="30226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where registration errors are found</a:t>
              </a:r>
              <a:endParaRPr lang="en-US" sz="1200" spc="0" kern="0" b="0" i="0" dirty="0">
                <a:solidFill>
                  <a:srgbClr val="070154"/>
                </a:solidFill>
                <a:latin typeface="IBM Plex Sans"/>
                <a:ea typeface="IBM Plex Sans"/>
                <a:cs typeface="IBM Plex Sans"/>
              </a:endParaRPr>
            </a:p>
          </p:txBody>
        </p:sp>
      </p:grpSp>
      <p:grpSp>
        <p:nvGrpSpPr>
          <p:cNvPr id="51" name="node03"/>
          <p:cNvGrpSpPr/>
          <p:nvPr/>
        </p:nvGrpSpPr>
        <p:grpSpPr>
          <a:xfrm>
            <a:off x="723900" y="3886200"/>
            <a:ext cx="3429000" cy="1828800"/>
            <a:chOff x="723900" y="3886200"/>
            <a:chExt cx="3429000" cy="1828800"/>
          </a:xfrm>
        </p:grpSpPr>
        <p:sp>
          <p:nvSpPr>
            <p:cNvPr id="22" name="node03.container"/>
            <p:cNvSpPr/>
            <p:nvPr/>
          </p:nvSpPr>
          <p:spPr>
            <a:xfrm>
              <a:off x="723900" y="3886200"/>
              <a:ext cx="3429000" cy="1828800"/>
            </a:xfrm>
            <a:prstGeom prst="rect">
              <a:avLst/>
            </a:prstGeom>
            <a:solidFill>
              <a:srgbClr val="E8EEF8"/>
            </a:solidFill>
            <a:ln>
              <a:noFill/>
            </a:ln>
          </p:spPr>
        </p:sp>
        <p:sp>
          <p:nvSpPr>
            <p:cNvPr id="23" name="node03.label"/>
            <p:cNvSpPr/>
            <p:nvPr/>
          </p:nvSpPr>
          <p:spPr>
            <a:xfrm>
              <a:off x="876300" y="4038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RESCHEDULED · 12 DAYS</a:t>
              </a:r>
              <a:endParaRPr lang="en-US" sz="800" spc="48" kern="0" b="0" i="0" dirty="0">
                <a:solidFill>
                  <a:srgbClr val="0047FF"/>
                </a:solidFill>
                <a:latin typeface="IBM Plex Mono Medium"/>
                <a:ea typeface="IBM Plex Mono Medium"/>
                <a:cs typeface="IBM Plex Mono Medium"/>
              </a:endParaRPr>
            </a:p>
          </p:txBody>
        </p:sp>
        <p:sp>
          <p:nvSpPr>
            <p:cNvPr id="24" name="node03.title"/>
            <p:cNvSpPr/>
            <p:nvPr/>
          </p:nvSpPr>
          <p:spPr>
            <a:xfrm>
              <a:off x="876300" y="425450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VP Supply Chain · Finance</a:t>
              </a:r>
              <a:endParaRPr lang="en-US" sz="1100" spc="0" kern="0" b="0" i="0" dirty="0">
                <a:solidFill>
                  <a:srgbClr val="070154"/>
                </a:solidFill>
                <a:latin typeface="IBM Plex Sans"/>
                <a:ea typeface="IBM Plex Sans"/>
                <a:cs typeface="IBM Plex Sans"/>
              </a:endParaRPr>
            </a:p>
          </p:txBody>
        </p:sp>
        <p:sp>
          <p:nvSpPr>
            <p:cNvPr id="25" name="node03.body.item-001.bullets.item-001.marker"/>
            <p:cNvSpPr/>
            <p:nvPr/>
          </p:nvSpPr>
          <p:spPr>
            <a:xfrm>
              <a:off x="876300" y="4686300"/>
              <a:ext cx="38100" cy="38100"/>
            </a:xfrm>
            <a:prstGeom prst="rect">
              <a:avLst/>
            </a:prstGeom>
            <a:solidFill>
              <a:srgbClr val="070154"/>
            </a:solidFill>
            <a:ln>
              <a:noFill/>
            </a:ln>
          </p:spPr>
        </p:sp>
        <p:sp>
          <p:nvSpPr>
            <p:cNvPr id="26" name="node03.body.item-001.bullets.item-001.text"/>
            <p:cNvSpPr/>
            <p:nvPr/>
          </p:nvSpPr>
          <p:spPr>
            <a:xfrm>
              <a:off x="1028700" y="4597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Ask: shared Thursday slot</a:t>
              </a:r>
              <a:endParaRPr lang="en-US" sz="1200" spc="0" kern="0" b="0" i="0" dirty="0">
                <a:solidFill>
                  <a:srgbClr val="070154"/>
                </a:solidFill>
                <a:latin typeface="IBM Plex Sans"/>
                <a:ea typeface="IBM Plex Sans"/>
                <a:cs typeface="IBM Plex Sans"/>
              </a:endParaRPr>
            </a:p>
          </p:txBody>
        </p:sp>
        <p:sp>
          <p:nvSpPr>
            <p:cNvPr id="27" name="node03.body.item-001.bullets.item-002.marker"/>
            <p:cNvSpPr/>
            <p:nvPr/>
          </p:nvSpPr>
          <p:spPr>
            <a:xfrm>
              <a:off x="876300" y="4940300"/>
              <a:ext cx="38100" cy="38100"/>
            </a:xfrm>
            <a:prstGeom prst="rect">
              <a:avLst/>
            </a:prstGeom>
            <a:solidFill>
              <a:srgbClr val="070154"/>
            </a:solidFill>
            <a:ln>
              <a:noFill/>
            </a:ln>
          </p:spPr>
        </p:sp>
        <p:sp>
          <p:nvSpPr>
            <p:cNvPr id="28" name="node03.body.item-001.bullets.item-002.text"/>
            <p:cNvSpPr/>
            <p:nvPr/>
          </p:nvSpPr>
          <p:spPr>
            <a:xfrm>
              <a:off x="1028700" y="4851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spend outside contracts</a:t>
              </a:r>
              <a:endParaRPr lang="en-US" sz="1200" spc="0" kern="0" b="0" i="0" dirty="0">
                <a:solidFill>
                  <a:srgbClr val="070154"/>
                </a:solidFill>
                <a:latin typeface="IBM Plex Sans"/>
                <a:ea typeface="IBM Plex Sans"/>
                <a:cs typeface="IBM Plex Sans"/>
              </a:endParaRPr>
            </a:p>
          </p:txBody>
        </p:sp>
      </p:grpSp>
      <p:grpSp>
        <p:nvGrpSpPr>
          <p:cNvPr id="52" name="node04"/>
          <p:cNvGrpSpPr/>
          <p:nvPr/>
        </p:nvGrpSpPr>
        <p:grpSpPr>
          <a:xfrm>
            <a:off x="4381500" y="3886200"/>
            <a:ext cx="3429000" cy="1828800"/>
            <a:chOff x="4381500" y="3886200"/>
            <a:chExt cx="3429000" cy="1828800"/>
          </a:xfrm>
        </p:grpSpPr>
        <p:sp>
          <p:nvSpPr>
            <p:cNvPr id="29" name="node04.container"/>
            <p:cNvSpPr/>
            <p:nvPr/>
          </p:nvSpPr>
          <p:spPr>
            <a:xfrm>
              <a:off x="4381500" y="3886200"/>
              <a:ext cx="3429000" cy="1828800"/>
            </a:xfrm>
            <a:prstGeom prst="rect">
              <a:avLst/>
            </a:prstGeom>
            <a:solidFill>
              <a:srgbClr val="E8EEF8"/>
            </a:solidFill>
            <a:ln>
              <a:noFill/>
            </a:ln>
          </p:spPr>
        </p:sp>
        <p:sp>
          <p:nvSpPr>
            <p:cNvPr id="30" name="node04.label"/>
            <p:cNvSpPr/>
            <p:nvPr/>
          </p:nvSpPr>
          <p:spPr>
            <a:xfrm>
              <a:off x="4533900" y="4038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RESCHEDULED · 9 DAYS</a:t>
              </a:r>
              <a:endParaRPr lang="en-US" sz="800" spc="48" kern="0" b="0" i="0" dirty="0">
                <a:solidFill>
                  <a:srgbClr val="0047FF"/>
                </a:solidFill>
                <a:latin typeface="IBM Plex Mono Medium"/>
                <a:ea typeface="IBM Plex Mono Medium"/>
                <a:cs typeface="IBM Plex Mono Medium"/>
              </a:endParaRPr>
            </a:p>
          </p:txBody>
        </p:sp>
        <p:sp>
          <p:nvSpPr>
            <p:cNvPr id="31" name="node04.title"/>
            <p:cNvSpPr/>
            <p:nvPr/>
          </p:nvSpPr>
          <p:spPr>
            <a:xfrm>
              <a:off x="4533900" y="425450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Chief Digital Officer · IT</a:t>
              </a:r>
              <a:endParaRPr lang="en-US" sz="1100" spc="0" kern="0" b="0" i="0" dirty="0">
                <a:solidFill>
                  <a:srgbClr val="070154"/>
                </a:solidFill>
                <a:latin typeface="IBM Plex Sans"/>
                <a:ea typeface="IBM Plex Sans"/>
                <a:cs typeface="IBM Plex Sans"/>
              </a:endParaRPr>
            </a:p>
          </p:txBody>
        </p:sp>
        <p:sp>
          <p:nvSpPr>
            <p:cNvPr id="32" name="node04.body.item-001.bullets.item-001.marker"/>
            <p:cNvSpPr/>
            <p:nvPr/>
          </p:nvSpPr>
          <p:spPr>
            <a:xfrm>
              <a:off x="4533900" y="4686300"/>
              <a:ext cx="38100" cy="38100"/>
            </a:xfrm>
            <a:prstGeom prst="rect">
              <a:avLst/>
            </a:prstGeom>
            <a:solidFill>
              <a:srgbClr val="070154"/>
            </a:solidFill>
            <a:ln>
              <a:noFill/>
            </a:ln>
          </p:spPr>
        </p:sp>
        <p:sp>
          <p:nvSpPr>
            <p:cNvPr id="33" name="node04.body.item-001.bullets.item-001.text"/>
            <p:cNvSpPr/>
            <p:nvPr/>
          </p:nvSpPr>
          <p:spPr>
            <a:xfrm>
              <a:off x="4686300" y="4597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Ask: sponsor note on priority</a:t>
              </a:r>
              <a:endParaRPr lang="en-US" sz="1200" spc="0" kern="0" b="0" i="0" dirty="0">
                <a:solidFill>
                  <a:srgbClr val="070154"/>
                </a:solidFill>
                <a:latin typeface="IBM Plex Sans"/>
                <a:ea typeface="IBM Plex Sans"/>
                <a:cs typeface="IBM Plex Sans"/>
              </a:endParaRPr>
            </a:p>
          </p:txBody>
        </p:sp>
        <p:sp>
          <p:nvSpPr>
            <p:cNvPr id="34" name="node04.body.item-001.bullets.item-002.marker"/>
            <p:cNvSpPr/>
            <p:nvPr/>
          </p:nvSpPr>
          <p:spPr>
            <a:xfrm>
              <a:off x="4533900" y="4940300"/>
              <a:ext cx="38100" cy="38100"/>
            </a:xfrm>
            <a:prstGeom prst="rect">
              <a:avLst/>
            </a:prstGeom>
            <a:solidFill>
              <a:srgbClr val="070154"/>
            </a:solidFill>
            <a:ln>
              <a:noFill/>
            </a:ln>
          </p:spPr>
        </p:sp>
        <p:sp>
          <p:nvSpPr>
            <p:cNvPr id="35" name="node04.body.item-001.bullets.item-002.text"/>
            <p:cNvSpPr/>
            <p:nvPr/>
          </p:nvSpPr>
          <p:spPr>
            <a:xfrm>
              <a:off x="4686300" y="48514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platform roadmap fit</a:t>
              </a:r>
              <a:endParaRPr lang="en-US" sz="1200" spc="0" kern="0" b="0" i="0" dirty="0">
                <a:solidFill>
                  <a:srgbClr val="070154"/>
                </a:solidFill>
                <a:latin typeface="IBM Plex Sans"/>
                <a:ea typeface="IBM Plex Sans"/>
                <a:cs typeface="IBM Plex Sans"/>
              </a:endParaRPr>
            </a:p>
          </p:txBody>
        </p:sp>
      </p:grpSp>
      <p:grpSp>
        <p:nvGrpSpPr>
          <p:cNvPr id="53" name="node05"/>
          <p:cNvGrpSpPr/>
          <p:nvPr/>
        </p:nvGrpSpPr>
        <p:grpSpPr>
          <a:xfrm>
            <a:off x="8039100" y="457200"/>
            <a:ext cx="3429000" cy="802069"/>
            <a:chOff x="8039100" y="457200"/>
            <a:chExt cx="3429000" cy="802069"/>
          </a:xfrm>
        </p:grpSpPr>
        <p:sp>
          <p:nvSpPr>
            <p:cNvPr id="36" name="node05.value"/>
            <p:cNvSpPr/>
            <p:nvPr/>
          </p:nvSpPr>
          <p:spPr>
            <a:xfrm>
              <a:off x="8039100" y="457200"/>
              <a:ext cx="34290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19 days</a:t>
              </a:r>
              <a:endParaRPr lang="en-US" sz="4000" spc="-80" kern="0" b="0" i="0" dirty="0">
                <a:solidFill>
                  <a:srgbClr val="070154"/>
                </a:solidFill>
                <a:latin typeface="IBM Plex Mono SemiBold"/>
                <a:ea typeface="IBM Plex Mono SemiBold"/>
                <a:cs typeface="IBM Plex Mono SemiBold"/>
              </a:endParaRPr>
            </a:p>
          </p:txBody>
        </p:sp>
        <p:sp>
          <p:nvSpPr>
            <p:cNvPr id="37" name="node05.label"/>
            <p:cNvSpPr/>
            <p:nvPr/>
          </p:nvSpPr>
          <p:spPr>
            <a:xfrm>
              <a:off x="8039100" y="1043369"/>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average wait across the four</a:t>
              </a:r>
              <a:endParaRPr lang="en-US" sz="1200" spc="0" kern="0" b="0" i="0" dirty="0">
                <a:solidFill>
                  <a:srgbClr val="50658E"/>
                </a:solidFill>
                <a:latin typeface="IBM Plex Sans"/>
                <a:ea typeface="IBM Plex Sans"/>
                <a:cs typeface="IBM Plex Sans"/>
              </a:endParaRPr>
            </a:p>
          </p:txBody>
        </p:sp>
      </p:grpSp>
      <p:grpSp>
        <p:nvGrpSpPr>
          <p:cNvPr id="54" name="node06"/>
          <p:cNvGrpSpPr/>
          <p:nvPr/>
        </p:nvGrpSpPr>
        <p:grpSpPr>
          <a:xfrm>
            <a:off x="8039100" y="1600200"/>
            <a:ext cx="3429000" cy="1691069"/>
            <a:chOff x="8039100" y="1600200"/>
            <a:chExt cx="3429000" cy="1691069"/>
          </a:xfrm>
        </p:grpSpPr>
        <p:sp>
          <p:nvSpPr>
            <p:cNvPr id="38" name="node06.container"/>
            <p:cNvSpPr/>
            <p:nvPr/>
          </p:nvSpPr>
          <p:spPr>
            <a:xfrm>
              <a:off x="8039100" y="1600200"/>
              <a:ext cx="3429000" cy="1691069"/>
            </a:xfrm>
            <a:prstGeom prst="rect">
              <a:avLst/>
            </a:prstGeom>
            <a:solidFill>
              <a:srgbClr val="F900D3"/>
            </a:solidFill>
            <a:ln>
              <a:noFill/>
            </a:ln>
          </p:spPr>
        </p:sp>
        <p:sp>
          <p:nvSpPr>
            <p:cNvPr id="39" name="node06.eyebrow"/>
            <p:cNvSpPr/>
            <p:nvPr/>
          </p:nvSpPr>
          <p:spPr>
            <a:xfrm>
              <a:off x="8267700" y="1828800"/>
              <a:ext cx="2971800" cy="139700"/>
            </a:xfrm>
            <a:prstGeom prst="rect">
              <a:avLst/>
            </a:prstGeom>
            <a:noFill/>
            <a:ln/>
          </p:spPr>
          <p:txBody>
            <a:bodyPr wrap="square" lIns="0" tIns="0" rIns="0" bIns="0" rtlCol="0" anchor="t"/>
            <a:lstStyle/>
            <a:p>
              <a:pPr algn="l" indent="0" marL="0">
                <a:lnSpc>
                  <a:spcPts val="1100"/>
                </a:lnSpc>
                <a:buNone/>
              </a:pPr>
              <a:r>
                <a:rPr lang="en-US" sz="900" spc="72" kern="0" b="0" i="0" dirty="0">
                  <a:solidFill>
                    <a:srgbClr val="070154"/>
                  </a:solidFill>
                  <a:latin typeface="IBM Plex Mono SemiBold"/>
                  <a:ea typeface="IBM Plex Mono SemiBold"/>
                  <a:cs typeface="IBM Plex Mono SemiBold"/>
                </a:rPr>
                <a:t>RISK IF UNRESOLVED</a:t>
              </a:r>
              <a:endParaRPr lang="en-US" sz="900" spc="72" kern="0" b="0" i="0" dirty="0">
                <a:solidFill>
                  <a:srgbClr val="070154"/>
                </a:solidFill>
                <a:latin typeface="IBM Plex Mono SemiBold"/>
                <a:ea typeface="IBM Plex Mono SemiBold"/>
                <a:cs typeface="IBM Plex Mono SemiBold"/>
              </a:endParaRPr>
            </a:p>
          </p:txBody>
        </p:sp>
        <p:sp>
          <p:nvSpPr>
            <p:cNvPr id="40" name="node06.metric.value"/>
            <p:cNvSpPr/>
            <p:nvPr/>
          </p:nvSpPr>
          <p:spPr>
            <a:xfrm>
              <a:off x="8267700" y="2044700"/>
              <a:ext cx="29718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FFFFFF"/>
                  </a:solidFill>
                  <a:latin typeface="IBM Plex Mono SemiBold"/>
                  <a:ea typeface="IBM Plex Mono SemiBold"/>
                  <a:cs typeface="IBM Plex Mono SemiBold"/>
                </a:rPr>
                <a:t>2</a:t>
              </a:r>
              <a:endParaRPr lang="en-US" sz="4000" spc="-80" kern="0" b="0" i="0" dirty="0">
                <a:solidFill>
                  <a:srgbClr val="FFFFFF"/>
                </a:solidFill>
                <a:latin typeface="IBM Plex Mono SemiBold"/>
                <a:ea typeface="IBM Plex Mono SemiBold"/>
                <a:cs typeface="IBM Plex Mono SemiBold"/>
              </a:endParaRPr>
            </a:p>
          </p:txBody>
        </p:sp>
        <p:sp>
          <p:nvSpPr>
            <p:cNvPr id="41" name="node06.metric.label"/>
            <p:cNvSpPr/>
            <p:nvPr/>
          </p:nvSpPr>
          <p:spPr>
            <a:xfrm>
              <a:off x="8267700" y="2630869"/>
              <a:ext cx="2971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findings stay unvalidated at the readout on Nov 3.</a:t>
              </a:r>
              <a:endParaRPr lang="en-US" sz="1200" spc="0" kern="0" b="0" i="0" dirty="0">
                <a:solidFill>
                  <a:srgbClr val="070154"/>
                </a:solidFill>
                <a:latin typeface="IBM Plex Sans"/>
                <a:ea typeface="IBM Plex Sans"/>
                <a:cs typeface="IBM Plex Sans"/>
              </a:endParaRPr>
            </a:p>
          </p:txBody>
        </p:sp>
      </p:grpSp>
      <p:grpSp>
        <p:nvGrpSpPr>
          <p:cNvPr id="55" name="node07"/>
          <p:cNvGrpSpPr/>
          <p:nvPr/>
        </p:nvGrpSpPr>
        <p:grpSpPr>
          <a:xfrm>
            <a:off x="8039100" y="3886200"/>
            <a:ext cx="3429000" cy="139700"/>
            <a:chOff x="8039100" y="3886200"/>
            <a:chExt cx="3429000" cy="139700"/>
          </a:xfrm>
        </p:grpSpPr>
        <p:sp>
          <p:nvSpPr>
            <p:cNvPr id="42" name="node07.label"/>
            <p:cNvSpPr/>
            <p:nvPr/>
          </p:nvSpPr>
          <p:spPr>
            <a:xfrm>
              <a:off x="8039100" y="3886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ASKS THIS WEEK</a:t>
              </a:r>
              <a:endParaRPr lang="en-US" sz="800" spc="48" kern="0" b="0" i="0" dirty="0">
                <a:solidFill>
                  <a:srgbClr val="0047FF"/>
                </a:solidFill>
                <a:latin typeface="IBM Plex Mono Medium"/>
                <a:ea typeface="IBM Plex Mono Medium"/>
                <a:cs typeface="IBM Plex Mono Medium"/>
              </a:endParaRPr>
            </a:p>
          </p:txBody>
        </p:sp>
      </p:grpSp>
      <p:grpSp>
        <p:nvGrpSpPr>
          <p:cNvPr id="56" name="node08"/>
          <p:cNvGrpSpPr/>
          <p:nvPr/>
        </p:nvGrpSpPr>
        <p:grpSpPr>
          <a:xfrm>
            <a:off x="8039100" y="4191000"/>
            <a:ext cx="3429000" cy="723900"/>
            <a:chOff x="8039100" y="4191000"/>
            <a:chExt cx="3429000" cy="723900"/>
          </a:xfrm>
        </p:grpSpPr>
        <p:sp>
          <p:nvSpPr>
            <p:cNvPr id="43" name="node08.source-001.bullet"/>
            <p:cNvSpPr/>
            <p:nvPr/>
          </p:nvSpPr>
          <p:spPr>
            <a:xfrm>
              <a:off x="8039100" y="4279900"/>
              <a:ext cx="38100" cy="38100"/>
            </a:xfrm>
            <a:prstGeom prst="rect">
              <a:avLst/>
            </a:prstGeom>
            <a:solidFill>
              <a:srgbClr val="070154"/>
            </a:solidFill>
            <a:ln>
              <a:noFill/>
            </a:ln>
          </p:spPr>
        </p:sp>
        <p:sp>
          <p:nvSpPr>
            <p:cNvPr id="44" name="node08.source-001.text"/>
            <p:cNvSpPr/>
            <p:nvPr/>
          </p:nvSpPr>
          <p:spPr>
            <a:xfrm>
              <a:off x="8191500" y="4191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CEO office: 45 minutes for the CMO</a:t>
              </a:r>
              <a:endParaRPr lang="en-US" sz="1200" spc="0" kern="0" b="0" i="0" dirty="0">
                <a:solidFill>
                  <a:srgbClr val="070154"/>
                </a:solidFill>
                <a:latin typeface="IBM Plex Sans"/>
                <a:ea typeface="IBM Plex Sans"/>
                <a:cs typeface="IBM Plex Sans"/>
              </a:endParaRPr>
            </a:p>
          </p:txBody>
        </p:sp>
        <p:sp>
          <p:nvSpPr>
            <p:cNvPr id="45" name="node08.source-002.bullet"/>
            <p:cNvSpPr/>
            <p:nvPr/>
          </p:nvSpPr>
          <p:spPr>
            <a:xfrm>
              <a:off x="8039100" y="4533900"/>
              <a:ext cx="38100" cy="38100"/>
            </a:xfrm>
            <a:prstGeom prst="rect">
              <a:avLst/>
            </a:prstGeom>
            <a:solidFill>
              <a:srgbClr val="070154"/>
            </a:solidFill>
            <a:ln>
              <a:noFill/>
            </a:ln>
          </p:spPr>
        </p:sp>
        <p:sp>
          <p:nvSpPr>
            <p:cNvPr id="46" name="node08.source-002.text"/>
            <p:cNvSpPr/>
            <p:nvPr/>
          </p:nvSpPr>
          <p:spPr>
            <a:xfrm>
              <a:off x="8191500" y="4445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COO: release registrars for 60 minutes</a:t>
              </a:r>
              <a:endParaRPr lang="en-US" sz="1200" spc="0" kern="0" b="0" i="0" dirty="0">
                <a:solidFill>
                  <a:srgbClr val="070154"/>
                </a:solidFill>
                <a:latin typeface="IBM Plex Sans"/>
                <a:ea typeface="IBM Plex Sans"/>
                <a:cs typeface="IBM Plex Sans"/>
              </a:endParaRPr>
            </a:p>
          </p:txBody>
        </p:sp>
        <p:sp>
          <p:nvSpPr>
            <p:cNvPr id="47" name="node08.source-003.bullet"/>
            <p:cNvSpPr/>
            <p:nvPr/>
          </p:nvSpPr>
          <p:spPr>
            <a:xfrm>
              <a:off x="8039100" y="4787900"/>
              <a:ext cx="38100" cy="38100"/>
            </a:xfrm>
            <a:prstGeom prst="rect">
              <a:avLst/>
            </a:prstGeom>
            <a:solidFill>
              <a:srgbClr val="070154"/>
            </a:solidFill>
            <a:ln>
              <a:noFill/>
            </a:ln>
          </p:spPr>
        </p:sp>
        <p:sp>
          <p:nvSpPr>
            <p:cNvPr id="48" name="node08.source-003.text"/>
            <p:cNvSpPr/>
            <p:nvPr/>
          </p:nvSpPr>
          <p:spPr>
            <a:xfrm>
              <a:off x="8191500" y="4699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CFO: route the board chair request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ource-23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cycle sees denials start at authorization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157</a:t>
            </a:fld>
            <a:endParaRPr lang="en-US" sz="700" spc="0" kern="0" b="0" i="0" dirty="0">
              <a:solidFill>
                <a:srgbClr val="070154"/>
              </a:solidFill>
              <a:latin typeface="IBM Plex Mono SemiBold"/>
              <a:ea typeface="IBM Plex Mono SemiBold"/>
              <a:cs typeface="IBM Plex Mono SemiBold"/>
            </a:endParaRPr>
          </a:p>
        </p:txBody>
      </p:sp>
      <p:grpSp>
        <p:nvGrpSpPr>
          <p:cNvPr id="54" name="node01"/>
          <p:cNvGrpSpPr/>
          <p:nvPr/>
        </p:nvGrpSpPr>
        <p:grpSpPr>
          <a:xfrm>
            <a:off x="723900" y="1600200"/>
            <a:ext cx="2514600" cy="139700"/>
            <a:chOff x="723900" y="1600200"/>
            <a:chExt cx="2514600" cy="139700"/>
          </a:xfrm>
        </p:grpSpPr>
        <p:sp>
          <p:nvSpPr>
            <p:cNvPr id="7" name="node01.text"/>
            <p:cNvSpPr/>
            <p:nvPr/>
          </p:nvSpPr>
          <p:spPr>
            <a:xfrm>
              <a:off x="7239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STAKEHOLDER</a:t>
              </a:r>
              <a:endParaRPr lang="en-US" sz="800" spc="48" kern="0" b="0" i="0" dirty="0">
                <a:solidFill>
                  <a:srgbClr val="50658E"/>
                </a:solidFill>
                <a:latin typeface="IBM Plex Mono Medium"/>
                <a:ea typeface="IBM Plex Mono Medium"/>
                <a:cs typeface="IBM Plex Mono Medium"/>
              </a:endParaRPr>
            </a:p>
          </p:txBody>
        </p:sp>
      </p:grpSp>
      <p:grpSp>
        <p:nvGrpSpPr>
          <p:cNvPr id="55" name="node02"/>
          <p:cNvGrpSpPr/>
          <p:nvPr/>
        </p:nvGrpSpPr>
        <p:grpSpPr>
          <a:xfrm>
            <a:off x="723900" y="1828800"/>
            <a:ext cx="2514600" cy="266700"/>
            <a:chOff x="723900" y="1828800"/>
            <a:chExt cx="2514600" cy="266700"/>
          </a:xfrm>
        </p:grpSpPr>
        <p:sp>
          <p:nvSpPr>
            <p:cNvPr id="8" name="node02.text"/>
            <p:cNvSpPr/>
            <p:nvPr/>
          </p:nvSpPr>
          <p:spPr>
            <a:xfrm>
              <a:off x="723900" y="18288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J. Alvarez</a:t>
              </a:r>
              <a:endParaRPr lang="en-US" sz="1600" spc="-16" kern="0" b="0" i="0" dirty="0">
                <a:solidFill>
                  <a:srgbClr val="070154"/>
                </a:solidFill>
                <a:latin typeface="IBM Plex Sans SemiBold"/>
                <a:ea typeface="IBM Plex Sans SemiBold"/>
                <a:cs typeface="IBM Plex Sans SemiBold"/>
              </a:endParaRPr>
            </a:p>
          </p:txBody>
        </p:sp>
      </p:grpSp>
      <p:grpSp>
        <p:nvGrpSpPr>
          <p:cNvPr id="56" name="node03"/>
          <p:cNvGrpSpPr/>
          <p:nvPr/>
        </p:nvGrpSpPr>
        <p:grpSpPr>
          <a:xfrm>
            <a:off x="723900" y="2133600"/>
            <a:ext cx="2514600" cy="190500"/>
            <a:chOff x="723900" y="2133600"/>
            <a:chExt cx="2514600" cy="190500"/>
          </a:xfrm>
        </p:grpSpPr>
        <p:sp>
          <p:nvSpPr>
            <p:cNvPr id="9" name="node03.text"/>
            <p:cNvSpPr/>
            <p:nvPr/>
          </p:nvSpPr>
          <p:spPr>
            <a:xfrm>
              <a:off x="723900" y="21336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VP Revenue Cycle</a:t>
              </a:r>
              <a:endParaRPr lang="en-US" sz="1100" spc="0" kern="0" b="0" i="0" dirty="0">
                <a:solidFill>
                  <a:srgbClr val="50658E"/>
                </a:solidFill>
                <a:latin typeface="IBM Plex Sans"/>
                <a:ea typeface="IBM Plex Sans"/>
                <a:cs typeface="IBM Plex Sans"/>
              </a:endParaRPr>
            </a:p>
          </p:txBody>
        </p:sp>
      </p:grpSp>
      <p:grpSp>
        <p:nvGrpSpPr>
          <p:cNvPr id="57" name="node04"/>
          <p:cNvGrpSpPr/>
          <p:nvPr/>
        </p:nvGrpSpPr>
        <p:grpSpPr>
          <a:xfrm>
            <a:off x="3467100" y="1600200"/>
            <a:ext cx="2514600" cy="139700"/>
            <a:chOff x="3467100" y="1600200"/>
            <a:chExt cx="2514600" cy="139700"/>
          </a:xfrm>
        </p:grpSpPr>
        <p:sp>
          <p:nvSpPr>
            <p:cNvPr id="10" name="node04.text"/>
            <p:cNvSpPr/>
            <p:nvPr/>
          </p:nvSpPr>
          <p:spPr>
            <a:xfrm>
              <a:off x="34671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DEPARTMENT AND DATE</a:t>
              </a:r>
              <a:endParaRPr lang="en-US" sz="800" spc="48" kern="0" b="0" i="0" dirty="0">
                <a:solidFill>
                  <a:srgbClr val="50658E"/>
                </a:solidFill>
                <a:latin typeface="IBM Plex Mono Medium"/>
                <a:ea typeface="IBM Plex Mono Medium"/>
                <a:cs typeface="IBM Plex Mono Medium"/>
              </a:endParaRPr>
            </a:p>
          </p:txBody>
        </p:sp>
      </p:grpSp>
      <p:grpSp>
        <p:nvGrpSpPr>
          <p:cNvPr id="58" name="node05"/>
          <p:cNvGrpSpPr/>
          <p:nvPr/>
        </p:nvGrpSpPr>
        <p:grpSpPr>
          <a:xfrm>
            <a:off x="3467100" y="1828800"/>
            <a:ext cx="2514600" cy="190500"/>
            <a:chOff x="3467100" y="1828800"/>
            <a:chExt cx="2514600" cy="190500"/>
          </a:xfrm>
        </p:grpSpPr>
        <p:sp>
          <p:nvSpPr>
            <p:cNvPr id="11" name="node05.text"/>
            <p:cNvSpPr/>
            <p:nvPr/>
          </p:nvSpPr>
          <p:spPr>
            <a:xfrm>
              <a:off x="3467100" y="18288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Revenue cycle</a:t>
              </a:r>
              <a:endParaRPr lang="en-US" sz="1100" spc="0" kern="0" b="0" i="0" dirty="0">
                <a:solidFill>
                  <a:srgbClr val="070154"/>
                </a:solidFill>
                <a:latin typeface="IBM Plex Sans"/>
                <a:ea typeface="IBM Plex Sans"/>
                <a:cs typeface="IBM Plex Sans"/>
              </a:endParaRPr>
            </a:p>
          </p:txBody>
        </p:sp>
      </p:grpSp>
      <p:grpSp>
        <p:nvGrpSpPr>
          <p:cNvPr id="59" name="node06"/>
          <p:cNvGrpSpPr/>
          <p:nvPr/>
        </p:nvGrpSpPr>
        <p:grpSpPr>
          <a:xfrm>
            <a:off x="3467100" y="2133600"/>
            <a:ext cx="2514600" cy="190500"/>
            <a:chOff x="3467100" y="2133600"/>
            <a:chExt cx="2514600" cy="190500"/>
          </a:xfrm>
        </p:grpSpPr>
        <p:sp>
          <p:nvSpPr>
            <p:cNvPr id="12" name="node06.text"/>
            <p:cNvSpPr/>
            <p:nvPr/>
          </p:nvSpPr>
          <p:spPr>
            <a:xfrm>
              <a:off x="3467100" y="21336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Sep 8, 60 minutes</a:t>
              </a:r>
              <a:endParaRPr lang="en-US" sz="1100" spc="0" kern="0" b="0" i="0" dirty="0">
                <a:solidFill>
                  <a:srgbClr val="50658E"/>
                </a:solidFill>
                <a:latin typeface="IBM Plex Sans"/>
                <a:ea typeface="IBM Plex Sans"/>
                <a:cs typeface="IBM Plex Sans"/>
              </a:endParaRPr>
            </a:p>
          </p:txBody>
        </p:sp>
      </p:grpSp>
      <p:grpSp>
        <p:nvGrpSpPr>
          <p:cNvPr id="60" name="node07"/>
          <p:cNvGrpSpPr/>
          <p:nvPr/>
        </p:nvGrpSpPr>
        <p:grpSpPr>
          <a:xfrm>
            <a:off x="6210300" y="1600200"/>
            <a:ext cx="2514600" cy="139700"/>
            <a:chOff x="6210300" y="1600200"/>
            <a:chExt cx="2514600" cy="139700"/>
          </a:xfrm>
        </p:grpSpPr>
        <p:sp>
          <p:nvSpPr>
            <p:cNvPr id="13" name="node07.text"/>
            <p:cNvSpPr/>
            <p:nvPr/>
          </p:nvSpPr>
          <p:spPr>
            <a:xfrm>
              <a:off x="62103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FORMAT</a:t>
              </a:r>
              <a:endParaRPr lang="en-US" sz="800" spc="48" kern="0" b="0" i="0" dirty="0">
                <a:solidFill>
                  <a:srgbClr val="50658E"/>
                </a:solidFill>
                <a:latin typeface="IBM Plex Mono Medium"/>
                <a:ea typeface="IBM Plex Mono Medium"/>
                <a:cs typeface="IBM Plex Mono Medium"/>
              </a:endParaRPr>
            </a:p>
          </p:txBody>
        </p:sp>
      </p:grpSp>
      <p:grpSp>
        <p:nvGrpSpPr>
          <p:cNvPr id="61" name="node08"/>
          <p:cNvGrpSpPr/>
          <p:nvPr/>
        </p:nvGrpSpPr>
        <p:grpSpPr>
          <a:xfrm>
            <a:off x="6210300" y="1828800"/>
            <a:ext cx="2514600" cy="190500"/>
            <a:chOff x="6210300" y="1828800"/>
            <a:chExt cx="2514600" cy="190500"/>
          </a:xfrm>
        </p:grpSpPr>
        <p:sp>
          <p:nvSpPr>
            <p:cNvPr id="14" name="node08.text"/>
            <p:cNvSpPr/>
            <p:nvPr/>
          </p:nvSpPr>
          <p:spPr>
            <a:xfrm>
              <a:off x="6210300" y="18288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Onsite, Main campus</a:t>
              </a:r>
              <a:endParaRPr lang="en-US" sz="1100" spc="0" kern="0" b="0" i="0" dirty="0">
                <a:solidFill>
                  <a:srgbClr val="070154"/>
                </a:solidFill>
                <a:latin typeface="IBM Plex Sans"/>
                <a:ea typeface="IBM Plex Sans"/>
                <a:cs typeface="IBM Plex Sans"/>
              </a:endParaRPr>
            </a:p>
          </p:txBody>
        </p:sp>
      </p:grpSp>
      <p:grpSp>
        <p:nvGrpSpPr>
          <p:cNvPr id="62" name="node09"/>
          <p:cNvGrpSpPr/>
          <p:nvPr/>
        </p:nvGrpSpPr>
        <p:grpSpPr>
          <a:xfrm>
            <a:off x="8953500" y="1600200"/>
            <a:ext cx="2514600" cy="139700"/>
            <a:chOff x="8953500" y="1600200"/>
            <a:chExt cx="2514600" cy="139700"/>
          </a:xfrm>
        </p:grpSpPr>
        <p:sp>
          <p:nvSpPr>
            <p:cNvPr id="15" name="node09.text"/>
            <p:cNvSpPr/>
            <p:nvPr/>
          </p:nvSpPr>
          <p:spPr>
            <a:xfrm>
              <a:off x="89535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INTERVIEWERS</a:t>
              </a:r>
              <a:endParaRPr lang="en-US" sz="800" spc="48" kern="0" b="0" i="0" dirty="0">
                <a:solidFill>
                  <a:srgbClr val="50658E"/>
                </a:solidFill>
                <a:latin typeface="IBM Plex Mono Medium"/>
                <a:ea typeface="IBM Plex Mono Medium"/>
                <a:cs typeface="IBM Plex Mono Medium"/>
              </a:endParaRPr>
            </a:p>
          </p:txBody>
        </p:sp>
      </p:grpSp>
      <p:grpSp>
        <p:nvGrpSpPr>
          <p:cNvPr id="63" name="node10"/>
          <p:cNvGrpSpPr/>
          <p:nvPr/>
        </p:nvGrpSpPr>
        <p:grpSpPr>
          <a:xfrm>
            <a:off x="8953500" y="1828800"/>
            <a:ext cx="2514600" cy="190500"/>
            <a:chOff x="8953500" y="1828800"/>
            <a:chExt cx="2514600" cy="190500"/>
          </a:xfrm>
        </p:grpSpPr>
        <p:sp>
          <p:nvSpPr>
            <p:cNvPr id="16" name="node10.text"/>
            <p:cNvSpPr/>
            <p:nvPr/>
          </p:nvSpPr>
          <p:spPr>
            <a:xfrm>
              <a:off x="8953500" y="18288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K. Ortiz, W. Lee</a:t>
              </a:r>
              <a:endParaRPr lang="en-US" sz="1100" spc="0" kern="0" b="0" i="0" dirty="0">
                <a:solidFill>
                  <a:srgbClr val="070154"/>
                </a:solidFill>
                <a:latin typeface="IBM Plex Sans"/>
                <a:ea typeface="IBM Plex Sans"/>
                <a:cs typeface="IBM Plex Sans"/>
              </a:endParaRPr>
            </a:p>
          </p:txBody>
        </p:sp>
      </p:grpSp>
      <p:sp>
        <p:nvSpPr>
          <p:cNvPr id="17" name="node11"/>
          <p:cNvSpPr/>
          <p:nvPr/>
        </p:nvSpPr>
        <p:spPr>
          <a:xfrm>
            <a:off x="723900" y="2514600"/>
            <a:ext cx="10744200" cy="9525"/>
          </a:xfrm>
          <a:prstGeom prst="rect">
            <a:avLst/>
          </a:prstGeom>
          <a:solidFill>
            <a:srgbClr val="CED7E6"/>
          </a:solidFill>
          <a:ln>
            <a:noFill/>
          </a:ln>
        </p:spPr>
      </p:sp>
      <p:grpSp>
        <p:nvGrpSpPr>
          <p:cNvPr id="64" name="node12"/>
          <p:cNvGrpSpPr/>
          <p:nvPr/>
        </p:nvGrpSpPr>
        <p:grpSpPr>
          <a:xfrm>
            <a:off x="723900" y="2667000"/>
            <a:ext cx="3429000" cy="482600"/>
            <a:chOff x="723900" y="2667000"/>
            <a:chExt cx="3429000" cy="482600"/>
          </a:xfrm>
        </p:grpSpPr>
        <p:sp>
          <p:nvSpPr>
            <p:cNvPr id="18" name="node12.label"/>
            <p:cNvSpPr/>
            <p:nvPr/>
          </p:nvSpPr>
          <p:spPr>
            <a:xfrm>
              <a:off x="723900" y="2667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TOPIC 1</a:t>
              </a:r>
              <a:endParaRPr lang="en-US" sz="800" spc="48" kern="0" b="0" i="0" dirty="0">
                <a:solidFill>
                  <a:srgbClr val="0047FF"/>
                </a:solidFill>
                <a:latin typeface="IBM Plex Mono Medium"/>
                <a:ea typeface="IBM Plex Mono Medium"/>
                <a:cs typeface="IBM Plex Mono Medium"/>
              </a:endParaRPr>
            </a:p>
          </p:txBody>
        </p:sp>
        <p:sp>
          <p:nvSpPr>
            <p:cNvPr id="19" name="node12.title"/>
            <p:cNvSpPr/>
            <p:nvPr/>
          </p:nvSpPr>
          <p:spPr>
            <a:xfrm>
              <a:off x="723900" y="28829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Denials</a:t>
              </a:r>
              <a:endParaRPr lang="en-US" sz="1600" spc="-16" kern="0" b="0" i="0" dirty="0">
                <a:solidFill>
                  <a:srgbClr val="070154"/>
                </a:solidFill>
                <a:latin typeface="IBM Plex Sans SemiBold"/>
                <a:ea typeface="IBM Plex Sans SemiBold"/>
                <a:cs typeface="IBM Plex Sans SemiBold"/>
              </a:endParaRPr>
            </a:p>
          </p:txBody>
        </p:sp>
      </p:grpSp>
      <p:grpSp>
        <p:nvGrpSpPr>
          <p:cNvPr id="65" name="node13"/>
          <p:cNvGrpSpPr/>
          <p:nvPr/>
        </p:nvGrpSpPr>
        <p:grpSpPr>
          <a:xfrm>
            <a:off x="723900" y="3352800"/>
            <a:ext cx="3429000" cy="469900"/>
            <a:chOff x="723900" y="3352800"/>
            <a:chExt cx="3429000" cy="469900"/>
          </a:xfrm>
        </p:grpSpPr>
        <p:sp>
          <p:nvSpPr>
            <p:cNvPr id="20" name="node13.source-001.bullet"/>
            <p:cNvSpPr/>
            <p:nvPr/>
          </p:nvSpPr>
          <p:spPr>
            <a:xfrm>
              <a:off x="723900" y="3441700"/>
              <a:ext cx="38100" cy="38100"/>
            </a:xfrm>
            <a:prstGeom prst="rect">
              <a:avLst/>
            </a:prstGeom>
            <a:solidFill>
              <a:srgbClr val="070154"/>
            </a:solidFill>
            <a:ln>
              <a:noFill/>
            </a:ln>
          </p:spPr>
        </p:sp>
        <p:sp>
          <p:nvSpPr>
            <p:cNvPr id="21" name="node13.source-001.text"/>
            <p:cNvSpPr/>
            <p:nvPr/>
          </p:nvSpPr>
          <p:spPr>
            <a:xfrm>
              <a:off x="876300" y="3352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Authorization gaps cause 40% of denials</a:t>
              </a:r>
              <a:endParaRPr lang="en-US" sz="1200" spc="0" kern="0" b="0" i="0" dirty="0">
                <a:solidFill>
                  <a:srgbClr val="070154"/>
                </a:solidFill>
                <a:latin typeface="IBM Plex Sans"/>
                <a:ea typeface="IBM Plex Sans"/>
                <a:cs typeface="IBM Plex Sans"/>
              </a:endParaRPr>
            </a:p>
          </p:txBody>
        </p:sp>
        <p:sp>
          <p:nvSpPr>
            <p:cNvPr id="22" name="node13.source-002.bullet"/>
            <p:cNvSpPr/>
            <p:nvPr/>
          </p:nvSpPr>
          <p:spPr>
            <a:xfrm>
              <a:off x="723900" y="3695700"/>
              <a:ext cx="38100" cy="38100"/>
            </a:xfrm>
            <a:prstGeom prst="rect">
              <a:avLst/>
            </a:prstGeom>
            <a:solidFill>
              <a:srgbClr val="070154"/>
            </a:solidFill>
            <a:ln>
              <a:noFill/>
            </a:ln>
          </p:spPr>
        </p:sp>
        <p:sp>
          <p:nvSpPr>
            <p:cNvPr id="23" name="node13.source-002.text"/>
            <p:cNvSpPr/>
            <p:nvPr/>
          </p:nvSpPr>
          <p:spPr>
            <a:xfrm>
              <a:off x="876300" y="3606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Appeals take 45 days</a:t>
              </a:r>
              <a:endParaRPr lang="en-US" sz="1200" spc="0" kern="0" b="0" i="0" dirty="0">
                <a:solidFill>
                  <a:srgbClr val="070154"/>
                </a:solidFill>
                <a:latin typeface="IBM Plex Sans"/>
                <a:ea typeface="IBM Plex Sans"/>
                <a:cs typeface="IBM Plex Sans"/>
              </a:endParaRPr>
            </a:p>
          </p:txBody>
        </p:sp>
      </p:grpSp>
      <p:grpSp>
        <p:nvGrpSpPr>
          <p:cNvPr id="66" name="node14"/>
          <p:cNvGrpSpPr/>
          <p:nvPr/>
        </p:nvGrpSpPr>
        <p:grpSpPr>
          <a:xfrm>
            <a:off x="4381500" y="2667000"/>
            <a:ext cx="3429000" cy="482600"/>
            <a:chOff x="4381500" y="2667000"/>
            <a:chExt cx="3429000" cy="482600"/>
          </a:xfrm>
        </p:grpSpPr>
        <p:sp>
          <p:nvSpPr>
            <p:cNvPr id="24" name="node14.label"/>
            <p:cNvSpPr/>
            <p:nvPr/>
          </p:nvSpPr>
          <p:spPr>
            <a:xfrm>
              <a:off x="4381500" y="2667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TOPIC 2</a:t>
              </a:r>
              <a:endParaRPr lang="en-US" sz="800" spc="48" kern="0" b="0" i="0" dirty="0">
                <a:solidFill>
                  <a:srgbClr val="0047FF"/>
                </a:solidFill>
                <a:latin typeface="IBM Plex Mono Medium"/>
                <a:ea typeface="IBM Plex Mono Medium"/>
                <a:cs typeface="IBM Plex Mono Medium"/>
              </a:endParaRPr>
            </a:p>
          </p:txBody>
        </p:sp>
        <p:sp>
          <p:nvSpPr>
            <p:cNvPr id="25" name="node14.title"/>
            <p:cNvSpPr/>
            <p:nvPr/>
          </p:nvSpPr>
          <p:spPr>
            <a:xfrm>
              <a:off x="4381500" y="28829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Registration</a:t>
              </a:r>
              <a:endParaRPr lang="en-US" sz="1600" spc="-16" kern="0" b="0" i="0" dirty="0">
                <a:solidFill>
                  <a:srgbClr val="070154"/>
                </a:solidFill>
                <a:latin typeface="IBM Plex Sans SemiBold"/>
                <a:ea typeface="IBM Plex Sans SemiBold"/>
                <a:cs typeface="IBM Plex Sans SemiBold"/>
              </a:endParaRPr>
            </a:p>
          </p:txBody>
        </p:sp>
      </p:grpSp>
      <p:grpSp>
        <p:nvGrpSpPr>
          <p:cNvPr id="67" name="node15"/>
          <p:cNvGrpSpPr/>
          <p:nvPr/>
        </p:nvGrpSpPr>
        <p:grpSpPr>
          <a:xfrm>
            <a:off x="4381500" y="3352800"/>
            <a:ext cx="3429000" cy="469900"/>
            <a:chOff x="4381500" y="3352800"/>
            <a:chExt cx="3429000" cy="469900"/>
          </a:xfrm>
        </p:grpSpPr>
        <p:sp>
          <p:nvSpPr>
            <p:cNvPr id="26" name="node15.source-001.bullet"/>
            <p:cNvSpPr/>
            <p:nvPr/>
          </p:nvSpPr>
          <p:spPr>
            <a:xfrm>
              <a:off x="4381500" y="3441700"/>
              <a:ext cx="38100" cy="38100"/>
            </a:xfrm>
            <a:prstGeom prst="rect">
              <a:avLst/>
            </a:prstGeom>
            <a:solidFill>
              <a:srgbClr val="070154"/>
            </a:solidFill>
            <a:ln>
              <a:noFill/>
            </a:ln>
          </p:spPr>
        </p:sp>
        <p:sp>
          <p:nvSpPr>
            <p:cNvPr id="27" name="node15.source-001.text"/>
            <p:cNvSpPr/>
            <p:nvPr/>
          </p:nvSpPr>
          <p:spPr>
            <a:xfrm>
              <a:off x="4533900" y="3352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Front-desk errors found at billing</a:t>
              </a:r>
              <a:endParaRPr lang="en-US" sz="1200" spc="0" kern="0" b="0" i="0" dirty="0">
                <a:solidFill>
                  <a:srgbClr val="070154"/>
                </a:solidFill>
                <a:latin typeface="IBM Plex Sans"/>
                <a:ea typeface="IBM Plex Sans"/>
                <a:cs typeface="IBM Plex Sans"/>
              </a:endParaRPr>
            </a:p>
          </p:txBody>
        </p:sp>
        <p:sp>
          <p:nvSpPr>
            <p:cNvPr id="28" name="node15.source-002.bullet"/>
            <p:cNvSpPr/>
            <p:nvPr/>
          </p:nvSpPr>
          <p:spPr>
            <a:xfrm>
              <a:off x="4381500" y="3695700"/>
              <a:ext cx="38100" cy="38100"/>
            </a:xfrm>
            <a:prstGeom prst="rect">
              <a:avLst/>
            </a:prstGeom>
            <a:solidFill>
              <a:srgbClr val="070154"/>
            </a:solidFill>
            <a:ln>
              <a:noFill/>
            </a:ln>
          </p:spPr>
        </p:sp>
        <p:sp>
          <p:nvSpPr>
            <p:cNvPr id="29" name="node15.source-002.text"/>
            <p:cNvSpPr/>
            <p:nvPr/>
          </p:nvSpPr>
          <p:spPr>
            <a:xfrm>
              <a:off x="4533900" y="3606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 eligibility check at check-in</a:t>
              </a:r>
              <a:endParaRPr lang="en-US" sz="1200" spc="0" kern="0" b="0" i="0" dirty="0">
                <a:solidFill>
                  <a:srgbClr val="070154"/>
                </a:solidFill>
                <a:latin typeface="IBM Plex Sans"/>
                <a:ea typeface="IBM Plex Sans"/>
                <a:cs typeface="IBM Plex Sans"/>
              </a:endParaRPr>
            </a:p>
          </p:txBody>
        </p:sp>
      </p:grpSp>
      <p:grpSp>
        <p:nvGrpSpPr>
          <p:cNvPr id="68" name="node16"/>
          <p:cNvGrpSpPr/>
          <p:nvPr/>
        </p:nvGrpSpPr>
        <p:grpSpPr>
          <a:xfrm>
            <a:off x="8039100" y="2667000"/>
            <a:ext cx="3429000" cy="482600"/>
            <a:chOff x="8039100" y="2667000"/>
            <a:chExt cx="3429000" cy="482600"/>
          </a:xfrm>
        </p:grpSpPr>
        <p:sp>
          <p:nvSpPr>
            <p:cNvPr id="30" name="node16.label"/>
            <p:cNvSpPr/>
            <p:nvPr/>
          </p:nvSpPr>
          <p:spPr>
            <a:xfrm>
              <a:off x="8039100" y="2667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TOPIC 3</a:t>
              </a:r>
              <a:endParaRPr lang="en-US" sz="800" spc="48" kern="0" b="0" i="0" dirty="0">
                <a:solidFill>
                  <a:srgbClr val="0047FF"/>
                </a:solidFill>
                <a:latin typeface="IBM Plex Mono Medium"/>
                <a:ea typeface="IBM Plex Mono Medium"/>
                <a:cs typeface="IBM Plex Mono Medium"/>
              </a:endParaRPr>
            </a:p>
          </p:txBody>
        </p:sp>
        <p:sp>
          <p:nvSpPr>
            <p:cNvPr id="31" name="node16.title"/>
            <p:cNvSpPr/>
            <p:nvPr/>
          </p:nvSpPr>
          <p:spPr>
            <a:xfrm>
              <a:off x="8039100" y="28829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Tooling</a:t>
              </a:r>
              <a:endParaRPr lang="en-US" sz="1600" spc="-16" kern="0" b="0" i="0" dirty="0">
                <a:solidFill>
                  <a:srgbClr val="070154"/>
                </a:solidFill>
                <a:latin typeface="IBM Plex Sans SemiBold"/>
                <a:ea typeface="IBM Plex Sans SemiBold"/>
                <a:cs typeface="IBM Plex Sans SemiBold"/>
              </a:endParaRPr>
            </a:p>
          </p:txBody>
        </p:sp>
      </p:grpSp>
      <p:grpSp>
        <p:nvGrpSpPr>
          <p:cNvPr id="69" name="node17"/>
          <p:cNvGrpSpPr/>
          <p:nvPr/>
        </p:nvGrpSpPr>
        <p:grpSpPr>
          <a:xfrm>
            <a:off x="8039100" y="3352800"/>
            <a:ext cx="3429000" cy="469900"/>
            <a:chOff x="8039100" y="3352800"/>
            <a:chExt cx="3429000" cy="469900"/>
          </a:xfrm>
        </p:grpSpPr>
        <p:sp>
          <p:nvSpPr>
            <p:cNvPr id="32" name="node17.source-001.bullet"/>
            <p:cNvSpPr/>
            <p:nvPr/>
          </p:nvSpPr>
          <p:spPr>
            <a:xfrm>
              <a:off x="8039100" y="3441700"/>
              <a:ext cx="38100" cy="38100"/>
            </a:xfrm>
            <a:prstGeom prst="rect">
              <a:avLst/>
            </a:prstGeom>
            <a:solidFill>
              <a:srgbClr val="070154"/>
            </a:solidFill>
            <a:ln>
              <a:noFill/>
            </a:ln>
          </p:spPr>
        </p:sp>
        <p:sp>
          <p:nvSpPr>
            <p:cNvPr id="33" name="node17.source-001.text"/>
            <p:cNvSpPr/>
            <p:nvPr/>
          </p:nvSpPr>
          <p:spPr>
            <a:xfrm>
              <a:off x="8191500" y="3352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Three work queues, no single view</a:t>
              </a:r>
              <a:endParaRPr lang="en-US" sz="1200" spc="0" kern="0" b="0" i="0" dirty="0">
                <a:solidFill>
                  <a:srgbClr val="070154"/>
                </a:solidFill>
                <a:latin typeface="IBM Plex Sans"/>
                <a:ea typeface="IBM Plex Sans"/>
                <a:cs typeface="IBM Plex Sans"/>
              </a:endParaRPr>
            </a:p>
          </p:txBody>
        </p:sp>
        <p:sp>
          <p:nvSpPr>
            <p:cNvPr id="34" name="node17.source-002.bullet"/>
            <p:cNvSpPr/>
            <p:nvPr/>
          </p:nvSpPr>
          <p:spPr>
            <a:xfrm>
              <a:off x="8039100" y="3695700"/>
              <a:ext cx="38100" cy="38100"/>
            </a:xfrm>
            <a:prstGeom prst="rect">
              <a:avLst/>
            </a:prstGeom>
            <a:solidFill>
              <a:srgbClr val="070154"/>
            </a:solidFill>
            <a:ln>
              <a:noFill/>
            </a:ln>
          </p:spPr>
        </p:sp>
        <p:sp>
          <p:nvSpPr>
            <p:cNvPr id="35" name="node17.source-002.text"/>
            <p:cNvSpPr/>
            <p:nvPr/>
          </p:nvSpPr>
          <p:spPr>
            <a:xfrm>
              <a:off x="8191500" y="3606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Reports rebuilt by hand each month</a:t>
              </a:r>
              <a:endParaRPr lang="en-US" sz="1200" spc="0" kern="0" b="0" i="0" dirty="0">
                <a:solidFill>
                  <a:srgbClr val="070154"/>
                </a:solidFill>
                <a:latin typeface="IBM Plex Sans"/>
                <a:ea typeface="IBM Plex Sans"/>
                <a:cs typeface="IBM Plex Sans"/>
              </a:endParaRPr>
            </a:p>
          </p:txBody>
        </p:sp>
      </p:grpSp>
      <p:sp>
        <p:nvSpPr>
          <p:cNvPr id="36" name="node18"/>
          <p:cNvSpPr/>
          <p:nvPr/>
        </p:nvSpPr>
        <p:spPr>
          <a:xfrm>
            <a:off x="723900" y="4038600"/>
            <a:ext cx="10744200" cy="9525"/>
          </a:xfrm>
          <a:prstGeom prst="rect">
            <a:avLst/>
          </a:prstGeom>
          <a:solidFill>
            <a:srgbClr val="CED7E6"/>
          </a:solidFill>
          <a:ln>
            <a:noFill/>
          </a:ln>
        </p:spPr>
      </p:sp>
      <p:grpSp>
        <p:nvGrpSpPr>
          <p:cNvPr id="70" name="node19"/>
          <p:cNvGrpSpPr/>
          <p:nvPr/>
        </p:nvGrpSpPr>
        <p:grpSpPr>
          <a:xfrm>
            <a:off x="723900" y="4191000"/>
            <a:ext cx="4343400" cy="1362075"/>
            <a:chOff x="723900" y="4191000"/>
            <a:chExt cx="4343400" cy="1362075"/>
          </a:xfrm>
        </p:grpSpPr>
        <p:sp>
          <p:nvSpPr>
            <p:cNvPr id="37" name="node19.quote-mark"/>
            <p:cNvSpPr/>
            <p:nvPr/>
          </p:nvSpPr>
          <p:spPr>
            <a:xfrm>
              <a:off x="723900" y="4191000"/>
              <a:ext cx="4343400" cy="416941"/>
            </a:xfrm>
            <a:prstGeom prst="rect">
              <a:avLst/>
            </a:prstGeom>
            <a:noFill/>
            <a:ln/>
          </p:spPr>
          <p:txBody>
            <a:bodyPr wrap="square" lIns="0" tIns="0" rIns="0" bIns="0" rtlCol="0" anchor="t"/>
            <a:lstStyle/>
            <a:p>
              <a:pPr algn="l" indent="0" marL="0">
                <a:lnSpc>
                  <a:spcPts val="2625"/>
                </a:lnSpc>
                <a:buNone/>
              </a:pPr>
              <a:r>
                <a:rPr lang="en-US" sz="5250" spc="-79" kern="0" b="0" i="0" dirty="0">
                  <a:solidFill>
                    <a:srgbClr val="0047FF"/>
                  </a:solidFill>
                  <a:latin typeface="IBM Plex Sans SemiBold"/>
                  <a:ea typeface="IBM Plex Sans SemiBold"/>
                  <a:cs typeface="IBM Plex Sans SemiBold"/>
                </a:rPr>
                <a:t>“</a:t>
              </a:r>
              <a:endParaRPr lang="en-US" sz="5250" spc="-79" kern="0" b="0" i="0" dirty="0">
                <a:solidFill>
                  <a:srgbClr val="0047FF"/>
                </a:solidFill>
                <a:latin typeface="IBM Plex Sans SemiBold"/>
                <a:ea typeface="IBM Plex Sans SemiBold"/>
                <a:cs typeface="IBM Plex Sans SemiBold"/>
              </a:endParaRPr>
            </a:p>
          </p:txBody>
        </p:sp>
        <p:sp>
          <p:nvSpPr>
            <p:cNvPr id="38" name="node19.quote"/>
            <p:cNvSpPr/>
            <p:nvPr/>
          </p:nvSpPr>
          <p:spPr>
            <a:xfrm>
              <a:off x="723900" y="4638675"/>
              <a:ext cx="43434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We find it at billing, three weeks late.</a:t>
              </a:r>
              <a:endParaRPr lang="en-US" sz="2100" spc="-32" kern="0" b="0" i="0" dirty="0">
                <a:solidFill>
                  <a:srgbClr val="070154"/>
                </a:solidFill>
                <a:latin typeface="IBM Plex Sans SemiBold"/>
                <a:ea typeface="IBM Plex Sans SemiBold"/>
                <a:cs typeface="IBM Plex Sans SemiBold"/>
              </a:endParaRPr>
            </a:p>
          </p:txBody>
        </p:sp>
        <p:sp>
          <p:nvSpPr>
            <p:cNvPr id="39" name="node19.by"/>
            <p:cNvSpPr/>
            <p:nvPr/>
          </p:nvSpPr>
          <p:spPr>
            <a:xfrm>
              <a:off x="723900" y="5413375"/>
              <a:ext cx="4343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VP REVENUE CYCLE</a:t>
              </a:r>
              <a:endParaRPr lang="en-US" sz="800" spc="48" kern="0" b="0" i="0" dirty="0">
                <a:solidFill>
                  <a:srgbClr val="50658E"/>
                </a:solidFill>
                <a:latin typeface="IBM Plex Mono Medium"/>
                <a:ea typeface="IBM Plex Mono Medium"/>
                <a:cs typeface="IBM Plex Mono Medium"/>
              </a:endParaRPr>
            </a:p>
          </p:txBody>
        </p:sp>
      </p:grpSp>
      <p:grpSp>
        <p:nvGrpSpPr>
          <p:cNvPr id="71" name="node20"/>
          <p:cNvGrpSpPr/>
          <p:nvPr/>
        </p:nvGrpSpPr>
        <p:grpSpPr>
          <a:xfrm>
            <a:off x="5295900" y="4267200"/>
            <a:ext cx="2514600" cy="139700"/>
            <a:chOff x="5295900" y="4267200"/>
            <a:chExt cx="2514600" cy="139700"/>
          </a:xfrm>
        </p:grpSpPr>
        <p:sp>
          <p:nvSpPr>
            <p:cNvPr id="40" name="node20.label"/>
            <p:cNvSpPr/>
            <p:nvPr/>
          </p:nvSpPr>
          <p:spPr>
            <a:xfrm>
              <a:off x="5295900" y="4267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PAIN AND OPPORTUNITY</a:t>
              </a:r>
              <a:endParaRPr lang="en-US" sz="800" spc="48" kern="0" b="0" i="0" dirty="0">
                <a:solidFill>
                  <a:srgbClr val="0047FF"/>
                </a:solidFill>
                <a:latin typeface="IBM Plex Mono Medium"/>
                <a:ea typeface="IBM Plex Mono Medium"/>
                <a:cs typeface="IBM Plex Mono Medium"/>
              </a:endParaRPr>
            </a:p>
          </p:txBody>
        </p:sp>
      </p:grpSp>
      <p:grpSp>
        <p:nvGrpSpPr>
          <p:cNvPr id="72" name="node21"/>
          <p:cNvGrpSpPr/>
          <p:nvPr/>
        </p:nvGrpSpPr>
        <p:grpSpPr>
          <a:xfrm>
            <a:off x="5295900" y="4572000"/>
            <a:ext cx="2514600" cy="723900"/>
            <a:chOff x="5295900" y="4572000"/>
            <a:chExt cx="2514600" cy="723900"/>
          </a:xfrm>
        </p:grpSpPr>
        <p:sp>
          <p:nvSpPr>
            <p:cNvPr id="41" name="node21.source-001.bullet"/>
            <p:cNvSpPr/>
            <p:nvPr/>
          </p:nvSpPr>
          <p:spPr>
            <a:xfrm>
              <a:off x="5295900" y="4660900"/>
              <a:ext cx="38100" cy="38100"/>
            </a:xfrm>
            <a:prstGeom prst="rect">
              <a:avLst/>
            </a:prstGeom>
            <a:solidFill>
              <a:srgbClr val="070154"/>
            </a:solidFill>
            <a:ln>
              <a:noFill/>
            </a:ln>
          </p:spPr>
        </p:sp>
        <p:sp>
          <p:nvSpPr>
            <p:cNvPr id="42" name="node21.source-001.text"/>
            <p:cNvSpPr/>
            <p:nvPr/>
          </p:nvSpPr>
          <p:spPr>
            <a:xfrm>
              <a:off x="5448300" y="4572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Pain: manual rework</a:t>
              </a:r>
              <a:endParaRPr lang="en-US" sz="1200" spc="0" kern="0" b="0" i="0" dirty="0">
                <a:solidFill>
                  <a:srgbClr val="070154"/>
                </a:solidFill>
                <a:latin typeface="IBM Plex Sans"/>
                <a:ea typeface="IBM Plex Sans"/>
                <a:cs typeface="IBM Plex Sans"/>
              </a:endParaRPr>
            </a:p>
          </p:txBody>
        </p:sp>
        <p:sp>
          <p:nvSpPr>
            <p:cNvPr id="43" name="node21.source-002.bullet"/>
            <p:cNvSpPr/>
            <p:nvPr/>
          </p:nvSpPr>
          <p:spPr>
            <a:xfrm>
              <a:off x="5295900" y="4914900"/>
              <a:ext cx="38100" cy="38100"/>
            </a:xfrm>
            <a:prstGeom prst="rect">
              <a:avLst/>
            </a:prstGeom>
            <a:solidFill>
              <a:srgbClr val="070154"/>
            </a:solidFill>
            <a:ln>
              <a:noFill/>
            </a:ln>
          </p:spPr>
        </p:sp>
        <p:sp>
          <p:nvSpPr>
            <p:cNvPr id="44" name="node21.source-002.text"/>
            <p:cNvSpPr/>
            <p:nvPr/>
          </p:nvSpPr>
          <p:spPr>
            <a:xfrm>
              <a:off x="5448300" y="4826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Pain: no shared view</a:t>
              </a:r>
              <a:endParaRPr lang="en-US" sz="1200" spc="0" kern="0" b="0" i="0" dirty="0">
                <a:solidFill>
                  <a:srgbClr val="070154"/>
                </a:solidFill>
                <a:latin typeface="IBM Plex Sans"/>
                <a:ea typeface="IBM Plex Sans"/>
                <a:cs typeface="IBM Plex Sans"/>
              </a:endParaRPr>
            </a:p>
          </p:txBody>
        </p:sp>
        <p:sp>
          <p:nvSpPr>
            <p:cNvPr id="45" name="node21.source-003.bullet"/>
            <p:cNvSpPr/>
            <p:nvPr/>
          </p:nvSpPr>
          <p:spPr>
            <a:xfrm>
              <a:off x="5295900" y="5168900"/>
              <a:ext cx="38100" cy="38100"/>
            </a:xfrm>
            <a:prstGeom prst="rect">
              <a:avLst/>
            </a:prstGeom>
            <a:solidFill>
              <a:srgbClr val="070154"/>
            </a:solidFill>
            <a:ln>
              <a:noFill/>
            </a:ln>
          </p:spPr>
        </p:sp>
        <p:sp>
          <p:nvSpPr>
            <p:cNvPr id="46" name="node21.source-003.text"/>
            <p:cNvSpPr/>
            <p:nvPr/>
          </p:nvSpPr>
          <p:spPr>
            <a:xfrm>
              <a:off x="5448300" y="5080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Idea: one work queue</a:t>
              </a:r>
              <a:endParaRPr lang="en-US" sz="1200" spc="0" kern="0" b="0" i="0" dirty="0">
                <a:solidFill>
                  <a:srgbClr val="070154"/>
                </a:solidFill>
                <a:latin typeface="IBM Plex Sans"/>
                <a:ea typeface="IBM Plex Sans"/>
                <a:cs typeface="IBM Plex Sans"/>
              </a:endParaRPr>
            </a:p>
          </p:txBody>
        </p:sp>
      </p:grpSp>
      <p:grpSp>
        <p:nvGrpSpPr>
          <p:cNvPr id="73" name="node22"/>
          <p:cNvGrpSpPr/>
          <p:nvPr/>
        </p:nvGrpSpPr>
        <p:grpSpPr>
          <a:xfrm>
            <a:off x="8039100" y="4267200"/>
            <a:ext cx="3429000" cy="139700"/>
            <a:chOff x="8039100" y="4267200"/>
            <a:chExt cx="3429000" cy="139700"/>
          </a:xfrm>
        </p:grpSpPr>
        <p:sp>
          <p:nvSpPr>
            <p:cNvPr id="47" name="node22.label"/>
            <p:cNvSpPr/>
            <p:nvPr/>
          </p:nvSpPr>
          <p:spPr>
            <a:xfrm>
              <a:off x="8039100" y="4267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FOLLOW-UPS AND QUESTIONS</a:t>
              </a:r>
              <a:endParaRPr lang="en-US" sz="800" spc="48" kern="0" b="0" i="0" dirty="0">
                <a:solidFill>
                  <a:srgbClr val="0047FF"/>
                </a:solidFill>
                <a:latin typeface="IBM Plex Mono Medium"/>
                <a:ea typeface="IBM Plex Mono Medium"/>
                <a:cs typeface="IBM Plex Mono Medium"/>
              </a:endParaRPr>
            </a:p>
          </p:txBody>
        </p:sp>
      </p:grpSp>
      <p:grpSp>
        <p:nvGrpSpPr>
          <p:cNvPr id="74" name="node23"/>
          <p:cNvGrpSpPr/>
          <p:nvPr/>
        </p:nvGrpSpPr>
        <p:grpSpPr>
          <a:xfrm>
            <a:off x="8039100" y="4572000"/>
            <a:ext cx="3429000" cy="723900"/>
            <a:chOff x="8039100" y="4572000"/>
            <a:chExt cx="3429000" cy="723900"/>
          </a:xfrm>
        </p:grpSpPr>
        <p:sp>
          <p:nvSpPr>
            <p:cNvPr id="48" name="node23.source-001.bullet"/>
            <p:cNvSpPr/>
            <p:nvPr/>
          </p:nvSpPr>
          <p:spPr>
            <a:xfrm>
              <a:off x="8039100" y="4660900"/>
              <a:ext cx="38100" cy="38100"/>
            </a:xfrm>
            <a:prstGeom prst="rect">
              <a:avLst/>
            </a:prstGeom>
            <a:solidFill>
              <a:srgbClr val="070154"/>
            </a:solidFill>
            <a:ln>
              <a:noFill/>
            </a:ln>
          </p:spPr>
        </p:sp>
        <p:sp>
          <p:nvSpPr>
            <p:cNvPr id="49" name="node23.source-001.text"/>
            <p:cNvSpPr/>
            <p:nvPr/>
          </p:nvSpPr>
          <p:spPr>
            <a:xfrm>
              <a:off x="8191500" y="4572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Denial extract: received</a:t>
              </a:r>
              <a:endParaRPr lang="en-US" sz="1200" spc="0" kern="0" b="0" i="0" dirty="0">
                <a:solidFill>
                  <a:srgbClr val="070154"/>
                </a:solidFill>
                <a:latin typeface="IBM Plex Sans"/>
                <a:ea typeface="IBM Plex Sans"/>
                <a:cs typeface="IBM Plex Sans"/>
              </a:endParaRPr>
            </a:p>
          </p:txBody>
        </p:sp>
        <p:sp>
          <p:nvSpPr>
            <p:cNvPr id="50" name="node23.source-002.bullet"/>
            <p:cNvSpPr/>
            <p:nvPr/>
          </p:nvSpPr>
          <p:spPr>
            <a:xfrm>
              <a:off x="8039100" y="4914900"/>
              <a:ext cx="38100" cy="38100"/>
            </a:xfrm>
            <a:prstGeom prst="rect">
              <a:avLst/>
            </a:prstGeom>
            <a:solidFill>
              <a:srgbClr val="070154"/>
            </a:solidFill>
            <a:ln>
              <a:noFill/>
            </a:ln>
          </p:spPr>
        </p:sp>
        <p:sp>
          <p:nvSpPr>
            <p:cNvPr id="51" name="node23.source-002.text"/>
            <p:cNvSpPr/>
            <p:nvPr/>
          </p:nvSpPr>
          <p:spPr>
            <a:xfrm>
              <a:off x="8191500" y="4826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Appeal staffing: pending Oct 6</a:t>
              </a:r>
              <a:endParaRPr lang="en-US" sz="1200" spc="0" kern="0" b="0" i="0" dirty="0">
                <a:solidFill>
                  <a:srgbClr val="070154"/>
                </a:solidFill>
                <a:latin typeface="IBM Plex Sans"/>
                <a:ea typeface="IBM Plex Sans"/>
                <a:cs typeface="IBM Plex Sans"/>
              </a:endParaRPr>
            </a:p>
          </p:txBody>
        </p:sp>
        <p:sp>
          <p:nvSpPr>
            <p:cNvPr id="52" name="node23.source-003.bullet"/>
            <p:cNvSpPr/>
            <p:nvPr/>
          </p:nvSpPr>
          <p:spPr>
            <a:xfrm>
              <a:off x="8039100" y="5168900"/>
              <a:ext cx="38100" cy="38100"/>
            </a:xfrm>
            <a:prstGeom prst="rect">
              <a:avLst/>
            </a:prstGeom>
            <a:solidFill>
              <a:srgbClr val="070154"/>
            </a:solidFill>
            <a:ln>
              <a:noFill/>
            </a:ln>
          </p:spPr>
        </p:sp>
        <p:sp>
          <p:nvSpPr>
            <p:cNvPr id="53" name="node23.source-003.text"/>
            <p:cNvSpPr/>
            <p:nvPr/>
          </p:nvSpPr>
          <p:spPr>
            <a:xfrm>
              <a:off x="8191500" y="5080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who owns payer contracts?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ource-242">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J. Alvarez, VP Revenue Cycle: Sep 8 interview</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158</a:t>
            </a:fld>
            <a:endParaRPr lang="en-US" sz="700" spc="0" kern="0" b="0" i="0" dirty="0">
              <a:solidFill>
                <a:srgbClr val="070154"/>
              </a:solidFill>
              <a:latin typeface="IBM Plex Mono SemiBold"/>
              <a:ea typeface="IBM Plex Mono SemiBold"/>
              <a:cs typeface="IBM Plex Mono SemiBold"/>
            </a:endParaRPr>
          </a:p>
        </p:txBody>
      </p:sp>
      <p:grpSp>
        <p:nvGrpSpPr>
          <p:cNvPr id="29" name="node01"/>
          <p:cNvGrpSpPr/>
          <p:nvPr/>
        </p:nvGrpSpPr>
        <p:grpSpPr>
          <a:xfrm>
            <a:off x="723900" y="2057400"/>
            <a:ext cx="2133600" cy="139700"/>
            <a:chOff x="723900" y="2057400"/>
            <a:chExt cx="2133600" cy="139700"/>
          </a:xfrm>
        </p:grpSpPr>
        <p:sp>
          <p:nvSpPr>
            <p:cNvPr id="7" name="node01.text"/>
            <p:cNvSpPr/>
            <p:nvPr/>
          </p:nvSpPr>
          <p:spPr>
            <a:xfrm>
              <a:off x="723900" y="2057400"/>
              <a:ext cx="2133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DEPARTMENT</a:t>
              </a:r>
              <a:endParaRPr lang="en-US" sz="800" spc="48" kern="0" b="0" i="0" dirty="0">
                <a:solidFill>
                  <a:srgbClr val="50658E"/>
                </a:solidFill>
                <a:latin typeface="IBM Plex Mono Medium"/>
                <a:ea typeface="IBM Plex Mono Medium"/>
                <a:cs typeface="IBM Plex Mono Medium"/>
              </a:endParaRPr>
            </a:p>
          </p:txBody>
        </p:sp>
      </p:grpSp>
      <p:grpSp>
        <p:nvGrpSpPr>
          <p:cNvPr id="30" name="node02"/>
          <p:cNvGrpSpPr/>
          <p:nvPr/>
        </p:nvGrpSpPr>
        <p:grpSpPr>
          <a:xfrm>
            <a:off x="723900" y="2286000"/>
            <a:ext cx="2133600" cy="190500"/>
            <a:chOff x="723900" y="2286000"/>
            <a:chExt cx="2133600" cy="190500"/>
          </a:xfrm>
        </p:grpSpPr>
        <p:sp>
          <p:nvSpPr>
            <p:cNvPr id="8" name="node02.text"/>
            <p:cNvSpPr/>
            <p:nvPr/>
          </p:nvSpPr>
          <p:spPr>
            <a:xfrm>
              <a:off x="723900" y="2286000"/>
              <a:ext cx="2133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Revenue cycle</a:t>
              </a:r>
              <a:endParaRPr lang="en-US" sz="1100" spc="0" kern="0" b="0" i="0" dirty="0">
                <a:solidFill>
                  <a:srgbClr val="070154"/>
                </a:solidFill>
                <a:latin typeface="IBM Plex Sans"/>
                <a:ea typeface="IBM Plex Sans"/>
                <a:cs typeface="IBM Plex Sans"/>
              </a:endParaRPr>
            </a:p>
          </p:txBody>
        </p:sp>
      </p:grpSp>
      <p:grpSp>
        <p:nvGrpSpPr>
          <p:cNvPr id="31" name="node03"/>
          <p:cNvGrpSpPr/>
          <p:nvPr/>
        </p:nvGrpSpPr>
        <p:grpSpPr>
          <a:xfrm>
            <a:off x="3086100" y="2057400"/>
            <a:ext cx="2133600" cy="139700"/>
            <a:chOff x="3086100" y="2057400"/>
            <a:chExt cx="2133600" cy="139700"/>
          </a:xfrm>
        </p:grpSpPr>
        <p:sp>
          <p:nvSpPr>
            <p:cNvPr id="9" name="node03.text"/>
            <p:cNvSpPr/>
            <p:nvPr/>
          </p:nvSpPr>
          <p:spPr>
            <a:xfrm>
              <a:off x="3086100" y="2057400"/>
              <a:ext cx="2133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DATE AND FORMAT</a:t>
              </a:r>
              <a:endParaRPr lang="en-US" sz="800" spc="48" kern="0" b="0" i="0" dirty="0">
                <a:solidFill>
                  <a:srgbClr val="50658E"/>
                </a:solidFill>
                <a:latin typeface="IBM Plex Mono Medium"/>
                <a:ea typeface="IBM Plex Mono Medium"/>
                <a:cs typeface="IBM Plex Mono Medium"/>
              </a:endParaRPr>
            </a:p>
          </p:txBody>
        </p:sp>
      </p:grpSp>
      <p:grpSp>
        <p:nvGrpSpPr>
          <p:cNvPr id="32" name="node04"/>
          <p:cNvGrpSpPr/>
          <p:nvPr/>
        </p:nvGrpSpPr>
        <p:grpSpPr>
          <a:xfrm>
            <a:off x="3086100" y="2286000"/>
            <a:ext cx="2133600" cy="190500"/>
            <a:chOff x="3086100" y="2286000"/>
            <a:chExt cx="2133600" cy="190500"/>
          </a:xfrm>
        </p:grpSpPr>
        <p:sp>
          <p:nvSpPr>
            <p:cNvPr id="10" name="node04.text"/>
            <p:cNvSpPr/>
            <p:nvPr/>
          </p:nvSpPr>
          <p:spPr>
            <a:xfrm>
              <a:off x="3086100" y="2286000"/>
              <a:ext cx="2133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Sep 8 · Onsite · 60 min</a:t>
              </a:r>
              <a:endParaRPr lang="en-US" sz="1100" spc="0" kern="0" b="0" i="0" dirty="0">
                <a:solidFill>
                  <a:srgbClr val="070154"/>
                </a:solidFill>
                <a:latin typeface="IBM Plex Sans"/>
                <a:ea typeface="IBM Plex Sans"/>
                <a:cs typeface="IBM Plex Sans"/>
              </a:endParaRPr>
            </a:p>
          </p:txBody>
        </p:sp>
      </p:grpSp>
      <p:grpSp>
        <p:nvGrpSpPr>
          <p:cNvPr id="33" name="node05"/>
          <p:cNvGrpSpPr/>
          <p:nvPr/>
        </p:nvGrpSpPr>
        <p:grpSpPr>
          <a:xfrm>
            <a:off x="5448300" y="2057400"/>
            <a:ext cx="2362200" cy="139700"/>
            <a:chOff x="5448300" y="2057400"/>
            <a:chExt cx="2362200" cy="139700"/>
          </a:xfrm>
        </p:grpSpPr>
        <p:sp>
          <p:nvSpPr>
            <p:cNvPr id="11" name="node05.text"/>
            <p:cNvSpPr/>
            <p:nvPr/>
          </p:nvSpPr>
          <p:spPr>
            <a:xfrm>
              <a:off x="5448300" y="20574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INTERVIEWERS</a:t>
              </a:r>
              <a:endParaRPr lang="en-US" sz="800" spc="48" kern="0" b="0" i="0" dirty="0">
                <a:solidFill>
                  <a:srgbClr val="50658E"/>
                </a:solidFill>
                <a:latin typeface="IBM Plex Mono Medium"/>
                <a:ea typeface="IBM Plex Mono Medium"/>
                <a:cs typeface="IBM Plex Mono Medium"/>
              </a:endParaRPr>
            </a:p>
          </p:txBody>
        </p:sp>
      </p:grpSp>
      <p:grpSp>
        <p:nvGrpSpPr>
          <p:cNvPr id="34" name="node06"/>
          <p:cNvGrpSpPr/>
          <p:nvPr/>
        </p:nvGrpSpPr>
        <p:grpSpPr>
          <a:xfrm>
            <a:off x="5448300" y="2286000"/>
            <a:ext cx="2362200" cy="190500"/>
            <a:chOff x="5448300" y="2286000"/>
            <a:chExt cx="2362200" cy="190500"/>
          </a:xfrm>
        </p:grpSpPr>
        <p:sp>
          <p:nvSpPr>
            <p:cNvPr id="12" name="node06.text"/>
            <p:cNvSpPr/>
            <p:nvPr/>
          </p:nvSpPr>
          <p:spPr>
            <a:xfrm>
              <a:off x="5448300" y="22860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K. Ortiz, W. Lee</a:t>
              </a:r>
              <a:endParaRPr lang="en-US" sz="1100" spc="0" kern="0" b="0" i="0" dirty="0">
                <a:solidFill>
                  <a:srgbClr val="070154"/>
                </a:solidFill>
                <a:latin typeface="IBM Plex Sans"/>
                <a:ea typeface="IBM Plex Sans"/>
                <a:cs typeface="IBM Plex Sans"/>
              </a:endParaRPr>
            </a:p>
          </p:txBody>
        </p:sp>
      </p:grpSp>
      <p:grpSp>
        <p:nvGrpSpPr>
          <p:cNvPr id="35" name="node07"/>
          <p:cNvGrpSpPr/>
          <p:nvPr/>
        </p:nvGrpSpPr>
        <p:grpSpPr>
          <a:xfrm>
            <a:off x="723900" y="2743200"/>
            <a:ext cx="7086600" cy="2946400"/>
            <a:chOff x="723900" y="2743200"/>
            <a:chExt cx="7086600" cy="2946400"/>
          </a:xfrm>
        </p:grpSpPr>
        <p:graphicFrame>
          <p:nvGraphicFramePr>
            <p:cNvPr id="13" name="node07.native"/>
            <p:cNvGraphicFramePr>
              <a:graphicFrameLocks noGrp="1"/>
            </p:cNvGraphicFramePr>
            <p:nvPr>
              <p:extLst>
                <p:ext uri="{D42A27DB-BD31-4B8C-83A1-F6EECF244321}">
                  <p14:modId xmlns:p14="http://schemas.microsoft.com/office/powerpoint/2010/main" val="1579011935"/>
                </p:ext>
              </p:extLst>
            </p:nvPr>
          </p:nvGraphicFramePr>
          <p:xfrm>
            <a:off x="723900" y="2743200"/>
            <a:ext cx="7086600" cy="2946400"/>
          </p:xfrm>
          <a:graphic>
            <a:graphicData uri="http://schemas.openxmlformats.org/drawingml/2006/table">
              <a:tbl>
                <a:tblPr/>
                <a:tblGrid>
                  <a:gridCol w="1371600"/>
                  <a:gridCol w="2895600"/>
                  <a:gridCol w="28194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TOPIC</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KEY POINT</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PAIN POINT OR OPPORTUNITY</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477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Denials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40% of denials trace to authorization gaps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Rework after day 30 is manual</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477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Registration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Front-desk errors surface at billing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 eligibility check at check-in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477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Tooling</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Three work queues, no single view</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Reports rebuilt by hand monthly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477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Appeals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Appeals average 45 days to resolve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Two analysts hold the know-how</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36" name="node08"/>
          <p:cNvGrpSpPr/>
          <p:nvPr/>
        </p:nvGrpSpPr>
        <p:grpSpPr>
          <a:xfrm>
            <a:off x="8039100" y="457200"/>
            <a:ext cx="3429000" cy="1362075"/>
            <a:chOff x="8039100" y="457200"/>
            <a:chExt cx="3429000" cy="1362075"/>
          </a:xfrm>
        </p:grpSpPr>
        <p:sp>
          <p:nvSpPr>
            <p:cNvPr id="14" name="node08.quote-mark"/>
            <p:cNvSpPr/>
            <p:nvPr/>
          </p:nvSpPr>
          <p:spPr>
            <a:xfrm>
              <a:off x="8039100" y="457200"/>
              <a:ext cx="3429000" cy="416941"/>
            </a:xfrm>
            <a:prstGeom prst="rect">
              <a:avLst/>
            </a:prstGeom>
            <a:noFill/>
            <a:ln/>
          </p:spPr>
          <p:txBody>
            <a:bodyPr wrap="square" lIns="0" tIns="0" rIns="0" bIns="0" rtlCol="0" anchor="t"/>
            <a:lstStyle/>
            <a:p>
              <a:pPr algn="l" indent="0" marL="0">
                <a:lnSpc>
                  <a:spcPts val="2625"/>
                </a:lnSpc>
                <a:buNone/>
              </a:pPr>
              <a:r>
                <a:rPr lang="en-US" sz="5250" spc="-79" kern="0" b="0" i="0" dirty="0">
                  <a:solidFill>
                    <a:srgbClr val="0047FF"/>
                  </a:solidFill>
                  <a:latin typeface="IBM Plex Sans SemiBold"/>
                  <a:ea typeface="IBM Plex Sans SemiBold"/>
                  <a:cs typeface="IBM Plex Sans SemiBold"/>
                </a:rPr>
                <a:t>“</a:t>
              </a:r>
              <a:endParaRPr lang="en-US" sz="5250" spc="-79" kern="0" b="0" i="0" dirty="0">
                <a:solidFill>
                  <a:srgbClr val="0047FF"/>
                </a:solidFill>
                <a:latin typeface="IBM Plex Sans SemiBold"/>
                <a:ea typeface="IBM Plex Sans SemiBold"/>
                <a:cs typeface="IBM Plex Sans SemiBold"/>
              </a:endParaRPr>
            </a:p>
          </p:txBody>
        </p:sp>
        <p:sp>
          <p:nvSpPr>
            <p:cNvPr id="15" name="node08.quote"/>
            <p:cNvSpPr/>
            <p:nvPr/>
          </p:nvSpPr>
          <p:spPr>
            <a:xfrm>
              <a:off x="8039100" y="904875"/>
              <a:ext cx="34290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We find it at billing, three weeks late.</a:t>
              </a:r>
              <a:endParaRPr lang="en-US" sz="2100" spc="-32" kern="0" b="0" i="0" dirty="0">
                <a:solidFill>
                  <a:srgbClr val="070154"/>
                </a:solidFill>
                <a:latin typeface="IBM Plex Sans SemiBold"/>
                <a:ea typeface="IBM Plex Sans SemiBold"/>
                <a:cs typeface="IBM Plex Sans SemiBold"/>
              </a:endParaRPr>
            </a:p>
          </p:txBody>
        </p:sp>
        <p:sp>
          <p:nvSpPr>
            <p:cNvPr id="16" name="node08.by"/>
            <p:cNvSpPr/>
            <p:nvPr/>
          </p:nvSpPr>
          <p:spPr>
            <a:xfrm>
              <a:off x="8039100" y="1679575"/>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J. ALVAREZ</a:t>
              </a:r>
              <a:endParaRPr lang="en-US" sz="800" spc="48" kern="0" b="0" i="0" dirty="0">
                <a:solidFill>
                  <a:srgbClr val="50658E"/>
                </a:solidFill>
                <a:latin typeface="IBM Plex Mono Medium"/>
                <a:ea typeface="IBM Plex Mono Medium"/>
                <a:cs typeface="IBM Plex Mono Medium"/>
              </a:endParaRPr>
            </a:p>
          </p:txBody>
        </p:sp>
      </p:grpSp>
      <p:grpSp>
        <p:nvGrpSpPr>
          <p:cNvPr id="37" name="node09"/>
          <p:cNvGrpSpPr/>
          <p:nvPr/>
        </p:nvGrpSpPr>
        <p:grpSpPr>
          <a:xfrm>
            <a:off x="8039100" y="2514600"/>
            <a:ext cx="3429000" cy="139700"/>
            <a:chOff x="8039100" y="2514600"/>
            <a:chExt cx="3429000" cy="139700"/>
          </a:xfrm>
        </p:grpSpPr>
        <p:sp>
          <p:nvSpPr>
            <p:cNvPr id="17" name="node09.label"/>
            <p:cNvSpPr/>
            <p:nvPr/>
          </p:nvSpPr>
          <p:spPr>
            <a:xfrm>
              <a:off x="8039100" y="25146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OPPORTUNITIES</a:t>
              </a:r>
              <a:endParaRPr lang="en-US" sz="800" spc="48" kern="0" b="0" i="0" dirty="0">
                <a:solidFill>
                  <a:srgbClr val="0047FF"/>
                </a:solidFill>
                <a:latin typeface="IBM Plex Mono Medium"/>
                <a:ea typeface="IBM Plex Mono Medium"/>
                <a:cs typeface="IBM Plex Mono Medium"/>
              </a:endParaRPr>
            </a:p>
          </p:txBody>
        </p:sp>
      </p:grpSp>
      <p:grpSp>
        <p:nvGrpSpPr>
          <p:cNvPr id="38" name="node10"/>
          <p:cNvGrpSpPr/>
          <p:nvPr/>
        </p:nvGrpSpPr>
        <p:grpSpPr>
          <a:xfrm>
            <a:off x="8039100" y="2819400"/>
            <a:ext cx="3429000" cy="469900"/>
            <a:chOff x="8039100" y="2819400"/>
            <a:chExt cx="3429000" cy="469900"/>
          </a:xfrm>
        </p:grpSpPr>
        <p:sp>
          <p:nvSpPr>
            <p:cNvPr id="18" name="node10.source-001.bullet"/>
            <p:cNvSpPr/>
            <p:nvPr/>
          </p:nvSpPr>
          <p:spPr>
            <a:xfrm>
              <a:off x="8039100" y="2908300"/>
              <a:ext cx="38100" cy="38100"/>
            </a:xfrm>
            <a:prstGeom prst="rect">
              <a:avLst/>
            </a:prstGeom>
            <a:solidFill>
              <a:srgbClr val="070154"/>
            </a:solidFill>
            <a:ln>
              <a:noFill/>
            </a:ln>
          </p:spPr>
        </p:sp>
        <p:sp>
          <p:nvSpPr>
            <p:cNvPr id="19" name="node10.source-001.text"/>
            <p:cNvSpPr/>
            <p:nvPr/>
          </p:nvSpPr>
          <p:spPr>
            <a:xfrm>
              <a:off x="8191500" y="2819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work queue by payer</a:t>
              </a:r>
              <a:endParaRPr lang="en-US" sz="1200" spc="0" kern="0" b="0" i="0" dirty="0">
                <a:solidFill>
                  <a:srgbClr val="070154"/>
                </a:solidFill>
                <a:latin typeface="IBM Plex Sans"/>
                <a:ea typeface="IBM Plex Sans"/>
                <a:cs typeface="IBM Plex Sans"/>
              </a:endParaRPr>
            </a:p>
          </p:txBody>
        </p:sp>
        <p:sp>
          <p:nvSpPr>
            <p:cNvPr id="20" name="node10.source-002.bullet"/>
            <p:cNvSpPr/>
            <p:nvPr/>
          </p:nvSpPr>
          <p:spPr>
            <a:xfrm>
              <a:off x="8039100" y="3162300"/>
              <a:ext cx="38100" cy="38100"/>
            </a:xfrm>
            <a:prstGeom prst="rect">
              <a:avLst/>
            </a:prstGeom>
            <a:solidFill>
              <a:srgbClr val="070154"/>
            </a:solidFill>
            <a:ln>
              <a:noFill/>
            </a:ln>
          </p:spPr>
        </p:sp>
        <p:sp>
          <p:nvSpPr>
            <p:cNvPr id="21" name="node10.source-002.text"/>
            <p:cNvSpPr/>
            <p:nvPr/>
          </p:nvSpPr>
          <p:spPr>
            <a:xfrm>
              <a:off x="8191500" y="3073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Eligibility check at check-in</a:t>
              </a:r>
              <a:endParaRPr lang="en-US" sz="1200" spc="0" kern="0" b="0" i="0" dirty="0">
                <a:solidFill>
                  <a:srgbClr val="070154"/>
                </a:solidFill>
                <a:latin typeface="IBM Plex Sans"/>
                <a:ea typeface="IBM Plex Sans"/>
                <a:cs typeface="IBM Plex Sans"/>
              </a:endParaRPr>
            </a:p>
          </p:txBody>
        </p:sp>
      </p:grpSp>
      <p:grpSp>
        <p:nvGrpSpPr>
          <p:cNvPr id="39" name="node11"/>
          <p:cNvGrpSpPr/>
          <p:nvPr/>
        </p:nvGrpSpPr>
        <p:grpSpPr>
          <a:xfrm>
            <a:off x="8039100" y="3657600"/>
            <a:ext cx="3429000" cy="139700"/>
            <a:chOff x="8039100" y="3657600"/>
            <a:chExt cx="3429000" cy="139700"/>
          </a:xfrm>
        </p:grpSpPr>
        <p:sp>
          <p:nvSpPr>
            <p:cNvPr id="22" name="node11.label"/>
            <p:cNvSpPr/>
            <p:nvPr/>
          </p:nvSpPr>
          <p:spPr>
            <a:xfrm>
              <a:off x="8039100" y="36576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FOLLOW-UPS AND QUESTIONS</a:t>
              </a:r>
              <a:endParaRPr lang="en-US" sz="800" spc="48" kern="0" b="0" i="0" dirty="0">
                <a:solidFill>
                  <a:srgbClr val="0047FF"/>
                </a:solidFill>
                <a:latin typeface="IBM Plex Mono Medium"/>
                <a:ea typeface="IBM Plex Mono Medium"/>
                <a:cs typeface="IBM Plex Mono Medium"/>
              </a:endParaRPr>
            </a:p>
          </p:txBody>
        </p:sp>
      </p:grpSp>
      <p:grpSp>
        <p:nvGrpSpPr>
          <p:cNvPr id="40" name="node12"/>
          <p:cNvGrpSpPr/>
          <p:nvPr/>
        </p:nvGrpSpPr>
        <p:grpSpPr>
          <a:xfrm>
            <a:off x="8039100" y="3962400"/>
            <a:ext cx="3429000" cy="723900"/>
            <a:chOff x="8039100" y="3962400"/>
            <a:chExt cx="3429000" cy="723900"/>
          </a:xfrm>
        </p:grpSpPr>
        <p:sp>
          <p:nvSpPr>
            <p:cNvPr id="23" name="node12.source-001.bullet"/>
            <p:cNvSpPr/>
            <p:nvPr/>
          </p:nvSpPr>
          <p:spPr>
            <a:xfrm>
              <a:off x="8039100" y="4051300"/>
              <a:ext cx="38100" cy="38100"/>
            </a:xfrm>
            <a:prstGeom prst="rect">
              <a:avLst/>
            </a:prstGeom>
            <a:solidFill>
              <a:srgbClr val="070154"/>
            </a:solidFill>
            <a:ln>
              <a:noFill/>
            </a:ln>
          </p:spPr>
        </p:sp>
        <p:sp>
          <p:nvSpPr>
            <p:cNvPr id="24" name="node12.source-001.text"/>
            <p:cNvSpPr/>
            <p:nvPr/>
          </p:nvSpPr>
          <p:spPr>
            <a:xfrm>
              <a:off x="8191500" y="3962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Denial extract:</a:t>
              </a:r>
              <a:r>
                <a:rPr lang="en-US" sz="1200" spc="0" kern="0" b="0" i="0" dirty="0">
                  <a:solidFill>
                    <a:srgbClr val="50658E"/>
                  </a:solidFill>
                  <a:latin typeface="IBM Plex Sans"/>
                  <a:ea typeface="IBM Plex Sans"/>
                  <a:cs typeface="IBM Plex Sans"/>
                </a:rPr>
                <a:t xml:space="preserve"> received Sep 22</a:t>
              </a:r>
              <a:endParaRPr lang="en-US" sz="1200" spc="0" kern="0" b="0" i="0" dirty="0">
                <a:solidFill>
                  <a:srgbClr val="070154"/>
                </a:solidFill>
                <a:latin typeface="IBM Plex Sans"/>
                <a:ea typeface="IBM Plex Sans"/>
                <a:cs typeface="IBM Plex Sans"/>
              </a:endParaRPr>
            </a:p>
          </p:txBody>
        </p:sp>
        <p:sp>
          <p:nvSpPr>
            <p:cNvPr id="25" name="node12.source-002.bullet"/>
            <p:cNvSpPr/>
            <p:nvPr/>
          </p:nvSpPr>
          <p:spPr>
            <a:xfrm>
              <a:off x="8039100" y="4305300"/>
              <a:ext cx="38100" cy="38100"/>
            </a:xfrm>
            <a:prstGeom prst="rect">
              <a:avLst/>
            </a:prstGeom>
            <a:solidFill>
              <a:srgbClr val="070154"/>
            </a:solidFill>
            <a:ln>
              <a:noFill/>
            </a:ln>
          </p:spPr>
        </p:sp>
        <p:sp>
          <p:nvSpPr>
            <p:cNvPr id="26" name="node12.source-002.text"/>
            <p:cNvSpPr/>
            <p:nvPr/>
          </p:nvSpPr>
          <p:spPr>
            <a:xfrm>
              <a:off x="8191500" y="4216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Appeal staffing:</a:t>
              </a:r>
              <a:r>
                <a:rPr lang="en-US" sz="1200" spc="0" kern="0" b="0" i="0" dirty="0">
                  <a:solidFill>
                    <a:srgbClr val="50658E"/>
                  </a:solidFill>
                  <a:latin typeface="IBM Plex Sans"/>
                  <a:ea typeface="IBM Plex Sans"/>
                  <a:cs typeface="IBM Plex Sans"/>
                </a:rPr>
                <a:t xml:space="preserve"> pending, due Oct 6</a:t>
              </a:r>
              <a:endParaRPr lang="en-US" sz="1200" spc="0" kern="0" b="0" i="0" dirty="0">
                <a:solidFill>
                  <a:srgbClr val="070154"/>
                </a:solidFill>
                <a:latin typeface="IBM Plex Sans"/>
                <a:ea typeface="IBM Plex Sans"/>
                <a:cs typeface="IBM Plex Sans"/>
              </a:endParaRPr>
            </a:p>
          </p:txBody>
        </p:sp>
        <p:sp>
          <p:nvSpPr>
            <p:cNvPr id="27" name="node12.source-003.bullet"/>
            <p:cNvSpPr/>
            <p:nvPr/>
          </p:nvSpPr>
          <p:spPr>
            <a:xfrm>
              <a:off x="8039100" y="4559300"/>
              <a:ext cx="38100" cy="38100"/>
            </a:xfrm>
            <a:prstGeom prst="rect">
              <a:avLst/>
            </a:prstGeom>
            <a:solidFill>
              <a:srgbClr val="070154"/>
            </a:solidFill>
            <a:ln>
              <a:noFill/>
            </a:ln>
          </p:spPr>
        </p:sp>
        <p:sp>
          <p:nvSpPr>
            <p:cNvPr id="28" name="node12.source-003.text"/>
            <p:cNvSpPr/>
            <p:nvPr/>
          </p:nvSpPr>
          <p:spPr>
            <a:xfrm>
              <a:off x="8191500" y="4470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Open:</a:t>
              </a:r>
              <a:r>
                <a:rPr lang="en-US" sz="1200" spc="0" kern="0" b="0" i="0" dirty="0">
                  <a:solidFill>
                    <a:srgbClr val="50658E"/>
                  </a:solidFill>
                  <a:latin typeface="IBM Plex Sans"/>
                  <a:ea typeface="IBM Plex Sans"/>
                  <a:cs typeface="IBM Plex Sans"/>
                </a:rPr>
                <a:t xml:space="preserve"> who owns payer contracts?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ource-23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Patient access leads agree on registration as the first fix</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159</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723900" y="1600200"/>
            <a:ext cx="10744200" cy="190500"/>
            <a:chOff x="723900" y="1600200"/>
            <a:chExt cx="10744200" cy="190500"/>
          </a:xfrm>
        </p:grpSpPr>
        <p:sp>
          <p:nvSpPr>
            <p:cNvPr id="7" name="node01.text"/>
            <p:cNvSpPr/>
            <p:nvPr/>
          </p:nvSpPr>
          <p:spPr>
            <a:xfrm>
              <a:off x="723900" y="1600200"/>
              <a:ext cx="1074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Group session · Sep 25 · Onsite, Main campus · 90 min · K. Ortiz, A. Cole</a:t>
              </a:r>
              <a:endParaRPr lang="en-US" sz="1100" spc="0" kern="0" b="0" i="0" dirty="0">
                <a:solidFill>
                  <a:srgbClr val="50658E"/>
                </a:solidFill>
                <a:latin typeface="IBM Plex Sans"/>
                <a:ea typeface="IBM Plex Sans"/>
                <a:cs typeface="IBM Plex Sans"/>
              </a:endParaRPr>
            </a:p>
          </p:txBody>
        </p:sp>
      </p:grpSp>
      <p:grpSp>
        <p:nvGrpSpPr>
          <p:cNvPr id="53" name="node02"/>
          <p:cNvGrpSpPr/>
          <p:nvPr/>
        </p:nvGrpSpPr>
        <p:grpSpPr>
          <a:xfrm>
            <a:off x="723900" y="2057400"/>
            <a:ext cx="3429000" cy="1828800"/>
            <a:chOff x="723900" y="2057400"/>
            <a:chExt cx="3429000" cy="1828800"/>
          </a:xfrm>
        </p:grpSpPr>
        <p:sp>
          <p:nvSpPr>
            <p:cNvPr id="8" name="node02.container"/>
            <p:cNvSpPr/>
            <p:nvPr/>
          </p:nvSpPr>
          <p:spPr>
            <a:xfrm>
              <a:off x="723900" y="2057400"/>
              <a:ext cx="3429000" cy="1828800"/>
            </a:xfrm>
            <a:prstGeom prst="rect">
              <a:avLst/>
            </a:prstGeom>
            <a:solidFill>
              <a:srgbClr val="E8EEF8"/>
            </a:solidFill>
            <a:ln>
              <a:noFill/>
            </a:ln>
          </p:spPr>
        </p:sp>
        <p:sp>
          <p:nvSpPr>
            <p:cNvPr id="9" name="node02.label"/>
            <p:cNvSpPr/>
            <p:nvPr/>
          </p:nvSpPr>
          <p:spPr>
            <a:xfrm>
              <a:off x="876300" y="2209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DIRECTOR, PATIENT ACCESS</a:t>
              </a:r>
              <a:endParaRPr lang="en-US" sz="800" spc="48" kern="0" b="0" i="0" dirty="0">
                <a:solidFill>
                  <a:srgbClr val="0047FF"/>
                </a:solidFill>
                <a:latin typeface="IBM Plex Mono Medium"/>
                <a:ea typeface="IBM Plex Mono Medium"/>
                <a:cs typeface="IBM Plex Mono Medium"/>
              </a:endParaRPr>
            </a:p>
          </p:txBody>
        </p:sp>
        <p:sp>
          <p:nvSpPr>
            <p:cNvPr id="10" name="node02.title"/>
            <p:cNvSpPr/>
            <p:nvPr/>
          </p:nvSpPr>
          <p:spPr>
            <a:xfrm>
              <a:off x="876300" y="24257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M. Chen</a:t>
              </a:r>
              <a:endParaRPr lang="en-US" sz="1600" spc="-16" kern="0" b="0" i="0" dirty="0">
                <a:solidFill>
                  <a:srgbClr val="070154"/>
                </a:solidFill>
                <a:latin typeface="IBM Plex Sans SemiBold"/>
                <a:ea typeface="IBM Plex Sans SemiBold"/>
                <a:cs typeface="IBM Plex Sans SemiBold"/>
              </a:endParaRPr>
            </a:p>
          </p:txBody>
        </p:sp>
        <p:sp>
          <p:nvSpPr>
            <p:cNvPr id="11" name="node02.body.item-001.bullets.item-001.marker"/>
            <p:cNvSpPr/>
            <p:nvPr/>
          </p:nvSpPr>
          <p:spPr>
            <a:xfrm>
              <a:off x="876300" y="2933700"/>
              <a:ext cx="38100" cy="38100"/>
            </a:xfrm>
            <a:prstGeom prst="rect">
              <a:avLst/>
            </a:prstGeom>
            <a:solidFill>
              <a:srgbClr val="070154"/>
            </a:solidFill>
            <a:ln>
              <a:noFill/>
            </a:ln>
          </p:spPr>
        </p:sp>
        <p:sp>
          <p:nvSpPr>
            <p:cNvPr id="12" name="node02.body.item-001.bullets.item-001.text"/>
            <p:cNvSpPr/>
            <p:nvPr/>
          </p:nvSpPr>
          <p:spPr>
            <a:xfrm>
              <a:off x="1028700" y="2844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Errors begin at the front desk</a:t>
              </a:r>
              <a:endParaRPr lang="en-US" sz="1200" spc="0" kern="0" b="0" i="0" dirty="0">
                <a:solidFill>
                  <a:srgbClr val="070154"/>
                </a:solidFill>
                <a:latin typeface="IBM Plex Sans"/>
                <a:ea typeface="IBM Plex Sans"/>
                <a:cs typeface="IBM Plex Sans"/>
              </a:endParaRPr>
            </a:p>
          </p:txBody>
        </p:sp>
        <p:sp>
          <p:nvSpPr>
            <p:cNvPr id="13" name="node02.body.item-001.bullets.item-002.marker"/>
            <p:cNvSpPr/>
            <p:nvPr/>
          </p:nvSpPr>
          <p:spPr>
            <a:xfrm>
              <a:off x="876300" y="3187700"/>
              <a:ext cx="38100" cy="38100"/>
            </a:xfrm>
            <a:prstGeom prst="rect">
              <a:avLst/>
            </a:prstGeom>
            <a:solidFill>
              <a:srgbClr val="070154"/>
            </a:solidFill>
            <a:ln>
              <a:noFill/>
            </a:ln>
          </p:spPr>
        </p:sp>
        <p:sp>
          <p:nvSpPr>
            <p:cNvPr id="14" name="node02.body.item-001.bullets.item-002.text"/>
            <p:cNvSpPr/>
            <p:nvPr/>
          </p:nvSpPr>
          <p:spPr>
            <a:xfrm>
              <a:off x="1028700" y="3098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Three scheduling tools in use</a:t>
              </a:r>
              <a:endParaRPr lang="en-US" sz="1200" spc="0" kern="0" b="0" i="0" dirty="0">
                <a:solidFill>
                  <a:srgbClr val="070154"/>
                </a:solidFill>
                <a:latin typeface="IBM Plex Sans"/>
                <a:ea typeface="IBM Plex Sans"/>
                <a:cs typeface="IBM Plex Sans"/>
              </a:endParaRPr>
            </a:p>
          </p:txBody>
        </p:sp>
        <p:sp>
          <p:nvSpPr>
            <p:cNvPr id="15" name="node02.body.item-001.bullets.item-003.marker"/>
            <p:cNvSpPr/>
            <p:nvPr/>
          </p:nvSpPr>
          <p:spPr>
            <a:xfrm>
              <a:off x="876300" y="3441700"/>
              <a:ext cx="38100" cy="38100"/>
            </a:xfrm>
            <a:prstGeom prst="rect">
              <a:avLst/>
            </a:prstGeom>
            <a:solidFill>
              <a:srgbClr val="070154"/>
            </a:solidFill>
            <a:ln>
              <a:noFill/>
            </a:ln>
          </p:spPr>
        </p:sp>
        <p:sp>
          <p:nvSpPr>
            <p:cNvPr id="16" name="node02.body.item-001.bullets.item-003.text"/>
            <p:cNvSpPr/>
            <p:nvPr/>
          </p:nvSpPr>
          <p:spPr>
            <a:xfrm>
              <a:off x="1028700" y="3352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Wants real-time eligibility</a:t>
              </a:r>
              <a:endParaRPr lang="en-US" sz="1200" spc="0" kern="0" b="0" i="0" dirty="0">
                <a:solidFill>
                  <a:srgbClr val="070154"/>
                </a:solidFill>
                <a:latin typeface="IBM Plex Sans"/>
                <a:ea typeface="IBM Plex Sans"/>
                <a:cs typeface="IBM Plex Sans"/>
              </a:endParaRPr>
            </a:p>
          </p:txBody>
        </p:sp>
      </p:grpSp>
      <p:grpSp>
        <p:nvGrpSpPr>
          <p:cNvPr id="54" name="node03"/>
          <p:cNvGrpSpPr/>
          <p:nvPr/>
        </p:nvGrpSpPr>
        <p:grpSpPr>
          <a:xfrm>
            <a:off x="4381500" y="2057400"/>
            <a:ext cx="3429000" cy="1828800"/>
            <a:chOff x="4381500" y="2057400"/>
            <a:chExt cx="3429000" cy="1828800"/>
          </a:xfrm>
        </p:grpSpPr>
        <p:sp>
          <p:nvSpPr>
            <p:cNvPr id="17" name="node03.container"/>
            <p:cNvSpPr/>
            <p:nvPr/>
          </p:nvSpPr>
          <p:spPr>
            <a:xfrm>
              <a:off x="4381500" y="2057400"/>
              <a:ext cx="3429000" cy="1828800"/>
            </a:xfrm>
            <a:prstGeom prst="rect">
              <a:avLst/>
            </a:prstGeom>
            <a:solidFill>
              <a:srgbClr val="E8EEF8"/>
            </a:solidFill>
            <a:ln>
              <a:noFill/>
            </a:ln>
          </p:spPr>
        </p:sp>
        <p:sp>
          <p:nvSpPr>
            <p:cNvPr id="18" name="node03.label"/>
            <p:cNvSpPr/>
            <p:nvPr/>
          </p:nvSpPr>
          <p:spPr>
            <a:xfrm>
              <a:off x="4533900" y="2209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PATIENT ACCESS SUPERVISOR</a:t>
              </a:r>
              <a:endParaRPr lang="en-US" sz="800" spc="48" kern="0" b="0" i="0" dirty="0">
                <a:solidFill>
                  <a:srgbClr val="0047FF"/>
                </a:solidFill>
                <a:latin typeface="IBM Plex Mono Medium"/>
                <a:ea typeface="IBM Plex Mono Medium"/>
                <a:cs typeface="IBM Plex Mono Medium"/>
              </a:endParaRPr>
            </a:p>
          </p:txBody>
        </p:sp>
        <p:sp>
          <p:nvSpPr>
            <p:cNvPr id="19" name="node03.title"/>
            <p:cNvSpPr/>
            <p:nvPr/>
          </p:nvSpPr>
          <p:spPr>
            <a:xfrm>
              <a:off x="4533900" y="24257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B. Kowalski</a:t>
              </a:r>
              <a:endParaRPr lang="en-US" sz="1600" spc="-16" kern="0" b="0" i="0" dirty="0">
                <a:solidFill>
                  <a:srgbClr val="070154"/>
                </a:solidFill>
                <a:latin typeface="IBM Plex Sans SemiBold"/>
                <a:ea typeface="IBM Plex Sans SemiBold"/>
                <a:cs typeface="IBM Plex Sans SemiBold"/>
              </a:endParaRPr>
            </a:p>
          </p:txBody>
        </p:sp>
        <p:sp>
          <p:nvSpPr>
            <p:cNvPr id="20" name="node03.body.item-001.bullets.item-001.marker"/>
            <p:cNvSpPr/>
            <p:nvPr/>
          </p:nvSpPr>
          <p:spPr>
            <a:xfrm>
              <a:off x="4533900" y="2933700"/>
              <a:ext cx="38100" cy="38100"/>
            </a:xfrm>
            <a:prstGeom prst="rect">
              <a:avLst/>
            </a:prstGeom>
            <a:solidFill>
              <a:srgbClr val="070154"/>
            </a:solidFill>
            <a:ln>
              <a:noFill/>
            </a:ln>
          </p:spPr>
        </p:sp>
        <p:sp>
          <p:nvSpPr>
            <p:cNvPr id="21" name="node03.body.item-001.bullets.item-001.text"/>
            <p:cNvSpPr/>
            <p:nvPr/>
          </p:nvSpPr>
          <p:spPr>
            <a:xfrm>
              <a:off x="4686300" y="2844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Staff re-key data twice</a:t>
              </a:r>
              <a:endParaRPr lang="en-US" sz="1200" spc="0" kern="0" b="0" i="0" dirty="0">
                <a:solidFill>
                  <a:srgbClr val="070154"/>
                </a:solidFill>
                <a:latin typeface="IBM Plex Sans"/>
                <a:ea typeface="IBM Plex Sans"/>
                <a:cs typeface="IBM Plex Sans"/>
              </a:endParaRPr>
            </a:p>
          </p:txBody>
        </p:sp>
        <p:sp>
          <p:nvSpPr>
            <p:cNvPr id="22" name="node03.body.item-001.bullets.item-002.marker"/>
            <p:cNvSpPr/>
            <p:nvPr/>
          </p:nvSpPr>
          <p:spPr>
            <a:xfrm>
              <a:off x="4533900" y="3187700"/>
              <a:ext cx="38100" cy="38100"/>
            </a:xfrm>
            <a:prstGeom prst="rect">
              <a:avLst/>
            </a:prstGeom>
            <a:solidFill>
              <a:srgbClr val="070154"/>
            </a:solidFill>
            <a:ln>
              <a:noFill/>
            </a:ln>
          </p:spPr>
        </p:sp>
        <p:sp>
          <p:nvSpPr>
            <p:cNvPr id="23" name="node03.body.item-001.bullets.item-002.text"/>
            <p:cNvSpPr/>
            <p:nvPr/>
          </p:nvSpPr>
          <p:spPr>
            <a:xfrm>
              <a:off x="4686300" y="3098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Turnover is highest at intake</a:t>
              </a:r>
              <a:endParaRPr lang="en-US" sz="1200" spc="0" kern="0" b="0" i="0" dirty="0">
                <a:solidFill>
                  <a:srgbClr val="070154"/>
                </a:solidFill>
                <a:latin typeface="IBM Plex Sans"/>
                <a:ea typeface="IBM Plex Sans"/>
                <a:cs typeface="IBM Plex Sans"/>
              </a:endParaRPr>
            </a:p>
          </p:txBody>
        </p:sp>
        <p:sp>
          <p:nvSpPr>
            <p:cNvPr id="24" name="node03.body.item-001.bullets.item-003.marker"/>
            <p:cNvSpPr/>
            <p:nvPr/>
          </p:nvSpPr>
          <p:spPr>
            <a:xfrm>
              <a:off x="4533900" y="3441700"/>
              <a:ext cx="38100" cy="38100"/>
            </a:xfrm>
            <a:prstGeom prst="rect">
              <a:avLst/>
            </a:prstGeom>
            <a:solidFill>
              <a:srgbClr val="070154"/>
            </a:solidFill>
            <a:ln>
              <a:noFill/>
            </a:ln>
          </p:spPr>
        </p:sp>
        <p:sp>
          <p:nvSpPr>
            <p:cNvPr id="25" name="node03.body.item-001.bullets.item-003.text"/>
            <p:cNvSpPr/>
            <p:nvPr/>
          </p:nvSpPr>
          <p:spPr>
            <a:xfrm>
              <a:off x="4686300" y="3352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Prior-auth data is slow to arrive</a:t>
              </a:r>
              <a:endParaRPr lang="en-US" sz="1200" spc="0" kern="0" b="0" i="0" dirty="0">
                <a:solidFill>
                  <a:srgbClr val="070154"/>
                </a:solidFill>
                <a:latin typeface="IBM Plex Sans"/>
                <a:ea typeface="IBM Plex Sans"/>
                <a:cs typeface="IBM Plex Sans"/>
              </a:endParaRPr>
            </a:p>
          </p:txBody>
        </p:sp>
      </p:grpSp>
      <p:grpSp>
        <p:nvGrpSpPr>
          <p:cNvPr id="55" name="node04"/>
          <p:cNvGrpSpPr/>
          <p:nvPr/>
        </p:nvGrpSpPr>
        <p:grpSpPr>
          <a:xfrm>
            <a:off x="8039100" y="2057400"/>
            <a:ext cx="3429000" cy="1828800"/>
            <a:chOff x="8039100" y="2057400"/>
            <a:chExt cx="3429000" cy="1828800"/>
          </a:xfrm>
        </p:grpSpPr>
        <p:sp>
          <p:nvSpPr>
            <p:cNvPr id="26" name="node04.container"/>
            <p:cNvSpPr/>
            <p:nvPr/>
          </p:nvSpPr>
          <p:spPr>
            <a:xfrm>
              <a:off x="8039100" y="2057400"/>
              <a:ext cx="3429000" cy="1828800"/>
            </a:xfrm>
            <a:prstGeom prst="rect">
              <a:avLst/>
            </a:prstGeom>
            <a:solidFill>
              <a:srgbClr val="E8EEF8"/>
            </a:solidFill>
            <a:ln>
              <a:noFill/>
            </a:ln>
          </p:spPr>
        </p:sp>
        <p:sp>
          <p:nvSpPr>
            <p:cNvPr id="27" name="node04.label"/>
            <p:cNvSpPr/>
            <p:nvPr/>
          </p:nvSpPr>
          <p:spPr>
            <a:xfrm>
              <a:off x="8191500" y="2209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SCHEDULING LEAD</a:t>
              </a:r>
              <a:endParaRPr lang="en-US" sz="800" spc="48" kern="0" b="0" i="0" dirty="0">
                <a:solidFill>
                  <a:srgbClr val="0047FF"/>
                </a:solidFill>
                <a:latin typeface="IBM Plex Mono Medium"/>
                <a:ea typeface="IBM Plex Mono Medium"/>
                <a:cs typeface="IBM Plex Mono Medium"/>
              </a:endParaRPr>
            </a:p>
          </p:txBody>
        </p:sp>
        <p:sp>
          <p:nvSpPr>
            <p:cNvPr id="28" name="node04.title"/>
            <p:cNvSpPr/>
            <p:nvPr/>
          </p:nvSpPr>
          <p:spPr>
            <a:xfrm>
              <a:off x="8191500" y="24257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U. Lindgren</a:t>
              </a:r>
              <a:endParaRPr lang="en-US" sz="1600" spc="-16" kern="0" b="0" i="0" dirty="0">
                <a:solidFill>
                  <a:srgbClr val="070154"/>
                </a:solidFill>
                <a:latin typeface="IBM Plex Sans SemiBold"/>
                <a:ea typeface="IBM Plex Sans SemiBold"/>
                <a:cs typeface="IBM Plex Sans SemiBold"/>
              </a:endParaRPr>
            </a:p>
          </p:txBody>
        </p:sp>
        <p:sp>
          <p:nvSpPr>
            <p:cNvPr id="29" name="node04.body.item-001.bullets.item-001.marker"/>
            <p:cNvSpPr/>
            <p:nvPr/>
          </p:nvSpPr>
          <p:spPr>
            <a:xfrm>
              <a:off x="8191500" y="2933700"/>
              <a:ext cx="38100" cy="38100"/>
            </a:xfrm>
            <a:prstGeom prst="rect">
              <a:avLst/>
            </a:prstGeom>
            <a:solidFill>
              <a:srgbClr val="070154"/>
            </a:solidFill>
            <a:ln>
              <a:noFill/>
            </a:ln>
          </p:spPr>
        </p:sp>
        <p:sp>
          <p:nvSpPr>
            <p:cNvPr id="30" name="node04.body.item-001.bullets.item-001.text"/>
            <p:cNvSpPr/>
            <p:nvPr/>
          </p:nvSpPr>
          <p:spPr>
            <a:xfrm>
              <a:off x="8343900" y="2844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Templates differ by clinic</a:t>
              </a:r>
              <a:endParaRPr lang="en-US" sz="1200" spc="0" kern="0" b="0" i="0" dirty="0">
                <a:solidFill>
                  <a:srgbClr val="070154"/>
                </a:solidFill>
                <a:latin typeface="IBM Plex Sans"/>
                <a:ea typeface="IBM Plex Sans"/>
                <a:cs typeface="IBM Plex Sans"/>
              </a:endParaRPr>
            </a:p>
          </p:txBody>
        </p:sp>
        <p:sp>
          <p:nvSpPr>
            <p:cNvPr id="31" name="node04.body.item-001.bullets.item-002.marker"/>
            <p:cNvSpPr/>
            <p:nvPr/>
          </p:nvSpPr>
          <p:spPr>
            <a:xfrm>
              <a:off x="8191500" y="3187700"/>
              <a:ext cx="38100" cy="38100"/>
            </a:xfrm>
            <a:prstGeom prst="rect">
              <a:avLst/>
            </a:prstGeom>
            <a:solidFill>
              <a:srgbClr val="070154"/>
            </a:solidFill>
            <a:ln>
              <a:noFill/>
            </a:ln>
          </p:spPr>
        </p:sp>
        <p:sp>
          <p:nvSpPr>
            <p:cNvPr id="32" name="node04.body.item-001.bullets.item-002.text"/>
            <p:cNvSpPr/>
            <p:nvPr/>
          </p:nvSpPr>
          <p:spPr>
            <a:xfrm>
              <a:off x="8343900" y="3098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Cancellations are not tracked</a:t>
              </a:r>
              <a:endParaRPr lang="en-US" sz="1200" spc="0" kern="0" b="0" i="0" dirty="0">
                <a:solidFill>
                  <a:srgbClr val="070154"/>
                </a:solidFill>
                <a:latin typeface="IBM Plex Sans"/>
                <a:ea typeface="IBM Plex Sans"/>
                <a:cs typeface="IBM Plex Sans"/>
              </a:endParaRPr>
            </a:p>
          </p:txBody>
        </p:sp>
        <p:sp>
          <p:nvSpPr>
            <p:cNvPr id="33" name="node04.body.item-001.bullets.item-003.marker"/>
            <p:cNvSpPr/>
            <p:nvPr/>
          </p:nvSpPr>
          <p:spPr>
            <a:xfrm>
              <a:off x="8191500" y="3441700"/>
              <a:ext cx="38100" cy="38100"/>
            </a:xfrm>
            <a:prstGeom prst="rect">
              <a:avLst/>
            </a:prstGeom>
            <a:solidFill>
              <a:srgbClr val="070154"/>
            </a:solidFill>
            <a:ln>
              <a:noFill/>
            </a:ln>
          </p:spPr>
        </p:sp>
        <p:sp>
          <p:nvSpPr>
            <p:cNvPr id="34" name="node04.body.item-001.bullets.item-003.text"/>
            <p:cNvSpPr/>
            <p:nvPr/>
          </p:nvSpPr>
          <p:spPr>
            <a:xfrm>
              <a:off x="8343900" y="33528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to a shared scheduling tool</a:t>
              </a:r>
              <a:endParaRPr lang="en-US" sz="1200" spc="0" kern="0" b="0" i="0" dirty="0">
                <a:solidFill>
                  <a:srgbClr val="070154"/>
                </a:solidFill>
                <a:latin typeface="IBM Plex Sans"/>
                <a:ea typeface="IBM Plex Sans"/>
                <a:cs typeface="IBM Plex Sans"/>
              </a:endParaRPr>
            </a:p>
          </p:txBody>
        </p:sp>
      </p:grpSp>
      <p:sp>
        <p:nvSpPr>
          <p:cNvPr id="35" name="node05"/>
          <p:cNvSpPr/>
          <p:nvPr/>
        </p:nvSpPr>
        <p:spPr>
          <a:xfrm>
            <a:off x="723900" y="4114800"/>
            <a:ext cx="10744200" cy="9525"/>
          </a:xfrm>
          <a:prstGeom prst="rect">
            <a:avLst/>
          </a:prstGeom>
          <a:solidFill>
            <a:srgbClr val="CED7E6"/>
          </a:solidFill>
          <a:ln>
            <a:noFill/>
          </a:ln>
        </p:spPr>
      </p:sp>
      <p:grpSp>
        <p:nvGrpSpPr>
          <p:cNvPr id="56" name="node06"/>
          <p:cNvGrpSpPr/>
          <p:nvPr/>
        </p:nvGrpSpPr>
        <p:grpSpPr>
          <a:xfrm>
            <a:off x="723900" y="4343400"/>
            <a:ext cx="3429000" cy="802069"/>
            <a:chOff x="723900" y="4343400"/>
            <a:chExt cx="3429000" cy="802069"/>
          </a:xfrm>
        </p:grpSpPr>
        <p:sp>
          <p:nvSpPr>
            <p:cNvPr id="36" name="node06.value"/>
            <p:cNvSpPr/>
            <p:nvPr/>
          </p:nvSpPr>
          <p:spPr>
            <a:xfrm>
              <a:off x="723900" y="4343400"/>
              <a:ext cx="34290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3 of 3</a:t>
              </a:r>
              <a:endParaRPr lang="en-US" sz="4000" spc="-80" kern="0" b="0" i="0" dirty="0">
                <a:solidFill>
                  <a:srgbClr val="070154"/>
                </a:solidFill>
                <a:latin typeface="IBM Plex Mono SemiBold"/>
                <a:ea typeface="IBM Plex Mono SemiBold"/>
                <a:cs typeface="IBM Plex Mono SemiBold"/>
              </a:endParaRPr>
            </a:p>
          </p:txBody>
        </p:sp>
        <p:sp>
          <p:nvSpPr>
            <p:cNvPr id="37" name="node06.label"/>
            <p:cNvSpPr/>
            <p:nvPr/>
          </p:nvSpPr>
          <p:spPr>
            <a:xfrm>
              <a:off x="723900" y="4929569"/>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name registration quality as the first fix</a:t>
              </a:r>
              <a:endParaRPr lang="en-US" sz="1200" spc="0" kern="0" b="0" i="0" dirty="0">
                <a:solidFill>
                  <a:srgbClr val="50658E"/>
                </a:solidFill>
                <a:latin typeface="IBM Plex Sans"/>
                <a:ea typeface="IBM Plex Sans"/>
                <a:cs typeface="IBM Plex Sans"/>
              </a:endParaRPr>
            </a:p>
          </p:txBody>
        </p:sp>
      </p:grpSp>
      <p:grpSp>
        <p:nvGrpSpPr>
          <p:cNvPr id="57" name="node07"/>
          <p:cNvGrpSpPr/>
          <p:nvPr/>
        </p:nvGrpSpPr>
        <p:grpSpPr>
          <a:xfrm>
            <a:off x="4381500" y="4343400"/>
            <a:ext cx="3429000" cy="139700"/>
            <a:chOff x="4381500" y="4343400"/>
            <a:chExt cx="3429000" cy="139700"/>
          </a:xfrm>
        </p:grpSpPr>
        <p:sp>
          <p:nvSpPr>
            <p:cNvPr id="38" name="node07.label"/>
            <p:cNvSpPr/>
            <p:nvPr/>
          </p:nvSpPr>
          <p:spPr>
            <a:xfrm>
              <a:off x="4381500" y="43434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OPPORTUNITIES</a:t>
              </a:r>
              <a:endParaRPr lang="en-US" sz="800" spc="48" kern="0" b="0" i="0" dirty="0">
                <a:solidFill>
                  <a:srgbClr val="0047FF"/>
                </a:solidFill>
                <a:latin typeface="IBM Plex Mono Medium"/>
                <a:ea typeface="IBM Plex Mono Medium"/>
                <a:cs typeface="IBM Plex Mono Medium"/>
              </a:endParaRPr>
            </a:p>
          </p:txBody>
        </p:sp>
      </p:grpSp>
      <p:grpSp>
        <p:nvGrpSpPr>
          <p:cNvPr id="58" name="node08"/>
          <p:cNvGrpSpPr/>
          <p:nvPr/>
        </p:nvGrpSpPr>
        <p:grpSpPr>
          <a:xfrm>
            <a:off x="4381500" y="4648200"/>
            <a:ext cx="3429000" cy="723900"/>
            <a:chOff x="4381500" y="4648200"/>
            <a:chExt cx="3429000" cy="723900"/>
          </a:xfrm>
        </p:grpSpPr>
        <p:sp>
          <p:nvSpPr>
            <p:cNvPr id="39" name="node08.source-001.bullet"/>
            <p:cNvSpPr/>
            <p:nvPr/>
          </p:nvSpPr>
          <p:spPr>
            <a:xfrm>
              <a:off x="4381500" y="4737100"/>
              <a:ext cx="38100" cy="38100"/>
            </a:xfrm>
            <a:prstGeom prst="rect">
              <a:avLst/>
            </a:prstGeom>
            <a:solidFill>
              <a:srgbClr val="070154"/>
            </a:solidFill>
            <a:ln>
              <a:noFill/>
            </a:ln>
          </p:spPr>
        </p:sp>
        <p:sp>
          <p:nvSpPr>
            <p:cNvPr id="40" name="node08.source-001.text"/>
            <p:cNvSpPr/>
            <p:nvPr/>
          </p:nvSpPr>
          <p:spPr>
            <a:xfrm>
              <a:off x="4533900" y="4648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Check eligibility at check-in</a:t>
              </a:r>
              <a:endParaRPr lang="en-US" sz="1200" spc="0" kern="0" b="0" i="0" dirty="0">
                <a:solidFill>
                  <a:srgbClr val="070154"/>
                </a:solidFill>
                <a:latin typeface="IBM Plex Sans"/>
                <a:ea typeface="IBM Plex Sans"/>
                <a:cs typeface="IBM Plex Sans"/>
              </a:endParaRPr>
            </a:p>
          </p:txBody>
        </p:sp>
        <p:sp>
          <p:nvSpPr>
            <p:cNvPr id="41" name="node08.source-002.bullet"/>
            <p:cNvSpPr/>
            <p:nvPr/>
          </p:nvSpPr>
          <p:spPr>
            <a:xfrm>
              <a:off x="4381500" y="4991100"/>
              <a:ext cx="38100" cy="38100"/>
            </a:xfrm>
            <a:prstGeom prst="rect">
              <a:avLst/>
            </a:prstGeom>
            <a:solidFill>
              <a:srgbClr val="070154"/>
            </a:solidFill>
            <a:ln>
              <a:noFill/>
            </a:ln>
          </p:spPr>
        </p:sp>
        <p:sp>
          <p:nvSpPr>
            <p:cNvPr id="42" name="node08.source-002.text"/>
            <p:cNvSpPr/>
            <p:nvPr/>
          </p:nvSpPr>
          <p:spPr>
            <a:xfrm>
              <a:off x="4533900" y="4902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scheduling template set</a:t>
              </a:r>
              <a:endParaRPr lang="en-US" sz="1200" spc="0" kern="0" b="0" i="0" dirty="0">
                <a:solidFill>
                  <a:srgbClr val="070154"/>
                </a:solidFill>
                <a:latin typeface="IBM Plex Sans"/>
                <a:ea typeface="IBM Plex Sans"/>
                <a:cs typeface="IBM Plex Sans"/>
              </a:endParaRPr>
            </a:p>
          </p:txBody>
        </p:sp>
        <p:sp>
          <p:nvSpPr>
            <p:cNvPr id="43" name="node08.source-003.bullet"/>
            <p:cNvSpPr/>
            <p:nvPr/>
          </p:nvSpPr>
          <p:spPr>
            <a:xfrm>
              <a:off x="4381500" y="5245100"/>
              <a:ext cx="38100" cy="38100"/>
            </a:xfrm>
            <a:prstGeom prst="rect">
              <a:avLst/>
            </a:prstGeom>
            <a:solidFill>
              <a:srgbClr val="070154"/>
            </a:solidFill>
            <a:ln>
              <a:noFill/>
            </a:ln>
          </p:spPr>
        </p:sp>
        <p:sp>
          <p:nvSpPr>
            <p:cNvPr id="44" name="node08.source-003.text"/>
            <p:cNvSpPr/>
            <p:nvPr/>
          </p:nvSpPr>
          <p:spPr>
            <a:xfrm>
              <a:off x="4533900" y="5156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Shared error dashboard</a:t>
              </a:r>
              <a:endParaRPr lang="en-US" sz="1200" spc="0" kern="0" b="0" i="0" dirty="0">
                <a:solidFill>
                  <a:srgbClr val="070154"/>
                </a:solidFill>
                <a:latin typeface="IBM Plex Sans"/>
                <a:ea typeface="IBM Plex Sans"/>
                <a:cs typeface="IBM Plex Sans"/>
              </a:endParaRPr>
            </a:p>
          </p:txBody>
        </p:sp>
      </p:grpSp>
      <p:grpSp>
        <p:nvGrpSpPr>
          <p:cNvPr id="59" name="node09"/>
          <p:cNvGrpSpPr/>
          <p:nvPr/>
        </p:nvGrpSpPr>
        <p:grpSpPr>
          <a:xfrm>
            <a:off x="8039100" y="4343400"/>
            <a:ext cx="3429000" cy="139700"/>
            <a:chOff x="8039100" y="4343400"/>
            <a:chExt cx="3429000" cy="139700"/>
          </a:xfrm>
        </p:grpSpPr>
        <p:sp>
          <p:nvSpPr>
            <p:cNvPr id="45" name="node09.label"/>
            <p:cNvSpPr/>
            <p:nvPr/>
          </p:nvSpPr>
          <p:spPr>
            <a:xfrm>
              <a:off x="8039100" y="43434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FOLLOW-UPS AND OPEN QUESTIONS</a:t>
              </a:r>
              <a:endParaRPr lang="en-US" sz="800" spc="48" kern="0" b="0" i="0" dirty="0">
                <a:solidFill>
                  <a:srgbClr val="0047FF"/>
                </a:solidFill>
                <a:latin typeface="IBM Plex Mono Medium"/>
                <a:ea typeface="IBM Plex Mono Medium"/>
                <a:cs typeface="IBM Plex Mono Medium"/>
              </a:endParaRPr>
            </a:p>
          </p:txBody>
        </p:sp>
      </p:grpSp>
      <p:grpSp>
        <p:nvGrpSpPr>
          <p:cNvPr id="60" name="node10"/>
          <p:cNvGrpSpPr/>
          <p:nvPr/>
        </p:nvGrpSpPr>
        <p:grpSpPr>
          <a:xfrm>
            <a:off x="8039100" y="4648200"/>
            <a:ext cx="3429000" cy="723900"/>
            <a:chOff x="8039100" y="4648200"/>
            <a:chExt cx="3429000" cy="723900"/>
          </a:xfrm>
        </p:grpSpPr>
        <p:sp>
          <p:nvSpPr>
            <p:cNvPr id="46" name="node10.source-001.bullet"/>
            <p:cNvSpPr/>
            <p:nvPr/>
          </p:nvSpPr>
          <p:spPr>
            <a:xfrm>
              <a:off x="8039100" y="4737100"/>
              <a:ext cx="38100" cy="38100"/>
            </a:xfrm>
            <a:prstGeom prst="rect">
              <a:avLst/>
            </a:prstGeom>
            <a:solidFill>
              <a:srgbClr val="070154"/>
            </a:solidFill>
            <a:ln>
              <a:noFill/>
            </a:ln>
          </p:spPr>
        </p:sp>
        <p:sp>
          <p:nvSpPr>
            <p:cNvPr id="47" name="node10.source-001.text"/>
            <p:cNvSpPr/>
            <p:nvPr/>
          </p:nvSpPr>
          <p:spPr>
            <a:xfrm>
              <a:off x="8191500" y="4648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error log: received</a:t>
              </a:r>
              <a:endParaRPr lang="en-US" sz="1200" spc="0" kern="0" b="0" i="0" dirty="0">
                <a:solidFill>
                  <a:srgbClr val="070154"/>
                </a:solidFill>
                <a:latin typeface="IBM Plex Sans"/>
                <a:ea typeface="IBM Plex Sans"/>
                <a:cs typeface="IBM Plex Sans"/>
              </a:endParaRPr>
            </a:p>
          </p:txBody>
        </p:sp>
        <p:sp>
          <p:nvSpPr>
            <p:cNvPr id="48" name="node10.source-002.bullet"/>
            <p:cNvSpPr/>
            <p:nvPr/>
          </p:nvSpPr>
          <p:spPr>
            <a:xfrm>
              <a:off x="8039100" y="4991100"/>
              <a:ext cx="38100" cy="38100"/>
            </a:xfrm>
            <a:prstGeom prst="rect">
              <a:avLst/>
            </a:prstGeom>
            <a:solidFill>
              <a:srgbClr val="070154"/>
            </a:solidFill>
            <a:ln>
              <a:noFill/>
            </a:ln>
          </p:spPr>
        </p:sp>
        <p:sp>
          <p:nvSpPr>
            <p:cNvPr id="49" name="node10.source-002.text"/>
            <p:cNvSpPr/>
            <p:nvPr/>
          </p:nvSpPr>
          <p:spPr>
            <a:xfrm>
              <a:off x="8191500" y="4902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Prior-auth data: overdue 3 days</a:t>
              </a:r>
              <a:endParaRPr lang="en-US" sz="1200" spc="0" kern="0" b="0" i="0" dirty="0">
                <a:solidFill>
                  <a:srgbClr val="070154"/>
                </a:solidFill>
                <a:latin typeface="IBM Plex Sans"/>
                <a:ea typeface="IBM Plex Sans"/>
                <a:cs typeface="IBM Plex Sans"/>
              </a:endParaRPr>
            </a:p>
          </p:txBody>
        </p:sp>
        <p:sp>
          <p:nvSpPr>
            <p:cNvPr id="50" name="node10.source-003.bullet"/>
            <p:cNvSpPr/>
            <p:nvPr/>
          </p:nvSpPr>
          <p:spPr>
            <a:xfrm>
              <a:off x="8039100" y="5245100"/>
              <a:ext cx="38100" cy="38100"/>
            </a:xfrm>
            <a:prstGeom prst="rect">
              <a:avLst/>
            </a:prstGeom>
            <a:solidFill>
              <a:srgbClr val="070154"/>
            </a:solidFill>
            <a:ln>
              <a:noFill/>
            </a:ln>
          </p:spPr>
        </p:sp>
        <p:sp>
          <p:nvSpPr>
            <p:cNvPr id="51" name="node10.source-003.text"/>
            <p:cNvSpPr/>
            <p:nvPr/>
          </p:nvSpPr>
          <p:spPr>
            <a:xfrm>
              <a:off x="8191500" y="5156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who owns template changes?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ource-24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cycle sees denials start at authorization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160</a:t>
            </a:fld>
            <a:endParaRPr lang="en-US" sz="700" spc="0" kern="0" b="0" i="0" dirty="0">
              <a:solidFill>
                <a:srgbClr val="070154"/>
              </a:solidFill>
              <a:latin typeface="IBM Plex Mono SemiBold"/>
              <a:ea typeface="IBM Plex Mono SemiBold"/>
              <a:cs typeface="IBM Plex Mono SemiBold"/>
            </a:endParaRPr>
          </a:p>
        </p:txBody>
      </p:sp>
      <p:grpSp>
        <p:nvGrpSpPr>
          <p:cNvPr id="29" name="node01"/>
          <p:cNvGrpSpPr/>
          <p:nvPr/>
        </p:nvGrpSpPr>
        <p:grpSpPr>
          <a:xfrm>
            <a:off x="723900" y="1600200"/>
            <a:ext cx="1143000" cy="1371600"/>
            <a:chOff x="723900" y="1600200"/>
            <a:chExt cx="1143000" cy="1371600"/>
          </a:xfrm>
        </p:grpSpPr>
        <p:pic>
          <p:nvPicPr>
            <p:cNvPr id="7" name="node01.image" descr="photo-headshot; canonical SHA256=296801383ca36ace437e526edbbf16a0e387072468b87185313e9502001ef07c">    </p:cNvPr>
            <p:cNvPicPr>
              <a:picLocks noChangeAspect="1"/>
            </p:cNvPicPr>
            <p:nvPr/>
          </p:nvPicPr>
          <p:blipFill>
            <a:blip r:embed="rId1"/>
            <a:srcRect l="0" r="0" t="872" b="3093"/>
            <a:stretch/>
          </p:blipFill>
          <p:spPr>
            <a:xfrm>
              <a:off x="723900" y="1600200"/>
              <a:ext cx="1143000" cy="1371600"/>
            </a:xfrm>
            <a:prstGeom prst="rect">
              <a:avLst/>
            </a:prstGeom>
          </p:spPr>
        </p:pic>
      </p:grpSp>
      <p:grpSp>
        <p:nvGrpSpPr>
          <p:cNvPr id="30" name="node02"/>
          <p:cNvGrpSpPr/>
          <p:nvPr/>
        </p:nvGrpSpPr>
        <p:grpSpPr>
          <a:xfrm>
            <a:off x="2095500" y="1600200"/>
            <a:ext cx="5080000" cy="266700"/>
            <a:chOff x="2095500" y="1600200"/>
            <a:chExt cx="5080000" cy="266700"/>
          </a:xfrm>
        </p:grpSpPr>
        <p:sp>
          <p:nvSpPr>
            <p:cNvPr id="8" name="node02.text"/>
            <p:cNvSpPr/>
            <p:nvPr/>
          </p:nvSpPr>
          <p:spPr>
            <a:xfrm>
              <a:off x="2095500" y="1600200"/>
              <a:ext cx="5080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J. Alvarez</a:t>
              </a:r>
              <a:endParaRPr lang="en-US" sz="1600" spc="-16" kern="0" b="0" i="0" dirty="0">
                <a:solidFill>
                  <a:srgbClr val="070154"/>
                </a:solidFill>
                <a:latin typeface="IBM Plex Sans SemiBold"/>
                <a:ea typeface="IBM Plex Sans SemiBold"/>
                <a:cs typeface="IBM Plex Sans SemiBold"/>
              </a:endParaRPr>
            </a:p>
          </p:txBody>
        </p:sp>
      </p:grpSp>
      <p:grpSp>
        <p:nvGrpSpPr>
          <p:cNvPr id="31" name="node03"/>
          <p:cNvGrpSpPr/>
          <p:nvPr/>
        </p:nvGrpSpPr>
        <p:grpSpPr>
          <a:xfrm>
            <a:off x="2095500" y="1905000"/>
            <a:ext cx="5080000" cy="190500"/>
            <a:chOff x="2095500" y="1905000"/>
            <a:chExt cx="5080000" cy="190500"/>
          </a:xfrm>
        </p:grpSpPr>
        <p:sp>
          <p:nvSpPr>
            <p:cNvPr id="9" name="node03.text"/>
            <p:cNvSpPr/>
            <p:nvPr/>
          </p:nvSpPr>
          <p:spPr>
            <a:xfrm>
              <a:off x="2095500" y="1905000"/>
              <a:ext cx="5080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VP Revenue Cycle</a:t>
              </a:r>
              <a:endParaRPr lang="en-US" sz="1100" spc="0" kern="0" b="0" i="0" dirty="0">
                <a:solidFill>
                  <a:srgbClr val="50658E"/>
                </a:solidFill>
                <a:latin typeface="IBM Plex Sans"/>
                <a:ea typeface="IBM Plex Sans"/>
                <a:cs typeface="IBM Plex Sans"/>
              </a:endParaRPr>
            </a:p>
          </p:txBody>
        </p:sp>
      </p:grpSp>
      <p:grpSp>
        <p:nvGrpSpPr>
          <p:cNvPr id="32" name="node04"/>
          <p:cNvGrpSpPr/>
          <p:nvPr/>
        </p:nvGrpSpPr>
        <p:grpSpPr>
          <a:xfrm>
            <a:off x="2095500" y="2362200"/>
            <a:ext cx="2667000" cy="139700"/>
            <a:chOff x="2095500" y="2362200"/>
            <a:chExt cx="2667000" cy="139700"/>
          </a:xfrm>
        </p:grpSpPr>
        <p:sp>
          <p:nvSpPr>
            <p:cNvPr id="10" name="node04.text"/>
            <p:cNvSpPr/>
            <p:nvPr/>
          </p:nvSpPr>
          <p:spPr>
            <a:xfrm>
              <a:off x="2095500" y="2362200"/>
              <a:ext cx="2667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DEPARTMENT</a:t>
              </a:r>
              <a:endParaRPr lang="en-US" sz="800" spc="48" kern="0" b="0" i="0" dirty="0">
                <a:solidFill>
                  <a:srgbClr val="50658E"/>
                </a:solidFill>
                <a:latin typeface="IBM Plex Mono Medium"/>
                <a:ea typeface="IBM Plex Mono Medium"/>
                <a:cs typeface="IBM Plex Mono Medium"/>
              </a:endParaRPr>
            </a:p>
          </p:txBody>
        </p:sp>
      </p:grpSp>
      <p:grpSp>
        <p:nvGrpSpPr>
          <p:cNvPr id="33" name="node05"/>
          <p:cNvGrpSpPr/>
          <p:nvPr/>
        </p:nvGrpSpPr>
        <p:grpSpPr>
          <a:xfrm>
            <a:off x="2095500" y="2590800"/>
            <a:ext cx="2667000" cy="190500"/>
            <a:chOff x="2095500" y="2590800"/>
            <a:chExt cx="2667000" cy="190500"/>
          </a:xfrm>
        </p:grpSpPr>
        <p:sp>
          <p:nvSpPr>
            <p:cNvPr id="11" name="node05.text"/>
            <p:cNvSpPr/>
            <p:nvPr/>
          </p:nvSpPr>
          <p:spPr>
            <a:xfrm>
              <a:off x="2095500" y="2590800"/>
              <a:ext cx="2667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Revenue cycle</a:t>
              </a:r>
              <a:endParaRPr lang="en-US" sz="1100" spc="0" kern="0" b="0" i="0" dirty="0">
                <a:solidFill>
                  <a:srgbClr val="070154"/>
                </a:solidFill>
                <a:latin typeface="IBM Plex Sans"/>
                <a:ea typeface="IBM Plex Sans"/>
                <a:cs typeface="IBM Plex Sans"/>
              </a:endParaRPr>
            </a:p>
          </p:txBody>
        </p:sp>
      </p:grpSp>
      <p:grpSp>
        <p:nvGrpSpPr>
          <p:cNvPr id="34" name="node06"/>
          <p:cNvGrpSpPr/>
          <p:nvPr/>
        </p:nvGrpSpPr>
        <p:grpSpPr>
          <a:xfrm>
            <a:off x="5219700" y="2362200"/>
            <a:ext cx="2667000" cy="139700"/>
            <a:chOff x="5219700" y="2362200"/>
            <a:chExt cx="2667000" cy="139700"/>
          </a:xfrm>
        </p:grpSpPr>
        <p:sp>
          <p:nvSpPr>
            <p:cNvPr id="12" name="node06.text"/>
            <p:cNvSpPr/>
            <p:nvPr/>
          </p:nvSpPr>
          <p:spPr>
            <a:xfrm>
              <a:off x="5219700" y="2362200"/>
              <a:ext cx="2667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DATE AND FORMAT</a:t>
              </a:r>
              <a:endParaRPr lang="en-US" sz="800" spc="48" kern="0" b="0" i="0" dirty="0">
                <a:solidFill>
                  <a:srgbClr val="50658E"/>
                </a:solidFill>
                <a:latin typeface="IBM Plex Mono Medium"/>
                <a:ea typeface="IBM Plex Mono Medium"/>
                <a:cs typeface="IBM Plex Mono Medium"/>
              </a:endParaRPr>
            </a:p>
          </p:txBody>
        </p:sp>
      </p:grpSp>
      <p:grpSp>
        <p:nvGrpSpPr>
          <p:cNvPr id="35" name="node07"/>
          <p:cNvGrpSpPr/>
          <p:nvPr/>
        </p:nvGrpSpPr>
        <p:grpSpPr>
          <a:xfrm>
            <a:off x="5219700" y="2590800"/>
            <a:ext cx="2667000" cy="190500"/>
            <a:chOff x="5219700" y="2590800"/>
            <a:chExt cx="2667000" cy="190500"/>
          </a:xfrm>
        </p:grpSpPr>
        <p:sp>
          <p:nvSpPr>
            <p:cNvPr id="13" name="node07.text"/>
            <p:cNvSpPr/>
            <p:nvPr/>
          </p:nvSpPr>
          <p:spPr>
            <a:xfrm>
              <a:off x="5219700" y="2590800"/>
              <a:ext cx="2667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Sep 8 · Onsite · 60 min</a:t>
              </a:r>
              <a:endParaRPr lang="en-US" sz="1100" spc="0" kern="0" b="0" i="0" dirty="0">
                <a:solidFill>
                  <a:srgbClr val="070154"/>
                </a:solidFill>
                <a:latin typeface="IBM Plex Sans"/>
                <a:ea typeface="IBM Plex Sans"/>
                <a:cs typeface="IBM Plex Sans"/>
              </a:endParaRPr>
            </a:p>
          </p:txBody>
        </p:sp>
      </p:grpSp>
      <p:grpSp>
        <p:nvGrpSpPr>
          <p:cNvPr id="36" name="node08"/>
          <p:cNvGrpSpPr/>
          <p:nvPr/>
        </p:nvGrpSpPr>
        <p:grpSpPr>
          <a:xfrm>
            <a:off x="8115300" y="2362200"/>
            <a:ext cx="3352800" cy="139700"/>
            <a:chOff x="8115300" y="2362200"/>
            <a:chExt cx="3352800" cy="139700"/>
          </a:xfrm>
        </p:grpSpPr>
        <p:sp>
          <p:nvSpPr>
            <p:cNvPr id="14" name="node08.text"/>
            <p:cNvSpPr/>
            <p:nvPr/>
          </p:nvSpPr>
          <p:spPr>
            <a:xfrm>
              <a:off x="8115300" y="2362200"/>
              <a:ext cx="3352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INTERVIEWERS</a:t>
              </a:r>
              <a:endParaRPr lang="en-US" sz="800" spc="48" kern="0" b="0" i="0" dirty="0">
                <a:solidFill>
                  <a:srgbClr val="50658E"/>
                </a:solidFill>
                <a:latin typeface="IBM Plex Mono Medium"/>
                <a:ea typeface="IBM Plex Mono Medium"/>
                <a:cs typeface="IBM Plex Mono Medium"/>
              </a:endParaRPr>
            </a:p>
          </p:txBody>
        </p:sp>
      </p:grpSp>
      <p:grpSp>
        <p:nvGrpSpPr>
          <p:cNvPr id="37" name="node09"/>
          <p:cNvGrpSpPr/>
          <p:nvPr/>
        </p:nvGrpSpPr>
        <p:grpSpPr>
          <a:xfrm>
            <a:off x="8115300" y="2590800"/>
            <a:ext cx="3352800" cy="190500"/>
            <a:chOff x="8115300" y="2590800"/>
            <a:chExt cx="3352800" cy="190500"/>
          </a:xfrm>
        </p:grpSpPr>
        <p:sp>
          <p:nvSpPr>
            <p:cNvPr id="15" name="node09.text"/>
            <p:cNvSpPr/>
            <p:nvPr/>
          </p:nvSpPr>
          <p:spPr>
            <a:xfrm>
              <a:off x="8115300" y="2590800"/>
              <a:ext cx="3352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K. Ortiz, W. Lee</a:t>
              </a:r>
              <a:endParaRPr lang="en-US" sz="1100" spc="0" kern="0" b="0" i="0" dirty="0">
                <a:solidFill>
                  <a:srgbClr val="070154"/>
                </a:solidFill>
                <a:latin typeface="IBM Plex Sans"/>
                <a:ea typeface="IBM Plex Sans"/>
                <a:cs typeface="IBM Plex Sans"/>
              </a:endParaRPr>
            </a:p>
          </p:txBody>
        </p:sp>
      </p:grpSp>
      <p:sp>
        <p:nvSpPr>
          <p:cNvPr id="16" name="node10"/>
          <p:cNvSpPr/>
          <p:nvPr/>
        </p:nvSpPr>
        <p:spPr>
          <a:xfrm>
            <a:off x="723900" y="3200400"/>
            <a:ext cx="10744200" cy="9525"/>
          </a:xfrm>
          <a:prstGeom prst="rect">
            <a:avLst/>
          </a:prstGeom>
          <a:solidFill>
            <a:srgbClr val="CED7E6"/>
          </a:solidFill>
          <a:ln>
            <a:noFill/>
          </a:ln>
        </p:spPr>
      </p:sp>
      <p:grpSp>
        <p:nvGrpSpPr>
          <p:cNvPr id="38" name="node11"/>
          <p:cNvGrpSpPr/>
          <p:nvPr/>
        </p:nvGrpSpPr>
        <p:grpSpPr>
          <a:xfrm>
            <a:off x="723900" y="3352800"/>
            <a:ext cx="10744200" cy="2184400"/>
            <a:chOff x="723900" y="3352800"/>
            <a:chExt cx="10744200" cy="2184400"/>
          </a:xfrm>
        </p:grpSpPr>
        <p:sp>
          <p:nvSpPr>
            <p:cNvPr id="17" name="node11.source-001.number"/>
            <p:cNvSpPr/>
            <p:nvPr/>
          </p:nvSpPr>
          <p:spPr>
            <a:xfrm>
              <a:off x="723900" y="33528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18" name="node11.source-001.title"/>
            <p:cNvSpPr/>
            <p:nvPr/>
          </p:nvSpPr>
          <p:spPr>
            <a:xfrm>
              <a:off x="1257300" y="3352800"/>
              <a:ext cx="1021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Denials start at authorization</a:t>
              </a:r>
              <a:endParaRPr lang="en-US" sz="1200" spc="0" kern="0" b="0" i="0" dirty="0">
                <a:solidFill>
                  <a:srgbClr val="070154"/>
                </a:solidFill>
                <a:latin typeface="IBM Plex Sans SemiBold"/>
                <a:ea typeface="IBM Plex Sans SemiBold"/>
                <a:cs typeface="IBM Plex Sans SemiBold"/>
              </a:endParaRPr>
            </a:p>
          </p:txBody>
        </p:sp>
        <p:sp>
          <p:nvSpPr>
            <p:cNvPr id="19" name="node11.source-001.text"/>
            <p:cNvSpPr/>
            <p:nvPr/>
          </p:nvSpPr>
          <p:spPr>
            <a:xfrm>
              <a:off x="1257300" y="3568700"/>
              <a:ext cx="1021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40% of denials trace to missing authorizations. So what: fix intake before appeals.</a:t>
              </a:r>
              <a:endParaRPr lang="en-US" sz="1200" spc="0" kern="0" b="0" i="0" dirty="0">
                <a:solidFill>
                  <a:srgbClr val="50658E"/>
                </a:solidFill>
                <a:latin typeface="IBM Plex Sans"/>
                <a:ea typeface="IBM Plex Sans"/>
                <a:cs typeface="IBM Plex Sans"/>
              </a:endParaRPr>
            </a:p>
          </p:txBody>
        </p:sp>
        <p:sp>
          <p:nvSpPr>
            <p:cNvPr id="20" name="node11.source-002.number"/>
            <p:cNvSpPr/>
            <p:nvPr/>
          </p:nvSpPr>
          <p:spPr>
            <a:xfrm>
              <a:off x="723900" y="39370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21" name="node11.source-002.title"/>
            <p:cNvSpPr/>
            <p:nvPr/>
          </p:nvSpPr>
          <p:spPr>
            <a:xfrm>
              <a:off x="1257300" y="3937000"/>
              <a:ext cx="1021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Errors surface at billing</a:t>
              </a:r>
              <a:endParaRPr lang="en-US" sz="1200" spc="0" kern="0" b="0" i="0" dirty="0">
                <a:solidFill>
                  <a:srgbClr val="070154"/>
                </a:solidFill>
                <a:latin typeface="IBM Plex Sans SemiBold"/>
                <a:ea typeface="IBM Plex Sans SemiBold"/>
                <a:cs typeface="IBM Plex Sans SemiBold"/>
              </a:endParaRPr>
            </a:p>
          </p:txBody>
        </p:sp>
        <p:sp>
          <p:nvSpPr>
            <p:cNvPr id="22" name="node11.source-002.text"/>
            <p:cNvSpPr/>
            <p:nvPr/>
          </p:nvSpPr>
          <p:spPr>
            <a:xfrm>
              <a:off x="1257300" y="4152900"/>
              <a:ext cx="1021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Front-desk errors are found about three weeks after the visit. So what: add a check-in step.</a:t>
              </a:r>
              <a:endParaRPr lang="en-US" sz="1200" spc="0" kern="0" b="0" i="0" dirty="0">
                <a:solidFill>
                  <a:srgbClr val="50658E"/>
                </a:solidFill>
                <a:latin typeface="IBM Plex Sans"/>
                <a:ea typeface="IBM Plex Sans"/>
                <a:cs typeface="IBM Plex Sans"/>
              </a:endParaRPr>
            </a:p>
          </p:txBody>
        </p:sp>
        <p:sp>
          <p:nvSpPr>
            <p:cNvPr id="23" name="node11.source-003.number"/>
            <p:cNvSpPr/>
            <p:nvPr/>
          </p:nvSpPr>
          <p:spPr>
            <a:xfrm>
              <a:off x="723900" y="45212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24" name="node11.source-003.title"/>
            <p:cNvSpPr/>
            <p:nvPr/>
          </p:nvSpPr>
          <p:spPr>
            <a:xfrm>
              <a:off x="1257300" y="4521200"/>
              <a:ext cx="1021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Three work queues, no single view</a:t>
              </a:r>
              <a:endParaRPr lang="en-US" sz="1200" spc="0" kern="0" b="0" i="0" dirty="0">
                <a:solidFill>
                  <a:srgbClr val="070154"/>
                </a:solidFill>
                <a:latin typeface="IBM Plex Sans SemiBold"/>
                <a:ea typeface="IBM Plex Sans SemiBold"/>
                <a:cs typeface="IBM Plex Sans SemiBold"/>
              </a:endParaRPr>
            </a:p>
          </p:txBody>
        </p:sp>
        <p:sp>
          <p:nvSpPr>
            <p:cNvPr id="25" name="node11.source-003.text"/>
            <p:cNvSpPr/>
            <p:nvPr/>
          </p:nvSpPr>
          <p:spPr>
            <a:xfrm>
              <a:off x="1257300" y="4737100"/>
              <a:ext cx="1021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Teams hide backlog in separate queues and hand-built reports. So what: one queue by payer.</a:t>
              </a:r>
              <a:endParaRPr lang="en-US" sz="1200" spc="0" kern="0" b="0" i="0" dirty="0">
                <a:solidFill>
                  <a:srgbClr val="50658E"/>
                </a:solidFill>
                <a:latin typeface="IBM Plex Sans"/>
                <a:ea typeface="IBM Plex Sans"/>
                <a:cs typeface="IBM Plex Sans"/>
              </a:endParaRPr>
            </a:p>
          </p:txBody>
        </p:sp>
        <p:sp>
          <p:nvSpPr>
            <p:cNvPr id="26" name="node11.source-004.number"/>
            <p:cNvSpPr/>
            <p:nvPr/>
          </p:nvSpPr>
          <p:spPr>
            <a:xfrm>
              <a:off x="723900" y="5105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27" name="node11.source-004.title"/>
            <p:cNvSpPr/>
            <p:nvPr/>
          </p:nvSpPr>
          <p:spPr>
            <a:xfrm>
              <a:off x="1257300" y="5105400"/>
              <a:ext cx="1021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Appeals depend on two analysts</a:t>
              </a:r>
              <a:endParaRPr lang="en-US" sz="1200" spc="0" kern="0" b="0" i="0" dirty="0">
                <a:solidFill>
                  <a:srgbClr val="070154"/>
                </a:solidFill>
                <a:latin typeface="IBM Plex Sans SemiBold"/>
                <a:ea typeface="IBM Plex Sans SemiBold"/>
                <a:cs typeface="IBM Plex Sans SemiBold"/>
              </a:endParaRPr>
            </a:p>
          </p:txBody>
        </p:sp>
        <p:sp>
          <p:nvSpPr>
            <p:cNvPr id="28" name="node11.source-004.text"/>
            <p:cNvSpPr/>
            <p:nvPr/>
          </p:nvSpPr>
          <p:spPr>
            <a:xfrm>
              <a:off x="1257300" y="5321300"/>
              <a:ext cx="1021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Appeals average 45 days and the know-how sits with two people. So what: cross-train now.</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ource-241">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Denials start at authorization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161</a:t>
            </a:fld>
            <a:endParaRPr lang="en-US" sz="700" spc="0" kern="0" b="0" i="0" dirty="0">
              <a:solidFill>
                <a:srgbClr val="070154"/>
              </a:solidFill>
              <a:latin typeface="IBM Plex Mono SemiBold"/>
              <a:ea typeface="IBM Plex Mono SemiBold"/>
              <a:cs typeface="IBM Plex Mono SemiBold"/>
            </a:endParaRPr>
          </a:p>
        </p:txBody>
      </p:sp>
      <p:grpSp>
        <p:nvGrpSpPr>
          <p:cNvPr id="37" name="node01"/>
          <p:cNvGrpSpPr/>
          <p:nvPr/>
        </p:nvGrpSpPr>
        <p:grpSpPr>
          <a:xfrm>
            <a:off x="723900" y="457200"/>
            <a:ext cx="3429000" cy="2057400"/>
            <a:chOff x="723900" y="457200"/>
            <a:chExt cx="3429000" cy="2057400"/>
          </a:xfrm>
        </p:grpSpPr>
        <p:pic>
          <p:nvPicPr>
            <p:cNvPr id="7" name="node01.image" descr="photo-headshot; canonical SHA256=296801383ca36ace437e526edbbf16a0e387072468b87185313e9502001ef07c">    </p:cNvPr>
            <p:cNvPicPr>
              <a:picLocks noChangeAspect="1"/>
            </p:cNvPicPr>
            <p:nvPr/>
          </p:nvPicPr>
          <p:blipFill>
            <a:blip r:embed="rId1"/>
            <a:srcRect l="0" r="0" t="11436" b="40547"/>
            <a:stretch/>
          </p:blipFill>
          <p:spPr>
            <a:xfrm>
              <a:off x="723900" y="457200"/>
              <a:ext cx="3429000" cy="2057400"/>
            </a:xfrm>
            <a:prstGeom prst="rect">
              <a:avLst/>
            </a:prstGeom>
          </p:spPr>
        </p:pic>
      </p:grpSp>
      <p:grpSp>
        <p:nvGrpSpPr>
          <p:cNvPr id="38" name="node02"/>
          <p:cNvGrpSpPr/>
          <p:nvPr/>
        </p:nvGrpSpPr>
        <p:grpSpPr>
          <a:xfrm>
            <a:off x="723900" y="2667000"/>
            <a:ext cx="3429000" cy="266700"/>
            <a:chOff x="723900" y="2667000"/>
            <a:chExt cx="3429000" cy="266700"/>
          </a:xfrm>
        </p:grpSpPr>
        <p:sp>
          <p:nvSpPr>
            <p:cNvPr id="8" name="node02.text"/>
            <p:cNvSpPr/>
            <p:nvPr/>
          </p:nvSpPr>
          <p:spPr>
            <a:xfrm>
              <a:off x="723900" y="26670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J. Alvarez</a:t>
              </a:r>
              <a:endParaRPr lang="en-US" sz="1600" spc="-16" kern="0" b="0" i="0" dirty="0">
                <a:solidFill>
                  <a:srgbClr val="070154"/>
                </a:solidFill>
                <a:latin typeface="IBM Plex Sans SemiBold"/>
                <a:ea typeface="IBM Plex Sans SemiBold"/>
                <a:cs typeface="IBM Plex Sans SemiBold"/>
              </a:endParaRPr>
            </a:p>
          </p:txBody>
        </p:sp>
      </p:grpSp>
      <p:grpSp>
        <p:nvGrpSpPr>
          <p:cNvPr id="39" name="node03"/>
          <p:cNvGrpSpPr/>
          <p:nvPr/>
        </p:nvGrpSpPr>
        <p:grpSpPr>
          <a:xfrm>
            <a:off x="723900" y="2971800"/>
            <a:ext cx="3429000" cy="190500"/>
            <a:chOff x="723900" y="2971800"/>
            <a:chExt cx="3429000" cy="190500"/>
          </a:xfrm>
        </p:grpSpPr>
        <p:sp>
          <p:nvSpPr>
            <p:cNvPr id="9" name="node03.text"/>
            <p:cNvSpPr/>
            <p:nvPr/>
          </p:nvSpPr>
          <p:spPr>
            <a:xfrm>
              <a:off x="723900" y="29718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VP Revenue Cycle</a:t>
              </a:r>
              <a:endParaRPr lang="en-US" sz="1100" spc="0" kern="0" b="0" i="0" dirty="0">
                <a:solidFill>
                  <a:srgbClr val="50658E"/>
                </a:solidFill>
                <a:latin typeface="IBM Plex Sans"/>
                <a:ea typeface="IBM Plex Sans"/>
                <a:cs typeface="IBM Plex Sans"/>
              </a:endParaRPr>
            </a:p>
          </p:txBody>
        </p:sp>
      </p:grpSp>
      <p:sp>
        <p:nvSpPr>
          <p:cNvPr id="10" name="node04"/>
          <p:cNvSpPr/>
          <p:nvPr/>
        </p:nvSpPr>
        <p:spPr>
          <a:xfrm>
            <a:off x="723900" y="3352800"/>
            <a:ext cx="3429000" cy="9525"/>
          </a:xfrm>
          <a:prstGeom prst="rect">
            <a:avLst/>
          </a:prstGeom>
          <a:solidFill>
            <a:srgbClr val="CED7E6"/>
          </a:solidFill>
          <a:ln>
            <a:noFill/>
          </a:ln>
        </p:spPr>
      </p:sp>
      <p:grpSp>
        <p:nvGrpSpPr>
          <p:cNvPr id="40" name="node05"/>
          <p:cNvGrpSpPr/>
          <p:nvPr/>
        </p:nvGrpSpPr>
        <p:grpSpPr>
          <a:xfrm>
            <a:off x="723900" y="3505200"/>
            <a:ext cx="3429000" cy="139700"/>
            <a:chOff x="723900" y="3505200"/>
            <a:chExt cx="3429000" cy="139700"/>
          </a:xfrm>
        </p:grpSpPr>
        <p:sp>
          <p:nvSpPr>
            <p:cNvPr id="11" name="node05.text"/>
            <p:cNvSpPr/>
            <p:nvPr/>
          </p:nvSpPr>
          <p:spPr>
            <a:xfrm>
              <a:off x="723900" y="3505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DEPARTMENT</a:t>
              </a:r>
              <a:endParaRPr lang="en-US" sz="800" spc="48" kern="0" b="0" i="0" dirty="0">
                <a:solidFill>
                  <a:srgbClr val="50658E"/>
                </a:solidFill>
                <a:latin typeface="IBM Plex Mono Medium"/>
                <a:ea typeface="IBM Plex Mono Medium"/>
                <a:cs typeface="IBM Plex Mono Medium"/>
              </a:endParaRPr>
            </a:p>
          </p:txBody>
        </p:sp>
      </p:grpSp>
      <p:grpSp>
        <p:nvGrpSpPr>
          <p:cNvPr id="41" name="node06"/>
          <p:cNvGrpSpPr/>
          <p:nvPr/>
        </p:nvGrpSpPr>
        <p:grpSpPr>
          <a:xfrm>
            <a:off x="723900" y="3733800"/>
            <a:ext cx="3429000" cy="190500"/>
            <a:chOff x="723900" y="3733800"/>
            <a:chExt cx="3429000" cy="190500"/>
          </a:xfrm>
        </p:grpSpPr>
        <p:sp>
          <p:nvSpPr>
            <p:cNvPr id="12" name="node06.text"/>
            <p:cNvSpPr/>
            <p:nvPr/>
          </p:nvSpPr>
          <p:spPr>
            <a:xfrm>
              <a:off x="723900" y="37338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Revenue cycle</a:t>
              </a:r>
              <a:endParaRPr lang="en-US" sz="1100" spc="0" kern="0" b="0" i="0" dirty="0">
                <a:solidFill>
                  <a:srgbClr val="070154"/>
                </a:solidFill>
                <a:latin typeface="IBM Plex Sans"/>
                <a:ea typeface="IBM Plex Sans"/>
                <a:cs typeface="IBM Plex Sans"/>
              </a:endParaRPr>
            </a:p>
          </p:txBody>
        </p:sp>
      </p:grpSp>
      <p:grpSp>
        <p:nvGrpSpPr>
          <p:cNvPr id="42" name="node07"/>
          <p:cNvGrpSpPr/>
          <p:nvPr/>
        </p:nvGrpSpPr>
        <p:grpSpPr>
          <a:xfrm>
            <a:off x="723900" y="4114800"/>
            <a:ext cx="3429000" cy="139700"/>
            <a:chOff x="723900" y="4114800"/>
            <a:chExt cx="3429000" cy="139700"/>
          </a:xfrm>
        </p:grpSpPr>
        <p:sp>
          <p:nvSpPr>
            <p:cNvPr id="13" name="node07.text"/>
            <p:cNvSpPr/>
            <p:nvPr/>
          </p:nvSpPr>
          <p:spPr>
            <a:xfrm>
              <a:off x="723900" y="41148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DATE AND FORMAT</a:t>
              </a:r>
              <a:endParaRPr lang="en-US" sz="800" spc="48" kern="0" b="0" i="0" dirty="0">
                <a:solidFill>
                  <a:srgbClr val="50658E"/>
                </a:solidFill>
                <a:latin typeface="IBM Plex Mono Medium"/>
                <a:ea typeface="IBM Plex Mono Medium"/>
                <a:cs typeface="IBM Plex Mono Medium"/>
              </a:endParaRPr>
            </a:p>
          </p:txBody>
        </p:sp>
      </p:grpSp>
      <p:grpSp>
        <p:nvGrpSpPr>
          <p:cNvPr id="43" name="node08"/>
          <p:cNvGrpSpPr/>
          <p:nvPr/>
        </p:nvGrpSpPr>
        <p:grpSpPr>
          <a:xfrm>
            <a:off x="723900" y="4343400"/>
            <a:ext cx="3429000" cy="190500"/>
            <a:chOff x="723900" y="4343400"/>
            <a:chExt cx="3429000" cy="190500"/>
          </a:xfrm>
        </p:grpSpPr>
        <p:sp>
          <p:nvSpPr>
            <p:cNvPr id="14" name="node08.text"/>
            <p:cNvSpPr/>
            <p:nvPr/>
          </p:nvSpPr>
          <p:spPr>
            <a:xfrm>
              <a:off x="723900" y="43434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Sep 8 · Onsite · 60 min</a:t>
              </a:r>
              <a:endParaRPr lang="en-US" sz="1100" spc="0" kern="0" b="0" i="0" dirty="0">
                <a:solidFill>
                  <a:srgbClr val="070154"/>
                </a:solidFill>
                <a:latin typeface="IBM Plex Sans"/>
                <a:ea typeface="IBM Plex Sans"/>
                <a:cs typeface="IBM Plex Sans"/>
              </a:endParaRPr>
            </a:p>
          </p:txBody>
        </p:sp>
      </p:grpSp>
      <p:grpSp>
        <p:nvGrpSpPr>
          <p:cNvPr id="44" name="node09"/>
          <p:cNvGrpSpPr/>
          <p:nvPr/>
        </p:nvGrpSpPr>
        <p:grpSpPr>
          <a:xfrm>
            <a:off x="723900" y="4724400"/>
            <a:ext cx="3429000" cy="139700"/>
            <a:chOff x="723900" y="4724400"/>
            <a:chExt cx="3429000" cy="139700"/>
          </a:xfrm>
        </p:grpSpPr>
        <p:sp>
          <p:nvSpPr>
            <p:cNvPr id="15" name="node09.text"/>
            <p:cNvSpPr/>
            <p:nvPr/>
          </p:nvSpPr>
          <p:spPr>
            <a:xfrm>
              <a:off x="723900" y="47244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INTERVIEWERS</a:t>
              </a:r>
              <a:endParaRPr lang="en-US" sz="800" spc="48" kern="0" b="0" i="0" dirty="0">
                <a:solidFill>
                  <a:srgbClr val="50658E"/>
                </a:solidFill>
                <a:latin typeface="IBM Plex Mono Medium"/>
                <a:ea typeface="IBM Plex Mono Medium"/>
                <a:cs typeface="IBM Plex Mono Medium"/>
              </a:endParaRPr>
            </a:p>
          </p:txBody>
        </p:sp>
      </p:grpSp>
      <p:grpSp>
        <p:nvGrpSpPr>
          <p:cNvPr id="45" name="node10"/>
          <p:cNvGrpSpPr/>
          <p:nvPr/>
        </p:nvGrpSpPr>
        <p:grpSpPr>
          <a:xfrm>
            <a:off x="723900" y="4953000"/>
            <a:ext cx="3429000" cy="190500"/>
            <a:chOff x="723900" y="4953000"/>
            <a:chExt cx="3429000" cy="190500"/>
          </a:xfrm>
        </p:grpSpPr>
        <p:sp>
          <p:nvSpPr>
            <p:cNvPr id="16" name="node10.text"/>
            <p:cNvSpPr/>
            <p:nvPr/>
          </p:nvSpPr>
          <p:spPr>
            <a:xfrm>
              <a:off x="723900" y="49530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K. Ortiz, W. Lee</a:t>
              </a:r>
              <a:endParaRPr lang="en-US" sz="1100" spc="0" kern="0" b="0" i="0" dirty="0">
                <a:solidFill>
                  <a:srgbClr val="070154"/>
                </a:solidFill>
                <a:latin typeface="IBM Plex Sans"/>
                <a:ea typeface="IBM Plex Sans"/>
                <a:cs typeface="IBM Plex Sans"/>
              </a:endParaRPr>
            </a:p>
          </p:txBody>
        </p:sp>
      </p:grpSp>
      <p:grpSp>
        <p:nvGrpSpPr>
          <p:cNvPr id="46" name="node11"/>
          <p:cNvGrpSpPr/>
          <p:nvPr/>
        </p:nvGrpSpPr>
        <p:grpSpPr>
          <a:xfrm>
            <a:off x="4381500" y="1600200"/>
            <a:ext cx="7086600" cy="2984500"/>
            <a:chOff x="4381500" y="1600200"/>
            <a:chExt cx="7086600" cy="2984500"/>
          </a:xfrm>
        </p:grpSpPr>
        <p:sp>
          <p:nvSpPr>
            <p:cNvPr id="17" name="node11.source-001.number"/>
            <p:cNvSpPr/>
            <p:nvPr/>
          </p:nvSpPr>
          <p:spPr>
            <a:xfrm>
              <a:off x="4381500" y="16002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18" name="node11.source-001.title"/>
            <p:cNvSpPr/>
            <p:nvPr/>
          </p:nvSpPr>
          <p:spPr>
            <a:xfrm>
              <a:off x="4914900" y="1600200"/>
              <a:ext cx="655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Denials start at authorization</a:t>
              </a:r>
              <a:endParaRPr lang="en-US" sz="1200" spc="0" kern="0" b="0" i="0" dirty="0">
                <a:solidFill>
                  <a:srgbClr val="070154"/>
                </a:solidFill>
                <a:latin typeface="IBM Plex Sans SemiBold"/>
                <a:ea typeface="IBM Plex Sans SemiBold"/>
                <a:cs typeface="IBM Plex Sans SemiBold"/>
              </a:endParaRPr>
            </a:p>
          </p:txBody>
        </p:sp>
        <p:sp>
          <p:nvSpPr>
            <p:cNvPr id="19" name="node11.source-001.text"/>
            <p:cNvSpPr/>
            <p:nvPr/>
          </p:nvSpPr>
          <p:spPr>
            <a:xfrm>
              <a:off x="4914900" y="1816100"/>
              <a:ext cx="655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Evidence: 40% of denials trace to authorization gaps. Implication: fix intake, not appeals.</a:t>
              </a:r>
              <a:endParaRPr lang="en-US" sz="1200" spc="0" kern="0" b="0" i="0" dirty="0">
                <a:solidFill>
                  <a:srgbClr val="50658E"/>
                </a:solidFill>
                <a:latin typeface="IBM Plex Sans"/>
                <a:ea typeface="IBM Plex Sans"/>
                <a:cs typeface="IBM Plex Sans"/>
              </a:endParaRPr>
            </a:p>
          </p:txBody>
        </p:sp>
        <p:sp>
          <p:nvSpPr>
            <p:cNvPr id="20" name="node11.source-002.number"/>
            <p:cNvSpPr/>
            <p:nvPr/>
          </p:nvSpPr>
          <p:spPr>
            <a:xfrm>
              <a:off x="4381500" y="2184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21" name="node11.source-002.title"/>
            <p:cNvSpPr/>
            <p:nvPr/>
          </p:nvSpPr>
          <p:spPr>
            <a:xfrm>
              <a:off x="4914900" y="2184400"/>
              <a:ext cx="655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Errors surface late</a:t>
              </a:r>
              <a:endParaRPr lang="en-US" sz="1200" spc="0" kern="0" b="0" i="0" dirty="0">
                <a:solidFill>
                  <a:srgbClr val="070154"/>
                </a:solidFill>
                <a:latin typeface="IBM Plex Sans SemiBold"/>
                <a:ea typeface="IBM Plex Sans SemiBold"/>
                <a:cs typeface="IBM Plex Sans SemiBold"/>
              </a:endParaRPr>
            </a:p>
          </p:txBody>
        </p:sp>
        <p:sp>
          <p:nvSpPr>
            <p:cNvPr id="22" name="node11.source-002.text"/>
            <p:cNvSpPr/>
            <p:nvPr/>
          </p:nvSpPr>
          <p:spPr>
            <a:xfrm>
              <a:off x="4914900" y="2400300"/>
              <a:ext cx="6553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Evidence: front-desk errors found at billing, three weeks on. Implication: add a check-in eligibility step.</a:t>
              </a:r>
              <a:endParaRPr lang="en-US" sz="1200" spc="0" kern="0" b="0" i="0" dirty="0">
                <a:solidFill>
                  <a:srgbClr val="50658E"/>
                </a:solidFill>
                <a:latin typeface="IBM Plex Sans"/>
                <a:ea typeface="IBM Plex Sans"/>
                <a:cs typeface="IBM Plex Sans"/>
              </a:endParaRPr>
            </a:p>
          </p:txBody>
        </p:sp>
        <p:sp>
          <p:nvSpPr>
            <p:cNvPr id="23" name="node11.source-003.number"/>
            <p:cNvSpPr/>
            <p:nvPr/>
          </p:nvSpPr>
          <p:spPr>
            <a:xfrm>
              <a:off x="4381500" y="29845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24" name="node11.source-003.title"/>
            <p:cNvSpPr/>
            <p:nvPr/>
          </p:nvSpPr>
          <p:spPr>
            <a:xfrm>
              <a:off x="4914900" y="2984500"/>
              <a:ext cx="655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No single work view</a:t>
              </a:r>
              <a:endParaRPr lang="en-US" sz="1200" spc="0" kern="0" b="0" i="0" dirty="0">
                <a:solidFill>
                  <a:srgbClr val="070154"/>
                </a:solidFill>
                <a:latin typeface="IBM Plex Sans SemiBold"/>
                <a:ea typeface="IBM Plex Sans SemiBold"/>
                <a:cs typeface="IBM Plex Sans SemiBold"/>
              </a:endParaRPr>
            </a:p>
          </p:txBody>
        </p:sp>
        <p:sp>
          <p:nvSpPr>
            <p:cNvPr id="25" name="node11.source-003.text"/>
            <p:cNvSpPr/>
            <p:nvPr/>
          </p:nvSpPr>
          <p:spPr>
            <a:xfrm>
              <a:off x="4914900" y="3200400"/>
              <a:ext cx="655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Evidence: three queues, reports rebuilt by hand monthly. Implication: one queue by payer.</a:t>
              </a:r>
              <a:endParaRPr lang="en-US" sz="1200" spc="0" kern="0" b="0" i="0" dirty="0">
                <a:solidFill>
                  <a:srgbClr val="50658E"/>
                </a:solidFill>
                <a:latin typeface="IBM Plex Sans"/>
                <a:ea typeface="IBM Plex Sans"/>
                <a:cs typeface="IBM Plex Sans"/>
              </a:endParaRPr>
            </a:p>
          </p:txBody>
        </p:sp>
        <p:sp>
          <p:nvSpPr>
            <p:cNvPr id="26" name="node11.source-004.number"/>
            <p:cNvSpPr/>
            <p:nvPr/>
          </p:nvSpPr>
          <p:spPr>
            <a:xfrm>
              <a:off x="4381500" y="35687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27" name="node11.source-004.title"/>
            <p:cNvSpPr/>
            <p:nvPr/>
          </p:nvSpPr>
          <p:spPr>
            <a:xfrm>
              <a:off x="4914900" y="3568700"/>
              <a:ext cx="655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Appeal know-how is concentrated</a:t>
              </a:r>
              <a:endParaRPr lang="en-US" sz="1200" spc="0" kern="0" b="0" i="0" dirty="0">
                <a:solidFill>
                  <a:srgbClr val="070154"/>
                </a:solidFill>
                <a:latin typeface="IBM Plex Sans SemiBold"/>
                <a:ea typeface="IBM Plex Sans SemiBold"/>
                <a:cs typeface="IBM Plex Sans SemiBold"/>
              </a:endParaRPr>
            </a:p>
          </p:txBody>
        </p:sp>
        <p:sp>
          <p:nvSpPr>
            <p:cNvPr id="28" name="node11.source-004.text"/>
            <p:cNvSpPr/>
            <p:nvPr/>
          </p:nvSpPr>
          <p:spPr>
            <a:xfrm>
              <a:off x="4914900" y="3784600"/>
              <a:ext cx="655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Evidence: two analysts hold the practice behind 45-day appeals. Implication: cross-train first.</a:t>
              </a:r>
              <a:endParaRPr lang="en-US" sz="1200" spc="0" kern="0" b="0" i="0" dirty="0">
                <a:solidFill>
                  <a:srgbClr val="50658E"/>
                </a:solidFill>
                <a:latin typeface="IBM Plex Sans"/>
                <a:ea typeface="IBM Plex Sans"/>
                <a:cs typeface="IBM Plex Sans"/>
              </a:endParaRPr>
            </a:p>
          </p:txBody>
        </p:sp>
        <p:sp>
          <p:nvSpPr>
            <p:cNvPr id="29" name="node11.source-005.number"/>
            <p:cNvSpPr/>
            <p:nvPr/>
          </p:nvSpPr>
          <p:spPr>
            <a:xfrm>
              <a:off x="4381500" y="41529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05</a:t>
              </a:r>
              <a:endParaRPr lang="en-US" sz="1200" spc="0" kern="0" b="0" i="0" dirty="0">
                <a:solidFill>
                  <a:srgbClr val="0047FF"/>
                </a:solidFill>
                <a:latin typeface="IBM Plex Mono SemiBold"/>
                <a:ea typeface="IBM Plex Mono SemiBold"/>
                <a:cs typeface="IBM Plex Mono SemiBold"/>
              </a:endParaRPr>
            </a:p>
          </p:txBody>
        </p:sp>
        <p:sp>
          <p:nvSpPr>
            <p:cNvPr id="30" name="node11.source-005.title"/>
            <p:cNvSpPr/>
            <p:nvPr/>
          </p:nvSpPr>
          <p:spPr>
            <a:xfrm>
              <a:off x="4914900" y="4152900"/>
              <a:ext cx="655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Payer contracts have no owner</a:t>
              </a:r>
              <a:endParaRPr lang="en-US" sz="1200" spc="0" kern="0" b="0" i="0" dirty="0">
                <a:solidFill>
                  <a:srgbClr val="070154"/>
                </a:solidFill>
                <a:latin typeface="IBM Plex Sans SemiBold"/>
                <a:ea typeface="IBM Plex Sans SemiBold"/>
                <a:cs typeface="IBM Plex Sans SemiBold"/>
              </a:endParaRPr>
            </a:p>
          </p:txBody>
        </p:sp>
        <p:sp>
          <p:nvSpPr>
            <p:cNvPr id="31" name="node11.source-005.text"/>
            <p:cNvSpPr/>
            <p:nvPr/>
          </p:nvSpPr>
          <p:spPr>
            <a:xfrm>
              <a:off x="4914900" y="4368800"/>
              <a:ext cx="655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Evidence: nobody could name one owner. Implication: assign an owner before redesign.</a:t>
              </a:r>
              <a:endParaRPr lang="en-US" sz="1200" spc="0" kern="0" b="0" i="0" dirty="0">
                <a:solidFill>
                  <a:srgbClr val="50658E"/>
                </a:solidFill>
                <a:latin typeface="IBM Plex Sans"/>
                <a:ea typeface="IBM Plex Sans"/>
                <a:cs typeface="IBM Plex Sans"/>
              </a:endParaRPr>
            </a:p>
          </p:txBody>
        </p:sp>
      </p:grpSp>
      <p:grpSp>
        <p:nvGrpSpPr>
          <p:cNvPr id="47" name="node12"/>
          <p:cNvGrpSpPr/>
          <p:nvPr/>
        </p:nvGrpSpPr>
        <p:grpSpPr>
          <a:xfrm>
            <a:off x="4381500" y="4838700"/>
            <a:ext cx="7086600" cy="139700"/>
            <a:chOff x="4381500" y="4838700"/>
            <a:chExt cx="7086600" cy="139700"/>
          </a:xfrm>
        </p:grpSpPr>
        <p:sp>
          <p:nvSpPr>
            <p:cNvPr id="32" name="node12.label"/>
            <p:cNvSpPr/>
            <p:nvPr/>
          </p:nvSpPr>
          <p:spPr>
            <a:xfrm>
              <a:off x="4381500" y="48387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FOLLOW-UPS AND QUESTIONS</a:t>
              </a:r>
              <a:endParaRPr lang="en-US" sz="800" spc="48" kern="0" b="0" i="0" dirty="0">
                <a:solidFill>
                  <a:srgbClr val="0047FF"/>
                </a:solidFill>
                <a:latin typeface="IBM Plex Mono Medium"/>
                <a:ea typeface="IBM Plex Mono Medium"/>
                <a:cs typeface="IBM Plex Mono Medium"/>
              </a:endParaRPr>
            </a:p>
          </p:txBody>
        </p:sp>
      </p:grpSp>
      <p:grpSp>
        <p:nvGrpSpPr>
          <p:cNvPr id="48" name="node13"/>
          <p:cNvGrpSpPr/>
          <p:nvPr/>
        </p:nvGrpSpPr>
        <p:grpSpPr>
          <a:xfrm>
            <a:off x="4381500" y="5143500"/>
            <a:ext cx="7086600" cy="469900"/>
            <a:chOff x="4381500" y="5143500"/>
            <a:chExt cx="7086600" cy="469900"/>
          </a:xfrm>
        </p:grpSpPr>
        <p:sp>
          <p:nvSpPr>
            <p:cNvPr id="33" name="node13.source-001.bullet"/>
            <p:cNvSpPr/>
            <p:nvPr/>
          </p:nvSpPr>
          <p:spPr>
            <a:xfrm>
              <a:off x="4381500" y="5232400"/>
              <a:ext cx="38100" cy="38100"/>
            </a:xfrm>
            <a:prstGeom prst="rect">
              <a:avLst/>
            </a:prstGeom>
            <a:solidFill>
              <a:srgbClr val="070154"/>
            </a:solidFill>
            <a:ln>
              <a:noFill/>
            </a:ln>
          </p:spPr>
        </p:sp>
        <p:sp>
          <p:nvSpPr>
            <p:cNvPr id="34" name="node13.source-001.text"/>
            <p:cNvSpPr/>
            <p:nvPr/>
          </p:nvSpPr>
          <p:spPr>
            <a:xfrm>
              <a:off x="4533900" y="51435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Received:</a:t>
              </a:r>
              <a:r>
                <a:rPr lang="en-US" sz="1200" spc="0" kern="0" b="0" i="0" dirty="0">
                  <a:solidFill>
                    <a:srgbClr val="50658E"/>
                  </a:solidFill>
                  <a:latin typeface="IBM Plex Sans"/>
                  <a:ea typeface="IBM Plex Sans"/>
                  <a:cs typeface="IBM Plex Sans"/>
                </a:rPr>
                <a:t xml:space="preserve"> denial extract; appeal staffing due Oct 6</a:t>
              </a:r>
              <a:endParaRPr lang="en-US" sz="1200" spc="0" kern="0" b="0" i="0" dirty="0">
                <a:solidFill>
                  <a:srgbClr val="070154"/>
                </a:solidFill>
                <a:latin typeface="IBM Plex Sans"/>
                <a:ea typeface="IBM Plex Sans"/>
                <a:cs typeface="IBM Plex Sans"/>
              </a:endParaRPr>
            </a:p>
          </p:txBody>
        </p:sp>
        <p:sp>
          <p:nvSpPr>
            <p:cNvPr id="35" name="node13.source-002.bullet"/>
            <p:cNvSpPr/>
            <p:nvPr/>
          </p:nvSpPr>
          <p:spPr>
            <a:xfrm>
              <a:off x="4381500" y="5486400"/>
              <a:ext cx="38100" cy="38100"/>
            </a:xfrm>
            <a:prstGeom prst="rect">
              <a:avLst/>
            </a:prstGeom>
            <a:solidFill>
              <a:srgbClr val="070154"/>
            </a:solidFill>
            <a:ln>
              <a:noFill/>
            </a:ln>
          </p:spPr>
        </p:sp>
        <p:sp>
          <p:nvSpPr>
            <p:cNvPr id="36" name="node13.source-002.text"/>
            <p:cNvSpPr/>
            <p:nvPr/>
          </p:nvSpPr>
          <p:spPr>
            <a:xfrm>
              <a:off x="4533900" y="53975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Open:</a:t>
              </a:r>
              <a:r>
                <a:rPr lang="en-US" sz="1200" spc="0" kern="0" b="0" i="0" dirty="0">
                  <a:solidFill>
                    <a:srgbClr val="50658E"/>
                  </a:solidFill>
                  <a:latin typeface="IBM Plex Sans"/>
                  <a:ea typeface="IBM Plex Sans"/>
                  <a:cs typeface="IBM Plex Sans"/>
                </a:rPr>
                <a:t xml:space="preserve"> who owns payer contracts?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ource-23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Five findings from the revenue cycle interview</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162</a:t>
            </a:fld>
            <a:endParaRPr lang="en-US" sz="700" spc="0" kern="0" b="0" i="0" dirty="0">
              <a:solidFill>
                <a:srgbClr val="070154"/>
              </a:solidFill>
              <a:latin typeface="IBM Plex Mono SemiBold"/>
              <a:ea typeface="IBM Plex Mono SemiBold"/>
              <a:cs typeface="IBM Plex Mono SemiBold"/>
            </a:endParaRPr>
          </a:p>
        </p:txBody>
      </p:sp>
      <p:grpSp>
        <p:nvGrpSpPr>
          <p:cNvPr id="38" name="node01"/>
          <p:cNvGrpSpPr/>
          <p:nvPr/>
        </p:nvGrpSpPr>
        <p:grpSpPr>
          <a:xfrm>
            <a:off x="723900" y="1600200"/>
            <a:ext cx="685800" cy="685800"/>
            <a:chOff x="723900" y="1600200"/>
            <a:chExt cx="685800" cy="685800"/>
          </a:xfrm>
        </p:grpSpPr>
        <p:pic>
          <p:nvPicPr>
            <p:cNvPr id="7" name="node01.image" descr="photo-headshot-face; canonical SHA256=296801383ca36ace437e526edbbf16a0e387072468b87185313e9502001ef07c">    </p:cNvPr>
            <p:cNvPicPr>
              <a:picLocks noChangeAspect="1"/>
            </p:cNvPicPr>
            <p:nvPr/>
          </p:nvPicPr>
          <p:blipFill>
            <a:blip r:embed="rId1"/>
            <a:srcRect l="0" r="0" t="0" b="0"/>
            <a:stretch/>
          </p:blipFill>
          <p:spPr>
            <a:xfrm>
              <a:off x="723900" y="1600200"/>
              <a:ext cx="685800" cy="685800"/>
            </a:xfrm>
            <a:prstGeom prst="rect">
              <a:avLst/>
            </a:prstGeom>
          </p:spPr>
        </p:pic>
      </p:grpSp>
      <p:grpSp>
        <p:nvGrpSpPr>
          <p:cNvPr id="39" name="node02"/>
          <p:cNvGrpSpPr/>
          <p:nvPr/>
        </p:nvGrpSpPr>
        <p:grpSpPr>
          <a:xfrm>
            <a:off x="1638300" y="1600200"/>
            <a:ext cx="2286000" cy="266700"/>
            <a:chOff x="1638300" y="1600200"/>
            <a:chExt cx="2286000" cy="266700"/>
          </a:xfrm>
        </p:grpSpPr>
        <p:sp>
          <p:nvSpPr>
            <p:cNvPr id="8" name="node02.text"/>
            <p:cNvSpPr/>
            <p:nvPr/>
          </p:nvSpPr>
          <p:spPr>
            <a:xfrm>
              <a:off x="1638300" y="1600200"/>
              <a:ext cx="2286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J. Alvarez</a:t>
              </a:r>
              <a:endParaRPr lang="en-US" sz="1600" spc="-16" kern="0" b="0" i="0" dirty="0">
                <a:solidFill>
                  <a:srgbClr val="070154"/>
                </a:solidFill>
                <a:latin typeface="IBM Plex Sans SemiBold"/>
                <a:ea typeface="IBM Plex Sans SemiBold"/>
                <a:cs typeface="IBM Plex Sans SemiBold"/>
              </a:endParaRPr>
            </a:p>
          </p:txBody>
        </p:sp>
      </p:grpSp>
      <p:grpSp>
        <p:nvGrpSpPr>
          <p:cNvPr id="40" name="node03"/>
          <p:cNvGrpSpPr/>
          <p:nvPr/>
        </p:nvGrpSpPr>
        <p:grpSpPr>
          <a:xfrm>
            <a:off x="1638300" y="1905000"/>
            <a:ext cx="2286000" cy="190500"/>
            <a:chOff x="1638300" y="1905000"/>
            <a:chExt cx="2286000" cy="190500"/>
          </a:xfrm>
        </p:grpSpPr>
        <p:sp>
          <p:nvSpPr>
            <p:cNvPr id="9" name="node03.text"/>
            <p:cNvSpPr/>
            <p:nvPr/>
          </p:nvSpPr>
          <p:spPr>
            <a:xfrm>
              <a:off x="1638300" y="1905000"/>
              <a:ext cx="2286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VP Revenue Cycle</a:t>
              </a:r>
              <a:endParaRPr lang="en-US" sz="1100" spc="0" kern="0" b="0" i="0" dirty="0">
                <a:solidFill>
                  <a:srgbClr val="50658E"/>
                </a:solidFill>
                <a:latin typeface="IBM Plex Sans"/>
                <a:ea typeface="IBM Plex Sans"/>
                <a:cs typeface="IBM Plex Sans"/>
              </a:endParaRPr>
            </a:p>
          </p:txBody>
        </p:sp>
      </p:grpSp>
      <p:grpSp>
        <p:nvGrpSpPr>
          <p:cNvPr id="41" name="node04"/>
          <p:cNvGrpSpPr/>
          <p:nvPr/>
        </p:nvGrpSpPr>
        <p:grpSpPr>
          <a:xfrm>
            <a:off x="4152900" y="1600200"/>
            <a:ext cx="2514600" cy="139700"/>
            <a:chOff x="4152900" y="1600200"/>
            <a:chExt cx="2514600" cy="139700"/>
          </a:xfrm>
        </p:grpSpPr>
        <p:sp>
          <p:nvSpPr>
            <p:cNvPr id="10" name="node04.text"/>
            <p:cNvSpPr/>
            <p:nvPr/>
          </p:nvSpPr>
          <p:spPr>
            <a:xfrm>
              <a:off x="41529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DEPARTMENT AND DATE</a:t>
              </a:r>
              <a:endParaRPr lang="en-US" sz="800" spc="48" kern="0" b="0" i="0" dirty="0">
                <a:solidFill>
                  <a:srgbClr val="50658E"/>
                </a:solidFill>
                <a:latin typeface="IBM Plex Mono Medium"/>
                <a:ea typeface="IBM Plex Mono Medium"/>
                <a:cs typeface="IBM Plex Mono Medium"/>
              </a:endParaRPr>
            </a:p>
          </p:txBody>
        </p:sp>
      </p:grpSp>
      <p:grpSp>
        <p:nvGrpSpPr>
          <p:cNvPr id="42" name="node05"/>
          <p:cNvGrpSpPr/>
          <p:nvPr/>
        </p:nvGrpSpPr>
        <p:grpSpPr>
          <a:xfrm>
            <a:off x="4152900" y="1828800"/>
            <a:ext cx="2514600" cy="190500"/>
            <a:chOff x="4152900" y="1828800"/>
            <a:chExt cx="2514600" cy="190500"/>
          </a:xfrm>
        </p:grpSpPr>
        <p:sp>
          <p:nvSpPr>
            <p:cNvPr id="11" name="node05.text"/>
            <p:cNvSpPr/>
            <p:nvPr/>
          </p:nvSpPr>
          <p:spPr>
            <a:xfrm>
              <a:off x="4152900" y="18288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Revenue cycle · Sep 8</a:t>
              </a:r>
              <a:endParaRPr lang="en-US" sz="1100" spc="0" kern="0" b="0" i="0" dirty="0">
                <a:solidFill>
                  <a:srgbClr val="070154"/>
                </a:solidFill>
                <a:latin typeface="IBM Plex Sans"/>
                <a:ea typeface="IBM Plex Sans"/>
                <a:cs typeface="IBM Plex Sans"/>
              </a:endParaRPr>
            </a:p>
          </p:txBody>
        </p:sp>
      </p:grpSp>
      <p:grpSp>
        <p:nvGrpSpPr>
          <p:cNvPr id="43" name="node06"/>
          <p:cNvGrpSpPr/>
          <p:nvPr/>
        </p:nvGrpSpPr>
        <p:grpSpPr>
          <a:xfrm>
            <a:off x="6896100" y="1600200"/>
            <a:ext cx="1600200" cy="139700"/>
            <a:chOff x="6896100" y="1600200"/>
            <a:chExt cx="1600200" cy="139700"/>
          </a:xfrm>
        </p:grpSpPr>
        <p:sp>
          <p:nvSpPr>
            <p:cNvPr id="12" name="node06.text"/>
            <p:cNvSpPr/>
            <p:nvPr/>
          </p:nvSpPr>
          <p:spPr>
            <a:xfrm>
              <a:off x="6896100" y="1600200"/>
              <a:ext cx="1600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INTERVIEWERS</a:t>
              </a:r>
              <a:endParaRPr lang="en-US" sz="800" spc="48" kern="0" b="0" i="0" dirty="0">
                <a:solidFill>
                  <a:srgbClr val="50658E"/>
                </a:solidFill>
                <a:latin typeface="IBM Plex Mono Medium"/>
                <a:ea typeface="IBM Plex Mono Medium"/>
                <a:cs typeface="IBM Plex Mono Medium"/>
              </a:endParaRPr>
            </a:p>
          </p:txBody>
        </p:sp>
      </p:grpSp>
      <p:grpSp>
        <p:nvGrpSpPr>
          <p:cNvPr id="44" name="node07"/>
          <p:cNvGrpSpPr/>
          <p:nvPr/>
        </p:nvGrpSpPr>
        <p:grpSpPr>
          <a:xfrm>
            <a:off x="6896100" y="1828800"/>
            <a:ext cx="1600200" cy="190500"/>
            <a:chOff x="6896100" y="1828800"/>
            <a:chExt cx="1600200" cy="190500"/>
          </a:xfrm>
        </p:grpSpPr>
        <p:sp>
          <p:nvSpPr>
            <p:cNvPr id="13" name="node07.text"/>
            <p:cNvSpPr/>
            <p:nvPr/>
          </p:nvSpPr>
          <p:spPr>
            <a:xfrm>
              <a:off x="6896100" y="18288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K. Ortiz, W. Lee</a:t>
              </a:r>
              <a:endParaRPr lang="en-US" sz="1100" spc="0" kern="0" b="0" i="0" dirty="0">
                <a:solidFill>
                  <a:srgbClr val="070154"/>
                </a:solidFill>
                <a:latin typeface="IBM Plex Sans"/>
                <a:ea typeface="IBM Plex Sans"/>
                <a:cs typeface="IBM Plex Sans"/>
              </a:endParaRPr>
            </a:p>
          </p:txBody>
        </p:sp>
      </p:grpSp>
      <p:sp>
        <p:nvSpPr>
          <p:cNvPr id="14" name="node08"/>
          <p:cNvSpPr/>
          <p:nvPr/>
        </p:nvSpPr>
        <p:spPr>
          <a:xfrm>
            <a:off x="723900" y="2514600"/>
            <a:ext cx="7772400" cy="9525"/>
          </a:xfrm>
          <a:prstGeom prst="rect">
            <a:avLst/>
          </a:prstGeom>
          <a:solidFill>
            <a:srgbClr val="CED7E6"/>
          </a:solidFill>
          <a:ln>
            <a:noFill/>
          </a:ln>
        </p:spPr>
      </p:sp>
      <p:grpSp>
        <p:nvGrpSpPr>
          <p:cNvPr id="45" name="node09"/>
          <p:cNvGrpSpPr/>
          <p:nvPr/>
        </p:nvGrpSpPr>
        <p:grpSpPr>
          <a:xfrm>
            <a:off x="723900" y="2667000"/>
            <a:ext cx="7772400" cy="2768600"/>
            <a:chOff x="723900" y="2667000"/>
            <a:chExt cx="7772400" cy="2768600"/>
          </a:xfrm>
        </p:grpSpPr>
        <p:sp>
          <p:nvSpPr>
            <p:cNvPr id="15" name="node09.source-001.number"/>
            <p:cNvSpPr/>
            <p:nvPr/>
          </p:nvSpPr>
          <p:spPr>
            <a:xfrm>
              <a:off x="723900" y="26670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16" name="node09.source-001.title"/>
            <p:cNvSpPr/>
            <p:nvPr/>
          </p:nvSpPr>
          <p:spPr>
            <a:xfrm>
              <a:off x="1257300" y="2667000"/>
              <a:ext cx="723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Denials start at authorization</a:t>
              </a:r>
              <a:endParaRPr lang="en-US" sz="1200" spc="0" kern="0" b="0" i="0" dirty="0">
                <a:solidFill>
                  <a:srgbClr val="070154"/>
                </a:solidFill>
                <a:latin typeface="IBM Plex Sans SemiBold"/>
                <a:ea typeface="IBM Plex Sans SemiBold"/>
                <a:cs typeface="IBM Plex Sans SemiBold"/>
              </a:endParaRPr>
            </a:p>
          </p:txBody>
        </p:sp>
        <p:sp>
          <p:nvSpPr>
            <p:cNvPr id="17" name="node09.source-001.text"/>
            <p:cNvSpPr/>
            <p:nvPr/>
          </p:nvSpPr>
          <p:spPr>
            <a:xfrm>
              <a:off x="1257300" y="2882900"/>
              <a:ext cx="723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40% of denials trace to missing authorizations. So what: fix intake first.</a:t>
              </a:r>
              <a:endParaRPr lang="en-US" sz="1200" spc="0" kern="0" b="0" i="0" dirty="0">
                <a:solidFill>
                  <a:srgbClr val="50658E"/>
                </a:solidFill>
                <a:latin typeface="IBM Plex Sans"/>
                <a:ea typeface="IBM Plex Sans"/>
                <a:cs typeface="IBM Plex Sans"/>
              </a:endParaRPr>
            </a:p>
          </p:txBody>
        </p:sp>
        <p:sp>
          <p:nvSpPr>
            <p:cNvPr id="18" name="node09.source-002.number"/>
            <p:cNvSpPr/>
            <p:nvPr/>
          </p:nvSpPr>
          <p:spPr>
            <a:xfrm>
              <a:off x="723900" y="32512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19" name="node09.source-002.title"/>
            <p:cNvSpPr/>
            <p:nvPr/>
          </p:nvSpPr>
          <p:spPr>
            <a:xfrm>
              <a:off x="1257300" y="3251200"/>
              <a:ext cx="723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Errors surface at billing</a:t>
              </a:r>
              <a:endParaRPr lang="en-US" sz="1200" spc="0" kern="0" b="0" i="0" dirty="0">
                <a:solidFill>
                  <a:srgbClr val="070154"/>
                </a:solidFill>
                <a:latin typeface="IBM Plex Sans SemiBold"/>
                <a:ea typeface="IBM Plex Sans SemiBold"/>
                <a:cs typeface="IBM Plex Sans SemiBold"/>
              </a:endParaRPr>
            </a:p>
          </p:txBody>
        </p:sp>
        <p:sp>
          <p:nvSpPr>
            <p:cNvPr id="20" name="node09.source-002.text"/>
            <p:cNvSpPr/>
            <p:nvPr/>
          </p:nvSpPr>
          <p:spPr>
            <a:xfrm>
              <a:off x="1257300" y="3467100"/>
              <a:ext cx="723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Front-desk errors are found three weeks late. So what: add check-in checks.</a:t>
              </a:r>
              <a:endParaRPr lang="en-US" sz="1200" spc="0" kern="0" b="0" i="0" dirty="0">
                <a:solidFill>
                  <a:srgbClr val="50658E"/>
                </a:solidFill>
                <a:latin typeface="IBM Plex Sans"/>
                <a:ea typeface="IBM Plex Sans"/>
                <a:cs typeface="IBM Plex Sans"/>
              </a:endParaRPr>
            </a:p>
          </p:txBody>
        </p:sp>
        <p:sp>
          <p:nvSpPr>
            <p:cNvPr id="21" name="node09.source-003.number"/>
            <p:cNvSpPr/>
            <p:nvPr/>
          </p:nvSpPr>
          <p:spPr>
            <a:xfrm>
              <a:off x="723900" y="3835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22" name="node09.source-003.title"/>
            <p:cNvSpPr/>
            <p:nvPr/>
          </p:nvSpPr>
          <p:spPr>
            <a:xfrm>
              <a:off x="1257300" y="3835400"/>
              <a:ext cx="723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Three queues, no shared view</a:t>
              </a:r>
              <a:endParaRPr lang="en-US" sz="1200" spc="0" kern="0" b="0" i="0" dirty="0">
                <a:solidFill>
                  <a:srgbClr val="070154"/>
                </a:solidFill>
                <a:latin typeface="IBM Plex Sans SemiBold"/>
                <a:ea typeface="IBM Plex Sans SemiBold"/>
                <a:cs typeface="IBM Plex Sans SemiBold"/>
              </a:endParaRPr>
            </a:p>
          </p:txBody>
        </p:sp>
        <p:sp>
          <p:nvSpPr>
            <p:cNvPr id="23" name="node09.source-003.text"/>
            <p:cNvSpPr/>
            <p:nvPr/>
          </p:nvSpPr>
          <p:spPr>
            <a:xfrm>
              <a:off x="1257300" y="4051300"/>
              <a:ext cx="723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Teams work denials in separate queues. So what: build one queue by payer.</a:t>
              </a:r>
              <a:endParaRPr lang="en-US" sz="1200" spc="0" kern="0" b="0" i="0" dirty="0">
                <a:solidFill>
                  <a:srgbClr val="50658E"/>
                </a:solidFill>
                <a:latin typeface="IBM Plex Sans"/>
                <a:ea typeface="IBM Plex Sans"/>
                <a:cs typeface="IBM Plex Sans"/>
              </a:endParaRPr>
            </a:p>
          </p:txBody>
        </p:sp>
        <p:sp>
          <p:nvSpPr>
            <p:cNvPr id="24" name="node09.source-004.number"/>
            <p:cNvSpPr/>
            <p:nvPr/>
          </p:nvSpPr>
          <p:spPr>
            <a:xfrm>
              <a:off x="723900" y="44196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25" name="node09.source-004.title"/>
            <p:cNvSpPr/>
            <p:nvPr/>
          </p:nvSpPr>
          <p:spPr>
            <a:xfrm>
              <a:off x="1257300" y="4419600"/>
              <a:ext cx="723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Appeals average 45 days</a:t>
              </a:r>
              <a:endParaRPr lang="en-US" sz="1200" spc="0" kern="0" b="0" i="0" dirty="0">
                <a:solidFill>
                  <a:srgbClr val="070154"/>
                </a:solidFill>
                <a:latin typeface="IBM Plex Sans SemiBold"/>
                <a:ea typeface="IBM Plex Sans SemiBold"/>
                <a:cs typeface="IBM Plex Sans SemiBold"/>
              </a:endParaRPr>
            </a:p>
          </p:txBody>
        </p:sp>
        <p:sp>
          <p:nvSpPr>
            <p:cNvPr id="26" name="node09.source-004.text"/>
            <p:cNvSpPr/>
            <p:nvPr/>
          </p:nvSpPr>
          <p:spPr>
            <a:xfrm>
              <a:off x="1257300" y="4635500"/>
              <a:ext cx="723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Two analysts hold the appeal know-how. So what: cross-train and staff the tail.</a:t>
              </a:r>
              <a:endParaRPr lang="en-US" sz="1200" spc="0" kern="0" b="0" i="0" dirty="0">
                <a:solidFill>
                  <a:srgbClr val="50658E"/>
                </a:solidFill>
                <a:latin typeface="IBM Plex Sans"/>
                <a:ea typeface="IBM Plex Sans"/>
                <a:cs typeface="IBM Plex Sans"/>
              </a:endParaRPr>
            </a:p>
          </p:txBody>
        </p:sp>
        <p:sp>
          <p:nvSpPr>
            <p:cNvPr id="27" name="node09.source-005.number"/>
            <p:cNvSpPr/>
            <p:nvPr/>
          </p:nvSpPr>
          <p:spPr>
            <a:xfrm>
              <a:off x="723900" y="50038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05</a:t>
              </a:r>
              <a:endParaRPr lang="en-US" sz="1200" spc="0" kern="0" b="0" i="0" dirty="0">
                <a:solidFill>
                  <a:srgbClr val="0047FF"/>
                </a:solidFill>
                <a:latin typeface="IBM Plex Mono SemiBold"/>
                <a:ea typeface="IBM Plex Mono SemiBold"/>
                <a:cs typeface="IBM Plex Mono SemiBold"/>
              </a:endParaRPr>
            </a:p>
          </p:txBody>
        </p:sp>
        <p:sp>
          <p:nvSpPr>
            <p:cNvPr id="28" name="node09.source-005.title"/>
            <p:cNvSpPr/>
            <p:nvPr/>
          </p:nvSpPr>
          <p:spPr>
            <a:xfrm>
              <a:off x="1257300" y="5003800"/>
              <a:ext cx="723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Reports are hand-built</a:t>
              </a:r>
              <a:endParaRPr lang="en-US" sz="1200" spc="0" kern="0" b="0" i="0" dirty="0">
                <a:solidFill>
                  <a:srgbClr val="070154"/>
                </a:solidFill>
                <a:latin typeface="IBM Plex Sans SemiBold"/>
                <a:ea typeface="IBM Plex Sans SemiBold"/>
                <a:cs typeface="IBM Plex Sans SemiBold"/>
              </a:endParaRPr>
            </a:p>
          </p:txBody>
        </p:sp>
        <p:sp>
          <p:nvSpPr>
            <p:cNvPr id="29" name="node09.source-005.text"/>
            <p:cNvSpPr/>
            <p:nvPr/>
          </p:nvSpPr>
          <p:spPr>
            <a:xfrm>
              <a:off x="1257300" y="5219700"/>
              <a:ext cx="723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Monthly reports restart in spreadsheets. So what: automate the denial extract.</a:t>
              </a:r>
              <a:endParaRPr lang="en-US" sz="1200" spc="0" kern="0" b="0" i="0" dirty="0">
                <a:solidFill>
                  <a:srgbClr val="50658E"/>
                </a:solidFill>
                <a:latin typeface="IBM Plex Sans"/>
                <a:ea typeface="IBM Plex Sans"/>
                <a:cs typeface="IBM Plex Sans"/>
              </a:endParaRPr>
            </a:p>
          </p:txBody>
        </p:sp>
      </p:grpSp>
      <p:sp>
        <p:nvSpPr>
          <p:cNvPr id="30" name="node10"/>
          <p:cNvSpPr/>
          <p:nvPr/>
        </p:nvSpPr>
        <p:spPr>
          <a:xfrm>
            <a:off x="8724900" y="1600200"/>
            <a:ext cx="2743200" cy="9525"/>
          </a:xfrm>
          <a:prstGeom prst="rect">
            <a:avLst/>
          </a:prstGeom>
          <a:solidFill>
            <a:srgbClr val="CED7E6"/>
          </a:solidFill>
          <a:ln>
            <a:noFill/>
          </a:ln>
        </p:spPr>
      </p:sp>
      <p:grpSp>
        <p:nvGrpSpPr>
          <p:cNvPr id="46" name="node11"/>
          <p:cNvGrpSpPr/>
          <p:nvPr/>
        </p:nvGrpSpPr>
        <p:grpSpPr>
          <a:xfrm>
            <a:off x="8724900" y="1752600"/>
            <a:ext cx="2743200" cy="1362075"/>
            <a:chOff x="8724900" y="1752600"/>
            <a:chExt cx="2743200" cy="1362075"/>
          </a:xfrm>
        </p:grpSpPr>
        <p:sp>
          <p:nvSpPr>
            <p:cNvPr id="31" name="node11.quote-mark"/>
            <p:cNvSpPr/>
            <p:nvPr/>
          </p:nvSpPr>
          <p:spPr>
            <a:xfrm>
              <a:off x="8724900" y="1752600"/>
              <a:ext cx="2743200" cy="416941"/>
            </a:xfrm>
            <a:prstGeom prst="rect">
              <a:avLst/>
            </a:prstGeom>
            <a:noFill/>
            <a:ln/>
          </p:spPr>
          <p:txBody>
            <a:bodyPr wrap="square" lIns="0" tIns="0" rIns="0" bIns="0" rtlCol="0" anchor="t"/>
            <a:lstStyle/>
            <a:p>
              <a:pPr algn="l" indent="0" marL="0">
                <a:lnSpc>
                  <a:spcPts val="2625"/>
                </a:lnSpc>
                <a:buNone/>
              </a:pPr>
              <a:r>
                <a:rPr lang="en-US" sz="5250" spc="-79" kern="0" b="0" i="0" dirty="0">
                  <a:solidFill>
                    <a:srgbClr val="0047FF"/>
                  </a:solidFill>
                  <a:latin typeface="IBM Plex Sans SemiBold"/>
                  <a:ea typeface="IBM Plex Sans SemiBold"/>
                  <a:cs typeface="IBM Plex Sans SemiBold"/>
                </a:rPr>
                <a:t>“</a:t>
              </a:r>
              <a:endParaRPr lang="en-US" sz="5250" spc="-79" kern="0" b="0" i="0" dirty="0">
                <a:solidFill>
                  <a:srgbClr val="0047FF"/>
                </a:solidFill>
                <a:latin typeface="IBM Plex Sans SemiBold"/>
                <a:ea typeface="IBM Plex Sans SemiBold"/>
                <a:cs typeface="IBM Plex Sans SemiBold"/>
              </a:endParaRPr>
            </a:p>
          </p:txBody>
        </p:sp>
        <p:sp>
          <p:nvSpPr>
            <p:cNvPr id="32" name="node11.quote"/>
            <p:cNvSpPr/>
            <p:nvPr/>
          </p:nvSpPr>
          <p:spPr>
            <a:xfrm>
              <a:off x="8724900" y="2200275"/>
              <a:ext cx="27432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We find it at billing, three weeks late.</a:t>
              </a:r>
              <a:endParaRPr lang="en-US" sz="2100" spc="-32" kern="0" b="0" i="0" dirty="0">
                <a:solidFill>
                  <a:srgbClr val="070154"/>
                </a:solidFill>
                <a:latin typeface="IBM Plex Sans SemiBold"/>
                <a:ea typeface="IBM Plex Sans SemiBold"/>
                <a:cs typeface="IBM Plex Sans SemiBold"/>
              </a:endParaRPr>
            </a:p>
          </p:txBody>
        </p:sp>
        <p:sp>
          <p:nvSpPr>
            <p:cNvPr id="33" name="node11.by"/>
            <p:cNvSpPr/>
            <p:nvPr/>
          </p:nvSpPr>
          <p:spPr>
            <a:xfrm>
              <a:off x="8724900" y="2974975"/>
              <a:ext cx="2743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J. ALVAREZ</a:t>
              </a:r>
              <a:endParaRPr lang="en-US" sz="800" spc="48" kern="0" b="0" i="0" dirty="0">
                <a:solidFill>
                  <a:srgbClr val="50658E"/>
                </a:solidFill>
                <a:latin typeface="IBM Plex Mono Medium"/>
                <a:ea typeface="IBM Plex Mono Medium"/>
                <a:cs typeface="IBM Plex Mono Medium"/>
              </a:endParaRPr>
            </a:p>
          </p:txBody>
        </p:sp>
      </p:grpSp>
      <p:grpSp>
        <p:nvGrpSpPr>
          <p:cNvPr id="47" name="node12"/>
          <p:cNvGrpSpPr/>
          <p:nvPr/>
        </p:nvGrpSpPr>
        <p:grpSpPr>
          <a:xfrm>
            <a:off x="8724900" y="3962400"/>
            <a:ext cx="2743200" cy="1727200"/>
            <a:chOff x="8724900" y="3962400"/>
            <a:chExt cx="2743200" cy="1727200"/>
          </a:xfrm>
        </p:grpSpPr>
        <p:graphicFrame>
          <p:nvGraphicFramePr>
            <p:cNvPr id="34" name="node12.native"/>
            <p:cNvGraphicFramePr>
              <a:graphicFrameLocks noGrp="1"/>
            </p:cNvGraphicFramePr>
            <p:nvPr>
              <p:extLst>
                <p:ext uri="{D42A27DB-BD31-4B8C-83A1-F6EECF244321}">
                  <p14:modId xmlns:p14="http://schemas.microsoft.com/office/powerpoint/2010/main" val="1579011935"/>
                </p:ext>
              </p:extLst>
            </p:nvPr>
          </p:nvGraphicFramePr>
          <p:xfrm>
            <a:off x="8724900" y="3962400"/>
            <a:ext cx="2743200" cy="1727200"/>
          </p:xfrm>
          <a:graphic>
            <a:graphicData uri="http://schemas.openxmlformats.org/drawingml/2006/table">
              <a:tbl>
                <a:tblPr/>
                <a:tblGrid>
                  <a:gridCol w="1600200"/>
                  <a:gridCol w="11430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FOLLOW-UP</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STATUS</a:t>
                        </a:r>
                        <a:endParaRPr lang="en-US" sz="800" spc="48"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Denial extract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Received</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Appeal staffing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Pending</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Contract owner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Open</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35" name="node12.row.item-001.s.status-mark"/>
            <p:cNvSpPr/>
            <p:nvPr/>
          </p:nvSpPr>
          <p:spPr>
            <a:xfrm>
              <a:off x="10483850" y="4502150"/>
              <a:ext cx="88900" cy="88900"/>
            </a:xfrm>
            <a:prstGeom prst="rect">
              <a:avLst/>
            </a:prstGeom>
            <a:solidFill>
              <a:srgbClr val="070154"/>
            </a:solidFill>
            <a:ln w="12700">
              <a:solidFill>
                <a:srgbClr val="070154"/>
              </a:solidFill>
              <a:prstDash val="solid"/>
            </a:ln>
          </p:spPr>
        </p:sp>
        <p:sp>
          <p:nvSpPr>
            <p:cNvPr id="36" name="node12.row.item-002.s.status-mark"/>
            <p:cNvSpPr/>
            <p:nvPr/>
          </p:nvSpPr>
          <p:spPr>
            <a:xfrm>
              <a:off x="10483850" y="4959350"/>
              <a:ext cx="88900" cy="88900"/>
            </a:xfrm>
            <a:prstGeom prst="rect">
              <a:avLst/>
            </a:prstGeom>
            <a:solidFill>
              <a:srgbClr val="0047FF"/>
            </a:solidFill>
            <a:ln w="12700">
              <a:solidFill>
                <a:srgbClr val="070154"/>
              </a:solidFill>
              <a:prstDash val="solid"/>
            </a:ln>
          </p:spPr>
        </p:sp>
        <p:sp>
          <p:nvSpPr>
            <p:cNvPr id="37" name="node12.row.item-003.s.status-mark"/>
            <p:cNvSpPr/>
            <p:nvPr/>
          </p:nvSpPr>
          <p:spPr>
            <a:xfrm>
              <a:off x="10483850" y="5416550"/>
              <a:ext cx="88900" cy="88900"/>
            </a:xfrm>
            <a:prstGeom prst="rect">
              <a:avLst/>
            </a:prstGeom>
            <a:solidFill>
              <a:srgbClr val="FFFFFF"/>
            </a:solidFill>
            <a:ln w="12700">
              <a:solidFill>
                <a:srgbClr val="070154"/>
              </a:solidFill>
              <a:prstDash val="solid"/>
            </a:ln>
          </p:spPr>
        </p:sp>
      </p:gr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ource-63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half day to agree how patients get access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163</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1600200"/>
            <a:ext cx="3429000" cy="228600"/>
            <a:chOff x="723900" y="1600200"/>
            <a:chExt cx="3429000" cy="228600"/>
          </a:xfrm>
        </p:grpSpPr>
        <p:sp>
          <p:nvSpPr>
            <p:cNvPr id="6" name="node01.label"/>
            <p:cNvSpPr/>
            <p:nvPr/>
          </p:nvSpPr>
          <p:spPr>
            <a:xfrm>
              <a:off x="723900" y="1600200"/>
              <a:ext cx="148665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PURPOSE AND OBJECTIVES</a:t>
              </a:r>
              <a:endParaRPr lang="en-US" sz="800" spc="48" kern="0" b="0" i="0" dirty="0">
                <a:solidFill>
                  <a:srgbClr val="50658E"/>
                </a:solidFill>
                <a:latin typeface="IBM Plex Mono Medium"/>
                <a:ea typeface="IBM Plex Mono Medium"/>
                <a:cs typeface="IBM Plex Mono Medium"/>
              </a:endParaRPr>
            </a:p>
          </p:txBody>
        </p:sp>
        <p:sp>
          <p:nvSpPr>
            <p:cNvPr id="7" name="node01.rule"/>
            <p:cNvSpPr/>
            <p:nvPr/>
          </p:nvSpPr>
          <p:spPr>
            <a:xfrm>
              <a:off x="2337557" y="1709738"/>
              <a:ext cx="1815343" cy="9525"/>
            </a:xfrm>
            <a:prstGeom prst="rect">
              <a:avLst/>
            </a:prstGeom>
            <a:solidFill>
              <a:srgbClr val="CED7E6"/>
            </a:solidFill>
            <a:ln>
              <a:noFill/>
            </a:ln>
          </p:spPr>
        </p:sp>
      </p:grpSp>
      <p:sp>
        <p:nvSpPr>
          <p:cNvPr id="8" name="node02"/>
          <p:cNvSpPr/>
          <p:nvPr/>
        </p:nvSpPr>
        <p:spPr>
          <a:xfrm>
            <a:off x="723900" y="1828800"/>
            <a:ext cx="3429000" cy="9525"/>
          </a:xfrm>
          <a:prstGeom prst="rect">
            <a:avLst/>
          </a:prstGeom>
          <a:solidFill>
            <a:srgbClr val="CED7E6"/>
          </a:solidFill>
          <a:ln>
            <a:noFill/>
          </a:ln>
        </p:spPr>
      </p:sp>
      <p:grpSp>
        <p:nvGrpSpPr>
          <p:cNvPr id="80" name="node03"/>
          <p:cNvGrpSpPr/>
          <p:nvPr/>
        </p:nvGrpSpPr>
        <p:grpSpPr>
          <a:xfrm>
            <a:off x="723900" y="2057400"/>
            <a:ext cx="3429000" cy="381000"/>
            <a:chOff x="723900" y="2057400"/>
            <a:chExt cx="3429000" cy="381000"/>
          </a:xfrm>
        </p:grpSpPr>
        <p:sp>
          <p:nvSpPr>
            <p:cNvPr id="9" name="node03.text"/>
            <p:cNvSpPr/>
            <p:nvPr/>
          </p:nvSpPr>
          <p:spPr>
            <a:xfrm>
              <a:off x="723900" y="20574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Agree how patients will schedule, register, get estimates and avoid denials at Northfield.</a:t>
              </a:r>
              <a:endParaRPr lang="en-US" sz="1100" spc="0" kern="0" b="0" i="0" dirty="0">
                <a:solidFill>
                  <a:srgbClr val="070154"/>
                </a:solidFill>
                <a:latin typeface="IBM Plex Sans"/>
                <a:ea typeface="IBM Plex Sans"/>
                <a:cs typeface="IBM Plex Sans"/>
              </a:endParaRPr>
            </a:p>
          </p:txBody>
        </p:sp>
      </p:grpSp>
      <p:grpSp>
        <p:nvGrpSpPr>
          <p:cNvPr id="81" name="node04"/>
          <p:cNvGrpSpPr/>
          <p:nvPr/>
        </p:nvGrpSpPr>
        <p:grpSpPr>
          <a:xfrm>
            <a:off x="723900" y="2743200"/>
            <a:ext cx="3429000" cy="977900"/>
            <a:chOff x="723900" y="2743200"/>
            <a:chExt cx="3429000" cy="977900"/>
          </a:xfrm>
        </p:grpSpPr>
        <p:sp>
          <p:nvSpPr>
            <p:cNvPr id="10" name="node04.source-001.bullet"/>
            <p:cNvSpPr/>
            <p:nvPr/>
          </p:nvSpPr>
          <p:spPr>
            <a:xfrm>
              <a:off x="723900" y="2832100"/>
              <a:ext cx="38100" cy="38100"/>
            </a:xfrm>
            <a:prstGeom prst="rect">
              <a:avLst/>
            </a:prstGeom>
            <a:solidFill>
              <a:srgbClr val="070154"/>
            </a:solidFill>
            <a:ln>
              <a:noFill/>
            </a:ln>
          </p:spPr>
        </p:sp>
        <p:sp>
          <p:nvSpPr>
            <p:cNvPr id="11" name="node04.source-001.text"/>
            <p:cNvSpPr/>
            <p:nvPr/>
          </p:nvSpPr>
          <p:spPr>
            <a:xfrm>
              <a:off x="876300" y="2743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future-state journey, end to end</a:t>
              </a:r>
              <a:endParaRPr lang="en-US" sz="1200" spc="0" kern="0" b="0" i="0" dirty="0">
                <a:solidFill>
                  <a:srgbClr val="070154"/>
                </a:solidFill>
                <a:latin typeface="IBM Plex Sans"/>
                <a:ea typeface="IBM Plex Sans"/>
                <a:cs typeface="IBM Plex Sans"/>
              </a:endParaRPr>
            </a:p>
          </p:txBody>
        </p:sp>
        <p:sp>
          <p:nvSpPr>
            <p:cNvPr id="12" name="node04.source-002.bullet"/>
            <p:cNvSpPr/>
            <p:nvPr/>
          </p:nvSpPr>
          <p:spPr>
            <a:xfrm>
              <a:off x="723900" y="3086100"/>
              <a:ext cx="38100" cy="38100"/>
            </a:xfrm>
            <a:prstGeom prst="rect">
              <a:avLst/>
            </a:prstGeom>
            <a:solidFill>
              <a:srgbClr val="070154"/>
            </a:solidFill>
            <a:ln>
              <a:noFill/>
            </a:ln>
          </p:spPr>
        </p:sp>
        <p:sp>
          <p:nvSpPr>
            <p:cNvPr id="13" name="node04.source-002.text"/>
            <p:cNvSpPr/>
            <p:nvPr/>
          </p:nvSpPr>
          <p:spPr>
            <a:xfrm>
              <a:off x="876300" y="2997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 named for each area</a:t>
              </a:r>
              <a:endParaRPr lang="en-US" sz="1200" spc="0" kern="0" b="0" i="0" dirty="0">
                <a:solidFill>
                  <a:srgbClr val="070154"/>
                </a:solidFill>
                <a:latin typeface="IBM Plex Sans"/>
                <a:ea typeface="IBM Plex Sans"/>
                <a:cs typeface="IBM Plex Sans"/>
              </a:endParaRPr>
            </a:p>
          </p:txBody>
        </p:sp>
        <p:sp>
          <p:nvSpPr>
            <p:cNvPr id="14" name="node04.source-003.bullet"/>
            <p:cNvSpPr/>
            <p:nvPr/>
          </p:nvSpPr>
          <p:spPr>
            <a:xfrm>
              <a:off x="723900" y="3340100"/>
              <a:ext cx="38100" cy="38100"/>
            </a:xfrm>
            <a:prstGeom prst="rect">
              <a:avLst/>
            </a:prstGeom>
            <a:solidFill>
              <a:srgbClr val="070154"/>
            </a:solidFill>
            <a:ln>
              <a:noFill/>
            </a:ln>
          </p:spPr>
        </p:sp>
        <p:sp>
          <p:nvSpPr>
            <p:cNvPr id="15" name="node04.source-003.text"/>
            <p:cNvSpPr/>
            <p:nvPr/>
          </p:nvSpPr>
          <p:spPr>
            <a:xfrm>
              <a:off x="876300" y="3251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 shortlist ready to prioritize</a:t>
              </a:r>
              <a:endParaRPr lang="en-US" sz="1200" spc="0" kern="0" b="0" i="0" dirty="0">
                <a:solidFill>
                  <a:srgbClr val="070154"/>
                </a:solidFill>
                <a:latin typeface="IBM Plex Sans"/>
                <a:ea typeface="IBM Plex Sans"/>
                <a:cs typeface="IBM Plex Sans"/>
              </a:endParaRPr>
            </a:p>
          </p:txBody>
        </p:sp>
        <p:sp>
          <p:nvSpPr>
            <p:cNvPr id="16" name="node04.source-004.bullet"/>
            <p:cNvSpPr/>
            <p:nvPr/>
          </p:nvSpPr>
          <p:spPr>
            <a:xfrm>
              <a:off x="723900" y="3594100"/>
              <a:ext cx="38100" cy="38100"/>
            </a:xfrm>
            <a:prstGeom prst="rect">
              <a:avLst/>
            </a:prstGeom>
            <a:solidFill>
              <a:srgbClr val="070154"/>
            </a:solidFill>
            <a:ln>
              <a:noFill/>
            </a:ln>
          </p:spPr>
        </p:sp>
        <p:sp>
          <p:nvSpPr>
            <p:cNvPr id="17" name="node04.source-004.text"/>
            <p:cNvSpPr/>
            <p:nvPr/>
          </p:nvSpPr>
          <p:spPr>
            <a:xfrm>
              <a:off x="876300" y="3505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Agreed focus for session 3</a:t>
              </a:r>
              <a:endParaRPr lang="en-US" sz="1200" spc="0" kern="0" b="0" i="0" dirty="0">
                <a:solidFill>
                  <a:srgbClr val="070154"/>
                </a:solidFill>
                <a:latin typeface="IBM Plex Sans"/>
                <a:ea typeface="IBM Plex Sans"/>
                <a:cs typeface="IBM Plex Sans"/>
              </a:endParaRPr>
            </a:p>
          </p:txBody>
        </p:sp>
      </p:grpSp>
      <p:grpSp>
        <p:nvGrpSpPr>
          <p:cNvPr id="82" name="node05"/>
          <p:cNvGrpSpPr/>
          <p:nvPr/>
        </p:nvGrpSpPr>
        <p:grpSpPr>
          <a:xfrm>
            <a:off x="4381500" y="1600200"/>
            <a:ext cx="3429000" cy="228600"/>
            <a:chOff x="4381500" y="1600200"/>
            <a:chExt cx="3429000" cy="228600"/>
          </a:xfrm>
        </p:grpSpPr>
        <p:sp>
          <p:nvSpPr>
            <p:cNvPr id="18" name="node05.label"/>
            <p:cNvSpPr/>
            <p:nvPr/>
          </p:nvSpPr>
          <p:spPr>
            <a:xfrm>
              <a:off x="4381500" y="1600200"/>
              <a:ext cx="1154553"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AGENDA · HALF DAY</a:t>
              </a:r>
              <a:endParaRPr lang="en-US" sz="800" spc="48" kern="0" b="0" i="0" dirty="0">
                <a:solidFill>
                  <a:srgbClr val="50658E"/>
                </a:solidFill>
                <a:latin typeface="IBM Plex Mono Medium"/>
                <a:ea typeface="IBM Plex Mono Medium"/>
                <a:cs typeface="IBM Plex Mono Medium"/>
              </a:endParaRPr>
            </a:p>
          </p:txBody>
        </p:sp>
        <p:sp>
          <p:nvSpPr>
            <p:cNvPr id="19" name="node05.rule"/>
            <p:cNvSpPr/>
            <p:nvPr/>
          </p:nvSpPr>
          <p:spPr>
            <a:xfrm>
              <a:off x="5663053" y="1709738"/>
              <a:ext cx="2147447" cy="9525"/>
            </a:xfrm>
            <a:prstGeom prst="rect">
              <a:avLst/>
            </a:prstGeom>
            <a:solidFill>
              <a:srgbClr val="CED7E6"/>
            </a:solidFill>
            <a:ln>
              <a:noFill/>
            </a:ln>
          </p:spPr>
        </p:sp>
      </p:grpSp>
      <p:sp>
        <p:nvSpPr>
          <p:cNvPr id="20" name="node06"/>
          <p:cNvSpPr/>
          <p:nvPr/>
        </p:nvSpPr>
        <p:spPr>
          <a:xfrm>
            <a:off x="4381500" y="1828800"/>
            <a:ext cx="3429000" cy="9525"/>
          </a:xfrm>
          <a:prstGeom prst="rect">
            <a:avLst/>
          </a:prstGeom>
          <a:solidFill>
            <a:srgbClr val="CED7E6"/>
          </a:solidFill>
          <a:ln>
            <a:noFill/>
          </a:ln>
        </p:spPr>
      </p:sp>
      <p:grpSp>
        <p:nvGrpSpPr>
          <p:cNvPr id="83" name="node07"/>
          <p:cNvGrpSpPr/>
          <p:nvPr/>
        </p:nvGrpSpPr>
        <p:grpSpPr>
          <a:xfrm>
            <a:off x="4381500" y="2057400"/>
            <a:ext cx="3429000" cy="1955800"/>
            <a:chOff x="4381500" y="2057400"/>
            <a:chExt cx="3429000" cy="1955800"/>
          </a:xfrm>
        </p:grpSpPr>
        <p:sp>
          <p:nvSpPr>
            <p:cNvPr id="21" name="node07.source-001.key"/>
            <p:cNvSpPr/>
            <p:nvPr/>
          </p:nvSpPr>
          <p:spPr>
            <a:xfrm>
              <a:off x="4381500" y="20574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9:00</a:t>
              </a:r>
              <a:endParaRPr lang="en-US" sz="1200" spc="0" kern="0" b="1" i="0" dirty="0">
                <a:solidFill>
                  <a:srgbClr val="0047FF"/>
                </a:solidFill>
                <a:latin typeface="IBM Plex Sans"/>
                <a:ea typeface="IBM Plex Sans"/>
                <a:cs typeface="IBM Plex Sans"/>
              </a:endParaRPr>
            </a:p>
          </p:txBody>
        </p:sp>
        <p:sp>
          <p:nvSpPr>
            <p:cNvPr id="22" name="node07.source-001.text"/>
            <p:cNvSpPr/>
            <p:nvPr/>
          </p:nvSpPr>
          <p:spPr>
            <a:xfrm>
              <a:off x="5219700" y="2057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Welcome and goals</a:t>
              </a:r>
              <a:endParaRPr lang="en-US" sz="1200" spc="0" kern="0" b="0" i="0" dirty="0">
                <a:solidFill>
                  <a:srgbClr val="070154"/>
                </a:solidFill>
                <a:latin typeface="IBM Plex Sans SemiBold"/>
                <a:ea typeface="IBM Plex Sans SemiBold"/>
                <a:cs typeface="IBM Plex Sans SemiBold"/>
              </a:endParaRPr>
            </a:p>
          </p:txBody>
        </p:sp>
        <p:sp>
          <p:nvSpPr>
            <p:cNvPr id="23" name="node07.source-002.key"/>
            <p:cNvSpPr/>
            <p:nvPr/>
          </p:nvSpPr>
          <p:spPr>
            <a:xfrm>
              <a:off x="4381500" y="23368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9:15</a:t>
              </a:r>
              <a:endParaRPr lang="en-US" sz="1200" spc="0" kern="0" b="1" i="0" dirty="0">
                <a:solidFill>
                  <a:srgbClr val="0047FF"/>
                </a:solidFill>
                <a:latin typeface="IBM Plex Sans"/>
                <a:ea typeface="IBM Plex Sans"/>
                <a:cs typeface="IBM Plex Sans"/>
              </a:endParaRPr>
            </a:p>
          </p:txBody>
        </p:sp>
        <p:sp>
          <p:nvSpPr>
            <p:cNvPr id="24" name="node07.source-002.text"/>
            <p:cNvSpPr/>
            <p:nvPr/>
          </p:nvSpPr>
          <p:spPr>
            <a:xfrm>
              <a:off x="5219700" y="23368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Current-state recap</a:t>
              </a:r>
              <a:endParaRPr lang="en-US" sz="1200" spc="0" kern="0" b="0" i="0" dirty="0">
                <a:solidFill>
                  <a:srgbClr val="070154"/>
                </a:solidFill>
                <a:latin typeface="IBM Plex Sans SemiBold"/>
                <a:ea typeface="IBM Plex Sans SemiBold"/>
                <a:cs typeface="IBM Plex Sans SemiBold"/>
              </a:endParaRPr>
            </a:p>
          </p:txBody>
        </p:sp>
        <p:sp>
          <p:nvSpPr>
            <p:cNvPr id="25" name="node07.source-003.key"/>
            <p:cNvSpPr/>
            <p:nvPr/>
          </p:nvSpPr>
          <p:spPr>
            <a:xfrm>
              <a:off x="4381500" y="26162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9:45</a:t>
              </a:r>
              <a:endParaRPr lang="en-US" sz="1200" spc="0" kern="0" b="1" i="0" dirty="0">
                <a:solidFill>
                  <a:srgbClr val="0047FF"/>
                </a:solidFill>
                <a:latin typeface="IBM Plex Sans"/>
                <a:ea typeface="IBM Plex Sans"/>
                <a:cs typeface="IBM Plex Sans"/>
              </a:endParaRPr>
            </a:p>
          </p:txBody>
        </p:sp>
        <p:sp>
          <p:nvSpPr>
            <p:cNvPr id="26" name="node07.source-003.text"/>
            <p:cNvSpPr/>
            <p:nvPr/>
          </p:nvSpPr>
          <p:spPr>
            <a:xfrm>
              <a:off x="5219700" y="26162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Future-state design by area</a:t>
              </a:r>
              <a:endParaRPr lang="en-US" sz="1200" spc="0" kern="0" b="0" i="0" dirty="0">
                <a:solidFill>
                  <a:srgbClr val="070154"/>
                </a:solidFill>
                <a:latin typeface="IBM Plex Sans SemiBold"/>
                <a:ea typeface="IBM Plex Sans SemiBold"/>
                <a:cs typeface="IBM Plex Sans SemiBold"/>
              </a:endParaRPr>
            </a:p>
          </p:txBody>
        </p:sp>
        <p:sp>
          <p:nvSpPr>
            <p:cNvPr id="27" name="node07.source-004.key"/>
            <p:cNvSpPr/>
            <p:nvPr/>
          </p:nvSpPr>
          <p:spPr>
            <a:xfrm>
              <a:off x="4381500" y="28956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10:45</a:t>
              </a:r>
              <a:endParaRPr lang="en-US" sz="1200" spc="0" kern="0" b="1" i="0" dirty="0">
                <a:solidFill>
                  <a:srgbClr val="0047FF"/>
                </a:solidFill>
                <a:latin typeface="IBM Plex Sans"/>
                <a:ea typeface="IBM Plex Sans"/>
                <a:cs typeface="IBM Plex Sans"/>
              </a:endParaRPr>
            </a:p>
          </p:txBody>
        </p:sp>
        <p:sp>
          <p:nvSpPr>
            <p:cNvPr id="28" name="node07.source-004.text"/>
            <p:cNvSpPr/>
            <p:nvPr/>
          </p:nvSpPr>
          <p:spPr>
            <a:xfrm>
              <a:off x="5219700" y="2895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Break</a:t>
              </a:r>
              <a:endParaRPr lang="en-US" sz="1200" spc="0" kern="0" b="0" i="0" dirty="0">
                <a:solidFill>
                  <a:srgbClr val="070154"/>
                </a:solidFill>
                <a:latin typeface="IBM Plex Sans SemiBold"/>
                <a:ea typeface="IBM Plex Sans SemiBold"/>
                <a:cs typeface="IBM Plex Sans SemiBold"/>
              </a:endParaRPr>
            </a:p>
          </p:txBody>
        </p:sp>
        <p:sp>
          <p:nvSpPr>
            <p:cNvPr id="29" name="node07.source-005.key"/>
            <p:cNvSpPr/>
            <p:nvPr/>
          </p:nvSpPr>
          <p:spPr>
            <a:xfrm>
              <a:off x="4381500" y="31750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11:00</a:t>
              </a:r>
              <a:endParaRPr lang="en-US" sz="1200" spc="0" kern="0" b="1" i="0" dirty="0">
                <a:solidFill>
                  <a:srgbClr val="0047FF"/>
                </a:solidFill>
                <a:latin typeface="IBM Plex Sans"/>
                <a:ea typeface="IBM Plex Sans"/>
                <a:cs typeface="IBM Plex Sans"/>
              </a:endParaRPr>
            </a:p>
          </p:txBody>
        </p:sp>
        <p:sp>
          <p:nvSpPr>
            <p:cNvPr id="30" name="node07.source-005.text"/>
            <p:cNvSpPr/>
            <p:nvPr/>
          </p:nvSpPr>
          <p:spPr>
            <a:xfrm>
              <a:off x="5219700" y="31750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Playback and gaps</a:t>
              </a:r>
              <a:endParaRPr lang="en-US" sz="1200" spc="0" kern="0" b="0" i="0" dirty="0">
                <a:solidFill>
                  <a:srgbClr val="070154"/>
                </a:solidFill>
                <a:latin typeface="IBM Plex Sans SemiBold"/>
                <a:ea typeface="IBM Plex Sans SemiBold"/>
                <a:cs typeface="IBM Plex Sans SemiBold"/>
              </a:endParaRPr>
            </a:p>
          </p:txBody>
        </p:sp>
        <p:sp>
          <p:nvSpPr>
            <p:cNvPr id="31" name="node07.source-006.key"/>
            <p:cNvSpPr/>
            <p:nvPr/>
          </p:nvSpPr>
          <p:spPr>
            <a:xfrm>
              <a:off x="4381500" y="34544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11:40</a:t>
              </a:r>
              <a:endParaRPr lang="en-US" sz="1200" spc="0" kern="0" b="1" i="0" dirty="0">
                <a:solidFill>
                  <a:srgbClr val="0047FF"/>
                </a:solidFill>
                <a:latin typeface="IBM Plex Sans"/>
                <a:ea typeface="IBM Plex Sans"/>
                <a:cs typeface="IBM Plex Sans"/>
              </a:endParaRPr>
            </a:p>
          </p:txBody>
        </p:sp>
        <p:sp>
          <p:nvSpPr>
            <p:cNvPr id="32" name="node07.source-006.text"/>
            <p:cNvSpPr/>
            <p:nvPr/>
          </p:nvSpPr>
          <p:spPr>
            <a:xfrm>
              <a:off x="5219700" y="3454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Decisions and next steps</a:t>
              </a:r>
              <a:endParaRPr lang="en-US" sz="1200" spc="0" kern="0" b="0" i="0" dirty="0">
                <a:solidFill>
                  <a:srgbClr val="070154"/>
                </a:solidFill>
                <a:latin typeface="IBM Plex Sans SemiBold"/>
                <a:ea typeface="IBM Plex Sans SemiBold"/>
                <a:cs typeface="IBM Plex Sans SemiBold"/>
              </a:endParaRPr>
            </a:p>
          </p:txBody>
        </p:sp>
        <p:sp>
          <p:nvSpPr>
            <p:cNvPr id="33" name="node07.source-007.key"/>
            <p:cNvSpPr/>
            <p:nvPr/>
          </p:nvSpPr>
          <p:spPr>
            <a:xfrm>
              <a:off x="4381500" y="37338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12:00</a:t>
              </a:r>
              <a:endParaRPr lang="en-US" sz="1200" spc="0" kern="0" b="1" i="0" dirty="0">
                <a:solidFill>
                  <a:srgbClr val="0047FF"/>
                </a:solidFill>
                <a:latin typeface="IBM Plex Sans"/>
                <a:ea typeface="IBM Plex Sans"/>
                <a:cs typeface="IBM Plex Sans"/>
              </a:endParaRPr>
            </a:p>
          </p:txBody>
        </p:sp>
        <p:sp>
          <p:nvSpPr>
            <p:cNvPr id="34" name="node07.source-007.text"/>
            <p:cNvSpPr/>
            <p:nvPr/>
          </p:nvSpPr>
          <p:spPr>
            <a:xfrm>
              <a:off x="5219700" y="37338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Close</a:t>
              </a:r>
              <a:endParaRPr lang="en-US" sz="1200" spc="0" kern="0" b="0" i="0" dirty="0">
                <a:solidFill>
                  <a:srgbClr val="070154"/>
                </a:solidFill>
                <a:latin typeface="IBM Plex Sans SemiBold"/>
                <a:ea typeface="IBM Plex Sans SemiBold"/>
                <a:cs typeface="IBM Plex Sans SemiBold"/>
              </a:endParaRPr>
            </a:p>
          </p:txBody>
        </p:sp>
      </p:grpSp>
      <p:grpSp>
        <p:nvGrpSpPr>
          <p:cNvPr id="84" name="node08"/>
          <p:cNvGrpSpPr/>
          <p:nvPr/>
        </p:nvGrpSpPr>
        <p:grpSpPr>
          <a:xfrm>
            <a:off x="8039100" y="1600200"/>
            <a:ext cx="3429000" cy="228600"/>
            <a:chOff x="8039100" y="1600200"/>
            <a:chExt cx="3429000" cy="228600"/>
          </a:xfrm>
        </p:grpSpPr>
        <p:sp>
          <p:nvSpPr>
            <p:cNvPr id="35" name="node08.label"/>
            <p:cNvSpPr/>
            <p:nvPr/>
          </p:nvSpPr>
          <p:spPr>
            <a:xfrm>
              <a:off x="8039100" y="1600200"/>
              <a:ext cx="95529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AREAS OF FOCUS</a:t>
              </a:r>
              <a:endParaRPr lang="en-US" sz="800" spc="48" kern="0" b="0" i="0" dirty="0">
                <a:solidFill>
                  <a:srgbClr val="50658E"/>
                </a:solidFill>
                <a:latin typeface="IBM Plex Mono Medium"/>
                <a:ea typeface="IBM Plex Mono Medium"/>
                <a:cs typeface="IBM Plex Mono Medium"/>
              </a:endParaRPr>
            </a:p>
          </p:txBody>
        </p:sp>
        <p:sp>
          <p:nvSpPr>
            <p:cNvPr id="36" name="node08.rule"/>
            <p:cNvSpPr/>
            <p:nvPr/>
          </p:nvSpPr>
          <p:spPr>
            <a:xfrm>
              <a:off x="9121391" y="1709738"/>
              <a:ext cx="2346709" cy="9525"/>
            </a:xfrm>
            <a:prstGeom prst="rect">
              <a:avLst/>
            </a:prstGeom>
            <a:solidFill>
              <a:srgbClr val="CED7E6"/>
            </a:solidFill>
            <a:ln>
              <a:noFill/>
            </a:ln>
          </p:spPr>
        </p:sp>
      </p:grpSp>
      <p:sp>
        <p:nvSpPr>
          <p:cNvPr id="37" name="node09"/>
          <p:cNvSpPr/>
          <p:nvPr/>
        </p:nvSpPr>
        <p:spPr>
          <a:xfrm>
            <a:off x="8039100" y="1828800"/>
            <a:ext cx="3429000" cy="9525"/>
          </a:xfrm>
          <a:prstGeom prst="rect">
            <a:avLst/>
          </a:prstGeom>
          <a:solidFill>
            <a:srgbClr val="CED7E6"/>
          </a:solidFill>
          <a:ln>
            <a:noFill/>
          </a:ln>
        </p:spPr>
      </p:sp>
      <p:grpSp>
        <p:nvGrpSpPr>
          <p:cNvPr id="85" name="node10"/>
          <p:cNvGrpSpPr/>
          <p:nvPr/>
        </p:nvGrpSpPr>
        <p:grpSpPr>
          <a:xfrm>
            <a:off x="8039100" y="2057400"/>
            <a:ext cx="3429000" cy="1841500"/>
            <a:chOff x="8039100" y="2057400"/>
            <a:chExt cx="3429000" cy="1841500"/>
          </a:xfrm>
        </p:grpSpPr>
        <p:sp>
          <p:nvSpPr>
            <p:cNvPr id="38" name="node10.source-001.number"/>
            <p:cNvSpPr/>
            <p:nvPr/>
          </p:nvSpPr>
          <p:spPr>
            <a:xfrm>
              <a:off x="8039100" y="20574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39" name="node10.source-001.text"/>
            <p:cNvSpPr/>
            <p:nvPr/>
          </p:nvSpPr>
          <p:spPr>
            <a:xfrm>
              <a:off x="8229600" y="2057400"/>
              <a:ext cx="3238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Scheduling. One front door and one template for every service line.</a:t>
              </a:r>
              <a:endParaRPr lang="en-US" sz="1200" spc="0" kern="0" b="0" i="0" dirty="0">
                <a:solidFill>
                  <a:srgbClr val="070154"/>
                </a:solidFill>
                <a:latin typeface="IBM Plex Sans"/>
                <a:ea typeface="IBM Plex Sans"/>
                <a:cs typeface="IBM Plex Sans"/>
              </a:endParaRPr>
            </a:p>
          </p:txBody>
        </p:sp>
        <p:sp>
          <p:nvSpPr>
            <p:cNvPr id="40" name="node10.source-002.number"/>
            <p:cNvSpPr/>
            <p:nvPr/>
          </p:nvSpPr>
          <p:spPr>
            <a:xfrm>
              <a:off x="8039100" y="25273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41" name="node10.source-002.text"/>
            <p:cNvSpPr/>
            <p:nvPr/>
          </p:nvSpPr>
          <p:spPr>
            <a:xfrm>
              <a:off x="8229600" y="2527300"/>
              <a:ext cx="3238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Capture insurance and consent once, before arrival.</a:t>
              </a:r>
              <a:endParaRPr lang="en-US" sz="1200" spc="0" kern="0" b="0" i="0" dirty="0">
                <a:solidFill>
                  <a:srgbClr val="070154"/>
                </a:solidFill>
                <a:latin typeface="IBM Plex Sans"/>
                <a:ea typeface="IBM Plex Sans"/>
                <a:cs typeface="IBM Plex Sans"/>
              </a:endParaRPr>
            </a:p>
          </p:txBody>
        </p:sp>
        <p:sp>
          <p:nvSpPr>
            <p:cNvPr id="42" name="node10.source-003.number"/>
            <p:cNvSpPr/>
            <p:nvPr/>
          </p:nvSpPr>
          <p:spPr>
            <a:xfrm>
              <a:off x="8039100" y="29972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43" name="node10.source-003.text"/>
            <p:cNvSpPr/>
            <p:nvPr/>
          </p:nvSpPr>
          <p:spPr>
            <a:xfrm>
              <a:off x="8229600" y="2997200"/>
              <a:ext cx="3238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Estimates. A price patients can rely on before they book.</a:t>
              </a:r>
              <a:endParaRPr lang="en-US" sz="1200" spc="0" kern="0" b="0" i="0" dirty="0">
                <a:solidFill>
                  <a:srgbClr val="070154"/>
                </a:solidFill>
                <a:latin typeface="IBM Plex Sans"/>
                <a:ea typeface="IBM Plex Sans"/>
                <a:cs typeface="IBM Plex Sans"/>
              </a:endParaRPr>
            </a:p>
          </p:txBody>
        </p:sp>
        <p:sp>
          <p:nvSpPr>
            <p:cNvPr id="44" name="node10.source-004.number"/>
            <p:cNvSpPr/>
            <p:nvPr/>
          </p:nvSpPr>
          <p:spPr>
            <a:xfrm>
              <a:off x="8039100" y="34671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45" name="node10.source-004.text"/>
            <p:cNvSpPr/>
            <p:nvPr/>
          </p:nvSpPr>
          <p:spPr>
            <a:xfrm>
              <a:off x="8229600" y="3467100"/>
              <a:ext cx="3238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Denials. Stop front-end causes before the claim is sent.</a:t>
              </a:r>
              <a:endParaRPr lang="en-US" sz="1200" spc="0" kern="0" b="0" i="0" dirty="0">
                <a:solidFill>
                  <a:srgbClr val="070154"/>
                </a:solidFill>
                <a:latin typeface="IBM Plex Sans"/>
                <a:ea typeface="IBM Plex Sans"/>
                <a:cs typeface="IBM Plex Sans"/>
              </a:endParaRPr>
            </a:p>
          </p:txBody>
        </p:sp>
      </p:grpSp>
      <p:grpSp>
        <p:nvGrpSpPr>
          <p:cNvPr id="86" name="node11"/>
          <p:cNvGrpSpPr/>
          <p:nvPr/>
        </p:nvGrpSpPr>
        <p:grpSpPr>
          <a:xfrm>
            <a:off x="723900" y="4114800"/>
            <a:ext cx="3429000" cy="228600"/>
            <a:chOff x="723900" y="4114800"/>
            <a:chExt cx="3429000" cy="228600"/>
          </a:xfrm>
        </p:grpSpPr>
        <p:sp>
          <p:nvSpPr>
            <p:cNvPr id="46" name="node11.label"/>
            <p:cNvSpPr/>
            <p:nvPr/>
          </p:nvSpPr>
          <p:spPr>
            <a:xfrm>
              <a:off x="723900" y="4114800"/>
              <a:ext cx="1154553"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EXPECTED OUTCOMES</a:t>
              </a:r>
              <a:endParaRPr lang="en-US" sz="800" spc="48" kern="0" b="0" i="0" dirty="0">
                <a:solidFill>
                  <a:srgbClr val="50658E"/>
                </a:solidFill>
                <a:latin typeface="IBM Plex Mono Medium"/>
                <a:ea typeface="IBM Plex Mono Medium"/>
                <a:cs typeface="IBM Plex Mono Medium"/>
              </a:endParaRPr>
            </a:p>
          </p:txBody>
        </p:sp>
        <p:sp>
          <p:nvSpPr>
            <p:cNvPr id="47" name="node11.rule"/>
            <p:cNvSpPr/>
            <p:nvPr/>
          </p:nvSpPr>
          <p:spPr>
            <a:xfrm>
              <a:off x="2005453" y="4224338"/>
              <a:ext cx="2147447" cy="9525"/>
            </a:xfrm>
            <a:prstGeom prst="rect">
              <a:avLst/>
            </a:prstGeom>
            <a:solidFill>
              <a:srgbClr val="CED7E6"/>
            </a:solidFill>
            <a:ln>
              <a:noFill/>
            </a:ln>
          </p:spPr>
        </p:sp>
      </p:grpSp>
      <p:sp>
        <p:nvSpPr>
          <p:cNvPr id="48" name="node12"/>
          <p:cNvSpPr/>
          <p:nvPr/>
        </p:nvSpPr>
        <p:spPr>
          <a:xfrm>
            <a:off x="723900" y="4343400"/>
            <a:ext cx="3429000" cy="9525"/>
          </a:xfrm>
          <a:prstGeom prst="rect">
            <a:avLst/>
          </a:prstGeom>
          <a:solidFill>
            <a:srgbClr val="CED7E6"/>
          </a:solidFill>
          <a:ln>
            <a:noFill/>
          </a:ln>
        </p:spPr>
      </p:sp>
      <p:grpSp>
        <p:nvGrpSpPr>
          <p:cNvPr id="87" name="node13"/>
          <p:cNvGrpSpPr/>
          <p:nvPr/>
        </p:nvGrpSpPr>
        <p:grpSpPr>
          <a:xfrm>
            <a:off x="723900" y="4572000"/>
            <a:ext cx="3429000" cy="977900"/>
            <a:chOff x="723900" y="4572000"/>
            <a:chExt cx="3429000" cy="977900"/>
          </a:xfrm>
        </p:grpSpPr>
        <p:sp>
          <p:nvSpPr>
            <p:cNvPr id="49" name="node13.source-001.bullet"/>
            <p:cNvSpPr/>
            <p:nvPr/>
          </p:nvSpPr>
          <p:spPr>
            <a:xfrm>
              <a:off x="723900" y="4660900"/>
              <a:ext cx="38100" cy="38100"/>
            </a:xfrm>
            <a:prstGeom prst="rect">
              <a:avLst/>
            </a:prstGeom>
            <a:solidFill>
              <a:srgbClr val="070154"/>
            </a:solidFill>
            <a:ln>
              <a:noFill/>
            </a:ln>
          </p:spPr>
        </p:sp>
        <p:sp>
          <p:nvSpPr>
            <p:cNvPr id="50" name="node13.source-001.text"/>
            <p:cNvSpPr/>
            <p:nvPr/>
          </p:nvSpPr>
          <p:spPr>
            <a:xfrm>
              <a:off x="876300" y="4572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Future-state process for each area</a:t>
              </a:r>
              <a:endParaRPr lang="en-US" sz="1200" spc="0" kern="0" b="0" i="0" dirty="0">
                <a:solidFill>
                  <a:srgbClr val="070154"/>
                </a:solidFill>
                <a:latin typeface="IBM Plex Sans"/>
                <a:ea typeface="IBM Plex Sans"/>
                <a:cs typeface="IBM Plex Sans"/>
              </a:endParaRPr>
            </a:p>
          </p:txBody>
        </p:sp>
        <p:sp>
          <p:nvSpPr>
            <p:cNvPr id="51" name="node13.source-002.bullet"/>
            <p:cNvSpPr/>
            <p:nvPr/>
          </p:nvSpPr>
          <p:spPr>
            <a:xfrm>
              <a:off x="723900" y="4914900"/>
              <a:ext cx="38100" cy="38100"/>
            </a:xfrm>
            <a:prstGeom prst="rect">
              <a:avLst/>
            </a:prstGeom>
            <a:solidFill>
              <a:srgbClr val="070154"/>
            </a:solidFill>
            <a:ln>
              <a:noFill/>
            </a:ln>
          </p:spPr>
        </p:sp>
        <p:sp>
          <p:nvSpPr>
            <p:cNvPr id="52" name="node13.source-002.text"/>
            <p:cNvSpPr/>
            <p:nvPr/>
          </p:nvSpPr>
          <p:spPr>
            <a:xfrm>
              <a:off x="876300" y="4826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Decisions log with owners</a:t>
              </a:r>
              <a:endParaRPr lang="en-US" sz="1200" spc="0" kern="0" b="0" i="0" dirty="0">
                <a:solidFill>
                  <a:srgbClr val="070154"/>
                </a:solidFill>
                <a:latin typeface="IBM Plex Sans"/>
                <a:ea typeface="IBM Plex Sans"/>
                <a:cs typeface="IBM Plex Sans"/>
              </a:endParaRPr>
            </a:p>
          </p:txBody>
        </p:sp>
        <p:sp>
          <p:nvSpPr>
            <p:cNvPr id="53" name="node13.source-003.bullet"/>
            <p:cNvSpPr/>
            <p:nvPr/>
          </p:nvSpPr>
          <p:spPr>
            <a:xfrm>
              <a:off x="723900" y="5168900"/>
              <a:ext cx="38100" cy="38100"/>
            </a:xfrm>
            <a:prstGeom prst="rect">
              <a:avLst/>
            </a:prstGeom>
            <a:solidFill>
              <a:srgbClr val="070154"/>
            </a:solidFill>
            <a:ln>
              <a:noFill/>
            </a:ln>
          </p:spPr>
        </p:sp>
        <p:sp>
          <p:nvSpPr>
            <p:cNvPr id="54" name="node13.source-003.text"/>
            <p:cNvSpPr/>
            <p:nvPr/>
          </p:nvSpPr>
          <p:spPr>
            <a:xfrm>
              <a:off x="876300" y="5080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Ranked list of 12 to 15 opportunities</a:t>
              </a:r>
              <a:endParaRPr lang="en-US" sz="1200" spc="0" kern="0" b="0" i="0" dirty="0">
                <a:solidFill>
                  <a:srgbClr val="070154"/>
                </a:solidFill>
                <a:latin typeface="IBM Plex Sans"/>
                <a:ea typeface="IBM Plex Sans"/>
                <a:cs typeface="IBM Plex Sans"/>
              </a:endParaRPr>
            </a:p>
          </p:txBody>
        </p:sp>
        <p:sp>
          <p:nvSpPr>
            <p:cNvPr id="55" name="node13.source-004.bullet"/>
            <p:cNvSpPr/>
            <p:nvPr/>
          </p:nvSpPr>
          <p:spPr>
            <a:xfrm>
              <a:off x="723900" y="5422900"/>
              <a:ext cx="38100" cy="38100"/>
            </a:xfrm>
            <a:prstGeom prst="rect">
              <a:avLst/>
            </a:prstGeom>
            <a:solidFill>
              <a:srgbClr val="070154"/>
            </a:solidFill>
            <a:ln>
              <a:noFill/>
            </a:ln>
          </p:spPr>
        </p:sp>
        <p:sp>
          <p:nvSpPr>
            <p:cNvPr id="56" name="node13.source-004.text"/>
            <p:cNvSpPr/>
            <p:nvPr/>
          </p:nvSpPr>
          <p:spPr>
            <a:xfrm>
              <a:off x="876300" y="5334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Draft target measures</a:t>
              </a:r>
              <a:endParaRPr lang="en-US" sz="1200" spc="0" kern="0" b="0" i="0" dirty="0">
                <a:solidFill>
                  <a:srgbClr val="070154"/>
                </a:solidFill>
                <a:latin typeface="IBM Plex Sans"/>
                <a:ea typeface="IBM Plex Sans"/>
                <a:cs typeface="IBM Plex Sans"/>
              </a:endParaRPr>
            </a:p>
          </p:txBody>
        </p:sp>
      </p:grpSp>
      <p:grpSp>
        <p:nvGrpSpPr>
          <p:cNvPr id="88" name="node14"/>
          <p:cNvGrpSpPr/>
          <p:nvPr/>
        </p:nvGrpSpPr>
        <p:grpSpPr>
          <a:xfrm>
            <a:off x="4381500" y="4114800"/>
            <a:ext cx="3429000" cy="228600"/>
            <a:chOff x="4381500" y="4114800"/>
            <a:chExt cx="3429000" cy="228600"/>
          </a:xfrm>
        </p:grpSpPr>
        <p:sp>
          <p:nvSpPr>
            <p:cNvPr id="57" name="node14.label"/>
            <p:cNvSpPr/>
            <p:nvPr/>
          </p:nvSpPr>
          <p:spPr>
            <a:xfrm>
              <a:off x="4381500" y="4114800"/>
              <a:ext cx="1154553"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WHO SHOULD ATTEND</a:t>
              </a:r>
              <a:endParaRPr lang="en-US" sz="800" spc="48" kern="0" b="0" i="0" dirty="0">
                <a:solidFill>
                  <a:srgbClr val="50658E"/>
                </a:solidFill>
                <a:latin typeface="IBM Plex Mono Medium"/>
                <a:ea typeface="IBM Plex Mono Medium"/>
                <a:cs typeface="IBM Plex Mono Medium"/>
              </a:endParaRPr>
            </a:p>
          </p:txBody>
        </p:sp>
        <p:sp>
          <p:nvSpPr>
            <p:cNvPr id="58" name="node14.rule"/>
            <p:cNvSpPr/>
            <p:nvPr/>
          </p:nvSpPr>
          <p:spPr>
            <a:xfrm>
              <a:off x="5663053" y="4224338"/>
              <a:ext cx="2147447" cy="9525"/>
            </a:xfrm>
            <a:prstGeom prst="rect">
              <a:avLst/>
            </a:prstGeom>
            <a:solidFill>
              <a:srgbClr val="CED7E6"/>
            </a:solidFill>
            <a:ln>
              <a:noFill/>
            </a:ln>
          </p:spPr>
        </p:sp>
      </p:grpSp>
      <p:sp>
        <p:nvSpPr>
          <p:cNvPr id="59" name="node15"/>
          <p:cNvSpPr/>
          <p:nvPr/>
        </p:nvSpPr>
        <p:spPr>
          <a:xfrm>
            <a:off x="4381500" y="4343400"/>
            <a:ext cx="3429000" cy="9525"/>
          </a:xfrm>
          <a:prstGeom prst="rect">
            <a:avLst/>
          </a:prstGeom>
          <a:solidFill>
            <a:srgbClr val="CED7E6"/>
          </a:solidFill>
          <a:ln>
            <a:noFill/>
          </a:ln>
        </p:spPr>
      </p:sp>
      <p:grpSp>
        <p:nvGrpSpPr>
          <p:cNvPr id="89" name="node16"/>
          <p:cNvGrpSpPr/>
          <p:nvPr/>
        </p:nvGrpSpPr>
        <p:grpSpPr>
          <a:xfrm>
            <a:off x="4381500" y="4572000"/>
            <a:ext cx="3429000" cy="977900"/>
            <a:chOff x="4381500" y="4572000"/>
            <a:chExt cx="3429000" cy="977900"/>
          </a:xfrm>
        </p:grpSpPr>
        <p:sp>
          <p:nvSpPr>
            <p:cNvPr id="60" name="node16.source-001.bullet"/>
            <p:cNvSpPr/>
            <p:nvPr/>
          </p:nvSpPr>
          <p:spPr>
            <a:xfrm>
              <a:off x="4381500" y="4660900"/>
              <a:ext cx="38100" cy="38100"/>
            </a:xfrm>
            <a:prstGeom prst="rect">
              <a:avLst/>
            </a:prstGeom>
            <a:solidFill>
              <a:srgbClr val="070154"/>
            </a:solidFill>
            <a:ln>
              <a:noFill/>
            </a:ln>
          </p:spPr>
        </p:sp>
        <p:sp>
          <p:nvSpPr>
            <p:cNvPr id="61" name="node16.source-001.text"/>
            <p:cNvSpPr/>
            <p:nvPr/>
          </p:nvSpPr>
          <p:spPr>
            <a:xfrm>
              <a:off x="4533900" y="4572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Patient access and scheduling leaders</a:t>
              </a:r>
              <a:endParaRPr lang="en-US" sz="1200" spc="0" kern="0" b="0" i="0" dirty="0">
                <a:solidFill>
                  <a:srgbClr val="070154"/>
                </a:solidFill>
                <a:latin typeface="IBM Plex Sans"/>
                <a:ea typeface="IBM Plex Sans"/>
                <a:cs typeface="IBM Plex Sans"/>
              </a:endParaRPr>
            </a:p>
          </p:txBody>
        </p:sp>
        <p:sp>
          <p:nvSpPr>
            <p:cNvPr id="62" name="node16.source-002.bullet"/>
            <p:cNvSpPr/>
            <p:nvPr/>
          </p:nvSpPr>
          <p:spPr>
            <a:xfrm>
              <a:off x="4381500" y="4914900"/>
              <a:ext cx="38100" cy="38100"/>
            </a:xfrm>
            <a:prstGeom prst="rect">
              <a:avLst/>
            </a:prstGeom>
            <a:solidFill>
              <a:srgbClr val="070154"/>
            </a:solidFill>
            <a:ln>
              <a:noFill/>
            </a:ln>
          </p:spPr>
        </p:sp>
        <p:sp>
          <p:nvSpPr>
            <p:cNvPr id="63" name="node16.source-002.text"/>
            <p:cNvSpPr/>
            <p:nvPr/>
          </p:nvSpPr>
          <p:spPr>
            <a:xfrm>
              <a:off x="4533900" y="4826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Revenue cycle and denials managers</a:t>
              </a:r>
              <a:endParaRPr lang="en-US" sz="1200" spc="0" kern="0" b="0" i="0" dirty="0">
                <a:solidFill>
                  <a:srgbClr val="070154"/>
                </a:solidFill>
                <a:latin typeface="IBM Plex Sans"/>
                <a:ea typeface="IBM Plex Sans"/>
                <a:cs typeface="IBM Plex Sans"/>
              </a:endParaRPr>
            </a:p>
          </p:txBody>
        </p:sp>
        <p:sp>
          <p:nvSpPr>
            <p:cNvPr id="64" name="node16.source-003.bullet"/>
            <p:cNvSpPr/>
            <p:nvPr/>
          </p:nvSpPr>
          <p:spPr>
            <a:xfrm>
              <a:off x="4381500" y="5168900"/>
              <a:ext cx="38100" cy="38100"/>
            </a:xfrm>
            <a:prstGeom prst="rect">
              <a:avLst/>
            </a:prstGeom>
            <a:solidFill>
              <a:srgbClr val="070154"/>
            </a:solidFill>
            <a:ln>
              <a:noFill/>
            </a:ln>
          </p:spPr>
        </p:sp>
        <p:sp>
          <p:nvSpPr>
            <p:cNvPr id="65" name="node16.source-003.text"/>
            <p:cNvSpPr/>
            <p:nvPr/>
          </p:nvSpPr>
          <p:spPr>
            <a:xfrm>
              <a:off x="4533900" y="5080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supervisors</a:t>
              </a:r>
              <a:endParaRPr lang="en-US" sz="1200" spc="0" kern="0" b="0" i="0" dirty="0">
                <a:solidFill>
                  <a:srgbClr val="070154"/>
                </a:solidFill>
                <a:latin typeface="IBM Plex Sans"/>
                <a:ea typeface="IBM Plex Sans"/>
                <a:cs typeface="IBM Plex Sans"/>
              </a:endParaRPr>
            </a:p>
          </p:txBody>
        </p:sp>
        <p:sp>
          <p:nvSpPr>
            <p:cNvPr id="66" name="node16.source-004.bullet"/>
            <p:cNvSpPr/>
            <p:nvPr/>
          </p:nvSpPr>
          <p:spPr>
            <a:xfrm>
              <a:off x="4381500" y="5422900"/>
              <a:ext cx="38100" cy="38100"/>
            </a:xfrm>
            <a:prstGeom prst="rect">
              <a:avLst/>
            </a:prstGeom>
            <a:solidFill>
              <a:srgbClr val="070154"/>
            </a:solidFill>
            <a:ln>
              <a:noFill/>
            </a:ln>
          </p:spPr>
        </p:sp>
        <p:sp>
          <p:nvSpPr>
            <p:cNvPr id="67" name="node16.source-004.text"/>
            <p:cNvSpPr/>
            <p:nvPr/>
          </p:nvSpPr>
          <p:spPr>
            <a:xfrm>
              <a:off x="4533900" y="5334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IT application owners</a:t>
              </a:r>
              <a:endParaRPr lang="en-US" sz="1200" spc="0" kern="0" b="0" i="0" dirty="0">
                <a:solidFill>
                  <a:srgbClr val="070154"/>
                </a:solidFill>
                <a:latin typeface="IBM Plex Sans"/>
                <a:ea typeface="IBM Plex Sans"/>
                <a:cs typeface="IBM Plex Sans"/>
              </a:endParaRPr>
            </a:p>
          </p:txBody>
        </p:sp>
      </p:grpSp>
      <p:grpSp>
        <p:nvGrpSpPr>
          <p:cNvPr id="90" name="node17"/>
          <p:cNvGrpSpPr/>
          <p:nvPr/>
        </p:nvGrpSpPr>
        <p:grpSpPr>
          <a:xfrm>
            <a:off x="8039100" y="4114800"/>
            <a:ext cx="3429000" cy="228600"/>
            <a:chOff x="8039100" y="4114800"/>
            <a:chExt cx="3429000" cy="228600"/>
          </a:xfrm>
        </p:grpSpPr>
        <p:sp>
          <p:nvSpPr>
            <p:cNvPr id="68" name="node17.label"/>
            <p:cNvSpPr/>
            <p:nvPr/>
          </p:nvSpPr>
          <p:spPr>
            <a:xfrm>
              <a:off x="8039100" y="4114800"/>
              <a:ext cx="556766"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PRE-WORK</a:t>
              </a:r>
              <a:endParaRPr lang="en-US" sz="800" spc="48" kern="0" b="0" i="0" dirty="0">
                <a:solidFill>
                  <a:srgbClr val="50658E"/>
                </a:solidFill>
                <a:latin typeface="IBM Plex Mono Medium"/>
                <a:ea typeface="IBM Plex Mono Medium"/>
                <a:cs typeface="IBM Plex Mono Medium"/>
              </a:endParaRPr>
            </a:p>
          </p:txBody>
        </p:sp>
        <p:sp>
          <p:nvSpPr>
            <p:cNvPr id="69" name="node17.rule"/>
            <p:cNvSpPr/>
            <p:nvPr/>
          </p:nvSpPr>
          <p:spPr>
            <a:xfrm>
              <a:off x="8722866" y="4224338"/>
              <a:ext cx="2745234" cy="9525"/>
            </a:xfrm>
            <a:prstGeom prst="rect">
              <a:avLst/>
            </a:prstGeom>
            <a:solidFill>
              <a:srgbClr val="CED7E6"/>
            </a:solidFill>
            <a:ln>
              <a:noFill/>
            </a:ln>
          </p:spPr>
        </p:sp>
      </p:grpSp>
      <p:sp>
        <p:nvSpPr>
          <p:cNvPr id="70" name="node18"/>
          <p:cNvSpPr/>
          <p:nvPr/>
        </p:nvSpPr>
        <p:spPr>
          <a:xfrm>
            <a:off x="8039100" y="4343400"/>
            <a:ext cx="3429000" cy="9525"/>
          </a:xfrm>
          <a:prstGeom prst="rect">
            <a:avLst/>
          </a:prstGeom>
          <a:solidFill>
            <a:srgbClr val="CED7E6"/>
          </a:solidFill>
          <a:ln>
            <a:noFill/>
          </a:ln>
        </p:spPr>
      </p:sp>
      <p:grpSp>
        <p:nvGrpSpPr>
          <p:cNvPr id="91" name="node19"/>
          <p:cNvGrpSpPr/>
          <p:nvPr/>
        </p:nvGrpSpPr>
        <p:grpSpPr>
          <a:xfrm>
            <a:off x="8039100" y="4572000"/>
            <a:ext cx="3429000" cy="977900"/>
            <a:chOff x="8039100" y="4572000"/>
            <a:chExt cx="3429000" cy="977900"/>
          </a:xfrm>
        </p:grpSpPr>
        <p:sp>
          <p:nvSpPr>
            <p:cNvPr id="71" name="node19.source-001.bullet"/>
            <p:cNvSpPr/>
            <p:nvPr/>
          </p:nvSpPr>
          <p:spPr>
            <a:xfrm>
              <a:off x="8039100" y="4660900"/>
              <a:ext cx="38100" cy="38100"/>
            </a:xfrm>
            <a:prstGeom prst="rect">
              <a:avLst/>
            </a:prstGeom>
            <a:solidFill>
              <a:srgbClr val="070154"/>
            </a:solidFill>
            <a:ln>
              <a:noFill/>
            </a:ln>
          </p:spPr>
        </p:sp>
        <p:sp>
          <p:nvSpPr>
            <p:cNvPr id="72" name="node19.source-001.text"/>
            <p:cNvSpPr/>
            <p:nvPr/>
          </p:nvSpPr>
          <p:spPr>
            <a:xfrm>
              <a:off x="8191500" y="4572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Review the Discovery readout (10 min)</a:t>
              </a:r>
              <a:endParaRPr lang="en-US" sz="1200" spc="0" kern="0" b="0" i="0" dirty="0">
                <a:solidFill>
                  <a:srgbClr val="070154"/>
                </a:solidFill>
                <a:latin typeface="IBM Plex Sans"/>
                <a:ea typeface="IBM Plex Sans"/>
                <a:cs typeface="IBM Plex Sans"/>
              </a:endParaRPr>
            </a:p>
          </p:txBody>
        </p:sp>
        <p:sp>
          <p:nvSpPr>
            <p:cNvPr id="73" name="node19.source-002.bullet"/>
            <p:cNvSpPr/>
            <p:nvPr/>
          </p:nvSpPr>
          <p:spPr>
            <a:xfrm>
              <a:off x="8039100" y="4914900"/>
              <a:ext cx="38100" cy="38100"/>
            </a:xfrm>
            <a:prstGeom prst="rect">
              <a:avLst/>
            </a:prstGeom>
            <a:solidFill>
              <a:srgbClr val="070154"/>
            </a:solidFill>
            <a:ln>
              <a:noFill/>
            </a:ln>
          </p:spPr>
        </p:sp>
        <p:sp>
          <p:nvSpPr>
            <p:cNvPr id="74" name="node19.source-002.text"/>
            <p:cNvSpPr/>
            <p:nvPr/>
          </p:nvSpPr>
          <p:spPr>
            <a:xfrm>
              <a:off x="8191500" y="4826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Bring one example of a failed visit</a:t>
              </a:r>
              <a:endParaRPr lang="en-US" sz="1200" spc="0" kern="0" b="0" i="0" dirty="0">
                <a:solidFill>
                  <a:srgbClr val="070154"/>
                </a:solidFill>
                <a:latin typeface="IBM Plex Sans"/>
                <a:ea typeface="IBM Plex Sans"/>
                <a:cs typeface="IBM Plex Sans"/>
              </a:endParaRPr>
            </a:p>
          </p:txBody>
        </p:sp>
        <p:sp>
          <p:nvSpPr>
            <p:cNvPr id="75" name="node19.source-003.bullet"/>
            <p:cNvSpPr/>
            <p:nvPr/>
          </p:nvSpPr>
          <p:spPr>
            <a:xfrm>
              <a:off x="8039100" y="5168900"/>
              <a:ext cx="38100" cy="38100"/>
            </a:xfrm>
            <a:prstGeom prst="rect">
              <a:avLst/>
            </a:prstGeom>
            <a:solidFill>
              <a:srgbClr val="070154"/>
            </a:solidFill>
            <a:ln>
              <a:noFill/>
            </a:ln>
          </p:spPr>
        </p:sp>
        <p:sp>
          <p:nvSpPr>
            <p:cNvPr id="76" name="node19.source-003.text"/>
            <p:cNvSpPr/>
            <p:nvPr/>
          </p:nvSpPr>
          <p:spPr>
            <a:xfrm>
              <a:off x="8191500" y="5080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Confirm your area's top two pain points</a:t>
              </a:r>
              <a:endParaRPr lang="en-US" sz="1200" spc="0" kern="0" b="0" i="0" dirty="0">
                <a:solidFill>
                  <a:srgbClr val="070154"/>
                </a:solidFill>
                <a:latin typeface="IBM Plex Sans"/>
                <a:ea typeface="IBM Plex Sans"/>
                <a:cs typeface="IBM Plex Sans"/>
              </a:endParaRPr>
            </a:p>
          </p:txBody>
        </p:sp>
        <p:sp>
          <p:nvSpPr>
            <p:cNvPr id="77" name="node19.source-004.bullet"/>
            <p:cNvSpPr/>
            <p:nvPr/>
          </p:nvSpPr>
          <p:spPr>
            <a:xfrm>
              <a:off x="8039100" y="5422900"/>
              <a:ext cx="38100" cy="38100"/>
            </a:xfrm>
            <a:prstGeom prst="rect">
              <a:avLst/>
            </a:prstGeom>
            <a:solidFill>
              <a:srgbClr val="070154"/>
            </a:solidFill>
            <a:ln>
              <a:noFill/>
            </a:ln>
          </p:spPr>
        </p:sp>
        <p:sp>
          <p:nvSpPr>
            <p:cNvPr id="78" name="node19.source-004.text"/>
            <p:cNvSpPr/>
            <p:nvPr/>
          </p:nvSpPr>
          <p:spPr>
            <a:xfrm>
              <a:off x="8191500" y="5334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Join by Oct 21 to test video</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ource-638">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tables, one morning: design the future state of access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164</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8077200" y="723900"/>
            <a:ext cx="3390900" cy="4635500"/>
            <a:chOff x="8077200" y="723900"/>
            <a:chExt cx="3390900" cy="4635500"/>
          </a:xfrm>
        </p:grpSpPr>
        <p:sp>
          <p:nvSpPr>
            <p:cNvPr id="6" name="node01.base"/>
            <p:cNvSpPr/>
            <p:nvPr/>
          </p:nvSpPr>
          <p:spPr>
            <a:xfrm>
              <a:off x="8153400" y="838200"/>
              <a:ext cx="0" cy="4191000"/>
            </a:xfrm>
            <a:custGeom>
              <a:avLst/>
              <a:gdLst/>
              <a:ahLst/>
              <a:cxnLst/>
              <a:rect l="l" t="t" r="r" b="b"/>
              <a:pathLst>
                <a:path h="4191000">
                  <a:moveTo>
                    <a:pt x="0" y="0"/>
                  </a:moveTo>
                  <a:lnTo>
                    <a:pt x="0" y="4191000"/>
                  </a:lnTo>
                </a:path>
              </a:pathLst>
            </a:custGeom>
            <a:ln w="25400">
              <a:solidFill>
                <a:srgbClr val="CED7E6"/>
              </a:solidFill>
              <a:prstDash val="solid"/>
            </a:ln>
          </p:spPr>
        </p:sp>
        <p:sp>
          <p:nvSpPr>
            <p:cNvPr id="7" name="node01.steps.slot-001.marker"/>
            <p:cNvSpPr/>
            <p:nvPr/>
          </p:nvSpPr>
          <p:spPr>
            <a:xfrm>
              <a:off x="8077200" y="762000"/>
              <a:ext cx="152400" cy="152400"/>
            </a:xfrm>
            <a:prstGeom prst="rect">
              <a:avLst/>
            </a:prstGeom>
            <a:solidFill>
              <a:srgbClr val="FFFFFF"/>
            </a:solidFill>
            <a:ln w="12700">
              <a:solidFill>
                <a:srgbClr val="070154"/>
              </a:solidFill>
              <a:prstDash val="solid"/>
            </a:ln>
          </p:spPr>
        </p:sp>
        <p:sp>
          <p:nvSpPr>
            <p:cNvPr id="8" name="node01.steps.slot-001.title"/>
            <p:cNvSpPr/>
            <p:nvPr/>
          </p:nvSpPr>
          <p:spPr>
            <a:xfrm>
              <a:off x="8496300" y="723900"/>
              <a:ext cx="1423988"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Welcome and goals</a:t>
              </a:r>
              <a:endParaRPr lang="en-US" sz="1200" spc="0" kern="0" b="0" i="0" dirty="0">
                <a:solidFill>
                  <a:srgbClr val="070154"/>
                </a:solidFill>
                <a:latin typeface="IBM Plex Sans SemiBold"/>
                <a:ea typeface="IBM Plex Sans SemiBold"/>
                <a:cs typeface="IBM Plex Sans SemiBold"/>
              </a:endParaRPr>
            </a:p>
          </p:txBody>
        </p:sp>
        <p:sp>
          <p:nvSpPr>
            <p:cNvPr id="9" name="node01.steps.slot-001.label"/>
            <p:cNvSpPr/>
            <p:nvPr/>
          </p:nvSpPr>
          <p:spPr>
            <a:xfrm>
              <a:off x="10072688" y="788416"/>
              <a:ext cx="291083"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9:00</a:t>
              </a:r>
              <a:endParaRPr lang="en-US" sz="800" spc="48" kern="0" b="0" i="0" dirty="0">
                <a:solidFill>
                  <a:srgbClr val="0047FF"/>
                </a:solidFill>
                <a:latin typeface="IBM Plex Mono Medium"/>
                <a:ea typeface="IBM Plex Mono Medium"/>
                <a:cs typeface="IBM Plex Mono Medium"/>
              </a:endParaRPr>
            </a:p>
          </p:txBody>
        </p:sp>
        <p:sp>
          <p:nvSpPr>
            <p:cNvPr id="10" name="node01.steps.slot-001.description.part-0"/>
            <p:cNvSpPr/>
            <p:nvPr/>
          </p:nvSpPr>
          <p:spPr>
            <a:xfrm>
              <a:off x="8496300" y="9779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Objectives and ground rules.</a:t>
              </a:r>
              <a:endParaRPr lang="en-US" sz="1100" spc="0" kern="0" b="0" i="0" dirty="0">
                <a:solidFill>
                  <a:srgbClr val="50658E"/>
                </a:solidFill>
                <a:latin typeface="IBM Plex Sans"/>
                <a:ea typeface="IBM Plex Sans"/>
                <a:cs typeface="IBM Plex Sans"/>
              </a:endParaRPr>
            </a:p>
          </p:txBody>
        </p:sp>
        <p:sp>
          <p:nvSpPr>
            <p:cNvPr id="11" name="node01.steps.slot-002.marker"/>
            <p:cNvSpPr/>
            <p:nvPr/>
          </p:nvSpPr>
          <p:spPr>
            <a:xfrm>
              <a:off x="8077200" y="1600200"/>
              <a:ext cx="152400" cy="152400"/>
            </a:xfrm>
            <a:prstGeom prst="rect">
              <a:avLst/>
            </a:prstGeom>
            <a:solidFill>
              <a:srgbClr val="FFFFFF"/>
            </a:solidFill>
            <a:ln w="12700">
              <a:solidFill>
                <a:srgbClr val="070154"/>
              </a:solidFill>
              <a:prstDash val="solid"/>
            </a:ln>
          </p:spPr>
        </p:sp>
        <p:sp>
          <p:nvSpPr>
            <p:cNvPr id="12" name="node01.steps.slot-002.title"/>
            <p:cNvSpPr/>
            <p:nvPr/>
          </p:nvSpPr>
          <p:spPr>
            <a:xfrm>
              <a:off x="8496300" y="1562100"/>
              <a:ext cx="1452563"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Current-state recap</a:t>
              </a:r>
              <a:endParaRPr lang="en-US" sz="1200" spc="0" kern="0" b="0" i="0" dirty="0">
                <a:solidFill>
                  <a:srgbClr val="070154"/>
                </a:solidFill>
                <a:latin typeface="IBM Plex Sans SemiBold"/>
                <a:ea typeface="IBM Plex Sans SemiBold"/>
                <a:cs typeface="IBM Plex Sans SemiBold"/>
              </a:endParaRPr>
            </a:p>
          </p:txBody>
        </p:sp>
        <p:sp>
          <p:nvSpPr>
            <p:cNvPr id="13" name="node01.steps.slot-002.label"/>
            <p:cNvSpPr/>
            <p:nvPr/>
          </p:nvSpPr>
          <p:spPr>
            <a:xfrm>
              <a:off x="10101263" y="1626616"/>
              <a:ext cx="291083"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9:15</a:t>
              </a:r>
              <a:endParaRPr lang="en-US" sz="800" spc="48" kern="0" b="0" i="0" dirty="0">
                <a:solidFill>
                  <a:srgbClr val="0047FF"/>
                </a:solidFill>
                <a:latin typeface="IBM Plex Mono Medium"/>
                <a:ea typeface="IBM Plex Mono Medium"/>
                <a:cs typeface="IBM Plex Mono Medium"/>
              </a:endParaRPr>
            </a:p>
          </p:txBody>
        </p:sp>
        <p:sp>
          <p:nvSpPr>
            <p:cNvPr id="14" name="node01.steps.slot-002.description.part-0"/>
            <p:cNvSpPr/>
            <p:nvPr/>
          </p:nvSpPr>
          <p:spPr>
            <a:xfrm>
              <a:off x="8496300" y="18161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What Discovery found.</a:t>
              </a:r>
              <a:endParaRPr lang="en-US" sz="1100" spc="0" kern="0" b="0" i="0" dirty="0">
                <a:solidFill>
                  <a:srgbClr val="50658E"/>
                </a:solidFill>
                <a:latin typeface="IBM Plex Sans"/>
                <a:ea typeface="IBM Plex Sans"/>
                <a:cs typeface="IBM Plex Sans"/>
              </a:endParaRPr>
            </a:p>
          </p:txBody>
        </p:sp>
        <p:sp>
          <p:nvSpPr>
            <p:cNvPr id="15" name="node01.steps.slot-003.marker"/>
            <p:cNvSpPr/>
            <p:nvPr/>
          </p:nvSpPr>
          <p:spPr>
            <a:xfrm>
              <a:off x="8077200" y="2438400"/>
              <a:ext cx="152400" cy="152400"/>
            </a:xfrm>
            <a:prstGeom prst="rect">
              <a:avLst/>
            </a:prstGeom>
            <a:solidFill>
              <a:srgbClr val="FFFFFF"/>
            </a:solidFill>
            <a:ln w="12700">
              <a:solidFill>
                <a:srgbClr val="070154"/>
              </a:solidFill>
              <a:prstDash val="solid"/>
            </a:ln>
          </p:spPr>
        </p:sp>
        <p:sp>
          <p:nvSpPr>
            <p:cNvPr id="16" name="node01.steps.slot-003.title"/>
            <p:cNvSpPr/>
            <p:nvPr/>
          </p:nvSpPr>
          <p:spPr>
            <a:xfrm>
              <a:off x="8496300" y="2400300"/>
              <a:ext cx="109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Design by area</a:t>
              </a:r>
              <a:endParaRPr lang="en-US" sz="1200" spc="0" kern="0" b="0" i="0" dirty="0">
                <a:solidFill>
                  <a:srgbClr val="070154"/>
                </a:solidFill>
                <a:latin typeface="IBM Plex Sans SemiBold"/>
                <a:ea typeface="IBM Plex Sans SemiBold"/>
                <a:cs typeface="IBM Plex Sans SemiBold"/>
              </a:endParaRPr>
            </a:p>
          </p:txBody>
        </p:sp>
        <p:sp>
          <p:nvSpPr>
            <p:cNvPr id="17" name="node01.steps.slot-003.label"/>
            <p:cNvSpPr/>
            <p:nvPr/>
          </p:nvSpPr>
          <p:spPr>
            <a:xfrm>
              <a:off x="9740900" y="2464816"/>
              <a:ext cx="291083"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9:45</a:t>
              </a:r>
              <a:endParaRPr lang="en-US" sz="800" spc="48" kern="0" b="0" i="0" dirty="0">
                <a:solidFill>
                  <a:srgbClr val="0047FF"/>
                </a:solidFill>
                <a:latin typeface="IBM Plex Mono Medium"/>
                <a:ea typeface="IBM Plex Mono Medium"/>
                <a:cs typeface="IBM Plex Mono Medium"/>
              </a:endParaRPr>
            </a:p>
          </p:txBody>
        </p:sp>
        <p:sp>
          <p:nvSpPr>
            <p:cNvPr id="18" name="node01.steps.slot-003.description.part-0"/>
            <p:cNvSpPr/>
            <p:nvPr/>
          </p:nvSpPr>
          <p:spPr>
            <a:xfrm>
              <a:off x="8496300" y="26543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Four breakout tables.</a:t>
              </a:r>
              <a:endParaRPr lang="en-US" sz="1100" spc="0" kern="0" b="0" i="0" dirty="0">
                <a:solidFill>
                  <a:srgbClr val="50658E"/>
                </a:solidFill>
                <a:latin typeface="IBM Plex Sans"/>
                <a:ea typeface="IBM Plex Sans"/>
                <a:cs typeface="IBM Plex Sans"/>
              </a:endParaRPr>
            </a:p>
          </p:txBody>
        </p:sp>
        <p:sp>
          <p:nvSpPr>
            <p:cNvPr id="19" name="node01.steps.slot-004.marker"/>
            <p:cNvSpPr/>
            <p:nvPr/>
          </p:nvSpPr>
          <p:spPr>
            <a:xfrm>
              <a:off x="8077200" y="3276600"/>
              <a:ext cx="152400" cy="152400"/>
            </a:xfrm>
            <a:prstGeom prst="rect">
              <a:avLst/>
            </a:prstGeom>
            <a:solidFill>
              <a:srgbClr val="FFFFFF"/>
            </a:solidFill>
            <a:ln w="12700">
              <a:solidFill>
                <a:srgbClr val="070154"/>
              </a:solidFill>
              <a:prstDash val="solid"/>
            </a:ln>
          </p:spPr>
        </p:sp>
        <p:sp>
          <p:nvSpPr>
            <p:cNvPr id="20" name="node01.steps.slot-004.title"/>
            <p:cNvSpPr/>
            <p:nvPr/>
          </p:nvSpPr>
          <p:spPr>
            <a:xfrm>
              <a:off x="8496300" y="3238500"/>
              <a:ext cx="1376363"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Playback and gaps</a:t>
              </a:r>
              <a:endParaRPr lang="en-US" sz="1200" spc="0" kern="0" b="0" i="0" dirty="0">
                <a:solidFill>
                  <a:srgbClr val="070154"/>
                </a:solidFill>
                <a:latin typeface="IBM Plex Sans SemiBold"/>
                <a:ea typeface="IBM Plex Sans SemiBold"/>
                <a:cs typeface="IBM Plex Sans SemiBold"/>
              </a:endParaRPr>
            </a:p>
          </p:txBody>
        </p:sp>
        <p:sp>
          <p:nvSpPr>
            <p:cNvPr id="21" name="node01.steps.slot-004.label"/>
            <p:cNvSpPr/>
            <p:nvPr/>
          </p:nvSpPr>
          <p:spPr>
            <a:xfrm>
              <a:off x="10025063" y="3303016"/>
              <a:ext cx="357504"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11:00</a:t>
              </a:r>
              <a:endParaRPr lang="en-US" sz="800" spc="48" kern="0" b="0" i="0" dirty="0">
                <a:solidFill>
                  <a:srgbClr val="0047FF"/>
                </a:solidFill>
                <a:latin typeface="IBM Plex Mono Medium"/>
                <a:ea typeface="IBM Plex Mono Medium"/>
                <a:cs typeface="IBM Plex Mono Medium"/>
              </a:endParaRPr>
            </a:p>
          </p:txBody>
        </p:sp>
        <p:sp>
          <p:nvSpPr>
            <p:cNvPr id="22" name="node01.steps.slot-004.description.part-0"/>
            <p:cNvSpPr/>
            <p:nvPr/>
          </p:nvSpPr>
          <p:spPr>
            <a:xfrm>
              <a:off x="8496300" y="34925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Each table reports back.</a:t>
              </a:r>
              <a:endParaRPr lang="en-US" sz="1100" spc="0" kern="0" b="0" i="0" dirty="0">
                <a:solidFill>
                  <a:srgbClr val="50658E"/>
                </a:solidFill>
                <a:latin typeface="IBM Plex Sans"/>
                <a:ea typeface="IBM Plex Sans"/>
                <a:cs typeface="IBM Plex Sans"/>
              </a:endParaRPr>
            </a:p>
          </p:txBody>
        </p:sp>
        <p:sp>
          <p:nvSpPr>
            <p:cNvPr id="23" name="node01.steps.slot-005.marker"/>
            <p:cNvSpPr/>
            <p:nvPr/>
          </p:nvSpPr>
          <p:spPr>
            <a:xfrm>
              <a:off x="8077200" y="4114800"/>
              <a:ext cx="152400" cy="152400"/>
            </a:xfrm>
            <a:prstGeom prst="rect">
              <a:avLst/>
            </a:prstGeom>
            <a:solidFill>
              <a:srgbClr val="FFFFFF"/>
            </a:solidFill>
            <a:ln w="12700">
              <a:solidFill>
                <a:srgbClr val="070154"/>
              </a:solidFill>
              <a:prstDash val="solid"/>
            </a:ln>
          </p:spPr>
        </p:sp>
        <p:sp>
          <p:nvSpPr>
            <p:cNvPr id="24" name="node01.steps.slot-005.title"/>
            <p:cNvSpPr/>
            <p:nvPr/>
          </p:nvSpPr>
          <p:spPr>
            <a:xfrm>
              <a:off x="8496300" y="4076700"/>
              <a:ext cx="728663"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Decisions</a:t>
              </a:r>
              <a:endParaRPr lang="en-US" sz="1200" spc="0" kern="0" b="0" i="0" dirty="0">
                <a:solidFill>
                  <a:srgbClr val="070154"/>
                </a:solidFill>
                <a:latin typeface="IBM Plex Sans SemiBold"/>
                <a:ea typeface="IBM Plex Sans SemiBold"/>
                <a:cs typeface="IBM Plex Sans SemiBold"/>
              </a:endParaRPr>
            </a:p>
          </p:txBody>
        </p:sp>
        <p:sp>
          <p:nvSpPr>
            <p:cNvPr id="25" name="node01.steps.slot-005.label"/>
            <p:cNvSpPr/>
            <p:nvPr/>
          </p:nvSpPr>
          <p:spPr>
            <a:xfrm>
              <a:off x="9377363" y="4141216"/>
              <a:ext cx="357504"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11:40</a:t>
              </a:r>
              <a:endParaRPr lang="en-US" sz="800" spc="48" kern="0" b="0" i="0" dirty="0">
                <a:solidFill>
                  <a:srgbClr val="0047FF"/>
                </a:solidFill>
                <a:latin typeface="IBM Plex Mono Medium"/>
                <a:ea typeface="IBM Plex Mono Medium"/>
                <a:cs typeface="IBM Plex Mono Medium"/>
              </a:endParaRPr>
            </a:p>
          </p:txBody>
        </p:sp>
        <p:sp>
          <p:nvSpPr>
            <p:cNvPr id="26" name="node01.steps.slot-005.description.part-0"/>
            <p:cNvSpPr/>
            <p:nvPr/>
          </p:nvSpPr>
          <p:spPr>
            <a:xfrm>
              <a:off x="8496300" y="43307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Owners and next steps.</a:t>
              </a:r>
              <a:endParaRPr lang="en-US" sz="1100" spc="0" kern="0" b="0" i="0" dirty="0">
                <a:solidFill>
                  <a:srgbClr val="50658E"/>
                </a:solidFill>
                <a:latin typeface="IBM Plex Sans"/>
                <a:ea typeface="IBM Plex Sans"/>
                <a:cs typeface="IBM Plex Sans"/>
              </a:endParaRPr>
            </a:p>
          </p:txBody>
        </p:sp>
        <p:sp>
          <p:nvSpPr>
            <p:cNvPr id="27" name="node01.steps.slot-006.marker"/>
            <p:cNvSpPr/>
            <p:nvPr/>
          </p:nvSpPr>
          <p:spPr>
            <a:xfrm>
              <a:off x="8077200" y="4953000"/>
              <a:ext cx="152400" cy="152400"/>
            </a:xfrm>
            <a:prstGeom prst="rect">
              <a:avLst/>
            </a:prstGeom>
            <a:solidFill>
              <a:srgbClr val="FFFFFF"/>
            </a:solidFill>
            <a:ln w="12700">
              <a:solidFill>
                <a:srgbClr val="070154"/>
              </a:solidFill>
              <a:prstDash val="solid"/>
            </a:ln>
          </p:spPr>
        </p:sp>
        <p:sp>
          <p:nvSpPr>
            <p:cNvPr id="28" name="node01.steps.slot-006.title"/>
            <p:cNvSpPr/>
            <p:nvPr/>
          </p:nvSpPr>
          <p:spPr>
            <a:xfrm>
              <a:off x="8496300" y="4914900"/>
              <a:ext cx="44132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Close</a:t>
              </a:r>
              <a:endParaRPr lang="en-US" sz="1200" spc="0" kern="0" b="0" i="0" dirty="0">
                <a:solidFill>
                  <a:srgbClr val="070154"/>
                </a:solidFill>
                <a:latin typeface="IBM Plex Sans SemiBold"/>
                <a:ea typeface="IBM Plex Sans SemiBold"/>
                <a:cs typeface="IBM Plex Sans SemiBold"/>
              </a:endParaRPr>
            </a:p>
          </p:txBody>
        </p:sp>
        <p:sp>
          <p:nvSpPr>
            <p:cNvPr id="29" name="node01.steps.slot-006.label"/>
            <p:cNvSpPr/>
            <p:nvPr/>
          </p:nvSpPr>
          <p:spPr>
            <a:xfrm>
              <a:off x="9090025" y="4979416"/>
              <a:ext cx="357504"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12:00</a:t>
              </a:r>
              <a:endParaRPr lang="en-US" sz="800" spc="48" kern="0" b="0" i="0" dirty="0">
                <a:solidFill>
                  <a:srgbClr val="0047FF"/>
                </a:solidFill>
                <a:latin typeface="IBM Plex Mono Medium"/>
                <a:ea typeface="IBM Plex Mono Medium"/>
                <a:cs typeface="IBM Plex Mono Medium"/>
              </a:endParaRPr>
            </a:p>
          </p:txBody>
        </p:sp>
        <p:sp>
          <p:nvSpPr>
            <p:cNvPr id="30" name="node01.steps.slot-006.description.part-0"/>
            <p:cNvSpPr/>
            <p:nvPr/>
          </p:nvSpPr>
          <p:spPr>
            <a:xfrm>
              <a:off x="8496300" y="51689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Confirm pre-work for session 3.</a:t>
              </a:r>
              <a:endParaRPr lang="en-US" sz="1100" spc="0" kern="0" b="0" i="0" dirty="0">
                <a:solidFill>
                  <a:srgbClr val="50658E"/>
                </a:solidFill>
                <a:latin typeface="IBM Plex Sans"/>
                <a:ea typeface="IBM Plex Sans"/>
                <a:cs typeface="IBM Plex Sans"/>
              </a:endParaRPr>
            </a:p>
          </p:txBody>
        </p:sp>
      </p:grpSp>
      <p:grpSp>
        <p:nvGrpSpPr>
          <p:cNvPr id="58" name="node02"/>
          <p:cNvGrpSpPr/>
          <p:nvPr/>
        </p:nvGrpSpPr>
        <p:grpSpPr>
          <a:xfrm>
            <a:off x="723900" y="2057400"/>
            <a:ext cx="7086600" cy="508000"/>
            <a:chOff x="723900" y="2057400"/>
            <a:chExt cx="7086600" cy="508000"/>
          </a:xfrm>
        </p:grpSpPr>
        <p:sp>
          <p:nvSpPr>
            <p:cNvPr id="31" name="node02.text"/>
            <p:cNvSpPr/>
            <p:nvPr/>
          </p:nvSpPr>
          <p:spPr>
            <a:xfrm>
              <a:off x="723900" y="2057400"/>
              <a:ext cx="7086600" cy="508000"/>
            </a:xfrm>
            <a:prstGeom prst="rect">
              <a:avLst/>
            </a:prstGeom>
            <a:noFill/>
            <a:ln/>
          </p:spPr>
          <p:txBody>
            <a:bodyPr wrap="square" lIns="0" tIns="0" rIns="0" bIns="0" rtlCol="0" anchor="t"/>
            <a:lstStyle/>
            <a:p>
              <a:pPr algn="l" indent="0" marL="0">
                <a:lnSpc>
                  <a:spcPts val="2000"/>
                </a:lnSpc>
                <a:buNone/>
              </a:pPr>
              <a:r>
                <a:rPr lang="en-US" sz="1400" spc="0" kern="0" b="0" i="0" dirty="0">
                  <a:solidFill>
                    <a:srgbClr val="070154"/>
                  </a:solidFill>
                  <a:latin typeface="IBM Plex Sans"/>
                  <a:ea typeface="IBM Plex Sans"/>
                  <a:cs typeface="IBM Plex Sans"/>
                </a:rPr>
                <a:t>Agree how patients will schedule, register, get estimates and avoid denials, with named owners by Oct 28.</a:t>
              </a:r>
              <a:endParaRPr lang="en-US" sz="1400" spc="0" kern="0" b="0" i="0" dirty="0">
                <a:solidFill>
                  <a:srgbClr val="070154"/>
                </a:solidFill>
                <a:latin typeface="IBM Plex Sans"/>
                <a:ea typeface="IBM Plex Sans"/>
                <a:cs typeface="IBM Plex Sans"/>
              </a:endParaRPr>
            </a:p>
          </p:txBody>
        </p:sp>
      </p:grpSp>
      <p:grpSp>
        <p:nvGrpSpPr>
          <p:cNvPr id="59" name="node03"/>
          <p:cNvGrpSpPr/>
          <p:nvPr/>
        </p:nvGrpSpPr>
        <p:grpSpPr>
          <a:xfrm>
            <a:off x="723900" y="2971800"/>
            <a:ext cx="7086600" cy="228600"/>
            <a:chOff x="723900" y="2971800"/>
            <a:chExt cx="7086600" cy="228600"/>
          </a:xfrm>
        </p:grpSpPr>
        <p:sp>
          <p:nvSpPr>
            <p:cNvPr id="32" name="node03.label"/>
            <p:cNvSpPr/>
            <p:nvPr/>
          </p:nvSpPr>
          <p:spPr>
            <a:xfrm>
              <a:off x="723900" y="2971800"/>
              <a:ext cx="95529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AREAS OF FOCUS</a:t>
              </a:r>
              <a:endParaRPr lang="en-US" sz="800" spc="48" kern="0" b="0" i="0" dirty="0">
                <a:solidFill>
                  <a:srgbClr val="50658E"/>
                </a:solidFill>
                <a:latin typeface="IBM Plex Mono Medium"/>
                <a:ea typeface="IBM Plex Mono Medium"/>
                <a:cs typeface="IBM Plex Mono Medium"/>
              </a:endParaRPr>
            </a:p>
          </p:txBody>
        </p:sp>
        <p:sp>
          <p:nvSpPr>
            <p:cNvPr id="33" name="node03.rule"/>
            <p:cNvSpPr/>
            <p:nvPr/>
          </p:nvSpPr>
          <p:spPr>
            <a:xfrm>
              <a:off x="1806191" y="3081338"/>
              <a:ext cx="6004309" cy="9525"/>
            </a:xfrm>
            <a:prstGeom prst="rect">
              <a:avLst/>
            </a:prstGeom>
            <a:solidFill>
              <a:srgbClr val="CED7E6"/>
            </a:solidFill>
            <a:ln>
              <a:noFill/>
            </a:ln>
          </p:spPr>
        </p:sp>
      </p:grpSp>
      <p:sp>
        <p:nvSpPr>
          <p:cNvPr id="34" name="node04"/>
          <p:cNvSpPr/>
          <p:nvPr/>
        </p:nvSpPr>
        <p:spPr>
          <a:xfrm>
            <a:off x="723900" y="3200400"/>
            <a:ext cx="7086600" cy="9525"/>
          </a:xfrm>
          <a:prstGeom prst="rect">
            <a:avLst/>
          </a:prstGeom>
          <a:solidFill>
            <a:srgbClr val="CED7E6"/>
          </a:solidFill>
          <a:ln>
            <a:noFill/>
          </a:ln>
        </p:spPr>
      </p:sp>
      <p:grpSp>
        <p:nvGrpSpPr>
          <p:cNvPr id="60" name="node05"/>
          <p:cNvGrpSpPr/>
          <p:nvPr/>
        </p:nvGrpSpPr>
        <p:grpSpPr>
          <a:xfrm>
            <a:off x="723900" y="3429000"/>
            <a:ext cx="3429000" cy="901700"/>
            <a:chOff x="723900" y="3429000"/>
            <a:chExt cx="3429000" cy="901700"/>
          </a:xfrm>
        </p:grpSpPr>
        <p:sp>
          <p:nvSpPr>
            <p:cNvPr id="35" name="node05.source-001.bullet"/>
            <p:cNvSpPr/>
            <p:nvPr/>
          </p:nvSpPr>
          <p:spPr>
            <a:xfrm>
              <a:off x="723900" y="3517900"/>
              <a:ext cx="38100" cy="38100"/>
            </a:xfrm>
            <a:prstGeom prst="rect">
              <a:avLst/>
            </a:prstGeom>
            <a:solidFill>
              <a:srgbClr val="070154"/>
            </a:solidFill>
            <a:ln>
              <a:noFill/>
            </a:ln>
          </p:spPr>
        </p:sp>
        <p:sp>
          <p:nvSpPr>
            <p:cNvPr id="36" name="node05.source-001.text"/>
            <p:cNvSpPr/>
            <p:nvPr/>
          </p:nvSpPr>
          <p:spPr>
            <a:xfrm>
              <a:off x="876300" y="34290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Scheduling.</a:t>
              </a:r>
              <a:r>
                <a:rPr lang="en-US" sz="1200" spc="0" kern="0" b="0" i="0" dirty="0">
                  <a:solidFill>
                    <a:srgbClr val="50658E"/>
                  </a:solidFill>
                  <a:latin typeface="IBM Plex Sans"/>
                  <a:ea typeface="IBM Plex Sans"/>
                  <a:cs typeface="IBM Plex Sans"/>
                </a:rPr>
                <a:t xml:space="preserve"> One front door and one template for every service line.</a:t>
              </a:r>
              <a:endParaRPr lang="en-US" sz="1200" spc="0" kern="0" b="0" i="0" dirty="0">
                <a:solidFill>
                  <a:srgbClr val="070154"/>
                </a:solidFill>
                <a:latin typeface="IBM Plex Sans"/>
                <a:ea typeface="IBM Plex Sans"/>
                <a:cs typeface="IBM Plex Sans"/>
              </a:endParaRPr>
            </a:p>
          </p:txBody>
        </p:sp>
        <p:sp>
          <p:nvSpPr>
            <p:cNvPr id="37" name="node05.source-002.bullet"/>
            <p:cNvSpPr/>
            <p:nvPr/>
          </p:nvSpPr>
          <p:spPr>
            <a:xfrm>
              <a:off x="723900" y="3987800"/>
              <a:ext cx="38100" cy="38100"/>
            </a:xfrm>
            <a:prstGeom prst="rect">
              <a:avLst/>
            </a:prstGeom>
            <a:solidFill>
              <a:srgbClr val="070154"/>
            </a:solidFill>
            <a:ln>
              <a:noFill/>
            </a:ln>
          </p:spPr>
        </p:sp>
        <p:sp>
          <p:nvSpPr>
            <p:cNvPr id="38" name="node05.source-002.text"/>
            <p:cNvSpPr/>
            <p:nvPr/>
          </p:nvSpPr>
          <p:spPr>
            <a:xfrm>
              <a:off x="876300" y="38989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Registration.</a:t>
              </a:r>
              <a:r>
                <a:rPr lang="en-US" sz="1200" spc="0" kern="0" b="0" i="0" dirty="0">
                  <a:solidFill>
                    <a:srgbClr val="50658E"/>
                  </a:solidFill>
                  <a:latin typeface="IBM Plex Sans"/>
                  <a:ea typeface="IBM Plex Sans"/>
                  <a:cs typeface="IBM Plex Sans"/>
                </a:rPr>
                <a:t xml:space="preserve"> Capture insurance and consent once, before arrival.</a:t>
              </a:r>
              <a:endParaRPr lang="en-US" sz="1200" spc="0" kern="0" b="0" i="0" dirty="0">
                <a:solidFill>
                  <a:srgbClr val="070154"/>
                </a:solidFill>
                <a:latin typeface="IBM Plex Sans"/>
                <a:ea typeface="IBM Plex Sans"/>
                <a:cs typeface="IBM Plex Sans"/>
              </a:endParaRPr>
            </a:p>
          </p:txBody>
        </p:sp>
      </p:grpSp>
      <p:grpSp>
        <p:nvGrpSpPr>
          <p:cNvPr id="61" name="node06"/>
          <p:cNvGrpSpPr/>
          <p:nvPr/>
        </p:nvGrpSpPr>
        <p:grpSpPr>
          <a:xfrm>
            <a:off x="4381500" y="3429000"/>
            <a:ext cx="3429000" cy="901700"/>
            <a:chOff x="4381500" y="3429000"/>
            <a:chExt cx="3429000" cy="901700"/>
          </a:xfrm>
        </p:grpSpPr>
        <p:sp>
          <p:nvSpPr>
            <p:cNvPr id="39" name="node06.source-001.bullet"/>
            <p:cNvSpPr/>
            <p:nvPr/>
          </p:nvSpPr>
          <p:spPr>
            <a:xfrm>
              <a:off x="4381500" y="3517900"/>
              <a:ext cx="38100" cy="38100"/>
            </a:xfrm>
            <a:prstGeom prst="rect">
              <a:avLst/>
            </a:prstGeom>
            <a:solidFill>
              <a:srgbClr val="070154"/>
            </a:solidFill>
            <a:ln>
              <a:noFill/>
            </a:ln>
          </p:spPr>
        </p:sp>
        <p:sp>
          <p:nvSpPr>
            <p:cNvPr id="40" name="node06.source-001.text"/>
            <p:cNvSpPr/>
            <p:nvPr/>
          </p:nvSpPr>
          <p:spPr>
            <a:xfrm>
              <a:off x="4533900" y="34290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Estimates.</a:t>
              </a:r>
              <a:r>
                <a:rPr lang="en-US" sz="1200" spc="0" kern="0" b="0" i="0" dirty="0">
                  <a:solidFill>
                    <a:srgbClr val="50658E"/>
                  </a:solidFill>
                  <a:latin typeface="IBM Plex Sans"/>
                  <a:ea typeface="IBM Plex Sans"/>
                  <a:cs typeface="IBM Plex Sans"/>
                </a:rPr>
                <a:t xml:space="preserve"> A price patients can rely on before they book.</a:t>
              </a:r>
              <a:endParaRPr lang="en-US" sz="1200" spc="0" kern="0" b="0" i="0" dirty="0">
                <a:solidFill>
                  <a:srgbClr val="070154"/>
                </a:solidFill>
                <a:latin typeface="IBM Plex Sans"/>
                <a:ea typeface="IBM Plex Sans"/>
                <a:cs typeface="IBM Plex Sans"/>
              </a:endParaRPr>
            </a:p>
          </p:txBody>
        </p:sp>
        <p:sp>
          <p:nvSpPr>
            <p:cNvPr id="41" name="node06.source-002.bullet"/>
            <p:cNvSpPr/>
            <p:nvPr/>
          </p:nvSpPr>
          <p:spPr>
            <a:xfrm>
              <a:off x="4381500" y="3987800"/>
              <a:ext cx="38100" cy="38100"/>
            </a:xfrm>
            <a:prstGeom prst="rect">
              <a:avLst/>
            </a:prstGeom>
            <a:solidFill>
              <a:srgbClr val="070154"/>
            </a:solidFill>
            <a:ln>
              <a:noFill/>
            </a:ln>
          </p:spPr>
        </p:sp>
        <p:sp>
          <p:nvSpPr>
            <p:cNvPr id="42" name="node06.source-002.text"/>
            <p:cNvSpPr/>
            <p:nvPr/>
          </p:nvSpPr>
          <p:spPr>
            <a:xfrm>
              <a:off x="4533900" y="38989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Denials.</a:t>
              </a:r>
              <a:r>
                <a:rPr lang="en-US" sz="1200" spc="0" kern="0" b="0" i="0" dirty="0">
                  <a:solidFill>
                    <a:srgbClr val="50658E"/>
                  </a:solidFill>
                  <a:latin typeface="IBM Plex Sans"/>
                  <a:ea typeface="IBM Plex Sans"/>
                  <a:cs typeface="IBM Plex Sans"/>
                </a:rPr>
                <a:t xml:space="preserve"> Stop front-end causes before the claim is sent.</a:t>
              </a:r>
              <a:endParaRPr lang="en-US" sz="1200" spc="0" kern="0" b="0" i="0" dirty="0">
                <a:solidFill>
                  <a:srgbClr val="070154"/>
                </a:solidFill>
                <a:latin typeface="IBM Plex Sans"/>
                <a:ea typeface="IBM Plex Sans"/>
                <a:cs typeface="IBM Plex Sans"/>
              </a:endParaRPr>
            </a:p>
          </p:txBody>
        </p:sp>
      </p:grpSp>
      <p:grpSp>
        <p:nvGrpSpPr>
          <p:cNvPr id="62" name="node07"/>
          <p:cNvGrpSpPr/>
          <p:nvPr/>
        </p:nvGrpSpPr>
        <p:grpSpPr>
          <a:xfrm>
            <a:off x="723900" y="4800600"/>
            <a:ext cx="3429000" cy="228600"/>
            <a:chOff x="723900" y="4800600"/>
            <a:chExt cx="3429000" cy="228600"/>
          </a:xfrm>
        </p:grpSpPr>
        <p:sp>
          <p:nvSpPr>
            <p:cNvPr id="43" name="node07.label"/>
            <p:cNvSpPr/>
            <p:nvPr/>
          </p:nvSpPr>
          <p:spPr>
            <a:xfrm>
              <a:off x="723900" y="4800600"/>
              <a:ext cx="1619498"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WHAT YOU WILL LEAVE WITH</a:t>
              </a:r>
              <a:endParaRPr lang="en-US" sz="800" spc="48" kern="0" b="0" i="0" dirty="0">
                <a:solidFill>
                  <a:srgbClr val="50658E"/>
                </a:solidFill>
                <a:latin typeface="IBM Plex Mono Medium"/>
                <a:ea typeface="IBM Plex Mono Medium"/>
                <a:cs typeface="IBM Plex Mono Medium"/>
              </a:endParaRPr>
            </a:p>
          </p:txBody>
        </p:sp>
        <p:sp>
          <p:nvSpPr>
            <p:cNvPr id="44" name="node07.rule"/>
            <p:cNvSpPr/>
            <p:nvPr/>
          </p:nvSpPr>
          <p:spPr>
            <a:xfrm>
              <a:off x="2470398" y="4910138"/>
              <a:ext cx="1682502" cy="9525"/>
            </a:xfrm>
            <a:prstGeom prst="rect">
              <a:avLst/>
            </a:prstGeom>
            <a:solidFill>
              <a:srgbClr val="CED7E6"/>
            </a:solidFill>
            <a:ln>
              <a:noFill/>
            </a:ln>
          </p:spPr>
        </p:sp>
      </p:grpSp>
      <p:sp>
        <p:nvSpPr>
          <p:cNvPr id="45" name="node08"/>
          <p:cNvSpPr/>
          <p:nvPr/>
        </p:nvSpPr>
        <p:spPr>
          <a:xfrm>
            <a:off x="723900" y="5029200"/>
            <a:ext cx="3429000" cy="9525"/>
          </a:xfrm>
          <a:prstGeom prst="rect">
            <a:avLst/>
          </a:prstGeom>
          <a:solidFill>
            <a:srgbClr val="CED7E6"/>
          </a:solidFill>
          <a:ln>
            <a:noFill/>
          </a:ln>
        </p:spPr>
      </p:sp>
      <p:grpSp>
        <p:nvGrpSpPr>
          <p:cNvPr id="63" name="node09"/>
          <p:cNvGrpSpPr/>
          <p:nvPr/>
        </p:nvGrpSpPr>
        <p:grpSpPr>
          <a:xfrm>
            <a:off x="723900" y="5257800"/>
            <a:ext cx="3429000" cy="469900"/>
            <a:chOff x="723900" y="5257800"/>
            <a:chExt cx="3429000" cy="469900"/>
          </a:xfrm>
        </p:grpSpPr>
        <p:sp>
          <p:nvSpPr>
            <p:cNvPr id="46" name="node09.source-001.bullet"/>
            <p:cNvSpPr/>
            <p:nvPr/>
          </p:nvSpPr>
          <p:spPr>
            <a:xfrm>
              <a:off x="723900" y="5346700"/>
              <a:ext cx="38100" cy="38100"/>
            </a:xfrm>
            <a:prstGeom prst="rect">
              <a:avLst/>
            </a:prstGeom>
            <a:solidFill>
              <a:srgbClr val="070154"/>
            </a:solidFill>
            <a:ln>
              <a:noFill/>
            </a:ln>
          </p:spPr>
        </p:sp>
        <p:sp>
          <p:nvSpPr>
            <p:cNvPr id="47" name="node09.source-001.text"/>
            <p:cNvSpPr/>
            <p:nvPr/>
          </p:nvSpPr>
          <p:spPr>
            <a:xfrm>
              <a:off x="876300" y="5257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Future-state process per area</a:t>
              </a:r>
              <a:endParaRPr lang="en-US" sz="1200" spc="0" kern="0" b="0" i="0" dirty="0">
                <a:solidFill>
                  <a:srgbClr val="070154"/>
                </a:solidFill>
                <a:latin typeface="IBM Plex Sans"/>
                <a:ea typeface="IBM Plex Sans"/>
                <a:cs typeface="IBM Plex Sans"/>
              </a:endParaRPr>
            </a:p>
          </p:txBody>
        </p:sp>
        <p:sp>
          <p:nvSpPr>
            <p:cNvPr id="48" name="node09.source-002.bullet"/>
            <p:cNvSpPr/>
            <p:nvPr/>
          </p:nvSpPr>
          <p:spPr>
            <a:xfrm>
              <a:off x="723900" y="5600700"/>
              <a:ext cx="38100" cy="38100"/>
            </a:xfrm>
            <a:prstGeom prst="rect">
              <a:avLst/>
            </a:prstGeom>
            <a:solidFill>
              <a:srgbClr val="070154"/>
            </a:solidFill>
            <a:ln>
              <a:noFill/>
            </a:ln>
          </p:spPr>
        </p:sp>
        <p:sp>
          <p:nvSpPr>
            <p:cNvPr id="49" name="node09.source-002.text"/>
            <p:cNvSpPr/>
            <p:nvPr/>
          </p:nvSpPr>
          <p:spPr>
            <a:xfrm>
              <a:off x="876300" y="5511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Decisions log and a ranked list</a:t>
              </a:r>
              <a:endParaRPr lang="en-US" sz="1200" spc="0" kern="0" b="0" i="0" dirty="0">
                <a:solidFill>
                  <a:srgbClr val="070154"/>
                </a:solidFill>
                <a:latin typeface="IBM Plex Sans"/>
                <a:ea typeface="IBM Plex Sans"/>
                <a:cs typeface="IBM Plex Sans"/>
              </a:endParaRPr>
            </a:p>
          </p:txBody>
        </p:sp>
      </p:grpSp>
      <p:grpSp>
        <p:nvGrpSpPr>
          <p:cNvPr id="64" name="node10"/>
          <p:cNvGrpSpPr/>
          <p:nvPr/>
        </p:nvGrpSpPr>
        <p:grpSpPr>
          <a:xfrm>
            <a:off x="4381500" y="4800600"/>
            <a:ext cx="3429000" cy="228600"/>
            <a:chOff x="4381500" y="4800600"/>
            <a:chExt cx="3429000" cy="228600"/>
          </a:xfrm>
        </p:grpSpPr>
        <p:sp>
          <p:nvSpPr>
            <p:cNvPr id="50" name="node10.label"/>
            <p:cNvSpPr/>
            <p:nvPr/>
          </p:nvSpPr>
          <p:spPr>
            <a:xfrm>
              <a:off x="4381500" y="4800600"/>
              <a:ext cx="1685919"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WHO ATTENDS, AND PRE-WORK</a:t>
              </a:r>
              <a:endParaRPr lang="en-US" sz="800" spc="48" kern="0" b="0" i="0" dirty="0">
                <a:solidFill>
                  <a:srgbClr val="50658E"/>
                </a:solidFill>
                <a:latin typeface="IBM Plex Mono Medium"/>
                <a:ea typeface="IBM Plex Mono Medium"/>
                <a:cs typeface="IBM Plex Mono Medium"/>
              </a:endParaRPr>
            </a:p>
          </p:txBody>
        </p:sp>
        <p:sp>
          <p:nvSpPr>
            <p:cNvPr id="51" name="node10.rule"/>
            <p:cNvSpPr/>
            <p:nvPr/>
          </p:nvSpPr>
          <p:spPr>
            <a:xfrm>
              <a:off x="6194419" y="4910138"/>
              <a:ext cx="1616081" cy="9525"/>
            </a:xfrm>
            <a:prstGeom prst="rect">
              <a:avLst/>
            </a:prstGeom>
            <a:solidFill>
              <a:srgbClr val="CED7E6"/>
            </a:solidFill>
            <a:ln>
              <a:noFill/>
            </a:ln>
          </p:spPr>
        </p:sp>
      </p:grpSp>
      <p:sp>
        <p:nvSpPr>
          <p:cNvPr id="52" name="node11"/>
          <p:cNvSpPr/>
          <p:nvPr/>
        </p:nvSpPr>
        <p:spPr>
          <a:xfrm>
            <a:off x="4381500" y="5029200"/>
            <a:ext cx="3429000" cy="9525"/>
          </a:xfrm>
          <a:prstGeom prst="rect">
            <a:avLst/>
          </a:prstGeom>
          <a:solidFill>
            <a:srgbClr val="CED7E6"/>
          </a:solidFill>
          <a:ln>
            <a:noFill/>
          </a:ln>
        </p:spPr>
      </p:sp>
      <p:grpSp>
        <p:nvGrpSpPr>
          <p:cNvPr id="65" name="node12"/>
          <p:cNvGrpSpPr/>
          <p:nvPr/>
        </p:nvGrpSpPr>
        <p:grpSpPr>
          <a:xfrm>
            <a:off x="4381500" y="5257800"/>
            <a:ext cx="3429000" cy="469900"/>
            <a:chOff x="4381500" y="5257800"/>
            <a:chExt cx="3429000" cy="469900"/>
          </a:xfrm>
        </p:grpSpPr>
        <p:sp>
          <p:nvSpPr>
            <p:cNvPr id="53" name="node12.source-001.bullet"/>
            <p:cNvSpPr/>
            <p:nvPr/>
          </p:nvSpPr>
          <p:spPr>
            <a:xfrm>
              <a:off x="4381500" y="5346700"/>
              <a:ext cx="38100" cy="38100"/>
            </a:xfrm>
            <a:prstGeom prst="rect">
              <a:avLst/>
            </a:prstGeom>
            <a:solidFill>
              <a:srgbClr val="070154"/>
            </a:solidFill>
            <a:ln>
              <a:noFill/>
            </a:ln>
          </p:spPr>
        </p:sp>
        <p:sp>
          <p:nvSpPr>
            <p:cNvPr id="54" name="node12.source-001.text"/>
            <p:cNvSpPr/>
            <p:nvPr/>
          </p:nvSpPr>
          <p:spPr>
            <a:xfrm>
              <a:off x="4533900" y="5257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Access, revenue cycle, IT and registration leads</a:t>
              </a:r>
              <a:endParaRPr lang="en-US" sz="1200" spc="0" kern="0" b="0" i="0" dirty="0">
                <a:solidFill>
                  <a:srgbClr val="070154"/>
                </a:solidFill>
                <a:latin typeface="IBM Plex Sans"/>
                <a:ea typeface="IBM Plex Sans"/>
                <a:cs typeface="IBM Plex Sans"/>
              </a:endParaRPr>
            </a:p>
          </p:txBody>
        </p:sp>
        <p:sp>
          <p:nvSpPr>
            <p:cNvPr id="55" name="node12.source-002.bullet"/>
            <p:cNvSpPr/>
            <p:nvPr/>
          </p:nvSpPr>
          <p:spPr>
            <a:xfrm>
              <a:off x="4381500" y="5600700"/>
              <a:ext cx="38100" cy="38100"/>
            </a:xfrm>
            <a:prstGeom prst="rect">
              <a:avLst/>
            </a:prstGeom>
            <a:solidFill>
              <a:srgbClr val="070154"/>
            </a:solidFill>
            <a:ln>
              <a:noFill/>
            </a:ln>
          </p:spPr>
        </p:sp>
        <p:sp>
          <p:nvSpPr>
            <p:cNvPr id="56" name="node12.source-002.text"/>
            <p:cNvSpPr/>
            <p:nvPr/>
          </p:nvSpPr>
          <p:spPr>
            <a:xfrm>
              <a:off x="4533900" y="5511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Read the Discovery readout first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ource-63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2 OF 4</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Workshop 2 designs the future state of access</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314450"/>
          </a:xfrm>
          <a:prstGeom prst="rect">
            <a:avLst/>
          </a:prstGeom>
          <a:solidFill>
            <a:srgbClr val="E8EEF8"/>
          </a:solidFill>
          <a:ln>
            <a:noFill/>
          </a:ln>
        </p:spPr>
      </p:sp>
      <p:sp>
        <p:nvSpPr>
          <p:cNvPr id="6"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DISCOVERY</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847850"/>
            <a:ext cx="228600" cy="1314450"/>
          </a:xfrm>
          <a:prstGeom prst="rect">
            <a:avLst/>
          </a:prstGeom>
          <a:solidFill>
            <a:srgbClr val="070154"/>
          </a:solidFill>
          <a:ln>
            <a:noFill/>
          </a:ln>
        </p:spPr>
      </p:sp>
      <p:sp>
        <p:nvSpPr>
          <p:cNvPr id="8"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FUTURE STATE</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3238500"/>
            <a:ext cx="228600" cy="1314450"/>
          </a:xfrm>
          <a:prstGeom prst="rect">
            <a:avLst/>
          </a:prstGeom>
          <a:solidFill>
            <a:srgbClr val="E8EEF8"/>
          </a:solidFill>
          <a:ln>
            <a:noFill/>
          </a:ln>
        </p:spPr>
      </p:sp>
      <p:sp>
        <p:nvSpPr>
          <p:cNvPr id="10"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PRIORITIZE</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4629150"/>
            <a:ext cx="228600" cy="1314450"/>
          </a:xfrm>
          <a:prstGeom prst="rect">
            <a:avLst/>
          </a:prstGeom>
          <a:solidFill>
            <a:srgbClr val="E8EEF8"/>
          </a:solidFill>
          <a:ln>
            <a:noFill/>
          </a:ln>
        </p:spPr>
      </p:sp>
      <p:sp>
        <p:nvSpPr>
          <p:cNvPr id="12"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ROADMAP</a:t>
            </a:r>
            <a:endParaRPr lang="en-US" sz="800" spc="80" kern="0" b="0" i="0" dirty="0">
              <a:solidFill>
                <a:srgbClr val="50658E"/>
              </a:solidFill>
              <a:latin typeface="IBM Plex Mono SemiBold"/>
              <a:ea typeface="IBM Plex Mono SemiBold"/>
              <a:cs typeface="IBM Plex Mono SemiBold"/>
            </a:endParaRPr>
          </a:p>
        </p:txBody>
      </p:sp>
      <p:sp>
        <p:nvSpPr>
          <p:cNvPr id="1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165</a:t>
            </a:fld>
            <a:endParaRPr lang="en-US" sz="700" spc="0" kern="0" b="0" i="0" dirty="0">
              <a:solidFill>
                <a:srgbClr val="070154"/>
              </a:solidFill>
              <a:latin typeface="IBM Plex Mono SemiBold"/>
              <a:ea typeface="IBM Plex Mono SemiBold"/>
              <a:cs typeface="IBM Plex Mono SemiBold"/>
            </a:endParaRPr>
          </a:p>
        </p:txBody>
      </p:sp>
      <p:grpSp>
        <p:nvGrpSpPr>
          <p:cNvPr id="78" name="node01"/>
          <p:cNvGrpSpPr/>
          <p:nvPr/>
        </p:nvGrpSpPr>
        <p:grpSpPr>
          <a:xfrm>
            <a:off x="723900" y="1600200"/>
            <a:ext cx="3429000" cy="228600"/>
            <a:chOff x="723900" y="1600200"/>
            <a:chExt cx="3429000" cy="228600"/>
          </a:xfrm>
        </p:grpSpPr>
        <p:sp>
          <p:nvSpPr>
            <p:cNvPr id="14" name="node01.label"/>
            <p:cNvSpPr/>
            <p:nvPr/>
          </p:nvSpPr>
          <p:spPr>
            <a:xfrm>
              <a:off x="723900" y="1600200"/>
              <a:ext cx="490345"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PURPOSE</a:t>
              </a:r>
              <a:endParaRPr lang="en-US" sz="800" spc="48" kern="0" b="0" i="0" dirty="0">
                <a:solidFill>
                  <a:srgbClr val="50658E"/>
                </a:solidFill>
                <a:latin typeface="IBM Plex Mono Medium"/>
                <a:ea typeface="IBM Plex Mono Medium"/>
                <a:cs typeface="IBM Plex Mono Medium"/>
              </a:endParaRPr>
            </a:p>
          </p:txBody>
        </p:sp>
        <p:sp>
          <p:nvSpPr>
            <p:cNvPr id="15" name="node01.rule"/>
            <p:cNvSpPr/>
            <p:nvPr/>
          </p:nvSpPr>
          <p:spPr>
            <a:xfrm>
              <a:off x="1341245" y="1709738"/>
              <a:ext cx="2811655" cy="9525"/>
            </a:xfrm>
            <a:prstGeom prst="rect">
              <a:avLst/>
            </a:prstGeom>
            <a:solidFill>
              <a:srgbClr val="CED7E6"/>
            </a:solidFill>
            <a:ln>
              <a:noFill/>
            </a:ln>
          </p:spPr>
        </p:sp>
      </p:grpSp>
      <p:sp>
        <p:nvSpPr>
          <p:cNvPr id="16" name="node02"/>
          <p:cNvSpPr/>
          <p:nvPr/>
        </p:nvSpPr>
        <p:spPr>
          <a:xfrm>
            <a:off x="723900" y="1828800"/>
            <a:ext cx="3429000" cy="9525"/>
          </a:xfrm>
          <a:prstGeom prst="rect">
            <a:avLst/>
          </a:prstGeom>
          <a:solidFill>
            <a:srgbClr val="CED7E6"/>
          </a:solidFill>
          <a:ln>
            <a:noFill/>
          </a:ln>
        </p:spPr>
      </p:sp>
      <p:grpSp>
        <p:nvGrpSpPr>
          <p:cNvPr id="79" name="node03"/>
          <p:cNvGrpSpPr/>
          <p:nvPr/>
        </p:nvGrpSpPr>
        <p:grpSpPr>
          <a:xfrm>
            <a:off x="723900" y="2057400"/>
            <a:ext cx="3429000" cy="381000"/>
            <a:chOff x="723900" y="2057400"/>
            <a:chExt cx="3429000" cy="381000"/>
          </a:xfrm>
        </p:grpSpPr>
        <p:sp>
          <p:nvSpPr>
            <p:cNvPr id="17" name="node03.text"/>
            <p:cNvSpPr/>
            <p:nvPr/>
          </p:nvSpPr>
          <p:spPr>
            <a:xfrm>
              <a:off x="723900" y="20574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Turn the Discovery findings into one future-state design for each access area.</a:t>
              </a:r>
              <a:endParaRPr lang="en-US" sz="1100" spc="0" kern="0" b="0" i="0" dirty="0">
                <a:solidFill>
                  <a:srgbClr val="070154"/>
                </a:solidFill>
                <a:latin typeface="IBM Plex Sans"/>
                <a:ea typeface="IBM Plex Sans"/>
                <a:cs typeface="IBM Plex Sans"/>
              </a:endParaRPr>
            </a:p>
          </p:txBody>
        </p:sp>
      </p:grpSp>
      <p:grpSp>
        <p:nvGrpSpPr>
          <p:cNvPr id="80" name="node04"/>
          <p:cNvGrpSpPr/>
          <p:nvPr/>
        </p:nvGrpSpPr>
        <p:grpSpPr>
          <a:xfrm>
            <a:off x="4381500" y="1600200"/>
            <a:ext cx="3429000" cy="228600"/>
            <a:chOff x="4381500" y="1600200"/>
            <a:chExt cx="3429000" cy="228600"/>
          </a:xfrm>
        </p:grpSpPr>
        <p:sp>
          <p:nvSpPr>
            <p:cNvPr id="18" name="node04.label"/>
            <p:cNvSpPr/>
            <p:nvPr/>
          </p:nvSpPr>
          <p:spPr>
            <a:xfrm>
              <a:off x="4381500" y="1600200"/>
              <a:ext cx="62318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LOGISTICS</a:t>
              </a:r>
              <a:endParaRPr lang="en-US" sz="800" spc="48" kern="0" b="0" i="0" dirty="0">
                <a:solidFill>
                  <a:srgbClr val="50658E"/>
                </a:solidFill>
                <a:latin typeface="IBM Plex Mono Medium"/>
                <a:ea typeface="IBM Plex Mono Medium"/>
                <a:cs typeface="IBM Plex Mono Medium"/>
              </a:endParaRPr>
            </a:p>
          </p:txBody>
        </p:sp>
        <p:sp>
          <p:nvSpPr>
            <p:cNvPr id="19" name="node04.rule"/>
            <p:cNvSpPr/>
            <p:nvPr/>
          </p:nvSpPr>
          <p:spPr>
            <a:xfrm>
              <a:off x="5131687" y="1709738"/>
              <a:ext cx="2678813" cy="9525"/>
            </a:xfrm>
            <a:prstGeom prst="rect">
              <a:avLst/>
            </a:prstGeom>
            <a:solidFill>
              <a:srgbClr val="CED7E6"/>
            </a:solidFill>
            <a:ln>
              <a:noFill/>
            </a:ln>
          </p:spPr>
        </p:sp>
      </p:grpSp>
      <p:sp>
        <p:nvSpPr>
          <p:cNvPr id="20" name="node05"/>
          <p:cNvSpPr/>
          <p:nvPr/>
        </p:nvSpPr>
        <p:spPr>
          <a:xfrm>
            <a:off x="4381500" y="1828800"/>
            <a:ext cx="3429000" cy="9525"/>
          </a:xfrm>
          <a:prstGeom prst="rect">
            <a:avLst/>
          </a:prstGeom>
          <a:solidFill>
            <a:srgbClr val="CED7E6"/>
          </a:solidFill>
          <a:ln>
            <a:noFill/>
          </a:ln>
        </p:spPr>
      </p:sp>
      <p:grpSp>
        <p:nvGrpSpPr>
          <p:cNvPr id="81" name="node06"/>
          <p:cNvGrpSpPr/>
          <p:nvPr/>
        </p:nvGrpSpPr>
        <p:grpSpPr>
          <a:xfrm>
            <a:off x="4381500" y="2057400"/>
            <a:ext cx="3429000" cy="723900"/>
            <a:chOff x="4381500" y="2057400"/>
            <a:chExt cx="3429000" cy="723900"/>
          </a:xfrm>
        </p:grpSpPr>
        <p:sp>
          <p:nvSpPr>
            <p:cNvPr id="21" name="node06.source-001.bullet"/>
            <p:cNvSpPr/>
            <p:nvPr/>
          </p:nvSpPr>
          <p:spPr>
            <a:xfrm>
              <a:off x="4381500" y="2146300"/>
              <a:ext cx="38100" cy="38100"/>
            </a:xfrm>
            <a:prstGeom prst="rect">
              <a:avLst/>
            </a:prstGeom>
            <a:solidFill>
              <a:srgbClr val="070154"/>
            </a:solidFill>
            <a:ln>
              <a:noFill/>
            </a:ln>
          </p:spPr>
        </p:sp>
        <p:sp>
          <p:nvSpPr>
            <p:cNvPr id="22" name="node06.source-001.text"/>
            <p:cNvSpPr/>
            <p:nvPr/>
          </p:nvSpPr>
          <p:spPr>
            <a:xfrm>
              <a:off x="4533900" y="2057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28 · 9:00 to 12:00</a:t>
              </a:r>
              <a:endParaRPr lang="en-US" sz="1200" spc="0" kern="0" b="0" i="0" dirty="0">
                <a:solidFill>
                  <a:srgbClr val="070154"/>
                </a:solidFill>
                <a:latin typeface="IBM Plex Sans"/>
                <a:ea typeface="IBM Plex Sans"/>
                <a:cs typeface="IBM Plex Sans"/>
              </a:endParaRPr>
            </a:p>
          </p:txBody>
        </p:sp>
        <p:sp>
          <p:nvSpPr>
            <p:cNvPr id="23" name="node06.source-002.bullet"/>
            <p:cNvSpPr/>
            <p:nvPr/>
          </p:nvSpPr>
          <p:spPr>
            <a:xfrm>
              <a:off x="4381500" y="2400300"/>
              <a:ext cx="38100" cy="38100"/>
            </a:xfrm>
            <a:prstGeom prst="rect">
              <a:avLst/>
            </a:prstGeom>
            <a:solidFill>
              <a:srgbClr val="070154"/>
            </a:solidFill>
            <a:ln>
              <a:noFill/>
            </a:ln>
          </p:spPr>
        </p:sp>
        <p:sp>
          <p:nvSpPr>
            <p:cNvPr id="24" name="node06.source-002.text"/>
            <p:cNvSpPr/>
            <p:nvPr/>
          </p:nvSpPr>
          <p:spPr>
            <a:xfrm>
              <a:off x="4533900" y="2311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Northfield HQ, room 4B, and video</a:t>
              </a:r>
              <a:endParaRPr lang="en-US" sz="1200" spc="0" kern="0" b="0" i="0" dirty="0">
                <a:solidFill>
                  <a:srgbClr val="070154"/>
                </a:solidFill>
                <a:latin typeface="IBM Plex Sans"/>
                <a:ea typeface="IBM Plex Sans"/>
                <a:cs typeface="IBM Plex Sans"/>
              </a:endParaRPr>
            </a:p>
          </p:txBody>
        </p:sp>
        <p:sp>
          <p:nvSpPr>
            <p:cNvPr id="25" name="node06.source-003.bullet"/>
            <p:cNvSpPr/>
            <p:nvPr/>
          </p:nvSpPr>
          <p:spPr>
            <a:xfrm>
              <a:off x="4381500" y="2654300"/>
              <a:ext cx="38100" cy="38100"/>
            </a:xfrm>
            <a:prstGeom prst="rect">
              <a:avLst/>
            </a:prstGeom>
            <a:solidFill>
              <a:srgbClr val="070154"/>
            </a:solidFill>
            <a:ln>
              <a:noFill/>
            </a:ln>
          </p:spPr>
        </p:sp>
        <p:sp>
          <p:nvSpPr>
            <p:cNvPr id="26" name="node06.source-003.text"/>
            <p:cNvSpPr/>
            <p:nvPr/>
          </p:nvSpPr>
          <p:spPr>
            <a:xfrm>
              <a:off x="4533900" y="2565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Two facilitators, one scribe</a:t>
              </a:r>
              <a:endParaRPr lang="en-US" sz="1200" spc="0" kern="0" b="0" i="0" dirty="0">
                <a:solidFill>
                  <a:srgbClr val="070154"/>
                </a:solidFill>
                <a:latin typeface="IBM Plex Sans"/>
                <a:ea typeface="IBM Plex Sans"/>
                <a:cs typeface="IBM Plex Sans"/>
              </a:endParaRPr>
            </a:p>
          </p:txBody>
        </p:sp>
      </p:grpSp>
      <p:grpSp>
        <p:nvGrpSpPr>
          <p:cNvPr id="82" name="node07"/>
          <p:cNvGrpSpPr/>
          <p:nvPr/>
        </p:nvGrpSpPr>
        <p:grpSpPr>
          <a:xfrm>
            <a:off x="8039100" y="1600200"/>
            <a:ext cx="3429000" cy="228600"/>
            <a:chOff x="8039100" y="1600200"/>
            <a:chExt cx="3429000" cy="228600"/>
          </a:xfrm>
        </p:grpSpPr>
        <p:sp>
          <p:nvSpPr>
            <p:cNvPr id="27" name="node07.label"/>
            <p:cNvSpPr/>
            <p:nvPr/>
          </p:nvSpPr>
          <p:spPr>
            <a:xfrm>
              <a:off x="8039100" y="1600200"/>
              <a:ext cx="1154553"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WHO SHOULD ATTEND</a:t>
              </a:r>
              <a:endParaRPr lang="en-US" sz="800" spc="48" kern="0" b="0" i="0" dirty="0">
                <a:solidFill>
                  <a:srgbClr val="50658E"/>
                </a:solidFill>
                <a:latin typeface="IBM Plex Mono Medium"/>
                <a:ea typeface="IBM Plex Mono Medium"/>
                <a:cs typeface="IBM Plex Mono Medium"/>
              </a:endParaRPr>
            </a:p>
          </p:txBody>
        </p:sp>
        <p:sp>
          <p:nvSpPr>
            <p:cNvPr id="28" name="node07.rule"/>
            <p:cNvSpPr/>
            <p:nvPr/>
          </p:nvSpPr>
          <p:spPr>
            <a:xfrm>
              <a:off x="9320653" y="1709738"/>
              <a:ext cx="2147447" cy="9525"/>
            </a:xfrm>
            <a:prstGeom prst="rect">
              <a:avLst/>
            </a:prstGeom>
            <a:solidFill>
              <a:srgbClr val="CED7E6"/>
            </a:solidFill>
            <a:ln>
              <a:noFill/>
            </a:ln>
          </p:spPr>
        </p:sp>
      </p:grpSp>
      <p:sp>
        <p:nvSpPr>
          <p:cNvPr id="29" name="node08"/>
          <p:cNvSpPr/>
          <p:nvPr/>
        </p:nvSpPr>
        <p:spPr>
          <a:xfrm>
            <a:off x="8039100" y="1828800"/>
            <a:ext cx="3429000" cy="9525"/>
          </a:xfrm>
          <a:prstGeom prst="rect">
            <a:avLst/>
          </a:prstGeom>
          <a:solidFill>
            <a:srgbClr val="CED7E6"/>
          </a:solidFill>
          <a:ln>
            <a:noFill/>
          </a:ln>
        </p:spPr>
      </p:sp>
      <p:grpSp>
        <p:nvGrpSpPr>
          <p:cNvPr id="83" name="node09"/>
          <p:cNvGrpSpPr/>
          <p:nvPr/>
        </p:nvGrpSpPr>
        <p:grpSpPr>
          <a:xfrm>
            <a:off x="8039100" y="2057400"/>
            <a:ext cx="3429000" cy="469900"/>
            <a:chOff x="8039100" y="2057400"/>
            <a:chExt cx="3429000" cy="469900"/>
          </a:xfrm>
        </p:grpSpPr>
        <p:sp>
          <p:nvSpPr>
            <p:cNvPr id="30" name="node09.source-001.bullet"/>
            <p:cNvSpPr/>
            <p:nvPr/>
          </p:nvSpPr>
          <p:spPr>
            <a:xfrm>
              <a:off x="8039100" y="2146300"/>
              <a:ext cx="38100" cy="38100"/>
            </a:xfrm>
            <a:prstGeom prst="rect">
              <a:avLst/>
            </a:prstGeom>
            <a:solidFill>
              <a:srgbClr val="070154"/>
            </a:solidFill>
            <a:ln>
              <a:noFill/>
            </a:ln>
          </p:spPr>
        </p:sp>
        <p:sp>
          <p:nvSpPr>
            <p:cNvPr id="31" name="node09.source-001.text"/>
            <p:cNvSpPr/>
            <p:nvPr/>
          </p:nvSpPr>
          <p:spPr>
            <a:xfrm>
              <a:off x="8191500" y="2057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Access, registration, revenue cycle</a:t>
              </a:r>
              <a:endParaRPr lang="en-US" sz="1200" spc="0" kern="0" b="0" i="0" dirty="0">
                <a:solidFill>
                  <a:srgbClr val="070154"/>
                </a:solidFill>
                <a:latin typeface="IBM Plex Sans"/>
                <a:ea typeface="IBM Plex Sans"/>
                <a:cs typeface="IBM Plex Sans"/>
              </a:endParaRPr>
            </a:p>
          </p:txBody>
        </p:sp>
        <p:sp>
          <p:nvSpPr>
            <p:cNvPr id="32" name="node09.source-002.bullet"/>
            <p:cNvSpPr/>
            <p:nvPr/>
          </p:nvSpPr>
          <p:spPr>
            <a:xfrm>
              <a:off x="8039100" y="2400300"/>
              <a:ext cx="38100" cy="38100"/>
            </a:xfrm>
            <a:prstGeom prst="rect">
              <a:avLst/>
            </a:prstGeom>
            <a:solidFill>
              <a:srgbClr val="070154"/>
            </a:solidFill>
            <a:ln>
              <a:noFill/>
            </a:ln>
          </p:spPr>
        </p:sp>
        <p:sp>
          <p:nvSpPr>
            <p:cNvPr id="33" name="node09.source-002.text"/>
            <p:cNvSpPr/>
            <p:nvPr/>
          </p:nvSpPr>
          <p:spPr>
            <a:xfrm>
              <a:off x="8191500" y="2311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IT application owners, finance partner</a:t>
              </a:r>
              <a:endParaRPr lang="en-US" sz="1200" spc="0" kern="0" b="0" i="0" dirty="0">
                <a:solidFill>
                  <a:srgbClr val="070154"/>
                </a:solidFill>
                <a:latin typeface="IBM Plex Sans"/>
                <a:ea typeface="IBM Plex Sans"/>
                <a:cs typeface="IBM Plex Sans"/>
              </a:endParaRPr>
            </a:p>
          </p:txBody>
        </p:sp>
      </p:grpSp>
      <p:grpSp>
        <p:nvGrpSpPr>
          <p:cNvPr id="84" name="node10"/>
          <p:cNvGrpSpPr/>
          <p:nvPr/>
        </p:nvGrpSpPr>
        <p:grpSpPr>
          <a:xfrm>
            <a:off x="723900" y="3200400"/>
            <a:ext cx="3429000" cy="228600"/>
            <a:chOff x="723900" y="3200400"/>
            <a:chExt cx="3429000" cy="228600"/>
          </a:xfrm>
        </p:grpSpPr>
        <p:sp>
          <p:nvSpPr>
            <p:cNvPr id="34" name="node10.label"/>
            <p:cNvSpPr/>
            <p:nvPr/>
          </p:nvSpPr>
          <p:spPr>
            <a:xfrm>
              <a:off x="723900" y="3200400"/>
              <a:ext cx="423925"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AGENDA</a:t>
              </a:r>
              <a:endParaRPr lang="en-US" sz="800" spc="48" kern="0" b="0" i="0" dirty="0">
                <a:solidFill>
                  <a:srgbClr val="50658E"/>
                </a:solidFill>
                <a:latin typeface="IBM Plex Mono Medium"/>
                <a:ea typeface="IBM Plex Mono Medium"/>
                <a:cs typeface="IBM Plex Mono Medium"/>
              </a:endParaRPr>
            </a:p>
          </p:txBody>
        </p:sp>
        <p:sp>
          <p:nvSpPr>
            <p:cNvPr id="35" name="node10.rule"/>
            <p:cNvSpPr/>
            <p:nvPr/>
          </p:nvSpPr>
          <p:spPr>
            <a:xfrm>
              <a:off x="1274825" y="3309938"/>
              <a:ext cx="2878075" cy="9525"/>
            </a:xfrm>
            <a:prstGeom prst="rect">
              <a:avLst/>
            </a:prstGeom>
            <a:solidFill>
              <a:srgbClr val="CED7E6"/>
            </a:solidFill>
            <a:ln>
              <a:noFill/>
            </a:ln>
          </p:spPr>
        </p:sp>
      </p:grpSp>
      <p:sp>
        <p:nvSpPr>
          <p:cNvPr id="36" name="node11"/>
          <p:cNvSpPr/>
          <p:nvPr/>
        </p:nvSpPr>
        <p:spPr>
          <a:xfrm>
            <a:off x="723900" y="3429000"/>
            <a:ext cx="3429000" cy="9525"/>
          </a:xfrm>
          <a:prstGeom prst="rect">
            <a:avLst/>
          </a:prstGeom>
          <a:solidFill>
            <a:srgbClr val="CED7E6"/>
          </a:solidFill>
          <a:ln>
            <a:noFill/>
          </a:ln>
        </p:spPr>
      </p:sp>
      <p:grpSp>
        <p:nvGrpSpPr>
          <p:cNvPr id="85" name="node12"/>
          <p:cNvGrpSpPr/>
          <p:nvPr/>
        </p:nvGrpSpPr>
        <p:grpSpPr>
          <a:xfrm>
            <a:off x="723900" y="3657600"/>
            <a:ext cx="3429000" cy="2133600"/>
            <a:chOff x="723900" y="3657600"/>
            <a:chExt cx="3429000" cy="2133600"/>
          </a:xfrm>
        </p:grpSpPr>
        <p:sp>
          <p:nvSpPr>
            <p:cNvPr id="37" name="node12.source-001.key"/>
            <p:cNvSpPr/>
            <p:nvPr/>
          </p:nvSpPr>
          <p:spPr>
            <a:xfrm>
              <a:off x="723900" y="36576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9:00</a:t>
              </a:r>
              <a:endParaRPr lang="en-US" sz="1200" spc="0" kern="0" b="1" i="0" dirty="0">
                <a:solidFill>
                  <a:srgbClr val="0047FF"/>
                </a:solidFill>
                <a:latin typeface="IBM Plex Sans"/>
                <a:ea typeface="IBM Plex Sans"/>
                <a:cs typeface="IBM Plex Sans"/>
              </a:endParaRPr>
            </a:p>
          </p:txBody>
        </p:sp>
        <p:sp>
          <p:nvSpPr>
            <p:cNvPr id="38" name="node12.source-001.text"/>
            <p:cNvSpPr/>
            <p:nvPr/>
          </p:nvSpPr>
          <p:spPr>
            <a:xfrm>
              <a:off x="1562100" y="3657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Welcome and goals</a:t>
              </a:r>
              <a:endParaRPr lang="en-US" sz="1200" spc="0" kern="0" b="0" i="0" dirty="0">
                <a:solidFill>
                  <a:srgbClr val="070154"/>
                </a:solidFill>
                <a:latin typeface="IBM Plex Sans SemiBold"/>
                <a:ea typeface="IBM Plex Sans SemiBold"/>
                <a:cs typeface="IBM Plex Sans SemiBold"/>
              </a:endParaRPr>
            </a:p>
          </p:txBody>
        </p:sp>
        <p:sp>
          <p:nvSpPr>
            <p:cNvPr id="39" name="node12.source-002.key"/>
            <p:cNvSpPr/>
            <p:nvPr/>
          </p:nvSpPr>
          <p:spPr>
            <a:xfrm>
              <a:off x="723900" y="39624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9:15</a:t>
              </a:r>
              <a:endParaRPr lang="en-US" sz="1200" spc="0" kern="0" b="1" i="0" dirty="0">
                <a:solidFill>
                  <a:srgbClr val="0047FF"/>
                </a:solidFill>
                <a:latin typeface="IBM Plex Sans"/>
                <a:ea typeface="IBM Plex Sans"/>
                <a:cs typeface="IBM Plex Sans"/>
              </a:endParaRPr>
            </a:p>
          </p:txBody>
        </p:sp>
        <p:sp>
          <p:nvSpPr>
            <p:cNvPr id="40" name="node12.source-002.text"/>
            <p:cNvSpPr/>
            <p:nvPr/>
          </p:nvSpPr>
          <p:spPr>
            <a:xfrm>
              <a:off x="1562100" y="3962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Current-state recap</a:t>
              </a:r>
              <a:endParaRPr lang="en-US" sz="1200" spc="0" kern="0" b="0" i="0" dirty="0">
                <a:solidFill>
                  <a:srgbClr val="070154"/>
                </a:solidFill>
                <a:latin typeface="IBM Plex Sans SemiBold"/>
                <a:ea typeface="IBM Plex Sans SemiBold"/>
                <a:cs typeface="IBM Plex Sans SemiBold"/>
              </a:endParaRPr>
            </a:p>
          </p:txBody>
        </p:sp>
        <p:sp>
          <p:nvSpPr>
            <p:cNvPr id="41" name="node12.source-003.key"/>
            <p:cNvSpPr/>
            <p:nvPr/>
          </p:nvSpPr>
          <p:spPr>
            <a:xfrm>
              <a:off x="723900" y="42672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9:45</a:t>
              </a:r>
              <a:endParaRPr lang="en-US" sz="1200" spc="0" kern="0" b="1" i="0" dirty="0">
                <a:solidFill>
                  <a:srgbClr val="0047FF"/>
                </a:solidFill>
                <a:latin typeface="IBM Plex Sans"/>
                <a:ea typeface="IBM Plex Sans"/>
                <a:cs typeface="IBM Plex Sans"/>
              </a:endParaRPr>
            </a:p>
          </p:txBody>
        </p:sp>
        <p:sp>
          <p:nvSpPr>
            <p:cNvPr id="42" name="node12.source-003.text"/>
            <p:cNvSpPr/>
            <p:nvPr/>
          </p:nvSpPr>
          <p:spPr>
            <a:xfrm>
              <a:off x="1562100" y="42672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Future-state design by area</a:t>
              </a:r>
              <a:endParaRPr lang="en-US" sz="1200" spc="0" kern="0" b="0" i="0" dirty="0">
                <a:solidFill>
                  <a:srgbClr val="070154"/>
                </a:solidFill>
                <a:latin typeface="IBM Plex Sans SemiBold"/>
                <a:ea typeface="IBM Plex Sans SemiBold"/>
                <a:cs typeface="IBM Plex Sans SemiBold"/>
              </a:endParaRPr>
            </a:p>
          </p:txBody>
        </p:sp>
        <p:sp>
          <p:nvSpPr>
            <p:cNvPr id="43" name="node12.source-004.key"/>
            <p:cNvSpPr/>
            <p:nvPr/>
          </p:nvSpPr>
          <p:spPr>
            <a:xfrm>
              <a:off x="723900" y="45720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10:45</a:t>
              </a:r>
              <a:endParaRPr lang="en-US" sz="1200" spc="0" kern="0" b="1" i="0" dirty="0">
                <a:solidFill>
                  <a:srgbClr val="0047FF"/>
                </a:solidFill>
                <a:latin typeface="IBM Plex Sans"/>
                <a:ea typeface="IBM Plex Sans"/>
                <a:cs typeface="IBM Plex Sans"/>
              </a:endParaRPr>
            </a:p>
          </p:txBody>
        </p:sp>
        <p:sp>
          <p:nvSpPr>
            <p:cNvPr id="44" name="node12.source-004.text"/>
            <p:cNvSpPr/>
            <p:nvPr/>
          </p:nvSpPr>
          <p:spPr>
            <a:xfrm>
              <a:off x="1562100" y="45720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Break</a:t>
              </a:r>
              <a:endParaRPr lang="en-US" sz="1200" spc="0" kern="0" b="0" i="0" dirty="0">
                <a:solidFill>
                  <a:srgbClr val="070154"/>
                </a:solidFill>
                <a:latin typeface="IBM Plex Sans SemiBold"/>
                <a:ea typeface="IBM Plex Sans SemiBold"/>
                <a:cs typeface="IBM Plex Sans SemiBold"/>
              </a:endParaRPr>
            </a:p>
          </p:txBody>
        </p:sp>
        <p:sp>
          <p:nvSpPr>
            <p:cNvPr id="45" name="node12.source-005.key"/>
            <p:cNvSpPr/>
            <p:nvPr/>
          </p:nvSpPr>
          <p:spPr>
            <a:xfrm>
              <a:off x="723900" y="48768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11:00</a:t>
              </a:r>
              <a:endParaRPr lang="en-US" sz="1200" spc="0" kern="0" b="1" i="0" dirty="0">
                <a:solidFill>
                  <a:srgbClr val="0047FF"/>
                </a:solidFill>
                <a:latin typeface="IBM Plex Sans"/>
                <a:ea typeface="IBM Plex Sans"/>
                <a:cs typeface="IBM Plex Sans"/>
              </a:endParaRPr>
            </a:p>
          </p:txBody>
        </p:sp>
        <p:sp>
          <p:nvSpPr>
            <p:cNvPr id="46" name="node12.source-005.text"/>
            <p:cNvSpPr/>
            <p:nvPr/>
          </p:nvSpPr>
          <p:spPr>
            <a:xfrm>
              <a:off x="1562100" y="48768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Playback and gaps</a:t>
              </a:r>
              <a:endParaRPr lang="en-US" sz="1200" spc="0" kern="0" b="0" i="0" dirty="0">
                <a:solidFill>
                  <a:srgbClr val="070154"/>
                </a:solidFill>
                <a:latin typeface="IBM Plex Sans SemiBold"/>
                <a:ea typeface="IBM Plex Sans SemiBold"/>
                <a:cs typeface="IBM Plex Sans SemiBold"/>
              </a:endParaRPr>
            </a:p>
          </p:txBody>
        </p:sp>
        <p:sp>
          <p:nvSpPr>
            <p:cNvPr id="47" name="node12.source-006.key"/>
            <p:cNvSpPr/>
            <p:nvPr/>
          </p:nvSpPr>
          <p:spPr>
            <a:xfrm>
              <a:off x="723900" y="51816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11:40</a:t>
              </a:r>
              <a:endParaRPr lang="en-US" sz="1200" spc="0" kern="0" b="1" i="0" dirty="0">
                <a:solidFill>
                  <a:srgbClr val="0047FF"/>
                </a:solidFill>
                <a:latin typeface="IBM Plex Sans"/>
                <a:ea typeface="IBM Plex Sans"/>
                <a:cs typeface="IBM Plex Sans"/>
              </a:endParaRPr>
            </a:p>
          </p:txBody>
        </p:sp>
        <p:sp>
          <p:nvSpPr>
            <p:cNvPr id="48" name="node12.source-006.text"/>
            <p:cNvSpPr/>
            <p:nvPr/>
          </p:nvSpPr>
          <p:spPr>
            <a:xfrm>
              <a:off x="1562100" y="5181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Decisions and next steps</a:t>
              </a:r>
              <a:endParaRPr lang="en-US" sz="1200" spc="0" kern="0" b="0" i="0" dirty="0">
                <a:solidFill>
                  <a:srgbClr val="070154"/>
                </a:solidFill>
                <a:latin typeface="IBM Plex Sans SemiBold"/>
                <a:ea typeface="IBM Plex Sans SemiBold"/>
                <a:cs typeface="IBM Plex Sans SemiBold"/>
              </a:endParaRPr>
            </a:p>
          </p:txBody>
        </p:sp>
        <p:sp>
          <p:nvSpPr>
            <p:cNvPr id="49" name="node12.source-007.key"/>
            <p:cNvSpPr/>
            <p:nvPr/>
          </p:nvSpPr>
          <p:spPr>
            <a:xfrm>
              <a:off x="723900" y="54864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12:00</a:t>
              </a:r>
              <a:endParaRPr lang="en-US" sz="1200" spc="0" kern="0" b="1" i="0" dirty="0">
                <a:solidFill>
                  <a:srgbClr val="0047FF"/>
                </a:solidFill>
                <a:latin typeface="IBM Plex Sans"/>
                <a:ea typeface="IBM Plex Sans"/>
                <a:cs typeface="IBM Plex Sans"/>
              </a:endParaRPr>
            </a:p>
          </p:txBody>
        </p:sp>
        <p:sp>
          <p:nvSpPr>
            <p:cNvPr id="50" name="node12.source-007.text"/>
            <p:cNvSpPr/>
            <p:nvPr/>
          </p:nvSpPr>
          <p:spPr>
            <a:xfrm>
              <a:off x="1562100" y="5486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Close</a:t>
              </a:r>
              <a:endParaRPr lang="en-US" sz="1200" spc="0" kern="0" b="0" i="0" dirty="0">
                <a:solidFill>
                  <a:srgbClr val="070154"/>
                </a:solidFill>
                <a:latin typeface="IBM Plex Sans SemiBold"/>
                <a:ea typeface="IBM Plex Sans SemiBold"/>
                <a:cs typeface="IBM Plex Sans SemiBold"/>
              </a:endParaRPr>
            </a:p>
          </p:txBody>
        </p:sp>
      </p:grpSp>
      <p:grpSp>
        <p:nvGrpSpPr>
          <p:cNvPr id="86" name="node13"/>
          <p:cNvGrpSpPr/>
          <p:nvPr/>
        </p:nvGrpSpPr>
        <p:grpSpPr>
          <a:xfrm>
            <a:off x="4381500" y="3200400"/>
            <a:ext cx="3429000" cy="228600"/>
            <a:chOff x="4381500" y="3200400"/>
            <a:chExt cx="3429000" cy="228600"/>
          </a:xfrm>
        </p:grpSpPr>
        <p:sp>
          <p:nvSpPr>
            <p:cNvPr id="51" name="node13.label"/>
            <p:cNvSpPr/>
            <p:nvPr/>
          </p:nvSpPr>
          <p:spPr>
            <a:xfrm>
              <a:off x="4381500" y="3200400"/>
              <a:ext cx="95529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AREAS OF FOCUS</a:t>
              </a:r>
              <a:endParaRPr lang="en-US" sz="800" spc="48" kern="0" b="0" i="0" dirty="0">
                <a:solidFill>
                  <a:srgbClr val="50658E"/>
                </a:solidFill>
                <a:latin typeface="IBM Plex Mono Medium"/>
                <a:ea typeface="IBM Plex Mono Medium"/>
                <a:cs typeface="IBM Plex Mono Medium"/>
              </a:endParaRPr>
            </a:p>
          </p:txBody>
        </p:sp>
        <p:sp>
          <p:nvSpPr>
            <p:cNvPr id="52" name="node13.rule"/>
            <p:cNvSpPr/>
            <p:nvPr/>
          </p:nvSpPr>
          <p:spPr>
            <a:xfrm>
              <a:off x="5463791" y="3309938"/>
              <a:ext cx="2346709" cy="9525"/>
            </a:xfrm>
            <a:prstGeom prst="rect">
              <a:avLst/>
            </a:prstGeom>
            <a:solidFill>
              <a:srgbClr val="CED7E6"/>
            </a:solidFill>
            <a:ln>
              <a:noFill/>
            </a:ln>
          </p:spPr>
        </p:sp>
      </p:grpSp>
      <p:sp>
        <p:nvSpPr>
          <p:cNvPr id="53" name="node14"/>
          <p:cNvSpPr/>
          <p:nvPr/>
        </p:nvSpPr>
        <p:spPr>
          <a:xfrm>
            <a:off x="4381500" y="3429000"/>
            <a:ext cx="3429000" cy="9525"/>
          </a:xfrm>
          <a:prstGeom prst="rect">
            <a:avLst/>
          </a:prstGeom>
          <a:solidFill>
            <a:srgbClr val="CED7E6"/>
          </a:solidFill>
          <a:ln>
            <a:noFill/>
          </a:ln>
        </p:spPr>
      </p:sp>
      <p:grpSp>
        <p:nvGrpSpPr>
          <p:cNvPr id="87" name="node15"/>
          <p:cNvGrpSpPr/>
          <p:nvPr/>
        </p:nvGrpSpPr>
        <p:grpSpPr>
          <a:xfrm>
            <a:off x="4381500" y="3657600"/>
            <a:ext cx="3429000" cy="1841500"/>
            <a:chOff x="4381500" y="3657600"/>
            <a:chExt cx="3429000" cy="1841500"/>
          </a:xfrm>
        </p:grpSpPr>
        <p:sp>
          <p:nvSpPr>
            <p:cNvPr id="54" name="node15.source-001.number"/>
            <p:cNvSpPr/>
            <p:nvPr/>
          </p:nvSpPr>
          <p:spPr>
            <a:xfrm>
              <a:off x="4381500" y="36576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55" name="node15.source-001.text"/>
            <p:cNvSpPr/>
            <p:nvPr/>
          </p:nvSpPr>
          <p:spPr>
            <a:xfrm>
              <a:off x="4572000" y="3657600"/>
              <a:ext cx="3238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Scheduling. One front door and one template for every service line.</a:t>
              </a:r>
              <a:endParaRPr lang="en-US" sz="1200" spc="0" kern="0" b="0" i="0" dirty="0">
                <a:solidFill>
                  <a:srgbClr val="070154"/>
                </a:solidFill>
                <a:latin typeface="IBM Plex Sans"/>
                <a:ea typeface="IBM Plex Sans"/>
                <a:cs typeface="IBM Plex Sans"/>
              </a:endParaRPr>
            </a:p>
          </p:txBody>
        </p:sp>
        <p:sp>
          <p:nvSpPr>
            <p:cNvPr id="56" name="node15.source-002.number"/>
            <p:cNvSpPr/>
            <p:nvPr/>
          </p:nvSpPr>
          <p:spPr>
            <a:xfrm>
              <a:off x="4381500" y="41275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57" name="node15.source-002.text"/>
            <p:cNvSpPr/>
            <p:nvPr/>
          </p:nvSpPr>
          <p:spPr>
            <a:xfrm>
              <a:off x="4572000" y="4127500"/>
              <a:ext cx="3238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Capture insurance and consent once, before arrival.</a:t>
              </a:r>
              <a:endParaRPr lang="en-US" sz="1200" spc="0" kern="0" b="0" i="0" dirty="0">
                <a:solidFill>
                  <a:srgbClr val="070154"/>
                </a:solidFill>
                <a:latin typeface="IBM Plex Sans"/>
                <a:ea typeface="IBM Plex Sans"/>
                <a:cs typeface="IBM Plex Sans"/>
              </a:endParaRPr>
            </a:p>
          </p:txBody>
        </p:sp>
        <p:sp>
          <p:nvSpPr>
            <p:cNvPr id="58" name="node15.source-003.number"/>
            <p:cNvSpPr/>
            <p:nvPr/>
          </p:nvSpPr>
          <p:spPr>
            <a:xfrm>
              <a:off x="4381500" y="45974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59" name="node15.source-003.text"/>
            <p:cNvSpPr/>
            <p:nvPr/>
          </p:nvSpPr>
          <p:spPr>
            <a:xfrm>
              <a:off x="4572000" y="4597400"/>
              <a:ext cx="3238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Estimates. A price patients can rely on before they book.</a:t>
              </a:r>
              <a:endParaRPr lang="en-US" sz="1200" spc="0" kern="0" b="0" i="0" dirty="0">
                <a:solidFill>
                  <a:srgbClr val="070154"/>
                </a:solidFill>
                <a:latin typeface="IBM Plex Sans"/>
                <a:ea typeface="IBM Plex Sans"/>
                <a:cs typeface="IBM Plex Sans"/>
              </a:endParaRPr>
            </a:p>
          </p:txBody>
        </p:sp>
        <p:sp>
          <p:nvSpPr>
            <p:cNvPr id="60" name="node15.source-004.number"/>
            <p:cNvSpPr/>
            <p:nvPr/>
          </p:nvSpPr>
          <p:spPr>
            <a:xfrm>
              <a:off x="4381500" y="50673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61" name="node15.source-004.text"/>
            <p:cNvSpPr/>
            <p:nvPr/>
          </p:nvSpPr>
          <p:spPr>
            <a:xfrm>
              <a:off x="4572000" y="5067300"/>
              <a:ext cx="3238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Denials. Stop front-end causes before the claim is sent.</a:t>
              </a:r>
              <a:endParaRPr lang="en-US" sz="1200" spc="0" kern="0" b="0" i="0" dirty="0">
                <a:solidFill>
                  <a:srgbClr val="070154"/>
                </a:solidFill>
                <a:latin typeface="IBM Plex Sans"/>
                <a:ea typeface="IBM Plex Sans"/>
                <a:cs typeface="IBM Plex Sans"/>
              </a:endParaRPr>
            </a:p>
          </p:txBody>
        </p:sp>
      </p:grpSp>
      <p:grpSp>
        <p:nvGrpSpPr>
          <p:cNvPr id="88" name="node16"/>
          <p:cNvGrpSpPr/>
          <p:nvPr/>
        </p:nvGrpSpPr>
        <p:grpSpPr>
          <a:xfrm>
            <a:off x="8039100" y="3200400"/>
            <a:ext cx="3429000" cy="228600"/>
            <a:chOff x="8039100" y="3200400"/>
            <a:chExt cx="3429000" cy="228600"/>
          </a:xfrm>
        </p:grpSpPr>
        <p:sp>
          <p:nvSpPr>
            <p:cNvPr id="62" name="node16.label"/>
            <p:cNvSpPr/>
            <p:nvPr/>
          </p:nvSpPr>
          <p:spPr>
            <a:xfrm>
              <a:off x="8039100" y="3200400"/>
              <a:ext cx="556766"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OUTCOMES</a:t>
              </a:r>
              <a:endParaRPr lang="en-US" sz="800" spc="48" kern="0" b="0" i="0" dirty="0">
                <a:solidFill>
                  <a:srgbClr val="50658E"/>
                </a:solidFill>
                <a:latin typeface="IBM Plex Mono Medium"/>
                <a:ea typeface="IBM Plex Mono Medium"/>
                <a:cs typeface="IBM Plex Mono Medium"/>
              </a:endParaRPr>
            </a:p>
          </p:txBody>
        </p:sp>
        <p:sp>
          <p:nvSpPr>
            <p:cNvPr id="63" name="node16.rule"/>
            <p:cNvSpPr/>
            <p:nvPr/>
          </p:nvSpPr>
          <p:spPr>
            <a:xfrm>
              <a:off x="8722866" y="3309938"/>
              <a:ext cx="2745234" cy="9525"/>
            </a:xfrm>
            <a:prstGeom prst="rect">
              <a:avLst/>
            </a:prstGeom>
            <a:solidFill>
              <a:srgbClr val="CED7E6"/>
            </a:solidFill>
            <a:ln>
              <a:noFill/>
            </a:ln>
          </p:spPr>
        </p:sp>
      </p:grpSp>
      <p:sp>
        <p:nvSpPr>
          <p:cNvPr id="64" name="node17"/>
          <p:cNvSpPr/>
          <p:nvPr/>
        </p:nvSpPr>
        <p:spPr>
          <a:xfrm>
            <a:off x="8039100" y="3429000"/>
            <a:ext cx="3429000" cy="9525"/>
          </a:xfrm>
          <a:prstGeom prst="rect">
            <a:avLst/>
          </a:prstGeom>
          <a:solidFill>
            <a:srgbClr val="CED7E6"/>
          </a:solidFill>
          <a:ln>
            <a:noFill/>
          </a:ln>
        </p:spPr>
      </p:sp>
      <p:grpSp>
        <p:nvGrpSpPr>
          <p:cNvPr id="89" name="node18"/>
          <p:cNvGrpSpPr/>
          <p:nvPr/>
        </p:nvGrpSpPr>
        <p:grpSpPr>
          <a:xfrm>
            <a:off x="8039100" y="3657600"/>
            <a:ext cx="3429000" cy="723900"/>
            <a:chOff x="8039100" y="3657600"/>
            <a:chExt cx="3429000" cy="723900"/>
          </a:xfrm>
        </p:grpSpPr>
        <p:sp>
          <p:nvSpPr>
            <p:cNvPr id="65" name="node18.source-001.bullet"/>
            <p:cNvSpPr/>
            <p:nvPr/>
          </p:nvSpPr>
          <p:spPr>
            <a:xfrm>
              <a:off x="8039100" y="3746500"/>
              <a:ext cx="38100" cy="38100"/>
            </a:xfrm>
            <a:prstGeom prst="rect">
              <a:avLst/>
            </a:prstGeom>
            <a:solidFill>
              <a:srgbClr val="070154"/>
            </a:solidFill>
            <a:ln>
              <a:noFill/>
            </a:ln>
          </p:spPr>
        </p:sp>
        <p:sp>
          <p:nvSpPr>
            <p:cNvPr id="66" name="node18.source-001.text"/>
            <p:cNvSpPr/>
            <p:nvPr/>
          </p:nvSpPr>
          <p:spPr>
            <a:xfrm>
              <a:off x="8191500" y="3657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Future-state process per area</a:t>
              </a:r>
              <a:endParaRPr lang="en-US" sz="1200" spc="0" kern="0" b="0" i="0" dirty="0">
                <a:solidFill>
                  <a:srgbClr val="070154"/>
                </a:solidFill>
                <a:latin typeface="IBM Plex Sans"/>
                <a:ea typeface="IBM Plex Sans"/>
                <a:cs typeface="IBM Plex Sans"/>
              </a:endParaRPr>
            </a:p>
          </p:txBody>
        </p:sp>
        <p:sp>
          <p:nvSpPr>
            <p:cNvPr id="67" name="node18.source-002.bullet"/>
            <p:cNvSpPr/>
            <p:nvPr/>
          </p:nvSpPr>
          <p:spPr>
            <a:xfrm>
              <a:off x="8039100" y="4000500"/>
              <a:ext cx="38100" cy="38100"/>
            </a:xfrm>
            <a:prstGeom prst="rect">
              <a:avLst/>
            </a:prstGeom>
            <a:solidFill>
              <a:srgbClr val="070154"/>
            </a:solidFill>
            <a:ln>
              <a:noFill/>
            </a:ln>
          </p:spPr>
        </p:sp>
        <p:sp>
          <p:nvSpPr>
            <p:cNvPr id="68" name="node18.source-002.text"/>
            <p:cNvSpPr/>
            <p:nvPr/>
          </p:nvSpPr>
          <p:spPr>
            <a:xfrm>
              <a:off x="8191500" y="3911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Decisions log with owners</a:t>
              </a:r>
              <a:endParaRPr lang="en-US" sz="1200" spc="0" kern="0" b="0" i="0" dirty="0">
                <a:solidFill>
                  <a:srgbClr val="070154"/>
                </a:solidFill>
                <a:latin typeface="IBM Plex Sans"/>
                <a:ea typeface="IBM Plex Sans"/>
                <a:cs typeface="IBM Plex Sans"/>
              </a:endParaRPr>
            </a:p>
          </p:txBody>
        </p:sp>
        <p:sp>
          <p:nvSpPr>
            <p:cNvPr id="69" name="node18.source-003.bullet"/>
            <p:cNvSpPr/>
            <p:nvPr/>
          </p:nvSpPr>
          <p:spPr>
            <a:xfrm>
              <a:off x="8039100" y="4254500"/>
              <a:ext cx="38100" cy="38100"/>
            </a:xfrm>
            <a:prstGeom prst="rect">
              <a:avLst/>
            </a:prstGeom>
            <a:solidFill>
              <a:srgbClr val="070154"/>
            </a:solidFill>
            <a:ln>
              <a:noFill/>
            </a:ln>
          </p:spPr>
        </p:sp>
        <p:sp>
          <p:nvSpPr>
            <p:cNvPr id="70" name="node18.source-003.text"/>
            <p:cNvSpPr/>
            <p:nvPr/>
          </p:nvSpPr>
          <p:spPr>
            <a:xfrm>
              <a:off x="8191500" y="4165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Ranked opportunity list</a:t>
              </a:r>
              <a:endParaRPr lang="en-US" sz="1200" spc="0" kern="0" b="0" i="0" dirty="0">
                <a:solidFill>
                  <a:srgbClr val="070154"/>
                </a:solidFill>
                <a:latin typeface="IBM Plex Sans"/>
                <a:ea typeface="IBM Plex Sans"/>
                <a:cs typeface="IBM Plex Sans"/>
              </a:endParaRPr>
            </a:p>
          </p:txBody>
        </p:sp>
      </p:grpSp>
      <p:grpSp>
        <p:nvGrpSpPr>
          <p:cNvPr id="90" name="node19"/>
          <p:cNvGrpSpPr/>
          <p:nvPr/>
        </p:nvGrpSpPr>
        <p:grpSpPr>
          <a:xfrm>
            <a:off x="8039100" y="4800600"/>
            <a:ext cx="3429000" cy="228600"/>
            <a:chOff x="8039100" y="4800600"/>
            <a:chExt cx="3429000" cy="228600"/>
          </a:xfrm>
        </p:grpSpPr>
        <p:sp>
          <p:nvSpPr>
            <p:cNvPr id="71" name="node19.label"/>
            <p:cNvSpPr/>
            <p:nvPr/>
          </p:nvSpPr>
          <p:spPr>
            <a:xfrm>
              <a:off x="8039100" y="4800600"/>
              <a:ext cx="556766"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PRE-WORK</a:t>
              </a:r>
              <a:endParaRPr lang="en-US" sz="800" spc="48" kern="0" b="0" i="0" dirty="0">
                <a:solidFill>
                  <a:srgbClr val="50658E"/>
                </a:solidFill>
                <a:latin typeface="IBM Plex Mono Medium"/>
                <a:ea typeface="IBM Plex Mono Medium"/>
                <a:cs typeface="IBM Plex Mono Medium"/>
              </a:endParaRPr>
            </a:p>
          </p:txBody>
        </p:sp>
        <p:sp>
          <p:nvSpPr>
            <p:cNvPr id="72" name="node19.rule"/>
            <p:cNvSpPr/>
            <p:nvPr/>
          </p:nvSpPr>
          <p:spPr>
            <a:xfrm>
              <a:off x="8722866" y="4910138"/>
              <a:ext cx="2745234" cy="9525"/>
            </a:xfrm>
            <a:prstGeom prst="rect">
              <a:avLst/>
            </a:prstGeom>
            <a:solidFill>
              <a:srgbClr val="CED7E6"/>
            </a:solidFill>
            <a:ln>
              <a:noFill/>
            </a:ln>
          </p:spPr>
        </p:sp>
      </p:grpSp>
      <p:sp>
        <p:nvSpPr>
          <p:cNvPr id="73" name="node20"/>
          <p:cNvSpPr/>
          <p:nvPr/>
        </p:nvSpPr>
        <p:spPr>
          <a:xfrm>
            <a:off x="8039100" y="5029200"/>
            <a:ext cx="3429000" cy="9525"/>
          </a:xfrm>
          <a:prstGeom prst="rect">
            <a:avLst/>
          </a:prstGeom>
          <a:solidFill>
            <a:srgbClr val="CED7E6"/>
          </a:solidFill>
          <a:ln>
            <a:noFill/>
          </a:ln>
        </p:spPr>
      </p:sp>
      <p:grpSp>
        <p:nvGrpSpPr>
          <p:cNvPr id="91" name="node21"/>
          <p:cNvGrpSpPr/>
          <p:nvPr/>
        </p:nvGrpSpPr>
        <p:grpSpPr>
          <a:xfrm>
            <a:off x="8039100" y="5257800"/>
            <a:ext cx="3429000" cy="469900"/>
            <a:chOff x="8039100" y="5257800"/>
            <a:chExt cx="3429000" cy="469900"/>
          </a:xfrm>
        </p:grpSpPr>
        <p:sp>
          <p:nvSpPr>
            <p:cNvPr id="74" name="node21.source-001.bullet"/>
            <p:cNvSpPr/>
            <p:nvPr/>
          </p:nvSpPr>
          <p:spPr>
            <a:xfrm>
              <a:off x="8039100" y="5346700"/>
              <a:ext cx="38100" cy="38100"/>
            </a:xfrm>
            <a:prstGeom prst="rect">
              <a:avLst/>
            </a:prstGeom>
            <a:solidFill>
              <a:srgbClr val="070154"/>
            </a:solidFill>
            <a:ln>
              <a:noFill/>
            </a:ln>
          </p:spPr>
        </p:sp>
        <p:sp>
          <p:nvSpPr>
            <p:cNvPr id="75" name="node21.source-001.text"/>
            <p:cNvSpPr/>
            <p:nvPr/>
          </p:nvSpPr>
          <p:spPr>
            <a:xfrm>
              <a:off x="8191500" y="5257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Read the Discovery readout</a:t>
              </a:r>
              <a:endParaRPr lang="en-US" sz="1200" spc="0" kern="0" b="0" i="0" dirty="0">
                <a:solidFill>
                  <a:srgbClr val="070154"/>
                </a:solidFill>
                <a:latin typeface="IBM Plex Sans"/>
                <a:ea typeface="IBM Plex Sans"/>
                <a:cs typeface="IBM Plex Sans"/>
              </a:endParaRPr>
            </a:p>
          </p:txBody>
        </p:sp>
        <p:sp>
          <p:nvSpPr>
            <p:cNvPr id="76" name="node21.source-002.bullet"/>
            <p:cNvSpPr/>
            <p:nvPr/>
          </p:nvSpPr>
          <p:spPr>
            <a:xfrm>
              <a:off x="8039100" y="5600700"/>
              <a:ext cx="38100" cy="38100"/>
            </a:xfrm>
            <a:prstGeom prst="rect">
              <a:avLst/>
            </a:prstGeom>
            <a:solidFill>
              <a:srgbClr val="070154"/>
            </a:solidFill>
            <a:ln>
              <a:noFill/>
            </a:ln>
          </p:spPr>
        </p:sp>
        <p:sp>
          <p:nvSpPr>
            <p:cNvPr id="77" name="node21.source-002.text"/>
            <p:cNvSpPr/>
            <p:nvPr/>
          </p:nvSpPr>
          <p:spPr>
            <a:xfrm>
              <a:off x="8191500" y="5511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Bring one failed-visit example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ource-63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Leave the morning with one design for patient access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166</a:t>
            </a:fld>
            <a:endParaRPr lang="en-US" sz="700" spc="0" kern="0" b="0" i="0" dirty="0">
              <a:solidFill>
                <a:srgbClr val="070154"/>
              </a:solidFill>
              <a:latin typeface="IBM Plex Mono SemiBold"/>
              <a:ea typeface="IBM Plex Mono SemiBold"/>
              <a:cs typeface="IBM Plex Mono SemiBold"/>
            </a:endParaRPr>
          </a:p>
        </p:txBody>
      </p:sp>
      <p:grpSp>
        <p:nvGrpSpPr>
          <p:cNvPr id="67" name="node01"/>
          <p:cNvGrpSpPr/>
          <p:nvPr/>
        </p:nvGrpSpPr>
        <p:grpSpPr>
          <a:xfrm>
            <a:off x="723900" y="1600200"/>
            <a:ext cx="3429000" cy="228600"/>
            <a:chOff x="723900" y="1600200"/>
            <a:chExt cx="3429000" cy="228600"/>
          </a:xfrm>
        </p:grpSpPr>
        <p:sp>
          <p:nvSpPr>
            <p:cNvPr id="6" name="node01.label"/>
            <p:cNvSpPr/>
            <p:nvPr/>
          </p:nvSpPr>
          <p:spPr>
            <a:xfrm>
              <a:off x="723900" y="1600200"/>
              <a:ext cx="148665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PURPOSE AND OBJECTIVES</a:t>
              </a:r>
              <a:endParaRPr lang="en-US" sz="800" spc="48" kern="0" b="0" i="0" dirty="0">
                <a:solidFill>
                  <a:srgbClr val="50658E"/>
                </a:solidFill>
                <a:latin typeface="IBM Plex Mono Medium"/>
                <a:ea typeface="IBM Plex Mono Medium"/>
                <a:cs typeface="IBM Plex Mono Medium"/>
              </a:endParaRPr>
            </a:p>
          </p:txBody>
        </p:sp>
        <p:sp>
          <p:nvSpPr>
            <p:cNvPr id="7" name="node01.rule"/>
            <p:cNvSpPr/>
            <p:nvPr/>
          </p:nvSpPr>
          <p:spPr>
            <a:xfrm>
              <a:off x="2337557" y="1709738"/>
              <a:ext cx="1815343" cy="9525"/>
            </a:xfrm>
            <a:prstGeom prst="rect">
              <a:avLst/>
            </a:prstGeom>
            <a:solidFill>
              <a:srgbClr val="CED7E6"/>
            </a:solidFill>
            <a:ln>
              <a:noFill/>
            </a:ln>
          </p:spPr>
        </p:sp>
      </p:grpSp>
      <p:sp>
        <p:nvSpPr>
          <p:cNvPr id="8" name="node02"/>
          <p:cNvSpPr/>
          <p:nvPr/>
        </p:nvSpPr>
        <p:spPr>
          <a:xfrm>
            <a:off x="723900" y="1828800"/>
            <a:ext cx="3429000" cy="9525"/>
          </a:xfrm>
          <a:prstGeom prst="rect">
            <a:avLst/>
          </a:prstGeom>
          <a:solidFill>
            <a:srgbClr val="CED7E6"/>
          </a:solidFill>
          <a:ln>
            <a:noFill/>
          </a:ln>
        </p:spPr>
      </p:sp>
      <p:grpSp>
        <p:nvGrpSpPr>
          <p:cNvPr id="68" name="node03"/>
          <p:cNvGrpSpPr/>
          <p:nvPr/>
        </p:nvGrpSpPr>
        <p:grpSpPr>
          <a:xfrm>
            <a:off x="723900" y="2057400"/>
            <a:ext cx="3429000" cy="381000"/>
            <a:chOff x="723900" y="2057400"/>
            <a:chExt cx="3429000" cy="381000"/>
          </a:xfrm>
        </p:grpSpPr>
        <p:sp>
          <p:nvSpPr>
            <p:cNvPr id="9" name="node03.text"/>
            <p:cNvSpPr/>
            <p:nvPr/>
          </p:nvSpPr>
          <p:spPr>
            <a:xfrm>
              <a:off x="723900" y="20574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Agree how patients schedule, register, get estimates and avoid denials, with one owner for each area.</a:t>
              </a:r>
              <a:endParaRPr lang="en-US" sz="1100" spc="0" kern="0" b="0" i="0" dirty="0">
                <a:solidFill>
                  <a:srgbClr val="070154"/>
                </a:solidFill>
                <a:latin typeface="IBM Plex Sans"/>
                <a:ea typeface="IBM Plex Sans"/>
                <a:cs typeface="IBM Plex Sans"/>
              </a:endParaRPr>
            </a:p>
          </p:txBody>
        </p:sp>
      </p:grpSp>
      <p:grpSp>
        <p:nvGrpSpPr>
          <p:cNvPr id="69" name="node04"/>
          <p:cNvGrpSpPr/>
          <p:nvPr/>
        </p:nvGrpSpPr>
        <p:grpSpPr>
          <a:xfrm>
            <a:off x="723900" y="2743200"/>
            <a:ext cx="3429000" cy="228600"/>
            <a:chOff x="723900" y="2743200"/>
            <a:chExt cx="3429000" cy="228600"/>
          </a:xfrm>
        </p:grpSpPr>
        <p:sp>
          <p:nvSpPr>
            <p:cNvPr id="10" name="node04.label"/>
            <p:cNvSpPr/>
            <p:nvPr/>
          </p:nvSpPr>
          <p:spPr>
            <a:xfrm>
              <a:off x="723900" y="2743200"/>
              <a:ext cx="423925"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AGENDA</a:t>
              </a:r>
              <a:endParaRPr lang="en-US" sz="800" spc="48" kern="0" b="0" i="0" dirty="0">
                <a:solidFill>
                  <a:srgbClr val="50658E"/>
                </a:solidFill>
                <a:latin typeface="IBM Plex Mono Medium"/>
                <a:ea typeface="IBM Plex Mono Medium"/>
                <a:cs typeface="IBM Plex Mono Medium"/>
              </a:endParaRPr>
            </a:p>
          </p:txBody>
        </p:sp>
        <p:sp>
          <p:nvSpPr>
            <p:cNvPr id="11" name="node04.rule"/>
            <p:cNvSpPr/>
            <p:nvPr/>
          </p:nvSpPr>
          <p:spPr>
            <a:xfrm>
              <a:off x="1274825" y="2852738"/>
              <a:ext cx="2878075" cy="9525"/>
            </a:xfrm>
            <a:prstGeom prst="rect">
              <a:avLst/>
            </a:prstGeom>
            <a:solidFill>
              <a:srgbClr val="CED7E6"/>
            </a:solidFill>
            <a:ln>
              <a:noFill/>
            </a:ln>
          </p:spPr>
        </p:sp>
      </p:grpSp>
      <p:sp>
        <p:nvSpPr>
          <p:cNvPr id="12" name="node05"/>
          <p:cNvSpPr/>
          <p:nvPr/>
        </p:nvSpPr>
        <p:spPr>
          <a:xfrm>
            <a:off x="723900" y="2971800"/>
            <a:ext cx="3429000" cy="9525"/>
          </a:xfrm>
          <a:prstGeom prst="rect">
            <a:avLst/>
          </a:prstGeom>
          <a:solidFill>
            <a:srgbClr val="CED7E6"/>
          </a:solidFill>
          <a:ln>
            <a:noFill/>
          </a:ln>
        </p:spPr>
      </p:sp>
      <p:grpSp>
        <p:nvGrpSpPr>
          <p:cNvPr id="70" name="node06"/>
          <p:cNvGrpSpPr/>
          <p:nvPr/>
        </p:nvGrpSpPr>
        <p:grpSpPr>
          <a:xfrm>
            <a:off x="723900" y="3200400"/>
            <a:ext cx="3429000" cy="1955800"/>
            <a:chOff x="723900" y="3200400"/>
            <a:chExt cx="3429000" cy="1955800"/>
          </a:xfrm>
        </p:grpSpPr>
        <p:sp>
          <p:nvSpPr>
            <p:cNvPr id="13" name="node06.source-001.key"/>
            <p:cNvSpPr/>
            <p:nvPr/>
          </p:nvSpPr>
          <p:spPr>
            <a:xfrm>
              <a:off x="723900" y="32004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9:00</a:t>
              </a:r>
              <a:endParaRPr lang="en-US" sz="1200" spc="0" kern="0" b="1" i="0" dirty="0">
                <a:solidFill>
                  <a:srgbClr val="0047FF"/>
                </a:solidFill>
                <a:latin typeface="IBM Plex Sans"/>
                <a:ea typeface="IBM Plex Sans"/>
                <a:cs typeface="IBM Plex Sans"/>
              </a:endParaRPr>
            </a:p>
          </p:txBody>
        </p:sp>
        <p:sp>
          <p:nvSpPr>
            <p:cNvPr id="14" name="node06.source-001.text"/>
            <p:cNvSpPr/>
            <p:nvPr/>
          </p:nvSpPr>
          <p:spPr>
            <a:xfrm>
              <a:off x="1562100" y="3200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Welcome and goals</a:t>
              </a:r>
              <a:endParaRPr lang="en-US" sz="1200" spc="0" kern="0" b="0" i="0" dirty="0">
                <a:solidFill>
                  <a:srgbClr val="070154"/>
                </a:solidFill>
                <a:latin typeface="IBM Plex Sans SemiBold"/>
                <a:ea typeface="IBM Plex Sans SemiBold"/>
                <a:cs typeface="IBM Plex Sans SemiBold"/>
              </a:endParaRPr>
            </a:p>
          </p:txBody>
        </p:sp>
        <p:sp>
          <p:nvSpPr>
            <p:cNvPr id="15" name="node06.source-002.key"/>
            <p:cNvSpPr/>
            <p:nvPr/>
          </p:nvSpPr>
          <p:spPr>
            <a:xfrm>
              <a:off x="723900" y="34798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9:15</a:t>
              </a:r>
              <a:endParaRPr lang="en-US" sz="1200" spc="0" kern="0" b="1" i="0" dirty="0">
                <a:solidFill>
                  <a:srgbClr val="0047FF"/>
                </a:solidFill>
                <a:latin typeface="IBM Plex Sans"/>
                <a:ea typeface="IBM Plex Sans"/>
                <a:cs typeface="IBM Plex Sans"/>
              </a:endParaRPr>
            </a:p>
          </p:txBody>
        </p:sp>
        <p:sp>
          <p:nvSpPr>
            <p:cNvPr id="16" name="node06.source-002.text"/>
            <p:cNvSpPr/>
            <p:nvPr/>
          </p:nvSpPr>
          <p:spPr>
            <a:xfrm>
              <a:off x="1562100" y="34798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Current-state recap</a:t>
              </a:r>
              <a:endParaRPr lang="en-US" sz="1200" spc="0" kern="0" b="0" i="0" dirty="0">
                <a:solidFill>
                  <a:srgbClr val="070154"/>
                </a:solidFill>
                <a:latin typeface="IBM Plex Sans SemiBold"/>
                <a:ea typeface="IBM Plex Sans SemiBold"/>
                <a:cs typeface="IBM Plex Sans SemiBold"/>
              </a:endParaRPr>
            </a:p>
          </p:txBody>
        </p:sp>
        <p:sp>
          <p:nvSpPr>
            <p:cNvPr id="17" name="node06.source-003.key"/>
            <p:cNvSpPr/>
            <p:nvPr/>
          </p:nvSpPr>
          <p:spPr>
            <a:xfrm>
              <a:off x="723900" y="37592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9:45</a:t>
              </a:r>
              <a:endParaRPr lang="en-US" sz="1200" spc="0" kern="0" b="1" i="0" dirty="0">
                <a:solidFill>
                  <a:srgbClr val="0047FF"/>
                </a:solidFill>
                <a:latin typeface="IBM Plex Sans"/>
                <a:ea typeface="IBM Plex Sans"/>
                <a:cs typeface="IBM Plex Sans"/>
              </a:endParaRPr>
            </a:p>
          </p:txBody>
        </p:sp>
        <p:sp>
          <p:nvSpPr>
            <p:cNvPr id="18" name="node06.source-003.text"/>
            <p:cNvSpPr/>
            <p:nvPr/>
          </p:nvSpPr>
          <p:spPr>
            <a:xfrm>
              <a:off x="1562100" y="37592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Future-state design by area</a:t>
              </a:r>
              <a:endParaRPr lang="en-US" sz="1200" spc="0" kern="0" b="0" i="0" dirty="0">
                <a:solidFill>
                  <a:srgbClr val="070154"/>
                </a:solidFill>
                <a:latin typeface="IBM Plex Sans SemiBold"/>
                <a:ea typeface="IBM Plex Sans SemiBold"/>
                <a:cs typeface="IBM Plex Sans SemiBold"/>
              </a:endParaRPr>
            </a:p>
          </p:txBody>
        </p:sp>
        <p:sp>
          <p:nvSpPr>
            <p:cNvPr id="19" name="node06.source-004.key"/>
            <p:cNvSpPr/>
            <p:nvPr/>
          </p:nvSpPr>
          <p:spPr>
            <a:xfrm>
              <a:off x="723900" y="40386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10:45</a:t>
              </a:r>
              <a:endParaRPr lang="en-US" sz="1200" spc="0" kern="0" b="1" i="0" dirty="0">
                <a:solidFill>
                  <a:srgbClr val="0047FF"/>
                </a:solidFill>
                <a:latin typeface="IBM Plex Sans"/>
                <a:ea typeface="IBM Plex Sans"/>
                <a:cs typeface="IBM Plex Sans"/>
              </a:endParaRPr>
            </a:p>
          </p:txBody>
        </p:sp>
        <p:sp>
          <p:nvSpPr>
            <p:cNvPr id="20" name="node06.source-004.text"/>
            <p:cNvSpPr/>
            <p:nvPr/>
          </p:nvSpPr>
          <p:spPr>
            <a:xfrm>
              <a:off x="1562100" y="4038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Break</a:t>
              </a:r>
              <a:endParaRPr lang="en-US" sz="1200" spc="0" kern="0" b="0" i="0" dirty="0">
                <a:solidFill>
                  <a:srgbClr val="070154"/>
                </a:solidFill>
                <a:latin typeface="IBM Plex Sans SemiBold"/>
                <a:ea typeface="IBM Plex Sans SemiBold"/>
                <a:cs typeface="IBM Plex Sans SemiBold"/>
              </a:endParaRPr>
            </a:p>
          </p:txBody>
        </p:sp>
        <p:sp>
          <p:nvSpPr>
            <p:cNvPr id="21" name="node06.source-005.key"/>
            <p:cNvSpPr/>
            <p:nvPr/>
          </p:nvSpPr>
          <p:spPr>
            <a:xfrm>
              <a:off x="723900" y="43180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11:00</a:t>
              </a:r>
              <a:endParaRPr lang="en-US" sz="1200" spc="0" kern="0" b="1" i="0" dirty="0">
                <a:solidFill>
                  <a:srgbClr val="0047FF"/>
                </a:solidFill>
                <a:latin typeface="IBM Plex Sans"/>
                <a:ea typeface="IBM Plex Sans"/>
                <a:cs typeface="IBM Plex Sans"/>
              </a:endParaRPr>
            </a:p>
          </p:txBody>
        </p:sp>
        <p:sp>
          <p:nvSpPr>
            <p:cNvPr id="22" name="node06.source-005.text"/>
            <p:cNvSpPr/>
            <p:nvPr/>
          </p:nvSpPr>
          <p:spPr>
            <a:xfrm>
              <a:off x="1562100" y="43180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Playback and gaps</a:t>
              </a:r>
              <a:endParaRPr lang="en-US" sz="1200" spc="0" kern="0" b="0" i="0" dirty="0">
                <a:solidFill>
                  <a:srgbClr val="070154"/>
                </a:solidFill>
                <a:latin typeface="IBM Plex Sans SemiBold"/>
                <a:ea typeface="IBM Plex Sans SemiBold"/>
                <a:cs typeface="IBM Plex Sans SemiBold"/>
              </a:endParaRPr>
            </a:p>
          </p:txBody>
        </p:sp>
        <p:sp>
          <p:nvSpPr>
            <p:cNvPr id="23" name="node06.source-006.key"/>
            <p:cNvSpPr/>
            <p:nvPr/>
          </p:nvSpPr>
          <p:spPr>
            <a:xfrm>
              <a:off x="723900" y="45974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11:40</a:t>
              </a:r>
              <a:endParaRPr lang="en-US" sz="1200" spc="0" kern="0" b="1" i="0" dirty="0">
                <a:solidFill>
                  <a:srgbClr val="0047FF"/>
                </a:solidFill>
                <a:latin typeface="IBM Plex Sans"/>
                <a:ea typeface="IBM Plex Sans"/>
                <a:cs typeface="IBM Plex Sans"/>
              </a:endParaRPr>
            </a:p>
          </p:txBody>
        </p:sp>
        <p:sp>
          <p:nvSpPr>
            <p:cNvPr id="24" name="node06.source-006.text"/>
            <p:cNvSpPr/>
            <p:nvPr/>
          </p:nvSpPr>
          <p:spPr>
            <a:xfrm>
              <a:off x="1562100" y="4597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Decisions and next steps</a:t>
              </a:r>
              <a:endParaRPr lang="en-US" sz="1200" spc="0" kern="0" b="0" i="0" dirty="0">
                <a:solidFill>
                  <a:srgbClr val="070154"/>
                </a:solidFill>
                <a:latin typeface="IBM Plex Sans SemiBold"/>
                <a:ea typeface="IBM Plex Sans SemiBold"/>
                <a:cs typeface="IBM Plex Sans SemiBold"/>
              </a:endParaRPr>
            </a:p>
          </p:txBody>
        </p:sp>
        <p:sp>
          <p:nvSpPr>
            <p:cNvPr id="25" name="node06.source-007.key"/>
            <p:cNvSpPr/>
            <p:nvPr/>
          </p:nvSpPr>
          <p:spPr>
            <a:xfrm>
              <a:off x="723900" y="48768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12:00</a:t>
              </a:r>
              <a:endParaRPr lang="en-US" sz="1200" spc="0" kern="0" b="1" i="0" dirty="0">
                <a:solidFill>
                  <a:srgbClr val="0047FF"/>
                </a:solidFill>
                <a:latin typeface="IBM Plex Sans"/>
                <a:ea typeface="IBM Plex Sans"/>
                <a:cs typeface="IBM Plex Sans"/>
              </a:endParaRPr>
            </a:p>
          </p:txBody>
        </p:sp>
        <p:sp>
          <p:nvSpPr>
            <p:cNvPr id="26" name="node06.source-007.text"/>
            <p:cNvSpPr/>
            <p:nvPr/>
          </p:nvSpPr>
          <p:spPr>
            <a:xfrm>
              <a:off x="1562100" y="48768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Close</a:t>
              </a:r>
              <a:endParaRPr lang="en-US" sz="1200" spc="0" kern="0" b="0" i="0" dirty="0">
                <a:solidFill>
                  <a:srgbClr val="070154"/>
                </a:solidFill>
                <a:latin typeface="IBM Plex Sans SemiBold"/>
                <a:ea typeface="IBM Plex Sans SemiBold"/>
                <a:cs typeface="IBM Plex Sans SemiBold"/>
              </a:endParaRPr>
            </a:p>
          </p:txBody>
        </p:sp>
      </p:grpSp>
      <p:grpSp>
        <p:nvGrpSpPr>
          <p:cNvPr id="71" name="node07"/>
          <p:cNvGrpSpPr/>
          <p:nvPr/>
        </p:nvGrpSpPr>
        <p:grpSpPr>
          <a:xfrm>
            <a:off x="723900" y="5257800"/>
            <a:ext cx="3429000" cy="228600"/>
            <a:chOff x="723900" y="5257800"/>
            <a:chExt cx="3429000" cy="228600"/>
          </a:xfrm>
        </p:grpSpPr>
        <p:sp>
          <p:nvSpPr>
            <p:cNvPr id="27" name="node07.label"/>
            <p:cNvSpPr/>
            <p:nvPr/>
          </p:nvSpPr>
          <p:spPr>
            <a:xfrm>
              <a:off x="723900" y="5257800"/>
              <a:ext cx="556766"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PRE-WORK</a:t>
              </a:r>
              <a:endParaRPr lang="en-US" sz="800" spc="48" kern="0" b="0" i="0" dirty="0">
                <a:solidFill>
                  <a:srgbClr val="50658E"/>
                </a:solidFill>
                <a:latin typeface="IBM Plex Mono Medium"/>
                <a:ea typeface="IBM Plex Mono Medium"/>
                <a:cs typeface="IBM Plex Mono Medium"/>
              </a:endParaRPr>
            </a:p>
          </p:txBody>
        </p:sp>
        <p:sp>
          <p:nvSpPr>
            <p:cNvPr id="28" name="node07.rule"/>
            <p:cNvSpPr/>
            <p:nvPr/>
          </p:nvSpPr>
          <p:spPr>
            <a:xfrm>
              <a:off x="1407666" y="5367338"/>
              <a:ext cx="2745234" cy="9525"/>
            </a:xfrm>
            <a:prstGeom prst="rect">
              <a:avLst/>
            </a:prstGeom>
            <a:solidFill>
              <a:srgbClr val="CED7E6"/>
            </a:solidFill>
            <a:ln>
              <a:noFill/>
            </a:ln>
          </p:spPr>
        </p:sp>
      </p:grpSp>
      <p:sp>
        <p:nvSpPr>
          <p:cNvPr id="29" name="node08"/>
          <p:cNvSpPr/>
          <p:nvPr/>
        </p:nvSpPr>
        <p:spPr>
          <a:xfrm>
            <a:off x="723900" y="5486400"/>
            <a:ext cx="3429000" cy="9525"/>
          </a:xfrm>
          <a:prstGeom prst="rect">
            <a:avLst/>
          </a:prstGeom>
          <a:solidFill>
            <a:srgbClr val="CED7E6"/>
          </a:solidFill>
          <a:ln>
            <a:noFill/>
          </a:ln>
        </p:spPr>
      </p:sp>
      <p:grpSp>
        <p:nvGrpSpPr>
          <p:cNvPr id="72" name="node09"/>
          <p:cNvGrpSpPr/>
          <p:nvPr/>
        </p:nvGrpSpPr>
        <p:grpSpPr>
          <a:xfrm>
            <a:off x="723900" y="5715000"/>
            <a:ext cx="3429000" cy="190500"/>
            <a:chOff x="723900" y="5715000"/>
            <a:chExt cx="3429000" cy="190500"/>
          </a:xfrm>
        </p:grpSpPr>
        <p:sp>
          <p:nvSpPr>
            <p:cNvPr id="30" name="node09.text"/>
            <p:cNvSpPr/>
            <p:nvPr/>
          </p:nvSpPr>
          <p:spPr>
            <a:xfrm>
              <a:off x="723900" y="57150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Read the Discovery readout.</a:t>
              </a:r>
              <a:endParaRPr lang="en-US" sz="1100" spc="0" kern="0" b="0" i="0" dirty="0">
                <a:solidFill>
                  <a:srgbClr val="070154"/>
                </a:solidFill>
                <a:latin typeface="IBM Plex Sans"/>
                <a:ea typeface="IBM Plex Sans"/>
                <a:cs typeface="IBM Plex Sans"/>
              </a:endParaRPr>
            </a:p>
          </p:txBody>
        </p:sp>
      </p:grpSp>
      <p:grpSp>
        <p:nvGrpSpPr>
          <p:cNvPr id="73" name="node10"/>
          <p:cNvGrpSpPr/>
          <p:nvPr/>
        </p:nvGrpSpPr>
        <p:grpSpPr>
          <a:xfrm>
            <a:off x="4381500" y="1600200"/>
            <a:ext cx="3429000" cy="228600"/>
            <a:chOff x="4381500" y="1600200"/>
            <a:chExt cx="3429000" cy="228600"/>
          </a:xfrm>
        </p:grpSpPr>
        <p:sp>
          <p:nvSpPr>
            <p:cNvPr id="31" name="node10.label"/>
            <p:cNvSpPr/>
            <p:nvPr/>
          </p:nvSpPr>
          <p:spPr>
            <a:xfrm>
              <a:off x="4381500" y="1600200"/>
              <a:ext cx="95529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AREAS OF FOCUS</a:t>
              </a:r>
              <a:endParaRPr lang="en-US" sz="800" spc="48" kern="0" b="0" i="0" dirty="0">
                <a:solidFill>
                  <a:srgbClr val="50658E"/>
                </a:solidFill>
                <a:latin typeface="IBM Plex Mono Medium"/>
                <a:ea typeface="IBM Plex Mono Medium"/>
                <a:cs typeface="IBM Plex Mono Medium"/>
              </a:endParaRPr>
            </a:p>
          </p:txBody>
        </p:sp>
        <p:sp>
          <p:nvSpPr>
            <p:cNvPr id="32" name="node10.rule"/>
            <p:cNvSpPr/>
            <p:nvPr/>
          </p:nvSpPr>
          <p:spPr>
            <a:xfrm>
              <a:off x="5463791" y="1709738"/>
              <a:ext cx="2346709" cy="9525"/>
            </a:xfrm>
            <a:prstGeom prst="rect">
              <a:avLst/>
            </a:prstGeom>
            <a:solidFill>
              <a:srgbClr val="CED7E6"/>
            </a:solidFill>
            <a:ln>
              <a:noFill/>
            </a:ln>
          </p:spPr>
        </p:sp>
      </p:grpSp>
      <p:sp>
        <p:nvSpPr>
          <p:cNvPr id="33" name="node11"/>
          <p:cNvSpPr/>
          <p:nvPr/>
        </p:nvSpPr>
        <p:spPr>
          <a:xfrm>
            <a:off x="4381500" y="1828800"/>
            <a:ext cx="3429000" cy="9525"/>
          </a:xfrm>
          <a:prstGeom prst="rect">
            <a:avLst/>
          </a:prstGeom>
          <a:solidFill>
            <a:srgbClr val="CED7E6"/>
          </a:solidFill>
          <a:ln>
            <a:noFill/>
          </a:ln>
        </p:spPr>
      </p:sp>
      <p:grpSp>
        <p:nvGrpSpPr>
          <p:cNvPr id="74" name="node12"/>
          <p:cNvGrpSpPr/>
          <p:nvPr/>
        </p:nvGrpSpPr>
        <p:grpSpPr>
          <a:xfrm>
            <a:off x="4381500" y="2057400"/>
            <a:ext cx="3429000" cy="1841500"/>
            <a:chOff x="4381500" y="2057400"/>
            <a:chExt cx="3429000" cy="1841500"/>
          </a:xfrm>
        </p:grpSpPr>
        <p:sp>
          <p:nvSpPr>
            <p:cNvPr id="34" name="node12.source-001.number"/>
            <p:cNvSpPr/>
            <p:nvPr/>
          </p:nvSpPr>
          <p:spPr>
            <a:xfrm>
              <a:off x="4381500" y="20574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35" name="node12.source-001.text"/>
            <p:cNvSpPr/>
            <p:nvPr/>
          </p:nvSpPr>
          <p:spPr>
            <a:xfrm>
              <a:off x="4572000" y="2057400"/>
              <a:ext cx="3238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Scheduling. One front door and one template for every service line.</a:t>
              </a:r>
              <a:endParaRPr lang="en-US" sz="1200" spc="0" kern="0" b="0" i="0" dirty="0">
                <a:solidFill>
                  <a:srgbClr val="070154"/>
                </a:solidFill>
                <a:latin typeface="IBM Plex Sans"/>
                <a:ea typeface="IBM Plex Sans"/>
                <a:cs typeface="IBM Plex Sans"/>
              </a:endParaRPr>
            </a:p>
          </p:txBody>
        </p:sp>
        <p:sp>
          <p:nvSpPr>
            <p:cNvPr id="36" name="node12.source-002.number"/>
            <p:cNvSpPr/>
            <p:nvPr/>
          </p:nvSpPr>
          <p:spPr>
            <a:xfrm>
              <a:off x="4381500" y="25273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37" name="node12.source-002.text"/>
            <p:cNvSpPr/>
            <p:nvPr/>
          </p:nvSpPr>
          <p:spPr>
            <a:xfrm>
              <a:off x="4572000" y="2527300"/>
              <a:ext cx="3238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Capture insurance and consent once, before arrival.</a:t>
              </a:r>
              <a:endParaRPr lang="en-US" sz="1200" spc="0" kern="0" b="0" i="0" dirty="0">
                <a:solidFill>
                  <a:srgbClr val="070154"/>
                </a:solidFill>
                <a:latin typeface="IBM Plex Sans"/>
                <a:ea typeface="IBM Plex Sans"/>
                <a:cs typeface="IBM Plex Sans"/>
              </a:endParaRPr>
            </a:p>
          </p:txBody>
        </p:sp>
        <p:sp>
          <p:nvSpPr>
            <p:cNvPr id="38" name="node12.source-003.number"/>
            <p:cNvSpPr/>
            <p:nvPr/>
          </p:nvSpPr>
          <p:spPr>
            <a:xfrm>
              <a:off x="4381500" y="29972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39" name="node12.source-003.text"/>
            <p:cNvSpPr/>
            <p:nvPr/>
          </p:nvSpPr>
          <p:spPr>
            <a:xfrm>
              <a:off x="4572000" y="2997200"/>
              <a:ext cx="3238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Estimates. A price patients can rely on before they book.</a:t>
              </a:r>
              <a:endParaRPr lang="en-US" sz="1200" spc="0" kern="0" b="0" i="0" dirty="0">
                <a:solidFill>
                  <a:srgbClr val="070154"/>
                </a:solidFill>
                <a:latin typeface="IBM Plex Sans"/>
                <a:ea typeface="IBM Plex Sans"/>
                <a:cs typeface="IBM Plex Sans"/>
              </a:endParaRPr>
            </a:p>
          </p:txBody>
        </p:sp>
        <p:sp>
          <p:nvSpPr>
            <p:cNvPr id="40" name="node12.source-004.number"/>
            <p:cNvSpPr/>
            <p:nvPr/>
          </p:nvSpPr>
          <p:spPr>
            <a:xfrm>
              <a:off x="4381500" y="34671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41" name="node12.source-004.text"/>
            <p:cNvSpPr/>
            <p:nvPr/>
          </p:nvSpPr>
          <p:spPr>
            <a:xfrm>
              <a:off x="4572000" y="3467100"/>
              <a:ext cx="32385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Denials. Stop front-end causes before the claim is sent.</a:t>
              </a:r>
              <a:endParaRPr lang="en-US" sz="1200" spc="0" kern="0" b="0" i="0" dirty="0">
                <a:solidFill>
                  <a:srgbClr val="070154"/>
                </a:solidFill>
                <a:latin typeface="IBM Plex Sans"/>
                <a:ea typeface="IBM Plex Sans"/>
                <a:cs typeface="IBM Plex Sans"/>
              </a:endParaRPr>
            </a:p>
          </p:txBody>
        </p:sp>
      </p:grpSp>
      <p:grpSp>
        <p:nvGrpSpPr>
          <p:cNvPr id="75" name="node13"/>
          <p:cNvGrpSpPr/>
          <p:nvPr/>
        </p:nvGrpSpPr>
        <p:grpSpPr>
          <a:xfrm>
            <a:off x="4381500" y="4114800"/>
            <a:ext cx="3429000" cy="228600"/>
            <a:chOff x="4381500" y="4114800"/>
            <a:chExt cx="3429000" cy="228600"/>
          </a:xfrm>
        </p:grpSpPr>
        <p:sp>
          <p:nvSpPr>
            <p:cNvPr id="42" name="node13.label"/>
            <p:cNvSpPr/>
            <p:nvPr/>
          </p:nvSpPr>
          <p:spPr>
            <a:xfrm>
              <a:off x="4381500" y="4114800"/>
              <a:ext cx="1154553"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WHO SHOULD ATTEND</a:t>
              </a:r>
              <a:endParaRPr lang="en-US" sz="800" spc="48" kern="0" b="0" i="0" dirty="0">
                <a:solidFill>
                  <a:srgbClr val="50658E"/>
                </a:solidFill>
                <a:latin typeface="IBM Plex Mono Medium"/>
                <a:ea typeface="IBM Plex Mono Medium"/>
                <a:cs typeface="IBM Plex Mono Medium"/>
              </a:endParaRPr>
            </a:p>
          </p:txBody>
        </p:sp>
        <p:sp>
          <p:nvSpPr>
            <p:cNvPr id="43" name="node13.rule"/>
            <p:cNvSpPr/>
            <p:nvPr/>
          </p:nvSpPr>
          <p:spPr>
            <a:xfrm>
              <a:off x="5663053" y="4224338"/>
              <a:ext cx="2147447" cy="9525"/>
            </a:xfrm>
            <a:prstGeom prst="rect">
              <a:avLst/>
            </a:prstGeom>
            <a:solidFill>
              <a:srgbClr val="CED7E6"/>
            </a:solidFill>
            <a:ln>
              <a:noFill/>
            </a:ln>
          </p:spPr>
        </p:sp>
      </p:grpSp>
      <p:sp>
        <p:nvSpPr>
          <p:cNvPr id="44" name="node14"/>
          <p:cNvSpPr/>
          <p:nvPr/>
        </p:nvSpPr>
        <p:spPr>
          <a:xfrm>
            <a:off x="4381500" y="4343400"/>
            <a:ext cx="3429000" cy="9525"/>
          </a:xfrm>
          <a:prstGeom prst="rect">
            <a:avLst/>
          </a:prstGeom>
          <a:solidFill>
            <a:srgbClr val="CED7E6"/>
          </a:solidFill>
          <a:ln>
            <a:noFill/>
          </a:ln>
        </p:spPr>
      </p:sp>
      <p:grpSp>
        <p:nvGrpSpPr>
          <p:cNvPr id="76" name="node15"/>
          <p:cNvGrpSpPr/>
          <p:nvPr/>
        </p:nvGrpSpPr>
        <p:grpSpPr>
          <a:xfrm>
            <a:off x="4381500" y="4572000"/>
            <a:ext cx="3429000" cy="977900"/>
            <a:chOff x="4381500" y="4572000"/>
            <a:chExt cx="3429000" cy="977900"/>
          </a:xfrm>
        </p:grpSpPr>
        <p:sp>
          <p:nvSpPr>
            <p:cNvPr id="45" name="node15.source-001.bullet"/>
            <p:cNvSpPr/>
            <p:nvPr/>
          </p:nvSpPr>
          <p:spPr>
            <a:xfrm>
              <a:off x="4381500" y="4660900"/>
              <a:ext cx="38100" cy="38100"/>
            </a:xfrm>
            <a:prstGeom prst="rect">
              <a:avLst/>
            </a:prstGeom>
            <a:solidFill>
              <a:srgbClr val="070154"/>
            </a:solidFill>
            <a:ln>
              <a:noFill/>
            </a:ln>
          </p:spPr>
        </p:sp>
        <p:sp>
          <p:nvSpPr>
            <p:cNvPr id="46" name="node15.source-001.text"/>
            <p:cNvSpPr/>
            <p:nvPr/>
          </p:nvSpPr>
          <p:spPr>
            <a:xfrm>
              <a:off x="4533900" y="4572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Patient access and scheduling</a:t>
              </a:r>
              <a:endParaRPr lang="en-US" sz="1200" spc="0" kern="0" b="0" i="0" dirty="0">
                <a:solidFill>
                  <a:srgbClr val="070154"/>
                </a:solidFill>
                <a:latin typeface="IBM Plex Sans"/>
                <a:ea typeface="IBM Plex Sans"/>
                <a:cs typeface="IBM Plex Sans"/>
              </a:endParaRPr>
            </a:p>
          </p:txBody>
        </p:sp>
        <p:sp>
          <p:nvSpPr>
            <p:cNvPr id="47" name="node15.source-002.bullet"/>
            <p:cNvSpPr/>
            <p:nvPr/>
          </p:nvSpPr>
          <p:spPr>
            <a:xfrm>
              <a:off x="4381500" y="4914900"/>
              <a:ext cx="38100" cy="38100"/>
            </a:xfrm>
            <a:prstGeom prst="rect">
              <a:avLst/>
            </a:prstGeom>
            <a:solidFill>
              <a:srgbClr val="070154"/>
            </a:solidFill>
            <a:ln>
              <a:noFill/>
            </a:ln>
          </p:spPr>
        </p:sp>
        <p:sp>
          <p:nvSpPr>
            <p:cNvPr id="48" name="node15.source-002.text"/>
            <p:cNvSpPr/>
            <p:nvPr/>
          </p:nvSpPr>
          <p:spPr>
            <a:xfrm>
              <a:off x="4533900" y="4826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Revenue cycle and denials</a:t>
              </a:r>
              <a:endParaRPr lang="en-US" sz="1200" spc="0" kern="0" b="0" i="0" dirty="0">
                <a:solidFill>
                  <a:srgbClr val="070154"/>
                </a:solidFill>
                <a:latin typeface="IBM Plex Sans"/>
                <a:ea typeface="IBM Plex Sans"/>
                <a:cs typeface="IBM Plex Sans"/>
              </a:endParaRPr>
            </a:p>
          </p:txBody>
        </p:sp>
        <p:sp>
          <p:nvSpPr>
            <p:cNvPr id="49" name="node15.source-003.bullet"/>
            <p:cNvSpPr/>
            <p:nvPr/>
          </p:nvSpPr>
          <p:spPr>
            <a:xfrm>
              <a:off x="4381500" y="5168900"/>
              <a:ext cx="38100" cy="38100"/>
            </a:xfrm>
            <a:prstGeom prst="rect">
              <a:avLst/>
            </a:prstGeom>
            <a:solidFill>
              <a:srgbClr val="070154"/>
            </a:solidFill>
            <a:ln>
              <a:noFill/>
            </a:ln>
          </p:spPr>
        </p:sp>
        <p:sp>
          <p:nvSpPr>
            <p:cNvPr id="50" name="node15.source-003.text"/>
            <p:cNvSpPr/>
            <p:nvPr/>
          </p:nvSpPr>
          <p:spPr>
            <a:xfrm>
              <a:off x="4533900" y="5080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supervisors</a:t>
              </a:r>
              <a:endParaRPr lang="en-US" sz="1200" spc="0" kern="0" b="0" i="0" dirty="0">
                <a:solidFill>
                  <a:srgbClr val="070154"/>
                </a:solidFill>
                <a:latin typeface="IBM Plex Sans"/>
                <a:ea typeface="IBM Plex Sans"/>
                <a:cs typeface="IBM Plex Sans"/>
              </a:endParaRPr>
            </a:p>
          </p:txBody>
        </p:sp>
        <p:sp>
          <p:nvSpPr>
            <p:cNvPr id="51" name="node15.source-004.bullet"/>
            <p:cNvSpPr/>
            <p:nvPr/>
          </p:nvSpPr>
          <p:spPr>
            <a:xfrm>
              <a:off x="4381500" y="5422900"/>
              <a:ext cx="38100" cy="38100"/>
            </a:xfrm>
            <a:prstGeom prst="rect">
              <a:avLst/>
            </a:prstGeom>
            <a:solidFill>
              <a:srgbClr val="070154"/>
            </a:solidFill>
            <a:ln>
              <a:noFill/>
            </a:ln>
          </p:spPr>
        </p:sp>
        <p:sp>
          <p:nvSpPr>
            <p:cNvPr id="52" name="node15.source-004.text"/>
            <p:cNvSpPr/>
            <p:nvPr/>
          </p:nvSpPr>
          <p:spPr>
            <a:xfrm>
              <a:off x="4533900" y="5334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IT application owners</a:t>
              </a:r>
              <a:endParaRPr lang="en-US" sz="1200" spc="0" kern="0" b="0" i="0" dirty="0">
                <a:solidFill>
                  <a:srgbClr val="070154"/>
                </a:solidFill>
                <a:latin typeface="IBM Plex Sans"/>
                <a:ea typeface="IBM Plex Sans"/>
                <a:cs typeface="IBM Plex Sans"/>
              </a:endParaRPr>
            </a:p>
          </p:txBody>
        </p:sp>
      </p:grpSp>
      <p:grpSp>
        <p:nvGrpSpPr>
          <p:cNvPr id="77" name="node16"/>
          <p:cNvGrpSpPr/>
          <p:nvPr/>
        </p:nvGrpSpPr>
        <p:grpSpPr>
          <a:xfrm>
            <a:off x="8039100" y="1600200"/>
            <a:ext cx="3429000" cy="4114800"/>
            <a:chOff x="8039100" y="1600200"/>
            <a:chExt cx="3429000" cy="4114800"/>
          </a:xfrm>
        </p:grpSpPr>
        <p:sp>
          <p:nvSpPr>
            <p:cNvPr id="53" name="node16.container"/>
            <p:cNvSpPr/>
            <p:nvPr/>
          </p:nvSpPr>
          <p:spPr>
            <a:xfrm>
              <a:off x="8039100" y="1600200"/>
              <a:ext cx="3429000" cy="4114800"/>
            </a:xfrm>
            <a:prstGeom prst="rect">
              <a:avLst/>
            </a:prstGeom>
            <a:solidFill>
              <a:srgbClr val="070154"/>
            </a:solidFill>
            <a:ln>
              <a:noFill/>
            </a:ln>
          </p:spPr>
        </p:sp>
        <p:sp>
          <p:nvSpPr>
            <p:cNvPr id="54" name="node16.label"/>
            <p:cNvSpPr/>
            <p:nvPr/>
          </p:nvSpPr>
          <p:spPr>
            <a:xfrm>
              <a:off x="8267700" y="18288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WHAT YOU WILL LEAVE WITH</a:t>
              </a:r>
              <a:endParaRPr lang="en-US" sz="800" spc="48" kern="0" b="0" i="0" dirty="0">
                <a:solidFill>
                  <a:srgbClr val="F900D3"/>
                </a:solidFill>
                <a:latin typeface="IBM Plex Mono Medium"/>
                <a:ea typeface="IBM Plex Mono Medium"/>
                <a:cs typeface="IBM Plex Mono Medium"/>
              </a:endParaRPr>
            </a:p>
          </p:txBody>
        </p:sp>
        <p:sp>
          <p:nvSpPr>
            <p:cNvPr id="55" name="node16.title"/>
            <p:cNvSpPr/>
            <p:nvPr/>
          </p:nvSpPr>
          <p:spPr>
            <a:xfrm>
              <a:off x="8267700" y="2044700"/>
              <a:ext cx="29718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Five decisions, one shared design</a:t>
              </a:r>
              <a:endParaRPr lang="en-US" sz="1600" spc="-16" kern="0" b="0" i="0" dirty="0">
                <a:solidFill>
                  <a:srgbClr val="FFFFFF"/>
                </a:solidFill>
                <a:latin typeface="IBM Plex Sans SemiBold"/>
                <a:ea typeface="IBM Plex Sans SemiBold"/>
                <a:cs typeface="IBM Plex Sans SemiBold"/>
              </a:endParaRPr>
            </a:p>
          </p:txBody>
        </p:sp>
        <p:sp>
          <p:nvSpPr>
            <p:cNvPr id="56" name="node16.body.item-001.bullets.item-001.marker"/>
            <p:cNvSpPr/>
            <p:nvPr/>
          </p:nvSpPr>
          <p:spPr>
            <a:xfrm>
              <a:off x="8267700" y="2819400"/>
              <a:ext cx="38100" cy="38100"/>
            </a:xfrm>
            <a:prstGeom prst="rect">
              <a:avLst/>
            </a:prstGeom>
            <a:solidFill>
              <a:srgbClr val="FFFFFF"/>
            </a:solidFill>
            <a:ln>
              <a:noFill/>
            </a:ln>
          </p:spPr>
        </p:sp>
        <p:sp>
          <p:nvSpPr>
            <p:cNvPr id="57" name="node16.body.item-001.bullets.item-001.text"/>
            <p:cNvSpPr/>
            <p:nvPr/>
          </p:nvSpPr>
          <p:spPr>
            <a:xfrm>
              <a:off x="8420100" y="2730500"/>
              <a:ext cx="2819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 future-state process for each of the four areas</a:t>
              </a:r>
              <a:endParaRPr lang="en-US" sz="1200" spc="0" kern="0" b="0" i="0" dirty="0">
                <a:solidFill>
                  <a:srgbClr val="FFFFFF"/>
                </a:solidFill>
                <a:latin typeface="IBM Plex Sans"/>
                <a:ea typeface="IBM Plex Sans"/>
                <a:cs typeface="IBM Plex Sans"/>
              </a:endParaRPr>
            </a:p>
          </p:txBody>
        </p:sp>
        <p:sp>
          <p:nvSpPr>
            <p:cNvPr id="58" name="node16.body.item-001.bullets.item-002.marker"/>
            <p:cNvSpPr/>
            <p:nvPr/>
          </p:nvSpPr>
          <p:spPr>
            <a:xfrm>
              <a:off x="8267700" y="3289300"/>
              <a:ext cx="38100" cy="38100"/>
            </a:xfrm>
            <a:prstGeom prst="rect">
              <a:avLst/>
            </a:prstGeom>
            <a:solidFill>
              <a:srgbClr val="FFFFFF"/>
            </a:solidFill>
            <a:ln>
              <a:noFill/>
            </a:ln>
          </p:spPr>
        </p:sp>
        <p:sp>
          <p:nvSpPr>
            <p:cNvPr id="59" name="node16.body.item-001.bullets.item-002.text"/>
            <p:cNvSpPr/>
            <p:nvPr/>
          </p:nvSpPr>
          <p:spPr>
            <a:xfrm>
              <a:off x="8420100" y="3200400"/>
              <a:ext cx="2819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Named owner and target measure per area</a:t>
              </a:r>
              <a:endParaRPr lang="en-US" sz="1200" spc="0" kern="0" b="0" i="0" dirty="0">
                <a:solidFill>
                  <a:srgbClr val="FFFFFF"/>
                </a:solidFill>
                <a:latin typeface="IBM Plex Sans"/>
                <a:ea typeface="IBM Plex Sans"/>
                <a:cs typeface="IBM Plex Sans"/>
              </a:endParaRPr>
            </a:p>
          </p:txBody>
        </p:sp>
        <p:sp>
          <p:nvSpPr>
            <p:cNvPr id="60" name="node16.body.item-001.bullets.item-003.marker"/>
            <p:cNvSpPr/>
            <p:nvPr/>
          </p:nvSpPr>
          <p:spPr>
            <a:xfrm>
              <a:off x="8267700" y="3759200"/>
              <a:ext cx="38100" cy="38100"/>
            </a:xfrm>
            <a:prstGeom prst="rect">
              <a:avLst/>
            </a:prstGeom>
            <a:solidFill>
              <a:srgbClr val="FFFFFF"/>
            </a:solidFill>
            <a:ln>
              <a:noFill/>
            </a:ln>
          </p:spPr>
        </p:sp>
        <p:sp>
          <p:nvSpPr>
            <p:cNvPr id="61" name="node16.body.item-001.bullets.item-003.text"/>
            <p:cNvSpPr/>
            <p:nvPr/>
          </p:nvSpPr>
          <p:spPr>
            <a:xfrm>
              <a:off x="8420100" y="36703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 decisions log signed off in the room</a:t>
              </a:r>
              <a:endParaRPr lang="en-US" sz="1200" spc="0" kern="0" b="0" i="0" dirty="0">
                <a:solidFill>
                  <a:srgbClr val="FFFFFF"/>
                </a:solidFill>
                <a:latin typeface="IBM Plex Sans"/>
                <a:ea typeface="IBM Plex Sans"/>
                <a:cs typeface="IBM Plex Sans"/>
              </a:endParaRPr>
            </a:p>
          </p:txBody>
        </p:sp>
        <p:sp>
          <p:nvSpPr>
            <p:cNvPr id="62" name="node16.body.item-001.bullets.item-004.marker"/>
            <p:cNvSpPr/>
            <p:nvPr/>
          </p:nvSpPr>
          <p:spPr>
            <a:xfrm>
              <a:off x="8267700" y="4013200"/>
              <a:ext cx="38100" cy="38100"/>
            </a:xfrm>
            <a:prstGeom prst="rect">
              <a:avLst/>
            </a:prstGeom>
            <a:solidFill>
              <a:srgbClr val="FFFFFF"/>
            </a:solidFill>
            <a:ln>
              <a:noFill/>
            </a:ln>
          </p:spPr>
        </p:sp>
        <p:sp>
          <p:nvSpPr>
            <p:cNvPr id="63" name="node16.body.item-001.bullets.item-004.text"/>
            <p:cNvSpPr/>
            <p:nvPr/>
          </p:nvSpPr>
          <p:spPr>
            <a:xfrm>
              <a:off x="8420100" y="39243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 ranked list of 12 to 15 opportunities</a:t>
              </a:r>
              <a:endParaRPr lang="en-US" sz="1200" spc="0" kern="0" b="0" i="0" dirty="0">
                <a:solidFill>
                  <a:srgbClr val="FFFFFF"/>
                </a:solidFill>
                <a:latin typeface="IBM Plex Sans"/>
                <a:ea typeface="IBM Plex Sans"/>
                <a:cs typeface="IBM Plex Sans"/>
              </a:endParaRPr>
            </a:p>
          </p:txBody>
        </p:sp>
        <p:sp>
          <p:nvSpPr>
            <p:cNvPr id="64" name="node16.body.item-001.bullets.item-005.marker"/>
            <p:cNvSpPr/>
            <p:nvPr/>
          </p:nvSpPr>
          <p:spPr>
            <a:xfrm>
              <a:off x="8267700" y="4267200"/>
              <a:ext cx="38100" cy="38100"/>
            </a:xfrm>
            <a:prstGeom prst="rect">
              <a:avLst/>
            </a:prstGeom>
            <a:solidFill>
              <a:srgbClr val="FFFFFF"/>
            </a:solidFill>
            <a:ln>
              <a:noFill/>
            </a:ln>
          </p:spPr>
        </p:sp>
        <p:sp>
          <p:nvSpPr>
            <p:cNvPr id="65" name="node16.body.item-001.bullets.item-005.text"/>
            <p:cNvSpPr/>
            <p:nvPr/>
          </p:nvSpPr>
          <p:spPr>
            <a:xfrm>
              <a:off x="8420100" y="41783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Pre-work for the prioritization session</a:t>
              </a:r>
              <a:endParaRPr lang="en-US" sz="1200" spc="0" kern="0" b="0" i="0" dirty="0">
                <a:solidFill>
                  <a:srgbClr val="FFFFFF"/>
                </a:solidFill>
                <a:latin typeface="IBM Plex Sans"/>
                <a:ea typeface="IBM Plex Sans"/>
                <a:cs typeface="IBM Plex Sans"/>
              </a:endParaRPr>
            </a:p>
          </p:txBody>
        </p:sp>
        <p:sp>
          <p:nvSpPr>
            <p:cNvPr id="66" name="node16.body.item-002.paragraph"/>
            <p:cNvSpPr/>
            <p:nvPr/>
          </p:nvSpPr>
          <p:spPr>
            <a:xfrm>
              <a:off x="8267700" y="4470400"/>
              <a:ext cx="2971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CED7E6"/>
                  </a:solidFill>
                  <a:latin typeface="IBM Plex Sans"/>
                  <a:ea typeface="IBM Plex Sans"/>
                  <a:cs typeface="IBM Plex Sans"/>
                </a:rPr>
                <a:t>Oct 28 · 9:00 to 12:00 · Northfield HQ and video</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ource-63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half day on how patients get access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167</a:t>
            </a:fld>
            <a:endParaRPr lang="en-US" sz="700" spc="0" kern="0" b="0" i="0" dirty="0">
              <a:solidFill>
                <a:srgbClr val="070154"/>
              </a:solidFill>
              <a:latin typeface="IBM Plex Mono SemiBold"/>
              <a:ea typeface="IBM Plex Mono SemiBold"/>
              <a:cs typeface="IBM Plex Mono SemiBold"/>
            </a:endParaRPr>
          </a:p>
        </p:txBody>
      </p:sp>
      <p:grpSp>
        <p:nvGrpSpPr>
          <p:cNvPr id="46" name="node01"/>
          <p:cNvGrpSpPr/>
          <p:nvPr/>
        </p:nvGrpSpPr>
        <p:grpSpPr>
          <a:xfrm>
            <a:off x="723900" y="1600200"/>
            <a:ext cx="9525000" cy="660400"/>
            <a:chOff x="723900" y="1600200"/>
            <a:chExt cx="9525000" cy="660400"/>
          </a:xfrm>
        </p:grpSpPr>
        <p:sp>
          <p:nvSpPr>
            <p:cNvPr id="6" name="node01.text"/>
            <p:cNvSpPr/>
            <p:nvPr/>
          </p:nvSpPr>
          <p:spPr>
            <a:xfrm>
              <a:off x="723900" y="1600200"/>
              <a:ext cx="95250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In one morning, Northfield leaders agree how patients get in, know the cost and get paid.</a:t>
              </a:r>
              <a:endParaRPr lang="en-US" sz="2100" spc="-32" kern="0" b="0" i="0" dirty="0">
                <a:solidFill>
                  <a:srgbClr val="070154"/>
                </a:solidFill>
                <a:latin typeface="IBM Plex Sans SemiBold"/>
                <a:ea typeface="IBM Plex Sans SemiBold"/>
                <a:cs typeface="IBM Plex Sans SemiBold"/>
              </a:endParaRPr>
            </a:p>
          </p:txBody>
        </p:sp>
      </p:grpSp>
      <p:grpSp>
        <p:nvGrpSpPr>
          <p:cNvPr id="50" name="node02"/>
          <p:cNvGrpSpPr/>
          <p:nvPr/>
        </p:nvGrpSpPr>
        <p:grpSpPr>
          <a:xfrm>
            <a:off x="723900" y="2514600"/>
            <a:ext cx="10744200" cy="1371600"/>
            <a:chOff x="723900" y="2514600"/>
            <a:chExt cx="10744200" cy="1371600"/>
          </a:xfrm>
        </p:grpSpPr>
        <p:grpSp>
          <p:nvGrpSpPr>
            <p:cNvPr id="47" name="node02.item-001"/>
            <p:cNvGrpSpPr/>
            <p:nvPr/>
          </p:nvGrpSpPr>
          <p:grpSpPr>
            <a:xfrm>
              <a:off x="723900" y="2514600"/>
              <a:ext cx="3429000" cy="1371600"/>
              <a:chOff x="723900" y="2514600"/>
              <a:chExt cx="3429000" cy="1371600"/>
            </a:xfrm>
          </p:grpSpPr>
          <p:sp>
            <p:nvSpPr>
              <p:cNvPr id="7" name="node02.item-001.container"/>
              <p:cNvSpPr/>
              <p:nvPr/>
            </p:nvSpPr>
            <p:spPr>
              <a:xfrm>
                <a:off x="723900" y="2514600"/>
                <a:ext cx="3429000" cy="1371600"/>
              </a:xfrm>
              <a:prstGeom prst="rect">
                <a:avLst/>
              </a:prstGeom>
              <a:solidFill>
                <a:srgbClr val="E8EEF8"/>
              </a:solidFill>
              <a:ln>
                <a:noFill/>
              </a:ln>
            </p:spPr>
          </p:sp>
          <p:sp>
            <p:nvSpPr>
              <p:cNvPr id="8" name="node02.item-001.number"/>
              <p:cNvSpPr/>
              <p:nvPr/>
            </p:nvSpPr>
            <p:spPr>
              <a:xfrm>
                <a:off x="952500" y="2743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9" name="node02.item-001.title"/>
              <p:cNvSpPr/>
              <p:nvPr/>
            </p:nvSpPr>
            <p:spPr>
              <a:xfrm>
                <a:off x="1323975" y="2742946"/>
                <a:ext cx="2600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Getting patients in</a:t>
                </a:r>
                <a:endParaRPr lang="en-US" sz="1600" spc="-16" kern="0" b="0" i="0" dirty="0">
                  <a:solidFill>
                    <a:srgbClr val="070154"/>
                  </a:solidFill>
                  <a:latin typeface="IBM Plex Sans SemiBold"/>
                  <a:ea typeface="IBM Plex Sans SemiBold"/>
                  <a:cs typeface="IBM Plex Sans SemiBold"/>
                </a:endParaRPr>
              </a:p>
            </p:txBody>
          </p:sp>
          <p:sp>
            <p:nvSpPr>
              <p:cNvPr id="10" name="node02.item-001.body.item-001.paragraph"/>
              <p:cNvSpPr/>
              <p:nvPr/>
            </p:nvSpPr>
            <p:spPr>
              <a:xfrm>
                <a:off x="952500" y="3162300"/>
                <a:ext cx="2971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Scheduling and registration: one front door and one booking template.</a:t>
                </a:r>
                <a:endParaRPr lang="en-US" sz="1200" spc="0" kern="0" b="0" i="0" dirty="0">
                  <a:solidFill>
                    <a:srgbClr val="50658E"/>
                  </a:solidFill>
                  <a:latin typeface="IBM Plex Sans"/>
                  <a:ea typeface="IBM Plex Sans"/>
                  <a:cs typeface="IBM Plex Sans"/>
                </a:endParaRPr>
              </a:p>
            </p:txBody>
          </p:sp>
        </p:grpSp>
        <p:grpSp>
          <p:nvGrpSpPr>
            <p:cNvPr id="48" name="node02.item-002"/>
            <p:cNvGrpSpPr/>
            <p:nvPr/>
          </p:nvGrpSpPr>
          <p:grpSpPr>
            <a:xfrm>
              <a:off x="4381500" y="2514600"/>
              <a:ext cx="3429000" cy="1371600"/>
              <a:chOff x="4381500" y="2514600"/>
              <a:chExt cx="3429000" cy="1371600"/>
            </a:xfrm>
          </p:grpSpPr>
          <p:sp>
            <p:nvSpPr>
              <p:cNvPr id="11" name="node02.item-002.container"/>
              <p:cNvSpPr/>
              <p:nvPr/>
            </p:nvSpPr>
            <p:spPr>
              <a:xfrm>
                <a:off x="4381500" y="2514600"/>
                <a:ext cx="3429000" cy="1371600"/>
              </a:xfrm>
              <a:prstGeom prst="rect">
                <a:avLst/>
              </a:prstGeom>
              <a:solidFill>
                <a:srgbClr val="E8EEF8"/>
              </a:solidFill>
              <a:ln>
                <a:noFill/>
              </a:ln>
            </p:spPr>
          </p:sp>
          <p:sp>
            <p:nvSpPr>
              <p:cNvPr id="12" name="node02.item-002.number"/>
              <p:cNvSpPr/>
              <p:nvPr/>
            </p:nvSpPr>
            <p:spPr>
              <a:xfrm>
                <a:off x="4610100" y="2743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13" name="node02.item-002.title"/>
              <p:cNvSpPr/>
              <p:nvPr/>
            </p:nvSpPr>
            <p:spPr>
              <a:xfrm>
                <a:off x="4981575" y="2742946"/>
                <a:ext cx="2600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Knowing the cost</a:t>
                </a:r>
                <a:endParaRPr lang="en-US" sz="1600" spc="-16" kern="0" b="0" i="0" dirty="0">
                  <a:solidFill>
                    <a:srgbClr val="070154"/>
                  </a:solidFill>
                  <a:latin typeface="IBM Plex Sans SemiBold"/>
                  <a:ea typeface="IBM Plex Sans SemiBold"/>
                  <a:cs typeface="IBM Plex Sans SemiBold"/>
                </a:endParaRPr>
              </a:p>
            </p:txBody>
          </p:sp>
          <p:sp>
            <p:nvSpPr>
              <p:cNvPr id="14" name="node02.item-002.body.item-001.paragraph"/>
              <p:cNvSpPr/>
              <p:nvPr/>
            </p:nvSpPr>
            <p:spPr>
              <a:xfrm>
                <a:off x="4610100" y="3162300"/>
                <a:ext cx="2971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Estimates: a reliable price before the patient books.</a:t>
                </a:r>
                <a:endParaRPr lang="en-US" sz="1200" spc="0" kern="0" b="0" i="0" dirty="0">
                  <a:solidFill>
                    <a:srgbClr val="50658E"/>
                  </a:solidFill>
                  <a:latin typeface="IBM Plex Sans"/>
                  <a:ea typeface="IBM Plex Sans"/>
                  <a:cs typeface="IBM Plex Sans"/>
                </a:endParaRPr>
              </a:p>
            </p:txBody>
          </p:sp>
        </p:grpSp>
        <p:grpSp>
          <p:nvGrpSpPr>
            <p:cNvPr id="49" name="node02.item-003"/>
            <p:cNvGrpSpPr/>
            <p:nvPr/>
          </p:nvGrpSpPr>
          <p:grpSpPr>
            <a:xfrm>
              <a:off x="8039100" y="2514600"/>
              <a:ext cx="3429000" cy="1371600"/>
              <a:chOff x="8039100" y="2514600"/>
              <a:chExt cx="3429000" cy="1371600"/>
            </a:xfrm>
          </p:grpSpPr>
          <p:sp>
            <p:nvSpPr>
              <p:cNvPr id="15" name="node02.item-003.container"/>
              <p:cNvSpPr/>
              <p:nvPr/>
            </p:nvSpPr>
            <p:spPr>
              <a:xfrm>
                <a:off x="8039100" y="2514600"/>
                <a:ext cx="3429000" cy="1371600"/>
              </a:xfrm>
              <a:prstGeom prst="rect">
                <a:avLst/>
              </a:prstGeom>
              <a:solidFill>
                <a:srgbClr val="E8EEF8"/>
              </a:solidFill>
              <a:ln>
                <a:noFill/>
              </a:ln>
            </p:spPr>
          </p:sp>
          <p:sp>
            <p:nvSpPr>
              <p:cNvPr id="16" name="node02.item-003.number"/>
              <p:cNvSpPr/>
              <p:nvPr/>
            </p:nvSpPr>
            <p:spPr>
              <a:xfrm>
                <a:off x="8267700" y="2743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17" name="node02.item-003.title"/>
              <p:cNvSpPr/>
              <p:nvPr/>
            </p:nvSpPr>
            <p:spPr>
              <a:xfrm>
                <a:off x="8639175" y="2742946"/>
                <a:ext cx="2600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Getting paid</a:t>
                </a:r>
                <a:endParaRPr lang="en-US" sz="1600" spc="-16" kern="0" b="0" i="0" dirty="0">
                  <a:solidFill>
                    <a:srgbClr val="070154"/>
                  </a:solidFill>
                  <a:latin typeface="IBM Plex Sans SemiBold"/>
                  <a:ea typeface="IBM Plex Sans SemiBold"/>
                  <a:cs typeface="IBM Plex Sans SemiBold"/>
                </a:endParaRPr>
              </a:p>
            </p:txBody>
          </p:sp>
          <p:sp>
            <p:nvSpPr>
              <p:cNvPr id="18" name="node02.item-003.body.item-001.paragraph"/>
              <p:cNvSpPr/>
              <p:nvPr/>
            </p:nvSpPr>
            <p:spPr>
              <a:xfrm>
                <a:off x="8267700" y="3162300"/>
                <a:ext cx="2971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Denials: stop front-end causes before the claim is sent.</a:t>
                </a:r>
                <a:endParaRPr lang="en-US" sz="1200" spc="0" kern="0" b="0" i="0" dirty="0">
                  <a:solidFill>
                    <a:srgbClr val="50658E"/>
                  </a:solidFill>
                  <a:latin typeface="IBM Plex Sans"/>
                  <a:ea typeface="IBM Plex Sans"/>
                  <a:cs typeface="IBM Plex Sans"/>
                </a:endParaRPr>
              </a:p>
            </p:txBody>
          </p:sp>
        </p:grpSp>
      </p:grpSp>
      <p:grpSp>
        <p:nvGrpSpPr>
          <p:cNvPr id="51" name="node03"/>
          <p:cNvGrpSpPr/>
          <p:nvPr/>
        </p:nvGrpSpPr>
        <p:grpSpPr>
          <a:xfrm>
            <a:off x="723900" y="4343400"/>
            <a:ext cx="3429000" cy="228600"/>
            <a:chOff x="723900" y="4343400"/>
            <a:chExt cx="3429000" cy="228600"/>
          </a:xfrm>
        </p:grpSpPr>
        <p:sp>
          <p:nvSpPr>
            <p:cNvPr id="19" name="node03.label"/>
            <p:cNvSpPr/>
            <p:nvPr/>
          </p:nvSpPr>
          <p:spPr>
            <a:xfrm>
              <a:off x="723900" y="4343400"/>
              <a:ext cx="423925"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AGENDA</a:t>
              </a:r>
              <a:endParaRPr lang="en-US" sz="800" spc="48" kern="0" b="0" i="0" dirty="0">
                <a:solidFill>
                  <a:srgbClr val="50658E"/>
                </a:solidFill>
                <a:latin typeface="IBM Plex Mono Medium"/>
                <a:ea typeface="IBM Plex Mono Medium"/>
                <a:cs typeface="IBM Plex Mono Medium"/>
              </a:endParaRPr>
            </a:p>
          </p:txBody>
        </p:sp>
        <p:sp>
          <p:nvSpPr>
            <p:cNvPr id="20" name="node03.rule"/>
            <p:cNvSpPr/>
            <p:nvPr/>
          </p:nvSpPr>
          <p:spPr>
            <a:xfrm>
              <a:off x="1274825" y="4452938"/>
              <a:ext cx="2878075" cy="9525"/>
            </a:xfrm>
            <a:prstGeom prst="rect">
              <a:avLst/>
            </a:prstGeom>
            <a:solidFill>
              <a:srgbClr val="CED7E6"/>
            </a:solidFill>
            <a:ln>
              <a:noFill/>
            </a:ln>
          </p:spPr>
        </p:sp>
      </p:grpSp>
      <p:sp>
        <p:nvSpPr>
          <p:cNvPr id="21" name="node04"/>
          <p:cNvSpPr/>
          <p:nvPr/>
        </p:nvSpPr>
        <p:spPr>
          <a:xfrm>
            <a:off x="723900" y="4572000"/>
            <a:ext cx="3429000" cy="9525"/>
          </a:xfrm>
          <a:prstGeom prst="rect">
            <a:avLst/>
          </a:prstGeom>
          <a:solidFill>
            <a:srgbClr val="CED7E6"/>
          </a:solidFill>
          <a:ln>
            <a:noFill/>
          </a:ln>
        </p:spPr>
      </p:sp>
      <p:grpSp>
        <p:nvGrpSpPr>
          <p:cNvPr id="52" name="node05"/>
          <p:cNvGrpSpPr/>
          <p:nvPr/>
        </p:nvGrpSpPr>
        <p:grpSpPr>
          <a:xfrm>
            <a:off x="723900" y="4800600"/>
            <a:ext cx="3429000" cy="1117600"/>
            <a:chOff x="723900" y="4800600"/>
            <a:chExt cx="3429000" cy="1117600"/>
          </a:xfrm>
        </p:grpSpPr>
        <p:sp>
          <p:nvSpPr>
            <p:cNvPr id="22" name="node05.source-001.key"/>
            <p:cNvSpPr/>
            <p:nvPr/>
          </p:nvSpPr>
          <p:spPr>
            <a:xfrm>
              <a:off x="723900" y="48006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9:00</a:t>
              </a:r>
              <a:endParaRPr lang="en-US" sz="1200" spc="0" kern="0" b="1" i="0" dirty="0">
                <a:solidFill>
                  <a:srgbClr val="0047FF"/>
                </a:solidFill>
                <a:latin typeface="IBM Plex Sans"/>
                <a:ea typeface="IBM Plex Sans"/>
                <a:cs typeface="IBM Plex Sans"/>
              </a:endParaRPr>
            </a:p>
          </p:txBody>
        </p:sp>
        <p:sp>
          <p:nvSpPr>
            <p:cNvPr id="23" name="node05.source-001.text"/>
            <p:cNvSpPr/>
            <p:nvPr/>
          </p:nvSpPr>
          <p:spPr>
            <a:xfrm>
              <a:off x="1562100" y="4800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Welcome and goals</a:t>
              </a:r>
              <a:endParaRPr lang="en-US" sz="1200" spc="0" kern="0" b="0" i="0" dirty="0">
                <a:solidFill>
                  <a:srgbClr val="070154"/>
                </a:solidFill>
                <a:latin typeface="IBM Plex Sans SemiBold"/>
                <a:ea typeface="IBM Plex Sans SemiBold"/>
                <a:cs typeface="IBM Plex Sans SemiBold"/>
              </a:endParaRPr>
            </a:p>
          </p:txBody>
        </p:sp>
        <p:sp>
          <p:nvSpPr>
            <p:cNvPr id="24" name="node05.source-002.key"/>
            <p:cNvSpPr/>
            <p:nvPr/>
          </p:nvSpPr>
          <p:spPr>
            <a:xfrm>
              <a:off x="723900" y="50800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9:45</a:t>
              </a:r>
              <a:endParaRPr lang="en-US" sz="1200" spc="0" kern="0" b="1" i="0" dirty="0">
                <a:solidFill>
                  <a:srgbClr val="0047FF"/>
                </a:solidFill>
                <a:latin typeface="IBM Plex Sans"/>
                <a:ea typeface="IBM Plex Sans"/>
                <a:cs typeface="IBM Plex Sans"/>
              </a:endParaRPr>
            </a:p>
          </p:txBody>
        </p:sp>
        <p:sp>
          <p:nvSpPr>
            <p:cNvPr id="25" name="node05.source-002.text"/>
            <p:cNvSpPr/>
            <p:nvPr/>
          </p:nvSpPr>
          <p:spPr>
            <a:xfrm>
              <a:off x="1562100" y="50800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Design by area</a:t>
              </a:r>
              <a:endParaRPr lang="en-US" sz="1200" spc="0" kern="0" b="0" i="0" dirty="0">
                <a:solidFill>
                  <a:srgbClr val="070154"/>
                </a:solidFill>
                <a:latin typeface="IBM Plex Sans SemiBold"/>
                <a:ea typeface="IBM Plex Sans SemiBold"/>
                <a:cs typeface="IBM Plex Sans SemiBold"/>
              </a:endParaRPr>
            </a:p>
          </p:txBody>
        </p:sp>
        <p:sp>
          <p:nvSpPr>
            <p:cNvPr id="26" name="node05.source-003.key"/>
            <p:cNvSpPr/>
            <p:nvPr/>
          </p:nvSpPr>
          <p:spPr>
            <a:xfrm>
              <a:off x="723900" y="53594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11:40</a:t>
              </a:r>
              <a:endParaRPr lang="en-US" sz="1200" spc="0" kern="0" b="1" i="0" dirty="0">
                <a:solidFill>
                  <a:srgbClr val="0047FF"/>
                </a:solidFill>
                <a:latin typeface="IBM Plex Sans"/>
                <a:ea typeface="IBM Plex Sans"/>
                <a:cs typeface="IBM Plex Sans"/>
              </a:endParaRPr>
            </a:p>
          </p:txBody>
        </p:sp>
        <p:sp>
          <p:nvSpPr>
            <p:cNvPr id="27" name="node05.source-003.text"/>
            <p:cNvSpPr/>
            <p:nvPr/>
          </p:nvSpPr>
          <p:spPr>
            <a:xfrm>
              <a:off x="1562100" y="5359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Decisions</a:t>
              </a:r>
              <a:endParaRPr lang="en-US" sz="1200" spc="0" kern="0" b="0" i="0" dirty="0">
                <a:solidFill>
                  <a:srgbClr val="070154"/>
                </a:solidFill>
                <a:latin typeface="IBM Plex Sans SemiBold"/>
                <a:ea typeface="IBM Plex Sans SemiBold"/>
                <a:cs typeface="IBM Plex Sans SemiBold"/>
              </a:endParaRPr>
            </a:p>
          </p:txBody>
        </p:sp>
        <p:sp>
          <p:nvSpPr>
            <p:cNvPr id="28" name="node05.source-004.key"/>
            <p:cNvSpPr/>
            <p:nvPr/>
          </p:nvSpPr>
          <p:spPr>
            <a:xfrm>
              <a:off x="723900" y="56388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12:00</a:t>
              </a:r>
              <a:endParaRPr lang="en-US" sz="1200" spc="0" kern="0" b="1" i="0" dirty="0">
                <a:solidFill>
                  <a:srgbClr val="0047FF"/>
                </a:solidFill>
                <a:latin typeface="IBM Plex Sans"/>
                <a:ea typeface="IBM Plex Sans"/>
                <a:cs typeface="IBM Plex Sans"/>
              </a:endParaRPr>
            </a:p>
          </p:txBody>
        </p:sp>
        <p:sp>
          <p:nvSpPr>
            <p:cNvPr id="29" name="node05.source-004.text"/>
            <p:cNvSpPr/>
            <p:nvPr/>
          </p:nvSpPr>
          <p:spPr>
            <a:xfrm>
              <a:off x="1562100" y="56388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Close</a:t>
              </a:r>
              <a:endParaRPr lang="en-US" sz="1200" spc="0" kern="0" b="0" i="0" dirty="0">
                <a:solidFill>
                  <a:srgbClr val="070154"/>
                </a:solidFill>
                <a:latin typeface="IBM Plex Sans SemiBold"/>
                <a:ea typeface="IBM Plex Sans SemiBold"/>
                <a:cs typeface="IBM Plex Sans SemiBold"/>
              </a:endParaRPr>
            </a:p>
          </p:txBody>
        </p:sp>
      </p:grpSp>
      <p:grpSp>
        <p:nvGrpSpPr>
          <p:cNvPr id="53" name="node06"/>
          <p:cNvGrpSpPr/>
          <p:nvPr/>
        </p:nvGrpSpPr>
        <p:grpSpPr>
          <a:xfrm>
            <a:off x="4381500" y="4343400"/>
            <a:ext cx="3429000" cy="228600"/>
            <a:chOff x="4381500" y="4343400"/>
            <a:chExt cx="3429000" cy="228600"/>
          </a:xfrm>
        </p:grpSpPr>
        <p:sp>
          <p:nvSpPr>
            <p:cNvPr id="30" name="node06.label"/>
            <p:cNvSpPr/>
            <p:nvPr/>
          </p:nvSpPr>
          <p:spPr>
            <a:xfrm>
              <a:off x="4381500" y="4343400"/>
              <a:ext cx="1287394"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YOU WILL LEAVE WITH</a:t>
              </a:r>
              <a:endParaRPr lang="en-US" sz="800" spc="48" kern="0" b="0" i="0" dirty="0">
                <a:solidFill>
                  <a:srgbClr val="50658E"/>
                </a:solidFill>
                <a:latin typeface="IBM Plex Mono Medium"/>
                <a:ea typeface="IBM Plex Mono Medium"/>
                <a:cs typeface="IBM Plex Mono Medium"/>
              </a:endParaRPr>
            </a:p>
          </p:txBody>
        </p:sp>
        <p:sp>
          <p:nvSpPr>
            <p:cNvPr id="31" name="node06.rule"/>
            <p:cNvSpPr/>
            <p:nvPr/>
          </p:nvSpPr>
          <p:spPr>
            <a:xfrm>
              <a:off x="5795894" y="4452938"/>
              <a:ext cx="2014606" cy="9525"/>
            </a:xfrm>
            <a:prstGeom prst="rect">
              <a:avLst/>
            </a:prstGeom>
            <a:solidFill>
              <a:srgbClr val="CED7E6"/>
            </a:solidFill>
            <a:ln>
              <a:noFill/>
            </a:ln>
          </p:spPr>
        </p:sp>
      </p:grpSp>
      <p:sp>
        <p:nvSpPr>
          <p:cNvPr id="32" name="node07"/>
          <p:cNvSpPr/>
          <p:nvPr/>
        </p:nvSpPr>
        <p:spPr>
          <a:xfrm>
            <a:off x="4381500" y="4572000"/>
            <a:ext cx="3429000" cy="9525"/>
          </a:xfrm>
          <a:prstGeom prst="rect">
            <a:avLst/>
          </a:prstGeom>
          <a:solidFill>
            <a:srgbClr val="CED7E6"/>
          </a:solidFill>
          <a:ln>
            <a:noFill/>
          </a:ln>
        </p:spPr>
      </p:sp>
      <p:grpSp>
        <p:nvGrpSpPr>
          <p:cNvPr id="54" name="node08"/>
          <p:cNvGrpSpPr/>
          <p:nvPr/>
        </p:nvGrpSpPr>
        <p:grpSpPr>
          <a:xfrm>
            <a:off x="4381500" y="4800600"/>
            <a:ext cx="3429000" cy="723900"/>
            <a:chOff x="4381500" y="4800600"/>
            <a:chExt cx="3429000" cy="723900"/>
          </a:xfrm>
        </p:grpSpPr>
        <p:sp>
          <p:nvSpPr>
            <p:cNvPr id="33" name="node08.source-001.bullet"/>
            <p:cNvSpPr/>
            <p:nvPr/>
          </p:nvSpPr>
          <p:spPr>
            <a:xfrm>
              <a:off x="4381500" y="4889500"/>
              <a:ext cx="38100" cy="38100"/>
            </a:xfrm>
            <a:prstGeom prst="rect">
              <a:avLst/>
            </a:prstGeom>
            <a:solidFill>
              <a:srgbClr val="070154"/>
            </a:solidFill>
            <a:ln>
              <a:noFill/>
            </a:ln>
          </p:spPr>
        </p:sp>
        <p:sp>
          <p:nvSpPr>
            <p:cNvPr id="34" name="node08.source-001.text"/>
            <p:cNvSpPr/>
            <p:nvPr/>
          </p:nvSpPr>
          <p:spPr>
            <a:xfrm>
              <a:off x="4533900" y="4800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future-state design</a:t>
              </a:r>
              <a:endParaRPr lang="en-US" sz="1200" spc="0" kern="0" b="0" i="0" dirty="0">
                <a:solidFill>
                  <a:srgbClr val="070154"/>
                </a:solidFill>
                <a:latin typeface="IBM Plex Sans"/>
                <a:ea typeface="IBM Plex Sans"/>
                <a:cs typeface="IBM Plex Sans"/>
              </a:endParaRPr>
            </a:p>
          </p:txBody>
        </p:sp>
        <p:sp>
          <p:nvSpPr>
            <p:cNvPr id="35" name="node08.source-002.bullet"/>
            <p:cNvSpPr/>
            <p:nvPr/>
          </p:nvSpPr>
          <p:spPr>
            <a:xfrm>
              <a:off x="4381500" y="5143500"/>
              <a:ext cx="38100" cy="38100"/>
            </a:xfrm>
            <a:prstGeom prst="rect">
              <a:avLst/>
            </a:prstGeom>
            <a:solidFill>
              <a:srgbClr val="070154"/>
            </a:solidFill>
            <a:ln>
              <a:noFill/>
            </a:ln>
          </p:spPr>
        </p:sp>
        <p:sp>
          <p:nvSpPr>
            <p:cNvPr id="36" name="node08.source-002.text"/>
            <p:cNvSpPr/>
            <p:nvPr/>
          </p:nvSpPr>
          <p:spPr>
            <a:xfrm>
              <a:off x="4533900" y="505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 for each area</a:t>
              </a:r>
              <a:endParaRPr lang="en-US" sz="1200" spc="0" kern="0" b="0" i="0" dirty="0">
                <a:solidFill>
                  <a:srgbClr val="070154"/>
                </a:solidFill>
                <a:latin typeface="IBM Plex Sans"/>
                <a:ea typeface="IBM Plex Sans"/>
                <a:cs typeface="IBM Plex Sans"/>
              </a:endParaRPr>
            </a:p>
          </p:txBody>
        </p:sp>
        <p:sp>
          <p:nvSpPr>
            <p:cNvPr id="37" name="node08.source-003.bullet"/>
            <p:cNvSpPr/>
            <p:nvPr/>
          </p:nvSpPr>
          <p:spPr>
            <a:xfrm>
              <a:off x="4381500" y="5397500"/>
              <a:ext cx="38100" cy="38100"/>
            </a:xfrm>
            <a:prstGeom prst="rect">
              <a:avLst/>
            </a:prstGeom>
            <a:solidFill>
              <a:srgbClr val="070154"/>
            </a:solidFill>
            <a:ln>
              <a:noFill/>
            </a:ln>
          </p:spPr>
        </p:sp>
        <p:sp>
          <p:nvSpPr>
            <p:cNvPr id="38" name="node08.source-003.text"/>
            <p:cNvSpPr/>
            <p:nvPr/>
          </p:nvSpPr>
          <p:spPr>
            <a:xfrm>
              <a:off x="4533900" y="5308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 shortlist to prioritize</a:t>
              </a:r>
              <a:endParaRPr lang="en-US" sz="1200" spc="0" kern="0" b="0" i="0" dirty="0">
                <a:solidFill>
                  <a:srgbClr val="070154"/>
                </a:solidFill>
                <a:latin typeface="IBM Plex Sans"/>
                <a:ea typeface="IBM Plex Sans"/>
                <a:cs typeface="IBM Plex Sans"/>
              </a:endParaRPr>
            </a:p>
          </p:txBody>
        </p:sp>
      </p:grpSp>
      <p:grpSp>
        <p:nvGrpSpPr>
          <p:cNvPr id="55" name="node09"/>
          <p:cNvGrpSpPr/>
          <p:nvPr/>
        </p:nvGrpSpPr>
        <p:grpSpPr>
          <a:xfrm>
            <a:off x="8039100" y="4343400"/>
            <a:ext cx="3429000" cy="228600"/>
            <a:chOff x="8039100" y="4343400"/>
            <a:chExt cx="3429000" cy="228600"/>
          </a:xfrm>
        </p:grpSpPr>
        <p:sp>
          <p:nvSpPr>
            <p:cNvPr id="39" name="node09.label"/>
            <p:cNvSpPr/>
            <p:nvPr/>
          </p:nvSpPr>
          <p:spPr>
            <a:xfrm>
              <a:off x="8039100" y="4343400"/>
              <a:ext cx="62318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WHO JOINS</a:t>
              </a:r>
              <a:endParaRPr lang="en-US" sz="800" spc="48" kern="0" b="0" i="0" dirty="0">
                <a:solidFill>
                  <a:srgbClr val="50658E"/>
                </a:solidFill>
                <a:latin typeface="IBM Plex Mono Medium"/>
                <a:ea typeface="IBM Plex Mono Medium"/>
                <a:cs typeface="IBM Plex Mono Medium"/>
              </a:endParaRPr>
            </a:p>
          </p:txBody>
        </p:sp>
        <p:sp>
          <p:nvSpPr>
            <p:cNvPr id="40" name="node09.rule"/>
            <p:cNvSpPr/>
            <p:nvPr/>
          </p:nvSpPr>
          <p:spPr>
            <a:xfrm>
              <a:off x="8789287" y="4452938"/>
              <a:ext cx="2678813" cy="9525"/>
            </a:xfrm>
            <a:prstGeom prst="rect">
              <a:avLst/>
            </a:prstGeom>
            <a:solidFill>
              <a:srgbClr val="CED7E6"/>
            </a:solidFill>
            <a:ln>
              <a:noFill/>
            </a:ln>
          </p:spPr>
        </p:sp>
      </p:grpSp>
      <p:sp>
        <p:nvSpPr>
          <p:cNvPr id="41" name="node10"/>
          <p:cNvSpPr/>
          <p:nvPr/>
        </p:nvSpPr>
        <p:spPr>
          <a:xfrm>
            <a:off x="8039100" y="4572000"/>
            <a:ext cx="3429000" cy="9525"/>
          </a:xfrm>
          <a:prstGeom prst="rect">
            <a:avLst/>
          </a:prstGeom>
          <a:solidFill>
            <a:srgbClr val="CED7E6"/>
          </a:solidFill>
          <a:ln>
            <a:noFill/>
          </a:ln>
        </p:spPr>
      </p:sp>
      <p:grpSp>
        <p:nvGrpSpPr>
          <p:cNvPr id="56" name="node11"/>
          <p:cNvGrpSpPr/>
          <p:nvPr/>
        </p:nvGrpSpPr>
        <p:grpSpPr>
          <a:xfrm>
            <a:off x="8039100" y="4800600"/>
            <a:ext cx="3429000" cy="469900"/>
            <a:chOff x="8039100" y="4800600"/>
            <a:chExt cx="3429000" cy="469900"/>
          </a:xfrm>
        </p:grpSpPr>
        <p:sp>
          <p:nvSpPr>
            <p:cNvPr id="42" name="node11.source-001.bullet"/>
            <p:cNvSpPr/>
            <p:nvPr/>
          </p:nvSpPr>
          <p:spPr>
            <a:xfrm>
              <a:off x="8039100" y="4889500"/>
              <a:ext cx="38100" cy="38100"/>
            </a:xfrm>
            <a:prstGeom prst="rect">
              <a:avLst/>
            </a:prstGeom>
            <a:solidFill>
              <a:srgbClr val="070154"/>
            </a:solidFill>
            <a:ln>
              <a:noFill/>
            </a:ln>
          </p:spPr>
        </p:sp>
        <p:sp>
          <p:nvSpPr>
            <p:cNvPr id="43" name="node11.source-001.text"/>
            <p:cNvSpPr/>
            <p:nvPr/>
          </p:nvSpPr>
          <p:spPr>
            <a:xfrm>
              <a:off x="8191500" y="4800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Executive sponsors and area leads</a:t>
              </a:r>
              <a:endParaRPr lang="en-US" sz="1200" spc="0" kern="0" b="0" i="0" dirty="0">
                <a:solidFill>
                  <a:srgbClr val="070154"/>
                </a:solidFill>
                <a:latin typeface="IBM Plex Sans"/>
                <a:ea typeface="IBM Plex Sans"/>
                <a:cs typeface="IBM Plex Sans"/>
              </a:endParaRPr>
            </a:p>
          </p:txBody>
        </p:sp>
        <p:sp>
          <p:nvSpPr>
            <p:cNvPr id="44" name="node11.source-002.bullet"/>
            <p:cNvSpPr/>
            <p:nvPr/>
          </p:nvSpPr>
          <p:spPr>
            <a:xfrm>
              <a:off x="8039100" y="5143500"/>
              <a:ext cx="38100" cy="38100"/>
            </a:xfrm>
            <a:prstGeom prst="rect">
              <a:avLst/>
            </a:prstGeom>
            <a:solidFill>
              <a:srgbClr val="070154"/>
            </a:solidFill>
            <a:ln>
              <a:noFill/>
            </a:ln>
          </p:spPr>
        </p:sp>
        <p:sp>
          <p:nvSpPr>
            <p:cNvPr id="45" name="node11.source-002.text"/>
            <p:cNvSpPr/>
            <p:nvPr/>
          </p:nvSpPr>
          <p:spPr>
            <a:xfrm>
              <a:off x="8191500" y="505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Oct 28 · half day · HQ and video</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ource-64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workshop has a focus, a room and an output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168</a:t>
            </a:fld>
            <a:endParaRPr lang="en-US" sz="700" spc="0" kern="0" b="0" i="0" dirty="0">
              <a:solidFill>
                <a:srgbClr val="070154"/>
              </a:solidFill>
              <a:latin typeface="IBM Plex Mono SemiBold"/>
              <a:ea typeface="IBM Plex Mono SemiBold"/>
              <a:cs typeface="IBM Plex Mono SemiBold"/>
            </a:endParaRPr>
          </a:p>
        </p:txBody>
      </p:sp>
      <p:grpSp>
        <p:nvGrpSpPr>
          <p:cNvPr id="55" name="node01"/>
          <p:cNvGrpSpPr/>
          <p:nvPr/>
        </p:nvGrpSpPr>
        <p:grpSpPr>
          <a:xfrm>
            <a:off x="723900" y="1600200"/>
            <a:ext cx="10744200" cy="4114800"/>
            <a:chOff x="723900" y="1600200"/>
            <a:chExt cx="10744200" cy="4114800"/>
          </a:xfrm>
        </p:grpSpPr>
        <p:grpSp>
          <p:nvGrpSpPr>
            <p:cNvPr id="51" name="node01.item-001"/>
            <p:cNvGrpSpPr/>
            <p:nvPr/>
          </p:nvGrpSpPr>
          <p:grpSpPr>
            <a:xfrm>
              <a:off x="723900" y="1600200"/>
              <a:ext cx="2514600" cy="4114800"/>
              <a:chOff x="723900" y="1600200"/>
              <a:chExt cx="2514600" cy="4114800"/>
            </a:xfrm>
          </p:grpSpPr>
          <p:sp>
            <p:nvSpPr>
              <p:cNvPr id="7" name="node01.item-001.container"/>
              <p:cNvSpPr/>
              <p:nvPr/>
            </p:nvSpPr>
            <p:spPr>
              <a:xfrm>
                <a:off x="723900" y="1600200"/>
                <a:ext cx="2514600" cy="4114800"/>
              </a:xfrm>
              <a:prstGeom prst="rect">
                <a:avLst/>
              </a:prstGeom>
              <a:solidFill>
                <a:srgbClr val="E8EEF8"/>
              </a:solidFill>
              <a:ln>
                <a:noFill/>
              </a:ln>
            </p:spPr>
          </p:sp>
          <p:sp>
            <p:nvSpPr>
              <p:cNvPr id="8" name="node01.item-001.label"/>
              <p:cNvSpPr/>
              <p:nvPr/>
            </p:nvSpPr>
            <p:spPr>
              <a:xfrm>
                <a:off x="952500" y="18288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OCT 14 · HALF DAY</a:t>
                </a:r>
                <a:endParaRPr lang="en-US" sz="800" spc="48" kern="0" b="0" i="0" dirty="0">
                  <a:solidFill>
                    <a:srgbClr val="0047FF"/>
                  </a:solidFill>
                  <a:latin typeface="IBM Plex Mono Medium"/>
                  <a:ea typeface="IBM Plex Mono Medium"/>
                  <a:cs typeface="IBM Plex Mono Medium"/>
                </a:endParaRPr>
              </a:p>
            </p:txBody>
          </p:sp>
          <p:sp>
            <p:nvSpPr>
              <p:cNvPr id="9" name="node01.item-001.number"/>
              <p:cNvSpPr/>
              <p:nvPr/>
            </p:nvSpPr>
            <p:spPr>
              <a:xfrm>
                <a:off x="952500" y="20447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10" name="node01.item-001.title"/>
              <p:cNvSpPr/>
              <p:nvPr/>
            </p:nvSpPr>
            <p:spPr>
              <a:xfrm>
                <a:off x="1323975" y="2044446"/>
                <a:ext cx="16859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Discovery</a:t>
                </a:r>
                <a:endParaRPr lang="en-US" sz="1600" spc="-16" kern="0" b="0" i="0" dirty="0">
                  <a:solidFill>
                    <a:srgbClr val="070154"/>
                  </a:solidFill>
                  <a:latin typeface="IBM Plex Sans SemiBold"/>
                  <a:ea typeface="IBM Plex Sans SemiBold"/>
                  <a:cs typeface="IBM Plex Sans SemiBold"/>
                </a:endParaRPr>
              </a:p>
            </p:txBody>
          </p:sp>
          <p:sp>
            <p:nvSpPr>
              <p:cNvPr id="11" name="node01.item-001.body.item-001.paragraph"/>
              <p:cNvSpPr/>
              <p:nvPr/>
            </p:nvSpPr>
            <p:spPr>
              <a:xfrm>
                <a:off x="952500" y="2463800"/>
                <a:ext cx="20574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Baseline scheduling, registration, estimates and denials.</a:t>
                </a:r>
                <a:endParaRPr lang="en-US" sz="1200" spc="0" kern="0" b="0" i="0" dirty="0">
                  <a:solidFill>
                    <a:srgbClr val="50658E"/>
                  </a:solidFill>
                  <a:latin typeface="IBM Plex Sans"/>
                  <a:ea typeface="IBM Plex Sans"/>
                  <a:cs typeface="IBM Plex Sans"/>
                </a:endParaRPr>
              </a:p>
            </p:txBody>
          </p:sp>
          <p:sp>
            <p:nvSpPr>
              <p:cNvPr id="12" name="node01.item-001.body.item-002.paragraph"/>
              <p:cNvSpPr/>
              <p:nvPr/>
            </p:nvSpPr>
            <p:spPr>
              <a:xfrm>
                <a:off x="952500" y="31877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Who: 18 access, revenue cycle and IT leads.</a:t>
                </a:r>
                <a:endParaRPr lang="en-US" sz="1200" spc="0" kern="0" b="0" i="0" dirty="0">
                  <a:solidFill>
                    <a:srgbClr val="50658E"/>
                  </a:solidFill>
                  <a:latin typeface="IBM Plex Sans"/>
                  <a:ea typeface="IBM Plex Sans"/>
                  <a:cs typeface="IBM Plex Sans"/>
                </a:endParaRPr>
              </a:p>
            </p:txBody>
          </p:sp>
          <p:sp>
            <p:nvSpPr>
              <p:cNvPr id="13" name="node01.item-001.body.item-003.paragraph"/>
              <p:cNvSpPr/>
              <p:nvPr/>
            </p:nvSpPr>
            <p:spPr>
              <a:xfrm>
                <a:off x="952500" y="36957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Output: current-state map and pain-point list.</a:t>
                </a:r>
                <a:endParaRPr lang="en-US" sz="1200" spc="0" kern="0" b="0" i="0" dirty="0">
                  <a:solidFill>
                    <a:srgbClr val="50658E"/>
                  </a:solidFill>
                  <a:latin typeface="IBM Plex Sans"/>
                  <a:ea typeface="IBM Plex Sans"/>
                  <a:cs typeface="IBM Plex Sans"/>
                </a:endParaRPr>
              </a:p>
            </p:txBody>
          </p:sp>
          <p:sp>
            <p:nvSpPr>
              <p:cNvPr id="14" name="node01.item-001.body.item-004.bullets.item-001.marker"/>
              <p:cNvSpPr/>
              <p:nvPr/>
            </p:nvSpPr>
            <p:spPr>
              <a:xfrm>
                <a:off x="952500" y="4292600"/>
                <a:ext cx="38100" cy="38100"/>
              </a:xfrm>
              <a:prstGeom prst="rect">
                <a:avLst/>
              </a:prstGeom>
              <a:solidFill>
                <a:srgbClr val="070154"/>
              </a:solidFill>
              <a:ln>
                <a:noFill/>
              </a:ln>
            </p:spPr>
          </p:sp>
          <p:sp>
            <p:nvSpPr>
              <p:cNvPr id="15" name="node01.item-001.body.item-004.bullets.item-001.text"/>
              <p:cNvSpPr/>
              <p:nvPr/>
            </p:nvSpPr>
            <p:spPr>
              <a:xfrm>
                <a:off x="1104900" y="4203700"/>
                <a:ext cx="1905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Booking and intake walk-through</a:t>
                </a:r>
                <a:endParaRPr lang="en-US" sz="1200" spc="0" kern="0" b="0" i="0" dirty="0">
                  <a:solidFill>
                    <a:srgbClr val="070154"/>
                  </a:solidFill>
                  <a:latin typeface="IBM Plex Sans"/>
                  <a:ea typeface="IBM Plex Sans"/>
                  <a:cs typeface="IBM Plex Sans"/>
                </a:endParaRPr>
              </a:p>
            </p:txBody>
          </p:sp>
          <p:sp>
            <p:nvSpPr>
              <p:cNvPr id="16" name="node01.item-001.body.item-004.bullets.item-002.marker"/>
              <p:cNvSpPr/>
              <p:nvPr/>
            </p:nvSpPr>
            <p:spPr>
              <a:xfrm>
                <a:off x="952500" y="4762500"/>
                <a:ext cx="38100" cy="38100"/>
              </a:xfrm>
              <a:prstGeom prst="rect">
                <a:avLst/>
              </a:prstGeom>
              <a:solidFill>
                <a:srgbClr val="070154"/>
              </a:solidFill>
              <a:ln>
                <a:noFill/>
              </a:ln>
            </p:spPr>
          </p:sp>
          <p:sp>
            <p:nvSpPr>
              <p:cNvPr id="17" name="node01.item-001.body.item-004.bullets.item-002.text"/>
              <p:cNvSpPr/>
              <p:nvPr/>
            </p:nvSpPr>
            <p:spPr>
              <a:xfrm>
                <a:off x="1104900" y="4673600"/>
                <a:ext cx="1905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Estimate and denial data review</a:t>
                </a:r>
                <a:endParaRPr lang="en-US" sz="1200" spc="0" kern="0" b="0" i="0" dirty="0">
                  <a:solidFill>
                    <a:srgbClr val="070154"/>
                  </a:solidFill>
                  <a:latin typeface="IBM Plex Sans"/>
                  <a:ea typeface="IBM Plex Sans"/>
                  <a:cs typeface="IBM Plex Sans"/>
                </a:endParaRPr>
              </a:p>
            </p:txBody>
          </p:sp>
        </p:grpSp>
        <p:grpSp>
          <p:nvGrpSpPr>
            <p:cNvPr id="52" name="node01.item-002"/>
            <p:cNvGrpSpPr/>
            <p:nvPr/>
          </p:nvGrpSpPr>
          <p:grpSpPr>
            <a:xfrm>
              <a:off x="3467100" y="1600200"/>
              <a:ext cx="2514600" cy="4114800"/>
              <a:chOff x="3467100" y="1600200"/>
              <a:chExt cx="2514600" cy="4114800"/>
            </a:xfrm>
          </p:grpSpPr>
          <p:sp>
            <p:nvSpPr>
              <p:cNvPr id="18" name="node01.item-002.container"/>
              <p:cNvSpPr/>
              <p:nvPr/>
            </p:nvSpPr>
            <p:spPr>
              <a:xfrm>
                <a:off x="3467100" y="1600200"/>
                <a:ext cx="2514600" cy="4114800"/>
              </a:xfrm>
              <a:prstGeom prst="rect">
                <a:avLst/>
              </a:prstGeom>
              <a:solidFill>
                <a:srgbClr val="E8EEF8"/>
              </a:solidFill>
              <a:ln>
                <a:noFill/>
              </a:ln>
            </p:spPr>
          </p:sp>
          <p:sp>
            <p:nvSpPr>
              <p:cNvPr id="19" name="node01.item-002.label"/>
              <p:cNvSpPr/>
              <p:nvPr/>
            </p:nvSpPr>
            <p:spPr>
              <a:xfrm>
                <a:off x="3695700" y="18288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OCT 28 · HALF DAY</a:t>
                </a:r>
                <a:endParaRPr lang="en-US" sz="800" spc="48" kern="0" b="0" i="0" dirty="0">
                  <a:solidFill>
                    <a:srgbClr val="0047FF"/>
                  </a:solidFill>
                  <a:latin typeface="IBM Plex Mono Medium"/>
                  <a:ea typeface="IBM Plex Mono Medium"/>
                  <a:cs typeface="IBM Plex Mono Medium"/>
                </a:endParaRPr>
              </a:p>
            </p:txBody>
          </p:sp>
          <p:sp>
            <p:nvSpPr>
              <p:cNvPr id="20" name="node01.item-002.number"/>
              <p:cNvSpPr/>
              <p:nvPr/>
            </p:nvSpPr>
            <p:spPr>
              <a:xfrm>
                <a:off x="3695700" y="20447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21" name="node01.item-002.title"/>
              <p:cNvSpPr/>
              <p:nvPr/>
            </p:nvSpPr>
            <p:spPr>
              <a:xfrm>
                <a:off x="4067175" y="2044446"/>
                <a:ext cx="16859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Future state</a:t>
                </a:r>
                <a:endParaRPr lang="en-US" sz="1600" spc="-16" kern="0" b="0" i="0" dirty="0">
                  <a:solidFill>
                    <a:srgbClr val="070154"/>
                  </a:solidFill>
                  <a:latin typeface="IBM Plex Sans SemiBold"/>
                  <a:ea typeface="IBM Plex Sans SemiBold"/>
                  <a:cs typeface="IBM Plex Sans SemiBold"/>
                </a:endParaRPr>
              </a:p>
            </p:txBody>
          </p:sp>
          <p:sp>
            <p:nvSpPr>
              <p:cNvPr id="22" name="node01.item-002.body.item-001.paragraph"/>
              <p:cNvSpPr/>
              <p:nvPr/>
            </p:nvSpPr>
            <p:spPr>
              <a:xfrm>
                <a:off x="3695700" y="24638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Design the target process for each of the four areas.</a:t>
                </a:r>
                <a:endParaRPr lang="en-US" sz="1200" spc="0" kern="0" b="0" i="0" dirty="0">
                  <a:solidFill>
                    <a:srgbClr val="50658E"/>
                  </a:solidFill>
                  <a:latin typeface="IBM Plex Sans"/>
                  <a:ea typeface="IBM Plex Sans"/>
                  <a:cs typeface="IBM Plex Sans"/>
                </a:endParaRPr>
              </a:p>
            </p:txBody>
          </p:sp>
          <p:sp>
            <p:nvSpPr>
              <p:cNvPr id="23" name="node01.item-002.body.item-002.paragraph"/>
              <p:cNvSpPr/>
              <p:nvPr/>
            </p:nvSpPr>
            <p:spPr>
              <a:xfrm>
                <a:off x="3695700" y="29718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Who: 22 area leads and IT owners.</a:t>
                </a:r>
                <a:endParaRPr lang="en-US" sz="1200" spc="0" kern="0" b="0" i="0" dirty="0">
                  <a:solidFill>
                    <a:srgbClr val="50658E"/>
                  </a:solidFill>
                  <a:latin typeface="IBM Plex Sans"/>
                  <a:ea typeface="IBM Plex Sans"/>
                  <a:cs typeface="IBM Plex Sans"/>
                </a:endParaRPr>
              </a:p>
            </p:txBody>
          </p:sp>
          <p:sp>
            <p:nvSpPr>
              <p:cNvPr id="24" name="node01.item-002.body.item-003.paragraph"/>
              <p:cNvSpPr/>
              <p:nvPr/>
            </p:nvSpPr>
            <p:spPr>
              <a:xfrm>
                <a:off x="3695700" y="34798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Output: future-state design and decisions log.</a:t>
                </a:r>
                <a:endParaRPr lang="en-US" sz="1200" spc="0" kern="0" b="0" i="0" dirty="0">
                  <a:solidFill>
                    <a:srgbClr val="50658E"/>
                  </a:solidFill>
                  <a:latin typeface="IBM Plex Sans"/>
                  <a:ea typeface="IBM Plex Sans"/>
                  <a:cs typeface="IBM Plex Sans"/>
                </a:endParaRPr>
              </a:p>
            </p:txBody>
          </p:sp>
          <p:sp>
            <p:nvSpPr>
              <p:cNvPr id="25" name="node01.item-002.body.item-004.bullets.item-001.marker"/>
              <p:cNvSpPr/>
              <p:nvPr/>
            </p:nvSpPr>
            <p:spPr>
              <a:xfrm>
                <a:off x="3695700" y="4076700"/>
                <a:ext cx="38100" cy="38100"/>
              </a:xfrm>
              <a:prstGeom prst="rect">
                <a:avLst/>
              </a:prstGeom>
              <a:solidFill>
                <a:srgbClr val="070154"/>
              </a:solidFill>
              <a:ln>
                <a:noFill/>
              </a:ln>
            </p:spPr>
          </p:sp>
          <p:sp>
            <p:nvSpPr>
              <p:cNvPr id="26" name="node01.item-002.body.item-004.bullets.item-001.text"/>
              <p:cNvSpPr/>
              <p:nvPr/>
            </p:nvSpPr>
            <p:spPr>
              <a:xfrm>
                <a:off x="3848100" y="3987800"/>
                <a:ext cx="1905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Four breakout design tables</a:t>
                </a:r>
                <a:endParaRPr lang="en-US" sz="1200" spc="0" kern="0" b="0" i="0" dirty="0">
                  <a:solidFill>
                    <a:srgbClr val="070154"/>
                  </a:solidFill>
                  <a:latin typeface="IBM Plex Sans"/>
                  <a:ea typeface="IBM Plex Sans"/>
                  <a:cs typeface="IBM Plex Sans"/>
                </a:endParaRPr>
              </a:p>
            </p:txBody>
          </p:sp>
          <p:sp>
            <p:nvSpPr>
              <p:cNvPr id="27" name="node01.item-002.body.item-004.bullets.item-002.marker"/>
              <p:cNvSpPr/>
              <p:nvPr/>
            </p:nvSpPr>
            <p:spPr>
              <a:xfrm>
                <a:off x="3695700" y="4546600"/>
                <a:ext cx="38100" cy="38100"/>
              </a:xfrm>
              <a:prstGeom prst="rect">
                <a:avLst/>
              </a:prstGeom>
              <a:solidFill>
                <a:srgbClr val="070154"/>
              </a:solidFill>
              <a:ln>
                <a:noFill/>
              </a:ln>
            </p:spPr>
          </p:sp>
          <p:sp>
            <p:nvSpPr>
              <p:cNvPr id="28" name="node01.item-002.body.item-004.bullets.item-002.text"/>
              <p:cNvSpPr/>
              <p:nvPr/>
            </p:nvSpPr>
            <p:spPr>
              <a:xfrm>
                <a:off x="3848100" y="4457700"/>
                <a:ext cx="1905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Playback and decisions</a:t>
                </a:r>
                <a:endParaRPr lang="en-US" sz="1200" spc="0" kern="0" b="0" i="0" dirty="0">
                  <a:solidFill>
                    <a:srgbClr val="070154"/>
                  </a:solidFill>
                  <a:latin typeface="IBM Plex Sans"/>
                  <a:ea typeface="IBM Plex Sans"/>
                  <a:cs typeface="IBM Plex Sans"/>
                </a:endParaRPr>
              </a:p>
            </p:txBody>
          </p:sp>
        </p:grpSp>
        <p:grpSp>
          <p:nvGrpSpPr>
            <p:cNvPr id="53" name="node01.item-003"/>
            <p:cNvGrpSpPr/>
            <p:nvPr/>
          </p:nvGrpSpPr>
          <p:grpSpPr>
            <a:xfrm>
              <a:off x="6210300" y="1600200"/>
              <a:ext cx="2514600" cy="4114800"/>
              <a:chOff x="6210300" y="1600200"/>
              <a:chExt cx="2514600" cy="4114800"/>
            </a:xfrm>
          </p:grpSpPr>
          <p:sp>
            <p:nvSpPr>
              <p:cNvPr id="29" name="node01.item-003.container"/>
              <p:cNvSpPr/>
              <p:nvPr/>
            </p:nvSpPr>
            <p:spPr>
              <a:xfrm>
                <a:off x="6210300" y="1600200"/>
                <a:ext cx="2514600" cy="4114800"/>
              </a:xfrm>
              <a:prstGeom prst="rect">
                <a:avLst/>
              </a:prstGeom>
              <a:solidFill>
                <a:srgbClr val="E8EEF8"/>
              </a:solidFill>
              <a:ln>
                <a:noFill/>
              </a:ln>
            </p:spPr>
          </p:sp>
          <p:sp>
            <p:nvSpPr>
              <p:cNvPr id="30" name="node01.item-003.label"/>
              <p:cNvSpPr/>
              <p:nvPr/>
            </p:nvSpPr>
            <p:spPr>
              <a:xfrm>
                <a:off x="6438900" y="18288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NOV 11 · HALF DAY</a:t>
                </a:r>
                <a:endParaRPr lang="en-US" sz="800" spc="48" kern="0" b="0" i="0" dirty="0">
                  <a:solidFill>
                    <a:srgbClr val="0047FF"/>
                  </a:solidFill>
                  <a:latin typeface="IBM Plex Mono Medium"/>
                  <a:ea typeface="IBM Plex Mono Medium"/>
                  <a:cs typeface="IBM Plex Mono Medium"/>
                </a:endParaRPr>
              </a:p>
            </p:txBody>
          </p:sp>
          <p:sp>
            <p:nvSpPr>
              <p:cNvPr id="31" name="node01.item-003.number"/>
              <p:cNvSpPr/>
              <p:nvPr/>
            </p:nvSpPr>
            <p:spPr>
              <a:xfrm>
                <a:off x="6438900" y="20447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32" name="node01.item-003.title"/>
              <p:cNvSpPr/>
              <p:nvPr/>
            </p:nvSpPr>
            <p:spPr>
              <a:xfrm>
                <a:off x="6810375" y="2044446"/>
                <a:ext cx="16859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Prioritization</a:t>
                </a:r>
                <a:endParaRPr lang="en-US" sz="1600" spc="-16" kern="0" b="0" i="0" dirty="0">
                  <a:solidFill>
                    <a:srgbClr val="070154"/>
                  </a:solidFill>
                  <a:latin typeface="IBM Plex Sans SemiBold"/>
                  <a:ea typeface="IBM Plex Sans SemiBold"/>
                  <a:cs typeface="IBM Plex Sans SemiBold"/>
                </a:endParaRPr>
              </a:p>
            </p:txBody>
          </p:sp>
          <p:sp>
            <p:nvSpPr>
              <p:cNvPr id="33" name="node01.item-003.body.item-001.paragraph"/>
              <p:cNvSpPr/>
              <p:nvPr/>
            </p:nvSpPr>
            <p:spPr>
              <a:xfrm>
                <a:off x="6438900" y="24638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Score and rank opportunities by value and effort.</a:t>
                </a:r>
                <a:endParaRPr lang="en-US" sz="1200" spc="0" kern="0" b="0" i="0" dirty="0">
                  <a:solidFill>
                    <a:srgbClr val="50658E"/>
                  </a:solidFill>
                  <a:latin typeface="IBM Plex Sans"/>
                  <a:ea typeface="IBM Plex Sans"/>
                  <a:cs typeface="IBM Plex Sans"/>
                </a:endParaRPr>
              </a:p>
            </p:txBody>
          </p:sp>
          <p:sp>
            <p:nvSpPr>
              <p:cNvPr id="34" name="node01.item-003.body.item-002.paragraph"/>
              <p:cNvSpPr/>
              <p:nvPr/>
            </p:nvSpPr>
            <p:spPr>
              <a:xfrm>
                <a:off x="6438900" y="29718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Who: 14 sponsors and area leads.</a:t>
                </a:r>
                <a:endParaRPr lang="en-US" sz="1200" spc="0" kern="0" b="0" i="0" dirty="0">
                  <a:solidFill>
                    <a:srgbClr val="50658E"/>
                  </a:solidFill>
                  <a:latin typeface="IBM Plex Sans"/>
                  <a:ea typeface="IBM Plex Sans"/>
                  <a:cs typeface="IBM Plex Sans"/>
                </a:endParaRPr>
              </a:p>
            </p:txBody>
          </p:sp>
          <p:sp>
            <p:nvSpPr>
              <p:cNvPr id="35" name="node01.item-003.body.item-003.paragraph"/>
              <p:cNvSpPr/>
              <p:nvPr/>
            </p:nvSpPr>
            <p:spPr>
              <a:xfrm>
                <a:off x="6438900" y="34798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Output: ranked list in Now, Next, Later.</a:t>
                </a:r>
                <a:endParaRPr lang="en-US" sz="1200" spc="0" kern="0" b="0" i="0" dirty="0">
                  <a:solidFill>
                    <a:srgbClr val="50658E"/>
                  </a:solidFill>
                  <a:latin typeface="IBM Plex Sans"/>
                  <a:ea typeface="IBM Plex Sans"/>
                  <a:cs typeface="IBM Plex Sans"/>
                </a:endParaRPr>
              </a:p>
            </p:txBody>
          </p:sp>
          <p:sp>
            <p:nvSpPr>
              <p:cNvPr id="36" name="node01.item-003.body.item-004.bullets.item-001.marker"/>
              <p:cNvSpPr/>
              <p:nvPr/>
            </p:nvSpPr>
            <p:spPr>
              <a:xfrm>
                <a:off x="6438900" y="4076700"/>
                <a:ext cx="38100" cy="38100"/>
              </a:xfrm>
              <a:prstGeom prst="rect">
                <a:avLst/>
              </a:prstGeom>
              <a:solidFill>
                <a:srgbClr val="070154"/>
              </a:solidFill>
              <a:ln>
                <a:noFill/>
              </a:ln>
            </p:spPr>
          </p:sp>
          <p:sp>
            <p:nvSpPr>
              <p:cNvPr id="37" name="node01.item-003.body.item-004.bullets.item-001.text"/>
              <p:cNvSpPr/>
              <p:nvPr/>
            </p:nvSpPr>
            <p:spPr>
              <a:xfrm>
                <a:off x="6591300" y="3987800"/>
                <a:ext cx="1905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Value and effort scoring</a:t>
                </a:r>
                <a:endParaRPr lang="en-US" sz="1200" spc="0" kern="0" b="0" i="0" dirty="0">
                  <a:solidFill>
                    <a:srgbClr val="070154"/>
                  </a:solidFill>
                  <a:latin typeface="IBM Plex Sans"/>
                  <a:ea typeface="IBM Plex Sans"/>
                  <a:cs typeface="IBM Plex Sans"/>
                </a:endParaRPr>
              </a:p>
            </p:txBody>
          </p:sp>
          <p:sp>
            <p:nvSpPr>
              <p:cNvPr id="38" name="node01.item-003.body.item-004.bullets.item-002.marker"/>
              <p:cNvSpPr/>
              <p:nvPr/>
            </p:nvSpPr>
            <p:spPr>
              <a:xfrm>
                <a:off x="6438900" y="4330700"/>
                <a:ext cx="38100" cy="38100"/>
              </a:xfrm>
              <a:prstGeom prst="rect">
                <a:avLst/>
              </a:prstGeom>
              <a:solidFill>
                <a:srgbClr val="070154"/>
              </a:solidFill>
              <a:ln>
                <a:noFill/>
              </a:ln>
            </p:spPr>
          </p:sp>
          <p:sp>
            <p:nvSpPr>
              <p:cNvPr id="39" name="node01.item-003.body.item-004.bullets.item-002.text"/>
              <p:cNvSpPr/>
              <p:nvPr/>
            </p:nvSpPr>
            <p:spPr>
              <a:xfrm>
                <a:off x="6591300" y="4241800"/>
                <a:ext cx="1905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Dot vote and Now, Next, Later</a:t>
                </a:r>
                <a:endParaRPr lang="en-US" sz="1200" spc="0" kern="0" b="0" i="0" dirty="0">
                  <a:solidFill>
                    <a:srgbClr val="070154"/>
                  </a:solidFill>
                  <a:latin typeface="IBM Plex Sans"/>
                  <a:ea typeface="IBM Plex Sans"/>
                  <a:cs typeface="IBM Plex Sans"/>
                </a:endParaRPr>
              </a:p>
            </p:txBody>
          </p:sp>
        </p:grpSp>
        <p:grpSp>
          <p:nvGrpSpPr>
            <p:cNvPr id="54" name="node01.item-004"/>
            <p:cNvGrpSpPr/>
            <p:nvPr/>
          </p:nvGrpSpPr>
          <p:grpSpPr>
            <a:xfrm>
              <a:off x="8953500" y="1600200"/>
              <a:ext cx="2514600" cy="4114800"/>
              <a:chOff x="8953500" y="1600200"/>
              <a:chExt cx="2514600" cy="4114800"/>
            </a:xfrm>
          </p:grpSpPr>
          <p:sp>
            <p:nvSpPr>
              <p:cNvPr id="40" name="node01.item-004.container"/>
              <p:cNvSpPr/>
              <p:nvPr/>
            </p:nvSpPr>
            <p:spPr>
              <a:xfrm>
                <a:off x="8953500" y="1600200"/>
                <a:ext cx="2514600" cy="4114800"/>
              </a:xfrm>
              <a:prstGeom prst="rect">
                <a:avLst/>
              </a:prstGeom>
              <a:solidFill>
                <a:srgbClr val="E8EEF8"/>
              </a:solidFill>
              <a:ln>
                <a:noFill/>
              </a:ln>
            </p:spPr>
          </p:sp>
          <p:sp>
            <p:nvSpPr>
              <p:cNvPr id="41" name="node01.item-004.label"/>
              <p:cNvSpPr/>
              <p:nvPr/>
            </p:nvSpPr>
            <p:spPr>
              <a:xfrm>
                <a:off x="9182100" y="18288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NOV 18 · HALF DAY</a:t>
                </a:r>
                <a:endParaRPr lang="en-US" sz="800" spc="48" kern="0" b="0" i="0" dirty="0">
                  <a:solidFill>
                    <a:srgbClr val="0047FF"/>
                  </a:solidFill>
                  <a:latin typeface="IBM Plex Mono Medium"/>
                  <a:ea typeface="IBM Plex Mono Medium"/>
                  <a:cs typeface="IBM Plex Mono Medium"/>
                </a:endParaRPr>
              </a:p>
            </p:txBody>
          </p:sp>
          <p:sp>
            <p:nvSpPr>
              <p:cNvPr id="42" name="node01.item-004.number"/>
              <p:cNvSpPr/>
              <p:nvPr/>
            </p:nvSpPr>
            <p:spPr>
              <a:xfrm>
                <a:off x="9182100" y="20447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04</a:t>
                </a:r>
                <a:endParaRPr lang="en-US" sz="1600" spc="0" kern="0" b="0" i="0" dirty="0">
                  <a:solidFill>
                    <a:srgbClr val="0047FF"/>
                  </a:solidFill>
                  <a:latin typeface="IBM Plex Mono SemiBold"/>
                  <a:ea typeface="IBM Plex Mono SemiBold"/>
                  <a:cs typeface="IBM Plex Mono SemiBold"/>
                </a:endParaRPr>
              </a:p>
            </p:txBody>
          </p:sp>
          <p:sp>
            <p:nvSpPr>
              <p:cNvPr id="43" name="node01.item-004.title"/>
              <p:cNvSpPr/>
              <p:nvPr/>
            </p:nvSpPr>
            <p:spPr>
              <a:xfrm>
                <a:off x="9553575" y="2044446"/>
                <a:ext cx="16859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Roadmap</a:t>
                </a:r>
                <a:endParaRPr lang="en-US" sz="1600" spc="-16" kern="0" b="0" i="0" dirty="0">
                  <a:solidFill>
                    <a:srgbClr val="070154"/>
                  </a:solidFill>
                  <a:latin typeface="IBM Plex Sans SemiBold"/>
                  <a:ea typeface="IBM Plex Sans SemiBold"/>
                  <a:cs typeface="IBM Plex Sans SemiBold"/>
                </a:endParaRPr>
              </a:p>
            </p:txBody>
          </p:sp>
          <p:sp>
            <p:nvSpPr>
              <p:cNvPr id="44" name="node01.item-004.body.item-001.paragraph"/>
              <p:cNvSpPr/>
              <p:nvPr/>
            </p:nvSpPr>
            <p:spPr>
              <a:xfrm>
                <a:off x="9182100" y="24638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Sequence the work, owners and funding asks.</a:t>
                </a:r>
                <a:endParaRPr lang="en-US" sz="1200" spc="0" kern="0" b="0" i="0" dirty="0">
                  <a:solidFill>
                    <a:srgbClr val="50658E"/>
                  </a:solidFill>
                  <a:latin typeface="IBM Plex Sans"/>
                  <a:ea typeface="IBM Plex Sans"/>
                  <a:cs typeface="IBM Plex Sans"/>
                </a:endParaRPr>
              </a:p>
            </p:txBody>
          </p:sp>
          <p:sp>
            <p:nvSpPr>
              <p:cNvPr id="45" name="node01.item-004.body.item-002.paragraph"/>
              <p:cNvSpPr/>
              <p:nvPr/>
            </p:nvSpPr>
            <p:spPr>
              <a:xfrm>
                <a:off x="9182100" y="29718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Who: 12 sponsors and finance.</a:t>
                </a:r>
                <a:endParaRPr lang="en-US" sz="1200" spc="0" kern="0" b="0" i="0" dirty="0">
                  <a:solidFill>
                    <a:srgbClr val="50658E"/>
                  </a:solidFill>
                  <a:latin typeface="IBM Plex Sans"/>
                  <a:ea typeface="IBM Plex Sans"/>
                  <a:cs typeface="IBM Plex Sans"/>
                </a:endParaRPr>
              </a:p>
            </p:txBody>
          </p:sp>
          <p:sp>
            <p:nvSpPr>
              <p:cNvPr id="46" name="node01.item-004.body.item-003.paragraph"/>
              <p:cNvSpPr/>
              <p:nvPr/>
            </p:nvSpPr>
            <p:spPr>
              <a:xfrm>
                <a:off x="9182100" y="34798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Output: 18-month roadmap and funding request.</a:t>
                </a:r>
                <a:endParaRPr lang="en-US" sz="1200" spc="0" kern="0" b="0" i="0" dirty="0">
                  <a:solidFill>
                    <a:srgbClr val="50658E"/>
                  </a:solidFill>
                  <a:latin typeface="IBM Plex Sans"/>
                  <a:ea typeface="IBM Plex Sans"/>
                  <a:cs typeface="IBM Plex Sans"/>
                </a:endParaRPr>
              </a:p>
            </p:txBody>
          </p:sp>
          <p:sp>
            <p:nvSpPr>
              <p:cNvPr id="47" name="node01.item-004.body.item-004.bullets.item-001.marker"/>
              <p:cNvSpPr/>
              <p:nvPr/>
            </p:nvSpPr>
            <p:spPr>
              <a:xfrm>
                <a:off x="9182100" y="4076700"/>
                <a:ext cx="38100" cy="38100"/>
              </a:xfrm>
              <a:prstGeom prst="rect">
                <a:avLst/>
              </a:prstGeom>
              <a:solidFill>
                <a:srgbClr val="070154"/>
              </a:solidFill>
              <a:ln>
                <a:noFill/>
              </a:ln>
            </p:spPr>
          </p:sp>
          <p:sp>
            <p:nvSpPr>
              <p:cNvPr id="48" name="node01.item-004.body.item-004.bullets.item-001.text"/>
              <p:cNvSpPr/>
              <p:nvPr/>
            </p:nvSpPr>
            <p:spPr>
              <a:xfrm>
                <a:off x="9334500" y="3987800"/>
                <a:ext cx="1905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Sequencing and dependencies</a:t>
                </a:r>
                <a:endParaRPr lang="en-US" sz="1200" spc="0" kern="0" b="0" i="0" dirty="0">
                  <a:solidFill>
                    <a:srgbClr val="070154"/>
                  </a:solidFill>
                  <a:latin typeface="IBM Plex Sans"/>
                  <a:ea typeface="IBM Plex Sans"/>
                  <a:cs typeface="IBM Plex Sans"/>
                </a:endParaRPr>
              </a:p>
            </p:txBody>
          </p:sp>
          <p:sp>
            <p:nvSpPr>
              <p:cNvPr id="49" name="node01.item-004.body.item-004.bullets.item-002.marker"/>
              <p:cNvSpPr/>
              <p:nvPr/>
            </p:nvSpPr>
            <p:spPr>
              <a:xfrm>
                <a:off x="9182100" y="4546600"/>
                <a:ext cx="38100" cy="38100"/>
              </a:xfrm>
              <a:prstGeom prst="rect">
                <a:avLst/>
              </a:prstGeom>
              <a:solidFill>
                <a:srgbClr val="070154"/>
              </a:solidFill>
              <a:ln>
                <a:noFill/>
              </a:ln>
            </p:spPr>
          </p:sp>
          <p:sp>
            <p:nvSpPr>
              <p:cNvPr id="50" name="node01.item-004.body.item-004.bullets.item-002.text"/>
              <p:cNvSpPr/>
              <p:nvPr/>
            </p:nvSpPr>
            <p:spPr>
              <a:xfrm>
                <a:off x="9334500" y="4457700"/>
                <a:ext cx="1905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 and funding asks</a:t>
                </a:r>
                <a:endParaRPr lang="en-US" sz="1200" spc="0" kern="0" b="0" i="0" dirty="0">
                  <a:solidFill>
                    <a:srgbClr val="070154"/>
                  </a:solidFill>
                  <a:latin typeface="IBM Plex Sans"/>
                  <a:ea typeface="IBM Plex Sans"/>
                  <a:cs typeface="IBM Plex Sans"/>
                </a:endParaRPr>
              </a:p>
            </p:txBody>
          </p:sp>
        </p:grpSp>
      </p:gr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ource-64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2 READOUT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room agreed a design; targets are still open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169</a:t>
            </a:fld>
            <a:endParaRPr lang="en-US" sz="700" spc="0" kern="0" b="0" i="0" dirty="0">
              <a:solidFill>
                <a:srgbClr val="070154"/>
              </a:solidFill>
              <a:latin typeface="IBM Plex Mono SemiBold"/>
              <a:ea typeface="IBM Plex Mono SemiBold"/>
              <a:cs typeface="IBM Plex Mono SemiBold"/>
            </a:endParaRPr>
          </a:p>
        </p:txBody>
      </p:sp>
      <p:grpSp>
        <p:nvGrpSpPr>
          <p:cNvPr id="53" name="node01"/>
          <p:cNvGrpSpPr/>
          <p:nvPr/>
        </p:nvGrpSpPr>
        <p:grpSpPr>
          <a:xfrm>
            <a:off x="723900" y="1600200"/>
            <a:ext cx="10744200" cy="190500"/>
            <a:chOff x="723900" y="1600200"/>
            <a:chExt cx="10744200" cy="190500"/>
          </a:xfrm>
        </p:grpSpPr>
        <p:sp>
          <p:nvSpPr>
            <p:cNvPr id="7" name="node01.text"/>
            <p:cNvSpPr/>
            <p:nvPr/>
          </p:nvSpPr>
          <p:spPr>
            <a:xfrm>
              <a:off x="723900" y="1600200"/>
              <a:ext cx="1074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Covered: Discovery recap, four design tables, playback of gaps, decisions and next steps. 22 attendees, 3 hours.</a:t>
              </a:r>
              <a:endParaRPr lang="en-US" sz="1100" spc="0" kern="0" b="0" i="0" dirty="0">
                <a:solidFill>
                  <a:srgbClr val="50658E"/>
                </a:solidFill>
                <a:latin typeface="IBM Plex Sans"/>
                <a:ea typeface="IBM Plex Sans"/>
                <a:cs typeface="IBM Plex Sans"/>
              </a:endParaRPr>
            </a:p>
          </p:txBody>
        </p:sp>
      </p:grpSp>
      <p:grpSp>
        <p:nvGrpSpPr>
          <p:cNvPr id="54" name="node02"/>
          <p:cNvGrpSpPr/>
          <p:nvPr/>
        </p:nvGrpSpPr>
        <p:grpSpPr>
          <a:xfrm>
            <a:off x="723900" y="2057400"/>
            <a:ext cx="3429000" cy="228600"/>
            <a:chOff x="723900" y="2057400"/>
            <a:chExt cx="3429000" cy="228600"/>
          </a:xfrm>
        </p:grpSpPr>
        <p:sp>
          <p:nvSpPr>
            <p:cNvPr id="8" name="node02.label"/>
            <p:cNvSpPr/>
            <p:nvPr/>
          </p:nvSpPr>
          <p:spPr>
            <a:xfrm>
              <a:off x="723900" y="2057400"/>
              <a:ext cx="888870"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KEY LEARNINGS</a:t>
              </a:r>
              <a:endParaRPr lang="en-US" sz="800" spc="48" kern="0" b="0" i="0" dirty="0">
                <a:solidFill>
                  <a:srgbClr val="50658E"/>
                </a:solidFill>
                <a:latin typeface="IBM Plex Mono Medium"/>
                <a:ea typeface="IBM Plex Mono Medium"/>
                <a:cs typeface="IBM Plex Mono Medium"/>
              </a:endParaRPr>
            </a:p>
          </p:txBody>
        </p:sp>
        <p:sp>
          <p:nvSpPr>
            <p:cNvPr id="9" name="node02.rule"/>
            <p:cNvSpPr/>
            <p:nvPr/>
          </p:nvSpPr>
          <p:spPr>
            <a:xfrm>
              <a:off x="1739770" y="2166938"/>
              <a:ext cx="2413130" cy="9525"/>
            </a:xfrm>
            <a:prstGeom prst="rect">
              <a:avLst/>
            </a:prstGeom>
            <a:solidFill>
              <a:srgbClr val="CED7E6"/>
            </a:solidFill>
            <a:ln>
              <a:noFill/>
            </a:ln>
          </p:spPr>
        </p:sp>
      </p:grpSp>
      <p:sp>
        <p:nvSpPr>
          <p:cNvPr id="10" name="node03"/>
          <p:cNvSpPr/>
          <p:nvPr/>
        </p:nvSpPr>
        <p:spPr>
          <a:xfrm>
            <a:off x="723900" y="2286000"/>
            <a:ext cx="3429000" cy="9525"/>
          </a:xfrm>
          <a:prstGeom prst="rect">
            <a:avLst/>
          </a:prstGeom>
          <a:solidFill>
            <a:srgbClr val="CED7E6"/>
          </a:solidFill>
          <a:ln>
            <a:noFill/>
          </a:ln>
        </p:spPr>
      </p:sp>
      <p:grpSp>
        <p:nvGrpSpPr>
          <p:cNvPr id="55" name="node04"/>
          <p:cNvGrpSpPr/>
          <p:nvPr/>
        </p:nvGrpSpPr>
        <p:grpSpPr>
          <a:xfrm>
            <a:off x="723900" y="2514600"/>
            <a:ext cx="3429000" cy="977900"/>
            <a:chOff x="723900" y="2514600"/>
            <a:chExt cx="3429000" cy="977900"/>
          </a:xfrm>
        </p:grpSpPr>
        <p:sp>
          <p:nvSpPr>
            <p:cNvPr id="11" name="node04.source-001.number"/>
            <p:cNvSpPr/>
            <p:nvPr/>
          </p:nvSpPr>
          <p:spPr>
            <a:xfrm>
              <a:off x="723900" y="25146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12" name="node04.source-001.text"/>
            <p:cNvSpPr/>
            <p:nvPr/>
          </p:nvSpPr>
          <p:spPr>
            <a:xfrm>
              <a:off x="914400" y="2514600"/>
              <a:ext cx="3238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Patients meet three tools to book once.</a:t>
              </a:r>
              <a:endParaRPr lang="en-US" sz="1200" spc="0" kern="0" b="0" i="0" dirty="0">
                <a:solidFill>
                  <a:srgbClr val="070154"/>
                </a:solidFill>
                <a:latin typeface="IBM Plex Sans"/>
                <a:ea typeface="IBM Plex Sans"/>
                <a:cs typeface="IBM Plex Sans"/>
              </a:endParaRPr>
            </a:p>
          </p:txBody>
        </p:sp>
        <p:sp>
          <p:nvSpPr>
            <p:cNvPr id="13" name="node04.source-002.number"/>
            <p:cNvSpPr/>
            <p:nvPr/>
          </p:nvSpPr>
          <p:spPr>
            <a:xfrm>
              <a:off x="723900" y="27686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14" name="node04.source-002.text"/>
            <p:cNvSpPr/>
            <p:nvPr/>
          </p:nvSpPr>
          <p:spPr>
            <a:xfrm>
              <a:off x="914400" y="2768600"/>
              <a:ext cx="3238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errors drive most denials.</a:t>
              </a:r>
              <a:endParaRPr lang="en-US" sz="1200" spc="0" kern="0" b="0" i="0" dirty="0">
                <a:solidFill>
                  <a:srgbClr val="070154"/>
                </a:solidFill>
                <a:latin typeface="IBM Plex Sans"/>
                <a:ea typeface="IBM Plex Sans"/>
                <a:cs typeface="IBM Plex Sans"/>
              </a:endParaRPr>
            </a:p>
          </p:txBody>
        </p:sp>
        <p:sp>
          <p:nvSpPr>
            <p:cNvPr id="15" name="node04.source-003.number"/>
            <p:cNvSpPr/>
            <p:nvPr/>
          </p:nvSpPr>
          <p:spPr>
            <a:xfrm>
              <a:off x="723900" y="30226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16" name="node04.source-003.text"/>
            <p:cNvSpPr/>
            <p:nvPr/>
          </p:nvSpPr>
          <p:spPr>
            <a:xfrm>
              <a:off x="914400" y="3022600"/>
              <a:ext cx="3238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Estimates are rarely given before a visit.</a:t>
              </a:r>
              <a:endParaRPr lang="en-US" sz="1200" spc="0" kern="0" b="0" i="0" dirty="0">
                <a:solidFill>
                  <a:srgbClr val="070154"/>
                </a:solidFill>
                <a:latin typeface="IBM Plex Sans"/>
                <a:ea typeface="IBM Plex Sans"/>
                <a:cs typeface="IBM Plex Sans"/>
              </a:endParaRPr>
            </a:p>
          </p:txBody>
        </p:sp>
        <p:sp>
          <p:nvSpPr>
            <p:cNvPr id="17" name="node04.source-004.number"/>
            <p:cNvSpPr/>
            <p:nvPr/>
          </p:nvSpPr>
          <p:spPr>
            <a:xfrm>
              <a:off x="723900" y="32766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18" name="node04.source-004.text"/>
            <p:cNvSpPr/>
            <p:nvPr/>
          </p:nvSpPr>
          <p:spPr>
            <a:xfrm>
              <a:off x="914400" y="3276600"/>
              <a:ext cx="3238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Leads agree on goals, not on order.</a:t>
              </a:r>
              <a:endParaRPr lang="en-US" sz="1200" spc="0" kern="0" b="0" i="0" dirty="0">
                <a:solidFill>
                  <a:srgbClr val="070154"/>
                </a:solidFill>
                <a:latin typeface="IBM Plex Sans"/>
                <a:ea typeface="IBM Plex Sans"/>
                <a:cs typeface="IBM Plex Sans"/>
              </a:endParaRPr>
            </a:p>
          </p:txBody>
        </p:sp>
      </p:grpSp>
      <p:grpSp>
        <p:nvGrpSpPr>
          <p:cNvPr id="56" name="node05"/>
          <p:cNvGrpSpPr/>
          <p:nvPr/>
        </p:nvGrpSpPr>
        <p:grpSpPr>
          <a:xfrm>
            <a:off x="4381500" y="2057400"/>
            <a:ext cx="3429000" cy="228600"/>
            <a:chOff x="4381500" y="2057400"/>
            <a:chExt cx="3429000" cy="228600"/>
          </a:xfrm>
        </p:grpSpPr>
        <p:sp>
          <p:nvSpPr>
            <p:cNvPr id="19" name="node05.label"/>
            <p:cNvSpPr/>
            <p:nvPr/>
          </p:nvSpPr>
          <p:spPr>
            <a:xfrm>
              <a:off x="4381500" y="2057400"/>
              <a:ext cx="95529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DECISIONS MADE</a:t>
              </a:r>
              <a:endParaRPr lang="en-US" sz="800" spc="48" kern="0" b="0" i="0" dirty="0">
                <a:solidFill>
                  <a:srgbClr val="50658E"/>
                </a:solidFill>
                <a:latin typeface="IBM Plex Mono Medium"/>
                <a:ea typeface="IBM Plex Mono Medium"/>
                <a:cs typeface="IBM Plex Mono Medium"/>
              </a:endParaRPr>
            </a:p>
          </p:txBody>
        </p:sp>
        <p:sp>
          <p:nvSpPr>
            <p:cNvPr id="20" name="node05.rule"/>
            <p:cNvSpPr/>
            <p:nvPr/>
          </p:nvSpPr>
          <p:spPr>
            <a:xfrm>
              <a:off x="5463791" y="2166938"/>
              <a:ext cx="2346709" cy="9525"/>
            </a:xfrm>
            <a:prstGeom prst="rect">
              <a:avLst/>
            </a:prstGeom>
            <a:solidFill>
              <a:srgbClr val="CED7E6"/>
            </a:solidFill>
            <a:ln>
              <a:noFill/>
            </a:ln>
          </p:spPr>
        </p:sp>
      </p:grpSp>
      <p:sp>
        <p:nvSpPr>
          <p:cNvPr id="21" name="node06"/>
          <p:cNvSpPr/>
          <p:nvPr/>
        </p:nvSpPr>
        <p:spPr>
          <a:xfrm>
            <a:off x="4381500" y="2286000"/>
            <a:ext cx="3429000" cy="9525"/>
          </a:xfrm>
          <a:prstGeom prst="rect">
            <a:avLst/>
          </a:prstGeom>
          <a:solidFill>
            <a:srgbClr val="CED7E6"/>
          </a:solidFill>
          <a:ln>
            <a:noFill/>
          </a:ln>
        </p:spPr>
      </p:sp>
      <p:grpSp>
        <p:nvGrpSpPr>
          <p:cNvPr id="57" name="node07"/>
          <p:cNvGrpSpPr/>
          <p:nvPr/>
        </p:nvGrpSpPr>
        <p:grpSpPr>
          <a:xfrm>
            <a:off x="4381500" y="2514600"/>
            <a:ext cx="3429000" cy="723900"/>
            <a:chOff x="4381500" y="2514600"/>
            <a:chExt cx="3429000" cy="723900"/>
          </a:xfrm>
        </p:grpSpPr>
        <p:sp>
          <p:nvSpPr>
            <p:cNvPr id="22" name="node07.source-001.bullet"/>
            <p:cNvSpPr/>
            <p:nvPr/>
          </p:nvSpPr>
          <p:spPr>
            <a:xfrm>
              <a:off x="4381500" y="2603500"/>
              <a:ext cx="38100" cy="38100"/>
            </a:xfrm>
            <a:prstGeom prst="rect">
              <a:avLst/>
            </a:prstGeom>
            <a:solidFill>
              <a:srgbClr val="070154"/>
            </a:solidFill>
            <a:ln>
              <a:noFill/>
            </a:ln>
          </p:spPr>
        </p:sp>
        <p:sp>
          <p:nvSpPr>
            <p:cNvPr id="23" name="node07.source-001.text"/>
            <p:cNvSpPr/>
            <p:nvPr/>
          </p:nvSpPr>
          <p:spPr>
            <a:xfrm>
              <a:off x="4533900" y="251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scheduling template for all</a:t>
              </a:r>
              <a:endParaRPr lang="en-US" sz="1200" spc="0" kern="0" b="0" i="0" dirty="0">
                <a:solidFill>
                  <a:srgbClr val="070154"/>
                </a:solidFill>
                <a:latin typeface="IBM Plex Sans"/>
                <a:ea typeface="IBM Plex Sans"/>
                <a:cs typeface="IBM Plex Sans"/>
              </a:endParaRPr>
            </a:p>
          </p:txBody>
        </p:sp>
        <p:sp>
          <p:nvSpPr>
            <p:cNvPr id="24" name="node07.source-002.bullet"/>
            <p:cNvSpPr/>
            <p:nvPr/>
          </p:nvSpPr>
          <p:spPr>
            <a:xfrm>
              <a:off x="4381500" y="2857500"/>
              <a:ext cx="38100" cy="38100"/>
            </a:xfrm>
            <a:prstGeom prst="rect">
              <a:avLst/>
            </a:prstGeom>
            <a:solidFill>
              <a:srgbClr val="070154"/>
            </a:solidFill>
            <a:ln>
              <a:noFill/>
            </a:ln>
          </p:spPr>
        </p:sp>
        <p:sp>
          <p:nvSpPr>
            <p:cNvPr id="25" name="node07.source-002.text"/>
            <p:cNvSpPr/>
            <p:nvPr/>
          </p:nvSpPr>
          <p:spPr>
            <a:xfrm>
              <a:off x="4533900" y="2768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Eligibility checked at booking</a:t>
              </a:r>
              <a:endParaRPr lang="en-US" sz="1200" spc="0" kern="0" b="0" i="0" dirty="0">
                <a:solidFill>
                  <a:srgbClr val="070154"/>
                </a:solidFill>
                <a:latin typeface="IBM Plex Sans"/>
                <a:ea typeface="IBM Plex Sans"/>
                <a:cs typeface="IBM Plex Sans"/>
              </a:endParaRPr>
            </a:p>
          </p:txBody>
        </p:sp>
        <p:sp>
          <p:nvSpPr>
            <p:cNvPr id="26" name="node07.source-003.bullet"/>
            <p:cNvSpPr/>
            <p:nvPr/>
          </p:nvSpPr>
          <p:spPr>
            <a:xfrm>
              <a:off x="4381500" y="3111500"/>
              <a:ext cx="38100" cy="38100"/>
            </a:xfrm>
            <a:prstGeom prst="rect">
              <a:avLst/>
            </a:prstGeom>
            <a:solidFill>
              <a:srgbClr val="070154"/>
            </a:solidFill>
            <a:ln>
              <a:noFill/>
            </a:ln>
          </p:spPr>
        </p:sp>
        <p:sp>
          <p:nvSpPr>
            <p:cNvPr id="27" name="node07.source-003.text"/>
            <p:cNvSpPr/>
            <p:nvPr/>
          </p:nvSpPr>
          <p:spPr>
            <a:xfrm>
              <a:off x="4533900" y="3022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Estimates start with imaging</a:t>
              </a:r>
              <a:endParaRPr lang="en-US" sz="1200" spc="0" kern="0" b="0" i="0" dirty="0">
                <a:solidFill>
                  <a:srgbClr val="070154"/>
                </a:solidFill>
                <a:latin typeface="IBM Plex Sans"/>
                <a:ea typeface="IBM Plex Sans"/>
                <a:cs typeface="IBM Plex Sans"/>
              </a:endParaRPr>
            </a:p>
          </p:txBody>
        </p:sp>
      </p:grpSp>
      <p:grpSp>
        <p:nvGrpSpPr>
          <p:cNvPr id="58" name="node08"/>
          <p:cNvGrpSpPr/>
          <p:nvPr/>
        </p:nvGrpSpPr>
        <p:grpSpPr>
          <a:xfrm>
            <a:off x="8039100" y="2057400"/>
            <a:ext cx="3429000" cy="228600"/>
            <a:chOff x="8039100" y="2057400"/>
            <a:chExt cx="3429000" cy="228600"/>
          </a:xfrm>
        </p:grpSpPr>
        <p:sp>
          <p:nvSpPr>
            <p:cNvPr id="28" name="node08.label"/>
            <p:cNvSpPr/>
            <p:nvPr/>
          </p:nvSpPr>
          <p:spPr>
            <a:xfrm>
              <a:off x="8039100" y="2057400"/>
              <a:ext cx="95529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OPEN QUESTIONS</a:t>
              </a:r>
              <a:endParaRPr lang="en-US" sz="800" spc="48" kern="0" b="0" i="0" dirty="0">
                <a:solidFill>
                  <a:srgbClr val="50658E"/>
                </a:solidFill>
                <a:latin typeface="IBM Plex Mono Medium"/>
                <a:ea typeface="IBM Plex Mono Medium"/>
                <a:cs typeface="IBM Plex Mono Medium"/>
              </a:endParaRPr>
            </a:p>
          </p:txBody>
        </p:sp>
        <p:sp>
          <p:nvSpPr>
            <p:cNvPr id="29" name="node08.rule"/>
            <p:cNvSpPr/>
            <p:nvPr/>
          </p:nvSpPr>
          <p:spPr>
            <a:xfrm>
              <a:off x="9121391" y="2166938"/>
              <a:ext cx="2346709" cy="9525"/>
            </a:xfrm>
            <a:prstGeom prst="rect">
              <a:avLst/>
            </a:prstGeom>
            <a:solidFill>
              <a:srgbClr val="CED7E6"/>
            </a:solidFill>
            <a:ln>
              <a:noFill/>
            </a:ln>
          </p:spPr>
        </p:sp>
      </p:grpSp>
      <p:sp>
        <p:nvSpPr>
          <p:cNvPr id="30" name="node09"/>
          <p:cNvSpPr/>
          <p:nvPr/>
        </p:nvSpPr>
        <p:spPr>
          <a:xfrm>
            <a:off x="8039100" y="2286000"/>
            <a:ext cx="3429000" cy="9525"/>
          </a:xfrm>
          <a:prstGeom prst="rect">
            <a:avLst/>
          </a:prstGeom>
          <a:solidFill>
            <a:srgbClr val="CED7E6"/>
          </a:solidFill>
          <a:ln>
            <a:noFill/>
          </a:ln>
        </p:spPr>
      </p:sp>
      <p:grpSp>
        <p:nvGrpSpPr>
          <p:cNvPr id="59" name="node10"/>
          <p:cNvGrpSpPr/>
          <p:nvPr/>
        </p:nvGrpSpPr>
        <p:grpSpPr>
          <a:xfrm>
            <a:off x="8039100" y="2514600"/>
            <a:ext cx="3429000" cy="723900"/>
            <a:chOff x="8039100" y="2514600"/>
            <a:chExt cx="3429000" cy="723900"/>
          </a:xfrm>
        </p:grpSpPr>
        <p:sp>
          <p:nvSpPr>
            <p:cNvPr id="31" name="node10.source-001.bullet"/>
            <p:cNvSpPr/>
            <p:nvPr/>
          </p:nvSpPr>
          <p:spPr>
            <a:xfrm>
              <a:off x="8039100" y="2603500"/>
              <a:ext cx="38100" cy="38100"/>
            </a:xfrm>
            <a:prstGeom prst="rect">
              <a:avLst/>
            </a:prstGeom>
            <a:solidFill>
              <a:srgbClr val="070154"/>
            </a:solidFill>
            <a:ln>
              <a:noFill/>
            </a:ln>
          </p:spPr>
        </p:sp>
        <p:sp>
          <p:nvSpPr>
            <p:cNvPr id="32" name="node10.source-001.text"/>
            <p:cNvSpPr/>
            <p:nvPr/>
          </p:nvSpPr>
          <p:spPr>
            <a:xfrm>
              <a:off x="8191500" y="251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Who owns the estimate tool?</a:t>
              </a:r>
              <a:endParaRPr lang="en-US" sz="1200" spc="0" kern="0" b="0" i="0" dirty="0">
                <a:solidFill>
                  <a:srgbClr val="070154"/>
                </a:solidFill>
                <a:latin typeface="IBM Plex Sans"/>
                <a:ea typeface="IBM Plex Sans"/>
                <a:cs typeface="IBM Plex Sans"/>
              </a:endParaRPr>
            </a:p>
          </p:txBody>
        </p:sp>
        <p:sp>
          <p:nvSpPr>
            <p:cNvPr id="33" name="node10.source-002.bullet"/>
            <p:cNvSpPr/>
            <p:nvPr/>
          </p:nvSpPr>
          <p:spPr>
            <a:xfrm>
              <a:off x="8039100" y="2857500"/>
              <a:ext cx="38100" cy="38100"/>
            </a:xfrm>
            <a:prstGeom prst="rect">
              <a:avLst/>
            </a:prstGeom>
            <a:solidFill>
              <a:srgbClr val="070154"/>
            </a:solidFill>
            <a:ln>
              <a:noFill/>
            </a:ln>
          </p:spPr>
        </p:sp>
        <p:sp>
          <p:nvSpPr>
            <p:cNvPr id="34" name="node10.source-002.text"/>
            <p:cNvSpPr/>
            <p:nvPr/>
          </p:nvSpPr>
          <p:spPr>
            <a:xfrm>
              <a:off x="8191500" y="2768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consent form across systems?</a:t>
              </a:r>
              <a:endParaRPr lang="en-US" sz="1200" spc="0" kern="0" b="0" i="0" dirty="0">
                <a:solidFill>
                  <a:srgbClr val="070154"/>
                </a:solidFill>
                <a:latin typeface="IBM Plex Sans"/>
                <a:ea typeface="IBM Plex Sans"/>
                <a:cs typeface="IBM Plex Sans"/>
              </a:endParaRPr>
            </a:p>
          </p:txBody>
        </p:sp>
        <p:sp>
          <p:nvSpPr>
            <p:cNvPr id="35" name="node10.source-003.bullet"/>
            <p:cNvSpPr/>
            <p:nvPr/>
          </p:nvSpPr>
          <p:spPr>
            <a:xfrm>
              <a:off x="8039100" y="3111500"/>
              <a:ext cx="38100" cy="38100"/>
            </a:xfrm>
            <a:prstGeom prst="rect">
              <a:avLst/>
            </a:prstGeom>
            <a:solidFill>
              <a:srgbClr val="070154"/>
            </a:solidFill>
            <a:ln>
              <a:noFill/>
            </a:ln>
          </p:spPr>
        </p:sp>
        <p:sp>
          <p:nvSpPr>
            <p:cNvPr id="36" name="node10.source-003.text"/>
            <p:cNvSpPr/>
            <p:nvPr/>
          </p:nvSpPr>
          <p:spPr>
            <a:xfrm>
              <a:off x="8191500" y="3022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Which denial codes come first?</a:t>
              </a:r>
              <a:endParaRPr lang="en-US" sz="1200" spc="0" kern="0" b="0" i="0" dirty="0">
                <a:solidFill>
                  <a:srgbClr val="070154"/>
                </a:solidFill>
                <a:latin typeface="IBM Plex Sans"/>
                <a:ea typeface="IBM Plex Sans"/>
                <a:cs typeface="IBM Plex Sans"/>
              </a:endParaRPr>
            </a:p>
          </p:txBody>
        </p:sp>
      </p:grpSp>
      <p:grpSp>
        <p:nvGrpSpPr>
          <p:cNvPr id="60" name="node11"/>
          <p:cNvGrpSpPr/>
          <p:nvPr/>
        </p:nvGrpSpPr>
        <p:grpSpPr>
          <a:xfrm>
            <a:off x="723900" y="3657600"/>
            <a:ext cx="7086600" cy="228600"/>
            <a:chOff x="723900" y="3657600"/>
            <a:chExt cx="7086600" cy="228600"/>
          </a:xfrm>
        </p:grpSpPr>
        <p:sp>
          <p:nvSpPr>
            <p:cNvPr id="37" name="node11.label"/>
            <p:cNvSpPr/>
            <p:nvPr/>
          </p:nvSpPr>
          <p:spPr>
            <a:xfrm>
              <a:off x="723900" y="3657600"/>
              <a:ext cx="689608"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NEXT STEPS</a:t>
              </a:r>
              <a:endParaRPr lang="en-US" sz="800" spc="48" kern="0" b="0" i="0" dirty="0">
                <a:solidFill>
                  <a:srgbClr val="50658E"/>
                </a:solidFill>
                <a:latin typeface="IBM Plex Mono Medium"/>
                <a:ea typeface="IBM Plex Mono Medium"/>
                <a:cs typeface="IBM Plex Mono Medium"/>
              </a:endParaRPr>
            </a:p>
          </p:txBody>
        </p:sp>
        <p:sp>
          <p:nvSpPr>
            <p:cNvPr id="38" name="node11.rule"/>
            <p:cNvSpPr/>
            <p:nvPr/>
          </p:nvSpPr>
          <p:spPr>
            <a:xfrm>
              <a:off x="1540508" y="3767138"/>
              <a:ext cx="6269992" cy="9525"/>
            </a:xfrm>
            <a:prstGeom prst="rect">
              <a:avLst/>
            </a:prstGeom>
            <a:solidFill>
              <a:srgbClr val="CED7E6"/>
            </a:solidFill>
            <a:ln>
              <a:noFill/>
            </a:ln>
          </p:spPr>
        </p:sp>
      </p:grpSp>
      <p:sp>
        <p:nvSpPr>
          <p:cNvPr id="39" name="node12"/>
          <p:cNvSpPr/>
          <p:nvPr/>
        </p:nvSpPr>
        <p:spPr>
          <a:xfrm>
            <a:off x="723900" y="3886200"/>
            <a:ext cx="7086600" cy="9525"/>
          </a:xfrm>
          <a:prstGeom prst="rect">
            <a:avLst/>
          </a:prstGeom>
          <a:solidFill>
            <a:srgbClr val="CED7E6"/>
          </a:solidFill>
          <a:ln>
            <a:noFill/>
          </a:ln>
        </p:spPr>
      </p:sp>
      <p:grpSp>
        <p:nvGrpSpPr>
          <p:cNvPr id="61" name="node13"/>
          <p:cNvGrpSpPr/>
          <p:nvPr/>
        </p:nvGrpSpPr>
        <p:grpSpPr>
          <a:xfrm>
            <a:off x="723900" y="4114800"/>
            <a:ext cx="7086600" cy="1574800"/>
            <a:chOff x="723900" y="4114800"/>
            <a:chExt cx="7086600" cy="1574800"/>
          </a:xfrm>
        </p:grpSpPr>
        <p:graphicFrame>
          <p:nvGraphicFramePr>
            <p:cNvPr id="40" name="node13.native"/>
            <p:cNvGraphicFramePr>
              <a:graphicFrameLocks noGrp="1"/>
            </p:cNvGraphicFramePr>
            <p:nvPr>
              <p:extLst>
                <p:ext uri="{D42A27DB-BD31-4B8C-83A1-F6EECF244321}">
                  <p14:modId xmlns:p14="http://schemas.microsoft.com/office/powerpoint/2010/main" val="1579011935"/>
                </p:ext>
              </p:extLst>
            </p:nvPr>
          </p:nvGraphicFramePr>
          <p:xfrm>
            <a:off x="723900" y="4114800"/>
            <a:ext cx="7086600" cy="1574800"/>
          </p:xfrm>
          <a:graphic>
            <a:graphicData uri="http://schemas.openxmlformats.org/drawingml/2006/table">
              <a:tbl>
                <a:tblPr/>
                <a:tblGrid>
                  <a:gridCol w="2895600"/>
                  <a:gridCol w="1752600"/>
                  <a:gridCol w="990600"/>
                  <a:gridCol w="14478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NEXT STEP</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OWNER</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DUE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STATUS</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Publish the decisions log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Program office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Oct 30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 progress</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Draft registration target measures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Registration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Nov 4</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Not started</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Confirm estimate data sources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Finance partner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Nov 4</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Not started</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Size the top denial causes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Revenue cycle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Nov 6</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 progress</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41" name="node13.row.item-001.s.status-mark"/>
            <p:cNvSpPr/>
            <p:nvPr/>
          </p:nvSpPr>
          <p:spPr>
            <a:xfrm>
              <a:off x="6521450" y="4578350"/>
              <a:ext cx="88900" cy="88900"/>
            </a:xfrm>
            <a:prstGeom prst="rect">
              <a:avLst/>
            </a:prstGeom>
            <a:solidFill>
              <a:srgbClr val="0047FF"/>
            </a:solidFill>
            <a:ln w="12700">
              <a:solidFill>
                <a:srgbClr val="070154"/>
              </a:solidFill>
              <a:prstDash val="solid"/>
            </a:ln>
          </p:spPr>
        </p:sp>
        <p:sp>
          <p:nvSpPr>
            <p:cNvPr id="42" name="node13.row.item-002.s.status-mark"/>
            <p:cNvSpPr/>
            <p:nvPr/>
          </p:nvSpPr>
          <p:spPr>
            <a:xfrm>
              <a:off x="6521450" y="4883150"/>
              <a:ext cx="88900" cy="88900"/>
            </a:xfrm>
            <a:prstGeom prst="rect">
              <a:avLst/>
            </a:prstGeom>
            <a:solidFill>
              <a:srgbClr val="FFFFFF"/>
            </a:solidFill>
            <a:ln w="12700">
              <a:solidFill>
                <a:srgbClr val="070154"/>
              </a:solidFill>
              <a:prstDash val="solid"/>
            </a:ln>
          </p:spPr>
        </p:sp>
        <p:sp>
          <p:nvSpPr>
            <p:cNvPr id="43" name="node13.row.item-003.s.status-mark"/>
            <p:cNvSpPr/>
            <p:nvPr/>
          </p:nvSpPr>
          <p:spPr>
            <a:xfrm>
              <a:off x="6521450" y="5187950"/>
              <a:ext cx="88900" cy="88900"/>
            </a:xfrm>
            <a:prstGeom prst="rect">
              <a:avLst/>
            </a:prstGeom>
            <a:solidFill>
              <a:srgbClr val="FFFFFF"/>
            </a:solidFill>
            <a:ln w="12700">
              <a:solidFill>
                <a:srgbClr val="070154"/>
              </a:solidFill>
              <a:prstDash val="solid"/>
            </a:ln>
          </p:spPr>
        </p:sp>
        <p:sp>
          <p:nvSpPr>
            <p:cNvPr id="44" name="node13.row.item-004.s.status-mark"/>
            <p:cNvSpPr/>
            <p:nvPr/>
          </p:nvSpPr>
          <p:spPr>
            <a:xfrm>
              <a:off x="6521450" y="5492750"/>
              <a:ext cx="88900" cy="88900"/>
            </a:xfrm>
            <a:prstGeom prst="rect">
              <a:avLst/>
            </a:prstGeom>
            <a:solidFill>
              <a:srgbClr val="0047FF"/>
            </a:solidFill>
            <a:ln w="12700">
              <a:solidFill>
                <a:srgbClr val="070154"/>
              </a:solidFill>
              <a:prstDash val="solid"/>
            </a:ln>
          </p:spPr>
        </p:sp>
      </p:grpSp>
      <p:grpSp>
        <p:nvGrpSpPr>
          <p:cNvPr id="62" name="node14"/>
          <p:cNvGrpSpPr/>
          <p:nvPr/>
        </p:nvGrpSpPr>
        <p:grpSpPr>
          <a:xfrm>
            <a:off x="8039100" y="3657600"/>
            <a:ext cx="3429000" cy="228600"/>
            <a:chOff x="8039100" y="3657600"/>
            <a:chExt cx="3429000" cy="228600"/>
          </a:xfrm>
        </p:grpSpPr>
        <p:sp>
          <p:nvSpPr>
            <p:cNvPr id="45" name="node14.label"/>
            <p:cNvSpPr/>
            <p:nvPr/>
          </p:nvSpPr>
          <p:spPr>
            <a:xfrm>
              <a:off x="8039100" y="3657600"/>
              <a:ext cx="1818760"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OUTCOMES AGAINST OBJECTIVES</a:t>
              </a:r>
              <a:endParaRPr lang="en-US" sz="800" spc="48" kern="0" b="0" i="0" dirty="0">
                <a:solidFill>
                  <a:srgbClr val="50658E"/>
                </a:solidFill>
                <a:latin typeface="IBM Plex Mono Medium"/>
                <a:ea typeface="IBM Plex Mono Medium"/>
                <a:cs typeface="IBM Plex Mono Medium"/>
              </a:endParaRPr>
            </a:p>
          </p:txBody>
        </p:sp>
        <p:sp>
          <p:nvSpPr>
            <p:cNvPr id="46" name="node14.rule"/>
            <p:cNvSpPr/>
            <p:nvPr/>
          </p:nvSpPr>
          <p:spPr>
            <a:xfrm>
              <a:off x="9984860" y="3767138"/>
              <a:ext cx="1483240" cy="9525"/>
            </a:xfrm>
            <a:prstGeom prst="rect">
              <a:avLst/>
            </a:prstGeom>
            <a:solidFill>
              <a:srgbClr val="CED7E6"/>
            </a:solidFill>
            <a:ln>
              <a:noFill/>
            </a:ln>
          </p:spPr>
        </p:sp>
      </p:grpSp>
      <p:sp>
        <p:nvSpPr>
          <p:cNvPr id="47" name="node15"/>
          <p:cNvSpPr/>
          <p:nvPr/>
        </p:nvSpPr>
        <p:spPr>
          <a:xfrm>
            <a:off x="8039100" y="3886200"/>
            <a:ext cx="3429000" cy="9525"/>
          </a:xfrm>
          <a:prstGeom prst="rect">
            <a:avLst/>
          </a:prstGeom>
          <a:solidFill>
            <a:srgbClr val="CED7E6"/>
          </a:solidFill>
          <a:ln>
            <a:noFill/>
          </a:ln>
        </p:spPr>
      </p:sp>
      <p:grpSp>
        <p:nvGrpSpPr>
          <p:cNvPr id="63" name="node16"/>
          <p:cNvGrpSpPr/>
          <p:nvPr/>
        </p:nvGrpSpPr>
        <p:grpSpPr>
          <a:xfrm>
            <a:off x="8039100" y="4114800"/>
            <a:ext cx="3429000" cy="1574800"/>
            <a:chOff x="8039100" y="4114800"/>
            <a:chExt cx="3429000" cy="1574800"/>
          </a:xfrm>
        </p:grpSpPr>
        <p:graphicFrame>
          <p:nvGraphicFramePr>
            <p:cNvPr id="48" name="node16.native"/>
            <p:cNvGraphicFramePr>
              <a:graphicFrameLocks noGrp="1"/>
            </p:cNvGraphicFramePr>
            <p:nvPr>
              <p:extLst>
                <p:ext uri="{D42A27DB-BD31-4B8C-83A1-F6EECF244321}">
                  <p14:modId xmlns:p14="http://schemas.microsoft.com/office/powerpoint/2010/main" val="1579011935"/>
                </p:ext>
              </p:extLst>
            </p:nvPr>
          </p:nvGraphicFramePr>
          <p:xfrm>
            <a:off x="8039100" y="4114800"/>
            <a:ext cx="3429000" cy="1574800"/>
          </p:xfrm>
          <a:graphic>
            <a:graphicData uri="http://schemas.openxmlformats.org/drawingml/2006/table">
              <a:tbl>
                <a:tblPr/>
                <a:tblGrid>
                  <a:gridCol w="2209800"/>
                  <a:gridCol w="12192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OBJECTIVE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RESULT</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One future-state journey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Owners named per area</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Partly 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Shortlist ready to rank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Target measures drafted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Not 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49" name="node16.row.item-001.s.status-mark"/>
            <p:cNvSpPr/>
            <p:nvPr/>
          </p:nvSpPr>
          <p:spPr>
            <a:xfrm>
              <a:off x="10407650" y="4578350"/>
              <a:ext cx="88900" cy="88900"/>
            </a:xfrm>
            <a:prstGeom prst="rect">
              <a:avLst/>
            </a:prstGeom>
            <a:solidFill>
              <a:srgbClr val="1DD566"/>
            </a:solidFill>
            <a:ln w="12700">
              <a:solidFill>
                <a:srgbClr val="070154"/>
              </a:solidFill>
              <a:prstDash val="solid"/>
            </a:ln>
          </p:spPr>
        </p:sp>
        <p:sp>
          <p:nvSpPr>
            <p:cNvPr id="50" name="node16.row.item-002.s.status-mark"/>
            <p:cNvSpPr/>
            <p:nvPr/>
          </p:nvSpPr>
          <p:spPr>
            <a:xfrm>
              <a:off x="10407650" y="4883150"/>
              <a:ext cx="88900" cy="88900"/>
            </a:xfrm>
            <a:prstGeom prst="rect">
              <a:avLst/>
            </a:prstGeom>
            <a:solidFill>
              <a:srgbClr val="FFC700"/>
            </a:solidFill>
            <a:ln w="12700">
              <a:solidFill>
                <a:srgbClr val="070154"/>
              </a:solidFill>
              <a:prstDash val="solid"/>
            </a:ln>
          </p:spPr>
        </p:sp>
        <p:sp>
          <p:nvSpPr>
            <p:cNvPr id="51" name="node16.row.item-003.s.status-mark"/>
            <p:cNvSpPr/>
            <p:nvPr/>
          </p:nvSpPr>
          <p:spPr>
            <a:xfrm>
              <a:off x="10407650" y="5187950"/>
              <a:ext cx="88900" cy="88900"/>
            </a:xfrm>
            <a:prstGeom prst="rect">
              <a:avLst/>
            </a:prstGeom>
            <a:solidFill>
              <a:srgbClr val="1DD566"/>
            </a:solidFill>
            <a:ln w="12700">
              <a:solidFill>
                <a:srgbClr val="070154"/>
              </a:solidFill>
              <a:prstDash val="solid"/>
            </a:ln>
          </p:spPr>
        </p:sp>
        <p:sp>
          <p:nvSpPr>
            <p:cNvPr id="52" name="node16.row.item-004.s.status-mark"/>
            <p:cNvSpPr/>
            <p:nvPr/>
          </p:nvSpPr>
          <p:spPr>
            <a:xfrm>
              <a:off x="10407650" y="5492750"/>
              <a:ext cx="88900" cy="88900"/>
            </a:xfrm>
            <a:prstGeom prst="rect">
              <a:avLst/>
            </a:prstGeom>
            <a:solidFill>
              <a:srgbClr val="F52C00"/>
            </a:solidFill>
            <a:ln w="12700">
              <a:solidFill>
                <a:srgbClr val="070154"/>
              </a:solidFill>
              <a:prstDash val="solid"/>
            </a:ln>
          </p:spPr>
        </p:sp>
      </p:gr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ource-643">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2 READOUT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Five learnings shape the design</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6769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170</a:t>
            </a:fld>
            <a:endParaRPr lang="en-US" sz="700" spc="0" kern="0" b="0" i="0" dirty="0">
              <a:solidFill>
                <a:srgbClr val="070154"/>
              </a:solidFill>
              <a:latin typeface="IBM Plex Mono SemiBold"/>
              <a:ea typeface="IBM Plex Mono SemiBold"/>
              <a:cs typeface="IBM Plex Mono SemiBold"/>
            </a:endParaRPr>
          </a:p>
        </p:txBody>
      </p:sp>
      <p:grpSp>
        <p:nvGrpSpPr>
          <p:cNvPr id="60" name="node01"/>
          <p:cNvGrpSpPr/>
          <p:nvPr/>
        </p:nvGrpSpPr>
        <p:grpSpPr>
          <a:xfrm>
            <a:off x="8039100" y="1828800"/>
            <a:ext cx="3429000" cy="228600"/>
            <a:chOff x="8039100" y="1828800"/>
            <a:chExt cx="3429000" cy="228600"/>
          </a:xfrm>
        </p:grpSpPr>
        <p:sp>
          <p:nvSpPr>
            <p:cNvPr id="7" name="node01.label"/>
            <p:cNvSpPr/>
            <p:nvPr/>
          </p:nvSpPr>
          <p:spPr>
            <a:xfrm>
              <a:off x="8039100" y="1828800"/>
              <a:ext cx="95529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DECISIONS MADE</a:t>
              </a:r>
              <a:endParaRPr lang="en-US" sz="800" spc="48" kern="0" b="0" i="0" dirty="0">
                <a:solidFill>
                  <a:srgbClr val="50658E"/>
                </a:solidFill>
                <a:latin typeface="IBM Plex Mono Medium"/>
                <a:ea typeface="IBM Plex Mono Medium"/>
                <a:cs typeface="IBM Plex Mono Medium"/>
              </a:endParaRPr>
            </a:p>
          </p:txBody>
        </p:sp>
        <p:sp>
          <p:nvSpPr>
            <p:cNvPr id="8" name="node01.rule"/>
            <p:cNvSpPr/>
            <p:nvPr/>
          </p:nvSpPr>
          <p:spPr>
            <a:xfrm>
              <a:off x="9121391" y="1938337"/>
              <a:ext cx="2346709" cy="9525"/>
            </a:xfrm>
            <a:prstGeom prst="rect">
              <a:avLst/>
            </a:prstGeom>
            <a:solidFill>
              <a:srgbClr val="CED7E6"/>
            </a:solidFill>
            <a:ln>
              <a:noFill/>
            </a:ln>
          </p:spPr>
        </p:sp>
      </p:grpSp>
      <p:sp>
        <p:nvSpPr>
          <p:cNvPr id="9" name="node02"/>
          <p:cNvSpPr/>
          <p:nvPr/>
        </p:nvSpPr>
        <p:spPr>
          <a:xfrm>
            <a:off x="8039100" y="2057400"/>
            <a:ext cx="3429000" cy="9525"/>
          </a:xfrm>
          <a:prstGeom prst="rect">
            <a:avLst/>
          </a:prstGeom>
          <a:solidFill>
            <a:srgbClr val="CED7E6"/>
          </a:solidFill>
          <a:ln>
            <a:noFill/>
          </a:ln>
        </p:spPr>
      </p:sp>
      <p:grpSp>
        <p:nvGrpSpPr>
          <p:cNvPr id="61" name="node03"/>
          <p:cNvGrpSpPr/>
          <p:nvPr/>
        </p:nvGrpSpPr>
        <p:grpSpPr>
          <a:xfrm>
            <a:off x="8039100" y="2286000"/>
            <a:ext cx="3429000" cy="723900"/>
            <a:chOff x="8039100" y="2286000"/>
            <a:chExt cx="3429000" cy="723900"/>
          </a:xfrm>
        </p:grpSpPr>
        <p:sp>
          <p:nvSpPr>
            <p:cNvPr id="10" name="node03.source-001.bullet"/>
            <p:cNvSpPr/>
            <p:nvPr/>
          </p:nvSpPr>
          <p:spPr>
            <a:xfrm>
              <a:off x="8039100" y="2374900"/>
              <a:ext cx="38100" cy="38100"/>
            </a:xfrm>
            <a:prstGeom prst="rect">
              <a:avLst/>
            </a:prstGeom>
            <a:solidFill>
              <a:srgbClr val="070154"/>
            </a:solidFill>
            <a:ln>
              <a:noFill/>
            </a:ln>
          </p:spPr>
        </p:sp>
        <p:sp>
          <p:nvSpPr>
            <p:cNvPr id="11" name="node03.source-001.text"/>
            <p:cNvSpPr/>
            <p:nvPr/>
          </p:nvSpPr>
          <p:spPr>
            <a:xfrm>
              <a:off x="8191500" y="2286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scheduling template</a:t>
              </a:r>
              <a:endParaRPr lang="en-US" sz="1200" spc="0" kern="0" b="0" i="0" dirty="0">
                <a:solidFill>
                  <a:srgbClr val="070154"/>
                </a:solidFill>
                <a:latin typeface="IBM Plex Sans"/>
                <a:ea typeface="IBM Plex Sans"/>
                <a:cs typeface="IBM Plex Sans"/>
              </a:endParaRPr>
            </a:p>
          </p:txBody>
        </p:sp>
        <p:sp>
          <p:nvSpPr>
            <p:cNvPr id="12" name="node03.source-002.bullet"/>
            <p:cNvSpPr/>
            <p:nvPr/>
          </p:nvSpPr>
          <p:spPr>
            <a:xfrm>
              <a:off x="8039100" y="2628900"/>
              <a:ext cx="38100" cy="38100"/>
            </a:xfrm>
            <a:prstGeom prst="rect">
              <a:avLst/>
            </a:prstGeom>
            <a:solidFill>
              <a:srgbClr val="070154"/>
            </a:solidFill>
            <a:ln>
              <a:noFill/>
            </a:ln>
          </p:spPr>
        </p:sp>
        <p:sp>
          <p:nvSpPr>
            <p:cNvPr id="13" name="node03.source-002.text"/>
            <p:cNvSpPr/>
            <p:nvPr/>
          </p:nvSpPr>
          <p:spPr>
            <a:xfrm>
              <a:off x="8191500" y="2540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Eligibility checked at booking</a:t>
              </a:r>
              <a:endParaRPr lang="en-US" sz="1200" spc="0" kern="0" b="0" i="0" dirty="0">
                <a:solidFill>
                  <a:srgbClr val="070154"/>
                </a:solidFill>
                <a:latin typeface="IBM Plex Sans"/>
                <a:ea typeface="IBM Plex Sans"/>
                <a:cs typeface="IBM Plex Sans"/>
              </a:endParaRPr>
            </a:p>
          </p:txBody>
        </p:sp>
        <p:sp>
          <p:nvSpPr>
            <p:cNvPr id="14" name="node03.source-003.bullet"/>
            <p:cNvSpPr/>
            <p:nvPr/>
          </p:nvSpPr>
          <p:spPr>
            <a:xfrm>
              <a:off x="8039100" y="2882900"/>
              <a:ext cx="38100" cy="38100"/>
            </a:xfrm>
            <a:prstGeom prst="rect">
              <a:avLst/>
            </a:prstGeom>
            <a:solidFill>
              <a:srgbClr val="070154"/>
            </a:solidFill>
            <a:ln>
              <a:noFill/>
            </a:ln>
          </p:spPr>
        </p:sp>
        <p:sp>
          <p:nvSpPr>
            <p:cNvPr id="15" name="node03.source-003.text"/>
            <p:cNvSpPr/>
            <p:nvPr/>
          </p:nvSpPr>
          <p:spPr>
            <a:xfrm>
              <a:off x="8191500" y="2794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Estimates start with imaging</a:t>
              </a:r>
              <a:endParaRPr lang="en-US" sz="1200" spc="0" kern="0" b="0" i="0" dirty="0">
                <a:solidFill>
                  <a:srgbClr val="070154"/>
                </a:solidFill>
                <a:latin typeface="IBM Plex Sans"/>
                <a:ea typeface="IBM Plex Sans"/>
                <a:cs typeface="IBM Plex Sans"/>
              </a:endParaRPr>
            </a:p>
          </p:txBody>
        </p:sp>
      </p:grpSp>
      <p:grpSp>
        <p:nvGrpSpPr>
          <p:cNvPr id="62" name="node04"/>
          <p:cNvGrpSpPr/>
          <p:nvPr/>
        </p:nvGrpSpPr>
        <p:grpSpPr>
          <a:xfrm>
            <a:off x="8039100" y="3200400"/>
            <a:ext cx="3429000" cy="228600"/>
            <a:chOff x="8039100" y="3200400"/>
            <a:chExt cx="3429000" cy="228600"/>
          </a:xfrm>
        </p:grpSpPr>
        <p:sp>
          <p:nvSpPr>
            <p:cNvPr id="16" name="node04.label"/>
            <p:cNvSpPr/>
            <p:nvPr/>
          </p:nvSpPr>
          <p:spPr>
            <a:xfrm>
              <a:off x="8039100" y="3200400"/>
              <a:ext cx="1818760"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OUTCOMES AGAINST OBJECTIVES</a:t>
              </a:r>
              <a:endParaRPr lang="en-US" sz="800" spc="48" kern="0" b="0" i="0" dirty="0">
                <a:solidFill>
                  <a:srgbClr val="50658E"/>
                </a:solidFill>
                <a:latin typeface="IBM Plex Mono Medium"/>
                <a:ea typeface="IBM Plex Mono Medium"/>
                <a:cs typeface="IBM Plex Mono Medium"/>
              </a:endParaRPr>
            </a:p>
          </p:txBody>
        </p:sp>
        <p:sp>
          <p:nvSpPr>
            <p:cNvPr id="17" name="node04.rule"/>
            <p:cNvSpPr/>
            <p:nvPr/>
          </p:nvSpPr>
          <p:spPr>
            <a:xfrm>
              <a:off x="9984860" y="3309938"/>
              <a:ext cx="1483240" cy="9525"/>
            </a:xfrm>
            <a:prstGeom prst="rect">
              <a:avLst/>
            </a:prstGeom>
            <a:solidFill>
              <a:srgbClr val="CED7E6"/>
            </a:solidFill>
            <a:ln>
              <a:noFill/>
            </a:ln>
          </p:spPr>
        </p:sp>
      </p:grpSp>
      <p:sp>
        <p:nvSpPr>
          <p:cNvPr id="18" name="node05"/>
          <p:cNvSpPr/>
          <p:nvPr/>
        </p:nvSpPr>
        <p:spPr>
          <a:xfrm>
            <a:off x="8039100" y="3429000"/>
            <a:ext cx="3429000" cy="9525"/>
          </a:xfrm>
          <a:prstGeom prst="rect">
            <a:avLst/>
          </a:prstGeom>
          <a:solidFill>
            <a:srgbClr val="CED7E6"/>
          </a:solidFill>
          <a:ln>
            <a:noFill/>
          </a:ln>
        </p:spPr>
      </p:sp>
      <p:grpSp>
        <p:nvGrpSpPr>
          <p:cNvPr id="63" name="node06"/>
          <p:cNvGrpSpPr/>
          <p:nvPr/>
        </p:nvGrpSpPr>
        <p:grpSpPr>
          <a:xfrm>
            <a:off x="8039100" y="3657600"/>
            <a:ext cx="3429000" cy="1778000"/>
            <a:chOff x="8039100" y="3657600"/>
            <a:chExt cx="3429000" cy="1778000"/>
          </a:xfrm>
        </p:grpSpPr>
        <p:graphicFrame>
          <p:nvGraphicFramePr>
            <p:cNvPr id="19" name="node06.native"/>
            <p:cNvGraphicFramePr>
              <a:graphicFrameLocks noGrp="1"/>
            </p:cNvGraphicFramePr>
            <p:nvPr>
              <p:extLst>
                <p:ext uri="{D42A27DB-BD31-4B8C-83A1-F6EECF244321}">
                  <p14:modId xmlns:p14="http://schemas.microsoft.com/office/powerpoint/2010/main" val="1579011935"/>
                </p:ext>
              </p:extLst>
            </p:nvPr>
          </p:nvGraphicFramePr>
          <p:xfrm>
            <a:off x="8039100" y="3657600"/>
            <a:ext cx="3429000" cy="1778000"/>
          </p:xfrm>
          <a:graphic>
            <a:graphicData uri="http://schemas.openxmlformats.org/drawingml/2006/table">
              <a:tbl>
                <a:tblPr/>
                <a:tblGrid>
                  <a:gridCol w="2209800"/>
                  <a:gridCol w="12192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OBJECTIVE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RESULT</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One future-state journey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Owners named per area</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Partly 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Shortlist ready to rank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Target measures drafted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Not 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20" name="node06.row.item-001.s.status-mark"/>
            <p:cNvSpPr/>
            <p:nvPr/>
          </p:nvSpPr>
          <p:spPr>
            <a:xfrm>
              <a:off x="10407650" y="4146550"/>
              <a:ext cx="88900" cy="88900"/>
            </a:xfrm>
            <a:prstGeom prst="rect">
              <a:avLst/>
            </a:prstGeom>
            <a:solidFill>
              <a:srgbClr val="1DD566"/>
            </a:solidFill>
            <a:ln w="12700">
              <a:solidFill>
                <a:srgbClr val="070154"/>
              </a:solidFill>
              <a:prstDash val="solid"/>
            </a:ln>
          </p:spPr>
        </p:sp>
        <p:sp>
          <p:nvSpPr>
            <p:cNvPr id="21" name="node06.row.item-002.s.status-mark"/>
            <p:cNvSpPr/>
            <p:nvPr/>
          </p:nvSpPr>
          <p:spPr>
            <a:xfrm>
              <a:off x="10407650" y="4502150"/>
              <a:ext cx="88900" cy="88900"/>
            </a:xfrm>
            <a:prstGeom prst="rect">
              <a:avLst/>
            </a:prstGeom>
            <a:solidFill>
              <a:srgbClr val="FFC700"/>
            </a:solidFill>
            <a:ln w="12700">
              <a:solidFill>
                <a:srgbClr val="070154"/>
              </a:solidFill>
              <a:prstDash val="solid"/>
            </a:ln>
          </p:spPr>
        </p:sp>
        <p:sp>
          <p:nvSpPr>
            <p:cNvPr id="22" name="node06.row.item-003.s.status-mark"/>
            <p:cNvSpPr/>
            <p:nvPr/>
          </p:nvSpPr>
          <p:spPr>
            <a:xfrm>
              <a:off x="10407650" y="4857750"/>
              <a:ext cx="88900" cy="88900"/>
            </a:xfrm>
            <a:prstGeom prst="rect">
              <a:avLst/>
            </a:prstGeom>
            <a:solidFill>
              <a:srgbClr val="1DD566"/>
            </a:solidFill>
            <a:ln w="12700">
              <a:solidFill>
                <a:srgbClr val="070154"/>
              </a:solidFill>
              <a:prstDash val="solid"/>
            </a:ln>
          </p:spPr>
        </p:sp>
        <p:sp>
          <p:nvSpPr>
            <p:cNvPr id="23" name="node06.row.item-004.s.status-mark"/>
            <p:cNvSpPr/>
            <p:nvPr/>
          </p:nvSpPr>
          <p:spPr>
            <a:xfrm>
              <a:off x="10407650" y="5213350"/>
              <a:ext cx="88900" cy="88900"/>
            </a:xfrm>
            <a:prstGeom prst="rect">
              <a:avLst/>
            </a:prstGeom>
            <a:solidFill>
              <a:srgbClr val="F52C00"/>
            </a:solidFill>
            <a:ln w="12700">
              <a:solidFill>
                <a:srgbClr val="070154"/>
              </a:solidFill>
              <a:prstDash val="solid"/>
            </a:ln>
          </p:spPr>
        </p:sp>
      </p:grpSp>
      <p:grpSp>
        <p:nvGrpSpPr>
          <p:cNvPr id="64" name="node07"/>
          <p:cNvGrpSpPr/>
          <p:nvPr/>
        </p:nvGrpSpPr>
        <p:grpSpPr>
          <a:xfrm>
            <a:off x="723900" y="457200"/>
            <a:ext cx="7086600" cy="228600"/>
            <a:chOff x="723900" y="457200"/>
            <a:chExt cx="7086600" cy="228600"/>
          </a:xfrm>
        </p:grpSpPr>
        <p:sp>
          <p:nvSpPr>
            <p:cNvPr id="24" name="node07.label"/>
            <p:cNvSpPr/>
            <p:nvPr/>
          </p:nvSpPr>
          <p:spPr>
            <a:xfrm>
              <a:off x="723900" y="457200"/>
              <a:ext cx="888870"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KEY LEARNINGS</a:t>
              </a:r>
              <a:endParaRPr lang="en-US" sz="800" spc="48" kern="0" b="0" i="0" dirty="0">
                <a:solidFill>
                  <a:srgbClr val="50658E"/>
                </a:solidFill>
                <a:latin typeface="IBM Plex Mono Medium"/>
                <a:ea typeface="IBM Plex Mono Medium"/>
                <a:cs typeface="IBM Plex Mono Medium"/>
              </a:endParaRPr>
            </a:p>
          </p:txBody>
        </p:sp>
        <p:sp>
          <p:nvSpPr>
            <p:cNvPr id="25" name="node07.rule"/>
            <p:cNvSpPr/>
            <p:nvPr/>
          </p:nvSpPr>
          <p:spPr>
            <a:xfrm>
              <a:off x="1739770" y="566738"/>
              <a:ext cx="6070730" cy="9525"/>
            </a:xfrm>
            <a:prstGeom prst="rect">
              <a:avLst/>
            </a:prstGeom>
            <a:solidFill>
              <a:srgbClr val="CED7E6"/>
            </a:solidFill>
            <a:ln>
              <a:noFill/>
            </a:ln>
          </p:spPr>
        </p:sp>
      </p:grpSp>
      <p:sp>
        <p:nvSpPr>
          <p:cNvPr id="26" name="node08"/>
          <p:cNvSpPr/>
          <p:nvPr/>
        </p:nvSpPr>
        <p:spPr>
          <a:xfrm>
            <a:off x="723900" y="685800"/>
            <a:ext cx="7086600" cy="9525"/>
          </a:xfrm>
          <a:prstGeom prst="rect">
            <a:avLst/>
          </a:prstGeom>
          <a:solidFill>
            <a:srgbClr val="CED7E6"/>
          </a:solidFill>
          <a:ln>
            <a:noFill/>
          </a:ln>
        </p:spPr>
      </p:sp>
      <p:grpSp>
        <p:nvGrpSpPr>
          <p:cNvPr id="65" name="node09"/>
          <p:cNvGrpSpPr/>
          <p:nvPr/>
        </p:nvGrpSpPr>
        <p:grpSpPr>
          <a:xfrm>
            <a:off x="723900" y="914400"/>
            <a:ext cx="7086600" cy="1231900"/>
            <a:chOff x="723900" y="914400"/>
            <a:chExt cx="7086600" cy="1231900"/>
          </a:xfrm>
        </p:grpSpPr>
        <p:sp>
          <p:nvSpPr>
            <p:cNvPr id="27" name="node09.source-001.number"/>
            <p:cNvSpPr/>
            <p:nvPr/>
          </p:nvSpPr>
          <p:spPr>
            <a:xfrm>
              <a:off x="723900" y="9144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28" name="node09.source-001.text"/>
            <p:cNvSpPr/>
            <p:nvPr/>
          </p:nvSpPr>
          <p:spPr>
            <a:xfrm>
              <a:off x="914400" y="914400"/>
              <a:ext cx="6896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Patients meet three scheduling tools before they can book one visit.</a:t>
              </a:r>
              <a:endParaRPr lang="en-US" sz="1200" spc="0" kern="0" b="0" i="0" dirty="0">
                <a:solidFill>
                  <a:srgbClr val="070154"/>
                </a:solidFill>
                <a:latin typeface="IBM Plex Sans"/>
                <a:ea typeface="IBM Plex Sans"/>
                <a:cs typeface="IBM Plex Sans"/>
              </a:endParaRPr>
            </a:p>
          </p:txBody>
        </p:sp>
        <p:sp>
          <p:nvSpPr>
            <p:cNvPr id="29" name="node09.source-002.number"/>
            <p:cNvSpPr/>
            <p:nvPr/>
          </p:nvSpPr>
          <p:spPr>
            <a:xfrm>
              <a:off x="723900" y="11684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30" name="node09.source-002.text"/>
            <p:cNvSpPr/>
            <p:nvPr/>
          </p:nvSpPr>
          <p:spPr>
            <a:xfrm>
              <a:off x="914400" y="1168400"/>
              <a:ext cx="6896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errors cause most of the front-end denials we see.</a:t>
              </a:r>
              <a:endParaRPr lang="en-US" sz="1200" spc="0" kern="0" b="0" i="0" dirty="0">
                <a:solidFill>
                  <a:srgbClr val="070154"/>
                </a:solidFill>
                <a:latin typeface="IBM Plex Sans"/>
                <a:ea typeface="IBM Plex Sans"/>
                <a:cs typeface="IBM Plex Sans"/>
              </a:endParaRPr>
            </a:p>
          </p:txBody>
        </p:sp>
        <p:sp>
          <p:nvSpPr>
            <p:cNvPr id="31" name="node09.source-003.number"/>
            <p:cNvSpPr/>
            <p:nvPr/>
          </p:nvSpPr>
          <p:spPr>
            <a:xfrm>
              <a:off x="723900" y="14224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32" name="node09.source-003.text"/>
            <p:cNvSpPr/>
            <p:nvPr/>
          </p:nvSpPr>
          <p:spPr>
            <a:xfrm>
              <a:off x="914400" y="1422400"/>
              <a:ext cx="6896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Estimates are rarely given before the visit, so patients arrive unsure of cost.</a:t>
              </a:r>
              <a:endParaRPr lang="en-US" sz="1200" spc="0" kern="0" b="0" i="0" dirty="0">
                <a:solidFill>
                  <a:srgbClr val="070154"/>
                </a:solidFill>
                <a:latin typeface="IBM Plex Sans"/>
                <a:ea typeface="IBM Plex Sans"/>
                <a:cs typeface="IBM Plex Sans"/>
              </a:endParaRPr>
            </a:p>
          </p:txBody>
        </p:sp>
        <p:sp>
          <p:nvSpPr>
            <p:cNvPr id="33" name="node09.source-004.number"/>
            <p:cNvSpPr/>
            <p:nvPr/>
          </p:nvSpPr>
          <p:spPr>
            <a:xfrm>
              <a:off x="723900" y="16764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34" name="node09.source-004.text"/>
            <p:cNvSpPr/>
            <p:nvPr/>
          </p:nvSpPr>
          <p:spPr>
            <a:xfrm>
              <a:off x="914400" y="1676400"/>
              <a:ext cx="6896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Area leads agree on the goals but not yet on the order of work.</a:t>
              </a:r>
              <a:endParaRPr lang="en-US" sz="1200" spc="0" kern="0" b="0" i="0" dirty="0">
                <a:solidFill>
                  <a:srgbClr val="070154"/>
                </a:solidFill>
                <a:latin typeface="IBM Plex Sans"/>
                <a:ea typeface="IBM Plex Sans"/>
                <a:cs typeface="IBM Plex Sans"/>
              </a:endParaRPr>
            </a:p>
          </p:txBody>
        </p:sp>
        <p:sp>
          <p:nvSpPr>
            <p:cNvPr id="35" name="node09.source-005.number"/>
            <p:cNvSpPr/>
            <p:nvPr/>
          </p:nvSpPr>
          <p:spPr>
            <a:xfrm>
              <a:off x="723900" y="19304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5.</a:t>
              </a:r>
              <a:endParaRPr lang="en-US" sz="1200" spc="0" kern="0" b="0" i="0" dirty="0">
                <a:solidFill>
                  <a:srgbClr val="070154"/>
                </a:solidFill>
                <a:latin typeface="IBM Plex Sans"/>
                <a:ea typeface="IBM Plex Sans"/>
                <a:cs typeface="IBM Plex Sans"/>
              </a:endParaRPr>
            </a:p>
          </p:txBody>
        </p:sp>
        <p:sp>
          <p:nvSpPr>
            <p:cNvPr id="36" name="node09.source-005.text"/>
            <p:cNvSpPr/>
            <p:nvPr/>
          </p:nvSpPr>
          <p:spPr>
            <a:xfrm>
              <a:off x="914400" y="1930400"/>
              <a:ext cx="6896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Insurance checks run too late in the flow to prevent a denial.</a:t>
              </a:r>
              <a:endParaRPr lang="en-US" sz="1200" spc="0" kern="0" b="0" i="0" dirty="0">
                <a:solidFill>
                  <a:srgbClr val="070154"/>
                </a:solidFill>
                <a:latin typeface="IBM Plex Sans"/>
                <a:ea typeface="IBM Plex Sans"/>
                <a:cs typeface="IBM Plex Sans"/>
              </a:endParaRPr>
            </a:p>
          </p:txBody>
        </p:sp>
      </p:grpSp>
      <p:grpSp>
        <p:nvGrpSpPr>
          <p:cNvPr id="66" name="node10"/>
          <p:cNvGrpSpPr/>
          <p:nvPr/>
        </p:nvGrpSpPr>
        <p:grpSpPr>
          <a:xfrm>
            <a:off x="723900" y="2286000"/>
            <a:ext cx="3429000" cy="228600"/>
            <a:chOff x="723900" y="2286000"/>
            <a:chExt cx="3429000" cy="228600"/>
          </a:xfrm>
        </p:grpSpPr>
        <p:sp>
          <p:nvSpPr>
            <p:cNvPr id="37" name="node10.label"/>
            <p:cNvSpPr/>
            <p:nvPr/>
          </p:nvSpPr>
          <p:spPr>
            <a:xfrm>
              <a:off x="723900" y="2286000"/>
              <a:ext cx="95529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OPEN QUESTIONS</a:t>
              </a:r>
              <a:endParaRPr lang="en-US" sz="800" spc="48" kern="0" b="0" i="0" dirty="0">
                <a:solidFill>
                  <a:srgbClr val="50658E"/>
                </a:solidFill>
                <a:latin typeface="IBM Plex Mono Medium"/>
                <a:ea typeface="IBM Plex Mono Medium"/>
                <a:cs typeface="IBM Plex Mono Medium"/>
              </a:endParaRPr>
            </a:p>
          </p:txBody>
        </p:sp>
        <p:sp>
          <p:nvSpPr>
            <p:cNvPr id="38" name="node10.rule"/>
            <p:cNvSpPr/>
            <p:nvPr/>
          </p:nvSpPr>
          <p:spPr>
            <a:xfrm>
              <a:off x="1806191" y="2395538"/>
              <a:ext cx="2346709" cy="9525"/>
            </a:xfrm>
            <a:prstGeom prst="rect">
              <a:avLst/>
            </a:prstGeom>
            <a:solidFill>
              <a:srgbClr val="CED7E6"/>
            </a:solidFill>
            <a:ln>
              <a:noFill/>
            </a:ln>
          </p:spPr>
        </p:sp>
      </p:grpSp>
      <p:sp>
        <p:nvSpPr>
          <p:cNvPr id="39" name="node11"/>
          <p:cNvSpPr/>
          <p:nvPr/>
        </p:nvSpPr>
        <p:spPr>
          <a:xfrm>
            <a:off x="723900" y="2514600"/>
            <a:ext cx="3429000" cy="9525"/>
          </a:xfrm>
          <a:prstGeom prst="rect">
            <a:avLst/>
          </a:prstGeom>
          <a:solidFill>
            <a:srgbClr val="CED7E6"/>
          </a:solidFill>
          <a:ln>
            <a:noFill/>
          </a:ln>
        </p:spPr>
      </p:sp>
      <p:grpSp>
        <p:nvGrpSpPr>
          <p:cNvPr id="67" name="node12"/>
          <p:cNvGrpSpPr/>
          <p:nvPr/>
        </p:nvGrpSpPr>
        <p:grpSpPr>
          <a:xfrm>
            <a:off x="723900" y="2743200"/>
            <a:ext cx="3429000" cy="723900"/>
            <a:chOff x="723900" y="2743200"/>
            <a:chExt cx="3429000" cy="723900"/>
          </a:xfrm>
        </p:grpSpPr>
        <p:sp>
          <p:nvSpPr>
            <p:cNvPr id="40" name="node12.source-001.bullet"/>
            <p:cNvSpPr/>
            <p:nvPr/>
          </p:nvSpPr>
          <p:spPr>
            <a:xfrm>
              <a:off x="723900" y="2832100"/>
              <a:ext cx="38100" cy="38100"/>
            </a:xfrm>
            <a:prstGeom prst="rect">
              <a:avLst/>
            </a:prstGeom>
            <a:solidFill>
              <a:srgbClr val="070154"/>
            </a:solidFill>
            <a:ln>
              <a:noFill/>
            </a:ln>
          </p:spPr>
        </p:sp>
        <p:sp>
          <p:nvSpPr>
            <p:cNvPr id="41" name="node12.source-001.text"/>
            <p:cNvSpPr/>
            <p:nvPr/>
          </p:nvSpPr>
          <p:spPr>
            <a:xfrm>
              <a:off x="876300" y="2743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Who owns the estimate tool?</a:t>
              </a:r>
              <a:endParaRPr lang="en-US" sz="1200" spc="0" kern="0" b="0" i="0" dirty="0">
                <a:solidFill>
                  <a:srgbClr val="070154"/>
                </a:solidFill>
                <a:latin typeface="IBM Plex Sans"/>
                <a:ea typeface="IBM Plex Sans"/>
                <a:cs typeface="IBM Plex Sans"/>
              </a:endParaRPr>
            </a:p>
          </p:txBody>
        </p:sp>
        <p:sp>
          <p:nvSpPr>
            <p:cNvPr id="42" name="node12.source-002.bullet"/>
            <p:cNvSpPr/>
            <p:nvPr/>
          </p:nvSpPr>
          <p:spPr>
            <a:xfrm>
              <a:off x="723900" y="3086100"/>
              <a:ext cx="38100" cy="38100"/>
            </a:xfrm>
            <a:prstGeom prst="rect">
              <a:avLst/>
            </a:prstGeom>
            <a:solidFill>
              <a:srgbClr val="070154"/>
            </a:solidFill>
            <a:ln>
              <a:noFill/>
            </a:ln>
          </p:spPr>
        </p:sp>
        <p:sp>
          <p:nvSpPr>
            <p:cNvPr id="43" name="node12.source-002.text"/>
            <p:cNvSpPr/>
            <p:nvPr/>
          </p:nvSpPr>
          <p:spPr>
            <a:xfrm>
              <a:off x="876300" y="2997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consent form across systems?</a:t>
              </a:r>
              <a:endParaRPr lang="en-US" sz="1200" spc="0" kern="0" b="0" i="0" dirty="0">
                <a:solidFill>
                  <a:srgbClr val="070154"/>
                </a:solidFill>
                <a:latin typeface="IBM Plex Sans"/>
                <a:ea typeface="IBM Plex Sans"/>
                <a:cs typeface="IBM Plex Sans"/>
              </a:endParaRPr>
            </a:p>
          </p:txBody>
        </p:sp>
        <p:sp>
          <p:nvSpPr>
            <p:cNvPr id="44" name="node12.source-003.bullet"/>
            <p:cNvSpPr/>
            <p:nvPr/>
          </p:nvSpPr>
          <p:spPr>
            <a:xfrm>
              <a:off x="723900" y="3340100"/>
              <a:ext cx="38100" cy="38100"/>
            </a:xfrm>
            <a:prstGeom prst="rect">
              <a:avLst/>
            </a:prstGeom>
            <a:solidFill>
              <a:srgbClr val="070154"/>
            </a:solidFill>
            <a:ln>
              <a:noFill/>
            </a:ln>
          </p:spPr>
        </p:sp>
        <p:sp>
          <p:nvSpPr>
            <p:cNvPr id="45" name="node12.source-003.text"/>
            <p:cNvSpPr/>
            <p:nvPr/>
          </p:nvSpPr>
          <p:spPr>
            <a:xfrm>
              <a:off x="876300" y="3251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Which denial codes come first?</a:t>
              </a:r>
              <a:endParaRPr lang="en-US" sz="1200" spc="0" kern="0" b="0" i="0" dirty="0">
                <a:solidFill>
                  <a:srgbClr val="070154"/>
                </a:solidFill>
                <a:latin typeface="IBM Plex Sans"/>
                <a:ea typeface="IBM Plex Sans"/>
                <a:cs typeface="IBM Plex Sans"/>
              </a:endParaRPr>
            </a:p>
          </p:txBody>
        </p:sp>
      </p:grpSp>
      <p:grpSp>
        <p:nvGrpSpPr>
          <p:cNvPr id="68" name="node13"/>
          <p:cNvGrpSpPr/>
          <p:nvPr/>
        </p:nvGrpSpPr>
        <p:grpSpPr>
          <a:xfrm>
            <a:off x="4381500" y="2286000"/>
            <a:ext cx="3429000" cy="228600"/>
            <a:chOff x="4381500" y="2286000"/>
            <a:chExt cx="3429000" cy="228600"/>
          </a:xfrm>
        </p:grpSpPr>
        <p:sp>
          <p:nvSpPr>
            <p:cNvPr id="46" name="node13.label"/>
            <p:cNvSpPr/>
            <p:nvPr/>
          </p:nvSpPr>
          <p:spPr>
            <a:xfrm>
              <a:off x="4381500" y="2286000"/>
              <a:ext cx="102171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WHAT WE COVERED</a:t>
              </a:r>
              <a:endParaRPr lang="en-US" sz="800" spc="48" kern="0" b="0" i="0" dirty="0">
                <a:solidFill>
                  <a:srgbClr val="50658E"/>
                </a:solidFill>
                <a:latin typeface="IBM Plex Mono Medium"/>
                <a:ea typeface="IBM Plex Mono Medium"/>
                <a:cs typeface="IBM Plex Mono Medium"/>
              </a:endParaRPr>
            </a:p>
          </p:txBody>
        </p:sp>
        <p:sp>
          <p:nvSpPr>
            <p:cNvPr id="47" name="node13.rule"/>
            <p:cNvSpPr/>
            <p:nvPr/>
          </p:nvSpPr>
          <p:spPr>
            <a:xfrm>
              <a:off x="5530211" y="2395538"/>
              <a:ext cx="2280289" cy="9525"/>
            </a:xfrm>
            <a:prstGeom prst="rect">
              <a:avLst/>
            </a:prstGeom>
            <a:solidFill>
              <a:srgbClr val="CED7E6"/>
            </a:solidFill>
            <a:ln>
              <a:noFill/>
            </a:ln>
          </p:spPr>
        </p:sp>
      </p:grpSp>
      <p:sp>
        <p:nvSpPr>
          <p:cNvPr id="48" name="node14"/>
          <p:cNvSpPr/>
          <p:nvPr/>
        </p:nvSpPr>
        <p:spPr>
          <a:xfrm>
            <a:off x="4381500" y="2514600"/>
            <a:ext cx="3429000" cy="9525"/>
          </a:xfrm>
          <a:prstGeom prst="rect">
            <a:avLst/>
          </a:prstGeom>
          <a:solidFill>
            <a:srgbClr val="CED7E6"/>
          </a:solidFill>
          <a:ln>
            <a:noFill/>
          </a:ln>
        </p:spPr>
      </p:sp>
      <p:grpSp>
        <p:nvGrpSpPr>
          <p:cNvPr id="69" name="node15"/>
          <p:cNvGrpSpPr/>
          <p:nvPr/>
        </p:nvGrpSpPr>
        <p:grpSpPr>
          <a:xfrm>
            <a:off x="4381500" y="2743200"/>
            <a:ext cx="3429000" cy="469900"/>
            <a:chOff x="4381500" y="2743200"/>
            <a:chExt cx="3429000" cy="469900"/>
          </a:xfrm>
        </p:grpSpPr>
        <p:sp>
          <p:nvSpPr>
            <p:cNvPr id="49" name="node15.source-001.bullet"/>
            <p:cNvSpPr/>
            <p:nvPr/>
          </p:nvSpPr>
          <p:spPr>
            <a:xfrm>
              <a:off x="4381500" y="2832100"/>
              <a:ext cx="38100" cy="38100"/>
            </a:xfrm>
            <a:prstGeom prst="rect">
              <a:avLst/>
            </a:prstGeom>
            <a:solidFill>
              <a:srgbClr val="070154"/>
            </a:solidFill>
            <a:ln>
              <a:noFill/>
            </a:ln>
          </p:spPr>
        </p:sp>
        <p:sp>
          <p:nvSpPr>
            <p:cNvPr id="50" name="node15.source-001.text"/>
            <p:cNvSpPr/>
            <p:nvPr/>
          </p:nvSpPr>
          <p:spPr>
            <a:xfrm>
              <a:off x="4533900" y="2743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Discovery recap and four design tables</a:t>
              </a:r>
              <a:endParaRPr lang="en-US" sz="1200" spc="0" kern="0" b="0" i="0" dirty="0">
                <a:solidFill>
                  <a:srgbClr val="070154"/>
                </a:solidFill>
                <a:latin typeface="IBM Plex Sans"/>
                <a:ea typeface="IBM Plex Sans"/>
                <a:cs typeface="IBM Plex Sans"/>
              </a:endParaRPr>
            </a:p>
          </p:txBody>
        </p:sp>
        <p:sp>
          <p:nvSpPr>
            <p:cNvPr id="51" name="node15.source-002.bullet"/>
            <p:cNvSpPr/>
            <p:nvPr/>
          </p:nvSpPr>
          <p:spPr>
            <a:xfrm>
              <a:off x="4381500" y="3086100"/>
              <a:ext cx="38100" cy="38100"/>
            </a:xfrm>
            <a:prstGeom prst="rect">
              <a:avLst/>
            </a:prstGeom>
            <a:solidFill>
              <a:srgbClr val="070154"/>
            </a:solidFill>
            <a:ln>
              <a:noFill/>
            </a:ln>
          </p:spPr>
        </p:sp>
        <p:sp>
          <p:nvSpPr>
            <p:cNvPr id="52" name="node15.source-002.text"/>
            <p:cNvSpPr/>
            <p:nvPr/>
          </p:nvSpPr>
          <p:spPr>
            <a:xfrm>
              <a:off x="4533900" y="2997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Playback, gaps and decisions</a:t>
              </a:r>
              <a:endParaRPr lang="en-US" sz="1200" spc="0" kern="0" b="0" i="0" dirty="0">
                <a:solidFill>
                  <a:srgbClr val="070154"/>
                </a:solidFill>
                <a:latin typeface="IBM Plex Sans"/>
                <a:ea typeface="IBM Plex Sans"/>
                <a:cs typeface="IBM Plex Sans"/>
              </a:endParaRPr>
            </a:p>
          </p:txBody>
        </p:sp>
      </p:grpSp>
      <p:grpSp>
        <p:nvGrpSpPr>
          <p:cNvPr id="70" name="node16"/>
          <p:cNvGrpSpPr/>
          <p:nvPr/>
        </p:nvGrpSpPr>
        <p:grpSpPr>
          <a:xfrm>
            <a:off x="723900" y="3657600"/>
            <a:ext cx="7086600" cy="228600"/>
            <a:chOff x="723900" y="3657600"/>
            <a:chExt cx="7086600" cy="228600"/>
          </a:xfrm>
        </p:grpSpPr>
        <p:sp>
          <p:nvSpPr>
            <p:cNvPr id="53" name="node16.label"/>
            <p:cNvSpPr/>
            <p:nvPr/>
          </p:nvSpPr>
          <p:spPr>
            <a:xfrm>
              <a:off x="723900" y="3657600"/>
              <a:ext cx="689608"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NEXT STEPS</a:t>
              </a:r>
              <a:endParaRPr lang="en-US" sz="800" spc="48" kern="0" b="0" i="0" dirty="0">
                <a:solidFill>
                  <a:srgbClr val="50658E"/>
                </a:solidFill>
                <a:latin typeface="IBM Plex Mono Medium"/>
                <a:ea typeface="IBM Plex Mono Medium"/>
                <a:cs typeface="IBM Plex Mono Medium"/>
              </a:endParaRPr>
            </a:p>
          </p:txBody>
        </p:sp>
        <p:sp>
          <p:nvSpPr>
            <p:cNvPr id="54" name="node16.rule"/>
            <p:cNvSpPr/>
            <p:nvPr/>
          </p:nvSpPr>
          <p:spPr>
            <a:xfrm>
              <a:off x="1540508" y="3767138"/>
              <a:ext cx="6269992" cy="9525"/>
            </a:xfrm>
            <a:prstGeom prst="rect">
              <a:avLst/>
            </a:prstGeom>
            <a:solidFill>
              <a:srgbClr val="CED7E6"/>
            </a:solidFill>
            <a:ln>
              <a:noFill/>
            </a:ln>
          </p:spPr>
        </p:sp>
      </p:grpSp>
      <p:sp>
        <p:nvSpPr>
          <p:cNvPr id="55" name="node17"/>
          <p:cNvSpPr/>
          <p:nvPr/>
        </p:nvSpPr>
        <p:spPr>
          <a:xfrm>
            <a:off x="723900" y="3886200"/>
            <a:ext cx="7086600" cy="9525"/>
          </a:xfrm>
          <a:prstGeom prst="rect">
            <a:avLst/>
          </a:prstGeom>
          <a:solidFill>
            <a:srgbClr val="CED7E6"/>
          </a:solidFill>
          <a:ln>
            <a:noFill/>
          </a:ln>
        </p:spPr>
      </p:sp>
      <p:grpSp>
        <p:nvGrpSpPr>
          <p:cNvPr id="71" name="node18"/>
          <p:cNvGrpSpPr/>
          <p:nvPr/>
        </p:nvGrpSpPr>
        <p:grpSpPr>
          <a:xfrm>
            <a:off x="723900" y="4114800"/>
            <a:ext cx="7086600" cy="1270000"/>
            <a:chOff x="723900" y="4114800"/>
            <a:chExt cx="7086600" cy="1270000"/>
          </a:xfrm>
        </p:grpSpPr>
        <p:graphicFrame>
          <p:nvGraphicFramePr>
            <p:cNvPr id="56" name="node18.native"/>
            <p:cNvGraphicFramePr>
              <a:graphicFrameLocks noGrp="1"/>
            </p:cNvGraphicFramePr>
            <p:nvPr>
              <p:extLst>
                <p:ext uri="{D42A27DB-BD31-4B8C-83A1-F6EECF244321}">
                  <p14:modId xmlns:p14="http://schemas.microsoft.com/office/powerpoint/2010/main" val="1579011935"/>
                </p:ext>
              </p:extLst>
            </p:nvPr>
          </p:nvGraphicFramePr>
          <p:xfrm>
            <a:off x="723900" y="4114800"/>
            <a:ext cx="7086600" cy="1270000"/>
          </p:xfrm>
          <a:graphic>
            <a:graphicData uri="http://schemas.openxmlformats.org/drawingml/2006/table">
              <a:tbl>
                <a:tblPr/>
                <a:tblGrid>
                  <a:gridCol w="3200400"/>
                  <a:gridCol w="1600200"/>
                  <a:gridCol w="990600"/>
                  <a:gridCol w="12954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NEXT STEP</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OWNER</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DUE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STATUS</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Publish the decisions log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Program office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Oct 30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 progress</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Draft registration target measures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Registration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Nov 4</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Not started</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Confirm estimate data sources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Finance partner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Nov 4</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Not started</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57" name="node18.row.item-001.s.status-mark"/>
            <p:cNvSpPr/>
            <p:nvPr/>
          </p:nvSpPr>
          <p:spPr>
            <a:xfrm>
              <a:off x="6673850" y="4578350"/>
              <a:ext cx="88900" cy="88900"/>
            </a:xfrm>
            <a:prstGeom prst="rect">
              <a:avLst/>
            </a:prstGeom>
            <a:solidFill>
              <a:srgbClr val="0047FF"/>
            </a:solidFill>
            <a:ln w="12700">
              <a:solidFill>
                <a:srgbClr val="070154"/>
              </a:solidFill>
              <a:prstDash val="solid"/>
            </a:ln>
          </p:spPr>
        </p:sp>
        <p:sp>
          <p:nvSpPr>
            <p:cNvPr id="58" name="node18.row.item-002.s.status-mark"/>
            <p:cNvSpPr/>
            <p:nvPr/>
          </p:nvSpPr>
          <p:spPr>
            <a:xfrm>
              <a:off x="6673850" y="4883150"/>
              <a:ext cx="88900" cy="88900"/>
            </a:xfrm>
            <a:prstGeom prst="rect">
              <a:avLst/>
            </a:prstGeom>
            <a:solidFill>
              <a:srgbClr val="FFFFFF"/>
            </a:solidFill>
            <a:ln w="12700">
              <a:solidFill>
                <a:srgbClr val="070154"/>
              </a:solidFill>
              <a:prstDash val="solid"/>
            </a:ln>
          </p:spPr>
        </p:sp>
        <p:sp>
          <p:nvSpPr>
            <p:cNvPr id="59" name="node18.row.item-003.s.status-mark"/>
            <p:cNvSpPr/>
            <p:nvPr/>
          </p:nvSpPr>
          <p:spPr>
            <a:xfrm>
              <a:off x="6673850" y="5187950"/>
              <a:ext cx="88900" cy="88900"/>
            </a:xfrm>
            <a:prstGeom prst="rect">
              <a:avLst/>
            </a:prstGeom>
            <a:solidFill>
              <a:srgbClr val="FFFFFF"/>
            </a:solidFill>
            <a:ln w="12700">
              <a:solidFill>
                <a:srgbClr val="070154"/>
              </a:solidFill>
              <a:prstDash val="solid"/>
            </a:ln>
          </p:spPr>
        </p:sp>
      </p:gr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ource-64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2 READOUT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In their words: front-end fixes come first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quotes for layout only; replace with comments from the session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171</a:t>
            </a:fld>
            <a:endParaRPr lang="en-US" sz="700" spc="0" kern="0" b="0" i="0" dirty="0">
              <a:solidFill>
                <a:srgbClr val="070154"/>
              </a:solidFill>
              <a:latin typeface="IBM Plex Mono SemiBold"/>
              <a:ea typeface="IBM Plex Mono SemiBold"/>
              <a:cs typeface="IBM Plex Mono SemiBold"/>
            </a:endParaRPr>
          </a:p>
        </p:txBody>
      </p:sp>
      <p:grpSp>
        <p:nvGrpSpPr>
          <p:cNvPr id="46" name="node01"/>
          <p:cNvGrpSpPr/>
          <p:nvPr/>
        </p:nvGrpSpPr>
        <p:grpSpPr>
          <a:xfrm>
            <a:off x="723900" y="1600200"/>
            <a:ext cx="3429000" cy="1362075"/>
            <a:chOff x="723900" y="1600200"/>
            <a:chExt cx="3429000" cy="1362075"/>
          </a:xfrm>
        </p:grpSpPr>
        <p:sp>
          <p:nvSpPr>
            <p:cNvPr id="7" name="node01.quote-mark"/>
            <p:cNvSpPr/>
            <p:nvPr/>
          </p:nvSpPr>
          <p:spPr>
            <a:xfrm>
              <a:off x="723900" y="1600200"/>
              <a:ext cx="3429000" cy="416941"/>
            </a:xfrm>
            <a:prstGeom prst="rect">
              <a:avLst/>
            </a:prstGeom>
            <a:noFill/>
            <a:ln/>
          </p:spPr>
          <p:txBody>
            <a:bodyPr wrap="square" lIns="0" tIns="0" rIns="0" bIns="0" rtlCol="0" anchor="t"/>
            <a:lstStyle/>
            <a:p>
              <a:pPr algn="l" indent="0" marL="0">
                <a:lnSpc>
                  <a:spcPts val="2625"/>
                </a:lnSpc>
                <a:buNone/>
              </a:pPr>
              <a:r>
                <a:rPr lang="en-US" sz="5250" spc="-79" kern="0" b="0" i="0" dirty="0">
                  <a:solidFill>
                    <a:srgbClr val="0047FF"/>
                  </a:solidFill>
                  <a:latin typeface="IBM Plex Sans SemiBold"/>
                  <a:ea typeface="IBM Plex Sans SemiBold"/>
                  <a:cs typeface="IBM Plex Sans SemiBold"/>
                </a:rPr>
                <a:t>“</a:t>
              </a:r>
              <a:endParaRPr lang="en-US" sz="5250" spc="-79" kern="0" b="0" i="0" dirty="0">
                <a:solidFill>
                  <a:srgbClr val="0047FF"/>
                </a:solidFill>
                <a:latin typeface="IBM Plex Sans SemiBold"/>
                <a:ea typeface="IBM Plex Sans SemiBold"/>
                <a:cs typeface="IBM Plex Sans SemiBold"/>
              </a:endParaRPr>
            </a:p>
          </p:txBody>
        </p:sp>
        <p:sp>
          <p:nvSpPr>
            <p:cNvPr id="8" name="node01.quote"/>
            <p:cNvSpPr/>
            <p:nvPr/>
          </p:nvSpPr>
          <p:spPr>
            <a:xfrm>
              <a:off x="723900" y="2047875"/>
              <a:ext cx="34290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One phone number to book one visit.</a:t>
              </a:r>
              <a:endParaRPr lang="en-US" sz="2100" spc="-32" kern="0" b="0" i="0" dirty="0">
                <a:solidFill>
                  <a:srgbClr val="070154"/>
                </a:solidFill>
                <a:latin typeface="IBM Plex Sans SemiBold"/>
                <a:ea typeface="IBM Plex Sans SemiBold"/>
                <a:cs typeface="IBM Plex Sans SemiBold"/>
              </a:endParaRPr>
            </a:p>
          </p:txBody>
        </p:sp>
        <p:sp>
          <p:nvSpPr>
            <p:cNvPr id="9" name="node01.by"/>
            <p:cNvSpPr/>
            <p:nvPr/>
          </p:nvSpPr>
          <p:spPr>
            <a:xfrm>
              <a:off x="723900" y="2822575"/>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DIRECTOR, PATIENT ACCESS</a:t>
              </a:r>
              <a:endParaRPr lang="en-US" sz="800" spc="48" kern="0" b="0" i="0" dirty="0">
                <a:solidFill>
                  <a:srgbClr val="50658E"/>
                </a:solidFill>
                <a:latin typeface="IBM Plex Mono Medium"/>
                <a:ea typeface="IBM Plex Mono Medium"/>
                <a:cs typeface="IBM Plex Mono Medium"/>
              </a:endParaRPr>
            </a:p>
          </p:txBody>
        </p:sp>
      </p:grpSp>
      <p:grpSp>
        <p:nvGrpSpPr>
          <p:cNvPr id="47" name="node02"/>
          <p:cNvGrpSpPr/>
          <p:nvPr/>
        </p:nvGrpSpPr>
        <p:grpSpPr>
          <a:xfrm>
            <a:off x="4381500" y="1600200"/>
            <a:ext cx="3429000" cy="1362075"/>
            <a:chOff x="4381500" y="1600200"/>
            <a:chExt cx="3429000" cy="1362075"/>
          </a:xfrm>
        </p:grpSpPr>
        <p:sp>
          <p:nvSpPr>
            <p:cNvPr id="10" name="node02.quote-mark"/>
            <p:cNvSpPr/>
            <p:nvPr/>
          </p:nvSpPr>
          <p:spPr>
            <a:xfrm>
              <a:off x="4381500" y="1600200"/>
              <a:ext cx="3429000" cy="416941"/>
            </a:xfrm>
            <a:prstGeom prst="rect">
              <a:avLst/>
            </a:prstGeom>
            <a:noFill/>
            <a:ln/>
          </p:spPr>
          <p:txBody>
            <a:bodyPr wrap="square" lIns="0" tIns="0" rIns="0" bIns="0" rtlCol="0" anchor="t"/>
            <a:lstStyle/>
            <a:p>
              <a:pPr algn="l" indent="0" marL="0">
                <a:lnSpc>
                  <a:spcPts val="2625"/>
                </a:lnSpc>
                <a:buNone/>
              </a:pPr>
              <a:r>
                <a:rPr lang="en-US" sz="5250" spc="-79" kern="0" b="0" i="0" dirty="0">
                  <a:solidFill>
                    <a:srgbClr val="0047FF"/>
                  </a:solidFill>
                  <a:latin typeface="IBM Plex Sans SemiBold"/>
                  <a:ea typeface="IBM Plex Sans SemiBold"/>
                  <a:cs typeface="IBM Plex Sans SemiBold"/>
                </a:rPr>
                <a:t>“</a:t>
              </a:r>
              <a:endParaRPr lang="en-US" sz="5250" spc="-79" kern="0" b="0" i="0" dirty="0">
                <a:solidFill>
                  <a:srgbClr val="0047FF"/>
                </a:solidFill>
                <a:latin typeface="IBM Plex Sans SemiBold"/>
                <a:ea typeface="IBM Plex Sans SemiBold"/>
                <a:cs typeface="IBM Plex Sans SemiBold"/>
              </a:endParaRPr>
            </a:p>
          </p:txBody>
        </p:sp>
        <p:sp>
          <p:nvSpPr>
            <p:cNvPr id="11" name="node02.quote"/>
            <p:cNvSpPr/>
            <p:nvPr/>
          </p:nvSpPr>
          <p:spPr>
            <a:xfrm>
              <a:off x="4381500" y="2047875"/>
              <a:ext cx="34290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A wrong estimate becomes our denial.</a:t>
              </a:r>
              <a:endParaRPr lang="en-US" sz="2100" spc="-32" kern="0" b="0" i="0" dirty="0">
                <a:solidFill>
                  <a:srgbClr val="070154"/>
                </a:solidFill>
                <a:latin typeface="IBM Plex Sans SemiBold"/>
                <a:ea typeface="IBM Plex Sans SemiBold"/>
                <a:cs typeface="IBM Plex Sans SemiBold"/>
              </a:endParaRPr>
            </a:p>
          </p:txBody>
        </p:sp>
        <p:sp>
          <p:nvSpPr>
            <p:cNvPr id="12" name="node02.by"/>
            <p:cNvSpPr/>
            <p:nvPr/>
          </p:nvSpPr>
          <p:spPr>
            <a:xfrm>
              <a:off x="4381500" y="2822575"/>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REVENUE CYCLE MANAGER</a:t>
              </a:r>
              <a:endParaRPr lang="en-US" sz="800" spc="48" kern="0" b="0" i="0" dirty="0">
                <a:solidFill>
                  <a:srgbClr val="50658E"/>
                </a:solidFill>
                <a:latin typeface="IBM Plex Mono Medium"/>
                <a:ea typeface="IBM Plex Mono Medium"/>
                <a:cs typeface="IBM Plex Mono Medium"/>
              </a:endParaRPr>
            </a:p>
          </p:txBody>
        </p:sp>
      </p:grpSp>
      <p:grpSp>
        <p:nvGrpSpPr>
          <p:cNvPr id="48" name="node03"/>
          <p:cNvGrpSpPr/>
          <p:nvPr/>
        </p:nvGrpSpPr>
        <p:grpSpPr>
          <a:xfrm>
            <a:off x="8039100" y="1600200"/>
            <a:ext cx="3429000" cy="1362075"/>
            <a:chOff x="8039100" y="1600200"/>
            <a:chExt cx="3429000" cy="1362075"/>
          </a:xfrm>
        </p:grpSpPr>
        <p:sp>
          <p:nvSpPr>
            <p:cNvPr id="13" name="node03.quote-mark"/>
            <p:cNvSpPr/>
            <p:nvPr/>
          </p:nvSpPr>
          <p:spPr>
            <a:xfrm>
              <a:off x="8039100" y="1600200"/>
              <a:ext cx="3429000" cy="416941"/>
            </a:xfrm>
            <a:prstGeom prst="rect">
              <a:avLst/>
            </a:prstGeom>
            <a:noFill/>
            <a:ln/>
          </p:spPr>
          <p:txBody>
            <a:bodyPr wrap="square" lIns="0" tIns="0" rIns="0" bIns="0" rtlCol="0" anchor="t"/>
            <a:lstStyle/>
            <a:p>
              <a:pPr algn="l" indent="0" marL="0">
                <a:lnSpc>
                  <a:spcPts val="2625"/>
                </a:lnSpc>
                <a:buNone/>
              </a:pPr>
              <a:r>
                <a:rPr lang="en-US" sz="5250" spc="-79" kern="0" b="0" i="0" dirty="0">
                  <a:solidFill>
                    <a:srgbClr val="0047FF"/>
                  </a:solidFill>
                  <a:latin typeface="IBM Plex Sans SemiBold"/>
                  <a:ea typeface="IBM Plex Sans SemiBold"/>
                  <a:cs typeface="IBM Plex Sans SemiBold"/>
                </a:rPr>
                <a:t>“</a:t>
              </a:r>
              <a:endParaRPr lang="en-US" sz="5250" spc="-79" kern="0" b="0" i="0" dirty="0">
                <a:solidFill>
                  <a:srgbClr val="0047FF"/>
                </a:solidFill>
                <a:latin typeface="IBM Plex Sans SemiBold"/>
                <a:ea typeface="IBM Plex Sans SemiBold"/>
                <a:cs typeface="IBM Plex Sans SemiBold"/>
              </a:endParaRPr>
            </a:p>
          </p:txBody>
        </p:sp>
        <p:sp>
          <p:nvSpPr>
            <p:cNvPr id="14" name="node03.quote"/>
            <p:cNvSpPr/>
            <p:nvPr/>
          </p:nvSpPr>
          <p:spPr>
            <a:xfrm>
              <a:off x="8039100" y="2047875"/>
              <a:ext cx="3429000" cy="6604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Registration is where claims are won.</a:t>
              </a:r>
              <a:endParaRPr lang="en-US" sz="2100" spc="-32" kern="0" b="0" i="0" dirty="0">
                <a:solidFill>
                  <a:srgbClr val="070154"/>
                </a:solidFill>
                <a:latin typeface="IBM Plex Sans SemiBold"/>
                <a:ea typeface="IBM Plex Sans SemiBold"/>
                <a:cs typeface="IBM Plex Sans SemiBold"/>
              </a:endParaRPr>
            </a:p>
          </p:txBody>
        </p:sp>
        <p:sp>
          <p:nvSpPr>
            <p:cNvPr id="15" name="node03.by"/>
            <p:cNvSpPr/>
            <p:nvPr/>
          </p:nvSpPr>
          <p:spPr>
            <a:xfrm>
              <a:off x="8039100" y="2822575"/>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REGISTRATION SUPERVISOR</a:t>
              </a:r>
              <a:endParaRPr lang="en-US" sz="800" spc="48" kern="0" b="0" i="0" dirty="0">
                <a:solidFill>
                  <a:srgbClr val="50658E"/>
                </a:solidFill>
                <a:latin typeface="IBM Plex Mono Medium"/>
                <a:ea typeface="IBM Plex Mono Medium"/>
                <a:cs typeface="IBM Plex Mono Medium"/>
              </a:endParaRPr>
            </a:p>
          </p:txBody>
        </p:sp>
      </p:grpSp>
      <p:grpSp>
        <p:nvGrpSpPr>
          <p:cNvPr id="49" name="node04"/>
          <p:cNvGrpSpPr/>
          <p:nvPr/>
        </p:nvGrpSpPr>
        <p:grpSpPr>
          <a:xfrm>
            <a:off x="723900" y="3429000"/>
            <a:ext cx="3429000" cy="228600"/>
            <a:chOff x="723900" y="3429000"/>
            <a:chExt cx="3429000" cy="228600"/>
          </a:xfrm>
        </p:grpSpPr>
        <p:sp>
          <p:nvSpPr>
            <p:cNvPr id="16" name="node04.label"/>
            <p:cNvSpPr/>
            <p:nvPr/>
          </p:nvSpPr>
          <p:spPr>
            <a:xfrm>
              <a:off x="723900" y="3429000"/>
              <a:ext cx="888870"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KEY LEARNINGS</a:t>
              </a:r>
              <a:endParaRPr lang="en-US" sz="800" spc="48" kern="0" b="0" i="0" dirty="0">
                <a:solidFill>
                  <a:srgbClr val="50658E"/>
                </a:solidFill>
                <a:latin typeface="IBM Plex Mono Medium"/>
                <a:ea typeface="IBM Plex Mono Medium"/>
                <a:cs typeface="IBM Plex Mono Medium"/>
              </a:endParaRPr>
            </a:p>
          </p:txBody>
        </p:sp>
        <p:sp>
          <p:nvSpPr>
            <p:cNvPr id="17" name="node04.rule"/>
            <p:cNvSpPr/>
            <p:nvPr/>
          </p:nvSpPr>
          <p:spPr>
            <a:xfrm>
              <a:off x="1739770" y="3538538"/>
              <a:ext cx="2413130" cy="9525"/>
            </a:xfrm>
            <a:prstGeom prst="rect">
              <a:avLst/>
            </a:prstGeom>
            <a:solidFill>
              <a:srgbClr val="CED7E6"/>
            </a:solidFill>
            <a:ln>
              <a:noFill/>
            </a:ln>
          </p:spPr>
        </p:sp>
      </p:grpSp>
      <p:sp>
        <p:nvSpPr>
          <p:cNvPr id="18" name="node05"/>
          <p:cNvSpPr/>
          <p:nvPr/>
        </p:nvSpPr>
        <p:spPr>
          <a:xfrm>
            <a:off x="723900" y="3657600"/>
            <a:ext cx="3429000" cy="9525"/>
          </a:xfrm>
          <a:prstGeom prst="rect">
            <a:avLst/>
          </a:prstGeom>
          <a:solidFill>
            <a:srgbClr val="CED7E6"/>
          </a:solidFill>
          <a:ln>
            <a:noFill/>
          </a:ln>
        </p:spPr>
      </p:sp>
      <p:grpSp>
        <p:nvGrpSpPr>
          <p:cNvPr id="50" name="node06"/>
          <p:cNvGrpSpPr/>
          <p:nvPr/>
        </p:nvGrpSpPr>
        <p:grpSpPr>
          <a:xfrm>
            <a:off x="723900" y="3886200"/>
            <a:ext cx="3429000" cy="977900"/>
            <a:chOff x="723900" y="3886200"/>
            <a:chExt cx="3429000" cy="977900"/>
          </a:xfrm>
        </p:grpSpPr>
        <p:sp>
          <p:nvSpPr>
            <p:cNvPr id="19" name="node06.source-001.number"/>
            <p:cNvSpPr/>
            <p:nvPr/>
          </p:nvSpPr>
          <p:spPr>
            <a:xfrm>
              <a:off x="723900" y="38862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20" name="node06.source-001.text"/>
            <p:cNvSpPr/>
            <p:nvPr/>
          </p:nvSpPr>
          <p:spPr>
            <a:xfrm>
              <a:off x="914400" y="3886200"/>
              <a:ext cx="3238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Patients meet three tools to book once.</a:t>
              </a:r>
              <a:endParaRPr lang="en-US" sz="1200" spc="0" kern="0" b="0" i="0" dirty="0">
                <a:solidFill>
                  <a:srgbClr val="070154"/>
                </a:solidFill>
                <a:latin typeface="IBM Plex Sans"/>
                <a:ea typeface="IBM Plex Sans"/>
                <a:cs typeface="IBM Plex Sans"/>
              </a:endParaRPr>
            </a:p>
          </p:txBody>
        </p:sp>
        <p:sp>
          <p:nvSpPr>
            <p:cNvPr id="21" name="node06.source-002.number"/>
            <p:cNvSpPr/>
            <p:nvPr/>
          </p:nvSpPr>
          <p:spPr>
            <a:xfrm>
              <a:off x="723900" y="41402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22" name="node06.source-002.text"/>
            <p:cNvSpPr/>
            <p:nvPr/>
          </p:nvSpPr>
          <p:spPr>
            <a:xfrm>
              <a:off x="914400" y="4140200"/>
              <a:ext cx="3238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Registration errors drive most denials.</a:t>
              </a:r>
              <a:endParaRPr lang="en-US" sz="1200" spc="0" kern="0" b="0" i="0" dirty="0">
                <a:solidFill>
                  <a:srgbClr val="070154"/>
                </a:solidFill>
                <a:latin typeface="IBM Plex Sans"/>
                <a:ea typeface="IBM Plex Sans"/>
                <a:cs typeface="IBM Plex Sans"/>
              </a:endParaRPr>
            </a:p>
          </p:txBody>
        </p:sp>
        <p:sp>
          <p:nvSpPr>
            <p:cNvPr id="23" name="node06.source-003.number"/>
            <p:cNvSpPr/>
            <p:nvPr/>
          </p:nvSpPr>
          <p:spPr>
            <a:xfrm>
              <a:off x="723900" y="43942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24" name="node06.source-003.text"/>
            <p:cNvSpPr/>
            <p:nvPr/>
          </p:nvSpPr>
          <p:spPr>
            <a:xfrm>
              <a:off x="914400" y="4394200"/>
              <a:ext cx="3238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Estimates are rarely given before a visit.</a:t>
              </a:r>
              <a:endParaRPr lang="en-US" sz="1200" spc="0" kern="0" b="0" i="0" dirty="0">
                <a:solidFill>
                  <a:srgbClr val="070154"/>
                </a:solidFill>
                <a:latin typeface="IBM Plex Sans"/>
                <a:ea typeface="IBM Plex Sans"/>
                <a:cs typeface="IBM Plex Sans"/>
              </a:endParaRPr>
            </a:p>
          </p:txBody>
        </p:sp>
        <p:sp>
          <p:nvSpPr>
            <p:cNvPr id="25" name="node06.source-004.number"/>
            <p:cNvSpPr/>
            <p:nvPr/>
          </p:nvSpPr>
          <p:spPr>
            <a:xfrm>
              <a:off x="723900" y="46482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26" name="node06.source-004.text"/>
            <p:cNvSpPr/>
            <p:nvPr/>
          </p:nvSpPr>
          <p:spPr>
            <a:xfrm>
              <a:off x="914400" y="4648200"/>
              <a:ext cx="3238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Leads agree on goals, not on order.</a:t>
              </a:r>
              <a:endParaRPr lang="en-US" sz="1200" spc="0" kern="0" b="0" i="0" dirty="0">
                <a:solidFill>
                  <a:srgbClr val="070154"/>
                </a:solidFill>
                <a:latin typeface="IBM Plex Sans"/>
                <a:ea typeface="IBM Plex Sans"/>
                <a:cs typeface="IBM Plex Sans"/>
              </a:endParaRPr>
            </a:p>
          </p:txBody>
        </p:sp>
      </p:grpSp>
      <p:grpSp>
        <p:nvGrpSpPr>
          <p:cNvPr id="51" name="node07"/>
          <p:cNvGrpSpPr/>
          <p:nvPr/>
        </p:nvGrpSpPr>
        <p:grpSpPr>
          <a:xfrm>
            <a:off x="4381500" y="3429000"/>
            <a:ext cx="3429000" cy="228600"/>
            <a:chOff x="4381500" y="3429000"/>
            <a:chExt cx="3429000" cy="228600"/>
          </a:xfrm>
        </p:grpSpPr>
        <p:sp>
          <p:nvSpPr>
            <p:cNvPr id="27" name="node07.label"/>
            <p:cNvSpPr/>
            <p:nvPr/>
          </p:nvSpPr>
          <p:spPr>
            <a:xfrm>
              <a:off x="4381500" y="3429000"/>
              <a:ext cx="1818760"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OUTCOMES AGAINST OBJECTIVES</a:t>
              </a:r>
              <a:endParaRPr lang="en-US" sz="800" spc="48" kern="0" b="0" i="0" dirty="0">
                <a:solidFill>
                  <a:srgbClr val="50658E"/>
                </a:solidFill>
                <a:latin typeface="IBM Plex Mono Medium"/>
                <a:ea typeface="IBM Plex Mono Medium"/>
                <a:cs typeface="IBM Plex Mono Medium"/>
              </a:endParaRPr>
            </a:p>
          </p:txBody>
        </p:sp>
        <p:sp>
          <p:nvSpPr>
            <p:cNvPr id="28" name="node07.rule"/>
            <p:cNvSpPr/>
            <p:nvPr/>
          </p:nvSpPr>
          <p:spPr>
            <a:xfrm>
              <a:off x="6327260" y="3538538"/>
              <a:ext cx="1483240" cy="9525"/>
            </a:xfrm>
            <a:prstGeom prst="rect">
              <a:avLst/>
            </a:prstGeom>
            <a:solidFill>
              <a:srgbClr val="CED7E6"/>
            </a:solidFill>
            <a:ln>
              <a:noFill/>
            </a:ln>
          </p:spPr>
        </p:sp>
      </p:grpSp>
      <p:sp>
        <p:nvSpPr>
          <p:cNvPr id="29" name="node08"/>
          <p:cNvSpPr/>
          <p:nvPr/>
        </p:nvSpPr>
        <p:spPr>
          <a:xfrm>
            <a:off x="4381500" y="3657600"/>
            <a:ext cx="3429000" cy="9525"/>
          </a:xfrm>
          <a:prstGeom prst="rect">
            <a:avLst/>
          </a:prstGeom>
          <a:solidFill>
            <a:srgbClr val="CED7E6"/>
          </a:solidFill>
          <a:ln>
            <a:noFill/>
          </a:ln>
        </p:spPr>
      </p:sp>
      <p:grpSp>
        <p:nvGrpSpPr>
          <p:cNvPr id="52" name="node09"/>
          <p:cNvGrpSpPr/>
          <p:nvPr/>
        </p:nvGrpSpPr>
        <p:grpSpPr>
          <a:xfrm>
            <a:off x="4381500" y="3886200"/>
            <a:ext cx="3429000" cy="1574800"/>
            <a:chOff x="4381500" y="3886200"/>
            <a:chExt cx="3429000" cy="1574800"/>
          </a:xfrm>
        </p:grpSpPr>
        <p:graphicFrame>
          <p:nvGraphicFramePr>
            <p:cNvPr id="30" name="node09.native"/>
            <p:cNvGraphicFramePr>
              <a:graphicFrameLocks noGrp="1"/>
            </p:cNvGraphicFramePr>
            <p:nvPr>
              <p:extLst>
                <p:ext uri="{D42A27DB-BD31-4B8C-83A1-F6EECF244321}">
                  <p14:modId xmlns:p14="http://schemas.microsoft.com/office/powerpoint/2010/main" val="1579011935"/>
                </p:ext>
              </p:extLst>
            </p:nvPr>
          </p:nvGraphicFramePr>
          <p:xfrm>
            <a:off x="4381500" y="3886200"/>
            <a:ext cx="3429000" cy="1574800"/>
          </p:xfrm>
          <a:graphic>
            <a:graphicData uri="http://schemas.openxmlformats.org/drawingml/2006/table">
              <a:tbl>
                <a:tblPr/>
                <a:tblGrid>
                  <a:gridCol w="2209800"/>
                  <a:gridCol w="12192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OBJECTIVE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RESULT</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One future-state journey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Owners named per area</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Partly 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Shortlist ready to rank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Target measures drafted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Not 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31" name="node09.row.item-001.s.status-mark"/>
            <p:cNvSpPr/>
            <p:nvPr/>
          </p:nvSpPr>
          <p:spPr>
            <a:xfrm>
              <a:off x="6750050" y="4349750"/>
              <a:ext cx="88900" cy="88900"/>
            </a:xfrm>
            <a:prstGeom prst="rect">
              <a:avLst/>
            </a:prstGeom>
            <a:solidFill>
              <a:srgbClr val="1DD566"/>
            </a:solidFill>
            <a:ln w="12700">
              <a:solidFill>
                <a:srgbClr val="070154"/>
              </a:solidFill>
              <a:prstDash val="solid"/>
            </a:ln>
          </p:spPr>
        </p:sp>
        <p:sp>
          <p:nvSpPr>
            <p:cNvPr id="32" name="node09.row.item-002.s.status-mark"/>
            <p:cNvSpPr/>
            <p:nvPr/>
          </p:nvSpPr>
          <p:spPr>
            <a:xfrm>
              <a:off x="6750050" y="4654550"/>
              <a:ext cx="88900" cy="88900"/>
            </a:xfrm>
            <a:prstGeom prst="rect">
              <a:avLst/>
            </a:prstGeom>
            <a:solidFill>
              <a:srgbClr val="FFC700"/>
            </a:solidFill>
            <a:ln w="12700">
              <a:solidFill>
                <a:srgbClr val="070154"/>
              </a:solidFill>
              <a:prstDash val="solid"/>
            </a:ln>
          </p:spPr>
        </p:sp>
        <p:sp>
          <p:nvSpPr>
            <p:cNvPr id="33" name="node09.row.item-003.s.status-mark"/>
            <p:cNvSpPr/>
            <p:nvPr/>
          </p:nvSpPr>
          <p:spPr>
            <a:xfrm>
              <a:off x="6750050" y="4959350"/>
              <a:ext cx="88900" cy="88900"/>
            </a:xfrm>
            <a:prstGeom prst="rect">
              <a:avLst/>
            </a:prstGeom>
            <a:solidFill>
              <a:srgbClr val="1DD566"/>
            </a:solidFill>
            <a:ln w="12700">
              <a:solidFill>
                <a:srgbClr val="070154"/>
              </a:solidFill>
              <a:prstDash val="solid"/>
            </a:ln>
          </p:spPr>
        </p:sp>
        <p:sp>
          <p:nvSpPr>
            <p:cNvPr id="34" name="node09.row.item-004.s.status-mark"/>
            <p:cNvSpPr/>
            <p:nvPr/>
          </p:nvSpPr>
          <p:spPr>
            <a:xfrm>
              <a:off x="6750050" y="5264150"/>
              <a:ext cx="88900" cy="88900"/>
            </a:xfrm>
            <a:prstGeom prst="rect">
              <a:avLst/>
            </a:prstGeom>
            <a:solidFill>
              <a:srgbClr val="F52C00"/>
            </a:solidFill>
            <a:ln w="12700">
              <a:solidFill>
                <a:srgbClr val="070154"/>
              </a:solidFill>
              <a:prstDash val="solid"/>
            </a:ln>
          </p:spPr>
        </p:sp>
      </p:grpSp>
      <p:grpSp>
        <p:nvGrpSpPr>
          <p:cNvPr id="53" name="node10"/>
          <p:cNvGrpSpPr/>
          <p:nvPr/>
        </p:nvGrpSpPr>
        <p:grpSpPr>
          <a:xfrm>
            <a:off x="8039100" y="3429000"/>
            <a:ext cx="3429000" cy="228600"/>
            <a:chOff x="8039100" y="3429000"/>
            <a:chExt cx="3429000" cy="228600"/>
          </a:xfrm>
        </p:grpSpPr>
        <p:sp>
          <p:nvSpPr>
            <p:cNvPr id="35" name="node10.label"/>
            <p:cNvSpPr/>
            <p:nvPr/>
          </p:nvSpPr>
          <p:spPr>
            <a:xfrm>
              <a:off x="8039100" y="3429000"/>
              <a:ext cx="1619498"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DECISIONS AND NEXT STEPS</a:t>
              </a:r>
              <a:endParaRPr lang="en-US" sz="800" spc="48" kern="0" b="0" i="0" dirty="0">
                <a:solidFill>
                  <a:srgbClr val="50658E"/>
                </a:solidFill>
                <a:latin typeface="IBM Plex Mono Medium"/>
                <a:ea typeface="IBM Plex Mono Medium"/>
                <a:cs typeface="IBM Plex Mono Medium"/>
              </a:endParaRPr>
            </a:p>
          </p:txBody>
        </p:sp>
        <p:sp>
          <p:nvSpPr>
            <p:cNvPr id="36" name="node10.rule"/>
            <p:cNvSpPr/>
            <p:nvPr/>
          </p:nvSpPr>
          <p:spPr>
            <a:xfrm>
              <a:off x="9785598" y="3538538"/>
              <a:ext cx="1682502" cy="9525"/>
            </a:xfrm>
            <a:prstGeom prst="rect">
              <a:avLst/>
            </a:prstGeom>
            <a:solidFill>
              <a:srgbClr val="CED7E6"/>
            </a:solidFill>
            <a:ln>
              <a:noFill/>
            </a:ln>
          </p:spPr>
        </p:sp>
      </p:grpSp>
      <p:sp>
        <p:nvSpPr>
          <p:cNvPr id="37" name="node11"/>
          <p:cNvSpPr/>
          <p:nvPr/>
        </p:nvSpPr>
        <p:spPr>
          <a:xfrm>
            <a:off x="8039100" y="3657600"/>
            <a:ext cx="3429000" cy="9525"/>
          </a:xfrm>
          <a:prstGeom prst="rect">
            <a:avLst/>
          </a:prstGeom>
          <a:solidFill>
            <a:srgbClr val="CED7E6"/>
          </a:solidFill>
          <a:ln>
            <a:noFill/>
          </a:ln>
        </p:spPr>
      </p:sp>
      <p:grpSp>
        <p:nvGrpSpPr>
          <p:cNvPr id="54" name="node12"/>
          <p:cNvGrpSpPr/>
          <p:nvPr/>
        </p:nvGrpSpPr>
        <p:grpSpPr>
          <a:xfrm>
            <a:off x="8039100" y="3886200"/>
            <a:ext cx="3429000" cy="977900"/>
            <a:chOff x="8039100" y="3886200"/>
            <a:chExt cx="3429000" cy="977900"/>
          </a:xfrm>
        </p:grpSpPr>
        <p:sp>
          <p:nvSpPr>
            <p:cNvPr id="38" name="node12.source-001.bullet"/>
            <p:cNvSpPr/>
            <p:nvPr/>
          </p:nvSpPr>
          <p:spPr>
            <a:xfrm>
              <a:off x="8039100" y="3975100"/>
              <a:ext cx="38100" cy="38100"/>
            </a:xfrm>
            <a:prstGeom prst="rect">
              <a:avLst/>
            </a:prstGeom>
            <a:solidFill>
              <a:srgbClr val="070154"/>
            </a:solidFill>
            <a:ln>
              <a:noFill/>
            </a:ln>
          </p:spPr>
        </p:sp>
        <p:sp>
          <p:nvSpPr>
            <p:cNvPr id="39" name="node12.source-001.text"/>
            <p:cNvSpPr/>
            <p:nvPr/>
          </p:nvSpPr>
          <p:spPr>
            <a:xfrm>
              <a:off x="8191500" y="3886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Decided.</a:t>
              </a:r>
              <a:r>
                <a:rPr lang="en-US" sz="1200" spc="0" kern="0" b="0" i="0" dirty="0">
                  <a:solidFill>
                    <a:srgbClr val="50658E"/>
                  </a:solidFill>
                  <a:latin typeface="IBM Plex Sans"/>
                  <a:ea typeface="IBM Plex Sans"/>
                  <a:cs typeface="IBM Plex Sans"/>
                </a:rPr>
                <a:t xml:space="preserve"> One scheduling template.</a:t>
              </a:r>
              <a:endParaRPr lang="en-US" sz="1200" spc="0" kern="0" b="0" i="0" dirty="0">
                <a:solidFill>
                  <a:srgbClr val="070154"/>
                </a:solidFill>
                <a:latin typeface="IBM Plex Sans"/>
                <a:ea typeface="IBM Plex Sans"/>
                <a:cs typeface="IBM Plex Sans"/>
              </a:endParaRPr>
            </a:p>
          </p:txBody>
        </p:sp>
        <p:sp>
          <p:nvSpPr>
            <p:cNvPr id="40" name="node12.source-002.bullet"/>
            <p:cNvSpPr/>
            <p:nvPr/>
          </p:nvSpPr>
          <p:spPr>
            <a:xfrm>
              <a:off x="8039100" y="4229100"/>
              <a:ext cx="38100" cy="38100"/>
            </a:xfrm>
            <a:prstGeom prst="rect">
              <a:avLst/>
            </a:prstGeom>
            <a:solidFill>
              <a:srgbClr val="070154"/>
            </a:solidFill>
            <a:ln>
              <a:noFill/>
            </a:ln>
          </p:spPr>
        </p:sp>
        <p:sp>
          <p:nvSpPr>
            <p:cNvPr id="41" name="node12.source-002.text"/>
            <p:cNvSpPr/>
            <p:nvPr/>
          </p:nvSpPr>
          <p:spPr>
            <a:xfrm>
              <a:off x="8191500" y="4140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Oct 30.</a:t>
              </a:r>
              <a:r>
                <a:rPr lang="en-US" sz="1200" spc="0" kern="0" b="0" i="0" dirty="0">
                  <a:solidFill>
                    <a:srgbClr val="50658E"/>
                  </a:solidFill>
                  <a:latin typeface="IBM Plex Sans"/>
                  <a:ea typeface="IBM Plex Sans"/>
                  <a:cs typeface="IBM Plex Sans"/>
                </a:rPr>
                <a:t xml:space="preserve"> Program office publishes the log.</a:t>
              </a:r>
              <a:endParaRPr lang="en-US" sz="1200" spc="0" kern="0" b="0" i="0" dirty="0">
                <a:solidFill>
                  <a:srgbClr val="070154"/>
                </a:solidFill>
                <a:latin typeface="IBM Plex Sans"/>
                <a:ea typeface="IBM Plex Sans"/>
                <a:cs typeface="IBM Plex Sans"/>
              </a:endParaRPr>
            </a:p>
          </p:txBody>
        </p:sp>
        <p:sp>
          <p:nvSpPr>
            <p:cNvPr id="42" name="node12.source-003.bullet"/>
            <p:cNvSpPr/>
            <p:nvPr/>
          </p:nvSpPr>
          <p:spPr>
            <a:xfrm>
              <a:off x="8039100" y="4483100"/>
              <a:ext cx="38100" cy="38100"/>
            </a:xfrm>
            <a:prstGeom prst="rect">
              <a:avLst/>
            </a:prstGeom>
            <a:solidFill>
              <a:srgbClr val="070154"/>
            </a:solidFill>
            <a:ln>
              <a:noFill/>
            </a:ln>
          </p:spPr>
        </p:sp>
        <p:sp>
          <p:nvSpPr>
            <p:cNvPr id="43" name="node12.source-003.text"/>
            <p:cNvSpPr/>
            <p:nvPr/>
          </p:nvSpPr>
          <p:spPr>
            <a:xfrm>
              <a:off x="8191500" y="4394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Nov 4.</a:t>
              </a:r>
              <a:r>
                <a:rPr lang="en-US" sz="1200" spc="0" kern="0" b="0" i="0" dirty="0">
                  <a:solidFill>
                    <a:srgbClr val="50658E"/>
                  </a:solidFill>
                  <a:latin typeface="IBM Plex Sans"/>
                  <a:ea typeface="IBM Plex Sans"/>
                  <a:cs typeface="IBM Plex Sans"/>
                </a:rPr>
                <a:t xml:space="preserve"> Registration lead drafts measures.</a:t>
              </a:r>
              <a:endParaRPr lang="en-US" sz="1200" spc="0" kern="0" b="0" i="0" dirty="0">
                <a:solidFill>
                  <a:srgbClr val="070154"/>
                </a:solidFill>
                <a:latin typeface="IBM Plex Sans"/>
                <a:ea typeface="IBM Plex Sans"/>
                <a:cs typeface="IBM Plex Sans"/>
              </a:endParaRPr>
            </a:p>
          </p:txBody>
        </p:sp>
        <p:sp>
          <p:nvSpPr>
            <p:cNvPr id="44" name="node12.source-004.bullet"/>
            <p:cNvSpPr/>
            <p:nvPr/>
          </p:nvSpPr>
          <p:spPr>
            <a:xfrm>
              <a:off x="8039100" y="4737100"/>
              <a:ext cx="38100" cy="38100"/>
            </a:xfrm>
            <a:prstGeom prst="rect">
              <a:avLst/>
            </a:prstGeom>
            <a:solidFill>
              <a:srgbClr val="070154"/>
            </a:solidFill>
            <a:ln>
              <a:noFill/>
            </a:ln>
          </p:spPr>
        </p:sp>
        <p:sp>
          <p:nvSpPr>
            <p:cNvPr id="45" name="node12.source-004.text"/>
            <p:cNvSpPr/>
            <p:nvPr/>
          </p:nvSpPr>
          <p:spPr>
            <a:xfrm>
              <a:off x="8191500" y="4648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Open.</a:t>
              </a:r>
              <a:r>
                <a:rPr lang="en-US" sz="1200" spc="0" kern="0" b="0" i="0" dirty="0">
                  <a:solidFill>
                    <a:srgbClr val="50658E"/>
                  </a:solidFill>
                  <a:latin typeface="IBM Plex Sans"/>
                  <a:ea typeface="IBM Plex Sans"/>
                  <a:cs typeface="IBM Plex Sans"/>
                </a:rPr>
                <a:t xml:space="preserve"> Who owns estimates?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ource-64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3 READOUT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Two opportunities go to Now after the dot vote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172</a:t>
            </a:fld>
            <a:endParaRPr lang="en-US" sz="700" spc="0" kern="0" b="0" i="0" dirty="0">
              <a:solidFill>
                <a:srgbClr val="070154"/>
              </a:solidFill>
              <a:latin typeface="IBM Plex Mono SemiBold"/>
              <a:ea typeface="IBM Plex Mono SemiBold"/>
              <a:cs typeface="IBM Plex Mono SemiBold"/>
            </a:endParaRPr>
          </a:p>
        </p:txBody>
      </p:sp>
      <p:grpSp>
        <p:nvGrpSpPr>
          <p:cNvPr id="80" name="node01"/>
          <p:cNvGrpSpPr/>
          <p:nvPr/>
        </p:nvGrpSpPr>
        <p:grpSpPr>
          <a:xfrm>
            <a:off x="723900" y="1600200"/>
            <a:ext cx="7086600" cy="3022600"/>
            <a:chOff x="723900" y="1600200"/>
            <a:chExt cx="7086600" cy="30226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7086600" cy="3022600"/>
          </p:xfrm>
          <a:graphic>
            <a:graphicData uri="http://schemas.openxmlformats.org/drawingml/2006/table">
              <a:tbl>
                <a:tblPr/>
                <a:tblGrid>
                  <a:gridCol w="2819400"/>
                  <a:gridCol w="1371600"/>
                  <a:gridCol w="1066800"/>
                  <a:gridCol w="18288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OPPORTUNITY</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VOTES (OF 5)</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PRIORITY</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OWNER</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Eligibility check at booking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Registration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One scheduling template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Access director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Pre-visit estimate for imaging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Finance partner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Shared consent capture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Compliance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Denial root-cause dashboard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Revenue cycle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Real-time insurance cross-check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IT application owner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Self-service rebooking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Digital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row.item-001.v.dots-1"/>
            <p:cNvSpPr/>
            <p:nvPr/>
          </p:nvSpPr>
          <p:spPr>
            <a:xfrm>
              <a:off x="3695700" y="2095500"/>
              <a:ext cx="101600" cy="101600"/>
            </a:xfrm>
            <a:prstGeom prst="ellipse">
              <a:avLst/>
            </a:prstGeom>
            <a:solidFill>
              <a:srgbClr val="070154"/>
            </a:solidFill>
            <a:ln>
              <a:noFill/>
            </a:ln>
          </p:spPr>
        </p:sp>
        <p:sp>
          <p:nvSpPr>
            <p:cNvPr id="9" name="node01.row.item-001.v.dots-2"/>
            <p:cNvSpPr/>
            <p:nvPr/>
          </p:nvSpPr>
          <p:spPr>
            <a:xfrm>
              <a:off x="3848100" y="2095500"/>
              <a:ext cx="101600" cy="101600"/>
            </a:xfrm>
            <a:prstGeom prst="ellipse">
              <a:avLst/>
            </a:prstGeom>
            <a:solidFill>
              <a:srgbClr val="070154"/>
            </a:solidFill>
            <a:ln>
              <a:noFill/>
            </a:ln>
          </p:spPr>
        </p:sp>
        <p:sp>
          <p:nvSpPr>
            <p:cNvPr id="10" name="node01.row.item-001.v.dots-3"/>
            <p:cNvSpPr/>
            <p:nvPr/>
          </p:nvSpPr>
          <p:spPr>
            <a:xfrm>
              <a:off x="4000500" y="2095500"/>
              <a:ext cx="101600" cy="101600"/>
            </a:xfrm>
            <a:prstGeom prst="ellipse">
              <a:avLst/>
            </a:prstGeom>
            <a:solidFill>
              <a:srgbClr val="070154"/>
            </a:solidFill>
            <a:ln>
              <a:noFill/>
            </a:ln>
          </p:spPr>
        </p:sp>
        <p:sp>
          <p:nvSpPr>
            <p:cNvPr id="11" name="node01.row.item-001.v.dots-4"/>
            <p:cNvSpPr/>
            <p:nvPr/>
          </p:nvSpPr>
          <p:spPr>
            <a:xfrm>
              <a:off x="4152900" y="2095500"/>
              <a:ext cx="101600" cy="101600"/>
            </a:xfrm>
            <a:prstGeom prst="ellipse">
              <a:avLst/>
            </a:prstGeom>
            <a:solidFill>
              <a:srgbClr val="070154"/>
            </a:solidFill>
            <a:ln>
              <a:noFill/>
            </a:ln>
          </p:spPr>
        </p:sp>
        <p:sp>
          <p:nvSpPr>
            <p:cNvPr id="12" name="node01.row.item-001.v.dots-5"/>
            <p:cNvSpPr/>
            <p:nvPr/>
          </p:nvSpPr>
          <p:spPr>
            <a:xfrm>
              <a:off x="4305300" y="2095500"/>
              <a:ext cx="101600" cy="101600"/>
            </a:xfrm>
            <a:prstGeom prst="ellipse">
              <a:avLst/>
            </a:prstGeom>
            <a:solidFill>
              <a:srgbClr val="070154"/>
            </a:solidFill>
            <a:ln>
              <a:noFill/>
            </a:ln>
          </p:spPr>
        </p:sp>
        <p:sp>
          <p:nvSpPr>
            <p:cNvPr id="13" name="node01.row.item-001.p.priority.fill"/>
            <p:cNvSpPr/>
            <p:nvPr/>
          </p:nvSpPr>
          <p:spPr>
            <a:xfrm>
              <a:off x="5194300" y="2051050"/>
              <a:ext cx="508000" cy="190500"/>
            </a:xfrm>
            <a:prstGeom prst="rect">
              <a:avLst/>
            </a:prstGeom>
            <a:solidFill>
              <a:srgbClr val="070154"/>
            </a:solidFill>
            <a:ln w="9525">
              <a:solidFill>
                <a:srgbClr val="070154"/>
              </a:solidFill>
              <a:prstDash val="solid"/>
            </a:ln>
          </p:spPr>
        </p:sp>
        <p:sp>
          <p:nvSpPr>
            <p:cNvPr id="14" name="node01.row.item-001.p.priority"/>
            <p:cNvSpPr/>
            <p:nvPr/>
          </p:nvSpPr>
          <p:spPr>
            <a:xfrm>
              <a:off x="5295900" y="20764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NOW</a:t>
              </a:r>
              <a:endParaRPr lang="en-US" sz="800" spc="48" kern="0" b="0" i="0" dirty="0">
                <a:solidFill>
                  <a:srgbClr val="FFFFFF"/>
                </a:solidFill>
                <a:latin typeface="IBM Plex Mono SemiBold"/>
                <a:ea typeface="IBM Plex Mono SemiBold"/>
                <a:cs typeface="IBM Plex Mono SemiBold"/>
              </a:endParaRPr>
            </a:p>
          </p:txBody>
        </p:sp>
        <p:sp>
          <p:nvSpPr>
            <p:cNvPr id="15" name="node01.row.item-002.v.dots-1"/>
            <p:cNvSpPr/>
            <p:nvPr/>
          </p:nvSpPr>
          <p:spPr>
            <a:xfrm>
              <a:off x="3695700" y="2476500"/>
              <a:ext cx="101600" cy="101600"/>
            </a:xfrm>
            <a:prstGeom prst="ellipse">
              <a:avLst/>
            </a:prstGeom>
            <a:solidFill>
              <a:srgbClr val="070154"/>
            </a:solidFill>
            <a:ln>
              <a:noFill/>
            </a:ln>
          </p:spPr>
        </p:sp>
        <p:sp>
          <p:nvSpPr>
            <p:cNvPr id="16" name="node01.row.item-002.v.dots-2"/>
            <p:cNvSpPr/>
            <p:nvPr/>
          </p:nvSpPr>
          <p:spPr>
            <a:xfrm>
              <a:off x="3848100" y="2476500"/>
              <a:ext cx="101600" cy="101600"/>
            </a:xfrm>
            <a:prstGeom prst="ellipse">
              <a:avLst/>
            </a:prstGeom>
            <a:solidFill>
              <a:srgbClr val="070154"/>
            </a:solidFill>
            <a:ln>
              <a:noFill/>
            </a:ln>
          </p:spPr>
        </p:sp>
        <p:sp>
          <p:nvSpPr>
            <p:cNvPr id="17" name="node01.row.item-002.v.dots-3"/>
            <p:cNvSpPr/>
            <p:nvPr/>
          </p:nvSpPr>
          <p:spPr>
            <a:xfrm>
              <a:off x="4000500" y="2476500"/>
              <a:ext cx="101600" cy="101600"/>
            </a:xfrm>
            <a:prstGeom prst="ellipse">
              <a:avLst/>
            </a:prstGeom>
            <a:solidFill>
              <a:srgbClr val="070154"/>
            </a:solidFill>
            <a:ln>
              <a:noFill/>
            </a:ln>
          </p:spPr>
        </p:sp>
        <p:sp>
          <p:nvSpPr>
            <p:cNvPr id="18" name="node01.row.item-002.v.dots-4"/>
            <p:cNvSpPr/>
            <p:nvPr/>
          </p:nvSpPr>
          <p:spPr>
            <a:xfrm>
              <a:off x="4152900" y="2476500"/>
              <a:ext cx="101600" cy="101600"/>
            </a:xfrm>
            <a:prstGeom prst="ellipse">
              <a:avLst/>
            </a:prstGeom>
            <a:solidFill>
              <a:srgbClr val="070154"/>
            </a:solidFill>
            <a:ln>
              <a:noFill/>
            </a:ln>
          </p:spPr>
        </p:sp>
        <p:sp>
          <p:nvSpPr>
            <p:cNvPr id="19" name="node01.row.item-002.v.dots-5"/>
            <p:cNvSpPr/>
            <p:nvPr/>
          </p:nvSpPr>
          <p:spPr>
            <a:xfrm>
              <a:off x="4305300" y="2476500"/>
              <a:ext cx="101600" cy="101600"/>
            </a:xfrm>
            <a:prstGeom prst="ellipse">
              <a:avLst/>
            </a:prstGeom>
            <a:solidFill>
              <a:srgbClr val="CED7E6"/>
            </a:solidFill>
            <a:ln>
              <a:noFill/>
            </a:ln>
          </p:spPr>
        </p:sp>
        <p:sp>
          <p:nvSpPr>
            <p:cNvPr id="20" name="node01.row.item-002.p.priority.fill"/>
            <p:cNvSpPr/>
            <p:nvPr/>
          </p:nvSpPr>
          <p:spPr>
            <a:xfrm>
              <a:off x="5194300" y="2432050"/>
              <a:ext cx="508000" cy="190500"/>
            </a:xfrm>
            <a:prstGeom prst="rect">
              <a:avLst/>
            </a:prstGeom>
            <a:solidFill>
              <a:srgbClr val="070154"/>
            </a:solidFill>
            <a:ln w="9525">
              <a:solidFill>
                <a:srgbClr val="070154"/>
              </a:solidFill>
              <a:prstDash val="solid"/>
            </a:ln>
          </p:spPr>
        </p:sp>
        <p:sp>
          <p:nvSpPr>
            <p:cNvPr id="21" name="node01.row.item-002.p.priority"/>
            <p:cNvSpPr/>
            <p:nvPr/>
          </p:nvSpPr>
          <p:spPr>
            <a:xfrm>
              <a:off x="5295900" y="24574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NOW</a:t>
              </a:r>
              <a:endParaRPr lang="en-US" sz="800" spc="48" kern="0" b="0" i="0" dirty="0">
                <a:solidFill>
                  <a:srgbClr val="FFFFFF"/>
                </a:solidFill>
                <a:latin typeface="IBM Plex Mono SemiBold"/>
                <a:ea typeface="IBM Plex Mono SemiBold"/>
                <a:cs typeface="IBM Plex Mono SemiBold"/>
              </a:endParaRPr>
            </a:p>
          </p:txBody>
        </p:sp>
        <p:sp>
          <p:nvSpPr>
            <p:cNvPr id="22" name="node01.row.item-003.v.dots-1"/>
            <p:cNvSpPr/>
            <p:nvPr/>
          </p:nvSpPr>
          <p:spPr>
            <a:xfrm>
              <a:off x="3695700" y="2857500"/>
              <a:ext cx="101600" cy="101600"/>
            </a:xfrm>
            <a:prstGeom prst="ellipse">
              <a:avLst/>
            </a:prstGeom>
            <a:solidFill>
              <a:srgbClr val="070154"/>
            </a:solidFill>
            <a:ln>
              <a:noFill/>
            </a:ln>
          </p:spPr>
        </p:sp>
        <p:sp>
          <p:nvSpPr>
            <p:cNvPr id="23" name="node01.row.item-003.v.dots-2"/>
            <p:cNvSpPr/>
            <p:nvPr/>
          </p:nvSpPr>
          <p:spPr>
            <a:xfrm>
              <a:off x="3848100" y="2857500"/>
              <a:ext cx="101600" cy="101600"/>
            </a:xfrm>
            <a:prstGeom prst="ellipse">
              <a:avLst/>
            </a:prstGeom>
            <a:solidFill>
              <a:srgbClr val="070154"/>
            </a:solidFill>
            <a:ln>
              <a:noFill/>
            </a:ln>
          </p:spPr>
        </p:sp>
        <p:sp>
          <p:nvSpPr>
            <p:cNvPr id="24" name="node01.row.item-003.v.dots-3"/>
            <p:cNvSpPr/>
            <p:nvPr/>
          </p:nvSpPr>
          <p:spPr>
            <a:xfrm>
              <a:off x="4000500" y="2857500"/>
              <a:ext cx="101600" cy="101600"/>
            </a:xfrm>
            <a:prstGeom prst="ellipse">
              <a:avLst/>
            </a:prstGeom>
            <a:solidFill>
              <a:srgbClr val="070154"/>
            </a:solidFill>
            <a:ln>
              <a:noFill/>
            </a:ln>
          </p:spPr>
        </p:sp>
        <p:sp>
          <p:nvSpPr>
            <p:cNvPr id="25" name="node01.row.item-003.v.dots-4"/>
            <p:cNvSpPr/>
            <p:nvPr/>
          </p:nvSpPr>
          <p:spPr>
            <a:xfrm>
              <a:off x="4152900" y="2857500"/>
              <a:ext cx="101600" cy="101600"/>
            </a:xfrm>
            <a:prstGeom prst="ellipse">
              <a:avLst/>
            </a:prstGeom>
            <a:solidFill>
              <a:srgbClr val="070154"/>
            </a:solidFill>
            <a:ln>
              <a:noFill/>
            </a:ln>
          </p:spPr>
        </p:sp>
        <p:sp>
          <p:nvSpPr>
            <p:cNvPr id="26" name="node01.row.item-003.v.dots-5"/>
            <p:cNvSpPr/>
            <p:nvPr/>
          </p:nvSpPr>
          <p:spPr>
            <a:xfrm>
              <a:off x="4305300" y="2857500"/>
              <a:ext cx="101600" cy="101600"/>
            </a:xfrm>
            <a:prstGeom prst="ellipse">
              <a:avLst/>
            </a:prstGeom>
            <a:solidFill>
              <a:srgbClr val="CED7E6"/>
            </a:solidFill>
            <a:ln>
              <a:noFill/>
            </a:ln>
          </p:spPr>
        </p:sp>
        <p:sp>
          <p:nvSpPr>
            <p:cNvPr id="27" name="node01.row.item-003.p.priority.fill"/>
            <p:cNvSpPr/>
            <p:nvPr/>
          </p:nvSpPr>
          <p:spPr>
            <a:xfrm>
              <a:off x="5194300" y="2813050"/>
              <a:ext cx="508000" cy="190500"/>
            </a:xfrm>
            <a:prstGeom prst="rect">
              <a:avLst/>
            </a:prstGeom>
            <a:solidFill>
              <a:srgbClr val="CED7E6"/>
            </a:solidFill>
            <a:ln w="9525">
              <a:solidFill>
                <a:srgbClr val="070154"/>
              </a:solidFill>
              <a:prstDash val="solid"/>
            </a:ln>
          </p:spPr>
        </p:sp>
        <p:sp>
          <p:nvSpPr>
            <p:cNvPr id="28" name="node01.row.item-003.p.priority"/>
            <p:cNvSpPr/>
            <p:nvPr/>
          </p:nvSpPr>
          <p:spPr>
            <a:xfrm>
              <a:off x="5295900" y="28384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NEXT</a:t>
              </a:r>
              <a:endParaRPr lang="en-US" sz="800" spc="48" kern="0" b="0" i="0" dirty="0">
                <a:solidFill>
                  <a:srgbClr val="070154"/>
                </a:solidFill>
                <a:latin typeface="IBM Plex Mono SemiBold"/>
                <a:ea typeface="IBM Plex Mono SemiBold"/>
                <a:cs typeface="IBM Plex Mono SemiBold"/>
              </a:endParaRPr>
            </a:p>
          </p:txBody>
        </p:sp>
        <p:sp>
          <p:nvSpPr>
            <p:cNvPr id="29" name="node01.row.item-004.v.dots-1"/>
            <p:cNvSpPr/>
            <p:nvPr/>
          </p:nvSpPr>
          <p:spPr>
            <a:xfrm>
              <a:off x="3695700" y="3238500"/>
              <a:ext cx="101600" cy="101600"/>
            </a:xfrm>
            <a:prstGeom prst="ellipse">
              <a:avLst/>
            </a:prstGeom>
            <a:solidFill>
              <a:srgbClr val="070154"/>
            </a:solidFill>
            <a:ln>
              <a:noFill/>
            </a:ln>
          </p:spPr>
        </p:sp>
        <p:sp>
          <p:nvSpPr>
            <p:cNvPr id="30" name="node01.row.item-004.v.dots-2"/>
            <p:cNvSpPr/>
            <p:nvPr/>
          </p:nvSpPr>
          <p:spPr>
            <a:xfrm>
              <a:off x="3848100" y="3238500"/>
              <a:ext cx="101600" cy="101600"/>
            </a:xfrm>
            <a:prstGeom prst="ellipse">
              <a:avLst/>
            </a:prstGeom>
            <a:solidFill>
              <a:srgbClr val="070154"/>
            </a:solidFill>
            <a:ln>
              <a:noFill/>
            </a:ln>
          </p:spPr>
        </p:sp>
        <p:sp>
          <p:nvSpPr>
            <p:cNvPr id="31" name="node01.row.item-004.v.dots-3"/>
            <p:cNvSpPr/>
            <p:nvPr/>
          </p:nvSpPr>
          <p:spPr>
            <a:xfrm>
              <a:off x="4000500" y="3238500"/>
              <a:ext cx="101600" cy="101600"/>
            </a:xfrm>
            <a:prstGeom prst="ellipse">
              <a:avLst/>
            </a:prstGeom>
            <a:solidFill>
              <a:srgbClr val="070154"/>
            </a:solidFill>
            <a:ln>
              <a:noFill/>
            </a:ln>
          </p:spPr>
        </p:sp>
        <p:sp>
          <p:nvSpPr>
            <p:cNvPr id="32" name="node01.row.item-004.v.dots-4"/>
            <p:cNvSpPr/>
            <p:nvPr/>
          </p:nvSpPr>
          <p:spPr>
            <a:xfrm>
              <a:off x="4152900" y="3238500"/>
              <a:ext cx="101600" cy="101600"/>
            </a:xfrm>
            <a:prstGeom prst="ellipse">
              <a:avLst/>
            </a:prstGeom>
            <a:solidFill>
              <a:srgbClr val="CED7E6"/>
            </a:solidFill>
            <a:ln>
              <a:noFill/>
            </a:ln>
          </p:spPr>
        </p:sp>
        <p:sp>
          <p:nvSpPr>
            <p:cNvPr id="33" name="node01.row.item-004.v.dots-5"/>
            <p:cNvSpPr/>
            <p:nvPr/>
          </p:nvSpPr>
          <p:spPr>
            <a:xfrm>
              <a:off x="4305300" y="3238500"/>
              <a:ext cx="101600" cy="101600"/>
            </a:xfrm>
            <a:prstGeom prst="ellipse">
              <a:avLst/>
            </a:prstGeom>
            <a:solidFill>
              <a:srgbClr val="CED7E6"/>
            </a:solidFill>
            <a:ln>
              <a:noFill/>
            </a:ln>
          </p:spPr>
        </p:sp>
        <p:sp>
          <p:nvSpPr>
            <p:cNvPr id="34" name="node01.row.item-004.p.priority.fill"/>
            <p:cNvSpPr/>
            <p:nvPr/>
          </p:nvSpPr>
          <p:spPr>
            <a:xfrm>
              <a:off x="5194300" y="3194050"/>
              <a:ext cx="508000" cy="190500"/>
            </a:xfrm>
            <a:prstGeom prst="rect">
              <a:avLst/>
            </a:prstGeom>
            <a:solidFill>
              <a:srgbClr val="CED7E6"/>
            </a:solidFill>
            <a:ln w="9525">
              <a:solidFill>
                <a:srgbClr val="070154"/>
              </a:solidFill>
              <a:prstDash val="solid"/>
            </a:ln>
          </p:spPr>
        </p:sp>
        <p:sp>
          <p:nvSpPr>
            <p:cNvPr id="35" name="node01.row.item-004.p.priority"/>
            <p:cNvSpPr/>
            <p:nvPr/>
          </p:nvSpPr>
          <p:spPr>
            <a:xfrm>
              <a:off x="5295900" y="32194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NEXT</a:t>
              </a:r>
              <a:endParaRPr lang="en-US" sz="800" spc="48" kern="0" b="0" i="0" dirty="0">
                <a:solidFill>
                  <a:srgbClr val="070154"/>
                </a:solidFill>
                <a:latin typeface="IBM Plex Mono SemiBold"/>
                <a:ea typeface="IBM Plex Mono SemiBold"/>
                <a:cs typeface="IBM Plex Mono SemiBold"/>
              </a:endParaRPr>
            </a:p>
          </p:txBody>
        </p:sp>
        <p:sp>
          <p:nvSpPr>
            <p:cNvPr id="36" name="node01.row.item-005.v.dots-1"/>
            <p:cNvSpPr/>
            <p:nvPr/>
          </p:nvSpPr>
          <p:spPr>
            <a:xfrm>
              <a:off x="3695700" y="3619500"/>
              <a:ext cx="101600" cy="101600"/>
            </a:xfrm>
            <a:prstGeom prst="ellipse">
              <a:avLst/>
            </a:prstGeom>
            <a:solidFill>
              <a:srgbClr val="070154"/>
            </a:solidFill>
            <a:ln>
              <a:noFill/>
            </a:ln>
          </p:spPr>
        </p:sp>
        <p:sp>
          <p:nvSpPr>
            <p:cNvPr id="37" name="node01.row.item-005.v.dots-2"/>
            <p:cNvSpPr/>
            <p:nvPr/>
          </p:nvSpPr>
          <p:spPr>
            <a:xfrm>
              <a:off x="3848100" y="3619500"/>
              <a:ext cx="101600" cy="101600"/>
            </a:xfrm>
            <a:prstGeom prst="ellipse">
              <a:avLst/>
            </a:prstGeom>
            <a:solidFill>
              <a:srgbClr val="070154"/>
            </a:solidFill>
            <a:ln>
              <a:noFill/>
            </a:ln>
          </p:spPr>
        </p:sp>
        <p:sp>
          <p:nvSpPr>
            <p:cNvPr id="38" name="node01.row.item-005.v.dots-3"/>
            <p:cNvSpPr/>
            <p:nvPr/>
          </p:nvSpPr>
          <p:spPr>
            <a:xfrm>
              <a:off x="4000500" y="3619500"/>
              <a:ext cx="101600" cy="101600"/>
            </a:xfrm>
            <a:prstGeom prst="ellipse">
              <a:avLst/>
            </a:prstGeom>
            <a:solidFill>
              <a:srgbClr val="070154"/>
            </a:solidFill>
            <a:ln>
              <a:noFill/>
            </a:ln>
          </p:spPr>
        </p:sp>
        <p:sp>
          <p:nvSpPr>
            <p:cNvPr id="39" name="node01.row.item-005.v.dots-4"/>
            <p:cNvSpPr/>
            <p:nvPr/>
          </p:nvSpPr>
          <p:spPr>
            <a:xfrm>
              <a:off x="4152900" y="3619500"/>
              <a:ext cx="101600" cy="101600"/>
            </a:xfrm>
            <a:prstGeom prst="ellipse">
              <a:avLst/>
            </a:prstGeom>
            <a:solidFill>
              <a:srgbClr val="CED7E6"/>
            </a:solidFill>
            <a:ln>
              <a:noFill/>
            </a:ln>
          </p:spPr>
        </p:sp>
        <p:sp>
          <p:nvSpPr>
            <p:cNvPr id="40" name="node01.row.item-005.v.dots-5"/>
            <p:cNvSpPr/>
            <p:nvPr/>
          </p:nvSpPr>
          <p:spPr>
            <a:xfrm>
              <a:off x="4305300" y="3619500"/>
              <a:ext cx="101600" cy="101600"/>
            </a:xfrm>
            <a:prstGeom prst="ellipse">
              <a:avLst/>
            </a:prstGeom>
            <a:solidFill>
              <a:srgbClr val="CED7E6"/>
            </a:solidFill>
            <a:ln>
              <a:noFill/>
            </a:ln>
          </p:spPr>
        </p:sp>
        <p:sp>
          <p:nvSpPr>
            <p:cNvPr id="41" name="node01.row.item-005.p.priority.fill"/>
            <p:cNvSpPr/>
            <p:nvPr/>
          </p:nvSpPr>
          <p:spPr>
            <a:xfrm>
              <a:off x="5194300" y="3575050"/>
              <a:ext cx="508000" cy="190500"/>
            </a:xfrm>
            <a:prstGeom prst="rect">
              <a:avLst/>
            </a:prstGeom>
            <a:solidFill>
              <a:srgbClr val="CED7E6"/>
            </a:solidFill>
            <a:ln w="9525">
              <a:solidFill>
                <a:srgbClr val="070154"/>
              </a:solidFill>
              <a:prstDash val="solid"/>
            </a:ln>
          </p:spPr>
        </p:sp>
        <p:sp>
          <p:nvSpPr>
            <p:cNvPr id="42" name="node01.row.item-005.p.priority"/>
            <p:cNvSpPr/>
            <p:nvPr/>
          </p:nvSpPr>
          <p:spPr>
            <a:xfrm>
              <a:off x="5295900" y="36004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NEXT</a:t>
              </a:r>
              <a:endParaRPr lang="en-US" sz="800" spc="48" kern="0" b="0" i="0" dirty="0">
                <a:solidFill>
                  <a:srgbClr val="070154"/>
                </a:solidFill>
                <a:latin typeface="IBM Plex Mono SemiBold"/>
                <a:ea typeface="IBM Plex Mono SemiBold"/>
                <a:cs typeface="IBM Plex Mono SemiBold"/>
              </a:endParaRPr>
            </a:p>
          </p:txBody>
        </p:sp>
        <p:sp>
          <p:nvSpPr>
            <p:cNvPr id="43" name="node01.row.item-006.v.dots-1"/>
            <p:cNvSpPr/>
            <p:nvPr/>
          </p:nvSpPr>
          <p:spPr>
            <a:xfrm>
              <a:off x="3695700" y="4000500"/>
              <a:ext cx="101600" cy="101600"/>
            </a:xfrm>
            <a:prstGeom prst="ellipse">
              <a:avLst/>
            </a:prstGeom>
            <a:solidFill>
              <a:srgbClr val="070154"/>
            </a:solidFill>
            <a:ln>
              <a:noFill/>
            </a:ln>
          </p:spPr>
        </p:sp>
        <p:sp>
          <p:nvSpPr>
            <p:cNvPr id="44" name="node01.row.item-006.v.dots-2"/>
            <p:cNvSpPr/>
            <p:nvPr/>
          </p:nvSpPr>
          <p:spPr>
            <a:xfrm>
              <a:off x="3848100" y="4000500"/>
              <a:ext cx="101600" cy="101600"/>
            </a:xfrm>
            <a:prstGeom prst="ellipse">
              <a:avLst/>
            </a:prstGeom>
            <a:solidFill>
              <a:srgbClr val="070154"/>
            </a:solidFill>
            <a:ln>
              <a:noFill/>
            </a:ln>
          </p:spPr>
        </p:sp>
        <p:sp>
          <p:nvSpPr>
            <p:cNvPr id="45" name="node01.row.item-006.v.dots-3"/>
            <p:cNvSpPr/>
            <p:nvPr/>
          </p:nvSpPr>
          <p:spPr>
            <a:xfrm>
              <a:off x="4000500" y="4000500"/>
              <a:ext cx="101600" cy="101600"/>
            </a:xfrm>
            <a:prstGeom prst="ellipse">
              <a:avLst/>
            </a:prstGeom>
            <a:solidFill>
              <a:srgbClr val="070154"/>
            </a:solidFill>
            <a:ln>
              <a:noFill/>
            </a:ln>
          </p:spPr>
        </p:sp>
        <p:sp>
          <p:nvSpPr>
            <p:cNvPr id="46" name="node01.row.item-006.v.dots-4"/>
            <p:cNvSpPr/>
            <p:nvPr/>
          </p:nvSpPr>
          <p:spPr>
            <a:xfrm>
              <a:off x="4152900" y="4000500"/>
              <a:ext cx="101600" cy="101600"/>
            </a:xfrm>
            <a:prstGeom prst="ellipse">
              <a:avLst/>
            </a:prstGeom>
            <a:solidFill>
              <a:srgbClr val="CED7E6"/>
            </a:solidFill>
            <a:ln>
              <a:noFill/>
            </a:ln>
          </p:spPr>
        </p:sp>
        <p:sp>
          <p:nvSpPr>
            <p:cNvPr id="47" name="node01.row.item-006.v.dots-5"/>
            <p:cNvSpPr/>
            <p:nvPr/>
          </p:nvSpPr>
          <p:spPr>
            <a:xfrm>
              <a:off x="4305300" y="4000500"/>
              <a:ext cx="101600" cy="101600"/>
            </a:xfrm>
            <a:prstGeom prst="ellipse">
              <a:avLst/>
            </a:prstGeom>
            <a:solidFill>
              <a:srgbClr val="CED7E6"/>
            </a:solidFill>
            <a:ln>
              <a:noFill/>
            </a:ln>
          </p:spPr>
        </p:sp>
        <p:sp>
          <p:nvSpPr>
            <p:cNvPr id="48" name="node01.row.item-006.p.priority.fill"/>
            <p:cNvSpPr/>
            <p:nvPr/>
          </p:nvSpPr>
          <p:spPr>
            <a:xfrm>
              <a:off x="5194300" y="3956050"/>
              <a:ext cx="508000" cy="190500"/>
            </a:xfrm>
            <a:prstGeom prst="rect">
              <a:avLst/>
            </a:prstGeom>
            <a:solidFill>
              <a:srgbClr val="CED7E6"/>
            </a:solidFill>
            <a:ln w="9525">
              <a:solidFill>
                <a:srgbClr val="070154"/>
              </a:solidFill>
              <a:prstDash val="solid"/>
            </a:ln>
          </p:spPr>
        </p:sp>
        <p:sp>
          <p:nvSpPr>
            <p:cNvPr id="49" name="node01.row.item-006.p.priority"/>
            <p:cNvSpPr/>
            <p:nvPr/>
          </p:nvSpPr>
          <p:spPr>
            <a:xfrm>
              <a:off x="5295900" y="3981450"/>
              <a:ext cx="3048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NEXT</a:t>
              </a:r>
              <a:endParaRPr lang="en-US" sz="800" spc="48" kern="0" b="0" i="0" dirty="0">
                <a:solidFill>
                  <a:srgbClr val="070154"/>
                </a:solidFill>
                <a:latin typeface="IBM Plex Mono SemiBold"/>
                <a:ea typeface="IBM Plex Mono SemiBold"/>
                <a:cs typeface="IBM Plex Mono SemiBold"/>
              </a:endParaRPr>
            </a:p>
          </p:txBody>
        </p:sp>
        <p:sp>
          <p:nvSpPr>
            <p:cNvPr id="50" name="node01.row.item-007.v.dots-1"/>
            <p:cNvSpPr/>
            <p:nvPr/>
          </p:nvSpPr>
          <p:spPr>
            <a:xfrm>
              <a:off x="3695700" y="4381500"/>
              <a:ext cx="101600" cy="101600"/>
            </a:xfrm>
            <a:prstGeom prst="ellipse">
              <a:avLst/>
            </a:prstGeom>
            <a:solidFill>
              <a:srgbClr val="070154"/>
            </a:solidFill>
            <a:ln>
              <a:noFill/>
            </a:ln>
          </p:spPr>
        </p:sp>
        <p:sp>
          <p:nvSpPr>
            <p:cNvPr id="51" name="node01.row.item-007.v.dots-2"/>
            <p:cNvSpPr/>
            <p:nvPr/>
          </p:nvSpPr>
          <p:spPr>
            <a:xfrm>
              <a:off x="3848100" y="4381500"/>
              <a:ext cx="101600" cy="101600"/>
            </a:xfrm>
            <a:prstGeom prst="ellipse">
              <a:avLst/>
            </a:prstGeom>
            <a:solidFill>
              <a:srgbClr val="070154"/>
            </a:solidFill>
            <a:ln>
              <a:noFill/>
            </a:ln>
          </p:spPr>
        </p:sp>
        <p:sp>
          <p:nvSpPr>
            <p:cNvPr id="52" name="node01.row.item-007.v.dots-3"/>
            <p:cNvSpPr/>
            <p:nvPr/>
          </p:nvSpPr>
          <p:spPr>
            <a:xfrm>
              <a:off x="4000500" y="4381500"/>
              <a:ext cx="101600" cy="101600"/>
            </a:xfrm>
            <a:prstGeom prst="ellipse">
              <a:avLst/>
            </a:prstGeom>
            <a:solidFill>
              <a:srgbClr val="CED7E6"/>
            </a:solidFill>
            <a:ln>
              <a:noFill/>
            </a:ln>
          </p:spPr>
        </p:sp>
        <p:sp>
          <p:nvSpPr>
            <p:cNvPr id="53" name="node01.row.item-007.v.dots-4"/>
            <p:cNvSpPr/>
            <p:nvPr/>
          </p:nvSpPr>
          <p:spPr>
            <a:xfrm>
              <a:off x="4152900" y="4381500"/>
              <a:ext cx="101600" cy="101600"/>
            </a:xfrm>
            <a:prstGeom prst="ellipse">
              <a:avLst/>
            </a:prstGeom>
            <a:solidFill>
              <a:srgbClr val="CED7E6"/>
            </a:solidFill>
            <a:ln>
              <a:noFill/>
            </a:ln>
          </p:spPr>
        </p:sp>
        <p:sp>
          <p:nvSpPr>
            <p:cNvPr id="54" name="node01.row.item-007.v.dots-5"/>
            <p:cNvSpPr/>
            <p:nvPr/>
          </p:nvSpPr>
          <p:spPr>
            <a:xfrm>
              <a:off x="4305300" y="4381500"/>
              <a:ext cx="101600" cy="101600"/>
            </a:xfrm>
            <a:prstGeom prst="ellipse">
              <a:avLst/>
            </a:prstGeom>
            <a:solidFill>
              <a:srgbClr val="CED7E6"/>
            </a:solidFill>
            <a:ln>
              <a:noFill/>
            </a:ln>
          </p:spPr>
        </p:sp>
        <p:sp>
          <p:nvSpPr>
            <p:cNvPr id="55" name="node01.row.item-007.p.priority.fill"/>
            <p:cNvSpPr/>
            <p:nvPr/>
          </p:nvSpPr>
          <p:spPr>
            <a:xfrm>
              <a:off x="5167948" y="4337050"/>
              <a:ext cx="560704" cy="190500"/>
            </a:xfrm>
            <a:prstGeom prst="rect">
              <a:avLst/>
            </a:prstGeom>
            <a:ln w="9525">
              <a:solidFill>
                <a:srgbClr val="070154"/>
              </a:solidFill>
              <a:prstDash val="solid"/>
            </a:ln>
          </p:spPr>
        </p:sp>
        <p:sp>
          <p:nvSpPr>
            <p:cNvPr id="56" name="node01.row.item-007.p.priority"/>
            <p:cNvSpPr/>
            <p:nvPr/>
          </p:nvSpPr>
          <p:spPr>
            <a:xfrm>
              <a:off x="5269548" y="4362450"/>
              <a:ext cx="357504"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LATER</a:t>
              </a:r>
              <a:endParaRPr lang="en-US" sz="800" spc="48" kern="0" b="0" i="0" dirty="0">
                <a:solidFill>
                  <a:srgbClr val="070154"/>
                </a:solidFill>
                <a:latin typeface="IBM Plex Mono SemiBold"/>
                <a:ea typeface="IBM Plex Mono SemiBold"/>
                <a:cs typeface="IBM Plex Mono SemiBold"/>
              </a:endParaRPr>
            </a:p>
          </p:txBody>
        </p:sp>
      </p:grpSp>
      <p:grpSp>
        <p:nvGrpSpPr>
          <p:cNvPr id="81" name="node02"/>
          <p:cNvGrpSpPr/>
          <p:nvPr/>
        </p:nvGrpSpPr>
        <p:grpSpPr>
          <a:xfrm>
            <a:off x="723900" y="4800600"/>
            <a:ext cx="7086600" cy="228600"/>
            <a:chOff x="723900" y="4800600"/>
            <a:chExt cx="7086600" cy="228600"/>
          </a:xfrm>
        </p:grpSpPr>
        <p:sp>
          <p:nvSpPr>
            <p:cNvPr id="57" name="node02.label"/>
            <p:cNvSpPr/>
            <p:nvPr/>
          </p:nvSpPr>
          <p:spPr>
            <a:xfrm>
              <a:off x="723900" y="4800600"/>
              <a:ext cx="888870"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KEY LEARNINGS</a:t>
              </a:r>
              <a:endParaRPr lang="en-US" sz="800" spc="48" kern="0" b="0" i="0" dirty="0">
                <a:solidFill>
                  <a:srgbClr val="50658E"/>
                </a:solidFill>
                <a:latin typeface="IBM Plex Mono Medium"/>
                <a:ea typeface="IBM Plex Mono Medium"/>
                <a:cs typeface="IBM Plex Mono Medium"/>
              </a:endParaRPr>
            </a:p>
          </p:txBody>
        </p:sp>
        <p:sp>
          <p:nvSpPr>
            <p:cNvPr id="58" name="node02.rule"/>
            <p:cNvSpPr/>
            <p:nvPr/>
          </p:nvSpPr>
          <p:spPr>
            <a:xfrm>
              <a:off x="1739770" y="4910138"/>
              <a:ext cx="6070730" cy="9525"/>
            </a:xfrm>
            <a:prstGeom prst="rect">
              <a:avLst/>
            </a:prstGeom>
            <a:solidFill>
              <a:srgbClr val="CED7E6"/>
            </a:solidFill>
            <a:ln>
              <a:noFill/>
            </a:ln>
          </p:spPr>
        </p:sp>
      </p:grpSp>
      <p:sp>
        <p:nvSpPr>
          <p:cNvPr id="59" name="node03"/>
          <p:cNvSpPr/>
          <p:nvPr/>
        </p:nvSpPr>
        <p:spPr>
          <a:xfrm>
            <a:off x="723900" y="5029200"/>
            <a:ext cx="7086600" cy="9525"/>
          </a:xfrm>
          <a:prstGeom prst="rect">
            <a:avLst/>
          </a:prstGeom>
          <a:solidFill>
            <a:srgbClr val="CED7E6"/>
          </a:solidFill>
          <a:ln>
            <a:noFill/>
          </a:ln>
        </p:spPr>
      </p:sp>
      <p:grpSp>
        <p:nvGrpSpPr>
          <p:cNvPr id="82" name="node04"/>
          <p:cNvGrpSpPr/>
          <p:nvPr/>
        </p:nvGrpSpPr>
        <p:grpSpPr>
          <a:xfrm>
            <a:off x="723900" y="5257800"/>
            <a:ext cx="7086600" cy="190500"/>
            <a:chOff x="723900" y="5257800"/>
            <a:chExt cx="7086600" cy="190500"/>
          </a:xfrm>
        </p:grpSpPr>
        <p:sp>
          <p:nvSpPr>
            <p:cNvPr id="60" name="node04.text"/>
            <p:cNvSpPr/>
            <p:nvPr/>
          </p:nvSpPr>
          <p:spPr>
            <a:xfrm>
              <a:off x="723900" y="5257800"/>
              <a:ext cx="7086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Front-end fixes drive most value; estimates and denials depend on the same registration data.</a:t>
              </a:r>
              <a:endParaRPr lang="en-US" sz="1100" spc="0" kern="0" b="0" i="0" dirty="0">
                <a:solidFill>
                  <a:srgbClr val="070154"/>
                </a:solidFill>
                <a:latin typeface="IBM Plex Sans"/>
                <a:ea typeface="IBM Plex Sans"/>
                <a:cs typeface="IBM Plex Sans"/>
              </a:endParaRPr>
            </a:p>
          </p:txBody>
        </p:sp>
      </p:grpSp>
      <p:grpSp>
        <p:nvGrpSpPr>
          <p:cNvPr id="83" name="node05"/>
          <p:cNvGrpSpPr/>
          <p:nvPr/>
        </p:nvGrpSpPr>
        <p:grpSpPr>
          <a:xfrm>
            <a:off x="8039100" y="1600200"/>
            <a:ext cx="3429000" cy="228600"/>
            <a:chOff x="8039100" y="1600200"/>
            <a:chExt cx="3429000" cy="228600"/>
          </a:xfrm>
        </p:grpSpPr>
        <p:sp>
          <p:nvSpPr>
            <p:cNvPr id="61" name="node05.label"/>
            <p:cNvSpPr/>
            <p:nvPr/>
          </p:nvSpPr>
          <p:spPr>
            <a:xfrm>
              <a:off x="8039100" y="1600200"/>
              <a:ext cx="1818760"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OUTCOMES AGAINST OBJECTIVES</a:t>
              </a:r>
              <a:endParaRPr lang="en-US" sz="800" spc="48" kern="0" b="0" i="0" dirty="0">
                <a:solidFill>
                  <a:srgbClr val="50658E"/>
                </a:solidFill>
                <a:latin typeface="IBM Plex Mono Medium"/>
                <a:ea typeface="IBM Plex Mono Medium"/>
                <a:cs typeface="IBM Plex Mono Medium"/>
              </a:endParaRPr>
            </a:p>
          </p:txBody>
        </p:sp>
        <p:sp>
          <p:nvSpPr>
            <p:cNvPr id="62" name="node05.rule"/>
            <p:cNvSpPr/>
            <p:nvPr/>
          </p:nvSpPr>
          <p:spPr>
            <a:xfrm>
              <a:off x="9984860" y="1709738"/>
              <a:ext cx="1483240" cy="9525"/>
            </a:xfrm>
            <a:prstGeom prst="rect">
              <a:avLst/>
            </a:prstGeom>
            <a:solidFill>
              <a:srgbClr val="CED7E6"/>
            </a:solidFill>
            <a:ln>
              <a:noFill/>
            </a:ln>
          </p:spPr>
        </p:sp>
      </p:grpSp>
      <p:sp>
        <p:nvSpPr>
          <p:cNvPr id="63" name="node06"/>
          <p:cNvSpPr/>
          <p:nvPr/>
        </p:nvSpPr>
        <p:spPr>
          <a:xfrm>
            <a:off x="8039100" y="1828800"/>
            <a:ext cx="3429000" cy="9525"/>
          </a:xfrm>
          <a:prstGeom prst="rect">
            <a:avLst/>
          </a:prstGeom>
          <a:solidFill>
            <a:srgbClr val="CED7E6"/>
          </a:solidFill>
          <a:ln>
            <a:noFill/>
          </a:ln>
        </p:spPr>
      </p:sp>
      <p:grpSp>
        <p:nvGrpSpPr>
          <p:cNvPr id="84" name="node07"/>
          <p:cNvGrpSpPr/>
          <p:nvPr/>
        </p:nvGrpSpPr>
        <p:grpSpPr>
          <a:xfrm>
            <a:off x="8039100" y="2057400"/>
            <a:ext cx="3429000" cy="1574800"/>
            <a:chOff x="8039100" y="2057400"/>
            <a:chExt cx="3429000" cy="1574800"/>
          </a:xfrm>
        </p:grpSpPr>
        <p:graphicFrame>
          <p:nvGraphicFramePr>
            <p:cNvPr id="64" name="node07.native"/>
            <p:cNvGraphicFramePr>
              <a:graphicFrameLocks noGrp="1"/>
            </p:cNvGraphicFramePr>
            <p:nvPr>
              <p:extLst>
                <p:ext uri="{D42A27DB-BD31-4B8C-83A1-F6EECF244321}">
                  <p14:modId xmlns:p14="http://schemas.microsoft.com/office/powerpoint/2010/main" val="1579011935"/>
                </p:ext>
              </p:extLst>
            </p:nvPr>
          </p:nvGraphicFramePr>
          <p:xfrm>
            <a:off x="8039100" y="2057400"/>
            <a:ext cx="3429000" cy="1574800"/>
          </p:xfrm>
          <a:graphic>
            <a:graphicData uri="http://schemas.openxmlformats.org/drawingml/2006/table">
              <a:tbl>
                <a:tblPr/>
                <a:tblGrid>
                  <a:gridCol w="2209800"/>
                  <a:gridCol w="12192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OBJECTIVE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RESULT</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One future-state journey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Owners named per area</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Partly 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Shortlist ready to rank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Target measures drafted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Not met</a:t>
                        </a:r>
                        <a:endParaRPr lang="en-US" sz="10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65" name="node07.row.item-001.s.status-mark"/>
            <p:cNvSpPr/>
            <p:nvPr/>
          </p:nvSpPr>
          <p:spPr>
            <a:xfrm>
              <a:off x="10407650" y="2520950"/>
              <a:ext cx="88900" cy="88900"/>
            </a:xfrm>
            <a:prstGeom prst="rect">
              <a:avLst/>
            </a:prstGeom>
            <a:solidFill>
              <a:srgbClr val="1DD566"/>
            </a:solidFill>
            <a:ln w="12700">
              <a:solidFill>
                <a:srgbClr val="070154"/>
              </a:solidFill>
              <a:prstDash val="solid"/>
            </a:ln>
          </p:spPr>
        </p:sp>
        <p:sp>
          <p:nvSpPr>
            <p:cNvPr id="66" name="node07.row.item-002.s.status-mark"/>
            <p:cNvSpPr/>
            <p:nvPr/>
          </p:nvSpPr>
          <p:spPr>
            <a:xfrm>
              <a:off x="10407650" y="2825750"/>
              <a:ext cx="88900" cy="88900"/>
            </a:xfrm>
            <a:prstGeom prst="rect">
              <a:avLst/>
            </a:prstGeom>
            <a:solidFill>
              <a:srgbClr val="FFC700"/>
            </a:solidFill>
            <a:ln w="12700">
              <a:solidFill>
                <a:srgbClr val="070154"/>
              </a:solidFill>
              <a:prstDash val="solid"/>
            </a:ln>
          </p:spPr>
        </p:sp>
        <p:sp>
          <p:nvSpPr>
            <p:cNvPr id="67" name="node07.row.item-003.s.status-mark"/>
            <p:cNvSpPr/>
            <p:nvPr/>
          </p:nvSpPr>
          <p:spPr>
            <a:xfrm>
              <a:off x="10407650" y="3130550"/>
              <a:ext cx="88900" cy="88900"/>
            </a:xfrm>
            <a:prstGeom prst="rect">
              <a:avLst/>
            </a:prstGeom>
            <a:solidFill>
              <a:srgbClr val="1DD566"/>
            </a:solidFill>
            <a:ln w="12700">
              <a:solidFill>
                <a:srgbClr val="070154"/>
              </a:solidFill>
              <a:prstDash val="solid"/>
            </a:ln>
          </p:spPr>
        </p:sp>
        <p:sp>
          <p:nvSpPr>
            <p:cNvPr id="68" name="node07.row.item-004.s.status-mark"/>
            <p:cNvSpPr/>
            <p:nvPr/>
          </p:nvSpPr>
          <p:spPr>
            <a:xfrm>
              <a:off x="10407650" y="3435350"/>
              <a:ext cx="88900" cy="88900"/>
            </a:xfrm>
            <a:prstGeom prst="rect">
              <a:avLst/>
            </a:prstGeom>
            <a:solidFill>
              <a:srgbClr val="F52C00"/>
            </a:solidFill>
            <a:ln w="12700">
              <a:solidFill>
                <a:srgbClr val="070154"/>
              </a:solidFill>
              <a:prstDash val="solid"/>
            </a:ln>
          </p:spPr>
        </p:sp>
      </p:grpSp>
      <p:grpSp>
        <p:nvGrpSpPr>
          <p:cNvPr id="85" name="node08"/>
          <p:cNvGrpSpPr/>
          <p:nvPr/>
        </p:nvGrpSpPr>
        <p:grpSpPr>
          <a:xfrm>
            <a:off x="8039100" y="3810000"/>
            <a:ext cx="3429000" cy="228600"/>
            <a:chOff x="8039100" y="3810000"/>
            <a:chExt cx="3429000" cy="228600"/>
          </a:xfrm>
        </p:grpSpPr>
        <p:sp>
          <p:nvSpPr>
            <p:cNvPr id="69" name="node08.label"/>
            <p:cNvSpPr/>
            <p:nvPr/>
          </p:nvSpPr>
          <p:spPr>
            <a:xfrm>
              <a:off x="8039100" y="3810000"/>
              <a:ext cx="188518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DECISIONS AND OPEN QUESTIONS</a:t>
              </a:r>
              <a:endParaRPr lang="en-US" sz="800" spc="48" kern="0" b="0" i="0" dirty="0">
                <a:solidFill>
                  <a:srgbClr val="50658E"/>
                </a:solidFill>
                <a:latin typeface="IBM Plex Mono Medium"/>
                <a:ea typeface="IBM Plex Mono Medium"/>
                <a:cs typeface="IBM Plex Mono Medium"/>
              </a:endParaRPr>
            </a:p>
          </p:txBody>
        </p:sp>
        <p:sp>
          <p:nvSpPr>
            <p:cNvPr id="70" name="node08.rule"/>
            <p:cNvSpPr/>
            <p:nvPr/>
          </p:nvSpPr>
          <p:spPr>
            <a:xfrm>
              <a:off x="10051281" y="3919537"/>
              <a:ext cx="1416819" cy="9525"/>
            </a:xfrm>
            <a:prstGeom prst="rect">
              <a:avLst/>
            </a:prstGeom>
            <a:solidFill>
              <a:srgbClr val="CED7E6"/>
            </a:solidFill>
            <a:ln>
              <a:noFill/>
            </a:ln>
          </p:spPr>
        </p:sp>
      </p:grpSp>
      <p:sp>
        <p:nvSpPr>
          <p:cNvPr id="71" name="node09"/>
          <p:cNvSpPr/>
          <p:nvPr/>
        </p:nvSpPr>
        <p:spPr>
          <a:xfrm>
            <a:off x="8039100" y="4038600"/>
            <a:ext cx="3429000" cy="9525"/>
          </a:xfrm>
          <a:prstGeom prst="rect">
            <a:avLst/>
          </a:prstGeom>
          <a:solidFill>
            <a:srgbClr val="CED7E6"/>
          </a:solidFill>
          <a:ln>
            <a:noFill/>
          </a:ln>
        </p:spPr>
      </p:sp>
      <p:grpSp>
        <p:nvGrpSpPr>
          <p:cNvPr id="86" name="node10"/>
          <p:cNvGrpSpPr/>
          <p:nvPr/>
        </p:nvGrpSpPr>
        <p:grpSpPr>
          <a:xfrm>
            <a:off x="8039100" y="4267200"/>
            <a:ext cx="3429000" cy="977900"/>
            <a:chOff x="8039100" y="4267200"/>
            <a:chExt cx="3429000" cy="977900"/>
          </a:xfrm>
        </p:grpSpPr>
        <p:sp>
          <p:nvSpPr>
            <p:cNvPr id="72" name="node10.source-001.bullet"/>
            <p:cNvSpPr/>
            <p:nvPr/>
          </p:nvSpPr>
          <p:spPr>
            <a:xfrm>
              <a:off x="8039100" y="4356100"/>
              <a:ext cx="38100" cy="38100"/>
            </a:xfrm>
            <a:prstGeom prst="rect">
              <a:avLst/>
            </a:prstGeom>
            <a:solidFill>
              <a:srgbClr val="070154"/>
            </a:solidFill>
            <a:ln>
              <a:noFill/>
            </a:ln>
          </p:spPr>
        </p:sp>
        <p:sp>
          <p:nvSpPr>
            <p:cNvPr id="73" name="node10.source-001.text"/>
            <p:cNvSpPr/>
            <p:nvPr/>
          </p:nvSpPr>
          <p:spPr>
            <a:xfrm>
              <a:off x="8191500" y="4267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Decided: top two go to Now</a:t>
              </a:r>
              <a:endParaRPr lang="en-US" sz="1200" spc="0" kern="0" b="0" i="0" dirty="0">
                <a:solidFill>
                  <a:srgbClr val="070154"/>
                </a:solidFill>
                <a:latin typeface="IBM Plex Sans"/>
                <a:ea typeface="IBM Plex Sans"/>
                <a:cs typeface="IBM Plex Sans"/>
              </a:endParaRPr>
            </a:p>
          </p:txBody>
        </p:sp>
        <p:sp>
          <p:nvSpPr>
            <p:cNvPr id="74" name="node10.source-002.bullet"/>
            <p:cNvSpPr/>
            <p:nvPr/>
          </p:nvSpPr>
          <p:spPr>
            <a:xfrm>
              <a:off x="8039100" y="4610100"/>
              <a:ext cx="38100" cy="38100"/>
            </a:xfrm>
            <a:prstGeom prst="rect">
              <a:avLst/>
            </a:prstGeom>
            <a:solidFill>
              <a:srgbClr val="070154"/>
            </a:solidFill>
            <a:ln>
              <a:noFill/>
            </a:ln>
          </p:spPr>
        </p:sp>
        <p:sp>
          <p:nvSpPr>
            <p:cNvPr id="75" name="node10.source-002.text"/>
            <p:cNvSpPr/>
            <p:nvPr/>
          </p:nvSpPr>
          <p:spPr>
            <a:xfrm>
              <a:off x="8191500" y="4521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Decided: estimates start with imaging</a:t>
              </a:r>
              <a:endParaRPr lang="en-US" sz="1200" spc="0" kern="0" b="0" i="0" dirty="0">
                <a:solidFill>
                  <a:srgbClr val="070154"/>
                </a:solidFill>
                <a:latin typeface="IBM Plex Sans"/>
                <a:ea typeface="IBM Plex Sans"/>
                <a:cs typeface="IBM Plex Sans"/>
              </a:endParaRPr>
            </a:p>
          </p:txBody>
        </p:sp>
        <p:sp>
          <p:nvSpPr>
            <p:cNvPr id="76" name="node10.source-003.bullet"/>
            <p:cNvSpPr/>
            <p:nvPr/>
          </p:nvSpPr>
          <p:spPr>
            <a:xfrm>
              <a:off x="8039100" y="4864100"/>
              <a:ext cx="38100" cy="38100"/>
            </a:xfrm>
            <a:prstGeom prst="rect">
              <a:avLst/>
            </a:prstGeom>
            <a:solidFill>
              <a:srgbClr val="070154"/>
            </a:solidFill>
            <a:ln>
              <a:noFill/>
            </a:ln>
          </p:spPr>
        </p:sp>
        <p:sp>
          <p:nvSpPr>
            <p:cNvPr id="77" name="node10.source-003.text"/>
            <p:cNvSpPr/>
            <p:nvPr/>
          </p:nvSpPr>
          <p:spPr>
            <a:xfrm>
              <a:off x="8191500" y="4775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who owns the estimate tool?</a:t>
              </a:r>
              <a:endParaRPr lang="en-US" sz="1200" spc="0" kern="0" b="0" i="0" dirty="0">
                <a:solidFill>
                  <a:srgbClr val="070154"/>
                </a:solidFill>
                <a:latin typeface="IBM Plex Sans"/>
                <a:ea typeface="IBM Plex Sans"/>
                <a:cs typeface="IBM Plex Sans"/>
              </a:endParaRPr>
            </a:p>
          </p:txBody>
        </p:sp>
        <p:sp>
          <p:nvSpPr>
            <p:cNvPr id="78" name="node10.source-004.bullet"/>
            <p:cNvSpPr/>
            <p:nvPr/>
          </p:nvSpPr>
          <p:spPr>
            <a:xfrm>
              <a:off x="8039100" y="5118100"/>
              <a:ext cx="38100" cy="38100"/>
            </a:xfrm>
            <a:prstGeom prst="rect">
              <a:avLst/>
            </a:prstGeom>
            <a:solidFill>
              <a:srgbClr val="070154"/>
            </a:solidFill>
            <a:ln>
              <a:noFill/>
            </a:ln>
          </p:spPr>
        </p:sp>
        <p:sp>
          <p:nvSpPr>
            <p:cNvPr id="79" name="node10.source-004.text"/>
            <p:cNvSpPr/>
            <p:nvPr/>
          </p:nvSpPr>
          <p:spPr>
            <a:xfrm>
              <a:off x="8191500" y="5029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consent form scope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ource-640">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FACILITATION PLAN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Facilitation plan for workshop 2</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173</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4381500" y="457200"/>
            <a:ext cx="7086600" cy="5232400"/>
            <a:chOff x="4381500" y="457200"/>
            <a:chExt cx="7086600" cy="5232400"/>
          </a:xfrm>
        </p:grpSpPr>
        <p:graphicFrame>
          <p:nvGraphicFramePr>
            <p:cNvPr id="6" name="node01.native"/>
            <p:cNvGraphicFramePr>
              <a:graphicFrameLocks noGrp="1"/>
            </p:cNvGraphicFramePr>
            <p:nvPr>
              <p:extLst>
                <p:ext uri="{D42A27DB-BD31-4B8C-83A1-F6EECF244321}">
                  <p14:modId xmlns:p14="http://schemas.microsoft.com/office/powerpoint/2010/main" val="1579011935"/>
                </p:ext>
              </p:extLst>
            </p:nvPr>
          </p:nvGraphicFramePr>
          <p:xfrm>
            <a:off x="4381500" y="457200"/>
            <a:ext cx="7086600" cy="5232400"/>
          </p:xfrm>
          <a:graphic>
            <a:graphicData uri="http://schemas.openxmlformats.org/drawingml/2006/table">
              <a:tbl>
                <a:tblPr/>
                <a:tblGrid>
                  <a:gridCol w="762000"/>
                  <a:gridCol w="1905000"/>
                  <a:gridCol w="2971800"/>
                  <a:gridCol w="14478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TIME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SEGMENT</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ACTIVITY OR METHOD</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LEAD</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09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8:15</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Room setup</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Four tables, journey map on the wall, timer visible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Co-facilitator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9:00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Welcome and goals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Sponsor opens; objectives, ground rules, parking lot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Lead facilitator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9:15</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Current-state recap</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Journey-map walk-through; dot vote on top pain points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Lead facilitator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9:45</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Design by area</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Four tables, future-state canvas, 15-minute timeboxes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Area facilitators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10:45</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Break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Tables reset; scribes consolidate notes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Co-facilitator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11:00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Playback and gaps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5-minute playback per table; gap callouts on the board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Co-facilitator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11:40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Decisions and next steps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Fist-to-five consensus; owners and dates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Lead facilitator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12:00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Close and debrief</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Confirm pre-work; one-word check-out; team debrief</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Lead facilitator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35" name="node02"/>
          <p:cNvGrpSpPr/>
          <p:nvPr/>
        </p:nvGrpSpPr>
        <p:grpSpPr>
          <a:xfrm>
            <a:off x="723900" y="1828800"/>
            <a:ext cx="3429000" cy="228600"/>
            <a:chOff x="723900" y="1828800"/>
            <a:chExt cx="3429000" cy="228600"/>
          </a:xfrm>
        </p:grpSpPr>
        <p:sp>
          <p:nvSpPr>
            <p:cNvPr id="7" name="node02.label"/>
            <p:cNvSpPr/>
            <p:nvPr/>
          </p:nvSpPr>
          <p:spPr>
            <a:xfrm>
              <a:off x="723900" y="1828800"/>
              <a:ext cx="357504"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ROLES</a:t>
              </a:r>
              <a:endParaRPr lang="en-US" sz="800" spc="48" kern="0" b="0" i="0" dirty="0">
                <a:solidFill>
                  <a:srgbClr val="50658E"/>
                </a:solidFill>
                <a:latin typeface="IBM Plex Mono Medium"/>
                <a:ea typeface="IBM Plex Mono Medium"/>
                <a:cs typeface="IBM Plex Mono Medium"/>
              </a:endParaRPr>
            </a:p>
          </p:txBody>
        </p:sp>
        <p:sp>
          <p:nvSpPr>
            <p:cNvPr id="8" name="node02.rule"/>
            <p:cNvSpPr/>
            <p:nvPr/>
          </p:nvSpPr>
          <p:spPr>
            <a:xfrm>
              <a:off x="1208404" y="1938337"/>
              <a:ext cx="2944496" cy="9525"/>
            </a:xfrm>
            <a:prstGeom prst="rect">
              <a:avLst/>
            </a:prstGeom>
            <a:solidFill>
              <a:srgbClr val="CED7E6"/>
            </a:solidFill>
            <a:ln>
              <a:noFill/>
            </a:ln>
          </p:spPr>
        </p:sp>
      </p:grpSp>
      <p:sp>
        <p:nvSpPr>
          <p:cNvPr id="9" name="node03"/>
          <p:cNvSpPr/>
          <p:nvPr/>
        </p:nvSpPr>
        <p:spPr>
          <a:xfrm>
            <a:off x="723900" y="2057400"/>
            <a:ext cx="3429000" cy="9525"/>
          </a:xfrm>
          <a:prstGeom prst="rect">
            <a:avLst/>
          </a:prstGeom>
          <a:solidFill>
            <a:srgbClr val="CED7E6"/>
          </a:solidFill>
          <a:ln>
            <a:noFill/>
          </a:ln>
        </p:spPr>
      </p:sp>
      <p:grpSp>
        <p:nvGrpSpPr>
          <p:cNvPr id="36" name="node04"/>
          <p:cNvGrpSpPr/>
          <p:nvPr/>
        </p:nvGrpSpPr>
        <p:grpSpPr>
          <a:xfrm>
            <a:off x="723900" y="2286000"/>
            <a:ext cx="3429000" cy="723900"/>
            <a:chOff x="723900" y="2286000"/>
            <a:chExt cx="3429000" cy="723900"/>
          </a:xfrm>
        </p:grpSpPr>
        <p:sp>
          <p:nvSpPr>
            <p:cNvPr id="10" name="node04.source-001.bullet"/>
            <p:cNvSpPr/>
            <p:nvPr/>
          </p:nvSpPr>
          <p:spPr>
            <a:xfrm>
              <a:off x="723900" y="2374900"/>
              <a:ext cx="38100" cy="38100"/>
            </a:xfrm>
            <a:prstGeom prst="rect">
              <a:avLst/>
            </a:prstGeom>
            <a:solidFill>
              <a:srgbClr val="070154"/>
            </a:solidFill>
            <a:ln>
              <a:noFill/>
            </a:ln>
          </p:spPr>
        </p:sp>
        <p:sp>
          <p:nvSpPr>
            <p:cNvPr id="11" name="node04.source-001.text"/>
            <p:cNvSpPr/>
            <p:nvPr/>
          </p:nvSpPr>
          <p:spPr>
            <a:xfrm>
              <a:off x="876300" y="2286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Lead: runs the room and the clock</a:t>
              </a:r>
              <a:endParaRPr lang="en-US" sz="1200" spc="0" kern="0" b="0" i="0" dirty="0">
                <a:solidFill>
                  <a:srgbClr val="070154"/>
                </a:solidFill>
                <a:latin typeface="IBM Plex Sans"/>
                <a:ea typeface="IBM Plex Sans"/>
                <a:cs typeface="IBM Plex Sans"/>
              </a:endParaRPr>
            </a:p>
          </p:txBody>
        </p:sp>
        <p:sp>
          <p:nvSpPr>
            <p:cNvPr id="12" name="node04.source-002.bullet"/>
            <p:cNvSpPr/>
            <p:nvPr/>
          </p:nvSpPr>
          <p:spPr>
            <a:xfrm>
              <a:off x="723900" y="2628900"/>
              <a:ext cx="38100" cy="38100"/>
            </a:xfrm>
            <a:prstGeom prst="rect">
              <a:avLst/>
            </a:prstGeom>
            <a:solidFill>
              <a:srgbClr val="070154"/>
            </a:solidFill>
            <a:ln>
              <a:noFill/>
            </a:ln>
          </p:spPr>
        </p:sp>
        <p:sp>
          <p:nvSpPr>
            <p:cNvPr id="13" name="node04.source-002.text"/>
            <p:cNvSpPr/>
            <p:nvPr/>
          </p:nvSpPr>
          <p:spPr>
            <a:xfrm>
              <a:off x="876300" y="2540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Co-facilitator: tables and scribes</a:t>
              </a:r>
              <a:endParaRPr lang="en-US" sz="1200" spc="0" kern="0" b="0" i="0" dirty="0">
                <a:solidFill>
                  <a:srgbClr val="070154"/>
                </a:solidFill>
                <a:latin typeface="IBM Plex Sans"/>
                <a:ea typeface="IBM Plex Sans"/>
                <a:cs typeface="IBM Plex Sans"/>
              </a:endParaRPr>
            </a:p>
          </p:txBody>
        </p:sp>
        <p:sp>
          <p:nvSpPr>
            <p:cNvPr id="14" name="node04.source-003.bullet"/>
            <p:cNvSpPr/>
            <p:nvPr/>
          </p:nvSpPr>
          <p:spPr>
            <a:xfrm>
              <a:off x="723900" y="2882900"/>
              <a:ext cx="38100" cy="38100"/>
            </a:xfrm>
            <a:prstGeom prst="rect">
              <a:avLst/>
            </a:prstGeom>
            <a:solidFill>
              <a:srgbClr val="070154"/>
            </a:solidFill>
            <a:ln>
              <a:noFill/>
            </a:ln>
          </p:spPr>
        </p:sp>
        <p:sp>
          <p:nvSpPr>
            <p:cNvPr id="15" name="node04.source-003.text"/>
            <p:cNvSpPr/>
            <p:nvPr/>
          </p:nvSpPr>
          <p:spPr>
            <a:xfrm>
              <a:off x="876300" y="2794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Area facilitators: one per table</a:t>
              </a:r>
              <a:endParaRPr lang="en-US" sz="1200" spc="0" kern="0" b="0" i="0" dirty="0">
                <a:solidFill>
                  <a:srgbClr val="070154"/>
                </a:solidFill>
                <a:latin typeface="IBM Plex Sans"/>
                <a:ea typeface="IBM Plex Sans"/>
                <a:cs typeface="IBM Plex Sans"/>
              </a:endParaRPr>
            </a:p>
          </p:txBody>
        </p:sp>
      </p:grpSp>
      <p:grpSp>
        <p:nvGrpSpPr>
          <p:cNvPr id="37" name="node05"/>
          <p:cNvGrpSpPr/>
          <p:nvPr/>
        </p:nvGrpSpPr>
        <p:grpSpPr>
          <a:xfrm>
            <a:off x="723900" y="3200400"/>
            <a:ext cx="3429000" cy="228600"/>
            <a:chOff x="723900" y="3200400"/>
            <a:chExt cx="3429000" cy="228600"/>
          </a:xfrm>
        </p:grpSpPr>
        <p:sp>
          <p:nvSpPr>
            <p:cNvPr id="16" name="node05.label"/>
            <p:cNvSpPr/>
            <p:nvPr/>
          </p:nvSpPr>
          <p:spPr>
            <a:xfrm>
              <a:off x="723900" y="3200400"/>
              <a:ext cx="1287394"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MATERIALS CHECKLIST</a:t>
              </a:r>
              <a:endParaRPr lang="en-US" sz="800" spc="48" kern="0" b="0" i="0" dirty="0">
                <a:solidFill>
                  <a:srgbClr val="50658E"/>
                </a:solidFill>
                <a:latin typeface="IBM Plex Mono Medium"/>
                <a:ea typeface="IBM Plex Mono Medium"/>
                <a:cs typeface="IBM Plex Mono Medium"/>
              </a:endParaRPr>
            </a:p>
          </p:txBody>
        </p:sp>
        <p:sp>
          <p:nvSpPr>
            <p:cNvPr id="17" name="node05.rule"/>
            <p:cNvSpPr/>
            <p:nvPr/>
          </p:nvSpPr>
          <p:spPr>
            <a:xfrm>
              <a:off x="2138294" y="3309938"/>
              <a:ext cx="2014606" cy="9525"/>
            </a:xfrm>
            <a:prstGeom prst="rect">
              <a:avLst/>
            </a:prstGeom>
            <a:solidFill>
              <a:srgbClr val="CED7E6"/>
            </a:solidFill>
            <a:ln>
              <a:noFill/>
            </a:ln>
          </p:spPr>
        </p:sp>
      </p:grpSp>
      <p:sp>
        <p:nvSpPr>
          <p:cNvPr id="18" name="node06"/>
          <p:cNvSpPr/>
          <p:nvPr/>
        </p:nvSpPr>
        <p:spPr>
          <a:xfrm>
            <a:off x="723900" y="3429000"/>
            <a:ext cx="3429000" cy="9525"/>
          </a:xfrm>
          <a:prstGeom prst="rect">
            <a:avLst/>
          </a:prstGeom>
          <a:solidFill>
            <a:srgbClr val="CED7E6"/>
          </a:solidFill>
          <a:ln>
            <a:noFill/>
          </a:ln>
        </p:spPr>
      </p:sp>
      <p:grpSp>
        <p:nvGrpSpPr>
          <p:cNvPr id="38" name="node07"/>
          <p:cNvGrpSpPr/>
          <p:nvPr/>
        </p:nvGrpSpPr>
        <p:grpSpPr>
          <a:xfrm>
            <a:off x="723900" y="3657600"/>
            <a:ext cx="3429000" cy="977900"/>
            <a:chOff x="723900" y="3657600"/>
            <a:chExt cx="3429000" cy="977900"/>
          </a:xfrm>
        </p:grpSpPr>
        <p:sp>
          <p:nvSpPr>
            <p:cNvPr id="19" name="node07.source-001.bullet"/>
            <p:cNvSpPr/>
            <p:nvPr/>
          </p:nvSpPr>
          <p:spPr>
            <a:xfrm>
              <a:off x="723900" y="3746500"/>
              <a:ext cx="38100" cy="38100"/>
            </a:xfrm>
            <a:prstGeom prst="rect">
              <a:avLst/>
            </a:prstGeom>
            <a:solidFill>
              <a:srgbClr val="070154"/>
            </a:solidFill>
            <a:ln>
              <a:noFill/>
            </a:ln>
          </p:spPr>
        </p:sp>
        <p:sp>
          <p:nvSpPr>
            <p:cNvPr id="20" name="node07.source-001.text"/>
            <p:cNvSpPr/>
            <p:nvPr/>
          </p:nvSpPr>
          <p:spPr>
            <a:xfrm>
              <a:off x="876300" y="3657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Journey map, printed A0</a:t>
              </a:r>
              <a:endParaRPr lang="en-US" sz="1200" spc="0" kern="0" b="0" i="0" dirty="0">
                <a:solidFill>
                  <a:srgbClr val="070154"/>
                </a:solidFill>
                <a:latin typeface="IBM Plex Sans"/>
                <a:ea typeface="IBM Plex Sans"/>
                <a:cs typeface="IBM Plex Sans"/>
              </a:endParaRPr>
            </a:p>
          </p:txBody>
        </p:sp>
        <p:sp>
          <p:nvSpPr>
            <p:cNvPr id="21" name="node07.source-002.bullet"/>
            <p:cNvSpPr/>
            <p:nvPr/>
          </p:nvSpPr>
          <p:spPr>
            <a:xfrm>
              <a:off x="723900" y="4000500"/>
              <a:ext cx="38100" cy="38100"/>
            </a:xfrm>
            <a:prstGeom prst="rect">
              <a:avLst/>
            </a:prstGeom>
            <a:solidFill>
              <a:srgbClr val="070154"/>
            </a:solidFill>
            <a:ln>
              <a:noFill/>
            </a:ln>
          </p:spPr>
        </p:sp>
        <p:sp>
          <p:nvSpPr>
            <p:cNvPr id="22" name="node07.source-002.text"/>
            <p:cNvSpPr/>
            <p:nvPr/>
          </p:nvSpPr>
          <p:spPr>
            <a:xfrm>
              <a:off x="876300" y="3911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Canvas and sticky notes per table</a:t>
              </a:r>
              <a:endParaRPr lang="en-US" sz="1200" spc="0" kern="0" b="0" i="0" dirty="0">
                <a:solidFill>
                  <a:srgbClr val="070154"/>
                </a:solidFill>
                <a:latin typeface="IBM Plex Sans"/>
                <a:ea typeface="IBM Plex Sans"/>
                <a:cs typeface="IBM Plex Sans"/>
              </a:endParaRPr>
            </a:p>
          </p:txBody>
        </p:sp>
        <p:sp>
          <p:nvSpPr>
            <p:cNvPr id="23" name="node07.source-003.bullet"/>
            <p:cNvSpPr/>
            <p:nvPr/>
          </p:nvSpPr>
          <p:spPr>
            <a:xfrm>
              <a:off x="723900" y="4254500"/>
              <a:ext cx="38100" cy="38100"/>
            </a:xfrm>
            <a:prstGeom prst="rect">
              <a:avLst/>
            </a:prstGeom>
            <a:solidFill>
              <a:srgbClr val="070154"/>
            </a:solidFill>
            <a:ln>
              <a:noFill/>
            </a:ln>
          </p:spPr>
        </p:sp>
        <p:sp>
          <p:nvSpPr>
            <p:cNvPr id="24" name="node07.source-003.text"/>
            <p:cNvSpPr/>
            <p:nvPr/>
          </p:nvSpPr>
          <p:spPr>
            <a:xfrm>
              <a:off x="876300" y="4165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Dots, markers, name tents</a:t>
              </a:r>
              <a:endParaRPr lang="en-US" sz="1200" spc="0" kern="0" b="0" i="0" dirty="0">
                <a:solidFill>
                  <a:srgbClr val="070154"/>
                </a:solidFill>
                <a:latin typeface="IBM Plex Sans"/>
                <a:ea typeface="IBM Plex Sans"/>
                <a:cs typeface="IBM Plex Sans"/>
              </a:endParaRPr>
            </a:p>
          </p:txBody>
        </p:sp>
        <p:sp>
          <p:nvSpPr>
            <p:cNvPr id="25" name="node07.source-004.bullet"/>
            <p:cNvSpPr/>
            <p:nvPr/>
          </p:nvSpPr>
          <p:spPr>
            <a:xfrm>
              <a:off x="723900" y="4508500"/>
              <a:ext cx="38100" cy="38100"/>
            </a:xfrm>
            <a:prstGeom prst="rect">
              <a:avLst/>
            </a:prstGeom>
            <a:solidFill>
              <a:srgbClr val="070154"/>
            </a:solidFill>
            <a:ln>
              <a:noFill/>
            </a:ln>
          </p:spPr>
        </p:sp>
        <p:sp>
          <p:nvSpPr>
            <p:cNvPr id="26" name="node07.source-004.text"/>
            <p:cNvSpPr/>
            <p:nvPr/>
          </p:nvSpPr>
          <p:spPr>
            <a:xfrm>
              <a:off x="876300" y="4419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Decisions log template</a:t>
              </a:r>
              <a:endParaRPr lang="en-US" sz="1200" spc="0" kern="0" b="0" i="0" dirty="0">
                <a:solidFill>
                  <a:srgbClr val="070154"/>
                </a:solidFill>
                <a:latin typeface="IBM Plex Sans"/>
                <a:ea typeface="IBM Plex Sans"/>
                <a:cs typeface="IBM Plex Sans"/>
              </a:endParaRPr>
            </a:p>
          </p:txBody>
        </p:sp>
      </p:grpSp>
      <p:grpSp>
        <p:nvGrpSpPr>
          <p:cNvPr id="39" name="node08"/>
          <p:cNvGrpSpPr/>
          <p:nvPr/>
        </p:nvGrpSpPr>
        <p:grpSpPr>
          <a:xfrm>
            <a:off x="723900" y="4800600"/>
            <a:ext cx="3429000" cy="228600"/>
            <a:chOff x="723900" y="4800600"/>
            <a:chExt cx="3429000" cy="228600"/>
          </a:xfrm>
        </p:grpSpPr>
        <p:sp>
          <p:nvSpPr>
            <p:cNvPr id="27" name="node08.label"/>
            <p:cNvSpPr/>
            <p:nvPr/>
          </p:nvSpPr>
          <p:spPr>
            <a:xfrm>
              <a:off x="723900" y="4800600"/>
              <a:ext cx="822449"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GROUND RULES</a:t>
              </a:r>
              <a:endParaRPr lang="en-US" sz="800" spc="48" kern="0" b="0" i="0" dirty="0">
                <a:solidFill>
                  <a:srgbClr val="50658E"/>
                </a:solidFill>
                <a:latin typeface="IBM Plex Mono Medium"/>
                <a:ea typeface="IBM Plex Mono Medium"/>
                <a:cs typeface="IBM Plex Mono Medium"/>
              </a:endParaRPr>
            </a:p>
          </p:txBody>
        </p:sp>
        <p:sp>
          <p:nvSpPr>
            <p:cNvPr id="28" name="node08.rule"/>
            <p:cNvSpPr/>
            <p:nvPr/>
          </p:nvSpPr>
          <p:spPr>
            <a:xfrm>
              <a:off x="1673349" y="4910138"/>
              <a:ext cx="2479551" cy="9525"/>
            </a:xfrm>
            <a:prstGeom prst="rect">
              <a:avLst/>
            </a:prstGeom>
            <a:solidFill>
              <a:srgbClr val="CED7E6"/>
            </a:solidFill>
            <a:ln>
              <a:noFill/>
            </a:ln>
          </p:spPr>
        </p:sp>
      </p:grpSp>
      <p:sp>
        <p:nvSpPr>
          <p:cNvPr id="29" name="node09"/>
          <p:cNvSpPr/>
          <p:nvPr/>
        </p:nvSpPr>
        <p:spPr>
          <a:xfrm>
            <a:off x="723900" y="5029200"/>
            <a:ext cx="3429000" cy="9525"/>
          </a:xfrm>
          <a:prstGeom prst="rect">
            <a:avLst/>
          </a:prstGeom>
          <a:solidFill>
            <a:srgbClr val="CED7E6"/>
          </a:solidFill>
          <a:ln>
            <a:noFill/>
          </a:ln>
        </p:spPr>
      </p:sp>
      <p:grpSp>
        <p:nvGrpSpPr>
          <p:cNvPr id="40" name="node10"/>
          <p:cNvGrpSpPr/>
          <p:nvPr/>
        </p:nvGrpSpPr>
        <p:grpSpPr>
          <a:xfrm>
            <a:off x="723900" y="5257800"/>
            <a:ext cx="3429000" cy="469900"/>
            <a:chOff x="723900" y="5257800"/>
            <a:chExt cx="3429000" cy="469900"/>
          </a:xfrm>
        </p:grpSpPr>
        <p:sp>
          <p:nvSpPr>
            <p:cNvPr id="30" name="node10.source-001.bullet"/>
            <p:cNvSpPr/>
            <p:nvPr/>
          </p:nvSpPr>
          <p:spPr>
            <a:xfrm>
              <a:off x="723900" y="5346700"/>
              <a:ext cx="38100" cy="38100"/>
            </a:xfrm>
            <a:prstGeom prst="rect">
              <a:avLst/>
            </a:prstGeom>
            <a:solidFill>
              <a:srgbClr val="070154"/>
            </a:solidFill>
            <a:ln>
              <a:noFill/>
            </a:ln>
          </p:spPr>
        </p:sp>
        <p:sp>
          <p:nvSpPr>
            <p:cNvPr id="31" name="node10.source-001.text"/>
            <p:cNvSpPr/>
            <p:nvPr/>
          </p:nvSpPr>
          <p:spPr>
            <a:xfrm>
              <a:off x="876300" y="5257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Timeboxes hold; parking lot for the rest</a:t>
              </a:r>
              <a:endParaRPr lang="en-US" sz="1200" spc="0" kern="0" b="0" i="0" dirty="0">
                <a:solidFill>
                  <a:srgbClr val="070154"/>
                </a:solidFill>
                <a:latin typeface="IBM Plex Sans"/>
                <a:ea typeface="IBM Plex Sans"/>
                <a:cs typeface="IBM Plex Sans"/>
              </a:endParaRPr>
            </a:p>
          </p:txBody>
        </p:sp>
        <p:sp>
          <p:nvSpPr>
            <p:cNvPr id="32" name="node10.source-002.bullet"/>
            <p:cNvSpPr/>
            <p:nvPr/>
          </p:nvSpPr>
          <p:spPr>
            <a:xfrm>
              <a:off x="723900" y="5600700"/>
              <a:ext cx="38100" cy="38100"/>
            </a:xfrm>
            <a:prstGeom prst="rect">
              <a:avLst/>
            </a:prstGeom>
            <a:solidFill>
              <a:srgbClr val="070154"/>
            </a:solidFill>
            <a:ln>
              <a:noFill/>
            </a:ln>
          </p:spPr>
        </p:sp>
        <p:sp>
          <p:nvSpPr>
            <p:cNvPr id="33" name="node10.source-002.text"/>
            <p:cNvSpPr/>
            <p:nvPr/>
          </p:nvSpPr>
          <p:spPr>
            <a:xfrm>
              <a:off x="876300" y="5511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Every decision gets an owner and a date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ource-62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FACILITATOR GUIDE · INTERNAL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Design by area: guide for the 60-minute segment</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314450"/>
          </a:xfrm>
          <a:prstGeom prst="rect">
            <a:avLst/>
          </a:prstGeom>
          <a:solidFill>
            <a:srgbClr val="E8EEF8"/>
          </a:solidFill>
          <a:ln>
            <a:noFill/>
          </a:ln>
        </p:spPr>
      </p:sp>
      <p:sp>
        <p:nvSpPr>
          <p:cNvPr id="6"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RECAP</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847850"/>
            <a:ext cx="228600" cy="1314450"/>
          </a:xfrm>
          <a:prstGeom prst="rect">
            <a:avLst/>
          </a:prstGeom>
          <a:solidFill>
            <a:srgbClr val="070154"/>
          </a:solidFill>
          <a:ln>
            <a:noFill/>
          </a:ln>
        </p:spPr>
      </p:sp>
      <p:sp>
        <p:nvSpPr>
          <p:cNvPr id="8"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DESIGN</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3238500"/>
            <a:ext cx="228600" cy="1314450"/>
          </a:xfrm>
          <a:prstGeom prst="rect">
            <a:avLst/>
          </a:prstGeom>
          <a:solidFill>
            <a:srgbClr val="E8EEF8"/>
          </a:solidFill>
          <a:ln>
            <a:noFill/>
          </a:ln>
        </p:spPr>
      </p:sp>
      <p:sp>
        <p:nvSpPr>
          <p:cNvPr id="10"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PLAYBACK</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4629150"/>
            <a:ext cx="228600" cy="1314450"/>
          </a:xfrm>
          <a:prstGeom prst="rect">
            <a:avLst/>
          </a:prstGeom>
          <a:solidFill>
            <a:srgbClr val="E8EEF8"/>
          </a:solidFill>
          <a:ln>
            <a:noFill/>
          </a:ln>
        </p:spPr>
      </p:sp>
      <p:sp>
        <p:nvSpPr>
          <p:cNvPr id="12"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DECIDE</a:t>
            </a:r>
            <a:endParaRPr lang="en-US" sz="800" spc="80" kern="0" b="0" i="0" dirty="0">
              <a:solidFill>
                <a:srgbClr val="50658E"/>
              </a:solidFill>
              <a:latin typeface="IBM Plex Mono SemiBold"/>
              <a:ea typeface="IBM Plex Mono SemiBold"/>
              <a:cs typeface="IBM Plex Mono SemiBold"/>
            </a:endParaRPr>
          </a:p>
        </p:txBody>
      </p:sp>
      <p:sp>
        <p:nvSpPr>
          <p:cNvPr id="1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174</a:t>
            </a:fld>
            <a:endParaRPr lang="en-US" sz="700" spc="0" kern="0" b="0" i="0" dirty="0">
              <a:solidFill>
                <a:srgbClr val="070154"/>
              </a:solidFill>
              <a:latin typeface="IBM Plex Mono SemiBold"/>
              <a:ea typeface="IBM Plex Mono SemiBold"/>
              <a:cs typeface="IBM Plex Mono SemiBold"/>
            </a:endParaRPr>
          </a:p>
        </p:txBody>
      </p:sp>
      <p:grpSp>
        <p:nvGrpSpPr>
          <p:cNvPr id="72" name="node01"/>
          <p:cNvGrpSpPr/>
          <p:nvPr/>
        </p:nvGrpSpPr>
        <p:grpSpPr>
          <a:xfrm>
            <a:off x="723900" y="1600200"/>
            <a:ext cx="10744200" cy="914400"/>
            <a:chOff x="723900" y="1600200"/>
            <a:chExt cx="10744200" cy="914400"/>
          </a:xfrm>
        </p:grpSpPr>
        <p:sp>
          <p:nvSpPr>
            <p:cNvPr id="14" name="node01.surface"/>
            <p:cNvSpPr/>
            <p:nvPr/>
          </p:nvSpPr>
          <p:spPr>
            <a:xfrm>
              <a:off x="723900" y="1600200"/>
              <a:ext cx="10744200" cy="914400"/>
            </a:xfrm>
            <a:prstGeom prst="rect">
              <a:avLst/>
            </a:prstGeom>
            <a:solidFill>
              <a:srgbClr val="070154"/>
            </a:solidFill>
            <a:ln>
              <a:noFill/>
            </a:ln>
          </p:spPr>
        </p:sp>
      </p:grpSp>
      <p:grpSp>
        <p:nvGrpSpPr>
          <p:cNvPr id="73" name="node02"/>
          <p:cNvGrpSpPr/>
          <p:nvPr/>
        </p:nvGrpSpPr>
        <p:grpSpPr>
          <a:xfrm>
            <a:off x="952500" y="1828800"/>
            <a:ext cx="7620000" cy="139700"/>
            <a:chOff x="952500" y="1828800"/>
            <a:chExt cx="7620000" cy="139700"/>
          </a:xfrm>
        </p:grpSpPr>
        <p:sp>
          <p:nvSpPr>
            <p:cNvPr id="15" name="node02.text"/>
            <p:cNvSpPr/>
            <p:nvPr/>
          </p:nvSpPr>
          <p:spPr>
            <a:xfrm>
              <a:off x="952500" y="1828800"/>
              <a:ext cx="7620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OBJECTIVE · 9:45 TO 10:45</a:t>
              </a:r>
              <a:endParaRPr lang="en-US" sz="800" spc="48" kern="0" b="0" i="0" dirty="0">
                <a:solidFill>
                  <a:srgbClr val="FFFFFF"/>
                </a:solidFill>
                <a:latin typeface="IBM Plex Mono Medium"/>
                <a:ea typeface="IBM Plex Mono Medium"/>
                <a:cs typeface="IBM Plex Mono Medium"/>
              </a:endParaRPr>
            </a:p>
          </p:txBody>
        </p:sp>
      </p:grpSp>
      <p:grpSp>
        <p:nvGrpSpPr>
          <p:cNvPr id="74" name="node03"/>
          <p:cNvGrpSpPr/>
          <p:nvPr/>
        </p:nvGrpSpPr>
        <p:grpSpPr>
          <a:xfrm>
            <a:off x="952500" y="2057400"/>
            <a:ext cx="8001000" cy="215900"/>
            <a:chOff x="952500" y="2057400"/>
            <a:chExt cx="8001000" cy="215900"/>
          </a:xfrm>
        </p:grpSpPr>
        <p:sp>
          <p:nvSpPr>
            <p:cNvPr id="16" name="node03.text"/>
            <p:cNvSpPr/>
            <p:nvPr/>
          </p:nvSpPr>
          <p:spPr>
            <a:xfrm>
              <a:off x="952500" y="2057400"/>
              <a:ext cx="800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Leave with a future-state sketch for each area and the gaps that block it.</a:t>
              </a:r>
              <a:endParaRPr lang="en-US" sz="1200" spc="0" kern="0" b="0" i="0" dirty="0">
                <a:solidFill>
                  <a:srgbClr val="FFFFFF"/>
                </a:solidFill>
                <a:latin typeface="IBM Plex Sans"/>
                <a:ea typeface="IBM Plex Sans"/>
                <a:cs typeface="IBM Plex Sans"/>
              </a:endParaRPr>
            </a:p>
          </p:txBody>
        </p:sp>
      </p:grpSp>
      <p:grpSp>
        <p:nvGrpSpPr>
          <p:cNvPr id="75" name="node04"/>
          <p:cNvGrpSpPr/>
          <p:nvPr/>
        </p:nvGrpSpPr>
        <p:grpSpPr>
          <a:xfrm>
            <a:off x="9410700" y="1828800"/>
            <a:ext cx="1828800" cy="139700"/>
            <a:chOff x="9410700" y="1828800"/>
            <a:chExt cx="1828800" cy="139700"/>
          </a:xfrm>
        </p:grpSpPr>
        <p:sp>
          <p:nvSpPr>
            <p:cNvPr id="17" name="node04.text"/>
            <p:cNvSpPr/>
            <p:nvPr/>
          </p:nvSpPr>
          <p:spPr>
            <a:xfrm>
              <a:off x="9410700" y="1828800"/>
              <a:ext cx="1828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TIME BOX</a:t>
              </a:r>
              <a:endParaRPr lang="en-US" sz="800" spc="48" kern="0" b="0" i="0" dirty="0">
                <a:solidFill>
                  <a:srgbClr val="FFFFFF"/>
                </a:solidFill>
                <a:latin typeface="IBM Plex Mono Medium"/>
                <a:ea typeface="IBM Plex Mono Medium"/>
                <a:cs typeface="IBM Plex Mono Medium"/>
              </a:endParaRPr>
            </a:p>
          </p:txBody>
        </p:sp>
      </p:grpSp>
      <p:grpSp>
        <p:nvGrpSpPr>
          <p:cNvPr id="76" name="node05"/>
          <p:cNvGrpSpPr/>
          <p:nvPr/>
        </p:nvGrpSpPr>
        <p:grpSpPr>
          <a:xfrm>
            <a:off x="9410700" y="2057400"/>
            <a:ext cx="1828800" cy="330200"/>
            <a:chOff x="9410700" y="2057400"/>
            <a:chExt cx="1828800" cy="330200"/>
          </a:xfrm>
        </p:grpSpPr>
        <p:sp>
          <p:nvSpPr>
            <p:cNvPr id="18" name="node05.text"/>
            <p:cNvSpPr/>
            <p:nvPr/>
          </p:nvSpPr>
          <p:spPr>
            <a:xfrm>
              <a:off x="9410700" y="2057400"/>
              <a:ext cx="18288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FFFFFF"/>
                  </a:solidFill>
                  <a:latin typeface="IBM Plex Sans SemiBold"/>
                  <a:ea typeface="IBM Plex Sans SemiBold"/>
                  <a:cs typeface="IBM Plex Sans SemiBold"/>
                </a:rPr>
                <a:t>60 min</a:t>
              </a:r>
              <a:endParaRPr lang="en-US" sz="2100" spc="-32" kern="0" b="0" i="0" dirty="0">
                <a:solidFill>
                  <a:srgbClr val="FFFFFF"/>
                </a:solidFill>
                <a:latin typeface="IBM Plex Sans SemiBold"/>
                <a:ea typeface="IBM Plex Sans SemiBold"/>
                <a:cs typeface="IBM Plex Sans SemiBold"/>
              </a:endParaRPr>
            </a:p>
          </p:txBody>
        </p:sp>
      </p:grpSp>
      <p:grpSp>
        <p:nvGrpSpPr>
          <p:cNvPr id="77" name="node06"/>
          <p:cNvGrpSpPr/>
          <p:nvPr/>
        </p:nvGrpSpPr>
        <p:grpSpPr>
          <a:xfrm>
            <a:off x="723900" y="2743200"/>
            <a:ext cx="5257800" cy="228600"/>
            <a:chOff x="723900" y="2743200"/>
            <a:chExt cx="5257800" cy="228600"/>
          </a:xfrm>
        </p:grpSpPr>
        <p:sp>
          <p:nvSpPr>
            <p:cNvPr id="19" name="node06.label"/>
            <p:cNvSpPr/>
            <p:nvPr/>
          </p:nvSpPr>
          <p:spPr>
            <a:xfrm>
              <a:off x="723900" y="2743200"/>
              <a:ext cx="1088132"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QUESTIONS TO ASK</a:t>
              </a:r>
              <a:endParaRPr lang="en-US" sz="800" spc="48" kern="0" b="0" i="0" dirty="0">
                <a:solidFill>
                  <a:srgbClr val="50658E"/>
                </a:solidFill>
                <a:latin typeface="IBM Plex Mono Medium"/>
                <a:ea typeface="IBM Plex Mono Medium"/>
                <a:cs typeface="IBM Plex Mono Medium"/>
              </a:endParaRPr>
            </a:p>
          </p:txBody>
        </p:sp>
        <p:sp>
          <p:nvSpPr>
            <p:cNvPr id="20" name="node06.rule"/>
            <p:cNvSpPr/>
            <p:nvPr/>
          </p:nvSpPr>
          <p:spPr>
            <a:xfrm>
              <a:off x="1939032" y="2852738"/>
              <a:ext cx="4042668" cy="9525"/>
            </a:xfrm>
            <a:prstGeom prst="rect">
              <a:avLst/>
            </a:prstGeom>
            <a:solidFill>
              <a:srgbClr val="CED7E6"/>
            </a:solidFill>
            <a:ln>
              <a:noFill/>
            </a:ln>
          </p:spPr>
        </p:sp>
      </p:grpSp>
      <p:sp>
        <p:nvSpPr>
          <p:cNvPr id="21" name="node07"/>
          <p:cNvSpPr/>
          <p:nvPr/>
        </p:nvSpPr>
        <p:spPr>
          <a:xfrm>
            <a:off x="723900" y="2971800"/>
            <a:ext cx="5257800" cy="9525"/>
          </a:xfrm>
          <a:prstGeom prst="rect">
            <a:avLst/>
          </a:prstGeom>
          <a:solidFill>
            <a:srgbClr val="CED7E6"/>
          </a:solidFill>
          <a:ln>
            <a:noFill/>
          </a:ln>
        </p:spPr>
      </p:sp>
      <p:grpSp>
        <p:nvGrpSpPr>
          <p:cNvPr id="78" name="node08"/>
          <p:cNvGrpSpPr/>
          <p:nvPr/>
        </p:nvGrpSpPr>
        <p:grpSpPr>
          <a:xfrm>
            <a:off x="723900" y="3200400"/>
            <a:ext cx="5257800" cy="1739900"/>
            <a:chOff x="723900" y="3200400"/>
            <a:chExt cx="5257800" cy="1739900"/>
          </a:xfrm>
        </p:grpSpPr>
        <p:sp>
          <p:nvSpPr>
            <p:cNvPr id="22" name="node08.source-001.bullet"/>
            <p:cNvSpPr/>
            <p:nvPr/>
          </p:nvSpPr>
          <p:spPr>
            <a:xfrm>
              <a:off x="723900" y="3289300"/>
              <a:ext cx="38100" cy="38100"/>
            </a:xfrm>
            <a:prstGeom prst="rect">
              <a:avLst/>
            </a:prstGeom>
            <a:solidFill>
              <a:srgbClr val="070154"/>
            </a:solidFill>
            <a:ln>
              <a:noFill/>
            </a:ln>
          </p:spPr>
        </p:sp>
        <p:sp>
          <p:nvSpPr>
            <p:cNvPr id="23" name="node08.source-001.text"/>
            <p:cNvSpPr/>
            <p:nvPr/>
          </p:nvSpPr>
          <p:spPr>
            <a:xfrm>
              <a:off x="876300" y="3200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Open:</a:t>
              </a:r>
              <a:r>
                <a:rPr lang="en-US" sz="1200" spc="0" kern="0" b="0" i="0" dirty="0">
                  <a:solidFill>
                    <a:srgbClr val="50658E"/>
                  </a:solidFill>
                  <a:latin typeface="IBM Plex Sans"/>
                  <a:ea typeface="IBM Plex Sans"/>
                  <a:cs typeface="IBM Plex Sans"/>
                </a:rPr>
                <a:t xml:space="preserve"> Which step costs a patient the most time today?</a:t>
              </a:r>
              <a:endParaRPr lang="en-US" sz="1200" spc="0" kern="0" b="0" i="0" dirty="0">
                <a:solidFill>
                  <a:srgbClr val="070154"/>
                </a:solidFill>
                <a:latin typeface="IBM Plex Sans"/>
                <a:ea typeface="IBM Plex Sans"/>
                <a:cs typeface="IBM Plex Sans"/>
              </a:endParaRPr>
            </a:p>
          </p:txBody>
        </p:sp>
        <p:sp>
          <p:nvSpPr>
            <p:cNvPr id="24" name="node08.source-002.bullet"/>
            <p:cNvSpPr/>
            <p:nvPr/>
          </p:nvSpPr>
          <p:spPr>
            <a:xfrm>
              <a:off x="723900" y="3543300"/>
              <a:ext cx="38100" cy="38100"/>
            </a:xfrm>
            <a:prstGeom prst="rect">
              <a:avLst/>
            </a:prstGeom>
            <a:solidFill>
              <a:srgbClr val="070154"/>
            </a:solidFill>
            <a:ln>
              <a:noFill/>
            </a:ln>
          </p:spPr>
        </p:sp>
        <p:sp>
          <p:nvSpPr>
            <p:cNvPr id="25" name="node08.source-002.text"/>
            <p:cNvSpPr/>
            <p:nvPr/>
          </p:nvSpPr>
          <p:spPr>
            <a:xfrm>
              <a:off x="876300" y="3454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Probe:</a:t>
              </a:r>
              <a:r>
                <a:rPr lang="en-US" sz="1200" spc="0" kern="0" b="0" i="0" dirty="0">
                  <a:solidFill>
                    <a:srgbClr val="50658E"/>
                  </a:solidFill>
                  <a:latin typeface="IBM Plex Sans"/>
                  <a:ea typeface="IBM Plex Sans"/>
                  <a:cs typeface="IBM Plex Sans"/>
                </a:rPr>
                <a:t xml:space="preserve"> Where does the work wait, and who is it waiting on?</a:t>
              </a:r>
              <a:endParaRPr lang="en-US" sz="1200" spc="0" kern="0" b="0" i="0" dirty="0">
                <a:solidFill>
                  <a:srgbClr val="070154"/>
                </a:solidFill>
                <a:latin typeface="IBM Plex Sans"/>
                <a:ea typeface="IBM Plex Sans"/>
                <a:cs typeface="IBM Plex Sans"/>
              </a:endParaRPr>
            </a:p>
          </p:txBody>
        </p:sp>
        <p:sp>
          <p:nvSpPr>
            <p:cNvPr id="26" name="node08.source-003.bullet"/>
            <p:cNvSpPr/>
            <p:nvPr/>
          </p:nvSpPr>
          <p:spPr>
            <a:xfrm>
              <a:off x="723900" y="3797300"/>
              <a:ext cx="38100" cy="38100"/>
            </a:xfrm>
            <a:prstGeom prst="rect">
              <a:avLst/>
            </a:prstGeom>
            <a:solidFill>
              <a:srgbClr val="070154"/>
            </a:solidFill>
            <a:ln>
              <a:noFill/>
            </a:ln>
          </p:spPr>
        </p:sp>
        <p:sp>
          <p:nvSpPr>
            <p:cNvPr id="27" name="node08.source-003.text"/>
            <p:cNvSpPr/>
            <p:nvPr/>
          </p:nvSpPr>
          <p:spPr>
            <a:xfrm>
              <a:off x="876300" y="3708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Probe:</a:t>
              </a:r>
              <a:r>
                <a:rPr lang="en-US" sz="1200" spc="0" kern="0" b="0" i="0" dirty="0">
                  <a:solidFill>
                    <a:srgbClr val="50658E"/>
                  </a:solidFill>
                  <a:latin typeface="IBM Plex Sans"/>
                  <a:ea typeface="IBM Plex Sans"/>
                  <a:cs typeface="IBM Plex Sans"/>
                </a:rPr>
                <a:t xml:space="preserve"> What do you do when the system says no?</a:t>
              </a:r>
              <a:endParaRPr lang="en-US" sz="1200" spc="0" kern="0" b="0" i="0" dirty="0">
                <a:solidFill>
                  <a:srgbClr val="070154"/>
                </a:solidFill>
                <a:latin typeface="IBM Plex Sans"/>
                <a:ea typeface="IBM Plex Sans"/>
                <a:cs typeface="IBM Plex Sans"/>
              </a:endParaRPr>
            </a:p>
          </p:txBody>
        </p:sp>
        <p:sp>
          <p:nvSpPr>
            <p:cNvPr id="28" name="node08.source-004.bullet"/>
            <p:cNvSpPr/>
            <p:nvPr/>
          </p:nvSpPr>
          <p:spPr>
            <a:xfrm>
              <a:off x="723900" y="4051300"/>
              <a:ext cx="38100" cy="38100"/>
            </a:xfrm>
            <a:prstGeom prst="rect">
              <a:avLst/>
            </a:prstGeom>
            <a:solidFill>
              <a:srgbClr val="070154"/>
            </a:solidFill>
            <a:ln>
              <a:noFill/>
            </a:ln>
          </p:spPr>
        </p:sp>
        <p:sp>
          <p:nvSpPr>
            <p:cNvPr id="29" name="node08.source-004.text"/>
            <p:cNvSpPr/>
            <p:nvPr/>
          </p:nvSpPr>
          <p:spPr>
            <a:xfrm>
              <a:off x="876300" y="3962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Probe:</a:t>
              </a:r>
              <a:r>
                <a:rPr lang="en-US" sz="1200" spc="0" kern="0" b="0" i="0" dirty="0">
                  <a:solidFill>
                    <a:srgbClr val="50658E"/>
                  </a:solidFill>
                  <a:latin typeface="IBM Plex Sans"/>
                  <a:ea typeface="IBM Plex Sans"/>
                  <a:cs typeface="IBM Plex Sans"/>
                </a:rPr>
                <a:t xml:space="preserve"> Which step would you remove first, and what breaks?</a:t>
              </a:r>
              <a:endParaRPr lang="en-US" sz="1200" spc="0" kern="0" b="0" i="0" dirty="0">
                <a:solidFill>
                  <a:srgbClr val="070154"/>
                </a:solidFill>
                <a:latin typeface="IBM Plex Sans"/>
                <a:ea typeface="IBM Plex Sans"/>
                <a:cs typeface="IBM Plex Sans"/>
              </a:endParaRPr>
            </a:p>
          </p:txBody>
        </p:sp>
        <p:sp>
          <p:nvSpPr>
            <p:cNvPr id="30" name="node08.source-005.bullet"/>
            <p:cNvSpPr/>
            <p:nvPr/>
          </p:nvSpPr>
          <p:spPr>
            <a:xfrm>
              <a:off x="723900" y="4305300"/>
              <a:ext cx="38100" cy="38100"/>
            </a:xfrm>
            <a:prstGeom prst="rect">
              <a:avLst/>
            </a:prstGeom>
            <a:solidFill>
              <a:srgbClr val="070154"/>
            </a:solidFill>
            <a:ln>
              <a:noFill/>
            </a:ln>
          </p:spPr>
        </p:sp>
        <p:sp>
          <p:nvSpPr>
            <p:cNvPr id="31" name="node08.source-005.text"/>
            <p:cNvSpPr/>
            <p:nvPr/>
          </p:nvSpPr>
          <p:spPr>
            <a:xfrm>
              <a:off x="876300" y="4216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Probe:</a:t>
              </a:r>
              <a:r>
                <a:rPr lang="en-US" sz="1200" spc="0" kern="0" b="0" i="0" dirty="0">
                  <a:solidFill>
                    <a:srgbClr val="50658E"/>
                  </a:solidFill>
                  <a:latin typeface="IBM Plex Sans"/>
                  <a:ea typeface="IBM Plex Sans"/>
                  <a:cs typeface="IBM Plex Sans"/>
                </a:rPr>
                <a:t xml:space="preserve"> Who outside this room feels this change?</a:t>
              </a:r>
              <a:endParaRPr lang="en-US" sz="1200" spc="0" kern="0" b="0" i="0" dirty="0">
                <a:solidFill>
                  <a:srgbClr val="070154"/>
                </a:solidFill>
                <a:latin typeface="IBM Plex Sans"/>
                <a:ea typeface="IBM Plex Sans"/>
                <a:cs typeface="IBM Plex Sans"/>
              </a:endParaRPr>
            </a:p>
          </p:txBody>
        </p:sp>
        <p:sp>
          <p:nvSpPr>
            <p:cNvPr id="32" name="node08.source-006.bullet"/>
            <p:cNvSpPr/>
            <p:nvPr/>
          </p:nvSpPr>
          <p:spPr>
            <a:xfrm>
              <a:off x="723900" y="4559300"/>
              <a:ext cx="38100" cy="38100"/>
            </a:xfrm>
            <a:prstGeom prst="rect">
              <a:avLst/>
            </a:prstGeom>
            <a:solidFill>
              <a:srgbClr val="070154"/>
            </a:solidFill>
            <a:ln>
              <a:noFill/>
            </a:ln>
          </p:spPr>
        </p:sp>
        <p:sp>
          <p:nvSpPr>
            <p:cNvPr id="33" name="node08.source-006.text"/>
            <p:cNvSpPr/>
            <p:nvPr/>
          </p:nvSpPr>
          <p:spPr>
            <a:xfrm>
              <a:off x="876300" y="4470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Probe:</a:t>
              </a:r>
              <a:r>
                <a:rPr lang="en-US" sz="1200" spc="0" kern="0" b="0" i="0" dirty="0">
                  <a:solidFill>
                    <a:srgbClr val="50658E"/>
                  </a:solidFill>
                  <a:latin typeface="IBM Plex Sans"/>
                  <a:ea typeface="IBM Plex Sans"/>
                  <a:cs typeface="IBM Plex Sans"/>
                </a:rPr>
                <a:t xml:space="preserve"> How often does this happen, and how do we know?</a:t>
              </a:r>
              <a:endParaRPr lang="en-US" sz="1200" spc="0" kern="0" b="0" i="0" dirty="0">
                <a:solidFill>
                  <a:srgbClr val="070154"/>
                </a:solidFill>
                <a:latin typeface="IBM Plex Sans"/>
                <a:ea typeface="IBM Plex Sans"/>
                <a:cs typeface="IBM Plex Sans"/>
              </a:endParaRPr>
            </a:p>
          </p:txBody>
        </p:sp>
        <p:sp>
          <p:nvSpPr>
            <p:cNvPr id="34" name="node08.source-007.bullet"/>
            <p:cNvSpPr/>
            <p:nvPr/>
          </p:nvSpPr>
          <p:spPr>
            <a:xfrm>
              <a:off x="723900" y="4813300"/>
              <a:ext cx="38100" cy="38100"/>
            </a:xfrm>
            <a:prstGeom prst="rect">
              <a:avLst/>
            </a:prstGeom>
            <a:solidFill>
              <a:srgbClr val="070154"/>
            </a:solidFill>
            <a:ln>
              <a:noFill/>
            </a:ln>
          </p:spPr>
        </p:sp>
        <p:sp>
          <p:nvSpPr>
            <p:cNvPr id="35" name="node08.source-007.text"/>
            <p:cNvSpPr/>
            <p:nvPr/>
          </p:nvSpPr>
          <p:spPr>
            <a:xfrm>
              <a:off x="876300" y="4724400"/>
              <a:ext cx="5105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Test:</a:t>
              </a:r>
              <a:r>
                <a:rPr lang="en-US" sz="1200" spc="0" kern="0" b="0" i="0" dirty="0">
                  <a:solidFill>
                    <a:srgbClr val="50658E"/>
                  </a:solidFill>
                  <a:latin typeface="IBM Plex Sans"/>
                  <a:ea typeface="IBM Plex Sans"/>
                  <a:cs typeface="IBM Plex Sans"/>
                </a:rPr>
                <a:t xml:space="preserve"> If we did only this, would you stand behind it on Monday?</a:t>
              </a:r>
              <a:endParaRPr lang="en-US" sz="1200" spc="0" kern="0" b="0" i="0" dirty="0">
                <a:solidFill>
                  <a:srgbClr val="070154"/>
                </a:solidFill>
                <a:latin typeface="IBM Plex Sans"/>
                <a:ea typeface="IBM Plex Sans"/>
                <a:cs typeface="IBM Plex Sans"/>
              </a:endParaRPr>
            </a:p>
          </p:txBody>
        </p:sp>
      </p:grpSp>
      <p:grpSp>
        <p:nvGrpSpPr>
          <p:cNvPr id="79" name="node09"/>
          <p:cNvGrpSpPr/>
          <p:nvPr/>
        </p:nvGrpSpPr>
        <p:grpSpPr>
          <a:xfrm>
            <a:off x="6210300" y="2743200"/>
            <a:ext cx="2514600" cy="228600"/>
            <a:chOff x="6210300" y="2743200"/>
            <a:chExt cx="2514600" cy="228600"/>
          </a:xfrm>
        </p:grpSpPr>
        <p:sp>
          <p:nvSpPr>
            <p:cNvPr id="36" name="node09.label"/>
            <p:cNvSpPr/>
            <p:nvPr/>
          </p:nvSpPr>
          <p:spPr>
            <a:xfrm>
              <a:off x="6210300" y="2743200"/>
              <a:ext cx="689608"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LISTEN FOR</a:t>
              </a:r>
              <a:endParaRPr lang="en-US" sz="800" spc="48" kern="0" b="0" i="0" dirty="0">
                <a:solidFill>
                  <a:srgbClr val="50658E"/>
                </a:solidFill>
                <a:latin typeface="IBM Plex Mono Medium"/>
                <a:ea typeface="IBM Plex Mono Medium"/>
                <a:cs typeface="IBM Plex Mono Medium"/>
              </a:endParaRPr>
            </a:p>
          </p:txBody>
        </p:sp>
        <p:sp>
          <p:nvSpPr>
            <p:cNvPr id="37" name="node09.rule"/>
            <p:cNvSpPr/>
            <p:nvPr/>
          </p:nvSpPr>
          <p:spPr>
            <a:xfrm>
              <a:off x="7026908" y="2852738"/>
              <a:ext cx="1697992" cy="9525"/>
            </a:xfrm>
            <a:prstGeom prst="rect">
              <a:avLst/>
            </a:prstGeom>
            <a:solidFill>
              <a:srgbClr val="CED7E6"/>
            </a:solidFill>
            <a:ln>
              <a:noFill/>
            </a:ln>
          </p:spPr>
        </p:sp>
      </p:grpSp>
      <p:sp>
        <p:nvSpPr>
          <p:cNvPr id="38" name="node10"/>
          <p:cNvSpPr/>
          <p:nvPr/>
        </p:nvSpPr>
        <p:spPr>
          <a:xfrm>
            <a:off x="6210300" y="2971800"/>
            <a:ext cx="2514600" cy="9525"/>
          </a:xfrm>
          <a:prstGeom prst="rect">
            <a:avLst/>
          </a:prstGeom>
          <a:solidFill>
            <a:srgbClr val="CED7E6"/>
          </a:solidFill>
          <a:ln>
            <a:noFill/>
          </a:ln>
        </p:spPr>
      </p:sp>
      <p:grpSp>
        <p:nvGrpSpPr>
          <p:cNvPr id="80" name="node11"/>
          <p:cNvGrpSpPr/>
          <p:nvPr/>
        </p:nvGrpSpPr>
        <p:grpSpPr>
          <a:xfrm>
            <a:off x="6210300" y="3200400"/>
            <a:ext cx="2514600" cy="1193800"/>
            <a:chOff x="6210300" y="3200400"/>
            <a:chExt cx="2514600" cy="1193800"/>
          </a:xfrm>
        </p:grpSpPr>
        <p:sp>
          <p:nvSpPr>
            <p:cNvPr id="39" name="node11.source-001.bullet"/>
            <p:cNvSpPr/>
            <p:nvPr/>
          </p:nvSpPr>
          <p:spPr>
            <a:xfrm>
              <a:off x="6210300" y="3289300"/>
              <a:ext cx="38100" cy="38100"/>
            </a:xfrm>
            <a:prstGeom prst="rect">
              <a:avLst/>
            </a:prstGeom>
            <a:solidFill>
              <a:srgbClr val="070154"/>
            </a:solidFill>
            <a:ln>
              <a:noFill/>
            </a:ln>
          </p:spPr>
        </p:sp>
        <p:sp>
          <p:nvSpPr>
            <p:cNvPr id="40" name="node11.source-001.text"/>
            <p:cNvSpPr/>
            <p:nvPr/>
          </p:nvSpPr>
          <p:spPr>
            <a:xfrm>
              <a:off x="6362700" y="3200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Workarounds nobody wrote down</a:t>
              </a:r>
              <a:endParaRPr lang="en-US" sz="1200" spc="0" kern="0" b="0" i="0" dirty="0">
                <a:solidFill>
                  <a:srgbClr val="070154"/>
                </a:solidFill>
                <a:latin typeface="IBM Plex Sans"/>
                <a:ea typeface="IBM Plex Sans"/>
                <a:cs typeface="IBM Plex Sans"/>
              </a:endParaRPr>
            </a:p>
          </p:txBody>
        </p:sp>
        <p:sp>
          <p:nvSpPr>
            <p:cNvPr id="41" name="node11.source-002.bullet"/>
            <p:cNvSpPr/>
            <p:nvPr/>
          </p:nvSpPr>
          <p:spPr>
            <a:xfrm>
              <a:off x="6210300" y="3543300"/>
              <a:ext cx="38100" cy="38100"/>
            </a:xfrm>
            <a:prstGeom prst="rect">
              <a:avLst/>
            </a:prstGeom>
            <a:solidFill>
              <a:srgbClr val="070154"/>
            </a:solidFill>
            <a:ln>
              <a:noFill/>
            </a:ln>
          </p:spPr>
        </p:sp>
        <p:sp>
          <p:nvSpPr>
            <p:cNvPr id="42" name="node11.source-002.text"/>
            <p:cNvSpPr/>
            <p:nvPr/>
          </p:nvSpPr>
          <p:spPr>
            <a:xfrm>
              <a:off x="6362700" y="3454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Handoffs with no owner</a:t>
              </a:r>
              <a:endParaRPr lang="en-US" sz="1200" spc="0" kern="0" b="0" i="0" dirty="0">
                <a:solidFill>
                  <a:srgbClr val="070154"/>
                </a:solidFill>
                <a:latin typeface="IBM Plex Sans"/>
                <a:ea typeface="IBM Plex Sans"/>
                <a:cs typeface="IBM Plex Sans"/>
              </a:endParaRPr>
            </a:p>
          </p:txBody>
        </p:sp>
        <p:sp>
          <p:nvSpPr>
            <p:cNvPr id="43" name="node11.source-003.bullet"/>
            <p:cNvSpPr/>
            <p:nvPr/>
          </p:nvSpPr>
          <p:spPr>
            <a:xfrm>
              <a:off x="6210300" y="3797300"/>
              <a:ext cx="38100" cy="38100"/>
            </a:xfrm>
            <a:prstGeom prst="rect">
              <a:avLst/>
            </a:prstGeom>
            <a:solidFill>
              <a:srgbClr val="070154"/>
            </a:solidFill>
            <a:ln>
              <a:noFill/>
            </a:ln>
          </p:spPr>
        </p:sp>
        <p:sp>
          <p:nvSpPr>
            <p:cNvPr id="44" name="node11.source-003.text"/>
            <p:cNvSpPr/>
            <p:nvPr/>
          </p:nvSpPr>
          <p:spPr>
            <a:xfrm>
              <a:off x="6362700" y="37084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Quick win: one fix, one owner, 30 days</a:t>
              </a:r>
              <a:endParaRPr lang="en-US" sz="1200" spc="0" kern="0" b="0" i="0" dirty="0">
                <a:solidFill>
                  <a:srgbClr val="070154"/>
                </a:solidFill>
                <a:latin typeface="IBM Plex Sans"/>
                <a:ea typeface="IBM Plex Sans"/>
                <a:cs typeface="IBM Plex Sans"/>
              </a:endParaRPr>
            </a:p>
          </p:txBody>
        </p:sp>
        <p:sp>
          <p:nvSpPr>
            <p:cNvPr id="45" name="node11.source-004.bullet"/>
            <p:cNvSpPr/>
            <p:nvPr/>
          </p:nvSpPr>
          <p:spPr>
            <a:xfrm>
              <a:off x="6210300" y="4267200"/>
              <a:ext cx="38100" cy="38100"/>
            </a:xfrm>
            <a:prstGeom prst="rect">
              <a:avLst/>
            </a:prstGeom>
            <a:solidFill>
              <a:srgbClr val="070154"/>
            </a:solidFill>
            <a:ln>
              <a:noFill/>
            </a:ln>
          </p:spPr>
        </p:sp>
        <p:sp>
          <p:nvSpPr>
            <p:cNvPr id="46" name="node11.source-004.text"/>
            <p:cNvSpPr/>
            <p:nvPr/>
          </p:nvSpPr>
          <p:spPr>
            <a:xfrm>
              <a:off x="6362700" y="41783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Disagreement between areas</a:t>
              </a:r>
              <a:endParaRPr lang="en-US" sz="1200" spc="0" kern="0" b="0" i="0" dirty="0">
                <a:solidFill>
                  <a:srgbClr val="070154"/>
                </a:solidFill>
                <a:latin typeface="IBM Plex Sans"/>
                <a:ea typeface="IBM Plex Sans"/>
                <a:cs typeface="IBM Plex Sans"/>
              </a:endParaRPr>
            </a:p>
          </p:txBody>
        </p:sp>
      </p:grpSp>
      <p:grpSp>
        <p:nvGrpSpPr>
          <p:cNvPr id="81" name="node12"/>
          <p:cNvGrpSpPr/>
          <p:nvPr/>
        </p:nvGrpSpPr>
        <p:grpSpPr>
          <a:xfrm>
            <a:off x="8953500" y="2743200"/>
            <a:ext cx="2514600" cy="228600"/>
            <a:chOff x="8953500" y="2743200"/>
            <a:chExt cx="2514600" cy="228600"/>
          </a:xfrm>
        </p:grpSpPr>
        <p:sp>
          <p:nvSpPr>
            <p:cNvPr id="47" name="node12.label"/>
            <p:cNvSpPr/>
            <p:nvPr/>
          </p:nvSpPr>
          <p:spPr>
            <a:xfrm>
              <a:off x="8953500" y="2743200"/>
              <a:ext cx="689608"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WATCH-OUTS</a:t>
              </a:r>
              <a:endParaRPr lang="en-US" sz="800" spc="48" kern="0" b="0" i="0" dirty="0">
                <a:solidFill>
                  <a:srgbClr val="50658E"/>
                </a:solidFill>
                <a:latin typeface="IBM Plex Mono Medium"/>
                <a:ea typeface="IBM Plex Mono Medium"/>
                <a:cs typeface="IBM Plex Mono Medium"/>
              </a:endParaRPr>
            </a:p>
          </p:txBody>
        </p:sp>
        <p:sp>
          <p:nvSpPr>
            <p:cNvPr id="48" name="node12.rule"/>
            <p:cNvSpPr/>
            <p:nvPr/>
          </p:nvSpPr>
          <p:spPr>
            <a:xfrm>
              <a:off x="9770108" y="2852738"/>
              <a:ext cx="1697992" cy="9525"/>
            </a:xfrm>
            <a:prstGeom prst="rect">
              <a:avLst/>
            </a:prstGeom>
            <a:solidFill>
              <a:srgbClr val="CED7E6"/>
            </a:solidFill>
            <a:ln>
              <a:noFill/>
            </a:ln>
          </p:spPr>
        </p:sp>
      </p:grpSp>
      <p:sp>
        <p:nvSpPr>
          <p:cNvPr id="49" name="node13"/>
          <p:cNvSpPr/>
          <p:nvPr/>
        </p:nvSpPr>
        <p:spPr>
          <a:xfrm>
            <a:off x="8953500" y="2971800"/>
            <a:ext cx="2514600" cy="9525"/>
          </a:xfrm>
          <a:prstGeom prst="rect">
            <a:avLst/>
          </a:prstGeom>
          <a:solidFill>
            <a:srgbClr val="CED7E6"/>
          </a:solidFill>
          <a:ln>
            <a:noFill/>
          </a:ln>
        </p:spPr>
      </p:sp>
      <p:grpSp>
        <p:nvGrpSpPr>
          <p:cNvPr id="82" name="node14"/>
          <p:cNvGrpSpPr/>
          <p:nvPr/>
        </p:nvGrpSpPr>
        <p:grpSpPr>
          <a:xfrm>
            <a:off x="8953500" y="3200400"/>
            <a:ext cx="2514600" cy="977900"/>
            <a:chOff x="8953500" y="3200400"/>
            <a:chExt cx="2514600" cy="977900"/>
          </a:xfrm>
        </p:grpSpPr>
        <p:sp>
          <p:nvSpPr>
            <p:cNvPr id="50" name="node14.source-001.bullet"/>
            <p:cNvSpPr/>
            <p:nvPr/>
          </p:nvSpPr>
          <p:spPr>
            <a:xfrm>
              <a:off x="8953500" y="3289300"/>
              <a:ext cx="38100" cy="38100"/>
            </a:xfrm>
            <a:prstGeom prst="rect">
              <a:avLst/>
            </a:prstGeom>
            <a:solidFill>
              <a:srgbClr val="070154"/>
            </a:solidFill>
            <a:ln>
              <a:noFill/>
            </a:ln>
          </p:spPr>
        </p:sp>
        <p:sp>
          <p:nvSpPr>
            <p:cNvPr id="51" name="node14.source-001.text"/>
            <p:cNvSpPr/>
            <p:nvPr/>
          </p:nvSpPr>
          <p:spPr>
            <a:xfrm>
              <a:off x="9105900" y="3200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voice filling the time</a:t>
              </a:r>
              <a:endParaRPr lang="en-US" sz="1200" spc="0" kern="0" b="0" i="0" dirty="0">
                <a:solidFill>
                  <a:srgbClr val="070154"/>
                </a:solidFill>
                <a:latin typeface="IBM Plex Sans"/>
                <a:ea typeface="IBM Plex Sans"/>
                <a:cs typeface="IBM Plex Sans"/>
              </a:endParaRPr>
            </a:p>
          </p:txBody>
        </p:sp>
        <p:sp>
          <p:nvSpPr>
            <p:cNvPr id="52" name="node14.source-002.bullet"/>
            <p:cNvSpPr/>
            <p:nvPr/>
          </p:nvSpPr>
          <p:spPr>
            <a:xfrm>
              <a:off x="8953500" y="3543300"/>
              <a:ext cx="38100" cy="38100"/>
            </a:xfrm>
            <a:prstGeom prst="rect">
              <a:avLst/>
            </a:prstGeom>
            <a:solidFill>
              <a:srgbClr val="070154"/>
            </a:solidFill>
            <a:ln>
              <a:noFill/>
            </a:ln>
          </p:spPr>
        </p:sp>
        <p:sp>
          <p:nvSpPr>
            <p:cNvPr id="53" name="node14.source-002.text"/>
            <p:cNvSpPr/>
            <p:nvPr/>
          </p:nvSpPr>
          <p:spPr>
            <a:xfrm>
              <a:off x="9105900" y="3454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Solutions before the pain is clear</a:t>
              </a:r>
              <a:endParaRPr lang="en-US" sz="1200" spc="0" kern="0" b="0" i="0" dirty="0">
                <a:solidFill>
                  <a:srgbClr val="070154"/>
                </a:solidFill>
                <a:latin typeface="IBM Plex Sans"/>
                <a:ea typeface="IBM Plex Sans"/>
                <a:cs typeface="IBM Plex Sans"/>
              </a:endParaRPr>
            </a:p>
          </p:txBody>
        </p:sp>
        <p:sp>
          <p:nvSpPr>
            <p:cNvPr id="54" name="node14.source-003.bullet"/>
            <p:cNvSpPr/>
            <p:nvPr/>
          </p:nvSpPr>
          <p:spPr>
            <a:xfrm>
              <a:off x="8953500" y="3797300"/>
              <a:ext cx="38100" cy="38100"/>
            </a:xfrm>
            <a:prstGeom prst="rect">
              <a:avLst/>
            </a:prstGeom>
            <a:solidFill>
              <a:srgbClr val="070154"/>
            </a:solidFill>
            <a:ln>
              <a:noFill/>
            </a:ln>
          </p:spPr>
        </p:sp>
        <p:sp>
          <p:nvSpPr>
            <p:cNvPr id="55" name="node14.source-003.text"/>
            <p:cNvSpPr/>
            <p:nvPr/>
          </p:nvSpPr>
          <p:spPr>
            <a:xfrm>
              <a:off x="9105900" y="3708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Drift into another area</a:t>
              </a:r>
              <a:endParaRPr lang="en-US" sz="1200" spc="0" kern="0" b="0" i="0" dirty="0">
                <a:solidFill>
                  <a:srgbClr val="070154"/>
                </a:solidFill>
                <a:latin typeface="IBM Plex Sans"/>
                <a:ea typeface="IBM Plex Sans"/>
                <a:cs typeface="IBM Plex Sans"/>
              </a:endParaRPr>
            </a:p>
          </p:txBody>
        </p:sp>
        <p:sp>
          <p:nvSpPr>
            <p:cNvPr id="56" name="node14.source-004.bullet"/>
            <p:cNvSpPr/>
            <p:nvPr/>
          </p:nvSpPr>
          <p:spPr>
            <a:xfrm>
              <a:off x="8953500" y="4051300"/>
              <a:ext cx="38100" cy="38100"/>
            </a:xfrm>
            <a:prstGeom prst="rect">
              <a:avLst/>
            </a:prstGeom>
            <a:solidFill>
              <a:srgbClr val="070154"/>
            </a:solidFill>
            <a:ln>
              <a:noFill/>
            </a:ln>
          </p:spPr>
        </p:sp>
        <p:sp>
          <p:nvSpPr>
            <p:cNvPr id="57" name="node14.source-004.text"/>
            <p:cNvSpPr/>
            <p:nvPr/>
          </p:nvSpPr>
          <p:spPr>
            <a:xfrm>
              <a:off x="9105900" y="3962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Quiet tables never heard</a:t>
              </a:r>
              <a:endParaRPr lang="en-US" sz="1200" spc="0" kern="0" b="0" i="0" dirty="0">
                <a:solidFill>
                  <a:srgbClr val="070154"/>
                </a:solidFill>
                <a:latin typeface="IBM Plex Sans"/>
                <a:ea typeface="IBM Plex Sans"/>
                <a:cs typeface="IBM Plex Sans"/>
              </a:endParaRPr>
            </a:p>
          </p:txBody>
        </p:sp>
      </p:grpSp>
      <p:grpSp>
        <p:nvGrpSpPr>
          <p:cNvPr id="83" name="node15"/>
          <p:cNvGrpSpPr/>
          <p:nvPr/>
        </p:nvGrpSpPr>
        <p:grpSpPr>
          <a:xfrm>
            <a:off x="6210300" y="4572000"/>
            <a:ext cx="2514600" cy="228600"/>
            <a:chOff x="6210300" y="4572000"/>
            <a:chExt cx="2514600" cy="228600"/>
          </a:xfrm>
        </p:grpSpPr>
        <p:sp>
          <p:nvSpPr>
            <p:cNvPr id="58" name="node15.label"/>
            <p:cNvSpPr/>
            <p:nvPr/>
          </p:nvSpPr>
          <p:spPr>
            <a:xfrm>
              <a:off x="6210300" y="4572000"/>
              <a:ext cx="102171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SCRIBE CAPTURES</a:t>
              </a:r>
              <a:endParaRPr lang="en-US" sz="800" spc="48" kern="0" b="0" i="0" dirty="0">
                <a:solidFill>
                  <a:srgbClr val="50658E"/>
                </a:solidFill>
                <a:latin typeface="IBM Plex Mono Medium"/>
                <a:ea typeface="IBM Plex Mono Medium"/>
                <a:cs typeface="IBM Plex Mono Medium"/>
              </a:endParaRPr>
            </a:p>
          </p:txBody>
        </p:sp>
        <p:sp>
          <p:nvSpPr>
            <p:cNvPr id="59" name="node15.rule"/>
            <p:cNvSpPr/>
            <p:nvPr/>
          </p:nvSpPr>
          <p:spPr>
            <a:xfrm>
              <a:off x="7359011" y="4681538"/>
              <a:ext cx="1365889" cy="9525"/>
            </a:xfrm>
            <a:prstGeom prst="rect">
              <a:avLst/>
            </a:prstGeom>
            <a:solidFill>
              <a:srgbClr val="CED7E6"/>
            </a:solidFill>
            <a:ln>
              <a:noFill/>
            </a:ln>
          </p:spPr>
        </p:sp>
      </p:grpSp>
      <p:sp>
        <p:nvSpPr>
          <p:cNvPr id="60" name="node16"/>
          <p:cNvSpPr/>
          <p:nvPr/>
        </p:nvSpPr>
        <p:spPr>
          <a:xfrm>
            <a:off x="6210300" y="4800600"/>
            <a:ext cx="2514600" cy="9525"/>
          </a:xfrm>
          <a:prstGeom prst="rect">
            <a:avLst/>
          </a:prstGeom>
          <a:solidFill>
            <a:srgbClr val="CED7E6"/>
          </a:solidFill>
          <a:ln>
            <a:noFill/>
          </a:ln>
        </p:spPr>
      </p:sp>
      <p:grpSp>
        <p:nvGrpSpPr>
          <p:cNvPr id="84" name="node17"/>
          <p:cNvGrpSpPr/>
          <p:nvPr/>
        </p:nvGrpSpPr>
        <p:grpSpPr>
          <a:xfrm>
            <a:off x="6210300" y="5029200"/>
            <a:ext cx="2514600" cy="685800"/>
            <a:chOff x="6210300" y="5029200"/>
            <a:chExt cx="2514600" cy="685800"/>
          </a:xfrm>
        </p:grpSpPr>
        <p:sp>
          <p:nvSpPr>
            <p:cNvPr id="61" name="node17.source-001.bullet"/>
            <p:cNvSpPr/>
            <p:nvPr/>
          </p:nvSpPr>
          <p:spPr>
            <a:xfrm>
              <a:off x="6210300" y="5118100"/>
              <a:ext cx="38100" cy="38100"/>
            </a:xfrm>
            <a:prstGeom prst="rect">
              <a:avLst/>
            </a:prstGeom>
            <a:solidFill>
              <a:srgbClr val="070154"/>
            </a:solidFill>
            <a:ln>
              <a:noFill/>
            </a:ln>
          </p:spPr>
        </p:sp>
        <p:sp>
          <p:nvSpPr>
            <p:cNvPr id="62" name="node17.source-001.text"/>
            <p:cNvSpPr/>
            <p:nvPr/>
          </p:nvSpPr>
          <p:spPr>
            <a:xfrm>
              <a:off x="6362700" y="50292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Decisions, owners, open questions</a:t>
              </a:r>
              <a:endParaRPr lang="en-US" sz="1200" spc="0" kern="0" b="0" i="0" dirty="0">
                <a:solidFill>
                  <a:srgbClr val="070154"/>
                </a:solidFill>
                <a:latin typeface="IBM Plex Sans"/>
                <a:ea typeface="IBM Plex Sans"/>
                <a:cs typeface="IBM Plex Sans"/>
              </a:endParaRPr>
            </a:p>
          </p:txBody>
        </p:sp>
        <p:sp>
          <p:nvSpPr>
            <p:cNvPr id="63" name="node17.source-002.bullet"/>
            <p:cNvSpPr/>
            <p:nvPr/>
          </p:nvSpPr>
          <p:spPr>
            <a:xfrm>
              <a:off x="6210300" y="5588000"/>
              <a:ext cx="38100" cy="38100"/>
            </a:xfrm>
            <a:prstGeom prst="rect">
              <a:avLst/>
            </a:prstGeom>
            <a:solidFill>
              <a:srgbClr val="070154"/>
            </a:solidFill>
            <a:ln>
              <a:noFill/>
            </a:ln>
          </p:spPr>
        </p:sp>
        <p:sp>
          <p:nvSpPr>
            <p:cNvPr id="64" name="node17.source-002.text"/>
            <p:cNvSpPr/>
            <p:nvPr/>
          </p:nvSpPr>
          <p:spPr>
            <a:xfrm>
              <a:off x="6362700" y="5499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Pain points in their own words</a:t>
              </a:r>
              <a:endParaRPr lang="en-US" sz="1200" spc="0" kern="0" b="0" i="0" dirty="0">
                <a:solidFill>
                  <a:srgbClr val="070154"/>
                </a:solidFill>
                <a:latin typeface="IBM Plex Sans"/>
                <a:ea typeface="IBM Plex Sans"/>
                <a:cs typeface="IBM Plex Sans"/>
              </a:endParaRPr>
            </a:p>
          </p:txBody>
        </p:sp>
      </p:grpSp>
      <p:grpSp>
        <p:nvGrpSpPr>
          <p:cNvPr id="85" name="node18"/>
          <p:cNvGrpSpPr/>
          <p:nvPr/>
        </p:nvGrpSpPr>
        <p:grpSpPr>
          <a:xfrm>
            <a:off x="8953500" y="4572000"/>
            <a:ext cx="2514600" cy="228600"/>
            <a:chOff x="8953500" y="4572000"/>
            <a:chExt cx="2514600" cy="228600"/>
          </a:xfrm>
        </p:grpSpPr>
        <p:sp>
          <p:nvSpPr>
            <p:cNvPr id="65" name="node18.label"/>
            <p:cNvSpPr/>
            <p:nvPr/>
          </p:nvSpPr>
          <p:spPr>
            <a:xfrm>
              <a:off x="8953500" y="4572000"/>
              <a:ext cx="102171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OUTPUT AT 10:45</a:t>
              </a:r>
              <a:endParaRPr lang="en-US" sz="800" spc="48" kern="0" b="0" i="0" dirty="0">
                <a:solidFill>
                  <a:srgbClr val="50658E"/>
                </a:solidFill>
                <a:latin typeface="IBM Plex Mono Medium"/>
                <a:ea typeface="IBM Plex Mono Medium"/>
                <a:cs typeface="IBM Plex Mono Medium"/>
              </a:endParaRPr>
            </a:p>
          </p:txBody>
        </p:sp>
        <p:sp>
          <p:nvSpPr>
            <p:cNvPr id="66" name="node18.rule"/>
            <p:cNvSpPr/>
            <p:nvPr/>
          </p:nvSpPr>
          <p:spPr>
            <a:xfrm>
              <a:off x="10102211" y="4681538"/>
              <a:ext cx="1365889" cy="9525"/>
            </a:xfrm>
            <a:prstGeom prst="rect">
              <a:avLst/>
            </a:prstGeom>
            <a:solidFill>
              <a:srgbClr val="CED7E6"/>
            </a:solidFill>
            <a:ln>
              <a:noFill/>
            </a:ln>
          </p:spPr>
        </p:sp>
      </p:grpSp>
      <p:sp>
        <p:nvSpPr>
          <p:cNvPr id="67" name="node19"/>
          <p:cNvSpPr/>
          <p:nvPr/>
        </p:nvSpPr>
        <p:spPr>
          <a:xfrm>
            <a:off x="8953500" y="4800600"/>
            <a:ext cx="2514600" cy="9525"/>
          </a:xfrm>
          <a:prstGeom prst="rect">
            <a:avLst/>
          </a:prstGeom>
          <a:solidFill>
            <a:srgbClr val="CED7E6"/>
          </a:solidFill>
          <a:ln>
            <a:noFill/>
          </a:ln>
        </p:spPr>
      </p:sp>
      <p:grpSp>
        <p:nvGrpSpPr>
          <p:cNvPr id="86" name="node20"/>
          <p:cNvGrpSpPr/>
          <p:nvPr/>
        </p:nvGrpSpPr>
        <p:grpSpPr>
          <a:xfrm>
            <a:off x="8953500" y="5029200"/>
            <a:ext cx="2514600" cy="469900"/>
            <a:chOff x="8953500" y="5029200"/>
            <a:chExt cx="2514600" cy="469900"/>
          </a:xfrm>
        </p:grpSpPr>
        <p:sp>
          <p:nvSpPr>
            <p:cNvPr id="68" name="node20.source-001.bullet"/>
            <p:cNvSpPr/>
            <p:nvPr/>
          </p:nvSpPr>
          <p:spPr>
            <a:xfrm>
              <a:off x="8953500" y="5118100"/>
              <a:ext cx="38100" cy="38100"/>
            </a:xfrm>
            <a:prstGeom prst="rect">
              <a:avLst/>
            </a:prstGeom>
            <a:solidFill>
              <a:srgbClr val="070154"/>
            </a:solidFill>
            <a:ln>
              <a:noFill/>
            </a:ln>
          </p:spPr>
        </p:sp>
        <p:sp>
          <p:nvSpPr>
            <p:cNvPr id="69" name="node20.source-001.text"/>
            <p:cNvSpPr/>
            <p:nvPr/>
          </p:nvSpPr>
          <p:spPr>
            <a:xfrm>
              <a:off x="9105900" y="5029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canvas for each area</a:t>
              </a:r>
              <a:endParaRPr lang="en-US" sz="1200" spc="0" kern="0" b="0" i="0" dirty="0">
                <a:solidFill>
                  <a:srgbClr val="070154"/>
                </a:solidFill>
                <a:latin typeface="IBM Plex Sans"/>
                <a:ea typeface="IBM Plex Sans"/>
                <a:cs typeface="IBM Plex Sans"/>
              </a:endParaRPr>
            </a:p>
          </p:txBody>
        </p:sp>
        <p:sp>
          <p:nvSpPr>
            <p:cNvPr id="70" name="node20.source-002.bullet"/>
            <p:cNvSpPr/>
            <p:nvPr/>
          </p:nvSpPr>
          <p:spPr>
            <a:xfrm>
              <a:off x="8953500" y="5372100"/>
              <a:ext cx="38100" cy="38100"/>
            </a:xfrm>
            <a:prstGeom prst="rect">
              <a:avLst/>
            </a:prstGeom>
            <a:solidFill>
              <a:srgbClr val="070154"/>
            </a:solidFill>
            <a:ln>
              <a:noFill/>
            </a:ln>
          </p:spPr>
        </p:sp>
        <p:sp>
          <p:nvSpPr>
            <p:cNvPr id="71" name="node20.source-002.text"/>
            <p:cNvSpPr/>
            <p:nvPr/>
          </p:nvSpPr>
          <p:spPr>
            <a:xfrm>
              <a:off x="9105900" y="52832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 ranked list of gaps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ource-623">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FACILITATOR GUIDE · INTERNAL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Question ladder for the estimates topic</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175</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4381500" y="495300"/>
            <a:ext cx="7086600" cy="3149600"/>
            <a:chOff x="4381500" y="495300"/>
            <a:chExt cx="7086600" cy="3149600"/>
          </a:xfrm>
        </p:grpSpPr>
        <p:sp>
          <p:nvSpPr>
            <p:cNvPr id="6" name="node01.base"/>
            <p:cNvSpPr/>
            <p:nvPr/>
          </p:nvSpPr>
          <p:spPr>
            <a:xfrm>
              <a:off x="4495800" y="609600"/>
              <a:ext cx="0" cy="2514600"/>
            </a:xfrm>
            <a:custGeom>
              <a:avLst/>
              <a:gdLst/>
              <a:ahLst/>
              <a:cxnLst/>
              <a:rect l="l" t="t" r="r" b="b"/>
              <a:pathLst>
                <a:path h="2514600">
                  <a:moveTo>
                    <a:pt x="0" y="0"/>
                  </a:moveTo>
                  <a:lnTo>
                    <a:pt x="0" y="2514600"/>
                  </a:lnTo>
                </a:path>
              </a:pathLst>
            </a:custGeom>
            <a:ln w="25400">
              <a:solidFill>
                <a:srgbClr val="CED7E6"/>
              </a:solidFill>
              <a:prstDash val="solid"/>
            </a:ln>
          </p:spPr>
        </p:sp>
        <p:sp>
          <p:nvSpPr>
            <p:cNvPr id="7" name="node01.steps.slot-001.marker"/>
            <p:cNvSpPr/>
            <p:nvPr/>
          </p:nvSpPr>
          <p:spPr>
            <a:xfrm>
              <a:off x="4381500" y="495300"/>
              <a:ext cx="228600" cy="228600"/>
            </a:xfrm>
            <a:prstGeom prst="rect">
              <a:avLst/>
            </a:prstGeom>
            <a:solidFill>
              <a:srgbClr val="F900D3"/>
            </a:solidFill>
            <a:ln>
              <a:noFill/>
            </a:ln>
          </p:spPr>
        </p:sp>
        <p:sp>
          <p:nvSpPr>
            <p:cNvPr id="8" name="node01.steps.slot-001.title"/>
            <p:cNvSpPr/>
            <p:nvPr/>
          </p:nvSpPr>
          <p:spPr>
            <a:xfrm>
              <a:off x="4838700" y="495300"/>
              <a:ext cx="42545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Open</a:t>
              </a:r>
              <a:endParaRPr lang="en-US" sz="1200" spc="0" kern="0" b="0" i="0" dirty="0">
                <a:solidFill>
                  <a:srgbClr val="070154"/>
                </a:solidFill>
                <a:latin typeface="IBM Plex Sans SemiBold"/>
                <a:ea typeface="IBM Plex Sans SemiBold"/>
                <a:cs typeface="IBM Plex Sans SemiBold"/>
              </a:endParaRPr>
            </a:p>
          </p:txBody>
        </p:sp>
        <p:sp>
          <p:nvSpPr>
            <p:cNvPr id="9" name="node01.steps.slot-001.label"/>
            <p:cNvSpPr/>
            <p:nvPr/>
          </p:nvSpPr>
          <p:spPr>
            <a:xfrm>
              <a:off x="5416550" y="5598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RUNG 1</a:t>
              </a:r>
              <a:endParaRPr lang="en-US" sz="800" spc="48" kern="0" b="0" i="0" dirty="0">
                <a:solidFill>
                  <a:srgbClr val="0047FF"/>
                </a:solidFill>
                <a:latin typeface="IBM Plex Mono Medium"/>
                <a:ea typeface="IBM Plex Mono Medium"/>
                <a:cs typeface="IBM Plex Mono Medium"/>
              </a:endParaRPr>
            </a:p>
          </p:txBody>
        </p:sp>
        <p:sp>
          <p:nvSpPr>
            <p:cNvPr id="10" name="node01.steps.slot-001.description.part-0"/>
            <p:cNvSpPr/>
            <p:nvPr/>
          </p:nvSpPr>
          <p:spPr>
            <a:xfrm>
              <a:off x="4838700" y="749300"/>
              <a:ext cx="6629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“Walk me through the last time a patient asked what a visit would cost.” Intent: get the real story, not the policy. Move on when you hear a named step.</a:t>
              </a:r>
              <a:endParaRPr lang="en-US" sz="1100" spc="0" kern="0" b="0" i="0" dirty="0">
                <a:solidFill>
                  <a:srgbClr val="50658E"/>
                </a:solidFill>
                <a:latin typeface="IBM Plex Sans"/>
                <a:ea typeface="IBM Plex Sans"/>
                <a:cs typeface="IBM Plex Sans"/>
              </a:endParaRPr>
            </a:p>
          </p:txBody>
        </p:sp>
        <p:sp>
          <p:nvSpPr>
            <p:cNvPr id="11" name="node01.steps.slot-002.marker"/>
            <p:cNvSpPr/>
            <p:nvPr/>
          </p:nvSpPr>
          <p:spPr>
            <a:xfrm>
              <a:off x="4419600" y="1371600"/>
              <a:ext cx="152400" cy="152400"/>
            </a:xfrm>
            <a:prstGeom prst="rect">
              <a:avLst/>
            </a:prstGeom>
            <a:solidFill>
              <a:srgbClr val="FFFFFF"/>
            </a:solidFill>
            <a:ln w="12700">
              <a:solidFill>
                <a:srgbClr val="070154"/>
              </a:solidFill>
              <a:prstDash val="solid"/>
            </a:ln>
          </p:spPr>
        </p:sp>
        <p:sp>
          <p:nvSpPr>
            <p:cNvPr id="12" name="node01.steps.slot-002.title"/>
            <p:cNvSpPr/>
            <p:nvPr/>
          </p:nvSpPr>
          <p:spPr>
            <a:xfrm>
              <a:off x="4838700" y="1333500"/>
              <a:ext cx="473075"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Probe</a:t>
              </a:r>
              <a:endParaRPr lang="en-US" sz="1200" spc="0" kern="0" b="0" i="0" dirty="0">
                <a:solidFill>
                  <a:srgbClr val="070154"/>
                </a:solidFill>
                <a:latin typeface="IBM Plex Sans SemiBold"/>
                <a:ea typeface="IBM Plex Sans SemiBold"/>
                <a:cs typeface="IBM Plex Sans SemiBold"/>
              </a:endParaRPr>
            </a:p>
          </p:txBody>
        </p:sp>
        <p:sp>
          <p:nvSpPr>
            <p:cNvPr id="13" name="node01.steps.slot-002.label"/>
            <p:cNvSpPr/>
            <p:nvPr/>
          </p:nvSpPr>
          <p:spPr>
            <a:xfrm>
              <a:off x="5464175" y="13980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RUNG 2</a:t>
              </a:r>
              <a:endParaRPr lang="en-US" sz="800" spc="48" kern="0" b="0" i="0" dirty="0">
                <a:solidFill>
                  <a:srgbClr val="0047FF"/>
                </a:solidFill>
                <a:latin typeface="IBM Plex Mono Medium"/>
                <a:ea typeface="IBM Plex Mono Medium"/>
                <a:cs typeface="IBM Plex Mono Medium"/>
              </a:endParaRPr>
            </a:p>
          </p:txBody>
        </p:sp>
        <p:sp>
          <p:nvSpPr>
            <p:cNvPr id="14" name="node01.steps.slot-002.description.part-0"/>
            <p:cNvSpPr/>
            <p:nvPr/>
          </p:nvSpPr>
          <p:spPr>
            <a:xfrm>
              <a:off x="4838700" y="1587500"/>
              <a:ext cx="6629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“What happened next, and who did you hand it to?” Intent: trace handoffs and waiting time. Move on when each wait has an owner.</a:t>
              </a:r>
              <a:endParaRPr lang="en-US" sz="1100" spc="0" kern="0" b="0" i="0" dirty="0">
                <a:solidFill>
                  <a:srgbClr val="50658E"/>
                </a:solidFill>
                <a:latin typeface="IBM Plex Sans"/>
                <a:ea typeface="IBM Plex Sans"/>
                <a:cs typeface="IBM Plex Sans"/>
              </a:endParaRPr>
            </a:p>
          </p:txBody>
        </p:sp>
        <p:sp>
          <p:nvSpPr>
            <p:cNvPr id="15" name="node01.steps.slot-003.marker"/>
            <p:cNvSpPr/>
            <p:nvPr/>
          </p:nvSpPr>
          <p:spPr>
            <a:xfrm>
              <a:off x="4419600" y="2209800"/>
              <a:ext cx="152400" cy="152400"/>
            </a:xfrm>
            <a:prstGeom prst="rect">
              <a:avLst/>
            </a:prstGeom>
            <a:solidFill>
              <a:srgbClr val="FFFFFF"/>
            </a:solidFill>
            <a:ln w="12700">
              <a:solidFill>
                <a:srgbClr val="070154"/>
              </a:solidFill>
              <a:prstDash val="solid"/>
            </a:ln>
          </p:spPr>
        </p:sp>
        <p:sp>
          <p:nvSpPr>
            <p:cNvPr id="16" name="node01.steps.slot-003.title"/>
            <p:cNvSpPr/>
            <p:nvPr/>
          </p:nvSpPr>
          <p:spPr>
            <a:xfrm>
              <a:off x="4838700" y="2171700"/>
              <a:ext cx="75565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Challenge</a:t>
              </a:r>
              <a:endParaRPr lang="en-US" sz="1200" spc="0" kern="0" b="0" i="0" dirty="0">
                <a:solidFill>
                  <a:srgbClr val="070154"/>
                </a:solidFill>
                <a:latin typeface="IBM Plex Sans SemiBold"/>
                <a:ea typeface="IBM Plex Sans SemiBold"/>
                <a:cs typeface="IBM Plex Sans SemiBold"/>
              </a:endParaRPr>
            </a:p>
          </p:txBody>
        </p:sp>
        <p:sp>
          <p:nvSpPr>
            <p:cNvPr id="17" name="node01.steps.slot-003.label"/>
            <p:cNvSpPr/>
            <p:nvPr/>
          </p:nvSpPr>
          <p:spPr>
            <a:xfrm>
              <a:off x="5746750" y="22362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RUNG 3</a:t>
              </a:r>
              <a:endParaRPr lang="en-US" sz="800" spc="48" kern="0" b="0" i="0" dirty="0">
                <a:solidFill>
                  <a:srgbClr val="0047FF"/>
                </a:solidFill>
                <a:latin typeface="IBM Plex Mono Medium"/>
                <a:ea typeface="IBM Plex Mono Medium"/>
                <a:cs typeface="IBM Plex Mono Medium"/>
              </a:endParaRPr>
            </a:p>
          </p:txBody>
        </p:sp>
        <p:sp>
          <p:nvSpPr>
            <p:cNvPr id="18" name="node01.steps.slot-003.description.part-0"/>
            <p:cNvSpPr/>
            <p:nvPr/>
          </p:nvSpPr>
          <p:spPr>
            <a:xfrm>
              <a:off x="4838700" y="2425700"/>
              <a:ext cx="6629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“If the estimate came before booking, what would break?” Intent: test assumptions and find the true constraint. Move on when the constraint is named.</a:t>
              </a:r>
              <a:endParaRPr lang="en-US" sz="1100" spc="0" kern="0" b="0" i="0" dirty="0">
                <a:solidFill>
                  <a:srgbClr val="50658E"/>
                </a:solidFill>
                <a:latin typeface="IBM Plex Sans"/>
                <a:ea typeface="IBM Plex Sans"/>
                <a:cs typeface="IBM Plex Sans"/>
              </a:endParaRPr>
            </a:p>
          </p:txBody>
        </p:sp>
        <p:sp>
          <p:nvSpPr>
            <p:cNvPr id="19" name="node01.steps.slot-004.marker"/>
            <p:cNvSpPr/>
            <p:nvPr/>
          </p:nvSpPr>
          <p:spPr>
            <a:xfrm>
              <a:off x="4419600" y="3048000"/>
              <a:ext cx="152400" cy="152400"/>
            </a:xfrm>
            <a:prstGeom prst="rect">
              <a:avLst/>
            </a:prstGeom>
            <a:solidFill>
              <a:srgbClr val="FFFFFF"/>
            </a:solidFill>
            <a:ln w="12700">
              <a:solidFill>
                <a:srgbClr val="070154"/>
              </a:solidFill>
              <a:prstDash val="solid"/>
            </a:ln>
          </p:spPr>
        </p:sp>
        <p:sp>
          <p:nvSpPr>
            <p:cNvPr id="20" name="node01.steps.slot-004.title"/>
            <p:cNvSpPr/>
            <p:nvPr/>
          </p:nvSpPr>
          <p:spPr>
            <a:xfrm>
              <a:off x="4838700" y="3009900"/>
              <a:ext cx="614363"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Confirm</a:t>
              </a:r>
              <a:endParaRPr lang="en-US" sz="1200" spc="0" kern="0" b="0" i="0" dirty="0">
                <a:solidFill>
                  <a:srgbClr val="070154"/>
                </a:solidFill>
                <a:latin typeface="IBM Plex Sans SemiBold"/>
                <a:ea typeface="IBM Plex Sans SemiBold"/>
                <a:cs typeface="IBM Plex Sans SemiBold"/>
              </a:endParaRPr>
            </a:p>
          </p:txBody>
        </p:sp>
        <p:sp>
          <p:nvSpPr>
            <p:cNvPr id="21" name="node01.steps.slot-004.label"/>
            <p:cNvSpPr/>
            <p:nvPr/>
          </p:nvSpPr>
          <p:spPr>
            <a:xfrm>
              <a:off x="5605463" y="3074416"/>
              <a:ext cx="423925"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RUNG 4</a:t>
              </a:r>
              <a:endParaRPr lang="en-US" sz="800" spc="48" kern="0" b="0" i="0" dirty="0">
                <a:solidFill>
                  <a:srgbClr val="0047FF"/>
                </a:solidFill>
                <a:latin typeface="IBM Plex Mono Medium"/>
                <a:ea typeface="IBM Plex Mono Medium"/>
                <a:cs typeface="IBM Plex Mono Medium"/>
              </a:endParaRPr>
            </a:p>
          </p:txBody>
        </p:sp>
        <p:sp>
          <p:nvSpPr>
            <p:cNvPr id="22" name="node01.steps.slot-004.description.part-0"/>
            <p:cNvSpPr/>
            <p:nvPr/>
          </p:nvSpPr>
          <p:spPr>
            <a:xfrm>
              <a:off x="4838700" y="3263900"/>
              <a:ext cx="6629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“So the blocker is missing charge data. Is that right, and who owns it?” Intent: check we heard it and agree an owner. Move on when the table says yes.</a:t>
              </a:r>
              <a:endParaRPr lang="en-US" sz="1100" spc="0" kern="0" b="0" i="0" dirty="0">
                <a:solidFill>
                  <a:srgbClr val="50658E"/>
                </a:solidFill>
                <a:latin typeface="IBM Plex Sans"/>
                <a:ea typeface="IBM Plex Sans"/>
                <a:cs typeface="IBM Plex Sans"/>
              </a:endParaRPr>
            </a:p>
          </p:txBody>
        </p:sp>
      </p:grpSp>
      <p:grpSp>
        <p:nvGrpSpPr>
          <p:cNvPr id="53" name="node02"/>
          <p:cNvGrpSpPr/>
          <p:nvPr/>
        </p:nvGrpSpPr>
        <p:grpSpPr>
          <a:xfrm>
            <a:off x="4381500" y="4114800"/>
            <a:ext cx="7086600" cy="1600200"/>
            <a:chOff x="4381500" y="4114800"/>
            <a:chExt cx="7086600" cy="1600200"/>
          </a:xfrm>
        </p:grpSpPr>
        <p:sp>
          <p:nvSpPr>
            <p:cNvPr id="23" name="node02.surface"/>
            <p:cNvSpPr/>
            <p:nvPr/>
          </p:nvSpPr>
          <p:spPr>
            <a:xfrm>
              <a:off x="4381500" y="4114800"/>
              <a:ext cx="7086600" cy="1600200"/>
            </a:xfrm>
            <a:prstGeom prst="rect">
              <a:avLst/>
            </a:prstGeom>
            <a:solidFill>
              <a:srgbClr val="E8EEF8"/>
            </a:solidFill>
            <a:ln>
              <a:noFill/>
            </a:ln>
          </p:spPr>
        </p:sp>
      </p:grpSp>
      <p:grpSp>
        <p:nvGrpSpPr>
          <p:cNvPr id="54" name="node03"/>
          <p:cNvGrpSpPr/>
          <p:nvPr/>
        </p:nvGrpSpPr>
        <p:grpSpPr>
          <a:xfrm>
            <a:off x="4610100" y="4343400"/>
            <a:ext cx="6629400" cy="139700"/>
            <a:chOff x="4610100" y="4343400"/>
            <a:chExt cx="6629400" cy="139700"/>
          </a:xfrm>
        </p:grpSpPr>
        <p:sp>
          <p:nvSpPr>
            <p:cNvPr id="24" name="node03.text"/>
            <p:cNvSpPr/>
            <p:nvPr/>
          </p:nvSpPr>
          <p:spPr>
            <a:xfrm>
              <a:off x="4610100" y="4343400"/>
              <a:ext cx="6629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SIGNS THE LADDER IS WORKING</a:t>
              </a:r>
              <a:endParaRPr lang="en-US" sz="800" spc="48" kern="0" b="0" i="0" dirty="0">
                <a:solidFill>
                  <a:srgbClr val="50658E"/>
                </a:solidFill>
                <a:latin typeface="IBM Plex Mono Medium"/>
                <a:ea typeface="IBM Plex Mono Medium"/>
                <a:cs typeface="IBM Plex Mono Medium"/>
              </a:endParaRPr>
            </a:p>
          </p:txBody>
        </p:sp>
      </p:grpSp>
      <p:grpSp>
        <p:nvGrpSpPr>
          <p:cNvPr id="55" name="node04"/>
          <p:cNvGrpSpPr/>
          <p:nvPr/>
        </p:nvGrpSpPr>
        <p:grpSpPr>
          <a:xfrm>
            <a:off x="4610100" y="4648200"/>
            <a:ext cx="6629400" cy="723900"/>
            <a:chOff x="4610100" y="4648200"/>
            <a:chExt cx="6629400" cy="723900"/>
          </a:xfrm>
        </p:grpSpPr>
        <p:sp>
          <p:nvSpPr>
            <p:cNvPr id="25" name="node04.source-001.bullet"/>
            <p:cNvSpPr/>
            <p:nvPr/>
          </p:nvSpPr>
          <p:spPr>
            <a:xfrm>
              <a:off x="4610100" y="4737100"/>
              <a:ext cx="38100" cy="38100"/>
            </a:xfrm>
            <a:prstGeom prst="rect">
              <a:avLst/>
            </a:prstGeom>
            <a:solidFill>
              <a:srgbClr val="070154"/>
            </a:solidFill>
            <a:ln>
              <a:noFill/>
            </a:ln>
          </p:spPr>
        </p:sp>
        <p:sp>
          <p:nvSpPr>
            <p:cNvPr id="26" name="node04.source-001.text"/>
            <p:cNvSpPr/>
            <p:nvPr/>
          </p:nvSpPr>
          <p:spPr>
            <a:xfrm>
              <a:off x="4762500" y="4648200"/>
              <a:ext cx="6477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The table names steps, owners and numbers, not opinions</a:t>
              </a:r>
              <a:endParaRPr lang="en-US" sz="1200" spc="0" kern="0" b="0" i="0" dirty="0">
                <a:solidFill>
                  <a:srgbClr val="070154"/>
                </a:solidFill>
                <a:latin typeface="IBM Plex Sans"/>
                <a:ea typeface="IBM Plex Sans"/>
                <a:cs typeface="IBM Plex Sans"/>
              </a:endParaRPr>
            </a:p>
          </p:txBody>
        </p:sp>
        <p:sp>
          <p:nvSpPr>
            <p:cNvPr id="27" name="node04.source-002.bullet"/>
            <p:cNvSpPr/>
            <p:nvPr/>
          </p:nvSpPr>
          <p:spPr>
            <a:xfrm>
              <a:off x="4610100" y="4991100"/>
              <a:ext cx="38100" cy="38100"/>
            </a:xfrm>
            <a:prstGeom prst="rect">
              <a:avLst/>
            </a:prstGeom>
            <a:solidFill>
              <a:srgbClr val="070154"/>
            </a:solidFill>
            <a:ln>
              <a:noFill/>
            </a:ln>
          </p:spPr>
        </p:sp>
        <p:sp>
          <p:nvSpPr>
            <p:cNvPr id="28" name="node04.source-002.text"/>
            <p:cNvSpPr/>
            <p:nvPr/>
          </p:nvSpPr>
          <p:spPr>
            <a:xfrm>
              <a:off x="4762500" y="4902200"/>
              <a:ext cx="6477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Quiet participants are speaking by rung 3</a:t>
              </a:r>
              <a:endParaRPr lang="en-US" sz="1200" spc="0" kern="0" b="0" i="0" dirty="0">
                <a:solidFill>
                  <a:srgbClr val="070154"/>
                </a:solidFill>
                <a:latin typeface="IBM Plex Sans"/>
                <a:ea typeface="IBM Plex Sans"/>
                <a:cs typeface="IBM Plex Sans"/>
              </a:endParaRPr>
            </a:p>
          </p:txBody>
        </p:sp>
        <p:sp>
          <p:nvSpPr>
            <p:cNvPr id="29" name="node04.source-003.bullet"/>
            <p:cNvSpPr/>
            <p:nvPr/>
          </p:nvSpPr>
          <p:spPr>
            <a:xfrm>
              <a:off x="4610100" y="5245100"/>
              <a:ext cx="38100" cy="38100"/>
            </a:xfrm>
            <a:prstGeom prst="rect">
              <a:avLst/>
            </a:prstGeom>
            <a:solidFill>
              <a:srgbClr val="070154"/>
            </a:solidFill>
            <a:ln>
              <a:noFill/>
            </a:ln>
          </p:spPr>
        </p:sp>
        <p:sp>
          <p:nvSpPr>
            <p:cNvPr id="30" name="node04.source-003.text"/>
            <p:cNvSpPr/>
            <p:nvPr/>
          </p:nvSpPr>
          <p:spPr>
            <a:xfrm>
              <a:off x="4762500" y="5156200"/>
              <a:ext cx="6477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Disagreement is stated out loud, not smoothed over</a:t>
              </a:r>
              <a:endParaRPr lang="en-US" sz="1200" spc="0" kern="0" b="0" i="0" dirty="0">
                <a:solidFill>
                  <a:srgbClr val="070154"/>
                </a:solidFill>
                <a:latin typeface="IBM Plex Sans"/>
                <a:ea typeface="IBM Plex Sans"/>
                <a:cs typeface="IBM Plex Sans"/>
              </a:endParaRPr>
            </a:p>
          </p:txBody>
        </p:sp>
      </p:grpSp>
      <p:grpSp>
        <p:nvGrpSpPr>
          <p:cNvPr id="56" name="node05"/>
          <p:cNvGrpSpPr/>
          <p:nvPr/>
        </p:nvGrpSpPr>
        <p:grpSpPr>
          <a:xfrm>
            <a:off x="723900" y="2286000"/>
            <a:ext cx="3429000" cy="228600"/>
            <a:chOff x="723900" y="2286000"/>
            <a:chExt cx="3429000" cy="228600"/>
          </a:xfrm>
        </p:grpSpPr>
        <p:sp>
          <p:nvSpPr>
            <p:cNvPr id="31" name="node05.label"/>
            <p:cNvSpPr/>
            <p:nvPr/>
          </p:nvSpPr>
          <p:spPr>
            <a:xfrm>
              <a:off x="723900" y="2286000"/>
              <a:ext cx="357504"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TOPIC</a:t>
              </a:r>
              <a:endParaRPr lang="en-US" sz="800" spc="48" kern="0" b="0" i="0" dirty="0">
                <a:solidFill>
                  <a:srgbClr val="50658E"/>
                </a:solidFill>
                <a:latin typeface="IBM Plex Mono Medium"/>
                <a:ea typeface="IBM Plex Mono Medium"/>
                <a:cs typeface="IBM Plex Mono Medium"/>
              </a:endParaRPr>
            </a:p>
          </p:txBody>
        </p:sp>
        <p:sp>
          <p:nvSpPr>
            <p:cNvPr id="32" name="node05.rule"/>
            <p:cNvSpPr/>
            <p:nvPr/>
          </p:nvSpPr>
          <p:spPr>
            <a:xfrm>
              <a:off x="1208404" y="2395538"/>
              <a:ext cx="2944496" cy="9525"/>
            </a:xfrm>
            <a:prstGeom prst="rect">
              <a:avLst/>
            </a:prstGeom>
            <a:solidFill>
              <a:srgbClr val="CED7E6"/>
            </a:solidFill>
            <a:ln>
              <a:noFill/>
            </a:ln>
          </p:spPr>
        </p:sp>
      </p:grpSp>
      <p:sp>
        <p:nvSpPr>
          <p:cNvPr id="33" name="node06"/>
          <p:cNvSpPr/>
          <p:nvPr/>
        </p:nvSpPr>
        <p:spPr>
          <a:xfrm>
            <a:off x="723900" y="2514600"/>
            <a:ext cx="3429000" cy="9525"/>
          </a:xfrm>
          <a:prstGeom prst="rect">
            <a:avLst/>
          </a:prstGeom>
          <a:solidFill>
            <a:srgbClr val="CED7E6"/>
          </a:solidFill>
          <a:ln>
            <a:noFill/>
          </a:ln>
        </p:spPr>
      </p:sp>
      <p:grpSp>
        <p:nvGrpSpPr>
          <p:cNvPr id="57" name="node07"/>
          <p:cNvGrpSpPr/>
          <p:nvPr/>
        </p:nvGrpSpPr>
        <p:grpSpPr>
          <a:xfrm>
            <a:off x="723900" y="2743200"/>
            <a:ext cx="3429000" cy="431800"/>
            <a:chOff x="723900" y="2743200"/>
            <a:chExt cx="3429000" cy="431800"/>
          </a:xfrm>
        </p:grpSpPr>
        <p:sp>
          <p:nvSpPr>
            <p:cNvPr id="34" name="node07.source-001.bullet"/>
            <p:cNvSpPr/>
            <p:nvPr/>
          </p:nvSpPr>
          <p:spPr>
            <a:xfrm>
              <a:off x="723900" y="2832100"/>
              <a:ext cx="38100" cy="38100"/>
            </a:xfrm>
            <a:prstGeom prst="rect">
              <a:avLst/>
            </a:prstGeom>
            <a:solidFill>
              <a:srgbClr val="070154"/>
            </a:solidFill>
            <a:ln>
              <a:noFill/>
            </a:ln>
          </p:spPr>
        </p:sp>
        <p:sp>
          <p:nvSpPr>
            <p:cNvPr id="35" name="node07.source-001.text"/>
            <p:cNvSpPr/>
            <p:nvPr/>
          </p:nvSpPr>
          <p:spPr>
            <a:xfrm>
              <a:off x="876300" y="27432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Estimates: a price patients can rely on before they book.</a:t>
              </a:r>
              <a:endParaRPr lang="en-US" sz="1200" spc="0" kern="0" b="0" i="0" dirty="0">
                <a:solidFill>
                  <a:srgbClr val="070154"/>
                </a:solidFill>
                <a:latin typeface="IBM Plex Sans"/>
                <a:ea typeface="IBM Plex Sans"/>
                <a:cs typeface="IBM Plex Sans"/>
              </a:endParaRPr>
            </a:p>
          </p:txBody>
        </p:sp>
      </p:grpSp>
      <p:grpSp>
        <p:nvGrpSpPr>
          <p:cNvPr id="58" name="node08"/>
          <p:cNvGrpSpPr/>
          <p:nvPr/>
        </p:nvGrpSpPr>
        <p:grpSpPr>
          <a:xfrm>
            <a:off x="723900" y="3200400"/>
            <a:ext cx="3429000" cy="228600"/>
            <a:chOff x="723900" y="3200400"/>
            <a:chExt cx="3429000" cy="228600"/>
          </a:xfrm>
        </p:grpSpPr>
        <p:sp>
          <p:nvSpPr>
            <p:cNvPr id="36" name="node08.label"/>
            <p:cNvSpPr/>
            <p:nvPr/>
          </p:nvSpPr>
          <p:spPr>
            <a:xfrm>
              <a:off x="723900" y="3200400"/>
              <a:ext cx="148665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IF THE ANSWER IS VAGUE</a:t>
              </a:r>
              <a:endParaRPr lang="en-US" sz="800" spc="48" kern="0" b="0" i="0" dirty="0">
                <a:solidFill>
                  <a:srgbClr val="50658E"/>
                </a:solidFill>
                <a:latin typeface="IBM Plex Mono Medium"/>
                <a:ea typeface="IBM Plex Mono Medium"/>
                <a:cs typeface="IBM Plex Mono Medium"/>
              </a:endParaRPr>
            </a:p>
          </p:txBody>
        </p:sp>
        <p:sp>
          <p:nvSpPr>
            <p:cNvPr id="37" name="node08.rule"/>
            <p:cNvSpPr/>
            <p:nvPr/>
          </p:nvSpPr>
          <p:spPr>
            <a:xfrm>
              <a:off x="2337557" y="3309938"/>
              <a:ext cx="1815343" cy="9525"/>
            </a:xfrm>
            <a:prstGeom prst="rect">
              <a:avLst/>
            </a:prstGeom>
            <a:solidFill>
              <a:srgbClr val="CED7E6"/>
            </a:solidFill>
            <a:ln>
              <a:noFill/>
            </a:ln>
          </p:spPr>
        </p:sp>
      </p:grpSp>
      <p:sp>
        <p:nvSpPr>
          <p:cNvPr id="38" name="node09"/>
          <p:cNvSpPr/>
          <p:nvPr/>
        </p:nvSpPr>
        <p:spPr>
          <a:xfrm>
            <a:off x="723900" y="3429000"/>
            <a:ext cx="3429000" cy="9525"/>
          </a:xfrm>
          <a:prstGeom prst="rect">
            <a:avLst/>
          </a:prstGeom>
          <a:solidFill>
            <a:srgbClr val="CED7E6"/>
          </a:solidFill>
          <a:ln>
            <a:noFill/>
          </a:ln>
        </p:spPr>
      </p:sp>
      <p:grpSp>
        <p:nvGrpSpPr>
          <p:cNvPr id="59" name="node10"/>
          <p:cNvGrpSpPr/>
          <p:nvPr/>
        </p:nvGrpSpPr>
        <p:grpSpPr>
          <a:xfrm>
            <a:off x="723900" y="3657600"/>
            <a:ext cx="3429000" cy="977900"/>
            <a:chOff x="723900" y="3657600"/>
            <a:chExt cx="3429000" cy="977900"/>
          </a:xfrm>
        </p:grpSpPr>
        <p:sp>
          <p:nvSpPr>
            <p:cNvPr id="39" name="node10.source-001.bullet"/>
            <p:cNvSpPr/>
            <p:nvPr/>
          </p:nvSpPr>
          <p:spPr>
            <a:xfrm>
              <a:off x="723900" y="3746500"/>
              <a:ext cx="38100" cy="38100"/>
            </a:xfrm>
            <a:prstGeom prst="rect">
              <a:avLst/>
            </a:prstGeom>
            <a:solidFill>
              <a:srgbClr val="070154"/>
            </a:solidFill>
            <a:ln>
              <a:noFill/>
            </a:ln>
          </p:spPr>
        </p:sp>
        <p:sp>
          <p:nvSpPr>
            <p:cNvPr id="40" name="node10.source-001.text"/>
            <p:cNvSpPr/>
            <p:nvPr/>
          </p:nvSpPr>
          <p:spPr>
            <a:xfrm>
              <a:off x="876300" y="3657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“Give me one example from this week.”</a:t>
              </a:r>
              <a:endParaRPr lang="en-US" sz="1200" spc="0" kern="0" b="0" i="0" dirty="0">
                <a:solidFill>
                  <a:srgbClr val="070154"/>
                </a:solidFill>
                <a:latin typeface="IBM Plex Sans"/>
                <a:ea typeface="IBM Plex Sans"/>
                <a:cs typeface="IBM Plex Sans"/>
              </a:endParaRPr>
            </a:p>
          </p:txBody>
        </p:sp>
        <p:sp>
          <p:nvSpPr>
            <p:cNvPr id="41" name="node10.source-002.bullet"/>
            <p:cNvSpPr/>
            <p:nvPr/>
          </p:nvSpPr>
          <p:spPr>
            <a:xfrm>
              <a:off x="723900" y="4000500"/>
              <a:ext cx="38100" cy="38100"/>
            </a:xfrm>
            <a:prstGeom prst="rect">
              <a:avLst/>
            </a:prstGeom>
            <a:solidFill>
              <a:srgbClr val="070154"/>
            </a:solidFill>
            <a:ln>
              <a:noFill/>
            </a:ln>
          </p:spPr>
        </p:sp>
        <p:sp>
          <p:nvSpPr>
            <p:cNvPr id="42" name="node10.source-002.text"/>
            <p:cNvSpPr/>
            <p:nvPr/>
          </p:nvSpPr>
          <p:spPr>
            <a:xfrm>
              <a:off x="876300" y="3911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“What would a new hire see on day one?”</a:t>
              </a:r>
              <a:endParaRPr lang="en-US" sz="1200" spc="0" kern="0" b="0" i="0" dirty="0">
                <a:solidFill>
                  <a:srgbClr val="070154"/>
                </a:solidFill>
                <a:latin typeface="IBM Plex Sans"/>
                <a:ea typeface="IBM Plex Sans"/>
                <a:cs typeface="IBM Plex Sans"/>
              </a:endParaRPr>
            </a:p>
          </p:txBody>
        </p:sp>
        <p:sp>
          <p:nvSpPr>
            <p:cNvPr id="43" name="node10.source-003.bullet"/>
            <p:cNvSpPr/>
            <p:nvPr/>
          </p:nvSpPr>
          <p:spPr>
            <a:xfrm>
              <a:off x="723900" y="4254500"/>
              <a:ext cx="38100" cy="38100"/>
            </a:xfrm>
            <a:prstGeom prst="rect">
              <a:avLst/>
            </a:prstGeom>
            <a:solidFill>
              <a:srgbClr val="070154"/>
            </a:solidFill>
            <a:ln>
              <a:noFill/>
            </a:ln>
          </p:spPr>
        </p:sp>
        <p:sp>
          <p:nvSpPr>
            <p:cNvPr id="44" name="node10.source-003.text"/>
            <p:cNvSpPr/>
            <p:nvPr/>
          </p:nvSpPr>
          <p:spPr>
            <a:xfrm>
              <a:off x="876300" y="4165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“How many times a month is that?”</a:t>
              </a:r>
              <a:endParaRPr lang="en-US" sz="1200" spc="0" kern="0" b="0" i="0" dirty="0">
                <a:solidFill>
                  <a:srgbClr val="070154"/>
                </a:solidFill>
                <a:latin typeface="IBM Plex Sans"/>
                <a:ea typeface="IBM Plex Sans"/>
                <a:cs typeface="IBM Plex Sans"/>
              </a:endParaRPr>
            </a:p>
          </p:txBody>
        </p:sp>
        <p:sp>
          <p:nvSpPr>
            <p:cNvPr id="45" name="node10.source-004.bullet"/>
            <p:cNvSpPr/>
            <p:nvPr/>
          </p:nvSpPr>
          <p:spPr>
            <a:xfrm>
              <a:off x="723900" y="4508500"/>
              <a:ext cx="38100" cy="38100"/>
            </a:xfrm>
            <a:prstGeom prst="rect">
              <a:avLst/>
            </a:prstGeom>
            <a:solidFill>
              <a:srgbClr val="070154"/>
            </a:solidFill>
            <a:ln>
              <a:noFill/>
            </a:ln>
          </p:spPr>
        </p:sp>
        <p:sp>
          <p:nvSpPr>
            <p:cNvPr id="46" name="node10.source-004.text"/>
            <p:cNvSpPr/>
            <p:nvPr/>
          </p:nvSpPr>
          <p:spPr>
            <a:xfrm>
              <a:off x="876300" y="4419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“Who would answer that differently?”</a:t>
              </a:r>
              <a:endParaRPr lang="en-US" sz="1200" spc="0" kern="0" b="0" i="0" dirty="0">
                <a:solidFill>
                  <a:srgbClr val="070154"/>
                </a:solidFill>
                <a:latin typeface="IBM Plex Sans"/>
                <a:ea typeface="IBM Plex Sans"/>
                <a:cs typeface="IBM Plex Sans"/>
              </a:endParaRPr>
            </a:p>
          </p:txBody>
        </p:sp>
      </p:grpSp>
      <p:grpSp>
        <p:nvGrpSpPr>
          <p:cNvPr id="60" name="node11"/>
          <p:cNvGrpSpPr/>
          <p:nvPr/>
        </p:nvGrpSpPr>
        <p:grpSpPr>
          <a:xfrm>
            <a:off x="723900" y="5029200"/>
            <a:ext cx="3429000" cy="228600"/>
            <a:chOff x="723900" y="5029200"/>
            <a:chExt cx="3429000" cy="228600"/>
          </a:xfrm>
        </p:grpSpPr>
        <p:sp>
          <p:nvSpPr>
            <p:cNvPr id="47" name="node11.label"/>
            <p:cNvSpPr/>
            <p:nvPr/>
          </p:nvSpPr>
          <p:spPr>
            <a:xfrm>
              <a:off x="723900" y="5029200"/>
              <a:ext cx="888870"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RULE OF THUMB</a:t>
              </a:r>
              <a:endParaRPr lang="en-US" sz="800" spc="48" kern="0" b="0" i="0" dirty="0">
                <a:solidFill>
                  <a:srgbClr val="50658E"/>
                </a:solidFill>
                <a:latin typeface="IBM Plex Mono Medium"/>
                <a:ea typeface="IBM Plex Mono Medium"/>
                <a:cs typeface="IBM Plex Mono Medium"/>
              </a:endParaRPr>
            </a:p>
          </p:txBody>
        </p:sp>
        <p:sp>
          <p:nvSpPr>
            <p:cNvPr id="48" name="node11.rule"/>
            <p:cNvSpPr/>
            <p:nvPr/>
          </p:nvSpPr>
          <p:spPr>
            <a:xfrm>
              <a:off x="1739770" y="5138738"/>
              <a:ext cx="2413130" cy="9525"/>
            </a:xfrm>
            <a:prstGeom prst="rect">
              <a:avLst/>
            </a:prstGeom>
            <a:solidFill>
              <a:srgbClr val="CED7E6"/>
            </a:solidFill>
            <a:ln>
              <a:noFill/>
            </a:ln>
          </p:spPr>
        </p:sp>
      </p:grpSp>
      <p:sp>
        <p:nvSpPr>
          <p:cNvPr id="49" name="node12"/>
          <p:cNvSpPr/>
          <p:nvPr/>
        </p:nvSpPr>
        <p:spPr>
          <a:xfrm>
            <a:off x="723900" y="5257800"/>
            <a:ext cx="3429000" cy="9525"/>
          </a:xfrm>
          <a:prstGeom prst="rect">
            <a:avLst/>
          </a:prstGeom>
          <a:solidFill>
            <a:srgbClr val="CED7E6"/>
          </a:solidFill>
          <a:ln>
            <a:noFill/>
          </a:ln>
        </p:spPr>
      </p:sp>
      <p:grpSp>
        <p:nvGrpSpPr>
          <p:cNvPr id="61" name="node13"/>
          <p:cNvGrpSpPr/>
          <p:nvPr/>
        </p:nvGrpSpPr>
        <p:grpSpPr>
          <a:xfrm>
            <a:off x="723900" y="5486400"/>
            <a:ext cx="3429000" cy="215900"/>
            <a:chOff x="723900" y="5486400"/>
            <a:chExt cx="3429000" cy="215900"/>
          </a:xfrm>
        </p:grpSpPr>
        <p:sp>
          <p:nvSpPr>
            <p:cNvPr id="50" name="node13.source-001.bullet"/>
            <p:cNvSpPr/>
            <p:nvPr/>
          </p:nvSpPr>
          <p:spPr>
            <a:xfrm>
              <a:off x="723900" y="5575300"/>
              <a:ext cx="38100" cy="38100"/>
            </a:xfrm>
            <a:prstGeom prst="rect">
              <a:avLst/>
            </a:prstGeom>
            <a:solidFill>
              <a:srgbClr val="070154"/>
            </a:solidFill>
            <a:ln>
              <a:noFill/>
            </a:ln>
          </p:spPr>
        </p:sp>
        <p:sp>
          <p:nvSpPr>
            <p:cNvPr id="51" name="node13.source-001.text"/>
            <p:cNvSpPr/>
            <p:nvPr/>
          </p:nvSpPr>
          <p:spPr>
            <a:xfrm>
              <a:off x="876300" y="5486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 challenge until the story is told.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ource-621">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FACILITATOR GUIDE · INTERNAL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Listen for the signal, watch for the flag</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176</a:t>
            </a:fld>
            <a:endParaRPr lang="en-US" sz="700" spc="0" kern="0" b="0" i="0" dirty="0">
              <a:solidFill>
                <a:srgbClr val="070154"/>
              </a:solidFill>
              <a:latin typeface="IBM Plex Mono SemiBold"/>
              <a:ea typeface="IBM Plex Mono SemiBold"/>
              <a:cs typeface="IBM Plex Mono SemiBold"/>
            </a:endParaRPr>
          </a:p>
        </p:txBody>
      </p:sp>
      <p:grpSp>
        <p:nvGrpSpPr>
          <p:cNvPr id="27" name="node01"/>
          <p:cNvGrpSpPr/>
          <p:nvPr/>
        </p:nvGrpSpPr>
        <p:grpSpPr>
          <a:xfrm>
            <a:off x="723900" y="457200"/>
            <a:ext cx="7086600" cy="5156200"/>
            <a:chOff x="723900" y="457200"/>
            <a:chExt cx="7086600" cy="5156200"/>
          </a:xfrm>
        </p:grpSpPr>
        <p:graphicFrame>
          <p:nvGraphicFramePr>
            <p:cNvPr id="6" name="node01.native"/>
            <p:cNvGraphicFramePr>
              <a:graphicFrameLocks noGrp="1"/>
            </p:cNvGraphicFramePr>
            <p:nvPr>
              <p:extLst>
                <p:ext uri="{D42A27DB-BD31-4B8C-83A1-F6EECF244321}">
                  <p14:modId xmlns:p14="http://schemas.microsoft.com/office/powerpoint/2010/main" val="1579011935"/>
                </p:ext>
              </p:extLst>
            </p:nvPr>
          </p:nvGraphicFramePr>
          <p:xfrm>
            <a:off x="1104900" y="457200"/>
            <a:ext cx="6705600" cy="5156200"/>
          </p:xfrm>
          <a:graphic>
            <a:graphicData uri="http://schemas.openxmlformats.org/drawingml/2006/table">
              <a:tbl>
                <a:tblPr/>
                <a:tblGrid>
                  <a:gridCol w="3200400"/>
                  <a:gridCol w="35052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IF YOU HEAR</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THEN ASK</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85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“We work around it.”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“Show me the workaround. What does it cost?”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“That depends on the clinic.”</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“Which clinics differ, and is there a reason?”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“One person always fixes it.”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“What happens when they are away?”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“We need a new system.”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“What does the process need first?”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“That is not our problem.”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“Who owns it, and are they here?”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Silence or quick agreement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“What would make this fail?”</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One voice answering for all</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“Let us hear from the other tables.”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7" name="node01.row-group.source-001.fill"/>
            <p:cNvSpPr/>
            <p:nvPr/>
          </p:nvSpPr>
          <p:spPr>
            <a:xfrm>
              <a:off x="723900" y="831850"/>
              <a:ext cx="304800" cy="2019300"/>
            </a:xfrm>
            <a:prstGeom prst="rect">
              <a:avLst/>
            </a:prstGeom>
            <a:solidFill>
              <a:srgbClr val="070154"/>
            </a:solidFill>
            <a:ln>
              <a:noFill/>
            </a:ln>
          </p:spPr>
        </p:sp>
        <p:sp>
          <p:nvSpPr>
            <p:cNvPr id="8" name="node01.row-group.source-001.label"/>
            <p:cNvSpPr/>
            <p:nvPr/>
          </p:nvSpPr>
          <p:spPr>
            <a:xfrm rot="-5400000">
              <a:off x="-133350" y="1771650"/>
              <a:ext cx="20193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SIGNALS</a:t>
              </a:r>
              <a:endParaRPr lang="en-US" sz="800" spc="80" kern="0" b="0" i="0" dirty="0">
                <a:solidFill>
                  <a:srgbClr val="FFFFFF"/>
                </a:solidFill>
                <a:latin typeface="IBM Plex Mono SemiBold"/>
                <a:ea typeface="IBM Plex Mono SemiBold"/>
                <a:cs typeface="IBM Plex Mono SemiBold"/>
              </a:endParaRPr>
            </a:p>
          </p:txBody>
        </p:sp>
        <p:sp>
          <p:nvSpPr>
            <p:cNvPr id="9" name="node01.row-group.source-002.fill"/>
            <p:cNvSpPr/>
            <p:nvPr/>
          </p:nvSpPr>
          <p:spPr>
            <a:xfrm>
              <a:off x="723900" y="2889250"/>
              <a:ext cx="304800" cy="2705100"/>
            </a:xfrm>
            <a:prstGeom prst="rect">
              <a:avLst/>
            </a:prstGeom>
            <a:solidFill>
              <a:srgbClr val="50658E"/>
            </a:solidFill>
            <a:ln>
              <a:noFill/>
            </a:ln>
          </p:spPr>
        </p:sp>
        <p:sp>
          <p:nvSpPr>
            <p:cNvPr id="10" name="node01.row-group.source-002.label"/>
            <p:cNvSpPr/>
            <p:nvPr/>
          </p:nvSpPr>
          <p:spPr>
            <a:xfrm rot="-5400000">
              <a:off x="-476250" y="4171950"/>
              <a:ext cx="27051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RED FLAGS</a:t>
              </a:r>
              <a:endParaRPr lang="en-US" sz="800" spc="80" kern="0" b="0" i="0" dirty="0">
                <a:solidFill>
                  <a:srgbClr val="FFFFFF"/>
                </a:solidFill>
                <a:latin typeface="IBM Plex Mono SemiBold"/>
                <a:ea typeface="IBM Plex Mono SemiBold"/>
                <a:cs typeface="IBM Plex Mono SemiBold"/>
              </a:endParaRPr>
            </a:p>
          </p:txBody>
        </p:sp>
      </p:grpSp>
      <p:grpSp>
        <p:nvGrpSpPr>
          <p:cNvPr id="28" name="node02"/>
          <p:cNvGrpSpPr/>
          <p:nvPr/>
        </p:nvGrpSpPr>
        <p:grpSpPr>
          <a:xfrm>
            <a:off x="8039100" y="2057400"/>
            <a:ext cx="3429000" cy="1600200"/>
            <a:chOff x="8039100" y="2057400"/>
            <a:chExt cx="3429000" cy="1600200"/>
          </a:xfrm>
        </p:grpSpPr>
        <p:sp>
          <p:nvSpPr>
            <p:cNvPr id="11" name="node02.surface"/>
            <p:cNvSpPr/>
            <p:nvPr/>
          </p:nvSpPr>
          <p:spPr>
            <a:xfrm>
              <a:off x="8039100" y="2057400"/>
              <a:ext cx="3429000" cy="1600200"/>
            </a:xfrm>
            <a:prstGeom prst="rect">
              <a:avLst/>
            </a:prstGeom>
            <a:solidFill>
              <a:srgbClr val="070154"/>
            </a:solidFill>
            <a:ln>
              <a:noFill/>
            </a:ln>
          </p:spPr>
        </p:sp>
      </p:grpSp>
      <p:grpSp>
        <p:nvGrpSpPr>
          <p:cNvPr id="29" name="node03"/>
          <p:cNvGrpSpPr/>
          <p:nvPr/>
        </p:nvGrpSpPr>
        <p:grpSpPr>
          <a:xfrm>
            <a:off x="8267700" y="2286000"/>
            <a:ext cx="2971800" cy="139700"/>
            <a:chOff x="8267700" y="2286000"/>
            <a:chExt cx="2971800" cy="139700"/>
          </a:xfrm>
        </p:grpSpPr>
        <p:sp>
          <p:nvSpPr>
            <p:cNvPr id="12" name="node03.text"/>
            <p:cNvSpPr/>
            <p:nvPr/>
          </p:nvSpPr>
          <p:spPr>
            <a:xfrm>
              <a:off x="8267700" y="22860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SESSION OBJECTIVE</a:t>
              </a:r>
              <a:endParaRPr lang="en-US" sz="800" spc="48" kern="0" b="0" i="0" dirty="0">
                <a:solidFill>
                  <a:srgbClr val="FFFFFF"/>
                </a:solidFill>
                <a:latin typeface="IBM Plex Mono Medium"/>
                <a:ea typeface="IBM Plex Mono Medium"/>
                <a:cs typeface="IBM Plex Mono Medium"/>
              </a:endParaRPr>
            </a:p>
          </p:txBody>
        </p:sp>
      </p:grpSp>
      <p:grpSp>
        <p:nvGrpSpPr>
          <p:cNvPr id="30" name="node04"/>
          <p:cNvGrpSpPr/>
          <p:nvPr/>
        </p:nvGrpSpPr>
        <p:grpSpPr>
          <a:xfrm>
            <a:off x="8267700" y="2590800"/>
            <a:ext cx="2971800" cy="431800"/>
            <a:chOff x="8267700" y="2590800"/>
            <a:chExt cx="2971800" cy="431800"/>
          </a:xfrm>
        </p:grpSpPr>
        <p:sp>
          <p:nvSpPr>
            <p:cNvPr id="13" name="node04.text"/>
            <p:cNvSpPr/>
            <p:nvPr/>
          </p:nvSpPr>
          <p:spPr>
            <a:xfrm>
              <a:off x="8267700" y="2590800"/>
              <a:ext cx="2971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Design the future state for scheduling, registration, estimates and denials.</a:t>
              </a:r>
              <a:endParaRPr lang="en-US" sz="1200" spc="0" kern="0" b="0" i="0" dirty="0">
                <a:solidFill>
                  <a:srgbClr val="FFFFFF"/>
                </a:solidFill>
                <a:latin typeface="IBM Plex Sans"/>
                <a:ea typeface="IBM Plex Sans"/>
                <a:cs typeface="IBM Plex Sans"/>
              </a:endParaRPr>
            </a:p>
          </p:txBody>
        </p:sp>
      </p:grpSp>
      <p:grpSp>
        <p:nvGrpSpPr>
          <p:cNvPr id="31" name="node05"/>
          <p:cNvGrpSpPr/>
          <p:nvPr/>
        </p:nvGrpSpPr>
        <p:grpSpPr>
          <a:xfrm>
            <a:off x="8039100" y="3886200"/>
            <a:ext cx="3429000" cy="228600"/>
            <a:chOff x="8039100" y="3886200"/>
            <a:chExt cx="3429000" cy="228600"/>
          </a:xfrm>
        </p:grpSpPr>
        <p:sp>
          <p:nvSpPr>
            <p:cNvPr id="14" name="node05.label"/>
            <p:cNvSpPr/>
            <p:nvPr/>
          </p:nvSpPr>
          <p:spPr>
            <a:xfrm>
              <a:off x="8039100" y="3886200"/>
              <a:ext cx="822449"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GROUND RULES</a:t>
              </a:r>
              <a:endParaRPr lang="en-US" sz="800" spc="48" kern="0" b="0" i="0" dirty="0">
                <a:solidFill>
                  <a:srgbClr val="50658E"/>
                </a:solidFill>
                <a:latin typeface="IBM Plex Mono Medium"/>
                <a:ea typeface="IBM Plex Mono Medium"/>
                <a:cs typeface="IBM Plex Mono Medium"/>
              </a:endParaRPr>
            </a:p>
          </p:txBody>
        </p:sp>
        <p:sp>
          <p:nvSpPr>
            <p:cNvPr id="15" name="node05.rule"/>
            <p:cNvSpPr/>
            <p:nvPr/>
          </p:nvSpPr>
          <p:spPr>
            <a:xfrm>
              <a:off x="8988549" y="3995738"/>
              <a:ext cx="2479551" cy="9525"/>
            </a:xfrm>
            <a:prstGeom prst="rect">
              <a:avLst/>
            </a:prstGeom>
            <a:solidFill>
              <a:srgbClr val="CED7E6"/>
            </a:solidFill>
            <a:ln>
              <a:noFill/>
            </a:ln>
          </p:spPr>
        </p:sp>
      </p:grpSp>
      <p:sp>
        <p:nvSpPr>
          <p:cNvPr id="16" name="node06"/>
          <p:cNvSpPr/>
          <p:nvPr/>
        </p:nvSpPr>
        <p:spPr>
          <a:xfrm>
            <a:off x="8039100" y="4114800"/>
            <a:ext cx="3429000" cy="9525"/>
          </a:xfrm>
          <a:prstGeom prst="rect">
            <a:avLst/>
          </a:prstGeom>
          <a:solidFill>
            <a:srgbClr val="CED7E6"/>
          </a:solidFill>
          <a:ln>
            <a:noFill/>
          </a:ln>
        </p:spPr>
      </p:sp>
      <p:grpSp>
        <p:nvGrpSpPr>
          <p:cNvPr id="32" name="node07"/>
          <p:cNvGrpSpPr/>
          <p:nvPr/>
        </p:nvGrpSpPr>
        <p:grpSpPr>
          <a:xfrm>
            <a:off x="8039100" y="4343400"/>
            <a:ext cx="3429000" cy="1231900"/>
            <a:chOff x="8039100" y="4343400"/>
            <a:chExt cx="3429000" cy="1231900"/>
          </a:xfrm>
        </p:grpSpPr>
        <p:sp>
          <p:nvSpPr>
            <p:cNvPr id="17" name="node07.source-001.bullet"/>
            <p:cNvSpPr/>
            <p:nvPr/>
          </p:nvSpPr>
          <p:spPr>
            <a:xfrm>
              <a:off x="8039100" y="4432300"/>
              <a:ext cx="38100" cy="38100"/>
            </a:xfrm>
            <a:prstGeom prst="rect">
              <a:avLst/>
            </a:prstGeom>
            <a:solidFill>
              <a:srgbClr val="070154"/>
            </a:solidFill>
            <a:ln>
              <a:noFill/>
            </a:ln>
          </p:spPr>
        </p:sp>
        <p:sp>
          <p:nvSpPr>
            <p:cNvPr id="18" name="node07.source-001.text"/>
            <p:cNvSpPr/>
            <p:nvPr/>
          </p:nvSpPr>
          <p:spPr>
            <a:xfrm>
              <a:off x="8191500" y="4343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Timeboxes hold; the parking lot takes the rest</a:t>
              </a:r>
              <a:endParaRPr lang="en-US" sz="1200" spc="0" kern="0" b="0" i="0" dirty="0">
                <a:solidFill>
                  <a:srgbClr val="070154"/>
                </a:solidFill>
                <a:latin typeface="IBM Plex Sans"/>
                <a:ea typeface="IBM Plex Sans"/>
                <a:cs typeface="IBM Plex Sans"/>
              </a:endParaRPr>
            </a:p>
          </p:txBody>
        </p:sp>
        <p:sp>
          <p:nvSpPr>
            <p:cNvPr id="19" name="node07.source-002.bullet"/>
            <p:cNvSpPr/>
            <p:nvPr/>
          </p:nvSpPr>
          <p:spPr>
            <a:xfrm>
              <a:off x="8039100" y="4686300"/>
              <a:ext cx="38100" cy="38100"/>
            </a:xfrm>
            <a:prstGeom prst="rect">
              <a:avLst/>
            </a:prstGeom>
            <a:solidFill>
              <a:srgbClr val="070154"/>
            </a:solidFill>
            <a:ln>
              <a:noFill/>
            </a:ln>
          </p:spPr>
        </p:sp>
        <p:sp>
          <p:nvSpPr>
            <p:cNvPr id="20" name="node07.source-002.text"/>
            <p:cNvSpPr/>
            <p:nvPr/>
          </p:nvSpPr>
          <p:spPr>
            <a:xfrm>
              <a:off x="8191500" y="4597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Every decision gets an owner and a date</a:t>
              </a:r>
              <a:endParaRPr lang="en-US" sz="1200" spc="0" kern="0" b="0" i="0" dirty="0">
                <a:solidFill>
                  <a:srgbClr val="070154"/>
                </a:solidFill>
                <a:latin typeface="IBM Plex Sans"/>
                <a:ea typeface="IBM Plex Sans"/>
                <a:cs typeface="IBM Plex Sans"/>
              </a:endParaRPr>
            </a:p>
          </p:txBody>
        </p:sp>
        <p:sp>
          <p:nvSpPr>
            <p:cNvPr id="21" name="node07.source-003.bullet"/>
            <p:cNvSpPr/>
            <p:nvPr/>
          </p:nvSpPr>
          <p:spPr>
            <a:xfrm>
              <a:off x="8039100" y="4940300"/>
              <a:ext cx="38100" cy="38100"/>
            </a:xfrm>
            <a:prstGeom prst="rect">
              <a:avLst/>
            </a:prstGeom>
            <a:solidFill>
              <a:srgbClr val="070154"/>
            </a:solidFill>
            <a:ln>
              <a:noFill/>
            </a:ln>
          </p:spPr>
        </p:sp>
        <p:sp>
          <p:nvSpPr>
            <p:cNvPr id="22" name="node07.source-003.text"/>
            <p:cNvSpPr/>
            <p:nvPr/>
          </p:nvSpPr>
          <p:spPr>
            <a:xfrm>
              <a:off x="8191500" y="4851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Problems before solutions</a:t>
              </a:r>
              <a:endParaRPr lang="en-US" sz="1200" spc="0" kern="0" b="0" i="0" dirty="0">
                <a:solidFill>
                  <a:srgbClr val="070154"/>
                </a:solidFill>
                <a:latin typeface="IBM Plex Sans"/>
                <a:ea typeface="IBM Plex Sans"/>
                <a:cs typeface="IBM Plex Sans"/>
              </a:endParaRPr>
            </a:p>
          </p:txBody>
        </p:sp>
        <p:sp>
          <p:nvSpPr>
            <p:cNvPr id="23" name="node07.source-004.bullet"/>
            <p:cNvSpPr/>
            <p:nvPr/>
          </p:nvSpPr>
          <p:spPr>
            <a:xfrm>
              <a:off x="8039100" y="5194300"/>
              <a:ext cx="38100" cy="38100"/>
            </a:xfrm>
            <a:prstGeom prst="rect">
              <a:avLst/>
            </a:prstGeom>
            <a:solidFill>
              <a:srgbClr val="070154"/>
            </a:solidFill>
            <a:ln>
              <a:noFill/>
            </a:ln>
          </p:spPr>
        </p:sp>
        <p:sp>
          <p:nvSpPr>
            <p:cNvPr id="24" name="node07.source-004.text"/>
            <p:cNvSpPr/>
            <p:nvPr/>
          </p:nvSpPr>
          <p:spPr>
            <a:xfrm>
              <a:off x="8191500" y="5105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Every table speaks at playback</a:t>
              </a:r>
              <a:endParaRPr lang="en-US" sz="1200" spc="0" kern="0" b="0" i="0" dirty="0">
                <a:solidFill>
                  <a:srgbClr val="070154"/>
                </a:solidFill>
                <a:latin typeface="IBM Plex Sans"/>
                <a:ea typeface="IBM Plex Sans"/>
                <a:cs typeface="IBM Plex Sans"/>
              </a:endParaRPr>
            </a:p>
          </p:txBody>
        </p:sp>
        <p:sp>
          <p:nvSpPr>
            <p:cNvPr id="25" name="node07.source-005.bullet"/>
            <p:cNvSpPr/>
            <p:nvPr/>
          </p:nvSpPr>
          <p:spPr>
            <a:xfrm>
              <a:off x="8039100" y="5448300"/>
              <a:ext cx="38100" cy="38100"/>
            </a:xfrm>
            <a:prstGeom prst="rect">
              <a:avLst/>
            </a:prstGeom>
            <a:solidFill>
              <a:srgbClr val="070154"/>
            </a:solidFill>
            <a:ln>
              <a:noFill/>
            </a:ln>
          </p:spPr>
        </p:sp>
        <p:sp>
          <p:nvSpPr>
            <p:cNvPr id="26" name="node07.source-005.text"/>
            <p:cNvSpPr/>
            <p:nvPr/>
          </p:nvSpPr>
          <p:spPr>
            <a:xfrm>
              <a:off x="8191500" y="5359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Video tables get equal airtime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ource-61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FACILITATOR GUIDE · INTERNAL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Breakout table guide: one prompt per focus area</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177</a:t>
            </a:fld>
            <a:endParaRPr lang="en-US" sz="700" spc="0" kern="0" b="0" i="0" dirty="0">
              <a:solidFill>
                <a:srgbClr val="070154"/>
              </a:solidFill>
              <a:latin typeface="IBM Plex Mono SemiBold"/>
              <a:ea typeface="IBM Plex Mono SemiBold"/>
              <a:cs typeface="IBM Plex Mono SemiBold"/>
            </a:endParaRPr>
          </a:p>
        </p:txBody>
      </p:sp>
      <p:grpSp>
        <p:nvGrpSpPr>
          <p:cNvPr id="74" name="node01"/>
          <p:cNvGrpSpPr/>
          <p:nvPr/>
        </p:nvGrpSpPr>
        <p:grpSpPr>
          <a:xfrm>
            <a:off x="723900" y="1600200"/>
            <a:ext cx="2514600" cy="685800"/>
            <a:chOff x="723900" y="1600200"/>
            <a:chExt cx="2514600" cy="685800"/>
          </a:xfrm>
        </p:grpSpPr>
        <p:sp>
          <p:nvSpPr>
            <p:cNvPr id="6" name="node01.surface"/>
            <p:cNvSpPr/>
            <p:nvPr/>
          </p:nvSpPr>
          <p:spPr>
            <a:xfrm>
              <a:off x="723900" y="1600200"/>
              <a:ext cx="2514600" cy="685800"/>
            </a:xfrm>
            <a:prstGeom prst="rect">
              <a:avLst/>
            </a:prstGeom>
            <a:solidFill>
              <a:srgbClr val="070154"/>
            </a:solidFill>
            <a:ln>
              <a:noFill/>
            </a:ln>
          </p:spPr>
        </p:sp>
      </p:grpSp>
      <p:grpSp>
        <p:nvGrpSpPr>
          <p:cNvPr id="75" name="node02"/>
          <p:cNvGrpSpPr/>
          <p:nvPr/>
        </p:nvGrpSpPr>
        <p:grpSpPr>
          <a:xfrm>
            <a:off x="952500" y="1828800"/>
            <a:ext cx="2057400" cy="139700"/>
            <a:chOff x="952500" y="1828800"/>
            <a:chExt cx="2057400" cy="139700"/>
          </a:xfrm>
        </p:grpSpPr>
        <p:sp>
          <p:nvSpPr>
            <p:cNvPr id="7" name="node02.text"/>
            <p:cNvSpPr/>
            <p:nvPr/>
          </p:nvSpPr>
          <p:spPr>
            <a:xfrm>
              <a:off x="952500" y="18288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TABLE 1 · SCHEDULING</a:t>
              </a:r>
              <a:endParaRPr lang="en-US" sz="800" spc="48" kern="0" b="0" i="0" dirty="0">
                <a:solidFill>
                  <a:srgbClr val="FFFFFF"/>
                </a:solidFill>
                <a:latin typeface="IBM Plex Mono Medium"/>
                <a:ea typeface="IBM Plex Mono Medium"/>
                <a:cs typeface="IBM Plex Mono Medium"/>
              </a:endParaRPr>
            </a:p>
          </p:txBody>
        </p:sp>
      </p:grpSp>
      <p:grpSp>
        <p:nvGrpSpPr>
          <p:cNvPr id="76" name="node03"/>
          <p:cNvGrpSpPr/>
          <p:nvPr/>
        </p:nvGrpSpPr>
        <p:grpSpPr>
          <a:xfrm>
            <a:off x="723900" y="2514600"/>
            <a:ext cx="2514600" cy="1587500"/>
            <a:chOff x="723900" y="2514600"/>
            <a:chExt cx="2514600" cy="1587500"/>
          </a:xfrm>
        </p:grpSpPr>
        <p:sp>
          <p:nvSpPr>
            <p:cNvPr id="8" name="node03.source-001.bullet"/>
            <p:cNvSpPr/>
            <p:nvPr/>
          </p:nvSpPr>
          <p:spPr>
            <a:xfrm>
              <a:off x="723900" y="2603500"/>
              <a:ext cx="38100" cy="38100"/>
            </a:xfrm>
            <a:prstGeom prst="rect">
              <a:avLst/>
            </a:prstGeom>
            <a:solidFill>
              <a:srgbClr val="070154"/>
            </a:solidFill>
            <a:ln>
              <a:noFill/>
            </a:ln>
          </p:spPr>
        </p:sp>
        <p:sp>
          <p:nvSpPr>
            <p:cNvPr id="9" name="node03.source-001.text"/>
            <p:cNvSpPr/>
            <p:nvPr/>
          </p:nvSpPr>
          <p:spPr>
            <a:xfrm>
              <a:off x="876300" y="2514600"/>
              <a:ext cx="23622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Prompt:</a:t>
              </a:r>
              <a:r>
                <a:rPr lang="en-US" sz="1200" spc="0" kern="0" b="0" i="0" dirty="0">
                  <a:solidFill>
                    <a:srgbClr val="50658E"/>
                  </a:solidFill>
                  <a:latin typeface="IBM Plex Sans"/>
                  <a:ea typeface="IBM Plex Sans"/>
                  <a:cs typeface="IBM Plex Sans"/>
                </a:rPr>
                <a:t xml:space="preserve"> Draw one front door and one template for every service line.</a:t>
              </a:r>
              <a:endParaRPr lang="en-US" sz="1200" spc="0" kern="0" b="0" i="0" dirty="0">
                <a:solidFill>
                  <a:srgbClr val="070154"/>
                </a:solidFill>
                <a:latin typeface="IBM Plex Sans"/>
                <a:ea typeface="IBM Plex Sans"/>
                <a:cs typeface="IBM Plex Sans"/>
              </a:endParaRPr>
            </a:p>
          </p:txBody>
        </p:sp>
        <p:sp>
          <p:nvSpPr>
            <p:cNvPr id="10" name="node03.source-002.bullet"/>
            <p:cNvSpPr/>
            <p:nvPr/>
          </p:nvSpPr>
          <p:spPr>
            <a:xfrm>
              <a:off x="723900" y="3289300"/>
              <a:ext cx="38100" cy="38100"/>
            </a:xfrm>
            <a:prstGeom prst="rect">
              <a:avLst/>
            </a:prstGeom>
            <a:solidFill>
              <a:srgbClr val="070154"/>
            </a:solidFill>
            <a:ln>
              <a:noFill/>
            </a:ln>
          </p:spPr>
        </p:sp>
        <p:sp>
          <p:nvSpPr>
            <p:cNvPr id="11" name="node03.source-002.text"/>
            <p:cNvSpPr/>
            <p:nvPr/>
          </p:nvSpPr>
          <p:spPr>
            <a:xfrm>
              <a:off x="876300" y="32004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Materials:</a:t>
              </a:r>
              <a:r>
                <a:rPr lang="en-US" sz="1200" spc="0" kern="0" b="0" i="0" dirty="0">
                  <a:solidFill>
                    <a:srgbClr val="50658E"/>
                  </a:solidFill>
                  <a:latin typeface="IBM Plex Sans"/>
                  <a:ea typeface="IBM Plex Sans"/>
                  <a:cs typeface="IBM Plex Sans"/>
                </a:rPr>
                <a:t xml:space="preserve"> Canvas, template samples</a:t>
              </a:r>
              <a:endParaRPr lang="en-US" sz="1200" spc="0" kern="0" b="0" i="0" dirty="0">
                <a:solidFill>
                  <a:srgbClr val="070154"/>
                </a:solidFill>
                <a:latin typeface="IBM Plex Sans"/>
                <a:ea typeface="IBM Plex Sans"/>
                <a:cs typeface="IBM Plex Sans"/>
              </a:endParaRPr>
            </a:p>
          </p:txBody>
        </p:sp>
        <p:sp>
          <p:nvSpPr>
            <p:cNvPr id="12" name="node03.source-003.bullet"/>
            <p:cNvSpPr/>
            <p:nvPr/>
          </p:nvSpPr>
          <p:spPr>
            <a:xfrm>
              <a:off x="723900" y="3759200"/>
              <a:ext cx="38100" cy="38100"/>
            </a:xfrm>
            <a:prstGeom prst="rect">
              <a:avLst/>
            </a:prstGeom>
            <a:solidFill>
              <a:srgbClr val="070154"/>
            </a:solidFill>
            <a:ln>
              <a:noFill/>
            </a:ln>
          </p:spPr>
        </p:sp>
        <p:sp>
          <p:nvSpPr>
            <p:cNvPr id="13" name="node03.source-003.text"/>
            <p:cNvSpPr/>
            <p:nvPr/>
          </p:nvSpPr>
          <p:spPr>
            <a:xfrm>
              <a:off x="876300" y="36703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Time:</a:t>
              </a:r>
              <a:r>
                <a:rPr lang="en-US" sz="1200" spc="0" kern="0" b="0" i="0" dirty="0">
                  <a:solidFill>
                    <a:srgbClr val="50658E"/>
                  </a:solidFill>
                  <a:latin typeface="IBM Plex Sans"/>
                  <a:ea typeface="IBM Plex Sans"/>
                  <a:cs typeface="IBM Plex Sans"/>
                </a:rPr>
                <a:t xml:space="preserve"> 20 min · 2-minute report-back: three steps, one gap</a:t>
              </a:r>
              <a:endParaRPr lang="en-US" sz="1200" spc="0" kern="0" b="0" i="0" dirty="0">
                <a:solidFill>
                  <a:srgbClr val="070154"/>
                </a:solidFill>
                <a:latin typeface="IBM Plex Sans"/>
                <a:ea typeface="IBM Plex Sans"/>
                <a:cs typeface="IBM Plex Sans"/>
              </a:endParaRPr>
            </a:p>
          </p:txBody>
        </p:sp>
      </p:grpSp>
      <p:grpSp>
        <p:nvGrpSpPr>
          <p:cNvPr id="77" name="node04"/>
          <p:cNvGrpSpPr/>
          <p:nvPr/>
        </p:nvGrpSpPr>
        <p:grpSpPr>
          <a:xfrm>
            <a:off x="723900" y="4343400"/>
            <a:ext cx="2514600" cy="228600"/>
            <a:chOff x="723900" y="4343400"/>
            <a:chExt cx="2514600" cy="228600"/>
          </a:xfrm>
        </p:grpSpPr>
        <p:sp>
          <p:nvSpPr>
            <p:cNvPr id="14" name="node04.label"/>
            <p:cNvSpPr/>
            <p:nvPr/>
          </p:nvSpPr>
          <p:spPr>
            <a:xfrm>
              <a:off x="723900" y="4343400"/>
              <a:ext cx="95529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ASK THIS TABLE</a:t>
              </a:r>
              <a:endParaRPr lang="en-US" sz="800" spc="48" kern="0" b="0" i="0" dirty="0">
                <a:solidFill>
                  <a:srgbClr val="50658E"/>
                </a:solidFill>
                <a:latin typeface="IBM Plex Mono Medium"/>
                <a:ea typeface="IBM Plex Mono Medium"/>
                <a:cs typeface="IBM Plex Mono Medium"/>
              </a:endParaRPr>
            </a:p>
          </p:txBody>
        </p:sp>
        <p:sp>
          <p:nvSpPr>
            <p:cNvPr id="15" name="node04.rule"/>
            <p:cNvSpPr/>
            <p:nvPr/>
          </p:nvSpPr>
          <p:spPr>
            <a:xfrm>
              <a:off x="1806191" y="4452938"/>
              <a:ext cx="1432309" cy="9525"/>
            </a:xfrm>
            <a:prstGeom prst="rect">
              <a:avLst/>
            </a:prstGeom>
            <a:solidFill>
              <a:srgbClr val="CED7E6"/>
            </a:solidFill>
            <a:ln>
              <a:noFill/>
            </a:ln>
          </p:spPr>
        </p:sp>
      </p:grpSp>
      <p:sp>
        <p:nvSpPr>
          <p:cNvPr id="16" name="node05"/>
          <p:cNvSpPr/>
          <p:nvPr/>
        </p:nvSpPr>
        <p:spPr>
          <a:xfrm>
            <a:off x="723900" y="4572000"/>
            <a:ext cx="2514600" cy="9525"/>
          </a:xfrm>
          <a:prstGeom prst="rect">
            <a:avLst/>
          </a:prstGeom>
          <a:solidFill>
            <a:srgbClr val="CED7E6"/>
          </a:solidFill>
          <a:ln>
            <a:noFill/>
          </a:ln>
        </p:spPr>
      </p:sp>
      <p:grpSp>
        <p:nvGrpSpPr>
          <p:cNvPr id="78" name="node06"/>
          <p:cNvGrpSpPr/>
          <p:nvPr/>
        </p:nvGrpSpPr>
        <p:grpSpPr>
          <a:xfrm>
            <a:off x="723900" y="4800600"/>
            <a:ext cx="2514600" cy="939800"/>
            <a:chOff x="723900" y="4800600"/>
            <a:chExt cx="2514600" cy="939800"/>
          </a:xfrm>
        </p:grpSpPr>
        <p:sp>
          <p:nvSpPr>
            <p:cNvPr id="17" name="node06.source-001.bullet"/>
            <p:cNvSpPr/>
            <p:nvPr/>
          </p:nvSpPr>
          <p:spPr>
            <a:xfrm>
              <a:off x="723900" y="4889500"/>
              <a:ext cx="38100" cy="38100"/>
            </a:xfrm>
            <a:prstGeom prst="rect">
              <a:avLst/>
            </a:prstGeom>
            <a:solidFill>
              <a:srgbClr val="070154"/>
            </a:solidFill>
            <a:ln>
              <a:noFill/>
            </a:ln>
          </p:spPr>
        </p:sp>
        <p:sp>
          <p:nvSpPr>
            <p:cNvPr id="18" name="node06.source-001.text"/>
            <p:cNvSpPr/>
            <p:nvPr/>
          </p:nvSpPr>
          <p:spPr>
            <a:xfrm>
              <a:off x="876300" y="4800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Where does a request wait today?</a:t>
              </a:r>
              <a:endParaRPr lang="en-US" sz="1200" spc="0" kern="0" b="0" i="0" dirty="0">
                <a:solidFill>
                  <a:srgbClr val="070154"/>
                </a:solidFill>
                <a:latin typeface="IBM Plex Sans"/>
                <a:ea typeface="IBM Plex Sans"/>
                <a:cs typeface="IBM Plex Sans"/>
              </a:endParaRPr>
            </a:p>
          </p:txBody>
        </p:sp>
        <p:sp>
          <p:nvSpPr>
            <p:cNvPr id="19" name="node06.source-002.bullet"/>
            <p:cNvSpPr/>
            <p:nvPr/>
          </p:nvSpPr>
          <p:spPr>
            <a:xfrm>
              <a:off x="723900" y="5143500"/>
              <a:ext cx="38100" cy="38100"/>
            </a:xfrm>
            <a:prstGeom prst="rect">
              <a:avLst/>
            </a:prstGeom>
            <a:solidFill>
              <a:srgbClr val="070154"/>
            </a:solidFill>
            <a:ln>
              <a:noFill/>
            </a:ln>
          </p:spPr>
        </p:sp>
        <p:sp>
          <p:nvSpPr>
            <p:cNvPr id="20" name="node06.source-002.text"/>
            <p:cNvSpPr/>
            <p:nvPr/>
          </p:nvSpPr>
          <p:spPr>
            <a:xfrm>
              <a:off x="876300" y="50546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Which template could every clinic use?</a:t>
              </a:r>
              <a:endParaRPr lang="en-US" sz="1200" spc="0" kern="0" b="0" i="0" dirty="0">
                <a:solidFill>
                  <a:srgbClr val="070154"/>
                </a:solidFill>
                <a:latin typeface="IBM Plex Sans"/>
                <a:ea typeface="IBM Plex Sans"/>
                <a:cs typeface="IBM Plex Sans"/>
              </a:endParaRPr>
            </a:p>
          </p:txBody>
        </p:sp>
        <p:sp>
          <p:nvSpPr>
            <p:cNvPr id="21" name="node06.source-003.bullet"/>
            <p:cNvSpPr/>
            <p:nvPr/>
          </p:nvSpPr>
          <p:spPr>
            <a:xfrm>
              <a:off x="723900" y="5613400"/>
              <a:ext cx="38100" cy="38100"/>
            </a:xfrm>
            <a:prstGeom prst="rect">
              <a:avLst/>
            </a:prstGeom>
            <a:solidFill>
              <a:srgbClr val="070154"/>
            </a:solidFill>
            <a:ln>
              <a:noFill/>
            </a:ln>
          </p:spPr>
        </p:sp>
        <p:sp>
          <p:nvSpPr>
            <p:cNvPr id="22" name="node06.source-003.text"/>
            <p:cNvSpPr/>
            <p:nvPr/>
          </p:nvSpPr>
          <p:spPr>
            <a:xfrm>
              <a:off x="876300" y="55245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Who owns the no-show list?</a:t>
              </a:r>
              <a:endParaRPr lang="en-US" sz="1200" spc="0" kern="0" b="0" i="0" dirty="0">
                <a:solidFill>
                  <a:srgbClr val="070154"/>
                </a:solidFill>
                <a:latin typeface="IBM Plex Sans"/>
                <a:ea typeface="IBM Plex Sans"/>
                <a:cs typeface="IBM Plex Sans"/>
              </a:endParaRPr>
            </a:p>
          </p:txBody>
        </p:sp>
      </p:grpSp>
      <p:grpSp>
        <p:nvGrpSpPr>
          <p:cNvPr id="79" name="node07"/>
          <p:cNvGrpSpPr/>
          <p:nvPr/>
        </p:nvGrpSpPr>
        <p:grpSpPr>
          <a:xfrm>
            <a:off x="3467100" y="1600200"/>
            <a:ext cx="2514600" cy="685800"/>
            <a:chOff x="3467100" y="1600200"/>
            <a:chExt cx="2514600" cy="685800"/>
          </a:xfrm>
        </p:grpSpPr>
        <p:sp>
          <p:nvSpPr>
            <p:cNvPr id="23" name="node07.surface"/>
            <p:cNvSpPr/>
            <p:nvPr/>
          </p:nvSpPr>
          <p:spPr>
            <a:xfrm>
              <a:off x="3467100" y="1600200"/>
              <a:ext cx="2514600" cy="685800"/>
            </a:xfrm>
            <a:prstGeom prst="rect">
              <a:avLst/>
            </a:prstGeom>
            <a:solidFill>
              <a:srgbClr val="070154"/>
            </a:solidFill>
            <a:ln>
              <a:noFill/>
            </a:ln>
          </p:spPr>
        </p:sp>
      </p:grpSp>
      <p:grpSp>
        <p:nvGrpSpPr>
          <p:cNvPr id="80" name="node08"/>
          <p:cNvGrpSpPr/>
          <p:nvPr/>
        </p:nvGrpSpPr>
        <p:grpSpPr>
          <a:xfrm>
            <a:off x="3695700" y="1828800"/>
            <a:ext cx="2057400" cy="139700"/>
            <a:chOff x="3695700" y="1828800"/>
            <a:chExt cx="2057400" cy="139700"/>
          </a:xfrm>
        </p:grpSpPr>
        <p:sp>
          <p:nvSpPr>
            <p:cNvPr id="24" name="node08.text"/>
            <p:cNvSpPr/>
            <p:nvPr/>
          </p:nvSpPr>
          <p:spPr>
            <a:xfrm>
              <a:off x="3695700" y="18288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TABLE 2 · REGISTRATION</a:t>
              </a:r>
              <a:endParaRPr lang="en-US" sz="800" spc="48" kern="0" b="0" i="0" dirty="0">
                <a:solidFill>
                  <a:srgbClr val="FFFFFF"/>
                </a:solidFill>
                <a:latin typeface="IBM Plex Mono Medium"/>
                <a:ea typeface="IBM Plex Mono Medium"/>
                <a:cs typeface="IBM Plex Mono Medium"/>
              </a:endParaRPr>
            </a:p>
          </p:txBody>
        </p:sp>
      </p:grpSp>
      <p:grpSp>
        <p:nvGrpSpPr>
          <p:cNvPr id="81" name="node09"/>
          <p:cNvGrpSpPr/>
          <p:nvPr/>
        </p:nvGrpSpPr>
        <p:grpSpPr>
          <a:xfrm>
            <a:off x="3467100" y="2514600"/>
            <a:ext cx="2514600" cy="1371600"/>
            <a:chOff x="3467100" y="2514600"/>
            <a:chExt cx="2514600" cy="1371600"/>
          </a:xfrm>
        </p:grpSpPr>
        <p:sp>
          <p:nvSpPr>
            <p:cNvPr id="25" name="node09.source-001.bullet"/>
            <p:cNvSpPr/>
            <p:nvPr/>
          </p:nvSpPr>
          <p:spPr>
            <a:xfrm>
              <a:off x="3467100" y="2603500"/>
              <a:ext cx="38100" cy="38100"/>
            </a:xfrm>
            <a:prstGeom prst="rect">
              <a:avLst/>
            </a:prstGeom>
            <a:solidFill>
              <a:srgbClr val="070154"/>
            </a:solidFill>
            <a:ln>
              <a:noFill/>
            </a:ln>
          </p:spPr>
        </p:sp>
        <p:sp>
          <p:nvSpPr>
            <p:cNvPr id="26" name="node09.source-001.text"/>
            <p:cNvSpPr/>
            <p:nvPr/>
          </p:nvSpPr>
          <p:spPr>
            <a:xfrm>
              <a:off x="3619500" y="2514600"/>
              <a:ext cx="23622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Prompt:</a:t>
              </a:r>
              <a:r>
                <a:rPr lang="en-US" sz="1200" spc="0" kern="0" b="0" i="0" dirty="0">
                  <a:solidFill>
                    <a:srgbClr val="50658E"/>
                  </a:solidFill>
                  <a:latin typeface="IBM Plex Sans"/>
                  <a:ea typeface="IBM Plex Sans"/>
                  <a:cs typeface="IBM Plex Sans"/>
                </a:rPr>
                <a:t xml:space="preserve"> Capture insurance and consent once, before the patient arrives.</a:t>
              </a:r>
              <a:endParaRPr lang="en-US" sz="1200" spc="0" kern="0" b="0" i="0" dirty="0">
                <a:solidFill>
                  <a:srgbClr val="070154"/>
                </a:solidFill>
                <a:latin typeface="IBM Plex Sans"/>
                <a:ea typeface="IBM Plex Sans"/>
                <a:cs typeface="IBM Plex Sans"/>
              </a:endParaRPr>
            </a:p>
          </p:txBody>
        </p:sp>
        <p:sp>
          <p:nvSpPr>
            <p:cNvPr id="27" name="node09.source-002.bullet"/>
            <p:cNvSpPr/>
            <p:nvPr/>
          </p:nvSpPr>
          <p:spPr>
            <a:xfrm>
              <a:off x="3467100" y="3289300"/>
              <a:ext cx="38100" cy="38100"/>
            </a:xfrm>
            <a:prstGeom prst="rect">
              <a:avLst/>
            </a:prstGeom>
            <a:solidFill>
              <a:srgbClr val="070154"/>
            </a:solidFill>
            <a:ln>
              <a:noFill/>
            </a:ln>
          </p:spPr>
        </p:sp>
        <p:sp>
          <p:nvSpPr>
            <p:cNvPr id="28" name="node09.source-002.text"/>
            <p:cNvSpPr/>
            <p:nvPr/>
          </p:nvSpPr>
          <p:spPr>
            <a:xfrm>
              <a:off x="3619500" y="32004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Materials:</a:t>
              </a:r>
              <a:r>
                <a:rPr lang="en-US" sz="1200" spc="0" kern="0" b="0" i="0" dirty="0">
                  <a:solidFill>
                    <a:srgbClr val="50658E"/>
                  </a:solidFill>
                  <a:latin typeface="IBM Plex Sans"/>
                  <a:ea typeface="IBM Plex Sans"/>
                  <a:cs typeface="IBM Plex Sans"/>
                </a:rPr>
                <a:t xml:space="preserve"> Canvas, form samples</a:t>
              </a:r>
              <a:endParaRPr lang="en-US" sz="1200" spc="0" kern="0" b="0" i="0" dirty="0">
                <a:solidFill>
                  <a:srgbClr val="070154"/>
                </a:solidFill>
                <a:latin typeface="IBM Plex Sans"/>
                <a:ea typeface="IBM Plex Sans"/>
                <a:cs typeface="IBM Plex Sans"/>
              </a:endParaRPr>
            </a:p>
          </p:txBody>
        </p:sp>
        <p:sp>
          <p:nvSpPr>
            <p:cNvPr id="29" name="node09.source-003.bullet"/>
            <p:cNvSpPr/>
            <p:nvPr/>
          </p:nvSpPr>
          <p:spPr>
            <a:xfrm>
              <a:off x="3467100" y="3543300"/>
              <a:ext cx="38100" cy="38100"/>
            </a:xfrm>
            <a:prstGeom prst="rect">
              <a:avLst/>
            </a:prstGeom>
            <a:solidFill>
              <a:srgbClr val="070154"/>
            </a:solidFill>
            <a:ln>
              <a:noFill/>
            </a:ln>
          </p:spPr>
        </p:sp>
        <p:sp>
          <p:nvSpPr>
            <p:cNvPr id="30" name="node09.source-003.text"/>
            <p:cNvSpPr/>
            <p:nvPr/>
          </p:nvSpPr>
          <p:spPr>
            <a:xfrm>
              <a:off x="3619500" y="34544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Time:</a:t>
              </a:r>
              <a:r>
                <a:rPr lang="en-US" sz="1200" spc="0" kern="0" b="0" i="0" dirty="0">
                  <a:solidFill>
                    <a:srgbClr val="50658E"/>
                  </a:solidFill>
                  <a:latin typeface="IBM Plex Sans"/>
                  <a:ea typeface="IBM Plex Sans"/>
                  <a:cs typeface="IBM Plex Sans"/>
                </a:rPr>
                <a:t xml:space="preserve"> 20 min · 2-minute report-back: data captured, owner</a:t>
              </a:r>
              <a:endParaRPr lang="en-US" sz="1200" spc="0" kern="0" b="0" i="0" dirty="0">
                <a:solidFill>
                  <a:srgbClr val="070154"/>
                </a:solidFill>
                <a:latin typeface="IBM Plex Sans"/>
                <a:ea typeface="IBM Plex Sans"/>
                <a:cs typeface="IBM Plex Sans"/>
              </a:endParaRPr>
            </a:p>
          </p:txBody>
        </p:sp>
      </p:grpSp>
      <p:grpSp>
        <p:nvGrpSpPr>
          <p:cNvPr id="82" name="node10"/>
          <p:cNvGrpSpPr/>
          <p:nvPr/>
        </p:nvGrpSpPr>
        <p:grpSpPr>
          <a:xfrm>
            <a:off x="3467100" y="4343400"/>
            <a:ext cx="2514600" cy="228600"/>
            <a:chOff x="3467100" y="4343400"/>
            <a:chExt cx="2514600" cy="228600"/>
          </a:xfrm>
        </p:grpSpPr>
        <p:sp>
          <p:nvSpPr>
            <p:cNvPr id="31" name="node10.label"/>
            <p:cNvSpPr/>
            <p:nvPr/>
          </p:nvSpPr>
          <p:spPr>
            <a:xfrm>
              <a:off x="3467100" y="4343400"/>
              <a:ext cx="95529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ASK THIS TABLE</a:t>
              </a:r>
              <a:endParaRPr lang="en-US" sz="800" spc="48" kern="0" b="0" i="0" dirty="0">
                <a:solidFill>
                  <a:srgbClr val="50658E"/>
                </a:solidFill>
                <a:latin typeface="IBM Plex Mono Medium"/>
                <a:ea typeface="IBM Plex Mono Medium"/>
                <a:cs typeface="IBM Plex Mono Medium"/>
              </a:endParaRPr>
            </a:p>
          </p:txBody>
        </p:sp>
        <p:sp>
          <p:nvSpPr>
            <p:cNvPr id="32" name="node10.rule"/>
            <p:cNvSpPr/>
            <p:nvPr/>
          </p:nvSpPr>
          <p:spPr>
            <a:xfrm>
              <a:off x="4549391" y="4452938"/>
              <a:ext cx="1432309" cy="9525"/>
            </a:xfrm>
            <a:prstGeom prst="rect">
              <a:avLst/>
            </a:prstGeom>
            <a:solidFill>
              <a:srgbClr val="CED7E6"/>
            </a:solidFill>
            <a:ln>
              <a:noFill/>
            </a:ln>
          </p:spPr>
        </p:sp>
      </p:grpSp>
      <p:sp>
        <p:nvSpPr>
          <p:cNvPr id="33" name="node11"/>
          <p:cNvSpPr/>
          <p:nvPr/>
        </p:nvSpPr>
        <p:spPr>
          <a:xfrm>
            <a:off x="3467100" y="4572000"/>
            <a:ext cx="2514600" cy="9525"/>
          </a:xfrm>
          <a:prstGeom prst="rect">
            <a:avLst/>
          </a:prstGeom>
          <a:solidFill>
            <a:srgbClr val="CED7E6"/>
          </a:solidFill>
          <a:ln>
            <a:noFill/>
          </a:ln>
        </p:spPr>
      </p:sp>
      <p:grpSp>
        <p:nvGrpSpPr>
          <p:cNvPr id="83" name="node12"/>
          <p:cNvGrpSpPr/>
          <p:nvPr/>
        </p:nvGrpSpPr>
        <p:grpSpPr>
          <a:xfrm>
            <a:off x="3467100" y="4800600"/>
            <a:ext cx="2514600" cy="939800"/>
            <a:chOff x="3467100" y="4800600"/>
            <a:chExt cx="2514600" cy="939800"/>
          </a:xfrm>
        </p:grpSpPr>
        <p:sp>
          <p:nvSpPr>
            <p:cNvPr id="34" name="node12.source-001.bullet"/>
            <p:cNvSpPr/>
            <p:nvPr/>
          </p:nvSpPr>
          <p:spPr>
            <a:xfrm>
              <a:off x="3467100" y="4889500"/>
              <a:ext cx="38100" cy="38100"/>
            </a:xfrm>
            <a:prstGeom prst="rect">
              <a:avLst/>
            </a:prstGeom>
            <a:solidFill>
              <a:srgbClr val="070154"/>
            </a:solidFill>
            <a:ln>
              <a:noFill/>
            </a:ln>
          </p:spPr>
        </p:sp>
        <p:sp>
          <p:nvSpPr>
            <p:cNvPr id="35" name="node12.source-001.text"/>
            <p:cNvSpPr/>
            <p:nvPr/>
          </p:nvSpPr>
          <p:spPr>
            <a:xfrm>
              <a:off x="3619500" y="48006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What do we ask that we already know?</a:t>
              </a:r>
              <a:endParaRPr lang="en-US" sz="1200" spc="0" kern="0" b="0" i="0" dirty="0">
                <a:solidFill>
                  <a:srgbClr val="070154"/>
                </a:solidFill>
                <a:latin typeface="IBM Plex Sans"/>
                <a:ea typeface="IBM Plex Sans"/>
                <a:cs typeface="IBM Plex Sans"/>
              </a:endParaRPr>
            </a:p>
          </p:txBody>
        </p:sp>
        <p:sp>
          <p:nvSpPr>
            <p:cNvPr id="36" name="node12.source-002.bullet"/>
            <p:cNvSpPr/>
            <p:nvPr/>
          </p:nvSpPr>
          <p:spPr>
            <a:xfrm>
              <a:off x="3467100" y="5359400"/>
              <a:ext cx="38100" cy="38100"/>
            </a:xfrm>
            <a:prstGeom prst="rect">
              <a:avLst/>
            </a:prstGeom>
            <a:solidFill>
              <a:srgbClr val="070154"/>
            </a:solidFill>
            <a:ln>
              <a:noFill/>
            </a:ln>
          </p:spPr>
        </p:sp>
        <p:sp>
          <p:nvSpPr>
            <p:cNvPr id="37" name="node12.source-002.text"/>
            <p:cNvSpPr/>
            <p:nvPr/>
          </p:nvSpPr>
          <p:spPr>
            <a:xfrm>
              <a:off x="3619500" y="52705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Who verifies, and when?</a:t>
              </a:r>
              <a:endParaRPr lang="en-US" sz="1200" spc="0" kern="0" b="0" i="0" dirty="0">
                <a:solidFill>
                  <a:srgbClr val="070154"/>
                </a:solidFill>
                <a:latin typeface="IBM Plex Sans"/>
                <a:ea typeface="IBM Plex Sans"/>
                <a:cs typeface="IBM Plex Sans"/>
              </a:endParaRPr>
            </a:p>
          </p:txBody>
        </p:sp>
        <p:sp>
          <p:nvSpPr>
            <p:cNvPr id="38" name="node12.source-003.bullet"/>
            <p:cNvSpPr/>
            <p:nvPr/>
          </p:nvSpPr>
          <p:spPr>
            <a:xfrm>
              <a:off x="3467100" y="5613400"/>
              <a:ext cx="38100" cy="38100"/>
            </a:xfrm>
            <a:prstGeom prst="rect">
              <a:avLst/>
            </a:prstGeom>
            <a:solidFill>
              <a:srgbClr val="070154"/>
            </a:solidFill>
            <a:ln>
              <a:noFill/>
            </a:ln>
          </p:spPr>
        </p:sp>
        <p:sp>
          <p:nvSpPr>
            <p:cNvPr id="39" name="node12.source-003.text"/>
            <p:cNvSpPr/>
            <p:nvPr/>
          </p:nvSpPr>
          <p:spPr>
            <a:xfrm>
              <a:off x="3619500" y="55245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Which consent is missed most?</a:t>
              </a:r>
              <a:endParaRPr lang="en-US" sz="1200" spc="0" kern="0" b="0" i="0" dirty="0">
                <a:solidFill>
                  <a:srgbClr val="070154"/>
                </a:solidFill>
                <a:latin typeface="IBM Plex Sans"/>
                <a:ea typeface="IBM Plex Sans"/>
                <a:cs typeface="IBM Plex Sans"/>
              </a:endParaRPr>
            </a:p>
          </p:txBody>
        </p:sp>
      </p:grpSp>
      <p:grpSp>
        <p:nvGrpSpPr>
          <p:cNvPr id="84" name="node13"/>
          <p:cNvGrpSpPr/>
          <p:nvPr/>
        </p:nvGrpSpPr>
        <p:grpSpPr>
          <a:xfrm>
            <a:off x="6210300" y="1600200"/>
            <a:ext cx="2514600" cy="685800"/>
            <a:chOff x="6210300" y="1600200"/>
            <a:chExt cx="2514600" cy="685800"/>
          </a:xfrm>
        </p:grpSpPr>
        <p:sp>
          <p:nvSpPr>
            <p:cNvPr id="40" name="node13.surface"/>
            <p:cNvSpPr/>
            <p:nvPr/>
          </p:nvSpPr>
          <p:spPr>
            <a:xfrm>
              <a:off x="6210300" y="1600200"/>
              <a:ext cx="2514600" cy="685800"/>
            </a:xfrm>
            <a:prstGeom prst="rect">
              <a:avLst/>
            </a:prstGeom>
            <a:solidFill>
              <a:srgbClr val="070154"/>
            </a:solidFill>
            <a:ln>
              <a:noFill/>
            </a:ln>
          </p:spPr>
        </p:sp>
      </p:grpSp>
      <p:grpSp>
        <p:nvGrpSpPr>
          <p:cNvPr id="85" name="node14"/>
          <p:cNvGrpSpPr/>
          <p:nvPr/>
        </p:nvGrpSpPr>
        <p:grpSpPr>
          <a:xfrm>
            <a:off x="6438900" y="1828800"/>
            <a:ext cx="2057400" cy="139700"/>
            <a:chOff x="6438900" y="1828800"/>
            <a:chExt cx="2057400" cy="139700"/>
          </a:xfrm>
        </p:grpSpPr>
        <p:sp>
          <p:nvSpPr>
            <p:cNvPr id="41" name="node14.text"/>
            <p:cNvSpPr/>
            <p:nvPr/>
          </p:nvSpPr>
          <p:spPr>
            <a:xfrm>
              <a:off x="6438900" y="18288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TABLE 3 · ESTIMATES</a:t>
              </a:r>
              <a:endParaRPr lang="en-US" sz="800" spc="48" kern="0" b="0" i="0" dirty="0">
                <a:solidFill>
                  <a:srgbClr val="FFFFFF"/>
                </a:solidFill>
                <a:latin typeface="IBM Plex Mono Medium"/>
                <a:ea typeface="IBM Plex Mono Medium"/>
                <a:cs typeface="IBM Plex Mono Medium"/>
              </a:endParaRPr>
            </a:p>
          </p:txBody>
        </p:sp>
      </p:grpSp>
      <p:grpSp>
        <p:nvGrpSpPr>
          <p:cNvPr id="86" name="node15"/>
          <p:cNvGrpSpPr/>
          <p:nvPr/>
        </p:nvGrpSpPr>
        <p:grpSpPr>
          <a:xfrm>
            <a:off x="6210300" y="2514600"/>
            <a:ext cx="2514600" cy="1371600"/>
            <a:chOff x="6210300" y="2514600"/>
            <a:chExt cx="2514600" cy="1371600"/>
          </a:xfrm>
        </p:grpSpPr>
        <p:sp>
          <p:nvSpPr>
            <p:cNvPr id="42" name="node15.source-001.bullet"/>
            <p:cNvSpPr/>
            <p:nvPr/>
          </p:nvSpPr>
          <p:spPr>
            <a:xfrm>
              <a:off x="6210300" y="2603500"/>
              <a:ext cx="38100" cy="38100"/>
            </a:xfrm>
            <a:prstGeom prst="rect">
              <a:avLst/>
            </a:prstGeom>
            <a:solidFill>
              <a:srgbClr val="070154"/>
            </a:solidFill>
            <a:ln>
              <a:noFill/>
            </a:ln>
          </p:spPr>
        </p:sp>
        <p:sp>
          <p:nvSpPr>
            <p:cNvPr id="43" name="node15.source-001.text"/>
            <p:cNvSpPr/>
            <p:nvPr/>
          </p:nvSpPr>
          <p:spPr>
            <a:xfrm>
              <a:off x="6362700" y="25146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Prompt:</a:t>
              </a:r>
              <a:r>
                <a:rPr lang="en-US" sz="1200" spc="0" kern="0" b="0" i="0" dirty="0">
                  <a:solidFill>
                    <a:srgbClr val="50658E"/>
                  </a:solidFill>
                  <a:latin typeface="IBM Plex Sans"/>
                  <a:ea typeface="IBM Plex Sans"/>
                  <a:cs typeface="IBM Plex Sans"/>
                </a:rPr>
                <a:t xml:space="preserve"> Give a price a patient can rely on before they book.</a:t>
              </a:r>
              <a:endParaRPr lang="en-US" sz="1200" spc="0" kern="0" b="0" i="0" dirty="0">
                <a:solidFill>
                  <a:srgbClr val="070154"/>
                </a:solidFill>
                <a:latin typeface="IBM Plex Sans"/>
                <a:ea typeface="IBM Plex Sans"/>
                <a:cs typeface="IBM Plex Sans"/>
              </a:endParaRPr>
            </a:p>
          </p:txBody>
        </p:sp>
        <p:sp>
          <p:nvSpPr>
            <p:cNvPr id="44" name="node15.source-002.bullet"/>
            <p:cNvSpPr/>
            <p:nvPr/>
          </p:nvSpPr>
          <p:spPr>
            <a:xfrm>
              <a:off x="6210300" y="3073400"/>
              <a:ext cx="38100" cy="38100"/>
            </a:xfrm>
            <a:prstGeom prst="rect">
              <a:avLst/>
            </a:prstGeom>
            <a:solidFill>
              <a:srgbClr val="070154"/>
            </a:solidFill>
            <a:ln>
              <a:noFill/>
            </a:ln>
          </p:spPr>
        </p:sp>
        <p:sp>
          <p:nvSpPr>
            <p:cNvPr id="45" name="node15.source-002.text"/>
            <p:cNvSpPr/>
            <p:nvPr/>
          </p:nvSpPr>
          <p:spPr>
            <a:xfrm>
              <a:off x="6362700" y="29845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Materials:</a:t>
              </a:r>
              <a:r>
                <a:rPr lang="en-US" sz="1200" spc="0" kern="0" b="0" i="0" dirty="0">
                  <a:solidFill>
                    <a:srgbClr val="50658E"/>
                  </a:solidFill>
                  <a:latin typeface="IBM Plex Sans"/>
                  <a:ea typeface="IBM Plex Sans"/>
                  <a:cs typeface="IBM Plex Sans"/>
                </a:rPr>
                <a:t xml:space="preserve"> Canvas, price list sample</a:t>
              </a:r>
              <a:endParaRPr lang="en-US" sz="1200" spc="0" kern="0" b="0" i="0" dirty="0">
                <a:solidFill>
                  <a:srgbClr val="070154"/>
                </a:solidFill>
                <a:latin typeface="IBM Plex Sans"/>
                <a:ea typeface="IBM Plex Sans"/>
                <a:cs typeface="IBM Plex Sans"/>
              </a:endParaRPr>
            </a:p>
          </p:txBody>
        </p:sp>
        <p:sp>
          <p:nvSpPr>
            <p:cNvPr id="46" name="node15.source-003.bullet"/>
            <p:cNvSpPr/>
            <p:nvPr/>
          </p:nvSpPr>
          <p:spPr>
            <a:xfrm>
              <a:off x="6210300" y="3543300"/>
              <a:ext cx="38100" cy="38100"/>
            </a:xfrm>
            <a:prstGeom prst="rect">
              <a:avLst/>
            </a:prstGeom>
            <a:solidFill>
              <a:srgbClr val="070154"/>
            </a:solidFill>
            <a:ln>
              <a:noFill/>
            </a:ln>
          </p:spPr>
        </p:sp>
        <p:sp>
          <p:nvSpPr>
            <p:cNvPr id="47" name="node15.source-003.text"/>
            <p:cNvSpPr/>
            <p:nvPr/>
          </p:nvSpPr>
          <p:spPr>
            <a:xfrm>
              <a:off x="6362700" y="34544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Time:</a:t>
              </a:r>
              <a:r>
                <a:rPr lang="en-US" sz="1200" spc="0" kern="0" b="0" i="0" dirty="0">
                  <a:solidFill>
                    <a:srgbClr val="50658E"/>
                  </a:solidFill>
                  <a:latin typeface="IBM Plex Sans"/>
                  <a:ea typeface="IBM Plex Sans"/>
                  <a:cs typeface="IBM Plex Sans"/>
                </a:rPr>
                <a:t xml:space="preserve"> 20 min · 2-minute report-back: services quoted first</a:t>
              </a:r>
              <a:endParaRPr lang="en-US" sz="1200" spc="0" kern="0" b="0" i="0" dirty="0">
                <a:solidFill>
                  <a:srgbClr val="070154"/>
                </a:solidFill>
                <a:latin typeface="IBM Plex Sans"/>
                <a:ea typeface="IBM Plex Sans"/>
                <a:cs typeface="IBM Plex Sans"/>
              </a:endParaRPr>
            </a:p>
          </p:txBody>
        </p:sp>
      </p:grpSp>
      <p:grpSp>
        <p:nvGrpSpPr>
          <p:cNvPr id="87" name="node16"/>
          <p:cNvGrpSpPr/>
          <p:nvPr/>
        </p:nvGrpSpPr>
        <p:grpSpPr>
          <a:xfrm>
            <a:off x="6210300" y="4343400"/>
            <a:ext cx="2514600" cy="228600"/>
            <a:chOff x="6210300" y="4343400"/>
            <a:chExt cx="2514600" cy="228600"/>
          </a:xfrm>
        </p:grpSpPr>
        <p:sp>
          <p:nvSpPr>
            <p:cNvPr id="48" name="node16.label"/>
            <p:cNvSpPr/>
            <p:nvPr/>
          </p:nvSpPr>
          <p:spPr>
            <a:xfrm>
              <a:off x="6210300" y="4343400"/>
              <a:ext cx="95529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ASK THIS TABLE</a:t>
              </a:r>
              <a:endParaRPr lang="en-US" sz="800" spc="48" kern="0" b="0" i="0" dirty="0">
                <a:solidFill>
                  <a:srgbClr val="50658E"/>
                </a:solidFill>
                <a:latin typeface="IBM Plex Mono Medium"/>
                <a:ea typeface="IBM Plex Mono Medium"/>
                <a:cs typeface="IBM Plex Mono Medium"/>
              </a:endParaRPr>
            </a:p>
          </p:txBody>
        </p:sp>
        <p:sp>
          <p:nvSpPr>
            <p:cNvPr id="49" name="node16.rule"/>
            <p:cNvSpPr/>
            <p:nvPr/>
          </p:nvSpPr>
          <p:spPr>
            <a:xfrm>
              <a:off x="7292591" y="4452938"/>
              <a:ext cx="1432309" cy="9525"/>
            </a:xfrm>
            <a:prstGeom prst="rect">
              <a:avLst/>
            </a:prstGeom>
            <a:solidFill>
              <a:srgbClr val="CED7E6"/>
            </a:solidFill>
            <a:ln>
              <a:noFill/>
            </a:ln>
          </p:spPr>
        </p:sp>
      </p:grpSp>
      <p:sp>
        <p:nvSpPr>
          <p:cNvPr id="50" name="node17"/>
          <p:cNvSpPr/>
          <p:nvPr/>
        </p:nvSpPr>
        <p:spPr>
          <a:xfrm>
            <a:off x="6210300" y="4572000"/>
            <a:ext cx="2514600" cy="9525"/>
          </a:xfrm>
          <a:prstGeom prst="rect">
            <a:avLst/>
          </a:prstGeom>
          <a:solidFill>
            <a:srgbClr val="CED7E6"/>
          </a:solidFill>
          <a:ln>
            <a:noFill/>
          </a:ln>
        </p:spPr>
      </p:sp>
      <p:grpSp>
        <p:nvGrpSpPr>
          <p:cNvPr id="88" name="node18"/>
          <p:cNvGrpSpPr/>
          <p:nvPr/>
        </p:nvGrpSpPr>
        <p:grpSpPr>
          <a:xfrm>
            <a:off x="6210300" y="4800600"/>
            <a:ext cx="2514600" cy="939800"/>
            <a:chOff x="6210300" y="4800600"/>
            <a:chExt cx="2514600" cy="939800"/>
          </a:xfrm>
        </p:grpSpPr>
        <p:sp>
          <p:nvSpPr>
            <p:cNvPr id="51" name="node18.source-001.bullet"/>
            <p:cNvSpPr/>
            <p:nvPr/>
          </p:nvSpPr>
          <p:spPr>
            <a:xfrm>
              <a:off x="6210300" y="4889500"/>
              <a:ext cx="38100" cy="38100"/>
            </a:xfrm>
            <a:prstGeom prst="rect">
              <a:avLst/>
            </a:prstGeom>
            <a:solidFill>
              <a:srgbClr val="070154"/>
            </a:solidFill>
            <a:ln>
              <a:noFill/>
            </a:ln>
          </p:spPr>
        </p:sp>
        <p:sp>
          <p:nvSpPr>
            <p:cNvPr id="52" name="node18.source-001.text"/>
            <p:cNvSpPr/>
            <p:nvPr/>
          </p:nvSpPr>
          <p:spPr>
            <a:xfrm>
              <a:off x="6362700" y="4800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Which ten services first?</a:t>
              </a:r>
              <a:endParaRPr lang="en-US" sz="1200" spc="0" kern="0" b="0" i="0" dirty="0">
                <a:solidFill>
                  <a:srgbClr val="070154"/>
                </a:solidFill>
                <a:latin typeface="IBM Plex Sans"/>
                <a:ea typeface="IBM Plex Sans"/>
                <a:cs typeface="IBM Plex Sans"/>
              </a:endParaRPr>
            </a:p>
          </p:txBody>
        </p:sp>
        <p:sp>
          <p:nvSpPr>
            <p:cNvPr id="53" name="node18.source-002.bullet"/>
            <p:cNvSpPr/>
            <p:nvPr/>
          </p:nvSpPr>
          <p:spPr>
            <a:xfrm>
              <a:off x="6210300" y="5143500"/>
              <a:ext cx="38100" cy="38100"/>
            </a:xfrm>
            <a:prstGeom prst="rect">
              <a:avLst/>
            </a:prstGeom>
            <a:solidFill>
              <a:srgbClr val="070154"/>
            </a:solidFill>
            <a:ln>
              <a:noFill/>
            </a:ln>
          </p:spPr>
        </p:sp>
        <p:sp>
          <p:nvSpPr>
            <p:cNvPr id="54" name="node18.source-002.text"/>
            <p:cNvSpPr/>
            <p:nvPr/>
          </p:nvSpPr>
          <p:spPr>
            <a:xfrm>
              <a:off x="6362700" y="5054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What data is missing today?</a:t>
              </a:r>
              <a:endParaRPr lang="en-US" sz="1200" spc="0" kern="0" b="0" i="0" dirty="0">
                <a:solidFill>
                  <a:srgbClr val="070154"/>
                </a:solidFill>
                <a:latin typeface="IBM Plex Sans"/>
                <a:ea typeface="IBM Plex Sans"/>
                <a:cs typeface="IBM Plex Sans"/>
              </a:endParaRPr>
            </a:p>
          </p:txBody>
        </p:sp>
        <p:sp>
          <p:nvSpPr>
            <p:cNvPr id="55" name="node18.source-003.bullet"/>
            <p:cNvSpPr/>
            <p:nvPr/>
          </p:nvSpPr>
          <p:spPr>
            <a:xfrm>
              <a:off x="6210300" y="5397500"/>
              <a:ext cx="38100" cy="38100"/>
            </a:xfrm>
            <a:prstGeom prst="rect">
              <a:avLst/>
            </a:prstGeom>
            <a:solidFill>
              <a:srgbClr val="070154"/>
            </a:solidFill>
            <a:ln>
              <a:noFill/>
            </a:ln>
          </p:spPr>
        </p:sp>
        <p:sp>
          <p:nvSpPr>
            <p:cNvPr id="56" name="node18.source-003.text"/>
            <p:cNvSpPr/>
            <p:nvPr/>
          </p:nvSpPr>
          <p:spPr>
            <a:xfrm>
              <a:off x="6362700" y="53086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What happens when the price is high?</a:t>
              </a:r>
              <a:endParaRPr lang="en-US" sz="1200" spc="0" kern="0" b="0" i="0" dirty="0">
                <a:solidFill>
                  <a:srgbClr val="070154"/>
                </a:solidFill>
                <a:latin typeface="IBM Plex Sans"/>
                <a:ea typeface="IBM Plex Sans"/>
                <a:cs typeface="IBM Plex Sans"/>
              </a:endParaRPr>
            </a:p>
          </p:txBody>
        </p:sp>
      </p:grpSp>
      <p:grpSp>
        <p:nvGrpSpPr>
          <p:cNvPr id="89" name="node19"/>
          <p:cNvGrpSpPr/>
          <p:nvPr/>
        </p:nvGrpSpPr>
        <p:grpSpPr>
          <a:xfrm>
            <a:off x="8953500" y="1600200"/>
            <a:ext cx="2514600" cy="685800"/>
            <a:chOff x="8953500" y="1600200"/>
            <a:chExt cx="2514600" cy="685800"/>
          </a:xfrm>
        </p:grpSpPr>
        <p:sp>
          <p:nvSpPr>
            <p:cNvPr id="57" name="node19.surface"/>
            <p:cNvSpPr/>
            <p:nvPr/>
          </p:nvSpPr>
          <p:spPr>
            <a:xfrm>
              <a:off x="8953500" y="1600200"/>
              <a:ext cx="2514600" cy="685800"/>
            </a:xfrm>
            <a:prstGeom prst="rect">
              <a:avLst/>
            </a:prstGeom>
            <a:solidFill>
              <a:srgbClr val="070154"/>
            </a:solidFill>
            <a:ln>
              <a:noFill/>
            </a:ln>
          </p:spPr>
        </p:sp>
      </p:grpSp>
      <p:grpSp>
        <p:nvGrpSpPr>
          <p:cNvPr id="90" name="node20"/>
          <p:cNvGrpSpPr/>
          <p:nvPr/>
        </p:nvGrpSpPr>
        <p:grpSpPr>
          <a:xfrm>
            <a:off x="9182100" y="1828800"/>
            <a:ext cx="2057400" cy="139700"/>
            <a:chOff x="9182100" y="1828800"/>
            <a:chExt cx="2057400" cy="139700"/>
          </a:xfrm>
        </p:grpSpPr>
        <p:sp>
          <p:nvSpPr>
            <p:cNvPr id="58" name="node20.text"/>
            <p:cNvSpPr/>
            <p:nvPr/>
          </p:nvSpPr>
          <p:spPr>
            <a:xfrm>
              <a:off x="9182100" y="1828800"/>
              <a:ext cx="2057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Medium"/>
                  <a:ea typeface="IBM Plex Mono Medium"/>
                  <a:cs typeface="IBM Plex Mono Medium"/>
                </a:rPr>
                <a:t>TABLE 4 · DENIALS</a:t>
              </a:r>
              <a:endParaRPr lang="en-US" sz="800" spc="48" kern="0" b="0" i="0" dirty="0">
                <a:solidFill>
                  <a:srgbClr val="FFFFFF"/>
                </a:solidFill>
                <a:latin typeface="IBM Plex Mono Medium"/>
                <a:ea typeface="IBM Plex Mono Medium"/>
                <a:cs typeface="IBM Plex Mono Medium"/>
              </a:endParaRPr>
            </a:p>
          </p:txBody>
        </p:sp>
      </p:grpSp>
      <p:grpSp>
        <p:nvGrpSpPr>
          <p:cNvPr id="91" name="node21"/>
          <p:cNvGrpSpPr/>
          <p:nvPr/>
        </p:nvGrpSpPr>
        <p:grpSpPr>
          <a:xfrm>
            <a:off x="8953500" y="2514600"/>
            <a:ext cx="2514600" cy="1371600"/>
            <a:chOff x="8953500" y="2514600"/>
            <a:chExt cx="2514600" cy="1371600"/>
          </a:xfrm>
        </p:grpSpPr>
        <p:sp>
          <p:nvSpPr>
            <p:cNvPr id="59" name="node21.source-001.bullet"/>
            <p:cNvSpPr/>
            <p:nvPr/>
          </p:nvSpPr>
          <p:spPr>
            <a:xfrm>
              <a:off x="8953500" y="2603500"/>
              <a:ext cx="38100" cy="38100"/>
            </a:xfrm>
            <a:prstGeom prst="rect">
              <a:avLst/>
            </a:prstGeom>
            <a:solidFill>
              <a:srgbClr val="070154"/>
            </a:solidFill>
            <a:ln>
              <a:noFill/>
            </a:ln>
          </p:spPr>
        </p:sp>
        <p:sp>
          <p:nvSpPr>
            <p:cNvPr id="60" name="node21.source-001.text"/>
            <p:cNvSpPr/>
            <p:nvPr/>
          </p:nvSpPr>
          <p:spPr>
            <a:xfrm>
              <a:off x="9105900" y="25146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Prompt:</a:t>
              </a:r>
              <a:r>
                <a:rPr lang="en-US" sz="1200" spc="0" kern="0" b="0" i="0" dirty="0">
                  <a:solidFill>
                    <a:srgbClr val="50658E"/>
                  </a:solidFill>
                  <a:latin typeface="IBM Plex Sans"/>
                  <a:ea typeface="IBM Plex Sans"/>
                  <a:cs typeface="IBM Plex Sans"/>
                </a:rPr>
                <a:t xml:space="preserve"> Stop front-end causes of denial before the claim is sent.</a:t>
              </a:r>
              <a:endParaRPr lang="en-US" sz="1200" spc="0" kern="0" b="0" i="0" dirty="0">
                <a:solidFill>
                  <a:srgbClr val="070154"/>
                </a:solidFill>
                <a:latin typeface="IBM Plex Sans"/>
                <a:ea typeface="IBM Plex Sans"/>
                <a:cs typeface="IBM Plex Sans"/>
              </a:endParaRPr>
            </a:p>
          </p:txBody>
        </p:sp>
        <p:sp>
          <p:nvSpPr>
            <p:cNvPr id="61" name="node21.source-002.bullet"/>
            <p:cNvSpPr/>
            <p:nvPr/>
          </p:nvSpPr>
          <p:spPr>
            <a:xfrm>
              <a:off x="8953500" y="3073400"/>
              <a:ext cx="38100" cy="38100"/>
            </a:xfrm>
            <a:prstGeom prst="rect">
              <a:avLst/>
            </a:prstGeom>
            <a:solidFill>
              <a:srgbClr val="070154"/>
            </a:solidFill>
            <a:ln>
              <a:noFill/>
            </a:ln>
          </p:spPr>
        </p:sp>
        <p:sp>
          <p:nvSpPr>
            <p:cNvPr id="62" name="node21.source-002.text"/>
            <p:cNvSpPr/>
            <p:nvPr/>
          </p:nvSpPr>
          <p:spPr>
            <a:xfrm>
              <a:off x="9105900" y="29845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Materials:</a:t>
              </a:r>
              <a:r>
                <a:rPr lang="en-US" sz="1200" spc="0" kern="0" b="0" i="0" dirty="0">
                  <a:solidFill>
                    <a:srgbClr val="50658E"/>
                  </a:solidFill>
                  <a:latin typeface="IBM Plex Sans"/>
                  <a:ea typeface="IBM Plex Sans"/>
                  <a:cs typeface="IBM Plex Sans"/>
                </a:rPr>
                <a:t xml:space="preserve"> Canvas, top denial codes</a:t>
              </a:r>
              <a:endParaRPr lang="en-US" sz="1200" spc="0" kern="0" b="0" i="0" dirty="0">
                <a:solidFill>
                  <a:srgbClr val="070154"/>
                </a:solidFill>
                <a:latin typeface="IBM Plex Sans"/>
                <a:ea typeface="IBM Plex Sans"/>
                <a:cs typeface="IBM Plex Sans"/>
              </a:endParaRPr>
            </a:p>
          </p:txBody>
        </p:sp>
        <p:sp>
          <p:nvSpPr>
            <p:cNvPr id="63" name="node21.source-003.bullet"/>
            <p:cNvSpPr/>
            <p:nvPr/>
          </p:nvSpPr>
          <p:spPr>
            <a:xfrm>
              <a:off x="8953500" y="3543300"/>
              <a:ext cx="38100" cy="38100"/>
            </a:xfrm>
            <a:prstGeom prst="rect">
              <a:avLst/>
            </a:prstGeom>
            <a:solidFill>
              <a:srgbClr val="070154"/>
            </a:solidFill>
            <a:ln>
              <a:noFill/>
            </a:ln>
          </p:spPr>
        </p:sp>
        <p:sp>
          <p:nvSpPr>
            <p:cNvPr id="64" name="node21.source-003.text"/>
            <p:cNvSpPr/>
            <p:nvPr/>
          </p:nvSpPr>
          <p:spPr>
            <a:xfrm>
              <a:off x="9105900" y="34544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Time:</a:t>
              </a:r>
              <a:r>
                <a:rPr lang="en-US" sz="1200" spc="0" kern="0" b="0" i="0" dirty="0">
                  <a:solidFill>
                    <a:srgbClr val="50658E"/>
                  </a:solidFill>
                  <a:latin typeface="IBM Plex Sans"/>
                  <a:ea typeface="IBM Plex Sans"/>
                  <a:cs typeface="IBM Plex Sans"/>
                </a:rPr>
                <a:t xml:space="preserve"> 20 min · 2-minute report-back: top three causes</a:t>
              </a:r>
              <a:endParaRPr lang="en-US" sz="1200" spc="0" kern="0" b="0" i="0" dirty="0">
                <a:solidFill>
                  <a:srgbClr val="070154"/>
                </a:solidFill>
                <a:latin typeface="IBM Plex Sans"/>
                <a:ea typeface="IBM Plex Sans"/>
                <a:cs typeface="IBM Plex Sans"/>
              </a:endParaRPr>
            </a:p>
          </p:txBody>
        </p:sp>
      </p:grpSp>
      <p:grpSp>
        <p:nvGrpSpPr>
          <p:cNvPr id="92" name="node22"/>
          <p:cNvGrpSpPr/>
          <p:nvPr/>
        </p:nvGrpSpPr>
        <p:grpSpPr>
          <a:xfrm>
            <a:off x="8953500" y="4343400"/>
            <a:ext cx="2514600" cy="228600"/>
            <a:chOff x="8953500" y="4343400"/>
            <a:chExt cx="2514600" cy="228600"/>
          </a:xfrm>
        </p:grpSpPr>
        <p:sp>
          <p:nvSpPr>
            <p:cNvPr id="65" name="node22.label"/>
            <p:cNvSpPr/>
            <p:nvPr/>
          </p:nvSpPr>
          <p:spPr>
            <a:xfrm>
              <a:off x="8953500" y="4343400"/>
              <a:ext cx="95529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ASK THIS TABLE</a:t>
              </a:r>
              <a:endParaRPr lang="en-US" sz="800" spc="48" kern="0" b="0" i="0" dirty="0">
                <a:solidFill>
                  <a:srgbClr val="50658E"/>
                </a:solidFill>
                <a:latin typeface="IBM Plex Mono Medium"/>
                <a:ea typeface="IBM Plex Mono Medium"/>
                <a:cs typeface="IBM Plex Mono Medium"/>
              </a:endParaRPr>
            </a:p>
          </p:txBody>
        </p:sp>
        <p:sp>
          <p:nvSpPr>
            <p:cNvPr id="66" name="node22.rule"/>
            <p:cNvSpPr/>
            <p:nvPr/>
          </p:nvSpPr>
          <p:spPr>
            <a:xfrm>
              <a:off x="10035791" y="4452938"/>
              <a:ext cx="1432309" cy="9525"/>
            </a:xfrm>
            <a:prstGeom prst="rect">
              <a:avLst/>
            </a:prstGeom>
            <a:solidFill>
              <a:srgbClr val="CED7E6"/>
            </a:solidFill>
            <a:ln>
              <a:noFill/>
            </a:ln>
          </p:spPr>
        </p:sp>
      </p:grpSp>
      <p:sp>
        <p:nvSpPr>
          <p:cNvPr id="67" name="node23"/>
          <p:cNvSpPr/>
          <p:nvPr/>
        </p:nvSpPr>
        <p:spPr>
          <a:xfrm>
            <a:off x="8953500" y="4572000"/>
            <a:ext cx="2514600" cy="9525"/>
          </a:xfrm>
          <a:prstGeom prst="rect">
            <a:avLst/>
          </a:prstGeom>
          <a:solidFill>
            <a:srgbClr val="CED7E6"/>
          </a:solidFill>
          <a:ln>
            <a:noFill/>
          </a:ln>
        </p:spPr>
      </p:sp>
      <p:grpSp>
        <p:nvGrpSpPr>
          <p:cNvPr id="93" name="node24"/>
          <p:cNvGrpSpPr/>
          <p:nvPr/>
        </p:nvGrpSpPr>
        <p:grpSpPr>
          <a:xfrm>
            <a:off x="8953500" y="4800600"/>
            <a:ext cx="2514600" cy="723900"/>
            <a:chOff x="8953500" y="4800600"/>
            <a:chExt cx="2514600" cy="723900"/>
          </a:xfrm>
        </p:grpSpPr>
        <p:sp>
          <p:nvSpPr>
            <p:cNvPr id="68" name="node24.source-001.bullet"/>
            <p:cNvSpPr/>
            <p:nvPr/>
          </p:nvSpPr>
          <p:spPr>
            <a:xfrm>
              <a:off x="8953500" y="4889500"/>
              <a:ext cx="38100" cy="38100"/>
            </a:xfrm>
            <a:prstGeom prst="rect">
              <a:avLst/>
            </a:prstGeom>
            <a:solidFill>
              <a:srgbClr val="070154"/>
            </a:solidFill>
            <a:ln>
              <a:noFill/>
            </a:ln>
          </p:spPr>
        </p:sp>
        <p:sp>
          <p:nvSpPr>
            <p:cNvPr id="69" name="node24.source-001.text"/>
            <p:cNvSpPr/>
            <p:nvPr/>
          </p:nvSpPr>
          <p:spPr>
            <a:xfrm>
              <a:off x="9105900" y="4800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Which codes recur weekly?</a:t>
              </a:r>
              <a:endParaRPr lang="en-US" sz="1200" spc="0" kern="0" b="0" i="0" dirty="0">
                <a:solidFill>
                  <a:srgbClr val="070154"/>
                </a:solidFill>
                <a:latin typeface="IBM Plex Sans"/>
                <a:ea typeface="IBM Plex Sans"/>
                <a:cs typeface="IBM Plex Sans"/>
              </a:endParaRPr>
            </a:p>
          </p:txBody>
        </p:sp>
        <p:sp>
          <p:nvSpPr>
            <p:cNvPr id="70" name="node24.source-002.bullet"/>
            <p:cNvSpPr/>
            <p:nvPr/>
          </p:nvSpPr>
          <p:spPr>
            <a:xfrm>
              <a:off x="8953500" y="5143500"/>
              <a:ext cx="38100" cy="38100"/>
            </a:xfrm>
            <a:prstGeom prst="rect">
              <a:avLst/>
            </a:prstGeom>
            <a:solidFill>
              <a:srgbClr val="070154"/>
            </a:solidFill>
            <a:ln>
              <a:noFill/>
            </a:ln>
          </p:spPr>
        </p:sp>
        <p:sp>
          <p:nvSpPr>
            <p:cNvPr id="71" name="node24.source-002.text"/>
            <p:cNvSpPr/>
            <p:nvPr/>
          </p:nvSpPr>
          <p:spPr>
            <a:xfrm>
              <a:off x="9105900" y="5054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Which start at the front desk?</a:t>
              </a:r>
              <a:endParaRPr lang="en-US" sz="1200" spc="0" kern="0" b="0" i="0" dirty="0">
                <a:solidFill>
                  <a:srgbClr val="070154"/>
                </a:solidFill>
                <a:latin typeface="IBM Plex Sans"/>
                <a:ea typeface="IBM Plex Sans"/>
                <a:cs typeface="IBM Plex Sans"/>
              </a:endParaRPr>
            </a:p>
          </p:txBody>
        </p:sp>
        <p:sp>
          <p:nvSpPr>
            <p:cNvPr id="72" name="node24.source-003.bullet"/>
            <p:cNvSpPr/>
            <p:nvPr/>
          </p:nvSpPr>
          <p:spPr>
            <a:xfrm>
              <a:off x="8953500" y="5397500"/>
              <a:ext cx="38100" cy="38100"/>
            </a:xfrm>
            <a:prstGeom prst="rect">
              <a:avLst/>
            </a:prstGeom>
            <a:solidFill>
              <a:srgbClr val="070154"/>
            </a:solidFill>
            <a:ln>
              <a:noFill/>
            </a:ln>
          </p:spPr>
        </p:sp>
        <p:sp>
          <p:nvSpPr>
            <p:cNvPr id="73" name="node24.source-003.text"/>
            <p:cNvSpPr/>
            <p:nvPr/>
          </p:nvSpPr>
          <p:spPr>
            <a:xfrm>
              <a:off x="9105900" y="5308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How fast does feedback return?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ource-62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Discover, design and decide in three days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178</a:t>
            </a:fld>
            <a:endParaRPr lang="en-US" sz="700" spc="0" kern="0" b="0" i="0" dirty="0">
              <a:solidFill>
                <a:srgbClr val="070154"/>
              </a:solidFill>
              <a:latin typeface="IBM Plex Mono SemiBold"/>
              <a:ea typeface="IBM Plex Mono SemiBold"/>
              <a:cs typeface="IBM Plex Mono SemiBold"/>
            </a:endParaRPr>
          </a:p>
        </p:txBody>
      </p:sp>
      <p:grpSp>
        <p:nvGrpSpPr>
          <p:cNvPr id="55" name="node01"/>
          <p:cNvGrpSpPr/>
          <p:nvPr/>
        </p:nvGrpSpPr>
        <p:grpSpPr>
          <a:xfrm>
            <a:off x="723900" y="1600200"/>
            <a:ext cx="10744200" cy="228600"/>
            <a:chOff x="723900" y="1600200"/>
            <a:chExt cx="10744200" cy="228600"/>
          </a:xfrm>
        </p:grpSpPr>
        <p:sp>
          <p:nvSpPr>
            <p:cNvPr id="6" name="node01.label"/>
            <p:cNvSpPr/>
            <p:nvPr/>
          </p:nvSpPr>
          <p:spPr>
            <a:xfrm>
              <a:off x="723900" y="1600200"/>
              <a:ext cx="822449"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OVERALL GOAL</a:t>
              </a:r>
              <a:endParaRPr lang="en-US" sz="800" spc="48" kern="0" b="0" i="0" dirty="0">
                <a:solidFill>
                  <a:srgbClr val="50658E"/>
                </a:solidFill>
                <a:latin typeface="IBM Plex Mono Medium"/>
                <a:ea typeface="IBM Plex Mono Medium"/>
                <a:cs typeface="IBM Plex Mono Medium"/>
              </a:endParaRPr>
            </a:p>
          </p:txBody>
        </p:sp>
        <p:sp>
          <p:nvSpPr>
            <p:cNvPr id="7" name="node01.rule"/>
            <p:cNvSpPr/>
            <p:nvPr/>
          </p:nvSpPr>
          <p:spPr>
            <a:xfrm>
              <a:off x="1673349" y="1709738"/>
              <a:ext cx="9794751" cy="9525"/>
            </a:xfrm>
            <a:prstGeom prst="rect">
              <a:avLst/>
            </a:prstGeom>
            <a:solidFill>
              <a:srgbClr val="CED7E6"/>
            </a:solidFill>
            <a:ln>
              <a:noFill/>
            </a:ln>
          </p:spPr>
        </p:sp>
      </p:grpSp>
      <p:sp>
        <p:nvSpPr>
          <p:cNvPr id="8" name="node02"/>
          <p:cNvSpPr/>
          <p:nvPr/>
        </p:nvSpPr>
        <p:spPr>
          <a:xfrm>
            <a:off x="723900" y="1828800"/>
            <a:ext cx="10744200" cy="9525"/>
          </a:xfrm>
          <a:prstGeom prst="rect">
            <a:avLst/>
          </a:prstGeom>
          <a:solidFill>
            <a:srgbClr val="CED7E6"/>
          </a:solidFill>
          <a:ln>
            <a:noFill/>
          </a:ln>
        </p:spPr>
      </p:sp>
      <p:grpSp>
        <p:nvGrpSpPr>
          <p:cNvPr id="56" name="node03"/>
          <p:cNvGrpSpPr/>
          <p:nvPr/>
        </p:nvGrpSpPr>
        <p:grpSpPr>
          <a:xfrm>
            <a:off x="723900" y="1905000"/>
            <a:ext cx="10744200" cy="215900"/>
            <a:chOff x="723900" y="1905000"/>
            <a:chExt cx="10744200" cy="215900"/>
          </a:xfrm>
        </p:grpSpPr>
        <p:sp>
          <p:nvSpPr>
            <p:cNvPr id="9" name="node03.text"/>
            <p:cNvSpPr/>
            <p:nvPr/>
          </p:nvSpPr>
          <p:spPr>
            <a:xfrm>
              <a:off x="723900" y="1905000"/>
              <a:ext cx="1074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Agree, test and commit to one future-state design for how patients schedule, register, get estimates and avoid denials.</a:t>
              </a:r>
              <a:endParaRPr lang="en-US" sz="1200" spc="0" kern="0" b="0" i="0" dirty="0">
                <a:solidFill>
                  <a:srgbClr val="070154"/>
                </a:solidFill>
                <a:latin typeface="IBM Plex Sans"/>
                <a:ea typeface="IBM Plex Sans"/>
                <a:cs typeface="IBM Plex Sans"/>
              </a:endParaRPr>
            </a:p>
          </p:txBody>
        </p:sp>
      </p:grpSp>
      <p:grpSp>
        <p:nvGrpSpPr>
          <p:cNvPr id="57" name="node04"/>
          <p:cNvGrpSpPr/>
          <p:nvPr/>
        </p:nvGrpSpPr>
        <p:grpSpPr>
          <a:xfrm>
            <a:off x="723900" y="2286000"/>
            <a:ext cx="3429000" cy="2743200"/>
            <a:chOff x="723900" y="2286000"/>
            <a:chExt cx="3429000" cy="2743200"/>
          </a:xfrm>
        </p:grpSpPr>
        <p:sp>
          <p:nvSpPr>
            <p:cNvPr id="10" name="node04.container"/>
            <p:cNvSpPr/>
            <p:nvPr/>
          </p:nvSpPr>
          <p:spPr>
            <a:xfrm>
              <a:off x="723900" y="2286000"/>
              <a:ext cx="3429000" cy="2743200"/>
            </a:xfrm>
            <a:prstGeom prst="rect">
              <a:avLst/>
            </a:prstGeom>
            <a:solidFill>
              <a:srgbClr val="E8EEF8"/>
            </a:solidFill>
            <a:ln>
              <a:noFill/>
            </a:ln>
          </p:spPr>
        </p:sp>
        <p:sp>
          <p:nvSpPr>
            <p:cNvPr id="11" name="node04.label"/>
            <p:cNvSpPr/>
            <p:nvPr/>
          </p:nvSpPr>
          <p:spPr>
            <a:xfrm>
              <a:off x="952500" y="25146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DAY 1 · TUE NOV 4</a:t>
              </a:r>
              <a:endParaRPr lang="en-US" sz="800" spc="48" kern="0" b="0" i="0" dirty="0">
                <a:solidFill>
                  <a:srgbClr val="0047FF"/>
                </a:solidFill>
                <a:latin typeface="IBM Plex Mono Medium"/>
                <a:ea typeface="IBM Plex Mono Medium"/>
                <a:cs typeface="IBM Plex Mono Medium"/>
              </a:endParaRPr>
            </a:p>
          </p:txBody>
        </p:sp>
        <p:sp>
          <p:nvSpPr>
            <p:cNvPr id="12" name="node04.title"/>
            <p:cNvSpPr/>
            <p:nvPr/>
          </p:nvSpPr>
          <p:spPr>
            <a:xfrm>
              <a:off x="952500" y="27305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Discover</a:t>
              </a:r>
              <a:endParaRPr lang="en-US" sz="1600" spc="-16" kern="0" b="0" i="0" dirty="0">
                <a:solidFill>
                  <a:srgbClr val="070154"/>
                </a:solidFill>
                <a:latin typeface="IBM Plex Sans SemiBold"/>
                <a:ea typeface="IBM Plex Sans SemiBold"/>
                <a:cs typeface="IBM Plex Sans SemiBold"/>
              </a:endParaRPr>
            </a:p>
          </p:txBody>
        </p:sp>
        <p:sp>
          <p:nvSpPr>
            <p:cNvPr id="13" name="node04.body.item-001.bullets.item-001.marker"/>
            <p:cNvSpPr/>
            <p:nvPr/>
          </p:nvSpPr>
          <p:spPr>
            <a:xfrm>
              <a:off x="952500" y="3238500"/>
              <a:ext cx="38100" cy="38100"/>
            </a:xfrm>
            <a:prstGeom prst="rect">
              <a:avLst/>
            </a:prstGeom>
            <a:solidFill>
              <a:srgbClr val="070154"/>
            </a:solidFill>
            <a:ln>
              <a:noFill/>
            </a:ln>
          </p:spPr>
        </p:sp>
        <p:sp>
          <p:nvSpPr>
            <p:cNvPr id="14" name="node04.body.item-001.bullets.item-001.text"/>
            <p:cNvSpPr/>
            <p:nvPr/>
          </p:nvSpPr>
          <p:spPr>
            <a:xfrm>
              <a:off x="1104900" y="3149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9:00 Welcome and goals</a:t>
              </a:r>
              <a:endParaRPr lang="en-US" sz="1200" spc="0" kern="0" b="0" i="0" dirty="0">
                <a:solidFill>
                  <a:srgbClr val="070154"/>
                </a:solidFill>
                <a:latin typeface="IBM Plex Sans"/>
                <a:ea typeface="IBM Plex Sans"/>
                <a:cs typeface="IBM Plex Sans"/>
              </a:endParaRPr>
            </a:p>
          </p:txBody>
        </p:sp>
        <p:sp>
          <p:nvSpPr>
            <p:cNvPr id="15" name="node04.body.item-001.bullets.item-002.marker"/>
            <p:cNvSpPr/>
            <p:nvPr/>
          </p:nvSpPr>
          <p:spPr>
            <a:xfrm>
              <a:off x="952500" y="3492500"/>
              <a:ext cx="38100" cy="38100"/>
            </a:xfrm>
            <a:prstGeom prst="rect">
              <a:avLst/>
            </a:prstGeom>
            <a:solidFill>
              <a:srgbClr val="070154"/>
            </a:solidFill>
            <a:ln>
              <a:noFill/>
            </a:ln>
          </p:spPr>
        </p:sp>
        <p:sp>
          <p:nvSpPr>
            <p:cNvPr id="16" name="node04.body.item-001.bullets.item-002.text"/>
            <p:cNvSpPr/>
            <p:nvPr/>
          </p:nvSpPr>
          <p:spPr>
            <a:xfrm>
              <a:off x="1104900" y="3403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10:00 Current-state walk-through</a:t>
              </a:r>
              <a:endParaRPr lang="en-US" sz="1200" spc="0" kern="0" b="0" i="0" dirty="0">
                <a:solidFill>
                  <a:srgbClr val="070154"/>
                </a:solidFill>
                <a:latin typeface="IBM Plex Sans"/>
                <a:ea typeface="IBM Plex Sans"/>
                <a:cs typeface="IBM Plex Sans"/>
              </a:endParaRPr>
            </a:p>
          </p:txBody>
        </p:sp>
        <p:sp>
          <p:nvSpPr>
            <p:cNvPr id="17" name="node04.body.item-001.bullets.item-003.marker"/>
            <p:cNvSpPr/>
            <p:nvPr/>
          </p:nvSpPr>
          <p:spPr>
            <a:xfrm>
              <a:off x="952500" y="3746500"/>
              <a:ext cx="38100" cy="38100"/>
            </a:xfrm>
            <a:prstGeom prst="rect">
              <a:avLst/>
            </a:prstGeom>
            <a:solidFill>
              <a:srgbClr val="070154"/>
            </a:solidFill>
            <a:ln>
              <a:noFill/>
            </a:ln>
          </p:spPr>
        </p:sp>
        <p:sp>
          <p:nvSpPr>
            <p:cNvPr id="18" name="node04.body.item-001.bullets.item-003.text"/>
            <p:cNvSpPr/>
            <p:nvPr/>
          </p:nvSpPr>
          <p:spPr>
            <a:xfrm>
              <a:off x="1104900" y="3657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13:00 Journey mapping</a:t>
              </a:r>
              <a:endParaRPr lang="en-US" sz="1200" spc="0" kern="0" b="0" i="0" dirty="0">
                <a:solidFill>
                  <a:srgbClr val="070154"/>
                </a:solidFill>
                <a:latin typeface="IBM Plex Sans"/>
                <a:ea typeface="IBM Plex Sans"/>
                <a:cs typeface="IBM Plex Sans"/>
              </a:endParaRPr>
            </a:p>
          </p:txBody>
        </p:sp>
        <p:sp>
          <p:nvSpPr>
            <p:cNvPr id="19" name="node04.body.item-001.bullets.item-004.marker"/>
            <p:cNvSpPr/>
            <p:nvPr/>
          </p:nvSpPr>
          <p:spPr>
            <a:xfrm>
              <a:off x="952500" y="4000500"/>
              <a:ext cx="38100" cy="38100"/>
            </a:xfrm>
            <a:prstGeom prst="rect">
              <a:avLst/>
            </a:prstGeom>
            <a:solidFill>
              <a:srgbClr val="070154"/>
            </a:solidFill>
            <a:ln>
              <a:noFill/>
            </a:ln>
          </p:spPr>
        </p:sp>
        <p:sp>
          <p:nvSpPr>
            <p:cNvPr id="20" name="node04.body.item-001.bullets.item-004.text"/>
            <p:cNvSpPr/>
            <p:nvPr/>
          </p:nvSpPr>
          <p:spPr>
            <a:xfrm>
              <a:off x="1104900" y="3911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15:00 Root-cause tables</a:t>
              </a:r>
              <a:endParaRPr lang="en-US" sz="1200" spc="0" kern="0" b="0" i="0" dirty="0">
                <a:solidFill>
                  <a:srgbClr val="070154"/>
                </a:solidFill>
                <a:latin typeface="IBM Plex Sans"/>
                <a:ea typeface="IBM Plex Sans"/>
                <a:cs typeface="IBM Plex Sans"/>
              </a:endParaRPr>
            </a:p>
          </p:txBody>
        </p:sp>
        <p:sp>
          <p:nvSpPr>
            <p:cNvPr id="21" name="node04.body.item-002.paragraph"/>
            <p:cNvSpPr/>
            <p:nvPr/>
          </p:nvSpPr>
          <p:spPr>
            <a:xfrm>
              <a:off x="952500" y="42037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Output: validated current state</a:t>
              </a:r>
              <a:endParaRPr lang="en-US" sz="1200" spc="0" kern="0" b="0" i="0" dirty="0">
                <a:solidFill>
                  <a:srgbClr val="50658E"/>
                </a:solidFill>
                <a:latin typeface="IBM Plex Sans"/>
                <a:ea typeface="IBM Plex Sans"/>
                <a:cs typeface="IBM Plex Sans"/>
              </a:endParaRPr>
            </a:p>
          </p:txBody>
        </p:sp>
      </p:grpSp>
      <p:grpSp>
        <p:nvGrpSpPr>
          <p:cNvPr id="58" name="node05"/>
          <p:cNvGrpSpPr/>
          <p:nvPr/>
        </p:nvGrpSpPr>
        <p:grpSpPr>
          <a:xfrm>
            <a:off x="4381500" y="2286000"/>
            <a:ext cx="3429000" cy="2743200"/>
            <a:chOff x="4381500" y="2286000"/>
            <a:chExt cx="3429000" cy="2743200"/>
          </a:xfrm>
        </p:grpSpPr>
        <p:sp>
          <p:nvSpPr>
            <p:cNvPr id="22" name="node05.container"/>
            <p:cNvSpPr/>
            <p:nvPr/>
          </p:nvSpPr>
          <p:spPr>
            <a:xfrm>
              <a:off x="4381500" y="2286000"/>
              <a:ext cx="3429000" cy="2743200"/>
            </a:xfrm>
            <a:prstGeom prst="rect">
              <a:avLst/>
            </a:prstGeom>
            <a:solidFill>
              <a:srgbClr val="E8EEF8"/>
            </a:solidFill>
            <a:ln>
              <a:noFill/>
            </a:ln>
          </p:spPr>
        </p:sp>
        <p:sp>
          <p:nvSpPr>
            <p:cNvPr id="23" name="node05.label"/>
            <p:cNvSpPr/>
            <p:nvPr/>
          </p:nvSpPr>
          <p:spPr>
            <a:xfrm>
              <a:off x="4610100" y="25146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DAY 2 · WED NOV 5</a:t>
              </a:r>
              <a:endParaRPr lang="en-US" sz="800" spc="48" kern="0" b="0" i="0" dirty="0">
                <a:solidFill>
                  <a:srgbClr val="0047FF"/>
                </a:solidFill>
                <a:latin typeface="IBM Plex Mono Medium"/>
                <a:ea typeface="IBM Plex Mono Medium"/>
                <a:cs typeface="IBM Plex Mono Medium"/>
              </a:endParaRPr>
            </a:p>
          </p:txBody>
        </p:sp>
        <p:sp>
          <p:nvSpPr>
            <p:cNvPr id="24" name="node05.title"/>
            <p:cNvSpPr/>
            <p:nvPr/>
          </p:nvSpPr>
          <p:spPr>
            <a:xfrm>
              <a:off x="4610100" y="27305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Design</a:t>
              </a:r>
              <a:endParaRPr lang="en-US" sz="1600" spc="-16" kern="0" b="0" i="0" dirty="0">
                <a:solidFill>
                  <a:srgbClr val="070154"/>
                </a:solidFill>
                <a:latin typeface="IBM Plex Sans SemiBold"/>
                <a:ea typeface="IBM Plex Sans SemiBold"/>
                <a:cs typeface="IBM Plex Sans SemiBold"/>
              </a:endParaRPr>
            </a:p>
          </p:txBody>
        </p:sp>
        <p:sp>
          <p:nvSpPr>
            <p:cNvPr id="25" name="node05.body.item-001.bullets.item-001.marker"/>
            <p:cNvSpPr/>
            <p:nvPr/>
          </p:nvSpPr>
          <p:spPr>
            <a:xfrm>
              <a:off x="4610100" y="3238500"/>
              <a:ext cx="38100" cy="38100"/>
            </a:xfrm>
            <a:prstGeom prst="rect">
              <a:avLst/>
            </a:prstGeom>
            <a:solidFill>
              <a:srgbClr val="070154"/>
            </a:solidFill>
            <a:ln>
              <a:noFill/>
            </a:ln>
          </p:spPr>
        </p:sp>
        <p:sp>
          <p:nvSpPr>
            <p:cNvPr id="26" name="node05.body.item-001.bullets.item-001.text"/>
            <p:cNvSpPr/>
            <p:nvPr/>
          </p:nvSpPr>
          <p:spPr>
            <a:xfrm>
              <a:off x="4762500" y="3149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9:00 Design principles</a:t>
              </a:r>
              <a:endParaRPr lang="en-US" sz="1200" spc="0" kern="0" b="0" i="0" dirty="0">
                <a:solidFill>
                  <a:srgbClr val="070154"/>
                </a:solidFill>
                <a:latin typeface="IBM Plex Sans"/>
                <a:ea typeface="IBM Plex Sans"/>
                <a:cs typeface="IBM Plex Sans"/>
              </a:endParaRPr>
            </a:p>
          </p:txBody>
        </p:sp>
        <p:sp>
          <p:nvSpPr>
            <p:cNvPr id="27" name="node05.body.item-001.bullets.item-002.marker"/>
            <p:cNvSpPr/>
            <p:nvPr/>
          </p:nvSpPr>
          <p:spPr>
            <a:xfrm>
              <a:off x="4610100" y="3492500"/>
              <a:ext cx="38100" cy="38100"/>
            </a:xfrm>
            <a:prstGeom prst="rect">
              <a:avLst/>
            </a:prstGeom>
            <a:solidFill>
              <a:srgbClr val="070154"/>
            </a:solidFill>
            <a:ln>
              <a:noFill/>
            </a:ln>
          </p:spPr>
        </p:sp>
        <p:sp>
          <p:nvSpPr>
            <p:cNvPr id="28" name="node05.body.item-001.bullets.item-002.text"/>
            <p:cNvSpPr/>
            <p:nvPr/>
          </p:nvSpPr>
          <p:spPr>
            <a:xfrm>
              <a:off x="4762500" y="3403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9:45 Four design tables</a:t>
              </a:r>
              <a:endParaRPr lang="en-US" sz="1200" spc="0" kern="0" b="0" i="0" dirty="0">
                <a:solidFill>
                  <a:srgbClr val="070154"/>
                </a:solidFill>
                <a:latin typeface="IBM Plex Sans"/>
                <a:ea typeface="IBM Plex Sans"/>
                <a:cs typeface="IBM Plex Sans"/>
              </a:endParaRPr>
            </a:p>
          </p:txBody>
        </p:sp>
        <p:sp>
          <p:nvSpPr>
            <p:cNvPr id="29" name="node05.body.item-001.bullets.item-003.marker"/>
            <p:cNvSpPr/>
            <p:nvPr/>
          </p:nvSpPr>
          <p:spPr>
            <a:xfrm>
              <a:off x="4610100" y="3746500"/>
              <a:ext cx="38100" cy="38100"/>
            </a:xfrm>
            <a:prstGeom prst="rect">
              <a:avLst/>
            </a:prstGeom>
            <a:solidFill>
              <a:srgbClr val="070154"/>
            </a:solidFill>
            <a:ln>
              <a:noFill/>
            </a:ln>
          </p:spPr>
        </p:sp>
        <p:sp>
          <p:nvSpPr>
            <p:cNvPr id="30" name="node05.body.item-001.bullets.item-003.text"/>
            <p:cNvSpPr/>
            <p:nvPr/>
          </p:nvSpPr>
          <p:spPr>
            <a:xfrm>
              <a:off x="4762500" y="3657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13:00 Hand-offs across areas</a:t>
              </a:r>
              <a:endParaRPr lang="en-US" sz="1200" spc="0" kern="0" b="0" i="0" dirty="0">
                <a:solidFill>
                  <a:srgbClr val="070154"/>
                </a:solidFill>
                <a:latin typeface="IBM Plex Sans"/>
                <a:ea typeface="IBM Plex Sans"/>
                <a:cs typeface="IBM Plex Sans"/>
              </a:endParaRPr>
            </a:p>
          </p:txBody>
        </p:sp>
        <p:sp>
          <p:nvSpPr>
            <p:cNvPr id="31" name="node05.body.item-001.bullets.item-004.marker"/>
            <p:cNvSpPr/>
            <p:nvPr/>
          </p:nvSpPr>
          <p:spPr>
            <a:xfrm>
              <a:off x="4610100" y="4000500"/>
              <a:ext cx="38100" cy="38100"/>
            </a:xfrm>
            <a:prstGeom prst="rect">
              <a:avLst/>
            </a:prstGeom>
            <a:solidFill>
              <a:srgbClr val="070154"/>
            </a:solidFill>
            <a:ln>
              <a:noFill/>
            </a:ln>
          </p:spPr>
        </p:sp>
        <p:sp>
          <p:nvSpPr>
            <p:cNvPr id="32" name="node05.body.item-001.bullets.item-004.text"/>
            <p:cNvSpPr/>
            <p:nvPr/>
          </p:nvSpPr>
          <p:spPr>
            <a:xfrm>
              <a:off x="4762500" y="3911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15:30 Scenario tests</a:t>
              </a:r>
              <a:endParaRPr lang="en-US" sz="1200" spc="0" kern="0" b="0" i="0" dirty="0">
                <a:solidFill>
                  <a:srgbClr val="070154"/>
                </a:solidFill>
                <a:latin typeface="IBM Plex Sans"/>
                <a:ea typeface="IBM Plex Sans"/>
                <a:cs typeface="IBM Plex Sans"/>
              </a:endParaRPr>
            </a:p>
          </p:txBody>
        </p:sp>
        <p:sp>
          <p:nvSpPr>
            <p:cNvPr id="33" name="node05.body.item-002.paragraph"/>
            <p:cNvSpPr/>
            <p:nvPr/>
          </p:nvSpPr>
          <p:spPr>
            <a:xfrm>
              <a:off x="4610100" y="42037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Output: draft future-state design</a:t>
              </a:r>
              <a:endParaRPr lang="en-US" sz="1200" spc="0" kern="0" b="0" i="0" dirty="0">
                <a:solidFill>
                  <a:srgbClr val="50658E"/>
                </a:solidFill>
                <a:latin typeface="IBM Plex Sans"/>
                <a:ea typeface="IBM Plex Sans"/>
                <a:cs typeface="IBM Plex Sans"/>
              </a:endParaRPr>
            </a:p>
          </p:txBody>
        </p:sp>
      </p:grpSp>
      <p:grpSp>
        <p:nvGrpSpPr>
          <p:cNvPr id="59" name="node06"/>
          <p:cNvGrpSpPr/>
          <p:nvPr/>
        </p:nvGrpSpPr>
        <p:grpSpPr>
          <a:xfrm>
            <a:off x="8039100" y="2286000"/>
            <a:ext cx="3429000" cy="2743200"/>
            <a:chOff x="8039100" y="2286000"/>
            <a:chExt cx="3429000" cy="2743200"/>
          </a:xfrm>
        </p:grpSpPr>
        <p:sp>
          <p:nvSpPr>
            <p:cNvPr id="34" name="node06.container"/>
            <p:cNvSpPr/>
            <p:nvPr/>
          </p:nvSpPr>
          <p:spPr>
            <a:xfrm>
              <a:off x="8039100" y="2286000"/>
              <a:ext cx="3429000" cy="2743200"/>
            </a:xfrm>
            <a:prstGeom prst="rect">
              <a:avLst/>
            </a:prstGeom>
            <a:solidFill>
              <a:srgbClr val="E8EEF8"/>
            </a:solidFill>
            <a:ln>
              <a:noFill/>
            </a:ln>
          </p:spPr>
        </p:sp>
        <p:sp>
          <p:nvSpPr>
            <p:cNvPr id="35" name="node06.label"/>
            <p:cNvSpPr/>
            <p:nvPr/>
          </p:nvSpPr>
          <p:spPr>
            <a:xfrm>
              <a:off x="8267700" y="25146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DAY 3 · THU NOV 6</a:t>
              </a:r>
              <a:endParaRPr lang="en-US" sz="800" spc="48" kern="0" b="0" i="0" dirty="0">
                <a:solidFill>
                  <a:srgbClr val="0047FF"/>
                </a:solidFill>
                <a:latin typeface="IBM Plex Mono Medium"/>
                <a:ea typeface="IBM Plex Mono Medium"/>
                <a:cs typeface="IBM Plex Mono Medium"/>
              </a:endParaRPr>
            </a:p>
          </p:txBody>
        </p:sp>
        <p:sp>
          <p:nvSpPr>
            <p:cNvPr id="36" name="node06.title"/>
            <p:cNvSpPr/>
            <p:nvPr/>
          </p:nvSpPr>
          <p:spPr>
            <a:xfrm>
              <a:off x="8267700" y="27305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Decide</a:t>
              </a:r>
              <a:endParaRPr lang="en-US" sz="1600" spc="-16" kern="0" b="0" i="0" dirty="0">
                <a:solidFill>
                  <a:srgbClr val="070154"/>
                </a:solidFill>
                <a:latin typeface="IBM Plex Sans SemiBold"/>
                <a:ea typeface="IBM Plex Sans SemiBold"/>
                <a:cs typeface="IBM Plex Sans SemiBold"/>
              </a:endParaRPr>
            </a:p>
          </p:txBody>
        </p:sp>
        <p:sp>
          <p:nvSpPr>
            <p:cNvPr id="37" name="node06.body.item-001.bullets.item-001.marker"/>
            <p:cNvSpPr/>
            <p:nvPr/>
          </p:nvSpPr>
          <p:spPr>
            <a:xfrm>
              <a:off x="8267700" y="3238500"/>
              <a:ext cx="38100" cy="38100"/>
            </a:xfrm>
            <a:prstGeom prst="rect">
              <a:avLst/>
            </a:prstGeom>
            <a:solidFill>
              <a:srgbClr val="070154"/>
            </a:solidFill>
            <a:ln>
              <a:noFill/>
            </a:ln>
          </p:spPr>
        </p:sp>
        <p:sp>
          <p:nvSpPr>
            <p:cNvPr id="38" name="node06.body.item-001.bullets.item-001.text"/>
            <p:cNvSpPr/>
            <p:nvPr/>
          </p:nvSpPr>
          <p:spPr>
            <a:xfrm>
              <a:off x="8420100" y="3149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9:00 Close the gaps</a:t>
              </a:r>
              <a:endParaRPr lang="en-US" sz="1200" spc="0" kern="0" b="0" i="0" dirty="0">
                <a:solidFill>
                  <a:srgbClr val="070154"/>
                </a:solidFill>
                <a:latin typeface="IBM Plex Sans"/>
                <a:ea typeface="IBM Plex Sans"/>
                <a:cs typeface="IBM Plex Sans"/>
              </a:endParaRPr>
            </a:p>
          </p:txBody>
        </p:sp>
        <p:sp>
          <p:nvSpPr>
            <p:cNvPr id="39" name="node06.body.item-001.bullets.item-002.marker"/>
            <p:cNvSpPr/>
            <p:nvPr/>
          </p:nvSpPr>
          <p:spPr>
            <a:xfrm>
              <a:off x="8267700" y="3492500"/>
              <a:ext cx="38100" cy="38100"/>
            </a:xfrm>
            <a:prstGeom prst="rect">
              <a:avLst/>
            </a:prstGeom>
            <a:solidFill>
              <a:srgbClr val="070154"/>
            </a:solidFill>
            <a:ln>
              <a:noFill/>
            </a:ln>
          </p:spPr>
        </p:sp>
        <p:sp>
          <p:nvSpPr>
            <p:cNvPr id="40" name="node06.body.item-001.bullets.item-002.text"/>
            <p:cNvSpPr/>
            <p:nvPr/>
          </p:nvSpPr>
          <p:spPr>
            <a:xfrm>
              <a:off x="8420100" y="3403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10:30 Score and rank</a:t>
              </a:r>
              <a:endParaRPr lang="en-US" sz="1200" spc="0" kern="0" b="0" i="0" dirty="0">
                <a:solidFill>
                  <a:srgbClr val="070154"/>
                </a:solidFill>
                <a:latin typeface="IBM Plex Sans"/>
                <a:ea typeface="IBM Plex Sans"/>
                <a:cs typeface="IBM Plex Sans"/>
              </a:endParaRPr>
            </a:p>
          </p:txBody>
        </p:sp>
        <p:sp>
          <p:nvSpPr>
            <p:cNvPr id="41" name="node06.body.item-001.bullets.item-003.marker"/>
            <p:cNvSpPr/>
            <p:nvPr/>
          </p:nvSpPr>
          <p:spPr>
            <a:xfrm>
              <a:off x="8267700" y="3746500"/>
              <a:ext cx="38100" cy="38100"/>
            </a:xfrm>
            <a:prstGeom prst="rect">
              <a:avLst/>
            </a:prstGeom>
            <a:solidFill>
              <a:srgbClr val="070154"/>
            </a:solidFill>
            <a:ln>
              <a:noFill/>
            </a:ln>
          </p:spPr>
        </p:sp>
        <p:sp>
          <p:nvSpPr>
            <p:cNvPr id="42" name="node06.body.item-001.bullets.item-003.text"/>
            <p:cNvSpPr/>
            <p:nvPr/>
          </p:nvSpPr>
          <p:spPr>
            <a:xfrm>
              <a:off x="8420100" y="3657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13:00 Roadmap and owners</a:t>
              </a:r>
              <a:endParaRPr lang="en-US" sz="1200" spc="0" kern="0" b="0" i="0" dirty="0">
                <a:solidFill>
                  <a:srgbClr val="070154"/>
                </a:solidFill>
                <a:latin typeface="IBM Plex Sans"/>
                <a:ea typeface="IBM Plex Sans"/>
                <a:cs typeface="IBM Plex Sans"/>
              </a:endParaRPr>
            </a:p>
          </p:txBody>
        </p:sp>
        <p:sp>
          <p:nvSpPr>
            <p:cNvPr id="43" name="node06.body.item-001.bullets.item-004.marker"/>
            <p:cNvSpPr/>
            <p:nvPr/>
          </p:nvSpPr>
          <p:spPr>
            <a:xfrm>
              <a:off x="8267700" y="4000500"/>
              <a:ext cx="38100" cy="38100"/>
            </a:xfrm>
            <a:prstGeom prst="rect">
              <a:avLst/>
            </a:prstGeom>
            <a:solidFill>
              <a:srgbClr val="070154"/>
            </a:solidFill>
            <a:ln>
              <a:noFill/>
            </a:ln>
          </p:spPr>
        </p:sp>
        <p:sp>
          <p:nvSpPr>
            <p:cNvPr id="44" name="node06.body.item-001.bullets.item-004.text"/>
            <p:cNvSpPr/>
            <p:nvPr/>
          </p:nvSpPr>
          <p:spPr>
            <a:xfrm>
              <a:off x="8420100" y="3911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14:00 Decisions readout</a:t>
              </a:r>
              <a:endParaRPr lang="en-US" sz="1200" spc="0" kern="0" b="0" i="0" dirty="0">
                <a:solidFill>
                  <a:srgbClr val="070154"/>
                </a:solidFill>
                <a:latin typeface="IBM Plex Sans"/>
                <a:ea typeface="IBM Plex Sans"/>
                <a:cs typeface="IBM Plex Sans"/>
              </a:endParaRPr>
            </a:p>
          </p:txBody>
        </p:sp>
        <p:sp>
          <p:nvSpPr>
            <p:cNvPr id="45" name="node06.body.item-002.paragraph"/>
            <p:cNvSpPr/>
            <p:nvPr/>
          </p:nvSpPr>
          <p:spPr>
            <a:xfrm>
              <a:off x="8267700" y="42037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Output: ranked roadmap and decisions</a:t>
              </a:r>
              <a:endParaRPr lang="en-US" sz="1200" spc="0" kern="0" b="0" i="0" dirty="0">
                <a:solidFill>
                  <a:srgbClr val="50658E"/>
                </a:solidFill>
                <a:latin typeface="IBM Plex Sans"/>
                <a:ea typeface="IBM Plex Sans"/>
                <a:cs typeface="IBM Plex Sans"/>
              </a:endParaRPr>
            </a:p>
          </p:txBody>
        </p:sp>
      </p:grpSp>
      <p:grpSp>
        <p:nvGrpSpPr>
          <p:cNvPr id="60" name="node07"/>
          <p:cNvGrpSpPr/>
          <p:nvPr/>
        </p:nvGrpSpPr>
        <p:grpSpPr>
          <a:xfrm>
            <a:off x="723900" y="5257800"/>
            <a:ext cx="10744200" cy="228600"/>
            <a:chOff x="723900" y="5257800"/>
            <a:chExt cx="10744200" cy="228600"/>
          </a:xfrm>
        </p:grpSpPr>
        <p:sp>
          <p:nvSpPr>
            <p:cNvPr id="46" name="node07.label"/>
            <p:cNvSpPr/>
            <p:nvPr/>
          </p:nvSpPr>
          <p:spPr>
            <a:xfrm>
              <a:off x="723900" y="5257800"/>
              <a:ext cx="1287394"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BY THE END OF DAY 3</a:t>
              </a:r>
              <a:endParaRPr lang="en-US" sz="800" spc="48" kern="0" b="0" i="0" dirty="0">
                <a:solidFill>
                  <a:srgbClr val="50658E"/>
                </a:solidFill>
                <a:latin typeface="IBM Plex Mono Medium"/>
                <a:ea typeface="IBM Plex Mono Medium"/>
                <a:cs typeface="IBM Plex Mono Medium"/>
              </a:endParaRPr>
            </a:p>
          </p:txBody>
        </p:sp>
        <p:sp>
          <p:nvSpPr>
            <p:cNvPr id="47" name="node07.rule"/>
            <p:cNvSpPr/>
            <p:nvPr/>
          </p:nvSpPr>
          <p:spPr>
            <a:xfrm>
              <a:off x="2138294" y="5367338"/>
              <a:ext cx="9329806" cy="9525"/>
            </a:xfrm>
            <a:prstGeom prst="rect">
              <a:avLst/>
            </a:prstGeom>
            <a:solidFill>
              <a:srgbClr val="CED7E6"/>
            </a:solidFill>
            <a:ln>
              <a:noFill/>
            </a:ln>
          </p:spPr>
        </p:sp>
      </p:grpSp>
      <p:sp>
        <p:nvSpPr>
          <p:cNvPr id="48" name="node08"/>
          <p:cNvSpPr/>
          <p:nvPr/>
        </p:nvSpPr>
        <p:spPr>
          <a:xfrm>
            <a:off x="723900" y="5486400"/>
            <a:ext cx="10744200" cy="9525"/>
          </a:xfrm>
          <a:prstGeom prst="rect">
            <a:avLst/>
          </a:prstGeom>
          <a:solidFill>
            <a:srgbClr val="CED7E6"/>
          </a:solidFill>
          <a:ln>
            <a:noFill/>
          </a:ln>
        </p:spPr>
      </p:sp>
      <p:grpSp>
        <p:nvGrpSpPr>
          <p:cNvPr id="61" name="node09"/>
          <p:cNvGrpSpPr/>
          <p:nvPr/>
        </p:nvGrpSpPr>
        <p:grpSpPr>
          <a:xfrm>
            <a:off x="723900" y="5562600"/>
            <a:ext cx="3429000" cy="215900"/>
            <a:chOff x="723900" y="5562600"/>
            <a:chExt cx="3429000" cy="215900"/>
          </a:xfrm>
        </p:grpSpPr>
        <p:sp>
          <p:nvSpPr>
            <p:cNvPr id="49" name="node09.source-001.bullet"/>
            <p:cNvSpPr/>
            <p:nvPr/>
          </p:nvSpPr>
          <p:spPr>
            <a:xfrm>
              <a:off x="723900" y="5651500"/>
              <a:ext cx="38100" cy="38100"/>
            </a:xfrm>
            <a:prstGeom prst="rect">
              <a:avLst/>
            </a:prstGeom>
            <a:solidFill>
              <a:srgbClr val="070154"/>
            </a:solidFill>
            <a:ln>
              <a:noFill/>
            </a:ln>
          </p:spPr>
        </p:sp>
        <p:sp>
          <p:nvSpPr>
            <p:cNvPr id="50" name="node09.source-001.text"/>
            <p:cNvSpPr/>
            <p:nvPr/>
          </p:nvSpPr>
          <p:spPr>
            <a:xfrm>
              <a:off x="876300" y="5562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agreed future-state design</a:t>
              </a:r>
              <a:endParaRPr lang="en-US" sz="1200" spc="0" kern="0" b="0" i="0" dirty="0">
                <a:solidFill>
                  <a:srgbClr val="070154"/>
                </a:solidFill>
                <a:latin typeface="IBM Plex Sans"/>
                <a:ea typeface="IBM Plex Sans"/>
                <a:cs typeface="IBM Plex Sans"/>
              </a:endParaRPr>
            </a:p>
          </p:txBody>
        </p:sp>
      </p:grpSp>
      <p:grpSp>
        <p:nvGrpSpPr>
          <p:cNvPr id="62" name="node10"/>
          <p:cNvGrpSpPr/>
          <p:nvPr/>
        </p:nvGrpSpPr>
        <p:grpSpPr>
          <a:xfrm>
            <a:off x="4381500" y="5562600"/>
            <a:ext cx="3429000" cy="215900"/>
            <a:chOff x="4381500" y="5562600"/>
            <a:chExt cx="3429000" cy="215900"/>
          </a:xfrm>
        </p:grpSpPr>
        <p:sp>
          <p:nvSpPr>
            <p:cNvPr id="51" name="node10.source-001.bullet"/>
            <p:cNvSpPr/>
            <p:nvPr/>
          </p:nvSpPr>
          <p:spPr>
            <a:xfrm>
              <a:off x="4381500" y="5651500"/>
              <a:ext cx="38100" cy="38100"/>
            </a:xfrm>
            <a:prstGeom prst="rect">
              <a:avLst/>
            </a:prstGeom>
            <a:solidFill>
              <a:srgbClr val="070154"/>
            </a:solidFill>
            <a:ln>
              <a:noFill/>
            </a:ln>
          </p:spPr>
        </p:sp>
        <p:sp>
          <p:nvSpPr>
            <p:cNvPr id="52" name="node10.source-001.text"/>
            <p:cNvSpPr/>
            <p:nvPr/>
          </p:nvSpPr>
          <p:spPr>
            <a:xfrm>
              <a:off x="4533900" y="5562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 and dates for each area</a:t>
              </a:r>
              <a:endParaRPr lang="en-US" sz="1200" spc="0" kern="0" b="0" i="0" dirty="0">
                <a:solidFill>
                  <a:srgbClr val="070154"/>
                </a:solidFill>
                <a:latin typeface="IBM Plex Sans"/>
                <a:ea typeface="IBM Plex Sans"/>
                <a:cs typeface="IBM Plex Sans"/>
              </a:endParaRPr>
            </a:p>
          </p:txBody>
        </p:sp>
      </p:grpSp>
      <p:grpSp>
        <p:nvGrpSpPr>
          <p:cNvPr id="63" name="node11"/>
          <p:cNvGrpSpPr/>
          <p:nvPr/>
        </p:nvGrpSpPr>
        <p:grpSpPr>
          <a:xfrm>
            <a:off x="8039100" y="5562600"/>
            <a:ext cx="3429000" cy="215900"/>
            <a:chOff x="8039100" y="5562600"/>
            <a:chExt cx="3429000" cy="215900"/>
          </a:xfrm>
        </p:grpSpPr>
        <p:sp>
          <p:nvSpPr>
            <p:cNvPr id="53" name="node11.source-001.bullet"/>
            <p:cNvSpPr/>
            <p:nvPr/>
          </p:nvSpPr>
          <p:spPr>
            <a:xfrm>
              <a:off x="8039100" y="5651500"/>
              <a:ext cx="38100" cy="38100"/>
            </a:xfrm>
            <a:prstGeom prst="rect">
              <a:avLst/>
            </a:prstGeom>
            <a:solidFill>
              <a:srgbClr val="070154"/>
            </a:solidFill>
            <a:ln>
              <a:noFill/>
            </a:ln>
          </p:spPr>
        </p:sp>
        <p:sp>
          <p:nvSpPr>
            <p:cNvPr id="54" name="node11.source-001.text"/>
            <p:cNvSpPr/>
            <p:nvPr/>
          </p:nvSpPr>
          <p:spPr>
            <a:xfrm>
              <a:off x="8191500" y="5562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 ranked roadmap, signed off</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ource-630">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Three days from discovery to decisions</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179</a:t>
            </a:fld>
            <a:endParaRPr lang="en-US" sz="700" spc="0" kern="0" b="0" i="0" dirty="0">
              <a:solidFill>
                <a:srgbClr val="070154"/>
              </a:solidFill>
              <a:latin typeface="IBM Plex Mono SemiBold"/>
              <a:ea typeface="IBM Plex Mono SemiBold"/>
              <a:cs typeface="IBM Plex Mono SemiBold"/>
            </a:endParaRPr>
          </a:p>
        </p:txBody>
      </p:sp>
      <p:grpSp>
        <p:nvGrpSpPr>
          <p:cNvPr id="74" name="node01"/>
          <p:cNvGrpSpPr/>
          <p:nvPr/>
        </p:nvGrpSpPr>
        <p:grpSpPr>
          <a:xfrm>
            <a:off x="4381500" y="457200"/>
            <a:ext cx="7086600" cy="228600"/>
            <a:chOff x="4381500" y="457200"/>
            <a:chExt cx="7086600" cy="228600"/>
          </a:xfrm>
        </p:grpSpPr>
        <p:sp>
          <p:nvSpPr>
            <p:cNvPr id="6" name="node01.label"/>
            <p:cNvSpPr/>
            <p:nvPr/>
          </p:nvSpPr>
          <p:spPr>
            <a:xfrm>
              <a:off x="4381500" y="457200"/>
              <a:ext cx="2947913"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DAY 1 · DISCOVER · TUE NOV 4 · 9:00 TO 17:00</a:t>
              </a:r>
              <a:endParaRPr lang="en-US" sz="800" spc="48" kern="0" b="0" i="0" dirty="0">
                <a:solidFill>
                  <a:srgbClr val="50658E"/>
                </a:solidFill>
                <a:latin typeface="IBM Plex Mono Medium"/>
                <a:ea typeface="IBM Plex Mono Medium"/>
                <a:cs typeface="IBM Plex Mono Medium"/>
              </a:endParaRPr>
            </a:p>
          </p:txBody>
        </p:sp>
        <p:sp>
          <p:nvSpPr>
            <p:cNvPr id="7" name="node01.rule"/>
            <p:cNvSpPr/>
            <p:nvPr/>
          </p:nvSpPr>
          <p:spPr>
            <a:xfrm>
              <a:off x="7456413" y="566738"/>
              <a:ext cx="4011687" cy="9525"/>
            </a:xfrm>
            <a:prstGeom prst="rect">
              <a:avLst/>
            </a:prstGeom>
            <a:solidFill>
              <a:srgbClr val="CED7E6"/>
            </a:solidFill>
            <a:ln>
              <a:noFill/>
            </a:ln>
          </p:spPr>
        </p:sp>
      </p:grpSp>
      <p:sp>
        <p:nvSpPr>
          <p:cNvPr id="8" name="node02"/>
          <p:cNvSpPr/>
          <p:nvPr/>
        </p:nvSpPr>
        <p:spPr>
          <a:xfrm>
            <a:off x="4381500" y="685800"/>
            <a:ext cx="7086600" cy="9525"/>
          </a:xfrm>
          <a:prstGeom prst="rect">
            <a:avLst/>
          </a:prstGeom>
          <a:solidFill>
            <a:srgbClr val="CED7E6"/>
          </a:solidFill>
          <a:ln>
            <a:noFill/>
          </a:ln>
        </p:spPr>
      </p:sp>
      <p:grpSp>
        <p:nvGrpSpPr>
          <p:cNvPr id="75" name="node03"/>
          <p:cNvGrpSpPr/>
          <p:nvPr/>
        </p:nvGrpSpPr>
        <p:grpSpPr>
          <a:xfrm>
            <a:off x="4381500" y="762000"/>
            <a:ext cx="3429000" cy="914400"/>
            <a:chOff x="4381500" y="762000"/>
            <a:chExt cx="3429000" cy="914400"/>
          </a:xfrm>
        </p:grpSpPr>
        <p:sp>
          <p:nvSpPr>
            <p:cNvPr id="9" name="node03.source-001.key"/>
            <p:cNvSpPr/>
            <p:nvPr/>
          </p:nvSpPr>
          <p:spPr>
            <a:xfrm>
              <a:off x="4381500" y="7620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9:00</a:t>
              </a:r>
              <a:endParaRPr lang="en-US" sz="1200" spc="0" kern="0" b="1" i="0" dirty="0">
                <a:solidFill>
                  <a:srgbClr val="0047FF"/>
                </a:solidFill>
                <a:latin typeface="IBM Plex Sans"/>
                <a:ea typeface="IBM Plex Sans"/>
                <a:cs typeface="IBM Plex Sans"/>
              </a:endParaRPr>
            </a:p>
          </p:txBody>
        </p:sp>
        <p:sp>
          <p:nvSpPr>
            <p:cNvPr id="10" name="node03.source-001.text"/>
            <p:cNvSpPr/>
            <p:nvPr/>
          </p:nvSpPr>
          <p:spPr>
            <a:xfrm>
              <a:off x="5219700" y="7620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Welcome and goals</a:t>
              </a:r>
              <a:endParaRPr lang="en-US" sz="1200" spc="0" kern="0" b="0" i="0" dirty="0">
                <a:solidFill>
                  <a:srgbClr val="070154"/>
                </a:solidFill>
                <a:latin typeface="IBM Plex Sans SemiBold"/>
                <a:ea typeface="IBM Plex Sans SemiBold"/>
                <a:cs typeface="IBM Plex Sans SemiBold"/>
              </a:endParaRPr>
            </a:p>
          </p:txBody>
        </p:sp>
        <p:sp>
          <p:nvSpPr>
            <p:cNvPr id="11" name="node03.source-002.key"/>
            <p:cNvSpPr/>
            <p:nvPr/>
          </p:nvSpPr>
          <p:spPr>
            <a:xfrm>
              <a:off x="4381500" y="10668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9:45</a:t>
              </a:r>
              <a:endParaRPr lang="en-US" sz="1200" spc="0" kern="0" b="1" i="0" dirty="0">
                <a:solidFill>
                  <a:srgbClr val="0047FF"/>
                </a:solidFill>
                <a:latin typeface="IBM Plex Sans"/>
                <a:ea typeface="IBM Plex Sans"/>
                <a:cs typeface="IBM Plex Sans"/>
              </a:endParaRPr>
            </a:p>
          </p:txBody>
        </p:sp>
        <p:sp>
          <p:nvSpPr>
            <p:cNvPr id="12" name="node03.source-002.text"/>
            <p:cNvSpPr/>
            <p:nvPr/>
          </p:nvSpPr>
          <p:spPr>
            <a:xfrm>
              <a:off x="5219700" y="10668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Current-state walk-through</a:t>
              </a:r>
              <a:endParaRPr lang="en-US" sz="1200" spc="0" kern="0" b="0" i="0" dirty="0">
                <a:solidFill>
                  <a:srgbClr val="070154"/>
                </a:solidFill>
                <a:latin typeface="IBM Plex Sans SemiBold"/>
                <a:ea typeface="IBM Plex Sans SemiBold"/>
                <a:cs typeface="IBM Plex Sans SemiBold"/>
              </a:endParaRPr>
            </a:p>
          </p:txBody>
        </p:sp>
        <p:sp>
          <p:nvSpPr>
            <p:cNvPr id="13" name="node03.source-003.key"/>
            <p:cNvSpPr/>
            <p:nvPr/>
          </p:nvSpPr>
          <p:spPr>
            <a:xfrm>
              <a:off x="4381500" y="13716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11:15</a:t>
              </a:r>
              <a:endParaRPr lang="en-US" sz="1200" spc="0" kern="0" b="1" i="0" dirty="0">
                <a:solidFill>
                  <a:srgbClr val="0047FF"/>
                </a:solidFill>
                <a:latin typeface="IBM Plex Sans"/>
                <a:ea typeface="IBM Plex Sans"/>
                <a:cs typeface="IBM Plex Sans"/>
              </a:endParaRPr>
            </a:p>
          </p:txBody>
        </p:sp>
        <p:sp>
          <p:nvSpPr>
            <p:cNvPr id="14" name="node03.source-003.text"/>
            <p:cNvSpPr/>
            <p:nvPr/>
          </p:nvSpPr>
          <p:spPr>
            <a:xfrm>
              <a:off x="5219700" y="1371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Journey mapping</a:t>
              </a:r>
              <a:endParaRPr lang="en-US" sz="1200" spc="0" kern="0" b="0" i="0" dirty="0">
                <a:solidFill>
                  <a:srgbClr val="070154"/>
                </a:solidFill>
                <a:latin typeface="IBM Plex Sans SemiBold"/>
                <a:ea typeface="IBM Plex Sans SemiBold"/>
                <a:cs typeface="IBM Plex Sans SemiBold"/>
              </a:endParaRPr>
            </a:p>
          </p:txBody>
        </p:sp>
      </p:grpSp>
      <p:grpSp>
        <p:nvGrpSpPr>
          <p:cNvPr id="76" name="node04"/>
          <p:cNvGrpSpPr/>
          <p:nvPr/>
        </p:nvGrpSpPr>
        <p:grpSpPr>
          <a:xfrm>
            <a:off x="8039100" y="762000"/>
            <a:ext cx="3429000" cy="914400"/>
            <a:chOff x="8039100" y="762000"/>
            <a:chExt cx="3429000" cy="914400"/>
          </a:xfrm>
        </p:grpSpPr>
        <p:sp>
          <p:nvSpPr>
            <p:cNvPr id="15" name="node04.source-001.key"/>
            <p:cNvSpPr/>
            <p:nvPr/>
          </p:nvSpPr>
          <p:spPr>
            <a:xfrm>
              <a:off x="8039100" y="7620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13:00</a:t>
              </a:r>
              <a:endParaRPr lang="en-US" sz="1200" spc="0" kern="0" b="1" i="0" dirty="0">
                <a:solidFill>
                  <a:srgbClr val="0047FF"/>
                </a:solidFill>
                <a:latin typeface="IBM Plex Sans"/>
                <a:ea typeface="IBM Plex Sans"/>
                <a:cs typeface="IBM Plex Sans"/>
              </a:endParaRPr>
            </a:p>
          </p:txBody>
        </p:sp>
        <p:sp>
          <p:nvSpPr>
            <p:cNvPr id="16" name="node04.source-001.text"/>
            <p:cNvSpPr/>
            <p:nvPr/>
          </p:nvSpPr>
          <p:spPr>
            <a:xfrm>
              <a:off x="8877300" y="7620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Data review</a:t>
              </a:r>
              <a:endParaRPr lang="en-US" sz="1200" spc="0" kern="0" b="0" i="0" dirty="0">
                <a:solidFill>
                  <a:srgbClr val="070154"/>
                </a:solidFill>
                <a:latin typeface="IBM Plex Sans SemiBold"/>
                <a:ea typeface="IBM Plex Sans SemiBold"/>
                <a:cs typeface="IBM Plex Sans SemiBold"/>
              </a:endParaRPr>
            </a:p>
          </p:txBody>
        </p:sp>
        <p:sp>
          <p:nvSpPr>
            <p:cNvPr id="17" name="node04.source-002.key"/>
            <p:cNvSpPr/>
            <p:nvPr/>
          </p:nvSpPr>
          <p:spPr>
            <a:xfrm>
              <a:off x="8039100" y="10668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15:00</a:t>
              </a:r>
              <a:endParaRPr lang="en-US" sz="1200" spc="0" kern="0" b="1" i="0" dirty="0">
                <a:solidFill>
                  <a:srgbClr val="0047FF"/>
                </a:solidFill>
                <a:latin typeface="IBM Plex Sans"/>
                <a:ea typeface="IBM Plex Sans"/>
                <a:cs typeface="IBM Plex Sans"/>
              </a:endParaRPr>
            </a:p>
          </p:txBody>
        </p:sp>
        <p:sp>
          <p:nvSpPr>
            <p:cNvPr id="18" name="node04.source-002.text"/>
            <p:cNvSpPr/>
            <p:nvPr/>
          </p:nvSpPr>
          <p:spPr>
            <a:xfrm>
              <a:off x="8877300" y="10668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Root-cause tables</a:t>
              </a:r>
              <a:endParaRPr lang="en-US" sz="1200" spc="0" kern="0" b="0" i="0" dirty="0">
                <a:solidFill>
                  <a:srgbClr val="070154"/>
                </a:solidFill>
                <a:latin typeface="IBM Plex Sans SemiBold"/>
                <a:ea typeface="IBM Plex Sans SemiBold"/>
                <a:cs typeface="IBM Plex Sans SemiBold"/>
              </a:endParaRPr>
            </a:p>
          </p:txBody>
        </p:sp>
        <p:sp>
          <p:nvSpPr>
            <p:cNvPr id="19" name="node04.source-003.key"/>
            <p:cNvSpPr/>
            <p:nvPr/>
          </p:nvSpPr>
          <p:spPr>
            <a:xfrm>
              <a:off x="8039100" y="13716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16:30</a:t>
              </a:r>
              <a:endParaRPr lang="en-US" sz="1200" spc="0" kern="0" b="1" i="0" dirty="0">
                <a:solidFill>
                  <a:srgbClr val="0047FF"/>
                </a:solidFill>
                <a:latin typeface="IBM Plex Sans"/>
                <a:ea typeface="IBM Plex Sans"/>
                <a:cs typeface="IBM Plex Sans"/>
              </a:endParaRPr>
            </a:p>
          </p:txBody>
        </p:sp>
        <p:sp>
          <p:nvSpPr>
            <p:cNvPr id="20" name="node04.source-003.text"/>
            <p:cNvSpPr/>
            <p:nvPr/>
          </p:nvSpPr>
          <p:spPr>
            <a:xfrm>
              <a:off x="8877300" y="1371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Playback</a:t>
              </a:r>
              <a:endParaRPr lang="en-US" sz="1200" spc="0" kern="0" b="0" i="0" dirty="0">
                <a:solidFill>
                  <a:srgbClr val="070154"/>
                </a:solidFill>
                <a:latin typeface="IBM Plex Sans SemiBold"/>
                <a:ea typeface="IBM Plex Sans SemiBold"/>
                <a:cs typeface="IBM Plex Sans SemiBold"/>
              </a:endParaRPr>
            </a:p>
          </p:txBody>
        </p:sp>
      </p:grpSp>
      <p:grpSp>
        <p:nvGrpSpPr>
          <p:cNvPr id="77" name="node05"/>
          <p:cNvGrpSpPr/>
          <p:nvPr/>
        </p:nvGrpSpPr>
        <p:grpSpPr>
          <a:xfrm>
            <a:off x="4381500" y="1752600"/>
            <a:ext cx="7086600" cy="190500"/>
            <a:chOff x="4381500" y="1752600"/>
            <a:chExt cx="7086600" cy="190500"/>
          </a:xfrm>
        </p:grpSpPr>
        <p:sp>
          <p:nvSpPr>
            <p:cNvPr id="21" name="node05.text"/>
            <p:cNvSpPr/>
            <p:nvPr/>
          </p:nvSpPr>
          <p:spPr>
            <a:xfrm>
              <a:off x="4381500" y="1752600"/>
              <a:ext cx="7086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Output: validated current state, top pain points.</a:t>
              </a:r>
              <a:endParaRPr lang="en-US" sz="1100" spc="0" kern="0" b="0" i="0" dirty="0">
                <a:solidFill>
                  <a:srgbClr val="070154"/>
                </a:solidFill>
                <a:latin typeface="IBM Plex Sans"/>
                <a:ea typeface="IBM Plex Sans"/>
                <a:cs typeface="IBM Plex Sans"/>
              </a:endParaRPr>
            </a:p>
          </p:txBody>
        </p:sp>
      </p:grpSp>
      <p:grpSp>
        <p:nvGrpSpPr>
          <p:cNvPr id="78" name="node06"/>
          <p:cNvGrpSpPr/>
          <p:nvPr/>
        </p:nvGrpSpPr>
        <p:grpSpPr>
          <a:xfrm>
            <a:off x="4381500" y="2286000"/>
            <a:ext cx="7086600" cy="228600"/>
            <a:chOff x="4381500" y="2286000"/>
            <a:chExt cx="7086600" cy="228600"/>
          </a:xfrm>
        </p:grpSpPr>
        <p:sp>
          <p:nvSpPr>
            <p:cNvPr id="22" name="node06.label"/>
            <p:cNvSpPr/>
            <p:nvPr/>
          </p:nvSpPr>
          <p:spPr>
            <a:xfrm>
              <a:off x="4381500" y="2286000"/>
              <a:ext cx="2815072"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DAY 2 · DESIGN · WED NOV 5 · 9:00 TO 17:00</a:t>
              </a:r>
              <a:endParaRPr lang="en-US" sz="800" spc="48" kern="0" b="0" i="0" dirty="0">
                <a:solidFill>
                  <a:srgbClr val="50658E"/>
                </a:solidFill>
                <a:latin typeface="IBM Plex Mono Medium"/>
                <a:ea typeface="IBM Plex Mono Medium"/>
                <a:cs typeface="IBM Plex Mono Medium"/>
              </a:endParaRPr>
            </a:p>
          </p:txBody>
        </p:sp>
        <p:sp>
          <p:nvSpPr>
            <p:cNvPr id="23" name="node06.rule"/>
            <p:cNvSpPr/>
            <p:nvPr/>
          </p:nvSpPr>
          <p:spPr>
            <a:xfrm>
              <a:off x="7323572" y="2395538"/>
              <a:ext cx="4144528" cy="9525"/>
            </a:xfrm>
            <a:prstGeom prst="rect">
              <a:avLst/>
            </a:prstGeom>
            <a:solidFill>
              <a:srgbClr val="CED7E6"/>
            </a:solidFill>
            <a:ln>
              <a:noFill/>
            </a:ln>
          </p:spPr>
        </p:sp>
      </p:grpSp>
      <p:sp>
        <p:nvSpPr>
          <p:cNvPr id="24" name="node07"/>
          <p:cNvSpPr/>
          <p:nvPr/>
        </p:nvSpPr>
        <p:spPr>
          <a:xfrm>
            <a:off x="4381500" y="2514600"/>
            <a:ext cx="7086600" cy="9525"/>
          </a:xfrm>
          <a:prstGeom prst="rect">
            <a:avLst/>
          </a:prstGeom>
          <a:solidFill>
            <a:srgbClr val="CED7E6"/>
          </a:solidFill>
          <a:ln>
            <a:noFill/>
          </a:ln>
        </p:spPr>
      </p:sp>
      <p:grpSp>
        <p:nvGrpSpPr>
          <p:cNvPr id="79" name="node08"/>
          <p:cNvGrpSpPr/>
          <p:nvPr/>
        </p:nvGrpSpPr>
        <p:grpSpPr>
          <a:xfrm>
            <a:off x="4381500" y="2590800"/>
            <a:ext cx="3429000" cy="914400"/>
            <a:chOff x="4381500" y="2590800"/>
            <a:chExt cx="3429000" cy="914400"/>
          </a:xfrm>
        </p:grpSpPr>
        <p:sp>
          <p:nvSpPr>
            <p:cNvPr id="25" name="node08.source-001.key"/>
            <p:cNvSpPr/>
            <p:nvPr/>
          </p:nvSpPr>
          <p:spPr>
            <a:xfrm>
              <a:off x="4381500" y="25908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9:00</a:t>
              </a:r>
              <a:endParaRPr lang="en-US" sz="1200" spc="0" kern="0" b="1" i="0" dirty="0">
                <a:solidFill>
                  <a:srgbClr val="0047FF"/>
                </a:solidFill>
                <a:latin typeface="IBM Plex Sans"/>
                <a:ea typeface="IBM Plex Sans"/>
                <a:cs typeface="IBM Plex Sans"/>
              </a:endParaRPr>
            </a:p>
          </p:txBody>
        </p:sp>
        <p:sp>
          <p:nvSpPr>
            <p:cNvPr id="26" name="node08.source-001.text"/>
            <p:cNvSpPr/>
            <p:nvPr/>
          </p:nvSpPr>
          <p:spPr>
            <a:xfrm>
              <a:off x="5219700" y="25908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Design principles</a:t>
              </a:r>
              <a:endParaRPr lang="en-US" sz="1200" spc="0" kern="0" b="0" i="0" dirty="0">
                <a:solidFill>
                  <a:srgbClr val="070154"/>
                </a:solidFill>
                <a:latin typeface="IBM Plex Sans SemiBold"/>
                <a:ea typeface="IBM Plex Sans SemiBold"/>
                <a:cs typeface="IBM Plex Sans SemiBold"/>
              </a:endParaRPr>
            </a:p>
          </p:txBody>
        </p:sp>
        <p:sp>
          <p:nvSpPr>
            <p:cNvPr id="27" name="node08.source-002.key"/>
            <p:cNvSpPr/>
            <p:nvPr/>
          </p:nvSpPr>
          <p:spPr>
            <a:xfrm>
              <a:off x="4381500" y="28956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9:45</a:t>
              </a:r>
              <a:endParaRPr lang="en-US" sz="1200" spc="0" kern="0" b="1" i="0" dirty="0">
                <a:solidFill>
                  <a:srgbClr val="0047FF"/>
                </a:solidFill>
                <a:latin typeface="IBM Plex Sans"/>
                <a:ea typeface="IBM Plex Sans"/>
                <a:cs typeface="IBM Plex Sans"/>
              </a:endParaRPr>
            </a:p>
          </p:txBody>
        </p:sp>
        <p:sp>
          <p:nvSpPr>
            <p:cNvPr id="28" name="node08.source-002.text"/>
            <p:cNvSpPr/>
            <p:nvPr/>
          </p:nvSpPr>
          <p:spPr>
            <a:xfrm>
              <a:off x="5219700" y="2895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Design by area</a:t>
              </a:r>
              <a:endParaRPr lang="en-US" sz="1200" spc="0" kern="0" b="0" i="0" dirty="0">
                <a:solidFill>
                  <a:srgbClr val="070154"/>
                </a:solidFill>
                <a:latin typeface="IBM Plex Sans SemiBold"/>
                <a:ea typeface="IBM Plex Sans SemiBold"/>
                <a:cs typeface="IBM Plex Sans SemiBold"/>
              </a:endParaRPr>
            </a:p>
          </p:txBody>
        </p:sp>
        <p:sp>
          <p:nvSpPr>
            <p:cNvPr id="29" name="node08.source-003.key"/>
            <p:cNvSpPr/>
            <p:nvPr/>
          </p:nvSpPr>
          <p:spPr>
            <a:xfrm>
              <a:off x="4381500" y="32004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11:30</a:t>
              </a:r>
              <a:endParaRPr lang="en-US" sz="1200" spc="0" kern="0" b="1" i="0" dirty="0">
                <a:solidFill>
                  <a:srgbClr val="0047FF"/>
                </a:solidFill>
                <a:latin typeface="IBM Plex Sans"/>
                <a:ea typeface="IBM Plex Sans"/>
                <a:cs typeface="IBM Plex Sans"/>
              </a:endParaRPr>
            </a:p>
          </p:txBody>
        </p:sp>
        <p:sp>
          <p:nvSpPr>
            <p:cNvPr id="30" name="node08.source-003.text"/>
            <p:cNvSpPr/>
            <p:nvPr/>
          </p:nvSpPr>
          <p:spPr>
            <a:xfrm>
              <a:off x="5219700" y="3200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Table playbacks</a:t>
              </a:r>
              <a:endParaRPr lang="en-US" sz="1200" spc="0" kern="0" b="0" i="0" dirty="0">
                <a:solidFill>
                  <a:srgbClr val="070154"/>
                </a:solidFill>
                <a:latin typeface="IBM Plex Sans SemiBold"/>
                <a:ea typeface="IBM Plex Sans SemiBold"/>
                <a:cs typeface="IBM Plex Sans SemiBold"/>
              </a:endParaRPr>
            </a:p>
          </p:txBody>
        </p:sp>
      </p:grpSp>
      <p:grpSp>
        <p:nvGrpSpPr>
          <p:cNvPr id="80" name="node09"/>
          <p:cNvGrpSpPr/>
          <p:nvPr/>
        </p:nvGrpSpPr>
        <p:grpSpPr>
          <a:xfrm>
            <a:off x="8039100" y="2590800"/>
            <a:ext cx="3429000" cy="914400"/>
            <a:chOff x="8039100" y="2590800"/>
            <a:chExt cx="3429000" cy="914400"/>
          </a:xfrm>
        </p:grpSpPr>
        <p:sp>
          <p:nvSpPr>
            <p:cNvPr id="31" name="node09.source-001.key"/>
            <p:cNvSpPr/>
            <p:nvPr/>
          </p:nvSpPr>
          <p:spPr>
            <a:xfrm>
              <a:off x="8039100" y="25908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13:00</a:t>
              </a:r>
              <a:endParaRPr lang="en-US" sz="1200" spc="0" kern="0" b="1" i="0" dirty="0">
                <a:solidFill>
                  <a:srgbClr val="0047FF"/>
                </a:solidFill>
                <a:latin typeface="IBM Plex Sans"/>
                <a:ea typeface="IBM Plex Sans"/>
                <a:cs typeface="IBM Plex Sans"/>
              </a:endParaRPr>
            </a:p>
          </p:txBody>
        </p:sp>
        <p:sp>
          <p:nvSpPr>
            <p:cNvPr id="32" name="node09.source-001.text"/>
            <p:cNvSpPr/>
            <p:nvPr/>
          </p:nvSpPr>
          <p:spPr>
            <a:xfrm>
              <a:off x="8877300" y="25908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Cross-area hand-offs</a:t>
              </a:r>
              <a:endParaRPr lang="en-US" sz="1200" spc="0" kern="0" b="0" i="0" dirty="0">
                <a:solidFill>
                  <a:srgbClr val="070154"/>
                </a:solidFill>
                <a:latin typeface="IBM Plex Sans SemiBold"/>
                <a:ea typeface="IBM Plex Sans SemiBold"/>
                <a:cs typeface="IBM Plex Sans SemiBold"/>
              </a:endParaRPr>
            </a:p>
          </p:txBody>
        </p:sp>
        <p:sp>
          <p:nvSpPr>
            <p:cNvPr id="33" name="node09.source-002.key"/>
            <p:cNvSpPr/>
            <p:nvPr/>
          </p:nvSpPr>
          <p:spPr>
            <a:xfrm>
              <a:off x="8039100" y="28956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15:00</a:t>
              </a:r>
              <a:endParaRPr lang="en-US" sz="1200" spc="0" kern="0" b="1" i="0" dirty="0">
                <a:solidFill>
                  <a:srgbClr val="0047FF"/>
                </a:solidFill>
                <a:latin typeface="IBM Plex Sans"/>
                <a:ea typeface="IBM Plex Sans"/>
                <a:cs typeface="IBM Plex Sans"/>
              </a:endParaRPr>
            </a:p>
          </p:txBody>
        </p:sp>
        <p:sp>
          <p:nvSpPr>
            <p:cNvPr id="34" name="node09.source-002.text"/>
            <p:cNvSpPr/>
            <p:nvPr/>
          </p:nvSpPr>
          <p:spPr>
            <a:xfrm>
              <a:off x="8877300" y="2895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Scenario tests</a:t>
              </a:r>
              <a:endParaRPr lang="en-US" sz="1200" spc="0" kern="0" b="0" i="0" dirty="0">
                <a:solidFill>
                  <a:srgbClr val="070154"/>
                </a:solidFill>
                <a:latin typeface="IBM Plex Sans SemiBold"/>
                <a:ea typeface="IBM Plex Sans SemiBold"/>
                <a:cs typeface="IBM Plex Sans SemiBold"/>
              </a:endParaRPr>
            </a:p>
          </p:txBody>
        </p:sp>
        <p:sp>
          <p:nvSpPr>
            <p:cNvPr id="35" name="node09.source-003.key"/>
            <p:cNvSpPr/>
            <p:nvPr/>
          </p:nvSpPr>
          <p:spPr>
            <a:xfrm>
              <a:off x="8039100" y="32004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16:30</a:t>
              </a:r>
              <a:endParaRPr lang="en-US" sz="1200" spc="0" kern="0" b="1" i="0" dirty="0">
                <a:solidFill>
                  <a:srgbClr val="0047FF"/>
                </a:solidFill>
                <a:latin typeface="IBM Plex Sans"/>
                <a:ea typeface="IBM Plex Sans"/>
                <a:cs typeface="IBM Plex Sans"/>
              </a:endParaRPr>
            </a:p>
          </p:txBody>
        </p:sp>
        <p:sp>
          <p:nvSpPr>
            <p:cNvPr id="36" name="node09.source-003.text"/>
            <p:cNvSpPr/>
            <p:nvPr/>
          </p:nvSpPr>
          <p:spPr>
            <a:xfrm>
              <a:off x="8877300" y="3200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Playback</a:t>
              </a:r>
              <a:endParaRPr lang="en-US" sz="1200" spc="0" kern="0" b="0" i="0" dirty="0">
                <a:solidFill>
                  <a:srgbClr val="070154"/>
                </a:solidFill>
                <a:latin typeface="IBM Plex Sans SemiBold"/>
                <a:ea typeface="IBM Plex Sans SemiBold"/>
                <a:cs typeface="IBM Plex Sans SemiBold"/>
              </a:endParaRPr>
            </a:p>
          </p:txBody>
        </p:sp>
      </p:grpSp>
      <p:grpSp>
        <p:nvGrpSpPr>
          <p:cNvPr id="81" name="node10"/>
          <p:cNvGrpSpPr/>
          <p:nvPr/>
        </p:nvGrpSpPr>
        <p:grpSpPr>
          <a:xfrm>
            <a:off x="4381500" y="3581400"/>
            <a:ext cx="7086600" cy="190500"/>
            <a:chOff x="4381500" y="3581400"/>
            <a:chExt cx="7086600" cy="190500"/>
          </a:xfrm>
        </p:grpSpPr>
        <p:sp>
          <p:nvSpPr>
            <p:cNvPr id="37" name="node10.text"/>
            <p:cNvSpPr/>
            <p:nvPr/>
          </p:nvSpPr>
          <p:spPr>
            <a:xfrm>
              <a:off x="4381500" y="3581400"/>
              <a:ext cx="7086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Output: draft future-state design for four areas.</a:t>
              </a:r>
              <a:endParaRPr lang="en-US" sz="1100" spc="0" kern="0" b="0" i="0" dirty="0">
                <a:solidFill>
                  <a:srgbClr val="070154"/>
                </a:solidFill>
                <a:latin typeface="IBM Plex Sans"/>
                <a:ea typeface="IBM Plex Sans"/>
                <a:cs typeface="IBM Plex Sans"/>
              </a:endParaRPr>
            </a:p>
          </p:txBody>
        </p:sp>
      </p:grpSp>
      <p:grpSp>
        <p:nvGrpSpPr>
          <p:cNvPr id="82" name="node11"/>
          <p:cNvGrpSpPr/>
          <p:nvPr/>
        </p:nvGrpSpPr>
        <p:grpSpPr>
          <a:xfrm>
            <a:off x="4381500" y="4114800"/>
            <a:ext cx="7086600" cy="228600"/>
            <a:chOff x="4381500" y="4114800"/>
            <a:chExt cx="7086600" cy="228600"/>
          </a:xfrm>
        </p:grpSpPr>
        <p:sp>
          <p:nvSpPr>
            <p:cNvPr id="38" name="node11.label"/>
            <p:cNvSpPr/>
            <p:nvPr/>
          </p:nvSpPr>
          <p:spPr>
            <a:xfrm>
              <a:off x="4381500" y="4114800"/>
              <a:ext cx="2815072"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DAY 3 · DECIDE · THU NOV 6 · 9:00 TO 15:00</a:t>
              </a:r>
              <a:endParaRPr lang="en-US" sz="800" spc="48" kern="0" b="0" i="0" dirty="0">
                <a:solidFill>
                  <a:srgbClr val="50658E"/>
                </a:solidFill>
                <a:latin typeface="IBM Plex Mono Medium"/>
                <a:ea typeface="IBM Plex Mono Medium"/>
                <a:cs typeface="IBM Plex Mono Medium"/>
              </a:endParaRPr>
            </a:p>
          </p:txBody>
        </p:sp>
        <p:sp>
          <p:nvSpPr>
            <p:cNvPr id="39" name="node11.rule"/>
            <p:cNvSpPr/>
            <p:nvPr/>
          </p:nvSpPr>
          <p:spPr>
            <a:xfrm>
              <a:off x="7323572" y="4224338"/>
              <a:ext cx="4144528" cy="9525"/>
            </a:xfrm>
            <a:prstGeom prst="rect">
              <a:avLst/>
            </a:prstGeom>
            <a:solidFill>
              <a:srgbClr val="CED7E6"/>
            </a:solidFill>
            <a:ln>
              <a:noFill/>
            </a:ln>
          </p:spPr>
        </p:sp>
      </p:grpSp>
      <p:sp>
        <p:nvSpPr>
          <p:cNvPr id="40" name="node12"/>
          <p:cNvSpPr/>
          <p:nvPr/>
        </p:nvSpPr>
        <p:spPr>
          <a:xfrm>
            <a:off x="4381500" y="4343400"/>
            <a:ext cx="7086600" cy="9525"/>
          </a:xfrm>
          <a:prstGeom prst="rect">
            <a:avLst/>
          </a:prstGeom>
          <a:solidFill>
            <a:srgbClr val="CED7E6"/>
          </a:solidFill>
          <a:ln>
            <a:noFill/>
          </a:ln>
        </p:spPr>
      </p:sp>
      <p:grpSp>
        <p:nvGrpSpPr>
          <p:cNvPr id="83" name="node13"/>
          <p:cNvGrpSpPr/>
          <p:nvPr/>
        </p:nvGrpSpPr>
        <p:grpSpPr>
          <a:xfrm>
            <a:off x="4381500" y="4419600"/>
            <a:ext cx="3429000" cy="914400"/>
            <a:chOff x="4381500" y="4419600"/>
            <a:chExt cx="3429000" cy="914400"/>
          </a:xfrm>
        </p:grpSpPr>
        <p:sp>
          <p:nvSpPr>
            <p:cNvPr id="41" name="node13.source-001.key"/>
            <p:cNvSpPr/>
            <p:nvPr/>
          </p:nvSpPr>
          <p:spPr>
            <a:xfrm>
              <a:off x="4381500" y="44196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9:00</a:t>
              </a:r>
              <a:endParaRPr lang="en-US" sz="1200" spc="0" kern="0" b="1" i="0" dirty="0">
                <a:solidFill>
                  <a:srgbClr val="0047FF"/>
                </a:solidFill>
                <a:latin typeface="IBM Plex Sans"/>
                <a:ea typeface="IBM Plex Sans"/>
                <a:cs typeface="IBM Plex Sans"/>
              </a:endParaRPr>
            </a:p>
          </p:txBody>
        </p:sp>
        <p:sp>
          <p:nvSpPr>
            <p:cNvPr id="42" name="node13.source-001.text"/>
            <p:cNvSpPr/>
            <p:nvPr/>
          </p:nvSpPr>
          <p:spPr>
            <a:xfrm>
              <a:off x="5219700" y="4419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Close design gaps</a:t>
              </a:r>
              <a:endParaRPr lang="en-US" sz="1200" spc="0" kern="0" b="0" i="0" dirty="0">
                <a:solidFill>
                  <a:srgbClr val="070154"/>
                </a:solidFill>
                <a:latin typeface="IBM Plex Sans SemiBold"/>
                <a:ea typeface="IBM Plex Sans SemiBold"/>
                <a:cs typeface="IBM Plex Sans SemiBold"/>
              </a:endParaRPr>
            </a:p>
          </p:txBody>
        </p:sp>
        <p:sp>
          <p:nvSpPr>
            <p:cNvPr id="43" name="node13.source-002.key"/>
            <p:cNvSpPr/>
            <p:nvPr/>
          </p:nvSpPr>
          <p:spPr>
            <a:xfrm>
              <a:off x="4381500" y="47244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10:30</a:t>
              </a:r>
              <a:endParaRPr lang="en-US" sz="1200" spc="0" kern="0" b="1" i="0" dirty="0">
                <a:solidFill>
                  <a:srgbClr val="0047FF"/>
                </a:solidFill>
                <a:latin typeface="IBM Plex Sans"/>
                <a:ea typeface="IBM Plex Sans"/>
                <a:cs typeface="IBM Plex Sans"/>
              </a:endParaRPr>
            </a:p>
          </p:txBody>
        </p:sp>
        <p:sp>
          <p:nvSpPr>
            <p:cNvPr id="44" name="node13.source-002.text"/>
            <p:cNvSpPr/>
            <p:nvPr/>
          </p:nvSpPr>
          <p:spPr>
            <a:xfrm>
              <a:off x="5219700" y="4724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Score and rank</a:t>
              </a:r>
              <a:endParaRPr lang="en-US" sz="1200" spc="0" kern="0" b="0" i="0" dirty="0">
                <a:solidFill>
                  <a:srgbClr val="070154"/>
                </a:solidFill>
                <a:latin typeface="IBM Plex Sans SemiBold"/>
                <a:ea typeface="IBM Plex Sans SemiBold"/>
                <a:cs typeface="IBM Plex Sans SemiBold"/>
              </a:endParaRPr>
            </a:p>
          </p:txBody>
        </p:sp>
        <p:sp>
          <p:nvSpPr>
            <p:cNvPr id="45" name="node13.source-003.key"/>
            <p:cNvSpPr/>
            <p:nvPr/>
          </p:nvSpPr>
          <p:spPr>
            <a:xfrm>
              <a:off x="4381500" y="50292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12:30</a:t>
              </a:r>
              <a:endParaRPr lang="en-US" sz="1200" spc="0" kern="0" b="1" i="0" dirty="0">
                <a:solidFill>
                  <a:srgbClr val="0047FF"/>
                </a:solidFill>
                <a:latin typeface="IBM Plex Sans"/>
                <a:ea typeface="IBM Plex Sans"/>
                <a:cs typeface="IBM Plex Sans"/>
              </a:endParaRPr>
            </a:p>
          </p:txBody>
        </p:sp>
        <p:sp>
          <p:nvSpPr>
            <p:cNvPr id="46" name="node13.source-003.text"/>
            <p:cNvSpPr/>
            <p:nvPr/>
          </p:nvSpPr>
          <p:spPr>
            <a:xfrm>
              <a:off x="5219700" y="50292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Working lunch</a:t>
              </a:r>
              <a:endParaRPr lang="en-US" sz="1200" spc="0" kern="0" b="0" i="0" dirty="0">
                <a:solidFill>
                  <a:srgbClr val="070154"/>
                </a:solidFill>
                <a:latin typeface="IBM Plex Sans SemiBold"/>
                <a:ea typeface="IBM Plex Sans SemiBold"/>
                <a:cs typeface="IBM Plex Sans SemiBold"/>
              </a:endParaRPr>
            </a:p>
          </p:txBody>
        </p:sp>
      </p:grpSp>
      <p:grpSp>
        <p:nvGrpSpPr>
          <p:cNvPr id="84" name="node14"/>
          <p:cNvGrpSpPr/>
          <p:nvPr/>
        </p:nvGrpSpPr>
        <p:grpSpPr>
          <a:xfrm>
            <a:off x="8039100" y="4419600"/>
            <a:ext cx="3429000" cy="914400"/>
            <a:chOff x="8039100" y="4419600"/>
            <a:chExt cx="3429000" cy="914400"/>
          </a:xfrm>
        </p:grpSpPr>
        <p:sp>
          <p:nvSpPr>
            <p:cNvPr id="47" name="node14.source-001.key"/>
            <p:cNvSpPr/>
            <p:nvPr/>
          </p:nvSpPr>
          <p:spPr>
            <a:xfrm>
              <a:off x="8039100" y="44196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13:00</a:t>
              </a:r>
              <a:endParaRPr lang="en-US" sz="1200" spc="0" kern="0" b="1" i="0" dirty="0">
                <a:solidFill>
                  <a:srgbClr val="0047FF"/>
                </a:solidFill>
                <a:latin typeface="IBM Plex Sans"/>
                <a:ea typeface="IBM Plex Sans"/>
                <a:cs typeface="IBM Plex Sans"/>
              </a:endParaRPr>
            </a:p>
          </p:txBody>
        </p:sp>
        <p:sp>
          <p:nvSpPr>
            <p:cNvPr id="48" name="node14.source-001.text"/>
            <p:cNvSpPr/>
            <p:nvPr/>
          </p:nvSpPr>
          <p:spPr>
            <a:xfrm>
              <a:off x="8877300" y="44196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Roadmap and owners</a:t>
              </a:r>
              <a:endParaRPr lang="en-US" sz="1200" spc="0" kern="0" b="0" i="0" dirty="0">
                <a:solidFill>
                  <a:srgbClr val="070154"/>
                </a:solidFill>
                <a:latin typeface="IBM Plex Sans SemiBold"/>
                <a:ea typeface="IBM Plex Sans SemiBold"/>
                <a:cs typeface="IBM Plex Sans SemiBold"/>
              </a:endParaRPr>
            </a:p>
          </p:txBody>
        </p:sp>
        <p:sp>
          <p:nvSpPr>
            <p:cNvPr id="49" name="node14.source-002.key"/>
            <p:cNvSpPr/>
            <p:nvPr/>
          </p:nvSpPr>
          <p:spPr>
            <a:xfrm>
              <a:off x="8039100" y="47244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14:00</a:t>
              </a:r>
              <a:endParaRPr lang="en-US" sz="1200" spc="0" kern="0" b="1" i="0" dirty="0">
                <a:solidFill>
                  <a:srgbClr val="0047FF"/>
                </a:solidFill>
                <a:latin typeface="IBM Plex Sans"/>
                <a:ea typeface="IBM Plex Sans"/>
                <a:cs typeface="IBM Plex Sans"/>
              </a:endParaRPr>
            </a:p>
          </p:txBody>
        </p:sp>
        <p:sp>
          <p:nvSpPr>
            <p:cNvPr id="50" name="node14.source-002.text"/>
            <p:cNvSpPr/>
            <p:nvPr/>
          </p:nvSpPr>
          <p:spPr>
            <a:xfrm>
              <a:off x="8877300" y="47244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Readout to sponsors</a:t>
              </a:r>
              <a:endParaRPr lang="en-US" sz="1200" spc="0" kern="0" b="0" i="0" dirty="0">
                <a:solidFill>
                  <a:srgbClr val="070154"/>
                </a:solidFill>
                <a:latin typeface="IBM Plex Sans SemiBold"/>
                <a:ea typeface="IBM Plex Sans SemiBold"/>
                <a:cs typeface="IBM Plex Sans SemiBold"/>
              </a:endParaRPr>
            </a:p>
          </p:txBody>
        </p:sp>
        <p:sp>
          <p:nvSpPr>
            <p:cNvPr id="51" name="node14.source-003.key"/>
            <p:cNvSpPr/>
            <p:nvPr/>
          </p:nvSpPr>
          <p:spPr>
            <a:xfrm>
              <a:off x="8039100" y="5029200"/>
              <a:ext cx="6096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15:00</a:t>
              </a:r>
              <a:endParaRPr lang="en-US" sz="1200" spc="0" kern="0" b="1" i="0" dirty="0">
                <a:solidFill>
                  <a:srgbClr val="0047FF"/>
                </a:solidFill>
                <a:latin typeface="IBM Plex Sans"/>
                <a:ea typeface="IBM Plex Sans"/>
                <a:cs typeface="IBM Plex Sans"/>
              </a:endParaRPr>
            </a:p>
          </p:txBody>
        </p:sp>
        <p:sp>
          <p:nvSpPr>
            <p:cNvPr id="52" name="node14.source-003.text"/>
            <p:cNvSpPr/>
            <p:nvPr/>
          </p:nvSpPr>
          <p:spPr>
            <a:xfrm>
              <a:off x="8877300" y="5029200"/>
              <a:ext cx="2590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Close</a:t>
              </a:r>
              <a:endParaRPr lang="en-US" sz="1200" spc="0" kern="0" b="0" i="0" dirty="0">
                <a:solidFill>
                  <a:srgbClr val="070154"/>
                </a:solidFill>
                <a:latin typeface="IBM Plex Sans SemiBold"/>
                <a:ea typeface="IBM Plex Sans SemiBold"/>
                <a:cs typeface="IBM Plex Sans SemiBold"/>
              </a:endParaRPr>
            </a:p>
          </p:txBody>
        </p:sp>
      </p:grpSp>
      <p:grpSp>
        <p:nvGrpSpPr>
          <p:cNvPr id="85" name="node15"/>
          <p:cNvGrpSpPr/>
          <p:nvPr/>
        </p:nvGrpSpPr>
        <p:grpSpPr>
          <a:xfrm>
            <a:off x="4381500" y="5410200"/>
            <a:ext cx="7086600" cy="190500"/>
            <a:chOff x="4381500" y="5410200"/>
            <a:chExt cx="7086600" cy="190500"/>
          </a:xfrm>
        </p:grpSpPr>
        <p:sp>
          <p:nvSpPr>
            <p:cNvPr id="53" name="node15.text"/>
            <p:cNvSpPr/>
            <p:nvPr/>
          </p:nvSpPr>
          <p:spPr>
            <a:xfrm>
              <a:off x="4381500" y="5410200"/>
              <a:ext cx="7086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Output: ranked roadmap, owners and decisions.</a:t>
              </a:r>
              <a:endParaRPr lang="en-US" sz="1100" spc="0" kern="0" b="0" i="0" dirty="0">
                <a:solidFill>
                  <a:srgbClr val="070154"/>
                </a:solidFill>
                <a:latin typeface="IBM Plex Sans"/>
                <a:ea typeface="IBM Plex Sans"/>
                <a:cs typeface="IBM Plex Sans"/>
              </a:endParaRPr>
            </a:p>
          </p:txBody>
        </p:sp>
      </p:grpSp>
      <p:grpSp>
        <p:nvGrpSpPr>
          <p:cNvPr id="86" name="node16"/>
          <p:cNvGrpSpPr/>
          <p:nvPr/>
        </p:nvGrpSpPr>
        <p:grpSpPr>
          <a:xfrm>
            <a:off x="723900" y="2286000"/>
            <a:ext cx="3429000" cy="228600"/>
            <a:chOff x="723900" y="2286000"/>
            <a:chExt cx="3429000" cy="228600"/>
          </a:xfrm>
        </p:grpSpPr>
        <p:sp>
          <p:nvSpPr>
            <p:cNvPr id="54" name="node16.label"/>
            <p:cNvSpPr/>
            <p:nvPr/>
          </p:nvSpPr>
          <p:spPr>
            <a:xfrm>
              <a:off x="723900" y="2286000"/>
              <a:ext cx="822449"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OVERALL GOAL</a:t>
              </a:r>
              <a:endParaRPr lang="en-US" sz="800" spc="48" kern="0" b="0" i="0" dirty="0">
                <a:solidFill>
                  <a:srgbClr val="50658E"/>
                </a:solidFill>
                <a:latin typeface="IBM Plex Mono Medium"/>
                <a:ea typeface="IBM Plex Mono Medium"/>
                <a:cs typeface="IBM Plex Mono Medium"/>
              </a:endParaRPr>
            </a:p>
          </p:txBody>
        </p:sp>
        <p:sp>
          <p:nvSpPr>
            <p:cNvPr id="55" name="node16.rule"/>
            <p:cNvSpPr/>
            <p:nvPr/>
          </p:nvSpPr>
          <p:spPr>
            <a:xfrm>
              <a:off x="1673349" y="2395538"/>
              <a:ext cx="2479551" cy="9525"/>
            </a:xfrm>
            <a:prstGeom prst="rect">
              <a:avLst/>
            </a:prstGeom>
            <a:solidFill>
              <a:srgbClr val="CED7E6"/>
            </a:solidFill>
            <a:ln>
              <a:noFill/>
            </a:ln>
          </p:spPr>
        </p:sp>
      </p:grpSp>
      <p:sp>
        <p:nvSpPr>
          <p:cNvPr id="56" name="node17"/>
          <p:cNvSpPr/>
          <p:nvPr/>
        </p:nvSpPr>
        <p:spPr>
          <a:xfrm>
            <a:off x="723900" y="2514600"/>
            <a:ext cx="3429000" cy="9525"/>
          </a:xfrm>
          <a:prstGeom prst="rect">
            <a:avLst/>
          </a:prstGeom>
          <a:solidFill>
            <a:srgbClr val="CED7E6"/>
          </a:solidFill>
          <a:ln>
            <a:noFill/>
          </a:ln>
        </p:spPr>
      </p:sp>
      <p:grpSp>
        <p:nvGrpSpPr>
          <p:cNvPr id="87" name="node18"/>
          <p:cNvGrpSpPr/>
          <p:nvPr/>
        </p:nvGrpSpPr>
        <p:grpSpPr>
          <a:xfrm>
            <a:off x="723900" y="2590800"/>
            <a:ext cx="3429000" cy="381000"/>
            <a:chOff x="723900" y="2590800"/>
            <a:chExt cx="3429000" cy="381000"/>
          </a:xfrm>
        </p:grpSpPr>
        <p:sp>
          <p:nvSpPr>
            <p:cNvPr id="57" name="node18.text"/>
            <p:cNvSpPr/>
            <p:nvPr/>
          </p:nvSpPr>
          <p:spPr>
            <a:xfrm>
              <a:off x="723900" y="25908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Agree one future-state design for patient access and commit to who does what by when.</a:t>
              </a:r>
              <a:endParaRPr lang="en-US" sz="1100" spc="0" kern="0" b="0" i="0" dirty="0">
                <a:solidFill>
                  <a:srgbClr val="070154"/>
                </a:solidFill>
                <a:latin typeface="IBM Plex Sans"/>
                <a:ea typeface="IBM Plex Sans"/>
                <a:cs typeface="IBM Plex Sans"/>
              </a:endParaRPr>
            </a:p>
          </p:txBody>
        </p:sp>
      </p:grpSp>
      <p:grpSp>
        <p:nvGrpSpPr>
          <p:cNvPr id="88" name="node19"/>
          <p:cNvGrpSpPr/>
          <p:nvPr/>
        </p:nvGrpSpPr>
        <p:grpSpPr>
          <a:xfrm>
            <a:off x="723900" y="3429000"/>
            <a:ext cx="3429000" cy="228600"/>
            <a:chOff x="723900" y="3429000"/>
            <a:chExt cx="3429000" cy="228600"/>
          </a:xfrm>
        </p:grpSpPr>
        <p:sp>
          <p:nvSpPr>
            <p:cNvPr id="58" name="node19.label"/>
            <p:cNvSpPr/>
            <p:nvPr/>
          </p:nvSpPr>
          <p:spPr>
            <a:xfrm>
              <a:off x="723900" y="3429000"/>
              <a:ext cx="1287394"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YOU WILL LEAVE WITH</a:t>
              </a:r>
              <a:endParaRPr lang="en-US" sz="800" spc="48" kern="0" b="0" i="0" dirty="0">
                <a:solidFill>
                  <a:srgbClr val="50658E"/>
                </a:solidFill>
                <a:latin typeface="IBM Plex Mono Medium"/>
                <a:ea typeface="IBM Plex Mono Medium"/>
                <a:cs typeface="IBM Plex Mono Medium"/>
              </a:endParaRPr>
            </a:p>
          </p:txBody>
        </p:sp>
        <p:sp>
          <p:nvSpPr>
            <p:cNvPr id="59" name="node19.rule"/>
            <p:cNvSpPr/>
            <p:nvPr/>
          </p:nvSpPr>
          <p:spPr>
            <a:xfrm>
              <a:off x="2138294" y="3538538"/>
              <a:ext cx="2014606" cy="9525"/>
            </a:xfrm>
            <a:prstGeom prst="rect">
              <a:avLst/>
            </a:prstGeom>
            <a:solidFill>
              <a:srgbClr val="CED7E6"/>
            </a:solidFill>
            <a:ln>
              <a:noFill/>
            </a:ln>
          </p:spPr>
        </p:sp>
      </p:grpSp>
      <p:sp>
        <p:nvSpPr>
          <p:cNvPr id="60" name="node20"/>
          <p:cNvSpPr/>
          <p:nvPr/>
        </p:nvSpPr>
        <p:spPr>
          <a:xfrm>
            <a:off x="723900" y="3657600"/>
            <a:ext cx="3429000" cy="9525"/>
          </a:xfrm>
          <a:prstGeom prst="rect">
            <a:avLst/>
          </a:prstGeom>
          <a:solidFill>
            <a:srgbClr val="CED7E6"/>
          </a:solidFill>
          <a:ln>
            <a:noFill/>
          </a:ln>
        </p:spPr>
      </p:sp>
      <p:grpSp>
        <p:nvGrpSpPr>
          <p:cNvPr id="89" name="node21"/>
          <p:cNvGrpSpPr/>
          <p:nvPr/>
        </p:nvGrpSpPr>
        <p:grpSpPr>
          <a:xfrm>
            <a:off x="723900" y="3733800"/>
            <a:ext cx="3429000" cy="723900"/>
            <a:chOff x="723900" y="3733800"/>
            <a:chExt cx="3429000" cy="723900"/>
          </a:xfrm>
        </p:grpSpPr>
        <p:sp>
          <p:nvSpPr>
            <p:cNvPr id="61" name="node21.source-001.bullet"/>
            <p:cNvSpPr/>
            <p:nvPr/>
          </p:nvSpPr>
          <p:spPr>
            <a:xfrm>
              <a:off x="723900" y="3822700"/>
              <a:ext cx="38100" cy="38100"/>
            </a:xfrm>
            <a:prstGeom prst="rect">
              <a:avLst/>
            </a:prstGeom>
            <a:solidFill>
              <a:srgbClr val="070154"/>
            </a:solidFill>
            <a:ln>
              <a:noFill/>
            </a:ln>
          </p:spPr>
        </p:sp>
        <p:sp>
          <p:nvSpPr>
            <p:cNvPr id="62" name="node21.source-001.text"/>
            <p:cNvSpPr/>
            <p:nvPr/>
          </p:nvSpPr>
          <p:spPr>
            <a:xfrm>
              <a:off x="876300" y="3733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design for four areas</a:t>
              </a:r>
              <a:endParaRPr lang="en-US" sz="1200" spc="0" kern="0" b="0" i="0" dirty="0">
                <a:solidFill>
                  <a:srgbClr val="070154"/>
                </a:solidFill>
                <a:latin typeface="IBM Plex Sans"/>
                <a:ea typeface="IBM Plex Sans"/>
                <a:cs typeface="IBM Plex Sans"/>
              </a:endParaRPr>
            </a:p>
          </p:txBody>
        </p:sp>
        <p:sp>
          <p:nvSpPr>
            <p:cNvPr id="63" name="node21.source-002.bullet"/>
            <p:cNvSpPr/>
            <p:nvPr/>
          </p:nvSpPr>
          <p:spPr>
            <a:xfrm>
              <a:off x="723900" y="4076700"/>
              <a:ext cx="38100" cy="38100"/>
            </a:xfrm>
            <a:prstGeom prst="rect">
              <a:avLst/>
            </a:prstGeom>
            <a:solidFill>
              <a:srgbClr val="070154"/>
            </a:solidFill>
            <a:ln>
              <a:noFill/>
            </a:ln>
          </p:spPr>
        </p:sp>
        <p:sp>
          <p:nvSpPr>
            <p:cNvPr id="64" name="node21.source-002.text"/>
            <p:cNvSpPr/>
            <p:nvPr/>
          </p:nvSpPr>
          <p:spPr>
            <a:xfrm>
              <a:off x="876300" y="3987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 and dates</a:t>
              </a:r>
              <a:endParaRPr lang="en-US" sz="1200" spc="0" kern="0" b="0" i="0" dirty="0">
                <a:solidFill>
                  <a:srgbClr val="070154"/>
                </a:solidFill>
                <a:latin typeface="IBM Plex Sans"/>
                <a:ea typeface="IBM Plex Sans"/>
                <a:cs typeface="IBM Plex Sans"/>
              </a:endParaRPr>
            </a:p>
          </p:txBody>
        </p:sp>
        <p:sp>
          <p:nvSpPr>
            <p:cNvPr id="65" name="node21.source-003.bullet"/>
            <p:cNvSpPr/>
            <p:nvPr/>
          </p:nvSpPr>
          <p:spPr>
            <a:xfrm>
              <a:off x="723900" y="4330700"/>
              <a:ext cx="38100" cy="38100"/>
            </a:xfrm>
            <a:prstGeom prst="rect">
              <a:avLst/>
            </a:prstGeom>
            <a:solidFill>
              <a:srgbClr val="070154"/>
            </a:solidFill>
            <a:ln>
              <a:noFill/>
            </a:ln>
          </p:spPr>
        </p:sp>
        <p:sp>
          <p:nvSpPr>
            <p:cNvPr id="66" name="node21.source-003.text"/>
            <p:cNvSpPr/>
            <p:nvPr/>
          </p:nvSpPr>
          <p:spPr>
            <a:xfrm>
              <a:off x="876300" y="4241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 ranked roadmap</a:t>
              </a:r>
              <a:endParaRPr lang="en-US" sz="1200" spc="0" kern="0" b="0" i="0" dirty="0">
                <a:solidFill>
                  <a:srgbClr val="070154"/>
                </a:solidFill>
                <a:latin typeface="IBM Plex Sans"/>
                <a:ea typeface="IBM Plex Sans"/>
                <a:cs typeface="IBM Plex Sans"/>
              </a:endParaRPr>
            </a:p>
          </p:txBody>
        </p:sp>
      </p:grpSp>
      <p:grpSp>
        <p:nvGrpSpPr>
          <p:cNvPr id="90" name="node22"/>
          <p:cNvGrpSpPr/>
          <p:nvPr/>
        </p:nvGrpSpPr>
        <p:grpSpPr>
          <a:xfrm>
            <a:off x="723900" y="4800600"/>
            <a:ext cx="3429000" cy="228600"/>
            <a:chOff x="723900" y="4800600"/>
            <a:chExt cx="3429000" cy="228600"/>
          </a:xfrm>
        </p:grpSpPr>
        <p:sp>
          <p:nvSpPr>
            <p:cNvPr id="67" name="node22.label"/>
            <p:cNvSpPr/>
            <p:nvPr/>
          </p:nvSpPr>
          <p:spPr>
            <a:xfrm>
              <a:off x="723900" y="4800600"/>
              <a:ext cx="62318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LOGISTICS</a:t>
              </a:r>
              <a:endParaRPr lang="en-US" sz="800" spc="48" kern="0" b="0" i="0" dirty="0">
                <a:solidFill>
                  <a:srgbClr val="50658E"/>
                </a:solidFill>
                <a:latin typeface="IBM Plex Mono Medium"/>
                <a:ea typeface="IBM Plex Mono Medium"/>
                <a:cs typeface="IBM Plex Mono Medium"/>
              </a:endParaRPr>
            </a:p>
          </p:txBody>
        </p:sp>
        <p:sp>
          <p:nvSpPr>
            <p:cNvPr id="68" name="node22.rule"/>
            <p:cNvSpPr/>
            <p:nvPr/>
          </p:nvSpPr>
          <p:spPr>
            <a:xfrm>
              <a:off x="1474087" y="4910138"/>
              <a:ext cx="2678813" cy="9525"/>
            </a:xfrm>
            <a:prstGeom prst="rect">
              <a:avLst/>
            </a:prstGeom>
            <a:solidFill>
              <a:srgbClr val="CED7E6"/>
            </a:solidFill>
            <a:ln>
              <a:noFill/>
            </a:ln>
          </p:spPr>
        </p:sp>
      </p:grpSp>
      <p:sp>
        <p:nvSpPr>
          <p:cNvPr id="69" name="node23"/>
          <p:cNvSpPr/>
          <p:nvPr/>
        </p:nvSpPr>
        <p:spPr>
          <a:xfrm>
            <a:off x="723900" y="5029200"/>
            <a:ext cx="3429000" cy="9525"/>
          </a:xfrm>
          <a:prstGeom prst="rect">
            <a:avLst/>
          </a:prstGeom>
          <a:solidFill>
            <a:srgbClr val="CED7E6"/>
          </a:solidFill>
          <a:ln>
            <a:noFill/>
          </a:ln>
        </p:spPr>
      </p:sp>
      <p:grpSp>
        <p:nvGrpSpPr>
          <p:cNvPr id="91" name="node24"/>
          <p:cNvGrpSpPr/>
          <p:nvPr/>
        </p:nvGrpSpPr>
        <p:grpSpPr>
          <a:xfrm>
            <a:off x="723900" y="5105400"/>
            <a:ext cx="3429000" cy="469900"/>
            <a:chOff x="723900" y="5105400"/>
            <a:chExt cx="3429000" cy="469900"/>
          </a:xfrm>
        </p:grpSpPr>
        <p:sp>
          <p:nvSpPr>
            <p:cNvPr id="70" name="node24.source-001.bullet"/>
            <p:cNvSpPr/>
            <p:nvPr/>
          </p:nvSpPr>
          <p:spPr>
            <a:xfrm>
              <a:off x="723900" y="5194300"/>
              <a:ext cx="38100" cy="38100"/>
            </a:xfrm>
            <a:prstGeom prst="rect">
              <a:avLst/>
            </a:prstGeom>
            <a:solidFill>
              <a:srgbClr val="070154"/>
            </a:solidFill>
            <a:ln>
              <a:noFill/>
            </a:ln>
          </p:spPr>
        </p:sp>
        <p:sp>
          <p:nvSpPr>
            <p:cNvPr id="71" name="node24.source-001.text"/>
            <p:cNvSpPr/>
            <p:nvPr/>
          </p:nvSpPr>
          <p:spPr>
            <a:xfrm>
              <a:off x="876300" y="5105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Nov 4 to 6, Northfield HQ, 4B</a:t>
              </a:r>
              <a:endParaRPr lang="en-US" sz="1200" spc="0" kern="0" b="0" i="0" dirty="0">
                <a:solidFill>
                  <a:srgbClr val="070154"/>
                </a:solidFill>
                <a:latin typeface="IBM Plex Sans"/>
                <a:ea typeface="IBM Plex Sans"/>
                <a:cs typeface="IBM Plex Sans"/>
              </a:endParaRPr>
            </a:p>
          </p:txBody>
        </p:sp>
        <p:sp>
          <p:nvSpPr>
            <p:cNvPr id="72" name="node24.source-002.bullet"/>
            <p:cNvSpPr/>
            <p:nvPr/>
          </p:nvSpPr>
          <p:spPr>
            <a:xfrm>
              <a:off x="723900" y="5448300"/>
              <a:ext cx="38100" cy="38100"/>
            </a:xfrm>
            <a:prstGeom prst="rect">
              <a:avLst/>
            </a:prstGeom>
            <a:solidFill>
              <a:srgbClr val="070154"/>
            </a:solidFill>
            <a:ln>
              <a:noFill/>
            </a:ln>
          </p:spPr>
        </p:sp>
        <p:sp>
          <p:nvSpPr>
            <p:cNvPr id="73" name="node24.source-002.text"/>
            <p:cNvSpPr/>
            <p:nvPr/>
          </p:nvSpPr>
          <p:spPr>
            <a:xfrm>
              <a:off x="876300" y="5359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Video bridge for remote leads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ource-63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Two days, three decisions for Northfield leaders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180</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228600"/>
            <a:chOff x="723900" y="1600200"/>
            <a:chExt cx="10744200" cy="228600"/>
          </a:xfrm>
        </p:grpSpPr>
        <p:sp>
          <p:nvSpPr>
            <p:cNvPr id="6" name="node01.label"/>
            <p:cNvSpPr/>
            <p:nvPr/>
          </p:nvSpPr>
          <p:spPr>
            <a:xfrm>
              <a:off x="723900" y="1600200"/>
              <a:ext cx="822449"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OVERALL GOAL</a:t>
              </a:r>
              <a:endParaRPr lang="en-US" sz="800" spc="48" kern="0" b="0" i="0" dirty="0">
                <a:solidFill>
                  <a:srgbClr val="50658E"/>
                </a:solidFill>
                <a:latin typeface="IBM Plex Mono Medium"/>
                <a:ea typeface="IBM Plex Mono Medium"/>
                <a:cs typeface="IBM Plex Mono Medium"/>
              </a:endParaRPr>
            </a:p>
          </p:txBody>
        </p:sp>
        <p:sp>
          <p:nvSpPr>
            <p:cNvPr id="7" name="node01.rule"/>
            <p:cNvSpPr/>
            <p:nvPr/>
          </p:nvSpPr>
          <p:spPr>
            <a:xfrm>
              <a:off x="1673349" y="1709738"/>
              <a:ext cx="9794751" cy="9525"/>
            </a:xfrm>
            <a:prstGeom prst="rect">
              <a:avLst/>
            </a:prstGeom>
            <a:solidFill>
              <a:srgbClr val="CED7E6"/>
            </a:solidFill>
            <a:ln>
              <a:noFill/>
            </a:ln>
          </p:spPr>
        </p:sp>
      </p:grpSp>
      <p:sp>
        <p:nvSpPr>
          <p:cNvPr id="8" name="node02"/>
          <p:cNvSpPr/>
          <p:nvPr/>
        </p:nvSpPr>
        <p:spPr>
          <a:xfrm>
            <a:off x="723900" y="1828800"/>
            <a:ext cx="10744200" cy="9525"/>
          </a:xfrm>
          <a:prstGeom prst="rect">
            <a:avLst/>
          </a:prstGeom>
          <a:solidFill>
            <a:srgbClr val="CED7E6"/>
          </a:solidFill>
          <a:ln>
            <a:noFill/>
          </a:ln>
        </p:spPr>
      </p:sp>
      <p:grpSp>
        <p:nvGrpSpPr>
          <p:cNvPr id="41" name="node03"/>
          <p:cNvGrpSpPr/>
          <p:nvPr/>
        </p:nvGrpSpPr>
        <p:grpSpPr>
          <a:xfrm>
            <a:off x="723900" y="1905000"/>
            <a:ext cx="9525000" cy="330200"/>
            <a:chOff x="723900" y="1905000"/>
            <a:chExt cx="9525000" cy="330200"/>
          </a:xfrm>
        </p:grpSpPr>
        <p:sp>
          <p:nvSpPr>
            <p:cNvPr id="9" name="node03.text"/>
            <p:cNvSpPr/>
            <p:nvPr/>
          </p:nvSpPr>
          <p:spPr>
            <a:xfrm>
              <a:off x="723900" y="1905000"/>
              <a:ext cx="9525000"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Two days to agree how patients get in, know the cost and get paid.</a:t>
              </a:r>
              <a:endParaRPr lang="en-US" sz="2100" spc="-32" kern="0" b="0" i="0" dirty="0">
                <a:solidFill>
                  <a:srgbClr val="070154"/>
                </a:solidFill>
                <a:latin typeface="IBM Plex Sans SemiBold"/>
                <a:ea typeface="IBM Plex Sans SemiBold"/>
                <a:cs typeface="IBM Plex Sans SemiBold"/>
              </a:endParaRPr>
            </a:p>
          </p:txBody>
        </p:sp>
      </p:grpSp>
      <p:grpSp>
        <p:nvGrpSpPr>
          <p:cNvPr id="42" name="node04"/>
          <p:cNvGrpSpPr/>
          <p:nvPr/>
        </p:nvGrpSpPr>
        <p:grpSpPr>
          <a:xfrm>
            <a:off x="723900" y="2514600"/>
            <a:ext cx="5257800" cy="1905000"/>
            <a:chOff x="723900" y="2514600"/>
            <a:chExt cx="5257800" cy="1905000"/>
          </a:xfrm>
        </p:grpSpPr>
        <p:sp>
          <p:nvSpPr>
            <p:cNvPr id="10" name="node04.container"/>
            <p:cNvSpPr/>
            <p:nvPr/>
          </p:nvSpPr>
          <p:spPr>
            <a:xfrm>
              <a:off x="723900" y="2514600"/>
              <a:ext cx="5257800" cy="1905000"/>
            </a:xfrm>
            <a:prstGeom prst="rect">
              <a:avLst/>
            </a:prstGeom>
            <a:solidFill>
              <a:srgbClr val="E8EEF8"/>
            </a:solidFill>
            <a:ln>
              <a:noFill/>
            </a:ln>
          </p:spPr>
        </p:sp>
        <p:sp>
          <p:nvSpPr>
            <p:cNvPr id="11" name="node04.label"/>
            <p:cNvSpPr/>
            <p:nvPr/>
          </p:nvSpPr>
          <p:spPr>
            <a:xfrm>
              <a:off x="952500" y="2743200"/>
              <a:ext cx="4800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DAY 1 · NOV 4 · 9:00 TO 17:00</a:t>
              </a:r>
              <a:endParaRPr lang="en-US" sz="800" spc="48" kern="0" b="0" i="0" dirty="0">
                <a:solidFill>
                  <a:srgbClr val="0047FF"/>
                </a:solidFill>
                <a:latin typeface="IBM Plex Mono Medium"/>
                <a:ea typeface="IBM Plex Mono Medium"/>
                <a:cs typeface="IBM Plex Mono Medium"/>
              </a:endParaRPr>
            </a:p>
          </p:txBody>
        </p:sp>
        <p:sp>
          <p:nvSpPr>
            <p:cNvPr id="12" name="node04.title"/>
            <p:cNvSpPr/>
            <p:nvPr/>
          </p:nvSpPr>
          <p:spPr>
            <a:xfrm>
              <a:off x="952500" y="2959100"/>
              <a:ext cx="4800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See access as patients do</a:t>
              </a:r>
              <a:endParaRPr lang="en-US" sz="1600" spc="-16" kern="0" b="0" i="0" dirty="0">
                <a:solidFill>
                  <a:srgbClr val="070154"/>
                </a:solidFill>
                <a:latin typeface="IBM Plex Sans SemiBold"/>
                <a:ea typeface="IBM Plex Sans SemiBold"/>
                <a:cs typeface="IBM Plex Sans SemiBold"/>
              </a:endParaRPr>
            </a:p>
          </p:txBody>
        </p:sp>
        <p:sp>
          <p:nvSpPr>
            <p:cNvPr id="13" name="node04.body.item-001.bullets.item-001.marker"/>
            <p:cNvSpPr/>
            <p:nvPr/>
          </p:nvSpPr>
          <p:spPr>
            <a:xfrm>
              <a:off x="952500" y="3467100"/>
              <a:ext cx="38100" cy="38100"/>
            </a:xfrm>
            <a:prstGeom prst="rect">
              <a:avLst/>
            </a:prstGeom>
            <a:solidFill>
              <a:srgbClr val="070154"/>
            </a:solidFill>
            <a:ln>
              <a:noFill/>
            </a:ln>
          </p:spPr>
        </p:sp>
        <p:sp>
          <p:nvSpPr>
            <p:cNvPr id="14" name="node04.body.item-001.bullets.item-001.text"/>
            <p:cNvSpPr/>
            <p:nvPr/>
          </p:nvSpPr>
          <p:spPr>
            <a:xfrm>
              <a:off x="1104900" y="33782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Morning: walk the patient journey</a:t>
              </a:r>
              <a:endParaRPr lang="en-US" sz="1200" spc="0" kern="0" b="0" i="0" dirty="0">
                <a:solidFill>
                  <a:srgbClr val="070154"/>
                </a:solidFill>
                <a:latin typeface="IBM Plex Sans"/>
                <a:ea typeface="IBM Plex Sans"/>
                <a:cs typeface="IBM Plex Sans"/>
              </a:endParaRPr>
            </a:p>
          </p:txBody>
        </p:sp>
        <p:sp>
          <p:nvSpPr>
            <p:cNvPr id="15" name="node04.body.item-001.bullets.item-002.marker"/>
            <p:cNvSpPr/>
            <p:nvPr/>
          </p:nvSpPr>
          <p:spPr>
            <a:xfrm>
              <a:off x="952500" y="3721100"/>
              <a:ext cx="38100" cy="38100"/>
            </a:xfrm>
            <a:prstGeom prst="rect">
              <a:avLst/>
            </a:prstGeom>
            <a:solidFill>
              <a:srgbClr val="070154"/>
            </a:solidFill>
            <a:ln>
              <a:noFill/>
            </a:ln>
          </p:spPr>
        </p:sp>
        <p:sp>
          <p:nvSpPr>
            <p:cNvPr id="16" name="node04.body.item-001.bullets.item-002.text"/>
            <p:cNvSpPr/>
            <p:nvPr/>
          </p:nvSpPr>
          <p:spPr>
            <a:xfrm>
              <a:off x="1104900" y="36322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Afternoon: review data and root causes</a:t>
              </a:r>
              <a:endParaRPr lang="en-US" sz="1200" spc="0" kern="0" b="0" i="0" dirty="0">
                <a:solidFill>
                  <a:srgbClr val="070154"/>
                </a:solidFill>
                <a:latin typeface="IBM Plex Sans"/>
                <a:ea typeface="IBM Plex Sans"/>
                <a:cs typeface="IBM Plex Sans"/>
              </a:endParaRPr>
            </a:p>
          </p:txBody>
        </p:sp>
        <p:sp>
          <p:nvSpPr>
            <p:cNvPr id="17" name="node04.body.item-001.bullets.item-003.marker"/>
            <p:cNvSpPr/>
            <p:nvPr/>
          </p:nvSpPr>
          <p:spPr>
            <a:xfrm>
              <a:off x="952500" y="3975100"/>
              <a:ext cx="38100" cy="38100"/>
            </a:xfrm>
            <a:prstGeom prst="rect">
              <a:avLst/>
            </a:prstGeom>
            <a:solidFill>
              <a:srgbClr val="070154"/>
            </a:solidFill>
            <a:ln>
              <a:noFill/>
            </a:ln>
          </p:spPr>
        </p:sp>
        <p:sp>
          <p:nvSpPr>
            <p:cNvPr id="18" name="node04.body.item-001.bullets.item-003.text"/>
            <p:cNvSpPr/>
            <p:nvPr/>
          </p:nvSpPr>
          <p:spPr>
            <a:xfrm>
              <a:off x="1104900" y="38862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16:30: playback to the room</a:t>
              </a:r>
              <a:endParaRPr lang="en-US" sz="1200" spc="0" kern="0" b="0" i="0" dirty="0">
                <a:solidFill>
                  <a:srgbClr val="070154"/>
                </a:solidFill>
                <a:latin typeface="IBM Plex Sans"/>
                <a:ea typeface="IBM Plex Sans"/>
                <a:cs typeface="IBM Plex Sans"/>
              </a:endParaRPr>
            </a:p>
          </p:txBody>
        </p:sp>
      </p:grpSp>
      <p:grpSp>
        <p:nvGrpSpPr>
          <p:cNvPr id="43" name="node05"/>
          <p:cNvGrpSpPr/>
          <p:nvPr/>
        </p:nvGrpSpPr>
        <p:grpSpPr>
          <a:xfrm>
            <a:off x="6210300" y="2514600"/>
            <a:ext cx="5257800" cy="1905000"/>
            <a:chOff x="6210300" y="2514600"/>
            <a:chExt cx="5257800" cy="1905000"/>
          </a:xfrm>
        </p:grpSpPr>
        <p:sp>
          <p:nvSpPr>
            <p:cNvPr id="19" name="node05.container"/>
            <p:cNvSpPr/>
            <p:nvPr/>
          </p:nvSpPr>
          <p:spPr>
            <a:xfrm>
              <a:off x="6210300" y="2514600"/>
              <a:ext cx="5257800" cy="1905000"/>
            </a:xfrm>
            <a:prstGeom prst="rect">
              <a:avLst/>
            </a:prstGeom>
            <a:solidFill>
              <a:srgbClr val="E8EEF8"/>
            </a:solidFill>
            <a:ln>
              <a:noFill/>
            </a:ln>
          </p:spPr>
        </p:sp>
        <p:sp>
          <p:nvSpPr>
            <p:cNvPr id="20" name="node05.label"/>
            <p:cNvSpPr/>
            <p:nvPr/>
          </p:nvSpPr>
          <p:spPr>
            <a:xfrm>
              <a:off x="6438900" y="2743200"/>
              <a:ext cx="4800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DAY 2 · NOV 5 · 9:00 TO 16:30</a:t>
              </a:r>
              <a:endParaRPr lang="en-US" sz="800" spc="48" kern="0" b="0" i="0" dirty="0">
                <a:solidFill>
                  <a:srgbClr val="0047FF"/>
                </a:solidFill>
                <a:latin typeface="IBM Plex Mono Medium"/>
                <a:ea typeface="IBM Plex Mono Medium"/>
                <a:cs typeface="IBM Plex Mono Medium"/>
              </a:endParaRPr>
            </a:p>
          </p:txBody>
        </p:sp>
        <p:sp>
          <p:nvSpPr>
            <p:cNvPr id="21" name="node05.title"/>
            <p:cNvSpPr/>
            <p:nvPr/>
          </p:nvSpPr>
          <p:spPr>
            <a:xfrm>
              <a:off x="6438900" y="2959100"/>
              <a:ext cx="4800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Design and decide</a:t>
              </a:r>
              <a:endParaRPr lang="en-US" sz="1600" spc="-16" kern="0" b="0" i="0" dirty="0">
                <a:solidFill>
                  <a:srgbClr val="070154"/>
                </a:solidFill>
                <a:latin typeface="IBM Plex Sans SemiBold"/>
                <a:ea typeface="IBM Plex Sans SemiBold"/>
                <a:cs typeface="IBM Plex Sans SemiBold"/>
              </a:endParaRPr>
            </a:p>
          </p:txBody>
        </p:sp>
        <p:sp>
          <p:nvSpPr>
            <p:cNvPr id="22" name="node05.body.item-001.bullets.item-001.marker"/>
            <p:cNvSpPr/>
            <p:nvPr/>
          </p:nvSpPr>
          <p:spPr>
            <a:xfrm>
              <a:off x="6438900" y="3467100"/>
              <a:ext cx="38100" cy="38100"/>
            </a:xfrm>
            <a:prstGeom prst="rect">
              <a:avLst/>
            </a:prstGeom>
            <a:solidFill>
              <a:srgbClr val="070154"/>
            </a:solidFill>
            <a:ln>
              <a:noFill/>
            </a:ln>
          </p:spPr>
        </p:sp>
        <p:sp>
          <p:nvSpPr>
            <p:cNvPr id="23" name="node05.body.item-001.bullets.item-001.text"/>
            <p:cNvSpPr/>
            <p:nvPr/>
          </p:nvSpPr>
          <p:spPr>
            <a:xfrm>
              <a:off x="6591300" y="33782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Morning: design the future state by area</a:t>
              </a:r>
              <a:endParaRPr lang="en-US" sz="1200" spc="0" kern="0" b="0" i="0" dirty="0">
                <a:solidFill>
                  <a:srgbClr val="070154"/>
                </a:solidFill>
                <a:latin typeface="IBM Plex Sans"/>
                <a:ea typeface="IBM Plex Sans"/>
                <a:cs typeface="IBM Plex Sans"/>
              </a:endParaRPr>
            </a:p>
          </p:txBody>
        </p:sp>
        <p:sp>
          <p:nvSpPr>
            <p:cNvPr id="24" name="node05.body.item-001.bullets.item-002.marker"/>
            <p:cNvSpPr/>
            <p:nvPr/>
          </p:nvSpPr>
          <p:spPr>
            <a:xfrm>
              <a:off x="6438900" y="3721100"/>
              <a:ext cx="38100" cy="38100"/>
            </a:xfrm>
            <a:prstGeom prst="rect">
              <a:avLst/>
            </a:prstGeom>
            <a:solidFill>
              <a:srgbClr val="070154"/>
            </a:solidFill>
            <a:ln>
              <a:noFill/>
            </a:ln>
          </p:spPr>
        </p:sp>
        <p:sp>
          <p:nvSpPr>
            <p:cNvPr id="25" name="node05.body.item-001.bullets.item-002.text"/>
            <p:cNvSpPr/>
            <p:nvPr/>
          </p:nvSpPr>
          <p:spPr>
            <a:xfrm>
              <a:off x="6591300" y="36322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Afternoon: test it on real patient cases</a:t>
              </a:r>
              <a:endParaRPr lang="en-US" sz="1200" spc="0" kern="0" b="0" i="0" dirty="0">
                <a:solidFill>
                  <a:srgbClr val="070154"/>
                </a:solidFill>
                <a:latin typeface="IBM Plex Sans"/>
                <a:ea typeface="IBM Plex Sans"/>
                <a:cs typeface="IBM Plex Sans"/>
              </a:endParaRPr>
            </a:p>
          </p:txBody>
        </p:sp>
        <p:sp>
          <p:nvSpPr>
            <p:cNvPr id="26" name="node05.body.item-001.bullets.item-003.marker"/>
            <p:cNvSpPr/>
            <p:nvPr/>
          </p:nvSpPr>
          <p:spPr>
            <a:xfrm>
              <a:off x="6438900" y="3975100"/>
              <a:ext cx="38100" cy="38100"/>
            </a:xfrm>
            <a:prstGeom prst="rect">
              <a:avLst/>
            </a:prstGeom>
            <a:solidFill>
              <a:srgbClr val="070154"/>
            </a:solidFill>
            <a:ln>
              <a:noFill/>
            </a:ln>
          </p:spPr>
        </p:sp>
        <p:sp>
          <p:nvSpPr>
            <p:cNvPr id="27" name="node05.body.item-001.bullets.item-003.text"/>
            <p:cNvSpPr/>
            <p:nvPr/>
          </p:nvSpPr>
          <p:spPr>
            <a:xfrm>
              <a:off x="6591300" y="3886200"/>
              <a:ext cx="4648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15:30: readout and decisions</a:t>
              </a:r>
              <a:endParaRPr lang="en-US" sz="1200" spc="0" kern="0" b="0" i="0" dirty="0">
                <a:solidFill>
                  <a:srgbClr val="070154"/>
                </a:solidFill>
                <a:latin typeface="IBM Plex Sans"/>
                <a:ea typeface="IBM Plex Sans"/>
                <a:cs typeface="IBM Plex Sans"/>
              </a:endParaRPr>
            </a:p>
          </p:txBody>
        </p:sp>
      </p:grpSp>
      <p:grpSp>
        <p:nvGrpSpPr>
          <p:cNvPr id="44" name="node06"/>
          <p:cNvGrpSpPr/>
          <p:nvPr/>
        </p:nvGrpSpPr>
        <p:grpSpPr>
          <a:xfrm>
            <a:off x="723900" y="4648200"/>
            <a:ext cx="10744200" cy="228600"/>
            <a:chOff x="723900" y="4648200"/>
            <a:chExt cx="10744200" cy="228600"/>
          </a:xfrm>
        </p:grpSpPr>
        <p:sp>
          <p:nvSpPr>
            <p:cNvPr id="28" name="node06.label"/>
            <p:cNvSpPr/>
            <p:nvPr/>
          </p:nvSpPr>
          <p:spPr>
            <a:xfrm>
              <a:off x="723900" y="4648200"/>
              <a:ext cx="2350126"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DECISIONS YOU WILL BE ASKED TO MAKE</a:t>
              </a:r>
              <a:endParaRPr lang="en-US" sz="800" spc="48" kern="0" b="0" i="0" dirty="0">
                <a:solidFill>
                  <a:srgbClr val="50658E"/>
                </a:solidFill>
                <a:latin typeface="IBM Plex Mono Medium"/>
                <a:ea typeface="IBM Plex Mono Medium"/>
                <a:cs typeface="IBM Plex Mono Medium"/>
              </a:endParaRPr>
            </a:p>
          </p:txBody>
        </p:sp>
        <p:sp>
          <p:nvSpPr>
            <p:cNvPr id="29" name="node06.rule"/>
            <p:cNvSpPr/>
            <p:nvPr/>
          </p:nvSpPr>
          <p:spPr>
            <a:xfrm>
              <a:off x="3201026" y="4757738"/>
              <a:ext cx="8267074" cy="9525"/>
            </a:xfrm>
            <a:prstGeom prst="rect">
              <a:avLst/>
            </a:prstGeom>
            <a:solidFill>
              <a:srgbClr val="CED7E6"/>
            </a:solidFill>
            <a:ln>
              <a:noFill/>
            </a:ln>
          </p:spPr>
        </p:sp>
      </p:grpSp>
      <p:sp>
        <p:nvSpPr>
          <p:cNvPr id="30" name="node07"/>
          <p:cNvSpPr/>
          <p:nvPr/>
        </p:nvSpPr>
        <p:spPr>
          <a:xfrm>
            <a:off x="723900" y="4876800"/>
            <a:ext cx="10744200" cy="9525"/>
          </a:xfrm>
          <a:prstGeom prst="rect">
            <a:avLst/>
          </a:prstGeom>
          <a:solidFill>
            <a:srgbClr val="CED7E6"/>
          </a:solidFill>
          <a:ln>
            <a:noFill/>
          </a:ln>
        </p:spPr>
      </p:sp>
      <p:grpSp>
        <p:nvGrpSpPr>
          <p:cNvPr id="45" name="node08"/>
          <p:cNvGrpSpPr/>
          <p:nvPr/>
        </p:nvGrpSpPr>
        <p:grpSpPr>
          <a:xfrm>
            <a:off x="723900" y="5029200"/>
            <a:ext cx="3429000" cy="330200"/>
            <a:chOff x="723900" y="5029200"/>
            <a:chExt cx="3429000" cy="330200"/>
          </a:xfrm>
        </p:grpSpPr>
        <p:sp>
          <p:nvSpPr>
            <p:cNvPr id="31" name="node08.number"/>
            <p:cNvSpPr/>
            <p:nvPr/>
          </p:nvSpPr>
          <p:spPr>
            <a:xfrm>
              <a:off x="723900" y="5078984"/>
              <a:ext cx="24574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32" name="node08.text"/>
            <p:cNvSpPr/>
            <p:nvPr/>
          </p:nvSpPr>
          <p:spPr>
            <a:xfrm>
              <a:off x="1082675" y="5029200"/>
              <a:ext cx="3070225"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Front door</a:t>
              </a:r>
              <a:endParaRPr lang="en-US" sz="2100" spc="-32" kern="0" b="0" i="0" dirty="0">
                <a:solidFill>
                  <a:srgbClr val="070154"/>
                </a:solidFill>
                <a:latin typeface="IBM Plex Sans SemiBold"/>
                <a:ea typeface="IBM Plex Sans SemiBold"/>
                <a:cs typeface="IBM Plex Sans SemiBold"/>
              </a:endParaRPr>
            </a:p>
          </p:txBody>
        </p:sp>
      </p:grpSp>
      <p:grpSp>
        <p:nvGrpSpPr>
          <p:cNvPr id="46" name="node09"/>
          <p:cNvGrpSpPr/>
          <p:nvPr/>
        </p:nvGrpSpPr>
        <p:grpSpPr>
          <a:xfrm>
            <a:off x="723900" y="5410200"/>
            <a:ext cx="3429000" cy="190500"/>
            <a:chOff x="723900" y="5410200"/>
            <a:chExt cx="3429000" cy="190500"/>
          </a:xfrm>
        </p:grpSpPr>
        <p:sp>
          <p:nvSpPr>
            <p:cNvPr id="33" name="node09.text"/>
            <p:cNvSpPr/>
            <p:nvPr/>
          </p:nvSpPr>
          <p:spPr>
            <a:xfrm>
              <a:off x="723900" y="54102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Which front door and booking template to adopt.</a:t>
              </a:r>
              <a:endParaRPr lang="en-US" sz="1100" spc="0" kern="0" b="0" i="0" dirty="0">
                <a:solidFill>
                  <a:srgbClr val="070154"/>
                </a:solidFill>
                <a:latin typeface="IBM Plex Sans"/>
                <a:ea typeface="IBM Plex Sans"/>
                <a:cs typeface="IBM Plex Sans"/>
              </a:endParaRPr>
            </a:p>
          </p:txBody>
        </p:sp>
      </p:grpSp>
      <p:grpSp>
        <p:nvGrpSpPr>
          <p:cNvPr id="47" name="node10"/>
          <p:cNvGrpSpPr/>
          <p:nvPr/>
        </p:nvGrpSpPr>
        <p:grpSpPr>
          <a:xfrm>
            <a:off x="4381500" y="5029200"/>
            <a:ext cx="3429000" cy="330200"/>
            <a:chOff x="4381500" y="5029200"/>
            <a:chExt cx="3429000" cy="330200"/>
          </a:xfrm>
        </p:grpSpPr>
        <p:sp>
          <p:nvSpPr>
            <p:cNvPr id="34" name="node10.number"/>
            <p:cNvSpPr/>
            <p:nvPr/>
          </p:nvSpPr>
          <p:spPr>
            <a:xfrm>
              <a:off x="4381500" y="5078984"/>
              <a:ext cx="24574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35" name="node10.text"/>
            <p:cNvSpPr/>
            <p:nvPr/>
          </p:nvSpPr>
          <p:spPr>
            <a:xfrm>
              <a:off x="4740275" y="5029200"/>
              <a:ext cx="3070225"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Ownership</a:t>
              </a:r>
              <a:endParaRPr lang="en-US" sz="2100" spc="-32" kern="0" b="0" i="0" dirty="0">
                <a:solidFill>
                  <a:srgbClr val="070154"/>
                </a:solidFill>
                <a:latin typeface="IBM Plex Sans SemiBold"/>
                <a:ea typeface="IBM Plex Sans SemiBold"/>
                <a:cs typeface="IBM Plex Sans SemiBold"/>
              </a:endParaRPr>
            </a:p>
          </p:txBody>
        </p:sp>
      </p:grpSp>
      <p:grpSp>
        <p:nvGrpSpPr>
          <p:cNvPr id="48" name="node11"/>
          <p:cNvGrpSpPr/>
          <p:nvPr/>
        </p:nvGrpSpPr>
        <p:grpSpPr>
          <a:xfrm>
            <a:off x="4381500" y="5410200"/>
            <a:ext cx="3429000" cy="190500"/>
            <a:chOff x="4381500" y="5410200"/>
            <a:chExt cx="3429000" cy="190500"/>
          </a:xfrm>
        </p:grpSpPr>
        <p:sp>
          <p:nvSpPr>
            <p:cNvPr id="36" name="node11.text"/>
            <p:cNvSpPr/>
            <p:nvPr/>
          </p:nvSpPr>
          <p:spPr>
            <a:xfrm>
              <a:off x="4381500" y="54102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Who owns each of the four areas.</a:t>
              </a:r>
              <a:endParaRPr lang="en-US" sz="1100" spc="0" kern="0" b="0" i="0" dirty="0">
                <a:solidFill>
                  <a:srgbClr val="070154"/>
                </a:solidFill>
                <a:latin typeface="IBM Plex Sans"/>
                <a:ea typeface="IBM Plex Sans"/>
                <a:cs typeface="IBM Plex Sans"/>
              </a:endParaRPr>
            </a:p>
          </p:txBody>
        </p:sp>
      </p:grpSp>
      <p:grpSp>
        <p:nvGrpSpPr>
          <p:cNvPr id="49" name="node12"/>
          <p:cNvGrpSpPr/>
          <p:nvPr/>
        </p:nvGrpSpPr>
        <p:grpSpPr>
          <a:xfrm>
            <a:off x="8039100" y="5029200"/>
            <a:ext cx="3429000" cy="330200"/>
            <a:chOff x="8039100" y="5029200"/>
            <a:chExt cx="3429000" cy="330200"/>
          </a:xfrm>
        </p:grpSpPr>
        <p:sp>
          <p:nvSpPr>
            <p:cNvPr id="37" name="node12.number"/>
            <p:cNvSpPr/>
            <p:nvPr/>
          </p:nvSpPr>
          <p:spPr>
            <a:xfrm>
              <a:off x="8039100" y="5078984"/>
              <a:ext cx="24574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38" name="node12.text"/>
            <p:cNvSpPr/>
            <p:nvPr/>
          </p:nvSpPr>
          <p:spPr>
            <a:xfrm>
              <a:off x="8397875" y="5029200"/>
              <a:ext cx="3070225"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First wave</a:t>
              </a:r>
              <a:endParaRPr lang="en-US" sz="2100" spc="-32" kern="0" b="0" i="0" dirty="0">
                <a:solidFill>
                  <a:srgbClr val="070154"/>
                </a:solidFill>
                <a:latin typeface="IBM Plex Sans SemiBold"/>
                <a:ea typeface="IBM Plex Sans SemiBold"/>
                <a:cs typeface="IBM Plex Sans SemiBold"/>
              </a:endParaRPr>
            </a:p>
          </p:txBody>
        </p:sp>
      </p:grpSp>
      <p:grpSp>
        <p:nvGrpSpPr>
          <p:cNvPr id="50" name="node13"/>
          <p:cNvGrpSpPr/>
          <p:nvPr/>
        </p:nvGrpSpPr>
        <p:grpSpPr>
          <a:xfrm>
            <a:off x="8039100" y="5410200"/>
            <a:ext cx="3429000" cy="190500"/>
            <a:chOff x="8039100" y="5410200"/>
            <a:chExt cx="3429000" cy="190500"/>
          </a:xfrm>
        </p:grpSpPr>
        <p:sp>
          <p:nvSpPr>
            <p:cNvPr id="39" name="node13.text"/>
            <p:cNvSpPr/>
            <p:nvPr/>
          </p:nvSpPr>
          <p:spPr>
            <a:xfrm>
              <a:off x="8039100" y="54102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Which five opportunities start first.</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ource-62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day narrows the work: open up, shape, commit</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181</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723900" y="1600200"/>
            <a:ext cx="10744200" cy="228600"/>
            <a:chOff x="723900" y="1600200"/>
            <a:chExt cx="10744200" cy="228600"/>
          </a:xfrm>
        </p:grpSpPr>
        <p:sp>
          <p:nvSpPr>
            <p:cNvPr id="6" name="node01.label"/>
            <p:cNvSpPr/>
            <p:nvPr/>
          </p:nvSpPr>
          <p:spPr>
            <a:xfrm>
              <a:off x="723900" y="1600200"/>
              <a:ext cx="822449"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OVERALL GOAL</a:t>
              </a:r>
              <a:endParaRPr lang="en-US" sz="800" spc="48" kern="0" b="0" i="0" dirty="0">
                <a:solidFill>
                  <a:srgbClr val="50658E"/>
                </a:solidFill>
                <a:latin typeface="IBM Plex Mono Medium"/>
                <a:ea typeface="IBM Plex Mono Medium"/>
                <a:cs typeface="IBM Plex Mono Medium"/>
              </a:endParaRPr>
            </a:p>
          </p:txBody>
        </p:sp>
        <p:sp>
          <p:nvSpPr>
            <p:cNvPr id="7" name="node01.rule"/>
            <p:cNvSpPr/>
            <p:nvPr/>
          </p:nvSpPr>
          <p:spPr>
            <a:xfrm>
              <a:off x="1673349" y="1709738"/>
              <a:ext cx="9794751" cy="9525"/>
            </a:xfrm>
            <a:prstGeom prst="rect">
              <a:avLst/>
            </a:prstGeom>
            <a:solidFill>
              <a:srgbClr val="CED7E6"/>
            </a:solidFill>
            <a:ln>
              <a:noFill/>
            </a:ln>
          </p:spPr>
        </p:sp>
      </p:grpSp>
      <p:sp>
        <p:nvSpPr>
          <p:cNvPr id="8" name="node02"/>
          <p:cNvSpPr/>
          <p:nvPr/>
        </p:nvSpPr>
        <p:spPr>
          <a:xfrm>
            <a:off x="723900" y="1828800"/>
            <a:ext cx="10744200" cy="9525"/>
          </a:xfrm>
          <a:prstGeom prst="rect">
            <a:avLst/>
          </a:prstGeom>
          <a:solidFill>
            <a:srgbClr val="CED7E6"/>
          </a:solidFill>
          <a:ln>
            <a:noFill/>
          </a:ln>
        </p:spPr>
      </p:sp>
      <p:grpSp>
        <p:nvGrpSpPr>
          <p:cNvPr id="53" name="node03"/>
          <p:cNvGrpSpPr/>
          <p:nvPr/>
        </p:nvGrpSpPr>
        <p:grpSpPr>
          <a:xfrm>
            <a:off x="723900" y="1905000"/>
            <a:ext cx="10744200" cy="215900"/>
            <a:chOff x="723900" y="1905000"/>
            <a:chExt cx="10744200" cy="215900"/>
          </a:xfrm>
        </p:grpSpPr>
        <p:sp>
          <p:nvSpPr>
            <p:cNvPr id="9" name="node03.text"/>
            <p:cNvSpPr/>
            <p:nvPr/>
          </p:nvSpPr>
          <p:spPr>
            <a:xfrm>
              <a:off x="723900" y="1905000"/>
              <a:ext cx="1074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Agree, test and commit to one future-state design for how patients schedule, register, get estimates and avoid denials.</a:t>
              </a:r>
              <a:endParaRPr lang="en-US" sz="1200" spc="0" kern="0" b="0" i="0" dirty="0">
                <a:solidFill>
                  <a:srgbClr val="070154"/>
                </a:solidFill>
                <a:latin typeface="IBM Plex Sans"/>
                <a:ea typeface="IBM Plex Sans"/>
                <a:cs typeface="IBM Plex Sans"/>
              </a:endParaRPr>
            </a:p>
          </p:txBody>
        </p:sp>
      </p:grpSp>
      <p:grpSp>
        <p:nvGrpSpPr>
          <p:cNvPr id="54" name="node04"/>
          <p:cNvGrpSpPr/>
          <p:nvPr/>
        </p:nvGrpSpPr>
        <p:grpSpPr>
          <a:xfrm>
            <a:off x="723900" y="2400300"/>
            <a:ext cx="3200400" cy="736600"/>
            <a:chOff x="723900" y="2400300"/>
            <a:chExt cx="3200400" cy="736600"/>
          </a:xfrm>
        </p:grpSpPr>
        <p:sp>
          <p:nvSpPr>
            <p:cNvPr id="10" name="node04.steps.slot-001.marker"/>
            <p:cNvSpPr/>
            <p:nvPr/>
          </p:nvSpPr>
          <p:spPr>
            <a:xfrm>
              <a:off x="723900" y="2400300"/>
              <a:ext cx="152400" cy="152400"/>
            </a:xfrm>
            <a:prstGeom prst="rect">
              <a:avLst/>
            </a:prstGeom>
            <a:solidFill>
              <a:srgbClr val="FFFFFF"/>
            </a:solidFill>
            <a:ln w="12700">
              <a:solidFill>
                <a:srgbClr val="070154"/>
              </a:solidFill>
              <a:prstDash val="solid"/>
            </a:ln>
          </p:spPr>
        </p:sp>
        <p:sp>
          <p:nvSpPr>
            <p:cNvPr id="11" name="node04.steps.slot-001.part-0"/>
            <p:cNvSpPr/>
            <p:nvPr/>
          </p:nvSpPr>
          <p:spPr>
            <a:xfrm>
              <a:off x="723900" y="27432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DAY 1 · 9:00 TO 17:00</a:t>
              </a:r>
              <a:endParaRPr lang="en-US" sz="800" spc="48" kern="0" b="0" i="0" dirty="0">
                <a:solidFill>
                  <a:srgbClr val="0047FF"/>
                </a:solidFill>
                <a:latin typeface="IBM Plex Mono Medium"/>
                <a:ea typeface="IBM Plex Mono Medium"/>
                <a:cs typeface="IBM Plex Mono Medium"/>
              </a:endParaRPr>
            </a:p>
          </p:txBody>
        </p:sp>
        <p:sp>
          <p:nvSpPr>
            <p:cNvPr id="12" name="node04.steps.slot-001.part-1"/>
            <p:cNvSpPr/>
            <p:nvPr/>
          </p:nvSpPr>
          <p:spPr>
            <a:xfrm>
              <a:off x="723900" y="2921000"/>
              <a:ext cx="320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Diverge: open up the problem</a:t>
              </a:r>
              <a:endParaRPr lang="en-US" sz="1200" spc="0" kern="0" b="0" i="0" dirty="0">
                <a:solidFill>
                  <a:srgbClr val="070154"/>
                </a:solidFill>
                <a:latin typeface="IBM Plex Sans SemiBold"/>
                <a:ea typeface="IBM Plex Sans SemiBold"/>
                <a:cs typeface="IBM Plex Sans SemiBold"/>
              </a:endParaRPr>
            </a:p>
          </p:txBody>
        </p:sp>
      </p:grpSp>
      <p:grpSp>
        <p:nvGrpSpPr>
          <p:cNvPr id="55" name="node05"/>
          <p:cNvGrpSpPr/>
          <p:nvPr/>
        </p:nvGrpSpPr>
        <p:grpSpPr>
          <a:xfrm>
            <a:off x="4381500" y="2400300"/>
            <a:ext cx="3200400" cy="736600"/>
            <a:chOff x="4381500" y="2400300"/>
            <a:chExt cx="3200400" cy="736600"/>
          </a:xfrm>
        </p:grpSpPr>
        <p:sp>
          <p:nvSpPr>
            <p:cNvPr id="13" name="node05.steps.slot-001.marker"/>
            <p:cNvSpPr/>
            <p:nvPr/>
          </p:nvSpPr>
          <p:spPr>
            <a:xfrm>
              <a:off x="4381500" y="2400300"/>
              <a:ext cx="152400" cy="152400"/>
            </a:xfrm>
            <a:prstGeom prst="rect">
              <a:avLst/>
            </a:prstGeom>
            <a:solidFill>
              <a:srgbClr val="FFFFFF"/>
            </a:solidFill>
            <a:ln w="12700">
              <a:solidFill>
                <a:srgbClr val="070154"/>
              </a:solidFill>
              <a:prstDash val="solid"/>
            </a:ln>
          </p:spPr>
        </p:sp>
        <p:sp>
          <p:nvSpPr>
            <p:cNvPr id="14" name="node05.steps.slot-001.part-0"/>
            <p:cNvSpPr/>
            <p:nvPr/>
          </p:nvSpPr>
          <p:spPr>
            <a:xfrm>
              <a:off x="4381500" y="27432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DAY 2 · 9:00 TO 17:00</a:t>
              </a:r>
              <a:endParaRPr lang="en-US" sz="800" spc="48" kern="0" b="0" i="0" dirty="0">
                <a:solidFill>
                  <a:srgbClr val="0047FF"/>
                </a:solidFill>
                <a:latin typeface="IBM Plex Mono Medium"/>
                <a:ea typeface="IBM Plex Mono Medium"/>
                <a:cs typeface="IBM Plex Mono Medium"/>
              </a:endParaRPr>
            </a:p>
          </p:txBody>
        </p:sp>
        <p:sp>
          <p:nvSpPr>
            <p:cNvPr id="15" name="node05.steps.slot-001.part-1"/>
            <p:cNvSpPr/>
            <p:nvPr/>
          </p:nvSpPr>
          <p:spPr>
            <a:xfrm>
              <a:off x="4381500" y="2921000"/>
              <a:ext cx="320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Converge: shape one design</a:t>
              </a:r>
              <a:endParaRPr lang="en-US" sz="1200" spc="0" kern="0" b="0" i="0" dirty="0">
                <a:solidFill>
                  <a:srgbClr val="070154"/>
                </a:solidFill>
                <a:latin typeface="IBM Plex Sans SemiBold"/>
                <a:ea typeface="IBM Plex Sans SemiBold"/>
                <a:cs typeface="IBM Plex Sans SemiBold"/>
              </a:endParaRPr>
            </a:p>
          </p:txBody>
        </p:sp>
      </p:grpSp>
      <p:grpSp>
        <p:nvGrpSpPr>
          <p:cNvPr id="56" name="node06"/>
          <p:cNvGrpSpPr/>
          <p:nvPr/>
        </p:nvGrpSpPr>
        <p:grpSpPr>
          <a:xfrm>
            <a:off x="8039100" y="2400300"/>
            <a:ext cx="3200400" cy="736600"/>
            <a:chOff x="8039100" y="2400300"/>
            <a:chExt cx="3200400" cy="736600"/>
          </a:xfrm>
        </p:grpSpPr>
        <p:sp>
          <p:nvSpPr>
            <p:cNvPr id="16" name="node06.steps.slot-001.marker"/>
            <p:cNvSpPr/>
            <p:nvPr/>
          </p:nvSpPr>
          <p:spPr>
            <a:xfrm>
              <a:off x="8039100" y="2400300"/>
              <a:ext cx="152400" cy="152400"/>
            </a:xfrm>
            <a:prstGeom prst="rect">
              <a:avLst/>
            </a:prstGeom>
            <a:solidFill>
              <a:srgbClr val="FFFFFF"/>
            </a:solidFill>
            <a:ln w="12700">
              <a:solidFill>
                <a:srgbClr val="070154"/>
              </a:solidFill>
              <a:prstDash val="solid"/>
            </a:ln>
          </p:spPr>
        </p:sp>
        <p:sp>
          <p:nvSpPr>
            <p:cNvPr id="17" name="node06.steps.slot-001.part-0"/>
            <p:cNvSpPr/>
            <p:nvPr/>
          </p:nvSpPr>
          <p:spPr>
            <a:xfrm>
              <a:off x="8039100" y="27432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DAY 3 · 9:00 TO 15:00</a:t>
              </a:r>
              <a:endParaRPr lang="en-US" sz="800" spc="48" kern="0" b="0" i="0" dirty="0">
                <a:solidFill>
                  <a:srgbClr val="0047FF"/>
                </a:solidFill>
                <a:latin typeface="IBM Plex Mono Medium"/>
                <a:ea typeface="IBM Plex Mono Medium"/>
                <a:cs typeface="IBM Plex Mono Medium"/>
              </a:endParaRPr>
            </a:p>
          </p:txBody>
        </p:sp>
        <p:sp>
          <p:nvSpPr>
            <p:cNvPr id="18" name="node06.steps.slot-001.part-1"/>
            <p:cNvSpPr/>
            <p:nvPr/>
          </p:nvSpPr>
          <p:spPr>
            <a:xfrm>
              <a:off x="8039100" y="2921000"/>
              <a:ext cx="3200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Commit: decide and assign</a:t>
              </a:r>
              <a:endParaRPr lang="en-US" sz="1200" spc="0" kern="0" b="0" i="0" dirty="0">
                <a:solidFill>
                  <a:srgbClr val="070154"/>
                </a:solidFill>
                <a:latin typeface="IBM Plex Sans SemiBold"/>
                <a:ea typeface="IBM Plex Sans SemiBold"/>
                <a:cs typeface="IBM Plex Sans SemiBold"/>
              </a:endParaRPr>
            </a:p>
          </p:txBody>
        </p:sp>
      </p:grpSp>
      <p:grpSp>
        <p:nvGrpSpPr>
          <p:cNvPr id="57" name="node07"/>
          <p:cNvGrpSpPr/>
          <p:nvPr/>
        </p:nvGrpSpPr>
        <p:grpSpPr>
          <a:xfrm>
            <a:off x="723900" y="3352800"/>
            <a:ext cx="3429000" cy="977900"/>
            <a:chOff x="723900" y="3352800"/>
            <a:chExt cx="3429000" cy="977900"/>
          </a:xfrm>
        </p:grpSpPr>
        <p:sp>
          <p:nvSpPr>
            <p:cNvPr id="19" name="node07.source-001.bullet"/>
            <p:cNvSpPr/>
            <p:nvPr/>
          </p:nvSpPr>
          <p:spPr>
            <a:xfrm>
              <a:off x="723900" y="3441700"/>
              <a:ext cx="38100" cy="38100"/>
            </a:xfrm>
            <a:prstGeom prst="rect">
              <a:avLst/>
            </a:prstGeom>
            <a:solidFill>
              <a:srgbClr val="070154"/>
            </a:solidFill>
            <a:ln>
              <a:noFill/>
            </a:ln>
          </p:spPr>
        </p:sp>
        <p:sp>
          <p:nvSpPr>
            <p:cNvPr id="20" name="node07.source-001.text"/>
            <p:cNvSpPr/>
            <p:nvPr/>
          </p:nvSpPr>
          <p:spPr>
            <a:xfrm>
              <a:off x="876300" y="3352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9:00 Goals and ground rules</a:t>
              </a:r>
              <a:endParaRPr lang="en-US" sz="1200" spc="0" kern="0" b="0" i="0" dirty="0">
                <a:solidFill>
                  <a:srgbClr val="070154"/>
                </a:solidFill>
                <a:latin typeface="IBM Plex Sans"/>
                <a:ea typeface="IBM Plex Sans"/>
                <a:cs typeface="IBM Plex Sans"/>
              </a:endParaRPr>
            </a:p>
          </p:txBody>
        </p:sp>
        <p:sp>
          <p:nvSpPr>
            <p:cNvPr id="21" name="node07.source-002.bullet"/>
            <p:cNvSpPr/>
            <p:nvPr/>
          </p:nvSpPr>
          <p:spPr>
            <a:xfrm>
              <a:off x="723900" y="3695700"/>
              <a:ext cx="38100" cy="38100"/>
            </a:xfrm>
            <a:prstGeom prst="rect">
              <a:avLst/>
            </a:prstGeom>
            <a:solidFill>
              <a:srgbClr val="070154"/>
            </a:solidFill>
            <a:ln>
              <a:noFill/>
            </a:ln>
          </p:spPr>
        </p:sp>
        <p:sp>
          <p:nvSpPr>
            <p:cNvPr id="22" name="node07.source-002.text"/>
            <p:cNvSpPr/>
            <p:nvPr/>
          </p:nvSpPr>
          <p:spPr>
            <a:xfrm>
              <a:off x="876300" y="3606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10:00 Journey mapping from every angle</a:t>
              </a:r>
              <a:endParaRPr lang="en-US" sz="1200" spc="0" kern="0" b="0" i="0" dirty="0">
                <a:solidFill>
                  <a:srgbClr val="070154"/>
                </a:solidFill>
                <a:latin typeface="IBM Plex Sans"/>
                <a:ea typeface="IBM Plex Sans"/>
                <a:cs typeface="IBM Plex Sans"/>
              </a:endParaRPr>
            </a:p>
          </p:txBody>
        </p:sp>
        <p:sp>
          <p:nvSpPr>
            <p:cNvPr id="23" name="node07.source-003.bullet"/>
            <p:cNvSpPr/>
            <p:nvPr/>
          </p:nvSpPr>
          <p:spPr>
            <a:xfrm>
              <a:off x="723900" y="3949700"/>
              <a:ext cx="38100" cy="38100"/>
            </a:xfrm>
            <a:prstGeom prst="rect">
              <a:avLst/>
            </a:prstGeom>
            <a:solidFill>
              <a:srgbClr val="070154"/>
            </a:solidFill>
            <a:ln>
              <a:noFill/>
            </a:ln>
          </p:spPr>
        </p:sp>
        <p:sp>
          <p:nvSpPr>
            <p:cNvPr id="24" name="node07.source-003.text"/>
            <p:cNvSpPr/>
            <p:nvPr/>
          </p:nvSpPr>
          <p:spPr>
            <a:xfrm>
              <a:off x="876300" y="3860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13:00 Data, pain points, root causes</a:t>
              </a:r>
              <a:endParaRPr lang="en-US" sz="1200" spc="0" kern="0" b="0" i="0" dirty="0">
                <a:solidFill>
                  <a:srgbClr val="070154"/>
                </a:solidFill>
                <a:latin typeface="IBM Plex Sans"/>
                <a:ea typeface="IBM Plex Sans"/>
                <a:cs typeface="IBM Plex Sans"/>
              </a:endParaRPr>
            </a:p>
          </p:txBody>
        </p:sp>
        <p:sp>
          <p:nvSpPr>
            <p:cNvPr id="25" name="node07.source-004.bullet"/>
            <p:cNvSpPr/>
            <p:nvPr/>
          </p:nvSpPr>
          <p:spPr>
            <a:xfrm>
              <a:off x="723900" y="4203700"/>
              <a:ext cx="38100" cy="38100"/>
            </a:xfrm>
            <a:prstGeom prst="rect">
              <a:avLst/>
            </a:prstGeom>
            <a:solidFill>
              <a:srgbClr val="070154"/>
            </a:solidFill>
            <a:ln>
              <a:noFill/>
            </a:ln>
          </p:spPr>
        </p:sp>
        <p:sp>
          <p:nvSpPr>
            <p:cNvPr id="26" name="node07.source-004.text"/>
            <p:cNvSpPr/>
            <p:nvPr/>
          </p:nvSpPr>
          <p:spPr>
            <a:xfrm>
              <a:off x="876300" y="4114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16:30 Playback, nothing ruled out</a:t>
              </a:r>
              <a:endParaRPr lang="en-US" sz="1200" spc="0" kern="0" b="0" i="0" dirty="0">
                <a:solidFill>
                  <a:srgbClr val="070154"/>
                </a:solidFill>
                <a:latin typeface="IBM Plex Sans"/>
                <a:ea typeface="IBM Plex Sans"/>
                <a:cs typeface="IBM Plex Sans"/>
              </a:endParaRPr>
            </a:p>
          </p:txBody>
        </p:sp>
      </p:grpSp>
      <p:grpSp>
        <p:nvGrpSpPr>
          <p:cNvPr id="58" name="node08"/>
          <p:cNvGrpSpPr/>
          <p:nvPr/>
        </p:nvGrpSpPr>
        <p:grpSpPr>
          <a:xfrm>
            <a:off x="723900" y="4800600"/>
            <a:ext cx="3429000" cy="1143000"/>
            <a:chOff x="723900" y="4800600"/>
            <a:chExt cx="3429000" cy="1143000"/>
          </a:xfrm>
        </p:grpSpPr>
        <p:sp>
          <p:nvSpPr>
            <p:cNvPr id="27" name="node08.container"/>
            <p:cNvSpPr/>
            <p:nvPr/>
          </p:nvSpPr>
          <p:spPr>
            <a:xfrm>
              <a:off x="723900" y="4800600"/>
              <a:ext cx="3429000" cy="1143000"/>
            </a:xfrm>
            <a:prstGeom prst="rect">
              <a:avLst/>
            </a:prstGeom>
            <a:solidFill>
              <a:srgbClr val="E8EEF8"/>
            </a:solidFill>
            <a:ln>
              <a:noFill/>
            </a:ln>
          </p:spPr>
        </p:sp>
        <p:sp>
          <p:nvSpPr>
            <p:cNvPr id="28" name="node08.label"/>
            <p:cNvSpPr/>
            <p:nvPr/>
          </p:nvSpPr>
          <p:spPr>
            <a:xfrm>
              <a:off x="952500" y="50292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OUTPUT BY END OF DAY</a:t>
              </a:r>
              <a:endParaRPr lang="en-US" sz="800" spc="48" kern="0" b="0" i="0" dirty="0">
                <a:solidFill>
                  <a:srgbClr val="0047FF"/>
                </a:solidFill>
                <a:latin typeface="IBM Plex Mono Medium"/>
                <a:ea typeface="IBM Plex Mono Medium"/>
                <a:cs typeface="IBM Plex Mono Medium"/>
              </a:endParaRPr>
            </a:p>
          </p:txBody>
        </p:sp>
        <p:sp>
          <p:nvSpPr>
            <p:cNvPr id="29" name="node08.title"/>
            <p:cNvSpPr/>
            <p:nvPr/>
          </p:nvSpPr>
          <p:spPr>
            <a:xfrm>
              <a:off x="952500" y="52451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Shared current state</a:t>
              </a:r>
              <a:endParaRPr lang="en-US" sz="1600" spc="-16" kern="0" b="0" i="0" dirty="0">
                <a:solidFill>
                  <a:srgbClr val="070154"/>
                </a:solidFill>
                <a:latin typeface="IBM Plex Sans SemiBold"/>
                <a:ea typeface="IBM Plex Sans SemiBold"/>
                <a:cs typeface="IBM Plex Sans SemiBold"/>
              </a:endParaRPr>
            </a:p>
          </p:txBody>
        </p:sp>
      </p:grpSp>
      <p:grpSp>
        <p:nvGrpSpPr>
          <p:cNvPr id="59" name="node09"/>
          <p:cNvGrpSpPr/>
          <p:nvPr/>
        </p:nvGrpSpPr>
        <p:grpSpPr>
          <a:xfrm>
            <a:off x="4381500" y="3352800"/>
            <a:ext cx="3429000" cy="977900"/>
            <a:chOff x="4381500" y="3352800"/>
            <a:chExt cx="3429000" cy="977900"/>
          </a:xfrm>
        </p:grpSpPr>
        <p:sp>
          <p:nvSpPr>
            <p:cNvPr id="30" name="node09.source-001.bullet"/>
            <p:cNvSpPr/>
            <p:nvPr/>
          </p:nvSpPr>
          <p:spPr>
            <a:xfrm>
              <a:off x="4381500" y="3441700"/>
              <a:ext cx="38100" cy="38100"/>
            </a:xfrm>
            <a:prstGeom prst="rect">
              <a:avLst/>
            </a:prstGeom>
            <a:solidFill>
              <a:srgbClr val="070154"/>
            </a:solidFill>
            <a:ln>
              <a:noFill/>
            </a:ln>
          </p:spPr>
        </p:sp>
        <p:sp>
          <p:nvSpPr>
            <p:cNvPr id="31" name="node09.source-001.text"/>
            <p:cNvSpPr/>
            <p:nvPr/>
          </p:nvSpPr>
          <p:spPr>
            <a:xfrm>
              <a:off x="4533900" y="3352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9:00 Design principles</a:t>
              </a:r>
              <a:endParaRPr lang="en-US" sz="1200" spc="0" kern="0" b="0" i="0" dirty="0">
                <a:solidFill>
                  <a:srgbClr val="070154"/>
                </a:solidFill>
                <a:latin typeface="IBM Plex Sans"/>
                <a:ea typeface="IBM Plex Sans"/>
                <a:cs typeface="IBM Plex Sans"/>
              </a:endParaRPr>
            </a:p>
          </p:txBody>
        </p:sp>
        <p:sp>
          <p:nvSpPr>
            <p:cNvPr id="32" name="node09.source-002.bullet"/>
            <p:cNvSpPr/>
            <p:nvPr/>
          </p:nvSpPr>
          <p:spPr>
            <a:xfrm>
              <a:off x="4381500" y="3695700"/>
              <a:ext cx="38100" cy="38100"/>
            </a:xfrm>
            <a:prstGeom prst="rect">
              <a:avLst/>
            </a:prstGeom>
            <a:solidFill>
              <a:srgbClr val="070154"/>
            </a:solidFill>
            <a:ln>
              <a:noFill/>
            </a:ln>
          </p:spPr>
        </p:sp>
        <p:sp>
          <p:nvSpPr>
            <p:cNvPr id="33" name="node09.source-002.text"/>
            <p:cNvSpPr/>
            <p:nvPr/>
          </p:nvSpPr>
          <p:spPr>
            <a:xfrm>
              <a:off x="4533900" y="3606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9:45 Four design tables</a:t>
              </a:r>
              <a:endParaRPr lang="en-US" sz="1200" spc="0" kern="0" b="0" i="0" dirty="0">
                <a:solidFill>
                  <a:srgbClr val="070154"/>
                </a:solidFill>
                <a:latin typeface="IBM Plex Sans"/>
                <a:ea typeface="IBM Plex Sans"/>
                <a:cs typeface="IBM Plex Sans"/>
              </a:endParaRPr>
            </a:p>
          </p:txBody>
        </p:sp>
        <p:sp>
          <p:nvSpPr>
            <p:cNvPr id="34" name="node09.source-003.bullet"/>
            <p:cNvSpPr/>
            <p:nvPr/>
          </p:nvSpPr>
          <p:spPr>
            <a:xfrm>
              <a:off x="4381500" y="3949700"/>
              <a:ext cx="38100" cy="38100"/>
            </a:xfrm>
            <a:prstGeom prst="rect">
              <a:avLst/>
            </a:prstGeom>
            <a:solidFill>
              <a:srgbClr val="070154"/>
            </a:solidFill>
            <a:ln>
              <a:noFill/>
            </a:ln>
          </p:spPr>
        </p:sp>
        <p:sp>
          <p:nvSpPr>
            <p:cNvPr id="35" name="node09.source-003.text"/>
            <p:cNvSpPr/>
            <p:nvPr/>
          </p:nvSpPr>
          <p:spPr>
            <a:xfrm>
              <a:off x="4533900" y="3860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13:00 Cross-area hand-offs</a:t>
              </a:r>
              <a:endParaRPr lang="en-US" sz="1200" spc="0" kern="0" b="0" i="0" dirty="0">
                <a:solidFill>
                  <a:srgbClr val="070154"/>
                </a:solidFill>
                <a:latin typeface="IBM Plex Sans"/>
                <a:ea typeface="IBM Plex Sans"/>
                <a:cs typeface="IBM Plex Sans"/>
              </a:endParaRPr>
            </a:p>
          </p:txBody>
        </p:sp>
        <p:sp>
          <p:nvSpPr>
            <p:cNvPr id="36" name="node09.source-004.bullet"/>
            <p:cNvSpPr/>
            <p:nvPr/>
          </p:nvSpPr>
          <p:spPr>
            <a:xfrm>
              <a:off x="4381500" y="4203700"/>
              <a:ext cx="38100" cy="38100"/>
            </a:xfrm>
            <a:prstGeom prst="rect">
              <a:avLst/>
            </a:prstGeom>
            <a:solidFill>
              <a:srgbClr val="070154"/>
            </a:solidFill>
            <a:ln>
              <a:noFill/>
            </a:ln>
          </p:spPr>
        </p:sp>
        <p:sp>
          <p:nvSpPr>
            <p:cNvPr id="37" name="node09.source-004.text"/>
            <p:cNvSpPr/>
            <p:nvPr/>
          </p:nvSpPr>
          <p:spPr>
            <a:xfrm>
              <a:off x="4533900" y="4114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15:00 Scenario tests, narrowing options</a:t>
              </a:r>
              <a:endParaRPr lang="en-US" sz="1200" spc="0" kern="0" b="0" i="0" dirty="0">
                <a:solidFill>
                  <a:srgbClr val="070154"/>
                </a:solidFill>
                <a:latin typeface="IBM Plex Sans"/>
                <a:ea typeface="IBM Plex Sans"/>
                <a:cs typeface="IBM Plex Sans"/>
              </a:endParaRPr>
            </a:p>
          </p:txBody>
        </p:sp>
      </p:grpSp>
      <p:grpSp>
        <p:nvGrpSpPr>
          <p:cNvPr id="60" name="node10"/>
          <p:cNvGrpSpPr/>
          <p:nvPr/>
        </p:nvGrpSpPr>
        <p:grpSpPr>
          <a:xfrm>
            <a:off x="4381500" y="4800600"/>
            <a:ext cx="3429000" cy="1143000"/>
            <a:chOff x="4381500" y="4800600"/>
            <a:chExt cx="3429000" cy="1143000"/>
          </a:xfrm>
        </p:grpSpPr>
        <p:sp>
          <p:nvSpPr>
            <p:cNvPr id="38" name="node10.container"/>
            <p:cNvSpPr/>
            <p:nvPr/>
          </p:nvSpPr>
          <p:spPr>
            <a:xfrm>
              <a:off x="4381500" y="4800600"/>
              <a:ext cx="3429000" cy="1143000"/>
            </a:xfrm>
            <a:prstGeom prst="rect">
              <a:avLst/>
            </a:prstGeom>
            <a:solidFill>
              <a:srgbClr val="E8EEF8"/>
            </a:solidFill>
            <a:ln>
              <a:noFill/>
            </a:ln>
          </p:spPr>
        </p:sp>
        <p:sp>
          <p:nvSpPr>
            <p:cNvPr id="39" name="node10.label"/>
            <p:cNvSpPr/>
            <p:nvPr/>
          </p:nvSpPr>
          <p:spPr>
            <a:xfrm>
              <a:off x="4610100" y="50292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OUTPUT BY END OF DAY</a:t>
              </a:r>
              <a:endParaRPr lang="en-US" sz="800" spc="48" kern="0" b="0" i="0" dirty="0">
                <a:solidFill>
                  <a:srgbClr val="0047FF"/>
                </a:solidFill>
                <a:latin typeface="IBM Plex Mono Medium"/>
                <a:ea typeface="IBM Plex Mono Medium"/>
                <a:cs typeface="IBM Plex Mono Medium"/>
              </a:endParaRPr>
            </a:p>
          </p:txBody>
        </p:sp>
        <p:sp>
          <p:nvSpPr>
            <p:cNvPr id="40" name="node10.title"/>
            <p:cNvSpPr/>
            <p:nvPr/>
          </p:nvSpPr>
          <p:spPr>
            <a:xfrm>
              <a:off x="4610100" y="52451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One design</a:t>
              </a:r>
              <a:endParaRPr lang="en-US" sz="1600" spc="-16" kern="0" b="0" i="0" dirty="0">
                <a:solidFill>
                  <a:srgbClr val="070154"/>
                </a:solidFill>
                <a:latin typeface="IBM Plex Sans SemiBold"/>
                <a:ea typeface="IBM Plex Sans SemiBold"/>
                <a:cs typeface="IBM Plex Sans SemiBold"/>
              </a:endParaRPr>
            </a:p>
          </p:txBody>
        </p:sp>
      </p:grpSp>
      <p:grpSp>
        <p:nvGrpSpPr>
          <p:cNvPr id="61" name="node11"/>
          <p:cNvGrpSpPr/>
          <p:nvPr/>
        </p:nvGrpSpPr>
        <p:grpSpPr>
          <a:xfrm>
            <a:off x="8039100" y="3352800"/>
            <a:ext cx="3429000" cy="977900"/>
            <a:chOff x="8039100" y="3352800"/>
            <a:chExt cx="3429000" cy="977900"/>
          </a:xfrm>
        </p:grpSpPr>
        <p:sp>
          <p:nvSpPr>
            <p:cNvPr id="41" name="node11.source-001.bullet"/>
            <p:cNvSpPr/>
            <p:nvPr/>
          </p:nvSpPr>
          <p:spPr>
            <a:xfrm>
              <a:off x="8039100" y="3441700"/>
              <a:ext cx="38100" cy="38100"/>
            </a:xfrm>
            <a:prstGeom prst="rect">
              <a:avLst/>
            </a:prstGeom>
            <a:solidFill>
              <a:srgbClr val="070154"/>
            </a:solidFill>
            <a:ln>
              <a:noFill/>
            </a:ln>
          </p:spPr>
        </p:sp>
        <p:sp>
          <p:nvSpPr>
            <p:cNvPr id="42" name="node11.source-001.text"/>
            <p:cNvSpPr/>
            <p:nvPr/>
          </p:nvSpPr>
          <p:spPr>
            <a:xfrm>
              <a:off x="8191500" y="3352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9:00 Resolve the last gaps</a:t>
              </a:r>
              <a:endParaRPr lang="en-US" sz="1200" spc="0" kern="0" b="0" i="0" dirty="0">
                <a:solidFill>
                  <a:srgbClr val="070154"/>
                </a:solidFill>
                <a:latin typeface="IBM Plex Sans"/>
                <a:ea typeface="IBM Plex Sans"/>
                <a:cs typeface="IBM Plex Sans"/>
              </a:endParaRPr>
            </a:p>
          </p:txBody>
        </p:sp>
        <p:sp>
          <p:nvSpPr>
            <p:cNvPr id="43" name="node11.source-002.bullet"/>
            <p:cNvSpPr/>
            <p:nvPr/>
          </p:nvSpPr>
          <p:spPr>
            <a:xfrm>
              <a:off x="8039100" y="3695700"/>
              <a:ext cx="38100" cy="38100"/>
            </a:xfrm>
            <a:prstGeom prst="rect">
              <a:avLst/>
            </a:prstGeom>
            <a:solidFill>
              <a:srgbClr val="070154"/>
            </a:solidFill>
            <a:ln>
              <a:noFill/>
            </a:ln>
          </p:spPr>
        </p:sp>
        <p:sp>
          <p:nvSpPr>
            <p:cNvPr id="44" name="node11.source-002.text"/>
            <p:cNvSpPr/>
            <p:nvPr/>
          </p:nvSpPr>
          <p:spPr>
            <a:xfrm>
              <a:off x="8191500" y="3606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10:30 Score and rank</a:t>
              </a:r>
              <a:endParaRPr lang="en-US" sz="1200" spc="0" kern="0" b="0" i="0" dirty="0">
                <a:solidFill>
                  <a:srgbClr val="070154"/>
                </a:solidFill>
                <a:latin typeface="IBM Plex Sans"/>
                <a:ea typeface="IBM Plex Sans"/>
                <a:cs typeface="IBM Plex Sans"/>
              </a:endParaRPr>
            </a:p>
          </p:txBody>
        </p:sp>
        <p:sp>
          <p:nvSpPr>
            <p:cNvPr id="45" name="node11.source-003.bullet"/>
            <p:cNvSpPr/>
            <p:nvPr/>
          </p:nvSpPr>
          <p:spPr>
            <a:xfrm>
              <a:off x="8039100" y="3949700"/>
              <a:ext cx="38100" cy="38100"/>
            </a:xfrm>
            <a:prstGeom prst="rect">
              <a:avLst/>
            </a:prstGeom>
            <a:solidFill>
              <a:srgbClr val="070154"/>
            </a:solidFill>
            <a:ln>
              <a:noFill/>
            </a:ln>
          </p:spPr>
        </p:sp>
        <p:sp>
          <p:nvSpPr>
            <p:cNvPr id="46" name="node11.source-003.text"/>
            <p:cNvSpPr/>
            <p:nvPr/>
          </p:nvSpPr>
          <p:spPr>
            <a:xfrm>
              <a:off x="8191500" y="3860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13:00 Owners, dates, funding asks</a:t>
              </a:r>
              <a:endParaRPr lang="en-US" sz="1200" spc="0" kern="0" b="0" i="0" dirty="0">
                <a:solidFill>
                  <a:srgbClr val="070154"/>
                </a:solidFill>
                <a:latin typeface="IBM Plex Sans"/>
                <a:ea typeface="IBM Plex Sans"/>
                <a:cs typeface="IBM Plex Sans"/>
              </a:endParaRPr>
            </a:p>
          </p:txBody>
        </p:sp>
        <p:sp>
          <p:nvSpPr>
            <p:cNvPr id="47" name="node11.source-004.bullet"/>
            <p:cNvSpPr/>
            <p:nvPr/>
          </p:nvSpPr>
          <p:spPr>
            <a:xfrm>
              <a:off x="8039100" y="4203700"/>
              <a:ext cx="38100" cy="38100"/>
            </a:xfrm>
            <a:prstGeom prst="rect">
              <a:avLst/>
            </a:prstGeom>
            <a:solidFill>
              <a:srgbClr val="070154"/>
            </a:solidFill>
            <a:ln>
              <a:noFill/>
            </a:ln>
          </p:spPr>
        </p:sp>
        <p:sp>
          <p:nvSpPr>
            <p:cNvPr id="48" name="node11.source-004.text"/>
            <p:cNvSpPr/>
            <p:nvPr/>
          </p:nvSpPr>
          <p:spPr>
            <a:xfrm>
              <a:off x="8191500" y="4114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14:00 Readout to sponsors</a:t>
              </a:r>
              <a:endParaRPr lang="en-US" sz="1200" spc="0" kern="0" b="0" i="0" dirty="0">
                <a:solidFill>
                  <a:srgbClr val="070154"/>
                </a:solidFill>
                <a:latin typeface="IBM Plex Sans"/>
                <a:ea typeface="IBM Plex Sans"/>
                <a:cs typeface="IBM Plex Sans"/>
              </a:endParaRPr>
            </a:p>
          </p:txBody>
        </p:sp>
      </p:grpSp>
      <p:grpSp>
        <p:nvGrpSpPr>
          <p:cNvPr id="62" name="node12"/>
          <p:cNvGrpSpPr/>
          <p:nvPr/>
        </p:nvGrpSpPr>
        <p:grpSpPr>
          <a:xfrm>
            <a:off x="8039100" y="4800600"/>
            <a:ext cx="3429000" cy="1143000"/>
            <a:chOff x="8039100" y="4800600"/>
            <a:chExt cx="3429000" cy="1143000"/>
          </a:xfrm>
        </p:grpSpPr>
        <p:sp>
          <p:nvSpPr>
            <p:cNvPr id="49" name="node12.container"/>
            <p:cNvSpPr/>
            <p:nvPr/>
          </p:nvSpPr>
          <p:spPr>
            <a:xfrm>
              <a:off x="8039100" y="4800600"/>
              <a:ext cx="3429000" cy="1143000"/>
            </a:xfrm>
            <a:prstGeom prst="rect">
              <a:avLst/>
            </a:prstGeom>
            <a:solidFill>
              <a:srgbClr val="E8EEF8"/>
            </a:solidFill>
            <a:ln>
              <a:noFill/>
            </a:ln>
          </p:spPr>
        </p:sp>
        <p:sp>
          <p:nvSpPr>
            <p:cNvPr id="50" name="node12.label"/>
            <p:cNvSpPr/>
            <p:nvPr/>
          </p:nvSpPr>
          <p:spPr>
            <a:xfrm>
              <a:off x="8267700" y="50292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OUTPUT BY END OF DAY</a:t>
              </a:r>
              <a:endParaRPr lang="en-US" sz="800" spc="48" kern="0" b="0" i="0" dirty="0">
                <a:solidFill>
                  <a:srgbClr val="0047FF"/>
                </a:solidFill>
                <a:latin typeface="IBM Plex Mono Medium"/>
                <a:ea typeface="IBM Plex Mono Medium"/>
                <a:cs typeface="IBM Plex Mono Medium"/>
              </a:endParaRPr>
            </a:p>
          </p:txBody>
        </p:sp>
        <p:sp>
          <p:nvSpPr>
            <p:cNvPr id="51" name="node12.title"/>
            <p:cNvSpPr/>
            <p:nvPr/>
          </p:nvSpPr>
          <p:spPr>
            <a:xfrm>
              <a:off x="8267700" y="52451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Commitments</a:t>
              </a:r>
              <a:endParaRPr lang="en-US" sz="1600" spc="-16"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ource-62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DAY 2 OF 3</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Day 2 designs the future state, area by area</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314450"/>
          </a:xfrm>
          <a:prstGeom prst="rect">
            <a:avLst/>
          </a:prstGeom>
          <a:solidFill>
            <a:srgbClr val="E8EEF8"/>
          </a:solidFill>
          <a:ln>
            <a:noFill/>
          </a:ln>
        </p:spPr>
      </p:sp>
      <p:sp>
        <p:nvSpPr>
          <p:cNvPr id="6"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DAY 1</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847850"/>
            <a:ext cx="228600" cy="1314450"/>
          </a:xfrm>
          <a:prstGeom prst="rect">
            <a:avLst/>
          </a:prstGeom>
          <a:solidFill>
            <a:srgbClr val="070154"/>
          </a:solidFill>
          <a:ln>
            <a:noFill/>
          </a:ln>
        </p:spPr>
      </p:sp>
      <p:sp>
        <p:nvSpPr>
          <p:cNvPr id="8"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DAY 2</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3238500"/>
            <a:ext cx="228600" cy="1314450"/>
          </a:xfrm>
          <a:prstGeom prst="rect">
            <a:avLst/>
          </a:prstGeom>
          <a:solidFill>
            <a:srgbClr val="E8EEF8"/>
          </a:solidFill>
          <a:ln>
            <a:noFill/>
          </a:ln>
        </p:spPr>
      </p:sp>
      <p:sp>
        <p:nvSpPr>
          <p:cNvPr id="10"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DAY 3</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4629150"/>
            <a:ext cx="228600" cy="1314450"/>
          </a:xfrm>
          <a:prstGeom prst="rect">
            <a:avLst/>
          </a:prstGeom>
          <a:solidFill>
            <a:srgbClr val="E8EEF8"/>
          </a:solidFill>
          <a:ln>
            <a:noFill/>
          </a:ln>
        </p:spPr>
      </p:sp>
      <p:sp>
        <p:nvSpPr>
          <p:cNvPr id="12"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AFTER</a:t>
            </a:r>
            <a:endParaRPr lang="en-US" sz="800" spc="80" kern="0" b="0" i="0" dirty="0">
              <a:solidFill>
                <a:srgbClr val="50658E"/>
              </a:solidFill>
              <a:latin typeface="IBM Plex Mono SemiBold"/>
              <a:ea typeface="IBM Plex Mono SemiBold"/>
              <a:cs typeface="IBM Plex Mono SemiBold"/>
            </a:endParaRPr>
          </a:p>
        </p:txBody>
      </p:sp>
      <p:sp>
        <p:nvSpPr>
          <p:cNvPr id="1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182</a:t>
            </a:fld>
            <a:endParaRPr lang="en-US" sz="700" spc="0" kern="0" b="0" i="0" dirty="0">
              <a:solidFill>
                <a:srgbClr val="070154"/>
              </a:solidFill>
              <a:latin typeface="IBM Plex Mono SemiBold"/>
              <a:ea typeface="IBM Plex Mono SemiBold"/>
              <a:cs typeface="IBM Plex Mono SemiBold"/>
            </a:endParaRPr>
          </a:p>
        </p:txBody>
      </p:sp>
      <p:grpSp>
        <p:nvGrpSpPr>
          <p:cNvPr id="85" name="node01"/>
          <p:cNvGrpSpPr/>
          <p:nvPr/>
        </p:nvGrpSpPr>
        <p:grpSpPr>
          <a:xfrm>
            <a:off x="723900" y="1600200"/>
            <a:ext cx="3429000" cy="228600"/>
            <a:chOff x="723900" y="1600200"/>
            <a:chExt cx="3429000" cy="228600"/>
          </a:xfrm>
        </p:grpSpPr>
        <p:sp>
          <p:nvSpPr>
            <p:cNvPr id="14" name="node01.label"/>
            <p:cNvSpPr/>
            <p:nvPr/>
          </p:nvSpPr>
          <p:spPr>
            <a:xfrm>
              <a:off x="723900" y="1600200"/>
              <a:ext cx="822449"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OVERALL GOAL</a:t>
              </a:r>
              <a:endParaRPr lang="en-US" sz="800" spc="48" kern="0" b="0" i="0" dirty="0">
                <a:solidFill>
                  <a:srgbClr val="50658E"/>
                </a:solidFill>
                <a:latin typeface="IBM Plex Mono Medium"/>
                <a:ea typeface="IBM Plex Mono Medium"/>
                <a:cs typeface="IBM Plex Mono Medium"/>
              </a:endParaRPr>
            </a:p>
          </p:txBody>
        </p:sp>
        <p:sp>
          <p:nvSpPr>
            <p:cNvPr id="15" name="node01.rule"/>
            <p:cNvSpPr/>
            <p:nvPr/>
          </p:nvSpPr>
          <p:spPr>
            <a:xfrm>
              <a:off x="1673349" y="1709738"/>
              <a:ext cx="2479551" cy="9525"/>
            </a:xfrm>
            <a:prstGeom prst="rect">
              <a:avLst/>
            </a:prstGeom>
            <a:solidFill>
              <a:srgbClr val="CED7E6"/>
            </a:solidFill>
            <a:ln>
              <a:noFill/>
            </a:ln>
          </p:spPr>
        </p:sp>
      </p:grpSp>
      <p:sp>
        <p:nvSpPr>
          <p:cNvPr id="16" name="node02"/>
          <p:cNvSpPr/>
          <p:nvPr/>
        </p:nvSpPr>
        <p:spPr>
          <a:xfrm>
            <a:off x="723900" y="1828800"/>
            <a:ext cx="3429000" cy="9525"/>
          </a:xfrm>
          <a:prstGeom prst="rect">
            <a:avLst/>
          </a:prstGeom>
          <a:solidFill>
            <a:srgbClr val="CED7E6"/>
          </a:solidFill>
          <a:ln>
            <a:noFill/>
          </a:ln>
        </p:spPr>
      </p:sp>
      <p:grpSp>
        <p:nvGrpSpPr>
          <p:cNvPr id="86" name="node03"/>
          <p:cNvGrpSpPr/>
          <p:nvPr/>
        </p:nvGrpSpPr>
        <p:grpSpPr>
          <a:xfrm>
            <a:off x="723900" y="1905000"/>
            <a:ext cx="3429000" cy="381000"/>
            <a:chOff x="723900" y="1905000"/>
            <a:chExt cx="3429000" cy="381000"/>
          </a:xfrm>
        </p:grpSpPr>
        <p:sp>
          <p:nvSpPr>
            <p:cNvPr id="17" name="node03.text"/>
            <p:cNvSpPr/>
            <p:nvPr/>
          </p:nvSpPr>
          <p:spPr>
            <a:xfrm>
              <a:off x="723900" y="19050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Agree and commit to one future-state design for patient access by Thursday afternoon.</a:t>
              </a:r>
              <a:endParaRPr lang="en-US" sz="1100" spc="0" kern="0" b="0" i="0" dirty="0">
                <a:solidFill>
                  <a:srgbClr val="070154"/>
                </a:solidFill>
                <a:latin typeface="IBM Plex Sans"/>
                <a:ea typeface="IBM Plex Sans"/>
                <a:cs typeface="IBM Plex Sans"/>
              </a:endParaRPr>
            </a:p>
          </p:txBody>
        </p:sp>
      </p:grpSp>
      <p:grpSp>
        <p:nvGrpSpPr>
          <p:cNvPr id="87" name="node04"/>
          <p:cNvGrpSpPr/>
          <p:nvPr/>
        </p:nvGrpSpPr>
        <p:grpSpPr>
          <a:xfrm>
            <a:off x="723900" y="2971800"/>
            <a:ext cx="3429000" cy="228600"/>
            <a:chOff x="723900" y="2971800"/>
            <a:chExt cx="3429000" cy="228600"/>
          </a:xfrm>
        </p:grpSpPr>
        <p:sp>
          <p:nvSpPr>
            <p:cNvPr id="18" name="node04.label"/>
            <p:cNvSpPr/>
            <p:nvPr/>
          </p:nvSpPr>
          <p:spPr>
            <a:xfrm>
              <a:off x="723900" y="2971800"/>
              <a:ext cx="148665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THREE DAYS AT A GLANCE</a:t>
              </a:r>
              <a:endParaRPr lang="en-US" sz="800" spc="48" kern="0" b="0" i="0" dirty="0">
                <a:solidFill>
                  <a:srgbClr val="50658E"/>
                </a:solidFill>
                <a:latin typeface="IBM Plex Mono Medium"/>
                <a:ea typeface="IBM Plex Mono Medium"/>
                <a:cs typeface="IBM Plex Mono Medium"/>
              </a:endParaRPr>
            </a:p>
          </p:txBody>
        </p:sp>
        <p:sp>
          <p:nvSpPr>
            <p:cNvPr id="19" name="node04.rule"/>
            <p:cNvSpPr/>
            <p:nvPr/>
          </p:nvSpPr>
          <p:spPr>
            <a:xfrm>
              <a:off x="2337557" y="3081338"/>
              <a:ext cx="1815343" cy="9525"/>
            </a:xfrm>
            <a:prstGeom prst="rect">
              <a:avLst/>
            </a:prstGeom>
            <a:solidFill>
              <a:srgbClr val="CED7E6"/>
            </a:solidFill>
            <a:ln>
              <a:noFill/>
            </a:ln>
          </p:spPr>
        </p:sp>
      </p:grpSp>
      <p:sp>
        <p:nvSpPr>
          <p:cNvPr id="20" name="node05"/>
          <p:cNvSpPr/>
          <p:nvPr/>
        </p:nvSpPr>
        <p:spPr>
          <a:xfrm>
            <a:off x="723900" y="3200400"/>
            <a:ext cx="3429000" cy="9525"/>
          </a:xfrm>
          <a:prstGeom prst="rect">
            <a:avLst/>
          </a:prstGeom>
          <a:solidFill>
            <a:srgbClr val="CED7E6"/>
          </a:solidFill>
          <a:ln>
            <a:noFill/>
          </a:ln>
        </p:spPr>
      </p:sp>
      <p:grpSp>
        <p:nvGrpSpPr>
          <p:cNvPr id="88" name="node06"/>
          <p:cNvGrpSpPr/>
          <p:nvPr/>
        </p:nvGrpSpPr>
        <p:grpSpPr>
          <a:xfrm>
            <a:off x="723900" y="3276600"/>
            <a:ext cx="3429000" cy="939800"/>
            <a:chOff x="723900" y="3276600"/>
            <a:chExt cx="3429000" cy="939800"/>
          </a:xfrm>
        </p:grpSpPr>
        <p:sp>
          <p:nvSpPr>
            <p:cNvPr id="21" name="node06.source-001.bullet"/>
            <p:cNvSpPr/>
            <p:nvPr/>
          </p:nvSpPr>
          <p:spPr>
            <a:xfrm>
              <a:off x="723900" y="3365500"/>
              <a:ext cx="38100" cy="38100"/>
            </a:xfrm>
            <a:prstGeom prst="rect">
              <a:avLst/>
            </a:prstGeom>
            <a:solidFill>
              <a:srgbClr val="070154"/>
            </a:solidFill>
            <a:ln>
              <a:noFill/>
            </a:ln>
          </p:spPr>
        </p:sp>
        <p:sp>
          <p:nvSpPr>
            <p:cNvPr id="22" name="node06.source-001.text"/>
            <p:cNvSpPr/>
            <p:nvPr/>
          </p:nvSpPr>
          <p:spPr>
            <a:xfrm>
              <a:off x="876300" y="3276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Day 1 Discover.</a:t>
              </a:r>
              <a:r>
                <a:rPr lang="en-US" sz="1200" spc="0" kern="0" b="0" i="0" dirty="0">
                  <a:solidFill>
                    <a:srgbClr val="50658E"/>
                  </a:solidFill>
                  <a:latin typeface="IBM Plex Sans"/>
                  <a:ea typeface="IBM Plex Sans"/>
                  <a:cs typeface="IBM Plex Sans"/>
                </a:rPr>
                <a:t xml:space="preserve"> Current state and pain points.</a:t>
              </a:r>
              <a:endParaRPr lang="en-US" sz="1200" spc="0" kern="0" b="0" i="0" dirty="0">
                <a:solidFill>
                  <a:srgbClr val="070154"/>
                </a:solidFill>
                <a:latin typeface="IBM Plex Sans"/>
                <a:ea typeface="IBM Plex Sans"/>
                <a:cs typeface="IBM Plex Sans"/>
              </a:endParaRPr>
            </a:p>
          </p:txBody>
        </p:sp>
        <p:sp>
          <p:nvSpPr>
            <p:cNvPr id="23" name="node06.source-002.bullet"/>
            <p:cNvSpPr/>
            <p:nvPr/>
          </p:nvSpPr>
          <p:spPr>
            <a:xfrm>
              <a:off x="723900" y="3619500"/>
              <a:ext cx="38100" cy="38100"/>
            </a:xfrm>
            <a:prstGeom prst="rect">
              <a:avLst/>
            </a:prstGeom>
            <a:solidFill>
              <a:srgbClr val="070154"/>
            </a:solidFill>
            <a:ln>
              <a:noFill/>
            </a:ln>
          </p:spPr>
        </p:sp>
        <p:sp>
          <p:nvSpPr>
            <p:cNvPr id="24" name="node06.source-002.text"/>
            <p:cNvSpPr/>
            <p:nvPr/>
          </p:nvSpPr>
          <p:spPr>
            <a:xfrm>
              <a:off x="876300" y="3530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Day 2 Design.</a:t>
              </a:r>
              <a:r>
                <a:rPr lang="en-US" sz="1200" spc="0" kern="0" b="0" i="0" dirty="0">
                  <a:solidFill>
                    <a:srgbClr val="50658E"/>
                  </a:solidFill>
                  <a:latin typeface="IBM Plex Sans"/>
                  <a:ea typeface="IBM Plex Sans"/>
                  <a:cs typeface="IBM Plex Sans"/>
                </a:rPr>
                <a:t xml:space="preserve"> Future state for each area.</a:t>
              </a:r>
              <a:endParaRPr lang="en-US" sz="1200" spc="0" kern="0" b="0" i="0" dirty="0">
                <a:solidFill>
                  <a:srgbClr val="070154"/>
                </a:solidFill>
                <a:latin typeface="IBM Plex Sans"/>
                <a:ea typeface="IBM Plex Sans"/>
                <a:cs typeface="IBM Plex Sans"/>
              </a:endParaRPr>
            </a:p>
          </p:txBody>
        </p:sp>
        <p:sp>
          <p:nvSpPr>
            <p:cNvPr id="25" name="node06.source-003.bullet"/>
            <p:cNvSpPr/>
            <p:nvPr/>
          </p:nvSpPr>
          <p:spPr>
            <a:xfrm>
              <a:off x="723900" y="3873500"/>
              <a:ext cx="38100" cy="38100"/>
            </a:xfrm>
            <a:prstGeom prst="rect">
              <a:avLst/>
            </a:prstGeom>
            <a:solidFill>
              <a:srgbClr val="070154"/>
            </a:solidFill>
            <a:ln>
              <a:noFill/>
            </a:ln>
          </p:spPr>
        </p:sp>
        <p:sp>
          <p:nvSpPr>
            <p:cNvPr id="26" name="node06.source-003.text"/>
            <p:cNvSpPr/>
            <p:nvPr/>
          </p:nvSpPr>
          <p:spPr>
            <a:xfrm>
              <a:off x="876300" y="37846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Day 3 Decide.</a:t>
              </a:r>
              <a:r>
                <a:rPr lang="en-US" sz="1200" spc="0" kern="0" b="0" i="0" dirty="0">
                  <a:solidFill>
                    <a:srgbClr val="50658E"/>
                  </a:solidFill>
                  <a:latin typeface="IBM Plex Sans"/>
                  <a:ea typeface="IBM Plex Sans"/>
                  <a:cs typeface="IBM Plex Sans"/>
                </a:rPr>
                <a:t xml:space="preserve"> Rank, assign, commit; ends 15:00.</a:t>
              </a:r>
              <a:endParaRPr lang="en-US" sz="1200" spc="0" kern="0" b="0" i="0" dirty="0">
                <a:solidFill>
                  <a:srgbClr val="070154"/>
                </a:solidFill>
                <a:latin typeface="IBM Plex Sans"/>
                <a:ea typeface="IBM Plex Sans"/>
                <a:cs typeface="IBM Plex Sans"/>
              </a:endParaRPr>
            </a:p>
          </p:txBody>
        </p:sp>
      </p:grpSp>
      <p:grpSp>
        <p:nvGrpSpPr>
          <p:cNvPr id="89" name="node07"/>
          <p:cNvGrpSpPr/>
          <p:nvPr/>
        </p:nvGrpSpPr>
        <p:grpSpPr>
          <a:xfrm>
            <a:off x="723900" y="4800600"/>
            <a:ext cx="3429000" cy="228600"/>
            <a:chOff x="723900" y="4800600"/>
            <a:chExt cx="3429000" cy="228600"/>
          </a:xfrm>
        </p:grpSpPr>
        <p:sp>
          <p:nvSpPr>
            <p:cNvPr id="27" name="node07.label"/>
            <p:cNvSpPr/>
            <p:nvPr/>
          </p:nvSpPr>
          <p:spPr>
            <a:xfrm>
              <a:off x="723900" y="4800600"/>
              <a:ext cx="62318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ATTENDEES</a:t>
              </a:r>
              <a:endParaRPr lang="en-US" sz="800" spc="48" kern="0" b="0" i="0" dirty="0">
                <a:solidFill>
                  <a:srgbClr val="50658E"/>
                </a:solidFill>
                <a:latin typeface="IBM Plex Mono Medium"/>
                <a:ea typeface="IBM Plex Mono Medium"/>
                <a:cs typeface="IBM Plex Mono Medium"/>
              </a:endParaRPr>
            </a:p>
          </p:txBody>
        </p:sp>
        <p:sp>
          <p:nvSpPr>
            <p:cNvPr id="28" name="node07.rule"/>
            <p:cNvSpPr/>
            <p:nvPr/>
          </p:nvSpPr>
          <p:spPr>
            <a:xfrm>
              <a:off x="1474087" y="4910138"/>
              <a:ext cx="2678813" cy="9525"/>
            </a:xfrm>
            <a:prstGeom prst="rect">
              <a:avLst/>
            </a:prstGeom>
            <a:solidFill>
              <a:srgbClr val="CED7E6"/>
            </a:solidFill>
            <a:ln>
              <a:noFill/>
            </a:ln>
          </p:spPr>
        </p:sp>
      </p:grpSp>
      <p:sp>
        <p:nvSpPr>
          <p:cNvPr id="29" name="node08"/>
          <p:cNvSpPr/>
          <p:nvPr/>
        </p:nvSpPr>
        <p:spPr>
          <a:xfrm>
            <a:off x="723900" y="5029200"/>
            <a:ext cx="3429000" cy="9525"/>
          </a:xfrm>
          <a:prstGeom prst="rect">
            <a:avLst/>
          </a:prstGeom>
          <a:solidFill>
            <a:srgbClr val="CED7E6"/>
          </a:solidFill>
          <a:ln>
            <a:noFill/>
          </a:ln>
        </p:spPr>
      </p:sp>
      <p:grpSp>
        <p:nvGrpSpPr>
          <p:cNvPr id="90" name="node09"/>
          <p:cNvGrpSpPr/>
          <p:nvPr/>
        </p:nvGrpSpPr>
        <p:grpSpPr>
          <a:xfrm>
            <a:off x="723900" y="5105400"/>
            <a:ext cx="3429000" cy="469900"/>
            <a:chOff x="723900" y="5105400"/>
            <a:chExt cx="3429000" cy="469900"/>
          </a:xfrm>
        </p:grpSpPr>
        <p:sp>
          <p:nvSpPr>
            <p:cNvPr id="30" name="node09.source-001.bullet"/>
            <p:cNvSpPr/>
            <p:nvPr/>
          </p:nvSpPr>
          <p:spPr>
            <a:xfrm>
              <a:off x="723900" y="5194300"/>
              <a:ext cx="38100" cy="38100"/>
            </a:xfrm>
            <a:prstGeom prst="rect">
              <a:avLst/>
            </a:prstGeom>
            <a:solidFill>
              <a:srgbClr val="070154"/>
            </a:solidFill>
            <a:ln>
              <a:noFill/>
            </a:ln>
          </p:spPr>
        </p:sp>
        <p:sp>
          <p:nvSpPr>
            <p:cNvPr id="31" name="node09.source-001.text"/>
            <p:cNvSpPr/>
            <p:nvPr/>
          </p:nvSpPr>
          <p:spPr>
            <a:xfrm>
              <a:off x="876300" y="5105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Access, registration, revenue cycle</a:t>
              </a:r>
              <a:endParaRPr lang="en-US" sz="1200" spc="0" kern="0" b="0" i="0" dirty="0">
                <a:solidFill>
                  <a:srgbClr val="070154"/>
                </a:solidFill>
                <a:latin typeface="IBM Plex Sans"/>
                <a:ea typeface="IBM Plex Sans"/>
                <a:cs typeface="IBM Plex Sans"/>
              </a:endParaRPr>
            </a:p>
          </p:txBody>
        </p:sp>
        <p:sp>
          <p:nvSpPr>
            <p:cNvPr id="32" name="node09.source-002.bullet"/>
            <p:cNvSpPr/>
            <p:nvPr/>
          </p:nvSpPr>
          <p:spPr>
            <a:xfrm>
              <a:off x="723900" y="5448300"/>
              <a:ext cx="38100" cy="38100"/>
            </a:xfrm>
            <a:prstGeom prst="rect">
              <a:avLst/>
            </a:prstGeom>
            <a:solidFill>
              <a:srgbClr val="070154"/>
            </a:solidFill>
            <a:ln>
              <a:noFill/>
            </a:ln>
          </p:spPr>
        </p:sp>
        <p:sp>
          <p:nvSpPr>
            <p:cNvPr id="33" name="node09.source-002.text"/>
            <p:cNvSpPr/>
            <p:nvPr/>
          </p:nvSpPr>
          <p:spPr>
            <a:xfrm>
              <a:off x="876300" y="5359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IT owners and a finance partner</a:t>
              </a:r>
              <a:endParaRPr lang="en-US" sz="1200" spc="0" kern="0" b="0" i="0" dirty="0">
                <a:solidFill>
                  <a:srgbClr val="070154"/>
                </a:solidFill>
                <a:latin typeface="IBM Plex Sans"/>
                <a:ea typeface="IBM Plex Sans"/>
                <a:cs typeface="IBM Plex Sans"/>
              </a:endParaRPr>
            </a:p>
          </p:txBody>
        </p:sp>
      </p:grpSp>
      <p:grpSp>
        <p:nvGrpSpPr>
          <p:cNvPr id="91" name="node10"/>
          <p:cNvGrpSpPr/>
          <p:nvPr/>
        </p:nvGrpSpPr>
        <p:grpSpPr>
          <a:xfrm>
            <a:off x="4381500" y="1600200"/>
            <a:ext cx="3429000" cy="228600"/>
            <a:chOff x="4381500" y="1600200"/>
            <a:chExt cx="3429000" cy="228600"/>
          </a:xfrm>
        </p:grpSpPr>
        <p:sp>
          <p:nvSpPr>
            <p:cNvPr id="34" name="node10.label"/>
            <p:cNvSpPr/>
            <p:nvPr/>
          </p:nvSpPr>
          <p:spPr>
            <a:xfrm>
              <a:off x="4381500" y="1600200"/>
              <a:ext cx="1885181"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DAY 2 AGENDA · 9:00 TO 17:00</a:t>
              </a:r>
              <a:endParaRPr lang="en-US" sz="800" spc="48" kern="0" b="0" i="0" dirty="0">
                <a:solidFill>
                  <a:srgbClr val="50658E"/>
                </a:solidFill>
                <a:latin typeface="IBM Plex Mono Medium"/>
                <a:ea typeface="IBM Plex Mono Medium"/>
                <a:cs typeface="IBM Plex Mono Medium"/>
              </a:endParaRPr>
            </a:p>
          </p:txBody>
        </p:sp>
        <p:sp>
          <p:nvSpPr>
            <p:cNvPr id="35" name="node10.rule"/>
            <p:cNvSpPr/>
            <p:nvPr/>
          </p:nvSpPr>
          <p:spPr>
            <a:xfrm>
              <a:off x="6393681" y="1709738"/>
              <a:ext cx="1416819" cy="9525"/>
            </a:xfrm>
            <a:prstGeom prst="rect">
              <a:avLst/>
            </a:prstGeom>
            <a:solidFill>
              <a:srgbClr val="CED7E6"/>
            </a:solidFill>
            <a:ln>
              <a:noFill/>
            </a:ln>
          </p:spPr>
        </p:sp>
      </p:grpSp>
      <p:sp>
        <p:nvSpPr>
          <p:cNvPr id="36" name="node11"/>
          <p:cNvSpPr/>
          <p:nvPr/>
        </p:nvSpPr>
        <p:spPr>
          <a:xfrm>
            <a:off x="4381500" y="1828800"/>
            <a:ext cx="3429000" cy="9525"/>
          </a:xfrm>
          <a:prstGeom prst="rect">
            <a:avLst/>
          </a:prstGeom>
          <a:solidFill>
            <a:srgbClr val="CED7E6"/>
          </a:solidFill>
          <a:ln>
            <a:noFill/>
          </a:ln>
        </p:spPr>
      </p:sp>
      <p:grpSp>
        <p:nvGrpSpPr>
          <p:cNvPr id="92" name="node12"/>
          <p:cNvGrpSpPr/>
          <p:nvPr/>
        </p:nvGrpSpPr>
        <p:grpSpPr>
          <a:xfrm>
            <a:off x="4381500" y="1905000"/>
            <a:ext cx="3429000" cy="2743200"/>
            <a:chOff x="4381500" y="1905000"/>
            <a:chExt cx="3429000" cy="2743200"/>
          </a:xfrm>
        </p:grpSpPr>
        <p:sp>
          <p:nvSpPr>
            <p:cNvPr id="37" name="node12.source-001.key"/>
            <p:cNvSpPr/>
            <p:nvPr/>
          </p:nvSpPr>
          <p:spPr>
            <a:xfrm>
              <a:off x="4381500" y="1905000"/>
              <a:ext cx="6858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9:00</a:t>
              </a:r>
              <a:endParaRPr lang="en-US" sz="1200" spc="0" kern="0" b="1" i="0" dirty="0">
                <a:solidFill>
                  <a:srgbClr val="0047FF"/>
                </a:solidFill>
                <a:latin typeface="IBM Plex Sans"/>
                <a:ea typeface="IBM Plex Sans"/>
                <a:cs typeface="IBM Plex Sans"/>
              </a:endParaRPr>
            </a:p>
          </p:txBody>
        </p:sp>
        <p:sp>
          <p:nvSpPr>
            <p:cNvPr id="38" name="node12.source-001.text"/>
            <p:cNvSpPr/>
            <p:nvPr/>
          </p:nvSpPr>
          <p:spPr>
            <a:xfrm>
              <a:off x="5295900" y="19050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Recap and principles</a:t>
              </a:r>
              <a:endParaRPr lang="en-US" sz="1200" spc="0" kern="0" b="0" i="0" dirty="0">
                <a:solidFill>
                  <a:srgbClr val="070154"/>
                </a:solidFill>
                <a:latin typeface="IBM Plex Sans SemiBold"/>
                <a:ea typeface="IBM Plex Sans SemiBold"/>
                <a:cs typeface="IBM Plex Sans SemiBold"/>
              </a:endParaRPr>
            </a:p>
          </p:txBody>
        </p:sp>
        <p:sp>
          <p:nvSpPr>
            <p:cNvPr id="39" name="node12.source-002.key"/>
            <p:cNvSpPr/>
            <p:nvPr/>
          </p:nvSpPr>
          <p:spPr>
            <a:xfrm>
              <a:off x="4381500" y="2247900"/>
              <a:ext cx="6858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9:45</a:t>
              </a:r>
              <a:endParaRPr lang="en-US" sz="1200" spc="0" kern="0" b="1" i="0" dirty="0">
                <a:solidFill>
                  <a:srgbClr val="0047FF"/>
                </a:solidFill>
                <a:latin typeface="IBM Plex Sans"/>
                <a:ea typeface="IBM Plex Sans"/>
                <a:cs typeface="IBM Plex Sans"/>
              </a:endParaRPr>
            </a:p>
          </p:txBody>
        </p:sp>
        <p:sp>
          <p:nvSpPr>
            <p:cNvPr id="40" name="node12.source-002.text"/>
            <p:cNvSpPr/>
            <p:nvPr/>
          </p:nvSpPr>
          <p:spPr>
            <a:xfrm>
              <a:off x="5295900" y="22479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Design by area</a:t>
              </a:r>
              <a:endParaRPr lang="en-US" sz="1200" spc="0" kern="0" b="0" i="0" dirty="0">
                <a:solidFill>
                  <a:srgbClr val="070154"/>
                </a:solidFill>
                <a:latin typeface="IBM Plex Sans SemiBold"/>
                <a:ea typeface="IBM Plex Sans SemiBold"/>
                <a:cs typeface="IBM Plex Sans SemiBold"/>
              </a:endParaRPr>
            </a:p>
          </p:txBody>
        </p:sp>
        <p:sp>
          <p:nvSpPr>
            <p:cNvPr id="41" name="node12.source-003.key"/>
            <p:cNvSpPr/>
            <p:nvPr/>
          </p:nvSpPr>
          <p:spPr>
            <a:xfrm>
              <a:off x="4381500" y="2590800"/>
              <a:ext cx="6858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11:30</a:t>
              </a:r>
              <a:endParaRPr lang="en-US" sz="1200" spc="0" kern="0" b="1" i="0" dirty="0">
                <a:solidFill>
                  <a:srgbClr val="0047FF"/>
                </a:solidFill>
                <a:latin typeface="IBM Plex Sans"/>
                <a:ea typeface="IBM Plex Sans"/>
                <a:cs typeface="IBM Plex Sans"/>
              </a:endParaRPr>
            </a:p>
          </p:txBody>
        </p:sp>
        <p:sp>
          <p:nvSpPr>
            <p:cNvPr id="42" name="node12.source-003.text"/>
            <p:cNvSpPr/>
            <p:nvPr/>
          </p:nvSpPr>
          <p:spPr>
            <a:xfrm>
              <a:off x="5295900" y="25908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Table playbacks</a:t>
              </a:r>
              <a:endParaRPr lang="en-US" sz="1200" spc="0" kern="0" b="0" i="0" dirty="0">
                <a:solidFill>
                  <a:srgbClr val="070154"/>
                </a:solidFill>
                <a:latin typeface="IBM Plex Sans SemiBold"/>
                <a:ea typeface="IBM Plex Sans SemiBold"/>
                <a:cs typeface="IBM Plex Sans SemiBold"/>
              </a:endParaRPr>
            </a:p>
          </p:txBody>
        </p:sp>
        <p:sp>
          <p:nvSpPr>
            <p:cNvPr id="43" name="node12.source-004.key"/>
            <p:cNvSpPr/>
            <p:nvPr/>
          </p:nvSpPr>
          <p:spPr>
            <a:xfrm>
              <a:off x="4381500" y="2933700"/>
              <a:ext cx="6858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12:30</a:t>
              </a:r>
              <a:endParaRPr lang="en-US" sz="1200" spc="0" kern="0" b="1" i="0" dirty="0">
                <a:solidFill>
                  <a:srgbClr val="0047FF"/>
                </a:solidFill>
                <a:latin typeface="IBM Plex Sans"/>
                <a:ea typeface="IBM Plex Sans"/>
                <a:cs typeface="IBM Plex Sans"/>
              </a:endParaRPr>
            </a:p>
          </p:txBody>
        </p:sp>
        <p:sp>
          <p:nvSpPr>
            <p:cNvPr id="44" name="node12.source-004.text"/>
            <p:cNvSpPr/>
            <p:nvPr/>
          </p:nvSpPr>
          <p:spPr>
            <a:xfrm>
              <a:off x="5295900" y="29337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Working lunch</a:t>
              </a:r>
              <a:endParaRPr lang="en-US" sz="1200" spc="0" kern="0" b="0" i="0" dirty="0">
                <a:solidFill>
                  <a:srgbClr val="070154"/>
                </a:solidFill>
                <a:latin typeface="IBM Plex Sans SemiBold"/>
                <a:ea typeface="IBM Plex Sans SemiBold"/>
                <a:cs typeface="IBM Plex Sans SemiBold"/>
              </a:endParaRPr>
            </a:p>
          </p:txBody>
        </p:sp>
        <p:sp>
          <p:nvSpPr>
            <p:cNvPr id="45" name="node12.source-005.key"/>
            <p:cNvSpPr/>
            <p:nvPr/>
          </p:nvSpPr>
          <p:spPr>
            <a:xfrm>
              <a:off x="4381500" y="3276600"/>
              <a:ext cx="6858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13:00</a:t>
              </a:r>
              <a:endParaRPr lang="en-US" sz="1200" spc="0" kern="0" b="1" i="0" dirty="0">
                <a:solidFill>
                  <a:srgbClr val="0047FF"/>
                </a:solidFill>
                <a:latin typeface="IBM Plex Sans"/>
                <a:ea typeface="IBM Plex Sans"/>
                <a:cs typeface="IBM Plex Sans"/>
              </a:endParaRPr>
            </a:p>
          </p:txBody>
        </p:sp>
        <p:sp>
          <p:nvSpPr>
            <p:cNvPr id="46" name="node12.source-005.text"/>
            <p:cNvSpPr/>
            <p:nvPr/>
          </p:nvSpPr>
          <p:spPr>
            <a:xfrm>
              <a:off x="5295900" y="32766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Cross-area hand-offs</a:t>
              </a:r>
              <a:endParaRPr lang="en-US" sz="1200" spc="0" kern="0" b="0" i="0" dirty="0">
                <a:solidFill>
                  <a:srgbClr val="070154"/>
                </a:solidFill>
                <a:latin typeface="IBM Plex Sans SemiBold"/>
                <a:ea typeface="IBM Plex Sans SemiBold"/>
                <a:cs typeface="IBM Plex Sans SemiBold"/>
              </a:endParaRPr>
            </a:p>
          </p:txBody>
        </p:sp>
        <p:sp>
          <p:nvSpPr>
            <p:cNvPr id="47" name="node12.source-006.key"/>
            <p:cNvSpPr/>
            <p:nvPr/>
          </p:nvSpPr>
          <p:spPr>
            <a:xfrm>
              <a:off x="4381500" y="3619500"/>
              <a:ext cx="6858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15:00</a:t>
              </a:r>
              <a:endParaRPr lang="en-US" sz="1200" spc="0" kern="0" b="1" i="0" dirty="0">
                <a:solidFill>
                  <a:srgbClr val="0047FF"/>
                </a:solidFill>
                <a:latin typeface="IBM Plex Sans"/>
                <a:ea typeface="IBM Plex Sans"/>
                <a:cs typeface="IBM Plex Sans"/>
              </a:endParaRPr>
            </a:p>
          </p:txBody>
        </p:sp>
        <p:sp>
          <p:nvSpPr>
            <p:cNvPr id="48" name="node12.source-006.text"/>
            <p:cNvSpPr/>
            <p:nvPr/>
          </p:nvSpPr>
          <p:spPr>
            <a:xfrm>
              <a:off x="5295900" y="36195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Scenario tests</a:t>
              </a:r>
              <a:endParaRPr lang="en-US" sz="1200" spc="0" kern="0" b="0" i="0" dirty="0">
                <a:solidFill>
                  <a:srgbClr val="070154"/>
                </a:solidFill>
                <a:latin typeface="IBM Plex Sans SemiBold"/>
                <a:ea typeface="IBM Plex Sans SemiBold"/>
                <a:cs typeface="IBM Plex Sans SemiBold"/>
              </a:endParaRPr>
            </a:p>
          </p:txBody>
        </p:sp>
        <p:sp>
          <p:nvSpPr>
            <p:cNvPr id="49" name="node12.source-007.key"/>
            <p:cNvSpPr/>
            <p:nvPr/>
          </p:nvSpPr>
          <p:spPr>
            <a:xfrm>
              <a:off x="4381500" y="3962400"/>
              <a:ext cx="6858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16:30</a:t>
              </a:r>
              <a:endParaRPr lang="en-US" sz="1200" spc="0" kern="0" b="1" i="0" dirty="0">
                <a:solidFill>
                  <a:srgbClr val="0047FF"/>
                </a:solidFill>
                <a:latin typeface="IBM Plex Sans"/>
                <a:ea typeface="IBM Plex Sans"/>
                <a:cs typeface="IBM Plex Sans"/>
              </a:endParaRPr>
            </a:p>
          </p:txBody>
        </p:sp>
        <p:sp>
          <p:nvSpPr>
            <p:cNvPr id="50" name="node12.source-007.text"/>
            <p:cNvSpPr/>
            <p:nvPr/>
          </p:nvSpPr>
          <p:spPr>
            <a:xfrm>
              <a:off x="5295900" y="39624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Day 2 playback</a:t>
              </a:r>
              <a:endParaRPr lang="en-US" sz="1200" spc="0" kern="0" b="0" i="0" dirty="0">
                <a:solidFill>
                  <a:srgbClr val="070154"/>
                </a:solidFill>
                <a:latin typeface="IBM Plex Sans SemiBold"/>
                <a:ea typeface="IBM Plex Sans SemiBold"/>
                <a:cs typeface="IBM Plex Sans SemiBold"/>
              </a:endParaRPr>
            </a:p>
          </p:txBody>
        </p:sp>
        <p:sp>
          <p:nvSpPr>
            <p:cNvPr id="51" name="node12.source-008.key"/>
            <p:cNvSpPr/>
            <p:nvPr/>
          </p:nvSpPr>
          <p:spPr>
            <a:xfrm>
              <a:off x="4381500" y="4305300"/>
              <a:ext cx="685800" cy="215900"/>
            </a:xfrm>
            <a:prstGeom prst="rect">
              <a:avLst/>
            </a:prstGeom>
            <a:noFill/>
            <a:ln/>
          </p:spPr>
          <p:txBody>
            <a:bodyPr wrap="square" lIns="0" tIns="0" rIns="0" bIns="0" rtlCol="0" anchor="t"/>
            <a:lstStyle/>
            <a:p>
              <a:pPr algn="r" indent="0" marL="0">
                <a:lnSpc>
                  <a:spcPts val="1700"/>
                </a:lnSpc>
                <a:buNone/>
              </a:pPr>
              <a:r>
                <a:rPr lang="en-US" sz="1200" spc="0" kern="0" b="1" i="0" dirty="0">
                  <a:solidFill>
                    <a:srgbClr val="0047FF"/>
                  </a:solidFill>
                  <a:latin typeface="IBM Plex Sans"/>
                  <a:ea typeface="IBM Plex Sans"/>
                  <a:cs typeface="IBM Plex Sans"/>
                </a:rPr>
                <a:t>17:00</a:t>
              </a:r>
              <a:endParaRPr lang="en-US" sz="1200" spc="0" kern="0" b="1" i="0" dirty="0">
                <a:solidFill>
                  <a:srgbClr val="0047FF"/>
                </a:solidFill>
                <a:latin typeface="IBM Plex Sans"/>
                <a:ea typeface="IBM Plex Sans"/>
                <a:cs typeface="IBM Plex Sans"/>
              </a:endParaRPr>
            </a:p>
          </p:txBody>
        </p:sp>
        <p:sp>
          <p:nvSpPr>
            <p:cNvPr id="52" name="node12.source-008.text"/>
            <p:cNvSpPr/>
            <p:nvPr/>
          </p:nvSpPr>
          <p:spPr>
            <a:xfrm>
              <a:off x="5295900" y="43053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Close</a:t>
              </a:r>
              <a:endParaRPr lang="en-US" sz="1200" spc="0" kern="0" b="0" i="0" dirty="0">
                <a:solidFill>
                  <a:srgbClr val="070154"/>
                </a:solidFill>
                <a:latin typeface="IBM Plex Sans SemiBold"/>
                <a:ea typeface="IBM Plex Sans SemiBold"/>
                <a:cs typeface="IBM Plex Sans SemiBold"/>
              </a:endParaRPr>
            </a:p>
          </p:txBody>
        </p:sp>
      </p:grpSp>
      <p:grpSp>
        <p:nvGrpSpPr>
          <p:cNvPr id="93" name="node13"/>
          <p:cNvGrpSpPr/>
          <p:nvPr/>
        </p:nvGrpSpPr>
        <p:grpSpPr>
          <a:xfrm>
            <a:off x="4381500" y="4800600"/>
            <a:ext cx="3429000" cy="228600"/>
            <a:chOff x="4381500" y="4800600"/>
            <a:chExt cx="3429000" cy="228600"/>
          </a:xfrm>
        </p:grpSpPr>
        <p:sp>
          <p:nvSpPr>
            <p:cNvPr id="53" name="node13.label"/>
            <p:cNvSpPr/>
            <p:nvPr/>
          </p:nvSpPr>
          <p:spPr>
            <a:xfrm>
              <a:off x="4381500" y="4800600"/>
              <a:ext cx="1154553"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ROLES IN THE ROOM</a:t>
              </a:r>
              <a:endParaRPr lang="en-US" sz="800" spc="48" kern="0" b="0" i="0" dirty="0">
                <a:solidFill>
                  <a:srgbClr val="50658E"/>
                </a:solidFill>
                <a:latin typeface="IBM Plex Mono Medium"/>
                <a:ea typeface="IBM Plex Mono Medium"/>
                <a:cs typeface="IBM Plex Mono Medium"/>
              </a:endParaRPr>
            </a:p>
          </p:txBody>
        </p:sp>
        <p:sp>
          <p:nvSpPr>
            <p:cNvPr id="54" name="node13.rule"/>
            <p:cNvSpPr/>
            <p:nvPr/>
          </p:nvSpPr>
          <p:spPr>
            <a:xfrm>
              <a:off x="5663053" y="4910138"/>
              <a:ext cx="2147447" cy="9525"/>
            </a:xfrm>
            <a:prstGeom prst="rect">
              <a:avLst/>
            </a:prstGeom>
            <a:solidFill>
              <a:srgbClr val="CED7E6"/>
            </a:solidFill>
            <a:ln>
              <a:noFill/>
            </a:ln>
          </p:spPr>
        </p:sp>
      </p:grpSp>
      <p:sp>
        <p:nvSpPr>
          <p:cNvPr id="55" name="node14"/>
          <p:cNvSpPr/>
          <p:nvPr/>
        </p:nvSpPr>
        <p:spPr>
          <a:xfrm>
            <a:off x="4381500" y="5029200"/>
            <a:ext cx="3429000" cy="9525"/>
          </a:xfrm>
          <a:prstGeom prst="rect">
            <a:avLst/>
          </a:prstGeom>
          <a:solidFill>
            <a:srgbClr val="CED7E6"/>
          </a:solidFill>
          <a:ln>
            <a:noFill/>
          </a:ln>
        </p:spPr>
      </p:sp>
      <p:grpSp>
        <p:nvGrpSpPr>
          <p:cNvPr id="94" name="node15"/>
          <p:cNvGrpSpPr/>
          <p:nvPr/>
        </p:nvGrpSpPr>
        <p:grpSpPr>
          <a:xfrm>
            <a:off x="4381500" y="5105400"/>
            <a:ext cx="3429000" cy="469900"/>
            <a:chOff x="4381500" y="5105400"/>
            <a:chExt cx="3429000" cy="469900"/>
          </a:xfrm>
        </p:grpSpPr>
        <p:sp>
          <p:nvSpPr>
            <p:cNvPr id="56" name="node15.source-001.bullet"/>
            <p:cNvSpPr/>
            <p:nvPr/>
          </p:nvSpPr>
          <p:spPr>
            <a:xfrm>
              <a:off x="4381500" y="5194300"/>
              <a:ext cx="38100" cy="38100"/>
            </a:xfrm>
            <a:prstGeom prst="rect">
              <a:avLst/>
            </a:prstGeom>
            <a:solidFill>
              <a:srgbClr val="070154"/>
            </a:solidFill>
            <a:ln>
              <a:noFill/>
            </a:ln>
          </p:spPr>
        </p:sp>
        <p:sp>
          <p:nvSpPr>
            <p:cNvPr id="57" name="node15.source-001.text"/>
            <p:cNvSpPr/>
            <p:nvPr/>
          </p:nvSpPr>
          <p:spPr>
            <a:xfrm>
              <a:off x="4533900" y="5105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Two facilitators, one scribe</a:t>
              </a:r>
              <a:endParaRPr lang="en-US" sz="1200" spc="0" kern="0" b="0" i="0" dirty="0">
                <a:solidFill>
                  <a:srgbClr val="070154"/>
                </a:solidFill>
                <a:latin typeface="IBM Plex Sans"/>
                <a:ea typeface="IBM Plex Sans"/>
                <a:cs typeface="IBM Plex Sans"/>
              </a:endParaRPr>
            </a:p>
          </p:txBody>
        </p:sp>
        <p:sp>
          <p:nvSpPr>
            <p:cNvPr id="58" name="node15.source-002.bullet"/>
            <p:cNvSpPr/>
            <p:nvPr/>
          </p:nvSpPr>
          <p:spPr>
            <a:xfrm>
              <a:off x="4381500" y="5448300"/>
              <a:ext cx="38100" cy="38100"/>
            </a:xfrm>
            <a:prstGeom prst="rect">
              <a:avLst/>
            </a:prstGeom>
            <a:solidFill>
              <a:srgbClr val="070154"/>
            </a:solidFill>
            <a:ln>
              <a:noFill/>
            </a:ln>
          </p:spPr>
        </p:sp>
        <p:sp>
          <p:nvSpPr>
            <p:cNvPr id="59" name="node15.source-002.text"/>
            <p:cNvSpPr/>
            <p:nvPr/>
          </p:nvSpPr>
          <p:spPr>
            <a:xfrm>
              <a:off x="4533900" y="5359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owner per area table</a:t>
              </a:r>
              <a:endParaRPr lang="en-US" sz="1200" spc="0" kern="0" b="0" i="0" dirty="0">
                <a:solidFill>
                  <a:srgbClr val="070154"/>
                </a:solidFill>
                <a:latin typeface="IBM Plex Sans"/>
                <a:ea typeface="IBM Plex Sans"/>
                <a:cs typeface="IBM Plex Sans"/>
              </a:endParaRPr>
            </a:p>
          </p:txBody>
        </p:sp>
      </p:grpSp>
      <p:grpSp>
        <p:nvGrpSpPr>
          <p:cNvPr id="95" name="node16"/>
          <p:cNvGrpSpPr/>
          <p:nvPr/>
        </p:nvGrpSpPr>
        <p:grpSpPr>
          <a:xfrm>
            <a:off x="8039100" y="1600200"/>
            <a:ext cx="3429000" cy="228600"/>
            <a:chOff x="8039100" y="1600200"/>
            <a:chExt cx="3429000" cy="228600"/>
          </a:xfrm>
        </p:grpSpPr>
        <p:sp>
          <p:nvSpPr>
            <p:cNvPr id="60" name="node16.label"/>
            <p:cNvSpPr/>
            <p:nvPr/>
          </p:nvSpPr>
          <p:spPr>
            <a:xfrm>
              <a:off x="8039100" y="1600200"/>
              <a:ext cx="148665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OUTPUT BY END OF DAY 2</a:t>
              </a:r>
              <a:endParaRPr lang="en-US" sz="800" spc="48" kern="0" b="0" i="0" dirty="0">
                <a:solidFill>
                  <a:srgbClr val="50658E"/>
                </a:solidFill>
                <a:latin typeface="IBM Plex Mono Medium"/>
                <a:ea typeface="IBM Plex Mono Medium"/>
                <a:cs typeface="IBM Plex Mono Medium"/>
              </a:endParaRPr>
            </a:p>
          </p:txBody>
        </p:sp>
        <p:sp>
          <p:nvSpPr>
            <p:cNvPr id="61" name="node16.rule"/>
            <p:cNvSpPr/>
            <p:nvPr/>
          </p:nvSpPr>
          <p:spPr>
            <a:xfrm>
              <a:off x="9652757" y="1709738"/>
              <a:ext cx="1815343" cy="9525"/>
            </a:xfrm>
            <a:prstGeom prst="rect">
              <a:avLst/>
            </a:prstGeom>
            <a:solidFill>
              <a:srgbClr val="CED7E6"/>
            </a:solidFill>
            <a:ln>
              <a:noFill/>
            </a:ln>
          </p:spPr>
        </p:sp>
      </p:grpSp>
      <p:sp>
        <p:nvSpPr>
          <p:cNvPr id="62" name="node17"/>
          <p:cNvSpPr/>
          <p:nvPr/>
        </p:nvSpPr>
        <p:spPr>
          <a:xfrm>
            <a:off x="8039100" y="1828800"/>
            <a:ext cx="3429000" cy="9525"/>
          </a:xfrm>
          <a:prstGeom prst="rect">
            <a:avLst/>
          </a:prstGeom>
          <a:solidFill>
            <a:srgbClr val="CED7E6"/>
          </a:solidFill>
          <a:ln>
            <a:noFill/>
          </a:ln>
        </p:spPr>
      </p:sp>
      <p:grpSp>
        <p:nvGrpSpPr>
          <p:cNvPr id="96" name="node18"/>
          <p:cNvGrpSpPr/>
          <p:nvPr/>
        </p:nvGrpSpPr>
        <p:grpSpPr>
          <a:xfrm>
            <a:off x="8039100" y="1905000"/>
            <a:ext cx="3429000" cy="723900"/>
            <a:chOff x="8039100" y="1905000"/>
            <a:chExt cx="3429000" cy="723900"/>
          </a:xfrm>
        </p:grpSpPr>
        <p:sp>
          <p:nvSpPr>
            <p:cNvPr id="63" name="node18.source-001.bullet"/>
            <p:cNvSpPr/>
            <p:nvPr/>
          </p:nvSpPr>
          <p:spPr>
            <a:xfrm>
              <a:off x="8039100" y="1993900"/>
              <a:ext cx="38100" cy="38100"/>
            </a:xfrm>
            <a:prstGeom prst="rect">
              <a:avLst/>
            </a:prstGeom>
            <a:solidFill>
              <a:srgbClr val="070154"/>
            </a:solidFill>
            <a:ln>
              <a:noFill/>
            </a:ln>
          </p:spPr>
        </p:sp>
        <p:sp>
          <p:nvSpPr>
            <p:cNvPr id="64" name="node18.source-001.text"/>
            <p:cNvSpPr/>
            <p:nvPr/>
          </p:nvSpPr>
          <p:spPr>
            <a:xfrm>
              <a:off x="8191500" y="1905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Future-state design for each area</a:t>
              </a:r>
              <a:endParaRPr lang="en-US" sz="1200" spc="0" kern="0" b="0" i="0" dirty="0">
                <a:solidFill>
                  <a:srgbClr val="070154"/>
                </a:solidFill>
                <a:latin typeface="IBM Plex Sans"/>
                <a:ea typeface="IBM Plex Sans"/>
                <a:cs typeface="IBM Plex Sans"/>
              </a:endParaRPr>
            </a:p>
          </p:txBody>
        </p:sp>
        <p:sp>
          <p:nvSpPr>
            <p:cNvPr id="65" name="node18.source-002.bullet"/>
            <p:cNvSpPr/>
            <p:nvPr/>
          </p:nvSpPr>
          <p:spPr>
            <a:xfrm>
              <a:off x="8039100" y="2247900"/>
              <a:ext cx="38100" cy="38100"/>
            </a:xfrm>
            <a:prstGeom prst="rect">
              <a:avLst/>
            </a:prstGeom>
            <a:solidFill>
              <a:srgbClr val="070154"/>
            </a:solidFill>
            <a:ln>
              <a:noFill/>
            </a:ln>
          </p:spPr>
        </p:sp>
        <p:sp>
          <p:nvSpPr>
            <p:cNvPr id="66" name="node18.source-002.text"/>
            <p:cNvSpPr/>
            <p:nvPr/>
          </p:nvSpPr>
          <p:spPr>
            <a:xfrm>
              <a:off x="8191500" y="2159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gaps list for day 3</a:t>
              </a:r>
              <a:endParaRPr lang="en-US" sz="1200" spc="0" kern="0" b="0" i="0" dirty="0">
                <a:solidFill>
                  <a:srgbClr val="070154"/>
                </a:solidFill>
                <a:latin typeface="IBM Plex Sans"/>
                <a:ea typeface="IBM Plex Sans"/>
                <a:cs typeface="IBM Plex Sans"/>
              </a:endParaRPr>
            </a:p>
          </p:txBody>
        </p:sp>
        <p:sp>
          <p:nvSpPr>
            <p:cNvPr id="67" name="node18.source-003.bullet"/>
            <p:cNvSpPr/>
            <p:nvPr/>
          </p:nvSpPr>
          <p:spPr>
            <a:xfrm>
              <a:off x="8039100" y="2501900"/>
              <a:ext cx="38100" cy="38100"/>
            </a:xfrm>
            <a:prstGeom prst="rect">
              <a:avLst/>
            </a:prstGeom>
            <a:solidFill>
              <a:srgbClr val="070154"/>
            </a:solidFill>
            <a:ln>
              <a:noFill/>
            </a:ln>
          </p:spPr>
        </p:sp>
        <p:sp>
          <p:nvSpPr>
            <p:cNvPr id="68" name="node18.source-003.text"/>
            <p:cNvSpPr/>
            <p:nvPr/>
          </p:nvSpPr>
          <p:spPr>
            <a:xfrm>
              <a:off x="8191500" y="2413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Decisions log, draft</a:t>
              </a:r>
              <a:endParaRPr lang="en-US" sz="1200" spc="0" kern="0" b="0" i="0" dirty="0">
                <a:solidFill>
                  <a:srgbClr val="070154"/>
                </a:solidFill>
                <a:latin typeface="IBM Plex Sans"/>
                <a:ea typeface="IBM Plex Sans"/>
                <a:cs typeface="IBM Plex Sans"/>
              </a:endParaRPr>
            </a:p>
          </p:txBody>
        </p:sp>
      </p:grpSp>
      <p:grpSp>
        <p:nvGrpSpPr>
          <p:cNvPr id="97" name="node19"/>
          <p:cNvGrpSpPr/>
          <p:nvPr/>
        </p:nvGrpSpPr>
        <p:grpSpPr>
          <a:xfrm>
            <a:off x="8039100" y="3200400"/>
            <a:ext cx="3429000" cy="228600"/>
            <a:chOff x="8039100" y="3200400"/>
            <a:chExt cx="3429000" cy="228600"/>
          </a:xfrm>
        </p:grpSpPr>
        <p:sp>
          <p:nvSpPr>
            <p:cNvPr id="69" name="node19.label"/>
            <p:cNvSpPr/>
            <p:nvPr/>
          </p:nvSpPr>
          <p:spPr>
            <a:xfrm>
              <a:off x="8039100" y="3200400"/>
              <a:ext cx="1220974"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ROOM AND LOGISTICS</a:t>
              </a:r>
              <a:endParaRPr lang="en-US" sz="800" spc="48" kern="0" b="0" i="0" dirty="0">
                <a:solidFill>
                  <a:srgbClr val="50658E"/>
                </a:solidFill>
                <a:latin typeface="IBM Plex Mono Medium"/>
                <a:ea typeface="IBM Plex Mono Medium"/>
                <a:cs typeface="IBM Plex Mono Medium"/>
              </a:endParaRPr>
            </a:p>
          </p:txBody>
        </p:sp>
        <p:sp>
          <p:nvSpPr>
            <p:cNvPr id="70" name="node19.rule"/>
            <p:cNvSpPr/>
            <p:nvPr/>
          </p:nvSpPr>
          <p:spPr>
            <a:xfrm>
              <a:off x="9387074" y="3309938"/>
              <a:ext cx="2081026" cy="9525"/>
            </a:xfrm>
            <a:prstGeom prst="rect">
              <a:avLst/>
            </a:prstGeom>
            <a:solidFill>
              <a:srgbClr val="CED7E6"/>
            </a:solidFill>
            <a:ln>
              <a:noFill/>
            </a:ln>
          </p:spPr>
        </p:sp>
      </p:grpSp>
      <p:sp>
        <p:nvSpPr>
          <p:cNvPr id="71" name="node20"/>
          <p:cNvSpPr/>
          <p:nvPr/>
        </p:nvSpPr>
        <p:spPr>
          <a:xfrm>
            <a:off x="8039100" y="3429000"/>
            <a:ext cx="3429000" cy="9525"/>
          </a:xfrm>
          <a:prstGeom prst="rect">
            <a:avLst/>
          </a:prstGeom>
          <a:solidFill>
            <a:srgbClr val="CED7E6"/>
          </a:solidFill>
          <a:ln>
            <a:noFill/>
          </a:ln>
        </p:spPr>
      </p:sp>
      <p:grpSp>
        <p:nvGrpSpPr>
          <p:cNvPr id="98" name="node21"/>
          <p:cNvGrpSpPr/>
          <p:nvPr/>
        </p:nvGrpSpPr>
        <p:grpSpPr>
          <a:xfrm>
            <a:off x="8039100" y="3505200"/>
            <a:ext cx="3429000" cy="723900"/>
            <a:chOff x="8039100" y="3505200"/>
            <a:chExt cx="3429000" cy="723900"/>
          </a:xfrm>
        </p:grpSpPr>
        <p:sp>
          <p:nvSpPr>
            <p:cNvPr id="72" name="node21.source-001.bullet"/>
            <p:cNvSpPr/>
            <p:nvPr/>
          </p:nvSpPr>
          <p:spPr>
            <a:xfrm>
              <a:off x="8039100" y="3594100"/>
              <a:ext cx="38100" cy="38100"/>
            </a:xfrm>
            <a:prstGeom prst="rect">
              <a:avLst/>
            </a:prstGeom>
            <a:solidFill>
              <a:srgbClr val="070154"/>
            </a:solidFill>
            <a:ln>
              <a:noFill/>
            </a:ln>
          </p:spPr>
        </p:sp>
        <p:sp>
          <p:nvSpPr>
            <p:cNvPr id="73" name="node21.source-001.text"/>
            <p:cNvSpPr/>
            <p:nvPr/>
          </p:nvSpPr>
          <p:spPr>
            <a:xfrm>
              <a:off x="8191500" y="3505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Wed Nov 5, HQ room 4B</a:t>
              </a:r>
              <a:endParaRPr lang="en-US" sz="1200" spc="0" kern="0" b="0" i="0" dirty="0">
                <a:solidFill>
                  <a:srgbClr val="070154"/>
                </a:solidFill>
                <a:latin typeface="IBM Plex Sans"/>
                <a:ea typeface="IBM Plex Sans"/>
                <a:cs typeface="IBM Plex Sans"/>
              </a:endParaRPr>
            </a:p>
          </p:txBody>
        </p:sp>
        <p:sp>
          <p:nvSpPr>
            <p:cNvPr id="74" name="node21.source-002.bullet"/>
            <p:cNvSpPr/>
            <p:nvPr/>
          </p:nvSpPr>
          <p:spPr>
            <a:xfrm>
              <a:off x="8039100" y="3848100"/>
              <a:ext cx="38100" cy="38100"/>
            </a:xfrm>
            <a:prstGeom prst="rect">
              <a:avLst/>
            </a:prstGeom>
            <a:solidFill>
              <a:srgbClr val="070154"/>
            </a:solidFill>
            <a:ln>
              <a:noFill/>
            </a:ln>
          </p:spPr>
        </p:sp>
        <p:sp>
          <p:nvSpPr>
            <p:cNvPr id="75" name="node21.source-002.text"/>
            <p:cNvSpPr/>
            <p:nvPr/>
          </p:nvSpPr>
          <p:spPr>
            <a:xfrm>
              <a:off x="8191500" y="3759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Four tables, one per area</a:t>
              </a:r>
              <a:endParaRPr lang="en-US" sz="1200" spc="0" kern="0" b="0" i="0" dirty="0">
                <a:solidFill>
                  <a:srgbClr val="070154"/>
                </a:solidFill>
                <a:latin typeface="IBM Plex Sans"/>
                <a:ea typeface="IBM Plex Sans"/>
                <a:cs typeface="IBM Plex Sans"/>
              </a:endParaRPr>
            </a:p>
          </p:txBody>
        </p:sp>
        <p:sp>
          <p:nvSpPr>
            <p:cNvPr id="76" name="node21.source-003.bullet"/>
            <p:cNvSpPr/>
            <p:nvPr/>
          </p:nvSpPr>
          <p:spPr>
            <a:xfrm>
              <a:off x="8039100" y="4102100"/>
              <a:ext cx="38100" cy="38100"/>
            </a:xfrm>
            <a:prstGeom prst="rect">
              <a:avLst/>
            </a:prstGeom>
            <a:solidFill>
              <a:srgbClr val="070154"/>
            </a:solidFill>
            <a:ln>
              <a:noFill/>
            </a:ln>
          </p:spPr>
        </p:sp>
        <p:sp>
          <p:nvSpPr>
            <p:cNvPr id="77" name="node21.source-003.text"/>
            <p:cNvSpPr/>
            <p:nvPr/>
          </p:nvSpPr>
          <p:spPr>
            <a:xfrm>
              <a:off x="8191500" y="4013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Video bridge for remote leads</a:t>
              </a:r>
              <a:endParaRPr lang="en-US" sz="1200" spc="0" kern="0" b="0" i="0" dirty="0">
                <a:solidFill>
                  <a:srgbClr val="070154"/>
                </a:solidFill>
                <a:latin typeface="IBM Plex Sans"/>
                <a:ea typeface="IBM Plex Sans"/>
                <a:cs typeface="IBM Plex Sans"/>
              </a:endParaRPr>
            </a:p>
          </p:txBody>
        </p:sp>
      </p:grpSp>
      <p:grpSp>
        <p:nvGrpSpPr>
          <p:cNvPr id="99" name="node22"/>
          <p:cNvGrpSpPr/>
          <p:nvPr/>
        </p:nvGrpSpPr>
        <p:grpSpPr>
          <a:xfrm>
            <a:off x="8039100" y="4800600"/>
            <a:ext cx="3429000" cy="228600"/>
            <a:chOff x="8039100" y="4800600"/>
            <a:chExt cx="3429000" cy="228600"/>
          </a:xfrm>
        </p:grpSpPr>
        <p:sp>
          <p:nvSpPr>
            <p:cNvPr id="78" name="node22.label"/>
            <p:cNvSpPr/>
            <p:nvPr/>
          </p:nvSpPr>
          <p:spPr>
            <a:xfrm>
              <a:off x="8039100" y="4800600"/>
              <a:ext cx="822449"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BEFORE DAY 3</a:t>
              </a:r>
              <a:endParaRPr lang="en-US" sz="800" spc="48" kern="0" b="0" i="0" dirty="0">
                <a:solidFill>
                  <a:srgbClr val="50658E"/>
                </a:solidFill>
                <a:latin typeface="IBM Plex Mono Medium"/>
                <a:ea typeface="IBM Plex Mono Medium"/>
                <a:cs typeface="IBM Plex Mono Medium"/>
              </a:endParaRPr>
            </a:p>
          </p:txBody>
        </p:sp>
        <p:sp>
          <p:nvSpPr>
            <p:cNvPr id="79" name="node22.rule"/>
            <p:cNvSpPr/>
            <p:nvPr/>
          </p:nvSpPr>
          <p:spPr>
            <a:xfrm>
              <a:off x="8988549" y="4910138"/>
              <a:ext cx="2479551" cy="9525"/>
            </a:xfrm>
            <a:prstGeom prst="rect">
              <a:avLst/>
            </a:prstGeom>
            <a:solidFill>
              <a:srgbClr val="CED7E6"/>
            </a:solidFill>
            <a:ln>
              <a:noFill/>
            </a:ln>
          </p:spPr>
        </p:sp>
      </p:grpSp>
      <p:sp>
        <p:nvSpPr>
          <p:cNvPr id="80" name="node23"/>
          <p:cNvSpPr/>
          <p:nvPr/>
        </p:nvSpPr>
        <p:spPr>
          <a:xfrm>
            <a:off x="8039100" y="5029200"/>
            <a:ext cx="3429000" cy="9525"/>
          </a:xfrm>
          <a:prstGeom prst="rect">
            <a:avLst/>
          </a:prstGeom>
          <a:solidFill>
            <a:srgbClr val="CED7E6"/>
          </a:solidFill>
          <a:ln>
            <a:noFill/>
          </a:ln>
        </p:spPr>
      </p:sp>
      <p:grpSp>
        <p:nvGrpSpPr>
          <p:cNvPr id="100" name="node24"/>
          <p:cNvGrpSpPr/>
          <p:nvPr/>
        </p:nvGrpSpPr>
        <p:grpSpPr>
          <a:xfrm>
            <a:off x="8039100" y="5105400"/>
            <a:ext cx="3429000" cy="469900"/>
            <a:chOff x="8039100" y="5105400"/>
            <a:chExt cx="3429000" cy="469900"/>
          </a:xfrm>
        </p:grpSpPr>
        <p:sp>
          <p:nvSpPr>
            <p:cNvPr id="81" name="node24.source-001.bullet"/>
            <p:cNvSpPr/>
            <p:nvPr/>
          </p:nvSpPr>
          <p:spPr>
            <a:xfrm>
              <a:off x="8039100" y="5194300"/>
              <a:ext cx="38100" cy="38100"/>
            </a:xfrm>
            <a:prstGeom prst="rect">
              <a:avLst/>
            </a:prstGeom>
            <a:solidFill>
              <a:srgbClr val="070154"/>
            </a:solidFill>
            <a:ln>
              <a:noFill/>
            </a:ln>
          </p:spPr>
        </p:sp>
        <p:sp>
          <p:nvSpPr>
            <p:cNvPr id="82" name="node24.source-001.text"/>
            <p:cNvSpPr/>
            <p:nvPr/>
          </p:nvSpPr>
          <p:spPr>
            <a:xfrm>
              <a:off x="8191500" y="5105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Sponsors hold 14:00 to 15:00</a:t>
              </a:r>
              <a:endParaRPr lang="en-US" sz="1200" spc="0" kern="0" b="0" i="0" dirty="0">
                <a:solidFill>
                  <a:srgbClr val="070154"/>
                </a:solidFill>
                <a:latin typeface="IBM Plex Sans"/>
                <a:ea typeface="IBM Plex Sans"/>
                <a:cs typeface="IBM Plex Sans"/>
              </a:endParaRPr>
            </a:p>
          </p:txBody>
        </p:sp>
        <p:sp>
          <p:nvSpPr>
            <p:cNvPr id="83" name="node24.source-002.bullet"/>
            <p:cNvSpPr/>
            <p:nvPr/>
          </p:nvSpPr>
          <p:spPr>
            <a:xfrm>
              <a:off x="8039100" y="5448300"/>
              <a:ext cx="38100" cy="38100"/>
            </a:xfrm>
            <a:prstGeom prst="rect">
              <a:avLst/>
            </a:prstGeom>
            <a:solidFill>
              <a:srgbClr val="070154"/>
            </a:solidFill>
            <a:ln>
              <a:noFill/>
            </a:ln>
          </p:spPr>
        </p:sp>
        <p:sp>
          <p:nvSpPr>
            <p:cNvPr id="84" name="node24.source-002.text"/>
            <p:cNvSpPr/>
            <p:nvPr/>
          </p:nvSpPr>
          <p:spPr>
            <a:xfrm>
              <a:off x="8191500" y="5359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Owners confirm their area</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ource-633">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Two days, in the room and on video</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183</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457200"/>
            <a:ext cx="7086600" cy="5308600"/>
            <a:chOff x="723900" y="457200"/>
            <a:chExt cx="7086600" cy="5308600"/>
          </a:xfrm>
        </p:grpSpPr>
        <p:graphicFrame>
          <p:nvGraphicFramePr>
            <p:cNvPr id="6" name="node01.native"/>
            <p:cNvGraphicFramePr>
              <a:graphicFrameLocks noGrp="1"/>
            </p:cNvGraphicFramePr>
            <p:nvPr>
              <p:extLst>
                <p:ext uri="{D42A27DB-BD31-4B8C-83A1-F6EECF244321}">
                  <p14:modId xmlns:p14="http://schemas.microsoft.com/office/powerpoint/2010/main" val="1579011935"/>
                </p:ext>
              </p:extLst>
            </p:nvPr>
          </p:nvGraphicFramePr>
          <p:xfrm>
            <a:off x="1104900" y="457200"/>
            <a:ext cx="6705600" cy="5308600"/>
          </p:xfrm>
          <a:graphic>
            <a:graphicData uri="http://schemas.openxmlformats.org/drawingml/2006/table">
              <a:tbl>
                <a:tblPr/>
                <a:tblGrid>
                  <a:gridCol w="762000"/>
                  <a:gridCol w="2590800"/>
                  <a:gridCol w="1066800"/>
                  <a:gridCol w="22860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TIME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SESSION</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WHERE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OUTPUT</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953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9:00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Welcome and goals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 person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Validated current state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9:45</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Current-state walk-through</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 person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Ranked pain points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11:15</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Journey mapping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 person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Journey map</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13:00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Data and pain points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Remote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Root-cause list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15:00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Playback and root causes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 person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Day 1 playback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9:00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Recap and principles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Remote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Agreed principles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9:45</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Design by area</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 person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Four area designs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13:00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Cross-area hand-offs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Remote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Hand-off agreements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15:00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Decisions and owners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 person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Decisions log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16:00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Readout to sponsors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Hybrid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Signed-off readout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7" name="node01.row-group.source-001.fill"/>
            <p:cNvSpPr/>
            <p:nvPr/>
          </p:nvSpPr>
          <p:spPr>
            <a:xfrm>
              <a:off x="723900" y="831850"/>
              <a:ext cx="304800" cy="2438400"/>
            </a:xfrm>
            <a:prstGeom prst="rect">
              <a:avLst/>
            </a:prstGeom>
            <a:solidFill>
              <a:srgbClr val="070154"/>
            </a:solidFill>
            <a:ln>
              <a:noFill/>
            </a:ln>
          </p:spPr>
        </p:sp>
        <p:sp>
          <p:nvSpPr>
            <p:cNvPr id="8" name="node01.row-group.source-001.label"/>
            <p:cNvSpPr/>
            <p:nvPr/>
          </p:nvSpPr>
          <p:spPr>
            <a:xfrm rot="-5400000">
              <a:off x="-342900" y="1981200"/>
              <a:ext cx="24384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DAY 1 · NOV 4</a:t>
              </a:r>
              <a:endParaRPr lang="en-US" sz="800" spc="80" kern="0" b="0" i="0" dirty="0">
                <a:solidFill>
                  <a:srgbClr val="FFFFFF"/>
                </a:solidFill>
                <a:latin typeface="IBM Plex Mono SemiBold"/>
                <a:ea typeface="IBM Plex Mono SemiBold"/>
                <a:cs typeface="IBM Plex Mono SemiBold"/>
              </a:endParaRPr>
            </a:p>
          </p:txBody>
        </p:sp>
        <p:sp>
          <p:nvSpPr>
            <p:cNvPr id="9" name="node01.row-group.source-002.fill"/>
            <p:cNvSpPr/>
            <p:nvPr/>
          </p:nvSpPr>
          <p:spPr>
            <a:xfrm>
              <a:off x="723900" y="3308350"/>
              <a:ext cx="304800" cy="2438400"/>
            </a:xfrm>
            <a:prstGeom prst="rect">
              <a:avLst/>
            </a:prstGeom>
            <a:solidFill>
              <a:srgbClr val="070154"/>
            </a:solidFill>
            <a:ln>
              <a:noFill/>
            </a:ln>
          </p:spPr>
        </p:sp>
        <p:sp>
          <p:nvSpPr>
            <p:cNvPr id="10" name="node01.row-group.source-002.label"/>
            <p:cNvSpPr/>
            <p:nvPr/>
          </p:nvSpPr>
          <p:spPr>
            <a:xfrm rot="-5400000">
              <a:off x="-342900" y="4457700"/>
              <a:ext cx="2438400" cy="1397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DAY 2 · NOV 5</a:t>
              </a:r>
              <a:endParaRPr lang="en-US" sz="800" spc="80" kern="0" b="0" i="0" dirty="0">
                <a:solidFill>
                  <a:srgbClr val="FFFFFF"/>
                </a:solidFill>
                <a:latin typeface="IBM Plex Mono SemiBold"/>
                <a:ea typeface="IBM Plex Mono SemiBold"/>
                <a:cs typeface="IBM Plex Mono SemiBold"/>
              </a:endParaRPr>
            </a:p>
          </p:txBody>
        </p:sp>
      </p:grpSp>
      <p:grpSp>
        <p:nvGrpSpPr>
          <p:cNvPr id="34" name="node02"/>
          <p:cNvGrpSpPr/>
          <p:nvPr/>
        </p:nvGrpSpPr>
        <p:grpSpPr>
          <a:xfrm>
            <a:off x="8039100" y="2286000"/>
            <a:ext cx="3429000" cy="228600"/>
            <a:chOff x="8039100" y="2286000"/>
            <a:chExt cx="3429000" cy="228600"/>
          </a:xfrm>
        </p:grpSpPr>
        <p:sp>
          <p:nvSpPr>
            <p:cNvPr id="11" name="node02.label"/>
            <p:cNvSpPr/>
            <p:nvPr/>
          </p:nvSpPr>
          <p:spPr>
            <a:xfrm>
              <a:off x="8039100" y="2286000"/>
              <a:ext cx="822449"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OVERALL GOAL</a:t>
              </a:r>
              <a:endParaRPr lang="en-US" sz="800" spc="48" kern="0" b="0" i="0" dirty="0">
                <a:solidFill>
                  <a:srgbClr val="50658E"/>
                </a:solidFill>
                <a:latin typeface="IBM Plex Mono Medium"/>
                <a:ea typeface="IBM Plex Mono Medium"/>
                <a:cs typeface="IBM Plex Mono Medium"/>
              </a:endParaRPr>
            </a:p>
          </p:txBody>
        </p:sp>
        <p:sp>
          <p:nvSpPr>
            <p:cNvPr id="12" name="node02.rule"/>
            <p:cNvSpPr/>
            <p:nvPr/>
          </p:nvSpPr>
          <p:spPr>
            <a:xfrm>
              <a:off x="8988549" y="2395538"/>
              <a:ext cx="2479551" cy="9525"/>
            </a:xfrm>
            <a:prstGeom prst="rect">
              <a:avLst/>
            </a:prstGeom>
            <a:solidFill>
              <a:srgbClr val="CED7E6"/>
            </a:solidFill>
            <a:ln>
              <a:noFill/>
            </a:ln>
          </p:spPr>
        </p:sp>
      </p:grpSp>
      <p:sp>
        <p:nvSpPr>
          <p:cNvPr id="13" name="node03"/>
          <p:cNvSpPr/>
          <p:nvPr/>
        </p:nvSpPr>
        <p:spPr>
          <a:xfrm>
            <a:off x="8039100" y="2514600"/>
            <a:ext cx="3429000" cy="9525"/>
          </a:xfrm>
          <a:prstGeom prst="rect">
            <a:avLst/>
          </a:prstGeom>
          <a:solidFill>
            <a:srgbClr val="CED7E6"/>
          </a:solidFill>
          <a:ln>
            <a:noFill/>
          </a:ln>
        </p:spPr>
      </p:sp>
      <p:grpSp>
        <p:nvGrpSpPr>
          <p:cNvPr id="35" name="node04"/>
          <p:cNvGrpSpPr/>
          <p:nvPr/>
        </p:nvGrpSpPr>
        <p:grpSpPr>
          <a:xfrm>
            <a:off x="8039100" y="2590800"/>
            <a:ext cx="3429000" cy="381000"/>
            <a:chOff x="8039100" y="2590800"/>
            <a:chExt cx="3429000" cy="381000"/>
          </a:xfrm>
        </p:grpSpPr>
        <p:sp>
          <p:nvSpPr>
            <p:cNvPr id="14" name="node04.text"/>
            <p:cNvSpPr/>
            <p:nvPr/>
          </p:nvSpPr>
          <p:spPr>
            <a:xfrm>
              <a:off x="8039100" y="25908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Agree and commit to one future-state design for patient access.</a:t>
              </a:r>
              <a:endParaRPr lang="en-US" sz="1100" spc="0" kern="0" b="0" i="0" dirty="0">
                <a:solidFill>
                  <a:srgbClr val="070154"/>
                </a:solidFill>
                <a:latin typeface="IBM Plex Sans"/>
                <a:ea typeface="IBM Plex Sans"/>
                <a:cs typeface="IBM Plex Sans"/>
              </a:endParaRPr>
            </a:p>
          </p:txBody>
        </p:sp>
      </p:grpSp>
      <p:grpSp>
        <p:nvGrpSpPr>
          <p:cNvPr id="36" name="node05"/>
          <p:cNvGrpSpPr/>
          <p:nvPr/>
        </p:nvGrpSpPr>
        <p:grpSpPr>
          <a:xfrm>
            <a:off x="8039100" y="3429000"/>
            <a:ext cx="3429000" cy="228600"/>
            <a:chOff x="8039100" y="3429000"/>
            <a:chExt cx="3429000" cy="228600"/>
          </a:xfrm>
        </p:grpSpPr>
        <p:sp>
          <p:nvSpPr>
            <p:cNvPr id="15" name="node05.label"/>
            <p:cNvSpPr/>
            <p:nvPr/>
          </p:nvSpPr>
          <p:spPr>
            <a:xfrm>
              <a:off x="8039100" y="3429000"/>
              <a:ext cx="62318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LOGISTICS</a:t>
              </a:r>
              <a:endParaRPr lang="en-US" sz="800" spc="48" kern="0" b="0" i="0" dirty="0">
                <a:solidFill>
                  <a:srgbClr val="50658E"/>
                </a:solidFill>
                <a:latin typeface="IBM Plex Mono Medium"/>
                <a:ea typeface="IBM Plex Mono Medium"/>
                <a:cs typeface="IBM Plex Mono Medium"/>
              </a:endParaRPr>
            </a:p>
          </p:txBody>
        </p:sp>
        <p:sp>
          <p:nvSpPr>
            <p:cNvPr id="16" name="node05.rule"/>
            <p:cNvSpPr/>
            <p:nvPr/>
          </p:nvSpPr>
          <p:spPr>
            <a:xfrm>
              <a:off x="8789287" y="3538538"/>
              <a:ext cx="2678813" cy="9525"/>
            </a:xfrm>
            <a:prstGeom prst="rect">
              <a:avLst/>
            </a:prstGeom>
            <a:solidFill>
              <a:srgbClr val="CED7E6"/>
            </a:solidFill>
            <a:ln>
              <a:noFill/>
            </a:ln>
          </p:spPr>
        </p:sp>
      </p:grpSp>
      <p:sp>
        <p:nvSpPr>
          <p:cNvPr id="17" name="node06"/>
          <p:cNvSpPr/>
          <p:nvPr/>
        </p:nvSpPr>
        <p:spPr>
          <a:xfrm>
            <a:off x="8039100" y="3657600"/>
            <a:ext cx="3429000" cy="9525"/>
          </a:xfrm>
          <a:prstGeom prst="rect">
            <a:avLst/>
          </a:prstGeom>
          <a:solidFill>
            <a:srgbClr val="CED7E6"/>
          </a:solidFill>
          <a:ln>
            <a:noFill/>
          </a:ln>
        </p:spPr>
      </p:sp>
      <p:grpSp>
        <p:nvGrpSpPr>
          <p:cNvPr id="37" name="node07"/>
          <p:cNvGrpSpPr/>
          <p:nvPr/>
        </p:nvGrpSpPr>
        <p:grpSpPr>
          <a:xfrm>
            <a:off x="8039100" y="3733800"/>
            <a:ext cx="3429000" cy="723900"/>
            <a:chOff x="8039100" y="3733800"/>
            <a:chExt cx="3429000" cy="723900"/>
          </a:xfrm>
        </p:grpSpPr>
        <p:sp>
          <p:nvSpPr>
            <p:cNvPr id="18" name="node07.source-001.bullet"/>
            <p:cNvSpPr/>
            <p:nvPr/>
          </p:nvSpPr>
          <p:spPr>
            <a:xfrm>
              <a:off x="8039100" y="3822700"/>
              <a:ext cx="38100" cy="38100"/>
            </a:xfrm>
            <a:prstGeom prst="rect">
              <a:avLst/>
            </a:prstGeom>
            <a:solidFill>
              <a:srgbClr val="070154"/>
            </a:solidFill>
            <a:ln>
              <a:noFill/>
            </a:ln>
          </p:spPr>
        </p:sp>
        <p:sp>
          <p:nvSpPr>
            <p:cNvPr id="19" name="node07.source-001.text"/>
            <p:cNvSpPr/>
            <p:nvPr/>
          </p:nvSpPr>
          <p:spPr>
            <a:xfrm>
              <a:off x="8191500" y="3733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 person: Northfield HQ, room 4B</a:t>
              </a:r>
              <a:endParaRPr lang="en-US" sz="1200" spc="0" kern="0" b="0" i="0" dirty="0">
                <a:solidFill>
                  <a:srgbClr val="070154"/>
                </a:solidFill>
                <a:latin typeface="IBM Plex Sans"/>
                <a:ea typeface="IBM Plex Sans"/>
                <a:cs typeface="IBM Plex Sans"/>
              </a:endParaRPr>
            </a:p>
          </p:txBody>
        </p:sp>
        <p:sp>
          <p:nvSpPr>
            <p:cNvPr id="20" name="node07.source-002.bullet"/>
            <p:cNvSpPr/>
            <p:nvPr/>
          </p:nvSpPr>
          <p:spPr>
            <a:xfrm>
              <a:off x="8039100" y="4076700"/>
              <a:ext cx="38100" cy="38100"/>
            </a:xfrm>
            <a:prstGeom prst="rect">
              <a:avLst/>
            </a:prstGeom>
            <a:solidFill>
              <a:srgbClr val="070154"/>
            </a:solidFill>
            <a:ln>
              <a:noFill/>
            </a:ln>
          </p:spPr>
        </p:sp>
        <p:sp>
          <p:nvSpPr>
            <p:cNvPr id="21" name="node07.source-002.text"/>
            <p:cNvSpPr/>
            <p:nvPr/>
          </p:nvSpPr>
          <p:spPr>
            <a:xfrm>
              <a:off x="8191500" y="3987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Remote: video bridge, shared board</a:t>
              </a:r>
              <a:endParaRPr lang="en-US" sz="1200" spc="0" kern="0" b="0" i="0" dirty="0">
                <a:solidFill>
                  <a:srgbClr val="070154"/>
                </a:solidFill>
                <a:latin typeface="IBM Plex Sans"/>
                <a:ea typeface="IBM Plex Sans"/>
                <a:cs typeface="IBM Plex Sans"/>
              </a:endParaRPr>
            </a:p>
          </p:txBody>
        </p:sp>
        <p:sp>
          <p:nvSpPr>
            <p:cNvPr id="22" name="node07.source-003.bullet"/>
            <p:cNvSpPr/>
            <p:nvPr/>
          </p:nvSpPr>
          <p:spPr>
            <a:xfrm>
              <a:off x="8039100" y="4330700"/>
              <a:ext cx="38100" cy="38100"/>
            </a:xfrm>
            <a:prstGeom prst="rect">
              <a:avLst/>
            </a:prstGeom>
            <a:solidFill>
              <a:srgbClr val="070154"/>
            </a:solidFill>
            <a:ln>
              <a:noFill/>
            </a:ln>
          </p:spPr>
        </p:sp>
        <p:sp>
          <p:nvSpPr>
            <p:cNvPr id="23" name="node07.source-003.text"/>
            <p:cNvSpPr/>
            <p:nvPr/>
          </p:nvSpPr>
          <p:spPr>
            <a:xfrm>
              <a:off x="8191500" y="4241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Hybrid blocks run both at once</a:t>
              </a:r>
              <a:endParaRPr lang="en-US" sz="1200" spc="0" kern="0" b="0" i="0" dirty="0">
                <a:solidFill>
                  <a:srgbClr val="070154"/>
                </a:solidFill>
                <a:latin typeface="IBM Plex Sans"/>
                <a:ea typeface="IBM Plex Sans"/>
                <a:cs typeface="IBM Plex Sans"/>
              </a:endParaRPr>
            </a:p>
          </p:txBody>
        </p:sp>
      </p:grpSp>
      <p:grpSp>
        <p:nvGrpSpPr>
          <p:cNvPr id="38" name="node08"/>
          <p:cNvGrpSpPr/>
          <p:nvPr/>
        </p:nvGrpSpPr>
        <p:grpSpPr>
          <a:xfrm>
            <a:off x="8039100" y="4724400"/>
            <a:ext cx="3429000" cy="228600"/>
            <a:chOff x="8039100" y="4724400"/>
            <a:chExt cx="3429000" cy="228600"/>
          </a:xfrm>
        </p:grpSpPr>
        <p:sp>
          <p:nvSpPr>
            <p:cNvPr id="24" name="node08.label"/>
            <p:cNvSpPr/>
            <p:nvPr/>
          </p:nvSpPr>
          <p:spPr>
            <a:xfrm>
              <a:off x="8039100" y="4724400"/>
              <a:ext cx="1486657"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WHO JOINS AND PRE-WORK</a:t>
              </a:r>
              <a:endParaRPr lang="en-US" sz="800" spc="48" kern="0" b="0" i="0" dirty="0">
                <a:solidFill>
                  <a:srgbClr val="50658E"/>
                </a:solidFill>
                <a:latin typeface="IBM Plex Mono Medium"/>
                <a:ea typeface="IBM Plex Mono Medium"/>
                <a:cs typeface="IBM Plex Mono Medium"/>
              </a:endParaRPr>
            </a:p>
          </p:txBody>
        </p:sp>
        <p:sp>
          <p:nvSpPr>
            <p:cNvPr id="25" name="node08.rule"/>
            <p:cNvSpPr/>
            <p:nvPr/>
          </p:nvSpPr>
          <p:spPr>
            <a:xfrm>
              <a:off x="9652757" y="4833938"/>
              <a:ext cx="1815343" cy="9525"/>
            </a:xfrm>
            <a:prstGeom prst="rect">
              <a:avLst/>
            </a:prstGeom>
            <a:solidFill>
              <a:srgbClr val="CED7E6"/>
            </a:solidFill>
            <a:ln>
              <a:noFill/>
            </a:ln>
          </p:spPr>
        </p:sp>
      </p:grpSp>
      <p:sp>
        <p:nvSpPr>
          <p:cNvPr id="26" name="node09"/>
          <p:cNvSpPr/>
          <p:nvPr/>
        </p:nvSpPr>
        <p:spPr>
          <a:xfrm>
            <a:off x="8039100" y="4953000"/>
            <a:ext cx="3429000" cy="9525"/>
          </a:xfrm>
          <a:prstGeom prst="rect">
            <a:avLst/>
          </a:prstGeom>
          <a:solidFill>
            <a:srgbClr val="CED7E6"/>
          </a:solidFill>
          <a:ln>
            <a:noFill/>
          </a:ln>
        </p:spPr>
      </p:sp>
      <p:grpSp>
        <p:nvGrpSpPr>
          <p:cNvPr id="39" name="node10"/>
          <p:cNvGrpSpPr/>
          <p:nvPr/>
        </p:nvGrpSpPr>
        <p:grpSpPr>
          <a:xfrm>
            <a:off x="8039100" y="5029200"/>
            <a:ext cx="3429000" cy="723900"/>
            <a:chOff x="8039100" y="5029200"/>
            <a:chExt cx="3429000" cy="723900"/>
          </a:xfrm>
        </p:grpSpPr>
        <p:sp>
          <p:nvSpPr>
            <p:cNvPr id="27" name="node10.source-001.bullet"/>
            <p:cNvSpPr/>
            <p:nvPr/>
          </p:nvSpPr>
          <p:spPr>
            <a:xfrm>
              <a:off x="8039100" y="5118100"/>
              <a:ext cx="38100" cy="38100"/>
            </a:xfrm>
            <a:prstGeom prst="rect">
              <a:avLst/>
            </a:prstGeom>
            <a:solidFill>
              <a:srgbClr val="070154"/>
            </a:solidFill>
            <a:ln>
              <a:noFill/>
            </a:ln>
          </p:spPr>
        </p:sp>
        <p:sp>
          <p:nvSpPr>
            <p:cNvPr id="28" name="node10.source-001.text"/>
            <p:cNvSpPr/>
            <p:nvPr/>
          </p:nvSpPr>
          <p:spPr>
            <a:xfrm>
              <a:off x="8191500" y="5029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Core group of 14, plus eight remote leads</a:t>
              </a:r>
              <a:endParaRPr lang="en-US" sz="1200" spc="0" kern="0" b="0" i="0" dirty="0">
                <a:solidFill>
                  <a:srgbClr val="070154"/>
                </a:solidFill>
                <a:latin typeface="IBM Plex Sans"/>
                <a:ea typeface="IBM Plex Sans"/>
                <a:cs typeface="IBM Plex Sans"/>
              </a:endParaRPr>
            </a:p>
          </p:txBody>
        </p:sp>
        <p:sp>
          <p:nvSpPr>
            <p:cNvPr id="29" name="node10.source-002.bullet"/>
            <p:cNvSpPr/>
            <p:nvPr/>
          </p:nvSpPr>
          <p:spPr>
            <a:xfrm>
              <a:off x="8039100" y="5372100"/>
              <a:ext cx="38100" cy="38100"/>
            </a:xfrm>
            <a:prstGeom prst="rect">
              <a:avLst/>
            </a:prstGeom>
            <a:solidFill>
              <a:srgbClr val="070154"/>
            </a:solidFill>
            <a:ln>
              <a:noFill/>
            </a:ln>
          </p:spPr>
        </p:sp>
        <p:sp>
          <p:nvSpPr>
            <p:cNvPr id="30" name="node10.source-002.text"/>
            <p:cNvSpPr/>
            <p:nvPr/>
          </p:nvSpPr>
          <p:spPr>
            <a:xfrm>
              <a:off x="8191500" y="5283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Test the video link by Oct 30</a:t>
              </a:r>
              <a:endParaRPr lang="en-US" sz="1200" spc="0" kern="0" b="0" i="0" dirty="0">
                <a:solidFill>
                  <a:srgbClr val="070154"/>
                </a:solidFill>
                <a:latin typeface="IBM Plex Sans"/>
                <a:ea typeface="IBM Plex Sans"/>
                <a:cs typeface="IBM Plex Sans"/>
              </a:endParaRPr>
            </a:p>
          </p:txBody>
        </p:sp>
        <p:sp>
          <p:nvSpPr>
            <p:cNvPr id="31" name="node10.source-003.bullet"/>
            <p:cNvSpPr/>
            <p:nvPr/>
          </p:nvSpPr>
          <p:spPr>
            <a:xfrm>
              <a:off x="8039100" y="5626100"/>
              <a:ext cx="38100" cy="38100"/>
            </a:xfrm>
            <a:prstGeom prst="rect">
              <a:avLst/>
            </a:prstGeom>
            <a:solidFill>
              <a:srgbClr val="070154"/>
            </a:solidFill>
            <a:ln>
              <a:noFill/>
            </a:ln>
          </p:spPr>
        </p:sp>
        <p:sp>
          <p:nvSpPr>
            <p:cNvPr id="32" name="node10.source-003.text"/>
            <p:cNvSpPr/>
            <p:nvPr/>
          </p:nvSpPr>
          <p:spPr>
            <a:xfrm>
              <a:off x="8191500" y="5537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Bring one failed-visit example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ource-47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5712305" y="733532"/>
            <a:ext cx="139269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One runbook governs every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wave 1</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cutover decision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184</a:t>
            </a:fld>
            <a:endParaRPr lang="en-US" sz="700" spc="0" kern="0" b="0" i="0" dirty="0">
              <a:solidFill>
                <a:srgbClr val="070154"/>
              </a:solidFill>
              <a:latin typeface="IBM Plex Mono SemiBold"/>
              <a:ea typeface="IBM Plex Mono SemiBold"/>
              <a:cs typeface="IBM Plex Mono SemiBold"/>
            </a:endParaRPr>
          </a:p>
        </p:txBody>
      </p:sp>
      <p:grpSp>
        <p:nvGrpSpPr>
          <p:cNvPr id="42" name="node01"/>
          <p:cNvGrpSpPr/>
          <p:nvPr/>
        </p:nvGrpSpPr>
        <p:grpSpPr>
          <a:xfrm>
            <a:off x="723900" y="1600200"/>
            <a:ext cx="3429000" cy="139700"/>
            <a:chOff x="723900" y="1600200"/>
            <a:chExt cx="3429000" cy="139700"/>
          </a:xfrm>
        </p:grpSpPr>
        <p:sp>
          <p:nvSpPr>
            <p:cNvPr id="7" name="node01.text"/>
            <p:cNvSpPr/>
            <p:nvPr/>
          </p:nvSpPr>
          <p:spPr>
            <a:xfrm>
              <a:off x="7239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PURPOSE</a:t>
              </a:r>
              <a:endParaRPr lang="en-US" sz="800" spc="48" kern="0" b="0" i="0" dirty="0">
                <a:solidFill>
                  <a:srgbClr val="0047FF"/>
                </a:solidFill>
                <a:latin typeface="IBM Plex Mono Medium"/>
                <a:ea typeface="IBM Plex Mono Medium"/>
                <a:cs typeface="IBM Plex Mono Medium"/>
              </a:endParaRPr>
            </a:p>
          </p:txBody>
        </p:sp>
      </p:grpSp>
      <p:grpSp>
        <p:nvGrpSpPr>
          <p:cNvPr id="43" name="node02"/>
          <p:cNvGrpSpPr/>
          <p:nvPr/>
        </p:nvGrpSpPr>
        <p:grpSpPr>
          <a:xfrm>
            <a:off x="723900" y="1828800"/>
            <a:ext cx="3429000" cy="381000"/>
            <a:chOff x="723900" y="1828800"/>
            <a:chExt cx="3429000" cy="381000"/>
          </a:xfrm>
        </p:grpSpPr>
        <p:sp>
          <p:nvSpPr>
            <p:cNvPr id="8" name="node02.text"/>
            <p:cNvSpPr/>
            <p:nvPr/>
          </p:nvSpPr>
          <p:spPr>
            <a:xfrm>
              <a:off x="723900" y="18288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Move close and consolidation to the new ledger over one weekend, with a tested way back at every step.</a:t>
              </a:r>
              <a:endParaRPr lang="en-US" sz="1100" spc="0" kern="0" b="0" i="0" dirty="0">
                <a:solidFill>
                  <a:srgbClr val="070154"/>
                </a:solidFill>
                <a:latin typeface="IBM Plex Sans"/>
                <a:ea typeface="IBM Plex Sans"/>
                <a:cs typeface="IBM Plex Sans"/>
              </a:endParaRPr>
            </a:p>
          </p:txBody>
        </p:sp>
      </p:grpSp>
      <p:grpSp>
        <p:nvGrpSpPr>
          <p:cNvPr id="44" name="node03"/>
          <p:cNvGrpSpPr/>
          <p:nvPr/>
        </p:nvGrpSpPr>
        <p:grpSpPr>
          <a:xfrm>
            <a:off x="723900" y="2743200"/>
            <a:ext cx="3429000" cy="139700"/>
            <a:chOff x="723900" y="2743200"/>
            <a:chExt cx="3429000" cy="139700"/>
          </a:xfrm>
        </p:grpSpPr>
        <p:sp>
          <p:nvSpPr>
            <p:cNvPr id="9" name="node03.text"/>
            <p:cNvSpPr/>
            <p:nvPr/>
          </p:nvSpPr>
          <p:spPr>
            <a:xfrm>
              <a:off x="723900" y="2743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SCOPE</a:t>
              </a:r>
              <a:endParaRPr lang="en-US" sz="800" spc="48" kern="0" b="0" i="0" dirty="0">
                <a:solidFill>
                  <a:srgbClr val="0047FF"/>
                </a:solidFill>
                <a:latin typeface="IBM Plex Mono Medium"/>
                <a:ea typeface="IBM Plex Mono Medium"/>
                <a:cs typeface="IBM Plex Mono Medium"/>
              </a:endParaRPr>
            </a:p>
          </p:txBody>
        </p:sp>
      </p:grpSp>
      <p:grpSp>
        <p:nvGrpSpPr>
          <p:cNvPr id="45" name="node04"/>
          <p:cNvGrpSpPr/>
          <p:nvPr/>
        </p:nvGrpSpPr>
        <p:grpSpPr>
          <a:xfrm>
            <a:off x="723900" y="2971800"/>
            <a:ext cx="3429000" cy="723900"/>
            <a:chOff x="723900" y="2971800"/>
            <a:chExt cx="3429000" cy="723900"/>
          </a:xfrm>
        </p:grpSpPr>
        <p:sp>
          <p:nvSpPr>
            <p:cNvPr id="10" name="node04.source-001.bullet"/>
            <p:cNvSpPr/>
            <p:nvPr/>
          </p:nvSpPr>
          <p:spPr>
            <a:xfrm>
              <a:off x="723900" y="3060700"/>
              <a:ext cx="38100" cy="38100"/>
            </a:xfrm>
            <a:prstGeom prst="rect">
              <a:avLst/>
            </a:prstGeom>
            <a:solidFill>
              <a:srgbClr val="070154"/>
            </a:solidFill>
            <a:ln>
              <a:noFill/>
            </a:ln>
          </p:spPr>
        </p:sp>
        <p:sp>
          <p:nvSpPr>
            <p:cNvPr id="11" name="node04.source-001.text"/>
            <p:cNvSpPr/>
            <p:nvPr/>
          </p:nvSpPr>
          <p:spPr>
            <a:xfrm>
              <a:off x="876300" y="2971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General ledger and subledgers</a:t>
              </a:r>
              <a:endParaRPr lang="en-US" sz="1200" spc="0" kern="0" b="0" i="0" dirty="0">
                <a:solidFill>
                  <a:srgbClr val="070154"/>
                </a:solidFill>
                <a:latin typeface="IBM Plex Sans"/>
                <a:ea typeface="IBM Plex Sans"/>
                <a:cs typeface="IBM Plex Sans"/>
              </a:endParaRPr>
            </a:p>
          </p:txBody>
        </p:sp>
        <p:sp>
          <p:nvSpPr>
            <p:cNvPr id="12" name="node04.source-002.bullet"/>
            <p:cNvSpPr/>
            <p:nvPr/>
          </p:nvSpPr>
          <p:spPr>
            <a:xfrm>
              <a:off x="723900" y="3314700"/>
              <a:ext cx="38100" cy="38100"/>
            </a:xfrm>
            <a:prstGeom prst="rect">
              <a:avLst/>
            </a:prstGeom>
            <a:solidFill>
              <a:srgbClr val="070154"/>
            </a:solidFill>
            <a:ln>
              <a:noFill/>
            </a:ln>
          </p:spPr>
        </p:sp>
        <p:sp>
          <p:nvSpPr>
            <p:cNvPr id="13" name="node04.source-002.text"/>
            <p:cNvSpPr/>
            <p:nvPr/>
          </p:nvSpPr>
          <p:spPr>
            <a:xfrm>
              <a:off x="876300" y="3225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Bank and intercompany interfaces</a:t>
              </a:r>
              <a:endParaRPr lang="en-US" sz="1200" spc="0" kern="0" b="0" i="0" dirty="0">
                <a:solidFill>
                  <a:srgbClr val="070154"/>
                </a:solidFill>
                <a:latin typeface="IBM Plex Sans"/>
                <a:ea typeface="IBM Plex Sans"/>
                <a:cs typeface="IBM Plex Sans"/>
              </a:endParaRPr>
            </a:p>
          </p:txBody>
        </p:sp>
        <p:sp>
          <p:nvSpPr>
            <p:cNvPr id="14" name="node04.source-003.bullet"/>
            <p:cNvSpPr/>
            <p:nvPr/>
          </p:nvSpPr>
          <p:spPr>
            <a:xfrm>
              <a:off x="723900" y="3568700"/>
              <a:ext cx="38100" cy="38100"/>
            </a:xfrm>
            <a:prstGeom prst="rect">
              <a:avLst/>
            </a:prstGeom>
            <a:solidFill>
              <a:srgbClr val="070154"/>
            </a:solidFill>
            <a:ln>
              <a:noFill/>
            </a:ln>
          </p:spPr>
        </p:sp>
        <p:sp>
          <p:nvSpPr>
            <p:cNvPr id="15" name="node04.source-003.text"/>
            <p:cNvSpPr/>
            <p:nvPr/>
          </p:nvSpPr>
          <p:spPr>
            <a:xfrm>
              <a:off x="876300" y="3479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Excludes planning and reporting</a:t>
              </a:r>
              <a:endParaRPr lang="en-US" sz="1200" spc="0" kern="0" b="0" i="0" dirty="0">
                <a:solidFill>
                  <a:srgbClr val="070154"/>
                </a:solidFill>
                <a:latin typeface="IBM Plex Sans"/>
                <a:ea typeface="IBM Plex Sans"/>
                <a:cs typeface="IBM Plex Sans"/>
              </a:endParaRPr>
            </a:p>
          </p:txBody>
        </p:sp>
      </p:grpSp>
      <p:grpSp>
        <p:nvGrpSpPr>
          <p:cNvPr id="46" name="node05"/>
          <p:cNvGrpSpPr/>
          <p:nvPr/>
        </p:nvGrpSpPr>
        <p:grpSpPr>
          <a:xfrm>
            <a:off x="4381500" y="1600200"/>
            <a:ext cx="7086600" cy="1778000"/>
            <a:chOff x="4381500" y="1600200"/>
            <a:chExt cx="7086600" cy="1778000"/>
          </a:xfrm>
        </p:grpSpPr>
        <p:graphicFrame>
          <p:nvGraphicFramePr>
            <p:cNvPr id="16" name="node05.native"/>
            <p:cNvGraphicFramePr>
              <a:graphicFrameLocks noGrp="1"/>
            </p:cNvGraphicFramePr>
            <p:nvPr>
              <p:extLst>
                <p:ext uri="{D42A27DB-BD31-4B8C-83A1-F6EECF244321}">
                  <p14:modId xmlns:p14="http://schemas.microsoft.com/office/powerpoint/2010/main" val="1579011935"/>
                </p:ext>
              </p:extLst>
            </p:nvPr>
          </p:nvGraphicFramePr>
          <p:xfrm>
            <a:off x="4381500" y="1600200"/>
            <a:ext cx="7086600" cy="1778000"/>
          </p:xfrm>
          <a:graphic>
            <a:graphicData uri="http://schemas.openxmlformats.org/drawingml/2006/table">
              <a:tbl>
                <a:tblPr/>
                <a:tblGrid>
                  <a:gridCol w="1828800"/>
                  <a:gridCol w="1600200"/>
                  <a:gridCol w="36576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ROLE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HELD BY</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ACCOUNTABLE FOR</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Cutover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Program director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Runs the bridge; calls go or no-go</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Ledger owner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Controller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Signs balances; opens the ledger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Technical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Finance IT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Runs loads and interface switch</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Support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Shared services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User comms and hypercare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47" name="node06"/>
          <p:cNvGrpSpPr/>
          <p:nvPr/>
        </p:nvGrpSpPr>
        <p:grpSpPr>
          <a:xfrm>
            <a:off x="4381500" y="3657600"/>
            <a:ext cx="3429000" cy="914400"/>
            <a:chOff x="4381500" y="3657600"/>
            <a:chExt cx="3429000" cy="914400"/>
          </a:xfrm>
        </p:grpSpPr>
        <p:sp>
          <p:nvSpPr>
            <p:cNvPr id="17" name="node06.container"/>
            <p:cNvSpPr/>
            <p:nvPr/>
          </p:nvSpPr>
          <p:spPr>
            <a:xfrm>
              <a:off x="4381500" y="3657600"/>
              <a:ext cx="3429000" cy="914400"/>
            </a:xfrm>
            <a:prstGeom prst="rect">
              <a:avLst/>
            </a:prstGeom>
            <a:solidFill>
              <a:srgbClr val="E8EEF8"/>
            </a:solidFill>
            <a:ln>
              <a:noFill/>
            </a:ln>
          </p:spPr>
        </p:sp>
        <p:sp>
          <p:nvSpPr>
            <p:cNvPr id="18" name="node06.label"/>
            <p:cNvSpPr/>
            <p:nvPr/>
          </p:nvSpPr>
          <p:spPr>
            <a:xfrm>
              <a:off x="4495800" y="37719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ENTRY CRITERIA</a:t>
              </a:r>
              <a:endParaRPr lang="en-US" sz="800" spc="48" kern="0" b="0" i="0" dirty="0">
                <a:solidFill>
                  <a:srgbClr val="0047FF"/>
                </a:solidFill>
                <a:latin typeface="IBM Plex Mono Medium"/>
                <a:ea typeface="IBM Plex Mono Medium"/>
                <a:cs typeface="IBM Plex Mono Medium"/>
              </a:endParaRPr>
            </a:p>
          </p:txBody>
        </p:sp>
        <p:sp>
          <p:nvSpPr>
            <p:cNvPr id="19" name="node06.body.item-001.bullets.item-001.marker"/>
            <p:cNvSpPr/>
            <p:nvPr/>
          </p:nvSpPr>
          <p:spPr>
            <a:xfrm>
              <a:off x="4495800" y="4076700"/>
              <a:ext cx="38100" cy="38100"/>
            </a:xfrm>
            <a:prstGeom prst="rect">
              <a:avLst/>
            </a:prstGeom>
            <a:solidFill>
              <a:srgbClr val="070154"/>
            </a:solidFill>
            <a:ln>
              <a:noFill/>
            </a:ln>
          </p:spPr>
        </p:sp>
        <p:sp>
          <p:nvSpPr>
            <p:cNvPr id="20" name="node06.body.item-001.bullets.item-001.text"/>
            <p:cNvSpPr/>
            <p:nvPr/>
          </p:nvSpPr>
          <p:spPr>
            <a:xfrm>
              <a:off x="4648200" y="3987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Dress rehearsal signed off</a:t>
              </a:r>
              <a:endParaRPr lang="en-US" sz="1200" spc="0" kern="0" b="0" i="0" dirty="0">
                <a:solidFill>
                  <a:srgbClr val="070154"/>
                </a:solidFill>
                <a:latin typeface="IBM Plex Sans"/>
                <a:ea typeface="IBM Plex Sans"/>
                <a:cs typeface="IBM Plex Sans"/>
              </a:endParaRPr>
            </a:p>
          </p:txBody>
        </p:sp>
        <p:sp>
          <p:nvSpPr>
            <p:cNvPr id="21" name="node06.body.item-001.bullets.item-002.marker"/>
            <p:cNvSpPr/>
            <p:nvPr/>
          </p:nvSpPr>
          <p:spPr>
            <a:xfrm>
              <a:off x="4495800" y="4330700"/>
              <a:ext cx="38100" cy="38100"/>
            </a:xfrm>
            <a:prstGeom prst="rect">
              <a:avLst/>
            </a:prstGeom>
            <a:solidFill>
              <a:srgbClr val="070154"/>
            </a:solidFill>
            <a:ln>
              <a:noFill/>
            </a:ln>
          </p:spPr>
        </p:sp>
        <p:sp>
          <p:nvSpPr>
            <p:cNvPr id="22" name="node06.body.item-001.bullets.item-002.text"/>
            <p:cNvSpPr/>
            <p:nvPr/>
          </p:nvSpPr>
          <p:spPr>
            <a:xfrm>
              <a:off x="4648200" y="4241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Rollback plan approved</a:t>
              </a:r>
              <a:endParaRPr lang="en-US" sz="1200" spc="0" kern="0" b="0" i="0" dirty="0">
                <a:solidFill>
                  <a:srgbClr val="070154"/>
                </a:solidFill>
                <a:latin typeface="IBM Plex Sans"/>
                <a:ea typeface="IBM Plex Sans"/>
                <a:cs typeface="IBM Plex Sans"/>
              </a:endParaRPr>
            </a:p>
          </p:txBody>
        </p:sp>
      </p:grpSp>
      <p:grpSp>
        <p:nvGrpSpPr>
          <p:cNvPr id="48" name="node07"/>
          <p:cNvGrpSpPr/>
          <p:nvPr/>
        </p:nvGrpSpPr>
        <p:grpSpPr>
          <a:xfrm>
            <a:off x="8039100" y="3657600"/>
            <a:ext cx="3429000" cy="914400"/>
            <a:chOff x="8039100" y="3657600"/>
            <a:chExt cx="3429000" cy="914400"/>
          </a:xfrm>
        </p:grpSpPr>
        <p:sp>
          <p:nvSpPr>
            <p:cNvPr id="23" name="node07.container"/>
            <p:cNvSpPr/>
            <p:nvPr/>
          </p:nvSpPr>
          <p:spPr>
            <a:xfrm>
              <a:off x="8039100" y="3657600"/>
              <a:ext cx="3429000" cy="914400"/>
            </a:xfrm>
            <a:prstGeom prst="rect">
              <a:avLst/>
            </a:prstGeom>
            <a:solidFill>
              <a:srgbClr val="E8EEF8"/>
            </a:solidFill>
            <a:ln>
              <a:noFill/>
            </a:ln>
          </p:spPr>
        </p:sp>
        <p:sp>
          <p:nvSpPr>
            <p:cNvPr id="24" name="node07.label"/>
            <p:cNvSpPr/>
            <p:nvPr/>
          </p:nvSpPr>
          <p:spPr>
            <a:xfrm>
              <a:off x="8153400" y="37719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EXIT CRITERIA</a:t>
              </a:r>
              <a:endParaRPr lang="en-US" sz="800" spc="48" kern="0" b="0" i="0" dirty="0">
                <a:solidFill>
                  <a:srgbClr val="0047FF"/>
                </a:solidFill>
                <a:latin typeface="IBM Plex Mono Medium"/>
                <a:ea typeface="IBM Plex Mono Medium"/>
                <a:cs typeface="IBM Plex Mono Medium"/>
              </a:endParaRPr>
            </a:p>
          </p:txBody>
        </p:sp>
        <p:sp>
          <p:nvSpPr>
            <p:cNvPr id="25" name="node07.body.item-001.bullets.item-001.marker"/>
            <p:cNvSpPr/>
            <p:nvPr/>
          </p:nvSpPr>
          <p:spPr>
            <a:xfrm>
              <a:off x="8153400" y="4076700"/>
              <a:ext cx="38100" cy="38100"/>
            </a:xfrm>
            <a:prstGeom prst="rect">
              <a:avLst/>
            </a:prstGeom>
            <a:solidFill>
              <a:srgbClr val="070154"/>
            </a:solidFill>
            <a:ln>
              <a:noFill/>
            </a:ln>
          </p:spPr>
        </p:sp>
        <p:sp>
          <p:nvSpPr>
            <p:cNvPr id="26" name="node07.body.item-001.bullets.item-001.text"/>
            <p:cNvSpPr/>
            <p:nvPr/>
          </p:nvSpPr>
          <p:spPr>
            <a:xfrm>
              <a:off x="8305800" y="3987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Day 1 postings reconciled</a:t>
              </a:r>
              <a:endParaRPr lang="en-US" sz="1200" spc="0" kern="0" b="0" i="0" dirty="0">
                <a:solidFill>
                  <a:srgbClr val="070154"/>
                </a:solidFill>
                <a:latin typeface="IBM Plex Sans"/>
                <a:ea typeface="IBM Plex Sans"/>
                <a:cs typeface="IBM Plex Sans"/>
              </a:endParaRPr>
            </a:p>
          </p:txBody>
        </p:sp>
        <p:sp>
          <p:nvSpPr>
            <p:cNvPr id="27" name="node07.body.item-001.bullets.item-002.marker"/>
            <p:cNvSpPr/>
            <p:nvPr/>
          </p:nvSpPr>
          <p:spPr>
            <a:xfrm>
              <a:off x="8153400" y="4330700"/>
              <a:ext cx="38100" cy="38100"/>
            </a:xfrm>
            <a:prstGeom prst="rect">
              <a:avLst/>
            </a:prstGeom>
            <a:solidFill>
              <a:srgbClr val="070154"/>
            </a:solidFill>
            <a:ln>
              <a:noFill/>
            </a:ln>
          </p:spPr>
        </p:sp>
        <p:sp>
          <p:nvSpPr>
            <p:cNvPr id="28" name="node07.body.item-001.bullets.item-002.text"/>
            <p:cNvSpPr/>
            <p:nvPr/>
          </p:nvSpPr>
          <p:spPr>
            <a:xfrm>
              <a:off x="8305800" y="4241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Hypercare handover accepted</a:t>
              </a:r>
              <a:endParaRPr lang="en-US" sz="1200" spc="0" kern="0" b="0" i="0" dirty="0">
                <a:solidFill>
                  <a:srgbClr val="070154"/>
                </a:solidFill>
                <a:latin typeface="IBM Plex Sans"/>
                <a:ea typeface="IBM Plex Sans"/>
                <a:cs typeface="IBM Plex Sans"/>
              </a:endParaRPr>
            </a:p>
          </p:txBody>
        </p:sp>
      </p:grpSp>
      <p:grpSp>
        <p:nvGrpSpPr>
          <p:cNvPr id="49" name="node08"/>
          <p:cNvGrpSpPr/>
          <p:nvPr/>
        </p:nvGrpSpPr>
        <p:grpSpPr>
          <a:xfrm>
            <a:off x="723900" y="4800600"/>
            <a:ext cx="10744200" cy="139700"/>
            <a:chOff x="723900" y="4800600"/>
            <a:chExt cx="10744200" cy="139700"/>
          </a:xfrm>
        </p:grpSpPr>
        <p:sp>
          <p:nvSpPr>
            <p:cNvPr id="29" name="node08.text"/>
            <p:cNvSpPr/>
            <p:nvPr/>
          </p:nvSpPr>
          <p:spPr>
            <a:xfrm>
              <a:off x="723900" y="4800600"/>
              <a:ext cx="1074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ESCALATION PATH</a:t>
              </a:r>
              <a:endParaRPr lang="en-US" sz="800" spc="48" kern="0" b="0" i="0" dirty="0">
                <a:solidFill>
                  <a:srgbClr val="0047FF"/>
                </a:solidFill>
                <a:latin typeface="IBM Plex Mono Medium"/>
                <a:ea typeface="IBM Plex Mono Medium"/>
                <a:cs typeface="IBM Plex Mono Medium"/>
              </a:endParaRPr>
            </a:p>
          </p:txBody>
        </p:sp>
      </p:grpSp>
      <p:grpSp>
        <p:nvGrpSpPr>
          <p:cNvPr id="50" name="node09"/>
          <p:cNvGrpSpPr/>
          <p:nvPr/>
        </p:nvGrpSpPr>
        <p:grpSpPr>
          <a:xfrm>
            <a:off x="723900" y="5029200"/>
            <a:ext cx="2743200" cy="914400"/>
            <a:chOff x="723900" y="5029200"/>
            <a:chExt cx="2743200" cy="914400"/>
          </a:xfrm>
        </p:grpSpPr>
        <p:sp>
          <p:nvSpPr>
            <p:cNvPr id="30" name="node09.surface"/>
            <p:cNvSpPr/>
            <p:nvPr/>
          </p:nvSpPr>
          <p:spPr>
            <a:xfrm>
              <a:off x="723900" y="5029200"/>
              <a:ext cx="2743200" cy="914400"/>
            </a:xfrm>
            <a:custGeom>
              <a:avLst/>
              <a:gdLst/>
              <a:ahLst/>
              <a:cxnLst/>
              <a:rect l="l" t="t" r="r" b="b"/>
              <a:pathLst>
                <a:path w="2743200" h="914400">
                  <a:moveTo>
                    <a:pt x="0" y="0"/>
                  </a:moveTo>
                  <a:lnTo>
                    <a:pt x="2438400" y="0"/>
                  </a:lnTo>
                  <a:lnTo>
                    <a:pt x="2743200" y="457200"/>
                  </a:lnTo>
                  <a:lnTo>
                    <a:pt x="2438400" y="914400"/>
                  </a:lnTo>
                  <a:lnTo>
                    <a:pt x="0" y="914400"/>
                  </a:lnTo>
                  <a:close/>
                </a:path>
              </a:pathLst>
            </a:custGeom>
            <a:solidFill>
              <a:srgbClr val="E8EEF8"/>
            </a:solidFill>
            <a:ln>
              <a:noFill/>
            </a:ln>
          </p:spPr>
        </p:sp>
      </p:grpSp>
      <p:grpSp>
        <p:nvGrpSpPr>
          <p:cNvPr id="51" name="node10"/>
          <p:cNvGrpSpPr/>
          <p:nvPr/>
        </p:nvGrpSpPr>
        <p:grpSpPr>
          <a:xfrm>
            <a:off x="3467100" y="5029200"/>
            <a:ext cx="2743200" cy="914400"/>
            <a:chOff x="3467100" y="5029200"/>
            <a:chExt cx="2743200" cy="914400"/>
          </a:xfrm>
        </p:grpSpPr>
        <p:sp>
          <p:nvSpPr>
            <p:cNvPr id="31" name="node10.surface"/>
            <p:cNvSpPr/>
            <p:nvPr/>
          </p:nvSpPr>
          <p:spPr>
            <a:xfrm>
              <a:off x="3467100" y="5029200"/>
              <a:ext cx="2743200" cy="914400"/>
            </a:xfrm>
            <a:custGeom>
              <a:avLst/>
              <a:gdLst/>
              <a:ahLst/>
              <a:cxnLst/>
              <a:rect l="l" t="t" r="r" b="b"/>
              <a:pathLst>
                <a:path w="2743200" h="914400">
                  <a:moveTo>
                    <a:pt x="0" y="0"/>
                  </a:moveTo>
                  <a:lnTo>
                    <a:pt x="2438400" y="0"/>
                  </a:lnTo>
                  <a:lnTo>
                    <a:pt x="2743200" y="457200"/>
                  </a:lnTo>
                  <a:lnTo>
                    <a:pt x="2438400" y="914400"/>
                  </a:lnTo>
                  <a:lnTo>
                    <a:pt x="0" y="914400"/>
                  </a:lnTo>
                  <a:lnTo>
                    <a:pt x="304800" y="457200"/>
                  </a:lnTo>
                  <a:close/>
                </a:path>
              </a:pathLst>
            </a:custGeom>
            <a:solidFill>
              <a:srgbClr val="E8EEF8"/>
            </a:solidFill>
            <a:ln>
              <a:noFill/>
            </a:ln>
          </p:spPr>
        </p:sp>
      </p:grpSp>
      <p:grpSp>
        <p:nvGrpSpPr>
          <p:cNvPr id="52" name="node11"/>
          <p:cNvGrpSpPr/>
          <p:nvPr/>
        </p:nvGrpSpPr>
        <p:grpSpPr>
          <a:xfrm>
            <a:off x="6210300" y="5029200"/>
            <a:ext cx="2743200" cy="914400"/>
            <a:chOff x="6210300" y="5029200"/>
            <a:chExt cx="2743200" cy="914400"/>
          </a:xfrm>
        </p:grpSpPr>
        <p:sp>
          <p:nvSpPr>
            <p:cNvPr id="32" name="node11.surface"/>
            <p:cNvSpPr/>
            <p:nvPr/>
          </p:nvSpPr>
          <p:spPr>
            <a:xfrm>
              <a:off x="6210300" y="5029200"/>
              <a:ext cx="2743200" cy="914400"/>
            </a:xfrm>
            <a:custGeom>
              <a:avLst/>
              <a:gdLst/>
              <a:ahLst/>
              <a:cxnLst/>
              <a:rect l="l" t="t" r="r" b="b"/>
              <a:pathLst>
                <a:path w="2743200" h="914400">
                  <a:moveTo>
                    <a:pt x="0" y="0"/>
                  </a:moveTo>
                  <a:lnTo>
                    <a:pt x="2438400" y="0"/>
                  </a:lnTo>
                  <a:lnTo>
                    <a:pt x="2743200" y="457200"/>
                  </a:lnTo>
                  <a:lnTo>
                    <a:pt x="2438400" y="914400"/>
                  </a:lnTo>
                  <a:lnTo>
                    <a:pt x="0" y="914400"/>
                  </a:lnTo>
                  <a:lnTo>
                    <a:pt x="304800" y="457200"/>
                  </a:lnTo>
                  <a:close/>
                </a:path>
              </a:pathLst>
            </a:custGeom>
            <a:solidFill>
              <a:srgbClr val="CED7E6"/>
            </a:solidFill>
            <a:ln>
              <a:noFill/>
            </a:ln>
          </p:spPr>
        </p:sp>
      </p:grpSp>
      <p:grpSp>
        <p:nvGrpSpPr>
          <p:cNvPr id="53" name="node12"/>
          <p:cNvGrpSpPr/>
          <p:nvPr/>
        </p:nvGrpSpPr>
        <p:grpSpPr>
          <a:xfrm>
            <a:off x="8953500" y="5029200"/>
            <a:ext cx="2514600" cy="914400"/>
            <a:chOff x="8953500" y="5029200"/>
            <a:chExt cx="2514600" cy="914400"/>
          </a:xfrm>
        </p:grpSpPr>
        <p:sp>
          <p:nvSpPr>
            <p:cNvPr id="33" name="node12.surface"/>
            <p:cNvSpPr/>
            <p:nvPr/>
          </p:nvSpPr>
          <p:spPr>
            <a:xfrm>
              <a:off x="8953500" y="5029200"/>
              <a:ext cx="2514600" cy="914400"/>
            </a:xfrm>
            <a:custGeom>
              <a:avLst/>
              <a:gdLst/>
              <a:ahLst/>
              <a:cxnLst/>
              <a:rect l="l" t="t" r="r" b="b"/>
              <a:pathLst>
                <a:path w="2514600" h="914400">
                  <a:moveTo>
                    <a:pt x="0" y="0"/>
                  </a:moveTo>
                  <a:lnTo>
                    <a:pt x="2209800" y="0"/>
                  </a:lnTo>
                  <a:lnTo>
                    <a:pt x="2514600" y="457200"/>
                  </a:lnTo>
                  <a:lnTo>
                    <a:pt x="2209800" y="914400"/>
                  </a:lnTo>
                  <a:lnTo>
                    <a:pt x="0" y="914400"/>
                  </a:lnTo>
                  <a:lnTo>
                    <a:pt x="304800" y="457200"/>
                  </a:lnTo>
                  <a:close/>
                </a:path>
              </a:pathLst>
            </a:custGeom>
            <a:solidFill>
              <a:srgbClr val="070154"/>
            </a:solidFill>
            <a:ln>
              <a:noFill/>
            </a:ln>
          </p:spPr>
        </p:sp>
      </p:grpSp>
      <p:grpSp>
        <p:nvGrpSpPr>
          <p:cNvPr id="54" name="node09-time"/>
          <p:cNvGrpSpPr/>
          <p:nvPr/>
        </p:nvGrpSpPr>
        <p:grpSpPr>
          <a:xfrm>
            <a:off x="876300" y="5067300"/>
            <a:ext cx="2209800" cy="266700"/>
            <a:chOff x="876300" y="5067300"/>
            <a:chExt cx="2209800" cy="266700"/>
          </a:xfrm>
        </p:grpSpPr>
        <p:sp>
          <p:nvSpPr>
            <p:cNvPr id="34" name="node09-time.text"/>
            <p:cNvSpPr/>
            <p:nvPr/>
          </p:nvSpPr>
          <p:spPr>
            <a:xfrm>
              <a:off x="876300" y="5067300"/>
              <a:ext cx="22098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0–15 min</a:t>
              </a:r>
              <a:endParaRPr lang="en-US" sz="1600" spc="0" kern="0" b="0" i="0" dirty="0">
                <a:solidFill>
                  <a:srgbClr val="0047FF"/>
                </a:solidFill>
                <a:latin typeface="IBM Plex Mono SemiBold"/>
                <a:ea typeface="IBM Plex Mono SemiBold"/>
                <a:cs typeface="IBM Plex Mono SemiBold"/>
              </a:endParaRPr>
            </a:p>
          </p:txBody>
        </p:sp>
      </p:grpSp>
      <p:grpSp>
        <p:nvGrpSpPr>
          <p:cNvPr id="55" name="node09-role"/>
          <p:cNvGrpSpPr/>
          <p:nvPr/>
        </p:nvGrpSpPr>
        <p:grpSpPr>
          <a:xfrm>
            <a:off x="876300" y="5410200"/>
            <a:ext cx="2209800" cy="533400"/>
            <a:chOff x="876300" y="5410200"/>
            <a:chExt cx="2209800" cy="533400"/>
          </a:xfrm>
        </p:grpSpPr>
        <p:sp>
          <p:nvSpPr>
            <p:cNvPr id="35" name="node09-role.text"/>
            <p:cNvSpPr/>
            <p:nvPr/>
          </p:nvSpPr>
          <p:spPr>
            <a:xfrm>
              <a:off x="876300" y="5410200"/>
              <a:ext cx="2209800" cy="5334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Workstream lead</a:t>
              </a:r>
              <a:endParaRPr lang="en-US" sz="1200" spc="0" kern="0" b="0" i="0" dirty="0">
                <a:solidFill>
                  <a:srgbClr val="070154"/>
                </a:solidFill>
                <a:latin typeface="IBM Plex Sans SemiBold"/>
                <a:ea typeface="IBM Plex Sans SemiBold"/>
                <a:cs typeface="IBM Plex Sans SemiBold"/>
              </a:endParaRPr>
            </a:p>
          </p:txBody>
        </p:sp>
      </p:grpSp>
      <p:grpSp>
        <p:nvGrpSpPr>
          <p:cNvPr id="56" name="node10-time"/>
          <p:cNvGrpSpPr/>
          <p:nvPr/>
        </p:nvGrpSpPr>
        <p:grpSpPr>
          <a:xfrm>
            <a:off x="3848100" y="5067300"/>
            <a:ext cx="1981200" cy="266700"/>
            <a:chOff x="3848100" y="5067300"/>
            <a:chExt cx="1981200" cy="266700"/>
          </a:xfrm>
        </p:grpSpPr>
        <p:sp>
          <p:nvSpPr>
            <p:cNvPr id="36" name="node10-time.text"/>
            <p:cNvSpPr/>
            <p:nvPr/>
          </p:nvSpPr>
          <p:spPr>
            <a:xfrm>
              <a:off x="3848100" y="5067300"/>
              <a:ext cx="19812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15–30 min</a:t>
              </a:r>
              <a:endParaRPr lang="en-US" sz="1600" spc="0" kern="0" b="0" i="0" dirty="0">
                <a:solidFill>
                  <a:srgbClr val="0047FF"/>
                </a:solidFill>
                <a:latin typeface="IBM Plex Mono SemiBold"/>
                <a:ea typeface="IBM Plex Mono SemiBold"/>
                <a:cs typeface="IBM Plex Mono SemiBold"/>
              </a:endParaRPr>
            </a:p>
          </p:txBody>
        </p:sp>
      </p:grpSp>
      <p:grpSp>
        <p:nvGrpSpPr>
          <p:cNvPr id="57" name="node10-role"/>
          <p:cNvGrpSpPr/>
          <p:nvPr/>
        </p:nvGrpSpPr>
        <p:grpSpPr>
          <a:xfrm>
            <a:off x="3848100" y="5410200"/>
            <a:ext cx="1981200" cy="533400"/>
            <a:chOff x="3848100" y="5410200"/>
            <a:chExt cx="1981200" cy="533400"/>
          </a:xfrm>
        </p:grpSpPr>
        <p:sp>
          <p:nvSpPr>
            <p:cNvPr id="37" name="node10-role.text"/>
            <p:cNvSpPr/>
            <p:nvPr/>
          </p:nvSpPr>
          <p:spPr>
            <a:xfrm>
              <a:off x="3848100" y="5410200"/>
              <a:ext cx="1981200" cy="5334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Cutover lead</a:t>
              </a:r>
              <a:endParaRPr lang="en-US" sz="1200" spc="0" kern="0" b="0" i="0" dirty="0">
                <a:solidFill>
                  <a:srgbClr val="070154"/>
                </a:solidFill>
                <a:latin typeface="IBM Plex Sans SemiBold"/>
                <a:ea typeface="IBM Plex Sans SemiBold"/>
                <a:cs typeface="IBM Plex Sans SemiBold"/>
              </a:endParaRPr>
            </a:p>
          </p:txBody>
        </p:sp>
      </p:grpSp>
      <p:grpSp>
        <p:nvGrpSpPr>
          <p:cNvPr id="58" name="node11-time"/>
          <p:cNvGrpSpPr/>
          <p:nvPr/>
        </p:nvGrpSpPr>
        <p:grpSpPr>
          <a:xfrm>
            <a:off x="6591300" y="5067300"/>
            <a:ext cx="1981200" cy="266700"/>
            <a:chOff x="6591300" y="5067300"/>
            <a:chExt cx="1981200" cy="266700"/>
          </a:xfrm>
        </p:grpSpPr>
        <p:sp>
          <p:nvSpPr>
            <p:cNvPr id="38" name="node11-time.text"/>
            <p:cNvSpPr/>
            <p:nvPr/>
          </p:nvSpPr>
          <p:spPr>
            <a:xfrm>
              <a:off x="6591300" y="5067300"/>
              <a:ext cx="19812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70154"/>
                  </a:solidFill>
                  <a:latin typeface="IBM Plex Mono SemiBold"/>
                  <a:ea typeface="IBM Plex Mono SemiBold"/>
                  <a:cs typeface="IBM Plex Mono SemiBold"/>
                </a:rPr>
                <a:t>30–60 min</a:t>
              </a:r>
              <a:endParaRPr lang="en-US" sz="1600" spc="0" kern="0" b="0" i="0" dirty="0">
                <a:solidFill>
                  <a:srgbClr val="070154"/>
                </a:solidFill>
                <a:latin typeface="IBM Plex Mono SemiBold"/>
                <a:ea typeface="IBM Plex Mono SemiBold"/>
                <a:cs typeface="IBM Plex Mono SemiBold"/>
              </a:endParaRPr>
            </a:p>
          </p:txBody>
        </p:sp>
      </p:grpSp>
      <p:grpSp>
        <p:nvGrpSpPr>
          <p:cNvPr id="59" name="node11-role"/>
          <p:cNvGrpSpPr/>
          <p:nvPr/>
        </p:nvGrpSpPr>
        <p:grpSpPr>
          <a:xfrm>
            <a:off x="6591300" y="5410200"/>
            <a:ext cx="1981200" cy="533400"/>
            <a:chOff x="6591300" y="5410200"/>
            <a:chExt cx="1981200" cy="533400"/>
          </a:xfrm>
        </p:grpSpPr>
        <p:sp>
          <p:nvSpPr>
            <p:cNvPr id="39" name="node11-role.text"/>
            <p:cNvSpPr/>
            <p:nvPr/>
          </p:nvSpPr>
          <p:spPr>
            <a:xfrm>
              <a:off x="6591300" y="5410200"/>
              <a:ext cx="1981200" cy="5334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Controller and CIO</a:t>
              </a:r>
              <a:endParaRPr lang="en-US" sz="1200" spc="0" kern="0" b="0" i="0" dirty="0">
                <a:solidFill>
                  <a:srgbClr val="070154"/>
                </a:solidFill>
                <a:latin typeface="IBM Plex Sans SemiBold"/>
                <a:ea typeface="IBM Plex Sans SemiBold"/>
                <a:cs typeface="IBM Plex Sans SemiBold"/>
              </a:endParaRPr>
            </a:p>
          </p:txBody>
        </p:sp>
      </p:grpSp>
      <p:grpSp>
        <p:nvGrpSpPr>
          <p:cNvPr id="60" name="node12-time"/>
          <p:cNvGrpSpPr/>
          <p:nvPr/>
        </p:nvGrpSpPr>
        <p:grpSpPr>
          <a:xfrm>
            <a:off x="9334500" y="5067300"/>
            <a:ext cx="1752600" cy="266700"/>
            <a:chOff x="9334500" y="5067300"/>
            <a:chExt cx="1752600" cy="266700"/>
          </a:xfrm>
        </p:grpSpPr>
        <p:sp>
          <p:nvSpPr>
            <p:cNvPr id="40" name="node12-time.text"/>
            <p:cNvSpPr/>
            <p:nvPr/>
          </p:nvSpPr>
          <p:spPr>
            <a:xfrm>
              <a:off x="9334500" y="5067300"/>
              <a:ext cx="17526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60+ min</a:t>
              </a:r>
              <a:endParaRPr lang="en-US" sz="1600" spc="0" kern="0" b="0" i="0" dirty="0">
                <a:solidFill>
                  <a:srgbClr val="F900D3"/>
                </a:solidFill>
                <a:latin typeface="IBM Plex Mono SemiBold"/>
                <a:ea typeface="IBM Plex Mono SemiBold"/>
                <a:cs typeface="IBM Plex Mono SemiBold"/>
              </a:endParaRPr>
            </a:p>
          </p:txBody>
        </p:sp>
      </p:grpSp>
      <p:grpSp>
        <p:nvGrpSpPr>
          <p:cNvPr id="61" name="node12-role"/>
          <p:cNvGrpSpPr/>
          <p:nvPr/>
        </p:nvGrpSpPr>
        <p:grpSpPr>
          <a:xfrm>
            <a:off x="9334500" y="5410200"/>
            <a:ext cx="1752600" cy="533400"/>
            <a:chOff x="9334500" y="5410200"/>
            <a:chExt cx="1752600" cy="533400"/>
          </a:xfrm>
        </p:grpSpPr>
        <p:sp>
          <p:nvSpPr>
            <p:cNvPr id="41" name="node12-role.text"/>
            <p:cNvSpPr/>
            <p:nvPr/>
          </p:nvSpPr>
          <p:spPr>
            <a:xfrm>
              <a:off x="9334500" y="5410200"/>
              <a:ext cx="1752600" cy="5334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SemiBold"/>
                  <a:ea typeface="IBM Plex Sans SemiBold"/>
                  <a:cs typeface="IBM Plex Sans SemiBold"/>
                </a:rPr>
                <a:t>Steering committee</a:t>
              </a:r>
              <a:endParaRPr lang="en-US" sz="1200" spc="0"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ource-47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5712305" y="733532"/>
            <a:ext cx="139269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One runbook governs every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wave 1</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cutover decision</a:t>
            </a:r>
            <a:endParaRPr lang="en-US" sz="3200" spc="-64" kern="0" b="0" i="0" dirty="0">
              <a:solidFill>
                <a:srgbClr val="070154"/>
              </a:solidFill>
              <a:latin typeface="IBM Plex Sans SemiBold"/>
              <a:ea typeface="IBM Plex Sans SemiBold"/>
              <a:cs typeface="IBM Plex Sans SemiBold"/>
            </a:endParaRPr>
          </a:p>
        </p:txBody>
      </p:sp>
      <p:sp>
        <p:nvSpPr>
          <p:cNvPr id="6" name="nav.section-01"/>
          <p:cNvSpPr/>
          <p:nvPr/>
        </p:nvSpPr>
        <p:spPr>
          <a:xfrm>
            <a:off x="266700" y="457200"/>
            <a:ext cx="228600" cy="1257300"/>
          </a:xfrm>
          <a:prstGeom prst="rect">
            <a:avLst/>
          </a:prstGeom>
          <a:solidFill>
            <a:srgbClr val="070154"/>
          </a:solidFill>
          <a:ln>
            <a:noFill/>
          </a:ln>
        </p:spPr>
      </p:sp>
      <p:sp>
        <p:nvSpPr>
          <p:cNvPr id="7" name="nav.label.section-01"/>
          <p:cNvSpPr/>
          <p:nvPr/>
        </p:nvSpPr>
        <p:spPr>
          <a:xfrm>
            <a:off x="266700" y="4572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PREPARE</a:t>
            </a:r>
            <a:endParaRPr lang="en-US" sz="800" spc="80" kern="0" b="0" i="0" dirty="0">
              <a:solidFill>
                <a:srgbClr val="FFFFFF"/>
              </a:solidFill>
              <a:latin typeface="IBM Plex Mono SemiBold"/>
              <a:ea typeface="IBM Plex Mono SemiBold"/>
              <a:cs typeface="IBM Plex Mono SemiBold"/>
            </a:endParaRPr>
          </a:p>
        </p:txBody>
      </p:sp>
      <p:sp>
        <p:nvSpPr>
          <p:cNvPr id="8" name="nav.section-02"/>
          <p:cNvSpPr/>
          <p:nvPr/>
        </p:nvSpPr>
        <p:spPr>
          <a:xfrm>
            <a:off x="266700" y="1790700"/>
            <a:ext cx="228600" cy="1257300"/>
          </a:xfrm>
          <a:prstGeom prst="rect">
            <a:avLst/>
          </a:prstGeom>
          <a:solidFill>
            <a:srgbClr val="E8EEF8"/>
          </a:solidFill>
          <a:ln>
            <a:noFill/>
          </a:ln>
        </p:spPr>
      </p:sp>
      <p:sp>
        <p:nvSpPr>
          <p:cNvPr id="9" name="nav.label.section-02"/>
          <p:cNvSpPr/>
          <p:nvPr/>
        </p:nvSpPr>
        <p:spPr>
          <a:xfrm>
            <a:off x="266700" y="17907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CUTOVER</a:t>
            </a:r>
            <a:endParaRPr lang="en-US" sz="800" spc="80" kern="0" b="0" i="0" dirty="0">
              <a:solidFill>
                <a:srgbClr val="50658E"/>
              </a:solidFill>
              <a:latin typeface="IBM Plex Mono SemiBold"/>
              <a:ea typeface="IBM Plex Mono SemiBold"/>
              <a:cs typeface="IBM Plex Mono SemiBold"/>
            </a:endParaRPr>
          </a:p>
        </p:txBody>
      </p:sp>
      <p:sp>
        <p:nvSpPr>
          <p:cNvPr id="10" name="nav.section-03"/>
          <p:cNvSpPr/>
          <p:nvPr/>
        </p:nvSpPr>
        <p:spPr>
          <a:xfrm>
            <a:off x="266700" y="3124200"/>
            <a:ext cx="228600" cy="1257300"/>
          </a:xfrm>
          <a:prstGeom prst="rect">
            <a:avLst/>
          </a:prstGeom>
          <a:solidFill>
            <a:srgbClr val="E8EEF8"/>
          </a:solidFill>
          <a:ln>
            <a:noFill/>
          </a:ln>
        </p:spPr>
      </p:sp>
      <p:sp>
        <p:nvSpPr>
          <p:cNvPr id="11" name="nav.label.section-03"/>
          <p:cNvSpPr/>
          <p:nvPr/>
        </p:nvSpPr>
        <p:spPr>
          <a:xfrm>
            <a:off x="266700" y="31242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HYPERCARE</a:t>
            </a:r>
            <a:endParaRPr lang="en-US" sz="800" spc="80" kern="0" b="0" i="0" dirty="0">
              <a:solidFill>
                <a:srgbClr val="50658E"/>
              </a:solidFill>
              <a:latin typeface="IBM Plex Mono SemiBold"/>
              <a:ea typeface="IBM Plex Mono SemiBold"/>
              <a:cs typeface="IBM Plex Mono SemiBold"/>
            </a:endParaRPr>
          </a:p>
        </p:txBody>
      </p:sp>
      <p:sp>
        <p:nvSpPr>
          <p:cNvPr id="12" name="nav.section-04"/>
          <p:cNvSpPr/>
          <p:nvPr/>
        </p:nvSpPr>
        <p:spPr>
          <a:xfrm>
            <a:off x="266700" y="4457700"/>
            <a:ext cx="228600" cy="1257300"/>
          </a:xfrm>
          <a:prstGeom prst="rect">
            <a:avLst/>
          </a:prstGeom>
          <a:solidFill>
            <a:srgbClr val="E8EEF8"/>
          </a:solidFill>
          <a:ln>
            <a:noFill/>
          </a:ln>
        </p:spPr>
      </p:sp>
      <p:sp>
        <p:nvSpPr>
          <p:cNvPr id="13" name="nav.label.section-04"/>
          <p:cNvSpPr/>
          <p:nvPr/>
        </p:nvSpPr>
        <p:spPr>
          <a:xfrm>
            <a:off x="266700" y="44577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HANDOVER</a:t>
            </a:r>
            <a:endParaRPr lang="en-US" sz="800" spc="80" kern="0" b="0" i="0" dirty="0">
              <a:solidFill>
                <a:srgbClr val="50658E"/>
              </a:solidFill>
              <a:latin typeface="IBM Plex Mono SemiBold"/>
              <a:ea typeface="IBM Plex Mono SemiBold"/>
              <a:cs typeface="IBM Plex Mono SemiBold"/>
            </a:endParaRPr>
          </a:p>
        </p:txBody>
      </p:sp>
      <p:sp>
        <p:nvSpPr>
          <p:cNvPr id="14"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185</a:t>
            </a:fld>
            <a:endParaRPr lang="en-US" sz="700" spc="0" kern="0" b="0" i="0" dirty="0">
              <a:solidFill>
                <a:srgbClr val="070154"/>
              </a:solidFill>
              <a:latin typeface="IBM Plex Mono SemiBold"/>
              <a:ea typeface="IBM Plex Mono SemiBold"/>
              <a:cs typeface="IBM Plex Mono SemiBold"/>
            </a:endParaRPr>
          </a:p>
        </p:txBody>
      </p:sp>
      <p:grpSp>
        <p:nvGrpSpPr>
          <p:cNvPr id="50" name="node01"/>
          <p:cNvGrpSpPr/>
          <p:nvPr/>
        </p:nvGrpSpPr>
        <p:grpSpPr>
          <a:xfrm>
            <a:off x="723900" y="1600200"/>
            <a:ext cx="3429000" cy="139700"/>
            <a:chOff x="723900" y="1600200"/>
            <a:chExt cx="3429000" cy="139700"/>
          </a:xfrm>
        </p:grpSpPr>
        <p:sp>
          <p:nvSpPr>
            <p:cNvPr id="15" name="node01.text"/>
            <p:cNvSpPr/>
            <p:nvPr/>
          </p:nvSpPr>
          <p:spPr>
            <a:xfrm>
              <a:off x="7239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PURPOSE</a:t>
              </a:r>
              <a:endParaRPr lang="en-US" sz="800" spc="48" kern="0" b="0" i="0" dirty="0">
                <a:solidFill>
                  <a:srgbClr val="0047FF"/>
                </a:solidFill>
                <a:latin typeface="IBM Plex Mono Medium"/>
                <a:ea typeface="IBM Plex Mono Medium"/>
                <a:cs typeface="IBM Plex Mono Medium"/>
              </a:endParaRPr>
            </a:p>
          </p:txBody>
        </p:sp>
      </p:grpSp>
      <p:grpSp>
        <p:nvGrpSpPr>
          <p:cNvPr id="51" name="node02"/>
          <p:cNvGrpSpPr/>
          <p:nvPr/>
        </p:nvGrpSpPr>
        <p:grpSpPr>
          <a:xfrm>
            <a:off x="723900" y="1828800"/>
            <a:ext cx="3429000" cy="381000"/>
            <a:chOff x="723900" y="1828800"/>
            <a:chExt cx="3429000" cy="381000"/>
          </a:xfrm>
        </p:grpSpPr>
        <p:sp>
          <p:nvSpPr>
            <p:cNvPr id="16" name="node02.text"/>
            <p:cNvSpPr/>
            <p:nvPr/>
          </p:nvSpPr>
          <p:spPr>
            <a:xfrm>
              <a:off x="723900" y="18288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Move close and consolidation to the new ledger over one weekend, with a tested way back at every step.</a:t>
              </a:r>
              <a:endParaRPr lang="en-US" sz="1100" spc="0" kern="0" b="0" i="0" dirty="0">
                <a:solidFill>
                  <a:srgbClr val="070154"/>
                </a:solidFill>
                <a:latin typeface="IBM Plex Sans"/>
                <a:ea typeface="IBM Plex Sans"/>
                <a:cs typeface="IBM Plex Sans"/>
              </a:endParaRPr>
            </a:p>
          </p:txBody>
        </p:sp>
      </p:grpSp>
      <p:grpSp>
        <p:nvGrpSpPr>
          <p:cNvPr id="52" name="node03"/>
          <p:cNvGrpSpPr/>
          <p:nvPr/>
        </p:nvGrpSpPr>
        <p:grpSpPr>
          <a:xfrm>
            <a:off x="723900" y="2743200"/>
            <a:ext cx="3429000" cy="139700"/>
            <a:chOff x="723900" y="2743200"/>
            <a:chExt cx="3429000" cy="139700"/>
          </a:xfrm>
        </p:grpSpPr>
        <p:sp>
          <p:nvSpPr>
            <p:cNvPr id="17" name="node03.text"/>
            <p:cNvSpPr/>
            <p:nvPr/>
          </p:nvSpPr>
          <p:spPr>
            <a:xfrm>
              <a:off x="723900" y="2743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SCOPE</a:t>
              </a:r>
              <a:endParaRPr lang="en-US" sz="800" spc="48" kern="0" b="0" i="0" dirty="0">
                <a:solidFill>
                  <a:srgbClr val="0047FF"/>
                </a:solidFill>
                <a:latin typeface="IBM Plex Mono Medium"/>
                <a:ea typeface="IBM Plex Mono Medium"/>
                <a:cs typeface="IBM Plex Mono Medium"/>
              </a:endParaRPr>
            </a:p>
          </p:txBody>
        </p:sp>
      </p:grpSp>
      <p:grpSp>
        <p:nvGrpSpPr>
          <p:cNvPr id="53" name="node04"/>
          <p:cNvGrpSpPr/>
          <p:nvPr/>
        </p:nvGrpSpPr>
        <p:grpSpPr>
          <a:xfrm>
            <a:off x="723900" y="2971800"/>
            <a:ext cx="3429000" cy="723900"/>
            <a:chOff x="723900" y="2971800"/>
            <a:chExt cx="3429000" cy="723900"/>
          </a:xfrm>
        </p:grpSpPr>
        <p:sp>
          <p:nvSpPr>
            <p:cNvPr id="18" name="node04.source-001.bullet"/>
            <p:cNvSpPr/>
            <p:nvPr/>
          </p:nvSpPr>
          <p:spPr>
            <a:xfrm>
              <a:off x="723900" y="3060700"/>
              <a:ext cx="38100" cy="38100"/>
            </a:xfrm>
            <a:prstGeom prst="rect">
              <a:avLst/>
            </a:prstGeom>
            <a:solidFill>
              <a:srgbClr val="070154"/>
            </a:solidFill>
            <a:ln>
              <a:noFill/>
            </a:ln>
          </p:spPr>
        </p:sp>
        <p:sp>
          <p:nvSpPr>
            <p:cNvPr id="19" name="node04.source-001.text"/>
            <p:cNvSpPr/>
            <p:nvPr/>
          </p:nvSpPr>
          <p:spPr>
            <a:xfrm>
              <a:off x="876300" y="2971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General ledger and subledgers</a:t>
              </a:r>
              <a:endParaRPr lang="en-US" sz="1200" spc="0" kern="0" b="0" i="0" dirty="0">
                <a:solidFill>
                  <a:srgbClr val="070154"/>
                </a:solidFill>
                <a:latin typeface="IBM Plex Sans"/>
                <a:ea typeface="IBM Plex Sans"/>
                <a:cs typeface="IBM Plex Sans"/>
              </a:endParaRPr>
            </a:p>
          </p:txBody>
        </p:sp>
        <p:sp>
          <p:nvSpPr>
            <p:cNvPr id="20" name="node04.source-002.bullet"/>
            <p:cNvSpPr/>
            <p:nvPr/>
          </p:nvSpPr>
          <p:spPr>
            <a:xfrm>
              <a:off x="723900" y="3314700"/>
              <a:ext cx="38100" cy="38100"/>
            </a:xfrm>
            <a:prstGeom prst="rect">
              <a:avLst/>
            </a:prstGeom>
            <a:solidFill>
              <a:srgbClr val="070154"/>
            </a:solidFill>
            <a:ln>
              <a:noFill/>
            </a:ln>
          </p:spPr>
        </p:sp>
        <p:sp>
          <p:nvSpPr>
            <p:cNvPr id="21" name="node04.source-002.text"/>
            <p:cNvSpPr/>
            <p:nvPr/>
          </p:nvSpPr>
          <p:spPr>
            <a:xfrm>
              <a:off x="876300" y="3225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Bank and intercompany interfaces</a:t>
              </a:r>
              <a:endParaRPr lang="en-US" sz="1200" spc="0" kern="0" b="0" i="0" dirty="0">
                <a:solidFill>
                  <a:srgbClr val="070154"/>
                </a:solidFill>
                <a:latin typeface="IBM Plex Sans"/>
                <a:ea typeface="IBM Plex Sans"/>
                <a:cs typeface="IBM Plex Sans"/>
              </a:endParaRPr>
            </a:p>
          </p:txBody>
        </p:sp>
        <p:sp>
          <p:nvSpPr>
            <p:cNvPr id="22" name="node04.source-003.bullet"/>
            <p:cNvSpPr/>
            <p:nvPr/>
          </p:nvSpPr>
          <p:spPr>
            <a:xfrm>
              <a:off x="723900" y="3568700"/>
              <a:ext cx="38100" cy="38100"/>
            </a:xfrm>
            <a:prstGeom prst="rect">
              <a:avLst/>
            </a:prstGeom>
            <a:solidFill>
              <a:srgbClr val="070154"/>
            </a:solidFill>
            <a:ln>
              <a:noFill/>
            </a:ln>
          </p:spPr>
        </p:sp>
        <p:sp>
          <p:nvSpPr>
            <p:cNvPr id="23" name="node04.source-003.text"/>
            <p:cNvSpPr/>
            <p:nvPr/>
          </p:nvSpPr>
          <p:spPr>
            <a:xfrm>
              <a:off x="876300" y="3479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Excludes planning and reporting</a:t>
              </a:r>
              <a:endParaRPr lang="en-US" sz="1200" spc="0" kern="0" b="0" i="0" dirty="0">
                <a:solidFill>
                  <a:srgbClr val="070154"/>
                </a:solidFill>
                <a:latin typeface="IBM Plex Sans"/>
                <a:ea typeface="IBM Plex Sans"/>
                <a:cs typeface="IBM Plex Sans"/>
              </a:endParaRPr>
            </a:p>
          </p:txBody>
        </p:sp>
      </p:grpSp>
      <p:grpSp>
        <p:nvGrpSpPr>
          <p:cNvPr id="54" name="node05"/>
          <p:cNvGrpSpPr/>
          <p:nvPr/>
        </p:nvGrpSpPr>
        <p:grpSpPr>
          <a:xfrm>
            <a:off x="4381500" y="1600200"/>
            <a:ext cx="7086600" cy="1778000"/>
            <a:chOff x="4381500" y="1600200"/>
            <a:chExt cx="7086600" cy="1778000"/>
          </a:xfrm>
        </p:grpSpPr>
        <p:graphicFrame>
          <p:nvGraphicFramePr>
            <p:cNvPr id="24" name="node05.native"/>
            <p:cNvGraphicFramePr>
              <a:graphicFrameLocks noGrp="1"/>
            </p:cNvGraphicFramePr>
            <p:nvPr>
              <p:extLst>
                <p:ext uri="{D42A27DB-BD31-4B8C-83A1-F6EECF244321}">
                  <p14:modId xmlns:p14="http://schemas.microsoft.com/office/powerpoint/2010/main" val="1579011935"/>
                </p:ext>
              </p:extLst>
            </p:nvPr>
          </p:nvGraphicFramePr>
          <p:xfrm>
            <a:off x="4381500" y="1600200"/>
            <a:ext cx="7086600" cy="1778000"/>
          </p:xfrm>
          <a:graphic>
            <a:graphicData uri="http://schemas.openxmlformats.org/drawingml/2006/table">
              <a:tbl>
                <a:tblPr/>
                <a:tblGrid>
                  <a:gridCol w="1828800"/>
                  <a:gridCol w="1600200"/>
                  <a:gridCol w="36576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ROLE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HELD BY</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ACCOUNTABLE FOR</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Cutover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Program director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Runs the bridge; calls go or no-go</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Ledger owner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Controller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Signs balances; opens the ledger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Technical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Finance IT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Runs loads and interface switch</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Support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Shared services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User comms and hypercare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55" name="node06"/>
          <p:cNvGrpSpPr/>
          <p:nvPr/>
        </p:nvGrpSpPr>
        <p:grpSpPr>
          <a:xfrm>
            <a:off x="4381500" y="3657600"/>
            <a:ext cx="3429000" cy="914400"/>
            <a:chOff x="4381500" y="3657600"/>
            <a:chExt cx="3429000" cy="914400"/>
          </a:xfrm>
        </p:grpSpPr>
        <p:sp>
          <p:nvSpPr>
            <p:cNvPr id="25" name="node06.container"/>
            <p:cNvSpPr/>
            <p:nvPr/>
          </p:nvSpPr>
          <p:spPr>
            <a:xfrm>
              <a:off x="4381500" y="3657600"/>
              <a:ext cx="3429000" cy="914400"/>
            </a:xfrm>
            <a:prstGeom prst="rect">
              <a:avLst/>
            </a:prstGeom>
            <a:solidFill>
              <a:srgbClr val="E8EEF8"/>
            </a:solidFill>
            <a:ln>
              <a:noFill/>
            </a:ln>
          </p:spPr>
        </p:sp>
        <p:sp>
          <p:nvSpPr>
            <p:cNvPr id="26" name="node06.label"/>
            <p:cNvSpPr/>
            <p:nvPr/>
          </p:nvSpPr>
          <p:spPr>
            <a:xfrm>
              <a:off x="4495800" y="37719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ENTRY CRITERIA</a:t>
              </a:r>
              <a:endParaRPr lang="en-US" sz="800" spc="48" kern="0" b="0" i="0" dirty="0">
                <a:solidFill>
                  <a:srgbClr val="0047FF"/>
                </a:solidFill>
                <a:latin typeface="IBM Plex Mono Medium"/>
                <a:ea typeface="IBM Plex Mono Medium"/>
                <a:cs typeface="IBM Plex Mono Medium"/>
              </a:endParaRPr>
            </a:p>
          </p:txBody>
        </p:sp>
        <p:sp>
          <p:nvSpPr>
            <p:cNvPr id="27" name="node06.body.item-001.bullets.item-001.marker"/>
            <p:cNvSpPr/>
            <p:nvPr/>
          </p:nvSpPr>
          <p:spPr>
            <a:xfrm>
              <a:off x="4495800" y="4076700"/>
              <a:ext cx="38100" cy="38100"/>
            </a:xfrm>
            <a:prstGeom prst="rect">
              <a:avLst/>
            </a:prstGeom>
            <a:solidFill>
              <a:srgbClr val="070154"/>
            </a:solidFill>
            <a:ln>
              <a:noFill/>
            </a:ln>
          </p:spPr>
        </p:sp>
        <p:sp>
          <p:nvSpPr>
            <p:cNvPr id="28" name="node06.body.item-001.bullets.item-001.text"/>
            <p:cNvSpPr/>
            <p:nvPr/>
          </p:nvSpPr>
          <p:spPr>
            <a:xfrm>
              <a:off x="4648200" y="3987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Dress rehearsal signed off</a:t>
              </a:r>
              <a:endParaRPr lang="en-US" sz="1200" spc="0" kern="0" b="0" i="0" dirty="0">
                <a:solidFill>
                  <a:srgbClr val="070154"/>
                </a:solidFill>
                <a:latin typeface="IBM Plex Sans"/>
                <a:ea typeface="IBM Plex Sans"/>
                <a:cs typeface="IBM Plex Sans"/>
              </a:endParaRPr>
            </a:p>
          </p:txBody>
        </p:sp>
        <p:sp>
          <p:nvSpPr>
            <p:cNvPr id="29" name="node06.body.item-001.bullets.item-002.marker"/>
            <p:cNvSpPr/>
            <p:nvPr/>
          </p:nvSpPr>
          <p:spPr>
            <a:xfrm>
              <a:off x="4495800" y="4330700"/>
              <a:ext cx="38100" cy="38100"/>
            </a:xfrm>
            <a:prstGeom prst="rect">
              <a:avLst/>
            </a:prstGeom>
            <a:solidFill>
              <a:srgbClr val="070154"/>
            </a:solidFill>
            <a:ln>
              <a:noFill/>
            </a:ln>
          </p:spPr>
        </p:sp>
        <p:sp>
          <p:nvSpPr>
            <p:cNvPr id="30" name="node06.body.item-001.bullets.item-002.text"/>
            <p:cNvSpPr/>
            <p:nvPr/>
          </p:nvSpPr>
          <p:spPr>
            <a:xfrm>
              <a:off x="4648200" y="4241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Rollback plan approved</a:t>
              </a:r>
              <a:endParaRPr lang="en-US" sz="1200" spc="0" kern="0" b="0" i="0" dirty="0">
                <a:solidFill>
                  <a:srgbClr val="070154"/>
                </a:solidFill>
                <a:latin typeface="IBM Plex Sans"/>
                <a:ea typeface="IBM Plex Sans"/>
                <a:cs typeface="IBM Plex Sans"/>
              </a:endParaRPr>
            </a:p>
          </p:txBody>
        </p:sp>
      </p:grpSp>
      <p:grpSp>
        <p:nvGrpSpPr>
          <p:cNvPr id="56" name="node07"/>
          <p:cNvGrpSpPr/>
          <p:nvPr/>
        </p:nvGrpSpPr>
        <p:grpSpPr>
          <a:xfrm>
            <a:off x="8039100" y="3657600"/>
            <a:ext cx="3429000" cy="914400"/>
            <a:chOff x="8039100" y="3657600"/>
            <a:chExt cx="3429000" cy="914400"/>
          </a:xfrm>
        </p:grpSpPr>
        <p:sp>
          <p:nvSpPr>
            <p:cNvPr id="31" name="node07.container"/>
            <p:cNvSpPr/>
            <p:nvPr/>
          </p:nvSpPr>
          <p:spPr>
            <a:xfrm>
              <a:off x="8039100" y="3657600"/>
              <a:ext cx="3429000" cy="914400"/>
            </a:xfrm>
            <a:prstGeom prst="rect">
              <a:avLst/>
            </a:prstGeom>
            <a:solidFill>
              <a:srgbClr val="E8EEF8"/>
            </a:solidFill>
            <a:ln>
              <a:noFill/>
            </a:ln>
          </p:spPr>
        </p:sp>
        <p:sp>
          <p:nvSpPr>
            <p:cNvPr id="32" name="node07.label"/>
            <p:cNvSpPr/>
            <p:nvPr/>
          </p:nvSpPr>
          <p:spPr>
            <a:xfrm>
              <a:off x="8153400" y="3771900"/>
              <a:ext cx="3200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EXIT CRITERIA</a:t>
              </a:r>
              <a:endParaRPr lang="en-US" sz="800" spc="48" kern="0" b="0" i="0" dirty="0">
                <a:solidFill>
                  <a:srgbClr val="0047FF"/>
                </a:solidFill>
                <a:latin typeface="IBM Plex Mono Medium"/>
                <a:ea typeface="IBM Plex Mono Medium"/>
                <a:cs typeface="IBM Plex Mono Medium"/>
              </a:endParaRPr>
            </a:p>
          </p:txBody>
        </p:sp>
        <p:sp>
          <p:nvSpPr>
            <p:cNvPr id="33" name="node07.body.item-001.bullets.item-001.marker"/>
            <p:cNvSpPr/>
            <p:nvPr/>
          </p:nvSpPr>
          <p:spPr>
            <a:xfrm>
              <a:off x="8153400" y="4076700"/>
              <a:ext cx="38100" cy="38100"/>
            </a:xfrm>
            <a:prstGeom prst="rect">
              <a:avLst/>
            </a:prstGeom>
            <a:solidFill>
              <a:srgbClr val="070154"/>
            </a:solidFill>
            <a:ln>
              <a:noFill/>
            </a:ln>
          </p:spPr>
        </p:sp>
        <p:sp>
          <p:nvSpPr>
            <p:cNvPr id="34" name="node07.body.item-001.bullets.item-001.text"/>
            <p:cNvSpPr/>
            <p:nvPr/>
          </p:nvSpPr>
          <p:spPr>
            <a:xfrm>
              <a:off x="8305800" y="3987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Day 1 postings reconciled</a:t>
              </a:r>
              <a:endParaRPr lang="en-US" sz="1200" spc="0" kern="0" b="0" i="0" dirty="0">
                <a:solidFill>
                  <a:srgbClr val="070154"/>
                </a:solidFill>
                <a:latin typeface="IBM Plex Sans"/>
                <a:ea typeface="IBM Plex Sans"/>
                <a:cs typeface="IBM Plex Sans"/>
              </a:endParaRPr>
            </a:p>
          </p:txBody>
        </p:sp>
        <p:sp>
          <p:nvSpPr>
            <p:cNvPr id="35" name="node07.body.item-001.bullets.item-002.marker"/>
            <p:cNvSpPr/>
            <p:nvPr/>
          </p:nvSpPr>
          <p:spPr>
            <a:xfrm>
              <a:off x="8153400" y="4330700"/>
              <a:ext cx="38100" cy="38100"/>
            </a:xfrm>
            <a:prstGeom prst="rect">
              <a:avLst/>
            </a:prstGeom>
            <a:solidFill>
              <a:srgbClr val="070154"/>
            </a:solidFill>
            <a:ln>
              <a:noFill/>
            </a:ln>
          </p:spPr>
        </p:sp>
        <p:sp>
          <p:nvSpPr>
            <p:cNvPr id="36" name="node07.body.item-001.bullets.item-002.text"/>
            <p:cNvSpPr/>
            <p:nvPr/>
          </p:nvSpPr>
          <p:spPr>
            <a:xfrm>
              <a:off x="8305800" y="4241800"/>
              <a:ext cx="3048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Hypercare handover accepted</a:t>
              </a:r>
              <a:endParaRPr lang="en-US" sz="1200" spc="0" kern="0" b="0" i="0" dirty="0">
                <a:solidFill>
                  <a:srgbClr val="070154"/>
                </a:solidFill>
                <a:latin typeface="IBM Plex Sans"/>
                <a:ea typeface="IBM Plex Sans"/>
                <a:cs typeface="IBM Plex Sans"/>
              </a:endParaRPr>
            </a:p>
          </p:txBody>
        </p:sp>
      </p:grpSp>
      <p:grpSp>
        <p:nvGrpSpPr>
          <p:cNvPr id="57" name="node08"/>
          <p:cNvGrpSpPr/>
          <p:nvPr/>
        </p:nvGrpSpPr>
        <p:grpSpPr>
          <a:xfrm>
            <a:off x="723900" y="4800600"/>
            <a:ext cx="10744200" cy="139700"/>
            <a:chOff x="723900" y="4800600"/>
            <a:chExt cx="10744200" cy="139700"/>
          </a:xfrm>
        </p:grpSpPr>
        <p:sp>
          <p:nvSpPr>
            <p:cNvPr id="37" name="node08.text"/>
            <p:cNvSpPr/>
            <p:nvPr/>
          </p:nvSpPr>
          <p:spPr>
            <a:xfrm>
              <a:off x="723900" y="4800600"/>
              <a:ext cx="1074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ESCALATION PATH</a:t>
              </a:r>
              <a:endParaRPr lang="en-US" sz="800" spc="48" kern="0" b="0" i="0" dirty="0">
                <a:solidFill>
                  <a:srgbClr val="0047FF"/>
                </a:solidFill>
                <a:latin typeface="IBM Plex Mono Medium"/>
                <a:ea typeface="IBM Plex Mono Medium"/>
                <a:cs typeface="IBM Plex Mono Medium"/>
              </a:endParaRPr>
            </a:p>
          </p:txBody>
        </p:sp>
      </p:grpSp>
      <p:grpSp>
        <p:nvGrpSpPr>
          <p:cNvPr id="58" name="node09"/>
          <p:cNvGrpSpPr/>
          <p:nvPr/>
        </p:nvGrpSpPr>
        <p:grpSpPr>
          <a:xfrm>
            <a:off x="723900" y="5029200"/>
            <a:ext cx="2743200" cy="685800"/>
            <a:chOff x="723900" y="5029200"/>
            <a:chExt cx="2743200" cy="685800"/>
          </a:xfrm>
        </p:grpSpPr>
        <p:sp>
          <p:nvSpPr>
            <p:cNvPr id="38" name="node09.surface"/>
            <p:cNvSpPr/>
            <p:nvPr/>
          </p:nvSpPr>
          <p:spPr>
            <a:xfrm>
              <a:off x="723900" y="5029200"/>
              <a:ext cx="2743200" cy="685800"/>
            </a:xfrm>
            <a:custGeom>
              <a:avLst/>
              <a:gdLst/>
              <a:ahLst/>
              <a:cxnLst/>
              <a:rect l="l" t="t" r="r" b="b"/>
              <a:pathLst>
                <a:path w="2743200" h="685800">
                  <a:moveTo>
                    <a:pt x="0" y="0"/>
                  </a:moveTo>
                  <a:lnTo>
                    <a:pt x="2514600" y="0"/>
                  </a:lnTo>
                  <a:lnTo>
                    <a:pt x="2743200" y="342900"/>
                  </a:lnTo>
                  <a:lnTo>
                    <a:pt x="2514600" y="685800"/>
                  </a:lnTo>
                  <a:lnTo>
                    <a:pt x="0" y="685800"/>
                  </a:lnTo>
                  <a:close/>
                </a:path>
              </a:pathLst>
            </a:custGeom>
            <a:solidFill>
              <a:srgbClr val="E8EEF8"/>
            </a:solidFill>
            <a:ln>
              <a:noFill/>
            </a:ln>
          </p:spPr>
        </p:sp>
        <p:sp>
          <p:nvSpPr>
            <p:cNvPr id="39" name="node09.number"/>
            <p:cNvSpPr/>
            <p:nvPr/>
          </p:nvSpPr>
          <p:spPr>
            <a:xfrm>
              <a:off x="876300" y="5238750"/>
              <a:ext cx="978027"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0–15 min</a:t>
              </a:r>
              <a:endParaRPr lang="en-US" sz="1600" spc="0" kern="0" b="0" i="0" dirty="0">
                <a:solidFill>
                  <a:srgbClr val="0047FF"/>
                </a:solidFill>
                <a:latin typeface="IBM Plex Mono SemiBold"/>
                <a:ea typeface="IBM Plex Mono SemiBold"/>
                <a:cs typeface="IBM Plex Mono SemiBold"/>
              </a:endParaRPr>
            </a:p>
          </p:txBody>
        </p:sp>
        <p:sp>
          <p:nvSpPr>
            <p:cNvPr id="40" name="node09.text"/>
            <p:cNvSpPr/>
            <p:nvPr/>
          </p:nvSpPr>
          <p:spPr>
            <a:xfrm>
              <a:off x="1968627" y="5276850"/>
              <a:ext cx="119367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Workstream lead</a:t>
              </a:r>
              <a:endParaRPr lang="en-US" sz="1100" spc="0" kern="0" b="0" i="0" dirty="0">
                <a:solidFill>
                  <a:srgbClr val="070154"/>
                </a:solidFill>
                <a:latin typeface="IBM Plex Sans SemiBold"/>
                <a:ea typeface="IBM Plex Sans SemiBold"/>
                <a:cs typeface="IBM Plex Sans SemiBold"/>
              </a:endParaRPr>
            </a:p>
          </p:txBody>
        </p:sp>
      </p:grpSp>
      <p:grpSp>
        <p:nvGrpSpPr>
          <p:cNvPr id="59" name="node10"/>
          <p:cNvGrpSpPr/>
          <p:nvPr/>
        </p:nvGrpSpPr>
        <p:grpSpPr>
          <a:xfrm>
            <a:off x="3467100" y="5029200"/>
            <a:ext cx="2743200" cy="685800"/>
            <a:chOff x="3467100" y="5029200"/>
            <a:chExt cx="2743200" cy="685800"/>
          </a:xfrm>
        </p:grpSpPr>
        <p:sp>
          <p:nvSpPr>
            <p:cNvPr id="41" name="node10.surface"/>
            <p:cNvSpPr/>
            <p:nvPr/>
          </p:nvSpPr>
          <p:spPr>
            <a:xfrm>
              <a:off x="3467100" y="5029200"/>
              <a:ext cx="2743200" cy="685800"/>
            </a:xfrm>
            <a:custGeom>
              <a:avLst/>
              <a:gdLst/>
              <a:ahLst/>
              <a:cxnLst/>
              <a:rect l="l" t="t" r="r" b="b"/>
              <a:pathLst>
                <a:path w="2743200" h="685800">
                  <a:moveTo>
                    <a:pt x="0" y="0"/>
                  </a:moveTo>
                  <a:lnTo>
                    <a:pt x="2514600" y="0"/>
                  </a:lnTo>
                  <a:lnTo>
                    <a:pt x="2743200" y="342900"/>
                  </a:lnTo>
                  <a:lnTo>
                    <a:pt x="2514600" y="685800"/>
                  </a:lnTo>
                  <a:lnTo>
                    <a:pt x="0" y="685800"/>
                  </a:lnTo>
                  <a:lnTo>
                    <a:pt x="228600" y="342900"/>
                  </a:lnTo>
                  <a:close/>
                </a:path>
              </a:pathLst>
            </a:custGeom>
            <a:solidFill>
              <a:srgbClr val="E8EEF8"/>
            </a:solidFill>
            <a:ln>
              <a:noFill/>
            </a:ln>
          </p:spPr>
        </p:sp>
        <p:sp>
          <p:nvSpPr>
            <p:cNvPr id="42" name="node10.number"/>
            <p:cNvSpPr/>
            <p:nvPr/>
          </p:nvSpPr>
          <p:spPr>
            <a:xfrm>
              <a:off x="3771900" y="5238750"/>
              <a:ext cx="110026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15–30 min</a:t>
              </a:r>
              <a:endParaRPr lang="en-US" sz="1600" spc="0" kern="0" b="0" i="0" dirty="0">
                <a:solidFill>
                  <a:srgbClr val="0047FF"/>
                </a:solidFill>
                <a:latin typeface="IBM Plex Mono SemiBold"/>
                <a:ea typeface="IBM Plex Mono SemiBold"/>
                <a:cs typeface="IBM Plex Mono SemiBold"/>
              </a:endParaRPr>
            </a:p>
          </p:txBody>
        </p:sp>
        <p:sp>
          <p:nvSpPr>
            <p:cNvPr id="43" name="node10.text"/>
            <p:cNvSpPr/>
            <p:nvPr/>
          </p:nvSpPr>
          <p:spPr>
            <a:xfrm>
              <a:off x="4986465" y="5276850"/>
              <a:ext cx="91903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Cutover lead</a:t>
              </a:r>
              <a:endParaRPr lang="en-US" sz="1100" spc="0" kern="0" b="0" i="0" dirty="0">
                <a:solidFill>
                  <a:srgbClr val="070154"/>
                </a:solidFill>
                <a:latin typeface="IBM Plex Sans SemiBold"/>
                <a:ea typeface="IBM Plex Sans SemiBold"/>
                <a:cs typeface="IBM Plex Sans SemiBold"/>
              </a:endParaRPr>
            </a:p>
          </p:txBody>
        </p:sp>
      </p:grpSp>
      <p:grpSp>
        <p:nvGrpSpPr>
          <p:cNvPr id="60" name="node11"/>
          <p:cNvGrpSpPr/>
          <p:nvPr/>
        </p:nvGrpSpPr>
        <p:grpSpPr>
          <a:xfrm>
            <a:off x="6210300" y="5029200"/>
            <a:ext cx="2743200" cy="685800"/>
            <a:chOff x="6210300" y="5029200"/>
            <a:chExt cx="2743200" cy="685800"/>
          </a:xfrm>
        </p:grpSpPr>
        <p:sp>
          <p:nvSpPr>
            <p:cNvPr id="44" name="node11.surface"/>
            <p:cNvSpPr/>
            <p:nvPr/>
          </p:nvSpPr>
          <p:spPr>
            <a:xfrm>
              <a:off x="6210300" y="5029200"/>
              <a:ext cx="2743200" cy="685800"/>
            </a:xfrm>
            <a:custGeom>
              <a:avLst/>
              <a:gdLst/>
              <a:ahLst/>
              <a:cxnLst/>
              <a:rect l="l" t="t" r="r" b="b"/>
              <a:pathLst>
                <a:path w="2743200" h="685800">
                  <a:moveTo>
                    <a:pt x="0" y="0"/>
                  </a:moveTo>
                  <a:lnTo>
                    <a:pt x="2514600" y="0"/>
                  </a:lnTo>
                  <a:lnTo>
                    <a:pt x="2743200" y="342900"/>
                  </a:lnTo>
                  <a:lnTo>
                    <a:pt x="2514600" y="685800"/>
                  </a:lnTo>
                  <a:lnTo>
                    <a:pt x="0" y="685800"/>
                  </a:lnTo>
                  <a:lnTo>
                    <a:pt x="228600" y="342900"/>
                  </a:lnTo>
                  <a:close/>
                </a:path>
              </a:pathLst>
            </a:custGeom>
            <a:solidFill>
              <a:srgbClr val="CED7E6"/>
            </a:solidFill>
            <a:ln>
              <a:noFill/>
            </a:ln>
          </p:spPr>
        </p:sp>
        <p:sp>
          <p:nvSpPr>
            <p:cNvPr id="45" name="node11.number"/>
            <p:cNvSpPr/>
            <p:nvPr/>
          </p:nvSpPr>
          <p:spPr>
            <a:xfrm>
              <a:off x="6515100" y="5238750"/>
              <a:ext cx="110026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70154"/>
                  </a:solidFill>
                  <a:latin typeface="IBM Plex Mono SemiBold"/>
                  <a:ea typeface="IBM Plex Mono SemiBold"/>
                  <a:cs typeface="IBM Plex Mono SemiBold"/>
                </a:rPr>
                <a:t>30–60 min</a:t>
              </a:r>
              <a:endParaRPr lang="en-US" sz="1600" spc="0" kern="0" b="0" i="0" dirty="0">
                <a:solidFill>
                  <a:srgbClr val="070154"/>
                </a:solidFill>
                <a:latin typeface="IBM Plex Mono SemiBold"/>
                <a:ea typeface="IBM Plex Mono SemiBold"/>
                <a:cs typeface="IBM Plex Mono SemiBold"/>
              </a:endParaRPr>
            </a:p>
          </p:txBody>
        </p:sp>
        <p:sp>
          <p:nvSpPr>
            <p:cNvPr id="46" name="node11.text"/>
            <p:cNvSpPr/>
            <p:nvPr/>
          </p:nvSpPr>
          <p:spPr>
            <a:xfrm>
              <a:off x="7729665" y="5181600"/>
              <a:ext cx="919035"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Controller and CIO</a:t>
              </a:r>
              <a:endParaRPr lang="en-US" sz="1100" spc="0" kern="0" b="0" i="0" dirty="0">
                <a:solidFill>
                  <a:srgbClr val="070154"/>
                </a:solidFill>
                <a:latin typeface="IBM Plex Sans SemiBold"/>
                <a:ea typeface="IBM Plex Sans SemiBold"/>
                <a:cs typeface="IBM Plex Sans SemiBold"/>
              </a:endParaRPr>
            </a:p>
          </p:txBody>
        </p:sp>
      </p:grpSp>
      <p:grpSp>
        <p:nvGrpSpPr>
          <p:cNvPr id="61" name="node12"/>
          <p:cNvGrpSpPr/>
          <p:nvPr/>
        </p:nvGrpSpPr>
        <p:grpSpPr>
          <a:xfrm>
            <a:off x="8953500" y="5029200"/>
            <a:ext cx="2514600" cy="685800"/>
            <a:chOff x="8953500" y="5029200"/>
            <a:chExt cx="2514600" cy="685800"/>
          </a:xfrm>
        </p:grpSpPr>
        <p:sp>
          <p:nvSpPr>
            <p:cNvPr id="47" name="node12.surface"/>
            <p:cNvSpPr/>
            <p:nvPr/>
          </p:nvSpPr>
          <p:spPr>
            <a:xfrm>
              <a:off x="8953500" y="5029200"/>
              <a:ext cx="2514600" cy="685800"/>
            </a:xfrm>
            <a:custGeom>
              <a:avLst/>
              <a:gdLst/>
              <a:ahLst/>
              <a:cxnLst/>
              <a:rect l="l" t="t" r="r" b="b"/>
              <a:pathLst>
                <a:path w="2514600" h="685800">
                  <a:moveTo>
                    <a:pt x="0" y="0"/>
                  </a:moveTo>
                  <a:lnTo>
                    <a:pt x="2286000" y="0"/>
                  </a:lnTo>
                  <a:lnTo>
                    <a:pt x="2514600" y="342900"/>
                  </a:lnTo>
                  <a:lnTo>
                    <a:pt x="2286000" y="685800"/>
                  </a:lnTo>
                  <a:lnTo>
                    <a:pt x="0" y="685800"/>
                  </a:lnTo>
                  <a:lnTo>
                    <a:pt x="228600" y="342900"/>
                  </a:lnTo>
                  <a:close/>
                </a:path>
              </a:pathLst>
            </a:custGeom>
            <a:solidFill>
              <a:srgbClr val="070154"/>
            </a:solidFill>
            <a:ln>
              <a:noFill/>
            </a:ln>
          </p:spPr>
        </p:sp>
        <p:sp>
          <p:nvSpPr>
            <p:cNvPr id="48" name="node12.number"/>
            <p:cNvSpPr/>
            <p:nvPr/>
          </p:nvSpPr>
          <p:spPr>
            <a:xfrm>
              <a:off x="9258300" y="5238750"/>
              <a:ext cx="85579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60+ min</a:t>
              </a:r>
              <a:endParaRPr lang="en-US" sz="1600" spc="0" kern="0" b="0" i="0" dirty="0">
                <a:solidFill>
                  <a:srgbClr val="F900D3"/>
                </a:solidFill>
                <a:latin typeface="IBM Plex Mono SemiBold"/>
                <a:ea typeface="IBM Plex Mono SemiBold"/>
                <a:cs typeface="IBM Plex Mono SemiBold"/>
              </a:endParaRPr>
            </a:p>
          </p:txBody>
        </p:sp>
        <p:sp>
          <p:nvSpPr>
            <p:cNvPr id="49" name="node12.text"/>
            <p:cNvSpPr/>
            <p:nvPr/>
          </p:nvSpPr>
          <p:spPr>
            <a:xfrm>
              <a:off x="10228390" y="5181600"/>
              <a:ext cx="934911"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SemiBold"/>
                  <a:ea typeface="IBM Plex Sans SemiBold"/>
                  <a:cs typeface="IBM Plex Sans SemiBold"/>
                </a:rPr>
                <a:t>Steering committee</a:t>
              </a:r>
              <a:endParaRPr lang="en-US" sz="1100" spc="0"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ource-46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046756" y="1078992"/>
            <a:ext cx="1770532" cy="159733"/>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Four go/no-go gates pace the </a:t>
            </a:r>
            <a:r>
              <a:rPr lang="en-US" sz="3200" spc="-64" kern="0" b="0" i="0" dirty="0">
                <a:solidFill>
                  <a:srgbClr val="070154"/>
                </a:solidFill>
                <a:latin typeface="IBM Plex Sans SemiBold"/>
                <a:ea typeface="IBM Plex Sans SemiBold"/>
                <a:cs typeface="IBM Plex Sans SemiBold"/>
              </a:rPr>
              <a:t xml:space="preserve">weekend</a:t>
            </a:r>
            <a:r>
              <a:rPr lang="en-US" sz="3200" spc="-64" kern="0" b="0" i="0" dirty="0">
                <a:solidFill>
                  <a:srgbClr val="070154"/>
                </a:solidFill>
                <a:latin typeface="IBM Plex Sans SemiBold"/>
                <a:ea typeface="IBM Plex Sans SemiBold"/>
                <a:cs typeface="IBM Plex Sans SemiBold"/>
              </a:rPr>
              <a:t xml:space="preserve"> cutover</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186</a:t>
            </a:fld>
            <a:endParaRPr lang="en-US" sz="700" spc="0" kern="0" b="0" i="0" dirty="0">
              <a:solidFill>
                <a:srgbClr val="070154"/>
              </a:solidFill>
              <a:latin typeface="IBM Plex Mono SemiBold"/>
              <a:ea typeface="IBM Plex Mono SemiBold"/>
              <a:cs typeface="IBM Plex Mono SemiBold"/>
            </a:endParaRPr>
          </a:p>
        </p:txBody>
      </p:sp>
      <p:grpSp>
        <p:nvGrpSpPr>
          <p:cNvPr id="69" name="node01"/>
          <p:cNvGrpSpPr/>
          <p:nvPr/>
        </p:nvGrpSpPr>
        <p:grpSpPr>
          <a:xfrm>
            <a:off x="723900" y="1676400"/>
            <a:ext cx="10744200" cy="673100"/>
            <a:chOff x="723900" y="1676400"/>
            <a:chExt cx="10744200" cy="673100"/>
          </a:xfrm>
        </p:grpSpPr>
        <p:sp>
          <p:nvSpPr>
            <p:cNvPr id="7" name="node01.axis"/>
            <p:cNvSpPr/>
            <p:nvPr/>
          </p:nvSpPr>
          <p:spPr>
            <a:xfrm>
              <a:off x="723900" y="205740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8" name="node01.tick-0"/>
            <p:cNvSpPr/>
            <p:nvPr/>
          </p:nvSpPr>
          <p:spPr>
            <a:xfrm>
              <a:off x="723900"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9" name="node01.tick-1"/>
            <p:cNvSpPr/>
            <p:nvPr/>
          </p:nvSpPr>
          <p:spPr>
            <a:xfrm>
              <a:off x="2066925"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0" name="node01.tick-2"/>
            <p:cNvSpPr/>
            <p:nvPr/>
          </p:nvSpPr>
          <p:spPr>
            <a:xfrm>
              <a:off x="3409950"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1" name="node01.tick-3"/>
            <p:cNvSpPr/>
            <p:nvPr/>
          </p:nvSpPr>
          <p:spPr>
            <a:xfrm>
              <a:off x="4752975"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2" name="node01.tick-4"/>
            <p:cNvSpPr/>
            <p:nvPr/>
          </p:nvSpPr>
          <p:spPr>
            <a:xfrm>
              <a:off x="6096000"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3" name="node01.tick-5"/>
            <p:cNvSpPr/>
            <p:nvPr/>
          </p:nvSpPr>
          <p:spPr>
            <a:xfrm>
              <a:off x="7439025"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4" name="node01.tick-6"/>
            <p:cNvSpPr/>
            <p:nvPr/>
          </p:nvSpPr>
          <p:spPr>
            <a:xfrm>
              <a:off x="8782050"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5" name="node01.tick-7"/>
            <p:cNvSpPr/>
            <p:nvPr/>
          </p:nvSpPr>
          <p:spPr>
            <a:xfrm>
              <a:off x="10125075"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6" name="node01.tick-8"/>
            <p:cNvSpPr/>
            <p:nvPr/>
          </p:nvSpPr>
          <p:spPr>
            <a:xfrm>
              <a:off x="11468100"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7" name="node01.periods.slot-001"/>
            <p:cNvSpPr/>
            <p:nvPr/>
          </p:nvSpPr>
          <p:spPr>
            <a:xfrm>
              <a:off x="723900" y="2209800"/>
              <a:ext cx="1343025"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T-12H</a:t>
              </a:r>
              <a:endParaRPr lang="en-US" sz="800" spc="48" kern="0" b="0" i="0" dirty="0">
                <a:solidFill>
                  <a:srgbClr val="50658E"/>
                </a:solidFill>
                <a:latin typeface="IBM Plex Mono Medium"/>
                <a:ea typeface="IBM Plex Mono Medium"/>
                <a:cs typeface="IBM Plex Mono Medium"/>
              </a:endParaRPr>
            </a:p>
          </p:txBody>
        </p:sp>
        <p:sp>
          <p:nvSpPr>
            <p:cNvPr id="18" name="node01.periods.slot-002"/>
            <p:cNvSpPr/>
            <p:nvPr/>
          </p:nvSpPr>
          <p:spPr>
            <a:xfrm>
              <a:off x="2066925" y="2209800"/>
              <a:ext cx="1343025"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T-6H</a:t>
              </a:r>
              <a:endParaRPr lang="en-US" sz="800" spc="48" kern="0" b="0" i="0" dirty="0">
                <a:solidFill>
                  <a:srgbClr val="50658E"/>
                </a:solidFill>
                <a:latin typeface="IBM Plex Mono Medium"/>
                <a:ea typeface="IBM Plex Mono Medium"/>
                <a:cs typeface="IBM Plex Mono Medium"/>
              </a:endParaRPr>
            </a:p>
          </p:txBody>
        </p:sp>
        <p:sp>
          <p:nvSpPr>
            <p:cNvPr id="19" name="node01.periods.slot-003"/>
            <p:cNvSpPr/>
            <p:nvPr/>
          </p:nvSpPr>
          <p:spPr>
            <a:xfrm>
              <a:off x="3409950" y="2209800"/>
              <a:ext cx="1343025"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T-0</a:t>
              </a:r>
              <a:endParaRPr lang="en-US" sz="800" spc="48" kern="0" b="0" i="0" dirty="0">
                <a:solidFill>
                  <a:srgbClr val="50658E"/>
                </a:solidFill>
                <a:latin typeface="IBM Plex Mono Medium"/>
                <a:ea typeface="IBM Plex Mono Medium"/>
                <a:cs typeface="IBM Plex Mono Medium"/>
              </a:endParaRPr>
            </a:p>
          </p:txBody>
        </p:sp>
        <p:sp>
          <p:nvSpPr>
            <p:cNvPr id="20" name="node01.periods.slot-004"/>
            <p:cNvSpPr/>
            <p:nvPr/>
          </p:nvSpPr>
          <p:spPr>
            <a:xfrm>
              <a:off x="4752975" y="2209800"/>
              <a:ext cx="1343025"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T+6H</a:t>
              </a:r>
              <a:endParaRPr lang="en-US" sz="800" spc="48" kern="0" b="0" i="0" dirty="0">
                <a:solidFill>
                  <a:srgbClr val="50658E"/>
                </a:solidFill>
                <a:latin typeface="IBM Plex Mono Medium"/>
                <a:ea typeface="IBM Plex Mono Medium"/>
                <a:cs typeface="IBM Plex Mono Medium"/>
              </a:endParaRPr>
            </a:p>
          </p:txBody>
        </p:sp>
        <p:sp>
          <p:nvSpPr>
            <p:cNvPr id="21" name="node01.periods.slot-005"/>
            <p:cNvSpPr/>
            <p:nvPr/>
          </p:nvSpPr>
          <p:spPr>
            <a:xfrm>
              <a:off x="6096000" y="2209800"/>
              <a:ext cx="1343025"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T+12H</a:t>
              </a:r>
              <a:endParaRPr lang="en-US" sz="800" spc="48" kern="0" b="0" i="0" dirty="0">
                <a:solidFill>
                  <a:srgbClr val="50658E"/>
                </a:solidFill>
                <a:latin typeface="IBM Plex Mono Medium"/>
                <a:ea typeface="IBM Plex Mono Medium"/>
                <a:cs typeface="IBM Plex Mono Medium"/>
              </a:endParaRPr>
            </a:p>
          </p:txBody>
        </p:sp>
        <p:sp>
          <p:nvSpPr>
            <p:cNvPr id="22" name="node01.periods.slot-006"/>
            <p:cNvSpPr/>
            <p:nvPr/>
          </p:nvSpPr>
          <p:spPr>
            <a:xfrm>
              <a:off x="7439025" y="2209800"/>
              <a:ext cx="1343025"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T+18H</a:t>
              </a:r>
              <a:endParaRPr lang="en-US" sz="800" spc="48" kern="0" b="0" i="0" dirty="0">
                <a:solidFill>
                  <a:srgbClr val="50658E"/>
                </a:solidFill>
                <a:latin typeface="IBM Plex Mono Medium"/>
                <a:ea typeface="IBM Plex Mono Medium"/>
                <a:cs typeface="IBM Plex Mono Medium"/>
              </a:endParaRPr>
            </a:p>
          </p:txBody>
        </p:sp>
        <p:sp>
          <p:nvSpPr>
            <p:cNvPr id="23" name="node01.periods.slot-007"/>
            <p:cNvSpPr/>
            <p:nvPr/>
          </p:nvSpPr>
          <p:spPr>
            <a:xfrm>
              <a:off x="8782050" y="2209800"/>
              <a:ext cx="1343025"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T+24H</a:t>
              </a:r>
              <a:endParaRPr lang="en-US" sz="800" spc="48" kern="0" b="0" i="0" dirty="0">
                <a:solidFill>
                  <a:srgbClr val="50658E"/>
                </a:solidFill>
                <a:latin typeface="IBM Plex Mono Medium"/>
                <a:ea typeface="IBM Plex Mono Medium"/>
                <a:cs typeface="IBM Plex Mono Medium"/>
              </a:endParaRPr>
            </a:p>
          </p:txBody>
        </p:sp>
        <p:sp>
          <p:nvSpPr>
            <p:cNvPr id="24" name="node01.periods.slot-008"/>
            <p:cNvSpPr/>
            <p:nvPr/>
          </p:nvSpPr>
          <p:spPr>
            <a:xfrm>
              <a:off x="10125075" y="2209800"/>
              <a:ext cx="1343025"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T+36H</a:t>
              </a:r>
              <a:endParaRPr lang="en-US" sz="800" spc="48" kern="0" b="0" i="0" dirty="0">
                <a:solidFill>
                  <a:srgbClr val="50658E"/>
                </a:solidFill>
                <a:latin typeface="IBM Plex Mono Medium"/>
                <a:ea typeface="IBM Plex Mono Medium"/>
                <a:cs typeface="IBM Plex Mono Medium"/>
              </a:endParaRPr>
            </a:p>
          </p:txBody>
        </p:sp>
        <p:sp>
          <p:nvSpPr>
            <p:cNvPr id="25" name="node01.milestones.slot-001.marker"/>
            <p:cNvSpPr/>
            <p:nvPr/>
          </p:nvSpPr>
          <p:spPr>
            <a:xfrm>
              <a:off x="1977123" y="1967598"/>
              <a:ext cx="179603" cy="179603"/>
            </a:xfrm>
            <a:prstGeom prst="diamond">
              <a:avLst/>
            </a:prstGeom>
            <a:solidFill>
              <a:srgbClr val="070154"/>
            </a:solidFill>
            <a:ln>
              <a:noFill/>
            </a:ln>
          </p:spPr>
        </p:sp>
        <p:sp>
          <p:nvSpPr>
            <p:cNvPr id="26" name="node01.milestones.slot-001.label"/>
            <p:cNvSpPr/>
            <p:nvPr/>
          </p:nvSpPr>
          <p:spPr>
            <a:xfrm>
              <a:off x="1152525" y="1676400"/>
              <a:ext cx="1828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SemiBold"/>
                  <a:ea typeface="IBM Plex Sans SemiBold"/>
                  <a:cs typeface="IBM Plex Sans SemiBold"/>
                </a:rPr>
                <a:t>G1 · Ready to freeze</a:t>
              </a:r>
              <a:endParaRPr lang="en-US" sz="1100" spc="0" kern="0" b="0" i="0" dirty="0">
                <a:solidFill>
                  <a:srgbClr val="070154"/>
                </a:solidFill>
                <a:latin typeface="IBM Plex Sans SemiBold"/>
                <a:ea typeface="IBM Plex Sans SemiBold"/>
                <a:cs typeface="IBM Plex Sans SemiBold"/>
              </a:endParaRPr>
            </a:p>
          </p:txBody>
        </p:sp>
        <p:sp>
          <p:nvSpPr>
            <p:cNvPr id="27" name="node01.milestones.slot-002.marker"/>
            <p:cNvSpPr/>
            <p:nvPr/>
          </p:nvSpPr>
          <p:spPr>
            <a:xfrm>
              <a:off x="4931778" y="1967598"/>
              <a:ext cx="179603" cy="179603"/>
            </a:xfrm>
            <a:prstGeom prst="diamond">
              <a:avLst/>
            </a:prstGeom>
            <a:solidFill>
              <a:srgbClr val="070154"/>
            </a:solidFill>
            <a:ln>
              <a:noFill/>
            </a:ln>
          </p:spPr>
        </p:sp>
        <p:sp>
          <p:nvSpPr>
            <p:cNvPr id="28" name="node01.milestones.slot-002.label"/>
            <p:cNvSpPr/>
            <p:nvPr/>
          </p:nvSpPr>
          <p:spPr>
            <a:xfrm>
              <a:off x="4107180" y="1676400"/>
              <a:ext cx="1828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SemiBold"/>
                  <a:ea typeface="IBM Plex Sans SemiBold"/>
                  <a:cs typeface="IBM Plex Sans SemiBold"/>
                </a:rPr>
                <a:t>G2 · Data tied out</a:t>
              </a:r>
              <a:endParaRPr lang="en-US" sz="1100" spc="0" kern="0" b="0" i="0" dirty="0">
                <a:solidFill>
                  <a:srgbClr val="070154"/>
                </a:solidFill>
                <a:latin typeface="IBM Plex Sans SemiBold"/>
                <a:ea typeface="IBM Plex Sans SemiBold"/>
                <a:cs typeface="IBM Plex Sans SemiBold"/>
              </a:endParaRPr>
            </a:p>
          </p:txBody>
        </p:sp>
        <p:sp>
          <p:nvSpPr>
            <p:cNvPr id="29" name="node01.milestones.slot-003.marker"/>
            <p:cNvSpPr/>
            <p:nvPr/>
          </p:nvSpPr>
          <p:spPr>
            <a:xfrm>
              <a:off x="6865734" y="1967598"/>
              <a:ext cx="179603" cy="179603"/>
            </a:xfrm>
            <a:prstGeom prst="diamond">
              <a:avLst/>
            </a:prstGeom>
            <a:solidFill>
              <a:srgbClr val="070154"/>
            </a:solidFill>
            <a:ln>
              <a:noFill/>
            </a:ln>
          </p:spPr>
        </p:sp>
        <p:sp>
          <p:nvSpPr>
            <p:cNvPr id="30" name="node01.milestones.slot-003.label"/>
            <p:cNvSpPr/>
            <p:nvPr/>
          </p:nvSpPr>
          <p:spPr>
            <a:xfrm>
              <a:off x="6041136" y="1676400"/>
              <a:ext cx="1828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SemiBold"/>
                  <a:ea typeface="IBM Plex Sans SemiBold"/>
                  <a:cs typeface="IBM Plex Sans SemiBold"/>
                </a:rPr>
                <a:t>G3 · Open ledger</a:t>
              </a:r>
              <a:endParaRPr lang="en-US" sz="1100" spc="0" kern="0" b="0" i="0" dirty="0">
                <a:solidFill>
                  <a:srgbClr val="070154"/>
                </a:solidFill>
                <a:latin typeface="IBM Plex Sans SemiBold"/>
                <a:ea typeface="IBM Plex Sans SemiBold"/>
                <a:cs typeface="IBM Plex Sans SemiBold"/>
              </a:endParaRPr>
            </a:p>
          </p:txBody>
        </p:sp>
        <p:sp>
          <p:nvSpPr>
            <p:cNvPr id="31" name="node01.milestones.slot-004.marker"/>
            <p:cNvSpPr/>
            <p:nvPr/>
          </p:nvSpPr>
          <p:spPr>
            <a:xfrm>
              <a:off x="10303878" y="1967598"/>
              <a:ext cx="179603" cy="179603"/>
            </a:xfrm>
            <a:prstGeom prst="diamond">
              <a:avLst/>
            </a:prstGeom>
            <a:solidFill>
              <a:srgbClr val="070154"/>
            </a:solidFill>
            <a:ln>
              <a:noFill/>
            </a:ln>
          </p:spPr>
        </p:sp>
        <p:sp>
          <p:nvSpPr>
            <p:cNvPr id="32" name="node01.milestones.slot-004.label"/>
            <p:cNvSpPr/>
            <p:nvPr/>
          </p:nvSpPr>
          <p:spPr>
            <a:xfrm>
              <a:off x="9479280" y="1676400"/>
              <a:ext cx="1828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SemiBold"/>
                  <a:ea typeface="IBM Plex Sans SemiBold"/>
                  <a:cs typeface="IBM Plex Sans SemiBold"/>
                </a:rPr>
                <a:t>G4 · Exit to hypercare</a:t>
              </a:r>
              <a:endParaRPr lang="en-US" sz="1100" spc="0" kern="0" b="0" i="0" dirty="0">
                <a:solidFill>
                  <a:srgbClr val="070154"/>
                </a:solidFill>
                <a:latin typeface="IBM Plex Sans SemiBold"/>
                <a:ea typeface="IBM Plex Sans SemiBold"/>
                <a:cs typeface="IBM Plex Sans SemiBold"/>
              </a:endParaRPr>
            </a:p>
          </p:txBody>
        </p:sp>
      </p:grpSp>
      <p:grpSp>
        <p:nvGrpSpPr>
          <p:cNvPr id="70" name="node02"/>
          <p:cNvGrpSpPr/>
          <p:nvPr/>
        </p:nvGrpSpPr>
        <p:grpSpPr>
          <a:xfrm>
            <a:off x="723900" y="2743200"/>
            <a:ext cx="2514600" cy="2057400"/>
            <a:chOff x="723900" y="2743200"/>
            <a:chExt cx="2514600" cy="2057400"/>
          </a:xfrm>
        </p:grpSpPr>
        <p:sp>
          <p:nvSpPr>
            <p:cNvPr id="33" name="node02.container"/>
            <p:cNvSpPr/>
            <p:nvPr/>
          </p:nvSpPr>
          <p:spPr>
            <a:xfrm>
              <a:off x="723900" y="2743200"/>
              <a:ext cx="2514600" cy="2057400"/>
            </a:xfrm>
            <a:prstGeom prst="rect">
              <a:avLst/>
            </a:prstGeom>
            <a:solidFill>
              <a:srgbClr val="E8EEF8"/>
            </a:solidFill>
            <a:ln>
              <a:noFill/>
            </a:ln>
          </p:spPr>
        </p:sp>
        <p:sp>
          <p:nvSpPr>
            <p:cNvPr id="34" name="node02.label"/>
            <p:cNvSpPr/>
            <p:nvPr/>
          </p:nvSpPr>
          <p:spPr>
            <a:xfrm>
              <a:off x="876300" y="28956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T-12H TO T-0</a:t>
              </a:r>
              <a:endParaRPr lang="en-US" sz="800" spc="48" kern="0" b="0" i="0" dirty="0">
                <a:solidFill>
                  <a:srgbClr val="0047FF"/>
                </a:solidFill>
                <a:latin typeface="IBM Plex Mono Medium"/>
                <a:ea typeface="IBM Plex Mono Medium"/>
                <a:cs typeface="IBM Plex Mono Medium"/>
              </a:endParaRPr>
            </a:p>
          </p:txBody>
        </p:sp>
        <p:sp>
          <p:nvSpPr>
            <p:cNvPr id="35" name="node02.title"/>
            <p:cNvSpPr/>
            <p:nvPr/>
          </p:nvSpPr>
          <p:spPr>
            <a:xfrm>
              <a:off x="876300" y="3111500"/>
              <a:ext cx="2209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Prepare</a:t>
              </a:r>
              <a:endParaRPr lang="en-US" sz="1600" spc="-16" kern="0" b="0" i="0" dirty="0">
                <a:solidFill>
                  <a:srgbClr val="070154"/>
                </a:solidFill>
                <a:latin typeface="IBM Plex Sans SemiBold"/>
                <a:ea typeface="IBM Plex Sans SemiBold"/>
                <a:cs typeface="IBM Plex Sans SemiBold"/>
              </a:endParaRPr>
            </a:p>
          </p:txBody>
        </p:sp>
        <p:sp>
          <p:nvSpPr>
            <p:cNvPr id="36" name="node02.body.item-001.bullets.item-001.marker"/>
            <p:cNvSpPr/>
            <p:nvPr/>
          </p:nvSpPr>
          <p:spPr>
            <a:xfrm>
              <a:off x="876300" y="3619500"/>
              <a:ext cx="38100" cy="38100"/>
            </a:xfrm>
            <a:prstGeom prst="rect">
              <a:avLst/>
            </a:prstGeom>
            <a:solidFill>
              <a:srgbClr val="070154"/>
            </a:solidFill>
            <a:ln>
              <a:noFill/>
            </a:ln>
          </p:spPr>
        </p:sp>
        <p:sp>
          <p:nvSpPr>
            <p:cNvPr id="37" name="node02.body.item-001.bullets.item-001.text"/>
            <p:cNvSpPr/>
            <p:nvPr/>
          </p:nvSpPr>
          <p:spPr>
            <a:xfrm>
              <a:off x="1028700" y="3530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Sign the rollback plan</a:t>
              </a:r>
              <a:endParaRPr lang="en-US" sz="1200" spc="0" kern="0" b="0" i="0" dirty="0">
                <a:solidFill>
                  <a:srgbClr val="070154"/>
                </a:solidFill>
                <a:latin typeface="IBM Plex Sans"/>
                <a:ea typeface="IBM Plex Sans"/>
                <a:cs typeface="IBM Plex Sans"/>
              </a:endParaRPr>
            </a:p>
          </p:txBody>
        </p:sp>
        <p:sp>
          <p:nvSpPr>
            <p:cNvPr id="38" name="node02.body.item-001.bullets.item-002.marker"/>
            <p:cNvSpPr/>
            <p:nvPr/>
          </p:nvSpPr>
          <p:spPr>
            <a:xfrm>
              <a:off x="876300" y="3873500"/>
              <a:ext cx="38100" cy="38100"/>
            </a:xfrm>
            <a:prstGeom prst="rect">
              <a:avLst/>
            </a:prstGeom>
            <a:solidFill>
              <a:srgbClr val="070154"/>
            </a:solidFill>
            <a:ln>
              <a:noFill/>
            </a:ln>
          </p:spPr>
        </p:sp>
        <p:sp>
          <p:nvSpPr>
            <p:cNvPr id="39" name="node02.body.item-001.bullets.item-002.text"/>
            <p:cNvSpPr/>
            <p:nvPr/>
          </p:nvSpPr>
          <p:spPr>
            <a:xfrm>
              <a:off x="1028700" y="3784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Open the support bridge</a:t>
              </a:r>
              <a:endParaRPr lang="en-US" sz="1200" spc="0" kern="0" b="0" i="0" dirty="0">
                <a:solidFill>
                  <a:srgbClr val="070154"/>
                </a:solidFill>
                <a:latin typeface="IBM Plex Sans"/>
                <a:ea typeface="IBM Plex Sans"/>
                <a:cs typeface="IBM Plex Sans"/>
              </a:endParaRPr>
            </a:p>
          </p:txBody>
        </p:sp>
      </p:grpSp>
      <p:grpSp>
        <p:nvGrpSpPr>
          <p:cNvPr id="71" name="node03"/>
          <p:cNvGrpSpPr/>
          <p:nvPr/>
        </p:nvGrpSpPr>
        <p:grpSpPr>
          <a:xfrm>
            <a:off x="723900" y="5029200"/>
            <a:ext cx="2514600" cy="914400"/>
            <a:chOff x="723900" y="5029200"/>
            <a:chExt cx="2514600" cy="914400"/>
          </a:xfrm>
        </p:grpSpPr>
        <p:sp>
          <p:nvSpPr>
            <p:cNvPr id="40" name="node03.surface"/>
            <p:cNvSpPr/>
            <p:nvPr/>
          </p:nvSpPr>
          <p:spPr>
            <a:xfrm>
              <a:off x="723900" y="5029200"/>
              <a:ext cx="2514600" cy="914400"/>
            </a:xfrm>
            <a:prstGeom prst="rect">
              <a:avLst/>
            </a:prstGeom>
            <a:solidFill>
              <a:srgbClr val="070154"/>
            </a:solidFill>
            <a:ln>
              <a:noFill/>
            </a:ln>
          </p:spPr>
        </p:sp>
        <p:sp>
          <p:nvSpPr>
            <p:cNvPr id="41" name="node03.text"/>
            <p:cNvSpPr/>
            <p:nvPr/>
          </p:nvSpPr>
          <p:spPr>
            <a:xfrm>
              <a:off x="876300" y="5295900"/>
              <a:ext cx="2209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G1 · Cutover lead confirms rollback and bridge ready</a:t>
              </a:r>
              <a:endParaRPr lang="en-US" sz="1100" spc="0" kern="0" b="0" i="0" dirty="0">
                <a:solidFill>
                  <a:srgbClr val="FFFFFF"/>
                </a:solidFill>
                <a:latin typeface="IBM Plex Sans"/>
                <a:ea typeface="IBM Plex Sans"/>
                <a:cs typeface="IBM Plex Sans"/>
              </a:endParaRPr>
            </a:p>
          </p:txBody>
        </p:sp>
      </p:grpSp>
      <p:grpSp>
        <p:nvGrpSpPr>
          <p:cNvPr id="72" name="node04"/>
          <p:cNvGrpSpPr/>
          <p:nvPr/>
        </p:nvGrpSpPr>
        <p:grpSpPr>
          <a:xfrm>
            <a:off x="3467100" y="2743200"/>
            <a:ext cx="2514600" cy="2057400"/>
            <a:chOff x="3467100" y="2743200"/>
            <a:chExt cx="2514600" cy="2057400"/>
          </a:xfrm>
        </p:grpSpPr>
        <p:sp>
          <p:nvSpPr>
            <p:cNvPr id="42" name="node04.container"/>
            <p:cNvSpPr/>
            <p:nvPr/>
          </p:nvSpPr>
          <p:spPr>
            <a:xfrm>
              <a:off x="3467100" y="2743200"/>
              <a:ext cx="2514600" cy="2057400"/>
            </a:xfrm>
            <a:prstGeom prst="rect">
              <a:avLst/>
            </a:prstGeom>
            <a:solidFill>
              <a:srgbClr val="E8EEF8"/>
            </a:solidFill>
            <a:ln>
              <a:noFill/>
            </a:ln>
          </p:spPr>
        </p:sp>
        <p:sp>
          <p:nvSpPr>
            <p:cNvPr id="43" name="node04.label"/>
            <p:cNvSpPr/>
            <p:nvPr/>
          </p:nvSpPr>
          <p:spPr>
            <a:xfrm>
              <a:off x="3619500" y="28956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T-0 TO T+6H</a:t>
              </a:r>
              <a:endParaRPr lang="en-US" sz="800" spc="48" kern="0" b="0" i="0" dirty="0">
                <a:solidFill>
                  <a:srgbClr val="0047FF"/>
                </a:solidFill>
                <a:latin typeface="IBM Plex Mono Medium"/>
                <a:ea typeface="IBM Plex Mono Medium"/>
                <a:cs typeface="IBM Plex Mono Medium"/>
              </a:endParaRPr>
            </a:p>
          </p:txBody>
        </p:sp>
        <p:sp>
          <p:nvSpPr>
            <p:cNvPr id="44" name="node04.title"/>
            <p:cNvSpPr/>
            <p:nvPr/>
          </p:nvSpPr>
          <p:spPr>
            <a:xfrm>
              <a:off x="3619500" y="3111500"/>
              <a:ext cx="2209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Freeze and migrate</a:t>
              </a:r>
              <a:endParaRPr lang="en-US" sz="1600" spc="-16" kern="0" b="0" i="0" dirty="0">
                <a:solidFill>
                  <a:srgbClr val="070154"/>
                </a:solidFill>
                <a:latin typeface="IBM Plex Sans SemiBold"/>
                <a:ea typeface="IBM Plex Sans SemiBold"/>
                <a:cs typeface="IBM Plex Sans SemiBold"/>
              </a:endParaRPr>
            </a:p>
          </p:txBody>
        </p:sp>
        <p:sp>
          <p:nvSpPr>
            <p:cNvPr id="45" name="node04.body.item-001.bullets.item-001.marker"/>
            <p:cNvSpPr/>
            <p:nvPr/>
          </p:nvSpPr>
          <p:spPr>
            <a:xfrm>
              <a:off x="3619500" y="3619500"/>
              <a:ext cx="38100" cy="38100"/>
            </a:xfrm>
            <a:prstGeom prst="rect">
              <a:avLst/>
            </a:prstGeom>
            <a:solidFill>
              <a:srgbClr val="070154"/>
            </a:solidFill>
            <a:ln>
              <a:noFill/>
            </a:ln>
          </p:spPr>
        </p:sp>
        <p:sp>
          <p:nvSpPr>
            <p:cNvPr id="46" name="node04.body.item-001.bullets.item-001.text"/>
            <p:cNvSpPr/>
            <p:nvPr/>
          </p:nvSpPr>
          <p:spPr>
            <a:xfrm>
              <a:off x="3771900" y="3530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Lock legacy; take backup</a:t>
              </a:r>
              <a:endParaRPr lang="en-US" sz="1200" spc="0" kern="0" b="0" i="0" dirty="0">
                <a:solidFill>
                  <a:srgbClr val="070154"/>
                </a:solidFill>
                <a:latin typeface="IBM Plex Sans"/>
                <a:ea typeface="IBM Plex Sans"/>
                <a:cs typeface="IBM Plex Sans"/>
              </a:endParaRPr>
            </a:p>
          </p:txBody>
        </p:sp>
        <p:sp>
          <p:nvSpPr>
            <p:cNvPr id="47" name="node04.body.item-001.bullets.item-002.marker"/>
            <p:cNvSpPr/>
            <p:nvPr/>
          </p:nvSpPr>
          <p:spPr>
            <a:xfrm>
              <a:off x="3619500" y="3873500"/>
              <a:ext cx="38100" cy="38100"/>
            </a:xfrm>
            <a:prstGeom prst="rect">
              <a:avLst/>
            </a:prstGeom>
            <a:solidFill>
              <a:srgbClr val="070154"/>
            </a:solidFill>
            <a:ln>
              <a:noFill/>
            </a:ln>
          </p:spPr>
        </p:sp>
        <p:sp>
          <p:nvSpPr>
            <p:cNvPr id="48" name="node04.body.item-001.bullets.item-002.text"/>
            <p:cNvSpPr/>
            <p:nvPr/>
          </p:nvSpPr>
          <p:spPr>
            <a:xfrm>
              <a:off x="3771900" y="3784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Extract, load and reconcile</a:t>
              </a:r>
              <a:endParaRPr lang="en-US" sz="1200" spc="0" kern="0" b="0" i="0" dirty="0">
                <a:solidFill>
                  <a:srgbClr val="070154"/>
                </a:solidFill>
                <a:latin typeface="IBM Plex Sans"/>
                <a:ea typeface="IBM Plex Sans"/>
                <a:cs typeface="IBM Plex Sans"/>
              </a:endParaRPr>
            </a:p>
          </p:txBody>
        </p:sp>
      </p:grpSp>
      <p:grpSp>
        <p:nvGrpSpPr>
          <p:cNvPr id="73" name="node05"/>
          <p:cNvGrpSpPr/>
          <p:nvPr/>
        </p:nvGrpSpPr>
        <p:grpSpPr>
          <a:xfrm>
            <a:off x="3467100" y="5029200"/>
            <a:ext cx="2514600" cy="914400"/>
            <a:chOff x="3467100" y="5029200"/>
            <a:chExt cx="2514600" cy="914400"/>
          </a:xfrm>
        </p:grpSpPr>
        <p:sp>
          <p:nvSpPr>
            <p:cNvPr id="49" name="node05.surface"/>
            <p:cNvSpPr/>
            <p:nvPr/>
          </p:nvSpPr>
          <p:spPr>
            <a:xfrm>
              <a:off x="3467100" y="5029200"/>
              <a:ext cx="2514600" cy="914400"/>
            </a:xfrm>
            <a:prstGeom prst="rect">
              <a:avLst/>
            </a:prstGeom>
            <a:solidFill>
              <a:srgbClr val="070154"/>
            </a:solidFill>
            <a:ln>
              <a:noFill/>
            </a:ln>
          </p:spPr>
        </p:sp>
        <p:sp>
          <p:nvSpPr>
            <p:cNvPr id="50" name="node05.text"/>
            <p:cNvSpPr/>
            <p:nvPr/>
          </p:nvSpPr>
          <p:spPr>
            <a:xfrm>
              <a:off x="3619500" y="5295900"/>
              <a:ext cx="2209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G2 · Controller confirms balances tie to legacy</a:t>
              </a:r>
              <a:endParaRPr lang="en-US" sz="1100" spc="0" kern="0" b="0" i="0" dirty="0">
                <a:solidFill>
                  <a:srgbClr val="FFFFFF"/>
                </a:solidFill>
                <a:latin typeface="IBM Plex Sans"/>
                <a:ea typeface="IBM Plex Sans"/>
                <a:cs typeface="IBM Plex Sans"/>
              </a:endParaRPr>
            </a:p>
          </p:txBody>
        </p:sp>
      </p:grpSp>
      <p:grpSp>
        <p:nvGrpSpPr>
          <p:cNvPr id="74" name="node06"/>
          <p:cNvGrpSpPr/>
          <p:nvPr/>
        </p:nvGrpSpPr>
        <p:grpSpPr>
          <a:xfrm>
            <a:off x="6210300" y="2743200"/>
            <a:ext cx="2514600" cy="2057400"/>
            <a:chOff x="6210300" y="2743200"/>
            <a:chExt cx="2514600" cy="2057400"/>
          </a:xfrm>
        </p:grpSpPr>
        <p:sp>
          <p:nvSpPr>
            <p:cNvPr id="51" name="node06.container"/>
            <p:cNvSpPr/>
            <p:nvPr/>
          </p:nvSpPr>
          <p:spPr>
            <a:xfrm>
              <a:off x="6210300" y="2743200"/>
              <a:ext cx="2514600" cy="2057400"/>
            </a:xfrm>
            <a:prstGeom prst="rect">
              <a:avLst/>
            </a:prstGeom>
            <a:solidFill>
              <a:srgbClr val="E8EEF8"/>
            </a:solidFill>
            <a:ln>
              <a:noFill/>
            </a:ln>
          </p:spPr>
        </p:sp>
        <p:sp>
          <p:nvSpPr>
            <p:cNvPr id="52" name="node06.label"/>
            <p:cNvSpPr/>
            <p:nvPr/>
          </p:nvSpPr>
          <p:spPr>
            <a:xfrm>
              <a:off x="6362700" y="28956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T+6H TO T+12H</a:t>
              </a:r>
              <a:endParaRPr lang="en-US" sz="800" spc="48" kern="0" b="0" i="0" dirty="0">
                <a:solidFill>
                  <a:srgbClr val="0047FF"/>
                </a:solidFill>
                <a:latin typeface="IBM Plex Mono Medium"/>
                <a:ea typeface="IBM Plex Mono Medium"/>
                <a:cs typeface="IBM Plex Mono Medium"/>
              </a:endParaRPr>
            </a:p>
          </p:txBody>
        </p:sp>
        <p:sp>
          <p:nvSpPr>
            <p:cNvPr id="53" name="node06.title"/>
            <p:cNvSpPr/>
            <p:nvPr/>
          </p:nvSpPr>
          <p:spPr>
            <a:xfrm>
              <a:off x="6362700" y="3111500"/>
              <a:ext cx="2209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Validate and open</a:t>
              </a:r>
              <a:endParaRPr lang="en-US" sz="1600" spc="-16" kern="0" b="0" i="0" dirty="0">
                <a:solidFill>
                  <a:srgbClr val="070154"/>
                </a:solidFill>
                <a:latin typeface="IBM Plex Sans SemiBold"/>
                <a:ea typeface="IBM Plex Sans SemiBold"/>
                <a:cs typeface="IBM Plex Sans SemiBold"/>
              </a:endParaRPr>
            </a:p>
          </p:txBody>
        </p:sp>
        <p:sp>
          <p:nvSpPr>
            <p:cNvPr id="54" name="node06.body.item-001.bullets.item-001.marker"/>
            <p:cNvSpPr/>
            <p:nvPr/>
          </p:nvSpPr>
          <p:spPr>
            <a:xfrm>
              <a:off x="6362700" y="3619500"/>
              <a:ext cx="38100" cy="38100"/>
            </a:xfrm>
            <a:prstGeom prst="rect">
              <a:avLst/>
            </a:prstGeom>
            <a:solidFill>
              <a:srgbClr val="070154"/>
            </a:solidFill>
            <a:ln>
              <a:noFill/>
            </a:ln>
          </p:spPr>
        </p:sp>
        <p:sp>
          <p:nvSpPr>
            <p:cNvPr id="55" name="node06.body.item-001.bullets.item-001.text"/>
            <p:cNvSpPr/>
            <p:nvPr/>
          </p:nvSpPr>
          <p:spPr>
            <a:xfrm>
              <a:off x="6515100" y="35306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Switch interfaces; test posting</a:t>
              </a:r>
              <a:endParaRPr lang="en-US" sz="1200" spc="0" kern="0" b="0" i="0" dirty="0">
                <a:solidFill>
                  <a:srgbClr val="070154"/>
                </a:solidFill>
                <a:latin typeface="IBM Plex Sans"/>
                <a:ea typeface="IBM Plex Sans"/>
                <a:cs typeface="IBM Plex Sans"/>
              </a:endParaRPr>
            </a:p>
          </p:txBody>
        </p:sp>
        <p:sp>
          <p:nvSpPr>
            <p:cNvPr id="56" name="node06.body.item-001.bullets.item-002.marker"/>
            <p:cNvSpPr/>
            <p:nvPr/>
          </p:nvSpPr>
          <p:spPr>
            <a:xfrm>
              <a:off x="6362700" y="4089400"/>
              <a:ext cx="38100" cy="38100"/>
            </a:xfrm>
            <a:prstGeom prst="rect">
              <a:avLst/>
            </a:prstGeom>
            <a:solidFill>
              <a:srgbClr val="070154"/>
            </a:solidFill>
            <a:ln>
              <a:noFill/>
            </a:ln>
          </p:spPr>
        </p:sp>
        <p:sp>
          <p:nvSpPr>
            <p:cNvPr id="57" name="node06.body.item-001.bullets.item-002.text"/>
            <p:cNvSpPr/>
            <p:nvPr/>
          </p:nvSpPr>
          <p:spPr>
            <a:xfrm>
              <a:off x="6515100" y="40005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Leads sign off balances</a:t>
              </a:r>
              <a:endParaRPr lang="en-US" sz="1200" spc="0" kern="0" b="0" i="0" dirty="0">
                <a:solidFill>
                  <a:srgbClr val="070154"/>
                </a:solidFill>
                <a:latin typeface="IBM Plex Sans"/>
                <a:ea typeface="IBM Plex Sans"/>
                <a:cs typeface="IBM Plex Sans"/>
              </a:endParaRPr>
            </a:p>
          </p:txBody>
        </p:sp>
      </p:grpSp>
      <p:grpSp>
        <p:nvGrpSpPr>
          <p:cNvPr id="75" name="node07"/>
          <p:cNvGrpSpPr/>
          <p:nvPr/>
        </p:nvGrpSpPr>
        <p:grpSpPr>
          <a:xfrm>
            <a:off x="6210300" y="5029200"/>
            <a:ext cx="2514600" cy="914400"/>
            <a:chOff x="6210300" y="5029200"/>
            <a:chExt cx="2514600" cy="914400"/>
          </a:xfrm>
        </p:grpSpPr>
        <p:sp>
          <p:nvSpPr>
            <p:cNvPr id="58" name="node07.surface"/>
            <p:cNvSpPr/>
            <p:nvPr/>
          </p:nvSpPr>
          <p:spPr>
            <a:xfrm>
              <a:off x="6210300" y="5029200"/>
              <a:ext cx="2514600" cy="914400"/>
            </a:xfrm>
            <a:prstGeom prst="rect">
              <a:avLst/>
            </a:prstGeom>
            <a:solidFill>
              <a:srgbClr val="070154"/>
            </a:solidFill>
            <a:ln>
              <a:noFill/>
            </a:ln>
          </p:spPr>
        </p:sp>
        <p:sp>
          <p:nvSpPr>
            <p:cNvPr id="59" name="node07.text"/>
            <p:cNvSpPr/>
            <p:nvPr/>
          </p:nvSpPr>
          <p:spPr>
            <a:xfrm>
              <a:off x="6362700" y="5295900"/>
              <a:ext cx="2209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G3 · Controller opens the ledger to users</a:t>
              </a:r>
              <a:endParaRPr lang="en-US" sz="1100" spc="0" kern="0" b="0" i="0" dirty="0">
                <a:solidFill>
                  <a:srgbClr val="FFFFFF"/>
                </a:solidFill>
                <a:latin typeface="IBM Plex Sans"/>
                <a:ea typeface="IBM Plex Sans"/>
                <a:cs typeface="IBM Plex Sans"/>
              </a:endParaRPr>
            </a:p>
          </p:txBody>
        </p:sp>
      </p:grpSp>
      <p:grpSp>
        <p:nvGrpSpPr>
          <p:cNvPr id="76" name="node08"/>
          <p:cNvGrpSpPr/>
          <p:nvPr/>
        </p:nvGrpSpPr>
        <p:grpSpPr>
          <a:xfrm>
            <a:off x="8953500" y="2743200"/>
            <a:ext cx="2514600" cy="2057400"/>
            <a:chOff x="8953500" y="2743200"/>
            <a:chExt cx="2514600" cy="2057400"/>
          </a:xfrm>
        </p:grpSpPr>
        <p:sp>
          <p:nvSpPr>
            <p:cNvPr id="60" name="node08.container"/>
            <p:cNvSpPr/>
            <p:nvPr/>
          </p:nvSpPr>
          <p:spPr>
            <a:xfrm>
              <a:off x="8953500" y="2743200"/>
              <a:ext cx="2514600" cy="2057400"/>
            </a:xfrm>
            <a:prstGeom prst="rect">
              <a:avLst/>
            </a:prstGeom>
            <a:solidFill>
              <a:srgbClr val="E8EEF8"/>
            </a:solidFill>
            <a:ln>
              <a:noFill/>
            </a:ln>
          </p:spPr>
        </p:sp>
        <p:sp>
          <p:nvSpPr>
            <p:cNvPr id="61" name="node08.label"/>
            <p:cNvSpPr/>
            <p:nvPr/>
          </p:nvSpPr>
          <p:spPr>
            <a:xfrm>
              <a:off x="9105900" y="28956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T+12H TO T+36H</a:t>
              </a:r>
              <a:endParaRPr lang="en-US" sz="800" spc="48" kern="0" b="0" i="0" dirty="0">
                <a:solidFill>
                  <a:srgbClr val="0047FF"/>
                </a:solidFill>
                <a:latin typeface="IBM Plex Mono Medium"/>
                <a:ea typeface="IBM Plex Mono Medium"/>
                <a:cs typeface="IBM Plex Mono Medium"/>
              </a:endParaRPr>
            </a:p>
          </p:txBody>
        </p:sp>
        <p:sp>
          <p:nvSpPr>
            <p:cNvPr id="62" name="node08.title"/>
            <p:cNvSpPr/>
            <p:nvPr/>
          </p:nvSpPr>
          <p:spPr>
            <a:xfrm>
              <a:off x="9105900" y="3111500"/>
              <a:ext cx="2209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Stabilize</a:t>
              </a:r>
              <a:endParaRPr lang="en-US" sz="1600" spc="-16" kern="0" b="0" i="0" dirty="0">
                <a:solidFill>
                  <a:srgbClr val="070154"/>
                </a:solidFill>
                <a:latin typeface="IBM Plex Sans SemiBold"/>
                <a:ea typeface="IBM Plex Sans SemiBold"/>
                <a:cs typeface="IBM Plex Sans SemiBold"/>
              </a:endParaRPr>
            </a:p>
          </p:txBody>
        </p:sp>
        <p:sp>
          <p:nvSpPr>
            <p:cNvPr id="63" name="node08.body.item-001.bullets.item-001.marker"/>
            <p:cNvSpPr/>
            <p:nvPr/>
          </p:nvSpPr>
          <p:spPr>
            <a:xfrm>
              <a:off x="9105900" y="3619500"/>
              <a:ext cx="38100" cy="38100"/>
            </a:xfrm>
            <a:prstGeom prst="rect">
              <a:avLst/>
            </a:prstGeom>
            <a:solidFill>
              <a:srgbClr val="070154"/>
            </a:solidFill>
            <a:ln>
              <a:noFill/>
            </a:ln>
          </p:spPr>
        </p:sp>
        <p:sp>
          <p:nvSpPr>
            <p:cNvPr id="64" name="node08.body.item-001.bullets.item-001.text"/>
            <p:cNvSpPr/>
            <p:nvPr/>
          </p:nvSpPr>
          <p:spPr>
            <a:xfrm>
              <a:off x="9258300" y="35306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Watch posting and match rates</a:t>
              </a:r>
              <a:endParaRPr lang="en-US" sz="1200" spc="0" kern="0" b="0" i="0" dirty="0">
                <a:solidFill>
                  <a:srgbClr val="070154"/>
                </a:solidFill>
                <a:latin typeface="IBM Plex Sans"/>
                <a:ea typeface="IBM Plex Sans"/>
                <a:cs typeface="IBM Plex Sans"/>
              </a:endParaRPr>
            </a:p>
          </p:txBody>
        </p:sp>
        <p:sp>
          <p:nvSpPr>
            <p:cNvPr id="65" name="node08.body.item-001.bullets.item-002.marker"/>
            <p:cNvSpPr/>
            <p:nvPr/>
          </p:nvSpPr>
          <p:spPr>
            <a:xfrm>
              <a:off x="9105900" y="4089400"/>
              <a:ext cx="38100" cy="38100"/>
            </a:xfrm>
            <a:prstGeom prst="rect">
              <a:avLst/>
            </a:prstGeom>
            <a:solidFill>
              <a:srgbClr val="070154"/>
            </a:solidFill>
            <a:ln>
              <a:noFill/>
            </a:ln>
          </p:spPr>
        </p:sp>
        <p:sp>
          <p:nvSpPr>
            <p:cNvPr id="66" name="node08.body.item-001.bullets.item-002.text"/>
            <p:cNvSpPr/>
            <p:nvPr/>
          </p:nvSpPr>
          <p:spPr>
            <a:xfrm>
              <a:off x="9258300" y="40005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Triage defects every 2 hours</a:t>
              </a:r>
              <a:endParaRPr lang="en-US" sz="1200" spc="0" kern="0" b="0" i="0" dirty="0">
                <a:solidFill>
                  <a:srgbClr val="070154"/>
                </a:solidFill>
                <a:latin typeface="IBM Plex Sans"/>
                <a:ea typeface="IBM Plex Sans"/>
                <a:cs typeface="IBM Plex Sans"/>
              </a:endParaRPr>
            </a:p>
          </p:txBody>
        </p:sp>
      </p:grpSp>
      <p:grpSp>
        <p:nvGrpSpPr>
          <p:cNvPr id="77" name="node09"/>
          <p:cNvGrpSpPr/>
          <p:nvPr/>
        </p:nvGrpSpPr>
        <p:grpSpPr>
          <a:xfrm>
            <a:off x="8953500" y="5029200"/>
            <a:ext cx="2514600" cy="914400"/>
            <a:chOff x="8953500" y="5029200"/>
            <a:chExt cx="2514600" cy="914400"/>
          </a:xfrm>
        </p:grpSpPr>
        <p:sp>
          <p:nvSpPr>
            <p:cNvPr id="67" name="node09.surface"/>
            <p:cNvSpPr/>
            <p:nvPr/>
          </p:nvSpPr>
          <p:spPr>
            <a:xfrm>
              <a:off x="8953500" y="5029200"/>
              <a:ext cx="2514600" cy="914400"/>
            </a:xfrm>
            <a:prstGeom prst="rect">
              <a:avLst/>
            </a:prstGeom>
            <a:solidFill>
              <a:srgbClr val="070154"/>
            </a:solidFill>
            <a:ln>
              <a:noFill/>
            </a:ln>
          </p:spPr>
        </p:sp>
        <p:sp>
          <p:nvSpPr>
            <p:cNvPr id="68" name="node09.text"/>
            <p:cNvSpPr/>
            <p:nvPr/>
          </p:nvSpPr>
          <p:spPr>
            <a:xfrm>
              <a:off x="9105900" y="5295900"/>
              <a:ext cx="2209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G4 · Support lead accepts the exit to hypercare</a:t>
              </a:r>
              <a:endParaRPr lang="en-US" sz="1100" spc="0" kern="0" b="0" i="0" dirty="0">
                <a:solidFill>
                  <a:srgbClr val="FFFFFF"/>
                </a:solidFill>
                <a:latin typeface="IBM Plex Sans"/>
                <a:ea typeface="IBM Plex Sans"/>
                <a:cs typeface="IBM Plex Sans"/>
              </a:endParaRPr>
            </a:p>
          </p:txBody>
        </p:sp>
      </p:gr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ource-48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701611" y="1078992"/>
            <a:ext cx="1055965" cy="95266"/>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Steps 1 to 4 lock the legacy ledger and </a:t>
            </a:r>
            <a:r>
              <a:rPr lang="en-US" sz="3200" spc="-64" kern="0" b="0" i="0" dirty="0">
                <a:solidFill>
                  <a:srgbClr val="070154"/>
                </a:solidFill>
                <a:latin typeface="IBM Plex Sans SemiBold"/>
                <a:ea typeface="IBM Plex Sans SemiBold"/>
                <a:cs typeface="IBM Plex Sans SemiBold"/>
              </a:rPr>
              <a:t xml:space="preserve">move</a:t>
            </a:r>
            <a:r>
              <a:rPr lang="en-US" sz="3200" spc="-64" kern="0" b="0" i="0" dirty="0">
                <a:solidFill>
                  <a:srgbClr val="070154"/>
                </a:solidFill>
                <a:latin typeface="IBM Plex Sans SemiBold"/>
                <a:ea typeface="IBM Plex Sans SemiBold"/>
                <a:cs typeface="IBM Plex Sans SemiBold"/>
              </a:rPr>
              <a:t xml:space="preserve"> its balances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187</a:t>
            </a:fld>
            <a:endParaRPr lang="en-US" sz="700" spc="0" kern="0" b="0" i="0" dirty="0">
              <a:solidFill>
                <a:srgbClr val="070154"/>
              </a:solidFill>
              <a:latin typeface="IBM Plex Mono SemiBold"/>
              <a:ea typeface="IBM Plex Mono SemiBold"/>
              <a:cs typeface="IBM Plex Mono SemiBold"/>
            </a:endParaRPr>
          </a:p>
        </p:txBody>
      </p:sp>
      <p:grpSp>
        <p:nvGrpSpPr>
          <p:cNvPr id="50" name="node01"/>
          <p:cNvGrpSpPr/>
          <p:nvPr/>
        </p:nvGrpSpPr>
        <p:grpSpPr>
          <a:xfrm>
            <a:off x="723900" y="1714500"/>
            <a:ext cx="3429000" cy="330200"/>
            <a:chOff x="723900" y="1714500"/>
            <a:chExt cx="3429000" cy="330200"/>
          </a:xfrm>
        </p:grpSpPr>
        <p:sp>
          <p:nvSpPr>
            <p:cNvPr id="7" name="node01.number"/>
            <p:cNvSpPr/>
            <p:nvPr/>
          </p:nvSpPr>
          <p:spPr>
            <a:xfrm>
              <a:off x="723900" y="1764284"/>
              <a:ext cx="123507"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1</a:t>
              </a:r>
              <a:endParaRPr lang="en-US" sz="1600" spc="0" kern="0" b="0" i="0" dirty="0">
                <a:solidFill>
                  <a:srgbClr val="0047FF"/>
                </a:solidFill>
                <a:latin typeface="IBM Plex Mono SemiBold"/>
                <a:ea typeface="IBM Plex Mono SemiBold"/>
                <a:cs typeface="IBM Plex Mono SemiBold"/>
              </a:endParaRPr>
            </a:p>
          </p:txBody>
        </p:sp>
        <p:sp>
          <p:nvSpPr>
            <p:cNvPr id="8" name="node01.text"/>
            <p:cNvSpPr/>
            <p:nvPr/>
          </p:nvSpPr>
          <p:spPr>
            <a:xfrm>
              <a:off x="960438" y="1714500"/>
              <a:ext cx="3192463"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Freeze legacy postings</a:t>
              </a:r>
              <a:endParaRPr lang="en-US" sz="2100" spc="-32" kern="0" b="0" i="0" dirty="0">
                <a:solidFill>
                  <a:srgbClr val="070154"/>
                </a:solidFill>
                <a:latin typeface="IBM Plex Sans SemiBold"/>
                <a:ea typeface="IBM Plex Sans SemiBold"/>
                <a:cs typeface="IBM Plex Sans SemiBold"/>
              </a:endParaRPr>
            </a:p>
          </p:txBody>
        </p:sp>
      </p:grpSp>
      <p:grpSp>
        <p:nvGrpSpPr>
          <p:cNvPr id="51" name="node02"/>
          <p:cNvGrpSpPr/>
          <p:nvPr/>
        </p:nvGrpSpPr>
        <p:grpSpPr>
          <a:xfrm>
            <a:off x="4381500" y="1676400"/>
            <a:ext cx="4343400" cy="723900"/>
            <a:chOff x="4381500" y="1676400"/>
            <a:chExt cx="4343400" cy="723900"/>
          </a:xfrm>
        </p:grpSpPr>
        <p:sp>
          <p:nvSpPr>
            <p:cNvPr id="9" name="node02.source-001.bullet"/>
            <p:cNvSpPr/>
            <p:nvPr/>
          </p:nvSpPr>
          <p:spPr>
            <a:xfrm>
              <a:off x="4381500" y="1765300"/>
              <a:ext cx="38100" cy="38100"/>
            </a:xfrm>
            <a:prstGeom prst="rect">
              <a:avLst/>
            </a:prstGeom>
            <a:solidFill>
              <a:srgbClr val="070154"/>
            </a:solidFill>
            <a:ln>
              <a:noFill/>
            </a:ln>
          </p:spPr>
        </p:sp>
        <p:sp>
          <p:nvSpPr>
            <p:cNvPr id="10" name="node02.source-001.text"/>
            <p:cNvSpPr/>
            <p:nvPr/>
          </p:nvSpPr>
          <p:spPr>
            <a:xfrm>
              <a:off x="4533900" y="16764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open batches</a:t>
              </a:r>
              <a:endParaRPr lang="en-US" sz="1200" spc="0" kern="0" b="0" i="0" dirty="0">
                <a:solidFill>
                  <a:srgbClr val="070154"/>
                </a:solidFill>
                <a:latin typeface="IBM Plex Sans"/>
                <a:ea typeface="IBM Plex Sans"/>
                <a:cs typeface="IBM Plex Sans"/>
              </a:endParaRPr>
            </a:p>
          </p:txBody>
        </p:sp>
        <p:sp>
          <p:nvSpPr>
            <p:cNvPr id="11" name="node02.source-002.bullet"/>
            <p:cNvSpPr/>
            <p:nvPr/>
          </p:nvSpPr>
          <p:spPr>
            <a:xfrm>
              <a:off x="4381500" y="2019300"/>
              <a:ext cx="38100" cy="38100"/>
            </a:xfrm>
            <a:prstGeom prst="rect">
              <a:avLst/>
            </a:prstGeom>
            <a:solidFill>
              <a:srgbClr val="070154"/>
            </a:solidFill>
            <a:ln>
              <a:noFill/>
            </a:ln>
          </p:spPr>
        </p:sp>
        <p:sp>
          <p:nvSpPr>
            <p:cNvPr id="12" name="node02.source-002.text"/>
            <p:cNvSpPr/>
            <p:nvPr/>
          </p:nvSpPr>
          <p:spPr>
            <a:xfrm>
              <a:off x="4533900" y="19304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Lock subledgers</a:t>
              </a:r>
              <a:endParaRPr lang="en-US" sz="1200" spc="0" kern="0" b="0" i="0" dirty="0">
                <a:solidFill>
                  <a:srgbClr val="070154"/>
                </a:solidFill>
                <a:latin typeface="IBM Plex Sans"/>
                <a:ea typeface="IBM Plex Sans"/>
                <a:cs typeface="IBM Plex Sans"/>
              </a:endParaRPr>
            </a:p>
          </p:txBody>
        </p:sp>
        <p:sp>
          <p:nvSpPr>
            <p:cNvPr id="13" name="node02.source-003.bullet"/>
            <p:cNvSpPr/>
            <p:nvPr/>
          </p:nvSpPr>
          <p:spPr>
            <a:xfrm>
              <a:off x="4381500" y="2273300"/>
              <a:ext cx="38100" cy="38100"/>
            </a:xfrm>
            <a:prstGeom prst="rect">
              <a:avLst/>
            </a:prstGeom>
            <a:solidFill>
              <a:srgbClr val="070154"/>
            </a:solidFill>
            <a:ln>
              <a:noFill/>
            </a:ln>
          </p:spPr>
        </p:sp>
        <p:sp>
          <p:nvSpPr>
            <p:cNvPr id="14" name="node02.source-003.text"/>
            <p:cNvSpPr/>
            <p:nvPr/>
          </p:nvSpPr>
          <p:spPr>
            <a:xfrm>
              <a:off x="4533900" y="21844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Publish the freeze notice</a:t>
              </a:r>
              <a:endParaRPr lang="en-US" sz="1200" spc="0" kern="0" b="0" i="0" dirty="0">
                <a:solidFill>
                  <a:srgbClr val="070154"/>
                </a:solidFill>
                <a:latin typeface="IBM Plex Sans"/>
                <a:ea typeface="IBM Plex Sans"/>
                <a:cs typeface="IBM Plex Sans"/>
              </a:endParaRPr>
            </a:p>
          </p:txBody>
        </p:sp>
      </p:grpSp>
      <p:grpSp>
        <p:nvGrpSpPr>
          <p:cNvPr id="52" name="node03"/>
          <p:cNvGrpSpPr/>
          <p:nvPr/>
        </p:nvGrpSpPr>
        <p:grpSpPr>
          <a:xfrm>
            <a:off x="8953500" y="1714500"/>
            <a:ext cx="2514600" cy="190500"/>
            <a:chOff x="8953500" y="1714500"/>
            <a:chExt cx="2514600" cy="190500"/>
          </a:xfrm>
        </p:grpSpPr>
        <p:sp>
          <p:nvSpPr>
            <p:cNvPr id="15" name="node03.text"/>
            <p:cNvSpPr/>
            <p:nvPr/>
          </p:nvSpPr>
          <p:spPr>
            <a:xfrm>
              <a:off x="8953500" y="17145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Owner: Controller</a:t>
              </a:r>
              <a:endParaRPr lang="en-US" sz="1100" spc="0" kern="0" b="0" i="0" dirty="0">
                <a:solidFill>
                  <a:srgbClr val="070154"/>
                </a:solidFill>
                <a:latin typeface="IBM Plex Sans"/>
                <a:ea typeface="IBM Plex Sans"/>
                <a:cs typeface="IBM Plex Sans"/>
              </a:endParaRPr>
            </a:p>
          </p:txBody>
        </p:sp>
      </p:grpSp>
      <p:grpSp>
        <p:nvGrpSpPr>
          <p:cNvPr id="53" name="node04"/>
          <p:cNvGrpSpPr/>
          <p:nvPr/>
        </p:nvGrpSpPr>
        <p:grpSpPr>
          <a:xfrm>
            <a:off x="8953500" y="1943100"/>
            <a:ext cx="2514600" cy="190500"/>
            <a:chOff x="8953500" y="1943100"/>
            <a:chExt cx="2514600" cy="190500"/>
          </a:xfrm>
        </p:grpSpPr>
        <p:sp>
          <p:nvSpPr>
            <p:cNvPr id="16" name="node04.text"/>
            <p:cNvSpPr/>
            <p:nvPr/>
          </p:nvSpPr>
          <p:spPr>
            <a:xfrm>
              <a:off x="8953500" y="19431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Fri 18:00 · 30m</a:t>
              </a:r>
              <a:endParaRPr lang="en-US" sz="1100" spc="0" kern="0" b="0" i="0" dirty="0">
                <a:solidFill>
                  <a:srgbClr val="50658E"/>
                </a:solidFill>
                <a:latin typeface="IBM Plex Sans"/>
                <a:ea typeface="IBM Plex Sans"/>
                <a:cs typeface="IBM Plex Sans"/>
              </a:endParaRPr>
            </a:p>
          </p:txBody>
        </p:sp>
      </p:grpSp>
      <p:sp>
        <p:nvSpPr>
          <p:cNvPr id="17" name="node05"/>
          <p:cNvSpPr/>
          <p:nvPr/>
        </p:nvSpPr>
        <p:spPr>
          <a:xfrm>
            <a:off x="723900" y="2514600"/>
            <a:ext cx="10744200" cy="9525"/>
          </a:xfrm>
          <a:prstGeom prst="rect">
            <a:avLst/>
          </a:prstGeom>
          <a:solidFill>
            <a:srgbClr val="CED7E6"/>
          </a:solidFill>
          <a:ln>
            <a:noFill/>
          </a:ln>
        </p:spPr>
      </p:sp>
      <p:grpSp>
        <p:nvGrpSpPr>
          <p:cNvPr id="54" name="node06"/>
          <p:cNvGrpSpPr/>
          <p:nvPr/>
        </p:nvGrpSpPr>
        <p:grpSpPr>
          <a:xfrm>
            <a:off x="723900" y="2628900"/>
            <a:ext cx="3429000" cy="330200"/>
            <a:chOff x="723900" y="2628900"/>
            <a:chExt cx="3429000" cy="330200"/>
          </a:xfrm>
        </p:grpSpPr>
        <p:sp>
          <p:nvSpPr>
            <p:cNvPr id="18" name="node06.number"/>
            <p:cNvSpPr/>
            <p:nvPr/>
          </p:nvSpPr>
          <p:spPr>
            <a:xfrm>
              <a:off x="723900" y="2678684"/>
              <a:ext cx="123507"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2</a:t>
              </a:r>
              <a:endParaRPr lang="en-US" sz="1600" spc="0" kern="0" b="0" i="0" dirty="0">
                <a:solidFill>
                  <a:srgbClr val="0047FF"/>
                </a:solidFill>
                <a:latin typeface="IBM Plex Mono SemiBold"/>
                <a:ea typeface="IBM Plex Mono SemiBold"/>
                <a:cs typeface="IBM Plex Mono SemiBold"/>
              </a:endParaRPr>
            </a:p>
          </p:txBody>
        </p:sp>
        <p:sp>
          <p:nvSpPr>
            <p:cNvPr id="19" name="node06.text"/>
            <p:cNvSpPr/>
            <p:nvPr/>
          </p:nvSpPr>
          <p:spPr>
            <a:xfrm>
              <a:off x="960438" y="2628900"/>
              <a:ext cx="3192463"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Take the final backup</a:t>
              </a:r>
              <a:endParaRPr lang="en-US" sz="2100" spc="-32" kern="0" b="0" i="0" dirty="0">
                <a:solidFill>
                  <a:srgbClr val="070154"/>
                </a:solidFill>
                <a:latin typeface="IBM Plex Sans SemiBold"/>
                <a:ea typeface="IBM Plex Sans SemiBold"/>
                <a:cs typeface="IBM Plex Sans SemiBold"/>
              </a:endParaRPr>
            </a:p>
          </p:txBody>
        </p:sp>
      </p:grpSp>
      <p:grpSp>
        <p:nvGrpSpPr>
          <p:cNvPr id="55" name="node07"/>
          <p:cNvGrpSpPr/>
          <p:nvPr/>
        </p:nvGrpSpPr>
        <p:grpSpPr>
          <a:xfrm>
            <a:off x="4381500" y="2590800"/>
            <a:ext cx="4343400" cy="469900"/>
            <a:chOff x="4381500" y="2590800"/>
            <a:chExt cx="4343400" cy="469900"/>
          </a:xfrm>
        </p:grpSpPr>
        <p:sp>
          <p:nvSpPr>
            <p:cNvPr id="20" name="node07.source-001.bullet"/>
            <p:cNvSpPr/>
            <p:nvPr/>
          </p:nvSpPr>
          <p:spPr>
            <a:xfrm>
              <a:off x="4381500" y="2679700"/>
              <a:ext cx="38100" cy="38100"/>
            </a:xfrm>
            <a:prstGeom prst="rect">
              <a:avLst/>
            </a:prstGeom>
            <a:solidFill>
              <a:srgbClr val="070154"/>
            </a:solidFill>
            <a:ln>
              <a:noFill/>
            </a:ln>
          </p:spPr>
        </p:sp>
        <p:sp>
          <p:nvSpPr>
            <p:cNvPr id="21" name="node07.source-001.text"/>
            <p:cNvSpPr/>
            <p:nvPr/>
          </p:nvSpPr>
          <p:spPr>
            <a:xfrm>
              <a:off x="4533900" y="25908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Snapshot the legacy ledger</a:t>
              </a:r>
              <a:endParaRPr lang="en-US" sz="1200" spc="0" kern="0" b="0" i="0" dirty="0">
                <a:solidFill>
                  <a:srgbClr val="070154"/>
                </a:solidFill>
                <a:latin typeface="IBM Plex Sans"/>
                <a:ea typeface="IBM Plex Sans"/>
                <a:cs typeface="IBM Plex Sans"/>
              </a:endParaRPr>
            </a:p>
          </p:txBody>
        </p:sp>
        <p:sp>
          <p:nvSpPr>
            <p:cNvPr id="22" name="node07.source-002.bullet"/>
            <p:cNvSpPr/>
            <p:nvPr/>
          </p:nvSpPr>
          <p:spPr>
            <a:xfrm>
              <a:off x="4381500" y="2933700"/>
              <a:ext cx="38100" cy="38100"/>
            </a:xfrm>
            <a:prstGeom prst="rect">
              <a:avLst/>
            </a:prstGeom>
            <a:solidFill>
              <a:srgbClr val="070154"/>
            </a:solidFill>
            <a:ln>
              <a:noFill/>
            </a:ln>
          </p:spPr>
        </p:sp>
        <p:sp>
          <p:nvSpPr>
            <p:cNvPr id="23" name="node07.source-002.text"/>
            <p:cNvSpPr/>
            <p:nvPr/>
          </p:nvSpPr>
          <p:spPr>
            <a:xfrm>
              <a:off x="4533900" y="28448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Verify checksums</a:t>
              </a:r>
              <a:endParaRPr lang="en-US" sz="1200" spc="0" kern="0" b="0" i="0" dirty="0">
                <a:solidFill>
                  <a:srgbClr val="070154"/>
                </a:solidFill>
                <a:latin typeface="IBM Plex Sans"/>
                <a:ea typeface="IBM Plex Sans"/>
                <a:cs typeface="IBM Plex Sans"/>
              </a:endParaRPr>
            </a:p>
          </p:txBody>
        </p:sp>
      </p:grpSp>
      <p:grpSp>
        <p:nvGrpSpPr>
          <p:cNvPr id="56" name="node08"/>
          <p:cNvGrpSpPr/>
          <p:nvPr/>
        </p:nvGrpSpPr>
        <p:grpSpPr>
          <a:xfrm>
            <a:off x="8953500" y="2628900"/>
            <a:ext cx="2514600" cy="190500"/>
            <a:chOff x="8953500" y="2628900"/>
            <a:chExt cx="2514600" cy="190500"/>
          </a:xfrm>
        </p:grpSpPr>
        <p:sp>
          <p:nvSpPr>
            <p:cNvPr id="24" name="node08.text"/>
            <p:cNvSpPr/>
            <p:nvPr/>
          </p:nvSpPr>
          <p:spPr>
            <a:xfrm>
              <a:off x="8953500" y="26289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Owner: Finance IT</a:t>
              </a:r>
              <a:endParaRPr lang="en-US" sz="1100" spc="0" kern="0" b="0" i="0" dirty="0">
                <a:solidFill>
                  <a:srgbClr val="070154"/>
                </a:solidFill>
                <a:latin typeface="IBM Plex Sans"/>
                <a:ea typeface="IBM Plex Sans"/>
                <a:cs typeface="IBM Plex Sans"/>
              </a:endParaRPr>
            </a:p>
          </p:txBody>
        </p:sp>
      </p:grpSp>
      <p:grpSp>
        <p:nvGrpSpPr>
          <p:cNvPr id="57" name="node09"/>
          <p:cNvGrpSpPr/>
          <p:nvPr/>
        </p:nvGrpSpPr>
        <p:grpSpPr>
          <a:xfrm>
            <a:off x="8953500" y="2857500"/>
            <a:ext cx="2514600" cy="190500"/>
            <a:chOff x="8953500" y="2857500"/>
            <a:chExt cx="2514600" cy="190500"/>
          </a:xfrm>
        </p:grpSpPr>
        <p:sp>
          <p:nvSpPr>
            <p:cNvPr id="25" name="node09.text"/>
            <p:cNvSpPr/>
            <p:nvPr/>
          </p:nvSpPr>
          <p:spPr>
            <a:xfrm>
              <a:off x="8953500" y="28575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Fri 18:30 · 1h</a:t>
              </a:r>
              <a:endParaRPr lang="en-US" sz="1100" spc="0" kern="0" b="0" i="0" dirty="0">
                <a:solidFill>
                  <a:srgbClr val="50658E"/>
                </a:solidFill>
                <a:latin typeface="IBM Plex Sans"/>
                <a:ea typeface="IBM Plex Sans"/>
                <a:cs typeface="IBM Plex Sans"/>
              </a:endParaRPr>
            </a:p>
          </p:txBody>
        </p:sp>
      </p:grpSp>
      <p:sp>
        <p:nvSpPr>
          <p:cNvPr id="26" name="node10"/>
          <p:cNvSpPr/>
          <p:nvPr/>
        </p:nvSpPr>
        <p:spPr>
          <a:xfrm>
            <a:off x="723900" y="3429000"/>
            <a:ext cx="10744200" cy="9525"/>
          </a:xfrm>
          <a:prstGeom prst="rect">
            <a:avLst/>
          </a:prstGeom>
          <a:solidFill>
            <a:srgbClr val="CED7E6"/>
          </a:solidFill>
          <a:ln>
            <a:noFill/>
          </a:ln>
        </p:spPr>
      </p:sp>
      <p:grpSp>
        <p:nvGrpSpPr>
          <p:cNvPr id="58" name="node11"/>
          <p:cNvGrpSpPr/>
          <p:nvPr/>
        </p:nvGrpSpPr>
        <p:grpSpPr>
          <a:xfrm>
            <a:off x="723900" y="3543300"/>
            <a:ext cx="3429000" cy="330200"/>
            <a:chOff x="723900" y="3543300"/>
            <a:chExt cx="3429000" cy="330200"/>
          </a:xfrm>
        </p:grpSpPr>
        <p:sp>
          <p:nvSpPr>
            <p:cNvPr id="27" name="node11.number"/>
            <p:cNvSpPr/>
            <p:nvPr/>
          </p:nvSpPr>
          <p:spPr>
            <a:xfrm>
              <a:off x="723900" y="3593084"/>
              <a:ext cx="123507"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3</a:t>
              </a:r>
              <a:endParaRPr lang="en-US" sz="1600" spc="0" kern="0" b="0" i="0" dirty="0">
                <a:solidFill>
                  <a:srgbClr val="0047FF"/>
                </a:solidFill>
                <a:latin typeface="IBM Plex Mono SemiBold"/>
                <a:ea typeface="IBM Plex Mono SemiBold"/>
                <a:cs typeface="IBM Plex Mono SemiBold"/>
              </a:endParaRPr>
            </a:p>
          </p:txBody>
        </p:sp>
        <p:sp>
          <p:nvSpPr>
            <p:cNvPr id="28" name="node11.text"/>
            <p:cNvSpPr/>
            <p:nvPr/>
          </p:nvSpPr>
          <p:spPr>
            <a:xfrm>
              <a:off x="960438" y="3543300"/>
              <a:ext cx="3192463"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Extract open balances</a:t>
              </a:r>
              <a:endParaRPr lang="en-US" sz="2100" spc="-32" kern="0" b="0" i="0" dirty="0">
                <a:solidFill>
                  <a:srgbClr val="070154"/>
                </a:solidFill>
                <a:latin typeface="IBM Plex Sans SemiBold"/>
                <a:ea typeface="IBM Plex Sans SemiBold"/>
                <a:cs typeface="IBM Plex Sans SemiBold"/>
              </a:endParaRPr>
            </a:p>
          </p:txBody>
        </p:sp>
      </p:grpSp>
      <p:grpSp>
        <p:nvGrpSpPr>
          <p:cNvPr id="59" name="node12"/>
          <p:cNvGrpSpPr/>
          <p:nvPr/>
        </p:nvGrpSpPr>
        <p:grpSpPr>
          <a:xfrm>
            <a:off x="4381500" y="3505200"/>
            <a:ext cx="4343400" cy="723900"/>
            <a:chOff x="4381500" y="3505200"/>
            <a:chExt cx="4343400" cy="723900"/>
          </a:xfrm>
        </p:grpSpPr>
        <p:sp>
          <p:nvSpPr>
            <p:cNvPr id="29" name="node12.source-001.bullet"/>
            <p:cNvSpPr/>
            <p:nvPr/>
          </p:nvSpPr>
          <p:spPr>
            <a:xfrm>
              <a:off x="4381500" y="3594100"/>
              <a:ext cx="38100" cy="38100"/>
            </a:xfrm>
            <a:prstGeom prst="rect">
              <a:avLst/>
            </a:prstGeom>
            <a:solidFill>
              <a:srgbClr val="070154"/>
            </a:solidFill>
            <a:ln>
              <a:noFill/>
            </a:ln>
          </p:spPr>
        </p:sp>
        <p:sp>
          <p:nvSpPr>
            <p:cNvPr id="30" name="node12.source-001.text"/>
            <p:cNvSpPr/>
            <p:nvPr/>
          </p:nvSpPr>
          <p:spPr>
            <a:xfrm>
              <a:off x="4533900" y="35052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 the extract jobs</a:t>
              </a:r>
              <a:endParaRPr lang="en-US" sz="1200" spc="0" kern="0" b="0" i="0" dirty="0">
                <a:solidFill>
                  <a:srgbClr val="070154"/>
                </a:solidFill>
                <a:latin typeface="IBM Plex Sans"/>
                <a:ea typeface="IBM Plex Sans"/>
                <a:cs typeface="IBM Plex Sans"/>
              </a:endParaRPr>
            </a:p>
          </p:txBody>
        </p:sp>
        <p:sp>
          <p:nvSpPr>
            <p:cNvPr id="31" name="node12.source-002.bullet"/>
            <p:cNvSpPr/>
            <p:nvPr/>
          </p:nvSpPr>
          <p:spPr>
            <a:xfrm>
              <a:off x="4381500" y="3848100"/>
              <a:ext cx="38100" cy="38100"/>
            </a:xfrm>
            <a:prstGeom prst="rect">
              <a:avLst/>
            </a:prstGeom>
            <a:solidFill>
              <a:srgbClr val="070154"/>
            </a:solidFill>
            <a:ln>
              <a:noFill/>
            </a:ln>
          </p:spPr>
        </p:sp>
        <p:sp>
          <p:nvSpPr>
            <p:cNvPr id="32" name="node12.source-002.text"/>
            <p:cNvSpPr/>
            <p:nvPr/>
          </p:nvSpPr>
          <p:spPr>
            <a:xfrm>
              <a:off x="4533900" y="37592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Tie to the trial balance</a:t>
              </a:r>
              <a:endParaRPr lang="en-US" sz="1200" spc="0" kern="0" b="0" i="0" dirty="0">
                <a:solidFill>
                  <a:srgbClr val="070154"/>
                </a:solidFill>
                <a:latin typeface="IBM Plex Sans"/>
                <a:ea typeface="IBM Plex Sans"/>
                <a:cs typeface="IBM Plex Sans"/>
              </a:endParaRPr>
            </a:p>
          </p:txBody>
        </p:sp>
        <p:sp>
          <p:nvSpPr>
            <p:cNvPr id="33" name="node12.source-003.bullet"/>
            <p:cNvSpPr/>
            <p:nvPr/>
          </p:nvSpPr>
          <p:spPr>
            <a:xfrm>
              <a:off x="4381500" y="4102100"/>
              <a:ext cx="38100" cy="38100"/>
            </a:xfrm>
            <a:prstGeom prst="rect">
              <a:avLst/>
            </a:prstGeom>
            <a:solidFill>
              <a:srgbClr val="070154"/>
            </a:solidFill>
            <a:ln>
              <a:noFill/>
            </a:ln>
          </p:spPr>
        </p:sp>
        <p:sp>
          <p:nvSpPr>
            <p:cNvPr id="34" name="node12.source-003.text"/>
            <p:cNvSpPr/>
            <p:nvPr/>
          </p:nvSpPr>
          <p:spPr>
            <a:xfrm>
              <a:off x="4533900" y="40132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Log variances</a:t>
              </a:r>
              <a:endParaRPr lang="en-US" sz="1200" spc="0" kern="0" b="0" i="0" dirty="0">
                <a:solidFill>
                  <a:srgbClr val="070154"/>
                </a:solidFill>
                <a:latin typeface="IBM Plex Sans"/>
                <a:ea typeface="IBM Plex Sans"/>
                <a:cs typeface="IBM Plex Sans"/>
              </a:endParaRPr>
            </a:p>
          </p:txBody>
        </p:sp>
      </p:grpSp>
      <p:grpSp>
        <p:nvGrpSpPr>
          <p:cNvPr id="60" name="node13"/>
          <p:cNvGrpSpPr/>
          <p:nvPr/>
        </p:nvGrpSpPr>
        <p:grpSpPr>
          <a:xfrm>
            <a:off x="8953500" y="3543300"/>
            <a:ext cx="2514600" cy="190500"/>
            <a:chOff x="8953500" y="3543300"/>
            <a:chExt cx="2514600" cy="190500"/>
          </a:xfrm>
        </p:grpSpPr>
        <p:sp>
          <p:nvSpPr>
            <p:cNvPr id="35" name="node13.text"/>
            <p:cNvSpPr/>
            <p:nvPr/>
          </p:nvSpPr>
          <p:spPr>
            <a:xfrm>
              <a:off x="8953500" y="35433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Owner: Data lead</a:t>
              </a:r>
              <a:endParaRPr lang="en-US" sz="1100" spc="0" kern="0" b="0" i="0" dirty="0">
                <a:solidFill>
                  <a:srgbClr val="070154"/>
                </a:solidFill>
                <a:latin typeface="IBM Plex Sans"/>
                <a:ea typeface="IBM Plex Sans"/>
                <a:cs typeface="IBM Plex Sans"/>
              </a:endParaRPr>
            </a:p>
          </p:txBody>
        </p:sp>
      </p:grpSp>
      <p:grpSp>
        <p:nvGrpSpPr>
          <p:cNvPr id="61" name="node14"/>
          <p:cNvGrpSpPr/>
          <p:nvPr/>
        </p:nvGrpSpPr>
        <p:grpSpPr>
          <a:xfrm>
            <a:off x="8953500" y="3771900"/>
            <a:ext cx="2514600" cy="190500"/>
            <a:chOff x="8953500" y="3771900"/>
            <a:chExt cx="2514600" cy="190500"/>
          </a:xfrm>
        </p:grpSpPr>
        <p:sp>
          <p:nvSpPr>
            <p:cNvPr id="36" name="node14.text"/>
            <p:cNvSpPr/>
            <p:nvPr/>
          </p:nvSpPr>
          <p:spPr>
            <a:xfrm>
              <a:off x="8953500" y="37719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Fri 19:30 · 3h</a:t>
              </a:r>
              <a:endParaRPr lang="en-US" sz="1100" spc="0" kern="0" b="0" i="0" dirty="0">
                <a:solidFill>
                  <a:srgbClr val="50658E"/>
                </a:solidFill>
                <a:latin typeface="IBM Plex Sans"/>
                <a:ea typeface="IBM Plex Sans"/>
                <a:cs typeface="IBM Plex Sans"/>
              </a:endParaRPr>
            </a:p>
          </p:txBody>
        </p:sp>
      </p:grpSp>
      <p:sp>
        <p:nvSpPr>
          <p:cNvPr id="37" name="node15"/>
          <p:cNvSpPr/>
          <p:nvPr/>
        </p:nvSpPr>
        <p:spPr>
          <a:xfrm>
            <a:off x="723900" y="4343400"/>
            <a:ext cx="10744200" cy="9525"/>
          </a:xfrm>
          <a:prstGeom prst="rect">
            <a:avLst/>
          </a:prstGeom>
          <a:solidFill>
            <a:srgbClr val="CED7E6"/>
          </a:solidFill>
          <a:ln>
            <a:noFill/>
          </a:ln>
        </p:spPr>
      </p:sp>
      <p:grpSp>
        <p:nvGrpSpPr>
          <p:cNvPr id="62" name="node16"/>
          <p:cNvGrpSpPr/>
          <p:nvPr/>
        </p:nvGrpSpPr>
        <p:grpSpPr>
          <a:xfrm>
            <a:off x="723900" y="4457700"/>
            <a:ext cx="3429000" cy="330200"/>
            <a:chOff x="723900" y="4457700"/>
            <a:chExt cx="3429000" cy="330200"/>
          </a:xfrm>
        </p:grpSpPr>
        <p:sp>
          <p:nvSpPr>
            <p:cNvPr id="38" name="node16.number"/>
            <p:cNvSpPr/>
            <p:nvPr/>
          </p:nvSpPr>
          <p:spPr>
            <a:xfrm>
              <a:off x="723900" y="4507484"/>
              <a:ext cx="123507"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4</a:t>
              </a:r>
              <a:endParaRPr lang="en-US" sz="1600" spc="0" kern="0" b="0" i="0" dirty="0">
                <a:solidFill>
                  <a:srgbClr val="0047FF"/>
                </a:solidFill>
                <a:latin typeface="IBM Plex Mono SemiBold"/>
                <a:ea typeface="IBM Plex Mono SemiBold"/>
                <a:cs typeface="IBM Plex Mono SemiBold"/>
              </a:endParaRPr>
            </a:p>
          </p:txBody>
        </p:sp>
        <p:sp>
          <p:nvSpPr>
            <p:cNvPr id="39" name="node16.text"/>
            <p:cNvSpPr/>
            <p:nvPr/>
          </p:nvSpPr>
          <p:spPr>
            <a:xfrm>
              <a:off x="960438" y="4457700"/>
              <a:ext cx="3192463"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Load the new ledger</a:t>
              </a:r>
              <a:endParaRPr lang="en-US" sz="2100" spc="-32" kern="0" b="0" i="0" dirty="0">
                <a:solidFill>
                  <a:srgbClr val="070154"/>
                </a:solidFill>
                <a:latin typeface="IBM Plex Sans SemiBold"/>
                <a:ea typeface="IBM Plex Sans SemiBold"/>
                <a:cs typeface="IBM Plex Sans SemiBold"/>
              </a:endParaRPr>
            </a:p>
          </p:txBody>
        </p:sp>
      </p:grpSp>
      <p:grpSp>
        <p:nvGrpSpPr>
          <p:cNvPr id="63" name="node17"/>
          <p:cNvGrpSpPr/>
          <p:nvPr/>
        </p:nvGrpSpPr>
        <p:grpSpPr>
          <a:xfrm>
            <a:off x="4381500" y="4419600"/>
            <a:ext cx="4343400" cy="723900"/>
            <a:chOff x="4381500" y="4419600"/>
            <a:chExt cx="4343400" cy="723900"/>
          </a:xfrm>
        </p:grpSpPr>
        <p:sp>
          <p:nvSpPr>
            <p:cNvPr id="40" name="node17.source-001.bullet"/>
            <p:cNvSpPr/>
            <p:nvPr/>
          </p:nvSpPr>
          <p:spPr>
            <a:xfrm>
              <a:off x="4381500" y="4508500"/>
              <a:ext cx="38100" cy="38100"/>
            </a:xfrm>
            <a:prstGeom prst="rect">
              <a:avLst/>
            </a:prstGeom>
            <a:solidFill>
              <a:srgbClr val="070154"/>
            </a:solidFill>
            <a:ln>
              <a:noFill/>
            </a:ln>
          </p:spPr>
        </p:sp>
        <p:sp>
          <p:nvSpPr>
            <p:cNvPr id="41" name="node17.source-001.text"/>
            <p:cNvSpPr/>
            <p:nvPr/>
          </p:nvSpPr>
          <p:spPr>
            <a:xfrm>
              <a:off x="4533900" y="44196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Load by entity</a:t>
              </a:r>
              <a:endParaRPr lang="en-US" sz="1200" spc="0" kern="0" b="0" i="0" dirty="0">
                <a:solidFill>
                  <a:srgbClr val="070154"/>
                </a:solidFill>
                <a:latin typeface="IBM Plex Sans"/>
                <a:ea typeface="IBM Plex Sans"/>
                <a:cs typeface="IBM Plex Sans"/>
              </a:endParaRPr>
            </a:p>
          </p:txBody>
        </p:sp>
        <p:sp>
          <p:nvSpPr>
            <p:cNvPr id="42" name="node17.source-002.bullet"/>
            <p:cNvSpPr/>
            <p:nvPr/>
          </p:nvSpPr>
          <p:spPr>
            <a:xfrm>
              <a:off x="4381500" y="4762500"/>
              <a:ext cx="38100" cy="38100"/>
            </a:xfrm>
            <a:prstGeom prst="rect">
              <a:avLst/>
            </a:prstGeom>
            <a:solidFill>
              <a:srgbClr val="070154"/>
            </a:solidFill>
            <a:ln>
              <a:noFill/>
            </a:ln>
          </p:spPr>
        </p:sp>
        <p:sp>
          <p:nvSpPr>
            <p:cNvPr id="43" name="node17.source-002.text"/>
            <p:cNvSpPr/>
            <p:nvPr/>
          </p:nvSpPr>
          <p:spPr>
            <a:xfrm>
              <a:off x="4533900" y="46736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Check counts and totals</a:t>
              </a:r>
              <a:endParaRPr lang="en-US" sz="1200" spc="0" kern="0" b="0" i="0" dirty="0">
                <a:solidFill>
                  <a:srgbClr val="070154"/>
                </a:solidFill>
                <a:latin typeface="IBM Plex Sans"/>
                <a:ea typeface="IBM Plex Sans"/>
                <a:cs typeface="IBM Plex Sans"/>
              </a:endParaRPr>
            </a:p>
          </p:txBody>
        </p:sp>
        <p:sp>
          <p:nvSpPr>
            <p:cNvPr id="44" name="node17.source-003.bullet"/>
            <p:cNvSpPr/>
            <p:nvPr/>
          </p:nvSpPr>
          <p:spPr>
            <a:xfrm>
              <a:off x="4381500" y="5016500"/>
              <a:ext cx="38100" cy="38100"/>
            </a:xfrm>
            <a:prstGeom prst="rect">
              <a:avLst/>
            </a:prstGeom>
            <a:solidFill>
              <a:srgbClr val="070154"/>
            </a:solidFill>
            <a:ln>
              <a:noFill/>
            </a:ln>
          </p:spPr>
        </p:sp>
        <p:sp>
          <p:nvSpPr>
            <p:cNvPr id="45" name="node17.source-003.text"/>
            <p:cNvSpPr/>
            <p:nvPr/>
          </p:nvSpPr>
          <p:spPr>
            <a:xfrm>
              <a:off x="4533900" y="4927600"/>
              <a:ext cx="419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Park rejected rows</a:t>
              </a:r>
              <a:endParaRPr lang="en-US" sz="1200" spc="0" kern="0" b="0" i="0" dirty="0">
                <a:solidFill>
                  <a:srgbClr val="070154"/>
                </a:solidFill>
                <a:latin typeface="IBM Plex Sans"/>
                <a:ea typeface="IBM Plex Sans"/>
                <a:cs typeface="IBM Plex Sans"/>
              </a:endParaRPr>
            </a:p>
          </p:txBody>
        </p:sp>
      </p:grpSp>
      <p:grpSp>
        <p:nvGrpSpPr>
          <p:cNvPr id="64" name="node18"/>
          <p:cNvGrpSpPr/>
          <p:nvPr/>
        </p:nvGrpSpPr>
        <p:grpSpPr>
          <a:xfrm>
            <a:off x="8953500" y="4457700"/>
            <a:ext cx="2514600" cy="190500"/>
            <a:chOff x="8953500" y="4457700"/>
            <a:chExt cx="2514600" cy="190500"/>
          </a:xfrm>
        </p:grpSpPr>
        <p:sp>
          <p:nvSpPr>
            <p:cNvPr id="46" name="node18.text"/>
            <p:cNvSpPr/>
            <p:nvPr/>
          </p:nvSpPr>
          <p:spPr>
            <a:xfrm>
              <a:off x="8953500" y="44577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Owner: Finance IT</a:t>
              </a:r>
              <a:endParaRPr lang="en-US" sz="1100" spc="0" kern="0" b="0" i="0" dirty="0">
                <a:solidFill>
                  <a:srgbClr val="070154"/>
                </a:solidFill>
                <a:latin typeface="IBM Plex Sans"/>
                <a:ea typeface="IBM Plex Sans"/>
                <a:cs typeface="IBM Plex Sans"/>
              </a:endParaRPr>
            </a:p>
          </p:txBody>
        </p:sp>
      </p:grpSp>
      <p:grpSp>
        <p:nvGrpSpPr>
          <p:cNvPr id="65" name="node19"/>
          <p:cNvGrpSpPr/>
          <p:nvPr/>
        </p:nvGrpSpPr>
        <p:grpSpPr>
          <a:xfrm>
            <a:off x="8953500" y="4686300"/>
            <a:ext cx="2514600" cy="190500"/>
            <a:chOff x="8953500" y="4686300"/>
            <a:chExt cx="2514600" cy="190500"/>
          </a:xfrm>
        </p:grpSpPr>
        <p:sp>
          <p:nvSpPr>
            <p:cNvPr id="47" name="node19.text"/>
            <p:cNvSpPr/>
            <p:nvPr/>
          </p:nvSpPr>
          <p:spPr>
            <a:xfrm>
              <a:off x="8953500" y="46863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Fri 22:30 · 2h</a:t>
              </a:r>
              <a:endParaRPr lang="en-US" sz="1100" spc="0" kern="0" b="0" i="0" dirty="0">
                <a:solidFill>
                  <a:srgbClr val="50658E"/>
                </a:solidFill>
                <a:latin typeface="IBM Plex Sans"/>
                <a:ea typeface="IBM Plex Sans"/>
                <a:cs typeface="IBM Plex Sans"/>
              </a:endParaRPr>
            </a:p>
          </p:txBody>
        </p:sp>
      </p:grpSp>
      <p:grpSp>
        <p:nvGrpSpPr>
          <p:cNvPr id="66" name="node20"/>
          <p:cNvGrpSpPr/>
          <p:nvPr/>
        </p:nvGrpSpPr>
        <p:grpSpPr>
          <a:xfrm>
            <a:off x="723900" y="5486400"/>
            <a:ext cx="10744200" cy="457200"/>
            <a:chOff x="723900" y="5486400"/>
            <a:chExt cx="10744200" cy="457200"/>
          </a:xfrm>
        </p:grpSpPr>
        <p:sp>
          <p:nvSpPr>
            <p:cNvPr id="48" name="node20.surface"/>
            <p:cNvSpPr/>
            <p:nvPr/>
          </p:nvSpPr>
          <p:spPr>
            <a:xfrm>
              <a:off x="723900" y="5486400"/>
              <a:ext cx="10744200" cy="457200"/>
            </a:xfrm>
            <a:prstGeom prst="rect">
              <a:avLst/>
            </a:prstGeom>
            <a:solidFill>
              <a:srgbClr val="E8EEF8"/>
            </a:solidFill>
            <a:ln>
              <a:noFill/>
            </a:ln>
          </p:spPr>
        </p:sp>
        <p:sp>
          <p:nvSpPr>
            <p:cNvPr id="49" name="node20.text"/>
            <p:cNvSpPr/>
            <p:nvPr/>
          </p:nvSpPr>
          <p:spPr>
            <a:xfrm>
              <a:off x="876300" y="5619750"/>
              <a:ext cx="1043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Step 4 · page 1 of 2 · Continued on next page</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ource-47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04325" y="1078992"/>
            <a:ext cx="2755220" cy="248569"/>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Step 1 freezes every </a:t>
            </a:r>
            <a:r>
              <a:rPr lang="en-US" sz="3200" spc="-64" kern="0" b="0" i="0" dirty="0">
                <a:solidFill>
                  <a:srgbClr val="070154"/>
                </a:solidFill>
                <a:latin typeface="IBM Plex Sans SemiBold"/>
                <a:ea typeface="IBM Plex Sans SemiBold"/>
                <a:cs typeface="IBM Plex Sans SemiBold"/>
              </a:rPr>
              <a:t xml:space="preserve">legacy posting</a:t>
            </a:r>
            <a:r>
              <a:rPr lang="en-US" sz="3200" spc="-64" kern="0" b="0" i="0" dirty="0">
                <a:solidFill>
                  <a:srgbClr val="070154"/>
                </a:solidFill>
                <a:latin typeface="IBM Plex Sans SemiBold"/>
                <a:ea typeface="IBM Plex Sans SemiBold"/>
                <a:cs typeface="IBM Plex Sans SemiBold"/>
              </a:rPr>
              <a:t xml:space="preserve"> before any data moves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188</a:t>
            </a:fld>
            <a:endParaRPr lang="en-US" sz="700" spc="0" kern="0" b="0" i="0" dirty="0">
              <a:solidFill>
                <a:srgbClr val="070154"/>
              </a:solidFill>
              <a:latin typeface="IBM Plex Mono SemiBold"/>
              <a:ea typeface="IBM Plex Mono SemiBold"/>
              <a:cs typeface="IBM Plex Mono SemiBold"/>
            </a:endParaRPr>
          </a:p>
        </p:txBody>
      </p:sp>
      <p:grpSp>
        <p:nvGrpSpPr>
          <p:cNvPr id="47" name="node01"/>
          <p:cNvGrpSpPr/>
          <p:nvPr/>
        </p:nvGrpSpPr>
        <p:grpSpPr>
          <a:xfrm>
            <a:off x="723900" y="1600200"/>
            <a:ext cx="3429000" cy="139700"/>
            <a:chOff x="723900" y="1600200"/>
            <a:chExt cx="3429000" cy="139700"/>
          </a:xfrm>
        </p:grpSpPr>
        <p:sp>
          <p:nvSpPr>
            <p:cNvPr id="7" name="node01.text"/>
            <p:cNvSpPr/>
            <p:nvPr/>
          </p:nvSpPr>
          <p:spPr>
            <a:xfrm>
              <a:off x="7239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STEP 1</a:t>
              </a:r>
              <a:endParaRPr lang="en-US" sz="800" spc="48" kern="0" b="0" i="0" dirty="0">
                <a:solidFill>
                  <a:srgbClr val="0047FF"/>
                </a:solidFill>
                <a:latin typeface="IBM Plex Mono Medium"/>
                <a:ea typeface="IBM Plex Mono Medium"/>
                <a:cs typeface="IBM Plex Mono Medium"/>
              </a:endParaRPr>
            </a:p>
          </p:txBody>
        </p:sp>
      </p:grpSp>
      <p:grpSp>
        <p:nvGrpSpPr>
          <p:cNvPr id="48" name="node02"/>
          <p:cNvGrpSpPr/>
          <p:nvPr/>
        </p:nvGrpSpPr>
        <p:grpSpPr>
          <a:xfrm>
            <a:off x="723900" y="1828800"/>
            <a:ext cx="3429000" cy="266700"/>
            <a:chOff x="723900" y="1828800"/>
            <a:chExt cx="3429000" cy="266700"/>
          </a:xfrm>
        </p:grpSpPr>
        <p:sp>
          <p:nvSpPr>
            <p:cNvPr id="8" name="node02.text"/>
            <p:cNvSpPr/>
            <p:nvPr/>
          </p:nvSpPr>
          <p:spPr>
            <a:xfrm>
              <a:off x="723900" y="18288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Freeze legacy postings</a:t>
              </a:r>
              <a:endParaRPr lang="en-US" sz="1600" spc="-16" kern="0" b="0" i="0" dirty="0">
                <a:solidFill>
                  <a:srgbClr val="070154"/>
                </a:solidFill>
                <a:latin typeface="IBM Plex Sans SemiBold"/>
                <a:ea typeface="IBM Plex Sans SemiBold"/>
                <a:cs typeface="IBM Plex Sans SemiBold"/>
              </a:endParaRPr>
            </a:p>
          </p:txBody>
        </p:sp>
      </p:grpSp>
      <p:grpSp>
        <p:nvGrpSpPr>
          <p:cNvPr id="49" name="node03"/>
          <p:cNvGrpSpPr/>
          <p:nvPr/>
        </p:nvGrpSpPr>
        <p:grpSpPr>
          <a:xfrm>
            <a:off x="723900" y="2362200"/>
            <a:ext cx="3429000" cy="381000"/>
            <a:chOff x="723900" y="2362200"/>
            <a:chExt cx="3429000" cy="381000"/>
          </a:xfrm>
        </p:grpSpPr>
        <p:sp>
          <p:nvSpPr>
            <p:cNvPr id="9" name="node03.text"/>
            <p:cNvSpPr/>
            <p:nvPr/>
          </p:nvSpPr>
          <p:spPr>
            <a:xfrm>
              <a:off x="723900" y="23622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Stop every posting to the legacy ledger so the extract is one stable cut of the books.</a:t>
              </a:r>
              <a:endParaRPr lang="en-US" sz="1100" spc="0" kern="0" b="0" i="0" dirty="0">
                <a:solidFill>
                  <a:srgbClr val="070154"/>
                </a:solidFill>
                <a:latin typeface="IBM Plex Sans"/>
                <a:ea typeface="IBM Plex Sans"/>
                <a:cs typeface="IBM Plex Sans"/>
              </a:endParaRPr>
            </a:p>
          </p:txBody>
        </p:sp>
      </p:grpSp>
      <p:grpSp>
        <p:nvGrpSpPr>
          <p:cNvPr id="50" name="node04"/>
          <p:cNvGrpSpPr/>
          <p:nvPr/>
        </p:nvGrpSpPr>
        <p:grpSpPr>
          <a:xfrm>
            <a:off x="723900" y="3429000"/>
            <a:ext cx="3429000" cy="139700"/>
            <a:chOff x="723900" y="3429000"/>
            <a:chExt cx="3429000" cy="139700"/>
          </a:xfrm>
        </p:grpSpPr>
        <p:sp>
          <p:nvSpPr>
            <p:cNvPr id="10" name="node04.text"/>
            <p:cNvSpPr/>
            <p:nvPr/>
          </p:nvSpPr>
          <p:spPr>
            <a:xfrm>
              <a:off x="723900" y="3429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OWNERS</a:t>
              </a:r>
              <a:endParaRPr lang="en-US" sz="800" spc="48" kern="0" b="0" i="0" dirty="0">
                <a:solidFill>
                  <a:srgbClr val="0047FF"/>
                </a:solidFill>
                <a:latin typeface="IBM Plex Mono Medium"/>
                <a:ea typeface="IBM Plex Mono Medium"/>
                <a:cs typeface="IBM Plex Mono Medium"/>
              </a:endParaRPr>
            </a:p>
          </p:txBody>
        </p:sp>
      </p:grpSp>
      <p:grpSp>
        <p:nvGrpSpPr>
          <p:cNvPr id="51" name="node05"/>
          <p:cNvGrpSpPr/>
          <p:nvPr/>
        </p:nvGrpSpPr>
        <p:grpSpPr>
          <a:xfrm>
            <a:off x="723900" y="3657600"/>
            <a:ext cx="3429000" cy="723900"/>
            <a:chOff x="723900" y="3657600"/>
            <a:chExt cx="3429000" cy="723900"/>
          </a:xfrm>
        </p:grpSpPr>
        <p:sp>
          <p:nvSpPr>
            <p:cNvPr id="11" name="node05.source-001.bullet"/>
            <p:cNvSpPr/>
            <p:nvPr/>
          </p:nvSpPr>
          <p:spPr>
            <a:xfrm>
              <a:off x="723900" y="3746500"/>
              <a:ext cx="38100" cy="38100"/>
            </a:xfrm>
            <a:prstGeom prst="rect">
              <a:avLst/>
            </a:prstGeom>
            <a:solidFill>
              <a:srgbClr val="070154"/>
            </a:solidFill>
            <a:ln>
              <a:noFill/>
            </a:ln>
          </p:spPr>
        </p:sp>
        <p:sp>
          <p:nvSpPr>
            <p:cNvPr id="12" name="node05.source-001.text"/>
            <p:cNvSpPr/>
            <p:nvPr/>
          </p:nvSpPr>
          <p:spPr>
            <a:xfrm>
              <a:off x="876300" y="3657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Controller · accountable</a:t>
              </a:r>
              <a:endParaRPr lang="en-US" sz="1200" spc="0" kern="0" b="0" i="0" dirty="0">
                <a:solidFill>
                  <a:srgbClr val="070154"/>
                </a:solidFill>
                <a:latin typeface="IBM Plex Sans"/>
                <a:ea typeface="IBM Plex Sans"/>
                <a:cs typeface="IBM Plex Sans"/>
              </a:endParaRPr>
            </a:p>
          </p:txBody>
        </p:sp>
        <p:sp>
          <p:nvSpPr>
            <p:cNvPr id="13" name="node05.source-002.bullet"/>
            <p:cNvSpPr/>
            <p:nvPr/>
          </p:nvSpPr>
          <p:spPr>
            <a:xfrm>
              <a:off x="723900" y="4000500"/>
              <a:ext cx="38100" cy="38100"/>
            </a:xfrm>
            <a:prstGeom prst="rect">
              <a:avLst/>
            </a:prstGeom>
            <a:solidFill>
              <a:srgbClr val="070154"/>
            </a:solidFill>
            <a:ln>
              <a:noFill/>
            </a:ln>
          </p:spPr>
        </p:sp>
        <p:sp>
          <p:nvSpPr>
            <p:cNvPr id="14" name="node05.source-002.text"/>
            <p:cNvSpPr/>
            <p:nvPr/>
          </p:nvSpPr>
          <p:spPr>
            <a:xfrm>
              <a:off x="876300" y="3911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Finance IT · executes</a:t>
              </a:r>
              <a:endParaRPr lang="en-US" sz="1200" spc="0" kern="0" b="0" i="0" dirty="0">
                <a:solidFill>
                  <a:srgbClr val="070154"/>
                </a:solidFill>
                <a:latin typeface="IBM Plex Sans"/>
                <a:ea typeface="IBM Plex Sans"/>
                <a:cs typeface="IBM Plex Sans"/>
              </a:endParaRPr>
            </a:p>
          </p:txBody>
        </p:sp>
        <p:sp>
          <p:nvSpPr>
            <p:cNvPr id="15" name="node05.source-003.bullet"/>
            <p:cNvSpPr/>
            <p:nvPr/>
          </p:nvSpPr>
          <p:spPr>
            <a:xfrm>
              <a:off x="723900" y="4254500"/>
              <a:ext cx="38100" cy="38100"/>
            </a:xfrm>
            <a:prstGeom prst="rect">
              <a:avLst/>
            </a:prstGeom>
            <a:solidFill>
              <a:srgbClr val="070154"/>
            </a:solidFill>
            <a:ln>
              <a:noFill/>
            </a:ln>
          </p:spPr>
        </p:sp>
        <p:sp>
          <p:nvSpPr>
            <p:cNvPr id="16" name="node05.source-003.text"/>
            <p:cNvSpPr/>
            <p:nvPr/>
          </p:nvSpPr>
          <p:spPr>
            <a:xfrm>
              <a:off x="876300" y="4165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Internal audit · observes</a:t>
              </a:r>
              <a:endParaRPr lang="en-US" sz="1200" spc="0" kern="0" b="0" i="0" dirty="0">
                <a:solidFill>
                  <a:srgbClr val="070154"/>
                </a:solidFill>
                <a:latin typeface="IBM Plex Sans"/>
                <a:ea typeface="IBM Plex Sans"/>
                <a:cs typeface="IBM Plex Sans"/>
              </a:endParaRPr>
            </a:p>
          </p:txBody>
        </p:sp>
      </p:grpSp>
      <p:grpSp>
        <p:nvGrpSpPr>
          <p:cNvPr id="52" name="node06"/>
          <p:cNvGrpSpPr/>
          <p:nvPr/>
        </p:nvGrpSpPr>
        <p:grpSpPr>
          <a:xfrm>
            <a:off x="723900" y="4572000"/>
            <a:ext cx="3429000" cy="139700"/>
            <a:chOff x="723900" y="4572000"/>
            <a:chExt cx="3429000" cy="139700"/>
          </a:xfrm>
        </p:grpSpPr>
        <p:sp>
          <p:nvSpPr>
            <p:cNvPr id="17" name="node06.text"/>
            <p:cNvSpPr/>
            <p:nvPr/>
          </p:nvSpPr>
          <p:spPr>
            <a:xfrm>
              <a:off x="723900" y="4572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WINDOW</a:t>
              </a:r>
              <a:endParaRPr lang="en-US" sz="800" spc="48" kern="0" b="0" i="0" dirty="0">
                <a:solidFill>
                  <a:srgbClr val="0047FF"/>
                </a:solidFill>
                <a:latin typeface="IBM Plex Mono Medium"/>
                <a:ea typeface="IBM Plex Mono Medium"/>
                <a:cs typeface="IBM Plex Mono Medium"/>
              </a:endParaRPr>
            </a:p>
          </p:txBody>
        </p:sp>
      </p:grpSp>
      <p:grpSp>
        <p:nvGrpSpPr>
          <p:cNvPr id="53" name="node07"/>
          <p:cNvGrpSpPr/>
          <p:nvPr/>
        </p:nvGrpSpPr>
        <p:grpSpPr>
          <a:xfrm>
            <a:off x="723900" y="4800600"/>
            <a:ext cx="3429000" cy="190500"/>
            <a:chOff x="723900" y="4800600"/>
            <a:chExt cx="3429000" cy="190500"/>
          </a:xfrm>
        </p:grpSpPr>
        <p:sp>
          <p:nvSpPr>
            <p:cNvPr id="18" name="node07.text"/>
            <p:cNvSpPr/>
            <p:nvPr/>
          </p:nvSpPr>
          <p:spPr>
            <a:xfrm>
              <a:off x="723900" y="48006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Fri 18:00 · 30 min</a:t>
              </a:r>
              <a:endParaRPr lang="en-US" sz="1100" spc="0" kern="0" b="0" i="0" dirty="0">
                <a:solidFill>
                  <a:srgbClr val="070154"/>
                </a:solidFill>
                <a:latin typeface="IBM Plex Sans"/>
                <a:ea typeface="IBM Plex Sans"/>
                <a:cs typeface="IBM Plex Sans"/>
              </a:endParaRPr>
            </a:p>
          </p:txBody>
        </p:sp>
      </p:grpSp>
      <p:grpSp>
        <p:nvGrpSpPr>
          <p:cNvPr id="54" name="node08"/>
          <p:cNvGrpSpPr/>
          <p:nvPr/>
        </p:nvGrpSpPr>
        <p:grpSpPr>
          <a:xfrm>
            <a:off x="4381500" y="1600200"/>
            <a:ext cx="3429000" cy="139700"/>
            <a:chOff x="4381500" y="1600200"/>
            <a:chExt cx="3429000" cy="139700"/>
          </a:xfrm>
        </p:grpSpPr>
        <p:sp>
          <p:nvSpPr>
            <p:cNvPr id="19" name="node08.text"/>
            <p:cNvSpPr/>
            <p:nvPr/>
          </p:nvSpPr>
          <p:spPr>
            <a:xfrm>
              <a:off x="43815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SUB-STEPS</a:t>
              </a:r>
              <a:endParaRPr lang="en-US" sz="800" spc="48" kern="0" b="0" i="0" dirty="0">
                <a:solidFill>
                  <a:srgbClr val="0047FF"/>
                </a:solidFill>
                <a:latin typeface="IBM Plex Mono Medium"/>
                <a:ea typeface="IBM Plex Mono Medium"/>
                <a:cs typeface="IBM Plex Mono Medium"/>
              </a:endParaRPr>
            </a:p>
          </p:txBody>
        </p:sp>
      </p:grpSp>
      <p:grpSp>
        <p:nvGrpSpPr>
          <p:cNvPr id="55" name="node09"/>
          <p:cNvGrpSpPr/>
          <p:nvPr/>
        </p:nvGrpSpPr>
        <p:grpSpPr>
          <a:xfrm>
            <a:off x="4381500" y="1828800"/>
            <a:ext cx="3429000" cy="1231900"/>
            <a:chOff x="4381500" y="1828800"/>
            <a:chExt cx="3429000" cy="1231900"/>
          </a:xfrm>
        </p:grpSpPr>
        <p:sp>
          <p:nvSpPr>
            <p:cNvPr id="20" name="node09.source-001.number"/>
            <p:cNvSpPr/>
            <p:nvPr/>
          </p:nvSpPr>
          <p:spPr>
            <a:xfrm>
              <a:off x="4381500" y="18288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21" name="node09.source-001.text"/>
            <p:cNvSpPr/>
            <p:nvPr/>
          </p:nvSpPr>
          <p:spPr>
            <a:xfrm>
              <a:off x="4572000" y="1828800"/>
              <a:ext cx="3238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Announce the freeze on the bridge</a:t>
              </a:r>
              <a:endParaRPr lang="en-US" sz="1200" spc="0" kern="0" b="0" i="0" dirty="0">
                <a:solidFill>
                  <a:srgbClr val="070154"/>
                </a:solidFill>
                <a:latin typeface="IBM Plex Sans"/>
                <a:ea typeface="IBM Plex Sans"/>
                <a:cs typeface="IBM Plex Sans"/>
              </a:endParaRPr>
            </a:p>
          </p:txBody>
        </p:sp>
        <p:sp>
          <p:nvSpPr>
            <p:cNvPr id="22" name="node09.source-002.number"/>
            <p:cNvSpPr/>
            <p:nvPr/>
          </p:nvSpPr>
          <p:spPr>
            <a:xfrm>
              <a:off x="4381500" y="20828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23" name="node09.source-002.text"/>
            <p:cNvSpPr/>
            <p:nvPr/>
          </p:nvSpPr>
          <p:spPr>
            <a:xfrm>
              <a:off x="4572000" y="2082800"/>
              <a:ext cx="3238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and post open batches</a:t>
              </a:r>
              <a:endParaRPr lang="en-US" sz="1200" spc="0" kern="0" b="0" i="0" dirty="0">
                <a:solidFill>
                  <a:srgbClr val="070154"/>
                </a:solidFill>
                <a:latin typeface="IBM Plex Sans"/>
                <a:ea typeface="IBM Plex Sans"/>
                <a:cs typeface="IBM Plex Sans"/>
              </a:endParaRPr>
            </a:p>
          </p:txBody>
        </p:sp>
        <p:sp>
          <p:nvSpPr>
            <p:cNvPr id="24" name="node09.source-003.number"/>
            <p:cNvSpPr/>
            <p:nvPr/>
          </p:nvSpPr>
          <p:spPr>
            <a:xfrm>
              <a:off x="4381500" y="23368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25" name="node09.source-003.text"/>
            <p:cNvSpPr/>
            <p:nvPr/>
          </p:nvSpPr>
          <p:spPr>
            <a:xfrm>
              <a:off x="4572000" y="2336800"/>
              <a:ext cx="3238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Lock subledgers and the calendar</a:t>
              </a:r>
              <a:endParaRPr lang="en-US" sz="1200" spc="0" kern="0" b="0" i="0" dirty="0">
                <a:solidFill>
                  <a:srgbClr val="070154"/>
                </a:solidFill>
                <a:latin typeface="IBM Plex Sans"/>
                <a:ea typeface="IBM Plex Sans"/>
                <a:cs typeface="IBM Plex Sans"/>
              </a:endParaRPr>
            </a:p>
          </p:txBody>
        </p:sp>
        <p:sp>
          <p:nvSpPr>
            <p:cNvPr id="26" name="node09.source-004.number"/>
            <p:cNvSpPr/>
            <p:nvPr/>
          </p:nvSpPr>
          <p:spPr>
            <a:xfrm>
              <a:off x="4381500" y="25908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27" name="node09.source-004.text"/>
            <p:cNvSpPr/>
            <p:nvPr/>
          </p:nvSpPr>
          <p:spPr>
            <a:xfrm>
              <a:off x="4572000" y="2590800"/>
              <a:ext cx="3238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 the subledger lock report</a:t>
              </a:r>
              <a:endParaRPr lang="en-US" sz="1200" spc="0" kern="0" b="0" i="0" dirty="0">
                <a:solidFill>
                  <a:srgbClr val="070154"/>
                </a:solidFill>
                <a:latin typeface="IBM Plex Sans"/>
                <a:ea typeface="IBM Plex Sans"/>
                <a:cs typeface="IBM Plex Sans"/>
              </a:endParaRPr>
            </a:p>
          </p:txBody>
        </p:sp>
        <p:sp>
          <p:nvSpPr>
            <p:cNvPr id="28" name="node09.source-005.number"/>
            <p:cNvSpPr/>
            <p:nvPr/>
          </p:nvSpPr>
          <p:spPr>
            <a:xfrm>
              <a:off x="4381500" y="2844800"/>
              <a:ext cx="190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5.</a:t>
              </a:r>
              <a:endParaRPr lang="en-US" sz="1200" spc="0" kern="0" b="0" i="0" dirty="0">
                <a:solidFill>
                  <a:srgbClr val="070154"/>
                </a:solidFill>
                <a:latin typeface="IBM Plex Sans"/>
                <a:ea typeface="IBM Plex Sans"/>
                <a:cs typeface="IBM Plex Sans"/>
              </a:endParaRPr>
            </a:p>
          </p:txBody>
        </p:sp>
        <p:sp>
          <p:nvSpPr>
            <p:cNvPr id="29" name="node09.source-005.text"/>
            <p:cNvSpPr/>
            <p:nvPr/>
          </p:nvSpPr>
          <p:spPr>
            <a:xfrm>
              <a:off x="4572000" y="2844800"/>
              <a:ext cx="32385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Publish the freeze notice</a:t>
              </a:r>
              <a:endParaRPr lang="en-US" sz="1200" spc="0" kern="0" b="0" i="0" dirty="0">
                <a:solidFill>
                  <a:srgbClr val="070154"/>
                </a:solidFill>
                <a:latin typeface="IBM Plex Sans"/>
                <a:ea typeface="IBM Plex Sans"/>
                <a:cs typeface="IBM Plex Sans"/>
              </a:endParaRPr>
            </a:p>
          </p:txBody>
        </p:sp>
      </p:grpSp>
      <p:grpSp>
        <p:nvGrpSpPr>
          <p:cNvPr id="56" name="node10"/>
          <p:cNvGrpSpPr/>
          <p:nvPr/>
        </p:nvGrpSpPr>
        <p:grpSpPr>
          <a:xfrm>
            <a:off x="8039100" y="1600200"/>
            <a:ext cx="3429000" cy="139700"/>
            <a:chOff x="8039100" y="1600200"/>
            <a:chExt cx="3429000" cy="139700"/>
          </a:xfrm>
        </p:grpSpPr>
        <p:sp>
          <p:nvSpPr>
            <p:cNvPr id="30" name="node10.text"/>
            <p:cNvSpPr/>
            <p:nvPr/>
          </p:nvSpPr>
          <p:spPr>
            <a:xfrm>
              <a:off x="80391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RULES</a:t>
              </a:r>
              <a:endParaRPr lang="en-US" sz="800" spc="48" kern="0" b="0" i="0" dirty="0">
                <a:solidFill>
                  <a:srgbClr val="0047FF"/>
                </a:solidFill>
                <a:latin typeface="IBM Plex Mono Medium"/>
                <a:ea typeface="IBM Plex Mono Medium"/>
                <a:cs typeface="IBM Plex Mono Medium"/>
              </a:endParaRPr>
            </a:p>
          </p:txBody>
        </p:sp>
      </p:grpSp>
      <p:grpSp>
        <p:nvGrpSpPr>
          <p:cNvPr id="57" name="node11"/>
          <p:cNvGrpSpPr/>
          <p:nvPr/>
        </p:nvGrpSpPr>
        <p:grpSpPr>
          <a:xfrm>
            <a:off x="8039100" y="1828800"/>
            <a:ext cx="3429000" cy="977900"/>
            <a:chOff x="8039100" y="1828800"/>
            <a:chExt cx="3429000" cy="977900"/>
          </a:xfrm>
        </p:grpSpPr>
        <p:sp>
          <p:nvSpPr>
            <p:cNvPr id="31" name="node11.source-001.bullet"/>
            <p:cNvSpPr/>
            <p:nvPr/>
          </p:nvSpPr>
          <p:spPr>
            <a:xfrm>
              <a:off x="8039100" y="1917700"/>
              <a:ext cx="38100" cy="38100"/>
            </a:xfrm>
            <a:prstGeom prst="rect">
              <a:avLst/>
            </a:prstGeom>
            <a:solidFill>
              <a:srgbClr val="070154"/>
            </a:solidFill>
            <a:ln>
              <a:noFill/>
            </a:ln>
          </p:spPr>
        </p:sp>
        <p:sp>
          <p:nvSpPr>
            <p:cNvPr id="32" name="node11.source-001.text"/>
            <p:cNvSpPr/>
            <p:nvPr/>
          </p:nvSpPr>
          <p:spPr>
            <a:xfrm>
              <a:off x="8191500" y="1828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 manual journals after freeze</a:t>
              </a:r>
              <a:endParaRPr lang="en-US" sz="1200" spc="0" kern="0" b="0" i="0" dirty="0">
                <a:solidFill>
                  <a:srgbClr val="070154"/>
                </a:solidFill>
                <a:latin typeface="IBM Plex Sans"/>
                <a:ea typeface="IBM Plex Sans"/>
                <a:cs typeface="IBM Plex Sans"/>
              </a:endParaRPr>
            </a:p>
          </p:txBody>
        </p:sp>
        <p:sp>
          <p:nvSpPr>
            <p:cNvPr id="33" name="node11.source-002.bullet"/>
            <p:cNvSpPr/>
            <p:nvPr/>
          </p:nvSpPr>
          <p:spPr>
            <a:xfrm>
              <a:off x="8039100" y="2171700"/>
              <a:ext cx="38100" cy="38100"/>
            </a:xfrm>
            <a:prstGeom prst="rect">
              <a:avLst/>
            </a:prstGeom>
            <a:solidFill>
              <a:srgbClr val="070154"/>
            </a:solidFill>
            <a:ln>
              <a:noFill/>
            </a:ln>
          </p:spPr>
        </p:sp>
        <p:sp>
          <p:nvSpPr>
            <p:cNvPr id="34" name="node11.source-002.text"/>
            <p:cNvSpPr/>
            <p:nvPr/>
          </p:nvSpPr>
          <p:spPr>
            <a:xfrm>
              <a:off x="8191500" y="2082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Exceptions need the Cutover lead</a:t>
              </a:r>
              <a:endParaRPr lang="en-US" sz="1200" spc="0" kern="0" b="0" i="0" dirty="0">
                <a:solidFill>
                  <a:srgbClr val="070154"/>
                </a:solidFill>
                <a:latin typeface="IBM Plex Sans"/>
                <a:ea typeface="IBM Plex Sans"/>
                <a:cs typeface="IBM Plex Sans"/>
              </a:endParaRPr>
            </a:p>
          </p:txBody>
        </p:sp>
        <p:sp>
          <p:nvSpPr>
            <p:cNvPr id="35" name="node11.source-003.bullet"/>
            <p:cNvSpPr/>
            <p:nvPr/>
          </p:nvSpPr>
          <p:spPr>
            <a:xfrm>
              <a:off x="8039100" y="2425700"/>
              <a:ext cx="38100" cy="38100"/>
            </a:xfrm>
            <a:prstGeom prst="rect">
              <a:avLst/>
            </a:prstGeom>
            <a:solidFill>
              <a:srgbClr val="070154"/>
            </a:solidFill>
            <a:ln>
              <a:noFill/>
            </a:ln>
          </p:spPr>
        </p:sp>
        <p:sp>
          <p:nvSpPr>
            <p:cNvPr id="36" name="node11.source-003.text"/>
            <p:cNvSpPr/>
            <p:nvPr/>
          </p:nvSpPr>
          <p:spPr>
            <a:xfrm>
              <a:off x="8191500" y="2336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Late items are queued, not posted</a:t>
              </a:r>
              <a:endParaRPr lang="en-US" sz="1200" spc="0" kern="0" b="0" i="0" dirty="0">
                <a:solidFill>
                  <a:srgbClr val="070154"/>
                </a:solidFill>
                <a:latin typeface="IBM Plex Sans"/>
                <a:ea typeface="IBM Plex Sans"/>
                <a:cs typeface="IBM Plex Sans"/>
              </a:endParaRPr>
            </a:p>
          </p:txBody>
        </p:sp>
        <p:sp>
          <p:nvSpPr>
            <p:cNvPr id="37" name="node11.source-004.bullet"/>
            <p:cNvSpPr/>
            <p:nvPr/>
          </p:nvSpPr>
          <p:spPr>
            <a:xfrm>
              <a:off x="8039100" y="2679700"/>
              <a:ext cx="38100" cy="38100"/>
            </a:xfrm>
            <a:prstGeom prst="rect">
              <a:avLst/>
            </a:prstGeom>
            <a:solidFill>
              <a:srgbClr val="070154"/>
            </a:solidFill>
            <a:ln>
              <a:noFill/>
            </a:ln>
          </p:spPr>
        </p:sp>
        <p:sp>
          <p:nvSpPr>
            <p:cNvPr id="38" name="node11.source-004.text"/>
            <p:cNvSpPr/>
            <p:nvPr/>
          </p:nvSpPr>
          <p:spPr>
            <a:xfrm>
              <a:off x="8191500" y="2590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Record the freeze time on the log</a:t>
              </a:r>
              <a:endParaRPr lang="en-US" sz="1200" spc="0" kern="0" b="0" i="0" dirty="0">
                <a:solidFill>
                  <a:srgbClr val="070154"/>
                </a:solidFill>
                <a:latin typeface="IBM Plex Sans"/>
                <a:ea typeface="IBM Plex Sans"/>
                <a:cs typeface="IBM Plex Sans"/>
              </a:endParaRPr>
            </a:p>
          </p:txBody>
        </p:sp>
      </p:grpSp>
      <p:grpSp>
        <p:nvGrpSpPr>
          <p:cNvPr id="58" name="node12"/>
          <p:cNvGrpSpPr/>
          <p:nvPr/>
        </p:nvGrpSpPr>
        <p:grpSpPr>
          <a:xfrm>
            <a:off x="4381500" y="4114800"/>
            <a:ext cx="7086600" cy="1828800"/>
            <a:chOff x="4381500" y="4114800"/>
            <a:chExt cx="7086600" cy="1828800"/>
          </a:xfrm>
        </p:grpSpPr>
        <p:sp>
          <p:nvSpPr>
            <p:cNvPr id="39" name="node12.container"/>
            <p:cNvSpPr/>
            <p:nvPr/>
          </p:nvSpPr>
          <p:spPr>
            <a:xfrm>
              <a:off x="4381500" y="4114800"/>
              <a:ext cx="7086600" cy="1828800"/>
            </a:xfrm>
            <a:prstGeom prst="rect">
              <a:avLst/>
            </a:prstGeom>
            <a:solidFill>
              <a:srgbClr val="E8EEF8"/>
            </a:solidFill>
            <a:ln>
              <a:noFill/>
            </a:ln>
          </p:spPr>
        </p:sp>
        <p:sp>
          <p:nvSpPr>
            <p:cNvPr id="40" name="node12.label"/>
            <p:cNvSpPr/>
            <p:nvPr/>
          </p:nvSpPr>
          <p:spPr>
            <a:xfrm>
              <a:off x="4533900" y="4267200"/>
              <a:ext cx="678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GATE CLEARANCE</a:t>
              </a:r>
              <a:endParaRPr lang="en-US" sz="800" spc="48" kern="0" b="0" i="0" dirty="0">
                <a:solidFill>
                  <a:srgbClr val="0047FF"/>
                </a:solidFill>
                <a:latin typeface="IBM Plex Mono Medium"/>
                <a:ea typeface="IBM Plex Mono Medium"/>
                <a:cs typeface="IBM Plex Mono Medium"/>
              </a:endParaRPr>
            </a:p>
          </p:txBody>
        </p:sp>
        <p:sp>
          <p:nvSpPr>
            <p:cNvPr id="41" name="node12.body.item-001.bullets.item-001.marker"/>
            <p:cNvSpPr/>
            <p:nvPr/>
          </p:nvSpPr>
          <p:spPr>
            <a:xfrm>
              <a:off x="4533900" y="4572000"/>
              <a:ext cx="38100" cy="38100"/>
            </a:xfrm>
            <a:prstGeom prst="rect">
              <a:avLst/>
            </a:prstGeom>
            <a:solidFill>
              <a:srgbClr val="070154"/>
            </a:solidFill>
            <a:ln>
              <a:noFill/>
            </a:ln>
          </p:spPr>
        </p:sp>
        <p:sp>
          <p:nvSpPr>
            <p:cNvPr id="42" name="node12.body.item-001.bullets.item-001.text"/>
            <p:cNvSpPr/>
            <p:nvPr/>
          </p:nvSpPr>
          <p:spPr>
            <a:xfrm>
              <a:off x="4686300" y="4483100"/>
              <a:ext cx="662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Lock report shows no open batches</a:t>
              </a:r>
              <a:endParaRPr lang="en-US" sz="1200" spc="0" kern="0" b="0" i="0" dirty="0">
                <a:solidFill>
                  <a:srgbClr val="070154"/>
                </a:solidFill>
                <a:latin typeface="IBM Plex Sans"/>
                <a:ea typeface="IBM Plex Sans"/>
                <a:cs typeface="IBM Plex Sans"/>
              </a:endParaRPr>
            </a:p>
          </p:txBody>
        </p:sp>
        <p:sp>
          <p:nvSpPr>
            <p:cNvPr id="43" name="node12.body.item-001.bullets.item-002.marker"/>
            <p:cNvSpPr/>
            <p:nvPr/>
          </p:nvSpPr>
          <p:spPr>
            <a:xfrm>
              <a:off x="4533900" y="4826000"/>
              <a:ext cx="38100" cy="38100"/>
            </a:xfrm>
            <a:prstGeom prst="rect">
              <a:avLst/>
            </a:prstGeom>
            <a:solidFill>
              <a:srgbClr val="070154"/>
            </a:solidFill>
            <a:ln>
              <a:noFill/>
            </a:ln>
          </p:spPr>
        </p:sp>
        <p:sp>
          <p:nvSpPr>
            <p:cNvPr id="44" name="node12.body.item-001.bullets.item-002.text"/>
            <p:cNvSpPr/>
            <p:nvPr/>
          </p:nvSpPr>
          <p:spPr>
            <a:xfrm>
              <a:off x="4686300" y="4737100"/>
              <a:ext cx="662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Controller confirms the freeze on the log</a:t>
              </a:r>
              <a:endParaRPr lang="en-US" sz="1200" spc="0" kern="0" b="0" i="0" dirty="0">
                <a:solidFill>
                  <a:srgbClr val="070154"/>
                </a:solidFill>
                <a:latin typeface="IBM Plex Sans"/>
                <a:ea typeface="IBM Plex Sans"/>
                <a:cs typeface="IBM Plex Sans"/>
              </a:endParaRPr>
            </a:p>
          </p:txBody>
        </p:sp>
        <p:sp>
          <p:nvSpPr>
            <p:cNvPr id="45" name="node12.body.item-001.bullets.item-003.marker"/>
            <p:cNvSpPr/>
            <p:nvPr/>
          </p:nvSpPr>
          <p:spPr>
            <a:xfrm>
              <a:off x="4533900" y="5080000"/>
              <a:ext cx="38100" cy="38100"/>
            </a:xfrm>
            <a:prstGeom prst="rect">
              <a:avLst/>
            </a:prstGeom>
            <a:solidFill>
              <a:srgbClr val="070154"/>
            </a:solidFill>
            <a:ln>
              <a:noFill/>
            </a:ln>
          </p:spPr>
        </p:sp>
        <p:sp>
          <p:nvSpPr>
            <p:cNvPr id="46" name="node12.body.item-001.bullets.item-003.text"/>
            <p:cNvSpPr/>
            <p:nvPr/>
          </p:nvSpPr>
          <p:spPr>
            <a:xfrm>
              <a:off x="4686300" y="4991100"/>
              <a:ext cx="662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Cutover lead releases step 2</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ource-47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573718" y="1078992"/>
            <a:ext cx="2605456" cy="235057"/>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Tick every </a:t>
            </a:r>
            <a:r>
              <a:rPr lang="en-US" sz="3200" spc="-64" kern="0" b="0" i="0" dirty="0">
                <a:solidFill>
                  <a:srgbClr val="070154"/>
                </a:solidFill>
                <a:latin typeface="IBM Plex Sans SemiBold"/>
                <a:ea typeface="IBM Plex Sans SemiBold"/>
                <a:cs typeface="IBM Plex Sans SemiBold"/>
              </a:rPr>
              <a:t xml:space="preserve">reconciliation</a:t>
            </a:r>
            <a:r>
              <a:rPr lang="en-US" sz="3200" spc="-64" kern="0" b="0" i="0" dirty="0">
                <a:solidFill>
                  <a:srgbClr val="070154"/>
                </a:solidFill>
                <a:latin typeface="IBM Plex Sans SemiBold"/>
                <a:ea typeface="IBM Plex Sans SemiBold"/>
                <a:cs typeface="IBM Plex Sans SemiBold"/>
              </a:rPr>
              <a:t xml:space="preserve"> before step 4 loads balances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189</a:t>
            </a:fld>
            <a:endParaRPr lang="en-US" sz="700" spc="0" kern="0" b="0" i="0" dirty="0">
              <a:solidFill>
                <a:srgbClr val="070154"/>
              </a:solidFill>
              <a:latin typeface="IBM Plex Mono SemiBold"/>
              <a:ea typeface="IBM Plex Mono SemiBold"/>
              <a:cs typeface="IBM Plex Mono SemiBold"/>
            </a:endParaRPr>
          </a:p>
        </p:txBody>
      </p:sp>
      <p:grpSp>
        <p:nvGrpSpPr>
          <p:cNvPr id="42" name="node01"/>
          <p:cNvGrpSpPr/>
          <p:nvPr/>
        </p:nvGrpSpPr>
        <p:grpSpPr>
          <a:xfrm>
            <a:off x="723900" y="1600200"/>
            <a:ext cx="3429000" cy="139700"/>
            <a:chOff x="723900" y="1600200"/>
            <a:chExt cx="3429000" cy="139700"/>
          </a:xfrm>
        </p:grpSpPr>
        <p:sp>
          <p:nvSpPr>
            <p:cNvPr id="7" name="node01.text"/>
            <p:cNvSpPr/>
            <p:nvPr/>
          </p:nvSpPr>
          <p:spPr>
            <a:xfrm>
              <a:off x="7239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STEP 4</a:t>
              </a:r>
              <a:endParaRPr lang="en-US" sz="800" spc="48" kern="0" b="0" i="0" dirty="0">
                <a:solidFill>
                  <a:srgbClr val="0047FF"/>
                </a:solidFill>
                <a:latin typeface="IBM Plex Mono Medium"/>
                <a:ea typeface="IBM Plex Mono Medium"/>
                <a:cs typeface="IBM Plex Mono Medium"/>
              </a:endParaRPr>
            </a:p>
          </p:txBody>
        </p:sp>
      </p:grpSp>
      <p:grpSp>
        <p:nvGrpSpPr>
          <p:cNvPr id="43" name="node02"/>
          <p:cNvGrpSpPr/>
          <p:nvPr/>
        </p:nvGrpSpPr>
        <p:grpSpPr>
          <a:xfrm>
            <a:off x="723900" y="1828800"/>
            <a:ext cx="3429000" cy="266700"/>
            <a:chOff x="723900" y="1828800"/>
            <a:chExt cx="3429000" cy="266700"/>
          </a:xfrm>
        </p:grpSpPr>
        <p:sp>
          <p:nvSpPr>
            <p:cNvPr id="8" name="node02.text"/>
            <p:cNvSpPr/>
            <p:nvPr/>
          </p:nvSpPr>
          <p:spPr>
            <a:xfrm>
              <a:off x="723900" y="18288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Load balances to the new ledger</a:t>
              </a:r>
              <a:endParaRPr lang="en-US" sz="1600" spc="-16" kern="0" b="0" i="0" dirty="0">
                <a:solidFill>
                  <a:srgbClr val="070154"/>
                </a:solidFill>
                <a:latin typeface="IBM Plex Sans SemiBold"/>
                <a:ea typeface="IBM Plex Sans SemiBold"/>
                <a:cs typeface="IBM Plex Sans SemiBold"/>
              </a:endParaRPr>
            </a:p>
          </p:txBody>
        </p:sp>
      </p:grpSp>
      <p:grpSp>
        <p:nvGrpSpPr>
          <p:cNvPr id="44" name="node03"/>
          <p:cNvGrpSpPr/>
          <p:nvPr/>
        </p:nvGrpSpPr>
        <p:grpSpPr>
          <a:xfrm>
            <a:off x="723900" y="2362200"/>
            <a:ext cx="3429000" cy="381000"/>
            <a:chOff x="723900" y="2362200"/>
            <a:chExt cx="3429000" cy="381000"/>
          </a:xfrm>
        </p:grpSpPr>
        <p:sp>
          <p:nvSpPr>
            <p:cNvPr id="9" name="node03.text"/>
            <p:cNvSpPr/>
            <p:nvPr/>
          </p:nvSpPr>
          <p:spPr>
            <a:xfrm>
              <a:off x="723900" y="23622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Load the extracted open balances by entity and prove they match the legacy books.</a:t>
              </a:r>
              <a:endParaRPr lang="en-US" sz="1100" spc="0" kern="0" b="0" i="0" dirty="0">
                <a:solidFill>
                  <a:srgbClr val="070154"/>
                </a:solidFill>
                <a:latin typeface="IBM Plex Sans"/>
                <a:ea typeface="IBM Plex Sans"/>
                <a:cs typeface="IBM Plex Sans"/>
              </a:endParaRPr>
            </a:p>
          </p:txBody>
        </p:sp>
      </p:grpSp>
      <p:grpSp>
        <p:nvGrpSpPr>
          <p:cNvPr id="45" name="node04"/>
          <p:cNvGrpSpPr/>
          <p:nvPr/>
        </p:nvGrpSpPr>
        <p:grpSpPr>
          <a:xfrm>
            <a:off x="723900" y="3429000"/>
            <a:ext cx="3429000" cy="139700"/>
            <a:chOff x="723900" y="3429000"/>
            <a:chExt cx="3429000" cy="139700"/>
          </a:xfrm>
        </p:grpSpPr>
        <p:sp>
          <p:nvSpPr>
            <p:cNvPr id="10" name="node04.text"/>
            <p:cNvSpPr/>
            <p:nvPr/>
          </p:nvSpPr>
          <p:spPr>
            <a:xfrm>
              <a:off x="723900" y="3429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OWNERS</a:t>
              </a:r>
              <a:endParaRPr lang="en-US" sz="800" spc="48" kern="0" b="0" i="0" dirty="0">
                <a:solidFill>
                  <a:srgbClr val="0047FF"/>
                </a:solidFill>
                <a:latin typeface="IBM Plex Mono Medium"/>
                <a:ea typeface="IBM Plex Mono Medium"/>
                <a:cs typeface="IBM Plex Mono Medium"/>
              </a:endParaRPr>
            </a:p>
          </p:txBody>
        </p:sp>
      </p:grpSp>
      <p:grpSp>
        <p:nvGrpSpPr>
          <p:cNvPr id="46" name="node05"/>
          <p:cNvGrpSpPr/>
          <p:nvPr/>
        </p:nvGrpSpPr>
        <p:grpSpPr>
          <a:xfrm>
            <a:off x="723900" y="3657600"/>
            <a:ext cx="3429000" cy="723900"/>
            <a:chOff x="723900" y="3657600"/>
            <a:chExt cx="3429000" cy="723900"/>
          </a:xfrm>
        </p:grpSpPr>
        <p:sp>
          <p:nvSpPr>
            <p:cNvPr id="11" name="node05.source-001.bullet"/>
            <p:cNvSpPr/>
            <p:nvPr/>
          </p:nvSpPr>
          <p:spPr>
            <a:xfrm>
              <a:off x="723900" y="3746500"/>
              <a:ext cx="38100" cy="38100"/>
            </a:xfrm>
            <a:prstGeom prst="rect">
              <a:avLst/>
            </a:prstGeom>
            <a:solidFill>
              <a:srgbClr val="070154"/>
            </a:solidFill>
            <a:ln>
              <a:noFill/>
            </a:ln>
          </p:spPr>
        </p:sp>
        <p:sp>
          <p:nvSpPr>
            <p:cNvPr id="12" name="node05.source-001.text"/>
            <p:cNvSpPr/>
            <p:nvPr/>
          </p:nvSpPr>
          <p:spPr>
            <a:xfrm>
              <a:off x="876300" y="3657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Finance IT · executes</a:t>
              </a:r>
              <a:endParaRPr lang="en-US" sz="1200" spc="0" kern="0" b="0" i="0" dirty="0">
                <a:solidFill>
                  <a:srgbClr val="070154"/>
                </a:solidFill>
                <a:latin typeface="IBM Plex Sans"/>
                <a:ea typeface="IBM Plex Sans"/>
                <a:cs typeface="IBM Plex Sans"/>
              </a:endParaRPr>
            </a:p>
          </p:txBody>
        </p:sp>
        <p:sp>
          <p:nvSpPr>
            <p:cNvPr id="13" name="node05.source-002.bullet"/>
            <p:cNvSpPr/>
            <p:nvPr/>
          </p:nvSpPr>
          <p:spPr>
            <a:xfrm>
              <a:off x="723900" y="4000500"/>
              <a:ext cx="38100" cy="38100"/>
            </a:xfrm>
            <a:prstGeom prst="rect">
              <a:avLst/>
            </a:prstGeom>
            <a:solidFill>
              <a:srgbClr val="070154"/>
            </a:solidFill>
            <a:ln>
              <a:noFill/>
            </a:ln>
          </p:spPr>
        </p:sp>
        <p:sp>
          <p:nvSpPr>
            <p:cNvPr id="14" name="node05.source-002.text"/>
            <p:cNvSpPr/>
            <p:nvPr/>
          </p:nvSpPr>
          <p:spPr>
            <a:xfrm>
              <a:off x="876300" y="3911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lead · reconciles</a:t>
              </a:r>
              <a:endParaRPr lang="en-US" sz="1200" spc="0" kern="0" b="0" i="0" dirty="0">
                <a:solidFill>
                  <a:srgbClr val="070154"/>
                </a:solidFill>
                <a:latin typeface="IBM Plex Sans"/>
                <a:ea typeface="IBM Plex Sans"/>
                <a:cs typeface="IBM Plex Sans"/>
              </a:endParaRPr>
            </a:p>
          </p:txBody>
        </p:sp>
        <p:sp>
          <p:nvSpPr>
            <p:cNvPr id="15" name="node05.source-003.bullet"/>
            <p:cNvSpPr/>
            <p:nvPr/>
          </p:nvSpPr>
          <p:spPr>
            <a:xfrm>
              <a:off x="723900" y="4254500"/>
              <a:ext cx="38100" cy="38100"/>
            </a:xfrm>
            <a:prstGeom prst="rect">
              <a:avLst/>
            </a:prstGeom>
            <a:solidFill>
              <a:srgbClr val="070154"/>
            </a:solidFill>
            <a:ln>
              <a:noFill/>
            </a:ln>
          </p:spPr>
        </p:sp>
        <p:sp>
          <p:nvSpPr>
            <p:cNvPr id="16" name="node05.source-003.text"/>
            <p:cNvSpPr/>
            <p:nvPr/>
          </p:nvSpPr>
          <p:spPr>
            <a:xfrm>
              <a:off x="876300" y="4165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Controller · accountable</a:t>
              </a:r>
              <a:endParaRPr lang="en-US" sz="1200" spc="0" kern="0" b="0" i="0" dirty="0">
                <a:solidFill>
                  <a:srgbClr val="070154"/>
                </a:solidFill>
                <a:latin typeface="IBM Plex Sans"/>
                <a:ea typeface="IBM Plex Sans"/>
                <a:cs typeface="IBM Plex Sans"/>
              </a:endParaRPr>
            </a:p>
          </p:txBody>
        </p:sp>
      </p:grpSp>
      <p:grpSp>
        <p:nvGrpSpPr>
          <p:cNvPr id="47" name="node06"/>
          <p:cNvGrpSpPr/>
          <p:nvPr/>
        </p:nvGrpSpPr>
        <p:grpSpPr>
          <a:xfrm>
            <a:off x="723900" y="4572000"/>
            <a:ext cx="3429000" cy="139700"/>
            <a:chOff x="723900" y="4572000"/>
            <a:chExt cx="3429000" cy="139700"/>
          </a:xfrm>
        </p:grpSpPr>
        <p:sp>
          <p:nvSpPr>
            <p:cNvPr id="17" name="node06.text"/>
            <p:cNvSpPr/>
            <p:nvPr/>
          </p:nvSpPr>
          <p:spPr>
            <a:xfrm>
              <a:off x="723900" y="4572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WINDOW</a:t>
              </a:r>
              <a:endParaRPr lang="en-US" sz="800" spc="48" kern="0" b="0" i="0" dirty="0">
                <a:solidFill>
                  <a:srgbClr val="0047FF"/>
                </a:solidFill>
                <a:latin typeface="IBM Plex Mono Medium"/>
                <a:ea typeface="IBM Plex Mono Medium"/>
                <a:cs typeface="IBM Plex Mono Medium"/>
              </a:endParaRPr>
            </a:p>
          </p:txBody>
        </p:sp>
      </p:grpSp>
      <p:grpSp>
        <p:nvGrpSpPr>
          <p:cNvPr id="48" name="node07"/>
          <p:cNvGrpSpPr/>
          <p:nvPr/>
        </p:nvGrpSpPr>
        <p:grpSpPr>
          <a:xfrm>
            <a:off x="723900" y="4800600"/>
            <a:ext cx="3429000" cy="190500"/>
            <a:chOff x="723900" y="4800600"/>
            <a:chExt cx="3429000" cy="190500"/>
          </a:xfrm>
        </p:grpSpPr>
        <p:sp>
          <p:nvSpPr>
            <p:cNvPr id="18" name="node07.text"/>
            <p:cNvSpPr/>
            <p:nvPr/>
          </p:nvSpPr>
          <p:spPr>
            <a:xfrm>
              <a:off x="723900" y="48006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Fri 22:30 · 2 h</a:t>
              </a:r>
              <a:endParaRPr lang="en-US" sz="1100" spc="0" kern="0" b="0" i="0" dirty="0">
                <a:solidFill>
                  <a:srgbClr val="070154"/>
                </a:solidFill>
                <a:latin typeface="IBM Plex Sans"/>
                <a:ea typeface="IBM Plex Sans"/>
                <a:cs typeface="IBM Plex Sans"/>
              </a:endParaRPr>
            </a:p>
          </p:txBody>
        </p:sp>
      </p:grpSp>
      <p:grpSp>
        <p:nvGrpSpPr>
          <p:cNvPr id="49" name="node08"/>
          <p:cNvGrpSpPr/>
          <p:nvPr/>
        </p:nvGrpSpPr>
        <p:grpSpPr>
          <a:xfrm>
            <a:off x="4381500" y="1600200"/>
            <a:ext cx="7086600" cy="2184400"/>
            <a:chOff x="4381500" y="1600200"/>
            <a:chExt cx="7086600" cy="2184400"/>
          </a:xfrm>
        </p:grpSpPr>
        <p:graphicFrame>
          <p:nvGraphicFramePr>
            <p:cNvPr id="19" name="node08.native"/>
            <p:cNvGraphicFramePr>
              <a:graphicFrameLocks noGrp="1"/>
            </p:cNvGraphicFramePr>
            <p:nvPr>
              <p:extLst>
                <p:ext uri="{D42A27DB-BD31-4B8C-83A1-F6EECF244321}">
                  <p14:modId xmlns:p14="http://schemas.microsoft.com/office/powerpoint/2010/main" val="1579011935"/>
                </p:ext>
              </p:extLst>
            </p:nvPr>
          </p:nvGraphicFramePr>
          <p:xfrm>
            <a:off x="4381500" y="1600200"/>
            <a:ext cx="7086600" cy="2184400"/>
          </p:xfrm>
          <a:graphic>
            <a:graphicData uri="http://schemas.openxmlformats.org/drawingml/2006/table">
              <a:tbl>
                <a:tblPr/>
                <a:tblGrid>
                  <a:gridCol w="685800"/>
                  <a:gridCol w="2209800"/>
                  <a:gridCol w="1143000"/>
                  <a:gridCol w="1066800"/>
                  <a:gridCol w="1981200"/>
                </a:tblGrid>
                <a:tr h="355600">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DONE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RECONCILIATION CHECK</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LEGACY</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TOLERANCE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NEW LEDGER</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Row count by entity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412,806</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Zero</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Debit and credit totals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$1.284bn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$0</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Open items by entity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9,418</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±0.1%</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Intercompany balances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$38.2m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±0.5%</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20" name="node08.row.item-001.d.checkbox"/>
            <p:cNvSpPr/>
            <p:nvPr/>
          </p:nvSpPr>
          <p:spPr>
            <a:xfrm>
              <a:off x="4654550" y="2114550"/>
              <a:ext cx="139700" cy="139700"/>
            </a:xfrm>
            <a:prstGeom prst="rect">
              <a:avLst/>
            </a:prstGeom>
            <a:ln w="12700">
              <a:solidFill>
                <a:srgbClr val="070154"/>
              </a:solidFill>
              <a:prstDash val="solid"/>
            </a:ln>
          </p:spPr>
        </p:sp>
        <p:sp>
          <p:nvSpPr>
            <p:cNvPr id="21" name="node08.row.item-002.d.checkbox"/>
            <p:cNvSpPr/>
            <p:nvPr/>
          </p:nvSpPr>
          <p:spPr>
            <a:xfrm>
              <a:off x="4654550" y="2571750"/>
              <a:ext cx="139700" cy="139700"/>
            </a:xfrm>
            <a:prstGeom prst="rect">
              <a:avLst/>
            </a:prstGeom>
            <a:ln w="12700">
              <a:solidFill>
                <a:srgbClr val="070154"/>
              </a:solidFill>
              <a:prstDash val="solid"/>
            </a:ln>
          </p:spPr>
        </p:sp>
        <p:sp>
          <p:nvSpPr>
            <p:cNvPr id="22" name="node08.row.item-003.d.checkbox"/>
            <p:cNvSpPr/>
            <p:nvPr/>
          </p:nvSpPr>
          <p:spPr>
            <a:xfrm>
              <a:off x="4654550" y="3028950"/>
              <a:ext cx="139700" cy="139700"/>
            </a:xfrm>
            <a:prstGeom prst="rect">
              <a:avLst/>
            </a:prstGeom>
            <a:ln w="12700">
              <a:solidFill>
                <a:srgbClr val="070154"/>
              </a:solidFill>
              <a:prstDash val="solid"/>
            </a:ln>
          </p:spPr>
        </p:sp>
        <p:sp>
          <p:nvSpPr>
            <p:cNvPr id="23" name="node08.row.item-004.d.checkbox"/>
            <p:cNvSpPr/>
            <p:nvPr/>
          </p:nvSpPr>
          <p:spPr>
            <a:xfrm>
              <a:off x="4654550" y="3486150"/>
              <a:ext cx="139700" cy="139700"/>
            </a:xfrm>
            <a:prstGeom prst="rect">
              <a:avLst/>
            </a:prstGeom>
            <a:ln w="12700">
              <a:solidFill>
                <a:srgbClr val="070154"/>
              </a:solidFill>
              <a:prstDash val="solid"/>
            </a:ln>
          </p:spPr>
        </p:sp>
      </p:grpSp>
      <p:grpSp>
        <p:nvGrpSpPr>
          <p:cNvPr id="50" name="node09"/>
          <p:cNvGrpSpPr/>
          <p:nvPr/>
        </p:nvGrpSpPr>
        <p:grpSpPr>
          <a:xfrm>
            <a:off x="4381500" y="4114800"/>
            <a:ext cx="3429000" cy="1828800"/>
            <a:chOff x="4381500" y="4114800"/>
            <a:chExt cx="3429000" cy="1828800"/>
          </a:xfrm>
        </p:grpSpPr>
        <p:sp>
          <p:nvSpPr>
            <p:cNvPr id="24" name="node09.container"/>
            <p:cNvSpPr/>
            <p:nvPr/>
          </p:nvSpPr>
          <p:spPr>
            <a:xfrm>
              <a:off x="4381500" y="4114800"/>
              <a:ext cx="3429000" cy="1828800"/>
            </a:xfrm>
            <a:prstGeom prst="rect">
              <a:avLst/>
            </a:prstGeom>
            <a:solidFill>
              <a:srgbClr val="E8EEF8"/>
            </a:solidFill>
            <a:ln>
              <a:noFill/>
            </a:ln>
          </p:spPr>
        </p:sp>
        <p:sp>
          <p:nvSpPr>
            <p:cNvPr id="25" name="node09.label"/>
            <p:cNvSpPr/>
            <p:nvPr/>
          </p:nvSpPr>
          <p:spPr>
            <a:xfrm>
              <a:off x="4533900" y="42672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SUB-STEPS</a:t>
              </a:r>
              <a:endParaRPr lang="en-US" sz="800" spc="48" kern="0" b="0" i="0" dirty="0">
                <a:solidFill>
                  <a:srgbClr val="0047FF"/>
                </a:solidFill>
                <a:latin typeface="IBM Plex Mono Medium"/>
                <a:ea typeface="IBM Plex Mono Medium"/>
                <a:cs typeface="IBM Plex Mono Medium"/>
              </a:endParaRPr>
            </a:p>
          </p:txBody>
        </p:sp>
        <p:sp>
          <p:nvSpPr>
            <p:cNvPr id="26" name="node09.body.item-001.bullets.item-001.marker"/>
            <p:cNvSpPr/>
            <p:nvPr/>
          </p:nvSpPr>
          <p:spPr>
            <a:xfrm>
              <a:off x="4533900" y="4572000"/>
              <a:ext cx="38100" cy="38100"/>
            </a:xfrm>
            <a:prstGeom prst="rect">
              <a:avLst/>
            </a:prstGeom>
            <a:solidFill>
              <a:srgbClr val="070154"/>
            </a:solidFill>
            <a:ln>
              <a:noFill/>
            </a:ln>
          </p:spPr>
        </p:sp>
        <p:sp>
          <p:nvSpPr>
            <p:cNvPr id="27" name="node09.body.item-001.bullets.item-001.text"/>
            <p:cNvSpPr/>
            <p:nvPr/>
          </p:nvSpPr>
          <p:spPr>
            <a:xfrm>
              <a:off x="4686300" y="44831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Load by entity, parents last</a:t>
              </a:r>
              <a:endParaRPr lang="en-US" sz="1200" spc="0" kern="0" b="0" i="0" dirty="0">
                <a:solidFill>
                  <a:srgbClr val="070154"/>
                </a:solidFill>
                <a:latin typeface="IBM Plex Sans"/>
                <a:ea typeface="IBM Plex Sans"/>
                <a:cs typeface="IBM Plex Sans"/>
              </a:endParaRPr>
            </a:p>
          </p:txBody>
        </p:sp>
        <p:sp>
          <p:nvSpPr>
            <p:cNvPr id="28" name="node09.body.item-001.bullets.item-002.marker"/>
            <p:cNvSpPr/>
            <p:nvPr/>
          </p:nvSpPr>
          <p:spPr>
            <a:xfrm>
              <a:off x="4533900" y="4826000"/>
              <a:ext cx="38100" cy="38100"/>
            </a:xfrm>
            <a:prstGeom prst="rect">
              <a:avLst/>
            </a:prstGeom>
            <a:solidFill>
              <a:srgbClr val="070154"/>
            </a:solidFill>
            <a:ln>
              <a:noFill/>
            </a:ln>
          </p:spPr>
        </p:sp>
        <p:sp>
          <p:nvSpPr>
            <p:cNvPr id="29" name="node09.body.item-001.bullets.item-002.text"/>
            <p:cNvSpPr/>
            <p:nvPr/>
          </p:nvSpPr>
          <p:spPr>
            <a:xfrm>
              <a:off x="4686300" y="47371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 the count and total checks</a:t>
              </a:r>
              <a:endParaRPr lang="en-US" sz="1200" spc="0" kern="0" b="0" i="0" dirty="0">
                <a:solidFill>
                  <a:srgbClr val="070154"/>
                </a:solidFill>
                <a:latin typeface="IBM Plex Sans"/>
                <a:ea typeface="IBM Plex Sans"/>
                <a:cs typeface="IBM Plex Sans"/>
              </a:endParaRPr>
            </a:p>
          </p:txBody>
        </p:sp>
        <p:sp>
          <p:nvSpPr>
            <p:cNvPr id="30" name="node09.body.item-001.bullets.item-003.marker"/>
            <p:cNvSpPr/>
            <p:nvPr/>
          </p:nvSpPr>
          <p:spPr>
            <a:xfrm>
              <a:off x="4533900" y="5080000"/>
              <a:ext cx="38100" cy="38100"/>
            </a:xfrm>
            <a:prstGeom prst="rect">
              <a:avLst/>
            </a:prstGeom>
            <a:solidFill>
              <a:srgbClr val="070154"/>
            </a:solidFill>
            <a:ln>
              <a:noFill/>
            </a:ln>
          </p:spPr>
        </p:sp>
        <p:sp>
          <p:nvSpPr>
            <p:cNvPr id="31" name="node09.body.item-001.bullets.item-003.text"/>
            <p:cNvSpPr/>
            <p:nvPr/>
          </p:nvSpPr>
          <p:spPr>
            <a:xfrm>
              <a:off x="4686300" y="49911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Park rejected rows</a:t>
              </a:r>
              <a:endParaRPr lang="en-US" sz="1200" spc="0" kern="0" b="0" i="0" dirty="0">
                <a:solidFill>
                  <a:srgbClr val="070154"/>
                </a:solidFill>
                <a:latin typeface="IBM Plex Sans"/>
                <a:ea typeface="IBM Plex Sans"/>
                <a:cs typeface="IBM Plex Sans"/>
              </a:endParaRPr>
            </a:p>
          </p:txBody>
        </p:sp>
        <p:sp>
          <p:nvSpPr>
            <p:cNvPr id="32" name="node09.body.item-001.bullets.item-004.marker"/>
            <p:cNvSpPr/>
            <p:nvPr/>
          </p:nvSpPr>
          <p:spPr>
            <a:xfrm>
              <a:off x="4533900" y="5334000"/>
              <a:ext cx="38100" cy="38100"/>
            </a:xfrm>
            <a:prstGeom prst="rect">
              <a:avLst/>
            </a:prstGeom>
            <a:solidFill>
              <a:srgbClr val="070154"/>
            </a:solidFill>
            <a:ln>
              <a:noFill/>
            </a:ln>
          </p:spPr>
        </p:sp>
        <p:sp>
          <p:nvSpPr>
            <p:cNvPr id="33" name="node09.body.item-001.bullets.item-004.text"/>
            <p:cNvSpPr/>
            <p:nvPr/>
          </p:nvSpPr>
          <p:spPr>
            <a:xfrm>
              <a:off x="4686300" y="52451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Log each variance</a:t>
              </a:r>
              <a:endParaRPr lang="en-US" sz="1200" spc="0" kern="0" b="0" i="0" dirty="0">
                <a:solidFill>
                  <a:srgbClr val="070154"/>
                </a:solidFill>
                <a:latin typeface="IBM Plex Sans"/>
                <a:ea typeface="IBM Plex Sans"/>
                <a:cs typeface="IBM Plex Sans"/>
              </a:endParaRPr>
            </a:p>
          </p:txBody>
        </p:sp>
      </p:grpSp>
      <p:grpSp>
        <p:nvGrpSpPr>
          <p:cNvPr id="51" name="node10"/>
          <p:cNvGrpSpPr/>
          <p:nvPr/>
        </p:nvGrpSpPr>
        <p:grpSpPr>
          <a:xfrm>
            <a:off x="8039100" y="4114800"/>
            <a:ext cx="3429000" cy="1828800"/>
            <a:chOff x="8039100" y="4114800"/>
            <a:chExt cx="3429000" cy="1828800"/>
          </a:xfrm>
        </p:grpSpPr>
        <p:sp>
          <p:nvSpPr>
            <p:cNvPr id="34" name="node10.container"/>
            <p:cNvSpPr/>
            <p:nvPr/>
          </p:nvSpPr>
          <p:spPr>
            <a:xfrm>
              <a:off x="8039100" y="4114800"/>
              <a:ext cx="3429000" cy="1828800"/>
            </a:xfrm>
            <a:prstGeom prst="rect">
              <a:avLst/>
            </a:prstGeom>
            <a:solidFill>
              <a:srgbClr val="E8EEF8"/>
            </a:solidFill>
            <a:ln>
              <a:noFill/>
            </a:ln>
          </p:spPr>
        </p:sp>
        <p:sp>
          <p:nvSpPr>
            <p:cNvPr id="35" name="node10.label"/>
            <p:cNvSpPr/>
            <p:nvPr/>
          </p:nvSpPr>
          <p:spPr>
            <a:xfrm>
              <a:off x="8191500" y="42672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ACCEPTANCE</a:t>
              </a:r>
              <a:endParaRPr lang="en-US" sz="800" spc="48" kern="0" b="0" i="0" dirty="0">
                <a:solidFill>
                  <a:srgbClr val="0047FF"/>
                </a:solidFill>
                <a:latin typeface="IBM Plex Mono Medium"/>
                <a:ea typeface="IBM Plex Mono Medium"/>
                <a:cs typeface="IBM Plex Mono Medium"/>
              </a:endParaRPr>
            </a:p>
          </p:txBody>
        </p:sp>
        <p:sp>
          <p:nvSpPr>
            <p:cNvPr id="36" name="node10.body.item-001.bullets.item-001.marker"/>
            <p:cNvSpPr/>
            <p:nvPr/>
          </p:nvSpPr>
          <p:spPr>
            <a:xfrm>
              <a:off x="8191500" y="4572000"/>
              <a:ext cx="38100" cy="38100"/>
            </a:xfrm>
            <a:prstGeom prst="rect">
              <a:avLst/>
            </a:prstGeom>
            <a:solidFill>
              <a:srgbClr val="070154"/>
            </a:solidFill>
            <a:ln>
              <a:noFill/>
            </a:ln>
          </p:spPr>
        </p:sp>
        <p:sp>
          <p:nvSpPr>
            <p:cNvPr id="37" name="node10.body.item-001.bullets.item-001.text"/>
            <p:cNvSpPr/>
            <p:nvPr/>
          </p:nvSpPr>
          <p:spPr>
            <a:xfrm>
              <a:off x="8343900" y="44831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Every check inside tolerance</a:t>
              </a:r>
              <a:endParaRPr lang="en-US" sz="1200" spc="0" kern="0" b="0" i="0" dirty="0">
                <a:solidFill>
                  <a:srgbClr val="070154"/>
                </a:solidFill>
                <a:latin typeface="IBM Plex Sans"/>
                <a:ea typeface="IBM Plex Sans"/>
                <a:cs typeface="IBM Plex Sans"/>
              </a:endParaRPr>
            </a:p>
          </p:txBody>
        </p:sp>
        <p:sp>
          <p:nvSpPr>
            <p:cNvPr id="38" name="node10.body.item-001.bullets.item-002.marker"/>
            <p:cNvSpPr/>
            <p:nvPr/>
          </p:nvSpPr>
          <p:spPr>
            <a:xfrm>
              <a:off x="8191500" y="4826000"/>
              <a:ext cx="38100" cy="38100"/>
            </a:xfrm>
            <a:prstGeom prst="rect">
              <a:avLst/>
            </a:prstGeom>
            <a:solidFill>
              <a:srgbClr val="070154"/>
            </a:solidFill>
            <a:ln>
              <a:noFill/>
            </a:ln>
          </p:spPr>
        </p:sp>
        <p:sp>
          <p:nvSpPr>
            <p:cNvPr id="39" name="node10.body.item-001.bullets.item-002.text"/>
            <p:cNvSpPr/>
            <p:nvPr/>
          </p:nvSpPr>
          <p:spPr>
            <a:xfrm>
              <a:off x="8343900" y="47371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Variances explained and signed</a:t>
              </a:r>
              <a:endParaRPr lang="en-US" sz="1200" spc="0" kern="0" b="0" i="0" dirty="0">
                <a:solidFill>
                  <a:srgbClr val="070154"/>
                </a:solidFill>
                <a:latin typeface="IBM Plex Sans"/>
                <a:ea typeface="IBM Plex Sans"/>
                <a:cs typeface="IBM Plex Sans"/>
              </a:endParaRPr>
            </a:p>
          </p:txBody>
        </p:sp>
        <p:sp>
          <p:nvSpPr>
            <p:cNvPr id="40" name="node10.body.item-001.bullets.item-003.marker"/>
            <p:cNvSpPr/>
            <p:nvPr/>
          </p:nvSpPr>
          <p:spPr>
            <a:xfrm>
              <a:off x="8191500" y="5080000"/>
              <a:ext cx="38100" cy="38100"/>
            </a:xfrm>
            <a:prstGeom prst="rect">
              <a:avLst/>
            </a:prstGeom>
            <a:solidFill>
              <a:srgbClr val="070154"/>
            </a:solidFill>
            <a:ln>
              <a:noFill/>
            </a:ln>
          </p:spPr>
        </p:sp>
        <p:sp>
          <p:nvSpPr>
            <p:cNvPr id="41" name="node10.body.item-001.bullets.item-003.text"/>
            <p:cNvSpPr/>
            <p:nvPr/>
          </p:nvSpPr>
          <p:spPr>
            <a:xfrm>
              <a:off x="8343900" y="49911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Data lead releases step 5</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ource-48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8564624" y="733532"/>
            <a:ext cx="125299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Tick every criterion before step 7 opens the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ledger</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190</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3429000" cy="139700"/>
            <a:chOff x="723900" y="1600200"/>
            <a:chExt cx="3429000" cy="139700"/>
          </a:xfrm>
        </p:grpSpPr>
        <p:sp>
          <p:nvSpPr>
            <p:cNvPr id="7" name="node01.text"/>
            <p:cNvSpPr/>
            <p:nvPr/>
          </p:nvSpPr>
          <p:spPr>
            <a:xfrm>
              <a:off x="7239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STEP 7</a:t>
              </a:r>
              <a:endParaRPr lang="en-US" sz="800" spc="48" kern="0" b="0" i="0" dirty="0">
                <a:solidFill>
                  <a:srgbClr val="0047FF"/>
                </a:solidFill>
                <a:latin typeface="IBM Plex Mono Medium"/>
                <a:ea typeface="IBM Plex Mono Medium"/>
                <a:cs typeface="IBM Plex Mono Medium"/>
              </a:endParaRPr>
            </a:p>
          </p:txBody>
        </p:sp>
      </p:grpSp>
      <p:grpSp>
        <p:nvGrpSpPr>
          <p:cNvPr id="41" name="node02"/>
          <p:cNvGrpSpPr/>
          <p:nvPr/>
        </p:nvGrpSpPr>
        <p:grpSpPr>
          <a:xfrm>
            <a:off x="723900" y="1828800"/>
            <a:ext cx="3429000" cy="266700"/>
            <a:chOff x="723900" y="1828800"/>
            <a:chExt cx="3429000" cy="266700"/>
          </a:xfrm>
        </p:grpSpPr>
        <p:sp>
          <p:nvSpPr>
            <p:cNvPr id="8" name="node02.text"/>
            <p:cNvSpPr/>
            <p:nvPr/>
          </p:nvSpPr>
          <p:spPr>
            <a:xfrm>
              <a:off x="723900" y="18288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Hold the go or no-go decision</a:t>
              </a:r>
              <a:endParaRPr lang="en-US" sz="1600" spc="-16" kern="0" b="0" i="0" dirty="0">
                <a:solidFill>
                  <a:srgbClr val="070154"/>
                </a:solidFill>
                <a:latin typeface="IBM Plex Sans SemiBold"/>
                <a:ea typeface="IBM Plex Sans SemiBold"/>
                <a:cs typeface="IBM Plex Sans SemiBold"/>
              </a:endParaRPr>
            </a:p>
          </p:txBody>
        </p:sp>
      </p:grpSp>
      <p:grpSp>
        <p:nvGrpSpPr>
          <p:cNvPr id="42" name="node03"/>
          <p:cNvGrpSpPr/>
          <p:nvPr/>
        </p:nvGrpSpPr>
        <p:grpSpPr>
          <a:xfrm>
            <a:off x="723900" y="2362200"/>
            <a:ext cx="3429000" cy="381000"/>
            <a:chOff x="723900" y="2362200"/>
            <a:chExt cx="3429000" cy="381000"/>
          </a:xfrm>
        </p:grpSpPr>
        <p:sp>
          <p:nvSpPr>
            <p:cNvPr id="9" name="node03.text"/>
            <p:cNvSpPr/>
            <p:nvPr/>
          </p:nvSpPr>
          <p:spPr>
            <a:xfrm>
              <a:off x="723900" y="23622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Review the evidence for every criterion and decide whether the ledger opens to users.</a:t>
              </a:r>
              <a:endParaRPr lang="en-US" sz="1100" spc="0" kern="0" b="0" i="0" dirty="0">
                <a:solidFill>
                  <a:srgbClr val="070154"/>
                </a:solidFill>
                <a:latin typeface="IBM Plex Sans"/>
                <a:ea typeface="IBM Plex Sans"/>
                <a:cs typeface="IBM Plex Sans"/>
              </a:endParaRPr>
            </a:p>
          </p:txBody>
        </p:sp>
      </p:grpSp>
      <p:grpSp>
        <p:nvGrpSpPr>
          <p:cNvPr id="43" name="node04"/>
          <p:cNvGrpSpPr/>
          <p:nvPr/>
        </p:nvGrpSpPr>
        <p:grpSpPr>
          <a:xfrm>
            <a:off x="723900" y="3429000"/>
            <a:ext cx="3429000" cy="139700"/>
            <a:chOff x="723900" y="3429000"/>
            <a:chExt cx="3429000" cy="139700"/>
          </a:xfrm>
        </p:grpSpPr>
        <p:sp>
          <p:nvSpPr>
            <p:cNvPr id="10" name="node04.text"/>
            <p:cNvSpPr/>
            <p:nvPr/>
          </p:nvSpPr>
          <p:spPr>
            <a:xfrm>
              <a:off x="723900" y="3429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OWNERS</a:t>
              </a:r>
              <a:endParaRPr lang="en-US" sz="800" spc="48" kern="0" b="0" i="0" dirty="0">
                <a:solidFill>
                  <a:srgbClr val="0047FF"/>
                </a:solidFill>
                <a:latin typeface="IBM Plex Mono Medium"/>
                <a:ea typeface="IBM Plex Mono Medium"/>
                <a:cs typeface="IBM Plex Mono Medium"/>
              </a:endParaRPr>
            </a:p>
          </p:txBody>
        </p:sp>
      </p:grpSp>
      <p:grpSp>
        <p:nvGrpSpPr>
          <p:cNvPr id="44" name="node05"/>
          <p:cNvGrpSpPr/>
          <p:nvPr/>
        </p:nvGrpSpPr>
        <p:grpSpPr>
          <a:xfrm>
            <a:off x="723900" y="3657600"/>
            <a:ext cx="3429000" cy="723900"/>
            <a:chOff x="723900" y="3657600"/>
            <a:chExt cx="3429000" cy="723900"/>
          </a:xfrm>
        </p:grpSpPr>
        <p:sp>
          <p:nvSpPr>
            <p:cNvPr id="11" name="node05.source-001.bullet"/>
            <p:cNvSpPr/>
            <p:nvPr/>
          </p:nvSpPr>
          <p:spPr>
            <a:xfrm>
              <a:off x="723900" y="3746500"/>
              <a:ext cx="38100" cy="38100"/>
            </a:xfrm>
            <a:prstGeom prst="rect">
              <a:avLst/>
            </a:prstGeom>
            <a:solidFill>
              <a:srgbClr val="070154"/>
            </a:solidFill>
            <a:ln>
              <a:noFill/>
            </a:ln>
          </p:spPr>
        </p:sp>
        <p:sp>
          <p:nvSpPr>
            <p:cNvPr id="12" name="node05.source-001.text"/>
            <p:cNvSpPr/>
            <p:nvPr/>
          </p:nvSpPr>
          <p:spPr>
            <a:xfrm>
              <a:off x="876300" y="3657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Cutover lead · decides</a:t>
              </a:r>
              <a:endParaRPr lang="en-US" sz="1200" spc="0" kern="0" b="0" i="0" dirty="0">
                <a:solidFill>
                  <a:srgbClr val="070154"/>
                </a:solidFill>
                <a:latin typeface="IBM Plex Sans"/>
                <a:ea typeface="IBM Plex Sans"/>
                <a:cs typeface="IBM Plex Sans"/>
              </a:endParaRPr>
            </a:p>
          </p:txBody>
        </p:sp>
        <p:sp>
          <p:nvSpPr>
            <p:cNvPr id="13" name="node05.source-002.bullet"/>
            <p:cNvSpPr/>
            <p:nvPr/>
          </p:nvSpPr>
          <p:spPr>
            <a:xfrm>
              <a:off x="723900" y="4000500"/>
              <a:ext cx="38100" cy="38100"/>
            </a:xfrm>
            <a:prstGeom prst="rect">
              <a:avLst/>
            </a:prstGeom>
            <a:solidFill>
              <a:srgbClr val="070154"/>
            </a:solidFill>
            <a:ln>
              <a:noFill/>
            </a:ln>
          </p:spPr>
        </p:sp>
        <p:sp>
          <p:nvSpPr>
            <p:cNvPr id="14" name="node05.source-002.text"/>
            <p:cNvSpPr/>
            <p:nvPr/>
          </p:nvSpPr>
          <p:spPr>
            <a:xfrm>
              <a:off x="876300" y="3911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Controller · signs balances</a:t>
              </a:r>
              <a:endParaRPr lang="en-US" sz="1200" spc="0" kern="0" b="0" i="0" dirty="0">
                <a:solidFill>
                  <a:srgbClr val="070154"/>
                </a:solidFill>
                <a:latin typeface="IBM Plex Sans"/>
                <a:ea typeface="IBM Plex Sans"/>
                <a:cs typeface="IBM Plex Sans"/>
              </a:endParaRPr>
            </a:p>
          </p:txBody>
        </p:sp>
        <p:sp>
          <p:nvSpPr>
            <p:cNvPr id="15" name="node05.source-003.bullet"/>
            <p:cNvSpPr/>
            <p:nvPr/>
          </p:nvSpPr>
          <p:spPr>
            <a:xfrm>
              <a:off x="723900" y="4254500"/>
              <a:ext cx="38100" cy="38100"/>
            </a:xfrm>
            <a:prstGeom prst="rect">
              <a:avLst/>
            </a:prstGeom>
            <a:solidFill>
              <a:srgbClr val="070154"/>
            </a:solidFill>
            <a:ln>
              <a:noFill/>
            </a:ln>
          </p:spPr>
        </p:sp>
        <p:sp>
          <p:nvSpPr>
            <p:cNvPr id="16" name="node05.source-003.text"/>
            <p:cNvSpPr/>
            <p:nvPr/>
          </p:nvSpPr>
          <p:spPr>
            <a:xfrm>
              <a:off x="876300" y="4165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CIO · endorses</a:t>
              </a:r>
              <a:endParaRPr lang="en-US" sz="1200" spc="0" kern="0" b="0" i="0" dirty="0">
                <a:solidFill>
                  <a:srgbClr val="070154"/>
                </a:solidFill>
                <a:latin typeface="IBM Plex Sans"/>
                <a:ea typeface="IBM Plex Sans"/>
                <a:cs typeface="IBM Plex Sans"/>
              </a:endParaRPr>
            </a:p>
          </p:txBody>
        </p:sp>
      </p:grpSp>
      <p:grpSp>
        <p:nvGrpSpPr>
          <p:cNvPr id="45" name="node06"/>
          <p:cNvGrpSpPr/>
          <p:nvPr/>
        </p:nvGrpSpPr>
        <p:grpSpPr>
          <a:xfrm>
            <a:off x="723900" y="4572000"/>
            <a:ext cx="3429000" cy="139700"/>
            <a:chOff x="723900" y="4572000"/>
            <a:chExt cx="3429000" cy="139700"/>
          </a:xfrm>
        </p:grpSpPr>
        <p:sp>
          <p:nvSpPr>
            <p:cNvPr id="17" name="node06.text"/>
            <p:cNvSpPr/>
            <p:nvPr/>
          </p:nvSpPr>
          <p:spPr>
            <a:xfrm>
              <a:off x="723900" y="4572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WINDOW</a:t>
              </a:r>
              <a:endParaRPr lang="en-US" sz="800" spc="48" kern="0" b="0" i="0" dirty="0">
                <a:solidFill>
                  <a:srgbClr val="0047FF"/>
                </a:solidFill>
                <a:latin typeface="IBM Plex Mono Medium"/>
                <a:ea typeface="IBM Plex Mono Medium"/>
                <a:cs typeface="IBM Plex Mono Medium"/>
              </a:endParaRPr>
            </a:p>
          </p:txBody>
        </p:sp>
      </p:grpSp>
      <p:grpSp>
        <p:nvGrpSpPr>
          <p:cNvPr id="46" name="node07"/>
          <p:cNvGrpSpPr/>
          <p:nvPr/>
        </p:nvGrpSpPr>
        <p:grpSpPr>
          <a:xfrm>
            <a:off x="723900" y="4800600"/>
            <a:ext cx="3429000" cy="190500"/>
            <a:chOff x="723900" y="4800600"/>
            <a:chExt cx="3429000" cy="190500"/>
          </a:xfrm>
        </p:grpSpPr>
        <p:sp>
          <p:nvSpPr>
            <p:cNvPr id="18" name="node07.text"/>
            <p:cNvSpPr/>
            <p:nvPr/>
          </p:nvSpPr>
          <p:spPr>
            <a:xfrm>
              <a:off x="723900" y="48006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Sat 03:30 · 30 min</a:t>
              </a:r>
              <a:endParaRPr lang="en-US" sz="1100" spc="0" kern="0" b="0" i="0" dirty="0">
                <a:solidFill>
                  <a:srgbClr val="070154"/>
                </a:solidFill>
                <a:latin typeface="IBM Plex Sans"/>
                <a:ea typeface="IBM Plex Sans"/>
                <a:cs typeface="IBM Plex Sans"/>
              </a:endParaRPr>
            </a:p>
          </p:txBody>
        </p:sp>
      </p:grpSp>
      <p:grpSp>
        <p:nvGrpSpPr>
          <p:cNvPr id="47" name="node08"/>
          <p:cNvGrpSpPr/>
          <p:nvPr/>
        </p:nvGrpSpPr>
        <p:grpSpPr>
          <a:xfrm>
            <a:off x="4381500" y="1600200"/>
            <a:ext cx="7086600" cy="2184400"/>
            <a:chOff x="4381500" y="1600200"/>
            <a:chExt cx="7086600" cy="2184400"/>
          </a:xfrm>
        </p:grpSpPr>
        <p:graphicFrame>
          <p:nvGraphicFramePr>
            <p:cNvPr id="19" name="node08.native"/>
            <p:cNvGraphicFramePr>
              <a:graphicFrameLocks noGrp="1"/>
            </p:cNvGraphicFramePr>
            <p:nvPr>
              <p:extLst>
                <p:ext uri="{D42A27DB-BD31-4B8C-83A1-F6EECF244321}">
                  <p14:modId xmlns:p14="http://schemas.microsoft.com/office/powerpoint/2010/main" val="1579011935"/>
                </p:ext>
              </p:extLst>
            </p:nvPr>
          </p:nvGraphicFramePr>
          <p:xfrm>
            <a:off x="4381500" y="1600200"/>
            <a:ext cx="7086600" cy="2184400"/>
          </p:xfrm>
          <a:graphic>
            <a:graphicData uri="http://schemas.openxmlformats.org/drawingml/2006/table">
              <a:tbl>
                <a:tblPr/>
                <a:tblGrid>
                  <a:gridCol w="685800"/>
                  <a:gridCol w="2362200"/>
                  <a:gridCol w="2133600"/>
                  <a:gridCol w="1905000"/>
                </a:tblGrid>
                <a:tr h="355600">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GO</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GO CRITERION</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EVIDENCE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APPROVER</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Balances tie to legacy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Reconciliation report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Controller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Interfaces pass end to end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Interface test pack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Integration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Rollback fits the window</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Timed rollback record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Technical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Support bridge staffed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Signed rota</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Support lead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20" name="node08.row.item-001.g.checkbox"/>
            <p:cNvSpPr/>
            <p:nvPr/>
          </p:nvSpPr>
          <p:spPr>
            <a:xfrm>
              <a:off x="4654550" y="2114550"/>
              <a:ext cx="139700" cy="139700"/>
            </a:xfrm>
            <a:prstGeom prst="rect">
              <a:avLst/>
            </a:prstGeom>
            <a:ln w="12700">
              <a:solidFill>
                <a:srgbClr val="070154"/>
              </a:solidFill>
              <a:prstDash val="solid"/>
            </a:ln>
          </p:spPr>
        </p:sp>
        <p:sp>
          <p:nvSpPr>
            <p:cNvPr id="21" name="node08.row.item-002.g.checkbox"/>
            <p:cNvSpPr/>
            <p:nvPr/>
          </p:nvSpPr>
          <p:spPr>
            <a:xfrm>
              <a:off x="4654550" y="2571750"/>
              <a:ext cx="139700" cy="139700"/>
            </a:xfrm>
            <a:prstGeom prst="rect">
              <a:avLst/>
            </a:prstGeom>
            <a:ln w="12700">
              <a:solidFill>
                <a:srgbClr val="070154"/>
              </a:solidFill>
              <a:prstDash val="solid"/>
            </a:ln>
          </p:spPr>
        </p:sp>
        <p:sp>
          <p:nvSpPr>
            <p:cNvPr id="22" name="node08.row.item-003.g.checkbox"/>
            <p:cNvSpPr/>
            <p:nvPr/>
          </p:nvSpPr>
          <p:spPr>
            <a:xfrm>
              <a:off x="4654550" y="3028950"/>
              <a:ext cx="139700" cy="139700"/>
            </a:xfrm>
            <a:prstGeom prst="rect">
              <a:avLst/>
            </a:prstGeom>
            <a:ln w="12700">
              <a:solidFill>
                <a:srgbClr val="070154"/>
              </a:solidFill>
              <a:prstDash val="solid"/>
            </a:ln>
          </p:spPr>
        </p:sp>
        <p:sp>
          <p:nvSpPr>
            <p:cNvPr id="23" name="node08.row.item-004.g.checkbox"/>
            <p:cNvSpPr/>
            <p:nvPr/>
          </p:nvSpPr>
          <p:spPr>
            <a:xfrm>
              <a:off x="4654550" y="3486150"/>
              <a:ext cx="139700" cy="139700"/>
            </a:xfrm>
            <a:prstGeom prst="rect">
              <a:avLst/>
            </a:prstGeom>
            <a:ln w="12700">
              <a:solidFill>
                <a:srgbClr val="070154"/>
              </a:solidFill>
              <a:prstDash val="solid"/>
            </a:ln>
          </p:spPr>
        </p:sp>
      </p:grpSp>
      <p:grpSp>
        <p:nvGrpSpPr>
          <p:cNvPr id="48" name="node09"/>
          <p:cNvGrpSpPr/>
          <p:nvPr/>
        </p:nvGrpSpPr>
        <p:grpSpPr>
          <a:xfrm>
            <a:off x="4381500" y="4114800"/>
            <a:ext cx="3429000" cy="1828800"/>
            <a:chOff x="4381500" y="4114800"/>
            <a:chExt cx="3429000" cy="1828800"/>
          </a:xfrm>
        </p:grpSpPr>
        <p:sp>
          <p:nvSpPr>
            <p:cNvPr id="24" name="node09.container"/>
            <p:cNvSpPr/>
            <p:nvPr/>
          </p:nvSpPr>
          <p:spPr>
            <a:xfrm>
              <a:off x="4381500" y="4114800"/>
              <a:ext cx="3429000" cy="1828800"/>
            </a:xfrm>
            <a:prstGeom prst="rect">
              <a:avLst/>
            </a:prstGeom>
            <a:solidFill>
              <a:srgbClr val="E8EEF8"/>
            </a:solidFill>
            <a:ln>
              <a:noFill/>
            </a:ln>
          </p:spPr>
        </p:sp>
        <p:sp>
          <p:nvSpPr>
            <p:cNvPr id="25" name="node09.label"/>
            <p:cNvSpPr/>
            <p:nvPr/>
          </p:nvSpPr>
          <p:spPr>
            <a:xfrm>
              <a:off x="4533900" y="42672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IF GO</a:t>
              </a:r>
              <a:endParaRPr lang="en-US" sz="800" spc="48" kern="0" b="0" i="0" dirty="0">
                <a:solidFill>
                  <a:srgbClr val="0047FF"/>
                </a:solidFill>
                <a:latin typeface="IBM Plex Mono Medium"/>
                <a:ea typeface="IBM Plex Mono Medium"/>
                <a:cs typeface="IBM Plex Mono Medium"/>
              </a:endParaRPr>
            </a:p>
          </p:txBody>
        </p:sp>
        <p:sp>
          <p:nvSpPr>
            <p:cNvPr id="26" name="node09.body.item-001.bullets.item-001.marker"/>
            <p:cNvSpPr/>
            <p:nvPr/>
          </p:nvSpPr>
          <p:spPr>
            <a:xfrm>
              <a:off x="4533900" y="4572000"/>
              <a:ext cx="38100" cy="38100"/>
            </a:xfrm>
            <a:prstGeom prst="rect">
              <a:avLst/>
            </a:prstGeom>
            <a:solidFill>
              <a:srgbClr val="070154"/>
            </a:solidFill>
            <a:ln>
              <a:noFill/>
            </a:ln>
          </p:spPr>
        </p:sp>
        <p:sp>
          <p:nvSpPr>
            <p:cNvPr id="27" name="node09.body.item-001.bullets.item-001.text"/>
            <p:cNvSpPr/>
            <p:nvPr/>
          </p:nvSpPr>
          <p:spPr>
            <a:xfrm>
              <a:off x="4686300" y="44831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Controller opens the ledger</a:t>
              </a:r>
              <a:endParaRPr lang="en-US" sz="1200" spc="0" kern="0" b="0" i="0" dirty="0">
                <a:solidFill>
                  <a:srgbClr val="070154"/>
                </a:solidFill>
                <a:latin typeface="IBM Plex Sans"/>
                <a:ea typeface="IBM Plex Sans"/>
                <a:cs typeface="IBM Plex Sans"/>
              </a:endParaRPr>
            </a:p>
          </p:txBody>
        </p:sp>
        <p:sp>
          <p:nvSpPr>
            <p:cNvPr id="28" name="node09.body.item-001.bullets.item-002.marker"/>
            <p:cNvSpPr/>
            <p:nvPr/>
          </p:nvSpPr>
          <p:spPr>
            <a:xfrm>
              <a:off x="4533900" y="4826000"/>
              <a:ext cx="38100" cy="38100"/>
            </a:xfrm>
            <a:prstGeom prst="rect">
              <a:avLst/>
            </a:prstGeom>
            <a:solidFill>
              <a:srgbClr val="070154"/>
            </a:solidFill>
            <a:ln>
              <a:noFill/>
            </a:ln>
          </p:spPr>
        </p:sp>
        <p:sp>
          <p:nvSpPr>
            <p:cNvPr id="29" name="node09.body.item-001.bullets.item-002.text"/>
            <p:cNvSpPr/>
            <p:nvPr/>
          </p:nvSpPr>
          <p:spPr>
            <a:xfrm>
              <a:off x="4686300" y="47371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Support lead sends the notice</a:t>
              </a:r>
              <a:endParaRPr lang="en-US" sz="1200" spc="0" kern="0" b="0" i="0" dirty="0">
                <a:solidFill>
                  <a:srgbClr val="070154"/>
                </a:solidFill>
                <a:latin typeface="IBM Plex Sans"/>
                <a:ea typeface="IBM Plex Sans"/>
                <a:cs typeface="IBM Plex Sans"/>
              </a:endParaRPr>
            </a:p>
          </p:txBody>
        </p:sp>
        <p:sp>
          <p:nvSpPr>
            <p:cNvPr id="30" name="node09.body.item-001.bullets.item-003.marker"/>
            <p:cNvSpPr/>
            <p:nvPr/>
          </p:nvSpPr>
          <p:spPr>
            <a:xfrm>
              <a:off x="4533900" y="5080000"/>
              <a:ext cx="38100" cy="38100"/>
            </a:xfrm>
            <a:prstGeom prst="rect">
              <a:avLst/>
            </a:prstGeom>
            <a:solidFill>
              <a:srgbClr val="070154"/>
            </a:solidFill>
            <a:ln>
              <a:noFill/>
            </a:ln>
          </p:spPr>
        </p:sp>
        <p:sp>
          <p:nvSpPr>
            <p:cNvPr id="31" name="node09.body.item-001.bullets.item-003.text"/>
            <p:cNvSpPr/>
            <p:nvPr/>
          </p:nvSpPr>
          <p:spPr>
            <a:xfrm>
              <a:off x="4686300" y="49911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Log the decision and time</a:t>
              </a:r>
              <a:endParaRPr lang="en-US" sz="1200" spc="0" kern="0" b="0" i="0" dirty="0">
                <a:solidFill>
                  <a:srgbClr val="070154"/>
                </a:solidFill>
                <a:latin typeface="IBM Plex Sans"/>
                <a:ea typeface="IBM Plex Sans"/>
                <a:cs typeface="IBM Plex Sans"/>
              </a:endParaRPr>
            </a:p>
          </p:txBody>
        </p:sp>
      </p:grpSp>
      <p:grpSp>
        <p:nvGrpSpPr>
          <p:cNvPr id="49" name="node10"/>
          <p:cNvGrpSpPr/>
          <p:nvPr/>
        </p:nvGrpSpPr>
        <p:grpSpPr>
          <a:xfrm>
            <a:off x="8039100" y="4114800"/>
            <a:ext cx="3429000" cy="1828800"/>
            <a:chOff x="8039100" y="4114800"/>
            <a:chExt cx="3429000" cy="1828800"/>
          </a:xfrm>
        </p:grpSpPr>
        <p:sp>
          <p:nvSpPr>
            <p:cNvPr id="32" name="node10.container"/>
            <p:cNvSpPr/>
            <p:nvPr/>
          </p:nvSpPr>
          <p:spPr>
            <a:xfrm>
              <a:off x="8039100" y="4114800"/>
              <a:ext cx="3429000" cy="1828800"/>
            </a:xfrm>
            <a:prstGeom prst="rect">
              <a:avLst/>
            </a:prstGeom>
            <a:solidFill>
              <a:srgbClr val="E8EEF8"/>
            </a:solidFill>
            <a:ln>
              <a:noFill/>
            </a:ln>
          </p:spPr>
        </p:sp>
        <p:sp>
          <p:nvSpPr>
            <p:cNvPr id="33" name="node10.label"/>
            <p:cNvSpPr/>
            <p:nvPr/>
          </p:nvSpPr>
          <p:spPr>
            <a:xfrm>
              <a:off x="8191500" y="42672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IF NO-GO</a:t>
              </a:r>
              <a:endParaRPr lang="en-US" sz="800" spc="48" kern="0" b="0" i="0" dirty="0">
                <a:solidFill>
                  <a:srgbClr val="0047FF"/>
                </a:solidFill>
                <a:latin typeface="IBM Plex Mono Medium"/>
                <a:ea typeface="IBM Plex Mono Medium"/>
                <a:cs typeface="IBM Plex Mono Medium"/>
              </a:endParaRPr>
            </a:p>
          </p:txBody>
        </p:sp>
        <p:sp>
          <p:nvSpPr>
            <p:cNvPr id="34" name="node10.body.item-001.bullets.item-001.marker"/>
            <p:cNvSpPr/>
            <p:nvPr/>
          </p:nvSpPr>
          <p:spPr>
            <a:xfrm>
              <a:off x="8191500" y="4572000"/>
              <a:ext cx="38100" cy="38100"/>
            </a:xfrm>
            <a:prstGeom prst="rect">
              <a:avLst/>
            </a:prstGeom>
            <a:solidFill>
              <a:srgbClr val="070154"/>
            </a:solidFill>
            <a:ln>
              <a:noFill/>
            </a:ln>
          </p:spPr>
        </p:sp>
        <p:sp>
          <p:nvSpPr>
            <p:cNvPr id="35" name="node10.body.item-001.bullets.item-001.text"/>
            <p:cNvSpPr/>
            <p:nvPr/>
          </p:nvSpPr>
          <p:spPr>
            <a:xfrm>
              <a:off x="8343900" y="44831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Cutover lead invokes rollback</a:t>
              </a:r>
              <a:endParaRPr lang="en-US" sz="1200" spc="0" kern="0" b="0" i="0" dirty="0">
                <a:solidFill>
                  <a:srgbClr val="070154"/>
                </a:solidFill>
                <a:latin typeface="IBM Plex Sans"/>
                <a:ea typeface="IBM Plex Sans"/>
                <a:cs typeface="IBM Plex Sans"/>
              </a:endParaRPr>
            </a:p>
          </p:txBody>
        </p:sp>
        <p:sp>
          <p:nvSpPr>
            <p:cNvPr id="36" name="node10.body.item-001.bullets.item-002.marker"/>
            <p:cNvSpPr/>
            <p:nvPr/>
          </p:nvSpPr>
          <p:spPr>
            <a:xfrm>
              <a:off x="8191500" y="4826000"/>
              <a:ext cx="38100" cy="38100"/>
            </a:xfrm>
            <a:prstGeom prst="rect">
              <a:avLst/>
            </a:prstGeom>
            <a:solidFill>
              <a:srgbClr val="070154"/>
            </a:solidFill>
            <a:ln>
              <a:noFill/>
            </a:ln>
          </p:spPr>
        </p:sp>
        <p:sp>
          <p:nvSpPr>
            <p:cNvPr id="37" name="node10.body.item-001.bullets.item-002.text"/>
            <p:cNvSpPr/>
            <p:nvPr/>
          </p:nvSpPr>
          <p:spPr>
            <a:xfrm>
              <a:off x="8343900" y="47371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Escalate to level 3</a:t>
              </a:r>
              <a:endParaRPr lang="en-US" sz="1200" spc="0" kern="0" b="0" i="0" dirty="0">
                <a:solidFill>
                  <a:srgbClr val="070154"/>
                </a:solidFill>
                <a:latin typeface="IBM Plex Sans"/>
                <a:ea typeface="IBM Plex Sans"/>
                <a:cs typeface="IBM Plex Sans"/>
              </a:endParaRPr>
            </a:p>
          </p:txBody>
        </p:sp>
        <p:sp>
          <p:nvSpPr>
            <p:cNvPr id="38" name="node10.body.item-001.bullets.item-003.marker"/>
            <p:cNvSpPr/>
            <p:nvPr/>
          </p:nvSpPr>
          <p:spPr>
            <a:xfrm>
              <a:off x="8191500" y="5080000"/>
              <a:ext cx="38100" cy="38100"/>
            </a:xfrm>
            <a:prstGeom prst="rect">
              <a:avLst/>
            </a:prstGeom>
            <a:solidFill>
              <a:srgbClr val="070154"/>
            </a:solidFill>
            <a:ln>
              <a:noFill/>
            </a:ln>
          </p:spPr>
        </p:sp>
        <p:sp>
          <p:nvSpPr>
            <p:cNvPr id="39" name="node10.body.item-001.bullets.item-003.text"/>
            <p:cNvSpPr/>
            <p:nvPr/>
          </p:nvSpPr>
          <p:spPr>
            <a:xfrm>
              <a:off x="8343900" y="49911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Reset the date at steering</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ource-464">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Four levels put every issue in front of a decision-maker</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191</a:t>
            </a:fld>
            <a:endParaRPr lang="en-US" sz="700" spc="0" kern="0" b="0" i="0" dirty="0">
              <a:solidFill>
                <a:srgbClr val="070154"/>
              </a:solidFill>
              <a:latin typeface="IBM Plex Mono SemiBold"/>
              <a:ea typeface="IBM Plex Mono SemiBold"/>
              <a:cs typeface="IBM Plex Mono SemiBold"/>
            </a:endParaRPr>
          </a:p>
        </p:txBody>
      </p:sp>
      <p:grpSp>
        <p:nvGrpSpPr>
          <p:cNvPr id="36" name="node01"/>
          <p:cNvGrpSpPr/>
          <p:nvPr/>
        </p:nvGrpSpPr>
        <p:grpSpPr>
          <a:xfrm>
            <a:off x="723900" y="2286000"/>
            <a:ext cx="3429000" cy="571500"/>
            <a:chOff x="723900" y="2286000"/>
            <a:chExt cx="3429000" cy="571500"/>
          </a:xfrm>
        </p:grpSpPr>
        <p:sp>
          <p:nvSpPr>
            <p:cNvPr id="6" name="node01.text"/>
            <p:cNvSpPr/>
            <p:nvPr/>
          </p:nvSpPr>
          <p:spPr>
            <a:xfrm>
              <a:off x="723900" y="2286000"/>
              <a:ext cx="3429000" cy="571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Each level owns one class of decision. If a level has not acknowledged within its threshold, page the next level.</a:t>
              </a:r>
              <a:endParaRPr lang="en-US" sz="1100" spc="0" kern="0" b="0" i="0" dirty="0">
                <a:solidFill>
                  <a:srgbClr val="070154"/>
                </a:solidFill>
                <a:latin typeface="IBM Plex Sans"/>
                <a:ea typeface="IBM Plex Sans"/>
                <a:cs typeface="IBM Plex Sans"/>
              </a:endParaRPr>
            </a:p>
          </p:txBody>
        </p:sp>
      </p:grpSp>
      <p:grpSp>
        <p:nvGrpSpPr>
          <p:cNvPr id="37" name="node02"/>
          <p:cNvGrpSpPr/>
          <p:nvPr/>
        </p:nvGrpSpPr>
        <p:grpSpPr>
          <a:xfrm>
            <a:off x="723900" y="5257800"/>
            <a:ext cx="3429000" cy="685800"/>
            <a:chOff x="723900" y="5257800"/>
            <a:chExt cx="3429000" cy="685800"/>
          </a:xfrm>
        </p:grpSpPr>
        <p:sp>
          <p:nvSpPr>
            <p:cNvPr id="7" name="node02.surface"/>
            <p:cNvSpPr/>
            <p:nvPr/>
          </p:nvSpPr>
          <p:spPr>
            <a:xfrm>
              <a:off x="723900" y="5257800"/>
              <a:ext cx="3429000" cy="685800"/>
            </a:xfrm>
            <a:prstGeom prst="rect">
              <a:avLst/>
            </a:prstGeom>
            <a:solidFill>
              <a:srgbClr val="E8EEF8"/>
            </a:solidFill>
            <a:ln>
              <a:noFill/>
            </a:ln>
          </p:spPr>
        </p:sp>
        <p:sp>
          <p:nvSpPr>
            <p:cNvPr id="8" name="node02.text"/>
            <p:cNvSpPr/>
            <p:nvPr/>
          </p:nvSpPr>
          <p:spPr>
            <a:xfrm>
              <a:off x="876300" y="5410200"/>
              <a:ext cx="3124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The clock runs from the first alert, not from the escalation.</a:t>
              </a:r>
              <a:endParaRPr lang="en-US" sz="1100" spc="0" kern="0" b="0" i="0" dirty="0">
                <a:solidFill>
                  <a:srgbClr val="070154"/>
                </a:solidFill>
                <a:latin typeface="IBM Plex Sans"/>
                <a:ea typeface="IBM Plex Sans"/>
                <a:cs typeface="IBM Plex Sans"/>
              </a:endParaRPr>
            </a:p>
          </p:txBody>
        </p:sp>
      </p:grpSp>
      <p:grpSp>
        <p:nvGrpSpPr>
          <p:cNvPr id="38" name="node03"/>
          <p:cNvGrpSpPr/>
          <p:nvPr/>
        </p:nvGrpSpPr>
        <p:grpSpPr>
          <a:xfrm>
            <a:off x="4381500" y="457200"/>
            <a:ext cx="7086600" cy="914400"/>
            <a:chOff x="4381500" y="457200"/>
            <a:chExt cx="7086600" cy="914400"/>
          </a:xfrm>
        </p:grpSpPr>
        <p:sp>
          <p:nvSpPr>
            <p:cNvPr id="9" name="node03.container"/>
            <p:cNvSpPr/>
            <p:nvPr/>
          </p:nvSpPr>
          <p:spPr>
            <a:xfrm>
              <a:off x="4381500" y="457200"/>
              <a:ext cx="7086600" cy="914400"/>
            </a:xfrm>
            <a:prstGeom prst="rect">
              <a:avLst/>
            </a:prstGeom>
            <a:solidFill>
              <a:srgbClr val="E8EEF8"/>
            </a:solidFill>
            <a:ln>
              <a:noFill/>
            </a:ln>
          </p:spPr>
        </p:sp>
        <p:sp>
          <p:nvSpPr>
            <p:cNvPr id="10" name="node03.label"/>
            <p:cNvSpPr/>
            <p:nvPr/>
          </p:nvSpPr>
          <p:spPr>
            <a:xfrm>
              <a:off x="4495800" y="571500"/>
              <a:ext cx="6858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L4 · STEERING COMMITTEE · 60+ MIN</a:t>
              </a:r>
              <a:endParaRPr lang="en-US" sz="800" spc="48" kern="0" b="0" i="0" dirty="0">
                <a:solidFill>
                  <a:srgbClr val="0047FF"/>
                </a:solidFill>
                <a:latin typeface="IBM Plex Mono Medium"/>
                <a:ea typeface="IBM Plex Mono Medium"/>
                <a:cs typeface="IBM Plex Mono Medium"/>
              </a:endParaRPr>
            </a:p>
          </p:txBody>
        </p:sp>
        <p:sp>
          <p:nvSpPr>
            <p:cNvPr id="11" name="node03.body.item-001.bullets.item-001.marker"/>
            <p:cNvSpPr/>
            <p:nvPr/>
          </p:nvSpPr>
          <p:spPr>
            <a:xfrm>
              <a:off x="4495800" y="876300"/>
              <a:ext cx="38100" cy="38100"/>
            </a:xfrm>
            <a:prstGeom prst="rect">
              <a:avLst/>
            </a:prstGeom>
            <a:solidFill>
              <a:srgbClr val="070154"/>
            </a:solidFill>
            <a:ln>
              <a:noFill/>
            </a:ln>
          </p:spPr>
        </p:sp>
        <p:sp>
          <p:nvSpPr>
            <p:cNvPr id="12" name="node03.body.item-001.bullets.item-001.text"/>
            <p:cNvSpPr/>
            <p:nvPr/>
          </p:nvSpPr>
          <p:spPr>
            <a:xfrm>
              <a:off x="4648200" y="787400"/>
              <a:ext cx="670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Trigger: rollback invoked or go-live date at risk</a:t>
              </a:r>
              <a:endParaRPr lang="en-US" sz="1200" spc="0" kern="0" b="0" i="0" dirty="0">
                <a:solidFill>
                  <a:srgbClr val="070154"/>
                </a:solidFill>
                <a:latin typeface="IBM Plex Sans"/>
                <a:ea typeface="IBM Plex Sans"/>
                <a:cs typeface="IBM Plex Sans"/>
              </a:endParaRPr>
            </a:p>
          </p:txBody>
        </p:sp>
        <p:sp>
          <p:nvSpPr>
            <p:cNvPr id="13" name="node03.body.item-001.bullets.item-002.marker"/>
            <p:cNvSpPr/>
            <p:nvPr/>
          </p:nvSpPr>
          <p:spPr>
            <a:xfrm>
              <a:off x="4495800" y="1130300"/>
              <a:ext cx="38100" cy="38100"/>
            </a:xfrm>
            <a:prstGeom prst="rect">
              <a:avLst/>
            </a:prstGeom>
            <a:solidFill>
              <a:srgbClr val="070154"/>
            </a:solidFill>
            <a:ln>
              <a:noFill/>
            </a:ln>
          </p:spPr>
        </p:sp>
        <p:sp>
          <p:nvSpPr>
            <p:cNvPr id="14" name="node03.body.item-001.bullets.item-002.text"/>
            <p:cNvSpPr/>
            <p:nvPr/>
          </p:nvSpPr>
          <p:spPr>
            <a:xfrm>
              <a:off x="4648200" y="1041400"/>
              <a:ext cx="670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Decides: reset the date; approve a new plan</a:t>
              </a:r>
              <a:endParaRPr lang="en-US" sz="1200" spc="0" kern="0" b="0" i="0" dirty="0">
                <a:solidFill>
                  <a:srgbClr val="070154"/>
                </a:solidFill>
                <a:latin typeface="IBM Plex Sans"/>
                <a:ea typeface="IBM Plex Sans"/>
                <a:cs typeface="IBM Plex Sans"/>
              </a:endParaRPr>
            </a:p>
          </p:txBody>
        </p:sp>
      </p:grpSp>
      <p:grpSp>
        <p:nvGrpSpPr>
          <p:cNvPr id="39" name="node04"/>
          <p:cNvGrpSpPr/>
          <p:nvPr/>
        </p:nvGrpSpPr>
        <p:grpSpPr>
          <a:xfrm>
            <a:off x="4381500" y="1828800"/>
            <a:ext cx="7086600" cy="914400"/>
            <a:chOff x="4381500" y="1828800"/>
            <a:chExt cx="7086600" cy="914400"/>
          </a:xfrm>
        </p:grpSpPr>
        <p:sp>
          <p:nvSpPr>
            <p:cNvPr id="15" name="node04.container"/>
            <p:cNvSpPr/>
            <p:nvPr/>
          </p:nvSpPr>
          <p:spPr>
            <a:xfrm>
              <a:off x="4381500" y="1828800"/>
              <a:ext cx="7086600" cy="914400"/>
            </a:xfrm>
            <a:prstGeom prst="rect">
              <a:avLst/>
            </a:prstGeom>
            <a:solidFill>
              <a:srgbClr val="E8EEF8"/>
            </a:solidFill>
            <a:ln>
              <a:noFill/>
            </a:ln>
          </p:spPr>
        </p:sp>
        <p:sp>
          <p:nvSpPr>
            <p:cNvPr id="16" name="node04.label"/>
            <p:cNvSpPr/>
            <p:nvPr/>
          </p:nvSpPr>
          <p:spPr>
            <a:xfrm>
              <a:off x="4495800" y="1943100"/>
              <a:ext cx="6858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L3 · CONTROLLER AND CIO · 30–60 MIN</a:t>
              </a:r>
              <a:endParaRPr lang="en-US" sz="800" spc="48" kern="0" b="0" i="0" dirty="0">
                <a:solidFill>
                  <a:srgbClr val="0047FF"/>
                </a:solidFill>
                <a:latin typeface="IBM Plex Mono Medium"/>
                <a:ea typeface="IBM Plex Mono Medium"/>
                <a:cs typeface="IBM Plex Mono Medium"/>
              </a:endParaRPr>
            </a:p>
          </p:txBody>
        </p:sp>
        <p:sp>
          <p:nvSpPr>
            <p:cNvPr id="17" name="node04.body.item-001.bullets.item-001.marker"/>
            <p:cNvSpPr/>
            <p:nvPr/>
          </p:nvSpPr>
          <p:spPr>
            <a:xfrm>
              <a:off x="4495800" y="2247900"/>
              <a:ext cx="38100" cy="38100"/>
            </a:xfrm>
            <a:prstGeom prst="rect">
              <a:avLst/>
            </a:prstGeom>
            <a:solidFill>
              <a:srgbClr val="070154"/>
            </a:solidFill>
            <a:ln>
              <a:noFill/>
            </a:ln>
          </p:spPr>
        </p:sp>
        <p:sp>
          <p:nvSpPr>
            <p:cNvPr id="18" name="node04.body.item-001.bullets.item-001.text"/>
            <p:cNvSpPr/>
            <p:nvPr/>
          </p:nvSpPr>
          <p:spPr>
            <a:xfrm>
              <a:off x="4648200" y="2159000"/>
              <a:ext cx="670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Trigger: balances do not tie, or a gate is at risk</a:t>
              </a:r>
              <a:endParaRPr lang="en-US" sz="1200" spc="0" kern="0" b="0" i="0" dirty="0">
                <a:solidFill>
                  <a:srgbClr val="070154"/>
                </a:solidFill>
                <a:latin typeface="IBM Plex Sans"/>
                <a:ea typeface="IBM Plex Sans"/>
                <a:cs typeface="IBM Plex Sans"/>
              </a:endParaRPr>
            </a:p>
          </p:txBody>
        </p:sp>
        <p:sp>
          <p:nvSpPr>
            <p:cNvPr id="19" name="node04.body.item-001.bullets.item-002.marker"/>
            <p:cNvSpPr/>
            <p:nvPr/>
          </p:nvSpPr>
          <p:spPr>
            <a:xfrm>
              <a:off x="4495800" y="2501900"/>
              <a:ext cx="38100" cy="38100"/>
            </a:xfrm>
            <a:prstGeom prst="rect">
              <a:avLst/>
            </a:prstGeom>
            <a:solidFill>
              <a:srgbClr val="070154"/>
            </a:solidFill>
            <a:ln>
              <a:noFill/>
            </a:ln>
          </p:spPr>
        </p:sp>
        <p:sp>
          <p:nvSpPr>
            <p:cNvPr id="20" name="node04.body.item-001.bullets.item-002.text"/>
            <p:cNvSpPr/>
            <p:nvPr/>
          </p:nvSpPr>
          <p:spPr>
            <a:xfrm>
              <a:off x="4648200" y="2413000"/>
              <a:ext cx="670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Decides: go or no-go; invoke full rollback</a:t>
              </a:r>
              <a:endParaRPr lang="en-US" sz="1200" spc="0" kern="0" b="0" i="0" dirty="0">
                <a:solidFill>
                  <a:srgbClr val="070154"/>
                </a:solidFill>
                <a:latin typeface="IBM Plex Sans"/>
                <a:ea typeface="IBM Plex Sans"/>
                <a:cs typeface="IBM Plex Sans"/>
              </a:endParaRPr>
            </a:p>
          </p:txBody>
        </p:sp>
      </p:grpSp>
      <p:grpSp>
        <p:nvGrpSpPr>
          <p:cNvPr id="40" name="node05"/>
          <p:cNvGrpSpPr/>
          <p:nvPr/>
        </p:nvGrpSpPr>
        <p:grpSpPr>
          <a:xfrm>
            <a:off x="4381500" y="3200400"/>
            <a:ext cx="7086600" cy="914400"/>
            <a:chOff x="4381500" y="3200400"/>
            <a:chExt cx="7086600" cy="914400"/>
          </a:xfrm>
        </p:grpSpPr>
        <p:sp>
          <p:nvSpPr>
            <p:cNvPr id="21" name="node05.container"/>
            <p:cNvSpPr/>
            <p:nvPr/>
          </p:nvSpPr>
          <p:spPr>
            <a:xfrm>
              <a:off x="4381500" y="3200400"/>
              <a:ext cx="7086600" cy="914400"/>
            </a:xfrm>
            <a:prstGeom prst="rect">
              <a:avLst/>
            </a:prstGeom>
            <a:solidFill>
              <a:srgbClr val="E8EEF8"/>
            </a:solidFill>
            <a:ln>
              <a:noFill/>
            </a:ln>
          </p:spPr>
        </p:sp>
        <p:sp>
          <p:nvSpPr>
            <p:cNvPr id="22" name="node05.label"/>
            <p:cNvSpPr/>
            <p:nvPr/>
          </p:nvSpPr>
          <p:spPr>
            <a:xfrm>
              <a:off x="4495800" y="3314700"/>
              <a:ext cx="6858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L2 · CUTOVER LEAD · 15–30 MIN</a:t>
              </a:r>
              <a:endParaRPr lang="en-US" sz="800" spc="48" kern="0" b="0" i="0" dirty="0">
                <a:solidFill>
                  <a:srgbClr val="0047FF"/>
                </a:solidFill>
                <a:latin typeface="IBM Plex Mono Medium"/>
                <a:ea typeface="IBM Plex Mono Medium"/>
                <a:cs typeface="IBM Plex Mono Medium"/>
              </a:endParaRPr>
            </a:p>
          </p:txBody>
        </p:sp>
        <p:sp>
          <p:nvSpPr>
            <p:cNvPr id="23" name="node05.body.item-001.bullets.item-001.marker"/>
            <p:cNvSpPr/>
            <p:nvPr/>
          </p:nvSpPr>
          <p:spPr>
            <a:xfrm>
              <a:off x="4495800" y="3619500"/>
              <a:ext cx="38100" cy="38100"/>
            </a:xfrm>
            <a:prstGeom prst="rect">
              <a:avLst/>
            </a:prstGeom>
            <a:solidFill>
              <a:srgbClr val="070154"/>
            </a:solidFill>
            <a:ln>
              <a:noFill/>
            </a:ln>
          </p:spPr>
        </p:sp>
        <p:sp>
          <p:nvSpPr>
            <p:cNvPr id="24" name="node05.body.item-001.bullets.item-001.text"/>
            <p:cNvSpPr/>
            <p:nvPr/>
          </p:nvSpPr>
          <p:spPr>
            <a:xfrm>
              <a:off x="4648200" y="3530600"/>
              <a:ext cx="670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Trigger: L1 cannot clear it, or the window slips</a:t>
              </a:r>
              <a:endParaRPr lang="en-US" sz="1200" spc="0" kern="0" b="0" i="0" dirty="0">
                <a:solidFill>
                  <a:srgbClr val="070154"/>
                </a:solidFill>
                <a:latin typeface="IBM Plex Sans"/>
                <a:ea typeface="IBM Plex Sans"/>
                <a:cs typeface="IBM Plex Sans"/>
              </a:endParaRPr>
            </a:p>
          </p:txBody>
        </p:sp>
        <p:sp>
          <p:nvSpPr>
            <p:cNvPr id="25" name="node05.body.item-001.bullets.item-002.marker"/>
            <p:cNvSpPr/>
            <p:nvPr/>
          </p:nvSpPr>
          <p:spPr>
            <a:xfrm>
              <a:off x="4495800" y="3873500"/>
              <a:ext cx="38100" cy="38100"/>
            </a:xfrm>
            <a:prstGeom prst="rect">
              <a:avLst/>
            </a:prstGeom>
            <a:solidFill>
              <a:srgbClr val="070154"/>
            </a:solidFill>
            <a:ln>
              <a:noFill/>
            </a:ln>
          </p:spPr>
        </p:sp>
        <p:sp>
          <p:nvSpPr>
            <p:cNvPr id="26" name="node05.body.item-001.bullets.item-002.text"/>
            <p:cNvSpPr/>
            <p:nvPr/>
          </p:nvSpPr>
          <p:spPr>
            <a:xfrm>
              <a:off x="4648200" y="3784600"/>
              <a:ext cx="670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Decides: re-sequence steps; extend a window</a:t>
              </a:r>
              <a:endParaRPr lang="en-US" sz="1200" spc="0" kern="0" b="0" i="0" dirty="0">
                <a:solidFill>
                  <a:srgbClr val="070154"/>
                </a:solidFill>
                <a:latin typeface="IBM Plex Sans"/>
                <a:ea typeface="IBM Plex Sans"/>
                <a:cs typeface="IBM Plex Sans"/>
              </a:endParaRPr>
            </a:p>
          </p:txBody>
        </p:sp>
      </p:grpSp>
      <p:grpSp>
        <p:nvGrpSpPr>
          <p:cNvPr id="41" name="node06"/>
          <p:cNvGrpSpPr/>
          <p:nvPr/>
        </p:nvGrpSpPr>
        <p:grpSpPr>
          <a:xfrm>
            <a:off x="4381500" y="4572000"/>
            <a:ext cx="7086600" cy="914400"/>
            <a:chOff x="4381500" y="4572000"/>
            <a:chExt cx="7086600" cy="914400"/>
          </a:xfrm>
        </p:grpSpPr>
        <p:sp>
          <p:nvSpPr>
            <p:cNvPr id="27" name="node06.container"/>
            <p:cNvSpPr/>
            <p:nvPr/>
          </p:nvSpPr>
          <p:spPr>
            <a:xfrm>
              <a:off x="4381500" y="4572000"/>
              <a:ext cx="7086600" cy="914400"/>
            </a:xfrm>
            <a:prstGeom prst="rect">
              <a:avLst/>
            </a:prstGeom>
            <a:solidFill>
              <a:srgbClr val="E8EEF8"/>
            </a:solidFill>
            <a:ln>
              <a:noFill/>
            </a:ln>
          </p:spPr>
        </p:sp>
        <p:sp>
          <p:nvSpPr>
            <p:cNvPr id="28" name="node06.label"/>
            <p:cNvSpPr/>
            <p:nvPr/>
          </p:nvSpPr>
          <p:spPr>
            <a:xfrm>
              <a:off x="4495800" y="4686300"/>
              <a:ext cx="6858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L1 · WORKSTREAM LEAD · 0–15 MIN</a:t>
              </a:r>
              <a:endParaRPr lang="en-US" sz="800" spc="48" kern="0" b="0" i="0" dirty="0">
                <a:solidFill>
                  <a:srgbClr val="0047FF"/>
                </a:solidFill>
                <a:latin typeface="IBM Plex Mono Medium"/>
                <a:ea typeface="IBM Plex Mono Medium"/>
                <a:cs typeface="IBM Plex Mono Medium"/>
              </a:endParaRPr>
            </a:p>
          </p:txBody>
        </p:sp>
        <p:sp>
          <p:nvSpPr>
            <p:cNvPr id="29" name="node06.body.item-001.bullets.item-001.marker"/>
            <p:cNvSpPr/>
            <p:nvPr/>
          </p:nvSpPr>
          <p:spPr>
            <a:xfrm>
              <a:off x="4495800" y="4991100"/>
              <a:ext cx="38100" cy="38100"/>
            </a:xfrm>
            <a:prstGeom prst="rect">
              <a:avLst/>
            </a:prstGeom>
            <a:solidFill>
              <a:srgbClr val="070154"/>
            </a:solidFill>
            <a:ln>
              <a:noFill/>
            </a:ln>
          </p:spPr>
        </p:sp>
        <p:sp>
          <p:nvSpPr>
            <p:cNvPr id="30" name="node06.body.item-001.bullets.item-001.text"/>
            <p:cNvSpPr/>
            <p:nvPr/>
          </p:nvSpPr>
          <p:spPr>
            <a:xfrm>
              <a:off x="4648200" y="4902200"/>
              <a:ext cx="670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Trigger: a step runs late or a check fails</a:t>
              </a:r>
              <a:endParaRPr lang="en-US" sz="1200" spc="0" kern="0" b="0" i="0" dirty="0">
                <a:solidFill>
                  <a:srgbClr val="070154"/>
                </a:solidFill>
                <a:latin typeface="IBM Plex Sans"/>
                <a:ea typeface="IBM Plex Sans"/>
                <a:cs typeface="IBM Plex Sans"/>
              </a:endParaRPr>
            </a:p>
          </p:txBody>
        </p:sp>
        <p:sp>
          <p:nvSpPr>
            <p:cNvPr id="31" name="node06.body.item-001.bullets.item-002.marker"/>
            <p:cNvSpPr/>
            <p:nvPr/>
          </p:nvSpPr>
          <p:spPr>
            <a:xfrm>
              <a:off x="4495800" y="5245100"/>
              <a:ext cx="38100" cy="38100"/>
            </a:xfrm>
            <a:prstGeom prst="rect">
              <a:avLst/>
            </a:prstGeom>
            <a:solidFill>
              <a:srgbClr val="070154"/>
            </a:solidFill>
            <a:ln>
              <a:noFill/>
            </a:ln>
          </p:spPr>
        </p:sp>
        <p:sp>
          <p:nvSpPr>
            <p:cNvPr id="32" name="node06.body.item-001.bullets.item-002.text"/>
            <p:cNvSpPr/>
            <p:nvPr/>
          </p:nvSpPr>
          <p:spPr>
            <a:xfrm>
              <a:off x="4648200" y="5156200"/>
              <a:ext cx="670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Decides: retry the step or apply its rollback</a:t>
              </a:r>
              <a:endParaRPr lang="en-US" sz="1200" spc="0" kern="0" b="0" i="0" dirty="0">
                <a:solidFill>
                  <a:srgbClr val="070154"/>
                </a:solidFill>
                <a:latin typeface="IBM Plex Sans"/>
                <a:ea typeface="IBM Plex Sans"/>
                <a:cs typeface="IBM Plex Sans"/>
              </a:endParaRPr>
            </a:p>
          </p:txBody>
        </p:sp>
      </p:grpSp>
      <p:grpSp>
        <p:nvGrpSpPr>
          <p:cNvPr id="42" name="node07"/>
          <p:cNvGrpSpPr/>
          <p:nvPr/>
        </p:nvGrpSpPr>
        <p:grpSpPr>
          <a:xfrm>
            <a:off x="4886325" y="1447800"/>
            <a:ext cx="57150" cy="304800"/>
            <a:chOff x="4886325" y="1447800"/>
            <a:chExt cx="57150" cy="304800"/>
          </a:xfrm>
        </p:grpSpPr>
        <p:pic>
          <p:nvPicPr>
            <p:cNvPr id="33" name="node07.mark" descr="arrow-straight; canonical SHA256=115a8f5079b158c346e9f9ca6c6eeecb7567bbab70f4cd058c365f09ed10290e;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rot="-5400000">
              <a:off x="4762500" y="1571625"/>
              <a:ext cx="304800" cy="57150"/>
            </a:xfrm>
            <a:prstGeom prst="rect">
              <a:avLst/>
            </a:prstGeom>
          </p:spPr>
        </p:pic>
      </p:grpSp>
      <p:grpSp>
        <p:nvGrpSpPr>
          <p:cNvPr id="43" name="node08"/>
          <p:cNvGrpSpPr/>
          <p:nvPr/>
        </p:nvGrpSpPr>
        <p:grpSpPr>
          <a:xfrm>
            <a:off x="4886325" y="2819400"/>
            <a:ext cx="57150" cy="304800"/>
            <a:chOff x="4886325" y="2819400"/>
            <a:chExt cx="57150" cy="304800"/>
          </a:xfrm>
        </p:grpSpPr>
        <p:pic>
          <p:nvPicPr>
            <p:cNvPr id="34" name="node08.mark" descr="arrow-straight; canonical SHA256=115a8f5079b158c346e9f9ca6c6eeecb7567bbab70f4cd058c365f09ed10290e; resolved ink=07015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4762500" y="2943225"/>
              <a:ext cx="304800" cy="57150"/>
            </a:xfrm>
            <a:prstGeom prst="rect">
              <a:avLst/>
            </a:prstGeom>
          </p:spPr>
        </p:pic>
      </p:grpSp>
      <p:grpSp>
        <p:nvGrpSpPr>
          <p:cNvPr id="44" name="node09"/>
          <p:cNvGrpSpPr/>
          <p:nvPr/>
        </p:nvGrpSpPr>
        <p:grpSpPr>
          <a:xfrm>
            <a:off x="4886325" y="4191000"/>
            <a:ext cx="57150" cy="304800"/>
            <a:chOff x="4886325" y="4191000"/>
            <a:chExt cx="57150" cy="304800"/>
          </a:xfrm>
        </p:grpSpPr>
        <p:pic>
          <p:nvPicPr>
            <p:cNvPr id="35" name="node09.mark" descr="arrow-straight; canonical SHA256=115a8f5079b158c346e9f9ca6c6eeecb7567bbab70f4cd058c365f09ed10290e; resolved ink=070154">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a:off x="4762500" y="4314825"/>
              <a:ext cx="304800" cy="57150"/>
            </a:xfrm>
            <a:prstGeom prst="rect">
              <a:avLst/>
            </a:prstGeom>
          </p:spPr>
        </p:pic>
      </p:gr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ource-483">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2"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73270" y="1394460"/>
            <a:ext cx="798425" cy="72032"/>
          </a:xfrm>
          <a:prstGeom prst="rect">
            <a:avLst/>
          </a:prstGeom>
        </p:spPr>
      </p:pic>
      <p:sp>
        <p:nvSpPr>
          <p:cNvPr id="5"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 xml:space="preserve">Steps 1 to 4 lock the </a:t>
            </a:r>
            <a:br>
              <a:rPr lang="en-US" sz="2400" spc="-36" kern="0" b="0" i="0" dirty="0">
                <a:solidFill>
                  <a:srgbClr val="070154"/>
                </a:solidFill>
                <a:latin typeface="IBM Plex Sans SemiBold"/>
                <a:ea typeface="IBM Plex Sans SemiBold"/>
                <a:cs typeface="IBM Plex Sans SemiBold"/>
              </a:rPr>
            </a:br>
            <a:r>
              <a:rPr lang="en-US" sz="2400" spc="-36" kern="0" b="0" i="0" dirty="0">
                <a:solidFill>
                  <a:srgbClr val="070154"/>
                </a:solidFill>
                <a:latin typeface="IBM Plex Sans SemiBold"/>
                <a:ea typeface="IBM Plex Sans SemiBold"/>
                <a:cs typeface="IBM Plex Sans SemiBold"/>
              </a:rPr>
              <a:t xml:space="preserve">legacy ledger and </a:t>
            </a:r>
            <a:r>
              <a:rPr lang="en-US" sz="2400" spc="-36" kern="0" b="0" i="0" dirty="0">
                <a:solidFill>
                  <a:srgbClr val="070154"/>
                </a:solidFill>
                <a:latin typeface="IBM Plex Sans SemiBold"/>
                <a:ea typeface="IBM Plex Sans SemiBold"/>
                <a:cs typeface="IBM Plex Sans SemiBold"/>
              </a:rPr>
              <a:t xml:space="preserve">move</a:t>
            </a:r>
            <a:r>
              <a:rPr lang="en-US" sz="2400" spc="-36" kern="0" b="0" i="0" dirty="0">
                <a:solidFill>
                  <a:srgbClr val="070154"/>
                </a:solidFill>
                <a:latin typeface="IBM Plex Sans SemiBold"/>
                <a:ea typeface="IBM Plex Sans SemiBold"/>
                <a:cs typeface="IBM Plex Sans SemiBold"/>
              </a:rPr>
              <a:t xml:space="preserve"> </a:t>
            </a:r>
            <a:br>
              <a:rPr lang="en-US" sz="2400" spc="-36" kern="0" b="0" i="0" dirty="0">
                <a:solidFill>
                  <a:srgbClr val="070154"/>
                </a:solidFill>
                <a:latin typeface="IBM Plex Sans SemiBold"/>
                <a:ea typeface="IBM Plex Sans SemiBold"/>
                <a:cs typeface="IBM Plex Sans SemiBold"/>
              </a:rPr>
            </a:br>
            <a:r>
              <a:rPr lang="en-US" sz="2400" spc="-36" kern="0" b="0" i="0" dirty="0">
                <a:solidFill>
                  <a:srgbClr val="070154"/>
                </a:solidFill>
                <a:latin typeface="IBM Plex Sans SemiBold"/>
                <a:ea typeface="IBM Plex Sans SemiBold"/>
                <a:cs typeface="IBM Plex Sans SemiBold"/>
              </a:rPr>
              <a:t xml:space="preserve">its balances</a:t>
            </a:r>
            <a:endParaRPr lang="en-US" sz="2400" spc="-36"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192</a:t>
            </a:fld>
            <a:endParaRPr lang="en-US" sz="700" spc="0" kern="0" b="0" i="0" dirty="0">
              <a:solidFill>
                <a:srgbClr val="070154"/>
              </a:solidFill>
              <a:latin typeface="IBM Plex Mono SemiBold"/>
              <a:ea typeface="IBM Plex Mono SemiBold"/>
              <a:cs typeface="IBM Plex Mono SemiBold"/>
            </a:endParaRPr>
          </a:p>
        </p:txBody>
      </p:sp>
      <p:grpSp>
        <p:nvGrpSpPr>
          <p:cNvPr id="51" name="node01"/>
          <p:cNvGrpSpPr/>
          <p:nvPr/>
        </p:nvGrpSpPr>
        <p:grpSpPr>
          <a:xfrm>
            <a:off x="723900" y="2286000"/>
            <a:ext cx="3429000" cy="381000"/>
            <a:chOff x="723900" y="2286000"/>
            <a:chExt cx="3429000" cy="381000"/>
          </a:xfrm>
        </p:grpSpPr>
        <p:sp>
          <p:nvSpPr>
            <p:cNvPr id="7" name="node01.text"/>
            <p:cNvSpPr/>
            <p:nvPr/>
          </p:nvSpPr>
          <p:spPr>
            <a:xfrm>
              <a:off x="723900" y="22860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Each step has an owner and a window. Work to the actions in order and log each one as it completes.</a:t>
              </a:r>
              <a:endParaRPr lang="en-US" sz="1100" spc="0" kern="0" b="0" i="0" dirty="0">
                <a:solidFill>
                  <a:srgbClr val="070154"/>
                </a:solidFill>
                <a:latin typeface="IBM Plex Sans"/>
                <a:ea typeface="IBM Plex Sans"/>
                <a:cs typeface="IBM Plex Sans"/>
              </a:endParaRPr>
            </a:p>
          </p:txBody>
        </p:sp>
      </p:grpSp>
      <p:grpSp>
        <p:nvGrpSpPr>
          <p:cNvPr id="52" name="node02"/>
          <p:cNvGrpSpPr/>
          <p:nvPr/>
        </p:nvGrpSpPr>
        <p:grpSpPr>
          <a:xfrm>
            <a:off x="723900" y="5257800"/>
            <a:ext cx="3429000" cy="685800"/>
            <a:chOff x="723900" y="5257800"/>
            <a:chExt cx="3429000" cy="685800"/>
          </a:xfrm>
        </p:grpSpPr>
        <p:sp>
          <p:nvSpPr>
            <p:cNvPr id="8" name="node02.surface"/>
            <p:cNvSpPr/>
            <p:nvPr/>
          </p:nvSpPr>
          <p:spPr>
            <a:xfrm>
              <a:off x="723900" y="5257800"/>
              <a:ext cx="3429000" cy="685800"/>
            </a:xfrm>
            <a:prstGeom prst="rect">
              <a:avLst/>
            </a:prstGeom>
            <a:solidFill>
              <a:srgbClr val="E8EEF8"/>
            </a:solidFill>
            <a:ln>
              <a:noFill/>
            </a:ln>
          </p:spPr>
        </p:sp>
        <p:sp>
          <p:nvSpPr>
            <p:cNvPr id="9" name="node02.text"/>
            <p:cNvSpPr/>
            <p:nvPr/>
          </p:nvSpPr>
          <p:spPr>
            <a:xfrm>
              <a:off x="876300" y="550545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Step 4 · page 1 of 2 · Continued on next page</a:t>
              </a:r>
              <a:endParaRPr lang="en-US" sz="1100" spc="0" kern="0" b="0" i="0" dirty="0">
                <a:solidFill>
                  <a:srgbClr val="070154"/>
                </a:solidFill>
                <a:latin typeface="IBM Plex Sans"/>
                <a:ea typeface="IBM Plex Sans"/>
                <a:cs typeface="IBM Plex Sans"/>
              </a:endParaRPr>
            </a:p>
          </p:txBody>
        </p:sp>
      </p:grpSp>
      <p:grpSp>
        <p:nvGrpSpPr>
          <p:cNvPr id="53" name="node03"/>
          <p:cNvGrpSpPr/>
          <p:nvPr/>
        </p:nvGrpSpPr>
        <p:grpSpPr>
          <a:xfrm>
            <a:off x="4381500" y="533400"/>
            <a:ext cx="3429000" cy="330200"/>
            <a:chOff x="4381500" y="533400"/>
            <a:chExt cx="3429000" cy="330200"/>
          </a:xfrm>
        </p:grpSpPr>
        <p:sp>
          <p:nvSpPr>
            <p:cNvPr id="10" name="node03.number"/>
            <p:cNvSpPr/>
            <p:nvPr/>
          </p:nvSpPr>
          <p:spPr>
            <a:xfrm>
              <a:off x="4381500" y="583184"/>
              <a:ext cx="123507"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1</a:t>
              </a:r>
              <a:endParaRPr lang="en-US" sz="1600" spc="0" kern="0" b="0" i="0" dirty="0">
                <a:solidFill>
                  <a:srgbClr val="0047FF"/>
                </a:solidFill>
                <a:latin typeface="IBM Plex Mono SemiBold"/>
                <a:ea typeface="IBM Plex Mono SemiBold"/>
                <a:cs typeface="IBM Plex Mono SemiBold"/>
              </a:endParaRPr>
            </a:p>
          </p:txBody>
        </p:sp>
        <p:sp>
          <p:nvSpPr>
            <p:cNvPr id="11" name="node03.text"/>
            <p:cNvSpPr/>
            <p:nvPr/>
          </p:nvSpPr>
          <p:spPr>
            <a:xfrm>
              <a:off x="4618038" y="533400"/>
              <a:ext cx="3192463"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Freeze legacy postings</a:t>
              </a:r>
              <a:endParaRPr lang="en-US" sz="2100" spc="-32" kern="0" b="0" i="0" dirty="0">
                <a:solidFill>
                  <a:srgbClr val="070154"/>
                </a:solidFill>
                <a:latin typeface="IBM Plex Sans SemiBold"/>
                <a:ea typeface="IBM Plex Sans SemiBold"/>
                <a:cs typeface="IBM Plex Sans SemiBold"/>
              </a:endParaRPr>
            </a:p>
          </p:txBody>
        </p:sp>
      </p:grpSp>
      <p:grpSp>
        <p:nvGrpSpPr>
          <p:cNvPr id="54" name="node04"/>
          <p:cNvGrpSpPr/>
          <p:nvPr/>
        </p:nvGrpSpPr>
        <p:grpSpPr>
          <a:xfrm>
            <a:off x="4381500" y="1371600"/>
            <a:ext cx="3429000" cy="190500"/>
            <a:chOff x="4381500" y="1371600"/>
            <a:chExt cx="3429000" cy="190500"/>
          </a:xfrm>
        </p:grpSpPr>
        <p:sp>
          <p:nvSpPr>
            <p:cNvPr id="12" name="node04.text"/>
            <p:cNvSpPr/>
            <p:nvPr/>
          </p:nvSpPr>
          <p:spPr>
            <a:xfrm>
              <a:off x="4381500" y="13716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Owner: Controller</a:t>
              </a:r>
              <a:endParaRPr lang="en-US" sz="1100" spc="0" kern="0" b="0" i="0" dirty="0">
                <a:solidFill>
                  <a:srgbClr val="070154"/>
                </a:solidFill>
                <a:latin typeface="IBM Plex Sans"/>
                <a:ea typeface="IBM Plex Sans"/>
                <a:cs typeface="IBM Plex Sans"/>
              </a:endParaRPr>
            </a:p>
          </p:txBody>
        </p:sp>
      </p:grpSp>
      <p:grpSp>
        <p:nvGrpSpPr>
          <p:cNvPr id="55" name="node05"/>
          <p:cNvGrpSpPr/>
          <p:nvPr/>
        </p:nvGrpSpPr>
        <p:grpSpPr>
          <a:xfrm>
            <a:off x="4381500" y="1600200"/>
            <a:ext cx="3429000" cy="190500"/>
            <a:chOff x="4381500" y="1600200"/>
            <a:chExt cx="3429000" cy="190500"/>
          </a:xfrm>
        </p:grpSpPr>
        <p:sp>
          <p:nvSpPr>
            <p:cNvPr id="13" name="node05.text"/>
            <p:cNvSpPr/>
            <p:nvPr/>
          </p:nvSpPr>
          <p:spPr>
            <a:xfrm>
              <a:off x="4381500" y="16002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Fri 18:00 · 30m</a:t>
              </a:r>
              <a:endParaRPr lang="en-US" sz="1100" spc="0" kern="0" b="0" i="0" dirty="0">
                <a:solidFill>
                  <a:srgbClr val="50658E"/>
                </a:solidFill>
                <a:latin typeface="IBM Plex Sans"/>
                <a:ea typeface="IBM Plex Sans"/>
                <a:cs typeface="IBM Plex Sans"/>
              </a:endParaRPr>
            </a:p>
          </p:txBody>
        </p:sp>
      </p:grpSp>
      <p:grpSp>
        <p:nvGrpSpPr>
          <p:cNvPr id="56" name="node06"/>
          <p:cNvGrpSpPr/>
          <p:nvPr/>
        </p:nvGrpSpPr>
        <p:grpSpPr>
          <a:xfrm>
            <a:off x="8039100" y="533400"/>
            <a:ext cx="3429000" cy="723900"/>
            <a:chOff x="8039100" y="533400"/>
            <a:chExt cx="3429000" cy="723900"/>
          </a:xfrm>
        </p:grpSpPr>
        <p:sp>
          <p:nvSpPr>
            <p:cNvPr id="14" name="node06.source-001.bullet"/>
            <p:cNvSpPr/>
            <p:nvPr/>
          </p:nvSpPr>
          <p:spPr>
            <a:xfrm>
              <a:off x="8039100" y="622300"/>
              <a:ext cx="38100" cy="38100"/>
            </a:xfrm>
            <a:prstGeom prst="rect">
              <a:avLst/>
            </a:prstGeom>
            <a:solidFill>
              <a:srgbClr val="070154"/>
            </a:solidFill>
            <a:ln>
              <a:noFill/>
            </a:ln>
          </p:spPr>
        </p:sp>
        <p:sp>
          <p:nvSpPr>
            <p:cNvPr id="15" name="node06.source-001.text"/>
            <p:cNvSpPr/>
            <p:nvPr/>
          </p:nvSpPr>
          <p:spPr>
            <a:xfrm>
              <a:off x="8191500" y="533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open batches</a:t>
              </a:r>
              <a:endParaRPr lang="en-US" sz="1200" spc="0" kern="0" b="0" i="0" dirty="0">
                <a:solidFill>
                  <a:srgbClr val="070154"/>
                </a:solidFill>
                <a:latin typeface="IBM Plex Sans"/>
                <a:ea typeface="IBM Plex Sans"/>
                <a:cs typeface="IBM Plex Sans"/>
              </a:endParaRPr>
            </a:p>
          </p:txBody>
        </p:sp>
        <p:sp>
          <p:nvSpPr>
            <p:cNvPr id="16" name="node06.source-002.bullet"/>
            <p:cNvSpPr/>
            <p:nvPr/>
          </p:nvSpPr>
          <p:spPr>
            <a:xfrm>
              <a:off x="8039100" y="876300"/>
              <a:ext cx="38100" cy="38100"/>
            </a:xfrm>
            <a:prstGeom prst="rect">
              <a:avLst/>
            </a:prstGeom>
            <a:solidFill>
              <a:srgbClr val="070154"/>
            </a:solidFill>
            <a:ln>
              <a:noFill/>
            </a:ln>
          </p:spPr>
        </p:sp>
        <p:sp>
          <p:nvSpPr>
            <p:cNvPr id="17" name="node06.source-002.text"/>
            <p:cNvSpPr/>
            <p:nvPr/>
          </p:nvSpPr>
          <p:spPr>
            <a:xfrm>
              <a:off x="8191500" y="787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Lock subledgers</a:t>
              </a:r>
              <a:endParaRPr lang="en-US" sz="1200" spc="0" kern="0" b="0" i="0" dirty="0">
                <a:solidFill>
                  <a:srgbClr val="070154"/>
                </a:solidFill>
                <a:latin typeface="IBM Plex Sans"/>
                <a:ea typeface="IBM Plex Sans"/>
                <a:cs typeface="IBM Plex Sans"/>
              </a:endParaRPr>
            </a:p>
          </p:txBody>
        </p:sp>
        <p:sp>
          <p:nvSpPr>
            <p:cNvPr id="18" name="node06.source-003.bullet"/>
            <p:cNvSpPr/>
            <p:nvPr/>
          </p:nvSpPr>
          <p:spPr>
            <a:xfrm>
              <a:off x="8039100" y="1130300"/>
              <a:ext cx="38100" cy="38100"/>
            </a:xfrm>
            <a:prstGeom prst="rect">
              <a:avLst/>
            </a:prstGeom>
            <a:solidFill>
              <a:srgbClr val="070154"/>
            </a:solidFill>
            <a:ln>
              <a:noFill/>
            </a:ln>
          </p:spPr>
        </p:sp>
        <p:sp>
          <p:nvSpPr>
            <p:cNvPr id="19" name="node06.source-003.text"/>
            <p:cNvSpPr/>
            <p:nvPr/>
          </p:nvSpPr>
          <p:spPr>
            <a:xfrm>
              <a:off x="8191500" y="1041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Publish the freeze notice</a:t>
              </a:r>
              <a:endParaRPr lang="en-US" sz="1200" spc="0" kern="0" b="0" i="0" dirty="0">
                <a:solidFill>
                  <a:srgbClr val="070154"/>
                </a:solidFill>
                <a:latin typeface="IBM Plex Sans"/>
                <a:ea typeface="IBM Plex Sans"/>
                <a:cs typeface="IBM Plex Sans"/>
              </a:endParaRPr>
            </a:p>
          </p:txBody>
        </p:sp>
      </p:grpSp>
      <p:sp>
        <p:nvSpPr>
          <p:cNvPr id="20" name="node07"/>
          <p:cNvSpPr/>
          <p:nvPr/>
        </p:nvSpPr>
        <p:spPr>
          <a:xfrm>
            <a:off x="4381500" y="1828800"/>
            <a:ext cx="7086600" cy="9525"/>
          </a:xfrm>
          <a:prstGeom prst="rect">
            <a:avLst/>
          </a:prstGeom>
          <a:solidFill>
            <a:srgbClr val="CED7E6"/>
          </a:solidFill>
          <a:ln>
            <a:noFill/>
          </a:ln>
        </p:spPr>
      </p:sp>
      <p:grpSp>
        <p:nvGrpSpPr>
          <p:cNvPr id="57" name="node08"/>
          <p:cNvGrpSpPr/>
          <p:nvPr/>
        </p:nvGrpSpPr>
        <p:grpSpPr>
          <a:xfrm>
            <a:off x="4381500" y="1905000"/>
            <a:ext cx="3429000" cy="330200"/>
            <a:chOff x="4381500" y="1905000"/>
            <a:chExt cx="3429000" cy="330200"/>
          </a:xfrm>
        </p:grpSpPr>
        <p:sp>
          <p:nvSpPr>
            <p:cNvPr id="21" name="node08.number"/>
            <p:cNvSpPr/>
            <p:nvPr/>
          </p:nvSpPr>
          <p:spPr>
            <a:xfrm>
              <a:off x="4381500" y="1954784"/>
              <a:ext cx="123507"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2</a:t>
              </a:r>
              <a:endParaRPr lang="en-US" sz="1600" spc="0" kern="0" b="0" i="0" dirty="0">
                <a:solidFill>
                  <a:srgbClr val="0047FF"/>
                </a:solidFill>
                <a:latin typeface="IBM Plex Mono SemiBold"/>
                <a:ea typeface="IBM Plex Mono SemiBold"/>
                <a:cs typeface="IBM Plex Mono SemiBold"/>
              </a:endParaRPr>
            </a:p>
          </p:txBody>
        </p:sp>
        <p:sp>
          <p:nvSpPr>
            <p:cNvPr id="22" name="node08.text"/>
            <p:cNvSpPr/>
            <p:nvPr/>
          </p:nvSpPr>
          <p:spPr>
            <a:xfrm>
              <a:off x="4618038" y="1905000"/>
              <a:ext cx="3192463"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Take the final backup</a:t>
              </a:r>
              <a:endParaRPr lang="en-US" sz="2100" spc="-32" kern="0" b="0" i="0" dirty="0">
                <a:solidFill>
                  <a:srgbClr val="070154"/>
                </a:solidFill>
                <a:latin typeface="IBM Plex Sans SemiBold"/>
                <a:ea typeface="IBM Plex Sans SemiBold"/>
                <a:cs typeface="IBM Plex Sans SemiBold"/>
              </a:endParaRPr>
            </a:p>
          </p:txBody>
        </p:sp>
      </p:grpSp>
      <p:grpSp>
        <p:nvGrpSpPr>
          <p:cNvPr id="58" name="node09"/>
          <p:cNvGrpSpPr/>
          <p:nvPr/>
        </p:nvGrpSpPr>
        <p:grpSpPr>
          <a:xfrm>
            <a:off x="4381500" y="2743200"/>
            <a:ext cx="3429000" cy="190500"/>
            <a:chOff x="4381500" y="2743200"/>
            <a:chExt cx="3429000" cy="190500"/>
          </a:xfrm>
        </p:grpSpPr>
        <p:sp>
          <p:nvSpPr>
            <p:cNvPr id="23" name="node09.text"/>
            <p:cNvSpPr/>
            <p:nvPr/>
          </p:nvSpPr>
          <p:spPr>
            <a:xfrm>
              <a:off x="4381500" y="27432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Owner: Finance IT</a:t>
              </a:r>
              <a:endParaRPr lang="en-US" sz="1100" spc="0" kern="0" b="0" i="0" dirty="0">
                <a:solidFill>
                  <a:srgbClr val="070154"/>
                </a:solidFill>
                <a:latin typeface="IBM Plex Sans"/>
                <a:ea typeface="IBM Plex Sans"/>
                <a:cs typeface="IBM Plex Sans"/>
              </a:endParaRPr>
            </a:p>
          </p:txBody>
        </p:sp>
      </p:grpSp>
      <p:grpSp>
        <p:nvGrpSpPr>
          <p:cNvPr id="59" name="node10"/>
          <p:cNvGrpSpPr/>
          <p:nvPr/>
        </p:nvGrpSpPr>
        <p:grpSpPr>
          <a:xfrm>
            <a:off x="4381500" y="2971800"/>
            <a:ext cx="3429000" cy="190500"/>
            <a:chOff x="4381500" y="2971800"/>
            <a:chExt cx="3429000" cy="190500"/>
          </a:xfrm>
        </p:grpSpPr>
        <p:sp>
          <p:nvSpPr>
            <p:cNvPr id="24" name="node10.text"/>
            <p:cNvSpPr/>
            <p:nvPr/>
          </p:nvSpPr>
          <p:spPr>
            <a:xfrm>
              <a:off x="4381500" y="29718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Fri 18:30 · 1h</a:t>
              </a:r>
              <a:endParaRPr lang="en-US" sz="1100" spc="0" kern="0" b="0" i="0" dirty="0">
                <a:solidFill>
                  <a:srgbClr val="50658E"/>
                </a:solidFill>
                <a:latin typeface="IBM Plex Sans"/>
                <a:ea typeface="IBM Plex Sans"/>
                <a:cs typeface="IBM Plex Sans"/>
              </a:endParaRPr>
            </a:p>
          </p:txBody>
        </p:sp>
      </p:grpSp>
      <p:grpSp>
        <p:nvGrpSpPr>
          <p:cNvPr id="60" name="node11"/>
          <p:cNvGrpSpPr/>
          <p:nvPr/>
        </p:nvGrpSpPr>
        <p:grpSpPr>
          <a:xfrm>
            <a:off x="8039100" y="1905000"/>
            <a:ext cx="3429000" cy="469900"/>
            <a:chOff x="8039100" y="1905000"/>
            <a:chExt cx="3429000" cy="469900"/>
          </a:xfrm>
        </p:grpSpPr>
        <p:sp>
          <p:nvSpPr>
            <p:cNvPr id="25" name="node11.source-001.bullet"/>
            <p:cNvSpPr/>
            <p:nvPr/>
          </p:nvSpPr>
          <p:spPr>
            <a:xfrm>
              <a:off x="8039100" y="1993900"/>
              <a:ext cx="38100" cy="38100"/>
            </a:xfrm>
            <a:prstGeom prst="rect">
              <a:avLst/>
            </a:prstGeom>
            <a:solidFill>
              <a:srgbClr val="070154"/>
            </a:solidFill>
            <a:ln>
              <a:noFill/>
            </a:ln>
          </p:spPr>
        </p:sp>
        <p:sp>
          <p:nvSpPr>
            <p:cNvPr id="26" name="node11.source-001.text"/>
            <p:cNvSpPr/>
            <p:nvPr/>
          </p:nvSpPr>
          <p:spPr>
            <a:xfrm>
              <a:off x="8191500" y="1905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Snapshot the legacy ledger</a:t>
              </a:r>
              <a:endParaRPr lang="en-US" sz="1200" spc="0" kern="0" b="0" i="0" dirty="0">
                <a:solidFill>
                  <a:srgbClr val="070154"/>
                </a:solidFill>
                <a:latin typeface="IBM Plex Sans"/>
                <a:ea typeface="IBM Plex Sans"/>
                <a:cs typeface="IBM Plex Sans"/>
              </a:endParaRPr>
            </a:p>
          </p:txBody>
        </p:sp>
        <p:sp>
          <p:nvSpPr>
            <p:cNvPr id="27" name="node11.source-002.bullet"/>
            <p:cNvSpPr/>
            <p:nvPr/>
          </p:nvSpPr>
          <p:spPr>
            <a:xfrm>
              <a:off x="8039100" y="2247900"/>
              <a:ext cx="38100" cy="38100"/>
            </a:xfrm>
            <a:prstGeom prst="rect">
              <a:avLst/>
            </a:prstGeom>
            <a:solidFill>
              <a:srgbClr val="070154"/>
            </a:solidFill>
            <a:ln>
              <a:noFill/>
            </a:ln>
          </p:spPr>
        </p:sp>
        <p:sp>
          <p:nvSpPr>
            <p:cNvPr id="28" name="node11.source-002.text"/>
            <p:cNvSpPr/>
            <p:nvPr/>
          </p:nvSpPr>
          <p:spPr>
            <a:xfrm>
              <a:off x="8191500" y="2159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Verify checksums</a:t>
              </a:r>
              <a:endParaRPr lang="en-US" sz="1200" spc="0" kern="0" b="0" i="0" dirty="0">
                <a:solidFill>
                  <a:srgbClr val="070154"/>
                </a:solidFill>
                <a:latin typeface="IBM Plex Sans"/>
                <a:ea typeface="IBM Plex Sans"/>
                <a:cs typeface="IBM Plex Sans"/>
              </a:endParaRPr>
            </a:p>
          </p:txBody>
        </p:sp>
      </p:grpSp>
      <p:sp>
        <p:nvSpPr>
          <p:cNvPr id="29" name="node12"/>
          <p:cNvSpPr/>
          <p:nvPr/>
        </p:nvSpPr>
        <p:spPr>
          <a:xfrm>
            <a:off x="4381500" y="3200400"/>
            <a:ext cx="7086600" cy="9525"/>
          </a:xfrm>
          <a:prstGeom prst="rect">
            <a:avLst/>
          </a:prstGeom>
          <a:solidFill>
            <a:srgbClr val="CED7E6"/>
          </a:solidFill>
          <a:ln>
            <a:noFill/>
          </a:ln>
        </p:spPr>
      </p:sp>
      <p:grpSp>
        <p:nvGrpSpPr>
          <p:cNvPr id="61" name="node13"/>
          <p:cNvGrpSpPr/>
          <p:nvPr/>
        </p:nvGrpSpPr>
        <p:grpSpPr>
          <a:xfrm>
            <a:off x="4381500" y="3276600"/>
            <a:ext cx="3429000" cy="330200"/>
            <a:chOff x="4381500" y="3276600"/>
            <a:chExt cx="3429000" cy="330200"/>
          </a:xfrm>
        </p:grpSpPr>
        <p:sp>
          <p:nvSpPr>
            <p:cNvPr id="30" name="node13.number"/>
            <p:cNvSpPr/>
            <p:nvPr/>
          </p:nvSpPr>
          <p:spPr>
            <a:xfrm>
              <a:off x="4381500" y="3326384"/>
              <a:ext cx="123507"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3</a:t>
              </a:r>
              <a:endParaRPr lang="en-US" sz="1600" spc="0" kern="0" b="0" i="0" dirty="0">
                <a:solidFill>
                  <a:srgbClr val="0047FF"/>
                </a:solidFill>
                <a:latin typeface="IBM Plex Mono SemiBold"/>
                <a:ea typeface="IBM Plex Mono SemiBold"/>
                <a:cs typeface="IBM Plex Mono SemiBold"/>
              </a:endParaRPr>
            </a:p>
          </p:txBody>
        </p:sp>
        <p:sp>
          <p:nvSpPr>
            <p:cNvPr id="31" name="node13.text"/>
            <p:cNvSpPr/>
            <p:nvPr/>
          </p:nvSpPr>
          <p:spPr>
            <a:xfrm>
              <a:off x="4618038" y="3276600"/>
              <a:ext cx="3192463"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Extract open balances</a:t>
              </a:r>
              <a:endParaRPr lang="en-US" sz="2100" spc="-32" kern="0" b="0" i="0" dirty="0">
                <a:solidFill>
                  <a:srgbClr val="070154"/>
                </a:solidFill>
                <a:latin typeface="IBM Plex Sans SemiBold"/>
                <a:ea typeface="IBM Plex Sans SemiBold"/>
                <a:cs typeface="IBM Plex Sans SemiBold"/>
              </a:endParaRPr>
            </a:p>
          </p:txBody>
        </p:sp>
      </p:grpSp>
      <p:grpSp>
        <p:nvGrpSpPr>
          <p:cNvPr id="62" name="node14"/>
          <p:cNvGrpSpPr/>
          <p:nvPr/>
        </p:nvGrpSpPr>
        <p:grpSpPr>
          <a:xfrm>
            <a:off x="4381500" y="4114800"/>
            <a:ext cx="3429000" cy="190500"/>
            <a:chOff x="4381500" y="4114800"/>
            <a:chExt cx="3429000" cy="190500"/>
          </a:xfrm>
        </p:grpSpPr>
        <p:sp>
          <p:nvSpPr>
            <p:cNvPr id="32" name="node14.text"/>
            <p:cNvSpPr/>
            <p:nvPr/>
          </p:nvSpPr>
          <p:spPr>
            <a:xfrm>
              <a:off x="4381500" y="41148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Owner: Data lead</a:t>
              </a:r>
              <a:endParaRPr lang="en-US" sz="1100" spc="0" kern="0" b="0" i="0" dirty="0">
                <a:solidFill>
                  <a:srgbClr val="070154"/>
                </a:solidFill>
                <a:latin typeface="IBM Plex Sans"/>
                <a:ea typeface="IBM Plex Sans"/>
                <a:cs typeface="IBM Plex Sans"/>
              </a:endParaRPr>
            </a:p>
          </p:txBody>
        </p:sp>
      </p:grpSp>
      <p:grpSp>
        <p:nvGrpSpPr>
          <p:cNvPr id="63" name="node15"/>
          <p:cNvGrpSpPr/>
          <p:nvPr/>
        </p:nvGrpSpPr>
        <p:grpSpPr>
          <a:xfrm>
            <a:off x="4381500" y="4343400"/>
            <a:ext cx="3429000" cy="190500"/>
            <a:chOff x="4381500" y="4343400"/>
            <a:chExt cx="3429000" cy="190500"/>
          </a:xfrm>
        </p:grpSpPr>
        <p:sp>
          <p:nvSpPr>
            <p:cNvPr id="33" name="node15.text"/>
            <p:cNvSpPr/>
            <p:nvPr/>
          </p:nvSpPr>
          <p:spPr>
            <a:xfrm>
              <a:off x="4381500" y="43434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Fri 19:30 · 3h</a:t>
              </a:r>
              <a:endParaRPr lang="en-US" sz="1100" spc="0" kern="0" b="0" i="0" dirty="0">
                <a:solidFill>
                  <a:srgbClr val="50658E"/>
                </a:solidFill>
                <a:latin typeface="IBM Plex Sans"/>
                <a:ea typeface="IBM Plex Sans"/>
                <a:cs typeface="IBM Plex Sans"/>
              </a:endParaRPr>
            </a:p>
          </p:txBody>
        </p:sp>
      </p:grpSp>
      <p:grpSp>
        <p:nvGrpSpPr>
          <p:cNvPr id="64" name="node16"/>
          <p:cNvGrpSpPr/>
          <p:nvPr/>
        </p:nvGrpSpPr>
        <p:grpSpPr>
          <a:xfrm>
            <a:off x="8039100" y="3276600"/>
            <a:ext cx="3429000" cy="723900"/>
            <a:chOff x="8039100" y="3276600"/>
            <a:chExt cx="3429000" cy="723900"/>
          </a:xfrm>
        </p:grpSpPr>
        <p:sp>
          <p:nvSpPr>
            <p:cNvPr id="34" name="node16.source-001.bullet"/>
            <p:cNvSpPr/>
            <p:nvPr/>
          </p:nvSpPr>
          <p:spPr>
            <a:xfrm>
              <a:off x="8039100" y="3365500"/>
              <a:ext cx="38100" cy="38100"/>
            </a:xfrm>
            <a:prstGeom prst="rect">
              <a:avLst/>
            </a:prstGeom>
            <a:solidFill>
              <a:srgbClr val="070154"/>
            </a:solidFill>
            <a:ln>
              <a:noFill/>
            </a:ln>
          </p:spPr>
        </p:sp>
        <p:sp>
          <p:nvSpPr>
            <p:cNvPr id="35" name="node16.source-001.text"/>
            <p:cNvSpPr/>
            <p:nvPr/>
          </p:nvSpPr>
          <p:spPr>
            <a:xfrm>
              <a:off x="8191500" y="3276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 the extract jobs</a:t>
              </a:r>
              <a:endParaRPr lang="en-US" sz="1200" spc="0" kern="0" b="0" i="0" dirty="0">
                <a:solidFill>
                  <a:srgbClr val="070154"/>
                </a:solidFill>
                <a:latin typeface="IBM Plex Sans"/>
                <a:ea typeface="IBM Plex Sans"/>
                <a:cs typeface="IBM Plex Sans"/>
              </a:endParaRPr>
            </a:p>
          </p:txBody>
        </p:sp>
        <p:sp>
          <p:nvSpPr>
            <p:cNvPr id="36" name="node16.source-002.bullet"/>
            <p:cNvSpPr/>
            <p:nvPr/>
          </p:nvSpPr>
          <p:spPr>
            <a:xfrm>
              <a:off x="8039100" y="3619500"/>
              <a:ext cx="38100" cy="38100"/>
            </a:xfrm>
            <a:prstGeom prst="rect">
              <a:avLst/>
            </a:prstGeom>
            <a:solidFill>
              <a:srgbClr val="070154"/>
            </a:solidFill>
            <a:ln>
              <a:noFill/>
            </a:ln>
          </p:spPr>
        </p:sp>
        <p:sp>
          <p:nvSpPr>
            <p:cNvPr id="37" name="node16.source-002.text"/>
            <p:cNvSpPr/>
            <p:nvPr/>
          </p:nvSpPr>
          <p:spPr>
            <a:xfrm>
              <a:off x="8191500" y="3530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Tie to the trial balance</a:t>
              </a:r>
              <a:endParaRPr lang="en-US" sz="1200" spc="0" kern="0" b="0" i="0" dirty="0">
                <a:solidFill>
                  <a:srgbClr val="070154"/>
                </a:solidFill>
                <a:latin typeface="IBM Plex Sans"/>
                <a:ea typeface="IBM Plex Sans"/>
                <a:cs typeface="IBM Plex Sans"/>
              </a:endParaRPr>
            </a:p>
          </p:txBody>
        </p:sp>
        <p:sp>
          <p:nvSpPr>
            <p:cNvPr id="38" name="node16.source-003.bullet"/>
            <p:cNvSpPr/>
            <p:nvPr/>
          </p:nvSpPr>
          <p:spPr>
            <a:xfrm>
              <a:off x="8039100" y="3873500"/>
              <a:ext cx="38100" cy="38100"/>
            </a:xfrm>
            <a:prstGeom prst="rect">
              <a:avLst/>
            </a:prstGeom>
            <a:solidFill>
              <a:srgbClr val="070154"/>
            </a:solidFill>
            <a:ln>
              <a:noFill/>
            </a:ln>
          </p:spPr>
        </p:sp>
        <p:sp>
          <p:nvSpPr>
            <p:cNvPr id="39" name="node16.source-003.text"/>
            <p:cNvSpPr/>
            <p:nvPr/>
          </p:nvSpPr>
          <p:spPr>
            <a:xfrm>
              <a:off x="8191500" y="378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Log variances</a:t>
              </a:r>
              <a:endParaRPr lang="en-US" sz="1200" spc="0" kern="0" b="0" i="0" dirty="0">
                <a:solidFill>
                  <a:srgbClr val="070154"/>
                </a:solidFill>
                <a:latin typeface="IBM Plex Sans"/>
                <a:ea typeface="IBM Plex Sans"/>
                <a:cs typeface="IBM Plex Sans"/>
              </a:endParaRPr>
            </a:p>
          </p:txBody>
        </p:sp>
      </p:grpSp>
      <p:sp>
        <p:nvSpPr>
          <p:cNvPr id="40" name="node17"/>
          <p:cNvSpPr/>
          <p:nvPr/>
        </p:nvSpPr>
        <p:spPr>
          <a:xfrm>
            <a:off x="4381500" y="4572000"/>
            <a:ext cx="7086600" cy="9525"/>
          </a:xfrm>
          <a:prstGeom prst="rect">
            <a:avLst/>
          </a:prstGeom>
          <a:solidFill>
            <a:srgbClr val="CED7E6"/>
          </a:solidFill>
          <a:ln>
            <a:noFill/>
          </a:ln>
        </p:spPr>
      </p:sp>
      <p:grpSp>
        <p:nvGrpSpPr>
          <p:cNvPr id="65" name="node18"/>
          <p:cNvGrpSpPr/>
          <p:nvPr/>
        </p:nvGrpSpPr>
        <p:grpSpPr>
          <a:xfrm>
            <a:off x="4381500" y="4648200"/>
            <a:ext cx="3429000" cy="330200"/>
            <a:chOff x="4381500" y="4648200"/>
            <a:chExt cx="3429000" cy="330200"/>
          </a:xfrm>
        </p:grpSpPr>
        <p:sp>
          <p:nvSpPr>
            <p:cNvPr id="41" name="node18.number"/>
            <p:cNvSpPr/>
            <p:nvPr/>
          </p:nvSpPr>
          <p:spPr>
            <a:xfrm>
              <a:off x="4381500" y="4697984"/>
              <a:ext cx="123507"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4</a:t>
              </a:r>
              <a:endParaRPr lang="en-US" sz="1600" spc="0" kern="0" b="0" i="0" dirty="0">
                <a:solidFill>
                  <a:srgbClr val="0047FF"/>
                </a:solidFill>
                <a:latin typeface="IBM Plex Mono SemiBold"/>
                <a:ea typeface="IBM Plex Mono SemiBold"/>
                <a:cs typeface="IBM Plex Mono SemiBold"/>
              </a:endParaRPr>
            </a:p>
          </p:txBody>
        </p:sp>
        <p:sp>
          <p:nvSpPr>
            <p:cNvPr id="42" name="node18.text"/>
            <p:cNvSpPr/>
            <p:nvPr/>
          </p:nvSpPr>
          <p:spPr>
            <a:xfrm>
              <a:off x="4618038" y="4648200"/>
              <a:ext cx="3192463"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Load the new ledger</a:t>
              </a:r>
              <a:endParaRPr lang="en-US" sz="2100" spc="-32" kern="0" b="0" i="0" dirty="0">
                <a:solidFill>
                  <a:srgbClr val="070154"/>
                </a:solidFill>
                <a:latin typeface="IBM Plex Sans SemiBold"/>
                <a:ea typeface="IBM Plex Sans SemiBold"/>
                <a:cs typeface="IBM Plex Sans SemiBold"/>
              </a:endParaRPr>
            </a:p>
          </p:txBody>
        </p:sp>
      </p:grpSp>
      <p:grpSp>
        <p:nvGrpSpPr>
          <p:cNvPr id="66" name="node19"/>
          <p:cNvGrpSpPr/>
          <p:nvPr/>
        </p:nvGrpSpPr>
        <p:grpSpPr>
          <a:xfrm>
            <a:off x="4381500" y="5486400"/>
            <a:ext cx="3429000" cy="190500"/>
            <a:chOff x="4381500" y="5486400"/>
            <a:chExt cx="3429000" cy="190500"/>
          </a:xfrm>
        </p:grpSpPr>
        <p:sp>
          <p:nvSpPr>
            <p:cNvPr id="43" name="node19.text"/>
            <p:cNvSpPr/>
            <p:nvPr/>
          </p:nvSpPr>
          <p:spPr>
            <a:xfrm>
              <a:off x="4381500" y="54864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Owner: Finance IT</a:t>
              </a:r>
              <a:endParaRPr lang="en-US" sz="1100" spc="0" kern="0" b="0" i="0" dirty="0">
                <a:solidFill>
                  <a:srgbClr val="070154"/>
                </a:solidFill>
                <a:latin typeface="IBM Plex Sans"/>
                <a:ea typeface="IBM Plex Sans"/>
                <a:cs typeface="IBM Plex Sans"/>
              </a:endParaRPr>
            </a:p>
          </p:txBody>
        </p:sp>
      </p:grpSp>
      <p:grpSp>
        <p:nvGrpSpPr>
          <p:cNvPr id="67" name="node20"/>
          <p:cNvGrpSpPr/>
          <p:nvPr/>
        </p:nvGrpSpPr>
        <p:grpSpPr>
          <a:xfrm>
            <a:off x="4381500" y="5715000"/>
            <a:ext cx="3429000" cy="190500"/>
            <a:chOff x="4381500" y="5715000"/>
            <a:chExt cx="3429000" cy="190500"/>
          </a:xfrm>
        </p:grpSpPr>
        <p:sp>
          <p:nvSpPr>
            <p:cNvPr id="44" name="node20.text"/>
            <p:cNvSpPr/>
            <p:nvPr/>
          </p:nvSpPr>
          <p:spPr>
            <a:xfrm>
              <a:off x="4381500" y="57150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Fri 22:30 · 2h</a:t>
              </a:r>
              <a:endParaRPr lang="en-US" sz="1100" spc="0" kern="0" b="0" i="0" dirty="0">
                <a:solidFill>
                  <a:srgbClr val="50658E"/>
                </a:solidFill>
                <a:latin typeface="IBM Plex Sans"/>
                <a:ea typeface="IBM Plex Sans"/>
                <a:cs typeface="IBM Plex Sans"/>
              </a:endParaRPr>
            </a:p>
          </p:txBody>
        </p:sp>
      </p:grpSp>
      <p:grpSp>
        <p:nvGrpSpPr>
          <p:cNvPr id="68" name="node21"/>
          <p:cNvGrpSpPr/>
          <p:nvPr/>
        </p:nvGrpSpPr>
        <p:grpSpPr>
          <a:xfrm>
            <a:off x="8039100" y="4648200"/>
            <a:ext cx="3429000" cy="723900"/>
            <a:chOff x="8039100" y="4648200"/>
            <a:chExt cx="3429000" cy="723900"/>
          </a:xfrm>
        </p:grpSpPr>
        <p:sp>
          <p:nvSpPr>
            <p:cNvPr id="45" name="node21.source-001.bullet"/>
            <p:cNvSpPr/>
            <p:nvPr/>
          </p:nvSpPr>
          <p:spPr>
            <a:xfrm>
              <a:off x="8039100" y="4737100"/>
              <a:ext cx="38100" cy="38100"/>
            </a:xfrm>
            <a:prstGeom prst="rect">
              <a:avLst/>
            </a:prstGeom>
            <a:solidFill>
              <a:srgbClr val="070154"/>
            </a:solidFill>
            <a:ln>
              <a:noFill/>
            </a:ln>
          </p:spPr>
        </p:sp>
        <p:sp>
          <p:nvSpPr>
            <p:cNvPr id="46" name="node21.source-001.text"/>
            <p:cNvSpPr/>
            <p:nvPr/>
          </p:nvSpPr>
          <p:spPr>
            <a:xfrm>
              <a:off x="8191500" y="4648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Load by entity</a:t>
              </a:r>
              <a:endParaRPr lang="en-US" sz="1200" spc="0" kern="0" b="0" i="0" dirty="0">
                <a:solidFill>
                  <a:srgbClr val="070154"/>
                </a:solidFill>
                <a:latin typeface="IBM Plex Sans"/>
                <a:ea typeface="IBM Plex Sans"/>
                <a:cs typeface="IBM Plex Sans"/>
              </a:endParaRPr>
            </a:p>
          </p:txBody>
        </p:sp>
        <p:sp>
          <p:nvSpPr>
            <p:cNvPr id="47" name="node21.source-002.bullet"/>
            <p:cNvSpPr/>
            <p:nvPr/>
          </p:nvSpPr>
          <p:spPr>
            <a:xfrm>
              <a:off x="8039100" y="4991100"/>
              <a:ext cx="38100" cy="38100"/>
            </a:xfrm>
            <a:prstGeom prst="rect">
              <a:avLst/>
            </a:prstGeom>
            <a:solidFill>
              <a:srgbClr val="070154"/>
            </a:solidFill>
            <a:ln>
              <a:noFill/>
            </a:ln>
          </p:spPr>
        </p:sp>
        <p:sp>
          <p:nvSpPr>
            <p:cNvPr id="48" name="node21.source-002.text"/>
            <p:cNvSpPr/>
            <p:nvPr/>
          </p:nvSpPr>
          <p:spPr>
            <a:xfrm>
              <a:off x="8191500" y="4902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Check counts and totals</a:t>
              </a:r>
              <a:endParaRPr lang="en-US" sz="1200" spc="0" kern="0" b="0" i="0" dirty="0">
                <a:solidFill>
                  <a:srgbClr val="070154"/>
                </a:solidFill>
                <a:latin typeface="IBM Plex Sans"/>
                <a:ea typeface="IBM Plex Sans"/>
                <a:cs typeface="IBM Plex Sans"/>
              </a:endParaRPr>
            </a:p>
          </p:txBody>
        </p:sp>
        <p:sp>
          <p:nvSpPr>
            <p:cNvPr id="49" name="node21.source-003.bullet"/>
            <p:cNvSpPr/>
            <p:nvPr/>
          </p:nvSpPr>
          <p:spPr>
            <a:xfrm>
              <a:off x="8039100" y="5245100"/>
              <a:ext cx="38100" cy="38100"/>
            </a:xfrm>
            <a:prstGeom prst="rect">
              <a:avLst/>
            </a:prstGeom>
            <a:solidFill>
              <a:srgbClr val="070154"/>
            </a:solidFill>
            <a:ln>
              <a:noFill/>
            </a:ln>
          </p:spPr>
        </p:sp>
        <p:sp>
          <p:nvSpPr>
            <p:cNvPr id="50" name="node21.source-003.text"/>
            <p:cNvSpPr/>
            <p:nvPr/>
          </p:nvSpPr>
          <p:spPr>
            <a:xfrm>
              <a:off x="8191500" y="5156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Park rejected rows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ource-482">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2"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51614" y="1536192"/>
            <a:ext cx="1055965" cy="95266"/>
          </a:xfrm>
          <a:prstGeom prst="rect">
            <a:avLst/>
          </a:prstGeom>
        </p:spPr>
      </p:pic>
      <p:sp>
        <p:nvSpPr>
          <p:cNvPr id="5"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Steps 1 to 4 lock the legacy ledger and </a:t>
            </a:r>
            <a:br>
              <a:rPr lang="en-US" sz="3200" spc="-64" kern="0" b="0" i="0" dirty="0">
                <a:solidFill>
                  <a:srgbClr val="070154"/>
                </a:solidFill>
                <a:latin typeface="IBM Plex Sans SemiBold"/>
                <a:ea typeface="IBM Plex Sans SemiBold"/>
                <a:cs typeface="IBM Plex Sans SemiBold"/>
              </a:rPr>
            </a:br>
            <a:r>
              <a:rPr lang="en-US" sz="3200" spc="-64" kern="0" b="0" i="0" dirty="0">
                <a:solidFill>
                  <a:srgbClr val="070154"/>
                </a:solidFill>
                <a:latin typeface="IBM Plex Sans SemiBold"/>
                <a:ea typeface="IBM Plex Sans SemiBold"/>
                <a:cs typeface="IBM Plex Sans SemiBold"/>
              </a:rPr>
              <a:t xml:space="preserve">move</a:t>
            </a:r>
            <a:r>
              <a:rPr lang="en-US" sz="3200" spc="-64" kern="0" b="0" i="0" dirty="0">
                <a:solidFill>
                  <a:srgbClr val="070154"/>
                </a:solidFill>
                <a:latin typeface="IBM Plex Sans SemiBold"/>
                <a:ea typeface="IBM Plex Sans SemiBold"/>
                <a:cs typeface="IBM Plex Sans SemiBold"/>
              </a:rPr>
              <a:t xml:space="preserve"> its balances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193</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4381500" y="2057400"/>
            <a:ext cx="3429000" cy="330200"/>
            <a:chOff x="4381500" y="2057400"/>
            <a:chExt cx="3429000" cy="330200"/>
          </a:xfrm>
        </p:grpSpPr>
        <p:sp>
          <p:nvSpPr>
            <p:cNvPr id="7" name="node01.number"/>
            <p:cNvSpPr/>
            <p:nvPr/>
          </p:nvSpPr>
          <p:spPr>
            <a:xfrm>
              <a:off x="4381500" y="2107184"/>
              <a:ext cx="123507"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1</a:t>
              </a:r>
              <a:endParaRPr lang="en-US" sz="1600" spc="0" kern="0" b="0" i="0" dirty="0">
                <a:solidFill>
                  <a:srgbClr val="0047FF"/>
                </a:solidFill>
                <a:latin typeface="IBM Plex Mono SemiBold"/>
                <a:ea typeface="IBM Plex Mono SemiBold"/>
                <a:cs typeface="IBM Plex Mono SemiBold"/>
              </a:endParaRPr>
            </a:p>
          </p:txBody>
        </p:sp>
        <p:sp>
          <p:nvSpPr>
            <p:cNvPr id="8" name="node01.text"/>
            <p:cNvSpPr/>
            <p:nvPr/>
          </p:nvSpPr>
          <p:spPr>
            <a:xfrm>
              <a:off x="4618038" y="2057400"/>
              <a:ext cx="3192463"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Freeze legacy postings</a:t>
              </a:r>
              <a:endParaRPr lang="en-US" sz="2100" spc="-32" kern="0" b="0" i="0" dirty="0">
                <a:solidFill>
                  <a:srgbClr val="070154"/>
                </a:solidFill>
                <a:latin typeface="IBM Plex Sans SemiBold"/>
                <a:ea typeface="IBM Plex Sans SemiBold"/>
                <a:cs typeface="IBM Plex Sans SemiBold"/>
              </a:endParaRPr>
            </a:p>
          </p:txBody>
        </p:sp>
      </p:grpSp>
      <p:grpSp>
        <p:nvGrpSpPr>
          <p:cNvPr id="53" name="node02"/>
          <p:cNvGrpSpPr/>
          <p:nvPr/>
        </p:nvGrpSpPr>
        <p:grpSpPr>
          <a:xfrm>
            <a:off x="4381500" y="2514600"/>
            <a:ext cx="3429000" cy="190500"/>
            <a:chOff x="4381500" y="2514600"/>
            <a:chExt cx="3429000" cy="190500"/>
          </a:xfrm>
        </p:grpSpPr>
        <p:sp>
          <p:nvSpPr>
            <p:cNvPr id="9" name="node02.text"/>
            <p:cNvSpPr/>
            <p:nvPr/>
          </p:nvSpPr>
          <p:spPr>
            <a:xfrm>
              <a:off x="4381500" y="25146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Controller · Fri 18:00 · 30m</a:t>
              </a:r>
              <a:endParaRPr lang="en-US" sz="1100" spc="0" kern="0" b="0" i="0" dirty="0">
                <a:solidFill>
                  <a:srgbClr val="070154"/>
                </a:solidFill>
                <a:latin typeface="IBM Plex Sans"/>
                <a:ea typeface="IBM Plex Sans"/>
                <a:cs typeface="IBM Plex Sans"/>
              </a:endParaRPr>
            </a:p>
          </p:txBody>
        </p:sp>
      </p:grpSp>
      <p:grpSp>
        <p:nvGrpSpPr>
          <p:cNvPr id="54" name="node03"/>
          <p:cNvGrpSpPr/>
          <p:nvPr/>
        </p:nvGrpSpPr>
        <p:grpSpPr>
          <a:xfrm>
            <a:off x="8039100" y="2019300"/>
            <a:ext cx="3429000" cy="723900"/>
            <a:chOff x="8039100" y="2019300"/>
            <a:chExt cx="3429000" cy="723900"/>
          </a:xfrm>
        </p:grpSpPr>
        <p:sp>
          <p:nvSpPr>
            <p:cNvPr id="10" name="node03.source-001.bullet"/>
            <p:cNvSpPr/>
            <p:nvPr/>
          </p:nvSpPr>
          <p:spPr>
            <a:xfrm>
              <a:off x="8039100" y="2108200"/>
              <a:ext cx="38100" cy="38100"/>
            </a:xfrm>
            <a:prstGeom prst="rect">
              <a:avLst/>
            </a:prstGeom>
            <a:solidFill>
              <a:srgbClr val="070154"/>
            </a:solidFill>
            <a:ln>
              <a:noFill/>
            </a:ln>
          </p:spPr>
        </p:sp>
        <p:sp>
          <p:nvSpPr>
            <p:cNvPr id="11" name="node03.source-001.text"/>
            <p:cNvSpPr/>
            <p:nvPr/>
          </p:nvSpPr>
          <p:spPr>
            <a:xfrm>
              <a:off x="8191500" y="20193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open batches</a:t>
              </a:r>
              <a:endParaRPr lang="en-US" sz="1200" spc="0" kern="0" b="0" i="0" dirty="0">
                <a:solidFill>
                  <a:srgbClr val="070154"/>
                </a:solidFill>
                <a:latin typeface="IBM Plex Sans"/>
                <a:ea typeface="IBM Plex Sans"/>
                <a:cs typeface="IBM Plex Sans"/>
              </a:endParaRPr>
            </a:p>
          </p:txBody>
        </p:sp>
        <p:sp>
          <p:nvSpPr>
            <p:cNvPr id="12" name="node03.source-002.bullet"/>
            <p:cNvSpPr/>
            <p:nvPr/>
          </p:nvSpPr>
          <p:spPr>
            <a:xfrm>
              <a:off x="8039100" y="2362200"/>
              <a:ext cx="38100" cy="38100"/>
            </a:xfrm>
            <a:prstGeom prst="rect">
              <a:avLst/>
            </a:prstGeom>
            <a:solidFill>
              <a:srgbClr val="070154"/>
            </a:solidFill>
            <a:ln>
              <a:noFill/>
            </a:ln>
          </p:spPr>
        </p:sp>
        <p:sp>
          <p:nvSpPr>
            <p:cNvPr id="13" name="node03.source-002.text"/>
            <p:cNvSpPr/>
            <p:nvPr/>
          </p:nvSpPr>
          <p:spPr>
            <a:xfrm>
              <a:off x="8191500" y="22733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Lock subledgers</a:t>
              </a:r>
              <a:endParaRPr lang="en-US" sz="1200" spc="0" kern="0" b="0" i="0" dirty="0">
                <a:solidFill>
                  <a:srgbClr val="070154"/>
                </a:solidFill>
                <a:latin typeface="IBM Plex Sans"/>
                <a:ea typeface="IBM Plex Sans"/>
                <a:cs typeface="IBM Plex Sans"/>
              </a:endParaRPr>
            </a:p>
          </p:txBody>
        </p:sp>
        <p:sp>
          <p:nvSpPr>
            <p:cNvPr id="14" name="node03.source-003.bullet"/>
            <p:cNvSpPr/>
            <p:nvPr/>
          </p:nvSpPr>
          <p:spPr>
            <a:xfrm>
              <a:off x="8039100" y="2616200"/>
              <a:ext cx="38100" cy="38100"/>
            </a:xfrm>
            <a:prstGeom prst="rect">
              <a:avLst/>
            </a:prstGeom>
            <a:solidFill>
              <a:srgbClr val="070154"/>
            </a:solidFill>
            <a:ln>
              <a:noFill/>
            </a:ln>
          </p:spPr>
        </p:sp>
        <p:sp>
          <p:nvSpPr>
            <p:cNvPr id="15" name="node03.source-003.text"/>
            <p:cNvSpPr/>
            <p:nvPr/>
          </p:nvSpPr>
          <p:spPr>
            <a:xfrm>
              <a:off x="8191500" y="25273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Publish the freeze notice</a:t>
              </a:r>
              <a:endParaRPr lang="en-US" sz="1200" spc="0" kern="0" b="0" i="0" dirty="0">
                <a:solidFill>
                  <a:srgbClr val="070154"/>
                </a:solidFill>
                <a:latin typeface="IBM Plex Sans"/>
                <a:ea typeface="IBM Plex Sans"/>
                <a:cs typeface="IBM Plex Sans"/>
              </a:endParaRPr>
            </a:p>
          </p:txBody>
        </p:sp>
      </p:grpSp>
      <p:sp>
        <p:nvSpPr>
          <p:cNvPr id="16" name="node04"/>
          <p:cNvSpPr/>
          <p:nvPr/>
        </p:nvSpPr>
        <p:spPr>
          <a:xfrm>
            <a:off x="4381500" y="2857500"/>
            <a:ext cx="7086600" cy="9525"/>
          </a:xfrm>
          <a:prstGeom prst="rect">
            <a:avLst/>
          </a:prstGeom>
          <a:solidFill>
            <a:srgbClr val="CED7E6"/>
          </a:solidFill>
          <a:ln>
            <a:noFill/>
          </a:ln>
        </p:spPr>
      </p:sp>
      <p:grpSp>
        <p:nvGrpSpPr>
          <p:cNvPr id="55" name="node05"/>
          <p:cNvGrpSpPr/>
          <p:nvPr/>
        </p:nvGrpSpPr>
        <p:grpSpPr>
          <a:xfrm>
            <a:off x="4381500" y="2971800"/>
            <a:ext cx="3429000" cy="330200"/>
            <a:chOff x="4381500" y="2971800"/>
            <a:chExt cx="3429000" cy="330200"/>
          </a:xfrm>
        </p:grpSpPr>
        <p:sp>
          <p:nvSpPr>
            <p:cNvPr id="17" name="node05.number"/>
            <p:cNvSpPr/>
            <p:nvPr/>
          </p:nvSpPr>
          <p:spPr>
            <a:xfrm>
              <a:off x="4381500" y="3021584"/>
              <a:ext cx="123507"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2</a:t>
              </a:r>
              <a:endParaRPr lang="en-US" sz="1600" spc="0" kern="0" b="0" i="0" dirty="0">
                <a:solidFill>
                  <a:srgbClr val="0047FF"/>
                </a:solidFill>
                <a:latin typeface="IBM Plex Mono SemiBold"/>
                <a:ea typeface="IBM Plex Mono SemiBold"/>
                <a:cs typeface="IBM Plex Mono SemiBold"/>
              </a:endParaRPr>
            </a:p>
          </p:txBody>
        </p:sp>
        <p:sp>
          <p:nvSpPr>
            <p:cNvPr id="18" name="node05.text"/>
            <p:cNvSpPr/>
            <p:nvPr/>
          </p:nvSpPr>
          <p:spPr>
            <a:xfrm>
              <a:off x="4618038" y="2971800"/>
              <a:ext cx="3192463"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Take the final backup</a:t>
              </a:r>
              <a:endParaRPr lang="en-US" sz="2100" spc="-32" kern="0" b="0" i="0" dirty="0">
                <a:solidFill>
                  <a:srgbClr val="070154"/>
                </a:solidFill>
                <a:latin typeface="IBM Plex Sans SemiBold"/>
                <a:ea typeface="IBM Plex Sans SemiBold"/>
                <a:cs typeface="IBM Plex Sans SemiBold"/>
              </a:endParaRPr>
            </a:p>
          </p:txBody>
        </p:sp>
      </p:grpSp>
      <p:grpSp>
        <p:nvGrpSpPr>
          <p:cNvPr id="56" name="node06"/>
          <p:cNvGrpSpPr/>
          <p:nvPr/>
        </p:nvGrpSpPr>
        <p:grpSpPr>
          <a:xfrm>
            <a:off x="4381500" y="3429000"/>
            <a:ext cx="3429000" cy="190500"/>
            <a:chOff x="4381500" y="3429000"/>
            <a:chExt cx="3429000" cy="190500"/>
          </a:xfrm>
        </p:grpSpPr>
        <p:sp>
          <p:nvSpPr>
            <p:cNvPr id="19" name="node06.text"/>
            <p:cNvSpPr/>
            <p:nvPr/>
          </p:nvSpPr>
          <p:spPr>
            <a:xfrm>
              <a:off x="4381500" y="34290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Finance IT · Fri 18:30 · 1h</a:t>
              </a:r>
              <a:endParaRPr lang="en-US" sz="1100" spc="0" kern="0" b="0" i="0" dirty="0">
                <a:solidFill>
                  <a:srgbClr val="070154"/>
                </a:solidFill>
                <a:latin typeface="IBM Plex Sans"/>
                <a:ea typeface="IBM Plex Sans"/>
                <a:cs typeface="IBM Plex Sans"/>
              </a:endParaRPr>
            </a:p>
          </p:txBody>
        </p:sp>
      </p:grpSp>
      <p:grpSp>
        <p:nvGrpSpPr>
          <p:cNvPr id="57" name="node07"/>
          <p:cNvGrpSpPr/>
          <p:nvPr/>
        </p:nvGrpSpPr>
        <p:grpSpPr>
          <a:xfrm>
            <a:off x="8039100" y="2933700"/>
            <a:ext cx="3429000" cy="469900"/>
            <a:chOff x="8039100" y="2933700"/>
            <a:chExt cx="3429000" cy="469900"/>
          </a:xfrm>
        </p:grpSpPr>
        <p:sp>
          <p:nvSpPr>
            <p:cNvPr id="20" name="node07.source-001.bullet"/>
            <p:cNvSpPr/>
            <p:nvPr/>
          </p:nvSpPr>
          <p:spPr>
            <a:xfrm>
              <a:off x="8039100" y="3022600"/>
              <a:ext cx="38100" cy="38100"/>
            </a:xfrm>
            <a:prstGeom prst="rect">
              <a:avLst/>
            </a:prstGeom>
            <a:solidFill>
              <a:srgbClr val="070154"/>
            </a:solidFill>
            <a:ln>
              <a:noFill/>
            </a:ln>
          </p:spPr>
        </p:sp>
        <p:sp>
          <p:nvSpPr>
            <p:cNvPr id="21" name="node07.source-001.text"/>
            <p:cNvSpPr/>
            <p:nvPr/>
          </p:nvSpPr>
          <p:spPr>
            <a:xfrm>
              <a:off x="8191500" y="29337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Snapshot the legacy ledger</a:t>
              </a:r>
              <a:endParaRPr lang="en-US" sz="1200" spc="0" kern="0" b="0" i="0" dirty="0">
                <a:solidFill>
                  <a:srgbClr val="070154"/>
                </a:solidFill>
                <a:latin typeface="IBM Plex Sans"/>
                <a:ea typeface="IBM Plex Sans"/>
                <a:cs typeface="IBM Plex Sans"/>
              </a:endParaRPr>
            </a:p>
          </p:txBody>
        </p:sp>
        <p:sp>
          <p:nvSpPr>
            <p:cNvPr id="22" name="node07.source-002.bullet"/>
            <p:cNvSpPr/>
            <p:nvPr/>
          </p:nvSpPr>
          <p:spPr>
            <a:xfrm>
              <a:off x="8039100" y="3276600"/>
              <a:ext cx="38100" cy="38100"/>
            </a:xfrm>
            <a:prstGeom prst="rect">
              <a:avLst/>
            </a:prstGeom>
            <a:solidFill>
              <a:srgbClr val="070154"/>
            </a:solidFill>
            <a:ln>
              <a:noFill/>
            </a:ln>
          </p:spPr>
        </p:sp>
        <p:sp>
          <p:nvSpPr>
            <p:cNvPr id="23" name="node07.source-002.text"/>
            <p:cNvSpPr/>
            <p:nvPr/>
          </p:nvSpPr>
          <p:spPr>
            <a:xfrm>
              <a:off x="8191500" y="31877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Verify checksums</a:t>
              </a:r>
              <a:endParaRPr lang="en-US" sz="1200" spc="0" kern="0" b="0" i="0" dirty="0">
                <a:solidFill>
                  <a:srgbClr val="070154"/>
                </a:solidFill>
                <a:latin typeface="IBM Plex Sans"/>
                <a:ea typeface="IBM Plex Sans"/>
                <a:cs typeface="IBM Plex Sans"/>
              </a:endParaRPr>
            </a:p>
          </p:txBody>
        </p:sp>
      </p:grpSp>
      <p:sp>
        <p:nvSpPr>
          <p:cNvPr id="24" name="node08"/>
          <p:cNvSpPr/>
          <p:nvPr/>
        </p:nvSpPr>
        <p:spPr>
          <a:xfrm>
            <a:off x="4381500" y="3771900"/>
            <a:ext cx="7086600" cy="9525"/>
          </a:xfrm>
          <a:prstGeom prst="rect">
            <a:avLst/>
          </a:prstGeom>
          <a:solidFill>
            <a:srgbClr val="CED7E6"/>
          </a:solidFill>
          <a:ln>
            <a:noFill/>
          </a:ln>
        </p:spPr>
      </p:sp>
      <p:grpSp>
        <p:nvGrpSpPr>
          <p:cNvPr id="58" name="node09"/>
          <p:cNvGrpSpPr/>
          <p:nvPr/>
        </p:nvGrpSpPr>
        <p:grpSpPr>
          <a:xfrm>
            <a:off x="4381500" y="3886200"/>
            <a:ext cx="3429000" cy="330200"/>
            <a:chOff x="4381500" y="3886200"/>
            <a:chExt cx="3429000" cy="330200"/>
          </a:xfrm>
        </p:grpSpPr>
        <p:sp>
          <p:nvSpPr>
            <p:cNvPr id="25" name="node09.number"/>
            <p:cNvSpPr/>
            <p:nvPr/>
          </p:nvSpPr>
          <p:spPr>
            <a:xfrm>
              <a:off x="4381500" y="3935984"/>
              <a:ext cx="123507"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3</a:t>
              </a:r>
              <a:endParaRPr lang="en-US" sz="1600" spc="0" kern="0" b="0" i="0" dirty="0">
                <a:solidFill>
                  <a:srgbClr val="0047FF"/>
                </a:solidFill>
                <a:latin typeface="IBM Plex Mono SemiBold"/>
                <a:ea typeface="IBM Plex Mono SemiBold"/>
                <a:cs typeface="IBM Plex Mono SemiBold"/>
              </a:endParaRPr>
            </a:p>
          </p:txBody>
        </p:sp>
        <p:sp>
          <p:nvSpPr>
            <p:cNvPr id="26" name="node09.text"/>
            <p:cNvSpPr/>
            <p:nvPr/>
          </p:nvSpPr>
          <p:spPr>
            <a:xfrm>
              <a:off x="4618038" y="3886200"/>
              <a:ext cx="3192463"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Extract open balances</a:t>
              </a:r>
              <a:endParaRPr lang="en-US" sz="2100" spc="-32" kern="0" b="0" i="0" dirty="0">
                <a:solidFill>
                  <a:srgbClr val="070154"/>
                </a:solidFill>
                <a:latin typeface="IBM Plex Sans SemiBold"/>
                <a:ea typeface="IBM Plex Sans SemiBold"/>
                <a:cs typeface="IBM Plex Sans SemiBold"/>
              </a:endParaRPr>
            </a:p>
          </p:txBody>
        </p:sp>
      </p:grpSp>
      <p:grpSp>
        <p:nvGrpSpPr>
          <p:cNvPr id="59" name="node10"/>
          <p:cNvGrpSpPr/>
          <p:nvPr/>
        </p:nvGrpSpPr>
        <p:grpSpPr>
          <a:xfrm>
            <a:off x="4381500" y="4343400"/>
            <a:ext cx="3429000" cy="190500"/>
            <a:chOff x="4381500" y="4343400"/>
            <a:chExt cx="3429000" cy="190500"/>
          </a:xfrm>
        </p:grpSpPr>
        <p:sp>
          <p:nvSpPr>
            <p:cNvPr id="27" name="node10.text"/>
            <p:cNvSpPr/>
            <p:nvPr/>
          </p:nvSpPr>
          <p:spPr>
            <a:xfrm>
              <a:off x="4381500" y="43434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Data lead · Fri 19:30 · 3h</a:t>
              </a:r>
              <a:endParaRPr lang="en-US" sz="1100" spc="0" kern="0" b="0" i="0" dirty="0">
                <a:solidFill>
                  <a:srgbClr val="070154"/>
                </a:solidFill>
                <a:latin typeface="IBM Plex Sans"/>
                <a:ea typeface="IBM Plex Sans"/>
                <a:cs typeface="IBM Plex Sans"/>
              </a:endParaRPr>
            </a:p>
          </p:txBody>
        </p:sp>
      </p:grpSp>
      <p:grpSp>
        <p:nvGrpSpPr>
          <p:cNvPr id="60" name="node11"/>
          <p:cNvGrpSpPr/>
          <p:nvPr/>
        </p:nvGrpSpPr>
        <p:grpSpPr>
          <a:xfrm>
            <a:off x="8039100" y="3848100"/>
            <a:ext cx="3429000" cy="723900"/>
            <a:chOff x="8039100" y="3848100"/>
            <a:chExt cx="3429000" cy="723900"/>
          </a:xfrm>
        </p:grpSpPr>
        <p:sp>
          <p:nvSpPr>
            <p:cNvPr id="28" name="node11.source-001.bullet"/>
            <p:cNvSpPr/>
            <p:nvPr/>
          </p:nvSpPr>
          <p:spPr>
            <a:xfrm>
              <a:off x="8039100" y="3937000"/>
              <a:ext cx="38100" cy="38100"/>
            </a:xfrm>
            <a:prstGeom prst="rect">
              <a:avLst/>
            </a:prstGeom>
            <a:solidFill>
              <a:srgbClr val="070154"/>
            </a:solidFill>
            <a:ln>
              <a:noFill/>
            </a:ln>
          </p:spPr>
        </p:sp>
        <p:sp>
          <p:nvSpPr>
            <p:cNvPr id="29" name="node11.source-001.text"/>
            <p:cNvSpPr/>
            <p:nvPr/>
          </p:nvSpPr>
          <p:spPr>
            <a:xfrm>
              <a:off x="8191500" y="3848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 the extract jobs</a:t>
              </a:r>
              <a:endParaRPr lang="en-US" sz="1200" spc="0" kern="0" b="0" i="0" dirty="0">
                <a:solidFill>
                  <a:srgbClr val="070154"/>
                </a:solidFill>
                <a:latin typeface="IBM Plex Sans"/>
                <a:ea typeface="IBM Plex Sans"/>
                <a:cs typeface="IBM Plex Sans"/>
              </a:endParaRPr>
            </a:p>
          </p:txBody>
        </p:sp>
        <p:sp>
          <p:nvSpPr>
            <p:cNvPr id="30" name="node11.source-002.bullet"/>
            <p:cNvSpPr/>
            <p:nvPr/>
          </p:nvSpPr>
          <p:spPr>
            <a:xfrm>
              <a:off x="8039100" y="4191000"/>
              <a:ext cx="38100" cy="38100"/>
            </a:xfrm>
            <a:prstGeom prst="rect">
              <a:avLst/>
            </a:prstGeom>
            <a:solidFill>
              <a:srgbClr val="070154"/>
            </a:solidFill>
            <a:ln>
              <a:noFill/>
            </a:ln>
          </p:spPr>
        </p:sp>
        <p:sp>
          <p:nvSpPr>
            <p:cNvPr id="31" name="node11.source-002.text"/>
            <p:cNvSpPr/>
            <p:nvPr/>
          </p:nvSpPr>
          <p:spPr>
            <a:xfrm>
              <a:off x="8191500" y="4102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Tie to the trial balance</a:t>
              </a:r>
              <a:endParaRPr lang="en-US" sz="1200" spc="0" kern="0" b="0" i="0" dirty="0">
                <a:solidFill>
                  <a:srgbClr val="070154"/>
                </a:solidFill>
                <a:latin typeface="IBM Plex Sans"/>
                <a:ea typeface="IBM Plex Sans"/>
                <a:cs typeface="IBM Plex Sans"/>
              </a:endParaRPr>
            </a:p>
          </p:txBody>
        </p:sp>
        <p:sp>
          <p:nvSpPr>
            <p:cNvPr id="32" name="node11.source-003.bullet"/>
            <p:cNvSpPr/>
            <p:nvPr/>
          </p:nvSpPr>
          <p:spPr>
            <a:xfrm>
              <a:off x="8039100" y="4445000"/>
              <a:ext cx="38100" cy="38100"/>
            </a:xfrm>
            <a:prstGeom prst="rect">
              <a:avLst/>
            </a:prstGeom>
            <a:solidFill>
              <a:srgbClr val="070154"/>
            </a:solidFill>
            <a:ln>
              <a:noFill/>
            </a:ln>
          </p:spPr>
        </p:sp>
        <p:sp>
          <p:nvSpPr>
            <p:cNvPr id="33" name="node11.source-003.text"/>
            <p:cNvSpPr/>
            <p:nvPr/>
          </p:nvSpPr>
          <p:spPr>
            <a:xfrm>
              <a:off x="8191500" y="43561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Log variances</a:t>
              </a:r>
              <a:endParaRPr lang="en-US" sz="1200" spc="0" kern="0" b="0" i="0" dirty="0">
                <a:solidFill>
                  <a:srgbClr val="070154"/>
                </a:solidFill>
                <a:latin typeface="IBM Plex Sans"/>
                <a:ea typeface="IBM Plex Sans"/>
                <a:cs typeface="IBM Plex Sans"/>
              </a:endParaRPr>
            </a:p>
          </p:txBody>
        </p:sp>
      </p:grpSp>
      <p:sp>
        <p:nvSpPr>
          <p:cNvPr id="34" name="node12"/>
          <p:cNvSpPr/>
          <p:nvPr/>
        </p:nvSpPr>
        <p:spPr>
          <a:xfrm>
            <a:off x="4381500" y="4686300"/>
            <a:ext cx="7086600" cy="9525"/>
          </a:xfrm>
          <a:prstGeom prst="rect">
            <a:avLst/>
          </a:prstGeom>
          <a:solidFill>
            <a:srgbClr val="CED7E6"/>
          </a:solidFill>
          <a:ln>
            <a:noFill/>
          </a:ln>
        </p:spPr>
      </p:sp>
      <p:grpSp>
        <p:nvGrpSpPr>
          <p:cNvPr id="61" name="node13"/>
          <p:cNvGrpSpPr/>
          <p:nvPr/>
        </p:nvGrpSpPr>
        <p:grpSpPr>
          <a:xfrm>
            <a:off x="4381500" y="4800600"/>
            <a:ext cx="3429000" cy="330200"/>
            <a:chOff x="4381500" y="4800600"/>
            <a:chExt cx="3429000" cy="330200"/>
          </a:xfrm>
        </p:grpSpPr>
        <p:sp>
          <p:nvSpPr>
            <p:cNvPr id="35" name="node13.number"/>
            <p:cNvSpPr/>
            <p:nvPr/>
          </p:nvSpPr>
          <p:spPr>
            <a:xfrm>
              <a:off x="4381500" y="4850384"/>
              <a:ext cx="123507"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4</a:t>
              </a:r>
              <a:endParaRPr lang="en-US" sz="1600" spc="0" kern="0" b="0" i="0" dirty="0">
                <a:solidFill>
                  <a:srgbClr val="0047FF"/>
                </a:solidFill>
                <a:latin typeface="IBM Plex Mono SemiBold"/>
                <a:ea typeface="IBM Plex Mono SemiBold"/>
                <a:cs typeface="IBM Plex Mono SemiBold"/>
              </a:endParaRPr>
            </a:p>
          </p:txBody>
        </p:sp>
        <p:sp>
          <p:nvSpPr>
            <p:cNvPr id="36" name="node13.text"/>
            <p:cNvSpPr/>
            <p:nvPr/>
          </p:nvSpPr>
          <p:spPr>
            <a:xfrm>
              <a:off x="4618038" y="4800600"/>
              <a:ext cx="3192463" cy="330200"/>
            </a:xfrm>
            <a:prstGeom prst="rect">
              <a:avLst/>
            </a:prstGeom>
            <a:noFill/>
            <a:ln/>
          </p:spPr>
          <p:txBody>
            <a:bodyPr wrap="square" lIns="0" tIns="0" rIns="0" bIns="0" rtlCol="0" anchor="t"/>
            <a:lstStyle/>
            <a:p>
              <a:pPr algn="l" indent="0" marL="0">
                <a:lnSpc>
                  <a:spcPts val="2600"/>
                </a:lnSpc>
                <a:buNone/>
              </a:pPr>
              <a:r>
                <a:rPr lang="en-US" sz="2100" spc="-32" kern="0" b="0" i="0" dirty="0">
                  <a:solidFill>
                    <a:srgbClr val="070154"/>
                  </a:solidFill>
                  <a:latin typeface="IBM Plex Sans SemiBold"/>
                  <a:ea typeface="IBM Plex Sans SemiBold"/>
                  <a:cs typeface="IBM Plex Sans SemiBold"/>
                </a:rPr>
                <a:t>Load the new ledger</a:t>
              </a:r>
              <a:endParaRPr lang="en-US" sz="2100" spc="-32" kern="0" b="0" i="0" dirty="0">
                <a:solidFill>
                  <a:srgbClr val="070154"/>
                </a:solidFill>
                <a:latin typeface="IBM Plex Sans SemiBold"/>
                <a:ea typeface="IBM Plex Sans SemiBold"/>
                <a:cs typeface="IBM Plex Sans SemiBold"/>
              </a:endParaRPr>
            </a:p>
          </p:txBody>
        </p:sp>
      </p:grpSp>
      <p:grpSp>
        <p:nvGrpSpPr>
          <p:cNvPr id="62" name="node14"/>
          <p:cNvGrpSpPr/>
          <p:nvPr/>
        </p:nvGrpSpPr>
        <p:grpSpPr>
          <a:xfrm>
            <a:off x="4381500" y="5257800"/>
            <a:ext cx="3429000" cy="190500"/>
            <a:chOff x="4381500" y="5257800"/>
            <a:chExt cx="3429000" cy="190500"/>
          </a:xfrm>
        </p:grpSpPr>
        <p:sp>
          <p:nvSpPr>
            <p:cNvPr id="37" name="node14.text"/>
            <p:cNvSpPr/>
            <p:nvPr/>
          </p:nvSpPr>
          <p:spPr>
            <a:xfrm>
              <a:off x="4381500" y="52578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Finance IT · Fri 22:30 · 2h</a:t>
              </a:r>
              <a:endParaRPr lang="en-US" sz="1100" spc="0" kern="0" b="0" i="0" dirty="0">
                <a:solidFill>
                  <a:srgbClr val="070154"/>
                </a:solidFill>
                <a:latin typeface="IBM Plex Sans"/>
                <a:ea typeface="IBM Plex Sans"/>
                <a:cs typeface="IBM Plex Sans"/>
              </a:endParaRPr>
            </a:p>
          </p:txBody>
        </p:sp>
      </p:grpSp>
      <p:grpSp>
        <p:nvGrpSpPr>
          <p:cNvPr id="63" name="node15"/>
          <p:cNvGrpSpPr/>
          <p:nvPr/>
        </p:nvGrpSpPr>
        <p:grpSpPr>
          <a:xfrm>
            <a:off x="8039100" y="4762500"/>
            <a:ext cx="3429000" cy="723900"/>
            <a:chOff x="8039100" y="4762500"/>
            <a:chExt cx="3429000" cy="723900"/>
          </a:xfrm>
        </p:grpSpPr>
        <p:sp>
          <p:nvSpPr>
            <p:cNvPr id="38" name="node15.source-001.bullet"/>
            <p:cNvSpPr/>
            <p:nvPr/>
          </p:nvSpPr>
          <p:spPr>
            <a:xfrm>
              <a:off x="8039100" y="4851400"/>
              <a:ext cx="38100" cy="38100"/>
            </a:xfrm>
            <a:prstGeom prst="rect">
              <a:avLst/>
            </a:prstGeom>
            <a:solidFill>
              <a:srgbClr val="070154"/>
            </a:solidFill>
            <a:ln>
              <a:noFill/>
            </a:ln>
          </p:spPr>
        </p:sp>
        <p:sp>
          <p:nvSpPr>
            <p:cNvPr id="39" name="node15.source-001.text"/>
            <p:cNvSpPr/>
            <p:nvPr/>
          </p:nvSpPr>
          <p:spPr>
            <a:xfrm>
              <a:off x="8191500" y="47625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Load by entity</a:t>
              </a:r>
              <a:endParaRPr lang="en-US" sz="1200" spc="0" kern="0" b="0" i="0" dirty="0">
                <a:solidFill>
                  <a:srgbClr val="070154"/>
                </a:solidFill>
                <a:latin typeface="IBM Plex Sans"/>
                <a:ea typeface="IBM Plex Sans"/>
                <a:cs typeface="IBM Plex Sans"/>
              </a:endParaRPr>
            </a:p>
          </p:txBody>
        </p:sp>
        <p:sp>
          <p:nvSpPr>
            <p:cNvPr id="40" name="node15.source-002.bullet"/>
            <p:cNvSpPr/>
            <p:nvPr/>
          </p:nvSpPr>
          <p:spPr>
            <a:xfrm>
              <a:off x="8039100" y="5105400"/>
              <a:ext cx="38100" cy="38100"/>
            </a:xfrm>
            <a:prstGeom prst="rect">
              <a:avLst/>
            </a:prstGeom>
            <a:solidFill>
              <a:srgbClr val="070154"/>
            </a:solidFill>
            <a:ln>
              <a:noFill/>
            </a:ln>
          </p:spPr>
        </p:sp>
        <p:sp>
          <p:nvSpPr>
            <p:cNvPr id="41" name="node15.source-002.text"/>
            <p:cNvSpPr/>
            <p:nvPr/>
          </p:nvSpPr>
          <p:spPr>
            <a:xfrm>
              <a:off x="8191500" y="50165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Check counts and totals</a:t>
              </a:r>
              <a:endParaRPr lang="en-US" sz="1200" spc="0" kern="0" b="0" i="0" dirty="0">
                <a:solidFill>
                  <a:srgbClr val="070154"/>
                </a:solidFill>
                <a:latin typeface="IBM Plex Sans"/>
                <a:ea typeface="IBM Plex Sans"/>
                <a:cs typeface="IBM Plex Sans"/>
              </a:endParaRPr>
            </a:p>
          </p:txBody>
        </p:sp>
        <p:sp>
          <p:nvSpPr>
            <p:cNvPr id="42" name="node15.source-003.bullet"/>
            <p:cNvSpPr/>
            <p:nvPr/>
          </p:nvSpPr>
          <p:spPr>
            <a:xfrm>
              <a:off x="8039100" y="5359400"/>
              <a:ext cx="38100" cy="38100"/>
            </a:xfrm>
            <a:prstGeom prst="rect">
              <a:avLst/>
            </a:prstGeom>
            <a:solidFill>
              <a:srgbClr val="070154"/>
            </a:solidFill>
            <a:ln>
              <a:noFill/>
            </a:ln>
          </p:spPr>
        </p:sp>
        <p:sp>
          <p:nvSpPr>
            <p:cNvPr id="43" name="node15.source-003.text"/>
            <p:cNvSpPr/>
            <p:nvPr/>
          </p:nvSpPr>
          <p:spPr>
            <a:xfrm>
              <a:off x="8191500" y="52705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Park rejected rows</a:t>
              </a:r>
              <a:endParaRPr lang="en-US" sz="1200" spc="0" kern="0" b="0" i="0" dirty="0">
                <a:solidFill>
                  <a:srgbClr val="070154"/>
                </a:solidFill>
                <a:latin typeface="IBM Plex Sans"/>
                <a:ea typeface="IBM Plex Sans"/>
                <a:cs typeface="IBM Plex Sans"/>
              </a:endParaRPr>
            </a:p>
          </p:txBody>
        </p:sp>
      </p:grpSp>
      <p:grpSp>
        <p:nvGrpSpPr>
          <p:cNvPr id="64" name="node16"/>
          <p:cNvGrpSpPr/>
          <p:nvPr/>
        </p:nvGrpSpPr>
        <p:grpSpPr>
          <a:xfrm>
            <a:off x="723900" y="1600200"/>
            <a:ext cx="2514600" cy="139700"/>
            <a:chOff x="723900" y="1600200"/>
            <a:chExt cx="2514600" cy="139700"/>
          </a:xfrm>
        </p:grpSpPr>
        <p:sp>
          <p:nvSpPr>
            <p:cNvPr id="44" name="node16.text"/>
            <p:cNvSpPr/>
            <p:nvPr/>
          </p:nvSpPr>
          <p:spPr>
            <a:xfrm>
              <a:off x="7239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RUNBOOK PURPOSE</a:t>
              </a:r>
              <a:endParaRPr lang="en-US" sz="800" spc="48" kern="0" b="0" i="0" dirty="0">
                <a:solidFill>
                  <a:srgbClr val="CED7E6"/>
                </a:solidFill>
                <a:latin typeface="IBM Plex Mono Medium"/>
                <a:ea typeface="IBM Plex Mono Medium"/>
                <a:cs typeface="IBM Plex Mono Medium"/>
              </a:endParaRPr>
            </a:p>
          </p:txBody>
        </p:sp>
      </p:grpSp>
      <p:grpSp>
        <p:nvGrpSpPr>
          <p:cNvPr id="65" name="node17"/>
          <p:cNvGrpSpPr/>
          <p:nvPr/>
        </p:nvGrpSpPr>
        <p:grpSpPr>
          <a:xfrm>
            <a:off x="723900" y="1828800"/>
            <a:ext cx="2514600" cy="647700"/>
            <a:chOff x="723900" y="1828800"/>
            <a:chExt cx="2514600" cy="647700"/>
          </a:xfrm>
        </p:grpSpPr>
        <p:sp>
          <p:nvSpPr>
            <p:cNvPr id="45" name="node17.text"/>
            <p:cNvSpPr/>
            <p:nvPr/>
          </p:nvSpPr>
          <p:spPr>
            <a:xfrm>
              <a:off x="723900" y="1828800"/>
              <a:ext cx="25146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Lock the legacy ledger and move its balances to the new platform in one window.</a:t>
              </a:r>
              <a:endParaRPr lang="en-US" sz="1200" spc="0" kern="0" b="0" i="0" dirty="0">
                <a:solidFill>
                  <a:srgbClr val="FFFFFF"/>
                </a:solidFill>
                <a:latin typeface="IBM Plex Sans"/>
                <a:ea typeface="IBM Plex Sans"/>
                <a:cs typeface="IBM Plex Sans"/>
              </a:endParaRPr>
            </a:p>
          </p:txBody>
        </p:sp>
      </p:grpSp>
      <p:sp>
        <p:nvSpPr>
          <p:cNvPr id="46" name="node18"/>
          <p:cNvSpPr/>
          <p:nvPr/>
        </p:nvSpPr>
        <p:spPr>
          <a:xfrm>
            <a:off x="723900" y="3200400"/>
            <a:ext cx="2514600" cy="9525"/>
          </a:xfrm>
          <a:prstGeom prst="rect">
            <a:avLst/>
          </a:prstGeom>
          <a:solidFill>
            <a:srgbClr val="50658E"/>
          </a:solidFill>
          <a:ln>
            <a:noFill/>
          </a:ln>
        </p:spPr>
      </p:sp>
      <p:grpSp>
        <p:nvGrpSpPr>
          <p:cNvPr id="66" name="node19"/>
          <p:cNvGrpSpPr/>
          <p:nvPr/>
        </p:nvGrpSpPr>
        <p:grpSpPr>
          <a:xfrm>
            <a:off x="723900" y="3429000"/>
            <a:ext cx="2514600" cy="139700"/>
            <a:chOff x="723900" y="3429000"/>
            <a:chExt cx="2514600" cy="139700"/>
          </a:xfrm>
        </p:grpSpPr>
        <p:sp>
          <p:nvSpPr>
            <p:cNvPr id="47" name="node19.text"/>
            <p:cNvSpPr/>
            <p:nvPr/>
          </p:nvSpPr>
          <p:spPr>
            <a:xfrm>
              <a:off x="723900" y="34290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RUNBOOK OWNER</a:t>
              </a:r>
              <a:endParaRPr lang="en-US" sz="800" spc="48" kern="0" b="0" i="0" dirty="0">
                <a:solidFill>
                  <a:srgbClr val="CED7E6"/>
                </a:solidFill>
                <a:latin typeface="IBM Plex Mono Medium"/>
                <a:ea typeface="IBM Plex Mono Medium"/>
                <a:cs typeface="IBM Plex Mono Medium"/>
              </a:endParaRPr>
            </a:p>
          </p:txBody>
        </p:sp>
      </p:grpSp>
      <p:grpSp>
        <p:nvGrpSpPr>
          <p:cNvPr id="67" name="node20"/>
          <p:cNvGrpSpPr/>
          <p:nvPr/>
        </p:nvGrpSpPr>
        <p:grpSpPr>
          <a:xfrm>
            <a:off x="723900" y="3657600"/>
            <a:ext cx="2514600" cy="266700"/>
            <a:chOff x="723900" y="3657600"/>
            <a:chExt cx="2514600" cy="266700"/>
          </a:xfrm>
        </p:grpSpPr>
        <p:sp>
          <p:nvSpPr>
            <p:cNvPr id="48" name="node20.text"/>
            <p:cNvSpPr/>
            <p:nvPr/>
          </p:nvSpPr>
          <p:spPr>
            <a:xfrm>
              <a:off x="723900" y="36576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Cutover lead</a:t>
              </a:r>
              <a:endParaRPr lang="en-US" sz="1600" spc="-16" kern="0" b="0" i="0" dirty="0">
                <a:solidFill>
                  <a:srgbClr val="FFFFFF"/>
                </a:solidFill>
                <a:latin typeface="IBM Plex Sans SemiBold"/>
                <a:ea typeface="IBM Plex Sans SemiBold"/>
                <a:cs typeface="IBM Plex Sans SemiBold"/>
              </a:endParaRPr>
            </a:p>
          </p:txBody>
        </p:sp>
      </p:grpSp>
      <p:grpSp>
        <p:nvGrpSpPr>
          <p:cNvPr id="68" name="node21"/>
          <p:cNvGrpSpPr/>
          <p:nvPr/>
        </p:nvGrpSpPr>
        <p:grpSpPr>
          <a:xfrm>
            <a:off x="723900" y="4114800"/>
            <a:ext cx="2514600" cy="190500"/>
            <a:chOff x="723900" y="4114800"/>
            <a:chExt cx="2514600" cy="190500"/>
          </a:xfrm>
        </p:grpSpPr>
        <p:sp>
          <p:nvSpPr>
            <p:cNvPr id="49" name="node21.text"/>
            <p:cNvSpPr/>
            <p:nvPr/>
          </p:nvSpPr>
          <p:spPr>
            <a:xfrm>
              <a:off x="723900" y="41148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Window: Fri 18:00 to Sat 02:00</a:t>
              </a:r>
              <a:endParaRPr lang="en-US" sz="1100" spc="0" kern="0" b="0" i="0" dirty="0">
                <a:solidFill>
                  <a:srgbClr val="CED7E6"/>
                </a:solidFill>
                <a:latin typeface="IBM Plex Sans"/>
                <a:ea typeface="IBM Plex Sans"/>
                <a:cs typeface="IBM Plex Sans"/>
              </a:endParaRPr>
            </a:p>
          </p:txBody>
        </p:sp>
      </p:grpSp>
      <p:sp>
        <p:nvSpPr>
          <p:cNvPr id="50" name="node22"/>
          <p:cNvSpPr/>
          <p:nvPr/>
        </p:nvSpPr>
        <p:spPr>
          <a:xfrm>
            <a:off x="723900" y="4800600"/>
            <a:ext cx="2514600" cy="9525"/>
          </a:xfrm>
          <a:prstGeom prst="rect">
            <a:avLst/>
          </a:prstGeom>
          <a:solidFill>
            <a:srgbClr val="50658E"/>
          </a:solidFill>
          <a:ln>
            <a:noFill/>
          </a:ln>
        </p:spPr>
      </p:sp>
      <p:grpSp>
        <p:nvGrpSpPr>
          <p:cNvPr id="69" name="node23"/>
          <p:cNvGrpSpPr/>
          <p:nvPr/>
        </p:nvGrpSpPr>
        <p:grpSpPr>
          <a:xfrm>
            <a:off x="723900" y="5029200"/>
            <a:ext cx="2514600" cy="381000"/>
            <a:chOff x="723900" y="5029200"/>
            <a:chExt cx="2514600" cy="381000"/>
          </a:xfrm>
        </p:grpSpPr>
        <p:sp>
          <p:nvSpPr>
            <p:cNvPr id="51" name="node23.text"/>
            <p:cNvSpPr/>
            <p:nvPr/>
          </p:nvSpPr>
          <p:spPr>
            <a:xfrm>
              <a:off x="723900" y="5029200"/>
              <a:ext cx="2514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Step 4 · page 1 of 2 · continued on next page</a:t>
              </a:r>
              <a:endParaRPr lang="en-US" sz="1100" spc="0" kern="0" b="0" i="0" dirty="0">
                <a:solidFill>
                  <a:srgbClr val="CED7E6"/>
                </a:solidFill>
                <a:latin typeface="IBM Plex Sans"/>
                <a:ea typeface="IBM Plex Sans"/>
                <a:cs typeface="IBM Plex Sans"/>
              </a:endParaRPr>
            </a:p>
          </p:txBody>
        </p:sp>
      </p:gr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ource-48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USER ACCEPTANCE TESTING</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7394562" y="733532"/>
            <a:ext cx="1333576"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Sixteen defects are open and none is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critical</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194</a:t>
            </a:fld>
            <a:endParaRPr lang="en-US" sz="700" spc="0" kern="0" b="0" i="0" dirty="0">
              <a:solidFill>
                <a:srgbClr val="070154"/>
              </a:solidFill>
              <a:latin typeface="IBM Plex Mono SemiBold"/>
              <a:ea typeface="IBM Plex Mono SemiBold"/>
              <a:cs typeface="IBM Plex Mono SemiBold"/>
            </a:endParaRPr>
          </a:p>
        </p:txBody>
      </p:sp>
      <p:grpSp>
        <p:nvGrpSpPr>
          <p:cNvPr id="58" name="node01"/>
          <p:cNvGrpSpPr/>
          <p:nvPr/>
        </p:nvGrpSpPr>
        <p:grpSpPr>
          <a:xfrm>
            <a:off x="723900" y="1600200"/>
            <a:ext cx="6629400" cy="2641600"/>
            <a:chOff x="723900" y="1600200"/>
            <a:chExt cx="6629400" cy="2641600"/>
          </a:xfrm>
        </p:grpSpPr>
        <p:sp>
          <p:nvSpPr>
            <p:cNvPr id="7" name="node01.row.item-001.a.heat-gap"/>
            <p:cNvSpPr/>
            <p:nvPr/>
          </p:nvSpPr>
          <p:spPr>
            <a:xfrm>
              <a:off x="2324100" y="1955800"/>
              <a:ext cx="685800" cy="571500"/>
            </a:xfrm>
            <a:prstGeom prst="rect">
              <a:avLst/>
            </a:prstGeom>
            <a:solidFill>
              <a:srgbClr val="FFFFFF"/>
            </a:solidFill>
            <a:ln>
              <a:noFill/>
            </a:ln>
          </p:spPr>
        </p:sp>
        <p:sp>
          <p:nvSpPr>
            <p:cNvPr id="8" name="node01.row.item-001.a.heat"/>
            <p:cNvSpPr/>
            <p:nvPr/>
          </p:nvSpPr>
          <p:spPr>
            <a:xfrm>
              <a:off x="2343150" y="1974850"/>
              <a:ext cx="647700" cy="533400"/>
            </a:xfrm>
            <a:prstGeom prst="rect">
              <a:avLst/>
            </a:prstGeom>
            <a:solidFill>
              <a:srgbClr val="E8EEF8"/>
            </a:solidFill>
            <a:ln>
              <a:noFill/>
            </a:ln>
          </p:spPr>
        </p:sp>
        <p:sp>
          <p:nvSpPr>
            <p:cNvPr id="9" name="node01.row.item-001.b.heat-gap"/>
            <p:cNvSpPr/>
            <p:nvPr/>
          </p:nvSpPr>
          <p:spPr>
            <a:xfrm>
              <a:off x="3009900" y="1955800"/>
              <a:ext cx="838200" cy="571500"/>
            </a:xfrm>
            <a:prstGeom prst="rect">
              <a:avLst/>
            </a:prstGeom>
            <a:solidFill>
              <a:srgbClr val="FFFFFF"/>
            </a:solidFill>
            <a:ln>
              <a:noFill/>
            </a:ln>
          </p:spPr>
        </p:sp>
        <p:sp>
          <p:nvSpPr>
            <p:cNvPr id="10" name="node01.row.item-001.b.heat"/>
            <p:cNvSpPr/>
            <p:nvPr/>
          </p:nvSpPr>
          <p:spPr>
            <a:xfrm>
              <a:off x="3028950" y="1974850"/>
              <a:ext cx="800100" cy="533400"/>
            </a:xfrm>
            <a:prstGeom prst="rect">
              <a:avLst/>
            </a:prstGeom>
            <a:solidFill>
              <a:srgbClr val="E8EEF8"/>
            </a:solidFill>
            <a:ln>
              <a:noFill/>
            </a:ln>
          </p:spPr>
        </p:sp>
        <p:sp>
          <p:nvSpPr>
            <p:cNvPr id="11" name="node01.row.item-001.c.heat-gap"/>
            <p:cNvSpPr/>
            <p:nvPr/>
          </p:nvSpPr>
          <p:spPr>
            <a:xfrm>
              <a:off x="3848100" y="1955800"/>
              <a:ext cx="762000" cy="571500"/>
            </a:xfrm>
            <a:prstGeom prst="rect">
              <a:avLst/>
            </a:prstGeom>
            <a:solidFill>
              <a:srgbClr val="FFFFFF"/>
            </a:solidFill>
            <a:ln>
              <a:noFill/>
            </a:ln>
          </p:spPr>
        </p:sp>
        <p:sp>
          <p:nvSpPr>
            <p:cNvPr id="12" name="node01.row.item-001.c.heat"/>
            <p:cNvSpPr/>
            <p:nvPr/>
          </p:nvSpPr>
          <p:spPr>
            <a:xfrm>
              <a:off x="3867150" y="1974850"/>
              <a:ext cx="723900" cy="533400"/>
            </a:xfrm>
            <a:prstGeom prst="rect">
              <a:avLst/>
            </a:prstGeom>
            <a:solidFill>
              <a:srgbClr val="E8EEF8"/>
            </a:solidFill>
            <a:ln>
              <a:noFill/>
            </a:ln>
          </p:spPr>
        </p:sp>
        <p:sp>
          <p:nvSpPr>
            <p:cNvPr id="13" name="node01.row.item-001.d.heat-gap"/>
            <p:cNvSpPr/>
            <p:nvPr/>
          </p:nvSpPr>
          <p:spPr>
            <a:xfrm>
              <a:off x="4610100" y="1955800"/>
              <a:ext cx="838200" cy="571500"/>
            </a:xfrm>
            <a:prstGeom prst="rect">
              <a:avLst/>
            </a:prstGeom>
            <a:solidFill>
              <a:srgbClr val="FFFFFF"/>
            </a:solidFill>
            <a:ln>
              <a:noFill/>
            </a:ln>
          </p:spPr>
        </p:sp>
        <p:sp>
          <p:nvSpPr>
            <p:cNvPr id="14" name="node01.row.item-001.d.heat"/>
            <p:cNvSpPr/>
            <p:nvPr/>
          </p:nvSpPr>
          <p:spPr>
            <a:xfrm>
              <a:off x="4629150" y="1974850"/>
              <a:ext cx="800100" cy="533400"/>
            </a:xfrm>
            <a:prstGeom prst="rect">
              <a:avLst/>
            </a:prstGeom>
            <a:solidFill>
              <a:srgbClr val="E8EEF8"/>
            </a:solidFill>
            <a:ln>
              <a:noFill/>
            </a:ln>
          </p:spPr>
        </p:sp>
        <p:sp>
          <p:nvSpPr>
            <p:cNvPr id="15" name="node01.row.item-002.a.heat-gap"/>
            <p:cNvSpPr/>
            <p:nvPr/>
          </p:nvSpPr>
          <p:spPr>
            <a:xfrm>
              <a:off x="2324100" y="2527300"/>
              <a:ext cx="685800" cy="571500"/>
            </a:xfrm>
            <a:prstGeom prst="rect">
              <a:avLst/>
            </a:prstGeom>
            <a:solidFill>
              <a:srgbClr val="FFFFFF"/>
            </a:solidFill>
            <a:ln>
              <a:noFill/>
            </a:ln>
          </p:spPr>
        </p:sp>
        <p:sp>
          <p:nvSpPr>
            <p:cNvPr id="16" name="node01.row.item-002.a.heat"/>
            <p:cNvSpPr/>
            <p:nvPr/>
          </p:nvSpPr>
          <p:spPr>
            <a:xfrm>
              <a:off x="2343150" y="2546350"/>
              <a:ext cx="647700" cy="533400"/>
            </a:xfrm>
            <a:prstGeom prst="rect">
              <a:avLst/>
            </a:prstGeom>
            <a:solidFill>
              <a:srgbClr val="E8EEF8"/>
            </a:solidFill>
            <a:ln>
              <a:noFill/>
            </a:ln>
          </p:spPr>
        </p:sp>
        <p:sp>
          <p:nvSpPr>
            <p:cNvPr id="17" name="node01.row.item-002.b.heat-gap"/>
            <p:cNvSpPr/>
            <p:nvPr/>
          </p:nvSpPr>
          <p:spPr>
            <a:xfrm>
              <a:off x="3009900" y="2527300"/>
              <a:ext cx="838200" cy="571500"/>
            </a:xfrm>
            <a:prstGeom prst="rect">
              <a:avLst/>
            </a:prstGeom>
            <a:solidFill>
              <a:srgbClr val="FFFFFF"/>
            </a:solidFill>
            <a:ln>
              <a:noFill/>
            </a:ln>
          </p:spPr>
        </p:sp>
        <p:sp>
          <p:nvSpPr>
            <p:cNvPr id="18" name="node01.row.item-002.b.heat"/>
            <p:cNvSpPr/>
            <p:nvPr/>
          </p:nvSpPr>
          <p:spPr>
            <a:xfrm>
              <a:off x="3028950" y="2546350"/>
              <a:ext cx="800100" cy="533400"/>
            </a:xfrm>
            <a:prstGeom prst="rect">
              <a:avLst/>
            </a:prstGeom>
            <a:solidFill>
              <a:srgbClr val="CED7E6"/>
            </a:solidFill>
            <a:ln>
              <a:noFill/>
            </a:ln>
          </p:spPr>
        </p:sp>
        <p:sp>
          <p:nvSpPr>
            <p:cNvPr id="19" name="node01.row.item-002.c.heat-gap"/>
            <p:cNvSpPr/>
            <p:nvPr/>
          </p:nvSpPr>
          <p:spPr>
            <a:xfrm>
              <a:off x="3848100" y="2527300"/>
              <a:ext cx="762000" cy="571500"/>
            </a:xfrm>
            <a:prstGeom prst="rect">
              <a:avLst/>
            </a:prstGeom>
            <a:solidFill>
              <a:srgbClr val="FFFFFF"/>
            </a:solidFill>
            <a:ln>
              <a:noFill/>
            </a:ln>
          </p:spPr>
        </p:sp>
        <p:sp>
          <p:nvSpPr>
            <p:cNvPr id="20" name="node01.row.item-002.c.heat"/>
            <p:cNvSpPr/>
            <p:nvPr/>
          </p:nvSpPr>
          <p:spPr>
            <a:xfrm>
              <a:off x="3867150" y="2546350"/>
              <a:ext cx="723900" cy="533400"/>
            </a:xfrm>
            <a:prstGeom prst="rect">
              <a:avLst/>
            </a:prstGeom>
            <a:solidFill>
              <a:srgbClr val="CED7E6"/>
            </a:solidFill>
            <a:ln>
              <a:noFill/>
            </a:ln>
          </p:spPr>
        </p:sp>
        <p:sp>
          <p:nvSpPr>
            <p:cNvPr id="21" name="node01.row.item-002.d.heat-gap"/>
            <p:cNvSpPr/>
            <p:nvPr/>
          </p:nvSpPr>
          <p:spPr>
            <a:xfrm>
              <a:off x="4610100" y="2527300"/>
              <a:ext cx="838200" cy="571500"/>
            </a:xfrm>
            <a:prstGeom prst="rect">
              <a:avLst/>
            </a:prstGeom>
            <a:solidFill>
              <a:srgbClr val="FFFFFF"/>
            </a:solidFill>
            <a:ln>
              <a:noFill/>
            </a:ln>
          </p:spPr>
        </p:sp>
        <p:sp>
          <p:nvSpPr>
            <p:cNvPr id="22" name="node01.row.item-002.d.heat"/>
            <p:cNvSpPr/>
            <p:nvPr/>
          </p:nvSpPr>
          <p:spPr>
            <a:xfrm>
              <a:off x="4629150" y="2546350"/>
              <a:ext cx="800100" cy="533400"/>
            </a:xfrm>
            <a:prstGeom prst="rect">
              <a:avLst/>
            </a:prstGeom>
            <a:solidFill>
              <a:srgbClr val="CED7E6"/>
            </a:solidFill>
            <a:ln>
              <a:noFill/>
            </a:ln>
          </p:spPr>
        </p:sp>
        <p:sp>
          <p:nvSpPr>
            <p:cNvPr id="23" name="node01.row.item-003.a.heat-gap"/>
            <p:cNvSpPr/>
            <p:nvPr/>
          </p:nvSpPr>
          <p:spPr>
            <a:xfrm>
              <a:off x="2324100" y="3098800"/>
              <a:ext cx="685800" cy="571500"/>
            </a:xfrm>
            <a:prstGeom prst="rect">
              <a:avLst/>
            </a:prstGeom>
            <a:solidFill>
              <a:srgbClr val="FFFFFF"/>
            </a:solidFill>
            <a:ln>
              <a:noFill/>
            </a:ln>
          </p:spPr>
        </p:sp>
        <p:sp>
          <p:nvSpPr>
            <p:cNvPr id="24" name="node01.row.item-003.a.heat"/>
            <p:cNvSpPr/>
            <p:nvPr/>
          </p:nvSpPr>
          <p:spPr>
            <a:xfrm>
              <a:off x="2343150" y="3117850"/>
              <a:ext cx="647700" cy="533400"/>
            </a:xfrm>
            <a:prstGeom prst="rect">
              <a:avLst/>
            </a:prstGeom>
            <a:solidFill>
              <a:srgbClr val="CED7E6"/>
            </a:solidFill>
            <a:ln>
              <a:noFill/>
            </a:ln>
          </p:spPr>
        </p:sp>
        <p:sp>
          <p:nvSpPr>
            <p:cNvPr id="25" name="node01.row.item-003.b.heat-gap"/>
            <p:cNvSpPr/>
            <p:nvPr/>
          </p:nvSpPr>
          <p:spPr>
            <a:xfrm>
              <a:off x="3009900" y="3098800"/>
              <a:ext cx="838200" cy="571500"/>
            </a:xfrm>
            <a:prstGeom prst="rect">
              <a:avLst/>
            </a:prstGeom>
            <a:solidFill>
              <a:srgbClr val="FFFFFF"/>
            </a:solidFill>
            <a:ln>
              <a:noFill/>
            </a:ln>
          </p:spPr>
        </p:sp>
        <p:sp>
          <p:nvSpPr>
            <p:cNvPr id="26" name="node01.row.item-003.b.heat"/>
            <p:cNvSpPr/>
            <p:nvPr/>
          </p:nvSpPr>
          <p:spPr>
            <a:xfrm>
              <a:off x="3028950" y="3117850"/>
              <a:ext cx="800100" cy="533400"/>
            </a:xfrm>
            <a:prstGeom prst="rect">
              <a:avLst/>
            </a:prstGeom>
            <a:solidFill>
              <a:srgbClr val="F3D6EE"/>
            </a:solidFill>
            <a:ln>
              <a:noFill/>
            </a:ln>
          </p:spPr>
        </p:sp>
        <p:sp>
          <p:nvSpPr>
            <p:cNvPr id="27" name="node01.row.item-003.c.heat-gap"/>
            <p:cNvSpPr/>
            <p:nvPr/>
          </p:nvSpPr>
          <p:spPr>
            <a:xfrm>
              <a:off x="3848100" y="3098800"/>
              <a:ext cx="762000" cy="571500"/>
            </a:xfrm>
            <a:prstGeom prst="rect">
              <a:avLst/>
            </a:prstGeom>
            <a:solidFill>
              <a:srgbClr val="FFFFFF"/>
            </a:solidFill>
            <a:ln>
              <a:noFill/>
            </a:ln>
          </p:spPr>
        </p:sp>
        <p:sp>
          <p:nvSpPr>
            <p:cNvPr id="28" name="node01.row.item-003.c.heat"/>
            <p:cNvSpPr/>
            <p:nvPr/>
          </p:nvSpPr>
          <p:spPr>
            <a:xfrm>
              <a:off x="3867150" y="3117850"/>
              <a:ext cx="723900" cy="533400"/>
            </a:xfrm>
            <a:prstGeom prst="rect">
              <a:avLst/>
            </a:prstGeom>
            <a:solidFill>
              <a:srgbClr val="CED7E6"/>
            </a:solidFill>
            <a:ln>
              <a:noFill/>
            </a:ln>
          </p:spPr>
        </p:sp>
        <p:sp>
          <p:nvSpPr>
            <p:cNvPr id="29" name="node01.row.item-003.d.heat-gap"/>
            <p:cNvSpPr/>
            <p:nvPr/>
          </p:nvSpPr>
          <p:spPr>
            <a:xfrm>
              <a:off x="4610100" y="3098800"/>
              <a:ext cx="838200" cy="571500"/>
            </a:xfrm>
            <a:prstGeom prst="rect">
              <a:avLst/>
            </a:prstGeom>
            <a:solidFill>
              <a:srgbClr val="FFFFFF"/>
            </a:solidFill>
            <a:ln>
              <a:noFill/>
            </a:ln>
          </p:spPr>
        </p:sp>
        <p:sp>
          <p:nvSpPr>
            <p:cNvPr id="30" name="node01.row.item-003.d.heat"/>
            <p:cNvSpPr/>
            <p:nvPr/>
          </p:nvSpPr>
          <p:spPr>
            <a:xfrm>
              <a:off x="4629150" y="3117850"/>
              <a:ext cx="800100" cy="533400"/>
            </a:xfrm>
            <a:prstGeom prst="rect">
              <a:avLst/>
            </a:prstGeom>
            <a:solidFill>
              <a:srgbClr val="CED7E6"/>
            </a:solidFill>
            <a:ln>
              <a:noFill/>
            </a:ln>
          </p:spPr>
        </p:sp>
        <p:sp>
          <p:nvSpPr>
            <p:cNvPr id="31" name="node01.row.item-004.a.heat-gap"/>
            <p:cNvSpPr/>
            <p:nvPr/>
          </p:nvSpPr>
          <p:spPr>
            <a:xfrm>
              <a:off x="2324100" y="3670300"/>
              <a:ext cx="685800" cy="571500"/>
            </a:xfrm>
            <a:prstGeom prst="rect">
              <a:avLst/>
            </a:prstGeom>
            <a:solidFill>
              <a:srgbClr val="FFFFFF"/>
            </a:solidFill>
            <a:ln>
              <a:noFill/>
            </a:ln>
          </p:spPr>
        </p:sp>
        <p:sp>
          <p:nvSpPr>
            <p:cNvPr id="32" name="node01.row.item-004.a.heat"/>
            <p:cNvSpPr/>
            <p:nvPr/>
          </p:nvSpPr>
          <p:spPr>
            <a:xfrm>
              <a:off x="2343150" y="3689350"/>
              <a:ext cx="647700" cy="533400"/>
            </a:xfrm>
            <a:prstGeom prst="rect">
              <a:avLst/>
            </a:prstGeom>
            <a:solidFill>
              <a:srgbClr val="CED7E6"/>
            </a:solidFill>
            <a:ln>
              <a:noFill/>
            </a:ln>
          </p:spPr>
        </p:sp>
        <p:sp>
          <p:nvSpPr>
            <p:cNvPr id="33" name="node01.row.item-004.b.heat-gap"/>
            <p:cNvSpPr/>
            <p:nvPr/>
          </p:nvSpPr>
          <p:spPr>
            <a:xfrm>
              <a:off x="3009900" y="3670300"/>
              <a:ext cx="838200" cy="571500"/>
            </a:xfrm>
            <a:prstGeom prst="rect">
              <a:avLst/>
            </a:prstGeom>
            <a:solidFill>
              <a:srgbClr val="FFFFFF"/>
            </a:solidFill>
            <a:ln>
              <a:noFill/>
            </a:ln>
          </p:spPr>
        </p:sp>
        <p:sp>
          <p:nvSpPr>
            <p:cNvPr id="34" name="node01.row.item-004.b.heat"/>
            <p:cNvSpPr/>
            <p:nvPr/>
          </p:nvSpPr>
          <p:spPr>
            <a:xfrm>
              <a:off x="3028950" y="3689350"/>
              <a:ext cx="800100" cy="533400"/>
            </a:xfrm>
            <a:prstGeom prst="rect">
              <a:avLst/>
            </a:prstGeom>
            <a:solidFill>
              <a:srgbClr val="CED7E6"/>
            </a:solidFill>
            <a:ln>
              <a:noFill/>
            </a:ln>
          </p:spPr>
        </p:sp>
        <p:sp>
          <p:nvSpPr>
            <p:cNvPr id="35" name="node01.row.item-004.c.heat-gap"/>
            <p:cNvSpPr/>
            <p:nvPr/>
          </p:nvSpPr>
          <p:spPr>
            <a:xfrm>
              <a:off x="3848100" y="3670300"/>
              <a:ext cx="762000" cy="571500"/>
            </a:xfrm>
            <a:prstGeom prst="rect">
              <a:avLst/>
            </a:prstGeom>
            <a:solidFill>
              <a:srgbClr val="FFFFFF"/>
            </a:solidFill>
            <a:ln>
              <a:noFill/>
            </a:ln>
          </p:spPr>
        </p:sp>
        <p:sp>
          <p:nvSpPr>
            <p:cNvPr id="36" name="node01.row.item-004.c.heat"/>
            <p:cNvSpPr/>
            <p:nvPr/>
          </p:nvSpPr>
          <p:spPr>
            <a:xfrm>
              <a:off x="3867150" y="3689350"/>
              <a:ext cx="723900" cy="533400"/>
            </a:xfrm>
            <a:prstGeom prst="rect">
              <a:avLst/>
            </a:prstGeom>
            <a:solidFill>
              <a:srgbClr val="CED7E6"/>
            </a:solidFill>
            <a:ln>
              <a:noFill/>
            </a:ln>
          </p:spPr>
        </p:sp>
        <p:sp>
          <p:nvSpPr>
            <p:cNvPr id="37" name="node01.row.item-004.d.heat-gap"/>
            <p:cNvSpPr/>
            <p:nvPr/>
          </p:nvSpPr>
          <p:spPr>
            <a:xfrm>
              <a:off x="4610100" y="3670300"/>
              <a:ext cx="838200" cy="571500"/>
            </a:xfrm>
            <a:prstGeom prst="rect">
              <a:avLst/>
            </a:prstGeom>
            <a:solidFill>
              <a:srgbClr val="FFFFFF"/>
            </a:solidFill>
            <a:ln>
              <a:noFill/>
            </a:ln>
          </p:spPr>
        </p:sp>
        <p:sp>
          <p:nvSpPr>
            <p:cNvPr id="38" name="node01.row.item-004.d.heat"/>
            <p:cNvSpPr/>
            <p:nvPr/>
          </p:nvSpPr>
          <p:spPr>
            <a:xfrm>
              <a:off x="4629150" y="3689350"/>
              <a:ext cx="800100" cy="533400"/>
            </a:xfrm>
            <a:prstGeom prst="rect">
              <a:avLst/>
            </a:prstGeom>
            <a:solidFill>
              <a:srgbClr val="CED7E6"/>
            </a:solidFill>
            <a:ln>
              <a:noFill/>
            </a:ln>
          </p:spPr>
        </p:sp>
        <p:graphicFrame>
          <p:nvGraphicFramePr>
            <p:cNvPr id="39"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6629400" cy="2641600"/>
          </p:xfrm>
          <a:graphic>
            <a:graphicData uri="http://schemas.openxmlformats.org/drawingml/2006/table">
              <a:tbl>
                <a:tblPr/>
                <a:tblGrid>
                  <a:gridCol w="1600200"/>
                  <a:gridCol w="685800"/>
                  <a:gridCol w="838200"/>
                  <a:gridCol w="762000"/>
                  <a:gridCol w="838200"/>
                  <a:gridCol w="838200"/>
                  <a:gridCol w="10668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SEVERITY</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NEW</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TRIAGE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FIX</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RETEST</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CLOSED</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FIX BY</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715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Sev 1 · Critical</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4 h</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15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Sev 2 · High</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0</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6</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 day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15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Sev 3 · Medium</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3</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3 days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15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Sev 4 · Low</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2</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1</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300"/>
                          </a:lnSpc>
                          <a:spcBef>
                            <a:spcPts val="0"/>
                          </a:spcBef>
                          <a:spcAft>
                            <a:spcPts val="0"/>
                          </a:spcAft>
                          <a:buNone/>
                          <a:defRPr lang="en-US" sz="1000" spc="0" kern="0" b="0" i="0" dirty="0">
                            <a:solidFill>
                              <a:srgbClr val="070154"/>
                            </a:solidFill>
                            <a:latin typeface="IBM Plex Mono SemiBold"/>
                            <a:ea typeface="IBM Plex Mono SemiBold"/>
                            <a:cs typeface="IBM Plex Mono SemiBold"/>
                          </a:defRPr>
                        </a:pPr>
                        <a:r>
                          <a:rPr lang="en-US" sz="1000" spc="0" kern="0" b="0" i="0" dirty="0">
                            <a:solidFill>
                              <a:srgbClr val="070154"/>
                            </a:solidFill>
                            <a:latin typeface="IBM Plex Mono SemiBold"/>
                            <a:ea typeface="IBM Plex Mono SemiBold"/>
                            <a:cs typeface="IBM Plex Mono SemiBold"/>
                          </a:rPr>
                          <a:t xml:space="preserve">9</a:t>
                        </a:r>
                        <a:endParaRPr lang="en-US" sz="10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Release 2</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59" name="node02"/>
          <p:cNvGrpSpPr/>
          <p:nvPr/>
        </p:nvGrpSpPr>
        <p:grpSpPr>
          <a:xfrm>
            <a:off x="723900" y="4572000"/>
            <a:ext cx="2057400" cy="802069"/>
            <a:chOff x="723900" y="4572000"/>
            <a:chExt cx="2057400" cy="802069"/>
          </a:xfrm>
        </p:grpSpPr>
        <p:sp>
          <p:nvSpPr>
            <p:cNvPr id="40" name="node02.value"/>
            <p:cNvSpPr/>
            <p:nvPr/>
          </p:nvSpPr>
          <p:spPr>
            <a:xfrm>
              <a:off x="723900" y="4572000"/>
              <a:ext cx="20574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16</a:t>
              </a:r>
              <a:endParaRPr lang="en-US" sz="4000" spc="-80" kern="0" b="0" i="0" dirty="0">
                <a:solidFill>
                  <a:srgbClr val="070154"/>
                </a:solidFill>
                <a:latin typeface="IBM Plex Mono SemiBold"/>
                <a:ea typeface="IBM Plex Mono SemiBold"/>
                <a:cs typeface="IBM Plex Mono SemiBold"/>
              </a:endParaRPr>
            </a:p>
          </p:txBody>
        </p:sp>
        <p:sp>
          <p:nvSpPr>
            <p:cNvPr id="41" name="node02.label"/>
            <p:cNvSpPr/>
            <p:nvPr/>
          </p:nvSpPr>
          <p:spPr>
            <a:xfrm>
              <a:off x="723900" y="5158169"/>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open defects</a:t>
              </a:r>
              <a:endParaRPr lang="en-US" sz="1200" spc="0" kern="0" b="0" i="0" dirty="0">
                <a:solidFill>
                  <a:srgbClr val="50658E"/>
                </a:solidFill>
                <a:latin typeface="IBM Plex Sans"/>
                <a:ea typeface="IBM Plex Sans"/>
                <a:cs typeface="IBM Plex Sans"/>
              </a:endParaRPr>
            </a:p>
          </p:txBody>
        </p:sp>
      </p:grpSp>
      <p:grpSp>
        <p:nvGrpSpPr>
          <p:cNvPr id="60" name="node03"/>
          <p:cNvGrpSpPr/>
          <p:nvPr/>
        </p:nvGrpSpPr>
        <p:grpSpPr>
          <a:xfrm>
            <a:off x="3009900" y="4572000"/>
            <a:ext cx="2057400" cy="802069"/>
            <a:chOff x="3009900" y="4572000"/>
            <a:chExt cx="2057400" cy="802069"/>
          </a:xfrm>
        </p:grpSpPr>
        <p:sp>
          <p:nvSpPr>
            <p:cNvPr id="42" name="node03.value"/>
            <p:cNvSpPr/>
            <p:nvPr/>
          </p:nvSpPr>
          <p:spPr>
            <a:xfrm>
              <a:off x="3009900" y="4572000"/>
              <a:ext cx="20574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1.8</a:t>
              </a:r>
              <a:endParaRPr lang="en-US" sz="4000" spc="-80" kern="0" b="0" i="0" dirty="0">
                <a:solidFill>
                  <a:srgbClr val="070154"/>
                </a:solidFill>
                <a:latin typeface="IBM Plex Mono SemiBold"/>
                <a:ea typeface="IBM Plex Mono SemiBold"/>
                <a:cs typeface="IBM Plex Mono SemiBold"/>
              </a:endParaRPr>
            </a:p>
          </p:txBody>
        </p:sp>
        <p:sp>
          <p:nvSpPr>
            <p:cNvPr id="43" name="node03.label"/>
            <p:cNvSpPr/>
            <p:nvPr/>
          </p:nvSpPr>
          <p:spPr>
            <a:xfrm>
              <a:off x="3009900" y="5158169"/>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days mean time to fix</a:t>
              </a:r>
              <a:endParaRPr lang="en-US" sz="1200" spc="0" kern="0" b="0" i="0" dirty="0">
                <a:solidFill>
                  <a:srgbClr val="50658E"/>
                </a:solidFill>
                <a:latin typeface="IBM Plex Sans"/>
                <a:ea typeface="IBM Plex Sans"/>
                <a:cs typeface="IBM Plex Sans"/>
              </a:endParaRPr>
            </a:p>
          </p:txBody>
        </p:sp>
      </p:grpSp>
      <p:grpSp>
        <p:nvGrpSpPr>
          <p:cNvPr id="61" name="node04"/>
          <p:cNvGrpSpPr/>
          <p:nvPr/>
        </p:nvGrpSpPr>
        <p:grpSpPr>
          <a:xfrm>
            <a:off x="5295900" y="4572000"/>
            <a:ext cx="2057400" cy="802069"/>
            <a:chOff x="5295900" y="4572000"/>
            <a:chExt cx="2057400" cy="802069"/>
          </a:xfrm>
        </p:grpSpPr>
        <p:sp>
          <p:nvSpPr>
            <p:cNvPr id="44" name="node04.value"/>
            <p:cNvSpPr/>
            <p:nvPr/>
          </p:nvSpPr>
          <p:spPr>
            <a:xfrm>
              <a:off x="5295900" y="4572000"/>
              <a:ext cx="20574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3</a:t>
              </a:r>
              <a:endParaRPr lang="en-US" sz="4000" spc="-80" kern="0" b="0" i="0" dirty="0">
                <a:solidFill>
                  <a:srgbClr val="070154"/>
                </a:solidFill>
                <a:latin typeface="IBM Plex Mono SemiBold"/>
                <a:ea typeface="IBM Plex Mono SemiBold"/>
                <a:cs typeface="IBM Plex Mono SemiBold"/>
              </a:endParaRPr>
            </a:p>
          </p:txBody>
        </p:sp>
        <p:sp>
          <p:nvSpPr>
            <p:cNvPr id="45" name="node04.label"/>
            <p:cNvSpPr/>
            <p:nvPr/>
          </p:nvSpPr>
          <p:spPr>
            <a:xfrm>
              <a:off x="5295900" y="5158169"/>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awaiting retest</a:t>
              </a:r>
              <a:endParaRPr lang="en-US" sz="1200" spc="0" kern="0" b="0" i="0" dirty="0">
                <a:solidFill>
                  <a:srgbClr val="50658E"/>
                </a:solidFill>
                <a:latin typeface="IBM Plex Sans"/>
                <a:ea typeface="IBM Plex Sans"/>
                <a:cs typeface="IBM Plex Sans"/>
              </a:endParaRPr>
            </a:p>
          </p:txBody>
        </p:sp>
      </p:grpSp>
      <p:grpSp>
        <p:nvGrpSpPr>
          <p:cNvPr id="62" name="node05"/>
          <p:cNvGrpSpPr/>
          <p:nvPr/>
        </p:nvGrpSpPr>
        <p:grpSpPr>
          <a:xfrm>
            <a:off x="7581900" y="1600200"/>
            <a:ext cx="3886200" cy="139700"/>
            <a:chOff x="7581900" y="1600200"/>
            <a:chExt cx="3886200" cy="139700"/>
          </a:xfrm>
        </p:grpSpPr>
        <p:sp>
          <p:nvSpPr>
            <p:cNvPr id="46" name="node05.text"/>
            <p:cNvSpPr/>
            <p:nvPr/>
          </p:nvSpPr>
          <p:spPr>
            <a:xfrm>
              <a:off x="7581900" y="1600200"/>
              <a:ext cx="3886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TRIAGE RULES</a:t>
              </a:r>
              <a:endParaRPr lang="en-US" sz="800" spc="48" kern="0" b="0" i="0" dirty="0">
                <a:solidFill>
                  <a:srgbClr val="50658E"/>
                </a:solidFill>
                <a:latin typeface="IBM Plex Mono Medium"/>
                <a:ea typeface="IBM Plex Mono Medium"/>
                <a:cs typeface="IBM Plex Mono Medium"/>
              </a:endParaRPr>
            </a:p>
          </p:txBody>
        </p:sp>
      </p:grpSp>
      <p:grpSp>
        <p:nvGrpSpPr>
          <p:cNvPr id="63" name="node06"/>
          <p:cNvGrpSpPr/>
          <p:nvPr/>
        </p:nvGrpSpPr>
        <p:grpSpPr>
          <a:xfrm>
            <a:off x="7581900" y="1828800"/>
            <a:ext cx="3886200" cy="977900"/>
            <a:chOff x="7581900" y="1828800"/>
            <a:chExt cx="3886200" cy="977900"/>
          </a:xfrm>
        </p:grpSpPr>
        <p:sp>
          <p:nvSpPr>
            <p:cNvPr id="47" name="node06.source-001.bullet"/>
            <p:cNvSpPr/>
            <p:nvPr/>
          </p:nvSpPr>
          <p:spPr>
            <a:xfrm>
              <a:off x="7581900" y="1917700"/>
              <a:ext cx="38100" cy="38100"/>
            </a:xfrm>
            <a:prstGeom prst="rect">
              <a:avLst/>
            </a:prstGeom>
            <a:solidFill>
              <a:srgbClr val="070154"/>
            </a:solidFill>
            <a:ln>
              <a:noFill/>
            </a:ln>
          </p:spPr>
        </p:sp>
        <p:sp>
          <p:nvSpPr>
            <p:cNvPr id="48" name="node06.source-001.text"/>
            <p:cNvSpPr/>
            <p:nvPr/>
          </p:nvSpPr>
          <p:spPr>
            <a:xfrm>
              <a:off x="7734300" y="1828800"/>
              <a:ext cx="3733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Triage twice a day at 09:00 and 16:00.</a:t>
              </a:r>
              <a:endParaRPr lang="en-US" sz="1200" spc="0" kern="0" b="0" i="0" dirty="0">
                <a:solidFill>
                  <a:srgbClr val="070154"/>
                </a:solidFill>
                <a:latin typeface="IBM Plex Sans"/>
                <a:ea typeface="IBM Plex Sans"/>
                <a:cs typeface="IBM Plex Sans"/>
              </a:endParaRPr>
            </a:p>
          </p:txBody>
        </p:sp>
        <p:sp>
          <p:nvSpPr>
            <p:cNvPr id="49" name="node06.source-002.bullet"/>
            <p:cNvSpPr/>
            <p:nvPr/>
          </p:nvSpPr>
          <p:spPr>
            <a:xfrm>
              <a:off x="7581900" y="2171700"/>
              <a:ext cx="38100" cy="38100"/>
            </a:xfrm>
            <a:prstGeom prst="rect">
              <a:avLst/>
            </a:prstGeom>
            <a:solidFill>
              <a:srgbClr val="070154"/>
            </a:solidFill>
            <a:ln>
              <a:noFill/>
            </a:ln>
          </p:spPr>
        </p:sp>
        <p:sp>
          <p:nvSpPr>
            <p:cNvPr id="50" name="node06.source-002.text"/>
            <p:cNvSpPr/>
            <p:nvPr/>
          </p:nvSpPr>
          <p:spPr>
            <a:xfrm>
              <a:off x="7734300" y="2082800"/>
              <a:ext cx="3733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Sev 1 and 2 go straight to the fix team.</a:t>
              </a:r>
              <a:endParaRPr lang="en-US" sz="1200" spc="0" kern="0" b="0" i="0" dirty="0">
                <a:solidFill>
                  <a:srgbClr val="070154"/>
                </a:solidFill>
                <a:latin typeface="IBM Plex Sans"/>
                <a:ea typeface="IBM Plex Sans"/>
                <a:cs typeface="IBM Plex Sans"/>
              </a:endParaRPr>
            </a:p>
          </p:txBody>
        </p:sp>
        <p:sp>
          <p:nvSpPr>
            <p:cNvPr id="51" name="node06.source-003.bullet"/>
            <p:cNvSpPr/>
            <p:nvPr/>
          </p:nvSpPr>
          <p:spPr>
            <a:xfrm>
              <a:off x="7581900" y="2425700"/>
              <a:ext cx="38100" cy="38100"/>
            </a:xfrm>
            <a:prstGeom prst="rect">
              <a:avLst/>
            </a:prstGeom>
            <a:solidFill>
              <a:srgbClr val="070154"/>
            </a:solidFill>
            <a:ln>
              <a:noFill/>
            </a:ln>
          </p:spPr>
        </p:sp>
        <p:sp>
          <p:nvSpPr>
            <p:cNvPr id="52" name="node06.source-003.text"/>
            <p:cNvSpPr/>
            <p:nvPr/>
          </p:nvSpPr>
          <p:spPr>
            <a:xfrm>
              <a:off x="7734300" y="2336800"/>
              <a:ext cx="3733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Sev 3 needs a workaround before go-live.</a:t>
              </a:r>
              <a:endParaRPr lang="en-US" sz="1200" spc="0" kern="0" b="0" i="0" dirty="0">
                <a:solidFill>
                  <a:srgbClr val="070154"/>
                </a:solidFill>
                <a:latin typeface="IBM Plex Sans"/>
                <a:ea typeface="IBM Plex Sans"/>
                <a:cs typeface="IBM Plex Sans"/>
              </a:endParaRPr>
            </a:p>
          </p:txBody>
        </p:sp>
        <p:sp>
          <p:nvSpPr>
            <p:cNvPr id="53" name="node06.source-004.bullet"/>
            <p:cNvSpPr/>
            <p:nvPr/>
          </p:nvSpPr>
          <p:spPr>
            <a:xfrm>
              <a:off x="7581900" y="2679700"/>
              <a:ext cx="38100" cy="38100"/>
            </a:xfrm>
            <a:prstGeom prst="rect">
              <a:avLst/>
            </a:prstGeom>
            <a:solidFill>
              <a:srgbClr val="070154"/>
            </a:solidFill>
            <a:ln>
              <a:noFill/>
            </a:ln>
          </p:spPr>
        </p:sp>
        <p:sp>
          <p:nvSpPr>
            <p:cNvPr id="54" name="node06.source-004.text"/>
            <p:cNvSpPr/>
            <p:nvPr/>
          </p:nvSpPr>
          <p:spPr>
            <a:xfrm>
              <a:off x="7734300" y="2590800"/>
              <a:ext cx="3733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Sev 4 moves to the post-go-live backlog.</a:t>
              </a:r>
              <a:endParaRPr lang="en-US" sz="1200" spc="0" kern="0" b="0" i="0" dirty="0">
                <a:solidFill>
                  <a:srgbClr val="070154"/>
                </a:solidFill>
                <a:latin typeface="IBM Plex Sans"/>
                <a:ea typeface="IBM Plex Sans"/>
                <a:cs typeface="IBM Plex Sans"/>
              </a:endParaRPr>
            </a:p>
          </p:txBody>
        </p:sp>
      </p:grpSp>
      <p:grpSp>
        <p:nvGrpSpPr>
          <p:cNvPr id="64" name="node07"/>
          <p:cNvGrpSpPr/>
          <p:nvPr/>
        </p:nvGrpSpPr>
        <p:grpSpPr>
          <a:xfrm>
            <a:off x="7581900" y="3200400"/>
            <a:ext cx="3886200" cy="1143000"/>
            <a:chOff x="7581900" y="3200400"/>
            <a:chExt cx="3886200" cy="1143000"/>
          </a:xfrm>
        </p:grpSpPr>
        <p:sp>
          <p:nvSpPr>
            <p:cNvPr id="55" name="node07.surface"/>
            <p:cNvSpPr/>
            <p:nvPr/>
          </p:nvSpPr>
          <p:spPr>
            <a:xfrm>
              <a:off x="7581900" y="3200400"/>
              <a:ext cx="3886200" cy="1143000"/>
            </a:xfrm>
            <a:prstGeom prst="rect">
              <a:avLst/>
            </a:prstGeom>
            <a:solidFill>
              <a:srgbClr val="E8EEF8"/>
            </a:solidFill>
            <a:ln>
              <a:noFill/>
            </a:ln>
          </p:spPr>
        </p:sp>
        <p:sp>
          <p:nvSpPr>
            <p:cNvPr id="56" name="node07.text"/>
            <p:cNvSpPr/>
            <p:nvPr/>
          </p:nvSpPr>
          <p:spPr>
            <a:xfrm>
              <a:off x="7734300" y="3581400"/>
              <a:ext cx="3581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Exit rule: no Sev 1 or 2 open, and every Sev 3 has an approved workaround.</a:t>
              </a:r>
              <a:endParaRPr lang="en-US" sz="1100" spc="0" kern="0" b="0" i="0" dirty="0">
                <a:solidFill>
                  <a:srgbClr val="070154"/>
                </a:solidFill>
                <a:latin typeface="IBM Plex Sans"/>
                <a:ea typeface="IBM Plex Sans"/>
                <a:cs typeface="IBM Plex Sans"/>
              </a:endParaRPr>
            </a:p>
          </p:txBody>
        </p:sp>
      </p:grpSp>
      <p:grpSp>
        <p:nvGrpSpPr>
          <p:cNvPr id="65" name="node08"/>
          <p:cNvGrpSpPr/>
          <p:nvPr/>
        </p:nvGrpSpPr>
        <p:grpSpPr>
          <a:xfrm>
            <a:off x="7581900" y="4572000"/>
            <a:ext cx="3886200" cy="381000"/>
            <a:chOff x="7581900" y="4572000"/>
            <a:chExt cx="3886200" cy="381000"/>
          </a:xfrm>
        </p:grpSpPr>
        <p:sp>
          <p:nvSpPr>
            <p:cNvPr id="57" name="node08.text"/>
            <p:cNvSpPr/>
            <p:nvPr/>
          </p:nvSpPr>
          <p:spPr>
            <a:xfrm>
              <a:off x="7581900" y="4572000"/>
              <a:ext cx="3886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The test lead triages with the process owner. The Controller signs the exit.</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ource-22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CHANGE IMPACT: FRONT-DESK SCHEDULERS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Front-desk schedulers are hit hardest on process, technology and role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change impact assessment,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195</a:t>
            </a:fld>
            <a:endParaRPr lang="en-US" sz="700" spc="0" kern="0" b="0" i="0" dirty="0">
              <a:solidFill>
                <a:srgbClr val="070154"/>
              </a:solidFill>
              <a:latin typeface="IBM Plex Mono SemiBold"/>
              <a:ea typeface="IBM Plex Mono SemiBold"/>
              <a:cs typeface="IBM Plex Mono SemiBold"/>
            </a:endParaRPr>
          </a:p>
        </p:txBody>
      </p:sp>
      <p:grpSp>
        <p:nvGrpSpPr>
          <p:cNvPr id="39" name="node01"/>
          <p:cNvGrpSpPr/>
          <p:nvPr/>
        </p:nvGrpSpPr>
        <p:grpSpPr>
          <a:xfrm>
            <a:off x="723900" y="2057400"/>
            <a:ext cx="10744200" cy="2743200"/>
            <a:chOff x="723900" y="2057400"/>
            <a:chExt cx="10744200" cy="2743200"/>
          </a:xfrm>
        </p:grpSpPr>
        <p:grpSp>
          <p:nvGrpSpPr>
            <p:cNvPr id="35" name="node01.item-001"/>
            <p:cNvGrpSpPr/>
            <p:nvPr/>
          </p:nvGrpSpPr>
          <p:grpSpPr>
            <a:xfrm>
              <a:off x="723900" y="2057400"/>
              <a:ext cx="2514600" cy="2743200"/>
              <a:chOff x="723900" y="2057400"/>
              <a:chExt cx="2514600" cy="2743200"/>
            </a:xfrm>
          </p:grpSpPr>
          <p:sp>
            <p:nvSpPr>
              <p:cNvPr id="7" name="node01.item-001.container"/>
              <p:cNvSpPr/>
              <p:nvPr/>
            </p:nvSpPr>
            <p:spPr>
              <a:xfrm>
                <a:off x="723900" y="2057400"/>
                <a:ext cx="2514600" cy="2743200"/>
              </a:xfrm>
              <a:prstGeom prst="rect">
                <a:avLst/>
              </a:prstGeom>
              <a:solidFill>
                <a:srgbClr val="E8EEF8"/>
              </a:solidFill>
              <a:ln>
                <a:noFill/>
              </a:ln>
            </p:spPr>
          </p:sp>
          <p:sp>
            <p:nvSpPr>
              <p:cNvPr id="8" name="node01.item-001.label"/>
              <p:cNvSpPr/>
              <p:nvPr/>
            </p:nvSpPr>
            <p:spPr>
              <a:xfrm>
                <a:off x="876300" y="22098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HIGH IMPACT</a:t>
                </a:r>
                <a:endParaRPr lang="en-US" sz="800" spc="48" kern="0" b="0" i="0" dirty="0">
                  <a:solidFill>
                    <a:srgbClr val="0047FF"/>
                  </a:solidFill>
                  <a:latin typeface="IBM Plex Mono Medium"/>
                  <a:ea typeface="IBM Plex Mono Medium"/>
                  <a:cs typeface="IBM Plex Mono Medium"/>
                </a:endParaRPr>
              </a:p>
            </p:txBody>
          </p:sp>
          <p:sp>
            <p:nvSpPr>
              <p:cNvPr id="9" name="node01.item-001.number"/>
              <p:cNvSpPr/>
              <p:nvPr/>
            </p:nvSpPr>
            <p:spPr>
              <a:xfrm>
                <a:off x="876300" y="24257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10" name="node01.item-001.title"/>
              <p:cNvSpPr/>
              <p:nvPr/>
            </p:nvSpPr>
            <p:spPr>
              <a:xfrm>
                <a:off x="1247775" y="24254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Process</a:t>
                </a:r>
                <a:endParaRPr lang="en-US" sz="1600" spc="-16" kern="0" b="0" i="0" dirty="0">
                  <a:solidFill>
                    <a:srgbClr val="0047FF"/>
                  </a:solidFill>
                  <a:latin typeface="IBM Plex Sans SemiBold"/>
                  <a:ea typeface="IBM Plex Sans SemiBold"/>
                  <a:cs typeface="IBM Plex Sans SemiBold"/>
                </a:endParaRPr>
              </a:p>
            </p:txBody>
          </p:sp>
          <p:sp>
            <p:nvSpPr>
              <p:cNvPr id="11" name="node01.item-001.body.item-001.paragraph"/>
              <p:cNvSpPr/>
              <p:nvPr/>
            </p:nvSpPr>
            <p:spPr>
              <a:xfrm>
                <a:off x="876300" y="2844800"/>
                <a:ext cx="22098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Walk-in and phone booking merge into one scheduling workflow with new double-booking rules.</a:t>
                </a:r>
                <a:endParaRPr lang="en-US" sz="1200" spc="0" kern="0" b="0" i="0" dirty="0">
                  <a:solidFill>
                    <a:srgbClr val="50658E"/>
                  </a:solidFill>
                  <a:latin typeface="IBM Plex Sans"/>
                  <a:ea typeface="IBM Plex Sans"/>
                  <a:cs typeface="IBM Plex Sans"/>
                </a:endParaRPr>
              </a:p>
            </p:txBody>
          </p:sp>
          <p:sp>
            <p:nvSpPr>
              <p:cNvPr id="12" name="node01.item-001.body.item-002.paragraph"/>
              <p:cNvSpPr/>
              <p:nvPr/>
            </p:nvSpPr>
            <p:spPr>
              <a:xfrm>
                <a:off x="876300" y="37846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Support: Redesign sessions with five clinics.</a:t>
                </a:r>
                <a:endParaRPr lang="en-US" sz="1200" spc="0" kern="0" b="0" i="0" dirty="0">
                  <a:solidFill>
                    <a:srgbClr val="50658E"/>
                  </a:solidFill>
                  <a:latin typeface="IBM Plex Sans"/>
                  <a:ea typeface="IBM Plex Sans"/>
                  <a:cs typeface="IBM Plex Sans"/>
                </a:endParaRPr>
              </a:p>
            </p:txBody>
          </p:sp>
        </p:grpSp>
        <p:grpSp>
          <p:nvGrpSpPr>
            <p:cNvPr id="36" name="node01.item-002"/>
            <p:cNvGrpSpPr/>
            <p:nvPr/>
          </p:nvGrpSpPr>
          <p:grpSpPr>
            <a:xfrm>
              <a:off x="3467100" y="2057400"/>
              <a:ext cx="2514600" cy="2743200"/>
              <a:chOff x="3467100" y="2057400"/>
              <a:chExt cx="2514600" cy="2743200"/>
            </a:xfrm>
          </p:grpSpPr>
          <p:sp>
            <p:nvSpPr>
              <p:cNvPr id="13" name="node01.item-002.container"/>
              <p:cNvSpPr/>
              <p:nvPr/>
            </p:nvSpPr>
            <p:spPr>
              <a:xfrm>
                <a:off x="3467100" y="2057400"/>
                <a:ext cx="2514600" cy="2743200"/>
              </a:xfrm>
              <a:prstGeom prst="rect">
                <a:avLst/>
              </a:prstGeom>
              <a:solidFill>
                <a:srgbClr val="E8EEF8"/>
              </a:solidFill>
              <a:ln>
                <a:noFill/>
              </a:ln>
            </p:spPr>
          </p:sp>
          <p:sp>
            <p:nvSpPr>
              <p:cNvPr id="14" name="node01.item-002.label"/>
              <p:cNvSpPr/>
              <p:nvPr/>
            </p:nvSpPr>
            <p:spPr>
              <a:xfrm>
                <a:off x="3619500" y="22098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HIGH IMPACT</a:t>
                </a:r>
                <a:endParaRPr lang="en-US" sz="800" spc="48" kern="0" b="0" i="0" dirty="0">
                  <a:solidFill>
                    <a:srgbClr val="0047FF"/>
                  </a:solidFill>
                  <a:latin typeface="IBM Plex Mono Medium"/>
                  <a:ea typeface="IBM Plex Mono Medium"/>
                  <a:cs typeface="IBM Plex Mono Medium"/>
                </a:endParaRPr>
              </a:p>
            </p:txBody>
          </p:sp>
          <p:sp>
            <p:nvSpPr>
              <p:cNvPr id="15" name="node01.item-002.number"/>
              <p:cNvSpPr/>
              <p:nvPr/>
            </p:nvSpPr>
            <p:spPr>
              <a:xfrm>
                <a:off x="3619500" y="24257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16" name="node01.item-002.title"/>
              <p:cNvSpPr/>
              <p:nvPr/>
            </p:nvSpPr>
            <p:spPr>
              <a:xfrm>
                <a:off x="3990975" y="24254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Technology</a:t>
                </a:r>
                <a:endParaRPr lang="en-US" sz="1600" spc="-16" kern="0" b="0" i="0" dirty="0">
                  <a:solidFill>
                    <a:srgbClr val="0047FF"/>
                  </a:solidFill>
                  <a:latin typeface="IBM Plex Sans SemiBold"/>
                  <a:ea typeface="IBM Plex Sans SemiBold"/>
                  <a:cs typeface="IBM Plex Sans SemiBold"/>
                </a:endParaRPr>
              </a:p>
            </p:txBody>
          </p:sp>
          <p:sp>
            <p:nvSpPr>
              <p:cNvPr id="17" name="node01.item-002.body.item-001.paragraph"/>
              <p:cNvSpPr/>
              <p:nvPr/>
            </p:nvSpPr>
            <p:spPr>
              <a:xfrm>
                <a:off x="3619500" y="2844800"/>
                <a:ext cx="22098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Three legacy schedule screens are replaced by a single web platform with new login.</a:t>
                </a:r>
                <a:endParaRPr lang="en-US" sz="1200" spc="0" kern="0" b="0" i="0" dirty="0">
                  <a:solidFill>
                    <a:srgbClr val="50658E"/>
                  </a:solidFill>
                  <a:latin typeface="IBM Plex Sans"/>
                  <a:ea typeface="IBM Plex Sans"/>
                  <a:cs typeface="IBM Plex Sans"/>
                </a:endParaRPr>
              </a:p>
            </p:txBody>
          </p:sp>
          <p:sp>
            <p:nvSpPr>
              <p:cNvPr id="18" name="node01.item-002.body.item-002.paragraph"/>
              <p:cNvSpPr/>
              <p:nvPr/>
            </p:nvSpPr>
            <p:spPr>
              <a:xfrm>
                <a:off x="3619500" y="35687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Support: Sandbox practice from week 6.</a:t>
                </a:r>
                <a:endParaRPr lang="en-US" sz="1200" spc="0" kern="0" b="0" i="0" dirty="0">
                  <a:solidFill>
                    <a:srgbClr val="50658E"/>
                  </a:solidFill>
                  <a:latin typeface="IBM Plex Sans"/>
                  <a:ea typeface="IBM Plex Sans"/>
                  <a:cs typeface="IBM Plex Sans"/>
                </a:endParaRPr>
              </a:p>
            </p:txBody>
          </p:sp>
        </p:grpSp>
        <p:grpSp>
          <p:nvGrpSpPr>
            <p:cNvPr id="37" name="node01.item-003"/>
            <p:cNvGrpSpPr/>
            <p:nvPr/>
          </p:nvGrpSpPr>
          <p:grpSpPr>
            <a:xfrm>
              <a:off x="6210300" y="2057400"/>
              <a:ext cx="2514600" cy="2743200"/>
              <a:chOff x="6210300" y="2057400"/>
              <a:chExt cx="2514600" cy="2743200"/>
            </a:xfrm>
          </p:grpSpPr>
          <p:sp>
            <p:nvSpPr>
              <p:cNvPr id="19" name="node01.item-003.container"/>
              <p:cNvSpPr/>
              <p:nvPr/>
            </p:nvSpPr>
            <p:spPr>
              <a:xfrm>
                <a:off x="6210300" y="2057400"/>
                <a:ext cx="2514600" cy="2743200"/>
              </a:xfrm>
              <a:prstGeom prst="rect">
                <a:avLst/>
              </a:prstGeom>
              <a:solidFill>
                <a:srgbClr val="E8EEF8"/>
              </a:solidFill>
              <a:ln>
                <a:noFill/>
              </a:ln>
            </p:spPr>
          </p:sp>
          <p:sp>
            <p:nvSpPr>
              <p:cNvPr id="20" name="node01.item-003.label"/>
              <p:cNvSpPr/>
              <p:nvPr/>
            </p:nvSpPr>
            <p:spPr>
              <a:xfrm>
                <a:off x="6362700" y="22098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HIGH IMPACT</a:t>
                </a:r>
                <a:endParaRPr lang="en-US" sz="800" spc="48" kern="0" b="0" i="0" dirty="0">
                  <a:solidFill>
                    <a:srgbClr val="0047FF"/>
                  </a:solidFill>
                  <a:latin typeface="IBM Plex Mono Medium"/>
                  <a:ea typeface="IBM Plex Mono Medium"/>
                  <a:cs typeface="IBM Plex Mono Medium"/>
                </a:endParaRPr>
              </a:p>
            </p:txBody>
          </p:sp>
          <p:sp>
            <p:nvSpPr>
              <p:cNvPr id="21" name="node01.item-003.number"/>
              <p:cNvSpPr/>
              <p:nvPr/>
            </p:nvSpPr>
            <p:spPr>
              <a:xfrm>
                <a:off x="6362700" y="24257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22" name="node01.item-003.title"/>
              <p:cNvSpPr/>
              <p:nvPr/>
            </p:nvSpPr>
            <p:spPr>
              <a:xfrm>
                <a:off x="6734175" y="24254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Role</a:t>
                </a:r>
                <a:endParaRPr lang="en-US" sz="1600" spc="-16" kern="0" b="0" i="0" dirty="0">
                  <a:solidFill>
                    <a:srgbClr val="0047FF"/>
                  </a:solidFill>
                  <a:latin typeface="IBM Plex Sans SemiBold"/>
                  <a:ea typeface="IBM Plex Sans SemiBold"/>
                  <a:cs typeface="IBM Plex Sans SemiBold"/>
                </a:endParaRPr>
              </a:p>
            </p:txBody>
          </p:sp>
          <p:sp>
            <p:nvSpPr>
              <p:cNvPr id="23" name="node01.item-003.body.item-001.paragraph"/>
              <p:cNvSpPr/>
              <p:nvPr/>
            </p:nvSpPr>
            <p:spPr>
              <a:xfrm>
                <a:off x="6362700" y="2844800"/>
                <a:ext cx="22098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Schedulers own referral holds and waitlist outreach that used to sit with nurses.</a:t>
                </a:r>
                <a:endParaRPr lang="en-US" sz="1200" spc="0" kern="0" b="0" i="0" dirty="0">
                  <a:solidFill>
                    <a:srgbClr val="50658E"/>
                  </a:solidFill>
                  <a:latin typeface="IBM Plex Sans"/>
                  <a:ea typeface="IBM Plex Sans"/>
                  <a:cs typeface="IBM Plex Sans"/>
                </a:endParaRPr>
              </a:p>
            </p:txBody>
          </p:sp>
          <p:sp>
            <p:nvSpPr>
              <p:cNvPr id="24" name="node01.item-003.body.item-002.paragraph"/>
              <p:cNvSpPr/>
              <p:nvPr/>
            </p:nvSpPr>
            <p:spPr>
              <a:xfrm>
                <a:off x="6362700" y="35687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Support: Updated role cards and job aids.</a:t>
                </a:r>
                <a:endParaRPr lang="en-US" sz="1200" spc="0" kern="0" b="0" i="0" dirty="0">
                  <a:solidFill>
                    <a:srgbClr val="50658E"/>
                  </a:solidFill>
                  <a:latin typeface="IBM Plex Sans"/>
                  <a:ea typeface="IBM Plex Sans"/>
                  <a:cs typeface="IBM Plex Sans"/>
                </a:endParaRPr>
              </a:p>
            </p:txBody>
          </p:sp>
        </p:grpSp>
        <p:grpSp>
          <p:nvGrpSpPr>
            <p:cNvPr id="38" name="node01.item-004"/>
            <p:cNvGrpSpPr/>
            <p:nvPr/>
          </p:nvGrpSpPr>
          <p:grpSpPr>
            <a:xfrm>
              <a:off x="8953500" y="2057400"/>
              <a:ext cx="2514600" cy="2743200"/>
              <a:chOff x="8953500" y="2057400"/>
              <a:chExt cx="2514600" cy="2743200"/>
            </a:xfrm>
          </p:grpSpPr>
          <p:sp>
            <p:nvSpPr>
              <p:cNvPr id="25" name="node01.item-004.container"/>
              <p:cNvSpPr/>
              <p:nvPr/>
            </p:nvSpPr>
            <p:spPr>
              <a:xfrm>
                <a:off x="8953500" y="2057400"/>
                <a:ext cx="2514600" cy="2743200"/>
              </a:xfrm>
              <a:prstGeom prst="rect">
                <a:avLst/>
              </a:prstGeom>
              <a:solidFill>
                <a:srgbClr val="E8EEF8"/>
              </a:solidFill>
              <a:ln>
                <a:noFill/>
              </a:ln>
            </p:spPr>
          </p:sp>
          <p:sp>
            <p:nvSpPr>
              <p:cNvPr id="26" name="node01.item-004.label"/>
              <p:cNvSpPr/>
              <p:nvPr/>
            </p:nvSpPr>
            <p:spPr>
              <a:xfrm>
                <a:off x="9105900" y="22098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MEDIUM IMPACT</a:t>
                </a:r>
                <a:endParaRPr lang="en-US" sz="800" spc="48" kern="0" b="0" i="0" dirty="0">
                  <a:solidFill>
                    <a:srgbClr val="0047FF"/>
                  </a:solidFill>
                  <a:latin typeface="IBM Plex Mono Medium"/>
                  <a:ea typeface="IBM Plex Mono Medium"/>
                  <a:cs typeface="IBM Plex Mono Medium"/>
                </a:endParaRPr>
              </a:p>
            </p:txBody>
          </p:sp>
          <p:sp>
            <p:nvSpPr>
              <p:cNvPr id="27" name="node01.item-004.number"/>
              <p:cNvSpPr/>
              <p:nvPr/>
            </p:nvSpPr>
            <p:spPr>
              <a:xfrm>
                <a:off x="9105900" y="24257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04</a:t>
                </a:r>
                <a:endParaRPr lang="en-US" sz="1600" spc="0" kern="0" b="0" i="0" dirty="0">
                  <a:solidFill>
                    <a:srgbClr val="0047FF"/>
                  </a:solidFill>
                  <a:latin typeface="IBM Plex Mono SemiBold"/>
                  <a:ea typeface="IBM Plex Mono SemiBold"/>
                  <a:cs typeface="IBM Plex Mono SemiBold"/>
                </a:endParaRPr>
              </a:p>
            </p:txBody>
          </p:sp>
          <p:sp>
            <p:nvSpPr>
              <p:cNvPr id="28" name="node01.item-004.title"/>
              <p:cNvSpPr/>
              <p:nvPr/>
            </p:nvSpPr>
            <p:spPr>
              <a:xfrm>
                <a:off x="9477375" y="24254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Skills</a:t>
                </a:r>
                <a:endParaRPr lang="en-US" sz="1600" spc="-16" kern="0" b="0" i="0" dirty="0">
                  <a:solidFill>
                    <a:srgbClr val="0047FF"/>
                  </a:solidFill>
                  <a:latin typeface="IBM Plex Sans SemiBold"/>
                  <a:ea typeface="IBM Plex Sans SemiBold"/>
                  <a:cs typeface="IBM Plex Sans SemiBold"/>
                </a:endParaRPr>
              </a:p>
            </p:txBody>
          </p:sp>
          <p:sp>
            <p:nvSpPr>
              <p:cNvPr id="29" name="node01.item-004.body.item-001.paragraph"/>
              <p:cNvSpPr/>
              <p:nvPr/>
            </p:nvSpPr>
            <p:spPr>
              <a:xfrm>
                <a:off x="9105900" y="2844800"/>
                <a:ext cx="22098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Template building and rules-based overbooking are new skills for the team.</a:t>
                </a:r>
                <a:endParaRPr lang="en-US" sz="1200" spc="0" kern="0" b="0" i="0" dirty="0">
                  <a:solidFill>
                    <a:srgbClr val="50658E"/>
                  </a:solidFill>
                  <a:latin typeface="IBM Plex Sans"/>
                  <a:ea typeface="IBM Plex Sans"/>
                  <a:cs typeface="IBM Plex Sans"/>
                </a:endParaRPr>
              </a:p>
            </p:txBody>
          </p:sp>
          <p:sp>
            <p:nvSpPr>
              <p:cNvPr id="30" name="node01.item-004.body.item-002.paragraph"/>
              <p:cNvSpPr/>
              <p:nvPr/>
            </p:nvSpPr>
            <p:spPr>
              <a:xfrm>
                <a:off x="9105900" y="35687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Support: Eight hours of role-based training.</a:t>
                </a:r>
                <a:endParaRPr lang="en-US" sz="1200" spc="0" kern="0" b="0" i="0" dirty="0">
                  <a:solidFill>
                    <a:srgbClr val="50658E"/>
                  </a:solidFill>
                  <a:latin typeface="IBM Plex Sans"/>
                  <a:ea typeface="IBM Plex Sans"/>
                  <a:cs typeface="IBM Plex Sans"/>
                </a:endParaRPr>
              </a:p>
            </p:txBody>
          </p:sp>
        </p:grpSp>
      </p:grpSp>
      <p:grpSp>
        <p:nvGrpSpPr>
          <p:cNvPr id="40" name="node02"/>
          <p:cNvGrpSpPr/>
          <p:nvPr/>
        </p:nvGrpSpPr>
        <p:grpSpPr>
          <a:xfrm>
            <a:off x="723900" y="5029200"/>
            <a:ext cx="5257800" cy="685800"/>
            <a:chOff x="723900" y="5029200"/>
            <a:chExt cx="5257800" cy="685800"/>
          </a:xfrm>
        </p:grpSpPr>
        <p:sp>
          <p:nvSpPr>
            <p:cNvPr id="31" name="node02.container"/>
            <p:cNvSpPr/>
            <p:nvPr/>
          </p:nvSpPr>
          <p:spPr>
            <a:xfrm>
              <a:off x="730250" y="5035550"/>
              <a:ext cx="5245100" cy="673100"/>
            </a:xfrm>
            <a:prstGeom prst="rect">
              <a:avLst/>
            </a:prstGeom>
            <a:solidFill>
              <a:srgbClr val="FFFFFF"/>
            </a:solidFill>
            <a:ln w="12700">
              <a:solidFill>
                <a:srgbClr val="CED7E6"/>
              </a:solidFill>
              <a:prstDash val="solid"/>
            </a:ln>
          </p:spPr>
        </p:sp>
        <p:sp>
          <p:nvSpPr>
            <p:cNvPr id="32" name="node02.title"/>
            <p:cNvSpPr/>
            <p:nvPr/>
          </p:nvSpPr>
          <p:spPr>
            <a:xfrm>
              <a:off x="876300" y="5181600"/>
              <a:ext cx="4953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Scale: 142 schedulers, nine sites</a:t>
              </a:r>
              <a:endParaRPr lang="en-US" sz="1600" spc="-16" kern="0" b="0" i="0" dirty="0">
                <a:solidFill>
                  <a:srgbClr val="070154"/>
                </a:solidFill>
                <a:latin typeface="IBM Plex Sans SemiBold"/>
                <a:ea typeface="IBM Plex Sans SemiBold"/>
                <a:cs typeface="IBM Plex Sans SemiBold"/>
              </a:endParaRPr>
            </a:p>
          </p:txBody>
        </p:sp>
      </p:grpSp>
      <p:grpSp>
        <p:nvGrpSpPr>
          <p:cNvPr id="41" name="node03"/>
          <p:cNvGrpSpPr/>
          <p:nvPr/>
        </p:nvGrpSpPr>
        <p:grpSpPr>
          <a:xfrm>
            <a:off x="6210300" y="5029200"/>
            <a:ext cx="5257800" cy="685800"/>
            <a:chOff x="6210300" y="5029200"/>
            <a:chExt cx="5257800" cy="685800"/>
          </a:xfrm>
        </p:grpSpPr>
        <p:sp>
          <p:nvSpPr>
            <p:cNvPr id="33" name="node03.container"/>
            <p:cNvSpPr/>
            <p:nvPr/>
          </p:nvSpPr>
          <p:spPr>
            <a:xfrm>
              <a:off x="6216650" y="5035550"/>
              <a:ext cx="5245100" cy="673100"/>
            </a:xfrm>
            <a:prstGeom prst="rect">
              <a:avLst/>
            </a:prstGeom>
            <a:solidFill>
              <a:srgbClr val="FFFFFF"/>
            </a:solidFill>
            <a:ln w="12700">
              <a:solidFill>
                <a:srgbClr val="CED7E6"/>
              </a:solidFill>
              <a:prstDash val="solid"/>
            </a:ln>
          </p:spPr>
        </p:sp>
        <p:sp>
          <p:nvSpPr>
            <p:cNvPr id="34" name="node03.title"/>
            <p:cNvSpPr/>
            <p:nvPr/>
          </p:nvSpPr>
          <p:spPr>
            <a:xfrm>
              <a:off x="6362700" y="5181600"/>
              <a:ext cx="4953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Limit: 61 work part time</a:t>
              </a:r>
              <a:endParaRPr lang="en-US" sz="1600" spc="-16"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ource-50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Seven stakeholders need active engagement before go-live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stakeholder interviews,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196</a:t>
            </a:fld>
            <a:endParaRPr lang="en-US" sz="700" spc="0" kern="0" b="0" i="0" dirty="0">
              <a:solidFill>
                <a:srgbClr val="070154"/>
              </a:solidFill>
              <a:latin typeface="IBM Plex Mono SemiBold"/>
              <a:ea typeface="IBM Plex Mono SemiBold"/>
              <a:cs typeface="IBM Plex Mono SemiBold"/>
            </a:endParaRPr>
          </a:p>
        </p:txBody>
      </p:sp>
      <p:grpSp>
        <p:nvGrpSpPr>
          <p:cNvPr id="86" name="node01"/>
          <p:cNvGrpSpPr/>
          <p:nvPr/>
        </p:nvGrpSpPr>
        <p:grpSpPr>
          <a:xfrm>
            <a:off x="723900" y="1600200"/>
            <a:ext cx="7239000" cy="3860800"/>
            <a:chOff x="723900" y="1600200"/>
            <a:chExt cx="7239000" cy="3860800"/>
          </a:xfrm>
        </p:grpSpPr>
        <p:sp>
          <p:nvSpPr>
            <p:cNvPr id="7" name="node01.title"/>
            <p:cNvSpPr/>
            <p:nvPr/>
          </p:nvSpPr>
          <p:spPr>
            <a:xfrm>
              <a:off x="723900" y="1600200"/>
              <a:ext cx="7239000" cy="3048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Influence over adoption and degree of impact</a:t>
              </a:r>
              <a:endParaRPr lang="en-US" sz="1600" spc="-16" kern="0" b="0" i="0" dirty="0">
                <a:solidFill>
                  <a:srgbClr val="070154"/>
                </a:solidFill>
                <a:latin typeface="IBM Plex Sans SemiBold"/>
                <a:ea typeface="IBM Plex Sans SemiBold"/>
                <a:cs typeface="IBM Plex Sans SemiBold"/>
              </a:endParaRPr>
            </a:p>
          </p:txBody>
        </p:sp>
        <p:sp>
          <p:nvSpPr>
            <p:cNvPr id="8" name="node01.quadrant.tl"/>
            <p:cNvSpPr/>
            <p:nvPr/>
          </p:nvSpPr>
          <p:spPr>
            <a:xfrm>
              <a:off x="1028700" y="1905000"/>
              <a:ext cx="1676400" cy="1676400"/>
            </a:xfrm>
            <a:prstGeom prst="rect">
              <a:avLst/>
            </a:prstGeom>
            <a:solidFill>
              <a:srgbClr val="FFFFFF"/>
            </a:solidFill>
            <a:ln>
              <a:noFill/>
            </a:ln>
          </p:spPr>
        </p:sp>
        <p:sp>
          <p:nvSpPr>
            <p:cNvPr id="9" name="node01.name.tl"/>
            <p:cNvSpPr/>
            <p:nvPr/>
          </p:nvSpPr>
          <p:spPr>
            <a:xfrm>
              <a:off x="1143000" y="1981200"/>
              <a:ext cx="1447800" cy="139700"/>
            </a:xfrm>
            <a:prstGeom prst="rect">
              <a:avLst/>
            </a:prstGeom>
            <a:noFill/>
            <a:ln/>
          </p:spPr>
          <p:txBody>
            <a:bodyPr wrap="square" lIns="0" tIns="0" rIns="0" bIns="0" rtlCol="0" anchor="t"/>
            <a:lstStyle/>
            <a:p>
              <a:pPr algn="l" indent="0" marL="0">
                <a:lnSpc>
                  <a:spcPts val="1100"/>
                </a:lnSpc>
                <a:buNone/>
              </a:pPr>
              <a:r>
                <a:rPr lang="en-US" sz="800" spc="60" kern="0" b="0" i="0" dirty="0">
                  <a:solidFill>
                    <a:srgbClr val="070154"/>
                  </a:solidFill>
                  <a:latin typeface="IBM Plex Mono SemiBold"/>
                  <a:ea typeface="IBM Plex Mono SemiBold"/>
                  <a:cs typeface="IBM Plex Mono SemiBold"/>
                </a:rPr>
                <a:t>SUPPORT CLOSELY</a:t>
              </a:r>
              <a:endParaRPr lang="en-US" sz="800" spc="60" kern="0" b="0" i="0" dirty="0">
                <a:solidFill>
                  <a:srgbClr val="070154"/>
                </a:solidFill>
                <a:latin typeface="IBM Plex Mono SemiBold"/>
                <a:ea typeface="IBM Plex Mono SemiBold"/>
                <a:cs typeface="IBM Plex Mono SemiBold"/>
              </a:endParaRPr>
            </a:p>
          </p:txBody>
        </p:sp>
        <p:sp>
          <p:nvSpPr>
            <p:cNvPr id="10" name="node01.quadrant.tr"/>
            <p:cNvSpPr/>
            <p:nvPr/>
          </p:nvSpPr>
          <p:spPr>
            <a:xfrm>
              <a:off x="2705100" y="1905000"/>
              <a:ext cx="1676400" cy="1676400"/>
            </a:xfrm>
            <a:prstGeom prst="rect">
              <a:avLst/>
            </a:prstGeom>
            <a:solidFill>
              <a:srgbClr val="E8EEF8"/>
            </a:solidFill>
            <a:ln>
              <a:noFill/>
            </a:ln>
          </p:spPr>
        </p:sp>
        <p:sp>
          <p:nvSpPr>
            <p:cNvPr id="11" name="node01.name.tr"/>
            <p:cNvSpPr/>
            <p:nvPr/>
          </p:nvSpPr>
          <p:spPr>
            <a:xfrm>
              <a:off x="2819400" y="1981200"/>
              <a:ext cx="1447800" cy="139700"/>
            </a:xfrm>
            <a:prstGeom prst="rect">
              <a:avLst/>
            </a:prstGeom>
            <a:noFill/>
            <a:ln/>
          </p:spPr>
          <p:txBody>
            <a:bodyPr wrap="square" lIns="0" tIns="0" rIns="0" bIns="0" rtlCol="0" anchor="t"/>
            <a:lstStyle/>
            <a:p>
              <a:pPr algn="r" indent="0" marL="0">
                <a:lnSpc>
                  <a:spcPts val="1100"/>
                </a:lnSpc>
                <a:buNone/>
              </a:pPr>
              <a:r>
                <a:rPr lang="en-US" sz="800" spc="60" kern="0" b="0" i="0" dirty="0">
                  <a:solidFill>
                    <a:srgbClr val="070154"/>
                  </a:solidFill>
                  <a:latin typeface="IBM Plex Mono SemiBold"/>
                  <a:ea typeface="IBM Plex Mono SemiBold"/>
                  <a:cs typeface="IBM Plex Mono SemiBold"/>
                </a:rPr>
                <a:t>PARTNER AND CO-DESIGN</a:t>
              </a:r>
              <a:endParaRPr lang="en-US" sz="800" spc="60" kern="0" b="0" i="0" dirty="0">
                <a:solidFill>
                  <a:srgbClr val="070154"/>
                </a:solidFill>
                <a:latin typeface="IBM Plex Mono SemiBold"/>
                <a:ea typeface="IBM Plex Mono SemiBold"/>
                <a:cs typeface="IBM Plex Mono SemiBold"/>
              </a:endParaRPr>
            </a:p>
          </p:txBody>
        </p:sp>
        <p:sp>
          <p:nvSpPr>
            <p:cNvPr id="12" name="node01.tag-bg.tr"/>
            <p:cNvSpPr/>
            <p:nvPr/>
          </p:nvSpPr>
          <p:spPr>
            <a:xfrm>
              <a:off x="3507730" y="2209800"/>
              <a:ext cx="759470" cy="203200"/>
            </a:xfrm>
            <a:prstGeom prst="rect">
              <a:avLst/>
            </a:prstGeom>
            <a:solidFill>
              <a:srgbClr val="05013F"/>
            </a:solidFill>
            <a:ln>
              <a:noFill/>
            </a:ln>
          </p:spPr>
        </p:sp>
        <p:sp>
          <p:nvSpPr>
            <p:cNvPr id="13" name="node01.tag.tr"/>
            <p:cNvSpPr/>
            <p:nvPr/>
          </p:nvSpPr>
          <p:spPr>
            <a:xfrm>
              <a:off x="3583930" y="2222500"/>
              <a:ext cx="607070" cy="177800"/>
            </a:xfrm>
            <a:prstGeom prst="rect">
              <a:avLst/>
            </a:prstGeom>
            <a:noFill/>
            <a:ln/>
          </p:spPr>
          <p:txBody>
            <a:bodyPr wrap="square" lIns="0" tIns="0" rIns="0" bIns="0" rtlCol="0" anchor="t"/>
            <a:lstStyle/>
            <a:p>
              <a:pPr algn="l" indent="0" marL="0">
                <a:lnSpc>
                  <a:spcPts val="1100"/>
                </a:lnSpc>
                <a:buNone/>
              </a:pPr>
              <a:r>
                <a:rPr lang="en-US" sz="850" spc="60" kern="0" b="0" i="0" dirty="0">
                  <a:solidFill>
                    <a:srgbClr val="FFFFFF"/>
                  </a:solidFill>
                  <a:latin typeface="IBM Plex Mono SemiBold"/>
                  <a:ea typeface="IBM Plex Mono SemiBold"/>
                  <a:cs typeface="IBM Plex Mono SemiBold"/>
                </a:rPr>
                <a:t>PRIORITY</a:t>
              </a:r>
              <a:endParaRPr lang="en-US" sz="850" spc="60" kern="0" b="0" i="0" dirty="0">
                <a:solidFill>
                  <a:srgbClr val="FFFFFF"/>
                </a:solidFill>
                <a:latin typeface="IBM Plex Mono SemiBold"/>
                <a:ea typeface="IBM Plex Mono SemiBold"/>
                <a:cs typeface="IBM Plex Mono SemiBold"/>
              </a:endParaRPr>
            </a:p>
          </p:txBody>
        </p:sp>
        <p:sp>
          <p:nvSpPr>
            <p:cNvPr id="14" name="node01.quadrant.bl"/>
            <p:cNvSpPr/>
            <p:nvPr/>
          </p:nvSpPr>
          <p:spPr>
            <a:xfrm>
              <a:off x="1028700" y="3581400"/>
              <a:ext cx="1676400" cy="1676400"/>
            </a:xfrm>
            <a:prstGeom prst="rect">
              <a:avLst/>
            </a:prstGeom>
            <a:solidFill>
              <a:srgbClr val="FFFFFF"/>
            </a:solidFill>
            <a:ln>
              <a:noFill/>
            </a:ln>
          </p:spPr>
        </p:sp>
        <p:sp>
          <p:nvSpPr>
            <p:cNvPr id="15" name="node01.name.bl"/>
            <p:cNvSpPr/>
            <p:nvPr/>
          </p:nvSpPr>
          <p:spPr>
            <a:xfrm>
              <a:off x="1143000" y="4953000"/>
              <a:ext cx="1447800" cy="139700"/>
            </a:xfrm>
            <a:prstGeom prst="rect">
              <a:avLst/>
            </a:prstGeom>
            <a:noFill/>
            <a:ln/>
          </p:spPr>
          <p:txBody>
            <a:bodyPr wrap="square" lIns="0" tIns="0" rIns="0" bIns="0" rtlCol="0" anchor="t"/>
            <a:lstStyle/>
            <a:p>
              <a:pPr algn="l" indent="0" marL="0">
                <a:lnSpc>
                  <a:spcPts val="1100"/>
                </a:lnSpc>
                <a:buNone/>
              </a:pPr>
              <a:r>
                <a:rPr lang="en-US" sz="800" spc="60" kern="0" b="0" i="0" dirty="0">
                  <a:solidFill>
                    <a:srgbClr val="070154"/>
                  </a:solidFill>
                  <a:latin typeface="IBM Plex Mono SemiBold"/>
                  <a:ea typeface="IBM Plex Mono SemiBold"/>
                  <a:cs typeface="IBM Plex Mono SemiBold"/>
                </a:rPr>
                <a:t>INFORM</a:t>
              </a:r>
              <a:endParaRPr lang="en-US" sz="800" spc="60" kern="0" b="0" i="0" dirty="0">
                <a:solidFill>
                  <a:srgbClr val="070154"/>
                </a:solidFill>
                <a:latin typeface="IBM Plex Mono SemiBold"/>
                <a:ea typeface="IBM Plex Mono SemiBold"/>
                <a:cs typeface="IBM Plex Mono SemiBold"/>
              </a:endParaRPr>
            </a:p>
          </p:txBody>
        </p:sp>
        <p:sp>
          <p:nvSpPr>
            <p:cNvPr id="16" name="node01.quadrant.br"/>
            <p:cNvSpPr/>
            <p:nvPr/>
          </p:nvSpPr>
          <p:spPr>
            <a:xfrm>
              <a:off x="2705100" y="3581400"/>
              <a:ext cx="1676400" cy="1676400"/>
            </a:xfrm>
            <a:prstGeom prst="rect">
              <a:avLst/>
            </a:prstGeom>
            <a:solidFill>
              <a:srgbClr val="FFFFFF"/>
            </a:solidFill>
            <a:ln>
              <a:noFill/>
            </a:ln>
          </p:spPr>
        </p:sp>
        <p:sp>
          <p:nvSpPr>
            <p:cNvPr id="17" name="node01.name.br"/>
            <p:cNvSpPr/>
            <p:nvPr/>
          </p:nvSpPr>
          <p:spPr>
            <a:xfrm>
              <a:off x="2819400" y="4953000"/>
              <a:ext cx="1447800" cy="139700"/>
            </a:xfrm>
            <a:prstGeom prst="rect">
              <a:avLst/>
            </a:prstGeom>
            <a:noFill/>
            <a:ln/>
          </p:spPr>
          <p:txBody>
            <a:bodyPr wrap="square" lIns="0" tIns="0" rIns="0" bIns="0" rtlCol="0" anchor="t"/>
            <a:lstStyle/>
            <a:p>
              <a:pPr algn="r" indent="0" marL="0">
                <a:lnSpc>
                  <a:spcPts val="1100"/>
                </a:lnSpc>
                <a:buNone/>
              </a:pPr>
              <a:r>
                <a:rPr lang="en-US" sz="800" spc="60" kern="0" b="0" i="0" dirty="0">
                  <a:solidFill>
                    <a:srgbClr val="070154"/>
                  </a:solidFill>
                  <a:latin typeface="IBM Plex Mono SemiBold"/>
                  <a:ea typeface="IBM Plex Mono SemiBold"/>
                  <a:cs typeface="IBM Plex Mono SemiBold"/>
                </a:rPr>
                <a:t>KEEP SATISFIED</a:t>
              </a:r>
              <a:endParaRPr lang="en-US" sz="800" spc="60" kern="0" b="0" i="0" dirty="0">
                <a:solidFill>
                  <a:srgbClr val="070154"/>
                </a:solidFill>
                <a:latin typeface="IBM Plex Mono SemiBold"/>
                <a:ea typeface="IBM Plex Mono SemiBold"/>
                <a:cs typeface="IBM Plex Mono SemiBold"/>
              </a:endParaRPr>
            </a:p>
          </p:txBody>
        </p:sp>
        <p:sp>
          <p:nvSpPr>
            <p:cNvPr id="18" name="node01.axis-1"/>
            <p:cNvSpPr/>
            <p:nvPr/>
          </p:nvSpPr>
          <p:spPr>
            <a:xfrm>
              <a:off x="1028700" y="1905000"/>
              <a:ext cx="3352800" cy="3352800"/>
            </a:xfrm>
            <a:custGeom>
              <a:avLst/>
              <a:gdLst/>
              <a:ahLst/>
              <a:cxnLst/>
              <a:rect l="l" t="t" r="r" b="b"/>
              <a:pathLst>
                <a:path w="3352800" h="3352800">
                  <a:moveTo>
                    <a:pt x="0" y="0"/>
                  </a:moveTo>
                  <a:lnTo>
                    <a:pt x="3352800" y="0"/>
                  </a:lnTo>
                  <a:lnTo>
                    <a:pt x="3352800" y="3352800"/>
                  </a:lnTo>
                  <a:lnTo>
                    <a:pt x="0" y="3352800"/>
                  </a:lnTo>
                  <a:lnTo>
                    <a:pt x="0" y="0"/>
                  </a:lnTo>
                </a:path>
              </a:pathLst>
            </a:custGeom>
            <a:ln w="12700">
              <a:solidFill>
                <a:srgbClr val="070154"/>
              </a:solidFill>
              <a:prstDash val="solid"/>
            </a:ln>
          </p:spPr>
        </p:sp>
        <p:sp>
          <p:nvSpPr>
            <p:cNvPr id="19" name="node01.axis-2"/>
            <p:cNvSpPr/>
            <p:nvPr/>
          </p:nvSpPr>
          <p:spPr>
            <a:xfrm>
              <a:off x="2705100" y="1905000"/>
              <a:ext cx="127" cy="3352800"/>
            </a:xfrm>
            <a:custGeom>
              <a:avLst/>
              <a:gdLst/>
              <a:ahLst/>
              <a:cxnLst/>
              <a:rect l="l" t="t" r="r" b="b"/>
              <a:pathLst>
                <a:path w="127" h="3352800">
                  <a:moveTo>
                    <a:pt x="0" y="0"/>
                  </a:moveTo>
                  <a:lnTo>
                    <a:pt x="0" y="3352800"/>
                  </a:lnTo>
                </a:path>
              </a:pathLst>
            </a:custGeom>
            <a:ln w="9525">
              <a:solidFill>
                <a:srgbClr val="070154"/>
              </a:solidFill>
              <a:prstDash val="solid"/>
            </a:ln>
          </p:spPr>
        </p:sp>
        <p:sp>
          <p:nvSpPr>
            <p:cNvPr id="20" name="node01.axis-3"/>
            <p:cNvSpPr/>
            <p:nvPr/>
          </p:nvSpPr>
          <p:spPr>
            <a:xfrm>
              <a:off x="1028700" y="3581400"/>
              <a:ext cx="3352800" cy="127"/>
            </a:xfrm>
            <a:custGeom>
              <a:avLst/>
              <a:gdLst/>
              <a:ahLst/>
              <a:cxnLst/>
              <a:rect l="l" t="t" r="r" b="b"/>
              <a:pathLst>
                <a:path w="3352800" h="127">
                  <a:moveTo>
                    <a:pt x="0" y="0"/>
                  </a:moveTo>
                  <a:lnTo>
                    <a:pt x="3352800" y="0"/>
                  </a:lnTo>
                </a:path>
              </a:pathLst>
            </a:custGeom>
            <a:ln w="9525">
              <a:solidFill>
                <a:srgbClr val="070154"/>
              </a:solidFill>
              <a:prstDash val="solid"/>
            </a:ln>
          </p:spPr>
        </p:sp>
        <p:sp>
          <p:nvSpPr>
            <p:cNvPr id="21" name="node01.x.low"/>
            <p:cNvSpPr/>
            <p:nvPr/>
          </p:nvSpPr>
          <p:spPr>
            <a:xfrm>
              <a:off x="1028700" y="5283200"/>
              <a:ext cx="457200" cy="177800"/>
            </a:xfrm>
            <a:prstGeom prst="rect">
              <a:avLst/>
            </a:prstGeom>
            <a:noFill/>
            <a:ln/>
          </p:spPr>
          <p:txBody>
            <a:bodyPr wrap="square" lIns="0" tIns="0" rIns="0" bIns="0" rtlCol="0" anchor="t"/>
            <a:lstStyle/>
            <a:p>
              <a:pPr algn="l" indent="0" marL="0">
                <a:lnSpc>
                  <a:spcPts val="1100"/>
                </a:lnSpc>
                <a:buNone/>
              </a:pPr>
              <a:r>
                <a:rPr lang="en-US" sz="800" spc="60" kern="0" b="0" i="0" dirty="0">
                  <a:solidFill>
                    <a:srgbClr val="070154"/>
                  </a:solidFill>
                  <a:latin typeface="IBM Plex Mono SemiBold"/>
                  <a:ea typeface="IBM Plex Mono SemiBold"/>
                  <a:cs typeface="IBM Plex Mono SemiBold"/>
                </a:rPr>
                <a:t>LOW</a:t>
              </a:r>
              <a:endParaRPr lang="en-US" sz="800" spc="60" kern="0" b="0" i="0" dirty="0">
                <a:solidFill>
                  <a:srgbClr val="070154"/>
                </a:solidFill>
                <a:latin typeface="IBM Plex Mono SemiBold"/>
                <a:ea typeface="IBM Plex Mono SemiBold"/>
                <a:cs typeface="IBM Plex Mono SemiBold"/>
              </a:endParaRPr>
            </a:p>
          </p:txBody>
        </p:sp>
        <p:sp>
          <p:nvSpPr>
            <p:cNvPr id="22" name="node01.x.high"/>
            <p:cNvSpPr/>
            <p:nvPr/>
          </p:nvSpPr>
          <p:spPr>
            <a:xfrm>
              <a:off x="3924300" y="5283200"/>
              <a:ext cx="457200" cy="177800"/>
            </a:xfrm>
            <a:prstGeom prst="rect">
              <a:avLst/>
            </a:prstGeom>
            <a:noFill/>
            <a:ln/>
          </p:spPr>
          <p:txBody>
            <a:bodyPr wrap="square" lIns="0" tIns="0" rIns="0" bIns="0" rtlCol="0" anchor="t"/>
            <a:lstStyle/>
            <a:p>
              <a:pPr algn="r" indent="0" marL="0">
                <a:lnSpc>
                  <a:spcPts val="1100"/>
                </a:lnSpc>
                <a:buNone/>
              </a:pPr>
              <a:r>
                <a:rPr lang="en-US" sz="800" spc="60" kern="0" b="0" i="0" dirty="0">
                  <a:solidFill>
                    <a:srgbClr val="070154"/>
                  </a:solidFill>
                  <a:latin typeface="IBM Plex Mono SemiBold"/>
                  <a:ea typeface="IBM Plex Mono SemiBold"/>
                  <a:cs typeface="IBM Plex Mono SemiBold"/>
                </a:rPr>
                <a:t>HIGH</a:t>
              </a:r>
              <a:endParaRPr lang="en-US" sz="800" spc="60" kern="0" b="0" i="0" dirty="0">
                <a:solidFill>
                  <a:srgbClr val="070154"/>
                </a:solidFill>
                <a:latin typeface="IBM Plex Mono SemiBold"/>
                <a:ea typeface="IBM Plex Mono SemiBold"/>
                <a:cs typeface="IBM Plex Mono SemiBold"/>
              </a:endParaRPr>
            </a:p>
          </p:txBody>
        </p:sp>
        <p:sp>
          <p:nvSpPr>
            <p:cNvPr id="23" name="node01.x.title"/>
            <p:cNvSpPr/>
            <p:nvPr/>
          </p:nvSpPr>
          <p:spPr>
            <a:xfrm>
              <a:off x="1485900" y="5283200"/>
              <a:ext cx="2438400" cy="177800"/>
            </a:xfrm>
            <a:prstGeom prst="rect">
              <a:avLst/>
            </a:prstGeom>
            <a:noFill/>
            <a:ln/>
          </p:spPr>
          <p:txBody>
            <a:bodyPr wrap="square" lIns="0" tIns="0" rIns="0" bIns="0" rtlCol="0" anchor="t"/>
            <a:lstStyle/>
            <a:p>
              <a:pPr algn="ctr" indent="0" marL="0">
                <a:lnSpc>
                  <a:spcPts val="1100"/>
                </a:lnSpc>
                <a:buNone/>
              </a:pPr>
              <a:r>
                <a:rPr lang="en-US" sz="800" spc="60" kern="0" b="0" i="0" dirty="0">
                  <a:solidFill>
                    <a:srgbClr val="070154"/>
                  </a:solidFill>
                  <a:latin typeface="IBM Plex Mono SemiBold"/>
                  <a:ea typeface="IBM Plex Mono SemiBold"/>
                  <a:cs typeface="IBM Plex Mono SemiBold"/>
                </a:rPr>
                <a:t>INFLUENCE OVER ADOPTION →</a:t>
              </a:r>
              <a:endParaRPr lang="en-US" sz="800" spc="60" kern="0" b="0" i="0" dirty="0">
                <a:solidFill>
                  <a:srgbClr val="070154"/>
                </a:solidFill>
                <a:latin typeface="IBM Plex Mono SemiBold"/>
                <a:ea typeface="IBM Plex Mono SemiBold"/>
                <a:cs typeface="IBM Plex Mono SemiBold"/>
              </a:endParaRPr>
            </a:p>
          </p:txBody>
        </p:sp>
        <p:sp>
          <p:nvSpPr>
            <p:cNvPr id="24" name="node01.y-0"/>
            <p:cNvSpPr/>
            <p:nvPr/>
          </p:nvSpPr>
          <p:spPr>
            <a:xfrm rot="-5400000">
              <a:off x="762508" y="2044700"/>
              <a:ext cx="278383"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HIGH</a:t>
              </a:r>
              <a:endParaRPr lang="en-US" sz="800" spc="48" kern="0" b="0" i="0" dirty="0">
                <a:solidFill>
                  <a:srgbClr val="50658E"/>
                </a:solidFill>
                <a:latin typeface="IBM Plex Mono Medium"/>
                <a:ea typeface="IBM Plex Mono Medium"/>
                <a:cs typeface="IBM Plex Mono Medium"/>
              </a:endParaRPr>
            </a:p>
          </p:txBody>
        </p:sp>
        <p:sp>
          <p:nvSpPr>
            <p:cNvPr id="25" name="node01.y-1"/>
            <p:cNvSpPr/>
            <p:nvPr/>
          </p:nvSpPr>
          <p:spPr>
            <a:xfrm rot="-5400000">
              <a:off x="795719" y="4940300"/>
              <a:ext cx="211962"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LOW</a:t>
              </a:r>
              <a:endParaRPr lang="en-US" sz="800" spc="48" kern="0" b="0" i="0" dirty="0">
                <a:solidFill>
                  <a:srgbClr val="50658E"/>
                </a:solidFill>
                <a:latin typeface="IBM Plex Mono Medium"/>
                <a:ea typeface="IBM Plex Mono Medium"/>
                <a:cs typeface="IBM Plex Mono Medium"/>
              </a:endParaRPr>
            </a:p>
          </p:txBody>
        </p:sp>
        <p:sp>
          <p:nvSpPr>
            <p:cNvPr id="26" name="node01.y-2"/>
            <p:cNvSpPr/>
            <p:nvPr/>
          </p:nvSpPr>
          <p:spPr>
            <a:xfrm rot="-5400000">
              <a:off x="297563" y="3492500"/>
              <a:ext cx="1208274"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50658E"/>
                  </a:solidFill>
                  <a:latin typeface="IBM Plex Mono Medium"/>
                  <a:ea typeface="IBM Plex Mono Medium"/>
                  <a:cs typeface="IBM Plex Mono Medium"/>
                </a:rPr>
                <a:t>DEGREE OF IMPACT →</a:t>
              </a:r>
              <a:endParaRPr lang="en-US" sz="800" spc="48" kern="0" b="0" i="0" dirty="0">
                <a:solidFill>
                  <a:srgbClr val="50658E"/>
                </a:solidFill>
                <a:latin typeface="IBM Plex Mono Medium"/>
                <a:ea typeface="IBM Plex Mono Medium"/>
                <a:cs typeface="IBM Plex Mono Medium"/>
              </a:endParaRPr>
            </a:p>
          </p:txBody>
        </p:sp>
        <p:sp>
          <p:nvSpPr>
            <p:cNvPr id="27" name="node01.item.item-001.point"/>
            <p:cNvSpPr/>
            <p:nvPr/>
          </p:nvSpPr>
          <p:spPr>
            <a:xfrm>
              <a:off x="3944620" y="2809240"/>
              <a:ext cx="203200" cy="203200"/>
            </a:xfrm>
            <a:prstGeom prst="ellipse">
              <a:avLst/>
            </a:prstGeom>
            <a:solidFill>
              <a:srgbClr val="070154"/>
            </a:solidFill>
            <a:ln>
              <a:noFill/>
            </a:ln>
          </p:spPr>
        </p:sp>
        <p:sp>
          <p:nvSpPr>
            <p:cNvPr id="28" name="node01.item.item-001.number"/>
            <p:cNvSpPr/>
            <p:nvPr/>
          </p:nvSpPr>
          <p:spPr>
            <a:xfrm>
              <a:off x="3957320" y="282194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1</a:t>
              </a:r>
              <a:endParaRPr lang="en-US" sz="800" spc="48" kern="0" b="0" i="0" dirty="0">
                <a:solidFill>
                  <a:srgbClr val="FFFFFF"/>
                </a:solidFill>
                <a:latin typeface="IBM Plex Mono SemiBold"/>
                <a:ea typeface="IBM Plex Mono SemiBold"/>
                <a:cs typeface="IBM Plex Mono SemiBold"/>
              </a:endParaRPr>
            </a:p>
          </p:txBody>
        </p:sp>
        <p:sp>
          <p:nvSpPr>
            <p:cNvPr id="29" name="node01.item.item-001.key-point"/>
            <p:cNvSpPr/>
            <p:nvPr/>
          </p:nvSpPr>
          <p:spPr>
            <a:xfrm>
              <a:off x="4838700" y="1981200"/>
              <a:ext cx="203200" cy="203200"/>
            </a:xfrm>
            <a:prstGeom prst="ellipse">
              <a:avLst/>
            </a:prstGeom>
            <a:solidFill>
              <a:srgbClr val="070154"/>
            </a:solidFill>
            <a:ln>
              <a:noFill/>
            </a:ln>
          </p:spPr>
        </p:sp>
        <p:sp>
          <p:nvSpPr>
            <p:cNvPr id="30" name="node01.item.item-001.key-number"/>
            <p:cNvSpPr/>
            <p:nvPr/>
          </p:nvSpPr>
          <p:spPr>
            <a:xfrm>
              <a:off x="4851400" y="199390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1</a:t>
              </a:r>
              <a:endParaRPr lang="en-US" sz="800" spc="48" kern="0" b="0" i="0" dirty="0">
                <a:solidFill>
                  <a:srgbClr val="FFFFFF"/>
                </a:solidFill>
                <a:latin typeface="IBM Plex Mono SemiBold"/>
                <a:ea typeface="IBM Plex Mono SemiBold"/>
                <a:cs typeface="IBM Plex Mono SemiBold"/>
              </a:endParaRPr>
            </a:p>
          </p:txBody>
        </p:sp>
        <p:sp>
          <p:nvSpPr>
            <p:cNvPr id="31" name="node01.item.item-001.key-label"/>
            <p:cNvSpPr/>
            <p:nvPr/>
          </p:nvSpPr>
          <p:spPr>
            <a:xfrm>
              <a:off x="5143500" y="196850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Chief medical officer</a:t>
              </a:r>
              <a:endParaRPr lang="en-US" sz="1100" spc="0" kern="0" b="0" i="0" dirty="0">
                <a:solidFill>
                  <a:srgbClr val="070154"/>
                </a:solidFill>
                <a:latin typeface="IBM Plex Sans"/>
                <a:ea typeface="IBM Plex Sans"/>
                <a:cs typeface="IBM Plex Sans"/>
              </a:endParaRPr>
            </a:p>
          </p:txBody>
        </p:sp>
        <p:sp>
          <p:nvSpPr>
            <p:cNvPr id="32" name="node01.item.item-002.point"/>
            <p:cNvSpPr/>
            <p:nvPr/>
          </p:nvSpPr>
          <p:spPr>
            <a:xfrm>
              <a:off x="3005836" y="2473960"/>
              <a:ext cx="203200" cy="203200"/>
            </a:xfrm>
            <a:prstGeom prst="ellipse">
              <a:avLst/>
            </a:prstGeom>
            <a:solidFill>
              <a:srgbClr val="070154"/>
            </a:solidFill>
            <a:ln>
              <a:noFill/>
            </a:ln>
          </p:spPr>
        </p:sp>
        <p:sp>
          <p:nvSpPr>
            <p:cNvPr id="33" name="node01.item.item-002.number"/>
            <p:cNvSpPr/>
            <p:nvPr/>
          </p:nvSpPr>
          <p:spPr>
            <a:xfrm>
              <a:off x="3018536" y="248666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2</a:t>
              </a:r>
              <a:endParaRPr lang="en-US" sz="800" spc="48" kern="0" b="0" i="0" dirty="0">
                <a:solidFill>
                  <a:srgbClr val="FFFFFF"/>
                </a:solidFill>
                <a:latin typeface="IBM Plex Mono SemiBold"/>
                <a:ea typeface="IBM Plex Mono SemiBold"/>
                <a:cs typeface="IBM Plex Mono SemiBold"/>
              </a:endParaRPr>
            </a:p>
          </p:txBody>
        </p:sp>
        <p:sp>
          <p:nvSpPr>
            <p:cNvPr id="34" name="node01.item.item-002.key-point"/>
            <p:cNvSpPr/>
            <p:nvPr/>
          </p:nvSpPr>
          <p:spPr>
            <a:xfrm>
              <a:off x="4838700" y="2286000"/>
              <a:ext cx="203200" cy="203200"/>
            </a:xfrm>
            <a:prstGeom prst="ellipse">
              <a:avLst/>
            </a:prstGeom>
            <a:solidFill>
              <a:srgbClr val="070154"/>
            </a:solidFill>
            <a:ln>
              <a:noFill/>
            </a:ln>
          </p:spPr>
        </p:sp>
        <p:sp>
          <p:nvSpPr>
            <p:cNvPr id="35" name="node01.item.item-002.key-number"/>
            <p:cNvSpPr/>
            <p:nvPr/>
          </p:nvSpPr>
          <p:spPr>
            <a:xfrm>
              <a:off x="4851400" y="229870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2</a:t>
              </a:r>
              <a:endParaRPr lang="en-US" sz="800" spc="48" kern="0" b="0" i="0" dirty="0">
                <a:solidFill>
                  <a:srgbClr val="FFFFFF"/>
                </a:solidFill>
                <a:latin typeface="IBM Plex Mono SemiBold"/>
                <a:ea typeface="IBM Plex Mono SemiBold"/>
                <a:cs typeface="IBM Plex Mono SemiBold"/>
              </a:endParaRPr>
            </a:p>
          </p:txBody>
        </p:sp>
        <p:sp>
          <p:nvSpPr>
            <p:cNvPr id="36" name="node01.item.item-002.key-label"/>
            <p:cNvSpPr/>
            <p:nvPr/>
          </p:nvSpPr>
          <p:spPr>
            <a:xfrm>
              <a:off x="5143500" y="227330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Clinic nurse leads</a:t>
              </a:r>
              <a:endParaRPr lang="en-US" sz="1100" spc="0" kern="0" b="0" i="0" dirty="0">
                <a:solidFill>
                  <a:srgbClr val="070154"/>
                </a:solidFill>
                <a:latin typeface="IBM Plex Sans"/>
                <a:ea typeface="IBM Plex Sans"/>
                <a:cs typeface="IBM Plex Sans"/>
              </a:endParaRPr>
            </a:p>
          </p:txBody>
        </p:sp>
        <p:sp>
          <p:nvSpPr>
            <p:cNvPr id="37" name="node01.item.item-003.point"/>
            <p:cNvSpPr/>
            <p:nvPr/>
          </p:nvSpPr>
          <p:spPr>
            <a:xfrm>
              <a:off x="3274060" y="2473960"/>
              <a:ext cx="203200" cy="203200"/>
            </a:xfrm>
            <a:prstGeom prst="ellipse">
              <a:avLst/>
            </a:prstGeom>
            <a:solidFill>
              <a:srgbClr val="070154"/>
            </a:solidFill>
            <a:ln>
              <a:noFill/>
            </a:ln>
          </p:spPr>
        </p:sp>
        <p:sp>
          <p:nvSpPr>
            <p:cNvPr id="38" name="node01.item.item-003.number"/>
            <p:cNvSpPr/>
            <p:nvPr/>
          </p:nvSpPr>
          <p:spPr>
            <a:xfrm>
              <a:off x="3286760" y="248666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3</a:t>
              </a:r>
              <a:endParaRPr lang="en-US" sz="800" spc="48" kern="0" b="0" i="0" dirty="0">
                <a:solidFill>
                  <a:srgbClr val="FFFFFF"/>
                </a:solidFill>
                <a:latin typeface="IBM Plex Mono SemiBold"/>
                <a:ea typeface="IBM Plex Mono SemiBold"/>
                <a:cs typeface="IBM Plex Mono SemiBold"/>
              </a:endParaRPr>
            </a:p>
          </p:txBody>
        </p:sp>
        <p:sp>
          <p:nvSpPr>
            <p:cNvPr id="39" name="node01.item.item-003.key-point"/>
            <p:cNvSpPr/>
            <p:nvPr/>
          </p:nvSpPr>
          <p:spPr>
            <a:xfrm>
              <a:off x="4838700" y="2590800"/>
              <a:ext cx="203200" cy="203200"/>
            </a:xfrm>
            <a:prstGeom prst="ellipse">
              <a:avLst/>
            </a:prstGeom>
            <a:solidFill>
              <a:srgbClr val="070154"/>
            </a:solidFill>
            <a:ln>
              <a:noFill/>
            </a:ln>
          </p:spPr>
        </p:sp>
        <p:sp>
          <p:nvSpPr>
            <p:cNvPr id="40" name="node01.item.item-003.key-number"/>
            <p:cNvSpPr/>
            <p:nvPr/>
          </p:nvSpPr>
          <p:spPr>
            <a:xfrm>
              <a:off x="4851400" y="260350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3</a:t>
              </a:r>
              <a:endParaRPr lang="en-US" sz="800" spc="48" kern="0" b="0" i="0" dirty="0">
                <a:solidFill>
                  <a:srgbClr val="FFFFFF"/>
                </a:solidFill>
                <a:latin typeface="IBM Plex Mono SemiBold"/>
                <a:ea typeface="IBM Plex Mono SemiBold"/>
                <a:cs typeface="IBM Plex Mono SemiBold"/>
              </a:endParaRPr>
            </a:p>
          </p:txBody>
        </p:sp>
        <p:sp>
          <p:nvSpPr>
            <p:cNvPr id="41" name="node01.item.item-003.key-label"/>
            <p:cNvSpPr/>
            <p:nvPr/>
          </p:nvSpPr>
          <p:spPr>
            <a:xfrm>
              <a:off x="5143500" y="257810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Practice managers</a:t>
              </a:r>
              <a:endParaRPr lang="en-US" sz="1100" spc="0" kern="0" b="0" i="0" dirty="0">
                <a:solidFill>
                  <a:srgbClr val="070154"/>
                </a:solidFill>
                <a:latin typeface="IBM Plex Sans"/>
                <a:ea typeface="IBM Plex Sans"/>
                <a:cs typeface="IBM Plex Sans"/>
              </a:endParaRPr>
            </a:p>
          </p:txBody>
        </p:sp>
        <p:sp>
          <p:nvSpPr>
            <p:cNvPr id="42" name="node01.item.item-004.point"/>
            <p:cNvSpPr/>
            <p:nvPr/>
          </p:nvSpPr>
          <p:spPr>
            <a:xfrm>
              <a:off x="1932940" y="2473960"/>
              <a:ext cx="203200" cy="203200"/>
            </a:xfrm>
            <a:prstGeom prst="ellipse">
              <a:avLst/>
            </a:prstGeom>
            <a:solidFill>
              <a:srgbClr val="070154"/>
            </a:solidFill>
            <a:ln>
              <a:noFill/>
            </a:ln>
          </p:spPr>
        </p:sp>
        <p:sp>
          <p:nvSpPr>
            <p:cNvPr id="43" name="node01.item.item-004.number"/>
            <p:cNvSpPr/>
            <p:nvPr/>
          </p:nvSpPr>
          <p:spPr>
            <a:xfrm>
              <a:off x="1945640" y="248666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4</a:t>
              </a:r>
              <a:endParaRPr lang="en-US" sz="800" spc="48" kern="0" b="0" i="0" dirty="0">
                <a:solidFill>
                  <a:srgbClr val="FFFFFF"/>
                </a:solidFill>
                <a:latin typeface="IBM Plex Mono SemiBold"/>
                <a:ea typeface="IBM Plex Mono SemiBold"/>
                <a:cs typeface="IBM Plex Mono SemiBold"/>
              </a:endParaRPr>
            </a:p>
          </p:txBody>
        </p:sp>
        <p:sp>
          <p:nvSpPr>
            <p:cNvPr id="44" name="node01.item.item-004.key-point"/>
            <p:cNvSpPr/>
            <p:nvPr/>
          </p:nvSpPr>
          <p:spPr>
            <a:xfrm>
              <a:off x="4838700" y="2895600"/>
              <a:ext cx="203200" cy="203200"/>
            </a:xfrm>
            <a:prstGeom prst="ellipse">
              <a:avLst/>
            </a:prstGeom>
            <a:solidFill>
              <a:srgbClr val="070154"/>
            </a:solidFill>
            <a:ln>
              <a:noFill/>
            </a:ln>
          </p:spPr>
        </p:sp>
        <p:sp>
          <p:nvSpPr>
            <p:cNvPr id="45" name="node01.item.item-004.key-number"/>
            <p:cNvSpPr/>
            <p:nvPr/>
          </p:nvSpPr>
          <p:spPr>
            <a:xfrm>
              <a:off x="4851400" y="290830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4</a:t>
              </a:r>
              <a:endParaRPr lang="en-US" sz="800" spc="48" kern="0" b="0" i="0" dirty="0">
                <a:solidFill>
                  <a:srgbClr val="FFFFFF"/>
                </a:solidFill>
                <a:latin typeface="IBM Plex Mono SemiBold"/>
                <a:ea typeface="IBM Plex Mono SemiBold"/>
                <a:cs typeface="IBM Plex Mono SemiBold"/>
              </a:endParaRPr>
            </a:p>
          </p:txBody>
        </p:sp>
        <p:sp>
          <p:nvSpPr>
            <p:cNvPr id="46" name="node01.item.item-004.key-label"/>
            <p:cNvSpPr/>
            <p:nvPr/>
          </p:nvSpPr>
          <p:spPr>
            <a:xfrm>
              <a:off x="5143500" y="288290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Call-center agents</a:t>
              </a:r>
              <a:endParaRPr lang="en-US" sz="1100" spc="0" kern="0" b="0" i="0" dirty="0">
                <a:solidFill>
                  <a:srgbClr val="070154"/>
                </a:solidFill>
                <a:latin typeface="IBM Plex Sans"/>
                <a:ea typeface="IBM Plex Sans"/>
                <a:cs typeface="IBM Plex Sans"/>
              </a:endParaRPr>
            </a:p>
          </p:txBody>
        </p:sp>
        <p:sp>
          <p:nvSpPr>
            <p:cNvPr id="47" name="node01.item.item-005.point"/>
            <p:cNvSpPr/>
            <p:nvPr/>
          </p:nvSpPr>
          <p:spPr>
            <a:xfrm>
              <a:off x="1396492" y="2339848"/>
              <a:ext cx="203200" cy="203200"/>
            </a:xfrm>
            <a:prstGeom prst="ellipse">
              <a:avLst/>
            </a:prstGeom>
            <a:solidFill>
              <a:srgbClr val="070154"/>
            </a:solidFill>
            <a:ln>
              <a:noFill/>
            </a:ln>
          </p:spPr>
        </p:sp>
        <p:sp>
          <p:nvSpPr>
            <p:cNvPr id="48" name="node01.item.item-005.number"/>
            <p:cNvSpPr/>
            <p:nvPr/>
          </p:nvSpPr>
          <p:spPr>
            <a:xfrm>
              <a:off x="1409192" y="2352548"/>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5</a:t>
              </a:r>
              <a:endParaRPr lang="en-US" sz="800" spc="48" kern="0" b="0" i="0" dirty="0">
                <a:solidFill>
                  <a:srgbClr val="FFFFFF"/>
                </a:solidFill>
                <a:latin typeface="IBM Plex Mono SemiBold"/>
                <a:ea typeface="IBM Plex Mono SemiBold"/>
                <a:cs typeface="IBM Plex Mono SemiBold"/>
              </a:endParaRPr>
            </a:p>
          </p:txBody>
        </p:sp>
        <p:sp>
          <p:nvSpPr>
            <p:cNvPr id="49" name="node01.item.item-005.key-point"/>
            <p:cNvSpPr/>
            <p:nvPr/>
          </p:nvSpPr>
          <p:spPr>
            <a:xfrm>
              <a:off x="4838700" y="3200400"/>
              <a:ext cx="203200" cy="203200"/>
            </a:xfrm>
            <a:prstGeom prst="ellipse">
              <a:avLst/>
            </a:prstGeom>
            <a:solidFill>
              <a:srgbClr val="070154"/>
            </a:solidFill>
            <a:ln>
              <a:noFill/>
            </a:ln>
          </p:spPr>
        </p:sp>
        <p:sp>
          <p:nvSpPr>
            <p:cNvPr id="50" name="node01.item.item-005.key-number"/>
            <p:cNvSpPr/>
            <p:nvPr/>
          </p:nvSpPr>
          <p:spPr>
            <a:xfrm>
              <a:off x="4851400" y="321310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5</a:t>
              </a:r>
              <a:endParaRPr lang="en-US" sz="800" spc="48" kern="0" b="0" i="0" dirty="0">
                <a:solidFill>
                  <a:srgbClr val="FFFFFF"/>
                </a:solidFill>
                <a:latin typeface="IBM Plex Mono SemiBold"/>
                <a:ea typeface="IBM Plex Mono SemiBold"/>
                <a:cs typeface="IBM Plex Mono SemiBold"/>
              </a:endParaRPr>
            </a:p>
          </p:txBody>
        </p:sp>
        <p:sp>
          <p:nvSpPr>
            <p:cNvPr id="51" name="node01.item.item-005.key-label"/>
            <p:cNvSpPr/>
            <p:nvPr/>
          </p:nvSpPr>
          <p:spPr>
            <a:xfrm>
              <a:off x="5143500" y="318770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Front-desk schedulers</a:t>
              </a:r>
              <a:endParaRPr lang="en-US" sz="1100" spc="0" kern="0" b="0" i="0" dirty="0">
                <a:solidFill>
                  <a:srgbClr val="070154"/>
                </a:solidFill>
                <a:latin typeface="IBM Plex Sans"/>
                <a:ea typeface="IBM Plex Sans"/>
                <a:cs typeface="IBM Plex Sans"/>
              </a:endParaRPr>
            </a:p>
          </p:txBody>
        </p:sp>
        <p:sp>
          <p:nvSpPr>
            <p:cNvPr id="52" name="node01.item.item-006.point"/>
            <p:cNvSpPr/>
            <p:nvPr/>
          </p:nvSpPr>
          <p:spPr>
            <a:xfrm>
              <a:off x="3877564" y="3077464"/>
              <a:ext cx="203200" cy="203200"/>
            </a:xfrm>
            <a:prstGeom prst="ellipse">
              <a:avLst/>
            </a:prstGeom>
            <a:solidFill>
              <a:srgbClr val="070154"/>
            </a:solidFill>
            <a:ln>
              <a:noFill/>
            </a:ln>
          </p:spPr>
        </p:sp>
        <p:sp>
          <p:nvSpPr>
            <p:cNvPr id="53" name="node01.item.item-006.number"/>
            <p:cNvSpPr/>
            <p:nvPr/>
          </p:nvSpPr>
          <p:spPr>
            <a:xfrm>
              <a:off x="3890264" y="3090164"/>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6</a:t>
              </a:r>
              <a:endParaRPr lang="en-US" sz="800" spc="48" kern="0" b="0" i="0" dirty="0">
                <a:solidFill>
                  <a:srgbClr val="FFFFFF"/>
                </a:solidFill>
                <a:latin typeface="IBM Plex Mono SemiBold"/>
                <a:ea typeface="IBM Plex Mono SemiBold"/>
                <a:cs typeface="IBM Plex Mono SemiBold"/>
              </a:endParaRPr>
            </a:p>
          </p:txBody>
        </p:sp>
        <p:sp>
          <p:nvSpPr>
            <p:cNvPr id="54" name="node01.item.item-006.key-point"/>
            <p:cNvSpPr/>
            <p:nvPr/>
          </p:nvSpPr>
          <p:spPr>
            <a:xfrm>
              <a:off x="4838700" y="3505200"/>
              <a:ext cx="203200" cy="203200"/>
            </a:xfrm>
            <a:prstGeom prst="ellipse">
              <a:avLst/>
            </a:prstGeom>
            <a:solidFill>
              <a:srgbClr val="070154"/>
            </a:solidFill>
            <a:ln>
              <a:noFill/>
            </a:ln>
          </p:spPr>
        </p:sp>
        <p:sp>
          <p:nvSpPr>
            <p:cNvPr id="55" name="node01.item.item-006.key-number"/>
            <p:cNvSpPr/>
            <p:nvPr/>
          </p:nvSpPr>
          <p:spPr>
            <a:xfrm>
              <a:off x="4851400" y="351790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6</a:t>
              </a:r>
              <a:endParaRPr lang="en-US" sz="800" spc="48" kern="0" b="0" i="0" dirty="0">
                <a:solidFill>
                  <a:srgbClr val="FFFFFF"/>
                </a:solidFill>
                <a:latin typeface="IBM Plex Mono SemiBold"/>
                <a:ea typeface="IBM Plex Mono SemiBold"/>
                <a:cs typeface="IBM Plex Mono SemiBold"/>
              </a:endParaRPr>
            </a:p>
          </p:txBody>
        </p:sp>
        <p:sp>
          <p:nvSpPr>
            <p:cNvPr id="56" name="node01.item.item-006.key-label"/>
            <p:cNvSpPr/>
            <p:nvPr/>
          </p:nvSpPr>
          <p:spPr>
            <a:xfrm>
              <a:off x="5143500" y="349250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Physician group</a:t>
              </a:r>
              <a:endParaRPr lang="en-US" sz="1100" spc="0" kern="0" b="0" i="0" dirty="0">
                <a:solidFill>
                  <a:srgbClr val="070154"/>
                </a:solidFill>
                <a:latin typeface="IBM Plex Sans"/>
                <a:ea typeface="IBM Plex Sans"/>
                <a:cs typeface="IBM Plex Sans"/>
              </a:endParaRPr>
            </a:p>
          </p:txBody>
        </p:sp>
        <p:sp>
          <p:nvSpPr>
            <p:cNvPr id="57" name="node01.item.item-007.point"/>
            <p:cNvSpPr/>
            <p:nvPr/>
          </p:nvSpPr>
          <p:spPr>
            <a:xfrm>
              <a:off x="1999996" y="3077464"/>
              <a:ext cx="203200" cy="203200"/>
            </a:xfrm>
            <a:prstGeom prst="ellipse">
              <a:avLst/>
            </a:prstGeom>
            <a:solidFill>
              <a:srgbClr val="070154"/>
            </a:solidFill>
            <a:ln>
              <a:noFill/>
            </a:ln>
          </p:spPr>
        </p:sp>
        <p:sp>
          <p:nvSpPr>
            <p:cNvPr id="58" name="node01.item.item-007.number"/>
            <p:cNvSpPr/>
            <p:nvPr/>
          </p:nvSpPr>
          <p:spPr>
            <a:xfrm>
              <a:off x="2012696" y="3090164"/>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7</a:t>
              </a:r>
              <a:endParaRPr lang="en-US" sz="800" spc="48" kern="0" b="0" i="0" dirty="0">
                <a:solidFill>
                  <a:srgbClr val="FFFFFF"/>
                </a:solidFill>
                <a:latin typeface="IBM Plex Mono SemiBold"/>
                <a:ea typeface="IBM Plex Mono SemiBold"/>
                <a:cs typeface="IBM Plex Mono SemiBold"/>
              </a:endParaRPr>
            </a:p>
          </p:txBody>
        </p:sp>
        <p:sp>
          <p:nvSpPr>
            <p:cNvPr id="59" name="node01.item.item-007.key-point"/>
            <p:cNvSpPr/>
            <p:nvPr/>
          </p:nvSpPr>
          <p:spPr>
            <a:xfrm>
              <a:off x="4838700" y="3810000"/>
              <a:ext cx="203200" cy="203200"/>
            </a:xfrm>
            <a:prstGeom prst="ellipse">
              <a:avLst/>
            </a:prstGeom>
            <a:solidFill>
              <a:srgbClr val="070154"/>
            </a:solidFill>
            <a:ln>
              <a:noFill/>
            </a:ln>
          </p:spPr>
        </p:sp>
        <p:sp>
          <p:nvSpPr>
            <p:cNvPr id="60" name="node01.item.item-007.key-number"/>
            <p:cNvSpPr/>
            <p:nvPr/>
          </p:nvSpPr>
          <p:spPr>
            <a:xfrm>
              <a:off x="4851400" y="382270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7</a:t>
              </a:r>
              <a:endParaRPr lang="en-US" sz="800" spc="48" kern="0" b="0" i="0" dirty="0">
                <a:solidFill>
                  <a:srgbClr val="FFFFFF"/>
                </a:solidFill>
                <a:latin typeface="IBM Plex Mono SemiBold"/>
                <a:ea typeface="IBM Plex Mono SemiBold"/>
                <a:cs typeface="IBM Plex Mono SemiBold"/>
              </a:endParaRPr>
            </a:p>
          </p:txBody>
        </p:sp>
        <p:sp>
          <p:nvSpPr>
            <p:cNvPr id="61" name="node01.item.item-007.key-label"/>
            <p:cNvSpPr/>
            <p:nvPr/>
          </p:nvSpPr>
          <p:spPr>
            <a:xfrm>
              <a:off x="5143500" y="379730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IT service desk</a:t>
              </a:r>
              <a:endParaRPr lang="en-US" sz="1100" spc="0" kern="0" b="0" i="0" dirty="0">
                <a:solidFill>
                  <a:srgbClr val="070154"/>
                </a:solidFill>
                <a:latin typeface="IBM Plex Sans"/>
                <a:ea typeface="IBM Plex Sans"/>
                <a:cs typeface="IBM Plex Sans"/>
              </a:endParaRPr>
            </a:p>
          </p:txBody>
        </p:sp>
        <p:sp>
          <p:nvSpPr>
            <p:cNvPr id="62" name="node01.item.item-008.point"/>
            <p:cNvSpPr/>
            <p:nvPr/>
          </p:nvSpPr>
          <p:spPr>
            <a:xfrm>
              <a:off x="3542284" y="4016248"/>
              <a:ext cx="203200" cy="203200"/>
            </a:xfrm>
            <a:prstGeom prst="ellipse">
              <a:avLst/>
            </a:prstGeom>
            <a:solidFill>
              <a:srgbClr val="070154"/>
            </a:solidFill>
            <a:ln>
              <a:noFill/>
            </a:ln>
          </p:spPr>
        </p:sp>
        <p:sp>
          <p:nvSpPr>
            <p:cNvPr id="63" name="node01.item.item-008.number"/>
            <p:cNvSpPr/>
            <p:nvPr/>
          </p:nvSpPr>
          <p:spPr>
            <a:xfrm>
              <a:off x="3554984" y="4028948"/>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8</a:t>
              </a:r>
              <a:endParaRPr lang="en-US" sz="800" spc="48" kern="0" b="0" i="0" dirty="0">
                <a:solidFill>
                  <a:srgbClr val="FFFFFF"/>
                </a:solidFill>
                <a:latin typeface="IBM Plex Mono SemiBold"/>
                <a:ea typeface="IBM Plex Mono SemiBold"/>
                <a:cs typeface="IBM Plex Mono SemiBold"/>
              </a:endParaRPr>
            </a:p>
          </p:txBody>
        </p:sp>
        <p:sp>
          <p:nvSpPr>
            <p:cNvPr id="64" name="node01.item.item-008.key-point"/>
            <p:cNvSpPr/>
            <p:nvPr/>
          </p:nvSpPr>
          <p:spPr>
            <a:xfrm>
              <a:off x="4838700" y="4114800"/>
              <a:ext cx="203200" cy="203200"/>
            </a:xfrm>
            <a:prstGeom prst="ellipse">
              <a:avLst/>
            </a:prstGeom>
            <a:solidFill>
              <a:srgbClr val="070154"/>
            </a:solidFill>
            <a:ln>
              <a:noFill/>
            </a:ln>
          </p:spPr>
        </p:sp>
        <p:sp>
          <p:nvSpPr>
            <p:cNvPr id="65" name="node01.item.item-008.key-number"/>
            <p:cNvSpPr/>
            <p:nvPr/>
          </p:nvSpPr>
          <p:spPr>
            <a:xfrm>
              <a:off x="4851400" y="412750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8</a:t>
              </a:r>
              <a:endParaRPr lang="en-US" sz="800" spc="48" kern="0" b="0" i="0" dirty="0">
                <a:solidFill>
                  <a:srgbClr val="FFFFFF"/>
                </a:solidFill>
                <a:latin typeface="IBM Plex Mono SemiBold"/>
                <a:ea typeface="IBM Plex Mono SemiBold"/>
                <a:cs typeface="IBM Plex Mono SemiBold"/>
              </a:endParaRPr>
            </a:p>
          </p:txBody>
        </p:sp>
        <p:sp>
          <p:nvSpPr>
            <p:cNvPr id="66" name="node01.item.item-008.key-label"/>
            <p:cNvSpPr/>
            <p:nvPr/>
          </p:nvSpPr>
          <p:spPr>
            <a:xfrm>
              <a:off x="5143500" y="410210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Union representatives</a:t>
              </a:r>
              <a:endParaRPr lang="en-US" sz="1100" spc="0" kern="0" b="0" i="0" dirty="0">
                <a:solidFill>
                  <a:srgbClr val="070154"/>
                </a:solidFill>
                <a:latin typeface="IBM Plex Sans"/>
                <a:ea typeface="IBM Plex Sans"/>
                <a:cs typeface="IBM Plex Sans"/>
              </a:endParaRPr>
            </a:p>
          </p:txBody>
        </p:sp>
        <p:sp>
          <p:nvSpPr>
            <p:cNvPr id="67" name="node01.item.item-009.point"/>
            <p:cNvSpPr/>
            <p:nvPr/>
          </p:nvSpPr>
          <p:spPr>
            <a:xfrm>
              <a:off x="2335276" y="4217416"/>
              <a:ext cx="203200" cy="203200"/>
            </a:xfrm>
            <a:prstGeom prst="ellipse">
              <a:avLst/>
            </a:prstGeom>
            <a:solidFill>
              <a:srgbClr val="070154"/>
            </a:solidFill>
            <a:ln>
              <a:noFill/>
            </a:ln>
          </p:spPr>
        </p:sp>
        <p:sp>
          <p:nvSpPr>
            <p:cNvPr id="68" name="node01.item.item-009.number"/>
            <p:cNvSpPr/>
            <p:nvPr/>
          </p:nvSpPr>
          <p:spPr>
            <a:xfrm>
              <a:off x="2347976" y="4230116"/>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9</a:t>
              </a:r>
              <a:endParaRPr lang="en-US" sz="800" spc="48" kern="0" b="0" i="0" dirty="0">
                <a:solidFill>
                  <a:srgbClr val="FFFFFF"/>
                </a:solidFill>
                <a:latin typeface="IBM Plex Mono SemiBold"/>
                <a:ea typeface="IBM Plex Mono SemiBold"/>
                <a:cs typeface="IBM Plex Mono SemiBold"/>
              </a:endParaRPr>
            </a:p>
          </p:txBody>
        </p:sp>
        <p:sp>
          <p:nvSpPr>
            <p:cNvPr id="69" name="node01.item.item-009.key-point"/>
            <p:cNvSpPr/>
            <p:nvPr/>
          </p:nvSpPr>
          <p:spPr>
            <a:xfrm>
              <a:off x="4838700" y="4419600"/>
              <a:ext cx="203200" cy="203200"/>
            </a:xfrm>
            <a:prstGeom prst="ellipse">
              <a:avLst/>
            </a:prstGeom>
            <a:solidFill>
              <a:srgbClr val="070154"/>
            </a:solidFill>
            <a:ln>
              <a:noFill/>
            </a:ln>
          </p:spPr>
        </p:sp>
        <p:sp>
          <p:nvSpPr>
            <p:cNvPr id="70" name="node01.item.item-009.key-number"/>
            <p:cNvSpPr/>
            <p:nvPr/>
          </p:nvSpPr>
          <p:spPr>
            <a:xfrm>
              <a:off x="4851400" y="443230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9</a:t>
              </a:r>
              <a:endParaRPr lang="en-US" sz="800" spc="48" kern="0" b="0" i="0" dirty="0">
                <a:solidFill>
                  <a:srgbClr val="FFFFFF"/>
                </a:solidFill>
                <a:latin typeface="IBM Plex Mono SemiBold"/>
                <a:ea typeface="IBM Plex Mono SemiBold"/>
                <a:cs typeface="IBM Plex Mono SemiBold"/>
              </a:endParaRPr>
            </a:p>
          </p:txBody>
        </p:sp>
        <p:sp>
          <p:nvSpPr>
            <p:cNvPr id="71" name="node01.item.item-009.key-label"/>
            <p:cNvSpPr/>
            <p:nvPr/>
          </p:nvSpPr>
          <p:spPr>
            <a:xfrm>
              <a:off x="5143500" y="440690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Patient advisory council</a:t>
              </a:r>
              <a:endParaRPr lang="en-US" sz="1100" spc="0" kern="0" b="0" i="0" dirty="0">
                <a:solidFill>
                  <a:srgbClr val="070154"/>
                </a:solidFill>
                <a:latin typeface="IBM Plex Sans"/>
                <a:ea typeface="IBM Plex Sans"/>
                <a:cs typeface="IBM Plex Sans"/>
              </a:endParaRPr>
            </a:p>
          </p:txBody>
        </p:sp>
        <p:sp>
          <p:nvSpPr>
            <p:cNvPr id="72" name="node01.item.item-010.point"/>
            <p:cNvSpPr/>
            <p:nvPr/>
          </p:nvSpPr>
          <p:spPr>
            <a:xfrm>
              <a:off x="1396492" y="4552696"/>
              <a:ext cx="203200" cy="203200"/>
            </a:xfrm>
            <a:prstGeom prst="ellipse">
              <a:avLst/>
            </a:prstGeom>
            <a:solidFill>
              <a:srgbClr val="070154"/>
            </a:solidFill>
            <a:ln>
              <a:noFill/>
            </a:ln>
          </p:spPr>
        </p:sp>
        <p:sp>
          <p:nvSpPr>
            <p:cNvPr id="73" name="node01.item.item-010.number"/>
            <p:cNvSpPr/>
            <p:nvPr/>
          </p:nvSpPr>
          <p:spPr>
            <a:xfrm>
              <a:off x="1409192" y="4565396"/>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10</a:t>
              </a:r>
              <a:endParaRPr lang="en-US" sz="800" spc="48" kern="0" b="0" i="0" dirty="0">
                <a:solidFill>
                  <a:srgbClr val="FFFFFF"/>
                </a:solidFill>
                <a:latin typeface="IBM Plex Mono SemiBold"/>
                <a:ea typeface="IBM Plex Mono SemiBold"/>
                <a:cs typeface="IBM Plex Mono SemiBold"/>
              </a:endParaRPr>
            </a:p>
          </p:txBody>
        </p:sp>
        <p:sp>
          <p:nvSpPr>
            <p:cNvPr id="74" name="node01.item.item-010.key-point"/>
            <p:cNvSpPr/>
            <p:nvPr/>
          </p:nvSpPr>
          <p:spPr>
            <a:xfrm>
              <a:off x="4838700" y="4724400"/>
              <a:ext cx="203200" cy="203200"/>
            </a:xfrm>
            <a:prstGeom prst="ellipse">
              <a:avLst/>
            </a:prstGeom>
            <a:solidFill>
              <a:srgbClr val="070154"/>
            </a:solidFill>
            <a:ln>
              <a:noFill/>
            </a:ln>
          </p:spPr>
        </p:sp>
        <p:sp>
          <p:nvSpPr>
            <p:cNvPr id="75" name="node01.item.item-010.key-number"/>
            <p:cNvSpPr/>
            <p:nvPr/>
          </p:nvSpPr>
          <p:spPr>
            <a:xfrm>
              <a:off x="4851400" y="4737100"/>
              <a:ext cx="177800" cy="1778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SemiBold"/>
                  <a:ea typeface="IBM Plex Mono SemiBold"/>
                  <a:cs typeface="IBM Plex Mono SemiBold"/>
                </a:rPr>
                <a:t>10</a:t>
              </a:r>
              <a:endParaRPr lang="en-US" sz="800" spc="48" kern="0" b="0" i="0" dirty="0">
                <a:solidFill>
                  <a:srgbClr val="FFFFFF"/>
                </a:solidFill>
                <a:latin typeface="IBM Plex Mono SemiBold"/>
                <a:ea typeface="IBM Plex Mono SemiBold"/>
                <a:cs typeface="IBM Plex Mono SemiBold"/>
              </a:endParaRPr>
            </a:p>
          </p:txBody>
        </p:sp>
        <p:sp>
          <p:nvSpPr>
            <p:cNvPr id="76" name="node01.item.item-010.key-label"/>
            <p:cNvSpPr/>
            <p:nvPr/>
          </p:nvSpPr>
          <p:spPr>
            <a:xfrm>
              <a:off x="5143500" y="471170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Payer relations</a:t>
              </a:r>
              <a:endParaRPr lang="en-US" sz="1100" spc="0" kern="0" b="0" i="0" dirty="0">
                <a:solidFill>
                  <a:srgbClr val="070154"/>
                </a:solidFill>
                <a:latin typeface="IBM Plex Sans"/>
                <a:ea typeface="IBM Plex Sans"/>
                <a:cs typeface="IBM Plex Sans"/>
              </a:endParaRPr>
            </a:p>
          </p:txBody>
        </p:sp>
      </p:grpSp>
      <p:grpSp>
        <p:nvGrpSpPr>
          <p:cNvPr id="87" name="node02"/>
          <p:cNvGrpSpPr/>
          <p:nvPr/>
        </p:nvGrpSpPr>
        <p:grpSpPr>
          <a:xfrm>
            <a:off x="8420100" y="1600200"/>
            <a:ext cx="3048000" cy="2463800"/>
            <a:chOff x="8420100" y="1600200"/>
            <a:chExt cx="3048000" cy="2463800"/>
          </a:xfrm>
        </p:grpSpPr>
        <p:sp>
          <p:nvSpPr>
            <p:cNvPr id="77" name="node02.source-001.number"/>
            <p:cNvSpPr/>
            <p:nvPr/>
          </p:nvSpPr>
          <p:spPr>
            <a:xfrm>
              <a:off x="8420100" y="16002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78" name="node02.source-001.title"/>
            <p:cNvSpPr/>
            <p:nvPr/>
          </p:nvSpPr>
          <p:spPr>
            <a:xfrm>
              <a:off x="8953500" y="16002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Partner</a:t>
              </a:r>
              <a:endParaRPr lang="en-US" sz="1200" spc="0" kern="0" b="0" i="0" dirty="0">
                <a:solidFill>
                  <a:srgbClr val="070154"/>
                </a:solidFill>
                <a:latin typeface="IBM Plex Sans SemiBold"/>
                <a:ea typeface="IBM Plex Sans SemiBold"/>
                <a:cs typeface="IBM Plex Sans SemiBold"/>
              </a:endParaRPr>
            </a:p>
          </p:txBody>
        </p:sp>
        <p:sp>
          <p:nvSpPr>
            <p:cNvPr id="79" name="node02.source-001.text"/>
            <p:cNvSpPr/>
            <p:nvPr/>
          </p:nvSpPr>
          <p:spPr>
            <a:xfrm>
              <a:off x="8953500" y="1816100"/>
              <a:ext cx="25146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Chief medical officer, physician group and practice managers co-design the rollout.</a:t>
              </a:r>
              <a:endParaRPr lang="en-US" sz="1200" spc="0" kern="0" b="0" i="0" dirty="0">
                <a:solidFill>
                  <a:srgbClr val="50658E"/>
                </a:solidFill>
                <a:latin typeface="IBM Plex Sans"/>
                <a:ea typeface="IBM Plex Sans"/>
                <a:cs typeface="IBM Plex Sans"/>
              </a:endParaRPr>
            </a:p>
          </p:txBody>
        </p:sp>
        <p:sp>
          <p:nvSpPr>
            <p:cNvPr id="80" name="node02.source-002.number"/>
            <p:cNvSpPr/>
            <p:nvPr/>
          </p:nvSpPr>
          <p:spPr>
            <a:xfrm>
              <a:off x="8420100" y="26162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81" name="node02.source-002.title"/>
            <p:cNvSpPr/>
            <p:nvPr/>
          </p:nvSpPr>
          <p:spPr>
            <a:xfrm>
              <a:off x="8953500" y="26162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Support</a:t>
              </a:r>
              <a:endParaRPr lang="en-US" sz="1200" spc="0" kern="0" b="0" i="0" dirty="0">
                <a:solidFill>
                  <a:srgbClr val="070154"/>
                </a:solidFill>
                <a:latin typeface="IBM Plex Sans SemiBold"/>
                <a:ea typeface="IBM Plex Sans SemiBold"/>
                <a:cs typeface="IBM Plex Sans SemiBold"/>
              </a:endParaRPr>
            </a:p>
          </p:txBody>
        </p:sp>
        <p:sp>
          <p:nvSpPr>
            <p:cNvPr id="82" name="node02.source-002.text"/>
            <p:cNvSpPr/>
            <p:nvPr/>
          </p:nvSpPr>
          <p:spPr>
            <a:xfrm>
              <a:off x="8953500" y="2832100"/>
              <a:ext cx="2514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Schedulers and agents get coaching and a named champion.</a:t>
              </a:r>
              <a:endParaRPr lang="en-US" sz="1200" spc="0" kern="0" b="0" i="0" dirty="0">
                <a:solidFill>
                  <a:srgbClr val="50658E"/>
                </a:solidFill>
                <a:latin typeface="IBM Plex Sans"/>
                <a:ea typeface="IBM Plex Sans"/>
                <a:cs typeface="IBM Plex Sans"/>
              </a:endParaRPr>
            </a:p>
          </p:txBody>
        </p:sp>
        <p:sp>
          <p:nvSpPr>
            <p:cNvPr id="83" name="node02.source-003.number"/>
            <p:cNvSpPr/>
            <p:nvPr/>
          </p:nvSpPr>
          <p:spPr>
            <a:xfrm>
              <a:off x="8420100" y="34163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84" name="node02.source-003.title"/>
            <p:cNvSpPr/>
            <p:nvPr/>
          </p:nvSpPr>
          <p:spPr>
            <a:xfrm>
              <a:off x="8953500" y="3416300"/>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Inform</a:t>
              </a:r>
              <a:endParaRPr lang="en-US" sz="1200" spc="0" kern="0" b="0" i="0" dirty="0">
                <a:solidFill>
                  <a:srgbClr val="070154"/>
                </a:solidFill>
                <a:latin typeface="IBM Plex Sans SemiBold"/>
                <a:ea typeface="IBM Plex Sans SemiBold"/>
                <a:cs typeface="IBM Plex Sans SemiBold"/>
              </a:endParaRPr>
            </a:p>
          </p:txBody>
        </p:sp>
        <p:sp>
          <p:nvSpPr>
            <p:cNvPr id="85" name="node02.source-003.text"/>
            <p:cNvSpPr/>
            <p:nvPr/>
          </p:nvSpPr>
          <p:spPr>
            <a:xfrm>
              <a:off x="8953500" y="3632200"/>
              <a:ext cx="2514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Union and payer contacts get briefings ahead of each wave.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ource-14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COMMUNICATIONS PLAN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Every audience hears on a countdown to go-live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communications plan, Sep 2026.</a:t>
            </a:r>
            <a:endParaRPr lang="en-US" sz="900" spc="0" kern="0" b="0" i="0" dirty="0">
              <a:solidFill>
                <a:srgbClr val="50658E"/>
              </a:solidFill>
              <a:latin typeface="IBM Plex Sans"/>
              <a:ea typeface="IBM Plex Sans"/>
              <a:cs typeface="IBM Plex Sans"/>
            </a:endParaRPr>
          </a:p>
        </p:txBody>
      </p:sp>
      <p:sp>
        <p:nvSpPr>
          <p:cNvPr id="6" name="nav.section-01"/>
          <p:cNvSpPr/>
          <p:nvPr/>
        </p:nvSpPr>
        <p:spPr>
          <a:xfrm>
            <a:off x="266700" y="457200"/>
            <a:ext cx="228600" cy="1314450"/>
          </a:xfrm>
          <a:prstGeom prst="rect">
            <a:avLst/>
          </a:prstGeom>
          <a:solidFill>
            <a:srgbClr val="E8EEF8"/>
          </a:solidFill>
          <a:ln>
            <a:noFill/>
          </a:ln>
        </p:spPr>
      </p:sp>
      <p:sp>
        <p:nvSpPr>
          <p:cNvPr id="7"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IMPACT</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847850"/>
            <a:ext cx="228600" cy="1314450"/>
          </a:xfrm>
          <a:prstGeom prst="rect">
            <a:avLst/>
          </a:prstGeom>
          <a:solidFill>
            <a:srgbClr val="E8EEF8"/>
          </a:solidFill>
          <a:ln>
            <a:noFill/>
          </a:ln>
        </p:spPr>
      </p:sp>
      <p:sp>
        <p:nvSpPr>
          <p:cNvPr id="9"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READINESS</a:t>
            </a:r>
            <a:endParaRPr lang="en-US" sz="800" spc="80" kern="0" b="0" i="0" dirty="0">
              <a:solidFill>
                <a:srgbClr val="50658E"/>
              </a:solidFill>
              <a:latin typeface="IBM Plex Mono SemiBold"/>
              <a:ea typeface="IBM Plex Mono SemiBold"/>
              <a:cs typeface="IBM Plex Mono SemiBold"/>
            </a:endParaRPr>
          </a:p>
        </p:txBody>
      </p:sp>
      <p:sp>
        <p:nvSpPr>
          <p:cNvPr id="10" name="nav.section-03"/>
          <p:cNvSpPr/>
          <p:nvPr/>
        </p:nvSpPr>
        <p:spPr>
          <a:xfrm>
            <a:off x="266700" y="3238500"/>
            <a:ext cx="228600" cy="1314450"/>
          </a:xfrm>
          <a:prstGeom prst="rect">
            <a:avLst/>
          </a:prstGeom>
          <a:solidFill>
            <a:srgbClr val="070154"/>
          </a:solidFill>
          <a:ln>
            <a:noFill/>
          </a:ln>
        </p:spPr>
      </p:sp>
      <p:sp>
        <p:nvSpPr>
          <p:cNvPr id="11"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COMMS</a:t>
            </a:r>
            <a:endParaRPr lang="en-US" sz="800" spc="80" kern="0" b="0" i="0" dirty="0">
              <a:solidFill>
                <a:srgbClr val="FFFFFF"/>
              </a:solidFill>
              <a:latin typeface="IBM Plex Mono SemiBold"/>
              <a:ea typeface="IBM Plex Mono SemiBold"/>
              <a:cs typeface="IBM Plex Mono SemiBold"/>
            </a:endParaRPr>
          </a:p>
        </p:txBody>
      </p:sp>
      <p:sp>
        <p:nvSpPr>
          <p:cNvPr id="12" name="nav.section-04"/>
          <p:cNvSpPr/>
          <p:nvPr/>
        </p:nvSpPr>
        <p:spPr>
          <a:xfrm>
            <a:off x="266700" y="4629150"/>
            <a:ext cx="228600" cy="1314450"/>
          </a:xfrm>
          <a:prstGeom prst="rect">
            <a:avLst/>
          </a:prstGeom>
          <a:solidFill>
            <a:srgbClr val="E8EEF8"/>
          </a:solidFill>
          <a:ln>
            <a:noFill/>
          </a:ln>
        </p:spPr>
      </p:sp>
      <p:sp>
        <p:nvSpPr>
          <p:cNvPr id="13"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ADOPTION</a:t>
            </a:r>
            <a:endParaRPr lang="en-US" sz="800" spc="80" kern="0" b="0" i="0" dirty="0">
              <a:solidFill>
                <a:srgbClr val="50658E"/>
              </a:solidFill>
              <a:latin typeface="IBM Plex Mono SemiBold"/>
              <a:ea typeface="IBM Plex Mono SemiBold"/>
              <a:cs typeface="IBM Plex Mono SemiBold"/>
            </a:endParaRPr>
          </a:p>
        </p:txBody>
      </p:sp>
      <p:sp>
        <p:nvSpPr>
          <p:cNvPr id="1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197</a:t>
            </a:fld>
            <a:endParaRPr lang="en-US" sz="700" spc="0" kern="0" b="0" i="0" dirty="0">
              <a:solidFill>
                <a:srgbClr val="070154"/>
              </a:solidFill>
              <a:latin typeface="IBM Plex Mono SemiBold"/>
              <a:ea typeface="IBM Plex Mono SemiBold"/>
              <a:cs typeface="IBM Plex Mono SemiBold"/>
            </a:endParaRPr>
          </a:p>
        </p:txBody>
      </p:sp>
      <p:grpSp>
        <p:nvGrpSpPr>
          <p:cNvPr id="23" name="node01"/>
          <p:cNvGrpSpPr/>
          <p:nvPr/>
        </p:nvGrpSpPr>
        <p:grpSpPr>
          <a:xfrm>
            <a:off x="723900" y="1600200"/>
            <a:ext cx="10744200" cy="3022600"/>
            <a:chOff x="723900" y="1600200"/>
            <a:chExt cx="10744200" cy="3022600"/>
          </a:xfrm>
        </p:grpSpPr>
        <p:graphicFrame>
          <p:nvGraphicFramePr>
            <p:cNvPr id="15"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022600"/>
          </p:xfrm>
          <a:graphic>
            <a:graphicData uri="http://schemas.openxmlformats.org/drawingml/2006/table">
              <a:tbl>
                <a:tblPr/>
                <a:tblGrid>
                  <a:gridCol w="1600200"/>
                  <a:gridCol w="1524000"/>
                  <a:gridCol w="1524000"/>
                  <a:gridCol w="1524000"/>
                  <a:gridCol w="1524000"/>
                  <a:gridCol w="1524000"/>
                  <a:gridCol w="15240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AUDIENCE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T-12 WKS</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T-8 WKS</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T-4 WKS</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T-1 WK</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GO-LIVE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T+4 WKS</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33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Executives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Case and funding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Steering update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Readiness vote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Go/no-go brief</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Launch note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Results review</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Physicians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Vision video</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Peer demo</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Template sign-off</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Cheat sheet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Hotline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Fix list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Schedulers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Town hall</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Training dates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Sandbox practice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Huddle card</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Floor-walkers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Tips and wins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Nurses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Unit meeting</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Role cards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Unit demo</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Downtime kit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Hotline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Pulse check</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Patients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None yet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None yet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Website notice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Email and text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Lobby signage</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Survey</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16" name="node01.highlight-edge"/>
            <p:cNvSpPr/>
            <p:nvPr/>
          </p:nvSpPr>
          <p:spPr>
            <a:xfrm>
              <a:off x="8420100" y="1562100"/>
              <a:ext cx="1524000" cy="38100"/>
            </a:xfrm>
            <a:prstGeom prst="rect">
              <a:avLst/>
            </a:prstGeom>
            <a:solidFill>
              <a:srgbClr val="0047FF"/>
            </a:solidFill>
            <a:ln>
              <a:noFill/>
            </a:ln>
          </p:spPr>
        </p:sp>
      </p:grpSp>
      <p:grpSp>
        <p:nvGrpSpPr>
          <p:cNvPr id="24" name="node02"/>
          <p:cNvGrpSpPr/>
          <p:nvPr/>
        </p:nvGrpSpPr>
        <p:grpSpPr>
          <a:xfrm>
            <a:off x="723900" y="4876800"/>
            <a:ext cx="10744200" cy="723900"/>
            <a:chOff x="723900" y="4876800"/>
            <a:chExt cx="10744200" cy="723900"/>
          </a:xfrm>
        </p:grpSpPr>
        <p:sp>
          <p:nvSpPr>
            <p:cNvPr id="17" name="node02.source-001.bullet"/>
            <p:cNvSpPr/>
            <p:nvPr/>
          </p:nvSpPr>
          <p:spPr>
            <a:xfrm>
              <a:off x="723900" y="4965700"/>
              <a:ext cx="38100" cy="38100"/>
            </a:xfrm>
            <a:prstGeom prst="rect">
              <a:avLst/>
            </a:prstGeom>
            <a:solidFill>
              <a:srgbClr val="070154"/>
            </a:solidFill>
            <a:ln>
              <a:noFill/>
            </a:ln>
          </p:spPr>
        </p:sp>
        <p:sp>
          <p:nvSpPr>
            <p:cNvPr id="18" name="node02.source-001.text"/>
            <p:cNvSpPr/>
            <p:nvPr/>
          </p:nvSpPr>
          <p:spPr>
            <a:xfrm>
              <a:off x="876300" y="4876800"/>
              <a:ext cx="1059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Rule.</a:t>
              </a:r>
              <a:r>
                <a:rPr lang="en-US" sz="1200" spc="0" kern="0" b="0" i="0" dirty="0">
                  <a:solidFill>
                    <a:srgbClr val="50658E"/>
                  </a:solidFill>
                  <a:latin typeface="IBM Plex Sans"/>
                  <a:ea typeface="IBM Plex Sans"/>
                  <a:cs typeface="IBM Plex Sans"/>
                </a:rPr>
                <a:t xml:space="preserve"> No audience hears a date from a channel it does not already trust.</a:t>
              </a:r>
              <a:endParaRPr lang="en-US" sz="1200" spc="0" kern="0" b="0" i="0" dirty="0">
                <a:solidFill>
                  <a:srgbClr val="070154"/>
                </a:solidFill>
                <a:latin typeface="IBM Plex Sans"/>
                <a:ea typeface="IBM Plex Sans"/>
                <a:cs typeface="IBM Plex Sans"/>
              </a:endParaRPr>
            </a:p>
          </p:txBody>
        </p:sp>
        <p:sp>
          <p:nvSpPr>
            <p:cNvPr id="19" name="node02.source-002.bullet"/>
            <p:cNvSpPr/>
            <p:nvPr/>
          </p:nvSpPr>
          <p:spPr>
            <a:xfrm>
              <a:off x="723900" y="5219700"/>
              <a:ext cx="38100" cy="38100"/>
            </a:xfrm>
            <a:prstGeom prst="rect">
              <a:avLst/>
            </a:prstGeom>
            <a:solidFill>
              <a:srgbClr val="070154"/>
            </a:solidFill>
            <a:ln>
              <a:noFill/>
            </a:ln>
          </p:spPr>
        </p:sp>
        <p:sp>
          <p:nvSpPr>
            <p:cNvPr id="20" name="node02.source-002.text"/>
            <p:cNvSpPr/>
            <p:nvPr/>
          </p:nvSpPr>
          <p:spPr>
            <a:xfrm>
              <a:off x="876300" y="5130800"/>
              <a:ext cx="1059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Rule.</a:t>
              </a:r>
              <a:r>
                <a:rPr lang="en-US" sz="1200" spc="0" kern="0" b="0" i="0" dirty="0">
                  <a:solidFill>
                    <a:srgbClr val="50658E"/>
                  </a:solidFill>
                  <a:latin typeface="IBM Plex Sans"/>
                  <a:ea typeface="IBM Plex Sans"/>
                  <a:cs typeface="IBM Plex Sans"/>
                </a:rPr>
                <a:t xml:space="preserve"> Frontline staff hear first from their own manager, never from a broadcast.</a:t>
              </a:r>
              <a:endParaRPr lang="en-US" sz="1200" spc="0" kern="0" b="0" i="0" dirty="0">
                <a:solidFill>
                  <a:srgbClr val="070154"/>
                </a:solidFill>
                <a:latin typeface="IBM Plex Sans"/>
                <a:ea typeface="IBM Plex Sans"/>
                <a:cs typeface="IBM Plex Sans"/>
              </a:endParaRPr>
            </a:p>
          </p:txBody>
        </p:sp>
        <p:sp>
          <p:nvSpPr>
            <p:cNvPr id="21" name="node02.source-003.bullet"/>
            <p:cNvSpPr/>
            <p:nvPr/>
          </p:nvSpPr>
          <p:spPr>
            <a:xfrm>
              <a:off x="723900" y="5473700"/>
              <a:ext cx="38100" cy="38100"/>
            </a:xfrm>
            <a:prstGeom prst="rect">
              <a:avLst/>
            </a:prstGeom>
            <a:solidFill>
              <a:srgbClr val="070154"/>
            </a:solidFill>
            <a:ln>
              <a:noFill/>
            </a:ln>
          </p:spPr>
        </p:sp>
        <p:sp>
          <p:nvSpPr>
            <p:cNvPr id="22" name="node02.source-003.text"/>
            <p:cNvSpPr/>
            <p:nvPr/>
          </p:nvSpPr>
          <p:spPr>
            <a:xfrm>
              <a:off x="876300" y="5384800"/>
              <a:ext cx="1059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Rule.</a:t>
              </a:r>
              <a:r>
                <a:rPr lang="en-US" sz="1200" spc="0" kern="0" b="0" i="0" dirty="0">
                  <a:solidFill>
                    <a:srgbClr val="50658E"/>
                  </a:solidFill>
                  <a:latin typeface="IBM Plex Sans"/>
                  <a:ea typeface="IBM Plex Sans"/>
                  <a:cs typeface="IBM Plex Sans"/>
                </a:rPr>
                <a:t xml:space="preserve"> Patients hear only after staff are trained at their site.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ource-13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COMMUNICATIONS PLAN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audience hears a message built for its day-to-day</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communications plan,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198</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723900" y="1600200"/>
            <a:ext cx="10744200" cy="3200400"/>
            <a:chOff x="723900" y="1600200"/>
            <a:chExt cx="10744200" cy="3200400"/>
          </a:xfrm>
        </p:grpSpPr>
        <p:grpSp>
          <p:nvGrpSpPr>
            <p:cNvPr id="53" name="node01.item-001"/>
            <p:cNvGrpSpPr/>
            <p:nvPr/>
          </p:nvGrpSpPr>
          <p:grpSpPr>
            <a:xfrm>
              <a:off x="723900" y="1600200"/>
              <a:ext cx="2514600" cy="3200400"/>
              <a:chOff x="723900" y="1600200"/>
              <a:chExt cx="2514600" cy="3200400"/>
            </a:xfrm>
          </p:grpSpPr>
          <p:sp>
            <p:nvSpPr>
              <p:cNvPr id="7" name="node01.item-001.container"/>
              <p:cNvSpPr/>
              <p:nvPr/>
            </p:nvSpPr>
            <p:spPr>
              <a:xfrm>
                <a:off x="723900" y="1600200"/>
                <a:ext cx="2514600" cy="3200400"/>
              </a:xfrm>
              <a:prstGeom prst="rect">
                <a:avLst/>
              </a:prstGeom>
              <a:solidFill>
                <a:srgbClr val="E8EEF8"/>
              </a:solidFill>
              <a:ln>
                <a:noFill/>
              </a:ln>
            </p:spPr>
          </p:sp>
          <p:sp>
            <p:nvSpPr>
              <p:cNvPr id="8" name="node01.item-001.number"/>
              <p:cNvSpPr/>
              <p:nvPr/>
            </p:nvSpPr>
            <p:spPr>
              <a:xfrm>
                <a:off x="8763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9" name="node01.item-001.title"/>
              <p:cNvSpPr/>
              <p:nvPr/>
            </p:nvSpPr>
            <p:spPr>
              <a:xfrm>
                <a:off x="1247775" y="17523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Physicians</a:t>
                </a:r>
                <a:endParaRPr lang="en-US" sz="1600" spc="-16" kern="0" b="0" i="0" dirty="0">
                  <a:solidFill>
                    <a:srgbClr val="0047FF"/>
                  </a:solidFill>
                  <a:latin typeface="IBM Plex Sans SemiBold"/>
                  <a:ea typeface="IBM Plex Sans SemiBold"/>
                  <a:cs typeface="IBM Plex Sans SemiBold"/>
                </a:endParaRPr>
              </a:p>
            </p:txBody>
          </p:sp>
          <p:sp>
            <p:nvSpPr>
              <p:cNvPr id="10" name="node01.item-001.body.item-001.label"/>
              <p:cNvSpPr/>
              <p:nvPr/>
            </p:nvSpPr>
            <p:spPr>
              <a:xfrm>
                <a:off x="876300" y="2171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MESSAGE</a:t>
                </a:r>
                <a:endParaRPr lang="en-US" sz="800" spc="48" kern="0" b="0" i="0" dirty="0">
                  <a:solidFill>
                    <a:srgbClr val="0047FF"/>
                  </a:solidFill>
                  <a:latin typeface="IBM Plex Mono Medium"/>
                  <a:ea typeface="IBM Plex Mono Medium"/>
                  <a:cs typeface="IBM Plex Mono Medium"/>
                </a:endParaRPr>
              </a:p>
            </p:txBody>
          </p:sp>
          <p:sp>
            <p:nvSpPr>
              <p:cNvPr id="11" name="node01.item-001.body.item-002.paragraph"/>
              <p:cNvSpPr/>
              <p:nvPr/>
            </p:nvSpPr>
            <p:spPr>
              <a:xfrm>
                <a:off x="876300" y="2387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What changes for my schedule</a:t>
                </a:r>
                <a:endParaRPr lang="en-US" sz="1200" spc="0" kern="0" b="0" i="0" dirty="0">
                  <a:solidFill>
                    <a:srgbClr val="50658E"/>
                  </a:solidFill>
                  <a:latin typeface="IBM Plex Sans"/>
                  <a:ea typeface="IBM Plex Sans"/>
                  <a:cs typeface="IBM Plex Sans"/>
                </a:endParaRPr>
              </a:p>
            </p:txBody>
          </p:sp>
          <p:sp>
            <p:nvSpPr>
              <p:cNvPr id="12" name="node01.item-001.body.item-003.label"/>
              <p:cNvSpPr/>
              <p:nvPr/>
            </p:nvSpPr>
            <p:spPr>
              <a:xfrm>
                <a:off x="876300" y="2679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CHANNEL</a:t>
                </a:r>
                <a:endParaRPr lang="en-US" sz="800" spc="48" kern="0" b="0" i="0" dirty="0">
                  <a:solidFill>
                    <a:srgbClr val="0047FF"/>
                  </a:solidFill>
                  <a:latin typeface="IBM Plex Mono Medium"/>
                  <a:ea typeface="IBM Plex Mono Medium"/>
                  <a:cs typeface="IBM Plex Mono Medium"/>
                </a:endParaRPr>
              </a:p>
            </p:txBody>
          </p:sp>
          <p:sp>
            <p:nvSpPr>
              <p:cNvPr id="13" name="node01.item-001.body.item-004.paragraph"/>
              <p:cNvSpPr/>
              <p:nvPr/>
            </p:nvSpPr>
            <p:spPr>
              <a:xfrm>
                <a:off x="876300" y="2895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Huddle and short video</a:t>
                </a:r>
                <a:endParaRPr lang="en-US" sz="1200" spc="0" kern="0" b="0" i="0" dirty="0">
                  <a:solidFill>
                    <a:srgbClr val="50658E"/>
                  </a:solidFill>
                  <a:latin typeface="IBM Plex Sans"/>
                  <a:ea typeface="IBM Plex Sans"/>
                  <a:cs typeface="IBM Plex Sans"/>
                </a:endParaRPr>
              </a:p>
            </p:txBody>
          </p:sp>
          <p:sp>
            <p:nvSpPr>
              <p:cNvPr id="14" name="node01.item-001.body.item-005.label"/>
              <p:cNvSpPr/>
              <p:nvPr/>
            </p:nvSpPr>
            <p:spPr>
              <a:xfrm>
                <a:off x="876300" y="3187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CADENCE</a:t>
                </a:r>
                <a:endParaRPr lang="en-US" sz="800" spc="48" kern="0" b="0" i="0" dirty="0">
                  <a:solidFill>
                    <a:srgbClr val="0047FF"/>
                  </a:solidFill>
                  <a:latin typeface="IBM Plex Mono Medium"/>
                  <a:ea typeface="IBM Plex Mono Medium"/>
                  <a:cs typeface="IBM Plex Mono Medium"/>
                </a:endParaRPr>
              </a:p>
            </p:txBody>
          </p:sp>
          <p:sp>
            <p:nvSpPr>
              <p:cNvPr id="15" name="node01.item-001.body.item-006.paragraph"/>
              <p:cNvSpPr/>
              <p:nvPr/>
            </p:nvSpPr>
            <p:spPr>
              <a:xfrm>
                <a:off x="876300" y="3403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Every 2 weeks</a:t>
                </a:r>
                <a:endParaRPr lang="en-US" sz="1200" spc="0" kern="0" b="0" i="0" dirty="0">
                  <a:solidFill>
                    <a:srgbClr val="50658E"/>
                  </a:solidFill>
                  <a:latin typeface="IBM Plex Sans"/>
                  <a:ea typeface="IBM Plex Sans"/>
                  <a:cs typeface="IBM Plex Sans"/>
                </a:endParaRPr>
              </a:p>
            </p:txBody>
          </p:sp>
          <p:sp>
            <p:nvSpPr>
              <p:cNvPr id="16" name="node01.item-001.body.item-007.label"/>
              <p:cNvSpPr/>
              <p:nvPr/>
            </p:nvSpPr>
            <p:spPr>
              <a:xfrm>
                <a:off x="876300" y="3695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OWNER</a:t>
                </a:r>
                <a:endParaRPr lang="en-US" sz="800" spc="48" kern="0" b="0" i="0" dirty="0">
                  <a:solidFill>
                    <a:srgbClr val="0047FF"/>
                  </a:solidFill>
                  <a:latin typeface="IBM Plex Mono Medium"/>
                  <a:ea typeface="IBM Plex Mono Medium"/>
                  <a:cs typeface="IBM Plex Mono Medium"/>
                </a:endParaRPr>
              </a:p>
            </p:txBody>
          </p:sp>
          <p:sp>
            <p:nvSpPr>
              <p:cNvPr id="17" name="node01.item-001.body.item-008.paragraph"/>
              <p:cNvSpPr/>
              <p:nvPr/>
            </p:nvSpPr>
            <p:spPr>
              <a:xfrm>
                <a:off x="876300" y="3911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Medical director</a:t>
                </a:r>
                <a:endParaRPr lang="en-US" sz="1200" spc="0" kern="0" b="0" i="0" dirty="0">
                  <a:solidFill>
                    <a:srgbClr val="50658E"/>
                  </a:solidFill>
                  <a:latin typeface="IBM Plex Sans"/>
                  <a:ea typeface="IBM Plex Sans"/>
                  <a:cs typeface="IBM Plex Sans"/>
                </a:endParaRPr>
              </a:p>
            </p:txBody>
          </p:sp>
        </p:grpSp>
        <p:grpSp>
          <p:nvGrpSpPr>
            <p:cNvPr id="54" name="node01.item-002"/>
            <p:cNvGrpSpPr/>
            <p:nvPr/>
          </p:nvGrpSpPr>
          <p:grpSpPr>
            <a:xfrm>
              <a:off x="3467100" y="1600200"/>
              <a:ext cx="2514600" cy="3200400"/>
              <a:chOff x="3467100" y="1600200"/>
              <a:chExt cx="2514600" cy="3200400"/>
            </a:xfrm>
          </p:grpSpPr>
          <p:sp>
            <p:nvSpPr>
              <p:cNvPr id="18" name="node01.item-002.container"/>
              <p:cNvSpPr/>
              <p:nvPr/>
            </p:nvSpPr>
            <p:spPr>
              <a:xfrm>
                <a:off x="3467100" y="1600200"/>
                <a:ext cx="2514600" cy="3200400"/>
              </a:xfrm>
              <a:prstGeom prst="rect">
                <a:avLst/>
              </a:prstGeom>
              <a:solidFill>
                <a:srgbClr val="E8EEF8"/>
              </a:solidFill>
              <a:ln>
                <a:noFill/>
              </a:ln>
            </p:spPr>
          </p:sp>
          <p:sp>
            <p:nvSpPr>
              <p:cNvPr id="19" name="node01.item-002.number"/>
              <p:cNvSpPr/>
              <p:nvPr/>
            </p:nvSpPr>
            <p:spPr>
              <a:xfrm>
                <a:off x="36195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20" name="node01.item-002.title"/>
              <p:cNvSpPr/>
              <p:nvPr/>
            </p:nvSpPr>
            <p:spPr>
              <a:xfrm>
                <a:off x="3990975" y="17523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Frontline staff</a:t>
                </a:r>
                <a:endParaRPr lang="en-US" sz="1600" spc="-16" kern="0" b="0" i="0" dirty="0">
                  <a:solidFill>
                    <a:srgbClr val="0047FF"/>
                  </a:solidFill>
                  <a:latin typeface="IBM Plex Sans SemiBold"/>
                  <a:ea typeface="IBM Plex Sans SemiBold"/>
                  <a:cs typeface="IBM Plex Sans SemiBold"/>
                </a:endParaRPr>
              </a:p>
            </p:txBody>
          </p:sp>
          <p:sp>
            <p:nvSpPr>
              <p:cNvPr id="21" name="node01.item-002.body.item-001.label"/>
              <p:cNvSpPr/>
              <p:nvPr/>
            </p:nvSpPr>
            <p:spPr>
              <a:xfrm>
                <a:off x="3619500" y="2171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MESSAGE</a:t>
                </a:r>
                <a:endParaRPr lang="en-US" sz="800" spc="48" kern="0" b="0" i="0" dirty="0">
                  <a:solidFill>
                    <a:srgbClr val="0047FF"/>
                  </a:solidFill>
                  <a:latin typeface="IBM Plex Mono Medium"/>
                  <a:ea typeface="IBM Plex Mono Medium"/>
                  <a:cs typeface="IBM Plex Mono Medium"/>
                </a:endParaRPr>
              </a:p>
            </p:txBody>
          </p:sp>
          <p:sp>
            <p:nvSpPr>
              <p:cNvPr id="22" name="node01.item-002.body.item-002.paragraph"/>
              <p:cNvSpPr/>
              <p:nvPr/>
            </p:nvSpPr>
            <p:spPr>
              <a:xfrm>
                <a:off x="3619500" y="2387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Steps, dates, who to call</a:t>
                </a:r>
                <a:endParaRPr lang="en-US" sz="1200" spc="0" kern="0" b="0" i="0" dirty="0">
                  <a:solidFill>
                    <a:srgbClr val="50658E"/>
                  </a:solidFill>
                  <a:latin typeface="IBM Plex Sans"/>
                  <a:ea typeface="IBM Plex Sans"/>
                  <a:cs typeface="IBM Plex Sans"/>
                </a:endParaRPr>
              </a:p>
            </p:txBody>
          </p:sp>
          <p:sp>
            <p:nvSpPr>
              <p:cNvPr id="23" name="node01.item-002.body.item-003.label"/>
              <p:cNvSpPr/>
              <p:nvPr/>
            </p:nvSpPr>
            <p:spPr>
              <a:xfrm>
                <a:off x="3619500" y="2679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CHANNEL</a:t>
                </a:r>
                <a:endParaRPr lang="en-US" sz="800" spc="48" kern="0" b="0" i="0" dirty="0">
                  <a:solidFill>
                    <a:srgbClr val="0047FF"/>
                  </a:solidFill>
                  <a:latin typeface="IBM Plex Mono Medium"/>
                  <a:ea typeface="IBM Plex Mono Medium"/>
                  <a:cs typeface="IBM Plex Mono Medium"/>
                </a:endParaRPr>
              </a:p>
            </p:txBody>
          </p:sp>
          <p:sp>
            <p:nvSpPr>
              <p:cNvPr id="24" name="node01.item-002.body.item-004.paragraph"/>
              <p:cNvSpPr/>
              <p:nvPr/>
            </p:nvSpPr>
            <p:spPr>
              <a:xfrm>
                <a:off x="3619500" y="2895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Floor-walkers, huddle cards</a:t>
                </a:r>
                <a:endParaRPr lang="en-US" sz="1200" spc="0" kern="0" b="0" i="0" dirty="0">
                  <a:solidFill>
                    <a:srgbClr val="50658E"/>
                  </a:solidFill>
                  <a:latin typeface="IBM Plex Sans"/>
                  <a:ea typeface="IBM Plex Sans"/>
                  <a:cs typeface="IBM Plex Sans"/>
                </a:endParaRPr>
              </a:p>
            </p:txBody>
          </p:sp>
          <p:sp>
            <p:nvSpPr>
              <p:cNvPr id="25" name="node01.item-002.body.item-005.label"/>
              <p:cNvSpPr/>
              <p:nvPr/>
            </p:nvSpPr>
            <p:spPr>
              <a:xfrm>
                <a:off x="3619500" y="3187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CADENCE</a:t>
                </a:r>
                <a:endParaRPr lang="en-US" sz="800" spc="48" kern="0" b="0" i="0" dirty="0">
                  <a:solidFill>
                    <a:srgbClr val="0047FF"/>
                  </a:solidFill>
                  <a:latin typeface="IBM Plex Mono Medium"/>
                  <a:ea typeface="IBM Plex Mono Medium"/>
                  <a:cs typeface="IBM Plex Mono Medium"/>
                </a:endParaRPr>
              </a:p>
            </p:txBody>
          </p:sp>
          <p:sp>
            <p:nvSpPr>
              <p:cNvPr id="26" name="node01.item-002.body.item-006.paragraph"/>
              <p:cNvSpPr/>
              <p:nvPr/>
            </p:nvSpPr>
            <p:spPr>
              <a:xfrm>
                <a:off x="3619500" y="3403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Weekly</a:t>
                </a:r>
                <a:endParaRPr lang="en-US" sz="1200" spc="0" kern="0" b="0" i="0" dirty="0">
                  <a:solidFill>
                    <a:srgbClr val="50658E"/>
                  </a:solidFill>
                  <a:latin typeface="IBM Plex Sans"/>
                  <a:ea typeface="IBM Plex Sans"/>
                  <a:cs typeface="IBM Plex Sans"/>
                </a:endParaRPr>
              </a:p>
            </p:txBody>
          </p:sp>
          <p:sp>
            <p:nvSpPr>
              <p:cNvPr id="27" name="node01.item-002.body.item-007.label"/>
              <p:cNvSpPr/>
              <p:nvPr/>
            </p:nvSpPr>
            <p:spPr>
              <a:xfrm>
                <a:off x="3619500" y="3695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OWNER</a:t>
                </a:r>
                <a:endParaRPr lang="en-US" sz="800" spc="48" kern="0" b="0" i="0" dirty="0">
                  <a:solidFill>
                    <a:srgbClr val="0047FF"/>
                  </a:solidFill>
                  <a:latin typeface="IBM Plex Mono Medium"/>
                  <a:ea typeface="IBM Plex Mono Medium"/>
                  <a:cs typeface="IBM Plex Mono Medium"/>
                </a:endParaRPr>
              </a:p>
            </p:txBody>
          </p:sp>
          <p:sp>
            <p:nvSpPr>
              <p:cNvPr id="28" name="node01.item-002.body.item-008.paragraph"/>
              <p:cNvSpPr/>
              <p:nvPr/>
            </p:nvSpPr>
            <p:spPr>
              <a:xfrm>
                <a:off x="3619500" y="3911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Practice managers</a:t>
                </a:r>
                <a:endParaRPr lang="en-US" sz="1200" spc="0" kern="0" b="0" i="0" dirty="0">
                  <a:solidFill>
                    <a:srgbClr val="50658E"/>
                  </a:solidFill>
                  <a:latin typeface="IBM Plex Sans"/>
                  <a:ea typeface="IBM Plex Sans"/>
                  <a:cs typeface="IBM Plex Sans"/>
                </a:endParaRPr>
              </a:p>
            </p:txBody>
          </p:sp>
        </p:grpSp>
        <p:grpSp>
          <p:nvGrpSpPr>
            <p:cNvPr id="55" name="node01.item-003"/>
            <p:cNvGrpSpPr/>
            <p:nvPr/>
          </p:nvGrpSpPr>
          <p:grpSpPr>
            <a:xfrm>
              <a:off x="6210300" y="1600200"/>
              <a:ext cx="2514600" cy="3200400"/>
              <a:chOff x="6210300" y="1600200"/>
              <a:chExt cx="2514600" cy="3200400"/>
            </a:xfrm>
          </p:grpSpPr>
          <p:sp>
            <p:nvSpPr>
              <p:cNvPr id="29" name="node01.item-003.container"/>
              <p:cNvSpPr/>
              <p:nvPr/>
            </p:nvSpPr>
            <p:spPr>
              <a:xfrm>
                <a:off x="6210300" y="1600200"/>
                <a:ext cx="2514600" cy="3200400"/>
              </a:xfrm>
              <a:prstGeom prst="rect">
                <a:avLst/>
              </a:prstGeom>
              <a:solidFill>
                <a:srgbClr val="E8EEF8"/>
              </a:solidFill>
              <a:ln>
                <a:noFill/>
              </a:ln>
            </p:spPr>
          </p:sp>
          <p:sp>
            <p:nvSpPr>
              <p:cNvPr id="30" name="node01.item-003.number"/>
              <p:cNvSpPr/>
              <p:nvPr/>
            </p:nvSpPr>
            <p:spPr>
              <a:xfrm>
                <a:off x="63627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31" name="node01.item-003.title"/>
              <p:cNvSpPr/>
              <p:nvPr/>
            </p:nvSpPr>
            <p:spPr>
              <a:xfrm>
                <a:off x="6734175" y="17523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Leaders</a:t>
                </a:r>
                <a:endParaRPr lang="en-US" sz="1600" spc="-16" kern="0" b="0" i="0" dirty="0">
                  <a:solidFill>
                    <a:srgbClr val="0047FF"/>
                  </a:solidFill>
                  <a:latin typeface="IBM Plex Sans SemiBold"/>
                  <a:ea typeface="IBM Plex Sans SemiBold"/>
                  <a:cs typeface="IBM Plex Sans SemiBold"/>
                </a:endParaRPr>
              </a:p>
            </p:txBody>
          </p:sp>
          <p:sp>
            <p:nvSpPr>
              <p:cNvPr id="32" name="node01.item-003.body.item-001.label"/>
              <p:cNvSpPr/>
              <p:nvPr/>
            </p:nvSpPr>
            <p:spPr>
              <a:xfrm>
                <a:off x="6362700" y="2171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MESSAGE</a:t>
                </a:r>
                <a:endParaRPr lang="en-US" sz="800" spc="48" kern="0" b="0" i="0" dirty="0">
                  <a:solidFill>
                    <a:srgbClr val="0047FF"/>
                  </a:solidFill>
                  <a:latin typeface="IBM Plex Mono Medium"/>
                  <a:ea typeface="IBM Plex Mono Medium"/>
                  <a:cs typeface="IBM Plex Mono Medium"/>
                </a:endParaRPr>
              </a:p>
            </p:txBody>
          </p:sp>
          <p:sp>
            <p:nvSpPr>
              <p:cNvPr id="33" name="node01.item-003.body.item-002.paragraph"/>
              <p:cNvSpPr/>
              <p:nvPr/>
            </p:nvSpPr>
            <p:spPr>
              <a:xfrm>
                <a:off x="6362700" y="2387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Progress, risks, decisions</a:t>
                </a:r>
                <a:endParaRPr lang="en-US" sz="1200" spc="0" kern="0" b="0" i="0" dirty="0">
                  <a:solidFill>
                    <a:srgbClr val="50658E"/>
                  </a:solidFill>
                  <a:latin typeface="IBM Plex Sans"/>
                  <a:ea typeface="IBM Plex Sans"/>
                  <a:cs typeface="IBM Plex Sans"/>
                </a:endParaRPr>
              </a:p>
            </p:txBody>
          </p:sp>
          <p:sp>
            <p:nvSpPr>
              <p:cNvPr id="34" name="node01.item-003.body.item-003.label"/>
              <p:cNvSpPr/>
              <p:nvPr/>
            </p:nvSpPr>
            <p:spPr>
              <a:xfrm>
                <a:off x="6362700" y="2679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CHANNEL</a:t>
                </a:r>
                <a:endParaRPr lang="en-US" sz="800" spc="48" kern="0" b="0" i="0" dirty="0">
                  <a:solidFill>
                    <a:srgbClr val="0047FF"/>
                  </a:solidFill>
                  <a:latin typeface="IBM Plex Mono Medium"/>
                  <a:ea typeface="IBM Plex Mono Medium"/>
                  <a:cs typeface="IBM Plex Mono Medium"/>
                </a:endParaRPr>
              </a:p>
            </p:txBody>
          </p:sp>
          <p:sp>
            <p:nvSpPr>
              <p:cNvPr id="35" name="node01.item-003.body.item-004.paragraph"/>
              <p:cNvSpPr/>
              <p:nvPr/>
            </p:nvSpPr>
            <p:spPr>
              <a:xfrm>
                <a:off x="6362700" y="2895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Steering briefing, dashboard</a:t>
                </a:r>
                <a:endParaRPr lang="en-US" sz="1200" spc="0" kern="0" b="0" i="0" dirty="0">
                  <a:solidFill>
                    <a:srgbClr val="50658E"/>
                  </a:solidFill>
                  <a:latin typeface="IBM Plex Sans"/>
                  <a:ea typeface="IBM Plex Sans"/>
                  <a:cs typeface="IBM Plex Sans"/>
                </a:endParaRPr>
              </a:p>
            </p:txBody>
          </p:sp>
          <p:sp>
            <p:nvSpPr>
              <p:cNvPr id="36" name="node01.item-003.body.item-005.label"/>
              <p:cNvSpPr/>
              <p:nvPr/>
            </p:nvSpPr>
            <p:spPr>
              <a:xfrm>
                <a:off x="6362700" y="3187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CADENCE</a:t>
                </a:r>
                <a:endParaRPr lang="en-US" sz="800" spc="48" kern="0" b="0" i="0" dirty="0">
                  <a:solidFill>
                    <a:srgbClr val="0047FF"/>
                  </a:solidFill>
                  <a:latin typeface="IBM Plex Mono Medium"/>
                  <a:ea typeface="IBM Plex Mono Medium"/>
                  <a:cs typeface="IBM Plex Mono Medium"/>
                </a:endParaRPr>
              </a:p>
            </p:txBody>
          </p:sp>
          <p:sp>
            <p:nvSpPr>
              <p:cNvPr id="37" name="node01.item-003.body.item-006.paragraph"/>
              <p:cNvSpPr/>
              <p:nvPr/>
            </p:nvSpPr>
            <p:spPr>
              <a:xfrm>
                <a:off x="6362700" y="3403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Monthly</a:t>
                </a:r>
                <a:endParaRPr lang="en-US" sz="1200" spc="0" kern="0" b="0" i="0" dirty="0">
                  <a:solidFill>
                    <a:srgbClr val="50658E"/>
                  </a:solidFill>
                  <a:latin typeface="IBM Plex Sans"/>
                  <a:ea typeface="IBM Plex Sans"/>
                  <a:cs typeface="IBM Plex Sans"/>
                </a:endParaRPr>
              </a:p>
            </p:txBody>
          </p:sp>
          <p:sp>
            <p:nvSpPr>
              <p:cNvPr id="38" name="node01.item-003.body.item-007.label"/>
              <p:cNvSpPr/>
              <p:nvPr/>
            </p:nvSpPr>
            <p:spPr>
              <a:xfrm>
                <a:off x="6362700" y="3695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OWNER</a:t>
                </a:r>
                <a:endParaRPr lang="en-US" sz="800" spc="48" kern="0" b="0" i="0" dirty="0">
                  <a:solidFill>
                    <a:srgbClr val="0047FF"/>
                  </a:solidFill>
                  <a:latin typeface="IBM Plex Mono Medium"/>
                  <a:ea typeface="IBM Plex Mono Medium"/>
                  <a:cs typeface="IBM Plex Mono Medium"/>
                </a:endParaRPr>
              </a:p>
            </p:txBody>
          </p:sp>
          <p:sp>
            <p:nvSpPr>
              <p:cNvPr id="39" name="node01.item-003.body.item-008.paragraph"/>
              <p:cNvSpPr/>
              <p:nvPr/>
            </p:nvSpPr>
            <p:spPr>
              <a:xfrm>
                <a:off x="6362700" y="3911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Program sponsor</a:t>
                </a:r>
                <a:endParaRPr lang="en-US" sz="1200" spc="0" kern="0" b="0" i="0" dirty="0">
                  <a:solidFill>
                    <a:srgbClr val="50658E"/>
                  </a:solidFill>
                  <a:latin typeface="IBM Plex Sans"/>
                  <a:ea typeface="IBM Plex Sans"/>
                  <a:cs typeface="IBM Plex Sans"/>
                </a:endParaRPr>
              </a:p>
            </p:txBody>
          </p:sp>
        </p:grpSp>
        <p:grpSp>
          <p:nvGrpSpPr>
            <p:cNvPr id="56" name="node01.item-004"/>
            <p:cNvGrpSpPr/>
            <p:nvPr/>
          </p:nvGrpSpPr>
          <p:grpSpPr>
            <a:xfrm>
              <a:off x="8953500" y="1600200"/>
              <a:ext cx="2514600" cy="3200400"/>
              <a:chOff x="8953500" y="1600200"/>
              <a:chExt cx="2514600" cy="3200400"/>
            </a:xfrm>
          </p:grpSpPr>
          <p:sp>
            <p:nvSpPr>
              <p:cNvPr id="40" name="node01.item-004.container"/>
              <p:cNvSpPr/>
              <p:nvPr/>
            </p:nvSpPr>
            <p:spPr>
              <a:xfrm>
                <a:off x="8953500" y="1600200"/>
                <a:ext cx="2514600" cy="3200400"/>
              </a:xfrm>
              <a:prstGeom prst="rect">
                <a:avLst/>
              </a:prstGeom>
              <a:solidFill>
                <a:srgbClr val="E8EEF8"/>
              </a:solidFill>
              <a:ln>
                <a:noFill/>
              </a:ln>
            </p:spPr>
          </p:sp>
          <p:sp>
            <p:nvSpPr>
              <p:cNvPr id="41" name="node01.item-004.number"/>
              <p:cNvSpPr/>
              <p:nvPr/>
            </p:nvSpPr>
            <p:spPr>
              <a:xfrm>
                <a:off x="91059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04</a:t>
                </a:r>
                <a:endParaRPr lang="en-US" sz="1600" spc="0" kern="0" b="0" i="0" dirty="0">
                  <a:solidFill>
                    <a:srgbClr val="0047FF"/>
                  </a:solidFill>
                  <a:latin typeface="IBM Plex Mono SemiBold"/>
                  <a:ea typeface="IBM Plex Mono SemiBold"/>
                  <a:cs typeface="IBM Plex Mono SemiBold"/>
                </a:endParaRPr>
              </a:p>
            </p:txBody>
          </p:sp>
          <p:sp>
            <p:nvSpPr>
              <p:cNvPr id="42" name="node01.item-004.title"/>
              <p:cNvSpPr/>
              <p:nvPr/>
            </p:nvSpPr>
            <p:spPr>
              <a:xfrm>
                <a:off x="9477375" y="17523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Patients</a:t>
                </a:r>
                <a:endParaRPr lang="en-US" sz="1600" spc="-16" kern="0" b="0" i="0" dirty="0">
                  <a:solidFill>
                    <a:srgbClr val="0047FF"/>
                  </a:solidFill>
                  <a:latin typeface="IBM Plex Sans SemiBold"/>
                  <a:ea typeface="IBM Plex Sans SemiBold"/>
                  <a:cs typeface="IBM Plex Sans SemiBold"/>
                </a:endParaRPr>
              </a:p>
            </p:txBody>
          </p:sp>
          <p:sp>
            <p:nvSpPr>
              <p:cNvPr id="43" name="node01.item-004.body.item-001.label"/>
              <p:cNvSpPr/>
              <p:nvPr/>
            </p:nvSpPr>
            <p:spPr>
              <a:xfrm>
                <a:off x="9105900" y="2171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MESSAGE</a:t>
                </a:r>
                <a:endParaRPr lang="en-US" sz="800" spc="48" kern="0" b="0" i="0" dirty="0">
                  <a:solidFill>
                    <a:srgbClr val="0047FF"/>
                  </a:solidFill>
                  <a:latin typeface="IBM Plex Mono Medium"/>
                  <a:ea typeface="IBM Plex Mono Medium"/>
                  <a:cs typeface="IBM Plex Mono Medium"/>
                </a:endParaRPr>
              </a:p>
            </p:txBody>
          </p:sp>
          <p:sp>
            <p:nvSpPr>
              <p:cNvPr id="44" name="node01.item-004.body.item-002.paragraph"/>
              <p:cNvSpPr/>
              <p:nvPr/>
            </p:nvSpPr>
            <p:spPr>
              <a:xfrm>
                <a:off x="9105900" y="2387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How to book, what to expect</a:t>
                </a:r>
                <a:endParaRPr lang="en-US" sz="1200" spc="0" kern="0" b="0" i="0" dirty="0">
                  <a:solidFill>
                    <a:srgbClr val="50658E"/>
                  </a:solidFill>
                  <a:latin typeface="IBM Plex Sans"/>
                  <a:ea typeface="IBM Plex Sans"/>
                  <a:cs typeface="IBM Plex Sans"/>
                </a:endParaRPr>
              </a:p>
            </p:txBody>
          </p:sp>
          <p:sp>
            <p:nvSpPr>
              <p:cNvPr id="45" name="node01.item-004.body.item-003.label"/>
              <p:cNvSpPr/>
              <p:nvPr/>
            </p:nvSpPr>
            <p:spPr>
              <a:xfrm>
                <a:off x="9105900" y="2679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CHANNEL</a:t>
                </a:r>
                <a:endParaRPr lang="en-US" sz="800" spc="48" kern="0" b="0" i="0" dirty="0">
                  <a:solidFill>
                    <a:srgbClr val="0047FF"/>
                  </a:solidFill>
                  <a:latin typeface="IBM Plex Mono Medium"/>
                  <a:ea typeface="IBM Plex Mono Medium"/>
                  <a:cs typeface="IBM Plex Mono Medium"/>
                </a:endParaRPr>
              </a:p>
            </p:txBody>
          </p:sp>
          <p:sp>
            <p:nvSpPr>
              <p:cNvPr id="46" name="node01.item-004.body.item-004.paragraph"/>
              <p:cNvSpPr/>
              <p:nvPr/>
            </p:nvSpPr>
            <p:spPr>
              <a:xfrm>
                <a:off x="9105900" y="2895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Email, text, lobby signs</a:t>
                </a:r>
                <a:endParaRPr lang="en-US" sz="1200" spc="0" kern="0" b="0" i="0" dirty="0">
                  <a:solidFill>
                    <a:srgbClr val="50658E"/>
                  </a:solidFill>
                  <a:latin typeface="IBM Plex Sans"/>
                  <a:ea typeface="IBM Plex Sans"/>
                  <a:cs typeface="IBM Plex Sans"/>
                </a:endParaRPr>
              </a:p>
            </p:txBody>
          </p:sp>
          <p:sp>
            <p:nvSpPr>
              <p:cNvPr id="47" name="node01.item-004.body.item-005.label"/>
              <p:cNvSpPr/>
              <p:nvPr/>
            </p:nvSpPr>
            <p:spPr>
              <a:xfrm>
                <a:off x="9105900" y="3187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CADENCE</a:t>
                </a:r>
                <a:endParaRPr lang="en-US" sz="800" spc="48" kern="0" b="0" i="0" dirty="0">
                  <a:solidFill>
                    <a:srgbClr val="0047FF"/>
                  </a:solidFill>
                  <a:latin typeface="IBM Plex Mono Medium"/>
                  <a:ea typeface="IBM Plex Mono Medium"/>
                  <a:cs typeface="IBM Plex Mono Medium"/>
                </a:endParaRPr>
              </a:p>
            </p:txBody>
          </p:sp>
          <p:sp>
            <p:nvSpPr>
              <p:cNvPr id="48" name="node01.item-004.body.item-006.paragraph"/>
              <p:cNvSpPr/>
              <p:nvPr/>
            </p:nvSpPr>
            <p:spPr>
              <a:xfrm>
                <a:off x="9105900" y="3403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From T-4 weeks</a:t>
                </a:r>
                <a:endParaRPr lang="en-US" sz="1200" spc="0" kern="0" b="0" i="0" dirty="0">
                  <a:solidFill>
                    <a:srgbClr val="50658E"/>
                  </a:solidFill>
                  <a:latin typeface="IBM Plex Sans"/>
                  <a:ea typeface="IBM Plex Sans"/>
                  <a:cs typeface="IBM Plex Sans"/>
                </a:endParaRPr>
              </a:p>
            </p:txBody>
          </p:sp>
          <p:sp>
            <p:nvSpPr>
              <p:cNvPr id="49" name="node01.item-004.body.item-007.label"/>
              <p:cNvSpPr/>
              <p:nvPr/>
            </p:nvSpPr>
            <p:spPr>
              <a:xfrm>
                <a:off x="9105900" y="3695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OWNER</a:t>
                </a:r>
                <a:endParaRPr lang="en-US" sz="800" spc="48" kern="0" b="0" i="0" dirty="0">
                  <a:solidFill>
                    <a:srgbClr val="0047FF"/>
                  </a:solidFill>
                  <a:latin typeface="IBM Plex Mono Medium"/>
                  <a:ea typeface="IBM Plex Mono Medium"/>
                  <a:cs typeface="IBM Plex Mono Medium"/>
                </a:endParaRPr>
              </a:p>
            </p:txBody>
          </p:sp>
          <p:sp>
            <p:nvSpPr>
              <p:cNvPr id="50" name="node01.item-004.body.item-008.paragraph"/>
              <p:cNvSpPr/>
              <p:nvPr/>
            </p:nvSpPr>
            <p:spPr>
              <a:xfrm>
                <a:off x="9105900" y="3911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Patient experience</a:t>
                </a:r>
                <a:endParaRPr lang="en-US" sz="1200" spc="0" kern="0" b="0" i="0" dirty="0">
                  <a:solidFill>
                    <a:srgbClr val="50658E"/>
                  </a:solidFill>
                  <a:latin typeface="IBM Plex Sans"/>
                  <a:ea typeface="IBM Plex Sans"/>
                  <a:cs typeface="IBM Plex Sans"/>
                </a:endParaRPr>
              </a:p>
            </p:txBody>
          </p:sp>
        </p:grpSp>
      </p:grpSp>
      <p:grpSp>
        <p:nvGrpSpPr>
          <p:cNvPr id="58" name="node02"/>
          <p:cNvGrpSpPr/>
          <p:nvPr/>
        </p:nvGrpSpPr>
        <p:grpSpPr>
          <a:xfrm>
            <a:off x="723900" y="5029200"/>
            <a:ext cx="10744200" cy="685800"/>
            <a:chOff x="723900" y="5029200"/>
            <a:chExt cx="10744200" cy="685800"/>
          </a:xfrm>
        </p:grpSpPr>
        <p:sp>
          <p:nvSpPr>
            <p:cNvPr id="51" name="node02.container"/>
            <p:cNvSpPr/>
            <p:nvPr/>
          </p:nvSpPr>
          <p:spPr>
            <a:xfrm>
              <a:off x="730250" y="5035550"/>
              <a:ext cx="10731500" cy="673100"/>
            </a:xfrm>
            <a:prstGeom prst="rect">
              <a:avLst/>
            </a:prstGeom>
            <a:solidFill>
              <a:srgbClr val="FFFFFF"/>
            </a:solidFill>
            <a:ln w="12700">
              <a:solidFill>
                <a:srgbClr val="CED7E6"/>
              </a:solidFill>
              <a:prstDash val="solid"/>
            </a:ln>
          </p:spPr>
        </p:sp>
        <p:sp>
          <p:nvSpPr>
            <p:cNvPr id="52" name="node02.title"/>
            <p:cNvSpPr/>
            <p:nvPr/>
          </p:nvSpPr>
          <p:spPr>
            <a:xfrm>
              <a:off x="876300" y="5181600"/>
              <a:ext cx="10439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Rule: staff hear from their own manager first.</a:t>
              </a:r>
              <a:endParaRPr lang="en-US" sz="1600" spc="-16"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ource-141">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KEY MESSAGES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messages every leader repeats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communications plan,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199</a:t>
            </a:fld>
            <a:endParaRPr lang="en-US" sz="700" spc="0" kern="0" b="0" i="0" dirty="0">
              <a:solidFill>
                <a:srgbClr val="FFFFFF"/>
              </a:solidFill>
              <a:latin typeface="IBM Plex Mono SemiBold"/>
              <a:ea typeface="IBM Plex Mono SemiBold"/>
              <a:cs typeface="IBM Plex Mono SemiBold"/>
            </a:endParaRPr>
          </a:p>
        </p:txBody>
      </p:sp>
      <p:grpSp>
        <p:nvGrpSpPr>
          <p:cNvPr id="35" name="node01"/>
          <p:cNvGrpSpPr/>
          <p:nvPr/>
        </p:nvGrpSpPr>
        <p:grpSpPr>
          <a:xfrm>
            <a:off x="723900" y="1600200"/>
            <a:ext cx="7086600" cy="3200400"/>
            <a:chOff x="723900" y="1600200"/>
            <a:chExt cx="7086600" cy="3200400"/>
          </a:xfrm>
        </p:grpSpPr>
        <p:grpSp>
          <p:nvGrpSpPr>
            <p:cNvPr id="32" name="node01.item-001"/>
            <p:cNvGrpSpPr/>
            <p:nvPr/>
          </p:nvGrpSpPr>
          <p:grpSpPr>
            <a:xfrm>
              <a:off x="723900" y="1600200"/>
              <a:ext cx="2209800" cy="3200400"/>
              <a:chOff x="723900" y="1600200"/>
              <a:chExt cx="2209800" cy="3200400"/>
            </a:xfrm>
          </p:grpSpPr>
          <p:sp>
            <p:nvSpPr>
              <p:cNvPr id="7" name="node01.item-001.container"/>
              <p:cNvSpPr/>
              <p:nvPr/>
            </p:nvSpPr>
            <p:spPr>
              <a:xfrm>
                <a:off x="730250" y="1606550"/>
                <a:ext cx="2197100" cy="3187700"/>
              </a:xfrm>
              <a:prstGeom prst="rect">
                <a:avLst/>
              </a:prstGeom>
              <a:solidFill>
                <a:srgbClr val="FFFFFF"/>
              </a:solidFill>
              <a:ln w="12700">
                <a:solidFill>
                  <a:srgbClr val="CED7E6"/>
                </a:solidFill>
                <a:prstDash val="solid"/>
              </a:ln>
            </p:spPr>
          </p:sp>
          <p:sp>
            <p:nvSpPr>
              <p:cNvPr id="8" name="node01.item-001.band"/>
              <p:cNvSpPr/>
              <p:nvPr/>
            </p:nvSpPr>
            <p:spPr>
              <a:xfrm>
                <a:off x="723900" y="1600200"/>
                <a:ext cx="2209800" cy="571500"/>
              </a:xfrm>
              <a:prstGeom prst="rect">
                <a:avLst/>
              </a:prstGeom>
              <a:solidFill>
                <a:srgbClr val="070154"/>
              </a:solidFill>
              <a:ln>
                <a:noFill/>
              </a:ln>
            </p:spPr>
          </p:sp>
          <p:sp>
            <p:nvSpPr>
              <p:cNvPr id="9" name="node01.item-001.number"/>
              <p:cNvSpPr/>
              <p:nvPr/>
            </p:nvSpPr>
            <p:spPr>
              <a:xfrm>
                <a:off x="8763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01</a:t>
                </a:r>
                <a:endParaRPr lang="en-US" sz="1600" spc="0" kern="0" b="0" i="0" dirty="0">
                  <a:solidFill>
                    <a:srgbClr val="F900D3"/>
                  </a:solidFill>
                  <a:latin typeface="IBM Plex Mono SemiBold"/>
                  <a:ea typeface="IBM Plex Mono SemiBold"/>
                  <a:cs typeface="IBM Plex Mono SemiBold"/>
                </a:endParaRPr>
              </a:p>
            </p:txBody>
          </p:sp>
          <p:sp>
            <p:nvSpPr>
              <p:cNvPr id="10" name="node01.item-001.title"/>
              <p:cNvSpPr/>
              <p:nvPr/>
            </p:nvSpPr>
            <p:spPr>
              <a:xfrm>
                <a:off x="1247775" y="1752346"/>
                <a:ext cx="15335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Why now</a:t>
                </a:r>
                <a:endParaRPr lang="en-US" sz="1600" spc="-16" kern="0" b="0" i="0" dirty="0">
                  <a:solidFill>
                    <a:srgbClr val="FFFFFF"/>
                  </a:solidFill>
                  <a:latin typeface="IBM Plex Sans SemiBold"/>
                  <a:ea typeface="IBM Plex Sans SemiBold"/>
                  <a:cs typeface="IBM Plex Sans SemiBold"/>
                </a:endParaRPr>
              </a:p>
            </p:txBody>
          </p:sp>
          <p:sp>
            <p:nvSpPr>
              <p:cNvPr id="11" name="node01.item-001.body.item-001.paragraph"/>
              <p:cNvSpPr/>
              <p:nvPr/>
            </p:nvSpPr>
            <p:spPr>
              <a:xfrm>
                <a:off x="876300" y="2171700"/>
                <a:ext cx="1905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Patients wait 11 days for a new appointment and hold times average eight minutes.</a:t>
                </a:r>
                <a:endParaRPr lang="en-US" sz="1200" spc="0" kern="0" b="0" i="0" dirty="0">
                  <a:solidFill>
                    <a:srgbClr val="50658E"/>
                  </a:solidFill>
                  <a:latin typeface="IBM Plex Sans"/>
                  <a:ea typeface="IBM Plex Sans"/>
                  <a:cs typeface="IBM Plex Sans"/>
                </a:endParaRPr>
              </a:p>
            </p:txBody>
          </p:sp>
          <p:sp>
            <p:nvSpPr>
              <p:cNvPr id="12" name="node01.item-001.body.item-002.paragraph"/>
              <p:cNvSpPr/>
              <p:nvPr/>
            </p:nvSpPr>
            <p:spPr>
              <a:xfrm>
                <a:off x="876300" y="3111500"/>
                <a:ext cx="1905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Three schedule systems cannot share open slots.</a:t>
                </a:r>
                <a:endParaRPr lang="en-US" sz="1200" spc="0" kern="0" b="0" i="0" dirty="0">
                  <a:solidFill>
                    <a:srgbClr val="50658E"/>
                  </a:solidFill>
                  <a:latin typeface="IBM Plex Sans"/>
                  <a:ea typeface="IBM Plex Sans"/>
                  <a:cs typeface="IBM Plex Sans"/>
                </a:endParaRPr>
              </a:p>
            </p:txBody>
          </p:sp>
          <p:sp>
            <p:nvSpPr>
              <p:cNvPr id="13" name="node01.item-001.body.item-003.paragraph"/>
              <p:cNvSpPr/>
              <p:nvPr/>
            </p:nvSpPr>
            <p:spPr>
              <a:xfrm>
                <a:off x="876300" y="3619500"/>
                <a:ext cx="1905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Staff lose time moving between screens.</a:t>
                </a:r>
                <a:endParaRPr lang="en-US" sz="1200" spc="0" kern="0" b="0" i="0" dirty="0">
                  <a:solidFill>
                    <a:srgbClr val="50658E"/>
                  </a:solidFill>
                  <a:latin typeface="IBM Plex Sans"/>
                  <a:ea typeface="IBM Plex Sans"/>
                  <a:cs typeface="IBM Plex Sans"/>
                </a:endParaRPr>
              </a:p>
            </p:txBody>
          </p:sp>
        </p:grpSp>
        <p:grpSp>
          <p:nvGrpSpPr>
            <p:cNvPr id="33" name="node01.item-002"/>
            <p:cNvGrpSpPr/>
            <p:nvPr/>
          </p:nvGrpSpPr>
          <p:grpSpPr>
            <a:xfrm>
              <a:off x="3162300" y="1600200"/>
              <a:ext cx="2209800" cy="3200400"/>
              <a:chOff x="3162300" y="1600200"/>
              <a:chExt cx="2209800" cy="3200400"/>
            </a:xfrm>
          </p:grpSpPr>
          <p:sp>
            <p:nvSpPr>
              <p:cNvPr id="14" name="node01.item-002.container"/>
              <p:cNvSpPr/>
              <p:nvPr/>
            </p:nvSpPr>
            <p:spPr>
              <a:xfrm>
                <a:off x="3168650" y="1606550"/>
                <a:ext cx="2197100" cy="3187700"/>
              </a:xfrm>
              <a:prstGeom prst="rect">
                <a:avLst/>
              </a:prstGeom>
              <a:solidFill>
                <a:srgbClr val="FFFFFF"/>
              </a:solidFill>
              <a:ln w="12700">
                <a:solidFill>
                  <a:srgbClr val="CED7E6"/>
                </a:solidFill>
                <a:prstDash val="solid"/>
              </a:ln>
            </p:spPr>
          </p:sp>
          <p:sp>
            <p:nvSpPr>
              <p:cNvPr id="15" name="node01.item-002.band"/>
              <p:cNvSpPr/>
              <p:nvPr/>
            </p:nvSpPr>
            <p:spPr>
              <a:xfrm>
                <a:off x="3162300" y="1600200"/>
                <a:ext cx="2209800" cy="571500"/>
              </a:xfrm>
              <a:prstGeom prst="rect">
                <a:avLst/>
              </a:prstGeom>
              <a:solidFill>
                <a:srgbClr val="070154"/>
              </a:solidFill>
              <a:ln>
                <a:noFill/>
              </a:ln>
            </p:spPr>
          </p:sp>
          <p:sp>
            <p:nvSpPr>
              <p:cNvPr id="16" name="node01.item-002.number"/>
              <p:cNvSpPr/>
              <p:nvPr/>
            </p:nvSpPr>
            <p:spPr>
              <a:xfrm>
                <a:off x="33147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02</a:t>
                </a:r>
                <a:endParaRPr lang="en-US" sz="1600" spc="0" kern="0" b="0" i="0" dirty="0">
                  <a:solidFill>
                    <a:srgbClr val="F900D3"/>
                  </a:solidFill>
                  <a:latin typeface="IBM Plex Mono SemiBold"/>
                  <a:ea typeface="IBM Plex Mono SemiBold"/>
                  <a:cs typeface="IBM Plex Mono SemiBold"/>
                </a:endParaRPr>
              </a:p>
            </p:txBody>
          </p:sp>
          <p:sp>
            <p:nvSpPr>
              <p:cNvPr id="17" name="node01.item-002.title"/>
              <p:cNvSpPr/>
              <p:nvPr/>
            </p:nvSpPr>
            <p:spPr>
              <a:xfrm>
                <a:off x="3686175" y="1752346"/>
                <a:ext cx="15335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What changes</a:t>
                </a:r>
                <a:endParaRPr lang="en-US" sz="1600" spc="-16" kern="0" b="0" i="0" dirty="0">
                  <a:solidFill>
                    <a:srgbClr val="FFFFFF"/>
                  </a:solidFill>
                  <a:latin typeface="IBM Plex Sans SemiBold"/>
                  <a:ea typeface="IBM Plex Sans SemiBold"/>
                  <a:cs typeface="IBM Plex Sans SemiBold"/>
                </a:endParaRPr>
              </a:p>
            </p:txBody>
          </p:sp>
          <p:sp>
            <p:nvSpPr>
              <p:cNvPr id="18" name="node01.item-002.body.item-001.paragraph"/>
              <p:cNvSpPr/>
              <p:nvPr/>
            </p:nvSpPr>
            <p:spPr>
              <a:xfrm>
                <a:off x="3314700" y="2171700"/>
                <a:ext cx="1905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platform, one booking workflow, one set of rules for all nine sites.</a:t>
                </a:r>
                <a:endParaRPr lang="en-US" sz="1200" spc="0" kern="0" b="0" i="0" dirty="0">
                  <a:solidFill>
                    <a:srgbClr val="50658E"/>
                  </a:solidFill>
                  <a:latin typeface="IBM Plex Sans"/>
                  <a:ea typeface="IBM Plex Sans"/>
                  <a:cs typeface="IBM Plex Sans"/>
                </a:endParaRPr>
              </a:p>
            </p:txBody>
          </p:sp>
          <p:sp>
            <p:nvSpPr>
              <p:cNvPr id="19" name="node01.item-002.body.item-002.paragraph"/>
              <p:cNvSpPr/>
              <p:nvPr/>
            </p:nvSpPr>
            <p:spPr>
              <a:xfrm>
                <a:off x="3314700" y="2895600"/>
                <a:ext cx="1905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Your manager shows you the steps before go-live.</a:t>
                </a:r>
                <a:endParaRPr lang="en-US" sz="1200" spc="0" kern="0" b="0" i="0" dirty="0">
                  <a:solidFill>
                    <a:srgbClr val="50658E"/>
                  </a:solidFill>
                  <a:latin typeface="IBM Plex Sans"/>
                  <a:ea typeface="IBM Plex Sans"/>
                  <a:cs typeface="IBM Plex Sans"/>
                </a:endParaRPr>
              </a:p>
            </p:txBody>
          </p:sp>
          <p:sp>
            <p:nvSpPr>
              <p:cNvPr id="20" name="node01.item-002.body.item-003.paragraph"/>
              <p:cNvSpPr/>
              <p:nvPr/>
            </p:nvSpPr>
            <p:spPr>
              <a:xfrm>
                <a:off x="3314700" y="3403600"/>
                <a:ext cx="1905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Patient care itself does not change.</a:t>
                </a:r>
                <a:endParaRPr lang="en-US" sz="1200" spc="0" kern="0" b="0" i="0" dirty="0">
                  <a:solidFill>
                    <a:srgbClr val="50658E"/>
                  </a:solidFill>
                  <a:latin typeface="IBM Plex Sans"/>
                  <a:ea typeface="IBM Plex Sans"/>
                  <a:cs typeface="IBM Plex Sans"/>
                </a:endParaRPr>
              </a:p>
            </p:txBody>
          </p:sp>
        </p:grpSp>
        <p:grpSp>
          <p:nvGrpSpPr>
            <p:cNvPr id="34" name="node01.item-003"/>
            <p:cNvGrpSpPr/>
            <p:nvPr/>
          </p:nvGrpSpPr>
          <p:grpSpPr>
            <a:xfrm>
              <a:off x="5600700" y="1600200"/>
              <a:ext cx="2209800" cy="3200400"/>
              <a:chOff x="5600700" y="1600200"/>
              <a:chExt cx="2209800" cy="3200400"/>
            </a:xfrm>
          </p:grpSpPr>
          <p:sp>
            <p:nvSpPr>
              <p:cNvPr id="21" name="node01.item-003.container"/>
              <p:cNvSpPr/>
              <p:nvPr/>
            </p:nvSpPr>
            <p:spPr>
              <a:xfrm>
                <a:off x="5607050" y="1606550"/>
                <a:ext cx="2197100" cy="3187700"/>
              </a:xfrm>
              <a:prstGeom prst="rect">
                <a:avLst/>
              </a:prstGeom>
              <a:solidFill>
                <a:srgbClr val="FFFFFF"/>
              </a:solidFill>
              <a:ln w="12700">
                <a:solidFill>
                  <a:srgbClr val="CED7E6"/>
                </a:solidFill>
                <a:prstDash val="solid"/>
              </a:ln>
            </p:spPr>
          </p:sp>
          <p:sp>
            <p:nvSpPr>
              <p:cNvPr id="22" name="node01.item-003.band"/>
              <p:cNvSpPr/>
              <p:nvPr/>
            </p:nvSpPr>
            <p:spPr>
              <a:xfrm>
                <a:off x="5600700" y="1600200"/>
                <a:ext cx="2209800" cy="571500"/>
              </a:xfrm>
              <a:prstGeom prst="rect">
                <a:avLst/>
              </a:prstGeom>
              <a:solidFill>
                <a:srgbClr val="070154"/>
              </a:solidFill>
              <a:ln>
                <a:noFill/>
              </a:ln>
            </p:spPr>
          </p:sp>
          <p:sp>
            <p:nvSpPr>
              <p:cNvPr id="23" name="node01.item-003.number"/>
              <p:cNvSpPr/>
              <p:nvPr/>
            </p:nvSpPr>
            <p:spPr>
              <a:xfrm>
                <a:off x="57531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03</a:t>
                </a:r>
                <a:endParaRPr lang="en-US" sz="1600" spc="0" kern="0" b="0" i="0" dirty="0">
                  <a:solidFill>
                    <a:srgbClr val="F900D3"/>
                  </a:solidFill>
                  <a:latin typeface="IBM Plex Mono SemiBold"/>
                  <a:ea typeface="IBM Plex Mono SemiBold"/>
                  <a:cs typeface="IBM Plex Mono SemiBold"/>
                </a:endParaRPr>
              </a:p>
            </p:txBody>
          </p:sp>
          <p:sp>
            <p:nvSpPr>
              <p:cNvPr id="24" name="node01.item-003.title"/>
              <p:cNvSpPr/>
              <p:nvPr/>
            </p:nvSpPr>
            <p:spPr>
              <a:xfrm>
                <a:off x="6124575" y="1752346"/>
                <a:ext cx="15335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How we help</a:t>
                </a:r>
                <a:endParaRPr lang="en-US" sz="1600" spc="-16" kern="0" b="0" i="0" dirty="0">
                  <a:solidFill>
                    <a:srgbClr val="FFFFFF"/>
                  </a:solidFill>
                  <a:latin typeface="IBM Plex Sans SemiBold"/>
                  <a:ea typeface="IBM Plex Sans SemiBold"/>
                  <a:cs typeface="IBM Plex Sans SemiBold"/>
                </a:endParaRPr>
              </a:p>
            </p:txBody>
          </p:sp>
          <p:sp>
            <p:nvSpPr>
              <p:cNvPr id="25" name="node01.item-003.body.item-001.paragraph"/>
              <p:cNvSpPr/>
              <p:nvPr/>
            </p:nvSpPr>
            <p:spPr>
              <a:xfrm>
                <a:off x="5753100" y="2171700"/>
                <a:ext cx="1905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Role-based training, a champion on every floor and extra help for four weeks after launch.</a:t>
                </a:r>
                <a:endParaRPr lang="en-US" sz="1200" spc="0" kern="0" b="0" i="0" dirty="0">
                  <a:solidFill>
                    <a:srgbClr val="50658E"/>
                  </a:solidFill>
                  <a:latin typeface="IBM Plex Sans"/>
                  <a:ea typeface="IBM Plex Sans"/>
                  <a:cs typeface="IBM Plex Sans"/>
                </a:endParaRPr>
              </a:p>
            </p:txBody>
          </p:sp>
          <p:sp>
            <p:nvSpPr>
              <p:cNvPr id="26" name="node01.item-003.body.item-002.paragraph"/>
              <p:cNvSpPr/>
              <p:nvPr/>
            </p:nvSpPr>
            <p:spPr>
              <a:xfrm>
                <a:off x="5753100" y="3111500"/>
                <a:ext cx="19050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Questions go to your floor-walker first.</a:t>
                </a:r>
                <a:endParaRPr lang="en-US" sz="1200" spc="0" kern="0" b="0" i="0" dirty="0">
                  <a:solidFill>
                    <a:srgbClr val="50658E"/>
                  </a:solidFill>
                  <a:latin typeface="IBM Plex Sans"/>
                  <a:ea typeface="IBM Plex Sans"/>
                  <a:cs typeface="IBM Plex Sans"/>
                </a:endParaRPr>
              </a:p>
            </p:txBody>
          </p:sp>
        </p:grpSp>
      </p:grpSp>
      <p:grpSp>
        <p:nvGrpSpPr>
          <p:cNvPr id="36" name="node02"/>
          <p:cNvGrpSpPr/>
          <p:nvPr/>
        </p:nvGrpSpPr>
        <p:grpSpPr>
          <a:xfrm>
            <a:off x="723900" y="5029200"/>
            <a:ext cx="7086600" cy="685800"/>
            <a:chOff x="723900" y="5029200"/>
            <a:chExt cx="7086600" cy="685800"/>
          </a:xfrm>
        </p:grpSpPr>
        <p:sp>
          <p:nvSpPr>
            <p:cNvPr id="27" name="node02.container"/>
            <p:cNvSpPr/>
            <p:nvPr/>
          </p:nvSpPr>
          <p:spPr>
            <a:xfrm>
              <a:off x="730250" y="5035550"/>
              <a:ext cx="7073900" cy="673100"/>
            </a:xfrm>
            <a:prstGeom prst="rect">
              <a:avLst/>
            </a:prstGeom>
            <a:solidFill>
              <a:srgbClr val="FFFFFF"/>
            </a:solidFill>
            <a:ln w="12700">
              <a:solidFill>
                <a:srgbClr val="CED7E6"/>
              </a:solidFill>
              <a:prstDash val="solid"/>
            </a:ln>
          </p:spPr>
        </p:sp>
        <p:sp>
          <p:nvSpPr>
            <p:cNvPr id="28" name="node02.title"/>
            <p:cNvSpPr/>
            <p:nvPr/>
          </p:nvSpPr>
          <p:spPr>
            <a:xfrm>
              <a:off x="876300" y="5181600"/>
              <a:ext cx="678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Proof: 11-day wait today, 3-day goal.</a:t>
              </a:r>
              <a:endParaRPr lang="en-US" sz="1600" spc="-16" kern="0" b="0" i="0" dirty="0">
                <a:solidFill>
                  <a:srgbClr val="070154"/>
                </a:solidFill>
                <a:latin typeface="IBM Plex Sans SemiBold"/>
                <a:ea typeface="IBM Plex Sans SemiBold"/>
                <a:cs typeface="IBM Plex Sans SemiBold"/>
              </a:endParaRPr>
            </a:p>
          </p:txBody>
        </p:sp>
      </p:grpSp>
      <p:grpSp>
        <p:nvGrpSpPr>
          <p:cNvPr id="37" name="node03"/>
          <p:cNvGrpSpPr/>
          <p:nvPr/>
        </p:nvGrpSpPr>
        <p:grpSpPr>
          <a:xfrm>
            <a:off x="8953500" y="1600200"/>
            <a:ext cx="2514600" cy="139700"/>
            <a:chOff x="8953500" y="1600200"/>
            <a:chExt cx="2514600" cy="139700"/>
          </a:xfrm>
        </p:grpSpPr>
        <p:sp>
          <p:nvSpPr>
            <p:cNvPr id="29" name="node03.text"/>
            <p:cNvSpPr/>
            <p:nvPr/>
          </p:nvSpPr>
          <p:spPr>
            <a:xfrm>
              <a:off x="89535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THE STORY IN ONE LINE</a:t>
              </a:r>
              <a:endParaRPr lang="en-US" sz="800" spc="48" kern="0" b="0" i="0" dirty="0">
                <a:solidFill>
                  <a:srgbClr val="CED7E6"/>
                </a:solidFill>
                <a:latin typeface="IBM Plex Mono Medium"/>
                <a:ea typeface="IBM Plex Mono Medium"/>
                <a:cs typeface="IBM Plex Mono Medium"/>
              </a:endParaRPr>
            </a:p>
          </p:txBody>
        </p:sp>
      </p:grpSp>
      <p:grpSp>
        <p:nvGrpSpPr>
          <p:cNvPr id="38" name="node04"/>
          <p:cNvGrpSpPr/>
          <p:nvPr/>
        </p:nvGrpSpPr>
        <p:grpSpPr>
          <a:xfrm>
            <a:off x="8953500" y="2057400"/>
            <a:ext cx="2514600" cy="533400"/>
            <a:chOff x="8953500" y="2057400"/>
            <a:chExt cx="2514600" cy="533400"/>
          </a:xfrm>
        </p:grpSpPr>
        <p:sp>
          <p:nvSpPr>
            <p:cNvPr id="30" name="node04.text"/>
            <p:cNvSpPr/>
            <p:nvPr/>
          </p:nvSpPr>
          <p:spPr>
            <a:xfrm>
              <a:off x="8953500" y="2057400"/>
              <a:ext cx="2514600" cy="5334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One schedule, easier access for every patient.</a:t>
              </a:r>
              <a:endParaRPr lang="en-US" sz="1600" spc="-16" kern="0" b="0" i="0" dirty="0">
                <a:solidFill>
                  <a:srgbClr val="FFFFFF"/>
                </a:solidFill>
                <a:latin typeface="IBM Plex Sans SemiBold"/>
                <a:ea typeface="IBM Plex Sans SemiBold"/>
                <a:cs typeface="IBM Plex Sans SemiBold"/>
              </a:endParaRPr>
            </a:p>
          </p:txBody>
        </p:sp>
      </p:grpSp>
      <p:grpSp>
        <p:nvGrpSpPr>
          <p:cNvPr id="39" name="node05"/>
          <p:cNvGrpSpPr/>
          <p:nvPr/>
        </p:nvGrpSpPr>
        <p:grpSpPr>
          <a:xfrm>
            <a:off x="8953500" y="3429000"/>
            <a:ext cx="2514600" cy="571500"/>
            <a:chOff x="8953500" y="3429000"/>
            <a:chExt cx="2514600" cy="571500"/>
          </a:xfrm>
        </p:grpSpPr>
        <p:sp>
          <p:nvSpPr>
            <p:cNvPr id="31" name="node05.text"/>
            <p:cNvSpPr/>
            <p:nvPr/>
          </p:nvSpPr>
          <p:spPr>
            <a:xfrm>
              <a:off x="8953500" y="3429000"/>
              <a:ext cx="2514600" cy="571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Use these words in every briefing, huddle and email. Local examples welcome; new claims are not.</a:t>
              </a:r>
              <a:endParaRPr lang="en-US" sz="1100" spc="0" kern="0" b="0" i="0" dirty="0">
                <a:solidFill>
                  <a:srgbClr val="FFFFFF"/>
                </a:solidFill>
                <a:latin typeface="IBM Plex Sans"/>
                <a:ea typeface="IBM Plex Sans"/>
                <a:cs typeface="IBM Plex Sans"/>
              </a:endParaRPr>
            </a:p>
          </p:txBody>
        </p:sp>
      </p:gr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ource-14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FREQUENTLY ASKED QUESTIONS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questions staff ask, with straight answers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change team,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200</a:t>
            </a:fld>
            <a:endParaRPr lang="en-US" sz="700" spc="0" kern="0" b="0" i="0" dirty="0">
              <a:solidFill>
                <a:srgbClr val="070154"/>
              </a:solidFill>
              <a:latin typeface="IBM Plex Mono SemiBold"/>
              <a:ea typeface="IBM Plex Mono SemiBold"/>
              <a:cs typeface="IBM Plex Mono SemiBold"/>
            </a:endParaRPr>
          </a:p>
        </p:txBody>
      </p:sp>
      <p:grpSp>
        <p:nvGrpSpPr>
          <p:cNvPr id="46" name="node01"/>
          <p:cNvGrpSpPr/>
          <p:nvPr/>
        </p:nvGrpSpPr>
        <p:grpSpPr>
          <a:xfrm>
            <a:off x="723900" y="1600200"/>
            <a:ext cx="10744200" cy="1905000"/>
            <a:chOff x="723900" y="1600200"/>
            <a:chExt cx="10744200" cy="1905000"/>
          </a:xfrm>
        </p:grpSpPr>
        <p:grpSp>
          <p:nvGrpSpPr>
            <p:cNvPr id="43" name="node01.item-001"/>
            <p:cNvGrpSpPr/>
            <p:nvPr/>
          </p:nvGrpSpPr>
          <p:grpSpPr>
            <a:xfrm>
              <a:off x="723900" y="1600200"/>
              <a:ext cx="3429000" cy="1905000"/>
              <a:chOff x="723900" y="1600200"/>
              <a:chExt cx="3429000" cy="1905000"/>
            </a:xfrm>
          </p:grpSpPr>
          <p:sp>
            <p:nvSpPr>
              <p:cNvPr id="7" name="node01.item-001.container"/>
              <p:cNvSpPr/>
              <p:nvPr/>
            </p:nvSpPr>
            <p:spPr>
              <a:xfrm>
                <a:off x="723900" y="1600200"/>
                <a:ext cx="3429000" cy="1905000"/>
              </a:xfrm>
              <a:prstGeom prst="rect">
                <a:avLst/>
              </a:prstGeom>
              <a:solidFill>
                <a:srgbClr val="E8EEF8"/>
              </a:solidFill>
              <a:ln>
                <a:noFill/>
              </a:ln>
            </p:spPr>
          </p:sp>
          <p:sp>
            <p:nvSpPr>
              <p:cNvPr id="8" name="node01.item-001.number"/>
              <p:cNvSpPr/>
              <p:nvPr/>
            </p:nvSpPr>
            <p:spPr>
              <a:xfrm>
                <a:off x="8763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9" name="node01.item-001.title"/>
              <p:cNvSpPr/>
              <p:nvPr/>
            </p:nvSpPr>
            <p:spPr>
              <a:xfrm>
                <a:off x="1247775" y="1752346"/>
                <a:ext cx="27527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Will I lose my job?</a:t>
                </a:r>
                <a:endParaRPr lang="en-US" sz="1600" spc="-16" kern="0" b="0" i="0" dirty="0">
                  <a:solidFill>
                    <a:srgbClr val="0047FF"/>
                  </a:solidFill>
                  <a:latin typeface="IBM Plex Sans SemiBold"/>
                  <a:ea typeface="IBM Plex Sans SemiBold"/>
                  <a:cs typeface="IBM Plex Sans SemiBold"/>
                </a:endParaRPr>
              </a:p>
            </p:txBody>
          </p:sp>
          <p:sp>
            <p:nvSpPr>
              <p:cNvPr id="10" name="node01.item-001.body.item-001.paragraph"/>
              <p:cNvSpPr/>
              <p:nvPr/>
            </p:nvSpPr>
            <p:spPr>
              <a:xfrm>
                <a:off x="876300" y="21717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No roles are eliminated. Some tasks move; the role cards show which.</a:t>
                </a:r>
                <a:endParaRPr lang="en-US" sz="1200" spc="0" kern="0" b="0" i="0" dirty="0">
                  <a:solidFill>
                    <a:srgbClr val="50658E"/>
                  </a:solidFill>
                  <a:latin typeface="IBM Plex Sans"/>
                  <a:ea typeface="IBM Plex Sans"/>
                  <a:cs typeface="IBM Plex Sans"/>
                </a:endParaRPr>
              </a:p>
            </p:txBody>
          </p:sp>
          <p:sp>
            <p:nvSpPr>
              <p:cNvPr id="11" name="node01.item-001.body.item-002.label"/>
              <p:cNvSpPr/>
              <p:nvPr/>
            </p:nvSpPr>
            <p:spPr>
              <a:xfrm>
                <a:off x="876300" y="26797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WHERE TO LOOK</a:t>
                </a:r>
                <a:endParaRPr lang="en-US" sz="800" spc="48" kern="0" b="0" i="0" dirty="0">
                  <a:solidFill>
                    <a:srgbClr val="0047FF"/>
                  </a:solidFill>
                  <a:latin typeface="IBM Plex Mono Medium"/>
                  <a:ea typeface="IBM Plex Mono Medium"/>
                  <a:cs typeface="IBM Plex Mono Medium"/>
                </a:endParaRPr>
              </a:p>
            </p:txBody>
          </p:sp>
          <p:sp>
            <p:nvSpPr>
              <p:cNvPr id="12" name="node01.item-001.body.item-003.paragraph"/>
              <p:cNvSpPr/>
              <p:nvPr/>
            </p:nvSpPr>
            <p:spPr>
              <a:xfrm>
                <a:off x="876300" y="2895600"/>
                <a:ext cx="312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Role cards on the intranet</a:t>
                </a:r>
                <a:endParaRPr lang="en-US" sz="1200" spc="0" kern="0" b="0" i="0" dirty="0">
                  <a:solidFill>
                    <a:srgbClr val="50658E"/>
                  </a:solidFill>
                  <a:latin typeface="IBM Plex Sans"/>
                  <a:ea typeface="IBM Plex Sans"/>
                  <a:cs typeface="IBM Plex Sans"/>
                </a:endParaRPr>
              </a:p>
            </p:txBody>
          </p:sp>
        </p:grpSp>
        <p:grpSp>
          <p:nvGrpSpPr>
            <p:cNvPr id="44" name="node01.item-002"/>
            <p:cNvGrpSpPr/>
            <p:nvPr/>
          </p:nvGrpSpPr>
          <p:grpSpPr>
            <a:xfrm>
              <a:off x="4381500" y="1600200"/>
              <a:ext cx="3429000" cy="1905000"/>
              <a:chOff x="4381500" y="1600200"/>
              <a:chExt cx="3429000" cy="1905000"/>
            </a:xfrm>
          </p:grpSpPr>
          <p:sp>
            <p:nvSpPr>
              <p:cNvPr id="13" name="node01.item-002.container"/>
              <p:cNvSpPr/>
              <p:nvPr/>
            </p:nvSpPr>
            <p:spPr>
              <a:xfrm>
                <a:off x="4381500" y="1600200"/>
                <a:ext cx="3429000" cy="1905000"/>
              </a:xfrm>
              <a:prstGeom prst="rect">
                <a:avLst/>
              </a:prstGeom>
              <a:solidFill>
                <a:srgbClr val="E8EEF8"/>
              </a:solidFill>
              <a:ln>
                <a:noFill/>
              </a:ln>
            </p:spPr>
          </p:sp>
          <p:sp>
            <p:nvSpPr>
              <p:cNvPr id="14" name="node01.item-002.number"/>
              <p:cNvSpPr/>
              <p:nvPr/>
            </p:nvSpPr>
            <p:spPr>
              <a:xfrm>
                <a:off x="45339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15" name="node01.item-002.title"/>
              <p:cNvSpPr/>
              <p:nvPr/>
            </p:nvSpPr>
            <p:spPr>
              <a:xfrm>
                <a:off x="4905375" y="1752346"/>
                <a:ext cx="27527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When is my training?</a:t>
                </a:r>
                <a:endParaRPr lang="en-US" sz="1600" spc="-16" kern="0" b="0" i="0" dirty="0">
                  <a:solidFill>
                    <a:srgbClr val="0047FF"/>
                  </a:solidFill>
                  <a:latin typeface="IBM Plex Sans SemiBold"/>
                  <a:ea typeface="IBM Plex Sans SemiBold"/>
                  <a:cs typeface="IBM Plex Sans SemiBold"/>
                </a:endParaRPr>
              </a:p>
            </p:txBody>
          </p:sp>
          <p:sp>
            <p:nvSpPr>
              <p:cNvPr id="16" name="node01.item-002.body.item-001.paragraph"/>
              <p:cNvSpPr/>
              <p:nvPr/>
            </p:nvSpPr>
            <p:spPr>
              <a:xfrm>
                <a:off x="4533900" y="21717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Eight hours in the four weeks before your site goes live, scheduled by your manager.</a:t>
                </a:r>
                <a:endParaRPr lang="en-US" sz="1200" spc="0" kern="0" b="0" i="0" dirty="0">
                  <a:solidFill>
                    <a:srgbClr val="50658E"/>
                  </a:solidFill>
                  <a:latin typeface="IBM Plex Sans"/>
                  <a:ea typeface="IBM Plex Sans"/>
                  <a:cs typeface="IBM Plex Sans"/>
                </a:endParaRPr>
              </a:p>
            </p:txBody>
          </p:sp>
          <p:sp>
            <p:nvSpPr>
              <p:cNvPr id="17" name="node01.item-002.body.item-002.label"/>
              <p:cNvSpPr/>
              <p:nvPr/>
            </p:nvSpPr>
            <p:spPr>
              <a:xfrm>
                <a:off x="4533900" y="26797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WHERE TO LOOK</a:t>
                </a:r>
                <a:endParaRPr lang="en-US" sz="800" spc="48" kern="0" b="0" i="0" dirty="0">
                  <a:solidFill>
                    <a:srgbClr val="0047FF"/>
                  </a:solidFill>
                  <a:latin typeface="IBM Plex Mono Medium"/>
                  <a:ea typeface="IBM Plex Mono Medium"/>
                  <a:cs typeface="IBM Plex Mono Medium"/>
                </a:endParaRPr>
              </a:p>
            </p:txBody>
          </p:sp>
          <p:sp>
            <p:nvSpPr>
              <p:cNvPr id="18" name="node01.item-002.body.item-003.paragraph"/>
              <p:cNvSpPr/>
              <p:nvPr/>
            </p:nvSpPr>
            <p:spPr>
              <a:xfrm>
                <a:off x="4533900" y="2895600"/>
                <a:ext cx="312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Your manager's schedule email</a:t>
                </a:r>
                <a:endParaRPr lang="en-US" sz="1200" spc="0" kern="0" b="0" i="0" dirty="0">
                  <a:solidFill>
                    <a:srgbClr val="50658E"/>
                  </a:solidFill>
                  <a:latin typeface="IBM Plex Sans"/>
                  <a:ea typeface="IBM Plex Sans"/>
                  <a:cs typeface="IBM Plex Sans"/>
                </a:endParaRPr>
              </a:p>
            </p:txBody>
          </p:sp>
        </p:grpSp>
        <p:grpSp>
          <p:nvGrpSpPr>
            <p:cNvPr id="45" name="node01.item-003"/>
            <p:cNvGrpSpPr/>
            <p:nvPr/>
          </p:nvGrpSpPr>
          <p:grpSpPr>
            <a:xfrm>
              <a:off x="8039100" y="1600200"/>
              <a:ext cx="3429000" cy="1905000"/>
              <a:chOff x="8039100" y="1600200"/>
              <a:chExt cx="3429000" cy="1905000"/>
            </a:xfrm>
          </p:grpSpPr>
          <p:sp>
            <p:nvSpPr>
              <p:cNvPr id="19" name="node01.item-003.container"/>
              <p:cNvSpPr/>
              <p:nvPr/>
            </p:nvSpPr>
            <p:spPr>
              <a:xfrm>
                <a:off x="8039100" y="1600200"/>
                <a:ext cx="3429000" cy="1905000"/>
              </a:xfrm>
              <a:prstGeom prst="rect">
                <a:avLst/>
              </a:prstGeom>
              <a:solidFill>
                <a:srgbClr val="E8EEF8"/>
              </a:solidFill>
              <a:ln>
                <a:noFill/>
              </a:ln>
            </p:spPr>
          </p:sp>
          <p:sp>
            <p:nvSpPr>
              <p:cNvPr id="20" name="node01.item-003.number"/>
              <p:cNvSpPr/>
              <p:nvPr/>
            </p:nvSpPr>
            <p:spPr>
              <a:xfrm>
                <a:off x="81915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21" name="node01.item-003.title"/>
              <p:cNvSpPr/>
              <p:nvPr/>
            </p:nvSpPr>
            <p:spPr>
              <a:xfrm>
                <a:off x="8562975" y="1752346"/>
                <a:ext cx="27527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If the system is down?</a:t>
                </a:r>
                <a:endParaRPr lang="en-US" sz="1600" spc="-16" kern="0" b="0" i="0" dirty="0">
                  <a:solidFill>
                    <a:srgbClr val="0047FF"/>
                  </a:solidFill>
                  <a:latin typeface="IBM Plex Sans SemiBold"/>
                  <a:ea typeface="IBM Plex Sans SemiBold"/>
                  <a:cs typeface="IBM Plex Sans SemiBold"/>
                </a:endParaRPr>
              </a:p>
            </p:txBody>
          </p:sp>
          <p:sp>
            <p:nvSpPr>
              <p:cNvPr id="22" name="node01.item-003.body.item-001.paragraph"/>
              <p:cNvSpPr/>
              <p:nvPr/>
            </p:nvSpPr>
            <p:spPr>
              <a:xfrm>
                <a:off x="8191500" y="21717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 paper downtime kit and a hotline run for the first two weeks.</a:t>
                </a:r>
                <a:endParaRPr lang="en-US" sz="1200" spc="0" kern="0" b="0" i="0" dirty="0">
                  <a:solidFill>
                    <a:srgbClr val="50658E"/>
                  </a:solidFill>
                  <a:latin typeface="IBM Plex Sans"/>
                  <a:ea typeface="IBM Plex Sans"/>
                  <a:cs typeface="IBM Plex Sans"/>
                </a:endParaRPr>
              </a:p>
            </p:txBody>
          </p:sp>
          <p:sp>
            <p:nvSpPr>
              <p:cNvPr id="23" name="node01.item-003.body.item-002.label"/>
              <p:cNvSpPr/>
              <p:nvPr/>
            </p:nvSpPr>
            <p:spPr>
              <a:xfrm>
                <a:off x="8191500" y="26797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WHERE TO LOOK</a:t>
                </a:r>
                <a:endParaRPr lang="en-US" sz="800" spc="48" kern="0" b="0" i="0" dirty="0">
                  <a:solidFill>
                    <a:srgbClr val="0047FF"/>
                  </a:solidFill>
                  <a:latin typeface="IBM Plex Mono Medium"/>
                  <a:ea typeface="IBM Plex Mono Medium"/>
                  <a:cs typeface="IBM Plex Mono Medium"/>
                </a:endParaRPr>
              </a:p>
            </p:txBody>
          </p:sp>
          <p:sp>
            <p:nvSpPr>
              <p:cNvPr id="24" name="node01.item-003.body.item-003.paragraph"/>
              <p:cNvSpPr/>
              <p:nvPr/>
            </p:nvSpPr>
            <p:spPr>
              <a:xfrm>
                <a:off x="8191500" y="2895600"/>
                <a:ext cx="312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Downtime kit at every desk</a:t>
                </a:r>
                <a:endParaRPr lang="en-US" sz="1200" spc="0" kern="0" b="0" i="0" dirty="0">
                  <a:solidFill>
                    <a:srgbClr val="50658E"/>
                  </a:solidFill>
                  <a:latin typeface="IBM Plex Sans"/>
                  <a:ea typeface="IBM Plex Sans"/>
                  <a:cs typeface="IBM Plex Sans"/>
                </a:endParaRPr>
              </a:p>
            </p:txBody>
          </p:sp>
        </p:grpSp>
      </p:grpSp>
      <p:grpSp>
        <p:nvGrpSpPr>
          <p:cNvPr id="50" name="node02"/>
          <p:cNvGrpSpPr/>
          <p:nvPr/>
        </p:nvGrpSpPr>
        <p:grpSpPr>
          <a:xfrm>
            <a:off x="723900" y="3733800"/>
            <a:ext cx="10744200" cy="1905000"/>
            <a:chOff x="723900" y="3733800"/>
            <a:chExt cx="10744200" cy="1905000"/>
          </a:xfrm>
        </p:grpSpPr>
        <p:grpSp>
          <p:nvGrpSpPr>
            <p:cNvPr id="47" name="node02.item-001"/>
            <p:cNvGrpSpPr/>
            <p:nvPr/>
          </p:nvGrpSpPr>
          <p:grpSpPr>
            <a:xfrm>
              <a:off x="723900" y="3733800"/>
              <a:ext cx="3429000" cy="1905000"/>
              <a:chOff x="723900" y="3733800"/>
              <a:chExt cx="3429000" cy="1905000"/>
            </a:xfrm>
          </p:grpSpPr>
          <p:sp>
            <p:nvSpPr>
              <p:cNvPr id="25" name="node02.item-001.container"/>
              <p:cNvSpPr/>
              <p:nvPr/>
            </p:nvSpPr>
            <p:spPr>
              <a:xfrm>
                <a:off x="723900" y="3733800"/>
                <a:ext cx="3429000" cy="1905000"/>
              </a:xfrm>
              <a:prstGeom prst="rect">
                <a:avLst/>
              </a:prstGeom>
              <a:solidFill>
                <a:srgbClr val="E8EEF8"/>
              </a:solidFill>
              <a:ln>
                <a:noFill/>
              </a:ln>
            </p:spPr>
          </p:sp>
          <p:sp>
            <p:nvSpPr>
              <p:cNvPr id="26" name="node02.item-001.number"/>
              <p:cNvSpPr/>
              <p:nvPr/>
            </p:nvSpPr>
            <p:spPr>
              <a:xfrm>
                <a:off x="876300" y="3886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04</a:t>
                </a:r>
                <a:endParaRPr lang="en-US" sz="1600" spc="0" kern="0" b="0" i="0" dirty="0">
                  <a:solidFill>
                    <a:srgbClr val="0047FF"/>
                  </a:solidFill>
                  <a:latin typeface="IBM Plex Mono SemiBold"/>
                  <a:ea typeface="IBM Plex Mono SemiBold"/>
                  <a:cs typeface="IBM Plex Mono SemiBold"/>
                </a:endParaRPr>
              </a:p>
            </p:txBody>
          </p:sp>
          <p:sp>
            <p:nvSpPr>
              <p:cNvPr id="27" name="node02.item-001.title"/>
              <p:cNvSpPr/>
              <p:nvPr/>
            </p:nvSpPr>
            <p:spPr>
              <a:xfrm>
                <a:off x="1247775" y="3885946"/>
                <a:ext cx="27527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Who do I call?</a:t>
                </a:r>
                <a:endParaRPr lang="en-US" sz="1600" spc="-16" kern="0" b="0" i="0" dirty="0">
                  <a:solidFill>
                    <a:srgbClr val="0047FF"/>
                  </a:solidFill>
                  <a:latin typeface="IBM Plex Sans SemiBold"/>
                  <a:ea typeface="IBM Plex Sans SemiBold"/>
                  <a:cs typeface="IBM Plex Sans SemiBold"/>
                </a:endParaRPr>
              </a:p>
            </p:txBody>
          </p:sp>
          <p:sp>
            <p:nvSpPr>
              <p:cNvPr id="28" name="node02.item-001.body.item-001.paragraph"/>
              <p:cNvSpPr/>
              <p:nvPr/>
            </p:nvSpPr>
            <p:spPr>
              <a:xfrm>
                <a:off x="876300" y="43053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Your floor-walker first, then the service desk hotline.</a:t>
                </a:r>
                <a:endParaRPr lang="en-US" sz="1200" spc="0" kern="0" b="0" i="0" dirty="0">
                  <a:solidFill>
                    <a:srgbClr val="50658E"/>
                  </a:solidFill>
                  <a:latin typeface="IBM Plex Sans"/>
                  <a:ea typeface="IBM Plex Sans"/>
                  <a:cs typeface="IBM Plex Sans"/>
                </a:endParaRPr>
              </a:p>
            </p:txBody>
          </p:sp>
          <p:sp>
            <p:nvSpPr>
              <p:cNvPr id="29" name="node02.item-001.body.item-002.label"/>
              <p:cNvSpPr/>
              <p:nvPr/>
            </p:nvSpPr>
            <p:spPr>
              <a:xfrm>
                <a:off x="876300" y="48133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WHERE TO LOOK</a:t>
                </a:r>
                <a:endParaRPr lang="en-US" sz="800" spc="48" kern="0" b="0" i="0" dirty="0">
                  <a:solidFill>
                    <a:srgbClr val="0047FF"/>
                  </a:solidFill>
                  <a:latin typeface="IBM Plex Mono Medium"/>
                  <a:ea typeface="IBM Plex Mono Medium"/>
                  <a:cs typeface="IBM Plex Mono Medium"/>
                </a:endParaRPr>
              </a:p>
            </p:txBody>
          </p:sp>
          <p:sp>
            <p:nvSpPr>
              <p:cNvPr id="30" name="node02.item-001.body.item-003.paragraph"/>
              <p:cNvSpPr/>
              <p:nvPr/>
            </p:nvSpPr>
            <p:spPr>
              <a:xfrm>
                <a:off x="876300" y="5029200"/>
                <a:ext cx="312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Number on the huddle card</a:t>
                </a:r>
                <a:endParaRPr lang="en-US" sz="1200" spc="0" kern="0" b="0" i="0" dirty="0">
                  <a:solidFill>
                    <a:srgbClr val="50658E"/>
                  </a:solidFill>
                  <a:latin typeface="IBM Plex Sans"/>
                  <a:ea typeface="IBM Plex Sans"/>
                  <a:cs typeface="IBM Plex Sans"/>
                </a:endParaRPr>
              </a:p>
            </p:txBody>
          </p:sp>
        </p:grpSp>
        <p:grpSp>
          <p:nvGrpSpPr>
            <p:cNvPr id="48" name="node02.item-002"/>
            <p:cNvGrpSpPr/>
            <p:nvPr/>
          </p:nvGrpSpPr>
          <p:grpSpPr>
            <a:xfrm>
              <a:off x="4381500" y="3733800"/>
              <a:ext cx="3429000" cy="1905000"/>
              <a:chOff x="4381500" y="3733800"/>
              <a:chExt cx="3429000" cy="1905000"/>
            </a:xfrm>
          </p:grpSpPr>
          <p:sp>
            <p:nvSpPr>
              <p:cNvPr id="31" name="node02.item-002.container"/>
              <p:cNvSpPr/>
              <p:nvPr/>
            </p:nvSpPr>
            <p:spPr>
              <a:xfrm>
                <a:off x="4381500" y="3733800"/>
                <a:ext cx="3429000" cy="1905000"/>
              </a:xfrm>
              <a:prstGeom prst="rect">
                <a:avLst/>
              </a:prstGeom>
              <a:solidFill>
                <a:srgbClr val="E8EEF8"/>
              </a:solidFill>
              <a:ln>
                <a:noFill/>
              </a:ln>
            </p:spPr>
          </p:sp>
          <p:sp>
            <p:nvSpPr>
              <p:cNvPr id="32" name="node02.item-002.number"/>
              <p:cNvSpPr/>
              <p:nvPr/>
            </p:nvSpPr>
            <p:spPr>
              <a:xfrm>
                <a:off x="4533900" y="3886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05</a:t>
                </a:r>
                <a:endParaRPr lang="en-US" sz="1600" spc="0" kern="0" b="0" i="0" dirty="0">
                  <a:solidFill>
                    <a:srgbClr val="0047FF"/>
                  </a:solidFill>
                  <a:latin typeface="IBM Plex Mono SemiBold"/>
                  <a:ea typeface="IBM Plex Mono SemiBold"/>
                  <a:cs typeface="IBM Plex Mono SemiBold"/>
                </a:endParaRPr>
              </a:p>
            </p:txBody>
          </p:sp>
          <p:sp>
            <p:nvSpPr>
              <p:cNvPr id="33" name="node02.item-002.title"/>
              <p:cNvSpPr/>
              <p:nvPr/>
            </p:nvSpPr>
            <p:spPr>
              <a:xfrm>
                <a:off x="4905375" y="3885946"/>
                <a:ext cx="27527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Keep my old templates?</a:t>
                </a:r>
                <a:endParaRPr lang="en-US" sz="1600" spc="-16" kern="0" b="0" i="0" dirty="0">
                  <a:solidFill>
                    <a:srgbClr val="0047FF"/>
                  </a:solidFill>
                  <a:latin typeface="IBM Plex Sans SemiBold"/>
                  <a:ea typeface="IBM Plex Sans SemiBold"/>
                  <a:cs typeface="IBM Plex Sans SemiBold"/>
                </a:endParaRPr>
              </a:p>
            </p:txBody>
          </p:sp>
          <p:sp>
            <p:nvSpPr>
              <p:cNvPr id="34" name="node02.item-002.body.item-001.paragraph"/>
              <p:cNvSpPr/>
              <p:nvPr/>
            </p:nvSpPr>
            <p:spPr>
              <a:xfrm>
                <a:off x="4533900" y="43053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Templates are rebuilt once by each clinic; your lead signs off.</a:t>
                </a:r>
                <a:endParaRPr lang="en-US" sz="1200" spc="0" kern="0" b="0" i="0" dirty="0">
                  <a:solidFill>
                    <a:srgbClr val="50658E"/>
                  </a:solidFill>
                  <a:latin typeface="IBM Plex Sans"/>
                  <a:ea typeface="IBM Plex Sans"/>
                  <a:cs typeface="IBM Plex Sans"/>
                </a:endParaRPr>
              </a:p>
            </p:txBody>
          </p:sp>
          <p:sp>
            <p:nvSpPr>
              <p:cNvPr id="35" name="node02.item-002.body.item-002.label"/>
              <p:cNvSpPr/>
              <p:nvPr/>
            </p:nvSpPr>
            <p:spPr>
              <a:xfrm>
                <a:off x="4533900" y="48133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WHERE TO LOOK</a:t>
                </a:r>
                <a:endParaRPr lang="en-US" sz="800" spc="48" kern="0" b="0" i="0" dirty="0">
                  <a:solidFill>
                    <a:srgbClr val="0047FF"/>
                  </a:solidFill>
                  <a:latin typeface="IBM Plex Mono Medium"/>
                  <a:ea typeface="IBM Plex Mono Medium"/>
                  <a:cs typeface="IBM Plex Mono Medium"/>
                </a:endParaRPr>
              </a:p>
            </p:txBody>
          </p:sp>
          <p:sp>
            <p:nvSpPr>
              <p:cNvPr id="36" name="node02.item-002.body.item-003.paragraph"/>
              <p:cNvSpPr/>
              <p:nvPr/>
            </p:nvSpPr>
            <p:spPr>
              <a:xfrm>
                <a:off x="4533900" y="5029200"/>
                <a:ext cx="312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Template sign-off sheet</a:t>
                </a:r>
                <a:endParaRPr lang="en-US" sz="1200" spc="0" kern="0" b="0" i="0" dirty="0">
                  <a:solidFill>
                    <a:srgbClr val="50658E"/>
                  </a:solidFill>
                  <a:latin typeface="IBM Plex Sans"/>
                  <a:ea typeface="IBM Plex Sans"/>
                  <a:cs typeface="IBM Plex Sans"/>
                </a:endParaRPr>
              </a:p>
            </p:txBody>
          </p:sp>
        </p:grpSp>
        <p:grpSp>
          <p:nvGrpSpPr>
            <p:cNvPr id="49" name="node02.item-003"/>
            <p:cNvGrpSpPr/>
            <p:nvPr/>
          </p:nvGrpSpPr>
          <p:grpSpPr>
            <a:xfrm>
              <a:off x="8039100" y="3733800"/>
              <a:ext cx="3429000" cy="1905000"/>
              <a:chOff x="8039100" y="3733800"/>
              <a:chExt cx="3429000" cy="1905000"/>
            </a:xfrm>
          </p:grpSpPr>
          <p:sp>
            <p:nvSpPr>
              <p:cNvPr id="37" name="node02.item-003.container"/>
              <p:cNvSpPr/>
              <p:nvPr/>
            </p:nvSpPr>
            <p:spPr>
              <a:xfrm>
                <a:off x="8039100" y="3733800"/>
                <a:ext cx="3429000" cy="1905000"/>
              </a:xfrm>
              <a:prstGeom prst="rect">
                <a:avLst/>
              </a:prstGeom>
              <a:solidFill>
                <a:srgbClr val="E8EEF8"/>
              </a:solidFill>
              <a:ln>
                <a:noFill/>
              </a:ln>
            </p:spPr>
          </p:sp>
          <p:sp>
            <p:nvSpPr>
              <p:cNvPr id="38" name="node02.item-003.number"/>
              <p:cNvSpPr/>
              <p:nvPr/>
            </p:nvSpPr>
            <p:spPr>
              <a:xfrm>
                <a:off x="8191500" y="38862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06</a:t>
                </a:r>
                <a:endParaRPr lang="en-US" sz="1600" spc="0" kern="0" b="0" i="0" dirty="0">
                  <a:solidFill>
                    <a:srgbClr val="0047FF"/>
                  </a:solidFill>
                  <a:latin typeface="IBM Plex Mono SemiBold"/>
                  <a:ea typeface="IBM Plex Mono SemiBold"/>
                  <a:cs typeface="IBM Plex Mono SemiBold"/>
                </a:endParaRPr>
              </a:p>
            </p:txBody>
          </p:sp>
          <p:sp>
            <p:nvSpPr>
              <p:cNvPr id="39" name="node02.item-003.title"/>
              <p:cNvSpPr/>
              <p:nvPr/>
            </p:nvSpPr>
            <p:spPr>
              <a:xfrm>
                <a:off x="8562975" y="3885946"/>
                <a:ext cx="27527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How will patients know?</a:t>
                </a:r>
                <a:endParaRPr lang="en-US" sz="1600" spc="-16" kern="0" b="0" i="0" dirty="0">
                  <a:solidFill>
                    <a:srgbClr val="0047FF"/>
                  </a:solidFill>
                  <a:latin typeface="IBM Plex Sans SemiBold"/>
                  <a:ea typeface="IBM Plex Sans SemiBold"/>
                  <a:cs typeface="IBM Plex Sans SemiBold"/>
                </a:endParaRPr>
              </a:p>
            </p:txBody>
          </p:sp>
          <p:sp>
            <p:nvSpPr>
              <p:cNvPr id="40" name="node02.item-003.body.item-001.paragraph"/>
              <p:cNvSpPr/>
              <p:nvPr/>
            </p:nvSpPr>
            <p:spPr>
              <a:xfrm>
                <a:off x="8191500" y="43053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Email, text and lobby signs begin four weeks before your site goes live.</a:t>
                </a:r>
                <a:endParaRPr lang="en-US" sz="1200" spc="0" kern="0" b="0" i="0" dirty="0">
                  <a:solidFill>
                    <a:srgbClr val="50658E"/>
                  </a:solidFill>
                  <a:latin typeface="IBM Plex Sans"/>
                  <a:ea typeface="IBM Plex Sans"/>
                  <a:cs typeface="IBM Plex Sans"/>
                </a:endParaRPr>
              </a:p>
            </p:txBody>
          </p:sp>
          <p:sp>
            <p:nvSpPr>
              <p:cNvPr id="41" name="node02.item-003.body.item-002.label"/>
              <p:cNvSpPr/>
              <p:nvPr/>
            </p:nvSpPr>
            <p:spPr>
              <a:xfrm>
                <a:off x="8191500" y="48133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WHERE TO LOOK</a:t>
                </a:r>
                <a:endParaRPr lang="en-US" sz="800" spc="48" kern="0" b="0" i="0" dirty="0">
                  <a:solidFill>
                    <a:srgbClr val="0047FF"/>
                  </a:solidFill>
                  <a:latin typeface="IBM Plex Mono Medium"/>
                  <a:ea typeface="IBM Plex Mono Medium"/>
                  <a:cs typeface="IBM Plex Mono Medium"/>
                </a:endParaRPr>
              </a:p>
            </p:txBody>
          </p:sp>
          <p:sp>
            <p:nvSpPr>
              <p:cNvPr id="42" name="node02.item-003.body.item-003.paragraph"/>
              <p:cNvSpPr/>
              <p:nvPr/>
            </p:nvSpPr>
            <p:spPr>
              <a:xfrm>
                <a:off x="8191500" y="5029200"/>
                <a:ext cx="312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Lobby signs and website</a:t>
                </a:r>
                <a:endParaRPr lang="en-US" sz="1200" spc="0" kern="0" b="0" i="0" dirty="0">
                  <a:solidFill>
                    <a:srgbClr val="50658E"/>
                  </a:solidFill>
                  <a:latin typeface="IBM Plex Sans"/>
                  <a:ea typeface="IBM Plex Sans"/>
                  <a:cs typeface="IBM Plex Sans"/>
                </a:endParaRPr>
              </a:p>
            </p:txBody>
          </p:sp>
        </p:grpSp>
      </p:gr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ource-41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RESISTANCE MANAGEMENT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sources of resistance, each with a planned response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readiness interviews,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201</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1600200"/>
            <a:ext cx="10744200" cy="3200400"/>
            <a:chOff x="723900" y="1600200"/>
            <a:chExt cx="10744200" cy="3200400"/>
          </a:xfrm>
        </p:grpSpPr>
        <p:grpSp>
          <p:nvGrpSpPr>
            <p:cNvPr id="45" name="node01.item-001"/>
            <p:cNvGrpSpPr/>
            <p:nvPr/>
          </p:nvGrpSpPr>
          <p:grpSpPr>
            <a:xfrm>
              <a:off x="723900" y="1600200"/>
              <a:ext cx="2514600" cy="3200400"/>
              <a:chOff x="723900" y="1600200"/>
              <a:chExt cx="2514600" cy="3200400"/>
            </a:xfrm>
          </p:grpSpPr>
          <p:sp>
            <p:nvSpPr>
              <p:cNvPr id="7" name="node01.item-001.container"/>
              <p:cNvSpPr/>
              <p:nvPr/>
            </p:nvSpPr>
            <p:spPr>
              <a:xfrm>
                <a:off x="723900" y="1600200"/>
                <a:ext cx="2514600" cy="3200400"/>
              </a:xfrm>
              <a:prstGeom prst="rect">
                <a:avLst/>
              </a:prstGeom>
              <a:solidFill>
                <a:srgbClr val="E8EEF8"/>
              </a:solidFill>
              <a:ln>
                <a:noFill/>
              </a:ln>
            </p:spPr>
          </p:sp>
          <p:sp>
            <p:nvSpPr>
              <p:cNvPr id="8" name="node01.item-001.number"/>
              <p:cNvSpPr/>
              <p:nvPr/>
            </p:nvSpPr>
            <p:spPr>
              <a:xfrm>
                <a:off x="8763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01</a:t>
                </a:r>
                <a:endParaRPr lang="en-US" sz="1600" spc="0" kern="0" b="0" i="0" dirty="0">
                  <a:solidFill>
                    <a:srgbClr val="0047FF"/>
                  </a:solidFill>
                  <a:latin typeface="IBM Plex Mono SemiBold"/>
                  <a:ea typeface="IBM Plex Mono SemiBold"/>
                  <a:cs typeface="IBM Plex Mono SemiBold"/>
                </a:endParaRPr>
              </a:p>
            </p:txBody>
          </p:sp>
          <p:sp>
            <p:nvSpPr>
              <p:cNvPr id="9" name="node01.item-001.title"/>
              <p:cNvSpPr/>
              <p:nvPr/>
            </p:nvSpPr>
            <p:spPr>
              <a:xfrm>
                <a:off x="1247775" y="17523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Fear of job loss</a:t>
                </a:r>
                <a:endParaRPr lang="en-US" sz="1600" spc="-16" kern="0" b="0" i="0" dirty="0">
                  <a:solidFill>
                    <a:srgbClr val="0047FF"/>
                  </a:solidFill>
                  <a:latin typeface="IBM Plex Sans SemiBold"/>
                  <a:ea typeface="IBM Plex Sans SemiBold"/>
                  <a:cs typeface="IBM Plex Sans SemiBold"/>
                </a:endParaRPr>
              </a:p>
            </p:txBody>
          </p:sp>
          <p:sp>
            <p:nvSpPr>
              <p:cNvPr id="10" name="node01.item-001.body.item-001.label"/>
              <p:cNvSpPr/>
              <p:nvPr/>
            </p:nvSpPr>
            <p:spPr>
              <a:xfrm>
                <a:off x="876300" y="2171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WE HEAR</a:t>
                </a:r>
                <a:endParaRPr lang="en-US" sz="800" spc="48" kern="0" b="0" i="0" dirty="0">
                  <a:solidFill>
                    <a:srgbClr val="0047FF"/>
                  </a:solidFill>
                  <a:latin typeface="IBM Plex Mono Medium"/>
                  <a:ea typeface="IBM Plex Mono Medium"/>
                  <a:cs typeface="IBM Plex Mono Medium"/>
                </a:endParaRPr>
              </a:p>
            </p:txBody>
          </p:sp>
          <p:sp>
            <p:nvSpPr>
              <p:cNvPr id="11" name="node01.item-001.body.item-002.paragraph"/>
              <p:cNvSpPr/>
              <p:nvPr/>
            </p:nvSpPr>
            <p:spPr>
              <a:xfrm>
                <a:off x="876300" y="23876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Rumors that automated scheduling cuts roles</a:t>
                </a:r>
                <a:endParaRPr lang="en-US" sz="1200" spc="0" kern="0" b="0" i="0" dirty="0">
                  <a:solidFill>
                    <a:srgbClr val="50658E"/>
                  </a:solidFill>
                  <a:latin typeface="IBM Plex Sans"/>
                  <a:ea typeface="IBM Plex Sans"/>
                  <a:cs typeface="IBM Plex Sans"/>
                </a:endParaRPr>
              </a:p>
            </p:txBody>
          </p:sp>
          <p:sp>
            <p:nvSpPr>
              <p:cNvPr id="12" name="node01.item-001.body.item-003.label"/>
              <p:cNvSpPr/>
              <p:nvPr/>
            </p:nvSpPr>
            <p:spPr>
              <a:xfrm>
                <a:off x="876300" y="28956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RESPONSE</a:t>
                </a:r>
                <a:endParaRPr lang="en-US" sz="800" spc="48" kern="0" b="0" i="0" dirty="0">
                  <a:solidFill>
                    <a:srgbClr val="0047FF"/>
                  </a:solidFill>
                  <a:latin typeface="IBM Plex Mono Medium"/>
                  <a:ea typeface="IBM Plex Mono Medium"/>
                  <a:cs typeface="IBM Plex Mono Medium"/>
                </a:endParaRPr>
              </a:p>
            </p:txBody>
          </p:sp>
          <p:sp>
            <p:nvSpPr>
              <p:cNvPr id="13" name="node01.item-001.body.item-004.paragraph"/>
              <p:cNvSpPr/>
              <p:nvPr/>
            </p:nvSpPr>
            <p:spPr>
              <a:xfrm>
                <a:off x="876300" y="31115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Publish role cards and a no-layoff statement</a:t>
                </a:r>
                <a:endParaRPr lang="en-US" sz="1200" spc="0" kern="0" b="0" i="0" dirty="0">
                  <a:solidFill>
                    <a:srgbClr val="50658E"/>
                  </a:solidFill>
                  <a:latin typeface="IBM Plex Sans"/>
                  <a:ea typeface="IBM Plex Sans"/>
                  <a:cs typeface="IBM Plex Sans"/>
                </a:endParaRPr>
              </a:p>
            </p:txBody>
          </p:sp>
          <p:sp>
            <p:nvSpPr>
              <p:cNvPr id="14" name="node01.item-001.body.item-005.label"/>
              <p:cNvSpPr/>
              <p:nvPr/>
            </p:nvSpPr>
            <p:spPr>
              <a:xfrm>
                <a:off x="876300" y="36195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OWNER</a:t>
                </a:r>
                <a:endParaRPr lang="en-US" sz="800" spc="48" kern="0" b="0" i="0" dirty="0">
                  <a:solidFill>
                    <a:srgbClr val="0047FF"/>
                  </a:solidFill>
                  <a:latin typeface="IBM Plex Mono Medium"/>
                  <a:ea typeface="IBM Plex Mono Medium"/>
                  <a:cs typeface="IBM Plex Mono Medium"/>
                </a:endParaRPr>
              </a:p>
            </p:txBody>
          </p:sp>
          <p:sp>
            <p:nvSpPr>
              <p:cNvPr id="15" name="node01.item-001.body.item-006.paragraph"/>
              <p:cNvSpPr/>
              <p:nvPr/>
            </p:nvSpPr>
            <p:spPr>
              <a:xfrm>
                <a:off x="876300" y="38354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HR director</a:t>
                </a:r>
                <a:endParaRPr lang="en-US" sz="1200" spc="0" kern="0" b="0" i="0" dirty="0">
                  <a:solidFill>
                    <a:srgbClr val="50658E"/>
                  </a:solidFill>
                  <a:latin typeface="IBM Plex Sans"/>
                  <a:ea typeface="IBM Plex Sans"/>
                  <a:cs typeface="IBM Plex Sans"/>
                </a:endParaRPr>
              </a:p>
            </p:txBody>
          </p:sp>
        </p:grpSp>
        <p:grpSp>
          <p:nvGrpSpPr>
            <p:cNvPr id="46" name="node01.item-002"/>
            <p:cNvGrpSpPr/>
            <p:nvPr/>
          </p:nvGrpSpPr>
          <p:grpSpPr>
            <a:xfrm>
              <a:off x="3467100" y="1600200"/>
              <a:ext cx="2514600" cy="3200400"/>
              <a:chOff x="3467100" y="1600200"/>
              <a:chExt cx="2514600" cy="3200400"/>
            </a:xfrm>
          </p:grpSpPr>
          <p:sp>
            <p:nvSpPr>
              <p:cNvPr id="16" name="node01.item-002.container"/>
              <p:cNvSpPr/>
              <p:nvPr/>
            </p:nvSpPr>
            <p:spPr>
              <a:xfrm>
                <a:off x="3467100" y="1600200"/>
                <a:ext cx="2514600" cy="3200400"/>
              </a:xfrm>
              <a:prstGeom prst="rect">
                <a:avLst/>
              </a:prstGeom>
              <a:solidFill>
                <a:srgbClr val="E8EEF8"/>
              </a:solidFill>
              <a:ln>
                <a:noFill/>
              </a:ln>
            </p:spPr>
          </p:sp>
          <p:sp>
            <p:nvSpPr>
              <p:cNvPr id="17" name="node01.item-002.number"/>
              <p:cNvSpPr/>
              <p:nvPr/>
            </p:nvSpPr>
            <p:spPr>
              <a:xfrm>
                <a:off x="36195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02</a:t>
                </a:r>
                <a:endParaRPr lang="en-US" sz="1600" spc="0" kern="0" b="0" i="0" dirty="0">
                  <a:solidFill>
                    <a:srgbClr val="0047FF"/>
                  </a:solidFill>
                  <a:latin typeface="IBM Plex Mono SemiBold"/>
                  <a:ea typeface="IBM Plex Mono SemiBold"/>
                  <a:cs typeface="IBM Plex Mono SemiBold"/>
                </a:endParaRPr>
              </a:p>
            </p:txBody>
          </p:sp>
          <p:sp>
            <p:nvSpPr>
              <p:cNvPr id="18" name="node01.item-002.title"/>
              <p:cNvSpPr/>
              <p:nvPr/>
            </p:nvSpPr>
            <p:spPr>
              <a:xfrm>
                <a:off x="3990975" y="17523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Workload</a:t>
                </a:r>
                <a:endParaRPr lang="en-US" sz="1600" spc="-16" kern="0" b="0" i="0" dirty="0">
                  <a:solidFill>
                    <a:srgbClr val="0047FF"/>
                  </a:solidFill>
                  <a:latin typeface="IBM Plex Sans SemiBold"/>
                  <a:ea typeface="IBM Plex Sans SemiBold"/>
                  <a:cs typeface="IBM Plex Sans SemiBold"/>
                </a:endParaRPr>
              </a:p>
            </p:txBody>
          </p:sp>
          <p:sp>
            <p:nvSpPr>
              <p:cNvPr id="19" name="node01.item-002.body.item-001.label"/>
              <p:cNvSpPr/>
              <p:nvPr/>
            </p:nvSpPr>
            <p:spPr>
              <a:xfrm>
                <a:off x="3619500" y="2171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WE HEAR</a:t>
                </a:r>
                <a:endParaRPr lang="en-US" sz="800" spc="48" kern="0" b="0" i="0" dirty="0">
                  <a:solidFill>
                    <a:srgbClr val="0047FF"/>
                  </a:solidFill>
                  <a:latin typeface="IBM Plex Mono Medium"/>
                  <a:ea typeface="IBM Plex Mono Medium"/>
                  <a:cs typeface="IBM Plex Mono Medium"/>
                </a:endParaRPr>
              </a:p>
            </p:txBody>
          </p:sp>
          <p:sp>
            <p:nvSpPr>
              <p:cNvPr id="20" name="node01.item-002.body.item-002.paragraph"/>
              <p:cNvSpPr/>
              <p:nvPr/>
            </p:nvSpPr>
            <p:spPr>
              <a:xfrm>
                <a:off x="3619500" y="23876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No time to train during busy clinic days</a:t>
                </a:r>
                <a:endParaRPr lang="en-US" sz="1200" spc="0" kern="0" b="0" i="0" dirty="0">
                  <a:solidFill>
                    <a:srgbClr val="50658E"/>
                  </a:solidFill>
                  <a:latin typeface="IBM Plex Sans"/>
                  <a:ea typeface="IBM Plex Sans"/>
                  <a:cs typeface="IBM Plex Sans"/>
                </a:endParaRPr>
              </a:p>
            </p:txBody>
          </p:sp>
          <p:sp>
            <p:nvSpPr>
              <p:cNvPr id="21" name="node01.item-002.body.item-003.label"/>
              <p:cNvSpPr/>
              <p:nvPr/>
            </p:nvSpPr>
            <p:spPr>
              <a:xfrm>
                <a:off x="3619500" y="28956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RESPONSE</a:t>
                </a:r>
                <a:endParaRPr lang="en-US" sz="800" spc="48" kern="0" b="0" i="0" dirty="0">
                  <a:solidFill>
                    <a:srgbClr val="0047FF"/>
                  </a:solidFill>
                  <a:latin typeface="IBM Plex Mono Medium"/>
                  <a:ea typeface="IBM Plex Mono Medium"/>
                  <a:cs typeface="IBM Plex Mono Medium"/>
                </a:endParaRPr>
              </a:p>
            </p:txBody>
          </p:sp>
          <p:sp>
            <p:nvSpPr>
              <p:cNvPr id="22" name="node01.item-002.body.item-004.paragraph"/>
              <p:cNvSpPr/>
              <p:nvPr/>
            </p:nvSpPr>
            <p:spPr>
              <a:xfrm>
                <a:off x="3619500" y="31115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Protect two hours per person; backfill coverage</a:t>
                </a:r>
                <a:endParaRPr lang="en-US" sz="1200" spc="0" kern="0" b="0" i="0" dirty="0">
                  <a:solidFill>
                    <a:srgbClr val="50658E"/>
                  </a:solidFill>
                  <a:latin typeface="IBM Plex Sans"/>
                  <a:ea typeface="IBM Plex Sans"/>
                  <a:cs typeface="IBM Plex Sans"/>
                </a:endParaRPr>
              </a:p>
            </p:txBody>
          </p:sp>
          <p:sp>
            <p:nvSpPr>
              <p:cNvPr id="23" name="node01.item-002.body.item-005.label"/>
              <p:cNvSpPr/>
              <p:nvPr/>
            </p:nvSpPr>
            <p:spPr>
              <a:xfrm>
                <a:off x="3619500" y="36195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OWNER</a:t>
                </a:r>
                <a:endParaRPr lang="en-US" sz="800" spc="48" kern="0" b="0" i="0" dirty="0">
                  <a:solidFill>
                    <a:srgbClr val="0047FF"/>
                  </a:solidFill>
                  <a:latin typeface="IBM Plex Mono Medium"/>
                  <a:ea typeface="IBM Plex Mono Medium"/>
                  <a:cs typeface="IBM Plex Mono Medium"/>
                </a:endParaRPr>
              </a:p>
            </p:txBody>
          </p:sp>
          <p:sp>
            <p:nvSpPr>
              <p:cNvPr id="24" name="node01.item-002.body.item-006.paragraph"/>
              <p:cNvSpPr/>
              <p:nvPr/>
            </p:nvSpPr>
            <p:spPr>
              <a:xfrm>
                <a:off x="3619500" y="38354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Practice managers</a:t>
                </a:r>
                <a:endParaRPr lang="en-US" sz="1200" spc="0" kern="0" b="0" i="0" dirty="0">
                  <a:solidFill>
                    <a:srgbClr val="50658E"/>
                  </a:solidFill>
                  <a:latin typeface="IBM Plex Sans"/>
                  <a:ea typeface="IBM Plex Sans"/>
                  <a:cs typeface="IBM Plex Sans"/>
                </a:endParaRPr>
              </a:p>
            </p:txBody>
          </p:sp>
        </p:grpSp>
        <p:grpSp>
          <p:nvGrpSpPr>
            <p:cNvPr id="47" name="node01.item-003"/>
            <p:cNvGrpSpPr/>
            <p:nvPr/>
          </p:nvGrpSpPr>
          <p:grpSpPr>
            <a:xfrm>
              <a:off x="6210300" y="1600200"/>
              <a:ext cx="2514600" cy="3200400"/>
              <a:chOff x="6210300" y="1600200"/>
              <a:chExt cx="2514600" cy="3200400"/>
            </a:xfrm>
          </p:grpSpPr>
          <p:sp>
            <p:nvSpPr>
              <p:cNvPr id="25" name="node01.item-003.container"/>
              <p:cNvSpPr/>
              <p:nvPr/>
            </p:nvSpPr>
            <p:spPr>
              <a:xfrm>
                <a:off x="6210300" y="1600200"/>
                <a:ext cx="2514600" cy="3200400"/>
              </a:xfrm>
              <a:prstGeom prst="rect">
                <a:avLst/>
              </a:prstGeom>
              <a:solidFill>
                <a:srgbClr val="E8EEF8"/>
              </a:solidFill>
              <a:ln>
                <a:noFill/>
              </a:ln>
            </p:spPr>
          </p:sp>
          <p:sp>
            <p:nvSpPr>
              <p:cNvPr id="26" name="node01.item-003.number"/>
              <p:cNvSpPr/>
              <p:nvPr/>
            </p:nvSpPr>
            <p:spPr>
              <a:xfrm>
                <a:off x="63627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03</a:t>
                </a:r>
                <a:endParaRPr lang="en-US" sz="1600" spc="0" kern="0" b="0" i="0" dirty="0">
                  <a:solidFill>
                    <a:srgbClr val="0047FF"/>
                  </a:solidFill>
                  <a:latin typeface="IBM Plex Mono SemiBold"/>
                  <a:ea typeface="IBM Plex Mono SemiBold"/>
                  <a:cs typeface="IBM Plex Mono SemiBold"/>
                </a:endParaRPr>
              </a:p>
            </p:txBody>
          </p:sp>
          <p:sp>
            <p:nvSpPr>
              <p:cNvPr id="27" name="node01.item-003.title"/>
              <p:cNvSpPr/>
              <p:nvPr/>
            </p:nvSpPr>
            <p:spPr>
              <a:xfrm>
                <a:off x="6734175" y="17523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Tool distrust</a:t>
                </a:r>
                <a:endParaRPr lang="en-US" sz="1600" spc="-16" kern="0" b="0" i="0" dirty="0">
                  <a:solidFill>
                    <a:srgbClr val="0047FF"/>
                  </a:solidFill>
                  <a:latin typeface="IBM Plex Sans SemiBold"/>
                  <a:ea typeface="IBM Plex Sans SemiBold"/>
                  <a:cs typeface="IBM Plex Sans SemiBold"/>
                </a:endParaRPr>
              </a:p>
            </p:txBody>
          </p:sp>
          <p:sp>
            <p:nvSpPr>
              <p:cNvPr id="28" name="node01.item-003.body.item-001.label"/>
              <p:cNvSpPr/>
              <p:nvPr/>
            </p:nvSpPr>
            <p:spPr>
              <a:xfrm>
                <a:off x="6362700" y="2171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WE HEAR</a:t>
                </a:r>
                <a:endParaRPr lang="en-US" sz="800" spc="48" kern="0" b="0" i="0" dirty="0">
                  <a:solidFill>
                    <a:srgbClr val="0047FF"/>
                  </a:solidFill>
                  <a:latin typeface="IBM Plex Mono Medium"/>
                  <a:ea typeface="IBM Plex Mono Medium"/>
                  <a:cs typeface="IBM Plex Mono Medium"/>
                </a:endParaRPr>
              </a:p>
            </p:txBody>
          </p:sp>
          <p:sp>
            <p:nvSpPr>
              <p:cNvPr id="29" name="node01.item-003.body.item-002.paragraph"/>
              <p:cNvSpPr/>
              <p:nvPr/>
            </p:nvSpPr>
            <p:spPr>
              <a:xfrm>
                <a:off x="6362700" y="23876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Past rollouts failed and were rolled back</a:t>
                </a:r>
                <a:endParaRPr lang="en-US" sz="1200" spc="0" kern="0" b="0" i="0" dirty="0">
                  <a:solidFill>
                    <a:srgbClr val="50658E"/>
                  </a:solidFill>
                  <a:latin typeface="IBM Plex Sans"/>
                  <a:ea typeface="IBM Plex Sans"/>
                  <a:cs typeface="IBM Plex Sans"/>
                </a:endParaRPr>
              </a:p>
            </p:txBody>
          </p:sp>
          <p:sp>
            <p:nvSpPr>
              <p:cNvPr id="30" name="node01.item-003.body.item-003.label"/>
              <p:cNvSpPr/>
              <p:nvPr/>
            </p:nvSpPr>
            <p:spPr>
              <a:xfrm>
                <a:off x="6362700" y="28956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RESPONSE</a:t>
                </a:r>
                <a:endParaRPr lang="en-US" sz="800" spc="48" kern="0" b="0" i="0" dirty="0">
                  <a:solidFill>
                    <a:srgbClr val="0047FF"/>
                  </a:solidFill>
                  <a:latin typeface="IBM Plex Mono Medium"/>
                  <a:ea typeface="IBM Plex Mono Medium"/>
                  <a:cs typeface="IBM Plex Mono Medium"/>
                </a:endParaRPr>
              </a:p>
            </p:txBody>
          </p:sp>
          <p:sp>
            <p:nvSpPr>
              <p:cNvPr id="31" name="node01.item-003.body.item-004.paragraph"/>
              <p:cNvSpPr/>
              <p:nvPr/>
            </p:nvSpPr>
            <p:spPr>
              <a:xfrm>
                <a:off x="6362700" y="31115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Sandbox, peer demos and a visible fix list</a:t>
                </a:r>
                <a:endParaRPr lang="en-US" sz="1200" spc="0" kern="0" b="0" i="0" dirty="0">
                  <a:solidFill>
                    <a:srgbClr val="50658E"/>
                  </a:solidFill>
                  <a:latin typeface="IBM Plex Sans"/>
                  <a:ea typeface="IBM Plex Sans"/>
                  <a:cs typeface="IBM Plex Sans"/>
                </a:endParaRPr>
              </a:p>
            </p:txBody>
          </p:sp>
          <p:sp>
            <p:nvSpPr>
              <p:cNvPr id="32" name="node01.item-003.body.item-005.label"/>
              <p:cNvSpPr/>
              <p:nvPr/>
            </p:nvSpPr>
            <p:spPr>
              <a:xfrm>
                <a:off x="6362700" y="36195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OWNER</a:t>
                </a:r>
                <a:endParaRPr lang="en-US" sz="800" spc="48" kern="0" b="0" i="0" dirty="0">
                  <a:solidFill>
                    <a:srgbClr val="0047FF"/>
                  </a:solidFill>
                  <a:latin typeface="IBM Plex Mono Medium"/>
                  <a:ea typeface="IBM Plex Mono Medium"/>
                  <a:cs typeface="IBM Plex Mono Medium"/>
                </a:endParaRPr>
              </a:p>
            </p:txBody>
          </p:sp>
          <p:sp>
            <p:nvSpPr>
              <p:cNvPr id="33" name="node01.item-003.body.item-006.paragraph"/>
              <p:cNvSpPr/>
              <p:nvPr/>
            </p:nvSpPr>
            <p:spPr>
              <a:xfrm>
                <a:off x="6362700" y="38354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Change lead</a:t>
                </a:r>
                <a:endParaRPr lang="en-US" sz="1200" spc="0" kern="0" b="0" i="0" dirty="0">
                  <a:solidFill>
                    <a:srgbClr val="50658E"/>
                  </a:solidFill>
                  <a:latin typeface="IBM Plex Sans"/>
                  <a:ea typeface="IBM Plex Sans"/>
                  <a:cs typeface="IBM Plex Sans"/>
                </a:endParaRPr>
              </a:p>
            </p:txBody>
          </p:sp>
        </p:grpSp>
        <p:grpSp>
          <p:nvGrpSpPr>
            <p:cNvPr id="48" name="node01.item-004"/>
            <p:cNvGrpSpPr/>
            <p:nvPr/>
          </p:nvGrpSpPr>
          <p:grpSpPr>
            <a:xfrm>
              <a:off x="8953500" y="1600200"/>
              <a:ext cx="2514600" cy="3200400"/>
              <a:chOff x="8953500" y="1600200"/>
              <a:chExt cx="2514600" cy="3200400"/>
            </a:xfrm>
          </p:grpSpPr>
          <p:sp>
            <p:nvSpPr>
              <p:cNvPr id="34" name="node01.item-004.container"/>
              <p:cNvSpPr/>
              <p:nvPr/>
            </p:nvSpPr>
            <p:spPr>
              <a:xfrm>
                <a:off x="8953500" y="1600200"/>
                <a:ext cx="2514600" cy="3200400"/>
              </a:xfrm>
              <a:prstGeom prst="rect">
                <a:avLst/>
              </a:prstGeom>
              <a:solidFill>
                <a:srgbClr val="E8EEF8"/>
              </a:solidFill>
              <a:ln>
                <a:noFill/>
              </a:ln>
            </p:spPr>
          </p:sp>
          <p:sp>
            <p:nvSpPr>
              <p:cNvPr id="35" name="node01.item-004.number"/>
              <p:cNvSpPr/>
              <p:nvPr/>
            </p:nvSpPr>
            <p:spPr>
              <a:xfrm>
                <a:off x="91059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047FF"/>
                    </a:solidFill>
                    <a:latin typeface="IBM Plex Mono SemiBold"/>
                    <a:ea typeface="IBM Plex Mono SemiBold"/>
                    <a:cs typeface="IBM Plex Mono SemiBold"/>
                  </a:rPr>
                  <a:t>04</a:t>
                </a:r>
                <a:endParaRPr lang="en-US" sz="1600" spc="0" kern="0" b="0" i="0" dirty="0">
                  <a:solidFill>
                    <a:srgbClr val="0047FF"/>
                  </a:solidFill>
                  <a:latin typeface="IBM Plex Mono SemiBold"/>
                  <a:ea typeface="IBM Plex Mono SemiBold"/>
                  <a:cs typeface="IBM Plex Mono SemiBold"/>
                </a:endParaRPr>
              </a:p>
            </p:txBody>
          </p:sp>
          <p:sp>
            <p:nvSpPr>
              <p:cNvPr id="36" name="node01.item-004.title"/>
              <p:cNvSpPr/>
              <p:nvPr/>
            </p:nvSpPr>
            <p:spPr>
              <a:xfrm>
                <a:off x="9477375" y="17523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047FF"/>
                    </a:solidFill>
                    <a:latin typeface="IBM Plex Sans SemiBold"/>
                    <a:ea typeface="IBM Plex Sans SemiBold"/>
                    <a:cs typeface="IBM Plex Sans SemiBold"/>
                  </a:rPr>
                  <a:t>Loss of control</a:t>
                </a:r>
                <a:endParaRPr lang="en-US" sz="1600" spc="-16" kern="0" b="0" i="0" dirty="0">
                  <a:solidFill>
                    <a:srgbClr val="0047FF"/>
                  </a:solidFill>
                  <a:latin typeface="IBM Plex Sans SemiBold"/>
                  <a:ea typeface="IBM Plex Sans SemiBold"/>
                  <a:cs typeface="IBM Plex Sans SemiBold"/>
                </a:endParaRPr>
              </a:p>
            </p:txBody>
          </p:sp>
          <p:sp>
            <p:nvSpPr>
              <p:cNvPr id="37" name="node01.item-004.body.item-001.label"/>
              <p:cNvSpPr/>
              <p:nvPr/>
            </p:nvSpPr>
            <p:spPr>
              <a:xfrm>
                <a:off x="9105900" y="2171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WE HEAR</a:t>
                </a:r>
                <a:endParaRPr lang="en-US" sz="800" spc="48" kern="0" b="0" i="0" dirty="0">
                  <a:solidFill>
                    <a:srgbClr val="0047FF"/>
                  </a:solidFill>
                  <a:latin typeface="IBM Plex Mono Medium"/>
                  <a:ea typeface="IBM Plex Mono Medium"/>
                  <a:cs typeface="IBM Plex Mono Medium"/>
                </a:endParaRPr>
              </a:p>
            </p:txBody>
          </p:sp>
          <p:sp>
            <p:nvSpPr>
              <p:cNvPr id="38" name="node01.item-004.body.item-002.paragraph"/>
              <p:cNvSpPr/>
              <p:nvPr/>
            </p:nvSpPr>
            <p:spPr>
              <a:xfrm>
                <a:off x="9105900" y="23876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Physicians lose their personal template rules</a:t>
                </a:r>
                <a:endParaRPr lang="en-US" sz="1200" spc="0" kern="0" b="0" i="0" dirty="0">
                  <a:solidFill>
                    <a:srgbClr val="50658E"/>
                  </a:solidFill>
                  <a:latin typeface="IBM Plex Sans"/>
                  <a:ea typeface="IBM Plex Sans"/>
                  <a:cs typeface="IBM Plex Sans"/>
                </a:endParaRPr>
              </a:p>
            </p:txBody>
          </p:sp>
          <p:sp>
            <p:nvSpPr>
              <p:cNvPr id="39" name="node01.item-004.body.item-003.label"/>
              <p:cNvSpPr/>
              <p:nvPr/>
            </p:nvSpPr>
            <p:spPr>
              <a:xfrm>
                <a:off x="9105900" y="28956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RESPONSE</a:t>
                </a:r>
                <a:endParaRPr lang="en-US" sz="800" spc="48" kern="0" b="0" i="0" dirty="0">
                  <a:solidFill>
                    <a:srgbClr val="0047FF"/>
                  </a:solidFill>
                  <a:latin typeface="IBM Plex Mono Medium"/>
                  <a:ea typeface="IBM Plex Mono Medium"/>
                  <a:cs typeface="IBM Plex Mono Medium"/>
                </a:endParaRPr>
              </a:p>
            </p:txBody>
          </p:sp>
          <p:sp>
            <p:nvSpPr>
              <p:cNvPr id="40" name="node01.item-004.body.item-004.paragraph"/>
              <p:cNvSpPr/>
              <p:nvPr/>
            </p:nvSpPr>
            <p:spPr>
              <a:xfrm>
                <a:off x="9105900" y="31115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Template sign-off by each clinic lead</a:t>
                </a:r>
                <a:endParaRPr lang="en-US" sz="1200" spc="0" kern="0" b="0" i="0" dirty="0">
                  <a:solidFill>
                    <a:srgbClr val="50658E"/>
                  </a:solidFill>
                  <a:latin typeface="IBM Plex Sans"/>
                  <a:ea typeface="IBM Plex Sans"/>
                  <a:cs typeface="IBM Plex Sans"/>
                </a:endParaRPr>
              </a:p>
            </p:txBody>
          </p:sp>
          <p:sp>
            <p:nvSpPr>
              <p:cNvPr id="41" name="node01.item-004.body.item-005.label"/>
              <p:cNvSpPr/>
              <p:nvPr/>
            </p:nvSpPr>
            <p:spPr>
              <a:xfrm>
                <a:off x="9105900" y="36195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OWNER</a:t>
                </a:r>
                <a:endParaRPr lang="en-US" sz="800" spc="48" kern="0" b="0" i="0" dirty="0">
                  <a:solidFill>
                    <a:srgbClr val="0047FF"/>
                  </a:solidFill>
                  <a:latin typeface="IBM Plex Mono Medium"/>
                  <a:ea typeface="IBM Plex Mono Medium"/>
                  <a:cs typeface="IBM Plex Mono Medium"/>
                </a:endParaRPr>
              </a:p>
            </p:txBody>
          </p:sp>
          <p:sp>
            <p:nvSpPr>
              <p:cNvPr id="42" name="node01.item-004.body.item-006.paragraph"/>
              <p:cNvSpPr/>
              <p:nvPr/>
            </p:nvSpPr>
            <p:spPr>
              <a:xfrm>
                <a:off x="9105900" y="38354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Medical director</a:t>
                </a:r>
                <a:endParaRPr lang="en-US" sz="1200" spc="0" kern="0" b="0" i="0" dirty="0">
                  <a:solidFill>
                    <a:srgbClr val="50658E"/>
                  </a:solidFill>
                  <a:latin typeface="IBM Plex Sans"/>
                  <a:ea typeface="IBM Plex Sans"/>
                  <a:cs typeface="IBM Plex Sans"/>
                </a:endParaRPr>
              </a:p>
            </p:txBody>
          </p:sp>
        </p:grpSp>
      </p:grpSp>
      <p:grpSp>
        <p:nvGrpSpPr>
          <p:cNvPr id="50" name="node02"/>
          <p:cNvGrpSpPr/>
          <p:nvPr/>
        </p:nvGrpSpPr>
        <p:grpSpPr>
          <a:xfrm>
            <a:off x="723900" y="5029200"/>
            <a:ext cx="10744200" cy="685800"/>
            <a:chOff x="723900" y="5029200"/>
            <a:chExt cx="10744200" cy="685800"/>
          </a:xfrm>
        </p:grpSpPr>
        <p:sp>
          <p:nvSpPr>
            <p:cNvPr id="43" name="node02.container"/>
            <p:cNvSpPr/>
            <p:nvPr/>
          </p:nvSpPr>
          <p:spPr>
            <a:xfrm>
              <a:off x="730250" y="5035550"/>
              <a:ext cx="10731500" cy="673100"/>
            </a:xfrm>
            <a:prstGeom prst="rect">
              <a:avLst/>
            </a:prstGeom>
            <a:solidFill>
              <a:srgbClr val="FFFFFF"/>
            </a:solidFill>
            <a:ln w="12700">
              <a:solidFill>
                <a:srgbClr val="CED7E6"/>
              </a:solidFill>
              <a:prstDash val="solid"/>
            </a:ln>
          </p:spPr>
        </p:sp>
        <p:sp>
          <p:nvSpPr>
            <p:cNvPr id="44" name="node02.title"/>
            <p:cNvSpPr/>
            <p:nvPr/>
          </p:nvSpPr>
          <p:spPr>
            <a:xfrm>
              <a:off x="876300" y="5181600"/>
              <a:ext cx="10439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Monitor: a two-question pulse survey every two weeks.</a:t>
              </a:r>
              <a:endParaRPr lang="en-US" sz="1600" spc="-16"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ource-31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CHANGE NETWORK</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sponsor, a lead and 54 champions reach every floor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change plan; sample figures for layout only.</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202</a:t>
            </a:fld>
            <a:endParaRPr lang="en-US" sz="700" spc="0" kern="0" b="0" i="0" dirty="0">
              <a:solidFill>
                <a:srgbClr val="070154"/>
              </a:solidFill>
              <a:latin typeface="IBM Plex Mono SemiBold"/>
              <a:ea typeface="IBM Plex Mono SemiBold"/>
              <a:cs typeface="IBM Plex Mono SemiBold"/>
            </a:endParaRPr>
          </a:p>
        </p:txBody>
      </p:sp>
      <p:grpSp>
        <p:nvGrpSpPr>
          <p:cNvPr id="36" name="node01"/>
          <p:cNvGrpSpPr/>
          <p:nvPr/>
        </p:nvGrpSpPr>
        <p:grpSpPr>
          <a:xfrm>
            <a:off x="723900" y="1600200"/>
            <a:ext cx="5257800" cy="685800"/>
            <a:chOff x="723900" y="1600200"/>
            <a:chExt cx="5257800" cy="685800"/>
          </a:xfrm>
        </p:grpSpPr>
        <p:sp>
          <p:nvSpPr>
            <p:cNvPr id="7" name="node01.surface"/>
            <p:cNvSpPr/>
            <p:nvPr/>
          </p:nvSpPr>
          <p:spPr>
            <a:xfrm>
              <a:off x="723900" y="1600200"/>
              <a:ext cx="5257800" cy="685800"/>
            </a:xfrm>
            <a:prstGeom prst="rect">
              <a:avLst/>
            </a:prstGeom>
            <a:solidFill>
              <a:srgbClr val="070154"/>
            </a:solidFill>
            <a:ln>
              <a:noFill/>
            </a:ln>
          </p:spPr>
        </p:sp>
        <p:sp>
          <p:nvSpPr>
            <p:cNvPr id="8" name="node01.text"/>
            <p:cNvSpPr/>
            <p:nvPr/>
          </p:nvSpPr>
          <p:spPr>
            <a:xfrm>
              <a:off x="876300" y="1873250"/>
              <a:ext cx="4953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FFFFFF"/>
                  </a:solidFill>
                  <a:latin typeface="IBM Plex Mono Medium"/>
                  <a:ea typeface="IBM Plex Mono Medium"/>
                  <a:cs typeface="IBM Plex Mono Medium"/>
                </a:rPr>
                <a:t>EXECUTIVE SPONSOR, CHIEF OPERATING OFFICER</a:t>
              </a:r>
              <a:endParaRPr lang="en-US" sz="800" spc="48" kern="0" b="0" i="0" dirty="0">
                <a:solidFill>
                  <a:srgbClr val="FFFFFF"/>
                </a:solidFill>
                <a:latin typeface="IBM Plex Mono Medium"/>
                <a:ea typeface="IBM Plex Mono Medium"/>
                <a:cs typeface="IBM Plex Mono Medium"/>
              </a:endParaRPr>
            </a:p>
          </p:txBody>
        </p:sp>
      </p:grpSp>
      <p:grpSp>
        <p:nvGrpSpPr>
          <p:cNvPr id="37" name="node02"/>
          <p:cNvGrpSpPr/>
          <p:nvPr/>
        </p:nvGrpSpPr>
        <p:grpSpPr>
          <a:xfrm>
            <a:off x="723900" y="2743200"/>
            <a:ext cx="5257800" cy="685800"/>
            <a:chOff x="723900" y="2743200"/>
            <a:chExt cx="5257800" cy="685800"/>
          </a:xfrm>
        </p:grpSpPr>
        <p:sp>
          <p:nvSpPr>
            <p:cNvPr id="9" name="node02.surface"/>
            <p:cNvSpPr/>
            <p:nvPr/>
          </p:nvSpPr>
          <p:spPr>
            <a:xfrm>
              <a:off x="723900" y="2743200"/>
              <a:ext cx="5257800" cy="685800"/>
            </a:xfrm>
            <a:prstGeom prst="rect">
              <a:avLst/>
            </a:prstGeom>
            <a:solidFill>
              <a:srgbClr val="CED7E6"/>
            </a:solidFill>
            <a:ln>
              <a:noFill/>
            </a:ln>
          </p:spPr>
        </p:sp>
        <p:sp>
          <p:nvSpPr>
            <p:cNvPr id="10" name="node02.text"/>
            <p:cNvSpPr/>
            <p:nvPr/>
          </p:nvSpPr>
          <p:spPr>
            <a:xfrm>
              <a:off x="876300" y="3016250"/>
              <a:ext cx="49530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CHANGE LEAD AND PMO</a:t>
              </a:r>
              <a:endParaRPr lang="en-US" sz="800" spc="48" kern="0" b="0" i="0" dirty="0">
                <a:solidFill>
                  <a:srgbClr val="070154"/>
                </a:solidFill>
                <a:latin typeface="IBM Plex Mono Medium"/>
                <a:ea typeface="IBM Plex Mono Medium"/>
                <a:cs typeface="IBM Plex Mono Medium"/>
              </a:endParaRPr>
            </a:p>
          </p:txBody>
        </p:sp>
      </p:grpSp>
      <p:grpSp>
        <p:nvGrpSpPr>
          <p:cNvPr id="38" name="node03"/>
          <p:cNvGrpSpPr/>
          <p:nvPr/>
        </p:nvGrpSpPr>
        <p:grpSpPr>
          <a:xfrm>
            <a:off x="723900" y="3886200"/>
            <a:ext cx="1600200" cy="914400"/>
            <a:chOff x="723900" y="3886200"/>
            <a:chExt cx="1600200" cy="914400"/>
          </a:xfrm>
        </p:grpSpPr>
        <p:sp>
          <p:nvSpPr>
            <p:cNvPr id="11" name="node03.surface"/>
            <p:cNvSpPr/>
            <p:nvPr/>
          </p:nvSpPr>
          <p:spPr>
            <a:xfrm>
              <a:off x="723900" y="3886200"/>
              <a:ext cx="1600200" cy="914400"/>
            </a:xfrm>
            <a:prstGeom prst="rect">
              <a:avLst/>
            </a:prstGeom>
            <a:solidFill>
              <a:srgbClr val="E8EEF8"/>
            </a:solidFill>
            <a:ln>
              <a:noFill/>
            </a:ln>
          </p:spPr>
        </p:sp>
        <p:sp>
          <p:nvSpPr>
            <p:cNvPr id="12" name="node03.text"/>
            <p:cNvSpPr/>
            <p:nvPr/>
          </p:nvSpPr>
          <p:spPr>
            <a:xfrm>
              <a:off x="876300" y="4273550"/>
              <a:ext cx="12954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SITE CHAMPIONS: 9</a:t>
              </a:r>
              <a:endParaRPr lang="en-US" sz="800" spc="48" kern="0" b="0" i="0" dirty="0">
                <a:solidFill>
                  <a:srgbClr val="070154"/>
                </a:solidFill>
                <a:latin typeface="IBM Plex Mono Medium"/>
                <a:ea typeface="IBM Plex Mono Medium"/>
                <a:cs typeface="IBM Plex Mono Medium"/>
              </a:endParaRPr>
            </a:p>
          </p:txBody>
        </p:sp>
      </p:grpSp>
      <p:grpSp>
        <p:nvGrpSpPr>
          <p:cNvPr id="39" name="node04"/>
          <p:cNvGrpSpPr/>
          <p:nvPr/>
        </p:nvGrpSpPr>
        <p:grpSpPr>
          <a:xfrm>
            <a:off x="2552700" y="3886200"/>
            <a:ext cx="1600200" cy="914400"/>
            <a:chOff x="2552700" y="3886200"/>
            <a:chExt cx="1600200" cy="914400"/>
          </a:xfrm>
        </p:grpSpPr>
        <p:sp>
          <p:nvSpPr>
            <p:cNvPr id="13" name="node04.surface"/>
            <p:cNvSpPr/>
            <p:nvPr/>
          </p:nvSpPr>
          <p:spPr>
            <a:xfrm>
              <a:off x="2552700" y="3886200"/>
              <a:ext cx="1600200" cy="914400"/>
            </a:xfrm>
            <a:prstGeom prst="rect">
              <a:avLst/>
            </a:prstGeom>
            <a:solidFill>
              <a:srgbClr val="E8EEF8"/>
            </a:solidFill>
            <a:ln>
              <a:noFill/>
            </a:ln>
          </p:spPr>
        </p:sp>
        <p:sp>
          <p:nvSpPr>
            <p:cNvPr id="14" name="node04.text"/>
            <p:cNvSpPr/>
            <p:nvPr/>
          </p:nvSpPr>
          <p:spPr>
            <a:xfrm>
              <a:off x="2705100" y="4203700"/>
              <a:ext cx="1295400" cy="2794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MEDICAL CHAMPIONS: 6</a:t>
              </a:r>
              <a:endParaRPr lang="en-US" sz="800" spc="48" kern="0" b="0" i="0" dirty="0">
                <a:solidFill>
                  <a:srgbClr val="070154"/>
                </a:solidFill>
                <a:latin typeface="IBM Plex Mono Medium"/>
                <a:ea typeface="IBM Plex Mono Medium"/>
                <a:cs typeface="IBM Plex Mono Medium"/>
              </a:endParaRPr>
            </a:p>
          </p:txBody>
        </p:sp>
      </p:grpSp>
      <p:grpSp>
        <p:nvGrpSpPr>
          <p:cNvPr id="40" name="node05"/>
          <p:cNvGrpSpPr/>
          <p:nvPr/>
        </p:nvGrpSpPr>
        <p:grpSpPr>
          <a:xfrm>
            <a:off x="4381500" y="3886200"/>
            <a:ext cx="1600200" cy="914400"/>
            <a:chOff x="4381500" y="3886200"/>
            <a:chExt cx="1600200" cy="914400"/>
          </a:xfrm>
        </p:grpSpPr>
        <p:sp>
          <p:nvSpPr>
            <p:cNvPr id="15" name="node05.surface"/>
            <p:cNvSpPr/>
            <p:nvPr/>
          </p:nvSpPr>
          <p:spPr>
            <a:xfrm>
              <a:off x="4381500" y="3886200"/>
              <a:ext cx="1600200" cy="914400"/>
            </a:xfrm>
            <a:prstGeom prst="rect">
              <a:avLst/>
            </a:prstGeom>
            <a:solidFill>
              <a:srgbClr val="E8EEF8"/>
            </a:solidFill>
            <a:ln>
              <a:noFill/>
            </a:ln>
          </p:spPr>
        </p:sp>
        <p:sp>
          <p:nvSpPr>
            <p:cNvPr id="16" name="node05.text"/>
            <p:cNvSpPr/>
            <p:nvPr/>
          </p:nvSpPr>
          <p:spPr>
            <a:xfrm>
              <a:off x="4533900" y="4273550"/>
              <a:ext cx="12954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SUPER USERS: 39</a:t>
              </a:r>
              <a:endParaRPr lang="en-US" sz="800" spc="48" kern="0" b="0" i="0" dirty="0">
                <a:solidFill>
                  <a:srgbClr val="070154"/>
                </a:solidFill>
                <a:latin typeface="IBM Plex Mono Medium"/>
                <a:ea typeface="IBM Plex Mono Medium"/>
                <a:cs typeface="IBM Plex Mono Medium"/>
              </a:endParaRPr>
            </a:p>
          </p:txBody>
        </p:sp>
      </p:grpSp>
      <p:grpSp>
        <p:nvGrpSpPr>
          <p:cNvPr id="41" name="node06"/>
          <p:cNvGrpSpPr/>
          <p:nvPr/>
        </p:nvGrpSpPr>
        <p:grpSpPr>
          <a:xfrm>
            <a:off x="3352800" y="2286000"/>
            <a:ext cx="1" cy="457200"/>
            <a:chOff x="3352800" y="2286000"/>
            <a:chExt cx="1" cy="457200"/>
          </a:xfrm>
        </p:grpSpPr>
        <p:sp>
          <p:nvSpPr>
            <p:cNvPr id="17" name="node06.segment-1"/>
            <p:cNvSpPr/>
            <p:nvPr/>
          </p:nvSpPr>
          <p:spPr>
            <a:xfrm>
              <a:off x="3352800" y="2286000"/>
              <a:ext cx="0" cy="457200"/>
            </a:xfrm>
            <a:custGeom>
              <a:avLst/>
              <a:gdLst/>
              <a:ahLst/>
              <a:cxnLst/>
              <a:rect l="l" t="t" r="r" b="b"/>
              <a:pathLst>
                <a:path h="457200">
                  <a:moveTo>
                    <a:pt x="0" y="0"/>
                  </a:moveTo>
                  <a:lnTo>
                    <a:pt x="0" y="457200"/>
                  </a:lnTo>
                </a:path>
              </a:pathLst>
            </a:custGeom>
            <a:ln w="12700">
              <a:solidFill>
                <a:srgbClr val="070154"/>
              </a:solidFill>
              <a:prstDash val="solid"/>
            </a:ln>
          </p:spPr>
        </p:sp>
      </p:grpSp>
      <p:grpSp>
        <p:nvGrpSpPr>
          <p:cNvPr id="42" name="node07"/>
          <p:cNvGrpSpPr/>
          <p:nvPr/>
        </p:nvGrpSpPr>
        <p:grpSpPr>
          <a:xfrm>
            <a:off x="3352800" y="3429000"/>
            <a:ext cx="1" cy="228600"/>
            <a:chOff x="3352800" y="3429000"/>
            <a:chExt cx="1" cy="228600"/>
          </a:xfrm>
        </p:grpSpPr>
        <p:sp>
          <p:nvSpPr>
            <p:cNvPr id="18" name="node07.segment-1"/>
            <p:cNvSpPr/>
            <p:nvPr/>
          </p:nvSpPr>
          <p:spPr>
            <a:xfrm>
              <a:off x="3352800" y="34290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43" name="node08"/>
          <p:cNvGrpSpPr/>
          <p:nvPr/>
        </p:nvGrpSpPr>
        <p:grpSpPr>
          <a:xfrm>
            <a:off x="1524000" y="3657600"/>
            <a:ext cx="3657600" cy="1"/>
            <a:chOff x="1524000" y="3657600"/>
            <a:chExt cx="3657600" cy="1"/>
          </a:xfrm>
        </p:grpSpPr>
        <p:sp>
          <p:nvSpPr>
            <p:cNvPr id="19" name="node08.segment-1"/>
            <p:cNvSpPr/>
            <p:nvPr/>
          </p:nvSpPr>
          <p:spPr>
            <a:xfrm>
              <a:off x="1524000" y="3657600"/>
              <a:ext cx="3657600" cy="0"/>
            </a:xfrm>
            <a:custGeom>
              <a:avLst/>
              <a:gdLst/>
              <a:ahLst/>
              <a:cxnLst/>
              <a:rect l="l" t="t" r="r" b="b"/>
              <a:pathLst>
                <a:path w="3657600">
                  <a:moveTo>
                    <a:pt x="0" y="0"/>
                  </a:moveTo>
                  <a:lnTo>
                    <a:pt x="3657600" y="0"/>
                  </a:lnTo>
                </a:path>
              </a:pathLst>
            </a:custGeom>
            <a:ln w="12700">
              <a:solidFill>
                <a:srgbClr val="070154"/>
              </a:solidFill>
              <a:prstDash val="solid"/>
            </a:ln>
          </p:spPr>
        </p:sp>
      </p:grpSp>
      <p:grpSp>
        <p:nvGrpSpPr>
          <p:cNvPr id="44" name="node09"/>
          <p:cNvGrpSpPr/>
          <p:nvPr/>
        </p:nvGrpSpPr>
        <p:grpSpPr>
          <a:xfrm>
            <a:off x="1524000" y="3657600"/>
            <a:ext cx="1" cy="228600"/>
            <a:chOff x="1524000" y="3657600"/>
            <a:chExt cx="1" cy="228600"/>
          </a:xfrm>
        </p:grpSpPr>
        <p:sp>
          <p:nvSpPr>
            <p:cNvPr id="20" name="node09.segment-1"/>
            <p:cNvSpPr/>
            <p:nvPr/>
          </p:nvSpPr>
          <p:spPr>
            <a:xfrm>
              <a:off x="1524000" y="36576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45" name="node10"/>
          <p:cNvGrpSpPr/>
          <p:nvPr/>
        </p:nvGrpSpPr>
        <p:grpSpPr>
          <a:xfrm>
            <a:off x="3352800" y="3657600"/>
            <a:ext cx="1" cy="228600"/>
            <a:chOff x="3352800" y="3657600"/>
            <a:chExt cx="1" cy="228600"/>
          </a:xfrm>
        </p:grpSpPr>
        <p:sp>
          <p:nvSpPr>
            <p:cNvPr id="21" name="node10.segment-1"/>
            <p:cNvSpPr/>
            <p:nvPr/>
          </p:nvSpPr>
          <p:spPr>
            <a:xfrm>
              <a:off x="3352800" y="36576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46" name="node11"/>
          <p:cNvGrpSpPr/>
          <p:nvPr/>
        </p:nvGrpSpPr>
        <p:grpSpPr>
          <a:xfrm>
            <a:off x="5181600" y="3657600"/>
            <a:ext cx="1" cy="228600"/>
            <a:chOff x="5181600" y="3657600"/>
            <a:chExt cx="1" cy="228600"/>
          </a:xfrm>
        </p:grpSpPr>
        <p:sp>
          <p:nvSpPr>
            <p:cNvPr id="22" name="node11.segment-1"/>
            <p:cNvSpPr/>
            <p:nvPr/>
          </p:nvSpPr>
          <p:spPr>
            <a:xfrm>
              <a:off x="5181600" y="36576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47" name="node12"/>
          <p:cNvGrpSpPr/>
          <p:nvPr/>
        </p:nvGrpSpPr>
        <p:grpSpPr>
          <a:xfrm>
            <a:off x="723900" y="5029200"/>
            <a:ext cx="5257800" cy="381000"/>
            <a:chOff x="723900" y="5029200"/>
            <a:chExt cx="5257800" cy="381000"/>
          </a:xfrm>
        </p:grpSpPr>
        <p:sp>
          <p:nvSpPr>
            <p:cNvPr id="23" name="node12.text"/>
            <p:cNvSpPr/>
            <p:nvPr/>
          </p:nvSpPr>
          <p:spPr>
            <a:xfrm>
              <a:off x="723900" y="5029200"/>
              <a:ext cx="5257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Each site champion leads a cell of four to five super users who sit on the floor and answer questions in real time.</a:t>
              </a:r>
              <a:endParaRPr lang="en-US" sz="1100" spc="0" kern="0" b="0" i="0" dirty="0">
                <a:solidFill>
                  <a:srgbClr val="50658E"/>
                </a:solidFill>
                <a:latin typeface="IBM Plex Sans"/>
                <a:ea typeface="IBM Plex Sans"/>
                <a:cs typeface="IBM Plex Sans"/>
              </a:endParaRPr>
            </a:p>
          </p:txBody>
        </p:sp>
      </p:grpSp>
      <p:grpSp>
        <p:nvGrpSpPr>
          <p:cNvPr id="48" name="node13"/>
          <p:cNvGrpSpPr/>
          <p:nvPr/>
        </p:nvGrpSpPr>
        <p:grpSpPr>
          <a:xfrm>
            <a:off x="6667500" y="1600200"/>
            <a:ext cx="4800600" cy="2832100"/>
            <a:chOff x="6667500" y="1600200"/>
            <a:chExt cx="4800600" cy="2832100"/>
          </a:xfrm>
        </p:grpSpPr>
        <p:sp>
          <p:nvSpPr>
            <p:cNvPr id="24" name="node13.source-001.number"/>
            <p:cNvSpPr/>
            <p:nvPr/>
          </p:nvSpPr>
          <p:spPr>
            <a:xfrm>
              <a:off x="6667500" y="16002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25" name="node13.source-001.title"/>
            <p:cNvSpPr/>
            <p:nvPr/>
          </p:nvSpPr>
          <p:spPr>
            <a:xfrm>
              <a:off x="7200900" y="1600200"/>
              <a:ext cx="4267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Sponsor</a:t>
              </a:r>
              <a:endParaRPr lang="en-US" sz="1200" spc="0" kern="0" b="0" i="0" dirty="0">
                <a:solidFill>
                  <a:srgbClr val="070154"/>
                </a:solidFill>
                <a:latin typeface="IBM Plex Sans SemiBold"/>
                <a:ea typeface="IBM Plex Sans SemiBold"/>
                <a:cs typeface="IBM Plex Sans SemiBold"/>
              </a:endParaRPr>
            </a:p>
          </p:txBody>
        </p:sp>
        <p:sp>
          <p:nvSpPr>
            <p:cNvPr id="26" name="node13.source-001.text"/>
            <p:cNvSpPr/>
            <p:nvPr/>
          </p:nvSpPr>
          <p:spPr>
            <a:xfrm>
              <a:off x="7200900" y="1816100"/>
              <a:ext cx="4267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Removes blockers, speaks at every town hall, owns the go/no-go vote.</a:t>
              </a:r>
              <a:endParaRPr lang="en-US" sz="1200" spc="0" kern="0" b="0" i="0" dirty="0">
                <a:solidFill>
                  <a:srgbClr val="50658E"/>
                </a:solidFill>
                <a:latin typeface="IBM Plex Sans"/>
                <a:ea typeface="IBM Plex Sans"/>
                <a:cs typeface="IBM Plex Sans"/>
              </a:endParaRPr>
            </a:p>
          </p:txBody>
        </p:sp>
        <p:sp>
          <p:nvSpPr>
            <p:cNvPr id="27" name="node13.source-002.number"/>
            <p:cNvSpPr/>
            <p:nvPr/>
          </p:nvSpPr>
          <p:spPr>
            <a:xfrm>
              <a:off x="6667500" y="24003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28" name="node13.source-002.title"/>
            <p:cNvSpPr/>
            <p:nvPr/>
          </p:nvSpPr>
          <p:spPr>
            <a:xfrm>
              <a:off x="7200900" y="2400300"/>
              <a:ext cx="4267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Change lead</a:t>
              </a:r>
              <a:endParaRPr lang="en-US" sz="1200" spc="0" kern="0" b="0" i="0" dirty="0">
                <a:solidFill>
                  <a:srgbClr val="070154"/>
                </a:solidFill>
                <a:latin typeface="IBM Plex Sans SemiBold"/>
                <a:ea typeface="IBM Plex Sans SemiBold"/>
                <a:cs typeface="IBM Plex Sans SemiBold"/>
              </a:endParaRPr>
            </a:p>
          </p:txBody>
        </p:sp>
        <p:sp>
          <p:nvSpPr>
            <p:cNvPr id="29" name="node13.source-002.text"/>
            <p:cNvSpPr/>
            <p:nvPr/>
          </p:nvSpPr>
          <p:spPr>
            <a:xfrm>
              <a:off x="7200900" y="2616200"/>
              <a:ext cx="4267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Runs the network, tracks adoption and reports weekly to the steering committee.</a:t>
              </a:r>
              <a:endParaRPr lang="en-US" sz="1200" spc="0" kern="0" b="0" i="0" dirty="0">
                <a:solidFill>
                  <a:srgbClr val="50658E"/>
                </a:solidFill>
                <a:latin typeface="IBM Plex Sans"/>
                <a:ea typeface="IBM Plex Sans"/>
                <a:cs typeface="IBM Plex Sans"/>
              </a:endParaRPr>
            </a:p>
          </p:txBody>
        </p:sp>
        <p:sp>
          <p:nvSpPr>
            <p:cNvPr id="30" name="node13.source-003.number"/>
            <p:cNvSpPr/>
            <p:nvPr/>
          </p:nvSpPr>
          <p:spPr>
            <a:xfrm>
              <a:off x="6667500" y="3200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31" name="node13.source-003.title"/>
            <p:cNvSpPr/>
            <p:nvPr/>
          </p:nvSpPr>
          <p:spPr>
            <a:xfrm>
              <a:off x="7200900" y="3200400"/>
              <a:ext cx="4267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Champions</a:t>
              </a:r>
              <a:endParaRPr lang="en-US" sz="1200" spc="0" kern="0" b="0" i="0" dirty="0">
                <a:solidFill>
                  <a:srgbClr val="070154"/>
                </a:solidFill>
                <a:latin typeface="IBM Plex Sans SemiBold"/>
                <a:ea typeface="IBM Plex Sans SemiBold"/>
                <a:cs typeface="IBM Plex Sans SemiBold"/>
              </a:endParaRPr>
            </a:p>
          </p:txBody>
        </p:sp>
        <p:sp>
          <p:nvSpPr>
            <p:cNvPr id="32" name="node13.source-003.text"/>
            <p:cNvSpPr/>
            <p:nvPr/>
          </p:nvSpPr>
          <p:spPr>
            <a:xfrm>
              <a:off x="7200900" y="3416300"/>
              <a:ext cx="4267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Two hours a week; coach peers, gather feedback, relay local risks.</a:t>
              </a:r>
              <a:endParaRPr lang="en-US" sz="1200" spc="0" kern="0" b="0" i="0" dirty="0">
                <a:solidFill>
                  <a:srgbClr val="50658E"/>
                </a:solidFill>
                <a:latin typeface="IBM Plex Sans"/>
                <a:ea typeface="IBM Plex Sans"/>
                <a:cs typeface="IBM Plex Sans"/>
              </a:endParaRPr>
            </a:p>
          </p:txBody>
        </p:sp>
        <p:sp>
          <p:nvSpPr>
            <p:cNvPr id="33" name="node13.source-004.number"/>
            <p:cNvSpPr/>
            <p:nvPr/>
          </p:nvSpPr>
          <p:spPr>
            <a:xfrm>
              <a:off x="6667500" y="40005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34" name="node13.source-004.title"/>
            <p:cNvSpPr/>
            <p:nvPr/>
          </p:nvSpPr>
          <p:spPr>
            <a:xfrm>
              <a:off x="7200900" y="4000500"/>
              <a:ext cx="4267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Super users</a:t>
              </a:r>
              <a:endParaRPr lang="en-US" sz="1200" spc="0" kern="0" b="0" i="0" dirty="0">
                <a:solidFill>
                  <a:srgbClr val="070154"/>
                </a:solidFill>
                <a:latin typeface="IBM Plex Sans SemiBold"/>
                <a:ea typeface="IBM Plex Sans SemiBold"/>
                <a:cs typeface="IBM Plex Sans SemiBold"/>
              </a:endParaRPr>
            </a:p>
          </p:txBody>
        </p:sp>
        <p:sp>
          <p:nvSpPr>
            <p:cNvPr id="35" name="node13.source-004.text"/>
            <p:cNvSpPr/>
            <p:nvPr/>
          </p:nvSpPr>
          <p:spPr>
            <a:xfrm>
              <a:off x="7200900" y="4216400"/>
              <a:ext cx="4267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One hour a week; first-line help and a daily tip for their floor.</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ource-31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CHANGE NETWORK</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roles, each with a clear job and a time commitment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change plan; sample figures for layout only.</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203</a:t>
            </a:fld>
            <a:endParaRPr lang="en-US" sz="700" spc="0" kern="0" b="0" i="0" dirty="0">
              <a:solidFill>
                <a:srgbClr val="070154"/>
              </a:solidFill>
              <a:latin typeface="IBM Plex Mono SemiBold"/>
              <a:ea typeface="IBM Plex Mono SemiBold"/>
              <a:cs typeface="IBM Plex Mono SemiBold"/>
            </a:endParaRPr>
          </a:p>
        </p:txBody>
      </p:sp>
      <p:grpSp>
        <p:nvGrpSpPr>
          <p:cNvPr id="73" name="node01"/>
          <p:cNvGrpSpPr/>
          <p:nvPr/>
        </p:nvGrpSpPr>
        <p:grpSpPr>
          <a:xfrm>
            <a:off x="723900" y="1600200"/>
            <a:ext cx="10744200" cy="3200400"/>
            <a:chOff x="723900" y="1600200"/>
            <a:chExt cx="10744200" cy="3200400"/>
          </a:xfrm>
        </p:grpSpPr>
        <p:grpSp>
          <p:nvGrpSpPr>
            <p:cNvPr id="69" name="node01.item-001"/>
            <p:cNvGrpSpPr/>
            <p:nvPr/>
          </p:nvGrpSpPr>
          <p:grpSpPr>
            <a:xfrm>
              <a:off x="723900" y="1600200"/>
              <a:ext cx="2514600" cy="3200400"/>
              <a:chOff x="723900" y="1600200"/>
              <a:chExt cx="2514600" cy="3200400"/>
            </a:xfrm>
          </p:grpSpPr>
          <p:sp>
            <p:nvSpPr>
              <p:cNvPr id="7" name="node01.item-001.container"/>
              <p:cNvSpPr/>
              <p:nvPr/>
            </p:nvSpPr>
            <p:spPr>
              <a:xfrm>
                <a:off x="730250" y="1606550"/>
                <a:ext cx="2501900" cy="3187700"/>
              </a:xfrm>
              <a:prstGeom prst="rect">
                <a:avLst/>
              </a:prstGeom>
              <a:solidFill>
                <a:srgbClr val="FFFFFF"/>
              </a:solidFill>
              <a:ln w="12700">
                <a:solidFill>
                  <a:srgbClr val="CED7E6"/>
                </a:solidFill>
                <a:prstDash val="solid"/>
              </a:ln>
            </p:spPr>
          </p:sp>
          <p:sp>
            <p:nvSpPr>
              <p:cNvPr id="8" name="node01.item-001.band"/>
              <p:cNvSpPr/>
              <p:nvPr/>
            </p:nvSpPr>
            <p:spPr>
              <a:xfrm>
                <a:off x="723900" y="1600200"/>
                <a:ext cx="2514600" cy="571500"/>
              </a:xfrm>
              <a:prstGeom prst="rect">
                <a:avLst/>
              </a:prstGeom>
              <a:solidFill>
                <a:srgbClr val="070154"/>
              </a:solidFill>
              <a:ln>
                <a:noFill/>
              </a:ln>
            </p:spPr>
          </p:sp>
          <p:sp>
            <p:nvSpPr>
              <p:cNvPr id="9" name="node01.item-001.number"/>
              <p:cNvSpPr/>
              <p:nvPr/>
            </p:nvSpPr>
            <p:spPr>
              <a:xfrm>
                <a:off x="8763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01</a:t>
                </a:r>
                <a:endParaRPr lang="en-US" sz="1600" spc="0" kern="0" b="0" i="0" dirty="0">
                  <a:solidFill>
                    <a:srgbClr val="F900D3"/>
                  </a:solidFill>
                  <a:latin typeface="IBM Plex Mono SemiBold"/>
                  <a:ea typeface="IBM Plex Mono SemiBold"/>
                  <a:cs typeface="IBM Plex Mono SemiBold"/>
                </a:endParaRPr>
              </a:p>
            </p:txBody>
          </p:sp>
          <p:sp>
            <p:nvSpPr>
              <p:cNvPr id="10" name="node01.item-001.title"/>
              <p:cNvSpPr/>
              <p:nvPr/>
            </p:nvSpPr>
            <p:spPr>
              <a:xfrm>
                <a:off x="1247775" y="17523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Sponsor</a:t>
                </a:r>
                <a:endParaRPr lang="en-US" sz="1600" spc="-16" kern="0" b="0" i="0" dirty="0">
                  <a:solidFill>
                    <a:srgbClr val="FFFFFF"/>
                  </a:solidFill>
                  <a:latin typeface="IBM Plex Sans SemiBold"/>
                  <a:ea typeface="IBM Plex Sans SemiBold"/>
                  <a:cs typeface="IBM Plex Sans SemiBold"/>
                </a:endParaRPr>
              </a:p>
            </p:txBody>
          </p:sp>
          <p:sp>
            <p:nvSpPr>
              <p:cNvPr id="11" name="node01.item-001.body.item-001.label"/>
              <p:cNvSpPr/>
              <p:nvPr/>
            </p:nvSpPr>
            <p:spPr>
              <a:xfrm>
                <a:off x="876300" y="2171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TIME</a:t>
                </a:r>
                <a:endParaRPr lang="en-US" sz="800" spc="48" kern="0" b="0" i="0" dirty="0">
                  <a:solidFill>
                    <a:srgbClr val="0047FF"/>
                  </a:solidFill>
                  <a:latin typeface="IBM Plex Mono Medium"/>
                  <a:ea typeface="IBM Plex Mono Medium"/>
                  <a:cs typeface="IBM Plex Mono Medium"/>
                </a:endParaRPr>
              </a:p>
            </p:txBody>
          </p:sp>
          <p:sp>
            <p:nvSpPr>
              <p:cNvPr id="12" name="node01.item-001.body.item-002.paragraph"/>
              <p:cNvSpPr/>
              <p:nvPr/>
            </p:nvSpPr>
            <p:spPr>
              <a:xfrm>
                <a:off x="876300" y="2387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2 hours a month</a:t>
                </a:r>
                <a:endParaRPr lang="en-US" sz="1200" spc="0" kern="0" b="0" i="0" dirty="0">
                  <a:solidFill>
                    <a:srgbClr val="50658E"/>
                  </a:solidFill>
                  <a:latin typeface="IBM Plex Sans"/>
                  <a:ea typeface="IBM Plex Sans"/>
                  <a:cs typeface="IBM Plex Sans"/>
                </a:endParaRPr>
              </a:p>
            </p:txBody>
          </p:sp>
          <p:sp>
            <p:nvSpPr>
              <p:cNvPr id="13" name="node01.item-001.body.item-003.label"/>
              <p:cNvSpPr/>
              <p:nvPr/>
            </p:nvSpPr>
            <p:spPr>
              <a:xfrm>
                <a:off x="876300" y="2679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DOES</a:t>
                </a:r>
                <a:endParaRPr lang="en-US" sz="800" spc="48" kern="0" b="0" i="0" dirty="0">
                  <a:solidFill>
                    <a:srgbClr val="0047FF"/>
                  </a:solidFill>
                  <a:latin typeface="IBM Plex Mono Medium"/>
                  <a:ea typeface="IBM Plex Mono Medium"/>
                  <a:cs typeface="IBM Plex Mono Medium"/>
                </a:endParaRPr>
              </a:p>
            </p:txBody>
          </p:sp>
          <p:sp>
            <p:nvSpPr>
              <p:cNvPr id="14" name="node01.item-001.body.item-004.bullets.item-001.marker"/>
              <p:cNvSpPr/>
              <p:nvPr/>
            </p:nvSpPr>
            <p:spPr>
              <a:xfrm>
                <a:off x="876300" y="2984500"/>
                <a:ext cx="38100" cy="38100"/>
              </a:xfrm>
              <a:prstGeom prst="rect">
                <a:avLst/>
              </a:prstGeom>
              <a:solidFill>
                <a:srgbClr val="070154"/>
              </a:solidFill>
              <a:ln>
                <a:noFill/>
              </a:ln>
            </p:spPr>
          </p:sp>
          <p:sp>
            <p:nvSpPr>
              <p:cNvPr id="15" name="node01.item-001.body.item-004.bullets.item-001.text"/>
              <p:cNvSpPr/>
              <p:nvPr/>
            </p:nvSpPr>
            <p:spPr>
              <a:xfrm>
                <a:off x="1028700" y="2895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Clears blockers</a:t>
                </a:r>
                <a:endParaRPr lang="en-US" sz="1200" spc="0" kern="0" b="0" i="0" dirty="0">
                  <a:solidFill>
                    <a:srgbClr val="070154"/>
                  </a:solidFill>
                  <a:latin typeface="IBM Plex Sans"/>
                  <a:ea typeface="IBM Plex Sans"/>
                  <a:cs typeface="IBM Plex Sans"/>
                </a:endParaRPr>
              </a:p>
            </p:txBody>
          </p:sp>
          <p:sp>
            <p:nvSpPr>
              <p:cNvPr id="16" name="node01.item-001.body.item-004.bullets.item-002.marker"/>
              <p:cNvSpPr/>
              <p:nvPr/>
            </p:nvSpPr>
            <p:spPr>
              <a:xfrm>
                <a:off x="876300" y="3238500"/>
                <a:ext cx="38100" cy="38100"/>
              </a:xfrm>
              <a:prstGeom prst="rect">
                <a:avLst/>
              </a:prstGeom>
              <a:solidFill>
                <a:srgbClr val="070154"/>
              </a:solidFill>
              <a:ln>
                <a:noFill/>
              </a:ln>
            </p:spPr>
          </p:sp>
          <p:sp>
            <p:nvSpPr>
              <p:cNvPr id="17" name="node01.item-001.body.item-004.bullets.item-002.text"/>
              <p:cNvSpPr/>
              <p:nvPr/>
            </p:nvSpPr>
            <p:spPr>
              <a:xfrm>
                <a:off x="1028700" y="3149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Speaks at town halls</a:t>
                </a:r>
                <a:endParaRPr lang="en-US" sz="1200" spc="0" kern="0" b="0" i="0" dirty="0">
                  <a:solidFill>
                    <a:srgbClr val="070154"/>
                  </a:solidFill>
                  <a:latin typeface="IBM Plex Sans"/>
                  <a:ea typeface="IBM Plex Sans"/>
                  <a:cs typeface="IBM Plex Sans"/>
                </a:endParaRPr>
              </a:p>
            </p:txBody>
          </p:sp>
          <p:sp>
            <p:nvSpPr>
              <p:cNvPr id="18" name="node01.item-001.body.item-004.bullets.item-003.marker"/>
              <p:cNvSpPr/>
              <p:nvPr/>
            </p:nvSpPr>
            <p:spPr>
              <a:xfrm>
                <a:off x="876300" y="3492500"/>
                <a:ext cx="38100" cy="38100"/>
              </a:xfrm>
              <a:prstGeom prst="rect">
                <a:avLst/>
              </a:prstGeom>
              <a:solidFill>
                <a:srgbClr val="070154"/>
              </a:solidFill>
              <a:ln>
                <a:noFill/>
              </a:ln>
            </p:spPr>
          </p:sp>
          <p:sp>
            <p:nvSpPr>
              <p:cNvPr id="19" name="node01.item-001.body.item-004.bullets.item-003.text"/>
              <p:cNvSpPr/>
              <p:nvPr/>
            </p:nvSpPr>
            <p:spPr>
              <a:xfrm>
                <a:off x="1028700" y="3403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Owns go/no-go</a:t>
                </a:r>
                <a:endParaRPr lang="en-US" sz="1200" spc="0" kern="0" b="0" i="0" dirty="0">
                  <a:solidFill>
                    <a:srgbClr val="070154"/>
                  </a:solidFill>
                  <a:latin typeface="IBM Plex Sans"/>
                  <a:ea typeface="IBM Plex Sans"/>
                  <a:cs typeface="IBM Plex Sans"/>
                </a:endParaRPr>
              </a:p>
            </p:txBody>
          </p:sp>
          <p:sp>
            <p:nvSpPr>
              <p:cNvPr id="20" name="node01.item-001.body.item-004.bullets.item-004.marker"/>
              <p:cNvSpPr/>
              <p:nvPr/>
            </p:nvSpPr>
            <p:spPr>
              <a:xfrm>
                <a:off x="876300" y="3746500"/>
                <a:ext cx="38100" cy="38100"/>
              </a:xfrm>
              <a:prstGeom prst="rect">
                <a:avLst/>
              </a:prstGeom>
              <a:solidFill>
                <a:srgbClr val="070154"/>
              </a:solidFill>
              <a:ln>
                <a:noFill/>
              </a:ln>
            </p:spPr>
          </p:sp>
          <p:sp>
            <p:nvSpPr>
              <p:cNvPr id="21" name="node01.item-001.body.item-004.bullets.item-004.text"/>
              <p:cNvSpPr/>
              <p:nvPr/>
            </p:nvSpPr>
            <p:spPr>
              <a:xfrm>
                <a:off x="1028700" y="3657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Reviews adoption monthly</a:t>
                </a:r>
                <a:endParaRPr lang="en-US" sz="1200" spc="0" kern="0" b="0" i="0" dirty="0">
                  <a:solidFill>
                    <a:srgbClr val="070154"/>
                  </a:solidFill>
                  <a:latin typeface="IBM Plex Sans"/>
                  <a:ea typeface="IBM Plex Sans"/>
                  <a:cs typeface="IBM Plex Sans"/>
                </a:endParaRPr>
              </a:p>
            </p:txBody>
          </p:sp>
        </p:grpSp>
        <p:grpSp>
          <p:nvGrpSpPr>
            <p:cNvPr id="70" name="node01.item-002"/>
            <p:cNvGrpSpPr/>
            <p:nvPr/>
          </p:nvGrpSpPr>
          <p:grpSpPr>
            <a:xfrm>
              <a:off x="3467100" y="1600200"/>
              <a:ext cx="2514600" cy="3200400"/>
              <a:chOff x="3467100" y="1600200"/>
              <a:chExt cx="2514600" cy="3200400"/>
            </a:xfrm>
          </p:grpSpPr>
          <p:sp>
            <p:nvSpPr>
              <p:cNvPr id="22" name="node01.item-002.container"/>
              <p:cNvSpPr/>
              <p:nvPr/>
            </p:nvSpPr>
            <p:spPr>
              <a:xfrm>
                <a:off x="3473450" y="1606550"/>
                <a:ext cx="2501900" cy="3187700"/>
              </a:xfrm>
              <a:prstGeom prst="rect">
                <a:avLst/>
              </a:prstGeom>
              <a:solidFill>
                <a:srgbClr val="FFFFFF"/>
              </a:solidFill>
              <a:ln w="12700">
                <a:solidFill>
                  <a:srgbClr val="CED7E6"/>
                </a:solidFill>
                <a:prstDash val="solid"/>
              </a:ln>
            </p:spPr>
          </p:sp>
          <p:sp>
            <p:nvSpPr>
              <p:cNvPr id="23" name="node01.item-002.band"/>
              <p:cNvSpPr/>
              <p:nvPr/>
            </p:nvSpPr>
            <p:spPr>
              <a:xfrm>
                <a:off x="3467100" y="1600200"/>
                <a:ext cx="2514600" cy="571500"/>
              </a:xfrm>
              <a:prstGeom prst="rect">
                <a:avLst/>
              </a:prstGeom>
              <a:solidFill>
                <a:srgbClr val="070154"/>
              </a:solidFill>
              <a:ln>
                <a:noFill/>
              </a:ln>
            </p:spPr>
          </p:sp>
          <p:sp>
            <p:nvSpPr>
              <p:cNvPr id="24" name="node01.item-002.number"/>
              <p:cNvSpPr/>
              <p:nvPr/>
            </p:nvSpPr>
            <p:spPr>
              <a:xfrm>
                <a:off x="36195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02</a:t>
                </a:r>
                <a:endParaRPr lang="en-US" sz="1600" spc="0" kern="0" b="0" i="0" dirty="0">
                  <a:solidFill>
                    <a:srgbClr val="F900D3"/>
                  </a:solidFill>
                  <a:latin typeface="IBM Plex Mono SemiBold"/>
                  <a:ea typeface="IBM Plex Mono SemiBold"/>
                  <a:cs typeface="IBM Plex Mono SemiBold"/>
                </a:endParaRPr>
              </a:p>
            </p:txBody>
          </p:sp>
          <p:sp>
            <p:nvSpPr>
              <p:cNvPr id="25" name="node01.item-002.title"/>
              <p:cNvSpPr/>
              <p:nvPr/>
            </p:nvSpPr>
            <p:spPr>
              <a:xfrm>
                <a:off x="3990975" y="17523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Change lead</a:t>
                </a:r>
                <a:endParaRPr lang="en-US" sz="1600" spc="-16" kern="0" b="0" i="0" dirty="0">
                  <a:solidFill>
                    <a:srgbClr val="FFFFFF"/>
                  </a:solidFill>
                  <a:latin typeface="IBM Plex Sans SemiBold"/>
                  <a:ea typeface="IBM Plex Sans SemiBold"/>
                  <a:cs typeface="IBM Plex Sans SemiBold"/>
                </a:endParaRPr>
              </a:p>
            </p:txBody>
          </p:sp>
          <p:sp>
            <p:nvSpPr>
              <p:cNvPr id="26" name="node01.item-002.body.item-001.label"/>
              <p:cNvSpPr/>
              <p:nvPr/>
            </p:nvSpPr>
            <p:spPr>
              <a:xfrm>
                <a:off x="3619500" y="2171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TIME</a:t>
                </a:r>
                <a:endParaRPr lang="en-US" sz="800" spc="48" kern="0" b="0" i="0" dirty="0">
                  <a:solidFill>
                    <a:srgbClr val="0047FF"/>
                  </a:solidFill>
                  <a:latin typeface="IBM Plex Mono Medium"/>
                  <a:ea typeface="IBM Plex Mono Medium"/>
                  <a:cs typeface="IBM Plex Mono Medium"/>
                </a:endParaRPr>
              </a:p>
            </p:txBody>
          </p:sp>
          <p:sp>
            <p:nvSpPr>
              <p:cNvPr id="27" name="node01.item-002.body.item-002.paragraph"/>
              <p:cNvSpPr/>
              <p:nvPr/>
            </p:nvSpPr>
            <p:spPr>
              <a:xfrm>
                <a:off x="3619500" y="2387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Full time</a:t>
                </a:r>
                <a:endParaRPr lang="en-US" sz="1200" spc="0" kern="0" b="0" i="0" dirty="0">
                  <a:solidFill>
                    <a:srgbClr val="50658E"/>
                  </a:solidFill>
                  <a:latin typeface="IBM Plex Sans"/>
                  <a:ea typeface="IBM Plex Sans"/>
                  <a:cs typeface="IBM Plex Sans"/>
                </a:endParaRPr>
              </a:p>
            </p:txBody>
          </p:sp>
          <p:sp>
            <p:nvSpPr>
              <p:cNvPr id="28" name="node01.item-002.body.item-003.label"/>
              <p:cNvSpPr/>
              <p:nvPr/>
            </p:nvSpPr>
            <p:spPr>
              <a:xfrm>
                <a:off x="3619500" y="2679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DOES</a:t>
                </a:r>
                <a:endParaRPr lang="en-US" sz="800" spc="48" kern="0" b="0" i="0" dirty="0">
                  <a:solidFill>
                    <a:srgbClr val="0047FF"/>
                  </a:solidFill>
                  <a:latin typeface="IBM Plex Mono Medium"/>
                  <a:ea typeface="IBM Plex Mono Medium"/>
                  <a:cs typeface="IBM Plex Mono Medium"/>
                </a:endParaRPr>
              </a:p>
            </p:txBody>
          </p:sp>
          <p:sp>
            <p:nvSpPr>
              <p:cNvPr id="29" name="node01.item-002.body.item-004.bullets.item-001.marker"/>
              <p:cNvSpPr/>
              <p:nvPr/>
            </p:nvSpPr>
            <p:spPr>
              <a:xfrm>
                <a:off x="3619500" y="2984500"/>
                <a:ext cx="38100" cy="38100"/>
              </a:xfrm>
              <a:prstGeom prst="rect">
                <a:avLst/>
              </a:prstGeom>
              <a:solidFill>
                <a:srgbClr val="070154"/>
              </a:solidFill>
              <a:ln>
                <a:noFill/>
              </a:ln>
            </p:spPr>
          </p:sp>
          <p:sp>
            <p:nvSpPr>
              <p:cNvPr id="30" name="node01.item-002.body.item-004.bullets.item-001.text"/>
              <p:cNvSpPr/>
              <p:nvPr/>
            </p:nvSpPr>
            <p:spPr>
              <a:xfrm>
                <a:off x="3771900" y="2895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Runs the network</a:t>
                </a:r>
                <a:endParaRPr lang="en-US" sz="1200" spc="0" kern="0" b="0" i="0" dirty="0">
                  <a:solidFill>
                    <a:srgbClr val="070154"/>
                  </a:solidFill>
                  <a:latin typeface="IBM Plex Sans"/>
                  <a:ea typeface="IBM Plex Sans"/>
                  <a:cs typeface="IBM Plex Sans"/>
                </a:endParaRPr>
              </a:p>
            </p:txBody>
          </p:sp>
          <p:sp>
            <p:nvSpPr>
              <p:cNvPr id="31" name="node01.item-002.body.item-004.bullets.item-002.marker"/>
              <p:cNvSpPr/>
              <p:nvPr/>
            </p:nvSpPr>
            <p:spPr>
              <a:xfrm>
                <a:off x="3619500" y="3238500"/>
                <a:ext cx="38100" cy="38100"/>
              </a:xfrm>
              <a:prstGeom prst="rect">
                <a:avLst/>
              </a:prstGeom>
              <a:solidFill>
                <a:srgbClr val="070154"/>
              </a:solidFill>
              <a:ln>
                <a:noFill/>
              </a:ln>
            </p:spPr>
          </p:sp>
          <p:sp>
            <p:nvSpPr>
              <p:cNvPr id="32" name="node01.item-002.body.item-004.bullets.item-002.text"/>
              <p:cNvSpPr/>
              <p:nvPr/>
            </p:nvSpPr>
            <p:spPr>
              <a:xfrm>
                <a:off x="3771900" y="3149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Tracks adoption</a:t>
                </a:r>
                <a:endParaRPr lang="en-US" sz="1200" spc="0" kern="0" b="0" i="0" dirty="0">
                  <a:solidFill>
                    <a:srgbClr val="070154"/>
                  </a:solidFill>
                  <a:latin typeface="IBM Plex Sans"/>
                  <a:ea typeface="IBM Plex Sans"/>
                  <a:cs typeface="IBM Plex Sans"/>
                </a:endParaRPr>
              </a:p>
            </p:txBody>
          </p:sp>
          <p:sp>
            <p:nvSpPr>
              <p:cNvPr id="33" name="node01.item-002.body.item-004.bullets.item-003.marker"/>
              <p:cNvSpPr/>
              <p:nvPr/>
            </p:nvSpPr>
            <p:spPr>
              <a:xfrm>
                <a:off x="3619500" y="3492500"/>
                <a:ext cx="38100" cy="38100"/>
              </a:xfrm>
              <a:prstGeom prst="rect">
                <a:avLst/>
              </a:prstGeom>
              <a:solidFill>
                <a:srgbClr val="070154"/>
              </a:solidFill>
              <a:ln>
                <a:noFill/>
              </a:ln>
            </p:spPr>
          </p:sp>
          <p:sp>
            <p:nvSpPr>
              <p:cNvPr id="34" name="node01.item-002.body.item-004.bullets.item-003.text"/>
              <p:cNvSpPr/>
              <p:nvPr/>
            </p:nvSpPr>
            <p:spPr>
              <a:xfrm>
                <a:off x="3771900" y="3403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Reports weekly</a:t>
                </a:r>
                <a:endParaRPr lang="en-US" sz="1200" spc="0" kern="0" b="0" i="0" dirty="0">
                  <a:solidFill>
                    <a:srgbClr val="070154"/>
                  </a:solidFill>
                  <a:latin typeface="IBM Plex Sans"/>
                  <a:ea typeface="IBM Plex Sans"/>
                  <a:cs typeface="IBM Plex Sans"/>
                </a:endParaRPr>
              </a:p>
            </p:txBody>
          </p:sp>
          <p:sp>
            <p:nvSpPr>
              <p:cNvPr id="35" name="node01.item-002.body.item-004.bullets.item-004.marker"/>
              <p:cNvSpPr/>
              <p:nvPr/>
            </p:nvSpPr>
            <p:spPr>
              <a:xfrm>
                <a:off x="3619500" y="3746500"/>
                <a:ext cx="38100" cy="38100"/>
              </a:xfrm>
              <a:prstGeom prst="rect">
                <a:avLst/>
              </a:prstGeom>
              <a:solidFill>
                <a:srgbClr val="070154"/>
              </a:solidFill>
              <a:ln>
                <a:noFill/>
              </a:ln>
            </p:spPr>
          </p:sp>
          <p:sp>
            <p:nvSpPr>
              <p:cNvPr id="36" name="node01.item-002.body.item-004.bullets.item-004.text"/>
              <p:cNvSpPr/>
              <p:nvPr/>
            </p:nvSpPr>
            <p:spPr>
              <a:xfrm>
                <a:off x="3771900" y="3657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Escalates blockers</a:t>
                </a:r>
                <a:endParaRPr lang="en-US" sz="1200" spc="0" kern="0" b="0" i="0" dirty="0">
                  <a:solidFill>
                    <a:srgbClr val="070154"/>
                  </a:solidFill>
                  <a:latin typeface="IBM Plex Sans"/>
                  <a:ea typeface="IBM Plex Sans"/>
                  <a:cs typeface="IBM Plex Sans"/>
                </a:endParaRPr>
              </a:p>
            </p:txBody>
          </p:sp>
        </p:grpSp>
        <p:grpSp>
          <p:nvGrpSpPr>
            <p:cNvPr id="71" name="node01.item-003"/>
            <p:cNvGrpSpPr/>
            <p:nvPr/>
          </p:nvGrpSpPr>
          <p:grpSpPr>
            <a:xfrm>
              <a:off x="6210300" y="1600200"/>
              <a:ext cx="2514600" cy="3200400"/>
              <a:chOff x="6210300" y="1600200"/>
              <a:chExt cx="2514600" cy="3200400"/>
            </a:xfrm>
          </p:grpSpPr>
          <p:sp>
            <p:nvSpPr>
              <p:cNvPr id="37" name="node01.item-003.container"/>
              <p:cNvSpPr/>
              <p:nvPr/>
            </p:nvSpPr>
            <p:spPr>
              <a:xfrm>
                <a:off x="6216650" y="1606550"/>
                <a:ext cx="2501900" cy="3187700"/>
              </a:xfrm>
              <a:prstGeom prst="rect">
                <a:avLst/>
              </a:prstGeom>
              <a:solidFill>
                <a:srgbClr val="FFFFFF"/>
              </a:solidFill>
              <a:ln w="12700">
                <a:solidFill>
                  <a:srgbClr val="CED7E6"/>
                </a:solidFill>
                <a:prstDash val="solid"/>
              </a:ln>
            </p:spPr>
          </p:sp>
          <p:sp>
            <p:nvSpPr>
              <p:cNvPr id="38" name="node01.item-003.band"/>
              <p:cNvSpPr/>
              <p:nvPr/>
            </p:nvSpPr>
            <p:spPr>
              <a:xfrm>
                <a:off x="6210300" y="1600200"/>
                <a:ext cx="2514600" cy="571500"/>
              </a:xfrm>
              <a:prstGeom prst="rect">
                <a:avLst/>
              </a:prstGeom>
              <a:solidFill>
                <a:srgbClr val="070154"/>
              </a:solidFill>
              <a:ln>
                <a:noFill/>
              </a:ln>
            </p:spPr>
          </p:sp>
          <p:sp>
            <p:nvSpPr>
              <p:cNvPr id="39" name="node01.item-003.number"/>
              <p:cNvSpPr/>
              <p:nvPr/>
            </p:nvSpPr>
            <p:spPr>
              <a:xfrm>
                <a:off x="63627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03</a:t>
                </a:r>
                <a:endParaRPr lang="en-US" sz="1600" spc="0" kern="0" b="0" i="0" dirty="0">
                  <a:solidFill>
                    <a:srgbClr val="F900D3"/>
                  </a:solidFill>
                  <a:latin typeface="IBM Plex Mono SemiBold"/>
                  <a:ea typeface="IBM Plex Mono SemiBold"/>
                  <a:cs typeface="IBM Plex Mono SemiBold"/>
                </a:endParaRPr>
              </a:p>
            </p:txBody>
          </p:sp>
          <p:sp>
            <p:nvSpPr>
              <p:cNvPr id="40" name="node01.item-003.title"/>
              <p:cNvSpPr/>
              <p:nvPr/>
            </p:nvSpPr>
            <p:spPr>
              <a:xfrm>
                <a:off x="6734175" y="17523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Site champion</a:t>
                </a:r>
                <a:endParaRPr lang="en-US" sz="1600" spc="-16" kern="0" b="0" i="0" dirty="0">
                  <a:solidFill>
                    <a:srgbClr val="FFFFFF"/>
                  </a:solidFill>
                  <a:latin typeface="IBM Plex Sans SemiBold"/>
                  <a:ea typeface="IBM Plex Sans SemiBold"/>
                  <a:cs typeface="IBM Plex Sans SemiBold"/>
                </a:endParaRPr>
              </a:p>
            </p:txBody>
          </p:sp>
          <p:sp>
            <p:nvSpPr>
              <p:cNvPr id="41" name="node01.item-003.body.item-001.label"/>
              <p:cNvSpPr/>
              <p:nvPr/>
            </p:nvSpPr>
            <p:spPr>
              <a:xfrm>
                <a:off x="6362700" y="2171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TIME</a:t>
                </a:r>
                <a:endParaRPr lang="en-US" sz="800" spc="48" kern="0" b="0" i="0" dirty="0">
                  <a:solidFill>
                    <a:srgbClr val="0047FF"/>
                  </a:solidFill>
                  <a:latin typeface="IBM Plex Mono Medium"/>
                  <a:ea typeface="IBM Plex Mono Medium"/>
                  <a:cs typeface="IBM Plex Mono Medium"/>
                </a:endParaRPr>
              </a:p>
            </p:txBody>
          </p:sp>
          <p:sp>
            <p:nvSpPr>
              <p:cNvPr id="42" name="node01.item-003.body.item-002.paragraph"/>
              <p:cNvSpPr/>
              <p:nvPr/>
            </p:nvSpPr>
            <p:spPr>
              <a:xfrm>
                <a:off x="6362700" y="2387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2 hours a week</a:t>
                </a:r>
                <a:endParaRPr lang="en-US" sz="1200" spc="0" kern="0" b="0" i="0" dirty="0">
                  <a:solidFill>
                    <a:srgbClr val="50658E"/>
                  </a:solidFill>
                  <a:latin typeface="IBM Plex Sans"/>
                  <a:ea typeface="IBM Plex Sans"/>
                  <a:cs typeface="IBM Plex Sans"/>
                </a:endParaRPr>
              </a:p>
            </p:txBody>
          </p:sp>
          <p:sp>
            <p:nvSpPr>
              <p:cNvPr id="43" name="node01.item-003.body.item-003.label"/>
              <p:cNvSpPr/>
              <p:nvPr/>
            </p:nvSpPr>
            <p:spPr>
              <a:xfrm>
                <a:off x="6362700" y="2679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DOES</a:t>
                </a:r>
                <a:endParaRPr lang="en-US" sz="800" spc="48" kern="0" b="0" i="0" dirty="0">
                  <a:solidFill>
                    <a:srgbClr val="0047FF"/>
                  </a:solidFill>
                  <a:latin typeface="IBM Plex Mono Medium"/>
                  <a:ea typeface="IBM Plex Mono Medium"/>
                  <a:cs typeface="IBM Plex Mono Medium"/>
                </a:endParaRPr>
              </a:p>
            </p:txBody>
          </p:sp>
          <p:sp>
            <p:nvSpPr>
              <p:cNvPr id="44" name="node01.item-003.body.item-004.bullets.item-001.marker"/>
              <p:cNvSpPr/>
              <p:nvPr/>
            </p:nvSpPr>
            <p:spPr>
              <a:xfrm>
                <a:off x="6362700" y="2984500"/>
                <a:ext cx="38100" cy="38100"/>
              </a:xfrm>
              <a:prstGeom prst="rect">
                <a:avLst/>
              </a:prstGeom>
              <a:solidFill>
                <a:srgbClr val="070154"/>
              </a:solidFill>
              <a:ln>
                <a:noFill/>
              </a:ln>
            </p:spPr>
          </p:sp>
          <p:sp>
            <p:nvSpPr>
              <p:cNvPr id="45" name="node01.item-003.body.item-004.bullets.item-001.text"/>
              <p:cNvSpPr/>
              <p:nvPr/>
            </p:nvSpPr>
            <p:spPr>
              <a:xfrm>
                <a:off x="6515100" y="2895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Coaches peers</a:t>
                </a:r>
                <a:endParaRPr lang="en-US" sz="1200" spc="0" kern="0" b="0" i="0" dirty="0">
                  <a:solidFill>
                    <a:srgbClr val="070154"/>
                  </a:solidFill>
                  <a:latin typeface="IBM Plex Sans"/>
                  <a:ea typeface="IBM Plex Sans"/>
                  <a:cs typeface="IBM Plex Sans"/>
                </a:endParaRPr>
              </a:p>
            </p:txBody>
          </p:sp>
          <p:sp>
            <p:nvSpPr>
              <p:cNvPr id="46" name="node01.item-003.body.item-004.bullets.item-002.marker"/>
              <p:cNvSpPr/>
              <p:nvPr/>
            </p:nvSpPr>
            <p:spPr>
              <a:xfrm>
                <a:off x="6362700" y="3238500"/>
                <a:ext cx="38100" cy="38100"/>
              </a:xfrm>
              <a:prstGeom prst="rect">
                <a:avLst/>
              </a:prstGeom>
              <a:solidFill>
                <a:srgbClr val="070154"/>
              </a:solidFill>
              <a:ln>
                <a:noFill/>
              </a:ln>
            </p:spPr>
          </p:sp>
          <p:sp>
            <p:nvSpPr>
              <p:cNvPr id="47" name="node01.item-003.body.item-004.bullets.item-002.text"/>
              <p:cNvSpPr/>
              <p:nvPr/>
            </p:nvSpPr>
            <p:spPr>
              <a:xfrm>
                <a:off x="6515100" y="3149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Relays feedback</a:t>
                </a:r>
                <a:endParaRPr lang="en-US" sz="1200" spc="0" kern="0" b="0" i="0" dirty="0">
                  <a:solidFill>
                    <a:srgbClr val="070154"/>
                  </a:solidFill>
                  <a:latin typeface="IBM Plex Sans"/>
                  <a:ea typeface="IBM Plex Sans"/>
                  <a:cs typeface="IBM Plex Sans"/>
                </a:endParaRPr>
              </a:p>
            </p:txBody>
          </p:sp>
          <p:sp>
            <p:nvSpPr>
              <p:cNvPr id="48" name="node01.item-003.body.item-004.bullets.item-003.marker"/>
              <p:cNvSpPr/>
              <p:nvPr/>
            </p:nvSpPr>
            <p:spPr>
              <a:xfrm>
                <a:off x="6362700" y="3492500"/>
                <a:ext cx="38100" cy="38100"/>
              </a:xfrm>
              <a:prstGeom prst="rect">
                <a:avLst/>
              </a:prstGeom>
              <a:solidFill>
                <a:srgbClr val="070154"/>
              </a:solidFill>
              <a:ln>
                <a:noFill/>
              </a:ln>
            </p:spPr>
          </p:sp>
          <p:sp>
            <p:nvSpPr>
              <p:cNvPr id="49" name="node01.item-003.body.item-004.bullets.item-003.text"/>
              <p:cNvSpPr/>
              <p:nvPr/>
            </p:nvSpPr>
            <p:spPr>
              <a:xfrm>
                <a:off x="6515100" y="3403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Flags local risks</a:t>
                </a:r>
                <a:endParaRPr lang="en-US" sz="1200" spc="0" kern="0" b="0" i="0" dirty="0">
                  <a:solidFill>
                    <a:srgbClr val="070154"/>
                  </a:solidFill>
                  <a:latin typeface="IBM Plex Sans"/>
                  <a:ea typeface="IBM Plex Sans"/>
                  <a:cs typeface="IBM Plex Sans"/>
                </a:endParaRPr>
              </a:p>
            </p:txBody>
          </p:sp>
          <p:sp>
            <p:nvSpPr>
              <p:cNvPr id="50" name="node01.item-003.body.item-004.bullets.item-004.marker"/>
              <p:cNvSpPr/>
              <p:nvPr/>
            </p:nvSpPr>
            <p:spPr>
              <a:xfrm>
                <a:off x="6362700" y="3746500"/>
                <a:ext cx="38100" cy="38100"/>
              </a:xfrm>
              <a:prstGeom prst="rect">
                <a:avLst/>
              </a:prstGeom>
              <a:solidFill>
                <a:srgbClr val="070154"/>
              </a:solidFill>
              <a:ln>
                <a:noFill/>
              </a:ln>
            </p:spPr>
          </p:sp>
          <p:sp>
            <p:nvSpPr>
              <p:cNvPr id="51" name="node01.item-003.body.item-004.bullets.item-004.text"/>
              <p:cNvSpPr/>
              <p:nvPr/>
            </p:nvSpPr>
            <p:spPr>
              <a:xfrm>
                <a:off x="6515100" y="3657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Hosts a weekly huddle</a:t>
                </a:r>
                <a:endParaRPr lang="en-US" sz="1200" spc="0" kern="0" b="0" i="0" dirty="0">
                  <a:solidFill>
                    <a:srgbClr val="070154"/>
                  </a:solidFill>
                  <a:latin typeface="IBM Plex Sans"/>
                  <a:ea typeface="IBM Plex Sans"/>
                  <a:cs typeface="IBM Plex Sans"/>
                </a:endParaRPr>
              </a:p>
            </p:txBody>
          </p:sp>
        </p:grpSp>
        <p:grpSp>
          <p:nvGrpSpPr>
            <p:cNvPr id="72" name="node01.item-004"/>
            <p:cNvGrpSpPr/>
            <p:nvPr/>
          </p:nvGrpSpPr>
          <p:grpSpPr>
            <a:xfrm>
              <a:off x="8953500" y="1600200"/>
              <a:ext cx="2514600" cy="3200400"/>
              <a:chOff x="8953500" y="1600200"/>
              <a:chExt cx="2514600" cy="3200400"/>
            </a:xfrm>
          </p:grpSpPr>
          <p:sp>
            <p:nvSpPr>
              <p:cNvPr id="52" name="node01.item-004.container"/>
              <p:cNvSpPr/>
              <p:nvPr/>
            </p:nvSpPr>
            <p:spPr>
              <a:xfrm>
                <a:off x="8959850" y="1606550"/>
                <a:ext cx="2501900" cy="3187700"/>
              </a:xfrm>
              <a:prstGeom prst="rect">
                <a:avLst/>
              </a:prstGeom>
              <a:solidFill>
                <a:srgbClr val="FFFFFF"/>
              </a:solidFill>
              <a:ln w="12700">
                <a:solidFill>
                  <a:srgbClr val="CED7E6"/>
                </a:solidFill>
                <a:prstDash val="solid"/>
              </a:ln>
            </p:spPr>
          </p:sp>
          <p:sp>
            <p:nvSpPr>
              <p:cNvPr id="53" name="node01.item-004.band"/>
              <p:cNvSpPr/>
              <p:nvPr/>
            </p:nvSpPr>
            <p:spPr>
              <a:xfrm>
                <a:off x="8953500" y="1600200"/>
                <a:ext cx="2514600" cy="571500"/>
              </a:xfrm>
              <a:prstGeom prst="rect">
                <a:avLst/>
              </a:prstGeom>
              <a:solidFill>
                <a:srgbClr val="070154"/>
              </a:solidFill>
              <a:ln>
                <a:noFill/>
              </a:ln>
            </p:spPr>
          </p:sp>
          <p:sp>
            <p:nvSpPr>
              <p:cNvPr id="54" name="node01.item-004.number"/>
              <p:cNvSpPr/>
              <p:nvPr/>
            </p:nvSpPr>
            <p:spPr>
              <a:xfrm>
                <a:off x="9105900" y="1752600"/>
                <a:ext cx="257175"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F900D3"/>
                    </a:solidFill>
                    <a:latin typeface="IBM Plex Mono SemiBold"/>
                    <a:ea typeface="IBM Plex Mono SemiBold"/>
                    <a:cs typeface="IBM Plex Mono SemiBold"/>
                  </a:rPr>
                  <a:t>04</a:t>
                </a:r>
                <a:endParaRPr lang="en-US" sz="1600" spc="0" kern="0" b="0" i="0" dirty="0">
                  <a:solidFill>
                    <a:srgbClr val="F900D3"/>
                  </a:solidFill>
                  <a:latin typeface="IBM Plex Mono SemiBold"/>
                  <a:ea typeface="IBM Plex Mono SemiBold"/>
                  <a:cs typeface="IBM Plex Mono SemiBold"/>
                </a:endParaRPr>
              </a:p>
            </p:txBody>
          </p:sp>
          <p:sp>
            <p:nvSpPr>
              <p:cNvPr id="55" name="node01.item-004.title"/>
              <p:cNvSpPr/>
              <p:nvPr/>
            </p:nvSpPr>
            <p:spPr>
              <a:xfrm>
                <a:off x="9477375" y="1752346"/>
                <a:ext cx="1838325"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Super user</a:t>
                </a:r>
                <a:endParaRPr lang="en-US" sz="1600" spc="-16" kern="0" b="0" i="0" dirty="0">
                  <a:solidFill>
                    <a:srgbClr val="FFFFFF"/>
                  </a:solidFill>
                  <a:latin typeface="IBM Plex Sans SemiBold"/>
                  <a:ea typeface="IBM Plex Sans SemiBold"/>
                  <a:cs typeface="IBM Plex Sans SemiBold"/>
                </a:endParaRPr>
              </a:p>
            </p:txBody>
          </p:sp>
          <p:sp>
            <p:nvSpPr>
              <p:cNvPr id="56" name="node01.item-004.body.item-001.label"/>
              <p:cNvSpPr/>
              <p:nvPr/>
            </p:nvSpPr>
            <p:spPr>
              <a:xfrm>
                <a:off x="9105900" y="2171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TIME</a:t>
                </a:r>
                <a:endParaRPr lang="en-US" sz="800" spc="48" kern="0" b="0" i="0" dirty="0">
                  <a:solidFill>
                    <a:srgbClr val="0047FF"/>
                  </a:solidFill>
                  <a:latin typeface="IBM Plex Mono Medium"/>
                  <a:ea typeface="IBM Plex Mono Medium"/>
                  <a:cs typeface="IBM Plex Mono Medium"/>
                </a:endParaRPr>
              </a:p>
            </p:txBody>
          </p:sp>
          <p:sp>
            <p:nvSpPr>
              <p:cNvPr id="57" name="node01.item-004.body.item-002.paragraph"/>
              <p:cNvSpPr/>
              <p:nvPr/>
            </p:nvSpPr>
            <p:spPr>
              <a:xfrm>
                <a:off x="9105900" y="2387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1 hour a week</a:t>
                </a:r>
                <a:endParaRPr lang="en-US" sz="1200" spc="0" kern="0" b="0" i="0" dirty="0">
                  <a:solidFill>
                    <a:srgbClr val="50658E"/>
                  </a:solidFill>
                  <a:latin typeface="IBM Plex Sans"/>
                  <a:ea typeface="IBM Plex Sans"/>
                  <a:cs typeface="IBM Plex Sans"/>
                </a:endParaRPr>
              </a:p>
            </p:txBody>
          </p:sp>
          <p:sp>
            <p:nvSpPr>
              <p:cNvPr id="58" name="node01.item-004.body.item-003.label"/>
              <p:cNvSpPr/>
              <p:nvPr/>
            </p:nvSpPr>
            <p:spPr>
              <a:xfrm>
                <a:off x="9105900" y="26797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DOES</a:t>
                </a:r>
                <a:endParaRPr lang="en-US" sz="800" spc="48" kern="0" b="0" i="0" dirty="0">
                  <a:solidFill>
                    <a:srgbClr val="0047FF"/>
                  </a:solidFill>
                  <a:latin typeface="IBM Plex Mono Medium"/>
                  <a:ea typeface="IBM Plex Mono Medium"/>
                  <a:cs typeface="IBM Plex Mono Medium"/>
                </a:endParaRPr>
              </a:p>
            </p:txBody>
          </p:sp>
          <p:sp>
            <p:nvSpPr>
              <p:cNvPr id="59" name="node01.item-004.body.item-004.bullets.item-001.marker"/>
              <p:cNvSpPr/>
              <p:nvPr/>
            </p:nvSpPr>
            <p:spPr>
              <a:xfrm>
                <a:off x="9105900" y="2984500"/>
                <a:ext cx="38100" cy="38100"/>
              </a:xfrm>
              <a:prstGeom prst="rect">
                <a:avLst/>
              </a:prstGeom>
              <a:solidFill>
                <a:srgbClr val="070154"/>
              </a:solidFill>
              <a:ln>
                <a:noFill/>
              </a:ln>
            </p:spPr>
          </p:sp>
          <p:sp>
            <p:nvSpPr>
              <p:cNvPr id="60" name="node01.item-004.body.item-004.bullets.item-001.text"/>
              <p:cNvSpPr/>
              <p:nvPr/>
            </p:nvSpPr>
            <p:spPr>
              <a:xfrm>
                <a:off x="9258300" y="2895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First-line help</a:t>
                </a:r>
                <a:endParaRPr lang="en-US" sz="1200" spc="0" kern="0" b="0" i="0" dirty="0">
                  <a:solidFill>
                    <a:srgbClr val="070154"/>
                  </a:solidFill>
                  <a:latin typeface="IBM Plex Sans"/>
                  <a:ea typeface="IBM Plex Sans"/>
                  <a:cs typeface="IBM Plex Sans"/>
                </a:endParaRPr>
              </a:p>
            </p:txBody>
          </p:sp>
          <p:sp>
            <p:nvSpPr>
              <p:cNvPr id="61" name="node01.item-004.body.item-004.bullets.item-002.marker"/>
              <p:cNvSpPr/>
              <p:nvPr/>
            </p:nvSpPr>
            <p:spPr>
              <a:xfrm>
                <a:off x="9105900" y="3238500"/>
                <a:ext cx="38100" cy="38100"/>
              </a:xfrm>
              <a:prstGeom prst="rect">
                <a:avLst/>
              </a:prstGeom>
              <a:solidFill>
                <a:srgbClr val="070154"/>
              </a:solidFill>
              <a:ln>
                <a:noFill/>
              </a:ln>
            </p:spPr>
          </p:sp>
          <p:sp>
            <p:nvSpPr>
              <p:cNvPr id="62" name="node01.item-004.body.item-004.bullets.item-002.text"/>
              <p:cNvSpPr/>
              <p:nvPr/>
            </p:nvSpPr>
            <p:spPr>
              <a:xfrm>
                <a:off x="9258300" y="3149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Shares daily tips</a:t>
                </a:r>
                <a:endParaRPr lang="en-US" sz="1200" spc="0" kern="0" b="0" i="0" dirty="0">
                  <a:solidFill>
                    <a:srgbClr val="070154"/>
                  </a:solidFill>
                  <a:latin typeface="IBM Plex Sans"/>
                  <a:ea typeface="IBM Plex Sans"/>
                  <a:cs typeface="IBM Plex Sans"/>
                </a:endParaRPr>
              </a:p>
            </p:txBody>
          </p:sp>
          <p:sp>
            <p:nvSpPr>
              <p:cNvPr id="63" name="node01.item-004.body.item-004.bullets.item-003.marker"/>
              <p:cNvSpPr/>
              <p:nvPr/>
            </p:nvSpPr>
            <p:spPr>
              <a:xfrm>
                <a:off x="9105900" y="3492500"/>
                <a:ext cx="38100" cy="38100"/>
              </a:xfrm>
              <a:prstGeom prst="rect">
                <a:avLst/>
              </a:prstGeom>
              <a:solidFill>
                <a:srgbClr val="070154"/>
              </a:solidFill>
              <a:ln>
                <a:noFill/>
              </a:ln>
            </p:spPr>
          </p:sp>
          <p:sp>
            <p:nvSpPr>
              <p:cNvPr id="64" name="node01.item-004.body.item-004.bullets.item-003.text"/>
              <p:cNvSpPr/>
              <p:nvPr/>
            </p:nvSpPr>
            <p:spPr>
              <a:xfrm>
                <a:off x="9258300" y="3403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Logs issues</a:t>
                </a:r>
                <a:endParaRPr lang="en-US" sz="1200" spc="0" kern="0" b="0" i="0" dirty="0">
                  <a:solidFill>
                    <a:srgbClr val="070154"/>
                  </a:solidFill>
                  <a:latin typeface="IBM Plex Sans"/>
                  <a:ea typeface="IBM Plex Sans"/>
                  <a:cs typeface="IBM Plex Sans"/>
                </a:endParaRPr>
              </a:p>
            </p:txBody>
          </p:sp>
          <p:sp>
            <p:nvSpPr>
              <p:cNvPr id="65" name="node01.item-004.body.item-004.bullets.item-004.marker"/>
              <p:cNvSpPr/>
              <p:nvPr/>
            </p:nvSpPr>
            <p:spPr>
              <a:xfrm>
                <a:off x="9105900" y="3746500"/>
                <a:ext cx="38100" cy="38100"/>
              </a:xfrm>
              <a:prstGeom prst="rect">
                <a:avLst/>
              </a:prstGeom>
              <a:solidFill>
                <a:srgbClr val="070154"/>
              </a:solidFill>
              <a:ln>
                <a:noFill/>
              </a:ln>
            </p:spPr>
          </p:sp>
          <p:sp>
            <p:nvSpPr>
              <p:cNvPr id="66" name="node01.item-004.body.item-004.bullets.item-004.text"/>
              <p:cNvSpPr/>
              <p:nvPr/>
            </p:nvSpPr>
            <p:spPr>
              <a:xfrm>
                <a:off x="9258300" y="36576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Joins daily floor huddle</a:t>
                </a:r>
                <a:endParaRPr lang="en-US" sz="1200" spc="0" kern="0" b="0" i="0" dirty="0">
                  <a:solidFill>
                    <a:srgbClr val="070154"/>
                  </a:solidFill>
                  <a:latin typeface="IBM Plex Sans"/>
                  <a:ea typeface="IBM Plex Sans"/>
                  <a:cs typeface="IBM Plex Sans"/>
                </a:endParaRPr>
              </a:p>
            </p:txBody>
          </p:sp>
        </p:grpSp>
      </p:grpSp>
      <p:grpSp>
        <p:nvGrpSpPr>
          <p:cNvPr id="74" name="node02"/>
          <p:cNvGrpSpPr/>
          <p:nvPr/>
        </p:nvGrpSpPr>
        <p:grpSpPr>
          <a:xfrm>
            <a:off x="723900" y="5029200"/>
            <a:ext cx="10744200" cy="685800"/>
            <a:chOff x="723900" y="5029200"/>
            <a:chExt cx="10744200" cy="685800"/>
          </a:xfrm>
        </p:grpSpPr>
        <p:sp>
          <p:nvSpPr>
            <p:cNvPr id="67" name="node02.container"/>
            <p:cNvSpPr/>
            <p:nvPr/>
          </p:nvSpPr>
          <p:spPr>
            <a:xfrm>
              <a:off x="730250" y="5035550"/>
              <a:ext cx="10731500" cy="673100"/>
            </a:xfrm>
            <a:prstGeom prst="rect">
              <a:avLst/>
            </a:prstGeom>
            <a:solidFill>
              <a:srgbClr val="FFFFFF"/>
            </a:solidFill>
            <a:ln w="12700">
              <a:solidFill>
                <a:srgbClr val="CED7E6"/>
              </a:solidFill>
              <a:prstDash val="solid"/>
            </a:ln>
          </p:spPr>
        </p:sp>
        <p:sp>
          <p:nvSpPr>
            <p:cNvPr id="68" name="node02.title"/>
            <p:cNvSpPr/>
            <p:nvPr/>
          </p:nvSpPr>
          <p:spPr>
            <a:xfrm>
              <a:off x="876300" y="5181600"/>
              <a:ext cx="104394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Ratio: one champion for every 35 staff.</a:t>
              </a:r>
              <a:endParaRPr lang="en-US" sz="1600" spc="-16"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ource-37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Two options, and the one we recommend</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204</a:t>
            </a:fld>
            <a:endParaRPr lang="en-US" sz="700" spc="0" kern="0" b="0" i="0" dirty="0">
              <a:solidFill>
                <a:srgbClr val="070154"/>
              </a:solidFill>
              <a:latin typeface="IBM Plex Mono SemiBold"/>
              <a:ea typeface="IBM Plex Mono SemiBold"/>
              <a:cs typeface="IBM Plex Mono SemiBold"/>
            </a:endParaRPr>
          </a:p>
        </p:txBody>
      </p:sp>
      <p:grpSp>
        <p:nvGrpSpPr>
          <p:cNvPr id="54" name="node01"/>
          <p:cNvGrpSpPr/>
          <p:nvPr/>
        </p:nvGrpSpPr>
        <p:grpSpPr>
          <a:xfrm>
            <a:off x="723900" y="1600200"/>
            <a:ext cx="3429000" cy="4343400"/>
            <a:chOff x="723900" y="1600200"/>
            <a:chExt cx="3429000" cy="4343400"/>
          </a:xfrm>
        </p:grpSpPr>
        <p:sp>
          <p:nvSpPr>
            <p:cNvPr id="6" name="node01.container"/>
            <p:cNvSpPr/>
            <p:nvPr/>
          </p:nvSpPr>
          <p:spPr>
            <a:xfrm>
              <a:off x="730250" y="1606550"/>
              <a:ext cx="3416300" cy="4330700"/>
            </a:xfrm>
            <a:prstGeom prst="rect">
              <a:avLst/>
            </a:prstGeom>
            <a:solidFill>
              <a:srgbClr val="FFFFFF"/>
            </a:solidFill>
            <a:ln w="12700">
              <a:solidFill>
                <a:srgbClr val="CED7E6"/>
              </a:solidFill>
              <a:prstDash val="solid"/>
            </a:ln>
          </p:spPr>
        </p:sp>
        <p:sp>
          <p:nvSpPr>
            <p:cNvPr id="7" name="node01.label"/>
            <p:cNvSpPr/>
            <p:nvPr/>
          </p:nvSpPr>
          <p:spPr>
            <a:xfrm>
              <a:off x="952500" y="18288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OPTION A · DESIGN ONLY</a:t>
              </a:r>
              <a:endParaRPr lang="en-US" sz="800" spc="48" kern="0" b="0" i="0" dirty="0">
                <a:solidFill>
                  <a:srgbClr val="0047FF"/>
                </a:solidFill>
                <a:latin typeface="IBM Plex Mono Medium"/>
                <a:ea typeface="IBM Plex Mono Medium"/>
                <a:cs typeface="IBM Plex Mono Medium"/>
              </a:endParaRPr>
            </a:p>
          </p:txBody>
        </p:sp>
        <p:sp>
          <p:nvSpPr>
            <p:cNvPr id="8" name="node01.title"/>
            <p:cNvSpPr/>
            <p:nvPr/>
          </p:nvSpPr>
          <p:spPr>
            <a:xfrm>
              <a:off x="952500" y="20066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Diagnose and design</a:t>
              </a:r>
              <a:endParaRPr lang="en-US" sz="1600" spc="-16" kern="0" b="0" i="0" dirty="0">
                <a:solidFill>
                  <a:srgbClr val="070154"/>
                </a:solidFill>
                <a:latin typeface="IBM Plex Sans SemiBold"/>
                <a:ea typeface="IBM Plex Sans SemiBold"/>
                <a:cs typeface="IBM Plex Sans SemiBold"/>
              </a:endParaRPr>
            </a:p>
          </p:txBody>
        </p:sp>
        <p:sp>
          <p:nvSpPr>
            <p:cNvPr id="9" name="node01.body.item-001.paragraph"/>
            <p:cNvSpPr/>
            <p:nvPr/>
          </p:nvSpPr>
          <p:spPr>
            <a:xfrm>
              <a:off x="952500" y="23876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Prove the case first, then decide on build.</a:t>
              </a:r>
              <a:endParaRPr lang="en-US" sz="1200" spc="0" kern="0" b="0" i="0" dirty="0">
                <a:solidFill>
                  <a:srgbClr val="50658E"/>
                </a:solidFill>
                <a:latin typeface="IBM Plex Sans"/>
                <a:ea typeface="IBM Plex Sans"/>
                <a:cs typeface="IBM Plex Sans"/>
              </a:endParaRPr>
            </a:p>
          </p:txBody>
        </p:sp>
        <p:sp>
          <p:nvSpPr>
            <p:cNvPr id="10" name="node01.body.item-002.checklist.item-001.marker"/>
            <p:cNvSpPr/>
            <p:nvPr/>
          </p:nvSpPr>
          <p:spPr>
            <a:xfrm>
              <a:off x="952500" y="2730500"/>
              <a:ext cx="152400" cy="152400"/>
            </a:xfrm>
            <a:prstGeom prst="rect">
              <a:avLst/>
            </a:prstGeom>
            <a:solidFill>
              <a:srgbClr val="070154"/>
            </a:solidFill>
            <a:ln>
              <a:noFill/>
            </a:ln>
          </p:spPr>
        </p:sp>
        <p:sp>
          <p:nvSpPr>
            <p:cNvPr id="11" name="node01.body.item-002.checklist.item-001.check"/>
            <p:cNvSpPr/>
            <p:nvPr/>
          </p:nvSpPr>
          <p:spPr>
            <a:xfrm>
              <a:off x="952500" y="27305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12" name="node01.body.item-002.checklist.item-001.text"/>
            <p:cNvSpPr/>
            <p:nvPr/>
          </p:nvSpPr>
          <p:spPr>
            <a:xfrm>
              <a:off x="1219200" y="2679700"/>
              <a:ext cx="2705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diagnostic</a:t>
              </a:r>
              <a:endParaRPr lang="en-US" sz="1200" spc="0" kern="0" b="0" i="0" dirty="0">
                <a:solidFill>
                  <a:srgbClr val="070154"/>
                </a:solidFill>
                <a:latin typeface="IBM Plex Sans"/>
                <a:ea typeface="IBM Plex Sans"/>
                <a:cs typeface="IBM Plex Sans"/>
              </a:endParaRPr>
            </a:p>
          </p:txBody>
        </p:sp>
        <p:sp>
          <p:nvSpPr>
            <p:cNvPr id="13" name="node01.body.item-002.checklist.item-002.marker"/>
            <p:cNvSpPr/>
            <p:nvPr/>
          </p:nvSpPr>
          <p:spPr>
            <a:xfrm>
              <a:off x="952500" y="3022600"/>
              <a:ext cx="152400" cy="152400"/>
            </a:xfrm>
            <a:prstGeom prst="rect">
              <a:avLst/>
            </a:prstGeom>
            <a:solidFill>
              <a:srgbClr val="070154"/>
            </a:solidFill>
            <a:ln>
              <a:noFill/>
            </a:ln>
          </p:spPr>
        </p:sp>
        <p:sp>
          <p:nvSpPr>
            <p:cNvPr id="14" name="node01.body.item-002.checklist.item-002.check"/>
            <p:cNvSpPr/>
            <p:nvPr/>
          </p:nvSpPr>
          <p:spPr>
            <a:xfrm>
              <a:off x="952500" y="30226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15" name="node01.body.item-002.checklist.item-002.text"/>
            <p:cNvSpPr/>
            <p:nvPr/>
          </p:nvSpPr>
          <p:spPr>
            <a:xfrm>
              <a:off x="1219200" y="2971800"/>
              <a:ext cx="2705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Target design</a:t>
              </a:r>
              <a:endParaRPr lang="en-US" sz="1200" spc="0" kern="0" b="0" i="0" dirty="0">
                <a:solidFill>
                  <a:srgbClr val="070154"/>
                </a:solidFill>
                <a:latin typeface="IBM Plex Sans"/>
                <a:ea typeface="IBM Plex Sans"/>
                <a:cs typeface="IBM Plex Sans"/>
              </a:endParaRPr>
            </a:p>
          </p:txBody>
        </p:sp>
        <p:sp>
          <p:nvSpPr>
            <p:cNvPr id="16" name="node01.body.item-002.checklist.item-003.marker"/>
            <p:cNvSpPr/>
            <p:nvPr/>
          </p:nvSpPr>
          <p:spPr>
            <a:xfrm>
              <a:off x="952500" y="3314700"/>
              <a:ext cx="152400" cy="152400"/>
            </a:xfrm>
            <a:prstGeom prst="rect">
              <a:avLst/>
            </a:prstGeom>
            <a:solidFill>
              <a:srgbClr val="50658E"/>
            </a:solidFill>
            <a:ln>
              <a:noFill/>
            </a:ln>
          </p:spPr>
        </p:sp>
        <p:sp>
          <p:nvSpPr>
            <p:cNvPr id="17" name="node01.body.item-002.checklist.item-003.empty"/>
            <p:cNvSpPr/>
            <p:nvPr/>
          </p:nvSpPr>
          <p:spPr>
            <a:xfrm>
              <a:off x="965200" y="3327400"/>
              <a:ext cx="127000" cy="127000"/>
            </a:xfrm>
            <a:prstGeom prst="rect">
              <a:avLst/>
            </a:prstGeom>
            <a:solidFill>
              <a:srgbClr val="FFFFFF"/>
            </a:solidFill>
            <a:ln>
              <a:noFill/>
            </a:ln>
          </p:spPr>
        </p:sp>
        <p:sp>
          <p:nvSpPr>
            <p:cNvPr id="18" name="node01.body.item-002.checklist.item-003.dash"/>
            <p:cNvSpPr/>
            <p:nvPr/>
          </p:nvSpPr>
          <p:spPr>
            <a:xfrm>
              <a:off x="996950" y="3383280"/>
              <a:ext cx="63500" cy="15240"/>
            </a:xfrm>
            <a:prstGeom prst="rect">
              <a:avLst/>
            </a:prstGeom>
            <a:solidFill>
              <a:srgbClr val="50658E"/>
            </a:solidFill>
            <a:ln>
              <a:noFill/>
            </a:ln>
          </p:spPr>
        </p:sp>
        <p:sp>
          <p:nvSpPr>
            <p:cNvPr id="19" name="node01.body.item-002.checklist.item-003.text"/>
            <p:cNvSpPr/>
            <p:nvPr/>
          </p:nvSpPr>
          <p:spPr>
            <a:xfrm>
              <a:off x="1219200" y="3263900"/>
              <a:ext cx="2705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Wave 1 build</a:t>
              </a:r>
              <a:endParaRPr lang="en-US" sz="1200" spc="0" kern="0" b="0" i="0" dirty="0">
                <a:solidFill>
                  <a:srgbClr val="50658E"/>
                </a:solidFill>
                <a:latin typeface="IBM Plex Sans"/>
                <a:ea typeface="IBM Plex Sans"/>
                <a:cs typeface="IBM Plex Sans"/>
              </a:endParaRPr>
            </a:p>
          </p:txBody>
        </p:sp>
        <p:sp>
          <p:nvSpPr>
            <p:cNvPr id="20" name="node01.fee.divider"/>
            <p:cNvSpPr/>
            <p:nvPr/>
          </p:nvSpPr>
          <p:spPr>
            <a:xfrm>
              <a:off x="952500" y="5108575"/>
              <a:ext cx="2971800" cy="9525"/>
            </a:xfrm>
            <a:prstGeom prst="rect">
              <a:avLst/>
            </a:prstGeom>
            <a:solidFill>
              <a:srgbClr val="CED7E6"/>
            </a:solidFill>
            <a:ln>
              <a:noFill/>
            </a:ln>
          </p:spPr>
        </p:sp>
        <p:sp>
          <p:nvSpPr>
            <p:cNvPr id="21" name="node01.fee.value"/>
            <p:cNvSpPr/>
            <p:nvPr/>
          </p:nvSpPr>
          <p:spPr>
            <a:xfrm>
              <a:off x="952500" y="5232400"/>
              <a:ext cx="29718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70154"/>
                  </a:solidFill>
                  <a:latin typeface="IBM Plex Mono SemiBold"/>
                  <a:ea typeface="IBM Plex Mono SemiBold"/>
                  <a:cs typeface="IBM Plex Mono SemiBold"/>
                </a:rPr>
                <a:t>$720K</a:t>
              </a:r>
              <a:endParaRPr lang="en-US" sz="1600" spc="0" kern="0" b="0" i="0" dirty="0">
                <a:solidFill>
                  <a:srgbClr val="070154"/>
                </a:solidFill>
                <a:latin typeface="IBM Plex Mono SemiBold"/>
                <a:ea typeface="IBM Plex Mono SemiBold"/>
                <a:cs typeface="IBM Plex Mono SemiBold"/>
              </a:endParaRPr>
            </a:p>
          </p:txBody>
        </p:sp>
        <p:sp>
          <p:nvSpPr>
            <p:cNvPr id="22" name="node01.fee.label"/>
            <p:cNvSpPr/>
            <p:nvPr/>
          </p:nvSpPr>
          <p:spPr>
            <a:xfrm>
              <a:off x="952500" y="55245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fixed fee, 8 weeks</a:t>
              </a:r>
              <a:endParaRPr lang="en-US" sz="1100" spc="0" kern="0" b="0" i="0" dirty="0">
                <a:solidFill>
                  <a:srgbClr val="50658E"/>
                </a:solidFill>
                <a:latin typeface="IBM Plex Sans"/>
                <a:ea typeface="IBM Plex Sans"/>
                <a:cs typeface="IBM Plex Sans"/>
              </a:endParaRPr>
            </a:p>
          </p:txBody>
        </p:sp>
      </p:grpSp>
      <p:grpSp>
        <p:nvGrpSpPr>
          <p:cNvPr id="55" name="node02"/>
          <p:cNvGrpSpPr/>
          <p:nvPr/>
        </p:nvGrpSpPr>
        <p:grpSpPr>
          <a:xfrm>
            <a:off x="4381500" y="1600200"/>
            <a:ext cx="3429000" cy="4343400"/>
            <a:chOff x="4381500" y="1600200"/>
            <a:chExt cx="3429000" cy="4343400"/>
          </a:xfrm>
        </p:grpSpPr>
        <p:sp>
          <p:nvSpPr>
            <p:cNvPr id="23" name="node02.container"/>
            <p:cNvSpPr/>
            <p:nvPr/>
          </p:nvSpPr>
          <p:spPr>
            <a:xfrm>
              <a:off x="4381500" y="1600200"/>
              <a:ext cx="3429000" cy="4343400"/>
            </a:xfrm>
            <a:prstGeom prst="rect">
              <a:avLst/>
            </a:prstGeom>
            <a:solidFill>
              <a:srgbClr val="E8EEF8"/>
            </a:solidFill>
            <a:ln>
              <a:noFill/>
            </a:ln>
          </p:spPr>
        </p:sp>
        <p:sp>
          <p:nvSpPr>
            <p:cNvPr id="24" name="node02.edge"/>
            <p:cNvSpPr/>
            <p:nvPr/>
          </p:nvSpPr>
          <p:spPr>
            <a:xfrm>
              <a:off x="4381500" y="1600200"/>
              <a:ext cx="3429000" cy="38100"/>
            </a:xfrm>
            <a:prstGeom prst="rect">
              <a:avLst/>
            </a:prstGeom>
            <a:solidFill>
              <a:srgbClr val="0047FF"/>
            </a:solidFill>
            <a:ln>
              <a:noFill/>
            </a:ln>
          </p:spPr>
        </p:sp>
        <p:sp>
          <p:nvSpPr>
            <p:cNvPr id="25" name="node02.label"/>
            <p:cNvSpPr/>
            <p:nvPr/>
          </p:nvSpPr>
          <p:spPr>
            <a:xfrm>
              <a:off x="4610100" y="18669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OPTION B · DESIGN AND BUILD</a:t>
              </a:r>
              <a:endParaRPr lang="en-US" sz="800" spc="48" kern="0" b="0" i="0" dirty="0">
                <a:solidFill>
                  <a:srgbClr val="0047FF"/>
                </a:solidFill>
                <a:latin typeface="IBM Plex Mono Medium"/>
                <a:ea typeface="IBM Plex Mono Medium"/>
                <a:cs typeface="IBM Plex Mono Medium"/>
              </a:endParaRPr>
            </a:p>
          </p:txBody>
        </p:sp>
        <p:sp>
          <p:nvSpPr>
            <p:cNvPr id="26" name="node02.title"/>
            <p:cNvSpPr/>
            <p:nvPr/>
          </p:nvSpPr>
          <p:spPr>
            <a:xfrm>
              <a:off x="4610100" y="20447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Diagnose, design, build</a:t>
              </a:r>
              <a:endParaRPr lang="en-US" sz="1600" spc="-16" kern="0" b="0" i="0" dirty="0">
                <a:solidFill>
                  <a:srgbClr val="070154"/>
                </a:solidFill>
                <a:latin typeface="IBM Plex Sans SemiBold"/>
                <a:ea typeface="IBM Plex Sans SemiBold"/>
                <a:cs typeface="IBM Plex Sans SemiBold"/>
              </a:endParaRPr>
            </a:p>
          </p:txBody>
        </p:sp>
        <p:sp>
          <p:nvSpPr>
            <p:cNvPr id="27" name="node02.body.item-001.paragraph"/>
            <p:cNvSpPr/>
            <p:nvPr/>
          </p:nvSpPr>
          <p:spPr>
            <a:xfrm>
              <a:off x="4610100" y="24257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Carry one team through to Wave 1.</a:t>
              </a:r>
              <a:endParaRPr lang="en-US" sz="1200" spc="0" kern="0" b="0" i="0" dirty="0">
                <a:solidFill>
                  <a:srgbClr val="50658E"/>
                </a:solidFill>
                <a:latin typeface="IBM Plex Sans"/>
                <a:ea typeface="IBM Plex Sans"/>
                <a:cs typeface="IBM Plex Sans"/>
              </a:endParaRPr>
            </a:p>
          </p:txBody>
        </p:sp>
        <p:sp>
          <p:nvSpPr>
            <p:cNvPr id="28" name="node02.body.item-002.checklist.item-001.marker"/>
            <p:cNvSpPr/>
            <p:nvPr/>
          </p:nvSpPr>
          <p:spPr>
            <a:xfrm>
              <a:off x="4610100" y="2768600"/>
              <a:ext cx="152400" cy="152400"/>
            </a:xfrm>
            <a:prstGeom prst="rect">
              <a:avLst/>
            </a:prstGeom>
            <a:solidFill>
              <a:srgbClr val="070154"/>
            </a:solidFill>
            <a:ln>
              <a:noFill/>
            </a:ln>
          </p:spPr>
        </p:sp>
        <p:sp>
          <p:nvSpPr>
            <p:cNvPr id="29" name="node02.body.item-002.checklist.item-001.check"/>
            <p:cNvSpPr/>
            <p:nvPr/>
          </p:nvSpPr>
          <p:spPr>
            <a:xfrm>
              <a:off x="4610100" y="27686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30" name="node02.body.item-002.checklist.item-001.text"/>
            <p:cNvSpPr/>
            <p:nvPr/>
          </p:nvSpPr>
          <p:spPr>
            <a:xfrm>
              <a:off x="4876800" y="2717800"/>
              <a:ext cx="2705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diagnostic</a:t>
              </a:r>
              <a:endParaRPr lang="en-US" sz="1200" spc="0" kern="0" b="0" i="0" dirty="0">
                <a:solidFill>
                  <a:srgbClr val="070154"/>
                </a:solidFill>
                <a:latin typeface="IBM Plex Sans"/>
                <a:ea typeface="IBM Plex Sans"/>
                <a:cs typeface="IBM Plex Sans"/>
              </a:endParaRPr>
            </a:p>
          </p:txBody>
        </p:sp>
        <p:sp>
          <p:nvSpPr>
            <p:cNvPr id="31" name="node02.body.item-002.checklist.item-002.marker"/>
            <p:cNvSpPr/>
            <p:nvPr/>
          </p:nvSpPr>
          <p:spPr>
            <a:xfrm>
              <a:off x="4610100" y="3060700"/>
              <a:ext cx="152400" cy="152400"/>
            </a:xfrm>
            <a:prstGeom prst="rect">
              <a:avLst/>
            </a:prstGeom>
            <a:solidFill>
              <a:srgbClr val="070154"/>
            </a:solidFill>
            <a:ln>
              <a:noFill/>
            </a:ln>
          </p:spPr>
        </p:sp>
        <p:sp>
          <p:nvSpPr>
            <p:cNvPr id="32" name="node02.body.item-002.checklist.item-002.check"/>
            <p:cNvSpPr/>
            <p:nvPr/>
          </p:nvSpPr>
          <p:spPr>
            <a:xfrm>
              <a:off x="4610100" y="30607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33" name="node02.body.item-002.checklist.item-002.text"/>
            <p:cNvSpPr/>
            <p:nvPr/>
          </p:nvSpPr>
          <p:spPr>
            <a:xfrm>
              <a:off x="4876800" y="3009900"/>
              <a:ext cx="2705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Target design</a:t>
              </a:r>
              <a:endParaRPr lang="en-US" sz="1200" spc="0" kern="0" b="0" i="0" dirty="0">
                <a:solidFill>
                  <a:srgbClr val="070154"/>
                </a:solidFill>
                <a:latin typeface="IBM Plex Sans"/>
                <a:ea typeface="IBM Plex Sans"/>
                <a:cs typeface="IBM Plex Sans"/>
              </a:endParaRPr>
            </a:p>
          </p:txBody>
        </p:sp>
        <p:sp>
          <p:nvSpPr>
            <p:cNvPr id="34" name="node02.body.item-002.checklist.item-003.marker"/>
            <p:cNvSpPr/>
            <p:nvPr/>
          </p:nvSpPr>
          <p:spPr>
            <a:xfrm>
              <a:off x="4610100" y="3352800"/>
              <a:ext cx="152400" cy="152400"/>
            </a:xfrm>
            <a:prstGeom prst="rect">
              <a:avLst/>
            </a:prstGeom>
            <a:solidFill>
              <a:srgbClr val="070154"/>
            </a:solidFill>
            <a:ln>
              <a:noFill/>
            </a:ln>
          </p:spPr>
        </p:sp>
        <p:sp>
          <p:nvSpPr>
            <p:cNvPr id="35" name="node02.body.item-002.checklist.item-003.check"/>
            <p:cNvSpPr/>
            <p:nvPr/>
          </p:nvSpPr>
          <p:spPr>
            <a:xfrm>
              <a:off x="4610100" y="33528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36" name="node02.body.item-002.checklist.item-003.text"/>
            <p:cNvSpPr/>
            <p:nvPr/>
          </p:nvSpPr>
          <p:spPr>
            <a:xfrm>
              <a:off x="4876800" y="3302000"/>
              <a:ext cx="27051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Wave 1 build</a:t>
              </a:r>
              <a:endParaRPr lang="en-US" sz="1200" spc="0" kern="0" b="0" i="0" dirty="0">
                <a:solidFill>
                  <a:srgbClr val="070154"/>
                </a:solidFill>
                <a:latin typeface="IBM Plex Sans"/>
                <a:ea typeface="IBM Plex Sans"/>
                <a:cs typeface="IBM Plex Sans"/>
              </a:endParaRPr>
            </a:p>
          </p:txBody>
        </p:sp>
        <p:sp>
          <p:nvSpPr>
            <p:cNvPr id="37" name="node02.fee.divider"/>
            <p:cNvSpPr/>
            <p:nvPr/>
          </p:nvSpPr>
          <p:spPr>
            <a:xfrm>
              <a:off x="4610100" y="5108575"/>
              <a:ext cx="2971800" cy="9525"/>
            </a:xfrm>
            <a:prstGeom prst="rect">
              <a:avLst/>
            </a:prstGeom>
            <a:solidFill>
              <a:srgbClr val="CED7E6"/>
            </a:solidFill>
            <a:ln>
              <a:noFill/>
            </a:ln>
          </p:spPr>
        </p:sp>
        <p:sp>
          <p:nvSpPr>
            <p:cNvPr id="38" name="node02.fee.value"/>
            <p:cNvSpPr/>
            <p:nvPr/>
          </p:nvSpPr>
          <p:spPr>
            <a:xfrm>
              <a:off x="4610100" y="5232400"/>
              <a:ext cx="29718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70154"/>
                  </a:solidFill>
                  <a:latin typeface="IBM Plex Mono SemiBold"/>
                  <a:ea typeface="IBM Plex Mono SemiBold"/>
                  <a:cs typeface="IBM Plex Mono SemiBold"/>
                </a:rPr>
                <a:t>$720K + $210K/mo</a:t>
              </a:r>
              <a:endParaRPr lang="en-US" sz="1600" spc="0" kern="0" b="0" i="0" dirty="0">
                <a:solidFill>
                  <a:srgbClr val="070154"/>
                </a:solidFill>
                <a:latin typeface="IBM Plex Mono SemiBold"/>
                <a:ea typeface="IBM Plex Mono SemiBold"/>
                <a:cs typeface="IBM Plex Mono SemiBold"/>
              </a:endParaRPr>
            </a:p>
          </p:txBody>
        </p:sp>
        <p:sp>
          <p:nvSpPr>
            <p:cNvPr id="39" name="node02.fee.label"/>
            <p:cNvSpPr/>
            <p:nvPr/>
          </p:nvSpPr>
          <p:spPr>
            <a:xfrm>
              <a:off x="4610100" y="5524500"/>
              <a:ext cx="2971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fixed, then run-rate</a:t>
              </a:r>
              <a:endParaRPr lang="en-US" sz="1100" spc="0" kern="0" b="0" i="0" dirty="0">
                <a:solidFill>
                  <a:srgbClr val="50658E"/>
                </a:solidFill>
                <a:latin typeface="IBM Plex Sans"/>
                <a:ea typeface="IBM Plex Sans"/>
                <a:cs typeface="IBM Plex Sans"/>
              </a:endParaRPr>
            </a:p>
          </p:txBody>
        </p:sp>
        <p:sp>
          <p:nvSpPr>
            <p:cNvPr id="40" name="node02.tag-bg"/>
            <p:cNvSpPr/>
            <p:nvPr/>
          </p:nvSpPr>
          <p:spPr>
            <a:xfrm>
              <a:off x="6902072" y="1600200"/>
              <a:ext cx="908428" cy="215900"/>
            </a:xfrm>
            <a:prstGeom prst="rect">
              <a:avLst/>
            </a:prstGeom>
            <a:solidFill>
              <a:srgbClr val="0047FF"/>
            </a:solidFill>
            <a:ln>
              <a:noFill/>
            </a:ln>
          </p:spPr>
        </p:sp>
        <p:sp>
          <p:nvSpPr>
            <p:cNvPr id="41" name="node02.tag"/>
            <p:cNvSpPr/>
            <p:nvPr/>
          </p:nvSpPr>
          <p:spPr>
            <a:xfrm>
              <a:off x="6978272" y="1638300"/>
              <a:ext cx="756028"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RECOMMENDED</a:t>
              </a:r>
              <a:endParaRPr lang="en-US" sz="800" spc="48" kern="0" b="0" i="0" dirty="0">
                <a:solidFill>
                  <a:srgbClr val="FFFFFF"/>
                </a:solidFill>
                <a:latin typeface="IBM Plex Mono SemiBold"/>
                <a:ea typeface="IBM Plex Mono SemiBold"/>
                <a:cs typeface="IBM Plex Mono SemiBold"/>
              </a:endParaRPr>
            </a:p>
          </p:txBody>
        </p:sp>
      </p:grpSp>
      <p:grpSp>
        <p:nvGrpSpPr>
          <p:cNvPr id="56" name="node03"/>
          <p:cNvGrpSpPr/>
          <p:nvPr/>
        </p:nvGrpSpPr>
        <p:grpSpPr>
          <a:xfrm>
            <a:off x="8039100" y="1600200"/>
            <a:ext cx="3429000" cy="139700"/>
            <a:chOff x="8039100" y="1600200"/>
            <a:chExt cx="3429000" cy="139700"/>
          </a:xfrm>
        </p:grpSpPr>
        <p:sp>
          <p:nvSpPr>
            <p:cNvPr id="42" name="node03.text"/>
            <p:cNvSpPr/>
            <p:nvPr/>
          </p:nvSpPr>
          <p:spPr>
            <a:xfrm>
              <a:off x="80391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WHY OPTION B</a:t>
              </a:r>
              <a:endParaRPr lang="en-US" sz="800" spc="48" kern="0" b="0" i="0" dirty="0">
                <a:solidFill>
                  <a:srgbClr val="0047FF"/>
                </a:solidFill>
                <a:latin typeface="IBM Plex Mono Medium"/>
                <a:ea typeface="IBM Plex Mono Medium"/>
                <a:cs typeface="IBM Plex Mono Medium"/>
              </a:endParaRPr>
            </a:p>
          </p:txBody>
        </p:sp>
      </p:grpSp>
      <p:grpSp>
        <p:nvGrpSpPr>
          <p:cNvPr id="57" name="node04"/>
          <p:cNvGrpSpPr/>
          <p:nvPr/>
        </p:nvGrpSpPr>
        <p:grpSpPr>
          <a:xfrm>
            <a:off x="8039100" y="2057400"/>
            <a:ext cx="3429000" cy="2032000"/>
            <a:chOff x="8039100" y="2057400"/>
            <a:chExt cx="3429000" cy="2032000"/>
          </a:xfrm>
        </p:grpSpPr>
        <p:sp>
          <p:nvSpPr>
            <p:cNvPr id="43" name="node04.source-001.number"/>
            <p:cNvSpPr/>
            <p:nvPr/>
          </p:nvSpPr>
          <p:spPr>
            <a:xfrm>
              <a:off x="8039100" y="20574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44" name="node04.source-001.title"/>
            <p:cNvSpPr/>
            <p:nvPr/>
          </p:nvSpPr>
          <p:spPr>
            <a:xfrm>
              <a:off x="8572500" y="20574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No hand-off gap</a:t>
              </a:r>
              <a:endParaRPr lang="en-US" sz="1200" spc="0" kern="0" b="0" i="0" dirty="0">
                <a:solidFill>
                  <a:srgbClr val="070154"/>
                </a:solidFill>
                <a:latin typeface="IBM Plex Sans SemiBold"/>
                <a:ea typeface="IBM Plex Sans SemiBold"/>
                <a:cs typeface="IBM Plex Sans SemiBold"/>
              </a:endParaRPr>
            </a:p>
          </p:txBody>
        </p:sp>
        <p:sp>
          <p:nvSpPr>
            <p:cNvPr id="45" name="node04.source-001.text"/>
            <p:cNvSpPr/>
            <p:nvPr/>
          </p:nvSpPr>
          <p:spPr>
            <a:xfrm>
              <a:off x="8572500" y="2273300"/>
              <a:ext cx="2895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The design team stays to build what it designed.</a:t>
              </a:r>
              <a:endParaRPr lang="en-US" sz="1200" spc="0" kern="0" b="0" i="0" dirty="0">
                <a:solidFill>
                  <a:srgbClr val="50658E"/>
                </a:solidFill>
                <a:latin typeface="IBM Plex Sans"/>
                <a:ea typeface="IBM Plex Sans"/>
                <a:cs typeface="IBM Plex Sans"/>
              </a:endParaRPr>
            </a:p>
          </p:txBody>
        </p:sp>
        <p:sp>
          <p:nvSpPr>
            <p:cNvPr id="46" name="node04.source-002.number"/>
            <p:cNvSpPr/>
            <p:nvPr/>
          </p:nvSpPr>
          <p:spPr>
            <a:xfrm>
              <a:off x="8039100" y="28575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47" name="node04.source-002.title"/>
            <p:cNvSpPr/>
            <p:nvPr/>
          </p:nvSpPr>
          <p:spPr>
            <a:xfrm>
              <a:off x="8572500" y="28575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Fixed where known</a:t>
              </a:r>
              <a:endParaRPr lang="en-US" sz="1200" spc="0" kern="0" b="0" i="0" dirty="0">
                <a:solidFill>
                  <a:srgbClr val="070154"/>
                </a:solidFill>
                <a:latin typeface="IBM Plex Sans SemiBold"/>
                <a:ea typeface="IBM Plex Sans SemiBold"/>
                <a:cs typeface="IBM Plex Sans SemiBold"/>
              </a:endParaRPr>
            </a:p>
          </p:txBody>
        </p:sp>
        <p:sp>
          <p:nvSpPr>
            <p:cNvPr id="48" name="node04.source-002.text"/>
            <p:cNvSpPr/>
            <p:nvPr/>
          </p:nvSpPr>
          <p:spPr>
            <a:xfrm>
              <a:off x="8572500" y="3073400"/>
              <a:ext cx="2895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Design is a fixed fee; build flexes with demand.</a:t>
              </a:r>
              <a:endParaRPr lang="en-US" sz="1200" spc="0" kern="0" b="0" i="0" dirty="0">
                <a:solidFill>
                  <a:srgbClr val="50658E"/>
                </a:solidFill>
                <a:latin typeface="IBM Plex Sans"/>
                <a:ea typeface="IBM Plex Sans"/>
                <a:cs typeface="IBM Plex Sans"/>
              </a:endParaRPr>
            </a:p>
          </p:txBody>
        </p:sp>
        <p:sp>
          <p:nvSpPr>
            <p:cNvPr id="49" name="node04.source-003.number"/>
            <p:cNvSpPr/>
            <p:nvPr/>
          </p:nvSpPr>
          <p:spPr>
            <a:xfrm>
              <a:off x="8039100" y="36576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50" name="node04.source-003.title"/>
            <p:cNvSpPr/>
            <p:nvPr/>
          </p:nvSpPr>
          <p:spPr>
            <a:xfrm>
              <a:off x="8572500" y="36576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Earlier benefit</a:t>
              </a:r>
              <a:endParaRPr lang="en-US" sz="1200" spc="0" kern="0" b="0" i="0" dirty="0">
                <a:solidFill>
                  <a:srgbClr val="070154"/>
                </a:solidFill>
                <a:latin typeface="IBM Plex Sans SemiBold"/>
                <a:ea typeface="IBM Plex Sans SemiBold"/>
                <a:cs typeface="IBM Plex Sans SemiBold"/>
              </a:endParaRPr>
            </a:p>
          </p:txBody>
        </p:sp>
        <p:sp>
          <p:nvSpPr>
            <p:cNvPr id="51" name="node04.source-003.text"/>
            <p:cNvSpPr/>
            <p:nvPr/>
          </p:nvSpPr>
          <p:spPr>
            <a:xfrm>
              <a:off x="8572500" y="38735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Wave 1 goes live 12 weeks sooner.</a:t>
              </a:r>
              <a:endParaRPr lang="en-US" sz="1200" spc="0" kern="0" b="0" i="0" dirty="0">
                <a:solidFill>
                  <a:srgbClr val="50658E"/>
                </a:solidFill>
                <a:latin typeface="IBM Plex Sans"/>
                <a:ea typeface="IBM Plex Sans"/>
                <a:cs typeface="IBM Plex Sans"/>
              </a:endParaRPr>
            </a:p>
          </p:txBody>
        </p:sp>
      </p:grpSp>
      <p:sp>
        <p:nvSpPr>
          <p:cNvPr id="52" name="node05"/>
          <p:cNvSpPr/>
          <p:nvPr/>
        </p:nvSpPr>
        <p:spPr>
          <a:xfrm>
            <a:off x="8039100" y="4800600"/>
            <a:ext cx="3429000" cy="9525"/>
          </a:xfrm>
          <a:prstGeom prst="rect">
            <a:avLst/>
          </a:prstGeom>
          <a:solidFill>
            <a:srgbClr val="CED7E6"/>
          </a:solidFill>
          <a:ln>
            <a:noFill/>
          </a:ln>
        </p:spPr>
      </p:sp>
      <p:grpSp>
        <p:nvGrpSpPr>
          <p:cNvPr id="58" name="node06"/>
          <p:cNvGrpSpPr/>
          <p:nvPr/>
        </p:nvGrpSpPr>
        <p:grpSpPr>
          <a:xfrm>
            <a:off x="8039100" y="5029200"/>
            <a:ext cx="3429000" cy="190500"/>
            <a:chOff x="8039100" y="5029200"/>
            <a:chExt cx="3429000" cy="190500"/>
          </a:xfrm>
        </p:grpSpPr>
        <p:sp>
          <p:nvSpPr>
            <p:cNvPr id="53" name="node06.text"/>
            <p:cNvSpPr/>
            <p:nvPr/>
          </p:nvSpPr>
          <p:spPr>
            <a:xfrm>
              <a:off x="8039100" y="50292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Decision by 16 October keeps the Wave 1 start date.</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ource-182">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$720K rests on four assumptions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205</a:t>
            </a:fld>
            <a:endParaRPr lang="en-US" sz="700" spc="0" kern="0" b="0" i="0" dirty="0">
              <a:solidFill>
                <a:srgbClr val="FFFFFF"/>
              </a:solidFill>
              <a:latin typeface="IBM Plex Mono SemiBold"/>
              <a:ea typeface="IBM Plex Mono SemiBold"/>
              <a:cs typeface="IBM Plex Mono SemiBold"/>
            </a:endParaRPr>
          </a:p>
        </p:txBody>
      </p:sp>
      <p:grpSp>
        <p:nvGrpSpPr>
          <p:cNvPr id="19" name="node01"/>
          <p:cNvGrpSpPr/>
          <p:nvPr/>
        </p:nvGrpSpPr>
        <p:grpSpPr>
          <a:xfrm>
            <a:off x="723900" y="1600200"/>
            <a:ext cx="7086600" cy="2895600"/>
            <a:chOff x="723900" y="1600200"/>
            <a:chExt cx="7086600" cy="2895600"/>
          </a:xfrm>
        </p:grpSpPr>
        <p:graphicFrame>
          <p:nvGraphicFramePr>
            <p:cNvPr id="6"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7086600" cy="2895600"/>
          </p:xfrm>
          <a:graphic>
            <a:graphicData uri="http://schemas.openxmlformats.org/drawingml/2006/table">
              <a:tbl>
                <a:tblPr/>
                <a:tblGrid>
                  <a:gridCol w="2514600"/>
                  <a:gridCol w="1524000"/>
                  <a:gridCol w="1219200"/>
                  <a:gridCol w="1828800"/>
                </a:tblGrid>
                <a:tr h="4572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PHASE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TIMING</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SHARE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FEE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096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Diagnose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Weeks 1–4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$216K</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Design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Weeks 5–10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$288K</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Roadmap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Weeks 11–14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$216K</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Total fixed fee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l" marL="0" indent="0">
                          <a:lnSpc>
                            <a:spcPts val="17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100%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17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$720K</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r>
              </a:tbl>
            </a:graphicData>
          </a:graphic>
        </p:graphicFrame>
      </p:grpSp>
      <p:grpSp>
        <p:nvGrpSpPr>
          <p:cNvPr id="20" name="node02"/>
          <p:cNvGrpSpPr/>
          <p:nvPr/>
        </p:nvGrpSpPr>
        <p:grpSpPr>
          <a:xfrm>
            <a:off x="723900" y="4800600"/>
            <a:ext cx="7086600" cy="139700"/>
            <a:chOff x="723900" y="4800600"/>
            <a:chExt cx="7086600" cy="139700"/>
          </a:xfrm>
        </p:grpSpPr>
        <p:sp>
          <p:nvSpPr>
            <p:cNvPr id="7" name="node02.text"/>
            <p:cNvSpPr/>
            <p:nvPr/>
          </p:nvSpPr>
          <p:spPr>
            <a:xfrm>
              <a:off x="723900" y="48006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HOW IT IS PAID</a:t>
              </a:r>
              <a:endParaRPr lang="en-US" sz="800" spc="48" kern="0" b="0" i="0" dirty="0">
                <a:solidFill>
                  <a:srgbClr val="0047FF"/>
                </a:solidFill>
                <a:latin typeface="IBM Plex Mono Medium"/>
                <a:ea typeface="IBM Plex Mono Medium"/>
                <a:cs typeface="IBM Plex Mono Medium"/>
              </a:endParaRPr>
            </a:p>
          </p:txBody>
        </p:sp>
      </p:grpSp>
      <p:grpSp>
        <p:nvGrpSpPr>
          <p:cNvPr id="21" name="node03"/>
          <p:cNvGrpSpPr/>
          <p:nvPr/>
        </p:nvGrpSpPr>
        <p:grpSpPr>
          <a:xfrm>
            <a:off x="723900" y="5105400"/>
            <a:ext cx="7086600" cy="469900"/>
            <a:chOff x="723900" y="5105400"/>
            <a:chExt cx="7086600" cy="469900"/>
          </a:xfrm>
        </p:grpSpPr>
        <p:sp>
          <p:nvSpPr>
            <p:cNvPr id="8" name="node03.source-001.bullet"/>
            <p:cNvSpPr/>
            <p:nvPr/>
          </p:nvSpPr>
          <p:spPr>
            <a:xfrm>
              <a:off x="723900" y="5194300"/>
              <a:ext cx="38100" cy="38100"/>
            </a:xfrm>
            <a:prstGeom prst="rect">
              <a:avLst/>
            </a:prstGeom>
            <a:solidFill>
              <a:srgbClr val="070154"/>
            </a:solidFill>
            <a:ln>
              <a:noFill/>
            </a:ln>
          </p:spPr>
        </p:sp>
        <p:sp>
          <p:nvSpPr>
            <p:cNvPr id="9" name="node03.source-001.text"/>
            <p:cNvSpPr/>
            <p:nvPr/>
          </p:nvSpPr>
          <p:spPr>
            <a:xfrm>
              <a:off x="876300" y="51054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Invoiced as each phase is accepted, net 30</a:t>
              </a:r>
              <a:endParaRPr lang="en-US" sz="1200" spc="0" kern="0" b="0" i="0" dirty="0">
                <a:solidFill>
                  <a:srgbClr val="070154"/>
                </a:solidFill>
                <a:latin typeface="IBM Plex Sans"/>
                <a:ea typeface="IBM Plex Sans"/>
                <a:cs typeface="IBM Plex Sans"/>
              </a:endParaRPr>
            </a:p>
          </p:txBody>
        </p:sp>
        <p:sp>
          <p:nvSpPr>
            <p:cNvPr id="10" name="node03.source-002.bullet"/>
            <p:cNvSpPr/>
            <p:nvPr/>
          </p:nvSpPr>
          <p:spPr>
            <a:xfrm>
              <a:off x="723900" y="5448300"/>
              <a:ext cx="38100" cy="38100"/>
            </a:xfrm>
            <a:prstGeom prst="rect">
              <a:avLst/>
            </a:prstGeom>
            <a:solidFill>
              <a:srgbClr val="070154"/>
            </a:solidFill>
            <a:ln>
              <a:noFill/>
            </a:ln>
          </p:spPr>
        </p:sp>
        <p:sp>
          <p:nvSpPr>
            <p:cNvPr id="11" name="node03.source-002.text"/>
            <p:cNvSpPr/>
            <p:nvPr/>
          </p:nvSpPr>
          <p:spPr>
            <a:xfrm>
              <a:off x="876300" y="53594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Expenses at cost, capped at 8% of fees</a:t>
              </a:r>
              <a:endParaRPr lang="en-US" sz="1200" spc="0" kern="0" b="0" i="0" dirty="0">
                <a:solidFill>
                  <a:srgbClr val="070154"/>
                </a:solidFill>
                <a:latin typeface="IBM Plex Sans"/>
                <a:ea typeface="IBM Plex Sans"/>
                <a:cs typeface="IBM Plex Sans"/>
              </a:endParaRPr>
            </a:p>
          </p:txBody>
        </p:sp>
      </p:grpSp>
      <p:grpSp>
        <p:nvGrpSpPr>
          <p:cNvPr id="22" name="node04"/>
          <p:cNvGrpSpPr/>
          <p:nvPr/>
        </p:nvGrpSpPr>
        <p:grpSpPr>
          <a:xfrm>
            <a:off x="8953500" y="1600200"/>
            <a:ext cx="2514600" cy="139700"/>
            <a:chOff x="8953500" y="1600200"/>
            <a:chExt cx="2514600" cy="139700"/>
          </a:xfrm>
        </p:grpSpPr>
        <p:sp>
          <p:nvSpPr>
            <p:cNvPr id="12" name="node04.text"/>
            <p:cNvSpPr/>
            <p:nvPr/>
          </p:nvSpPr>
          <p:spPr>
            <a:xfrm>
              <a:off x="89535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ASSUMPTIONS</a:t>
              </a:r>
              <a:endParaRPr lang="en-US" sz="800" spc="48" kern="0" b="0" i="0" dirty="0">
                <a:solidFill>
                  <a:srgbClr val="CED7E6"/>
                </a:solidFill>
                <a:latin typeface="IBM Plex Mono Medium"/>
                <a:ea typeface="IBM Plex Mono Medium"/>
                <a:cs typeface="IBM Plex Mono Medium"/>
              </a:endParaRPr>
            </a:p>
          </p:txBody>
        </p:sp>
      </p:grpSp>
      <p:grpSp>
        <p:nvGrpSpPr>
          <p:cNvPr id="23" name="node05"/>
          <p:cNvGrpSpPr/>
          <p:nvPr/>
        </p:nvGrpSpPr>
        <p:grpSpPr>
          <a:xfrm>
            <a:off x="8953500" y="1905000"/>
            <a:ext cx="2514600" cy="190500"/>
            <a:chOff x="8953500" y="1905000"/>
            <a:chExt cx="2514600" cy="190500"/>
          </a:xfrm>
        </p:grpSpPr>
        <p:sp>
          <p:nvSpPr>
            <p:cNvPr id="13" name="node05.text"/>
            <p:cNvSpPr/>
            <p:nvPr/>
          </p:nvSpPr>
          <p:spPr>
            <a:xfrm>
              <a:off x="8953500" y="19050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14 business units in scope</a:t>
              </a:r>
              <a:endParaRPr lang="en-US" sz="1100" spc="0" kern="0" b="0" i="0" dirty="0">
                <a:solidFill>
                  <a:srgbClr val="FFFFFF"/>
                </a:solidFill>
                <a:latin typeface="IBM Plex Sans"/>
                <a:ea typeface="IBM Plex Sans"/>
                <a:cs typeface="IBM Plex Sans"/>
              </a:endParaRPr>
            </a:p>
          </p:txBody>
        </p:sp>
      </p:grpSp>
      <p:grpSp>
        <p:nvGrpSpPr>
          <p:cNvPr id="24" name="node06"/>
          <p:cNvGrpSpPr/>
          <p:nvPr/>
        </p:nvGrpSpPr>
        <p:grpSpPr>
          <a:xfrm>
            <a:off x="8953500" y="2476500"/>
            <a:ext cx="2514600" cy="190500"/>
            <a:chOff x="8953500" y="2476500"/>
            <a:chExt cx="2514600" cy="190500"/>
          </a:xfrm>
        </p:grpSpPr>
        <p:sp>
          <p:nvSpPr>
            <p:cNvPr id="14" name="node06.text"/>
            <p:cNvSpPr/>
            <p:nvPr/>
          </p:nvSpPr>
          <p:spPr>
            <a:xfrm>
              <a:off x="8953500" y="24765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Data access in week 1</a:t>
              </a:r>
              <a:endParaRPr lang="en-US" sz="1100" spc="0" kern="0" b="0" i="0" dirty="0">
                <a:solidFill>
                  <a:srgbClr val="FFFFFF"/>
                </a:solidFill>
                <a:latin typeface="IBM Plex Sans"/>
                <a:ea typeface="IBM Plex Sans"/>
                <a:cs typeface="IBM Plex Sans"/>
              </a:endParaRPr>
            </a:p>
          </p:txBody>
        </p:sp>
      </p:grpSp>
      <p:grpSp>
        <p:nvGrpSpPr>
          <p:cNvPr id="25" name="node07"/>
          <p:cNvGrpSpPr/>
          <p:nvPr/>
        </p:nvGrpSpPr>
        <p:grpSpPr>
          <a:xfrm>
            <a:off x="8953500" y="3048000"/>
            <a:ext cx="2514600" cy="190500"/>
            <a:chOff x="8953500" y="3048000"/>
            <a:chExt cx="2514600" cy="190500"/>
          </a:xfrm>
        </p:grpSpPr>
        <p:sp>
          <p:nvSpPr>
            <p:cNvPr id="15" name="node07.text"/>
            <p:cNvSpPr/>
            <p:nvPr/>
          </p:nvSpPr>
          <p:spPr>
            <a:xfrm>
              <a:off x="8953500" y="30480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Decisions within 5 business days</a:t>
              </a:r>
              <a:endParaRPr lang="en-US" sz="1100" spc="0" kern="0" b="0" i="0" dirty="0">
                <a:solidFill>
                  <a:srgbClr val="FFFFFF"/>
                </a:solidFill>
                <a:latin typeface="IBM Plex Sans"/>
                <a:ea typeface="IBM Plex Sans"/>
                <a:cs typeface="IBM Plex Sans"/>
              </a:endParaRPr>
            </a:p>
          </p:txBody>
        </p:sp>
      </p:grpSp>
      <p:grpSp>
        <p:nvGrpSpPr>
          <p:cNvPr id="26" name="node08"/>
          <p:cNvGrpSpPr/>
          <p:nvPr/>
        </p:nvGrpSpPr>
        <p:grpSpPr>
          <a:xfrm>
            <a:off x="8953500" y="3619500"/>
            <a:ext cx="2514600" cy="190500"/>
            <a:chOff x="8953500" y="3619500"/>
            <a:chExt cx="2514600" cy="190500"/>
          </a:xfrm>
        </p:grpSpPr>
        <p:sp>
          <p:nvSpPr>
            <p:cNvPr id="16" name="node08.text"/>
            <p:cNvSpPr/>
            <p:nvPr/>
          </p:nvSpPr>
          <p:spPr>
            <a:xfrm>
              <a:off x="8953500" y="36195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One ERP instance, no new modules</a:t>
              </a:r>
              <a:endParaRPr lang="en-US" sz="1100" spc="0" kern="0" b="0" i="0" dirty="0">
                <a:solidFill>
                  <a:srgbClr val="FFFFFF"/>
                </a:solidFill>
                <a:latin typeface="IBM Plex Sans"/>
                <a:ea typeface="IBM Plex Sans"/>
                <a:cs typeface="IBM Plex Sans"/>
              </a:endParaRPr>
            </a:p>
          </p:txBody>
        </p:sp>
      </p:grpSp>
      <p:sp>
        <p:nvSpPr>
          <p:cNvPr id="17" name="node09"/>
          <p:cNvSpPr/>
          <p:nvPr/>
        </p:nvSpPr>
        <p:spPr>
          <a:xfrm>
            <a:off x="8953500" y="4305300"/>
            <a:ext cx="2514600" cy="9525"/>
          </a:xfrm>
          <a:prstGeom prst="rect">
            <a:avLst/>
          </a:prstGeom>
          <a:solidFill>
            <a:srgbClr val="50658E"/>
          </a:solidFill>
          <a:ln>
            <a:noFill/>
          </a:ln>
        </p:spPr>
      </p:sp>
      <p:grpSp>
        <p:nvGrpSpPr>
          <p:cNvPr id="27" name="node10"/>
          <p:cNvGrpSpPr/>
          <p:nvPr/>
        </p:nvGrpSpPr>
        <p:grpSpPr>
          <a:xfrm>
            <a:off x="8953500" y="4533900"/>
            <a:ext cx="2514600" cy="190500"/>
            <a:chOff x="8953500" y="4533900"/>
            <a:chExt cx="2514600" cy="190500"/>
          </a:xfrm>
        </p:grpSpPr>
        <p:sp>
          <p:nvSpPr>
            <p:cNvPr id="18" name="node10.text"/>
            <p:cNvSpPr/>
            <p:nvPr/>
          </p:nvSpPr>
          <p:spPr>
            <a:xfrm>
              <a:off x="8953500" y="45339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Changes follow the change process.</a:t>
              </a:r>
              <a:endParaRPr lang="en-US" sz="1100" spc="0" kern="0" b="0" i="0" dirty="0">
                <a:solidFill>
                  <a:srgbClr val="CED7E6"/>
                </a:solidFill>
                <a:latin typeface="IBM Plex Sans"/>
                <a:ea typeface="IBM Plex Sans"/>
                <a:cs typeface="IBM Plex Sans"/>
              </a:endParaRPr>
            </a:p>
          </p:txBody>
        </p:sp>
      </p:gr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ource-09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run-rate ramps to $210K a month, then holds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206</a:t>
            </a:fld>
            <a:endParaRPr lang="en-US" sz="700" spc="0" kern="0" b="0" i="0" dirty="0">
              <a:solidFill>
                <a:srgbClr val="070154"/>
              </a:solidFill>
              <a:latin typeface="IBM Plex Mono SemiBold"/>
              <a:ea typeface="IBM Plex Mono SemiBold"/>
              <a:cs typeface="IBM Plex Mono SemiBold"/>
            </a:endParaRPr>
          </a:p>
        </p:txBody>
      </p:sp>
      <p:grpSp>
        <p:nvGrpSpPr>
          <p:cNvPr id="21" name="node01"/>
          <p:cNvGrpSpPr/>
          <p:nvPr/>
        </p:nvGrpSpPr>
        <p:grpSpPr>
          <a:xfrm>
            <a:off x="723900" y="1600200"/>
            <a:ext cx="7086600" cy="4114800"/>
            <a:chOff x="723900" y="1600200"/>
            <a:chExt cx="7086600" cy="4114800"/>
          </a:xfrm>
        </p:grpSpPr>
        <p:sp>
          <p:nvSpPr>
            <p:cNvPr id="6" name="node01.title"/>
            <p:cNvSpPr/>
            <p:nvPr/>
          </p:nvSpPr>
          <p:spPr>
            <a:xfrm>
              <a:off x="723900" y="1600200"/>
              <a:ext cx="7086600" cy="3048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Team run-rate by month</a:t>
              </a:r>
              <a:endParaRPr lang="en-US" sz="1600" spc="-16" kern="0" b="0" i="0" dirty="0">
                <a:solidFill>
                  <a:srgbClr val="070154"/>
                </a:solidFill>
                <a:latin typeface="IBM Plex Sans SemiBold"/>
                <a:ea typeface="IBM Plex Sans SemiBold"/>
                <a:cs typeface="IBM Plex Sans SemiBold"/>
              </a:endParaRPr>
            </a:p>
          </p:txBody>
        </p:sp>
        <p:sp>
          <p:nvSpPr>
            <p:cNvPr id="7" name="node01.units"/>
            <p:cNvSpPr/>
            <p:nvPr/>
          </p:nvSpPr>
          <p:spPr>
            <a:xfrm>
              <a:off x="723900" y="1905000"/>
              <a:ext cx="7086600" cy="190500"/>
            </a:xfrm>
            <a:prstGeom prst="rect">
              <a:avLst/>
            </a:prstGeom>
            <a:noFill/>
            <a:ln/>
          </p:spPr>
          <p:txBody>
            <a:bodyPr wrap="square" lIns="0" tIns="0" rIns="0" bIns="0" rtlCol="0" anchor="t"/>
            <a:lstStyle/>
            <a:p>
              <a:pPr algn="l" indent="0" marL="0">
                <a:lnSpc>
                  <a:spcPts val="1100"/>
                </a:lnSpc>
                <a:buNone/>
              </a:pPr>
              <a:r>
                <a:rPr lang="en-US" sz="800" spc="60" kern="0" b="0" i="0" dirty="0">
                  <a:solidFill>
                    <a:srgbClr val="50658E"/>
                  </a:solidFill>
                  <a:latin typeface="IBM Plex Mono Medium"/>
                  <a:ea typeface="IBM Plex Mono Medium"/>
                  <a:cs typeface="IBM Plex Mono Medium"/>
                </a:rPr>
                <a:t>TEAM MONTHLY RUN-RATE</a:t>
              </a:r>
              <a:endParaRPr lang="en-US" sz="800" spc="60" kern="0" b="0" i="0" dirty="0">
                <a:solidFill>
                  <a:srgbClr val="50658E"/>
                </a:solidFill>
                <a:latin typeface="IBM Plex Mono Medium"/>
                <a:ea typeface="IBM Plex Mono Medium"/>
                <a:cs typeface="IBM Plex Mono Medium"/>
              </a:endParaRPr>
            </a:p>
          </p:txBody>
        </p:sp>
        <p:graphicFrame>
          <p:nvGraphicFramePr>
            <p:cNvPr id="8" name="node01.native" descr=""/>
            <p:cNvGraphicFramePr/>
            <p:nvPr/>
          </p:nvGraphicFramePr>
          <p:xfrm>
            <a:off x="723900" y="2209800"/>
            <a:ext cx="7086600" cy="3505200"/>
          </p:xfrm>
          <a:graphic xmlns:a="http://schemas.openxmlformats.org/drawingml/2006/main">
            <a:graphicData uri="http://schemas.openxmlformats.org/drawingml/2006/chart">
              <c:chart xmlns:c="http://schemas.openxmlformats.org/drawingml/2006/chart" r:id="rId1"/>
            </a:graphicData>
          </a:graphic>
        </p:graphicFrame>
      </p:grpSp>
      <p:grpSp>
        <p:nvGrpSpPr>
          <p:cNvPr id="22" name="node02"/>
          <p:cNvGrpSpPr/>
          <p:nvPr/>
        </p:nvGrpSpPr>
        <p:grpSpPr>
          <a:xfrm>
            <a:off x="8039100" y="1600200"/>
            <a:ext cx="3429000" cy="2032000"/>
            <a:chOff x="8039100" y="1600200"/>
            <a:chExt cx="3429000" cy="2032000"/>
          </a:xfrm>
        </p:grpSpPr>
        <p:sp>
          <p:nvSpPr>
            <p:cNvPr id="9" name="node02.source-001.number"/>
            <p:cNvSpPr/>
            <p:nvPr/>
          </p:nvSpPr>
          <p:spPr>
            <a:xfrm>
              <a:off x="8039100" y="16002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10" name="node02.source-001.title"/>
            <p:cNvSpPr/>
            <p:nvPr/>
          </p:nvSpPr>
          <p:spPr>
            <a:xfrm>
              <a:off x="8572500" y="16002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Ramp-up, months 1–2</a:t>
              </a:r>
              <a:endParaRPr lang="en-US" sz="1200" spc="0" kern="0" b="0" i="0" dirty="0">
                <a:solidFill>
                  <a:srgbClr val="070154"/>
                </a:solidFill>
                <a:latin typeface="IBM Plex Sans SemiBold"/>
                <a:ea typeface="IBM Plex Sans SemiBold"/>
                <a:cs typeface="IBM Plex Sans SemiBold"/>
              </a:endParaRPr>
            </a:p>
          </p:txBody>
        </p:sp>
        <p:sp>
          <p:nvSpPr>
            <p:cNvPr id="11" name="node02.source-001.text"/>
            <p:cNvSpPr/>
            <p:nvPr/>
          </p:nvSpPr>
          <p:spPr>
            <a:xfrm>
              <a:off x="8572500" y="1816100"/>
              <a:ext cx="2895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Core team starts; specialists join as workstreams open.</a:t>
              </a:r>
              <a:endParaRPr lang="en-US" sz="1200" spc="0" kern="0" b="0" i="0" dirty="0">
                <a:solidFill>
                  <a:srgbClr val="50658E"/>
                </a:solidFill>
                <a:latin typeface="IBM Plex Sans"/>
                <a:ea typeface="IBM Plex Sans"/>
                <a:cs typeface="IBM Plex Sans"/>
              </a:endParaRPr>
            </a:p>
          </p:txBody>
        </p:sp>
        <p:sp>
          <p:nvSpPr>
            <p:cNvPr id="12" name="node02.source-002.number"/>
            <p:cNvSpPr/>
            <p:nvPr/>
          </p:nvSpPr>
          <p:spPr>
            <a:xfrm>
              <a:off x="8039100" y="24003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13" name="node02.source-002.title"/>
            <p:cNvSpPr/>
            <p:nvPr/>
          </p:nvSpPr>
          <p:spPr>
            <a:xfrm>
              <a:off x="8572500" y="24003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Steady state, months 3–6</a:t>
              </a:r>
              <a:endParaRPr lang="en-US" sz="1200" spc="0" kern="0" b="0" i="0" dirty="0">
                <a:solidFill>
                  <a:srgbClr val="070154"/>
                </a:solidFill>
                <a:latin typeface="IBM Plex Sans SemiBold"/>
                <a:ea typeface="IBM Plex Sans SemiBold"/>
                <a:cs typeface="IBM Plex Sans SemiBold"/>
              </a:endParaRPr>
            </a:p>
          </p:txBody>
        </p:sp>
        <p:sp>
          <p:nvSpPr>
            <p:cNvPr id="14" name="node02.source-002.text"/>
            <p:cNvSpPr/>
            <p:nvPr/>
          </p:nvSpPr>
          <p:spPr>
            <a:xfrm>
              <a:off x="8572500" y="26162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Full team at $210K a month.</a:t>
              </a:r>
              <a:endParaRPr lang="en-US" sz="1200" spc="0" kern="0" b="0" i="0" dirty="0">
                <a:solidFill>
                  <a:srgbClr val="50658E"/>
                </a:solidFill>
                <a:latin typeface="IBM Plex Sans"/>
                <a:ea typeface="IBM Plex Sans"/>
                <a:cs typeface="IBM Plex Sans"/>
              </a:endParaRPr>
            </a:p>
          </p:txBody>
        </p:sp>
        <p:sp>
          <p:nvSpPr>
            <p:cNvPr id="15" name="node02.source-003.number"/>
            <p:cNvSpPr/>
            <p:nvPr/>
          </p:nvSpPr>
          <p:spPr>
            <a:xfrm>
              <a:off x="8039100" y="2984500"/>
              <a:ext cx="381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16" name="node02.source-003.title"/>
            <p:cNvSpPr/>
            <p:nvPr/>
          </p:nvSpPr>
          <p:spPr>
            <a:xfrm>
              <a:off x="8572500" y="2984500"/>
              <a:ext cx="2895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Roll-off, months 7–8</a:t>
              </a:r>
              <a:endParaRPr lang="en-US" sz="1200" spc="0" kern="0" b="0" i="0" dirty="0">
                <a:solidFill>
                  <a:srgbClr val="070154"/>
                </a:solidFill>
                <a:latin typeface="IBM Plex Sans SemiBold"/>
                <a:ea typeface="IBM Plex Sans SemiBold"/>
                <a:cs typeface="IBM Plex Sans SemiBold"/>
              </a:endParaRPr>
            </a:p>
          </p:txBody>
        </p:sp>
        <p:sp>
          <p:nvSpPr>
            <p:cNvPr id="17" name="node02.source-003.text"/>
            <p:cNvSpPr/>
            <p:nvPr/>
          </p:nvSpPr>
          <p:spPr>
            <a:xfrm>
              <a:off x="8572500" y="3200400"/>
              <a:ext cx="2895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Capacity steps down as Northfield takes over.</a:t>
              </a:r>
              <a:endParaRPr lang="en-US" sz="1200" spc="0" kern="0" b="0" i="0" dirty="0">
                <a:solidFill>
                  <a:srgbClr val="50658E"/>
                </a:solidFill>
                <a:latin typeface="IBM Plex Sans"/>
                <a:ea typeface="IBM Plex Sans"/>
                <a:cs typeface="IBM Plex Sans"/>
              </a:endParaRPr>
            </a:p>
          </p:txBody>
        </p:sp>
      </p:grpSp>
      <p:sp>
        <p:nvSpPr>
          <p:cNvPr id="18" name="node03"/>
          <p:cNvSpPr/>
          <p:nvPr/>
        </p:nvSpPr>
        <p:spPr>
          <a:xfrm>
            <a:off x="8039100" y="4572000"/>
            <a:ext cx="3429000" cy="9525"/>
          </a:xfrm>
          <a:prstGeom prst="rect">
            <a:avLst/>
          </a:prstGeom>
          <a:solidFill>
            <a:srgbClr val="CED7E6"/>
          </a:solidFill>
          <a:ln>
            <a:noFill/>
          </a:ln>
        </p:spPr>
      </p:sp>
      <p:grpSp>
        <p:nvGrpSpPr>
          <p:cNvPr id="23" name="node04"/>
          <p:cNvGrpSpPr/>
          <p:nvPr/>
        </p:nvGrpSpPr>
        <p:grpSpPr>
          <a:xfrm>
            <a:off x="8039100" y="4800600"/>
            <a:ext cx="3429000" cy="802069"/>
            <a:chOff x="8039100" y="4800600"/>
            <a:chExt cx="3429000" cy="802069"/>
          </a:xfrm>
        </p:grpSpPr>
        <p:sp>
          <p:nvSpPr>
            <p:cNvPr id="19" name="node04.value"/>
            <p:cNvSpPr/>
            <p:nvPr/>
          </p:nvSpPr>
          <p:spPr>
            <a:xfrm>
              <a:off x="8039100" y="4800600"/>
              <a:ext cx="34290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$1.32M</a:t>
              </a:r>
              <a:endParaRPr lang="en-US" sz="4000" spc="-80" kern="0" b="0" i="0" dirty="0">
                <a:solidFill>
                  <a:srgbClr val="070154"/>
                </a:solidFill>
                <a:latin typeface="IBM Plex Mono SemiBold"/>
                <a:ea typeface="IBM Plex Mono SemiBold"/>
                <a:cs typeface="IBM Plex Mono SemiBold"/>
              </a:endParaRPr>
            </a:p>
          </p:txBody>
        </p:sp>
        <p:sp>
          <p:nvSpPr>
            <p:cNvPr id="20" name="node04.label"/>
            <p:cNvSpPr/>
            <p:nvPr/>
          </p:nvSpPr>
          <p:spPr>
            <a:xfrm>
              <a:off x="8039100" y="5386769"/>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estimated total, eight months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ource-26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$1.8M investment pays back in 14 months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Illustrative Northfield business case; replace with validated figures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207</a:t>
            </a:fld>
            <a:endParaRPr lang="en-US" sz="700" spc="0" kern="0" b="0" i="0" dirty="0">
              <a:solidFill>
                <a:srgbClr val="070154"/>
              </a:solidFill>
              <a:latin typeface="IBM Plex Mono SemiBold"/>
              <a:ea typeface="IBM Plex Mono SemiBold"/>
              <a:cs typeface="IBM Plex Mono SemiBold"/>
            </a:endParaRPr>
          </a:p>
        </p:txBody>
      </p:sp>
      <p:grpSp>
        <p:nvGrpSpPr>
          <p:cNvPr id="26" name="node01"/>
          <p:cNvGrpSpPr/>
          <p:nvPr/>
        </p:nvGrpSpPr>
        <p:grpSpPr>
          <a:xfrm>
            <a:off x="723900" y="1600200"/>
            <a:ext cx="2514600" cy="802069"/>
            <a:chOff x="723900" y="1600200"/>
            <a:chExt cx="2514600" cy="802069"/>
          </a:xfrm>
        </p:grpSpPr>
        <p:sp>
          <p:nvSpPr>
            <p:cNvPr id="7" name="node01.value"/>
            <p:cNvSpPr/>
            <p:nvPr/>
          </p:nvSpPr>
          <p:spPr>
            <a:xfrm>
              <a:off x="723900" y="1600200"/>
              <a:ext cx="25146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$1.8M</a:t>
              </a:r>
              <a:endParaRPr lang="en-US" sz="4000" spc="-80" kern="0" b="0" i="0" dirty="0">
                <a:solidFill>
                  <a:srgbClr val="070154"/>
                </a:solidFill>
                <a:latin typeface="IBM Plex Mono SemiBold"/>
                <a:ea typeface="IBM Plex Mono SemiBold"/>
                <a:cs typeface="IBM Plex Mono SemiBold"/>
              </a:endParaRPr>
            </a:p>
          </p:txBody>
        </p:sp>
        <p:sp>
          <p:nvSpPr>
            <p:cNvPr id="8" name="node01.label"/>
            <p:cNvSpPr/>
            <p:nvPr/>
          </p:nvSpPr>
          <p:spPr>
            <a:xfrm>
              <a:off x="723900" y="2186369"/>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total investment</a:t>
              </a:r>
              <a:endParaRPr lang="en-US" sz="1200" spc="0" kern="0" b="0" i="0" dirty="0">
                <a:solidFill>
                  <a:srgbClr val="50658E"/>
                </a:solidFill>
                <a:latin typeface="IBM Plex Sans"/>
                <a:ea typeface="IBM Plex Sans"/>
                <a:cs typeface="IBM Plex Sans"/>
              </a:endParaRPr>
            </a:p>
          </p:txBody>
        </p:sp>
      </p:grpSp>
      <p:grpSp>
        <p:nvGrpSpPr>
          <p:cNvPr id="27" name="node02"/>
          <p:cNvGrpSpPr/>
          <p:nvPr/>
        </p:nvGrpSpPr>
        <p:grpSpPr>
          <a:xfrm>
            <a:off x="3467100" y="1600200"/>
            <a:ext cx="2514600" cy="802069"/>
            <a:chOff x="3467100" y="1600200"/>
            <a:chExt cx="2514600" cy="802069"/>
          </a:xfrm>
        </p:grpSpPr>
        <p:sp>
          <p:nvSpPr>
            <p:cNvPr id="9" name="node02.value"/>
            <p:cNvSpPr/>
            <p:nvPr/>
          </p:nvSpPr>
          <p:spPr>
            <a:xfrm>
              <a:off x="3467100" y="1600200"/>
              <a:ext cx="25146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$2.6M</a:t>
              </a:r>
              <a:endParaRPr lang="en-US" sz="4000" spc="-80" kern="0" b="0" i="0" dirty="0">
                <a:solidFill>
                  <a:srgbClr val="070154"/>
                </a:solidFill>
                <a:latin typeface="IBM Plex Mono SemiBold"/>
                <a:ea typeface="IBM Plex Mono SemiBold"/>
                <a:cs typeface="IBM Plex Mono SemiBold"/>
              </a:endParaRPr>
            </a:p>
          </p:txBody>
        </p:sp>
        <p:sp>
          <p:nvSpPr>
            <p:cNvPr id="10" name="node02.label"/>
            <p:cNvSpPr/>
            <p:nvPr/>
          </p:nvSpPr>
          <p:spPr>
            <a:xfrm>
              <a:off x="3467100" y="2186369"/>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annual run-rate benefit</a:t>
              </a:r>
              <a:endParaRPr lang="en-US" sz="1200" spc="0" kern="0" b="0" i="0" dirty="0">
                <a:solidFill>
                  <a:srgbClr val="50658E"/>
                </a:solidFill>
                <a:latin typeface="IBM Plex Sans"/>
                <a:ea typeface="IBM Plex Sans"/>
                <a:cs typeface="IBM Plex Sans"/>
              </a:endParaRPr>
            </a:p>
          </p:txBody>
        </p:sp>
      </p:grpSp>
      <p:grpSp>
        <p:nvGrpSpPr>
          <p:cNvPr id="28" name="node03"/>
          <p:cNvGrpSpPr/>
          <p:nvPr/>
        </p:nvGrpSpPr>
        <p:grpSpPr>
          <a:xfrm>
            <a:off x="6210300" y="1600200"/>
            <a:ext cx="2514600" cy="802069"/>
            <a:chOff x="6210300" y="1600200"/>
            <a:chExt cx="2514600" cy="802069"/>
          </a:xfrm>
        </p:grpSpPr>
        <p:sp>
          <p:nvSpPr>
            <p:cNvPr id="11" name="node03.value"/>
            <p:cNvSpPr/>
            <p:nvPr/>
          </p:nvSpPr>
          <p:spPr>
            <a:xfrm>
              <a:off x="6210300" y="1600200"/>
              <a:ext cx="25146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14</a:t>
              </a:r>
              <a:endParaRPr lang="en-US" sz="4000" spc="-80" kern="0" b="0" i="0" dirty="0">
                <a:solidFill>
                  <a:srgbClr val="070154"/>
                </a:solidFill>
                <a:latin typeface="IBM Plex Mono SemiBold"/>
                <a:ea typeface="IBM Plex Mono SemiBold"/>
                <a:cs typeface="IBM Plex Mono SemiBold"/>
              </a:endParaRPr>
            </a:p>
          </p:txBody>
        </p:sp>
        <p:sp>
          <p:nvSpPr>
            <p:cNvPr id="12" name="node03.label"/>
            <p:cNvSpPr/>
            <p:nvPr/>
          </p:nvSpPr>
          <p:spPr>
            <a:xfrm>
              <a:off x="6210300" y="2186369"/>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months to payback</a:t>
              </a:r>
              <a:endParaRPr lang="en-US" sz="1200" spc="0" kern="0" b="0" i="0" dirty="0">
                <a:solidFill>
                  <a:srgbClr val="50658E"/>
                </a:solidFill>
                <a:latin typeface="IBM Plex Sans"/>
                <a:ea typeface="IBM Plex Sans"/>
                <a:cs typeface="IBM Plex Sans"/>
              </a:endParaRPr>
            </a:p>
          </p:txBody>
        </p:sp>
      </p:grpSp>
      <p:grpSp>
        <p:nvGrpSpPr>
          <p:cNvPr id="29" name="node04"/>
          <p:cNvGrpSpPr/>
          <p:nvPr/>
        </p:nvGrpSpPr>
        <p:grpSpPr>
          <a:xfrm>
            <a:off x="8953500" y="1600200"/>
            <a:ext cx="2514600" cy="802069"/>
            <a:chOff x="8953500" y="1600200"/>
            <a:chExt cx="2514600" cy="802069"/>
          </a:xfrm>
        </p:grpSpPr>
        <p:sp>
          <p:nvSpPr>
            <p:cNvPr id="13" name="node04.value"/>
            <p:cNvSpPr/>
            <p:nvPr/>
          </p:nvSpPr>
          <p:spPr>
            <a:xfrm>
              <a:off x="8953500" y="1600200"/>
              <a:ext cx="25146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330%</a:t>
              </a:r>
              <a:endParaRPr lang="en-US" sz="4000" spc="-80" kern="0" b="0" i="0" dirty="0">
                <a:solidFill>
                  <a:srgbClr val="070154"/>
                </a:solidFill>
                <a:latin typeface="IBM Plex Mono SemiBold"/>
                <a:ea typeface="IBM Plex Mono SemiBold"/>
                <a:cs typeface="IBM Plex Mono SemiBold"/>
              </a:endParaRPr>
            </a:p>
          </p:txBody>
        </p:sp>
        <p:sp>
          <p:nvSpPr>
            <p:cNvPr id="14" name="node04.label"/>
            <p:cNvSpPr/>
            <p:nvPr/>
          </p:nvSpPr>
          <p:spPr>
            <a:xfrm>
              <a:off x="8953500" y="2186369"/>
              <a:ext cx="2514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three-year return</a:t>
              </a:r>
              <a:endParaRPr lang="en-US" sz="1200" spc="0" kern="0" b="0" i="0" dirty="0">
                <a:solidFill>
                  <a:srgbClr val="50658E"/>
                </a:solidFill>
                <a:latin typeface="IBM Plex Sans"/>
                <a:ea typeface="IBM Plex Sans"/>
                <a:cs typeface="IBM Plex Sans"/>
              </a:endParaRPr>
            </a:p>
          </p:txBody>
        </p:sp>
      </p:grpSp>
      <p:grpSp>
        <p:nvGrpSpPr>
          <p:cNvPr id="30" name="node05"/>
          <p:cNvGrpSpPr/>
          <p:nvPr/>
        </p:nvGrpSpPr>
        <p:grpSpPr>
          <a:xfrm>
            <a:off x="723900" y="2971800"/>
            <a:ext cx="7086600" cy="2514600"/>
            <a:chOff x="723900" y="2971800"/>
            <a:chExt cx="7086600" cy="2514600"/>
          </a:xfrm>
        </p:grpSpPr>
        <p:sp>
          <p:nvSpPr>
            <p:cNvPr id="15" name="node05.title"/>
            <p:cNvSpPr/>
            <p:nvPr/>
          </p:nvSpPr>
          <p:spPr>
            <a:xfrm>
              <a:off x="723900" y="2971800"/>
              <a:ext cx="7086600" cy="3048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Cumulative net value</a:t>
              </a:r>
              <a:endParaRPr lang="en-US" sz="1600" spc="-16" kern="0" b="0" i="0" dirty="0">
                <a:solidFill>
                  <a:srgbClr val="070154"/>
                </a:solidFill>
                <a:latin typeface="IBM Plex Sans SemiBold"/>
                <a:ea typeface="IBM Plex Sans SemiBold"/>
                <a:cs typeface="IBM Plex Sans SemiBold"/>
              </a:endParaRPr>
            </a:p>
          </p:txBody>
        </p:sp>
        <p:sp>
          <p:nvSpPr>
            <p:cNvPr id="16" name="node05.units"/>
            <p:cNvSpPr/>
            <p:nvPr/>
          </p:nvSpPr>
          <p:spPr>
            <a:xfrm>
              <a:off x="723900" y="3276600"/>
              <a:ext cx="7086600" cy="190500"/>
            </a:xfrm>
            <a:prstGeom prst="rect">
              <a:avLst/>
            </a:prstGeom>
            <a:noFill/>
            <a:ln/>
          </p:spPr>
          <p:txBody>
            <a:bodyPr wrap="square" lIns="0" tIns="0" rIns="0" bIns="0" rtlCol="0" anchor="t"/>
            <a:lstStyle/>
            <a:p>
              <a:pPr algn="l" indent="0" marL="0">
                <a:lnSpc>
                  <a:spcPts val="1100"/>
                </a:lnSpc>
                <a:buNone/>
              </a:pPr>
              <a:r>
                <a:rPr lang="en-US" sz="800" spc="60" kern="0" b="0" i="0" dirty="0">
                  <a:solidFill>
                    <a:srgbClr val="50658E"/>
                  </a:solidFill>
                  <a:latin typeface="IBM Plex Mono Medium"/>
                  <a:ea typeface="IBM Plex Mono Medium"/>
                  <a:cs typeface="IBM Plex Mono Medium"/>
                </a:rPr>
                <a:t>$M, BY QUARTER</a:t>
              </a:r>
              <a:endParaRPr lang="en-US" sz="800" spc="60" kern="0" b="0" i="0" dirty="0">
                <a:solidFill>
                  <a:srgbClr val="50658E"/>
                </a:solidFill>
                <a:latin typeface="IBM Plex Mono Medium"/>
                <a:ea typeface="IBM Plex Mono Medium"/>
                <a:cs typeface="IBM Plex Mono Medium"/>
              </a:endParaRPr>
            </a:p>
          </p:txBody>
        </p:sp>
        <p:graphicFrame>
          <p:nvGraphicFramePr>
            <p:cNvPr id="17" name="node05.native" descr=""/>
            <p:cNvGraphicFramePr/>
            <p:nvPr/>
          </p:nvGraphicFramePr>
          <p:xfrm>
            <a:off x="723900" y="3581400"/>
            <a:ext cx="7086600" cy="1905000"/>
          </p:xfrm>
          <a:graphic xmlns:a="http://schemas.openxmlformats.org/drawingml/2006/main">
            <a:graphicData uri="http://schemas.openxmlformats.org/drawingml/2006/chart">
              <c:chart xmlns:c="http://schemas.openxmlformats.org/drawingml/2006/chart" r:id="rId1"/>
            </a:graphicData>
          </a:graphic>
        </p:graphicFrame>
        <p:sp>
          <p:nvSpPr>
            <p:cNvPr id="18" name="node05.direct-1"/>
            <p:cNvSpPr/>
            <p:nvPr/>
          </p:nvSpPr>
          <p:spPr>
            <a:xfrm>
              <a:off x="6591300" y="3479800"/>
              <a:ext cx="121920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Net value · 6</a:t>
              </a:r>
              <a:endParaRPr lang="en-US" sz="1100" spc="0" kern="0" b="0" i="0" dirty="0">
                <a:solidFill>
                  <a:srgbClr val="070154"/>
                </a:solidFill>
                <a:latin typeface="IBM Plex Sans SemiBold"/>
                <a:ea typeface="IBM Plex Sans SemiBold"/>
                <a:cs typeface="IBM Plex Sans SemiBold"/>
              </a:endParaRPr>
            </a:p>
          </p:txBody>
        </p:sp>
      </p:grpSp>
      <p:grpSp>
        <p:nvGrpSpPr>
          <p:cNvPr id="31" name="node06"/>
          <p:cNvGrpSpPr/>
          <p:nvPr/>
        </p:nvGrpSpPr>
        <p:grpSpPr>
          <a:xfrm>
            <a:off x="8039100" y="2971800"/>
            <a:ext cx="3429000" cy="139700"/>
            <a:chOff x="8039100" y="2971800"/>
            <a:chExt cx="3429000" cy="139700"/>
          </a:xfrm>
        </p:grpSpPr>
        <p:sp>
          <p:nvSpPr>
            <p:cNvPr id="19" name="node06.text"/>
            <p:cNvSpPr/>
            <p:nvPr/>
          </p:nvSpPr>
          <p:spPr>
            <a:xfrm>
              <a:off x="8039100" y="29718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IT MEANS</a:t>
              </a:r>
              <a:endParaRPr lang="en-US" sz="800" spc="48" kern="0" b="0" i="0" dirty="0">
                <a:solidFill>
                  <a:srgbClr val="0047FF"/>
                </a:solidFill>
                <a:latin typeface="IBM Plex Mono Medium"/>
                <a:ea typeface="IBM Plex Mono Medium"/>
                <a:cs typeface="IBM Plex Mono Medium"/>
              </a:endParaRPr>
            </a:p>
          </p:txBody>
        </p:sp>
      </p:grpSp>
      <p:grpSp>
        <p:nvGrpSpPr>
          <p:cNvPr id="32" name="node07"/>
          <p:cNvGrpSpPr/>
          <p:nvPr/>
        </p:nvGrpSpPr>
        <p:grpSpPr>
          <a:xfrm>
            <a:off x="8039100" y="3276600"/>
            <a:ext cx="3429000" cy="723900"/>
            <a:chOff x="8039100" y="3276600"/>
            <a:chExt cx="3429000" cy="723900"/>
          </a:xfrm>
        </p:grpSpPr>
        <p:sp>
          <p:nvSpPr>
            <p:cNvPr id="20" name="node07.source-001.bullet"/>
            <p:cNvSpPr/>
            <p:nvPr/>
          </p:nvSpPr>
          <p:spPr>
            <a:xfrm>
              <a:off x="8039100" y="3365500"/>
              <a:ext cx="38100" cy="38100"/>
            </a:xfrm>
            <a:prstGeom prst="rect">
              <a:avLst/>
            </a:prstGeom>
            <a:solidFill>
              <a:srgbClr val="070154"/>
            </a:solidFill>
            <a:ln>
              <a:noFill/>
            </a:ln>
          </p:spPr>
        </p:sp>
        <p:sp>
          <p:nvSpPr>
            <p:cNvPr id="21" name="node07.source-001.text"/>
            <p:cNvSpPr/>
            <p:nvPr/>
          </p:nvSpPr>
          <p:spPr>
            <a:xfrm>
              <a:off x="8191500" y="3276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Investment peaks in quarter 3</a:t>
              </a:r>
              <a:endParaRPr lang="en-US" sz="1200" spc="0" kern="0" b="0" i="0" dirty="0">
                <a:solidFill>
                  <a:srgbClr val="070154"/>
                </a:solidFill>
                <a:latin typeface="IBM Plex Sans"/>
                <a:ea typeface="IBM Plex Sans"/>
                <a:cs typeface="IBM Plex Sans"/>
              </a:endParaRPr>
            </a:p>
          </p:txBody>
        </p:sp>
        <p:sp>
          <p:nvSpPr>
            <p:cNvPr id="22" name="node07.source-002.bullet"/>
            <p:cNvSpPr/>
            <p:nvPr/>
          </p:nvSpPr>
          <p:spPr>
            <a:xfrm>
              <a:off x="8039100" y="3619500"/>
              <a:ext cx="38100" cy="38100"/>
            </a:xfrm>
            <a:prstGeom prst="rect">
              <a:avLst/>
            </a:prstGeom>
            <a:solidFill>
              <a:srgbClr val="070154"/>
            </a:solidFill>
            <a:ln>
              <a:noFill/>
            </a:ln>
          </p:spPr>
        </p:sp>
        <p:sp>
          <p:nvSpPr>
            <p:cNvPr id="23" name="node07.source-002.text"/>
            <p:cNvSpPr/>
            <p:nvPr/>
          </p:nvSpPr>
          <p:spPr>
            <a:xfrm>
              <a:off x="8191500" y="3530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Net value turns positive in quarter 5</a:t>
              </a:r>
              <a:endParaRPr lang="en-US" sz="1200" spc="0" kern="0" b="0" i="0" dirty="0">
                <a:solidFill>
                  <a:srgbClr val="070154"/>
                </a:solidFill>
                <a:latin typeface="IBM Plex Sans"/>
                <a:ea typeface="IBM Plex Sans"/>
                <a:cs typeface="IBM Plex Sans"/>
              </a:endParaRPr>
            </a:p>
          </p:txBody>
        </p:sp>
        <p:sp>
          <p:nvSpPr>
            <p:cNvPr id="24" name="node07.source-003.bullet"/>
            <p:cNvSpPr/>
            <p:nvPr/>
          </p:nvSpPr>
          <p:spPr>
            <a:xfrm>
              <a:off x="8039100" y="3873500"/>
              <a:ext cx="38100" cy="38100"/>
            </a:xfrm>
            <a:prstGeom prst="rect">
              <a:avLst/>
            </a:prstGeom>
            <a:solidFill>
              <a:srgbClr val="070154"/>
            </a:solidFill>
            <a:ln>
              <a:noFill/>
            </a:ln>
          </p:spPr>
        </p:sp>
        <p:sp>
          <p:nvSpPr>
            <p:cNvPr id="25" name="node07.source-003.text"/>
            <p:cNvSpPr/>
            <p:nvPr/>
          </p:nvSpPr>
          <p:spPr>
            <a:xfrm>
              <a:off x="8191500" y="378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$6.0M net value by year three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ource-32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readiness assessment: one page, one fixed fee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208</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723900" y="1600200"/>
            <a:ext cx="6934200" cy="139700"/>
            <a:chOff x="723900" y="1600200"/>
            <a:chExt cx="6934200" cy="139700"/>
          </a:xfrm>
        </p:grpSpPr>
        <p:sp>
          <p:nvSpPr>
            <p:cNvPr id="7" name="node01.text"/>
            <p:cNvSpPr/>
            <p:nvPr/>
          </p:nvSpPr>
          <p:spPr>
            <a:xfrm>
              <a:off x="723900" y="1600200"/>
              <a:ext cx="693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 · WHAT WE WILL DO</a:t>
              </a:r>
              <a:endParaRPr lang="en-US" sz="800" spc="48" kern="0" b="0" i="0" dirty="0">
                <a:solidFill>
                  <a:srgbClr val="0047FF"/>
                </a:solidFill>
                <a:latin typeface="IBM Plex Mono Medium"/>
                <a:ea typeface="IBM Plex Mono Medium"/>
                <a:cs typeface="IBM Plex Mono Medium"/>
              </a:endParaRPr>
            </a:p>
          </p:txBody>
        </p:sp>
      </p:grpSp>
      <p:grpSp>
        <p:nvGrpSpPr>
          <p:cNvPr id="58" name="node02"/>
          <p:cNvGrpSpPr/>
          <p:nvPr/>
        </p:nvGrpSpPr>
        <p:grpSpPr>
          <a:xfrm>
            <a:off x="723900" y="1828800"/>
            <a:ext cx="6934200" cy="431800"/>
            <a:chOff x="723900" y="1828800"/>
            <a:chExt cx="6934200" cy="431800"/>
          </a:xfrm>
        </p:grpSpPr>
        <p:sp>
          <p:nvSpPr>
            <p:cNvPr id="8" name="node02.text"/>
            <p:cNvSpPr/>
            <p:nvPr/>
          </p:nvSpPr>
          <p:spPr>
            <a:xfrm>
              <a:off x="723900" y="1828800"/>
              <a:ext cx="693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Health systems are piloting AI faster than they can govern it. In eight weeks we assess data, people, risk and use cases across Northfield, rank what to do first and leave a funded, sequenced first wave.</a:t>
              </a:r>
              <a:endParaRPr lang="en-US" sz="1200" spc="0" kern="0" b="0" i="0" dirty="0">
                <a:solidFill>
                  <a:srgbClr val="50658E"/>
                </a:solidFill>
                <a:latin typeface="IBM Plex Sans"/>
                <a:ea typeface="IBM Plex Sans"/>
                <a:cs typeface="IBM Plex Sans"/>
              </a:endParaRPr>
            </a:p>
          </p:txBody>
        </p:sp>
      </p:grpSp>
      <p:grpSp>
        <p:nvGrpSpPr>
          <p:cNvPr id="59" name="node03"/>
          <p:cNvGrpSpPr/>
          <p:nvPr/>
        </p:nvGrpSpPr>
        <p:grpSpPr>
          <a:xfrm>
            <a:off x="8039100" y="1600200"/>
            <a:ext cx="3429000" cy="1143000"/>
            <a:chOff x="8039100" y="1600200"/>
            <a:chExt cx="3429000" cy="1143000"/>
          </a:xfrm>
        </p:grpSpPr>
        <p:sp>
          <p:nvSpPr>
            <p:cNvPr id="9" name="node03.surface"/>
            <p:cNvSpPr/>
            <p:nvPr/>
          </p:nvSpPr>
          <p:spPr>
            <a:xfrm>
              <a:off x="8039100" y="1600200"/>
              <a:ext cx="3429000" cy="1143000"/>
            </a:xfrm>
            <a:prstGeom prst="rect">
              <a:avLst/>
            </a:prstGeom>
            <a:solidFill>
              <a:srgbClr val="070154"/>
            </a:solidFill>
            <a:ln>
              <a:noFill/>
            </a:ln>
          </p:spPr>
        </p:sp>
      </p:grpSp>
      <p:grpSp>
        <p:nvGrpSpPr>
          <p:cNvPr id="60" name="node04"/>
          <p:cNvGrpSpPr/>
          <p:nvPr/>
        </p:nvGrpSpPr>
        <p:grpSpPr>
          <a:xfrm>
            <a:off x="8191500" y="1752600"/>
            <a:ext cx="3124200" cy="139700"/>
            <a:chOff x="8191500" y="1752600"/>
            <a:chExt cx="3124200" cy="139700"/>
          </a:xfrm>
        </p:grpSpPr>
        <p:sp>
          <p:nvSpPr>
            <p:cNvPr id="10" name="node04.text"/>
            <p:cNvSpPr/>
            <p:nvPr/>
          </p:nvSpPr>
          <p:spPr>
            <a:xfrm>
              <a:off x="81915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FIXED FEE</a:t>
              </a:r>
              <a:endParaRPr lang="en-US" sz="800" spc="48" kern="0" b="0" i="0" dirty="0">
                <a:solidFill>
                  <a:srgbClr val="CED7E6"/>
                </a:solidFill>
                <a:latin typeface="IBM Plex Mono Medium"/>
                <a:ea typeface="IBM Plex Mono Medium"/>
                <a:cs typeface="IBM Plex Mono Medium"/>
              </a:endParaRPr>
            </a:p>
          </p:txBody>
        </p:sp>
      </p:grpSp>
      <p:grpSp>
        <p:nvGrpSpPr>
          <p:cNvPr id="61" name="node05"/>
          <p:cNvGrpSpPr/>
          <p:nvPr/>
        </p:nvGrpSpPr>
        <p:grpSpPr>
          <a:xfrm>
            <a:off x="8191500" y="1981200"/>
            <a:ext cx="1524000" cy="382461"/>
            <a:chOff x="8191500" y="1981200"/>
            <a:chExt cx="1524000" cy="382461"/>
          </a:xfrm>
        </p:grpSpPr>
        <p:sp>
          <p:nvSpPr>
            <p:cNvPr id="11" name="node05.text"/>
            <p:cNvSpPr/>
            <p:nvPr/>
          </p:nvSpPr>
          <p:spPr>
            <a:xfrm>
              <a:off x="8191500" y="1981200"/>
              <a:ext cx="15240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FFFFF"/>
                  </a:solidFill>
                  <a:latin typeface="IBM Plex Mono SemiBold"/>
                  <a:ea typeface="IBM Plex Mono SemiBold"/>
                  <a:cs typeface="IBM Plex Mono SemiBold"/>
                </a:rPr>
                <a:t>$185K</a:t>
              </a:r>
              <a:endParaRPr lang="en-US" sz="3000" spc="-60" kern="0" b="0" i="0" dirty="0">
                <a:solidFill>
                  <a:srgbClr val="FFFFFF"/>
                </a:solidFill>
                <a:latin typeface="IBM Plex Mono SemiBold"/>
                <a:ea typeface="IBM Plex Mono SemiBold"/>
                <a:cs typeface="IBM Plex Mono SemiBold"/>
              </a:endParaRPr>
            </a:p>
          </p:txBody>
        </p:sp>
      </p:grpSp>
      <p:grpSp>
        <p:nvGrpSpPr>
          <p:cNvPr id="62" name="node06"/>
          <p:cNvGrpSpPr/>
          <p:nvPr/>
        </p:nvGrpSpPr>
        <p:grpSpPr>
          <a:xfrm>
            <a:off x="9715500" y="2019300"/>
            <a:ext cx="1600200" cy="190500"/>
            <a:chOff x="9715500" y="2019300"/>
            <a:chExt cx="1600200" cy="190500"/>
          </a:xfrm>
        </p:grpSpPr>
        <p:sp>
          <p:nvSpPr>
            <p:cNvPr id="12" name="node06.text"/>
            <p:cNvSpPr/>
            <p:nvPr/>
          </p:nvSpPr>
          <p:spPr>
            <a:xfrm>
              <a:off x="9715500" y="20193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fixed fee, 8 weeks</a:t>
              </a:r>
              <a:endParaRPr lang="en-US" sz="1100" spc="0" kern="0" b="0" i="0" dirty="0">
                <a:solidFill>
                  <a:srgbClr val="FFFFFF"/>
                </a:solidFill>
                <a:latin typeface="IBM Plex Sans"/>
                <a:ea typeface="IBM Plex Sans"/>
                <a:cs typeface="IBM Plex Sans"/>
              </a:endParaRPr>
            </a:p>
          </p:txBody>
        </p:sp>
      </p:grpSp>
      <p:grpSp>
        <p:nvGrpSpPr>
          <p:cNvPr id="63" name="node07"/>
          <p:cNvGrpSpPr/>
          <p:nvPr/>
        </p:nvGrpSpPr>
        <p:grpSpPr>
          <a:xfrm>
            <a:off x="9715500" y="2247900"/>
            <a:ext cx="1600200" cy="190500"/>
            <a:chOff x="9715500" y="2247900"/>
            <a:chExt cx="1600200" cy="190500"/>
          </a:xfrm>
        </p:grpSpPr>
        <p:sp>
          <p:nvSpPr>
            <p:cNvPr id="13" name="node07.text"/>
            <p:cNvSpPr/>
            <p:nvPr/>
          </p:nvSpPr>
          <p:spPr>
            <a:xfrm>
              <a:off x="9715500" y="22479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2 invoices, net 30</a:t>
              </a:r>
              <a:endParaRPr lang="en-US" sz="1100" spc="0" kern="0" b="0" i="0" dirty="0">
                <a:solidFill>
                  <a:srgbClr val="CED7E6"/>
                </a:solidFill>
                <a:latin typeface="IBM Plex Sans"/>
                <a:ea typeface="IBM Plex Sans"/>
                <a:cs typeface="IBM Plex Sans"/>
              </a:endParaRPr>
            </a:p>
          </p:txBody>
        </p:sp>
      </p:grpSp>
      <p:grpSp>
        <p:nvGrpSpPr>
          <p:cNvPr id="64" name="node08"/>
          <p:cNvGrpSpPr/>
          <p:nvPr/>
        </p:nvGrpSpPr>
        <p:grpSpPr>
          <a:xfrm>
            <a:off x="723900" y="2895600"/>
            <a:ext cx="10744200" cy="139700"/>
            <a:chOff x="723900" y="2895600"/>
            <a:chExt cx="10744200" cy="139700"/>
          </a:xfrm>
        </p:grpSpPr>
        <p:sp>
          <p:nvSpPr>
            <p:cNvPr id="14" name="node08.text"/>
            <p:cNvSpPr/>
            <p:nvPr/>
          </p:nvSpPr>
          <p:spPr>
            <a:xfrm>
              <a:off x="723900" y="2895600"/>
              <a:ext cx="1074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2 · HOW WE WILL DO IT · 8 WEEKS</a:t>
              </a:r>
              <a:endParaRPr lang="en-US" sz="800" spc="48" kern="0" b="0" i="0" dirty="0">
                <a:solidFill>
                  <a:srgbClr val="0047FF"/>
                </a:solidFill>
                <a:latin typeface="IBM Plex Mono Medium"/>
                <a:ea typeface="IBM Plex Mono Medium"/>
                <a:cs typeface="IBM Plex Mono Medium"/>
              </a:endParaRPr>
            </a:p>
          </p:txBody>
        </p:sp>
      </p:grpSp>
      <p:sp>
        <p:nvSpPr>
          <p:cNvPr id="15" name="node09"/>
          <p:cNvSpPr/>
          <p:nvPr/>
        </p:nvSpPr>
        <p:spPr>
          <a:xfrm>
            <a:off x="723900" y="3162300"/>
            <a:ext cx="2514600" cy="12700"/>
          </a:xfrm>
          <a:prstGeom prst="rect">
            <a:avLst/>
          </a:prstGeom>
          <a:solidFill>
            <a:srgbClr val="CED7E6"/>
          </a:solidFill>
          <a:ln>
            <a:noFill/>
          </a:ln>
        </p:spPr>
      </p:sp>
      <p:grpSp>
        <p:nvGrpSpPr>
          <p:cNvPr id="65" name="node10"/>
          <p:cNvGrpSpPr/>
          <p:nvPr/>
        </p:nvGrpSpPr>
        <p:grpSpPr>
          <a:xfrm>
            <a:off x="723900" y="3276600"/>
            <a:ext cx="2514600" cy="139700"/>
            <a:chOff x="723900" y="3276600"/>
            <a:chExt cx="2514600" cy="139700"/>
          </a:xfrm>
        </p:grpSpPr>
        <p:sp>
          <p:nvSpPr>
            <p:cNvPr id="16" name="node10.text"/>
            <p:cNvSpPr/>
            <p:nvPr/>
          </p:nvSpPr>
          <p:spPr>
            <a:xfrm>
              <a:off x="723900" y="3276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01 · WEEKS 1 TO 2</a:t>
              </a:r>
              <a:endParaRPr lang="en-US" sz="800" spc="48" kern="0" b="0" i="0" dirty="0">
                <a:solidFill>
                  <a:srgbClr val="0047FF"/>
                </a:solidFill>
                <a:latin typeface="IBM Plex Mono Medium"/>
                <a:ea typeface="IBM Plex Mono Medium"/>
                <a:cs typeface="IBM Plex Mono Medium"/>
              </a:endParaRPr>
            </a:p>
          </p:txBody>
        </p:sp>
      </p:grpSp>
      <p:grpSp>
        <p:nvGrpSpPr>
          <p:cNvPr id="66" name="node11"/>
          <p:cNvGrpSpPr/>
          <p:nvPr/>
        </p:nvGrpSpPr>
        <p:grpSpPr>
          <a:xfrm>
            <a:off x="723900" y="3505200"/>
            <a:ext cx="2514600" cy="266700"/>
            <a:chOff x="723900" y="3505200"/>
            <a:chExt cx="2514600" cy="266700"/>
          </a:xfrm>
        </p:grpSpPr>
        <p:sp>
          <p:nvSpPr>
            <p:cNvPr id="17" name="node11.text"/>
            <p:cNvSpPr/>
            <p:nvPr/>
          </p:nvSpPr>
          <p:spPr>
            <a:xfrm>
              <a:off x="723900" y="35052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Align</a:t>
              </a:r>
              <a:endParaRPr lang="en-US" sz="1600" spc="-16" kern="0" b="0" i="0" dirty="0">
                <a:solidFill>
                  <a:srgbClr val="070154"/>
                </a:solidFill>
                <a:latin typeface="IBM Plex Sans SemiBold"/>
                <a:ea typeface="IBM Plex Sans SemiBold"/>
                <a:cs typeface="IBM Plex Sans SemiBold"/>
              </a:endParaRPr>
            </a:p>
          </p:txBody>
        </p:sp>
      </p:grpSp>
      <p:grpSp>
        <p:nvGrpSpPr>
          <p:cNvPr id="67" name="node12"/>
          <p:cNvGrpSpPr/>
          <p:nvPr/>
        </p:nvGrpSpPr>
        <p:grpSpPr>
          <a:xfrm>
            <a:off x="723900" y="3848100"/>
            <a:ext cx="2514600" cy="939800"/>
            <a:chOff x="723900" y="3848100"/>
            <a:chExt cx="2514600" cy="939800"/>
          </a:xfrm>
        </p:grpSpPr>
        <p:sp>
          <p:nvSpPr>
            <p:cNvPr id="18" name="node12.source-001.bullet"/>
            <p:cNvSpPr/>
            <p:nvPr/>
          </p:nvSpPr>
          <p:spPr>
            <a:xfrm>
              <a:off x="723900" y="3937000"/>
              <a:ext cx="38100" cy="38100"/>
            </a:xfrm>
            <a:prstGeom prst="rect">
              <a:avLst/>
            </a:prstGeom>
            <a:solidFill>
              <a:srgbClr val="070154"/>
            </a:solidFill>
            <a:ln>
              <a:noFill/>
            </a:ln>
          </p:spPr>
        </p:sp>
        <p:sp>
          <p:nvSpPr>
            <p:cNvPr id="19" name="node12.source-001.text"/>
            <p:cNvSpPr/>
            <p:nvPr/>
          </p:nvSpPr>
          <p:spPr>
            <a:xfrm>
              <a:off x="876300" y="38481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Confirm sponsor goals and risk appetite</a:t>
              </a:r>
              <a:endParaRPr lang="en-US" sz="1200" spc="0" kern="0" b="0" i="0" dirty="0">
                <a:solidFill>
                  <a:srgbClr val="070154"/>
                </a:solidFill>
                <a:latin typeface="IBM Plex Sans"/>
                <a:ea typeface="IBM Plex Sans"/>
                <a:cs typeface="IBM Plex Sans"/>
              </a:endParaRPr>
            </a:p>
          </p:txBody>
        </p:sp>
        <p:sp>
          <p:nvSpPr>
            <p:cNvPr id="20" name="node12.source-002.bullet"/>
            <p:cNvSpPr/>
            <p:nvPr/>
          </p:nvSpPr>
          <p:spPr>
            <a:xfrm>
              <a:off x="723900" y="4406900"/>
              <a:ext cx="38100" cy="38100"/>
            </a:xfrm>
            <a:prstGeom prst="rect">
              <a:avLst/>
            </a:prstGeom>
            <a:solidFill>
              <a:srgbClr val="070154"/>
            </a:solidFill>
            <a:ln>
              <a:noFill/>
            </a:ln>
          </p:spPr>
        </p:sp>
        <p:sp>
          <p:nvSpPr>
            <p:cNvPr id="21" name="node12.source-002.text"/>
            <p:cNvSpPr/>
            <p:nvPr/>
          </p:nvSpPr>
          <p:spPr>
            <a:xfrm>
              <a:off x="876300" y="4318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20 stakeholder interviews</a:t>
              </a:r>
              <a:endParaRPr lang="en-US" sz="1200" spc="0" kern="0" b="0" i="0" dirty="0">
                <a:solidFill>
                  <a:srgbClr val="070154"/>
                </a:solidFill>
                <a:latin typeface="IBM Plex Sans"/>
                <a:ea typeface="IBM Plex Sans"/>
                <a:cs typeface="IBM Plex Sans"/>
              </a:endParaRPr>
            </a:p>
          </p:txBody>
        </p:sp>
        <p:sp>
          <p:nvSpPr>
            <p:cNvPr id="22" name="node12.source-003.bullet"/>
            <p:cNvSpPr/>
            <p:nvPr/>
          </p:nvSpPr>
          <p:spPr>
            <a:xfrm>
              <a:off x="723900" y="4660900"/>
              <a:ext cx="38100" cy="38100"/>
            </a:xfrm>
            <a:prstGeom prst="rect">
              <a:avLst/>
            </a:prstGeom>
            <a:solidFill>
              <a:srgbClr val="070154"/>
            </a:solidFill>
            <a:ln>
              <a:noFill/>
            </a:ln>
          </p:spPr>
        </p:sp>
        <p:sp>
          <p:nvSpPr>
            <p:cNvPr id="23" name="node12.source-003.text"/>
            <p:cNvSpPr/>
            <p:nvPr/>
          </p:nvSpPr>
          <p:spPr>
            <a:xfrm>
              <a:off x="876300" y="4572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Agree scoring criteria</a:t>
              </a:r>
              <a:endParaRPr lang="en-US" sz="1200" spc="0" kern="0" b="0" i="0" dirty="0">
                <a:solidFill>
                  <a:srgbClr val="070154"/>
                </a:solidFill>
                <a:latin typeface="IBM Plex Sans"/>
                <a:ea typeface="IBM Plex Sans"/>
                <a:cs typeface="IBM Plex Sans"/>
              </a:endParaRPr>
            </a:p>
          </p:txBody>
        </p:sp>
      </p:grpSp>
      <p:sp>
        <p:nvSpPr>
          <p:cNvPr id="24" name="node13"/>
          <p:cNvSpPr/>
          <p:nvPr/>
        </p:nvSpPr>
        <p:spPr>
          <a:xfrm>
            <a:off x="3467100" y="3162300"/>
            <a:ext cx="2514600" cy="12700"/>
          </a:xfrm>
          <a:prstGeom prst="rect">
            <a:avLst/>
          </a:prstGeom>
          <a:solidFill>
            <a:srgbClr val="CED7E6"/>
          </a:solidFill>
          <a:ln>
            <a:noFill/>
          </a:ln>
        </p:spPr>
      </p:sp>
      <p:grpSp>
        <p:nvGrpSpPr>
          <p:cNvPr id="68" name="node14"/>
          <p:cNvGrpSpPr/>
          <p:nvPr/>
        </p:nvGrpSpPr>
        <p:grpSpPr>
          <a:xfrm>
            <a:off x="3467100" y="3276600"/>
            <a:ext cx="2514600" cy="139700"/>
            <a:chOff x="3467100" y="3276600"/>
            <a:chExt cx="2514600" cy="139700"/>
          </a:xfrm>
        </p:grpSpPr>
        <p:sp>
          <p:nvSpPr>
            <p:cNvPr id="25" name="node14.text"/>
            <p:cNvSpPr/>
            <p:nvPr/>
          </p:nvSpPr>
          <p:spPr>
            <a:xfrm>
              <a:off x="3467100" y="3276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02 · WEEKS 3 TO 5</a:t>
              </a:r>
              <a:endParaRPr lang="en-US" sz="800" spc="48" kern="0" b="0" i="0" dirty="0">
                <a:solidFill>
                  <a:srgbClr val="0047FF"/>
                </a:solidFill>
                <a:latin typeface="IBM Plex Mono Medium"/>
                <a:ea typeface="IBM Plex Mono Medium"/>
                <a:cs typeface="IBM Plex Mono Medium"/>
              </a:endParaRPr>
            </a:p>
          </p:txBody>
        </p:sp>
      </p:grpSp>
      <p:grpSp>
        <p:nvGrpSpPr>
          <p:cNvPr id="69" name="node15"/>
          <p:cNvGrpSpPr/>
          <p:nvPr/>
        </p:nvGrpSpPr>
        <p:grpSpPr>
          <a:xfrm>
            <a:off x="3467100" y="3505200"/>
            <a:ext cx="2514600" cy="266700"/>
            <a:chOff x="3467100" y="3505200"/>
            <a:chExt cx="2514600" cy="266700"/>
          </a:xfrm>
        </p:grpSpPr>
        <p:sp>
          <p:nvSpPr>
            <p:cNvPr id="26" name="node15.text"/>
            <p:cNvSpPr/>
            <p:nvPr/>
          </p:nvSpPr>
          <p:spPr>
            <a:xfrm>
              <a:off x="3467100" y="35052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Assess</a:t>
              </a:r>
              <a:endParaRPr lang="en-US" sz="1600" spc="-16" kern="0" b="0" i="0" dirty="0">
                <a:solidFill>
                  <a:srgbClr val="070154"/>
                </a:solidFill>
                <a:latin typeface="IBM Plex Sans SemiBold"/>
                <a:ea typeface="IBM Plex Sans SemiBold"/>
                <a:cs typeface="IBM Plex Sans SemiBold"/>
              </a:endParaRPr>
            </a:p>
          </p:txBody>
        </p:sp>
      </p:grpSp>
      <p:grpSp>
        <p:nvGrpSpPr>
          <p:cNvPr id="70" name="node16"/>
          <p:cNvGrpSpPr/>
          <p:nvPr/>
        </p:nvGrpSpPr>
        <p:grpSpPr>
          <a:xfrm>
            <a:off x="3467100" y="3848100"/>
            <a:ext cx="2514600" cy="939800"/>
            <a:chOff x="3467100" y="3848100"/>
            <a:chExt cx="2514600" cy="939800"/>
          </a:xfrm>
        </p:grpSpPr>
        <p:sp>
          <p:nvSpPr>
            <p:cNvPr id="27" name="node16.source-001.bullet"/>
            <p:cNvSpPr/>
            <p:nvPr/>
          </p:nvSpPr>
          <p:spPr>
            <a:xfrm>
              <a:off x="3467100" y="3937000"/>
              <a:ext cx="38100" cy="38100"/>
            </a:xfrm>
            <a:prstGeom prst="rect">
              <a:avLst/>
            </a:prstGeom>
            <a:solidFill>
              <a:srgbClr val="070154"/>
            </a:solidFill>
            <a:ln>
              <a:noFill/>
            </a:ln>
          </p:spPr>
        </p:sp>
        <p:sp>
          <p:nvSpPr>
            <p:cNvPr id="28" name="node16.source-001.text"/>
            <p:cNvSpPr/>
            <p:nvPr/>
          </p:nvSpPr>
          <p:spPr>
            <a:xfrm>
              <a:off x="3619500" y="38481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Scan data, platform and talent against five domains</a:t>
              </a:r>
              <a:endParaRPr lang="en-US" sz="1200" spc="0" kern="0" b="0" i="0" dirty="0">
                <a:solidFill>
                  <a:srgbClr val="070154"/>
                </a:solidFill>
                <a:latin typeface="IBM Plex Sans"/>
                <a:ea typeface="IBM Plex Sans"/>
                <a:cs typeface="IBM Plex Sans"/>
              </a:endParaRPr>
            </a:p>
          </p:txBody>
        </p:sp>
        <p:sp>
          <p:nvSpPr>
            <p:cNvPr id="29" name="node16.source-002.bullet"/>
            <p:cNvSpPr/>
            <p:nvPr/>
          </p:nvSpPr>
          <p:spPr>
            <a:xfrm>
              <a:off x="3467100" y="4406900"/>
              <a:ext cx="38100" cy="38100"/>
            </a:xfrm>
            <a:prstGeom prst="rect">
              <a:avLst/>
            </a:prstGeom>
            <a:solidFill>
              <a:srgbClr val="070154"/>
            </a:solidFill>
            <a:ln>
              <a:noFill/>
            </a:ln>
          </p:spPr>
        </p:sp>
        <p:sp>
          <p:nvSpPr>
            <p:cNvPr id="30" name="node16.source-002.text"/>
            <p:cNvSpPr/>
            <p:nvPr/>
          </p:nvSpPr>
          <p:spPr>
            <a:xfrm>
              <a:off x="3619500" y="4318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Score each domain 1 to 5</a:t>
              </a:r>
              <a:endParaRPr lang="en-US" sz="1200" spc="0" kern="0" b="0" i="0" dirty="0">
                <a:solidFill>
                  <a:srgbClr val="070154"/>
                </a:solidFill>
                <a:latin typeface="IBM Plex Sans"/>
                <a:ea typeface="IBM Plex Sans"/>
                <a:cs typeface="IBM Plex Sans"/>
              </a:endParaRPr>
            </a:p>
          </p:txBody>
        </p:sp>
        <p:sp>
          <p:nvSpPr>
            <p:cNvPr id="31" name="node16.source-003.bullet"/>
            <p:cNvSpPr/>
            <p:nvPr/>
          </p:nvSpPr>
          <p:spPr>
            <a:xfrm>
              <a:off x="3467100" y="4660900"/>
              <a:ext cx="38100" cy="38100"/>
            </a:xfrm>
            <a:prstGeom prst="rect">
              <a:avLst/>
            </a:prstGeom>
            <a:solidFill>
              <a:srgbClr val="070154"/>
            </a:solidFill>
            <a:ln>
              <a:noFill/>
            </a:ln>
          </p:spPr>
        </p:sp>
        <p:sp>
          <p:nvSpPr>
            <p:cNvPr id="32" name="node16.source-003.text"/>
            <p:cNvSpPr/>
            <p:nvPr/>
          </p:nvSpPr>
          <p:spPr>
            <a:xfrm>
              <a:off x="3619500" y="4572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Compare with peer systems</a:t>
              </a:r>
              <a:endParaRPr lang="en-US" sz="1200" spc="0" kern="0" b="0" i="0" dirty="0">
                <a:solidFill>
                  <a:srgbClr val="070154"/>
                </a:solidFill>
                <a:latin typeface="IBM Plex Sans"/>
                <a:ea typeface="IBM Plex Sans"/>
                <a:cs typeface="IBM Plex Sans"/>
              </a:endParaRPr>
            </a:p>
          </p:txBody>
        </p:sp>
      </p:grpSp>
      <p:sp>
        <p:nvSpPr>
          <p:cNvPr id="33" name="node17"/>
          <p:cNvSpPr/>
          <p:nvPr/>
        </p:nvSpPr>
        <p:spPr>
          <a:xfrm>
            <a:off x="6210300" y="3162300"/>
            <a:ext cx="2514600" cy="12700"/>
          </a:xfrm>
          <a:prstGeom prst="rect">
            <a:avLst/>
          </a:prstGeom>
          <a:solidFill>
            <a:srgbClr val="CED7E6"/>
          </a:solidFill>
          <a:ln>
            <a:noFill/>
          </a:ln>
        </p:spPr>
      </p:sp>
      <p:grpSp>
        <p:nvGrpSpPr>
          <p:cNvPr id="71" name="node18"/>
          <p:cNvGrpSpPr/>
          <p:nvPr/>
        </p:nvGrpSpPr>
        <p:grpSpPr>
          <a:xfrm>
            <a:off x="6210300" y="3276600"/>
            <a:ext cx="2514600" cy="139700"/>
            <a:chOff x="6210300" y="3276600"/>
            <a:chExt cx="2514600" cy="139700"/>
          </a:xfrm>
        </p:grpSpPr>
        <p:sp>
          <p:nvSpPr>
            <p:cNvPr id="34" name="node18.text"/>
            <p:cNvSpPr/>
            <p:nvPr/>
          </p:nvSpPr>
          <p:spPr>
            <a:xfrm>
              <a:off x="6210300" y="3276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03 · WEEKS 6 TO 7</a:t>
              </a:r>
              <a:endParaRPr lang="en-US" sz="800" spc="48" kern="0" b="0" i="0" dirty="0">
                <a:solidFill>
                  <a:srgbClr val="0047FF"/>
                </a:solidFill>
                <a:latin typeface="IBM Plex Mono Medium"/>
                <a:ea typeface="IBM Plex Mono Medium"/>
                <a:cs typeface="IBM Plex Mono Medium"/>
              </a:endParaRPr>
            </a:p>
          </p:txBody>
        </p:sp>
      </p:grpSp>
      <p:grpSp>
        <p:nvGrpSpPr>
          <p:cNvPr id="72" name="node19"/>
          <p:cNvGrpSpPr/>
          <p:nvPr/>
        </p:nvGrpSpPr>
        <p:grpSpPr>
          <a:xfrm>
            <a:off x="6210300" y="3505200"/>
            <a:ext cx="2514600" cy="266700"/>
            <a:chOff x="6210300" y="3505200"/>
            <a:chExt cx="2514600" cy="266700"/>
          </a:xfrm>
        </p:grpSpPr>
        <p:sp>
          <p:nvSpPr>
            <p:cNvPr id="35" name="node19.text"/>
            <p:cNvSpPr/>
            <p:nvPr/>
          </p:nvSpPr>
          <p:spPr>
            <a:xfrm>
              <a:off x="6210300" y="35052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Prioritize</a:t>
              </a:r>
              <a:endParaRPr lang="en-US" sz="1600" spc="-16" kern="0" b="0" i="0" dirty="0">
                <a:solidFill>
                  <a:srgbClr val="070154"/>
                </a:solidFill>
                <a:latin typeface="IBM Plex Sans SemiBold"/>
                <a:ea typeface="IBM Plex Sans SemiBold"/>
                <a:cs typeface="IBM Plex Sans SemiBold"/>
              </a:endParaRPr>
            </a:p>
          </p:txBody>
        </p:sp>
      </p:grpSp>
      <p:grpSp>
        <p:nvGrpSpPr>
          <p:cNvPr id="73" name="node20"/>
          <p:cNvGrpSpPr/>
          <p:nvPr/>
        </p:nvGrpSpPr>
        <p:grpSpPr>
          <a:xfrm>
            <a:off x="6210300" y="3848100"/>
            <a:ext cx="2514600" cy="939800"/>
            <a:chOff x="6210300" y="3848100"/>
            <a:chExt cx="2514600" cy="939800"/>
          </a:xfrm>
        </p:grpSpPr>
        <p:sp>
          <p:nvSpPr>
            <p:cNvPr id="36" name="node20.source-001.bullet"/>
            <p:cNvSpPr/>
            <p:nvPr/>
          </p:nvSpPr>
          <p:spPr>
            <a:xfrm>
              <a:off x="6210300" y="3937000"/>
              <a:ext cx="38100" cy="38100"/>
            </a:xfrm>
            <a:prstGeom prst="rect">
              <a:avLst/>
            </a:prstGeom>
            <a:solidFill>
              <a:srgbClr val="070154"/>
            </a:solidFill>
            <a:ln>
              <a:noFill/>
            </a:ln>
          </p:spPr>
        </p:sp>
        <p:sp>
          <p:nvSpPr>
            <p:cNvPr id="37" name="node20.source-001.text"/>
            <p:cNvSpPr/>
            <p:nvPr/>
          </p:nvSpPr>
          <p:spPr>
            <a:xfrm>
              <a:off x="6362700" y="38481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Long-list 30 use cases with clinical and finance leads</a:t>
              </a:r>
              <a:endParaRPr lang="en-US" sz="1200" spc="0" kern="0" b="0" i="0" dirty="0">
                <a:solidFill>
                  <a:srgbClr val="070154"/>
                </a:solidFill>
                <a:latin typeface="IBM Plex Sans"/>
                <a:ea typeface="IBM Plex Sans"/>
                <a:cs typeface="IBM Plex Sans"/>
              </a:endParaRPr>
            </a:p>
          </p:txBody>
        </p:sp>
        <p:sp>
          <p:nvSpPr>
            <p:cNvPr id="38" name="node20.source-002.bullet"/>
            <p:cNvSpPr/>
            <p:nvPr/>
          </p:nvSpPr>
          <p:spPr>
            <a:xfrm>
              <a:off x="6210300" y="4406900"/>
              <a:ext cx="38100" cy="38100"/>
            </a:xfrm>
            <a:prstGeom prst="rect">
              <a:avLst/>
            </a:prstGeom>
            <a:solidFill>
              <a:srgbClr val="070154"/>
            </a:solidFill>
            <a:ln>
              <a:noFill/>
            </a:ln>
          </p:spPr>
        </p:sp>
        <p:sp>
          <p:nvSpPr>
            <p:cNvPr id="39" name="node20.source-002.text"/>
            <p:cNvSpPr/>
            <p:nvPr/>
          </p:nvSpPr>
          <p:spPr>
            <a:xfrm>
              <a:off x="6362700" y="4318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Rank on value, risk and readiness</a:t>
              </a:r>
              <a:endParaRPr lang="en-US" sz="1200" spc="0" kern="0" b="0" i="0" dirty="0">
                <a:solidFill>
                  <a:srgbClr val="070154"/>
                </a:solidFill>
                <a:latin typeface="IBM Plex Sans"/>
                <a:ea typeface="IBM Plex Sans"/>
                <a:cs typeface="IBM Plex Sans"/>
              </a:endParaRPr>
            </a:p>
          </p:txBody>
        </p:sp>
        <p:sp>
          <p:nvSpPr>
            <p:cNvPr id="40" name="node20.source-003.bullet"/>
            <p:cNvSpPr/>
            <p:nvPr/>
          </p:nvSpPr>
          <p:spPr>
            <a:xfrm>
              <a:off x="6210300" y="4660900"/>
              <a:ext cx="38100" cy="38100"/>
            </a:xfrm>
            <a:prstGeom prst="rect">
              <a:avLst/>
            </a:prstGeom>
            <a:solidFill>
              <a:srgbClr val="070154"/>
            </a:solidFill>
            <a:ln>
              <a:noFill/>
            </a:ln>
          </p:spPr>
        </p:sp>
        <p:sp>
          <p:nvSpPr>
            <p:cNvPr id="41" name="node20.source-003.text"/>
            <p:cNvSpPr/>
            <p:nvPr/>
          </p:nvSpPr>
          <p:spPr>
            <a:xfrm>
              <a:off x="6362700" y="4572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Agree the top ten</a:t>
              </a:r>
              <a:endParaRPr lang="en-US" sz="1200" spc="0" kern="0" b="0" i="0" dirty="0">
                <a:solidFill>
                  <a:srgbClr val="070154"/>
                </a:solidFill>
                <a:latin typeface="IBM Plex Sans"/>
                <a:ea typeface="IBM Plex Sans"/>
                <a:cs typeface="IBM Plex Sans"/>
              </a:endParaRPr>
            </a:p>
          </p:txBody>
        </p:sp>
      </p:grpSp>
      <p:sp>
        <p:nvSpPr>
          <p:cNvPr id="42" name="node21"/>
          <p:cNvSpPr/>
          <p:nvPr/>
        </p:nvSpPr>
        <p:spPr>
          <a:xfrm>
            <a:off x="8953500" y="3162300"/>
            <a:ext cx="2514600" cy="12700"/>
          </a:xfrm>
          <a:prstGeom prst="rect">
            <a:avLst/>
          </a:prstGeom>
          <a:solidFill>
            <a:srgbClr val="CED7E6"/>
          </a:solidFill>
          <a:ln>
            <a:noFill/>
          </a:ln>
        </p:spPr>
      </p:sp>
      <p:grpSp>
        <p:nvGrpSpPr>
          <p:cNvPr id="74" name="node22"/>
          <p:cNvGrpSpPr/>
          <p:nvPr/>
        </p:nvGrpSpPr>
        <p:grpSpPr>
          <a:xfrm>
            <a:off x="8953500" y="3276600"/>
            <a:ext cx="2514600" cy="139700"/>
            <a:chOff x="8953500" y="3276600"/>
            <a:chExt cx="2514600" cy="139700"/>
          </a:xfrm>
        </p:grpSpPr>
        <p:sp>
          <p:nvSpPr>
            <p:cNvPr id="43" name="node22.text"/>
            <p:cNvSpPr/>
            <p:nvPr/>
          </p:nvSpPr>
          <p:spPr>
            <a:xfrm>
              <a:off x="8953500" y="3276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04 · WEEK 8</a:t>
              </a:r>
              <a:endParaRPr lang="en-US" sz="800" spc="48" kern="0" b="0" i="0" dirty="0">
                <a:solidFill>
                  <a:srgbClr val="0047FF"/>
                </a:solidFill>
                <a:latin typeface="IBM Plex Mono Medium"/>
                <a:ea typeface="IBM Plex Mono Medium"/>
                <a:cs typeface="IBM Plex Mono Medium"/>
              </a:endParaRPr>
            </a:p>
          </p:txBody>
        </p:sp>
      </p:grpSp>
      <p:grpSp>
        <p:nvGrpSpPr>
          <p:cNvPr id="75" name="node23"/>
          <p:cNvGrpSpPr/>
          <p:nvPr/>
        </p:nvGrpSpPr>
        <p:grpSpPr>
          <a:xfrm>
            <a:off x="8953500" y="3505200"/>
            <a:ext cx="2514600" cy="266700"/>
            <a:chOff x="8953500" y="3505200"/>
            <a:chExt cx="2514600" cy="266700"/>
          </a:xfrm>
        </p:grpSpPr>
        <p:sp>
          <p:nvSpPr>
            <p:cNvPr id="44" name="node23.text"/>
            <p:cNvSpPr/>
            <p:nvPr/>
          </p:nvSpPr>
          <p:spPr>
            <a:xfrm>
              <a:off x="8953500" y="35052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Plan</a:t>
              </a:r>
              <a:endParaRPr lang="en-US" sz="1600" spc="-16" kern="0" b="0" i="0" dirty="0">
                <a:solidFill>
                  <a:srgbClr val="070154"/>
                </a:solidFill>
                <a:latin typeface="IBM Plex Sans SemiBold"/>
                <a:ea typeface="IBM Plex Sans SemiBold"/>
                <a:cs typeface="IBM Plex Sans SemiBold"/>
              </a:endParaRPr>
            </a:p>
          </p:txBody>
        </p:sp>
      </p:grpSp>
      <p:grpSp>
        <p:nvGrpSpPr>
          <p:cNvPr id="76" name="node24"/>
          <p:cNvGrpSpPr/>
          <p:nvPr/>
        </p:nvGrpSpPr>
        <p:grpSpPr>
          <a:xfrm>
            <a:off x="8953500" y="3848100"/>
            <a:ext cx="2514600" cy="939800"/>
            <a:chOff x="8953500" y="3848100"/>
            <a:chExt cx="2514600" cy="939800"/>
          </a:xfrm>
        </p:grpSpPr>
        <p:sp>
          <p:nvSpPr>
            <p:cNvPr id="45" name="node24.source-001.bullet"/>
            <p:cNvSpPr/>
            <p:nvPr/>
          </p:nvSpPr>
          <p:spPr>
            <a:xfrm>
              <a:off x="8953500" y="3937000"/>
              <a:ext cx="38100" cy="38100"/>
            </a:xfrm>
            <a:prstGeom prst="rect">
              <a:avLst/>
            </a:prstGeom>
            <a:solidFill>
              <a:srgbClr val="070154"/>
            </a:solidFill>
            <a:ln>
              <a:noFill/>
            </a:ln>
          </p:spPr>
        </p:sp>
        <p:sp>
          <p:nvSpPr>
            <p:cNvPr id="46" name="node24.source-001.text"/>
            <p:cNvSpPr/>
            <p:nvPr/>
          </p:nvSpPr>
          <p:spPr>
            <a:xfrm>
              <a:off x="9105900" y="38481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Governance and risk model with review gates</a:t>
              </a:r>
              <a:endParaRPr lang="en-US" sz="1200" spc="0" kern="0" b="0" i="0" dirty="0">
                <a:solidFill>
                  <a:srgbClr val="070154"/>
                </a:solidFill>
                <a:latin typeface="IBM Plex Sans"/>
                <a:ea typeface="IBM Plex Sans"/>
                <a:cs typeface="IBM Plex Sans"/>
              </a:endParaRPr>
            </a:p>
          </p:txBody>
        </p:sp>
        <p:sp>
          <p:nvSpPr>
            <p:cNvPr id="47" name="node24.source-002.bullet"/>
            <p:cNvSpPr/>
            <p:nvPr/>
          </p:nvSpPr>
          <p:spPr>
            <a:xfrm>
              <a:off x="8953500" y="4406900"/>
              <a:ext cx="38100" cy="38100"/>
            </a:xfrm>
            <a:prstGeom prst="rect">
              <a:avLst/>
            </a:prstGeom>
            <a:solidFill>
              <a:srgbClr val="070154"/>
            </a:solidFill>
            <a:ln>
              <a:noFill/>
            </a:ln>
          </p:spPr>
        </p:sp>
        <p:sp>
          <p:nvSpPr>
            <p:cNvPr id="48" name="node24.source-002.text"/>
            <p:cNvSpPr/>
            <p:nvPr/>
          </p:nvSpPr>
          <p:spPr>
            <a:xfrm>
              <a:off x="9105900" y="4318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90-day roadmap with owners</a:t>
              </a:r>
              <a:endParaRPr lang="en-US" sz="1200" spc="0" kern="0" b="0" i="0" dirty="0">
                <a:solidFill>
                  <a:srgbClr val="070154"/>
                </a:solidFill>
                <a:latin typeface="IBM Plex Sans"/>
                <a:ea typeface="IBM Plex Sans"/>
                <a:cs typeface="IBM Plex Sans"/>
              </a:endParaRPr>
            </a:p>
          </p:txBody>
        </p:sp>
        <p:sp>
          <p:nvSpPr>
            <p:cNvPr id="49" name="node24.source-003.bullet"/>
            <p:cNvSpPr/>
            <p:nvPr/>
          </p:nvSpPr>
          <p:spPr>
            <a:xfrm>
              <a:off x="8953500" y="4660900"/>
              <a:ext cx="38100" cy="38100"/>
            </a:xfrm>
            <a:prstGeom prst="rect">
              <a:avLst/>
            </a:prstGeom>
            <a:solidFill>
              <a:srgbClr val="070154"/>
            </a:solidFill>
            <a:ln>
              <a:noFill/>
            </a:ln>
          </p:spPr>
        </p:sp>
        <p:sp>
          <p:nvSpPr>
            <p:cNvPr id="50" name="node24.source-003.text"/>
            <p:cNvSpPr/>
            <p:nvPr/>
          </p:nvSpPr>
          <p:spPr>
            <a:xfrm>
              <a:off x="9105900" y="4572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Business case and readout</a:t>
              </a:r>
              <a:endParaRPr lang="en-US" sz="1200" spc="0" kern="0" b="0" i="0" dirty="0">
                <a:solidFill>
                  <a:srgbClr val="070154"/>
                </a:solidFill>
                <a:latin typeface="IBM Plex Sans"/>
                <a:ea typeface="IBM Plex Sans"/>
                <a:cs typeface="IBM Plex Sans"/>
              </a:endParaRPr>
            </a:p>
          </p:txBody>
        </p:sp>
      </p:grpSp>
      <p:grpSp>
        <p:nvGrpSpPr>
          <p:cNvPr id="77" name="node25"/>
          <p:cNvGrpSpPr/>
          <p:nvPr/>
        </p:nvGrpSpPr>
        <p:grpSpPr>
          <a:xfrm>
            <a:off x="723900" y="5029200"/>
            <a:ext cx="5257800" cy="685800"/>
            <a:chOff x="723900" y="5029200"/>
            <a:chExt cx="5257800" cy="685800"/>
          </a:xfrm>
        </p:grpSpPr>
        <p:sp>
          <p:nvSpPr>
            <p:cNvPr id="51" name="node25.surface"/>
            <p:cNvSpPr/>
            <p:nvPr/>
          </p:nvSpPr>
          <p:spPr>
            <a:xfrm>
              <a:off x="723900" y="5029200"/>
              <a:ext cx="5257800" cy="685800"/>
            </a:xfrm>
            <a:prstGeom prst="rect">
              <a:avLst/>
            </a:prstGeom>
            <a:solidFill>
              <a:srgbClr val="E8EEF8"/>
            </a:solidFill>
            <a:ln>
              <a:noFill/>
            </a:ln>
          </p:spPr>
        </p:sp>
      </p:grpSp>
      <p:grpSp>
        <p:nvGrpSpPr>
          <p:cNvPr id="78" name="node26"/>
          <p:cNvGrpSpPr/>
          <p:nvPr/>
        </p:nvGrpSpPr>
        <p:grpSpPr>
          <a:xfrm>
            <a:off x="876300" y="5143500"/>
            <a:ext cx="1219200" cy="139700"/>
            <a:chOff x="876300" y="5143500"/>
            <a:chExt cx="1219200" cy="139700"/>
          </a:xfrm>
        </p:grpSpPr>
        <p:sp>
          <p:nvSpPr>
            <p:cNvPr id="52" name="node26.text"/>
            <p:cNvSpPr/>
            <p:nvPr/>
          </p:nvSpPr>
          <p:spPr>
            <a:xfrm>
              <a:off x="876300" y="5143500"/>
              <a:ext cx="1219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DELIVERABLES</a:t>
              </a:r>
              <a:endParaRPr lang="en-US" sz="800" spc="48" kern="0" b="0" i="0" dirty="0">
                <a:solidFill>
                  <a:srgbClr val="0047FF"/>
                </a:solidFill>
                <a:latin typeface="IBM Plex Mono Medium"/>
                <a:ea typeface="IBM Plex Mono Medium"/>
                <a:cs typeface="IBM Plex Mono Medium"/>
              </a:endParaRPr>
            </a:p>
          </p:txBody>
        </p:sp>
      </p:grpSp>
      <p:grpSp>
        <p:nvGrpSpPr>
          <p:cNvPr id="79" name="node27"/>
          <p:cNvGrpSpPr/>
          <p:nvPr/>
        </p:nvGrpSpPr>
        <p:grpSpPr>
          <a:xfrm>
            <a:off x="2095500" y="5105400"/>
            <a:ext cx="3733800" cy="381000"/>
            <a:chOff x="2095500" y="5105400"/>
            <a:chExt cx="3733800" cy="381000"/>
          </a:xfrm>
        </p:grpSpPr>
        <p:sp>
          <p:nvSpPr>
            <p:cNvPr id="53" name="node27.text"/>
            <p:cNvSpPr/>
            <p:nvPr/>
          </p:nvSpPr>
          <p:spPr>
            <a:xfrm>
              <a:off x="2095500" y="5105400"/>
              <a:ext cx="3733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Readiness scorecard, ranked use-case portfolio, governance model, 90-day roadmap</a:t>
              </a:r>
              <a:endParaRPr lang="en-US" sz="1100" spc="0" kern="0" b="0" i="0" dirty="0">
                <a:solidFill>
                  <a:srgbClr val="070154"/>
                </a:solidFill>
                <a:latin typeface="IBM Plex Sans"/>
                <a:ea typeface="IBM Plex Sans"/>
                <a:cs typeface="IBM Plex Sans"/>
              </a:endParaRPr>
            </a:p>
          </p:txBody>
        </p:sp>
      </p:grpSp>
      <p:grpSp>
        <p:nvGrpSpPr>
          <p:cNvPr id="80" name="node28"/>
          <p:cNvGrpSpPr/>
          <p:nvPr/>
        </p:nvGrpSpPr>
        <p:grpSpPr>
          <a:xfrm>
            <a:off x="6210300" y="5029200"/>
            <a:ext cx="5257800" cy="685800"/>
            <a:chOff x="6210300" y="5029200"/>
            <a:chExt cx="5257800" cy="685800"/>
          </a:xfrm>
        </p:grpSpPr>
        <p:sp>
          <p:nvSpPr>
            <p:cNvPr id="54" name="node28.surface"/>
            <p:cNvSpPr/>
            <p:nvPr/>
          </p:nvSpPr>
          <p:spPr>
            <a:xfrm>
              <a:off x="6210300" y="5029200"/>
              <a:ext cx="5257800" cy="685800"/>
            </a:xfrm>
            <a:prstGeom prst="rect">
              <a:avLst/>
            </a:prstGeom>
            <a:solidFill>
              <a:srgbClr val="E8EEF8"/>
            </a:solidFill>
            <a:ln>
              <a:noFill/>
            </a:ln>
          </p:spPr>
        </p:sp>
      </p:grpSp>
      <p:grpSp>
        <p:nvGrpSpPr>
          <p:cNvPr id="81" name="node29"/>
          <p:cNvGrpSpPr/>
          <p:nvPr/>
        </p:nvGrpSpPr>
        <p:grpSpPr>
          <a:xfrm>
            <a:off x="6362700" y="5143500"/>
            <a:ext cx="1219200" cy="139700"/>
            <a:chOff x="6362700" y="5143500"/>
            <a:chExt cx="1219200" cy="139700"/>
          </a:xfrm>
        </p:grpSpPr>
        <p:sp>
          <p:nvSpPr>
            <p:cNvPr id="55" name="node29.text"/>
            <p:cNvSpPr/>
            <p:nvPr/>
          </p:nvSpPr>
          <p:spPr>
            <a:xfrm>
              <a:off x="6362700" y="5143500"/>
              <a:ext cx="1219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ASSUMPTIONS</a:t>
              </a:r>
              <a:endParaRPr lang="en-US" sz="800" spc="48" kern="0" b="0" i="0" dirty="0">
                <a:solidFill>
                  <a:srgbClr val="0047FF"/>
                </a:solidFill>
                <a:latin typeface="IBM Plex Mono Medium"/>
                <a:ea typeface="IBM Plex Mono Medium"/>
                <a:cs typeface="IBM Plex Mono Medium"/>
              </a:endParaRPr>
            </a:p>
          </p:txBody>
        </p:sp>
      </p:grpSp>
      <p:grpSp>
        <p:nvGrpSpPr>
          <p:cNvPr id="82" name="node30"/>
          <p:cNvGrpSpPr/>
          <p:nvPr/>
        </p:nvGrpSpPr>
        <p:grpSpPr>
          <a:xfrm>
            <a:off x="7581900" y="5105400"/>
            <a:ext cx="3733800" cy="381000"/>
            <a:chOff x="7581900" y="5105400"/>
            <a:chExt cx="3733800" cy="381000"/>
          </a:xfrm>
        </p:grpSpPr>
        <p:sp>
          <p:nvSpPr>
            <p:cNvPr id="56" name="node30.text"/>
            <p:cNvSpPr/>
            <p:nvPr/>
          </p:nvSpPr>
          <p:spPr>
            <a:xfrm>
              <a:off x="7581900" y="5105400"/>
              <a:ext cx="3733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Data access and a data owner in week 1; sponsors decide in five days; no model build</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ource-32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Finance close accelerator: what, how and what it costs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209</a:t>
            </a:fld>
            <a:endParaRPr lang="en-US" sz="700" spc="0" kern="0" b="0" i="0" dirty="0">
              <a:solidFill>
                <a:srgbClr val="070154"/>
              </a:solidFill>
              <a:latin typeface="IBM Plex Mono SemiBold"/>
              <a:ea typeface="IBM Plex Mono SemiBold"/>
              <a:cs typeface="IBM Plex Mono SemiBold"/>
            </a:endParaRPr>
          </a:p>
        </p:txBody>
      </p:sp>
      <p:grpSp>
        <p:nvGrpSpPr>
          <p:cNvPr id="53" name="node01"/>
          <p:cNvGrpSpPr/>
          <p:nvPr/>
        </p:nvGrpSpPr>
        <p:grpSpPr>
          <a:xfrm>
            <a:off x="723900" y="1600200"/>
            <a:ext cx="1371600" cy="139700"/>
            <a:chOff x="723900" y="1600200"/>
            <a:chExt cx="1371600" cy="139700"/>
          </a:xfrm>
        </p:grpSpPr>
        <p:sp>
          <p:nvSpPr>
            <p:cNvPr id="7" name="node01.text"/>
            <p:cNvSpPr/>
            <p:nvPr/>
          </p:nvSpPr>
          <p:spPr>
            <a:xfrm>
              <a:off x="723900" y="1600200"/>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 · WHAT</a:t>
              </a:r>
              <a:endParaRPr lang="en-US" sz="800" spc="48" kern="0" b="0" i="0" dirty="0">
                <a:solidFill>
                  <a:srgbClr val="0047FF"/>
                </a:solidFill>
                <a:latin typeface="IBM Plex Mono Medium"/>
                <a:ea typeface="IBM Plex Mono Medium"/>
                <a:cs typeface="IBM Plex Mono Medium"/>
              </a:endParaRPr>
            </a:p>
          </p:txBody>
        </p:sp>
      </p:grpSp>
      <p:grpSp>
        <p:nvGrpSpPr>
          <p:cNvPr id="54" name="node02"/>
          <p:cNvGrpSpPr/>
          <p:nvPr/>
        </p:nvGrpSpPr>
        <p:grpSpPr>
          <a:xfrm>
            <a:off x="723900" y="1828800"/>
            <a:ext cx="1371600" cy="381000"/>
            <a:chOff x="723900" y="1828800"/>
            <a:chExt cx="1371600" cy="381000"/>
          </a:xfrm>
        </p:grpSpPr>
        <p:sp>
          <p:nvSpPr>
            <p:cNvPr id="8" name="node02.text"/>
            <p:cNvSpPr/>
            <p:nvPr/>
          </p:nvSpPr>
          <p:spPr>
            <a:xfrm>
              <a:off x="723900" y="1828800"/>
              <a:ext cx="1371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The offer and what you keep</a:t>
              </a:r>
              <a:endParaRPr lang="en-US" sz="1100" spc="0" kern="0" b="0" i="0" dirty="0">
                <a:solidFill>
                  <a:srgbClr val="50658E"/>
                </a:solidFill>
                <a:latin typeface="IBM Plex Sans"/>
                <a:ea typeface="IBM Plex Sans"/>
                <a:cs typeface="IBM Plex Sans"/>
              </a:endParaRPr>
            </a:p>
          </p:txBody>
        </p:sp>
      </p:grpSp>
      <p:grpSp>
        <p:nvGrpSpPr>
          <p:cNvPr id="55" name="node03"/>
          <p:cNvGrpSpPr/>
          <p:nvPr/>
        </p:nvGrpSpPr>
        <p:grpSpPr>
          <a:xfrm>
            <a:off x="2324100" y="1600200"/>
            <a:ext cx="5486400" cy="647700"/>
            <a:chOff x="2324100" y="1600200"/>
            <a:chExt cx="5486400" cy="647700"/>
          </a:xfrm>
        </p:grpSpPr>
        <p:sp>
          <p:nvSpPr>
            <p:cNvPr id="9" name="node03.text"/>
            <p:cNvSpPr/>
            <p:nvPr/>
          </p:nvSpPr>
          <p:spPr>
            <a:xfrm>
              <a:off x="2324100" y="1600200"/>
              <a:ext cx="54864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Close slips because reconciliations, approvals and journal entries run in sequence. We map the close, remove the longest delays and put a five-day target calendar in place, so Finance spends days on analysis, not on chasing.</a:t>
              </a:r>
              <a:endParaRPr lang="en-US" sz="1200" spc="0" kern="0" b="0" i="0" dirty="0">
                <a:solidFill>
                  <a:srgbClr val="50658E"/>
                </a:solidFill>
                <a:latin typeface="IBM Plex Sans"/>
                <a:ea typeface="IBM Plex Sans"/>
                <a:cs typeface="IBM Plex Sans"/>
              </a:endParaRPr>
            </a:p>
          </p:txBody>
        </p:sp>
      </p:grpSp>
      <p:grpSp>
        <p:nvGrpSpPr>
          <p:cNvPr id="56" name="node04"/>
          <p:cNvGrpSpPr/>
          <p:nvPr/>
        </p:nvGrpSpPr>
        <p:grpSpPr>
          <a:xfrm>
            <a:off x="8039100" y="1600200"/>
            <a:ext cx="3429000" cy="139700"/>
            <a:chOff x="8039100" y="1600200"/>
            <a:chExt cx="3429000" cy="139700"/>
          </a:xfrm>
        </p:grpSpPr>
        <p:sp>
          <p:nvSpPr>
            <p:cNvPr id="10" name="node04.text"/>
            <p:cNvSpPr/>
            <p:nvPr/>
          </p:nvSpPr>
          <p:spPr>
            <a:xfrm>
              <a:off x="80391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YOU KEEP</a:t>
              </a:r>
              <a:endParaRPr lang="en-US" sz="800" spc="48" kern="0" b="0" i="0" dirty="0">
                <a:solidFill>
                  <a:srgbClr val="0047FF"/>
                </a:solidFill>
                <a:latin typeface="IBM Plex Mono Medium"/>
                <a:ea typeface="IBM Plex Mono Medium"/>
                <a:cs typeface="IBM Plex Mono Medium"/>
              </a:endParaRPr>
            </a:p>
          </p:txBody>
        </p:sp>
      </p:grpSp>
      <p:grpSp>
        <p:nvGrpSpPr>
          <p:cNvPr id="57" name="node05"/>
          <p:cNvGrpSpPr/>
          <p:nvPr/>
        </p:nvGrpSpPr>
        <p:grpSpPr>
          <a:xfrm>
            <a:off x="8039100" y="1828800"/>
            <a:ext cx="3429000" cy="723900"/>
            <a:chOff x="8039100" y="1828800"/>
            <a:chExt cx="3429000" cy="723900"/>
          </a:xfrm>
        </p:grpSpPr>
        <p:sp>
          <p:nvSpPr>
            <p:cNvPr id="11" name="node05.source-001.bullet"/>
            <p:cNvSpPr/>
            <p:nvPr/>
          </p:nvSpPr>
          <p:spPr>
            <a:xfrm>
              <a:off x="8039100" y="1917700"/>
              <a:ext cx="38100" cy="38100"/>
            </a:xfrm>
            <a:prstGeom prst="rect">
              <a:avLst/>
            </a:prstGeom>
            <a:solidFill>
              <a:srgbClr val="070154"/>
            </a:solidFill>
            <a:ln>
              <a:noFill/>
            </a:ln>
          </p:spPr>
        </p:sp>
        <p:sp>
          <p:nvSpPr>
            <p:cNvPr id="12" name="node05.source-001.text"/>
            <p:cNvSpPr/>
            <p:nvPr/>
          </p:nvSpPr>
          <p:spPr>
            <a:xfrm>
              <a:off x="8191500" y="1828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Close map with a delay heat map</a:t>
              </a:r>
              <a:endParaRPr lang="en-US" sz="1200" spc="0" kern="0" b="0" i="0" dirty="0">
                <a:solidFill>
                  <a:srgbClr val="070154"/>
                </a:solidFill>
                <a:latin typeface="IBM Plex Sans"/>
                <a:ea typeface="IBM Plex Sans"/>
                <a:cs typeface="IBM Plex Sans"/>
              </a:endParaRPr>
            </a:p>
          </p:txBody>
        </p:sp>
        <p:sp>
          <p:nvSpPr>
            <p:cNvPr id="13" name="node05.source-002.bullet"/>
            <p:cNvSpPr/>
            <p:nvPr/>
          </p:nvSpPr>
          <p:spPr>
            <a:xfrm>
              <a:off x="8039100" y="2171700"/>
              <a:ext cx="38100" cy="38100"/>
            </a:xfrm>
            <a:prstGeom prst="rect">
              <a:avLst/>
            </a:prstGeom>
            <a:solidFill>
              <a:srgbClr val="070154"/>
            </a:solidFill>
            <a:ln>
              <a:noFill/>
            </a:ln>
          </p:spPr>
        </p:sp>
        <p:sp>
          <p:nvSpPr>
            <p:cNvPr id="14" name="node05.source-002.text"/>
            <p:cNvSpPr/>
            <p:nvPr/>
          </p:nvSpPr>
          <p:spPr>
            <a:xfrm>
              <a:off x="8191500" y="2082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Redesigned close calendar and RACI</a:t>
              </a:r>
              <a:endParaRPr lang="en-US" sz="1200" spc="0" kern="0" b="0" i="0" dirty="0">
                <a:solidFill>
                  <a:srgbClr val="070154"/>
                </a:solidFill>
                <a:latin typeface="IBM Plex Sans"/>
                <a:ea typeface="IBM Plex Sans"/>
                <a:cs typeface="IBM Plex Sans"/>
              </a:endParaRPr>
            </a:p>
          </p:txBody>
        </p:sp>
        <p:sp>
          <p:nvSpPr>
            <p:cNvPr id="15" name="node05.source-003.bullet"/>
            <p:cNvSpPr/>
            <p:nvPr/>
          </p:nvSpPr>
          <p:spPr>
            <a:xfrm>
              <a:off x="8039100" y="2425700"/>
              <a:ext cx="38100" cy="38100"/>
            </a:xfrm>
            <a:prstGeom prst="rect">
              <a:avLst/>
            </a:prstGeom>
            <a:solidFill>
              <a:srgbClr val="070154"/>
            </a:solidFill>
            <a:ln>
              <a:noFill/>
            </a:ln>
          </p:spPr>
        </p:sp>
        <p:sp>
          <p:nvSpPr>
            <p:cNvPr id="16" name="node05.source-003.text"/>
            <p:cNvSpPr/>
            <p:nvPr/>
          </p:nvSpPr>
          <p:spPr>
            <a:xfrm>
              <a:off x="8191500" y="2336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Approval rules, dashboard, playbook</a:t>
              </a:r>
              <a:endParaRPr lang="en-US" sz="1200" spc="0" kern="0" b="0" i="0" dirty="0">
                <a:solidFill>
                  <a:srgbClr val="070154"/>
                </a:solidFill>
                <a:latin typeface="IBM Plex Sans"/>
                <a:ea typeface="IBM Plex Sans"/>
                <a:cs typeface="IBM Plex Sans"/>
              </a:endParaRPr>
            </a:p>
          </p:txBody>
        </p:sp>
      </p:grpSp>
      <p:sp>
        <p:nvSpPr>
          <p:cNvPr id="17" name="node06"/>
          <p:cNvSpPr/>
          <p:nvPr/>
        </p:nvSpPr>
        <p:spPr>
          <a:xfrm>
            <a:off x="723900" y="2895600"/>
            <a:ext cx="10744200" cy="12700"/>
          </a:xfrm>
          <a:prstGeom prst="rect">
            <a:avLst/>
          </a:prstGeom>
          <a:solidFill>
            <a:srgbClr val="CED7E6"/>
          </a:solidFill>
          <a:ln>
            <a:noFill/>
          </a:ln>
        </p:spPr>
      </p:sp>
      <p:grpSp>
        <p:nvGrpSpPr>
          <p:cNvPr id="58" name="node07"/>
          <p:cNvGrpSpPr/>
          <p:nvPr/>
        </p:nvGrpSpPr>
        <p:grpSpPr>
          <a:xfrm>
            <a:off x="723900" y="3048000"/>
            <a:ext cx="1371600" cy="139700"/>
            <a:chOff x="723900" y="3048000"/>
            <a:chExt cx="1371600" cy="139700"/>
          </a:xfrm>
        </p:grpSpPr>
        <p:sp>
          <p:nvSpPr>
            <p:cNvPr id="18" name="node07.text"/>
            <p:cNvSpPr/>
            <p:nvPr/>
          </p:nvSpPr>
          <p:spPr>
            <a:xfrm>
              <a:off x="723900" y="3048000"/>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2 · HOW</a:t>
              </a:r>
              <a:endParaRPr lang="en-US" sz="800" spc="48" kern="0" b="0" i="0" dirty="0">
                <a:solidFill>
                  <a:srgbClr val="0047FF"/>
                </a:solidFill>
                <a:latin typeface="IBM Plex Mono Medium"/>
                <a:ea typeface="IBM Plex Mono Medium"/>
                <a:cs typeface="IBM Plex Mono Medium"/>
              </a:endParaRPr>
            </a:p>
          </p:txBody>
        </p:sp>
      </p:grpSp>
      <p:grpSp>
        <p:nvGrpSpPr>
          <p:cNvPr id="59" name="node08"/>
          <p:cNvGrpSpPr/>
          <p:nvPr/>
        </p:nvGrpSpPr>
        <p:grpSpPr>
          <a:xfrm>
            <a:off x="723900" y="3276600"/>
            <a:ext cx="1371600" cy="381000"/>
            <a:chOff x="723900" y="3276600"/>
            <a:chExt cx="1371600" cy="381000"/>
          </a:xfrm>
        </p:grpSpPr>
        <p:sp>
          <p:nvSpPr>
            <p:cNvPr id="19" name="node08.text"/>
            <p:cNvSpPr/>
            <p:nvPr/>
          </p:nvSpPr>
          <p:spPr>
            <a:xfrm>
              <a:off x="723900" y="3276600"/>
              <a:ext cx="1371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Three phases, ten weeks</a:t>
              </a:r>
              <a:endParaRPr lang="en-US" sz="1100" spc="0" kern="0" b="0" i="0" dirty="0">
                <a:solidFill>
                  <a:srgbClr val="50658E"/>
                </a:solidFill>
                <a:latin typeface="IBM Plex Sans"/>
                <a:ea typeface="IBM Plex Sans"/>
                <a:cs typeface="IBM Plex Sans"/>
              </a:endParaRPr>
            </a:p>
          </p:txBody>
        </p:sp>
      </p:grpSp>
      <p:grpSp>
        <p:nvGrpSpPr>
          <p:cNvPr id="60" name="node09"/>
          <p:cNvGrpSpPr/>
          <p:nvPr/>
        </p:nvGrpSpPr>
        <p:grpSpPr>
          <a:xfrm>
            <a:off x="2324100" y="3048000"/>
            <a:ext cx="2895600" cy="139700"/>
            <a:chOff x="2324100" y="3048000"/>
            <a:chExt cx="2895600" cy="139700"/>
          </a:xfrm>
        </p:grpSpPr>
        <p:sp>
          <p:nvSpPr>
            <p:cNvPr id="20" name="node09.text"/>
            <p:cNvSpPr/>
            <p:nvPr/>
          </p:nvSpPr>
          <p:spPr>
            <a:xfrm>
              <a:off x="2324100" y="3048000"/>
              <a:ext cx="2895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01 · WEEKS 1 TO 3</a:t>
              </a:r>
              <a:endParaRPr lang="en-US" sz="800" spc="48" kern="0" b="0" i="0" dirty="0">
                <a:solidFill>
                  <a:srgbClr val="0047FF"/>
                </a:solidFill>
                <a:latin typeface="IBM Plex Mono Medium"/>
                <a:ea typeface="IBM Plex Mono Medium"/>
                <a:cs typeface="IBM Plex Mono Medium"/>
              </a:endParaRPr>
            </a:p>
          </p:txBody>
        </p:sp>
      </p:grpSp>
      <p:grpSp>
        <p:nvGrpSpPr>
          <p:cNvPr id="61" name="node10"/>
          <p:cNvGrpSpPr/>
          <p:nvPr/>
        </p:nvGrpSpPr>
        <p:grpSpPr>
          <a:xfrm>
            <a:off x="2324100" y="3276600"/>
            <a:ext cx="2895600" cy="266700"/>
            <a:chOff x="2324100" y="3276600"/>
            <a:chExt cx="2895600" cy="266700"/>
          </a:xfrm>
        </p:grpSpPr>
        <p:sp>
          <p:nvSpPr>
            <p:cNvPr id="21" name="node10.text"/>
            <p:cNvSpPr/>
            <p:nvPr/>
          </p:nvSpPr>
          <p:spPr>
            <a:xfrm>
              <a:off x="2324100" y="3276600"/>
              <a:ext cx="2895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Diagnose</a:t>
              </a:r>
              <a:endParaRPr lang="en-US" sz="1600" spc="-16" kern="0" b="0" i="0" dirty="0">
                <a:solidFill>
                  <a:srgbClr val="070154"/>
                </a:solidFill>
                <a:latin typeface="IBM Plex Sans SemiBold"/>
                <a:ea typeface="IBM Plex Sans SemiBold"/>
                <a:cs typeface="IBM Plex Sans SemiBold"/>
              </a:endParaRPr>
            </a:p>
          </p:txBody>
        </p:sp>
      </p:grpSp>
      <p:grpSp>
        <p:nvGrpSpPr>
          <p:cNvPr id="62" name="node11"/>
          <p:cNvGrpSpPr/>
          <p:nvPr/>
        </p:nvGrpSpPr>
        <p:grpSpPr>
          <a:xfrm>
            <a:off x="2324100" y="3619500"/>
            <a:ext cx="2895600" cy="723900"/>
            <a:chOff x="2324100" y="3619500"/>
            <a:chExt cx="2895600" cy="723900"/>
          </a:xfrm>
        </p:grpSpPr>
        <p:sp>
          <p:nvSpPr>
            <p:cNvPr id="22" name="node11.source-001.bullet"/>
            <p:cNvSpPr/>
            <p:nvPr/>
          </p:nvSpPr>
          <p:spPr>
            <a:xfrm>
              <a:off x="2324100" y="3708400"/>
              <a:ext cx="38100" cy="38100"/>
            </a:xfrm>
            <a:prstGeom prst="rect">
              <a:avLst/>
            </a:prstGeom>
            <a:solidFill>
              <a:srgbClr val="070154"/>
            </a:solidFill>
            <a:ln>
              <a:noFill/>
            </a:ln>
          </p:spPr>
        </p:sp>
        <p:sp>
          <p:nvSpPr>
            <p:cNvPr id="23" name="node11.source-001.text"/>
            <p:cNvSpPr/>
            <p:nvPr/>
          </p:nvSpPr>
          <p:spPr>
            <a:xfrm>
              <a:off x="2476500" y="36195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Time every close task end to end</a:t>
              </a:r>
              <a:endParaRPr lang="en-US" sz="1200" spc="0" kern="0" b="0" i="0" dirty="0">
                <a:solidFill>
                  <a:srgbClr val="070154"/>
                </a:solidFill>
                <a:latin typeface="IBM Plex Sans"/>
                <a:ea typeface="IBM Plex Sans"/>
                <a:cs typeface="IBM Plex Sans"/>
              </a:endParaRPr>
            </a:p>
          </p:txBody>
        </p:sp>
        <p:sp>
          <p:nvSpPr>
            <p:cNvPr id="24" name="node11.source-002.bullet"/>
            <p:cNvSpPr/>
            <p:nvPr/>
          </p:nvSpPr>
          <p:spPr>
            <a:xfrm>
              <a:off x="2324100" y="3962400"/>
              <a:ext cx="38100" cy="38100"/>
            </a:xfrm>
            <a:prstGeom prst="rect">
              <a:avLst/>
            </a:prstGeom>
            <a:solidFill>
              <a:srgbClr val="070154"/>
            </a:solidFill>
            <a:ln>
              <a:noFill/>
            </a:ln>
          </p:spPr>
        </p:sp>
        <p:sp>
          <p:nvSpPr>
            <p:cNvPr id="25" name="node11.source-002.text"/>
            <p:cNvSpPr/>
            <p:nvPr/>
          </p:nvSpPr>
          <p:spPr>
            <a:xfrm>
              <a:off x="2476500" y="38735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Interview 12 preparers, approvers</a:t>
              </a:r>
              <a:endParaRPr lang="en-US" sz="1200" spc="0" kern="0" b="0" i="0" dirty="0">
                <a:solidFill>
                  <a:srgbClr val="070154"/>
                </a:solidFill>
                <a:latin typeface="IBM Plex Sans"/>
                <a:ea typeface="IBM Plex Sans"/>
                <a:cs typeface="IBM Plex Sans"/>
              </a:endParaRPr>
            </a:p>
          </p:txBody>
        </p:sp>
        <p:sp>
          <p:nvSpPr>
            <p:cNvPr id="26" name="node11.source-003.bullet"/>
            <p:cNvSpPr/>
            <p:nvPr/>
          </p:nvSpPr>
          <p:spPr>
            <a:xfrm>
              <a:off x="2324100" y="4216400"/>
              <a:ext cx="38100" cy="38100"/>
            </a:xfrm>
            <a:prstGeom prst="rect">
              <a:avLst/>
            </a:prstGeom>
            <a:solidFill>
              <a:srgbClr val="070154"/>
            </a:solidFill>
            <a:ln>
              <a:noFill/>
            </a:ln>
          </p:spPr>
        </p:sp>
        <p:sp>
          <p:nvSpPr>
            <p:cNvPr id="27" name="node11.source-003.text"/>
            <p:cNvSpPr/>
            <p:nvPr/>
          </p:nvSpPr>
          <p:spPr>
            <a:xfrm>
              <a:off x="2476500" y="41275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Rank the 10 longest delays</a:t>
              </a:r>
              <a:endParaRPr lang="en-US" sz="1200" spc="0" kern="0" b="0" i="0" dirty="0">
                <a:solidFill>
                  <a:srgbClr val="070154"/>
                </a:solidFill>
                <a:latin typeface="IBM Plex Sans"/>
                <a:ea typeface="IBM Plex Sans"/>
                <a:cs typeface="IBM Plex Sans"/>
              </a:endParaRPr>
            </a:p>
          </p:txBody>
        </p:sp>
      </p:grpSp>
      <p:grpSp>
        <p:nvGrpSpPr>
          <p:cNvPr id="63" name="node12"/>
          <p:cNvGrpSpPr/>
          <p:nvPr/>
        </p:nvGrpSpPr>
        <p:grpSpPr>
          <a:xfrm>
            <a:off x="5448300" y="3048000"/>
            <a:ext cx="2895600" cy="139700"/>
            <a:chOff x="5448300" y="3048000"/>
            <a:chExt cx="2895600" cy="139700"/>
          </a:xfrm>
        </p:grpSpPr>
        <p:sp>
          <p:nvSpPr>
            <p:cNvPr id="28" name="node12.text"/>
            <p:cNvSpPr/>
            <p:nvPr/>
          </p:nvSpPr>
          <p:spPr>
            <a:xfrm>
              <a:off x="5448300" y="3048000"/>
              <a:ext cx="2895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02 · WEEKS 4 TO 7</a:t>
              </a:r>
              <a:endParaRPr lang="en-US" sz="800" spc="48" kern="0" b="0" i="0" dirty="0">
                <a:solidFill>
                  <a:srgbClr val="0047FF"/>
                </a:solidFill>
                <a:latin typeface="IBM Plex Mono Medium"/>
                <a:ea typeface="IBM Plex Mono Medium"/>
                <a:cs typeface="IBM Plex Mono Medium"/>
              </a:endParaRPr>
            </a:p>
          </p:txBody>
        </p:sp>
      </p:grpSp>
      <p:grpSp>
        <p:nvGrpSpPr>
          <p:cNvPr id="64" name="node13"/>
          <p:cNvGrpSpPr/>
          <p:nvPr/>
        </p:nvGrpSpPr>
        <p:grpSpPr>
          <a:xfrm>
            <a:off x="5448300" y="3276600"/>
            <a:ext cx="2895600" cy="266700"/>
            <a:chOff x="5448300" y="3276600"/>
            <a:chExt cx="2895600" cy="266700"/>
          </a:xfrm>
        </p:grpSpPr>
        <p:sp>
          <p:nvSpPr>
            <p:cNvPr id="29" name="node13.text"/>
            <p:cNvSpPr/>
            <p:nvPr/>
          </p:nvSpPr>
          <p:spPr>
            <a:xfrm>
              <a:off x="5448300" y="3276600"/>
              <a:ext cx="2895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Redesign</a:t>
              </a:r>
              <a:endParaRPr lang="en-US" sz="1600" spc="-16" kern="0" b="0" i="0" dirty="0">
                <a:solidFill>
                  <a:srgbClr val="070154"/>
                </a:solidFill>
                <a:latin typeface="IBM Plex Sans SemiBold"/>
                <a:ea typeface="IBM Plex Sans SemiBold"/>
                <a:cs typeface="IBM Plex Sans SemiBold"/>
              </a:endParaRPr>
            </a:p>
          </p:txBody>
        </p:sp>
      </p:grpSp>
      <p:grpSp>
        <p:nvGrpSpPr>
          <p:cNvPr id="65" name="node14"/>
          <p:cNvGrpSpPr/>
          <p:nvPr/>
        </p:nvGrpSpPr>
        <p:grpSpPr>
          <a:xfrm>
            <a:off x="5448300" y="3619500"/>
            <a:ext cx="2895600" cy="723900"/>
            <a:chOff x="5448300" y="3619500"/>
            <a:chExt cx="2895600" cy="723900"/>
          </a:xfrm>
        </p:grpSpPr>
        <p:sp>
          <p:nvSpPr>
            <p:cNvPr id="30" name="node14.source-001.bullet"/>
            <p:cNvSpPr/>
            <p:nvPr/>
          </p:nvSpPr>
          <p:spPr>
            <a:xfrm>
              <a:off x="5448300" y="3708400"/>
              <a:ext cx="38100" cy="38100"/>
            </a:xfrm>
            <a:prstGeom prst="rect">
              <a:avLst/>
            </a:prstGeom>
            <a:solidFill>
              <a:srgbClr val="070154"/>
            </a:solidFill>
            <a:ln>
              <a:noFill/>
            </a:ln>
          </p:spPr>
        </p:sp>
        <p:sp>
          <p:nvSpPr>
            <p:cNvPr id="31" name="node14.source-001.text"/>
            <p:cNvSpPr/>
            <p:nvPr/>
          </p:nvSpPr>
          <p:spPr>
            <a:xfrm>
              <a:off x="5600700" y="36195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Parallelize reconciliations</a:t>
              </a:r>
              <a:endParaRPr lang="en-US" sz="1200" spc="0" kern="0" b="0" i="0" dirty="0">
                <a:solidFill>
                  <a:srgbClr val="070154"/>
                </a:solidFill>
                <a:latin typeface="IBM Plex Sans"/>
                <a:ea typeface="IBM Plex Sans"/>
                <a:cs typeface="IBM Plex Sans"/>
              </a:endParaRPr>
            </a:p>
          </p:txBody>
        </p:sp>
        <p:sp>
          <p:nvSpPr>
            <p:cNvPr id="32" name="node14.source-002.bullet"/>
            <p:cNvSpPr/>
            <p:nvPr/>
          </p:nvSpPr>
          <p:spPr>
            <a:xfrm>
              <a:off x="5448300" y="3962400"/>
              <a:ext cx="38100" cy="38100"/>
            </a:xfrm>
            <a:prstGeom prst="rect">
              <a:avLst/>
            </a:prstGeom>
            <a:solidFill>
              <a:srgbClr val="070154"/>
            </a:solidFill>
            <a:ln>
              <a:noFill/>
            </a:ln>
          </p:spPr>
        </p:sp>
        <p:sp>
          <p:nvSpPr>
            <p:cNvPr id="33" name="node14.source-002.text"/>
            <p:cNvSpPr/>
            <p:nvPr/>
          </p:nvSpPr>
          <p:spPr>
            <a:xfrm>
              <a:off x="5600700" y="38735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Set approval thresholds and SLAs</a:t>
              </a:r>
              <a:endParaRPr lang="en-US" sz="1200" spc="0" kern="0" b="0" i="0" dirty="0">
                <a:solidFill>
                  <a:srgbClr val="070154"/>
                </a:solidFill>
                <a:latin typeface="IBM Plex Sans"/>
                <a:ea typeface="IBM Plex Sans"/>
                <a:cs typeface="IBM Plex Sans"/>
              </a:endParaRPr>
            </a:p>
          </p:txBody>
        </p:sp>
        <p:sp>
          <p:nvSpPr>
            <p:cNvPr id="34" name="node14.source-003.bullet"/>
            <p:cNvSpPr/>
            <p:nvPr/>
          </p:nvSpPr>
          <p:spPr>
            <a:xfrm>
              <a:off x="5448300" y="4216400"/>
              <a:ext cx="38100" cy="38100"/>
            </a:xfrm>
            <a:prstGeom prst="rect">
              <a:avLst/>
            </a:prstGeom>
            <a:solidFill>
              <a:srgbClr val="070154"/>
            </a:solidFill>
            <a:ln>
              <a:noFill/>
            </a:ln>
          </p:spPr>
        </p:sp>
        <p:sp>
          <p:nvSpPr>
            <p:cNvPr id="35" name="node14.source-003.text"/>
            <p:cNvSpPr/>
            <p:nvPr/>
          </p:nvSpPr>
          <p:spPr>
            <a:xfrm>
              <a:off x="5600700" y="41275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Pilot the calendar on one close</a:t>
              </a:r>
              <a:endParaRPr lang="en-US" sz="1200" spc="0" kern="0" b="0" i="0" dirty="0">
                <a:solidFill>
                  <a:srgbClr val="070154"/>
                </a:solidFill>
                <a:latin typeface="IBM Plex Sans"/>
                <a:ea typeface="IBM Plex Sans"/>
                <a:cs typeface="IBM Plex Sans"/>
              </a:endParaRPr>
            </a:p>
          </p:txBody>
        </p:sp>
      </p:grpSp>
      <p:grpSp>
        <p:nvGrpSpPr>
          <p:cNvPr id="66" name="node15"/>
          <p:cNvGrpSpPr/>
          <p:nvPr/>
        </p:nvGrpSpPr>
        <p:grpSpPr>
          <a:xfrm>
            <a:off x="8572500" y="3048000"/>
            <a:ext cx="2895600" cy="139700"/>
            <a:chOff x="8572500" y="3048000"/>
            <a:chExt cx="2895600" cy="139700"/>
          </a:xfrm>
        </p:grpSpPr>
        <p:sp>
          <p:nvSpPr>
            <p:cNvPr id="36" name="node15.text"/>
            <p:cNvSpPr/>
            <p:nvPr/>
          </p:nvSpPr>
          <p:spPr>
            <a:xfrm>
              <a:off x="8572500" y="3048000"/>
              <a:ext cx="2895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03 · WEEKS 8 TO 10</a:t>
              </a:r>
              <a:endParaRPr lang="en-US" sz="800" spc="48" kern="0" b="0" i="0" dirty="0">
                <a:solidFill>
                  <a:srgbClr val="0047FF"/>
                </a:solidFill>
                <a:latin typeface="IBM Plex Mono Medium"/>
                <a:ea typeface="IBM Plex Mono Medium"/>
                <a:cs typeface="IBM Plex Mono Medium"/>
              </a:endParaRPr>
            </a:p>
          </p:txBody>
        </p:sp>
      </p:grpSp>
      <p:grpSp>
        <p:nvGrpSpPr>
          <p:cNvPr id="67" name="node16"/>
          <p:cNvGrpSpPr/>
          <p:nvPr/>
        </p:nvGrpSpPr>
        <p:grpSpPr>
          <a:xfrm>
            <a:off x="8572500" y="3276600"/>
            <a:ext cx="2895600" cy="266700"/>
            <a:chOff x="8572500" y="3276600"/>
            <a:chExt cx="2895600" cy="266700"/>
          </a:xfrm>
        </p:grpSpPr>
        <p:sp>
          <p:nvSpPr>
            <p:cNvPr id="37" name="node16.text"/>
            <p:cNvSpPr/>
            <p:nvPr/>
          </p:nvSpPr>
          <p:spPr>
            <a:xfrm>
              <a:off x="8572500" y="3276600"/>
              <a:ext cx="2895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Embed</a:t>
              </a:r>
              <a:endParaRPr lang="en-US" sz="1600" spc="-16" kern="0" b="0" i="0" dirty="0">
                <a:solidFill>
                  <a:srgbClr val="070154"/>
                </a:solidFill>
                <a:latin typeface="IBM Plex Sans SemiBold"/>
                <a:ea typeface="IBM Plex Sans SemiBold"/>
                <a:cs typeface="IBM Plex Sans SemiBold"/>
              </a:endParaRPr>
            </a:p>
          </p:txBody>
        </p:sp>
      </p:grpSp>
      <p:grpSp>
        <p:nvGrpSpPr>
          <p:cNvPr id="68" name="node17"/>
          <p:cNvGrpSpPr/>
          <p:nvPr/>
        </p:nvGrpSpPr>
        <p:grpSpPr>
          <a:xfrm>
            <a:off x="8572500" y="3619500"/>
            <a:ext cx="2895600" cy="723900"/>
            <a:chOff x="8572500" y="3619500"/>
            <a:chExt cx="2895600" cy="723900"/>
          </a:xfrm>
        </p:grpSpPr>
        <p:sp>
          <p:nvSpPr>
            <p:cNvPr id="38" name="node17.source-001.bullet"/>
            <p:cNvSpPr/>
            <p:nvPr/>
          </p:nvSpPr>
          <p:spPr>
            <a:xfrm>
              <a:off x="8572500" y="3708400"/>
              <a:ext cx="38100" cy="38100"/>
            </a:xfrm>
            <a:prstGeom prst="rect">
              <a:avLst/>
            </a:prstGeom>
            <a:solidFill>
              <a:srgbClr val="070154"/>
            </a:solidFill>
            <a:ln>
              <a:noFill/>
            </a:ln>
          </p:spPr>
        </p:sp>
        <p:sp>
          <p:nvSpPr>
            <p:cNvPr id="39" name="node17.source-001.text"/>
            <p:cNvSpPr/>
            <p:nvPr/>
          </p:nvSpPr>
          <p:spPr>
            <a:xfrm>
              <a:off x="8724900" y="36195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 a full close on the new design</a:t>
              </a:r>
              <a:endParaRPr lang="en-US" sz="1200" spc="0" kern="0" b="0" i="0" dirty="0">
                <a:solidFill>
                  <a:srgbClr val="070154"/>
                </a:solidFill>
                <a:latin typeface="IBM Plex Sans"/>
                <a:ea typeface="IBM Plex Sans"/>
                <a:cs typeface="IBM Plex Sans"/>
              </a:endParaRPr>
            </a:p>
          </p:txBody>
        </p:sp>
        <p:sp>
          <p:nvSpPr>
            <p:cNvPr id="40" name="node17.source-002.bullet"/>
            <p:cNvSpPr/>
            <p:nvPr/>
          </p:nvSpPr>
          <p:spPr>
            <a:xfrm>
              <a:off x="8572500" y="3962400"/>
              <a:ext cx="38100" cy="38100"/>
            </a:xfrm>
            <a:prstGeom prst="rect">
              <a:avLst/>
            </a:prstGeom>
            <a:solidFill>
              <a:srgbClr val="070154"/>
            </a:solidFill>
            <a:ln>
              <a:noFill/>
            </a:ln>
          </p:spPr>
        </p:sp>
        <p:sp>
          <p:nvSpPr>
            <p:cNvPr id="41" name="node17.source-002.text"/>
            <p:cNvSpPr/>
            <p:nvPr/>
          </p:nvSpPr>
          <p:spPr>
            <a:xfrm>
              <a:off x="8724900" y="38735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Train 40 preparers and approvers</a:t>
              </a:r>
              <a:endParaRPr lang="en-US" sz="1200" spc="0" kern="0" b="0" i="0" dirty="0">
                <a:solidFill>
                  <a:srgbClr val="070154"/>
                </a:solidFill>
                <a:latin typeface="IBM Plex Sans"/>
                <a:ea typeface="IBM Plex Sans"/>
                <a:cs typeface="IBM Plex Sans"/>
              </a:endParaRPr>
            </a:p>
          </p:txBody>
        </p:sp>
        <p:sp>
          <p:nvSpPr>
            <p:cNvPr id="42" name="node17.source-003.bullet"/>
            <p:cNvSpPr/>
            <p:nvPr/>
          </p:nvSpPr>
          <p:spPr>
            <a:xfrm>
              <a:off x="8572500" y="4216400"/>
              <a:ext cx="38100" cy="38100"/>
            </a:xfrm>
            <a:prstGeom prst="rect">
              <a:avLst/>
            </a:prstGeom>
            <a:solidFill>
              <a:srgbClr val="070154"/>
            </a:solidFill>
            <a:ln>
              <a:noFill/>
            </a:ln>
          </p:spPr>
        </p:sp>
        <p:sp>
          <p:nvSpPr>
            <p:cNvPr id="43" name="node17.source-003.text"/>
            <p:cNvSpPr/>
            <p:nvPr/>
          </p:nvSpPr>
          <p:spPr>
            <a:xfrm>
              <a:off x="8724900" y="4127500"/>
              <a:ext cx="2743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Hand over dashboard and playbook</a:t>
              </a:r>
              <a:endParaRPr lang="en-US" sz="1200" spc="0" kern="0" b="0" i="0" dirty="0">
                <a:solidFill>
                  <a:srgbClr val="070154"/>
                </a:solidFill>
                <a:latin typeface="IBM Plex Sans"/>
                <a:ea typeface="IBM Plex Sans"/>
                <a:cs typeface="IBM Plex Sans"/>
              </a:endParaRPr>
            </a:p>
          </p:txBody>
        </p:sp>
      </p:grpSp>
      <p:sp>
        <p:nvSpPr>
          <p:cNvPr id="44" name="node18"/>
          <p:cNvSpPr/>
          <p:nvPr/>
        </p:nvSpPr>
        <p:spPr>
          <a:xfrm>
            <a:off x="723900" y="4495800"/>
            <a:ext cx="10744200" cy="12700"/>
          </a:xfrm>
          <a:prstGeom prst="rect">
            <a:avLst/>
          </a:prstGeom>
          <a:solidFill>
            <a:srgbClr val="CED7E6"/>
          </a:solidFill>
          <a:ln>
            <a:noFill/>
          </a:ln>
        </p:spPr>
      </p:sp>
      <p:grpSp>
        <p:nvGrpSpPr>
          <p:cNvPr id="69" name="node19"/>
          <p:cNvGrpSpPr/>
          <p:nvPr/>
        </p:nvGrpSpPr>
        <p:grpSpPr>
          <a:xfrm>
            <a:off x="723900" y="4648200"/>
            <a:ext cx="1371600" cy="139700"/>
            <a:chOff x="723900" y="4648200"/>
            <a:chExt cx="1371600" cy="139700"/>
          </a:xfrm>
        </p:grpSpPr>
        <p:sp>
          <p:nvSpPr>
            <p:cNvPr id="45" name="node19.text"/>
            <p:cNvSpPr/>
            <p:nvPr/>
          </p:nvSpPr>
          <p:spPr>
            <a:xfrm>
              <a:off x="723900" y="4648200"/>
              <a:ext cx="1371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3 · COST</a:t>
              </a:r>
              <a:endParaRPr lang="en-US" sz="800" spc="48" kern="0" b="0" i="0" dirty="0">
                <a:solidFill>
                  <a:srgbClr val="0047FF"/>
                </a:solidFill>
                <a:latin typeface="IBM Plex Mono Medium"/>
                <a:ea typeface="IBM Plex Mono Medium"/>
                <a:cs typeface="IBM Plex Mono Medium"/>
              </a:endParaRPr>
            </a:p>
          </p:txBody>
        </p:sp>
      </p:grpSp>
      <p:grpSp>
        <p:nvGrpSpPr>
          <p:cNvPr id="70" name="node20"/>
          <p:cNvGrpSpPr/>
          <p:nvPr/>
        </p:nvGrpSpPr>
        <p:grpSpPr>
          <a:xfrm>
            <a:off x="2324100" y="4572000"/>
            <a:ext cx="9144000" cy="1143000"/>
            <a:chOff x="2324100" y="4572000"/>
            <a:chExt cx="9144000" cy="1143000"/>
          </a:xfrm>
        </p:grpSpPr>
        <p:sp>
          <p:nvSpPr>
            <p:cNvPr id="46" name="node20.surface"/>
            <p:cNvSpPr/>
            <p:nvPr/>
          </p:nvSpPr>
          <p:spPr>
            <a:xfrm>
              <a:off x="2324100" y="4572000"/>
              <a:ext cx="9144000" cy="1143000"/>
            </a:xfrm>
            <a:prstGeom prst="rect">
              <a:avLst/>
            </a:prstGeom>
            <a:solidFill>
              <a:srgbClr val="070154"/>
            </a:solidFill>
            <a:ln>
              <a:noFill/>
            </a:ln>
          </p:spPr>
        </p:sp>
      </p:grpSp>
      <p:grpSp>
        <p:nvGrpSpPr>
          <p:cNvPr id="71" name="node21"/>
          <p:cNvGrpSpPr/>
          <p:nvPr/>
        </p:nvGrpSpPr>
        <p:grpSpPr>
          <a:xfrm>
            <a:off x="2552700" y="4800600"/>
            <a:ext cx="1524000" cy="382461"/>
            <a:chOff x="2552700" y="4800600"/>
            <a:chExt cx="1524000" cy="382461"/>
          </a:xfrm>
        </p:grpSpPr>
        <p:sp>
          <p:nvSpPr>
            <p:cNvPr id="47" name="node21.text"/>
            <p:cNvSpPr/>
            <p:nvPr/>
          </p:nvSpPr>
          <p:spPr>
            <a:xfrm>
              <a:off x="2552700" y="4800600"/>
              <a:ext cx="15240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FFFFF"/>
                  </a:solidFill>
                  <a:latin typeface="IBM Plex Mono SemiBold"/>
                  <a:ea typeface="IBM Plex Mono SemiBold"/>
                  <a:cs typeface="IBM Plex Mono SemiBold"/>
                </a:rPr>
                <a:t>$120K</a:t>
              </a:r>
              <a:endParaRPr lang="en-US" sz="3000" spc="-60" kern="0" b="0" i="0" dirty="0">
                <a:solidFill>
                  <a:srgbClr val="FFFFFF"/>
                </a:solidFill>
                <a:latin typeface="IBM Plex Mono SemiBold"/>
                <a:ea typeface="IBM Plex Mono SemiBold"/>
                <a:cs typeface="IBM Plex Mono SemiBold"/>
              </a:endParaRPr>
            </a:p>
          </p:txBody>
        </p:sp>
      </p:grpSp>
      <p:grpSp>
        <p:nvGrpSpPr>
          <p:cNvPr id="72" name="node22"/>
          <p:cNvGrpSpPr/>
          <p:nvPr/>
        </p:nvGrpSpPr>
        <p:grpSpPr>
          <a:xfrm>
            <a:off x="2552700" y="5295900"/>
            <a:ext cx="1524000" cy="190500"/>
            <a:chOff x="2552700" y="5295900"/>
            <a:chExt cx="1524000" cy="190500"/>
          </a:xfrm>
        </p:grpSpPr>
        <p:sp>
          <p:nvSpPr>
            <p:cNvPr id="48" name="node22.text"/>
            <p:cNvSpPr/>
            <p:nvPr/>
          </p:nvSpPr>
          <p:spPr>
            <a:xfrm>
              <a:off x="2552700" y="5295900"/>
              <a:ext cx="1524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fixed fee</a:t>
              </a:r>
              <a:endParaRPr lang="en-US" sz="1100" spc="0" kern="0" b="0" i="0" dirty="0">
                <a:solidFill>
                  <a:srgbClr val="CED7E6"/>
                </a:solidFill>
                <a:latin typeface="IBM Plex Sans"/>
                <a:ea typeface="IBM Plex Sans"/>
                <a:cs typeface="IBM Plex Sans"/>
              </a:endParaRPr>
            </a:p>
          </p:txBody>
        </p:sp>
      </p:grpSp>
      <p:grpSp>
        <p:nvGrpSpPr>
          <p:cNvPr id="73" name="node23"/>
          <p:cNvGrpSpPr/>
          <p:nvPr/>
        </p:nvGrpSpPr>
        <p:grpSpPr>
          <a:xfrm>
            <a:off x="4381500" y="4800600"/>
            <a:ext cx="3200400" cy="381000"/>
            <a:chOff x="4381500" y="4800600"/>
            <a:chExt cx="3200400" cy="381000"/>
          </a:xfrm>
        </p:grpSpPr>
        <p:sp>
          <p:nvSpPr>
            <p:cNvPr id="49" name="node23.text"/>
            <p:cNvSpPr/>
            <p:nvPr/>
          </p:nvSpPr>
          <p:spPr>
            <a:xfrm>
              <a:off x="4381500" y="4800600"/>
              <a:ext cx="3200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Ten weeks, three milestone invoices at weeks 3, 7 and 10</a:t>
              </a:r>
              <a:endParaRPr lang="en-US" sz="1100" spc="0" kern="0" b="0" i="0" dirty="0">
                <a:solidFill>
                  <a:srgbClr val="FFFFFF"/>
                </a:solidFill>
                <a:latin typeface="IBM Plex Sans"/>
                <a:ea typeface="IBM Plex Sans"/>
                <a:cs typeface="IBM Plex Sans"/>
              </a:endParaRPr>
            </a:p>
          </p:txBody>
        </p:sp>
      </p:grpSp>
      <p:grpSp>
        <p:nvGrpSpPr>
          <p:cNvPr id="74" name="node24"/>
          <p:cNvGrpSpPr/>
          <p:nvPr/>
        </p:nvGrpSpPr>
        <p:grpSpPr>
          <a:xfrm>
            <a:off x="4381500" y="5257800"/>
            <a:ext cx="3200400" cy="190500"/>
            <a:chOff x="4381500" y="5257800"/>
            <a:chExt cx="3200400" cy="190500"/>
          </a:xfrm>
        </p:grpSpPr>
        <p:sp>
          <p:nvSpPr>
            <p:cNvPr id="50" name="node24.text"/>
            <p:cNvSpPr/>
            <p:nvPr/>
          </p:nvSpPr>
          <p:spPr>
            <a:xfrm>
              <a:off x="4381500" y="5257800"/>
              <a:ext cx="3200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Fees exclude expenses; net 30</a:t>
              </a:r>
              <a:endParaRPr lang="en-US" sz="1100" spc="0" kern="0" b="0" i="0" dirty="0">
                <a:solidFill>
                  <a:srgbClr val="CED7E6"/>
                </a:solidFill>
                <a:latin typeface="IBM Plex Sans"/>
                <a:ea typeface="IBM Plex Sans"/>
                <a:cs typeface="IBM Plex Sans"/>
              </a:endParaRPr>
            </a:p>
          </p:txBody>
        </p:sp>
      </p:grpSp>
      <p:grpSp>
        <p:nvGrpSpPr>
          <p:cNvPr id="75" name="node25"/>
          <p:cNvGrpSpPr/>
          <p:nvPr/>
        </p:nvGrpSpPr>
        <p:grpSpPr>
          <a:xfrm>
            <a:off x="7810500" y="4800600"/>
            <a:ext cx="3429000" cy="139700"/>
            <a:chOff x="7810500" y="4800600"/>
            <a:chExt cx="3429000" cy="139700"/>
          </a:xfrm>
        </p:grpSpPr>
        <p:sp>
          <p:nvSpPr>
            <p:cNvPr id="51" name="node25.text"/>
            <p:cNvSpPr/>
            <p:nvPr/>
          </p:nvSpPr>
          <p:spPr>
            <a:xfrm>
              <a:off x="7810500" y="48006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TEAM AND ASSUMPTIONS</a:t>
              </a:r>
              <a:endParaRPr lang="en-US" sz="800" spc="48" kern="0" b="0" i="0" dirty="0">
                <a:solidFill>
                  <a:srgbClr val="CED7E6"/>
                </a:solidFill>
                <a:latin typeface="IBM Plex Mono Medium"/>
                <a:ea typeface="IBM Plex Mono Medium"/>
                <a:cs typeface="IBM Plex Mono Medium"/>
              </a:endParaRPr>
            </a:p>
          </p:txBody>
        </p:sp>
      </p:grpSp>
      <p:grpSp>
        <p:nvGrpSpPr>
          <p:cNvPr id="76" name="node26"/>
          <p:cNvGrpSpPr/>
          <p:nvPr/>
        </p:nvGrpSpPr>
        <p:grpSpPr>
          <a:xfrm>
            <a:off x="7810500" y="5029200"/>
            <a:ext cx="3429000" cy="381000"/>
            <a:chOff x="7810500" y="5029200"/>
            <a:chExt cx="3429000" cy="381000"/>
          </a:xfrm>
        </p:grpSpPr>
        <p:sp>
          <p:nvSpPr>
            <p:cNvPr id="52" name="node26.text"/>
            <p:cNvSpPr/>
            <p:nvPr/>
          </p:nvSpPr>
          <p:spPr>
            <a:xfrm>
              <a:off x="7810500" y="50292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Lead 25%, close SME and analyst full time. Needs ledger access in week 1.</a:t>
              </a:r>
              <a:endParaRPr lang="en-US" sz="1100" spc="0" kern="0" b="0" i="0" dirty="0">
                <a:solidFill>
                  <a:srgbClr val="FFFFFF"/>
                </a:solidFill>
                <a:latin typeface="IBM Plex Sans"/>
                <a:ea typeface="IBM Plex Sans"/>
                <a:cs typeface="IBM Plex Sans"/>
              </a:endParaRPr>
            </a:p>
          </p:txBody>
        </p:sp>
      </p:gr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ource-32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Cloud cost review: four weeks, $75K fixed</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nav.section-01"/>
          <p:cNvSpPr/>
          <p:nvPr/>
        </p:nvSpPr>
        <p:spPr>
          <a:xfrm>
            <a:off x="266700" y="457200"/>
            <a:ext cx="228600" cy="1314450"/>
          </a:xfrm>
          <a:prstGeom prst="rect">
            <a:avLst/>
          </a:prstGeom>
          <a:solidFill>
            <a:srgbClr val="E8EEF8"/>
          </a:solidFill>
          <a:ln>
            <a:noFill/>
          </a:ln>
        </p:spPr>
      </p:sp>
      <p:sp>
        <p:nvSpPr>
          <p:cNvPr id="7"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ASSESS</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847850"/>
            <a:ext cx="228600" cy="1314450"/>
          </a:xfrm>
          <a:prstGeom prst="rect">
            <a:avLst/>
          </a:prstGeom>
          <a:solidFill>
            <a:srgbClr val="070154"/>
          </a:solidFill>
          <a:ln>
            <a:noFill/>
          </a:ln>
        </p:spPr>
      </p:sp>
      <p:sp>
        <p:nvSpPr>
          <p:cNvPr id="9"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OPTIMIZE</a:t>
            </a:r>
            <a:endParaRPr lang="en-US" sz="800" spc="80" kern="0" b="0" i="0" dirty="0">
              <a:solidFill>
                <a:srgbClr val="FFFFFF"/>
              </a:solidFill>
              <a:latin typeface="IBM Plex Mono SemiBold"/>
              <a:ea typeface="IBM Plex Mono SemiBold"/>
              <a:cs typeface="IBM Plex Mono SemiBold"/>
            </a:endParaRPr>
          </a:p>
        </p:txBody>
      </p:sp>
      <p:sp>
        <p:nvSpPr>
          <p:cNvPr id="10" name="nav.section-03"/>
          <p:cNvSpPr/>
          <p:nvPr/>
        </p:nvSpPr>
        <p:spPr>
          <a:xfrm>
            <a:off x="266700" y="3238500"/>
            <a:ext cx="228600" cy="1314450"/>
          </a:xfrm>
          <a:prstGeom prst="rect">
            <a:avLst/>
          </a:prstGeom>
          <a:solidFill>
            <a:srgbClr val="E8EEF8"/>
          </a:solidFill>
          <a:ln>
            <a:noFill/>
          </a:ln>
        </p:spPr>
      </p:sp>
      <p:sp>
        <p:nvSpPr>
          <p:cNvPr id="11"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OPERATE</a:t>
            </a:r>
            <a:endParaRPr lang="en-US" sz="800" spc="80" kern="0" b="0" i="0" dirty="0">
              <a:solidFill>
                <a:srgbClr val="50658E"/>
              </a:solidFill>
              <a:latin typeface="IBM Plex Mono SemiBold"/>
              <a:ea typeface="IBM Plex Mono SemiBold"/>
              <a:cs typeface="IBM Plex Mono SemiBold"/>
            </a:endParaRPr>
          </a:p>
        </p:txBody>
      </p:sp>
      <p:sp>
        <p:nvSpPr>
          <p:cNvPr id="12" name="nav.section-04"/>
          <p:cNvSpPr/>
          <p:nvPr/>
        </p:nvSpPr>
        <p:spPr>
          <a:xfrm>
            <a:off x="266700" y="4629150"/>
            <a:ext cx="228600" cy="1314450"/>
          </a:xfrm>
          <a:prstGeom prst="rect">
            <a:avLst/>
          </a:prstGeom>
          <a:solidFill>
            <a:srgbClr val="E8EEF8"/>
          </a:solidFill>
          <a:ln>
            <a:noFill/>
          </a:ln>
        </p:spPr>
      </p:sp>
      <p:sp>
        <p:nvSpPr>
          <p:cNvPr id="13"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GOVERN</a:t>
            </a:r>
            <a:endParaRPr lang="en-US" sz="800" spc="80" kern="0" b="0" i="0" dirty="0">
              <a:solidFill>
                <a:srgbClr val="50658E"/>
              </a:solidFill>
              <a:latin typeface="IBM Plex Mono SemiBold"/>
              <a:ea typeface="IBM Plex Mono SemiBold"/>
              <a:cs typeface="IBM Plex Mono SemiBold"/>
            </a:endParaRPr>
          </a:p>
        </p:txBody>
      </p:sp>
      <p:sp>
        <p:nvSpPr>
          <p:cNvPr id="1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210</a:t>
            </a:fld>
            <a:endParaRPr lang="en-US" sz="700" spc="0" kern="0" b="0" i="0" dirty="0">
              <a:solidFill>
                <a:srgbClr val="070154"/>
              </a:solidFill>
              <a:latin typeface="IBM Plex Mono SemiBold"/>
              <a:ea typeface="IBM Plex Mono SemiBold"/>
              <a:cs typeface="IBM Plex Mono SemiBold"/>
            </a:endParaRPr>
          </a:p>
        </p:txBody>
      </p:sp>
      <p:grpSp>
        <p:nvGrpSpPr>
          <p:cNvPr id="65" name="node01"/>
          <p:cNvGrpSpPr/>
          <p:nvPr/>
        </p:nvGrpSpPr>
        <p:grpSpPr>
          <a:xfrm>
            <a:off x="723900" y="1600200"/>
            <a:ext cx="10744200" cy="139700"/>
            <a:chOff x="723900" y="1600200"/>
            <a:chExt cx="10744200" cy="139700"/>
          </a:xfrm>
        </p:grpSpPr>
        <p:sp>
          <p:nvSpPr>
            <p:cNvPr id="15" name="node01.text"/>
            <p:cNvSpPr/>
            <p:nvPr/>
          </p:nvSpPr>
          <p:spPr>
            <a:xfrm>
              <a:off x="723900" y="1600200"/>
              <a:ext cx="1074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 · WHAT WE WILL DO</a:t>
              </a:r>
              <a:endParaRPr lang="en-US" sz="800" spc="48" kern="0" b="0" i="0" dirty="0">
                <a:solidFill>
                  <a:srgbClr val="0047FF"/>
                </a:solidFill>
                <a:latin typeface="IBM Plex Mono Medium"/>
                <a:ea typeface="IBM Plex Mono Medium"/>
                <a:cs typeface="IBM Plex Mono Medium"/>
              </a:endParaRPr>
            </a:p>
          </p:txBody>
        </p:sp>
      </p:grpSp>
      <p:grpSp>
        <p:nvGrpSpPr>
          <p:cNvPr id="66" name="node02"/>
          <p:cNvGrpSpPr/>
          <p:nvPr/>
        </p:nvGrpSpPr>
        <p:grpSpPr>
          <a:xfrm>
            <a:off x="723900" y="1828800"/>
            <a:ext cx="10744200" cy="431800"/>
            <a:chOff x="723900" y="1828800"/>
            <a:chExt cx="10744200" cy="431800"/>
          </a:xfrm>
        </p:grpSpPr>
        <p:sp>
          <p:nvSpPr>
            <p:cNvPr id="16" name="node02.text"/>
            <p:cNvSpPr/>
            <p:nvPr/>
          </p:nvSpPr>
          <p:spPr>
            <a:xfrm>
              <a:off x="723900" y="1828800"/>
              <a:ext cx="1074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 cloud cost review finds the 20 to 30 percent of Northfield's cloud spend that nobody owns. In four weeks we map every dollar to an owner, find the waste and commitment gaps, and leave a ranked savings backlog.</a:t>
              </a:r>
              <a:endParaRPr lang="en-US" sz="1200" spc="0" kern="0" b="0" i="0" dirty="0">
                <a:solidFill>
                  <a:srgbClr val="50658E"/>
                </a:solidFill>
                <a:latin typeface="IBM Plex Sans"/>
                <a:ea typeface="IBM Plex Sans"/>
                <a:cs typeface="IBM Plex Sans"/>
              </a:endParaRPr>
            </a:p>
          </p:txBody>
        </p:sp>
      </p:grpSp>
      <p:grpSp>
        <p:nvGrpSpPr>
          <p:cNvPr id="67" name="node03"/>
          <p:cNvGrpSpPr/>
          <p:nvPr/>
        </p:nvGrpSpPr>
        <p:grpSpPr>
          <a:xfrm>
            <a:off x="723900" y="2743200"/>
            <a:ext cx="10744200" cy="139700"/>
            <a:chOff x="723900" y="2743200"/>
            <a:chExt cx="10744200" cy="139700"/>
          </a:xfrm>
        </p:grpSpPr>
        <p:sp>
          <p:nvSpPr>
            <p:cNvPr id="17" name="node03.text"/>
            <p:cNvSpPr/>
            <p:nvPr/>
          </p:nvSpPr>
          <p:spPr>
            <a:xfrm>
              <a:off x="723900" y="2743200"/>
              <a:ext cx="1074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2 · HOW WE WILL DO IT · 4 WEEKS</a:t>
              </a:r>
              <a:endParaRPr lang="en-US" sz="800" spc="48" kern="0" b="0" i="0" dirty="0">
                <a:solidFill>
                  <a:srgbClr val="0047FF"/>
                </a:solidFill>
                <a:latin typeface="IBM Plex Mono Medium"/>
                <a:ea typeface="IBM Plex Mono Medium"/>
                <a:cs typeface="IBM Plex Mono Medium"/>
              </a:endParaRPr>
            </a:p>
          </p:txBody>
        </p:sp>
      </p:grpSp>
      <p:sp>
        <p:nvSpPr>
          <p:cNvPr id="18" name="node04"/>
          <p:cNvSpPr/>
          <p:nvPr/>
        </p:nvSpPr>
        <p:spPr>
          <a:xfrm>
            <a:off x="723900" y="3009900"/>
            <a:ext cx="2514600" cy="12700"/>
          </a:xfrm>
          <a:prstGeom prst="rect">
            <a:avLst/>
          </a:prstGeom>
          <a:solidFill>
            <a:srgbClr val="CED7E6"/>
          </a:solidFill>
          <a:ln>
            <a:noFill/>
          </a:ln>
        </p:spPr>
      </p:sp>
      <p:grpSp>
        <p:nvGrpSpPr>
          <p:cNvPr id="68" name="node05"/>
          <p:cNvGrpSpPr/>
          <p:nvPr/>
        </p:nvGrpSpPr>
        <p:grpSpPr>
          <a:xfrm>
            <a:off x="723900" y="3124200"/>
            <a:ext cx="2514600" cy="139700"/>
            <a:chOff x="723900" y="3124200"/>
            <a:chExt cx="2514600" cy="139700"/>
          </a:xfrm>
        </p:grpSpPr>
        <p:sp>
          <p:nvSpPr>
            <p:cNvPr id="19" name="node05.text"/>
            <p:cNvSpPr/>
            <p:nvPr/>
          </p:nvSpPr>
          <p:spPr>
            <a:xfrm>
              <a:off x="723900" y="3124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01 · WEEK 1</a:t>
              </a:r>
              <a:endParaRPr lang="en-US" sz="800" spc="48" kern="0" b="0" i="0" dirty="0">
                <a:solidFill>
                  <a:srgbClr val="0047FF"/>
                </a:solidFill>
                <a:latin typeface="IBM Plex Mono Medium"/>
                <a:ea typeface="IBM Plex Mono Medium"/>
                <a:cs typeface="IBM Plex Mono Medium"/>
              </a:endParaRPr>
            </a:p>
          </p:txBody>
        </p:sp>
      </p:grpSp>
      <p:grpSp>
        <p:nvGrpSpPr>
          <p:cNvPr id="69" name="node06"/>
          <p:cNvGrpSpPr/>
          <p:nvPr/>
        </p:nvGrpSpPr>
        <p:grpSpPr>
          <a:xfrm>
            <a:off x="723900" y="3352800"/>
            <a:ext cx="2514600" cy="266700"/>
            <a:chOff x="723900" y="3352800"/>
            <a:chExt cx="2514600" cy="266700"/>
          </a:xfrm>
        </p:grpSpPr>
        <p:sp>
          <p:nvSpPr>
            <p:cNvPr id="20" name="node06.text"/>
            <p:cNvSpPr/>
            <p:nvPr/>
          </p:nvSpPr>
          <p:spPr>
            <a:xfrm>
              <a:off x="723900" y="33528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Collect</a:t>
              </a:r>
              <a:endParaRPr lang="en-US" sz="1600" spc="-16" kern="0" b="0" i="0" dirty="0">
                <a:solidFill>
                  <a:srgbClr val="070154"/>
                </a:solidFill>
                <a:latin typeface="IBM Plex Sans SemiBold"/>
                <a:ea typeface="IBM Plex Sans SemiBold"/>
                <a:cs typeface="IBM Plex Sans SemiBold"/>
              </a:endParaRPr>
            </a:p>
          </p:txBody>
        </p:sp>
      </p:grpSp>
      <p:grpSp>
        <p:nvGrpSpPr>
          <p:cNvPr id="70" name="node07"/>
          <p:cNvGrpSpPr/>
          <p:nvPr/>
        </p:nvGrpSpPr>
        <p:grpSpPr>
          <a:xfrm>
            <a:off x="723900" y="3695700"/>
            <a:ext cx="2514600" cy="939800"/>
            <a:chOff x="723900" y="3695700"/>
            <a:chExt cx="2514600" cy="939800"/>
          </a:xfrm>
        </p:grpSpPr>
        <p:sp>
          <p:nvSpPr>
            <p:cNvPr id="21" name="node07.source-001.bullet"/>
            <p:cNvSpPr/>
            <p:nvPr/>
          </p:nvSpPr>
          <p:spPr>
            <a:xfrm>
              <a:off x="723900" y="3784600"/>
              <a:ext cx="38100" cy="38100"/>
            </a:xfrm>
            <a:prstGeom prst="rect">
              <a:avLst/>
            </a:prstGeom>
            <a:solidFill>
              <a:srgbClr val="070154"/>
            </a:solidFill>
            <a:ln>
              <a:noFill/>
            </a:ln>
          </p:spPr>
        </p:sp>
        <p:sp>
          <p:nvSpPr>
            <p:cNvPr id="22" name="node07.source-001.text"/>
            <p:cNvSpPr/>
            <p:nvPr/>
          </p:nvSpPr>
          <p:spPr>
            <a:xfrm>
              <a:off x="876300" y="36957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Read-only billing and usage access</a:t>
              </a:r>
              <a:endParaRPr lang="en-US" sz="1200" spc="0" kern="0" b="0" i="0" dirty="0">
                <a:solidFill>
                  <a:srgbClr val="070154"/>
                </a:solidFill>
                <a:latin typeface="IBM Plex Sans"/>
                <a:ea typeface="IBM Plex Sans"/>
                <a:cs typeface="IBM Plex Sans"/>
              </a:endParaRPr>
            </a:p>
          </p:txBody>
        </p:sp>
        <p:sp>
          <p:nvSpPr>
            <p:cNvPr id="23" name="node07.source-002.bullet"/>
            <p:cNvSpPr/>
            <p:nvPr/>
          </p:nvSpPr>
          <p:spPr>
            <a:xfrm>
              <a:off x="723900" y="4254500"/>
              <a:ext cx="38100" cy="38100"/>
            </a:xfrm>
            <a:prstGeom prst="rect">
              <a:avLst/>
            </a:prstGeom>
            <a:solidFill>
              <a:srgbClr val="070154"/>
            </a:solidFill>
            <a:ln>
              <a:noFill/>
            </a:ln>
          </p:spPr>
        </p:sp>
        <p:sp>
          <p:nvSpPr>
            <p:cNvPr id="24" name="node07.source-002.text"/>
            <p:cNvSpPr/>
            <p:nvPr/>
          </p:nvSpPr>
          <p:spPr>
            <a:xfrm>
              <a:off x="876300" y="4165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Pull 12 months of spend data</a:t>
              </a:r>
              <a:endParaRPr lang="en-US" sz="1200" spc="0" kern="0" b="0" i="0" dirty="0">
                <a:solidFill>
                  <a:srgbClr val="070154"/>
                </a:solidFill>
                <a:latin typeface="IBM Plex Sans"/>
                <a:ea typeface="IBM Plex Sans"/>
                <a:cs typeface="IBM Plex Sans"/>
              </a:endParaRPr>
            </a:p>
          </p:txBody>
        </p:sp>
        <p:sp>
          <p:nvSpPr>
            <p:cNvPr id="25" name="node07.source-003.bullet"/>
            <p:cNvSpPr/>
            <p:nvPr/>
          </p:nvSpPr>
          <p:spPr>
            <a:xfrm>
              <a:off x="723900" y="4508500"/>
              <a:ext cx="38100" cy="38100"/>
            </a:xfrm>
            <a:prstGeom prst="rect">
              <a:avLst/>
            </a:prstGeom>
            <a:solidFill>
              <a:srgbClr val="070154"/>
            </a:solidFill>
            <a:ln>
              <a:noFill/>
            </a:ln>
          </p:spPr>
        </p:sp>
        <p:sp>
          <p:nvSpPr>
            <p:cNvPr id="26" name="node07.source-003.text"/>
            <p:cNvSpPr/>
            <p:nvPr/>
          </p:nvSpPr>
          <p:spPr>
            <a:xfrm>
              <a:off x="876300" y="4419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Agree the account hierarchy</a:t>
              </a:r>
              <a:endParaRPr lang="en-US" sz="1200" spc="0" kern="0" b="0" i="0" dirty="0">
                <a:solidFill>
                  <a:srgbClr val="070154"/>
                </a:solidFill>
                <a:latin typeface="IBM Plex Sans"/>
                <a:ea typeface="IBM Plex Sans"/>
                <a:cs typeface="IBM Plex Sans"/>
              </a:endParaRPr>
            </a:p>
          </p:txBody>
        </p:sp>
      </p:grpSp>
      <p:sp>
        <p:nvSpPr>
          <p:cNvPr id="27" name="node08"/>
          <p:cNvSpPr/>
          <p:nvPr/>
        </p:nvSpPr>
        <p:spPr>
          <a:xfrm>
            <a:off x="3467100" y="3009900"/>
            <a:ext cx="2514600" cy="12700"/>
          </a:xfrm>
          <a:prstGeom prst="rect">
            <a:avLst/>
          </a:prstGeom>
          <a:solidFill>
            <a:srgbClr val="CED7E6"/>
          </a:solidFill>
          <a:ln>
            <a:noFill/>
          </a:ln>
        </p:spPr>
      </p:sp>
      <p:grpSp>
        <p:nvGrpSpPr>
          <p:cNvPr id="71" name="node09"/>
          <p:cNvGrpSpPr/>
          <p:nvPr/>
        </p:nvGrpSpPr>
        <p:grpSpPr>
          <a:xfrm>
            <a:off x="3467100" y="3124200"/>
            <a:ext cx="2514600" cy="139700"/>
            <a:chOff x="3467100" y="3124200"/>
            <a:chExt cx="2514600" cy="139700"/>
          </a:xfrm>
        </p:grpSpPr>
        <p:sp>
          <p:nvSpPr>
            <p:cNvPr id="28" name="node09.text"/>
            <p:cNvSpPr/>
            <p:nvPr/>
          </p:nvSpPr>
          <p:spPr>
            <a:xfrm>
              <a:off x="3467100" y="3124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02 · WEEK 2</a:t>
              </a:r>
              <a:endParaRPr lang="en-US" sz="800" spc="48" kern="0" b="0" i="0" dirty="0">
                <a:solidFill>
                  <a:srgbClr val="0047FF"/>
                </a:solidFill>
                <a:latin typeface="IBM Plex Mono Medium"/>
                <a:ea typeface="IBM Plex Mono Medium"/>
                <a:cs typeface="IBM Plex Mono Medium"/>
              </a:endParaRPr>
            </a:p>
          </p:txBody>
        </p:sp>
      </p:grpSp>
      <p:grpSp>
        <p:nvGrpSpPr>
          <p:cNvPr id="72" name="node10"/>
          <p:cNvGrpSpPr/>
          <p:nvPr/>
        </p:nvGrpSpPr>
        <p:grpSpPr>
          <a:xfrm>
            <a:off x="3467100" y="3352800"/>
            <a:ext cx="2514600" cy="266700"/>
            <a:chOff x="3467100" y="3352800"/>
            <a:chExt cx="2514600" cy="266700"/>
          </a:xfrm>
        </p:grpSpPr>
        <p:sp>
          <p:nvSpPr>
            <p:cNvPr id="29" name="node10.text"/>
            <p:cNvSpPr/>
            <p:nvPr/>
          </p:nvSpPr>
          <p:spPr>
            <a:xfrm>
              <a:off x="3467100" y="33528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Map</a:t>
              </a:r>
              <a:endParaRPr lang="en-US" sz="1600" spc="-16" kern="0" b="0" i="0" dirty="0">
                <a:solidFill>
                  <a:srgbClr val="070154"/>
                </a:solidFill>
                <a:latin typeface="IBM Plex Sans SemiBold"/>
                <a:ea typeface="IBM Plex Sans SemiBold"/>
                <a:cs typeface="IBM Plex Sans SemiBold"/>
              </a:endParaRPr>
            </a:p>
          </p:txBody>
        </p:sp>
      </p:grpSp>
      <p:grpSp>
        <p:nvGrpSpPr>
          <p:cNvPr id="73" name="node11"/>
          <p:cNvGrpSpPr/>
          <p:nvPr/>
        </p:nvGrpSpPr>
        <p:grpSpPr>
          <a:xfrm>
            <a:off x="3467100" y="3695700"/>
            <a:ext cx="2514600" cy="723900"/>
            <a:chOff x="3467100" y="3695700"/>
            <a:chExt cx="2514600" cy="723900"/>
          </a:xfrm>
        </p:grpSpPr>
        <p:sp>
          <p:nvSpPr>
            <p:cNvPr id="30" name="node11.source-001.bullet"/>
            <p:cNvSpPr/>
            <p:nvPr/>
          </p:nvSpPr>
          <p:spPr>
            <a:xfrm>
              <a:off x="3467100" y="3784600"/>
              <a:ext cx="38100" cy="38100"/>
            </a:xfrm>
            <a:prstGeom prst="rect">
              <a:avLst/>
            </a:prstGeom>
            <a:solidFill>
              <a:srgbClr val="070154"/>
            </a:solidFill>
            <a:ln>
              <a:noFill/>
            </a:ln>
          </p:spPr>
        </p:sp>
        <p:sp>
          <p:nvSpPr>
            <p:cNvPr id="31" name="node11.source-001.text"/>
            <p:cNvSpPr/>
            <p:nvPr/>
          </p:nvSpPr>
          <p:spPr>
            <a:xfrm>
              <a:off x="3619500" y="36957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Tag and map spend to owners</a:t>
              </a:r>
              <a:endParaRPr lang="en-US" sz="1200" spc="0" kern="0" b="0" i="0" dirty="0">
                <a:solidFill>
                  <a:srgbClr val="070154"/>
                </a:solidFill>
                <a:latin typeface="IBM Plex Sans"/>
                <a:ea typeface="IBM Plex Sans"/>
                <a:cs typeface="IBM Plex Sans"/>
              </a:endParaRPr>
            </a:p>
          </p:txBody>
        </p:sp>
        <p:sp>
          <p:nvSpPr>
            <p:cNvPr id="32" name="node11.source-002.bullet"/>
            <p:cNvSpPr/>
            <p:nvPr/>
          </p:nvSpPr>
          <p:spPr>
            <a:xfrm>
              <a:off x="3467100" y="4038600"/>
              <a:ext cx="38100" cy="38100"/>
            </a:xfrm>
            <a:prstGeom prst="rect">
              <a:avLst/>
            </a:prstGeom>
            <a:solidFill>
              <a:srgbClr val="070154"/>
            </a:solidFill>
            <a:ln>
              <a:noFill/>
            </a:ln>
          </p:spPr>
        </p:sp>
        <p:sp>
          <p:nvSpPr>
            <p:cNvPr id="33" name="node11.source-002.text"/>
            <p:cNvSpPr/>
            <p:nvPr/>
          </p:nvSpPr>
          <p:spPr>
            <a:xfrm>
              <a:off x="3619500" y="39497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Flag untagged and shared cost</a:t>
              </a:r>
              <a:endParaRPr lang="en-US" sz="1200" spc="0" kern="0" b="0" i="0" dirty="0">
                <a:solidFill>
                  <a:srgbClr val="070154"/>
                </a:solidFill>
                <a:latin typeface="IBM Plex Sans"/>
                <a:ea typeface="IBM Plex Sans"/>
                <a:cs typeface="IBM Plex Sans"/>
              </a:endParaRPr>
            </a:p>
          </p:txBody>
        </p:sp>
        <p:sp>
          <p:nvSpPr>
            <p:cNvPr id="34" name="node11.source-003.bullet"/>
            <p:cNvSpPr/>
            <p:nvPr/>
          </p:nvSpPr>
          <p:spPr>
            <a:xfrm>
              <a:off x="3467100" y="4292600"/>
              <a:ext cx="38100" cy="38100"/>
            </a:xfrm>
            <a:prstGeom prst="rect">
              <a:avLst/>
            </a:prstGeom>
            <a:solidFill>
              <a:srgbClr val="070154"/>
            </a:solidFill>
            <a:ln>
              <a:noFill/>
            </a:ln>
          </p:spPr>
        </p:sp>
        <p:sp>
          <p:nvSpPr>
            <p:cNvPr id="35" name="node11.source-003.text"/>
            <p:cNvSpPr/>
            <p:nvPr/>
          </p:nvSpPr>
          <p:spPr>
            <a:xfrm>
              <a:off x="3619500" y="42037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Validate with account owners</a:t>
              </a:r>
              <a:endParaRPr lang="en-US" sz="1200" spc="0" kern="0" b="0" i="0" dirty="0">
                <a:solidFill>
                  <a:srgbClr val="070154"/>
                </a:solidFill>
                <a:latin typeface="IBM Plex Sans"/>
                <a:ea typeface="IBM Plex Sans"/>
                <a:cs typeface="IBM Plex Sans"/>
              </a:endParaRPr>
            </a:p>
          </p:txBody>
        </p:sp>
      </p:grpSp>
      <p:sp>
        <p:nvSpPr>
          <p:cNvPr id="36" name="node12"/>
          <p:cNvSpPr/>
          <p:nvPr/>
        </p:nvSpPr>
        <p:spPr>
          <a:xfrm>
            <a:off x="6210300" y="3009900"/>
            <a:ext cx="2514600" cy="12700"/>
          </a:xfrm>
          <a:prstGeom prst="rect">
            <a:avLst/>
          </a:prstGeom>
          <a:solidFill>
            <a:srgbClr val="CED7E6"/>
          </a:solidFill>
          <a:ln>
            <a:noFill/>
          </a:ln>
        </p:spPr>
      </p:sp>
      <p:grpSp>
        <p:nvGrpSpPr>
          <p:cNvPr id="74" name="node13"/>
          <p:cNvGrpSpPr/>
          <p:nvPr/>
        </p:nvGrpSpPr>
        <p:grpSpPr>
          <a:xfrm>
            <a:off x="6210300" y="3124200"/>
            <a:ext cx="2514600" cy="139700"/>
            <a:chOff x="6210300" y="3124200"/>
            <a:chExt cx="2514600" cy="139700"/>
          </a:xfrm>
        </p:grpSpPr>
        <p:sp>
          <p:nvSpPr>
            <p:cNvPr id="37" name="node13.text"/>
            <p:cNvSpPr/>
            <p:nvPr/>
          </p:nvSpPr>
          <p:spPr>
            <a:xfrm>
              <a:off x="6210300" y="3124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03 · WEEK 3</a:t>
              </a:r>
              <a:endParaRPr lang="en-US" sz="800" spc="48" kern="0" b="0" i="0" dirty="0">
                <a:solidFill>
                  <a:srgbClr val="0047FF"/>
                </a:solidFill>
                <a:latin typeface="IBM Plex Mono Medium"/>
                <a:ea typeface="IBM Plex Mono Medium"/>
                <a:cs typeface="IBM Plex Mono Medium"/>
              </a:endParaRPr>
            </a:p>
          </p:txBody>
        </p:sp>
      </p:grpSp>
      <p:grpSp>
        <p:nvGrpSpPr>
          <p:cNvPr id="75" name="node14"/>
          <p:cNvGrpSpPr/>
          <p:nvPr/>
        </p:nvGrpSpPr>
        <p:grpSpPr>
          <a:xfrm>
            <a:off x="6210300" y="3352800"/>
            <a:ext cx="2514600" cy="266700"/>
            <a:chOff x="6210300" y="3352800"/>
            <a:chExt cx="2514600" cy="266700"/>
          </a:xfrm>
        </p:grpSpPr>
        <p:sp>
          <p:nvSpPr>
            <p:cNvPr id="38" name="node14.text"/>
            <p:cNvSpPr/>
            <p:nvPr/>
          </p:nvSpPr>
          <p:spPr>
            <a:xfrm>
              <a:off x="6210300" y="33528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Analyze</a:t>
              </a:r>
              <a:endParaRPr lang="en-US" sz="1600" spc="-16" kern="0" b="0" i="0" dirty="0">
                <a:solidFill>
                  <a:srgbClr val="070154"/>
                </a:solidFill>
                <a:latin typeface="IBM Plex Sans SemiBold"/>
                <a:ea typeface="IBM Plex Sans SemiBold"/>
                <a:cs typeface="IBM Plex Sans SemiBold"/>
              </a:endParaRPr>
            </a:p>
          </p:txBody>
        </p:sp>
      </p:grpSp>
      <p:grpSp>
        <p:nvGrpSpPr>
          <p:cNvPr id="76" name="node15"/>
          <p:cNvGrpSpPr/>
          <p:nvPr/>
        </p:nvGrpSpPr>
        <p:grpSpPr>
          <a:xfrm>
            <a:off x="6210300" y="3695700"/>
            <a:ext cx="2514600" cy="723900"/>
            <a:chOff x="6210300" y="3695700"/>
            <a:chExt cx="2514600" cy="723900"/>
          </a:xfrm>
        </p:grpSpPr>
        <p:sp>
          <p:nvSpPr>
            <p:cNvPr id="39" name="node15.source-001.bullet"/>
            <p:cNvSpPr/>
            <p:nvPr/>
          </p:nvSpPr>
          <p:spPr>
            <a:xfrm>
              <a:off x="6210300" y="3784600"/>
              <a:ext cx="38100" cy="38100"/>
            </a:xfrm>
            <a:prstGeom prst="rect">
              <a:avLst/>
            </a:prstGeom>
            <a:solidFill>
              <a:srgbClr val="070154"/>
            </a:solidFill>
            <a:ln>
              <a:noFill/>
            </a:ln>
          </p:spPr>
        </p:sp>
        <p:sp>
          <p:nvSpPr>
            <p:cNvPr id="40" name="node15.source-001.text"/>
            <p:cNvSpPr/>
            <p:nvPr/>
          </p:nvSpPr>
          <p:spPr>
            <a:xfrm>
              <a:off x="6362700" y="36957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Find idle and oversized assets</a:t>
              </a:r>
              <a:endParaRPr lang="en-US" sz="1200" spc="0" kern="0" b="0" i="0" dirty="0">
                <a:solidFill>
                  <a:srgbClr val="070154"/>
                </a:solidFill>
                <a:latin typeface="IBM Plex Sans"/>
                <a:ea typeface="IBM Plex Sans"/>
                <a:cs typeface="IBM Plex Sans"/>
              </a:endParaRPr>
            </a:p>
          </p:txBody>
        </p:sp>
        <p:sp>
          <p:nvSpPr>
            <p:cNvPr id="41" name="node15.source-002.bullet"/>
            <p:cNvSpPr/>
            <p:nvPr/>
          </p:nvSpPr>
          <p:spPr>
            <a:xfrm>
              <a:off x="6210300" y="4038600"/>
              <a:ext cx="38100" cy="38100"/>
            </a:xfrm>
            <a:prstGeom prst="rect">
              <a:avLst/>
            </a:prstGeom>
            <a:solidFill>
              <a:srgbClr val="070154"/>
            </a:solidFill>
            <a:ln>
              <a:noFill/>
            </a:ln>
          </p:spPr>
        </p:sp>
        <p:sp>
          <p:nvSpPr>
            <p:cNvPr id="42" name="node15.source-002.text"/>
            <p:cNvSpPr/>
            <p:nvPr/>
          </p:nvSpPr>
          <p:spPr>
            <a:xfrm>
              <a:off x="6362700" y="39497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Check commitment coverage</a:t>
              </a:r>
              <a:endParaRPr lang="en-US" sz="1200" spc="0" kern="0" b="0" i="0" dirty="0">
                <a:solidFill>
                  <a:srgbClr val="070154"/>
                </a:solidFill>
                <a:latin typeface="IBM Plex Sans"/>
                <a:ea typeface="IBM Plex Sans"/>
                <a:cs typeface="IBM Plex Sans"/>
              </a:endParaRPr>
            </a:p>
          </p:txBody>
        </p:sp>
        <p:sp>
          <p:nvSpPr>
            <p:cNvPr id="43" name="node15.source-003.bullet"/>
            <p:cNvSpPr/>
            <p:nvPr/>
          </p:nvSpPr>
          <p:spPr>
            <a:xfrm>
              <a:off x="6210300" y="4292600"/>
              <a:ext cx="38100" cy="38100"/>
            </a:xfrm>
            <a:prstGeom prst="rect">
              <a:avLst/>
            </a:prstGeom>
            <a:solidFill>
              <a:srgbClr val="070154"/>
            </a:solidFill>
            <a:ln>
              <a:noFill/>
            </a:ln>
          </p:spPr>
        </p:sp>
        <p:sp>
          <p:nvSpPr>
            <p:cNvPr id="44" name="node15.source-003.text"/>
            <p:cNvSpPr/>
            <p:nvPr/>
          </p:nvSpPr>
          <p:spPr>
            <a:xfrm>
              <a:off x="6362700" y="42037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Estimate savings per lever</a:t>
              </a:r>
              <a:endParaRPr lang="en-US" sz="1200" spc="0" kern="0" b="0" i="0" dirty="0">
                <a:solidFill>
                  <a:srgbClr val="070154"/>
                </a:solidFill>
                <a:latin typeface="IBM Plex Sans"/>
                <a:ea typeface="IBM Plex Sans"/>
                <a:cs typeface="IBM Plex Sans"/>
              </a:endParaRPr>
            </a:p>
          </p:txBody>
        </p:sp>
      </p:grpSp>
      <p:sp>
        <p:nvSpPr>
          <p:cNvPr id="45" name="node16"/>
          <p:cNvSpPr/>
          <p:nvPr/>
        </p:nvSpPr>
        <p:spPr>
          <a:xfrm>
            <a:off x="8953500" y="3009900"/>
            <a:ext cx="2514600" cy="12700"/>
          </a:xfrm>
          <a:prstGeom prst="rect">
            <a:avLst/>
          </a:prstGeom>
          <a:solidFill>
            <a:srgbClr val="CED7E6"/>
          </a:solidFill>
          <a:ln>
            <a:noFill/>
          </a:ln>
        </p:spPr>
      </p:sp>
      <p:grpSp>
        <p:nvGrpSpPr>
          <p:cNvPr id="77" name="node17"/>
          <p:cNvGrpSpPr/>
          <p:nvPr/>
        </p:nvGrpSpPr>
        <p:grpSpPr>
          <a:xfrm>
            <a:off x="8953500" y="3124200"/>
            <a:ext cx="2514600" cy="139700"/>
            <a:chOff x="8953500" y="3124200"/>
            <a:chExt cx="2514600" cy="139700"/>
          </a:xfrm>
        </p:grpSpPr>
        <p:sp>
          <p:nvSpPr>
            <p:cNvPr id="46" name="node17.text"/>
            <p:cNvSpPr/>
            <p:nvPr/>
          </p:nvSpPr>
          <p:spPr>
            <a:xfrm>
              <a:off x="8953500" y="3124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04 · WEEK 4</a:t>
              </a:r>
              <a:endParaRPr lang="en-US" sz="800" spc="48" kern="0" b="0" i="0" dirty="0">
                <a:solidFill>
                  <a:srgbClr val="0047FF"/>
                </a:solidFill>
                <a:latin typeface="IBM Plex Mono Medium"/>
                <a:ea typeface="IBM Plex Mono Medium"/>
                <a:cs typeface="IBM Plex Mono Medium"/>
              </a:endParaRPr>
            </a:p>
          </p:txBody>
        </p:sp>
      </p:grpSp>
      <p:grpSp>
        <p:nvGrpSpPr>
          <p:cNvPr id="78" name="node18"/>
          <p:cNvGrpSpPr/>
          <p:nvPr/>
        </p:nvGrpSpPr>
        <p:grpSpPr>
          <a:xfrm>
            <a:off x="8953500" y="3352800"/>
            <a:ext cx="2514600" cy="266700"/>
            <a:chOff x="8953500" y="3352800"/>
            <a:chExt cx="2514600" cy="266700"/>
          </a:xfrm>
        </p:grpSpPr>
        <p:sp>
          <p:nvSpPr>
            <p:cNvPr id="47" name="node18.text"/>
            <p:cNvSpPr/>
            <p:nvPr/>
          </p:nvSpPr>
          <p:spPr>
            <a:xfrm>
              <a:off x="8953500" y="33528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Decide</a:t>
              </a:r>
              <a:endParaRPr lang="en-US" sz="1600" spc="-16" kern="0" b="0" i="0" dirty="0">
                <a:solidFill>
                  <a:srgbClr val="070154"/>
                </a:solidFill>
                <a:latin typeface="IBM Plex Sans SemiBold"/>
                <a:ea typeface="IBM Plex Sans SemiBold"/>
                <a:cs typeface="IBM Plex Sans SemiBold"/>
              </a:endParaRPr>
            </a:p>
          </p:txBody>
        </p:sp>
      </p:grpSp>
      <p:grpSp>
        <p:nvGrpSpPr>
          <p:cNvPr id="79" name="node19"/>
          <p:cNvGrpSpPr/>
          <p:nvPr/>
        </p:nvGrpSpPr>
        <p:grpSpPr>
          <a:xfrm>
            <a:off x="8953500" y="3695700"/>
            <a:ext cx="2514600" cy="723900"/>
            <a:chOff x="8953500" y="3695700"/>
            <a:chExt cx="2514600" cy="723900"/>
          </a:xfrm>
        </p:grpSpPr>
        <p:sp>
          <p:nvSpPr>
            <p:cNvPr id="48" name="node19.source-001.bullet"/>
            <p:cNvSpPr/>
            <p:nvPr/>
          </p:nvSpPr>
          <p:spPr>
            <a:xfrm>
              <a:off x="8953500" y="3784600"/>
              <a:ext cx="38100" cy="38100"/>
            </a:xfrm>
            <a:prstGeom prst="rect">
              <a:avLst/>
            </a:prstGeom>
            <a:solidFill>
              <a:srgbClr val="070154"/>
            </a:solidFill>
            <a:ln>
              <a:noFill/>
            </a:ln>
          </p:spPr>
        </p:sp>
        <p:sp>
          <p:nvSpPr>
            <p:cNvPr id="49" name="node19.source-001.text"/>
            <p:cNvSpPr/>
            <p:nvPr/>
          </p:nvSpPr>
          <p:spPr>
            <a:xfrm>
              <a:off x="9105900" y="36957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Rank savings by effort and risk</a:t>
              </a:r>
              <a:endParaRPr lang="en-US" sz="1200" spc="0" kern="0" b="0" i="0" dirty="0">
                <a:solidFill>
                  <a:srgbClr val="070154"/>
                </a:solidFill>
                <a:latin typeface="IBM Plex Sans"/>
                <a:ea typeface="IBM Plex Sans"/>
                <a:cs typeface="IBM Plex Sans"/>
              </a:endParaRPr>
            </a:p>
          </p:txBody>
        </p:sp>
        <p:sp>
          <p:nvSpPr>
            <p:cNvPr id="50" name="node19.source-002.bullet"/>
            <p:cNvSpPr/>
            <p:nvPr/>
          </p:nvSpPr>
          <p:spPr>
            <a:xfrm>
              <a:off x="8953500" y="4038600"/>
              <a:ext cx="38100" cy="38100"/>
            </a:xfrm>
            <a:prstGeom prst="rect">
              <a:avLst/>
            </a:prstGeom>
            <a:solidFill>
              <a:srgbClr val="070154"/>
            </a:solidFill>
            <a:ln>
              <a:noFill/>
            </a:ln>
          </p:spPr>
        </p:sp>
        <p:sp>
          <p:nvSpPr>
            <p:cNvPr id="51" name="node19.source-002.text"/>
            <p:cNvSpPr/>
            <p:nvPr/>
          </p:nvSpPr>
          <p:spPr>
            <a:xfrm>
              <a:off x="9105900" y="39497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Draft tagging and budget model</a:t>
              </a:r>
              <a:endParaRPr lang="en-US" sz="1200" spc="0" kern="0" b="0" i="0" dirty="0">
                <a:solidFill>
                  <a:srgbClr val="070154"/>
                </a:solidFill>
                <a:latin typeface="IBM Plex Sans"/>
                <a:ea typeface="IBM Plex Sans"/>
                <a:cs typeface="IBM Plex Sans"/>
              </a:endParaRPr>
            </a:p>
          </p:txBody>
        </p:sp>
        <p:sp>
          <p:nvSpPr>
            <p:cNvPr id="52" name="node19.source-003.bullet"/>
            <p:cNvSpPr/>
            <p:nvPr/>
          </p:nvSpPr>
          <p:spPr>
            <a:xfrm>
              <a:off x="8953500" y="4292600"/>
              <a:ext cx="38100" cy="38100"/>
            </a:xfrm>
            <a:prstGeom prst="rect">
              <a:avLst/>
            </a:prstGeom>
            <a:solidFill>
              <a:srgbClr val="070154"/>
            </a:solidFill>
            <a:ln>
              <a:noFill/>
            </a:ln>
          </p:spPr>
        </p:sp>
        <p:sp>
          <p:nvSpPr>
            <p:cNvPr id="53" name="node19.source-003.text"/>
            <p:cNvSpPr/>
            <p:nvPr/>
          </p:nvSpPr>
          <p:spPr>
            <a:xfrm>
              <a:off x="9105900" y="42037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Readout for the CFO and CIO</a:t>
              </a:r>
              <a:endParaRPr lang="en-US" sz="1200" spc="0" kern="0" b="0" i="0" dirty="0">
                <a:solidFill>
                  <a:srgbClr val="070154"/>
                </a:solidFill>
                <a:latin typeface="IBM Plex Sans"/>
                <a:ea typeface="IBM Plex Sans"/>
                <a:cs typeface="IBM Plex Sans"/>
              </a:endParaRPr>
            </a:p>
          </p:txBody>
        </p:sp>
      </p:grpSp>
      <p:grpSp>
        <p:nvGrpSpPr>
          <p:cNvPr id="80" name="node20"/>
          <p:cNvGrpSpPr/>
          <p:nvPr/>
        </p:nvGrpSpPr>
        <p:grpSpPr>
          <a:xfrm>
            <a:off x="723900" y="4800600"/>
            <a:ext cx="2514600" cy="914400"/>
            <a:chOff x="723900" y="4800600"/>
            <a:chExt cx="2514600" cy="914400"/>
          </a:xfrm>
        </p:grpSpPr>
        <p:sp>
          <p:nvSpPr>
            <p:cNvPr id="54" name="node20.surface"/>
            <p:cNvSpPr/>
            <p:nvPr/>
          </p:nvSpPr>
          <p:spPr>
            <a:xfrm>
              <a:off x="723900" y="4800600"/>
              <a:ext cx="2514600" cy="914400"/>
            </a:xfrm>
            <a:prstGeom prst="rect">
              <a:avLst/>
            </a:prstGeom>
            <a:solidFill>
              <a:srgbClr val="070154"/>
            </a:solidFill>
            <a:ln>
              <a:noFill/>
            </a:ln>
          </p:spPr>
        </p:sp>
      </p:grpSp>
      <p:grpSp>
        <p:nvGrpSpPr>
          <p:cNvPr id="81" name="node21"/>
          <p:cNvGrpSpPr/>
          <p:nvPr/>
        </p:nvGrpSpPr>
        <p:grpSpPr>
          <a:xfrm>
            <a:off x="876300" y="4914900"/>
            <a:ext cx="2209800" cy="139700"/>
            <a:chOff x="876300" y="4914900"/>
            <a:chExt cx="2209800" cy="139700"/>
          </a:xfrm>
        </p:grpSpPr>
        <p:sp>
          <p:nvSpPr>
            <p:cNvPr id="55" name="node21.text"/>
            <p:cNvSpPr/>
            <p:nvPr/>
          </p:nvSpPr>
          <p:spPr>
            <a:xfrm>
              <a:off x="876300" y="49149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3 · FIXED FEE</a:t>
              </a:r>
              <a:endParaRPr lang="en-US" sz="800" spc="48" kern="0" b="0" i="0" dirty="0">
                <a:solidFill>
                  <a:srgbClr val="CED7E6"/>
                </a:solidFill>
                <a:latin typeface="IBM Plex Mono Medium"/>
                <a:ea typeface="IBM Plex Mono Medium"/>
                <a:cs typeface="IBM Plex Mono Medium"/>
              </a:endParaRPr>
            </a:p>
          </p:txBody>
        </p:sp>
      </p:grpSp>
      <p:grpSp>
        <p:nvGrpSpPr>
          <p:cNvPr id="82" name="node22"/>
          <p:cNvGrpSpPr/>
          <p:nvPr/>
        </p:nvGrpSpPr>
        <p:grpSpPr>
          <a:xfrm>
            <a:off x="876300" y="5143500"/>
            <a:ext cx="1143000" cy="382461"/>
            <a:chOff x="876300" y="5143500"/>
            <a:chExt cx="1143000" cy="382461"/>
          </a:xfrm>
        </p:grpSpPr>
        <p:sp>
          <p:nvSpPr>
            <p:cNvPr id="56" name="node22.text"/>
            <p:cNvSpPr/>
            <p:nvPr/>
          </p:nvSpPr>
          <p:spPr>
            <a:xfrm>
              <a:off x="876300" y="5143500"/>
              <a:ext cx="11430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FFFFF"/>
                  </a:solidFill>
                  <a:latin typeface="IBM Plex Mono SemiBold"/>
                  <a:ea typeface="IBM Plex Mono SemiBold"/>
                  <a:cs typeface="IBM Plex Mono SemiBold"/>
                </a:rPr>
                <a:t>$75K</a:t>
              </a:r>
              <a:endParaRPr lang="en-US" sz="3000" spc="-60" kern="0" b="0" i="0" dirty="0">
                <a:solidFill>
                  <a:srgbClr val="FFFFFF"/>
                </a:solidFill>
                <a:latin typeface="IBM Plex Mono SemiBold"/>
                <a:ea typeface="IBM Plex Mono SemiBold"/>
                <a:cs typeface="IBM Plex Mono SemiBold"/>
              </a:endParaRPr>
            </a:p>
          </p:txBody>
        </p:sp>
      </p:grpSp>
      <p:grpSp>
        <p:nvGrpSpPr>
          <p:cNvPr id="83" name="node23"/>
          <p:cNvGrpSpPr/>
          <p:nvPr/>
        </p:nvGrpSpPr>
        <p:grpSpPr>
          <a:xfrm>
            <a:off x="2095500" y="5257800"/>
            <a:ext cx="1066800" cy="190500"/>
            <a:chOff x="2095500" y="5257800"/>
            <a:chExt cx="1066800" cy="190500"/>
          </a:xfrm>
        </p:grpSpPr>
        <p:sp>
          <p:nvSpPr>
            <p:cNvPr id="57" name="node23.text"/>
            <p:cNvSpPr/>
            <p:nvPr/>
          </p:nvSpPr>
          <p:spPr>
            <a:xfrm>
              <a:off x="2095500" y="5257800"/>
              <a:ext cx="1066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4 weeks</a:t>
              </a:r>
              <a:endParaRPr lang="en-US" sz="1100" spc="0" kern="0" b="0" i="0" dirty="0">
                <a:solidFill>
                  <a:srgbClr val="FFFFFF"/>
                </a:solidFill>
                <a:latin typeface="IBM Plex Sans"/>
                <a:ea typeface="IBM Plex Sans"/>
                <a:cs typeface="IBM Plex Sans"/>
              </a:endParaRPr>
            </a:p>
          </p:txBody>
        </p:sp>
      </p:grpSp>
      <p:grpSp>
        <p:nvGrpSpPr>
          <p:cNvPr id="84" name="node24"/>
          <p:cNvGrpSpPr/>
          <p:nvPr/>
        </p:nvGrpSpPr>
        <p:grpSpPr>
          <a:xfrm>
            <a:off x="3467100" y="4800600"/>
            <a:ext cx="8001000" cy="914400"/>
            <a:chOff x="3467100" y="4800600"/>
            <a:chExt cx="8001000" cy="914400"/>
          </a:xfrm>
        </p:grpSpPr>
        <p:sp>
          <p:nvSpPr>
            <p:cNvPr id="58" name="node24.surface"/>
            <p:cNvSpPr/>
            <p:nvPr/>
          </p:nvSpPr>
          <p:spPr>
            <a:xfrm>
              <a:off x="3467100" y="4800600"/>
              <a:ext cx="8001000" cy="914400"/>
            </a:xfrm>
            <a:prstGeom prst="rect">
              <a:avLst/>
            </a:prstGeom>
            <a:solidFill>
              <a:srgbClr val="E8EEF8"/>
            </a:solidFill>
            <a:ln>
              <a:noFill/>
            </a:ln>
          </p:spPr>
        </p:sp>
      </p:grpSp>
      <p:grpSp>
        <p:nvGrpSpPr>
          <p:cNvPr id="85" name="node25"/>
          <p:cNvGrpSpPr/>
          <p:nvPr/>
        </p:nvGrpSpPr>
        <p:grpSpPr>
          <a:xfrm>
            <a:off x="3619500" y="4914900"/>
            <a:ext cx="1905000" cy="139700"/>
            <a:chOff x="3619500" y="4914900"/>
            <a:chExt cx="1905000" cy="139700"/>
          </a:xfrm>
        </p:grpSpPr>
        <p:sp>
          <p:nvSpPr>
            <p:cNvPr id="59" name="node25.text"/>
            <p:cNvSpPr/>
            <p:nvPr/>
          </p:nvSpPr>
          <p:spPr>
            <a:xfrm>
              <a:off x="3619500" y="4914900"/>
              <a:ext cx="1905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DELIVERABLES</a:t>
              </a:r>
              <a:endParaRPr lang="en-US" sz="800" spc="48" kern="0" b="0" i="0" dirty="0">
                <a:solidFill>
                  <a:srgbClr val="0047FF"/>
                </a:solidFill>
                <a:latin typeface="IBM Plex Mono Medium"/>
                <a:ea typeface="IBM Plex Mono Medium"/>
                <a:cs typeface="IBM Plex Mono Medium"/>
              </a:endParaRPr>
            </a:p>
          </p:txBody>
        </p:sp>
      </p:grpSp>
      <p:grpSp>
        <p:nvGrpSpPr>
          <p:cNvPr id="86" name="node26"/>
          <p:cNvGrpSpPr/>
          <p:nvPr/>
        </p:nvGrpSpPr>
        <p:grpSpPr>
          <a:xfrm>
            <a:off x="3619500" y="5143500"/>
            <a:ext cx="2438400" cy="381000"/>
            <a:chOff x="3619500" y="5143500"/>
            <a:chExt cx="2438400" cy="381000"/>
          </a:xfrm>
        </p:grpSpPr>
        <p:sp>
          <p:nvSpPr>
            <p:cNvPr id="60" name="node26.text"/>
            <p:cNvSpPr/>
            <p:nvPr/>
          </p:nvSpPr>
          <p:spPr>
            <a:xfrm>
              <a:off x="3619500" y="5143500"/>
              <a:ext cx="2438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Spend map by service and owner; ranked savings backlog</a:t>
              </a:r>
              <a:endParaRPr lang="en-US" sz="1100" spc="0" kern="0" b="0" i="0" dirty="0">
                <a:solidFill>
                  <a:srgbClr val="070154"/>
                </a:solidFill>
                <a:latin typeface="IBM Plex Sans"/>
                <a:ea typeface="IBM Plex Sans"/>
                <a:cs typeface="IBM Plex Sans"/>
              </a:endParaRPr>
            </a:p>
          </p:txBody>
        </p:sp>
      </p:grpSp>
      <p:grpSp>
        <p:nvGrpSpPr>
          <p:cNvPr id="87" name="node27"/>
          <p:cNvGrpSpPr/>
          <p:nvPr/>
        </p:nvGrpSpPr>
        <p:grpSpPr>
          <a:xfrm>
            <a:off x="6286500" y="4914900"/>
            <a:ext cx="2133600" cy="139700"/>
            <a:chOff x="6286500" y="4914900"/>
            <a:chExt cx="2133600" cy="139700"/>
          </a:xfrm>
        </p:grpSpPr>
        <p:sp>
          <p:nvSpPr>
            <p:cNvPr id="61" name="node27.text"/>
            <p:cNvSpPr/>
            <p:nvPr/>
          </p:nvSpPr>
          <p:spPr>
            <a:xfrm>
              <a:off x="6286500" y="4914900"/>
              <a:ext cx="2133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TEAM</a:t>
              </a:r>
              <a:endParaRPr lang="en-US" sz="800" spc="48" kern="0" b="0" i="0" dirty="0">
                <a:solidFill>
                  <a:srgbClr val="0047FF"/>
                </a:solidFill>
                <a:latin typeface="IBM Plex Mono Medium"/>
                <a:ea typeface="IBM Plex Mono Medium"/>
                <a:cs typeface="IBM Plex Mono Medium"/>
              </a:endParaRPr>
            </a:p>
          </p:txBody>
        </p:sp>
      </p:grpSp>
      <p:grpSp>
        <p:nvGrpSpPr>
          <p:cNvPr id="88" name="node28"/>
          <p:cNvGrpSpPr/>
          <p:nvPr/>
        </p:nvGrpSpPr>
        <p:grpSpPr>
          <a:xfrm>
            <a:off x="6286500" y="5143500"/>
            <a:ext cx="2133600" cy="381000"/>
            <a:chOff x="6286500" y="5143500"/>
            <a:chExt cx="2133600" cy="381000"/>
          </a:xfrm>
        </p:grpSpPr>
        <p:sp>
          <p:nvSpPr>
            <p:cNvPr id="62" name="node28.text"/>
            <p:cNvSpPr/>
            <p:nvPr/>
          </p:nvSpPr>
          <p:spPr>
            <a:xfrm>
              <a:off x="6286500" y="5143500"/>
              <a:ext cx="2133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Lead, FinOps analyst, cloud engineer</a:t>
              </a:r>
              <a:endParaRPr lang="en-US" sz="1100" spc="0" kern="0" b="0" i="0" dirty="0">
                <a:solidFill>
                  <a:srgbClr val="070154"/>
                </a:solidFill>
                <a:latin typeface="IBM Plex Sans"/>
                <a:ea typeface="IBM Plex Sans"/>
                <a:cs typeface="IBM Plex Sans"/>
              </a:endParaRPr>
            </a:p>
          </p:txBody>
        </p:sp>
      </p:grpSp>
      <p:grpSp>
        <p:nvGrpSpPr>
          <p:cNvPr id="89" name="node29"/>
          <p:cNvGrpSpPr/>
          <p:nvPr/>
        </p:nvGrpSpPr>
        <p:grpSpPr>
          <a:xfrm>
            <a:off x="8648700" y="4914900"/>
            <a:ext cx="2667000" cy="139700"/>
            <a:chOff x="8648700" y="4914900"/>
            <a:chExt cx="2667000" cy="139700"/>
          </a:xfrm>
        </p:grpSpPr>
        <p:sp>
          <p:nvSpPr>
            <p:cNvPr id="63" name="node29.text"/>
            <p:cNvSpPr/>
            <p:nvPr/>
          </p:nvSpPr>
          <p:spPr>
            <a:xfrm>
              <a:off x="8648700" y="4914900"/>
              <a:ext cx="2667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ASSUMPTIONS</a:t>
              </a:r>
              <a:endParaRPr lang="en-US" sz="800" spc="48" kern="0" b="0" i="0" dirty="0">
                <a:solidFill>
                  <a:srgbClr val="0047FF"/>
                </a:solidFill>
                <a:latin typeface="IBM Plex Mono Medium"/>
                <a:ea typeface="IBM Plex Mono Medium"/>
                <a:cs typeface="IBM Plex Mono Medium"/>
              </a:endParaRPr>
            </a:p>
          </p:txBody>
        </p:sp>
      </p:grpSp>
      <p:grpSp>
        <p:nvGrpSpPr>
          <p:cNvPr id="90" name="node30"/>
          <p:cNvGrpSpPr/>
          <p:nvPr/>
        </p:nvGrpSpPr>
        <p:grpSpPr>
          <a:xfrm>
            <a:off x="8648700" y="5143500"/>
            <a:ext cx="2667000" cy="381000"/>
            <a:chOff x="8648700" y="5143500"/>
            <a:chExt cx="2667000" cy="381000"/>
          </a:xfrm>
        </p:grpSpPr>
        <p:sp>
          <p:nvSpPr>
            <p:cNvPr id="64" name="node30.text"/>
            <p:cNvSpPr/>
            <p:nvPr/>
          </p:nvSpPr>
          <p:spPr>
            <a:xfrm>
              <a:off x="8648700" y="5143500"/>
              <a:ext cx="2667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Billing access in week 1; up to 40 accounts; savings are estimates</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ource-32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Cloud landing zone sprint: eight weeks to production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211</a:t>
            </a:fld>
            <a:endParaRPr lang="en-US" sz="700" spc="0" kern="0" b="0" i="0" dirty="0">
              <a:solidFill>
                <a:srgbClr val="070154"/>
              </a:solidFill>
              <a:latin typeface="IBM Plex Mono SemiBold"/>
              <a:ea typeface="IBM Plex Mono SemiBold"/>
              <a:cs typeface="IBM Plex Mono SemiBold"/>
            </a:endParaRPr>
          </a:p>
        </p:txBody>
      </p:sp>
      <p:grpSp>
        <p:nvGrpSpPr>
          <p:cNvPr id="102" name="node01"/>
          <p:cNvGrpSpPr/>
          <p:nvPr/>
        </p:nvGrpSpPr>
        <p:grpSpPr>
          <a:xfrm>
            <a:off x="723900" y="1600200"/>
            <a:ext cx="7086600" cy="2654300"/>
            <a:chOff x="723900" y="1600200"/>
            <a:chExt cx="7086600" cy="2654300"/>
          </a:xfrm>
        </p:grpSpPr>
        <p:sp>
          <p:nvSpPr>
            <p:cNvPr id="7" name="node01.period-header"/>
            <p:cNvSpPr/>
            <p:nvPr/>
          </p:nvSpPr>
          <p:spPr>
            <a:xfrm>
              <a:off x="723900" y="1981200"/>
              <a:ext cx="7086600" cy="304800"/>
            </a:xfrm>
            <a:prstGeom prst="rect">
              <a:avLst/>
            </a:prstGeom>
            <a:solidFill>
              <a:srgbClr val="E8EEF8"/>
            </a:solidFill>
            <a:ln>
              <a:noFill/>
            </a:ln>
          </p:spPr>
        </p:sp>
        <p:sp>
          <p:nvSpPr>
            <p:cNvPr id="8" name="node01.sidebar-heading"/>
            <p:cNvSpPr/>
            <p:nvPr/>
          </p:nvSpPr>
          <p:spPr>
            <a:xfrm>
              <a:off x="800100" y="2063750"/>
              <a:ext cx="1752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SemiBold"/>
                  <a:ea typeface="IBM Plex Mono SemiBold"/>
                  <a:cs typeface="IBM Plex Mono SemiBold"/>
                </a:rPr>
                <a:t>WORKSTREAM</a:t>
              </a:r>
              <a:endParaRPr lang="en-US" sz="800" spc="48" kern="0" b="0" i="0" dirty="0">
                <a:solidFill>
                  <a:srgbClr val="50658E"/>
                </a:solidFill>
                <a:latin typeface="IBM Plex Mono SemiBold"/>
                <a:ea typeface="IBM Plex Mono SemiBold"/>
                <a:cs typeface="IBM Plex Mono SemiBold"/>
              </a:endParaRPr>
            </a:p>
          </p:txBody>
        </p:sp>
        <p:sp>
          <p:nvSpPr>
            <p:cNvPr id="9" name="node01.periods.slot-001.label"/>
            <p:cNvSpPr/>
            <p:nvPr/>
          </p:nvSpPr>
          <p:spPr>
            <a:xfrm>
              <a:off x="2628900" y="2063750"/>
              <a:ext cx="6477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W1</a:t>
              </a:r>
              <a:endParaRPr lang="en-US" sz="800" spc="48" kern="0" b="0" i="0" dirty="0">
                <a:solidFill>
                  <a:srgbClr val="070154"/>
                </a:solidFill>
                <a:latin typeface="IBM Plex Mono SemiBold"/>
                <a:ea typeface="IBM Plex Mono SemiBold"/>
                <a:cs typeface="IBM Plex Mono SemiBold"/>
              </a:endParaRPr>
            </a:p>
          </p:txBody>
        </p:sp>
        <p:sp>
          <p:nvSpPr>
            <p:cNvPr id="10" name="node01.periods.slot-002.label"/>
            <p:cNvSpPr/>
            <p:nvPr/>
          </p:nvSpPr>
          <p:spPr>
            <a:xfrm>
              <a:off x="3276600" y="2063750"/>
              <a:ext cx="6477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W2</a:t>
              </a:r>
              <a:endParaRPr lang="en-US" sz="800" spc="48" kern="0" b="0" i="0" dirty="0">
                <a:solidFill>
                  <a:srgbClr val="070154"/>
                </a:solidFill>
                <a:latin typeface="IBM Plex Mono SemiBold"/>
                <a:ea typeface="IBM Plex Mono SemiBold"/>
                <a:cs typeface="IBM Plex Mono SemiBold"/>
              </a:endParaRPr>
            </a:p>
          </p:txBody>
        </p:sp>
        <p:sp>
          <p:nvSpPr>
            <p:cNvPr id="11" name="node01.periods.slot-003.label"/>
            <p:cNvSpPr/>
            <p:nvPr/>
          </p:nvSpPr>
          <p:spPr>
            <a:xfrm>
              <a:off x="3924300" y="2063750"/>
              <a:ext cx="6477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W3</a:t>
              </a:r>
              <a:endParaRPr lang="en-US" sz="800" spc="48" kern="0" b="0" i="0" dirty="0">
                <a:solidFill>
                  <a:srgbClr val="070154"/>
                </a:solidFill>
                <a:latin typeface="IBM Plex Mono SemiBold"/>
                <a:ea typeface="IBM Plex Mono SemiBold"/>
                <a:cs typeface="IBM Plex Mono SemiBold"/>
              </a:endParaRPr>
            </a:p>
          </p:txBody>
        </p:sp>
        <p:sp>
          <p:nvSpPr>
            <p:cNvPr id="12" name="node01.periods.slot-004.label"/>
            <p:cNvSpPr/>
            <p:nvPr/>
          </p:nvSpPr>
          <p:spPr>
            <a:xfrm>
              <a:off x="4572000" y="2063750"/>
              <a:ext cx="6477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W4</a:t>
              </a:r>
              <a:endParaRPr lang="en-US" sz="800" spc="48" kern="0" b="0" i="0" dirty="0">
                <a:solidFill>
                  <a:srgbClr val="070154"/>
                </a:solidFill>
                <a:latin typeface="IBM Plex Mono SemiBold"/>
                <a:ea typeface="IBM Plex Mono SemiBold"/>
                <a:cs typeface="IBM Plex Mono SemiBold"/>
              </a:endParaRPr>
            </a:p>
          </p:txBody>
        </p:sp>
        <p:sp>
          <p:nvSpPr>
            <p:cNvPr id="13" name="node01.periods.slot-005.label"/>
            <p:cNvSpPr/>
            <p:nvPr/>
          </p:nvSpPr>
          <p:spPr>
            <a:xfrm>
              <a:off x="5219700" y="2063750"/>
              <a:ext cx="6477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W5</a:t>
              </a:r>
              <a:endParaRPr lang="en-US" sz="800" spc="48" kern="0" b="0" i="0" dirty="0">
                <a:solidFill>
                  <a:srgbClr val="070154"/>
                </a:solidFill>
                <a:latin typeface="IBM Plex Mono SemiBold"/>
                <a:ea typeface="IBM Plex Mono SemiBold"/>
                <a:cs typeface="IBM Plex Mono SemiBold"/>
              </a:endParaRPr>
            </a:p>
          </p:txBody>
        </p:sp>
        <p:sp>
          <p:nvSpPr>
            <p:cNvPr id="14" name="node01.periods.slot-006.label"/>
            <p:cNvSpPr/>
            <p:nvPr/>
          </p:nvSpPr>
          <p:spPr>
            <a:xfrm>
              <a:off x="5867400" y="2063750"/>
              <a:ext cx="6477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W6</a:t>
              </a:r>
              <a:endParaRPr lang="en-US" sz="800" spc="48" kern="0" b="0" i="0" dirty="0">
                <a:solidFill>
                  <a:srgbClr val="070154"/>
                </a:solidFill>
                <a:latin typeface="IBM Plex Mono SemiBold"/>
                <a:ea typeface="IBM Plex Mono SemiBold"/>
                <a:cs typeface="IBM Plex Mono SemiBold"/>
              </a:endParaRPr>
            </a:p>
          </p:txBody>
        </p:sp>
        <p:sp>
          <p:nvSpPr>
            <p:cNvPr id="15" name="node01.periods.slot-007.label"/>
            <p:cNvSpPr/>
            <p:nvPr/>
          </p:nvSpPr>
          <p:spPr>
            <a:xfrm>
              <a:off x="6515100" y="2063750"/>
              <a:ext cx="6477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W7</a:t>
              </a:r>
              <a:endParaRPr lang="en-US" sz="800" spc="48" kern="0" b="0" i="0" dirty="0">
                <a:solidFill>
                  <a:srgbClr val="070154"/>
                </a:solidFill>
                <a:latin typeface="IBM Plex Mono SemiBold"/>
                <a:ea typeface="IBM Plex Mono SemiBold"/>
                <a:cs typeface="IBM Plex Mono SemiBold"/>
              </a:endParaRPr>
            </a:p>
          </p:txBody>
        </p:sp>
        <p:sp>
          <p:nvSpPr>
            <p:cNvPr id="16" name="node01.periods.slot-008.label"/>
            <p:cNvSpPr/>
            <p:nvPr/>
          </p:nvSpPr>
          <p:spPr>
            <a:xfrm>
              <a:off x="7162800" y="2063750"/>
              <a:ext cx="6477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W8</a:t>
              </a:r>
              <a:endParaRPr lang="en-US" sz="800" spc="48" kern="0" b="0" i="0" dirty="0">
                <a:solidFill>
                  <a:srgbClr val="070154"/>
                </a:solidFill>
                <a:latin typeface="IBM Plex Mono SemiBold"/>
                <a:ea typeface="IBM Plex Mono SemiBold"/>
                <a:cs typeface="IBM Plex Mono SemiBold"/>
              </a:endParaRPr>
            </a:p>
          </p:txBody>
        </p:sp>
        <p:sp>
          <p:nvSpPr>
            <p:cNvPr id="17" name="node01.phases.slot-001.rule"/>
            <p:cNvSpPr/>
            <p:nvPr/>
          </p:nvSpPr>
          <p:spPr>
            <a:xfrm>
              <a:off x="2641600" y="1676400"/>
              <a:ext cx="622300" cy="38100"/>
            </a:xfrm>
            <a:prstGeom prst="rect">
              <a:avLst/>
            </a:prstGeom>
            <a:solidFill>
              <a:srgbClr val="CED7E6"/>
            </a:solidFill>
            <a:ln>
              <a:noFill/>
            </a:ln>
          </p:spPr>
        </p:sp>
        <p:sp>
          <p:nvSpPr>
            <p:cNvPr id="18" name="node01.phases.slot-001.label"/>
            <p:cNvSpPr/>
            <p:nvPr/>
          </p:nvSpPr>
          <p:spPr>
            <a:xfrm>
              <a:off x="2705100" y="1714500"/>
              <a:ext cx="546100" cy="266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PREP</a:t>
              </a:r>
              <a:endParaRPr lang="en-US" sz="800" spc="48" kern="0" b="0" i="0" dirty="0">
                <a:solidFill>
                  <a:srgbClr val="070154"/>
                </a:solidFill>
                <a:latin typeface="IBM Plex Mono SemiBold"/>
                <a:ea typeface="IBM Plex Mono SemiBold"/>
                <a:cs typeface="IBM Plex Mono SemiBold"/>
              </a:endParaRPr>
            </a:p>
          </p:txBody>
        </p:sp>
        <p:sp>
          <p:nvSpPr>
            <p:cNvPr id="19" name="node01.phases.slot-002.rule"/>
            <p:cNvSpPr/>
            <p:nvPr/>
          </p:nvSpPr>
          <p:spPr>
            <a:xfrm>
              <a:off x="3289300" y="1676400"/>
              <a:ext cx="1917700" cy="38100"/>
            </a:xfrm>
            <a:prstGeom prst="rect">
              <a:avLst/>
            </a:prstGeom>
            <a:solidFill>
              <a:srgbClr val="070154"/>
            </a:solidFill>
            <a:ln>
              <a:noFill/>
            </a:ln>
          </p:spPr>
        </p:sp>
        <p:sp>
          <p:nvSpPr>
            <p:cNvPr id="20" name="node01.phases.slot-002.label"/>
            <p:cNvSpPr/>
            <p:nvPr/>
          </p:nvSpPr>
          <p:spPr>
            <a:xfrm>
              <a:off x="3352800" y="1714500"/>
              <a:ext cx="1841500" cy="266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DESIGN</a:t>
              </a:r>
              <a:endParaRPr lang="en-US" sz="800" spc="48" kern="0" b="0" i="0" dirty="0">
                <a:solidFill>
                  <a:srgbClr val="070154"/>
                </a:solidFill>
                <a:latin typeface="IBM Plex Mono SemiBold"/>
                <a:ea typeface="IBM Plex Mono SemiBold"/>
                <a:cs typeface="IBM Plex Mono SemiBold"/>
              </a:endParaRPr>
            </a:p>
          </p:txBody>
        </p:sp>
        <p:sp>
          <p:nvSpPr>
            <p:cNvPr id="21" name="node01.phases.slot-003.rule"/>
            <p:cNvSpPr/>
            <p:nvPr/>
          </p:nvSpPr>
          <p:spPr>
            <a:xfrm>
              <a:off x="5232400" y="1676400"/>
              <a:ext cx="1917700" cy="38100"/>
            </a:xfrm>
            <a:prstGeom prst="rect">
              <a:avLst/>
            </a:prstGeom>
            <a:solidFill>
              <a:srgbClr val="0047FF"/>
            </a:solidFill>
            <a:ln>
              <a:noFill/>
            </a:ln>
          </p:spPr>
        </p:sp>
        <p:sp>
          <p:nvSpPr>
            <p:cNvPr id="22" name="node01.phases.slot-003.label"/>
            <p:cNvSpPr/>
            <p:nvPr/>
          </p:nvSpPr>
          <p:spPr>
            <a:xfrm>
              <a:off x="5295900" y="1714500"/>
              <a:ext cx="1841500" cy="266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BUILD</a:t>
              </a:r>
              <a:endParaRPr lang="en-US" sz="800" spc="48" kern="0" b="0" i="0" dirty="0">
                <a:solidFill>
                  <a:srgbClr val="070154"/>
                </a:solidFill>
                <a:latin typeface="IBM Plex Mono SemiBold"/>
                <a:ea typeface="IBM Plex Mono SemiBold"/>
                <a:cs typeface="IBM Plex Mono SemiBold"/>
              </a:endParaRPr>
            </a:p>
          </p:txBody>
        </p:sp>
        <p:sp>
          <p:nvSpPr>
            <p:cNvPr id="23" name="node01.phases.slot-004.rule"/>
            <p:cNvSpPr/>
            <p:nvPr/>
          </p:nvSpPr>
          <p:spPr>
            <a:xfrm>
              <a:off x="7175500" y="1676400"/>
              <a:ext cx="622300" cy="38100"/>
            </a:xfrm>
            <a:prstGeom prst="rect">
              <a:avLst/>
            </a:prstGeom>
            <a:solidFill>
              <a:srgbClr val="F900D3"/>
            </a:solidFill>
            <a:ln>
              <a:noFill/>
            </a:ln>
          </p:spPr>
        </p:sp>
        <p:sp>
          <p:nvSpPr>
            <p:cNvPr id="24" name="node01.phases.slot-004.label"/>
            <p:cNvSpPr/>
            <p:nvPr/>
          </p:nvSpPr>
          <p:spPr>
            <a:xfrm>
              <a:off x="7239000" y="1714500"/>
              <a:ext cx="546100" cy="266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CLOSE</a:t>
              </a:r>
              <a:endParaRPr lang="en-US" sz="800" spc="48" kern="0" b="0" i="0" dirty="0">
                <a:solidFill>
                  <a:srgbClr val="070154"/>
                </a:solidFill>
                <a:latin typeface="IBM Plex Mono SemiBold"/>
                <a:ea typeface="IBM Plex Mono SemiBold"/>
                <a:cs typeface="IBM Plex Mono SemiBold"/>
              </a:endParaRPr>
            </a:p>
          </p:txBody>
        </p:sp>
        <p:sp>
          <p:nvSpPr>
            <p:cNvPr id="25" name="node01.grid-1"/>
            <p:cNvSpPr/>
            <p:nvPr/>
          </p:nvSpPr>
          <p:spPr>
            <a:xfrm>
              <a:off x="32766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6" name="node01.grid-2"/>
            <p:cNvSpPr/>
            <p:nvPr/>
          </p:nvSpPr>
          <p:spPr>
            <a:xfrm>
              <a:off x="39243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7" name="node01.grid-3"/>
            <p:cNvSpPr/>
            <p:nvPr/>
          </p:nvSpPr>
          <p:spPr>
            <a:xfrm>
              <a:off x="45720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8" name="node01.grid-4"/>
            <p:cNvSpPr/>
            <p:nvPr/>
          </p:nvSpPr>
          <p:spPr>
            <a:xfrm>
              <a:off x="52197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9" name="node01.grid-5"/>
            <p:cNvSpPr/>
            <p:nvPr/>
          </p:nvSpPr>
          <p:spPr>
            <a:xfrm>
              <a:off x="58674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30" name="node01.grid-6"/>
            <p:cNvSpPr/>
            <p:nvPr/>
          </p:nvSpPr>
          <p:spPr>
            <a:xfrm>
              <a:off x="65151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31" name="node01.grid-7"/>
            <p:cNvSpPr/>
            <p:nvPr/>
          </p:nvSpPr>
          <p:spPr>
            <a:xfrm>
              <a:off x="71628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32" name="node01.timeline-left"/>
            <p:cNvSpPr/>
            <p:nvPr/>
          </p:nvSpPr>
          <p:spPr>
            <a:xfrm>
              <a:off x="2628900" y="1600200"/>
              <a:ext cx="0" cy="2286000"/>
            </a:xfrm>
            <a:custGeom>
              <a:avLst/>
              <a:gdLst/>
              <a:ahLst/>
              <a:cxnLst/>
              <a:rect l="l" t="t" r="r" b="b"/>
              <a:pathLst>
                <a:path h="2286000">
                  <a:moveTo>
                    <a:pt x="0" y="0"/>
                  </a:moveTo>
                  <a:lnTo>
                    <a:pt x="0" y="2286000"/>
                  </a:lnTo>
                </a:path>
              </a:pathLst>
            </a:custGeom>
            <a:ln w="12700">
              <a:solidFill>
                <a:srgbClr val="CED7E6"/>
              </a:solidFill>
              <a:prstDash val="solid"/>
            </a:ln>
          </p:spPr>
        </p:sp>
        <p:sp>
          <p:nvSpPr>
            <p:cNvPr id="33" name="node01.groups.slot-001.tab"/>
            <p:cNvSpPr/>
            <p:nvPr/>
          </p:nvSpPr>
          <p:spPr>
            <a:xfrm>
              <a:off x="723900" y="2324100"/>
              <a:ext cx="228600" cy="990600"/>
            </a:xfrm>
            <a:prstGeom prst="rect">
              <a:avLst/>
            </a:prstGeom>
            <a:solidFill>
              <a:srgbClr val="070154"/>
            </a:solidFill>
            <a:ln>
              <a:noFill/>
            </a:ln>
          </p:spPr>
        </p:sp>
        <p:sp>
          <p:nvSpPr>
            <p:cNvPr id="34" name="node01.groups.slot-001.label"/>
            <p:cNvSpPr/>
            <p:nvPr/>
          </p:nvSpPr>
          <p:spPr>
            <a:xfrm rot="-5400000">
              <a:off x="381000" y="2743200"/>
              <a:ext cx="914400" cy="1524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PLAN</a:t>
              </a:r>
              <a:endParaRPr lang="en-US" sz="800" spc="80" kern="0" b="0" i="0" dirty="0">
                <a:solidFill>
                  <a:srgbClr val="FFFFFF"/>
                </a:solidFill>
                <a:latin typeface="IBM Plex Mono SemiBold"/>
                <a:ea typeface="IBM Plex Mono SemiBold"/>
                <a:cs typeface="IBM Plex Mono SemiBold"/>
              </a:endParaRPr>
            </a:p>
          </p:txBody>
        </p:sp>
        <p:grpSp>
          <p:nvGrpSpPr>
            <p:cNvPr id="98" name="node01.groups.slot-001.lanes.slot-001.icon"/>
            <p:cNvGrpSpPr/>
            <p:nvPr/>
          </p:nvGrpSpPr>
          <p:grpSpPr>
            <a:xfrm>
              <a:off x="1066800" y="2438400"/>
              <a:ext cx="228600" cy="228600"/>
              <a:chOff x="1066800" y="2438400"/>
              <a:chExt cx="228600" cy="228600"/>
            </a:xfrm>
          </p:grpSpPr>
          <p:pic>
            <p:nvPicPr>
              <p:cNvPr id="35" name="node01.groups.slot-001.lanes.slot-001.icon.image" descr="icon/layered-documents/navy; canonical SHA256=db84d00de5e459ac3c9d0cccae790edc7cc7245ecc7202e2555053b853b340f8">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6800" y="2438400"/>
                <a:ext cx="228600" cy="228600"/>
              </a:xfrm>
              <a:prstGeom prst="rect">
                <a:avLst/>
              </a:prstGeom>
            </p:spPr>
          </p:pic>
        </p:grpSp>
        <p:sp>
          <p:nvSpPr>
            <p:cNvPr id="36" name="node01.groups.slot-001.lanes.slot-001.title"/>
            <p:cNvSpPr/>
            <p:nvPr/>
          </p:nvSpPr>
          <p:spPr>
            <a:xfrm>
              <a:off x="1409700" y="2457450"/>
              <a:ext cx="1104900" cy="190500"/>
            </a:xfrm>
            <a:prstGeom prst="rect">
              <a:avLst/>
            </a:prstGeom>
            <a:noFill/>
            <a:ln/>
          </p:spPr>
          <p:txBody>
            <a:bodyPr wrap="square" lIns="0" tIns="0" rIns="0" bIns="0" rtlCol="0" anchor="t"/>
            <a:lstStyle/>
            <a:p>
              <a:pPr algn="l" indent="0" marL="0">
                <a:lnSpc>
                  <a:spcPts val="1500"/>
                </a:lnSpc>
                <a:buNone/>
              </a:pPr>
              <a:r>
                <a:rPr lang="en-US" sz="1146" spc="0" kern="0" b="0" i="0" dirty="0">
                  <a:solidFill>
                    <a:srgbClr val="070154"/>
                  </a:solidFill>
                  <a:latin typeface="IBM Plex Sans SemiBold"/>
                  <a:ea typeface="IBM Plex Sans SemiBold"/>
                  <a:cs typeface="IBM Plex Sans SemiBold"/>
                </a:rPr>
                <a:t>1 Zone design</a:t>
              </a:r>
              <a:endParaRPr lang="en-US" sz="1146" spc="0" kern="0" b="0" i="0" dirty="0">
                <a:solidFill>
                  <a:srgbClr val="070154"/>
                </a:solidFill>
                <a:latin typeface="IBM Plex Sans SemiBold"/>
                <a:ea typeface="IBM Plex Sans SemiBold"/>
                <a:cs typeface="IBM Plex Sans SemiBold"/>
              </a:endParaRPr>
            </a:p>
          </p:txBody>
        </p:sp>
        <p:sp>
          <p:nvSpPr>
            <p:cNvPr id="37" name="node01.groups.slot-001.lanes.slot-001.separator"/>
            <p:cNvSpPr/>
            <p:nvPr/>
          </p:nvSpPr>
          <p:spPr>
            <a:xfrm>
              <a:off x="952500" y="2814638"/>
              <a:ext cx="6858000" cy="0"/>
            </a:xfrm>
            <a:custGeom>
              <a:avLst/>
              <a:gdLst/>
              <a:ahLst/>
              <a:cxnLst/>
              <a:rect l="l" t="t" r="r" b="b"/>
              <a:pathLst>
                <a:path w="6858000">
                  <a:moveTo>
                    <a:pt x="0" y="0"/>
                  </a:moveTo>
                  <a:lnTo>
                    <a:pt x="6858000" y="0"/>
                  </a:lnTo>
                </a:path>
              </a:pathLst>
            </a:custGeom>
            <a:ln w="9525">
              <a:solidFill>
                <a:srgbClr val="CED7E6"/>
              </a:solidFill>
              <a:prstDash val="solid"/>
            </a:ln>
          </p:spPr>
        </p:sp>
        <p:sp>
          <p:nvSpPr>
            <p:cNvPr id="38" name="node01.groups.slot-001.lanes.slot-001.items.slot-001.segment-0"/>
            <p:cNvSpPr/>
            <p:nvPr/>
          </p:nvSpPr>
          <p:spPr>
            <a:xfrm>
              <a:off x="2628900" y="2413000"/>
              <a:ext cx="2266950" cy="279400"/>
            </a:xfrm>
            <a:prstGeom prst="rect">
              <a:avLst/>
            </a:prstGeom>
            <a:solidFill>
              <a:srgbClr val="070154"/>
            </a:solidFill>
            <a:ln w="9525">
              <a:solidFill>
                <a:srgbClr val="070154"/>
              </a:solidFill>
              <a:prstDash val="solid"/>
            </a:ln>
          </p:spPr>
        </p:sp>
        <p:sp>
          <p:nvSpPr>
            <p:cNvPr id="39" name="node01.groups.slot-001.lanes.slot-001.items.slot-001.label"/>
            <p:cNvSpPr/>
            <p:nvPr/>
          </p:nvSpPr>
          <p:spPr>
            <a:xfrm>
              <a:off x="2717800" y="2457450"/>
              <a:ext cx="49212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SemiBold"/>
                  <a:ea typeface="IBM Plex Sans SemiBold"/>
                  <a:cs typeface="IBM Plex Sans SemiBold"/>
                </a:rPr>
                <a:t>Design</a:t>
              </a:r>
              <a:endParaRPr lang="en-US" sz="1100" spc="0" kern="0" b="0" i="0" dirty="0">
                <a:solidFill>
                  <a:srgbClr val="FFFFFF"/>
                </a:solidFill>
                <a:latin typeface="IBM Plex Sans SemiBold"/>
                <a:ea typeface="IBM Plex Sans SemiBold"/>
                <a:cs typeface="IBM Plex Sans SemiBold"/>
              </a:endParaRPr>
            </a:p>
          </p:txBody>
        </p:sp>
        <p:grpSp>
          <p:nvGrpSpPr>
            <p:cNvPr id="99" name="node01.groups.slot-001.lanes.slot-002.icon"/>
            <p:cNvGrpSpPr/>
            <p:nvPr/>
          </p:nvGrpSpPr>
          <p:grpSpPr>
            <a:xfrm>
              <a:off x="1066800" y="2971800"/>
              <a:ext cx="228600" cy="228600"/>
              <a:chOff x="1066800" y="2971800"/>
              <a:chExt cx="228600" cy="228600"/>
            </a:xfrm>
          </p:grpSpPr>
          <p:pic>
            <p:nvPicPr>
              <p:cNvPr id="40" name="node01.groups.slot-001.lanes.slot-002.icon.image" descr="icon/shield/navy; canonical SHA256=8a65d759bb7213063d806d329f93ae17f9d9121a8e03baf2fad4c24e8efebad9">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6800" y="2971800"/>
                <a:ext cx="228600" cy="228600"/>
              </a:xfrm>
              <a:prstGeom prst="rect">
                <a:avLst/>
              </a:prstGeom>
            </p:spPr>
          </p:pic>
        </p:grpSp>
        <p:sp>
          <p:nvSpPr>
            <p:cNvPr id="41" name="node01.groups.slot-001.lanes.slot-002.title"/>
            <p:cNvSpPr/>
            <p:nvPr/>
          </p:nvSpPr>
          <p:spPr>
            <a:xfrm>
              <a:off x="1409700" y="2990850"/>
              <a:ext cx="1104900" cy="190500"/>
            </a:xfrm>
            <a:prstGeom prst="rect">
              <a:avLst/>
            </a:prstGeom>
            <a:noFill/>
            <a:ln/>
          </p:spPr>
          <p:txBody>
            <a:bodyPr wrap="square" lIns="0" tIns="0" rIns="0" bIns="0" rtlCol="0" anchor="t"/>
            <a:lstStyle/>
            <a:p>
              <a:pPr algn="l" indent="0" marL="0">
                <a:lnSpc>
                  <a:spcPts val="1500"/>
                </a:lnSpc>
                <a:buNone/>
              </a:pPr>
              <a:r>
                <a:rPr lang="en-US" sz="1146" spc="0" kern="0" b="0" i="0" dirty="0">
                  <a:solidFill>
                    <a:srgbClr val="070154"/>
                  </a:solidFill>
                  <a:latin typeface="IBM Plex Sans SemiBold"/>
                  <a:ea typeface="IBM Plex Sans SemiBold"/>
                  <a:cs typeface="IBM Plex Sans SemiBold"/>
                </a:rPr>
                <a:t>2 Guardrails</a:t>
              </a:r>
              <a:endParaRPr lang="en-US" sz="1146" spc="0" kern="0" b="0" i="0" dirty="0">
                <a:solidFill>
                  <a:srgbClr val="070154"/>
                </a:solidFill>
                <a:latin typeface="IBM Plex Sans SemiBold"/>
                <a:ea typeface="IBM Plex Sans SemiBold"/>
                <a:cs typeface="IBM Plex Sans SemiBold"/>
              </a:endParaRPr>
            </a:p>
          </p:txBody>
        </p:sp>
        <p:sp>
          <p:nvSpPr>
            <p:cNvPr id="42" name="node01.groups.slot-001.lanes.slot-002.separator"/>
            <p:cNvSpPr/>
            <p:nvPr/>
          </p:nvSpPr>
          <p:spPr>
            <a:xfrm>
              <a:off x="723900" y="3346450"/>
              <a:ext cx="7086600" cy="0"/>
            </a:xfrm>
            <a:custGeom>
              <a:avLst/>
              <a:gdLst/>
              <a:ahLst/>
              <a:cxnLst/>
              <a:rect l="l" t="t" r="r" b="b"/>
              <a:pathLst>
                <a:path w="7086600">
                  <a:moveTo>
                    <a:pt x="0" y="0"/>
                  </a:moveTo>
                  <a:lnTo>
                    <a:pt x="7086600" y="0"/>
                  </a:lnTo>
                </a:path>
              </a:pathLst>
            </a:custGeom>
            <a:ln w="12700">
              <a:solidFill>
                <a:srgbClr val="070154"/>
              </a:solidFill>
              <a:prstDash val="solid"/>
            </a:ln>
          </p:spPr>
        </p:sp>
        <p:sp>
          <p:nvSpPr>
            <p:cNvPr id="43" name="node01.groups.slot-001.lanes.slot-002.items.slot-001.segment-0"/>
            <p:cNvSpPr/>
            <p:nvPr/>
          </p:nvSpPr>
          <p:spPr>
            <a:xfrm>
              <a:off x="3600450" y="2946400"/>
              <a:ext cx="2266950" cy="279400"/>
            </a:xfrm>
            <a:prstGeom prst="rect">
              <a:avLst/>
            </a:prstGeom>
            <a:solidFill>
              <a:srgbClr val="070154"/>
            </a:solidFill>
            <a:ln w="9525">
              <a:solidFill>
                <a:srgbClr val="070154"/>
              </a:solidFill>
              <a:prstDash val="solid"/>
            </a:ln>
          </p:spPr>
        </p:sp>
        <p:sp>
          <p:nvSpPr>
            <p:cNvPr id="44" name="node01.groups.slot-001.lanes.slot-002.items.slot-001.label"/>
            <p:cNvSpPr/>
            <p:nvPr/>
          </p:nvSpPr>
          <p:spPr>
            <a:xfrm>
              <a:off x="3689350" y="2990850"/>
              <a:ext cx="96996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SemiBold"/>
                  <a:ea typeface="IBM Plex Sans SemiBold"/>
                  <a:cs typeface="IBM Plex Sans SemiBold"/>
                </a:rPr>
                <a:t>Policy as code</a:t>
              </a:r>
              <a:endParaRPr lang="en-US" sz="1100" spc="0" kern="0" b="0" i="0" dirty="0">
                <a:solidFill>
                  <a:srgbClr val="FFFFFF"/>
                </a:solidFill>
                <a:latin typeface="IBM Plex Sans SemiBold"/>
                <a:ea typeface="IBM Plex Sans SemiBold"/>
                <a:cs typeface="IBM Plex Sans SemiBold"/>
              </a:endParaRPr>
            </a:p>
          </p:txBody>
        </p:sp>
        <p:sp>
          <p:nvSpPr>
            <p:cNvPr id="45" name="node01.groups.slot-002.tab"/>
            <p:cNvSpPr/>
            <p:nvPr/>
          </p:nvSpPr>
          <p:spPr>
            <a:xfrm>
              <a:off x="723900" y="3390900"/>
              <a:ext cx="228600" cy="457200"/>
            </a:xfrm>
            <a:prstGeom prst="rect">
              <a:avLst/>
            </a:prstGeom>
            <a:solidFill>
              <a:srgbClr val="50658E"/>
            </a:solidFill>
            <a:ln>
              <a:noFill/>
            </a:ln>
          </p:spPr>
        </p:sp>
        <p:sp>
          <p:nvSpPr>
            <p:cNvPr id="46" name="node01.groups.slot-002.label"/>
            <p:cNvSpPr/>
            <p:nvPr/>
          </p:nvSpPr>
          <p:spPr>
            <a:xfrm rot="-5400000">
              <a:off x="647700" y="3543300"/>
              <a:ext cx="381000" cy="1524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BUILD</a:t>
              </a:r>
              <a:endParaRPr lang="en-US" sz="800" spc="80" kern="0" b="0" i="0" dirty="0">
                <a:solidFill>
                  <a:srgbClr val="FFFFFF"/>
                </a:solidFill>
                <a:latin typeface="IBM Plex Mono SemiBold"/>
                <a:ea typeface="IBM Plex Mono SemiBold"/>
                <a:cs typeface="IBM Plex Mono SemiBold"/>
              </a:endParaRPr>
            </a:p>
          </p:txBody>
        </p:sp>
        <p:grpSp>
          <p:nvGrpSpPr>
            <p:cNvPr id="100" name="node01.groups.slot-002.lanes.slot-001.icon"/>
            <p:cNvGrpSpPr/>
            <p:nvPr/>
          </p:nvGrpSpPr>
          <p:grpSpPr>
            <a:xfrm>
              <a:off x="1066800" y="3505200"/>
              <a:ext cx="228600" cy="228600"/>
              <a:chOff x="1066800" y="3505200"/>
              <a:chExt cx="228600" cy="228600"/>
            </a:xfrm>
          </p:grpSpPr>
          <p:pic>
            <p:nvPicPr>
              <p:cNvPr id="47" name="node01.groups.slot-002.lanes.slot-001.icon.image" descr="icon/database/navy; canonical SHA256=2d90200e97698869a773eaca7ed4fcff2e1a2d564b97865c1556b4849ff5b917">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800" y="3505200"/>
                <a:ext cx="228600" cy="228600"/>
              </a:xfrm>
              <a:prstGeom prst="rect">
                <a:avLst/>
              </a:prstGeom>
            </p:spPr>
          </p:pic>
        </p:grpSp>
        <p:sp>
          <p:nvSpPr>
            <p:cNvPr id="48" name="node01.groups.slot-002.lanes.slot-001.title"/>
            <p:cNvSpPr/>
            <p:nvPr/>
          </p:nvSpPr>
          <p:spPr>
            <a:xfrm>
              <a:off x="1409700" y="3429000"/>
              <a:ext cx="1104900" cy="381000"/>
            </a:xfrm>
            <a:prstGeom prst="rect">
              <a:avLst/>
            </a:prstGeom>
            <a:noFill/>
            <a:ln/>
          </p:spPr>
          <p:txBody>
            <a:bodyPr wrap="square" lIns="0" tIns="0" rIns="0" bIns="0" rtlCol="0" anchor="t"/>
            <a:lstStyle/>
            <a:p>
              <a:pPr algn="l" indent="0" marL="0">
                <a:lnSpc>
                  <a:spcPts val="1500"/>
                </a:lnSpc>
                <a:buNone/>
              </a:pPr>
              <a:r>
                <a:rPr lang="en-US" sz="1146" spc="0" kern="0" b="0" i="0" dirty="0">
                  <a:solidFill>
                    <a:srgbClr val="070154"/>
                  </a:solidFill>
                  <a:latin typeface="IBM Plex Sans SemiBold"/>
                  <a:ea typeface="IBM Plex Sans SemiBold"/>
                  <a:cs typeface="IBM Plex Sans SemiBold"/>
                </a:rPr>
                <a:t>3 Build, handover</a:t>
              </a:r>
              <a:endParaRPr lang="en-US" sz="1146" spc="0" kern="0" b="0" i="0" dirty="0">
                <a:solidFill>
                  <a:srgbClr val="070154"/>
                </a:solidFill>
                <a:latin typeface="IBM Plex Sans SemiBold"/>
                <a:ea typeface="IBM Plex Sans SemiBold"/>
                <a:cs typeface="IBM Plex Sans SemiBold"/>
              </a:endParaRPr>
            </a:p>
          </p:txBody>
        </p:sp>
        <p:sp>
          <p:nvSpPr>
            <p:cNvPr id="49" name="node01.groups.slot-002.lanes.slot-001.separator"/>
            <p:cNvSpPr/>
            <p:nvPr/>
          </p:nvSpPr>
          <p:spPr>
            <a:xfrm>
              <a:off x="723900" y="3879850"/>
              <a:ext cx="7086600" cy="0"/>
            </a:xfrm>
            <a:custGeom>
              <a:avLst/>
              <a:gdLst/>
              <a:ahLst/>
              <a:cxnLst/>
              <a:rect l="l" t="t" r="r" b="b"/>
              <a:pathLst>
                <a:path w="7086600">
                  <a:moveTo>
                    <a:pt x="0" y="0"/>
                  </a:moveTo>
                  <a:lnTo>
                    <a:pt x="7086600" y="0"/>
                  </a:lnTo>
                </a:path>
              </a:pathLst>
            </a:custGeom>
            <a:ln w="12700">
              <a:solidFill>
                <a:srgbClr val="070154"/>
              </a:solidFill>
              <a:prstDash val="solid"/>
            </a:ln>
          </p:spPr>
        </p:sp>
        <p:sp>
          <p:nvSpPr>
            <p:cNvPr id="50" name="node01.groups.slot-002.lanes.slot-001.items.slot-001.segment-0"/>
            <p:cNvSpPr/>
            <p:nvPr/>
          </p:nvSpPr>
          <p:spPr>
            <a:xfrm>
              <a:off x="4895850" y="3479800"/>
              <a:ext cx="1619250" cy="279400"/>
            </a:xfrm>
            <a:prstGeom prst="rect">
              <a:avLst/>
            </a:prstGeom>
            <a:solidFill>
              <a:srgbClr val="070154"/>
            </a:solidFill>
            <a:ln w="9525">
              <a:solidFill>
                <a:srgbClr val="070154"/>
              </a:solidFill>
              <a:prstDash val="solid"/>
            </a:ln>
          </p:spPr>
        </p:sp>
        <p:sp>
          <p:nvSpPr>
            <p:cNvPr id="51" name="node01.groups.slot-002.lanes.slot-001.items.slot-001.label"/>
            <p:cNvSpPr/>
            <p:nvPr/>
          </p:nvSpPr>
          <p:spPr>
            <a:xfrm>
              <a:off x="4984750" y="3524250"/>
              <a:ext cx="3889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SemiBold"/>
                  <a:ea typeface="IBM Plex Sans SemiBold"/>
                  <a:cs typeface="IBM Plex Sans SemiBold"/>
                </a:rPr>
                <a:t>Build</a:t>
              </a:r>
              <a:endParaRPr lang="en-US" sz="1100" spc="0" kern="0" b="0" i="0" dirty="0">
                <a:solidFill>
                  <a:srgbClr val="FFFFFF"/>
                </a:solidFill>
                <a:latin typeface="IBM Plex Sans SemiBold"/>
                <a:ea typeface="IBM Plex Sans SemiBold"/>
                <a:cs typeface="IBM Plex Sans SemiBold"/>
              </a:endParaRPr>
            </a:p>
          </p:txBody>
        </p:sp>
        <p:sp>
          <p:nvSpPr>
            <p:cNvPr id="52" name="node01.groups.slot-002.lanes.slot-001.items.slot-002.segment-0"/>
            <p:cNvSpPr/>
            <p:nvPr/>
          </p:nvSpPr>
          <p:spPr>
            <a:xfrm>
              <a:off x="6579870" y="3479800"/>
              <a:ext cx="1230630" cy="279400"/>
            </a:xfrm>
            <a:prstGeom prst="rect">
              <a:avLst/>
            </a:prstGeom>
            <a:solidFill>
              <a:srgbClr val="CED7E6"/>
            </a:solidFill>
            <a:ln w="9525">
              <a:solidFill>
                <a:srgbClr val="070154"/>
              </a:solidFill>
              <a:prstDash val="solid"/>
            </a:ln>
          </p:spPr>
        </p:sp>
        <p:sp>
          <p:nvSpPr>
            <p:cNvPr id="53" name="node01.groups.slot-002.lanes.slot-001.items.slot-002.label"/>
            <p:cNvSpPr/>
            <p:nvPr/>
          </p:nvSpPr>
          <p:spPr>
            <a:xfrm>
              <a:off x="6668770" y="3524250"/>
              <a:ext cx="6810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Handover</a:t>
              </a:r>
              <a:endParaRPr lang="en-US" sz="1100" spc="0" kern="0" b="0" i="0" dirty="0">
                <a:solidFill>
                  <a:srgbClr val="070154"/>
                </a:solidFill>
                <a:latin typeface="IBM Plex Sans SemiBold"/>
                <a:ea typeface="IBM Plex Sans SemiBold"/>
                <a:cs typeface="IBM Plex Sans SemiBold"/>
              </a:endParaRPr>
            </a:p>
          </p:txBody>
        </p:sp>
        <p:grpSp>
          <p:nvGrpSpPr>
            <p:cNvPr id="101" name="node01.legend"/>
            <p:cNvGrpSpPr/>
            <p:nvPr/>
          </p:nvGrpSpPr>
          <p:grpSpPr>
            <a:xfrm>
              <a:off x="2628900" y="4064000"/>
              <a:ext cx="2659063" cy="190500"/>
              <a:chOff x="2628900" y="4064000"/>
              <a:chExt cx="2659063" cy="190500"/>
            </a:xfrm>
          </p:grpSpPr>
          <p:sp>
            <p:nvSpPr>
              <p:cNvPr id="54" name="node01.legend.items.kind-core.swatch"/>
              <p:cNvSpPr/>
              <p:nvPr/>
            </p:nvSpPr>
            <p:spPr>
              <a:xfrm>
                <a:off x="2628900" y="4095750"/>
                <a:ext cx="127000" cy="127000"/>
              </a:xfrm>
              <a:prstGeom prst="rect">
                <a:avLst/>
              </a:prstGeom>
              <a:solidFill>
                <a:srgbClr val="070154"/>
              </a:solidFill>
              <a:ln w="9525">
                <a:solidFill>
                  <a:srgbClr val="070154"/>
                </a:solidFill>
                <a:prstDash val="solid"/>
              </a:ln>
            </p:spPr>
          </p:sp>
          <p:sp>
            <p:nvSpPr>
              <p:cNvPr id="55" name="node01.legend.items.kind-core.text"/>
              <p:cNvSpPr/>
              <p:nvPr/>
            </p:nvSpPr>
            <p:spPr>
              <a:xfrm>
                <a:off x="2819400" y="4064000"/>
                <a:ext cx="8270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Core activity</a:t>
                </a:r>
                <a:endParaRPr lang="en-US" sz="1100" spc="0" kern="0" b="0" i="0" dirty="0">
                  <a:solidFill>
                    <a:srgbClr val="070154"/>
                  </a:solidFill>
                  <a:latin typeface="IBM Plex Sans"/>
                  <a:ea typeface="IBM Plex Sans"/>
                  <a:cs typeface="IBM Plex Sans"/>
                </a:endParaRPr>
              </a:p>
            </p:txBody>
          </p:sp>
          <p:sp>
            <p:nvSpPr>
              <p:cNvPr id="56" name="node01.legend.items.kind-support.swatch"/>
              <p:cNvSpPr/>
              <p:nvPr/>
            </p:nvSpPr>
            <p:spPr>
              <a:xfrm>
                <a:off x="3875088" y="4095750"/>
                <a:ext cx="127000" cy="127000"/>
              </a:xfrm>
              <a:prstGeom prst="rect">
                <a:avLst/>
              </a:prstGeom>
              <a:solidFill>
                <a:srgbClr val="CED7E6"/>
              </a:solidFill>
              <a:ln w="9525">
                <a:solidFill>
                  <a:srgbClr val="070154"/>
                </a:solidFill>
                <a:prstDash val="solid"/>
              </a:ln>
            </p:spPr>
          </p:sp>
          <p:sp>
            <p:nvSpPr>
              <p:cNvPr id="57" name="node01.legend.items.kind-support.text"/>
              <p:cNvSpPr/>
              <p:nvPr/>
            </p:nvSpPr>
            <p:spPr>
              <a:xfrm>
                <a:off x="4065588" y="4064000"/>
                <a:ext cx="12223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Supporting activity</a:t>
                </a:r>
                <a:endParaRPr lang="en-US" sz="1100" spc="0" kern="0" b="0" i="0" dirty="0">
                  <a:solidFill>
                    <a:srgbClr val="070154"/>
                  </a:solidFill>
                  <a:latin typeface="IBM Plex Sans"/>
                  <a:ea typeface="IBM Plex Sans"/>
                  <a:cs typeface="IBM Plex Sans"/>
                </a:endParaRPr>
              </a:p>
            </p:txBody>
          </p:sp>
        </p:grpSp>
      </p:grpSp>
      <p:sp>
        <p:nvSpPr>
          <p:cNvPr id="58" name="node02"/>
          <p:cNvSpPr/>
          <p:nvPr/>
        </p:nvSpPr>
        <p:spPr>
          <a:xfrm>
            <a:off x="723900" y="4343400"/>
            <a:ext cx="2209800" cy="12700"/>
          </a:xfrm>
          <a:prstGeom prst="rect">
            <a:avLst/>
          </a:prstGeom>
          <a:solidFill>
            <a:srgbClr val="CED7E6"/>
          </a:solidFill>
          <a:ln>
            <a:noFill/>
          </a:ln>
        </p:spPr>
      </p:sp>
      <p:grpSp>
        <p:nvGrpSpPr>
          <p:cNvPr id="103" name="node03"/>
          <p:cNvGrpSpPr/>
          <p:nvPr/>
        </p:nvGrpSpPr>
        <p:grpSpPr>
          <a:xfrm>
            <a:off x="723900" y="4419600"/>
            <a:ext cx="2209800" cy="139700"/>
            <a:chOff x="723900" y="4419600"/>
            <a:chExt cx="2209800" cy="139700"/>
          </a:xfrm>
        </p:grpSpPr>
        <p:sp>
          <p:nvSpPr>
            <p:cNvPr id="59" name="node03.text"/>
            <p:cNvSpPr/>
            <p:nvPr/>
          </p:nvSpPr>
          <p:spPr>
            <a:xfrm>
              <a:off x="723900" y="44196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 · ZONE DESIGN · W1 TO 4</a:t>
              </a:r>
              <a:endParaRPr lang="en-US" sz="800" spc="48" kern="0" b="0" i="0" dirty="0">
                <a:solidFill>
                  <a:srgbClr val="0047FF"/>
                </a:solidFill>
                <a:latin typeface="IBM Plex Mono Medium"/>
                <a:ea typeface="IBM Plex Mono Medium"/>
                <a:cs typeface="IBM Plex Mono Medium"/>
              </a:endParaRPr>
            </a:p>
          </p:txBody>
        </p:sp>
      </p:grpSp>
      <p:grpSp>
        <p:nvGrpSpPr>
          <p:cNvPr id="104" name="node04"/>
          <p:cNvGrpSpPr/>
          <p:nvPr/>
        </p:nvGrpSpPr>
        <p:grpSpPr>
          <a:xfrm>
            <a:off x="723900" y="4648200"/>
            <a:ext cx="2209800" cy="939800"/>
            <a:chOff x="723900" y="4648200"/>
            <a:chExt cx="2209800" cy="939800"/>
          </a:xfrm>
        </p:grpSpPr>
        <p:sp>
          <p:nvSpPr>
            <p:cNvPr id="60" name="node04.source-001.bullet"/>
            <p:cNvSpPr/>
            <p:nvPr/>
          </p:nvSpPr>
          <p:spPr>
            <a:xfrm>
              <a:off x="723900" y="4737100"/>
              <a:ext cx="38100" cy="38100"/>
            </a:xfrm>
            <a:prstGeom prst="rect">
              <a:avLst/>
            </a:prstGeom>
            <a:solidFill>
              <a:srgbClr val="070154"/>
            </a:solidFill>
            <a:ln>
              <a:noFill/>
            </a:ln>
          </p:spPr>
        </p:sp>
        <p:sp>
          <p:nvSpPr>
            <p:cNvPr id="61" name="node04.source-001.text"/>
            <p:cNvSpPr/>
            <p:nvPr/>
          </p:nvSpPr>
          <p:spPr>
            <a:xfrm>
              <a:off x="876300" y="46482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Network and account design</a:t>
              </a:r>
              <a:endParaRPr lang="en-US" sz="1200" spc="0" kern="0" b="0" i="0" dirty="0">
                <a:solidFill>
                  <a:srgbClr val="070154"/>
                </a:solidFill>
                <a:latin typeface="IBM Plex Sans"/>
                <a:ea typeface="IBM Plex Sans"/>
                <a:cs typeface="IBM Plex Sans"/>
              </a:endParaRPr>
            </a:p>
          </p:txBody>
        </p:sp>
        <p:sp>
          <p:nvSpPr>
            <p:cNvPr id="62" name="node04.source-002.bullet"/>
            <p:cNvSpPr/>
            <p:nvPr/>
          </p:nvSpPr>
          <p:spPr>
            <a:xfrm>
              <a:off x="723900" y="4991100"/>
              <a:ext cx="38100" cy="38100"/>
            </a:xfrm>
            <a:prstGeom prst="rect">
              <a:avLst/>
            </a:prstGeom>
            <a:solidFill>
              <a:srgbClr val="070154"/>
            </a:solidFill>
            <a:ln>
              <a:noFill/>
            </a:ln>
          </p:spPr>
        </p:sp>
        <p:sp>
          <p:nvSpPr>
            <p:cNvPr id="63" name="node04.source-002.text"/>
            <p:cNvSpPr/>
            <p:nvPr/>
          </p:nvSpPr>
          <p:spPr>
            <a:xfrm>
              <a:off x="876300" y="4902200"/>
              <a:ext cx="2057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Identity and tagging standards</a:t>
              </a:r>
              <a:endParaRPr lang="en-US" sz="1200" spc="0" kern="0" b="0" i="0" dirty="0">
                <a:solidFill>
                  <a:srgbClr val="070154"/>
                </a:solidFill>
                <a:latin typeface="IBM Plex Sans"/>
                <a:ea typeface="IBM Plex Sans"/>
                <a:cs typeface="IBM Plex Sans"/>
              </a:endParaRPr>
            </a:p>
          </p:txBody>
        </p:sp>
        <p:sp>
          <p:nvSpPr>
            <p:cNvPr id="64" name="node04.source-003.bullet"/>
            <p:cNvSpPr/>
            <p:nvPr/>
          </p:nvSpPr>
          <p:spPr>
            <a:xfrm>
              <a:off x="723900" y="5461000"/>
              <a:ext cx="38100" cy="38100"/>
            </a:xfrm>
            <a:prstGeom prst="rect">
              <a:avLst/>
            </a:prstGeom>
            <a:solidFill>
              <a:srgbClr val="070154"/>
            </a:solidFill>
            <a:ln>
              <a:noFill/>
            </a:ln>
          </p:spPr>
        </p:sp>
        <p:sp>
          <p:nvSpPr>
            <p:cNvPr id="65" name="node04.source-003.text"/>
            <p:cNvSpPr/>
            <p:nvPr/>
          </p:nvSpPr>
          <p:spPr>
            <a:xfrm>
              <a:off x="876300" y="53721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Three environments agreed</a:t>
              </a:r>
              <a:endParaRPr lang="en-US" sz="1200" spc="0" kern="0" b="0" i="0" dirty="0">
                <a:solidFill>
                  <a:srgbClr val="070154"/>
                </a:solidFill>
                <a:latin typeface="IBM Plex Sans"/>
                <a:ea typeface="IBM Plex Sans"/>
                <a:cs typeface="IBM Plex Sans"/>
              </a:endParaRPr>
            </a:p>
          </p:txBody>
        </p:sp>
      </p:grpSp>
      <p:sp>
        <p:nvSpPr>
          <p:cNvPr id="66" name="node05"/>
          <p:cNvSpPr/>
          <p:nvPr/>
        </p:nvSpPr>
        <p:spPr>
          <a:xfrm>
            <a:off x="3086100" y="4343400"/>
            <a:ext cx="2209800" cy="12700"/>
          </a:xfrm>
          <a:prstGeom prst="rect">
            <a:avLst/>
          </a:prstGeom>
          <a:solidFill>
            <a:srgbClr val="CED7E6"/>
          </a:solidFill>
          <a:ln>
            <a:noFill/>
          </a:ln>
        </p:spPr>
      </p:sp>
      <p:grpSp>
        <p:nvGrpSpPr>
          <p:cNvPr id="105" name="node06"/>
          <p:cNvGrpSpPr/>
          <p:nvPr/>
        </p:nvGrpSpPr>
        <p:grpSpPr>
          <a:xfrm>
            <a:off x="3086100" y="4419600"/>
            <a:ext cx="2209800" cy="139700"/>
            <a:chOff x="3086100" y="4419600"/>
            <a:chExt cx="2209800" cy="139700"/>
          </a:xfrm>
        </p:grpSpPr>
        <p:sp>
          <p:nvSpPr>
            <p:cNvPr id="67" name="node06.text"/>
            <p:cNvSpPr/>
            <p:nvPr/>
          </p:nvSpPr>
          <p:spPr>
            <a:xfrm>
              <a:off x="3086100" y="4419600"/>
              <a:ext cx="2209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2 · GUARDRAILS · W2 TO 5</a:t>
              </a:r>
              <a:endParaRPr lang="en-US" sz="800" spc="48" kern="0" b="0" i="0" dirty="0">
                <a:solidFill>
                  <a:srgbClr val="0047FF"/>
                </a:solidFill>
                <a:latin typeface="IBM Plex Mono Medium"/>
                <a:ea typeface="IBM Plex Mono Medium"/>
                <a:cs typeface="IBM Plex Mono Medium"/>
              </a:endParaRPr>
            </a:p>
          </p:txBody>
        </p:sp>
      </p:grpSp>
      <p:grpSp>
        <p:nvGrpSpPr>
          <p:cNvPr id="106" name="node07"/>
          <p:cNvGrpSpPr/>
          <p:nvPr/>
        </p:nvGrpSpPr>
        <p:grpSpPr>
          <a:xfrm>
            <a:off x="3086100" y="4648200"/>
            <a:ext cx="2209800" cy="723900"/>
            <a:chOff x="3086100" y="4648200"/>
            <a:chExt cx="2209800" cy="723900"/>
          </a:xfrm>
        </p:grpSpPr>
        <p:sp>
          <p:nvSpPr>
            <p:cNvPr id="68" name="node07.source-001.bullet"/>
            <p:cNvSpPr/>
            <p:nvPr/>
          </p:nvSpPr>
          <p:spPr>
            <a:xfrm>
              <a:off x="3086100" y="4737100"/>
              <a:ext cx="38100" cy="38100"/>
            </a:xfrm>
            <a:prstGeom prst="rect">
              <a:avLst/>
            </a:prstGeom>
            <a:solidFill>
              <a:srgbClr val="070154"/>
            </a:solidFill>
            <a:ln>
              <a:noFill/>
            </a:ln>
          </p:spPr>
        </p:sp>
        <p:sp>
          <p:nvSpPr>
            <p:cNvPr id="69" name="node07.source-001.text"/>
            <p:cNvSpPr/>
            <p:nvPr/>
          </p:nvSpPr>
          <p:spPr>
            <a:xfrm>
              <a:off x="3238500" y="46482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Security baselines as code</a:t>
              </a:r>
              <a:endParaRPr lang="en-US" sz="1200" spc="0" kern="0" b="0" i="0" dirty="0">
                <a:solidFill>
                  <a:srgbClr val="070154"/>
                </a:solidFill>
                <a:latin typeface="IBM Plex Sans"/>
                <a:ea typeface="IBM Plex Sans"/>
                <a:cs typeface="IBM Plex Sans"/>
              </a:endParaRPr>
            </a:p>
          </p:txBody>
        </p:sp>
        <p:sp>
          <p:nvSpPr>
            <p:cNvPr id="70" name="node07.source-002.bullet"/>
            <p:cNvSpPr/>
            <p:nvPr/>
          </p:nvSpPr>
          <p:spPr>
            <a:xfrm>
              <a:off x="3086100" y="4991100"/>
              <a:ext cx="38100" cy="38100"/>
            </a:xfrm>
            <a:prstGeom prst="rect">
              <a:avLst/>
            </a:prstGeom>
            <a:solidFill>
              <a:srgbClr val="070154"/>
            </a:solidFill>
            <a:ln>
              <a:noFill/>
            </a:ln>
          </p:spPr>
        </p:sp>
        <p:sp>
          <p:nvSpPr>
            <p:cNvPr id="71" name="node07.source-002.text"/>
            <p:cNvSpPr/>
            <p:nvPr/>
          </p:nvSpPr>
          <p:spPr>
            <a:xfrm>
              <a:off x="3238500" y="49022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Drift and compliance checks</a:t>
              </a:r>
              <a:endParaRPr lang="en-US" sz="1200" spc="0" kern="0" b="0" i="0" dirty="0">
                <a:solidFill>
                  <a:srgbClr val="070154"/>
                </a:solidFill>
                <a:latin typeface="IBM Plex Sans"/>
                <a:ea typeface="IBM Plex Sans"/>
                <a:cs typeface="IBM Plex Sans"/>
              </a:endParaRPr>
            </a:p>
          </p:txBody>
        </p:sp>
        <p:sp>
          <p:nvSpPr>
            <p:cNvPr id="72" name="node07.source-003.bullet"/>
            <p:cNvSpPr/>
            <p:nvPr/>
          </p:nvSpPr>
          <p:spPr>
            <a:xfrm>
              <a:off x="3086100" y="5245100"/>
              <a:ext cx="38100" cy="38100"/>
            </a:xfrm>
            <a:prstGeom prst="rect">
              <a:avLst/>
            </a:prstGeom>
            <a:solidFill>
              <a:srgbClr val="070154"/>
            </a:solidFill>
            <a:ln>
              <a:noFill/>
            </a:ln>
          </p:spPr>
        </p:sp>
        <p:sp>
          <p:nvSpPr>
            <p:cNvPr id="73" name="node07.source-003.text"/>
            <p:cNvSpPr/>
            <p:nvPr/>
          </p:nvSpPr>
          <p:spPr>
            <a:xfrm>
              <a:off x="3238500" y="5156200"/>
              <a:ext cx="2057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Security lead sign-off</a:t>
              </a:r>
              <a:endParaRPr lang="en-US" sz="1200" spc="0" kern="0" b="0" i="0" dirty="0">
                <a:solidFill>
                  <a:srgbClr val="070154"/>
                </a:solidFill>
                <a:latin typeface="IBM Plex Sans"/>
                <a:ea typeface="IBM Plex Sans"/>
                <a:cs typeface="IBM Plex Sans"/>
              </a:endParaRPr>
            </a:p>
          </p:txBody>
        </p:sp>
      </p:grpSp>
      <p:sp>
        <p:nvSpPr>
          <p:cNvPr id="74" name="node08"/>
          <p:cNvSpPr/>
          <p:nvPr/>
        </p:nvSpPr>
        <p:spPr>
          <a:xfrm>
            <a:off x="5448300" y="4343400"/>
            <a:ext cx="2362200" cy="12700"/>
          </a:xfrm>
          <a:prstGeom prst="rect">
            <a:avLst/>
          </a:prstGeom>
          <a:solidFill>
            <a:srgbClr val="CED7E6"/>
          </a:solidFill>
          <a:ln>
            <a:noFill/>
          </a:ln>
        </p:spPr>
      </p:sp>
      <p:grpSp>
        <p:nvGrpSpPr>
          <p:cNvPr id="107" name="node09"/>
          <p:cNvGrpSpPr/>
          <p:nvPr/>
        </p:nvGrpSpPr>
        <p:grpSpPr>
          <a:xfrm>
            <a:off x="5448300" y="4419600"/>
            <a:ext cx="2362200" cy="139700"/>
            <a:chOff x="5448300" y="4419600"/>
            <a:chExt cx="2362200" cy="139700"/>
          </a:xfrm>
        </p:grpSpPr>
        <p:sp>
          <p:nvSpPr>
            <p:cNvPr id="75" name="node09.text"/>
            <p:cNvSpPr/>
            <p:nvPr/>
          </p:nvSpPr>
          <p:spPr>
            <a:xfrm>
              <a:off x="5448300" y="44196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3 · BUILD, HANDOVER · W4 TO 8</a:t>
              </a:r>
              <a:endParaRPr lang="en-US" sz="800" spc="48" kern="0" b="0" i="0" dirty="0">
                <a:solidFill>
                  <a:srgbClr val="0047FF"/>
                </a:solidFill>
                <a:latin typeface="IBM Plex Mono Medium"/>
                <a:ea typeface="IBM Plex Mono Medium"/>
                <a:cs typeface="IBM Plex Mono Medium"/>
              </a:endParaRPr>
            </a:p>
          </p:txBody>
        </p:sp>
      </p:grpSp>
      <p:grpSp>
        <p:nvGrpSpPr>
          <p:cNvPr id="108" name="node10"/>
          <p:cNvGrpSpPr/>
          <p:nvPr/>
        </p:nvGrpSpPr>
        <p:grpSpPr>
          <a:xfrm>
            <a:off x="5448300" y="4648200"/>
            <a:ext cx="2362200" cy="723900"/>
            <a:chOff x="5448300" y="4648200"/>
            <a:chExt cx="2362200" cy="723900"/>
          </a:xfrm>
        </p:grpSpPr>
        <p:sp>
          <p:nvSpPr>
            <p:cNvPr id="76" name="node10.source-001.bullet"/>
            <p:cNvSpPr/>
            <p:nvPr/>
          </p:nvSpPr>
          <p:spPr>
            <a:xfrm>
              <a:off x="5448300" y="4737100"/>
              <a:ext cx="38100" cy="38100"/>
            </a:xfrm>
            <a:prstGeom prst="rect">
              <a:avLst/>
            </a:prstGeom>
            <a:solidFill>
              <a:srgbClr val="070154"/>
            </a:solidFill>
            <a:ln>
              <a:noFill/>
            </a:ln>
          </p:spPr>
        </p:sp>
        <p:sp>
          <p:nvSpPr>
            <p:cNvPr id="77" name="node10.source-001.text"/>
            <p:cNvSpPr/>
            <p:nvPr/>
          </p:nvSpPr>
          <p:spPr>
            <a:xfrm>
              <a:off x="5600700" y="46482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Pipelines tested in all three</a:t>
              </a:r>
              <a:endParaRPr lang="en-US" sz="1200" spc="0" kern="0" b="0" i="0" dirty="0">
                <a:solidFill>
                  <a:srgbClr val="070154"/>
                </a:solidFill>
                <a:latin typeface="IBM Plex Sans"/>
                <a:ea typeface="IBM Plex Sans"/>
                <a:cs typeface="IBM Plex Sans"/>
              </a:endParaRPr>
            </a:p>
          </p:txBody>
        </p:sp>
        <p:sp>
          <p:nvSpPr>
            <p:cNvPr id="78" name="node10.source-002.bullet"/>
            <p:cNvSpPr/>
            <p:nvPr/>
          </p:nvSpPr>
          <p:spPr>
            <a:xfrm>
              <a:off x="5448300" y="4991100"/>
              <a:ext cx="38100" cy="38100"/>
            </a:xfrm>
            <a:prstGeom prst="rect">
              <a:avLst/>
            </a:prstGeom>
            <a:solidFill>
              <a:srgbClr val="070154"/>
            </a:solidFill>
            <a:ln>
              <a:noFill/>
            </a:ln>
          </p:spPr>
        </p:sp>
        <p:sp>
          <p:nvSpPr>
            <p:cNvPr id="79" name="node10.source-002.text"/>
            <p:cNvSpPr/>
            <p:nvPr/>
          </p:nvSpPr>
          <p:spPr>
            <a:xfrm>
              <a:off x="5600700" y="49022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Operations team trained</a:t>
              </a:r>
              <a:endParaRPr lang="en-US" sz="1200" spc="0" kern="0" b="0" i="0" dirty="0">
                <a:solidFill>
                  <a:srgbClr val="070154"/>
                </a:solidFill>
                <a:latin typeface="IBM Plex Sans"/>
                <a:ea typeface="IBM Plex Sans"/>
                <a:cs typeface="IBM Plex Sans"/>
              </a:endParaRPr>
            </a:p>
          </p:txBody>
        </p:sp>
        <p:sp>
          <p:nvSpPr>
            <p:cNvPr id="80" name="node10.source-003.bullet"/>
            <p:cNvSpPr/>
            <p:nvPr/>
          </p:nvSpPr>
          <p:spPr>
            <a:xfrm>
              <a:off x="5448300" y="5245100"/>
              <a:ext cx="38100" cy="38100"/>
            </a:xfrm>
            <a:prstGeom prst="rect">
              <a:avLst/>
            </a:prstGeom>
            <a:solidFill>
              <a:srgbClr val="070154"/>
            </a:solidFill>
            <a:ln>
              <a:noFill/>
            </a:ln>
          </p:spPr>
        </p:sp>
        <p:sp>
          <p:nvSpPr>
            <p:cNvPr id="81" name="node10.source-003.text"/>
            <p:cNvSpPr/>
            <p:nvPr/>
          </p:nvSpPr>
          <p:spPr>
            <a:xfrm>
              <a:off x="5600700" y="51562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Readout and cost baseline</a:t>
              </a:r>
              <a:endParaRPr lang="en-US" sz="1200" spc="0" kern="0" b="0" i="0" dirty="0">
                <a:solidFill>
                  <a:srgbClr val="070154"/>
                </a:solidFill>
                <a:latin typeface="IBM Plex Sans"/>
                <a:ea typeface="IBM Plex Sans"/>
                <a:cs typeface="IBM Plex Sans"/>
              </a:endParaRPr>
            </a:p>
          </p:txBody>
        </p:sp>
      </p:grpSp>
      <p:grpSp>
        <p:nvGrpSpPr>
          <p:cNvPr id="109" name="node11"/>
          <p:cNvGrpSpPr/>
          <p:nvPr/>
        </p:nvGrpSpPr>
        <p:grpSpPr>
          <a:xfrm>
            <a:off x="8039100" y="1600200"/>
            <a:ext cx="3429000" cy="139700"/>
            <a:chOff x="8039100" y="1600200"/>
            <a:chExt cx="3429000" cy="139700"/>
          </a:xfrm>
        </p:grpSpPr>
        <p:sp>
          <p:nvSpPr>
            <p:cNvPr id="82" name="node11.text"/>
            <p:cNvSpPr/>
            <p:nvPr/>
          </p:nvSpPr>
          <p:spPr>
            <a:xfrm>
              <a:off x="80391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WE WILL DO</a:t>
              </a:r>
              <a:endParaRPr lang="en-US" sz="800" spc="48" kern="0" b="0" i="0" dirty="0">
                <a:solidFill>
                  <a:srgbClr val="0047FF"/>
                </a:solidFill>
                <a:latin typeface="IBM Plex Mono Medium"/>
                <a:ea typeface="IBM Plex Mono Medium"/>
                <a:cs typeface="IBM Plex Mono Medium"/>
              </a:endParaRPr>
            </a:p>
          </p:txBody>
        </p:sp>
      </p:grpSp>
      <p:grpSp>
        <p:nvGrpSpPr>
          <p:cNvPr id="110" name="node12"/>
          <p:cNvGrpSpPr/>
          <p:nvPr/>
        </p:nvGrpSpPr>
        <p:grpSpPr>
          <a:xfrm>
            <a:off x="8039100" y="1828800"/>
            <a:ext cx="3429000" cy="647700"/>
            <a:chOff x="8039100" y="1828800"/>
            <a:chExt cx="3429000" cy="647700"/>
          </a:xfrm>
        </p:grpSpPr>
        <p:sp>
          <p:nvSpPr>
            <p:cNvPr id="83" name="node12.text"/>
            <p:cNvSpPr/>
            <p:nvPr/>
          </p:nvSpPr>
          <p:spPr>
            <a:xfrm>
              <a:off x="8039100" y="1828800"/>
              <a:ext cx="3429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 secure, governed cloud foundation Northfield can build on: designed, built and tested in eight weeks, then handed over with runbooks.</a:t>
              </a:r>
              <a:endParaRPr lang="en-US" sz="1200" spc="0" kern="0" b="0" i="0" dirty="0">
                <a:solidFill>
                  <a:srgbClr val="50658E"/>
                </a:solidFill>
                <a:latin typeface="IBM Plex Sans"/>
                <a:ea typeface="IBM Plex Sans"/>
                <a:cs typeface="IBM Plex Sans"/>
              </a:endParaRPr>
            </a:p>
          </p:txBody>
        </p:sp>
      </p:grpSp>
      <p:grpSp>
        <p:nvGrpSpPr>
          <p:cNvPr id="111" name="node13"/>
          <p:cNvGrpSpPr/>
          <p:nvPr/>
        </p:nvGrpSpPr>
        <p:grpSpPr>
          <a:xfrm>
            <a:off x="8039100" y="2971800"/>
            <a:ext cx="3429000" cy="1371600"/>
            <a:chOff x="8039100" y="2971800"/>
            <a:chExt cx="3429000" cy="1371600"/>
          </a:xfrm>
        </p:grpSpPr>
        <p:sp>
          <p:nvSpPr>
            <p:cNvPr id="84" name="node13.surface"/>
            <p:cNvSpPr/>
            <p:nvPr/>
          </p:nvSpPr>
          <p:spPr>
            <a:xfrm>
              <a:off x="8039100" y="2971800"/>
              <a:ext cx="3429000" cy="1371600"/>
            </a:xfrm>
            <a:prstGeom prst="rect">
              <a:avLst/>
            </a:prstGeom>
            <a:solidFill>
              <a:srgbClr val="070154"/>
            </a:solidFill>
            <a:ln>
              <a:noFill/>
            </a:ln>
          </p:spPr>
        </p:sp>
      </p:grpSp>
      <p:grpSp>
        <p:nvGrpSpPr>
          <p:cNvPr id="112" name="node14"/>
          <p:cNvGrpSpPr/>
          <p:nvPr/>
        </p:nvGrpSpPr>
        <p:grpSpPr>
          <a:xfrm>
            <a:off x="8191500" y="3124200"/>
            <a:ext cx="3124200" cy="139700"/>
            <a:chOff x="8191500" y="3124200"/>
            <a:chExt cx="3124200" cy="139700"/>
          </a:xfrm>
        </p:grpSpPr>
        <p:sp>
          <p:nvSpPr>
            <p:cNvPr id="85" name="node14.text"/>
            <p:cNvSpPr/>
            <p:nvPr/>
          </p:nvSpPr>
          <p:spPr>
            <a:xfrm>
              <a:off x="8191500" y="31242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FIXED FEE</a:t>
              </a:r>
              <a:endParaRPr lang="en-US" sz="800" spc="48" kern="0" b="0" i="0" dirty="0">
                <a:solidFill>
                  <a:srgbClr val="CED7E6"/>
                </a:solidFill>
                <a:latin typeface="IBM Plex Mono Medium"/>
                <a:ea typeface="IBM Plex Mono Medium"/>
                <a:cs typeface="IBM Plex Mono Medium"/>
              </a:endParaRPr>
            </a:p>
          </p:txBody>
        </p:sp>
      </p:grpSp>
      <p:grpSp>
        <p:nvGrpSpPr>
          <p:cNvPr id="113" name="node15"/>
          <p:cNvGrpSpPr/>
          <p:nvPr/>
        </p:nvGrpSpPr>
        <p:grpSpPr>
          <a:xfrm>
            <a:off x="8191500" y="3352800"/>
            <a:ext cx="1524000" cy="382461"/>
            <a:chOff x="8191500" y="3352800"/>
            <a:chExt cx="1524000" cy="382461"/>
          </a:xfrm>
        </p:grpSpPr>
        <p:sp>
          <p:nvSpPr>
            <p:cNvPr id="86" name="node15.text"/>
            <p:cNvSpPr/>
            <p:nvPr/>
          </p:nvSpPr>
          <p:spPr>
            <a:xfrm>
              <a:off x="8191500" y="3352800"/>
              <a:ext cx="15240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FFFFF"/>
                  </a:solidFill>
                  <a:latin typeface="IBM Plex Mono SemiBold"/>
                  <a:ea typeface="IBM Plex Mono SemiBold"/>
                  <a:cs typeface="IBM Plex Mono SemiBold"/>
                </a:rPr>
                <a:t>$210K</a:t>
              </a:r>
              <a:endParaRPr lang="en-US" sz="3000" spc="-60" kern="0" b="0" i="0" dirty="0">
                <a:solidFill>
                  <a:srgbClr val="FFFFFF"/>
                </a:solidFill>
                <a:latin typeface="IBM Plex Mono SemiBold"/>
                <a:ea typeface="IBM Plex Mono SemiBold"/>
                <a:cs typeface="IBM Plex Mono SemiBold"/>
              </a:endParaRPr>
            </a:p>
          </p:txBody>
        </p:sp>
      </p:grpSp>
      <p:grpSp>
        <p:nvGrpSpPr>
          <p:cNvPr id="114" name="node16"/>
          <p:cNvGrpSpPr/>
          <p:nvPr/>
        </p:nvGrpSpPr>
        <p:grpSpPr>
          <a:xfrm>
            <a:off x="9715500" y="3390900"/>
            <a:ext cx="1600200" cy="190500"/>
            <a:chOff x="9715500" y="3390900"/>
            <a:chExt cx="1600200" cy="190500"/>
          </a:xfrm>
        </p:grpSpPr>
        <p:sp>
          <p:nvSpPr>
            <p:cNvPr id="87" name="node16.text"/>
            <p:cNvSpPr/>
            <p:nvPr/>
          </p:nvSpPr>
          <p:spPr>
            <a:xfrm>
              <a:off x="9715500" y="33909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fixed fee, 8 weeks</a:t>
              </a:r>
              <a:endParaRPr lang="en-US" sz="1100" spc="0" kern="0" b="0" i="0" dirty="0">
                <a:solidFill>
                  <a:srgbClr val="FFFFFF"/>
                </a:solidFill>
                <a:latin typeface="IBM Plex Sans"/>
                <a:ea typeface="IBM Plex Sans"/>
                <a:cs typeface="IBM Plex Sans"/>
              </a:endParaRPr>
            </a:p>
          </p:txBody>
        </p:sp>
      </p:grpSp>
      <p:grpSp>
        <p:nvGrpSpPr>
          <p:cNvPr id="115" name="node17"/>
          <p:cNvGrpSpPr/>
          <p:nvPr/>
        </p:nvGrpSpPr>
        <p:grpSpPr>
          <a:xfrm>
            <a:off x="9715500" y="3619500"/>
            <a:ext cx="1600200" cy="190500"/>
            <a:chOff x="9715500" y="3619500"/>
            <a:chExt cx="1600200" cy="190500"/>
          </a:xfrm>
        </p:grpSpPr>
        <p:sp>
          <p:nvSpPr>
            <p:cNvPr id="88" name="node17.text"/>
            <p:cNvSpPr/>
            <p:nvPr/>
          </p:nvSpPr>
          <p:spPr>
            <a:xfrm>
              <a:off x="9715500" y="36195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Invoiced at weeks 4, 8</a:t>
              </a:r>
              <a:endParaRPr lang="en-US" sz="1100" spc="0" kern="0" b="0" i="0" dirty="0">
                <a:solidFill>
                  <a:srgbClr val="CED7E6"/>
                </a:solidFill>
                <a:latin typeface="IBM Plex Sans"/>
                <a:ea typeface="IBM Plex Sans"/>
                <a:cs typeface="IBM Plex Sans"/>
              </a:endParaRPr>
            </a:p>
          </p:txBody>
        </p:sp>
      </p:grpSp>
      <p:grpSp>
        <p:nvGrpSpPr>
          <p:cNvPr id="116" name="node18"/>
          <p:cNvGrpSpPr/>
          <p:nvPr/>
        </p:nvGrpSpPr>
        <p:grpSpPr>
          <a:xfrm>
            <a:off x="8191500" y="3886200"/>
            <a:ext cx="3124200" cy="190500"/>
            <a:chOff x="8191500" y="3886200"/>
            <a:chExt cx="3124200" cy="190500"/>
          </a:xfrm>
        </p:grpSpPr>
        <p:sp>
          <p:nvSpPr>
            <p:cNvPr id="89" name="node18.text"/>
            <p:cNvSpPr/>
            <p:nvPr/>
          </p:nvSpPr>
          <p:spPr>
            <a:xfrm>
              <a:off x="8191500" y="388620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Team: lead 25%, architect, two engineers</a:t>
              </a:r>
              <a:endParaRPr lang="en-US" sz="1100" spc="0" kern="0" b="0" i="0" dirty="0">
                <a:solidFill>
                  <a:srgbClr val="FFFFFF"/>
                </a:solidFill>
                <a:latin typeface="IBM Plex Sans"/>
                <a:ea typeface="IBM Plex Sans"/>
                <a:cs typeface="IBM Plex Sans"/>
              </a:endParaRPr>
            </a:p>
          </p:txBody>
        </p:sp>
      </p:grpSp>
      <p:grpSp>
        <p:nvGrpSpPr>
          <p:cNvPr id="117" name="node19"/>
          <p:cNvGrpSpPr/>
          <p:nvPr/>
        </p:nvGrpSpPr>
        <p:grpSpPr>
          <a:xfrm>
            <a:off x="8039100" y="4495800"/>
            <a:ext cx="3429000" cy="139700"/>
            <a:chOff x="8039100" y="4495800"/>
            <a:chExt cx="3429000" cy="139700"/>
          </a:xfrm>
        </p:grpSpPr>
        <p:sp>
          <p:nvSpPr>
            <p:cNvPr id="90" name="node19.text"/>
            <p:cNvSpPr/>
            <p:nvPr/>
          </p:nvSpPr>
          <p:spPr>
            <a:xfrm>
              <a:off x="8039100" y="44958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DELIVERABLES</a:t>
              </a:r>
              <a:endParaRPr lang="en-US" sz="800" spc="48" kern="0" b="0" i="0" dirty="0">
                <a:solidFill>
                  <a:srgbClr val="0047FF"/>
                </a:solidFill>
                <a:latin typeface="IBM Plex Mono Medium"/>
                <a:ea typeface="IBM Plex Mono Medium"/>
                <a:cs typeface="IBM Plex Mono Medium"/>
              </a:endParaRPr>
            </a:p>
          </p:txBody>
        </p:sp>
      </p:grpSp>
      <p:grpSp>
        <p:nvGrpSpPr>
          <p:cNvPr id="118" name="node20"/>
          <p:cNvGrpSpPr/>
          <p:nvPr/>
        </p:nvGrpSpPr>
        <p:grpSpPr>
          <a:xfrm>
            <a:off x="8039100" y="4724400"/>
            <a:ext cx="3429000" cy="723900"/>
            <a:chOff x="8039100" y="4724400"/>
            <a:chExt cx="3429000" cy="723900"/>
          </a:xfrm>
        </p:grpSpPr>
        <p:sp>
          <p:nvSpPr>
            <p:cNvPr id="91" name="node20.source-001.bullet"/>
            <p:cNvSpPr/>
            <p:nvPr/>
          </p:nvSpPr>
          <p:spPr>
            <a:xfrm>
              <a:off x="8039100" y="4813300"/>
              <a:ext cx="38100" cy="38100"/>
            </a:xfrm>
            <a:prstGeom prst="rect">
              <a:avLst/>
            </a:prstGeom>
            <a:solidFill>
              <a:srgbClr val="070154"/>
            </a:solidFill>
            <a:ln>
              <a:noFill/>
            </a:ln>
          </p:spPr>
        </p:sp>
        <p:sp>
          <p:nvSpPr>
            <p:cNvPr id="92" name="node20.source-001.text"/>
            <p:cNvSpPr/>
            <p:nvPr/>
          </p:nvSpPr>
          <p:spPr>
            <a:xfrm>
              <a:off x="8191500" y="4724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Landing zone in production</a:t>
              </a:r>
              <a:endParaRPr lang="en-US" sz="1200" spc="0" kern="0" b="0" i="0" dirty="0">
                <a:solidFill>
                  <a:srgbClr val="070154"/>
                </a:solidFill>
                <a:latin typeface="IBM Plex Sans"/>
                <a:ea typeface="IBM Plex Sans"/>
                <a:cs typeface="IBM Plex Sans"/>
              </a:endParaRPr>
            </a:p>
          </p:txBody>
        </p:sp>
        <p:sp>
          <p:nvSpPr>
            <p:cNvPr id="93" name="node20.source-002.bullet"/>
            <p:cNvSpPr/>
            <p:nvPr/>
          </p:nvSpPr>
          <p:spPr>
            <a:xfrm>
              <a:off x="8039100" y="5067300"/>
              <a:ext cx="38100" cy="38100"/>
            </a:xfrm>
            <a:prstGeom prst="rect">
              <a:avLst/>
            </a:prstGeom>
            <a:solidFill>
              <a:srgbClr val="070154"/>
            </a:solidFill>
            <a:ln>
              <a:noFill/>
            </a:ln>
          </p:spPr>
        </p:sp>
        <p:sp>
          <p:nvSpPr>
            <p:cNvPr id="94" name="node20.source-002.text"/>
            <p:cNvSpPr/>
            <p:nvPr/>
          </p:nvSpPr>
          <p:spPr>
            <a:xfrm>
              <a:off x="8191500" y="4978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Policy-as-code library</a:t>
              </a:r>
              <a:endParaRPr lang="en-US" sz="1200" spc="0" kern="0" b="0" i="0" dirty="0">
                <a:solidFill>
                  <a:srgbClr val="070154"/>
                </a:solidFill>
                <a:latin typeface="IBM Plex Sans"/>
                <a:ea typeface="IBM Plex Sans"/>
                <a:cs typeface="IBM Plex Sans"/>
              </a:endParaRPr>
            </a:p>
          </p:txBody>
        </p:sp>
        <p:sp>
          <p:nvSpPr>
            <p:cNvPr id="95" name="node20.source-003.bullet"/>
            <p:cNvSpPr/>
            <p:nvPr/>
          </p:nvSpPr>
          <p:spPr>
            <a:xfrm>
              <a:off x="8039100" y="5321300"/>
              <a:ext cx="38100" cy="38100"/>
            </a:xfrm>
            <a:prstGeom prst="rect">
              <a:avLst/>
            </a:prstGeom>
            <a:solidFill>
              <a:srgbClr val="070154"/>
            </a:solidFill>
            <a:ln>
              <a:noFill/>
            </a:ln>
          </p:spPr>
        </p:sp>
        <p:sp>
          <p:nvSpPr>
            <p:cNvPr id="96" name="node20.source-003.text"/>
            <p:cNvSpPr/>
            <p:nvPr/>
          </p:nvSpPr>
          <p:spPr>
            <a:xfrm>
              <a:off x="8191500" y="5232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Runbooks and cost baseline</a:t>
              </a:r>
              <a:endParaRPr lang="en-US" sz="1200" spc="0" kern="0" b="0" i="0" dirty="0">
                <a:solidFill>
                  <a:srgbClr val="070154"/>
                </a:solidFill>
                <a:latin typeface="IBM Plex Sans"/>
                <a:ea typeface="IBM Plex Sans"/>
                <a:cs typeface="IBM Plex Sans"/>
              </a:endParaRPr>
            </a:p>
          </p:txBody>
        </p:sp>
      </p:grpSp>
      <p:grpSp>
        <p:nvGrpSpPr>
          <p:cNvPr id="119" name="node21"/>
          <p:cNvGrpSpPr/>
          <p:nvPr/>
        </p:nvGrpSpPr>
        <p:grpSpPr>
          <a:xfrm>
            <a:off x="8039100" y="5486400"/>
            <a:ext cx="3429000" cy="190500"/>
            <a:chOff x="8039100" y="5486400"/>
            <a:chExt cx="3429000" cy="190500"/>
          </a:xfrm>
        </p:grpSpPr>
        <p:sp>
          <p:nvSpPr>
            <p:cNvPr id="97" name="node21.text"/>
            <p:cNvSpPr/>
            <p:nvPr/>
          </p:nvSpPr>
          <p:spPr>
            <a:xfrm>
              <a:off x="8039100" y="5486400"/>
              <a:ext cx="3429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Assumes tenant and SSO ready in week 1</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ource-321">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Six weeks to a clear scale or stop call</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9055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212</a:t>
            </a:fld>
            <a:endParaRPr lang="en-US" sz="700" spc="0" kern="0" b="0" i="0" dirty="0">
              <a:solidFill>
                <a:srgbClr val="070154"/>
              </a:solidFill>
              <a:latin typeface="IBM Plex Mono SemiBold"/>
              <a:ea typeface="IBM Plex Mono SemiBold"/>
              <a:cs typeface="IBM Plex Mono SemiBold"/>
            </a:endParaRPr>
          </a:p>
        </p:txBody>
      </p:sp>
      <p:grpSp>
        <p:nvGrpSpPr>
          <p:cNvPr id="104" name="node01"/>
          <p:cNvGrpSpPr/>
          <p:nvPr/>
        </p:nvGrpSpPr>
        <p:grpSpPr>
          <a:xfrm>
            <a:off x="4381500" y="457200"/>
            <a:ext cx="7086600" cy="2654300"/>
            <a:chOff x="4381500" y="457200"/>
            <a:chExt cx="7086600" cy="2654300"/>
          </a:xfrm>
        </p:grpSpPr>
        <p:sp>
          <p:nvSpPr>
            <p:cNvPr id="7" name="node01.period-header"/>
            <p:cNvSpPr/>
            <p:nvPr/>
          </p:nvSpPr>
          <p:spPr>
            <a:xfrm>
              <a:off x="4381500" y="838200"/>
              <a:ext cx="7086600" cy="304800"/>
            </a:xfrm>
            <a:prstGeom prst="rect">
              <a:avLst/>
            </a:prstGeom>
            <a:solidFill>
              <a:srgbClr val="E8EEF8"/>
            </a:solidFill>
            <a:ln>
              <a:noFill/>
            </a:ln>
          </p:spPr>
        </p:sp>
        <p:sp>
          <p:nvSpPr>
            <p:cNvPr id="8" name="node01.sidebar-heading"/>
            <p:cNvSpPr/>
            <p:nvPr/>
          </p:nvSpPr>
          <p:spPr>
            <a:xfrm>
              <a:off x="4457700" y="920750"/>
              <a:ext cx="1752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SemiBold"/>
                  <a:ea typeface="IBM Plex Mono SemiBold"/>
                  <a:cs typeface="IBM Plex Mono SemiBold"/>
                </a:rPr>
                <a:t>WORKSTREAM</a:t>
              </a:r>
              <a:endParaRPr lang="en-US" sz="800" spc="48" kern="0" b="0" i="0" dirty="0">
                <a:solidFill>
                  <a:srgbClr val="50658E"/>
                </a:solidFill>
                <a:latin typeface="IBM Plex Mono SemiBold"/>
                <a:ea typeface="IBM Plex Mono SemiBold"/>
                <a:cs typeface="IBM Plex Mono SemiBold"/>
              </a:endParaRPr>
            </a:p>
          </p:txBody>
        </p:sp>
        <p:sp>
          <p:nvSpPr>
            <p:cNvPr id="9" name="node01.periods.slot-001.label"/>
            <p:cNvSpPr/>
            <p:nvPr/>
          </p:nvSpPr>
          <p:spPr>
            <a:xfrm>
              <a:off x="6286500" y="920750"/>
              <a:ext cx="8636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W1</a:t>
              </a:r>
              <a:endParaRPr lang="en-US" sz="800" spc="48" kern="0" b="0" i="0" dirty="0">
                <a:solidFill>
                  <a:srgbClr val="070154"/>
                </a:solidFill>
                <a:latin typeface="IBM Plex Mono SemiBold"/>
                <a:ea typeface="IBM Plex Mono SemiBold"/>
                <a:cs typeface="IBM Plex Mono SemiBold"/>
              </a:endParaRPr>
            </a:p>
          </p:txBody>
        </p:sp>
        <p:sp>
          <p:nvSpPr>
            <p:cNvPr id="10" name="node01.periods.slot-002.label"/>
            <p:cNvSpPr/>
            <p:nvPr/>
          </p:nvSpPr>
          <p:spPr>
            <a:xfrm>
              <a:off x="7150100" y="920750"/>
              <a:ext cx="8636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W2</a:t>
              </a:r>
              <a:endParaRPr lang="en-US" sz="800" spc="48" kern="0" b="0" i="0" dirty="0">
                <a:solidFill>
                  <a:srgbClr val="070154"/>
                </a:solidFill>
                <a:latin typeface="IBM Plex Mono SemiBold"/>
                <a:ea typeface="IBM Plex Mono SemiBold"/>
                <a:cs typeface="IBM Plex Mono SemiBold"/>
              </a:endParaRPr>
            </a:p>
          </p:txBody>
        </p:sp>
        <p:sp>
          <p:nvSpPr>
            <p:cNvPr id="11" name="node01.periods.slot-003.label"/>
            <p:cNvSpPr/>
            <p:nvPr/>
          </p:nvSpPr>
          <p:spPr>
            <a:xfrm>
              <a:off x="8013700" y="920750"/>
              <a:ext cx="8636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W3</a:t>
              </a:r>
              <a:endParaRPr lang="en-US" sz="800" spc="48" kern="0" b="0" i="0" dirty="0">
                <a:solidFill>
                  <a:srgbClr val="070154"/>
                </a:solidFill>
                <a:latin typeface="IBM Plex Mono SemiBold"/>
                <a:ea typeface="IBM Plex Mono SemiBold"/>
                <a:cs typeface="IBM Plex Mono SemiBold"/>
              </a:endParaRPr>
            </a:p>
          </p:txBody>
        </p:sp>
        <p:sp>
          <p:nvSpPr>
            <p:cNvPr id="12" name="node01.periods.slot-004.label"/>
            <p:cNvSpPr/>
            <p:nvPr/>
          </p:nvSpPr>
          <p:spPr>
            <a:xfrm>
              <a:off x="8877300" y="920750"/>
              <a:ext cx="8636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W4</a:t>
              </a:r>
              <a:endParaRPr lang="en-US" sz="800" spc="48" kern="0" b="0" i="0" dirty="0">
                <a:solidFill>
                  <a:srgbClr val="070154"/>
                </a:solidFill>
                <a:latin typeface="IBM Plex Mono SemiBold"/>
                <a:ea typeface="IBM Plex Mono SemiBold"/>
                <a:cs typeface="IBM Plex Mono SemiBold"/>
              </a:endParaRPr>
            </a:p>
          </p:txBody>
        </p:sp>
        <p:sp>
          <p:nvSpPr>
            <p:cNvPr id="13" name="node01.periods.slot-005.label"/>
            <p:cNvSpPr/>
            <p:nvPr/>
          </p:nvSpPr>
          <p:spPr>
            <a:xfrm>
              <a:off x="9740900" y="920750"/>
              <a:ext cx="8636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W5</a:t>
              </a:r>
              <a:endParaRPr lang="en-US" sz="800" spc="48" kern="0" b="0" i="0" dirty="0">
                <a:solidFill>
                  <a:srgbClr val="070154"/>
                </a:solidFill>
                <a:latin typeface="IBM Plex Mono SemiBold"/>
                <a:ea typeface="IBM Plex Mono SemiBold"/>
                <a:cs typeface="IBM Plex Mono SemiBold"/>
              </a:endParaRPr>
            </a:p>
          </p:txBody>
        </p:sp>
        <p:sp>
          <p:nvSpPr>
            <p:cNvPr id="14" name="node01.periods.slot-006.label"/>
            <p:cNvSpPr/>
            <p:nvPr/>
          </p:nvSpPr>
          <p:spPr>
            <a:xfrm>
              <a:off x="10604500" y="920750"/>
              <a:ext cx="8636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SemiBold"/>
                  <a:ea typeface="IBM Plex Mono SemiBold"/>
                  <a:cs typeface="IBM Plex Mono SemiBold"/>
                </a:rPr>
                <a:t>W6</a:t>
              </a:r>
              <a:endParaRPr lang="en-US" sz="800" spc="48" kern="0" b="0" i="0" dirty="0">
                <a:solidFill>
                  <a:srgbClr val="070154"/>
                </a:solidFill>
                <a:latin typeface="IBM Plex Mono SemiBold"/>
                <a:ea typeface="IBM Plex Mono SemiBold"/>
                <a:cs typeface="IBM Plex Mono SemiBold"/>
              </a:endParaRPr>
            </a:p>
          </p:txBody>
        </p:sp>
        <p:sp>
          <p:nvSpPr>
            <p:cNvPr id="15" name="node01.phases.slot-001.rule"/>
            <p:cNvSpPr/>
            <p:nvPr/>
          </p:nvSpPr>
          <p:spPr>
            <a:xfrm>
              <a:off x="6299200" y="533400"/>
              <a:ext cx="838200" cy="38100"/>
            </a:xfrm>
            <a:prstGeom prst="rect">
              <a:avLst/>
            </a:prstGeom>
            <a:solidFill>
              <a:srgbClr val="CED7E6"/>
            </a:solidFill>
            <a:ln>
              <a:noFill/>
            </a:ln>
          </p:spPr>
        </p:sp>
        <p:sp>
          <p:nvSpPr>
            <p:cNvPr id="16" name="node01.phases.slot-001.label"/>
            <p:cNvSpPr/>
            <p:nvPr/>
          </p:nvSpPr>
          <p:spPr>
            <a:xfrm>
              <a:off x="6362700" y="571500"/>
              <a:ext cx="762000" cy="266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FRAME</a:t>
              </a:r>
              <a:endParaRPr lang="en-US" sz="800" spc="48" kern="0" b="0" i="0" dirty="0">
                <a:solidFill>
                  <a:srgbClr val="070154"/>
                </a:solidFill>
                <a:latin typeface="IBM Plex Mono SemiBold"/>
                <a:ea typeface="IBM Plex Mono SemiBold"/>
                <a:cs typeface="IBM Plex Mono SemiBold"/>
              </a:endParaRPr>
            </a:p>
          </p:txBody>
        </p:sp>
        <p:sp>
          <p:nvSpPr>
            <p:cNvPr id="17" name="node01.phases.slot-002.rule"/>
            <p:cNvSpPr/>
            <p:nvPr/>
          </p:nvSpPr>
          <p:spPr>
            <a:xfrm>
              <a:off x="7162800" y="533400"/>
              <a:ext cx="3429000" cy="38100"/>
            </a:xfrm>
            <a:prstGeom prst="rect">
              <a:avLst/>
            </a:prstGeom>
            <a:solidFill>
              <a:srgbClr val="070154"/>
            </a:solidFill>
            <a:ln>
              <a:noFill/>
            </a:ln>
          </p:spPr>
        </p:sp>
        <p:sp>
          <p:nvSpPr>
            <p:cNvPr id="18" name="node01.phases.slot-002.label"/>
            <p:cNvSpPr/>
            <p:nvPr/>
          </p:nvSpPr>
          <p:spPr>
            <a:xfrm>
              <a:off x="7226300" y="571500"/>
              <a:ext cx="3352800" cy="266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PILOT</a:t>
              </a:r>
              <a:endParaRPr lang="en-US" sz="800" spc="48" kern="0" b="0" i="0" dirty="0">
                <a:solidFill>
                  <a:srgbClr val="070154"/>
                </a:solidFill>
                <a:latin typeface="IBM Plex Mono SemiBold"/>
                <a:ea typeface="IBM Plex Mono SemiBold"/>
                <a:cs typeface="IBM Plex Mono SemiBold"/>
              </a:endParaRPr>
            </a:p>
          </p:txBody>
        </p:sp>
        <p:sp>
          <p:nvSpPr>
            <p:cNvPr id="19" name="node01.phases.slot-003.rule"/>
            <p:cNvSpPr/>
            <p:nvPr/>
          </p:nvSpPr>
          <p:spPr>
            <a:xfrm>
              <a:off x="10617200" y="533400"/>
              <a:ext cx="838200" cy="38100"/>
            </a:xfrm>
            <a:prstGeom prst="rect">
              <a:avLst/>
            </a:prstGeom>
            <a:solidFill>
              <a:srgbClr val="F900D3"/>
            </a:solidFill>
            <a:ln>
              <a:noFill/>
            </a:ln>
          </p:spPr>
        </p:sp>
        <p:sp>
          <p:nvSpPr>
            <p:cNvPr id="20" name="node01.phases.slot-003.label"/>
            <p:cNvSpPr/>
            <p:nvPr/>
          </p:nvSpPr>
          <p:spPr>
            <a:xfrm>
              <a:off x="10680700" y="571500"/>
              <a:ext cx="762000" cy="266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70154"/>
                  </a:solidFill>
                  <a:latin typeface="IBM Plex Mono SemiBold"/>
                  <a:ea typeface="IBM Plex Mono SemiBold"/>
                  <a:cs typeface="IBM Plex Mono SemiBold"/>
                </a:rPr>
                <a:t>DECIDE</a:t>
              </a:r>
              <a:endParaRPr lang="en-US" sz="800" spc="48" kern="0" b="0" i="0" dirty="0">
                <a:solidFill>
                  <a:srgbClr val="070154"/>
                </a:solidFill>
                <a:latin typeface="IBM Plex Mono SemiBold"/>
                <a:ea typeface="IBM Plex Mono SemiBold"/>
                <a:cs typeface="IBM Plex Mono SemiBold"/>
              </a:endParaRPr>
            </a:p>
          </p:txBody>
        </p:sp>
        <p:sp>
          <p:nvSpPr>
            <p:cNvPr id="21" name="node01.grid-1"/>
            <p:cNvSpPr/>
            <p:nvPr/>
          </p:nvSpPr>
          <p:spPr>
            <a:xfrm>
              <a:off x="7150100" y="1143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2" name="node01.grid-2"/>
            <p:cNvSpPr/>
            <p:nvPr/>
          </p:nvSpPr>
          <p:spPr>
            <a:xfrm>
              <a:off x="8013700" y="1143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3" name="node01.grid-3"/>
            <p:cNvSpPr/>
            <p:nvPr/>
          </p:nvSpPr>
          <p:spPr>
            <a:xfrm>
              <a:off x="8877300" y="1143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4" name="node01.grid-4"/>
            <p:cNvSpPr/>
            <p:nvPr/>
          </p:nvSpPr>
          <p:spPr>
            <a:xfrm>
              <a:off x="9740900" y="1143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5" name="node01.grid-5"/>
            <p:cNvSpPr/>
            <p:nvPr/>
          </p:nvSpPr>
          <p:spPr>
            <a:xfrm>
              <a:off x="10604500" y="1143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6" name="node01.timeline-left"/>
            <p:cNvSpPr/>
            <p:nvPr/>
          </p:nvSpPr>
          <p:spPr>
            <a:xfrm>
              <a:off x="6286500" y="457200"/>
              <a:ext cx="0" cy="2286000"/>
            </a:xfrm>
            <a:custGeom>
              <a:avLst/>
              <a:gdLst/>
              <a:ahLst/>
              <a:cxnLst/>
              <a:rect l="l" t="t" r="r" b="b"/>
              <a:pathLst>
                <a:path h="2286000">
                  <a:moveTo>
                    <a:pt x="0" y="0"/>
                  </a:moveTo>
                  <a:lnTo>
                    <a:pt x="0" y="2286000"/>
                  </a:lnTo>
                </a:path>
              </a:pathLst>
            </a:custGeom>
            <a:ln w="12700">
              <a:solidFill>
                <a:srgbClr val="CED7E6"/>
              </a:solidFill>
              <a:prstDash val="solid"/>
            </a:ln>
          </p:spPr>
        </p:sp>
        <p:sp>
          <p:nvSpPr>
            <p:cNvPr id="27" name="node01.groups.slot-001.tab"/>
            <p:cNvSpPr/>
            <p:nvPr/>
          </p:nvSpPr>
          <p:spPr>
            <a:xfrm>
              <a:off x="4381500" y="1181100"/>
              <a:ext cx="228600" cy="1524000"/>
            </a:xfrm>
            <a:prstGeom prst="rect">
              <a:avLst/>
            </a:prstGeom>
            <a:solidFill>
              <a:srgbClr val="070154"/>
            </a:solidFill>
            <a:ln>
              <a:noFill/>
            </a:ln>
          </p:spPr>
        </p:sp>
        <p:sp>
          <p:nvSpPr>
            <p:cNvPr id="28" name="node01.groups.slot-001.label"/>
            <p:cNvSpPr/>
            <p:nvPr/>
          </p:nvSpPr>
          <p:spPr>
            <a:xfrm rot="-5400000">
              <a:off x="3771900" y="1866900"/>
              <a:ext cx="1447800" cy="152400"/>
            </a:xfrm>
            <a:prstGeom prst="rect">
              <a:avLst/>
            </a:prstGeom>
            <a:noFill/>
            <a:ln/>
          </p:spPr>
          <p:txBody>
            <a:bodyPr wrap="square" lIns="0" tIns="0" rIns="0" bIns="0" rtlCol="0" anchor="t"/>
            <a:lstStyle/>
            <a:p>
              <a:pPr algn="ctr" indent="0" marL="0">
                <a:lnSpc>
                  <a:spcPts val="1100"/>
                </a:lnSpc>
                <a:buNone/>
              </a:pPr>
              <a:r>
                <a:rPr lang="en-US" sz="800" spc="80" kern="0" b="0" i="0" dirty="0">
                  <a:solidFill>
                    <a:srgbClr val="FFFFFF"/>
                  </a:solidFill>
                  <a:latin typeface="IBM Plex Mono SemiBold"/>
                  <a:ea typeface="IBM Plex Mono SemiBold"/>
                  <a:cs typeface="IBM Plex Mono SemiBold"/>
                </a:rPr>
                <a:t>PILOT</a:t>
              </a:r>
              <a:endParaRPr lang="en-US" sz="800" spc="80" kern="0" b="0" i="0" dirty="0">
                <a:solidFill>
                  <a:srgbClr val="FFFFFF"/>
                </a:solidFill>
                <a:latin typeface="IBM Plex Mono SemiBold"/>
                <a:ea typeface="IBM Plex Mono SemiBold"/>
                <a:cs typeface="IBM Plex Mono SemiBold"/>
              </a:endParaRPr>
            </a:p>
          </p:txBody>
        </p:sp>
        <p:grpSp>
          <p:nvGrpSpPr>
            <p:cNvPr id="100" name="node01.groups.slot-001.lanes.slot-001.icon"/>
            <p:cNvGrpSpPr/>
            <p:nvPr/>
          </p:nvGrpSpPr>
          <p:grpSpPr>
            <a:xfrm>
              <a:off x="4724400" y="1295400"/>
              <a:ext cx="228600" cy="228600"/>
              <a:chOff x="4724400" y="1295400"/>
              <a:chExt cx="228600" cy="228600"/>
            </a:xfrm>
          </p:grpSpPr>
          <p:pic>
            <p:nvPicPr>
              <p:cNvPr id="29" name="node01.groups.slot-001.lanes.slot-001.icon.image" descr="icon/target/navy; canonical SHA256=7e8fac18a33f4dbf87bdc105aa76f235f0d896fece68d1da2e445593da87cb5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24400" y="1295400"/>
                <a:ext cx="228600" cy="228600"/>
              </a:xfrm>
              <a:prstGeom prst="rect">
                <a:avLst/>
              </a:prstGeom>
            </p:spPr>
          </p:pic>
        </p:grpSp>
        <p:sp>
          <p:nvSpPr>
            <p:cNvPr id="30" name="node01.groups.slot-001.lanes.slot-001.title"/>
            <p:cNvSpPr/>
            <p:nvPr/>
          </p:nvSpPr>
          <p:spPr>
            <a:xfrm>
              <a:off x="5067300" y="1219200"/>
              <a:ext cx="1104900" cy="381000"/>
            </a:xfrm>
            <a:prstGeom prst="rect">
              <a:avLst/>
            </a:prstGeom>
            <a:noFill/>
            <a:ln/>
          </p:spPr>
          <p:txBody>
            <a:bodyPr wrap="square" lIns="0" tIns="0" rIns="0" bIns="0" rtlCol="0" anchor="t"/>
            <a:lstStyle/>
            <a:p>
              <a:pPr algn="l" indent="0" marL="0">
                <a:lnSpc>
                  <a:spcPts val="1500"/>
                </a:lnSpc>
                <a:buNone/>
              </a:pPr>
              <a:r>
                <a:rPr lang="en-US" sz="1146" spc="0" kern="0" b="0" i="0" dirty="0">
                  <a:solidFill>
                    <a:srgbClr val="070154"/>
                  </a:solidFill>
                  <a:latin typeface="IBM Plex Sans SemiBold"/>
                  <a:ea typeface="IBM Plex Sans SemiBold"/>
                  <a:cs typeface="IBM Plex Sans SemiBold"/>
                </a:rPr>
                <a:t>1 Use-case scoping</a:t>
              </a:r>
              <a:endParaRPr lang="en-US" sz="1146" spc="0" kern="0" b="0" i="0" dirty="0">
                <a:solidFill>
                  <a:srgbClr val="070154"/>
                </a:solidFill>
                <a:latin typeface="IBM Plex Sans SemiBold"/>
                <a:ea typeface="IBM Plex Sans SemiBold"/>
                <a:cs typeface="IBM Plex Sans SemiBold"/>
              </a:endParaRPr>
            </a:p>
          </p:txBody>
        </p:sp>
        <p:sp>
          <p:nvSpPr>
            <p:cNvPr id="31" name="node01.groups.slot-001.lanes.slot-001.separator"/>
            <p:cNvSpPr/>
            <p:nvPr/>
          </p:nvSpPr>
          <p:spPr>
            <a:xfrm>
              <a:off x="4610100" y="1671638"/>
              <a:ext cx="6858000" cy="0"/>
            </a:xfrm>
            <a:custGeom>
              <a:avLst/>
              <a:gdLst/>
              <a:ahLst/>
              <a:cxnLst/>
              <a:rect l="l" t="t" r="r" b="b"/>
              <a:pathLst>
                <a:path w="6858000">
                  <a:moveTo>
                    <a:pt x="0" y="0"/>
                  </a:moveTo>
                  <a:lnTo>
                    <a:pt x="6858000" y="0"/>
                  </a:lnTo>
                </a:path>
              </a:pathLst>
            </a:custGeom>
            <a:ln w="9525">
              <a:solidFill>
                <a:srgbClr val="CED7E6"/>
              </a:solidFill>
              <a:prstDash val="solid"/>
            </a:ln>
          </p:spPr>
        </p:sp>
        <p:sp>
          <p:nvSpPr>
            <p:cNvPr id="32" name="node01.groups.slot-001.lanes.slot-001.items.slot-001.segment-0"/>
            <p:cNvSpPr/>
            <p:nvPr/>
          </p:nvSpPr>
          <p:spPr>
            <a:xfrm>
              <a:off x="6286500" y="1270000"/>
              <a:ext cx="2159000" cy="279400"/>
            </a:xfrm>
            <a:prstGeom prst="rect">
              <a:avLst/>
            </a:prstGeom>
            <a:solidFill>
              <a:srgbClr val="070154"/>
            </a:solidFill>
            <a:ln w="9525">
              <a:solidFill>
                <a:srgbClr val="070154"/>
              </a:solidFill>
              <a:prstDash val="solid"/>
            </a:ln>
          </p:spPr>
        </p:sp>
        <p:sp>
          <p:nvSpPr>
            <p:cNvPr id="33" name="node01.groups.slot-001.lanes.slot-001.items.slot-001.label"/>
            <p:cNvSpPr/>
            <p:nvPr/>
          </p:nvSpPr>
          <p:spPr>
            <a:xfrm>
              <a:off x="6375400" y="1314450"/>
              <a:ext cx="44926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SemiBold"/>
                  <a:ea typeface="IBM Plex Sans SemiBold"/>
                  <a:cs typeface="IBM Plex Sans SemiBold"/>
                </a:rPr>
                <a:t>Scope</a:t>
              </a:r>
              <a:endParaRPr lang="en-US" sz="1100" spc="0" kern="0" b="0" i="0" dirty="0">
                <a:solidFill>
                  <a:srgbClr val="FFFFFF"/>
                </a:solidFill>
                <a:latin typeface="IBM Plex Sans SemiBold"/>
                <a:ea typeface="IBM Plex Sans SemiBold"/>
                <a:cs typeface="IBM Plex Sans SemiBold"/>
              </a:endParaRPr>
            </a:p>
          </p:txBody>
        </p:sp>
        <p:sp>
          <p:nvSpPr>
            <p:cNvPr id="34" name="node01.groups.slot-001.lanes.slot-001.items.slot-002.marker"/>
            <p:cNvSpPr/>
            <p:nvPr/>
          </p:nvSpPr>
          <p:spPr>
            <a:xfrm>
              <a:off x="8788400" y="1320800"/>
              <a:ext cx="177800" cy="177800"/>
            </a:xfrm>
            <a:prstGeom prst="star5">
              <a:avLst/>
            </a:prstGeom>
            <a:solidFill>
              <a:srgbClr val="F900D3"/>
            </a:solidFill>
            <a:ln>
              <a:noFill/>
            </a:ln>
          </p:spPr>
        </p:sp>
        <p:sp>
          <p:nvSpPr>
            <p:cNvPr id="35" name="node01.groups.slot-001.lanes.slot-001.items.slot-002.label"/>
            <p:cNvSpPr/>
            <p:nvPr/>
          </p:nvSpPr>
          <p:spPr>
            <a:xfrm>
              <a:off x="9017000" y="1314450"/>
              <a:ext cx="7127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Workshop</a:t>
              </a:r>
              <a:endParaRPr lang="en-US" sz="1100" spc="0" kern="0" b="0" i="0" dirty="0">
                <a:solidFill>
                  <a:srgbClr val="070154"/>
                </a:solidFill>
                <a:latin typeface="IBM Plex Sans SemiBold"/>
                <a:ea typeface="IBM Plex Sans SemiBold"/>
                <a:cs typeface="IBM Plex Sans SemiBold"/>
              </a:endParaRPr>
            </a:p>
          </p:txBody>
        </p:sp>
        <p:grpSp>
          <p:nvGrpSpPr>
            <p:cNvPr id="101" name="node01.groups.slot-001.lanes.slot-002.icon"/>
            <p:cNvGrpSpPr/>
            <p:nvPr/>
          </p:nvGrpSpPr>
          <p:grpSpPr>
            <a:xfrm>
              <a:off x="4724400" y="1828800"/>
              <a:ext cx="228600" cy="228600"/>
              <a:chOff x="4724400" y="1828800"/>
              <a:chExt cx="228600" cy="228600"/>
            </a:xfrm>
          </p:grpSpPr>
          <p:pic>
            <p:nvPicPr>
              <p:cNvPr id="36" name="node01.groups.slot-001.lanes.slot-002.icon.image" descr="icon/layered-documents/navy; canonical SHA256=db84d00de5e459ac3c9d0cccae790edc7cc7245ecc7202e2555053b853b340f8">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4400" y="1828800"/>
                <a:ext cx="228600" cy="228600"/>
              </a:xfrm>
              <a:prstGeom prst="rect">
                <a:avLst/>
              </a:prstGeom>
            </p:spPr>
          </p:pic>
        </p:grpSp>
        <p:sp>
          <p:nvSpPr>
            <p:cNvPr id="37" name="node01.groups.slot-001.lanes.slot-002.title"/>
            <p:cNvSpPr/>
            <p:nvPr/>
          </p:nvSpPr>
          <p:spPr>
            <a:xfrm>
              <a:off x="5067300" y="1847850"/>
              <a:ext cx="1104900" cy="190500"/>
            </a:xfrm>
            <a:prstGeom prst="rect">
              <a:avLst/>
            </a:prstGeom>
            <a:noFill/>
            <a:ln/>
          </p:spPr>
          <p:txBody>
            <a:bodyPr wrap="square" lIns="0" tIns="0" rIns="0" bIns="0" rtlCol="0" anchor="t"/>
            <a:lstStyle/>
            <a:p>
              <a:pPr algn="l" indent="0" marL="0">
                <a:lnSpc>
                  <a:spcPts val="1500"/>
                </a:lnSpc>
                <a:buNone/>
              </a:pPr>
              <a:r>
                <a:rPr lang="en-US" sz="1146" spc="0" kern="0" b="0" i="0" dirty="0">
                  <a:solidFill>
                    <a:srgbClr val="070154"/>
                  </a:solidFill>
                  <a:latin typeface="IBM Plex Sans SemiBold"/>
                  <a:ea typeface="IBM Plex Sans SemiBold"/>
                  <a:cs typeface="IBM Plex Sans SemiBold"/>
                </a:rPr>
                <a:t>2 Prototype</a:t>
              </a:r>
              <a:endParaRPr lang="en-US" sz="1146" spc="0" kern="0" b="0" i="0" dirty="0">
                <a:solidFill>
                  <a:srgbClr val="070154"/>
                </a:solidFill>
                <a:latin typeface="IBM Plex Sans SemiBold"/>
                <a:ea typeface="IBM Plex Sans SemiBold"/>
                <a:cs typeface="IBM Plex Sans SemiBold"/>
              </a:endParaRPr>
            </a:p>
          </p:txBody>
        </p:sp>
        <p:sp>
          <p:nvSpPr>
            <p:cNvPr id="38" name="node01.groups.slot-001.lanes.slot-002.separator"/>
            <p:cNvSpPr/>
            <p:nvPr/>
          </p:nvSpPr>
          <p:spPr>
            <a:xfrm>
              <a:off x="4610100" y="2205038"/>
              <a:ext cx="6858000" cy="0"/>
            </a:xfrm>
            <a:custGeom>
              <a:avLst/>
              <a:gdLst/>
              <a:ahLst/>
              <a:cxnLst/>
              <a:rect l="l" t="t" r="r" b="b"/>
              <a:pathLst>
                <a:path w="6858000">
                  <a:moveTo>
                    <a:pt x="0" y="0"/>
                  </a:moveTo>
                  <a:lnTo>
                    <a:pt x="6858000" y="0"/>
                  </a:lnTo>
                </a:path>
              </a:pathLst>
            </a:custGeom>
            <a:ln w="9525">
              <a:solidFill>
                <a:srgbClr val="CED7E6"/>
              </a:solidFill>
              <a:prstDash val="solid"/>
            </a:ln>
          </p:spPr>
        </p:sp>
        <p:sp>
          <p:nvSpPr>
            <p:cNvPr id="39" name="node01.groups.slot-001.lanes.slot-002.items.slot-001.segment-0"/>
            <p:cNvSpPr/>
            <p:nvPr/>
          </p:nvSpPr>
          <p:spPr>
            <a:xfrm>
              <a:off x="8013700" y="1803400"/>
              <a:ext cx="2590800" cy="279400"/>
            </a:xfrm>
            <a:prstGeom prst="rect">
              <a:avLst/>
            </a:prstGeom>
            <a:solidFill>
              <a:srgbClr val="070154"/>
            </a:solidFill>
            <a:ln w="9525">
              <a:solidFill>
                <a:srgbClr val="070154"/>
              </a:solidFill>
              <a:prstDash val="solid"/>
            </a:ln>
          </p:spPr>
        </p:sp>
        <p:sp>
          <p:nvSpPr>
            <p:cNvPr id="40" name="node01.groups.slot-001.lanes.slot-002.items.slot-001.label"/>
            <p:cNvSpPr/>
            <p:nvPr/>
          </p:nvSpPr>
          <p:spPr>
            <a:xfrm>
              <a:off x="8102600" y="1847850"/>
              <a:ext cx="995363"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SemiBold"/>
                  <a:ea typeface="IBM Plex Sans SemiBold"/>
                  <a:cs typeface="IBM Plex Sans SemiBold"/>
                </a:rPr>
                <a:t>Build and tune</a:t>
              </a:r>
              <a:endParaRPr lang="en-US" sz="1100" spc="0" kern="0" b="0" i="0" dirty="0">
                <a:solidFill>
                  <a:srgbClr val="FFFFFF"/>
                </a:solidFill>
                <a:latin typeface="IBM Plex Sans SemiBold"/>
                <a:ea typeface="IBM Plex Sans SemiBold"/>
                <a:cs typeface="IBM Plex Sans SemiBold"/>
              </a:endParaRPr>
            </a:p>
          </p:txBody>
        </p:sp>
        <p:grpSp>
          <p:nvGrpSpPr>
            <p:cNvPr id="102" name="node01.groups.slot-001.lanes.slot-003.icon"/>
            <p:cNvGrpSpPr/>
            <p:nvPr/>
          </p:nvGrpSpPr>
          <p:grpSpPr>
            <a:xfrm>
              <a:off x="4724400" y="2362200"/>
              <a:ext cx="228600" cy="228600"/>
              <a:chOff x="4724400" y="2362200"/>
              <a:chExt cx="228600" cy="228600"/>
            </a:xfrm>
          </p:grpSpPr>
          <p:pic>
            <p:nvPicPr>
              <p:cNvPr id="41" name="node01.groups.slot-001.lanes.slot-003.icon.image" descr="icon/bar-chart/navy; canonical SHA256=ef1f15eb38c1ba82ee6b782272a1e5c09e5bdbdd07b859ba9938db4f552022db">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24400" y="2362200"/>
                <a:ext cx="228600" cy="228600"/>
              </a:xfrm>
              <a:prstGeom prst="rect">
                <a:avLst/>
              </a:prstGeom>
            </p:spPr>
          </p:pic>
        </p:grpSp>
        <p:sp>
          <p:nvSpPr>
            <p:cNvPr id="42" name="node01.groups.slot-001.lanes.slot-003.title"/>
            <p:cNvSpPr/>
            <p:nvPr/>
          </p:nvSpPr>
          <p:spPr>
            <a:xfrm>
              <a:off x="5067300" y="2286000"/>
              <a:ext cx="1104900" cy="381000"/>
            </a:xfrm>
            <a:prstGeom prst="rect">
              <a:avLst/>
            </a:prstGeom>
            <a:noFill/>
            <a:ln/>
          </p:spPr>
          <p:txBody>
            <a:bodyPr wrap="square" lIns="0" tIns="0" rIns="0" bIns="0" rtlCol="0" anchor="t"/>
            <a:lstStyle/>
            <a:p>
              <a:pPr algn="l" indent="0" marL="0">
                <a:lnSpc>
                  <a:spcPts val="1500"/>
                </a:lnSpc>
                <a:buNone/>
              </a:pPr>
              <a:r>
                <a:rPr lang="en-US" sz="1146" spc="0" kern="0" b="0" i="0" dirty="0">
                  <a:solidFill>
                    <a:srgbClr val="070154"/>
                  </a:solidFill>
                  <a:latin typeface="IBM Plex Sans SemiBold"/>
                  <a:ea typeface="IBM Plex Sans SemiBold"/>
                  <a:cs typeface="IBM Plex Sans SemiBold"/>
                </a:rPr>
                <a:t>3 Evaluate, decide</a:t>
              </a:r>
              <a:endParaRPr lang="en-US" sz="1146" spc="0" kern="0" b="0" i="0" dirty="0">
                <a:solidFill>
                  <a:srgbClr val="070154"/>
                </a:solidFill>
                <a:latin typeface="IBM Plex Sans SemiBold"/>
                <a:ea typeface="IBM Plex Sans SemiBold"/>
                <a:cs typeface="IBM Plex Sans SemiBold"/>
              </a:endParaRPr>
            </a:p>
          </p:txBody>
        </p:sp>
        <p:sp>
          <p:nvSpPr>
            <p:cNvPr id="43" name="node01.groups.slot-001.lanes.slot-003.separator"/>
            <p:cNvSpPr/>
            <p:nvPr/>
          </p:nvSpPr>
          <p:spPr>
            <a:xfrm>
              <a:off x="4381500" y="2736850"/>
              <a:ext cx="7086600" cy="0"/>
            </a:xfrm>
            <a:custGeom>
              <a:avLst/>
              <a:gdLst/>
              <a:ahLst/>
              <a:cxnLst/>
              <a:rect l="l" t="t" r="r" b="b"/>
              <a:pathLst>
                <a:path w="7086600">
                  <a:moveTo>
                    <a:pt x="0" y="0"/>
                  </a:moveTo>
                  <a:lnTo>
                    <a:pt x="7086600" y="0"/>
                  </a:lnTo>
                </a:path>
              </a:pathLst>
            </a:custGeom>
            <a:ln w="12700">
              <a:solidFill>
                <a:srgbClr val="070154"/>
              </a:solidFill>
              <a:prstDash val="solid"/>
            </a:ln>
          </p:spPr>
        </p:sp>
        <p:sp>
          <p:nvSpPr>
            <p:cNvPr id="44" name="node01.groups.slot-001.lanes.slot-003.items.slot-001.segment-0"/>
            <p:cNvSpPr/>
            <p:nvPr/>
          </p:nvSpPr>
          <p:spPr>
            <a:xfrm>
              <a:off x="9309100" y="2336800"/>
              <a:ext cx="1468120" cy="279400"/>
            </a:xfrm>
            <a:prstGeom prst="rect">
              <a:avLst/>
            </a:prstGeom>
            <a:solidFill>
              <a:srgbClr val="CED7E6"/>
            </a:solidFill>
            <a:ln w="9525">
              <a:solidFill>
                <a:srgbClr val="070154"/>
              </a:solidFill>
              <a:prstDash val="solid"/>
            </a:ln>
          </p:spPr>
        </p:sp>
        <p:sp>
          <p:nvSpPr>
            <p:cNvPr id="45" name="node01.groups.slot-001.lanes.slot-003.items.slot-001.label"/>
            <p:cNvSpPr/>
            <p:nvPr/>
          </p:nvSpPr>
          <p:spPr>
            <a:xfrm>
              <a:off x="9398000" y="2381250"/>
              <a:ext cx="60642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Measure</a:t>
              </a:r>
              <a:endParaRPr lang="en-US" sz="1100" spc="0" kern="0" b="0" i="0" dirty="0">
                <a:solidFill>
                  <a:srgbClr val="070154"/>
                </a:solidFill>
                <a:latin typeface="IBM Plex Sans SemiBold"/>
                <a:ea typeface="IBM Plex Sans SemiBold"/>
                <a:cs typeface="IBM Plex Sans SemiBold"/>
              </a:endParaRPr>
            </a:p>
          </p:txBody>
        </p:sp>
        <p:sp>
          <p:nvSpPr>
            <p:cNvPr id="46" name="node01.groups.slot-001.lanes.slot-003.items.slot-002.segment-0"/>
            <p:cNvSpPr/>
            <p:nvPr/>
          </p:nvSpPr>
          <p:spPr>
            <a:xfrm>
              <a:off x="10777220" y="2336800"/>
              <a:ext cx="690880" cy="279400"/>
            </a:xfrm>
            <a:prstGeom prst="rect">
              <a:avLst/>
            </a:prstGeom>
            <a:solidFill>
              <a:srgbClr val="CED7E6"/>
            </a:solidFill>
            <a:ln w="9525">
              <a:solidFill>
                <a:srgbClr val="070154"/>
              </a:solidFill>
              <a:prstDash val="solid"/>
            </a:ln>
          </p:spPr>
        </p:sp>
        <p:sp>
          <p:nvSpPr>
            <p:cNvPr id="47" name="node01.groups.slot-001.lanes.slot-003.items.slot-002.label"/>
            <p:cNvSpPr/>
            <p:nvPr/>
          </p:nvSpPr>
          <p:spPr>
            <a:xfrm>
              <a:off x="10866120" y="2381250"/>
              <a:ext cx="30003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SemiBold"/>
                  <a:ea typeface="IBM Plex Sans SemiBold"/>
                  <a:cs typeface="IBM Plex Sans SemiBold"/>
                </a:rPr>
                <a:t>Call</a:t>
              </a:r>
              <a:endParaRPr lang="en-US" sz="1100" spc="0" kern="0" b="0" i="0" dirty="0">
                <a:solidFill>
                  <a:srgbClr val="070154"/>
                </a:solidFill>
                <a:latin typeface="IBM Plex Sans SemiBold"/>
                <a:ea typeface="IBM Plex Sans SemiBold"/>
                <a:cs typeface="IBM Plex Sans SemiBold"/>
              </a:endParaRPr>
            </a:p>
          </p:txBody>
        </p:sp>
        <p:grpSp>
          <p:nvGrpSpPr>
            <p:cNvPr id="103" name="node01.legend"/>
            <p:cNvGrpSpPr/>
            <p:nvPr/>
          </p:nvGrpSpPr>
          <p:grpSpPr>
            <a:xfrm>
              <a:off x="6286500" y="2921000"/>
              <a:ext cx="3786188" cy="190500"/>
              <a:chOff x="6286500" y="2921000"/>
              <a:chExt cx="3786188" cy="190500"/>
            </a:xfrm>
          </p:grpSpPr>
          <p:sp>
            <p:nvSpPr>
              <p:cNvPr id="48" name="node01.legend.items.kind-core.swatch"/>
              <p:cNvSpPr/>
              <p:nvPr/>
            </p:nvSpPr>
            <p:spPr>
              <a:xfrm>
                <a:off x="6286500" y="2952750"/>
                <a:ext cx="127000" cy="127000"/>
              </a:xfrm>
              <a:prstGeom prst="rect">
                <a:avLst/>
              </a:prstGeom>
              <a:solidFill>
                <a:srgbClr val="070154"/>
              </a:solidFill>
              <a:ln w="9525">
                <a:solidFill>
                  <a:srgbClr val="070154"/>
                </a:solidFill>
                <a:prstDash val="solid"/>
              </a:ln>
            </p:spPr>
          </p:sp>
          <p:sp>
            <p:nvSpPr>
              <p:cNvPr id="49" name="node01.legend.items.kind-core.text"/>
              <p:cNvSpPr/>
              <p:nvPr/>
            </p:nvSpPr>
            <p:spPr>
              <a:xfrm>
                <a:off x="6477000" y="2921000"/>
                <a:ext cx="827088"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Core activity</a:t>
                </a:r>
                <a:endParaRPr lang="en-US" sz="1100" spc="0" kern="0" b="0" i="0" dirty="0">
                  <a:solidFill>
                    <a:srgbClr val="070154"/>
                  </a:solidFill>
                  <a:latin typeface="IBM Plex Sans"/>
                  <a:ea typeface="IBM Plex Sans"/>
                  <a:cs typeface="IBM Plex Sans"/>
                </a:endParaRPr>
              </a:p>
            </p:txBody>
          </p:sp>
          <p:sp>
            <p:nvSpPr>
              <p:cNvPr id="50" name="node01.legend.items.kind-support.swatch"/>
              <p:cNvSpPr/>
              <p:nvPr/>
            </p:nvSpPr>
            <p:spPr>
              <a:xfrm>
                <a:off x="7532687" y="2952750"/>
                <a:ext cx="127000" cy="127000"/>
              </a:xfrm>
              <a:prstGeom prst="rect">
                <a:avLst/>
              </a:prstGeom>
              <a:solidFill>
                <a:srgbClr val="CED7E6"/>
              </a:solidFill>
              <a:ln w="9525">
                <a:solidFill>
                  <a:srgbClr val="070154"/>
                </a:solidFill>
                <a:prstDash val="solid"/>
              </a:ln>
            </p:spPr>
          </p:sp>
          <p:sp>
            <p:nvSpPr>
              <p:cNvPr id="51" name="node01.legend.items.kind-support.text"/>
              <p:cNvSpPr/>
              <p:nvPr/>
            </p:nvSpPr>
            <p:spPr>
              <a:xfrm>
                <a:off x="7723188" y="2921000"/>
                <a:ext cx="122237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Supporting activity</a:t>
                </a:r>
                <a:endParaRPr lang="en-US" sz="1100" spc="0" kern="0" b="0" i="0" dirty="0">
                  <a:solidFill>
                    <a:srgbClr val="070154"/>
                  </a:solidFill>
                  <a:latin typeface="IBM Plex Sans"/>
                  <a:ea typeface="IBM Plex Sans"/>
                  <a:cs typeface="IBM Plex Sans"/>
                </a:endParaRPr>
              </a:p>
            </p:txBody>
          </p:sp>
          <p:sp>
            <p:nvSpPr>
              <p:cNvPr id="52" name="node01.legend.items.event-star.swatch"/>
              <p:cNvSpPr/>
              <p:nvPr/>
            </p:nvSpPr>
            <p:spPr>
              <a:xfrm>
                <a:off x="9174163" y="2940050"/>
                <a:ext cx="152400" cy="152400"/>
              </a:xfrm>
              <a:prstGeom prst="star5">
                <a:avLst/>
              </a:prstGeom>
              <a:solidFill>
                <a:srgbClr val="F900D3"/>
              </a:solidFill>
              <a:ln w="9525">
                <a:solidFill>
                  <a:srgbClr val="070154"/>
                </a:solidFill>
                <a:prstDash val="solid"/>
              </a:ln>
            </p:spPr>
          </p:sp>
          <p:sp>
            <p:nvSpPr>
              <p:cNvPr id="53" name="node01.legend.items.event-star.text"/>
              <p:cNvSpPr/>
              <p:nvPr/>
            </p:nvSpPr>
            <p:spPr>
              <a:xfrm>
                <a:off x="9390063" y="2921000"/>
                <a:ext cx="682625"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Workshop</a:t>
                </a:r>
                <a:endParaRPr lang="en-US" sz="1100" spc="0" kern="0" b="0" i="0" dirty="0">
                  <a:solidFill>
                    <a:srgbClr val="070154"/>
                  </a:solidFill>
                  <a:latin typeface="IBM Plex Sans"/>
                  <a:ea typeface="IBM Plex Sans"/>
                  <a:cs typeface="IBM Plex Sans"/>
                </a:endParaRPr>
              </a:p>
            </p:txBody>
          </p:sp>
        </p:grpSp>
      </p:grpSp>
      <p:sp>
        <p:nvSpPr>
          <p:cNvPr id="54" name="node02"/>
          <p:cNvSpPr/>
          <p:nvPr/>
        </p:nvSpPr>
        <p:spPr>
          <a:xfrm>
            <a:off x="4381500" y="3352800"/>
            <a:ext cx="3429000" cy="12700"/>
          </a:xfrm>
          <a:prstGeom prst="rect">
            <a:avLst/>
          </a:prstGeom>
          <a:solidFill>
            <a:srgbClr val="CED7E6"/>
          </a:solidFill>
          <a:ln>
            <a:noFill/>
          </a:ln>
        </p:spPr>
      </p:sp>
      <p:grpSp>
        <p:nvGrpSpPr>
          <p:cNvPr id="105" name="node03"/>
          <p:cNvGrpSpPr/>
          <p:nvPr/>
        </p:nvGrpSpPr>
        <p:grpSpPr>
          <a:xfrm>
            <a:off x="4381500" y="3429000"/>
            <a:ext cx="3429000" cy="139700"/>
            <a:chOff x="4381500" y="3429000"/>
            <a:chExt cx="3429000" cy="139700"/>
          </a:xfrm>
        </p:grpSpPr>
        <p:sp>
          <p:nvSpPr>
            <p:cNvPr id="55" name="node03.text"/>
            <p:cNvSpPr/>
            <p:nvPr/>
          </p:nvSpPr>
          <p:spPr>
            <a:xfrm>
              <a:off x="4381500" y="3429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 · SCOPING · W1 TO 3</a:t>
              </a:r>
              <a:endParaRPr lang="en-US" sz="800" spc="48" kern="0" b="0" i="0" dirty="0">
                <a:solidFill>
                  <a:srgbClr val="0047FF"/>
                </a:solidFill>
                <a:latin typeface="IBM Plex Mono Medium"/>
                <a:ea typeface="IBM Plex Mono Medium"/>
                <a:cs typeface="IBM Plex Mono Medium"/>
              </a:endParaRPr>
            </a:p>
          </p:txBody>
        </p:sp>
      </p:grpSp>
      <p:grpSp>
        <p:nvGrpSpPr>
          <p:cNvPr id="106" name="node04"/>
          <p:cNvGrpSpPr/>
          <p:nvPr/>
        </p:nvGrpSpPr>
        <p:grpSpPr>
          <a:xfrm>
            <a:off x="4381500" y="3657600"/>
            <a:ext cx="3429000" cy="723900"/>
            <a:chOff x="4381500" y="3657600"/>
            <a:chExt cx="3429000" cy="723900"/>
          </a:xfrm>
        </p:grpSpPr>
        <p:sp>
          <p:nvSpPr>
            <p:cNvPr id="56" name="node04.source-001.bullet"/>
            <p:cNvSpPr/>
            <p:nvPr/>
          </p:nvSpPr>
          <p:spPr>
            <a:xfrm>
              <a:off x="4381500" y="3746500"/>
              <a:ext cx="38100" cy="38100"/>
            </a:xfrm>
            <a:prstGeom prst="rect">
              <a:avLst/>
            </a:prstGeom>
            <a:solidFill>
              <a:srgbClr val="070154"/>
            </a:solidFill>
            <a:ln>
              <a:noFill/>
            </a:ln>
          </p:spPr>
        </p:sp>
        <p:sp>
          <p:nvSpPr>
            <p:cNvPr id="57" name="node04.source-001.text"/>
            <p:cNvSpPr/>
            <p:nvPr/>
          </p:nvSpPr>
          <p:spPr>
            <a:xfrm>
              <a:off x="4533900" y="3657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Pick one use case and success measure</a:t>
              </a:r>
              <a:endParaRPr lang="en-US" sz="1200" spc="0" kern="0" b="0" i="0" dirty="0">
                <a:solidFill>
                  <a:srgbClr val="070154"/>
                </a:solidFill>
                <a:latin typeface="IBM Plex Sans"/>
                <a:ea typeface="IBM Plex Sans"/>
                <a:cs typeface="IBM Plex Sans"/>
              </a:endParaRPr>
            </a:p>
          </p:txBody>
        </p:sp>
        <p:sp>
          <p:nvSpPr>
            <p:cNvPr id="58" name="node04.source-002.bullet"/>
            <p:cNvSpPr/>
            <p:nvPr/>
          </p:nvSpPr>
          <p:spPr>
            <a:xfrm>
              <a:off x="4381500" y="4000500"/>
              <a:ext cx="38100" cy="38100"/>
            </a:xfrm>
            <a:prstGeom prst="rect">
              <a:avLst/>
            </a:prstGeom>
            <a:solidFill>
              <a:srgbClr val="070154"/>
            </a:solidFill>
            <a:ln>
              <a:noFill/>
            </a:ln>
          </p:spPr>
        </p:sp>
        <p:sp>
          <p:nvSpPr>
            <p:cNvPr id="59" name="node04.source-002.text"/>
            <p:cNvSpPr/>
            <p:nvPr/>
          </p:nvSpPr>
          <p:spPr>
            <a:xfrm>
              <a:off x="4533900" y="3911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Map data, risks and clinical owners</a:t>
              </a:r>
              <a:endParaRPr lang="en-US" sz="1200" spc="0" kern="0" b="0" i="0" dirty="0">
                <a:solidFill>
                  <a:srgbClr val="070154"/>
                </a:solidFill>
                <a:latin typeface="IBM Plex Sans"/>
                <a:ea typeface="IBM Plex Sans"/>
                <a:cs typeface="IBM Plex Sans"/>
              </a:endParaRPr>
            </a:p>
          </p:txBody>
        </p:sp>
        <p:sp>
          <p:nvSpPr>
            <p:cNvPr id="60" name="node04.source-003.bullet"/>
            <p:cNvSpPr/>
            <p:nvPr/>
          </p:nvSpPr>
          <p:spPr>
            <a:xfrm>
              <a:off x="4381500" y="4254500"/>
              <a:ext cx="38100" cy="38100"/>
            </a:xfrm>
            <a:prstGeom prst="rect">
              <a:avLst/>
            </a:prstGeom>
            <a:solidFill>
              <a:srgbClr val="070154"/>
            </a:solidFill>
            <a:ln>
              <a:noFill/>
            </a:ln>
          </p:spPr>
        </p:sp>
        <p:sp>
          <p:nvSpPr>
            <p:cNvPr id="61" name="node04.source-003.text"/>
            <p:cNvSpPr/>
            <p:nvPr/>
          </p:nvSpPr>
          <p:spPr>
            <a:xfrm>
              <a:off x="4533900" y="4165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Workshop to agree the scope</a:t>
              </a:r>
              <a:endParaRPr lang="en-US" sz="1200" spc="0" kern="0" b="0" i="0" dirty="0">
                <a:solidFill>
                  <a:srgbClr val="070154"/>
                </a:solidFill>
                <a:latin typeface="IBM Plex Sans"/>
                <a:ea typeface="IBM Plex Sans"/>
                <a:cs typeface="IBM Plex Sans"/>
              </a:endParaRPr>
            </a:p>
          </p:txBody>
        </p:sp>
      </p:grpSp>
      <p:sp>
        <p:nvSpPr>
          <p:cNvPr id="62" name="node05"/>
          <p:cNvSpPr/>
          <p:nvPr/>
        </p:nvSpPr>
        <p:spPr>
          <a:xfrm>
            <a:off x="8039100" y="3352800"/>
            <a:ext cx="3429000" cy="12700"/>
          </a:xfrm>
          <a:prstGeom prst="rect">
            <a:avLst/>
          </a:prstGeom>
          <a:solidFill>
            <a:srgbClr val="CED7E6"/>
          </a:solidFill>
          <a:ln>
            <a:noFill/>
          </a:ln>
        </p:spPr>
      </p:sp>
      <p:grpSp>
        <p:nvGrpSpPr>
          <p:cNvPr id="107" name="node06"/>
          <p:cNvGrpSpPr/>
          <p:nvPr/>
        </p:nvGrpSpPr>
        <p:grpSpPr>
          <a:xfrm>
            <a:off x="8039100" y="3429000"/>
            <a:ext cx="3429000" cy="139700"/>
            <a:chOff x="8039100" y="3429000"/>
            <a:chExt cx="3429000" cy="139700"/>
          </a:xfrm>
        </p:grpSpPr>
        <p:sp>
          <p:nvSpPr>
            <p:cNvPr id="63" name="node06.text"/>
            <p:cNvSpPr/>
            <p:nvPr/>
          </p:nvSpPr>
          <p:spPr>
            <a:xfrm>
              <a:off x="8039100" y="3429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2 · PROTOTYPE · W3 TO 5</a:t>
              </a:r>
              <a:endParaRPr lang="en-US" sz="800" spc="48" kern="0" b="0" i="0" dirty="0">
                <a:solidFill>
                  <a:srgbClr val="0047FF"/>
                </a:solidFill>
                <a:latin typeface="IBM Plex Mono Medium"/>
                <a:ea typeface="IBM Plex Mono Medium"/>
                <a:cs typeface="IBM Plex Mono Medium"/>
              </a:endParaRPr>
            </a:p>
          </p:txBody>
        </p:sp>
      </p:grpSp>
      <p:grpSp>
        <p:nvGrpSpPr>
          <p:cNvPr id="108" name="node07"/>
          <p:cNvGrpSpPr/>
          <p:nvPr/>
        </p:nvGrpSpPr>
        <p:grpSpPr>
          <a:xfrm>
            <a:off x="8039100" y="3657600"/>
            <a:ext cx="3429000" cy="723900"/>
            <a:chOff x="8039100" y="3657600"/>
            <a:chExt cx="3429000" cy="723900"/>
          </a:xfrm>
        </p:grpSpPr>
        <p:sp>
          <p:nvSpPr>
            <p:cNvPr id="64" name="node07.source-001.bullet"/>
            <p:cNvSpPr/>
            <p:nvPr/>
          </p:nvSpPr>
          <p:spPr>
            <a:xfrm>
              <a:off x="8039100" y="3746500"/>
              <a:ext cx="38100" cy="38100"/>
            </a:xfrm>
            <a:prstGeom prst="rect">
              <a:avLst/>
            </a:prstGeom>
            <a:solidFill>
              <a:srgbClr val="070154"/>
            </a:solidFill>
            <a:ln>
              <a:noFill/>
            </a:ln>
          </p:spPr>
        </p:sp>
        <p:sp>
          <p:nvSpPr>
            <p:cNvPr id="65" name="node07.source-001.text"/>
            <p:cNvSpPr/>
            <p:nvPr/>
          </p:nvSpPr>
          <p:spPr>
            <a:xfrm>
              <a:off x="8191500" y="3657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Build on a slice of Northfield data</a:t>
              </a:r>
              <a:endParaRPr lang="en-US" sz="1200" spc="0" kern="0" b="0" i="0" dirty="0">
                <a:solidFill>
                  <a:srgbClr val="070154"/>
                </a:solidFill>
                <a:latin typeface="IBM Plex Sans"/>
                <a:ea typeface="IBM Plex Sans"/>
                <a:cs typeface="IBM Plex Sans"/>
              </a:endParaRPr>
            </a:p>
          </p:txBody>
        </p:sp>
        <p:sp>
          <p:nvSpPr>
            <p:cNvPr id="66" name="node07.source-002.bullet"/>
            <p:cNvSpPr/>
            <p:nvPr/>
          </p:nvSpPr>
          <p:spPr>
            <a:xfrm>
              <a:off x="8039100" y="4000500"/>
              <a:ext cx="38100" cy="38100"/>
            </a:xfrm>
            <a:prstGeom prst="rect">
              <a:avLst/>
            </a:prstGeom>
            <a:solidFill>
              <a:srgbClr val="070154"/>
            </a:solidFill>
            <a:ln>
              <a:noFill/>
            </a:ln>
          </p:spPr>
        </p:sp>
        <p:sp>
          <p:nvSpPr>
            <p:cNvPr id="67" name="node07.source-002.text"/>
            <p:cNvSpPr/>
            <p:nvPr/>
          </p:nvSpPr>
          <p:spPr>
            <a:xfrm>
              <a:off x="8191500" y="3911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Tune prompts, models and guardrails</a:t>
              </a:r>
              <a:endParaRPr lang="en-US" sz="1200" spc="0" kern="0" b="0" i="0" dirty="0">
                <a:solidFill>
                  <a:srgbClr val="070154"/>
                </a:solidFill>
                <a:latin typeface="IBM Plex Sans"/>
                <a:ea typeface="IBM Plex Sans"/>
                <a:cs typeface="IBM Plex Sans"/>
              </a:endParaRPr>
            </a:p>
          </p:txBody>
        </p:sp>
        <p:sp>
          <p:nvSpPr>
            <p:cNvPr id="68" name="node07.source-003.bullet"/>
            <p:cNvSpPr/>
            <p:nvPr/>
          </p:nvSpPr>
          <p:spPr>
            <a:xfrm>
              <a:off x="8039100" y="4254500"/>
              <a:ext cx="38100" cy="38100"/>
            </a:xfrm>
            <a:prstGeom prst="rect">
              <a:avLst/>
            </a:prstGeom>
            <a:solidFill>
              <a:srgbClr val="070154"/>
            </a:solidFill>
            <a:ln>
              <a:noFill/>
            </a:ln>
          </p:spPr>
        </p:sp>
        <p:sp>
          <p:nvSpPr>
            <p:cNvPr id="69" name="node07.source-003.text"/>
            <p:cNvSpPr/>
            <p:nvPr/>
          </p:nvSpPr>
          <p:spPr>
            <a:xfrm>
              <a:off x="8191500" y="4165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Weekly demo to the clinical lead</a:t>
              </a:r>
              <a:endParaRPr lang="en-US" sz="1200" spc="0" kern="0" b="0" i="0" dirty="0">
                <a:solidFill>
                  <a:srgbClr val="070154"/>
                </a:solidFill>
                <a:latin typeface="IBM Plex Sans"/>
                <a:ea typeface="IBM Plex Sans"/>
                <a:cs typeface="IBM Plex Sans"/>
              </a:endParaRPr>
            </a:p>
          </p:txBody>
        </p:sp>
      </p:grpSp>
      <p:sp>
        <p:nvSpPr>
          <p:cNvPr id="70" name="node08"/>
          <p:cNvSpPr/>
          <p:nvPr/>
        </p:nvSpPr>
        <p:spPr>
          <a:xfrm>
            <a:off x="4381500" y="4495800"/>
            <a:ext cx="3429000" cy="12700"/>
          </a:xfrm>
          <a:prstGeom prst="rect">
            <a:avLst/>
          </a:prstGeom>
          <a:solidFill>
            <a:srgbClr val="CED7E6"/>
          </a:solidFill>
          <a:ln>
            <a:noFill/>
          </a:ln>
        </p:spPr>
      </p:sp>
      <p:grpSp>
        <p:nvGrpSpPr>
          <p:cNvPr id="109" name="node09"/>
          <p:cNvGrpSpPr/>
          <p:nvPr/>
        </p:nvGrpSpPr>
        <p:grpSpPr>
          <a:xfrm>
            <a:off x="4381500" y="4572000"/>
            <a:ext cx="3429000" cy="139700"/>
            <a:chOff x="4381500" y="4572000"/>
            <a:chExt cx="3429000" cy="139700"/>
          </a:xfrm>
        </p:grpSpPr>
        <p:sp>
          <p:nvSpPr>
            <p:cNvPr id="71" name="node09.text"/>
            <p:cNvSpPr/>
            <p:nvPr/>
          </p:nvSpPr>
          <p:spPr>
            <a:xfrm>
              <a:off x="4381500" y="4572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3 · EVALUATE, DECIDE · W4 TO 6</a:t>
              </a:r>
              <a:endParaRPr lang="en-US" sz="800" spc="48" kern="0" b="0" i="0" dirty="0">
                <a:solidFill>
                  <a:srgbClr val="0047FF"/>
                </a:solidFill>
                <a:latin typeface="IBM Plex Mono Medium"/>
                <a:ea typeface="IBM Plex Mono Medium"/>
                <a:cs typeface="IBM Plex Mono Medium"/>
              </a:endParaRPr>
            </a:p>
          </p:txBody>
        </p:sp>
      </p:grpSp>
      <p:grpSp>
        <p:nvGrpSpPr>
          <p:cNvPr id="110" name="node10"/>
          <p:cNvGrpSpPr/>
          <p:nvPr/>
        </p:nvGrpSpPr>
        <p:grpSpPr>
          <a:xfrm>
            <a:off x="4381500" y="4800600"/>
            <a:ext cx="3429000" cy="723900"/>
            <a:chOff x="4381500" y="4800600"/>
            <a:chExt cx="3429000" cy="723900"/>
          </a:xfrm>
        </p:grpSpPr>
        <p:sp>
          <p:nvSpPr>
            <p:cNvPr id="72" name="node10.source-001.bullet"/>
            <p:cNvSpPr/>
            <p:nvPr/>
          </p:nvSpPr>
          <p:spPr>
            <a:xfrm>
              <a:off x="4381500" y="4889500"/>
              <a:ext cx="38100" cy="38100"/>
            </a:xfrm>
            <a:prstGeom prst="rect">
              <a:avLst/>
            </a:prstGeom>
            <a:solidFill>
              <a:srgbClr val="070154"/>
            </a:solidFill>
            <a:ln>
              <a:noFill/>
            </a:ln>
          </p:spPr>
        </p:sp>
        <p:sp>
          <p:nvSpPr>
            <p:cNvPr id="73" name="node10.source-001.text"/>
            <p:cNvSpPr/>
            <p:nvPr/>
          </p:nvSpPr>
          <p:spPr>
            <a:xfrm>
              <a:off x="4533900" y="4800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Score accuracy, safety and usability</a:t>
              </a:r>
              <a:endParaRPr lang="en-US" sz="1200" spc="0" kern="0" b="0" i="0" dirty="0">
                <a:solidFill>
                  <a:srgbClr val="070154"/>
                </a:solidFill>
                <a:latin typeface="IBM Plex Sans"/>
                <a:ea typeface="IBM Plex Sans"/>
                <a:cs typeface="IBM Plex Sans"/>
              </a:endParaRPr>
            </a:p>
          </p:txBody>
        </p:sp>
        <p:sp>
          <p:nvSpPr>
            <p:cNvPr id="74" name="node10.source-002.bullet"/>
            <p:cNvSpPr/>
            <p:nvPr/>
          </p:nvSpPr>
          <p:spPr>
            <a:xfrm>
              <a:off x="4381500" y="5143500"/>
              <a:ext cx="38100" cy="38100"/>
            </a:xfrm>
            <a:prstGeom prst="rect">
              <a:avLst/>
            </a:prstGeom>
            <a:solidFill>
              <a:srgbClr val="070154"/>
            </a:solidFill>
            <a:ln>
              <a:noFill/>
            </a:ln>
          </p:spPr>
        </p:sp>
        <p:sp>
          <p:nvSpPr>
            <p:cNvPr id="75" name="node10.source-002.text"/>
            <p:cNvSpPr/>
            <p:nvPr/>
          </p:nvSpPr>
          <p:spPr>
            <a:xfrm>
              <a:off x="4533900" y="505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Test with 10 clinical users</a:t>
              </a:r>
              <a:endParaRPr lang="en-US" sz="1200" spc="0" kern="0" b="0" i="0" dirty="0">
                <a:solidFill>
                  <a:srgbClr val="070154"/>
                </a:solidFill>
                <a:latin typeface="IBM Plex Sans"/>
                <a:ea typeface="IBM Plex Sans"/>
                <a:cs typeface="IBM Plex Sans"/>
              </a:endParaRPr>
            </a:p>
          </p:txBody>
        </p:sp>
        <p:sp>
          <p:nvSpPr>
            <p:cNvPr id="76" name="node10.source-003.bullet"/>
            <p:cNvSpPr/>
            <p:nvPr/>
          </p:nvSpPr>
          <p:spPr>
            <a:xfrm>
              <a:off x="4381500" y="5397500"/>
              <a:ext cx="38100" cy="38100"/>
            </a:xfrm>
            <a:prstGeom prst="rect">
              <a:avLst/>
            </a:prstGeom>
            <a:solidFill>
              <a:srgbClr val="070154"/>
            </a:solidFill>
            <a:ln>
              <a:noFill/>
            </a:ln>
          </p:spPr>
        </p:sp>
        <p:sp>
          <p:nvSpPr>
            <p:cNvPr id="77" name="node10.source-003.text"/>
            <p:cNvSpPr/>
            <p:nvPr/>
          </p:nvSpPr>
          <p:spPr>
            <a:xfrm>
              <a:off x="4533900" y="5308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Scale-or-stop case with costed options</a:t>
              </a:r>
              <a:endParaRPr lang="en-US" sz="1200" spc="0" kern="0" b="0" i="0" dirty="0">
                <a:solidFill>
                  <a:srgbClr val="070154"/>
                </a:solidFill>
                <a:latin typeface="IBM Plex Sans"/>
                <a:ea typeface="IBM Plex Sans"/>
                <a:cs typeface="IBM Plex Sans"/>
              </a:endParaRPr>
            </a:p>
          </p:txBody>
        </p:sp>
      </p:grpSp>
      <p:sp>
        <p:nvSpPr>
          <p:cNvPr id="78" name="node11"/>
          <p:cNvSpPr/>
          <p:nvPr/>
        </p:nvSpPr>
        <p:spPr>
          <a:xfrm>
            <a:off x="8039100" y="4495800"/>
            <a:ext cx="3429000" cy="12700"/>
          </a:xfrm>
          <a:prstGeom prst="rect">
            <a:avLst/>
          </a:prstGeom>
          <a:solidFill>
            <a:srgbClr val="CED7E6"/>
          </a:solidFill>
          <a:ln>
            <a:noFill/>
          </a:ln>
        </p:spPr>
      </p:sp>
      <p:grpSp>
        <p:nvGrpSpPr>
          <p:cNvPr id="111" name="node12"/>
          <p:cNvGrpSpPr/>
          <p:nvPr/>
        </p:nvGrpSpPr>
        <p:grpSpPr>
          <a:xfrm>
            <a:off x="8039100" y="4572000"/>
            <a:ext cx="3429000" cy="139700"/>
            <a:chOff x="8039100" y="4572000"/>
            <a:chExt cx="3429000" cy="139700"/>
          </a:xfrm>
        </p:grpSpPr>
        <p:sp>
          <p:nvSpPr>
            <p:cNvPr id="79" name="node12.text"/>
            <p:cNvSpPr/>
            <p:nvPr/>
          </p:nvSpPr>
          <p:spPr>
            <a:xfrm>
              <a:off x="8039100" y="4572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TEAM AND ASSUMPTIONS</a:t>
              </a:r>
              <a:endParaRPr lang="en-US" sz="800" spc="48" kern="0" b="0" i="0" dirty="0">
                <a:solidFill>
                  <a:srgbClr val="0047FF"/>
                </a:solidFill>
                <a:latin typeface="IBM Plex Mono Medium"/>
                <a:ea typeface="IBM Plex Mono Medium"/>
                <a:cs typeface="IBM Plex Mono Medium"/>
              </a:endParaRPr>
            </a:p>
          </p:txBody>
        </p:sp>
      </p:grpSp>
      <p:grpSp>
        <p:nvGrpSpPr>
          <p:cNvPr id="112" name="node13"/>
          <p:cNvGrpSpPr/>
          <p:nvPr/>
        </p:nvGrpSpPr>
        <p:grpSpPr>
          <a:xfrm>
            <a:off x="8039100" y="4800600"/>
            <a:ext cx="3429000" cy="723900"/>
            <a:chOff x="8039100" y="4800600"/>
            <a:chExt cx="3429000" cy="723900"/>
          </a:xfrm>
        </p:grpSpPr>
        <p:sp>
          <p:nvSpPr>
            <p:cNvPr id="80" name="node13.source-001.bullet"/>
            <p:cNvSpPr/>
            <p:nvPr/>
          </p:nvSpPr>
          <p:spPr>
            <a:xfrm>
              <a:off x="8039100" y="4889500"/>
              <a:ext cx="38100" cy="38100"/>
            </a:xfrm>
            <a:prstGeom prst="rect">
              <a:avLst/>
            </a:prstGeom>
            <a:solidFill>
              <a:srgbClr val="070154"/>
            </a:solidFill>
            <a:ln>
              <a:noFill/>
            </a:ln>
          </p:spPr>
        </p:sp>
        <p:sp>
          <p:nvSpPr>
            <p:cNvPr id="81" name="node13.source-001.text"/>
            <p:cNvSpPr/>
            <p:nvPr/>
          </p:nvSpPr>
          <p:spPr>
            <a:xfrm>
              <a:off x="8191500" y="4800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Lead 25%, engineer, analyst, advisor</a:t>
              </a:r>
              <a:endParaRPr lang="en-US" sz="1200" spc="0" kern="0" b="0" i="0" dirty="0">
                <a:solidFill>
                  <a:srgbClr val="070154"/>
                </a:solidFill>
                <a:latin typeface="IBM Plex Sans"/>
                <a:ea typeface="IBM Plex Sans"/>
                <a:cs typeface="IBM Plex Sans"/>
              </a:endParaRPr>
            </a:p>
          </p:txBody>
        </p:sp>
        <p:sp>
          <p:nvSpPr>
            <p:cNvPr id="82" name="node13.source-002.bullet"/>
            <p:cNvSpPr/>
            <p:nvPr/>
          </p:nvSpPr>
          <p:spPr>
            <a:xfrm>
              <a:off x="8039100" y="5143500"/>
              <a:ext cx="38100" cy="38100"/>
            </a:xfrm>
            <a:prstGeom prst="rect">
              <a:avLst/>
            </a:prstGeom>
            <a:solidFill>
              <a:srgbClr val="070154"/>
            </a:solidFill>
            <a:ln>
              <a:noFill/>
            </a:ln>
          </p:spPr>
        </p:sp>
        <p:sp>
          <p:nvSpPr>
            <p:cNvPr id="83" name="node13.source-002.text"/>
            <p:cNvSpPr/>
            <p:nvPr/>
          </p:nvSpPr>
          <p:spPr>
            <a:xfrm>
              <a:off x="8191500" y="5054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One use case chosen in week 1</a:t>
              </a:r>
              <a:endParaRPr lang="en-US" sz="1200" spc="0" kern="0" b="0" i="0" dirty="0">
                <a:solidFill>
                  <a:srgbClr val="070154"/>
                </a:solidFill>
                <a:latin typeface="IBM Plex Sans"/>
                <a:ea typeface="IBM Plex Sans"/>
                <a:cs typeface="IBM Plex Sans"/>
              </a:endParaRPr>
            </a:p>
          </p:txBody>
        </p:sp>
        <p:sp>
          <p:nvSpPr>
            <p:cNvPr id="84" name="node13.source-003.bullet"/>
            <p:cNvSpPr/>
            <p:nvPr/>
          </p:nvSpPr>
          <p:spPr>
            <a:xfrm>
              <a:off x="8039100" y="5397500"/>
              <a:ext cx="38100" cy="38100"/>
            </a:xfrm>
            <a:prstGeom prst="rect">
              <a:avLst/>
            </a:prstGeom>
            <a:solidFill>
              <a:srgbClr val="070154"/>
            </a:solidFill>
            <a:ln>
              <a:noFill/>
            </a:ln>
          </p:spPr>
        </p:sp>
        <p:sp>
          <p:nvSpPr>
            <p:cNvPr id="85" name="node13.source-003.text"/>
            <p:cNvSpPr/>
            <p:nvPr/>
          </p:nvSpPr>
          <p:spPr>
            <a:xfrm>
              <a:off x="8191500" y="5308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Clinical lead 4 hours a week</a:t>
              </a:r>
              <a:endParaRPr lang="en-US" sz="1200" spc="0" kern="0" b="0" i="0" dirty="0">
                <a:solidFill>
                  <a:srgbClr val="070154"/>
                </a:solidFill>
                <a:latin typeface="IBM Plex Sans"/>
                <a:ea typeface="IBM Plex Sans"/>
                <a:cs typeface="IBM Plex Sans"/>
              </a:endParaRPr>
            </a:p>
          </p:txBody>
        </p:sp>
      </p:grpSp>
      <p:grpSp>
        <p:nvGrpSpPr>
          <p:cNvPr id="113" name="node14"/>
          <p:cNvGrpSpPr/>
          <p:nvPr/>
        </p:nvGrpSpPr>
        <p:grpSpPr>
          <a:xfrm>
            <a:off x="723900" y="1828800"/>
            <a:ext cx="3429000" cy="139700"/>
            <a:chOff x="723900" y="1828800"/>
            <a:chExt cx="3429000" cy="139700"/>
          </a:xfrm>
        </p:grpSpPr>
        <p:sp>
          <p:nvSpPr>
            <p:cNvPr id="86" name="node14.text"/>
            <p:cNvSpPr/>
            <p:nvPr/>
          </p:nvSpPr>
          <p:spPr>
            <a:xfrm>
              <a:off x="723900" y="18288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WE WILL DO</a:t>
              </a:r>
              <a:endParaRPr lang="en-US" sz="800" spc="48" kern="0" b="0" i="0" dirty="0">
                <a:solidFill>
                  <a:srgbClr val="0047FF"/>
                </a:solidFill>
                <a:latin typeface="IBM Plex Mono Medium"/>
                <a:ea typeface="IBM Plex Mono Medium"/>
                <a:cs typeface="IBM Plex Mono Medium"/>
              </a:endParaRPr>
            </a:p>
          </p:txBody>
        </p:sp>
      </p:grpSp>
      <p:grpSp>
        <p:nvGrpSpPr>
          <p:cNvPr id="114" name="node15"/>
          <p:cNvGrpSpPr/>
          <p:nvPr/>
        </p:nvGrpSpPr>
        <p:grpSpPr>
          <a:xfrm>
            <a:off x="723900" y="2057400"/>
            <a:ext cx="3429000" cy="863600"/>
            <a:chOff x="723900" y="2057400"/>
            <a:chExt cx="3429000" cy="863600"/>
          </a:xfrm>
        </p:grpSpPr>
        <p:sp>
          <p:nvSpPr>
            <p:cNvPr id="87" name="node15.text"/>
            <p:cNvSpPr/>
            <p:nvPr/>
          </p:nvSpPr>
          <p:spPr>
            <a:xfrm>
              <a:off x="723900" y="2057400"/>
              <a:ext cx="3429000" cy="8636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Test one AI use case on your own data before you commit to scale. We build and measure a working prototype, then give you a clear scale-or-stop call.</a:t>
              </a:r>
              <a:endParaRPr lang="en-US" sz="1200" spc="0" kern="0" b="0" i="0" dirty="0">
                <a:solidFill>
                  <a:srgbClr val="50658E"/>
                </a:solidFill>
                <a:latin typeface="IBM Plex Sans"/>
                <a:ea typeface="IBM Plex Sans"/>
                <a:cs typeface="IBM Plex Sans"/>
              </a:endParaRPr>
            </a:p>
          </p:txBody>
        </p:sp>
      </p:grpSp>
      <p:grpSp>
        <p:nvGrpSpPr>
          <p:cNvPr id="115" name="node16"/>
          <p:cNvGrpSpPr/>
          <p:nvPr/>
        </p:nvGrpSpPr>
        <p:grpSpPr>
          <a:xfrm>
            <a:off x="723900" y="3200400"/>
            <a:ext cx="3429000" cy="914400"/>
            <a:chOff x="723900" y="3200400"/>
            <a:chExt cx="3429000" cy="914400"/>
          </a:xfrm>
        </p:grpSpPr>
        <p:sp>
          <p:nvSpPr>
            <p:cNvPr id="88" name="node16.surface"/>
            <p:cNvSpPr/>
            <p:nvPr/>
          </p:nvSpPr>
          <p:spPr>
            <a:xfrm>
              <a:off x="723900" y="3200400"/>
              <a:ext cx="3429000" cy="914400"/>
            </a:xfrm>
            <a:prstGeom prst="rect">
              <a:avLst/>
            </a:prstGeom>
            <a:solidFill>
              <a:srgbClr val="070154"/>
            </a:solidFill>
            <a:ln>
              <a:noFill/>
            </a:ln>
          </p:spPr>
        </p:sp>
      </p:grpSp>
      <p:grpSp>
        <p:nvGrpSpPr>
          <p:cNvPr id="116" name="node17"/>
          <p:cNvGrpSpPr/>
          <p:nvPr/>
        </p:nvGrpSpPr>
        <p:grpSpPr>
          <a:xfrm>
            <a:off x="876300" y="3352800"/>
            <a:ext cx="3124200" cy="139700"/>
            <a:chOff x="876300" y="3352800"/>
            <a:chExt cx="3124200" cy="139700"/>
          </a:xfrm>
        </p:grpSpPr>
        <p:sp>
          <p:nvSpPr>
            <p:cNvPr id="89" name="node17.text"/>
            <p:cNvSpPr/>
            <p:nvPr/>
          </p:nvSpPr>
          <p:spPr>
            <a:xfrm>
              <a:off x="876300" y="3352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FIXED FEE</a:t>
              </a:r>
              <a:endParaRPr lang="en-US" sz="800" spc="48" kern="0" b="0" i="0" dirty="0">
                <a:solidFill>
                  <a:srgbClr val="CED7E6"/>
                </a:solidFill>
                <a:latin typeface="IBM Plex Mono Medium"/>
                <a:ea typeface="IBM Plex Mono Medium"/>
                <a:cs typeface="IBM Plex Mono Medium"/>
              </a:endParaRPr>
            </a:p>
          </p:txBody>
        </p:sp>
      </p:grpSp>
      <p:grpSp>
        <p:nvGrpSpPr>
          <p:cNvPr id="117" name="node18"/>
          <p:cNvGrpSpPr/>
          <p:nvPr/>
        </p:nvGrpSpPr>
        <p:grpSpPr>
          <a:xfrm>
            <a:off x="876300" y="3581400"/>
            <a:ext cx="1524000" cy="382461"/>
            <a:chOff x="876300" y="3581400"/>
            <a:chExt cx="1524000" cy="382461"/>
          </a:xfrm>
        </p:grpSpPr>
        <p:sp>
          <p:nvSpPr>
            <p:cNvPr id="90" name="node18.text"/>
            <p:cNvSpPr/>
            <p:nvPr/>
          </p:nvSpPr>
          <p:spPr>
            <a:xfrm>
              <a:off x="876300" y="3581400"/>
              <a:ext cx="15240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FFFFF"/>
                  </a:solidFill>
                  <a:latin typeface="IBM Plex Mono SemiBold"/>
                  <a:ea typeface="IBM Plex Mono SemiBold"/>
                  <a:cs typeface="IBM Plex Mono SemiBold"/>
                </a:rPr>
                <a:t>$150K</a:t>
              </a:r>
              <a:endParaRPr lang="en-US" sz="3000" spc="-60" kern="0" b="0" i="0" dirty="0">
                <a:solidFill>
                  <a:srgbClr val="FFFFFF"/>
                </a:solidFill>
                <a:latin typeface="IBM Plex Mono SemiBold"/>
                <a:ea typeface="IBM Plex Mono SemiBold"/>
                <a:cs typeface="IBM Plex Mono SemiBold"/>
              </a:endParaRPr>
            </a:p>
          </p:txBody>
        </p:sp>
      </p:grpSp>
      <p:grpSp>
        <p:nvGrpSpPr>
          <p:cNvPr id="118" name="node19"/>
          <p:cNvGrpSpPr/>
          <p:nvPr/>
        </p:nvGrpSpPr>
        <p:grpSpPr>
          <a:xfrm>
            <a:off x="2400300" y="3619500"/>
            <a:ext cx="1600200" cy="190500"/>
            <a:chOff x="2400300" y="3619500"/>
            <a:chExt cx="1600200" cy="190500"/>
          </a:xfrm>
        </p:grpSpPr>
        <p:sp>
          <p:nvSpPr>
            <p:cNvPr id="91" name="node19.text"/>
            <p:cNvSpPr/>
            <p:nvPr/>
          </p:nvSpPr>
          <p:spPr>
            <a:xfrm>
              <a:off x="2400300" y="36195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fixed fee</a:t>
              </a:r>
              <a:endParaRPr lang="en-US" sz="1100" spc="0" kern="0" b="0" i="0" dirty="0">
                <a:solidFill>
                  <a:srgbClr val="FFFFFF"/>
                </a:solidFill>
                <a:latin typeface="IBM Plex Sans"/>
                <a:ea typeface="IBM Plex Sans"/>
                <a:cs typeface="IBM Plex Sans"/>
              </a:endParaRPr>
            </a:p>
          </p:txBody>
        </p:sp>
      </p:grpSp>
      <p:grpSp>
        <p:nvGrpSpPr>
          <p:cNvPr id="119" name="node20"/>
          <p:cNvGrpSpPr/>
          <p:nvPr/>
        </p:nvGrpSpPr>
        <p:grpSpPr>
          <a:xfrm>
            <a:off x="2400300" y="3848100"/>
            <a:ext cx="1600200" cy="190500"/>
            <a:chOff x="2400300" y="3848100"/>
            <a:chExt cx="1600200" cy="190500"/>
          </a:xfrm>
        </p:grpSpPr>
        <p:sp>
          <p:nvSpPr>
            <p:cNvPr id="92" name="node20.text"/>
            <p:cNvSpPr/>
            <p:nvPr/>
          </p:nvSpPr>
          <p:spPr>
            <a:xfrm>
              <a:off x="2400300" y="38481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6 weeks</a:t>
              </a:r>
              <a:endParaRPr lang="en-US" sz="1100" spc="0" kern="0" b="0" i="0" dirty="0">
                <a:solidFill>
                  <a:srgbClr val="CED7E6"/>
                </a:solidFill>
                <a:latin typeface="IBM Plex Sans"/>
                <a:ea typeface="IBM Plex Sans"/>
                <a:cs typeface="IBM Plex Sans"/>
              </a:endParaRPr>
            </a:p>
          </p:txBody>
        </p:sp>
      </p:grpSp>
      <p:grpSp>
        <p:nvGrpSpPr>
          <p:cNvPr id="120" name="node21"/>
          <p:cNvGrpSpPr/>
          <p:nvPr/>
        </p:nvGrpSpPr>
        <p:grpSpPr>
          <a:xfrm>
            <a:off x="723900" y="4267200"/>
            <a:ext cx="3429000" cy="139700"/>
            <a:chOff x="723900" y="4267200"/>
            <a:chExt cx="3429000" cy="139700"/>
          </a:xfrm>
        </p:grpSpPr>
        <p:sp>
          <p:nvSpPr>
            <p:cNvPr id="93" name="node21.text"/>
            <p:cNvSpPr/>
            <p:nvPr/>
          </p:nvSpPr>
          <p:spPr>
            <a:xfrm>
              <a:off x="723900" y="4267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DELIVERABLES</a:t>
              </a:r>
              <a:endParaRPr lang="en-US" sz="800" spc="48" kern="0" b="0" i="0" dirty="0">
                <a:solidFill>
                  <a:srgbClr val="0047FF"/>
                </a:solidFill>
                <a:latin typeface="IBM Plex Mono Medium"/>
                <a:ea typeface="IBM Plex Mono Medium"/>
                <a:cs typeface="IBM Plex Mono Medium"/>
              </a:endParaRPr>
            </a:p>
          </p:txBody>
        </p:sp>
      </p:grpSp>
      <p:grpSp>
        <p:nvGrpSpPr>
          <p:cNvPr id="121" name="node22"/>
          <p:cNvGrpSpPr/>
          <p:nvPr/>
        </p:nvGrpSpPr>
        <p:grpSpPr>
          <a:xfrm>
            <a:off x="723900" y="4495800"/>
            <a:ext cx="3429000" cy="723900"/>
            <a:chOff x="723900" y="4495800"/>
            <a:chExt cx="3429000" cy="723900"/>
          </a:xfrm>
        </p:grpSpPr>
        <p:sp>
          <p:nvSpPr>
            <p:cNvPr id="94" name="node22.source-001.bullet"/>
            <p:cNvSpPr/>
            <p:nvPr/>
          </p:nvSpPr>
          <p:spPr>
            <a:xfrm>
              <a:off x="723900" y="4584700"/>
              <a:ext cx="38100" cy="38100"/>
            </a:xfrm>
            <a:prstGeom prst="rect">
              <a:avLst/>
            </a:prstGeom>
            <a:solidFill>
              <a:srgbClr val="070154"/>
            </a:solidFill>
            <a:ln>
              <a:noFill/>
            </a:ln>
          </p:spPr>
        </p:sp>
        <p:sp>
          <p:nvSpPr>
            <p:cNvPr id="95" name="node22.source-001.text"/>
            <p:cNvSpPr/>
            <p:nvPr/>
          </p:nvSpPr>
          <p:spPr>
            <a:xfrm>
              <a:off x="876300" y="4495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Working prototype on Northfield data</a:t>
              </a:r>
              <a:endParaRPr lang="en-US" sz="1200" spc="0" kern="0" b="0" i="0" dirty="0">
                <a:solidFill>
                  <a:srgbClr val="070154"/>
                </a:solidFill>
                <a:latin typeface="IBM Plex Sans"/>
                <a:ea typeface="IBM Plex Sans"/>
                <a:cs typeface="IBM Plex Sans"/>
              </a:endParaRPr>
            </a:p>
          </p:txBody>
        </p:sp>
        <p:sp>
          <p:nvSpPr>
            <p:cNvPr id="96" name="node22.source-002.bullet"/>
            <p:cNvSpPr/>
            <p:nvPr/>
          </p:nvSpPr>
          <p:spPr>
            <a:xfrm>
              <a:off x="723900" y="4838700"/>
              <a:ext cx="38100" cy="38100"/>
            </a:xfrm>
            <a:prstGeom prst="rect">
              <a:avLst/>
            </a:prstGeom>
            <a:solidFill>
              <a:srgbClr val="070154"/>
            </a:solidFill>
            <a:ln>
              <a:noFill/>
            </a:ln>
          </p:spPr>
        </p:sp>
        <p:sp>
          <p:nvSpPr>
            <p:cNvPr id="97" name="node22.source-002.text"/>
            <p:cNvSpPr/>
            <p:nvPr/>
          </p:nvSpPr>
          <p:spPr>
            <a:xfrm>
              <a:off x="876300" y="4749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Evaluation scorecard</a:t>
              </a:r>
              <a:endParaRPr lang="en-US" sz="1200" spc="0" kern="0" b="0" i="0" dirty="0">
                <a:solidFill>
                  <a:srgbClr val="070154"/>
                </a:solidFill>
                <a:latin typeface="IBM Plex Sans"/>
                <a:ea typeface="IBM Plex Sans"/>
                <a:cs typeface="IBM Plex Sans"/>
              </a:endParaRPr>
            </a:p>
          </p:txBody>
        </p:sp>
        <p:sp>
          <p:nvSpPr>
            <p:cNvPr id="98" name="node22.source-003.bullet"/>
            <p:cNvSpPr/>
            <p:nvPr/>
          </p:nvSpPr>
          <p:spPr>
            <a:xfrm>
              <a:off x="723900" y="5092700"/>
              <a:ext cx="38100" cy="38100"/>
            </a:xfrm>
            <a:prstGeom prst="rect">
              <a:avLst/>
            </a:prstGeom>
            <a:solidFill>
              <a:srgbClr val="070154"/>
            </a:solidFill>
            <a:ln>
              <a:noFill/>
            </a:ln>
          </p:spPr>
        </p:sp>
        <p:sp>
          <p:nvSpPr>
            <p:cNvPr id="99" name="node22.source-003.text"/>
            <p:cNvSpPr/>
            <p:nvPr/>
          </p:nvSpPr>
          <p:spPr>
            <a:xfrm>
              <a:off x="876300" y="50038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Scale-or-stop recommendation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ource-33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four-month data team, one $96K monthly run-rate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213</a:t>
            </a:fld>
            <a:endParaRPr lang="en-US" sz="700" spc="0" kern="0" b="0" i="0" dirty="0">
              <a:solidFill>
                <a:srgbClr val="070154"/>
              </a:solidFill>
              <a:latin typeface="IBM Plex Mono SemiBold"/>
              <a:ea typeface="IBM Plex Mono SemiBold"/>
              <a:cs typeface="IBM Plex Mono SemiBold"/>
            </a:endParaRPr>
          </a:p>
        </p:txBody>
      </p:sp>
      <p:grpSp>
        <p:nvGrpSpPr>
          <p:cNvPr id="62" name="node01"/>
          <p:cNvGrpSpPr/>
          <p:nvPr/>
        </p:nvGrpSpPr>
        <p:grpSpPr>
          <a:xfrm>
            <a:off x="723900" y="1600200"/>
            <a:ext cx="6934200" cy="139700"/>
            <a:chOff x="723900" y="1600200"/>
            <a:chExt cx="6934200" cy="139700"/>
          </a:xfrm>
        </p:grpSpPr>
        <p:sp>
          <p:nvSpPr>
            <p:cNvPr id="7" name="node01.text"/>
            <p:cNvSpPr/>
            <p:nvPr/>
          </p:nvSpPr>
          <p:spPr>
            <a:xfrm>
              <a:off x="723900" y="1600200"/>
              <a:ext cx="693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 · WHAT WE WILL DO</a:t>
              </a:r>
              <a:endParaRPr lang="en-US" sz="800" spc="48" kern="0" b="0" i="0" dirty="0">
                <a:solidFill>
                  <a:srgbClr val="0047FF"/>
                </a:solidFill>
                <a:latin typeface="IBM Plex Mono Medium"/>
                <a:ea typeface="IBM Plex Mono Medium"/>
                <a:cs typeface="IBM Plex Mono Medium"/>
              </a:endParaRPr>
            </a:p>
          </p:txBody>
        </p:sp>
      </p:grpSp>
      <p:grpSp>
        <p:nvGrpSpPr>
          <p:cNvPr id="63" name="node02"/>
          <p:cNvGrpSpPr/>
          <p:nvPr/>
        </p:nvGrpSpPr>
        <p:grpSpPr>
          <a:xfrm>
            <a:off x="723900" y="1828800"/>
            <a:ext cx="6934200" cy="431800"/>
            <a:chOff x="723900" y="1828800"/>
            <a:chExt cx="6934200" cy="431800"/>
          </a:xfrm>
        </p:grpSpPr>
        <p:sp>
          <p:nvSpPr>
            <p:cNvPr id="8" name="node02.text"/>
            <p:cNvSpPr/>
            <p:nvPr/>
          </p:nvSpPr>
          <p:spPr>
            <a:xfrm>
              <a:off x="723900" y="1828800"/>
              <a:ext cx="693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 standing team that ships a governed data platform in four months and leaves Northfield able to run it. We build, you learn by pairing.</a:t>
              </a:r>
              <a:endParaRPr lang="en-US" sz="1200" spc="0" kern="0" b="0" i="0" dirty="0">
                <a:solidFill>
                  <a:srgbClr val="50658E"/>
                </a:solidFill>
                <a:latin typeface="IBM Plex Sans"/>
                <a:ea typeface="IBM Plex Sans"/>
                <a:cs typeface="IBM Plex Sans"/>
              </a:endParaRPr>
            </a:p>
          </p:txBody>
        </p:sp>
      </p:grpSp>
      <p:grpSp>
        <p:nvGrpSpPr>
          <p:cNvPr id="64" name="node03"/>
          <p:cNvGrpSpPr/>
          <p:nvPr/>
        </p:nvGrpSpPr>
        <p:grpSpPr>
          <a:xfrm>
            <a:off x="723900" y="2476500"/>
            <a:ext cx="6934200" cy="190500"/>
            <a:chOff x="723900" y="2476500"/>
            <a:chExt cx="6934200" cy="190500"/>
          </a:xfrm>
        </p:grpSpPr>
        <p:sp>
          <p:nvSpPr>
            <p:cNvPr id="9" name="node03.text"/>
            <p:cNvSpPr/>
            <p:nvPr/>
          </p:nvSpPr>
          <p:spPr>
            <a:xfrm>
              <a:off x="723900" y="2476500"/>
              <a:ext cx="693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Assumes the cloud tenant is ready in month 1; four-month minimum term.</a:t>
              </a:r>
              <a:endParaRPr lang="en-US" sz="1100" spc="0" kern="0" b="0" i="0" dirty="0">
                <a:solidFill>
                  <a:srgbClr val="50658E"/>
                </a:solidFill>
                <a:latin typeface="IBM Plex Sans"/>
                <a:ea typeface="IBM Plex Sans"/>
                <a:cs typeface="IBM Plex Sans"/>
              </a:endParaRPr>
            </a:p>
          </p:txBody>
        </p:sp>
      </p:grpSp>
      <p:grpSp>
        <p:nvGrpSpPr>
          <p:cNvPr id="65" name="node04"/>
          <p:cNvGrpSpPr/>
          <p:nvPr/>
        </p:nvGrpSpPr>
        <p:grpSpPr>
          <a:xfrm>
            <a:off x="8039100" y="1600200"/>
            <a:ext cx="3429000" cy="1143000"/>
            <a:chOff x="8039100" y="1600200"/>
            <a:chExt cx="3429000" cy="1143000"/>
          </a:xfrm>
        </p:grpSpPr>
        <p:sp>
          <p:nvSpPr>
            <p:cNvPr id="10" name="node04.surface"/>
            <p:cNvSpPr/>
            <p:nvPr/>
          </p:nvSpPr>
          <p:spPr>
            <a:xfrm>
              <a:off x="8039100" y="1600200"/>
              <a:ext cx="3429000" cy="1143000"/>
            </a:xfrm>
            <a:prstGeom prst="rect">
              <a:avLst/>
            </a:prstGeom>
            <a:solidFill>
              <a:srgbClr val="070154"/>
            </a:solidFill>
            <a:ln>
              <a:noFill/>
            </a:ln>
          </p:spPr>
        </p:sp>
      </p:grpSp>
      <p:grpSp>
        <p:nvGrpSpPr>
          <p:cNvPr id="66" name="node05"/>
          <p:cNvGrpSpPr/>
          <p:nvPr/>
        </p:nvGrpSpPr>
        <p:grpSpPr>
          <a:xfrm>
            <a:off x="8191500" y="1752600"/>
            <a:ext cx="3124200" cy="139700"/>
            <a:chOff x="8191500" y="1752600"/>
            <a:chExt cx="3124200" cy="139700"/>
          </a:xfrm>
        </p:grpSpPr>
        <p:sp>
          <p:nvSpPr>
            <p:cNvPr id="11" name="node05.text"/>
            <p:cNvSpPr/>
            <p:nvPr/>
          </p:nvSpPr>
          <p:spPr>
            <a:xfrm>
              <a:off x="81915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TEAM MONTHLY RUN-RATE</a:t>
              </a:r>
              <a:endParaRPr lang="en-US" sz="800" spc="48" kern="0" b="0" i="0" dirty="0">
                <a:solidFill>
                  <a:srgbClr val="CED7E6"/>
                </a:solidFill>
                <a:latin typeface="IBM Plex Mono Medium"/>
                <a:ea typeface="IBM Plex Mono Medium"/>
                <a:cs typeface="IBM Plex Mono Medium"/>
              </a:endParaRPr>
            </a:p>
          </p:txBody>
        </p:sp>
      </p:grpSp>
      <p:grpSp>
        <p:nvGrpSpPr>
          <p:cNvPr id="67" name="node06"/>
          <p:cNvGrpSpPr/>
          <p:nvPr/>
        </p:nvGrpSpPr>
        <p:grpSpPr>
          <a:xfrm>
            <a:off x="8191500" y="1981200"/>
            <a:ext cx="1524000" cy="382461"/>
            <a:chOff x="8191500" y="1981200"/>
            <a:chExt cx="1524000" cy="382461"/>
          </a:xfrm>
        </p:grpSpPr>
        <p:sp>
          <p:nvSpPr>
            <p:cNvPr id="12" name="node06.text"/>
            <p:cNvSpPr/>
            <p:nvPr/>
          </p:nvSpPr>
          <p:spPr>
            <a:xfrm>
              <a:off x="8191500" y="1981200"/>
              <a:ext cx="15240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FFFFF"/>
                  </a:solidFill>
                  <a:latin typeface="IBM Plex Mono SemiBold"/>
                  <a:ea typeface="IBM Plex Mono SemiBold"/>
                  <a:cs typeface="IBM Plex Mono SemiBold"/>
                </a:rPr>
                <a:t>$96K</a:t>
              </a:r>
              <a:endParaRPr lang="en-US" sz="3000" spc="-60" kern="0" b="0" i="0" dirty="0">
                <a:solidFill>
                  <a:srgbClr val="FFFFFF"/>
                </a:solidFill>
                <a:latin typeface="IBM Plex Mono SemiBold"/>
                <a:ea typeface="IBM Plex Mono SemiBold"/>
                <a:cs typeface="IBM Plex Mono SemiBold"/>
              </a:endParaRPr>
            </a:p>
          </p:txBody>
        </p:sp>
      </p:grpSp>
      <p:grpSp>
        <p:nvGrpSpPr>
          <p:cNvPr id="68" name="node07"/>
          <p:cNvGrpSpPr/>
          <p:nvPr/>
        </p:nvGrpSpPr>
        <p:grpSpPr>
          <a:xfrm>
            <a:off x="9715500" y="2019300"/>
            <a:ext cx="1600200" cy="190500"/>
            <a:chOff x="9715500" y="2019300"/>
            <a:chExt cx="1600200" cy="190500"/>
          </a:xfrm>
        </p:grpSpPr>
        <p:sp>
          <p:nvSpPr>
            <p:cNvPr id="13" name="node07.text"/>
            <p:cNvSpPr/>
            <p:nvPr/>
          </p:nvSpPr>
          <p:spPr>
            <a:xfrm>
              <a:off x="9715500" y="20193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per month, whole team</a:t>
              </a:r>
              <a:endParaRPr lang="en-US" sz="1100" spc="0" kern="0" b="0" i="0" dirty="0">
                <a:solidFill>
                  <a:srgbClr val="FFFFFF"/>
                </a:solidFill>
                <a:latin typeface="IBM Plex Sans"/>
                <a:ea typeface="IBM Plex Sans"/>
                <a:cs typeface="IBM Plex Sans"/>
              </a:endParaRPr>
            </a:p>
          </p:txBody>
        </p:sp>
      </p:grpSp>
      <p:grpSp>
        <p:nvGrpSpPr>
          <p:cNvPr id="69" name="node08"/>
          <p:cNvGrpSpPr/>
          <p:nvPr/>
        </p:nvGrpSpPr>
        <p:grpSpPr>
          <a:xfrm>
            <a:off x="9715500" y="2247900"/>
            <a:ext cx="1600200" cy="190500"/>
            <a:chOff x="9715500" y="2247900"/>
            <a:chExt cx="1600200" cy="190500"/>
          </a:xfrm>
        </p:grpSpPr>
        <p:sp>
          <p:nvSpPr>
            <p:cNvPr id="14" name="node08.text"/>
            <p:cNvSpPr/>
            <p:nvPr/>
          </p:nvSpPr>
          <p:spPr>
            <a:xfrm>
              <a:off x="9715500" y="22479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Billed monthly</a:t>
              </a:r>
              <a:endParaRPr lang="en-US" sz="1100" spc="0" kern="0" b="0" i="0" dirty="0">
                <a:solidFill>
                  <a:srgbClr val="CED7E6"/>
                </a:solidFill>
                <a:latin typeface="IBM Plex Sans"/>
                <a:ea typeface="IBM Plex Sans"/>
                <a:cs typeface="IBM Plex Sans"/>
              </a:endParaRPr>
            </a:p>
          </p:txBody>
        </p:sp>
      </p:grpSp>
      <p:grpSp>
        <p:nvGrpSpPr>
          <p:cNvPr id="70" name="node09"/>
          <p:cNvGrpSpPr/>
          <p:nvPr/>
        </p:nvGrpSpPr>
        <p:grpSpPr>
          <a:xfrm>
            <a:off x="723900" y="2895600"/>
            <a:ext cx="10744200" cy="139700"/>
            <a:chOff x="723900" y="2895600"/>
            <a:chExt cx="10744200" cy="139700"/>
          </a:xfrm>
        </p:grpSpPr>
        <p:sp>
          <p:nvSpPr>
            <p:cNvPr id="15" name="node09.text"/>
            <p:cNvSpPr/>
            <p:nvPr/>
          </p:nvSpPr>
          <p:spPr>
            <a:xfrm>
              <a:off x="723900" y="2895600"/>
              <a:ext cx="1074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2 · HOW WE WILL DO IT · FOUR MONTHS</a:t>
              </a:r>
              <a:endParaRPr lang="en-US" sz="800" spc="48" kern="0" b="0" i="0" dirty="0">
                <a:solidFill>
                  <a:srgbClr val="0047FF"/>
                </a:solidFill>
                <a:latin typeface="IBM Plex Mono Medium"/>
                <a:ea typeface="IBM Plex Mono Medium"/>
                <a:cs typeface="IBM Plex Mono Medium"/>
              </a:endParaRPr>
            </a:p>
          </p:txBody>
        </p:sp>
      </p:grpSp>
      <p:sp>
        <p:nvSpPr>
          <p:cNvPr id="16" name="node10"/>
          <p:cNvSpPr/>
          <p:nvPr/>
        </p:nvSpPr>
        <p:spPr>
          <a:xfrm>
            <a:off x="723900" y="3162300"/>
            <a:ext cx="2514600" cy="12700"/>
          </a:xfrm>
          <a:prstGeom prst="rect">
            <a:avLst/>
          </a:prstGeom>
          <a:solidFill>
            <a:srgbClr val="CED7E6"/>
          </a:solidFill>
          <a:ln>
            <a:noFill/>
          </a:ln>
        </p:spPr>
      </p:sp>
      <p:grpSp>
        <p:nvGrpSpPr>
          <p:cNvPr id="71" name="node11"/>
          <p:cNvGrpSpPr/>
          <p:nvPr/>
        </p:nvGrpSpPr>
        <p:grpSpPr>
          <a:xfrm>
            <a:off x="723900" y="3276600"/>
            <a:ext cx="2514600" cy="139700"/>
            <a:chOff x="723900" y="3276600"/>
            <a:chExt cx="2514600" cy="139700"/>
          </a:xfrm>
        </p:grpSpPr>
        <p:sp>
          <p:nvSpPr>
            <p:cNvPr id="17" name="node11.text"/>
            <p:cNvSpPr/>
            <p:nvPr/>
          </p:nvSpPr>
          <p:spPr>
            <a:xfrm>
              <a:off x="723900" y="3276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01 · MONTH 1</a:t>
              </a:r>
              <a:endParaRPr lang="en-US" sz="800" spc="48" kern="0" b="0" i="0" dirty="0">
                <a:solidFill>
                  <a:srgbClr val="0047FF"/>
                </a:solidFill>
                <a:latin typeface="IBM Plex Mono Medium"/>
                <a:ea typeface="IBM Plex Mono Medium"/>
                <a:cs typeface="IBM Plex Mono Medium"/>
              </a:endParaRPr>
            </a:p>
          </p:txBody>
        </p:sp>
      </p:grpSp>
      <p:grpSp>
        <p:nvGrpSpPr>
          <p:cNvPr id="72" name="node12"/>
          <p:cNvGrpSpPr/>
          <p:nvPr/>
        </p:nvGrpSpPr>
        <p:grpSpPr>
          <a:xfrm>
            <a:off x="723900" y="3505200"/>
            <a:ext cx="2514600" cy="266700"/>
            <a:chOff x="723900" y="3505200"/>
            <a:chExt cx="2514600" cy="266700"/>
          </a:xfrm>
        </p:grpSpPr>
        <p:sp>
          <p:nvSpPr>
            <p:cNvPr id="18" name="node12.text"/>
            <p:cNvSpPr/>
            <p:nvPr/>
          </p:nvSpPr>
          <p:spPr>
            <a:xfrm>
              <a:off x="723900" y="35052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Frame and mobilize</a:t>
              </a:r>
              <a:endParaRPr lang="en-US" sz="1600" spc="-16" kern="0" b="0" i="0" dirty="0">
                <a:solidFill>
                  <a:srgbClr val="070154"/>
                </a:solidFill>
                <a:latin typeface="IBM Plex Sans SemiBold"/>
                <a:ea typeface="IBM Plex Sans SemiBold"/>
                <a:cs typeface="IBM Plex Sans SemiBold"/>
              </a:endParaRPr>
            </a:p>
          </p:txBody>
        </p:sp>
      </p:grpSp>
      <p:grpSp>
        <p:nvGrpSpPr>
          <p:cNvPr id="73" name="node13"/>
          <p:cNvGrpSpPr/>
          <p:nvPr/>
        </p:nvGrpSpPr>
        <p:grpSpPr>
          <a:xfrm>
            <a:off x="723900" y="3848100"/>
            <a:ext cx="2514600" cy="939800"/>
            <a:chOff x="723900" y="3848100"/>
            <a:chExt cx="2514600" cy="939800"/>
          </a:xfrm>
        </p:grpSpPr>
        <p:sp>
          <p:nvSpPr>
            <p:cNvPr id="19" name="node13.source-001.bullet"/>
            <p:cNvSpPr/>
            <p:nvPr/>
          </p:nvSpPr>
          <p:spPr>
            <a:xfrm>
              <a:off x="723900" y="3937000"/>
              <a:ext cx="38100" cy="38100"/>
            </a:xfrm>
            <a:prstGeom prst="rect">
              <a:avLst/>
            </a:prstGeom>
            <a:solidFill>
              <a:srgbClr val="070154"/>
            </a:solidFill>
            <a:ln>
              <a:noFill/>
            </a:ln>
          </p:spPr>
        </p:sp>
        <p:sp>
          <p:nvSpPr>
            <p:cNvPr id="20" name="node13.source-001.text"/>
            <p:cNvSpPr/>
            <p:nvPr/>
          </p:nvSpPr>
          <p:spPr>
            <a:xfrm>
              <a:off x="876300" y="38481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Stand up the team and the working rhythm</a:t>
              </a:r>
              <a:endParaRPr lang="en-US" sz="1200" spc="0" kern="0" b="0" i="0" dirty="0">
                <a:solidFill>
                  <a:srgbClr val="070154"/>
                </a:solidFill>
                <a:latin typeface="IBM Plex Sans"/>
                <a:ea typeface="IBM Plex Sans"/>
                <a:cs typeface="IBM Plex Sans"/>
              </a:endParaRPr>
            </a:p>
          </p:txBody>
        </p:sp>
        <p:sp>
          <p:nvSpPr>
            <p:cNvPr id="21" name="node13.source-002.bullet"/>
            <p:cNvSpPr/>
            <p:nvPr/>
          </p:nvSpPr>
          <p:spPr>
            <a:xfrm>
              <a:off x="723900" y="4406900"/>
              <a:ext cx="38100" cy="38100"/>
            </a:xfrm>
            <a:prstGeom prst="rect">
              <a:avLst/>
            </a:prstGeom>
            <a:solidFill>
              <a:srgbClr val="070154"/>
            </a:solidFill>
            <a:ln>
              <a:noFill/>
            </a:ln>
          </p:spPr>
        </p:sp>
        <p:sp>
          <p:nvSpPr>
            <p:cNvPr id="22" name="node13.source-002.text"/>
            <p:cNvSpPr/>
            <p:nvPr/>
          </p:nvSpPr>
          <p:spPr>
            <a:xfrm>
              <a:off x="876300" y="4318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Triage sources; agree standards</a:t>
              </a:r>
              <a:endParaRPr lang="en-US" sz="1200" spc="0" kern="0" b="0" i="0" dirty="0">
                <a:solidFill>
                  <a:srgbClr val="070154"/>
                </a:solidFill>
                <a:latin typeface="IBM Plex Sans"/>
                <a:ea typeface="IBM Plex Sans"/>
                <a:cs typeface="IBM Plex Sans"/>
              </a:endParaRPr>
            </a:p>
          </p:txBody>
        </p:sp>
        <p:sp>
          <p:nvSpPr>
            <p:cNvPr id="23" name="node13.source-003.bullet"/>
            <p:cNvSpPr/>
            <p:nvPr/>
          </p:nvSpPr>
          <p:spPr>
            <a:xfrm>
              <a:off x="723900" y="4660900"/>
              <a:ext cx="38100" cy="38100"/>
            </a:xfrm>
            <a:prstGeom prst="rect">
              <a:avLst/>
            </a:prstGeom>
            <a:solidFill>
              <a:srgbClr val="070154"/>
            </a:solidFill>
            <a:ln>
              <a:noFill/>
            </a:ln>
          </p:spPr>
        </p:sp>
        <p:sp>
          <p:nvSpPr>
            <p:cNvPr id="24" name="node13.source-003.text"/>
            <p:cNvSpPr/>
            <p:nvPr/>
          </p:nvSpPr>
          <p:spPr>
            <a:xfrm>
              <a:off x="876300" y="4572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Design the target platform</a:t>
              </a:r>
              <a:endParaRPr lang="en-US" sz="1200" spc="0" kern="0" b="0" i="0" dirty="0">
                <a:solidFill>
                  <a:srgbClr val="070154"/>
                </a:solidFill>
                <a:latin typeface="IBM Plex Sans"/>
                <a:ea typeface="IBM Plex Sans"/>
                <a:cs typeface="IBM Plex Sans"/>
              </a:endParaRPr>
            </a:p>
          </p:txBody>
        </p:sp>
      </p:grpSp>
      <p:sp>
        <p:nvSpPr>
          <p:cNvPr id="25" name="node14"/>
          <p:cNvSpPr/>
          <p:nvPr/>
        </p:nvSpPr>
        <p:spPr>
          <a:xfrm>
            <a:off x="3467100" y="3162300"/>
            <a:ext cx="2514600" cy="12700"/>
          </a:xfrm>
          <a:prstGeom prst="rect">
            <a:avLst/>
          </a:prstGeom>
          <a:solidFill>
            <a:srgbClr val="CED7E6"/>
          </a:solidFill>
          <a:ln>
            <a:noFill/>
          </a:ln>
        </p:spPr>
      </p:sp>
      <p:grpSp>
        <p:nvGrpSpPr>
          <p:cNvPr id="74" name="node15"/>
          <p:cNvGrpSpPr/>
          <p:nvPr/>
        </p:nvGrpSpPr>
        <p:grpSpPr>
          <a:xfrm>
            <a:off x="3467100" y="3276600"/>
            <a:ext cx="2514600" cy="139700"/>
            <a:chOff x="3467100" y="3276600"/>
            <a:chExt cx="2514600" cy="139700"/>
          </a:xfrm>
        </p:grpSpPr>
        <p:sp>
          <p:nvSpPr>
            <p:cNvPr id="26" name="node15.text"/>
            <p:cNvSpPr/>
            <p:nvPr/>
          </p:nvSpPr>
          <p:spPr>
            <a:xfrm>
              <a:off x="3467100" y="3276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02 · MONTH 2</a:t>
              </a:r>
              <a:endParaRPr lang="en-US" sz="800" spc="48" kern="0" b="0" i="0" dirty="0">
                <a:solidFill>
                  <a:srgbClr val="0047FF"/>
                </a:solidFill>
                <a:latin typeface="IBM Plex Mono Medium"/>
                <a:ea typeface="IBM Plex Mono Medium"/>
                <a:cs typeface="IBM Plex Mono Medium"/>
              </a:endParaRPr>
            </a:p>
          </p:txBody>
        </p:sp>
      </p:grpSp>
      <p:grpSp>
        <p:nvGrpSpPr>
          <p:cNvPr id="75" name="node16"/>
          <p:cNvGrpSpPr/>
          <p:nvPr/>
        </p:nvGrpSpPr>
        <p:grpSpPr>
          <a:xfrm>
            <a:off x="3467100" y="3505200"/>
            <a:ext cx="2514600" cy="266700"/>
            <a:chOff x="3467100" y="3505200"/>
            <a:chExt cx="2514600" cy="266700"/>
          </a:xfrm>
        </p:grpSpPr>
        <p:sp>
          <p:nvSpPr>
            <p:cNvPr id="27" name="node16.text"/>
            <p:cNvSpPr/>
            <p:nvPr/>
          </p:nvSpPr>
          <p:spPr>
            <a:xfrm>
              <a:off x="3467100" y="35052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Build the core</a:t>
              </a:r>
              <a:endParaRPr lang="en-US" sz="1600" spc="-16" kern="0" b="0" i="0" dirty="0">
                <a:solidFill>
                  <a:srgbClr val="070154"/>
                </a:solidFill>
                <a:latin typeface="IBM Plex Sans SemiBold"/>
                <a:ea typeface="IBM Plex Sans SemiBold"/>
                <a:cs typeface="IBM Plex Sans SemiBold"/>
              </a:endParaRPr>
            </a:p>
          </p:txBody>
        </p:sp>
      </p:grpSp>
      <p:grpSp>
        <p:nvGrpSpPr>
          <p:cNvPr id="76" name="node17"/>
          <p:cNvGrpSpPr/>
          <p:nvPr/>
        </p:nvGrpSpPr>
        <p:grpSpPr>
          <a:xfrm>
            <a:off x="3467100" y="3848100"/>
            <a:ext cx="2514600" cy="939800"/>
            <a:chOff x="3467100" y="3848100"/>
            <a:chExt cx="2514600" cy="939800"/>
          </a:xfrm>
        </p:grpSpPr>
        <p:sp>
          <p:nvSpPr>
            <p:cNvPr id="28" name="node17.source-001.bullet"/>
            <p:cNvSpPr/>
            <p:nvPr/>
          </p:nvSpPr>
          <p:spPr>
            <a:xfrm>
              <a:off x="3467100" y="3937000"/>
              <a:ext cx="38100" cy="38100"/>
            </a:xfrm>
            <a:prstGeom prst="rect">
              <a:avLst/>
            </a:prstGeom>
            <a:solidFill>
              <a:srgbClr val="070154"/>
            </a:solidFill>
            <a:ln>
              <a:noFill/>
            </a:ln>
          </p:spPr>
        </p:sp>
        <p:sp>
          <p:nvSpPr>
            <p:cNvPr id="29" name="node17.source-001.text"/>
            <p:cNvSpPr/>
            <p:nvPr/>
          </p:nvSpPr>
          <p:spPr>
            <a:xfrm>
              <a:off x="3619500" y="38481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Build ingestion and the modeled core</a:t>
              </a:r>
              <a:endParaRPr lang="en-US" sz="1200" spc="0" kern="0" b="0" i="0" dirty="0">
                <a:solidFill>
                  <a:srgbClr val="070154"/>
                </a:solidFill>
                <a:latin typeface="IBM Plex Sans"/>
                <a:ea typeface="IBM Plex Sans"/>
                <a:cs typeface="IBM Plex Sans"/>
              </a:endParaRPr>
            </a:p>
          </p:txBody>
        </p:sp>
        <p:sp>
          <p:nvSpPr>
            <p:cNvPr id="30" name="node17.source-002.bullet"/>
            <p:cNvSpPr/>
            <p:nvPr/>
          </p:nvSpPr>
          <p:spPr>
            <a:xfrm>
              <a:off x="3467100" y="4406900"/>
              <a:ext cx="38100" cy="38100"/>
            </a:xfrm>
            <a:prstGeom prst="rect">
              <a:avLst/>
            </a:prstGeom>
            <a:solidFill>
              <a:srgbClr val="070154"/>
            </a:solidFill>
            <a:ln>
              <a:noFill/>
            </a:ln>
          </p:spPr>
        </p:sp>
        <p:sp>
          <p:nvSpPr>
            <p:cNvPr id="31" name="node17.source-002.text"/>
            <p:cNvSpPr/>
            <p:nvPr/>
          </p:nvSpPr>
          <p:spPr>
            <a:xfrm>
              <a:off x="3619500" y="4318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Write data quality tests</a:t>
              </a:r>
              <a:endParaRPr lang="en-US" sz="1200" spc="0" kern="0" b="0" i="0" dirty="0">
                <a:solidFill>
                  <a:srgbClr val="070154"/>
                </a:solidFill>
                <a:latin typeface="IBM Plex Sans"/>
                <a:ea typeface="IBM Plex Sans"/>
                <a:cs typeface="IBM Plex Sans"/>
              </a:endParaRPr>
            </a:p>
          </p:txBody>
        </p:sp>
        <p:sp>
          <p:nvSpPr>
            <p:cNvPr id="32" name="node17.source-003.bullet"/>
            <p:cNvSpPr/>
            <p:nvPr/>
          </p:nvSpPr>
          <p:spPr>
            <a:xfrm>
              <a:off x="3467100" y="4660900"/>
              <a:ext cx="38100" cy="38100"/>
            </a:xfrm>
            <a:prstGeom prst="rect">
              <a:avLst/>
            </a:prstGeom>
            <a:solidFill>
              <a:srgbClr val="070154"/>
            </a:solidFill>
            <a:ln>
              <a:noFill/>
            </a:ln>
          </p:spPr>
        </p:sp>
        <p:sp>
          <p:nvSpPr>
            <p:cNvPr id="33" name="node17.source-003.text"/>
            <p:cNvSpPr/>
            <p:nvPr/>
          </p:nvSpPr>
          <p:spPr>
            <a:xfrm>
              <a:off x="3619500" y="45720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Pair with Northfield engineers</a:t>
              </a:r>
              <a:endParaRPr lang="en-US" sz="1200" spc="0" kern="0" b="0" i="0" dirty="0">
                <a:solidFill>
                  <a:srgbClr val="070154"/>
                </a:solidFill>
                <a:latin typeface="IBM Plex Sans"/>
                <a:ea typeface="IBM Plex Sans"/>
                <a:cs typeface="IBM Plex Sans"/>
              </a:endParaRPr>
            </a:p>
          </p:txBody>
        </p:sp>
      </p:grpSp>
      <p:sp>
        <p:nvSpPr>
          <p:cNvPr id="34" name="node18"/>
          <p:cNvSpPr/>
          <p:nvPr/>
        </p:nvSpPr>
        <p:spPr>
          <a:xfrm>
            <a:off x="6210300" y="3162300"/>
            <a:ext cx="2514600" cy="12700"/>
          </a:xfrm>
          <a:prstGeom prst="rect">
            <a:avLst/>
          </a:prstGeom>
          <a:solidFill>
            <a:srgbClr val="CED7E6"/>
          </a:solidFill>
          <a:ln>
            <a:noFill/>
          </a:ln>
        </p:spPr>
      </p:sp>
      <p:grpSp>
        <p:nvGrpSpPr>
          <p:cNvPr id="77" name="node19"/>
          <p:cNvGrpSpPr/>
          <p:nvPr/>
        </p:nvGrpSpPr>
        <p:grpSpPr>
          <a:xfrm>
            <a:off x="6210300" y="3276600"/>
            <a:ext cx="2514600" cy="139700"/>
            <a:chOff x="6210300" y="3276600"/>
            <a:chExt cx="2514600" cy="139700"/>
          </a:xfrm>
        </p:grpSpPr>
        <p:sp>
          <p:nvSpPr>
            <p:cNvPr id="35" name="node19.text"/>
            <p:cNvSpPr/>
            <p:nvPr/>
          </p:nvSpPr>
          <p:spPr>
            <a:xfrm>
              <a:off x="6210300" y="3276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03 · MONTH 3</a:t>
              </a:r>
              <a:endParaRPr lang="en-US" sz="800" spc="48" kern="0" b="0" i="0" dirty="0">
                <a:solidFill>
                  <a:srgbClr val="0047FF"/>
                </a:solidFill>
                <a:latin typeface="IBM Plex Mono Medium"/>
                <a:ea typeface="IBM Plex Mono Medium"/>
                <a:cs typeface="IBM Plex Mono Medium"/>
              </a:endParaRPr>
            </a:p>
          </p:txBody>
        </p:sp>
      </p:grpSp>
      <p:grpSp>
        <p:nvGrpSpPr>
          <p:cNvPr id="78" name="node20"/>
          <p:cNvGrpSpPr/>
          <p:nvPr/>
        </p:nvGrpSpPr>
        <p:grpSpPr>
          <a:xfrm>
            <a:off x="6210300" y="3505200"/>
            <a:ext cx="2514600" cy="266700"/>
            <a:chOff x="6210300" y="3505200"/>
            <a:chExt cx="2514600" cy="266700"/>
          </a:xfrm>
        </p:grpSpPr>
        <p:sp>
          <p:nvSpPr>
            <p:cNvPr id="36" name="node20.text"/>
            <p:cNvSpPr/>
            <p:nvPr/>
          </p:nvSpPr>
          <p:spPr>
            <a:xfrm>
              <a:off x="6210300" y="35052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Prove with reports</a:t>
              </a:r>
              <a:endParaRPr lang="en-US" sz="1600" spc="-16" kern="0" b="0" i="0" dirty="0">
                <a:solidFill>
                  <a:srgbClr val="070154"/>
                </a:solidFill>
                <a:latin typeface="IBM Plex Sans SemiBold"/>
                <a:ea typeface="IBM Plex Sans SemiBold"/>
                <a:cs typeface="IBM Plex Sans SemiBold"/>
              </a:endParaRPr>
            </a:p>
          </p:txBody>
        </p:sp>
      </p:grpSp>
      <p:grpSp>
        <p:nvGrpSpPr>
          <p:cNvPr id="79" name="node21"/>
          <p:cNvGrpSpPr/>
          <p:nvPr/>
        </p:nvGrpSpPr>
        <p:grpSpPr>
          <a:xfrm>
            <a:off x="6210300" y="3848100"/>
            <a:ext cx="2514600" cy="723900"/>
            <a:chOff x="6210300" y="3848100"/>
            <a:chExt cx="2514600" cy="723900"/>
          </a:xfrm>
        </p:grpSpPr>
        <p:sp>
          <p:nvSpPr>
            <p:cNvPr id="37" name="node21.source-001.bullet"/>
            <p:cNvSpPr/>
            <p:nvPr/>
          </p:nvSpPr>
          <p:spPr>
            <a:xfrm>
              <a:off x="6210300" y="3937000"/>
              <a:ext cx="38100" cy="38100"/>
            </a:xfrm>
            <a:prstGeom prst="rect">
              <a:avLst/>
            </a:prstGeom>
            <a:solidFill>
              <a:srgbClr val="070154"/>
            </a:solidFill>
            <a:ln>
              <a:noFill/>
            </a:ln>
          </p:spPr>
        </p:sp>
        <p:sp>
          <p:nvSpPr>
            <p:cNvPr id="38" name="node21.source-001.text"/>
            <p:cNvSpPr/>
            <p:nvPr/>
          </p:nvSpPr>
          <p:spPr>
            <a:xfrm>
              <a:off x="6362700" y="3848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Deliver two priority reports</a:t>
              </a:r>
              <a:endParaRPr lang="en-US" sz="1200" spc="0" kern="0" b="0" i="0" dirty="0">
                <a:solidFill>
                  <a:srgbClr val="070154"/>
                </a:solidFill>
                <a:latin typeface="IBM Plex Sans"/>
                <a:ea typeface="IBM Plex Sans"/>
                <a:cs typeface="IBM Plex Sans"/>
              </a:endParaRPr>
            </a:p>
          </p:txBody>
        </p:sp>
        <p:sp>
          <p:nvSpPr>
            <p:cNvPr id="39" name="node21.source-002.bullet"/>
            <p:cNvSpPr/>
            <p:nvPr/>
          </p:nvSpPr>
          <p:spPr>
            <a:xfrm>
              <a:off x="6210300" y="4191000"/>
              <a:ext cx="38100" cy="38100"/>
            </a:xfrm>
            <a:prstGeom prst="rect">
              <a:avLst/>
            </a:prstGeom>
            <a:solidFill>
              <a:srgbClr val="070154"/>
            </a:solidFill>
            <a:ln>
              <a:noFill/>
            </a:ln>
          </p:spPr>
        </p:sp>
        <p:sp>
          <p:nvSpPr>
            <p:cNvPr id="40" name="node21.source-002.text"/>
            <p:cNvSpPr/>
            <p:nvPr/>
          </p:nvSpPr>
          <p:spPr>
            <a:xfrm>
              <a:off x="6362700" y="4102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Validate numbers with Finance</a:t>
              </a:r>
              <a:endParaRPr lang="en-US" sz="1200" spc="0" kern="0" b="0" i="0" dirty="0">
                <a:solidFill>
                  <a:srgbClr val="070154"/>
                </a:solidFill>
                <a:latin typeface="IBM Plex Sans"/>
                <a:ea typeface="IBM Plex Sans"/>
                <a:cs typeface="IBM Plex Sans"/>
              </a:endParaRPr>
            </a:p>
          </p:txBody>
        </p:sp>
        <p:sp>
          <p:nvSpPr>
            <p:cNvPr id="41" name="node21.source-003.bullet"/>
            <p:cNvSpPr/>
            <p:nvPr/>
          </p:nvSpPr>
          <p:spPr>
            <a:xfrm>
              <a:off x="6210300" y="4445000"/>
              <a:ext cx="38100" cy="38100"/>
            </a:xfrm>
            <a:prstGeom prst="rect">
              <a:avLst/>
            </a:prstGeom>
            <a:solidFill>
              <a:srgbClr val="070154"/>
            </a:solidFill>
            <a:ln>
              <a:noFill/>
            </a:ln>
          </p:spPr>
        </p:sp>
        <p:sp>
          <p:nvSpPr>
            <p:cNvPr id="42" name="node21.source-003.text"/>
            <p:cNvSpPr/>
            <p:nvPr/>
          </p:nvSpPr>
          <p:spPr>
            <a:xfrm>
              <a:off x="6362700" y="4356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Stand up catalog and ownership</a:t>
              </a:r>
              <a:endParaRPr lang="en-US" sz="1200" spc="0" kern="0" b="0" i="0" dirty="0">
                <a:solidFill>
                  <a:srgbClr val="070154"/>
                </a:solidFill>
                <a:latin typeface="IBM Plex Sans"/>
                <a:ea typeface="IBM Plex Sans"/>
                <a:cs typeface="IBM Plex Sans"/>
              </a:endParaRPr>
            </a:p>
          </p:txBody>
        </p:sp>
      </p:grpSp>
      <p:sp>
        <p:nvSpPr>
          <p:cNvPr id="43" name="node22"/>
          <p:cNvSpPr/>
          <p:nvPr/>
        </p:nvSpPr>
        <p:spPr>
          <a:xfrm>
            <a:off x="8953500" y="3162300"/>
            <a:ext cx="2514600" cy="12700"/>
          </a:xfrm>
          <a:prstGeom prst="rect">
            <a:avLst/>
          </a:prstGeom>
          <a:solidFill>
            <a:srgbClr val="CED7E6"/>
          </a:solidFill>
          <a:ln>
            <a:noFill/>
          </a:ln>
        </p:spPr>
      </p:sp>
      <p:grpSp>
        <p:nvGrpSpPr>
          <p:cNvPr id="80" name="node23"/>
          <p:cNvGrpSpPr/>
          <p:nvPr/>
        </p:nvGrpSpPr>
        <p:grpSpPr>
          <a:xfrm>
            <a:off x="8953500" y="3276600"/>
            <a:ext cx="2514600" cy="139700"/>
            <a:chOff x="8953500" y="3276600"/>
            <a:chExt cx="2514600" cy="139700"/>
          </a:xfrm>
        </p:grpSpPr>
        <p:sp>
          <p:nvSpPr>
            <p:cNvPr id="44" name="node23.text"/>
            <p:cNvSpPr/>
            <p:nvPr/>
          </p:nvSpPr>
          <p:spPr>
            <a:xfrm>
              <a:off x="8953500" y="3276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04 · MONTH 4</a:t>
              </a:r>
              <a:endParaRPr lang="en-US" sz="800" spc="48" kern="0" b="0" i="0" dirty="0">
                <a:solidFill>
                  <a:srgbClr val="0047FF"/>
                </a:solidFill>
                <a:latin typeface="IBM Plex Mono Medium"/>
                <a:ea typeface="IBM Plex Mono Medium"/>
                <a:cs typeface="IBM Plex Mono Medium"/>
              </a:endParaRPr>
            </a:p>
          </p:txBody>
        </p:sp>
      </p:grpSp>
      <p:grpSp>
        <p:nvGrpSpPr>
          <p:cNvPr id="81" name="node24"/>
          <p:cNvGrpSpPr/>
          <p:nvPr/>
        </p:nvGrpSpPr>
        <p:grpSpPr>
          <a:xfrm>
            <a:off x="8953500" y="3505200"/>
            <a:ext cx="2514600" cy="266700"/>
            <a:chOff x="8953500" y="3505200"/>
            <a:chExt cx="2514600" cy="266700"/>
          </a:xfrm>
        </p:grpSpPr>
        <p:sp>
          <p:nvSpPr>
            <p:cNvPr id="45" name="node24.text"/>
            <p:cNvSpPr/>
            <p:nvPr/>
          </p:nvSpPr>
          <p:spPr>
            <a:xfrm>
              <a:off x="8953500" y="35052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Hand over</a:t>
              </a:r>
              <a:endParaRPr lang="en-US" sz="1600" spc="-16" kern="0" b="0" i="0" dirty="0">
                <a:solidFill>
                  <a:srgbClr val="070154"/>
                </a:solidFill>
                <a:latin typeface="IBM Plex Sans SemiBold"/>
                <a:ea typeface="IBM Plex Sans SemiBold"/>
                <a:cs typeface="IBM Plex Sans SemiBold"/>
              </a:endParaRPr>
            </a:p>
          </p:txBody>
        </p:sp>
      </p:grpSp>
      <p:grpSp>
        <p:nvGrpSpPr>
          <p:cNvPr id="82" name="node25"/>
          <p:cNvGrpSpPr/>
          <p:nvPr/>
        </p:nvGrpSpPr>
        <p:grpSpPr>
          <a:xfrm>
            <a:off x="8953500" y="3848100"/>
            <a:ext cx="2514600" cy="723900"/>
            <a:chOff x="8953500" y="3848100"/>
            <a:chExt cx="2514600" cy="723900"/>
          </a:xfrm>
        </p:grpSpPr>
        <p:sp>
          <p:nvSpPr>
            <p:cNvPr id="46" name="node25.source-001.bullet"/>
            <p:cNvSpPr/>
            <p:nvPr/>
          </p:nvSpPr>
          <p:spPr>
            <a:xfrm>
              <a:off x="8953500" y="3937000"/>
              <a:ext cx="38100" cy="38100"/>
            </a:xfrm>
            <a:prstGeom prst="rect">
              <a:avLst/>
            </a:prstGeom>
            <a:solidFill>
              <a:srgbClr val="070154"/>
            </a:solidFill>
            <a:ln>
              <a:noFill/>
            </a:ln>
          </p:spPr>
        </p:sp>
        <p:sp>
          <p:nvSpPr>
            <p:cNvPr id="47" name="node25.source-001.text"/>
            <p:cNvSpPr/>
            <p:nvPr/>
          </p:nvSpPr>
          <p:spPr>
            <a:xfrm>
              <a:off x="9105900" y="3848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 book and on-call guide</a:t>
              </a:r>
              <a:endParaRPr lang="en-US" sz="1200" spc="0" kern="0" b="0" i="0" dirty="0">
                <a:solidFill>
                  <a:srgbClr val="070154"/>
                </a:solidFill>
                <a:latin typeface="IBM Plex Sans"/>
                <a:ea typeface="IBM Plex Sans"/>
                <a:cs typeface="IBM Plex Sans"/>
              </a:endParaRPr>
            </a:p>
          </p:txBody>
        </p:sp>
        <p:sp>
          <p:nvSpPr>
            <p:cNvPr id="48" name="node25.source-002.bullet"/>
            <p:cNvSpPr/>
            <p:nvPr/>
          </p:nvSpPr>
          <p:spPr>
            <a:xfrm>
              <a:off x="8953500" y="4191000"/>
              <a:ext cx="38100" cy="38100"/>
            </a:xfrm>
            <a:prstGeom prst="rect">
              <a:avLst/>
            </a:prstGeom>
            <a:solidFill>
              <a:srgbClr val="070154"/>
            </a:solidFill>
            <a:ln>
              <a:noFill/>
            </a:ln>
          </p:spPr>
        </p:sp>
        <p:sp>
          <p:nvSpPr>
            <p:cNvPr id="49" name="node25.source-002.text"/>
            <p:cNvSpPr/>
            <p:nvPr/>
          </p:nvSpPr>
          <p:spPr>
            <a:xfrm>
              <a:off x="9105900" y="4102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Train owners and report builders</a:t>
              </a:r>
              <a:endParaRPr lang="en-US" sz="1200" spc="0" kern="0" b="0" i="0" dirty="0">
                <a:solidFill>
                  <a:srgbClr val="070154"/>
                </a:solidFill>
                <a:latin typeface="IBM Plex Sans"/>
                <a:ea typeface="IBM Plex Sans"/>
                <a:cs typeface="IBM Plex Sans"/>
              </a:endParaRPr>
            </a:p>
          </p:txBody>
        </p:sp>
        <p:sp>
          <p:nvSpPr>
            <p:cNvPr id="50" name="node25.source-003.bullet"/>
            <p:cNvSpPr/>
            <p:nvPr/>
          </p:nvSpPr>
          <p:spPr>
            <a:xfrm>
              <a:off x="8953500" y="4445000"/>
              <a:ext cx="38100" cy="38100"/>
            </a:xfrm>
            <a:prstGeom prst="rect">
              <a:avLst/>
            </a:prstGeom>
            <a:solidFill>
              <a:srgbClr val="070154"/>
            </a:solidFill>
            <a:ln>
              <a:noFill/>
            </a:ln>
          </p:spPr>
        </p:sp>
        <p:sp>
          <p:nvSpPr>
            <p:cNvPr id="51" name="node25.source-003.text"/>
            <p:cNvSpPr/>
            <p:nvPr/>
          </p:nvSpPr>
          <p:spPr>
            <a:xfrm>
              <a:off x="9105900" y="4356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Backlog for the next six months</a:t>
              </a:r>
              <a:endParaRPr lang="en-US" sz="1200" spc="0" kern="0" b="0" i="0" dirty="0">
                <a:solidFill>
                  <a:srgbClr val="070154"/>
                </a:solidFill>
                <a:latin typeface="IBM Plex Sans"/>
                <a:ea typeface="IBM Plex Sans"/>
                <a:cs typeface="IBM Plex Sans"/>
              </a:endParaRPr>
            </a:p>
          </p:txBody>
        </p:sp>
      </p:grpSp>
      <p:grpSp>
        <p:nvGrpSpPr>
          <p:cNvPr id="83" name="node26"/>
          <p:cNvGrpSpPr/>
          <p:nvPr/>
        </p:nvGrpSpPr>
        <p:grpSpPr>
          <a:xfrm>
            <a:off x="723900" y="5029200"/>
            <a:ext cx="10744200" cy="685800"/>
            <a:chOff x="723900" y="5029200"/>
            <a:chExt cx="10744200" cy="685800"/>
          </a:xfrm>
        </p:grpSpPr>
        <p:sp>
          <p:nvSpPr>
            <p:cNvPr id="52" name="node26.surface"/>
            <p:cNvSpPr/>
            <p:nvPr/>
          </p:nvSpPr>
          <p:spPr>
            <a:xfrm>
              <a:off x="723900" y="5029200"/>
              <a:ext cx="10744200" cy="685800"/>
            </a:xfrm>
            <a:prstGeom prst="rect">
              <a:avLst/>
            </a:prstGeom>
            <a:solidFill>
              <a:srgbClr val="E8EEF8"/>
            </a:solidFill>
            <a:ln>
              <a:noFill/>
            </a:ln>
          </p:spPr>
        </p:sp>
      </p:grpSp>
      <p:grpSp>
        <p:nvGrpSpPr>
          <p:cNvPr id="84" name="node27"/>
          <p:cNvGrpSpPr/>
          <p:nvPr/>
        </p:nvGrpSpPr>
        <p:grpSpPr>
          <a:xfrm>
            <a:off x="876300" y="5245100"/>
            <a:ext cx="762000" cy="139700"/>
            <a:chOff x="876300" y="5245100"/>
            <a:chExt cx="762000" cy="139700"/>
          </a:xfrm>
        </p:grpSpPr>
        <p:sp>
          <p:nvSpPr>
            <p:cNvPr id="53" name="node27.text"/>
            <p:cNvSpPr/>
            <p:nvPr/>
          </p:nvSpPr>
          <p:spPr>
            <a:xfrm>
              <a:off x="876300" y="5245100"/>
              <a:ext cx="762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TEAM</a:t>
              </a:r>
              <a:endParaRPr lang="en-US" sz="800" spc="48" kern="0" b="0" i="0" dirty="0">
                <a:solidFill>
                  <a:srgbClr val="0047FF"/>
                </a:solidFill>
                <a:latin typeface="IBM Plex Mono Medium"/>
                <a:ea typeface="IBM Plex Mono Medium"/>
                <a:cs typeface="IBM Plex Mono Medium"/>
              </a:endParaRPr>
            </a:p>
          </p:txBody>
        </p:sp>
      </p:grpSp>
      <p:grpSp>
        <p:nvGrpSpPr>
          <p:cNvPr id="85" name="node28"/>
          <p:cNvGrpSpPr/>
          <p:nvPr/>
        </p:nvGrpSpPr>
        <p:grpSpPr>
          <a:xfrm>
            <a:off x="1638300" y="5105400"/>
            <a:ext cx="2362200" cy="190500"/>
            <a:chOff x="1638300" y="5105400"/>
            <a:chExt cx="2362200" cy="190500"/>
          </a:xfrm>
        </p:grpSpPr>
        <p:sp>
          <p:nvSpPr>
            <p:cNvPr id="54" name="node28.text"/>
            <p:cNvSpPr/>
            <p:nvPr/>
          </p:nvSpPr>
          <p:spPr>
            <a:xfrm>
              <a:off x="1638300" y="51054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Engagement lead · 25%</a:t>
              </a:r>
              <a:endParaRPr lang="en-US" sz="1100" spc="0" kern="0" b="0" i="0" dirty="0">
                <a:solidFill>
                  <a:srgbClr val="070154"/>
                </a:solidFill>
                <a:latin typeface="IBM Plex Sans"/>
                <a:ea typeface="IBM Plex Sans"/>
                <a:cs typeface="IBM Plex Sans"/>
              </a:endParaRPr>
            </a:p>
          </p:txBody>
        </p:sp>
      </p:grpSp>
      <p:grpSp>
        <p:nvGrpSpPr>
          <p:cNvPr id="86" name="node29"/>
          <p:cNvGrpSpPr/>
          <p:nvPr/>
        </p:nvGrpSpPr>
        <p:grpSpPr>
          <a:xfrm>
            <a:off x="1638300" y="5334000"/>
            <a:ext cx="2362200" cy="190500"/>
            <a:chOff x="1638300" y="5334000"/>
            <a:chExt cx="2362200" cy="190500"/>
          </a:xfrm>
        </p:grpSpPr>
        <p:sp>
          <p:nvSpPr>
            <p:cNvPr id="55" name="node29.text"/>
            <p:cNvSpPr/>
            <p:nvPr/>
          </p:nvSpPr>
          <p:spPr>
            <a:xfrm>
              <a:off x="1638300" y="53340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Steering, quality</a:t>
              </a:r>
              <a:endParaRPr lang="en-US" sz="1100" spc="0" kern="0" b="0" i="0" dirty="0">
                <a:solidFill>
                  <a:srgbClr val="50658E"/>
                </a:solidFill>
                <a:latin typeface="IBM Plex Sans"/>
                <a:ea typeface="IBM Plex Sans"/>
                <a:cs typeface="IBM Plex Sans"/>
              </a:endParaRPr>
            </a:p>
          </p:txBody>
        </p:sp>
      </p:grpSp>
      <p:grpSp>
        <p:nvGrpSpPr>
          <p:cNvPr id="87" name="node30"/>
          <p:cNvGrpSpPr/>
          <p:nvPr/>
        </p:nvGrpSpPr>
        <p:grpSpPr>
          <a:xfrm>
            <a:off x="4076700" y="5105400"/>
            <a:ext cx="2362200" cy="190500"/>
            <a:chOff x="4076700" y="5105400"/>
            <a:chExt cx="2362200" cy="190500"/>
          </a:xfrm>
        </p:grpSpPr>
        <p:sp>
          <p:nvSpPr>
            <p:cNvPr id="56" name="node30.text"/>
            <p:cNvSpPr/>
            <p:nvPr/>
          </p:nvSpPr>
          <p:spPr>
            <a:xfrm>
              <a:off x="4076700" y="51054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Data architect · 100%</a:t>
              </a:r>
              <a:endParaRPr lang="en-US" sz="1100" spc="0" kern="0" b="0" i="0" dirty="0">
                <a:solidFill>
                  <a:srgbClr val="070154"/>
                </a:solidFill>
                <a:latin typeface="IBM Plex Sans"/>
                <a:ea typeface="IBM Plex Sans"/>
                <a:cs typeface="IBM Plex Sans"/>
              </a:endParaRPr>
            </a:p>
          </p:txBody>
        </p:sp>
      </p:grpSp>
      <p:grpSp>
        <p:nvGrpSpPr>
          <p:cNvPr id="88" name="node31"/>
          <p:cNvGrpSpPr/>
          <p:nvPr/>
        </p:nvGrpSpPr>
        <p:grpSpPr>
          <a:xfrm>
            <a:off x="4076700" y="5334000"/>
            <a:ext cx="2362200" cy="190500"/>
            <a:chOff x="4076700" y="5334000"/>
            <a:chExt cx="2362200" cy="190500"/>
          </a:xfrm>
        </p:grpSpPr>
        <p:sp>
          <p:nvSpPr>
            <p:cNvPr id="57" name="node31.text"/>
            <p:cNvSpPr/>
            <p:nvPr/>
          </p:nvSpPr>
          <p:spPr>
            <a:xfrm>
              <a:off x="4076700" y="53340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Platform design</a:t>
              </a:r>
              <a:endParaRPr lang="en-US" sz="1100" spc="0" kern="0" b="0" i="0" dirty="0">
                <a:solidFill>
                  <a:srgbClr val="50658E"/>
                </a:solidFill>
                <a:latin typeface="IBM Plex Sans"/>
                <a:ea typeface="IBM Plex Sans"/>
                <a:cs typeface="IBM Plex Sans"/>
              </a:endParaRPr>
            </a:p>
          </p:txBody>
        </p:sp>
      </p:grpSp>
      <p:grpSp>
        <p:nvGrpSpPr>
          <p:cNvPr id="89" name="node32"/>
          <p:cNvGrpSpPr/>
          <p:nvPr/>
        </p:nvGrpSpPr>
        <p:grpSpPr>
          <a:xfrm>
            <a:off x="6515100" y="5105400"/>
            <a:ext cx="2362200" cy="190500"/>
            <a:chOff x="6515100" y="5105400"/>
            <a:chExt cx="2362200" cy="190500"/>
          </a:xfrm>
        </p:grpSpPr>
        <p:sp>
          <p:nvSpPr>
            <p:cNvPr id="58" name="node32.text"/>
            <p:cNvSpPr/>
            <p:nvPr/>
          </p:nvSpPr>
          <p:spPr>
            <a:xfrm>
              <a:off x="6515100" y="51054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Data engineers · 100%</a:t>
              </a:r>
              <a:endParaRPr lang="en-US" sz="1100" spc="0" kern="0" b="0" i="0" dirty="0">
                <a:solidFill>
                  <a:srgbClr val="070154"/>
                </a:solidFill>
                <a:latin typeface="IBM Plex Sans"/>
                <a:ea typeface="IBM Plex Sans"/>
                <a:cs typeface="IBM Plex Sans"/>
              </a:endParaRPr>
            </a:p>
          </p:txBody>
        </p:sp>
      </p:grpSp>
      <p:grpSp>
        <p:nvGrpSpPr>
          <p:cNvPr id="90" name="node33"/>
          <p:cNvGrpSpPr/>
          <p:nvPr/>
        </p:nvGrpSpPr>
        <p:grpSpPr>
          <a:xfrm>
            <a:off x="6515100" y="5334000"/>
            <a:ext cx="2362200" cy="190500"/>
            <a:chOff x="6515100" y="5334000"/>
            <a:chExt cx="2362200" cy="190500"/>
          </a:xfrm>
        </p:grpSpPr>
        <p:sp>
          <p:nvSpPr>
            <p:cNvPr id="59" name="node33.text"/>
            <p:cNvSpPr/>
            <p:nvPr/>
          </p:nvSpPr>
          <p:spPr>
            <a:xfrm>
              <a:off x="6515100" y="53340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Pipelines, tests</a:t>
              </a:r>
              <a:endParaRPr lang="en-US" sz="1100" spc="0" kern="0" b="0" i="0" dirty="0">
                <a:solidFill>
                  <a:srgbClr val="50658E"/>
                </a:solidFill>
                <a:latin typeface="IBM Plex Sans"/>
                <a:ea typeface="IBM Plex Sans"/>
                <a:cs typeface="IBM Plex Sans"/>
              </a:endParaRPr>
            </a:p>
          </p:txBody>
        </p:sp>
      </p:grpSp>
      <p:grpSp>
        <p:nvGrpSpPr>
          <p:cNvPr id="91" name="node34"/>
          <p:cNvGrpSpPr/>
          <p:nvPr/>
        </p:nvGrpSpPr>
        <p:grpSpPr>
          <a:xfrm>
            <a:off x="8953500" y="5105400"/>
            <a:ext cx="2362200" cy="190500"/>
            <a:chOff x="8953500" y="5105400"/>
            <a:chExt cx="2362200" cy="190500"/>
          </a:xfrm>
        </p:grpSpPr>
        <p:sp>
          <p:nvSpPr>
            <p:cNvPr id="60" name="node34.text"/>
            <p:cNvSpPr/>
            <p:nvPr/>
          </p:nvSpPr>
          <p:spPr>
            <a:xfrm>
              <a:off x="8953500" y="51054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Governance analyst · 50%</a:t>
              </a:r>
              <a:endParaRPr lang="en-US" sz="1100" spc="0" kern="0" b="0" i="0" dirty="0">
                <a:solidFill>
                  <a:srgbClr val="070154"/>
                </a:solidFill>
                <a:latin typeface="IBM Plex Sans"/>
                <a:ea typeface="IBM Plex Sans"/>
                <a:cs typeface="IBM Plex Sans"/>
              </a:endParaRPr>
            </a:p>
          </p:txBody>
        </p:sp>
      </p:grpSp>
      <p:grpSp>
        <p:nvGrpSpPr>
          <p:cNvPr id="92" name="node35"/>
          <p:cNvGrpSpPr/>
          <p:nvPr/>
        </p:nvGrpSpPr>
        <p:grpSpPr>
          <a:xfrm>
            <a:off x="8953500" y="5334000"/>
            <a:ext cx="2362200" cy="190500"/>
            <a:chOff x="8953500" y="5334000"/>
            <a:chExt cx="2362200" cy="190500"/>
          </a:xfrm>
        </p:grpSpPr>
        <p:sp>
          <p:nvSpPr>
            <p:cNvPr id="61" name="node35.text"/>
            <p:cNvSpPr/>
            <p:nvPr/>
          </p:nvSpPr>
          <p:spPr>
            <a:xfrm>
              <a:off x="8953500" y="53340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Standards, catalog</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ource-33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OFFERINGS</a:t>
            </a:r>
            <a:endParaRPr lang="en-US" sz="1000" spc="80" kern="0" b="0" i="0" dirty="0">
              <a:solidFill>
                <a:srgbClr val="F900D3"/>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Managed cloud: one team, one monthly run-rate</a:t>
            </a:r>
            <a:endParaRPr lang="en-US" sz="3200" spc="-64" kern="0" b="0" i="0" dirty="0">
              <a:solidFill>
                <a:srgbClr val="FFFFFF"/>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CED7E6"/>
                </a:solidFill>
                <a:latin typeface="IBM Plex Sans"/>
                <a:ea typeface="IBM Plex Sans"/>
                <a:cs typeface="IBM Plex Sans"/>
              </a:rPr>
              <a:t>Source: Sample figures for layout only; replace with current firm data before use.</a:t>
            </a:r>
            <a:endParaRPr lang="en-US" sz="900" spc="0" kern="0" b="0" i="0" dirty="0">
              <a:solidFill>
                <a:srgbClr val="CED7E6"/>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214</a:t>
            </a:fld>
            <a:endParaRPr lang="en-US" sz="700" spc="0" kern="0" b="0" i="0" dirty="0">
              <a:solidFill>
                <a:srgbClr val="FFFFFF"/>
              </a:solidFill>
              <a:latin typeface="IBM Plex Mono SemiBold"/>
              <a:ea typeface="IBM Plex Mono SemiBold"/>
              <a:cs typeface="IBM Plex Mono SemiBold"/>
            </a:endParaRPr>
          </a:p>
        </p:txBody>
      </p:sp>
      <p:grpSp>
        <p:nvGrpSpPr>
          <p:cNvPr id="62" name="node01"/>
          <p:cNvGrpSpPr/>
          <p:nvPr/>
        </p:nvGrpSpPr>
        <p:grpSpPr>
          <a:xfrm>
            <a:off x="723900" y="1600200"/>
            <a:ext cx="6934200" cy="139700"/>
            <a:chOff x="723900" y="1600200"/>
            <a:chExt cx="6934200" cy="139700"/>
          </a:xfrm>
        </p:grpSpPr>
        <p:sp>
          <p:nvSpPr>
            <p:cNvPr id="7" name="node01.text"/>
            <p:cNvSpPr/>
            <p:nvPr/>
          </p:nvSpPr>
          <p:spPr>
            <a:xfrm>
              <a:off x="723900" y="1600200"/>
              <a:ext cx="693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1 · WHAT WE WILL DO</a:t>
              </a:r>
              <a:endParaRPr lang="en-US" sz="800" spc="48" kern="0" b="0" i="0" dirty="0">
                <a:solidFill>
                  <a:srgbClr val="CED7E6"/>
                </a:solidFill>
                <a:latin typeface="IBM Plex Mono Medium"/>
                <a:ea typeface="IBM Plex Mono Medium"/>
                <a:cs typeface="IBM Plex Mono Medium"/>
              </a:endParaRPr>
            </a:p>
          </p:txBody>
        </p:sp>
      </p:grpSp>
      <p:grpSp>
        <p:nvGrpSpPr>
          <p:cNvPr id="63" name="node02"/>
          <p:cNvGrpSpPr/>
          <p:nvPr/>
        </p:nvGrpSpPr>
        <p:grpSpPr>
          <a:xfrm>
            <a:off x="723900" y="1828800"/>
            <a:ext cx="6934200" cy="431800"/>
            <a:chOff x="723900" y="1828800"/>
            <a:chExt cx="6934200" cy="431800"/>
          </a:xfrm>
        </p:grpSpPr>
        <p:sp>
          <p:nvSpPr>
            <p:cNvPr id="8" name="node02.text"/>
            <p:cNvSpPr/>
            <p:nvPr/>
          </p:nvSpPr>
          <p:spPr>
            <a:xfrm>
              <a:off x="723900" y="1828800"/>
              <a:ext cx="693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Run the Northfield cloud estate for you: patching, security posture, cost and a monthly roadmap session, delivered by one named team on one monthly run-rate.</a:t>
              </a:r>
              <a:endParaRPr lang="en-US" sz="1200" spc="0" kern="0" b="0" i="0" dirty="0">
                <a:solidFill>
                  <a:srgbClr val="FFFFFF"/>
                </a:solidFill>
                <a:latin typeface="IBM Plex Sans"/>
                <a:ea typeface="IBM Plex Sans"/>
                <a:cs typeface="IBM Plex Sans"/>
              </a:endParaRPr>
            </a:p>
          </p:txBody>
        </p:sp>
      </p:grpSp>
      <p:grpSp>
        <p:nvGrpSpPr>
          <p:cNvPr id="64" name="node03"/>
          <p:cNvGrpSpPr/>
          <p:nvPr/>
        </p:nvGrpSpPr>
        <p:grpSpPr>
          <a:xfrm>
            <a:off x="723900" y="2476500"/>
            <a:ext cx="6934200" cy="190500"/>
            <a:chOff x="723900" y="2476500"/>
            <a:chExt cx="6934200" cy="190500"/>
          </a:xfrm>
        </p:grpSpPr>
        <p:sp>
          <p:nvSpPr>
            <p:cNvPr id="9" name="node03.text"/>
            <p:cNvSpPr/>
            <p:nvPr/>
          </p:nvSpPr>
          <p:spPr>
            <a:xfrm>
              <a:off x="723900" y="2476500"/>
              <a:ext cx="693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Up to 40 cloud accounts; three-month minimum, then 30 days' notice.</a:t>
              </a:r>
              <a:endParaRPr lang="en-US" sz="1100" spc="0" kern="0" b="0" i="0" dirty="0">
                <a:solidFill>
                  <a:srgbClr val="CED7E6"/>
                </a:solidFill>
                <a:latin typeface="IBM Plex Sans"/>
                <a:ea typeface="IBM Plex Sans"/>
                <a:cs typeface="IBM Plex Sans"/>
              </a:endParaRPr>
            </a:p>
          </p:txBody>
        </p:sp>
      </p:grpSp>
      <p:grpSp>
        <p:nvGrpSpPr>
          <p:cNvPr id="65" name="node04"/>
          <p:cNvGrpSpPr/>
          <p:nvPr/>
        </p:nvGrpSpPr>
        <p:grpSpPr>
          <a:xfrm>
            <a:off x="8039100" y="1600200"/>
            <a:ext cx="3429000" cy="1143000"/>
            <a:chOff x="8039100" y="1600200"/>
            <a:chExt cx="3429000" cy="1143000"/>
          </a:xfrm>
        </p:grpSpPr>
        <p:sp>
          <p:nvSpPr>
            <p:cNvPr id="10" name="node04.surface"/>
            <p:cNvSpPr/>
            <p:nvPr/>
          </p:nvSpPr>
          <p:spPr>
            <a:xfrm>
              <a:off x="8039100" y="1600200"/>
              <a:ext cx="3429000" cy="1143000"/>
            </a:xfrm>
            <a:prstGeom prst="rect">
              <a:avLst/>
            </a:prstGeom>
            <a:solidFill>
              <a:srgbClr val="05013F"/>
            </a:solidFill>
            <a:ln>
              <a:noFill/>
            </a:ln>
          </p:spPr>
        </p:sp>
      </p:grpSp>
      <p:grpSp>
        <p:nvGrpSpPr>
          <p:cNvPr id="66" name="node05"/>
          <p:cNvGrpSpPr/>
          <p:nvPr/>
        </p:nvGrpSpPr>
        <p:grpSpPr>
          <a:xfrm>
            <a:off x="8267700" y="1752600"/>
            <a:ext cx="2971800" cy="139700"/>
            <a:chOff x="8267700" y="1752600"/>
            <a:chExt cx="2971800" cy="139700"/>
          </a:xfrm>
        </p:grpSpPr>
        <p:sp>
          <p:nvSpPr>
            <p:cNvPr id="11" name="node05.text"/>
            <p:cNvSpPr/>
            <p:nvPr/>
          </p:nvSpPr>
          <p:spPr>
            <a:xfrm>
              <a:off x="8267700" y="17526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TEAM MONTHLY RUN-RATE</a:t>
              </a:r>
              <a:endParaRPr lang="en-US" sz="800" spc="48" kern="0" b="0" i="0" dirty="0">
                <a:solidFill>
                  <a:srgbClr val="CED7E6"/>
                </a:solidFill>
                <a:latin typeface="IBM Plex Mono Medium"/>
                <a:ea typeface="IBM Plex Mono Medium"/>
                <a:cs typeface="IBM Plex Mono Medium"/>
              </a:endParaRPr>
            </a:p>
          </p:txBody>
        </p:sp>
      </p:grpSp>
      <p:grpSp>
        <p:nvGrpSpPr>
          <p:cNvPr id="67" name="node06"/>
          <p:cNvGrpSpPr/>
          <p:nvPr/>
        </p:nvGrpSpPr>
        <p:grpSpPr>
          <a:xfrm>
            <a:off x="8267700" y="1981200"/>
            <a:ext cx="1524000" cy="382461"/>
            <a:chOff x="8267700" y="1981200"/>
            <a:chExt cx="1524000" cy="382461"/>
          </a:xfrm>
        </p:grpSpPr>
        <p:sp>
          <p:nvSpPr>
            <p:cNvPr id="12" name="node06.text"/>
            <p:cNvSpPr/>
            <p:nvPr/>
          </p:nvSpPr>
          <p:spPr>
            <a:xfrm>
              <a:off x="8267700" y="1981200"/>
              <a:ext cx="15240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FFFFF"/>
                  </a:solidFill>
                  <a:latin typeface="IBM Plex Mono SemiBold"/>
                  <a:ea typeface="IBM Plex Mono SemiBold"/>
                  <a:cs typeface="IBM Plex Mono SemiBold"/>
                </a:rPr>
                <a:t>$88K</a:t>
              </a:r>
              <a:endParaRPr lang="en-US" sz="3000" spc="-60" kern="0" b="0" i="0" dirty="0">
                <a:solidFill>
                  <a:srgbClr val="FFFFFF"/>
                </a:solidFill>
                <a:latin typeface="IBM Plex Mono SemiBold"/>
                <a:ea typeface="IBM Plex Mono SemiBold"/>
                <a:cs typeface="IBM Plex Mono SemiBold"/>
              </a:endParaRPr>
            </a:p>
          </p:txBody>
        </p:sp>
      </p:grpSp>
      <p:grpSp>
        <p:nvGrpSpPr>
          <p:cNvPr id="68" name="node07"/>
          <p:cNvGrpSpPr/>
          <p:nvPr/>
        </p:nvGrpSpPr>
        <p:grpSpPr>
          <a:xfrm>
            <a:off x="9639300" y="2019300"/>
            <a:ext cx="1676400" cy="190500"/>
            <a:chOff x="9639300" y="2019300"/>
            <a:chExt cx="1676400" cy="190500"/>
          </a:xfrm>
        </p:grpSpPr>
        <p:sp>
          <p:nvSpPr>
            <p:cNvPr id="13" name="node07.text"/>
            <p:cNvSpPr/>
            <p:nvPr/>
          </p:nvSpPr>
          <p:spPr>
            <a:xfrm>
              <a:off x="9639300" y="2019300"/>
              <a:ext cx="1676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per month, whole team</a:t>
              </a:r>
              <a:endParaRPr lang="en-US" sz="1100" spc="0" kern="0" b="0" i="0" dirty="0">
                <a:solidFill>
                  <a:srgbClr val="FFFFFF"/>
                </a:solidFill>
                <a:latin typeface="IBM Plex Sans"/>
                <a:ea typeface="IBM Plex Sans"/>
                <a:cs typeface="IBM Plex Sans"/>
              </a:endParaRPr>
            </a:p>
          </p:txBody>
        </p:sp>
      </p:grpSp>
      <p:grpSp>
        <p:nvGrpSpPr>
          <p:cNvPr id="69" name="node08"/>
          <p:cNvGrpSpPr/>
          <p:nvPr/>
        </p:nvGrpSpPr>
        <p:grpSpPr>
          <a:xfrm>
            <a:off x="9639300" y="2247900"/>
            <a:ext cx="1676400" cy="190500"/>
            <a:chOff x="9639300" y="2247900"/>
            <a:chExt cx="1676400" cy="190500"/>
          </a:xfrm>
        </p:grpSpPr>
        <p:sp>
          <p:nvSpPr>
            <p:cNvPr id="14" name="node08.text"/>
            <p:cNvSpPr/>
            <p:nvPr/>
          </p:nvSpPr>
          <p:spPr>
            <a:xfrm>
              <a:off x="9639300" y="2247900"/>
              <a:ext cx="1676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In arrears</a:t>
              </a:r>
              <a:endParaRPr lang="en-US" sz="1100" spc="0" kern="0" b="0" i="0" dirty="0">
                <a:solidFill>
                  <a:srgbClr val="CED7E6"/>
                </a:solidFill>
                <a:latin typeface="IBM Plex Sans"/>
                <a:ea typeface="IBM Plex Sans"/>
                <a:cs typeface="IBM Plex Sans"/>
              </a:endParaRPr>
            </a:p>
          </p:txBody>
        </p:sp>
      </p:grpSp>
      <p:grpSp>
        <p:nvGrpSpPr>
          <p:cNvPr id="70" name="node09"/>
          <p:cNvGrpSpPr/>
          <p:nvPr/>
        </p:nvGrpSpPr>
        <p:grpSpPr>
          <a:xfrm>
            <a:off x="723900" y="2895600"/>
            <a:ext cx="10744200" cy="139700"/>
            <a:chOff x="723900" y="2895600"/>
            <a:chExt cx="10744200" cy="139700"/>
          </a:xfrm>
        </p:grpSpPr>
        <p:sp>
          <p:nvSpPr>
            <p:cNvPr id="15" name="node09.text"/>
            <p:cNvSpPr/>
            <p:nvPr/>
          </p:nvSpPr>
          <p:spPr>
            <a:xfrm>
              <a:off x="723900" y="2895600"/>
              <a:ext cx="1074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2 · HOW WE WILL DO IT · EVERY MONTH</a:t>
              </a:r>
              <a:endParaRPr lang="en-US" sz="800" spc="48" kern="0" b="0" i="0" dirty="0">
                <a:solidFill>
                  <a:srgbClr val="CED7E6"/>
                </a:solidFill>
                <a:latin typeface="IBM Plex Mono Medium"/>
                <a:ea typeface="IBM Plex Mono Medium"/>
                <a:cs typeface="IBM Plex Mono Medium"/>
              </a:endParaRPr>
            </a:p>
          </p:txBody>
        </p:sp>
      </p:grpSp>
      <p:sp>
        <p:nvSpPr>
          <p:cNvPr id="16" name="node10"/>
          <p:cNvSpPr/>
          <p:nvPr/>
        </p:nvSpPr>
        <p:spPr>
          <a:xfrm>
            <a:off x="723900" y="3162300"/>
            <a:ext cx="2514600" cy="12700"/>
          </a:xfrm>
          <a:prstGeom prst="rect">
            <a:avLst/>
          </a:prstGeom>
          <a:solidFill>
            <a:srgbClr val="50658E"/>
          </a:solidFill>
          <a:ln>
            <a:noFill/>
          </a:ln>
        </p:spPr>
      </p:sp>
      <p:grpSp>
        <p:nvGrpSpPr>
          <p:cNvPr id="71" name="node11"/>
          <p:cNvGrpSpPr/>
          <p:nvPr/>
        </p:nvGrpSpPr>
        <p:grpSpPr>
          <a:xfrm>
            <a:off x="723900" y="3276600"/>
            <a:ext cx="2514600" cy="139700"/>
            <a:chOff x="723900" y="3276600"/>
            <a:chExt cx="2514600" cy="139700"/>
          </a:xfrm>
        </p:grpSpPr>
        <p:sp>
          <p:nvSpPr>
            <p:cNvPr id="17" name="node11.text"/>
            <p:cNvSpPr/>
            <p:nvPr/>
          </p:nvSpPr>
          <p:spPr>
            <a:xfrm>
              <a:off x="723900" y="3276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01 · WEEK 1</a:t>
              </a:r>
              <a:endParaRPr lang="en-US" sz="800" spc="48" kern="0" b="0" i="0" dirty="0">
                <a:solidFill>
                  <a:srgbClr val="CED7E6"/>
                </a:solidFill>
                <a:latin typeface="IBM Plex Mono Medium"/>
                <a:ea typeface="IBM Plex Mono Medium"/>
                <a:cs typeface="IBM Plex Mono Medium"/>
              </a:endParaRPr>
            </a:p>
          </p:txBody>
        </p:sp>
      </p:grpSp>
      <p:grpSp>
        <p:nvGrpSpPr>
          <p:cNvPr id="72" name="node12"/>
          <p:cNvGrpSpPr/>
          <p:nvPr/>
        </p:nvGrpSpPr>
        <p:grpSpPr>
          <a:xfrm>
            <a:off x="723900" y="3505200"/>
            <a:ext cx="2514600" cy="266700"/>
            <a:chOff x="723900" y="3505200"/>
            <a:chExt cx="2514600" cy="266700"/>
          </a:xfrm>
        </p:grpSpPr>
        <p:sp>
          <p:nvSpPr>
            <p:cNvPr id="18" name="node12.text"/>
            <p:cNvSpPr/>
            <p:nvPr/>
          </p:nvSpPr>
          <p:spPr>
            <a:xfrm>
              <a:off x="723900" y="35052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Operate</a:t>
              </a:r>
              <a:endParaRPr lang="en-US" sz="1600" spc="-16" kern="0" b="0" i="0" dirty="0">
                <a:solidFill>
                  <a:srgbClr val="FFFFFF"/>
                </a:solidFill>
                <a:latin typeface="IBM Plex Sans SemiBold"/>
                <a:ea typeface="IBM Plex Sans SemiBold"/>
                <a:cs typeface="IBM Plex Sans SemiBold"/>
              </a:endParaRPr>
            </a:p>
          </p:txBody>
        </p:sp>
      </p:grpSp>
      <p:grpSp>
        <p:nvGrpSpPr>
          <p:cNvPr id="73" name="node13"/>
          <p:cNvGrpSpPr/>
          <p:nvPr/>
        </p:nvGrpSpPr>
        <p:grpSpPr>
          <a:xfrm>
            <a:off x="723900" y="3848100"/>
            <a:ext cx="2514600" cy="723900"/>
            <a:chOff x="723900" y="3848100"/>
            <a:chExt cx="2514600" cy="723900"/>
          </a:xfrm>
        </p:grpSpPr>
        <p:sp>
          <p:nvSpPr>
            <p:cNvPr id="19" name="node13.source-001.bullet"/>
            <p:cNvSpPr/>
            <p:nvPr/>
          </p:nvSpPr>
          <p:spPr>
            <a:xfrm>
              <a:off x="723900" y="3937000"/>
              <a:ext cx="38100" cy="38100"/>
            </a:xfrm>
            <a:prstGeom prst="rect">
              <a:avLst/>
            </a:prstGeom>
            <a:solidFill>
              <a:srgbClr val="FFFFFF"/>
            </a:solidFill>
            <a:ln>
              <a:noFill/>
            </a:ln>
          </p:spPr>
        </p:sp>
        <p:sp>
          <p:nvSpPr>
            <p:cNvPr id="20" name="node13.source-001.text"/>
            <p:cNvSpPr/>
            <p:nvPr/>
          </p:nvSpPr>
          <p:spPr>
            <a:xfrm>
              <a:off x="876300" y="3848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Patch and upgrade cycle</a:t>
              </a:r>
              <a:endParaRPr lang="en-US" sz="1200" spc="0" kern="0" b="0" i="0" dirty="0">
                <a:solidFill>
                  <a:srgbClr val="FFFFFF"/>
                </a:solidFill>
                <a:latin typeface="IBM Plex Sans"/>
                <a:ea typeface="IBM Plex Sans"/>
                <a:cs typeface="IBM Plex Sans"/>
              </a:endParaRPr>
            </a:p>
          </p:txBody>
        </p:sp>
        <p:sp>
          <p:nvSpPr>
            <p:cNvPr id="21" name="node13.source-002.bullet"/>
            <p:cNvSpPr/>
            <p:nvPr/>
          </p:nvSpPr>
          <p:spPr>
            <a:xfrm>
              <a:off x="723900" y="4191000"/>
              <a:ext cx="38100" cy="38100"/>
            </a:xfrm>
            <a:prstGeom prst="rect">
              <a:avLst/>
            </a:prstGeom>
            <a:solidFill>
              <a:srgbClr val="FFFFFF"/>
            </a:solidFill>
            <a:ln>
              <a:noFill/>
            </a:ln>
          </p:spPr>
        </p:sp>
        <p:sp>
          <p:nvSpPr>
            <p:cNvPr id="22" name="node13.source-002.text"/>
            <p:cNvSpPr/>
            <p:nvPr/>
          </p:nvSpPr>
          <p:spPr>
            <a:xfrm>
              <a:off x="876300" y="4102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Incident and ticket review</a:t>
              </a:r>
              <a:endParaRPr lang="en-US" sz="1200" spc="0" kern="0" b="0" i="0" dirty="0">
                <a:solidFill>
                  <a:srgbClr val="FFFFFF"/>
                </a:solidFill>
                <a:latin typeface="IBM Plex Sans"/>
                <a:ea typeface="IBM Plex Sans"/>
                <a:cs typeface="IBM Plex Sans"/>
              </a:endParaRPr>
            </a:p>
          </p:txBody>
        </p:sp>
        <p:sp>
          <p:nvSpPr>
            <p:cNvPr id="23" name="node13.source-003.bullet"/>
            <p:cNvSpPr/>
            <p:nvPr/>
          </p:nvSpPr>
          <p:spPr>
            <a:xfrm>
              <a:off x="723900" y="4445000"/>
              <a:ext cx="38100" cy="38100"/>
            </a:xfrm>
            <a:prstGeom prst="rect">
              <a:avLst/>
            </a:prstGeom>
            <a:solidFill>
              <a:srgbClr val="FFFFFF"/>
            </a:solidFill>
            <a:ln>
              <a:noFill/>
            </a:ln>
          </p:spPr>
        </p:sp>
        <p:sp>
          <p:nvSpPr>
            <p:cNvPr id="24" name="node13.source-003.text"/>
            <p:cNvSpPr/>
            <p:nvPr/>
          </p:nvSpPr>
          <p:spPr>
            <a:xfrm>
              <a:off x="876300" y="4356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Backup and recovery checks</a:t>
              </a:r>
              <a:endParaRPr lang="en-US" sz="1200" spc="0" kern="0" b="0" i="0" dirty="0">
                <a:solidFill>
                  <a:srgbClr val="FFFFFF"/>
                </a:solidFill>
                <a:latin typeface="IBM Plex Sans"/>
                <a:ea typeface="IBM Plex Sans"/>
                <a:cs typeface="IBM Plex Sans"/>
              </a:endParaRPr>
            </a:p>
          </p:txBody>
        </p:sp>
      </p:grpSp>
      <p:sp>
        <p:nvSpPr>
          <p:cNvPr id="25" name="node14"/>
          <p:cNvSpPr/>
          <p:nvPr/>
        </p:nvSpPr>
        <p:spPr>
          <a:xfrm>
            <a:off x="3467100" y="3162300"/>
            <a:ext cx="2514600" cy="12700"/>
          </a:xfrm>
          <a:prstGeom prst="rect">
            <a:avLst/>
          </a:prstGeom>
          <a:solidFill>
            <a:srgbClr val="50658E"/>
          </a:solidFill>
          <a:ln>
            <a:noFill/>
          </a:ln>
        </p:spPr>
      </p:sp>
      <p:grpSp>
        <p:nvGrpSpPr>
          <p:cNvPr id="74" name="node15"/>
          <p:cNvGrpSpPr/>
          <p:nvPr/>
        </p:nvGrpSpPr>
        <p:grpSpPr>
          <a:xfrm>
            <a:off x="3467100" y="3276600"/>
            <a:ext cx="2514600" cy="139700"/>
            <a:chOff x="3467100" y="3276600"/>
            <a:chExt cx="2514600" cy="139700"/>
          </a:xfrm>
        </p:grpSpPr>
        <p:sp>
          <p:nvSpPr>
            <p:cNvPr id="26" name="node15.text"/>
            <p:cNvSpPr/>
            <p:nvPr/>
          </p:nvSpPr>
          <p:spPr>
            <a:xfrm>
              <a:off x="3467100" y="3276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02 · WEEK 2</a:t>
              </a:r>
              <a:endParaRPr lang="en-US" sz="800" spc="48" kern="0" b="0" i="0" dirty="0">
                <a:solidFill>
                  <a:srgbClr val="CED7E6"/>
                </a:solidFill>
                <a:latin typeface="IBM Plex Mono Medium"/>
                <a:ea typeface="IBM Plex Mono Medium"/>
                <a:cs typeface="IBM Plex Mono Medium"/>
              </a:endParaRPr>
            </a:p>
          </p:txBody>
        </p:sp>
      </p:grpSp>
      <p:grpSp>
        <p:nvGrpSpPr>
          <p:cNvPr id="75" name="node16"/>
          <p:cNvGrpSpPr/>
          <p:nvPr/>
        </p:nvGrpSpPr>
        <p:grpSpPr>
          <a:xfrm>
            <a:off x="3467100" y="3505200"/>
            <a:ext cx="2514600" cy="266700"/>
            <a:chOff x="3467100" y="3505200"/>
            <a:chExt cx="2514600" cy="266700"/>
          </a:xfrm>
        </p:grpSpPr>
        <p:sp>
          <p:nvSpPr>
            <p:cNvPr id="27" name="node16.text"/>
            <p:cNvSpPr/>
            <p:nvPr/>
          </p:nvSpPr>
          <p:spPr>
            <a:xfrm>
              <a:off x="3467100" y="35052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Secure</a:t>
              </a:r>
              <a:endParaRPr lang="en-US" sz="1600" spc="-16" kern="0" b="0" i="0" dirty="0">
                <a:solidFill>
                  <a:srgbClr val="FFFFFF"/>
                </a:solidFill>
                <a:latin typeface="IBM Plex Sans SemiBold"/>
                <a:ea typeface="IBM Plex Sans SemiBold"/>
                <a:cs typeface="IBM Plex Sans SemiBold"/>
              </a:endParaRPr>
            </a:p>
          </p:txBody>
        </p:sp>
      </p:grpSp>
      <p:grpSp>
        <p:nvGrpSpPr>
          <p:cNvPr id="76" name="node17"/>
          <p:cNvGrpSpPr/>
          <p:nvPr/>
        </p:nvGrpSpPr>
        <p:grpSpPr>
          <a:xfrm>
            <a:off x="3467100" y="3848100"/>
            <a:ext cx="2514600" cy="723900"/>
            <a:chOff x="3467100" y="3848100"/>
            <a:chExt cx="2514600" cy="723900"/>
          </a:xfrm>
        </p:grpSpPr>
        <p:sp>
          <p:nvSpPr>
            <p:cNvPr id="28" name="node17.source-001.bullet"/>
            <p:cNvSpPr/>
            <p:nvPr/>
          </p:nvSpPr>
          <p:spPr>
            <a:xfrm>
              <a:off x="3467100" y="3937000"/>
              <a:ext cx="38100" cy="38100"/>
            </a:xfrm>
            <a:prstGeom prst="rect">
              <a:avLst/>
            </a:prstGeom>
            <a:solidFill>
              <a:srgbClr val="FFFFFF"/>
            </a:solidFill>
            <a:ln>
              <a:noFill/>
            </a:ln>
          </p:spPr>
        </p:sp>
        <p:sp>
          <p:nvSpPr>
            <p:cNvPr id="29" name="node17.source-001.text"/>
            <p:cNvSpPr/>
            <p:nvPr/>
          </p:nvSpPr>
          <p:spPr>
            <a:xfrm>
              <a:off x="3619500" y="3848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Posture scan and findings</a:t>
              </a:r>
              <a:endParaRPr lang="en-US" sz="1200" spc="0" kern="0" b="0" i="0" dirty="0">
                <a:solidFill>
                  <a:srgbClr val="FFFFFF"/>
                </a:solidFill>
                <a:latin typeface="IBM Plex Sans"/>
                <a:ea typeface="IBM Plex Sans"/>
                <a:cs typeface="IBM Plex Sans"/>
              </a:endParaRPr>
            </a:p>
          </p:txBody>
        </p:sp>
        <p:sp>
          <p:nvSpPr>
            <p:cNvPr id="30" name="node17.source-002.bullet"/>
            <p:cNvSpPr/>
            <p:nvPr/>
          </p:nvSpPr>
          <p:spPr>
            <a:xfrm>
              <a:off x="3467100" y="4191000"/>
              <a:ext cx="38100" cy="38100"/>
            </a:xfrm>
            <a:prstGeom prst="rect">
              <a:avLst/>
            </a:prstGeom>
            <a:solidFill>
              <a:srgbClr val="FFFFFF"/>
            </a:solidFill>
            <a:ln>
              <a:noFill/>
            </a:ln>
          </p:spPr>
        </p:sp>
        <p:sp>
          <p:nvSpPr>
            <p:cNvPr id="31" name="node17.source-002.text"/>
            <p:cNvSpPr/>
            <p:nvPr/>
          </p:nvSpPr>
          <p:spPr>
            <a:xfrm>
              <a:off x="3619500" y="4102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Access and key reviews</a:t>
              </a:r>
              <a:endParaRPr lang="en-US" sz="1200" spc="0" kern="0" b="0" i="0" dirty="0">
                <a:solidFill>
                  <a:srgbClr val="FFFFFF"/>
                </a:solidFill>
                <a:latin typeface="IBM Plex Sans"/>
                <a:ea typeface="IBM Plex Sans"/>
                <a:cs typeface="IBM Plex Sans"/>
              </a:endParaRPr>
            </a:p>
          </p:txBody>
        </p:sp>
        <p:sp>
          <p:nvSpPr>
            <p:cNvPr id="32" name="node17.source-003.bullet"/>
            <p:cNvSpPr/>
            <p:nvPr/>
          </p:nvSpPr>
          <p:spPr>
            <a:xfrm>
              <a:off x="3467100" y="4445000"/>
              <a:ext cx="38100" cy="38100"/>
            </a:xfrm>
            <a:prstGeom prst="rect">
              <a:avLst/>
            </a:prstGeom>
            <a:solidFill>
              <a:srgbClr val="FFFFFF"/>
            </a:solidFill>
            <a:ln>
              <a:noFill/>
            </a:ln>
          </p:spPr>
        </p:sp>
        <p:sp>
          <p:nvSpPr>
            <p:cNvPr id="33" name="node17.source-003.text"/>
            <p:cNvSpPr/>
            <p:nvPr/>
          </p:nvSpPr>
          <p:spPr>
            <a:xfrm>
              <a:off x="3619500" y="4356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Fix plan with owners</a:t>
              </a:r>
              <a:endParaRPr lang="en-US" sz="1200" spc="0" kern="0" b="0" i="0" dirty="0">
                <a:solidFill>
                  <a:srgbClr val="FFFFFF"/>
                </a:solidFill>
                <a:latin typeface="IBM Plex Sans"/>
                <a:ea typeface="IBM Plex Sans"/>
                <a:cs typeface="IBM Plex Sans"/>
              </a:endParaRPr>
            </a:p>
          </p:txBody>
        </p:sp>
      </p:grpSp>
      <p:sp>
        <p:nvSpPr>
          <p:cNvPr id="34" name="node18"/>
          <p:cNvSpPr/>
          <p:nvPr/>
        </p:nvSpPr>
        <p:spPr>
          <a:xfrm>
            <a:off x="6210300" y="3162300"/>
            <a:ext cx="2514600" cy="12700"/>
          </a:xfrm>
          <a:prstGeom prst="rect">
            <a:avLst/>
          </a:prstGeom>
          <a:solidFill>
            <a:srgbClr val="50658E"/>
          </a:solidFill>
          <a:ln>
            <a:noFill/>
          </a:ln>
        </p:spPr>
      </p:sp>
      <p:grpSp>
        <p:nvGrpSpPr>
          <p:cNvPr id="77" name="node19"/>
          <p:cNvGrpSpPr/>
          <p:nvPr/>
        </p:nvGrpSpPr>
        <p:grpSpPr>
          <a:xfrm>
            <a:off x="6210300" y="3276600"/>
            <a:ext cx="2514600" cy="139700"/>
            <a:chOff x="6210300" y="3276600"/>
            <a:chExt cx="2514600" cy="139700"/>
          </a:xfrm>
        </p:grpSpPr>
        <p:sp>
          <p:nvSpPr>
            <p:cNvPr id="35" name="node19.text"/>
            <p:cNvSpPr/>
            <p:nvPr/>
          </p:nvSpPr>
          <p:spPr>
            <a:xfrm>
              <a:off x="6210300" y="3276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03 · WEEK 3</a:t>
              </a:r>
              <a:endParaRPr lang="en-US" sz="800" spc="48" kern="0" b="0" i="0" dirty="0">
                <a:solidFill>
                  <a:srgbClr val="CED7E6"/>
                </a:solidFill>
                <a:latin typeface="IBM Plex Mono Medium"/>
                <a:ea typeface="IBM Plex Mono Medium"/>
                <a:cs typeface="IBM Plex Mono Medium"/>
              </a:endParaRPr>
            </a:p>
          </p:txBody>
        </p:sp>
      </p:grpSp>
      <p:grpSp>
        <p:nvGrpSpPr>
          <p:cNvPr id="78" name="node20"/>
          <p:cNvGrpSpPr/>
          <p:nvPr/>
        </p:nvGrpSpPr>
        <p:grpSpPr>
          <a:xfrm>
            <a:off x="6210300" y="3505200"/>
            <a:ext cx="2514600" cy="266700"/>
            <a:chOff x="6210300" y="3505200"/>
            <a:chExt cx="2514600" cy="266700"/>
          </a:xfrm>
        </p:grpSpPr>
        <p:sp>
          <p:nvSpPr>
            <p:cNvPr id="36" name="node20.text"/>
            <p:cNvSpPr/>
            <p:nvPr/>
          </p:nvSpPr>
          <p:spPr>
            <a:xfrm>
              <a:off x="6210300" y="35052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Optimize</a:t>
              </a:r>
              <a:endParaRPr lang="en-US" sz="1600" spc="-16" kern="0" b="0" i="0" dirty="0">
                <a:solidFill>
                  <a:srgbClr val="FFFFFF"/>
                </a:solidFill>
                <a:latin typeface="IBM Plex Sans SemiBold"/>
                <a:ea typeface="IBM Plex Sans SemiBold"/>
                <a:cs typeface="IBM Plex Sans SemiBold"/>
              </a:endParaRPr>
            </a:p>
          </p:txBody>
        </p:sp>
      </p:grpSp>
      <p:grpSp>
        <p:nvGrpSpPr>
          <p:cNvPr id="79" name="node21"/>
          <p:cNvGrpSpPr/>
          <p:nvPr/>
        </p:nvGrpSpPr>
        <p:grpSpPr>
          <a:xfrm>
            <a:off x="6210300" y="3848100"/>
            <a:ext cx="2514600" cy="723900"/>
            <a:chOff x="6210300" y="3848100"/>
            <a:chExt cx="2514600" cy="723900"/>
          </a:xfrm>
        </p:grpSpPr>
        <p:sp>
          <p:nvSpPr>
            <p:cNvPr id="37" name="node21.source-001.bullet"/>
            <p:cNvSpPr/>
            <p:nvPr/>
          </p:nvSpPr>
          <p:spPr>
            <a:xfrm>
              <a:off x="6210300" y="3937000"/>
              <a:ext cx="38100" cy="38100"/>
            </a:xfrm>
            <a:prstGeom prst="rect">
              <a:avLst/>
            </a:prstGeom>
            <a:solidFill>
              <a:srgbClr val="FFFFFF"/>
            </a:solidFill>
            <a:ln>
              <a:noFill/>
            </a:ln>
          </p:spPr>
        </p:sp>
        <p:sp>
          <p:nvSpPr>
            <p:cNvPr id="38" name="node21.source-001.text"/>
            <p:cNvSpPr/>
            <p:nvPr/>
          </p:nvSpPr>
          <p:spPr>
            <a:xfrm>
              <a:off x="6362700" y="3848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Cost and tagging review</a:t>
              </a:r>
              <a:endParaRPr lang="en-US" sz="1200" spc="0" kern="0" b="0" i="0" dirty="0">
                <a:solidFill>
                  <a:srgbClr val="FFFFFF"/>
                </a:solidFill>
                <a:latin typeface="IBM Plex Sans"/>
                <a:ea typeface="IBM Plex Sans"/>
                <a:cs typeface="IBM Plex Sans"/>
              </a:endParaRPr>
            </a:p>
          </p:txBody>
        </p:sp>
        <p:sp>
          <p:nvSpPr>
            <p:cNvPr id="39" name="node21.source-002.bullet"/>
            <p:cNvSpPr/>
            <p:nvPr/>
          </p:nvSpPr>
          <p:spPr>
            <a:xfrm>
              <a:off x="6210300" y="4191000"/>
              <a:ext cx="38100" cy="38100"/>
            </a:xfrm>
            <a:prstGeom prst="rect">
              <a:avLst/>
            </a:prstGeom>
            <a:solidFill>
              <a:srgbClr val="FFFFFF"/>
            </a:solidFill>
            <a:ln>
              <a:noFill/>
            </a:ln>
          </p:spPr>
        </p:sp>
        <p:sp>
          <p:nvSpPr>
            <p:cNvPr id="40" name="node21.source-002.text"/>
            <p:cNvSpPr/>
            <p:nvPr/>
          </p:nvSpPr>
          <p:spPr>
            <a:xfrm>
              <a:off x="6362700" y="4102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Right-size and commit decisions</a:t>
              </a:r>
              <a:endParaRPr lang="en-US" sz="1200" spc="0" kern="0" b="0" i="0" dirty="0">
                <a:solidFill>
                  <a:srgbClr val="FFFFFF"/>
                </a:solidFill>
                <a:latin typeface="IBM Plex Sans"/>
                <a:ea typeface="IBM Plex Sans"/>
                <a:cs typeface="IBM Plex Sans"/>
              </a:endParaRPr>
            </a:p>
          </p:txBody>
        </p:sp>
        <p:sp>
          <p:nvSpPr>
            <p:cNvPr id="41" name="node21.source-003.bullet"/>
            <p:cNvSpPr/>
            <p:nvPr/>
          </p:nvSpPr>
          <p:spPr>
            <a:xfrm>
              <a:off x="6210300" y="4445000"/>
              <a:ext cx="38100" cy="38100"/>
            </a:xfrm>
            <a:prstGeom prst="rect">
              <a:avLst/>
            </a:prstGeom>
            <a:solidFill>
              <a:srgbClr val="FFFFFF"/>
            </a:solidFill>
            <a:ln>
              <a:noFill/>
            </a:ln>
          </p:spPr>
        </p:sp>
        <p:sp>
          <p:nvSpPr>
            <p:cNvPr id="42" name="node21.source-003.text"/>
            <p:cNvSpPr/>
            <p:nvPr/>
          </p:nvSpPr>
          <p:spPr>
            <a:xfrm>
              <a:off x="6362700" y="4356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Savings tracked to target</a:t>
              </a:r>
              <a:endParaRPr lang="en-US" sz="1200" spc="0" kern="0" b="0" i="0" dirty="0">
                <a:solidFill>
                  <a:srgbClr val="FFFFFF"/>
                </a:solidFill>
                <a:latin typeface="IBM Plex Sans"/>
                <a:ea typeface="IBM Plex Sans"/>
                <a:cs typeface="IBM Plex Sans"/>
              </a:endParaRPr>
            </a:p>
          </p:txBody>
        </p:sp>
      </p:grpSp>
      <p:sp>
        <p:nvSpPr>
          <p:cNvPr id="43" name="node22"/>
          <p:cNvSpPr/>
          <p:nvPr/>
        </p:nvSpPr>
        <p:spPr>
          <a:xfrm>
            <a:off x="8953500" y="3162300"/>
            <a:ext cx="2514600" cy="12700"/>
          </a:xfrm>
          <a:prstGeom prst="rect">
            <a:avLst/>
          </a:prstGeom>
          <a:solidFill>
            <a:srgbClr val="50658E"/>
          </a:solidFill>
          <a:ln>
            <a:noFill/>
          </a:ln>
        </p:spPr>
      </p:sp>
      <p:grpSp>
        <p:nvGrpSpPr>
          <p:cNvPr id="80" name="node23"/>
          <p:cNvGrpSpPr/>
          <p:nvPr/>
        </p:nvGrpSpPr>
        <p:grpSpPr>
          <a:xfrm>
            <a:off x="8953500" y="3276600"/>
            <a:ext cx="2514600" cy="139700"/>
            <a:chOff x="8953500" y="3276600"/>
            <a:chExt cx="2514600" cy="139700"/>
          </a:xfrm>
        </p:grpSpPr>
        <p:sp>
          <p:nvSpPr>
            <p:cNvPr id="44" name="node23.text"/>
            <p:cNvSpPr/>
            <p:nvPr/>
          </p:nvSpPr>
          <p:spPr>
            <a:xfrm>
              <a:off x="8953500" y="32766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04 · WEEK 4</a:t>
              </a:r>
              <a:endParaRPr lang="en-US" sz="800" spc="48" kern="0" b="0" i="0" dirty="0">
                <a:solidFill>
                  <a:srgbClr val="CED7E6"/>
                </a:solidFill>
                <a:latin typeface="IBM Plex Mono Medium"/>
                <a:ea typeface="IBM Plex Mono Medium"/>
                <a:cs typeface="IBM Plex Mono Medium"/>
              </a:endParaRPr>
            </a:p>
          </p:txBody>
        </p:sp>
      </p:grpSp>
      <p:grpSp>
        <p:nvGrpSpPr>
          <p:cNvPr id="81" name="node24"/>
          <p:cNvGrpSpPr/>
          <p:nvPr/>
        </p:nvGrpSpPr>
        <p:grpSpPr>
          <a:xfrm>
            <a:off x="8953500" y="3505200"/>
            <a:ext cx="2514600" cy="266700"/>
            <a:chOff x="8953500" y="3505200"/>
            <a:chExt cx="2514600" cy="266700"/>
          </a:xfrm>
        </p:grpSpPr>
        <p:sp>
          <p:nvSpPr>
            <p:cNvPr id="45" name="node24.text"/>
            <p:cNvSpPr/>
            <p:nvPr/>
          </p:nvSpPr>
          <p:spPr>
            <a:xfrm>
              <a:off x="8953500" y="35052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Plan</a:t>
              </a:r>
              <a:endParaRPr lang="en-US" sz="1600" spc="-16" kern="0" b="0" i="0" dirty="0">
                <a:solidFill>
                  <a:srgbClr val="FFFFFF"/>
                </a:solidFill>
                <a:latin typeface="IBM Plex Sans SemiBold"/>
                <a:ea typeface="IBM Plex Sans SemiBold"/>
                <a:cs typeface="IBM Plex Sans SemiBold"/>
              </a:endParaRPr>
            </a:p>
          </p:txBody>
        </p:sp>
      </p:grpSp>
      <p:grpSp>
        <p:nvGrpSpPr>
          <p:cNvPr id="82" name="node25"/>
          <p:cNvGrpSpPr/>
          <p:nvPr/>
        </p:nvGrpSpPr>
        <p:grpSpPr>
          <a:xfrm>
            <a:off x="8953500" y="3848100"/>
            <a:ext cx="2514600" cy="723900"/>
            <a:chOff x="8953500" y="3848100"/>
            <a:chExt cx="2514600" cy="723900"/>
          </a:xfrm>
        </p:grpSpPr>
        <p:sp>
          <p:nvSpPr>
            <p:cNvPr id="46" name="node25.source-001.bullet"/>
            <p:cNvSpPr/>
            <p:nvPr/>
          </p:nvSpPr>
          <p:spPr>
            <a:xfrm>
              <a:off x="8953500" y="3937000"/>
              <a:ext cx="38100" cy="38100"/>
            </a:xfrm>
            <a:prstGeom prst="rect">
              <a:avLst/>
            </a:prstGeom>
            <a:solidFill>
              <a:srgbClr val="FFFFFF"/>
            </a:solidFill>
            <a:ln>
              <a:noFill/>
            </a:ln>
          </p:spPr>
        </p:sp>
        <p:sp>
          <p:nvSpPr>
            <p:cNvPr id="47" name="node25.source-001.text"/>
            <p:cNvSpPr/>
            <p:nvPr/>
          </p:nvSpPr>
          <p:spPr>
            <a:xfrm>
              <a:off x="9105900" y="3848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Health report for the CIO</a:t>
              </a:r>
              <a:endParaRPr lang="en-US" sz="1200" spc="0" kern="0" b="0" i="0" dirty="0">
                <a:solidFill>
                  <a:srgbClr val="FFFFFF"/>
                </a:solidFill>
                <a:latin typeface="IBM Plex Sans"/>
                <a:ea typeface="IBM Plex Sans"/>
                <a:cs typeface="IBM Plex Sans"/>
              </a:endParaRPr>
            </a:p>
          </p:txBody>
        </p:sp>
        <p:sp>
          <p:nvSpPr>
            <p:cNvPr id="48" name="node25.source-002.bullet"/>
            <p:cNvSpPr/>
            <p:nvPr/>
          </p:nvSpPr>
          <p:spPr>
            <a:xfrm>
              <a:off x="8953500" y="4191000"/>
              <a:ext cx="38100" cy="38100"/>
            </a:xfrm>
            <a:prstGeom prst="rect">
              <a:avLst/>
            </a:prstGeom>
            <a:solidFill>
              <a:srgbClr val="FFFFFF"/>
            </a:solidFill>
            <a:ln>
              <a:noFill/>
            </a:ln>
          </p:spPr>
        </p:sp>
        <p:sp>
          <p:nvSpPr>
            <p:cNvPr id="49" name="node25.source-002.text"/>
            <p:cNvSpPr/>
            <p:nvPr/>
          </p:nvSpPr>
          <p:spPr>
            <a:xfrm>
              <a:off x="9105900" y="4102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Roadmap and backlog session</a:t>
              </a:r>
              <a:endParaRPr lang="en-US" sz="1200" spc="0" kern="0" b="0" i="0" dirty="0">
                <a:solidFill>
                  <a:srgbClr val="FFFFFF"/>
                </a:solidFill>
                <a:latin typeface="IBM Plex Sans"/>
                <a:ea typeface="IBM Plex Sans"/>
                <a:cs typeface="IBM Plex Sans"/>
              </a:endParaRPr>
            </a:p>
          </p:txBody>
        </p:sp>
        <p:sp>
          <p:nvSpPr>
            <p:cNvPr id="50" name="node25.source-003.bullet"/>
            <p:cNvSpPr/>
            <p:nvPr/>
          </p:nvSpPr>
          <p:spPr>
            <a:xfrm>
              <a:off x="8953500" y="4445000"/>
              <a:ext cx="38100" cy="38100"/>
            </a:xfrm>
            <a:prstGeom prst="rect">
              <a:avLst/>
            </a:prstGeom>
            <a:solidFill>
              <a:srgbClr val="FFFFFF"/>
            </a:solidFill>
            <a:ln>
              <a:noFill/>
            </a:ln>
          </p:spPr>
        </p:sp>
        <p:sp>
          <p:nvSpPr>
            <p:cNvPr id="51" name="node25.source-003.text"/>
            <p:cNvSpPr/>
            <p:nvPr/>
          </p:nvSpPr>
          <p:spPr>
            <a:xfrm>
              <a:off x="9105900" y="43561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Next-month priorities</a:t>
              </a:r>
              <a:endParaRPr lang="en-US" sz="1200" spc="0" kern="0" b="0" i="0" dirty="0">
                <a:solidFill>
                  <a:srgbClr val="FFFFFF"/>
                </a:solidFill>
                <a:latin typeface="IBM Plex Sans"/>
                <a:ea typeface="IBM Plex Sans"/>
                <a:cs typeface="IBM Plex Sans"/>
              </a:endParaRPr>
            </a:p>
          </p:txBody>
        </p:sp>
      </p:grpSp>
      <p:grpSp>
        <p:nvGrpSpPr>
          <p:cNvPr id="83" name="node26"/>
          <p:cNvGrpSpPr/>
          <p:nvPr/>
        </p:nvGrpSpPr>
        <p:grpSpPr>
          <a:xfrm>
            <a:off x="723900" y="5029200"/>
            <a:ext cx="10744200" cy="685800"/>
            <a:chOff x="723900" y="5029200"/>
            <a:chExt cx="10744200" cy="685800"/>
          </a:xfrm>
        </p:grpSpPr>
        <p:sp>
          <p:nvSpPr>
            <p:cNvPr id="52" name="node26.surface"/>
            <p:cNvSpPr/>
            <p:nvPr/>
          </p:nvSpPr>
          <p:spPr>
            <a:xfrm>
              <a:off x="723900" y="5029200"/>
              <a:ext cx="10744200" cy="685800"/>
            </a:xfrm>
            <a:prstGeom prst="rect">
              <a:avLst/>
            </a:prstGeom>
            <a:solidFill>
              <a:srgbClr val="05013F"/>
            </a:solidFill>
            <a:ln>
              <a:noFill/>
            </a:ln>
          </p:spPr>
        </p:sp>
      </p:grpSp>
      <p:grpSp>
        <p:nvGrpSpPr>
          <p:cNvPr id="84" name="node27"/>
          <p:cNvGrpSpPr/>
          <p:nvPr/>
        </p:nvGrpSpPr>
        <p:grpSpPr>
          <a:xfrm>
            <a:off x="876300" y="5245100"/>
            <a:ext cx="762000" cy="139700"/>
            <a:chOff x="876300" y="5245100"/>
            <a:chExt cx="762000" cy="139700"/>
          </a:xfrm>
        </p:grpSpPr>
        <p:sp>
          <p:nvSpPr>
            <p:cNvPr id="53" name="node27.text"/>
            <p:cNvSpPr/>
            <p:nvPr/>
          </p:nvSpPr>
          <p:spPr>
            <a:xfrm>
              <a:off x="876300" y="5245100"/>
              <a:ext cx="762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TEAM</a:t>
              </a:r>
              <a:endParaRPr lang="en-US" sz="800" spc="48" kern="0" b="0" i="0" dirty="0">
                <a:solidFill>
                  <a:srgbClr val="CED7E6"/>
                </a:solidFill>
                <a:latin typeface="IBM Plex Mono Medium"/>
                <a:ea typeface="IBM Plex Mono Medium"/>
                <a:cs typeface="IBM Plex Mono Medium"/>
              </a:endParaRPr>
            </a:p>
          </p:txBody>
        </p:sp>
      </p:grpSp>
      <p:grpSp>
        <p:nvGrpSpPr>
          <p:cNvPr id="85" name="node28"/>
          <p:cNvGrpSpPr/>
          <p:nvPr/>
        </p:nvGrpSpPr>
        <p:grpSpPr>
          <a:xfrm>
            <a:off x="1638300" y="5105400"/>
            <a:ext cx="2362200" cy="190500"/>
            <a:chOff x="1638300" y="5105400"/>
            <a:chExt cx="2362200" cy="190500"/>
          </a:xfrm>
        </p:grpSpPr>
        <p:sp>
          <p:nvSpPr>
            <p:cNvPr id="54" name="node28.text"/>
            <p:cNvSpPr/>
            <p:nvPr/>
          </p:nvSpPr>
          <p:spPr>
            <a:xfrm>
              <a:off x="1638300" y="51054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Cloud lead · 25%</a:t>
              </a:r>
              <a:endParaRPr lang="en-US" sz="1100" spc="0" kern="0" b="0" i="0" dirty="0">
                <a:solidFill>
                  <a:srgbClr val="FFFFFF"/>
                </a:solidFill>
                <a:latin typeface="IBM Plex Sans"/>
                <a:ea typeface="IBM Plex Sans"/>
                <a:cs typeface="IBM Plex Sans"/>
              </a:endParaRPr>
            </a:p>
          </p:txBody>
        </p:sp>
      </p:grpSp>
      <p:grpSp>
        <p:nvGrpSpPr>
          <p:cNvPr id="86" name="node29"/>
          <p:cNvGrpSpPr/>
          <p:nvPr/>
        </p:nvGrpSpPr>
        <p:grpSpPr>
          <a:xfrm>
            <a:off x="1638300" y="5334000"/>
            <a:ext cx="2362200" cy="190500"/>
            <a:chOff x="1638300" y="5334000"/>
            <a:chExt cx="2362200" cy="190500"/>
          </a:xfrm>
        </p:grpSpPr>
        <p:sp>
          <p:nvSpPr>
            <p:cNvPr id="55" name="node29.text"/>
            <p:cNvSpPr/>
            <p:nvPr/>
          </p:nvSpPr>
          <p:spPr>
            <a:xfrm>
              <a:off x="1638300" y="53340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Service owner</a:t>
              </a:r>
              <a:endParaRPr lang="en-US" sz="1100" spc="0" kern="0" b="0" i="0" dirty="0">
                <a:solidFill>
                  <a:srgbClr val="CED7E6"/>
                </a:solidFill>
                <a:latin typeface="IBM Plex Sans"/>
                <a:ea typeface="IBM Plex Sans"/>
                <a:cs typeface="IBM Plex Sans"/>
              </a:endParaRPr>
            </a:p>
          </p:txBody>
        </p:sp>
      </p:grpSp>
      <p:grpSp>
        <p:nvGrpSpPr>
          <p:cNvPr id="87" name="node30"/>
          <p:cNvGrpSpPr/>
          <p:nvPr/>
        </p:nvGrpSpPr>
        <p:grpSpPr>
          <a:xfrm>
            <a:off x="4076700" y="5105400"/>
            <a:ext cx="2362200" cy="190500"/>
            <a:chOff x="4076700" y="5105400"/>
            <a:chExt cx="2362200" cy="190500"/>
          </a:xfrm>
        </p:grpSpPr>
        <p:sp>
          <p:nvSpPr>
            <p:cNvPr id="56" name="node30.text"/>
            <p:cNvSpPr/>
            <p:nvPr/>
          </p:nvSpPr>
          <p:spPr>
            <a:xfrm>
              <a:off x="4076700" y="51054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Platform engineer · 100%</a:t>
              </a:r>
              <a:endParaRPr lang="en-US" sz="1100" spc="0" kern="0" b="0" i="0" dirty="0">
                <a:solidFill>
                  <a:srgbClr val="FFFFFF"/>
                </a:solidFill>
                <a:latin typeface="IBM Plex Sans"/>
                <a:ea typeface="IBM Plex Sans"/>
                <a:cs typeface="IBM Plex Sans"/>
              </a:endParaRPr>
            </a:p>
          </p:txBody>
        </p:sp>
      </p:grpSp>
      <p:grpSp>
        <p:nvGrpSpPr>
          <p:cNvPr id="88" name="node31"/>
          <p:cNvGrpSpPr/>
          <p:nvPr/>
        </p:nvGrpSpPr>
        <p:grpSpPr>
          <a:xfrm>
            <a:off x="4076700" y="5334000"/>
            <a:ext cx="2362200" cy="190500"/>
            <a:chOff x="4076700" y="5334000"/>
            <a:chExt cx="2362200" cy="190500"/>
          </a:xfrm>
        </p:grpSpPr>
        <p:sp>
          <p:nvSpPr>
            <p:cNvPr id="57" name="node31.text"/>
            <p:cNvSpPr/>
            <p:nvPr/>
          </p:nvSpPr>
          <p:spPr>
            <a:xfrm>
              <a:off x="4076700" y="53340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Operate, patch</a:t>
              </a:r>
              <a:endParaRPr lang="en-US" sz="1100" spc="0" kern="0" b="0" i="0" dirty="0">
                <a:solidFill>
                  <a:srgbClr val="CED7E6"/>
                </a:solidFill>
                <a:latin typeface="IBM Plex Sans"/>
                <a:ea typeface="IBM Plex Sans"/>
                <a:cs typeface="IBM Plex Sans"/>
              </a:endParaRPr>
            </a:p>
          </p:txBody>
        </p:sp>
      </p:grpSp>
      <p:grpSp>
        <p:nvGrpSpPr>
          <p:cNvPr id="89" name="node32"/>
          <p:cNvGrpSpPr/>
          <p:nvPr/>
        </p:nvGrpSpPr>
        <p:grpSpPr>
          <a:xfrm>
            <a:off x="6515100" y="5105400"/>
            <a:ext cx="2362200" cy="190500"/>
            <a:chOff x="6515100" y="5105400"/>
            <a:chExt cx="2362200" cy="190500"/>
          </a:xfrm>
        </p:grpSpPr>
        <p:sp>
          <p:nvSpPr>
            <p:cNvPr id="58" name="node32.text"/>
            <p:cNvSpPr/>
            <p:nvPr/>
          </p:nvSpPr>
          <p:spPr>
            <a:xfrm>
              <a:off x="6515100" y="51054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Security engineer · 50%</a:t>
              </a:r>
              <a:endParaRPr lang="en-US" sz="1100" spc="0" kern="0" b="0" i="0" dirty="0">
                <a:solidFill>
                  <a:srgbClr val="FFFFFF"/>
                </a:solidFill>
                <a:latin typeface="IBM Plex Sans"/>
                <a:ea typeface="IBM Plex Sans"/>
                <a:cs typeface="IBM Plex Sans"/>
              </a:endParaRPr>
            </a:p>
          </p:txBody>
        </p:sp>
      </p:grpSp>
      <p:grpSp>
        <p:nvGrpSpPr>
          <p:cNvPr id="90" name="node33"/>
          <p:cNvGrpSpPr/>
          <p:nvPr/>
        </p:nvGrpSpPr>
        <p:grpSpPr>
          <a:xfrm>
            <a:off x="6515100" y="5334000"/>
            <a:ext cx="2362200" cy="190500"/>
            <a:chOff x="6515100" y="5334000"/>
            <a:chExt cx="2362200" cy="190500"/>
          </a:xfrm>
        </p:grpSpPr>
        <p:sp>
          <p:nvSpPr>
            <p:cNvPr id="59" name="node33.text"/>
            <p:cNvSpPr/>
            <p:nvPr/>
          </p:nvSpPr>
          <p:spPr>
            <a:xfrm>
              <a:off x="6515100" y="53340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Posture, access</a:t>
              </a:r>
              <a:endParaRPr lang="en-US" sz="1100" spc="0" kern="0" b="0" i="0" dirty="0">
                <a:solidFill>
                  <a:srgbClr val="CED7E6"/>
                </a:solidFill>
                <a:latin typeface="IBM Plex Sans"/>
                <a:ea typeface="IBM Plex Sans"/>
                <a:cs typeface="IBM Plex Sans"/>
              </a:endParaRPr>
            </a:p>
          </p:txBody>
        </p:sp>
      </p:grpSp>
      <p:grpSp>
        <p:nvGrpSpPr>
          <p:cNvPr id="91" name="node34"/>
          <p:cNvGrpSpPr/>
          <p:nvPr/>
        </p:nvGrpSpPr>
        <p:grpSpPr>
          <a:xfrm>
            <a:off x="8953500" y="5105400"/>
            <a:ext cx="2362200" cy="190500"/>
            <a:chOff x="8953500" y="5105400"/>
            <a:chExt cx="2362200" cy="190500"/>
          </a:xfrm>
        </p:grpSpPr>
        <p:sp>
          <p:nvSpPr>
            <p:cNvPr id="60" name="node34.text"/>
            <p:cNvSpPr/>
            <p:nvPr/>
          </p:nvSpPr>
          <p:spPr>
            <a:xfrm>
              <a:off x="8953500" y="51054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FinOps analyst · 50%</a:t>
              </a:r>
              <a:endParaRPr lang="en-US" sz="1100" spc="0" kern="0" b="0" i="0" dirty="0">
                <a:solidFill>
                  <a:srgbClr val="FFFFFF"/>
                </a:solidFill>
                <a:latin typeface="IBM Plex Sans"/>
                <a:ea typeface="IBM Plex Sans"/>
                <a:cs typeface="IBM Plex Sans"/>
              </a:endParaRPr>
            </a:p>
          </p:txBody>
        </p:sp>
      </p:grpSp>
      <p:grpSp>
        <p:nvGrpSpPr>
          <p:cNvPr id="92" name="node35"/>
          <p:cNvGrpSpPr/>
          <p:nvPr/>
        </p:nvGrpSpPr>
        <p:grpSpPr>
          <a:xfrm>
            <a:off x="8953500" y="5334000"/>
            <a:ext cx="2362200" cy="190500"/>
            <a:chOff x="8953500" y="5334000"/>
            <a:chExt cx="2362200" cy="190500"/>
          </a:xfrm>
        </p:grpSpPr>
        <p:sp>
          <p:nvSpPr>
            <p:cNvPr id="61" name="node35.text"/>
            <p:cNvSpPr/>
            <p:nvPr/>
          </p:nvSpPr>
          <p:spPr>
            <a:xfrm>
              <a:off x="8953500" y="5334000"/>
              <a:ext cx="2362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Cost, tagging</a:t>
              </a:r>
              <a:endParaRPr lang="en-US" sz="1100" spc="0" kern="0" b="0" i="0" dirty="0">
                <a:solidFill>
                  <a:srgbClr val="CED7E6"/>
                </a:solidFill>
                <a:latin typeface="IBM Plex Sans"/>
                <a:ea typeface="IBM Plex Sans"/>
                <a:cs typeface="IBM Plex Sans"/>
              </a:endParaRPr>
            </a:p>
          </p:txBody>
        </p:sp>
      </p:gr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ource-31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cycle diagnostic</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215</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723900" y="1600200"/>
            <a:ext cx="7543800" cy="139700"/>
            <a:chOff x="723900" y="1600200"/>
            <a:chExt cx="7543800" cy="139700"/>
          </a:xfrm>
        </p:grpSpPr>
        <p:sp>
          <p:nvSpPr>
            <p:cNvPr id="7" name="node01.text"/>
            <p:cNvSpPr/>
            <p:nvPr/>
          </p:nvSpPr>
          <p:spPr>
            <a:xfrm>
              <a:off x="723900" y="1600200"/>
              <a:ext cx="7543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 · WHAT WE WILL DO</a:t>
              </a:r>
              <a:endParaRPr lang="en-US" sz="800" spc="48" kern="0" b="0" i="0" dirty="0">
                <a:solidFill>
                  <a:srgbClr val="0047FF"/>
                </a:solidFill>
                <a:latin typeface="IBM Plex Mono Medium"/>
                <a:ea typeface="IBM Plex Mono Medium"/>
                <a:cs typeface="IBM Plex Mono Medium"/>
              </a:endParaRPr>
            </a:p>
          </p:txBody>
        </p:sp>
      </p:grpSp>
      <p:grpSp>
        <p:nvGrpSpPr>
          <p:cNvPr id="53" name="node02"/>
          <p:cNvGrpSpPr/>
          <p:nvPr/>
        </p:nvGrpSpPr>
        <p:grpSpPr>
          <a:xfrm>
            <a:off x="723900" y="1828800"/>
            <a:ext cx="7543800" cy="647700"/>
            <a:chOff x="723900" y="1828800"/>
            <a:chExt cx="7543800" cy="647700"/>
          </a:xfrm>
        </p:grpSpPr>
        <p:sp>
          <p:nvSpPr>
            <p:cNvPr id="8" name="node02.text"/>
            <p:cNvSpPr/>
            <p:nvPr/>
          </p:nvSpPr>
          <p:spPr>
            <a:xfrm>
              <a:off x="723900" y="1828800"/>
              <a:ext cx="75438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Find where claims stall between registration and cash, size every leak and leave a fix list the revenue cycle team can start on. We work from 24 months of your own claims, not from benchmarks, and agree every number with Finance before it goes in the plan.</a:t>
              </a:r>
              <a:endParaRPr lang="en-US" sz="1200" spc="0" kern="0" b="0" i="0" dirty="0">
                <a:solidFill>
                  <a:srgbClr val="50658E"/>
                </a:solidFill>
                <a:latin typeface="IBM Plex Sans"/>
                <a:ea typeface="IBM Plex Sans"/>
                <a:cs typeface="IBM Plex Sans"/>
              </a:endParaRPr>
            </a:p>
          </p:txBody>
        </p:sp>
      </p:grpSp>
      <p:grpSp>
        <p:nvGrpSpPr>
          <p:cNvPr id="54" name="node03"/>
          <p:cNvGrpSpPr/>
          <p:nvPr/>
        </p:nvGrpSpPr>
        <p:grpSpPr>
          <a:xfrm>
            <a:off x="723900" y="2743200"/>
            <a:ext cx="7543800" cy="139700"/>
            <a:chOff x="723900" y="2743200"/>
            <a:chExt cx="7543800" cy="139700"/>
          </a:xfrm>
        </p:grpSpPr>
        <p:sp>
          <p:nvSpPr>
            <p:cNvPr id="9" name="node03.text"/>
            <p:cNvSpPr/>
            <p:nvPr/>
          </p:nvSpPr>
          <p:spPr>
            <a:xfrm>
              <a:off x="723900" y="2743200"/>
              <a:ext cx="7543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2 · HOW WE WILL DO IT · 6 WEEKS</a:t>
              </a:r>
              <a:endParaRPr lang="en-US" sz="800" spc="48" kern="0" b="0" i="0" dirty="0">
                <a:solidFill>
                  <a:srgbClr val="0047FF"/>
                </a:solidFill>
                <a:latin typeface="IBM Plex Mono Medium"/>
                <a:ea typeface="IBM Plex Mono Medium"/>
                <a:cs typeface="IBM Plex Mono Medium"/>
              </a:endParaRPr>
            </a:p>
          </p:txBody>
        </p:sp>
      </p:grpSp>
      <p:sp>
        <p:nvSpPr>
          <p:cNvPr id="10" name="node04"/>
          <p:cNvSpPr/>
          <p:nvPr/>
        </p:nvSpPr>
        <p:spPr>
          <a:xfrm>
            <a:off x="723900" y="3009900"/>
            <a:ext cx="2362200" cy="12700"/>
          </a:xfrm>
          <a:prstGeom prst="rect">
            <a:avLst/>
          </a:prstGeom>
          <a:solidFill>
            <a:srgbClr val="CED7E6"/>
          </a:solidFill>
          <a:ln>
            <a:noFill/>
          </a:ln>
        </p:spPr>
      </p:sp>
      <p:grpSp>
        <p:nvGrpSpPr>
          <p:cNvPr id="55" name="node05"/>
          <p:cNvGrpSpPr/>
          <p:nvPr/>
        </p:nvGrpSpPr>
        <p:grpSpPr>
          <a:xfrm>
            <a:off x="723900" y="3124200"/>
            <a:ext cx="2362200" cy="139700"/>
            <a:chOff x="723900" y="3124200"/>
            <a:chExt cx="2362200" cy="139700"/>
          </a:xfrm>
        </p:grpSpPr>
        <p:sp>
          <p:nvSpPr>
            <p:cNvPr id="11" name="node05.text"/>
            <p:cNvSpPr/>
            <p:nvPr/>
          </p:nvSpPr>
          <p:spPr>
            <a:xfrm>
              <a:off x="723900" y="31242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01 · WEEKS 1 TO 2</a:t>
              </a:r>
              <a:endParaRPr lang="en-US" sz="800" spc="48" kern="0" b="0" i="0" dirty="0">
                <a:solidFill>
                  <a:srgbClr val="0047FF"/>
                </a:solidFill>
                <a:latin typeface="IBM Plex Mono Medium"/>
                <a:ea typeface="IBM Plex Mono Medium"/>
                <a:cs typeface="IBM Plex Mono Medium"/>
              </a:endParaRPr>
            </a:p>
          </p:txBody>
        </p:sp>
      </p:grpSp>
      <p:grpSp>
        <p:nvGrpSpPr>
          <p:cNvPr id="56" name="node06"/>
          <p:cNvGrpSpPr/>
          <p:nvPr/>
        </p:nvGrpSpPr>
        <p:grpSpPr>
          <a:xfrm>
            <a:off x="723900" y="3352800"/>
            <a:ext cx="2362200" cy="266700"/>
            <a:chOff x="723900" y="3352800"/>
            <a:chExt cx="2362200" cy="266700"/>
          </a:xfrm>
        </p:grpSpPr>
        <p:sp>
          <p:nvSpPr>
            <p:cNvPr id="12" name="node06.text"/>
            <p:cNvSpPr/>
            <p:nvPr/>
          </p:nvSpPr>
          <p:spPr>
            <a:xfrm>
              <a:off x="723900" y="3352800"/>
              <a:ext cx="2362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Baseline</a:t>
              </a:r>
              <a:endParaRPr lang="en-US" sz="1600" spc="-16" kern="0" b="0" i="0" dirty="0">
                <a:solidFill>
                  <a:srgbClr val="070154"/>
                </a:solidFill>
                <a:latin typeface="IBM Plex Sans SemiBold"/>
                <a:ea typeface="IBM Plex Sans SemiBold"/>
                <a:cs typeface="IBM Plex Sans SemiBold"/>
              </a:endParaRPr>
            </a:p>
          </p:txBody>
        </p:sp>
      </p:grpSp>
      <p:grpSp>
        <p:nvGrpSpPr>
          <p:cNvPr id="57" name="node07"/>
          <p:cNvGrpSpPr/>
          <p:nvPr/>
        </p:nvGrpSpPr>
        <p:grpSpPr>
          <a:xfrm>
            <a:off x="723900" y="3695700"/>
            <a:ext cx="2362200" cy="939800"/>
            <a:chOff x="723900" y="3695700"/>
            <a:chExt cx="2362200" cy="939800"/>
          </a:xfrm>
        </p:grpSpPr>
        <p:sp>
          <p:nvSpPr>
            <p:cNvPr id="13" name="node07.source-001.bullet"/>
            <p:cNvSpPr/>
            <p:nvPr/>
          </p:nvSpPr>
          <p:spPr>
            <a:xfrm>
              <a:off x="723900" y="3784600"/>
              <a:ext cx="38100" cy="38100"/>
            </a:xfrm>
            <a:prstGeom prst="rect">
              <a:avLst/>
            </a:prstGeom>
            <a:solidFill>
              <a:srgbClr val="070154"/>
            </a:solidFill>
            <a:ln>
              <a:noFill/>
            </a:ln>
          </p:spPr>
        </p:sp>
        <p:sp>
          <p:nvSpPr>
            <p:cNvPr id="14" name="node07.source-001.text"/>
            <p:cNvSpPr/>
            <p:nvPr/>
          </p:nvSpPr>
          <p:spPr>
            <a:xfrm>
              <a:off x="876300" y="36957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Pull 24 months of claims by payer</a:t>
              </a:r>
              <a:endParaRPr lang="en-US" sz="1200" spc="0" kern="0" b="0" i="0" dirty="0">
                <a:solidFill>
                  <a:srgbClr val="070154"/>
                </a:solidFill>
                <a:latin typeface="IBM Plex Sans"/>
                <a:ea typeface="IBM Plex Sans"/>
                <a:cs typeface="IBM Plex Sans"/>
              </a:endParaRPr>
            </a:p>
          </p:txBody>
        </p:sp>
        <p:sp>
          <p:nvSpPr>
            <p:cNvPr id="15" name="node07.source-002.bullet"/>
            <p:cNvSpPr/>
            <p:nvPr/>
          </p:nvSpPr>
          <p:spPr>
            <a:xfrm>
              <a:off x="723900" y="4254500"/>
              <a:ext cx="38100" cy="38100"/>
            </a:xfrm>
            <a:prstGeom prst="rect">
              <a:avLst/>
            </a:prstGeom>
            <a:solidFill>
              <a:srgbClr val="070154"/>
            </a:solidFill>
            <a:ln>
              <a:noFill/>
            </a:ln>
          </p:spPr>
        </p:sp>
        <p:sp>
          <p:nvSpPr>
            <p:cNvPr id="16" name="node07.source-002.text"/>
            <p:cNvSpPr/>
            <p:nvPr/>
          </p:nvSpPr>
          <p:spPr>
            <a:xfrm>
              <a:off x="876300" y="4165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Map registration to cash steps</a:t>
              </a:r>
              <a:endParaRPr lang="en-US" sz="1200" spc="0" kern="0" b="0" i="0" dirty="0">
                <a:solidFill>
                  <a:srgbClr val="070154"/>
                </a:solidFill>
                <a:latin typeface="IBM Plex Sans"/>
                <a:ea typeface="IBM Plex Sans"/>
                <a:cs typeface="IBM Plex Sans"/>
              </a:endParaRPr>
            </a:p>
          </p:txBody>
        </p:sp>
        <p:sp>
          <p:nvSpPr>
            <p:cNvPr id="17" name="node07.source-003.bullet"/>
            <p:cNvSpPr/>
            <p:nvPr/>
          </p:nvSpPr>
          <p:spPr>
            <a:xfrm>
              <a:off x="723900" y="4508500"/>
              <a:ext cx="38100" cy="38100"/>
            </a:xfrm>
            <a:prstGeom prst="rect">
              <a:avLst/>
            </a:prstGeom>
            <a:solidFill>
              <a:srgbClr val="070154"/>
            </a:solidFill>
            <a:ln>
              <a:noFill/>
            </a:ln>
          </p:spPr>
        </p:sp>
        <p:sp>
          <p:nvSpPr>
            <p:cNvPr id="18" name="node07.source-003.text"/>
            <p:cNvSpPr/>
            <p:nvPr/>
          </p:nvSpPr>
          <p:spPr>
            <a:xfrm>
              <a:off x="876300" y="4419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Set KPI baselines with Finance</a:t>
              </a:r>
              <a:endParaRPr lang="en-US" sz="1200" spc="0" kern="0" b="0" i="0" dirty="0">
                <a:solidFill>
                  <a:srgbClr val="070154"/>
                </a:solidFill>
                <a:latin typeface="IBM Plex Sans"/>
                <a:ea typeface="IBM Plex Sans"/>
                <a:cs typeface="IBM Plex Sans"/>
              </a:endParaRPr>
            </a:p>
          </p:txBody>
        </p:sp>
      </p:grpSp>
      <p:sp>
        <p:nvSpPr>
          <p:cNvPr id="19" name="node08"/>
          <p:cNvSpPr/>
          <p:nvPr/>
        </p:nvSpPr>
        <p:spPr>
          <a:xfrm>
            <a:off x="3314700" y="3009900"/>
            <a:ext cx="2362200" cy="12700"/>
          </a:xfrm>
          <a:prstGeom prst="rect">
            <a:avLst/>
          </a:prstGeom>
          <a:solidFill>
            <a:srgbClr val="CED7E6"/>
          </a:solidFill>
          <a:ln>
            <a:noFill/>
          </a:ln>
        </p:spPr>
      </p:sp>
      <p:grpSp>
        <p:nvGrpSpPr>
          <p:cNvPr id="58" name="node09"/>
          <p:cNvGrpSpPr/>
          <p:nvPr/>
        </p:nvGrpSpPr>
        <p:grpSpPr>
          <a:xfrm>
            <a:off x="3314700" y="3124200"/>
            <a:ext cx="2362200" cy="139700"/>
            <a:chOff x="3314700" y="3124200"/>
            <a:chExt cx="2362200" cy="139700"/>
          </a:xfrm>
        </p:grpSpPr>
        <p:sp>
          <p:nvSpPr>
            <p:cNvPr id="20" name="node09.text"/>
            <p:cNvSpPr/>
            <p:nvPr/>
          </p:nvSpPr>
          <p:spPr>
            <a:xfrm>
              <a:off x="3314700" y="31242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02 · WEEKS 3 TO 4</a:t>
              </a:r>
              <a:endParaRPr lang="en-US" sz="800" spc="48" kern="0" b="0" i="0" dirty="0">
                <a:solidFill>
                  <a:srgbClr val="0047FF"/>
                </a:solidFill>
                <a:latin typeface="IBM Plex Mono Medium"/>
                <a:ea typeface="IBM Plex Mono Medium"/>
                <a:cs typeface="IBM Plex Mono Medium"/>
              </a:endParaRPr>
            </a:p>
          </p:txBody>
        </p:sp>
      </p:grpSp>
      <p:grpSp>
        <p:nvGrpSpPr>
          <p:cNvPr id="59" name="node10"/>
          <p:cNvGrpSpPr/>
          <p:nvPr/>
        </p:nvGrpSpPr>
        <p:grpSpPr>
          <a:xfrm>
            <a:off x="3314700" y="3352800"/>
            <a:ext cx="2362200" cy="266700"/>
            <a:chOff x="3314700" y="3352800"/>
            <a:chExt cx="2362200" cy="266700"/>
          </a:xfrm>
        </p:grpSpPr>
        <p:sp>
          <p:nvSpPr>
            <p:cNvPr id="21" name="node10.text"/>
            <p:cNvSpPr/>
            <p:nvPr/>
          </p:nvSpPr>
          <p:spPr>
            <a:xfrm>
              <a:off x="3314700" y="3352800"/>
              <a:ext cx="2362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Diagnose</a:t>
              </a:r>
              <a:endParaRPr lang="en-US" sz="1600" spc="-16" kern="0" b="0" i="0" dirty="0">
                <a:solidFill>
                  <a:srgbClr val="070154"/>
                </a:solidFill>
                <a:latin typeface="IBM Plex Sans SemiBold"/>
                <a:ea typeface="IBM Plex Sans SemiBold"/>
                <a:cs typeface="IBM Plex Sans SemiBold"/>
              </a:endParaRPr>
            </a:p>
          </p:txBody>
        </p:sp>
      </p:grpSp>
      <p:grpSp>
        <p:nvGrpSpPr>
          <p:cNvPr id="60" name="node11"/>
          <p:cNvGrpSpPr/>
          <p:nvPr/>
        </p:nvGrpSpPr>
        <p:grpSpPr>
          <a:xfrm>
            <a:off x="3314700" y="3695700"/>
            <a:ext cx="2362200" cy="939800"/>
            <a:chOff x="3314700" y="3695700"/>
            <a:chExt cx="2362200" cy="939800"/>
          </a:xfrm>
        </p:grpSpPr>
        <p:sp>
          <p:nvSpPr>
            <p:cNvPr id="22" name="node11.source-001.bullet"/>
            <p:cNvSpPr/>
            <p:nvPr/>
          </p:nvSpPr>
          <p:spPr>
            <a:xfrm>
              <a:off x="3314700" y="3784600"/>
              <a:ext cx="38100" cy="38100"/>
            </a:xfrm>
            <a:prstGeom prst="rect">
              <a:avLst/>
            </a:prstGeom>
            <a:solidFill>
              <a:srgbClr val="070154"/>
            </a:solidFill>
            <a:ln>
              <a:noFill/>
            </a:ln>
          </p:spPr>
        </p:sp>
        <p:sp>
          <p:nvSpPr>
            <p:cNvPr id="23" name="node11.source-001.text"/>
            <p:cNvSpPr/>
            <p:nvPr/>
          </p:nvSpPr>
          <p:spPr>
            <a:xfrm>
              <a:off x="3467100" y="3695700"/>
              <a:ext cx="22098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Root-cause denials and underpayments</a:t>
              </a:r>
              <a:endParaRPr lang="en-US" sz="1200" spc="0" kern="0" b="0" i="0" dirty="0">
                <a:solidFill>
                  <a:srgbClr val="070154"/>
                </a:solidFill>
                <a:latin typeface="IBM Plex Sans"/>
                <a:ea typeface="IBM Plex Sans"/>
                <a:cs typeface="IBM Plex Sans"/>
              </a:endParaRPr>
            </a:p>
          </p:txBody>
        </p:sp>
        <p:sp>
          <p:nvSpPr>
            <p:cNvPr id="24" name="node11.source-002.bullet"/>
            <p:cNvSpPr/>
            <p:nvPr/>
          </p:nvSpPr>
          <p:spPr>
            <a:xfrm>
              <a:off x="3314700" y="4254500"/>
              <a:ext cx="38100" cy="38100"/>
            </a:xfrm>
            <a:prstGeom prst="rect">
              <a:avLst/>
            </a:prstGeom>
            <a:solidFill>
              <a:srgbClr val="070154"/>
            </a:solidFill>
            <a:ln>
              <a:noFill/>
            </a:ln>
          </p:spPr>
        </p:sp>
        <p:sp>
          <p:nvSpPr>
            <p:cNvPr id="25" name="node11.source-002.text"/>
            <p:cNvSpPr/>
            <p:nvPr/>
          </p:nvSpPr>
          <p:spPr>
            <a:xfrm>
              <a:off x="3467100" y="4165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Trace A/R aging by payer</a:t>
              </a:r>
              <a:endParaRPr lang="en-US" sz="1200" spc="0" kern="0" b="0" i="0" dirty="0">
                <a:solidFill>
                  <a:srgbClr val="070154"/>
                </a:solidFill>
                <a:latin typeface="IBM Plex Sans"/>
                <a:ea typeface="IBM Plex Sans"/>
                <a:cs typeface="IBM Plex Sans"/>
              </a:endParaRPr>
            </a:p>
          </p:txBody>
        </p:sp>
        <p:sp>
          <p:nvSpPr>
            <p:cNvPr id="26" name="node11.source-003.bullet"/>
            <p:cNvSpPr/>
            <p:nvPr/>
          </p:nvSpPr>
          <p:spPr>
            <a:xfrm>
              <a:off x="3314700" y="4508500"/>
              <a:ext cx="38100" cy="38100"/>
            </a:xfrm>
            <a:prstGeom prst="rect">
              <a:avLst/>
            </a:prstGeom>
            <a:solidFill>
              <a:srgbClr val="070154"/>
            </a:solidFill>
            <a:ln>
              <a:noFill/>
            </a:ln>
          </p:spPr>
        </p:sp>
        <p:sp>
          <p:nvSpPr>
            <p:cNvPr id="27" name="node11.source-003.text"/>
            <p:cNvSpPr/>
            <p:nvPr/>
          </p:nvSpPr>
          <p:spPr>
            <a:xfrm>
              <a:off x="3467100" y="44196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Validate leaks with billing leads</a:t>
              </a:r>
              <a:endParaRPr lang="en-US" sz="1200" spc="0" kern="0" b="0" i="0" dirty="0">
                <a:solidFill>
                  <a:srgbClr val="070154"/>
                </a:solidFill>
                <a:latin typeface="IBM Plex Sans"/>
                <a:ea typeface="IBM Plex Sans"/>
                <a:cs typeface="IBM Plex Sans"/>
              </a:endParaRPr>
            </a:p>
          </p:txBody>
        </p:sp>
      </p:grpSp>
      <p:sp>
        <p:nvSpPr>
          <p:cNvPr id="28" name="node12"/>
          <p:cNvSpPr/>
          <p:nvPr/>
        </p:nvSpPr>
        <p:spPr>
          <a:xfrm>
            <a:off x="5905500" y="3009900"/>
            <a:ext cx="2362200" cy="12700"/>
          </a:xfrm>
          <a:prstGeom prst="rect">
            <a:avLst/>
          </a:prstGeom>
          <a:solidFill>
            <a:srgbClr val="CED7E6"/>
          </a:solidFill>
          <a:ln>
            <a:noFill/>
          </a:ln>
        </p:spPr>
      </p:sp>
      <p:grpSp>
        <p:nvGrpSpPr>
          <p:cNvPr id="61" name="node13"/>
          <p:cNvGrpSpPr/>
          <p:nvPr/>
        </p:nvGrpSpPr>
        <p:grpSpPr>
          <a:xfrm>
            <a:off x="5905500" y="3124200"/>
            <a:ext cx="2362200" cy="139700"/>
            <a:chOff x="5905500" y="3124200"/>
            <a:chExt cx="2362200" cy="139700"/>
          </a:xfrm>
        </p:grpSpPr>
        <p:sp>
          <p:nvSpPr>
            <p:cNvPr id="29" name="node13.text"/>
            <p:cNvSpPr/>
            <p:nvPr/>
          </p:nvSpPr>
          <p:spPr>
            <a:xfrm>
              <a:off x="5905500" y="3124200"/>
              <a:ext cx="2362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03 · WEEKS 5 TO 6</a:t>
              </a:r>
              <a:endParaRPr lang="en-US" sz="800" spc="48" kern="0" b="0" i="0" dirty="0">
                <a:solidFill>
                  <a:srgbClr val="0047FF"/>
                </a:solidFill>
                <a:latin typeface="IBM Plex Mono Medium"/>
                <a:ea typeface="IBM Plex Mono Medium"/>
                <a:cs typeface="IBM Plex Mono Medium"/>
              </a:endParaRPr>
            </a:p>
          </p:txBody>
        </p:sp>
      </p:grpSp>
      <p:grpSp>
        <p:nvGrpSpPr>
          <p:cNvPr id="62" name="node14"/>
          <p:cNvGrpSpPr/>
          <p:nvPr/>
        </p:nvGrpSpPr>
        <p:grpSpPr>
          <a:xfrm>
            <a:off x="5905500" y="3352800"/>
            <a:ext cx="2362200" cy="266700"/>
            <a:chOff x="5905500" y="3352800"/>
            <a:chExt cx="2362200" cy="266700"/>
          </a:xfrm>
        </p:grpSpPr>
        <p:sp>
          <p:nvSpPr>
            <p:cNvPr id="30" name="node14.text"/>
            <p:cNvSpPr/>
            <p:nvPr/>
          </p:nvSpPr>
          <p:spPr>
            <a:xfrm>
              <a:off x="5905500" y="3352800"/>
              <a:ext cx="2362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Size and plan</a:t>
              </a:r>
              <a:endParaRPr lang="en-US" sz="1600" spc="-16" kern="0" b="0" i="0" dirty="0">
                <a:solidFill>
                  <a:srgbClr val="070154"/>
                </a:solidFill>
                <a:latin typeface="IBM Plex Sans SemiBold"/>
                <a:ea typeface="IBM Plex Sans SemiBold"/>
                <a:cs typeface="IBM Plex Sans SemiBold"/>
              </a:endParaRPr>
            </a:p>
          </p:txBody>
        </p:sp>
      </p:grpSp>
      <p:grpSp>
        <p:nvGrpSpPr>
          <p:cNvPr id="63" name="node15"/>
          <p:cNvGrpSpPr/>
          <p:nvPr/>
        </p:nvGrpSpPr>
        <p:grpSpPr>
          <a:xfrm>
            <a:off x="5905500" y="3695700"/>
            <a:ext cx="2362200" cy="723900"/>
            <a:chOff x="5905500" y="3695700"/>
            <a:chExt cx="2362200" cy="723900"/>
          </a:xfrm>
        </p:grpSpPr>
        <p:sp>
          <p:nvSpPr>
            <p:cNvPr id="31" name="node15.source-001.bullet"/>
            <p:cNvSpPr/>
            <p:nvPr/>
          </p:nvSpPr>
          <p:spPr>
            <a:xfrm>
              <a:off x="5905500" y="3784600"/>
              <a:ext cx="38100" cy="38100"/>
            </a:xfrm>
            <a:prstGeom prst="rect">
              <a:avLst/>
            </a:prstGeom>
            <a:solidFill>
              <a:srgbClr val="070154"/>
            </a:solidFill>
            <a:ln>
              <a:noFill/>
            </a:ln>
          </p:spPr>
        </p:sp>
        <p:sp>
          <p:nvSpPr>
            <p:cNvPr id="32" name="node15.source-001.text"/>
            <p:cNvSpPr/>
            <p:nvPr/>
          </p:nvSpPr>
          <p:spPr>
            <a:xfrm>
              <a:off x="6057900" y="36957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Size each fix: low, base, high</a:t>
              </a:r>
              <a:endParaRPr lang="en-US" sz="1200" spc="0" kern="0" b="0" i="0" dirty="0">
                <a:solidFill>
                  <a:srgbClr val="070154"/>
                </a:solidFill>
                <a:latin typeface="IBM Plex Sans"/>
                <a:ea typeface="IBM Plex Sans"/>
                <a:cs typeface="IBM Plex Sans"/>
              </a:endParaRPr>
            </a:p>
          </p:txBody>
        </p:sp>
        <p:sp>
          <p:nvSpPr>
            <p:cNvPr id="33" name="node15.source-002.bullet"/>
            <p:cNvSpPr/>
            <p:nvPr/>
          </p:nvSpPr>
          <p:spPr>
            <a:xfrm>
              <a:off x="5905500" y="4038600"/>
              <a:ext cx="38100" cy="38100"/>
            </a:xfrm>
            <a:prstGeom prst="rect">
              <a:avLst/>
            </a:prstGeom>
            <a:solidFill>
              <a:srgbClr val="070154"/>
            </a:solidFill>
            <a:ln>
              <a:noFill/>
            </a:ln>
          </p:spPr>
        </p:sp>
        <p:sp>
          <p:nvSpPr>
            <p:cNvPr id="34" name="node15.source-002.text"/>
            <p:cNvSpPr/>
            <p:nvPr/>
          </p:nvSpPr>
          <p:spPr>
            <a:xfrm>
              <a:off x="6057900" y="39497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Sequence by effort and value</a:t>
              </a:r>
              <a:endParaRPr lang="en-US" sz="1200" spc="0" kern="0" b="0" i="0" dirty="0">
                <a:solidFill>
                  <a:srgbClr val="070154"/>
                </a:solidFill>
                <a:latin typeface="IBM Plex Sans"/>
                <a:ea typeface="IBM Plex Sans"/>
                <a:cs typeface="IBM Plex Sans"/>
              </a:endParaRPr>
            </a:p>
          </p:txBody>
        </p:sp>
        <p:sp>
          <p:nvSpPr>
            <p:cNvPr id="35" name="node15.source-003.bullet"/>
            <p:cNvSpPr/>
            <p:nvPr/>
          </p:nvSpPr>
          <p:spPr>
            <a:xfrm>
              <a:off x="5905500" y="4292600"/>
              <a:ext cx="38100" cy="38100"/>
            </a:xfrm>
            <a:prstGeom prst="rect">
              <a:avLst/>
            </a:prstGeom>
            <a:solidFill>
              <a:srgbClr val="070154"/>
            </a:solidFill>
            <a:ln>
              <a:noFill/>
            </a:ln>
          </p:spPr>
        </p:sp>
        <p:sp>
          <p:nvSpPr>
            <p:cNvPr id="36" name="node15.source-003.text"/>
            <p:cNvSpPr/>
            <p:nvPr/>
          </p:nvSpPr>
          <p:spPr>
            <a:xfrm>
              <a:off x="6057900" y="4203700"/>
              <a:ext cx="2209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Name owners and start weeks</a:t>
              </a:r>
              <a:endParaRPr lang="en-US" sz="1200" spc="0" kern="0" b="0" i="0" dirty="0">
                <a:solidFill>
                  <a:srgbClr val="070154"/>
                </a:solidFill>
                <a:latin typeface="IBM Plex Sans"/>
                <a:ea typeface="IBM Plex Sans"/>
                <a:cs typeface="IBM Plex Sans"/>
              </a:endParaRPr>
            </a:p>
          </p:txBody>
        </p:sp>
      </p:grpSp>
      <p:grpSp>
        <p:nvGrpSpPr>
          <p:cNvPr id="64" name="node16"/>
          <p:cNvGrpSpPr/>
          <p:nvPr/>
        </p:nvGrpSpPr>
        <p:grpSpPr>
          <a:xfrm>
            <a:off x="723900" y="5029200"/>
            <a:ext cx="2514600" cy="685800"/>
            <a:chOff x="723900" y="5029200"/>
            <a:chExt cx="2514600" cy="685800"/>
          </a:xfrm>
        </p:grpSpPr>
        <p:sp>
          <p:nvSpPr>
            <p:cNvPr id="37" name="node16.surface"/>
            <p:cNvSpPr/>
            <p:nvPr/>
          </p:nvSpPr>
          <p:spPr>
            <a:xfrm>
              <a:off x="723900" y="5029200"/>
              <a:ext cx="2514600" cy="685800"/>
            </a:xfrm>
            <a:prstGeom prst="rect">
              <a:avLst/>
            </a:prstGeom>
            <a:solidFill>
              <a:srgbClr val="070154"/>
            </a:solidFill>
            <a:ln>
              <a:noFill/>
            </a:ln>
          </p:spPr>
        </p:sp>
      </p:grpSp>
      <p:grpSp>
        <p:nvGrpSpPr>
          <p:cNvPr id="65" name="node17"/>
          <p:cNvGrpSpPr/>
          <p:nvPr/>
        </p:nvGrpSpPr>
        <p:grpSpPr>
          <a:xfrm>
            <a:off x="876300" y="5143500"/>
            <a:ext cx="1333500" cy="382461"/>
            <a:chOff x="876300" y="5143500"/>
            <a:chExt cx="1333500" cy="382461"/>
          </a:xfrm>
        </p:grpSpPr>
        <p:sp>
          <p:nvSpPr>
            <p:cNvPr id="38" name="node17.text"/>
            <p:cNvSpPr/>
            <p:nvPr/>
          </p:nvSpPr>
          <p:spPr>
            <a:xfrm>
              <a:off x="876300" y="5143500"/>
              <a:ext cx="13335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FFFFF"/>
                  </a:solidFill>
                  <a:latin typeface="IBM Plex Mono SemiBold"/>
                  <a:ea typeface="IBM Plex Mono SemiBold"/>
                  <a:cs typeface="IBM Plex Mono SemiBold"/>
                </a:rPr>
                <a:t>$145K</a:t>
              </a:r>
              <a:endParaRPr lang="en-US" sz="3000" spc="-60" kern="0" b="0" i="0" dirty="0">
                <a:solidFill>
                  <a:srgbClr val="FFFFFF"/>
                </a:solidFill>
                <a:latin typeface="IBM Plex Mono SemiBold"/>
                <a:ea typeface="IBM Plex Mono SemiBold"/>
                <a:cs typeface="IBM Plex Mono SemiBold"/>
              </a:endParaRPr>
            </a:p>
          </p:txBody>
        </p:sp>
      </p:grpSp>
      <p:grpSp>
        <p:nvGrpSpPr>
          <p:cNvPr id="66" name="node18"/>
          <p:cNvGrpSpPr/>
          <p:nvPr/>
        </p:nvGrpSpPr>
        <p:grpSpPr>
          <a:xfrm>
            <a:off x="2324100" y="5143500"/>
            <a:ext cx="838200" cy="190500"/>
            <a:chOff x="2324100" y="5143500"/>
            <a:chExt cx="838200" cy="190500"/>
          </a:xfrm>
        </p:grpSpPr>
        <p:sp>
          <p:nvSpPr>
            <p:cNvPr id="39" name="node18.text"/>
            <p:cNvSpPr/>
            <p:nvPr/>
          </p:nvSpPr>
          <p:spPr>
            <a:xfrm>
              <a:off x="2324100" y="5143500"/>
              <a:ext cx="838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fixed fee</a:t>
              </a:r>
              <a:endParaRPr lang="en-US" sz="1100" spc="0" kern="0" b="0" i="0" dirty="0">
                <a:solidFill>
                  <a:srgbClr val="FFFFFF"/>
                </a:solidFill>
                <a:latin typeface="IBM Plex Sans"/>
                <a:ea typeface="IBM Plex Sans"/>
                <a:cs typeface="IBM Plex Sans"/>
              </a:endParaRPr>
            </a:p>
          </p:txBody>
        </p:sp>
      </p:grpSp>
      <p:grpSp>
        <p:nvGrpSpPr>
          <p:cNvPr id="67" name="node19"/>
          <p:cNvGrpSpPr/>
          <p:nvPr/>
        </p:nvGrpSpPr>
        <p:grpSpPr>
          <a:xfrm>
            <a:off x="2324100" y="5372100"/>
            <a:ext cx="838200" cy="190500"/>
            <a:chOff x="2324100" y="5372100"/>
            <a:chExt cx="838200" cy="190500"/>
          </a:xfrm>
        </p:grpSpPr>
        <p:sp>
          <p:nvSpPr>
            <p:cNvPr id="40" name="node19.text"/>
            <p:cNvSpPr/>
            <p:nvPr/>
          </p:nvSpPr>
          <p:spPr>
            <a:xfrm>
              <a:off x="2324100" y="5372100"/>
              <a:ext cx="838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6 weeks</a:t>
              </a:r>
              <a:endParaRPr lang="en-US" sz="1100" spc="0" kern="0" b="0" i="0" dirty="0">
                <a:solidFill>
                  <a:srgbClr val="CED7E6"/>
                </a:solidFill>
                <a:latin typeface="IBM Plex Sans"/>
                <a:ea typeface="IBM Plex Sans"/>
                <a:cs typeface="IBM Plex Sans"/>
              </a:endParaRPr>
            </a:p>
          </p:txBody>
        </p:sp>
      </p:grpSp>
      <p:grpSp>
        <p:nvGrpSpPr>
          <p:cNvPr id="68" name="node20"/>
          <p:cNvGrpSpPr/>
          <p:nvPr/>
        </p:nvGrpSpPr>
        <p:grpSpPr>
          <a:xfrm>
            <a:off x="3467100" y="5029200"/>
            <a:ext cx="4800600" cy="685800"/>
            <a:chOff x="3467100" y="5029200"/>
            <a:chExt cx="4800600" cy="685800"/>
          </a:xfrm>
        </p:grpSpPr>
        <p:sp>
          <p:nvSpPr>
            <p:cNvPr id="41" name="node20.surface"/>
            <p:cNvSpPr/>
            <p:nvPr/>
          </p:nvSpPr>
          <p:spPr>
            <a:xfrm>
              <a:off x="3467100" y="5029200"/>
              <a:ext cx="4800600" cy="685800"/>
            </a:xfrm>
            <a:prstGeom prst="rect">
              <a:avLst/>
            </a:prstGeom>
            <a:solidFill>
              <a:srgbClr val="E8EEF8"/>
            </a:solidFill>
            <a:ln>
              <a:noFill/>
            </a:ln>
          </p:spPr>
        </p:sp>
      </p:grpSp>
      <p:grpSp>
        <p:nvGrpSpPr>
          <p:cNvPr id="69" name="node21"/>
          <p:cNvGrpSpPr/>
          <p:nvPr/>
        </p:nvGrpSpPr>
        <p:grpSpPr>
          <a:xfrm>
            <a:off x="3619500" y="5105400"/>
            <a:ext cx="4495800" cy="381000"/>
            <a:chOff x="3619500" y="5105400"/>
            <a:chExt cx="4495800" cy="381000"/>
          </a:xfrm>
        </p:grpSpPr>
        <p:sp>
          <p:nvSpPr>
            <p:cNvPr id="42" name="node21.text"/>
            <p:cNvSpPr/>
            <p:nvPr/>
          </p:nvSpPr>
          <p:spPr>
            <a:xfrm>
              <a:off x="3619500" y="5105400"/>
              <a:ext cx="44958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Deliverables: KPI baseline, leak heat map, opportunity sizing, 90-day plan. Assumes a claims extract in week 1; no new tools.</a:t>
              </a:r>
              <a:endParaRPr lang="en-US" sz="1100" spc="0" kern="0" b="0" i="0" dirty="0">
                <a:solidFill>
                  <a:srgbClr val="070154"/>
                </a:solidFill>
                <a:latin typeface="IBM Plex Sans"/>
                <a:ea typeface="IBM Plex Sans"/>
                <a:cs typeface="IBM Plex Sans"/>
              </a:endParaRPr>
            </a:p>
          </p:txBody>
        </p:sp>
      </p:grpSp>
      <p:grpSp>
        <p:nvGrpSpPr>
          <p:cNvPr id="70" name="node22"/>
          <p:cNvGrpSpPr/>
          <p:nvPr/>
        </p:nvGrpSpPr>
        <p:grpSpPr>
          <a:xfrm>
            <a:off x="8953500" y="1600200"/>
            <a:ext cx="2514600" cy="139700"/>
            <a:chOff x="8953500" y="1600200"/>
            <a:chExt cx="2514600" cy="139700"/>
          </a:xfrm>
        </p:grpSpPr>
        <p:sp>
          <p:nvSpPr>
            <p:cNvPr id="43" name="node22.text"/>
            <p:cNvSpPr/>
            <p:nvPr/>
          </p:nvSpPr>
          <p:spPr>
            <a:xfrm>
              <a:off x="89535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PROOF · SAMPLE CLIENT</a:t>
              </a:r>
              <a:endParaRPr lang="en-US" sz="800" spc="48" kern="0" b="0" i="0" dirty="0">
                <a:solidFill>
                  <a:srgbClr val="0047FF"/>
                </a:solidFill>
                <a:latin typeface="IBM Plex Mono Medium"/>
                <a:ea typeface="IBM Plex Mono Medium"/>
                <a:cs typeface="IBM Plex Mono Medium"/>
              </a:endParaRPr>
            </a:p>
          </p:txBody>
        </p:sp>
      </p:grpSp>
      <p:grpSp>
        <p:nvGrpSpPr>
          <p:cNvPr id="71" name="node23"/>
          <p:cNvGrpSpPr/>
          <p:nvPr/>
        </p:nvGrpSpPr>
        <p:grpSpPr>
          <a:xfrm>
            <a:off x="8953500" y="1828800"/>
            <a:ext cx="2514600" cy="190500"/>
            <a:chOff x="8953500" y="1828800"/>
            <a:chExt cx="2514600" cy="190500"/>
          </a:xfrm>
        </p:grpSpPr>
        <p:sp>
          <p:nvSpPr>
            <p:cNvPr id="44" name="node23.text"/>
            <p:cNvSpPr/>
            <p:nvPr/>
          </p:nvSpPr>
          <p:spPr>
            <a:xfrm>
              <a:off x="8953500" y="18288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Sample case: 14 hospitals, 220 clinics.</a:t>
              </a:r>
              <a:endParaRPr lang="en-US" sz="1100" spc="0" kern="0" b="0" i="0" dirty="0">
                <a:solidFill>
                  <a:srgbClr val="50658E"/>
                </a:solidFill>
                <a:latin typeface="IBM Plex Sans"/>
                <a:ea typeface="IBM Plex Sans"/>
                <a:cs typeface="IBM Plex Sans"/>
              </a:endParaRPr>
            </a:p>
          </p:txBody>
        </p:sp>
      </p:grpSp>
      <p:grpSp>
        <p:nvGrpSpPr>
          <p:cNvPr id="72" name="node24"/>
          <p:cNvGrpSpPr/>
          <p:nvPr/>
        </p:nvGrpSpPr>
        <p:grpSpPr>
          <a:xfrm>
            <a:off x="8953500" y="2362200"/>
            <a:ext cx="1066800" cy="382461"/>
            <a:chOff x="8953500" y="2362200"/>
            <a:chExt cx="1066800" cy="382461"/>
          </a:xfrm>
        </p:grpSpPr>
        <p:sp>
          <p:nvSpPr>
            <p:cNvPr id="45" name="node24.text"/>
            <p:cNvSpPr/>
            <p:nvPr/>
          </p:nvSpPr>
          <p:spPr>
            <a:xfrm>
              <a:off x="8953500" y="2362200"/>
              <a:ext cx="1066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070154"/>
                  </a:solidFill>
                  <a:latin typeface="IBM Plex Mono SemiBold"/>
                  <a:ea typeface="IBM Plex Mono SemiBold"/>
                  <a:cs typeface="IBM Plex Mono SemiBold"/>
                </a:rPr>
                <a:t>18%</a:t>
              </a:r>
              <a:endParaRPr lang="en-US" sz="3000" spc="-60" kern="0" b="0" i="0" dirty="0">
                <a:solidFill>
                  <a:srgbClr val="070154"/>
                </a:solidFill>
                <a:latin typeface="IBM Plex Mono SemiBold"/>
                <a:ea typeface="IBM Plex Mono SemiBold"/>
                <a:cs typeface="IBM Plex Mono SemiBold"/>
              </a:endParaRPr>
            </a:p>
          </p:txBody>
        </p:sp>
      </p:grpSp>
      <p:grpSp>
        <p:nvGrpSpPr>
          <p:cNvPr id="73" name="node25"/>
          <p:cNvGrpSpPr/>
          <p:nvPr/>
        </p:nvGrpSpPr>
        <p:grpSpPr>
          <a:xfrm>
            <a:off x="10096500" y="2400300"/>
            <a:ext cx="1371600" cy="190500"/>
            <a:chOff x="10096500" y="2400300"/>
            <a:chExt cx="1371600" cy="190500"/>
          </a:xfrm>
        </p:grpSpPr>
        <p:sp>
          <p:nvSpPr>
            <p:cNvPr id="46" name="node25.text"/>
            <p:cNvSpPr/>
            <p:nvPr/>
          </p:nvSpPr>
          <p:spPr>
            <a:xfrm>
              <a:off x="10096500" y="24003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fewer denials</a:t>
              </a:r>
              <a:endParaRPr lang="en-US" sz="1100" spc="0" kern="0" b="0" i="0" dirty="0">
                <a:solidFill>
                  <a:srgbClr val="50658E"/>
                </a:solidFill>
                <a:latin typeface="IBM Plex Sans"/>
                <a:ea typeface="IBM Plex Sans"/>
                <a:cs typeface="IBM Plex Sans"/>
              </a:endParaRPr>
            </a:p>
          </p:txBody>
        </p:sp>
      </p:grpSp>
      <p:grpSp>
        <p:nvGrpSpPr>
          <p:cNvPr id="74" name="node26"/>
          <p:cNvGrpSpPr/>
          <p:nvPr/>
        </p:nvGrpSpPr>
        <p:grpSpPr>
          <a:xfrm>
            <a:off x="8953500" y="3048000"/>
            <a:ext cx="1066800" cy="382461"/>
            <a:chOff x="8953500" y="3048000"/>
            <a:chExt cx="1066800" cy="382461"/>
          </a:xfrm>
        </p:grpSpPr>
        <p:sp>
          <p:nvSpPr>
            <p:cNvPr id="47" name="node26.text"/>
            <p:cNvSpPr/>
            <p:nvPr/>
          </p:nvSpPr>
          <p:spPr>
            <a:xfrm>
              <a:off x="8953500" y="3048000"/>
              <a:ext cx="1066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070154"/>
                  </a:solidFill>
                  <a:latin typeface="IBM Plex Mono SemiBold"/>
                  <a:ea typeface="IBM Plex Mono SemiBold"/>
                  <a:cs typeface="IBM Plex Mono SemiBold"/>
                </a:rPr>
                <a:t>$11M</a:t>
              </a:r>
              <a:endParaRPr lang="en-US" sz="3000" spc="-60" kern="0" b="0" i="0" dirty="0">
                <a:solidFill>
                  <a:srgbClr val="070154"/>
                </a:solidFill>
                <a:latin typeface="IBM Plex Mono SemiBold"/>
                <a:ea typeface="IBM Plex Mono SemiBold"/>
                <a:cs typeface="IBM Plex Mono SemiBold"/>
              </a:endParaRPr>
            </a:p>
          </p:txBody>
        </p:sp>
      </p:grpSp>
      <p:grpSp>
        <p:nvGrpSpPr>
          <p:cNvPr id="75" name="node27"/>
          <p:cNvGrpSpPr/>
          <p:nvPr/>
        </p:nvGrpSpPr>
        <p:grpSpPr>
          <a:xfrm>
            <a:off x="10096500" y="3086100"/>
            <a:ext cx="1371600" cy="381000"/>
            <a:chOff x="10096500" y="3086100"/>
            <a:chExt cx="1371600" cy="381000"/>
          </a:xfrm>
        </p:grpSpPr>
        <p:sp>
          <p:nvSpPr>
            <p:cNvPr id="48" name="node27.text"/>
            <p:cNvSpPr/>
            <p:nvPr/>
          </p:nvSpPr>
          <p:spPr>
            <a:xfrm>
              <a:off x="10096500" y="3086100"/>
              <a:ext cx="1371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annual cash opportunity</a:t>
              </a:r>
              <a:endParaRPr lang="en-US" sz="1100" spc="0" kern="0" b="0" i="0" dirty="0">
                <a:solidFill>
                  <a:srgbClr val="50658E"/>
                </a:solidFill>
                <a:latin typeface="IBM Plex Sans"/>
                <a:ea typeface="IBM Plex Sans"/>
                <a:cs typeface="IBM Plex Sans"/>
              </a:endParaRPr>
            </a:p>
          </p:txBody>
        </p:sp>
      </p:grpSp>
      <p:grpSp>
        <p:nvGrpSpPr>
          <p:cNvPr id="76" name="node28"/>
          <p:cNvGrpSpPr/>
          <p:nvPr/>
        </p:nvGrpSpPr>
        <p:grpSpPr>
          <a:xfrm>
            <a:off x="8953500" y="3733800"/>
            <a:ext cx="1066800" cy="382461"/>
            <a:chOff x="8953500" y="3733800"/>
            <a:chExt cx="1066800" cy="382461"/>
          </a:xfrm>
        </p:grpSpPr>
        <p:sp>
          <p:nvSpPr>
            <p:cNvPr id="49" name="node28.text"/>
            <p:cNvSpPr/>
            <p:nvPr/>
          </p:nvSpPr>
          <p:spPr>
            <a:xfrm>
              <a:off x="8953500" y="3733800"/>
              <a:ext cx="10668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070154"/>
                  </a:solidFill>
                  <a:latin typeface="IBM Plex Mono SemiBold"/>
                  <a:ea typeface="IBM Plex Mono SemiBold"/>
                  <a:cs typeface="IBM Plex Mono SemiBold"/>
                </a:rPr>
                <a:t>9d</a:t>
              </a:r>
              <a:endParaRPr lang="en-US" sz="3000" spc="-60" kern="0" b="0" i="0" dirty="0">
                <a:solidFill>
                  <a:srgbClr val="070154"/>
                </a:solidFill>
                <a:latin typeface="IBM Plex Mono SemiBold"/>
                <a:ea typeface="IBM Plex Mono SemiBold"/>
                <a:cs typeface="IBM Plex Mono SemiBold"/>
              </a:endParaRPr>
            </a:p>
          </p:txBody>
        </p:sp>
      </p:grpSp>
      <p:grpSp>
        <p:nvGrpSpPr>
          <p:cNvPr id="77" name="node29"/>
          <p:cNvGrpSpPr/>
          <p:nvPr/>
        </p:nvGrpSpPr>
        <p:grpSpPr>
          <a:xfrm>
            <a:off x="10096500" y="3771900"/>
            <a:ext cx="1371600" cy="190500"/>
            <a:chOff x="10096500" y="3771900"/>
            <a:chExt cx="1371600" cy="190500"/>
          </a:xfrm>
        </p:grpSpPr>
        <p:sp>
          <p:nvSpPr>
            <p:cNvPr id="50" name="node29.text"/>
            <p:cNvSpPr/>
            <p:nvPr/>
          </p:nvSpPr>
          <p:spPr>
            <a:xfrm>
              <a:off x="10096500" y="3771900"/>
              <a:ext cx="1371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faster to cash</a:t>
              </a:r>
              <a:endParaRPr lang="en-US" sz="1100" spc="0" kern="0" b="0" i="0" dirty="0">
                <a:solidFill>
                  <a:srgbClr val="50658E"/>
                </a:solidFill>
                <a:latin typeface="IBM Plex Sans"/>
                <a:ea typeface="IBM Plex Sans"/>
                <a:cs typeface="IBM Plex Sans"/>
              </a:endParaRPr>
            </a:p>
          </p:txBody>
        </p:sp>
      </p:grpSp>
      <p:grpSp>
        <p:nvGrpSpPr>
          <p:cNvPr id="78" name="node30"/>
          <p:cNvGrpSpPr/>
          <p:nvPr/>
        </p:nvGrpSpPr>
        <p:grpSpPr>
          <a:xfrm>
            <a:off x="8953500" y="4648200"/>
            <a:ext cx="2514600" cy="571500"/>
            <a:chOff x="8953500" y="4648200"/>
            <a:chExt cx="2514600" cy="571500"/>
          </a:xfrm>
        </p:grpSpPr>
        <p:sp>
          <p:nvSpPr>
            <p:cNvPr id="51" name="node30.text"/>
            <p:cNvSpPr/>
            <p:nvPr/>
          </p:nvSpPr>
          <p:spPr>
            <a:xfrm>
              <a:off x="8953500" y="4648200"/>
              <a:ext cx="2514600" cy="571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“We stopped debating the numbers and started fixing the top five leaks.” VP Revenue Cycle, sample client</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ource-317">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Data platform jumpstart, proven at a health system</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216</a:t>
            </a:fld>
            <a:endParaRPr lang="en-US" sz="700" spc="0" kern="0" b="0" i="0" dirty="0">
              <a:solidFill>
                <a:srgbClr val="070154"/>
              </a:solidFill>
              <a:latin typeface="IBM Plex Mono SemiBold"/>
              <a:ea typeface="IBM Plex Mono SemiBold"/>
              <a:cs typeface="IBM Plex Mono SemiBold"/>
            </a:endParaRPr>
          </a:p>
        </p:txBody>
      </p:sp>
      <p:grpSp>
        <p:nvGrpSpPr>
          <p:cNvPr id="61" name="node01"/>
          <p:cNvGrpSpPr/>
          <p:nvPr/>
        </p:nvGrpSpPr>
        <p:grpSpPr>
          <a:xfrm>
            <a:off x="723900" y="457200"/>
            <a:ext cx="3429000" cy="139700"/>
            <a:chOff x="723900" y="457200"/>
            <a:chExt cx="3429000" cy="139700"/>
          </a:xfrm>
        </p:grpSpPr>
        <p:sp>
          <p:nvSpPr>
            <p:cNvPr id="7" name="node01.text"/>
            <p:cNvSpPr/>
            <p:nvPr/>
          </p:nvSpPr>
          <p:spPr>
            <a:xfrm>
              <a:off x="723900" y="457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2 · HOW WE WILL DO IT · 10 WEEKS</a:t>
              </a:r>
              <a:endParaRPr lang="en-US" sz="800" spc="48" kern="0" b="0" i="0" dirty="0">
                <a:solidFill>
                  <a:srgbClr val="0047FF"/>
                </a:solidFill>
                <a:latin typeface="IBM Plex Mono Medium"/>
                <a:ea typeface="IBM Plex Mono Medium"/>
                <a:cs typeface="IBM Plex Mono Medium"/>
              </a:endParaRPr>
            </a:p>
          </p:txBody>
        </p:sp>
      </p:grpSp>
      <p:sp>
        <p:nvSpPr>
          <p:cNvPr id="8" name="node02"/>
          <p:cNvSpPr/>
          <p:nvPr/>
        </p:nvSpPr>
        <p:spPr>
          <a:xfrm>
            <a:off x="723900" y="800100"/>
            <a:ext cx="3429000" cy="12700"/>
          </a:xfrm>
          <a:prstGeom prst="rect">
            <a:avLst/>
          </a:prstGeom>
          <a:solidFill>
            <a:srgbClr val="CED7E6"/>
          </a:solidFill>
          <a:ln>
            <a:noFill/>
          </a:ln>
        </p:spPr>
      </p:sp>
      <p:grpSp>
        <p:nvGrpSpPr>
          <p:cNvPr id="62" name="node03"/>
          <p:cNvGrpSpPr/>
          <p:nvPr/>
        </p:nvGrpSpPr>
        <p:grpSpPr>
          <a:xfrm>
            <a:off x="723900" y="876300"/>
            <a:ext cx="3429000" cy="139700"/>
            <a:chOff x="723900" y="876300"/>
            <a:chExt cx="3429000" cy="139700"/>
          </a:xfrm>
        </p:grpSpPr>
        <p:sp>
          <p:nvSpPr>
            <p:cNvPr id="9" name="node03.text"/>
            <p:cNvSpPr/>
            <p:nvPr/>
          </p:nvSpPr>
          <p:spPr>
            <a:xfrm>
              <a:off x="723900" y="8763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01 · FRAME · W1 TO 2</a:t>
              </a:r>
              <a:endParaRPr lang="en-US" sz="800" spc="48" kern="0" b="0" i="0" dirty="0">
                <a:solidFill>
                  <a:srgbClr val="0047FF"/>
                </a:solidFill>
                <a:latin typeface="IBM Plex Mono Medium"/>
                <a:ea typeface="IBM Plex Mono Medium"/>
                <a:cs typeface="IBM Plex Mono Medium"/>
              </a:endParaRPr>
            </a:p>
          </p:txBody>
        </p:sp>
      </p:grpSp>
      <p:grpSp>
        <p:nvGrpSpPr>
          <p:cNvPr id="63" name="node04"/>
          <p:cNvGrpSpPr/>
          <p:nvPr/>
        </p:nvGrpSpPr>
        <p:grpSpPr>
          <a:xfrm>
            <a:off x="723900" y="1104900"/>
            <a:ext cx="3429000" cy="723900"/>
            <a:chOff x="723900" y="1104900"/>
            <a:chExt cx="3429000" cy="723900"/>
          </a:xfrm>
        </p:grpSpPr>
        <p:sp>
          <p:nvSpPr>
            <p:cNvPr id="10" name="node04.source-001.bullet"/>
            <p:cNvSpPr/>
            <p:nvPr/>
          </p:nvSpPr>
          <p:spPr>
            <a:xfrm>
              <a:off x="723900" y="1193800"/>
              <a:ext cx="38100" cy="38100"/>
            </a:xfrm>
            <a:prstGeom prst="rect">
              <a:avLst/>
            </a:prstGeom>
            <a:solidFill>
              <a:srgbClr val="070154"/>
            </a:solidFill>
            <a:ln>
              <a:noFill/>
            </a:ln>
          </p:spPr>
        </p:sp>
        <p:sp>
          <p:nvSpPr>
            <p:cNvPr id="11" name="node04.source-001.text"/>
            <p:cNvSpPr/>
            <p:nvPr/>
          </p:nvSpPr>
          <p:spPr>
            <a:xfrm>
              <a:off x="876300" y="1104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Triage six sources; agree naming</a:t>
              </a:r>
              <a:endParaRPr lang="en-US" sz="1200" spc="0" kern="0" b="0" i="0" dirty="0">
                <a:solidFill>
                  <a:srgbClr val="070154"/>
                </a:solidFill>
                <a:latin typeface="IBM Plex Sans"/>
                <a:ea typeface="IBM Plex Sans"/>
                <a:cs typeface="IBM Plex Sans"/>
              </a:endParaRPr>
            </a:p>
          </p:txBody>
        </p:sp>
        <p:sp>
          <p:nvSpPr>
            <p:cNvPr id="12" name="node04.source-002.bullet"/>
            <p:cNvSpPr/>
            <p:nvPr/>
          </p:nvSpPr>
          <p:spPr>
            <a:xfrm>
              <a:off x="723900" y="1447800"/>
              <a:ext cx="38100" cy="38100"/>
            </a:xfrm>
            <a:prstGeom prst="rect">
              <a:avLst/>
            </a:prstGeom>
            <a:solidFill>
              <a:srgbClr val="070154"/>
            </a:solidFill>
            <a:ln>
              <a:noFill/>
            </a:ln>
          </p:spPr>
        </p:sp>
        <p:sp>
          <p:nvSpPr>
            <p:cNvPr id="13" name="node04.source-002.text"/>
            <p:cNvSpPr/>
            <p:nvPr/>
          </p:nvSpPr>
          <p:spPr>
            <a:xfrm>
              <a:off x="876300" y="1358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Set security and access standards</a:t>
              </a:r>
              <a:endParaRPr lang="en-US" sz="1200" spc="0" kern="0" b="0" i="0" dirty="0">
                <a:solidFill>
                  <a:srgbClr val="070154"/>
                </a:solidFill>
                <a:latin typeface="IBM Plex Sans"/>
                <a:ea typeface="IBM Plex Sans"/>
                <a:cs typeface="IBM Plex Sans"/>
              </a:endParaRPr>
            </a:p>
          </p:txBody>
        </p:sp>
        <p:sp>
          <p:nvSpPr>
            <p:cNvPr id="14" name="node04.source-003.bullet"/>
            <p:cNvSpPr/>
            <p:nvPr/>
          </p:nvSpPr>
          <p:spPr>
            <a:xfrm>
              <a:off x="723900" y="1701800"/>
              <a:ext cx="38100" cy="38100"/>
            </a:xfrm>
            <a:prstGeom prst="rect">
              <a:avLst/>
            </a:prstGeom>
            <a:solidFill>
              <a:srgbClr val="070154"/>
            </a:solidFill>
            <a:ln>
              <a:noFill/>
            </a:ln>
          </p:spPr>
        </p:sp>
        <p:sp>
          <p:nvSpPr>
            <p:cNvPr id="15" name="node04.source-003.text"/>
            <p:cNvSpPr/>
            <p:nvPr/>
          </p:nvSpPr>
          <p:spPr>
            <a:xfrm>
              <a:off x="876300" y="1612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Design the target model</a:t>
              </a:r>
              <a:endParaRPr lang="en-US" sz="1200" spc="0" kern="0" b="0" i="0" dirty="0">
                <a:solidFill>
                  <a:srgbClr val="070154"/>
                </a:solidFill>
                <a:latin typeface="IBM Plex Sans"/>
                <a:ea typeface="IBM Plex Sans"/>
                <a:cs typeface="IBM Plex Sans"/>
              </a:endParaRPr>
            </a:p>
          </p:txBody>
        </p:sp>
      </p:grpSp>
      <p:sp>
        <p:nvSpPr>
          <p:cNvPr id="16" name="node05"/>
          <p:cNvSpPr/>
          <p:nvPr/>
        </p:nvSpPr>
        <p:spPr>
          <a:xfrm>
            <a:off x="723900" y="2095500"/>
            <a:ext cx="3429000" cy="12700"/>
          </a:xfrm>
          <a:prstGeom prst="rect">
            <a:avLst/>
          </a:prstGeom>
          <a:solidFill>
            <a:srgbClr val="CED7E6"/>
          </a:solidFill>
          <a:ln>
            <a:noFill/>
          </a:ln>
        </p:spPr>
      </p:sp>
      <p:grpSp>
        <p:nvGrpSpPr>
          <p:cNvPr id="64" name="node06"/>
          <p:cNvGrpSpPr/>
          <p:nvPr/>
        </p:nvGrpSpPr>
        <p:grpSpPr>
          <a:xfrm>
            <a:off x="723900" y="2171700"/>
            <a:ext cx="3429000" cy="139700"/>
            <a:chOff x="723900" y="2171700"/>
            <a:chExt cx="3429000" cy="139700"/>
          </a:xfrm>
        </p:grpSpPr>
        <p:sp>
          <p:nvSpPr>
            <p:cNvPr id="17" name="node06.text"/>
            <p:cNvSpPr/>
            <p:nvPr/>
          </p:nvSpPr>
          <p:spPr>
            <a:xfrm>
              <a:off x="723900" y="21717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02 · BUILD · W3 TO 7</a:t>
              </a:r>
              <a:endParaRPr lang="en-US" sz="800" spc="48" kern="0" b="0" i="0" dirty="0">
                <a:solidFill>
                  <a:srgbClr val="0047FF"/>
                </a:solidFill>
                <a:latin typeface="IBM Plex Mono Medium"/>
                <a:ea typeface="IBM Plex Mono Medium"/>
                <a:cs typeface="IBM Plex Mono Medium"/>
              </a:endParaRPr>
            </a:p>
          </p:txBody>
        </p:sp>
      </p:grpSp>
      <p:grpSp>
        <p:nvGrpSpPr>
          <p:cNvPr id="65" name="node07"/>
          <p:cNvGrpSpPr/>
          <p:nvPr/>
        </p:nvGrpSpPr>
        <p:grpSpPr>
          <a:xfrm>
            <a:off x="723900" y="2400300"/>
            <a:ext cx="3429000" cy="723900"/>
            <a:chOff x="723900" y="2400300"/>
            <a:chExt cx="3429000" cy="723900"/>
          </a:xfrm>
        </p:grpSpPr>
        <p:sp>
          <p:nvSpPr>
            <p:cNvPr id="18" name="node07.source-001.bullet"/>
            <p:cNvSpPr/>
            <p:nvPr/>
          </p:nvSpPr>
          <p:spPr>
            <a:xfrm>
              <a:off x="723900" y="2489200"/>
              <a:ext cx="38100" cy="38100"/>
            </a:xfrm>
            <a:prstGeom prst="rect">
              <a:avLst/>
            </a:prstGeom>
            <a:solidFill>
              <a:srgbClr val="070154"/>
            </a:solidFill>
            <a:ln>
              <a:noFill/>
            </a:ln>
          </p:spPr>
        </p:sp>
        <p:sp>
          <p:nvSpPr>
            <p:cNvPr id="19" name="node07.source-001.text"/>
            <p:cNvSpPr/>
            <p:nvPr/>
          </p:nvSpPr>
          <p:spPr>
            <a:xfrm>
              <a:off x="876300" y="24003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Pipelines for six sources, with tests</a:t>
              </a:r>
              <a:endParaRPr lang="en-US" sz="1200" spc="0" kern="0" b="0" i="0" dirty="0">
                <a:solidFill>
                  <a:srgbClr val="070154"/>
                </a:solidFill>
                <a:latin typeface="IBM Plex Sans"/>
                <a:ea typeface="IBM Plex Sans"/>
                <a:cs typeface="IBM Plex Sans"/>
              </a:endParaRPr>
            </a:p>
          </p:txBody>
        </p:sp>
        <p:sp>
          <p:nvSpPr>
            <p:cNvPr id="20" name="node07.source-002.bullet"/>
            <p:cNvSpPr/>
            <p:nvPr/>
          </p:nvSpPr>
          <p:spPr>
            <a:xfrm>
              <a:off x="723900" y="2743200"/>
              <a:ext cx="38100" cy="38100"/>
            </a:xfrm>
            <a:prstGeom prst="rect">
              <a:avLst/>
            </a:prstGeom>
            <a:solidFill>
              <a:srgbClr val="070154"/>
            </a:solidFill>
            <a:ln>
              <a:noFill/>
            </a:ln>
          </p:spPr>
        </p:sp>
        <p:sp>
          <p:nvSpPr>
            <p:cNvPr id="21" name="node07.source-002.text"/>
            <p:cNvSpPr/>
            <p:nvPr/>
          </p:nvSpPr>
          <p:spPr>
            <a:xfrm>
              <a:off x="876300" y="26543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Model the core with data owners</a:t>
              </a:r>
              <a:endParaRPr lang="en-US" sz="1200" spc="0" kern="0" b="0" i="0" dirty="0">
                <a:solidFill>
                  <a:srgbClr val="070154"/>
                </a:solidFill>
                <a:latin typeface="IBM Plex Sans"/>
                <a:ea typeface="IBM Plex Sans"/>
                <a:cs typeface="IBM Plex Sans"/>
              </a:endParaRPr>
            </a:p>
          </p:txBody>
        </p:sp>
        <p:sp>
          <p:nvSpPr>
            <p:cNvPr id="22" name="node07.source-003.bullet"/>
            <p:cNvSpPr/>
            <p:nvPr/>
          </p:nvSpPr>
          <p:spPr>
            <a:xfrm>
              <a:off x="723900" y="2997200"/>
              <a:ext cx="38100" cy="38100"/>
            </a:xfrm>
            <a:prstGeom prst="rect">
              <a:avLst/>
            </a:prstGeom>
            <a:solidFill>
              <a:srgbClr val="070154"/>
            </a:solidFill>
            <a:ln>
              <a:noFill/>
            </a:ln>
          </p:spPr>
        </p:sp>
        <p:sp>
          <p:nvSpPr>
            <p:cNvPr id="23" name="node07.source-003.text"/>
            <p:cNvSpPr/>
            <p:nvPr/>
          </p:nvSpPr>
          <p:spPr>
            <a:xfrm>
              <a:off x="876300" y="29083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Weekly review of lineage and quality</a:t>
              </a:r>
              <a:endParaRPr lang="en-US" sz="1200" spc="0" kern="0" b="0" i="0" dirty="0">
                <a:solidFill>
                  <a:srgbClr val="070154"/>
                </a:solidFill>
                <a:latin typeface="IBM Plex Sans"/>
                <a:ea typeface="IBM Plex Sans"/>
                <a:cs typeface="IBM Plex Sans"/>
              </a:endParaRPr>
            </a:p>
          </p:txBody>
        </p:sp>
      </p:grpSp>
      <p:sp>
        <p:nvSpPr>
          <p:cNvPr id="24" name="node08"/>
          <p:cNvSpPr/>
          <p:nvPr/>
        </p:nvSpPr>
        <p:spPr>
          <a:xfrm>
            <a:off x="723900" y="3390900"/>
            <a:ext cx="3429000" cy="12700"/>
          </a:xfrm>
          <a:prstGeom prst="rect">
            <a:avLst/>
          </a:prstGeom>
          <a:solidFill>
            <a:srgbClr val="CED7E6"/>
          </a:solidFill>
          <a:ln>
            <a:noFill/>
          </a:ln>
        </p:spPr>
      </p:sp>
      <p:grpSp>
        <p:nvGrpSpPr>
          <p:cNvPr id="66" name="node09"/>
          <p:cNvGrpSpPr/>
          <p:nvPr/>
        </p:nvGrpSpPr>
        <p:grpSpPr>
          <a:xfrm>
            <a:off x="723900" y="3467100"/>
            <a:ext cx="3429000" cy="139700"/>
            <a:chOff x="723900" y="3467100"/>
            <a:chExt cx="3429000" cy="139700"/>
          </a:xfrm>
        </p:grpSpPr>
        <p:sp>
          <p:nvSpPr>
            <p:cNvPr id="25" name="node09.text"/>
            <p:cNvSpPr/>
            <p:nvPr/>
          </p:nvSpPr>
          <p:spPr>
            <a:xfrm>
              <a:off x="723900" y="34671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03 · PROVE · W8 TO 9</a:t>
              </a:r>
              <a:endParaRPr lang="en-US" sz="800" spc="48" kern="0" b="0" i="0" dirty="0">
                <a:solidFill>
                  <a:srgbClr val="0047FF"/>
                </a:solidFill>
                <a:latin typeface="IBM Plex Mono Medium"/>
                <a:ea typeface="IBM Plex Mono Medium"/>
                <a:cs typeface="IBM Plex Mono Medium"/>
              </a:endParaRPr>
            </a:p>
          </p:txBody>
        </p:sp>
      </p:grpSp>
      <p:grpSp>
        <p:nvGrpSpPr>
          <p:cNvPr id="67" name="node10"/>
          <p:cNvGrpSpPr/>
          <p:nvPr/>
        </p:nvGrpSpPr>
        <p:grpSpPr>
          <a:xfrm>
            <a:off x="723900" y="3695700"/>
            <a:ext cx="3429000" cy="723900"/>
            <a:chOff x="723900" y="3695700"/>
            <a:chExt cx="3429000" cy="723900"/>
          </a:xfrm>
        </p:grpSpPr>
        <p:sp>
          <p:nvSpPr>
            <p:cNvPr id="26" name="node10.source-001.bullet"/>
            <p:cNvSpPr/>
            <p:nvPr/>
          </p:nvSpPr>
          <p:spPr>
            <a:xfrm>
              <a:off x="723900" y="3784600"/>
              <a:ext cx="38100" cy="38100"/>
            </a:xfrm>
            <a:prstGeom prst="rect">
              <a:avLst/>
            </a:prstGeom>
            <a:solidFill>
              <a:srgbClr val="070154"/>
            </a:solidFill>
            <a:ln>
              <a:noFill/>
            </a:ln>
          </p:spPr>
        </p:sp>
        <p:sp>
          <p:nvSpPr>
            <p:cNvPr id="27" name="node10.source-001.text"/>
            <p:cNvSpPr/>
            <p:nvPr/>
          </p:nvSpPr>
          <p:spPr>
            <a:xfrm>
              <a:off x="876300" y="36957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Build two priority reports</a:t>
              </a:r>
              <a:endParaRPr lang="en-US" sz="1200" spc="0" kern="0" b="0" i="0" dirty="0">
                <a:solidFill>
                  <a:srgbClr val="070154"/>
                </a:solidFill>
                <a:latin typeface="IBM Plex Sans"/>
                <a:ea typeface="IBM Plex Sans"/>
                <a:cs typeface="IBM Plex Sans"/>
              </a:endParaRPr>
            </a:p>
          </p:txBody>
        </p:sp>
        <p:sp>
          <p:nvSpPr>
            <p:cNvPr id="28" name="node10.source-002.bullet"/>
            <p:cNvSpPr/>
            <p:nvPr/>
          </p:nvSpPr>
          <p:spPr>
            <a:xfrm>
              <a:off x="723900" y="4038600"/>
              <a:ext cx="38100" cy="38100"/>
            </a:xfrm>
            <a:prstGeom prst="rect">
              <a:avLst/>
            </a:prstGeom>
            <a:solidFill>
              <a:srgbClr val="070154"/>
            </a:solidFill>
            <a:ln>
              <a:noFill/>
            </a:ln>
          </p:spPr>
        </p:sp>
        <p:sp>
          <p:nvSpPr>
            <p:cNvPr id="29" name="node10.source-002.text"/>
            <p:cNvSpPr/>
            <p:nvPr/>
          </p:nvSpPr>
          <p:spPr>
            <a:xfrm>
              <a:off x="876300" y="39497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Validate numbers with Finance and clinical</a:t>
              </a:r>
              <a:endParaRPr lang="en-US" sz="1200" spc="0" kern="0" b="0" i="0" dirty="0">
                <a:solidFill>
                  <a:srgbClr val="070154"/>
                </a:solidFill>
                <a:latin typeface="IBM Plex Sans"/>
                <a:ea typeface="IBM Plex Sans"/>
                <a:cs typeface="IBM Plex Sans"/>
              </a:endParaRPr>
            </a:p>
          </p:txBody>
        </p:sp>
        <p:sp>
          <p:nvSpPr>
            <p:cNvPr id="30" name="node10.source-003.bullet"/>
            <p:cNvSpPr/>
            <p:nvPr/>
          </p:nvSpPr>
          <p:spPr>
            <a:xfrm>
              <a:off x="723900" y="4292600"/>
              <a:ext cx="38100" cy="38100"/>
            </a:xfrm>
            <a:prstGeom prst="rect">
              <a:avLst/>
            </a:prstGeom>
            <a:solidFill>
              <a:srgbClr val="070154"/>
            </a:solidFill>
            <a:ln>
              <a:noFill/>
            </a:ln>
          </p:spPr>
        </p:sp>
        <p:sp>
          <p:nvSpPr>
            <p:cNvPr id="31" name="node10.source-003.text"/>
            <p:cNvSpPr/>
            <p:nvPr/>
          </p:nvSpPr>
          <p:spPr>
            <a:xfrm>
              <a:off x="876300" y="42037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Fix gaps before go-live</a:t>
              </a:r>
              <a:endParaRPr lang="en-US" sz="1200" spc="0" kern="0" b="0" i="0" dirty="0">
                <a:solidFill>
                  <a:srgbClr val="070154"/>
                </a:solidFill>
                <a:latin typeface="IBM Plex Sans"/>
                <a:ea typeface="IBM Plex Sans"/>
                <a:cs typeface="IBM Plex Sans"/>
              </a:endParaRPr>
            </a:p>
          </p:txBody>
        </p:sp>
      </p:grpSp>
      <p:sp>
        <p:nvSpPr>
          <p:cNvPr id="32" name="node11"/>
          <p:cNvSpPr/>
          <p:nvPr/>
        </p:nvSpPr>
        <p:spPr>
          <a:xfrm>
            <a:off x="723900" y="4610100"/>
            <a:ext cx="3429000" cy="12700"/>
          </a:xfrm>
          <a:prstGeom prst="rect">
            <a:avLst/>
          </a:prstGeom>
          <a:solidFill>
            <a:srgbClr val="CED7E6"/>
          </a:solidFill>
          <a:ln>
            <a:noFill/>
          </a:ln>
        </p:spPr>
      </p:sp>
      <p:grpSp>
        <p:nvGrpSpPr>
          <p:cNvPr id="68" name="node12"/>
          <p:cNvGrpSpPr/>
          <p:nvPr/>
        </p:nvGrpSpPr>
        <p:grpSpPr>
          <a:xfrm>
            <a:off x="723900" y="4686300"/>
            <a:ext cx="3429000" cy="139700"/>
            <a:chOff x="723900" y="4686300"/>
            <a:chExt cx="3429000" cy="139700"/>
          </a:xfrm>
        </p:grpSpPr>
        <p:sp>
          <p:nvSpPr>
            <p:cNvPr id="33" name="node12.text"/>
            <p:cNvSpPr/>
            <p:nvPr/>
          </p:nvSpPr>
          <p:spPr>
            <a:xfrm>
              <a:off x="723900" y="46863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04 · HAND OVER · W10</a:t>
              </a:r>
              <a:endParaRPr lang="en-US" sz="800" spc="48" kern="0" b="0" i="0" dirty="0">
                <a:solidFill>
                  <a:srgbClr val="0047FF"/>
                </a:solidFill>
                <a:latin typeface="IBM Plex Mono Medium"/>
                <a:ea typeface="IBM Plex Mono Medium"/>
                <a:cs typeface="IBM Plex Mono Medium"/>
              </a:endParaRPr>
            </a:p>
          </p:txBody>
        </p:sp>
      </p:grpSp>
      <p:grpSp>
        <p:nvGrpSpPr>
          <p:cNvPr id="69" name="node13"/>
          <p:cNvGrpSpPr/>
          <p:nvPr/>
        </p:nvGrpSpPr>
        <p:grpSpPr>
          <a:xfrm>
            <a:off x="723900" y="4914900"/>
            <a:ext cx="3429000" cy="723900"/>
            <a:chOff x="723900" y="4914900"/>
            <a:chExt cx="3429000" cy="723900"/>
          </a:xfrm>
        </p:grpSpPr>
        <p:sp>
          <p:nvSpPr>
            <p:cNvPr id="34" name="node13.source-001.bullet"/>
            <p:cNvSpPr/>
            <p:nvPr/>
          </p:nvSpPr>
          <p:spPr>
            <a:xfrm>
              <a:off x="723900" y="5003800"/>
              <a:ext cx="38100" cy="38100"/>
            </a:xfrm>
            <a:prstGeom prst="rect">
              <a:avLst/>
            </a:prstGeom>
            <a:solidFill>
              <a:srgbClr val="070154"/>
            </a:solidFill>
            <a:ln>
              <a:noFill/>
            </a:ln>
          </p:spPr>
        </p:sp>
        <p:sp>
          <p:nvSpPr>
            <p:cNvPr id="35" name="node13.source-001.text"/>
            <p:cNvSpPr/>
            <p:nvPr/>
          </p:nvSpPr>
          <p:spPr>
            <a:xfrm>
              <a:off x="876300" y="4914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Run book and monitoring</a:t>
              </a:r>
              <a:endParaRPr lang="en-US" sz="1200" spc="0" kern="0" b="0" i="0" dirty="0">
                <a:solidFill>
                  <a:srgbClr val="070154"/>
                </a:solidFill>
                <a:latin typeface="IBM Plex Sans"/>
                <a:ea typeface="IBM Plex Sans"/>
                <a:cs typeface="IBM Plex Sans"/>
              </a:endParaRPr>
            </a:p>
          </p:txBody>
        </p:sp>
        <p:sp>
          <p:nvSpPr>
            <p:cNvPr id="36" name="node13.source-002.bullet"/>
            <p:cNvSpPr/>
            <p:nvPr/>
          </p:nvSpPr>
          <p:spPr>
            <a:xfrm>
              <a:off x="723900" y="5257800"/>
              <a:ext cx="38100" cy="38100"/>
            </a:xfrm>
            <a:prstGeom prst="rect">
              <a:avLst/>
            </a:prstGeom>
            <a:solidFill>
              <a:srgbClr val="070154"/>
            </a:solidFill>
            <a:ln>
              <a:noFill/>
            </a:ln>
          </p:spPr>
        </p:sp>
        <p:sp>
          <p:nvSpPr>
            <p:cNvPr id="37" name="node13.source-002.text"/>
            <p:cNvSpPr/>
            <p:nvPr/>
          </p:nvSpPr>
          <p:spPr>
            <a:xfrm>
              <a:off x="876300" y="5168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Train 30 report builders</a:t>
              </a:r>
              <a:endParaRPr lang="en-US" sz="1200" spc="0" kern="0" b="0" i="0" dirty="0">
                <a:solidFill>
                  <a:srgbClr val="070154"/>
                </a:solidFill>
                <a:latin typeface="IBM Plex Sans"/>
                <a:ea typeface="IBM Plex Sans"/>
                <a:cs typeface="IBM Plex Sans"/>
              </a:endParaRPr>
            </a:p>
          </p:txBody>
        </p:sp>
        <p:sp>
          <p:nvSpPr>
            <p:cNvPr id="38" name="node13.source-003.bullet"/>
            <p:cNvSpPr/>
            <p:nvPr/>
          </p:nvSpPr>
          <p:spPr>
            <a:xfrm>
              <a:off x="723900" y="5511800"/>
              <a:ext cx="38100" cy="38100"/>
            </a:xfrm>
            <a:prstGeom prst="rect">
              <a:avLst/>
            </a:prstGeom>
            <a:solidFill>
              <a:srgbClr val="070154"/>
            </a:solidFill>
            <a:ln>
              <a:noFill/>
            </a:ln>
          </p:spPr>
        </p:sp>
        <p:sp>
          <p:nvSpPr>
            <p:cNvPr id="39" name="node13.source-003.text"/>
            <p:cNvSpPr/>
            <p:nvPr/>
          </p:nvSpPr>
          <p:spPr>
            <a:xfrm>
              <a:off x="876300" y="54229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Backlog for the next quarter</a:t>
              </a:r>
              <a:endParaRPr lang="en-US" sz="1200" spc="0" kern="0" b="0" i="0" dirty="0">
                <a:solidFill>
                  <a:srgbClr val="070154"/>
                </a:solidFill>
                <a:latin typeface="IBM Plex Sans"/>
                <a:ea typeface="IBM Plex Sans"/>
                <a:cs typeface="IBM Plex Sans"/>
              </a:endParaRPr>
            </a:p>
          </p:txBody>
        </p:sp>
      </p:grpSp>
      <p:grpSp>
        <p:nvGrpSpPr>
          <p:cNvPr id="70" name="node14"/>
          <p:cNvGrpSpPr/>
          <p:nvPr/>
        </p:nvGrpSpPr>
        <p:grpSpPr>
          <a:xfrm>
            <a:off x="4381500" y="2057400"/>
            <a:ext cx="7086600" cy="139700"/>
            <a:chOff x="4381500" y="2057400"/>
            <a:chExt cx="7086600" cy="139700"/>
          </a:xfrm>
        </p:grpSpPr>
        <p:sp>
          <p:nvSpPr>
            <p:cNvPr id="40" name="node14.text"/>
            <p:cNvSpPr/>
            <p:nvPr/>
          </p:nvSpPr>
          <p:spPr>
            <a:xfrm>
              <a:off x="4381500" y="20574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 · WHAT WE WILL DO</a:t>
              </a:r>
              <a:endParaRPr lang="en-US" sz="800" spc="48" kern="0" b="0" i="0" dirty="0">
                <a:solidFill>
                  <a:srgbClr val="0047FF"/>
                </a:solidFill>
                <a:latin typeface="IBM Plex Mono Medium"/>
                <a:ea typeface="IBM Plex Mono Medium"/>
                <a:cs typeface="IBM Plex Mono Medium"/>
              </a:endParaRPr>
            </a:p>
          </p:txBody>
        </p:sp>
      </p:grpSp>
      <p:grpSp>
        <p:nvGrpSpPr>
          <p:cNvPr id="71" name="node15"/>
          <p:cNvGrpSpPr/>
          <p:nvPr/>
        </p:nvGrpSpPr>
        <p:grpSpPr>
          <a:xfrm>
            <a:off x="4381500" y="2286000"/>
            <a:ext cx="7086600" cy="647700"/>
            <a:chOff x="4381500" y="2286000"/>
            <a:chExt cx="7086600" cy="647700"/>
          </a:xfrm>
        </p:grpSpPr>
        <p:sp>
          <p:nvSpPr>
            <p:cNvPr id="41" name="node15.text"/>
            <p:cNvSpPr/>
            <p:nvPr/>
          </p:nvSpPr>
          <p:spPr>
            <a:xfrm>
              <a:off x="4381500" y="2286000"/>
              <a:ext cx="70866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A governed starter platform on real Northfield data in ten weeks: six sources ingested, a tested core model and two live reports that finance and clinical leaders both use, built beside your team so you can extend it.</a:t>
              </a:r>
              <a:endParaRPr lang="en-US" sz="1200" spc="0" kern="0" b="0" i="0" dirty="0">
                <a:solidFill>
                  <a:srgbClr val="50658E"/>
                </a:solidFill>
                <a:latin typeface="IBM Plex Sans"/>
                <a:ea typeface="IBM Plex Sans"/>
                <a:cs typeface="IBM Plex Sans"/>
              </a:endParaRPr>
            </a:p>
          </p:txBody>
        </p:sp>
      </p:grpSp>
      <p:grpSp>
        <p:nvGrpSpPr>
          <p:cNvPr id="72" name="node16"/>
          <p:cNvGrpSpPr/>
          <p:nvPr/>
        </p:nvGrpSpPr>
        <p:grpSpPr>
          <a:xfrm>
            <a:off x="4381500" y="3200400"/>
            <a:ext cx="3429000" cy="1143000"/>
            <a:chOff x="4381500" y="3200400"/>
            <a:chExt cx="3429000" cy="1143000"/>
          </a:xfrm>
        </p:grpSpPr>
        <p:sp>
          <p:nvSpPr>
            <p:cNvPr id="42" name="node16.surface"/>
            <p:cNvSpPr/>
            <p:nvPr/>
          </p:nvSpPr>
          <p:spPr>
            <a:xfrm>
              <a:off x="4381500" y="3200400"/>
              <a:ext cx="3429000" cy="1143000"/>
            </a:xfrm>
            <a:prstGeom prst="rect">
              <a:avLst/>
            </a:prstGeom>
            <a:solidFill>
              <a:srgbClr val="070154"/>
            </a:solidFill>
            <a:ln>
              <a:noFill/>
            </a:ln>
          </p:spPr>
        </p:sp>
      </p:grpSp>
      <p:grpSp>
        <p:nvGrpSpPr>
          <p:cNvPr id="73" name="node17"/>
          <p:cNvGrpSpPr/>
          <p:nvPr/>
        </p:nvGrpSpPr>
        <p:grpSpPr>
          <a:xfrm>
            <a:off x="4533900" y="3352800"/>
            <a:ext cx="3124200" cy="139700"/>
            <a:chOff x="4533900" y="3352800"/>
            <a:chExt cx="3124200" cy="139700"/>
          </a:xfrm>
        </p:grpSpPr>
        <p:sp>
          <p:nvSpPr>
            <p:cNvPr id="43" name="node17.text"/>
            <p:cNvSpPr/>
            <p:nvPr/>
          </p:nvSpPr>
          <p:spPr>
            <a:xfrm>
              <a:off x="4533900" y="33528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FIXED FEE</a:t>
              </a:r>
              <a:endParaRPr lang="en-US" sz="800" spc="48" kern="0" b="0" i="0" dirty="0">
                <a:solidFill>
                  <a:srgbClr val="CED7E6"/>
                </a:solidFill>
                <a:latin typeface="IBM Plex Mono Medium"/>
                <a:ea typeface="IBM Plex Mono Medium"/>
                <a:cs typeface="IBM Plex Mono Medium"/>
              </a:endParaRPr>
            </a:p>
          </p:txBody>
        </p:sp>
      </p:grpSp>
      <p:grpSp>
        <p:nvGrpSpPr>
          <p:cNvPr id="74" name="node18"/>
          <p:cNvGrpSpPr/>
          <p:nvPr/>
        </p:nvGrpSpPr>
        <p:grpSpPr>
          <a:xfrm>
            <a:off x="4533900" y="3581400"/>
            <a:ext cx="1524000" cy="382461"/>
            <a:chOff x="4533900" y="3581400"/>
            <a:chExt cx="1524000" cy="382461"/>
          </a:xfrm>
        </p:grpSpPr>
        <p:sp>
          <p:nvSpPr>
            <p:cNvPr id="44" name="node18.text"/>
            <p:cNvSpPr/>
            <p:nvPr/>
          </p:nvSpPr>
          <p:spPr>
            <a:xfrm>
              <a:off x="4533900" y="3581400"/>
              <a:ext cx="15240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FFFFFF"/>
                  </a:solidFill>
                  <a:latin typeface="IBM Plex Mono SemiBold"/>
                  <a:ea typeface="IBM Plex Mono SemiBold"/>
                  <a:cs typeface="IBM Plex Mono SemiBold"/>
                </a:rPr>
                <a:t>$240K</a:t>
              </a:r>
              <a:endParaRPr lang="en-US" sz="3000" spc="-60" kern="0" b="0" i="0" dirty="0">
                <a:solidFill>
                  <a:srgbClr val="FFFFFF"/>
                </a:solidFill>
                <a:latin typeface="IBM Plex Mono SemiBold"/>
                <a:ea typeface="IBM Plex Mono SemiBold"/>
                <a:cs typeface="IBM Plex Mono SemiBold"/>
              </a:endParaRPr>
            </a:p>
          </p:txBody>
        </p:sp>
      </p:grpSp>
      <p:grpSp>
        <p:nvGrpSpPr>
          <p:cNvPr id="75" name="node19"/>
          <p:cNvGrpSpPr/>
          <p:nvPr/>
        </p:nvGrpSpPr>
        <p:grpSpPr>
          <a:xfrm>
            <a:off x="6057900" y="3619500"/>
            <a:ext cx="1600200" cy="190500"/>
            <a:chOff x="6057900" y="3619500"/>
            <a:chExt cx="1600200" cy="190500"/>
          </a:xfrm>
        </p:grpSpPr>
        <p:sp>
          <p:nvSpPr>
            <p:cNvPr id="45" name="node19.text"/>
            <p:cNvSpPr/>
            <p:nvPr/>
          </p:nvSpPr>
          <p:spPr>
            <a:xfrm>
              <a:off x="6057900" y="36195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fixed fee, 10 weeks</a:t>
              </a:r>
              <a:endParaRPr lang="en-US" sz="1100" spc="0" kern="0" b="0" i="0" dirty="0">
                <a:solidFill>
                  <a:srgbClr val="FFFFFF"/>
                </a:solidFill>
                <a:latin typeface="IBM Plex Sans"/>
                <a:ea typeface="IBM Plex Sans"/>
                <a:cs typeface="IBM Plex Sans"/>
              </a:endParaRPr>
            </a:p>
          </p:txBody>
        </p:sp>
      </p:grpSp>
      <p:grpSp>
        <p:nvGrpSpPr>
          <p:cNvPr id="76" name="node20"/>
          <p:cNvGrpSpPr/>
          <p:nvPr/>
        </p:nvGrpSpPr>
        <p:grpSpPr>
          <a:xfrm>
            <a:off x="6057900" y="3848100"/>
            <a:ext cx="1600200" cy="190500"/>
            <a:chOff x="6057900" y="3848100"/>
            <a:chExt cx="1600200" cy="190500"/>
          </a:xfrm>
        </p:grpSpPr>
        <p:sp>
          <p:nvSpPr>
            <p:cNvPr id="46" name="node20.text"/>
            <p:cNvSpPr/>
            <p:nvPr/>
          </p:nvSpPr>
          <p:spPr>
            <a:xfrm>
              <a:off x="6057900" y="38481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3 invoices, net 30</a:t>
              </a:r>
              <a:endParaRPr lang="en-US" sz="1100" spc="0" kern="0" b="0" i="0" dirty="0">
                <a:solidFill>
                  <a:srgbClr val="CED7E6"/>
                </a:solidFill>
                <a:latin typeface="IBM Plex Sans"/>
                <a:ea typeface="IBM Plex Sans"/>
                <a:cs typeface="IBM Plex Sans"/>
              </a:endParaRPr>
            </a:p>
          </p:txBody>
        </p:sp>
      </p:grpSp>
      <p:grpSp>
        <p:nvGrpSpPr>
          <p:cNvPr id="77" name="node21"/>
          <p:cNvGrpSpPr/>
          <p:nvPr/>
        </p:nvGrpSpPr>
        <p:grpSpPr>
          <a:xfrm>
            <a:off x="8039100" y="3200400"/>
            <a:ext cx="3429000" cy="139700"/>
            <a:chOff x="8039100" y="3200400"/>
            <a:chExt cx="3429000" cy="139700"/>
          </a:xfrm>
        </p:grpSpPr>
        <p:sp>
          <p:nvSpPr>
            <p:cNvPr id="47" name="node21.text"/>
            <p:cNvSpPr/>
            <p:nvPr/>
          </p:nvSpPr>
          <p:spPr>
            <a:xfrm>
              <a:off x="8039100" y="32004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DELIVERABLES</a:t>
              </a:r>
              <a:endParaRPr lang="en-US" sz="800" spc="48" kern="0" b="0" i="0" dirty="0">
                <a:solidFill>
                  <a:srgbClr val="0047FF"/>
                </a:solidFill>
                <a:latin typeface="IBM Plex Mono Medium"/>
                <a:ea typeface="IBM Plex Mono Medium"/>
                <a:cs typeface="IBM Plex Mono Medium"/>
              </a:endParaRPr>
            </a:p>
          </p:txBody>
        </p:sp>
      </p:grpSp>
      <p:grpSp>
        <p:nvGrpSpPr>
          <p:cNvPr id="78" name="node22"/>
          <p:cNvGrpSpPr/>
          <p:nvPr/>
        </p:nvGrpSpPr>
        <p:grpSpPr>
          <a:xfrm>
            <a:off x="8039100" y="3429000"/>
            <a:ext cx="3429000" cy="723900"/>
            <a:chOff x="8039100" y="3429000"/>
            <a:chExt cx="3429000" cy="723900"/>
          </a:xfrm>
        </p:grpSpPr>
        <p:sp>
          <p:nvSpPr>
            <p:cNvPr id="48" name="node22.source-001.bullet"/>
            <p:cNvSpPr/>
            <p:nvPr/>
          </p:nvSpPr>
          <p:spPr>
            <a:xfrm>
              <a:off x="8039100" y="3517900"/>
              <a:ext cx="38100" cy="38100"/>
            </a:xfrm>
            <a:prstGeom prst="rect">
              <a:avLst/>
            </a:prstGeom>
            <a:solidFill>
              <a:srgbClr val="070154"/>
            </a:solidFill>
            <a:ln>
              <a:noFill/>
            </a:ln>
          </p:spPr>
        </p:sp>
        <p:sp>
          <p:nvSpPr>
            <p:cNvPr id="49" name="node22.source-001.text"/>
            <p:cNvSpPr/>
            <p:nvPr/>
          </p:nvSpPr>
          <p:spPr>
            <a:xfrm>
              <a:off x="8191500" y="3429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Platform blueprint and standards</a:t>
              </a:r>
              <a:endParaRPr lang="en-US" sz="1200" spc="0" kern="0" b="0" i="0" dirty="0">
                <a:solidFill>
                  <a:srgbClr val="070154"/>
                </a:solidFill>
                <a:latin typeface="IBM Plex Sans"/>
                <a:ea typeface="IBM Plex Sans"/>
                <a:cs typeface="IBM Plex Sans"/>
              </a:endParaRPr>
            </a:p>
          </p:txBody>
        </p:sp>
        <p:sp>
          <p:nvSpPr>
            <p:cNvPr id="50" name="node22.source-002.bullet"/>
            <p:cNvSpPr/>
            <p:nvPr/>
          </p:nvSpPr>
          <p:spPr>
            <a:xfrm>
              <a:off x="8039100" y="3771900"/>
              <a:ext cx="38100" cy="38100"/>
            </a:xfrm>
            <a:prstGeom prst="rect">
              <a:avLst/>
            </a:prstGeom>
            <a:solidFill>
              <a:srgbClr val="070154"/>
            </a:solidFill>
            <a:ln>
              <a:noFill/>
            </a:ln>
          </p:spPr>
        </p:sp>
        <p:sp>
          <p:nvSpPr>
            <p:cNvPr id="51" name="node22.source-002.text"/>
            <p:cNvSpPr/>
            <p:nvPr/>
          </p:nvSpPr>
          <p:spPr>
            <a:xfrm>
              <a:off x="8191500" y="3683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Tested core model, six sources</a:t>
              </a:r>
              <a:endParaRPr lang="en-US" sz="1200" spc="0" kern="0" b="0" i="0" dirty="0">
                <a:solidFill>
                  <a:srgbClr val="070154"/>
                </a:solidFill>
                <a:latin typeface="IBM Plex Sans"/>
                <a:ea typeface="IBM Plex Sans"/>
                <a:cs typeface="IBM Plex Sans"/>
              </a:endParaRPr>
            </a:p>
          </p:txBody>
        </p:sp>
        <p:sp>
          <p:nvSpPr>
            <p:cNvPr id="52" name="node22.source-003.bullet"/>
            <p:cNvSpPr/>
            <p:nvPr/>
          </p:nvSpPr>
          <p:spPr>
            <a:xfrm>
              <a:off x="8039100" y="4025900"/>
              <a:ext cx="38100" cy="38100"/>
            </a:xfrm>
            <a:prstGeom prst="rect">
              <a:avLst/>
            </a:prstGeom>
            <a:solidFill>
              <a:srgbClr val="070154"/>
            </a:solidFill>
            <a:ln>
              <a:noFill/>
            </a:ln>
          </p:spPr>
        </p:sp>
        <p:sp>
          <p:nvSpPr>
            <p:cNvPr id="53" name="node22.source-003.text"/>
            <p:cNvSpPr/>
            <p:nvPr/>
          </p:nvSpPr>
          <p:spPr>
            <a:xfrm>
              <a:off x="8191500" y="3937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Two live reports, run book</a:t>
              </a:r>
              <a:endParaRPr lang="en-US" sz="1200" spc="0" kern="0" b="0" i="0" dirty="0">
                <a:solidFill>
                  <a:srgbClr val="070154"/>
                </a:solidFill>
                <a:latin typeface="IBM Plex Sans"/>
                <a:ea typeface="IBM Plex Sans"/>
                <a:cs typeface="IBM Plex Sans"/>
              </a:endParaRPr>
            </a:p>
          </p:txBody>
        </p:sp>
      </p:grpSp>
      <p:grpSp>
        <p:nvGrpSpPr>
          <p:cNvPr id="79" name="node23"/>
          <p:cNvGrpSpPr/>
          <p:nvPr/>
        </p:nvGrpSpPr>
        <p:grpSpPr>
          <a:xfrm>
            <a:off x="4381500" y="4495800"/>
            <a:ext cx="7086600" cy="190500"/>
            <a:chOff x="4381500" y="4495800"/>
            <a:chExt cx="7086600" cy="190500"/>
          </a:xfrm>
        </p:grpSpPr>
        <p:sp>
          <p:nvSpPr>
            <p:cNvPr id="54" name="node23.text"/>
            <p:cNvSpPr/>
            <p:nvPr/>
          </p:nvSpPr>
          <p:spPr>
            <a:xfrm>
              <a:off x="4381500" y="4495800"/>
              <a:ext cx="7086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Team: lead, architect, two engineers, analyst. Assumes cloud tenant by week 2; up to six sources.</a:t>
              </a:r>
              <a:endParaRPr lang="en-US" sz="1100" spc="0" kern="0" b="0" i="0" dirty="0">
                <a:solidFill>
                  <a:srgbClr val="50658E"/>
                </a:solidFill>
                <a:latin typeface="IBM Plex Sans"/>
                <a:ea typeface="IBM Plex Sans"/>
                <a:cs typeface="IBM Plex Sans"/>
              </a:endParaRPr>
            </a:p>
          </p:txBody>
        </p:sp>
      </p:grpSp>
      <p:grpSp>
        <p:nvGrpSpPr>
          <p:cNvPr id="80" name="node24"/>
          <p:cNvGrpSpPr/>
          <p:nvPr/>
        </p:nvGrpSpPr>
        <p:grpSpPr>
          <a:xfrm>
            <a:off x="4381500" y="5029200"/>
            <a:ext cx="7086600" cy="685800"/>
            <a:chOff x="4381500" y="5029200"/>
            <a:chExt cx="7086600" cy="685800"/>
          </a:xfrm>
        </p:grpSpPr>
        <p:sp>
          <p:nvSpPr>
            <p:cNvPr id="55" name="node24.surface"/>
            <p:cNvSpPr/>
            <p:nvPr/>
          </p:nvSpPr>
          <p:spPr>
            <a:xfrm>
              <a:off x="4381500" y="5029200"/>
              <a:ext cx="7086600" cy="685800"/>
            </a:xfrm>
            <a:prstGeom prst="rect">
              <a:avLst/>
            </a:prstGeom>
            <a:solidFill>
              <a:srgbClr val="E8EEF8"/>
            </a:solidFill>
            <a:ln>
              <a:noFill/>
            </a:ln>
          </p:spPr>
        </p:sp>
      </p:grpSp>
      <p:grpSp>
        <p:nvGrpSpPr>
          <p:cNvPr id="81" name="node25"/>
          <p:cNvGrpSpPr/>
          <p:nvPr/>
        </p:nvGrpSpPr>
        <p:grpSpPr>
          <a:xfrm>
            <a:off x="4533900" y="5143500"/>
            <a:ext cx="609600" cy="382461"/>
            <a:chOff x="4533900" y="5143500"/>
            <a:chExt cx="609600" cy="382461"/>
          </a:xfrm>
        </p:grpSpPr>
        <p:sp>
          <p:nvSpPr>
            <p:cNvPr id="56" name="node25.text"/>
            <p:cNvSpPr/>
            <p:nvPr/>
          </p:nvSpPr>
          <p:spPr>
            <a:xfrm>
              <a:off x="4533900" y="5143500"/>
              <a:ext cx="6096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070154"/>
                  </a:solidFill>
                  <a:latin typeface="IBM Plex Mono SemiBold"/>
                  <a:ea typeface="IBM Plex Mono SemiBold"/>
                  <a:cs typeface="IBM Plex Mono SemiBold"/>
                </a:rPr>
                <a:t>14</a:t>
              </a:r>
              <a:endParaRPr lang="en-US" sz="3000" spc="-60" kern="0" b="0" i="0" dirty="0">
                <a:solidFill>
                  <a:srgbClr val="070154"/>
                </a:solidFill>
                <a:latin typeface="IBM Plex Mono SemiBold"/>
                <a:ea typeface="IBM Plex Mono SemiBold"/>
                <a:cs typeface="IBM Plex Mono SemiBold"/>
              </a:endParaRPr>
            </a:p>
          </p:txBody>
        </p:sp>
      </p:grpSp>
      <p:grpSp>
        <p:nvGrpSpPr>
          <p:cNvPr id="82" name="node26"/>
          <p:cNvGrpSpPr/>
          <p:nvPr/>
        </p:nvGrpSpPr>
        <p:grpSpPr>
          <a:xfrm>
            <a:off x="5219700" y="5143500"/>
            <a:ext cx="1295400" cy="381000"/>
            <a:chOff x="5219700" y="5143500"/>
            <a:chExt cx="1295400" cy="381000"/>
          </a:xfrm>
        </p:grpSpPr>
        <p:sp>
          <p:nvSpPr>
            <p:cNvPr id="57" name="node26.text"/>
            <p:cNvSpPr/>
            <p:nvPr/>
          </p:nvSpPr>
          <p:spPr>
            <a:xfrm>
              <a:off x="5219700" y="5143500"/>
              <a:ext cx="12954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reports on one platform</a:t>
              </a:r>
              <a:endParaRPr lang="en-US" sz="1100" spc="0" kern="0" b="0" i="0" dirty="0">
                <a:solidFill>
                  <a:srgbClr val="50658E"/>
                </a:solidFill>
                <a:latin typeface="IBM Plex Sans"/>
                <a:ea typeface="IBM Plex Sans"/>
                <a:cs typeface="IBM Plex Sans"/>
              </a:endParaRPr>
            </a:p>
          </p:txBody>
        </p:sp>
      </p:grpSp>
      <p:grpSp>
        <p:nvGrpSpPr>
          <p:cNvPr id="83" name="node27"/>
          <p:cNvGrpSpPr/>
          <p:nvPr/>
        </p:nvGrpSpPr>
        <p:grpSpPr>
          <a:xfrm>
            <a:off x="6515100" y="5143500"/>
            <a:ext cx="1371600" cy="382461"/>
            <a:chOff x="6515100" y="5143500"/>
            <a:chExt cx="1371600" cy="382461"/>
          </a:xfrm>
        </p:grpSpPr>
        <p:sp>
          <p:nvSpPr>
            <p:cNvPr id="58" name="node27.text"/>
            <p:cNvSpPr/>
            <p:nvPr/>
          </p:nvSpPr>
          <p:spPr>
            <a:xfrm>
              <a:off x="6515100" y="5143500"/>
              <a:ext cx="13716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070154"/>
                  </a:solidFill>
                  <a:latin typeface="IBM Plex Mono SemiBold"/>
                  <a:ea typeface="IBM Plex Mono SemiBold"/>
                  <a:cs typeface="IBM Plex Mono SemiBold"/>
                </a:rPr>
                <a:t>-32%</a:t>
              </a:r>
              <a:endParaRPr lang="en-US" sz="3000" spc="-60" kern="0" b="0" i="0" dirty="0">
                <a:solidFill>
                  <a:srgbClr val="070154"/>
                </a:solidFill>
                <a:latin typeface="IBM Plex Mono SemiBold"/>
                <a:ea typeface="IBM Plex Mono SemiBold"/>
                <a:cs typeface="IBM Plex Mono SemiBold"/>
              </a:endParaRPr>
            </a:p>
          </p:txBody>
        </p:sp>
      </p:grpSp>
      <p:grpSp>
        <p:nvGrpSpPr>
          <p:cNvPr id="84" name="node28"/>
          <p:cNvGrpSpPr/>
          <p:nvPr/>
        </p:nvGrpSpPr>
        <p:grpSpPr>
          <a:xfrm>
            <a:off x="8039100" y="5143500"/>
            <a:ext cx="1143000" cy="381000"/>
            <a:chOff x="8039100" y="5143500"/>
            <a:chExt cx="1143000" cy="381000"/>
          </a:xfrm>
        </p:grpSpPr>
        <p:sp>
          <p:nvSpPr>
            <p:cNvPr id="59" name="node28.text"/>
            <p:cNvSpPr/>
            <p:nvPr/>
          </p:nvSpPr>
          <p:spPr>
            <a:xfrm>
              <a:off x="8039100" y="5143500"/>
              <a:ext cx="1143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less manual rework</a:t>
              </a:r>
              <a:endParaRPr lang="en-US" sz="1100" spc="0" kern="0" b="0" i="0" dirty="0">
                <a:solidFill>
                  <a:srgbClr val="50658E"/>
                </a:solidFill>
                <a:latin typeface="IBM Plex Sans"/>
                <a:ea typeface="IBM Plex Sans"/>
                <a:cs typeface="IBM Plex Sans"/>
              </a:endParaRPr>
            </a:p>
          </p:txBody>
        </p:sp>
      </p:grpSp>
      <p:grpSp>
        <p:nvGrpSpPr>
          <p:cNvPr id="85" name="node29"/>
          <p:cNvGrpSpPr/>
          <p:nvPr/>
        </p:nvGrpSpPr>
        <p:grpSpPr>
          <a:xfrm>
            <a:off x="9410700" y="5143500"/>
            <a:ext cx="1905000" cy="381000"/>
            <a:chOff x="9410700" y="5143500"/>
            <a:chExt cx="1905000" cy="381000"/>
          </a:xfrm>
        </p:grpSpPr>
        <p:sp>
          <p:nvSpPr>
            <p:cNvPr id="60" name="node29.text"/>
            <p:cNvSpPr/>
            <p:nvPr/>
          </p:nvSpPr>
          <p:spPr>
            <a:xfrm>
              <a:off x="9410700" y="5143500"/>
              <a:ext cx="1905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“One source we all trust.” CFO, sample client</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ource-33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ways to start with AI, each a fixed fee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and names for layout only; replace with current firm data and catalog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217</a:t>
            </a:fld>
            <a:endParaRPr lang="en-US" sz="700" spc="0" kern="0" b="0" i="0" dirty="0">
              <a:solidFill>
                <a:srgbClr val="070154"/>
              </a:solidFill>
              <a:latin typeface="IBM Plex Mono SemiBold"/>
              <a:ea typeface="IBM Plex Mono SemiBold"/>
              <a:cs typeface="IBM Plex Mono SemiBold"/>
            </a:endParaRPr>
          </a:p>
        </p:txBody>
      </p:sp>
      <p:grpSp>
        <p:nvGrpSpPr>
          <p:cNvPr id="58" name="node01"/>
          <p:cNvGrpSpPr/>
          <p:nvPr/>
        </p:nvGrpSpPr>
        <p:grpSpPr>
          <a:xfrm>
            <a:off x="723900" y="1600200"/>
            <a:ext cx="3429000" cy="4114800"/>
            <a:chOff x="723900" y="1600200"/>
            <a:chExt cx="3429000" cy="4114800"/>
          </a:xfrm>
        </p:grpSpPr>
        <p:sp>
          <p:nvSpPr>
            <p:cNvPr id="7" name="node01.container"/>
            <p:cNvSpPr/>
            <p:nvPr/>
          </p:nvSpPr>
          <p:spPr>
            <a:xfrm>
              <a:off x="730250" y="1606550"/>
              <a:ext cx="3416300" cy="4102100"/>
            </a:xfrm>
            <a:prstGeom prst="rect">
              <a:avLst/>
            </a:prstGeom>
            <a:solidFill>
              <a:srgbClr val="FFFFFF"/>
            </a:solidFill>
            <a:ln w="12700">
              <a:solidFill>
                <a:srgbClr val="CED7E6"/>
              </a:solidFill>
              <a:prstDash val="solid"/>
            </a:ln>
          </p:spPr>
        </p:sp>
        <p:sp>
          <p:nvSpPr>
            <p:cNvPr id="8" name="node01.label"/>
            <p:cNvSpPr/>
            <p:nvPr/>
          </p:nvSpPr>
          <p:spPr>
            <a:xfrm>
              <a:off x="8763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SKU 1 · SCAN</a:t>
              </a:r>
              <a:endParaRPr lang="en-US" sz="800" spc="48" kern="0" b="0" i="0" dirty="0">
                <a:solidFill>
                  <a:srgbClr val="0047FF"/>
                </a:solidFill>
                <a:latin typeface="IBM Plex Mono Medium"/>
                <a:ea typeface="IBM Plex Mono Medium"/>
                <a:cs typeface="IBM Plex Mono Medium"/>
              </a:endParaRPr>
            </a:p>
          </p:txBody>
        </p:sp>
        <p:sp>
          <p:nvSpPr>
            <p:cNvPr id="9" name="node01.title"/>
            <p:cNvSpPr/>
            <p:nvPr/>
          </p:nvSpPr>
          <p:spPr>
            <a:xfrm>
              <a:off x="876300" y="19685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AI readiness scan</a:t>
              </a:r>
              <a:endParaRPr lang="en-US" sz="1600" spc="-16" kern="0" b="0" i="0" dirty="0">
                <a:solidFill>
                  <a:srgbClr val="070154"/>
                </a:solidFill>
                <a:latin typeface="IBM Plex Sans SemiBold"/>
                <a:ea typeface="IBM Plex Sans SemiBold"/>
                <a:cs typeface="IBM Plex Sans SemiBold"/>
              </a:endParaRPr>
            </a:p>
          </p:txBody>
        </p:sp>
        <p:sp>
          <p:nvSpPr>
            <p:cNvPr id="10" name="node01.body.item-001.paragraph"/>
            <p:cNvSpPr/>
            <p:nvPr/>
          </p:nvSpPr>
          <p:spPr>
            <a:xfrm>
              <a:off x="876300" y="23876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Where do we stand? A rapid read of data, risk and talent.</a:t>
              </a:r>
              <a:endParaRPr lang="en-US" sz="1200" spc="0" kern="0" b="0" i="0" dirty="0">
                <a:solidFill>
                  <a:srgbClr val="50658E"/>
                </a:solidFill>
                <a:latin typeface="IBM Plex Sans"/>
                <a:ea typeface="IBM Plex Sans"/>
                <a:cs typeface="IBM Plex Sans"/>
              </a:endParaRPr>
            </a:p>
          </p:txBody>
        </p:sp>
        <p:sp>
          <p:nvSpPr>
            <p:cNvPr id="11" name="node01.body.item-002.label"/>
            <p:cNvSpPr/>
            <p:nvPr/>
          </p:nvSpPr>
          <p:spPr>
            <a:xfrm>
              <a:off x="876300" y="2895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HOW WE DO IT</a:t>
              </a:r>
              <a:endParaRPr lang="en-US" sz="800" spc="48" kern="0" b="0" i="0" dirty="0">
                <a:solidFill>
                  <a:srgbClr val="0047FF"/>
                </a:solidFill>
                <a:latin typeface="IBM Plex Mono Medium"/>
                <a:ea typeface="IBM Plex Mono Medium"/>
                <a:cs typeface="IBM Plex Mono Medium"/>
              </a:endParaRPr>
            </a:p>
          </p:txBody>
        </p:sp>
        <p:sp>
          <p:nvSpPr>
            <p:cNvPr id="12" name="node01.body.item-003.bullets.item-001.marker"/>
            <p:cNvSpPr/>
            <p:nvPr/>
          </p:nvSpPr>
          <p:spPr>
            <a:xfrm>
              <a:off x="876300" y="3200400"/>
              <a:ext cx="38100" cy="38100"/>
            </a:xfrm>
            <a:prstGeom prst="rect">
              <a:avLst/>
            </a:prstGeom>
            <a:solidFill>
              <a:srgbClr val="070154"/>
            </a:solidFill>
            <a:ln>
              <a:noFill/>
            </a:ln>
          </p:spPr>
        </p:sp>
        <p:sp>
          <p:nvSpPr>
            <p:cNvPr id="13" name="node01.body.item-003.bullets.item-001.text"/>
            <p:cNvSpPr/>
            <p:nvPr/>
          </p:nvSpPr>
          <p:spPr>
            <a:xfrm>
              <a:off x="1028700" y="3111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Interview 8 leaders</a:t>
              </a:r>
              <a:endParaRPr lang="en-US" sz="1200" spc="0" kern="0" b="0" i="0" dirty="0">
                <a:solidFill>
                  <a:srgbClr val="070154"/>
                </a:solidFill>
                <a:latin typeface="IBM Plex Sans"/>
                <a:ea typeface="IBM Plex Sans"/>
                <a:cs typeface="IBM Plex Sans"/>
              </a:endParaRPr>
            </a:p>
          </p:txBody>
        </p:sp>
        <p:sp>
          <p:nvSpPr>
            <p:cNvPr id="14" name="node01.body.item-003.bullets.item-002.marker"/>
            <p:cNvSpPr/>
            <p:nvPr/>
          </p:nvSpPr>
          <p:spPr>
            <a:xfrm>
              <a:off x="876300" y="3454400"/>
              <a:ext cx="38100" cy="38100"/>
            </a:xfrm>
            <a:prstGeom prst="rect">
              <a:avLst/>
            </a:prstGeom>
            <a:solidFill>
              <a:srgbClr val="070154"/>
            </a:solidFill>
            <a:ln>
              <a:noFill/>
            </a:ln>
          </p:spPr>
        </p:sp>
        <p:sp>
          <p:nvSpPr>
            <p:cNvPr id="15" name="node01.body.item-003.bullets.item-002.text"/>
            <p:cNvSpPr/>
            <p:nvPr/>
          </p:nvSpPr>
          <p:spPr>
            <a:xfrm>
              <a:off x="1028700" y="3365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Scan data, risk and talent</a:t>
              </a:r>
              <a:endParaRPr lang="en-US" sz="1200" spc="0" kern="0" b="0" i="0" dirty="0">
                <a:solidFill>
                  <a:srgbClr val="070154"/>
                </a:solidFill>
                <a:latin typeface="IBM Plex Sans"/>
                <a:ea typeface="IBM Plex Sans"/>
                <a:cs typeface="IBM Plex Sans"/>
              </a:endParaRPr>
            </a:p>
          </p:txBody>
        </p:sp>
        <p:sp>
          <p:nvSpPr>
            <p:cNvPr id="16" name="node01.body.item-003.bullets.item-003.marker"/>
            <p:cNvSpPr/>
            <p:nvPr/>
          </p:nvSpPr>
          <p:spPr>
            <a:xfrm>
              <a:off x="876300" y="3708400"/>
              <a:ext cx="38100" cy="38100"/>
            </a:xfrm>
            <a:prstGeom prst="rect">
              <a:avLst/>
            </a:prstGeom>
            <a:solidFill>
              <a:srgbClr val="070154"/>
            </a:solidFill>
            <a:ln>
              <a:noFill/>
            </a:ln>
          </p:spPr>
        </p:sp>
        <p:sp>
          <p:nvSpPr>
            <p:cNvPr id="17" name="node01.body.item-003.bullets.item-003.text"/>
            <p:cNvSpPr/>
            <p:nvPr/>
          </p:nvSpPr>
          <p:spPr>
            <a:xfrm>
              <a:off x="1028700" y="3619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Rank the top five use cases</a:t>
              </a:r>
              <a:endParaRPr lang="en-US" sz="1200" spc="0" kern="0" b="0" i="0" dirty="0">
                <a:solidFill>
                  <a:srgbClr val="070154"/>
                </a:solidFill>
                <a:latin typeface="IBM Plex Sans"/>
                <a:ea typeface="IBM Plex Sans"/>
                <a:cs typeface="IBM Plex Sans"/>
              </a:endParaRPr>
            </a:p>
          </p:txBody>
        </p:sp>
        <p:sp>
          <p:nvSpPr>
            <p:cNvPr id="18" name="node01.body.item-004.label"/>
            <p:cNvSpPr/>
            <p:nvPr/>
          </p:nvSpPr>
          <p:spPr>
            <a:xfrm>
              <a:off x="876300" y="3911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YOU KEEP</a:t>
              </a:r>
              <a:endParaRPr lang="en-US" sz="800" spc="48" kern="0" b="0" i="0" dirty="0">
                <a:solidFill>
                  <a:srgbClr val="0047FF"/>
                </a:solidFill>
                <a:latin typeface="IBM Plex Mono Medium"/>
                <a:ea typeface="IBM Plex Mono Medium"/>
                <a:cs typeface="IBM Plex Mono Medium"/>
              </a:endParaRPr>
            </a:p>
          </p:txBody>
        </p:sp>
        <p:sp>
          <p:nvSpPr>
            <p:cNvPr id="19" name="node01.body.item-005.paragraph"/>
            <p:cNvSpPr/>
            <p:nvPr/>
          </p:nvSpPr>
          <p:spPr>
            <a:xfrm>
              <a:off x="876300" y="41275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Scorecard, top five use cases, two-page summary</a:t>
              </a:r>
              <a:endParaRPr lang="en-US" sz="1200" spc="0" kern="0" b="0" i="0" dirty="0">
                <a:solidFill>
                  <a:srgbClr val="50658E"/>
                </a:solidFill>
                <a:latin typeface="IBM Plex Sans"/>
                <a:ea typeface="IBM Plex Sans"/>
                <a:cs typeface="IBM Plex Sans"/>
              </a:endParaRPr>
            </a:p>
          </p:txBody>
        </p:sp>
        <p:sp>
          <p:nvSpPr>
            <p:cNvPr id="20" name="node01.fee.divider"/>
            <p:cNvSpPr/>
            <p:nvPr/>
          </p:nvSpPr>
          <p:spPr>
            <a:xfrm>
              <a:off x="876300" y="4956175"/>
              <a:ext cx="3124200" cy="9525"/>
            </a:xfrm>
            <a:prstGeom prst="rect">
              <a:avLst/>
            </a:prstGeom>
            <a:solidFill>
              <a:srgbClr val="CED7E6"/>
            </a:solidFill>
            <a:ln>
              <a:noFill/>
            </a:ln>
          </p:spPr>
        </p:sp>
        <p:sp>
          <p:nvSpPr>
            <p:cNvPr id="21" name="node01.fee.value"/>
            <p:cNvSpPr/>
            <p:nvPr/>
          </p:nvSpPr>
          <p:spPr>
            <a:xfrm>
              <a:off x="876300" y="5080000"/>
              <a:ext cx="31242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70154"/>
                  </a:solidFill>
                  <a:latin typeface="IBM Plex Mono SemiBold"/>
                  <a:ea typeface="IBM Plex Mono SemiBold"/>
                  <a:cs typeface="IBM Plex Mono SemiBold"/>
                </a:rPr>
                <a:t>$65K</a:t>
              </a:r>
              <a:endParaRPr lang="en-US" sz="1600" spc="0" kern="0" b="0" i="0" dirty="0">
                <a:solidFill>
                  <a:srgbClr val="070154"/>
                </a:solidFill>
                <a:latin typeface="IBM Plex Mono SemiBold"/>
                <a:ea typeface="IBM Plex Mono SemiBold"/>
                <a:cs typeface="IBM Plex Mono SemiBold"/>
              </a:endParaRPr>
            </a:p>
          </p:txBody>
        </p:sp>
        <p:sp>
          <p:nvSpPr>
            <p:cNvPr id="22" name="node01.fee.label"/>
            <p:cNvSpPr/>
            <p:nvPr/>
          </p:nvSpPr>
          <p:spPr>
            <a:xfrm>
              <a:off x="876300" y="537210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fixed fee, 3 weeks · lead, analyst</a:t>
              </a:r>
              <a:endParaRPr lang="en-US" sz="1100" spc="0" kern="0" b="0" i="0" dirty="0">
                <a:solidFill>
                  <a:srgbClr val="50658E"/>
                </a:solidFill>
                <a:latin typeface="IBM Plex Sans"/>
                <a:ea typeface="IBM Plex Sans"/>
                <a:cs typeface="IBM Plex Sans"/>
              </a:endParaRPr>
            </a:p>
          </p:txBody>
        </p:sp>
      </p:grpSp>
      <p:grpSp>
        <p:nvGrpSpPr>
          <p:cNvPr id="59" name="node02"/>
          <p:cNvGrpSpPr/>
          <p:nvPr/>
        </p:nvGrpSpPr>
        <p:grpSpPr>
          <a:xfrm>
            <a:off x="4381500" y="1600200"/>
            <a:ext cx="3429000" cy="4114800"/>
            <a:chOff x="4381500" y="1600200"/>
            <a:chExt cx="3429000" cy="4114800"/>
          </a:xfrm>
        </p:grpSpPr>
        <p:sp>
          <p:nvSpPr>
            <p:cNvPr id="23" name="node02.container"/>
            <p:cNvSpPr/>
            <p:nvPr/>
          </p:nvSpPr>
          <p:spPr>
            <a:xfrm>
              <a:off x="4381500" y="1600200"/>
              <a:ext cx="3429000" cy="4114800"/>
            </a:xfrm>
            <a:prstGeom prst="rect">
              <a:avLst/>
            </a:prstGeom>
            <a:solidFill>
              <a:srgbClr val="E8EEF8"/>
            </a:solidFill>
            <a:ln>
              <a:noFill/>
            </a:ln>
          </p:spPr>
        </p:sp>
        <p:sp>
          <p:nvSpPr>
            <p:cNvPr id="24" name="node02.edge"/>
            <p:cNvSpPr/>
            <p:nvPr/>
          </p:nvSpPr>
          <p:spPr>
            <a:xfrm>
              <a:off x="4381500" y="1600200"/>
              <a:ext cx="3429000" cy="38100"/>
            </a:xfrm>
            <a:prstGeom prst="rect">
              <a:avLst/>
            </a:prstGeom>
            <a:solidFill>
              <a:srgbClr val="0047FF"/>
            </a:solidFill>
            <a:ln>
              <a:noFill/>
            </a:ln>
          </p:spPr>
        </p:sp>
        <p:sp>
          <p:nvSpPr>
            <p:cNvPr id="25" name="node02.label"/>
            <p:cNvSpPr/>
            <p:nvPr/>
          </p:nvSpPr>
          <p:spPr>
            <a:xfrm>
              <a:off x="4533900" y="17907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SKU 2 · ASSESSMENT</a:t>
              </a:r>
              <a:endParaRPr lang="en-US" sz="800" spc="48" kern="0" b="0" i="0" dirty="0">
                <a:solidFill>
                  <a:srgbClr val="0047FF"/>
                </a:solidFill>
                <a:latin typeface="IBM Plex Mono Medium"/>
                <a:ea typeface="IBM Plex Mono Medium"/>
                <a:cs typeface="IBM Plex Mono Medium"/>
              </a:endParaRPr>
            </a:p>
          </p:txBody>
        </p:sp>
        <p:sp>
          <p:nvSpPr>
            <p:cNvPr id="26" name="node02.title"/>
            <p:cNvSpPr/>
            <p:nvPr/>
          </p:nvSpPr>
          <p:spPr>
            <a:xfrm>
              <a:off x="4533900" y="20066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AI readiness assessment</a:t>
              </a:r>
              <a:endParaRPr lang="en-US" sz="1600" spc="-16" kern="0" b="0" i="0" dirty="0">
                <a:solidFill>
                  <a:srgbClr val="070154"/>
                </a:solidFill>
                <a:latin typeface="IBM Plex Sans SemiBold"/>
                <a:ea typeface="IBM Plex Sans SemiBold"/>
                <a:cs typeface="IBM Plex Sans SemiBold"/>
              </a:endParaRPr>
            </a:p>
          </p:txBody>
        </p:sp>
        <p:sp>
          <p:nvSpPr>
            <p:cNvPr id="27" name="node02.body.item-001.paragraph"/>
            <p:cNvSpPr/>
            <p:nvPr/>
          </p:nvSpPr>
          <p:spPr>
            <a:xfrm>
              <a:off x="4533900" y="24257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What should we do first? Full portfolio, governance and roadmap.</a:t>
              </a:r>
              <a:endParaRPr lang="en-US" sz="1200" spc="0" kern="0" b="0" i="0" dirty="0">
                <a:solidFill>
                  <a:srgbClr val="50658E"/>
                </a:solidFill>
                <a:latin typeface="IBM Plex Sans"/>
                <a:ea typeface="IBM Plex Sans"/>
                <a:cs typeface="IBM Plex Sans"/>
              </a:endParaRPr>
            </a:p>
          </p:txBody>
        </p:sp>
        <p:sp>
          <p:nvSpPr>
            <p:cNvPr id="28" name="node02.body.item-002.label"/>
            <p:cNvSpPr/>
            <p:nvPr/>
          </p:nvSpPr>
          <p:spPr>
            <a:xfrm>
              <a:off x="4533900" y="29337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HOW WE DO IT</a:t>
              </a:r>
              <a:endParaRPr lang="en-US" sz="800" spc="48" kern="0" b="0" i="0" dirty="0">
                <a:solidFill>
                  <a:srgbClr val="0047FF"/>
                </a:solidFill>
                <a:latin typeface="IBM Plex Mono Medium"/>
                <a:ea typeface="IBM Plex Mono Medium"/>
                <a:cs typeface="IBM Plex Mono Medium"/>
              </a:endParaRPr>
            </a:p>
          </p:txBody>
        </p:sp>
        <p:sp>
          <p:nvSpPr>
            <p:cNvPr id="29" name="node02.body.item-003.bullets.item-001.marker"/>
            <p:cNvSpPr/>
            <p:nvPr/>
          </p:nvSpPr>
          <p:spPr>
            <a:xfrm>
              <a:off x="4533900" y="3238500"/>
              <a:ext cx="38100" cy="38100"/>
            </a:xfrm>
            <a:prstGeom prst="rect">
              <a:avLst/>
            </a:prstGeom>
            <a:solidFill>
              <a:srgbClr val="070154"/>
            </a:solidFill>
            <a:ln>
              <a:noFill/>
            </a:ln>
          </p:spPr>
        </p:sp>
        <p:sp>
          <p:nvSpPr>
            <p:cNvPr id="30" name="node02.body.item-003.bullets.item-001.text"/>
            <p:cNvSpPr/>
            <p:nvPr/>
          </p:nvSpPr>
          <p:spPr>
            <a:xfrm>
              <a:off x="4686300" y="31496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Align on goals; 20 interviews</a:t>
              </a:r>
              <a:endParaRPr lang="en-US" sz="1200" spc="0" kern="0" b="0" i="0" dirty="0">
                <a:solidFill>
                  <a:srgbClr val="070154"/>
                </a:solidFill>
                <a:latin typeface="IBM Plex Sans"/>
                <a:ea typeface="IBM Plex Sans"/>
                <a:cs typeface="IBM Plex Sans"/>
              </a:endParaRPr>
            </a:p>
          </p:txBody>
        </p:sp>
        <p:sp>
          <p:nvSpPr>
            <p:cNvPr id="31" name="node02.body.item-003.bullets.item-002.marker"/>
            <p:cNvSpPr/>
            <p:nvPr/>
          </p:nvSpPr>
          <p:spPr>
            <a:xfrm>
              <a:off x="4533900" y="3492500"/>
              <a:ext cx="38100" cy="38100"/>
            </a:xfrm>
            <a:prstGeom prst="rect">
              <a:avLst/>
            </a:prstGeom>
            <a:solidFill>
              <a:srgbClr val="070154"/>
            </a:solidFill>
            <a:ln>
              <a:noFill/>
            </a:ln>
          </p:spPr>
        </p:sp>
        <p:sp>
          <p:nvSpPr>
            <p:cNvPr id="32" name="node02.body.item-003.bullets.item-002.text"/>
            <p:cNvSpPr/>
            <p:nvPr/>
          </p:nvSpPr>
          <p:spPr>
            <a:xfrm>
              <a:off x="4686300" y="34036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Score five domains vs. peers</a:t>
              </a:r>
              <a:endParaRPr lang="en-US" sz="1200" spc="0" kern="0" b="0" i="0" dirty="0">
                <a:solidFill>
                  <a:srgbClr val="070154"/>
                </a:solidFill>
                <a:latin typeface="IBM Plex Sans"/>
                <a:ea typeface="IBM Plex Sans"/>
                <a:cs typeface="IBM Plex Sans"/>
              </a:endParaRPr>
            </a:p>
          </p:txBody>
        </p:sp>
        <p:sp>
          <p:nvSpPr>
            <p:cNvPr id="33" name="node02.body.item-003.bullets.item-003.marker"/>
            <p:cNvSpPr/>
            <p:nvPr/>
          </p:nvSpPr>
          <p:spPr>
            <a:xfrm>
              <a:off x="4533900" y="3746500"/>
              <a:ext cx="38100" cy="38100"/>
            </a:xfrm>
            <a:prstGeom prst="rect">
              <a:avLst/>
            </a:prstGeom>
            <a:solidFill>
              <a:srgbClr val="070154"/>
            </a:solidFill>
            <a:ln>
              <a:noFill/>
            </a:ln>
          </p:spPr>
        </p:sp>
        <p:sp>
          <p:nvSpPr>
            <p:cNvPr id="34" name="node02.body.item-003.bullets.item-003.text"/>
            <p:cNvSpPr/>
            <p:nvPr/>
          </p:nvSpPr>
          <p:spPr>
            <a:xfrm>
              <a:off x="4686300" y="36576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Rank 30 use cases; plan 90 days</a:t>
              </a:r>
              <a:endParaRPr lang="en-US" sz="1200" spc="0" kern="0" b="0" i="0" dirty="0">
                <a:solidFill>
                  <a:srgbClr val="070154"/>
                </a:solidFill>
                <a:latin typeface="IBM Plex Sans"/>
                <a:ea typeface="IBM Plex Sans"/>
                <a:cs typeface="IBM Plex Sans"/>
              </a:endParaRPr>
            </a:p>
          </p:txBody>
        </p:sp>
        <p:sp>
          <p:nvSpPr>
            <p:cNvPr id="35" name="node02.body.item-004.label"/>
            <p:cNvSpPr/>
            <p:nvPr/>
          </p:nvSpPr>
          <p:spPr>
            <a:xfrm>
              <a:off x="4533900" y="39497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YOU KEEP</a:t>
              </a:r>
              <a:endParaRPr lang="en-US" sz="800" spc="48" kern="0" b="0" i="0" dirty="0">
                <a:solidFill>
                  <a:srgbClr val="0047FF"/>
                </a:solidFill>
                <a:latin typeface="IBM Plex Mono Medium"/>
                <a:ea typeface="IBM Plex Mono Medium"/>
                <a:cs typeface="IBM Plex Mono Medium"/>
              </a:endParaRPr>
            </a:p>
          </p:txBody>
        </p:sp>
        <p:sp>
          <p:nvSpPr>
            <p:cNvPr id="36" name="node02.body.item-005.paragraph"/>
            <p:cNvSpPr/>
            <p:nvPr/>
          </p:nvSpPr>
          <p:spPr>
            <a:xfrm>
              <a:off x="4533900" y="41656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Scorecard, ranked portfolio, governance model, roadmap</a:t>
              </a:r>
              <a:endParaRPr lang="en-US" sz="1200" spc="0" kern="0" b="0" i="0" dirty="0">
                <a:solidFill>
                  <a:srgbClr val="50658E"/>
                </a:solidFill>
                <a:latin typeface="IBM Plex Sans"/>
                <a:ea typeface="IBM Plex Sans"/>
                <a:cs typeface="IBM Plex Sans"/>
              </a:endParaRPr>
            </a:p>
          </p:txBody>
        </p:sp>
        <p:sp>
          <p:nvSpPr>
            <p:cNvPr id="37" name="node02.fee.divider"/>
            <p:cNvSpPr/>
            <p:nvPr/>
          </p:nvSpPr>
          <p:spPr>
            <a:xfrm>
              <a:off x="4533900" y="4956175"/>
              <a:ext cx="3124200" cy="9525"/>
            </a:xfrm>
            <a:prstGeom prst="rect">
              <a:avLst/>
            </a:prstGeom>
            <a:solidFill>
              <a:srgbClr val="CED7E6"/>
            </a:solidFill>
            <a:ln>
              <a:noFill/>
            </a:ln>
          </p:spPr>
        </p:sp>
        <p:sp>
          <p:nvSpPr>
            <p:cNvPr id="38" name="node02.fee.value"/>
            <p:cNvSpPr/>
            <p:nvPr/>
          </p:nvSpPr>
          <p:spPr>
            <a:xfrm>
              <a:off x="4533900" y="5080000"/>
              <a:ext cx="31242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70154"/>
                  </a:solidFill>
                  <a:latin typeface="IBM Plex Mono SemiBold"/>
                  <a:ea typeface="IBM Plex Mono SemiBold"/>
                  <a:cs typeface="IBM Plex Mono SemiBold"/>
                </a:rPr>
                <a:t>$185K</a:t>
              </a:r>
              <a:endParaRPr lang="en-US" sz="1600" spc="0" kern="0" b="0" i="0" dirty="0">
                <a:solidFill>
                  <a:srgbClr val="070154"/>
                </a:solidFill>
                <a:latin typeface="IBM Plex Mono SemiBold"/>
                <a:ea typeface="IBM Plex Mono SemiBold"/>
                <a:cs typeface="IBM Plex Mono SemiBold"/>
              </a:endParaRPr>
            </a:p>
          </p:txBody>
        </p:sp>
        <p:sp>
          <p:nvSpPr>
            <p:cNvPr id="39" name="node02.fee.label"/>
            <p:cNvSpPr/>
            <p:nvPr/>
          </p:nvSpPr>
          <p:spPr>
            <a:xfrm>
              <a:off x="4533900" y="537210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fixed fee, 8 weeks · lead, architect, 2 analysts</a:t>
              </a:r>
              <a:endParaRPr lang="en-US" sz="1100" spc="0" kern="0" b="0" i="0" dirty="0">
                <a:solidFill>
                  <a:srgbClr val="50658E"/>
                </a:solidFill>
                <a:latin typeface="IBM Plex Sans"/>
                <a:ea typeface="IBM Plex Sans"/>
                <a:cs typeface="IBM Plex Sans"/>
              </a:endParaRPr>
            </a:p>
          </p:txBody>
        </p:sp>
        <p:sp>
          <p:nvSpPr>
            <p:cNvPr id="40" name="node02.tag-bg"/>
            <p:cNvSpPr/>
            <p:nvPr/>
          </p:nvSpPr>
          <p:spPr>
            <a:xfrm>
              <a:off x="6902072" y="1600200"/>
              <a:ext cx="908428" cy="215900"/>
            </a:xfrm>
            <a:prstGeom prst="rect">
              <a:avLst/>
            </a:prstGeom>
            <a:solidFill>
              <a:srgbClr val="0047FF"/>
            </a:solidFill>
            <a:ln>
              <a:noFill/>
            </a:ln>
          </p:spPr>
        </p:sp>
        <p:sp>
          <p:nvSpPr>
            <p:cNvPr id="41" name="node02.tag"/>
            <p:cNvSpPr/>
            <p:nvPr/>
          </p:nvSpPr>
          <p:spPr>
            <a:xfrm>
              <a:off x="6978272" y="1638300"/>
              <a:ext cx="756028"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FFFFF"/>
                  </a:solidFill>
                  <a:latin typeface="IBM Plex Mono SemiBold"/>
                  <a:ea typeface="IBM Plex Mono SemiBold"/>
                  <a:cs typeface="IBM Plex Mono SemiBold"/>
                </a:rPr>
                <a:t>MOST CHOSEN</a:t>
              </a:r>
              <a:endParaRPr lang="en-US" sz="800" spc="48" kern="0" b="0" i="0" dirty="0">
                <a:solidFill>
                  <a:srgbClr val="FFFFFF"/>
                </a:solidFill>
                <a:latin typeface="IBM Plex Mono SemiBold"/>
                <a:ea typeface="IBM Plex Mono SemiBold"/>
                <a:cs typeface="IBM Plex Mono SemiBold"/>
              </a:endParaRPr>
            </a:p>
          </p:txBody>
        </p:sp>
      </p:grpSp>
      <p:grpSp>
        <p:nvGrpSpPr>
          <p:cNvPr id="60" name="node03"/>
          <p:cNvGrpSpPr/>
          <p:nvPr/>
        </p:nvGrpSpPr>
        <p:grpSpPr>
          <a:xfrm>
            <a:off x="8039100" y="1600200"/>
            <a:ext cx="3429000" cy="4114800"/>
            <a:chOff x="8039100" y="1600200"/>
            <a:chExt cx="3429000" cy="4114800"/>
          </a:xfrm>
        </p:grpSpPr>
        <p:sp>
          <p:nvSpPr>
            <p:cNvPr id="42" name="node03.container"/>
            <p:cNvSpPr/>
            <p:nvPr/>
          </p:nvSpPr>
          <p:spPr>
            <a:xfrm>
              <a:off x="8045450" y="1606550"/>
              <a:ext cx="3416300" cy="4102100"/>
            </a:xfrm>
            <a:prstGeom prst="rect">
              <a:avLst/>
            </a:prstGeom>
            <a:solidFill>
              <a:srgbClr val="FFFFFF"/>
            </a:solidFill>
            <a:ln w="12700">
              <a:solidFill>
                <a:srgbClr val="CED7E6"/>
              </a:solidFill>
              <a:prstDash val="solid"/>
            </a:ln>
          </p:spPr>
        </p:sp>
        <p:sp>
          <p:nvSpPr>
            <p:cNvPr id="43" name="node03.label"/>
            <p:cNvSpPr/>
            <p:nvPr/>
          </p:nvSpPr>
          <p:spPr>
            <a:xfrm>
              <a:off x="8191500" y="1752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SKU 3 · PILOT</a:t>
              </a:r>
              <a:endParaRPr lang="en-US" sz="800" spc="48" kern="0" b="0" i="0" dirty="0">
                <a:solidFill>
                  <a:srgbClr val="0047FF"/>
                </a:solidFill>
                <a:latin typeface="IBM Plex Mono Medium"/>
                <a:ea typeface="IBM Plex Mono Medium"/>
                <a:cs typeface="IBM Plex Mono Medium"/>
              </a:endParaRPr>
            </a:p>
          </p:txBody>
        </p:sp>
        <p:sp>
          <p:nvSpPr>
            <p:cNvPr id="44" name="node03.title"/>
            <p:cNvSpPr/>
            <p:nvPr/>
          </p:nvSpPr>
          <p:spPr>
            <a:xfrm>
              <a:off x="8191500" y="1968500"/>
              <a:ext cx="3124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AI use-case pilot</a:t>
              </a:r>
              <a:endParaRPr lang="en-US" sz="1600" spc="-16" kern="0" b="0" i="0" dirty="0">
                <a:solidFill>
                  <a:srgbClr val="070154"/>
                </a:solidFill>
                <a:latin typeface="IBM Plex Sans SemiBold"/>
                <a:ea typeface="IBM Plex Sans SemiBold"/>
                <a:cs typeface="IBM Plex Sans SemiBold"/>
              </a:endParaRPr>
            </a:p>
          </p:txBody>
        </p:sp>
        <p:sp>
          <p:nvSpPr>
            <p:cNvPr id="45" name="node03.body.item-001.paragraph"/>
            <p:cNvSpPr/>
            <p:nvPr/>
          </p:nvSpPr>
          <p:spPr>
            <a:xfrm>
              <a:off x="8191500" y="23876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Can it work here? Scope, build and test one use case.</a:t>
              </a:r>
              <a:endParaRPr lang="en-US" sz="1200" spc="0" kern="0" b="0" i="0" dirty="0">
                <a:solidFill>
                  <a:srgbClr val="50658E"/>
                </a:solidFill>
                <a:latin typeface="IBM Plex Sans"/>
                <a:ea typeface="IBM Plex Sans"/>
                <a:cs typeface="IBM Plex Sans"/>
              </a:endParaRPr>
            </a:p>
          </p:txBody>
        </p:sp>
        <p:sp>
          <p:nvSpPr>
            <p:cNvPr id="46" name="node03.body.item-002.label"/>
            <p:cNvSpPr/>
            <p:nvPr/>
          </p:nvSpPr>
          <p:spPr>
            <a:xfrm>
              <a:off x="8191500" y="2895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HOW WE DO IT</a:t>
              </a:r>
              <a:endParaRPr lang="en-US" sz="800" spc="48" kern="0" b="0" i="0" dirty="0">
                <a:solidFill>
                  <a:srgbClr val="0047FF"/>
                </a:solidFill>
                <a:latin typeface="IBM Plex Mono Medium"/>
                <a:ea typeface="IBM Plex Mono Medium"/>
                <a:cs typeface="IBM Plex Mono Medium"/>
              </a:endParaRPr>
            </a:p>
          </p:txBody>
        </p:sp>
        <p:sp>
          <p:nvSpPr>
            <p:cNvPr id="47" name="node03.body.item-003.bullets.item-001.marker"/>
            <p:cNvSpPr/>
            <p:nvPr/>
          </p:nvSpPr>
          <p:spPr>
            <a:xfrm>
              <a:off x="8191500" y="3200400"/>
              <a:ext cx="38100" cy="38100"/>
            </a:xfrm>
            <a:prstGeom prst="rect">
              <a:avLst/>
            </a:prstGeom>
            <a:solidFill>
              <a:srgbClr val="070154"/>
            </a:solidFill>
            <a:ln>
              <a:noFill/>
            </a:ln>
          </p:spPr>
        </p:sp>
        <p:sp>
          <p:nvSpPr>
            <p:cNvPr id="48" name="node03.body.item-003.bullets.item-001.text"/>
            <p:cNvSpPr/>
            <p:nvPr/>
          </p:nvSpPr>
          <p:spPr>
            <a:xfrm>
              <a:off x="8343900" y="3111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Scope one use case; set measures</a:t>
              </a:r>
              <a:endParaRPr lang="en-US" sz="1200" spc="0" kern="0" b="0" i="0" dirty="0">
                <a:solidFill>
                  <a:srgbClr val="070154"/>
                </a:solidFill>
                <a:latin typeface="IBM Plex Sans"/>
                <a:ea typeface="IBM Plex Sans"/>
                <a:cs typeface="IBM Plex Sans"/>
              </a:endParaRPr>
            </a:p>
          </p:txBody>
        </p:sp>
        <p:sp>
          <p:nvSpPr>
            <p:cNvPr id="49" name="node03.body.item-003.bullets.item-002.marker"/>
            <p:cNvSpPr/>
            <p:nvPr/>
          </p:nvSpPr>
          <p:spPr>
            <a:xfrm>
              <a:off x="8191500" y="3454400"/>
              <a:ext cx="38100" cy="38100"/>
            </a:xfrm>
            <a:prstGeom prst="rect">
              <a:avLst/>
            </a:prstGeom>
            <a:solidFill>
              <a:srgbClr val="070154"/>
            </a:solidFill>
            <a:ln>
              <a:noFill/>
            </a:ln>
          </p:spPr>
        </p:sp>
        <p:sp>
          <p:nvSpPr>
            <p:cNvPr id="50" name="node03.body.item-003.bullets.item-002.text"/>
            <p:cNvSpPr/>
            <p:nvPr/>
          </p:nvSpPr>
          <p:spPr>
            <a:xfrm>
              <a:off x="8343900" y="3365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Build and tune on your data</a:t>
              </a:r>
              <a:endParaRPr lang="en-US" sz="1200" spc="0" kern="0" b="0" i="0" dirty="0">
                <a:solidFill>
                  <a:srgbClr val="070154"/>
                </a:solidFill>
                <a:latin typeface="IBM Plex Sans"/>
                <a:ea typeface="IBM Plex Sans"/>
                <a:cs typeface="IBM Plex Sans"/>
              </a:endParaRPr>
            </a:p>
          </p:txBody>
        </p:sp>
        <p:sp>
          <p:nvSpPr>
            <p:cNvPr id="51" name="node03.body.item-003.bullets.item-003.marker"/>
            <p:cNvSpPr/>
            <p:nvPr/>
          </p:nvSpPr>
          <p:spPr>
            <a:xfrm>
              <a:off x="8191500" y="3708400"/>
              <a:ext cx="38100" cy="38100"/>
            </a:xfrm>
            <a:prstGeom prst="rect">
              <a:avLst/>
            </a:prstGeom>
            <a:solidFill>
              <a:srgbClr val="070154"/>
            </a:solidFill>
            <a:ln>
              <a:noFill/>
            </a:ln>
          </p:spPr>
        </p:sp>
        <p:sp>
          <p:nvSpPr>
            <p:cNvPr id="52" name="node03.body.item-003.bullets.item-003.text"/>
            <p:cNvSpPr/>
            <p:nvPr/>
          </p:nvSpPr>
          <p:spPr>
            <a:xfrm>
              <a:off x="8343900" y="3619500"/>
              <a:ext cx="2971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Evaluate; scale-or-stop call</a:t>
              </a:r>
              <a:endParaRPr lang="en-US" sz="1200" spc="0" kern="0" b="0" i="0" dirty="0">
                <a:solidFill>
                  <a:srgbClr val="070154"/>
                </a:solidFill>
                <a:latin typeface="IBM Plex Sans"/>
                <a:ea typeface="IBM Plex Sans"/>
                <a:cs typeface="IBM Plex Sans"/>
              </a:endParaRPr>
            </a:p>
          </p:txBody>
        </p:sp>
        <p:sp>
          <p:nvSpPr>
            <p:cNvPr id="53" name="node03.body.item-004.label"/>
            <p:cNvSpPr/>
            <p:nvPr/>
          </p:nvSpPr>
          <p:spPr>
            <a:xfrm>
              <a:off x="8191500" y="3911600"/>
              <a:ext cx="31242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YOU KEEP</a:t>
              </a:r>
              <a:endParaRPr lang="en-US" sz="800" spc="48" kern="0" b="0" i="0" dirty="0">
                <a:solidFill>
                  <a:srgbClr val="0047FF"/>
                </a:solidFill>
                <a:latin typeface="IBM Plex Mono Medium"/>
                <a:ea typeface="IBM Plex Mono Medium"/>
                <a:cs typeface="IBM Plex Mono Medium"/>
              </a:endParaRPr>
            </a:p>
          </p:txBody>
        </p:sp>
        <p:sp>
          <p:nvSpPr>
            <p:cNvPr id="54" name="node03.body.item-005.paragraph"/>
            <p:cNvSpPr/>
            <p:nvPr/>
          </p:nvSpPr>
          <p:spPr>
            <a:xfrm>
              <a:off x="8191500" y="4127500"/>
              <a:ext cx="3124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Working prototype, scorecard, scale-or-stop case, handover pack</a:t>
              </a:r>
              <a:endParaRPr lang="en-US" sz="1200" spc="0" kern="0" b="0" i="0" dirty="0">
                <a:solidFill>
                  <a:srgbClr val="50658E"/>
                </a:solidFill>
                <a:latin typeface="IBM Plex Sans"/>
                <a:ea typeface="IBM Plex Sans"/>
                <a:cs typeface="IBM Plex Sans"/>
              </a:endParaRPr>
            </a:p>
          </p:txBody>
        </p:sp>
        <p:sp>
          <p:nvSpPr>
            <p:cNvPr id="55" name="node03.fee.divider"/>
            <p:cNvSpPr/>
            <p:nvPr/>
          </p:nvSpPr>
          <p:spPr>
            <a:xfrm>
              <a:off x="8191500" y="4956175"/>
              <a:ext cx="3124200" cy="9525"/>
            </a:xfrm>
            <a:prstGeom prst="rect">
              <a:avLst/>
            </a:prstGeom>
            <a:solidFill>
              <a:srgbClr val="CED7E6"/>
            </a:solidFill>
            <a:ln>
              <a:noFill/>
            </a:ln>
          </p:spPr>
        </p:sp>
        <p:sp>
          <p:nvSpPr>
            <p:cNvPr id="56" name="node03.fee.value"/>
            <p:cNvSpPr/>
            <p:nvPr/>
          </p:nvSpPr>
          <p:spPr>
            <a:xfrm>
              <a:off x="8191500" y="5080000"/>
              <a:ext cx="3124200" cy="266700"/>
            </a:xfrm>
            <a:prstGeom prst="rect">
              <a:avLst/>
            </a:prstGeom>
            <a:noFill/>
            <a:ln/>
          </p:spPr>
          <p:txBody>
            <a:bodyPr wrap="square" lIns="0" tIns="0" rIns="0" bIns="0" rtlCol="0" anchor="t"/>
            <a:lstStyle/>
            <a:p>
              <a:pPr algn="l" indent="0" marL="0">
                <a:lnSpc>
                  <a:spcPts val="2100"/>
                </a:lnSpc>
                <a:buNone/>
              </a:pPr>
              <a:r>
                <a:rPr lang="en-US" sz="1600" spc="0" kern="0" b="0" i="0" dirty="0">
                  <a:solidFill>
                    <a:srgbClr val="070154"/>
                  </a:solidFill>
                  <a:latin typeface="IBM Plex Mono SemiBold"/>
                  <a:ea typeface="IBM Plex Mono SemiBold"/>
                  <a:cs typeface="IBM Plex Mono SemiBold"/>
                </a:rPr>
                <a:t>$150K</a:t>
              </a:r>
              <a:endParaRPr lang="en-US" sz="1600" spc="0" kern="0" b="0" i="0" dirty="0">
                <a:solidFill>
                  <a:srgbClr val="070154"/>
                </a:solidFill>
                <a:latin typeface="IBM Plex Mono SemiBold"/>
                <a:ea typeface="IBM Plex Mono SemiBold"/>
                <a:cs typeface="IBM Plex Mono SemiBold"/>
              </a:endParaRPr>
            </a:p>
          </p:txBody>
        </p:sp>
        <p:sp>
          <p:nvSpPr>
            <p:cNvPr id="57" name="node03.fee.label"/>
            <p:cNvSpPr/>
            <p:nvPr/>
          </p:nvSpPr>
          <p:spPr>
            <a:xfrm>
              <a:off x="8191500" y="5372100"/>
              <a:ext cx="3124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fixed fee, 6 weeks · lead, engineer, analyst</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ource-32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Cloud landing zone: pick the package that fits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218</a:t>
            </a:fld>
            <a:endParaRPr lang="en-US" sz="700" spc="0" kern="0" b="0" i="0" dirty="0">
              <a:solidFill>
                <a:srgbClr val="070154"/>
              </a:solidFill>
              <a:latin typeface="IBM Plex Mono SemiBold"/>
              <a:ea typeface="IBM Plex Mono SemiBold"/>
              <a:cs typeface="IBM Plex Mono SemiBold"/>
            </a:endParaRPr>
          </a:p>
        </p:txBody>
      </p:sp>
      <p:grpSp>
        <p:nvGrpSpPr>
          <p:cNvPr id="75" name="node01"/>
          <p:cNvGrpSpPr/>
          <p:nvPr/>
        </p:nvGrpSpPr>
        <p:grpSpPr>
          <a:xfrm>
            <a:off x="723900" y="1600200"/>
            <a:ext cx="2971800" cy="139700"/>
            <a:chOff x="723900" y="1600200"/>
            <a:chExt cx="2971800" cy="139700"/>
          </a:xfrm>
        </p:grpSpPr>
        <p:sp>
          <p:nvSpPr>
            <p:cNvPr id="7" name="node01.text"/>
            <p:cNvSpPr/>
            <p:nvPr/>
          </p:nvSpPr>
          <p:spPr>
            <a:xfrm>
              <a:off x="723900" y="16002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1 · WHAT WE WILL DO</a:t>
              </a:r>
              <a:endParaRPr lang="en-US" sz="800" spc="48" kern="0" b="0" i="0" dirty="0">
                <a:solidFill>
                  <a:srgbClr val="0047FF"/>
                </a:solidFill>
                <a:latin typeface="IBM Plex Mono Medium"/>
                <a:ea typeface="IBM Plex Mono Medium"/>
                <a:cs typeface="IBM Plex Mono Medium"/>
              </a:endParaRPr>
            </a:p>
          </p:txBody>
        </p:sp>
      </p:grpSp>
      <p:grpSp>
        <p:nvGrpSpPr>
          <p:cNvPr id="76" name="node02"/>
          <p:cNvGrpSpPr/>
          <p:nvPr/>
        </p:nvGrpSpPr>
        <p:grpSpPr>
          <a:xfrm>
            <a:off x="723900" y="1828800"/>
            <a:ext cx="2971800" cy="647700"/>
            <a:chOff x="723900" y="1828800"/>
            <a:chExt cx="2971800" cy="647700"/>
          </a:xfrm>
        </p:grpSpPr>
        <p:sp>
          <p:nvSpPr>
            <p:cNvPr id="8" name="node02.text"/>
            <p:cNvSpPr/>
            <p:nvPr/>
          </p:nvSpPr>
          <p:spPr>
            <a:xfrm>
              <a:off x="723900" y="1828800"/>
              <a:ext cx="29718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Three packages for a secure, governed cloud foundation: review it, build it, or build it and move the first workloads.</a:t>
              </a:r>
              <a:endParaRPr lang="en-US" sz="1200" spc="0" kern="0" b="0" i="0" dirty="0">
                <a:solidFill>
                  <a:srgbClr val="50658E"/>
                </a:solidFill>
                <a:latin typeface="IBM Plex Sans"/>
                <a:ea typeface="IBM Plex Sans"/>
                <a:cs typeface="IBM Plex Sans"/>
              </a:endParaRPr>
            </a:p>
          </p:txBody>
        </p:sp>
      </p:grpSp>
      <p:grpSp>
        <p:nvGrpSpPr>
          <p:cNvPr id="77" name="node03"/>
          <p:cNvGrpSpPr/>
          <p:nvPr/>
        </p:nvGrpSpPr>
        <p:grpSpPr>
          <a:xfrm>
            <a:off x="723900" y="3048000"/>
            <a:ext cx="2971800" cy="139700"/>
            <a:chOff x="723900" y="3048000"/>
            <a:chExt cx="2971800" cy="139700"/>
          </a:xfrm>
        </p:grpSpPr>
        <p:sp>
          <p:nvSpPr>
            <p:cNvPr id="9" name="node03.text"/>
            <p:cNvSpPr/>
            <p:nvPr/>
          </p:nvSpPr>
          <p:spPr>
            <a:xfrm>
              <a:off x="723900" y="30480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2 · HOW WE DO IT</a:t>
              </a:r>
              <a:endParaRPr lang="en-US" sz="800" spc="48" kern="0" b="0" i="0" dirty="0">
                <a:solidFill>
                  <a:srgbClr val="0047FF"/>
                </a:solidFill>
                <a:latin typeface="IBM Plex Mono Medium"/>
                <a:ea typeface="IBM Plex Mono Medium"/>
                <a:cs typeface="IBM Plex Mono Medium"/>
              </a:endParaRPr>
            </a:p>
          </p:txBody>
        </p:sp>
      </p:grpSp>
      <p:grpSp>
        <p:nvGrpSpPr>
          <p:cNvPr id="78" name="node04"/>
          <p:cNvGrpSpPr/>
          <p:nvPr/>
        </p:nvGrpSpPr>
        <p:grpSpPr>
          <a:xfrm>
            <a:off x="723900" y="3276600"/>
            <a:ext cx="2971800" cy="939800"/>
            <a:chOff x="723900" y="3276600"/>
            <a:chExt cx="2971800" cy="939800"/>
          </a:xfrm>
        </p:grpSpPr>
        <p:sp>
          <p:nvSpPr>
            <p:cNvPr id="10" name="node04.source-001.bullet"/>
            <p:cNvSpPr/>
            <p:nvPr/>
          </p:nvSpPr>
          <p:spPr>
            <a:xfrm>
              <a:off x="723900" y="3365500"/>
              <a:ext cx="38100" cy="38100"/>
            </a:xfrm>
            <a:prstGeom prst="rect">
              <a:avLst/>
            </a:prstGeom>
            <a:solidFill>
              <a:srgbClr val="070154"/>
            </a:solidFill>
            <a:ln>
              <a:noFill/>
            </a:ln>
          </p:spPr>
        </p:sp>
        <p:sp>
          <p:nvSpPr>
            <p:cNvPr id="11" name="node04.source-001.text"/>
            <p:cNvSpPr/>
            <p:nvPr/>
          </p:nvSpPr>
          <p:spPr>
            <a:xfrm>
              <a:off x="876300" y="3276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Review the estate against the design</a:t>
              </a:r>
              <a:endParaRPr lang="en-US" sz="1200" spc="0" kern="0" b="0" i="0" dirty="0">
                <a:solidFill>
                  <a:srgbClr val="070154"/>
                </a:solidFill>
                <a:latin typeface="IBM Plex Sans"/>
                <a:ea typeface="IBM Plex Sans"/>
                <a:cs typeface="IBM Plex Sans"/>
              </a:endParaRPr>
            </a:p>
          </p:txBody>
        </p:sp>
        <p:sp>
          <p:nvSpPr>
            <p:cNvPr id="12" name="node04.source-002.bullet"/>
            <p:cNvSpPr/>
            <p:nvPr/>
          </p:nvSpPr>
          <p:spPr>
            <a:xfrm>
              <a:off x="723900" y="3619500"/>
              <a:ext cx="38100" cy="38100"/>
            </a:xfrm>
            <a:prstGeom prst="rect">
              <a:avLst/>
            </a:prstGeom>
            <a:solidFill>
              <a:srgbClr val="070154"/>
            </a:solidFill>
            <a:ln>
              <a:noFill/>
            </a:ln>
          </p:spPr>
        </p:sp>
        <p:sp>
          <p:nvSpPr>
            <p:cNvPr id="13" name="node04.source-002.text"/>
            <p:cNvSpPr/>
            <p:nvPr/>
          </p:nvSpPr>
          <p:spPr>
            <a:xfrm>
              <a:off x="876300" y="3530600"/>
              <a:ext cx="28194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Design and build the landing zone, guardrails as code</a:t>
              </a:r>
              <a:endParaRPr lang="en-US" sz="1200" spc="0" kern="0" b="0" i="0" dirty="0">
                <a:solidFill>
                  <a:srgbClr val="070154"/>
                </a:solidFill>
                <a:latin typeface="IBM Plex Sans"/>
                <a:ea typeface="IBM Plex Sans"/>
                <a:cs typeface="IBM Plex Sans"/>
              </a:endParaRPr>
            </a:p>
          </p:txBody>
        </p:sp>
        <p:sp>
          <p:nvSpPr>
            <p:cNvPr id="14" name="node04.source-003.bullet"/>
            <p:cNvSpPr/>
            <p:nvPr/>
          </p:nvSpPr>
          <p:spPr>
            <a:xfrm>
              <a:off x="723900" y="4089400"/>
              <a:ext cx="38100" cy="38100"/>
            </a:xfrm>
            <a:prstGeom prst="rect">
              <a:avLst/>
            </a:prstGeom>
            <a:solidFill>
              <a:srgbClr val="070154"/>
            </a:solidFill>
            <a:ln>
              <a:noFill/>
            </a:ln>
          </p:spPr>
        </p:sp>
        <p:sp>
          <p:nvSpPr>
            <p:cNvPr id="15" name="node04.source-003.text"/>
            <p:cNvSpPr/>
            <p:nvPr/>
          </p:nvSpPr>
          <p:spPr>
            <a:xfrm>
              <a:off x="876300" y="40005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Prove it on workloads; hand over</a:t>
              </a:r>
              <a:endParaRPr lang="en-US" sz="1200" spc="0" kern="0" b="0" i="0" dirty="0">
                <a:solidFill>
                  <a:srgbClr val="070154"/>
                </a:solidFill>
                <a:latin typeface="IBM Plex Sans"/>
                <a:ea typeface="IBM Plex Sans"/>
                <a:cs typeface="IBM Plex Sans"/>
              </a:endParaRPr>
            </a:p>
          </p:txBody>
        </p:sp>
      </p:grpSp>
      <p:grpSp>
        <p:nvGrpSpPr>
          <p:cNvPr id="79" name="node05"/>
          <p:cNvGrpSpPr/>
          <p:nvPr/>
        </p:nvGrpSpPr>
        <p:grpSpPr>
          <a:xfrm>
            <a:off x="723900" y="4686300"/>
            <a:ext cx="2971800" cy="139700"/>
            <a:chOff x="723900" y="4686300"/>
            <a:chExt cx="2971800" cy="139700"/>
          </a:xfrm>
        </p:grpSpPr>
        <p:sp>
          <p:nvSpPr>
            <p:cNvPr id="16" name="node05.text"/>
            <p:cNvSpPr/>
            <p:nvPr/>
          </p:nvSpPr>
          <p:spPr>
            <a:xfrm>
              <a:off x="723900" y="46863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ASSUMPTIONS</a:t>
              </a:r>
              <a:endParaRPr lang="en-US" sz="800" spc="48" kern="0" b="0" i="0" dirty="0">
                <a:solidFill>
                  <a:srgbClr val="0047FF"/>
                </a:solidFill>
                <a:latin typeface="IBM Plex Mono Medium"/>
                <a:ea typeface="IBM Plex Mono Medium"/>
                <a:cs typeface="IBM Plex Mono Medium"/>
              </a:endParaRPr>
            </a:p>
          </p:txBody>
        </p:sp>
      </p:grpSp>
      <p:grpSp>
        <p:nvGrpSpPr>
          <p:cNvPr id="80" name="node06"/>
          <p:cNvGrpSpPr/>
          <p:nvPr/>
        </p:nvGrpSpPr>
        <p:grpSpPr>
          <a:xfrm>
            <a:off x="723900" y="4914900"/>
            <a:ext cx="2971800" cy="723900"/>
            <a:chOff x="723900" y="4914900"/>
            <a:chExt cx="2971800" cy="723900"/>
          </a:xfrm>
        </p:grpSpPr>
        <p:sp>
          <p:nvSpPr>
            <p:cNvPr id="17" name="node06.source-001.bullet"/>
            <p:cNvSpPr/>
            <p:nvPr/>
          </p:nvSpPr>
          <p:spPr>
            <a:xfrm>
              <a:off x="723900" y="5003800"/>
              <a:ext cx="38100" cy="38100"/>
            </a:xfrm>
            <a:prstGeom prst="rect">
              <a:avLst/>
            </a:prstGeom>
            <a:solidFill>
              <a:srgbClr val="070154"/>
            </a:solidFill>
            <a:ln>
              <a:noFill/>
            </a:ln>
          </p:spPr>
        </p:sp>
        <p:sp>
          <p:nvSpPr>
            <p:cNvPr id="18" name="node06.source-001.text"/>
            <p:cNvSpPr/>
            <p:nvPr/>
          </p:nvSpPr>
          <p:spPr>
            <a:xfrm>
              <a:off x="876300" y="49149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Tenant and SSO ready in week 1</a:t>
              </a:r>
              <a:endParaRPr lang="en-US" sz="1200" spc="0" kern="0" b="0" i="0" dirty="0">
                <a:solidFill>
                  <a:srgbClr val="070154"/>
                </a:solidFill>
                <a:latin typeface="IBM Plex Sans"/>
                <a:ea typeface="IBM Plex Sans"/>
                <a:cs typeface="IBM Plex Sans"/>
              </a:endParaRPr>
            </a:p>
          </p:txBody>
        </p:sp>
        <p:sp>
          <p:nvSpPr>
            <p:cNvPr id="19" name="node06.source-002.bullet"/>
            <p:cNvSpPr/>
            <p:nvPr/>
          </p:nvSpPr>
          <p:spPr>
            <a:xfrm>
              <a:off x="723900" y="5257800"/>
              <a:ext cx="38100" cy="38100"/>
            </a:xfrm>
            <a:prstGeom prst="rect">
              <a:avLst/>
            </a:prstGeom>
            <a:solidFill>
              <a:srgbClr val="070154"/>
            </a:solidFill>
            <a:ln>
              <a:noFill/>
            </a:ln>
          </p:spPr>
        </p:sp>
        <p:sp>
          <p:nvSpPr>
            <p:cNvPr id="20" name="node06.source-002.text"/>
            <p:cNvSpPr/>
            <p:nvPr/>
          </p:nvSpPr>
          <p:spPr>
            <a:xfrm>
              <a:off x="876300" y="51689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Up to three environments</a:t>
              </a:r>
              <a:endParaRPr lang="en-US" sz="1200" spc="0" kern="0" b="0" i="0" dirty="0">
                <a:solidFill>
                  <a:srgbClr val="070154"/>
                </a:solidFill>
                <a:latin typeface="IBM Plex Sans"/>
                <a:ea typeface="IBM Plex Sans"/>
                <a:cs typeface="IBM Plex Sans"/>
              </a:endParaRPr>
            </a:p>
          </p:txBody>
        </p:sp>
        <p:sp>
          <p:nvSpPr>
            <p:cNvPr id="21" name="node06.source-003.bullet"/>
            <p:cNvSpPr/>
            <p:nvPr/>
          </p:nvSpPr>
          <p:spPr>
            <a:xfrm>
              <a:off x="723900" y="5511800"/>
              <a:ext cx="38100" cy="38100"/>
            </a:xfrm>
            <a:prstGeom prst="rect">
              <a:avLst/>
            </a:prstGeom>
            <a:solidFill>
              <a:srgbClr val="070154"/>
            </a:solidFill>
            <a:ln>
              <a:noFill/>
            </a:ln>
          </p:spPr>
        </p:sp>
        <p:sp>
          <p:nvSpPr>
            <p:cNvPr id="22" name="node06.source-003.text"/>
            <p:cNvSpPr/>
            <p:nvPr/>
          </p:nvSpPr>
          <p:spPr>
            <a:xfrm>
              <a:off x="876300" y="54229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Northfield holds the licenses</a:t>
              </a:r>
              <a:endParaRPr lang="en-US" sz="1200" spc="0" kern="0" b="0" i="0" dirty="0">
                <a:solidFill>
                  <a:srgbClr val="070154"/>
                </a:solidFill>
                <a:latin typeface="IBM Plex Sans"/>
                <a:ea typeface="IBM Plex Sans"/>
                <a:cs typeface="IBM Plex Sans"/>
              </a:endParaRPr>
            </a:p>
          </p:txBody>
        </p:sp>
      </p:grpSp>
      <p:grpSp>
        <p:nvGrpSpPr>
          <p:cNvPr id="81" name="node07"/>
          <p:cNvGrpSpPr/>
          <p:nvPr/>
        </p:nvGrpSpPr>
        <p:grpSpPr>
          <a:xfrm>
            <a:off x="3924300" y="1600200"/>
            <a:ext cx="7543800" cy="3403600"/>
            <a:chOff x="3924300" y="1600200"/>
            <a:chExt cx="7543800" cy="3403600"/>
          </a:xfrm>
        </p:grpSpPr>
        <p:graphicFrame>
          <p:nvGraphicFramePr>
            <p:cNvPr id="23" name="node07.native"/>
            <p:cNvGraphicFramePr>
              <a:graphicFrameLocks noGrp="1"/>
            </p:cNvGraphicFramePr>
            <p:nvPr>
              <p:extLst>
                <p:ext uri="{D42A27DB-BD31-4B8C-83A1-F6EECF244321}">
                  <p14:modId xmlns:p14="http://schemas.microsoft.com/office/powerpoint/2010/main" val="1579011935"/>
                </p:ext>
              </p:extLst>
            </p:nvPr>
          </p:nvGraphicFramePr>
          <p:xfrm>
            <a:off x="3924300" y="1600200"/>
            <a:ext cx="7543800" cy="3403600"/>
          </p:xfrm>
          <a:graphic>
            <a:graphicData uri="http://schemas.openxmlformats.org/drawingml/2006/table">
              <a:tbl>
                <a:tblPr/>
                <a:tblGrid>
                  <a:gridCol w="2743200"/>
                  <a:gridCol w="1600200"/>
                  <a:gridCol w="1600200"/>
                  <a:gridCol w="16002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WHAT IS INCLUDED</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A · REVIEW</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B · SPRINT</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C · PROGRAM</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Current-state review</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Target landing zone design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Security guardrails as code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Production landing zone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Runbooks and cost baseline</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Migration wave plan</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First two waves migrated</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300"/>
                          </a:lnSpc>
                          <a:spcBef>
                            <a:spcPts val="0"/>
                          </a:spcBef>
                          <a:spcAft>
                            <a:spcPts val="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Hypercare, 60 days</a:t>
                        </a:r>
                        <a:endParaRPr lang="en-US" sz="10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300"/>
                          </a:lnSpc>
                          <a:spcBef>
                            <a:spcPts val="0"/>
                          </a:spcBef>
                          <a:spcAft>
                            <a:spcPts val="0"/>
                          </a:spcAft>
                          <a:buNone/>
                          <a:defRPr lang="en-US" sz="1000" spc="0" kern="0" b="0" i="0" dirty="0">
                            <a:solidFill>
                              <a:srgbClr val="070154"/>
                            </a:solidFill>
                            <a:latin typeface="IBM Plex Sans"/>
                            <a:ea typeface="IBM Plex Sans"/>
                            <a:cs typeface="IBM Plex Sans"/>
                          </a:defRPr>
                        </a:pP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24" name="node07.row.item-001.a.checked"/>
            <p:cNvSpPr/>
            <p:nvPr/>
          </p:nvSpPr>
          <p:spPr>
            <a:xfrm>
              <a:off x="7391400" y="2070100"/>
              <a:ext cx="152400" cy="152400"/>
            </a:xfrm>
            <a:prstGeom prst="rect">
              <a:avLst/>
            </a:prstGeom>
            <a:solidFill>
              <a:srgbClr val="070154"/>
            </a:solidFill>
            <a:ln>
              <a:noFill/>
            </a:ln>
          </p:spPr>
        </p:sp>
        <p:sp>
          <p:nvSpPr>
            <p:cNvPr id="25" name="node07.row.item-001.a.tick"/>
            <p:cNvSpPr/>
            <p:nvPr/>
          </p:nvSpPr>
          <p:spPr>
            <a:xfrm>
              <a:off x="7391400" y="2070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26" name="node07.row.item-001.b.checked"/>
            <p:cNvSpPr/>
            <p:nvPr/>
          </p:nvSpPr>
          <p:spPr>
            <a:xfrm>
              <a:off x="8991600" y="2070100"/>
              <a:ext cx="152400" cy="152400"/>
            </a:xfrm>
            <a:prstGeom prst="rect">
              <a:avLst/>
            </a:prstGeom>
            <a:solidFill>
              <a:srgbClr val="070154"/>
            </a:solidFill>
            <a:ln>
              <a:noFill/>
            </a:ln>
          </p:spPr>
        </p:sp>
        <p:sp>
          <p:nvSpPr>
            <p:cNvPr id="27" name="node07.row.item-001.b.tick"/>
            <p:cNvSpPr/>
            <p:nvPr/>
          </p:nvSpPr>
          <p:spPr>
            <a:xfrm>
              <a:off x="8991600" y="2070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28" name="node07.row.item-001.c.checked"/>
            <p:cNvSpPr/>
            <p:nvPr/>
          </p:nvSpPr>
          <p:spPr>
            <a:xfrm>
              <a:off x="10591800" y="2070100"/>
              <a:ext cx="152400" cy="152400"/>
            </a:xfrm>
            <a:prstGeom prst="rect">
              <a:avLst/>
            </a:prstGeom>
            <a:solidFill>
              <a:srgbClr val="070154"/>
            </a:solidFill>
            <a:ln>
              <a:noFill/>
            </a:ln>
          </p:spPr>
        </p:sp>
        <p:sp>
          <p:nvSpPr>
            <p:cNvPr id="29" name="node07.row.item-001.c.tick"/>
            <p:cNvSpPr/>
            <p:nvPr/>
          </p:nvSpPr>
          <p:spPr>
            <a:xfrm>
              <a:off x="10591800" y="2070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30" name="node07.row.item-002.a.checked"/>
            <p:cNvSpPr/>
            <p:nvPr/>
          </p:nvSpPr>
          <p:spPr>
            <a:xfrm>
              <a:off x="7391400" y="2451100"/>
              <a:ext cx="152400" cy="152400"/>
            </a:xfrm>
            <a:prstGeom prst="rect">
              <a:avLst/>
            </a:prstGeom>
            <a:solidFill>
              <a:srgbClr val="070154"/>
            </a:solidFill>
            <a:ln>
              <a:noFill/>
            </a:ln>
          </p:spPr>
        </p:sp>
        <p:sp>
          <p:nvSpPr>
            <p:cNvPr id="31" name="node07.row.item-002.a.tick"/>
            <p:cNvSpPr/>
            <p:nvPr/>
          </p:nvSpPr>
          <p:spPr>
            <a:xfrm>
              <a:off x="7391400" y="2451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32" name="node07.row.item-002.b.checked"/>
            <p:cNvSpPr/>
            <p:nvPr/>
          </p:nvSpPr>
          <p:spPr>
            <a:xfrm>
              <a:off x="8991600" y="2451100"/>
              <a:ext cx="152400" cy="152400"/>
            </a:xfrm>
            <a:prstGeom prst="rect">
              <a:avLst/>
            </a:prstGeom>
            <a:solidFill>
              <a:srgbClr val="070154"/>
            </a:solidFill>
            <a:ln>
              <a:noFill/>
            </a:ln>
          </p:spPr>
        </p:sp>
        <p:sp>
          <p:nvSpPr>
            <p:cNvPr id="33" name="node07.row.item-002.b.tick"/>
            <p:cNvSpPr/>
            <p:nvPr/>
          </p:nvSpPr>
          <p:spPr>
            <a:xfrm>
              <a:off x="8991600" y="2451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34" name="node07.row.item-002.c.checked"/>
            <p:cNvSpPr/>
            <p:nvPr/>
          </p:nvSpPr>
          <p:spPr>
            <a:xfrm>
              <a:off x="10591800" y="2451100"/>
              <a:ext cx="152400" cy="152400"/>
            </a:xfrm>
            <a:prstGeom prst="rect">
              <a:avLst/>
            </a:prstGeom>
            <a:solidFill>
              <a:srgbClr val="070154"/>
            </a:solidFill>
            <a:ln>
              <a:noFill/>
            </a:ln>
          </p:spPr>
        </p:sp>
        <p:sp>
          <p:nvSpPr>
            <p:cNvPr id="35" name="node07.row.item-002.c.tick"/>
            <p:cNvSpPr/>
            <p:nvPr/>
          </p:nvSpPr>
          <p:spPr>
            <a:xfrm>
              <a:off x="10591800" y="2451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36" name="node07.row.item-003.a.dash"/>
            <p:cNvSpPr/>
            <p:nvPr/>
          </p:nvSpPr>
          <p:spPr>
            <a:xfrm>
              <a:off x="7410450" y="2901950"/>
              <a:ext cx="114300" cy="12700"/>
            </a:xfrm>
            <a:prstGeom prst="rect">
              <a:avLst/>
            </a:prstGeom>
            <a:solidFill>
              <a:srgbClr val="50658E"/>
            </a:solidFill>
            <a:ln>
              <a:noFill/>
            </a:ln>
          </p:spPr>
        </p:sp>
        <p:sp>
          <p:nvSpPr>
            <p:cNvPr id="37" name="node07.row.item-003.b.checked"/>
            <p:cNvSpPr/>
            <p:nvPr/>
          </p:nvSpPr>
          <p:spPr>
            <a:xfrm>
              <a:off x="8991600" y="2832100"/>
              <a:ext cx="152400" cy="152400"/>
            </a:xfrm>
            <a:prstGeom prst="rect">
              <a:avLst/>
            </a:prstGeom>
            <a:solidFill>
              <a:srgbClr val="070154"/>
            </a:solidFill>
            <a:ln>
              <a:noFill/>
            </a:ln>
          </p:spPr>
        </p:sp>
        <p:sp>
          <p:nvSpPr>
            <p:cNvPr id="38" name="node07.row.item-003.b.tick"/>
            <p:cNvSpPr/>
            <p:nvPr/>
          </p:nvSpPr>
          <p:spPr>
            <a:xfrm>
              <a:off x="8991600" y="2832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39" name="node07.row.item-003.c.checked"/>
            <p:cNvSpPr/>
            <p:nvPr/>
          </p:nvSpPr>
          <p:spPr>
            <a:xfrm>
              <a:off x="10591800" y="2832100"/>
              <a:ext cx="152400" cy="152400"/>
            </a:xfrm>
            <a:prstGeom prst="rect">
              <a:avLst/>
            </a:prstGeom>
            <a:solidFill>
              <a:srgbClr val="070154"/>
            </a:solidFill>
            <a:ln>
              <a:noFill/>
            </a:ln>
          </p:spPr>
        </p:sp>
        <p:sp>
          <p:nvSpPr>
            <p:cNvPr id="40" name="node07.row.item-003.c.tick"/>
            <p:cNvSpPr/>
            <p:nvPr/>
          </p:nvSpPr>
          <p:spPr>
            <a:xfrm>
              <a:off x="10591800" y="2832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41" name="node07.row.item-004.a.dash"/>
            <p:cNvSpPr/>
            <p:nvPr/>
          </p:nvSpPr>
          <p:spPr>
            <a:xfrm>
              <a:off x="7410450" y="3282950"/>
              <a:ext cx="114300" cy="12700"/>
            </a:xfrm>
            <a:prstGeom prst="rect">
              <a:avLst/>
            </a:prstGeom>
            <a:solidFill>
              <a:srgbClr val="50658E"/>
            </a:solidFill>
            <a:ln>
              <a:noFill/>
            </a:ln>
          </p:spPr>
        </p:sp>
        <p:sp>
          <p:nvSpPr>
            <p:cNvPr id="42" name="node07.row.item-004.b.checked"/>
            <p:cNvSpPr/>
            <p:nvPr/>
          </p:nvSpPr>
          <p:spPr>
            <a:xfrm>
              <a:off x="8991600" y="3213100"/>
              <a:ext cx="152400" cy="152400"/>
            </a:xfrm>
            <a:prstGeom prst="rect">
              <a:avLst/>
            </a:prstGeom>
            <a:solidFill>
              <a:srgbClr val="070154"/>
            </a:solidFill>
            <a:ln>
              <a:noFill/>
            </a:ln>
          </p:spPr>
        </p:sp>
        <p:sp>
          <p:nvSpPr>
            <p:cNvPr id="43" name="node07.row.item-004.b.tick"/>
            <p:cNvSpPr/>
            <p:nvPr/>
          </p:nvSpPr>
          <p:spPr>
            <a:xfrm>
              <a:off x="8991600" y="3213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44" name="node07.row.item-004.c.checked"/>
            <p:cNvSpPr/>
            <p:nvPr/>
          </p:nvSpPr>
          <p:spPr>
            <a:xfrm>
              <a:off x="10591800" y="3213100"/>
              <a:ext cx="152400" cy="152400"/>
            </a:xfrm>
            <a:prstGeom prst="rect">
              <a:avLst/>
            </a:prstGeom>
            <a:solidFill>
              <a:srgbClr val="070154"/>
            </a:solidFill>
            <a:ln>
              <a:noFill/>
            </a:ln>
          </p:spPr>
        </p:sp>
        <p:sp>
          <p:nvSpPr>
            <p:cNvPr id="45" name="node07.row.item-004.c.tick"/>
            <p:cNvSpPr/>
            <p:nvPr/>
          </p:nvSpPr>
          <p:spPr>
            <a:xfrm>
              <a:off x="10591800" y="3213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46" name="node07.row.item-005.a.dash"/>
            <p:cNvSpPr/>
            <p:nvPr/>
          </p:nvSpPr>
          <p:spPr>
            <a:xfrm>
              <a:off x="7410450" y="3663950"/>
              <a:ext cx="114300" cy="12700"/>
            </a:xfrm>
            <a:prstGeom prst="rect">
              <a:avLst/>
            </a:prstGeom>
            <a:solidFill>
              <a:srgbClr val="50658E"/>
            </a:solidFill>
            <a:ln>
              <a:noFill/>
            </a:ln>
          </p:spPr>
        </p:sp>
        <p:sp>
          <p:nvSpPr>
            <p:cNvPr id="47" name="node07.row.item-005.b.checked"/>
            <p:cNvSpPr/>
            <p:nvPr/>
          </p:nvSpPr>
          <p:spPr>
            <a:xfrm>
              <a:off x="8991600" y="3594100"/>
              <a:ext cx="152400" cy="152400"/>
            </a:xfrm>
            <a:prstGeom prst="rect">
              <a:avLst/>
            </a:prstGeom>
            <a:solidFill>
              <a:srgbClr val="070154"/>
            </a:solidFill>
            <a:ln>
              <a:noFill/>
            </a:ln>
          </p:spPr>
        </p:sp>
        <p:sp>
          <p:nvSpPr>
            <p:cNvPr id="48" name="node07.row.item-005.b.tick"/>
            <p:cNvSpPr/>
            <p:nvPr/>
          </p:nvSpPr>
          <p:spPr>
            <a:xfrm>
              <a:off x="8991600" y="3594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49" name="node07.row.item-005.c.checked"/>
            <p:cNvSpPr/>
            <p:nvPr/>
          </p:nvSpPr>
          <p:spPr>
            <a:xfrm>
              <a:off x="10591800" y="3594100"/>
              <a:ext cx="152400" cy="152400"/>
            </a:xfrm>
            <a:prstGeom prst="rect">
              <a:avLst/>
            </a:prstGeom>
            <a:solidFill>
              <a:srgbClr val="070154"/>
            </a:solidFill>
            <a:ln>
              <a:noFill/>
            </a:ln>
          </p:spPr>
        </p:sp>
        <p:sp>
          <p:nvSpPr>
            <p:cNvPr id="50" name="node07.row.item-005.c.tick"/>
            <p:cNvSpPr/>
            <p:nvPr/>
          </p:nvSpPr>
          <p:spPr>
            <a:xfrm>
              <a:off x="10591800" y="3594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51" name="node07.row.item-006.a.dash"/>
            <p:cNvSpPr/>
            <p:nvPr/>
          </p:nvSpPr>
          <p:spPr>
            <a:xfrm>
              <a:off x="7410450" y="4044950"/>
              <a:ext cx="114300" cy="12700"/>
            </a:xfrm>
            <a:prstGeom prst="rect">
              <a:avLst/>
            </a:prstGeom>
            <a:solidFill>
              <a:srgbClr val="50658E"/>
            </a:solidFill>
            <a:ln>
              <a:noFill/>
            </a:ln>
          </p:spPr>
        </p:sp>
        <p:sp>
          <p:nvSpPr>
            <p:cNvPr id="52" name="node07.row.item-006.b.dash"/>
            <p:cNvSpPr/>
            <p:nvPr/>
          </p:nvSpPr>
          <p:spPr>
            <a:xfrm>
              <a:off x="9010650" y="4044950"/>
              <a:ext cx="114300" cy="12700"/>
            </a:xfrm>
            <a:prstGeom prst="rect">
              <a:avLst/>
            </a:prstGeom>
            <a:solidFill>
              <a:srgbClr val="50658E"/>
            </a:solidFill>
            <a:ln>
              <a:noFill/>
            </a:ln>
          </p:spPr>
        </p:sp>
        <p:sp>
          <p:nvSpPr>
            <p:cNvPr id="53" name="node07.row.item-006.c.checked"/>
            <p:cNvSpPr/>
            <p:nvPr/>
          </p:nvSpPr>
          <p:spPr>
            <a:xfrm>
              <a:off x="10591800" y="3975100"/>
              <a:ext cx="152400" cy="152400"/>
            </a:xfrm>
            <a:prstGeom prst="rect">
              <a:avLst/>
            </a:prstGeom>
            <a:solidFill>
              <a:srgbClr val="070154"/>
            </a:solidFill>
            <a:ln>
              <a:noFill/>
            </a:ln>
          </p:spPr>
        </p:sp>
        <p:sp>
          <p:nvSpPr>
            <p:cNvPr id="54" name="node07.row.item-006.c.tick"/>
            <p:cNvSpPr/>
            <p:nvPr/>
          </p:nvSpPr>
          <p:spPr>
            <a:xfrm>
              <a:off x="10591800" y="3975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55" name="node07.row.item-007.a.dash"/>
            <p:cNvSpPr/>
            <p:nvPr/>
          </p:nvSpPr>
          <p:spPr>
            <a:xfrm>
              <a:off x="7410450" y="4425950"/>
              <a:ext cx="114300" cy="12700"/>
            </a:xfrm>
            <a:prstGeom prst="rect">
              <a:avLst/>
            </a:prstGeom>
            <a:solidFill>
              <a:srgbClr val="50658E"/>
            </a:solidFill>
            <a:ln>
              <a:noFill/>
            </a:ln>
          </p:spPr>
        </p:sp>
        <p:sp>
          <p:nvSpPr>
            <p:cNvPr id="56" name="node07.row.item-007.b.dash"/>
            <p:cNvSpPr/>
            <p:nvPr/>
          </p:nvSpPr>
          <p:spPr>
            <a:xfrm>
              <a:off x="9010650" y="4425950"/>
              <a:ext cx="114300" cy="12700"/>
            </a:xfrm>
            <a:prstGeom prst="rect">
              <a:avLst/>
            </a:prstGeom>
            <a:solidFill>
              <a:srgbClr val="50658E"/>
            </a:solidFill>
            <a:ln>
              <a:noFill/>
            </a:ln>
          </p:spPr>
        </p:sp>
        <p:sp>
          <p:nvSpPr>
            <p:cNvPr id="57" name="node07.row.item-007.c.checked"/>
            <p:cNvSpPr/>
            <p:nvPr/>
          </p:nvSpPr>
          <p:spPr>
            <a:xfrm>
              <a:off x="10591800" y="4356100"/>
              <a:ext cx="152400" cy="152400"/>
            </a:xfrm>
            <a:prstGeom prst="rect">
              <a:avLst/>
            </a:prstGeom>
            <a:solidFill>
              <a:srgbClr val="070154"/>
            </a:solidFill>
            <a:ln>
              <a:noFill/>
            </a:ln>
          </p:spPr>
        </p:sp>
        <p:sp>
          <p:nvSpPr>
            <p:cNvPr id="58" name="node07.row.item-007.c.tick"/>
            <p:cNvSpPr/>
            <p:nvPr/>
          </p:nvSpPr>
          <p:spPr>
            <a:xfrm>
              <a:off x="10591800" y="4356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59" name="node07.row.item-008.a.dash"/>
            <p:cNvSpPr/>
            <p:nvPr/>
          </p:nvSpPr>
          <p:spPr>
            <a:xfrm>
              <a:off x="7410450" y="4806950"/>
              <a:ext cx="114300" cy="12700"/>
            </a:xfrm>
            <a:prstGeom prst="rect">
              <a:avLst/>
            </a:prstGeom>
            <a:solidFill>
              <a:srgbClr val="50658E"/>
            </a:solidFill>
            <a:ln>
              <a:noFill/>
            </a:ln>
          </p:spPr>
        </p:sp>
        <p:sp>
          <p:nvSpPr>
            <p:cNvPr id="60" name="node07.row.item-008.b.dash"/>
            <p:cNvSpPr/>
            <p:nvPr/>
          </p:nvSpPr>
          <p:spPr>
            <a:xfrm>
              <a:off x="9010650" y="4806950"/>
              <a:ext cx="114300" cy="12700"/>
            </a:xfrm>
            <a:prstGeom prst="rect">
              <a:avLst/>
            </a:prstGeom>
            <a:solidFill>
              <a:srgbClr val="50658E"/>
            </a:solidFill>
            <a:ln>
              <a:noFill/>
            </a:ln>
          </p:spPr>
        </p:sp>
        <p:sp>
          <p:nvSpPr>
            <p:cNvPr id="61" name="node07.row.item-008.c.checked"/>
            <p:cNvSpPr/>
            <p:nvPr/>
          </p:nvSpPr>
          <p:spPr>
            <a:xfrm>
              <a:off x="10591800" y="4737100"/>
              <a:ext cx="152400" cy="152400"/>
            </a:xfrm>
            <a:prstGeom prst="rect">
              <a:avLst/>
            </a:prstGeom>
            <a:solidFill>
              <a:srgbClr val="070154"/>
            </a:solidFill>
            <a:ln>
              <a:noFill/>
            </a:ln>
          </p:spPr>
        </p:sp>
        <p:sp>
          <p:nvSpPr>
            <p:cNvPr id="62" name="node07.row.item-008.c.tick"/>
            <p:cNvSpPr/>
            <p:nvPr/>
          </p:nvSpPr>
          <p:spPr>
            <a:xfrm>
              <a:off x="10591800" y="4737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63" name="node07.highlight-edge"/>
            <p:cNvSpPr/>
            <p:nvPr/>
          </p:nvSpPr>
          <p:spPr>
            <a:xfrm>
              <a:off x="8267700" y="1562100"/>
              <a:ext cx="1600200" cy="38100"/>
            </a:xfrm>
            <a:prstGeom prst="rect">
              <a:avLst/>
            </a:prstGeom>
            <a:solidFill>
              <a:srgbClr val="0047FF"/>
            </a:solidFill>
            <a:ln>
              <a:noFill/>
            </a:ln>
          </p:spPr>
        </p:sp>
      </p:grpSp>
      <p:grpSp>
        <p:nvGrpSpPr>
          <p:cNvPr id="82" name="node08"/>
          <p:cNvGrpSpPr/>
          <p:nvPr/>
        </p:nvGrpSpPr>
        <p:grpSpPr>
          <a:xfrm>
            <a:off x="6667500" y="5029200"/>
            <a:ext cx="1371600" cy="685800"/>
            <a:chOff x="6667500" y="5029200"/>
            <a:chExt cx="1371600" cy="685800"/>
          </a:xfrm>
        </p:grpSpPr>
        <p:sp>
          <p:nvSpPr>
            <p:cNvPr id="64" name="node08.surface"/>
            <p:cNvSpPr/>
            <p:nvPr/>
          </p:nvSpPr>
          <p:spPr>
            <a:xfrm>
              <a:off x="6667500" y="5029200"/>
              <a:ext cx="1371600" cy="685800"/>
            </a:xfrm>
            <a:prstGeom prst="rect">
              <a:avLst/>
            </a:prstGeom>
            <a:solidFill>
              <a:srgbClr val="E8EEF8"/>
            </a:solidFill>
            <a:ln>
              <a:noFill/>
            </a:ln>
          </p:spPr>
        </p:sp>
      </p:grpSp>
      <p:grpSp>
        <p:nvGrpSpPr>
          <p:cNvPr id="83" name="node09"/>
          <p:cNvGrpSpPr/>
          <p:nvPr/>
        </p:nvGrpSpPr>
        <p:grpSpPr>
          <a:xfrm>
            <a:off x="6781800" y="5067300"/>
            <a:ext cx="1143000" cy="266700"/>
            <a:chOff x="6781800" y="5067300"/>
            <a:chExt cx="1143000" cy="266700"/>
          </a:xfrm>
        </p:grpSpPr>
        <p:sp>
          <p:nvSpPr>
            <p:cNvPr id="65" name="node09.text"/>
            <p:cNvSpPr/>
            <p:nvPr/>
          </p:nvSpPr>
          <p:spPr>
            <a:xfrm>
              <a:off x="6781800" y="5067300"/>
              <a:ext cx="1143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$75K</a:t>
              </a:r>
              <a:endParaRPr lang="en-US" sz="1600" spc="-16" kern="0" b="0" i="0" dirty="0">
                <a:solidFill>
                  <a:srgbClr val="070154"/>
                </a:solidFill>
                <a:latin typeface="IBM Plex Sans SemiBold"/>
                <a:ea typeface="IBM Plex Sans SemiBold"/>
                <a:cs typeface="IBM Plex Sans SemiBold"/>
              </a:endParaRPr>
            </a:p>
          </p:txBody>
        </p:sp>
      </p:grpSp>
      <p:grpSp>
        <p:nvGrpSpPr>
          <p:cNvPr id="84" name="node10"/>
          <p:cNvGrpSpPr/>
          <p:nvPr/>
        </p:nvGrpSpPr>
        <p:grpSpPr>
          <a:xfrm>
            <a:off x="6781800" y="5410200"/>
            <a:ext cx="1143000" cy="190500"/>
            <a:chOff x="6781800" y="5410200"/>
            <a:chExt cx="1143000" cy="190500"/>
          </a:xfrm>
        </p:grpSpPr>
        <p:sp>
          <p:nvSpPr>
            <p:cNvPr id="66" name="node10.text"/>
            <p:cNvSpPr/>
            <p:nvPr/>
          </p:nvSpPr>
          <p:spPr>
            <a:xfrm>
              <a:off x="6781800" y="5410200"/>
              <a:ext cx="1143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3 weeks, fixed</a:t>
              </a:r>
              <a:endParaRPr lang="en-US" sz="1100" spc="0" kern="0" b="0" i="0" dirty="0">
                <a:solidFill>
                  <a:srgbClr val="070154"/>
                </a:solidFill>
                <a:latin typeface="IBM Plex Sans"/>
                <a:ea typeface="IBM Plex Sans"/>
                <a:cs typeface="IBM Plex Sans"/>
              </a:endParaRPr>
            </a:p>
          </p:txBody>
        </p:sp>
      </p:grpSp>
      <p:grpSp>
        <p:nvGrpSpPr>
          <p:cNvPr id="85" name="node11"/>
          <p:cNvGrpSpPr/>
          <p:nvPr/>
        </p:nvGrpSpPr>
        <p:grpSpPr>
          <a:xfrm>
            <a:off x="8267700" y="5029200"/>
            <a:ext cx="1371600" cy="685800"/>
            <a:chOff x="8267700" y="5029200"/>
            <a:chExt cx="1371600" cy="685800"/>
          </a:xfrm>
        </p:grpSpPr>
        <p:sp>
          <p:nvSpPr>
            <p:cNvPr id="67" name="node11.surface"/>
            <p:cNvSpPr/>
            <p:nvPr/>
          </p:nvSpPr>
          <p:spPr>
            <a:xfrm>
              <a:off x="8267700" y="5029200"/>
              <a:ext cx="1371600" cy="685800"/>
            </a:xfrm>
            <a:prstGeom prst="rect">
              <a:avLst/>
            </a:prstGeom>
            <a:solidFill>
              <a:srgbClr val="070154"/>
            </a:solidFill>
            <a:ln>
              <a:noFill/>
            </a:ln>
          </p:spPr>
        </p:sp>
      </p:grpSp>
      <p:grpSp>
        <p:nvGrpSpPr>
          <p:cNvPr id="86" name="node12"/>
          <p:cNvGrpSpPr/>
          <p:nvPr/>
        </p:nvGrpSpPr>
        <p:grpSpPr>
          <a:xfrm>
            <a:off x="8382000" y="5067300"/>
            <a:ext cx="1143000" cy="266700"/>
            <a:chOff x="8382000" y="5067300"/>
            <a:chExt cx="1143000" cy="266700"/>
          </a:xfrm>
        </p:grpSpPr>
        <p:sp>
          <p:nvSpPr>
            <p:cNvPr id="68" name="node12.text"/>
            <p:cNvSpPr/>
            <p:nvPr/>
          </p:nvSpPr>
          <p:spPr>
            <a:xfrm>
              <a:off x="8382000" y="5067300"/>
              <a:ext cx="1143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$210K</a:t>
              </a:r>
              <a:endParaRPr lang="en-US" sz="1600" spc="-16" kern="0" b="0" i="0" dirty="0">
                <a:solidFill>
                  <a:srgbClr val="FFFFFF"/>
                </a:solidFill>
                <a:latin typeface="IBM Plex Sans SemiBold"/>
                <a:ea typeface="IBM Plex Sans SemiBold"/>
                <a:cs typeface="IBM Plex Sans SemiBold"/>
              </a:endParaRPr>
            </a:p>
          </p:txBody>
        </p:sp>
      </p:grpSp>
      <p:grpSp>
        <p:nvGrpSpPr>
          <p:cNvPr id="87" name="node13"/>
          <p:cNvGrpSpPr/>
          <p:nvPr/>
        </p:nvGrpSpPr>
        <p:grpSpPr>
          <a:xfrm>
            <a:off x="8382000" y="5410200"/>
            <a:ext cx="1143000" cy="190500"/>
            <a:chOff x="8382000" y="5410200"/>
            <a:chExt cx="1143000" cy="190500"/>
          </a:xfrm>
        </p:grpSpPr>
        <p:sp>
          <p:nvSpPr>
            <p:cNvPr id="69" name="node13.text"/>
            <p:cNvSpPr/>
            <p:nvPr/>
          </p:nvSpPr>
          <p:spPr>
            <a:xfrm>
              <a:off x="8382000" y="5410200"/>
              <a:ext cx="1143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8 weeks, fixed</a:t>
              </a:r>
              <a:endParaRPr lang="en-US" sz="1100" spc="0" kern="0" b="0" i="0" dirty="0">
                <a:solidFill>
                  <a:srgbClr val="FFFFFF"/>
                </a:solidFill>
                <a:latin typeface="IBM Plex Sans"/>
                <a:ea typeface="IBM Plex Sans"/>
                <a:cs typeface="IBM Plex Sans"/>
              </a:endParaRPr>
            </a:p>
          </p:txBody>
        </p:sp>
      </p:grpSp>
      <p:grpSp>
        <p:nvGrpSpPr>
          <p:cNvPr id="88" name="node14"/>
          <p:cNvGrpSpPr/>
          <p:nvPr/>
        </p:nvGrpSpPr>
        <p:grpSpPr>
          <a:xfrm>
            <a:off x="9867900" y="5029200"/>
            <a:ext cx="1371600" cy="685800"/>
            <a:chOff x="9867900" y="5029200"/>
            <a:chExt cx="1371600" cy="685800"/>
          </a:xfrm>
        </p:grpSpPr>
        <p:sp>
          <p:nvSpPr>
            <p:cNvPr id="70" name="node14.surface"/>
            <p:cNvSpPr/>
            <p:nvPr/>
          </p:nvSpPr>
          <p:spPr>
            <a:xfrm>
              <a:off x="9867900" y="5029200"/>
              <a:ext cx="1371600" cy="685800"/>
            </a:xfrm>
            <a:prstGeom prst="rect">
              <a:avLst/>
            </a:prstGeom>
            <a:solidFill>
              <a:srgbClr val="E8EEF8"/>
            </a:solidFill>
            <a:ln>
              <a:noFill/>
            </a:ln>
          </p:spPr>
        </p:sp>
      </p:grpSp>
      <p:grpSp>
        <p:nvGrpSpPr>
          <p:cNvPr id="89" name="node15"/>
          <p:cNvGrpSpPr/>
          <p:nvPr/>
        </p:nvGrpSpPr>
        <p:grpSpPr>
          <a:xfrm>
            <a:off x="9982200" y="5067300"/>
            <a:ext cx="1143000" cy="266700"/>
            <a:chOff x="9982200" y="5067300"/>
            <a:chExt cx="1143000" cy="266700"/>
          </a:xfrm>
        </p:grpSpPr>
        <p:sp>
          <p:nvSpPr>
            <p:cNvPr id="71" name="node15.text"/>
            <p:cNvSpPr/>
            <p:nvPr/>
          </p:nvSpPr>
          <p:spPr>
            <a:xfrm>
              <a:off x="9982200" y="5067300"/>
              <a:ext cx="1143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$480K</a:t>
              </a:r>
              <a:endParaRPr lang="en-US" sz="1600" spc="-16" kern="0" b="0" i="0" dirty="0">
                <a:solidFill>
                  <a:srgbClr val="070154"/>
                </a:solidFill>
                <a:latin typeface="IBM Plex Sans SemiBold"/>
                <a:ea typeface="IBM Plex Sans SemiBold"/>
                <a:cs typeface="IBM Plex Sans SemiBold"/>
              </a:endParaRPr>
            </a:p>
          </p:txBody>
        </p:sp>
      </p:grpSp>
      <p:grpSp>
        <p:nvGrpSpPr>
          <p:cNvPr id="90" name="node16"/>
          <p:cNvGrpSpPr/>
          <p:nvPr/>
        </p:nvGrpSpPr>
        <p:grpSpPr>
          <a:xfrm>
            <a:off x="9982200" y="5410200"/>
            <a:ext cx="1143000" cy="190500"/>
            <a:chOff x="9982200" y="5410200"/>
            <a:chExt cx="1143000" cy="190500"/>
          </a:xfrm>
        </p:grpSpPr>
        <p:sp>
          <p:nvSpPr>
            <p:cNvPr id="72" name="node16.text"/>
            <p:cNvSpPr/>
            <p:nvPr/>
          </p:nvSpPr>
          <p:spPr>
            <a:xfrm>
              <a:off x="9982200" y="5410200"/>
              <a:ext cx="1143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16 weeks, fixed</a:t>
              </a:r>
              <a:endParaRPr lang="en-US" sz="1100" spc="0" kern="0" b="0" i="0" dirty="0">
                <a:solidFill>
                  <a:srgbClr val="070154"/>
                </a:solidFill>
                <a:latin typeface="IBM Plex Sans"/>
                <a:ea typeface="IBM Plex Sans"/>
                <a:cs typeface="IBM Plex Sans"/>
              </a:endParaRPr>
            </a:p>
          </p:txBody>
        </p:sp>
      </p:grpSp>
      <p:grpSp>
        <p:nvGrpSpPr>
          <p:cNvPr id="91" name="node17"/>
          <p:cNvGrpSpPr/>
          <p:nvPr/>
        </p:nvGrpSpPr>
        <p:grpSpPr>
          <a:xfrm>
            <a:off x="3924300" y="5067300"/>
            <a:ext cx="2514600" cy="139700"/>
            <a:chOff x="3924300" y="5067300"/>
            <a:chExt cx="2514600" cy="139700"/>
          </a:xfrm>
        </p:grpSpPr>
        <p:sp>
          <p:nvSpPr>
            <p:cNvPr id="73" name="node17.text"/>
            <p:cNvSpPr/>
            <p:nvPr/>
          </p:nvSpPr>
          <p:spPr>
            <a:xfrm>
              <a:off x="3924300" y="50673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FIXED FEE</a:t>
              </a:r>
              <a:endParaRPr lang="en-US" sz="800" spc="48" kern="0" b="0" i="0" dirty="0">
                <a:solidFill>
                  <a:srgbClr val="0047FF"/>
                </a:solidFill>
                <a:latin typeface="IBM Plex Mono Medium"/>
                <a:ea typeface="IBM Plex Mono Medium"/>
                <a:cs typeface="IBM Plex Mono Medium"/>
              </a:endParaRPr>
            </a:p>
          </p:txBody>
        </p:sp>
      </p:grpSp>
      <p:grpSp>
        <p:nvGrpSpPr>
          <p:cNvPr id="92" name="node18"/>
          <p:cNvGrpSpPr/>
          <p:nvPr/>
        </p:nvGrpSpPr>
        <p:grpSpPr>
          <a:xfrm>
            <a:off x="3924300" y="5257800"/>
            <a:ext cx="2590800" cy="190500"/>
            <a:chOff x="3924300" y="5257800"/>
            <a:chExt cx="2590800" cy="190500"/>
          </a:xfrm>
        </p:grpSpPr>
        <p:sp>
          <p:nvSpPr>
            <p:cNvPr id="74" name="node18.text"/>
            <p:cNvSpPr/>
            <p:nvPr/>
          </p:nvSpPr>
          <p:spPr>
            <a:xfrm>
              <a:off x="3924300" y="5257800"/>
              <a:ext cx="2590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Team: lead plus architects and engineers</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ource-328">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Six packaged offers, one fixed fee each</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9055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219</a:t>
            </a:fld>
            <a:endParaRPr lang="en-US" sz="700" spc="0" kern="0" b="0" i="0" dirty="0">
              <a:solidFill>
                <a:srgbClr val="070154"/>
              </a:solidFill>
              <a:latin typeface="IBM Plex Mono SemiBold"/>
              <a:ea typeface="IBM Plex Mono SemiBold"/>
              <a:cs typeface="IBM Plex Mono SemiBold"/>
            </a:endParaRPr>
          </a:p>
        </p:txBody>
      </p:sp>
      <p:grpSp>
        <p:nvGrpSpPr>
          <p:cNvPr id="23" name="node01"/>
          <p:cNvGrpSpPr/>
          <p:nvPr/>
        </p:nvGrpSpPr>
        <p:grpSpPr>
          <a:xfrm>
            <a:off x="723900" y="457200"/>
            <a:ext cx="7086600" cy="5156200"/>
            <a:chOff x="723900" y="457200"/>
            <a:chExt cx="7086600" cy="5156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457200"/>
            <a:ext cx="7086600" cy="5156200"/>
          </p:xfrm>
          <a:graphic>
            <a:graphicData uri="http://schemas.openxmlformats.org/drawingml/2006/table">
              <a:tbl>
                <a:tblPr/>
                <a:tblGrid>
                  <a:gridCol w="2057400"/>
                  <a:gridCol w="3810000"/>
                  <a:gridCol w="1219200"/>
                </a:tblGrid>
                <a:tr h="355600">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OFFER</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HOW WE DO IT</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100"/>
                          </a:lnSpc>
                          <a:spcBef>
                            <a:spcPts val="0"/>
                          </a:spcBef>
                          <a:spcAft>
                            <a:spcPts val="0"/>
                          </a:spcAft>
                          <a:buNone/>
                          <a:defRPr lang="en-US" sz="800" spc="48" kern="0" b="0" i="0" dirty="0">
                            <a:solidFill>
                              <a:srgbClr val="FFFFFF"/>
                            </a:solidFill>
                            <a:latin typeface="IBM Plex Mono SemiBold"/>
                            <a:ea typeface="IBM Plex Mono SemiBold"/>
                            <a:cs typeface="IBM Plex Mono SemiBold"/>
                          </a:defRPr>
                        </a:pPr>
                        <a:r>
                          <a:rPr lang="en-US" sz="800" spc="48" kern="0" b="0" i="0" dirty="0">
                            <a:solidFill>
                              <a:srgbClr val="FFFFFF"/>
                            </a:solidFill>
                            <a:latin typeface="IBM Plex Mono SemiBold"/>
                            <a:ea typeface="IBM Plex Mono SemiBold"/>
                            <a:cs typeface="IBM Plex Mono SemiBold"/>
                          </a:rPr>
                          <a:t xml:space="preserve">FIXED FEE</a:t>
                        </a:r>
                        <a:endParaRPr lang="en-US" sz="800" spc="48"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8001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AI readiness scan</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Strategy</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Interview 8 leaders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Scan data, risk, talent</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Rank top five use cases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$65K</a:t>
                        </a:r>
                        <a:endParaRPr lang="en-US" sz="1000" spc="0" kern="0" b="0" i="0" dirty="0">
                          <a:solidFill>
                            <a:srgbClr val="070154"/>
                          </a:solidFill>
                          <a:latin typeface="IBM Plex Sans"/>
                          <a:ea typeface="IBM Plex Sans"/>
                          <a:cs typeface="IBM Plex Sans"/>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3 weeks</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001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AI readiness assessment</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Strategy</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Score five domains vs. peers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Rank 30 use cases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Governance and 90-day plan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$185K</a:t>
                        </a:r>
                        <a:endParaRPr lang="en-US" sz="1000" spc="0" kern="0" b="0" i="0" dirty="0">
                          <a:solidFill>
                            <a:srgbClr val="070154"/>
                          </a:solidFill>
                          <a:latin typeface="IBM Plex Sans"/>
                          <a:ea typeface="IBM Plex Sans"/>
                          <a:cs typeface="IBM Plex Sans"/>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8 weeks</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001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Revenue cycle diagnostic</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Finance</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Baseline 24 months of claims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Root-cause denials and A/R</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Size fixes; 90-day plan</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$145K</a:t>
                        </a:r>
                        <a:endParaRPr lang="en-US" sz="1000" spc="0" kern="0" b="0" i="0" dirty="0">
                          <a:solidFill>
                            <a:srgbClr val="070154"/>
                          </a:solidFill>
                          <a:latin typeface="IBM Plex Sans"/>
                          <a:ea typeface="IBM Plex Sans"/>
                          <a:cs typeface="IBM Plex Sans"/>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6 weeks</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001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Data platform jumpstart</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Data</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Frame sources and standards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Build core model, six sources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Prove with two live reports</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$240K</a:t>
                        </a:r>
                        <a:endParaRPr lang="en-US" sz="1000" spc="0" kern="0" b="0" i="0" dirty="0">
                          <a:solidFill>
                            <a:srgbClr val="070154"/>
                          </a:solidFill>
                          <a:latin typeface="IBM Plex Sans"/>
                          <a:ea typeface="IBM Plex Sans"/>
                          <a:cs typeface="IBM Plex Sans"/>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10 weeks</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001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Cloud landing zone sprint</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Cloud</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Design zone and guardrails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Build and test pipelines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Train and hand over</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$210K</a:t>
                        </a:r>
                        <a:endParaRPr lang="en-US" sz="1000" spc="0" kern="0" b="0" i="0" dirty="0">
                          <a:solidFill>
                            <a:srgbClr val="070154"/>
                          </a:solidFill>
                          <a:latin typeface="IBM Plex Sans"/>
                          <a:ea typeface="IBM Plex Sans"/>
                          <a:cs typeface="IBM Plex Sans"/>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8 weeks</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00100">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SemiBold"/>
                            <a:ea typeface="IBM Plex Sans SemiBold"/>
                            <a:cs typeface="IBM Plex Sans SemiBold"/>
                          </a:defRPr>
                        </a:pPr>
                        <a:r>
                          <a:rPr lang="en-US" sz="1000" spc="0" kern="0" b="0" i="0" dirty="0">
                            <a:solidFill>
                              <a:srgbClr val="070154"/>
                            </a:solidFill>
                            <a:latin typeface="IBM Plex Sans SemiBold"/>
                            <a:ea typeface="IBM Plex Sans SemiBold"/>
                            <a:cs typeface="IBM Plex Sans SemiBold"/>
                          </a:rPr>
                          <a:t xml:space="preserve">Cloud cost review</a:t>
                        </a:r>
                        <a:endParaRPr lang="en-US" sz="1000" spc="0" kern="0" b="0" i="0" dirty="0">
                          <a:solidFill>
                            <a:srgbClr val="070154"/>
                          </a:solidFill>
                          <a:latin typeface="IBM Plex Sans SemiBold"/>
                          <a:ea typeface="IBM Plex Sans SemiBold"/>
                          <a:cs typeface="IBM Plex Sans SemiBold"/>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Cloud</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Pull billing and usage data</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20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Map spend to owners</a:t>
                        </a:r>
                        <a:endParaRPr lang="en-US" sz="1000" spc="0" kern="0" b="0" i="0" dirty="0">
                          <a:solidFill>
                            <a:srgbClr val="070154"/>
                          </a:solidFill>
                          <a:latin typeface="IBM Plex Sans"/>
                          <a:ea typeface="IBM Plex Sans"/>
                          <a:cs typeface="IBM Plex Sans"/>
                        </a:endParaRPr>
                      </a:p>
                      <a:p>
                        <a:pPr algn="l" marL="139700" indent="-139700">
                          <a:lnSpc>
                            <a:spcPts val="1300"/>
                          </a:lnSpc>
                          <a:spcBef>
                            <a:spcPts val="0"/>
                          </a:spcBef>
                          <a:spcAft>
                            <a:spcPts val="0"/>
                          </a:spcAft>
                          <a:buSzPts val="300"/>
                          <a:buFont typeface="IBM Plex Sans"/>
                          <a:buChar char="■"/>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Rank savings by effort</a:t>
                        </a:r>
                        <a:endParaRPr lang="en-US" sz="10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300"/>
                          </a:lnSpc>
                          <a:spcBef>
                            <a:spcPts val="0"/>
                          </a:spcBef>
                          <a:spcAft>
                            <a:spcPts val="200"/>
                          </a:spcAft>
                          <a:buNone/>
                          <a:defRPr lang="en-US" sz="1000" spc="0" kern="0" b="0" i="0" dirty="0">
                            <a:solidFill>
                              <a:srgbClr val="070154"/>
                            </a:solidFill>
                            <a:latin typeface="IBM Plex Sans"/>
                            <a:ea typeface="IBM Plex Sans"/>
                            <a:cs typeface="IBM Plex Sans"/>
                          </a:defRPr>
                        </a:pPr>
                        <a:r>
                          <a:rPr lang="en-US" sz="1000" spc="0" kern="0" b="0" i="0" dirty="0">
                            <a:solidFill>
                              <a:srgbClr val="070154"/>
                            </a:solidFill>
                            <a:latin typeface="IBM Plex Sans"/>
                            <a:ea typeface="IBM Plex Sans"/>
                            <a:cs typeface="IBM Plex Sans"/>
                          </a:rPr>
                          <a:t xml:space="preserve">$75K</a:t>
                        </a:r>
                        <a:endParaRPr lang="en-US" sz="1000" spc="0" kern="0" b="0" i="0" dirty="0">
                          <a:solidFill>
                            <a:srgbClr val="070154"/>
                          </a:solidFill>
                          <a:latin typeface="IBM Plex Sans"/>
                          <a:ea typeface="IBM Plex Sans"/>
                          <a:cs typeface="IBM Plex Sans"/>
                        </a:endParaRPr>
                      </a:p>
                      <a:p>
                        <a:pPr algn="l" marL="0" indent="0">
                          <a:lnSpc>
                            <a:spcPts val="1300"/>
                          </a:lnSpc>
                          <a:spcBef>
                            <a:spcPts val="0"/>
                          </a:spcBef>
                          <a:spcAft>
                            <a:spcPts val="0"/>
                          </a:spcAft>
                          <a:buNone/>
                          <a:defRPr lang="en-US" sz="1000" spc="0" kern="0" b="0" i="0" dirty="0">
                            <a:solidFill>
                              <a:srgbClr val="50658E"/>
                            </a:solidFill>
                            <a:latin typeface="IBM Plex Sans"/>
                            <a:ea typeface="IBM Plex Sans"/>
                            <a:cs typeface="IBM Plex Sans"/>
                          </a:defRPr>
                        </a:pPr>
                        <a:r>
                          <a:rPr lang="en-US" sz="1000" spc="0" kern="0" b="0" i="0" dirty="0">
                            <a:solidFill>
                              <a:srgbClr val="50658E"/>
                            </a:solidFill>
                            <a:latin typeface="IBM Plex Sans"/>
                            <a:ea typeface="IBM Plex Sans"/>
                            <a:cs typeface="IBM Plex Sans"/>
                          </a:rPr>
                          <a:t xml:space="preserve">4 weeks</a:t>
                        </a:r>
                        <a:endParaRPr lang="en-US" sz="10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24" name="node02"/>
          <p:cNvGrpSpPr/>
          <p:nvPr/>
        </p:nvGrpSpPr>
        <p:grpSpPr>
          <a:xfrm>
            <a:off x="8039100" y="2286000"/>
            <a:ext cx="3429000" cy="139700"/>
            <a:chOff x="8039100" y="2286000"/>
            <a:chExt cx="3429000" cy="139700"/>
          </a:xfrm>
        </p:grpSpPr>
        <p:sp>
          <p:nvSpPr>
            <p:cNvPr id="8" name="node02.text"/>
            <p:cNvSpPr/>
            <p:nvPr/>
          </p:nvSpPr>
          <p:spPr>
            <a:xfrm>
              <a:off x="8039100" y="2286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WE WILL DO</a:t>
              </a:r>
              <a:endParaRPr lang="en-US" sz="800" spc="48" kern="0" b="0" i="0" dirty="0">
                <a:solidFill>
                  <a:srgbClr val="0047FF"/>
                </a:solidFill>
                <a:latin typeface="IBM Plex Mono Medium"/>
                <a:ea typeface="IBM Plex Mono Medium"/>
                <a:cs typeface="IBM Plex Mono Medium"/>
              </a:endParaRPr>
            </a:p>
          </p:txBody>
        </p:sp>
      </p:grpSp>
      <p:grpSp>
        <p:nvGrpSpPr>
          <p:cNvPr id="25" name="node03"/>
          <p:cNvGrpSpPr/>
          <p:nvPr/>
        </p:nvGrpSpPr>
        <p:grpSpPr>
          <a:xfrm>
            <a:off x="8039100" y="2514600"/>
            <a:ext cx="3429000" cy="647700"/>
            <a:chOff x="8039100" y="2514600"/>
            <a:chExt cx="3429000" cy="647700"/>
          </a:xfrm>
        </p:grpSpPr>
        <p:sp>
          <p:nvSpPr>
            <p:cNvPr id="9" name="node03.text"/>
            <p:cNvSpPr/>
            <p:nvPr/>
          </p:nvSpPr>
          <p:spPr>
            <a:xfrm>
              <a:off x="8039100" y="2514600"/>
              <a:ext cx="3429000" cy="6477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Pick a package, not a proposal. Each offer is a fixed fee for a fixed time, with named deliverables.</a:t>
              </a:r>
              <a:endParaRPr lang="en-US" sz="1200" spc="0" kern="0" b="0" i="0" dirty="0">
                <a:solidFill>
                  <a:srgbClr val="50658E"/>
                </a:solidFill>
                <a:latin typeface="IBM Plex Sans"/>
                <a:ea typeface="IBM Plex Sans"/>
                <a:cs typeface="IBM Plex Sans"/>
              </a:endParaRPr>
            </a:p>
          </p:txBody>
        </p:sp>
      </p:grpSp>
      <p:grpSp>
        <p:nvGrpSpPr>
          <p:cNvPr id="26" name="node04"/>
          <p:cNvGrpSpPr/>
          <p:nvPr/>
        </p:nvGrpSpPr>
        <p:grpSpPr>
          <a:xfrm>
            <a:off x="8039100" y="3429000"/>
            <a:ext cx="3429000" cy="139700"/>
            <a:chOff x="8039100" y="3429000"/>
            <a:chExt cx="3429000" cy="139700"/>
          </a:xfrm>
        </p:grpSpPr>
        <p:sp>
          <p:nvSpPr>
            <p:cNvPr id="10" name="node04.text"/>
            <p:cNvSpPr/>
            <p:nvPr/>
          </p:nvSpPr>
          <p:spPr>
            <a:xfrm>
              <a:off x="8039100" y="3429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EVERY OFFER INCLUDES</a:t>
              </a:r>
              <a:endParaRPr lang="en-US" sz="800" spc="48" kern="0" b="0" i="0" dirty="0">
                <a:solidFill>
                  <a:srgbClr val="0047FF"/>
                </a:solidFill>
                <a:latin typeface="IBM Plex Mono Medium"/>
                <a:ea typeface="IBM Plex Mono Medium"/>
                <a:cs typeface="IBM Plex Mono Medium"/>
              </a:endParaRPr>
            </a:p>
          </p:txBody>
        </p:sp>
      </p:grpSp>
      <p:grpSp>
        <p:nvGrpSpPr>
          <p:cNvPr id="27" name="node05"/>
          <p:cNvGrpSpPr/>
          <p:nvPr/>
        </p:nvGrpSpPr>
        <p:grpSpPr>
          <a:xfrm>
            <a:off x="8039100" y="3657600"/>
            <a:ext cx="3429000" cy="723900"/>
            <a:chOff x="8039100" y="3657600"/>
            <a:chExt cx="3429000" cy="723900"/>
          </a:xfrm>
        </p:grpSpPr>
        <p:sp>
          <p:nvSpPr>
            <p:cNvPr id="11" name="node05.source-001.bullet"/>
            <p:cNvSpPr/>
            <p:nvPr/>
          </p:nvSpPr>
          <p:spPr>
            <a:xfrm>
              <a:off x="8039100" y="3746500"/>
              <a:ext cx="38100" cy="38100"/>
            </a:xfrm>
            <a:prstGeom prst="rect">
              <a:avLst/>
            </a:prstGeom>
            <a:solidFill>
              <a:srgbClr val="070154"/>
            </a:solidFill>
            <a:ln>
              <a:noFill/>
            </a:ln>
          </p:spPr>
        </p:sp>
        <p:sp>
          <p:nvSpPr>
            <p:cNvPr id="12" name="node05.source-001.text"/>
            <p:cNvSpPr/>
            <p:nvPr/>
          </p:nvSpPr>
          <p:spPr>
            <a:xfrm>
              <a:off x="8191500" y="3657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 named lead and team</a:t>
              </a:r>
              <a:endParaRPr lang="en-US" sz="1200" spc="0" kern="0" b="0" i="0" dirty="0">
                <a:solidFill>
                  <a:srgbClr val="070154"/>
                </a:solidFill>
                <a:latin typeface="IBM Plex Sans"/>
                <a:ea typeface="IBM Plex Sans"/>
                <a:cs typeface="IBM Plex Sans"/>
              </a:endParaRPr>
            </a:p>
          </p:txBody>
        </p:sp>
        <p:sp>
          <p:nvSpPr>
            <p:cNvPr id="13" name="node05.source-002.bullet"/>
            <p:cNvSpPr/>
            <p:nvPr/>
          </p:nvSpPr>
          <p:spPr>
            <a:xfrm>
              <a:off x="8039100" y="4000500"/>
              <a:ext cx="38100" cy="38100"/>
            </a:xfrm>
            <a:prstGeom prst="rect">
              <a:avLst/>
            </a:prstGeom>
            <a:solidFill>
              <a:srgbClr val="070154"/>
            </a:solidFill>
            <a:ln>
              <a:noFill/>
            </a:ln>
          </p:spPr>
        </p:sp>
        <p:sp>
          <p:nvSpPr>
            <p:cNvPr id="14" name="node05.source-002.text"/>
            <p:cNvSpPr/>
            <p:nvPr/>
          </p:nvSpPr>
          <p:spPr>
            <a:xfrm>
              <a:off x="8191500" y="3911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Weekly sponsor check-in</a:t>
              </a:r>
              <a:endParaRPr lang="en-US" sz="1200" spc="0" kern="0" b="0" i="0" dirty="0">
                <a:solidFill>
                  <a:srgbClr val="070154"/>
                </a:solidFill>
                <a:latin typeface="IBM Plex Sans"/>
                <a:ea typeface="IBM Plex Sans"/>
                <a:cs typeface="IBM Plex Sans"/>
              </a:endParaRPr>
            </a:p>
          </p:txBody>
        </p:sp>
        <p:sp>
          <p:nvSpPr>
            <p:cNvPr id="15" name="node05.source-003.bullet"/>
            <p:cNvSpPr/>
            <p:nvPr/>
          </p:nvSpPr>
          <p:spPr>
            <a:xfrm>
              <a:off x="8039100" y="4254500"/>
              <a:ext cx="38100" cy="38100"/>
            </a:xfrm>
            <a:prstGeom prst="rect">
              <a:avLst/>
            </a:prstGeom>
            <a:solidFill>
              <a:srgbClr val="070154"/>
            </a:solidFill>
            <a:ln>
              <a:noFill/>
            </a:ln>
          </p:spPr>
        </p:sp>
        <p:sp>
          <p:nvSpPr>
            <p:cNvPr id="16" name="node05.source-003.text"/>
            <p:cNvSpPr/>
            <p:nvPr/>
          </p:nvSpPr>
          <p:spPr>
            <a:xfrm>
              <a:off x="8191500" y="4165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Readout and handover pack</a:t>
              </a:r>
              <a:endParaRPr lang="en-US" sz="1200" spc="0" kern="0" b="0" i="0" dirty="0">
                <a:solidFill>
                  <a:srgbClr val="070154"/>
                </a:solidFill>
                <a:latin typeface="IBM Plex Sans"/>
                <a:ea typeface="IBM Plex Sans"/>
                <a:cs typeface="IBM Plex Sans"/>
              </a:endParaRPr>
            </a:p>
          </p:txBody>
        </p:sp>
      </p:grpSp>
      <p:grpSp>
        <p:nvGrpSpPr>
          <p:cNvPr id="28" name="node06"/>
          <p:cNvGrpSpPr/>
          <p:nvPr/>
        </p:nvGrpSpPr>
        <p:grpSpPr>
          <a:xfrm>
            <a:off x="8039100" y="4495800"/>
            <a:ext cx="3429000" cy="139700"/>
            <a:chOff x="8039100" y="4495800"/>
            <a:chExt cx="3429000" cy="139700"/>
          </a:xfrm>
        </p:grpSpPr>
        <p:sp>
          <p:nvSpPr>
            <p:cNvPr id="17" name="node06.text"/>
            <p:cNvSpPr/>
            <p:nvPr/>
          </p:nvSpPr>
          <p:spPr>
            <a:xfrm>
              <a:off x="8039100" y="44958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HOW OFFERS CHAIN</a:t>
              </a:r>
              <a:endParaRPr lang="en-US" sz="800" spc="48" kern="0" b="0" i="0" dirty="0">
                <a:solidFill>
                  <a:srgbClr val="0047FF"/>
                </a:solidFill>
                <a:latin typeface="IBM Plex Mono Medium"/>
                <a:ea typeface="IBM Plex Mono Medium"/>
                <a:cs typeface="IBM Plex Mono Medium"/>
              </a:endParaRPr>
            </a:p>
          </p:txBody>
        </p:sp>
      </p:grpSp>
      <p:grpSp>
        <p:nvGrpSpPr>
          <p:cNvPr id="29" name="node07"/>
          <p:cNvGrpSpPr/>
          <p:nvPr/>
        </p:nvGrpSpPr>
        <p:grpSpPr>
          <a:xfrm>
            <a:off x="8039100" y="4724400"/>
            <a:ext cx="3429000" cy="469900"/>
            <a:chOff x="8039100" y="4724400"/>
            <a:chExt cx="3429000" cy="469900"/>
          </a:xfrm>
        </p:grpSpPr>
        <p:sp>
          <p:nvSpPr>
            <p:cNvPr id="18" name="node07.source-001.bullet"/>
            <p:cNvSpPr/>
            <p:nvPr/>
          </p:nvSpPr>
          <p:spPr>
            <a:xfrm>
              <a:off x="8039100" y="4813300"/>
              <a:ext cx="38100" cy="38100"/>
            </a:xfrm>
            <a:prstGeom prst="rect">
              <a:avLst/>
            </a:prstGeom>
            <a:solidFill>
              <a:srgbClr val="070154"/>
            </a:solidFill>
            <a:ln>
              <a:noFill/>
            </a:ln>
          </p:spPr>
        </p:sp>
        <p:sp>
          <p:nvSpPr>
            <p:cNvPr id="19" name="node07.source-001.text"/>
            <p:cNvSpPr/>
            <p:nvPr/>
          </p:nvSpPr>
          <p:spPr>
            <a:xfrm>
              <a:off x="8191500" y="4724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Scan, then assessment, then pilot</a:t>
              </a:r>
              <a:endParaRPr lang="en-US" sz="1200" spc="0" kern="0" b="0" i="0" dirty="0">
                <a:solidFill>
                  <a:srgbClr val="070154"/>
                </a:solidFill>
                <a:latin typeface="IBM Plex Sans"/>
                <a:ea typeface="IBM Plex Sans"/>
                <a:cs typeface="IBM Plex Sans"/>
              </a:endParaRPr>
            </a:p>
          </p:txBody>
        </p:sp>
        <p:sp>
          <p:nvSpPr>
            <p:cNvPr id="20" name="node07.source-002.bullet"/>
            <p:cNvSpPr/>
            <p:nvPr/>
          </p:nvSpPr>
          <p:spPr>
            <a:xfrm>
              <a:off x="8039100" y="5067300"/>
              <a:ext cx="38100" cy="38100"/>
            </a:xfrm>
            <a:prstGeom prst="rect">
              <a:avLst/>
            </a:prstGeom>
            <a:solidFill>
              <a:srgbClr val="070154"/>
            </a:solidFill>
            <a:ln>
              <a:noFill/>
            </a:ln>
          </p:spPr>
        </p:sp>
        <p:sp>
          <p:nvSpPr>
            <p:cNvPr id="21" name="node07.source-002.text"/>
            <p:cNvSpPr/>
            <p:nvPr/>
          </p:nvSpPr>
          <p:spPr>
            <a:xfrm>
              <a:off x="8191500" y="49784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Diagnostic, then jumpstart</a:t>
              </a:r>
              <a:endParaRPr lang="en-US" sz="1200" spc="0" kern="0" b="0" i="0" dirty="0">
                <a:solidFill>
                  <a:srgbClr val="070154"/>
                </a:solidFill>
                <a:latin typeface="IBM Plex Sans"/>
                <a:ea typeface="IBM Plex Sans"/>
                <a:cs typeface="IBM Plex Sans"/>
              </a:endParaRPr>
            </a:p>
          </p:txBody>
        </p:sp>
      </p:grpSp>
      <p:grpSp>
        <p:nvGrpSpPr>
          <p:cNvPr id="30" name="node08"/>
          <p:cNvGrpSpPr/>
          <p:nvPr/>
        </p:nvGrpSpPr>
        <p:grpSpPr>
          <a:xfrm>
            <a:off x="8039100" y="5257800"/>
            <a:ext cx="3429000" cy="381000"/>
            <a:chOff x="8039100" y="5257800"/>
            <a:chExt cx="3429000" cy="381000"/>
          </a:xfrm>
        </p:grpSpPr>
        <p:sp>
          <p:nvSpPr>
            <p:cNvPr id="22" name="node08.text"/>
            <p:cNvSpPr/>
            <p:nvPr/>
          </p:nvSpPr>
          <p:spPr>
            <a:xfrm>
              <a:off x="8039100" y="52578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Assumes data access in week 1. Fees exclude expenses.</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ource-58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Five levers turn $4.2M of spend into $6.0M net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60579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program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220</a:t>
            </a:fld>
            <a:endParaRPr lang="en-US" sz="700" spc="0" kern="0" b="0" i="0" dirty="0">
              <a:solidFill>
                <a:srgbClr val="070154"/>
              </a:solidFill>
              <a:latin typeface="IBM Plex Mono SemiBold"/>
              <a:ea typeface="IBM Plex Mono SemiBold"/>
              <a:cs typeface="IBM Plex Mono SemiBold"/>
            </a:endParaRPr>
          </a:p>
        </p:txBody>
      </p:sp>
      <p:sp>
        <p:nvSpPr>
          <p:cNvPr id="7" name="node01"/>
          <p:cNvSpPr/>
          <p:nvPr/>
        </p:nvSpPr>
        <p:spPr>
          <a:xfrm>
            <a:off x="723900" y="4343400"/>
            <a:ext cx="6172200" cy="9525"/>
          </a:xfrm>
          <a:prstGeom prst="rect">
            <a:avLst/>
          </a:prstGeom>
          <a:solidFill>
            <a:srgbClr val="CED7E6"/>
          </a:solidFill>
          <a:ln>
            <a:noFill/>
          </a:ln>
        </p:spPr>
      </p:sp>
      <p:grpSp>
        <p:nvGrpSpPr>
          <p:cNvPr id="50" name="node02"/>
          <p:cNvGrpSpPr/>
          <p:nvPr/>
        </p:nvGrpSpPr>
        <p:grpSpPr>
          <a:xfrm>
            <a:off x="723900" y="1600200"/>
            <a:ext cx="838200" cy="190500"/>
            <a:chOff x="723900" y="1600200"/>
            <a:chExt cx="838200" cy="190500"/>
          </a:xfrm>
        </p:grpSpPr>
        <p:sp>
          <p:nvSpPr>
            <p:cNvPr id="8" name="node02.text"/>
            <p:cNvSpPr/>
            <p:nvPr/>
          </p:nvSpPr>
          <p:spPr>
            <a:xfrm>
              <a:off x="723900" y="1600200"/>
              <a:ext cx="838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Investment</a:t>
              </a:r>
              <a:endParaRPr lang="en-US" sz="1100" spc="0" kern="0" b="0" i="0" dirty="0">
                <a:solidFill>
                  <a:srgbClr val="070154"/>
                </a:solidFill>
                <a:latin typeface="IBM Plex Sans"/>
                <a:ea typeface="IBM Plex Sans"/>
                <a:cs typeface="IBM Plex Sans"/>
              </a:endParaRPr>
            </a:p>
          </p:txBody>
        </p:sp>
      </p:grpSp>
      <p:grpSp>
        <p:nvGrpSpPr>
          <p:cNvPr id="51" name="node03"/>
          <p:cNvGrpSpPr/>
          <p:nvPr/>
        </p:nvGrpSpPr>
        <p:grpSpPr>
          <a:xfrm>
            <a:off x="723900" y="4343400"/>
            <a:ext cx="685800" cy="1600200"/>
            <a:chOff x="723900" y="4343400"/>
            <a:chExt cx="685800" cy="1600200"/>
          </a:xfrm>
        </p:grpSpPr>
        <p:sp>
          <p:nvSpPr>
            <p:cNvPr id="9" name="node03.surface"/>
            <p:cNvSpPr/>
            <p:nvPr/>
          </p:nvSpPr>
          <p:spPr>
            <a:xfrm>
              <a:off x="723900" y="4343400"/>
              <a:ext cx="685800" cy="1600200"/>
            </a:xfrm>
            <a:prstGeom prst="rect">
              <a:avLst/>
            </a:prstGeom>
            <a:solidFill>
              <a:srgbClr val="070154"/>
            </a:solidFill>
            <a:ln>
              <a:noFill/>
            </a:ln>
          </p:spPr>
        </p:sp>
        <p:sp>
          <p:nvSpPr>
            <p:cNvPr id="10" name="node03.text"/>
            <p:cNvSpPr/>
            <p:nvPr/>
          </p:nvSpPr>
          <p:spPr>
            <a:xfrm>
              <a:off x="800100" y="50482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$4.2M</a:t>
              </a:r>
              <a:endParaRPr lang="en-US" sz="1100" spc="0" kern="0" b="0" i="0" dirty="0">
                <a:solidFill>
                  <a:srgbClr val="FFFFFF"/>
                </a:solidFill>
                <a:latin typeface="IBM Plex Sans"/>
                <a:ea typeface="IBM Plex Sans"/>
                <a:cs typeface="IBM Plex Sans"/>
              </a:endParaRPr>
            </a:p>
          </p:txBody>
        </p:sp>
      </p:grpSp>
      <p:grpSp>
        <p:nvGrpSpPr>
          <p:cNvPr id="52" name="node04"/>
          <p:cNvGrpSpPr/>
          <p:nvPr/>
        </p:nvGrpSpPr>
        <p:grpSpPr>
          <a:xfrm>
            <a:off x="1409700" y="5943600"/>
            <a:ext cx="228600" cy="1"/>
            <a:chOff x="1409700" y="5943600"/>
            <a:chExt cx="228600" cy="1"/>
          </a:xfrm>
        </p:grpSpPr>
        <p:sp>
          <p:nvSpPr>
            <p:cNvPr id="11" name="node04.segment-1"/>
            <p:cNvSpPr/>
            <p:nvPr/>
          </p:nvSpPr>
          <p:spPr>
            <a:xfrm>
              <a:off x="1409700" y="59436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53" name="node05"/>
          <p:cNvGrpSpPr/>
          <p:nvPr/>
        </p:nvGrpSpPr>
        <p:grpSpPr>
          <a:xfrm>
            <a:off x="1638300" y="1600200"/>
            <a:ext cx="838200" cy="381000"/>
            <a:chOff x="1638300" y="1600200"/>
            <a:chExt cx="838200" cy="381000"/>
          </a:xfrm>
        </p:grpSpPr>
        <p:sp>
          <p:nvSpPr>
            <p:cNvPr id="12" name="node05.text"/>
            <p:cNvSpPr/>
            <p:nvPr/>
          </p:nvSpPr>
          <p:spPr>
            <a:xfrm>
              <a:off x="1638300" y="1600200"/>
              <a:ext cx="838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Close and reporting</a:t>
              </a:r>
              <a:endParaRPr lang="en-US" sz="1100" spc="0" kern="0" b="0" i="0" dirty="0">
                <a:solidFill>
                  <a:srgbClr val="070154"/>
                </a:solidFill>
                <a:latin typeface="IBM Plex Sans"/>
                <a:ea typeface="IBM Plex Sans"/>
                <a:cs typeface="IBM Plex Sans"/>
              </a:endParaRPr>
            </a:p>
          </p:txBody>
        </p:sp>
      </p:grpSp>
      <p:grpSp>
        <p:nvGrpSpPr>
          <p:cNvPr id="54" name="node06"/>
          <p:cNvGrpSpPr/>
          <p:nvPr/>
        </p:nvGrpSpPr>
        <p:grpSpPr>
          <a:xfrm>
            <a:off x="1638300" y="4572000"/>
            <a:ext cx="685800" cy="1371600"/>
            <a:chOff x="1638300" y="4572000"/>
            <a:chExt cx="685800" cy="1371600"/>
          </a:xfrm>
        </p:grpSpPr>
        <p:sp>
          <p:nvSpPr>
            <p:cNvPr id="13" name="node06.surface"/>
            <p:cNvSpPr/>
            <p:nvPr/>
          </p:nvSpPr>
          <p:spPr>
            <a:xfrm>
              <a:off x="1638300" y="4572000"/>
              <a:ext cx="685800" cy="1371600"/>
            </a:xfrm>
            <a:prstGeom prst="rect">
              <a:avLst/>
            </a:prstGeom>
            <a:solidFill>
              <a:srgbClr val="CED7E6"/>
            </a:solidFill>
            <a:ln>
              <a:noFill/>
            </a:ln>
          </p:spPr>
        </p:sp>
        <p:sp>
          <p:nvSpPr>
            <p:cNvPr id="14" name="node06.text"/>
            <p:cNvSpPr/>
            <p:nvPr/>
          </p:nvSpPr>
          <p:spPr>
            <a:xfrm>
              <a:off x="1714500" y="51625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$3.6M</a:t>
              </a:r>
              <a:endParaRPr lang="en-US" sz="1100" spc="0" kern="0" b="0" i="0" dirty="0">
                <a:solidFill>
                  <a:srgbClr val="070154"/>
                </a:solidFill>
                <a:latin typeface="IBM Plex Sans"/>
                <a:ea typeface="IBM Plex Sans"/>
                <a:cs typeface="IBM Plex Sans"/>
              </a:endParaRPr>
            </a:p>
          </p:txBody>
        </p:sp>
      </p:grpSp>
      <p:grpSp>
        <p:nvGrpSpPr>
          <p:cNvPr id="55" name="node07"/>
          <p:cNvGrpSpPr/>
          <p:nvPr/>
        </p:nvGrpSpPr>
        <p:grpSpPr>
          <a:xfrm>
            <a:off x="2324100" y="4572000"/>
            <a:ext cx="228600" cy="1"/>
            <a:chOff x="2324100" y="4572000"/>
            <a:chExt cx="228600" cy="1"/>
          </a:xfrm>
        </p:grpSpPr>
        <p:sp>
          <p:nvSpPr>
            <p:cNvPr id="15" name="node07.segment-1"/>
            <p:cNvSpPr/>
            <p:nvPr/>
          </p:nvSpPr>
          <p:spPr>
            <a:xfrm>
              <a:off x="2324100" y="45720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56" name="node08"/>
          <p:cNvGrpSpPr/>
          <p:nvPr/>
        </p:nvGrpSpPr>
        <p:grpSpPr>
          <a:xfrm>
            <a:off x="2552700" y="1600200"/>
            <a:ext cx="838200" cy="381000"/>
            <a:chOff x="2552700" y="1600200"/>
            <a:chExt cx="838200" cy="381000"/>
          </a:xfrm>
        </p:grpSpPr>
        <p:sp>
          <p:nvSpPr>
            <p:cNvPr id="16" name="node08.text"/>
            <p:cNvSpPr/>
            <p:nvPr/>
          </p:nvSpPr>
          <p:spPr>
            <a:xfrm>
              <a:off x="2552700" y="1600200"/>
              <a:ext cx="838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Revenue cycle</a:t>
              </a:r>
              <a:endParaRPr lang="en-US" sz="1100" spc="0" kern="0" b="0" i="0" dirty="0">
                <a:solidFill>
                  <a:srgbClr val="070154"/>
                </a:solidFill>
                <a:latin typeface="IBM Plex Sans"/>
                <a:ea typeface="IBM Plex Sans"/>
                <a:cs typeface="IBM Plex Sans"/>
              </a:endParaRPr>
            </a:p>
          </p:txBody>
        </p:sp>
      </p:grpSp>
      <p:grpSp>
        <p:nvGrpSpPr>
          <p:cNvPr id="57" name="node09"/>
          <p:cNvGrpSpPr/>
          <p:nvPr/>
        </p:nvGrpSpPr>
        <p:grpSpPr>
          <a:xfrm>
            <a:off x="2552700" y="3429000"/>
            <a:ext cx="685800" cy="1143000"/>
            <a:chOff x="2552700" y="3429000"/>
            <a:chExt cx="685800" cy="1143000"/>
          </a:xfrm>
        </p:grpSpPr>
        <p:sp>
          <p:nvSpPr>
            <p:cNvPr id="17" name="node09.surface"/>
            <p:cNvSpPr/>
            <p:nvPr/>
          </p:nvSpPr>
          <p:spPr>
            <a:xfrm>
              <a:off x="2552700" y="3429000"/>
              <a:ext cx="685800" cy="1143000"/>
            </a:xfrm>
            <a:prstGeom prst="rect">
              <a:avLst/>
            </a:prstGeom>
            <a:solidFill>
              <a:srgbClr val="CED7E6"/>
            </a:solidFill>
            <a:ln>
              <a:noFill/>
            </a:ln>
          </p:spPr>
        </p:sp>
        <p:sp>
          <p:nvSpPr>
            <p:cNvPr id="18" name="node09.text"/>
            <p:cNvSpPr/>
            <p:nvPr/>
          </p:nvSpPr>
          <p:spPr>
            <a:xfrm>
              <a:off x="2628900" y="39052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$3.0M</a:t>
              </a:r>
              <a:endParaRPr lang="en-US" sz="1100" spc="0" kern="0" b="0" i="0" dirty="0">
                <a:solidFill>
                  <a:srgbClr val="070154"/>
                </a:solidFill>
                <a:latin typeface="IBM Plex Sans"/>
                <a:ea typeface="IBM Plex Sans"/>
                <a:cs typeface="IBM Plex Sans"/>
              </a:endParaRPr>
            </a:p>
          </p:txBody>
        </p:sp>
      </p:grpSp>
      <p:grpSp>
        <p:nvGrpSpPr>
          <p:cNvPr id="58" name="node10"/>
          <p:cNvGrpSpPr/>
          <p:nvPr/>
        </p:nvGrpSpPr>
        <p:grpSpPr>
          <a:xfrm>
            <a:off x="3238500" y="3429000"/>
            <a:ext cx="228600" cy="1"/>
            <a:chOff x="3238500" y="3429000"/>
            <a:chExt cx="228600" cy="1"/>
          </a:xfrm>
        </p:grpSpPr>
        <p:sp>
          <p:nvSpPr>
            <p:cNvPr id="19" name="node10.segment-1"/>
            <p:cNvSpPr/>
            <p:nvPr/>
          </p:nvSpPr>
          <p:spPr>
            <a:xfrm>
              <a:off x="3238500" y="34290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59" name="node11"/>
          <p:cNvGrpSpPr/>
          <p:nvPr/>
        </p:nvGrpSpPr>
        <p:grpSpPr>
          <a:xfrm>
            <a:off x="3467100" y="1600200"/>
            <a:ext cx="838200" cy="381000"/>
            <a:chOff x="3467100" y="1600200"/>
            <a:chExt cx="838200" cy="381000"/>
          </a:xfrm>
        </p:grpSpPr>
        <p:sp>
          <p:nvSpPr>
            <p:cNvPr id="20" name="node11.text"/>
            <p:cNvSpPr/>
            <p:nvPr/>
          </p:nvSpPr>
          <p:spPr>
            <a:xfrm>
              <a:off x="3467100" y="1600200"/>
              <a:ext cx="838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Procure-to-pay</a:t>
              </a:r>
              <a:endParaRPr lang="en-US" sz="1100" spc="0" kern="0" b="0" i="0" dirty="0">
                <a:solidFill>
                  <a:srgbClr val="070154"/>
                </a:solidFill>
                <a:latin typeface="IBM Plex Sans"/>
                <a:ea typeface="IBM Plex Sans"/>
                <a:cs typeface="IBM Plex Sans"/>
              </a:endParaRPr>
            </a:p>
          </p:txBody>
        </p:sp>
      </p:grpSp>
      <p:grpSp>
        <p:nvGrpSpPr>
          <p:cNvPr id="60" name="node12"/>
          <p:cNvGrpSpPr/>
          <p:nvPr/>
        </p:nvGrpSpPr>
        <p:grpSpPr>
          <a:xfrm>
            <a:off x="3467100" y="2743200"/>
            <a:ext cx="685800" cy="685800"/>
            <a:chOff x="3467100" y="2743200"/>
            <a:chExt cx="685800" cy="685800"/>
          </a:xfrm>
        </p:grpSpPr>
        <p:sp>
          <p:nvSpPr>
            <p:cNvPr id="21" name="node12.surface"/>
            <p:cNvSpPr/>
            <p:nvPr/>
          </p:nvSpPr>
          <p:spPr>
            <a:xfrm>
              <a:off x="3467100" y="2743200"/>
              <a:ext cx="685800" cy="685800"/>
            </a:xfrm>
            <a:prstGeom prst="rect">
              <a:avLst/>
            </a:prstGeom>
            <a:solidFill>
              <a:srgbClr val="CED7E6"/>
            </a:solidFill>
            <a:ln>
              <a:noFill/>
            </a:ln>
          </p:spPr>
        </p:sp>
        <p:sp>
          <p:nvSpPr>
            <p:cNvPr id="22" name="node12.text"/>
            <p:cNvSpPr/>
            <p:nvPr/>
          </p:nvSpPr>
          <p:spPr>
            <a:xfrm>
              <a:off x="3543300" y="29908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$1.8M</a:t>
              </a:r>
              <a:endParaRPr lang="en-US" sz="1100" spc="0" kern="0" b="0" i="0" dirty="0">
                <a:solidFill>
                  <a:srgbClr val="070154"/>
                </a:solidFill>
                <a:latin typeface="IBM Plex Sans"/>
                <a:ea typeface="IBM Plex Sans"/>
                <a:cs typeface="IBM Plex Sans"/>
              </a:endParaRPr>
            </a:p>
          </p:txBody>
        </p:sp>
      </p:grpSp>
      <p:grpSp>
        <p:nvGrpSpPr>
          <p:cNvPr id="61" name="node13"/>
          <p:cNvGrpSpPr/>
          <p:nvPr/>
        </p:nvGrpSpPr>
        <p:grpSpPr>
          <a:xfrm>
            <a:off x="4152900" y="2743200"/>
            <a:ext cx="228600" cy="1"/>
            <a:chOff x="4152900" y="2743200"/>
            <a:chExt cx="228600" cy="1"/>
          </a:xfrm>
        </p:grpSpPr>
        <p:sp>
          <p:nvSpPr>
            <p:cNvPr id="23" name="node13.segment-1"/>
            <p:cNvSpPr/>
            <p:nvPr/>
          </p:nvSpPr>
          <p:spPr>
            <a:xfrm>
              <a:off x="4152900" y="27432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2" name="node14"/>
          <p:cNvGrpSpPr/>
          <p:nvPr/>
        </p:nvGrpSpPr>
        <p:grpSpPr>
          <a:xfrm>
            <a:off x="4381500" y="1600200"/>
            <a:ext cx="838200" cy="381000"/>
            <a:chOff x="4381500" y="1600200"/>
            <a:chExt cx="838200" cy="381000"/>
          </a:xfrm>
        </p:grpSpPr>
        <p:sp>
          <p:nvSpPr>
            <p:cNvPr id="24" name="node14.text"/>
            <p:cNvSpPr/>
            <p:nvPr/>
          </p:nvSpPr>
          <p:spPr>
            <a:xfrm>
              <a:off x="4381500" y="1600200"/>
              <a:ext cx="838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Rework and errors</a:t>
              </a:r>
              <a:endParaRPr lang="en-US" sz="1100" spc="0" kern="0" b="0" i="0" dirty="0">
                <a:solidFill>
                  <a:srgbClr val="070154"/>
                </a:solidFill>
                <a:latin typeface="IBM Plex Sans"/>
                <a:ea typeface="IBM Plex Sans"/>
                <a:cs typeface="IBM Plex Sans"/>
              </a:endParaRPr>
            </a:p>
          </p:txBody>
        </p:sp>
      </p:grpSp>
      <p:grpSp>
        <p:nvGrpSpPr>
          <p:cNvPr id="63" name="node15"/>
          <p:cNvGrpSpPr/>
          <p:nvPr/>
        </p:nvGrpSpPr>
        <p:grpSpPr>
          <a:xfrm>
            <a:off x="4381500" y="2286000"/>
            <a:ext cx="685800" cy="457200"/>
            <a:chOff x="4381500" y="2286000"/>
            <a:chExt cx="685800" cy="457200"/>
          </a:xfrm>
        </p:grpSpPr>
        <p:sp>
          <p:nvSpPr>
            <p:cNvPr id="25" name="node15.surface"/>
            <p:cNvSpPr/>
            <p:nvPr/>
          </p:nvSpPr>
          <p:spPr>
            <a:xfrm>
              <a:off x="4381500" y="2286000"/>
              <a:ext cx="685800" cy="457200"/>
            </a:xfrm>
            <a:prstGeom prst="rect">
              <a:avLst/>
            </a:prstGeom>
            <a:solidFill>
              <a:srgbClr val="CED7E6"/>
            </a:solidFill>
            <a:ln>
              <a:noFill/>
            </a:ln>
          </p:spPr>
        </p:sp>
        <p:sp>
          <p:nvSpPr>
            <p:cNvPr id="26" name="node15.text"/>
            <p:cNvSpPr/>
            <p:nvPr/>
          </p:nvSpPr>
          <p:spPr>
            <a:xfrm>
              <a:off x="4457700" y="24193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$1.2M</a:t>
              </a:r>
              <a:endParaRPr lang="en-US" sz="1100" spc="0" kern="0" b="0" i="0" dirty="0">
                <a:solidFill>
                  <a:srgbClr val="070154"/>
                </a:solidFill>
                <a:latin typeface="IBM Plex Sans"/>
                <a:ea typeface="IBM Plex Sans"/>
                <a:cs typeface="IBM Plex Sans"/>
              </a:endParaRPr>
            </a:p>
          </p:txBody>
        </p:sp>
      </p:grpSp>
      <p:grpSp>
        <p:nvGrpSpPr>
          <p:cNvPr id="64" name="node16"/>
          <p:cNvGrpSpPr/>
          <p:nvPr/>
        </p:nvGrpSpPr>
        <p:grpSpPr>
          <a:xfrm>
            <a:off x="5067300" y="2286000"/>
            <a:ext cx="228600" cy="1"/>
            <a:chOff x="5067300" y="2286000"/>
            <a:chExt cx="228600" cy="1"/>
          </a:xfrm>
        </p:grpSpPr>
        <p:sp>
          <p:nvSpPr>
            <p:cNvPr id="27" name="node16.segment-1"/>
            <p:cNvSpPr/>
            <p:nvPr/>
          </p:nvSpPr>
          <p:spPr>
            <a:xfrm>
              <a:off x="5067300" y="22860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5" name="node17"/>
          <p:cNvGrpSpPr/>
          <p:nvPr/>
        </p:nvGrpSpPr>
        <p:grpSpPr>
          <a:xfrm>
            <a:off x="5295900" y="1600200"/>
            <a:ext cx="838200" cy="190500"/>
            <a:chOff x="5295900" y="1600200"/>
            <a:chExt cx="838200" cy="190500"/>
          </a:xfrm>
        </p:grpSpPr>
        <p:sp>
          <p:nvSpPr>
            <p:cNvPr id="28" name="node17.text"/>
            <p:cNvSpPr/>
            <p:nvPr/>
          </p:nvSpPr>
          <p:spPr>
            <a:xfrm>
              <a:off x="5295900" y="1600200"/>
              <a:ext cx="838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Risk avoided</a:t>
              </a:r>
              <a:endParaRPr lang="en-US" sz="1100" spc="0" kern="0" b="0" i="0" dirty="0">
                <a:solidFill>
                  <a:srgbClr val="070154"/>
                </a:solidFill>
                <a:latin typeface="IBM Plex Sans"/>
                <a:ea typeface="IBM Plex Sans"/>
                <a:cs typeface="IBM Plex Sans"/>
              </a:endParaRPr>
            </a:p>
          </p:txBody>
        </p:sp>
      </p:grpSp>
      <p:grpSp>
        <p:nvGrpSpPr>
          <p:cNvPr id="66" name="node18"/>
          <p:cNvGrpSpPr/>
          <p:nvPr/>
        </p:nvGrpSpPr>
        <p:grpSpPr>
          <a:xfrm>
            <a:off x="5295900" y="2057400"/>
            <a:ext cx="685800" cy="228600"/>
            <a:chOff x="5295900" y="2057400"/>
            <a:chExt cx="685800" cy="228600"/>
          </a:xfrm>
        </p:grpSpPr>
        <p:sp>
          <p:nvSpPr>
            <p:cNvPr id="29" name="node18.surface"/>
            <p:cNvSpPr/>
            <p:nvPr/>
          </p:nvSpPr>
          <p:spPr>
            <a:xfrm>
              <a:off x="5295900" y="2057400"/>
              <a:ext cx="685800" cy="228600"/>
            </a:xfrm>
            <a:prstGeom prst="rect">
              <a:avLst/>
            </a:prstGeom>
            <a:solidFill>
              <a:srgbClr val="CED7E6"/>
            </a:solidFill>
            <a:ln>
              <a:noFill/>
            </a:ln>
          </p:spPr>
        </p:sp>
        <p:sp>
          <p:nvSpPr>
            <p:cNvPr id="30" name="node18.text"/>
            <p:cNvSpPr/>
            <p:nvPr/>
          </p:nvSpPr>
          <p:spPr>
            <a:xfrm>
              <a:off x="5372100" y="20764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$0.6M</a:t>
              </a:r>
              <a:endParaRPr lang="en-US" sz="1100" spc="0" kern="0" b="0" i="0" dirty="0">
                <a:solidFill>
                  <a:srgbClr val="070154"/>
                </a:solidFill>
                <a:latin typeface="IBM Plex Sans"/>
                <a:ea typeface="IBM Plex Sans"/>
                <a:cs typeface="IBM Plex Sans"/>
              </a:endParaRPr>
            </a:p>
          </p:txBody>
        </p:sp>
      </p:grpSp>
      <p:grpSp>
        <p:nvGrpSpPr>
          <p:cNvPr id="67" name="node19"/>
          <p:cNvGrpSpPr/>
          <p:nvPr/>
        </p:nvGrpSpPr>
        <p:grpSpPr>
          <a:xfrm>
            <a:off x="5981700" y="2057400"/>
            <a:ext cx="228600" cy="1"/>
            <a:chOff x="5981700" y="2057400"/>
            <a:chExt cx="228600" cy="1"/>
          </a:xfrm>
        </p:grpSpPr>
        <p:sp>
          <p:nvSpPr>
            <p:cNvPr id="31" name="node19.segment-1"/>
            <p:cNvSpPr/>
            <p:nvPr/>
          </p:nvSpPr>
          <p:spPr>
            <a:xfrm>
              <a:off x="5981700" y="20574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8" name="node20"/>
          <p:cNvGrpSpPr/>
          <p:nvPr/>
        </p:nvGrpSpPr>
        <p:grpSpPr>
          <a:xfrm>
            <a:off x="6210300" y="1600200"/>
            <a:ext cx="838200" cy="190500"/>
            <a:chOff x="6210300" y="1600200"/>
            <a:chExt cx="838200" cy="190500"/>
          </a:xfrm>
        </p:grpSpPr>
        <p:sp>
          <p:nvSpPr>
            <p:cNvPr id="32" name="node20.text"/>
            <p:cNvSpPr/>
            <p:nvPr/>
          </p:nvSpPr>
          <p:spPr>
            <a:xfrm>
              <a:off x="6210300" y="1600200"/>
              <a:ext cx="838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Net value</a:t>
              </a:r>
              <a:endParaRPr lang="en-US" sz="1100" spc="0" kern="0" b="0" i="0" dirty="0">
                <a:solidFill>
                  <a:srgbClr val="070154"/>
                </a:solidFill>
                <a:latin typeface="IBM Plex Sans"/>
                <a:ea typeface="IBM Plex Sans"/>
                <a:cs typeface="IBM Plex Sans"/>
              </a:endParaRPr>
            </a:p>
          </p:txBody>
        </p:sp>
      </p:grpSp>
      <p:grpSp>
        <p:nvGrpSpPr>
          <p:cNvPr id="69" name="node21"/>
          <p:cNvGrpSpPr/>
          <p:nvPr/>
        </p:nvGrpSpPr>
        <p:grpSpPr>
          <a:xfrm>
            <a:off x="6210300" y="2057400"/>
            <a:ext cx="685800" cy="2286000"/>
            <a:chOff x="6210300" y="2057400"/>
            <a:chExt cx="685800" cy="2286000"/>
          </a:xfrm>
        </p:grpSpPr>
        <p:sp>
          <p:nvSpPr>
            <p:cNvPr id="33" name="node21.surface"/>
            <p:cNvSpPr/>
            <p:nvPr/>
          </p:nvSpPr>
          <p:spPr>
            <a:xfrm>
              <a:off x="6210300" y="2057400"/>
              <a:ext cx="685800" cy="2286000"/>
            </a:xfrm>
            <a:prstGeom prst="rect">
              <a:avLst/>
            </a:prstGeom>
            <a:solidFill>
              <a:srgbClr val="F900D3"/>
            </a:solidFill>
            <a:ln>
              <a:noFill/>
            </a:ln>
          </p:spPr>
        </p:sp>
        <p:sp>
          <p:nvSpPr>
            <p:cNvPr id="34" name="node21.text"/>
            <p:cNvSpPr/>
            <p:nvPr/>
          </p:nvSpPr>
          <p:spPr>
            <a:xfrm>
              <a:off x="6286500" y="31051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$6.0M</a:t>
              </a:r>
              <a:endParaRPr lang="en-US" sz="1100" spc="0" kern="0" b="0" i="0" dirty="0">
                <a:solidFill>
                  <a:srgbClr val="070154"/>
                </a:solidFill>
                <a:latin typeface="IBM Plex Sans"/>
                <a:ea typeface="IBM Plex Sans"/>
                <a:cs typeface="IBM Plex Sans"/>
              </a:endParaRPr>
            </a:p>
          </p:txBody>
        </p:sp>
      </p:grpSp>
      <p:grpSp>
        <p:nvGrpSpPr>
          <p:cNvPr id="70" name="node22"/>
          <p:cNvGrpSpPr/>
          <p:nvPr/>
        </p:nvGrpSpPr>
        <p:grpSpPr>
          <a:xfrm>
            <a:off x="8039100" y="1600200"/>
            <a:ext cx="3429000" cy="139700"/>
            <a:chOff x="8039100" y="1600200"/>
            <a:chExt cx="3429000" cy="139700"/>
          </a:xfrm>
        </p:grpSpPr>
        <p:sp>
          <p:nvSpPr>
            <p:cNvPr id="35" name="node22.text"/>
            <p:cNvSpPr/>
            <p:nvPr/>
          </p:nvSpPr>
          <p:spPr>
            <a:xfrm>
              <a:off x="80391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READING THE BRIDGE</a:t>
              </a:r>
              <a:endParaRPr lang="en-US" sz="800" spc="48" kern="0" b="0" i="0" dirty="0">
                <a:solidFill>
                  <a:srgbClr val="0047FF"/>
                </a:solidFill>
                <a:latin typeface="IBM Plex Mono Medium"/>
                <a:ea typeface="IBM Plex Mono Medium"/>
                <a:cs typeface="IBM Plex Mono Medium"/>
              </a:endParaRPr>
            </a:p>
          </p:txBody>
        </p:sp>
      </p:grpSp>
      <p:grpSp>
        <p:nvGrpSpPr>
          <p:cNvPr id="71" name="node23"/>
          <p:cNvGrpSpPr/>
          <p:nvPr/>
        </p:nvGrpSpPr>
        <p:grpSpPr>
          <a:xfrm>
            <a:off x="8039100" y="1905000"/>
            <a:ext cx="3429000" cy="977900"/>
            <a:chOff x="8039100" y="1905000"/>
            <a:chExt cx="3429000" cy="977900"/>
          </a:xfrm>
        </p:grpSpPr>
        <p:sp>
          <p:nvSpPr>
            <p:cNvPr id="36" name="node23.source-001.bullet"/>
            <p:cNvSpPr/>
            <p:nvPr/>
          </p:nvSpPr>
          <p:spPr>
            <a:xfrm>
              <a:off x="8039100" y="1993900"/>
              <a:ext cx="38100" cy="38100"/>
            </a:xfrm>
            <a:prstGeom prst="rect">
              <a:avLst/>
            </a:prstGeom>
            <a:solidFill>
              <a:srgbClr val="070154"/>
            </a:solidFill>
            <a:ln>
              <a:noFill/>
            </a:ln>
          </p:spPr>
        </p:sp>
        <p:sp>
          <p:nvSpPr>
            <p:cNvPr id="37" name="node23.source-001.text"/>
            <p:cNvSpPr/>
            <p:nvPr/>
          </p:nvSpPr>
          <p:spPr>
            <a:xfrm>
              <a:off x="8191500" y="1905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Close and reporting</a:t>
              </a:r>
              <a:r>
                <a:rPr lang="en-US" sz="1200" spc="0" kern="0" b="0" i="0" dirty="0">
                  <a:solidFill>
                    <a:srgbClr val="50658E"/>
                  </a:solidFill>
                  <a:latin typeface="IBM Plex Sans"/>
                  <a:ea typeface="IBM Plex Sans"/>
                  <a:cs typeface="IBM Plex Sans"/>
                </a:rPr>
                <a:t xml:space="preserve"> 35% of five-year value</a:t>
              </a:r>
              <a:endParaRPr lang="en-US" sz="1200" spc="0" kern="0" b="0" i="0" dirty="0">
                <a:solidFill>
                  <a:srgbClr val="070154"/>
                </a:solidFill>
                <a:latin typeface="IBM Plex Sans"/>
                <a:ea typeface="IBM Plex Sans"/>
                <a:cs typeface="IBM Plex Sans"/>
              </a:endParaRPr>
            </a:p>
          </p:txBody>
        </p:sp>
        <p:sp>
          <p:nvSpPr>
            <p:cNvPr id="38" name="node23.source-002.bullet"/>
            <p:cNvSpPr/>
            <p:nvPr/>
          </p:nvSpPr>
          <p:spPr>
            <a:xfrm>
              <a:off x="8039100" y="2247900"/>
              <a:ext cx="38100" cy="38100"/>
            </a:xfrm>
            <a:prstGeom prst="rect">
              <a:avLst/>
            </a:prstGeom>
            <a:solidFill>
              <a:srgbClr val="070154"/>
            </a:solidFill>
            <a:ln>
              <a:noFill/>
            </a:ln>
          </p:spPr>
        </p:sp>
        <p:sp>
          <p:nvSpPr>
            <p:cNvPr id="39" name="node23.source-002.text"/>
            <p:cNvSpPr/>
            <p:nvPr/>
          </p:nvSpPr>
          <p:spPr>
            <a:xfrm>
              <a:off x="8191500" y="2159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Revenue cycle</a:t>
              </a:r>
              <a:r>
                <a:rPr lang="en-US" sz="1200" spc="0" kern="0" b="0" i="0" dirty="0">
                  <a:solidFill>
                    <a:srgbClr val="50658E"/>
                  </a:solidFill>
                  <a:latin typeface="IBM Plex Sans"/>
                  <a:ea typeface="IBM Plex Sans"/>
                  <a:cs typeface="IBM Plex Sans"/>
                </a:rPr>
                <a:t xml:space="preserve"> 29%, the fastest to start</a:t>
              </a:r>
              <a:endParaRPr lang="en-US" sz="1200" spc="0" kern="0" b="0" i="0" dirty="0">
                <a:solidFill>
                  <a:srgbClr val="070154"/>
                </a:solidFill>
                <a:latin typeface="IBM Plex Sans"/>
                <a:ea typeface="IBM Plex Sans"/>
                <a:cs typeface="IBM Plex Sans"/>
              </a:endParaRPr>
            </a:p>
          </p:txBody>
        </p:sp>
        <p:sp>
          <p:nvSpPr>
            <p:cNvPr id="40" name="node23.source-003.bullet"/>
            <p:cNvSpPr/>
            <p:nvPr/>
          </p:nvSpPr>
          <p:spPr>
            <a:xfrm>
              <a:off x="8039100" y="2501900"/>
              <a:ext cx="38100" cy="38100"/>
            </a:xfrm>
            <a:prstGeom prst="rect">
              <a:avLst/>
            </a:prstGeom>
            <a:solidFill>
              <a:srgbClr val="070154"/>
            </a:solidFill>
            <a:ln>
              <a:noFill/>
            </a:ln>
          </p:spPr>
        </p:sp>
        <p:sp>
          <p:nvSpPr>
            <p:cNvPr id="41" name="node23.source-003.text"/>
            <p:cNvSpPr/>
            <p:nvPr/>
          </p:nvSpPr>
          <p:spPr>
            <a:xfrm>
              <a:off x="8191500" y="2413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Procure-to-pay</a:t>
              </a:r>
              <a:r>
                <a:rPr lang="en-US" sz="1200" spc="0" kern="0" b="0" i="0" dirty="0">
                  <a:solidFill>
                    <a:srgbClr val="50658E"/>
                  </a:solidFill>
                  <a:latin typeface="IBM Plex Sans"/>
                  <a:ea typeface="IBM Plex Sans"/>
                  <a:cs typeface="IBM Plex Sans"/>
                </a:rPr>
                <a:t xml:space="preserve"> 18%</a:t>
              </a:r>
              <a:endParaRPr lang="en-US" sz="1200" spc="0" kern="0" b="0" i="0" dirty="0">
                <a:solidFill>
                  <a:srgbClr val="070154"/>
                </a:solidFill>
                <a:latin typeface="IBM Plex Sans"/>
                <a:ea typeface="IBM Plex Sans"/>
                <a:cs typeface="IBM Plex Sans"/>
              </a:endParaRPr>
            </a:p>
          </p:txBody>
        </p:sp>
        <p:sp>
          <p:nvSpPr>
            <p:cNvPr id="42" name="node23.source-004.bullet"/>
            <p:cNvSpPr/>
            <p:nvPr/>
          </p:nvSpPr>
          <p:spPr>
            <a:xfrm>
              <a:off x="8039100" y="2755900"/>
              <a:ext cx="38100" cy="38100"/>
            </a:xfrm>
            <a:prstGeom prst="rect">
              <a:avLst/>
            </a:prstGeom>
            <a:solidFill>
              <a:srgbClr val="070154"/>
            </a:solidFill>
            <a:ln>
              <a:noFill/>
            </a:ln>
          </p:spPr>
        </p:sp>
        <p:sp>
          <p:nvSpPr>
            <p:cNvPr id="43" name="node23.source-004.text"/>
            <p:cNvSpPr/>
            <p:nvPr/>
          </p:nvSpPr>
          <p:spPr>
            <a:xfrm>
              <a:off x="8191500" y="26670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Rework and risk</a:t>
              </a:r>
              <a:r>
                <a:rPr lang="en-US" sz="1200" spc="0" kern="0" b="0" i="0" dirty="0">
                  <a:solidFill>
                    <a:srgbClr val="50658E"/>
                  </a:solidFill>
                  <a:latin typeface="IBM Plex Sans"/>
                  <a:ea typeface="IBM Plex Sans"/>
                  <a:cs typeface="IBM Plex Sans"/>
                </a:rPr>
                <a:t xml:space="preserve"> 18% together</a:t>
              </a:r>
              <a:endParaRPr lang="en-US" sz="1200" spc="0" kern="0" b="0" i="0" dirty="0">
                <a:solidFill>
                  <a:srgbClr val="070154"/>
                </a:solidFill>
                <a:latin typeface="IBM Plex Sans"/>
                <a:ea typeface="IBM Plex Sans"/>
                <a:cs typeface="IBM Plex Sans"/>
              </a:endParaRPr>
            </a:p>
          </p:txBody>
        </p:sp>
      </p:grpSp>
      <p:sp>
        <p:nvSpPr>
          <p:cNvPr id="44" name="node24"/>
          <p:cNvSpPr/>
          <p:nvPr/>
        </p:nvSpPr>
        <p:spPr>
          <a:xfrm>
            <a:off x="8039100" y="3657600"/>
            <a:ext cx="3429000" cy="9525"/>
          </a:xfrm>
          <a:prstGeom prst="rect">
            <a:avLst/>
          </a:prstGeom>
          <a:solidFill>
            <a:srgbClr val="CED7E6"/>
          </a:solidFill>
          <a:ln>
            <a:noFill/>
          </a:ln>
        </p:spPr>
      </p:sp>
      <p:grpSp>
        <p:nvGrpSpPr>
          <p:cNvPr id="72" name="node25"/>
          <p:cNvGrpSpPr/>
          <p:nvPr/>
        </p:nvGrpSpPr>
        <p:grpSpPr>
          <a:xfrm>
            <a:off x="8039100" y="3810000"/>
            <a:ext cx="3429000" cy="381000"/>
            <a:chOff x="8039100" y="3810000"/>
            <a:chExt cx="3429000" cy="381000"/>
          </a:xfrm>
        </p:grpSpPr>
        <p:sp>
          <p:nvSpPr>
            <p:cNvPr id="45" name="node25.text"/>
            <p:cNvSpPr/>
            <p:nvPr/>
          </p:nvSpPr>
          <p:spPr>
            <a:xfrm>
              <a:off x="8039100" y="38100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Bars show five-year value in $M. The investment hangs below the zero line.</a:t>
              </a:r>
              <a:endParaRPr lang="en-US" sz="1100" spc="0" kern="0" b="0" i="0" dirty="0">
                <a:solidFill>
                  <a:srgbClr val="50658E"/>
                </a:solidFill>
                <a:latin typeface="IBM Plex Sans"/>
                <a:ea typeface="IBM Plex Sans"/>
                <a:cs typeface="IBM Plex Sans"/>
              </a:endParaRPr>
            </a:p>
          </p:txBody>
        </p:sp>
      </p:grpSp>
      <p:grpSp>
        <p:nvGrpSpPr>
          <p:cNvPr id="73" name="node26"/>
          <p:cNvGrpSpPr/>
          <p:nvPr/>
        </p:nvGrpSpPr>
        <p:grpSpPr>
          <a:xfrm>
            <a:off x="8039100" y="4724400"/>
            <a:ext cx="1600200" cy="802069"/>
            <a:chOff x="8039100" y="4724400"/>
            <a:chExt cx="1600200" cy="802069"/>
          </a:xfrm>
        </p:grpSpPr>
        <p:sp>
          <p:nvSpPr>
            <p:cNvPr id="46" name="node26.value"/>
            <p:cNvSpPr/>
            <p:nvPr/>
          </p:nvSpPr>
          <p:spPr>
            <a:xfrm>
              <a:off x="8039100" y="47244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2.4x</a:t>
              </a:r>
              <a:endParaRPr lang="en-US" sz="4000" spc="-80" kern="0" b="0" i="0" dirty="0">
                <a:solidFill>
                  <a:srgbClr val="070154"/>
                </a:solidFill>
                <a:latin typeface="IBM Plex Mono SemiBold"/>
                <a:ea typeface="IBM Plex Mono SemiBold"/>
                <a:cs typeface="IBM Plex Mono SemiBold"/>
              </a:endParaRPr>
            </a:p>
          </p:txBody>
        </p:sp>
        <p:sp>
          <p:nvSpPr>
            <p:cNvPr id="47" name="node26.label"/>
            <p:cNvSpPr/>
            <p:nvPr/>
          </p:nvSpPr>
          <p:spPr>
            <a:xfrm>
              <a:off x="8039100" y="53105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value per dollar</a:t>
              </a:r>
              <a:endParaRPr lang="en-US" sz="1200" spc="0" kern="0" b="0" i="0" dirty="0">
                <a:solidFill>
                  <a:srgbClr val="50658E"/>
                </a:solidFill>
                <a:latin typeface="IBM Plex Sans"/>
                <a:ea typeface="IBM Plex Sans"/>
                <a:cs typeface="IBM Plex Sans"/>
              </a:endParaRPr>
            </a:p>
          </p:txBody>
        </p:sp>
      </p:grpSp>
      <p:grpSp>
        <p:nvGrpSpPr>
          <p:cNvPr id="74" name="node27"/>
          <p:cNvGrpSpPr/>
          <p:nvPr/>
        </p:nvGrpSpPr>
        <p:grpSpPr>
          <a:xfrm>
            <a:off x="9867900" y="4724400"/>
            <a:ext cx="1600200" cy="802069"/>
            <a:chOff x="9867900" y="4724400"/>
            <a:chExt cx="1600200" cy="802069"/>
          </a:xfrm>
        </p:grpSpPr>
        <p:sp>
          <p:nvSpPr>
            <p:cNvPr id="48" name="node27.value"/>
            <p:cNvSpPr/>
            <p:nvPr/>
          </p:nvSpPr>
          <p:spPr>
            <a:xfrm>
              <a:off x="9867900" y="47244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143%</a:t>
              </a:r>
              <a:endParaRPr lang="en-US" sz="4000" spc="-80" kern="0" b="0" i="0" dirty="0">
                <a:solidFill>
                  <a:srgbClr val="070154"/>
                </a:solidFill>
                <a:latin typeface="IBM Plex Mono SemiBold"/>
                <a:ea typeface="IBM Plex Mono SemiBold"/>
                <a:cs typeface="IBM Plex Mono SemiBold"/>
              </a:endParaRPr>
            </a:p>
          </p:txBody>
        </p:sp>
        <p:sp>
          <p:nvSpPr>
            <p:cNvPr id="49" name="node27.label"/>
            <p:cNvSpPr/>
            <p:nvPr/>
          </p:nvSpPr>
          <p:spPr>
            <a:xfrm>
              <a:off x="9867900" y="53105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five-year ROI</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ource-582">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Five levers turn $4.2M of spend into $6.0M net</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6769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221</a:t>
            </a:fld>
            <a:endParaRPr lang="en-US" sz="700" spc="0" kern="0" b="0" i="0" dirty="0">
              <a:solidFill>
                <a:srgbClr val="070154"/>
              </a:solidFill>
              <a:latin typeface="IBM Plex Mono SemiBold"/>
              <a:ea typeface="IBM Plex Mono SemiBold"/>
              <a:cs typeface="IBM Plex Mono SemiBold"/>
            </a:endParaRPr>
          </a:p>
        </p:txBody>
      </p:sp>
      <p:sp>
        <p:nvSpPr>
          <p:cNvPr id="7" name="node01"/>
          <p:cNvSpPr/>
          <p:nvPr/>
        </p:nvSpPr>
        <p:spPr>
          <a:xfrm>
            <a:off x="4381500" y="3429000"/>
            <a:ext cx="6172200" cy="9525"/>
          </a:xfrm>
          <a:prstGeom prst="rect">
            <a:avLst/>
          </a:prstGeom>
          <a:solidFill>
            <a:srgbClr val="CED7E6"/>
          </a:solidFill>
          <a:ln>
            <a:noFill/>
          </a:ln>
        </p:spPr>
      </p:sp>
      <p:grpSp>
        <p:nvGrpSpPr>
          <p:cNvPr id="62" name="node02"/>
          <p:cNvGrpSpPr/>
          <p:nvPr/>
        </p:nvGrpSpPr>
        <p:grpSpPr>
          <a:xfrm>
            <a:off x="4381500" y="685800"/>
            <a:ext cx="838200" cy="190500"/>
            <a:chOff x="4381500" y="685800"/>
            <a:chExt cx="838200" cy="190500"/>
          </a:xfrm>
        </p:grpSpPr>
        <p:sp>
          <p:nvSpPr>
            <p:cNvPr id="8" name="node02.text"/>
            <p:cNvSpPr/>
            <p:nvPr/>
          </p:nvSpPr>
          <p:spPr>
            <a:xfrm>
              <a:off x="4381500" y="685800"/>
              <a:ext cx="838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Investment</a:t>
              </a:r>
              <a:endParaRPr lang="en-US" sz="1100" spc="0" kern="0" b="0" i="0" dirty="0">
                <a:solidFill>
                  <a:srgbClr val="070154"/>
                </a:solidFill>
                <a:latin typeface="IBM Plex Sans"/>
                <a:ea typeface="IBM Plex Sans"/>
                <a:cs typeface="IBM Plex Sans"/>
              </a:endParaRPr>
            </a:p>
          </p:txBody>
        </p:sp>
      </p:grpSp>
      <p:grpSp>
        <p:nvGrpSpPr>
          <p:cNvPr id="63" name="node03"/>
          <p:cNvGrpSpPr/>
          <p:nvPr/>
        </p:nvGrpSpPr>
        <p:grpSpPr>
          <a:xfrm>
            <a:off x="4381500" y="3429000"/>
            <a:ext cx="685800" cy="1600200"/>
            <a:chOff x="4381500" y="3429000"/>
            <a:chExt cx="685800" cy="1600200"/>
          </a:xfrm>
        </p:grpSpPr>
        <p:sp>
          <p:nvSpPr>
            <p:cNvPr id="9" name="node03.surface"/>
            <p:cNvSpPr/>
            <p:nvPr/>
          </p:nvSpPr>
          <p:spPr>
            <a:xfrm>
              <a:off x="4381500" y="3429000"/>
              <a:ext cx="685800" cy="1600200"/>
            </a:xfrm>
            <a:prstGeom prst="rect">
              <a:avLst/>
            </a:prstGeom>
            <a:solidFill>
              <a:srgbClr val="070154"/>
            </a:solidFill>
            <a:ln>
              <a:noFill/>
            </a:ln>
          </p:spPr>
        </p:sp>
        <p:sp>
          <p:nvSpPr>
            <p:cNvPr id="10" name="node03.text"/>
            <p:cNvSpPr/>
            <p:nvPr/>
          </p:nvSpPr>
          <p:spPr>
            <a:xfrm>
              <a:off x="4457700" y="41338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$4.2M</a:t>
              </a:r>
              <a:endParaRPr lang="en-US" sz="1100" spc="0" kern="0" b="0" i="0" dirty="0">
                <a:solidFill>
                  <a:srgbClr val="FFFFFF"/>
                </a:solidFill>
                <a:latin typeface="IBM Plex Sans"/>
                <a:ea typeface="IBM Plex Sans"/>
                <a:cs typeface="IBM Plex Sans"/>
              </a:endParaRPr>
            </a:p>
          </p:txBody>
        </p:sp>
      </p:grpSp>
      <p:grpSp>
        <p:nvGrpSpPr>
          <p:cNvPr id="64" name="node04"/>
          <p:cNvGrpSpPr/>
          <p:nvPr/>
        </p:nvGrpSpPr>
        <p:grpSpPr>
          <a:xfrm>
            <a:off x="5067300" y="5029200"/>
            <a:ext cx="228600" cy="1"/>
            <a:chOff x="5067300" y="5029200"/>
            <a:chExt cx="228600" cy="1"/>
          </a:xfrm>
        </p:grpSpPr>
        <p:sp>
          <p:nvSpPr>
            <p:cNvPr id="11" name="node04.segment-1"/>
            <p:cNvSpPr/>
            <p:nvPr/>
          </p:nvSpPr>
          <p:spPr>
            <a:xfrm>
              <a:off x="5067300" y="50292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5" name="node05"/>
          <p:cNvGrpSpPr/>
          <p:nvPr/>
        </p:nvGrpSpPr>
        <p:grpSpPr>
          <a:xfrm>
            <a:off x="5295900" y="685800"/>
            <a:ext cx="838200" cy="381000"/>
            <a:chOff x="5295900" y="685800"/>
            <a:chExt cx="838200" cy="381000"/>
          </a:xfrm>
        </p:grpSpPr>
        <p:sp>
          <p:nvSpPr>
            <p:cNvPr id="12" name="node05.text"/>
            <p:cNvSpPr/>
            <p:nvPr/>
          </p:nvSpPr>
          <p:spPr>
            <a:xfrm>
              <a:off x="5295900" y="685800"/>
              <a:ext cx="838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Close and reporting</a:t>
              </a:r>
              <a:endParaRPr lang="en-US" sz="1100" spc="0" kern="0" b="0" i="0" dirty="0">
                <a:solidFill>
                  <a:srgbClr val="070154"/>
                </a:solidFill>
                <a:latin typeface="IBM Plex Sans"/>
                <a:ea typeface="IBM Plex Sans"/>
                <a:cs typeface="IBM Plex Sans"/>
              </a:endParaRPr>
            </a:p>
          </p:txBody>
        </p:sp>
      </p:grpSp>
      <p:grpSp>
        <p:nvGrpSpPr>
          <p:cNvPr id="66" name="node06"/>
          <p:cNvGrpSpPr/>
          <p:nvPr/>
        </p:nvGrpSpPr>
        <p:grpSpPr>
          <a:xfrm>
            <a:off x="5295900" y="3657600"/>
            <a:ext cx="685800" cy="1371600"/>
            <a:chOff x="5295900" y="3657600"/>
            <a:chExt cx="685800" cy="1371600"/>
          </a:xfrm>
        </p:grpSpPr>
        <p:sp>
          <p:nvSpPr>
            <p:cNvPr id="13" name="node06.surface"/>
            <p:cNvSpPr/>
            <p:nvPr/>
          </p:nvSpPr>
          <p:spPr>
            <a:xfrm>
              <a:off x="5295900" y="3657600"/>
              <a:ext cx="685800" cy="1371600"/>
            </a:xfrm>
            <a:prstGeom prst="rect">
              <a:avLst/>
            </a:prstGeom>
            <a:solidFill>
              <a:srgbClr val="CED7E6"/>
            </a:solidFill>
            <a:ln>
              <a:noFill/>
            </a:ln>
          </p:spPr>
        </p:sp>
        <p:sp>
          <p:nvSpPr>
            <p:cNvPr id="14" name="node06.text"/>
            <p:cNvSpPr/>
            <p:nvPr/>
          </p:nvSpPr>
          <p:spPr>
            <a:xfrm>
              <a:off x="5372100" y="42481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$3.6M</a:t>
              </a:r>
              <a:endParaRPr lang="en-US" sz="1100" spc="0" kern="0" b="0" i="0" dirty="0">
                <a:solidFill>
                  <a:srgbClr val="070154"/>
                </a:solidFill>
                <a:latin typeface="IBM Plex Sans"/>
                <a:ea typeface="IBM Plex Sans"/>
                <a:cs typeface="IBM Plex Sans"/>
              </a:endParaRPr>
            </a:p>
          </p:txBody>
        </p:sp>
      </p:grpSp>
      <p:grpSp>
        <p:nvGrpSpPr>
          <p:cNvPr id="67" name="node07"/>
          <p:cNvGrpSpPr/>
          <p:nvPr/>
        </p:nvGrpSpPr>
        <p:grpSpPr>
          <a:xfrm>
            <a:off x="5981700" y="3657600"/>
            <a:ext cx="228600" cy="1"/>
            <a:chOff x="5981700" y="3657600"/>
            <a:chExt cx="228600" cy="1"/>
          </a:xfrm>
        </p:grpSpPr>
        <p:sp>
          <p:nvSpPr>
            <p:cNvPr id="15" name="node07.segment-1"/>
            <p:cNvSpPr/>
            <p:nvPr/>
          </p:nvSpPr>
          <p:spPr>
            <a:xfrm>
              <a:off x="5981700" y="36576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8" name="node08"/>
          <p:cNvGrpSpPr/>
          <p:nvPr/>
        </p:nvGrpSpPr>
        <p:grpSpPr>
          <a:xfrm>
            <a:off x="6210300" y="685800"/>
            <a:ext cx="838200" cy="381000"/>
            <a:chOff x="6210300" y="685800"/>
            <a:chExt cx="838200" cy="381000"/>
          </a:xfrm>
        </p:grpSpPr>
        <p:sp>
          <p:nvSpPr>
            <p:cNvPr id="16" name="node08.text"/>
            <p:cNvSpPr/>
            <p:nvPr/>
          </p:nvSpPr>
          <p:spPr>
            <a:xfrm>
              <a:off x="6210300" y="685800"/>
              <a:ext cx="838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Revenue cycle</a:t>
              </a:r>
              <a:endParaRPr lang="en-US" sz="1100" spc="0" kern="0" b="0" i="0" dirty="0">
                <a:solidFill>
                  <a:srgbClr val="070154"/>
                </a:solidFill>
                <a:latin typeface="IBM Plex Sans"/>
                <a:ea typeface="IBM Plex Sans"/>
                <a:cs typeface="IBM Plex Sans"/>
              </a:endParaRPr>
            </a:p>
          </p:txBody>
        </p:sp>
      </p:grpSp>
      <p:grpSp>
        <p:nvGrpSpPr>
          <p:cNvPr id="69" name="node09"/>
          <p:cNvGrpSpPr/>
          <p:nvPr/>
        </p:nvGrpSpPr>
        <p:grpSpPr>
          <a:xfrm>
            <a:off x="6210300" y="2514600"/>
            <a:ext cx="685800" cy="1143000"/>
            <a:chOff x="6210300" y="2514600"/>
            <a:chExt cx="685800" cy="1143000"/>
          </a:xfrm>
        </p:grpSpPr>
        <p:sp>
          <p:nvSpPr>
            <p:cNvPr id="17" name="node09.surface"/>
            <p:cNvSpPr/>
            <p:nvPr/>
          </p:nvSpPr>
          <p:spPr>
            <a:xfrm>
              <a:off x="6210300" y="2514600"/>
              <a:ext cx="685800" cy="1143000"/>
            </a:xfrm>
            <a:prstGeom prst="rect">
              <a:avLst/>
            </a:prstGeom>
            <a:solidFill>
              <a:srgbClr val="CED7E6"/>
            </a:solidFill>
            <a:ln>
              <a:noFill/>
            </a:ln>
          </p:spPr>
        </p:sp>
        <p:sp>
          <p:nvSpPr>
            <p:cNvPr id="18" name="node09.text"/>
            <p:cNvSpPr/>
            <p:nvPr/>
          </p:nvSpPr>
          <p:spPr>
            <a:xfrm>
              <a:off x="6286500" y="29908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$3.0M</a:t>
              </a:r>
              <a:endParaRPr lang="en-US" sz="1100" spc="0" kern="0" b="0" i="0" dirty="0">
                <a:solidFill>
                  <a:srgbClr val="070154"/>
                </a:solidFill>
                <a:latin typeface="IBM Plex Sans"/>
                <a:ea typeface="IBM Plex Sans"/>
                <a:cs typeface="IBM Plex Sans"/>
              </a:endParaRPr>
            </a:p>
          </p:txBody>
        </p:sp>
      </p:grpSp>
      <p:grpSp>
        <p:nvGrpSpPr>
          <p:cNvPr id="70" name="node10"/>
          <p:cNvGrpSpPr/>
          <p:nvPr/>
        </p:nvGrpSpPr>
        <p:grpSpPr>
          <a:xfrm>
            <a:off x="6896100" y="2514600"/>
            <a:ext cx="228600" cy="1"/>
            <a:chOff x="6896100" y="2514600"/>
            <a:chExt cx="228600" cy="1"/>
          </a:xfrm>
        </p:grpSpPr>
        <p:sp>
          <p:nvSpPr>
            <p:cNvPr id="19" name="node10.segment-1"/>
            <p:cNvSpPr/>
            <p:nvPr/>
          </p:nvSpPr>
          <p:spPr>
            <a:xfrm>
              <a:off x="6896100" y="25146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71" name="node11"/>
          <p:cNvGrpSpPr/>
          <p:nvPr/>
        </p:nvGrpSpPr>
        <p:grpSpPr>
          <a:xfrm>
            <a:off x="7124700" y="685800"/>
            <a:ext cx="838200" cy="381000"/>
            <a:chOff x="7124700" y="685800"/>
            <a:chExt cx="838200" cy="381000"/>
          </a:xfrm>
        </p:grpSpPr>
        <p:sp>
          <p:nvSpPr>
            <p:cNvPr id="20" name="node11.text"/>
            <p:cNvSpPr/>
            <p:nvPr/>
          </p:nvSpPr>
          <p:spPr>
            <a:xfrm>
              <a:off x="7124700" y="685800"/>
              <a:ext cx="838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Procure-to-pay</a:t>
              </a:r>
              <a:endParaRPr lang="en-US" sz="1100" spc="0" kern="0" b="0" i="0" dirty="0">
                <a:solidFill>
                  <a:srgbClr val="070154"/>
                </a:solidFill>
                <a:latin typeface="IBM Plex Sans"/>
                <a:ea typeface="IBM Plex Sans"/>
                <a:cs typeface="IBM Plex Sans"/>
              </a:endParaRPr>
            </a:p>
          </p:txBody>
        </p:sp>
      </p:grpSp>
      <p:grpSp>
        <p:nvGrpSpPr>
          <p:cNvPr id="72" name="node12"/>
          <p:cNvGrpSpPr/>
          <p:nvPr/>
        </p:nvGrpSpPr>
        <p:grpSpPr>
          <a:xfrm>
            <a:off x="7124700" y="1828800"/>
            <a:ext cx="685800" cy="685800"/>
            <a:chOff x="7124700" y="1828800"/>
            <a:chExt cx="685800" cy="685800"/>
          </a:xfrm>
        </p:grpSpPr>
        <p:sp>
          <p:nvSpPr>
            <p:cNvPr id="21" name="node12.surface"/>
            <p:cNvSpPr/>
            <p:nvPr/>
          </p:nvSpPr>
          <p:spPr>
            <a:xfrm>
              <a:off x="7124700" y="1828800"/>
              <a:ext cx="685800" cy="685800"/>
            </a:xfrm>
            <a:prstGeom prst="rect">
              <a:avLst/>
            </a:prstGeom>
            <a:solidFill>
              <a:srgbClr val="CED7E6"/>
            </a:solidFill>
            <a:ln>
              <a:noFill/>
            </a:ln>
          </p:spPr>
        </p:sp>
        <p:sp>
          <p:nvSpPr>
            <p:cNvPr id="22" name="node12.text"/>
            <p:cNvSpPr/>
            <p:nvPr/>
          </p:nvSpPr>
          <p:spPr>
            <a:xfrm>
              <a:off x="7200900" y="20764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$1.8M</a:t>
              </a:r>
              <a:endParaRPr lang="en-US" sz="1100" spc="0" kern="0" b="0" i="0" dirty="0">
                <a:solidFill>
                  <a:srgbClr val="070154"/>
                </a:solidFill>
                <a:latin typeface="IBM Plex Sans"/>
                <a:ea typeface="IBM Plex Sans"/>
                <a:cs typeface="IBM Plex Sans"/>
              </a:endParaRPr>
            </a:p>
          </p:txBody>
        </p:sp>
      </p:grpSp>
      <p:grpSp>
        <p:nvGrpSpPr>
          <p:cNvPr id="73" name="node13"/>
          <p:cNvGrpSpPr/>
          <p:nvPr/>
        </p:nvGrpSpPr>
        <p:grpSpPr>
          <a:xfrm>
            <a:off x="7810500" y="1828800"/>
            <a:ext cx="228600" cy="1"/>
            <a:chOff x="7810500" y="1828800"/>
            <a:chExt cx="228600" cy="1"/>
          </a:xfrm>
        </p:grpSpPr>
        <p:sp>
          <p:nvSpPr>
            <p:cNvPr id="23" name="node13.segment-1"/>
            <p:cNvSpPr/>
            <p:nvPr/>
          </p:nvSpPr>
          <p:spPr>
            <a:xfrm>
              <a:off x="7810500" y="18288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74" name="node14"/>
          <p:cNvGrpSpPr/>
          <p:nvPr/>
        </p:nvGrpSpPr>
        <p:grpSpPr>
          <a:xfrm>
            <a:off x="8039100" y="685800"/>
            <a:ext cx="838200" cy="381000"/>
            <a:chOff x="8039100" y="685800"/>
            <a:chExt cx="838200" cy="381000"/>
          </a:xfrm>
        </p:grpSpPr>
        <p:sp>
          <p:nvSpPr>
            <p:cNvPr id="24" name="node14.text"/>
            <p:cNvSpPr/>
            <p:nvPr/>
          </p:nvSpPr>
          <p:spPr>
            <a:xfrm>
              <a:off x="8039100" y="685800"/>
              <a:ext cx="8382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Rework and errors</a:t>
              </a:r>
              <a:endParaRPr lang="en-US" sz="1100" spc="0" kern="0" b="0" i="0" dirty="0">
                <a:solidFill>
                  <a:srgbClr val="070154"/>
                </a:solidFill>
                <a:latin typeface="IBM Plex Sans"/>
                <a:ea typeface="IBM Plex Sans"/>
                <a:cs typeface="IBM Plex Sans"/>
              </a:endParaRPr>
            </a:p>
          </p:txBody>
        </p:sp>
      </p:grpSp>
      <p:grpSp>
        <p:nvGrpSpPr>
          <p:cNvPr id="75" name="node15"/>
          <p:cNvGrpSpPr/>
          <p:nvPr/>
        </p:nvGrpSpPr>
        <p:grpSpPr>
          <a:xfrm>
            <a:off x="8039100" y="1371600"/>
            <a:ext cx="685800" cy="457200"/>
            <a:chOff x="8039100" y="1371600"/>
            <a:chExt cx="685800" cy="457200"/>
          </a:xfrm>
        </p:grpSpPr>
        <p:sp>
          <p:nvSpPr>
            <p:cNvPr id="25" name="node15.surface"/>
            <p:cNvSpPr/>
            <p:nvPr/>
          </p:nvSpPr>
          <p:spPr>
            <a:xfrm>
              <a:off x="8039100" y="1371600"/>
              <a:ext cx="685800" cy="457200"/>
            </a:xfrm>
            <a:prstGeom prst="rect">
              <a:avLst/>
            </a:prstGeom>
            <a:solidFill>
              <a:srgbClr val="CED7E6"/>
            </a:solidFill>
            <a:ln>
              <a:noFill/>
            </a:ln>
          </p:spPr>
        </p:sp>
        <p:sp>
          <p:nvSpPr>
            <p:cNvPr id="26" name="node15.text"/>
            <p:cNvSpPr/>
            <p:nvPr/>
          </p:nvSpPr>
          <p:spPr>
            <a:xfrm>
              <a:off x="8115300" y="15049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$1.2M</a:t>
              </a:r>
              <a:endParaRPr lang="en-US" sz="1100" spc="0" kern="0" b="0" i="0" dirty="0">
                <a:solidFill>
                  <a:srgbClr val="070154"/>
                </a:solidFill>
                <a:latin typeface="IBM Plex Sans"/>
                <a:ea typeface="IBM Plex Sans"/>
                <a:cs typeface="IBM Plex Sans"/>
              </a:endParaRPr>
            </a:p>
          </p:txBody>
        </p:sp>
      </p:grpSp>
      <p:grpSp>
        <p:nvGrpSpPr>
          <p:cNvPr id="76" name="node16"/>
          <p:cNvGrpSpPr/>
          <p:nvPr/>
        </p:nvGrpSpPr>
        <p:grpSpPr>
          <a:xfrm>
            <a:off x="8724900" y="1371600"/>
            <a:ext cx="228600" cy="1"/>
            <a:chOff x="8724900" y="1371600"/>
            <a:chExt cx="228600" cy="1"/>
          </a:xfrm>
        </p:grpSpPr>
        <p:sp>
          <p:nvSpPr>
            <p:cNvPr id="27" name="node16.segment-1"/>
            <p:cNvSpPr/>
            <p:nvPr/>
          </p:nvSpPr>
          <p:spPr>
            <a:xfrm>
              <a:off x="8724900" y="13716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77" name="node17"/>
          <p:cNvGrpSpPr/>
          <p:nvPr/>
        </p:nvGrpSpPr>
        <p:grpSpPr>
          <a:xfrm>
            <a:off x="8953500" y="685800"/>
            <a:ext cx="838200" cy="190500"/>
            <a:chOff x="8953500" y="685800"/>
            <a:chExt cx="838200" cy="190500"/>
          </a:xfrm>
        </p:grpSpPr>
        <p:sp>
          <p:nvSpPr>
            <p:cNvPr id="28" name="node17.text"/>
            <p:cNvSpPr/>
            <p:nvPr/>
          </p:nvSpPr>
          <p:spPr>
            <a:xfrm>
              <a:off x="8953500" y="685800"/>
              <a:ext cx="838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Risk avoided</a:t>
              </a:r>
              <a:endParaRPr lang="en-US" sz="1100" spc="0" kern="0" b="0" i="0" dirty="0">
                <a:solidFill>
                  <a:srgbClr val="070154"/>
                </a:solidFill>
                <a:latin typeface="IBM Plex Sans"/>
                <a:ea typeface="IBM Plex Sans"/>
                <a:cs typeface="IBM Plex Sans"/>
              </a:endParaRPr>
            </a:p>
          </p:txBody>
        </p:sp>
      </p:grpSp>
      <p:grpSp>
        <p:nvGrpSpPr>
          <p:cNvPr id="78" name="node18"/>
          <p:cNvGrpSpPr/>
          <p:nvPr/>
        </p:nvGrpSpPr>
        <p:grpSpPr>
          <a:xfrm>
            <a:off x="8953500" y="1143000"/>
            <a:ext cx="685800" cy="228600"/>
            <a:chOff x="8953500" y="1143000"/>
            <a:chExt cx="685800" cy="228600"/>
          </a:xfrm>
        </p:grpSpPr>
        <p:sp>
          <p:nvSpPr>
            <p:cNvPr id="29" name="node18.surface"/>
            <p:cNvSpPr/>
            <p:nvPr/>
          </p:nvSpPr>
          <p:spPr>
            <a:xfrm>
              <a:off x="8953500" y="1143000"/>
              <a:ext cx="685800" cy="228600"/>
            </a:xfrm>
            <a:prstGeom prst="rect">
              <a:avLst/>
            </a:prstGeom>
            <a:solidFill>
              <a:srgbClr val="CED7E6"/>
            </a:solidFill>
            <a:ln>
              <a:noFill/>
            </a:ln>
          </p:spPr>
        </p:sp>
        <p:sp>
          <p:nvSpPr>
            <p:cNvPr id="30" name="node18.text"/>
            <p:cNvSpPr/>
            <p:nvPr/>
          </p:nvSpPr>
          <p:spPr>
            <a:xfrm>
              <a:off x="9029700" y="11620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$0.6M</a:t>
              </a:r>
              <a:endParaRPr lang="en-US" sz="1100" spc="0" kern="0" b="0" i="0" dirty="0">
                <a:solidFill>
                  <a:srgbClr val="070154"/>
                </a:solidFill>
                <a:latin typeface="IBM Plex Sans"/>
                <a:ea typeface="IBM Plex Sans"/>
                <a:cs typeface="IBM Plex Sans"/>
              </a:endParaRPr>
            </a:p>
          </p:txBody>
        </p:sp>
      </p:grpSp>
      <p:grpSp>
        <p:nvGrpSpPr>
          <p:cNvPr id="79" name="node19"/>
          <p:cNvGrpSpPr/>
          <p:nvPr/>
        </p:nvGrpSpPr>
        <p:grpSpPr>
          <a:xfrm>
            <a:off x="9639300" y="1143000"/>
            <a:ext cx="228600" cy="1"/>
            <a:chOff x="9639300" y="1143000"/>
            <a:chExt cx="228600" cy="1"/>
          </a:xfrm>
        </p:grpSpPr>
        <p:sp>
          <p:nvSpPr>
            <p:cNvPr id="31" name="node19.segment-1"/>
            <p:cNvSpPr/>
            <p:nvPr/>
          </p:nvSpPr>
          <p:spPr>
            <a:xfrm>
              <a:off x="9639300" y="11430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80" name="node20"/>
          <p:cNvGrpSpPr/>
          <p:nvPr/>
        </p:nvGrpSpPr>
        <p:grpSpPr>
          <a:xfrm>
            <a:off x="9867900" y="685800"/>
            <a:ext cx="838200" cy="190500"/>
            <a:chOff x="9867900" y="685800"/>
            <a:chExt cx="838200" cy="190500"/>
          </a:xfrm>
        </p:grpSpPr>
        <p:sp>
          <p:nvSpPr>
            <p:cNvPr id="32" name="node20.text"/>
            <p:cNvSpPr/>
            <p:nvPr/>
          </p:nvSpPr>
          <p:spPr>
            <a:xfrm>
              <a:off x="9867900" y="685800"/>
              <a:ext cx="838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Net value</a:t>
              </a:r>
              <a:endParaRPr lang="en-US" sz="1100" spc="0" kern="0" b="0" i="0" dirty="0">
                <a:solidFill>
                  <a:srgbClr val="070154"/>
                </a:solidFill>
                <a:latin typeface="IBM Plex Sans"/>
                <a:ea typeface="IBM Plex Sans"/>
                <a:cs typeface="IBM Plex Sans"/>
              </a:endParaRPr>
            </a:p>
          </p:txBody>
        </p:sp>
      </p:grpSp>
      <p:grpSp>
        <p:nvGrpSpPr>
          <p:cNvPr id="81" name="node21"/>
          <p:cNvGrpSpPr/>
          <p:nvPr/>
        </p:nvGrpSpPr>
        <p:grpSpPr>
          <a:xfrm>
            <a:off x="9867900" y="1143000"/>
            <a:ext cx="685800" cy="2286000"/>
            <a:chOff x="9867900" y="1143000"/>
            <a:chExt cx="685800" cy="2286000"/>
          </a:xfrm>
        </p:grpSpPr>
        <p:sp>
          <p:nvSpPr>
            <p:cNvPr id="33" name="node21.surface"/>
            <p:cNvSpPr/>
            <p:nvPr/>
          </p:nvSpPr>
          <p:spPr>
            <a:xfrm>
              <a:off x="9867900" y="1143000"/>
              <a:ext cx="685800" cy="2286000"/>
            </a:xfrm>
            <a:prstGeom prst="rect">
              <a:avLst/>
            </a:prstGeom>
            <a:solidFill>
              <a:srgbClr val="F900D3"/>
            </a:solidFill>
            <a:ln>
              <a:noFill/>
            </a:ln>
          </p:spPr>
        </p:sp>
        <p:sp>
          <p:nvSpPr>
            <p:cNvPr id="34" name="node21.text"/>
            <p:cNvSpPr/>
            <p:nvPr/>
          </p:nvSpPr>
          <p:spPr>
            <a:xfrm>
              <a:off x="9944100" y="2190750"/>
              <a:ext cx="5334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$6.0M</a:t>
              </a:r>
              <a:endParaRPr lang="en-US" sz="1100" spc="0" kern="0" b="0" i="0" dirty="0">
                <a:solidFill>
                  <a:srgbClr val="070154"/>
                </a:solidFill>
                <a:latin typeface="IBM Plex Sans"/>
                <a:ea typeface="IBM Plex Sans"/>
                <a:cs typeface="IBM Plex Sans"/>
              </a:endParaRPr>
            </a:p>
          </p:txBody>
        </p:sp>
      </p:grpSp>
      <p:grpSp>
        <p:nvGrpSpPr>
          <p:cNvPr id="82" name="node22"/>
          <p:cNvGrpSpPr/>
          <p:nvPr/>
        </p:nvGrpSpPr>
        <p:grpSpPr>
          <a:xfrm>
            <a:off x="4381500" y="5029200"/>
            <a:ext cx="2057400" cy="457200"/>
            <a:chOff x="4381500" y="5029200"/>
            <a:chExt cx="2057400" cy="457200"/>
          </a:xfrm>
        </p:grpSpPr>
        <p:sp>
          <p:nvSpPr>
            <p:cNvPr id="35" name="node22.surface"/>
            <p:cNvSpPr/>
            <p:nvPr/>
          </p:nvSpPr>
          <p:spPr>
            <a:xfrm>
              <a:off x="4381500" y="5029200"/>
              <a:ext cx="2057400" cy="457200"/>
            </a:xfrm>
            <a:prstGeom prst="rect">
              <a:avLst/>
            </a:prstGeom>
            <a:solidFill>
              <a:srgbClr val="070154"/>
            </a:solidFill>
            <a:ln>
              <a:noFill/>
            </a:ln>
          </p:spPr>
        </p:sp>
        <p:sp>
          <p:nvSpPr>
            <p:cNvPr id="36" name="node22.text"/>
            <p:cNvSpPr/>
            <p:nvPr/>
          </p:nvSpPr>
          <p:spPr>
            <a:xfrm>
              <a:off x="4533900" y="5162550"/>
              <a:ext cx="17526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FFFFFF"/>
                  </a:solidFill>
                  <a:latin typeface="IBM Plex Sans"/>
                  <a:ea typeface="IBM Plex Sans"/>
                  <a:cs typeface="IBM Plex Sans"/>
                </a:rPr>
                <a:t>Investment $4.2M</a:t>
              </a:r>
              <a:endParaRPr lang="en-US" sz="1100" spc="0" kern="0" b="0" i="0" dirty="0">
                <a:solidFill>
                  <a:srgbClr val="FFFFFF"/>
                </a:solidFill>
                <a:latin typeface="IBM Plex Sans"/>
                <a:ea typeface="IBM Plex Sans"/>
                <a:cs typeface="IBM Plex Sans"/>
              </a:endParaRPr>
            </a:p>
          </p:txBody>
        </p:sp>
      </p:grpSp>
      <p:grpSp>
        <p:nvGrpSpPr>
          <p:cNvPr id="83" name="node23"/>
          <p:cNvGrpSpPr/>
          <p:nvPr/>
        </p:nvGrpSpPr>
        <p:grpSpPr>
          <a:xfrm>
            <a:off x="6896100" y="5029200"/>
            <a:ext cx="2057400" cy="457200"/>
            <a:chOff x="6896100" y="5029200"/>
            <a:chExt cx="2057400" cy="457200"/>
          </a:xfrm>
        </p:grpSpPr>
        <p:sp>
          <p:nvSpPr>
            <p:cNvPr id="37" name="node23.surface"/>
            <p:cNvSpPr/>
            <p:nvPr/>
          </p:nvSpPr>
          <p:spPr>
            <a:xfrm>
              <a:off x="6896100" y="5029200"/>
              <a:ext cx="2057400" cy="457200"/>
            </a:xfrm>
            <a:prstGeom prst="rect">
              <a:avLst/>
            </a:prstGeom>
            <a:solidFill>
              <a:srgbClr val="CED7E6"/>
            </a:solidFill>
            <a:ln>
              <a:noFill/>
            </a:ln>
          </p:spPr>
        </p:sp>
        <p:sp>
          <p:nvSpPr>
            <p:cNvPr id="38" name="node23.text"/>
            <p:cNvSpPr/>
            <p:nvPr/>
          </p:nvSpPr>
          <p:spPr>
            <a:xfrm>
              <a:off x="7048500" y="5162550"/>
              <a:ext cx="17526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Value $10.2M</a:t>
              </a:r>
              <a:endParaRPr lang="en-US" sz="1100" spc="0" kern="0" b="0" i="0" dirty="0">
                <a:solidFill>
                  <a:srgbClr val="070154"/>
                </a:solidFill>
                <a:latin typeface="IBM Plex Sans"/>
                <a:ea typeface="IBM Plex Sans"/>
                <a:cs typeface="IBM Plex Sans"/>
              </a:endParaRPr>
            </a:p>
          </p:txBody>
        </p:sp>
      </p:grpSp>
      <p:grpSp>
        <p:nvGrpSpPr>
          <p:cNvPr id="84" name="node24"/>
          <p:cNvGrpSpPr/>
          <p:nvPr/>
        </p:nvGrpSpPr>
        <p:grpSpPr>
          <a:xfrm>
            <a:off x="9410700" y="5029200"/>
            <a:ext cx="2057400" cy="457200"/>
            <a:chOff x="9410700" y="5029200"/>
            <a:chExt cx="2057400" cy="457200"/>
          </a:xfrm>
        </p:grpSpPr>
        <p:sp>
          <p:nvSpPr>
            <p:cNvPr id="39" name="node24.surface"/>
            <p:cNvSpPr/>
            <p:nvPr/>
          </p:nvSpPr>
          <p:spPr>
            <a:xfrm>
              <a:off x="9410700" y="5029200"/>
              <a:ext cx="2057400" cy="457200"/>
            </a:xfrm>
            <a:prstGeom prst="rect">
              <a:avLst/>
            </a:prstGeom>
            <a:solidFill>
              <a:srgbClr val="F900D3"/>
            </a:solidFill>
            <a:ln>
              <a:noFill/>
            </a:ln>
          </p:spPr>
        </p:sp>
        <p:sp>
          <p:nvSpPr>
            <p:cNvPr id="40" name="node24.text"/>
            <p:cNvSpPr/>
            <p:nvPr/>
          </p:nvSpPr>
          <p:spPr>
            <a:xfrm>
              <a:off x="9563100" y="5162550"/>
              <a:ext cx="17526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Net $6.0M</a:t>
              </a:r>
              <a:endParaRPr lang="en-US" sz="1100" spc="0" kern="0" b="0" i="0" dirty="0">
                <a:solidFill>
                  <a:srgbClr val="070154"/>
                </a:solidFill>
                <a:latin typeface="IBM Plex Sans"/>
                <a:ea typeface="IBM Plex Sans"/>
                <a:cs typeface="IBM Plex Sans"/>
              </a:endParaRPr>
            </a:p>
          </p:txBody>
        </p:sp>
      </p:grpSp>
      <p:grpSp>
        <p:nvGrpSpPr>
          <p:cNvPr id="85" name="node25"/>
          <p:cNvGrpSpPr/>
          <p:nvPr/>
        </p:nvGrpSpPr>
        <p:grpSpPr>
          <a:xfrm>
            <a:off x="723900" y="2057400"/>
            <a:ext cx="3429000" cy="139700"/>
            <a:chOff x="723900" y="2057400"/>
            <a:chExt cx="3429000" cy="139700"/>
          </a:xfrm>
        </p:grpSpPr>
        <p:sp>
          <p:nvSpPr>
            <p:cNvPr id="41" name="node25.text"/>
            <p:cNvSpPr/>
            <p:nvPr/>
          </p:nvSpPr>
          <p:spPr>
            <a:xfrm>
              <a:off x="723900" y="20574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SHARE OF FIVE-YEAR VALUE</a:t>
              </a:r>
              <a:endParaRPr lang="en-US" sz="800" spc="48" kern="0" b="0" i="0" dirty="0">
                <a:solidFill>
                  <a:srgbClr val="0047FF"/>
                </a:solidFill>
                <a:latin typeface="IBM Plex Mono Medium"/>
                <a:ea typeface="IBM Plex Mono Medium"/>
                <a:cs typeface="IBM Plex Mono Medium"/>
              </a:endParaRPr>
            </a:p>
          </p:txBody>
        </p:sp>
      </p:grpSp>
      <p:grpSp>
        <p:nvGrpSpPr>
          <p:cNvPr id="86" name="node26"/>
          <p:cNvGrpSpPr/>
          <p:nvPr/>
        </p:nvGrpSpPr>
        <p:grpSpPr>
          <a:xfrm>
            <a:off x="723900" y="2362200"/>
            <a:ext cx="3429000" cy="977900"/>
            <a:chOff x="723900" y="2362200"/>
            <a:chExt cx="3429000" cy="977900"/>
          </a:xfrm>
        </p:grpSpPr>
        <p:sp>
          <p:nvSpPr>
            <p:cNvPr id="42" name="node26.source-001.bullet"/>
            <p:cNvSpPr/>
            <p:nvPr/>
          </p:nvSpPr>
          <p:spPr>
            <a:xfrm>
              <a:off x="723900" y="2451100"/>
              <a:ext cx="38100" cy="38100"/>
            </a:xfrm>
            <a:prstGeom prst="rect">
              <a:avLst/>
            </a:prstGeom>
            <a:solidFill>
              <a:srgbClr val="070154"/>
            </a:solidFill>
            <a:ln>
              <a:noFill/>
            </a:ln>
          </p:spPr>
        </p:sp>
        <p:sp>
          <p:nvSpPr>
            <p:cNvPr id="43" name="node26.source-001.text"/>
            <p:cNvSpPr/>
            <p:nvPr/>
          </p:nvSpPr>
          <p:spPr>
            <a:xfrm>
              <a:off x="876300" y="2362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Close and reporting</a:t>
              </a:r>
              <a:r>
                <a:rPr lang="en-US" sz="1200" spc="0" kern="0" b="0" i="0" dirty="0">
                  <a:solidFill>
                    <a:srgbClr val="50658E"/>
                  </a:solidFill>
                  <a:latin typeface="IBM Plex Sans"/>
                  <a:ea typeface="IBM Plex Sans"/>
                  <a:cs typeface="IBM Plex Sans"/>
                </a:rPr>
                <a:t xml:space="preserve"> 35%</a:t>
              </a:r>
              <a:endParaRPr lang="en-US" sz="1200" spc="0" kern="0" b="0" i="0" dirty="0">
                <a:solidFill>
                  <a:srgbClr val="070154"/>
                </a:solidFill>
                <a:latin typeface="IBM Plex Sans"/>
                <a:ea typeface="IBM Plex Sans"/>
                <a:cs typeface="IBM Plex Sans"/>
              </a:endParaRPr>
            </a:p>
          </p:txBody>
        </p:sp>
        <p:sp>
          <p:nvSpPr>
            <p:cNvPr id="44" name="node26.source-002.bullet"/>
            <p:cNvSpPr/>
            <p:nvPr/>
          </p:nvSpPr>
          <p:spPr>
            <a:xfrm>
              <a:off x="723900" y="2705100"/>
              <a:ext cx="38100" cy="38100"/>
            </a:xfrm>
            <a:prstGeom prst="rect">
              <a:avLst/>
            </a:prstGeom>
            <a:solidFill>
              <a:srgbClr val="070154"/>
            </a:solidFill>
            <a:ln>
              <a:noFill/>
            </a:ln>
          </p:spPr>
        </p:sp>
        <p:sp>
          <p:nvSpPr>
            <p:cNvPr id="45" name="node26.source-002.text"/>
            <p:cNvSpPr/>
            <p:nvPr/>
          </p:nvSpPr>
          <p:spPr>
            <a:xfrm>
              <a:off x="876300" y="2616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Revenue cycle</a:t>
              </a:r>
              <a:r>
                <a:rPr lang="en-US" sz="1200" spc="0" kern="0" b="0" i="0" dirty="0">
                  <a:solidFill>
                    <a:srgbClr val="50658E"/>
                  </a:solidFill>
                  <a:latin typeface="IBM Plex Sans"/>
                  <a:ea typeface="IBM Plex Sans"/>
                  <a:cs typeface="IBM Plex Sans"/>
                </a:rPr>
                <a:t xml:space="preserve"> 29%</a:t>
              </a:r>
              <a:endParaRPr lang="en-US" sz="1200" spc="0" kern="0" b="0" i="0" dirty="0">
                <a:solidFill>
                  <a:srgbClr val="070154"/>
                </a:solidFill>
                <a:latin typeface="IBM Plex Sans"/>
                <a:ea typeface="IBM Plex Sans"/>
                <a:cs typeface="IBM Plex Sans"/>
              </a:endParaRPr>
            </a:p>
          </p:txBody>
        </p:sp>
        <p:sp>
          <p:nvSpPr>
            <p:cNvPr id="46" name="node26.source-003.bullet"/>
            <p:cNvSpPr/>
            <p:nvPr/>
          </p:nvSpPr>
          <p:spPr>
            <a:xfrm>
              <a:off x="723900" y="2959100"/>
              <a:ext cx="38100" cy="38100"/>
            </a:xfrm>
            <a:prstGeom prst="rect">
              <a:avLst/>
            </a:prstGeom>
            <a:solidFill>
              <a:srgbClr val="070154"/>
            </a:solidFill>
            <a:ln>
              <a:noFill/>
            </a:ln>
          </p:spPr>
        </p:sp>
        <p:sp>
          <p:nvSpPr>
            <p:cNvPr id="47" name="node26.source-003.text"/>
            <p:cNvSpPr/>
            <p:nvPr/>
          </p:nvSpPr>
          <p:spPr>
            <a:xfrm>
              <a:off x="876300" y="2870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Procure-to-pay</a:t>
              </a:r>
              <a:r>
                <a:rPr lang="en-US" sz="1200" spc="0" kern="0" b="0" i="0" dirty="0">
                  <a:solidFill>
                    <a:srgbClr val="50658E"/>
                  </a:solidFill>
                  <a:latin typeface="IBM Plex Sans"/>
                  <a:ea typeface="IBM Plex Sans"/>
                  <a:cs typeface="IBM Plex Sans"/>
                </a:rPr>
                <a:t xml:space="preserve"> 18%</a:t>
              </a:r>
              <a:endParaRPr lang="en-US" sz="1200" spc="0" kern="0" b="0" i="0" dirty="0">
                <a:solidFill>
                  <a:srgbClr val="070154"/>
                </a:solidFill>
                <a:latin typeface="IBM Plex Sans"/>
                <a:ea typeface="IBM Plex Sans"/>
                <a:cs typeface="IBM Plex Sans"/>
              </a:endParaRPr>
            </a:p>
          </p:txBody>
        </p:sp>
        <p:sp>
          <p:nvSpPr>
            <p:cNvPr id="48" name="node26.source-004.bullet"/>
            <p:cNvSpPr/>
            <p:nvPr/>
          </p:nvSpPr>
          <p:spPr>
            <a:xfrm>
              <a:off x="723900" y="3213100"/>
              <a:ext cx="38100" cy="38100"/>
            </a:xfrm>
            <a:prstGeom prst="rect">
              <a:avLst/>
            </a:prstGeom>
            <a:solidFill>
              <a:srgbClr val="070154"/>
            </a:solidFill>
            <a:ln>
              <a:noFill/>
            </a:ln>
          </p:spPr>
        </p:sp>
        <p:sp>
          <p:nvSpPr>
            <p:cNvPr id="49" name="node26.source-004.text"/>
            <p:cNvSpPr/>
            <p:nvPr/>
          </p:nvSpPr>
          <p:spPr>
            <a:xfrm>
              <a:off x="876300" y="3124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 xml:space="preserve">Rework and risk</a:t>
              </a:r>
              <a:r>
                <a:rPr lang="en-US" sz="1200" spc="0" kern="0" b="0" i="0" dirty="0">
                  <a:solidFill>
                    <a:srgbClr val="50658E"/>
                  </a:solidFill>
                  <a:latin typeface="IBM Plex Sans"/>
                  <a:ea typeface="IBM Plex Sans"/>
                  <a:cs typeface="IBM Plex Sans"/>
                </a:rPr>
                <a:t xml:space="preserve"> 18%</a:t>
              </a:r>
              <a:endParaRPr lang="en-US" sz="1200" spc="0" kern="0" b="0" i="0" dirty="0">
                <a:solidFill>
                  <a:srgbClr val="070154"/>
                </a:solidFill>
                <a:latin typeface="IBM Plex Sans"/>
                <a:ea typeface="IBM Plex Sans"/>
                <a:cs typeface="IBM Plex Sans"/>
              </a:endParaRPr>
            </a:p>
          </p:txBody>
        </p:sp>
      </p:grpSp>
      <p:sp>
        <p:nvSpPr>
          <p:cNvPr id="50" name="node27"/>
          <p:cNvSpPr/>
          <p:nvPr/>
        </p:nvSpPr>
        <p:spPr>
          <a:xfrm>
            <a:off x="723900" y="3429000"/>
            <a:ext cx="3429000" cy="9525"/>
          </a:xfrm>
          <a:prstGeom prst="rect">
            <a:avLst/>
          </a:prstGeom>
          <a:solidFill>
            <a:srgbClr val="CED7E6"/>
          </a:solidFill>
          <a:ln>
            <a:noFill/>
          </a:ln>
        </p:spPr>
      </p:sp>
      <p:grpSp>
        <p:nvGrpSpPr>
          <p:cNvPr id="87" name="node28"/>
          <p:cNvGrpSpPr/>
          <p:nvPr/>
        </p:nvGrpSpPr>
        <p:grpSpPr>
          <a:xfrm>
            <a:off x="723900" y="3619500"/>
            <a:ext cx="1828800" cy="190500"/>
            <a:chOff x="723900" y="3619500"/>
            <a:chExt cx="1828800" cy="190500"/>
          </a:xfrm>
        </p:grpSpPr>
        <p:sp>
          <p:nvSpPr>
            <p:cNvPr id="51" name="node28.text"/>
            <p:cNvSpPr/>
            <p:nvPr/>
          </p:nvSpPr>
          <p:spPr>
            <a:xfrm>
              <a:off x="723900" y="3619500"/>
              <a:ext cx="1828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Value per dollar</a:t>
              </a:r>
              <a:endParaRPr lang="en-US" sz="1100" spc="0" kern="0" b="0" i="0" dirty="0">
                <a:solidFill>
                  <a:srgbClr val="50658E"/>
                </a:solidFill>
                <a:latin typeface="IBM Plex Sans"/>
                <a:ea typeface="IBM Plex Sans"/>
                <a:cs typeface="IBM Plex Sans"/>
              </a:endParaRPr>
            </a:p>
          </p:txBody>
        </p:sp>
      </p:grpSp>
      <p:grpSp>
        <p:nvGrpSpPr>
          <p:cNvPr id="88" name="node29"/>
          <p:cNvGrpSpPr/>
          <p:nvPr/>
        </p:nvGrpSpPr>
        <p:grpSpPr>
          <a:xfrm>
            <a:off x="2552700" y="3581400"/>
            <a:ext cx="1600200" cy="266700"/>
            <a:chOff x="2552700" y="3581400"/>
            <a:chExt cx="1600200" cy="266700"/>
          </a:xfrm>
        </p:grpSpPr>
        <p:sp>
          <p:nvSpPr>
            <p:cNvPr id="52" name="node29.text"/>
            <p:cNvSpPr/>
            <p:nvPr/>
          </p:nvSpPr>
          <p:spPr>
            <a:xfrm>
              <a:off x="2552700" y="35814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2.4x</a:t>
              </a:r>
              <a:endParaRPr lang="en-US" sz="1600" spc="-16" kern="0" b="0" i="0" dirty="0">
                <a:solidFill>
                  <a:srgbClr val="070154"/>
                </a:solidFill>
                <a:latin typeface="IBM Plex Sans SemiBold"/>
                <a:ea typeface="IBM Plex Sans SemiBold"/>
                <a:cs typeface="IBM Plex Sans SemiBold"/>
              </a:endParaRPr>
            </a:p>
          </p:txBody>
        </p:sp>
      </p:grpSp>
      <p:sp>
        <p:nvSpPr>
          <p:cNvPr id="53" name="node30"/>
          <p:cNvSpPr/>
          <p:nvPr/>
        </p:nvSpPr>
        <p:spPr>
          <a:xfrm>
            <a:off x="723900" y="3962400"/>
            <a:ext cx="3429000" cy="9525"/>
          </a:xfrm>
          <a:prstGeom prst="rect">
            <a:avLst/>
          </a:prstGeom>
          <a:solidFill>
            <a:srgbClr val="CED7E6"/>
          </a:solidFill>
          <a:ln>
            <a:noFill/>
          </a:ln>
        </p:spPr>
      </p:sp>
      <p:grpSp>
        <p:nvGrpSpPr>
          <p:cNvPr id="89" name="node31"/>
          <p:cNvGrpSpPr/>
          <p:nvPr/>
        </p:nvGrpSpPr>
        <p:grpSpPr>
          <a:xfrm>
            <a:off x="723900" y="4152900"/>
            <a:ext cx="1828800" cy="190500"/>
            <a:chOff x="723900" y="4152900"/>
            <a:chExt cx="1828800" cy="190500"/>
          </a:xfrm>
        </p:grpSpPr>
        <p:sp>
          <p:nvSpPr>
            <p:cNvPr id="54" name="node31.text"/>
            <p:cNvSpPr/>
            <p:nvPr/>
          </p:nvSpPr>
          <p:spPr>
            <a:xfrm>
              <a:off x="723900" y="4152900"/>
              <a:ext cx="1828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Five-year ROI</a:t>
              </a:r>
              <a:endParaRPr lang="en-US" sz="1100" spc="0" kern="0" b="0" i="0" dirty="0">
                <a:solidFill>
                  <a:srgbClr val="50658E"/>
                </a:solidFill>
                <a:latin typeface="IBM Plex Sans"/>
                <a:ea typeface="IBM Plex Sans"/>
                <a:cs typeface="IBM Plex Sans"/>
              </a:endParaRPr>
            </a:p>
          </p:txBody>
        </p:sp>
      </p:grpSp>
      <p:grpSp>
        <p:nvGrpSpPr>
          <p:cNvPr id="90" name="node32"/>
          <p:cNvGrpSpPr/>
          <p:nvPr/>
        </p:nvGrpSpPr>
        <p:grpSpPr>
          <a:xfrm>
            <a:off x="2552700" y="4114800"/>
            <a:ext cx="1600200" cy="266700"/>
            <a:chOff x="2552700" y="4114800"/>
            <a:chExt cx="1600200" cy="266700"/>
          </a:xfrm>
        </p:grpSpPr>
        <p:sp>
          <p:nvSpPr>
            <p:cNvPr id="55" name="node32.text"/>
            <p:cNvSpPr/>
            <p:nvPr/>
          </p:nvSpPr>
          <p:spPr>
            <a:xfrm>
              <a:off x="2552700" y="41148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143%</a:t>
              </a:r>
              <a:endParaRPr lang="en-US" sz="1600" spc="-16" kern="0" b="0" i="0" dirty="0">
                <a:solidFill>
                  <a:srgbClr val="070154"/>
                </a:solidFill>
                <a:latin typeface="IBM Plex Sans SemiBold"/>
                <a:ea typeface="IBM Plex Sans SemiBold"/>
                <a:cs typeface="IBM Plex Sans SemiBold"/>
              </a:endParaRPr>
            </a:p>
          </p:txBody>
        </p:sp>
      </p:grpSp>
      <p:sp>
        <p:nvSpPr>
          <p:cNvPr id="56" name="node33"/>
          <p:cNvSpPr/>
          <p:nvPr/>
        </p:nvSpPr>
        <p:spPr>
          <a:xfrm>
            <a:off x="723900" y="4495800"/>
            <a:ext cx="3429000" cy="9525"/>
          </a:xfrm>
          <a:prstGeom prst="rect">
            <a:avLst/>
          </a:prstGeom>
          <a:solidFill>
            <a:srgbClr val="CED7E6"/>
          </a:solidFill>
          <a:ln>
            <a:noFill/>
          </a:ln>
        </p:spPr>
      </p:sp>
      <p:grpSp>
        <p:nvGrpSpPr>
          <p:cNvPr id="91" name="node34"/>
          <p:cNvGrpSpPr/>
          <p:nvPr/>
        </p:nvGrpSpPr>
        <p:grpSpPr>
          <a:xfrm>
            <a:off x="723900" y="4686300"/>
            <a:ext cx="1828800" cy="190500"/>
            <a:chOff x="723900" y="4686300"/>
            <a:chExt cx="1828800" cy="190500"/>
          </a:xfrm>
        </p:grpSpPr>
        <p:sp>
          <p:nvSpPr>
            <p:cNvPr id="57" name="node34.text"/>
            <p:cNvSpPr/>
            <p:nvPr/>
          </p:nvSpPr>
          <p:spPr>
            <a:xfrm>
              <a:off x="723900" y="4686300"/>
              <a:ext cx="1828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Payback</a:t>
              </a:r>
              <a:endParaRPr lang="en-US" sz="1100" spc="0" kern="0" b="0" i="0" dirty="0">
                <a:solidFill>
                  <a:srgbClr val="50658E"/>
                </a:solidFill>
                <a:latin typeface="IBM Plex Sans"/>
                <a:ea typeface="IBM Plex Sans"/>
                <a:cs typeface="IBM Plex Sans"/>
              </a:endParaRPr>
            </a:p>
          </p:txBody>
        </p:sp>
      </p:grpSp>
      <p:grpSp>
        <p:nvGrpSpPr>
          <p:cNvPr id="92" name="node35"/>
          <p:cNvGrpSpPr/>
          <p:nvPr/>
        </p:nvGrpSpPr>
        <p:grpSpPr>
          <a:xfrm>
            <a:off x="2552700" y="4648200"/>
            <a:ext cx="1600200" cy="266700"/>
            <a:chOff x="2552700" y="4648200"/>
            <a:chExt cx="1600200" cy="266700"/>
          </a:xfrm>
        </p:grpSpPr>
        <p:sp>
          <p:nvSpPr>
            <p:cNvPr id="58" name="node35.text"/>
            <p:cNvSpPr/>
            <p:nvPr/>
          </p:nvSpPr>
          <p:spPr>
            <a:xfrm>
              <a:off x="2552700" y="46482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month 31</a:t>
              </a:r>
              <a:endParaRPr lang="en-US" sz="1600" spc="-16" kern="0" b="0" i="0" dirty="0">
                <a:solidFill>
                  <a:srgbClr val="070154"/>
                </a:solidFill>
                <a:latin typeface="IBM Plex Sans SemiBold"/>
                <a:ea typeface="IBM Plex Sans SemiBold"/>
                <a:cs typeface="IBM Plex Sans SemiBold"/>
              </a:endParaRPr>
            </a:p>
          </p:txBody>
        </p:sp>
      </p:grpSp>
      <p:sp>
        <p:nvSpPr>
          <p:cNvPr id="59" name="node36"/>
          <p:cNvSpPr/>
          <p:nvPr/>
        </p:nvSpPr>
        <p:spPr>
          <a:xfrm>
            <a:off x="723900" y="5029200"/>
            <a:ext cx="3429000" cy="9525"/>
          </a:xfrm>
          <a:prstGeom prst="rect">
            <a:avLst/>
          </a:prstGeom>
          <a:solidFill>
            <a:srgbClr val="CED7E6"/>
          </a:solidFill>
          <a:ln>
            <a:noFill/>
          </a:ln>
        </p:spPr>
      </p:sp>
      <p:grpSp>
        <p:nvGrpSpPr>
          <p:cNvPr id="93" name="node37"/>
          <p:cNvGrpSpPr/>
          <p:nvPr/>
        </p:nvGrpSpPr>
        <p:grpSpPr>
          <a:xfrm>
            <a:off x="723900" y="5219700"/>
            <a:ext cx="1828800" cy="190500"/>
            <a:chOff x="723900" y="5219700"/>
            <a:chExt cx="1828800" cy="190500"/>
          </a:xfrm>
        </p:grpSpPr>
        <p:sp>
          <p:nvSpPr>
            <p:cNvPr id="60" name="node37.text"/>
            <p:cNvSpPr/>
            <p:nvPr/>
          </p:nvSpPr>
          <p:spPr>
            <a:xfrm>
              <a:off x="723900" y="5219700"/>
              <a:ext cx="1828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NPV at 8%</a:t>
              </a:r>
              <a:endParaRPr lang="en-US" sz="1100" spc="0" kern="0" b="0" i="0" dirty="0">
                <a:solidFill>
                  <a:srgbClr val="50658E"/>
                </a:solidFill>
                <a:latin typeface="IBM Plex Sans"/>
                <a:ea typeface="IBM Plex Sans"/>
                <a:cs typeface="IBM Plex Sans"/>
              </a:endParaRPr>
            </a:p>
          </p:txBody>
        </p:sp>
      </p:grpSp>
      <p:grpSp>
        <p:nvGrpSpPr>
          <p:cNvPr id="94" name="node38"/>
          <p:cNvGrpSpPr/>
          <p:nvPr/>
        </p:nvGrpSpPr>
        <p:grpSpPr>
          <a:xfrm>
            <a:off x="2552700" y="5181600"/>
            <a:ext cx="1600200" cy="266700"/>
            <a:chOff x="2552700" y="5181600"/>
            <a:chExt cx="1600200" cy="266700"/>
          </a:xfrm>
        </p:grpSpPr>
        <p:sp>
          <p:nvSpPr>
            <p:cNvPr id="61" name="node38.text"/>
            <p:cNvSpPr/>
            <p:nvPr/>
          </p:nvSpPr>
          <p:spPr>
            <a:xfrm>
              <a:off x="2552700" y="51816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$4.1M</a:t>
              </a:r>
              <a:endParaRPr lang="en-US" sz="1600" spc="-16"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ource-584">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Value overtakes cost in month 31</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6769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222</a:t>
            </a:fld>
            <a:endParaRPr lang="en-US" sz="700" spc="0" kern="0" b="0" i="0" dirty="0">
              <a:solidFill>
                <a:srgbClr val="070154"/>
              </a:solidFill>
              <a:latin typeface="IBM Plex Mono SemiBold"/>
              <a:ea typeface="IBM Plex Mono SemiBold"/>
              <a:cs typeface="IBM Plex Mono SemiBold"/>
            </a:endParaRPr>
          </a:p>
        </p:txBody>
      </p:sp>
      <p:grpSp>
        <p:nvGrpSpPr>
          <p:cNvPr id="35" name="node01"/>
          <p:cNvGrpSpPr/>
          <p:nvPr/>
        </p:nvGrpSpPr>
        <p:grpSpPr>
          <a:xfrm>
            <a:off x="723900" y="457200"/>
            <a:ext cx="7086600" cy="5029200"/>
            <a:chOff x="723900" y="457200"/>
            <a:chExt cx="7086600" cy="5029200"/>
          </a:xfrm>
        </p:grpSpPr>
        <p:sp>
          <p:nvSpPr>
            <p:cNvPr id="7" name="node01.title"/>
            <p:cNvSpPr/>
            <p:nvPr/>
          </p:nvSpPr>
          <p:spPr>
            <a:xfrm>
              <a:off x="723900" y="457200"/>
              <a:ext cx="7086600" cy="3048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Cumulative cost and value</a:t>
              </a:r>
              <a:endParaRPr lang="en-US" sz="1600" spc="-16" kern="0" b="0" i="0" dirty="0">
                <a:solidFill>
                  <a:srgbClr val="070154"/>
                </a:solidFill>
                <a:latin typeface="IBM Plex Sans SemiBold"/>
                <a:ea typeface="IBM Plex Sans SemiBold"/>
                <a:cs typeface="IBM Plex Sans SemiBold"/>
              </a:endParaRPr>
            </a:p>
          </p:txBody>
        </p:sp>
        <p:sp>
          <p:nvSpPr>
            <p:cNvPr id="8" name="node01.units"/>
            <p:cNvSpPr/>
            <p:nvPr/>
          </p:nvSpPr>
          <p:spPr>
            <a:xfrm>
              <a:off x="723900" y="762000"/>
              <a:ext cx="7086600" cy="190500"/>
            </a:xfrm>
            <a:prstGeom prst="rect">
              <a:avLst/>
            </a:prstGeom>
            <a:noFill/>
            <a:ln/>
          </p:spPr>
          <p:txBody>
            <a:bodyPr wrap="square" lIns="0" tIns="0" rIns="0" bIns="0" rtlCol="0" anchor="t"/>
            <a:lstStyle/>
            <a:p>
              <a:pPr algn="l" indent="0" marL="0">
                <a:lnSpc>
                  <a:spcPts val="1100"/>
                </a:lnSpc>
                <a:buNone/>
              </a:pPr>
              <a:r>
                <a:rPr lang="en-US" sz="800" spc="60" kern="0" b="0" i="0" dirty="0">
                  <a:solidFill>
                    <a:srgbClr val="50658E"/>
                  </a:solidFill>
                  <a:latin typeface="IBM Plex Mono Medium"/>
                  <a:ea typeface="IBM Plex Mono Medium"/>
                  <a:cs typeface="IBM Plex Mono Medium"/>
                </a:rPr>
                <a:t>$M, BY QUARTER, FIVE YEARS</a:t>
              </a:r>
              <a:endParaRPr lang="en-US" sz="800" spc="60" kern="0" b="0" i="0" dirty="0">
                <a:solidFill>
                  <a:srgbClr val="50658E"/>
                </a:solidFill>
                <a:latin typeface="IBM Plex Mono Medium"/>
                <a:ea typeface="IBM Plex Mono Medium"/>
                <a:cs typeface="IBM Plex Mono Medium"/>
              </a:endParaRPr>
            </a:p>
          </p:txBody>
        </p:sp>
        <p:graphicFrame>
          <p:nvGraphicFramePr>
            <p:cNvPr id="9" name="node01.native" descr=""/>
            <p:cNvGraphicFramePr/>
            <p:nvPr/>
          </p:nvGraphicFramePr>
          <p:xfrm>
            <a:off x="723900" y="1066800"/>
            <a:ext cx="7086600" cy="4419600"/>
          </p:xfrm>
          <a:graphic xmlns:a="http://schemas.openxmlformats.org/drawingml/2006/main">
            <a:graphicData uri="http://schemas.openxmlformats.org/drawingml/2006/chart">
              <c:chart xmlns:c="http://schemas.openxmlformats.org/drawingml/2006/chart" r:id="rId1"/>
            </a:graphicData>
          </a:graphic>
        </p:graphicFrame>
        <p:sp>
          <p:nvSpPr>
            <p:cNvPr id="10" name="node01.direct-1"/>
            <p:cNvSpPr/>
            <p:nvPr/>
          </p:nvSpPr>
          <p:spPr>
            <a:xfrm>
              <a:off x="6591300" y="1593850"/>
              <a:ext cx="121920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Value · 10.2</a:t>
              </a:r>
              <a:endParaRPr lang="en-US" sz="1100" spc="0" kern="0" b="0" i="0" dirty="0">
                <a:solidFill>
                  <a:srgbClr val="070154"/>
                </a:solidFill>
                <a:latin typeface="IBM Plex Sans SemiBold"/>
                <a:ea typeface="IBM Plex Sans SemiBold"/>
                <a:cs typeface="IBM Plex Sans SemiBold"/>
              </a:endParaRPr>
            </a:p>
          </p:txBody>
        </p:sp>
        <p:sp>
          <p:nvSpPr>
            <p:cNvPr id="11" name="node01.direct-2"/>
            <p:cNvSpPr/>
            <p:nvPr/>
          </p:nvSpPr>
          <p:spPr>
            <a:xfrm>
              <a:off x="6591300" y="3689350"/>
              <a:ext cx="121920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Cost · 4.2</a:t>
              </a:r>
              <a:endParaRPr lang="en-US" sz="1100" spc="0" kern="0" b="0" i="0" dirty="0">
                <a:solidFill>
                  <a:srgbClr val="070154"/>
                </a:solidFill>
                <a:latin typeface="IBM Plex Sans SemiBold"/>
                <a:ea typeface="IBM Plex Sans SemiBold"/>
                <a:cs typeface="IBM Plex Sans SemiBold"/>
              </a:endParaRPr>
            </a:p>
          </p:txBody>
        </p:sp>
      </p:grpSp>
      <p:grpSp>
        <p:nvGrpSpPr>
          <p:cNvPr id="36" name="node02"/>
          <p:cNvGrpSpPr/>
          <p:nvPr/>
        </p:nvGrpSpPr>
        <p:grpSpPr>
          <a:xfrm>
            <a:off x="3721100" y="1117600"/>
            <a:ext cx="88900" cy="2784037"/>
            <a:chOff x="3721100" y="1117600"/>
            <a:chExt cx="88900" cy="2784037"/>
          </a:xfrm>
        </p:grpSpPr>
        <p:sp>
          <p:nvSpPr>
            <p:cNvPr id="12" name="node02.segment-1"/>
            <p:cNvSpPr/>
            <p:nvPr/>
          </p:nvSpPr>
          <p:spPr>
            <a:xfrm>
              <a:off x="3765550" y="1117600"/>
              <a:ext cx="0" cy="2739587"/>
            </a:xfrm>
            <a:custGeom>
              <a:avLst/>
              <a:gdLst/>
              <a:ahLst/>
              <a:cxnLst/>
              <a:rect l="l" t="t" r="r" b="b"/>
              <a:pathLst>
                <a:path h="2739587">
                  <a:moveTo>
                    <a:pt x="0" y="2739587"/>
                  </a:moveTo>
                  <a:lnTo>
                    <a:pt x="0" y="0"/>
                  </a:lnTo>
                </a:path>
              </a:pathLst>
            </a:custGeom>
            <a:ln w="12700">
              <a:solidFill>
                <a:srgbClr val="0047FF"/>
              </a:solidFill>
              <a:prstDash val="solid"/>
            </a:ln>
          </p:spPr>
        </p:sp>
        <p:sp>
          <p:nvSpPr>
            <p:cNvPr id="13" name="node02.start-dot"/>
            <p:cNvSpPr/>
            <p:nvPr/>
          </p:nvSpPr>
          <p:spPr>
            <a:xfrm>
              <a:off x="3721100" y="3812737"/>
              <a:ext cx="88900" cy="88900"/>
            </a:xfrm>
            <a:prstGeom prst="ellipse">
              <a:avLst/>
            </a:prstGeom>
            <a:solidFill>
              <a:srgbClr val="0047FF"/>
            </a:solidFill>
            <a:ln>
              <a:noFill/>
            </a:ln>
          </p:spPr>
        </p:sp>
      </p:grpSp>
      <p:grpSp>
        <p:nvGrpSpPr>
          <p:cNvPr id="37" name="node03"/>
          <p:cNvGrpSpPr/>
          <p:nvPr/>
        </p:nvGrpSpPr>
        <p:grpSpPr>
          <a:xfrm>
            <a:off x="3879850" y="990600"/>
            <a:ext cx="2540000" cy="190500"/>
            <a:chOff x="3879850" y="990600"/>
            <a:chExt cx="2540000" cy="190500"/>
          </a:xfrm>
        </p:grpSpPr>
        <p:sp>
          <p:nvSpPr>
            <p:cNvPr id="14" name="node03.text"/>
            <p:cNvSpPr/>
            <p:nvPr/>
          </p:nvSpPr>
          <p:spPr>
            <a:xfrm>
              <a:off x="3879850" y="990600"/>
              <a:ext cx="2540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047FF"/>
                  </a:solidFill>
                  <a:latin typeface="IBM Plex Sans"/>
                  <a:ea typeface="IBM Plex Sans"/>
                  <a:cs typeface="IBM Plex Sans"/>
                </a:rPr>
                <a:t>Break-even in month 31</a:t>
              </a:r>
              <a:endParaRPr lang="en-US" sz="1100" spc="0" kern="0" b="0" i="0" dirty="0">
                <a:solidFill>
                  <a:srgbClr val="0047FF"/>
                </a:solidFill>
                <a:latin typeface="IBM Plex Sans"/>
                <a:ea typeface="IBM Plex Sans"/>
                <a:cs typeface="IBM Plex Sans"/>
              </a:endParaRPr>
            </a:p>
          </p:txBody>
        </p:sp>
      </p:grpSp>
      <p:grpSp>
        <p:nvGrpSpPr>
          <p:cNvPr id="38" name="node04"/>
          <p:cNvGrpSpPr/>
          <p:nvPr/>
        </p:nvGrpSpPr>
        <p:grpSpPr>
          <a:xfrm>
            <a:off x="3879850" y="1219200"/>
            <a:ext cx="2540000" cy="190500"/>
            <a:chOff x="3879850" y="1219200"/>
            <a:chExt cx="2540000" cy="190500"/>
          </a:xfrm>
        </p:grpSpPr>
        <p:sp>
          <p:nvSpPr>
            <p:cNvPr id="15" name="node04.text"/>
            <p:cNvSpPr/>
            <p:nvPr/>
          </p:nvSpPr>
          <p:spPr>
            <a:xfrm>
              <a:off x="3879850" y="1219200"/>
              <a:ext cx="2540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Value reaches $4.0M</a:t>
              </a:r>
              <a:endParaRPr lang="en-US" sz="1100" spc="0" kern="0" b="0" i="0" dirty="0">
                <a:solidFill>
                  <a:srgbClr val="50658E"/>
                </a:solidFill>
                <a:latin typeface="IBM Plex Sans"/>
                <a:ea typeface="IBM Plex Sans"/>
                <a:cs typeface="IBM Plex Sans"/>
              </a:endParaRPr>
            </a:p>
          </p:txBody>
        </p:sp>
      </p:grpSp>
      <p:grpSp>
        <p:nvGrpSpPr>
          <p:cNvPr id="39" name="node05"/>
          <p:cNvGrpSpPr/>
          <p:nvPr/>
        </p:nvGrpSpPr>
        <p:grpSpPr>
          <a:xfrm>
            <a:off x="8039100" y="1828800"/>
            <a:ext cx="3429000" cy="139700"/>
            <a:chOff x="8039100" y="1828800"/>
            <a:chExt cx="3429000" cy="139700"/>
          </a:xfrm>
        </p:grpSpPr>
        <p:sp>
          <p:nvSpPr>
            <p:cNvPr id="16" name="node05.text"/>
            <p:cNvSpPr/>
            <p:nvPr/>
          </p:nvSpPr>
          <p:spPr>
            <a:xfrm>
              <a:off x="8039100" y="18288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READING THE CURVES</a:t>
              </a:r>
              <a:endParaRPr lang="en-US" sz="800" spc="48" kern="0" b="0" i="0" dirty="0">
                <a:solidFill>
                  <a:srgbClr val="0047FF"/>
                </a:solidFill>
                <a:latin typeface="IBM Plex Mono Medium"/>
                <a:ea typeface="IBM Plex Mono Medium"/>
                <a:cs typeface="IBM Plex Mono Medium"/>
              </a:endParaRPr>
            </a:p>
          </p:txBody>
        </p:sp>
      </p:grpSp>
      <p:grpSp>
        <p:nvGrpSpPr>
          <p:cNvPr id="40" name="node06"/>
          <p:cNvGrpSpPr/>
          <p:nvPr/>
        </p:nvGrpSpPr>
        <p:grpSpPr>
          <a:xfrm>
            <a:off x="8039100" y="2133600"/>
            <a:ext cx="3429000" cy="723900"/>
            <a:chOff x="8039100" y="2133600"/>
            <a:chExt cx="3429000" cy="723900"/>
          </a:xfrm>
        </p:grpSpPr>
        <p:sp>
          <p:nvSpPr>
            <p:cNvPr id="17" name="node06.source-001.bullet"/>
            <p:cNvSpPr/>
            <p:nvPr/>
          </p:nvSpPr>
          <p:spPr>
            <a:xfrm>
              <a:off x="8039100" y="2222500"/>
              <a:ext cx="38100" cy="38100"/>
            </a:xfrm>
            <a:prstGeom prst="rect">
              <a:avLst/>
            </a:prstGeom>
            <a:solidFill>
              <a:srgbClr val="070154"/>
            </a:solidFill>
            <a:ln>
              <a:noFill/>
            </a:ln>
          </p:spPr>
        </p:sp>
        <p:sp>
          <p:nvSpPr>
            <p:cNvPr id="18" name="node06.source-001.text"/>
            <p:cNvSpPr/>
            <p:nvPr/>
          </p:nvSpPr>
          <p:spPr>
            <a:xfrm>
              <a:off x="8191500" y="2133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Spend peaks in year one at $0.6M a quarter</a:t>
              </a:r>
              <a:endParaRPr lang="en-US" sz="1200" spc="0" kern="0" b="0" i="0" dirty="0">
                <a:solidFill>
                  <a:srgbClr val="070154"/>
                </a:solidFill>
                <a:latin typeface="IBM Plex Sans"/>
                <a:ea typeface="IBM Plex Sans"/>
                <a:cs typeface="IBM Plex Sans"/>
              </a:endParaRPr>
            </a:p>
          </p:txBody>
        </p:sp>
        <p:sp>
          <p:nvSpPr>
            <p:cNvPr id="19" name="node06.source-002.bullet"/>
            <p:cNvSpPr/>
            <p:nvPr/>
          </p:nvSpPr>
          <p:spPr>
            <a:xfrm>
              <a:off x="8039100" y="2476500"/>
              <a:ext cx="38100" cy="38100"/>
            </a:xfrm>
            <a:prstGeom prst="rect">
              <a:avLst/>
            </a:prstGeom>
            <a:solidFill>
              <a:srgbClr val="070154"/>
            </a:solidFill>
            <a:ln>
              <a:noFill/>
            </a:ln>
          </p:spPr>
        </p:sp>
        <p:sp>
          <p:nvSpPr>
            <p:cNvPr id="20" name="node06.source-002.text"/>
            <p:cNvSpPr/>
            <p:nvPr/>
          </p:nvSpPr>
          <p:spPr>
            <a:xfrm>
              <a:off x="8191500" y="2387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Value ramps from $0.6M to $2.6M a year</a:t>
              </a:r>
              <a:endParaRPr lang="en-US" sz="1200" spc="0" kern="0" b="0" i="0" dirty="0">
                <a:solidFill>
                  <a:srgbClr val="070154"/>
                </a:solidFill>
                <a:latin typeface="IBM Plex Sans"/>
                <a:ea typeface="IBM Plex Sans"/>
                <a:cs typeface="IBM Plex Sans"/>
              </a:endParaRPr>
            </a:p>
          </p:txBody>
        </p:sp>
        <p:sp>
          <p:nvSpPr>
            <p:cNvPr id="21" name="node06.source-003.bullet"/>
            <p:cNvSpPr/>
            <p:nvPr/>
          </p:nvSpPr>
          <p:spPr>
            <a:xfrm>
              <a:off x="8039100" y="2730500"/>
              <a:ext cx="38100" cy="38100"/>
            </a:xfrm>
            <a:prstGeom prst="rect">
              <a:avLst/>
            </a:prstGeom>
            <a:solidFill>
              <a:srgbClr val="070154"/>
            </a:solidFill>
            <a:ln>
              <a:noFill/>
            </a:ln>
          </p:spPr>
        </p:sp>
        <p:sp>
          <p:nvSpPr>
            <p:cNvPr id="22" name="node06.source-003.text"/>
            <p:cNvSpPr/>
            <p:nvPr/>
          </p:nvSpPr>
          <p:spPr>
            <a:xfrm>
              <a:off x="8191500" y="26416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Spend stops after year three</a:t>
              </a:r>
              <a:endParaRPr lang="en-US" sz="1200" spc="0" kern="0" b="0" i="0" dirty="0">
                <a:solidFill>
                  <a:srgbClr val="070154"/>
                </a:solidFill>
                <a:latin typeface="IBM Plex Sans"/>
                <a:ea typeface="IBM Plex Sans"/>
                <a:cs typeface="IBM Plex Sans"/>
              </a:endParaRPr>
            </a:p>
          </p:txBody>
        </p:sp>
      </p:grpSp>
      <p:sp>
        <p:nvSpPr>
          <p:cNvPr id="23" name="node07"/>
          <p:cNvSpPr/>
          <p:nvPr/>
        </p:nvSpPr>
        <p:spPr>
          <a:xfrm>
            <a:off x="8039100" y="3581400"/>
            <a:ext cx="3429000" cy="9525"/>
          </a:xfrm>
          <a:prstGeom prst="rect">
            <a:avLst/>
          </a:prstGeom>
          <a:solidFill>
            <a:srgbClr val="CED7E6"/>
          </a:solidFill>
          <a:ln>
            <a:noFill/>
          </a:ln>
        </p:spPr>
      </p:sp>
      <p:grpSp>
        <p:nvGrpSpPr>
          <p:cNvPr id="41" name="node08"/>
          <p:cNvGrpSpPr/>
          <p:nvPr/>
        </p:nvGrpSpPr>
        <p:grpSpPr>
          <a:xfrm>
            <a:off x="8039100" y="3695700"/>
            <a:ext cx="1828800" cy="190500"/>
            <a:chOff x="8039100" y="3695700"/>
            <a:chExt cx="1828800" cy="190500"/>
          </a:xfrm>
        </p:grpSpPr>
        <p:sp>
          <p:nvSpPr>
            <p:cNvPr id="24" name="node08.text"/>
            <p:cNvSpPr/>
            <p:nvPr/>
          </p:nvSpPr>
          <p:spPr>
            <a:xfrm>
              <a:off x="8039100" y="3695700"/>
              <a:ext cx="1828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Total cost</a:t>
              </a:r>
              <a:endParaRPr lang="en-US" sz="1100" spc="0" kern="0" b="0" i="0" dirty="0">
                <a:solidFill>
                  <a:srgbClr val="50658E"/>
                </a:solidFill>
                <a:latin typeface="IBM Plex Sans"/>
                <a:ea typeface="IBM Plex Sans"/>
                <a:cs typeface="IBM Plex Sans"/>
              </a:endParaRPr>
            </a:p>
          </p:txBody>
        </p:sp>
      </p:grpSp>
      <p:grpSp>
        <p:nvGrpSpPr>
          <p:cNvPr id="42" name="node09"/>
          <p:cNvGrpSpPr/>
          <p:nvPr/>
        </p:nvGrpSpPr>
        <p:grpSpPr>
          <a:xfrm>
            <a:off x="9867900" y="3657600"/>
            <a:ext cx="1600200" cy="266700"/>
            <a:chOff x="9867900" y="3657600"/>
            <a:chExt cx="1600200" cy="266700"/>
          </a:xfrm>
        </p:grpSpPr>
        <p:sp>
          <p:nvSpPr>
            <p:cNvPr id="25" name="node09.text"/>
            <p:cNvSpPr/>
            <p:nvPr/>
          </p:nvSpPr>
          <p:spPr>
            <a:xfrm>
              <a:off x="9867900" y="36576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$4.2M</a:t>
              </a:r>
              <a:endParaRPr lang="en-US" sz="1600" spc="-16" kern="0" b="0" i="0" dirty="0">
                <a:solidFill>
                  <a:srgbClr val="070154"/>
                </a:solidFill>
                <a:latin typeface="IBM Plex Sans SemiBold"/>
                <a:ea typeface="IBM Plex Sans SemiBold"/>
                <a:cs typeface="IBM Plex Sans SemiBold"/>
              </a:endParaRPr>
            </a:p>
          </p:txBody>
        </p:sp>
      </p:grpSp>
      <p:sp>
        <p:nvSpPr>
          <p:cNvPr id="26" name="node10"/>
          <p:cNvSpPr/>
          <p:nvPr/>
        </p:nvSpPr>
        <p:spPr>
          <a:xfrm>
            <a:off x="8039100" y="4114800"/>
            <a:ext cx="3429000" cy="9525"/>
          </a:xfrm>
          <a:prstGeom prst="rect">
            <a:avLst/>
          </a:prstGeom>
          <a:solidFill>
            <a:srgbClr val="CED7E6"/>
          </a:solidFill>
          <a:ln>
            <a:noFill/>
          </a:ln>
        </p:spPr>
      </p:sp>
      <p:grpSp>
        <p:nvGrpSpPr>
          <p:cNvPr id="43" name="node11"/>
          <p:cNvGrpSpPr/>
          <p:nvPr/>
        </p:nvGrpSpPr>
        <p:grpSpPr>
          <a:xfrm>
            <a:off x="8039100" y="4229100"/>
            <a:ext cx="1828800" cy="190500"/>
            <a:chOff x="8039100" y="4229100"/>
            <a:chExt cx="1828800" cy="190500"/>
          </a:xfrm>
        </p:grpSpPr>
        <p:sp>
          <p:nvSpPr>
            <p:cNvPr id="27" name="node11.text"/>
            <p:cNvSpPr/>
            <p:nvPr/>
          </p:nvSpPr>
          <p:spPr>
            <a:xfrm>
              <a:off x="8039100" y="4229100"/>
              <a:ext cx="1828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Five-year value</a:t>
              </a:r>
              <a:endParaRPr lang="en-US" sz="1100" spc="0" kern="0" b="0" i="0" dirty="0">
                <a:solidFill>
                  <a:srgbClr val="50658E"/>
                </a:solidFill>
                <a:latin typeface="IBM Plex Sans"/>
                <a:ea typeface="IBM Plex Sans"/>
                <a:cs typeface="IBM Plex Sans"/>
              </a:endParaRPr>
            </a:p>
          </p:txBody>
        </p:sp>
      </p:grpSp>
      <p:grpSp>
        <p:nvGrpSpPr>
          <p:cNvPr id="44" name="node12"/>
          <p:cNvGrpSpPr/>
          <p:nvPr/>
        </p:nvGrpSpPr>
        <p:grpSpPr>
          <a:xfrm>
            <a:off x="9867900" y="4191000"/>
            <a:ext cx="1600200" cy="266700"/>
            <a:chOff x="9867900" y="4191000"/>
            <a:chExt cx="1600200" cy="266700"/>
          </a:xfrm>
        </p:grpSpPr>
        <p:sp>
          <p:nvSpPr>
            <p:cNvPr id="28" name="node12.text"/>
            <p:cNvSpPr/>
            <p:nvPr/>
          </p:nvSpPr>
          <p:spPr>
            <a:xfrm>
              <a:off x="9867900" y="41910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$10.2M</a:t>
              </a:r>
              <a:endParaRPr lang="en-US" sz="1600" spc="-16" kern="0" b="0" i="0" dirty="0">
                <a:solidFill>
                  <a:srgbClr val="070154"/>
                </a:solidFill>
                <a:latin typeface="IBM Plex Sans SemiBold"/>
                <a:ea typeface="IBM Plex Sans SemiBold"/>
                <a:cs typeface="IBM Plex Sans SemiBold"/>
              </a:endParaRPr>
            </a:p>
          </p:txBody>
        </p:sp>
      </p:grpSp>
      <p:sp>
        <p:nvSpPr>
          <p:cNvPr id="29" name="node13"/>
          <p:cNvSpPr/>
          <p:nvPr/>
        </p:nvSpPr>
        <p:spPr>
          <a:xfrm>
            <a:off x="8039100" y="4648200"/>
            <a:ext cx="3429000" cy="9525"/>
          </a:xfrm>
          <a:prstGeom prst="rect">
            <a:avLst/>
          </a:prstGeom>
          <a:solidFill>
            <a:srgbClr val="CED7E6"/>
          </a:solidFill>
          <a:ln>
            <a:noFill/>
          </a:ln>
        </p:spPr>
      </p:sp>
      <p:grpSp>
        <p:nvGrpSpPr>
          <p:cNvPr id="45" name="node14"/>
          <p:cNvGrpSpPr/>
          <p:nvPr/>
        </p:nvGrpSpPr>
        <p:grpSpPr>
          <a:xfrm>
            <a:off x="8039100" y="4762500"/>
            <a:ext cx="1828800" cy="190500"/>
            <a:chOff x="8039100" y="4762500"/>
            <a:chExt cx="1828800" cy="190500"/>
          </a:xfrm>
        </p:grpSpPr>
        <p:sp>
          <p:nvSpPr>
            <p:cNvPr id="30" name="node14.text"/>
            <p:cNvSpPr/>
            <p:nvPr/>
          </p:nvSpPr>
          <p:spPr>
            <a:xfrm>
              <a:off x="8039100" y="4762500"/>
              <a:ext cx="1828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Net value</a:t>
              </a:r>
              <a:endParaRPr lang="en-US" sz="1100" spc="0" kern="0" b="0" i="0" dirty="0">
                <a:solidFill>
                  <a:srgbClr val="50658E"/>
                </a:solidFill>
                <a:latin typeface="IBM Plex Sans"/>
                <a:ea typeface="IBM Plex Sans"/>
                <a:cs typeface="IBM Plex Sans"/>
              </a:endParaRPr>
            </a:p>
          </p:txBody>
        </p:sp>
      </p:grpSp>
      <p:grpSp>
        <p:nvGrpSpPr>
          <p:cNvPr id="46" name="node15"/>
          <p:cNvGrpSpPr/>
          <p:nvPr/>
        </p:nvGrpSpPr>
        <p:grpSpPr>
          <a:xfrm>
            <a:off x="9867900" y="4724400"/>
            <a:ext cx="1600200" cy="266700"/>
            <a:chOff x="9867900" y="4724400"/>
            <a:chExt cx="1600200" cy="266700"/>
          </a:xfrm>
        </p:grpSpPr>
        <p:sp>
          <p:nvSpPr>
            <p:cNvPr id="31" name="node15.text"/>
            <p:cNvSpPr/>
            <p:nvPr/>
          </p:nvSpPr>
          <p:spPr>
            <a:xfrm>
              <a:off x="9867900" y="47244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$6.0M</a:t>
              </a:r>
              <a:endParaRPr lang="en-US" sz="1600" spc="-16" kern="0" b="0" i="0" dirty="0">
                <a:solidFill>
                  <a:srgbClr val="070154"/>
                </a:solidFill>
                <a:latin typeface="IBM Plex Sans SemiBold"/>
                <a:ea typeface="IBM Plex Sans SemiBold"/>
                <a:cs typeface="IBM Plex Sans SemiBold"/>
              </a:endParaRPr>
            </a:p>
          </p:txBody>
        </p:sp>
      </p:grpSp>
      <p:sp>
        <p:nvSpPr>
          <p:cNvPr id="32" name="node16"/>
          <p:cNvSpPr/>
          <p:nvPr/>
        </p:nvSpPr>
        <p:spPr>
          <a:xfrm>
            <a:off x="8039100" y="5067300"/>
            <a:ext cx="3429000" cy="9525"/>
          </a:xfrm>
          <a:prstGeom prst="rect">
            <a:avLst/>
          </a:prstGeom>
          <a:solidFill>
            <a:srgbClr val="CED7E6"/>
          </a:solidFill>
          <a:ln>
            <a:noFill/>
          </a:ln>
        </p:spPr>
      </p:sp>
      <p:grpSp>
        <p:nvGrpSpPr>
          <p:cNvPr id="47" name="node17"/>
          <p:cNvGrpSpPr/>
          <p:nvPr/>
        </p:nvGrpSpPr>
        <p:grpSpPr>
          <a:xfrm>
            <a:off x="8039100" y="5181600"/>
            <a:ext cx="1828800" cy="190500"/>
            <a:chOff x="8039100" y="5181600"/>
            <a:chExt cx="1828800" cy="190500"/>
          </a:xfrm>
        </p:grpSpPr>
        <p:sp>
          <p:nvSpPr>
            <p:cNvPr id="33" name="node17.text"/>
            <p:cNvSpPr/>
            <p:nvPr/>
          </p:nvSpPr>
          <p:spPr>
            <a:xfrm>
              <a:off x="8039100" y="5181600"/>
              <a:ext cx="1828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Payback</a:t>
              </a:r>
              <a:endParaRPr lang="en-US" sz="1100" spc="0" kern="0" b="0" i="0" dirty="0">
                <a:solidFill>
                  <a:srgbClr val="50658E"/>
                </a:solidFill>
                <a:latin typeface="IBM Plex Sans"/>
                <a:ea typeface="IBM Plex Sans"/>
                <a:cs typeface="IBM Plex Sans"/>
              </a:endParaRPr>
            </a:p>
          </p:txBody>
        </p:sp>
      </p:grpSp>
      <p:grpSp>
        <p:nvGrpSpPr>
          <p:cNvPr id="48" name="node18"/>
          <p:cNvGrpSpPr/>
          <p:nvPr/>
        </p:nvGrpSpPr>
        <p:grpSpPr>
          <a:xfrm>
            <a:off x="9867900" y="5143500"/>
            <a:ext cx="1600200" cy="266700"/>
            <a:chOff x="9867900" y="5143500"/>
            <a:chExt cx="1600200" cy="266700"/>
          </a:xfrm>
        </p:grpSpPr>
        <p:sp>
          <p:nvSpPr>
            <p:cNvPr id="34" name="node18.text"/>
            <p:cNvSpPr/>
            <p:nvPr/>
          </p:nvSpPr>
          <p:spPr>
            <a:xfrm>
              <a:off x="9867900" y="51435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month 31</a:t>
              </a:r>
              <a:endParaRPr lang="en-US" sz="1600" spc="-16"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ource-59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Hard and capacity value make up 96% of the case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program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223</a:t>
            </a:fld>
            <a:endParaRPr lang="en-US" sz="700" spc="0" kern="0" b="0" i="0" dirty="0">
              <a:solidFill>
                <a:srgbClr val="070154"/>
              </a:solidFill>
              <a:latin typeface="IBM Plex Mono SemiBold"/>
              <a:ea typeface="IBM Plex Mono SemiBold"/>
              <a:cs typeface="IBM Plex Mono SemiBold"/>
            </a:endParaRPr>
          </a:p>
        </p:txBody>
      </p:sp>
      <p:grpSp>
        <p:nvGrpSpPr>
          <p:cNvPr id="60" name="node01"/>
          <p:cNvGrpSpPr/>
          <p:nvPr/>
        </p:nvGrpSpPr>
        <p:grpSpPr>
          <a:xfrm>
            <a:off x="723900" y="1600200"/>
            <a:ext cx="5943600" cy="457200"/>
            <a:chOff x="723900" y="1600200"/>
            <a:chExt cx="5943600" cy="457200"/>
          </a:xfrm>
        </p:grpSpPr>
        <p:sp>
          <p:nvSpPr>
            <p:cNvPr id="7" name="node01.surface"/>
            <p:cNvSpPr/>
            <p:nvPr/>
          </p:nvSpPr>
          <p:spPr>
            <a:xfrm>
              <a:off x="723900" y="1600200"/>
              <a:ext cx="5943600" cy="457200"/>
            </a:xfrm>
            <a:prstGeom prst="rect">
              <a:avLst/>
            </a:prstGeom>
            <a:solidFill>
              <a:srgbClr val="070154"/>
            </a:solidFill>
            <a:ln>
              <a:noFill/>
            </a:ln>
          </p:spPr>
        </p:sp>
        <p:sp>
          <p:nvSpPr>
            <p:cNvPr id="8" name="node01.text"/>
            <p:cNvSpPr/>
            <p:nvPr/>
          </p:nvSpPr>
          <p:spPr>
            <a:xfrm>
              <a:off x="876300" y="1733550"/>
              <a:ext cx="5638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Hard value $1.5M</a:t>
              </a:r>
              <a:endParaRPr lang="en-US" sz="1100" spc="0" kern="0" b="0" i="0" dirty="0">
                <a:solidFill>
                  <a:srgbClr val="FFFFFF"/>
                </a:solidFill>
                <a:latin typeface="IBM Plex Sans"/>
                <a:ea typeface="IBM Plex Sans"/>
                <a:cs typeface="IBM Plex Sans"/>
              </a:endParaRPr>
            </a:p>
          </p:txBody>
        </p:sp>
      </p:grpSp>
      <p:grpSp>
        <p:nvGrpSpPr>
          <p:cNvPr id="61" name="node02"/>
          <p:cNvGrpSpPr/>
          <p:nvPr/>
        </p:nvGrpSpPr>
        <p:grpSpPr>
          <a:xfrm>
            <a:off x="6896100" y="1600200"/>
            <a:ext cx="4114800" cy="457200"/>
            <a:chOff x="6896100" y="1600200"/>
            <a:chExt cx="4114800" cy="457200"/>
          </a:xfrm>
        </p:grpSpPr>
        <p:sp>
          <p:nvSpPr>
            <p:cNvPr id="9" name="node02.surface"/>
            <p:cNvSpPr/>
            <p:nvPr/>
          </p:nvSpPr>
          <p:spPr>
            <a:xfrm>
              <a:off x="6896100" y="1600200"/>
              <a:ext cx="4114800" cy="457200"/>
            </a:xfrm>
            <a:prstGeom prst="rect">
              <a:avLst/>
            </a:prstGeom>
            <a:solidFill>
              <a:srgbClr val="CED7E6"/>
            </a:solidFill>
            <a:ln>
              <a:noFill/>
            </a:ln>
          </p:spPr>
        </p:sp>
        <p:sp>
          <p:nvSpPr>
            <p:cNvPr id="10" name="node02.text"/>
            <p:cNvSpPr/>
            <p:nvPr/>
          </p:nvSpPr>
          <p:spPr>
            <a:xfrm>
              <a:off x="7048500" y="1733550"/>
              <a:ext cx="38100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Capacity value $1.0M</a:t>
              </a:r>
              <a:endParaRPr lang="en-US" sz="1100" spc="0" kern="0" b="0" i="0" dirty="0">
                <a:solidFill>
                  <a:srgbClr val="070154"/>
                </a:solidFill>
                <a:latin typeface="IBM Plex Sans"/>
                <a:ea typeface="IBM Plex Sans"/>
                <a:cs typeface="IBM Plex Sans"/>
              </a:endParaRPr>
            </a:p>
          </p:txBody>
        </p:sp>
      </p:grpSp>
      <p:grpSp>
        <p:nvGrpSpPr>
          <p:cNvPr id="62" name="node03"/>
          <p:cNvGrpSpPr/>
          <p:nvPr/>
        </p:nvGrpSpPr>
        <p:grpSpPr>
          <a:xfrm>
            <a:off x="11239500" y="1600200"/>
            <a:ext cx="228600" cy="457200"/>
            <a:chOff x="11239500" y="1600200"/>
            <a:chExt cx="228600" cy="457200"/>
          </a:xfrm>
        </p:grpSpPr>
        <p:sp>
          <p:nvSpPr>
            <p:cNvPr id="11" name="node03.surface"/>
            <p:cNvSpPr/>
            <p:nvPr/>
          </p:nvSpPr>
          <p:spPr>
            <a:xfrm>
              <a:off x="11239500" y="1600200"/>
              <a:ext cx="228600" cy="457200"/>
            </a:xfrm>
            <a:prstGeom prst="rect">
              <a:avLst/>
            </a:prstGeom>
            <a:solidFill>
              <a:srgbClr val="F900D3"/>
            </a:solidFill>
            <a:ln>
              <a:noFill/>
            </a:ln>
          </p:spPr>
        </p:sp>
      </p:grpSp>
      <p:grpSp>
        <p:nvGrpSpPr>
          <p:cNvPr id="63" name="node04"/>
          <p:cNvGrpSpPr/>
          <p:nvPr/>
        </p:nvGrpSpPr>
        <p:grpSpPr>
          <a:xfrm>
            <a:off x="723900" y="2362200"/>
            <a:ext cx="2514600" cy="139700"/>
            <a:chOff x="723900" y="2362200"/>
            <a:chExt cx="2514600" cy="139700"/>
          </a:xfrm>
        </p:grpSpPr>
        <p:sp>
          <p:nvSpPr>
            <p:cNvPr id="12" name="node04.text"/>
            <p:cNvSpPr/>
            <p:nvPr/>
          </p:nvSpPr>
          <p:spPr>
            <a:xfrm>
              <a:off x="723900" y="2362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HARD VALUE</a:t>
              </a:r>
              <a:endParaRPr lang="en-US" sz="800" spc="48" kern="0" b="0" i="0" dirty="0">
                <a:solidFill>
                  <a:srgbClr val="0047FF"/>
                </a:solidFill>
                <a:latin typeface="IBM Plex Mono Medium"/>
                <a:ea typeface="IBM Plex Mono Medium"/>
                <a:cs typeface="IBM Plex Mono Medium"/>
              </a:endParaRPr>
            </a:p>
          </p:txBody>
        </p:sp>
      </p:grpSp>
      <p:grpSp>
        <p:nvGrpSpPr>
          <p:cNvPr id="64" name="node05"/>
          <p:cNvGrpSpPr/>
          <p:nvPr/>
        </p:nvGrpSpPr>
        <p:grpSpPr>
          <a:xfrm>
            <a:off x="723900" y="2590800"/>
            <a:ext cx="2514600" cy="382461"/>
            <a:chOff x="723900" y="2590800"/>
            <a:chExt cx="2514600" cy="382461"/>
          </a:xfrm>
        </p:grpSpPr>
        <p:sp>
          <p:nvSpPr>
            <p:cNvPr id="13" name="node05.text"/>
            <p:cNvSpPr/>
            <p:nvPr/>
          </p:nvSpPr>
          <p:spPr>
            <a:xfrm>
              <a:off x="723900" y="2590800"/>
              <a:ext cx="25146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070154"/>
                  </a:solidFill>
                  <a:latin typeface="IBM Plex Mono SemiBold"/>
                  <a:ea typeface="IBM Plex Mono SemiBold"/>
                  <a:cs typeface="IBM Plex Mono SemiBold"/>
                </a:rPr>
                <a:t>$1.5M</a:t>
              </a:r>
              <a:endParaRPr lang="en-US" sz="3000" spc="-60" kern="0" b="0" i="0" dirty="0">
                <a:solidFill>
                  <a:srgbClr val="070154"/>
                </a:solidFill>
                <a:latin typeface="IBM Plex Mono SemiBold"/>
                <a:ea typeface="IBM Plex Mono SemiBold"/>
                <a:cs typeface="IBM Plex Mono SemiBold"/>
              </a:endParaRPr>
            </a:p>
          </p:txBody>
        </p:sp>
      </p:grpSp>
      <p:grpSp>
        <p:nvGrpSpPr>
          <p:cNvPr id="65" name="node06"/>
          <p:cNvGrpSpPr/>
          <p:nvPr/>
        </p:nvGrpSpPr>
        <p:grpSpPr>
          <a:xfrm>
            <a:off x="723900" y="3200400"/>
            <a:ext cx="2514600" cy="190500"/>
            <a:chOff x="723900" y="3200400"/>
            <a:chExt cx="2514600" cy="190500"/>
          </a:xfrm>
        </p:grpSpPr>
        <p:sp>
          <p:nvSpPr>
            <p:cNvPr id="14" name="node06.text"/>
            <p:cNvSpPr/>
            <p:nvPr/>
          </p:nvSpPr>
          <p:spPr>
            <a:xfrm>
              <a:off x="723900" y="32004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Cash</a:t>
              </a:r>
              <a:endParaRPr lang="en-US" sz="1100" spc="0" kern="0" b="0" i="0" dirty="0">
                <a:solidFill>
                  <a:srgbClr val="50658E"/>
                </a:solidFill>
                <a:latin typeface="IBM Plex Sans"/>
                <a:ea typeface="IBM Plex Sans"/>
                <a:cs typeface="IBM Plex Sans"/>
              </a:endParaRPr>
            </a:p>
          </p:txBody>
        </p:sp>
      </p:grpSp>
      <p:sp>
        <p:nvSpPr>
          <p:cNvPr id="15" name="node07"/>
          <p:cNvSpPr/>
          <p:nvPr/>
        </p:nvSpPr>
        <p:spPr>
          <a:xfrm>
            <a:off x="723900" y="3505200"/>
            <a:ext cx="2514600" cy="9525"/>
          </a:xfrm>
          <a:prstGeom prst="rect">
            <a:avLst/>
          </a:prstGeom>
          <a:solidFill>
            <a:srgbClr val="CED7E6"/>
          </a:solidFill>
          <a:ln>
            <a:noFill/>
          </a:ln>
        </p:spPr>
      </p:sp>
      <p:grpSp>
        <p:nvGrpSpPr>
          <p:cNvPr id="66" name="node08"/>
          <p:cNvGrpSpPr/>
          <p:nvPr/>
        </p:nvGrpSpPr>
        <p:grpSpPr>
          <a:xfrm>
            <a:off x="723900" y="3657600"/>
            <a:ext cx="2514600" cy="723900"/>
            <a:chOff x="723900" y="3657600"/>
            <a:chExt cx="2514600" cy="723900"/>
          </a:xfrm>
        </p:grpSpPr>
        <p:sp>
          <p:nvSpPr>
            <p:cNvPr id="16" name="node08.source-001.bullet"/>
            <p:cNvSpPr/>
            <p:nvPr/>
          </p:nvSpPr>
          <p:spPr>
            <a:xfrm>
              <a:off x="723900" y="3746500"/>
              <a:ext cx="38100" cy="38100"/>
            </a:xfrm>
            <a:prstGeom prst="rect">
              <a:avLst/>
            </a:prstGeom>
            <a:solidFill>
              <a:srgbClr val="070154"/>
            </a:solidFill>
            <a:ln>
              <a:noFill/>
            </a:ln>
          </p:spPr>
        </p:sp>
        <p:sp>
          <p:nvSpPr>
            <p:cNvPr id="17" name="node08.source-001.text"/>
            <p:cNvSpPr/>
            <p:nvPr/>
          </p:nvSpPr>
          <p:spPr>
            <a:xfrm>
              <a:off x="876300" y="3657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Revenue cycle: denials recovered</a:t>
              </a:r>
              <a:endParaRPr lang="en-US" sz="1200" spc="0" kern="0" b="0" i="0" dirty="0">
                <a:solidFill>
                  <a:srgbClr val="070154"/>
                </a:solidFill>
                <a:latin typeface="IBM Plex Sans"/>
                <a:ea typeface="IBM Plex Sans"/>
                <a:cs typeface="IBM Plex Sans"/>
              </a:endParaRPr>
            </a:p>
          </p:txBody>
        </p:sp>
        <p:sp>
          <p:nvSpPr>
            <p:cNvPr id="18" name="node08.source-002.bullet"/>
            <p:cNvSpPr/>
            <p:nvPr/>
          </p:nvSpPr>
          <p:spPr>
            <a:xfrm>
              <a:off x="723900" y="4000500"/>
              <a:ext cx="38100" cy="38100"/>
            </a:xfrm>
            <a:prstGeom prst="rect">
              <a:avLst/>
            </a:prstGeom>
            <a:solidFill>
              <a:srgbClr val="070154"/>
            </a:solidFill>
            <a:ln>
              <a:noFill/>
            </a:ln>
          </p:spPr>
        </p:sp>
        <p:sp>
          <p:nvSpPr>
            <p:cNvPr id="19" name="node08.source-002.text"/>
            <p:cNvSpPr/>
            <p:nvPr/>
          </p:nvSpPr>
          <p:spPr>
            <a:xfrm>
              <a:off x="876300" y="3911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Procure-to-pay: contract savings</a:t>
              </a:r>
              <a:endParaRPr lang="en-US" sz="1200" spc="0" kern="0" b="0" i="0" dirty="0">
                <a:solidFill>
                  <a:srgbClr val="070154"/>
                </a:solidFill>
                <a:latin typeface="IBM Plex Sans"/>
                <a:ea typeface="IBM Plex Sans"/>
                <a:cs typeface="IBM Plex Sans"/>
              </a:endParaRPr>
            </a:p>
          </p:txBody>
        </p:sp>
        <p:sp>
          <p:nvSpPr>
            <p:cNvPr id="20" name="node08.source-003.bullet"/>
            <p:cNvSpPr/>
            <p:nvPr/>
          </p:nvSpPr>
          <p:spPr>
            <a:xfrm>
              <a:off x="723900" y="4254500"/>
              <a:ext cx="38100" cy="38100"/>
            </a:xfrm>
            <a:prstGeom prst="rect">
              <a:avLst/>
            </a:prstGeom>
            <a:solidFill>
              <a:srgbClr val="070154"/>
            </a:solidFill>
            <a:ln>
              <a:noFill/>
            </a:ln>
          </p:spPr>
        </p:sp>
        <p:sp>
          <p:nvSpPr>
            <p:cNvPr id="21" name="node08.source-003.text"/>
            <p:cNvSpPr/>
            <p:nvPr/>
          </p:nvSpPr>
          <p:spPr>
            <a:xfrm>
              <a:off x="876300" y="4165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Rework: avoided write-offs</a:t>
              </a:r>
              <a:endParaRPr lang="en-US" sz="1200" spc="0" kern="0" b="0" i="0" dirty="0">
                <a:solidFill>
                  <a:srgbClr val="070154"/>
                </a:solidFill>
                <a:latin typeface="IBM Plex Sans"/>
                <a:ea typeface="IBM Plex Sans"/>
                <a:cs typeface="IBM Plex Sans"/>
              </a:endParaRPr>
            </a:p>
          </p:txBody>
        </p:sp>
      </p:grpSp>
      <p:grpSp>
        <p:nvGrpSpPr>
          <p:cNvPr id="67" name="node09"/>
          <p:cNvGrpSpPr/>
          <p:nvPr/>
        </p:nvGrpSpPr>
        <p:grpSpPr>
          <a:xfrm>
            <a:off x="723900" y="5257800"/>
            <a:ext cx="2514600" cy="457200"/>
            <a:chOff x="723900" y="5257800"/>
            <a:chExt cx="2514600" cy="457200"/>
          </a:xfrm>
        </p:grpSpPr>
        <p:sp>
          <p:nvSpPr>
            <p:cNvPr id="22" name="node09.surface"/>
            <p:cNvSpPr/>
            <p:nvPr/>
          </p:nvSpPr>
          <p:spPr>
            <a:xfrm>
              <a:off x="723900" y="5257800"/>
              <a:ext cx="2514600" cy="457200"/>
            </a:xfrm>
            <a:prstGeom prst="rect">
              <a:avLst/>
            </a:prstGeom>
            <a:solidFill>
              <a:srgbClr val="CED7E6"/>
            </a:solidFill>
            <a:ln>
              <a:noFill/>
            </a:ln>
          </p:spPr>
        </p:sp>
        <p:sp>
          <p:nvSpPr>
            <p:cNvPr id="23" name="node09.text"/>
            <p:cNvSpPr/>
            <p:nvPr/>
          </p:nvSpPr>
          <p:spPr>
            <a:xfrm>
              <a:off x="876300" y="5391150"/>
              <a:ext cx="2209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Counted in ROI</a:t>
              </a:r>
              <a:endParaRPr lang="en-US" sz="1100" spc="0" kern="0" b="0" i="0" dirty="0">
                <a:solidFill>
                  <a:srgbClr val="070154"/>
                </a:solidFill>
                <a:latin typeface="IBM Plex Sans"/>
                <a:ea typeface="IBM Plex Sans"/>
                <a:cs typeface="IBM Plex Sans"/>
              </a:endParaRPr>
            </a:p>
          </p:txBody>
        </p:sp>
      </p:grpSp>
      <p:grpSp>
        <p:nvGrpSpPr>
          <p:cNvPr id="68" name="node10"/>
          <p:cNvGrpSpPr/>
          <p:nvPr/>
        </p:nvGrpSpPr>
        <p:grpSpPr>
          <a:xfrm>
            <a:off x="3467100" y="2362200"/>
            <a:ext cx="2514600" cy="139700"/>
            <a:chOff x="3467100" y="2362200"/>
            <a:chExt cx="2514600" cy="139700"/>
          </a:xfrm>
        </p:grpSpPr>
        <p:sp>
          <p:nvSpPr>
            <p:cNvPr id="24" name="node10.text"/>
            <p:cNvSpPr/>
            <p:nvPr/>
          </p:nvSpPr>
          <p:spPr>
            <a:xfrm>
              <a:off x="3467100" y="2362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CAPACITY VALUE</a:t>
              </a:r>
              <a:endParaRPr lang="en-US" sz="800" spc="48" kern="0" b="0" i="0" dirty="0">
                <a:solidFill>
                  <a:srgbClr val="0047FF"/>
                </a:solidFill>
                <a:latin typeface="IBM Plex Mono Medium"/>
                <a:ea typeface="IBM Plex Mono Medium"/>
                <a:cs typeface="IBM Plex Mono Medium"/>
              </a:endParaRPr>
            </a:p>
          </p:txBody>
        </p:sp>
      </p:grpSp>
      <p:grpSp>
        <p:nvGrpSpPr>
          <p:cNvPr id="69" name="node11"/>
          <p:cNvGrpSpPr/>
          <p:nvPr/>
        </p:nvGrpSpPr>
        <p:grpSpPr>
          <a:xfrm>
            <a:off x="3467100" y="2590800"/>
            <a:ext cx="2514600" cy="382461"/>
            <a:chOff x="3467100" y="2590800"/>
            <a:chExt cx="2514600" cy="382461"/>
          </a:xfrm>
        </p:grpSpPr>
        <p:sp>
          <p:nvSpPr>
            <p:cNvPr id="25" name="node11.text"/>
            <p:cNvSpPr/>
            <p:nvPr/>
          </p:nvSpPr>
          <p:spPr>
            <a:xfrm>
              <a:off x="3467100" y="2590800"/>
              <a:ext cx="25146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070154"/>
                  </a:solidFill>
                  <a:latin typeface="IBM Plex Mono SemiBold"/>
                  <a:ea typeface="IBM Plex Mono SemiBold"/>
                  <a:cs typeface="IBM Plex Mono SemiBold"/>
                </a:rPr>
                <a:t>$1.0M</a:t>
              </a:r>
              <a:endParaRPr lang="en-US" sz="3000" spc="-60" kern="0" b="0" i="0" dirty="0">
                <a:solidFill>
                  <a:srgbClr val="070154"/>
                </a:solidFill>
                <a:latin typeface="IBM Plex Mono SemiBold"/>
                <a:ea typeface="IBM Plex Mono SemiBold"/>
                <a:cs typeface="IBM Plex Mono SemiBold"/>
              </a:endParaRPr>
            </a:p>
          </p:txBody>
        </p:sp>
      </p:grpSp>
      <p:grpSp>
        <p:nvGrpSpPr>
          <p:cNvPr id="70" name="node12"/>
          <p:cNvGrpSpPr/>
          <p:nvPr/>
        </p:nvGrpSpPr>
        <p:grpSpPr>
          <a:xfrm>
            <a:off x="3467100" y="3200400"/>
            <a:ext cx="2514600" cy="190500"/>
            <a:chOff x="3467100" y="3200400"/>
            <a:chExt cx="2514600" cy="190500"/>
          </a:xfrm>
        </p:grpSpPr>
        <p:sp>
          <p:nvSpPr>
            <p:cNvPr id="26" name="node12.text"/>
            <p:cNvSpPr/>
            <p:nvPr/>
          </p:nvSpPr>
          <p:spPr>
            <a:xfrm>
              <a:off x="3467100" y="32004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Redeployed time</a:t>
              </a:r>
              <a:endParaRPr lang="en-US" sz="1100" spc="0" kern="0" b="0" i="0" dirty="0">
                <a:solidFill>
                  <a:srgbClr val="50658E"/>
                </a:solidFill>
                <a:latin typeface="IBM Plex Sans"/>
                <a:ea typeface="IBM Plex Sans"/>
                <a:cs typeface="IBM Plex Sans"/>
              </a:endParaRPr>
            </a:p>
          </p:txBody>
        </p:sp>
      </p:grpSp>
      <p:sp>
        <p:nvSpPr>
          <p:cNvPr id="27" name="node13"/>
          <p:cNvSpPr/>
          <p:nvPr/>
        </p:nvSpPr>
        <p:spPr>
          <a:xfrm>
            <a:off x="3467100" y="3505200"/>
            <a:ext cx="2514600" cy="9525"/>
          </a:xfrm>
          <a:prstGeom prst="rect">
            <a:avLst/>
          </a:prstGeom>
          <a:solidFill>
            <a:srgbClr val="CED7E6"/>
          </a:solidFill>
          <a:ln>
            <a:noFill/>
          </a:ln>
        </p:spPr>
      </p:sp>
      <p:grpSp>
        <p:nvGrpSpPr>
          <p:cNvPr id="71" name="node14"/>
          <p:cNvGrpSpPr/>
          <p:nvPr/>
        </p:nvGrpSpPr>
        <p:grpSpPr>
          <a:xfrm>
            <a:off x="3467100" y="3657600"/>
            <a:ext cx="2514600" cy="723900"/>
            <a:chOff x="3467100" y="3657600"/>
            <a:chExt cx="2514600" cy="723900"/>
          </a:xfrm>
        </p:grpSpPr>
        <p:sp>
          <p:nvSpPr>
            <p:cNvPr id="28" name="node14.source-001.bullet"/>
            <p:cNvSpPr/>
            <p:nvPr/>
          </p:nvSpPr>
          <p:spPr>
            <a:xfrm>
              <a:off x="3467100" y="3746500"/>
              <a:ext cx="38100" cy="38100"/>
            </a:xfrm>
            <a:prstGeom prst="rect">
              <a:avLst/>
            </a:prstGeom>
            <a:solidFill>
              <a:srgbClr val="070154"/>
            </a:solidFill>
            <a:ln>
              <a:noFill/>
            </a:ln>
          </p:spPr>
        </p:sp>
        <p:sp>
          <p:nvSpPr>
            <p:cNvPr id="29" name="node14.source-001.text"/>
            <p:cNvSpPr/>
            <p:nvPr/>
          </p:nvSpPr>
          <p:spPr>
            <a:xfrm>
              <a:off x="3619500" y="3657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38,000 hours a year freed</a:t>
              </a:r>
              <a:endParaRPr lang="en-US" sz="1200" spc="0" kern="0" b="0" i="0" dirty="0">
                <a:solidFill>
                  <a:srgbClr val="070154"/>
                </a:solidFill>
                <a:latin typeface="IBM Plex Sans"/>
                <a:ea typeface="IBM Plex Sans"/>
                <a:cs typeface="IBM Plex Sans"/>
              </a:endParaRPr>
            </a:p>
          </p:txBody>
        </p:sp>
        <p:sp>
          <p:nvSpPr>
            <p:cNvPr id="30" name="node14.source-002.bullet"/>
            <p:cNvSpPr/>
            <p:nvPr/>
          </p:nvSpPr>
          <p:spPr>
            <a:xfrm>
              <a:off x="3467100" y="4000500"/>
              <a:ext cx="38100" cy="38100"/>
            </a:xfrm>
            <a:prstGeom prst="rect">
              <a:avLst/>
            </a:prstGeom>
            <a:solidFill>
              <a:srgbClr val="070154"/>
            </a:solidFill>
            <a:ln>
              <a:noFill/>
            </a:ln>
          </p:spPr>
        </p:sp>
        <p:sp>
          <p:nvSpPr>
            <p:cNvPr id="31" name="node14.source-002.text"/>
            <p:cNvSpPr/>
            <p:nvPr/>
          </p:nvSpPr>
          <p:spPr>
            <a:xfrm>
              <a:off x="3619500" y="3911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Valued at loaded cost</a:t>
              </a:r>
              <a:endParaRPr lang="en-US" sz="1200" spc="0" kern="0" b="0" i="0" dirty="0">
                <a:solidFill>
                  <a:srgbClr val="070154"/>
                </a:solidFill>
                <a:latin typeface="IBM Plex Sans"/>
                <a:ea typeface="IBM Plex Sans"/>
                <a:cs typeface="IBM Plex Sans"/>
              </a:endParaRPr>
            </a:p>
          </p:txBody>
        </p:sp>
        <p:sp>
          <p:nvSpPr>
            <p:cNvPr id="32" name="node14.source-003.bullet"/>
            <p:cNvSpPr/>
            <p:nvPr/>
          </p:nvSpPr>
          <p:spPr>
            <a:xfrm>
              <a:off x="3467100" y="4254500"/>
              <a:ext cx="38100" cy="38100"/>
            </a:xfrm>
            <a:prstGeom prst="rect">
              <a:avLst/>
            </a:prstGeom>
            <a:solidFill>
              <a:srgbClr val="070154"/>
            </a:solidFill>
            <a:ln>
              <a:noFill/>
            </a:ln>
          </p:spPr>
        </p:sp>
        <p:sp>
          <p:nvSpPr>
            <p:cNvPr id="33" name="node14.source-003.text"/>
            <p:cNvSpPr/>
            <p:nvPr/>
          </p:nvSpPr>
          <p:spPr>
            <a:xfrm>
              <a:off x="3619500" y="4165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Redeployed, not removed</a:t>
              </a:r>
              <a:endParaRPr lang="en-US" sz="1200" spc="0" kern="0" b="0" i="0" dirty="0">
                <a:solidFill>
                  <a:srgbClr val="070154"/>
                </a:solidFill>
                <a:latin typeface="IBM Plex Sans"/>
                <a:ea typeface="IBM Plex Sans"/>
                <a:cs typeface="IBM Plex Sans"/>
              </a:endParaRPr>
            </a:p>
          </p:txBody>
        </p:sp>
      </p:grpSp>
      <p:grpSp>
        <p:nvGrpSpPr>
          <p:cNvPr id="72" name="node15"/>
          <p:cNvGrpSpPr/>
          <p:nvPr/>
        </p:nvGrpSpPr>
        <p:grpSpPr>
          <a:xfrm>
            <a:off x="3467100" y="5257800"/>
            <a:ext cx="2514600" cy="457200"/>
            <a:chOff x="3467100" y="5257800"/>
            <a:chExt cx="2514600" cy="457200"/>
          </a:xfrm>
        </p:grpSpPr>
        <p:sp>
          <p:nvSpPr>
            <p:cNvPr id="34" name="node15.surface"/>
            <p:cNvSpPr/>
            <p:nvPr/>
          </p:nvSpPr>
          <p:spPr>
            <a:xfrm>
              <a:off x="3467100" y="5257800"/>
              <a:ext cx="2514600" cy="457200"/>
            </a:xfrm>
            <a:prstGeom prst="rect">
              <a:avLst/>
            </a:prstGeom>
            <a:solidFill>
              <a:srgbClr val="CED7E6"/>
            </a:solidFill>
            <a:ln>
              <a:noFill/>
            </a:ln>
          </p:spPr>
        </p:sp>
        <p:sp>
          <p:nvSpPr>
            <p:cNvPr id="35" name="node15.text"/>
            <p:cNvSpPr/>
            <p:nvPr/>
          </p:nvSpPr>
          <p:spPr>
            <a:xfrm>
              <a:off x="3619500" y="5391150"/>
              <a:ext cx="2209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Counted in ROI</a:t>
              </a:r>
              <a:endParaRPr lang="en-US" sz="1100" spc="0" kern="0" b="0" i="0" dirty="0">
                <a:solidFill>
                  <a:srgbClr val="070154"/>
                </a:solidFill>
                <a:latin typeface="IBM Plex Sans"/>
                <a:ea typeface="IBM Plex Sans"/>
                <a:cs typeface="IBM Plex Sans"/>
              </a:endParaRPr>
            </a:p>
          </p:txBody>
        </p:sp>
      </p:grpSp>
      <p:grpSp>
        <p:nvGrpSpPr>
          <p:cNvPr id="73" name="node16"/>
          <p:cNvGrpSpPr/>
          <p:nvPr/>
        </p:nvGrpSpPr>
        <p:grpSpPr>
          <a:xfrm>
            <a:off x="6210300" y="2362200"/>
            <a:ext cx="2514600" cy="139700"/>
            <a:chOff x="6210300" y="2362200"/>
            <a:chExt cx="2514600" cy="139700"/>
          </a:xfrm>
        </p:grpSpPr>
        <p:sp>
          <p:nvSpPr>
            <p:cNvPr id="36" name="node16.text"/>
            <p:cNvSpPr/>
            <p:nvPr/>
          </p:nvSpPr>
          <p:spPr>
            <a:xfrm>
              <a:off x="6210300" y="2362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RISK AVOIDED</a:t>
              </a:r>
              <a:endParaRPr lang="en-US" sz="800" spc="48" kern="0" b="0" i="0" dirty="0">
                <a:solidFill>
                  <a:srgbClr val="0047FF"/>
                </a:solidFill>
                <a:latin typeface="IBM Plex Mono Medium"/>
                <a:ea typeface="IBM Plex Mono Medium"/>
                <a:cs typeface="IBM Plex Mono Medium"/>
              </a:endParaRPr>
            </a:p>
          </p:txBody>
        </p:sp>
      </p:grpSp>
      <p:grpSp>
        <p:nvGrpSpPr>
          <p:cNvPr id="74" name="node17"/>
          <p:cNvGrpSpPr/>
          <p:nvPr/>
        </p:nvGrpSpPr>
        <p:grpSpPr>
          <a:xfrm>
            <a:off x="6210300" y="2590800"/>
            <a:ext cx="2514600" cy="382461"/>
            <a:chOff x="6210300" y="2590800"/>
            <a:chExt cx="2514600" cy="382461"/>
          </a:xfrm>
        </p:grpSpPr>
        <p:sp>
          <p:nvSpPr>
            <p:cNvPr id="37" name="node17.text"/>
            <p:cNvSpPr/>
            <p:nvPr/>
          </p:nvSpPr>
          <p:spPr>
            <a:xfrm>
              <a:off x="6210300" y="2590800"/>
              <a:ext cx="25146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070154"/>
                  </a:solidFill>
                  <a:latin typeface="IBM Plex Mono SemiBold"/>
                  <a:ea typeface="IBM Plex Mono SemiBold"/>
                  <a:cs typeface="IBM Plex Mono SemiBold"/>
                </a:rPr>
                <a:t>$0.1M</a:t>
              </a:r>
              <a:endParaRPr lang="en-US" sz="3000" spc="-60" kern="0" b="0" i="0" dirty="0">
                <a:solidFill>
                  <a:srgbClr val="070154"/>
                </a:solidFill>
                <a:latin typeface="IBM Plex Mono SemiBold"/>
                <a:ea typeface="IBM Plex Mono SemiBold"/>
                <a:cs typeface="IBM Plex Mono SemiBold"/>
              </a:endParaRPr>
            </a:p>
          </p:txBody>
        </p:sp>
      </p:grpSp>
      <p:grpSp>
        <p:nvGrpSpPr>
          <p:cNvPr id="75" name="node18"/>
          <p:cNvGrpSpPr/>
          <p:nvPr/>
        </p:nvGrpSpPr>
        <p:grpSpPr>
          <a:xfrm>
            <a:off x="6210300" y="3200400"/>
            <a:ext cx="2514600" cy="190500"/>
            <a:chOff x="6210300" y="3200400"/>
            <a:chExt cx="2514600" cy="190500"/>
          </a:xfrm>
        </p:grpSpPr>
        <p:sp>
          <p:nvSpPr>
            <p:cNvPr id="38" name="node18.text"/>
            <p:cNvSpPr/>
            <p:nvPr/>
          </p:nvSpPr>
          <p:spPr>
            <a:xfrm>
              <a:off x="6210300" y="32004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Expected loss</a:t>
              </a:r>
              <a:endParaRPr lang="en-US" sz="1100" spc="0" kern="0" b="0" i="0" dirty="0">
                <a:solidFill>
                  <a:srgbClr val="50658E"/>
                </a:solidFill>
                <a:latin typeface="IBM Plex Sans"/>
                <a:ea typeface="IBM Plex Sans"/>
                <a:cs typeface="IBM Plex Sans"/>
              </a:endParaRPr>
            </a:p>
          </p:txBody>
        </p:sp>
      </p:grpSp>
      <p:sp>
        <p:nvSpPr>
          <p:cNvPr id="39" name="node19"/>
          <p:cNvSpPr/>
          <p:nvPr/>
        </p:nvSpPr>
        <p:spPr>
          <a:xfrm>
            <a:off x="6210300" y="3505200"/>
            <a:ext cx="2514600" cy="9525"/>
          </a:xfrm>
          <a:prstGeom prst="rect">
            <a:avLst/>
          </a:prstGeom>
          <a:solidFill>
            <a:srgbClr val="CED7E6"/>
          </a:solidFill>
          <a:ln>
            <a:noFill/>
          </a:ln>
        </p:spPr>
      </p:sp>
      <p:grpSp>
        <p:nvGrpSpPr>
          <p:cNvPr id="76" name="node20"/>
          <p:cNvGrpSpPr/>
          <p:nvPr/>
        </p:nvGrpSpPr>
        <p:grpSpPr>
          <a:xfrm>
            <a:off x="6210300" y="3657600"/>
            <a:ext cx="2514600" cy="723900"/>
            <a:chOff x="6210300" y="3657600"/>
            <a:chExt cx="2514600" cy="723900"/>
          </a:xfrm>
        </p:grpSpPr>
        <p:sp>
          <p:nvSpPr>
            <p:cNvPr id="40" name="node20.source-001.bullet"/>
            <p:cNvSpPr/>
            <p:nvPr/>
          </p:nvSpPr>
          <p:spPr>
            <a:xfrm>
              <a:off x="6210300" y="3746500"/>
              <a:ext cx="38100" cy="38100"/>
            </a:xfrm>
            <a:prstGeom prst="rect">
              <a:avLst/>
            </a:prstGeom>
            <a:solidFill>
              <a:srgbClr val="070154"/>
            </a:solidFill>
            <a:ln>
              <a:noFill/>
            </a:ln>
          </p:spPr>
        </p:sp>
        <p:sp>
          <p:nvSpPr>
            <p:cNvPr id="41" name="node20.source-001.text"/>
            <p:cNvSpPr/>
            <p:nvPr/>
          </p:nvSpPr>
          <p:spPr>
            <a:xfrm>
              <a:off x="6362700" y="3657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Fewer open audit findings</a:t>
              </a:r>
              <a:endParaRPr lang="en-US" sz="1200" spc="0" kern="0" b="0" i="0" dirty="0">
                <a:solidFill>
                  <a:srgbClr val="070154"/>
                </a:solidFill>
                <a:latin typeface="IBM Plex Sans"/>
                <a:ea typeface="IBM Plex Sans"/>
                <a:cs typeface="IBM Plex Sans"/>
              </a:endParaRPr>
            </a:p>
          </p:txBody>
        </p:sp>
        <p:sp>
          <p:nvSpPr>
            <p:cNvPr id="42" name="node20.source-002.bullet"/>
            <p:cNvSpPr/>
            <p:nvPr/>
          </p:nvSpPr>
          <p:spPr>
            <a:xfrm>
              <a:off x="6210300" y="4000500"/>
              <a:ext cx="38100" cy="38100"/>
            </a:xfrm>
            <a:prstGeom prst="rect">
              <a:avLst/>
            </a:prstGeom>
            <a:solidFill>
              <a:srgbClr val="070154"/>
            </a:solidFill>
            <a:ln>
              <a:noFill/>
            </a:ln>
          </p:spPr>
        </p:sp>
        <p:sp>
          <p:nvSpPr>
            <p:cNvPr id="43" name="node20.source-002.text"/>
            <p:cNvSpPr/>
            <p:nvPr/>
          </p:nvSpPr>
          <p:spPr>
            <a:xfrm>
              <a:off x="6362700" y="3911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Probability times impact</a:t>
              </a:r>
              <a:endParaRPr lang="en-US" sz="1200" spc="0" kern="0" b="0" i="0" dirty="0">
                <a:solidFill>
                  <a:srgbClr val="070154"/>
                </a:solidFill>
                <a:latin typeface="IBM Plex Sans"/>
                <a:ea typeface="IBM Plex Sans"/>
                <a:cs typeface="IBM Plex Sans"/>
              </a:endParaRPr>
            </a:p>
          </p:txBody>
        </p:sp>
        <p:sp>
          <p:nvSpPr>
            <p:cNvPr id="44" name="node20.source-003.bullet"/>
            <p:cNvSpPr/>
            <p:nvPr/>
          </p:nvSpPr>
          <p:spPr>
            <a:xfrm>
              <a:off x="6210300" y="4254500"/>
              <a:ext cx="38100" cy="38100"/>
            </a:xfrm>
            <a:prstGeom prst="rect">
              <a:avLst/>
            </a:prstGeom>
            <a:solidFill>
              <a:srgbClr val="070154"/>
            </a:solidFill>
            <a:ln>
              <a:noFill/>
            </a:ln>
          </p:spPr>
        </p:sp>
        <p:sp>
          <p:nvSpPr>
            <p:cNvPr id="45" name="node20.source-003.text"/>
            <p:cNvSpPr/>
            <p:nvPr/>
          </p:nvSpPr>
          <p:spPr>
            <a:xfrm>
              <a:off x="6362700" y="41656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Reviewed with Compliance</a:t>
              </a:r>
              <a:endParaRPr lang="en-US" sz="1200" spc="0" kern="0" b="0" i="0" dirty="0">
                <a:solidFill>
                  <a:srgbClr val="070154"/>
                </a:solidFill>
                <a:latin typeface="IBM Plex Sans"/>
                <a:ea typeface="IBM Plex Sans"/>
                <a:cs typeface="IBM Plex Sans"/>
              </a:endParaRPr>
            </a:p>
          </p:txBody>
        </p:sp>
      </p:grpSp>
      <p:grpSp>
        <p:nvGrpSpPr>
          <p:cNvPr id="77" name="node21"/>
          <p:cNvGrpSpPr/>
          <p:nvPr/>
        </p:nvGrpSpPr>
        <p:grpSpPr>
          <a:xfrm>
            <a:off x="6210300" y="5257800"/>
            <a:ext cx="2514600" cy="457200"/>
            <a:chOff x="6210300" y="5257800"/>
            <a:chExt cx="2514600" cy="457200"/>
          </a:xfrm>
        </p:grpSpPr>
        <p:sp>
          <p:nvSpPr>
            <p:cNvPr id="46" name="node21.surface"/>
            <p:cNvSpPr/>
            <p:nvPr/>
          </p:nvSpPr>
          <p:spPr>
            <a:xfrm>
              <a:off x="6210300" y="5257800"/>
              <a:ext cx="2514600" cy="457200"/>
            </a:xfrm>
            <a:prstGeom prst="rect">
              <a:avLst/>
            </a:prstGeom>
            <a:solidFill>
              <a:srgbClr val="CED7E6"/>
            </a:solidFill>
            <a:ln>
              <a:noFill/>
            </a:ln>
          </p:spPr>
        </p:sp>
        <p:sp>
          <p:nvSpPr>
            <p:cNvPr id="47" name="node21.text"/>
            <p:cNvSpPr/>
            <p:nvPr/>
          </p:nvSpPr>
          <p:spPr>
            <a:xfrm>
              <a:off x="6362700" y="5391150"/>
              <a:ext cx="2209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Counted in ROI</a:t>
              </a:r>
              <a:endParaRPr lang="en-US" sz="1100" spc="0" kern="0" b="0" i="0" dirty="0">
                <a:solidFill>
                  <a:srgbClr val="070154"/>
                </a:solidFill>
                <a:latin typeface="IBM Plex Sans"/>
                <a:ea typeface="IBM Plex Sans"/>
                <a:cs typeface="IBM Plex Sans"/>
              </a:endParaRPr>
            </a:p>
          </p:txBody>
        </p:sp>
      </p:grpSp>
      <p:grpSp>
        <p:nvGrpSpPr>
          <p:cNvPr id="78" name="node22"/>
          <p:cNvGrpSpPr/>
          <p:nvPr/>
        </p:nvGrpSpPr>
        <p:grpSpPr>
          <a:xfrm>
            <a:off x="8953500" y="2362200"/>
            <a:ext cx="2514600" cy="139700"/>
            <a:chOff x="8953500" y="2362200"/>
            <a:chExt cx="2514600" cy="139700"/>
          </a:xfrm>
        </p:grpSpPr>
        <p:sp>
          <p:nvSpPr>
            <p:cNvPr id="48" name="node22.text"/>
            <p:cNvSpPr/>
            <p:nvPr/>
          </p:nvSpPr>
          <p:spPr>
            <a:xfrm>
              <a:off x="8953500" y="2362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STRATEGIC VALUE</a:t>
              </a:r>
              <a:endParaRPr lang="en-US" sz="800" spc="48" kern="0" b="0" i="0" dirty="0">
                <a:solidFill>
                  <a:srgbClr val="0047FF"/>
                </a:solidFill>
                <a:latin typeface="IBM Plex Mono Medium"/>
                <a:ea typeface="IBM Plex Mono Medium"/>
                <a:cs typeface="IBM Plex Mono Medium"/>
              </a:endParaRPr>
            </a:p>
          </p:txBody>
        </p:sp>
      </p:grpSp>
      <p:grpSp>
        <p:nvGrpSpPr>
          <p:cNvPr id="79" name="node23"/>
          <p:cNvGrpSpPr/>
          <p:nvPr/>
        </p:nvGrpSpPr>
        <p:grpSpPr>
          <a:xfrm>
            <a:off x="8953500" y="2590800"/>
            <a:ext cx="2514600" cy="382461"/>
            <a:chOff x="8953500" y="2590800"/>
            <a:chExt cx="2514600" cy="382461"/>
          </a:xfrm>
        </p:grpSpPr>
        <p:sp>
          <p:nvSpPr>
            <p:cNvPr id="49" name="node23.text"/>
            <p:cNvSpPr/>
            <p:nvPr/>
          </p:nvSpPr>
          <p:spPr>
            <a:xfrm>
              <a:off x="8953500" y="2590800"/>
              <a:ext cx="25146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070154"/>
                  </a:solidFill>
                  <a:latin typeface="IBM Plex Mono SemiBold"/>
                  <a:ea typeface="IBM Plex Mono SemiBold"/>
                  <a:cs typeface="IBM Plex Mono SemiBold"/>
                </a:rPr>
                <a:t>Excluded</a:t>
              </a:r>
              <a:endParaRPr lang="en-US" sz="3000" spc="-60" kern="0" b="0" i="0" dirty="0">
                <a:solidFill>
                  <a:srgbClr val="070154"/>
                </a:solidFill>
                <a:latin typeface="IBM Plex Mono SemiBold"/>
                <a:ea typeface="IBM Plex Mono SemiBold"/>
                <a:cs typeface="IBM Plex Mono SemiBold"/>
              </a:endParaRPr>
            </a:p>
          </p:txBody>
        </p:sp>
      </p:grpSp>
      <p:grpSp>
        <p:nvGrpSpPr>
          <p:cNvPr id="80" name="node24"/>
          <p:cNvGrpSpPr/>
          <p:nvPr/>
        </p:nvGrpSpPr>
        <p:grpSpPr>
          <a:xfrm>
            <a:off x="8953500" y="3200400"/>
            <a:ext cx="2514600" cy="190500"/>
            <a:chOff x="8953500" y="3200400"/>
            <a:chExt cx="2514600" cy="190500"/>
          </a:xfrm>
        </p:grpSpPr>
        <p:sp>
          <p:nvSpPr>
            <p:cNvPr id="50" name="node24.text"/>
            <p:cNvSpPr/>
            <p:nvPr/>
          </p:nvSpPr>
          <p:spPr>
            <a:xfrm>
              <a:off x="8953500" y="32004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Tracked, not banked</a:t>
              </a:r>
              <a:endParaRPr lang="en-US" sz="1100" spc="0" kern="0" b="0" i="0" dirty="0">
                <a:solidFill>
                  <a:srgbClr val="50658E"/>
                </a:solidFill>
                <a:latin typeface="IBM Plex Sans"/>
                <a:ea typeface="IBM Plex Sans"/>
                <a:cs typeface="IBM Plex Sans"/>
              </a:endParaRPr>
            </a:p>
          </p:txBody>
        </p:sp>
      </p:grpSp>
      <p:sp>
        <p:nvSpPr>
          <p:cNvPr id="51" name="node25"/>
          <p:cNvSpPr/>
          <p:nvPr/>
        </p:nvSpPr>
        <p:spPr>
          <a:xfrm>
            <a:off x="8953500" y="3505200"/>
            <a:ext cx="2514600" cy="9525"/>
          </a:xfrm>
          <a:prstGeom prst="rect">
            <a:avLst/>
          </a:prstGeom>
          <a:solidFill>
            <a:srgbClr val="CED7E6"/>
          </a:solidFill>
          <a:ln>
            <a:noFill/>
          </a:ln>
        </p:spPr>
      </p:sp>
      <p:grpSp>
        <p:nvGrpSpPr>
          <p:cNvPr id="81" name="node26"/>
          <p:cNvGrpSpPr/>
          <p:nvPr/>
        </p:nvGrpSpPr>
        <p:grpSpPr>
          <a:xfrm>
            <a:off x="8953500" y="3657600"/>
            <a:ext cx="2514600" cy="939800"/>
            <a:chOff x="8953500" y="3657600"/>
            <a:chExt cx="2514600" cy="939800"/>
          </a:xfrm>
        </p:grpSpPr>
        <p:sp>
          <p:nvSpPr>
            <p:cNvPr id="52" name="node26.source-001.bullet"/>
            <p:cNvSpPr/>
            <p:nvPr/>
          </p:nvSpPr>
          <p:spPr>
            <a:xfrm>
              <a:off x="8953500" y="3746500"/>
              <a:ext cx="38100" cy="38100"/>
            </a:xfrm>
            <a:prstGeom prst="rect">
              <a:avLst/>
            </a:prstGeom>
            <a:solidFill>
              <a:srgbClr val="070154"/>
            </a:solidFill>
            <a:ln>
              <a:noFill/>
            </a:ln>
          </p:spPr>
        </p:sp>
        <p:sp>
          <p:nvSpPr>
            <p:cNvPr id="53" name="node26.source-001.text"/>
            <p:cNvSpPr/>
            <p:nvPr/>
          </p:nvSpPr>
          <p:spPr>
            <a:xfrm>
              <a:off x="9105900" y="36576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Faster clinical and financial decisions</a:t>
              </a:r>
              <a:endParaRPr lang="en-US" sz="1200" spc="0" kern="0" b="0" i="0" dirty="0">
                <a:solidFill>
                  <a:srgbClr val="070154"/>
                </a:solidFill>
                <a:latin typeface="IBM Plex Sans"/>
                <a:ea typeface="IBM Plex Sans"/>
                <a:cs typeface="IBM Plex Sans"/>
              </a:endParaRPr>
            </a:p>
          </p:txBody>
        </p:sp>
        <p:sp>
          <p:nvSpPr>
            <p:cNvPr id="54" name="node26.source-002.bullet"/>
            <p:cNvSpPr/>
            <p:nvPr/>
          </p:nvSpPr>
          <p:spPr>
            <a:xfrm>
              <a:off x="8953500" y="4216400"/>
              <a:ext cx="38100" cy="38100"/>
            </a:xfrm>
            <a:prstGeom prst="rect">
              <a:avLst/>
            </a:prstGeom>
            <a:solidFill>
              <a:srgbClr val="070154"/>
            </a:solidFill>
            <a:ln>
              <a:noFill/>
            </a:ln>
          </p:spPr>
        </p:sp>
        <p:sp>
          <p:nvSpPr>
            <p:cNvPr id="55" name="node26.source-002.text"/>
            <p:cNvSpPr/>
            <p:nvPr/>
          </p:nvSpPr>
          <p:spPr>
            <a:xfrm>
              <a:off x="9105900" y="41275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Audit readiness</a:t>
              </a:r>
              <a:endParaRPr lang="en-US" sz="1200" spc="0" kern="0" b="0" i="0" dirty="0">
                <a:solidFill>
                  <a:srgbClr val="070154"/>
                </a:solidFill>
                <a:latin typeface="IBM Plex Sans"/>
                <a:ea typeface="IBM Plex Sans"/>
                <a:cs typeface="IBM Plex Sans"/>
              </a:endParaRPr>
            </a:p>
          </p:txBody>
        </p:sp>
        <p:sp>
          <p:nvSpPr>
            <p:cNvPr id="56" name="node26.source-003.bullet"/>
            <p:cNvSpPr/>
            <p:nvPr/>
          </p:nvSpPr>
          <p:spPr>
            <a:xfrm>
              <a:off x="8953500" y="4470400"/>
              <a:ext cx="38100" cy="38100"/>
            </a:xfrm>
            <a:prstGeom prst="rect">
              <a:avLst/>
            </a:prstGeom>
            <a:solidFill>
              <a:srgbClr val="070154"/>
            </a:solidFill>
            <a:ln>
              <a:noFill/>
            </a:ln>
          </p:spPr>
        </p:sp>
        <p:sp>
          <p:nvSpPr>
            <p:cNvPr id="57" name="node26.source-003.text"/>
            <p:cNvSpPr/>
            <p:nvPr/>
          </p:nvSpPr>
          <p:spPr>
            <a:xfrm>
              <a:off x="9105900" y="43815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Retention of finance talent</a:t>
              </a:r>
              <a:endParaRPr lang="en-US" sz="1200" spc="0" kern="0" b="0" i="0" dirty="0">
                <a:solidFill>
                  <a:srgbClr val="070154"/>
                </a:solidFill>
                <a:latin typeface="IBM Plex Sans"/>
                <a:ea typeface="IBM Plex Sans"/>
                <a:cs typeface="IBM Plex Sans"/>
              </a:endParaRPr>
            </a:p>
          </p:txBody>
        </p:sp>
      </p:grpSp>
      <p:grpSp>
        <p:nvGrpSpPr>
          <p:cNvPr id="82" name="node27"/>
          <p:cNvGrpSpPr/>
          <p:nvPr/>
        </p:nvGrpSpPr>
        <p:grpSpPr>
          <a:xfrm>
            <a:off x="8953500" y="5257800"/>
            <a:ext cx="2514600" cy="457200"/>
            <a:chOff x="8953500" y="5257800"/>
            <a:chExt cx="2514600" cy="457200"/>
          </a:xfrm>
        </p:grpSpPr>
        <p:sp>
          <p:nvSpPr>
            <p:cNvPr id="58" name="node27.surface"/>
            <p:cNvSpPr/>
            <p:nvPr/>
          </p:nvSpPr>
          <p:spPr>
            <a:xfrm>
              <a:off x="8953500" y="5257800"/>
              <a:ext cx="2514600" cy="457200"/>
            </a:xfrm>
            <a:prstGeom prst="rect">
              <a:avLst/>
            </a:prstGeom>
            <a:solidFill>
              <a:srgbClr val="E8EEF8"/>
            </a:solidFill>
            <a:ln>
              <a:noFill/>
            </a:ln>
          </p:spPr>
        </p:sp>
        <p:sp>
          <p:nvSpPr>
            <p:cNvPr id="59" name="node27.text"/>
            <p:cNvSpPr/>
            <p:nvPr/>
          </p:nvSpPr>
          <p:spPr>
            <a:xfrm>
              <a:off x="9105900" y="5391150"/>
              <a:ext cx="22098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070154"/>
                  </a:solidFill>
                  <a:latin typeface="IBM Plex Sans"/>
                  <a:ea typeface="IBM Plex Sans"/>
                  <a:cs typeface="IBM Plex Sans"/>
                </a:rPr>
                <a:t>Excluded from ROI</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ource-599">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Cash and capacity are 96% of value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program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224</a:t>
            </a:fld>
            <a:endParaRPr lang="en-US" sz="700" spc="0" kern="0" b="0" i="0" dirty="0">
              <a:solidFill>
                <a:srgbClr val="FFFFFF"/>
              </a:solidFill>
              <a:latin typeface="IBM Plex Mono SemiBold"/>
              <a:ea typeface="IBM Plex Mono SemiBold"/>
              <a:cs typeface="IBM Plex Mono SemiBold"/>
            </a:endParaRPr>
          </a:p>
        </p:txBody>
      </p:sp>
      <p:grpSp>
        <p:nvGrpSpPr>
          <p:cNvPr id="35" name="node01"/>
          <p:cNvGrpSpPr/>
          <p:nvPr/>
        </p:nvGrpSpPr>
        <p:grpSpPr>
          <a:xfrm>
            <a:off x="723900" y="1600200"/>
            <a:ext cx="3429000" cy="3886200"/>
            <a:chOff x="723900" y="1600200"/>
            <a:chExt cx="3429000" cy="3886200"/>
          </a:xfrm>
        </p:grpSpPr>
        <p:sp>
          <p:nvSpPr>
            <p:cNvPr id="7" name="node01.title"/>
            <p:cNvSpPr/>
            <p:nvPr/>
          </p:nvSpPr>
          <p:spPr>
            <a:xfrm>
              <a:off x="723900" y="1600200"/>
              <a:ext cx="3429000" cy="3048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Annual value by type</a:t>
              </a:r>
              <a:endParaRPr lang="en-US" sz="1600" spc="-16" kern="0" b="0" i="0" dirty="0">
                <a:solidFill>
                  <a:srgbClr val="070154"/>
                </a:solidFill>
                <a:latin typeface="IBM Plex Sans SemiBold"/>
                <a:ea typeface="IBM Plex Sans SemiBold"/>
                <a:cs typeface="IBM Plex Sans SemiBold"/>
              </a:endParaRPr>
            </a:p>
          </p:txBody>
        </p:sp>
        <p:graphicFrame>
          <p:nvGraphicFramePr>
            <p:cNvPr id="8" name="node01.native" descr=""/>
            <p:cNvGraphicFramePr/>
            <p:nvPr/>
          </p:nvGraphicFramePr>
          <p:xfrm>
            <a:off x="723900" y="2019300"/>
            <a:ext cx="3429000" cy="3467100"/>
          </p:xfrm>
          <a:graphic xmlns:a="http://schemas.openxmlformats.org/drawingml/2006/main">
            <a:graphicData uri="http://schemas.openxmlformats.org/drawingml/2006/chart">
              <c:chart xmlns:c="http://schemas.openxmlformats.org/drawingml/2006/chart" r:id="rId1"/>
            </a:graphicData>
          </a:graphic>
        </p:graphicFrame>
        <p:sp>
          <p:nvSpPr>
            <p:cNvPr id="9" name="node01.center.value"/>
            <p:cNvSpPr/>
            <p:nvPr/>
          </p:nvSpPr>
          <p:spPr>
            <a:xfrm>
              <a:off x="1752600" y="3600450"/>
              <a:ext cx="1371600" cy="266700"/>
            </a:xfrm>
            <a:prstGeom prst="rect">
              <a:avLst/>
            </a:prstGeom>
            <a:noFill/>
            <a:ln/>
          </p:spPr>
          <p:txBody>
            <a:bodyPr wrap="square" lIns="0" tIns="0" rIns="0" bIns="0" rtlCol="0" anchor="t"/>
            <a:lstStyle/>
            <a:p>
              <a:pPr algn="ctr" indent="0" marL="0">
                <a:lnSpc>
                  <a:spcPts val="2100"/>
                </a:lnSpc>
                <a:buNone/>
              </a:pPr>
              <a:r>
                <a:rPr lang="en-US" sz="1600" spc="0" kern="0" b="0" i="0" dirty="0">
                  <a:solidFill>
                    <a:srgbClr val="070154"/>
                  </a:solidFill>
                  <a:latin typeface="IBM Plex Mono SemiBold"/>
                  <a:ea typeface="IBM Plex Mono SemiBold"/>
                  <a:cs typeface="IBM Plex Mono SemiBold"/>
                </a:rPr>
                <a:t>$2.6M</a:t>
              </a:r>
              <a:endParaRPr lang="en-US" sz="1600" spc="0" kern="0" b="0" i="0" dirty="0">
                <a:solidFill>
                  <a:srgbClr val="070154"/>
                </a:solidFill>
                <a:latin typeface="IBM Plex Mono SemiBold"/>
                <a:ea typeface="IBM Plex Mono SemiBold"/>
                <a:cs typeface="IBM Plex Mono SemiBold"/>
              </a:endParaRPr>
            </a:p>
          </p:txBody>
        </p:sp>
        <p:sp>
          <p:nvSpPr>
            <p:cNvPr id="10" name="node01.center.label"/>
            <p:cNvSpPr/>
            <p:nvPr/>
          </p:nvSpPr>
          <p:spPr>
            <a:xfrm>
              <a:off x="1752600" y="3943350"/>
              <a:ext cx="1371600" cy="190500"/>
            </a:xfrm>
            <a:prstGeom prst="rect">
              <a:avLst/>
            </a:prstGeom>
            <a:noFill/>
            <a:ln/>
          </p:spPr>
          <p:txBody>
            <a:bodyPr wrap="square" lIns="0" tIns="0" rIns="0" bIns="0" rtlCol="0" anchor="t"/>
            <a:lstStyle/>
            <a:p>
              <a:pPr algn="ctr" indent="0" marL="0">
                <a:lnSpc>
                  <a:spcPts val="1500"/>
                </a:lnSpc>
                <a:buNone/>
              </a:pPr>
              <a:r>
                <a:rPr lang="en-US" sz="1100" spc="0" kern="0" b="0" i="0" dirty="0">
                  <a:solidFill>
                    <a:srgbClr val="50658E"/>
                  </a:solidFill>
                  <a:latin typeface="IBM Plex Sans"/>
                  <a:ea typeface="IBM Plex Sans"/>
                  <a:cs typeface="IBM Plex Sans"/>
                </a:rPr>
                <a:t>a year</a:t>
              </a:r>
              <a:endParaRPr lang="en-US" sz="1100" spc="0" kern="0" b="0" i="0" dirty="0">
                <a:solidFill>
                  <a:srgbClr val="50658E"/>
                </a:solidFill>
                <a:latin typeface="IBM Plex Sans"/>
                <a:ea typeface="IBM Plex Sans"/>
                <a:cs typeface="IBM Plex Sans"/>
              </a:endParaRPr>
            </a:p>
          </p:txBody>
        </p:sp>
      </p:grpSp>
      <p:grpSp>
        <p:nvGrpSpPr>
          <p:cNvPr id="36" name="node02"/>
          <p:cNvGrpSpPr/>
          <p:nvPr/>
        </p:nvGrpSpPr>
        <p:grpSpPr>
          <a:xfrm>
            <a:off x="4381500" y="1600200"/>
            <a:ext cx="3429000" cy="139700"/>
            <a:chOff x="4381500" y="1600200"/>
            <a:chExt cx="3429000" cy="139700"/>
          </a:xfrm>
        </p:grpSpPr>
        <p:sp>
          <p:nvSpPr>
            <p:cNvPr id="11" name="node02.text"/>
            <p:cNvSpPr/>
            <p:nvPr/>
          </p:nvSpPr>
          <p:spPr>
            <a:xfrm>
              <a:off x="43815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EACH TYPE MEANS</a:t>
              </a:r>
              <a:endParaRPr lang="en-US" sz="800" spc="48" kern="0" b="0" i="0" dirty="0">
                <a:solidFill>
                  <a:srgbClr val="0047FF"/>
                </a:solidFill>
                <a:latin typeface="IBM Plex Mono Medium"/>
                <a:ea typeface="IBM Plex Mono Medium"/>
                <a:cs typeface="IBM Plex Mono Medium"/>
              </a:endParaRPr>
            </a:p>
          </p:txBody>
        </p:sp>
      </p:grpSp>
      <p:grpSp>
        <p:nvGrpSpPr>
          <p:cNvPr id="37" name="node03"/>
          <p:cNvGrpSpPr/>
          <p:nvPr/>
        </p:nvGrpSpPr>
        <p:grpSpPr>
          <a:xfrm>
            <a:off x="4381500" y="1905000"/>
            <a:ext cx="3429000" cy="381000"/>
            <a:chOff x="4381500" y="1905000"/>
            <a:chExt cx="3429000" cy="381000"/>
          </a:xfrm>
        </p:grpSpPr>
        <p:sp>
          <p:nvSpPr>
            <p:cNvPr id="12" name="node03.text"/>
            <p:cNvSpPr/>
            <p:nvPr/>
          </p:nvSpPr>
          <p:spPr>
            <a:xfrm>
              <a:off x="4381500" y="19050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Hard value shows up in the ledger: collected revenue, contract savings and avoided write-offs.</a:t>
              </a:r>
              <a:endParaRPr lang="en-US" sz="1100" spc="0" kern="0" b="0" i="0" dirty="0">
                <a:solidFill>
                  <a:srgbClr val="070154"/>
                </a:solidFill>
                <a:latin typeface="IBM Plex Sans"/>
                <a:ea typeface="IBM Plex Sans"/>
                <a:cs typeface="IBM Plex Sans"/>
              </a:endParaRPr>
            </a:p>
          </p:txBody>
        </p:sp>
      </p:grpSp>
      <p:grpSp>
        <p:nvGrpSpPr>
          <p:cNvPr id="38" name="node04"/>
          <p:cNvGrpSpPr/>
          <p:nvPr/>
        </p:nvGrpSpPr>
        <p:grpSpPr>
          <a:xfrm>
            <a:off x="4381500" y="2514600"/>
            <a:ext cx="3429000" cy="381000"/>
            <a:chOff x="4381500" y="2514600"/>
            <a:chExt cx="3429000" cy="381000"/>
          </a:xfrm>
        </p:grpSpPr>
        <p:sp>
          <p:nvSpPr>
            <p:cNvPr id="13" name="node04.text"/>
            <p:cNvSpPr/>
            <p:nvPr/>
          </p:nvSpPr>
          <p:spPr>
            <a:xfrm>
              <a:off x="4381500" y="25146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Capacity value is time released, valued at loaded cost and redeployed.</a:t>
              </a:r>
              <a:endParaRPr lang="en-US" sz="1100" spc="0" kern="0" b="0" i="0" dirty="0">
                <a:solidFill>
                  <a:srgbClr val="070154"/>
                </a:solidFill>
                <a:latin typeface="IBM Plex Sans"/>
                <a:ea typeface="IBM Plex Sans"/>
                <a:cs typeface="IBM Plex Sans"/>
              </a:endParaRPr>
            </a:p>
          </p:txBody>
        </p:sp>
      </p:grpSp>
      <p:grpSp>
        <p:nvGrpSpPr>
          <p:cNvPr id="39" name="node05"/>
          <p:cNvGrpSpPr/>
          <p:nvPr/>
        </p:nvGrpSpPr>
        <p:grpSpPr>
          <a:xfrm>
            <a:off x="4381500" y="3124200"/>
            <a:ext cx="3429000" cy="381000"/>
            <a:chOff x="4381500" y="3124200"/>
            <a:chExt cx="3429000" cy="381000"/>
          </a:xfrm>
        </p:grpSpPr>
        <p:sp>
          <p:nvSpPr>
            <p:cNvPr id="14" name="node05.text"/>
            <p:cNvSpPr/>
            <p:nvPr/>
          </p:nvSpPr>
          <p:spPr>
            <a:xfrm>
              <a:off x="4381500" y="31242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Risk avoided is expected loss: probability times impact.</a:t>
              </a:r>
              <a:endParaRPr lang="en-US" sz="1100" spc="0" kern="0" b="0" i="0" dirty="0">
                <a:solidFill>
                  <a:srgbClr val="070154"/>
                </a:solidFill>
                <a:latin typeface="IBM Plex Sans"/>
                <a:ea typeface="IBM Plex Sans"/>
                <a:cs typeface="IBM Plex Sans"/>
              </a:endParaRPr>
            </a:p>
          </p:txBody>
        </p:sp>
      </p:grpSp>
      <p:sp>
        <p:nvSpPr>
          <p:cNvPr id="15" name="node06"/>
          <p:cNvSpPr/>
          <p:nvPr/>
        </p:nvSpPr>
        <p:spPr>
          <a:xfrm>
            <a:off x="4381500" y="3733800"/>
            <a:ext cx="3429000" cy="9525"/>
          </a:xfrm>
          <a:prstGeom prst="rect">
            <a:avLst/>
          </a:prstGeom>
          <a:solidFill>
            <a:srgbClr val="CED7E6"/>
          </a:solidFill>
          <a:ln>
            <a:noFill/>
          </a:ln>
        </p:spPr>
      </p:sp>
      <p:grpSp>
        <p:nvGrpSpPr>
          <p:cNvPr id="40" name="node07"/>
          <p:cNvGrpSpPr/>
          <p:nvPr/>
        </p:nvGrpSpPr>
        <p:grpSpPr>
          <a:xfrm>
            <a:off x="4381500" y="3962400"/>
            <a:ext cx="1600200" cy="802069"/>
            <a:chOff x="4381500" y="3962400"/>
            <a:chExt cx="1600200" cy="802069"/>
          </a:xfrm>
        </p:grpSpPr>
        <p:sp>
          <p:nvSpPr>
            <p:cNvPr id="16" name="node07.value"/>
            <p:cNvSpPr/>
            <p:nvPr/>
          </p:nvSpPr>
          <p:spPr>
            <a:xfrm>
              <a:off x="4381500" y="39624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58%</a:t>
              </a:r>
              <a:endParaRPr lang="en-US" sz="4000" spc="-80" kern="0" b="0" i="0" dirty="0">
                <a:solidFill>
                  <a:srgbClr val="070154"/>
                </a:solidFill>
                <a:latin typeface="IBM Plex Mono SemiBold"/>
                <a:ea typeface="IBM Plex Mono SemiBold"/>
                <a:cs typeface="IBM Plex Mono SemiBold"/>
              </a:endParaRPr>
            </a:p>
          </p:txBody>
        </p:sp>
        <p:sp>
          <p:nvSpPr>
            <p:cNvPr id="17" name="node07.label"/>
            <p:cNvSpPr/>
            <p:nvPr/>
          </p:nvSpPr>
          <p:spPr>
            <a:xfrm>
              <a:off x="4381500" y="45485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hard value</a:t>
              </a:r>
              <a:endParaRPr lang="en-US" sz="1200" spc="0" kern="0" b="0" i="0" dirty="0">
                <a:solidFill>
                  <a:srgbClr val="50658E"/>
                </a:solidFill>
                <a:latin typeface="IBM Plex Sans"/>
                <a:ea typeface="IBM Plex Sans"/>
                <a:cs typeface="IBM Plex Sans"/>
              </a:endParaRPr>
            </a:p>
          </p:txBody>
        </p:sp>
      </p:grpSp>
      <p:grpSp>
        <p:nvGrpSpPr>
          <p:cNvPr id="41" name="node08"/>
          <p:cNvGrpSpPr/>
          <p:nvPr/>
        </p:nvGrpSpPr>
        <p:grpSpPr>
          <a:xfrm>
            <a:off x="6210300" y="3962400"/>
            <a:ext cx="1600200" cy="802069"/>
            <a:chOff x="6210300" y="3962400"/>
            <a:chExt cx="1600200" cy="802069"/>
          </a:xfrm>
        </p:grpSpPr>
        <p:sp>
          <p:nvSpPr>
            <p:cNvPr id="18" name="node08.value"/>
            <p:cNvSpPr/>
            <p:nvPr/>
          </p:nvSpPr>
          <p:spPr>
            <a:xfrm>
              <a:off x="6210300" y="3962400"/>
              <a:ext cx="16002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38%</a:t>
              </a:r>
              <a:endParaRPr lang="en-US" sz="4000" spc="-80" kern="0" b="0" i="0" dirty="0">
                <a:solidFill>
                  <a:srgbClr val="070154"/>
                </a:solidFill>
                <a:latin typeface="IBM Plex Mono SemiBold"/>
                <a:ea typeface="IBM Plex Mono SemiBold"/>
                <a:cs typeface="IBM Plex Mono SemiBold"/>
              </a:endParaRPr>
            </a:p>
          </p:txBody>
        </p:sp>
        <p:sp>
          <p:nvSpPr>
            <p:cNvPr id="19" name="node08.label"/>
            <p:cNvSpPr/>
            <p:nvPr/>
          </p:nvSpPr>
          <p:spPr>
            <a:xfrm>
              <a:off x="6210300" y="4548569"/>
              <a:ext cx="1600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capacity value</a:t>
              </a:r>
              <a:endParaRPr lang="en-US" sz="1200" spc="0" kern="0" b="0" i="0" dirty="0">
                <a:solidFill>
                  <a:srgbClr val="50658E"/>
                </a:solidFill>
                <a:latin typeface="IBM Plex Sans"/>
                <a:ea typeface="IBM Plex Sans"/>
                <a:cs typeface="IBM Plex Sans"/>
              </a:endParaRPr>
            </a:p>
          </p:txBody>
        </p:sp>
      </p:grpSp>
      <p:grpSp>
        <p:nvGrpSpPr>
          <p:cNvPr id="42" name="node09"/>
          <p:cNvGrpSpPr/>
          <p:nvPr/>
        </p:nvGrpSpPr>
        <p:grpSpPr>
          <a:xfrm>
            <a:off x="723900" y="5105400"/>
            <a:ext cx="7086600" cy="139700"/>
            <a:chOff x="723900" y="5105400"/>
            <a:chExt cx="7086600" cy="139700"/>
          </a:xfrm>
        </p:grpSpPr>
        <p:sp>
          <p:nvSpPr>
            <p:cNvPr id="20" name="node09.text"/>
            <p:cNvSpPr/>
            <p:nvPr/>
          </p:nvSpPr>
          <p:spPr>
            <a:xfrm>
              <a:off x="723900" y="5105400"/>
              <a:ext cx="7086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TREATMENT</a:t>
              </a:r>
              <a:endParaRPr lang="en-US" sz="800" spc="48" kern="0" b="0" i="0" dirty="0">
                <a:solidFill>
                  <a:srgbClr val="0047FF"/>
                </a:solidFill>
                <a:latin typeface="IBM Plex Mono Medium"/>
                <a:ea typeface="IBM Plex Mono Medium"/>
                <a:cs typeface="IBM Plex Mono Medium"/>
              </a:endParaRPr>
            </a:p>
          </p:txBody>
        </p:sp>
      </p:grpSp>
      <p:grpSp>
        <p:nvGrpSpPr>
          <p:cNvPr id="43" name="node10"/>
          <p:cNvGrpSpPr/>
          <p:nvPr/>
        </p:nvGrpSpPr>
        <p:grpSpPr>
          <a:xfrm>
            <a:off x="723900" y="5334000"/>
            <a:ext cx="7086600" cy="190500"/>
            <a:chOff x="723900" y="5334000"/>
            <a:chExt cx="7086600" cy="190500"/>
          </a:xfrm>
        </p:grpSpPr>
        <p:sp>
          <p:nvSpPr>
            <p:cNvPr id="21" name="node10.text"/>
            <p:cNvSpPr/>
            <p:nvPr/>
          </p:nvSpPr>
          <p:spPr>
            <a:xfrm>
              <a:off x="723900" y="5334000"/>
              <a:ext cx="7086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Finance validates against the ledger; Compliance reviews the risk estimate yearly.</a:t>
              </a:r>
              <a:endParaRPr lang="en-US" sz="1100" spc="0" kern="0" b="0" i="0" dirty="0">
                <a:solidFill>
                  <a:srgbClr val="50658E"/>
                </a:solidFill>
                <a:latin typeface="IBM Plex Sans"/>
                <a:ea typeface="IBM Plex Sans"/>
                <a:cs typeface="IBM Plex Sans"/>
              </a:endParaRPr>
            </a:p>
          </p:txBody>
        </p:sp>
      </p:grpSp>
      <p:grpSp>
        <p:nvGrpSpPr>
          <p:cNvPr id="44" name="node11"/>
          <p:cNvGrpSpPr/>
          <p:nvPr/>
        </p:nvGrpSpPr>
        <p:grpSpPr>
          <a:xfrm>
            <a:off x="8953500" y="1600200"/>
            <a:ext cx="2514600" cy="139700"/>
            <a:chOff x="8953500" y="1600200"/>
            <a:chExt cx="2514600" cy="139700"/>
          </a:xfrm>
        </p:grpSpPr>
        <p:sp>
          <p:nvSpPr>
            <p:cNvPr id="22" name="node11.text"/>
            <p:cNvSpPr/>
            <p:nvPr/>
          </p:nvSpPr>
          <p:spPr>
            <a:xfrm>
              <a:off x="89535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NOT IN THE CASE</a:t>
              </a:r>
              <a:endParaRPr lang="en-US" sz="800" spc="48" kern="0" b="0" i="0" dirty="0">
                <a:solidFill>
                  <a:srgbClr val="CED7E6"/>
                </a:solidFill>
                <a:latin typeface="IBM Plex Mono Medium"/>
                <a:ea typeface="IBM Plex Mono Medium"/>
                <a:cs typeface="IBM Plex Mono Medium"/>
              </a:endParaRPr>
            </a:p>
          </p:txBody>
        </p:sp>
      </p:grpSp>
      <p:grpSp>
        <p:nvGrpSpPr>
          <p:cNvPr id="45" name="node12"/>
          <p:cNvGrpSpPr/>
          <p:nvPr/>
        </p:nvGrpSpPr>
        <p:grpSpPr>
          <a:xfrm>
            <a:off x="8953500" y="1905000"/>
            <a:ext cx="2514600" cy="1193800"/>
            <a:chOff x="8953500" y="1905000"/>
            <a:chExt cx="2514600" cy="1193800"/>
          </a:xfrm>
        </p:grpSpPr>
        <p:sp>
          <p:nvSpPr>
            <p:cNvPr id="23" name="node12.source-001.bullet"/>
            <p:cNvSpPr/>
            <p:nvPr/>
          </p:nvSpPr>
          <p:spPr>
            <a:xfrm>
              <a:off x="8953500" y="1993900"/>
              <a:ext cx="38100" cy="38100"/>
            </a:xfrm>
            <a:prstGeom prst="rect">
              <a:avLst/>
            </a:prstGeom>
            <a:solidFill>
              <a:srgbClr val="FFFFFF"/>
            </a:solidFill>
            <a:ln>
              <a:noFill/>
            </a:ln>
          </p:spPr>
        </p:sp>
        <p:sp>
          <p:nvSpPr>
            <p:cNvPr id="24" name="node12.source-001.text"/>
            <p:cNvSpPr/>
            <p:nvPr/>
          </p:nvSpPr>
          <p:spPr>
            <a:xfrm>
              <a:off x="9105900" y="1905000"/>
              <a:ext cx="23622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Faster clinical and financial decisions</a:t>
              </a:r>
              <a:endParaRPr lang="en-US" sz="1200" spc="0" kern="0" b="0" i="0" dirty="0">
                <a:solidFill>
                  <a:srgbClr val="FFFFFF"/>
                </a:solidFill>
                <a:latin typeface="IBM Plex Sans"/>
                <a:ea typeface="IBM Plex Sans"/>
                <a:cs typeface="IBM Plex Sans"/>
              </a:endParaRPr>
            </a:p>
          </p:txBody>
        </p:sp>
        <p:sp>
          <p:nvSpPr>
            <p:cNvPr id="25" name="node12.source-002.bullet"/>
            <p:cNvSpPr/>
            <p:nvPr/>
          </p:nvSpPr>
          <p:spPr>
            <a:xfrm>
              <a:off x="8953500" y="2463800"/>
              <a:ext cx="38100" cy="38100"/>
            </a:xfrm>
            <a:prstGeom prst="rect">
              <a:avLst/>
            </a:prstGeom>
            <a:solidFill>
              <a:srgbClr val="FFFFFF"/>
            </a:solidFill>
            <a:ln>
              <a:noFill/>
            </a:ln>
          </p:spPr>
        </p:sp>
        <p:sp>
          <p:nvSpPr>
            <p:cNvPr id="26" name="node12.source-002.text"/>
            <p:cNvSpPr/>
            <p:nvPr/>
          </p:nvSpPr>
          <p:spPr>
            <a:xfrm>
              <a:off x="9105900" y="2374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Audit readiness</a:t>
              </a:r>
              <a:endParaRPr lang="en-US" sz="1200" spc="0" kern="0" b="0" i="0" dirty="0">
                <a:solidFill>
                  <a:srgbClr val="FFFFFF"/>
                </a:solidFill>
                <a:latin typeface="IBM Plex Sans"/>
                <a:ea typeface="IBM Plex Sans"/>
                <a:cs typeface="IBM Plex Sans"/>
              </a:endParaRPr>
            </a:p>
          </p:txBody>
        </p:sp>
        <p:sp>
          <p:nvSpPr>
            <p:cNvPr id="27" name="node12.source-003.bullet"/>
            <p:cNvSpPr/>
            <p:nvPr/>
          </p:nvSpPr>
          <p:spPr>
            <a:xfrm>
              <a:off x="8953500" y="2717800"/>
              <a:ext cx="38100" cy="38100"/>
            </a:xfrm>
            <a:prstGeom prst="rect">
              <a:avLst/>
            </a:prstGeom>
            <a:solidFill>
              <a:srgbClr val="FFFFFF"/>
            </a:solidFill>
            <a:ln>
              <a:noFill/>
            </a:ln>
          </p:spPr>
        </p:sp>
        <p:sp>
          <p:nvSpPr>
            <p:cNvPr id="28" name="node12.source-003.text"/>
            <p:cNvSpPr/>
            <p:nvPr/>
          </p:nvSpPr>
          <p:spPr>
            <a:xfrm>
              <a:off x="9105900" y="2628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Retention of finance talent</a:t>
              </a:r>
              <a:endParaRPr lang="en-US" sz="1200" spc="0" kern="0" b="0" i="0" dirty="0">
                <a:solidFill>
                  <a:srgbClr val="FFFFFF"/>
                </a:solidFill>
                <a:latin typeface="IBM Plex Sans"/>
                <a:ea typeface="IBM Plex Sans"/>
                <a:cs typeface="IBM Plex Sans"/>
              </a:endParaRPr>
            </a:p>
          </p:txBody>
        </p:sp>
        <p:sp>
          <p:nvSpPr>
            <p:cNvPr id="29" name="node12.source-004.bullet"/>
            <p:cNvSpPr/>
            <p:nvPr/>
          </p:nvSpPr>
          <p:spPr>
            <a:xfrm>
              <a:off x="8953500" y="2971800"/>
              <a:ext cx="38100" cy="38100"/>
            </a:xfrm>
            <a:prstGeom prst="rect">
              <a:avLst/>
            </a:prstGeom>
            <a:solidFill>
              <a:srgbClr val="FFFFFF"/>
            </a:solidFill>
            <a:ln>
              <a:noFill/>
            </a:ln>
          </p:spPr>
        </p:sp>
        <p:sp>
          <p:nvSpPr>
            <p:cNvPr id="30" name="node12.source-004.text"/>
            <p:cNvSpPr/>
            <p:nvPr/>
          </p:nvSpPr>
          <p:spPr>
            <a:xfrm>
              <a:off x="9105900" y="2882900"/>
              <a:ext cx="2362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A platform for later waves</a:t>
              </a:r>
              <a:endParaRPr lang="en-US" sz="1200" spc="0" kern="0" b="0" i="0" dirty="0">
                <a:solidFill>
                  <a:srgbClr val="FFFFFF"/>
                </a:solidFill>
                <a:latin typeface="IBM Plex Sans"/>
                <a:ea typeface="IBM Plex Sans"/>
                <a:cs typeface="IBM Plex Sans"/>
              </a:endParaRPr>
            </a:p>
          </p:txBody>
        </p:sp>
      </p:grpSp>
      <p:sp>
        <p:nvSpPr>
          <p:cNvPr id="31" name="node13"/>
          <p:cNvSpPr/>
          <p:nvPr/>
        </p:nvSpPr>
        <p:spPr>
          <a:xfrm>
            <a:off x="8953500" y="3657600"/>
            <a:ext cx="2514600" cy="9525"/>
          </a:xfrm>
          <a:prstGeom prst="rect">
            <a:avLst/>
          </a:prstGeom>
          <a:solidFill>
            <a:srgbClr val="50658E"/>
          </a:solidFill>
          <a:ln>
            <a:noFill/>
          </a:ln>
        </p:spPr>
      </p:sp>
      <p:grpSp>
        <p:nvGrpSpPr>
          <p:cNvPr id="46" name="node14"/>
          <p:cNvGrpSpPr/>
          <p:nvPr/>
        </p:nvGrpSpPr>
        <p:grpSpPr>
          <a:xfrm>
            <a:off x="8953500" y="3810000"/>
            <a:ext cx="2514600" cy="381000"/>
            <a:chOff x="8953500" y="3810000"/>
            <a:chExt cx="2514600" cy="381000"/>
          </a:xfrm>
        </p:grpSpPr>
        <p:sp>
          <p:nvSpPr>
            <p:cNvPr id="32" name="node14.text"/>
            <p:cNvSpPr/>
            <p:nvPr/>
          </p:nvSpPr>
          <p:spPr>
            <a:xfrm>
              <a:off x="8953500" y="3810000"/>
              <a:ext cx="2514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Tracked every quarter, never counted toward ROI or payback.</a:t>
              </a:r>
              <a:endParaRPr lang="en-US" sz="1100" spc="0" kern="0" b="0" i="0" dirty="0">
                <a:solidFill>
                  <a:srgbClr val="CED7E6"/>
                </a:solidFill>
                <a:latin typeface="IBM Plex Sans"/>
                <a:ea typeface="IBM Plex Sans"/>
                <a:cs typeface="IBM Plex Sans"/>
              </a:endParaRPr>
            </a:p>
          </p:txBody>
        </p:sp>
      </p:grpSp>
      <p:grpSp>
        <p:nvGrpSpPr>
          <p:cNvPr id="47" name="node15"/>
          <p:cNvGrpSpPr/>
          <p:nvPr/>
        </p:nvGrpSpPr>
        <p:grpSpPr>
          <a:xfrm>
            <a:off x="8953500" y="4572000"/>
            <a:ext cx="2514600" cy="139700"/>
            <a:chOff x="8953500" y="4572000"/>
            <a:chExt cx="2514600" cy="139700"/>
          </a:xfrm>
        </p:grpSpPr>
        <p:sp>
          <p:nvSpPr>
            <p:cNvPr id="33" name="node15.text"/>
            <p:cNvSpPr/>
            <p:nvPr/>
          </p:nvSpPr>
          <p:spPr>
            <a:xfrm>
              <a:off x="8953500" y="45720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HOW IT IS TRACKED</a:t>
              </a:r>
              <a:endParaRPr lang="en-US" sz="800" spc="48" kern="0" b="0" i="0" dirty="0">
                <a:solidFill>
                  <a:srgbClr val="CED7E6"/>
                </a:solidFill>
                <a:latin typeface="IBM Plex Mono Medium"/>
                <a:ea typeface="IBM Plex Mono Medium"/>
                <a:cs typeface="IBM Plex Mono Medium"/>
              </a:endParaRPr>
            </a:p>
          </p:txBody>
        </p:sp>
      </p:grpSp>
      <p:grpSp>
        <p:nvGrpSpPr>
          <p:cNvPr id="48" name="node16"/>
          <p:cNvGrpSpPr/>
          <p:nvPr/>
        </p:nvGrpSpPr>
        <p:grpSpPr>
          <a:xfrm>
            <a:off x="8953500" y="4876800"/>
            <a:ext cx="2514600" cy="571500"/>
            <a:chOff x="8953500" y="4876800"/>
            <a:chExt cx="2514600" cy="571500"/>
          </a:xfrm>
        </p:grpSpPr>
        <p:sp>
          <p:nvSpPr>
            <p:cNvPr id="34" name="node16.text"/>
            <p:cNvSpPr/>
            <p:nvPr/>
          </p:nvSpPr>
          <p:spPr>
            <a:xfrm>
              <a:off x="8953500" y="4876800"/>
              <a:ext cx="2514600" cy="571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A quarterly pulse survey and decision-cycle times, reported beside the value tracker.</a:t>
              </a:r>
              <a:endParaRPr lang="en-US" sz="1100" spc="0" kern="0" b="0" i="0" dirty="0">
                <a:solidFill>
                  <a:srgbClr val="FFFFFF"/>
                </a:solidFill>
                <a:latin typeface="IBM Plex Sans"/>
                <a:ea typeface="IBM Plex Sans"/>
                <a:cs typeface="IBM Plex Sans"/>
              </a:endParaRPr>
            </a:p>
          </p:txBody>
        </p:sp>
      </p:gr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ource-22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month of delay gives up $217K of value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program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225</a:t>
            </a:fld>
            <a:endParaRPr lang="en-US" sz="700" spc="0" kern="0" b="0" i="0" dirty="0">
              <a:solidFill>
                <a:srgbClr val="070154"/>
              </a:solidFill>
              <a:latin typeface="IBM Plex Mono SemiBold"/>
              <a:ea typeface="IBM Plex Mono SemiBold"/>
              <a:cs typeface="IBM Plex Mono SemiBold"/>
            </a:endParaRPr>
          </a:p>
        </p:txBody>
      </p:sp>
      <p:grpSp>
        <p:nvGrpSpPr>
          <p:cNvPr id="26" name="node01"/>
          <p:cNvGrpSpPr/>
          <p:nvPr/>
        </p:nvGrpSpPr>
        <p:grpSpPr>
          <a:xfrm>
            <a:off x="723900" y="1600200"/>
            <a:ext cx="3429000" cy="139700"/>
            <a:chOff x="723900" y="1600200"/>
            <a:chExt cx="3429000" cy="139700"/>
          </a:xfrm>
        </p:grpSpPr>
        <p:sp>
          <p:nvSpPr>
            <p:cNvPr id="7" name="node01.text"/>
            <p:cNvSpPr/>
            <p:nvPr/>
          </p:nvSpPr>
          <p:spPr>
            <a:xfrm>
              <a:off x="723900" y="16002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VALUE FORGONE EACH MONTH</a:t>
              </a:r>
              <a:endParaRPr lang="en-US" sz="800" spc="48" kern="0" b="0" i="0" dirty="0">
                <a:solidFill>
                  <a:srgbClr val="50658E"/>
                </a:solidFill>
                <a:latin typeface="IBM Plex Mono Medium"/>
                <a:ea typeface="IBM Plex Mono Medium"/>
                <a:cs typeface="IBM Plex Mono Medium"/>
              </a:endParaRPr>
            </a:p>
          </p:txBody>
        </p:sp>
      </p:grpSp>
      <p:grpSp>
        <p:nvGrpSpPr>
          <p:cNvPr id="27" name="node02"/>
          <p:cNvGrpSpPr/>
          <p:nvPr/>
        </p:nvGrpSpPr>
        <p:grpSpPr>
          <a:xfrm>
            <a:off x="723900" y="1905000"/>
            <a:ext cx="3429000" cy="509969"/>
            <a:chOff x="723900" y="1905000"/>
            <a:chExt cx="3429000" cy="509969"/>
          </a:xfrm>
        </p:grpSpPr>
        <p:sp>
          <p:nvSpPr>
            <p:cNvPr id="8" name="node02.text"/>
            <p:cNvSpPr/>
            <p:nvPr/>
          </p:nvSpPr>
          <p:spPr>
            <a:xfrm>
              <a:off x="723900" y="1905000"/>
              <a:ext cx="34290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070154"/>
                  </a:solidFill>
                  <a:latin typeface="IBM Plex Mono SemiBold"/>
                  <a:ea typeface="IBM Plex Mono SemiBold"/>
                  <a:cs typeface="IBM Plex Mono SemiBold"/>
                </a:rPr>
                <a:t>$217K</a:t>
              </a:r>
              <a:endParaRPr lang="en-US" sz="4000" spc="-80" kern="0" b="0" i="0" dirty="0">
                <a:solidFill>
                  <a:srgbClr val="070154"/>
                </a:solidFill>
                <a:latin typeface="IBM Plex Mono SemiBold"/>
                <a:ea typeface="IBM Plex Mono SemiBold"/>
                <a:cs typeface="IBM Plex Mono SemiBold"/>
              </a:endParaRPr>
            </a:p>
          </p:txBody>
        </p:sp>
      </p:grpSp>
      <p:grpSp>
        <p:nvGrpSpPr>
          <p:cNvPr id="28" name="node03"/>
          <p:cNvGrpSpPr/>
          <p:nvPr/>
        </p:nvGrpSpPr>
        <p:grpSpPr>
          <a:xfrm>
            <a:off x="723900" y="2743200"/>
            <a:ext cx="3429000" cy="215900"/>
            <a:chOff x="723900" y="2743200"/>
            <a:chExt cx="3429000" cy="215900"/>
          </a:xfrm>
        </p:grpSpPr>
        <p:sp>
          <p:nvSpPr>
            <p:cNvPr id="9" name="node03.text"/>
            <p:cNvSpPr/>
            <p:nvPr/>
          </p:nvSpPr>
          <p:spPr>
            <a:xfrm>
              <a:off x="723900" y="27432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50658E"/>
                  </a:solidFill>
                  <a:latin typeface="IBM Plex Sans"/>
                  <a:ea typeface="IBM Plex Sans"/>
                  <a:cs typeface="IBM Plex Sans"/>
                </a:rPr>
                <a:t>$2.6M a year, divided by 12</a:t>
              </a:r>
              <a:endParaRPr lang="en-US" sz="1200" spc="0" kern="0" b="0" i="0" dirty="0">
                <a:solidFill>
                  <a:srgbClr val="50658E"/>
                </a:solidFill>
                <a:latin typeface="IBM Plex Sans"/>
                <a:ea typeface="IBM Plex Sans"/>
                <a:cs typeface="IBM Plex Sans"/>
              </a:endParaRPr>
            </a:p>
          </p:txBody>
        </p:sp>
      </p:grpSp>
      <p:sp>
        <p:nvSpPr>
          <p:cNvPr id="10" name="node04"/>
          <p:cNvSpPr/>
          <p:nvPr/>
        </p:nvSpPr>
        <p:spPr>
          <a:xfrm>
            <a:off x="723900" y="3429000"/>
            <a:ext cx="3429000" cy="9525"/>
          </a:xfrm>
          <a:prstGeom prst="rect">
            <a:avLst/>
          </a:prstGeom>
          <a:solidFill>
            <a:srgbClr val="CED7E6"/>
          </a:solidFill>
          <a:ln>
            <a:noFill/>
          </a:ln>
        </p:spPr>
      </p:sp>
      <p:grpSp>
        <p:nvGrpSpPr>
          <p:cNvPr id="29" name="node05"/>
          <p:cNvGrpSpPr/>
          <p:nvPr/>
        </p:nvGrpSpPr>
        <p:grpSpPr>
          <a:xfrm>
            <a:off x="723900" y="3581400"/>
            <a:ext cx="1828800" cy="190500"/>
            <a:chOff x="723900" y="3581400"/>
            <a:chExt cx="1828800" cy="190500"/>
          </a:xfrm>
        </p:grpSpPr>
        <p:sp>
          <p:nvSpPr>
            <p:cNvPr id="11" name="node05.text"/>
            <p:cNvSpPr/>
            <p:nvPr/>
          </p:nvSpPr>
          <p:spPr>
            <a:xfrm>
              <a:off x="723900" y="3581400"/>
              <a:ext cx="1828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Six-month delay costs</a:t>
              </a:r>
              <a:endParaRPr lang="en-US" sz="1100" spc="0" kern="0" b="0" i="0" dirty="0">
                <a:solidFill>
                  <a:srgbClr val="50658E"/>
                </a:solidFill>
                <a:latin typeface="IBM Plex Sans"/>
                <a:ea typeface="IBM Plex Sans"/>
                <a:cs typeface="IBM Plex Sans"/>
              </a:endParaRPr>
            </a:p>
          </p:txBody>
        </p:sp>
      </p:grpSp>
      <p:grpSp>
        <p:nvGrpSpPr>
          <p:cNvPr id="30" name="node06"/>
          <p:cNvGrpSpPr/>
          <p:nvPr/>
        </p:nvGrpSpPr>
        <p:grpSpPr>
          <a:xfrm>
            <a:off x="2552700" y="3543300"/>
            <a:ext cx="1600200" cy="266700"/>
            <a:chOff x="2552700" y="3543300"/>
            <a:chExt cx="1600200" cy="266700"/>
          </a:xfrm>
        </p:grpSpPr>
        <p:sp>
          <p:nvSpPr>
            <p:cNvPr id="12" name="node06.text"/>
            <p:cNvSpPr/>
            <p:nvPr/>
          </p:nvSpPr>
          <p:spPr>
            <a:xfrm>
              <a:off x="2552700" y="35433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$1.3M</a:t>
              </a:r>
              <a:endParaRPr lang="en-US" sz="1600" spc="-16" kern="0" b="0" i="0" dirty="0">
                <a:solidFill>
                  <a:srgbClr val="070154"/>
                </a:solidFill>
                <a:latin typeface="IBM Plex Sans SemiBold"/>
                <a:ea typeface="IBM Plex Sans SemiBold"/>
                <a:cs typeface="IBM Plex Sans SemiBold"/>
              </a:endParaRPr>
            </a:p>
          </p:txBody>
        </p:sp>
      </p:grpSp>
      <p:sp>
        <p:nvSpPr>
          <p:cNvPr id="13" name="node07"/>
          <p:cNvSpPr/>
          <p:nvPr/>
        </p:nvSpPr>
        <p:spPr>
          <a:xfrm>
            <a:off x="723900" y="4114800"/>
            <a:ext cx="3429000" cy="9525"/>
          </a:xfrm>
          <a:prstGeom prst="rect">
            <a:avLst/>
          </a:prstGeom>
          <a:solidFill>
            <a:srgbClr val="CED7E6"/>
          </a:solidFill>
          <a:ln>
            <a:noFill/>
          </a:ln>
        </p:spPr>
      </p:sp>
      <p:grpSp>
        <p:nvGrpSpPr>
          <p:cNvPr id="31" name="node08"/>
          <p:cNvGrpSpPr/>
          <p:nvPr/>
        </p:nvGrpSpPr>
        <p:grpSpPr>
          <a:xfrm>
            <a:off x="723900" y="4267200"/>
            <a:ext cx="1828800" cy="190500"/>
            <a:chOff x="723900" y="4267200"/>
            <a:chExt cx="1828800" cy="190500"/>
          </a:xfrm>
        </p:grpSpPr>
        <p:sp>
          <p:nvSpPr>
            <p:cNvPr id="14" name="node08.text"/>
            <p:cNvSpPr/>
            <p:nvPr/>
          </p:nvSpPr>
          <p:spPr>
            <a:xfrm>
              <a:off x="723900" y="4267200"/>
              <a:ext cx="1828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Payback moves to</a:t>
              </a:r>
              <a:endParaRPr lang="en-US" sz="1100" spc="0" kern="0" b="0" i="0" dirty="0">
                <a:solidFill>
                  <a:srgbClr val="50658E"/>
                </a:solidFill>
                <a:latin typeface="IBM Plex Sans"/>
                <a:ea typeface="IBM Plex Sans"/>
                <a:cs typeface="IBM Plex Sans"/>
              </a:endParaRPr>
            </a:p>
          </p:txBody>
        </p:sp>
      </p:grpSp>
      <p:grpSp>
        <p:nvGrpSpPr>
          <p:cNvPr id="32" name="node09"/>
          <p:cNvGrpSpPr/>
          <p:nvPr/>
        </p:nvGrpSpPr>
        <p:grpSpPr>
          <a:xfrm>
            <a:off x="2552700" y="4229100"/>
            <a:ext cx="1600200" cy="266700"/>
            <a:chOff x="2552700" y="4229100"/>
            <a:chExt cx="1600200" cy="266700"/>
          </a:xfrm>
        </p:grpSpPr>
        <p:sp>
          <p:nvSpPr>
            <p:cNvPr id="15" name="node09.text"/>
            <p:cNvSpPr/>
            <p:nvPr/>
          </p:nvSpPr>
          <p:spPr>
            <a:xfrm>
              <a:off x="2552700" y="42291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month 37</a:t>
              </a:r>
              <a:endParaRPr lang="en-US" sz="1600" spc="-16" kern="0" b="0" i="0" dirty="0">
                <a:solidFill>
                  <a:srgbClr val="070154"/>
                </a:solidFill>
                <a:latin typeface="IBM Plex Sans SemiBold"/>
                <a:ea typeface="IBM Plex Sans SemiBold"/>
                <a:cs typeface="IBM Plex Sans SemiBold"/>
              </a:endParaRPr>
            </a:p>
          </p:txBody>
        </p:sp>
      </p:grpSp>
      <p:sp>
        <p:nvSpPr>
          <p:cNvPr id="16" name="node10"/>
          <p:cNvSpPr/>
          <p:nvPr/>
        </p:nvSpPr>
        <p:spPr>
          <a:xfrm>
            <a:off x="723900" y="4800600"/>
            <a:ext cx="3429000" cy="9525"/>
          </a:xfrm>
          <a:prstGeom prst="rect">
            <a:avLst/>
          </a:prstGeom>
          <a:solidFill>
            <a:srgbClr val="CED7E6"/>
          </a:solidFill>
          <a:ln>
            <a:noFill/>
          </a:ln>
        </p:spPr>
      </p:sp>
      <p:grpSp>
        <p:nvGrpSpPr>
          <p:cNvPr id="33" name="node11"/>
          <p:cNvGrpSpPr/>
          <p:nvPr/>
        </p:nvGrpSpPr>
        <p:grpSpPr>
          <a:xfrm>
            <a:off x="723900" y="4953000"/>
            <a:ext cx="1828800" cy="190500"/>
            <a:chOff x="723900" y="4953000"/>
            <a:chExt cx="1828800" cy="190500"/>
          </a:xfrm>
        </p:grpSpPr>
        <p:sp>
          <p:nvSpPr>
            <p:cNvPr id="17" name="node11.text"/>
            <p:cNvSpPr/>
            <p:nvPr/>
          </p:nvSpPr>
          <p:spPr>
            <a:xfrm>
              <a:off x="723900" y="4953000"/>
              <a:ext cx="1828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 year of delay costs</a:t>
              </a:r>
              <a:endParaRPr lang="en-US" sz="1100" spc="0" kern="0" b="0" i="0" dirty="0">
                <a:solidFill>
                  <a:srgbClr val="50658E"/>
                </a:solidFill>
                <a:latin typeface="IBM Plex Sans"/>
                <a:ea typeface="IBM Plex Sans"/>
                <a:cs typeface="IBM Plex Sans"/>
              </a:endParaRPr>
            </a:p>
          </p:txBody>
        </p:sp>
      </p:grpSp>
      <p:grpSp>
        <p:nvGrpSpPr>
          <p:cNvPr id="34" name="node12"/>
          <p:cNvGrpSpPr/>
          <p:nvPr/>
        </p:nvGrpSpPr>
        <p:grpSpPr>
          <a:xfrm>
            <a:off x="2552700" y="4914900"/>
            <a:ext cx="1600200" cy="266700"/>
            <a:chOff x="2552700" y="4914900"/>
            <a:chExt cx="1600200" cy="266700"/>
          </a:xfrm>
        </p:grpSpPr>
        <p:sp>
          <p:nvSpPr>
            <p:cNvPr id="18" name="node12.text"/>
            <p:cNvSpPr/>
            <p:nvPr/>
          </p:nvSpPr>
          <p:spPr>
            <a:xfrm>
              <a:off x="2552700" y="4914900"/>
              <a:ext cx="16002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$2.6M</a:t>
              </a:r>
              <a:endParaRPr lang="en-US" sz="1600" spc="-16" kern="0" b="0" i="0" dirty="0">
                <a:solidFill>
                  <a:srgbClr val="070154"/>
                </a:solidFill>
                <a:latin typeface="IBM Plex Sans SemiBold"/>
                <a:ea typeface="IBM Plex Sans SemiBold"/>
                <a:cs typeface="IBM Plex Sans SemiBold"/>
              </a:endParaRPr>
            </a:p>
          </p:txBody>
        </p:sp>
      </p:grpSp>
      <p:grpSp>
        <p:nvGrpSpPr>
          <p:cNvPr id="35" name="node13"/>
          <p:cNvGrpSpPr/>
          <p:nvPr/>
        </p:nvGrpSpPr>
        <p:grpSpPr>
          <a:xfrm>
            <a:off x="4381500" y="1600200"/>
            <a:ext cx="7086600" cy="3200400"/>
            <a:chOff x="4381500" y="1600200"/>
            <a:chExt cx="7086600" cy="3200400"/>
          </a:xfrm>
        </p:grpSpPr>
        <p:sp>
          <p:nvSpPr>
            <p:cNvPr id="19" name="node13.title"/>
            <p:cNvSpPr/>
            <p:nvPr/>
          </p:nvSpPr>
          <p:spPr>
            <a:xfrm>
              <a:off x="4381500" y="1600200"/>
              <a:ext cx="7086600" cy="3048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Avoidable cost if nothing changes</a:t>
              </a:r>
              <a:endParaRPr lang="en-US" sz="1600" spc="-16" kern="0" b="0" i="0" dirty="0">
                <a:solidFill>
                  <a:srgbClr val="070154"/>
                </a:solidFill>
                <a:latin typeface="IBM Plex Sans SemiBold"/>
                <a:ea typeface="IBM Plex Sans SemiBold"/>
                <a:cs typeface="IBM Plex Sans SemiBold"/>
              </a:endParaRPr>
            </a:p>
          </p:txBody>
        </p:sp>
        <p:sp>
          <p:nvSpPr>
            <p:cNvPr id="20" name="node13.units"/>
            <p:cNvSpPr/>
            <p:nvPr/>
          </p:nvSpPr>
          <p:spPr>
            <a:xfrm>
              <a:off x="4381500" y="1905000"/>
              <a:ext cx="7086600" cy="190500"/>
            </a:xfrm>
            <a:prstGeom prst="rect">
              <a:avLst/>
            </a:prstGeom>
            <a:noFill/>
            <a:ln/>
          </p:spPr>
          <p:txBody>
            <a:bodyPr wrap="square" lIns="0" tIns="0" rIns="0" bIns="0" rtlCol="0" anchor="t"/>
            <a:lstStyle/>
            <a:p>
              <a:pPr algn="l" indent="0" marL="0">
                <a:lnSpc>
                  <a:spcPts val="1100"/>
                </a:lnSpc>
                <a:buNone/>
              </a:pPr>
              <a:r>
                <a:rPr lang="en-US" sz="800" spc="60" kern="0" b="0" i="0" dirty="0">
                  <a:solidFill>
                    <a:srgbClr val="50658E"/>
                  </a:solidFill>
                  <a:latin typeface="IBM Plex Mono Medium"/>
                  <a:ea typeface="IBM Plex Mono Medium"/>
                  <a:cs typeface="IBM Plex Mono Medium"/>
                </a:rPr>
                <a:t>$M A YEAR</a:t>
              </a:r>
              <a:endParaRPr lang="en-US" sz="800" spc="60" kern="0" b="0" i="0" dirty="0">
                <a:solidFill>
                  <a:srgbClr val="50658E"/>
                </a:solidFill>
                <a:latin typeface="IBM Plex Mono Medium"/>
                <a:ea typeface="IBM Plex Mono Medium"/>
                <a:cs typeface="IBM Plex Mono Medium"/>
              </a:endParaRPr>
            </a:p>
          </p:txBody>
        </p:sp>
        <p:graphicFrame>
          <p:nvGraphicFramePr>
            <p:cNvPr id="21" name="node13.native" descr=""/>
            <p:cNvGraphicFramePr/>
            <p:nvPr/>
          </p:nvGraphicFramePr>
          <p:xfrm>
            <a:off x="4381500" y="2209800"/>
            <a:ext cx="7086600" cy="2590800"/>
          </p:xfrm>
          <a:graphic xmlns:a="http://schemas.openxmlformats.org/drawingml/2006/main">
            <a:graphicData uri="http://schemas.openxmlformats.org/drawingml/2006/chart">
              <c:chart xmlns:c="http://schemas.openxmlformats.org/drawingml/2006/chart" r:id="rId1"/>
            </a:graphicData>
          </a:graphic>
        </p:graphicFrame>
      </p:grpSp>
      <p:grpSp>
        <p:nvGrpSpPr>
          <p:cNvPr id="36" name="node14"/>
          <p:cNvGrpSpPr/>
          <p:nvPr/>
        </p:nvGrpSpPr>
        <p:grpSpPr>
          <a:xfrm>
            <a:off x="4381500" y="5029200"/>
            <a:ext cx="7086600" cy="469900"/>
            <a:chOff x="4381500" y="5029200"/>
            <a:chExt cx="7086600" cy="469900"/>
          </a:xfrm>
        </p:grpSpPr>
        <p:sp>
          <p:nvSpPr>
            <p:cNvPr id="22" name="node14.source-001.bullet"/>
            <p:cNvSpPr/>
            <p:nvPr/>
          </p:nvSpPr>
          <p:spPr>
            <a:xfrm>
              <a:off x="4381500" y="5118100"/>
              <a:ext cx="38100" cy="38100"/>
            </a:xfrm>
            <a:prstGeom prst="rect">
              <a:avLst/>
            </a:prstGeom>
            <a:solidFill>
              <a:srgbClr val="070154"/>
            </a:solidFill>
            <a:ln>
              <a:noFill/>
            </a:ln>
          </p:spPr>
        </p:sp>
        <p:sp>
          <p:nvSpPr>
            <p:cNvPr id="23" name="node14.source-001.text"/>
            <p:cNvSpPr/>
            <p:nvPr/>
          </p:nvSpPr>
          <p:spPr>
            <a:xfrm>
              <a:off x="4533900" y="50292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Manual close hours grow 6% a year with volume</a:t>
              </a:r>
              <a:endParaRPr lang="en-US" sz="1200" spc="0" kern="0" b="0" i="0" dirty="0">
                <a:solidFill>
                  <a:srgbClr val="070154"/>
                </a:solidFill>
                <a:latin typeface="IBM Plex Sans"/>
                <a:ea typeface="IBM Plex Sans"/>
                <a:cs typeface="IBM Plex Sans"/>
              </a:endParaRPr>
            </a:p>
          </p:txBody>
        </p:sp>
        <p:sp>
          <p:nvSpPr>
            <p:cNvPr id="24" name="node14.source-002.bullet"/>
            <p:cNvSpPr/>
            <p:nvPr/>
          </p:nvSpPr>
          <p:spPr>
            <a:xfrm>
              <a:off x="4381500" y="5372100"/>
              <a:ext cx="38100" cy="38100"/>
            </a:xfrm>
            <a:prstGeom prst="rect">
              <a:avLst/>
            </a:prstGeom>
            <a:solidFill>
              <a:srgbClr val="070154"/>
            </a:solidFill>
            <a:ln>
              <a:noFill/>
            </a:ln>
          </p:spPr>
        </p:sp>
        <p:sp>
          <p:nvSpPr>
            <p:cNvPr id="25" name="node14.source-002.text"/>
            <p:cNvSpPr/>
            <p:nvPr/>
          </p:nvSpPr>
          <p:spPr>
            <a:xfrm>
              <a:off x="4533900" y="5283200"/>
              <a:ext cx="69342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Denied claims keep writing off 9.1% of billed revenue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ource-53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TEAM STRUCTURE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core team backed by matched specialists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226</a:t>
            </a:fld>
            <a:endParaRPr lang="en-US" sz="700" spc="0" kern="0" b="0" i="0" dirty="0">
              <a:solidFill>
                <a:srgbClr val="070154"/>
              </a:solidFill>
              <a:latin typeface="IBM Plex Mono SemiBold"/>
              <a:ea typeface="IBM Plex Mono SemiBold"/>
              <a:cs typeface="IBM Plex Mono SemiBold"/>
            </a:endParaRPr>
          </a:p>
        </p:txBody>
      </p:sp>
      <p:grpSp>
        <p:nvGrpSpPr>
          <p:cNvPr id="73" name="node01"/>
          <p:cNvGrpSpPr/>
          <p:nvPr/>
        </p:nvGrpSpPr>
        <p:grpSpPr>
          <a:xfrm>
            <a:off x="723900" y="1600200"/>
            <a:ext cx="10744200" cy="457200"/>
            <a:chOff x="723900" y="1600200"/>
            <a:chExt cx="10744200" cy="457200"/>
          </a:xfrm>
        </p:grpSpPr>
        <p:sp>
          <p:nvSpPr>
            <p:cNvPr id="6" name="node01.surface"/>
            <p:cNvSpPr/>
            <p:nvPr/>
          </p:nvSpPr>
          <p:spPr>
            <a:xfrm>
              <a:off x="723900" y="1600200"/>
              <a:ext cx="10744200" cy="457200"/>
            </a:xfrm>
            <a:prstGeom prst="rect">
              <a:avLst/>
            </a:prstGeom>
            <a:solidFill>
              <a:srgbClr val="070154"/>
            </a:solidFill>
            <a:ln>
              <a:noFill/>
            </a:ln>
          </p:spPr>
        </p:sp>
        <p:sp>
          <p:nvSpPr>
            <p:cNvPr id="7" name="node01.text"/>
            <p:cNvSpPr/>
            <p:nvPr/>
          </p:nvSpPr>
          <p:spPr>
            <a:xfrm>
              <a:off x="876300" y="1695450"/>
              <a:ext cx="104394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Leadership and core team</a:t>
              </a:r>
              <a:endParaRPr lang="en-US" sz="1600" spc="-16" kern="0" b="0" i="0" dirty="0">
                <a:solidFill>
                  <a:srgbClr val="FFFFFF"/>
                </a:solidFill>
                <a:latin typeface="IBM Plex Sans SemiBold"/>
                <a:ea typeface="IBM Plex Sans SemiBold"/>
                <a:cs typeface="IBM Plex Sans SemiBold"/>
              </a:endParaRPr>
            </a:p>
          </p:txBody>
        </p:sp>
      </p:grpSp>
      <p:grpSp>
        <p:nvGrpSpPr>
          <p:cNvPr id="74" name="node02"/>
          <p:cNvGrpSpPr/>
          <p:nvPr/>
        </p:nvGrpSpPr>
        <p:grpSpPr>
          <a:xfrm>
            <a:off x="723900" y="2286000"/>
            <a:ext cx="2057400" cy="457200"/>
            <a:chOff x="723900" y="2286000"/>
            <a:chExt cx="2057400" cy="457200"/>
          </a:xfrm>
        </p:grpSpPr>
        <p:pic>
          <p:nvPicPr>
            <p:cNvPr id="8" name="node02.avatar" descr="photo-headshot-face; canonical SHA256=296801383ca36ace437e526edbbf16a0e387072468b87185313e9502001ef07c">    </p:cNvPr>
            <p:cNvPicPr>
              <a:picLocks noChangeAspect="1"/>
            </p:cNvPicPr>
            <p:nvPr/>
          </p:nvPicPr>
          <p:blipFill>
            <a:blip r:embed="rId1"/>
            <a:srcRect l="0" r="0" t="0" b="0"/>
            <a:stretch/>
          </p:blipFill>
          <p:spPr>
            <a:xfrm>
              <a:off x="723900" y="2286000"/>
              <a:ext cx="457200" cy="457200"/>
            </a:xfrm>
            <a:prstGeom prst="rect">
              <a:avLst/>
            </a:prstGeom>
          </p:spPr>
        </p:pic>
        <p:sp>
          <p:nvSpPr>
            <p:cNvPr id="9" name="node02.name"/>
            <p:cNvSpPr/>
            <p:nvPr/>
          </p:nvSpPr>
          <p:spPr>
            <a:xfrm>
              <a:off x="1333500" y="22923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Dana Whitfield</a:t>
              </a:r>
              <a:endParaRPr lang="en-US" sz="1200" spc="0" kern="0" b="0" i="0" dirty="0">
                <a:solidFill>
                  <a:srgbClr val="070154"/>
                </a:solidFill>
                <a:latin typeface="IBM Plex Sans SemiBold"/>
                <a:ea typeface="IBM Plex Sans SemiBold"/>
                <a:cs typeface="IBM Plex Sans SemiBold"/>
              </a:endParaRPr>
            </a:p>
          </p:txBody>
        </p:sp>
        <p:sp>
          <p:nvSpPr>
            <p:cNvPr id="10" name="node02.role"/>
            <p:cNvSpPr/>
            <p:nvPr/>
          </p:nvSpPr>
          <p:spPr>
            <a:xfrm>
              <a:off x="1333500" y="25463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Executive sponsor</a:t>
              </a:r>
              <a:endParaRPr lang="en-US" sz="1100" spc="0" kern="0" b="0" i="0" dirty="0">
                <a:solidFill>
                  <a:srgbClr val="50658E"/>
                </a:solidFill>
                <a:latin typeface="IBM Plex Sans"/>
                <a:ea typeface="IBM Plex Sans"/>
                <a:cs typeface="IBM Plex Sans"/>
              </a:endParaRPr>
            </a:p>
          </p:txBody>
        </p:sp>
      </p:grpSp>
      <p:grpSp>
        <p:nvGrpSpPr>
          <p:cNvPr id="75" name="node03"/>
          <p:cNvGrpSpPr/>
          <p:nvPr/>
        </p:nvGrpSpPr>
        <p:grpSpPr>
          <a:xfrm>
            <a:off x="3009900" y="2286000"/>
            <a:ext cx="2057400" cy="457200"/>
            <a:chOff x="3009900" y="2286000"/>
            <a:chExt cx="2057400" cy="457200"/>
          </a:xfrm>
        </p:grpSpPr>
        <p:sp>
          <p:nvSpPr>
            <p:cNvPr id="11" name="node03.avatar"/>
            <p:cNvSpPr/>
            <p:nvPr/>
          </p:nvSpPr>
          <p:spPr>
            <a:xfrm>
              <a:off x="3009900" y="2286000"/>
              <a:ext cx="457200" cy="457200"/>
            </a:xfrm>
            <a:prstGeom prst="rect">
              <a:avLst/>
            </a:prstGeom>
            <a:solidFill>
              <a:srgbClr val="070154"/>
            </a:solidFill>
            <a:ln>
              <a:noFill/>
            </a:ln>
          </p:spPr>
        </p:sp>
        <p:sp>
          <p:nvSpPr>
            <p:cNvPr id="12" name="node03.initials"/>
            <p:cNvSpPr/>
            <p:nvPr/>
          </p:nvSpPr>
          <p:spPr>
            <a:xfrm>
              <a:off x="3009900" y="24066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KM</a:t>
              </a:r>
              <a:endParaRPr lang="en-US" sz="1200" spc="0" kern="0" b="0" i="0" dirty="0">
                <a:solidFill>
                  <a:srgbClr val="FFFFFF"/>
                </a:solidFill>
                <a:latin typeface="IBM Plex Sans SemiBold"/>
                <a:ea typeface="IBM Plex Sans SemiBold"/>
                <a:cs typeface="IBM Plex Sans SemiBold"/>
              </a:endParaRPr>
            </a:p>
          </p:txBody>
        </p:sp>
        <p:sp>
          <p:nvSpPr>
            <p:cNvPr id="13" name="node03.name"/>
            <p:cNvSpPr/>
            <p:nvPr/>
          </p:nvSpPr>
          <p:spPr>
            <a:xfrm>
              <a:off x="3619500" y="22923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Kiran Mehta</a:t>
              </a:r>
              <a:endParaRPr lang="en-US" sz="1200" spc="0" kern="0" b="0" i="0" dirty="0">
                <a:solidFill>
                  <a:srgbClr val="070154"/>
                </a:solidFill>
                <a:latin typeface="IBM Plex Sans SemiBold"/>
                <a:ea typeface="IBM Plex Sans SemiBold"/>
                <a:cs typeface="IBM Plex Sans SemiBold"/>
              </a:endParaRPr>
            </a:p>
          </p:txBody>
        </p:sp>
        <p:sp>
          <p:nvSpPr>
            <p:cNvPr id="14" name="node03.role"/>
            <p:cNvSpPr/>
            <p:nvPr/>
          </p:nvSpPr>
          <p:spPr>
            <a:xfrm>
              <a:off x="3619500" y="25463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Executive sponsor</a:t>
              </a:r>
              <a:endParaRPr lang="en-US" sz="1100" spc="0" kern="0" b="0" i="0" dirty="0">
                <a:solidFill>
                  <a:srgbClr val="50658E"/>
                </a:solidFill>
                <a:latin typeface="IBM Plex Sans"/>
                <a:ea typeface="IBM Plex Sans"/>
                <a:cs typeface="IBM Plex Sans"/>
              </a:endParaRPr>
            </a:p>
          </p:txBody>
        </p:sp>
      </p:grpSp>
      <p:grpSp>
        <p:nvGrpSpPr>
          <p:cNvPr id="76" name="node04"/>
          <p:cNvGrpSpPr/>
          <p:nvPr/>
        </p:nvGrpSpPr>
        <p:grpSpPr>
          <a:xfrm>
            <a:off x="5295900" y="2286000"/>
            <a:ext cx="2057400" cy="457200"/>
            <a:chOff x="5295900" y="2286000"/>
            <a:chExt cx="2057400" cy="457200"/>
          </a:xfrm>
        </p:grpSpPr>
        <p:sp>
          <p:nvSpPr>
            <p:cNvPr id="15" name="node04.avatar"/>
            <p:cNvSpPr/>
            <p:nvPr/>
          </p:nvSpPr>
          <p:spPr>
            <a:xfrm>
              <a:off x="5295900" y="2286000"/>
              <a:ext cx="457200" cy="457200"/>
            </a:xfrm>
            <a:prstGeom prst="rect">
              <a:avLst/>
            </a:prstGeom>
            <a:solidFill>
              <a:srgbClr val="070154"/>
            </a:solidFill>
            <a:ln>
              <a:noFill/>
            </a:ln>
          </p:spPr>
        </p:sp>
        <p:sp>
          <p:nvSpPr>
            <p:cNvPr id="16" name="node04.initials"/>
            <p:cNvSpPr/>
            <p:nvPr/>
          </p:nvSpPr>
          <p:spPr>
            <a:xfrm>
              <a:off x="5295900" y="24066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JA</a:t>
              </a:r>
              <a:endParaRPr lang="en-US" sz="1200" spc="0" kern="0" b="0" i="0" dirty="0">
                <a:solidFill>
                  <a:srgbClr val="FFFFFF"/>
                </a:solidFill>
                <a:latin typeface="IBM Plex Sans SemiBold"/>
                <a:ea typeface="IBM Plex Sans SemiBold"/>
                <a:cs typeface="IBM Plex Sans SemiBold"/>
              </a:endParaRPr>
            </a:p>
          </p:txBody>
        </p:sp>
        <p:sp>
          <p:nvSpPr>
            <p:cNvPr id="17" name="node04.name"/>
            <p:cNvSpPr/>
            <p:nvPr/>
          </p:nvSpPr>
          <p:spPr>
            <a:xfrm>
              <a:off x="5905500" y="22923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Julia Ansel</a:t>
              </a:r>
              <a:endParaRPr lang="en-US" sz="1200" spc="0" kern="0" b="0" i="0" dirty="0">
                <a:solidFill>
                  <a:srgbClr val="070154"/>
                </a:solidFill>
                <a:latin typeface="IBM Plex Sans SemiBold"/>
                <a:ea typeface="IBM Plex Sans SemiBold"/>
                <a:cs typeface="IBM Plex Sans SemiBold"/>
              </a:endParaRPr>
            </a:p>
          </p:txBody>
        </p:sp>
        <p:sp>
          <p:nvSpPr>
            <p:cNvPr id="18" name="node04.role"/>
            <p:cNvSpPr/>
            <p:nvPr/>
          </p:nvSpPr>
          <p:spPr>
            <a:xfrm>
              <a:off x="5905500" y="25463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Engagement lead</a:t>
              </a:r>
              <a:endParaRPr lang="en-US" sz="1100" spc="0" kern="0" b="0" i="0" dirty="0">
                <a:solidFill>
                  <a:srgbClr val="50658E"/>
                </a:solidFill>
                <a:latin typeface="IBM Plex Sans"/>
                <a:ea typeface="IBM Plex Sans"/>
                <a:cs typeface="IBM Plex Sans"/>
              </a:endParaRPr>
            </a:p>
          </p:txBody>
        </p:sp>
      </p:grpSp>
      <p:grpSp>
        <p:nvGrpSpPr>
          <p:cNvPr id="77" name="node05"/>
          <p:cNvGrpSpPr/>
          <p:nvPr/>
        </p:nvGrpSpPr>
        <p:grpSpPr>
          <a:xfrm>
            <a:off x="723900" y="2971800"/>
            <a:ext cx="2057400" cy="457200"/>
            <a:chOff x="723900" y="2971800"/>
            <a:chExt cx="2057400" cy="457200"/>
          </a:xfrm>
        </p:grpSpPr>
        <p:sp>
          <p:nvSpPr>
            <p:cNvPr id="19" name="node05.avatar"/>
            <p:cNvSpPr/>
            <p:nvPr/>
          </p:nvSpPr>
          <p:spPr>
            <a:xfrm>
              <a:off x="723900" y="2971800"/>
              <a:ext cx="457200" cy="457200"/>
            </a:xfrm>
            <a:prstGeom prst="rect">
              <a:avLst/>
            </a:prstGeom>
            <a:solidFill>
              <a:srgbClr val="070154"/>
            </a:solidFill>
            <a:ln>
              <a:noFill/>
            </a:ln>
          </p:spPr>
        </p:sp>
        <p:sp>
          <p:nvSpPr>
            <p:cNvPr id="20" name="node05.initials"/>
            <p:cNvSpPr/>
            <p:nvPr/>
          </p:nvSpPr>
          <p:spPr>
            <a:xfrm>
              <a:off x="723900" y="3092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MO</a:t>
              </a:r>
              <a:endParaRPr lang="en-US" sz="1200" spc="0" kern="0" b="0" i="0" dirty="0">
                <a:solidFill>
                  <a:srgbClr val="FFFFFF"/>
                </a:solidFill>
                <a:latin typeface="IBM Plex Sans SemiBold"/>
                <a:ea typeface="IBM Plex Sans SemiBold"/>
                <a:cs typeface="IBM Plex Sans SemiBold"/>
              </a:endParaRPr>
            </a:p>
          </p:txBody>
        </p:sp>
        <p:sp>
          <p:nvSpPr>
            <p:cNvPr id="21" name="node05.name"/>
            <p:cNvSpPr/>
            <p:nvPr/>
          </p:nvSpPr>
          <p:spPr>
            <a:xfrm>
              <a:off x="1333500" y="29781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Mike Odell</a:t>
              </a:r>
              <a:endParaRPr lang="en-US" sz="1200" spc="0" kern="0" b="0" i="0" dirty="0">
                <a:solidFill>
                  <a:srgbClr val="070154"/>
                </a:solidFill>
                <a:latin typeface="IBM Plex Sans SemiBold"/>
                <a:ea typeface="IBM Plex Sans SemiBold"/>
                <a:cs typeface="IBM Plex Sans SemiBold"/>
              </a:endParaRPr>
            </a:p>
          </p:txBody>
        </p:sp>
        <p:sp>
          <p:nvSpPr>
            <p:cNvPr id="22" name="node05.role"/>
            <p:cNvSpPr/>
            <p:nvPr/>
          </p:nvSpPr>
          <p:spPr>
            <a:xfrm>
              <a:off x="1333500" y="32321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Platform architect</a:t>
              </a:r>
              <a:endParaRPr lang="en-US" sz="1100" spc="0" kern="0" b="0" i="0" dirty="0">
                <a:solidFill>
                  <a:srgbClr val="50658E"/>
                </a:solidFill>
                <a:latin typeface="IBM Plex Sans"/>
                <a:ea typeface="IBM Plex Sans"/>
                <a:cs typeface="IBM Plex Sans"/>
              </a:endParaRPr>
            </a:p>
          </p:txBody>
        </p:sp>
      </p:grpSp>
      <p:grpSp>
        <p:nvGrpSpPr>
          <p:cNvPr id="78" name="node06"/>
          <p:cNvGrpSpPr/>
          <p:nvPr/>
        </p:nvGrpSpPr>
        <p:grpSpPr>
          <a:xfrm>
            <a:off x="3009900" y="2971800"/>
            <a:ext cx="2057400" cy="457200"/>
            <a:chOff x="3009900" y="2971800"/>
            <a:chExt cx="2057400" cy="457200"/>
          </a:xfrm>
        </p:grpSpPr>
        <p:sp>
          <p:nvSpPr>
            <p:cNvPr id="23" name="node06.avatar"/>
            <p:cNvSpPr/>
            <p:nvPr/>
          </p:nvSpPr>
          <p:spPr>
            <a:xfrm>
              <a:off x="3009900" y="2971800"/>
              <a:ext cx="457200" cy="457200"/>
            </a:xfrm>
            <a:prstGeom prst="rect">
              <a:avLst/>
            </a:prstGeom>
            <a:solidFill>
              <a:srgbClr val="070154"/>
            </a:solidFill>
            <a:ln>
              <a:noFill/>
            </a:ln>
          </p:spPr>
        </p:sp>
        <p:sp>
          <p:nvSpPr>
            <p:cNvPr id="24" name="node06.initials"/>
            <p:cNvSpPr/>
            <p:nvPr/>
          </p:nvSpPr>
          <p:spPr>
            <a:xfrm>
              <a:off x="3009900" y="3092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JS</a:t>
              </a:r>
              <a:endParaRPr lang="en-US" sz="1200" spc="0" kern="0" b="0" i="0" dirty="0">
                <a:solidFill>
                  <a:srgbClr val="FFFFFF"/>
                </a:solidFill>
                <a:latin typeface="IBM Plex Sans SemiBold"/>
                <a:ea typeface="IBM Plex Sans SemiBold"/>
                <a:cs typeface="IBM Plex Sans SemiBold"/>
              </a:endParaRPr>
            </a:p>
          </p:txBody>
        </p:sp>
        <p:sp>
          <p:nvSpPr>
            <p:cNvPr id="25" name="node06.name"/>
            <p:cNvSpPr/>
            <p:nvPr/>
          </p:nvSpPr>
          <p:spPr>
            <a:xfrm>
              <a:off x="3619500" y="29781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Jag Soni</a:t>
              </a:r>
              <a:endParaRPr lang="en-US" sz="1200" spc="0" kern="0" b="0" i="0" dirty="0">
                <a:solidFill>
                  <a:srgbClr val="070154"/>
                </a:solidFill>
                <a:latin typeface="IBM Plex Sans SemiBold"/>
                <a:ea typeface="IBM Plex Sans SemiBold"/>
                <a:cs typeface="IBM Plex Sans SemiBold"/>
              </a:endParaRPr>
            </a:p>
          </p:txBody>
        </p:sp>
        <p:sp>
          <p:nvSpPr>
            <p:cNvPr id="26" name="node06.role"/>
            <p:cNvSpPr/>
            <p:nvPr/>
          </p:nvSpPr>
          <p:spPr>
            <a:xfrm>
              <a:off x="3619500" y="32321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Enterprise architect</a:t>
              </a:r>
              <a:endParaRPr lang="en-US" sz="1100" spc="0" kern="0" b="0" i="0" dirty="0">
                <a:solidFill>
                  <a:srgbClr val="50658E"/>
                </a:solidFill>
                <a:latin typeface="IBM Plex Sans"/>
                <a:ea typeface="IBM Plex Sans"/>
                <a:cs typeface="IBM Plex Sans"/>
              </a:endParaRPr>
            </a:p>
          </p:txBody>
        </p:sp>
      </p:grpSp>
      <p:grpSp>
        <p:nvGrpSpPr>
          <p:cNvPr id="79" name="node07"/>
          <p:cNvGrpSpPr/>
          <p:nvPr/>
        </p:nvGrpSpPr>
        <p:grpSpPr>
          <a:xfrm>
            <a:off x="5295900" y="2971800"/>
            <a:ext cx="2057400" cy="457200"/>
            <a:chOff x="5295900" y="2971800"/>
            <a:chExt cx="2057400" cy="457200"/>
          </a:xfrm>
        </p:grpSpPr>
        <p:sp>
          <p:nvSpPr>
            <p:cNvPr id="27" name="node07.avatar"/>
            <p:cNvSpPr/>
            <p:nvPr/>
          </p:nvSpPr>
          <p:spPr>
            <a:xfrm>
              <a:off x="5295900" y="2971800"/>
              <a:ext cx="457200" cy="457200"/>
            </a:xfrm>
            <a:prstGeom prst="rect">
              <a:avLst/>
            </a:prstGeom>
            <a:solidFill>
              <a:srgbClr val="070154"/>
            </a:solidFill>
            <a:ln>
              <a:noFill/>
            </a:ln>
          </p:spPr>
        </p:sp>
        <p:sp>
          <p:nvSpPr>
            <p:cNvPr id="28" name="node07.initials"/>
            <p:cNvSpPr/>
            <p:nvPr/>
          </p:nvSpPr>
          <p:spPr>
            <a:xfrm>
              <a:off x="5295900" y="3092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AR</a:t>
              </a:r>
              <a:endParaRPr lang="en-US" sz="1200" spc="0" kern="0" b="0" i="0" dirty="0">
                <a:solidFill>
                  <a:srgbClr val="FFFFFF"/>
                </a:solidFill>
                <a:latin typeface="IBM Plex Sans SemiBold"/>
                <a:ea typeface="IBM Plex Sans SemiBold"/>
                <a:cs typeface="IBM Plex Sans SemiBold"/>
              </a:endParaRPr>
            </a:p>
          </p:txBody>
        </p:sp>
        <p:sp>
          <p:nvSpPr>
            <p:cNvPr id="29" name="node07.name"/>
            <p:cNvSpPr/>
            <p:nvPr/>
          </p:nvSpPr>
          <p:spPr>
            <a:xfrm>
              <a:off x="5905500" y="29781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Albert Reyes</a:t>
              </a:r>
              <a:endParaRPr lang="en-US" sz="1200" spc="0" kern="0" b="0" i="0" dirty="0">
                <a:solidFill>
                  <a:srgbClr val="070154"/>
                </a:solidFill>
                <a:latin typeface="IBM Plex Sans SemiBold"/>
                <a:ea typeface="IBM Plex Sans SemiBold"/>
                <a:cs typeface="IBM Plex Sans SemiBold"/>
              </a:endParaRPr>
            </a:p>
          </p:txBody>
        </p:sp>
        <p:sp>
          <p:nvSpPr>
            <p:cNvPr id="30" name="node07.role"/>
            <p:cNvSpPr/>
            <p:nvPr/>
          </p:nvSpPr>
          <p:spPr>
            <a:xfrm>
              <a:off x="5905500" y="32321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Infrastructure lead</a:t>
              </a:r>
              <a:endParaRPr lang="en-US" sz="1100" spc="0" kern="0" b="0" i="0" dirty="0">
                <a:solidFill>
                  <a:srgbClr val="50658E"/>
                </a:solidFill>
                <a:latin typeface="IBM Plex Sans"/>
                <a:ea typeface="IBM Plex Sans"/>
                <a:cs typeface="IBM Plex Sans"/>
              </a:endParaRPr>
            </a:p>
          </p:txBody>
        </p:sp>
      </p:grpSp>
      <p:grpSp>
        <p:nvGrpSpPr>
          <p:cNvPr id="80" name="node08"/>
          <p:cNvGrpSpPr/>
          <p:nvPr/>
        </p:nvGrpSpPr>
        <p:grpSpPr>
          <a:xfrm>
            <a:off x="7581900" y="2286000"/>
            <a:ext cx="3886200" cy="1371600"/>
            <a:chOff x="7581900" y="2286000"/>
            <a:chExt cx="3886200" cy="1371600"/>
          </a:xfrm>
        </p:grpSpPr>
        <p:sp>
          <p:nvSpPr>
            <p:cNvPr id="31" name="node08.container"/>
            <p:cNvSpPr/>
            <p:nvPr/>
          </p:nvSpPr>
          <p:spPr>
            <a:xfrm>
              <a:off x="7581900" y="2286000"/>
              <a:ext cx="3886200" cy="1371600"/>
            </a:xfrm>
            <a:prstGeom prst="rect">
              <a:avLst/>
            </a:prstGeom>
            <a:solidFill>
              <a:srgbClr val="E8EEF8"/>
            </a:solidFill>
            <a:ln>
              <a:noFill/>
            </a:ln>
          </p:spPr>
        </p:sp>
        <p:sp>
          <p:nvSpPr>
            <p:cNvPr id="32" name="node08.label"/>
            <p:cNvSpPr/>
            <p:nvPr/>
          </p:nvSpPr>
          <p:spPr>
            <a:xfrm>
              <a:off x="7734300" y="2438400"/>
              <a:ext cx="3581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THE CORE TEAM DOES</a:t>
              </a:r>
              <a:endParaRPr lang="en-US" sz="800" spc="48" kern="0" b="0" i="0" dirty="0">
                <a:solidFill>
                  <a:srgbClr val="0047FF"/>
                </a:solidFill>
                <a:latin typeface="IBM Plex Mono Medium"/>
                <a:ea typeface="IBM Plex Mono Medium"/>
                <a:cs typeface="IBM Plex Mono Medium"/>
              </a:endParaRPr>
            </a:p>
          </p:txBody>
        </p:sp>
        <p:sp>
          <p:nvSpPr>
            <p:cNvPr id="33" name="node08.body.item-001.bullets.item-001.marker"/>
            <p:cNvSpPr/>
            <p:nvPr/>
          </p:nvSpPr>
          <p:spPr>
            <a:xfrm>
              <a:off x="7734300" y="2743200"/>
              <a:ext cx="38100" cy="38100"/>
            </a:xfrm>
            <a:prstGeom prst="rect">
              <a:avLst/>
            </a:prstGeom>
            <a:solidFill>
              <a:srgbClr val="070154"/>
            </a:solidFill>
            <a:ln>
              <a:noFill/>
            </a:ln>
          </p:spPr>
        </p:sp>
        <p:sp>
          <p:nvSpPr>
            <p:cNvPr id="34" name="node08.body.item-001.bullets.item-001.text"/>
            <p:cNvSpPr/>
            <p:nvPr/>
          </p:nvSpPr>
          <p:spPr>
            <a:xfrm>
              <a:off x="7886700" y="26543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 the sponsor relationship and quality</a:t>
              </a:r>
              <a:endParaRPr lang="en-US" sz="1200" spc="0" kern="0" b="0" i="0" dirty="0">
                <a:solidFill>
                  <a:srgbClr val="070154"/>
                </a:solidFill>
                <a:latin typeface="IBM Plex Sans"/>
                <a:ea typeface="IBM Plex Sans"/>
                <a:cs typeface="IBM Plex Sans"/>
              </a:endParaRPr>
            </a:p>
          </p:txBody>
        </p:sp>
        <p:sp>
          <p:nvSpPr>
            <p:cNvPr id="35" name="node08.body.item-001.bullets.item-002.marker"/>
            <p:cNvSpPr/>
            <p:nvPr/>
          </p:nvSpPr>
          <p:spPr>
            <a:xfrm>
              <a:off x="7734300" y="2997200"/>
              <a:ext cx="38100" cy="38100"/>
            </a:xfrm>
            <a:prstGeom prst="rect">
              <a:avLst/>
            </a:prstGeom>
            <a:solidFill>
              <a:srgbClr val="070154"/>
            </a:solidFill>
            <a:ln>
              <a:noFill/>
            </a:ln>
          </p:spPr>
        </p:sp>
        <p:sp>
          <p:nvSpPr>
            <p:cNvPr id="36" name="node08.body.item-001.bullets.item-002.text"/>
            <p:cNvSpPr/>
            <p:nvPr/>
          </p:nvSpPr>
          <p:spPr>
            <a:xfrm>
              <a:off x="7886700" y="29083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Bring healthcare expertise to the work</a:t>
              </a:r>
              <a:endParaRPr lang="en-US" sz="1200" spc="0" kern="0" b="0" i="0" dirty="0">
                <a:solidFill>
                  <a:srgbClr val="070154"/>
                </a:solidFill>
                <a:latin typeface="IBM Plex Sans"/>
                <a:ea typeface="IBM Plex Sans"/>
                <a:cs typeface="IBM Plex Sans"/>
              </a:endParaRPr>
            </a:p>
          </p:txBody>
        </p:sp>
        <p:sp>
          <p:nvSpPr>
            <p:cNvPr id="37" name="node08.body.item-001.bullets.item-003.marker"/>
            <p:cNvSpPr/>
            <p:nvPr/>
          </p:nvSpPr>
          <p:spPr>
            <a:xfrm>
              <a:off x="7734300" y="3251200"/>
              <a:ext cx="38100" cy="38100"/>
            </a:xfrm>
            <a:prstGeom prst="rect">
              <a:avLst/>
            </a:prstGeom>
            <a:solidFill>
              <a:srgbClr val="070154"/>
            </a:solidFill>
            <a:ln>
              <a:noFill/>
            </a:ln>
          </p:spPr>
        </p:sp>
        <p:sp>
          <p:nvSpPr>
            <p:cNvPr id="38" name="node08.body.item-001.bullets.item-003.text"/>
            <p:cNvSpPr/>
            <p:nvPr/>
          </p:nvSpPr>
          <p:spPr>
            <a:xfrm>
              <a:off x="7886700" y="31623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Align both teams and transfer knowledge</a:t>
              </a:r>
              <a:endParaRPr lang="en-US" sz="1200" spc="0" kern="0" b="0" i="0" dirty="0">
                <a:solidFill>
                  <a:srgbClr val="070154"/>
                </a:solidFill>
                <a:latin typeface="IBM Plex Sans"/>
                <a:ea typeface="IBM Plex Sans"/>
                <a:cs typeface="IBM Plex Sans"/>
              </a:endParaRPr>
            </a:p>
          </p:txBody>
        </p:sp>
      </p:grpSp>
      <p:grpSp>
        <p:nvGrpSpPr>
          <p:cNvPr id="81" name="node09"/>
          <p:cNvGrpSpPr/>
          <p:nvPr/>
        </p:nvGrpSpPr>
        <p:grpSpPr>
          <a:xfrm>
            <a:off x="723900" y="3886200"/>
            <a:ext cx="10744200" cy="457200"/>
            <a:chOff x="723900" y="3886200"/>
            <a:chExt cx="10744200" cy="457200"/>
          </a:xfrm>
        </p:grpSpPr>
        <p:sp>
          <p:nvSpPr>
            <p:cNvPr id="39" name="node09.surface"/>
            <p:cNvSpPr/>
            <p:nvPr/>
          </p:nvSpPr>
          <p:spPr>
            <a:xfrm>
              <a:off x="723900" y="3886200"/>
              <a:ext cx="10744200" cy="457200"/>
            </a:xfrm>
            <a:prstGeom prst="rect">
              <a:avLst/>
            </a:prstGeom>
            <a:solidFill>
              <a:srgbClr val="070154"/>
            </a:solidFill>
            <a:ln>
              <a:noFill/>
            </a:ln>
          </p:spPr>
        </p:sp>
        <p:sp>
          <p:nvSpPr>
            <p:cNvPr id="40" name="node09.text"/>
            <p:cNvSpPr/>
            <p:nvPr/>
          </p:nvSpPr>
          <p:spPr>
            <a:xfrm>
              <a:off x="876300" y="3981450"/>
              <a:ext cx="104394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Subject matter experts and support specialists</a:t>
              </a:r>
              <a:endParaRPr lang="en-US" sz="1600" spc="-16" kern="0" b="0" i="0" dirty="0">
                <a:solidFill>
                  <a:srgbClr val="FFFFFF"/>
                </a:solidFill>
                <a:latin typeface="IBM Plex Sans SemiBold"/>
                <a:ea typeface="IBM Plex Sans SemiBold"/>
                <a:cs typeface="IBM Plex Sans SemiBold"/>
              </a:endParaRPr>
            </a:p>
          </p:txBody>
        </p:sp>
      </p:grpSp>
      <p:grpSp>
        <p:nvGrpSpPr>
          <p:cNvPr id="82" name="node10"/>
          <p:cNvGrpSpPr/>
          <p:nvPr/>
        </p:nvGrpSpPr>
        <p:grpSpPr>
          <a:xfrm>
            <a:off x="723900" y="4572000"/>
            <a:ext cx="2057400" cy="457200"/>
            <a:chOff x="723900" y="4572000"/>
            <a:chExt cx="2057400" cy="457200"/>
          </a:xfrm>
        </p:grpSpPr>
        <p:sp>
          <p:nvSpPr>
            <p:cNvPr id="41" name="node10.avatar"/>
            <p:cNvSpPr/>
            <p:nvPr/>
          </p:nvSpPr>
          <p:spPr>
            <a:xfrm>
              <a:off x="723900" y="4572000"/>
              <a:ext cx="457200" cy="457200"/>
            </a:xfrm>
            <a:prstGeom prst="rect">
              <a:avLst/>
            </a:prstGeom>
            <a:solidFill>
              <a:srgbClr val="070154"/>
            </a:solidFill>
            <a:ln>
              <a:noFill/>
            </a:ln>
          </p:spPr>
        </p:sp>
        <p:sp>
          <p:nvSpPr>
            <p:cNvPr id="42" name="node10.initials"/>
            <p:cNvSpPr/>
            <p:nvPr/>
          </p:nvSpPr>
          <p:spPr>
            <a:xfrm>
              <a:off x="723900" y="46926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SA</a:t>
              </a:r>
              <a:endParaRPr lang="en-US" sz="1200" spc="0" kern="0" b="0" i="0" dirty="0">
                <a:solidFill>
                  <a:srgbClr val="FFFFFF"/>
                </a:solidFill>
                <a:latin typeface="IBM Plex Sans SemiBold"/>
                <a:ea typeface="IBM Plex Sans SemiBold"/>
                <a:cs typeface="IBM Plex Sans SemiBold"/>
              </a:endParaRPr>
            </a:p>
          </p:txBody>
        </p:sp>
        <p:sp>
          <p:nvSpPr>
            <p:cNvPr id="43" name="node10.name"/>
            <p:cNvSpPr/>
            <p:nvPr/>
          </p:nvSpPr>
          <p:spPr>
            <a:xfrm>
              <a:off x="1333500" y="45783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Scott Alder</a:t>
              </a:r>
              <a:endParaRPr lang="en-US" sz="1200" spc="0" kern="0" b="0" i="0" dirty="0">
                <a:solidFill>
                  <a:srgbClr val="070154"/>
                </a:solidFill>
                <a:latin typeface="IBM Plex Sans SemiBold"/>
                <a:ea typeface="IBM Plex Sans SemiBold"/>
                <a:cs typeface="IBM Plex Sans SemiBold"/>
              </a:endParaRPr>
            </a:p>
          </p:txBody>
        </p:sp>
        <p:sp>
          <p:nvSpPr>
            <p:cNvPr id="44" name="node10.role"/>
            <p:cNvSpPr/>
            <p:nvPr/>
          </p:nvSpPr>
          <p:spPr>
            <a:xfrm>
              <a:off x="1333500" y="48323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payer data</a:t>
              </a:r>
              <a:endParaRPr lang="en-US" sz="1100" spc="0" kern="0" b="0" i="0" dirty="0">
                <a:solidFill>
                  <a:srgbClr val="50658E"/>
                </a:solidFill>
                <a:latin typeface="IBM Plex Sans"/>
                <a:ea typeface="IBM Plex Sans"/>
                <a:cs typeface="IBM Plex Sans"/>
              </a:endParaRPr>
            </a:p>
          </p:txBody>
        </p:sp>
      </p:grpSp>
      <p:grpSp>
        <p:nvGrpSpPr>
          <p:cNvPr id="83" name="node11"/>
          <p:cNvGrpSpPr/>
          <p:nvPr/>
        </p:nvGrpSpPr>
        <p:grpSpPr>
          <a:xfrm>
            <a:off x="3009900" y="4572000"/>
            <a:ext cx="2057400" cy="457200"/>
            <a:chOff x="3009900" y="4572000"/>
            <a:chExt cx="2057400" cy="457200"/>
          </a:xfrm>
        </p:grpSpPr>
        <p:sp>
          <p:nvSpPr>
            <p:cNvPr id="45" name="node11.avatar"/>
            <p:cNvSpPr/>
            <p:nvPr/>
          </p:nvSpPr>
          <p:spPr>
            <a:xfrm>
              <a:off x="3009900" y="4572000"/>
              <a:ext cx="457200" cy="457200"/>
            </a:xfrm>
            <a:prstGeom prst="rect">
              <a:avLst/>
            </a:prstGeom>
            <a:solidFill>
              <a:srgbClr val="070154"/>
            </a:solidFill>
            <a:ln>
              <a:noFill/>
            </a:ln>
          </p:spPr>
        </p:sp>
        <p:sp>
          <p:nvSpPr>
            <p:cNvPr id="46" name="node11.initials"/>
            <p:cNvSpPr/>
            <p:nvPr/>
          </p:nvSpPr>
          <p:spPr>
            <a:xfrm>
              <a:off x="3009900" y="46926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DC</a:t>
              </a:r>
              <a:endParaRPr lang="en-US" sz="1200" spc="0" kern="0" b="0" i="0" dirty="0">
                <a:solidFill>
                  <a:srgbClr val="FFFFFF"/>
                </a:solidFill>
                <a:latin typeface="IBM Plex Sans SemiBold"/>
                <a:ea typeface="IBM Plex Sans SemiBold"/>
                <a:cs typeface="IBM Plex Sans SemiBold"/>
              </a:endParaRPr>
            </a:p>
          </p:txBody>
        </p:sp>
        <p:sp>
          <p:nvSpPr>
            <p:cNvPr id="47" name="node11.name"/>
            <p:cNvSpPr/>
            <p:nvPr/>
          </p:nvSpPr>
          <p:spPr>
            <a:xfrm>
              <a:off x="3619500" y="45783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Dan Calloway</a:t>
              </a:r>
              <a:endParaRPr lang="en-US" sz="1200" spc="0" kern="0" b="0" i="0" dirty="0">
                <a:solidFill>
                  <a:srgbClr val="070154"/>
                </a:solidFill>
                <a:latin typeface="IBM Plex Sans SemiBold"/>
                <a:ea typeface="IBM Plex Sans SemiBold"/>
                <a:cs typeface="IBM Plex Sans SemiBold"/>
              </a:endParaRPr>
            </a:p>
          </p:txBody>
        </p:sp>
        <p:sp>
          <p:nvSpPr>
            <p:cNvPr id="48" name="node11.role"/>
            <p:cNvSpPr/>
            <p:nvPr/>
          </p:nvSpPr>
          <p:spPr>
            <a:xfrm>
              <a:off x="3619500" y="48323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life sciences</a:t>
              </a:r>
              <a:endParaRPr lang="en-US" sz="1100" spc="0" kern="0" b="0" i="0" dirty="0">
                <a:solidFill>
                  <a:srgbClr val="50658E"/>
                </a:solidFill>
                <a:latin typeface="IBM Plex Sans"/>
                <a:ea typeface="IBM Plex Sans"/>
                <a:cs typeface="IBM Plex Sans"/>
              </a:endParaRPr>
            </a:p>
          </p:txBody>
        </p:sp>
      </p:grpSp>
      <p:grpSp>
        <p:nvGrpSpPr>
          <p:cNvPr id="84" name="node12"/>
          <p:cNvGrpSpPr/>
          <p:nvPr/>
        </p:nvGrpSpPr>
        <p:grpSpPr>
          <a:xfrm>
            <a:off x="5295900" y="4572000"/>
            <a:ext cx="2057400" cy="457200"/>
            <a:chOff x="5295900" y="4572000"/>
            <a:chExt cx="2057400" cy="457200"/>
          </a:xfrm>
        </p:grpSpPr>
        <p:sp>
          <p:nvSpPr>
            <p:cNvPr id="49" name="node12.avatar"/>
            <p:cNvSpPr/>
            <p:nvPr/>
          </p:nvSpPr>
          <p:spPr>
            <a:xfrm>
              <a:off x="5295900" y="4572000"/>
              <a:ext cx="457200" cy="457200"/>
            </a:xfrm>
            <a:prstGeom prst="rect">
              <a:avLst/>
            </a:prstGeom>
            <a:solidFill>
              <a:srgbClr val="070154"/>
            </a:solidFill>
            <a:ln>
              <a:noFill/>
            </a:ln>
          </p:spPr>
        </p:sp>
        <p:sp>
          <p:nvSpPr>
            <p:cNvPr id="50" name="node12.initials"/>
            <p:cNvSpPr/>
            <p:nvPr/>
          </p:nvSpPr>
          <p:spPr>
            <a:xfrm>
              <a:off x="5295900" y="46926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BM</a:t>
              </a:r>
              <a:endParaRPr lang="en-US" sz="1200" spc="0" kern="0" b="0" i="0" dirty="0">
                <a:solidFill>
                  <a:srgbClr val="FFFFFF"/>
                </a:solidFill>
                <a:latin typeface="IBM Plex Sans SemiBold"/>
                <a:ea typeface="IBM Plex Sans SemiBold"/>
                <a:cs typeface="IBM Plex Sans SemiBold"/>
              </a:endParaRPr>
            </a:p>
          </p:txBody>
        </p:sp>
        <p:sp>
          <p:nvSpPr>
            <p:cNvPr id="51" name="node12.name"/>
            <p:cNvSpPr/>
            <p:nvPr/>
          </p:nvSpPr>
          <p:spPr>
            <a:xfrm>
              <a:off x="5905500" y="45783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Brett Marlow</a:t>
              </a:r>
              <a:endParaRPr lang="en-US" sz="1200" spc="0" kern="0" b="0" i="0" dirty="0">
                <a:solidFill>
                  <a:srgbClr val="070154"/>
                </a:solidFill>
                <a:latin typeface="IBM Plex Sans SemiBold"/>
                <a:ea typeface="IBM Plex Sans SemiBold"/>
                <a:cs typeface="IBM Plex Sans SemiBold"/>
              </a:endParaRPr>
            </a:p>
          </p:txBody>
        </p:sp>
        <p:sp>
          <p:nvSpPr>
            <p:cNvPr id="52" name="node12.role"/>
            <p:cNvSpPr/>
            <p:nvPr/>
          </p:nvSpPr>
          <p:spPr>
            <a:xfrm>
              <a:off x="5905500" y="48323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provider</a:t>
              </a:r>
              <a:endParaRPr lang="en-US" sz="1100" spc="0" kern="0" b="0" i="0" dirty="0">
                <a:solidFill>
                  <a:srgbClr val="50658E"/>
                </a:solidFill>
                <a:latin typeface="IBM Plex Sans"/>
                <a:ea typeface="IBM Plex Sans"/>
                <a:cs typeface="IBM Plex Sans"/>
              </a:endParaRPr>
            </a:p>
          </p:txBody>
        </p:sp>
      </p:grpSp>
      <p:grpSp>
        <p:nvGrpSpPr>
          <p:cNvPr id="85" name="node13"/>
          <p:cNvGrpSpPr/>
          <p:nvPr/>
        </p:nvGrpSpPr>
        <p:grpSpPr>
          <a:xfrm>
            <a:off x="723900" y="5257800"/>
            <a:ext cx="2057400" cy="457200"/>
            <a:chOff x="723900" y="5257800"/>
            <a:chExt cx="2057400" cy="457200"/>
          </a:xfrm>
        </p:grpSpPr>
        <p:sp>
          <p:nvSpPr>
            <p:cNvPr id="53" name="node13.avatar"/>
            <p:cNvSpPr/>
            <p:nvPr/>
          </p:nvSpPr>
          <p:spPr>
            <a:xfrm>
              <a:off x="723900" y="5257800"/>
              <a:ext cx="457200" cy="457200"/>
            </a:xfrm>
            <a:prstGeom prst="rect">
              <a:avLst/>
            </a:prstGeom>
            <a:solidFill>
              <a:srgbClr val="070154"/>
            </a:solidFill>
            <a:ln>
              <a:noFill/>
            </a:ln>
          </p:spPr>
        </p:sp>
        <p:sp>
          <p:nvSpPr>
            <p:cNvPr id="54" name="node13.initials"/>
            <p:cNvSpPr/>
            <p:nvPr/>
          </p:nvSpPr>
          <p:spPr>
            <a:xfrm>
              <a:off x="723900" y="5378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AG</a:t>
              </a:r>
              <a:endParaRPr lang="en-US" sz="1200" spc="0" kern="0" b="0" i="0" dirty="0">
                <a:solidFill>
                  <a:srgbClr val="FFFFFF"/>
                </a:solidFill>
                <a:latin typeface="IBM Plex Sans SemiBold"/>
                <a:ea typeface="IBM Plex Sans SemiBold"/>
                <a:cs typeface="IBM Plex Sans SemiBold"/>
              </a:endParaRPr>
            </a:p>
          </p:txBody>
        </p:sp>
        <p:sp>
          <p:nvSpPr>
            <p:cNvPr id="55" name="node13.name"/>
            <p:cNvSpPr/>
            <p:nvPr/>
          </p:nvSpPr>
          <p:spPr>
            <a:xfrm>
              <a:off x="1333500" y="52641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Anneke Groot</a:t>
              </a:r>
              <a:endParaRPr lang="en-US" sz="1200" spc="0" kern="0" b="0" i="0" dirty="0">
                <a:solidFill>
                  <a:srgbClr val="070154"/>
                </a:solidFill>
                <a:latin typeface="IBM Plex Sans SemiBold"/>
                <a:ea typeface="IBM Plex Sans SemiBold"/>
                <a:cs typeface="IBM Plex Sans SemiBold"/>
              </a:endParaRPr>
            </a:p>
          </p:txBody>
        </p:sp>
        <p:sp>
          <p:nvSpPr>
            <p:cNvPr id="56" name="node13.role"/>
            <p:cNvSpPr/>
            <p:nvPr/>
          </p:nvSpPr>
          <p:spPr>
            <a:xfrm>
              <a:off x="1333500" y="55181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governance</a:t>
              </a:r>
              <a:endParaRPr lang="en-US" sz="1100" spc="0" kern="0" b="0" i="0" dirty="0">
                <a:solidFill>
                  <a:srgbClr val="50658E"/>
                </a:solidFill>
                <a:latin typeface="IBM Plex Sans"/>
                <a:ea typeface="IBM Plex Sans"/>
                <a:cs typeface="IBM Plex Sans"/>
              </a:endParaRPr>
            </a:p>
          </p:txBody>
        </p:sp>
      </p:grpSp>
      <p:grpSp>
        <p:nvGrpSpPr>
          <p:cNvPr id="86" name="node14"/>
          <p:cNvGrpSpPr/>
          <p:nvPr/>
        </p:nvGrpSpPr>
        <p:grpSpPr>
          <a:xfrm>
            <a:off x="3009900" y="5257800"/>
            <a:ext cx="2057400" cy="457200"/>
            <a:chOff x="3009900" y="5257800"/>
            <a:chExt cx="2057400" cy="457200"/>
          </a:xfrm>
        </p:grpSpPr>
        <p:sp>
          <p:nvSpPr>
            <p:cNvPr id="57" name="node14.avatar"/>
            <p:cNvSpPr/>
            <p:nvPr/>
          </p:nvSpPr>
          <p:spPr>
            <a:xfrm>
              <a:off x="3009900" y="5257800"/>
              <a:ext cx="457200" cy="457200"/>
            </a:xfrm>
            <a:prstGeom prst="rect">
              <a:avLst/>
            </a:prstGeom>
            <a:solidFill>
              <a:srgbClr val="070154"/>
            </a:solidFill>
            <a:ln>
              <a:noFill/>
            </a:ln>
          </p:spPr>
        </p:sp>
        <p:sp>
          <p:nvSpPr>
            <p:cNvPr id="58" name="node14.initials"/>
            <p:cNvSpPr/>
            <p:nvPr/>
          </p:nvSpPr>
          <p:spPr>
            <a:xfrm>
              <a:off x="3009900" y="5378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TZ</a:t>
              </a:r>
              <a:endParaRPr lang="en-US" sz="1200" spc="0" kern="0" b="0" i="0" dirty="0">
                <a:solidFill>
                  <a:srgbClr val="FFFFFF"/>
                </a:solidFill>
                <a:latin typeface="IBM Plex Sans SemiBold"/>
                <a:ea typeface="IBM Plex Sans SemiBold"/>
                <a:cs typeface="IBM Plex Sans SemiBold"/>
              </a:endParaRPr>
            </a:p>
          </p:txBody>
        </p:sp>
        <p:sp>
          <p:nvSpPr>
            <p:cNvPr id="59" name="node14.name"/>
            <p:cNvSpPr/>
            <p:nvPr/>
          </p:nvSpPr>
          <p:spPr>
            <a:xfrm>
              <a:off x="3619500" y="52641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Tanner Zell</a:t>
              </a:r>
              <a:endParaRPr lang="en-US" sz="1200" spc="0" kern="0" b="0" i="0" dirty="0">
                <a:solidFill>
                  <a:srgbClr val="070154"/>
                </a:solidFill>
                <a:latin typeface="IBM Plex Sans SemiBold"/>
                <a:ea typeface="IBM Plex Sans SemiBold"/>
                <a:cs typeface="IBM Plex Sans SemiBold"/>
              </a:endParaRPr>
            </a:p>
          </p:txBody>
        </p:sp>
        <p:sp>
          <p:nvSpPr>
            <p:cNvPr id="60" name="node14.role"/>
            <p:cNvSpPr/>
            <p:nvPr/>
          </p:nvSpPr>
          <p:spPr>
            <a:xfrm>
              <a:off x="3619500" y="55181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design</a:t>
              </a:r>
              <a:endParaRPr lang="en-US" sz="1100" spc="0" kern="0" b="0" i="0" dirty="0">
                <a:solidFill>
                  <a:srgbClr val="50658E"/>
                </a:solidFill>
                <a:latin typeface="IBM Plex Sans"/>
                <a:ea typeface="IBM Plex Sans"/>
                <a:cs typeface="IBM Plex Sans"/>
              </a:endParaRPr>
            </a:p>
          </p:txBody>
        </p:sp>
      </p:grpSp>
      <p:grpSp>
        <p:nvGrpSpPr>
          <p:cNvPr id="87" name="node15"/>
          <p:cNvGrpSpPr/>
          <p:nvPr/>
        </p:nvGrpSpPr>
        <p:grpSpPr>
          <a:xfrm>
            <a:off x="5295900" y="5257800"/>
            <a:ext cx="2057400" cy="457200"/>
            <a:chOff x="5295900" y="5257800"/>
            <a:chExt cx="2057400" cy="457200"/>
          </a:xfrm>
        </p:grpSpPr>
        <p:sp>
          <p:nvSpPr>
            <p:cNvPr id="61" name="node15.avatar"/>
            <p:cNvSpPr/>
            <p:nvPr/>
          </p:nvSpPr>
          <p:spPr>
            <a:xfrm>
              <a:off x="5295900" y="5257800"/>
              <a:ext cx="457200" cy="457200"/>
            </a:xfrm>
            <a:prstGeom prst="rect">
              <a:avLst/>
            </a:prstGeom>
            <a:solidFill>
              <a:srgbClr val="070154"/>
            </a:solidFill>
            <a:ln>
              <a:noFill/>
            </a:ln>
          </p:spPr>
        </p:sp>
        <p:sp>
          <p:nvSpPr>
            <p:cNvPr id="62" name="node15.initials"/>
            <p:cNvSpPr/>
            <p:nvPr/>
          </p:nvSpPr>
          <p:spPr>
            <a:xfrm>
              <a:off x="5295900" y="5378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GM</a:t>
              </a:r>
              <a:endParaRPr lang="en-US" sz="1200" spc="0" kern="0" b="0" i="0" dirty="0">
                <a:solidFill>
                  <a:srgbClr val="FFFFFF"/>
                </a:solidFill>
                <a:latin typeface="IBM Plex Sans SemiBold"/>
                <a:ea typeface="IBM Plex Sans SemiBold"/>
                <a:cs typeface="IBM Plex Sans SemiBold"/>
              </a:endParaRPr>
            </a:p>
          </p:txBody>
        </p:sp>
        <p:sp>
          <p:nvSpPr>
            <p:cNvPr id="63" name="node15.name"/>
            <p:cNvSpPr/>
            <p:nvPr/>
          </p:nvSpPr>
          <p:spPr>
            <a:xfrm>
              <a:off x="5905500" y="52641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Greta Movsky</a:t>
              </a:r>
              <a:endParaRPr lang="en-US" sz="1200" spc="0" kern="0" b="0" i="0" dirty="0">
                <a:solidFill>
                  <a:srgbClr val="070154"/>
                </a:solidFill>
                <a:latin typeface="IBM Plex Sans SemiBold"/>
                <a:ea typeface="IBM Plex Sans SemiBold"/>
                <a:cs typeface="IBM Plex Sans SemiBold"/>
              </a:endParaRPr>
            </a:p>
          </p:txBody>
        </p:sp>
        <p:sp>
          <p:nvSpPr>
            <p:cNvPr id="64" name="node15.role"/>
            <p:cNvSpPr/>
            <p:nvPr/>
          </p:nvSpPr>
          <p:spPr>
            <a:xfrm>
              <a:off x="5905500" y="55181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cybersecurity</a:t>
              </a:r>
              <a:endParaRPr lang="en-US" sz="1100" spc="0" kern="0" b="0" i="0" dirty="0">
                <a:solidFill>
                  <a:srgbClr val="50658E"/>
                </a:solidFill>
                <a:latin typeface="IBM Plex Sans"/>
                <a:ea typeface="IBM Plex Sans"/>
                <a:cs typeface="IBM Plex Sans"/>
              </a:endParaRPr>
            </a:p>
          </p:txBody>
        </p:sp>
      </p:grpSp>
      <p:grpSp>
        <p:nvGrpSpPr>
          <p:cNvPr id="88" name="node16"/>
          <p:cNvGrpSpPr/>
          <p:nvPr/>
        </p:nvGrpSpPr>
        <p:grpSpPr>
          <a:xfrm>
            <a:off x="7581900" y="4572000"/>
            <a:ext cx="3886200" cy="1371600"/>
            <a:chOff x="7581900" y="4572000"/>
            <a:chExt cx="3886200" cy="1371600"/>
          </a:xfrm>
        </p:grpSpPr>
        <p:sp>
          <p:nvSpPr>
            <p:cNvPr id="65" name="node16.container"/>
            <p:cNvSpPr/>
            <p:nvPr/>
          </p:nvSpPr>
          <p:spPr>
            <a:xfrm>
              <a:off x="7581900" y="4572000"/>
              <a:ext cx="3886200" cy="1371600"/>
            </a:xfrm>
            <a:prstGeom prst="rect">
              <a:avLst/>
            </a:prstGeom>
            <a:solidFill>
              <a:srgbClr val="E8EEF8"/>
            </a:solidFill>
            <a:ln>
              <a:noFill/>
            </a:ln>
          </p:spPr>
        </p:sp>
        <p:sp>
          <p:nvSpPr>
            <p:cNvPr id="66" name="node16.label"/>
            <p:cNvSpPr/>
            <p:nvPr/>
          </p:nvSpPr>
          <p:spPr>
            <a:xfrm>
              <a:off x="7734300" y="4724400"/>
              <a:ext cx="3581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THE SPECIALISTS DO</a:t>
              </a:r>
              <a:endParaRPr lang="en-US" sz="800" spc="48" kern="0" b="0" i="0" dirty="0">
                <a:solidFill>
                  <a:srgbClr val="0047FF"/>
                </a:solidFill>
                <a:latin typeface="IBM Plex Mono Medium"/>
                <a:ea typeface="IBM Plex Mono Medium"/>
                <a:cs typeface="IBM Plex Mono Medium"/>
              </a:endParaRPr>
            </a:p>
          </p:txBody>
        </p:sp>
        <p:sp>
          <p:nvSpPr>
            <p:cNvPr id="67" name="node16.body.item-001.bullets.item-001.marker"/>
            <p:cNvSpPr/>
            <p:nvPr/>
          </p:nvSpPr>
          <p:spPr>
            <a:xfrm>
              <a:off x="7734300" y="5029200"/>
              <a:ext cx="38100" cy="38100"/>
            </a:xfrm>
            <a:prstGeom prst="rect">
              <a:avLst/>
            </a:prstGeom>
            <a:solidFill>
              <a:srgbClr val="070154"/>
            </a:solidFill>
            <a:ln>
              <a:noFill/>
            </a:ln>
          </p:spPr>
        </p:sp>
        <p:sp>
          <p:nvSpPr>
            <p:cNvPr id="68" name="node16.body.item-001.bullets.item-001.text"/>
            <p:cNvSpPr/>
            <p:nvPr/>
          </p:nvSpPr>
          <p:spPr>
            <a:xfrm>
              <a:off x="7886700" y="49403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Advise on architecture and governance</a:t>
              </a:r>
              <a:endParaRPr lang="en-US" sz="1200" spc="0" kern="0" b="0" i="0" dirty="0">
                <a:solidFill>
                  <a:srgbClr val="070154"/>
                </a:solidFill>
                <a:latin typeface="IBM Plex Sans"/>
                <a:ea typeface="IBM Plex Sans"/>
                <a:cs typeface="IBM Plex Sans"/>
              </a:endParaRPr>
            </a:p>
          </p:txBody>
        </p:sp>
        <p:sp>
          <p:nvSpPr>
            <p:cNvPr id="69" name="node16.body.item-001.bullets.item-002.marker"/>
            <p:cNvSpPr/>
            <p:nvPr/>
          </p:nvSpPr>
          <p:spPr>
            <a:xfrm>
              <a:off x="7734300" y="5283200"/>
              <a:ext cx="38100" cy="38100"/>
            </a:xfrm>
            <a:prstGeom prst="rect">
              <a:avLst/>
            </a:prstGeom>
            <a:solidFill>
              <a:srgbClr val="070154"/>
            </a:solidFill>
            <a:ln>
              <a:noFill/>
            </a:ln>
          </p:spPr>
        </p:sp>
        <p:sp>
          <p:nvSpPr>
            <p:cNvPr id="70" name="node16.body.item-001.bullets.item-002.text"/>
            <p:cNvSpPr/>
            <p:nvPr/>
          </p:nvSpPr>
          <p:spPr>
            <a:xfrm>
              <a:off x="7886700" y="51943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Assess processes and organization</a:t>
              </a:r>
              <a:endParaRPr lang="en-US" sz="1200" spc="0" kern="0" b="0" i="0" dirty="0">
                <a:solidFill>
                  <a:srgbClr val="070154"/>
                </a:solidFill>
                <a:latin typeface="IBM Plex Sans"/>
                <a:ea typeface="IBM Plex Sans"/>
                <a:cs typeface="IBM Plex Sans"/>
              </a:endParaRPr>
            </a:p>
          </p:txBody>
        </p:sp>
        <p:sp>
          <p:nvSpPr>
            <p:cNvPr id="71" name="node16.body.item-001.bullets.item-003.marker"/>
            <p:cNvSpPr/>
            <p:nvPr/>
          </p:nvSpPr>
          <p:spPr>
            <a:xfrm>
              <a:off x="7734300" y="5537200"/>
              <a:ext cx="38100" cy="38100"/>
            </a:xfrm>
            <a:prstGeom prst="rect">
              <a:avLst/>
            </a:prstGeom>
            <a:solidFill>
              <a:srgbClr val="070154"/>
            </a:solidFill>
            <a:ln>
              <a:noFill/>
            </a:ln>
          </p:spPr>
        </p:sp>
        <p:sp>
          <p:nvSpPr>
            <p:cNvPr id="72" name="node16.body.item-001.bullets.item-003.text"/>
            <p:cNvSpPr/>
            <p:nvPr/>
          </p:nvSpPr>
          <p:spPr>
            <a:xfrm>
              <a:off x="7886700" y="54483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Lead training and knowledge transfer</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ource-53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TEAM STRUCTURE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core team backed by matched specialists</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036320"/>
          </a:xfrm>
          <a:prstGeom prst="rect">
            <a:avLst/>
          </a:prstGeom>
          <a:solidFill>
            <a:srgbClr val="E8EEF8"/>
          </a:solidFill>
          <a:ln>
            <a:noFill/>
          </a:ln>
        </p:spPr>
      </p:sp>
      <p:sp>
        <p:nvSpPr>
          <p:cNvPr id="6"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569720"/>
            <a:ext cx="228600" cy="1036320"/>
          </a:xfrm>
          <a:prstGeom prst="rect">
            <a:avLst/>
          </a:prstGeom>
          <a:solidFill>
            <a:srgbClr val="E8EEF8"/>
          </a:solidFill>
          <a:ln>
            <a:noFill/>
          </a:ln>
        </p:spPr>
      </p:sp>
      <p:sp>
        <p:nvSpPr>
          <p:cNvPr id="8"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9" name="nav.section-03"/>
          <p:cNvSpPr/>
          <p:nvPr/>
        </p:nvSpPr>
        <p:spPr>
          <a:xfrm>
            <a:off x="266700" y="2682240"/>
            <a:ext cx="228600" cy="1036320"/>
          </a:xfrm>
          <a:prstGeom prst="rect">
            <a:avLst/>
          </a:prstGeom>
          <a:solidFill>
            <a:srgbClr val="070154"/>
          </a:solidFill>
          <a:ln>
            <a:noFill/>
          </a:ln>
        </p:spPr>
      </p:sp>
      <p:sp>
        <p:nvSpPr>
          <p:cNvPr id="10"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TEAM</a:t>
            </a:r>
            <a:endParaRPr lang="en-US" sz="800" spc="80" kern="0" b="0" i="0" dirty="0">
              <a:solidFill>
                <a:srgbClr val="FFFFFF"/>
              </a:solidFill>
              <a:latin typeface="IBM Plex Mono SemiBold"/>
              <a:ea typeface="IBM Plex Mono SemiBold"/>
              <a:cs typeface="IBM Plex Mono SemiBold"/>
            </a:endParaRPr>
          </a:p>
        </p:txBody>
      </p:sp>
      <p:sp>
        <p:nvSpPr>
          <p:cNvPr id="11" name="nav.section-04"/>
          <p:cNvSpPr/>
          <p:nvPr/>
        </p:nvSpPr>
        <p:spPr>
          <a:xfrm>
            <a:off x="266700" y="3794760"/>
            <a:ext cx="228600" cy="1036320"/>
          </a:xfrm>
          <a:prstGeom prst="rect">
            <a:avLst/>
          </a:prstGeom>
          <a:solidFill>
            <a:srgbClr val="E8EEF8"/>
          </a:solidFill>
          <a:ln>
            <a:noFill/>
          </a:ln>
        </p:spPr>
      </p:sp>
      <p:sp>
        <p:nvSpPr>
          <p:cNvPr id="12"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3" name="nav.section-05"/>
          <p:cNvSpPr/>
          <p:nvPr/>
        </p:nvSpPr>
        <p:spPr>
          <a:xfrm>
            <a:off x="266700" y="4907280"/>
            <a:ext cx="228600" cy="1036320"/>
          </a:xfrm>
          <a:prstGeom prst="rect">
            <a:avLst/>
          </a:prstGeom>
          <a:solidFill>
            <a:srgbClr val="E8EEF8"/>
          </a:solidFill>
          <a:ln>
            <a:noFill/>
          </a:ln>
        </p:spPr>
      </p:sp>
      <p:sp>
        <p:nvSpPr>
          <p:cNvPr id="14"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NEXT STEPS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227</a:t>
            </a:fld>
            <a:endParaRPr lang="en-US" sz="700" spc="0" kern="0" b="0" i="0" dirty="0">
              <a:solidFill>
                <a:srgbClr val="070154"/>
              </a:solidFill>
              <a:latin typeface="IBM Plex Mono SemiBold"/>
              <a:ea typeface="IBM Plex Mono SemiBold"/>
              <a:cs typeface="IBM Plex Mono SemiBold"/>
            </a:endParaRPr>
          </a:p>
        </p:txBody>
      </p:sp>
      <p:grpSp>
        <p:nvGrpSpPr>
          <p:cNvPr id="83" name="node01"/>
          <p:cNvGrpSpPr/>
          <p:nvPr/>
        </p:nvGrpSpPr>
        <p:grpSpPr>
          <a:xfrm>
            <a:off x="723900" y="1600200"/>
            <a:ext cx="10744200" cy="457200"/>
            <a:chOff x="723900" y="1600200"/>
            <a:chExt cx="10744200" cy="457200"/>
          </a:xfrm>
        </p:grpSpPr>
        <p:sp>
          <p:nvSpPr>
            <p:cNvPr id="16" name="node01.surface"/>
            <p:cNvSpPr/>
            <p:nvPr/>
          </p:nvSpPr>
          <p:spPr>
            <a:xfrm>
              <a:off x="723900" y="1600200"/>
              <a:ext cx="10744200" cy="457200"/>
            </a:xfrm>
            <a:prstGeom prst="rect">
              <a:avLst/>
            </a:prstGeom>
            <a:solidFill>
              <a:srgbClr val="070154"/>
            </a:solidFill>
            <a:ln>
              <a:noFill/>
            </a:ln>
          </p:spPr>
        </p:sp>
        <p:sp>
          <p:nvSpPr>
            <p:cNvPr id="17" name="node01.text"/>
            <p:cNvSpPr/>
            <p:nvPr/>
          </p:nvSpPr>
          <p:spPr>
            <a:xfrm>
              <a:off x="876300" y="1695450"/>
              <a:ext cx="104394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Leadership and core team</a:t>
              </a:r>
              <a:endParaRPr lang="en-US" sz="1600" spc="-16" kern="0" b="0" i="0" dirty="0">
                <a:solidFill>
                  <a:srgbClr val="FFFFFF"/>
                </a:solidFill>
                <a:latin typeface="IBM Plex Sans SemiBold"/>
                <a:ea typeface="IBM Plex Sans SemiBold"/>
                <a:cs typeface="IBM Plex Sans SemiBold"/>
              </a:endParaRPr>
            </a:p>
          </p:txBody>
        </p:sp>
      </p:grpSp>
      <p:grpSp>
        <p:nvGrpSpPr>
          <p:cNvPr id="84" name="node02"/>
          <p:cNvGrpSpPr/>
          <p:nvPr/>
        </p:nvGrpSpPr>
        <p:grpSpPr>
          <a:xfrm>
            <a:off x="723900" y="2286000"/>
            <a:ext cx="2057400" cy="457200"/>
            <a:chOff x="723900" y="2286000"/>
            <a:chExt cx="2057400" cy="457200"/>
          </a:xfrm>
        </p:grpSpPr>
        <p:pic>
          <p:nvPicPr>
            <p:cNvPr id="18" name="node02.avatar" descr="photo-headshot-face; canonical SHA256=296801383ca36ace437e526edbbf16a0e387072468b87185313e9502001ef07c">    </p:cNvPr>
            <p:cNvPicPr>
              <a:picLocks noChangeAspect="1"/>
            </p:cNvPicPr>
            <p:nvPr/>
          </p:nvPicPr>
          <p:blipFill>
            <a:blip r:embed="rId1"/>
            <a:srcRect l="0" r="0" t="0" b="0"/>
            <a:stretch/>
          </p:blipFill>
          <p:spPr>
            <a:xfrm>
              <a:off x="723900" y="2286000"/>
              <a:ext cx="457200" cy="457200"/>
            </a:xfrm>
            <a:prstGeom prst="rect">
              <a:avLst/>
            </a:prstGeom>
          </p:spPr>
        </p:pic>
        <p:sp>
          <p:nvSpPr>
            <p:cNvPr id="19" name="node02.name"/>
            <p:cNvSpPr/>
            <p:nvPr/>
          </p:nvSpPr>
          <p:spPr>
            <a:xfrm>
              <a:off x="1333500" y="22923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Dana Whitfield</a:t>
              </a:r>
              <a:endParaRPr lang="en-US" sz="1200" spc="0" kern="0" b="0" i="0" dirty="0">
                <a:solidFill>
                  <a:srgbClr val="070154"/>
                </a:solidFill>
                <a:latin typeface="IBM Plex Sans SemiBold"/>
                <a:ea typeface="IBM Plex Sans SemiBold"/>
                <a:cs typeface="IBM Plex Sans SemiBold"/>
              </a:endParaRPr>
            </a:p>
          </p:txBody>
        </p:sp>
        <p:sp>
          <p:nvSpPr>
            <p:cNvPr id="20" name="node02.role"/>
            <p:cNvSpPr/>
            <p:nvPr/>
          </p:nvSpPr>
          <p:spPr>
            <a:xfrm>
              <a:off x="1333500" y="25463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Executive sponsor</a:t>
              </a:r>
              <a:endParaRPr lang="en-US" sz="1100" spc="0" kern="0" b="0" i="0" dirty="0">
                <a:solidFill>
                  <a:srgbClr val="50658E"/>
                </a:solidFill>
                <a:latin typeface="IBM Plex Sans"/>
                <a:ea typeface="IBM Plex Sans"/>
                <a:cs typeface="IBM Plex Sans"/>
              </a:endParaRPr>
            </a:p>
          </p:txBody>
        </p:sp>
      </p:grpSp>
      <p:grpSp>
        <p:nvGrpSpPr>
          <p:cNvPr id="85" name="node03"/>
          <p:cNvGrpSpPr/>
          <p:nvPr/>
        </p:nvGrpSpPr>
        <p:grpSpPr>
          <a:xfrm>
            <a:off x="3009900" y="2286000"/>
            <a:ext cx="2057400" cy="457200"/>
            <a:chOff x="3009900" y="2286000"/>
            <a:chExt cx="2057400" cy="457200"/>
          </a:xfrm>
        </p:grpSpPr>
        <p:sp>
          <p:nvSpPr>
            <p:cNvPr id="21" name="node03.avatar"/>
            <p:cNvSpPr/>
            <p:nvPr/>
          </p:nvSpPr>
          <p:spPr>
            <a:xfrm>
              <a:off x="3009900" y="2286000"/>
              <a:ext cx="457200" cy="457200"/>
            </a:xfrm>
            <a:prstGeom prst="rect">
              <a:avLst/>
            </a:prstGeom>
            <a:solidFill>
              <a:srgbClr val="070154"/>
            </a:solidFill>
            <a:ln>
              <a:noFill/>
            </a:ln>
          </p:spPr>
        </p:sp>
        <p:sp>
          <p:nvSpPr>
            <p:cNvPr id="22" name="node03.initials"/>
            <p:cNvSpPr/>
            <p:nvPr/>
          </p:nvSpPr>
          <p:spPr>
            <a:xfrm>
              <a:off x="3009900" y="24066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KM</a:t>
              </a:r>
              <a:endParaRPr lang="en-US" sz="1200" spc="0" kern="0" b="0" i="0" dirty="0">
                <a:solidFill>
                  <a:srgbClr val="FFFFFF"/>
                </a:solidFill>
                <a:latin typeface="IBM Plex Sans SemiBold"/>
                <a:ea typeface="IBM Plex Sans SemiBold"/>
                <a:cs typeface="IBM Plex Sans SemiBold"/>
              </a:endParaRPr>
            </a:p>
          </p:txBody>
        </p:sp>
        <p:sp>
          <p:nvSpPr>
            <p:cNvPr id="23" name="node03.name"/>
            <p:cNvSpPr/>
            <p:nvPr/>
          </p:nvSpPr>
          <p:spPr>
            <a:xfrm>
              <a:off x="3619500" y="22923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Kiran Mehta</a:t>
              </a:r>
              <a:endParaRPr lang="en-US" sz="1200" spc="0" kern="0" b="0" i="0" dirty="0">
                <a:solidFill>
                  <a:srgbClr val="070154"/>
                </a:solidFill>
                <a:latin typeface="IBM Plex Sans SemiBold"/>
                <a:ea typeface="IBM Plex Sans SemiBold"/>
                <a:cs typeface="IBM Plex Sans SemiBold"/>
              </a:endParaRPr>
            </a:p>
          </p:txBody>
        </p:sp>
        <p:sp>
          <p:nvSpPr>
            <p:cNvPr id="24" name="node03.role"/>
            <p:cNvSpPr/>
            <p:nvPr/>
          </p:nvSpPr>
          <p:spPr>
            <a:xfrm>
              <a:off x="3619500" y="25463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Executive sponsor</a:t>
              </a:r>
              <a:endParaRPr lang="en-US" sz="1100" spc="0" kern="0" b="0" i="0" dirty="0">
                <a:solidFill>
                  <a:srgbClr val="50658E"/>
                </a:solidFill>
                <a:latin typeface="IBM Plex Sans"/>
                <a:ea typeface="IBM Plex Sans"/>
                <a:cs typeface="IBM Plex Sans"/>
              </a:endParaRPr>
            </a:p>
          </p:txBody>
        </p:sp>
      </p:grpSp>
      <p:grpSp>
        <p:nvGrpSpPr>
          <p:cNvPr id="86" name="node04"/>
          <p:cNvGrpSpPr/>
          <p:nvPr/>
        </p:nvGrpSpPr>
        <p:grpSpPr>
          <a:xfrm>
            <a:off x="5295900" y="2286000"/>
            <a:ext cx="2057400" cy="457200"/>
            <a:chOff x="5295900" y="2286000"/>
            <a:chExt cx="2057400" cy="457200"/>
          </a:xfrm>
        </p:grpSpPr>
        <p:sp>
          <p:nvSpPr>
            <p:cNvPr id="25" name="node04.avatar"/>
            <p:cNvSpPr/>
            <p:nvPr/>
          </p:nvSpPr>
          <p:spPr>
            <a:xfrm>
              <a:off x="5295900" y="2286000"/>
              <a:ext cx="457200" cy="457200"/>
            </a:xfrm>
            <a:prstGeom prst="rect">
              <a:avLst/>
            </a:prstGeom>
            <a:solidFill>
              <a:srgbClr val="070154"/>
            </a:solidFill>
            <a:ln>
              <a:noFill/>
            </a:ln>
          </p:spPr>
        </p:sp>
        <p:sp>
          <p:nvSpPr>
            <p:cNvPr id="26" name="node04.initials"/>
            <p:cNvSpPr/>
            <p:nvPr/>
          </p:nvSpPr>
          <p:spPr>
            <a:xfrm>
              <a:off x="5295900" y="24066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JA</a:t>
              </a:r>
              <a:endParaRPr lang="en-US" sz="1200" spc="0" kern="0" b="0" i="0" dirty="0">
                <a:solidFill>
                  <a:srgbClr val="FFFFFF"/>
                </a:solidFill>
                <a:latin typeface="IBM Plex Sans SemiBold"/>
                <a:ea typeface="IBM Plex Sans SemiBold"/>
                <a:cs typeface="IBM Plex Sans SemiBold"/>
              </a:endParaRPr>
            </a:p>
          </p:txBody>
        </p:sp>
        <p:sp>
          <p:nvSpPr>
            <p:cNvPr id="27" name="node04.name"/>
            <p:cNvSpPr/>
            <p:nvPr/>
          </p:nvSpPr>
          <p:spPr>
            <a:xfrm>
              <a:off x="5905500" y="22923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Julia Ansel</a:t>
              </a:r>
              <a:endParaRPr lang="en-US" sz="1200" spc="0" kern="0" b="0" i="0" dirty="0">
                <a:solidFill>
                  <a:srgbClr val="070154"/>
                </a:solidFill>
                <a:latin typeface="IBM Plex Sans SemiBold"/>
                <a:ea typeface="IBM Plex Sans SemiBold"/>
                <a:cs typeface="IBM Plex Sans SemiBold"/>
              </a:endParaRPr>
            </a:p>
          </p:txBody>
        </p:sp>
        <p:sp>
          <p:nvSpPr>
            <p:cNvPr id="28" name="node04.role"/>
            <p:cNvSpPr/>
            <p:nvPr/>
          </p:nvSpPr>
          <p:spPr>
            <a:xfrm>
              <a:off x="5905500" y="25463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Engagement lead</a:t>
              </a:r>
              <a:endParaRPr lang="en-US" sz="1100" spc="0" kern="0" b="0" i="0" dirty="0">
                <a:solidFill>
                  <a:srgbClr val="50658E"/>
                </a:solidFill>
                <a:latin typeface="IBM Plex Sans"/>
                <a:ea typeface="IBM Plex Sans"/>
                <a:cs typeface="IBM Plex Sans"/>
              </a:endParaRPr>
            </a:p>
          </p:txBody>
        </p:sp>
      </p:grpSp>
      <p:grpSp>
        <p:nvGrpSpPr>
          <p:cNvPr id="87" name="node05"/>
          <p:cNvGrpSpPr/>
          <p:nvPr/>
        </p:nvGrpSpPr>
        <p:grpSpPr>
          <a:xfrm>
            <a:off x="723900" y="2971800"/>
            <a:ext cx="2057400" cy="457200"/>
            <a:chOff x="723900" y="2971800"/>
            <a:chExt cx="2057400" cy="457200"/>
          </a:xfrm>
        </p:grpSpPr>
        <p:sp>
          <p:nvSpPr>
            <p:cNvPr id="29" name="node05.avatar"/>
            <p:cNvSpPr/>
            <p:nvPr/>
          </p:nvSpPr>
          <p:spPr>
            <a:xfrm>
              <a:off x="723900" y="2971800"/>
              <a:ext cx="457200" cy="457200"/>
            </a:xfrm>
            <a:prstGeom prst="rect">
              <a:avLst/>
            </a:prstGeom>
            <a:solidFill>
              <a:srgbClr val="070154"/>
            </a:solidFill>
            <a:ln>
              <a:noFill/>
            </a:ln>
          </p:spPr>
        </p:sp>
        <p:sp>
          <p:nvSpPr>
            <p:cNvPr id="30" name="node05.initials"/>
            <p:cNvSpPr/>
            <p:nvPr/>
          </p:nvSpPr>
          <p:spPr>
            <a:xfrm>
              <a:off x="723900" y="3092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MO</a:t>
              </a:r>
              <a:endParaRPr lang="en-US" sz="1200" spc="0" kern="0" b="0" i="0" dirty="0">
                <a:solidFill>
                  <a:srgbClr val="FFFFFF"/>
                </a:solidFill>
                <a:latin typeface="IBM Plex Sans SemiBold"/>
                <a:ea typeface="IBM Plex Sans SemiBold"/>
                <a:cs typeface="IBM Plex Sans SemiBold"/>
              </a:endParaRPr>
            </a:p>
          </p:txBody>
        </p:sp>
        <p:sp>
          <p:nvSpPr>
            <p:cNvPr id="31" name="node05.name"/>
            <p:cNvSpPr/>
            <p:nvPr/>
          </p:nvSpPr>
          <p:spPr>
            <a:xfrm>
              <a:off x="1333500" y="29781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Mike Odell</a:t>
              </a:r>
              <a:endParaRPr lang="en-US" sz="1200" spc="0" kern="0" b="0" i="0" dirty="0">
                <a:solidFill>
                  <a:srgbClr val="070154"/>
                </a:solidFill>
                <a:latin typeface="IBM Plex Sans SemiBold"/>
                <a:ea typeface="IBM Plex Sans SemiBold"/>
                <a:cs typeface="IBM Plex Sans SemiBold"/>
              </a:endParaRPr>
            </a:p>
          </p:txBody>
        </p:sp>
        <p:sp>
          <p:nvSpPr>
            <p:cNvPr id="32" name="node05.role"/>
            <p:cNvSpPr/>
            <p:nvPr/>
          </p:nvSpPr>
          <p:spPr>
            <a:xfrm>
              <a:off x="1333500" y="32321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Platform architect</a:t>
              </a:r>
              <a:endParaRPr lang="en-US" sz="1100" spc="0" kern="0" b="0" i="0" dirty="0">
                <a:solidFill>
                  <a:srgbClr val="50658E"/>
                </a:solidFill>
                <a:latin typeface="IBM Plex Sans"/>
                <a:ea typeface="IBM Plex Sans"/>
                <a:cs typeface="IBM Plex Sans"/>
              </a:endParaRPr>
            </a:p>
          </p:txBody>
        </p:sp>
      </p:grpSp>
      <p:grpSp>
        <p:nvGrpSpPr>
          <p:cNvPr id="88" name="node06"/>
          <p:cNvGrpSpPr/>
          <p:nvPr/>
        </p:nvGrpSpPr>
        <p:grpSpPr>
          <a:xfrm>
            <a:off x="3009900" y="2971800"/>
            <a:ext cx="2057400" cy="457200"/>
            <a:chOff x="3009900" y="2971800"/>
            <a:chExt cx="2057400" cy="457200"/>
          </a:xfrm>
        </p:grpSpPr>
        <p:sp>
          <p:nvSpPr>
            <p:cNvPr id="33" name="node06.avatar"/>
            <p:cNvSpPr/>
            <p:nvPr/>
          </p:nvSpPr>
          <p:spPr>
            <a:xfrm>
              <a:off x="3009900" y="2971800"/>
              <a:ext cx="457200" cy="457200"/>
            </a:xfrm>
            <a:prstGeom prst="rect">
              <a:avLst/>
            </a:prstGeom>
            <a:solidFill>
              <a:srgbClr val="070154"/>
            </a:solidFill>
            <a:ln>
              <a:noFill/>
            </a:ln>
          </p:spPr>
        </p:sp>
        <p:sp>
          <p:nvSpPr>
            <p:cNvPr id="34" name="node06.initials"/>
            <p:cNvSpPr/>
            <p:nvPr/>
          </p:nvSpPr>
          <p:spPr>
            <a:xfrm>
              <a:off x="3009900" y="3092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JS</a:t>
              </a:r>
              <a:endParaRPr lang="en-US" sz="1200" spc="0" kern="0" b="0" i="0" dirty="0">
                <a:solidFill>
                  <a:srgbClr val="FFFFFF"/>
                </a:solidFill>
                <a:latin typeface="IBM Plex Sans SemiBold"/>
                <a:ea typeface="IBM Plex Sans SemiBold"/>
                <a:cs typeface="IBM Plex Sans SemiBold"/>
              </a:endParaRPr>
            </a:p>
          </p:txBody>
        </p:sp>
        <p:sp>
          <p:nvSpPr>
            <p:cNvPr id="35" name="node06.name"/>
            <p:cNvSpPr/>
            <p:nvPr/>
          </p:nvSpPr>
          <p:spPr>
            <a:xfrm>
              <a:off x="3619500" y="29781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Jag Soni</a:t>
              </a:r>
              <a:endParaRPr lang="en-US" sz="1200" spc="0" kern="0" b="0" i="0" dirty="0">
                <a:solidFill>
                  <a:srgbClr val="070154"/>
                </a:solidFill>
                <a:latin typeface="IBM Plex Sans SemiBold"/>
                <a:ea typeface="IBM Plex Sans SemiBold"/>
                <a:cs typeface="IBM Plex Sans SemiBold"/>
              </a:endParaRPr>
            </a:p>
          </p:txBody>
        </p:sp>
        <p:sp>
          <p:nvSpPr>
            <p:cNvPr id="36" name="node06.role"/>
            <p:cNvSpPr/>
            <p:nvPr/>
          </p:nvSpPr>
          <p:spPr>
            <a:xfrm>
              <a:off x="3619500" y="32321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Enterprise architect</a:t>
              </a:r>
              <a:endParaRPr lang="en-US" sz="1100" spc="0" kern="0" b="0" i="0" dirty="0">
                <a:solidFill>
                  <a:srgbClr val="50658E"/>
                </a:solidFill>
                <a:latin typeface="IBM Plex Sans"/>
                <a:ea typeface="IBM Plex Sans"/>
                <a:cs typeface="IBM Plex Sans"/>
              </a:endParaRPr>
            </a:p>
          </p:txBody>
        </p:sp>
      </p:grpSp>
      <p:grpSp>
        <p:nvGrpSpPr>
          <p:cNvPr id="89" name="node07"/>
          <p:cNvGrpSpPr/>
          <p:nvPr/>
        </p:nvGrpSpPr>
        <p:grpSpPr>
          <a:xfrm>
            <a:off x="5295900" y="2971800"/>
            <a:ext cx="2057400" cy="457200"/>
            <a:chOff x="5295900" y="2971800"/>
            <a:chExt cx="2057400" cy="457200"/>
          </a:xfrm>
        </p:grpSpPr>
        <p:sp>
          <p:nvSpPr>
            <p:cNvPr id="37" name="node07.avatar"/>
            <p:cNvSpPr/>
            <p:nvPr/>
          </p:nvSpPr>
          <p:spPr>
            <a:xfrm>
              <a:off x="5295900" y="2971800"/>
              <a:ext cx="457200" cy="457200"/>
            </a:xfrm>
            <a:prstGeom prst="rect">
              <a:avLst/>
            </a:prstGeom>
            <a:solidFill>
              <a:srgbClr val="070154"/>
            </a:solidFill>
            <a:ln>
              <a:noFill/>
            </a:ln>
          </p:spPr>
        </p:sp>
        <p:sp>
          <p:nvSpPr>
            <p:cNvPr id="38" name="node07.initials"/>
            <p:cNvSpPr/>
            <p:nvPr/>
          </p:nvSpPr>
          <p:spPr>
            <a:xfrm>
              <a:off x="5295900" y="3092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AR</a:t>
              </a:r>
              <a:endParaRPr lang="en-US" sz="1200" spc="0" kern="0" b="0" i="0" dirty="0">
                <a:solidFill>
                  <a:srgbClr val="FFFFFF"/>
                </a:solidFill>
                <a:latin typeface="IBM Plex Sans SemiBold"/>
                <a:ea typeface="IBM Plex Sans SemiBold"/>
                <a:cs typeface="IBM Plex Sans SemiBold"/>
              </a:endParaRPr>
            </a:p>
          </p:txBody>
        </p:sp>
        <p:sp>
          <p:nvSpPr>
            <p:cNvPr id="39" name="node07.name"/>
            <p:cNvSpPr/>
            <p:nvPr/>
          </p:nvSpPr>
          <p:spPr>
            <a:xfrm>
              <a:off x="5905500" y="29781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Albert Reyes</a:t>
              </a:r>
              <a:endParaRPr lang="en-US" sz="1200" spc="0" kern="0" b="0" i="0" dirty="0">
                <a:solidFill>
                  <a:srgbClr val="070154"/>
                </a:solidFill>
                <a:latin typeface="IBM Plex Sans SemiBold"/>
                <a:ea typeface="IBM Plex Sans SemiBold"/>
                <a:cs typeface="IBM Plex Sans SemiBold"/>
              </a:endParaRPr>
            </a:p>
          </p:txBody>
        </p:sp>
        <p:sp>
          <p:nvSpPr>
            <p:cNvPr id="40" name="node07.role"/>
            <p:cNvSpPr/>
            <p:nvPr/>
          </p:nvSpPr>
          <p:spPr>
            <a:xfrm>
              <a:off x="5905500" y="32321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Infrastructure lead</a:t>
              </a:r>
              <a:endParaRPr lang="en-US" sz="1100" spc="0" kern="0" b="0" i="0" dirty="0">
                <a:solidFill>
                  <a:srgbClr val="50658E"/>
                </a:solidFill>
                <a:latin typeface="IBM Plex Sans"/>
                <a:ea typeface="IBM Plex Sans"/>
                <a:cs typeface="IBM Plex Sans"/>
              </a:endParaRPr>
            </a:p>
          </p:txBody>
        </p:sp>
      </p:grpSp>
      <p:grpSp>
        <p:nvGrpSpPr>
          <p:cNvPr id="90" name="node08"/>
          <p:cNvGrpSpPr/>
          <p:nvPr/>
        </p:nvGrpSpPr>
        <p:grpSpPr>
          <a:xfrm>
            <a:off x="7581900" y="2286000"/>
            <a:ext cx="3886200" cy="1371600"/>
            <a:chOff x="7581900" y="2286000"/>
            <a:chExt cx="3886200" cy="1371600"/>
          </a:xfrm>
        </p:grpSpPr>
        <p:sp>
          <p:nvSpPr>
            <p:cNvPr id="41" name="node08.container"/>
            <p:cNvSpPr/>
            <p:nvPr/>
          </p:nvSpPr>
          <p:spPr>
            <a:xfrm>
              <a:off x="7581900" y="2286000"/>
              <a:ext cx="3886200" cy="1371600"/>
            </a:xfrm>
            <a:prstGeom prst="rect">
              <a:avLst/>
            </a:prstGeom>
            <a:solidFill>
              <a:srgbClr val="E8EEF8"/>
            </a:solidFill>
            <a:ln>
              <a:noFill/>
            </a:ln>
          </p:spPr>
        </p:sp>
        <p:sp>
          <p:nvSpPr>
            <p:cNvPr id="42" name="node08.label"/>
            <p:cNvSpPr/>
            <p:nvPr/>
          </p:nvSpPr>
          <p:spPr>
            <a:xfrm>
              <a:off x="7734300" y="2438400"/>
              <a:ext cx="3581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THE CORE TEAM DOES</a:t>
              </a:r>
              <a:endParaRPr lang="en-US" sz="800" spc="48" kern="0" b="0" i="0" dirty="0">
                <a:solidFill>
                  <a:srgbClr val="0047FF"/>
                </a:solidFill>
                <a:latin typeface="IBM Plex Mono Medium"/>
                <a:ea typeface="IBM Plex Mono Medium"/>
                <a:cs typeface="IBM Plex Mono Medium"/>
              </a:endParaRPr>
            </a:p>
          </p:txBody>
        </p:sp>
        <p:sp>
          <p:nvSpPr>
            <p:cNvPr id="43" name="node08.body.item-001.bullets.item-001.marker"/>
            <p:cNvSpPr/>
            <p:nvPr/>
          </p:nvSpPr>
          <p:spPr>
            <a:xfrm>
              <a:off x="7734300" y="2743200"/>
              <a:ext cx="38100" cy="38100"/>
            </a:xfrm>
            <a:prstGeom prst="rect">
              <a:avLst/>
            </a:prstGeom>
            <a:solidFill>
              <a:srgbClr val="070154"/>
            </a:solidFill>
            <a:ln>
              <a:noFill/>
            </a:ln>
          </p:spPr>
        </p:sp>
        <p:sp>
          <p:nvSpPr>
            <p:cNvPr id="44" name="node08.body.item-001.bullets.item-001.text"/>
            <p:cNvSpPr/>
            <p:nvPr/>
          </p:nvSpPr>
          <p:spPr>
            <a:xfrm>
              <a:off x="7886700" y="26543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 the sponsor relationship and quality</a:t>
              </a:r>
              <a:endParaRPr lang="en-US" sz="1200" spc="0" kern="0" b="0" i="0" dirty="0">
                <a:solidFill>
                  <a:srgbClr val="070154"/>
                </a:solidFill>
                <a:latin typeface="IBM Plex Sans"/>
                <a:ea typeface="IBM Plex Sans"/>
                <a:cs typeface="IBM Plex Sans"/>
              </a:endParaRPr>
            </a:p>
          </p:txBody>
        </p:sp>
        <p:sp>
          <p:nvSpPr>
            <p:cNvPr id="45" name="node08.body.item-001.bullets.item-002.marker"/>
            <p:cNvSpPr/>
            <p:nvPr/>
          </p:nvSpPr>
          <p:spPr>
            <a:xfrm>
              <a:off x="7734300" y="2997200"/>
              <a:ext cx="38100" cy="38100"/>
            </a:xfrm>
            <a:prstGeom prst="rect">
              <a:avLst/>
            </a:prstGeom>
            <a:solidFill>
              <a:srgbClr val="070154"/>
            </a:solidFill>
            <a:ln>
              <a:noFill/>
            </a:ln>
          </p:spPr>
        </p:sp>
        <p:sp>
          <p:nvSpPr>
            <p:cNvPr id="46" name="node08.body.item-001.bullets.item-002.text"/>
            <p:cNvSpPr/>
            <p:nvPr/>
          </p:nvSpPr>
          <p:spPr>
            <a:xfrm>
              <a:off x="7886700" y="29083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Bring healthcare expertise to the work</a:t>
              </a:r>
              <a:endParaRPr lang="en-US" sz="1200" spc="0" kern="0" b="0" i="0" dirty="0">
                <a:solidFill>
                  <a:srgbClr val="070154"/>
                </a:solidFill>
                <a:latin typeface="IBM Plex Sans"/>
                <a:ea typeface="IBM Plex Sans"/>
                <a:cs typeface="IBM Plex Sans"/>
              </a:endParaRPr>
            </a:p>
          </p:txBody>
        </p:sp>
        <p:sp>
          <p:nvSpPr>
            <p:cNvPr id="47" name="node08.body.item-001.bullets.item-003.marker"/>
            <p:cNvSpPr/>
            <p:nvPr/>
          </p:nvSpPr>
          <p:spPr>
            <a:xfrm>
              <a:off x="7734300" y="3251200"/>
              <a:ext cx="38100" cy="38100"/>
            </a:xfrm>
            <a:prstGeom prst="rect">
              <a:avLst/>
            </a:prstGeom>
            <a:solidFill>
              <a:srgbClr val="070154"/>
            </a:solidFill>
            <a:ln>
              <a:noFill/>
            </a:ln>
          </p:spPr>
        </p:sp>
        <p:sp>
          <p:nvSpPr>
            <p:cNvPr id="48" name="node08.body.item-001.bullets.item-003.text"/>
            <p:cNvSpPr/>
            <p:nvPr/>
          </p:nvSpPr>
          <p:spPr>
            <a:xfrm>
              <a:off x="7886700" y="31623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Align both teams and transfer knowledge</a:t>
              </a:r>
              <a:endParaRPr lang="en-US" sz="1200" spc="0" kern="0" b="0" i="0" dirty="0">
                <a:solidFill>
                  <a:srgbClr val="070154"/>
                </a:solidFill>
                <a:latin typeface="IBM Plex Sans"/>
                <a:ea typeface="IBM Plex Sans"/>
                <a:cs typeface="IBM Plex Sans"/>
              </a:endParaRPr>
            </a:p>
          </p:txBody>
        </p:sp>
      </p:grpSp>
      <p:grpSp>
        <p:nvGrpSpPr>
          <p:cNvPr id="91" name="node09"/>
          <p:cNvGrpSpPr/>
          <p:nvPr/>
        </p:nvGrpSpPr>
        <p:grpSpPr>
          <a:xfrm>
            <a:off x="723900" y="3886200"/>
            <a:ext cx="10744200" cy="457200"/>
            <a:chOff x="723900" y="3886200"/>
            <a:chExt cx="10744200" cy="457200"/>
          </a:xfrm>
        </p:grpSpPr>
        <p:sp>
          <p:nvSpPr>
            <p:cNvPr id="49" name="node09.surface"/>
            <p:cNvSpPr/>
            <p:nvPr/>
          </p:nvSpPr>
          <p:spPr>
            <a:xfrm>
              <a:off x="723900" y="3886200"/>
              <a:ext cx="10744200" cy="457200"/>
            </a:xfrm>
            <a:prstGeom prst="rect">
              <a:avLst/>
            </a:prstGeom>
            <a:solidFill>
              <a:srgbClr val="070154"/>
            </a:solidFill>
            <a:ln>
              <a:noFill/>
            </a:ln>
          </p:spPr>
        </p:sp>
        <p:sp>
          <p:nvSpPr>
            <p:cNvPr id="50" name="node09.text"/>
            <p:cNvSpPr/>
            <p:nvPr/>
          </p:nvSpPr>
          <p:spPr>
            <a:xfrm>
              <a:off x="876300" y="3981450"/>
              <a:ext cx="104394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Subject matter experts and support specialists</a:t>
              </a:r>
              <a:endParaRPr lang="en-US" sz="1600" spc="-16" kern="0" b="0" i="0" dirty="0">
                <a:solidFill>
                  <a:srgbClr val="FFFFFF"/>
                </a:solidFill>
                <a:latin typeface="IBM Plex Sans SemiBold"/>
                <a:ea typeface="IBM Plex Sans SemiBold"/>
                <a:cs typeface="IBM Plex Sans SemiBold"/>
              </a:endParaRPr>
            </a:p>
          </p:txBody>
        </p:sp>
      </p:grpSp>
      <p:grpSp>
        <p:nvGrpSpPr>
          <p:cNvPr id="92" name="node10"/>
          <p:cNvGrpSpPr/>
          <p:nvPr/>
        </p:nvGrpSpPr>
        <p:grpSpPr>
          <a:xfrm>
            <a:off x="723900" y="4572000"/>
            <a:ext cx="2057400" cy="457200"/>
            <a:chOff x="723900" y="4572000"/>
            <a:chExt cx="2057400" cy="457200"/>
          </a:xfrm>
        </p:grpSpPr>
        <p:sp>
          <p:nvSpPr>
            <p:cNvPr id="51" name="node10.avatar"/>
            <p:cNvSpPr/>
            <p:nvPr/>
          </p:nvSpPr>
          <p:spPr>
            <a:xfrm>
              <a:off x="723900" y="4572000"/>
              <a:ext cx="457200" cy="457200"/>
            </a:xfrm>
            <a:prstGeom prst="rect">
              <a:avLst/>
            </a:prstGeom>
            <a:solidFill>
              <a:srgbClr val="070154"/>
            </a:solidFill>
            <a:ln>
              <a:noFill/>
            </a:ln>
          </p:spPr>
        </p:sp>
        <p:sp>
          <p:nvSpPr>
            <p:cNvPr id="52" name="node10.initials"/>
            <p:cNvSpPr/>
            <p:nvPr/>
          </p:nvSpPr>
          <p:spPr>
            <a:xfrm>
              <a:off x="723900" y="46926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SA</a:t>
              </a:r>
              <a:endParaRPr lang="en-US" sz="1200" spc="0" kern="0" b="0" i="0" dirty="0">
                <a:solidFill>
                  <a:srgbClr val="FFFFFF"/>
                </a:solidFill>
                <a:latin typeface="IBM Plex Sans SemiBold"/>
                <a:ea typeface="IBM Plex Sans SemiBold"/>
                <a:cs typeface="IBM Plex Sans SemiBold"/>
              </a:endParaRPr>
            </a:p>
          </p:txBody>
        </p:sp>
        <p:sp>
          <p:nvSpPr>
            <p:cNvPr id="53" name="node10.name"/>
            <p:cNvSpPr/>
            <p:nvPr/>
          </p:nvSpPr>
          <p:spPr>
            <a:xfrm>
              <a:off x="1333500" y="45783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Scott Alder</a:t>
              </a:r>
              <a:endParaRPr lang="en-US" sz="1200" spc="0" kern="0" b="0" i="0" dirty="0">
                <a:solidFill>
                  <a:srgbClr val="070154"/>
                </a:solidFill>
                <a:latin typeface="IBM Plex Sans SemiBold"/>
                <a:ea typeface="IBM Plex Sans SemiBold"/>
                <a:cs typeface="IBM Plex Sans SemiBold"/>
              </a:endParaRPr>
            </a:p>
          </p:txBody>
        </p:sp>
        <p:sp>
          <p:nvSpPr>
            <p:cNvPr id="54" name="node10.role"/>
            <p:cNvSpPr/>
            <p:nvPr/>
          </p:nvSpPr>
          <p:spPr>
            <a:xfrm>
              <a:off x="1333500" y="48323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payer data</a:t>
              </a:r>
              <a:endParaRPr lang="en-US" sz="1100" spc="0" kern="0" b="0" i="0" dirty="0">
                <a:solidFill>
                  <a:srgbClr val="50658E"/>
                </a:solidFill>
                <a:latin typeface="IBM Plex Sans"/>
                <a:ea typeface="IBM Plex Sans"/>
                <a:cs typeface="IBM Plex Sans"/>
              </a:endParaRPr>
            </a:p>
          </p:txBody>
        </p:sp>
      </p:grpSp>
      <p:grpSp>
        <p:nvGrpSpPr>
          <p:cNvPr id="93" name="node11"/>
          <p:cNvGrpSpPr/>
          <p:nvPr/>
        </p:nvGrpSpPr>
        <p:grpSpPr>
          <a:xfrm>
            <a:off x="3009900" y="4572000"/>
            <a:ext cx="2057400" cy="457200"/>
            <a:chOff x="3009900" y="4572000"/>
            <a:chExt cx="2057400" cy="457200"/>
          </a:xfrm>
        </p:grpSpPr>
        <p:sp>
          <p:nvSpPr>
            <p:cNvPr id="55" name="node11.avatar"/>
            <p:cNvSpPr/>
            <p:nvPr/>
          </p:nvSpPr>
          <p:spPr>
            <a:xfrm>
              <a:off x="3009900" y="4572000"/>
              <a:ext cx="457200" cy="457200"/>
            </a:xfrm>
            <a:prstGeom prst="rect">
              <a:avLst/>
            </a:prstGeom>
            <a:solidFill>
              <a:srgbClr val="070154"/>
            </a:solidFill>
            <a:ln>
              <a:noFill/>
            </a:ln>
          </p:spPr>
        </p:sp>
        <p:sp>
          <p:nvSpPr>
            <p:cNvPr id="56" name="node11.initials"/>
            <p:cNvSpPr/>
            <p:nvPr/>
          </p:nvSpPr>
          <p:spPr>
            <a:xfrm>
              <a:off x="3009900" y="46926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DC</a:t>
              </a:r>
              <a:endParaRPr lang="en-US" sz="1200" spc="0" kern="0" b="0" i="0" dirty="0">
                <a:solidFill>
                  <a:srgbClr val="FFFFFF"/>
                </a:solidFill>
                <a:latin typeface="IBM Plex Sans SemiBold"/>
                <a:ea typeface="IBM Plex Sans SemiBold"/>
                <a:cs typeface="IBM Plex Sans SemiBold"/>
              </a:endParaRPr>
            </a:p>
          </p:txBody>
        </p:sp>
        <p:sp>
          <p:nvSpPr>
            <p:cNvPr id="57" name="node11.name"/>
            <p:cNvSpPr/>
            <p:nvPr/>
          </p:nvSpPr>
          <p:spPr>
            <a:xfrm>
              <a:off x="3619500" y="45783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Dan Calloway</a:t>
              </a:r>
              <a:endParaRPr lang="en-US" sz="1200" spc="0" kern="0" b="0" i="0" dirty="0">
                <a:solidFill>
                  <a:srgbClr val="070154"/>
                </a:solidFill>
                <a:latin typeface="IBM Plex Sans SemiBold"/>
                <a:ea typeface="IBM Plex Sans SemiBold"/>
                <a:cs typeface="IBM Plex Sans SemiBold"/>
              </a:endParaRPr>
            </a:p>
          </p:txBody>
        </p:sp>
        <p:sp>
          <p:nvSpPr>
            <p:cNvPr id="58" name="node11.role"/>
            <p:cNvSpPr/>
            <p:nvPr/>
          </p:nvSpPr>
          <p:spPr>
            <a:xfrm>
              <a:off x="3619500" y="48323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life sciences</a:t>
              </a:r>
              <a:endParaRPr lang="en-US" sz="1100" spc="0" kern="0" b="0" i="0" dirty="0">
                <a:solidFill>
                  <a:srgbClr val="50658E"/>
                </a:solidFill>
                <a:latin typeface="IBM Plex Sans"/>
                <a:ea typeface="IBM Plex Sans"/>
                <a:cs typeface="IBM Plex Sans"/>
              </a:endParaRPr>
            </a:p>
          </p:txBody>
        </p:sp>
      </p:grpSp>
      <p:grpSp>
        <p:nvGrpSpPr>
          <p:cNvPr id="94" name="node12"/>
          <p:cNvGrpSpPr/>
          <p:nvPr/>
        </p:nvGrpSpPr>
        <p:grpSpPr>
          <a:xfrm>
            <a:off x="5295900" y="4572000"/>
            <a:ext cx="2057400" cy="457200"/>
            <a:chOff x="5295900" y="4572000"/>
            <a:chExt cx="2057400" cy="457200"/>
          </a:xfrm>
        </p:grpSpPr>
        <p:sp>
          <p:nvSpPr>
            <p:cNvPr id="59" name="node12.avatar"/>
            <p:cNvSpPr/>
            <p:nvPr/>
          </p:nvSpPr>
          <p:spPr>
            <a:xfrm>
              <a:off x="5295900" y="4572000"/>
              <a:ext cx="457200" cy="457200"/>
            </a:xfrm>
            <a:prstGeom prst="rect">
              <a:avLst/>
            </a:prstGeom>
            <a:solidFill>
              <a:srgbClr val="070154"/>
            </a:solidFill>
            <a:ln>
              <a:noFill/>
            </a:ln>
          </p:spPr>
        </p:sp>
        <p:sp>
          <p:nvSpPr>
            <p:cNvPr id="60" name="node12.initials"/>
            <p:cNvSpPr/>
            <p:nvPr/>
          </p:nvSpPr>
          <p:spPr>
            <a:xfrm>
              <a:off x="5295900" y="46926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BM</a:t>
              </a:r>
              <a:endParaRPr lang="en-US" sz="1200" spc="0" kern="0" b="0" i="0" dirty="0">
                <a:solidFill>
                  <a:srgbClr val="FFFFFF"/>
                </a:solidFill>
                <a:latin typeface="IBM Plex Sans SemiBold"/>
                <a:ea typeface="IBM Plex Sans SemiBold"/>
                <a:cs typeface="IBM Plex Sans SemiBold"/>
              </a:endParaRPr>
            </a:p>
          </p:txBody>
        </p:sp>
        <p:sp>
          <p:nvSpPr>
            <p:cNvPr id="61" name="node12.name"/>
            <p:cNvSpPr/>
            <p:nvPr/>
          </p:nvSpPr>
          <p:spPr>
            <a:xfrm>
              <a:off x="5905500" y="45783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Brett Marlow</a:t>
              </a:r>
              <a:endParaRPr lang="en-US" sz="1200" spc="0" kern="0" b="0" i="0" dirty="0">
                <a:solidFill>
                  <a:srgbClr val="070154"/>
                </a:solidFill>
                <a:latin typeface="IBM Plex Sans SemiBold"/>
                <a:ea typeface="IBM Plex Sans SemiBold"/>
                <a:cs typeface="IBM Plex Sans SemiBold"/>
              </a:endParaRPr>
            </a:p>
          </p:txBody>
        </p:sp>
        <p:sp>
          <p:nvSpPr>
            <p:cNvPr id="62" name="node12.role"/>
            <p:cNvSpPr/>
            <p:nvPr/>
          </p:nvSpPr>
          <p:spPr>
            <a:xfrm>
              <a:off x="5905500" y="48323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provider</a:t>
              </a:r>
              <a:endParaRPr lang="en-US" sz="1100" spc="0" kern="0" b="0" i="0" dirty="0">
                <a:solidFill>
                  <a:srgbClr val="50658E"/>
                </a:solidFill>
                <a:latin typeface="IBM Plex Sans"/>
                <a:ea typeface="IBM Plex Sans"/>
                <a:cs typeface="IBM Plex Sans"/>
              </a:endParaRPr>
            </a:p>
          </p:txBody>
        </p:sp>
      </p:grpSp>
      <p:grpSp>
        <p:nvGrpSpPr>
          <p:cNvPr id="95" name="node13"/>
          <p:cNvGrpSpPr/>
          <p:nvPr/>
        </p:nvGrpSpPr>
        <p:grpSpPr>
          <a:xfrm>
            <a:off x="723900" y="5257800"/>
            <a:ext cx="2057400" cy="457200"/>
            <a:chOff x="723900" y="5257800"/>
            <a:chExt cx="2057400" cy="457200"/>
          </a:xfrm>
        </p:grpSpPr>
        <p:sp>
          <p:nvSpPr>
            <p:cNvPr id="63" name="node13.avatar"/>
            <p:cNvSpPr/>
            <p:nvPr/>
          </p:nvSpPr>
          <p:spPr>
            <a:xfrm>
              <a:off x="723900" y="5257800"/>
              <a:ext cx="457200" cy="457200"/>
            </a:xfrm>
            <a:prstGeom prst="rect">
              <a:avLst/>
            </a:prstGeom>
            <a:solidFill>
              <a:srgbClr val="070154"/>
            </a:solidFill>
            <a:ln>
              <a:noFill/>
            </a:ln>
          </p:spPr>
        </p:sp>
        <p:sp>
          <p:nvSpPr>
            <p:cNvPr id="64" name="node13.initials"/>
            <p:cNvSpPr/>
            <p:nvPr/>
          </p:nvSpPr>
          <p:spPr>
            <a:xfrm>
              <a:off x="723900" y="5378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AG</a:t>
              </a:r>
              <a:endParaRPr lang="en-US" sz="1200" spc="0" kern="0" b="0" i="0" dirty="0">
                <a:solidFill>
                  <a:srgbClr val="FFFFFF"/>
                </a:solidFill>
                <a:latin typeface="IBM Plex Sans SemiBold"/>
                <a:ea typeface="IBM Plex Sans SemiBold"/>
                <a:cs typeface="IBM Plex Sans SemiBold"/>
              </a:endParaRPr>
            </a:p>
          </p:txBody>
        </p:sp>
        <p:sp>
          <p:nvSpPr>
            <p:cNvPr id="65" name="node13.name"/>
            <p:cNvSpPr/>
            <p:nvPr/>
          </p:nvSpPr>
          <p:spPr>
            <a:xfrm>
              <a:off x="1333500" y="52641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Anneke Groot</a:t>
              </a:r>
              <a:endParaRPr lang="en-US" sz="1200" spc="0" kern="0" b="0" i="0" dirty="0">
                <a:solidFill>
                  <a:srgbClr val="070154"/>
                </a:solidFill>
                <a:latin typeface="IBM Plex Sans SemiBold"/>
                <a:ea typeface="IBM Plex Sans SemiBold"/>
                <a:cs typeface="IBM Plex Sans SemiBold"/>
              </a:endParaRPr>
            </a:p>
          </p:txBody>
        </p:sp>
        <p:sp>
          <p:nvSpPr>
            <p:cNvPr id="66" name="node13.role"/>
            <p:cNvSpPr/>
            <p:nvPr/>
          </p:nvSpPr>
          <p:spPr>
            <a:xfrm>
              <a:off x="1333500" y="55181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governance</a:t>
              </a:r>
              <a:endParaRPr lang="en-US" sz="1100" spc="0" kern="0" b="0" i="0" dirty="0">
                <a:solidFill>
                  <a:srgbClr val="50658E"/>
                </a:solidFill>
                <a:latin typeface="IBM Plex Sans"/>
                <a:ea typeface="IBM Plex Sans"/>
                <a:cs typeface="IBM Plex Sans"/>
              </a:endParaRPr>
            </a:p>
          </p:txBody>
        </p:sp>
      </p:grpSp>
      <p:grpSp>
        <p:nvGrpSpPr>
          <p:cNvPr id="96" name="node14"/>
          <p:cNvGrpSpPr/>
          <p:nvPr/>
        </p:nvGrpSpPr>
        <p:grpSpPr>
          <a:xfrm>
            <a:off x="3009900" y="5257800"/>
            <a:ext cx="2057400" cy="457200"/>
            <a:chOff x="3009900" y="5257800"/>
            <a:chExt cx="2057400" cy="457200"/>
          </a:xfrm>
        </p:grpSpPr>
        <p:sp>
          <p:nvSpPr>
            <p:cNvPr id="67" name="node14.avatar"/>
            <p:cNvSpPr/>
            <p:nvPr/>
          </p:nvSpPr>
          <p:spPr>
            <a:xfrm>
              <a:off x="3009900" y="5257800"/>
              <a:ext cx="457200" cy="457200"/>
            </a:xfrm>
            <a:prstGeom prst="rect">
              <a:avLst/>
            </a:prstGeom>
            <a:solidFill>
              <a:srgbClr val="070154"/>
            </a:solidFill>
            <a:ln>
              <a:noFill/>
            </a:ln>
          </p:spPr>
        </p:sp>
        <p:sp>
          <p:nvSpPr>
            <p:cNvPr id="68" name="node14.initials"/>
            <p:cNvSpPr/>
            <p:nvPr/>
          </p:nvSpPr>
          <p:spPr>
            <a:xfrm>
              <a:off x="3009900" y="5378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TZ</a:t>
              </a:r>
              <a:endParaRPr lang="en-US" sz="1200" spc="0" kern="0" b="0" i="0" dirty="0">
                <a:solidFill>
                  <a:srgbClr val="FFFFFF"/>
                </a:solidFill>
                <a:latin typeface="IBM Plex Sans SemiBold"/>
                <a:ea typeface="IBM Plex Sans SemiBold"/>
                <a:cs typeface="IBM Plex Sans SemiBold"/>
              </a:endParaRPr>
            </a:p>
          </p:txBody>
        </p:sp>
        <p:sp>
          <p:nvSpPr>
            <p:cNvPr id="69" name="node14.name"/>
            <p:cNvSpPr/>
            <p:nvPr/>
          </p:nvSpPr>
          <p:spPr>
            <a:xfrm>
              <a:off x="3619500" y="52641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Tanner Zell</a:t>
              </a:r>
              <a:endParaRPr lang="en-US" sz="1200" spc="0" kern="0" b="0" i="0" dirty="0">
                <a:solidFill>
                  <a:srgbClr val="070154"/>
                </a:solidFill>
                <a:latin typeface="IBM Plex Sans SemiBold"/>
                <a:ea typeface="IBM Plex Sans SemiBold"/>
                <a:cs typeface="IBM Plex Sans SemiBold"/>
              </a:endParaRPr>
            </a:p>
          </p:txBody>
        </p:sp>
        <p:sp>
          <p:nvSpPr>
            <p:cNvPr id="70" name="node14.role"/>
            <p:cNvSpPr/>
            <p:nvPr/>
          </p:nvSpPr>
          <p:spPr>
            <a:xfrm>
              <a:off x="3619500" y="55181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design</a:t>
              </a:r>
              <a:endParaRPr lang="en-US" sz="1100" spc="0" kern="0" b="0" i="0" dirty="0">
                <a:solidFill>
                  <a:srgbClr val="50658E"/>
                </a:solidFill>
                <a:latin typeface="IBM Plex Sans"/>
                <a:ea typeface="IBM Plex Sans"/>
                <a:cs typeface="IBM Plex Sans"/>
              </a:endParaRPr>
            </a:p>
          </p:txBody>
        </p:sp>
      </p:grpSp>
      <p:grpSp>
        <p:nvGrpSpPr>
          <p:cNvPr id="97" name="node15"/>
          <p:cNvGrpSpPr/>
          <p:nvPr/>
        </p:nvGrpSpPr>
        <p:grpSpPr>
          <a:xfrm>
            <a:off x="5295900" y="5257800"/>
            <a:ext cx="2057400" cy="457200"/>
            <a:chOff x="5295900" y="5257800"/>
            <a:chExt cx="2057400" cy="457200"/>
          </a:xfrm>
        </p:grpSpPr>
        <p:sp>
          <p:nvSpPr>
            <p:cNvPr id="71" name="node15.avatar"/>
            <p:cNvSpPr/>
            <p:nvPr/>
          </p:nvSpPr>
          <p:spPr>
            <a:xfrm>
              <a:off x="5295900" y="5257800"/>
              <a:ext cx="457200" cy="457200"/>
            </a:xfrm>
            <a:prstGeom prst="rect">
              <a:avLst/>
            </a:prstGeom>
            <a:solidFill>
              <a:srgbClr val="070154"/>
            </a:solidFill>
            <a:ln>
              <a:noFill/>
            </a:ln>
          </p:spPr>
        </p:sp>
        <p:sp>
          <p:nvSpPr>
            <p:cNvPr id="72" name="node15.initials"/>
            <p:cNvSpPr/>
            <p:nvPr/>
          </p:nvSpPr>
          <p:spPr>
            <a:xfrm>
              <a:off x="5295900" y="5378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GM</a:t>
              </a:r>
              <a:endParaRPr lang="en-US" sz="1200" spc="0" kern="0" b="0" i="0" dirty="0">
                <a:solidFill>
                  <a:srgbClr val="FFFFFF"/>
                </a:solidFill>
                <a:latin typeface="IBM Plex Sans SemiBold"/>
                <a:ea typeface="IBM Plex Sans SemiBold"/>
                <a:cs typeface="IBM Plex Sans SemiBold"/>
              </a:endParaRPr>
            </a:p>
          </p:txBody>
        </p:sp>
        <p:sp>
          <p:nvSpPr>
            <p:cNvPr id="73" name="node15.name"/>
            <p:cNvSpPr/>
            <p:nvPr/>
          </p:nvSpPr>
          <p:spPr>
            <a:xfrm>
              <a:off x="5905500" y="5264150"/>
              <a:ext cx="14478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Greta Movsky</a:t>
              </a:r>
              <a:endParaRPr lang="en-US" sz="1200" spc="0" kern="0" b="0" i="0" dirty="0">
                <a:solidFill>
                  <a:srgbClr val="070154"/>
                </a:solidFill>
                <a:latin typeface="IBM Plex Sans SemiBold"/>
                <a:ea typeface="IBM Plex Sans SemiBold"/>
                <a:cs typeface="IBM Plex Sans SemiBold"/>
              </a:endParaRPr>
            </a:p>
          </p:txBody>
        </p:sp>
        <p:sp>
          <p:nvSpPr>
            <p:cNvPr id="74" name="node15.role"/>
            <p:cNvSpPr/>
            <p:nvPr/>
          </p:nvSpPr>
          <p:spPr>
            <a:xfrm>
              <a:off x="5905500" y="5518150"/>
              <a:ext cx="14478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cybersecurity</a:t>
              </a:r>
              <a:endParaRPr lang="en-US" sz="1100" spc="0" kern="0" b="0" i="0" dirty="0">
                <a:solidFill>
                  <a:srgbClr val="50658E"/>
                </a:solidFill>
                <a:latin typeface="IBM Plex Sans"/>
                <a:ea typeface="IBM Plex Sans"/>
                <a:cs typeface="IBM Plex Sans"/>
              </a:endParaRPr>
            </a:p>
          </p:txBody>
        </p:sp>
      </p:grpSp>
      <p:grpSp>
        <p:nvGrpSpPr>
          <p:cNvPr id="98" name="node16"/>
          <p:cNvGrpSpPr/>
          <p:nvPr/>
        </p:nvGrpSpPr>
        <p:grpSpPr>
          <a:xfrm>
            <a:off x="7581900" y="4572000"/>
            <a:ext cx="3886200" cy="1371600"/>
            <a:chOff x="7581900" y="4572000"/>
            <a:chExt cx="3886200" cy="1371600"/>
          </a:xfrm>
        </p:grpSpPr>
        <p:sp>
          <p:nvSpPr>
            <p:cNvPr id="75" name="node16.container"/>
            <p:cNvSpPr/>
            <p:nvPr/>
          </p:nvSpPr>
          <p:spPr>
            <a:xfrm>
              <a:off x="7581900" y="4572000"/>
              <a:ext cx="3886200" cy="1371600"/>
            </a:xfrm>
            <a:prstGeom prst="rect">
              <a:avLst/>
            </a:prstGeom>
            <a:solidFill>
              <a:srgbClr val="E8EEF8"/>
            </a:solidFill>
            <a:ln>
              <a:noFill/>
            </a:ln>
          </p:spPr>
        </p:sp>
        <p:sp>
          <p:nvSpPr>
            <p:cNvPr id="76" name="node16.label"/>
            <p:cNvSpPr/>
            <p:nvPr/>
          </p:nvSpPr>
          <p:spPr>
            <a:xfrm>
              <a:off x="7734300" y="4724400"/>
              <a:ext cx="35814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THE SPECIALISTS DO</a:t>
              </a:r>
              <a:endParaRPr lang="en-US" sz="800" spc="48" kern="0" b="0" i="0" dirty="0">
                <a:solidFill>
                  <a:srgbClr val="0047FF"/>
                </a:solidFill>
                <a:latin typeface="IBM Plex Mono Medium"/>
                <a:ea typeface="IBM Plex Mono Medium"/>
                <a:cs typeface="IBM Plex Mono Medium"/>
              </a:endParaRPr>
            </a:p>
          </p:txBody>
        </p:sp>
        <p:sp>
          <p:nvSpPr>
            <p:cNvPr id="77" name="node16.body.item-001.bullets.item-001.marker"/>
            <p:cNvSpPr/>
            <p:nvPr/>
          </p:nvSpPr>
          <p:spPr>
            <a:xfrm>
              <a:off x="7734300" y="5029200"/>
              <a:ext cx="38100" cy="38100"/>
            </a:xfrm>
            <a:prstGeom prst="rect">
              <a:avLst/>
            </a:prstGeom>
            <a:solidFill>
              <a:srgbClr val="070154"/>
            </a:solidFill>
            <a:ln>
              <a:noFill/>
            </a:ln>
          </p:spPr>
        </p:sp>
        <p:sp>
          <p:nvSpPr>
            <p:cNvPr id="78" name="node16.body.item-001.bullets.item-001.text"/>
            <p:cNvSpPr/>
            <p:nvPr/>
          </p:nvSpPr>
          <p:spPr>
            <a:xfrm>
              <a:off x="7886700" y="49403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Advise on architecture and governance</a:t>
              </a:r>
              <a:endParaRPr lang="en-US" sz="1200" spc="0" kern="0" b="0" i="0" dirty="0">
                <a:solidFill>
                  <a:srgbClr val="070154"/>
                </a:solidFill>
                <a:latin typeface="IBM Plex Sans"/>
                <a:ea typeface="IBM Plex Sans"/>
                <a:cs typeface="IBM Plex Sans"/>
              </a:endParaRPr>
            </a:p>
          </p:txBody>
        </p:sp>
        <p:sp>
          <p:nvSpPr>
            <p:cNvPr id="79" name="node16.body.item-001.bullets.item-002.marker"/>
            <p:cNvSpPr/>
            <p:nvPr/>
          </p:nvSpPr>
          <p:spPr>
            <a:xfrm>
              <a:off x="7734300" y="5283200"/>
              <a:ext cx="38100" cy="38100"/>
            </a:xfrm>
            <a:prstGeom prst="rect">
              <a:avLst/>
            </a:prstGeom>
            <a:solidFill>
              <a:srgbClr val="070154"/>
            </a:solidFill>
            <a:ln>
              <a:noFill/>
            </a:ln>
          </p:spPr>
        </p:sp>
        <p:sp>
          <p:nvSpPr>
            <p:cNvPr id="80" name="node16.body.item-001.bullets.item-002.text"/>
            <p:cNvSpPr/>
            <p:nvPr/>
          </p:nvSpPr>
          <p:spPr>
            <a:xfrm>
              <a:off x="7886700" y="51943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Assess processes and organization</a:t>
              </a:r>
              <a:endParaRPr lang="en-US" sz="1200" spc="0" kern="0" b="0" i="0" dirty="0">
                <a:solidFill>
                  <a:srgbClr val="070154"/>
                </a:solidFill>
                <a:latin typeface="IBM Plex Sans"/>
                <a:ea typeface="IBM Plex Sans"/>
                <a:cs typeface="IBM Plex Sans"/>
              </a:endParaRPr>
            </a:p>
          </p:txBody>
        </p:sp>
        <p:sp>
          <p:nvSpPr>
            <p:cNvPr id="81" name="node16.body.item-001.bullets.item-003.marker"/>
            <p:cNvSpPr/>
            <p:nvPr/>
          </p:nvSpPr>
          <p:spPr>
            <a:xfrm>
              <a:off x="7734300" y="5537200"/>
              <a:ext cx="38100" cy="38100"/>
            </a:xfrm>
            <a:prstGeom prst="rect">
              <a:avLst/>
            </a:prstGeom>
            <a:solidFill>
              <a:srgbClr val="070154"/>
            </a:solidFill>
            <a:ln>
              <a:noFill/>
            </a:ln>
          </p:spPr>
        </p:sp>
        <p:sp>
          <p:nvSpPr>
            <p:cNvPr id="82" name="node16.body.item-001.bullets.item-003.text"/>
            <p:cNvSpPr/>
            <p:nvPr/>
          </p:nvSpPr>
          <p:spPr>
            <a:xfrm>
              <a:off x="7886700" y="5448300"/>
              <a:ext cx="34290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Lead training and knowledge transfer</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ource-540">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TEAM STRUCTURE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Core team, matched specialists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228</a:t>
            </a:fld>
            <a:endParaRPr lang="en-US" sz="700" spc="0" kern="0" b="0" i="0" dirty="0">
              <a:solidFill>
                <a:srgbClr val="070154"/>
              </a:solidFill>
              <a:latin typeface="IBM Plex Mono SemiBold"/>
              <a:ea typeface="IBM Plex Mono SemiBold"/>
              <a:cs typeface="IBM Plex Mono SemiBold"/>
            </a:endParaRPr>
          </a:p>
        </p:txBody>
      </p:sp>
      <p:grpSp>
        <p:nvGrpSpPr>
          <p:cNvPr id="66" name="node01"/>
          <p:cNvGrpSpPr/>
          <p:nvPr/>
        </p:nvGrpSpPr>
        <p:grpSpPr>
          <a:xfrm>
            <a:off x="723900" y="1600200"/>
            <a:ext cx="7086600" cy="457200"/>
            <a:chOff x="723900" y="1600200"/>
            <a:chExt cx="7086600" cy="457200"/>
          </a:xfrm>
        </p:grpSpPr>
        <p:sp>
          <p:nvSpPr>
            <p:cNvPr id="6" name="node01.surface"/>
            <p:cNvSpPr/>
            <p:nvPr/>
          </p:nvSpPr>
          <p:spPr>
            <a:xfrm>
              <a:off x="723900" y="1600200"/>
              <a:ext cx="7086600" cy="457200"/>
            </a:xfrm>
            <a:prstGeom prst="rect">
              <a:avLst/>
            </a:prstGeom>
            <a:solidFill>
              <a:srgbClr val="070154"/>
            </a:solidFill>
            <a:ln>
              <a:noFill/>
            </a:ln>
          </p:spPr>
        </p:sp>
        <p:sp>
          <p:nvSpPr>
            <p:cNvPr id="7" name="node01.text"/>
            <p:cNvSpPr/>
            <p:nvPr/>
          </p:nvSpPr>
          <p:spPr>
            <a:xfrm>
              <a:off x="876300" y="1695450"/>
              <a:ext cx="67818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Leadership and core team</a:t>
              </a:r>
              <a:endParaRPr lang="en-US" sz="1600" spc="-16" kern="0" b="0" i="0" dirty="0">
                <a:solidFill>
                  <a:srgbClr val="FFFFFF"/>
                </a:solidFill>
                <a:latin typeface="IBM Plex Sans SemiBold"/>
                <a:ea typeface="IBM Plex Sans SemiBold"/>
                <a:cs typeface="IBM Plex Sans SemiBold"/>
              </a:endParaRPr>
            </a:p>
          </p:txBody>
        </p:sp>
      </p:grpSp>
      <p:grpSp>
        <p:nvGrpSpPr>
          <p:cNvPr id="67" name="node02"/>
          <p:cNvGrpSpPr/>
          <p:nvPr/>
        </p:nvGrpSpPr>
        <p:grpSpPr>
          <a:xfrm>
            <a:off x="723900" y="2286000"/>
            <a:ext cx="3429000" cy="457200"/>
            <a:chOff x="723900" y="2286000"/>
            <a:chExt cx="3429000" cy="457200"/>
          </a:xfrm>
        </p:grpSpPr>
        <p:pic>
          <p:nvPicPr>
            <p:cNvPr id="8" name="node02.avatar" descr="photo-headshot-face; canonical SHA256=296801383ca36ace437e526edbbf16a0e387072468b87185313e9502001ef07c">    </p:cNvPr>
            <p:cNvPicPr>
              <a:picLocks noChangeAspect="1"/>
            </p:cNvPicPr>
            <p:nvPr/>
          </p:nvPicPr>
          <p:blipFill>
            <a:blip r:embed="rId1"/>
            <a:srcRect l="0" r="0" t="0" b="0"/>
            <a:stretch/>
          </p:blipFill>
          <p:spPr>
            <a:xfrm>
              <a:off x="723900" y="2286000"/>
              <a:ext cx="457200" cy="457200"/>
            </a:xfrm>
            <a:prstGeom prst="rect">
              <a:avLst/>
            </a:prstGeom>
          </p:spPr>
        </p:pic>
        <p:sp>
          <p:nvSpPr>
            <p:cNvPr id="9" name="node02.name"/>
            <p:cNvSpPr/>
            <p:nvPr/>
          </p:nvSpPr>
          <p:spPr>
            <a:xfrm>
              <a:off x="1333500" y="229235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Dana Whitfield</a:t>
              </a:r>
              <a:endParaRPr lang="en-US" sz="1200" spc="0" kern="0" b="0" i="0" dirty="0">
                <a:solidFill>
                  <a:srgbClr val="070154"/>
                </a:solidFill>
                <a:latin typeface="IBM Plex Sans SemiBold"/>
                <a:ea typeface="IBM Plex Sans SemiBold"/>
                <a:cs typeface="IBM Plex Sans SemiBold"/>
              </a:endParaRPr>
            </a:p>
          </p:txBody>
        </p:sp>
        <p:sp>
          <p:nvSpPr>
            <p:cNvPr id="10" name="node02.role"/>
            <p:cNvSpPr/>
            <p:nvPr/>
          </p:nvSpPr>
          <p:spPr>
            <a:xfrm>
              <a:off x="1333500" y="254635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Executive sponsor</a:t>
              </a:r>
              <a:endParaRPr lang="en-US" sz="1100" spc="0" kern="0" b="0" i="0" dirty="0">
                <a:solidFill>
                  <a:srgbClr val="50658E"/>
                </a:solidFill>
                <a:latin typeface="IBM Plex Sans"/>
                <a:ea typeface="IBM Plex Sans"/>
                <a:cs typeface="IBM Plex Sans"/>
              </a:endParaRPr>
            </a:p>
          </p:txBody>
        </p:sp>
      </p:grpSp>
      <p:grpSp>
        <p:nvGrpSpPr>
          <p:cNvPr id="68" name="node03"/>
          <p:cNvGrpSpPr/>
          <p:nvPr/>
        </p:nvGrpSpPr>
        <p:grpSpPr>
          <a:xfrm>
            <a:off x="4381500" y="2286000"/>
            <a:ext cx="3429000" cy="457200"/>
            <a:chOff x="4381500" y="2286000"/>
            <a:chExt cx="3429000" cy="457200"/>
          </a:xfrm>
        </p:grpSpPr>
        <p:sp>
          <p:nvSpPr>
            <p:cNvPr id="11" name="node03.avatar"/>
            <p:cNvSpPr/>
            <p:nvPr/>
          </p:nvSpPr>
          <p:spPr>
            <a:xfrm>
              <a:off x="4381500" y="2286000"/>
              <a:ext cx="457200" cy="457200"/>
            </a:xfrm>
            <a:prstGeom prst="rect">
              <a:avLst/>
            </a:prstGeom>
            <a:solidFill>
              <a:srgbClr val="070154"/>
            </a:solidFill>
            <a:ln>
              <a:noFill/>
            </a:ln>
          </p:spPr>
        </p:sp>
        <p:sp>
          <p:nvSpPr>
            <p:cNvPr id="12" name="node03.initials"/>
            <p:cNvSpPr/>
            <p:nvPr/>
          </p:nvSpPr>
          <p:spPr>
            <a:xfrm>
              <a:off x="4381500" y="24066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KM</a:t>
              </a:r>
              <a:endParaRPr lang="en-US" sz="1200" spc="0" kern="0" b="0" i="0" dirty="0">
                <a:solidFill>
                  <a:srgbClr val="FFFFFF"/>
                </a:solidFill>
                <a:latin typeface="IBM Plex Sans SemiBold"/>
                <a:ea typeface="IBM Plex Sans SemiBold"/>
                <a:cs typeface="IBM Plex Sans SemiBold"/>
              </a:endParaRPr>
            </a:p>
          </p:txBody>
        </p:sp>
        <p:sp>
          <p:nvSpPr>
            <p:cNvPr id="13" name="node03.name"/>
            <p:cNvSpPr/>
            <p:nvPr/>
          </p:nvSpPr>
          <p:spPr>
            <a:xfrm>
              <a:off x="4991100" y="229235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Kiran Mehta</a:t>
              </a:r>
              <a:endParaRPr lang="en-US" sz="1200" spc="0" kern="0" b="0" i="0" dirty="0">
                <a:solidFill>
                  <a:srgbClr val="070154"/>
                </a:solidFill>
                <a:latin typeface="IBM Plex Sans SemiBold"/>
                <a:ea typeface="IBM Plex Sans SemiBold"/>
                <a:cs typeface="IBM Plex Sans SemiBold"/>
              </a:endParaRPr>
            </a:p>
          </p:txBody>
        </p:sp>
        <p:sp>
          <p:nvSpPr>
            <p:cNvPr id="14" name="node03.role"/>
            <p:cNvSpPr/>
            <p:nvPr/>
          </p:nvSpPr>
          <p:spPr>
            <a:xfrm>
              <a:off x="4991100" y="254635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Executive sponsor</a:t>
              </a:r>
              <a:endParaRPr lang="en-US" sz="1100" spc="0" kern="0" b="0" i="0" dirty="0">
                <a:solidFill>
                  <a:srgbClr val="50658E"/>
                </a:solidFill>
                <a:latin typeface="IBM Plex Sans"/>
                <a:ea typeface="IBM Plex Sans"/>
                <a:cs typeface="IBM Plex Sans"/>
              </a:endParaRPr>
            </a:p>
          </p:txBody>
        </p:sp>
      </p:grpSp>
      <p:grpSp>
        <p:nvGrpSpPr>
          <p:cNvPr id="69" name="node04"/>
          <p:cNvGrpSpPr/>
          <p:nvPr/>
        </p:nvGrpSpPr>
        <p:grpSpPr>
          <a:xfrm>
            <a:off x="723900" y="2971800"/>
            <a:ext cx="3429000" cy="457200"/>
            <a:chOff x="723900" y="2971800"/>
            <a:chExt cx="3429000" cy="457200"/>
          </a:xfrm>
        </p:grpSpPr>
        <p:sp>
          <p:nvSpPr>
            <p:cNvPr id="15" name="node04.avatar"/>
            <p:cNvSpPr/>
            <p:nvPr/>
          </p:nvSpPr>
          <p:spPr>
            <a:xfrm>
              <a:off x="723900" y="2971800"/>
              <a:ext cx="457200" cy="457200"/>
            </a:xfrm>
            <a:prstGeom prst="rect">
              <a:avLst/>
            </a:prstGeom>
            <a:solidFill>
              <a:srgbClr val="070154"/>
            </a:solidFill>
            <a:ln>
              <a:noFill/>
            </a:ln>
          </p:spPr>
        </p:sp>
        <p:sp>
          <p:nvSpPr>
            <p:cNvPr id="16" name="node04.initials"/>
            <p:cNvSpPr/>
            <p:nvPr/>
          </p:nvSpPr>
          <p:spPr>
            <a:xfrm>
              <a:off x="723900" y="3092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JA</a:t>
              </a:r>
              <a:endParaRPr lang="en-US" sz="1200" spc="0" kern="0" b="0" i="0" dirty="0">
                <a:solidFill>
                  <a:srgbClr val="FFFFFF"/>
                </a:solidFill>
                <a:latin typeface="IBM Plex Sans SemiBold"/>
                <a:ea typeface="IBM Plex Sans SemiBold"/>
                <a:cs typeface="IBM Plex Sans SemiBold"/>
              </a:endParaRPr>
            </a:p>
          </p:txBody>
        </p:sp>
        <p:sp>
          <p:nvSpPr>
            <p:cNvPr id="17" name="node04.name"/>
            <p:cNvSpPr/>
            <p:nvPr/>
          </p:nvSpPr>
          <p:spPr>
            <a:xfrm>
              <a:off x="1333500" y="297815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Julia Ansel</a:t>
              </a:r>
              <a:endParaRPr lang="en-US" sz="1200" spc="0" kern="0" b="0" i="0" dirty="0">
                <a:solidFill>
                  <a:srgbClr val="070154"/>
                </a:solidFill>
                <a:latin typeface="IBM Plex Sans SemiBold"/>
                <a:ea typeface="IBM Plex Sans SemiBold"/>
                <a:cs typeface="IBM Plex Sans SemiBold"/>
              </a:endParaRPr>
            </a:p>
          </p:txBody>
        </p:sp>
        <p:sp>
          <p:nvSpPr>
            <p:cNvPr id="18" name="node04.role"/>
            <p:cNvSpPr/>
            <p:nvPr/>
          </p:nvSpPr>
          <p:spPr>
            <a:xfrm>
              <a:off x="1333500" y="323215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Engagement lead</a:t>
              </a:r>
              <a:endParaRPr lang="en-US" sz="1100" spc="0" kern="0" b="0" i="0" dirty="0">
                <a:solidFill>
                  <a:srgbClr val="50658E"/>
                </a:solidFill>
                <a:latin typeface="IBM Plex Sans"/>
                <a:ea typeface="IBM Plex Sans"/>
                <a:cs typeface="IBM Plex Sans"/>
              </a:endParaRPr>
            </a:p>
          </p:txBody>
        </p:sp>
      </p:grpSp>
      <p:grpSp>
        <p:nvGrpSpPr>
          <p:cNvPr id="70" name="node05"/>
          <p:cNvGrpSpPr/>
          <p:nvPr/>
        </p:nvGrpSpPr>
        <p:grpSpPr>
          <a:xfrm>
            <a:off x="4381500" y="2971800"/>
            <a:ext cx="3429000" cy="457200"/>
            <a:chOff x="4381500" y="2971800"/>
            <a:chExt cx="3429000" cy="457200"/>
          </a:xfrm>
        </p:grpSpPr>
        <p:sp>
          <p:nvSpPr>
            <p:cNvPr id="19" name="node05.avatar"/>
            <p:cNvSpPr/>
            <p:nvPr/>
          </p:nvSpPr>
          <p:spPr>
            <a:xfrm>
              <a:off x="4381500" y="2971800"/>
              <a:ext cx="457200" cy="457200"/>
            </a:xfrm>
            <a:prstGeom prst="rect">
              <a:avLst/>
            </a:prstGeom>
            <a:solidFill>
              <a:srgbClr val="070154"/>
            </a:solidFill>
            <a:ln>
              <a:noFill/>
            </a:ln>
          </p:spPr>
        </p:sp>
        <p:sp>
          <p:nvSpPr>
            <p:cNvPr id="20" name="node05.initials"/>
            <p:cNvSpPr/>
            <p:nvPr/>
          </p:nvSpPr>
          <p:spPr>
            <a:xfrm>
              <a:off x="4381500" y="3092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MO</a:t>
              </a:r>
              <a:endParaRPr lang="en-US" sz="1200" spc="0" kern="0" b="0" i="0" dirty="0">
                <a:solidFill>
                  <a:srgbClr val="FFFFFF"/>
                </a:solidFill>
                <a:latin typeface="IBM Plex Sans SemiBold"/>
                <a:ea typeface="IBM Plex Sans SemiBold"/>
                <a:cs typeface="IBM Plex Sans SemiBold"/>
              </a:endParaRPr>
            </a:p>
          </p:txBody>
        </p:sp>
        <p:sp>
          <p:nvSpPr>
            <p:cNvPr id="21" name="node05.name"/>
            <p:cNvSpPr/>
            <p:nvPr/>
          </p:nvSpPr>
          <p:spPr>
            <a:xfrm>
              <a:off x="4991100" y="297815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Mike Odell</a:t>
              </a:r>
              <a:endParaRPr lang="en-US" sz="1200" spc="0" kern="0" b="0" i="0" dirty="0">
                <a:solidFill>
                  <a:srgbClr val="070154"/>
                </a:solidFill>
                <a:latin typeface="IBM Plex Sans SemiBold"/>
                <a:ea typeface="IBM Plex Sans SemiBold"/>
                <a:cs typeface="IBM Plex Sans SemiBold"/>
              </a:endParaRPr>
            </a:p>
          </p:txBody>
        </p:sp>
        <p:sp>
          <p:nvSpPr>
            <p:cNvPr id="22" name="node05.role"/>
            <p:cNvSpPr/>
            <p:nvPr/>
          </p:nvSpPr>
          <p:spPr>
            <a:xfrm>
              <a:off x="4991100" y="323215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Platform architect</a:t>
              </a:r>
              <a:endParaRPr lang="en-US" sz="1100" spc="0" kern="0" b="0" i="0" dirty="0">
                <a:solidFill>
                  <a:srgbClr val="50658E"/>
                </a:solidFill>
                <a:latin typeface="IBM Plex Sans"/>
                <a:ea typeface="IBM Plex Sans"/>
                <a:cs typeface="IBM Plex Sans"/>
              </a:endParaRPr>
            </a:p>
          </p:txBody>
        </p:sp>
      </p:grpSp>
      <p:grpSp>
        <p:nvGrpSpPr>
          <p:cNvPr id="71" name="node06"/>
          <p:cNvGrpSpPr/>
          <p:nvPr/>
        </p:nvGrpSpPr>
        <p:grpSpPr>
          <a:xfrm>
            <a:off x="723900" y="3657600"/>
            <a:ext cx="3429000" cy="457200"/>
            <a:chOff x="723900" y="3657600"/>
            <a:chExt cx="3429000" cy="457200"/>
          </a:xfrm>
        </p:grpSpPr>
        <p:sp>
          <p:nvSpPr>
            <p:cNvPr id="23" name="node06.avatar"/>
            <p:cNvSpPr/>
            <p:nvPr/>
          </p:nvSpPr>
          <p:spPr>
            <a:xfrm>
              <a:off x="723900" y="3657600"/>
              <a:ext cx="457200" cy="457200"/>
            </a:xfrm>
            <a:prstGeom prst="rect">
              <a:avLst/>
            </a:prstGeom>
            <a:solidFill>
              <a:srgbClr val="070154"/>
            </a:solidFill>
            <a:ln>
              <a:noFill/>
            </a:ln>
          </p:spPr>
        </p:sp>
        <p:sp>
          <p:nvSpPr>
            <p:cNvPr id="24" name="node06.initials"/>
            <p:cNvSpPr/>
            <p:nvPr/>
          </p:nvSpPr>
          <p:spPr>
            <a:xfrm>
              <a:off x="723900" y="37782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JS</a:t>
              </a:r>
              <a:endParaRPr lang="en-US" sz="1200" spc="0" kern="0" b="0" i="0" dirty="0">
                <a:solidFill>
                  <a:srgbClr val="FFFFFF"/>
                </a:solidFill>
                <a:latin typeface="IBM Plex Sans SemiBold"/>
                <a:ea typeface="IBM Plex Sans SemiBold"/>
                <a:cs typeface="IBM Plex Sans SemiBold"/>
              </a:endParaRPr>
            </a:p>
          </p:txBody>
        </p:sp>
        <p:sp>
          <p:nvSpPr>
            <p:cNvPr id="25" name="node06.name"/>
            <p:cNvSpPr/>
            <p:nvPr/>
          </p:nvSpPr>
          <p:spPr>
            <a:xfrm>
              <a:off x="1333500" y="366395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Jag Soni</a:t>
              </a:r>
              <a:endParaRPr lang="en-US" sz="1200" spc="0" kern="0" b="0" i="0" dirty="0">
                <a:solidFill>
                  <a:srgbClr val="070154"/>
                </a:solidFill>
                <a:latin typeface="IBM Plex Sans SemiBold"/>
                <a:ea typeface="IBM Plex Sans SemiBold"/>
                <a:cs typeface="IBM Plex Sans SemiBold"/>
              </a:endParaRPr>
            </a:p>
          </p:txBody>
        </p:sp>
        <p:sp>
          <p:nvSpPr>
            <p:cNvPr id="26" name="node06.role"/>
            <p:cNvSpPr/>
            <p:nvPr/>
          </p:nvSpPr>
          <p:spPr>
            <a:xfrm>
              <a:off x="1333500" y="391795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Enterprise architect</a:t>
              </a:r>
              <a:endParaRPr lang="en-US" sz="1100" spc="0" kern="0" b="0" i="0" dirty="0">
                <a:solidFill>
                  <a:srgbClr val="50658E"/>
                </a:solidFill>
                <a:latin typeface="IBM Plex Sans"/>
                <a:ea typeface="IBM Plex Sans"/>
                <a:cs typeface="IBM Plex Sans"/>
              </a:endParaRPr>
            </a:p>
          </p:txBody>
        </p:sp>
      </p:grpSp>
      <p:grpSp>
        <p:nvGrpSpPr>
          <p:cNvPr id="72" name="node07"/>
          <p:cNvGrpSpPr/>
          <p:nvPr/>
        </p:nvGrpSpPr>
        <p:grpSpPr>
          <a:xfrm>
            <a:off x="4381500" y="3657600"/>
            <a:ext cx="3429000" cy="457200"/>
            <a:chOff x="4381500" y="3657600"/>
            <a:chExt cx="3429000" cy="457200"/>
          </a:xfrm>
        </p:grpSpPr>
        <p:sp>
          <p:nvSpPr>
            <p:cNvPr id="27" name="node07.avatar"/>
            <p:cNvSpPr/>
            <p:nvPr/>
          </p:nvSpPr>
          <p:spPr>
            <a:xfrm>
              <a:off x="4381500" y="3657600"/>
              <a:ext cx="457200" cy="457200"/>
            </a:xfrm>
            <a:prstGeom prst="rect">
              <a:avLst/>
            </a:prstGeom>
            <a:solidFill>
              <a:srgbClr val="070154"/>
            </a:solidFill>
            <a:ln>
              <a:noFill/>
            </a:ln>
          </p:spPr>
        </p:sp>
        <p:sp>
          <p:nvSpPr>
            <p:cNvPr id="28" name="node07.initials"/>
            <p:cNvSpPr/>
            <p:nvPr/>
          </p:nvSpPr>
          <p:spPr>
            <a:xfrm>
              <a:off x="4381500" y="37782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AR</a:t>
              </a:r>
              <a:endParaRPr lang="en-US" sz="1200" spc="0" kern="0" b="0" i="0" dirty="0">
                <a:solidFill>
                  <a:srgbClr val="FFFFFF"/>
                </a:solidFill>
                <a:latin typeface="IBM Plex Sans SemiBold"/>
                <a:ea typeface="IBM Plex Sans SemiBold"/>
                <a:cs typeface="IBM Plex Sans SemiBold"/>
              </a:endParaRPr>
            </a:p>
          </p:txBody>
        </p:sp>
        <p:sp>
          <p:nvSpPr>
            <p:cNvPr id="29" name="node07.name"/>
            <p:cNvSpPr/>
            <p:nvPr/>
          </p:nvSpPr>
          <p:spPr>
            <a:xfrm>
              <a:off x="4991100" y="366395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Albert Reyes</a:t>
              </a:r>
              <a:endParaRPr lang="en-US" sz="1200" spc="0" kern="0" b="0" i="0" dirty="0">
                <a:solidFill>
                  <a:srgbClr val="070154"/>
                </a:solidFill>
                <a:latin typeface="IBM Plex Sans SemiBold"/>
                <a:ea typeface="IBM Plex Sans SemiBold"/>
                <a:cs typeface="IBM Plex Sans SemiBold"/>
              </a:endParaRPr>
            </a:p>
          </p:txBody>
        </p:sp>
        <p:sp>
          <p:nvSpPr>
            <p:cNvPr id="30" name="node07.role"/>
            <p:cNvSpPr/>
            <p:nvPr/>
          </p:nvSpPr>
          <p:spPr>
            <a:xfrm>
              <a:off x="4991100" y="391795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Infrastructure lead</a:t>
              </a:r>
              <a:endParaRPr lang="en-US" sz="1100" spc="0" kern="0" b="0" i="0" dirty="0">
                <a:solidFill>
                  <a:srgbClr val="50658E"/>
                </a:solidFill>
                <a:latin typeface="IBM Plex Sans"/>
                <a:ea typeface="IBM Plex Sans"/>
                <a:cs typeface="IBM Plex Sans"/>
              </a:endParaRPr>
            </a:p>
          </p:txBody>
        </p:sp>
      </p:grpSp>
      <p:grpSp>
        <p:nvGrpSpPr>
          <p:cNvPr id="73" name="node08"/>
          <p:cNvGrpSpPr/>
          <p:nvPr/>
        </p:nvGrpSpPr>
        <p:grpSpPr>
          <a:xfrm>
            <a:off x="723900" y="4572000"/>
            <a:ext cx="7086600" cy="1371600"/>
            <a:chOff x="723900" y="4572000"/>
            <a:chExt cx="7086600" cy="1371600"/>
          </a:xfrm>
        </p:grpSpPr>
        <p:sp>
          <p:nvSpPr>
            <p:cNvPr id="31" name="node08.container"/>
            <p:cNvSpPr/>
            <p:nvPr/>
          </p:nvSpPr>
          <p:spPr>
            <a:xfrm>
              <a:off x="723900" y="4572000"/>
              <a:ext cx="7086600" cy="1371600"/>
            </a:xfrm>
            <a:prstGeom prst="rect">
              <a:avLst/>
            </a:prstGeom>
            <a:solidFill>
              <a:srgbClr val="E8EEF8"/>
            </a:solidFill>
            <a:ln>
              <a:noFill/>
            </a:ln>
          </p:spPr>
        </p:sp>
        <p:sp>
          <p:nvSpPr>
            <p:cNvPr id="32" name="node08.label"/>
            <p:cNvSpPr/>
            <p:nvPr/>
          </p:nvSpPr>
          <p:spPr>
            <a:xfrm>
              <a:off x="876300" y="4724400"/>
              <a:ext cx="678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WHAT THE CORE TEAM DOES</a:t>
              </a:r>
              <a:endParaRPr lang="en-US" sz="800" spc="48" kern="0" b="0" i="0" dirty="0">
                <a:solidFill>
                  <a:srgbClr val="0047FF"/>
                </a:solidFill>
                <a:latin typeface="IBM Plex Mono Medium"/>
                <a:ea typeface="IBM Plex Mono Medium"/>
                <a:cs typeface="IBM Plex Mono Medium"/>
              </a:endParaRPr>
            </a:p>
          </p:txBody>
        </p:sp>
        <p:sp>
          <p:nvSpPr>
            <p:cNvPr id="33" name="node08.body.item-001.bullets.item-001.marker"/>
            <p:cNvSpPr/>
            <p:nvPr/>
          </p:nvSpPr>
          <p:spPr>
            <a:xfrm>
              <a:off x="876300" y="5029200"/>
              <a:ext cx="38100" cy="38100"/>
            </a:xfrm>
            <a:prstGeom prst="rect">
              <a:avLst/>
            </a:prstGeom>
            <a:solidFill>
              <a:srgbClr val="070154"/>
            </a:solidFill>
            <a:ln>
              <a:noFill/>
            </a:ln>
          </p:spPr>
        </p:sp>
        <p:sp>
          <p:nvSpPr>
            <p:cNvPr id="34" name="node08.body.item-001.bullets.item-001.text"/>
            <p:cNvSpPr/>
            <p:nvPr/>
          </p:nvSpPr>
          <p:spPr>
            <a:xfrm>
              <a:off x="1028700" y="4940300"/>
              <a:ext cx="662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Own the sponsor relationship and quality</a:t>
              </a:r>
              <a:endParaRPr lang="en-US" sz="1200" spc="0" kern="0" b="0" i="0" dirty="0">
                <a:solidFill>
                  <a:srgbClr val="070154"/>
                </a:solidFill>
                <a:latin typeface="IBM Plex Sans"/>
                <a:ea typeface="IBM Plex Sans"/>
                <a:cs typeface="IBM Plex Sans"/>
              </a:endParaRPr>
            </a:p>
          </p:txBody>
        </p:sp>
        <p:sp>
          <p:nvSpPr>
            <p:cNvPr id="35" name="node08.body.item-001.bullets.item-002.marker"/>
            <p:cNvSpPr/>
            <p:nvPr/>
          </p:nvSpPr>
          <p:spPr>
            <a:xfrm>
              <a:off x="876300" y="5283200"/>
              <a:ext cx="38100" cy="38100"/>
            </a:xfrm>
            <a:prstGeom prst="rect">
              <a:avLst/>
            </a:prstGeom>
            <a:solidFill>
              <a:srgbClr val="070154"/>
            </a:solidFill>
            <a:ln>
              <a:noFill/>
            </a:ln>
          </p:spPr>
        </p:sp>
        <p:sp>
          <p:nvSpPr>
            <p:cNvPr id="36" name="node08.body.item-001.bullets.item-002.text"/>
            <p:cNvSpPr/>
            <p:nvPr/>
          </p:nvSpPr>
          <p:spPr>
            <a:xfrm>
              <a:off x="1028700" y="5194300"/>
              <a:ext cx="662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Bring healthcare expertise to the work</a:t>
              </a:r>
              <a:endParaRPr lang="en-US" sz="1200" spc="0" kern="0" b="0" i="0" dirty="0">
                <a:solidFill>
                  <a:srgbClr val="070154"/>
                </a:solidFill>
                <a:latin typeface="IBM Plex Sans"/>
                <a:ea typeface="IBM Plex Sans"/>
                <a:cs typeface="IBM Plex Sans"/>
              </a:endParaRPr>
            </a:p>
          </p:txBody>
        </p:sp>
        <p:sp>
          <p:nvSpPr>
            <p:cNvPr id="37" name="node08.body.item-001.bullets.item-003.marker"/>
            <p:cNvSpPr/>
            <p:nvPr/>
          </p:nvSpPr>
          <p:spPr>
            <a:xfrm>
              <a:off x="876300" y="5537200"/>
              <a:ext cx="38100" cy="38100"/>
            </a:xfrm>
            <a:prstGeom prst="rect">
              <a:avLst/>
            </a:prstGeom>
            <a:solidFill>
              <a:srgbClr val="070154"/>
            </a:solidFill>
            <a:ln>
              <a:noFill/>
            </a:ln>
          </p:spPr>
        </p:sp>
        <p:sp>
          <p:nvSpPr>
            <p:cNvPr id="38" name="node08.body.item-001.bullets.item-003.text"/>
            <p:cNvSpPr/>
            <p:nvPr/>
          </p:nvSpPr>
          <p:spPr>
            <a:xfrm>
              <a:off x="1028700" y="5448300"/>
              <a:ext cx="662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Align both teams and transfer knowledge</a:t>
              </a:r>
              <a:endParaRPr lang="en-US" sz="1200" spc="0" kern="0" b="0" i="0" dirty="0">
                <a:solidFill>
                  <a:srgbClr val="070154"/>
                </a:solidFill>
                <a:latin typeface="IBM Plex Sans"/>
                <a:ea typeface="IBM Plex Sans"/>
                <a:cs typeface="IBM Plex Sans"/>
              </a:endParaRPr>
            </a:p>
          </p:txBody>
        </p:sp>
      </p:grpSp>
      <p:grpSp>
        <p:nvGrpSpPr>
          <p:cNvPr id="74" name="node09"/>
          <p:cNvGrpSpPr/>
          <p:nvPr/>
        </p:nvGrpSpPr>
        <p:grpSpPr>
          <a:xfrm>
            <a:off x="8039100" y="457200"/>
            <a:ext cx="3429000" cy="457200"/>
            <a:chOff x="8039100" y="457200"/>
            <a:chExt cx="3429000" cy="457200"/>
          </a:xfrm>
        </p:grpSpPr>
        <p:sp>
          <p:nvSpPr>
            <p:cNvPr id="39" name="node09.surface"/>
            <p:cNvSpPr/>
            <p:nvPr/>
          </p:nvSpPr>
          <p:spPr>
            <a:xfrm>
              <a:off x="8039100" y="457200"/>
              <a:ext cx="3429000" cy="457200"/>
            </a:xfrm>
            <a:prstGeom prst="rect">
              <a:avLst/>
            </a:prstGeom>
            <a:solidFill>
              <a:srgbClr val="070154"/>
            </a:solidFill>
            <a:ln>
              <a:noFill/>
            </a:ln>
          </p:spPr>
        </p:sp>
        <p:sp>
          <p:nvSpPr>
            <p:cNvPr id="40" name="node09.text"/>
            <p:cNvSpPr/>
            <p:nvPr/>
          </p:nvSpPr>
          <p:spPr>
            <a:xfrm>
              <a:off x="8191500" y="552450"/>
              <a:ext cx="3124200" cy="266700"/>
            </a:xfrm>
            <a:prstGeom prst="rect">
              <a:avLst/>
            </a:prstGeom>
            <a:noFill/>
            <a:ln/>
          </p:spPr>
          <p:txBody>
            <a:bodyPr wrap="square" lIns="0" tIns="0" rIns="0" bIns="0" rtlCol="0" anchor="t"/>
            <a:lstStyle/>
            <a:p>
              <a:pPr algn="ctr" indent="0" marL="0">
                <a:lnSpc>
                  <a:spcPts val="2100"/>
                </a:lnSpc>
                <a:buNone/>
              </a:pPr>
              <a:r>
                <a:rPr lang="en-US" sz="1600" spc="-16" kern="0" b="0" i="0" dirty="0">
                  <a:solidFill>
                    <a:srgbClr val="FFFFFF"/>
                  </a:solidFill>
                  <a:latin typeface="IBM Plex Sans SemiBold"/>
                  <a:ea typeface="IBM Plex Sans SemiBold"/>
                  <a:cs typeface="IBM Plex Sans SemiBold"/>
                </a:rPr>
                <a:t>Specialists</a:t>
              </a:r>
              <a:endParaRPr lang="en-US" sz="1600" spc="-16" kern="0" b="0" i="0" dirty="0">
                <a:solidFill>
                  <a:srgbClr val="FFFFFF"/>
                </a:solidFill>
                <a:latin typeface="IBM Plex Sans SemiBold"/>
                <a:ea typeface="IBM Plex Sans SemiBold"/>
                <a:cs typeface="IBM Plex Sans SemiBold"/>
              </a:endParaRPr>
            </a:p>
          </p:txBody>
        </p:sp>
      </p:grpSp>
      <p:grpSp>
        <p:nvGrpSpPr>
          <p:cNvPr id="75" name="node10"/>
          <p:cNvGrpSpPr/>
          <p:nvPr/>
        </p:nvGrpSpPr>
        <p:grpSpPr>
          <a:xfrm>
            <a:off x="8039100" y="1143000"/>
            <a:ext cx="3429000" cy="457200"/>
            <a:chOff x="8039100" y="1143000"/>
            <a:chExt cx="3429000" cy="457200"/>
          </a:xfrm>
        </p:grpSpPr>
        <p:sp>
          <p:nvSpPr>
            <p:cNvPr id="41" name="node10.avatar"/>
            <p:cNvSpPr/>
            <p:nvPr/>
          </p:nvSpPr>
          <p:spPr>
            <a:xfrm>
              <a:off x="8039100" y="1143000"/>
              <a:ext cx="457200" cy="457200"/>
            </a:xfrm>
            <a:prstGeom prst="rect">
              <a:avLst/>
            </a:prstGeom>
            <a:solidFill>
              <a:srgbClr val="070154"/>
            </a:solidFill>
            <a:ln>
              <a:noFill/>
            </a:ln>
          </p:spPr>
        </p:sp>
        <p:sp>
          <p:nvSpPr>
            <p:cNvPr id="42" name="node10.initials"/>
            <p:cNvSpPr/>
            <p:nvPr/>
          </p:nvSpPr>
          <p:spPr>
            <a:xfrm>
              <a:off x="8039100" y="12636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SA</a:t>
              </a:r>
              <a:endParaRPr lang="en-US" sz="1200" spc="0" kern="0" b="0" i="0" dirty="0">
                <a:solidFill>
                  <a:srgbClr val="FFFFFF"/>
                </a:solidFill>
                <a:latin typeface="IBM Plex Sans SemiBold"/>
                <a:ea typeface="IBM Plex Sans SemiBold"/>
                <a:cs typeface="IBM Plex Sans SemiBold"/>
              </a:endParaRPr>
            </a:p>
          </p:txBody>
        </p:sp>
        <p:sp>
          <p:nvSpPr>
            <p:cNvPr id="43" name="node10.name"/>
            <p:cNvSpPr/>
            <p:nvPr/>
          </p:nvSpPr>
          <p:spPr>
            <a:xfrm>
              <a:off x="8648700" y="114935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Scott Alder</a:t>
              </a:r>
              <a:endParaRPr lang="en-US" sz="1200" spc="0" kern="0" b="0" i="0" dirty="0">
                <a:solidFill>
                  <a:srgbClr val="070154"/>
                </a:solidFill>
                <a:latin typeface="IBM Plex Sans SemiBold"/>
                <a:ea typeface="IBM Plex Sans SemiBold"/>
                <a:cs typeface="IBM Plex Sans SemiBold"/>
              </a:endParaRPr>
            </a:p>
          </p:txBody>
        </p:sp>
        <p:sp>
          <p:nvSpPr>
            <p:cNvPr id="44" name="node10.role"/>
            <p:cNvSpPr/>
            <p:nvPr/>
          </p:nvSpPr>
          <p:spPr>
            <a:xfrm>
              <a:off x="8648700" y="140335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payer data</a:t>
              </a:r>
              <a:endParaRPr lang="en-US" sz="1100" spc="0" kern="0" b="0" i="0" dirty="0">
                <a:solidFill>
                  <a:srgbClr val="50658E"/>
                </a:solidFill>
                <a:latin typeface="IBM Plex Sans"/>
                <a:ea typeface="IBM Plex Sans"/>
                <a:cs typeface="IBM Plex Sans"/>
              </a:endParaRPr>
            </a:p>
          </p:txBody>
        </p:sp>
      </p:grpSp>
      <p:grpSp>
        <p:nvGrpSpPr>
          <p:cNvPr id="76" name="node11"/>
          <p:cNvGrpSpPr/>
          <p:nvPr/>
        </p:nvGrpSpPr>
        <p:grpSpPr>
          <a:xfrm>
            <a:off x="8039100" y="1828800"/>
            <a:ext cx="3429000" cy="457200"/>
            <a:chOff x="8039100" y="1828800"/>
            <a:chExt cx="3429000" cy="457200"/>
          </a:xfrm>
        </p:grpSpPr>
        <p:sp>
          <p:nvSpPr>
            <p:cNvPr id="45" name="node11.avatar"/>
            <p:cNvSpPr/>
            <p:nvPr/>
          </p:nvSpPr>
          <p:spPr>
            <a:xfrm>
              <a:off x="8039100" y="1828800"/>
              <a:ext cx="457200" cy="457200"/>
            </a:xfrm>
            <a:prstGeom prst="rect">
              <a:avLst/>
            </a:prstGeom>
            <a:solidFill>
              <a:srgbClr val="070154"/>
            </a:solidFill>
            <a:ln>
              <a:noFill/>
            </a:ln>
          </p:spPr>
        </p:sp>
        <p:sp>
          <p:nvSpPr>
            <p:cNvPr id="46" name="node11.initials"/>
            <p:cNvSpPr/>
            <p:nvPr/>
          </p:nvSpPr>
          <p:spPr>
            <a:xfrm>
              <a:off x="8039100" y="19494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DC</a:t>
              </a:r>
              <a:endParaRPr lang="en-US" sz="1200" spc="0" kern="0" b="0" i="0" dirty="0">
                <a:solidFill>
                  <a:srgbClr val="FFFFFF"/>
                </a:solidFill>
                <a:latin typeface="IBM Plex Sans SemiBold"/>
                <a:ea typeface="IBM Plex Sans SemiBold"/>
                <a:cs typeface="IBM Plex Sans SemiBold"/>
              </a:endParaRPr>
            </a:p>
          </p:txBody>
        </p:sp>
        <p:sp>
          <p:nvSpPr>
            <p:cNvPr id="47" name="node11.name"/>
            <p:cNvSpPr/>
            <p:nvPr/>
          </p:nvSpPr>
          <p:spPr>
            <a:xfrm>
              <a:off x="8648700" y="183515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Dan Calloway</a:t>
              </a:r>
              <a:endParaRPr lang="en-US" sz="1200" spc="0" kern="0" b="0" i="0" dirty="0">
                <a:solidFill>
                  <a:srgbClr val="070154"/>
                </a:solidFill>
                <a:latin typeface="IBM Plex Sans SemiBold"/>
                <a:ea typeface="IBM Plex Sans SemiBold"/>
                <a:cs typeface="IBM Plex Sans SemiBold"/>
              </a:endParaRPr>
            </a:p>
          </p:txBody>
        </p:sp>
        <p:sp>
          <p:nvSpPr>
            <p:cNvPr id="48" name="node11.role"/>
            <p:cNvSpPr/>
            <p:nvPr/>
          </p:nvSpPr>
          <p:spPr>
            <a:xfrm>
              <a:off x="8648700" y="208915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life sciences</a:t>
              </a:r>
              <a:endParaRPr lang="en-US" sz="1100" spc="0" kern="0" b="0" i="0" dirty="0">
                <a:solidFill>
                  <a:srgbClr val="50658E"/>
                </a:solidFill>
                <a:latin typeface="IBM Plex Sans"/>
                <a:ea typeface="IBM Plex Sans"/>
                <a:cs typeface="IBM Plex Sans"/>
              </a:endParaRPr>
            </a:p>
          </p:txBody>
        </p:sp>
      </p:grpSp>
      <p:grpSp>
        <p:nvGrpSpPr>
          <p:cNvPr id="77" name="node12"/>
          <p:cNvGrpSpPr/>
          <p:nvPr/>
        </p:nvGrpSpPr>
        <p:grpSpPr>
          <a:xfrm>
            <a:off x="8039100" y="2514600"/>
            <a:ext cx="3429000" cy="457200"/>
            <a:chOff x="8039100" y="2514600"/>
            <a:chExt cx="3429000" cy="457200"/>
          </a:xfrm>
        </p:grpSpPr>
        <p:sp>
          <p:nvSpPr>
            <p:cNvPr id="49" name="node12.avatar"/>
            <p:cNvSpPr/>
            <p:nvPr/>
          </p:nvSpPr>
          <p:spPr>
            <a:xfrm>
              <a:off x="8039100" y="2514600"/>
              <a:ext cx="457200" cy="457200"/>
            </a:xfrm>
            <a:prstGeom prst="rect">
              <a:avLst/>
            </a:prstGeom>
            <a:solidFill>
              <a:srgbClr val="070154"/>
            </a:solidFill>
            <a:ln>
              <a:noFill/>
            </a:ln>
          </p:spPr>
        </p:sp>
        <p:sp>
          <p:nvSpPr>
            <p:cNvPr id="50" name="node12.initials"/>
            <p:cNvSpPr/>
            <p:nvPr/>
          </p:nvSpPr>
          <p:spPr>
            <a:xfrm>
              <a:off x="8039100" y="26352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BM</a:t>
              </a:r>
              <a:endParaRPr lang="en-US" sz="1200" spc="0" kern="0" b="0" i="0" dirty="0">
                <a:solidFill>
                  <a:srgbClr val="FFFFFF"/>
                </a:solidFill>
                <a:latin typeface="IBM Plex Sans SemiBold"/>
                <a:ea typeface="IBM Plex Sans SemiBold"/>
                <a:cs typeface="IBM Plex Sans SemiBold"/>
              </a:endParaRPr>
            </a:p>
          </p:txBody>
        </p:sp>
        <p:sp>
          <p:nvSpPr>
            <p:cNvPr id="51" name="node12.name"/>
            <p:cNvSpPr/>
            <p:nvPr/>
          </p:nvSpPr>
          <p:spPr>
            <a:xfrm>
              <a:off x="8648700" y="252095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Brett Marlow</a:t>
              </a:r>
              <a:endParaRPr lang="en-US" sz="1200" spc="0" kern="0" b="0" i="0" dirty="0">
                <a:solidFill>
                  <a:srgbClr val="070154"/>
                </a:solidFill>
                <a:latin typeface="IBM Plex Sans SemiBold"/>
                <a:ea typeface="IBM Plex Sans SemiBold"/>
                <a:cs typeface="IBM Plex Sans SemiBold"/>
              </a:endParaRPr>
            </a:p>
          </p:txBody>
        </p:sp>
        <p:sp>
          <p:nvSpPr>
            <p:cNvPr id="52" name="node12.role"/>
            <p:cNvSpPr/>
            <p:nvPr/>
          </p:nvSpPr>
          <p:spPr>
            <a:xfrm>
              <a:off x="8648700" y="277495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provider</a:t>
              </a:r>
              <a:endParaRPr lang="en-US" sz="1100" spc="0" kern="0" b="0" i="0" dirty="0">
                <a:solidFill>
                  <a:srgbClr val="50658E"/>
                </a:solidFill>
                <a:latin typeface="IBM Plex Sans"/>
                <a:ea typeface="IBM Plex Sans"/>
                <a:cs typeface="IBM Plex Sans"/>
              </a:endParaRPr>
            </a:p>
          </p:txBody>
        </p:sp>
      </p:grpSp>
      <p:grpSp>
        <p:nvGrpSpPr>
          <p:cNvPr id="78" name="node13"/>
          <p:cNvGrpSpPr/>
          <p:nvPr/>
        </p:nvGrpSpPr>
        <p:grpSpPr>
          <a:xfrm>
            <a:off x="8039100" y="3200400"/>
            <a:ext cx="3429000" cy="457200"/>
            <a:chOff x="8039100" y="3200400"/>
            <a:chExt cx="3429000" cy="457200"/>
          </a:xfrm>
        </p:grpSpPr>
        <p:sp>
          <p:nvSpPr>
            <p:cNvPr id="53" name="node13.avatar"/>
            <p:cNvSpPr/>
            <p:nvPr/>
          </p:nvSpPr>
          <p:spPr>
            <a:xfrm>
              <a:off x="8039100" y="3200400"/>
              <a:ext cx="457200" cy="457200"/>
            </a:xfrm>
            <a:prstGeom prst="rect">
              <a:avLst/>
            </a:prstGeom>
            <a:solidFill>
              <a:srgbClr val="070154"/>
            </a:solidFill>
            <a:ln>
              <a:noFill/>
            </a:ln>
          </p:spPr>
        </p:sp>
        <p:sp>
          <p:nvSpPr>
            <p:cNvPr id="54" name="node13.initials"/>
            <p:cNvSpPr/>
            <p:nvPr/>
          </p:nvSpPr>
          <p:spPr>
            <a:xfrm>
              <a:off x="8039100" y="33210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AG</a:t>
              </a:r>
              <a:endParaRPr lang="en-US" sz="1200" spc="0" kern="0" b="0" i="0" dirty="0">
                <a:solidFill>
                  <a:srgbClr val="FFFFFF"/>
                </a:solidFill>
                <a:latin typeface="IBM Plex Sans SemiBold"/>
                <a:ea typeface="IBM Plex Sans SemiBold"/>
                <a:cs typeface="IBM Plex Sans SemiBold"/>
              </a:endParaRPr>
            </a:p>
          </p:txBody>
        </p:sp>
        <p:sp>
          <p:nvSpPr>
            <p:cNvPr id="55" name="node13.name"/>
            <p:cNvSpPr/>
            <p:nvPr/>
          </p:nvSpPr>
          <p:spPr>
            <a:xfrm>
              <a:off x="8648700" y="320675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Anneke Groot</a:t>
              </a:r>
              <a:endParaRPr lang="en-US" sz="1200" spc="0" kern="0" b="0" i="0" dirty="0">
                <a:solidFill>
                  <a:srgbClr val="070154"/>
                </a:solidFill>
                <a:latin typeface="IBM Plex Sans SemiBold"/>
                <a:ea typeface="IBM Plex Sans SemiBold"/>
                <a:cs typeface="IBM Plex Sans SemiBold"/>
              </a:endParaRPr>
            </a:p>
          </p:txBody>
        </p:sp>
        <p:sp>
          <p:nvSpPr>
            <p:cNvPr id="56" name="node13.role"/>
            <p:cNvSpPr/>
            <p:nvPr/>
          </p:nvSpPr>
          <p:spPr>
            <a:xfrm>
              <a:off x="8648700" y="346075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governance</a:t>
              </a:r>
              <a:endParaRPr lang="en-US" sz="1100" spc="0" kern="0" b="0" i="0" dirty="0">
                <a:solidFill>
                  <a:srgbClr val="50658E"/>
                </a:solidFill>
                <a:latin typeface="IBM Plex Sans"/>
                <a:ea typeface="IBM Plex Sans"/>
                <a:cs typeface="IBM Plex Sans"/>
              </a:endParaRPr>
            </a:p>
          </p:txBody>
        </p:sp>
      </p:grpSp>
      <p:grpSp>
        <p:nvGrpSpPr>
          <p:cNvPr id="79" name="node14"/>
          <p:cNvGrpSpPr/>
          <p:nvPr/>
        </p:nvGrpSpPr>
        <p:grpSpPr>
          <a:xfrm>
            <a:off x="8039100" y="3886200"/>
            <a:ext cx="3429000" cy="457200"/>
            <a:chOff x="8039100" y="3886200"/>
            <a:chExt cx="3429000" cy="457200"/>
          </a:xfrm>
        </p:grpSpPr>
        <p:sp>
          <p:nvSpPr>
            <p:cNvPr id="57" name="node14.avatar"/>
            <p:cNvSpPr/>
            <p:nvPr/>
          </p:nvSpPr>
          <p:spPr>
            <a:xfrm>
              <a:off x="8039100" y="3886200"/>
              <a:ext cx="457200" cy="457200"/>
            </a:xfrm>
            <a:prstGeom prst="rect">
              <a:avLst/>
            </a:prstGeom>
            <a:solidFill>
              <a:srgbClr val="070154"/>
            </a:solidFill>
            <a:ln>
              <a:noFill/>
            </a:ln>
          </p:spPr>
        </p:sp>
        <p:sp>
          <p:nvSpPr>
            <p:cNvPr id="58" name="node14.initials"/>
            <p:cNvSpPr/>
            <p:nvPr/>
          </p:nvSpPr>
          <p:spPr>
            <a:xfrm>
              <a:off x="8039100" y="40068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TZ</a:t>
              </a:r>
              <a:endParaRPr lang="en-US" sz="1200" spc="0" kern="0" b="0" i="0" dirty="0">
                <a:solidFill>
                  <a:srgbClr val="FFFFFF"/>
                </a:solidFill>
                <a:latin typeface="IBM Plex Sans SemiBold"/>
                <a:ea typeface="IBM Plex Sans SemiBold"/>
                <a:cs typeface="IBM Plex Sans SemiBold"/>
              </a:endParaRPr>
            </a:p>
          </p:txBody>
        </p:sp>
        <p:sp>
          <p:nvSpPr>
            <p:cNvPr id="59" name="node14.name"/>
            <p:cNvSpPr/>
            <p:nvPr/>
          </p:nvSpPr>
          <p:spPr>
            <a:xfrm>
              <a:off x="8648700" y="389255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Tanner Zell</a:t>
              </a:r>
              <a:endParaRPr lang="en-US" sz="1200" spc="0" kern="0" b="0" i="0" dirty="0">
                <a:solidFill>
                  <a:srgbClr val="070154"/>
                </a:solidFill>
                <a:latin typeface="IBM Plex Sans SemiBold"/>
                <a:ea typeface="IBM Plex Sans SemiBold"/>
                <a:cs typeface="IBM Plex Sans SemiBold"/>
              </a:endParaRPr>
            </a:p>
          </p:txBody>
        </p:sp>
        <p:sp>
          <p:nvSpPr>
            <p:cNvPr id="60" name="node14.role"/>
            <p:cNvSpPr/>
            <p:nvPr/>
          </p:nvSpPr>
          <p:spPr>
            <a:xfrm>
              <a:off x="8648700" y="414655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design</a:t>
              </a:r>
              <a:endParaRPr lang="en-US" sz="1100" spc="0" kern="0" b="0" i="0" dirty="0">
                <a:solidFill>
                  <a:srgbClr val="50658E"/>
                </a:solidFill>
                <a:latin typeface="IBM Plex Sans"/>
                <a:ea typeface="IBM Plex Sans"/>
                <a:cs typeface="IBM Plex Sans"/>
              </a:endParaRPr>
            </a:p>
          </p:txBody>
        </p:sp>
      </p:grpSp>
      <p:grpSp>
        <p:nvGrpSpPr>
          <p:cNvPr id="80" name="node15"/>
          <p:cNvGrpSpPr/>
          <p:nvPr/>
        </p:nvGrpSpPr>
        <p:grpSpPr>
          <a:xfrm>
            <a:off x="8039100" y="4572000"/>
            <a:ext cx="3429000" cy="457200"/>
            <a:chOff x="8039100" y="4572000"/>
            <a:chExt cx="3429000" cy="457200"/>
          </a:xfrm>
        </p:grpSpPr>
        <p:sp>
          <p:nvSpPr>
            <p:cNvPr id="61" name="node15.avatar"/>
            <p:cNvSpPr/>
            <p:nvPr/>
          </p:nvSpPr>
          <p:spPr>
            <a:xfrm>
              <a:off x="8039100" y="4572000"/>
              <a:ext cx="457200" cy="457200"/>
            </a:xfrm>
            <a:prstGeom prst="rect">
              <a:avLst/>
            </a:prstGeom>
            <a:solidFill>
              <a:srgbClr val="070154"/>
            </a:solidFill>
            <a:ln>
              <a:noFill/>
            </a:ln>
          </p:spPr>
        </p:sp>
        <p:sp>
          <p:nvSpPr>
            <p:cNvPr id="62" name="node15.initials"/>
            <p:cNvSpPr/>
            <p:nvPr/>
          </p:nvSpPr>
          <p:spPr>
            <a:xfrm>
              <a:off x="8039100" y="4692650"/>
              <a:ext cx="457200" cy="215900"/>
            </a:xfrm>
            <a:prstGeom prst="rect">
              <a:avLst/>
            </a:prstGeom>
            <a:noFill/>
            <a:ln/>
          </p:spPr>
          <p:txBody>
            <a:bodyPr wrap="square" lIns="0" tIns="0" rIns="0" bIns="0" rtlCol="0" anchor="t"/>
            <a:lstStyle/>
            <a:p>
              <a:pPr algn="ctr" indent="0" marL="0">
                <a:lnSpc>
                  <a:spcPts val="1700"/>
                </a:lnSpc>
                <a:buNone/>
              </a:pPr>
              <a:r>
                <a:rPr lang="en-US" sz="1200" spc="0" kern="0" b="0" i="0" dirty="0">
                  <a:solidFill>
                    <a:srgbClr val="FFFFFF"/>
                  </a:solidFill>
                  <a:latin typeface="IBM Plex Sans SemiBold"/>
                  <a:ea typeface="IBM Plex Sans SemiBold"/>
                  <a:cs typeface="IBM Plex Sans SemiBold"/>
                </a:rPr>
                <a:t>GM</a:t>
              </a:r>
              <a:endParaRPr lang="en-US" sz="1200" spc="0" kern="0" b="0" i="0" dirty="0">
                <a:solidFill>
                  <a:srgbClr val="FFFFFF"/>
                </a:solidFill>
                <a:latin typeface="IBM Plex Sans SemiBold"/>
                <a:ea typeface="IBM Plex Sans SemiBold"/>
                <a:cs typeface="IBM Plex Sans SemiBold"/>
              </a:endParaRPr>
            </a:p>
          </p:txBody>
        </p:sp>
        <p:sp>
          <p:nvSpPr>
            <p:cNvPr id="63" name="node15.name"/>
            <p:cNvSpPr/>
            <p:nvPr/>
          </p:nvSpPr>
          <p:spPr>
            <a:xfrm>
              <a:off x="8648700" y="457835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SemiBold"/>
                  <a:ea typeface="IBM Plex Sans SemiBold"/>
                  <a:cs typeface="IBM Plex Sans SemiBold"/>
                </a:rPr>
                <a:t>Greta Movsky</a:t>
              </a:r>
              <a:endParaRPr lang="en-US" sz="1200" spc="0" kern="0" b="0" i="0" dirty="0">
                <a:solidFill>
                  <a:srgbClr val="070154"/>
                </a:solidFill>
                <a:latin typeface="IBM Plex Sans SemiBold"/>
                <a:ea typeface="IBM Plex Sans SemiBold"/>
                <a:cs typeface="IBM Plex Sans SemiBold"/>
              </a:endParaRPr>
            </a:p>
          </p:txBody>
        </p:sp>
        <p:sp>
          <p:nvSpPr>
            <p:cNvPr id="64" name="node15.role"/>
            <p:cNvSpPr/>
            <p:nvPr/>
          </p:nvSpPr>
          <p:spPr>
            <a:xfrm>
              <a:off x="8648700" y="4832350"/>
              <a:ext cx="28194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SME, cybersecurity</a:t>
              </a:r>
              <a:endParaRPr lang="en-US" sz="1100" spc="0" kern="0" b="0" i="0" dirty="0">
                <a:solidFill>
                  <a:srgbClr val="50658E"/>
                </a:solidFill>
                <a:latin typeface="IBM Plex Sans"/>
                <a:ea typeface="IBM Plex Sans"/>
                <a:cs typeface="IBM Plex Sans"/>
              </a:endParaRPr>
            </a:p>
          </p:txBody>
        </p:sp>
      </p:grpSp>
      <p:grpSp>
        <p:nvGrpSpPr>
          <p:cNvPr id="81" name="node16"/>
          <p:cNvGrpSpPr/>
          <p:nvPr/>
        </p:nvGrpSpPr>
        <p:grpSpPr>
          <a:xfrm>
            <a:off x="8039100" y="5486400"/>
            <a:ext cx="3429000" cy="381000"/>
            <a:chOff x="8039100" y="5486400"/>
            <a:chExt cx="3429000" cy="381000"/>
          </a:xfrm>
        </p:grpSpPr>
        <p:sp>
          <p:nvSpPr>
            <p:cNvPr id="65" name="node16.text"/>
            <p:cNvSpPr/>
            <p:nvPr/>
          </p:nvSpPr>
          <p:spPr>
            <a:xfrm>
              <a:off x="8039100" y="54864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Advise on architecture and governance, assess processes and lead training.</a:t>
              </a:r>
              <a:endParaRPr lang="en-US" sz="1100" spc="0" kern="0" b="0" i="0" dirty="0">
                <a:solidFill>
                  <a:srgbClr val="50658E"/>
                </a:solidFill>
                <a:latin typeface="IBM Plex Sans"/>
                <a:ea typeface="IBM Plex Sans"/>
                <a:cs typeface="IBM Plex Sans"/>
              </a:endParaRPr>
            </a:p>
          </p:txBody>
        </p:sp>
      </p:gr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ource-31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QUALIFICATIONS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We are deeply embedded across healthcare, with proven work in payer, provider and pharmacy</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engagement history.</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229</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2057400"/>
            <a:ext cx="2971800" cy="762000"/>
            <a:chOff x="723900" y="2057400"/>
            <a:chExt cx="2971800" cy="762000"/>
          </a:xfrm>
        </p:grpSpPr>
        <p:sp>
          <p:nvSpPr>
            <p:cNvPr id="7" name="node01.text"/>
            <p:cNvSpPr/>
            <p:nvPr/>
          </p:nvSpPr>
          <p:spPr>
            <a:xfrm>
              <a:off x="723900" y="2057400"/>
              <a:ext cx="2971800" cy="762000"/>
            </a:xfrm>
            <a:prstGeom prst="rect">
              <a:avLst/>
            </a:prstGeom>
            <a:noFill/>
            <a:ln/>
          </p:spPr>
          <p:txBody>
            <a:bodyPr wrap="square" lIns="0" tIns="0" rIns="0" bIns="0" rtlCol="0" anchor="t"/>
            <a:lstStyle/>
            <a:p>
              <a:pPr algn="l" indent="0" marL="0">
                <a:lnSpc>
                  <a:spcPts val="2000"/>
                </a:lnSpc>
                <a:buNone/>
              </a:pPr>
              <a:r>
                <a:rPr lang="en-US" sz="1400" spc="0" kern="0" b="0" i="0" dirty="0">
                  <a:solidFill>
                    <a:srgbClr val="070154"/>
                  </a:solidFill>
                  <a:latin typeface="IBM Plex Sans"/>
                  <a:ea typeface="IBM Plex Sans"/>
                  <a:cs typeface="IBM Plex Sans"/>
                </a:rPr>
                <a:t>We deliver modernization through targeted offerings across the healthcare value chain.</a:t>
              </a:r>
              <a:endParaRPr lang="en-US" sz="1400" spc="0" kern="0" b="0" i="0" dirty="0">
                <a:solidFill>
                  <a:srgbClr val="070154"/>
                </a:solidFill>
                <a:latin typeface="IBM Plex Sans"/>
                <a:ea typeface="IBM Plex Sans"/>
                <a:cs typeface="IBM Plex Sans"/>
              </a:endParaRPr>
            </a:p>
          </p:txBody>
        </p:sp>
      </p:grpSp>
      <p:grpSp>
        <p:nvGrpSpPr>
          <p:cNvPr id="80" name="node02"/>
          <p:cNvGrpSpPr/>
          <p:nvPr/>
        </p:nvGrpSpPr>
        <p:grpSpPr>
          <a:xfrm>
            <a:off x="723900" y="3429000"/>
            <a:ext cx="2971800" cy="228600"/>
            <a:chOff x="723900" y="3429000"/>
            <a:chExt cx="2971800" cy="228600"/>
          </a:xfrm>
        </p:grpSpPr>
        <p:sp>
          <p:nvSpPr>
            <p:cNvPr id="8" name="node02.label"/>
            <p:cNvSpPr/>
            <p:nvPr/>
          </p:nvSpPr>
          <p:spPr>
            <a:xfrm>
              <a:off x="723900" y="3429000"/>
              <a:ext cx="1353815"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TECHNOLOGY ALLIANCES</a:t>
              </a:r>
              <a:endParaRPr lang="en-US" sz="800" spc="48" kern="0" b="0" i="0" dirty="0">
                <a:solidFill>
                  <a:srgbClr val="50658E"/>
                </a:solidFill>
                <a:latin typeface="IBM Plex Mono Medium"/>
                <a:ea typeface="IBM Plex Mono Medium"/>
                <a:cs typeface="IBM Plex Mono Medium"/>
              </a:endParaRPr>
            </a:p>
          </p:txBody>
        </p:sp>
        <p:sp>
          <p:nvSpPr>
            <p:cNvPr id="9" name="node02.rule"/>
            <p:cNvSpPr/>
            <p:nvPr/>
          </p:nvSpPr>
          <p:spPr>
            <a:xfrm>
              <a:off x="2204715" y="3538538"/>
              <a:ext cx="1490985" cy="9525"/>
            </a:xfrm>
            <a:prstGeom prst="rect">
              <a:avLst/>
            </a:prstGeom>
            <a:solidFill>
              <a:srgbClr val="CED7E6"/>
            </a:solidFill>
            <a:ln>
              <a:noFill/>
            </a:ln>
          </p:spPr>
        </p:sp>
      </p:grpSp>
      <p:grpSp>
        <p:nvGrpSpPr>
          <p:cNvPr id="81" name="node03"/>
          <p:cNvGrpSpPr/>
          <p:nvPr/>
        </p:nvGrpSpPr>
        <p:grpSpPr>
          <a:xfrm>
            <a:off x="723900" y="3657600"/>
            <a:ext cx="1371600" cy="203200"/>
            <a:chOff x="723900" y="3657600"/>
            <a:chExt cx="1371600" cy="203200"/>
          </a:xfrm>
        </p:grpSpPr>
        <p:sp>
          <p:nvSpPr>
            <p:cNvPr id="10" name="node03.surface"/>
            <p:cNvSpPr/>
            <p:nvPr/>
          </p:nvSpPr>
          <p:spPr>
            <a:xfrm>
              <a:off x="723900" y="3657600"/>
              <a:ext cx="1371600" cy="203200"/>
            </a:xfrm>
            <a:prstGeom prst="rect">
              <a:avLst/>
            </a:prstGeom>
            <a:solidFill>
              <a:srgbClr val="E8EEF8"/>
            </a:solidFill>
            <a:ln>
              <a:noFill/>
            </a:ln>
          </p:spPr>
        </p:sp>
        <p:sp>
          <p:nvSpPr>
            <p:cNvPr id="11" name="node03.text"/>
            <p:cNvSpPr/>
            <p:nvPr/>
          </p:nvSpPr>
          <p:spPr>
            <a:xfrm>
              <a:off x="800100" y="36893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CLOUD PLATFORM</a:t>
              </a:r>
              <a:endParaRPr lang="en-US" sz="800" spc="48" kern="0" b="0" i="0" dirty="0">
                <a:solidFill>
                  <a:srgbClr val="070154"/>
                </a:solidFill>
                <a:latin typeface="IBM Plex Mono Medium"/>
                <a:ea typeface="IBM Plex Mono Medium"/>
                <a:cs typeface="IBM Plex Mono Medium"/>
              </a:endParaRPr>
            </a:p>
          </p:txBody>
        </p:sp>
      </p:grpSp>
      <p:grpSp>
        <p:nvGrpSpPr>
          <p:cNvPr id="82" name="node04"/>
          <p:cNvGrpSpPr/>
          <p:nvPr/>
        </p:nvGrpSpPr>
        <p:grpSpPr>
          <a:xfrm>
            <a:off x="2324100" y="3657600"/>
            <a:ext cx="1371600" cy="203200"/>
            <a:chOff x="2324100" y="3657600"/>
            <a:chExt cx="1371600" cy="203200"/>
          </a:xfrm>
        </p:grpSpPr>
        <p:sp>
          <p:nvSpPr>
            <p:cNvPr id="12" name="node04.surface"/>
            <p:cNvSpPr/>
            <p:nvPr/>
          </p:nvSpPr>
          <p:spPr>
            <a:xfrm>
              <a:off x="2324100" y="3657600"/>
              <a:ext cx="1371600" cy="203200"/>
            </a:xfrm>
            <a:prstGeom prst="rect">
              <a:avLst/>
            </a:prstGeom>
            <a:solidFill>
              <a:srgbClr val="E8EEF8"/>
            </a:solidFill>
            <a:ln>
              <a:noFill/>
            </a:ln>
          </p:spPr>
        </p:sp>
        <p:sp>
          <p:nvSpPr>
            <p:cNvPr id="13" name="node04.text"/>
            <p:cNvSpPr/>
            <p:nvPr/>
          </p:nvSpPr>
          <p:spPr>
            <a:xfrm>
              <a:off x="2400300" y="36893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LAKEHOUSE</a:t>
              </a:r>
              <a:endParaRPr lang="en-US" sz="800" spc="48" kern="0" b="0" i="0" dirty="0">
                <a:solidFill>
                  <a:srgbClr val="070154"/>
                </a:solidFill>
                <a:latin typeface="IBM Plex Mono Medium"/>
                <a:ea typeface="IBM Plex Mono Medium"/>
                <a:cs typeface="IBM Plex Mono Medium"/>
              </a:endParaRPr>
            </a:p>
          </p:txBody>
        </p:sp>
      </p:grpSp>
      <p:grpSp>
        <p:nvGrpSpPr>
          <p:cNvPr id="83" name="node05"/>
          <p:cNvGrpSpPr/>
          <p:nvPr/>
        </p:nvGrpSpPr>
        <p:grpSpPr>
          <a:xfrm>
            <a:off x="723900" y="3886200"/>
            <a:ext cx="1371600" cy="203200"/>
            <a:chOff x="723900" y="3886200"/>
            <a:chExt cx="1371600" cy="203200"/>
          </a:xfrm>
        </p:grpSpPr>
        <p:sp>
          <p:nvSpPr>
            <p:cNvPr id="14" name="node05.surface"/>
            <p:cNvSpPr/>
            <p:nvPr/>
          </p:nvSpPr>
          <p:spPr>
            <a:xfrm>
              <a:off x="723900" y="3886200"/>
              <a:ext cx="1371600" cy="203200"/>
            </a:xfrm>
            <a:prstGeom prst="rect">
              <a:avLst/>
            </a:prstGeom>
            <a:solidFill>
              <a:srgbClr val="E8EEF8"/>
            </a:solidFill>
            <a:ln>
              <a:noFill/>
            </a:ln>
          </p:spPr>
        </p:sp>
        <p:sp>
          <p:nvSpPr>
            <p:cNvPr id="15" name="node05.text"/>
            <p:cNvSpPr/>
            <p:nvPr/>
          </p:nvSpPr>
          <p:spPr>
            <a:xfrm>
              <a:off x="800100" y="39179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CRM</a:t>
              </a:r>
              <a:endParaRPr lang="en-US" sz="800" spc="48" kern="0" b="0" i="0" dirty="0">
                <a:solidFill>
                  <a:srgbClr val="070154"/>
                </a:solidFill>
                <a:latin typeface="IBM Plex Mono Medium"/>
                <a:ea typeface="IBM Plex Mono Medium"/>
                <a:cs typeface="IBM Plex Mono Medium"/>
              </a:endParaRPr>
            </a:p>
          </p:txBody>
        </p:sp>
      </p:grpSp>
      <p:grpSp>
        <p:nvGrpSpPr>
          <p:cNvPr id="84" name="node06"/>
          <p:cNvGrpSpPr/>
          <p:nvPr/>
        </p:nvGrpSpPr>
        <p:grpSpPr>
          <a:xfrm>
            <a:off x="2324100" y="3886200"/>
            <a:ext cx="1371600" cy="203200"/>
            <a:chOff x="2324100" y="3886200"/>
            <a:chExt cx="1371600" cy="203200"/>
          </a:xfrm>
        </p:grpSpPr>
        <p:sp>
          <p:nvSpPr>
            <p:cNvPr id="16" name="node06.surface"/>
            <p:cNvSpPr/>
            <p:nvPr/>
          </p:nvSpPr>
          <p:spPr>
            <a:xfrm>
              <a:off x="2324100" y="3886200"/>
              <a:ext cx="1371600" cy="203200"/>
            </a:xfrm>
            <a:prstGeom prst="rect">
              <a:avLst/>
            </a:prstGeom>
            <a:solidFill>
              <a:srgbClr val="E8EEF8"/>
            </a:solidFill>
            <a:ln>
              <a:noFill/>
            </a:ln>
          </p:spPr>
        </p:sp>
        <p:sp>
          <p:nvSpPr>
            <p:cNvPr id="17" name="node06.text"/>
            <p:cNvSpPr/>
            <p:nvPr/>
          </p:nvSpPr>
          <p:spPr>
            <a:xfrm>
              <a:off x="2400300" y="39179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CORE ADMIN</a:t>
              </a:r>
              <a:endParaRPr lang="en-US" sz="800" spc="48" kern="0" b="0" i="0" dirty="0">
                <a:solidFill>
                  <a:srgbClr val="070154"/>
                </a:solidFill>
                <a:latin typeface="IBM Plex Mono Medium"/>
                <a:ea typeface="IBM Plex Mono Medium"/>
                <a:cs typeface="IBM Plex Mono Medium"/>
              </a:endParaRPr>
            </a:p>
          </p:txBody>
        </p:sp>
      </p:grpSp>
      <p:grpSp>
        <p:nvGrpSpPr>
          <p:cNvPr id="85" name="node07"/>
          <p:cNvGrpSpPr/>
          <p:nvPr/>
        </p:nvGrpSpPr>
        <p:grpSpPr>
          <a:xfrm>
            <a:off x="723900" y="4114800"/>
            <a:ext cx="1371600" cy="203200"/>
            <a:chOff x="723900" y="4114800"/>
            <a:chExt cx="1371600" cy="203200"/>
          </a:xfrm>
        </p:grpSpPr>
        <p:sp>
          <p:nvSpPr>
            <p:cNvPr id="18" name="node07.surface"/>
            <p:cNvSpPr/>
            <p:nvPr/>
          </p:nvSpPr>
          <p:spPr>
            <a:xfrm>
              <a:off x="723900" y="4114800"/>
              <a:ext cx="1371600" cy="203200"/>
            </a:xfrm>
            <a:prstGeom prst="rect">
              <a:avLst/>
            </a:prstGeom>
            <a:solidFill>
              <a:srgbClr val="E8EEF8"/>
            </a:solidFill>
            <a:ln>
              <a:noFill/>
            </a:ln>
          </p:spPr>
        </p:sp>
        <p:sp>
          <p:nvSpPr>
            <p:cNvPr id="19" name="node07.text"/>
            <p:cNvSpPr/>
            <p:nvPr/>
          </p:nvSpPr>
          <p:spPr>
            <a:xfrm>
              <a:off x="800100" y="41465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INTEGRATION</a:t>
              </a:r>
              <a:endParaRPr lang="en-US" sz="800" spc="48" kern="0" b="0" i="0" dirty="0">
                <a:solidFill>
                  <a:srgbClr val="070154"/>
                </a:solidFill>
                <a:latin typeface="IBM Plex Mono Medium"/>
                <a:ea typeface="IBM Plex Mono Medium"/>
                <a:cs typeface="IBM Plex Mono Medium"/>
              </a:endParaRPr>
            </a:p>
          </p:txBody>
        </p:sp>
      </p:grpSp>
      <p:grpSp>
        <p:nvGrpSpPr>
          <p:cNvPr id="86" name="node08"/>
          <p:cNvGrpSpPr/>
          <p:nvPr/>
        </p:nvGrpSpPr>
        <p:grpSpPr>
          <a:xfrm>
            <a:off x="2324100" y="4114800"/>
            <a:ext cx="1371600" cy="203200"/>
            <a:chOff x="2324100" y="4114800"/>
            <a:chExt cx="1371600" cy="203200"/>
          </a:xfrm>
        </p:grpSpPr>
        <p:sp>
          <p:nvSpPr>
            <p:cNvPr id="20" name="node08.surface"/>
            <p:cNvSpPr/>
            <p:nvPr/>
          </p:nvSpPr>
          <p:spPr>
            <a:xfrm>
              <a:off x="2324100" y="4114800"/>
              <a:ext cx="1371600" cy="203200"/>
            </a:xfrm>
            <a:prstGeom prst="rect">
              <a:avLst/>
            </a:prstGeom>
            <a:solidFill>
              <a:srgbClr val="E8EEF8"/>
            </a:solidFill>
            <a:ln>
              <a:noFill/>
            </a:ln>
          </p:spPr>
        </p:sp>
        <p:sp>
          <p:nvSpPr>
            <p:cNvPr id="21" name="node08.text"/>
            <p:cNvSpPr/>
            <p:nvPr/>
          </p:nvSpPr>
          <p:spPr>
            <a:xfrm>
              <a:off x="2400300" y="41465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BI TOOLS</a:t>
              </a:r>
              <a:endParaRPr lang="en-US" sz="800" spc="48" kern="0" b="0" i="0" dirty="0">
                <a:solidFill>
                  <a:srgbClr val="070154"/>
                </a:solidFill>
                <a:latin typeface="IBM Plex Mono Medium"/>
                <a:ea typeface="IBM Plex Mono Medium"/>
                <a:cs typeface="IBM Plex Mono Medium"/>
              </a:endParaRPr>
            </a:p>
          </p:txBody>
        </p:sp>
      </p:grpSp>
      <p:grpSp>
        <p:nvGrpSpPr>
          <p:cNvPr id="87" name="node09"/>
          <p:cNvGrpSpPr/>
          <p:nvPr/>
        </p:nvGrpSpPr>
        <p:grpSpPr>
          <a:xfrm>
            <a:off x="723900" y="4343400"/>
            <a:ext cx="1371600" cy="203200"/>
            <a:chOff x="723900" y="4343400"/>
            <a:chExt cx="1371600" cy="203200"/>
          </a:xfrm>
        </p:grpSpPr>
        <p:sp>
          <p:nvSpPr>
            <p:cNvPr id="22" name="node09.surface"/>
            <p:cNvSpPr/>
            <p:nvPr/>
          </p:nvSpPr>
          <p:spPr>
            <a:xfrm>
              <a:off x="723900" y="4343400"/>
              <a:ext cx="1371600" cy="203200"/>
            </a:xfrm>
            <a:prstGeom prst="rect">
              <a:avLst/>
            </a:prstGeom>
            <a:solidFill>
              <a:srgbClr val="E8EEF8"/>
            </a:solidFill>
            <a:ln>
              <a:noFill/>
            </a:ln>
          </p:spPr>
        </p:sp>
        <p:sp>
          <p:nvSpPr>
            <p:cNvPr id="23" name="node09.text"/>
            <p:cNvSpPr/>
            <p:nvPr/>
          </p:nvSpPr>
          <p:spPr>
            <a:xfrm>
              <a:off x="800100" y="43751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CONTACT CENTER</a:t>
              </a:r>
              <a:endParaRPr lang="en-US" sz="800" spc="48" kern="0" b="0" i="0" dirty="0">
                <a:solidFill>
                  <a:srgbClr val="070154"/>
                </a:solidFill>
                <a:latin typeface="IBM Plex Mono Medium"/>
                <a:ea typeface="IBM Plex Mono Medium"/>
                <a:cs typeface="IBM Plex Mono Medium"/>
              </a:endParaRPr>
            </a:p>
          </p:txBody>
        </p:sp>
      </p:grpSp>
      <p:grpSp>
        <p:nvGrpSpPr>
          <p:cNvPr id="88" name="node10"/>
          <p:cNvGrpSpPr/>
          <p:nvPr/>
        </p:nvGrpSpPr>
        <p:grpSpPr>
          <a:xfrm>
            <a:off x="2324100" y="4343400"/>
            <a:ext cx="1371600" cy="203200"/>
            <a:chOff x="2324100" y="4343400"/>
            <a:chExt cx="1371600" cy="203200"/>
          </a:xfrm>
        </p:grpSpPr>
        <p:sp>
          <p:nvSpPr>
            <p:cNvPr id="24" name="node10.surface"/>
            <p:cNvSpPr/>
            <p:nvPr/>
          </p:nvSpPr>
          <p:spPr>
            <a:xfrm>
              <a:off x="2324100" y="4343400"/>
              <a:ext cx="1371600" cy="203200"/>
            </a:xfrm>
            <a:prstGeom prst="rect">
              <a:avLst/>
            </a:prstGeom>
            <a:solidFill>
              <a:srgbClr val="E8EEF8"/>
            </a:solidFill>
            <a:ln>
              <a:noFill/>
            </a:ln>
          </p:spPr>
        </p:sp>
        <p:sp>
          <p:nvSpPr>
            <p:cNvPr id="25" name="node10.text"/>
            <p:cNvSpPr/>
            <p:nvPr/>
          </p:nvSpPr>
          <p:spPr>
            <a:xfrm>
              <a:off x="2400300" y="43751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IDENTITY</a:t>
              </a:r>
              <a:endParaRPr lang="en-US" sz="800" spc="48" kern="0" b="0" i="0" dirty="0">
                <a:solidFill>
                  <a:srgbClr val="070154"/>
                </a:solidFill>
                <a:latin typeface="IBM Plex Mono Medium"/>
                <a:ea typeface="IBM Plex Mono Medium"/>
                <a:cs typeface="IBM Plex Mono Medium"/>
              </a:endParaRPr>
            </a:p>
          </p:txBody>
        </p:sp>
      </p:grpSp>
      <p:grpSp>
        <p:nvGrpSpPr>
          <p:cNvPr id="89" name="node11"/>
          <p:cNvGrpSpPr/>
          <p:nvPr/>
        </p:nvGrpSpPr>
        <p:grpSpPr>
          <a:xfrm>
            <a:off x="723900" y="4572000"/>
            <a:ext cx="1371600" cy="203200"/>
            <a:chOff x="723900" y="4572000"/>
            <a:chExt cx="1371600" cy="203200"/>
          </a:xfrm>
        </p:grpSpPr>
        <p:sp>
          <p:nvSpPr>
            <p:cNvPr id="26" name="node11.surface"/>
            <p:cNvSpPr/>
            <p:nvPr/>
          </p:nvSpPr>
          <p:spPr>
            <a:xfrm>
              <a:off x="723900" y="4572000"/>
              <a:ext cx="1371600" cy="203200"/>
            </a:xfrm>
            <a:prstGeom prst="rect">
              <a:avLst/>
            </a:prstGeom>
            <a:solidFill>
              <a:srgbClr val="E8EEF8"/>
            </a:solidFill>
            <a:ln>
              <a:noFill/>
            </a:ln>
          </p:spPr>
        </p:sp>
        <p:sp>
          <p:nvSpPr>
            <p:cNvPr id="27" name="node11.text"/>
            <p:cNvSpPr/>
            <p:nvPr/>
          </p:nvSpPr>
          <p:spPr>
            <a:xfrm>
              <a:off x="800100" y="46037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ERP</a:t>
              </a:r>
              <a:endParaRPr lang="en-US" sz="800" spc="48" kern="0" b="0" i="0" dirty="0">
                <a:solidFill>
                  <a:srgbClr val="070154"/>
                </a:solidFill>
                <a:latin typeface="IBM Plex Mono Medium"/>
                <a:ea typeface="IBM Plex Mono Medium"/>
                <a:cs typeface="IBM Plex Mono Medium"/>
              </a:endParaRPr>
            </a:p>
          </p:txBody>
        </p:sp>
      </p:grpSp>
      <p:grpSp>
        <p:nvGrpSpPr>
          <p:cNvPr id="90" name="node12"/>
          <p:cNvGrpSpPr/>
          <p:nvPr/>
        </p:nvGrpSpPr>
        <p:grpSpPr>
          <a:xfrm>
            <a:off x="2324100" y="4572000"/>
            <a:ext cx="1371600" cy="203200"/>
            <a:chOff x="2324100" y="4572000"/>
            <a:chExt cx="1371600" cy="203200"/>
          </a:xfrm>
        </p:grpSpPr>
        <p:sp>
          <p:nvSpPr>
            <p:cNvPr id="28" name="node12.surface"/>
            <p:cNvSpPr/>
            <p:nvPr/>
          </p:nvSpPr>
          <p:spPr>
            <a:xfrm>
              <a:off x="2324100" y="4572000"/>
              <a:ext cx="1371600" cy="203200"/>
            </a:xfrm>
            <a:prstGeom prst="rect">
              <a:avLst/>
            </a:prstGeom>
            <a:solidFill>
              <a:srgbClr val="E8EEF8"/>
            </a:solidFill>
            <a:ln>
              <a:noFill/>
            </a:ln>
          </p:spPr>
        </p:sp>
        <p:sp>
          <p:nvSpPr>
            <p:cNvPr id="29" name="node12.text"/>
            <p:cNvSpPr/>
            <p:nvPr/>
          </p:nvSpPr>
          <p:spPr>
            <a:xfrm>
              <a:off x="2400300" y="46037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EHR</a:t>
              </a:r>
              <a:endParaRPr lang="en-US" sz="800" spc="48" kern="0" b="0" i="0" dirty="0">
                <a:solidFill>
                  <a:srgbClr val="070154"/>
                </a:solidFill>
                <a:latin typeface="IBM Plex Mono Medium"/>
                <a:ea typeface="IBM Plex Mono Medium"/>
                <a:cs typeface="IBM Plex Mono Medium"/>
              </a:endParaRPr>
            </a:p>
          </p:txBody>
        </p:sp>
      </p:grpSp>
      <p:grpSp>
        <p:nvGrpSpPr>
          <p:cNvPr id="91" name="node13"/>
          <p:cNvGrpSpPr/>
          <p:nvPr/>
        </p:nvGrpSpPr>
        <p:grpSpPr>
          <a:xfrm>
            <a:off x="723900" y="4800600"/>
            <a:ext cx="1371600" cy="203200"/>
            <a:chOff x="723900" y="4800600"/>
            <a:chExt cx="1371600" cy="203200"/>
          </a:xfrm>
        </p:grpSpPr>
        <p:sp>
          <p:nvSpPr>
            <p:cNvPr id="30" name="node13.surface"/>
            <p:cNvSpPr/>
            <p:nvPr/>
          </p:nvSpPr>
          <p:spPr>
            <a:xfrm>
              <a:off x="723900" y="4800600"/>
              <a:ext cx="1371600" cy="203200"/>
            </a:xfrm>
            <a:prstGeom prst="rect">
              <a:avLst/>
            </a:prstGeom>
            <a:solidFill>
              <a:srgbClr val="E8EEF8"/>
            </a:solidFill>
            <a:ln>
              <a:noFill/>
            </a:ln>
          </p:spPr>
        </p:sp>
        <p:sp>
          <p:nvSpPr>
            <p:cNvPr id="31" name="node13.text"/>
            <p:cNvSpPr/>
            <p:nvPr/>
          </p:nvSpPr>
          <p:spPr>
            <a:xfrm>
              <a:off x="800100" y="48323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DATA QUALITY</a:t>
              </a:r>
              <a:endParaRPr lang="en-US" sz="800" spc="48" kern="0" b="0" i="0" dirty="0">
                <a:solidFill>
                  <a:srgbClr val="070154"/>
                </a:solidFill>
                <a:latin typeface="IBM Plex Mono Medium"/>
                <a:ea typeface="IBM Plex Mono Medium"/>
                <a:cs typeface="IBM Plex Mono Medium"/>
              </a:endParaRPr>
            </a:p>
          </p:txBody>
        </p:sp>
      </p:grpSp>
      <p:grpSp>
        <p:nvGrpSpPr>
          <p:cNvPr id="92" name="node14"/>
          <p:cNvGrpSpPr/>
          <p:nvPr/>
        </p:nvGrpSpPr>
        <p:grpSpPr>
          <a:xfrm>
            <a:off x="2324100" y="4800600"/>
            <a:ext cx="1371600" cy="203200"/>
            <a:chOff x="2324100" y="4800600"/>
            <a:chExt cx="1371600" cy="203200"/>
          </a:xfrm>
        </p:grpSpPr>
        <p:sp>
          <p:nvSpPr>
            <p:cNvPr id="32" name="node14.surface"/>
            <p:cNvSpPr/>
            <p:nvPr/>
          </p:nvSpPr>
          <p:spPr>
            <a:xfrm>
              <a:off x="2324100" y="4800600"/>
              <a:ext cx="1371600" cy="203200"/>
            </a:xfrm>
            <a:prstGeom prst="rect">
              <a:avLst/>
            </a:prstGeom>
            <a:solidFill>
              <a:srgbClr val="E8EEF8"/>
            </a:solidFill>
            <a:ln>
              <a:noFill/>
            </a:ln>
          </p:spPr>
        </p:sp>
        <p:sp>
          <p:nvSpPr>
            <p:cNvPr id="33" name="node14.text"/>
            <p:cNvSpPr/>
            <p:nvPr/>
          </p:nvSpPr>
          <p:spPr>
            <a:xfrm>
              <a:off x="2400300" y="48323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GENERATIVE AI</a:t>
              </a:r>
              <a:endParaRPr lang="en-US" sz="800" spc="48" kern="0" b="0" i="0" dirty="0">
                <a:solidFill>
                  <a:srgbClr val="070154"/>
                </a:solidFill>
                <a:latin typeface="IBM Plex Mono Medium"/>
                <a:ea typeface="IBM Plex Mono Medium"/>
                <a:cs typeface="IBM Plex Mono Medium"/>
              </a:endParaRPr>
            </a:p>
          </p:txBody>
        </p:sp>
      </p:grpSp>
      <p:grpSp>
        <p:nvGrpSpPr>
          <p:cNvPr id="93" name="node15"/>
          <p:cNvGrpSpPr/>
          <p:nvPr/>
        </p:nvGrpSpPr>
        <p:grpSpPr>
          <a:xfrm>
            <a:off x="723900" y="5029200"/>
            <a:ext cx="1371600" cy="203200"/>
            <a:chOff x="723900" y="5029200"/>
            <a:chExt cx="1371600" cy="203200"/>
          </a:xfrm>
        </p:grpSpPr>
        <p:sp>
          <p:nvSpPr>
            <p:cNvPr id="34" name="node15.surface"/>
            <p:cNvSpPr/>
            <p:nvPr/>
          </p:nvSpPr>
          <p:spPr>
            <a:xfrm>
              <a:off x="723900" y="5029200"/>
              <a:ext cx="1371600" cy="203200"/>
            </a:xfrm>
            <a:prstGeom prst="rect">
              <a:avLst/>
            </a:prstGeom>
            <a:solidFill>
              <a:srgbClr val="E8EEF8"/>
            </a:solidFill>
            <a:ln>
              <a:noFill/>
            </a:ln>
          </p:spPr>
        </p:sp>
        <p:sp>
          <p:nvSpPr>
            <p:cNvPr id="35" name="node15.text"/>
            <p:cNvSpPr/>
            <p:nvPr/>
          </p:nvSpPr>
          <p:spPr>
            <a:xfrm>
              <a:off x="800100" y="50609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SUPPLY CHAIN</a:t>
              </a:r>
              <a:endParaRPr lang="en-US" sz="800" spc="48" kern="0" b="0" i="0" dirty="0">
                <a:solidFill>
                  <a:srgbClr val="070154"/>
                </a:solidFill>
                <a:latin typeface="IBM Plex Mono Medium"/>
                <a:ea typeface="IBM Plex Mono Medium"/>
                <a:cs typeface="IBM Plex Mono Medium"/>
              </a:endParaRPr>
            </a:p>
          </p:txBody>
        </p:sp>
      </p:grpSp>
      <p:grpSp>
        <p:nvGrpSpPr>
          <p:cNvPr id="94" name="node16"/>
          <p:cNvGrpSpPr/>
          <p:nvPr/>
        </p:nvGrpSpPr>
        <p:grpSpPr>
          <a:xfrm>
            <a:off x="2324100" y="5029200"/>
            <a:ext cx="1371600" cy="203200"/>
            <a:chOff x="2324100" y="5029200"/>
            <a:chExt cx="1371600" cy="203200"/>
          </a:xfrm>
        </p:grpSpPr>
        <p:sp>
          <p:nvSpPr>
            <p:cNvPr id="36" name="node16.surface"/>
            <p:cNvSpPr/>
            <p:nvPr/>
          </p:nvSpPr>
          <p:spPr>
            <a:xfrm>
              <a:off x="2324100" y="5029200"/>
              <a:ext cx="1371600" cy="203200"/>
            </a:xfrm>
            <a:prstGeom prst="rect">
              <a:avLst/>
            </a:prstGeom>
            <a:solidFill>
              <a:srgbClr val="E8EEF8"/>
            </a:solidFill>
            <a:ln>
              <a:noFill/>
            </a:ln>
          </p:spPr>
        </p:sp>
        <p:sp>
          <p:nvSpPr>
            <p:cNvPr id="37" name="node16.text"/>
            <p:cNvSpPr/>
            <p:nvPr/>
          </p:nvSpPr>
          <p:spPr>
            <a:xfrm>
              <a:off x="2400300" y="50609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PAYMENTS</a:t>
              </a:r>
              <a:endParaRPr lang="en-US" sz="800" spc="48" kern="0" b="0" i="0" dirty="0">
                <a:solidFill>
                  <a:srgbClr val="070154"/>
                </a:solidFill>
                <a:latin typeface="IBM Plex Mono Medium"/>
                <a:ea typeface="IBM Plex Mono Medium"/>
                <a:cs typeface="IBM Plex Mono Medium"/>
              </a:endParaRPr>
            </a:p>
          </p:txBody>
        </p:sp>
      </p:grpSp>
      <p:grpSp>
        <p:nvGrpSpPr>
          <p:cNvPr id="95" name="node17"/>
          <p:cNvGrpSpPr/>
          <p:nvPr/>
        </p:nvGrpSpPr>
        <p:grpSpPr>
          <a:xfrm>
            <a:off x="723900" y="5257800"/>
            <a:ext cx="1371600" cy="203200"/>
            <a:chOff x="723900" y="5257800"/>
            <a:chExt cx="1371600" cy="203200"/>
          </a:xfrm>
        </p:grpSpPr>
        <p:sp>
          <p:nvSpPr>
            <p:cNvPr id="38" name="node17.surface"/>
            <p:cNvSpPr/>
            <p:nvPr/>
          </p:nvSpPr>
          <p:spPr>
            <a:xfrm>
              <a:off x="723900" y="5257800"/>
              <a:ext cx="1371600" cy="203200"/>
            </a:xfrm>
            <a:prstGeom prst="rect">
              <a:avLst/>
            </a:prstGeom>
            <a:solidFill>
              <a:srgbClr val="E8EEF8"/>
            </a:solidFill>
            <a:ln>
              <a:noFill/>
            </a:ln>
          </p:spPr>
        </p:sp>
        <p:sp>
          <p:nvSpPr>
            <p:cNvPr id="39" name="node17.text"/>
            <p:cNvSpPr/>
            <p:nvPr/>
          </p:nvSpPr>
          <p:spPr>
            <a:xfrm>
              <a:off x="800100" y="52895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REVENUE CYCLE</a:t>
              </a:r>
              <a:endParaRPr lang="en-US" sz="800" spc="48" kern="0" b="0" i="0" dirty="0">
                <a:solidFill>
                  <a:srgbClr val="070154"/>
                </a:solidFill>
                <a:latin typeface="IBM Plex Mono Medium"/>
                <a:ea typeface="IBM Plex Mono Medium"/>
                <a:cs typeface="IBM Plex Mono Medium"/>
              </a:endParaRPr>
            </a:p>
          </p:txBody>
        </p:sp>
      </p:grpSp>
      <p:grpSp>
        <p:nvGrpSpPr>
          <p:cNvPr id="96" name="node18"/>
          <p:cNvGrpSpPr/>
          <p:nvPr/>
        </p:nvGrpSpPr>
        <p:grpSpPr>
          <a:xfrm>
            <a:off x="2324100" y="5257800"/>
            <a:ext cx="1371600" cy="203200"/>
            <a:chOff x="2324100" y="5257800"/>
            <a:chExt cx="1371600" cy="203200"/>
          </a:xfrm>
        </p:grpSpPr>
        <p:sp>
          <p:nvSpPr>
            <p:cNvPr id="40" name="node18.surface"/>
            <p:cNvSpPr/>
            <p:nvPr/>
          </p:nvSpPr>
          <p:spPr>
            <a:xfrm>
              <a:off x="2324100" y="5257800"/>
              <a:ext cx="1371600" cy="203200"/>
            </a:xfrm>
            <a:prstGeom prst="rect">
              <a:avLst/>
            </a:prstGeom>
            <a:solidFill>
              <a:srgbClr val="E8EEF8"/>
            </a:solidFill>
            <a:ln>
              <a:noFill/>
            </a:ln>
          </p:spPr>
        </p:sp>
        <p:sp>
          <p:nvSpPr>
            <p:cNvPr id="41" name="node18.text"/>
            <p:cNvSpPr/>
            <p:nvPr/>
          </p:nvSpPr>
          <p:spPr>
            <a:xfrm>
              <a:off x="2400300" y="52895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TELEHEALTH</a:t>
              </a:r>
              <a:endParaRPr lang="en-US" sz="800" spc="48" kern="0" b="0" i="0" dirty="0">
                <a:solidFill>
                  <a:srgbClr val="070154"/>
                </a:solidFill>
                <a:latin typeface="IBM Plex Mono Medium"/>
                <a:ea typeface="IBM Plex Mono Medium"/>
                <a:cs typeface="IBM Plex Mono Medium"/>
              </a:endParaRPr>
            </a:p>
          </p:txBody>
        </p:sp>
      </p:grpSp>
      <p:grpSp>
        <p:nvGrpSpPr>
          <p:cNvPr id="97" name="node19"/>
          <p:cNvGrpSpPr/>
          <p:nvPr/>
        </p:nvGrpSpPr>
        <p:grpSpPr>
          <a:xfrm>
            <a:off x="723900" y="5486400"/>
            <a:ext cx="1371600" cy="203200"/>
            <a:chOff x="723900" y="5486400"/>
            <a:chExt cx="1371600" cy="203200"/>
          </a:xfrm>
        </p:grpSpPr>
        <p:sp>
          <p:nvSpPr>
            <p:cNvPr id="42" name="node19.surface"/>
            <p:cNvSpPr/>
            <p:nvPr/>
          </p:nvSpPr>
          <p:spPr>
            <a:xfrm>
              <a:off x="723900" y="5486400"/>
              <a:ext cx="1371600" cy="203200"/>
            </a:xfrm>
            <a:prstGeom prst="rect">
              <a:avLst/>
            </a:prstGeom>
            <a:solidFill>
              <a:srgbClr val="E8EEF8"/>
            </a:solidFill>
            <a:ln>
              <a:noFill/>
            </a:ln>
          </p:spPr>
        </p:sp>
        <p:sp>
          <p:nvSpPr>
            <p:cNvPr id="43" name="node19.text"/>
            <p:cNvSpPr/>
            <p:nvPr/>
          </p:nvSpPr>
          <p:spPr>
            <a:xfrm>
              <a:off x="800100" y="55181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CYBERSECURITY</a:t>
              </a:r>
              <a:endParaRPr lang="en-US" sz="800" spc="48" kern="0" b="0" i="0" dirty="0">
                <a:solidFill>
                  <a:srgbClr val="070154"/>
                </a:solidFill>
                <a:latin typeface="IBM Plex Mono Medium"/>
                <a:ea typeface="IBM Plex Mono Medium"/>
                <a:cs typeface="IBM Plex Mono Medium"/>
              </a:endParaRPr>
            </a:p>
          </p:txBody>
        </p:sp>
      </p:grpSp>
      <p:grpSp>
        <p:nvGrpSpPr>
          <p:cNvPr id="98" name="node20"/>
          <p:cNvGrpSpPr/>
          <p:nvPr/>
        </p:nvGrpSpPr>
        <p:grpSpPr>
          <a:xfrm>
            <a:off x="2324100" y="5486400"/>
            <a:ext cx="1371600" cy="203200"/>
            <a:chOff x="2324100" y="5486400"/>
            <a:chExt cx="1371600" cy="203200"/>
          </a:xfrm>
        </p:grpSpPr>
        <p:sp>
          <p:nvSpPr>
            <p:cNvPr id="44" name="node20.surface"/>
            <p:cNvSpPr/>
            <p:nvPr/>
          </p:nvSpPr>
          <p:spPr>
            <a:xfrm>
              <a:off x="2324100" y="5486400"/>
              <a:ext cx="1371600" cy="203200"/>
            </a:xfrm>
            <a:prstGeom prst="rect">
              <a:avLst/>
            </a:prstGeom>
            <a:solidFill>
              <a:srgbClr val="E8EEF8"/>
            </a:solidFill>
            <a:ln>
              <a:noFill/>
            </a:ln>
          </p:spPr>
        </p:sp>
        <p:sp>
          <p:nvSpPr>
            <p:cNvPr id="45" name="node20.text"/>
            <p:cNvSpPr/>
            <p:nvPr/>
          </p:nvSpPr>
          <p:spPr>
            <a:xfrm>
              <a:off x="2400300" y="5518150"/>
              <a:ext cx="1219200" cy="139700"/>
            </a:xfrm>
            <a:prstGeom prst="rect">
              <a:avLst/>
            </a:prstGeom>
            <a:noFill/>
            <a:ln/>
          </p:spPr>
          <p:txBody>
            <a:bodyPr wrap="square" lIns="0" tIns="0" rIns="0" bIns="0" rtlCol="0" anchor="t"/>
            <a:lstStyle/>
            <a:p>
              <a:pPr algn="ctr" indent="0" marL="0">
                <a:lnSpc>
                  <a:spcPts val="1100"/>
                </a:lnSpc>
                <a:buNone/>
              </a:pPr>
              <a:r>
                <a:rPr lang="en-US" sz="800" spc="48" kern="0" b="0" i="0" dirty="0">
                  <a:solidFill>
                    <a:srgbClr val="070154"/>
                  </a:solidFill>
                  <a:latin typeface="IBM Plex Mono Medium"/>
                  <a:ea typeface="IBM Plex Mono Medium"/>
                  <a:cs typeface="IBM Plex Mono Medium"/>
                </a:rPr>
                <a:t>INTEROPERABILITY</a:t>
              </a:r>
              <a:endParaRPr lang="en-US" sz="800" spc="48" kern="0" b="0" i="0" dirty="0">
                <a:solidFill>
                  <a:srgbClr val="070154"/>
                </a:solidFill>
                <a:latin typeface="IBM Plex Mono Medium"/>
                <a:ea typeface="IBM Plex Mono Medium"/>
                <a:cs typeface="IBM Plex Mono Medium"/>
              </a:endParaRPr>
            </a:p>
          </p:txBody>
        </p:sp>
      </p:grpSp>
      <p:grpSp>
        <p:nvGrpSpPr>
          <p:cNvPr id="99" name="node21"/>
          <p:cNvGrpSpPr/>
          <p:nvPr/>
        </p:nvGrpSpPr>
        <p:grpSpPr>
          <a:xfrm>
            <a:off x="3924300" y="2057400"/>
            <a:ext cx="3429000" cy="3657600"/>
            <a:chOff x="3924300" y="2057400"/>
            <a:chExt cx="3429000" cy="3657600"/>
          </a:xfrm>
        </p:grpSpPr>
        <p:sp>
          <p:nvSpPr>
            <p:cNvPr id="46" name="node21.surface"/>
            <p:cNvSpPr/>
            <p:nvPr/>
          </p:nvSpPr>
          <p:spPr>
            <a:xfrm>
              <a:off x="3924300" y="2057400"/>
              <a:ext cx="3429000" cy="3657600"/>
            </a:xfrm>
            <a:prstGeom prst="rect">
              <a:avLst/>
            </a:prstGeom>
            <a:solidFill>
              <a:srgbClr val="070154"/>
            </a:solidFill>
            <a:ln>
              <a:noFill/>
            </a:ln>
          </p:spPr>
        </p:sp>
      </p:grpSp>
      <p:grpSp>
        <p:nvGrpSpPr>
          <p:cNvPr id="100" name="node22"/>
          <p:cNvGrpSpPr/>
          <p:nvPr/>
        </p:nvGrpSpPr>
        <p:grpSpPr>
          <a:xfrm>
            <a:off x="4152900" y="2133600"/>
            <a:ext cx="2971800" cy="266700"/>
            <a:chOff x="4152900" y="2133600"/>
            <a:chExt cx="2971800" cy="266700"/>
          </a:xfrm>
        </p:grpSpPr>
        <p:sp>
          <p:nvSpPr>
            <p:cNvPr id="47" name="node22.text"/>
            <p:cNvSpPr/>
            <p:nvPr/>
          </p:nvSpPr>
          <p:spPr>
            <a:xfrm>
              <a:off x="4152900" y="2133600"/>
              <a:ext cx="29718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Industry offerings</a:t>
              </a:r>
              <a:endParaRPr lang="en-US" sz="1600" spc="-16" kern="0" b="0" i="0" dirty="0">
                <a:solidFill>
                  <a:srgbClr val="FFFFFF"/>
                </a:solidFill>
                <a:latin typeface="IBM Plex Sans SemiBold"/>
                <a:ea typeface="IBM Plex Sans SemiBold"/>
                <a:cs typeface="IBM Plex Sans SemiBold"/>
              </a:endParaRPr>
            </a:p>
          </p:txBody>
        </p:sp>
      </p:grpSp>
      <p:grpSp>
        <p:nvGrpSpPr>
          <p:cNvPr id="101" name="node23"/>
          <p:cNvGrpSpPr/>
          <p:nvPr/>
        </p:nvGrpSpPr>
        <p:grpSpPr>
          <a:xfrm>
            <a:off x="4152900" y="2438400"/>
            <a:ext cx="2971800" cy="139700"/>
            <a:chOff x="4152900" y="2438400"/>
            <a:chExt cx="2971800" cy="139700"/>
          </a:xfrm>
        </p:grpSpPr>
        <p:sp>
          <p:nvSpPr>
            <p:cNvPr id="48" name="node23.text"/>
            <p:cNvSpPr/>
            <p:nvPr/>
          </p:nvSpPr>
          <p:spPr>
            <a:xfrm>
              <a:off x="4152900" y="24384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PAYER</a:t>
              </a:r>
              <a:endParaRPr lang="en-US" sz="800" spc="48" kern="0" b="0" i="0" dirty="0">
                <a:solidFill>
                  <a:srgbClr val="F900D3"/>
                </a:solidFill>
                <a:latin typeface="IBM Plex Mono Medium"/>
                <a:ea typeface="IBM Plex Mono Medium"/>
                <a:cs typeface="IBM Plex Mono Medium"/>
              </a:endParaRPr>
            </a:p>
          </p:txBody>
        </p:sp>
      </p:grpSp>
      <p:grpSp>
        <p:nvGrpSpPr>
          <p:cNvPr id="102" name="node24"/>
          <p:cNvGrpSpPr/>
          <p:nvPr/>
        </p:nvGrpSpPr>
        <p:grpSpPr>
          <a:xfrm>
            <a:off x="4152900" y="2667000"/>
            <a:ext cx="2971800" cy="723900"/>
            <a:chOff x="4152900" y="2667000"/>
            <a:chExt cx="2971800" cy="723900"/>
          </a:xfrm>
        </p:grpSpPr>
        <p:sp>
          <p:nvSpPr>
            <p:cNvPr id="49" name="node24.source-001.bullet"/>
            <p:cNvSpPr/>
            <p:nvPr/>
          </p:nvSpPr>
          <p:spPr>
            <a:xfrm>
              <a:off x="4152900" y="2755900"/>
              <a:ext cx="38100" cy="38100"/>
            </a:xfrm>
            <a:prstGeom prst="rect">
              <a:avLst/>
            </a:prstGeom>
            <a:solidFill>
              <a:srgbClr val="FFFFFF"/>
            </a:solidFill>
            <a:ln>
              <a:noFill/>
            </a:ln>
          </p:spPr>
        </p:sp>
        <p:sp>
          <p:nvSpPr>
            <p:cNvPr id="50" name="node24.source-001.text"/>
            <p:cNvSpPr/>
            <p:nvPr/>
          </p:nvSpPr>
          <p:spPr>
            <a:xfrm>
              <a:off x="4305300" y="26670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Care management modernization</a:t>
              </a:r>
              <a:endParaRPr lang="en-US" sz="1200" spc="0" kern="0" b="0" i="0" dirty="0">
                <a:solidFill>
                  <a:srgbClr val="FFFFFF"/>
                </a:solidFill>
                <a:latin typeface="IBM Plex Sans"/>
                <a:ea typeface="IBM Plex Sans"/>
                <a:cs typeface="IBM Plex Sans"/>
              </a:endParaRPr>
            </a:p>
          </p:txBody>
        </p:sp>
        <p:sp>
          <p:nvSpPr>
            <p:cNvPr id="51" name="node24.source-002.bullet"/>
            <p:cNvSpPr/>
            <p:nvPr/>
          </p:nvSpPr>
          <p:spPr>
            <a:xfrm>
              <a:off x="4152900" y="3009900"/>
              <a:ext cx="38100" cy="38100"/>
            </a:xfrm>
            <a:prstGeom prst="rect">
              <a:avLst/>
            </a:prstGeom>
            <a:solidFill>
              <a:srgbClr val="FFFFFF"/>
            </a:solidFill>
            <a:ln>
              <a:noFill/>
            </a:ln>
          </p:spPr>
        </p:sp>
        <p:sp>
          <p:nvSpPr>
            <p:cNvPr id="52" name="node24.source-002.text"/>
            <p:cNvSpPr/>
            <p:nvPr/>
          </p:nvSpPr>
          <p:spPr>
            <a:xfrm>
              <a:off x="4305300" y="29210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Claims platform modernization</a:t>
              </a:r>
              <a:endParaRPr lang="en-US" sz="1200" spc="0" kern="0" b="0" i="0" dirty="0">
                <a:solidFill>
                  <a:srgbClr val="FFFFFF"/>
                </a:solidFill>
                <a:latin typeface="IBM Plex Sans"/>
                <a:ea typeface="IBM Plex Sans"/>
                <a:cs typeface="IBM Plex Sans"/>
              </a:endParaRPr>
            </a:p>
          </p:txBody>
        </p:sp>
        <p:sp>
          <p:nvSpPr>
            <p:cNvPr id="53" name="node24.source-003.bullet"/>
            <p:cNvSpPr/>
            <p:nvPr/>
          </p:nvSpPr>
          <p:spPr>
            <a:xfrm>
              <a:off x="4152900" y="3263900"/>
              <a:ext cx="38100" cy="38100"/>
            </a:xfrm>
            <a:prstGeom prst="rect">
              <a:avLst/>
            </a:prstGeom>
            <a:solidFill>
              <a:srgbClr val="FFFFFF"/>
            </a:solidFill>
            <a:ln>
              <a:noFill/>
            </a:ln>
          </p:spPr>
        </p:sp>
        <p:sp>
          <p:nvSpPr>
            <p:cNvPr id="54" name="node24.source-003.text"/>
            <p:cNvSpPr/>
            <p:nvPr/>
          </p:nvSpPr>
          <p:spPr>
            <a:xfrm>
              <a:off x="4305300" y="31750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Member digital strategy</a:t>
              </a:r>
              <a:endParaRPr lang="en-US" sz="1200" spc="0" kern="0" b="0" i="0" dirty="0">
                <a:solidFill>
                  <a:srgbClr val="FFFFFF"/>
                </a:solidFill>
                <a:latin typeface="IBM Plex Sans"/>
                <a:ea typeface="IBM Plex Sans"/>
                <a:cs typeface="IBM Plex Sans"/>
              </a:endParaRPr>
            </a:p>
          </p:txBody>
        </p:sp>
      </p:grpSp>
      <p:grpSp>
        <p:nvGrpSpPr>
          <p:cNvPr id="103" name="node25"/>
          <p:cNvGrpSpPr/>
          <p:nvPr/>
        </p:nvGrpSpPr>
        <p:grpSpPr>
          <a:xfrm>
            <a:off x="4152900" y="3505200"/>
            <a:ext cx="2971800" cy="139700"/>
            <a:chOff x="4152900" y="3505200"/>
            <a:chExt cx="2971800" cy="139700"/>
          </a:xfrm>
        </p:grpSpPr>
        <p:sp>
          <p:nvSpPr>
            <p:cNvPr id="55" name="node25.text"/>
            <p:cNvSpPr/>
            <p:nvPr/>
          </p:nvSpPr>
          <p:spPr>
            <a:xfrm>
              <a:off x="4152900" y="35052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PROVIDER</a:t>
              </a:r>
              <a:endParaRPr lang="en-US" sz="800" spc="48" kern="0" b="0" i="0" dirty="0">
                <a:solidFill>
                  <a:srgbClr val="F900D3"/>
                </a:solidFill>
                <a:latin typeface="IBM Plex Mono Medium"/>
                <a:ea typeface="IBM Plex Mono Medium"/>
                <a:cs typeface="IBM Plex Mono Medium"/>
              </a:endParaRPr>
            </a:p>
          </p:txBody>
        </p:sp>
      </p:grpSp>
      <p:grpSp>
        <p:nvGrpSpPr>
          <p:cNvPr id="104" name="node26"/>
          <p:cNvGrpSpPr/>
          <p:nvPr/>
        </p:nvGrpSpPr>
        <p:grpSpPr>
          <a:xfrm>
            <a:off x="4152900" y="3733800"/>
            <a:ext cx="2971800" cy="723900"/>
            <a:chOff x="4152900" y="3733800"/>
            <a:chExt cx="2971800" cy="723900"/>
          </a:xfrm>
        </p:grpSpPr>
        <p:sp>
          <p:nvSpPr>
            <p:cNvPr id="56" name="node26.source-001.bullet"/>
            <p:cNvSpPr/>
            <p:nvPr/>
          </p:nvSpPr>
          <p:spPr>
            <a:xfrm>
              <a:off x="4152900" y="3822700"/>
              <a:ext cx="38100" cy="38100"/>
            </a:xfrm>
            <a:prstGeom prst="rect">
              <a:avLst/>
            </a:prstGeom>
            <a:solidFill>
              <a:srgbClr val="FFFFFF"/>
            </a:solidFill>
            <a:ln>
              <a:noFill/>
            </a:ln>
          </p:spPr>
        </p:sp>
        <p:sp>
          <p:nvSpPr>
            <p:cNvPr id="57" name="node26.source-001.text"/>
            <p:cNvSpPr/>
            <p:nvPr/>
          </p:nvSpPr>
          <p:spPr>
            <a:xfrm>
              <a:off x="4305300" y="3733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Population health modernization</a:t>
              </a:r>
              <a:endParaRPr lang="en-US" sz="1200" spc="0" kern="0" b="0" i="0" dirty="0">
                <a:solidFill>
                  <a:srgbClr val="FFFFFF"/>
                </a:solidFill>
                <a:latin typeface="IBM Plex Sans"/>
                <a:ea typeface="IBM Plex Sans"/>
                <a:cs typeface="IBM Plex Sans"/>
              </a:endParaRPr>
            </a:p>
          </p:txBody>
        </p:sp>
        <p:sp>
          <p:nvSpPr>
            <p:cNvPr id="58" name="node26.source-002.bullet"/>
            <p:cNvSpPr/>
            <p:nvPr/>
          </p:nvSpPr>
          <p:spPr>
            <a:xfrm>
              <a:off x="4152900" y="4076700"/>
              <a:ext cx="38100" cy="38100"/>
            </a:xfrm>
            <a:prstGeom prst="rect">
              <a:avLst/>
            </a:prstGeom>
            <a:solidFill>
              <a:srgbClr val="FFFFFF"/>
            </a:solidFill>
            <a:ln>
              <a:noFill/>
            </a:ln>
          </p:spPr>
        </p:sp>
        <p:sp>
          <p:nvSpPr>
            <p:cNvPr id="59" name="node26.source-002.text"/>
            <p:cNvSpPr/>
            <p:nvPr/>
          </p:nvSpPr>
          <p:spPr>
            <a:xfrm>
              <a:off x="4305300" y="3987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Care experience design</a:t>
              </a:r>
              <a:endParaRPr lang="en-US" sz="1200" spc="0" kern="0" b="0" i="0" dirty="0">
                <a:solidFill>
                  <a:srgbClr val="FFFFFF"/>
                </a:solidFill>
                <a:latin typeface="IBM Plex Sans"/>
                <a:ea typeface="IBM Plex Sans"/>
                <a:cs typeface="IBM Plex Sans"/>
              </a:endParaRPr>
            </a:p>
          </p:txBody>
        </p:sp>
        <p:sp>
          <p:nvSpPr>
            <p:cNvPr id="60" name="node26.source-003.bullet"/>
            <p:cNvSpPr/>
            <p:nvPr/>
          </p:nvSpPr>
          <p:spPr>
            <a:xfrm>
              <a:off x="4152900" y="4330700"/>
              <a:ext cx="38100" cy="38100"/>
            </a:xfrm>
            <a:prstGeom prst="rect">
              <a:avLst/>
            </a:prstGeom>
            <a:solidFill>
              <a:srgbClr val="FFFFFF"/>
            </a:solidFill>
            <a:ln>
              <a:noFill/>
            </a:ln>
          </p:spPr>
        </p:sp>
        <p:sp>
          <p:nvSpPr>
            <p:cNvPr id="61" name="node26.source-003.text"/>
            <p:cNvSpPr/>
            <p:nvPr/>
          </p:nvSpPr>
          <p:spPr>
            <a:xfrm>
              <a:off x="4305300" y="42418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Clinical audit readiness</a:t>
              </a:r>
              <a:endParaRPr lang="en-US" sz="1200" spc="0" kern="0" b="0" i="0" dirty="0">
                <a:solidFill>
                  <a:srgbClr val="FFFFFF"/>
                </a:solidFill>
                <a:latin typeface="IBM Plex Sans"/>
                <a:ea typeface="IBM Plex Sans"/>
                <a:cs typeface="IBM Plex Sans"/>
              </a:endParaRPr>
            </a:p>
          </p:txBody>
        </p:sp>
      </p:grpSp>
      <p:grpSp>
        <p:nvGrpSpPr>
          <p:cNvPr id="105" name="node27"/>
          <p:cNvGrpSpPr/>
          <p:nvPr/>
        </p:nvGrpSpPr>
        <p:grpSpPr>
          <a:xfrm>
            <a:off x="4152900" y="4572000"/>
            <a:ext cx="2971800" cy="139700"/>
            <a:chOff x="4152900" y="4572000"/>
            <a:chExt cx="2971800" cy="139700"/>
          </a:xfrm>
        </p:grpSpPr>
        <p:sp>
          <p:nvSpPr>
            <p:cNvPr id="62" name="node27.text"/>
            <p:cNvSpPr/>
            <p:nvPr/>
          </p:nvSpPr>
          <p:spPr>
            <a:xfrm>
              <a:off x="4152900" y="4572000"/>
              <a:ext cx="29718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F900D3"/>
                  </a:solidFill>
                  <a:latin typeface="IBM Plex Mono Medium"/>
                  <a:ea typeface="IBM Plex Mono Medium"/>
                  <a:cs typeface="IBM Plex Mono Medium"/>
                </a:rPr>
                <a:t>PHARMACY AND LIFE SCIENCES</a:t>
              </a:r>
              <a:endParaRPr lang="en-US" sz="800" spc="48" kern="0" b="0" i="0" dirty="0">
                <a:solidFill>
                  <a:srgbClr val="F900D3"/>
                </a:solidFill>
                <a:latin typeface="IBM Plex Mono Medium"/>
                <a:ea typeface="IBM Plex Mono Medium"/>
                <a:cs typeface="IBM Plex Mono Medium"/>
              </a:endParaRPr>
            </a:p>
          </p:txBody>
        </p:sp>
      </p:grpSp>
      <p:grpSp>
        <p:nvGrpSpPr>
          <p:cNvPr id="106" name="node28"/>
          <p:cNvGrpSpPr/>
          <p:nvPr/>
        </p:nvGrpSpPr>
        <p:grpSpPr>
          <a:xfrm>
            <a:off x="4152900" y="4800600"/>
            <a:ext cx="2971800" cy="723900"/>
            <a:chOff x="4152900" y="4800600"/>
            <a:chExt cx="2971800" cy="723900"/>
          </a:xfrm>
        </p:grpSpPr>
        <p:sp>
          <p:nvSpPr>
            <p:cNvPr id="63" name="node28.source-001.bullet"/>
            <p:cNvSpPr/>
            <p:nvPr/>
          </p:nvSpPr>
          <p:spPr>
            <a:xfrm>
              <a:off x="4152900" y="4889500"/>
              <a:ext cx="38100" cy="38100"/>
            </a:xfrm>
            <a:prstGeom prst="rect">
              <a:avLst/>
            </a:prstGeom>
            <a:solidFill>
              <a:srgbClr val="FFFFFF"/>
            </a:solidFill>
            <a:ln>
              <a:noFill/>
            </a:ln>
          </p:spPr>
        </p:sp>
        <p:sp>
          <p:nvSpPr>
            <p:cNvPr id="64" name="node28.source-001.text"/>
            <p:cNvSpPr/>
            <p:nvPr/>
          </p:nvSpPr>
          <p:spPr>
            <a:xfrm>
              <a:off x="4305300" y="4800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Clinical program management</a:t>
              </a:r>
              <a:endParaRPr lang="en-US" sz="1200" spc="0" kern="0" b="0" i="0" dirty="0">
                <a:solidFill>
                  <a:srgbClr val="FFFFFF"/>
                </a:solidFill>
                <a:latin typeface="IBM Plex Sans"/>
                <a:ea typeface="IBM Plex Sans"/>
                <a:cs typeface="IBM Plex Sans"/>
              </a:endParaRPr>
            </a:p>
          </p:txBody>
        </p:sp>
        <p:sp>
          <p:nvSpPr>
            <p:cNvPr id="65" name="node28.source-002.bullet"/>
            <p:cNvSpPr/>
            <p:nvPr/>
          </p:nvSpPr>
          <p:spPr>
            <a:xfrm>
              <a:off x="4152900" y="5143500"/>
              <a:ext cx="38100" cy="38100"/>
            </a:xfrm>
            <a:prstGeom prst="rect">
              <a:avLst/>
            </a:prstGeom>
            <a:solidFill>
              <a:srgbClr val="FFFFFF"/>
            </a:solidFill>
            <a:ln>
              <a:noFill/>
            </a:ln>
          </p:spPr>
        </p:sp>
        <p:sp>
          <p:nvSpPr>
            <p:cNvPr id="66" name="node28.source-002.text"/>
            <p:cNvSpPr/>
            <p:nvPr/>
          </p:nvSpPr>
          <p:spPr>
            <a:xfrm>
              <a:off x="4305300" y="5054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Manufacturing excellence</a:t>
              </a:r>
              <a:endParaRPr lang="en-US" sz="1200" spc="0" kern="0" b="0" i="0" dirty="0">
                <a:solidFill>
                  <a:srgbClr val="FFFFFF"/>
                </a:solidFill>
                <a:latin typeface="IBM Plex Sans"/>
                <a:ea typeface="IBM Plex Sans"/>
                <a:cs typeface="IBM Plex Sans"/>
              </a:endParaRPr>
            </a:p>
          </p:txBody>
        </p:sp>
        <p:sp>
          <p:nvSpPr>
            <p:cNvPr id="67" name="node28.source-003.bullet"/>
            <p:cNvSpPr/>
            <p:nvPr/>
          </p:nvSpPr>
          <p:spPr>
            <a:xfrm>
              <a:off x="4152900" y="5397500"/>
              <a:ext cx="38100" cy="38100"/>
            </a:xfrm>
            <a:prstGeom prst="rect">
              <a:avLst/>
            </a:prstGeom>
            <a:solidFill>
              <a:srgbClr val="FFFFFF"/>
            </a:solidFill>
            <a:ln>
              <a:noFill/>
            </a:ln>
          </p:spPr>
        </p:sp>
        <p:sp>
          <p:nvSpPr>
            <p:cNvPr id="68" name="node28.source-003.text"/>
            <p:cNvSpPr/>
            <p:nvPr/>
          </p:nvSpPr>
          <p:spPr>
            <a:xfrm>
              <a:off x="4305300" y="5308600"/>
              <a:ext cx="28194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FFFFFF"/>
                  </a:solidFill>
                  <a:latin typeface="IBM Plex Sans"/>
                  <a:ea typeface="IBM Plex Sans"/>
                  <a:cs typeface="IBM Plex Sans"/>
                </a:rPr>
                <a:t>Commercial enablement</a:t>
              </a:r>
              <a:endParaRPr lang="en-US" sz="1200" spc="0" kern="0" b="0" i="0" dirty="0">
                <a:solidFill>
                  <a:srgbClr val="FFFFFF"/>
                </a:solidFill>
                <a:latin typeface="IBM Plex Sans"/>
                <a:ea typeface="IBM Plex Sans"/>
                <a:cs typeface="IBM Plex Sans"/>
              </a:endParaRPr>
            </a:p>
          </p:txBody>
        </p:sp>
      </p:grpSp>
      <p:grpSp>
        <p:nvGrpSpPr>
          <p:cNvPr id="107" name="node29"/>
          <p:cNvGrpSpPr/>
          <p:nvPr/>
        </p:nvGrpSpPr>
        <p:grpSpPr>
          <a:xfrm>
            <a:off x="7581900" y="2057400"/>
            <a:ext cx="3886200" cy="3657600"/>
            <a:chOff x="7581900" y="2057400"/>
            <a:chExt cx="3886200" cy="3657600"/>
          </a:xfrm>
        </p:grpSpPr>
        <p:sp>
          <p:nvSpPr>
            <p:cNvPr id="69" name="node29.surface"/>
            <p:cNvSpPr/>
            <p:nvPr/>
          </p:nvSpPr>
          <p:spPr>
            <a:xfrm>
              <a:off x="7581900" y="2057400"/>
              <a:ext cx="3886200" cy="3657600"/>
            </a:xfrm>
            <a:prstGeom prst="rect">
              <a:avLst/>
            </a:prstGeom>
            <a:solidFill>
              <a:srgbClr val="E8EEF8"/>
            </a:solidFill>
            <a:ln>
              <a:noFill/>
            </a:ln>
          </p:spPr>
        </p:sp>
      </p:grpSp>
      <p:grpSp>
        <p:nvGrpSpPr>
          <p:cNvPr id="108" name="node30"/>
          <p:cNvGrpSpPr/>
          <p:nvPr/>
        </p:nvGrpSpPr>
        <p:grpSpPr>
          <a:xfrm>
            <a:off x="7810500" y="2209800"/>
            <a:ext cx="3429000" cy="266700"/>
            <a:chOff x="7810500" y="2209800"/>
            <a:chExt cx="3429000" cy="266700"/>
          </a:xfrm>
        </p:grpSpPr>
        <p:sp>
          <p:nvSpPr>
            <p:cNvPr id="70" name="node30.text"/>
            <p:cNvSpPr/>
            <p:nvPr/>
          </p:nvSpPr>
          <p:spPr>
            <a:xfrm>
              <a:off x="7810500" y="2209800"/>
              <a:ext cx="34290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Cross-functional capabilities</a:t>
              </a:r>
              <a:endParaRPr lang="en-US" sz="1600" spc="-16" kern="0" b="0" i="0" dirty="0">
                <a:solidFill>
                  <a:srgbClr val="070154"/>
                </a:solidFill>
                <a:latin typeface="IBM Plex Sans SemiBold"/>
                <a:ea typeface="IBM Plex Sans SemiBold"/>
                <a:cs typeface="IBM Plex Sans SemiBold"/>
              </a:endParaRPr>
            </a:p>
          </p:txBody>
        </p:sp>
      </p:grpSp>
      <p:grpSp>
        <p:nvGrpSpPr>
          <p:cNvPr id="109" name="node31"/>
          <p:cNvGrpSpPr/>
          <p:nvPr/>
        </p:nvGrpSpPr>
        <p:grpSpPr>
          <a:xfrm>
            <a:off x="7810500" y="2667000"/>
            <a:ext cx="3429000" cy="139700"/>
            <a:chOff x="7810500" y="2667000"/>
            <a:chExt cx="3429000" cy="139700"/>
          </a:xfrm>
        </p:grpSpPr>
        <p:sp>
          <p:nvSpPr>
            <p:cNvPr id="71" name="node31.text"/>
            <p:cNvSpPr/>
            <p:nvPr/>
          </p:nvSpPr>
          <p:spPr>
            <a:xfrm>
              <a:off x="7810500" y="2667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ADVANCED ANALYTICS AND AI</a:t>
              </a:r>
              <a:endParaRPr lang="en-US" sz="800" spc="48" kern="0" b="0" i="0" dirty="0">
                <a:solidFill>
                  <a:srgbClr val="0047FF"/>
                </a:solidFill>
                <a:latin typeface="IBM Plex Mono Medium"/>
                <a:ea typeface="IBM Plex Mono Medium"/>
                <a:cs typeface="IBM Plex Mono Medium"/>
              </a:endParaRPr>
            </a:p>
          </p:txBody>
        </p:sp>
      </p:grpSp>
      <p:grpSp>
        <p:nvGrpSpPr>
          <p:cNvPr id="110" name="node32"/>
          <p:cNvGrpSpPr/>
          <p:nvPr/>
        </p:nvGrpSpPr>
        <p:grpSpPr>
          <a:xfrm>
            <a:off x="7810500" y="2870200"/>
            <a:ext cx="3429000" cy="381000"/>
            <a:chOff x="7810500" y="2870200"/>
            <a:chExt cx="3429000" cy="381000"/>
          </a:xfrm>
        </p:grpSpPr>
        <p:sp>
          <p:nvSpPr>
            <p:cNvPr id="72" name="node32.text"/>
            <p:cNvSpPr/>
            <p:nvPr/>
          </p:nvSpPr>
          <p:spPr>
            <a:xfrm>
              <a:off x="7810500" y="28702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Generative AI accelerators · ML delivery · Data architecture · Cloud data strategy</a:t>
              </a:r>
              <a:endParaRPr lang="en-US" sz="1100" spc="0" kern="0" b="0" i="0" dirty="0">
                <a:solidFill>
                  <a:srgbClr val="070154"/>
                </a:solidFill>
                <a:latin typeface="IBM Plex Sans"/>
                <a:ea typeface="IBM Plex Sans"/>
                <a:cs typeface="IBM Plex Sans"/>
              </a:endParaRPr>
            </a:p>
          </p:txBody>
        </p:sp>
      </p:grpSp>
      <p:grpSp>
        <p:nvGrpSpPr>
          <p:cNvPr id="111" name="node33"/>
          <p:cNvGrpSpPr/>
          <p:nvPr/>
        </p:nvGrpSpPr>
        <p:grpSpPr>
          <a:xfrm>
            <a:off x="7810500" y="3429000"/>
            <a:ext cx="3429000" cy="139700"/>
            <a:chOff x="7810500" y="3429000"/>
            <a:chExt cx="3429000" cy="139700"/>
          </a:xfrm>
        </p:grpSpPr>
        <p:sp>
          <p:nvSpPr>
            <p:cNvPr id="73" name="node33.text"/>
            <p:cNvSpPr/>
            <p:nvPr/>
          </p:nvSpPr>
          <p:spPr>
            <a:xfrm>
              <a:off x="7810500" y="3429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EXPERIENCE STRATEGY</a:t>
              </a:r>
              <a:endParaRPr lang="en-US" sz="800" spc="48" kern="0" b="0" i="0" dirty="0">
                <a:solidFill>
                  <a:srgbClr val="0047FF"/>
                </a:solidFill>
                <a:latin typeface="IBM Plex Mono Medium"/>
                <a:ea typeface="IBM Plex Mono Medium"/>
                <a:cs typeface="IBM Plex Mono Medium"/>
              </a:endParaRPr>
            </a:p>
          </p:txBody>
        </p:sp>
      </p:grpSp>
      <p:grpSp>
        <p:nvGrpSpPr>
          <p:cNvPr id="112" name="node34"/>
          <p:cNvGrpSpPr/>
          <p:nvPr/>
        </p:nvGrpSpPr>
        <p:grpSpPr>
          <a:xfrm>
            <a:off x="7810500" y="3632200"/>
            <a:ext cx="3429000" cy="381000"/>
            <a:chOff x="7810500" y="3632200"/>
            <a:chExt cx="3429000" cy="381000"/>
          </a:xfrm>
        </p:grpSpPr>
        <p:sp>
          <p:nvSpPr>
            <p:cNvPr id="74" name="node34.text"/>
            <p:cNvSpPr/>
            <p:nvPr/>
          </p:nvSpPr>
          <p:spPr>
            <a:xfrm>
              <a:off x="7810500" y="36322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Service design · Persona development · CRM implementation · Market research</a:t>
              </a:r>
              <a:endParaRPr lang="en-US" sz="1100" spc="0" kern="0" b="0" i="0" dirty="0">
                <a:solidFill>
                  <a:srgbClr val="070154"/>
                </a:solidFill>
                <a:latin typeface="IBM Plex Sans"/>
                <a:ea typeface="IBM Plex Sans"/>
                <a:cs typeface="IBM Plex Sans"/>
              </a:endParaRPr>
            </a:p>
          </p:txBody>
        </p:sp>
      </p:grpSp>
      <p:grpSp>
        <p:nvGrpSpPr>
          <p:cNvPr id="113" name="node35"/>
          <p:cNvGrpSpPr/>
          <p:nvPr/>
        </p:nvGrpSpPr>
        <p:grpSpPr>
          <a:xfrm>
            <a:off x="7810500" y="4191000"/>
            <a:ext cx="3429000" cy="139700"/>
            <a:chOff x="7810500" y="4191000"/>
            <a:chExt cx="3429000" cy="139700"/>
          </a:xfrm>
        </p:grpSpPr>
        <p:sp>
          <p:nvSpPr>
            <p:cNvPr id="75" name="node35.text"/>
            <p:cNvSpPr/>
            <p:nvPr/>
          </p:nvSpPr>
          <p:spPr>
            <a:xfrm>
              <a:off x="7810500" y="4191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ENTERPRISE STRATEGY AND TECHNOLOGY</a:t>
              </a:r>
              <a:endParaRPr lang="en-US" sz="800" spc="48" kern="0" b="0" i="0" dirty="0">
                <a:solidFill>
                  <a:srgbClr val="0047FF"/>
                </a:solidFill>
                <a:latin typeface="IBM Plex Mono Medium"/>
                <a:ea typeface="IBM Plex Mono Medium"/>
                <a:cs typeface="IBM Plex Mono Medium"/>
              </a:endParaRPr>
            </a:p>
          </p:txBody>
        </p:sp>
      </p:grpSp>
      <p:grpSp>
        <p:nvGrpSpPr>
          <p:cNvPr id="114" name="node36"/>
          <p:cNvGrpSpPr/>
          <p:nvPr/>
        </p:nvGrpSpPr>
        <p:grpSpPr>
          <a:xfrm>
            <a:off x="7810500" y="4394200"/>
            <a:ext cx="3429000" cy="381000"/>
            <a:chOff x="7810500" y="4394200"/>
            <a:chExt cx="3429000" cy="381000"/>
          </a:xfrm>
        </p:grpSpPr>
        <p:sp>
          <p:nvSpPr>
            <p:cNvPr id="76" name="node36.text"/>
            <p:cNvSpPr/>
            <p:nvPr/>
          </p:nvSpPr>
          <p:spPr>
            <a:xfrm>
              <a:off x="7810500" y="43942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Application rationalization · IT cost optimization · ERP selection · Cybersecurity</a:t>
              </a:r>
              <a:endParaRPr lang="en-US" sz="1100" spc="0" kern="0" b="0" i="0" dirty="0">
                <a:solidFill>
                  <a:srgbClr val="070154"/>
                </a:solidFill>
                <a:latin typeface="IBM Plex Sans"/>
                <a:ea typeface="IBM Plex Sans"/>
                <a:cs typeface="IBM Plex Sans"/>
              </a:endParaRPr>
            </a:p>
          </p:txBody>
        </p:sp>
      </p:grpSp>
      <p:grpSp>
        <p:nvGrpSpPr>
          <p:cNvPr id="115" name="node37"/>
          <p:cNvGrpSpPr/>
          <p:nvPr/>
        </p:nvGrpSpPr>
        <p:grpSpPr>
          <a:xfrm>
            <a:off x="7810500" y="4953000"/>
            <a:ext cx="3429000" cy="139700"/>
            <a:chOff x="7810500" y="4953000"/>
            <a:chExt cx="3429000" cy="139700"/>
          </a:xfrm>
        </p:grpSpPr>
        <p:sp>
          <p:nvSpPr>
            <p:cNvPr id="77" name="node37.text"/>
            <p:cNvSpPr/>
            <p:nvPr/>
          </p:nvSpPr>
          <p:spPr>
            <a:xfrm>
              <a:off x="7810500" y="4953000"/>
              <a:ext cx="34290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0047FF"/>
                  </a:solidFill>
                  <a:latin typeface="IBM Plex Mono Medium"/>
                  <a:ea typeface="IBM Plex Mono Medium"/>
                  <a:cs typeface="IBM Plex Mono Medium"/>
                </a:rPr>
                <a:t>PRODUCT AND WORKFORCE</a:t>
              </a:r>
              <a:endParaRPr lang="en-US" sz="800" spc="48" kern="0" b="0" i="0" dirty="0">
                <a:solidFill>
                  <a:srgbClr val="0047FF"/>
                </a:solidFill>
                <a:latin typeface="IBM Plex Mono Medium"/>
                <a:ea typeface="IBM Plex Mono Medium"/>
                <a:cs typeface="IBM Plex Mono Medium"/>
              </a:endParaRPr>
            </a:p>
          </p:txBody>
        </p:sp>
      </p:grpSp>
      <p:grpSp>
        <p:nvGrpSpPr>
          <p:cNvPr id="116" name="node38"/>
          <p:cNvGrpSpPr/>
          <p:nvPr/>
        </p:nvGrpSpPr>
        <p:grpSpPr>
          <a:xfrm>
            <a:off x="7810500" y="5156200"/>
            <a:ext cx="3429000" cy="381000"/>
            <a:chOff x="7810500" y="5156200"/>
            <a:chExt cx="3429000" cy="381000"/>
          </a:xfrm>
        </p:grpSpPr>
        <p:sp>
          <p:nvSpPr>
            <p:cNvPr id="78" name="node38.text"/>
            <p:cNvSpPr/>
            <p:nvPr/>
          </p:nvSpPr>
          <p:spPr>
            <a:xfrm>
              <a:off x="7810500" y="5156200"/>
              <a:ext cx="34290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070154"/>
                  </a:solidFill>
                  <a:latin typeface="IBM Plex Sans"/>
                  <a:ea typeface="IBM Plex Sans"/>
                  <a:cs typeface="IBM Plex Sans"/>
                </a:rPr>
                <a:t>Product strategy · Software engineering · DevOps · Org change management</a:t>
              </a:r>
              <a:endParaRPr lang="en-US" sz="1100" spc="0" kern="0" b="0" i="0" dirty="0">
                <a:solidFill>
                  <a:srgbClr val="070154"/>
                </a:solidFill>
                <a:latin typeface="IBM Plex Sans"/>
                <a:ea typeface="IBM Plex Sans"/>
                <a:cs typeface="IBM Plex Sans"/>
              </a:endParaRPr>
            </a:p>
          </p:txBody>
        </p:sp>
      </p:gr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ource-123">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CASE STUDY · HEALTHCARE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Every entity now closes in 6 days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230</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4381500" y="1600200"/>
            <a:ext cx="7086600" cy="2286000"/>
            <a:chOff x="4381500" y="1600200"/>
            <a:chExt cx="7086600" cy="2286000"/>
          </a:xfrm>
        </p:grpSpPr>
        <p:sp>
          <p:nvSpPr>
            <p:cNvPr id="7" name="node01.title"/>
            <p:cNvSpPr/>
            <p:nvPr/>
          </p:nvSpPr>
          <p:spPr>
            <a:xfrm>
              <a:off x="4381500" y="1600200"/>
              <a:ext cx="7086600" cy="3048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070154"/>
                  </a:solidFill>
                  <a:latin typeface="IBM Plex Sans SemiBold"/>
                  <a:ea typeface="IBM Plex Sans SemiBold"/>
                  <a:cs typeface="IBM Plex Sans SemiBold"/>
                </a:rPr>
                <a:t>Days to close, before and after</a:t>
              </a:r>
              <a:endParaRPr lang="en-US" sz="1600" spc="-16" kern="0" b="0" i="0" dirty="0">
                <a:solidFill>
                  <a:srgbClr val="070154"/>
                </a:solidFill>
                <a:latin typeface="IBM Plex Sans SemiBold"/>
                <a:ea typeface="IBM Plex Sans SemiBold"/>
                <a:cs typeface="IBM Plex Sans SemiBold"/>
              </a:endParaRPr>
            </a:p>
          </p:txBody>
        </p:sp>
        <p:sp>
          <p:nvSpPr>
            <p:cNvPr id="8" name="node01.units"/>
            <p:cNvSpPr/>
            <p:nvPr/>
          </p:nvSpPr>
          <p:spPr>
            <a:xfrm>
              <a:off x="4381500" y="1905000"/>
              <a:ext cx="7086600" cy="190500"/>
            </a:xfrm>
            <a:prstGeom prst="rect">
              <a:avLst/>
            </a:prstGeom>
            <a:noFill/>
            <a:ln/>
          </p:spPr>
          <p:txBody>
            <a:bodyPr wrap="square" lIns="0" tIns="0" rIns="0" bIns="0" rtlCol="0" anchor="t"/>
            <a:lstStyle/>
            <a:p>
              <a:pPr algn="l" indent="0" marL="0">
                <a:lnSpc>
                  <a:spcPts val="1100"/>
                </a:lnSpc>
                <a:buNone/>
              </a:pPr>
              <a:r>
                <a:rPr lang="en-US" sz="800" spc="60" kern="0" b="0" i="0" dirty="0">
                  <a:solidFill>
                    <a:srgbClr val="50658E"/>
                  </a:solidFill>
                  <a:latin typeface="IBM Plex Mono Medium"/>
                  <a:ea typeface="IBM Plex Mono Medium"/>
                  <a:cs typeface="IBM Plex Mono Medium"/>
                </a:rPr>
                <a:t>DAYS TO CLOSE</a:t>
              </a:r>
              <a:endParaRPr lang="en-US" sz="800" spc="60" kern="0" b="0" i="0" dirty="0">
                <a:solidFill>
                  <a:srgbClr val="50658E"/>
                </a:solidFill>
                <a:latin typeface="IBM Plex Mono Medium"/>
                <a:ea typeface="IBM Plex Mono Medium"/>
                <a:cs typeface="IBM Plex Mono Medium"/>
              </a:endParaRPr>
            </a:p>
          </p:txBody>
        </p:sp>
        <p:graphicFrame>
          <p:nvGraphicFramePr>
            <p:cNvPr id="9" name="node01.native" descr=""/>
            <p:cNvGraphicFramePr/>
            <p:nvPr/>
          </p:nvGraphicFramePr>
          <p:xfrm>
            <a:off x="4381500" y="2209800"/>
            <a:ext cx="7086600" cy="1676400"/>
          </p:xfrm>
          <a:graphic xmlns:a="http://schemas.openxmlformats.org/drawingml/2006/main">
            <a:graphicData uri="http://schemas.openxmlformats.org/drawingml/2006/chart">
              <c:chart xmlns:c="http://schemas.openxmlformats.org/drawingml/2006/chart" r:id="rId1"/>
            </a:graphicData>
          </a:graphic>
        </p:graphicFrame>
      </p:grpSp>
      <p:grpSp>
        <p:nvGrpSpPr>
          <p:cNvPr id="35" name="node02"/>
          <p:cNvGrpSpPr/>
          <p:nvPr/>
        </p:nvGrpSpPr>
        <p:grpSpPr>
          <a:xfrm>
            <a:off x="4381500" y="4114800"/>
            <a:ext cx="3429000" cy="228600"/>
            <a:chOff x="4381500" y="4114800"/>
            <a:chExt cx="3429000" cy="228600"/>
          </a:xfrm>
        </p:grpSpPr>
        <p:sp>
          <p:nvSpPr>
            <p:cNvPr id="10" name="node02.label"/>
            <p:cNvSpPr/>
            <p:nvPr/>
          </p:nvSpPr>
          <p:spPr>
            <a:xfrm>
              <a:off x="4381500" y="4114800"/>
              <a:ext cx="756028"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WHAT WE DID</a:t>
              </a:r>
              <a:endParaRPr lang="en-US" sz="800" spc="48" kern="0" b="0" i="0" dirty="0">
                <a:solidFill>
                  <a:srgbClr val="50658E"/>
                </a:solidFill>
                <a:latin typeface="IBM Plex Mono Medium"/>
                <a:ea typeface="IBM Plex Mono Medium"/>
                <a:cs typeface="IBM Plex Mono Medium"/>
              </a:endParaRPr>
            </a:p>
          </p:txBody>
        </p:sp>
        <p:sp>
          <p:nvSpPr>
            <p:cNvPr id="11" name="node02.rule"/>
            <p:cNvSpPr/>
            <p:nvPr/>
          </p:nvSpPr>
          <p:spPr>
            <a:xfrm>
              <a:off x="5264528" y="4224338"/>
              <a:ext cx="2545972" cy="9525"/>
            </a:xfrm>
            <a:prstGeom prst="rect">
              <a:avLst/>
            </a:prstGeom>
            <a:solidFill>
              <a:srgbClr val="CED7E6"/>
            </a:solidFill>
            <a:ln>
              <a:noFill/>
            </a:ln>
          </p:spPr>
        </p:sp>
      </p:grpSp>
      <p:grpSp>
        <p:nvGrpSpPr>
          <p:cNvPr id="36" name="node03"/>
          <p:cNvGrpSpPr/>
          <p:nvPr/>
        </p:nvGrpSpPr>
        <p:grpSpPr>
          <a:xfrm>
            <a:off x="4381500" y="4343400"/>
            <a:ext cx="3429000" cy="1155700"/>
            <a:chOff x="4381500" y="4343400"/>
            <a:chExt cx="3429000" cy="1155700"/>
          </a:xfrm>
        </p:grpSpPr>
        <p:sp>
          <p:nvSpPr>
            <p:cNvPr id="12" name="node03.source-001.bullet"/>
            <p:cNvSpPr/>
            <p:nvPr/>
          </p:nvSpPr>
          <p:spPr>
            <a:xfrm>
              <a:off x="4381500" y="4432300"/>
              <a:ext cx="38100" cy="38100"/>
            </a:xfrm>
            <a:prstGeom prst="rect">
              <a:avLst/>
            </a:prstGeom>
            <a:solidFill>
              <a:srgbClr val="070154"/>
            </a:solidFill>
            <a:ln>
              <a:noFill/>
            </a:ln>
          </p:spPr>
        </p:sp>
        <p:sp>
          <p:nvSpPr>
            <p:cNvPr id="13" name="node03.source-001.text"/>
            <p:cNvSpPr/>
            <p:nvPr/>
          </p:nvSpPr>
          <p:spPr>
            <a:xfrm>
              <a:off x="4533900" y="43434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Automated reconciliations for the busiest accounts.</a:t>
              </a:r>
              <a:endParaRPr lang="en-US" sz="1200" spc="0" kern="0" b="0" i="0" dirty="0">
                <a:solidFill>
                  <a:srgbClr val="070154"/>
                </a:solidFill>
                <a:latin typeface="IBM Plex Sans"/>
                <a:ea typeface="IBM Plex Sans"/>
                <a:cs typeface="IBM Plex Sans"/>
              </a:endParaRPr>
            </a:p>
          </p:txBody>
        </p:sp>
        <p:sp>
          <p:nvSpPr>
            <p:cNvPr id="14" name="node03.source-002.bullet"/>
            <p:cNvSpPr/>
            <p:nvPr/>
          </p:nvSpPr>
          <p:spPr>
            <a:xfrm>
              <a:off x="4381500" y="4902200"/>
              <a:ext cx="38100" cy="38100"/>
            </a:xfrm>
            <a:prstGeom prst="rect">
              <a:avLst/>
            </a:prstGeom>
            <a:solidFill>
              <a:srgbClr val="070154"/>
            </a:solidFill>
            <a:ln>
              <a:noFill/>
            </a:ln>
          </p:spPr>
        </p:sp>
        <p:sp>
          <p:nvSpPr>
            <p:cNvPr id="15" name="node03.source-002.text"/>
            <p:cNvSpPr/>
            <p:nvPr/>
          </p:nvSpPr>
          <p:spPr>
            <a:xfrm>
              <a:off x="4533900" y="4813300"/>
              <a:ext cx="3276600" cy="4318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Set rules at posting, so errors stop before review.</a:t>
              </a:r>
              <a:endParaRPr lang="en-US" sz="1200" spc="0" kern="0" b="0" i="0" dirty="0">
                <a:solidFill>
                  <a:srgbClr val="070154"/>
                </a:solidFill>
                <a:latin typeface="IBM Plex Sans"/>
                <a:ea typeface="IBM Plex Sans"/>
                <a:cs typeface="IBM Plex Sans"/>
              </a:endParaRPr>
            </a:p>
          </p:txBody>
        </p:sp>
        <p:sp>
          <p:nvSpPr>
            <p:cNvPr id="16" name="node03.source-003.bullet"/>
            <p:cNvSpPr/>
            <p:nvPr/>
          </p:nvSpPr>
          <p:spPr>
            <a:xfrm>
              <a:off x="4381500" y="5372100"/>
              <a:ext cx="38100" cy="38100"/>
            </a:xfrm>
            <a:prstGeom prst="rect">
              <a:avLst/>
            </a:prstGeom>
            <a:solidFill>
              <a:srgbClr val="070154"/>
            </a:solidFill>
            <a:ln>
              <a:noFill/>
            </a:ln>
          </p:spPr>
        </p:sp>
        <p:sp>
          <p:nvSpPr>
            <p:cNvPr id="17" name="node03.source-003.text"/>
            <p:cNvSpPr/>
            <p:nvPr/>
          </p:nvSpPr>
          <p:spPr>
            <a:xfrm>
              <a:off x="4533900" y="5283200"/>
              <a:ext cx="3276600" cy="215900"/>
            </a:xfrm>
            <a:prstGeom prst="rect">
              <a:avLst/>
            </a:prstGeom>
            <a:noFill/>
            <a:ln/>
          </p:spPr>
          <p:txBody>
            <a:bodyPr wrap="square" lIns="0" tIns="0" rIns="0" bIns="0" rtlCol="0" anchor="t"/>
            <a:lstStyle/>
            <a:p>
              <a:pPr algn="l" indent="0" marL="0">
                <a:lnSpc>
                  <a:spcPts val="1700"/>
                </a:lnSpc>
                <a:buNone/>
              </a:pPr>
              <a:r>
                <a:rPr lang="en-US" sz="1200" spc="0" kern="0" b="0" i="0" dirty="0">
                  <a:solidFill>
                    <a:srgbClr val="070154"/>
                  </a:solidFill>
                  <a:latin typeface="IBM Plex Sans"/>
                  <a:ea typeface="IBM Plex Sans"/>
                  <a:cs typeface="IBM Plex Sans"/>
                </a:rPr>
                <a:t>Moved review to day one, entity by entity.</a:t>
              </a:r>
              <a:endParaRPr lang="en-US" sz="1200" spc="0" kern="0" b="0" i="0" dirty="0">
                <a:solidFill>
                  <a:srgbClr val="070154"/>
                </a:solidFill>
                <a:latin typeface="IBM Plex Sans"/>
                <a:ea typeface="IBM Plex Sans"/>
                <a:cs typeface="IBM Plex Sans"/>
              </a:endParaRPr>
            </a:p>
          </p:txBody>
        </p:sp>
      </p:grpSp>
      <p:grpSp>
        <p:nvGrpSpPr>
          <p:cNvPr id="37" name="node04"/>
          <p:cNvGrpSpPr/>
          <p:nvPr/>
        </p:nvGrpSpPr>
        <p:grpSpPr>
          <a:xfrm>
            <a:off x="8039100" y="4114800"/>
            <a:ext cx="3429000" cy="228600"/>
            <a:chOff x="8039100" y="4114800"/>
            <a:chExt cx="3429000" cy="228600"/>
          </a:xfrm>
        </p:grpSpPr>
        <p:sp>
          <p:nvSpPr>
            <p:cNvPr id="18" name="node04.label"/>
            <p:cNvSpPr/>
            <p:nvPr/>
          </p:nvSpPr>
          <p:spPr>
            <a:xfrm>
              <a:off x="8039100" y="4114800"/>
              <a:ext cx="490345" cy="2286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50658E"/>
                  </a:solidFill>
                  <a:latin typeface="IBM Plex Mono Medium"/>
                  <a:ea typeface="IBM Plex Mono Medium"/>
                  <a:cs typeface="IBM Plex Mono Medium"/>
                </a:rPr>
                <a:t>RESULTS</a:t>
              </a:r>
              <a:endParaRPr lang="en-US" sz="800" spc="48" kern="0" b="0" i="0" dirty="0">
                <a:solidFill>
                  <a:srgbClr val="50658E"/>
                </a:solidFill>
                <a:latin typeface="IBM Plex Mono Medium"/>
                <a:ea typeface="IBM Plex Mono Medium"/>
                <a:cs typeface="IBM Plex Mono Medium"/>
              </a:endParaRPr>
            </a:p>
          </p:txBody>
        </p:sp>
        <p:sp>
          <p:nvSpPr>
            <p:cNvPr id="19" name="node04.rule"/>
            <p:cNvSpPr/>
            <p:nvPr/>
          </p:nvSpPr>
          <p:spPr>
            <a:xfrm>
              <a:off x="8656445" y="4224338"/>
              <a:ext cx="2811655" cy="9525"/>
            </a:xfrm>
            <a:prstGeom prst="rect">
              <a:avLst/>
            </a:prstGeom>
            <a:solidFill>
              <a:srgbClr val="CED7E6"/>
            </a:solidFill>
            <a:ln>
              <a:noFill/>
            </a:ln>
          </p:spPr>
        </p:sp>
      </p:grpSp>
      <p:grpSp>
        <p:nvGrpSpPr>
          <p:cNvPr id="38" name="node05"/>
          <p:cNvGrpSpPr/>
          <p:nvPr/>
        </p:nvGrpSpPr>
        <p:grpSpPr>
          <a:xfrm>
            <a:off x="8039100" y="4343400"/>
            <a:ext cx="1600200" cy="382461"/>
            <a:chOff x="8039100" y="4343400"/>
            <a:chExt cx="1600200" cy="382461"/>
          </a:xfrm>
        </p:grpSpPr>
        <p:sp>
          <p:nvSpPr>
            <p:cNvPr id="20" name="node05.text"/>
            <p:cNvSpPr/>
            <p:nvPr/>
          </p:nvSpPr>
          <p:spPr>
            <a:xfrm>
              <a:off x="8039100" y="4343400"/>
              <a:ext cx="16002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070154"/>
                  </a:solidFill>
                  <a:latin typeface="IBM Plex Mono SemiBold"/>
                  <a:ea typeface="IBM Plex Mono SemiBold"/>
                  <a:cs typeface="IBM Plex Mono SemiBold"/>
                </a:rPr>
                <a:t>92%</a:t>
              </a:r>
              <a:endParaRPr lang="en-US" sz="3000" spc="-60" kern="0" b="0" i="0" dirty="0">
                <a:solidFill>
                  <a:srgbClr val="070154"/>
                </a:solidFill>
                <a:latin typeface="IBM Plex Mono SemiBold"/>
                <a:ea typeface="IBM Plex Mono SemiBold"/>
                <a:cs typeface="IBM Plex Mono SemiBold"/>
              </a:endParaRPr>
            </a:p>
          </p:txBody>
        </p:sp>
      </p:grpSp>
      <p:grpSp>
        <p:nvGrpSpPr>
          <p:cNvPr id="39" name="node06"/>
          <p:cNvGrpSpPr/>
          <p:nvPr/>
        </p:nvGrpSpPr>
        <p:grpSpPr>
          <a:xfrm>
            <a:off x="8039100" y="4800600"/>
            <a:ext cx="1600200" cy="190500"/>
            <a:chOff x="8039100" y="4800600"/>
            <a:chExt cx="1600200" cy="190500"/>
          </a:xfrm>
        </p:grpSpPr>
        <p:sp>
          <p:nvSpPr>
            <p:cNvPr id="21" name="node06.text"/>
            <p:cNvSpPr/>
            <p:nvPr/>
          </p:nvSpPr>
          <p:spPr>
            <a:xfrm>
              <a:off x="8039100" y="48006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matches automated</a:t>
              </a:r>
              <a:endParaRPr lang="en-US" sz="1100" spc="0" kern="0" b="0" i="0" dirty="0">
                <a:solidFill>
                  <a:srgbClr val="50658E"/>
                </a:solidFill>
                <a:latin typeface="IBM Plex Sans"/>
                <a:ea typeface="IBM Plex Sans"/>
                <a:cs typeface="IBM Plex Sans"/>
              </a:endParaRPr>
            </a:p>
          </p:txBody>
        </p:sp>
      </p:grpSp>
      <p:grpSp>
        <p:nvGrpSpPr>
          <p:cNvPr id="40" name="node07"/>
          <p:cNvGrpSpPr/>
          <p:nvPr/>
        </p:nvGrpSpPr>
        <p:grpSpPr>
          <a:xfrm>
            <a:off x="9867900" y="4343400"/>
            <a:ext cx="1600200" cy="382461"/>
            <a:chOff x="9867900" y="4343400"/>
            <a:chExt cx="1600200" cy="382461"/>
          </a:xfrm>
        </p:grpSpPr>
        <p:sp>
          <p:nvSpPr>
            <p:cNvPr id="22" name="node07.text"/>
            <p:cNvSpPr/>
            <p:nvPr/>
          </p:nvSpPr>
          <p:spPr>
            <a:xfrm>
              <a:off x="9867900" y="4343400"/>
              <a:ext cx="1600200" cy="382461"/>
            </a:xfrm>
            <a:prstGeom prst="rect">
              <a:avLst/>
            </a:prstGeom>
            <a:noFill/>
            <a:ln/>
          </p:spPr>
          <p:txBody>
            <a:bodyPr wrap="square" lIns="0" tIns="0" rIns="0" bIns="0" rtlCol="0" anchor="t"/>
            <a:lstStyle/>
            <a:p>
              <a:pPr algn="l" indent="0" marL="0">
                <a:lnSpc>
                  <a:spcPts val="3000"/>
                </a:lnSpc>
                <a:buNone/>
              </a:pPr>
              <a:r>
                <a:rPr lang="en-US" sz="3000" spc="-60" kern="0" b="0" i="0" dirty="0">
                  <a:solidFill>
                    <a:srgbClr val="070154"/>
                  </a:solidFill>
                  <a:latin typeface="IBM Plex Mono SemiBold"/>
                  <a:ea typeface="IBM Plex Mono SemiBold"/>
                  <a:cs typeface="IBM Plex Mono SemiBold"/>
                </a:rPr>
                <a:t>$2.1M</a:t>
              </a:r>
              <a:endParaRPr lang="en-US" sz="3000" spc="-60" kern="0" b="0" i="0" dirty="0">
                <a:solidFill>
                  <a:srgbClr val="070154"/>
                </a:solidFill>
                <a:latin typeface="IBM Plex Mono SemiBold"/>
                <a:ea typeface="IBM Plex Mono SemiBold"/>
                <a:cs typeface="IBM Plex Mono SemiBold"/>
              </a:endParaRPr>
            </a:p>
          </p:txBody>
        </p:sp>
      </p:grpSp>
      <p:grpSp>
        <p:nvGrpSpPr>
          <p:cNvPr id="41" name="node08"/>
          <p:cNvGrpSpPr/>
          <p:nvPr/>
        </p:nvGrpSpPr>
        <p:grpSpPr>
          <a:xfrm>
            <a:off x="9867900" y="4800600"/>
            <a:ext cx="1600200" cy="190500"/>
            <a:chOff x="9867900" y="4800600"/>
            <a:chExt cx="1600200" cy="190500"/>
          </a:xfrm>
        </p:grpSpPr>
        <p:sp>
          <p:nvSpPr>
            <p:cNvPr id="23" name="node08.text"/>
            <p:cNvSpPr/>
            <p:nvPr/>
          </p:nvSpPr>
          <p:spPr>
            <a:xfrm>
              <a:off x="9867900" y="4800600"/>
              <a:ext cx="16002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50658E"/>
                  </a:solidFill>
                  <a:latin typeface="IBM Plex Sans"/>
                  <a:ea typeface="IBM Plex Sans"/>
                  <a:cs typeface="IBM Plex Sans"/>
                </a:rPr>
                <a:t>saved a year</a:t>
              </a:r>
              <a:endParaRPr lang="en-US" sz="1100" spc="0" kern="0" b="0" i="0" dirty="0">
                <a:solidFill>
                  <a:srgbClr val="50658E"/>
                </a:solidFill>
                <a:latin typeface="IBM Plex Sans"/>
                <a:ea typeface="IBM Plex Sans"/>
                <a:cs typeface="IBM Plex Sans"/>
              </a:endParaRPr>
            </a:p>
          </p:txBody>
        </p:sp>
      </p:grpSp>
      <p:grpSp>
        <p:nvGrpSpPr>
          <p:cNvPr id="42" name="node09"/>
          <p:cNvGrpSpPr/>
          <p:nvPr/>
        </p:nvGrpSpPr>
        <p:grpSpPr>
          <a:xfrm>
            <a:off x="723900" y="1600200"/>
            <a:ext cx="2514600" cy="139700"/>
            <a:chOff x="723900" y="1600200"/>
            <a:chExt cx="2514600" cy="139700"/>
          </a:xfrm>
        </p:grpSpPr>
        <p:sp>
          <p:nvSpPr>
            <p:cNvPr id="24" name="node09.text"/>
            <p:cNvSpPr/>
            <p:nvPr/>
          </p:nvSpPr>
          <p:spPr>
            <a:xfrm>
              <a:off x="723900" y="16002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CLIENT</a:t>
              </a:r>
              <a:endParaRPr lang="en-US" sz="800" spc="48" kern="0" b="0" i="0" dirty="0">
                <a:solidFill>
                  <a:srgbClr val="CED7E6"/>
                </a:solidFill>
                <a:latin typeface="IBM Plex Mono Medium"/>
                <a:ea typeface="IBM Plex Mono Medium"/>
                <a:cs typeface="IBM Plex Mono Medium"/>
              </a:endParaRPr>
            </a:p>
          </p:txBody>
        </p:sp>
      </p:grpSp>
      <p:grpSp>
        <p:nvGrpSpPr>
          <p:cNvPr id="43" name="node10"/>
          <p:cNvGrpSpPr/>
          <p:nvPr/>
        </p:nvGrpSpPr>
        <p:grpSpPr>
          <a:xfrm>
            <a:off x="723900" y="1828800"/>
            <a:ext cx="2514600" cy="266700"/>
            <a:chOff x="723900" y="1828800"/>
            <a:chExt cx="2514600" cy="266700"/>
          </a:xfrm>
        </p:grpSpPr>
        <p:sp>
          <p:nvSpPr>
            <p:cNvPr id="25" name="node10.text"/>
            <p:cNvSpPr/>
            <p:nvPr/>
          </p:nvSpPr>
          <p:spPr>
            <a:xfrm>
              <a:off x="723900" y="1828800"/>
              <a:ext cx="2514600" cy="266700"/>
            </a:xfrm>
            <a:prstGeom prst="rect">
              <a:avLst/>
            </a:prstGeom>
            <a:noFill/>
            <a:ln/>
          </p:spPr>
          <p:txBody>
            <a:bodyPr wrap="square" lIns="0" tIns="0" rIns="0" bIns="0" rtlCol="0" anchor="t"/>
            <a:lstStyle/>
            <a:p>
              <a:pPr algn="l" indent="0" marL="0">
                <a:lnSpc>
                  <a:spcPts val="2100"/>
                </a:lnSpc>
                <a:buNone/>
              </a:pPr>
              <a:r>
                <a:rPr lang="en-US" sz="1600" spc="-16" kern="0" b="0" i="0" dirty="0">
                  <a:solidFill>
                    <a:srgbClr val="FFFFFF"/>
                  </a:solidFill>
                  <a:latin typeface="IBM Plex Sans SemiBold"/>
                  <a:ea typeface="IBM Plex Sans SemiBold"/>
                  <a:cs typeface="IBM Plex Sans SemiBold"/>
                </a:rPr>
                <a:t>Northfield Health System</a:t>
              </a:r>
              <a:endParaRPr lang="en-US" sz="1600" spc="-16" kern="0" b="0" i="0" dirty="0">
                <a:solidFill>
                  <a:srgbClr val="FFFFFF"/>
                </a:solidFill>
                <a:latin typeface="IBM Plex Sans SemiBold"/>
                <a:ea typeface="IBM Plex Sans SemiBold"/>
                <a:cs typeface="IBM Plex Sans SemiBold"/>
              </a:endParaRPr>
            </a:p>
          </p:txBody>
        </p:sp>
      </p:grpSp>
      <p:grpSp>
        <p:nvGrpSpPr>
          <p:cNvPr id="44" name="node11"/>
          <p:cNvGrpSpPr/>
          <p:nvPr/>
        </p:nvGrpSpPr>
        <p:grpSpPr>
          <a:xfrm>
            <a:off x="723900" y="2514600"/>
            <a:ext cx="2514600" cy="190500"/>
            <a:chOff x="723900" y="2514600"/>
            <a:chExt cx="2514600" cy="190500"/>
          </a:xfrm>
        </p:grpSpPr>
        <p:sp>
          <p:nvSpPr>
            <p:cNvPr id="26" name="node11.text"/>
            <p:cNvSpPr/>
            <p:nvPr/>
          </p:nvSpPr>
          <p:spPr>
            <a:xfrm>
              <a:off x="723900" y="25146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Four-entity hospital group</a:t>
              </a:r>
              <a:endParaRPr lang="en-US" sz="1100" spc="0" kern="0" b="0" i="0" dirty="0">
                <a:solidFill>
                  <a:srgbClr val="CED7E6"/>
                </a:solidFill>
                <a:latin typeface="IBM Plex Sans"/>
                <a:ea typeface="IBM Plex Sans"/>
                <a:cs typeface="IBM Plex Sans"/>
              </a:endParaRPr>
            </a:p>
          </p:txBody>
        </p:sp>
      </p:grpSp>
      <p:sp>
        <p:nvSpPr>
          <p:cNvPr id="27" name="node12"/>
          <p:cNvSpPr/>
          <p:nvPr/>
        </p:nvSpPr>
        <p:spPr>
          <a:xfrm>
            <a:off x="723900" y="2971800"/>
            <a:ext cx="2514600" cy="9525"/>
          </a:xfrm>
          <a:prstGeom prst="rect">
            <a:avLst/>
          </a:prstGeom>
          <a:solidFill>
            <a:srgbClr val="50658E"/>
          </a:solidFill>
          <a:ln>
            <a:noFill/>
          </a:ln>
        </p:spPr>
      </p:sp>
      <p:grpSp>
        <p:nvGrpSpPr>
          <p:cNvPr id="45" name="node13"/>
          <p:cNvGrpSpPr/>
          <p:nvPr/>
        </p:nvGrpSpPr>
        <p:grpSpPr>
          <a:xfrm>
            <a:off x="723900" y="3200400"/>
            <a:ext cx="2514600" cy="139700"/>
            <a:chOff x="723900" y="3200400"/>
            <a:chExt cx="2514600" cy="139700"/>
          </a:xfrm>
        </p:grpSpPr>
        <p:sp>
          <p:nvSpPr>
            <p:cNvPr id="28" name="node13.text"/>
            <p:cNvSpPr/>
            <p:nvPr/>
          </p:nvSpPr>
          <p:spPr>
            <a:xfrm>
              <a:off x="723900" y="32004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CHALLENGE</a:t>
              </a:r>
              <a:endParaRPr lang="en-US" sz="800" spc="48" kern="0" b="0" i="0" dirty="0">
                <a:solidFill>
                  <a:srgbClr val="CED7E6"/>
                </a:solidFill>
                <a:latin typeface="IBM Plex Mono Medium"/>
                <a:ea typeface="IBM Plex Mono Medium"/>
                <a:cs typeface="IBM Plex Mono Medium"/>
              </a:endParaRPr>
            </a:p>
          </p:txBody>
        </p:sp>
      </p:grpSp>
      <p:grpSp>
        <p:nvGrpSpPr>
          <p:cNvPr id="46" name="node14"/>
          <p:cNvGrpSpPr/>
          <p:nvPr/>
        </p:nvGrpSpPr>
        <p:grpSpPr>
          <a:xfrm>
            <a:off x="723900" y="3429000"/>
            <a:ext cx="2514600" cy="381000"/>
            <a:chOff x="723900" y="3429000"/>
            <a:chExt cx="2514600" cy="381000"/>
          </a:xfrm>
        </p:grpSpPr>
        <p:sp>
          <p:nvSpPr>
            <p:cNvPr id="29" name="node14.text"/>
            <p:cNvSpPr/>
            <p:nvPr/>
          </p:nvSpPr>
          <p:spPr>
            <a:xfrm>
              <a:off x="723900" y="3429000"/>
              <a:ext cx="2514600" cy="3810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FFFFFF"/>
                  </a:solidFill>
                  <a:latin typeface="IBM Plex Sans"/>
                  <a:ea typeface="IBM Plex Sans"/>
                  <a:cs typeface="IBM Plex Sans"/>
                </a:rPr>
                <a:t>A 15-day close, with intercompany balances matched by email.</a:t>
              </a:r>
              <a:endParaRPr lang="en-US" sz="1100" spc="0" kern="0" b="0" i="0" dirty="0">
                <a:solidFill>
                  <a:srgbClr val="FFFFFF"/>
                </a:solidFill>
                <a:latin typeface="IBM Plex Sans"/>
                <a:ea typeface="IBM Plex Sans"/>
                <a:cs typeface="IBM Plex Sans"/>
              </a:endParaRPr>
            </a:p>
          </p:txBody>
        </p:sp>
      </p:grpSp>
      <p:sp>
        <p:nvSpPr>
          <p:cNvPr id="30" name="node15"/>
          <p:cNvSpPr/>
          <p:nvPr/>
        </p:nvSpPr>
        <p:spPr>
          <a:xfrm>
            <a:off x="723900" y="4114800"/>
            <a:ext cx="2514600" cy="9525"/>
          </a:xfrm>
          <a:prstGeom prst="rect">
            <a:avLst/>
          </a:prstGeom>
          <a:solidFill>
            <a:srgbClr val="50658E"/>
          </a:solidFill>
          <a:ln>
            <a:noFill/>
          </a:ln>
        </p:spPr>
      </p:sp>
      <p:grpSp>
        <p:nvGrpSpPr>
          <p:cNvPr id="47" name="node16"/>
          <p:cNvGrpSpPr/>
          <p:nvPr/>
        </p:nvGrpSpPr>
        <p:grpSpPr>
          <a:xfrm>
            <a:off x="723900" y="4343400"/>
            <a:ext cx="2514600" cy="139700"/>
            <a:chOff x="723900" y="4343400"/>
            <a:chExt cx="2514600" cy="139700"/>
          </a:xfrm>
        </p:grpSpPr>
        <p:sp>
          <p:nvSpPr>
            <p:cNvPr id="31" name="node16.text"/>
            <p:cNvSpPr/>
            <p:nvPr/>
          </p:nvSpPr>
          <p:spPr>
            <a:xfrm>
              <a:off x="723900" y="4343400"/>
              <a:ext cx="2514600" cy="139700"/>
            </a:xfrm>
            <a:prstGeom prst="rect">
              <a:avLst/>
            </a:prstGeom>
            <a:noFill/>
            <a:ln/>
          </p:spPr>
          <p:txBody>
            <a:bodyPr wrap="square" lIns="0" tIns="0" rIns="0" bIns="0" rtlCol="0" anchor="t"/>
            <a:lstStyle/>
            <a:p>
              <a:pPr algn="l" indent="0" marL="0">
                <a:lnSpc>
                  <a:spcPts val="1100"/>
                </a:lnSpc>
                <a:buNone/>
              </a:pPr>
              <a:r>
                <a:rPr lang="en-US" sz="800" spc="48" kern="0" b="0" i="0" dirty="0">
                  <a:solidFill>
                    <a:srgbClr val="CED7E6"/>
                  </a:solidFill>
                  <a:latin typeface="IBM Plex Mono Medium"/>
                  <a:ea typeface="IBM Plex Mono Medium"/>
                  <a:cs typeface="IBM Plex Mono Medium"/>
                </a:rPr>
                <a:t>RESULT</a:t>
              </a:r>
              <a:endParaRPr lang="en-US" sz="800" spc="48" kern="0" b="0" i="0" dirty="0">
                <a:solidFill>
                  <a:srgbClr val="CED7E6"/>
                </a:solidFill>
                <a:latin typeface="IBM Plex Mono Medium"/>
                <a:ea typeface="IBM Plex Mono Medium"/>
                <a:cs typeface="IBM Plex Mono Medium"/>
              </a:endParaRPr>
            </a:p>
          </p:txBody>
        </p:sp>
      </p:grpSp>
      <p:grpSp>
        <p:nvGrpSpPr>
          <p:cNvPr id="48" name="node17"/>
          <p:cNvGrpSpPr/>
          <p:nvPr/>
        </p:nvGrpSpPr>
        <p:grpSpPr>
          <a:xfrm>
            <a:off x="723900" y="4572000"/>
            <a:ext cx="2514600" cy="509969"/>
            <a:chOff x="723900" y="4572000"/>
            <a:chExt cx="2514600" cy="509969"/>
          </a:xfrm>
        </p:grpSpPr>
        <p:sp>
          <p:nvSpPr>
            <p:cNvPr id="32" name="node17.text"/>
            <p:cNvSpPr/>
            <p:nvPr/>
          </p:nvSpPr>
          <p:spPr>
            <a:xfrm>
              <a:off x="723900" y="4572000"/>
              <a:ext cx="2514600" cy="509969"/>
            </a:xfrm>
            <a:prstGeom prst="rect">
              <a:avLst/>
            </a:prstGeom>
            <a:noFill/>
            <a:ln/>
          </p:spPr>
          <p:txBody>
            <a:bodyPr wrap="square" lIns="0" tIns="0" rIns="0" bIns="0" rtlCol="0" anchor="t"/>
            <a:lstStyle/>
            <a:p>
              <a:pPr algn="l" indent="0" marL="0">
                <a:lnSpc>
                  <a:spcPts val="4000"/>
                </a:lnSpc>
                <a:buNone/>
              </a:pPr>
              <a:r>
                <a:rPr lang="en-US" sz="4000" spc="-80" kern="0" b="0" i="0" dirty="0">
                  <a:solidFill>
                    <a:srgbClr val="FFFFFF"/>
                  </a:solidFill>
                  <a:latin typeface="IBM Plex Mono SemiBold"/>
                  <a:ea typeface="IBM Plex Mono SemiBold"/>
                  <a:cs typeface="IBM Plex Mono SemiBold"/>
                </a:rPr>
                <a:t>6 days</a:t>
              </a:r>
              <a:endParaRPr lang="en-US" sz="4000" spc="-80" kern="0" b="0" i="0" dirty="0">
                <a:solidFill>
                  <a:srgbClr val="FFFFFF"/>
                </a:solidFill>
                <a:latin typeface="IBM Plex Mono SemiBold"/>
                <a:ea typeface="IBM Plex Mono SemiBold"/>
                <a:cs typeface="IBM Plex Mono SemiBold"/>
              </a:endParaRPr>
            </a:p>
          </p:txBody>
        </p:sp>
      </p:grpSp>
      <p:grpSp>
        <p:nvGrpSpPr>
          <p:cNvPr id="49" name="node18"/>
          <p:cNvGrpSpPr/>
          <p:nvPr/>
        </p:nvGrpSpPr>
        <p:grpSpPr>
          <a:xfrm>
            <a:off x="723900" y="5257800"/>
            <a:ext cx="2514600" cy="190500"/>
            <a:chOff x="723900" y="5257800"/>
            <a:chExt cx="2514600" cy="190500"/>
          </a:xfrm>
        </p:grpSpPr>
        <p:sp>
          <p:nvSpPr>
            <p:cNvPr id="33" name="node18.text"/>
            <p:cNvSpPr/>
            <p:nvPr/>
          </p:nvSpPr>
          <p:spPr>
            <a:xfrm>
              <a:off x="723900" y="5257800"/>
              <a:ext cx="2514600" cy="190500"/>
            </a:xfrm>
            <a:prstGeom prst="rect">
              <a:avLst/>
            </a:prstGeom>
            <a:noFill/>
            <a:ln/>
          </p:spPr>
          <p:txBody>
            <a:bodyPr wrap="square" lIns="0" tIns="0" rIns="0" bIns="0" rtlCol="0" anchor="t"/>
            <a:lstStyle/>
            <a:p>
              <a:pPr algn="l" indent="0" marL="0">
                <a:lnSpc>
                  <a:spcPts val="1500"/>
                </a:lnSpc>
                <a:buNone/>
              </a:pPr>
              <a:r>
                <a:rPr lang="en-US" sz="1100" spc="0" kern="0" b="0" i="0" dirty="0">
                  <a:solidFill>
                    <a:srgbClr val="CED7E6"/>
                  </a:solidFill>
                  <a:latin typeface="IBM Plex Sans"/>
                  <a:ea typeface="IBM Plex Sans"/>
                  <a:cs typeface="IBM Plex Sans"/>
                </a:rPr>
                <a:t>to close, from 15</a:t>
              </a:r>
              <a:endParaRPr lang="en-US" sz="1100" spc="0" kern="0" b="0" i="0" dirty="0">
                <a:solidFill>
                  <a:srgbClr val="CED7E6"/>
                </a:solidFill>
                <a:latin typeface="IBM Plex Sans"/>
                <a:ea typeface="IBM Plex Sans"/>
                <a:cs typeface="IBM Plex Sans"/>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230</Slides>
  <Notes>230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230</vt:i4>
      </vt:variant>
    </vt:vector>
  </HeadingPairs>
  <TitlesOfParts>
    <vt:vector size="2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WMDS foundation reference</dc:title>
  <dc:subject>PptxGenJS Presentation</dc:subject>
  <dc:creator>West Monroe</dc:creator>
  <cp:lastModifiedBy>West Monroe</cp:lastModifiedBy>
  <cp:revision>1</cp:revision>
  <dcterms:created xsi:type="dcterms:W3CDTF">2026-10-06T16:54:55Z</dcterms:created>
  <dcterms:modified xsi:type="dcterms:W3CDTF">2026-10-06T16:54:55Z</dcterms:modified>
</cp:coreProperties>
</file>